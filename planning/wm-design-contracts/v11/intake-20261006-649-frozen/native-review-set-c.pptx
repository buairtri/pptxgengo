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553c346042c23db17db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708f542bbe0b661588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828800"/>
            <a:ext cx="7086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565fa27430157ff1bff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AI-NATIVE PDLC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The curve bends at stage four, then reaches further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52" name="node01"/>
          <p:cNvGrpSpPr/>
          <p:nvPr/>
        </p:nvGrpSpPr>
        <p:grpSpPr>
          <a:xfrm>
            <a:off x="708025" y="1600200"/>
            <a:ext cx="10775950" cy="4343400"/>
            <a:chOff x="708025" y="1600200"/>
            <a:chExt cx="10775950" cy="4343400"/>
          </a:xfrm>
        </p:grpSpPr>
        <p:sp>
          <p:nvSpPr>
            <p:cNvPr id="6" name="node01.curve"/>
            <p:cNvSpPr/>
            <p:nvPr/>
          </p:nvSpPr>
          <p:spPr>
            <a:xfrm>
              <a:off x="723900" y="1887867"/>
              <a:ext cx="10744200" cy="3409137"/>
            </a:xfrm>
            <a:custGeom>
              <a:avLst/>
              <a:gdLst/>
              <a:ahLst/>
              <a:cxnLst/>
              <a:rect l="l" t="t" r="r" b="b"/>
              <a:pathLst>
                <a:path w="10744200" h="3409137">
                  <a:moveTo>
                    <a:pt x="0" y="3409137"/>
                  </a:moveTo>
                  <a:lnTo>
                    <a:pt x="179070" y="3405374"/>
                  </a:lnTo>
                  <a:lnTo>
                    <a:pt x="358140" y="3401337"/>
                  </a:lnTo>
                  <a:lnTo>
                    <a:pt x="537210" y="3397009"/>
                  </a:lnTo>
                  <a:lnTo>
                    <a:pt x="716280" y="3392366"/>
                  </a:lnTo>
                  <a:lnTo>
                    <a:pt x="895350" y="3387387"/>
                  </a:lnTo>
                  <a:lnTo>
                    <a:pt x="1074420" y="3382047"/>
                  </a:lnTo>
                  <a:lnTo>
                    <a:pt x="1253490" y="3376319"/>
                  </a:lnTo>
                  <a:lnTo>
                    <a:pt x="1432560" y="3370177"/>
                  </a:lnTo>
                  <a:lnTo>
                    <a:pt x="1611630" y="3363589"/>
                  </a:lnTo>
                  <a:lnTo>
                    <a:pt x="1790700" y="3356523"/>
                  </a:lnTo>
                  <a:lnTo>
                    <a:pt x="1969770" y="3348945"/>
                  </a:lnTo>
                  <a:lnTo>
                    <a:pt x="2148840" y="3340817"/>
                  </a:lnTo>
                  <a:lnTo>
                    <a:pt x="2327910" y="3332100"/>
                  </a:lnTo>
                  <a:lnTo>
                    <a:pt x="2506980" y="3322751"/>
                  </a:lnTo>
                  <a:lnTo>
                    <a:pt x="2686050" y="3312724"/>
                  </a:lnTo>
                  <a:lnTo>
                    <a:pt x="2865120" y="3301970"/>
                  </a:lnTo>
                  <a:lnTo>
                    <a:pt x="3044190" y="3290437"/>
                  </a:lnTo>
                  <a:lnTo>
                    <a:pt x="3223260" y="3278067"/>
                  </a:lnTo>
                  <a:lnTo>
                    <a:pt x="3402330" y="3264800"/>
                  </a:lnTo>
                  <a:lnTo>
                    <a:pt x="3581400" y="3250571"/>
                  </a:lnTo>
                  <a:lnTo>
                    <a:pt x="3760470" y="3235311"/>
                  </a:lnTo>
                  <a:lnTo>
                    <a:pt x="3939540" y="3218944"/>
                  </a:lnTo>
                  <a:lnTo>
                    <a:pt x="4118610" y="3201390"/>
                  </a:lnTo>
                  <a:lnTo>
                    <a:pt x="4297680" y="3182563"/>
                  </a:lnTo>
                  <a:lnTo>
                    <a:pt x="4476750" y="3162372"/>
                  </a:lnTo>
                  <a:lnTo>
                    <a:pt x="4655820" y="3140716"/>
                  </a:lnTo>
                  <a:lnTo>
                    <a:pt x="4834890" y="3117490"/>
                  </a:lnTo>
                  <a:lnTo>
                    <a:pt x="5013960" y="3092580"/>
                  </a:lnTo>
                  <a:lnTo>
                    <a:pt x="5193030" y="3065864"/>
                  </a:lnTo>
                  <a:lnTo>
                    <a:pt x="5372100" y="3037211"/>
                  </a:lnTo>
                  <a:lnTo>
                    <a:pt x="5551170" y="3006480"/>
                  </a:lnTo>
                  <a:lnTo>
                    <a:pt x="5730240" y="2973521"/>
                  </a:lnTo>
                  <a:lnTo>
                    <a:pt x="5909310" y="2938172"/>
                  </a:lnTo>
                  <a:lnTo>
                    <a:pt x="6088380" y="2900260"/>
                  </a:lnTo>
                  <a:lnTo>
                    <a:pt x="6267450" y="2859599"/>
                  </a:lnTo>
                  <a:lnTo>
                    <a:pt x="6446520" y="2815990"/>
                  </a:lnTo>
                  <a:lnTo>
                    <a:pt x="6625590" y="2769219"/>
                  </a:lnTo>
                  <a:lnTo>
                    <a:pt x="6804660" y="2719056"/>
                  </a:lnTo>
                  <a:lnTo>
                    <a:pt x="6983730" y="2665256"/>
                  </a:lnTo>
                  <a:lnTo>
                    <a:pt x="7162800" y="2607556"/>
                  </a:lnTo>
                  <a:lnTo>
                    <a:pt x="7341870" y="2545671"/>
                  </a:lnTo>
                  <a:lnTo>
                    <a:pt x="7520940" y="2479300"/>
                  </a:lnTo>
                  <a:lnTo>
                    <a:pt x="7700010" y="2408116"/>
                  </a:lnTo>
                  <a:lnTo>
                    <a:pt x="7879080" y="2331771"/>
                  </a:lnTo>
                  <a:lnTo>
                    <a:pt x="8058150" y="2249889"/>
                  </a:lnTo>
                  <a:lnTo>
                    <a:pt x="8237220" y="2162071"/>
                  </a:lnTo>
                  <a:lnTo>
                    <a:pt x="8416290" y="2067886"/>
                  </a:lnTo>
                  <a:lnTo>
                    <a:pt x="8595360" y="1966871"/>
                  </a:lnTo>
                  <a:lnTo>
                    <a:pt x="8774430" y="1858532"/>
                  </a:lnTo>
                  <a:lnTo>
                    <a:pt x="8953500" y="1742337"/>
                  </a:lnTo>
                  <a:lnTo>
                    <a:pt x="9132570" y="1617717"/>
                  </a:lnTo>
                  <a:lnTo>
                    <a:pt x="9311640" y="1484061"/>
                  </a:lnTo>
                  <a:lnTo>
                    <a:pt x="9490710" y="1340714"/>
                  </a:lnTo>
                  <a:lnTo>
                    <a:pt x="9669780" y="1186974"/>
                  </a:lnTo>
                  <a:lnTo>
                    <a:pt x="9848850" y="1022085"/>
                  </a:lnTo>
                  <a:lnTo>
                    <a:pt x="10027920" y="845241"/>
                  </a:lnTo>
                  <a:lnTo>
                    <a:pt x="10206990" y="655575"/>
                  </a:lnTo>
                  <a:lnTo>
                    <a:pt x="10386060" y="452156"/>
                  </a:lnTo>
                  <a:lnTo>
                    <a:pt x="10565130" y="233987"/>
                  </a:lnTo>
                  <a:lnTo>
                    <a:pt x="10744200" y="0"/>
                  </a:lnTo>
                </a:path>
              </a:pathLst>
            </a:custGeom>
            <a:ln w="31750">
              <a:solidFill>
                <a:srgbClr val="070154"/>
              </a:solidFill>
              <a:prstDash val="solid"/>
            </a:ln>
          </p:spPr>
        </p:sp>
        <p:sp>
          <p:nvSpPr>
            <p:cNvPr id="7" name="node01.curve.cap-1"/>
            <p:cNvSpPr/>
            <p:nvPr/>
          </p:nvSpPr>
          <p:spPr>
            <a:xfrm>
              <a:off x="708025" y="5281129"/>
              <a:ext cx="31750" cy="3175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" name="node01.curve.cap-2"/>
            <p:cNvSpPr/>
            <p:nvPr/>
          </p:nvSpPr>
          <p:spPr>
            <a:xfrm>
              <a:off x="11452225" y="1871992"/>
              <a:ext cx="31750" cy="3175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" name="node01.arrow-1"/>
            <p:cNvSpPr/>
            <p:nvPr/>
          </p:nvSpPr>
          <p:spPr>
            <a:xfrm>
              <a:off x="11446628" y="1887867"/>
              <a:ext cx="21472" cy="125172"/>
            </a:xfrm>
            <a:custGeom>
              <a:avLst/>
              <a:gdLst/>
              <a:ahLst/>
              <a:cxnLst/>
              <a:rect l="l" t="t" r="r" b="b"/>
              <a:pathLst>
                <a:path w="21472" h="125172">
                  <a:moveTo>
                    <a:pt x="21472" y="0"/>
                  </a:moveTo>
                  <a:lnTo>
                    <a:pt x="0" y="125172"/>
                  </a:lnTo>
                </a:path>
              </a:pathLst>
            </a:custGeom>
            <a:ln w="31750">
              <a:solidFill>
                <a:srgbClr val="070154"/>
              </a:solidFill>
              <a:prstDash val="solid"/>
            </a:ln>
          </p:spPr>
        </p:sp>
        <p:sp>
          <p:nvSpPr>
            <p:cNvPr id="10" name="node01.arrow-1.cap-1"/>
            <p:cNvSpPr/>
            <p:nvPr/>
          </p:nvSpPr>
          <p:spPr>
            <a:xfrm>
              <a:off x="11452225" y="1871992"/>
              <a:ext cx="31750" cy="3175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" name="node01.arrow-1.cap-2"/>
            <p:cNvSpPr/>
            <p:nvPr/>
          </p:nvSpPr>
          <p:spPr>
            <a:xfrm>
              <a:off x="11430753" y="1997163"/>
              <a:ext cx="31750" cy="3175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2" name="node01.arrow-2"/>
            <p:cNvSpPr/>
            <p:nvPr/>
          </p:nvSpPr>
          <p:spPr>
            <a:xfrm>
              <a:off x="11351170" y="1887867"/>
              <a:ext cx="116930" cy="49562"/>
            </a:xfrm>
            <a:custGeom>
              <a:avLst/>
              <a:gdLst/>
              <a:ahLst/>
              <a:cxnLst/>
              <a:rect l="l" t="t" r="r" b="b"/>
              <a:pathLst>
                <a:path w="116930" h="49562">
                  <a:moveTo>
                    <a:pt x="116930" y="0"/>
                  </a:moveTo>
                  <a:lnTo>
                    <a:pt x="0" y="49562"/>
                  </a:lnTo>
                </a:path>
              </a:pathLst>
            </a:custGeom>
            <a:ln w="31750">
              <a:solidFill>
                <a:srgbClr val="070154"/>
              </a:solidFill>
              <a:prstDash val="solid"/>
            </a:ln>
          </p:spPr>
        </p:sp>
        <p:sp>
          <p:nvSpPr>
            <p:cNvPr id="13" name="node01.arrow-2.cap-1"/>
            <p:cNvSpPr/>
            <p:nvPr/>
          </p:nvSpPr>
          <p:spPr>
            <a:xfrm>
              <a:off x="11452225" y="1871992"/>
              <a:ext cx="31750" cy="3175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" name="node01.arrow-2.cap-2"/>
            <p:cNvSpPr/>
            <p:nvPr/>
          </p:nvSpPr>
          <p:spPr>
            <a:xfrm>
              <a:off x="11335295" y="1921554"/>
              <a:ext cx="31750" cy="3175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5" name="node01.branch.curve"/>
            <p:cNvSpPr/>
            <p:nvPr/>
          </p:nvSpPr>
          <p:spPr>
            <a:xfrm>
              <a:off x="7600188" y="4281054"/>
              <a:ext cx="3867912" cy="304800"/>
            </a:xfrm>
            <a:custGeom>
              <a:avLst/>
              <a:gdLst/>
              <a:ahLst/>
              <a:cxnLst/>
              <a:rect l="l" t="t" r="r" b="b"/>
              <a:pathLst>
                <a:path w="3867912" h="304800">
                  <a:moveTo>
                    <a:pt x="0" y="304800"/>
                  </a:moveTo>
                  <a:quadBezTo>
                    <a:pt x="1933956" y="177800"/>
                    <a:pt x="3867912" y="0"/>
                  </a:quadBezTo>
                </a:path>
              </a:pathLst>
            </a:custGeom>
            <a:ln w="25400">
              <a:solidFill>
                <a:srgbClr val="070154"/>
              </a:solidFill>
              <a:prstDash val="solid"/>
            </a:ln>
          </p:spPr>
        </p:sp>
        <p:sp>
          <p:nvSpPr>
            <p:cNvPr id="16" name="node01.branch.cap-1"/>
            <p:cNvSpPr/>
            <p:nvPr/>
          </p:nvSpPr>
          <p:spPr>
            <a:xfrm>
              <a:off x="7587488" y="4573154"/>
              <a:ext cx="25400" cy="254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7" name="node01.branch.cap-2"/>
            <p:cNvSpPr/>
            <p:nvPr/>
          </p:nvSpPr>
          <p:spPr>
            <a:xfrm>
              <a:off x="11455400" y="4268354"/>
              <a:ext cx="25400" cy="254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8" name="node01.axis"/>
            <p:cNvSpPr/>
            <p:nvPr/>
          </p:nvSpPr>
          <p:spPr>
            <a:xfrm>
              <a:off x="723900" y="5791200"/>
              <a:ext cx="10744200" cy="0"/>
            </a:xfrm>
            <a:custGeom>
              <a:avLst/>
              <a:gdLst/>
              <a:ahLst/>
              <a:cxnLst/>
              <a:rect l="l" t="t" r="r" b="b"/>
              <a:pathLst>
                <a:path w="10744200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9" name="node01.axis.arrow"/>
            <p:cNvSpPr/>
            <p:nvPr/>
          </p:nvSpPr>
          <p:spPr>
            <a:xfrm>
              <a:off x="11379200" y="5740400"/>
              <a:ext cx="88900" cy="101600"/>
            </a:xfrm>
            <a:custGeom>
              <a:avLst/>
              <a:gdLst/>
              <a:ahLst/>
              <a:cxnLst/>
              <a:rect l="l" t="t" r="r" b="b"/>
              <a:pathLst>
                <a:path w="88900" h="101600">
                  <a:moveTo>
                    <a:pt x="0" y="0"/>
                  </a:moveTo>
                  <a:lnTo>
                    <a:pt x="88900" y="50800"/>
                  </a:lnTo>
                  <a:lnTo>
                    <a:pt x="0" y="1016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0" name="node01.axis.label-bg"/>
            <p:cNvSpPr/>
            <p:nvPr/>
          </p:nvSpPr>
          <p:spPr>
            <a:xfrm>
              <a:off x="4953000" y="5715000"/>
              <a:ext cx="2286000" cy="15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node01.axis.label"/>
            <p:cNvSpPr/>
            <p:nvPr/>
          </p:nvSpPr>
          <p:spPr>
            <a:xfrm>
              <a:off x="4953000" y="5715000"/>
              <a:ext cx="22860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INCREASING SCOPE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2" name="node01.stages.source-001.circle"/>
            <p:cNvSpPr/>
            <p:nvPr/>
          </p:nvSpPr>
          <p:spPr>
            <a:xfrm>
              <a:off x="1121410" y="5145176"/>
              <a:ext cx="279400" cy="2794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70154"/>
              </a:solidFill>
              <a:prstDash val="solid"/>
            </a:ln>
          </p:spPr>
        </p:sp>
        <p:sp>
          <p:nvSpPr>
            <p:cNvPr id="23" name="node01.stages.source-001.number"/>
            <p:cNvSpPr/>
            <p:nvPr/>
          </p:nvSpPr>
          <p:spPr>
            <a:xfrm>
              <a:off x="1134110" y="5132476"/>
              <a:ext cx="254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</a:t>
              </a:r>
              <a:endParaRPr lang="en-US" sz="11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4" name="node01.stages.source-001.tick"/>
            <p:cNvSpPr/>
            <p:nvPr/>
          </p:nvSpPr>
          <p:spPr>
            <a:xfrm>
              <a:off x="1254760" y="4903876"/>
              <a:ext cx="12700" cy="228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5" name="node01.stages.source-001.label"/>
            <p:cNvSpPr/>
            <p:nvPr/>
          </p:nvSpPr>
          <p:spPr>
            <a:xfrm>
              <a:off x="1108710" y="3964076"/>
              <a:ext cx="2057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MANUAL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6" name="node01.stages.source-001.text"/>
            <p:cNvSpPr/>
            <p:nvPr/>
          </p:nvSpPr>
          <p:spPr>
            <a:xfrm>
              <a:off x="1108710" y="4167276"/>
              <a:ext cx="20574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People do the work end to end; knowledge stays fragmented.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7" name="node01.stages.source-002.circle"/>
            <p:cNvSpPr/>
            <p:nvPr/>
          </p:nvSpPr>
          <p:spPr>
            <a:xfrm>
              <a:off x="3162808" y="5066991"/>
              <a:ext cx="279400" cy="2794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70154"/>
              </a:solidFill>
              <a:prstDash val="solid"/>
            </a:ln>
          </p:spPr>
        </p:sp>
        <p:sp>
          <p:nvSpPr>
            <p:cNvPr id="28" name="node01.stages.source-002.number"/>
            <p:cNvSpPr/>
            <p:nvPr/>
          </p:nvSpPr>
          <p:spPr>
            <a:xfrm>
              <a:off x="3175508" y="5054291"/>
              <a:ext cx="254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2</a:t>
              </a:r>
              <a:endParaRPr lang="en-US" sz="11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9" name="node01.stages.source-002.tick"/>
            <p:cNvSpPr/>
            <p:nvPr/>
          </p:nvSpPr>
          <p:spPr>
            <a:xfrm>
              <a:off x="3296158" y="4825691"/>
              <a:ext cx="12700" cy="228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0" name="node01.stages.source-002.label"/>
            <p:cNvSpPr/>
            <p:nvPr/>
          </p:nvSpPr>
          <p:spPr>
            <a:xfrm>
              <a:off x="3150108" y="4114491"/>
              <a:ext cx="2057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INDIVIDUALLY AI-ASSISTED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1" name="node01.stages.source-002.text"/>
            <p:cNvSpPr/>
            <p:nvPr/>
          </p:nvSpPr>
          <p:spPr>
            <a:xfrm>
              <a:off x="3150108" y="4317691"/>
              <a:ext cx="2057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AI helps with bounded tasks; workflows stay unchanged.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2" name="node01.stages.source-003.circle"/>
            <p:cNvSpPr/>
            <p:nvPr/>
          </p:nvSpPr>
          <p:spPr>
            <a:xfrm>
              <a:off x="5311648" y="4879787"/>
              <a:ext cx="279400" cy="2794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70154"/>
              </a:solidFill>
              <a:prstDash val="solid"/>
            </a:ln>
          </p:spPr>
        </p:sp>
        <p:sp>
          <p:nvSpPr>
            <p:cNvPr id="33" name="node01.stages.source-003.number"/>
            <p:cNvSpPr/>
            <p:nvPr/>
          </p:nvSpPr>
          <p:spPr>
            <a:xfrm>
              <a:off x="5324348" y="4867087"/>
              <a:ext cx="254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3</a:t>
              </a:r>
              <a:endParaRPr lang="en-US" sz="11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4" name="node01.stages.source-003.tick"/>
            <p:cNvSpPr/>
            <p:nvPr/>
          </p:nvSpPr>
          <p:spPr>
            <a:xfrm>
              <a:off x="5444998" y="4638487"/>
              <a:ext cx="12700" cy="228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5" name="node01.stages.source-003.label"/>
            <p:cNvSpPr/>
            <p:nvPr/>
          </p:nvSpPr>
          <p:spPr>
            <a:xfrm>
              <a:off x="5298948" y="3698687"/>
              <a:ext cx="2057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REPEATABLE TEAM PRACTICE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6" name="node01.stages.source-003.text"/>
            <p:cNvSpPr/>
            <p:nvPr/>
          </p:nvSpPr>
          <p:spPr>
            <a:xfrm>
              <a:off x="5298948" y="3901887"/>
              <a:ext cx="20574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Teams reuse shared workflows with clear owners and defined review.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7" name="node01.stages.source-004.circle"/>
            <p:cNvSpPr/>
            <p:nvPr/>
          </p:nvSpPr>
          <p:spPr>
            <a:xfrm>
              <a:off x="7460488" y="4446154"/>
              <a:ext cx="279400" cy="2794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70154"/>
              </a:solidFill>
              <a:prstDash val="solid"/>
            </a:ln>
          </p:spPr>
        </p:sp>
        <p:sp>
          <p:nvSpPr>
            <p:cNvPr id="38" name="node01.stages.source-004.number"/>
            <p:cNvSpPr/>
            <p:nvPr/>
          </p:nvSpPr>
          <p:spPr>
            <a:xfrm>
              <a:off x="7473188" y="4433454"/>
              <a:ext cx="254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4</a:t>
              </a:r>
              <a:endParaRPr lang="en-US" sz="11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9" name="node01.stages.source-004.tick"/>
            <p:cNvSpPr/>
            <p:nvPr/>
          </p:nvSpPr>
          <p:spPr>
            <a:xfrm>
              <a:off x="7593838" y="3696854"/>
              <a:ext cx="12700" cy="736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0" name="node01.stages.source-004.label"/>
            <p:cNvSpPr/>
            <p:nvPr/>
          </p:nvSpPr>
          <p:spPr>
            <a:xfrm>
              <a:off x="6050788" y="2757054"/>
              <a:ext cx="2057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INTEGRATED AI-NATIVE FLOW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1" name="node01.stages.source-004.text"/>
            <p:cNvSpPr/>
            <p:nvPr/>
          </p:nvSpPr>
          <p:spPr>
            <a:xfrm>
              <a:off x="6050788" y="2960254"/>
              <a:ext cx="20574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People and agents coordinate across the lifecycle with clear handoffs.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2" name="node01.stages.source-005.circle"/>
            <p:cNvSpPr/>
            <p:nvPr/>
          </p:nvSpPr>
          <p:spPr>
            <a:xfrm>
              <a:off x="9609328" y="3441700"/>
              <a:ext cx="279400" cy="2794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70154"/>
              </a:solidFill>
              <a:prstDash val="solid"/>
            </a:ln>
          </p:spPr>
        </p:sp>
        <p:sp>
          <p:nvSpPr>
            <p:cNvPr id="43" name="node01.stages.source-005.number"/>
            <p:cNvSpPr/>
            <p:nvPr/>
          </p:nvSpPr>
          <p:spPr>
            <a:xfrm>
              <a:off x="9622028" y="3429000"/>
              <a:ext cx="254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5</a:t>
              </a:r>
              <a:endParaRPr lang="en-US" sz="11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4" name="node01.stages.source-005.tick"/>
            <p:cNvSpPr/>
            <p:nvPr/>
          </p:nvSpPr>
          <p:spPr>
            <a:xfrm>
              <a:off x="9742678" y="2692400"/>
              <a:ext cx="12700" cy="736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5" name="node01.stages.source-005.label"/>
            <p:cNvSpPr/>
            <p:nvPr/>
          </p:nvSpPr>
          <p:spPr>
            <a:xfrm>
              <a:off x="8199628" y="1600200"/>
              <a:ext cx="2057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SELF-IMPROVING DELIVERY SYSTEM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6" name="node01.stages.source-005.text"/>
            <p:cNvSpPr/>
            <p:nvPr/>
          </p:nvSpPr>
          <p:spPr>
            <a:xfrm>
              <a:off x="8199628" y="1955800"/>
              <a:ext cx="20574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Telemetry feeds agents that refine shared skills, so delivery improves on its own.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7" name="node01.branch.circle"/>
            <p:cNvSpPr/>
            <p:nvPr/>
          </p:nvSpPr>
          <p:spPr>
            <a:xfrm>
              <a:off x="10245385" y="4175898"/>
              <a:ext cx="279400" cy="2794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70154"/>
              </a:solidFill>
              <a:prstDash val="solid"/>
            </a:ln>
          </p:spPr>
        </p:sp>
        <p:sp>
          <p:nvSpPr>
            <p:cNvPr id="48" name="node01.branch.number"/>
            <p:cNvSpPr/>
            <p:nvPr/>
          </p:nvSpPr>
          <p:spPr>
            <a:xfrm>
              <a:off x="10258085" y="4163198"/>
              <a:ext cx="254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900"/>
                </a:lnSpc>
                <a:buNone/>
              </a:pPr>
              <a:r>
                <a:rPr lang="en-US" sz="9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4.5</a:t>
              </a:r>
              <a:endParaRPr lang="en-US" sz="9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9" name="node01.branch.label"/>
            <p:cNvSpPr/>
            <p:nvPr/>
          </p:nvSpPr>
          <p:spPr>
            <a:xfrm>
              <a:off x="9410700" y="4544198"/>
              <a:ext cx="2057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EXPANDING BEYOND PRODUCT DELIVERY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0" name="node01.branch.text"/>
            <p:cNvSpPr/>
            <p:nvPr/>
          </p:nvSpPr>
          <p:spPr>
            <a:xfrm>
              <a:off x="9410700" y="4899798"/>
              <a:ext cx="20574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Integrated flow extends to support, go-to-market and marketing.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1" name="node01.inflection"/>
            <p:cNvSpPr/>
            <p:nvPr/>
          </p:nvSpPr>
          <p:spPr>
            <a:xfrm>
              <a:off x="6203188" y="5093854"/>
              <a:ext cx="13970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INFLECTION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7086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MATURITY MODEL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7086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Most of the gain arrives after the inflection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2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52" name="node01"/>
          <p:cNvGrpSpPr/>
          <p:nvPr/>
        </p:nvGrpSpPr>
        <p:grpSpPr>
          <a:xfrm>
            <a:off x="822325" y="2057400"/>
            <a:ext cx="6889750" cy="3657600"/>
            <a:chOff x="822325" y="2057400"/>
            <a:chExt cx="6889750" cy="3657600"/>
          </a:xfrm>
        </p:grpSpPr>
        <p:sp>
          <p:nvSpPr>
            <p:cNvPr id="6" name="node01.curve"/>
            <p:cNvSpPr/>
            <p:nvPr/>
          </p:nvSpPr>
          <p:spPr>
            <a:xfrm>
              <a:off x="838200" y="2506980"/>
              <a:ext cx="6858000" cy="2606040"/>
            </a:xfrm>
            <a:custGeom>
              <a:avLst/>
              <a:gdLst/>
              <a:ahLst/>
              <a:cxnLst/>
              <a:rect l="l" t="t" r="r" b="b"/>
              <a:pathLst>
                <a:path w="6858000" h="2606040">
                  <a:moveTo>
                    <a:pt x="0" y="2606040"/>
                  </a:moveTo>
                  <a:lnTo>
                    <a:pt x="114300" y="2603163"/>
                  </a:lnTo>
                  <a:lnTo>
                    <a:pt x="228600" y="2600078"/>
                  </a:lnTo>
                  <a:lnTo>
                    <a:pt x="342900" y="2596769"/>
                  </a:lnTo>
                  <a:lnTo>
                    <a:pt x="457200" y="2593220"/>
                  </a:lnTo>
                  <a:lnTo>
                    <a:pt x="571500" y="2589414"/>
                  </a:lnTo>
                  <a:lnTo>
                    <a:pt x="685800" y="2585332"/>
                  </a:lnTo>
                  <a:lnTo>
                    <a:pt x="800100" y="2580953"/>
                  </a:lnTo>
                  <a:lnTo>
                    <a:pt x="914400" y="2576258"/>
                  </a:lnTo>
                  <a:lnTo>
                    <a:pt x="1028700" y="2571222"/>
                  </a:lnTo>
                  <a:lnTo>
                    <a:pt x="1143000" y="2565820"/>
                  </a:lnTo>
                  <a:lnTo>
                    <a:pt x="1257300" y="2560027"/>
                  </a:lnTo>
                  <a:lnTo>
                    <a:pt x="1371600" y="2553814"/>
                  </a:lnTo>
                  <a:lnTo>
                    <a:pt x="1485900" y="2547151"/>
                  </a:lnTo>
                  <a:lnTo>
                    <a:pt x="1600200" y="2540004"/>
                  </a:lnTo>
                  <a:lnTo>
                    <a:pt x="1714500" y="2532340"/>
                  </a:lnTo>
                  <a:lnTo>
                    <a:pt x="1828800" y="2524119"/>
                  </a:lnTo>
                  <a:lnTo>
                    <a:pt x="1943100" y="2515302"/>
                  </a:lnTo>
                  <a:lnTo>
                    <a:pt x="2057400" y="2505846"/>
                  </a:lnTo>
                  <a:lnTo>
                    <a:pt x="2171700" y="2495705"/>
                  </a:lnTo>
                  <a:lnTo>
                    <a:pt x="2286000" y="2484828"/>
                  </a:lnTo>
                  <a:lnTo>
                    <a:pt x="2400300" y="2473162"/>
                  </a:lnTo>
                  <a:lnTo>
                    <a:pt x="2514600" y="2460651"/>
                  </a:lnTo>
                  <a:lnTo>
                    <a:pt x="2628900" y="2447232"/>
                  </a:lnTo>
                  <a:lnTo>
                    <a:pt x="2743200" y="2432841"/>
                  </a:lnTo>
                  <a:lnTo>
                    <a:pt x="2857500" y="2417406"/>
                  </a:lnTo>
                  <a:lnTo>
                    <a:pt x="2971800" y="2400852"/>
                  </a:lnTo>
                  <a:lnTo>
                    <a:pt x="3086100" y="2383097"/>
                  </a:lnTo>
                  <a:lnTo>
                    <a:pt x="3200400" y="2364055"/>
                  </a:lnTo>
                  <a:lnTo>
                    <a:pt x="3314700" y="2343633"/>
                  </a:lnTo>
                  <a:lnTo>
                    <a:pt x="3429000" y="2321729"/>
                  </a:lnTo>
                  <a:lnTo>
                    <a:pt x="3543300" y="2298238"/>
                  </a:lnTo>
                  <a:lnTo>
                    <a:pt x="3657600" y="2273043"/>
                  </a:lnTo>
                  <a:lnTo>
                    <a:pt x="3771900" y="2246021"/>
                  </a:lnTo>
                  <a:lnTo>
                    <a:pt x="3886200" y="2217040"/>
                  </a:lnTo>
                  <a:lnTo>
                    <a:pt x="4000500" y="2185958"/>
                  </a:lnTo>
                  <a:lnTo>
                    <a:pt x="4114800" y="2152622"/>
                  </a:lnTo>
                  <a:lnTo>
                    <a:pt x="4229100" y="2116869"/>
                  </a:lnTo>
                  <a:lnTo>
                    <a:pt x="4343400" y="2078523"/>
                  </a:lnTo>
                  <a:lnTo>
                    <a:pt x="4457700" y="2037397"/>
                  </a:lnTo>
                  <a:lnTo>
                    <a:pt x="4572000" y="1993289"/>
                  </a:lnTo>
                  <a:lnTo>
                    <a:pt x="4686300" y="1945983"/>
                  </a:lnTo>
                  <a:lnTo>
                    <a:pt x="4800600" y="1895247"/>
                  </a:lnTo>
                  <a:lnTo>
                    <a:pt x="4914900" y="1840832"/>
                  </a:lnTo>
                  <a:lnTo>
                    <a:pt x="5029200" y="1782471"/>
                  </a:lnTo>
                  <a:lnTo>
                    <a:pt x="5143500" y="1719879"/>
                  </a:lnTo>
                  <a:lnTo>
                    <a:pt x="5257800" y="1652748"/>
                  </a:lnTo>
                  <a:lnTo>
                    <a:pt x="5372100" y="1580750"/>
                  </a:lnTo>
                  <a:lnTo>
                    <a:pt x="5486400" y="1503531"/>
                  </a:lnTo>
                  <a:lnTo>
                    <a:pt x="5600700" y="1420714"/>
                  </a:lnTo>
                  <a:lnTo>
                    <a:pt x="5715000" y="1331891"/>
                  </a:lnTo>
                  <a:lnTo>
                    <a:pt x="5829300" y="1236628"/>
                  </a:lnTo>
                  <a:lnTo>
                    <a:pt x="5943600" y="1134458"/>
                  </a:lnTo>
                  <a:lnTo>
                    <a:pt x="6057900" y="1024880"/>
                  </a:lnTo>
                  <a:lnTo>
                    <a:pt x="6172200" y="907356"/>
                  </a:lnTo>
                  <a:lnTo>
                    <a:pt x="6286500" y="781311"/>
                  </a:lnTo>
                  <a:lnTo>
                    <a:pt x="6400800" y="646126"/>
                  </a:lnTo>
                  <a:lnTo>
                    <a:pt x="6515100" y="501140"/>
                  </a:lnTo>
                  <a:lnTo>
                    <a:pt x="6629400" y="345641"/>
                  </a:lnTo>
                  <a:lnTo>
                    <a:pt x="6743700" y="178867"/>
                  </a:lnTo>
                  <a:lnTo>
                    <a:pt x="6858000" y="0"/>
                  </a:lnTo>
                </a:path>
              </a:pathLst>
            </a:custGeom>
            <a:ln w="31750">
              <a:solidFill>
                <a:srgbClr val="070154"/>
              </a:solidFill>
              <a:prstDash val="solid"/>
            </a:ln>
          </p:spPr>
        </p:sp>
        <p:sp>
          <p:nvSpPr>
            <p:cNvPr id="7" name="node01.curve.cap-1"/>
            <p:cNvSpPr/>
            <p:nvPr/>
          </p:nvSpPr>
          <p:spPr>
            <a:xfrm>
              <a:off x="822325" y="5097145"/>
              <a:ext cx="31750" cy="3175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" name="node01.curve.cap-2"/>
            <p:cNvSpPr/>
            <p:nvPr/>
          </p:nvSpPr>
          <p:spPr>
            <a:xfrm>
              <a:off x="7680325" y="2491105"/>
              <a:ext cx="31750" cy="3175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" name="node01.arrow-1"/>
            <p:cNvSpPr/>
            <p:nvPr/>
          </p:nvSpPr>
          <p:spPr>
            <a:xfrm>
              <a:off x="7685502" y="2506980"/>
              <a:ext cx="10698" cy="126549"/>
            </a:xfrm>
            <a:custGeom>
              <a:avLst/>
              <a:gdLst/>
              <a:ahLst/>
              <a:cxnLst/>
              <a:rect l="l" t="t" r="r" b="b"/>
              <a:pathLst>
                <a:path w="10698" h="126549">
                  <a:moveTo>
                    <a:pt x="10698" y="0"/>
                  </a:moveTo>
                  <a:lnTo>
                    <a:pt x="0" y="126549"/>
                  </a:lnTo>
                </a:path>
              </a:pathLst>
            </a:custGeom>
            <a:ln w="31750">
              <a:solidFill>
                <a:srgbClr val="070154"/>
              </a:solidFill>
              <a:prstDash val="solid"/>
            </a:ln>
          </p:spPr>
        </p:sp>
        <p:sp>
          <p:nvSpPr>
            <p:cNvPr id="10" name="node01.arrow-1.cap-1"/>
            <p:cNvSpPr/>
            <p:nvPr/>
          </p:nvSpPr>
          <p:spPr>
            <a:xfrm>
              <a:off x="7680325" y="2491105"/>
              <a:ext cx="31750" cy="3175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" name="node01.arrow-1.cap-2"/>
            <p:cNvSpPr/>
            <p:nvPr/>
          </p:nvSpPr>
          <p:spPr>
            <a:xfrm>
              <a:off x="7669627" y="2617654"/>
              <a:ext cx="31750" cy="3175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2" name="node01.arrow-2"/>
            <p:cNvSpPr/>
            <p:nvPr/>
          </p:nvSpPr>
          <p:spPr>
            <a:xfrm>
              <a:off x="7583933" y="2506980"/>
              <a:ext cx="112267" cy="59373"/>
            </a:xfrm>
            <a:custGeom>
              <a:avLst/>
              <a:gdLst/>
              <a:ahLst/>
              <a:cxnLst/>
              <a:rect l="l" t="t" r="r" b="b"/>
              <a:pathLst>
                <a:path w="112267" h="59373">
                  <a:moveTo>
                    <a:pt x="112267" y="0"/>
                  </a:moveTo>
                  <a:lnTo>
                    <a:pt x="0" y="59373"/>
                  </a:lnTo>
                </a:path>
              </a:pathLst>
            </a:custGeom>
            <a:ln w="31750">
              <a:solidFill>
                <a:srgbClr val="070154"/>
              </a:solidFill>
              <a:prstDash val="solid"/>
            </a:ln>
          </p:spPr>
        </p:sp>
        <p:sp>
          <p:nvSpPr>
            <p:cNvPr id="13" name="node01.arrow-2.cap-1"/>
            <p:cNvSpPr/>
            <p:nvPr/>
          </p:nvSpPr>
          <p:spPr>
            <a:xfrm>
              <a:off x="7680325" y="2491105"/>
              <a:ext cx="31750" cy="3175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" name="node01.arrow-2.cap-2"/>
            <p:cNvSpPr/>
            <p:nvPr/>
          </p:nvSpPr>
          <p:spPr>
            <a:xfrm>
              <a:off x="7568058" y="2550478"/>
              <a:ext cx="31750" cy="3175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5" name="node01.axis"/>
            <p:cNvSpPr/>
            <p:nvPr/>
          </p:nvSpPr>
          <p:spPr>
            <a:xfrm>
              <a:off x="838200" y="5562600"/>
              <a:ext cx="6858000" cy="0"/>
            </a:xfrm>
            <a:custGeom>
              <a:avLst/>
              <a:gdLst/>
              <a:ahLst/>
              <a:cxnLst/>
              <a:rect l="l" t="t" r="r" b="b"/>
              <a:pathLst>
                <a:path w="6858000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6" name="node01.axis.arrow"/>
            <p:cNvSpPr/>
            <p:nvPr/>
          </p:nvSpPr>
          <p:spPr>
            <a:xfrm>
              <a:off x="7607300" y="5511800"/>
              <a:ext cx="88900" cy="101600"/>
            </a:xfrm>
            <a:custGeom>
              <a:avLst/>
              <a:gdLst/>
              <a:ahLst/>
              <a:cxnLst/>
              <a:rect l="l" t="t" r="r" b="b"/>
              <a:pathLst>
                <a:path w="88900" h="101600">
                  <a:moveTo>
                    <a:pt x="0" y="0"/>
                  </a:moveTo>
                  <a:lnTo>
                    <a:pt x="88900" y="50800"/>
                  </a:lnTo>
                  <a:lnTo>
                    <a:pt x="0" y="1016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7" name="node01.axis.label-bg"/>
            <p:cNvSpPr/>
            <p:nvPr/>
          </p:nvSpPr>
          <p:spPr>
            <a:xfrm>
              <a:off x="3124200" y="5486400"/>
              <a:ext cx="2286000" cy="139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node01.axis.label"/>
            <p:cNvSpPr/>
            <p:nvPr/>
          </p:nvSpPr>
          <p:spPr>
            <a:xfrm>
              <a:off x="3124200" y="5486400"/>
              <a:ext cx="2286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INCREASING MATURITY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9" name="node01.stages.source-001.circle"/>
            <p:cNvSpPr/>
            <p:nvPr/>
          </p:nvSpPr>
          <p:spPr>
            <a:xfrm>
              <a:off x="1109980" y="4961950"/>
              <a:ext cx="279400" cy="2794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70154"/>
              </a:solidFill>
              <a:prstDash val="solid"/>
            </a:ln>
          </p:spPr>
        </p:sp>
        <p:sp>
          <p:nvSpPr>
            <p:cNvPr id="20" name="node01.stages.source-001.number"/>
            <p:cNvSpPr/>
            <p:nvPr/>
          </p:nvSpPr>
          <p:spPr>
            <a:xfrm>
              <a:off x="1122680" y="4949250"/>
              <a:ext cx="254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</a:t>
              </a:r>
              <a:endParaRPr lang="en-US" sz="11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1" name="node01.stages.source-001.tick"/>
            <p:cNvSpPr/>
            <p:nvPr/>
          </p:nvSpPr>
          <p:spPr>
            <a:xfrm>
              <a:off x="1243330" y="4720650"/>
              <a:ext cx="12700" cy="228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2" name="node01.stages.source-001.label"/>
            <p:cNvSpPr/>
            <p:nvPr/>
          </p:nvSpPr>
          <p:spPr>
            <a:xfrm>
              <a:off x="1097280" y="4288850"/>
              <a:ext cx="1447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AD HOC</a:t>
              </a:r>
              <a:endParaRPr lang="en-US" sz="800" spc="48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3" name="node01.stages.source-001.text"/>
            <p:cNvSpPr/>
            <p:nvPr/>
          </p:nvSpPr>
          <p:spPr>
            <a:xfrm>
              <a:off x="1097280" y="4479350"/>
              <a:ext cx="1447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Varies by person.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4" name="node01.stages.source-002.circle"/>
            <p:cNvSpPr/>
            <p:nvPr/>
          </p:nvSpPr>
          <p:spPr>
            <a:xfrm>
              <a:off x="2893060" y="4860870"/>
              <a:ext cx="279400" cy="2794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70154"/>
              </a:solidFill>
              <a:prstDash val="solid"/>
            </a:ln>
          </p:spPr>
        </p:sp>
        <p:sp>
          <p:nvSpPr>
            <p:cNvPr id="25" name="node01.stages.source-002.number"/>
            <p:cNvSpPr/>
            <p:nvPr/>
          </p:nvSpPr>
          <p:spPr>
            <a:xfrm>
              <a:off x="2905760" y="4848170"/>
              <a:ext cx="254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2</a:t>
              </a:r>
              <a:endParaRPr lang="en-US" sz="11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6" name="node01.stages.source-002.tick"/>
            <p:cNvSpPr/>
            <p:nvPr/>
          </p:nvSpPr>
          <p:spPr>
            <a:xfrm>
              <a:off x="3026410" y="4619570"/>
              <a:ext cx="12700" cy="228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7" name="node01.stages.source-002.label"/>
            <p:cNvSpPr/>
            <p:nvPr/>
          </p:nvSpPr>
          <p:spPr>
            <a:xfrm>
              <a:off x="2880360" y="4187770"/>
              <a:ext cx="1447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DEFINED</a:t>
              </a:r>
              <a:endParaRPr lang="en-US" sz="800" spc="48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8" name="node01.stages.source-002.text"/>
            <p:cNvSpPr/>
            <p:nvPr/>
          </p:nvSpPr>
          <p:spPr>
            <a:xfrm>
              <a:off x="2880360" y="4378270"/>
              <a:ext cx="1447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Written standards.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9" name="node01.stages.source-003.circle"/>
            <p:cNvSpPr/>
            <p:nvPr/>
          </p:nvSpPr>
          <p:spPr>
            <a:xfrm>
              <a:off x="4676140" y="4559630"/>
              <a:ext cx="279400" cy="2794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70154"/>
              </a:solidFill>
              <a:prstDash val="solid"/>
            </a:ln>
          </p:spPr>
        </p:sp>
        <p:sp>
          <p:nvSpPr>
            <p:cNvPr id="30" name="node01.stages.source-003.number"/>
            <p:cNvSpPr/>
            <p:nvPr/>
          </p:nvSpPr>
          <p:spPr>
            <a:xfrm>
              <a:off x="4688840" y="4546930"/>
              <a:ext cx="254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3</a:t>
              </a:r>
              <a:endParaRPr lang="en-US" sz="11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1" name="node01.stages.source-003.tick"/>
            <p:cNvSpPr/>
            <p:nvPr/>
          </p:nvSpPr>
          <p:spPr>
            <a:xfrm>
              <a:off x="4809490" y="3810330"/>
              <a:ext cx="12700" cy="736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2" name="node01.stages.source-003.label"/>
            <p:cNvSpPr/>
            <p:nvPr/>
          </p:nvSpPr>
          <p:spPr>
            <a:xfrm>
              <a:off x="3876040" y="3378530"/>
              <a:ext cx="1447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MANAGED</a:t>
              </a:r>
              <a:endParaRPr lang="en-US" sz="800" spc="48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3" name="node01.stages.source-003.text"/>
            <p:cNvSpPr/>
            <p:nvPr/>
          </p:nvSpPr>
          <p:spPr>
            <a:xfrm>
              <a:off x="3876040" y="3569030"/>
              <a:ext cx="1447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Measured results.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4" name="node01.stages.source-004.circle"/>
            <p:cNvSpPr/>
            <p:nvPr/>
          </p:nvSpPr>
          <p:spPr>
            <a:xfrm>
              <a:off x="6322060" y="3770723"/>
              <a:ext cx="279400" cy="2794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70154"/>
              </a:solidFill>
              <a:prstDash val="solid"/>
            </a:ln>
          </p:spPr>
        </p:sp>
        <p:sp>
          <p:nvSpPr>
            <p:cNvPr id="35" name="node01.stages.source-004.number"/>
            <p:cNvSpPr/>
            <p:nvPr/>
          </p:nvSpPr>
          <p:spPr>
            <a:xfrm>
              <a:off x="6334760" y="3758023"/>
              <a:ext cx="254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4</a:t>
              </a:r>
              <a:endParaRPr lang="en-US" sz="11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6" name="node01.stages.source-004.tick"/>
            <p:cNvSpPr/>
            <p:nvPr/>
          </p:nvSpPr>
          <p:spPr>
            <a:xfrm>
              <a:off x="6455410" y="3021423"/>
              <a:ext cx="12700" cy="736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7" name="node01.stages.source-004.label"/>
            <p:cNvSpPr/>
            <p:nvPr/>
          </p:nvSpPr>
          <p:spPr>
            <a:xfrm>
              <a:off x="5521960" y="2589623"/>
              <a:ext cx="1447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OPTIMIZED</a:t>
              </a:r>
              <a:endParaRPr lang="en-US" sz="800" spc="48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8" name="node01.stages.source-004.text"/>
            <p:cNvSpPr/>
            <p:nvPr/>
          </p:nvSpPr>
          <p:spPr>
            <a:xfrm>
              <a:off x="5521960" y="2780123"/>
              <a:ext cx="1447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Shared learning.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9" name="node01.inflection"/>
            <p:cNvSpPr/>
            <p:nvPr/>
          </p:nvSpPr>
          <p:spPr>
            <a:xfrm>
              <a:off x="3418840" y="5207330"/>
              <a:ext cx="1397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INFLECTION</a:t>
              </a:r>
              <a:endParaRPr lang="en-US" sz="800" spc="48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53" name="node02"/>
          <p:cNvGrpSpPr/>
          <p:nvPr/>
        </p:nvGrpSpPr>
        <p:grpSpPr>
          <a:xfrm>
            <a:off x="8039100" y="457200"/>
            <a:ext cx="3429000" cy="1600200"/>
            <a:chOff x="8039100" y="457200"/>
            <a:chExt cx="3429000" cy="1600200"/>
          </a:xfrm>
        </p:grpSpPr>
        <p:sp>
          <p:nvSpPr>
            <p:cNvPr id="40" name="node02.container"/>
            <p:cNvSpPr/>
            <p:nvPr/>
          </p:nvSpPr>
          <p:spPr>
            <a:xfrm>
              <a:off x="8039100" y="457200"/>
              <a:ext cx="3429000" cy="1600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1" name="node02.label"/>
            <p:cNvSpPr/>
            <p:nvPr/>
          </p:nvSpPr>
          <p:spPr>
            <a:xfrm>
              <a:off x="8191500" y="609600"/>
              <a:ext cx="3124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INSIGHT 1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2" name="node02.title"/>
            <p:cNvSpPr/>
            <p:nvPr/>
          </p:nvSpPr>
          <p:spPr>
            <a:xfrm>
              <a:off x="8191500" y="825500"/>
              <a:ext cx="3124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HABITS COME FIRST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3" name="node02.body.item-001.paragraph"/>
            <p:cNvSpPr/>
            <p:nvPr/>
          </p:nvSpPr>
          <p:spPr>
            <a:xfrm>
              <a:off x="8191500" y="1117600"/>
              <a:ext cx="31242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Early stages cost effort and show little; hold the line until stage three.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4" name="node03"/>
          <p:cNvGrpSpPr/>
          <p:nvPr/>
        </p:nvGrpSpPr>
        <p:grpSpPr>
          <a:xfrm>
            <a:off x="8039100" y="2286000"/>
            <a:ext cx="3429000" cy="1600200"/>
            <a:chOff x="8039100" y="2286000"/>
            <a:chExt cx="3429000" cy="1600200"/>
          </a:xfrm>
        </p:grpSpPr>
        <p:sp>
          <p:nvSpPr>
            <p:cNvPr id="44" name="node03.container"/>
            <p:cNvSpPr/>
            <p:nvPr/>
          </p:nvSpPr>
          <p:spPr>
            <a:xfrm>
              <a:off x="8039100" y="2286000"/>
              <a:ext cx="3429000" cy="1600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5" name="node03.label"/>
            <p:cNvSpPr/>
            <p:nvPr/>
          </p:nvSpPr>
          <p:spPr>
            <a:xfrm>
              <a:off x="8191500" y="2438400"/>
              <a:ext cx="3124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INSIGHT 2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6" name="node03.title"/>
            <p:cNvSpPr/>
            <p:nvPr/>
          </p:nvSpPr>
          <p:spPr>
            <a:xfrm>
              <a:off x="8191500" y="2654300"/>
              <a:ext cx="3124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STANDARDS UNLOCK SCALE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7" name="node03.body.item-001.paragraph"/>
            <p:cNvSpPr/>
            <p:nvPr/>
          </p:nvSpPr>
          <p:spPr>
            <a:xfrm>
              <a:off x="8191500" y="2946400"/>
              <a:ext cx="31242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 shared method is the inflection that makes later gains compound.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5" name="node04"/>
          <p:cNvGrpSpPr/>
          <p:nvPr/>
        </p:nvGrpSpPr>
        <p:grpSpPr>
          <a:xfrm>
            <a:off x="8039100" y="4114800"/>
            <a:ext cx="3429000" cy="1600200"/>
            <a:chOff x="8039100" y="4114800"/>
            <a:chExt cx="3429000" cy="1600200"/>
          </a:xfrm>
        </p:grpSpPr>
        <p:sp>
          <p:nvSpPr>
            <p:cNvPr id="48" name="node04.container"/>
            <p:cNvSpPr/>
            <p:nvPr/>
          </p:nvSpPr>
          <p:spPr>
            <a:xfrm>
              <a:off x="8039100" y="4114800"/>
              <a:ext cx="3429000" cy="1600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9" name="node04.label"/>
            <p:cNvSpPr/>
            <p:nvPr/>
          </p:nvSpPr>
          <p:spPr>
            <a:xfrm>
              <a:off x="8191500" y="4267200"/>
              <a:ext cx="3124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INSIGHT 3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0" name="node04.title"/>
            <p:cNvSpPr/>
            <p:nvPr/>
          </p:nvSpPr>
          <p:spPr>
            <a:xfrm>
              <a:off x="8191500" y="4483100"/>
              <a:ext cx="3124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MEASURES CLOSE THE LOOP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1" name="node04.body.item-001.paragraph"/>
            <p:cNvSpPr/>
            <p:nvPr/>
          </p:nvSpPr>
          <p:spPr>
            <a:xfrm>
              <a:off x="8191500" y="4775200"/>
              <a:ext cx="31242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Optimizing starts when results feed back into the method.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We chose to buy a platform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Health System digital front door program.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3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62" name="node01"/>
          <p:cNvGrpSpPr/>
          <p:nvPr/>
        </p:nvGrpSpPr>
        <p:grpSpPr>
          <a:xfrm>
            <a:off x="723900" y="1600200"/>
            <a:ext cx="10744200" cy="3352800"/>
            <a:chOff x="723900" y="1600200"/>
            <a:chExt cx="10744200" cy="3352800"/>
          </a:xfrm>
        </p:grpSpPr>
        <p:sp>
          <p:nvSpPr>
            <p:cNvPr id="7" name="node01.trunk.road"/>
            <p:cNvSpPr/>
            <p:nvPr/>
          </p:nvSpPr>
          <p:spPr>
            <a:xfrm>
              <a:off x="901700" y="3276600"/>
              <a:ext cx="3475228" cy="0"/>
            </a:xfrm>
            <a:custGeom>
              <a:avLst/>
              <a:gdLst/>
              <a:ahLst/>
              <a:cxnLst/>
              <a:rect l="l" t="t" r="r" b="b"/>
              <a:pathLst>
                <a:path w="3475228">
                  <a:moveTo>
                    <a:pt x="0" y="0"/>
                  </a:moveTo>
                  <a:lnTo>
                    <a:pt x="3475228" y="0"/>
                  </a:lnTo>
                </a:path>
              </a:pathLst>
            </a:custGeom>
            <a:ln w="228600">
              <a:solidFill>
                <a:srgbClr val="070154"/>
              </a:solidFill>
              <a:prstDash val="solid"/>
              <a:round/>
            </a:ln>
          </p:spPr>
        </p:sp>
        <p:sp>
          <p:nvSpPr>
            <p:cNvPr id="8" name="node01.trunk.road.cap-1"/>
            <p:cNvSpPr/>
            <p:nvPr/>
          </p:nvSpPr>
          <p:spPr>
            <a:xfrm>
              <a:off x="787400" y="31623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" name="node01.trunk.road.cap-2"/>
            <p:cNvSpPr/>
            <p:nvPr/>
          </p:nvSpPr>
          <p:spPr>
            <a:xfrm>
              <a:off x="4262628" y="31623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" name="node01.trunk.centerline"/>
            <p:cNvSpPr/>
            <p:nvPr/>
          </p:nvSpPr>
          <p:spPr>
            <a:xfrm>
              <a:off x="901700" y="3276600"/>
              <a:ext cx="3475228" cy="0"/>
            </a:xfrm>
            <a:custGeom>
              <a:avLst/>
              <a:gdLst/>
              <a:ahLst/>
              <a:cxnLst/>
              <a:rect l="l" t="t" r="r" b="b"/>
              <a:pathLst>
                <a:path w="3475228">
                  <a:moveTo>
                    <a:pt x="0" y="0"/>
                  </a:moveTo>
                  <a:lnTo>
                    <a:pt x="88900" y="0"/>
                  </a:lnTo>
                  <a:moveTo>
                    <a:pt x="177800" y="0"/>
                  </a:moveTo>
                  <a:lnTo>
                    <a:pt x="266700" y="0"/>
                  </a:lnTo>
                  <a:moveTo>
                    <a:pt x="355600" y="0"/>
                  </a:moveTo>
                  <a:lnTo>
                    <a:pt x="444500" y="0"/>
                  </a:lnTo>
                  <a:moveTo>
                    <a:pt x="533400" y="0"/>
                  </a:moveTo>
                  <a:lnTo>
                    <a:pt x="622300" y="0"/>
                  </a:lnTo>
                  <a:moveTo>
                    <a:pt x="711200" y="0"/>
                  </a:moveTo>
                  <a:lnTo>
                    <a:pt x="800100" y="0"/>
                  </a:lnTo>
                  <a:moveTo>
                    <a:pt x="889000" y="0"/>
                  </a:moveTo>
                  <a:lnTo>
                    <a:pt x="977900" y="0"/>
                  </a:lnTo>
                  <a:moveTo>
                    <a:pt x="1066800" y="0"/>
                  </a:moveTo>
                  <a:lnTo>
                    <a:pt x="1155700" y="0"/>
                  </a:lnTo>
                  <a:moveTo>
                    <a:pt x="1244600" y="0"/>
                  </a:moveTo>
                  <a:lnTo>
                    <a:pt x="1333500" y="0"/>
                  </a:lnTo>
                  <a:moveTo>
                    <a:pt x="1422400" y="0"/>
                  </a:moveTo>
                  <a:lnTo>
                    <a:pt x="1511300" y="0"/>
                  </a:lnTo>
                  <a:moveTo>
                    <a:pt x="1600200" y="0"/>
                  </a:moveTo>
                  <a:lnTo>
                    <a:pt x="1689100" y="0"/>
                  </a:lnTo>
                  <a:moveTo>
                    <a:pt x="1778000" y="0"/>
                  </a:moveTo>
                  <a:lnTo>
                    <a:pt x="1866900" y="0"/>
                  </a:lnTo>
                  <a:moveTo>
                    <a:pt x="1955800" y="0"/>
                  </a:moveTo>
                  <a:lnTo>
                    <a:pt x="2044700" y="0"/>
                  </a:lnTo>
                  <a:moveTo>
                    <a:pt x="2133600" y="0"/>
                  </a:moveTo>
                  <a:lnTo>
                    <a:pt x="2222500" y="0"/>
                  </a:lnTo>
                  <a:moveTo>
                    <a:pt x="2311400" y="0"/>
                  </a:moveTo>
                  <a:lnTo>
                    <a:pt x="2400300" y="0"/>
                  </a:lnTo>
                  <a:moveTo>
                    <a:pt x="2489200" y="0"/>
                  </a:moveTo>
                  <a:lnTo>
                    <a:pt x="2578100" y="0"/>
                  </a:lnTo>
                  <a:moveTo>
                    <a:pt x="2667000" y="0"/>
                  </a:moveTo>
                  <a:lnTo>
                    <a:pt x="2755900" y="0"/>
                  </a:lnTo>
                  <a:moveTo>
                    <a:pt x="2844800" y="0"/>
                  </a:moveTo>
                  <a:lnTo>
                    <a:pt x="2933700" y="0"/>
                  </a:lnTo>
                  <a:moveTo>
                    <a:pt x="3022600" y="0"/>
                  </a:moveTo>
                  <a:lnTo>
                    <a:pt x="3111500" y="0"/>
                  </a:lnTo>
                  <a:moveTo>
                    <a:pt x="3200400" y="0"/>
                  </a:moveTo>
                  <a:lnTo>
                    <a:pt x="3289300" y="0"/>
                  </a:lnTo>
                  <a:moveTo>
                    <a:pt x="3378200" y="0"/>
                  </a:moveTo>
                  <a:lnTo>
                    <a:pt x="3467100" y="0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1" name="node01.branches.source-002.road"/>
            <p:cNvSpPr/>
            <p:nvPr/>
          </p:nvSpPr>
          <p:spPr>
            <a:xfrm>
              <a:off x="4376928" y="3276600"/>
              <a:ext cx="6913372" cy="704088"/>
            </a:xfrm>
            <a:custGeom>
              <a:avLst/>
              <a:gdLst/>
              <a:ahLst/>
              <a:cxnLst/>
              <a:rect l="l" t="t" r="r" b="b"/>
              <a:pathLst>
                <a:path w="6913372" h="704088">
                  <a:moveTo>
                    <a:pt x="0" y="0"/>
                  </a:moveTo>
                  <a:cubicBezTo>
                    <a:pt x="754380" y="0"/>
                    <a:pt x="617220" y="704088"/>
                    <a:pt x="1371600" y="704088"/>
                  </a:cubicBezTo>
                  <a:lnTo>
                    <a:pt x="6913372" y="704088"/>
                  </a:lnTo>
                </a:path>
              </a:pathLst>
            </a:custGeom>
            <a:ln w="228600">
              <a:solidFill>
                <a:srgbClr val="CED7E6"/>
              </a:solidFill>
              <a:prstDash val="solid"/>
              <a:round/>
            </a:ln>
          </p:spPr>
        </p:sp>
        <p:sp>
          <p:nvSpPr>
            <p:cNvPr id="12" name="node01.branches.source-002.road.cap-1"/>
            <p:cNvSpPr/>
            <p:nvPr/>
          </p:nvSpPr>
          <p:spPr>
            <a:xfrm>
              <a:off x="4262628" y="3162300"/>
              <a:ext cx="228600" cy="228600"/>
            </a:xfrm>
            <a:prstGeom prst="ellipse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3" name="node01.branches.source-002.road.cap-2"/>
            <p:cNvSpPr/>
            <p:nvPr/>
          </p:nvSpPr>
          <p:spPr>
            <a:xfrm>
              <a:off x="11176000" y="3866388"/>
              <a:ext cx="228600" cy="228600"/>
            </a:xfrm>
            <a:prstGeom prst="ellipse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4" name="node01.branches.source-002.centerline"/>
            <p:cNvSpPr/>
            <p:nvPr/>
          </p:nvSpPr>
          <p:spPr>
            <a:xfrm>
              <a:off x="4376928" y="3276600"/>
              <a:ext cx="6913372" cy="704088"/>
            </a:xfrm>
            <a:custGeom>
              <a:avLst/>
              <a:gdLst/>
              <a:ahLst/>
              <a:cxnLst/>
              <a:rect l="l" t="t" r="r" b="b"/>
              <a:pathLst>
                <a:path w="6913372" h="704088">
                  <a:moveTo>
                    <a:pt x="0" y="0"/>
                  </a:moveTo>
                  <a:cubicBezTo>
                    <a:pt x="12958" y="0"/>
                    <a:pt x="25654" y="208"/>
                    <a:pt x="38095" y="616"/>
                  </a:cubicBezTo>
                  <a:moveTo>
                    <a:pt x="101460" y="4596"/>
                  </a:moveTo>
                  <a:cubicBezTo>
                    <a:pt x="114368" y="5814"/>
                    <a:pt x="126980" y="7266"/>
                    <a:pt x="139308" y="8942"/>
                  </a:cubicBezTo>
                  <a:moveTo>
                    <a:pt x="201854" y="19822"/>
                  </a:moveTo>
                  <a:cubicBezTo>
                    <a:pt x="214521" y="22534"/>
                    <a:pt x="226863" y="25502"/>
                    <a:pt x="238898" y="28713"/>
                  </a:cubicBezTo>
                  <a:moveTo>
                    <a:pt x="299451" y="47762"/>
                  </a:moveTo>
                  <a:cubicBezTo>
                    <a:pt x="311581" y="52190"/>
                    <a:pt x="323375" y="56884"/>
                    <a:pt x="334856" y="61825"/>
                  </a:cubicBezTo>
                  <a:moveTo>
                    <a:pt x="391897" y="89671"/>
                  </a:moveTo>
                  <a:cubicBezTo>
                    <a:pt x="403158" y="95851"/>
                    <a:pt x="414103" y="102280"/>
                    <a:pt x="424762" y="108936"/>
                  </a:cubicBezTo>
                  <a:moveTo>
                    <a:pt x="477045" y="144937"/>
                  </a:moveTo>
                  <a:cubicBezTo>
                    <a:pt x="487244" y="152631"/>
                    <a:pt x="497183" y="160529"/>
                    <a:pt x="506897" y="168606"/>
                  </a:cubicBezTo>
                  <a:moveTo>
                    <a:pt x="554270" y="210873"/>
                  </a:moveTo>
                  <a:cubicBezTo>
                    <a:pt x="563490" y="219647"/>
                    <a:pt x="572532" y="228561"/>
                    <a:pt x="581432" y="237588"/>
                  </a:cubicBezTo>
                  <a:moveTo>
                    <a:pt x="625069" y="283714"/>
                  </a:moveTo>
                  <a:cubicBezTo>
                    <a:pt x="633639" y="293095"/>
                    <a:pt x="642124" y="302543"/>
                    <a:pt x="650559" y="312031"/>
                  </a:cubicBezTo>
                  <a:moveTo>
                    <a:pt x="692511" y="359699"/>
                  </a:moveTo>
                  <a:cubicBezTo>
                    <a:pt x="700885" y="369245"/>
                    <a:pt x="709267" y="378785"/>
                    <a:pt x="717695" y="388288"/>
                  </a:cubicBezTo>
                  <a:moveTo>
                    <a:pt x="760337" y="435339"/>
                  </a:moveTo>
                  <a:cubicBezTo>
                    <a:pt x="768988" y="444619"/>
                    <a:pt x="777743" y="453816"/>
                    <a:pt x="786636" y="462904"/>
                  </a:cubicBezTo>
                  <a:moveTo>
                    <a:pt x="832215" y="507107"/>
                  </a:moveTo>
                  <a:cubicBezTo>
                    <a:pt x="841552" y="515648"/>
                    <a:pt x="851081" y="524038"/>
                    <a:pt x="860838" y="532249"/>
                  </a:cubicBezTo>
                  <a:moveTo>
                    <a:pt x="910973" y="571191"/>
                  </a:moveTo>
                  <a:cubicBezTo>
                    <a:pt x="921231" y="578500"/>
                    <a:pt x="931755" y="585601"/>
                    <a:pt x="942574" y="592467"/>
                  </a:cubicBezTo>
                  <a:moveTo>
                    <a:pt x="997699" y="623938"/>
                  </a:moveTo>
                  <a:cubicBezTo>
                    <a:pt x="1008859" y="629625"/>
                    <a:pt x="1020325" y="635071"/>
                    <a:pt x="1032123" y="640254"/>
                  </a:cubicBezTo>
                  <a:moveTo>
                    <a:pt x="1091375" y="663025"/>
                  </a:moveTo>
                  <a:cubicBezTo>
                    <a:pt x="1103209" y="666956"/>
                    <a:pt x="1115357" y="670639"/>
                    <a:pt x="1127837" y="674060"/>
                  </a:cubicBezTo>
                  <a:moveTo>
                    <a:pt x="1189707" y="688274"/>
                  </a:moveTo>
                  <a:cubicBezTo>
                    <a:pt x="1201938" y="690570"/>
                    <a:pt x="1214464" y="692634"/>
                    <a:pt x="1227299" y="694453"/>
                  </a:cubicBezTo>
                  <a:moveTo>
                    <a:pt x="1290429" y="701194"/>
                  </a:moveTo>
                  <a:cubicBezTo>
                    <a:pt x="1302839" y="702108"/>
                    <a:pt x="1315516" y="702811"/>
                    <a:pt x="1328470" y="703295"/>
                  </a:cubicBezTo>
                  <a:moveTo>
                    <a:pt x="1391960" y="704088"/>
                  </a:moveTo>
                  <a:lnTo>
                    <a:pt x="1430060" y="704088"/>
                  </a:lnTo>
                  <a:moveTo>
                    <a:pt x="1493560" y="704088"/>
                  </a:moveTo>
                  <a:lnTo>
                    <a:pt x="1531660" y="704088"/>
                  </a:lnTo>
                  <a:moveTo>
                    <a:pt x="1595160" y="704088"/>
                  </a:moveTo>
                  <a:lnTo>
                    <a:pt x="1633260" y="704088"/>
                  </a:lnTo>
                  <a:moveTo>
                    <a:pt x="1696760" y="704088"/>
                  </a:moveTo>
                  <a:lnTo>
                    <a:pt x="1734860" y="704088"/>
                  </a:lnTo>
                  <a:moveTo>
                    <a:pt x="1798360" y="704088"/>
                  </a:moveTo>
                  <a:lnTo>
                    <a:pt x="1836460" y="704088"/>
                  </a:lnTo>
                  <a:moveTo>
                    <a:pt x="1899960" y="704088"/>
                  </a:moveTo>
                  <a:lnTo>
                    <a:pt x="1938060" y="704088"/>
                  </a:lnTo>
                  <a:moveTo>
                    <a:pt x="2001560" y="704088"/>
                  </a:moveTo>
                  <a:lnTo>
                    <a:pt x="2039660" y="704088"/>
                  </a:lnTo>
                  <a:moveTo>
                    <a:pt x="2103160" y="704088"/>
                  </a:moveTo>
                  <a:lnTo>
                    <a:pt x="2141260" y="704088"/>
                  </a:lnTo>
                  <a:moveTo>
                    <a:pt x="2204760" y="704088"/>
                  </a:moveTo>
                  <a:lnTo>
                    <a:pt x="2242860" y="704088"/>
                  </a:lnTo>
                  <a:moveTo>
                    <a:pt x="2306360" y="704088"/>
                  </a:moveTo>
                  <a:lnTo>
                    <a:pt x="2344460" y="704088"/>
                  </a:lnTo>
                  <a:moveTo>
                    <a:pt x="2407960" y="704088"/>
                  </a:moveTo>
                  <a:lnTo>
                    <a:pt x="2446060" y="704088"/>
                  </a:lnTo>
                  <a:moveTo>
                    <a:pt x="2509560" y="704088"/>
                  </a:moveTo>
                  <a:lnTo>
                    <a:pt x="2547660" y="704088"/>
                  </a:lnTo>
                  <a:moveTo>
                    <a:pt x="2611160" y="704088"/>
                  </a:moveTo>
                  <a:lnTo>
                    <a:pt x="2649260" y="704088"/>
                  </a:lnTo>
                  <a:moveTo>
                    <a:pt x="2712760" y="704088"/>
                  </a:moveTo>
                  <a:lnTo>
                    <a:pt x="2750860" y="704088"/>
                  </a:lnTo>
                  <a:moveTo>
                    <a:pt x="2814360" y="704088"/>
                  </a:moveTo>
                  <a:lnTo>
                    <a:pt x="2852460" y="704088"/>
                  </a:lnTo>
                  <a:moveTo>
                    <a:pt x="2915960" y="704088"/>
                  </a:moveTo>
                  <a:lnTo>
                    <a:pt x="2954060" y="704088"/>
                  </a:lnTo>
                  <a:moveTo>
                    <a:pt x="3017560" y="704088"/>
                  </a:moveTo>
                  <a:lnTo>
                    <a:pt x="3055660" y="704088"/>
                  </a:lnTo>
                  <a:moveTo>
                    <a:pt x="3119160" y="704088"/>
                  </a:moveTo>
                  <a:lnTo>
                    <a:pt x="3157260" y="704088"/>
                  </a:lnTo>
                  <a:moveTo>
                    <a:pt x="3220760" y="704088"/>
                  </a:moveTo>
                  <a:lnTo>
                    <a:pt x="3258860" y="704088"/>
                  </a:lnTo>
                  <a:moveTo>
                    <a:pt x="3322360" y="704088"/>
                  </a:moveTo>
                  <a:lnTo>
                    <a:pt x="3360460" y="704088"/>
                  </a:lnTo>
                  <a:moveTo>
                    <a:pt x="3423960" y="704088"/>
                  </a:moveTo>
                  <a:lnTo>
                    <a:pt x="3462060" y="704088"/>
                  </a:lnTo>
                  <a:moveTo>
                    <a:pt x="3525560" y="704088"/>
                  </a:moveTo>
                  <a:lnTo>
                    <a:pt x="3563660" y="704088"/>
                  </a:lnTo>
                  <a:moveTo>
                    <a:pt x="3627160" y="704088"/>
                  </a:moveTo>
                  <a:lnTo>
                    <a:pt x="3665260" y="704088"/>
                  </a:lnTo>
                  <a:moveTo>
                    <a:pt x="3728760" y="704088"/>
                  </a:moveTo>
                  <a:lnTo>
                    <a:pt x="3766860" y="704088"/>
                  </a:lnTo>
                  <a:moveTo>
                    <a:pt x="3830360" y="704088"/>
                  </a:moveTo>
                  <a:lnTo>
                    <a:pt x="3868460" y="704088"/>
                  </a:lnTo>
                  <a:moveTo>
                    <a:pt x="3931960" y="704088"/>
                  </a:moveTo>
                  <a:lnTo>
                    <a:pt x="3970060" y="704088"/>
                  </a:lnTo>
                  <a:moveTo>
                    <a:pt x="4033560" y="704088"/>
                  </a:moveTo>
                  <a:lnTo>
                    <a:pt x="4071660" y="704088"/>
                  </a:lnTo>
                  <a:moveTo>
                    <a:pt x="4135160" y="704088"/>
                  </a:moveTo>
                  <a:lnTo>
                    <a:pt x="4173260" y="704088"/>
                  </a:lnTo>
                  <a:moveTo>
                    <a:pt x="4236760" y="704088"/>
                  </a:moveTo>
                  <a:lnTo>
                    <a:pt x="4274860" y="704088"/>
                  </a:lnTo>
                  <a:moveTo>
                    <a:pt x="4338360" y="704088"/>
                  </a:moveTo>
                  <a:lnTo>
                    <a:pt x="4376460" y="704088"/>
                  </a:lnTo>
                  <a:moveTo>
                    <a:pt x="4439960" y="704088"/>
                  </a:moveTo>
                  <a:lnTo>
                    <a:pt x="4478060" y="704088"/>
                  </a:lnTo>
                  <a:moveTo>
                    <a:pt x="4541560" y="704088"/>
                  </a:moveTo>
                  <a:lnTo>
                    <a:pt x="4579660" y="704088"/>
                  </a:lnTo>
                  <a:moveTo>
                    <a:pt x="4643160" y="704088"/>
                  </a:moveTo>
                  <a:lnTo>
                    <a:pt x="4681260" y="704088"/>
                  </a:lnTo>
                  <a:moveTo>
                    <a:pt x="4744760" y="704088"/>
                  </a:moveTo>
                  <a:lnTo>
                    <a:pt x="4782860" y="704088"/>
                  </a:lnTo>
                  <a:moveTo>
                    <a:pt x="4846360" y="704088"/>
                  </a:moveTo>
                  <a:lnTo>
                    <a:pt x="4884460" y="704088"/>
                  </a:lnTo>
                  <a:moveTo>
                    <a:pt x="4947960" y="704088"/>
                  </a:moveTo>
                  <a:lnTo>
                    <a:pt x="4986060" y="704088"/>
                  </a:lnTo>
                  <a:moveTo>
                    <a:pt x="5049560" y="704088"/>
                  </a:moveTo>
                  <a:lnTo>
                    <a:pt x="5087660" y="704088"/>
                  </a:lnTo>
                  <a:moveTo>
                    <a:pt x="5151160" y="704088"/>
                  </a:moveTo>
                  <a:lnTo>
                    <a:pt x="5189260" y="704088"/>
                  </a:lnTo>
                  <a:moveTo>
                    <a:pt x="5252760" y="704088"/>
                  </a:moveTo>
                  <a:lnTo>
                    <a:pt x="5290860" y="704088"/>
                  </a:lnTo>
                  <a:moveTo>
                    <a:pt x="5354360" y="704088"/>
                  </a:moveTo>
                  <a:lnTo>
                    <a:pt x="5392460" y="704088"/>
                  </a:lnTo>
                  <a:moveTo>
                    <a:pt x="5455960" y="704088"/>
                  </a:moveTo>
                  <a:lnTo>
                    <a:pt x="5494060" y="704088"/>
                  </a:lnTo>
                  <a:moveTo>
                    <a:pt x="5557560" y="704088"/>
                  </a:moveTo>
                  <a:lnTo>
                    <a:pt x="5595660" y="704088"/>
                  </a:lnTo>
                  <a:moveTo>
                    <a:pt x="5659160" y="704088"/>
                  </a:moveTo>
                  <a:lnTo>
                    <a:pt x="5697260" y="704088"/>
                  </a:lnTo>
                  <a:moveTo>
                    <a:pt x="5760760" y="704088"/>
                  </a:moveTo>
                  <a:lnTo>
                    <a:pt x="5798860" y="704088"/>
                  </a:lnTo>
                  <a:moveTo>
                    <a:pt x="5862360" y="704088"/>
                  </a:moveTo>
                  <a:lnTo>
                    <a:pt x="5900460" y="704088"/>
                  </a:lnTo>
                  <a:moveTo>
                    <a:pt x="5963960" y="704088"/>
                  </a:moveTo>
                  <a:lnTo>
                    <a:pt x="6002060" y="704088"/>
                  </a:lnTo>
                  <a:moveTo>
                    <a:pt x="6065560" y="704088"/>
                  </a:moveTo>
                  <a:lnTo>
                    <a:pt x="6103660" y="704088"/>
                  </a:lnTo>
                  <a:moveTo>
                    <a:pt x="6167160" y="704088"/>
                  </a:moveTo>
                  <a:lnTo>
                    <a:pt x="6205260" y="704088"/>
                  </a:lnTo>
                  <a:moveTo>
                    <a:pt x="6268760" y="704088"/>
                  </a:moveTo>
                  <a:lnTo>
                    <a:pt x="6306860" y="704088"/>
                  </a:lnTo>
                  <a:moveTo>
                    <a:pt x="6370360" y="704088"/>
                  </a:moveTo>
                  <a:lnTo>
                    <a:pt x="6408460" y="704088"/>
                  </a:lnTo>
                  <a:moveTo>
                    <a:pt x="6471960" y="704088"/>
                  </a:moveTo>
                  <a:lnTo>
                    <a:pt x="6510060" y="704088"/>
                  </a:lnTo>
                  <a:moveTo>
                    <a:pt x="6573560" y="704088"/>
                  </a:moveTo>
                  <a:lnTo>
                    <a:pt x="6611660" y="704088"/>
                  </a:lnTo>
                  <a:moveTo>
                    <a:pt x="6675160" y="704088"/>
                  </a:moveTo>
                  <a:lnTo>
                    <a:pt x="6713260" y="704088"/>
                  </a:lnTo>
                  <a:moveTo>
                    <a:pt x="6776760" y="704088"/>
                  </a:moveTo>
                  <a:lnTo>
                    <a:pt x="6814860" y="704088"/>
                  </a:lnTo>
                  <a:moveTo>
                    <a:pt x="6878360" y="704088"/>
                  </a:moveTo>
                  <a:lnTo>
                    <a:pt x="6913372" y="704088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5" name="node01.branches.source-001.road"/>
            <p:cNvSpPr/>
            <p:nvPr/>
          </p:nvSpPr>
          <p:spPr>
            <a:xfrm>
              <a:off x="4376928" y="2304288"/>
              <a:ext cx="6913372" cy="972312"/>
            </a:xfrm>
            <a:custGeom>
              <a:avLst/>
              <a:gdLst/>
              <a:ahLst/>
              <a:cxnLst/>
              <a:rect l="l" t="t" r="r" b="b"/>
              <a:pathLst>
                <a:path w="6913372" h="972312">
                  <a:moveTo>
                    <a:pt x="0" y="972312"/>
                  </a:moveTo>
                  <a:cubicBezTo>
                    <a:pt x="754380" y="972312"/>
                    <a:pt x="617220" y="0"/>
                    <a:pt x="1371600" y="0"/>
                  </a:cubicBezTo>
                  <a:lnTo>
                    <a:pt x="6913372" y="0"/>
                  </a:lnTo>
                </a:path>
              </a:pathLst>
            </a:custGeom>
            <a:ln w="228600">
              <a:solidFill>
                <a:srgbClr val="070154"/>
              </a:solidFill>
              <a:prstDash val="solid"/>
              <a:round/>
            </a:ln>
          </p:spPr>
        </p:sp>
        <p:sp>
          <p:nvSpPr>
            <p:cNvPr id="16" name="node01.branches.source-001.road.cap-1"/>
            <p:cNvSpPr/>
            <p:nvPr/>
          </p:nvSpPr>
          <p:spPr>
            <a:xfrm>
              <a:off x="4262628" y="31623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7" name="node01.branches.source-001.road.cap-2"/>
            <p:cNvSpPr/>
            <p:nvPr/>
          </p:nvSpPr>
          <p:spPr>
            <a:xfrm>
              <a:off x="11176000" y="2189988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8" name="node01.branches.source-001.centerline"/>
            <p:cNvSpPr/>
            <p:nvPr/>
          </p:nvSpPr>
          <p:spPr>
            <a:xfrm>
              <a:off x="4376928" y="2304288"/>
              <a:ext cx="6913372" cy="972312"/>
            </a:xfrm>
            <a:custGeom>
              <a:avLst/>
              <a:gdLst/>
              <a:ahLst/>
              <a:cxnLst/>
              <a:rect l="l" t="t" r="r" b="b"/>
              <a:pathLst>
                <a:path w="6913372" h="972312">
                  <a:moveTo>
                    <a:pt x="0" y="972312"/>
                  </a:moveTo>
                  <a:cubicBezTo>
                    <a:pt x="31043" y="972312"/>
                    <a:pt x="60576" y="970666"/>
                    <a:pt x="88724" y="967508"/>
                  </a:cubicBezTo>
                  <a:moveTo>
                    <a:pt x="176182" y="951926"/>
                  </a:moveTo>
                  <a:cubicBezTo>
                    <a:pt x="205977" y="944501"/>
                    <a:pt x="234034" y="935181"/>
                    <a:pt x="260558" y="924188"/>
                  </a:cubicBezTo>
                  <a:moveTo>
                    <a:pt x="339754" y="883992"/>
                  </a:moveTo>
                  <a:cubicBezTo>
                    <a:pt x="365357" y="868439"/>
                    <a:pt x="389397" y="851182"/>
                    <a:pt x="412135" y="832505"/>
                  </a:cubicBezTo>
                  <a:moveTo>
                    <a:pt x="477198" y="772001"/>
                  </a:moveTo>
                  <a:cubicBezTo>
                    <a:pt x="497622" y="750714"/>
                    <a:pt x="517006" y="728294"/>
                    <a:pt x="535615" y="705029"/>
                  </a:cubicBezTo>
                  <a:moveTo>
                    <a:pt x="588802" y="633812"/>
                  </a:moveTo>
                  <a:cubicBezTo>
                    <a:pt x="605767" y="609683"/>
                    <a:pt x="622241" y="585018"/>
                    <a:pt x="638472" y="560087"/>
                  </a:cubicBezTo>
                  <a:moveTo>
                    <a:pt x="686399" y="485213"/>
                  </a:moveTo>
                  <a:cubicBezTo>
                    <a:pt x="702297" y="460168"/>
                    <a:pt x="718199" y="435126"/>
                    <a:pt x="734348" y="410353"/>
                  </a:cubicBezTo>
                  <a:moveTo>
                    <a:pt x="784084" y="336674"/>
                  </a:moveTo>
                  <a:cubicBezTo>
                    <a:pt x="801256" y="312315"/>
                    <a:pt x="818937" y="288511"/>
                    <a:pt x="837382" y="265540"/>
                  </a:cubicBezTo>
                  <a:moveTo>
                    <a:pt x="895951" y="198701"/>
                  </a:moveTo>
                  <a:cubicBezTo>
                    <a:pt x="916550" y="177345"/>
                    <a:pt x="938207" y="157144"/>
                    <a:pt x="961193" y="138392"/>
                  </a:cubicBezTo>
                  <a:moveTo>
                    <a:pt x="1033757" y="87164"/>
                  </a:moveTo>
                  <a:cubicBezTo>
                    <a:pt x="1058652" y="72171"/>
                    <a:pt x="1085022" y="58786"/>
                    <a:pt x="1113107" y="47273"/>
                  </a:cubicBezTo>
                  <a:moveTo>
                    <a:pt x="1197586" y="19850"/>
                  </a:moveTo>
                  <a:cubicBezTo>
                    <a:pt x="1225212" y="13070"/>
                    <a:pt x="1254328" y="7914"/>
                    <a:pt x="1285094" y="4558"/>
                  </a:cubicBezTo>
                  <a:moveTo>
                    <a:pt x="1373834" y="0"/>
                  </a:moveTo>
                  <a:lnTo>
                    <a:pt x="1462734" y="0"/>
                  </a:lnTo>
                  <a:moveTo>
                    <a:pt x="1551634" y="0"/>
                  </a:moveTo>
                  <a:lnTo>
                    <a:pt x="1640534" y="0"/>
                  </a:lnTo>
                  <a:moveTo>
                    <a:pt x="1729434" y="0"/>
                  </a:moveTo>
                  <a:lnTo>
                    <a:pt x="1818334" y="0"/>
                  </a:lnTo>
                  <a:moveTo>
                    <a:pt x="1907234" y="0"/>
                  </a:moveTo>
                  <a:lnTo>
                    <a:pt x="1996134" y="0"/>
                  </a:lnTo>
                  <a:moveTo>
                    <a:pt x="2085034" y="0"/>
                  </a:moveTo>
                  <a:lnTo>
                    <a:pt x="2173934" y="0"/>
                  </a:lnTo>
                  <a:moveTo>
                    <a:pt x="2262834" y="0"/>
                  </a:moveTo>
                  <a:lnTo>
                    <a:pt x="2351734" y="0"/>
                  </a:lnTo>
                  <a:moveTo>
                    <a:pt x="2440634" y="0"/>
                  </a:moveTo>
                  <a:lnTo>
                    <a:pt x="2529534" y="0"/>
                  </a:lnTo>
                  <a:moveTo>
                    <a:pt x="2618434" y="0"/>
                  </a:moveTo>
                  <a:lnTo>
                    <a:pt x="2707334" y="0"/>
                  </a:lnTo>
                  <a:moveTo>
                    <a:pt x="2796234" y="0"/>
                  </a:moveTo>
                  <a:lnTo>
                    <a:pt x="2885134" y="0"/>
                  </a:lnTo>
                  <a:moveTo>
                    <a:pt x="2974034" y="0"/>
                  </a:moveTo>
                  <a:lnTo>
                    <a:pt x="3062934" y="0"/>
                  </a:lnTo>
                  <a:moveTo>
                    <a:pt x="3151834" y="0"/>
                  </a:moveTo>
                  <a:lnTo>
                    <a:pt x="3240734" y="0"/>
                  </a:lnTo>
                  <a:moveTo>
                    <a:pt x="3329634" y="0"/>
                  </a:moveTo>
                  <a:lnTo>
                    <a:pt x="3418534" y="0"/>
                  </a:lnTo>
                  <a:moveTo>
                    <a:pt x="3507434" y="0"/>
                  </a:moveTo>
                  <a:lnTo>
                    <a:pt x="3596334" y="0"/>
                  </a:lnTo>
                  <a:moveTo>
                    <a:pt x="3685234" y="0"/>
                  </a:moveTo>
                  <a:lnTo>
                    <a:pt x="3774134" y="0"/>
                  </a:lnTo>
                  <a:moveTo>
                    <a:pt x="3863034" y="0"/>
                  </a:moveTo>
                  <a:lnTo>
                    <a:pt x="3951934" y="0"/>
                  </a:lnTo>
                  <a:moveTo>
                    <a:pt x="4040834" y="0"/>
                  </a:moveTo>
                  <a:lnTo>
                    <a:pt x="4129734" y="0"/>
                  </a:lnTo>
                  <a:moveTo>
                    <a:pt x="4218634" y="0"/>
                  </a:moveTo>
                  <a:lnTo>
                    <a:pt x="4307534" y="0"/>
                  </a:lnTo>
                  <a:moveTo>
                    <a:pt x="4396434" y="0"/>
                  </a:moveTo>
                  <a:lnTo>
                    <a:pt x="4485334" y="0"/>
                  </a:lnTo>
                  <a:moveTo>
                    <a:pt x="4574234" y="0"/>
                  </a:moveTo>
                  <a:lnTo>
                    <a:pt x="4663134" y="0"/>
                  </a:lnTo>
                  <a:moveTo>
                    <a:pt x="4752034" y="0"/>
                  </a:moveTo>
                  <a:lnTo>
                    <a:pt x="4840934" y="0"/>
                  </a:lnTo>
                  <a:moveTo>
                    <a:pt x="4929834" y="0"/>
                  </a:moveTo>
                  <a:lnTo>
                    <a:pt x="5018734" y="0"/>
                  </a:lnTo>
                  <a:moveTo>
                    <a:pt x="5107634" y="0"/>
                  </a:moveTo>
                  <a:lnTo>
                    <a:pt x="5196534" y="0"/>
                  </a:lnTo>
                  <a:moveTo>
                    <a:pt x="5285434" y="0"/>
                  </a:moveTo>
                  <a:lnTo>
                    <a:pt x="5374334" y="0"/>
                  </a:lnTo>
                  <a:moveTo>
                    <a:pt x="5463234" y="0"/>
                  </a:moveTo>
                  <a:lnTo>
                    <a:pt x="5552134" y="0"/>
                  </a:lnTo>
                  <a:moveTo>
                    <a:pt x="5641034" y="0"/>
                  </a:moveTo>
                  <a:lnTo>
                    <a:pt x="5729934" y="0"/>
                  </a:lnTo>
                  <a:moveTo>
                    <a:pt x="5818834" y="0"/>
                  </a:moveTo>
                  <a:lnTo>
                    <a:pt x="5907734" y="0"/>
                  </a:lnTo>
                  <a:moveTo>
                    <a:pt x="5996634" y="0"/>
                  </a:moveTo>
                  <a:lnTo>
                    <a:pt x="6085534" y="0"/>
                  </a:lnTo>
                  <a:moveTo>
                    <a:pt x="6174434" y="0"/>
                  </a:moveTo>
                  <a:lnTo>
                    <a:pt x="6263334" y="0"/>
                  </a:lnTo>
                  <a:moveTo>
                    <a:pt x="6352234" y="0"/>
                  </a:moveTo>
                  <a:lnTo>
                    <a:pt x="6441134" y="0"/>
                  </a:lnTo>
                  <a:moveTo>
                    <a:pt x="6530034" y="0"/>
                  </a:moveTo>
                  <a:lnTo>
                    <a:pt x="6618934" y="0"/>
                  </a:lnTo>
                  <a:moveTo>
                    <a:pt x="6707834" y="0"/>
                  </a:moveTo>
                  <a:lnTo>
                    <a:pt x="6796734" y="0"/>
                  </a:lnTo>
                  <a:moveTo>
                    <a:pt x="6885634" y="0"/>
                  </a:moveTo>
                  <a:lnTo>
                    <a:pt x="6913372" y="0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9" name="node01.trunk.source-001.pin"/>
            <p:cNvSpPr/>
            <p:nvPr/>
          </p:nvSpPr>
          <p:spPr>
            <a:xfrm>
              <a:off x="1760982" y="31337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20" name="node01.trunk.source-001.number"/>
            <p:cNvSpPr/>
            <p:nvPr/>
          </p:nvSpPr>
          <p:spPr>
            <a:xfrm>
              <a:off x="1751457" y="3124200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1" name="node01.trunk.source-001.label.part-1"/>
            <p:cNvSpPr/>
            <p:nvPr/>
          </p:nvSpPr>
          <p:spPr>
            <a:xfrm>
              <a:off x="1181100" y="2247900"/>
              <a:ext cx="1445514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Q4 2026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2" name="node01.trunk.source-001.label.part-2"/>
            <p:cNvSpPr/>
            <p:nvPr/>
          </p:nvSpPr>
          <p:spPr>
            <a:xfrm>
              <a:off x="1181100" y="2425700"/>
              <a:ext cx="1445514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68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Data foundation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3" name="node01.trunk.source-001.label.part-3"/>
            <p:cNvSpPr/>
            <p:nvPr/>
          </p:nvSpPr>
          <p:spPr>
            <a:xfrm>
              <a:off x="1181100" y="2667000"/>
              <a:ext cx="1445514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master patient index.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4" name="node01.trunk.source-002.pin"/>
            <p:cNvSpPr/>
            <p:nvPr/>
          </p:nvSpPr>
          <p:spPr>
            <a:xfrm>
              <a:off x="3308096" y="31337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25" name="node01.trunk.source-002.number"/>
            <p:cNvSpPr/>
            <p:nvPr/>
          </p:nvSpPr>
          <p:spPr>
            <a:xfrm>
              <a:off x="3298571" y="3124200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6" name="node01.trunk.source-002.label.part-1"/>
            <p:cNvSpPr/>
            <p:nvPr/>
          </p:nvSpPr>
          <p:spPr>
            <a:xfrm>
              <a:off x="2728214" y="3505200"/>
              <a:ext cx="1445514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Q1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7" name="node01.trunk.source-002.label.part-2"/>
            <p:cNvSpPr/>
            <p:nvPr/>
          </p:nvSpPr>
          <p:spPr>
            <a:xfrm>
              <a:off x="2728214" y="3683000"/>
              <a:ext cx="1445514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68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Single sign-in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8" name="node01.trunk.source-002.label.part-3"/>
            <p:cNvSpPr/>
            <p:nvPr/>
          </p:nvSpPr>
          <p:spPr>
            <a:xfrm>
              <a:off x="2728214" y="3924300"/>
              <a:ext cx="1445514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ID at every site.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9" name="node01.fork.diamond"/>
            <p:cNvSpPr/>
            <p:nvPr/>
          </p:nvSpPr>
          <p:spPr>
            <a:xfrm>
              <a:off x="4156912" y="3056584"/>
              <a:ext cx="440033" cy="440033"/>
            </a:xfrm>
            <a:prstGeom prst="diamond">
              <a:avLst/>
            </a:prstGeom>
            <a:solidFill>
              <a:srgbClr val="F900D3"/>
            </a:solidFill>
            <a:ln w="19050">
              <a:solidFill>
                <a:srgbClr val="070154"/>
              </a:solidFill>
              <a:prstDash val="solid"/>
              <a:miter/>
            </a:ln>
          </p:spPr>
        </p:sp>
        <p:sp>
          <p:nvSpPr>
            <p:cNvPr id="30" name="node01.fork.chosen"/>
            <p:cNvSpPr/>
            <p:nvPr/>
          </p:nvSpPr>
          <p:spPr>
            <a:xfrm>
              <a:off x="4300728" y="3200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070154"/>
              </a:solidFill>
              <a:prstDash val="solid"/>
            </a:ln>
          </p:spPr>
        </p:sp>
        <p:sp>
          <p:nvSpPr>
            <p:cNvPr id="31" name="node01.fork.label.part-1"/>
            <p:cNvSpPr/>
            <p:nvPr/>
          </p:nvSpPr>
          <p:spPr>
            <a:xfrm>
              <a:off x="3348228" y="1600200"/>
              <a:ext cx="2057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DECIDED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2" name="node01.fork.label.part-2"/>
            <p:cNvSpPr/>
            <p:nvPr/>
          </p:nvSpPr>
          <p:spPr>
            <a:xfrm>
              <a:off x="3348228" y="1778000"/>
              <a:ext cx="2057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68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Buy was chosen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3" name="node01.fork.label.part-3"/>
            <p:cNvSpPr/>
            <p:nvPr/>
          </p:nvSpPr>
          <p:spPr>
            <a:xfrm>
              <a:off x="3348228" y="2019300"/>
              <a:ext cx="2057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Made 14 Sep 2026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4" name="node01.branches.source-001.title.part-1"/>
            <p:cNvSpPr/>
            <p:nvPr/>
          </p:nvSpPr>
          <p:spPr>
            <a:xfrm>
              <a:off x="6463796" y="1834388"/>
              <a:ext cx="4618732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7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Buy a platform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5" name="node01.branches.source-001.tag"/>
            <p:cNvSpPr/>
            <p:nvPr/>
          </p:nvSpPr>
          <p:spPr>
            <a:xfrm>
              <a:off x="5748528" y="1920494"/>
              <a:ext cx="626368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OPTION A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6" name="node01.branches.source-001.milestones.source-001.pin"/>
            <p:cNvSpPr/>
            <p:nvPr/>
          </p:nvSpPr>
          <p:spPr>
            <a:xfrm>
              <a:off x="7105396" y="216141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37" name="node01.branches.source-001.milestones.source-001.number"/>
            <p:cNvSpPr/>
            <p:nvPr/>
          </p:nvSpPr>
          <p:spPr>
            <a:xfrm>
              <a:off x="7095871" y="215188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8" name="node01.branches.source-001.milestones.source-001.label.part-1"/>
            <p:cNvSpPr/>
            <p:nvPr/>
          </p:nvSpPr>
          <p:spPr>
            <a:xfrm>
              <a:off x="5951728" y="2532888"/>
              <a:ext cx="2593086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Q2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9" name="node01.branches.source-001.milestones.source-001.label.part-2"/>
            <p:cNvSpPr/>
            <p:nvPr/>
          </p:nvSpPr>
          <p:spPr>
            <a:xfrm>
              <a:off x="5951728" y="2710688"/>
              <a:ext cx="2593086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68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Select vendor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0" name="node01.branches.source-001.milestones.source-001.label.part-3"/>
            <p:cNvSpPr/>
            <p:nvPr/>
          </p:nvSpPr>
          <p:spPr>
            <a:xfrm>
              <a:off x="5951728" y="2951988"/>
              <a:ext cx="2593086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Scored shortlist.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1" name="node01.branches.source-001.milestones.source-002.pin"/>
            <p:cNvSpPr/>
            <p:nvPr/>
          </p:nvSpPr>
          <p:spPr>
            <a:xfrm>
              <a:off x="9800082" y="216141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42" name="node01.branches.source-001.milestones.source-002.number"/>
            <p:cNvSpPr/>
            <p:nvPr/>
          </p:nvSpPr>
          <p:spPr>
            <a:xfrm>
              <a:off x="9790557" y="215188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3" name="node01.branches.source-001.milestones.source-002.label.part-1"/>
            <p:cNvSpPr/>
            <p:nvPr/>
          </p:nvSpPr>
          <p:spPr>
            <a:xfrm>
              <a:off x="8646414" y="2532888"/>
              <a:ext cx="2593086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Q4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4" name="node01.branches.source-001.milestones.source-002.label.part-2"/>
            <p:cNvSpPr/>
            <p:nvPr/>
          </p:nvSpPr>
          <p:spPr>
            <a:xfrm>
              <a:off x="8646414" y="2710688"/>
              <a:ext cx="2593086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68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 live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5" name="node01.branches.source-001.milestones.source-002.label.part-3"/>
            <p:cNvSpPr/>
            <p:nvPr/>
          </p:nvSpPr>
          <p:spPr>
            <a:xfrm>
              <a:off x="8646414" y="2951988"/>
              <a:ext cx="2593086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All sites on one suite.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6" name="node01.branches.source-002.title.part-1"/>
            <p:cNvSpPr/>
            <p:nvPr/>
          </p:nvSpPr>
          <p:spPr>
            <a:xfrm>
              <a:off x="6463796" y="3510788"/>
              <a:ext cx="4618732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70"/>
                </a:lnSpc>
                <a:buNone/>
              </a:pPr>
              <a:r>
                <a:rPr lang="en-US" sz="1800" spc="-18" kern="0" b="0" i="0" dirty="0">
                  <a:solidFill>
                    <a:srgbClr val="50658E"/>
                  </a:solidFill>
                  <a:latin typeface="IBM Plex Sans SemiBold"/>
                  <a:ea typeface="IBM Plex Sans SemiBold"/>
                  <a:cs typeface="IBM Plex Sans SemiBold"/>
                </a:rPr>
                <a:t>Build on our EHR</a:t>
              </a:r>
              <a:endParaRPr lang="en-US" sz="1800" spc="-18" kern="0" b="0" i="0" dirty="0">
                <a:solidFill>
                  <a:srgbClr val="50658E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7" name="node01.branches.source-002.tag"/>
            <p:cNvSpPr/>
            <p:nvPr/>
          </p:nvSpPr>
          <p:spPr>
            <a:xfrm>
              <a:off x="5748528" y="3596894"/>
              <a:ext cx="626368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OPTION B</a:t>
              </a:r>
              <a:endParaRPr lang="en-US" sz="900" spc="54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8" name="node01.branches.source-002.milestones.source-001.pin"/>
            <p:cNvSpPr/>
            <p:nvPr/>
          </p:nvSpPr>
          <p:spPr>
            <a:xfrm>
              <a:off x="7105396" y="383781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7A4BA"/>
              </a:solidFill>
              <a:prstDash val="solid"/>
            </a:ln>
          </p:spPr>
        </p:sp>
        <p:sp>
          <p:nvSpPr>
            <p:cNvPr id="49" name="node01.branches.source-002.milestones.source-001.number"/>
            <p:cNvSpPr/>
            <p:nvPr/>
          </p:nvSpPr>
          <p:spPr>
            <a:xfrm>
              <a:off x="7095871" y="382828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B1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0" name="node01.branches.source-002.milestones.source-001.label.part-1"/>
            <p:cNvSpPr/>
            <p:nvPr/>
          </p:nvSpPr>
          <p:spPr>
            <a:xfrm>
              <a:off x="5951728" y="4209288"/>
              <a:ext cx="2593086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Q3 2027</a:t>
              </a:r>
              <a:endParaRPr lang="en-US" sz="900" spc="54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1" name="node01.branches.source-002.milestones.source-001.label.part-2"/>
            <p:cNvSpPr/>
            <p:nvPr/>
          </p:nvSpPr>
          <p:spPr>
            <a:xfrm>
              <a:off x="5951728" y="4387088"/>
              <a:ext cx="2593086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68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 SemiBold"/>
                  <a:ea typeface="IBM Plex Sans SemiBold"/>
                  <a:cs typeface="IBM Plex Sans SemiBold"/>
                </a:rPr>
                <a:t>Extend portal</a:t>
              </a:r>
              <a:endParaRPr lang="en-US" sz="1400" spc="0" kern="0" b="0" i="0" dirty="0">
                <a:solidFill>
                  <a:srgbClr val="50658E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2" name="node01.branches.source-002.milestones.source-001.label.part-3"/>
            <p:cNvSpPr/>
            <p:nvPr/>
          </p:nvSpPr>
          <p:spPr>
            <a:xfrm>
              <a:off x="5951728" y="4628388"/>
              <a:ext cx="2593086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Use the EHR's tools.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3" name="node01.branches.source-002.milestones.source-002.pin"/>
            <p:cNvSpPr/>
            <p:nvPr/>
          </p:nvSpPr>
          <p:spPr>
            <a:xfrm>
              <a:off x="9800082" y="383781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7A4BA"/>
              </a:solidFill>
              <a:prstDash val="solid"/>
            </a:ln>
          </p:spPr>
        </p:sp>
        <p:sp>
          <p:nvSpPr>
            <p:cNvPr id="54" name="node01.branches.source-002.milestones.source-002.number"/>
            <p:cNvSpPr/>
            <p:nvPr/>
          </p:nvSpPr>
          <p:spPr>
            <a:xfrm>
              <a:off x="9790557" y="382828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B2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5" name="node01.branches.source-002.milestones.source-002.label.part-1"/>
            <p:cNvSpPr/>
            <p:nvPr/>
          </p:nvSpPr>
          <p:spPr>
            <a:xfrm>
              <a:off x="8646414" y="4209288"/>
              <a:ext cx="2593086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Q2 2028</a:t>
              </a:r>
              <a:endParaRPr lang="en-US" sz="900" spc="54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6" name="node01.branches.source-002.milestones.source-002.label.part-2"/>
            <p:cNvSpPr/>
            <p:nvPr/>
          </p:nvSpPr>
          <p:spPr>
            <a:xfrm>
              <a:off x="8646414" y="4387088"/>
              <a:ext cx="2593086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68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 SemiBold"/>
                  <a:ea typeface="IBM Plex Sans SemiBold"/>
                  <a:cs typeface="IBM Plex Sans SemiBold"/>
                </a:rPr>
                <a:t>Go live</a:t>
              </a:r>
              <a:endParaRPr lang="en-US" sz="1400" spc="0" kern="0" b="0" i="0" dirty="0">
                <a:solidFill>
                  <a:srgbClr val="50658E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7" name="node01.branches.source-002.milestones.source-002.label.part-3"/>
            <p:cNvSpPr/>
            <p:nvPr/>
          </p:nvSpPr>
          <p:spPr>
            <a:xfrm>
              <a:off x="8646414" y="4628388"/>
              <a:ext cx="2593086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Phased by region.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3" name="node02"/>
          <p:cNvGrpSpPr/>
          <p:nvPr/>
        </p:nvGrpSpPr>
        <p:grpSpPr>
          <a:xfrm>
            <a:off x="723900" y="5029200"/>
            <a:ext cx="10744200" cy="228600"/>
            <a:chOff x="723900" y="5029200"/>
            <a:chExt cx="10744200" cy="228600"/>
          </a:xfrm>
        </p:grpSpPr>
        <p:sp>
          <p:nvSpPr>
            <p:cNvPr id="58" name="node02.label"/>
            <p:cNvSpPr/>
            <p:nvPr/>
          </p:nvSpPr>
          <p:spPr>
            <a:xfrm>
              <a:off x="723900" y="5029200"/>
              <a:ext cx="145269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WHY WE CHOSE TO BUY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9" name="node02.rule"/>
            <p:cNvSpPr/>
            <p:nvPr/>
          </p:nvSpPr>
          <p:spPr>
            <a:xfrm>
              <a:off x="2303599" y="5138738"/>
              <a:ext cx="9164501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60" name="node03"/>
          <p:cNvSpPr/>
          <p:nvPr/>
        </p:nvSpPr>
        <p:spPr>
          <a:xfrm>
            <a:off x="723900" y="52578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64" name="node04"/>
          <p:cNvGrpSpPr/>
          <p:nvPr/>
        </p:nvGrpSpPr>
        <p:grpSpPr>
          <a:xfrm>
            <a:off x="723900" y="5334000"/>
            <a:ext cx="10744200" cy="228600"/>
            <a:chOff x="723900" y="5334000"/>
            <a:chExt cx="10744200" cy="228600"/>
          </a:xfrm>
        </p:grpSpPr>
        <p:sp>
          <p:nvSpPr>
            <p:cNvPr id="61" name="node04.text"/>
            <p:cNvSpPr/>
            <p:nvPr/>
          </p:nvSpPr>
          <p:spPr>
            <a:xfrm>
              <a:off x="723900" y="5334000"/>
              <a:ext cx="10744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Fastest to every site, lowest integration risk, and a vendor roadmap we do not have to fund.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WMDS foundation reference</dc:title>
  <dc:subject>PptxGenJS Presentation</dc:subject>
  <dc:creator>West Monroe</dc:creator>
  <cp:lastModifiedBy>West Monroe</cp:lastModifiedBy>
  <cp:revision>1</cp:revision>
  <dcterms:created xsi:type="dcterms:W3CDTF">2026-10-06T17:17:58Z</dcterms:created>
  <dcterms:modified xsi:type="dcterms:W3CDTF">2026-10-06T17:17:58Z</dcterms:modified>
</cp:coreProperties>
</file>