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10666666666666667"/>
          <c:w val="1"/>
          <c:h val="0.77333333333333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CED7E6"/>
            </a:solidFill>
            <a:ln w="12700" cap="flat">
              <a:solidFill>
                <a:srgbClr val="070154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ED7E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ED7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D7E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00D3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70154"/>
                    </a:solidFill>
                    <a:latin typeface="IBM Plex Mono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TO 30 DAYS</c:v>
                  </c:pt>
                  <c:pt idx="1">
                    <c:v>31 TO 60</c:v>
                  </c:pt>
                  <c:pt idx="2">
                    <c:v>61 TO 90</c:v>
                  </c:pt>
                  <c:pt idx="3">
                    <c:v>OVER 90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34</c:v>
                </c:pt>
                <c:pt idx="2">
                  <c:v>19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70154"/>
                  </a:solidFill>
                  <a:latin typeface="IBM Plex Mono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07015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658E"/>
                </a:solidFill>
                <a:latin typeface="IBM Plex Mono SemiBol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658E"/>
                </a:solidFill>
                <a:latin typeface="IBM Plex Mono SemiBol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324533c53c8c5aa65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d6f1a8810e384dd54f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6dda9b4d20f433e799c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band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4389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4008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353fa72a79c66aca8f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c9981bf5b4f41b869c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1.png"/><Relationship Id="rId4" Type="http://schemas.openxmlformats.org/officeDocument/2006/relationships/image" Target="../media/image-15-2.svg"/><Relationship Id="rId5" Type="http://schemas.openxmlformats.org/officeDocument/2006/relationships/image" Target="../media/image-15-1.png"/><Relationship Id="rId6" Type="http://schemas.openxmlformats.org/officeDocument/2006/relationships/image" Target="../media/image-15-2.svg"/><Relationship Id="rId7" Type="http://schemas.openxmlformats.org/officeDocument/2006/relationships/image" Target="../media/image-15-1.png"/><Relationship Id="rId8" Type="http://schemas.openxmlformats.org/officeDocument/2006/relationships/image" Target="../media/image-15-2.svg"/><Relationship Id="rId9" Type="http://schemas.openxmlformats.org/officeDocument/2006/relationships/image" Target="../media/image-15-1.png"/><Relationship Id="rId10" Type="http://schemas.openxmlformats.org/officeDocument/2006/relationships/image" Target="../media/image-15-2.svg"/><Relationship Id="rId11" Type="http://schemas.openxmlformats.org/officeDocument/2006/relationships/image" Target="../media/image-15-1.png"/><Relationship Id="rId12" Type="http://schemas.openxmlformats.org/officeDocument/2006/relationships/image" Target="../media/image-15-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EPIC BREAKDOWN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Self-scheduling splits into four features and nine stories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3" name="node01"/>
          <p:cNvGrpSpPr/>
          <p:nvPr/>
        </p:nvGrpSpPr>
        <p:grpSpPr>
          <a:xfrm>
            <a:off x="723900" y="1600200"/>
            <a:ext cx="2514600" cy="4114800"/>
            <a:chOff x="723900" y="1600200"/>
            <a:chExt cx="2514600" cy="41148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2514600" cy="4114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34" name="node02"/>
          <p:cNvGrpSpPr/>
          <p:nvPr/>
        </p:nvGrpSpPr>
        <p:grpSpPr>
          <a:xfrm>
            <a:off x="952500" y="1828800"/>
            <a:ext cx="2057400" cy="139700"/>
            <a:chOff x="952500" y="1828800"/>
            <a:chExt cx="2057400" cy="139700"/>
          </a:xfrm>
        </p:grpSpPr>
        <p:sp>
          <p:nvSpPr>
            <p:cNvPr id="8" name="node02.text"/>
            <p:cNvSpPr/>
            <p:nvPr/>
          </p:nvSpPr>
          <p:spPr>
            <a:xfrm>
              <a:off x="952500" y="1828800"/>
              <a:ext cx="2057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EPIC E-101</a:t>
              </a:r>
              <a:endParaRPr lang="en-US" sz="800" spc="48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5" name="node03"/>
          <p:cNvGrpSpPr/>
          <p:nvPr/>
        </p:nvGrpSpPr>
        <p:grpSpPr>
          <a:xfrm>
            <a:off x="952500" y="2133600"/>
            <a:ext cx="2057400" cy="266700"/>
            <a:chOff x="952500" y="2133600"/>
            <a:chExt cx="2057400" cy="266700"/>
          </a:xfrm>
        </p:grpSpPr>
        <p:sp>
          <p:nvSpPr>
            <p:cNvPr id="9" name="node03.text"/>
            <p:cNvSpPr/>
            <p:nvPr/>
          </p:nvSpPr>
          <p:spPr>
            <a:xfrm>
              <a:off x="952500" y="21336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Self-scheduling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6" name="node04"/>
          <p:cNvGrpSpPr/>
          <p:nvPr/>
        </p:nvGrpSpPr>
        <p:grpSpPr>
          <a:xfrm>
            <a:off x="952500" y="2590800"/>
            <a:ext cx="2057400" cy="647700"/>
            <a:chOff x="952500" y="2590800"/>
            <a:chExt cx="2057400" cy="647700"/>
          </a:xfrm>
        </p:grpSpPr>
        <p:sp>
          <p:nvSpPr>
            <p:cNvPr id="10" name="node04.text"/>
            <p:cNvSpPr/>
            <p:nvPr/>
          </p:nvSpPr>
          <p:spPr>
            <a:xfrm>
              <a:off x="952500" y="2590800"/>
              <a:ext cx="2057400" cy="647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Patients book, move and cancel visits in the app without a call.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" name="node05"/>
          <p:cNvGrpSpPr/>
          <p:nvPr/>
        </p:nvGrpSpPr>
        <p:grpSpPr>
          <a:xfrm>
            <a:off x="952500" y="3657600"/>
            <a:ext cx="2057400" cy="802069"/>
            <a:chOff x="952500" y="3657600"/>
            <a:chExt cx="2057400" cy="802069"/>
          </a:xfrm>
        </p:grpSpPr>
        <p:sp>
          <p:nvSpPr>
            <p:cNvPr id="11" name="node05.value"/>
            <p:cNvSpPr/>
            <p:nvPr/>
          </p:nvSpPr>
          <p:spPr>
            <a:xfrm>
              <a:off x="952500" y="3657600"/>
              <a:ext cx="20574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33</a:t>
              </a:r>
              <a:endParaRPr lang="en-US" sz="4000" spc="-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5.label"/>
            <p:cNvSpPr/>
            <p:nvPr/>
          </p:nvSpPr>
          <p:spPr>
            <a:xfrm>
              <a:off x="952500" y="4243769"/>
              <a:ext cx="2057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points, four features</a:t>
              </a:r>
              <a:endParaRPr lang="en-US" sz="12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" name="node06"/>
          <p:cNvGrpSpPr/>
          <p:nvPr/>
        </p:nvGrpSpPr>
        <p:grpSpPr>
          <a:xfrm>
            <a:off x="952500" y="4648200"/>
            <a:ext cx="2057400" cy="802069"/>
            <a:chOff x="952500" y="4648200"/>
            <a:chExt cx="2057400" cy="802069"/>
          </a:xfrm>
        </p:grpSpPr>
        <p:sp>
          <p:nvSpPr>
            <p:cNvPr id="13" name="node06.value"/>
            <p:cNvSpPr/>
            <p:nvPr/>
          </p:nvSpPr>
          <p:spPr>
            <a:xfrm>
              <a:off x="952500" y="4648200"/>
              <a:ext cx="20574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31</a:t>
              </a:r>
              <a:endParaRPr lang="en-US" sz="4000" spc="-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6.label"/>
            <p:cNvSpPr/>
            <p:nvPr/>
          </p:nvSpPr>
          <p:spPr>
            <a:xfrm>
              <a:off x="952500" y="5234369"/>
              <a:ext cx="2057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acceptance criteria</a:t>
              </a:r>
              <a:endParaRPr lang="en-US" sz="12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9" name="node07"/>
          <p:cNvGrpSpPr/>
          <p:nvPr/>
        </p:nvGrpSpPr>
        <p:grpSpPr>
          <a:xfrm>
            <a:off x="3467100" y="1600200"/>
            <a:ext cx="8001000" cy="3784600"/>
            <a:chOff x="3467100" y="1600200"/>
            <a:chExt cx="8001000" cy="3784600"/>
          </a:xfrm>
        </p:grpSpPr>
        <p:graphicFrame>
          <p:nvGraphicFramePr>
            <p:cNvPr id="15" name="node07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3848100" y="1600200"/>
            <a:ext cx="7620000" cy="3784600"/>
          </p:xfrm>
          <a:graphic>
            <a:graphicData uri="http://schemas.openxmlformats.org/drawingml/2006/table">
              <a:tbl>
                <a:tblPr/>
                <a:tblGrid>
                  <a:gridCol w="4800600"/>
                  <a:gridCol w="609600"/>
                  <a:gridCol w="762000"/>
                  <a:gridCol w="1447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USER STORY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AC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POINTS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search open slots by provider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filter by location and time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pick a visit type and book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a booking confirmation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reschedule from the app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cancel and free the slot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a text reminder with a link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to add the visit to my calendar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As a patient, I want a day-before prep note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Blocked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" name="node07.row.item-001.st.status-mark"/>
            <p:cNvSpPr/>
            <p:nvPr/>
          </p:nvSpPr>
          <p:spPr>
            <a:xfrm>
              <a:off x="10179050" y="21018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7.row.item-002.st.status-mark"/>
            <p:cNvSpPr/>
            <p:nvPr/>
          </p:nvSpPr>
          <p:spPr>
            <a:xfrm>
              <a:off x="10179050" y="24828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7.row.item-003.st.status-mark"/>
            <p:cNvSpPr/>
            <p:nvPr/>
          </p:nvSpPr>
          <p:spPr>
            <a:xfrm>
              <a:off x="10179050" y="28638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7.row.item-004.st.status-mark"/>
            <p:cNvSpPr/>
            <p:nvPr/>
          </p:nvSpPr>
          <p:spPr>
            <a:xfrm>
              <a:off x="10179050" y="32448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7.row.item-005.st.status-mark"/>
            <p:cNvSpPr/>
            <p:nvPr/>
          </p:nvSpPr>
          <p:spPr>
            <a:xfrm>
              <a:off x="10179050" y="36258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7.row.item-006.st.status-mark"/>
            <p:cNvSpPr/>
            <p:nvPr/>
          </p:nvSpPr>
          <p:spPr>
            <a:xfrm>
              <a:off x="10179050" y="40068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7.row.item-007.st.status-mark"/>
            <p:cNvSpPr/>
            <p:nvPr/>
          </p:nvSpPr>
          <p:spPr>
            <a:xfrm>
              <a:off x="10179050" y="43878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7.row.item-008.st.status-mark"/>
            <p:cNvSpPr/>
            <p:nvPr/>
          </p:nvSpPr>
          <p:spPr>
            <a:xfrm>
              <a:off x="10179050" y="47688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7.row.item-009.st.status-mark"/>
            <p:cNvSpPr/>
            <p:nvPr/>
          </p:nvSpPr>
          <p:spPr>
            <a:xfrm>
              <a:off x="10179050" y="51498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7.row-group.source-001.fill"/>
            <p:cNvSpPr/>
            <p:nvPr/>
          </p:nvSpPr>
          <p:spPr>
            <a:xfrm>
              <a:off x="3467100" y="1974850"/>
              <a:ext cx="304800" cy="723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7.row-group.source-001.label"/>
            <p:cNvSpPr/>
            <p:nvPr/>
          </p:nvSpPr>
          <p:spPr>
            <a:xfrm rot="-5400000">
              <a:off x="3257550" y="2266950"/>
              <a:ext cx="723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FIND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7.row-group.source-002.fill"/>
            <p:cNvSpPr/>
            <p:nvPr/>
          </p:nvSpPr>
          <p:spPr>
            <a:xfrm>
              <a:off x="3467100" y="2736850"/>
              <a:ext cx="304800" cy="723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7.row-group.source-002.label"/>
            <p:cNvSpPr/>
            <p:nvPr/>
          </p:nvSpPr>
          <p:spPr>
            <a:xfrm rot="-5400000">
              <a:off x="3257550" y="3028950"/>
              <a:ext cx="723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BOOK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7.row-group.source-003.fill"/>
            <p:cNvSpPr/>
            <p:nvPr/>
          </p:nvSpPr>
          <p:spPr>
            <a:xfrm>
              <a:off x="3467100" y="3498850"/>
              <a:ext cx="304800" cy="723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7.row-group.source-003.label"/>
            <p:cNvSpPr/>
            <p:nvPr/>
          </p:nvSpPr>
          <p:spPr>
            <a:xfrm rot="-5400000">
              <a:off x="3257550" y="3790950"/>
              <a:ext cx="723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CHANGE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7.row-group.source-004.fill"/>
            <p:cNvSpPr/>
            <p:nvPr/>
          </p:nvSpPr>
          <p:spPr>
            <a:xfrm>
              <a:off x="3467100" y="4260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7.row-group.source-004.label"/>
            <p:cNvSpPr/>
            <p:nvPr/>
          </p:nvSpPr>
          <p:spPr>
            <a:xfrm rot="-5400000">
              <a:off x="3067050" y="4743450"/>
              <a:ext cx="1104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NOTIFY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BACKLOG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Eight epics carry the front door; access and estimates lead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2667000"/>
                  <a:gridCol w="3581400"/>
                  <a:gridCol w="914400"/>
                  <a:gridCol w="762000"/>
                  <a:gridCol w="12192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EPIC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OUTCOME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PRIORITY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SIZE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RELEASE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Book and move visits without a call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4.1 · Nov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 and cancellations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Refill released slots within hours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4.2 ·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Arrive with forms and consents 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4.1 · Nov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Cost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Show the patient price before the visit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4.2 ·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 a statement in two taps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4.0 · Oct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Set up a plan without calling billing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4.3 ·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Secure messaging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Reach the care team in one thread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Blocked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4.2 · Jan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Let caregivers act for family members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4.3 · Mar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p.priority.fill"/>
            <p:cNvSpPr/>
            <p:nvPr/>
          </p:nvSpPr>
          <p:spPr>
            <a:xfrm>
              <a:off x="7556500" y="20891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p.priority"/>
            <p:cNvSpPr/>
            <p:nvPr/>
          </p:nvSpPr>
          <p:spPr>
            <a:xfrm>
              <a:off x="7658100" y="21145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1.s.outline"/>
            <p:cNvSpPr/>
            <p:nvPr/>
          </p:nvSpPr>
          <p:spPr>
            <a:xfrm>
              <a:off x="8420100" y="21145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1.st.status-mark"/>
            <p:cNvSpPr/>
            <p:nvPr/>
          </p:nvSpPr>
          <p:spPr>
            <a:xfrm>
              <a:off x="9188450" y="21399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2.p.priority.fill"/>
            <p:cNvSpPr/>
            <p:nvPr/>
          </p:nvSpPr>
          <p:spPr>
            <a:xfrm>
              <a:off x="7556500" y="25463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2.p.priority"/>
            <p:cNvSpPr/>
            <p:nvPr/>
          </p:nvSpPr>
          <p:spPr>
            <a:xfrm>
              <a:off x="7658100" y="25717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2.s.outline"/>
            <p:cNvSpPr/>
            <p:nvPr/>
          </p:nvSpPr>
          <p:spPr>
            <a:xfrm>
              <a:off x="8420100" y="25717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2.st.status-mark"/>
            <p:cNvSpPr/>
            <p:nvPr/>
          </p:nvSpPr>
          <p:spPr>
            <a:xfrm>
              <a:off x="9188450" y="25971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row.item-003.p.priority.fill"/>
            <p:cNvSpPr/>
            <p:nvPr/>
          </p:nvSpPr>
          <p:spPr>
            <a:xfrm>
              <a:off x="7556500" y="30035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3.p.priority"/>
            <p:cNvSpPr/>
            <p:nvPr/>
          </p:nvSpPr>
          <p:spPr>
            <a:xfrm>
              <a:off x="7658100" y="30289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3.s.outline"/>
            <p:cNvSpPr/>
            <p:nvPr/>
          </p:nvSpPr>
          <p:spPr>
            <a:xfrm>
              <a:off x="8420100" y="30289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3.st.status-mark"/>
            <p:cNvSpPr/>
            <p:nvPr/>
          </p:nvSpPr>
          <p:spPr>
            <a:xfrm>
              <a:off x="9188450" y="30543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4.p.priority.fill"/>
            <p:cNvSpPr/>
            <p:nvPr/>
          </p:nvSpPr>
          <p:spPr>
            <a:xfrm>
              <a:off x="7556500" y="34607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04.p.priority"/>
            <p:cNvSpPr/>
            <p:nvPr/>
          </p:nvSpPr>
          <p:spPr>
            <a:xfrm>
              <a:off x="7658100" y="34861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.item-004.s.outline"/>
            <p:cNvSpPr/>
            <p:nvPr/>
          </p:nvSpPr>
          <p:spPr>
            <a:xfrm>
              <a:off x="8420100" y="348615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4.st.status-mark"/>
            <p:cNvSpPr/>
            <p:nvPr/>
          </p:nvSpPr>
          <p:spPr>
            <a:xfrm>
              <a:off x="9188450" y="35115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1.row.item-005.p.priority.fill"/>
            <p:cNvSpPr/>
            <p:nvPr/>
          </p:nvSpPr>
          <p:spPr>
            <a:xfrm>
              <a:off x="7556500" y="39179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05.p.priority"/>
            <p:cNvSpPr/>
            <p:nvPr/>
          </p:nvSpPr>
          <p:spPr>
            <a:xfrm>
              <a:off x="7658100" y="39433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row.item-005.s.outline"/>
            <p:cNvSpPr/>
            <p:nvPr/>
          </p:nvSpPr>
          <p:spPr>
            <a:xfrm>
              <a:off x="8420100" y="39433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7" name="node01.row.item-005.st.status-mark"/>
            <p:cNvSpPr/>
            <p:nvPr/>
          </p:nvSpPr>
          <p:spPr>
            <a:xfrm>
              <a:off x="9188450" y="3968750"/>
              <a:ext cx="88900" cy="88900"/>
            </a:xfrm>
            <a:prstGeom prst="rect">
              <a:avLst/>
            </a:prstGeom>
            <a:solidFill>
              <a:srgbClr val="070154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6.p.priority.fill"/>
            <p:cNvSpPr/>
            <p:nvPr/>
          </p:nvSpPr>
          <p:spPr>
            <a:xfrm>
              <a:off x="7556500" y="437515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9" name="node01.row.item-006.p.priority"/>
            <p:cNvSpPr/>
            <p:nvPr/>
          </p:nvSpPr>
          <p:spPr>
            <a:xfrm>
              <a:off x="7658100" y="44005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row.item-006.s.outline"/>
            <p:cNvSpPr/>
            <p:nvPr/>
          </p:nvSpPr>
          <p:spPr>
            <a:xfrm>
              <a:off x="8420100" y="44005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1" name="node01.row.item-006.st.status-mark"/>
            <p:cNvSpPr/>
            <p:nvPr/>
          </p:nvSpPr>
          <p:spPr>
            <a:xfrm>
              <a:off x="9188450" y="4425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2" name="node01.row.item-007.p.priority.fill"/>
            <p:cNvSpPr/>
            <p:nvPr/>
          </p:nvSpPr>
          <p:spPr>
            <a:xfrm>
              <a:off x="7556500" y="48323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3" name="node01.row.item-007.p.priority"/>
            <p:cNvSpPr/>
            <p:nvPr/>
          </p:nvSpPr>
          <p:spPr>
            <a:xfrm>
              <a:off x="7658100" y="48577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row.item-007.s.outline"/>
            <p:cNvSpPr/>
            <p:nvPr/>
          </p:nvSpPr>
          <p:spPr>
            <a:xfrm>
              <a:off x="8420100" y="48577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5" name="node01.row.item-007.st.status-mark"/>
            <p:cNvSpPr/>
            <p:nvPr/>
          </p:nvSpPr>
          <p:spPr>
            <a:xfrm>
              <a:off x="9188450" y="48831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6" name="node01.row.item-008.p.priority.fill"/>
            <p:cNvSpPr/>
            <p:nvPr/>
          </p:nvSpPr>
          <p:spPr>
            <a:xfrm>
              <a:off x="7556500" y="528955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7" name="node01.row.item-008.p.priority"/>
            <p:cNvSpPr/>
            <p:nvPr/>
          </p:nvSpPr>
          <p:spPr>
            <a:xfrm>
              <a:off x="7658100" y="53149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row.item-008.s.outline"/>
            <p:cNvSpPr/>
            <p:nvPr/>
          </p:nvSpPr>
          <p:spPr>
            <a:xfrm>
              <a:off x="8420100" y="531495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9" name="node01.row.item-008.st.status-mark"/>
            <p:cNvSpPr/>
            <p:nvPr/>
          </p:nvSpPr>
          <p:spPr>
            <a:xfrm>
              <a:off x="9188450" y="53403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0" name="node01.row-group.source-001.fill"/>
            <p:cNvSpPr/>
            <p:nvPr/>
          </p:nvSpPr>
          <p:spPr>
            <a:xfrm>
              <a:off x="723900" y="1974850"/>
              <a:ext cx="304800" cy="1333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1.row-group.source-001.label"/>
            <p:cNvSpPr/>
            <p:nvPr/>
          </p:nvSpPr>
          <p:spPr>
            <a:xfrm rot="-5400000">
              <a:off x="209550" y="2571750"/>
              <a:ext cx="1333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ACCESS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row-group.source-002.fill"/>
            <p:cNvSpPr/>
            <p:nvPr/>
          </p:nvSpPr>
          <p:spPr>
            <a:xfrm>
              <a:off x="723900" y="3346450"/>
              <a:ext cx="304800" cy="1333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01.row-group.source-002.label"/>
            <p:cNvSpPr/>
            <p:nvPr/>
          </p:nvSpPr>
          <p:spPr>
            <a:xfrm rot="-5400000">
              <a:off x="209550" y="3943350"/>
              <a:ext cx="13335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MONEY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row-group.source-003.fill"/>
            <p:cNvSpPr/>
            <p:nvPr/>
          </p:nvSpPr>
          <p:spPr>
            <a:xfrm>
              <a:off x="723900" y="4718050"/>
              <a:ext cx="304800" cy="876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01.row-group.source-003.label"/>
            <p:cNvSpPr/>
            <p:nvPr/>
          </p:nvSpPr>
          <p:spPr>
            <a:xfrm rot="-5400000">
              <a:off x="438150" y="50863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ENGAGE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BACKLOG HEALTH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next two sprints are ready; the tail is aging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4" name="node01"/>
          <p:cNvGrpSpPr/>
          <p:nvPr/>
        </p:nvGrpSpPr>
        <p:grpSpPr>
          <a:xfrm>
            <a:off x="723900" y="1600200"/>
            <a:ext cx="1965960" cy="802069"/>
            <a:chOff x="723900" y="1600200"/>
            <a:chExt cx="1965960" cy="802069"/>
          </a:xfrm>
        </p:grpSpPr>
        <p:sp>
          <p:nvSpPr>
            <p:cNvPr id="7" name="node01.value"/>
            <p:cNvSpPr/>
            <p:nvPr/>
          </p:nvSpPr>
          <p:spPr>
            <a:xfrm>
              <a:off x="72390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42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label"/>
            <p:cNvSpPr/>
            <p:nvPr/>
          </p:nvSpPr>
          <p:spPr>
            <a:xfrm>
              <a:off x="723900" y="2186369"/>
              <a:ext cx="196596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ready items, of 118 open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5" name="node02"/>
          <p:cNvGrpSpPr/>
          <p:nvPr/>
        </p:nvGrpSpPr>
        <p:grpSpPr>
          <a:xfrm>
            <a:off x="2918460" y="1600200"/>
            <a:ext cx="1965960" cy="1017969"/>
            <a:chOff x="2918460" y="1600200"/>
            <a:chExt cx="1965960" cy="1017969"/>
          </a:xfrm>
        </p:grpSpPr>
        <p:sp>
          <p:nvSpPr>
            <p:cNvPr id="9" name="node02.value"/>
            <p:cNvSpPr/>
            <p:nvPr/>
          </p:nvSpPr>
          <p:spPr>
            <a:xfrm>
              <a:off x="291846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88%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2.label"/>
            <p:cNvSpPr/>
            <p:nvPr/>
          </p:nvSpPr>
          <p:spPr>
            <a:xfrm>
              <a:off x="2918460" y="2186369"/>
              <a:ext cx="196596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refined for the next two sprints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6" name="node03"/>
          <p:cNvGrpSpPr/>
          <p:nvPr/>
        </p:nvGrpSpPr>
        <p:grpSpPr>
          <a:xfrm>
            <a:off x="5113020" y="1600200"/>
            <a:ext cx="1965960" cy="1017969"/>
            <a:chOff x="5113020" y="1600200"/>
            <a:chExt cx="1965960" cy="1017969"/>
          </a:xfrm>
        </p:grpSpPr>
        <p:sp>
          <p:nvSpPr>
            <p:cNvPr id="11" name="node03.value"/>
            <p:cNvSpPr/>
            <p:nvPr/>
          </p:nvSpPr>
          <p:spPr>
            <a:xfrm>
              <a:off x="511302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47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3.label"/>
            <p:cNvSpPr/>
            <p:nvPr/>
          </p:nvSpPr>
          <p:spPr>
            <a:xfrm>
              <a:off x="5113020" y="2186369"/>
              <a:ext cx="196596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days average backlog age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3.footer.status-mark"/>
            <p:cNvSpPr/>
            <p:nvPr/>
          </p:nvSpPr>
          <p:spPr>
            <a:xfrm>
              <a:off x="5119370" y="2510219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4" name="node03.footer.status.text"/>
            <p:cNvSpPr/>
            <p:nvPr/>
          </p:nvSpPr>
          <p:spPr>
            <a:xfrm>
              <a:off x="5290820" y="2478469"/>
              <a:ext cx="47764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AT RISK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7" name="node04"/>
          <p:cNvGrpSpPr/>
          <p:nvPr/>
        </p:nvGrpSpPr>
        <p:grpSpPr>
          <a:xfrm>
            <a:off x="7307580" y="1600200"/>
            <a:ext cx="1965960" cy="1017969"/>
            <a:chOff x="7307580" y="1600200"/>
            <a:chExt cx="1965960" cy="1017969"/>
          </a:xfrm>
        </p:grpSpPr>
        <p:sp>
          <p:nvSpPr>
            <p:cNvPr id="15" name="node04.value"/>
            <p:cNvSpPr/>
            <p:nvPr/>
          </p:nvSpPr>
          <p:spPr>
            <a:xfrm>
              <a:off x="730758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4.label"/>
            <p:cNvSpPr/>
            <p:nvPr/>
          </p:nvSpPr>
          <p:spPr>
            <a:xfrm>
              <a:off x="7307580" y="2186369"/>
              <a:ext cx="196596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blocked items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4.footer.status-mark"/>
            <p:cNvSpPr/>
            <p:nvPr/>
          </p:nvSpPr>
          <p:spPr>
            <a:xfrm>
              <a:off x="7313930" y="2510219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4.footer.status.text"/>
            <p:cNvSpPr/>
            <p:nvPr/>
          </p:nvSpPr>
          <p:spPr>
            <a:xfrm>
              <a:off x="7485380" y="2478469"/>
              <a:ext cx="47764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AT RISK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8" name="node05"/>
          <p:cNvGrpSpPr/>
          <p:nvPr/>
        </p:nvGrpSpPr>
        <p:grpSpPr>
          <a:xfrm>
            <a:off x="9502140" y="1600200"/>
            <a:ext cx="1965960" cy="1017969"/>
            <a:chOff x="9502140" y="1600200"/>
            <a:chExt cx="1965960" cy="1017969"/>
          </a:xfrm>
        </p:grpSpPr>
        <p:sp>
          <p:nvSpPr>
            <p:cNvPr id="19" name="node05.value"/>
            <p:cNvSpPr/>
            <p:nvPr/>
          </p:nvSpPr>
          <p:spPr>
            <a:xfrm>
              <a:off x="9502140" y="1600200"/>
              <a:ext cx="196596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28%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5.label"/>
            <p:cNvSpPr/>
            <p:nvPr/>
          </p:nvSpPr>
          <p:spPr>
            <a:xfrm>
              <a:off x="9502140" y="2186369"/>
              <a:ext cx="196596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of open items are bugs, 72% features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21" name="node06"/>
          <p:cNvSpPr/>
          <p:nvPr/>
        </p:nvSpPr>
        <p:spPr>
          <a:xfrm>
            <a:off x="723900" y="2971800"/>
            <a:ext cx="10744200" cy="1905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9" name="node07"/>
          <p:cNvGrpSpPr/>
          <p:nvPr/>
        </p:nvGrpSpPr>
        <p:grpSpPr>
          <a:xfrm>
            <a:off x="723900" y="3200400"/>
            <a:ext cx="5257800" cy="2514600"/>
            <a:chOff x="723900" y="3200400"/>
            <a:chExt cx="5257800" cy="2514600"/>
          </a:xfrm>
        </p:grpSpPr>
        <p:sp>
          <p:nvSpPr>
            <p:cNvPr id="22" name="node07.title"/>
            <p:cNvSpPr/>
            <p:nvPr/>
          </p:nvSpPr>
          <p:spPr>
            <a:xfrm>
              <a:off x="723900" y="32004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Open items by age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7.units"/>
            <p:cNvSpPr/>
            <p:nvPr/>
          </p:nvSpPr>
          <p:spPr>
            <a:xfrm>
              <a:off x="723900" y="3505200"/>
              <a:ext cx="5257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ITEMS</a:t>
              </a:r>
              <a:endParaRPr lang="en-US" sz="800" spc="60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graphicFrame>
          <p:nvGraphicFramePr>
            <p:cNvPr id="24" name="node07.native" descr=""/>
            <p:cNvGraphicFramePr/>
            <p:nvPr/>
          </p:nvGraphicFramePr>
          <p:xfrm>
            <a:off x="723900" y="3810000"/>
            <a:ext cx="5257800" cy="1905000"/>
          </p:xfrm>
          <a:graphic xmlns:a="http://schemas.openxmlformats.org/drawingml/2006/main">
            <a:graphicData uri="http://schemas.openxmlformats.org/drawingml/2006/chart">
              <c:chart xmlns:c="http://schemas.openxmlformats.org/drawingml/2006/chart" r:id="rId1"/>
            </a:graphicData>
          </a:graphic>
        </p:graphicFrame>
      </p:grpSp>
      <p:grpSp>
        <p:nvGrpSpPr>
          <p:cNvPr id="40" name="node08"/>
          <p:cNvGrpSpPr/>
          <p:nvPr/>
        </p:nvGrpSpPr>
        <p:grpSpPr>
          <a:xfrm>
            <a:off x="6210300" y="3200400"/>
            <a:ext cx="5257800" cy="1600200"/>
            <a:chOff x="6210300" y="3200400"/>
            <a:chExt cx="5257800" cy="1600200"/>
          </a:xfrm>
        </p:grpSpPr>
        <p:sp>
          <p:nvSpPr>
            <p:cNvPr id="25" name="node08.source-001.number"/>
            <p:cNvSpPr/>
            <p:nvPr/>
          </p:nvSpPr>
          <p:spPr>
            <a:xfrm>
              <a:off x="6210300" y="32004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8.source-001.title"/>
            <p:cNvSpPr/>
            <p:nvPr/>
          </p:nvSpPr>
          <p:spPr>
            <a:xfrm>
              <a:off x="6743700" y="32004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Refinement is on track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8.source-001.text"/>
            <p:cNvSpPr/>
            <p:nvPr/>
          </p:nvSpPr>
          <p:spPr>
            <a:xfrm>
              <a:off x="6743700" y="34163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Next two sprints hold 88% refined stories.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8.source-002.number"/>
            <p:cNvSpPr/>
            <p:nvPr/>
          </p:nvSpPr>
          <p:spPr>
            <a:xfrm>
              <a:off x="6210300" y="37846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8.source-002.title"/>
            <p:cNvSpPr/>
            <p:nvPr/>
          </p:nvSpPr>
          <p:spPr>
            <a:xfrm>
              <a:off x="6743700" y="37846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Messaging is stuck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0" name="node08.source-002.text"/>
            <p:cNvSpPr/>
            <p:nvPr/>
          </p:nvSpPr>
          <p:spPr>
            <a:xfrm>
              <a:off x="6743700" y="40005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Five of six blocked items wait on the vendor API.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8.source-003.number"/>
            <p:cNvSpPr/>
            <p:nvPr/>
          </p:nvSpPr>
          <p:spPr>
            <a:xfrm>
              <a:off x="6210300" y="43688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8.source-003.title"/>
            <p:cNvSpPr/>
            <p:nvPr/>
          </p:nvSpPr>
          <p:spPr>
            <a:xfrm>
              <a:off x="6743700" y="43688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Old items need a verdict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8.source-003.text"/>
            <p:cNvSpPr/>
            <p:nvPr/>
          </p:nvSpPr>
          <p:spPr>
            <a:xfrm>
              <a:off x="6743700" y="4584700"/>
              <a:ext cx="4724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13 items over 90 days: close, split or schedule.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WORKING AGREEMENTS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 story must be ready to start and done to count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7" name="node01"/>
          <p:cNvGrpSpPr/>
          <p:nvPr/>
        </p:nvGrpSpPr>
        <p:grpSpPr>
          <a:xfrm>
            <a:off x="723900" y="1600200"/>
            <a:ext cx="5257800" cy="3200400"/>
            <a:chOff x="723900" y="1600200"/>
            <a:chExt cx="5257800" cy="3200400"/>
          </a:xfrm>
        </p:grpSpPr>
        <p:sp>
          <p:nvSpPr>
            <p:cNvPr id="7" name="node01.container"/>
            <p:cNvSpPr/>
            <p:nvPr/>
          </p:nvSpPr>
          <p:spPr>
            <a:xfrm>
              <a:off x="723900" y="1600200"/>
              <a:ext cx="5257800" cy="3200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" name="node01.label"/>
            <p:cNvSpPr/>
            <p:nvPr/>
          </p:nvSpPr>
          <p:spPr>
            <a:xfrm>
              <a:off x="952500" y="1828800"/>
              <a:ext cx="4800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DEFINITION OF READY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1.title"/>
            <p:cNvSpPr/>
            <p:nvPr/>
          </p:nvSpPr>
          <p:spPr>
            <a:xfrm>
              <a:off x="952500" y="2044700"/>
              <a:ext cx="4800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 story enters a sprint when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node01.body.item-001.checklist.item-001.marker"/>
            <p:cNvSpPr/>
            <p:nvPr/>
          </p:nvSpPr>
          <p:spPr>
            <a:xfrm>
              <a:off x="952500" y="25527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body.item-001.checklist.item-001.check"/>
            <p:cNvSpPr/>
            <p:nvPr/>
          </p:nvSpPr>
          <p:spPr>
            <a:xfrm>
              <a:off x="952500" y="25527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12" name="node01.body.item-001.checklist.item-001.text"/>
            <p:cNvSpPr/>
            <p:nvPr/>
          </p:nvSpPr>
          <p:spPr>
            <a:xfrm>
              <a:off x="1219200" y="25019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Story states who, what and why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1.checklist.item-002.marker"/>
            <p:cNvSpPr/>
            <p:nvPr/>
          </p:nvSpPr>
          <p:spPr>
            <a:xfrm>
              <a:off x="952500" y="28448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1.checklist.item-002.check"/>
            <p:cNvSpPr/>
            <p:nvPr/>
          </p:nvSpPr>
          <p:spPr>
            <a:xfrm>
              <a:off x="952500" y="2844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15" name="node01.body.item-001.checklist.item-002.text"/>
            <p:cNvSpPr/>
            <p:nvPr/>
          </p:nvSpPr>
          <p:spPr>
            <a:xfrm>
              <a:off x="1219200" y="27940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Acceptance criteria are testable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1.body.item-001.checklist.item-003.marker"/>
            <p:cNvSpPr/>
            <p:nvPr/>
          </p:nvSpPr>
          <p:spPr>
            <a:xfrm>
              <a:off x="952500" y="31369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ody.item-001.checklist.item-003.check"/>
            <p:cNvSpPr/>
            <p:nvPr/>
          </p:nvSpPr>
          <p:spPr>
            <a:xfrm>
              <a:off x="952500" y="3136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18" name="node01.body.item-001.checklist.item-003.text"/>
            <p:cNvSpPr/>
            <p:nvPr/>
          </p:nvSpPr>
          <p:spPr>
            <a:xfrm>
              <a:off x="1219200" y="30861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Designs are linked and reviewed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1.body.item-001.checklist.item-004.marker"/>
            <p:cNvSpPr/>
            <p:nvPr/>
          </p:nvSpPr>
          <p:spPr>
            <a:xfrm>
              <a:off x="952500" y="34290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1.body.item-001.checklist.item-004.check"/>
            <p:cNvSpPr/>
            <p:nvPr/>
          </p:nvSpPr>
          <p:spPr>
            <a:xfrm>
              <a:off x="952500" y="3429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21" name="node01.body.item-001.checklist.item-004.text"/>
            <p:cNvSpPr/>
            <p:nvPr/>
          </p:nvSpPr>
          <p:spPr>
            <a:xfrm>
              <a:off x="1219200" y="33782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Dependencies are named and clear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1.body.item-001.checklist.item-005.marker"/>
            <p:cNvSpPr/>
            <p:nvPr/>
          </p:nvSpPr>
          <p:spPr>
            <a:xfrm>
              <a:off x="952500" y="37211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1.body.item-001.checklist.item-005.check"/>
            <p:cNvSpPr/>
            <p:nvPr/>
          </p:nvSpPr>
          <p:spPr>
            <a:xfrm>
              <a:off x="952500" y="3721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24" name="node01.body.item-001.checklist.item-005.text"/>
            <p:cNvSpPr/>
            <p:nvPr/>
          </p:nvSpPr>
          <p:spPr>
            <a:xfrm>
              <a:off x="1219200" y="36703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Estimated by the team at 8 points or less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1.body.item-001.checklist.item-006.marker"/>
            <p:cNvSpPr/>
            <p:nvPr/>
          </p:nvSpPr>
          <p:spPr>
            <a:xfrm>
              <a:off x="952500" y="40132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1.body.item-001.checklist.item-006.check"/>
            <p:cNvSpPr/>
            <p:nvPr/>
          </p:nvSpPr>
          <p:spPr>
            <a:xfrm>
              <a:off x="952500" y="4013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27" name="node01.body.item-001.checklist.item-006.text"/>
            <p:cNvSpPr/>
            <p:nvPr/>
          </p:nvSpPr>
          <p:spPr>
            <a:xfrm>
              <a:off x="1219200" y="39624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Product owner has ranked 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body.item-001.checklist.item-007.marker"/>
            <p:cNvSpPr/>
            <p:nvPr/>
          </p:nvSpPr>
          <p:spPr>
            <a:xfrm>
              <a:off x="952500" y="43053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01.body.item-001.checklist.item-007.check"/>
            <p:cNvSpPr/>
            <p:nvPr/>
          </p:nvSpPr>
          <p:spPr>
            <a:xfrm>
              <a:off x="952500" y="4305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30" name="node01.body.item-001.checklist.item-007.text"/>
            <p:cNvSpPr/>
            <p:nvPr/>
          </p:nvSpPr>
          <p:spPr>
            <a:xfrm>
              <a:off x="1219200" y="42545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Fits in one sprint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2"/>
          <p:cNvGrpSpPr/>
          <p:nvPr/>
        </p:nvGrpSpPr>
        <p:grpSpPr>
          <a:xfrm>
            <a:off x="6210300" y="1600200"/>
            <a:ext cx="5257800" cy="3200400"/>
            <a:chOff x="6210300" y="1600200"/>
            <a:chExt cx="5257800" cy="3200400"/>
          </a:xfrm>
        </p:grpSpPr>
        <p:sp>
          <p:nvSpPr>
            <p:cNvPr id="31" name="node02.container"/>
            <p:cNvSpPr/>
            <p:nvPr/>
          </p:nvSpPr>
          <p:spPr>
            <a:xfrm>
              <a:off x="6210300" y="1600200"/>
              <a:ext cx="5257800" cy="3200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2" name="node02.label"/>
            <p:cNvSpPr/>
            <p:nvPr/>
          </p:nvSpPr>
          <p:spPr>
            <a:xfrm>
              <a:off x="6438900" y="1828800"/>
              <a:ext cx="4800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DEFINITION OF DONE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3" name="node02.title"/>
            <p:cNvSpPr/>
            <p:nvPr/>
          </p:nvSpPr>
          <p:spPr>
            <a:xfrm>
              <a:off x="6438900" y="2044700"/>
              <a:ext cx="4800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 story is done when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02.body.item-001.checklist.item-001.marker"/>
            <p:cNvSpPr/>
            <p:nvPr/>
          </p:nvSpPr>
          <p:spPr>
            <a:xfrm>
              <a:off x="6438900" y="25527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2.body.item-001.checklist.item-001.check"/>
            <p:cNvSpPr/>
            <p:nvPr/>
          </p:nvSpPr>
          <p:spPr>
            <a:xfrm>
              <a:off x="6438900" y="25527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36" name="node02.body.item-001.checklist.item-001.text"/>
            <p:cNvSpPr/>
            <p:nvPr/>
          </p:nvSpPr>
          <p:spPr>
            <a:xfrm>
              <a:off x="6705600" y="25019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Code reviewed and merged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2.body.item-001.checklist.item-002.marker"/>
            <p:cNvSpPr/>
            <p:nvPr/>
          </p:nvSpPr>
          <p:spPr>
            <a:xfrm>
              <a:off x="6438900" y="28448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2.body.item-001.checklist.item-002.check"/>
            <p:cNvSpPr/>
            <p:nvPr/>
          </p:nvSpPr>
          <p:spPr>
            <a:xfrm>
              <a:off x="6438900" y="2844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39" name="node02.body.item-001.checklist.item-002.text"/>
            <p:cNvSpPr/>
            <p:nvPr/>
          </p:nvSpPr>
          <p:spPr>
            <a:xfrm>
              <a:off x="6705600" y="27940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Unit and UI tests pass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02.body.item-001.checklist.item-003.marker"/>
            <p:cNvSpPr/>
            <p:nvPr/>
          </p:nvSpPr>
          <p:spPr>
            <a:xfrm>
              <a:off x="6438900" y="31369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2.body.item-001.checklist.item-003.check"/>
            <p:cNvSpPr/>
            <p:nvPr/>
          </p:nvSpPr>
          <p:spPr>
            <a:xfrm>
              <a:off x="6438900" y="3136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42" name="node02.body.item-001.checklist.item-003.text"/>
            <p:cNvSpPr/>
            <p:nvPr/>
          </p:nvSpPr>
          <p:spPr>
            <a:xfrm>
              <a:off x="6705600" y="30861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Accessibility check passed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2.body.item-001.checklist.item-004.marker"/>
            <p:cNvSpPr/>
            <p:nvPr/>
          </p:nvSpPr>
          <p:spPr>
            <a:xfrm>
              <a:off x="6438900" y="34290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2.body.item-001.checklist.item-004.check"/>
            <p:cNvSpPr/>
            <p:nvPr/>
          </p:nvSpPr>
          <p:spPr>
            <a:xfrm>
              <a:off x="6438900" y="3429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45" name="node02.body.item-001.checklist.item-004.text"/>
            <p:cNvSpPr/>
            <p:nvPr/>
          </p:nvSpPr>
          <p:spPr>
            <a:xfrm>
              <a:off x="6705600" y="33782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Analytics events verified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02.body.item-001.checklist.item-005.marker"/>
            <p:cNvSpPr/>
            <p:nvPr/>
          </p:nvSpPr>
          <p:spPr>
            <a:xfrm>
              <a:off x="6438900" y="37211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2.body.item-001.checklist.item-005.check"/>
            <p:cNvSpPr/>
            <p:nvPr/>
          </p:nvSpPr>
          <p:spPr>
            <a:xfrm>
              <a:off x="6438900" y="3721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48" name="node02.body.item-001.checklist.item-005.text"/>
            <p:cNvSpPr/>
            <p:nvPr/>
          </p:nvSpPr>
          <p:spPr>
            <a:xfrm>
              <a:off x="6705600" y="36703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Release notes drafted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2.body.item-001.checklist.item-006.marker"/>
            <p:cNvSpPr/>
            <p:nvPr/>
          </p:nvSpPr>
          <p:spPr>
            <a:xfrm>
              <a:off x="6438900" y="40132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2.body.item-001.checklist.item-006.check"/>
            <p:cNvSpPr/>
            <p:nvPr/>
          </p:nvSpPr>
          <p:spPr>
            <a:xfrm>
              <a:off x="6438900" y="4013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51" name="node02.body.item-001.checklist.item-006.text"/>
            <p:cNvSpPr/>
            <p:nvPr/>
          </p:nvSpPr>
          <p:spPr>
            <a:xfrm>
              <a:off x="6705600" y="39624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Product owner accepted 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2.body.item-001.checklist.item-007.marker"/>
            <p:cNvSpPr/>
            <p:nvPr/>
          </p:nvSpPr>
          <p:spPr>
            <a:xfrm>
              <a:off x="6438900" y="4305300"/>
              <a:ext cx="152400" cy="152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2.body.item-001.checklist.item-007.check"/>
            <p:cNvSpPr/>
            <p:nvPr/>
          </p:nvSpPr>
          <p:spPr>
            <a:xfrm>
              <a:off x="6438900" y="4305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E8EEF8"/>
              </a:solidFill>
              <a:prstDash val="solid"/>
            </a:ln>
          </p:spPr>
        </p:sp>
        <p:sp>
          <p:nvSpPr>
            <p:cNvPr id="54" name="node02.body.item-001.checklist.item-007.text"/>
            <p:cNvSpPr/>
            <p:nvPr/>
          </p:nvSpPr>
          <p:spPr>
            <a:xfrm>
              <a:off x="6705600" y="4254500"/>
              <a:ext cx="4533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Support team briefed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03"/>
          <p:cNvGrpSpPr/>
          <p:nvPr/>
        </p:nvGrpSpPr>
        <p:grpSpPr>
          <a:xfrm>
            <a:off x="723900" y="5029200"/>
            <a:ext cx="10744200" cy="685800"/>
            <a:chOff x="723900" y="5029200"/>
            <a:chExt cx="10744200" cy="685800"/>
          </a:xfrm>
        </p:grpSpPr>
        <p:sp>
          <p:nvSpPr>
            <p:cNvPr id="55" name="node03.surface"/>
            <p:cNvSpPr/>
            <p:nvPr/>
          </p:nvSpPr>
          <p:spPr>
            <a:xfrm>
              <a:off x="723900" y="5029200"/>
              <a:ext cx="107442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0" name="node04"/>
          <p:cNvGrpSpPr/>
          <p:nvPr/>
        </p:nvGrpSpPr>
        <p:grpSpPr>
          <a:xfrm>
            <a:off x="952500" y="5257800"/>
            <a:ext cx="10287000" cy="215900"/>
            <a:chOff x="952500" y="5257800"/>
            <a:chExt cx="10287000" cy="215900"/>
          </a:xfrm>
        </p:grpSpPr>
        <p:sp>
          <p:nvSpPr>
            <p:cNvPr id="56" name="node04.text"/>
            <p:cNvSpPr/>
            <p:nvPr/>
          </p:nvSpPr>
          <p:spPr>
            <a:xfrm>
              <a:off x="952500" y="5257800"/>
              <a:ext cx="10287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The product owner owns ready, the delivery team owns done, and both are reviewed in the quarterly retro.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RELEASE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releases take the front door through March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7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OVERVIEW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8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9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PRIORITIZE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1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PLAN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2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3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HEALTH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4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8" name="node01"/>
          <p:cNvGrpSpPr/>
          <p:nvPr/>
        </p:nvGrpSpPr>
        <p:grpSpPr>
          <a:xfrm>
            <a:off x="723900" y="1600200"/>
            <a:ext cx="10744200" cy="2743200"/>
            <a:chOff x="723900" y="1600200"/>
            <a:chExt cx="10744200" cy="2743200"/>
          </a:xfrm>
        </p:grpSpPr>
        <p:grpSp>
          <p:nvGrpSpPr>
            <p:cNvPr id="45" name="node01.item-001"/>
            <p:cNvGrpSpPr/>
            <p:nvPr/>
          </p:nvGrpSpPr>
          <p:grpSpPr>
            <a:xfrm>
              <a:off x="723900" y="1600200"/>
              <a:ext cx="3429000" cy="2743200"/>
              <a:chOff x="723900" y="1600200"/>
              <a:chExt cx="3429000" cy="2743200"/>
            </a:xfrm>
          </p:grpSpPr>
          <p:sp>
            <p:nvSpPr>
              <p:cNvPr id="15" name="node01.item-001.container"/>
              <p:cNvSpPr/>
              <p:nvPr/>
            </p:nvSpPr>
            <p:spPr>
              <a:xfrm>
                <a:off x="723900" y="1600200"/>
                <a:ext cx="3429000" cy="27432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16" name="node01.item-001.edge"/>
              <p:cNvSpPr/>
              <p:nvPr/>
            </p:nvSpPr>
            <p:spPr>
              <a:xfrm>
                <a:off x="723900" y="1600200"/>
                <a:ext cx="3429000" cy="76200"/>
              </a:xfrm>
              <a:prstGeom prst="rect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17" name="node01.item-001.label"/>
              <p:cNvSpPr/>
              <p:nvPr/>
            </p:nvSpPr>
            <p:spPr>
              <a:xfrm>
                <a:off x="952500" y="19050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RELEASE 4.1 · NOV 2026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18" name="node01.item-001.number"/>
              <p:cNvSpPr/>
              <p:nvPr/>
            </p:nvSpPr>
            <p:spPr>
              <a:xfrm>
                <a:off x="952500" y="2120900"/>
                <a:ext cx="25717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01</a:t>
                </a:r>
                <a:endPara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19" name="node01.item-001.title"/>
              <p:cNvSpPr/>
              <p:nvPr/>
            </p:nvSpPr>
            <p:spPr>
              <a:xfrm>
                <a:off x="1323975" y="2120646"/>
                <a:ext cx="26003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-16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Book and arrive ready</a:t>
                </a:r>
                <a:endPara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20" name="node01.item-001.body.item-001.bullets"/>
              <p:cNvSpPr/>
              <p:nvPr/>
            </p:nvSpPr>
            <p:spPr>
              <a:xfrm>
                <a:off x="952500" y="2540000"/>
                <a:ext cx="2971800" cy="469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Self-scheduling · 33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Digital intake · 20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1" name="node01.item-001.body.item-002.label"/>
              <p:cNvSpPr/>
              <p:nvPr/>
            </p:nvSpPr>
            <p:spPr>
              <a:xfrm>
                <a:off x="952500" y="30861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OUTCOME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22" name="node01.item-001.body.item-003.paragraph"/>
              <p:cNvSpPr/>
              <p:nvPr/>
            </p:nvSpPr>
            <p:spPr>
              <a:xfrm>
                <a:off x="952500" y="3302000"/>
                <a:ext cx="2971800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Patients book, move and arrive with forms done.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46" name="node01.item-002"/>
            <p:cNvGrpSpPr/>
            <p:nvPr/>
          </p:nvGrpSpPr>
          <p:grpSpPr>
            <a:xfrm>
              <a:off x="4381500" y="1600200"/>
              <a:ext cx="3429000" cy="2743200"/>
              <a:chOff x="4381500" y="1600200"/>
              <a:chExt cx="3429000" cy="2743200"/>
            </a:xfrm>
          </p:grpSpPr>
          <p:sp>
            <p:nvSpPr>
              <p:cNvPr id="23" name="node01.item-002.container"/>
              <p:cNvSpPr/>
              <p:nvPr/>
            </p:nvSpPr>
            <p:spPr>
              <a:xfrm>
                <a:off x="4381500" y="1600200"/>
                <a:ext cx="3429000" cy="27432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24" name="node01.item-002.edge"/>
              <p:cNvSpPr/>
              <p:nvPr/>
            </p:nvSpPr>
            <p:spPr>
              <a:xfrm>
                <a:off x="4381500" y="1600200"/>
                <a:ext cx="3429000" cy="76200"/>
              </a:xfrm>
              <a:prstGeom prst="rect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25" name="node01.item-002.label"/>
              <p:cNvSpPr/>
              <p:nvPr/>
            </p:nvSpPr>
            <p:spPr>
              <a:xfrm>
                <a:off x="4610100" y="19050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RELEASE 4.2 · JAN 2027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26" name="node01.item-002.number"/>
              <p:cNvSpPr/>
              <p:nvPr/>
            </p:nvSpPr>
            <p:spPr>
              <a:xfrm>
                <a:off x="4610100" y="2120900"/>
                <a:ext cx="25717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02</a:t>
                </a:r>
                <a:endPara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27" name="node01.item-002.title"/>
              <p:cNvSpPr/>
              <p:nvPr/>
            </p:nvSpPr>
            <p:spPr>
              <a:xfrm>
                <a:off x="4981575" y="2120646"/>
                <a:ext cx="26003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-16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Know the price first</a:t>
                </a:r>
                <a:endPara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28" name="node01.item-002.body.item-001.bullets"/>
              <p:cNvSpPr/>
              <p:nvPr/>
            </p:nvSpPr>
            <p:spPr>
              <a:xfrm>
                <a:off x="4610100" y="2540000"/>
                <a:ext cx="2971800" cy="723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Cost estimates · 34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Waitlist offers · 18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Messaging · 8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9" name="node01.item-002.body.item-002.label"/>
              <p:cNvSpPr/>
              <p:nvPr/>
            </p:nvSpPr>
            <p:spPr>
              <a:xfrm>
                <a:off x="4610100" y="33401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OUTCOME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30" name="node01.item-002.body.item-003.paragraph"/>
              <p:cNvSpPr/>
              <p:nvPr/>
            </p:nvSpPr>
            <p:spPr>
              <a:xfrm>
                <a:off x="4610100" y="3556000"/>
                <a:ext cx="2971800" cy="215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Patients see the price before they commit.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47" name="node01.item-003"/>
            <p:cNvGrpSpPr/>
            <p:nvPr/>
          </p:nvGrpSpPr>
          <p:grpSpPr>
            <a:xfrm>
              <a:off x="8039100" y="1600200"/>
              <a:ext cx="3429000" cy="2743200"/>
              <a:chOff x="8039100" y="1600200"/>
              <a:chExt cx="3429000" cy="2743200"/>
            </a:xfrm>
          </p:grpSpPr>
          <p:sp>
            <p:nvSpPr>
              <p:cNvPr id="31" name="node01.item-003.container"/>
              <p:cNvSpPr/>
              <p:nvPr/>
            </p:nvSpPr>
            <p:spPr>
              <a:xfrm>
                <a:off x="8039100" y="1600200"/>
                <a:ext cx="3429000" cy="27432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32" name="node01.item-003.edge"/>
              <p:cNvSpPr/>
              <p:nvPr/>
            </p:nvSpPr>
            <p:spPr>
              <a:xfrm>
                <a:off x="8039100" y="1600200"/>
                <a:ext cx="3429000" cy="76200"/>
              </a:xfrm>
              <a:prstGeom prst="rect">
                <a:avLst/>
              </a:prstGeom>
              <a:solidFill>
                <a:srgbClr val="F900D3"/>
              </a:solidFill>
              <a:ln>
                <a:noFill/>
              </a:ln>
            </p:spPr>
          </p:sp>
          <p:sp>
            <p:nvSpPr>
              <p:cNvPr id="33" name="node01.item-003.label"/>
              <p:cNvSpPr/>
              <p:nvPr/>
            </p:nvSpPr>
            <p:spPr>
              <a:xfrm>
                <a:off x="8267700" y="19050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RELEASE 4.3 · MAR 2027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34" name="node01.item-003.number"/>
              <p:cNvSpPr/>
              <p:nvPr/>
            </p:nvSpPr>
            <p:spPr>
              <a:xfrm>
                <a:off x="8267700" y="2120900"/>
                <a:ext cx="25717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03</a:t>
                </a:r>
                <a:endParaRPr lang="en-US" sz="16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35" name="node01.item-003.title"/>
              <p:cNvSpPr/>
              <p:nvPr/>
            </p:nvSpPr>
            <p:spPr>
              <a:xfrm>
                <a:off x="8639175" y="2120646"/>
                <a:ext cx="26003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600" spc="-16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Pay and share care</a:t>
                </a:r>
                <a:endPara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36" name="node01.item-003.body.item-001.bullets"/>
              <p:cNvSpPr/>
              <p:nvPr/>
            </p:nvSpPr>
            <p:spPr>
              <a:xfrm>
                <a:off x="8267700" y="2540000"/>
                <a:ext cx="2971800" cy="723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Payment plans · 21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Proxy access · 13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  <a:p>
                <a:pPr algn="l" marL="152400" indent="-152400">
                  <a:lnSpc>
                    <a:spcPts val="17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70154"/>
                  </a:buClr>
                  <a:buSzPts val="1038"/>
                  <a:buFont typeface="Wingdings" charset="2"/>
                  <a:buChar char=""/>
                  <a:def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defRPr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 xml:space="preserve">Hardening · 14 pts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7" name="node01.item-003.body.item-002.label"/>
              <p:cNvSpPr/>
              <p:nvPr/>
            </p:nvSpPr>
            <p:spPr>
              <a:xfrm>
                <a:off x="8267700" y="3340100"/>
                <a:ext cx="2971800" cy="139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100"/>
                  </a:lnSpc>
                  <a:buNone/>
                </a:pPr>
                <a:r>
                  <a:rPr lang="en-US" sz="800" spc="48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OUTCOME</a:t>
                </a:r>
                <a:endPara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38" name="node01.item-003.body.item-003.paragraph"/>
              <p:cNvSpPr/>
              <p:nvPr/>
            </p:nvSpPr>
            <p:spPr>
              <a:xfrm>
                <a:off x="8267700" y="3556000"/>
                <a:ext cx="2971800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7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Patients settle bills and share care with family.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  <p:grpSp>
        <p:nvGrpSpPr>
          <p:cNvPr id="49" name="node02"/>
          <p:cNvGrpSpPr/>
          <p:nvPr/>
        </p:nvGrpSpPr>
        <p:grpSpPr>
          <a:xfrm>
            <a:off x="723900" y="4572000"/>
            <a:ext cx="3429000" cy="802069"/>
            <a:chOff x="723900" y="4572000"/>
            <a:chExt cx="3429000" cy="802069"/>
          </a:xfrm>
        </p:grpSpPr>
        <p:sp>
          <p:nvSpPr>
            <p:cNvPr id="39" name="node02.value"/>
            <p:cNvSpPr/>
            <p:nvPr/>
          </p:nvSpPr>
          <p:spPr>
            <a:xfrm>
              <a:off x="723900" y="45720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53 of 60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0" name="node02.label"/>
            <p:cNvSpPr/>
            <p:nvPr/>
          </p:nvSpPr>
          <p:spPr>
            <a:xfrm>
              <a:off x="723900" y="51581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points planned against capacity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3"/>
          <p:cNvGrpSpPr/>
          <p:nvPr/>
        </p:nvGrpSpPr>
        <p:grpSpPr>
          <a:xfrm>
            <a:off x="4381500" y="4572000"/>
            <a:ext cx="3429000" cy="802069"/>
            <a:chOff x="4381500" y="4572000"/>
            <a:chExt cx="3429000" cy="802069"/>
          </a:xfrm>
        </p:grpSpPr>
        <p:sp>
          <p:nvSpPr>
            <p:cNvPr id="41" name="node03.value"/>
            <p:cNvSpPr/>
            <p:nvPr/>
          </p:nvSpPr>
          <p:spPr>
            <a:xfrm>
              <a:off x="4381500" y="45720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60 of 62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3.label"/>
            <p:cNvSpPr/>
            <p:nvPr/>
          </p:nvSpPr>
          <p:spPr>
            <a:xfrm>
              <a:off x="4381500" y="51581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points planned against capacity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04"/>
          <p:cNvGrpSpPr/>
          <p:nvPr/>
        </p:nvGrpSpPr>
        <p:grpSpPr>
          <a:xfrm>
            <a:off x="8039100" y="4572000"/>
            <a:ext cx="3429000" cy="802069"/>
            <a:chOff x="8039100" y="4572000"/>
            <a:chExt cx="3429000" cy="802069"/>
          </a:xfrm>
        </p:grpSpPr>
        <p:sp>
          <p:nvSpPr>
            <p:cNvPr id="43" name="node04.value"/>
            <p:cNvSpPr/>
            <p:nvPr/>
          </p:nvSpPr>
          <p:spPr>
            <a:xfrm>
              <a:off x="8039100" y="45720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48 of 60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4.label"/>
            <p:cNvSpPr/>
            <p:nvPr/>
          </p:nvSpPr>
          <p:spPr>
            <a:xfrm>
              <a:off x="8039100" y="51581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points planned against capacity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RANKED BACKLOG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Twelve ranked items; the top five fill two sprints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node01"/>
          <p:cNvSpPr/>
          <p:nvPr/>
        </p:nvSpPr>
        <p:spPr>
          <a:xfrm>
            <a:off x="723900" y="2286000"/>
            <a:ext cx="3429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Value</a:t>
            </a: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 patient time saved and calls avoided.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Urgency</a:t>
            </a: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 payer and vendor dates that cannot move.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Effort</a:t>
            </a: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 team sizing, in S to XL tags.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Risk</a:t>
            </a: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 unblock the messaging vendor first.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8" name="node02"/>
          <p:cNvGrpSpPr/>
          <p:nvPr/>
        </p:nvGrpSpPr>
        <p:grpSpPr>
          <a:xfrm>
            <a:off x="723900" y="4191000"/>
            <a:ext cx="3429000" cy="1475169"/>
            <a:chOff x="723900" y="4191000"/>
            <a:chExt cx="3429000" cy="1475169"/>
          </a:xfrm>
        </p:grpSpPr>
        <p:sp>
          <p:nvSpPr>
            <p:cNvPr id="7" name="node02.container"/>
            <p:cNvSpPr/>
            <p:nvPr/>
          </p:nvSpPr>
          <p:spPr>
            <a:xfrm>
              <a:off x="723900" y="4191000"/>
              <a:ext cx="3429000" cy="1475169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8" name="node02.eyebrow"/>
            <p:cNvSpPr/>
            <p:nvPr/>
          </p:nvSpPr>
          <p:spPr>
            <a:xfrm>
              <a:off x="952500" y="4419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CUT LINE</a:t>
              </a:r>
              <a:endParaRPr lang="en-US" sz="900" spc="7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2.metric.value"/>
            <p:cNvSpPr/>
            <p:nvPr/>
          </p:nvSpPr>
          <p:spPr>
            <a:xfrm>
              <a:off x="952500" y="4635500"/>
              <a:ext cx="29718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Top 5</a:t>
              </a:r>
              <a:endParaRPr lang="en-US" sz="4000" spc="-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2.metric.label"/>
            <p:cNvSpPr/>
            <p:nvPr/>
          </p:nvSpPr>
          <p:spPr>
            <a:xfrm>
              <a:off x="952500" y="5221669"/>
              <a:ext cx="2971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fit 48 points, two sprints at capacity.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9" name="node03"/>
          <p:cNvGrpSpPr/>
          <p:nvPr/>
        </p:nvGrpSpPr>
        <p:grpSpPr>
          <a:xfrm>
            <a:off x="4381500" y="457200"/>
            <a:ext cx="7086600" cy="5384800"/>
            <a:chOff x="4381500" y="457200"/>
            <a:chExt cx="7086600" cy="5384800"/>
          </a:xfrm>
        </p:grpSpPr>
        <p:graphicFrame>
          <p:nvGraphicFramePr>
            <p:cNvPr id="11" name="node0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457200"/>
            <a:ext cx="7086600" cy="5384800"/>
          </p:xfrm>
          <a:graphic>
            <a:graphicData uri="http://schemas.openxmlformats.org/drawingml/2006/table">
              <a:tbl>
                <a:tblPr/>
                <a:tblGrid>
                  <a:gridCol w="533400"/>
                  <a:gridCol w="2590800"/>
                  <a:gridCol w="1447800"/>
                  <a:gridCol w="838200"/>
                  <a:gridCol w="762000"/>
                  <a:gridCol w="914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#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BACKLOG ITEM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EPIC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PRIORITY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SIZE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SPRINT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Saved cards for 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Reschedule from reminder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Open-slot filters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 at booking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Cost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pre-fill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 offers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Message threads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 setup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invite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Message attachments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Family calendar view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access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M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191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Wayfinding maps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Wayfinding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Medium"/>
                            <a:ea typeface="IBM Plex Mono Medium"/>
                            <a:cs typeface="IBM Plex Mono Medium"/>
                          </a:rPr>
                          <a:t xml:space="preserve">XL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Medium"/>
                          <a:ea typeface="IBM Plex Mono Medium"/>
                          <a:cs typeface="IBM Plex Mono Medium"/>
                        </a:endParaRPr>
                      </a:p>
                    </a:txBody>
                    <a:tcPr marL="203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2" name="node03.row.item-001.p.priority.fill"/>
            <p:cNvSpPr/>
            <p:nvPr/>
          </p:nvSpPr>
          <p:spPr>
            <a:xfrm>
              <a:off x="9118600" y="9271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3.row.item-001.p.priority"/>
            <p:cNvSpPr/>
            <p:nvPr/>
          </p:nvSpPr>
          <p:spPr>
            <a:xfrm>
              <a:off x="9220200" y="9525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3.row.item-001.s.outline"/>
            <p:cNvSpPr/>
            <p:nvPr/>
          </p:nvSpPr>
          <p:spPr>
            <a:xfrm>
              <a:off x="9944100" y="9525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3.row.item-002.p.priority.fill"/>
            <p:cNvSpPr/>
            <p:nvPr/>
          </p:nvSpPr>
          <p:spPr>
            <a:xfrm>
              <a:off x="9118600" y="13462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6" name="node03.row.item-002.p.priority"/>
            <p:cNvSpPr/>
            <p:nvPr/>
          </p:nvSpPr>
          <p:spPr>
            <a:xfrm>
              <a:off x="9220200" y="13716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3.row.item-002.s.outline"/>
            <p:cNvSpPr/>
            <p:nvPr/>
          </p:nvSpPr>
          <p:spPr>
            <a:xfrm>
              <a:off x="9944100" y="13716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8" name="node03.row.item-003.p.priority.fill"/>
            <p:cNvSpPr/>
            <p:nvPr/>
          </p:nvSpPr>
          <p:spPr>
            <a:xfrm>
              <a:off x="9118600" y="17653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3.row.item-003.p.priority"/>
            <p:cNvSpPr/>
            <p:nvPr/>
          </p:nvSpPr>
          <p:spPr>
            <a:xfrm>
              <a:off x="9220200" y="17907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3.row.item-003.s.outline"/>
            <p:cNvSpPr/>
            <p:nvPr/>
          </p:nvSpPr>
          <p:spPr>
            <a:xfrm>
              <a:off x="9944100" y="17907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3.row.item-004.p.priority.fill"/>
            <p:cNvSpPr/>
            <p:nvPr/>
          </p:nvSpPr>
          <p:spPr>
            <a:xfrm>
              <a:off x="9118600" y="21844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2" name="node03.row.item-004.p.priority"/>
            <p:cNvSpPr/>
            <p:nvPr/>
          </p:nvSpPr>
          <p:spPr>
            <a:xfrm>
              <a:off x="9220200" y="22098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3.row.item-004.s.outline"/>
            <p:cNvSpPr/>
            <p:nvPr/>
          </p:nvSpPr>
          <p:spPr>
            <a:xfrm>
              <a:off x="9944100" y="220980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4" name="node03.row.item-005.p.priority.fill"/>
            <p:cNvSpPr/>
            <p:nvPr/>
          </p:nvSpPr>
          <p:spPr>
            <a:xfrm>
              <a:off x="9118600" y="26035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3.row.item-005.p.priority"/>
            <p:cNvSpPr/>
            <p:nvPr/>
          </p:nvSpPr>
          <p:spPr>
            <a:xfrm>
              <a:off x="9220200" y="26289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3.row.item-005.s.outline"/>
            <p:cNvSpPr/>
            <p:nvPr/>
          </p:nvSpPr>
          <p:spPr>
            <a:xfrm>
              <a:off x="9944100" y="26289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7" name="node03.row.item-006.p.priority.fill"/>
            <p:cNvSpPr/>
            <p:nvPr/>
          </p:nvSpPr>
          <p:spPr>
            <a:xfrm>
              <a:off x="9118600" y="30226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3.row.item-006.p.priority"/>
            <p:cNvSpPr/>
            <p:nvPr/>
          </p:nvSpPr>
          <p:spPr>
            <a:xfrm>
              <a:off x="9220200" y="30480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3.row.item-006.s.outline"/>
            <p:cNvSpPr/>
            <p:nvPr/>
          </p:nvSpPr>
          <p:spPr>
            <a:xfrm>
              <a:off x="9944100" y="30480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0" name="node03.row.item-007.p.priority.fill"/>
            <p:cNvSpPr/>
            <p:nvPr/>
          </p:nvSpPr>
          <p:spPr>
            <a:xfrm>
              <a:off x="9118600" y="344170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1" name="node03.row.item-007.p.priority"/>
            <p:cNvSpPr/>
            <p:nvPr/>
          </p:nvSpPr>
          <p:spPr>
            <a:xfrm>
              <a:off x="9220200" y="34671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3.row.item-007.s.outline"/>
            <p:cNvSpPr/>
            <p:nvPr/>
          </p:nvSpPr>
          <p:spPr>
            <a:xfrm>
              <a:off x="9944100" y="34671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3" name="node03.row.item-008.p.priority.fill"/>
            <p:cNvSpPr/>
            <p:nvPr/>
          </p:nvSpPr>
          <p:spPr>
            <a:xfrm>
              <a:off x="9118600" y="38608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4" name="node03.row.item-008.p.priority"/>
            <p:cNvSpPr/>
            <p:nvPr/>
          </p:nvSpPr>
          <p:spPr>
            <a:xfrm>
              <a:off x="9220200" y="38862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5" name="node03.row.item-008.s.outline"/>
            <p:cNvSpPr/>
            <p:nvPr/>
          </p:nvSpPr>
          <p:spPr>
            <a:xfrm>
              <a:off x="9944100" y="38862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6" name="node03.row.item-009.p.priority.fill"/>
            <p:cNvSpPr/>
            <p:nvPr/>
          </p:nvSpPr>
          <p:spPr>
            <a:xfrm>
              <a:off x="9118600" y="42799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7" name="node03.row.item-009.p.priority"/>
            <p:cNvSpPr/>
            <p:nvPr/>
          </p:nvSpPr>
          <p:spPr>
            <a:xfrm>
              <a:off x="9220200" y="43053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3.row.item-009.s.outline"/>
            <p:cNvSpPr/>
            <p:nvPr/>
          </p:nvSpPr>
          <p:spPr>
            <a:xfrm>
              <a:off x="9944100" y="43053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9" name="node03.row.item-010.p.priority.fill"/>
            <p:cNvSpPr/>
            <p:nvPr/>
          </p:nvSpPr>
          <p:spPr>
            <a:xfrm>
              <a:off x="9118600" y="46990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0" name="node03.row.item-010.p.priority"/>
            <p:cNvSpPr/>
            <p:nvPr/>
          </p:nvSpPr>
          <p:spPr>
            <a:xfrm>
              <a:off x="9220200" y="47244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1" name="node03.row.item-010.s.outline"/>
            <p:cNvSpPr/>
            <p:nvPr/>
          </p:nvSpPr>
          <p:spPr>
            <a:xfrm>
              <a:off x="9944100" y="47244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2" name="node03.row.item-011.p.priority.fill"/>
            <p:cNvSpPr/>
            <p:nvPr/>
          </p:nvSpPr>
          <p:spPr>
            <a:xfrm>
              <a:off x="9118600" y="511810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3" name="node03.row.item-011.p.priority"/>
            <p:cNvSpPr/>
            <p:nvPr/>
          </p:nvSpPr>
          <p:spPr>
            <a:xfrm>
              <a:off x="9220200" y="51435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3.row.item-011.s.outline"/>
            <p:cNvSpPr/>
            <p:nvPr/>
          </p:nvSpPr>
          <p:spPr>
            <a:xfrm>
              <a:off x="9944100" y="5143500"/>
              <a:ext cx="193421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5" name="node03.row.item-012.p.priority.fill"/>
            <p:cNvSpPr/>
            <p:nvPr/>
          </p:nvSpPr>
          <p:spPr>
            <a:xfrm>
              <a:off x="9118600" y="553720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6" name="node03.row.item-012.p.priority"/>
            <p:cNvSpPr/>
            <p:nvPr/>
          </p:nvSpPr>
          <p:spPr>
            <a:xfrm>
              <a:off x="9220200" y="55626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03.row.item-012.s.outline"/>
            <p:cNvSpPr/>
            <p:nvPr/>
          </p:nvSpPr>
          <p:spPr>
            <a:xfrm>
              <a:off x="9944100" y="5562600"/>
              <a:ext cx="259842" cy="1397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SPRINT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Sprints 24 to 27 commit to 24 points each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9" name="node01"/>
          <p:cNvGrpSpPr/>
          <p:nvPr/>
        </p:nvGrpSpPr>
        <p:grpSpPr>
          <a:xfrm>
            <a:off x="723900" y="1600200"/>
            <a:ext cx="2514600" cy="266700"/>
            <a:chOff x="723900" y="1600200"/>
            <a:chExt cx="2514600" cy="2667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24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0" name="node02"/>
          <p:cNvGrpSpPr/>
          <p:nvPr/>
        </p:nvGrpSpPr>
        <p:grpSpPr>
          <a:xfrm>
            <a:off x="723900" y="1905000"/>
            <a:ext cx="2514600" cy="139700"/>
            <a:chOff x="723900" y="1905000"/>
            <a:chExt cx="2514600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12 TO 23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03"/>
          <p:cNvGrpSpPr/>
          <p:nvPr/>
        </p:nvGrpSpPr>
        <p:grpSpPr>
          <a:xfrm>
            <a:off x="723900" y="2286000"/>
            <a:ext cx="2514600" cy="3200400"/>
            <a:chOff x="723900" y="2286000"/>
            <a:chExt cx="2514600" cy="3200400"/>
          </a:xfrm>
        </p:grpSpPr>
        <p:sp>
          <p:nvSpPr>
            <p:cNvPr id="8" name="node03.surface"/>
            <p:cNvSpPr/>
            <p:nvPr/>
          </p:nvSpPr>
          <p:spPr>
            <a:xfrm>
              <a:off x="7239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62" name="node04"/>
          <p:cNvGrpSpPr/>
          <p:nvPr/>
        </p:nvGrpSpPr>
        <p:grpSpPr>
          <a:xfrm>
            <a:off x="723900" y="2286000"/>
            <a:ext cx="2514600" cy="457200"/>
            <a:chOff x="723900" y="2286000"/>
            <a:chExt cx="2514600" cy="457200"/>
          </a:xfrm>
        </p:grpSpPr>
        <p:sp>
          <p:nvSpPr>
            <p:cNvPr id="9" name="node04.surface"/>
            <p:cNvSpPr/>
            <p:nvPr/>
          </p:nvSpPr>
          <p:spPr>
            <a:xfrm>
              <a:off x="723900" y="2286000"/>
              <a:ext cx="25146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4.text"/>
            <p:cNvSpPr/>
            <p:nvPr/>
          </p:nvSpPr>
          <p:spPr>
            <a:xfrm>
              <a:off x="876300" y="2419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Saved cards · 4</a:t>
              </a:r>
              <a:endParaRPr lang="en-US" sz="11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5"/>
          <p:cNvGrpSpPr/>
          <p:nvPr/>
        </p:nvGrpSpPr>
        <p:grpSpPr>
          <a:xfrm>
            <a:off x="723900" y="2743200"/>
            <a:ext cx="2514600" cy="685800"/>
            <a:chOff x="723900" y="2743200"/>
            <a:chExt cx="2514600" cy="685800"/>
          </a:xfrm>
        </p:grpSpPr>
        <p:sp>
          <p:nvSpPr>
            <p:cNvPr id="11" name="node05.surface"/>
            <p:cNvSpPr/>
            <p:nvPr/>
          </p:nvSpPr>
          <p:spPr>
            <a:xfrm>
              <a:off x="730250" y="27495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2" name="node05.text"/>
            <p:cNvSpPr/>
            <p:nvPr/>
          </p:nvSpPr>
          <p:spPr>
            <a:xfrm>
              <a:off x="876300" y="29908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Reschedule link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6"/>
          <p:cNvGrpSpPr/>
          <p:nvPr/>
        </p:nvGrpSpPr>
        <p:grpSpPr>
          <a:xfrm>
            <a:off x="723900" y="3429000"/>
            <a:ext cx="2514600" cy="457200"/>
            <a:chOff x="723900" y="3429000"/>
            <a:chExt cx="2514600" cy="457200"/>
          </a:xfrm>
        </p:grpSpPr>
        <p:sp>
          <p:nvSpPr>
            <p:cNvPr id="13" name="node06.surface"/>
            <p:cNvSpPr/>
            <p:nvPr/>
          </p:nvSpPr>
          <p:spPr>
            <a:xfrm>
              <a:off x="723900" y="3429000"/>
              <a:ext cx="25146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6.text"/>
            <p:cNvSpPr/>
            <p:nvPr/>
          </p:nvSpPr>
          <p:spPr>
            <a:xfrm>
              <a:off x="876300" y="3562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Cancel, free slot · 4</a:t>
              </a:r>
              <a:endParaRPr lang="en-US" sz="11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7"/>
          <p:cNvGrpSpPr/>
          <p:nvPr/>
        </p:nvGrpSpPr>
        <p:grpSpPr>
          <a:xfrm>
            <a:off x="723900" y="3886200"/>
            <a:ext cx="2514600" cy="685800"/>
            <a:chOff x="723900" y="3886200"/>
            <a:chExt cx="2514600" cy="685800"/>
          </a:xfrm>
        </p:grpSpPr>
        <p:sp>
          <p:nvSpPr>
            <p:cNvPr id="15" name="node07.surface"/>
            <p:cNvSpPr/>
            <p:nvPr/>
          </p:nvSpPr>
          <p:spPr>
            <a:xfrm>
              <a:off x="730250" y="38925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6" name="node07.text"/>
            <p:cNvSpPr/>
            <p:nvPr/>
          </p:nvSpPr>
          <p:spPr>
            <a:xfrm>
              <a:off x="876300" y="41338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Open-slot filters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08"/>
          <p:cNvGrpSpPr/>
          <p:nvPr/>
        </p:nvGrpSpPr>
        <p:grpSpPr>
          <a:xfrm>
            <a:off x="723900" y="4572000"/>
            <a:ext cx="2514600" cy="457200"/>
            <a:chOff x="723900" y="4572000"/>
            <a:chExt cx="2514600" cy="457200"/>
          </a:xfrm>
        </p:grpSpPr>
        <p:sp>
          <p:nvSpPr>
            <p:cNvPr id="17" name="node08.surface"/>
            <p:cNvSpPr/>
            <p:nvPr/>
          </p:nvSpPr>
          <p:spPr>
            <a:xfrm>
              <a:off x="730250" y="45783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8" name="node08.text"/>
            <p:cNvSpPr/>
            <p:nvPr/>
          </p:nvSpPr>
          <p:spPr>
            <a:xfrm>
              <a:off x="876300" y="4705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Confirmation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09"/>
          <p:cNvGrpSpPr/>
          <p:nvPr/>
        </p:nvGrpSpPr>
        <p:grpSpPr>
          <a:xfrm>
            <a:off x="3467100" y="1600200"/>
            <a:ext cx="2514600" cy="266700"/>
            <a:chOff x="3467100" y="1600200"/>
            <a:chExt cx="2514600" cy="266700"/>
          </a:xfrm>
        </p:grpSpPr>
        <p:sp>
          <p:nvSpPr>
            <p:cNvPr id="19" name="node09.text"/>
            <p:cNvSpPr/>
            <p:nvPr/>
          </p:nvSpPr>
          <p:spPr>
            <a:xfrm>
              <a:off x="34671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25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10"/>
          <p:cNvGrpSpPr/>
          <p:nvPr/>
        </p:nvGrpSpPr>
        <p:grpSpPr>
          <a:xfrm>
            <a:off x="3467100" y="1905000"/>
            <a:ext cx="2514600" cy="139700"/>
            <a:chOff x="3467100" y="1905000"/>
            <a:chExt cx="2514600" cy="139700"/>
          </a:xfrm>
        </p:grpSpPr>
        <p:sp>
          <p:nvSpPr>
            <p:cNvPr id="20" name="node10.text"/>
            <p:cNvSpPr/>
            <p:nvPr/>
          </p:nvSpPr>
          <p:spPr>
            <a:xfrm>
              <a:off x="34671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OCT 26 TO NOV 6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9" name="node11"/>
          <p:cNvGrpSpPr/>
          <p:nvPr/>
        </p:nvGrpSpPr>
        <p:grpSpPr>
          <a:xfrm>
            <a:off x="3467100" y="2286000"/>
            <a:ext cx="2514600" cy="3200400"/>
            <a:chOff x="3467100" y="2286000"/>
            <a:chExt cx="2514600" cy="3200400"/>
          </a:xfrm>
        </p:grpSpPr>
        <p:sp>
          <p:nvSpPr>
            <p:cNvPr id="21" name="node11.surface"/>
            <p:cNvSpPr/>
            <p:nvPr/>
          </p:nvSpPr>
          <p:spPr>
            <a:xfrm>
              <a:off x="34671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70" name="node12"/>
          <p:cNvGrpSpPr/>
          <p:nvPr/>
        </p:nvGrpSpPr>
        <p:grpSpPr>
          <a:xfrm>
            <a:off x="3467100" y="2286000"/>
            <a:ext cx="2514600" cy="914400"/>
            <a:chOff x="3467100" y="2286000"/>
            <a:chExt cx="2514600" cy="914400"/>
          </a:xfrm>
        </p:grpSpPr>
        <p:sp>
          <p:nvSpPr>
            <p:cNvPr id="22" name="node12.surface"/>
            <p:cNvSpPr/>
            <p:nvPr/>
          </p:nvSpPr>
          <p:spPr>
            <a:xfrm>
              <a:off x="3473450" y="22923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3" name="node12.text"/>
            <p:cNvSpPr/>
            <p:nvPr/>
          </p:nvSpPr>
          <p:spPr>
            <a:xfrm>
              <a:off x="3619500" y="2647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 API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1" name="node13"/>
          <p:cNvGrpSpPr/>
          <p:nvPr/>
        </p:nvGrpSpPr>
        <p:grpSpPr>
          <a:xfrm>
            <a:off x="3467100" y="3200400"/>
            <a:ext cx="2514600" cy="914400"/>
            <a:chOff x="3467100" y="3200400"/>
            <a:chExt cx="2514600" cy="914400"/>
          </a:xfrm>
        </p:grpSpPr>
        <p:sp>
          <p:nvSpPr>
            <p:cNvPr id="24" name="node13.surface"/>
            <p:cNvSpPr/>
            <p:nvPr/>
          </p:nvSpPr>
          <p:spPr>
            <a:xfrm>
              <a:off x="3473450" y="32067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5" name="node13.text"/>
            <p:cNvSpPr/>
            <p:nvPr/>
          </p:nvSpPr>
          <p:spPr>
            <a:xfrm>
              <a:off x="3619500" y="35623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Intake pre-fill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14"/>
          <p:cNvGrpSpPr/>
          <p:nvPr/>
        </p:nvGrpSpPr>
        <p:grpSpPr>
          <a:xfrm>
            <a:off x="3467100" y="4114800"/>
            <a:ext cx="2514600" cy="228600"/>
            <a:chOff x="3467100" y="4114800"/>
            <a:chExt cx="2514600" cy="228600"/>
          </a:xfrm>
        </p:grpSpPr>
        <p:sp>
          <p:nvSpPr>
            <p:cNvPr id="26" name="node14.surface"/>
            <p:cNvSpPr/>
            <p:nvPr/>
          </p:nvSpPr>
          <p:spPr>
            <a:xfrm>
              <a:off x="3473450" y="4121150"/>
              <a:ext cx="2501900" cy="215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7" name="node14.text"/>
            <p:cNvSpPr/>
            <p:nvPr/>
          </p:nvSpPr>
          <p:spPr>
            <a:xfrm>
              <a:off x="3543300" y="41338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Calendar add · 2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15"/>
          <p:cNvGrpSpPr/>
          <p:nvPr/>
        </p:nvGrpSpPr>
        <p:grpSpPr>
          <a:xfrm>
            <a:off x="3467100" y="4343400"/>
            <a:ext cx="2514600" cy="685800"/>
            <a:chOff x="3467100" y="4343400"/>
            <a:chExt cx="2514600" cy="685800"/>
          </a:xfrm>
        </p:grpSpPr>
        <p:sp>
          <p:nvSpPr>
            <p:cNvPr id="28" name="node15.surface"/>
            <p:cNvSpPr/>
            <p:nvPr/>
          </p:nvSpPr>
          <p:spPr>
            <a:xfrm>
              <a:off x="3473450" y="43497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9" name="node15.text"/>
            <p:cNvSpPr/>
            <p:nvPr/>
          </p:nvSpPr>
          <p:spPr>
            <a:xfrm>
              <a:off x="3619500" y="45910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Waitlist offers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4" name="node16"/>
          <p:cNvGrpSpPr/>
          <p:nvPr/>
        </p:nvGrpSpPr>
        <p:grpSpPr>
          <a:xfrm>
            <a:off x="6210300" y="1600200"/>
            <a:ext cx="2514600" cy="266700"/>
            <a:chOff x="6210300" y="1600200"/>
            <a:chExt cx="2514600" cy="266700"/>
          </a:xfrm>
        </p:grpSpPr>
        <p:sp>
          <p:nvSpPr>
            <p:cNvPr id="30" name="node16.text"/>
            <p:cNvSpPr/>
            <p:nvPr/>
          </p:nvSpPr>
          <p:spPr>
            <a:xfrm>
              <a:off x="62103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26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17"/>
          <p:cNvGrpSpPr/>
          <p:nvPr/>
        </p:nvGrpSpPr>
        <p:grpSpPr>
          <a:xfrm>
            <a:off x="6210300" y="1905000"/>
            <a:ext cx="2514600" cy="139700"/>
            <a:chOff x="6210300" y="1905000"/>
            <a:chExt cx="2514600" cy="139700"/>
          </a:xfrm>
        </p:grpSpPr>
        <p:sp>
          <p:nvSpPr>
            <p:cNvPr id="31" name="node17.text"/>
            <p:cNvSpPr/>
            <p:nvPr/>
          </p:nvSpPr>
          <p:spPr>
            <a:xfrm>
              <a:off x="62103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9 TO 20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18"/>
          <p:cNvGrpSpPr/>
          <p:nvPr/>
        </p:nvGrpSpPr>
        <p:grpSpPr>
          <a:xfrm>
            <a:off x="6210300" y="2286000"/>
            <a:ext cx="2514600" cy="3200400"/>
            <a:chOff x="6210300" y="2286000"/>
            <a:chExt cx="2514600" cy="3200400"/>
          </a:xfrm>
        </p:grpSpPr>
        <p:sp>
          <p:nvSpPr>
            <p:cNvPr id="32" name="node18.surface"/>
            <p:cNvSpPr/>
            <p:nvPr/>
          </p:nvSpPr>
          <p:spPr>
            <a:xfrm>
              <a:off x="62103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77" name="node19"/>
          <p:cNvGrpSpPr/>
          <p:nvPr/>
        </p:nvGrpSpPr>
        <p:grpSpPr>
          <a:xfrm>
            <a:off x="6210300" y="2286000"/>
            <a:ext cx="2514600" cy="914400"/>
            <a:chOff x="6210300" y="2286000"/>
            <a:chExt cx="2514600" cy="914400"/>
          </a:xfrm>
        </p:grpSpPr>
        <p:sp>
          <p:nvSpPr>
            <p:cNvPr id="33" name="node19.surface"/>
            <p:cNvSpPr/>
            <p:nvPr/>
          </p:nvSpPr>
          <p:spPr>
            <a:xfrm>
              <a:off x="6216650" y="22923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4" name="node19.text"/>
            <p:cNvSpPr/>
            <p:nvPr/>
          </p:nvSpPr>
          <p:spPr>
            <a:xfrm>
              <a:off x="6362700" y="2647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 screen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20"/>
          <p:cNvGrpSpPr/>
          <p:nvPr/>
        </p:nvGrpSpPr>
        <p:grpSpPr>
          <a:xfrm>
            <a:off x="6210300" y="3200400"/>
            <a:ext cx="2514600" cy="685800"/>
            <a:chOff x="6210300" y="3200400"/>
            <a:chExt cx="2514600" cy="685800"/>
          </a:xfrm>
        </p:grpSpPr>
        <p:sp>
          <p:nvSpPr>
            <p:cNvPr id="35" name="node20.surface"/>
            <p:cNvSpPr/>
            <p:nvPr/>
          </p:nvSpPr>
          <p:spPr>
            <a:xfrm>
              <a:off x="6216650" y="32067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6" name="node20.text"/>
            <p:cNvSpPr/>
            <p:nvPr/>
          </p:nvSpPr>
          <p:spPr>
            <a:xfrm>
              <a:off x="6362700" y="34480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Message threads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21"/>
          <p:cNvGrpSpPr/>
          <p:nvPr/>
        </p:nvGrpSpPr>
        <p:grpSpPr>
          <a:xfrm>
            <a:off x="6210300" y="3886200"/>
            <a:ext cx="2514600" cy="457200"/>
            <a:chOff x="6210300" y="3886200"/>
            <a:chExt cx="2514600" cy="457200"/>
          </a:xfrm>
        </p:grpSpPr>
        <p:sp>
          <p:nvSpPr>
            <p:cNvPr id="37" name="node21.surface"/>
            <p:cNvSpPr/>
            <p:nvPr/>
          </p:nvSpPr>
          <p:spPr>
            <a:xfrm>
              <a:off x="6216650" y="38925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8" name="node21.text"/>
            <p:cNvSpPr/>
            <p:nvPr/>
          </p:nvSpPr>
          <p:spPr>
            <a:xfrm>
              <a:off x="6362700" y="40195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Prep note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22"/>
          <p:cNvGrpSpPr/>
          <p:nvPr/>
        </p:nvGrpSpPr>
        <p:grpSpPr>
          <a:xfrm>
            <a:off x="6210300" y="4343400"/>
            <a:ext cx="2514600" cy="685800"/>
            <a:chOff x="6210300" y="4343400"/>
            <a:chExt cx="2514600" cy="685800"/>
          </a:xfrm>
        </p:grpSpPr>
        <p:sp>
          <p:nvSpPr>
            <p:cNvPr id="39" name="node22.surface"/>
            <p:cNvSpPr/>
            <p:nvPr/>
          </p:nvSpPr>
          <p:spPr>
            <a:xfrm>
              <a:off x="6216650" y="43497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0" name="node22.text"/>
            <p:cNvSpPr/>
            <p:nvPr/>
          </p:nvSpPr>
          <p:spPr>
            <a:xfrm>
              <a:off x="6362700" y="45910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Bug burn-down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23"/>
          <p:cNvGrpSpPr/>
          <p:nvPr/>
        </p:nvGrpSpPr>
        <p:grpSpPr>
          <a:xfrm>
            <a:off x="8953500" y="1600200"/>
            <a:ext cx="2514600" cy="266700"/>
            <a:chOff x="8953500" y="1600200"/>
            <a:chExt cx="2514600" cy="266700"/>
          </a:xfrm>
        </p:grpSpPr>
        <p:sp>
          <p:nvSpPr>
            <p:cNvPr id="41" name="node23.text"/>
            <p:cNvSpPr/>
            <p:nvPr/>
          </p:nvSpPr>
          <p:spPr>
            <a:xfrm>
              <a:off x="8953500" y="16002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Sprint 27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2" name="node24"/>
          <p:cNvGrpSpPr/>
          <p:nvPr/>
        </p:nvGrpSpPr>
        <p:grpSpPr>
          <a:xfrm>
            <a:off x="8953500" y="1905000"/>
            <a:ext cx="2514600" cy="139700"/>
            <a:chOff x="8953500" y="1905000"/>
            <a:chExt cx="2514600" cy="139700"/>
          </a:xfrm>
        </p:grpSpPr>
        <p:sp>
          <p:nvSpPr>
            <p:cNvPr id="42" name="node24.text"/>
            <p:cNvSpPr/>
            <p:nvPr/>
          </p:nvSpPr>
          <p:spPr>
            <a:xfrm>
              <a:off x="8953500" y="19050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NOV 30 TO DEC 11 · CAPACITY 28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3" name="node25"/>
          <p:cNvGrpSpPr/>
          <p:nvPr/>
        </p:nvGrpSpPr>
        <p:grpSpPr>
          <a:xfrm>
            <a:off x="8953500" y="2286000"/>
            <a:ext cx="2514600" cy="3200400"/>
            <a:chOff x="8953500" y="2286000"/>
            <a:chExt cx="2514600" cy="3200400"/>
          </a:xfrm>
        </p:grpSpPr>
        <p:sp>
          <p:nvSpPr>
            <p:cNvPr id="43" name="node25.surface"/>
            <p:cNvSpPr/>
            <p:nvPr/>
          </p:nvSpPr>
          <p:spPr>
            <a:xfrm>
              <a:off x="8953500" y="2286000"/>
              <a:ext cx="2514600" cy="3200400"/>
            </a:xfrm>
            <a:prstGeom prst="rect">
              <a:avLst/>
            </a:prstGeom>
            <a:ln w="12700">
              <a:solidFill>
                <a:srgbClr val="50658E"/>
              </a:solidFill>
              <a:prstDash val="dash"/>
            </a:ln>
          </p:spPr>
        </p:sp>
      </p:grpSp>
      <p:grpSp>
        <p:nvGrpSpPr>
          <p:cNvPr id="84" name="node26"/>
          <p:cNvGrpSpPr/>
          <p:nvPr/>
        </p:nvGrpSpPr>
        <p:grpSpPr>
          <a:xfrm>
            <a:off x="8953500" y="2286000"/>
            <a:ext cx="2514600" cy="914400"/>
            <a:chOff x="8953500" y="2286000"/>
            <a:chExt cx="2514600" cy="914400"/>
          </a:xfrm>
        </p:grpSpPr>
        <p:sp>
          <p:nvSpPr>
            <p:cNvPr id="44" name="node26.surface"/>
            <p:cNvSpPr/>
            <p:nvPr/>
          </p:nvSpPr>
          <p:spPr>
            <a:xfrm>
              <a:off x="8959850" y="2292350"/>
              <a:ext cx="2501900" cy="9017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5" name="node26.text"/>
            <p:cNvSpPr/>
            <p:nvPr/>
          </p:nvSpPr>
          <p:spPr>
            <a:xfrm>
              <a:off x="9105900" y="2647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Payment plan setup · 8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27"/>
          <p:cNvGrpSpPr/>
          <p:nvPr/>
        </p:nvGrpSpPr>
        <p:grpSpPr>
          <a:xfrm>
            <a:off x="8953500" y="3200400"/>
            <a:ext cx="2514600" cy="457200"/>
            <a:chOff x="8953500" y="3200400"/>
            <a:chExt cx="2514600" cy="457200"/>
          </a:xfrm>
        </p:grpSpPr>
        <p:sp>
          <p:nvSpPr>
            <p:cNvPr id="46" name="node27.surface"/>
            <p:cNvSpPr/>
            <p:nvPr/>
          </p:nvSpPr>
          <p:spPr>
            <a:xfrm>
              <a:off x="8959850" y="32067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7" name="node27.text"/>
            <p:cNvSpPr/>
            <p:nvPr/>
          </p:nvSpPr>
          <p:spPr>
            <a:xfrm>
              <a:off x="9105900" y="33337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Proxy invites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28"/>
          <p:cNvGrpSpPr/>
          <p:nvPr/>
        </p:nvGrpSpPr>
        <p:grpSpPr>
          <a:xfrm>
            <a:off x="8953500" y="3657600"/>
            <a:ext cx="2514600" cy="457200"/>
            <a:chOff x="8953500" y="3657600"/>
            <a:chExt cx="2514600" cy="457200"/>
          </a:xfrm>
        </p:grpSpPr>
        <p:sp>
          <p:nvSpPr>
            <p:cNvPr id="48" name="node28.surface"/>
            <p:cNvSpPr/>
            <p:nvPr/>
          </p:nvSpPr>
          <p:spPr>
            <a:xfrm>
              <a:off x="8959850" y="3663950"/>
              <a:ext cx="2501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9" name="node28.text"/>
            <p:cNvSpPr/>
            <p:nvPr/>
          </p:nvSpPr>
          <p:spPr>
            <a:xfrm>
              <a:off x="9105900" y="37909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Attachments · 4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29"/>
          <p:cNvGrpSpPr/>
          <p:nvPr/>
        </p:nvGrpSpPr>
        <p:grpSpPr>
          <a:xfrm>
            <a:off x="8953500" y="4114800"/>
            <a:ext cx="2514600" cy="685800"/>
            <a:chOff x="8953500" y="4114800"/>
            <a:chExt cx="2514600" cy="685800"/>
          </a:xfrm>
        </p:grpSpPr>
        <p:sp>
          <p:nvSpPr>
            <p:cNvPr id="50" name="node29.surface"/>
            <p:cNvSpPr/>
            <p:nvPr/>
          </p:nvSpPr>
          <p:spPr>
            <a:xfrm>
              <a:off x="8959850" y="4121150"/>
              <a:ext cx="2501900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51" name="node29.text"/>
            <p:cNvSpPr/>
            <p:nvPr/>
          </p:nvSpPr>
          <p:spPr>
            <a:xfrm>
              <a:off x="9105900" y="4362450"/>
              <a:ext cx="2209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Hardening · 6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30"/>
          <p:cNvGrpSpPr/>
          <p:nvPr/>
        </p:nvGrpSpPr>
        <p:grpSpPr>
          <a:xfrm>
            <a:off x="723900" y="4914900"/>
            <a:ext cx="10744200" cy="228600"/>
            <a:chOff x="723900" y="4914900"/>
            <a:chExt cx="10744200" cy="228600"/>
          </a:xfrm>
        </p:grpSpPr>
        <p:sp>
          <p:nvSpPr>
            <p:cNvPr id="52" name="node30.segment-1"/>
            <p:cNvSpPr/>
            <p:nvPr/>
          </p:nvSpPr>
          <p:spPr>
            <a:xfrm>
              <a:off x="723900" y="502920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dash"/>
            </a:ln>
          </p:spPr>
        </p:sp>
        <p:sp>
          <p:nvSpPr>
            <p:cNvPr id="53" name="node30.label-patch"/>
            <p:cNvSpPr/>
            <p:nvPr/>
          </p:nvSpPr>
          <p:spPr>
            <a:xfrm>
              <a:off x="5455224" y="4914900"/>
              <a:ext cx="1281553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30.label"/>
            <p:cNvSpPr/>
            <p:nvPr/>
          </p:nvSpPr>
          <p:spPr>
            <a:xfrm>
              <a:off x="5493324" y="4953000"/>
              <a:ext cx="1205353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COMMITMENT 24 PTS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9" name="node31"/>
          <p:cNvGrpSpPr/>
          <p:nvPr/>
        </p:nvGrpSpPr>
        <p:grpSpPr>
          <a:xfrm>
            <a:off x="723900" y="5715000"/>
            <a:ext cx="228600" cy="228600"/>
            <a:chOff x="723900" y="5715000"/>
            <a:chExt cx="228600" cy="228600"/>
          </a:xfrm>
        </p:grpSpPr>
        <p:sp>
          <p:nvSpPr>
            <p:cNvPr id="55" name="node31.surface"/>
            <p:cNvSpPr/>
            <p:nvPr/>
          </p:nvSpPr>
          <p:spPr>
            <a:xfrm>
              <a:off x="723900" y="5715000"/>
              <a:ext cx="228600" cy="228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90" name="node32"/>
          <p:cNvGrpSpPr/>
          <p:nvPr/>
        </p:nvGrpSpPr>
        <p:grpSpPr>
          <a:xfrm>
            <a:off x="1066800" y="5715000"/>
            <a:ext cx="2514600" cy="190500"/>
            <a:chOff x="1066800" y="5715000"/>
            <a:chExt cx="2514600" cy="190500"/>
          </a:xfrm>
        </p:grpSpPr>
        <p:sp>
          <p:nvSpPr>
            <p:cNvPr id="56" name="node32.text"/>
            <p:cNvSpPr/>
            <p:nvPr/>
          </p:nvSpPr>
          <p:spPr>
            <a:xfrm>
              <a:off x="1066800" y="5715000"/>
              <a:ext cx="2514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Carryover from Sprint 23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33"/>
          <p:cNvGrpSpPr/>
          <p:nvPr/>
        </p:nvGrpSpPr>
        <p:grpSpPr>
          <a:xfrm>
            <a:off x="3924300" y="5715000"/>
            <a:ext cx="228600" cy="228600"/>
            <a:chOff x="3924300" y="5715000"/>
            <a:chExt cx="228600" cy="228600"/>
          </a:xfrm>
        </p:grpSpPr>
        <p:sp>
          <p:nvSpPr>
            <p:cNvPr id="57" name="node33.surface"/>
            <p:cNvSpPr/>
            <p:nvPr/>
          </p:nvSpPr>
          <p:spPr>
            <a:xfrm>
              <a:off x="3930650" y="5721350"/>
              <a:ext cx="215900" cy="215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92" name="node34"/>
          <p:cNvGrpSpPr/>
          <p:nvPr/>
        </p:nvGrpSpPr>
        <p:grpSpPr>
          <a:xfrm>
            <a:off x="4267200" y="5715000"/>
            <a:ext cx="3810000" cy="190500"/>
            <a:chOff x="4267200" y="5715000"/>
            <a:chExt cx="3810000" cy="190500"/>
          </a:xfrm>
        </p:grpSpPr>
        <p:sp>
          <p:nvSpPr>
            <p:cNvPr id="58" name="node34.text"/>
            <p:cNvSpPr/>
            <p:nvPr/>
          </p:nvSpPr>
          <p:spPr>
            <a:xfrm>
              <a:off x="4267200" y="5715000"/>
              <a:ext cx="3810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Planned story, points shown after the name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STORY NFHS-214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Reschedule from a text reminder in under a minute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7" name="node01"/>
          <p:cNvGrpSpPr/>
          <p:nvPr/>
        </p:nvGrpSpPr>
        <p:grpSpPr>
          <a:xfrm>
            <a:off x="723900" y="1600200"/>
            <a:ext cx="7086600" cy="1143000"/>
            <a:chOff x="723900" y="1600200"/>
            <a:chExt cx="7086600" cy="1143000"/>
          </a:xfrm>
        </p:grpSpPr>
        <p:sp>
          <p:nvSpPr>
            <p:cNvPr id="7" name="node01.container"/>
            <p:cNvSpPr/>
            <p:nvPr/>
          </p:nvSpPr>
          <p:spPr>
            <a:xfrm>
              <a:off x="723900" y="1600200"/>
              <a:ext cx="70866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" name="node01.label"/>
            <p:cNvSpPr/>
            <p:nvPr/>
          </p:nvSpPr>
          <p:spPr>
            <a:xfrm>
              <a:off x="952500" y="1828800"/>
              <a:ext cx="66294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USER STORY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1.title"/>
            <p:cNvSpPr/>
            <p:nvPr/>
          </p:nvSpPr>
          <p:spPr>
            <a:xfrm>
              <a:off x="952500" y="2032000"/>
              <a:ext cx="662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As a patient, I want to move a visit from the reminder text, so that I keep my care without calling.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8" name="node02"/>
          <p:cNvGrpSpPr/>
          <p:nvPr/>
        </p:nvGrpSpPr>
        <p:grpSpPr>
          <a:xfrm>
            <a:off x="723900" y="2971800"/>
            <a:ext cx="7086600" cy="228600"/>
            <a:chOff x="723900" y="2971800"/>
            <a:chExt cx="7086600" cy="228600"/>
          </a:xfrm>
        </p:grpSpPr>
        <p:sp>
          <p:nvSpPr>
            <p:cNvPr id="10" name="node02.label"/>
            <p:cNvSpPr/>
            <p:nvPr/>
          </p:nvSpPr>
          <p:spPr>
            <a:xfrm>
              <a:off x="723900" y="2971800"/>
              <a:ext cx="12873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ACCEPTANCE CRITERIA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1" name="node02.rule"/>
            <p:cNvSpPr/>
            <p:nvPr/>
          </p:nvSpPr>
          <p:spPr>
            <a:xfrm>
              <a:off x="2138294" y="3081338"/>
              <a:ext cx="56722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aphicFrame>
        <p:nvGraphicFramePr>
          <p:cNvPr id="12" name="node03.nativ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3200400"/>
          <a:ext cx="7086600" cy="1955800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2362200"/>
              </a:tblGrid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GIVEN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WHEN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THEN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</a:tr>
              <a:tr h="5334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A reminder text 48 hours out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I tap the link and sign in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My visit opens with a Reschedule action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Open slots with the same provider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I choose a new slot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The old slot is freed and I get a confirmation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No open slots in 14 days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I tap Reschedule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I am offered the waitlist or a call-back</a:t>
                      </a:r>
                      <a:endParaRPr lang="en-US" sz="8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9" name="node04"/>
          <p:cNvGrpSpPr/>
          <p:nvPr/>
        </p:nvGrpSpPr>
        <p:grpSpPr>
          <a:xfrm>
            <a:off x="723900" y="5257800"/>
            <a:ext cx="7086600" cy="457200"/>
            <a:chOff x="723900" y="5257800"/>
            <a:chExt cx="7086600" cy="457200"/>
          </a:xfrm>
        </p:grpSpPr>
        <p:sp>
          <p:nvSpPr>
            <p:cNvPr id="13" name="node04.surface"/>
            <p:cNvSpPr/>
            <p:nvPr/>
          </p:nvSpPr>
          <p:spPr>
            <a:xfrm>
              <a:off x="730250" y="5264150"/>
              <a:ext cx="7073900" cy="444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4" name="node04.text"/>
            <p:cNvSpPr/>
            <p:nvPr/>
          </p:nvSpPr>
          <p:spPr>
            <a:xfrm>
              <a:off x="876300" y="5391150"/>
              <a:ext cx="678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Designs: Figma link placeholder, reschedule flow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0" name="node05"/>
          <p:cNvGrpSpPr/>
          <p:nvPr/>
        </p:nvGrpSpPr>
        <p:grpSpPr>
          <a:xfrm>
            <a:off x="8039100" y="1600200"/>
            <a:ext cx="3429000" cy="674688"/>
            <a:chOff x="8039100" y="1600200"/>
            <a:chExt cx="3429000" cy="674688"/>
          </a:xfrm>
        </p:grpSpPr>
        <p:sp>
          <p:nvSpPr>
            <p:cNvPr id="15" name="node05.value"/>
            <p:cNvSpPr/>
            <p:nvPr/>
          </p:nvSpPr>
          <p:spPr>
            <a:xfrm>
              <a:off x="8039100" y="1600200"/>
              <a:ext cx="3429000" cy="407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00"/>
                </a:lnSpc>
                <a:buNone/>
              </a:pPr>
              <a:r>
                <a:rPr lang="en-US" sz="3200" spc="-6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5 pts</a:t>
              </a:r>
              <a:endParaRPr lang="en-US" sz="3200" spc="-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5.label"/>
            <p:cNvSpPr/>
            <p:nvPr/>
          </p:nvSpPr>
          <p:spPr>
            <a:xfrm>
              <a:off x="8039100" y="2084388"/>
              <a:ext cx="342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estimate, planned for Sprint 25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1" name="node06"/>
          <p:cNvGrpSpPr/>
          <p:nvPr/>
        </p:nvGrpSpPr>
        <p:grpSpPr>
          <a:xfrm>
            <a:off x="8039100" y="2514600"/>
            <a:ext cx="3429000" cy="1879600"/>
            <a:chOff x="8039100" y="2514600"/>
            <a:chExt cx="3429000" cy="1879600"/>
          </a:xfrm>
        </p:grpSpPr>
        <p:graphicFrame>
          <p:nvGraphicFramePr>
            <p:cNvPr id="17" name="node06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2514600"/>
            <a:ext cx="3429000" cy="1879600"/>
          </p:xfrm>
          <a:graphic>
            <a:graphicData uri="http://schemas.openxmlformats.org/drawingml/2006/table">
              <a:tbl>
                <a:tblPr/>
                <a:tblGrid>
                  <a:gridCol w="685800"/>
                  <a:gridCol w="2743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DONE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DEFINITION OF DONE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Code reviewed and merged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Unit and UI tests pass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Accessibility check passed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Product owner accepted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8" name="node06.row.item-001.d.checkbox"/>
            <p:cNvSpPr/>
            <p:nvPr/>
          </p:nvSpPr>
          <p:spPr>
            <a:xfrm>
              <a:off x="8312150" y="2990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6.row.item-001.d.tick"/>
            <p:cNvSpPr/>
            <p:nvPr/>
          </p:nvSpPr>
          <p:spPr>
            <a:xfrm>
              <a:off x="8305800" y="2984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070154"/>
              </a:solidFill>
              <a:prstDash val="solid"/>
            </a:ln>
          </p:spPr>
        </p:sp>
        <p:sp>
          <p:nvSpPr>
            <p:cNvPr id="20" name="node06.row.item-002.d.checkbox"/>
            <p:cNvSpPr/>
            <p:nvPr/>
          </p:nvSpPr>
          <p:spPr>
            <a:xfrm>
              <a:off x="8312150" y="3371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6.row.item-002.d.tick"/>
            <p:cNvSpPr/>
            <p:nvPr/>
          </p:nvSpPr>
          <p:spPr>
            <a:xfrm>
              <a:off x="8305800" y="3365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070154"/>
              </a:solidFill>
              <a:prstDash val="solid"/>
            </a:ln>
          </p:spPr>
        </p:sp>
        <p:sp>
          <p:nvSpPr>
            <p:cNvPr id="22" name="node06.row.item-003.d.checkbox"/>
            <p:cNvSpPr/>
            <p:nvPr/>
          </p:nvSpPr>
          <p:spPr>
            <a:xfrm>
              <a:off x="8312150" y="3752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6.row.item-004.d.checkbox"/>
            <p:cNvSpPr/>
            <p:nvPr/>
          </p:nvSpPr>
          <p:spPr>
            <a:xfrm>
              <a:off x="8312150" y="4133850"/>
              <a:ext cx="139700" cy="139700"/>
            </a:xfrm>
            <a:prstGeom prst="rect">
              <a:avLst/>
            </a:pr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32" name="node07"/>
          <p:cNvGrpSpPr/>
          <p:nvPr/>
        </p:nvGrpSpPr>
        <p:grpSpPr>
          <a:xfrm>
            <a:off x="8039100" y="4648200"/>
            <a:ext cx="3429000" cy="228600"/>
            <a:chOff x="8039100" y="4648200"/>
            <a:chExt cx="3429000" cy="228600"/>
          </a:xfrm>
        </p:grpSpPr>
        <p:sp>
          <p:nvSpPr>
            <p:cNvPr id="24" name="node07.label"/>
            <p:cNvSpPr/>
            <p:nvPr/>
          </p:nvSpPr>
          <p:spPr>
            <a:xfrm>
              <a:off x="8039100" y="4648200"/>
              <a:ext cx="6896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DEPENDS 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5" name="node07.rule"/>
            <p:cNvSpPr/>
            <p:nvPr/>
          </p:nvSpPr>
          <p:spPr>
            <a:xfrm>
              <a:off x="8855708" y="4757738"/>
              <a:ext cx="261239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6" name="node08"/>
          <p:cNvSpPr/>
          <p:nvPr/>
        </p:nvSpPr>
        <p:spPr>
          <a:xfrm>
            <a:off x="8039100" y="4953000"/>
            <a:ext cx="342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39700" indent="-139700">
              <a:lnSpc>
                <a:spcPts val="1500"/>
              </a:lnSpc>
              <a:spcBef>
                <a:spcPts val="0"/>
              </a:spcBef>
              <a:spcAft>
                <a:spcPts val="2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NFHS-198 slot search API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39700" indent="-139700">
              <a:lnSpc>
                <a:spcPts val="1500"/>
              </a:lnSpc>
              <a:spcBef>
                <a:spcPts val="0"/>
              </a:spcBef>
              <a:spcAft>
                <a:spcPts val="2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Text reminder deep links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PRIORITIZATION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quick wins come first; wayfinding waits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8" name="node01"/>
          <p:cNvGrpSpPr/>
          <p:nvPr/>
        </p:nvGrpSpPr>
        <p:grpSpPr>
          <a:xfrm>
            <a:off x="723900" y="1600200"/>
            <a:ext cx="4572000" cy="3860800"/>
            <a:chOff x="723900" y="1600200"/>
            <a:chExt cx="4572000" cy="3860800"/>
          </a:xfrm>
        </p:grpSpPr>
        <p:sp>
          <p:nvSpPr>
            <p:cNvPr id="7" name="node01.title"/>
            <p:cNvSpPr/>
            <p:nvPr/>
          </p:nvSpPr>
          <p:spPr>
            <a:xfrm>
              <a:off x="723900" y="1600200"/>
              <a:ext cx="4572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Value and effort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quadrant.tl"/>
            <p:cNvSpPr/>
            <p:nvPr/>
          </p:nvSpPr>
          <p:spPr>
            <a:xfrm>
              <a:off x="1028700" y="1905000"/>
              <a:ext cx="1676400" cy="1676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" name="node01.name.tl"/>
            <p:cNvSpPr/>
            <p:nvPr/>
          </p:nvSpPr>
          <p:spPr>
            <a:xfrm>
              <a:off x="1143000" y="19812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QUICK WINS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tag-bg.tl"/>
            <p:cNvSpPr/>
            <p:nvPr/>
          </p:nvSpPr>
          <p:spPr>
            <a:xfrm>
              <a:off x="1143000" y="2209800"/>
              <a:ext cx="759470" cy="203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1" name="node01.tag.tl"/>
            <p:cNvSpPr/>
            <p:nvPr/>
          </p:nvSpPr>
          <p:spPr>
            <a:xfrm>
              <a:off x="1219200" y="2222500"/>
              <a:ext cx="60707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50" spc="6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DO FIRST</a:t>
              </a:r>
              <a:endParaRPr lang="en-US" sz="850" spc="6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quadrant.tr"/>
            <p:cNvSpPr/>
            <p:nvPr/>
          </p:nvSpPr>
          <p:spPr>
            <a:xfrm>
              <a:off x="2705100" y="1905000"/>
              <a:ext cx="1676400" cy="16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node01.name.tr"/>
            <p:cNvSpPr/>
            <p:nvPr/>
          </p:nvSpPr>
          <p:spPr>
            <a:xfrm>
              <a:off x="2819400" y="19812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BIG BETS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quadrant.bl"/>
            <p:cNvSpPr/>
            <p:nvPr/>
          </p:nvSpPr>
          <p:spPr>
            <a:xfrm>
              <a:off x="1028700" y="3581400"/>
              <a:ext cx="1676400" cy="16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node01.name.bl"/>
            <p:cNvSpPr/>
            <p:nvPr/>
          </p:nvSpPr>
          <p:spPr>
            <a:xfrm>
              <a:off x="1143000" y="49530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FILL-INS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quadrant.br"/>
            <p:cNvSpPr/>
            <p:nvPr/>
          </p:nvSpPr>
          <p:spPr>
            <a:xfrm>
              <a:off x="2705100" y="3581400"/>
              <a:ext cx="1676400" cy="16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node01.hatch.br.000"/>
            <p:cNvSpPr/>
            <p:nvPr/>
          </p:nvSpPr>
          <p:spPr>
            <a:xfrm>
              <a:off x="2705100" y="5257800"/>
              <a:ext cx="127" cy="127"/>
            </a:xfrm>
            <a:custGeom>
              <a:avLst/>
              <a:gdLst/>
              <a:ahLst/>
              <a:cxnLst/>
              <a:rect l="l" t="t" r="r" b="b"/>
              <a:pathLst>
                <a:path w="127" h="127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18" name="node01.hatch.br.001"/>
            <p:cNvSpPr/>
            <p:nvPr/>
          </p:nvSpPr>
          <p:spPr>
            <a:xfrm>
              <a:off x="2705100" y="5181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19" name="node01.hatch.br.002"/>
            <p:cNvSpPr/>
            <p:nvPr/>
          </p:nvSpPr>
          <p:spPr>
            <a:xfrm>
              <a:off x="270510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0" name="node01.hatch.br.003"/>
            <p:cNvSpPr/>
            <p:nvPr/>
          </p:nvSpPr>
          <p:spPr>
            <a:xfrm>
              <a:off x="2705100" y="5029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1" name="node01.hatch.br.004"/>
            <p:cNvSpPr/>
            <p:nvPr/>
          </p:nvSpPr>
          <p:spPr>
            <a:xfrm>
              <a:off x="27051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2" name="node01.hatch.br.005"/>
            <p:cNvSpPr/>
            <p:nvPr/>
          </p:nvSpPr>
          <p:spPr>
            <a:xfrm>
              <a:off x="2705100" y="48768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381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3" name="node01.hatch.br.006"/>
            <p:cNvSpPr/>
            <p:nvPr/>
          </p:nvSpPr>
          <p:spPr>
            <a:xfrm>
              <a:off x="2705100" y="4800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457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4" name="node01.hatch.br.007"/>
            <p:cNvSpPr/>
            <p:nvPr/>
          </p:nvSpPr>
          <p:spPr>
            <a:xfrm>
              <a:off x="2705100" y="47244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5" name="node01.hatch.br.008"/>
            <p:cNvSpPr/>
            <p:nvPr/>
          </p:nvSpPr>
          <p:spPr>
            <a:xfrm>
              <a:off x="2705100" y="4648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609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6" name="node01.hatch.br.009"/>
            <p:cNvSpPr/>
            <p:nvPr/>
          </p:nvSpPr>
          <p:spPr>
            <a:xfrm>
              <a:off x="2705100" y="45720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685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7" name="node01.hatch.br.010"/>
            <p:cNvSpPr/>
            <p:nvPr/>
          </p:nvSpPr>
          <p:spPr>
            <a:xfrm>
              <a:off x="2705100" y="44958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8" name="node01.hatch.br.011"/>
            <p:cNvSpPr/>
            <p:nvPr/>
          </p:nvSpPr>
          <p:spPr>
            <a:xfrm>
              <a:off x="2705100" y="441960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838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29" name="node01.hatch.br.012"/>
            <p:cNvSpPr/>
            <p:nvPr/>
          </p:nvSpPr>
          <p:spPr>
            <a:xfrm>
              <a:off x="2705100" y="43434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0" name="node01.hatch.br.013"/>
            <p:cNvSpPr/>
            <p:nvPr/>
          </p:nvSpPr>
          <p:spPr>
            <a:xfrm>
              <a:off x="2705100" y="426720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990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1" name="node01.hatch.br.014"/>
            <p:cNvSpPr/>
            <p:nvPr/>
          </p:nvSpPr>
          <p:spPr>
            <a:xfrm>
              <a:off x="2705100" y="41910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1066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2" name="node01.hatch.br.015"/>
            <p:cNvSpPr/>
            <p:nvPr/>
          </p:nvSpPr>
          <p:spPr>
            <a:xfrm>
              <a:off x="2705100" y="41148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1143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3" name="node01.hatch.br.016"/>
            <p:cNvSpPr/>
            <p:nvPr/>
          </p:nvSpPr>
          <p:spPr>
            <a:xfrm>
              <a:off x="2705100" y="403860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1219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4" name="node01.hatch.br.017"/>
            <p:cNvSpPr/>
            <p:nvPr/>
          </p:nvSpPr>
          <p:spPr>
            <a:xfrm>
              <a:off x="2705100" y="396240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0"/>
                  </a:moveTo>
                  <a:lnTo>
                    <a:pt x="1295400" y="1295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5" name="node01.hatch.br.018"/>
            <p:cNvSpPr/>
            <p:nvPr/>
          </p:nvSpPr>
          <p:spPr>
            <a:xfrm>
              <a:off x="2705100" y="38862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1371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6" name="node01.hatch.br.019"/>
            <p:cNvSpPr/>
            <p:nvPr/>
          </p:nvSpPr>
          <p:spPr>
            <a:xfrm>
              <a:off x="2705100" y="381000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0"/>
                  </a:moveTo>
                  <a:lnTo>
                    <a:pt x="1447800" y="1447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7" name="node01.hatch.br.020"/>
            <p:cNvSpPr/>
            <p:nvPr/>
          </p:nvSpPr>
          <p:spPr>
            <a:xfrm>
              <a:off x="2705100" y="37338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1524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8" name="node01.hatch.br.021"/>
            <p:cNvSpPr/>
            <p:nvPr/>
          </p:nvSpPr>
          <p:spPr>
            <a:xfrm>
              <a:off x="2705100" y="365760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0" y="0"/>
                  </a:moveTo>
                  <a:lnTo>
                    <a:pt x="1600200" y="1600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39" name="node01.hatch.br.022"/>
            <p:cNvSpPr/>
            <p:nvPr/>
          </p:nvSpPr>
          <p:spPr>
            <a:xfrm>
              <a:off x="2705100" y="3581400"/>
              <a:ext cx="1676400" cy="1676400"/>
            </a:xfrm>
            <a:custGeom>
              <a:avLst/>
              <a:gdLst/>
              <a:ahLst/>
              <a:cxnLst/>
              <a:rect l="l" t="t" r="r" b="b"/>
              <a:pathLst>
                <a:path w="1676400" h="1676400">
                  <a:moveTo>
                    <a:pt x="0" y="0"/>
                  </a:moveTo>
                  <a:lnTo>
                    <a:pt x="1676400" y="1676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0" name="node01.hatch.br.023"/>
            <p:cNvSpPr/>
            <p:nvPr/>
          </p:nvSpPr>
          <p:spPr>
            <a:xfrm>
              <a:off x="2781300" y="358140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0" y="0"/>
                  </a:moveTo>
                  <a:lnTo>
                    <a:pt x="1600200" y="1600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1" name="node01.hatch.br.024"/>
            <p:cNvSpPr/>
            <p:nvPr/>
          </p:nvSpPr>
          <p:spPr>
            <a:xfrm>
              <a:off x="2857500" y="35814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1524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2" name="node01.hatch.br.025"/>
            <p:cNvSpPr/>
            <p:nvPr/>
          </p:nvSpPr>
          <p:spPr>
            <a:xfrm>
              <a:off x="2933700" y="358140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0"/>
                  </a:moveTo>
                  <a:lnTo>
                    <a:pt x="1447800" y="1447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3" name="node01.hatch.br.026"/>
            <p:cNvSpPr/>
            <p:nvPr/>
          </p:nvSpPr>
          <p:spPr>
            <a:xfrm>
              <a:off x="3009900" y="35814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1371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4" name="node01.hatch.br.027"/>
            <p:cNvSpPr/>
            <p:nvPr/>
          </p:nvSpPr>
          <p:spPr>
            <a:xfrm>
              <a:off x="3086100" y="358140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0"/>
                  </a:moveTo>
                  <a:lnTo>
                    <a:pt x="1295400" y="1295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5" name="node01.hatch.br.028"/>
            <p:cNvSpPr/>
            <p:nvPr/>
          </p:nvSpPr>
          <p:spPr>
            <a:xfrm>
              <a:off x="3162300" y="358140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1219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6" name="node01.hatch.br.029"/>
            <p:cNvSpPr/>
            <p:nvPr/>
          </p:nvSpPr>
          <p:spPr>
            <a:xfrm>
              <a:off x="3238500" y="35814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1143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7" name="node01.hatch.br.030"/>
            <p:cNvSpPr/>
            <p:nvPr/>
          </p:nvSpPr>
          <p:spPr>
            <a:xfrm>
              <a:off x="3314700" y="35814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1066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8" name="node01.hatch.br.031"/>
            <p:cNvSpPr/>
            <p:nvPr/>
          </p:nvSpPr>
          <p:spPr>
            <a:xfrm>
              <a:off x="3390900" y="358140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990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49" name="node01.hatch.br.032"/>
            <p:cNvSpPr/>
            <p:nvPr/>
          </p:nvSpPr>
          <p:spPr>
            <a:xfrm>
              <a:off x="3467100" y="35814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0" name="node01.hatch.br.033"/>
            <p:cNvSpPr/>
            <p:nvPr/>
          </p:nvSpPr>
          <p:spPr>
            <a:xfrm>
              <a:off x="3543300" y="358140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838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1" name="node01.hatch.br.034"/>
            <p:cNvSpPr/>
            <p:nvPr/>
          </p:nvSpPr>
          <p:spPr>
            <a:xfrm>
              <a:off x="3619500" y="35814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2" name="node01.hatch.br.035"/>
            <p:cNvSpPr/>
            <p:nvPr/>
          </p:nvSpPr>
          <p:spPr>
            <a:xfrm>
              <a:off x="3695700" y="35814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685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3" name="node01.hatch.br.036"/>
            <p:cNvSpPr/>
            <p:nvPr/>
          </p:nvSpPr>
          <p:spPr>
            <a:xfrm>
              <a:off x="3771900" y="35814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609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4" name="node01.hatch.br.037"/>
            <p:cNvSpPr/>
            <p:nvPr/>
          </p:nvSpPr>
          <p:spPr>
            <a:xfrm>
              <a:off x="3848100" y="35814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5" name="node01.hatch.br.038"/>
            <p:cNvSpPr/>
            <p:nvPr/>
          </p:nvSpPr>
          <p:spPr>
            <a:xfrm>
              <a:off x="3924300" y="3581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457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6" name="node01.hatch.br.039"/>
            <p:cNvSpPr/>
            <p:nvPr/>
          </p:nvSpPr>
          <p:spPr>
            <a:xfrm>
              <a:off x="4000500" y="3581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381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7" name="node01.hatch.br.040"/>
            <p:cNvSpPr/>
            <p:nvPr/>
          </p:nvSpPr>
          <p:spPr>
            <a:xfrm>
              <a:off x="40767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8" name="node01.hatch.br.041"/>
            <p:cNvSpPr/>
            <p:nvPr/>
          </p:nvSpPr>
          <p:spPr>
            <a:xfrm>
              <a:off x="4152900" y="3581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59" name="node01.hatch.br.042"/>
            <p:cNvSpPr/>
            <p:nvPr/>
          </p:nvSpPr>
          <p:spPr>
            <a:xfrm>
              <a:off x="4229100" y="3581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60" name="node01.hatch.br.043"/>
            <p:cNvSpPr/>
            <p:nvPr/>
          </p:nvSpPr>
          <p:spPr>
            <a:xfrm>
              <a:off x="4305300" y="3581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61" name="node01.name.br"/>
            <p:cNvSpPr/>
            <p:nvPr/>
          </p:nvSpPr>
          <p:spPr>
            <a:xfrm>
              <a:off x="2819400" y="4953000"/>
              <a:ext cx="1447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MONEY PITS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1.tag-bg.br"/>
            <p:cNvSpPr/>
            <p:nvPr/>
          </p:nvSpPr>
          <p:spPr>
            <a:xfrm>
              <a:off x="3725856" y="4724400"/>
              <a:ext cx="541344" cy="203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01.tag.br"/>
            <p:cNvSpPr/>
            <p:nvPr/>
          </p:nvSpPr>
          <p:spPr>
            <a:xfrm>
              <a:off x="3802056" y="4737100"/>
              <a:ext cx="388944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50" spc="6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AVOID</a:t>
              </a:r>
              <a:endParaRPr lang="en-US" sz="850" spc="6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4" name="node01.axis-1"/>
            <p:cNvSpPr/>
            <p:nvPr/>
          </p:nvSpPr>
          <p:spPr>
            <a:xfrm>
              <a:off x="1028700" y="1905000"/>
              <a:ext cx="3352800" cy="3352800"/>
            </a:xfrm>
            <a:custGeom>
              <a:avLst/>
              <a:gdLst/>
              <a:ahLst/>
              <a:cxnLst/>
              <a:rect l="l" t="t" r="r" b="b"/>
              <a:pathLst>
                <a:path w="3352800" h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5" name="node01.axis-2"/>
            <p:cNvSpPr/>
            <p:nvPr/>
          </p:nvSpPr>
          <p:spPr>
            <a:xfrm>
              <a:off x="2705100" y="1905000"/>
              <a:ext cx="127" cy="3352800"/>
            </a:xfrm>
            <a:custGeom>
              <a:avLst/>
              <a:gdLst/>
              <a:ahLst/>
              <a:cxnLst/>
              <a:rect l="l" t="t" r="r" b="b"/>
              <a:pathLst>
                <a:path w="127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6" name="node01.axis-3"/>
            <p:cNvSpPr/>
            <p:nvPr/>
          </p:nvSpPr>
          <p:spPr>
            <a:xfrm>
              <a:off x="1028700" y="3581400"/>
              <a:ext cx="3352800" cy="127"/>
            </a:xfrm>
            <a:custGeom>
              <a:avLst/>
              <a:gdLst/>
              <a:ahLst/>
              <a:cxnLst/>
              <a:rect l="l" t="t" r="r" b="b"/>
              <a:pathLst>
                <a:path w="3352800" h="127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7" name="node01.x.low"/>
            <p:cNvSpPr/>
            <p:nvPr/>
          </p:nvSpPr>
          <p:spPr>
            <a:xfrm>
              <a:off x="1028700" y="5283200"/>
              <a:ext cx="4572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LOW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1.x.high"/>
            <p:cNvSpPr/>
            <p:nvPr/>
          </p:nvSpPr>
          <p:spPr>
            <a:xfrm>
              <a:off x="3924300" y="5283200"/>
              <a:ext cx="4572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HIGH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9" name="node01.x.title"/>
            <p:cNvSpPr/>
            <p:nvPr/>
          </p:nvSpPr>
          <p:spPr>
            <a:xfrm>
              <a:off x="1485900" y="5283200"/>
              <a:ext cx="24384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EFFORT →</a:t>
              </a:r>
              <a:endParaRPr lang="en-US" sz="800" spc="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0" name="node01.y-0"/>
            <p:cNvSpPr/>
            <p:nvPr/>
          </p:nvSpPr>
          <p:spPr>
            <a:xfrm rot="-5400000">
              <a:off x="762508" y="2044700"/>
              <a:ext cx="278383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HIGH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1" name="node01.y-1"/>
            <p:cNvSpPr/>
            <p:nvPr/>
          </p:nvSpPr>
          <p:spPr>
            <a:xfrm rot="-5400000">
              <a:off x="795719" y="4940300"/>
              <a:ext cx="211962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LOW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2" name="node01.y-2"/>
            <p:cNvSpPr/>
            <p:nvPr/>
          </p:nvSpPr>
          <p:spPr>
            <a:xfrm rot="-5400000">
              <a:off x="662877" y="3492500"/>
              <a:ext cx="477645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VALUE →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3" name="node01.item.item-001.point"/>
            <p:cNvSpPr/>
            <p:nvPr/>
          </p:nvSpPr>
          <p:spPr>
            <a:xfrm>
              <a:off x="1396492" y="3010408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4" name="node01.item.item-001.number"/>
            <p:cNvSpPr/>
            <p:nvPr/>
          </p:nvSpPr>
          <p:spPr>
            <a:xfrm>
              <a:off x="1409192" y="3023108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5" name="node01.item.item-002.point"/>
            <p:cNvSpPr/>
            <p:nvPr/>
          </p:nvSpPr>
          <p:spPr>
            <a:xfrm>
              <a:off x="2201164" y="2876296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6" name="node01.item.item-002.number"/>
            <p:cNvSpPr/>
            <p:nvPr/>
          </p:nvSpPr>
          <p:spPr>
            <a:xfrm>
              <a:off x="2213864" y="2888996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7" name="node01.item.item-003.point"/>
            <p:cNvSpPr/>
            <p:nvPr/>
          </p:nvSpPr>
          <p:spPr>
            <a:xfrm>
              <a:off x="1731772" y="3345688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8" name="node01.item.item-003.number"/>
            <p:cNvSpPr/>
            <p:nvPr/>
          </p:nvSpPr>
          <p:spPr>
            <a:xfrm>
              <a:off x="1744472" y="3358388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9" name="node01.item.item-004.point"/>
            <p:cNvSpPr/>
            <p:nvPr/>
          </p:nvSpPr>
          <p:spPr>
            <a:xfrm>
              <a:off x="3274060" y="2272792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0" name="node01.item.item-004.number"/>
            <p:cNvSpPr/>
            <p:nvPr/>
          </p:nvSpPr>
          <p:spPr>
            <a:xfrm>
              <a:off x="3286760" y="2285492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4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1" name="node01.item.item-005.point"/>
            <p:cNvSpPr/>
            <p:nvPr/>
          </p:nvSpPr>
          <p:spPr>
            <a:xfrm>
              <a:off x="2804668" y="2809240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2" name="node01.item.item-005.number"/>
            <p:cNvSpPr/>
            <p:nvPr/>
          </p:nvSpPr>
          <p:spPr>
            <a:xfrm>
              <a:off x="2817368" y="2821940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5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3" name="node01.item.item-006.point"/>
            <p:cNvSpPr/>
            <p:nvPr/>
          </p:nvSpPr>
          <p:spPr>
            <a:xfrm>
              <a:off x="1932940" y="4150360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4" name="node01.item.item-006.number"/>
            <p:cNvSpPr/>
            <p:nvPr/>
          </p:nvSpPr>
          <p:spPr>
            <a:xfrm>
              <a:off x="1945640" y="4163060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6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5" name="node01.item.item-007.point"/>
            <p:cNvSpPr/>
            <p:nvPr/>
          </p:nvSpPr>
          <p:spPr>
            <a:xfrm>
              <a:off x="3408172" y="3748024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6" name="node01.item.item-007.number"/>
            <p:cNvSpPr/>
            <p:nvPr/>
          </p:nvSpPr>
          <p:spPr>
            <a:xfrm>
              <a:off x="3420872" y="3760724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7" name="node01.item.item-008.point"/>
            <p:cNvSpPr/>
            <p:nvPr/>
          </p:nvSpPr>
          <p:spPr>
            <a:xfrm>
              <a:off x="2804668" y="4485640"/>
              <a:ext cx="203200" cy="2032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8" name="node01.item.item-008.number"/>
            <p:cNvSpPr/>
            <p:nvPr/>
          </p:nvSpPr>
          <p:spPr>
            <a:xfrm>
              <a:off x="2817368" y="4498340"/>
              <a:ext cx="1778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8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19" name="node02"/>
          <p:cNvGrpSpPr/>
          <p:nvPr/>
        </p:nvGrpSpPr>
        <p:grpSpPr>
          <a:xfrm>
            <a:off x="5524500" y="1600200"/>
            <a:ext cx="3200400" cy="228600"/>
            <a:chOff x="5524500" y="1600200"/>
            <a:chExt cx="3200400" cy="228600"/>
          </a:xfrm>
        </p:grpSpPr>
        <p:sp>
          <p:nvSpPr>
            <p:cNvPr id="89" name="node02.label"/>
            <p:cNvSpPr/>
            <p:nvPr/>
          </p:nvSpPr>
          <p:spPr>
            <a:xfrm>
              <a:off x="5524500" y="1600200"/>
              <a:ext cx="1818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RANKED BY VALUE OVER EFFORT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0" name="node02.rule"/>
            <p:cNvSpPr/>
            <p:nvPr/>
          </p:nvSpPr>
          <p:spPr>
            <a:xfrm>
              <a:off x="7470260" y="1709738"/>
              <a:ext cx="125464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120" name="node03"/>
          <p:cNvGrpSpPr/>
          <p:nvPr/>
        </p:nvGrpSpPr>
        <p:grpSpPr>
          <a:xfrm>
            <a:off x="5524500" y="1905000"/>
            <a:ext cx="3200400" cy="1993900"/>
            <a:chOff x="5524500" y="1905000"/>
            <a:chExt cx="3200400" cy="1993900"/>
          </a:xfrm>
        </p:grpSpPr>
        <p:sp>
          <p:nvSpPr>
            <p:cNvPr id="91" name="node03.source-001.number"/>
            <p:cNvSpPr/>
            <p:nvPr/>
          </p:nvSpPr>
          <p:spPr>
            <a:xfrm>
              <a:off x="5524500" y="1905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3.source-001.text"/>
            <p:cNvSpPr/>
            <p:nvPr/>
          </p:nvSpPr>
          <p:spPr>
            <a:xfrm>
              <a:off x="5715000" y="1905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Reschedule from reminder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3" name="node03.source-002.number"/>
            <p:cNvSpPr/>
            <p:nvPr/>
          </p:nvSpPr>
          <p:spPr>
            <a:xfrm>
              <a:off x="5524500" y="2159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4" name="node03.source-002.text"/>
            <p:cNvSpPr/>
            <p:nvPr/>
          </p:nvSpPr>
          <p:spPr>
            <a:xfrm>
              <a:off x="5715000" y="2159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Open-slot filters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5" name="node03.source-003.number"/>
            <p:cNvSpPr/>
            <p:nvPr/>
          </p:nvSpPr>
          <p:spPr>
            <a:xfrm>
              <a:off x="5524500" y="2413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6" name="node03.source-003.text"/>
            <p:cNvSpPr/>
            <p:nvPr/>
          </p:nvSpPr>
          <p:spPr>
            <a:xfrm>
              <a:off x="5715000" y="2413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Saved cards for bill pay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7" name="node03.source-004.number"/>
            <p:cNvSpPr/>
            <p:nvPr/>
          </p:nvSpPr>
          <p:spPr>
            <a:xfrm>
              <a:off x="5524500" y="2667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8" name="node03.source-004.text"/>
            <p:cNvSpPr/>
            <p:nvPr/>
          </p:nvSpPr>
          <p:spPr>
            <a:xfrm>
              <a:off x="5715000" y="2667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 at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9" name="node03.source-005.number"/>
            <p:cNvSpPr/>
            <p:nvPr/>
          </p:nvSpPr>
          <p:spPr>
            <a:xfrm>
              <a:off x="5524500" y="2921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0" name="node03.source-005.text"/>
            <p:cNvSpPr/>
            <p:nvPr/>
          </p:nvSpPr>
          <p:spPr>
            <a:xfrm>
              <a:off x="5715000" y="2921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Intake pre-fill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1" name="node03.source-006.number"/>
            <p:cNvSpPr/>
            <p:nvPr/>
          </p:nvSpPr>
          <p:spPr>
            <a:xfrm>
              <a:off x="5524500" y="3175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6.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2" name="node03.source-006.text"/>
            <p:cNvSpPr/>
            <p:nvPr/>
          </p:nvSpPr>
          <p:spPr>
            <a:xfrm>
              <a:off x="5715000" y="3175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Proxy invite reminders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3" name="node03.source-007.number"/>
            <p:cNvSpPr/>
            <p:nvPr/>
          </p:nvSpPr>
          <p:spPr>
            <a:xfrm>
              <a:off x="5524500" y="3429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7.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4" name="node03.source-007.text"/>
            <p:cNvSpPr/>
            <p:nvPr/>
          </p:nvSpPr>
          <p:spPr>
            <a:xfrm>
              <a:off x="5715000" y="3429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Family calendar view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5" name="node03.source-008.number"/>
            <p:cNvSpPr/>
            <p:nvPr/>
          </p:nvSpPr>
          <p:spPr>
            <a:xfrm>
              <a:off x="5524500" y="36830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8.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6" name="node03.source-008.text"/>
            <p:cNvSpPr/>
            <p:nvPr/>
          </p:nvSpPr>
          <p:spPr>
            <a:xfrm>
              <a:off x="5715000" y="3683000"/>
              <a:ext cx="30099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Wayfinding maps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1" name="node04"/>
          <p:cNvGrpSpPr/>
          <p:nvPr/>
        </p:nvGrpSpPr>
        <p:grpSpPr>
          <a:xfrm>
            <a:off x="8953500" y="1600200"/>
            <a:ext cx="2514600" cy="228600"/>
            <a:chOff x="8953500" y="1600200"/>
            <a:chExt cx="2514600" cy="228600"/>
          </a:xfrm>
        </p:grpSpPr>
        <p:sp>
          <p:nvSpPr>
            <p:cNvPr id="107" name="node04.label"/>
            <p:cNvSpPr/>
            <p:nvPr/>
          </p:nvSpPr>
          <p:spPr>
            <a:xfrm>
              <a:off x="8953500" y="1600200"/>
              <a:ext cx="102171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READING THE 2X2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08" name="node04.rule"/>
            <p:cNvSpPr/>
            <p:nvPr/>
          </p:nvSpPr>
          <p:spPr>
            <a:xfrm>
              <a:off x="10102211" y="1709738"/>
              <a:ext cx="1365889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grpSp>
        <p:nvGrpSpPr>
          <p:cNvPr id="122" name="node05"/>
          <p:cNvGrpSpPr/>
          <p:nvPr/>
        </p:nvGrpSpPr>
        <p:grpSpPr>
          <a:xfrm>
            <a:off x="8953500" y="1905000"/>
            <a:ext cx="2514600" cy="2247900"/>
            <a:chOff x="8953500" y="1905000"/>
            <a:chExt cx="2514600" cy="2247900"/>
          </a:xfrm>
        </p:grpSpPr>
        <p:sp>
          <p:nvSpPr>
            <p:cNvPr id="109" name="node05.source-001.number"/>
            <p:cNvSpPr/>
            <p:nvPr/>
          </p:nvSpPr>
          <p:spPr>
            <a:xfrm>
              <a:off x="8953500" y="19050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0" name="node05.source-001.title"/>
            <p:cNvSpPr/>
            <p:nvPr/>
          </p:nvSpPr>
          <p:spPr>
            <a:xfrm>
              <a:off x="9486900" y="1905000"/>
              <a:ext cx="1981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Quick wins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1" name="node05.source-001.text"/>
            <p:cNvSpPr/>
            <p:nvPr/>
          </p:nvSpPr>
          <p:spPr>
            <a:xfrm>
              <a:off x="9486900" y="2120900"/>
              <a:ext cx="1981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Items 1 to 3 go into the next sprint.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2" name="node05.source-002.number"/>
            <p:cNvSpPr/>
            <p:nvPr/>
          </p:nvSpPr>
          <p:spPr>
            <a:xfrm>
              <a:off x="8953500" y="27051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3" name="node05.source-002.title"/>
            <p:cNvSpPr/>
            <p:nvPr/>
          </p:nvSpPr>
          <p:spPr>
            <a:xfrm>
              <a:off x="9486900" y="2705100"/>
              <a:ext cx="1981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Big bets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4" name="node05.source-002.text"/>
            <p:cNvSpPr/>
            <p:nvPr/>
          </p:nvSpPr>
          <p:spPr>
            <a:xfrm>
              <a:off x="9486900" y="2921000"/>
              <a:ext cx="1981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Items 4 and 5 are sliced before commitment.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5" name="node05.source-003.number"/>
            <p:cNvSpPr/>
            <p:nvPr/>
          </p:nvSpPr>
          <p:spPr>
            <a:xfrm>
              <a:off x="8953500" y="3505200"/>
              <a:ext cx="381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2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6" name="node05.source-003.title"/>
            <p:cNvSpPr/>
            <p:nvPr/>
          </p:nvSpPr>
          <p:spPr>
            <a:xfrm>
              <a:off x="9486900" y="3505200"/>
              <a:ext cx="1981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Hold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7" name="node05.source-003.text"/>
            <p:cNvSpPr/>
            <p:nvPr/>
          </p:nvSpPr>
          <p:spPr>
            <a:xfrm>
              <a:off x="9486900" y="3721100"/>
              <a:ext cx="1981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Items 6 to 8 wait for capacity.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PRIORITIZATION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Weighted scoring puts bill pay and reschedule at the top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digital front door backlog, Oct 2026. Sample figures for layout only.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5" name="node01"/>
          <p:cNvGrpSpPr/>
          <p:nvPr/>
        </p:nvGrpSpPr>
        <p:grpSpPr>
          <a:xfrm>
            <a:off x="723900" y="1600200"/>
            <a:ext cx="10744200" cy="3403600"/>
            <a:chOff x="723900" y="1600200"/>
            <a:chExt cx="10744200" cy="34036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403600"/>
          </p:xfrm>
          <a:graphic>
            <a:graphicData uri="http://schemas.openxmlformats.org/drawingml/2006/table">
              <a:tbl>
                <a:tblPr/>
                <a:tblGrid>
                  <a:gridCol w="2667000"/>
                  <a:gridCol w="1066800"/>
                  <a:gridCol w="1524000"/>
                  <a:gridCol w="1524000"/>
                  <a:gridCol w="1066800"/>
                  <a:gridCol w="1219200"/>
                  <a:gridCol w="762000"/>
                  <a:gridCol w="914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BACKLOG ITEM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VALUE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 CRITICALITY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RISK REDUCTION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JOB SIZE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WSJF SCORE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RANK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TIER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Saved cards for bill pay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Reschedule from reminder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Open-slot filters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3.3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 at booking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pre-fill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2.2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Proxy invite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Message attachments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Wayfinding maps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p.priority.fill"/>
            <p:cNvSpPr/>
            <p:nvPr/>
          </p:nvSpPr>
          <p:spPr>
            <a:xfrm>
              <a:off x="10756900" y="20510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p.priority"/>
            <p:cNvSpPr/>
            <p:nvPr/>
          </p:nvSpPr>
          <p:spPr>
            <a:xfrm>
              <a:off x="10858500" y="2076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2.p.priority.fill"/>
            <p:cNvSpPr/>
            <p:nvPr/>
          </p:nvSpPr>
          <p:spPr>
            <a:xfrm>
              <a:off x="10756900" y="243205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p.priority"/>
            <p:cNvSpPr/>
            <p:nvPr/>
          </p:nvSpPr>
          <p:spPr>
            <a:xfrm>
              <a:off x="10858500" y="2457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p.priority.fill"/>
            <p:cNvSpPr/>
            <p:nvPr/>
          </p:nvSpPr>
          <p:spPr>
            <a:xfrm>
              <a:off x="10756900" y="28130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p.priority"/>
            <p:cNvSpPr/>
            <p:nvPr/>
          </p:nvSpPr>
          <p:spPr>
            <a:xfrm>
              <a:off x="10858500" y="2838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p.priority.fill"/>
            <p:cNvSpPr/>
            <p:nvPr/>
          </p:nvSpPr>
          <p:spPr>
            <a:xfrm>
              <a:off x="10756900" y="31940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4.p.priority"/>
            <p:cNvSpPr/>
            <p:nvPr/>
          </p:nvSpPr>
          <p:spPr>
            <a:xfrm>
              <a:off x="10858500" y="3219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.item-005.p.priority.fill"/>
            <p:cNvSpPr/>
            <p:nvPr/>
          </p:nvSpPr>
          <p:spPr>
            <a:xfrm>
              <a:off x="10756900" y="3575050"/>
              <a:ext cx="508000" cy="19050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5.p.priority"/>
            <p:cNvSpPr/>
            <p:nvPr/>
          </p:nvSpPr>
          <p:spPr>
            <a:xfrm>
              <a:off x="10858500" y="3600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6.p.priority.fill"/>
            <p:cNvSpPr/>
            <p:nvPr/>
          </p:nvSpPr>
          <p:spPr>
            <a:xfrm>
              <a:off x="10756900" y="395605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6.p.priority"/>
            <p:cNvSpPr/>
            <p:nvPr/>
          </p:nvSpPr>
          <p:spPr>
            <a:xfrm>
              <a:off x="10858500" y="3981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row.item-007.p.priority.fill"/>
            <p:cNvSpPr/>
            <p:nvPr/>
          </p:nvSpPr>
          <p:spPr>
            <a:xfrm>
              <a:off x="10756900" y="433705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07.p.priority"/>
            <p:cNvSpPr/>
            <p:nvPr/>
          </p:nvSpPr>
          <p:spPr>
            <a:xfrm>
              <a:off x="10858500" y="4362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.item-008.p.priority.fill"/>
            <p:cNvSpPr/>
            <p:nvPr/>
          </p:nvSpPr>
          <p:spPr>
            <a:xfrm>
              <a:off x="10756900" y="4718050"/>
              <a:ext cx="508000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8.p.priority"/>
            <p:cNvSpPr/>
            <p:nvPr/>
          </p:nvSpPr>
          <p:spPr>
            <a:xfrm>
              <a:off x="10858500" y="474345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6" name="node02"/>
          <p:cNvGrpSpPr/>
          <p:nvPr/>
        </p:nvGrpSpPr>
        <p:grpSpPr>
          <a:xfrm>
            <a:off x="723900" y="5257800"/>
            <a:ext cx="10744200" cy="215900"/>
            <a:chOff x="723900" y="5257800"/>
            <a:chExt cx="10744200" cy="215900"/>
          </a:xfrm>
        </p:grpSpPr>
        <p:sp>
          <p:nvSpPr>
            <p:cNvPr id="24" name="node02.text"/>
            <p:cNvSpPr/>
            <p:nvPr/>
          </p:nvSpPr>
          <p:spPr>
            <a:xfrm>
              <a:off x="723900" y="5257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WSJF = (value + time criticality + risk reduction) divided by job size, each on a 1, 2, 3, 5, 8, 13 scale.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roles are short at peak and one is over-resourced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CONTEXT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5240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5240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2590800"/>
            <a:ext cx="228600" cy="9906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25908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TEAM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36576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36576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COMMERCIALS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nav.section-05"/>
          <p:cNvSpPr/>
          <p:nvPr/>
        </p:nvSpPr>
        <p:spPr>
          <a:xfrm>
            <a:off x="266700" y="4724400"/>
            <a:ext cx="228600" cy="99060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4" name="nav.label.section-05"/>
          <p:cNvSpPr/>
          <p:nvPr/>
        </p:nvSpPr>
        <p:spPr>
          <a:xfrm>
            <a:off x="266700" y="4724400"/>
            <a:ext cx="22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NEXT STEPS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5" name="wm.page"/>
          <p:cNvSpPr/>
          <p:nvPr/>
        </p:nvSpPr>
        <p:spPr>
          <a:xfrm>
            <a:off x="11163300" y="6400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9" name="node01"/>
          <p:cNvGrpSpPr/>
          <p:nvPr/>
        </p:nvGrpSpPr>
        <p:grpSpPr>
          <a:xfrm>
            <a:off x="723900" y="1600200"/>
            <a:ext cx="10744200" cy="3505200"/>
            <a:chOff x="723900" y="1600200"/>
            <a:chExt cx="10744200" cy="3505200"/>
          </a:xfrm>
        </p:grpSpPr>
        <p:graphicFrame>
          <p:nvGraphicFramePr>
            <p:cNvPr id="1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505200"/>
          </p:xfrm>
          <a:graphic>
            <a:graphicData uri="http://schemas.openxmlformats.org/drawingml/2006/table">
              <a:tbl>
                <a:tblPr/>
                <a:tblGrid>
                  <a:gridCol w="2743200"/>
                  <a:gridCol w="2057400"/>
                  <a:gridCol w="2286000"/>
                  <a:gridCol w="1600200"/>
                  <a:gridCol w="20574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PEAK DEMAND (FTE)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PLANNED CAPACITY (FTE)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VARIANCE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−0.5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3175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−1.0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3175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Gap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—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Covered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"/>
                            <a:ea typeface="IBM Plex Mono"/>
                            <a:cs typeface="IBM Plex Mono"/>
                          </a:rPr>
                          <a:t xml:space="preserve">+0.5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"/>
                          <a:ea typeface="IBM Plex Mono"/>
                          <a:cs typeface="IBM Plex Mono"/>
                        </a:endParaRPr>
                      </a:p>
                    </a:txBody>
                    <a:tcPr marL="3175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Over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7" name="node01.row.item-001.s.status-mark"/>
            <p:cNvSpPr/>
            <p:nvPr/>
          </p:nvSpPr>
          <p:spPr>
            <a:xfrm>
              <a:off x="9569450" y="2203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8" name="node01.row.item-002.s.status-mark"/>
            <p:cNvSpPr/>
            <p:nvPr/>
          </p:nvSpPr>
          <p:spPr>
            <a:xfrm>
              <a:off x="9569450" y="2584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3.s.status-mark"/>
            <p:cNvSpPr/>
            <p:nvPr/>
          </p:nvSpPr>
          <p:spPr>
            <a:xfrm>
              <a:off x="9569450" y="2965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row.item-004.v.direction"/>
            <p:cNvSpPr/>
            <p:nvPr/>
          </p:nvSpPr>
          <p:spPr>
            <a:xfrm rot="10800000">
              <a:off x="8724900" y="3346450"/>
              <a:ext cx="88900" cy="88900"/>
            </a:xfrm>
            <a:prstGeom prst="triangle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1" name="node01.row.item-004.s.status-mark"/>
            <p:cNvSpPr/>
            <p:nvPr/>
          </p:nvSpPr>
          <p:spPr>
            <a:xfrm>
              <a:off x="9569450" y="33464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1.row.item-005.s.status-mark"/>
            <p:cNvSpPr/>
            <p:nvPr/>
          </p:nvSpPr>
          <p:spPr>
            <a:xfrm>
              <a:off x="9569450" y="3727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1.row.item-006.v.direction"/>
            <p:cNvSpPr/>
            <p:nvPr/>
          </p:nvSpPr>
          <p:spPr>
            <a:xfrm rot="10800000">
              <a:off x="8724900" y="4108450"/>
              <a:ext cx="88900" cy="88900"/>
            </a:xfrm>
            <a:prstGeom prst="triangle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4" name="node01.row.item-006.s.status-mark"/>
            <p:cNvSpPr/>
            <p:nvPr/>
          </p:nvSpPr>
          <p:spPr>
            <a:xfrm>
              <a:off x="9569450" y="41084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1.row.item-007.s.status-mark"/>
            <p:cNvSpPr/>
            <p:nvPr/>
          </p:nvSpPr>
          <p:spPr>
            <a:xfrm>
              <a:off x="9569450" y="44894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6" name="node01.row.item-008.v.direction"/>
            <p:cNvSpPr/>
            <p:nvPr/>
          </p:nvSpPr>
          <p:spPr>
            <a:xfrm>
              <a:off x="8724900" y="4870450"/>
              <a:ext cx="88900" cy="88900"/>
            </a:xfrm>
            <a:prstGeom prst="triangle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7" name="node01.row.item-008.s.status-mark"/>
            <p:cNvSpPr/>
            <p:nvPr/>
          </p:nvSpPr>
          <p:spPr>
            <a:xfrm>
              <a:off x="9569450" y="48704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30" name="node02"/>
          <p:cNvGrpSpPr/>
          <p:nvPr/>
        </p:nvGrpSpPr>
        <p:grpSpPr>
          <a:xfrm>
            <a:off x="723900" y="5334000"/>
            <a:ext cx="10744200" cy="215900"/>
            <a:chOff x="723900" y="5334000"/>
            <a:chExt cx="10744200" cy="215900"/>
          </a:xfrm>
        </p:grpSpPr>
        <p:sp>
          <p:nvSpPr>
            <p:cNvPr id="28" name="node02.text"/>
            <p:cNvSpPr/>
            <p:nvPr/>
          </p:nvSpPr>
          <p:spPr>
            <a:xfrm>
              <a:off x="723900" y="53340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Net peak position: 1.5 FTE short on developers and data engineering, 0.5 FTE over on change.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firm role has a named client counterpart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node01"/>
          <p:cNvSpPr/>
          <p:nvPr/>
        </p:nvSpPr>
        <p:spPr>
          <a:xfrm>
            <a:off x="723900" y="2286000"/>
            <a:ext cx="342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Counterparts hold decision rights for their area.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Hours are per week at peak and fall in launch.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A gap in any counterpart slows the matching firm role.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2" name="node02"/>
          <p:cNvGrpSpPr/>
          <p:nvPr/>
        </p:nvGrpSpPr>
        <p:grpSpPr>
          <a:xfrm>
            <a:off x="723900" y="3886200"/>
            <a:ext cx="3429000" cy="802069"/>
            <a:chOff x="723900" y="3886200"/>
            <a:chExt cx="3429000" cy="802069"/>
          </a:xfrm>
        </p:grpSpPr>
        <p:sp>
          <p:nvSpPr>
            <p:cNvPr id="7" name="node02.value"/>
            <p:cNvSpPr/>
            <p:nvPr/>
          </p:nvSpPr>
          <p:spPr>
            <a:xfrm>
              <a:off x="723900" y="38862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62 hrs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2.label"/>
            <p:cNvSpPr/>
            <p:nvPr/>
          </p:nvSpPr>
          <p:spPr>
            <a:xfrm>
              <a:off x="723900" y="44723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client time per week at peak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" name="node03"/>
          <p:cNvGrpSpPr/>
          <p:nvPr/>
        </p:nvGrpSpPr>
        <p:grpSpPr>
          <a:xfrm>
            <a:off x="723900" y="4800600"/>
            <a:ext cx="3429000" cy="802069"/>
            <a:chOff x="723900" y="4800600"/>
            <a:chExt cx="3429000" cy="802069"/>
          </a:xfrm>
        </p:grpSpPr>
        <p:sp>
          <p:nvSpPr>
            <p:cNvPr id="9" name="node03.value"/>
            <p:cNvSpPr/>
            <p:nvPr/>
          </p:nvSpPr>
          <p:spPr>
            <a:xfrm>
              <a:off x="723900" y="4800600"/>
              <a:ext cx="34290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7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3.label"/>
            <p:cNvSpPr/>
            <p:nvPr/>
          </p:nvSpPr>
          <p:spPr>
            <a:xfrm>
              <a:off x="723900" y="5386769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named counterparts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aphicFrame>
        <p:nvGraphicFramePr>
          <p:cNvPr id="11" name="node04.nativ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1500" y="457200"/>
          <a:ext cx="7086600" cy="5334000"/>
        </p:xfrm>
        <a:graphic>
          <a:graphicData uri="http://schemas.openxmlformats.org/drawingml/2006/table">
            <a:tbl>
              <a:tblPr/>
              <a:tblGrid>
                <a:gridCol w="2362200"/>
                <a:gridCol w="2743200"/>
                <a:gridCol w="1981200"/>
              </a:tblGrid>
              <a:tr h="4572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FIRM ROLE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CLIENT COUNTERPART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HRS PER WEEK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Engagement lead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Executive sponsor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2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Product manager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Product owner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20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Solution architect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IT integration lead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10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Data engineer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Data steward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6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Business analysts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Patient access SMEs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8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QA lead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UAT coordinator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10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Change lead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Department managers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6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Client commitment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70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Seven counterparts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70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62</a:t>
                      </a:r>
                      <a:endParaRPr lang="en-US" sz="12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70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team peaks at 10.8 FTE, then rolls off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1" name="node01"/>
          <p:cNvGrpSpPr/>
          <p:nvPr/>
        </p:nvGrpSpPr>
        <p:grpSpPr>
          <a:xfrm>
            <a:off x="723900" y="1600200"/>
            <a:ext cx="7543800" cy="4114800"/>
            <a:chOff x="723900" y="1600200"/>
            <a:chExt cx="7543800" cy="4114800"/>
          </a:xfrm>
        </p:grpSpPr>
        <p:sp>
          <p:nvSpPr>
            <p:cNvPr id="6" name="node01.series.source-001"/>
            <p:cNvSpPr/>
            <p:nvPr/>
          </p:nvSpPr>
          <p:spPr>
            <a:xfrm>
              <a:off x="723900" y="1600200"/>
              <a:ext cx="7543800" cy="3200400"/>
            </a:xfrm>
            <a:custGeom>
              <a:avLst/>
              <a:gdLst/>
              <a:ahLst/>
              <a:cxnLst/>
              <a:rect l="l" t="t" r="r" b="b"/>
              <a:pathLst>
                <a:path w="7543800" h="3200400">
                  <a:moveTo>
                    <a:pt x="0" y="2533650"/>
                  </a:moveTo>
                  <a:lnTo>
                    <a:pt x="31433" y="2533650"/>
                  </a:lnTo>
                  <a:lnTo>
                    <a:pt x="62865" y="2533650"/>
                  </a:lnTo>
                  <a:lnTo>
                    <a:pt x="94298" y="2533650"/>
                  </a:lnTo>
                  <a:lnTo>
                    <a:pt x="125730" y="2533650"/>
                  </a:lnTo>
                  <a:lnTo>
                    <a:pt x="157163" y="2533650"/>
                  </a:lnTo>
                  <a:lnTo>
                    <a:pt x="188595" y="2533650"/>
                  </a:lnTo>
                  <a:lnTo>
                    <a:pt x="220027" y="2533650"/>
                  </a:lnTo>
                  <a:lnTo>
                    <a:pt x="251460" y="2533650"/>
                  </a:lnTo>
                  <a:lnTo>
                    <a:pt x="282892" y="2533650"/>
                  </a:lnTo>
                  <a:lnTo>
                    <a:pt x="314325" y="2533650"/>
                  </a:lnTo>
                  <a:lnTo>
                    <a:pt x="345758" y="2533650"/>
                  </a:lnTo>
                  <a:lnTo>
                    <a:pt x="377190" y="2533650"/>
                  </a:lnTo>
                  <a:lnTo>
                    <a:pt x="408623" y="2533650"/>
                  </a:lnTo>
                  <a:lnTo>
                    <a:pt x="440055" y="2533650"/>
                  </a:lnTo>
                  <a:lnTo>
                    <a:pt x="471488" y="2533650"/>
                  </a:lnTo>
                  <a:lnTo>
                    <a:pt x="502920" y="2533650"/>
                  </a:lnTo>
                  <a:lnTo>
                    <a:pt x="534353" y="2533650"/>
                  </a:lnTo>
                  <a:lnTo>
                    <a:pt x="565785" y="2533650"/>
                  </a:lnTo>
                  <a:lnTo>
                    <a:pt x="597218" y="2533650"/>
                  </a:lnTo>
                  <a:lnTo>
                    <a:pt x="628650" y="2533650"/>
                  </a:lnTo>
                  <a:lnTo>
                    <a:pt x="660082" y="2533650"/>
                  </a:lnTo>
                  <a:lnTo>
                    <a:pt x="691515" y="2533650"/>
                  </a:lnTo>
                  <a:lnTo>
                    <a:pt x="722948" y="2533650"/>
                  </a:lnTo>
                  <a:lnTo>
                    <a:pt x="754380" y="2533650"/>
                  </a:lnTo>
                  <a:lnTo>
                    <a:pt x="785813" y="2533650"/>
                  </a:lnTo>
                  <a:lnTo>
                    <a:pt x="817245" y="2533650"/>
                  </a:lnTo>
                  <a:lnTo>
                    <a:pt x="848678" y="2533650"/>
                  </a:lnTo>
                  <a:lnTo>
                    <a:pt x="880110" y="2533650"/>
                  </a:lnTo>
                  <a:lnTo>
                    <a:pt x="911543" y="2533650"/>
                  </a:lnTo>
                  <a:lnTo>
                    <a:pt x="942975" y="2533650"/>
                  </a:lnTo>
                  <a:lnTo>
                    <a:pt x="974408" y="2533650"/>
                  </a:lnTo>
                  <a:lnTo>
                    <a:pt x="1005840" y="2533650"/>
                  </a:lnTo>
                  <a:lnTo>
                    <a:pt x="1037273" y="2533650"/>
                  </a:lnTo>
                  <a:lnTo>
                    <a:pt x="1068705" y="2533650"/>
                  </a:lnTo>
                  <a:lnTo>
                    <a:pt x="1100138" y="2533650"/>
                  </a:lnTo>
                  <a:lnTo>
                    <a:pt x="1131570" y="2533650"/>
                  </a:lnTo>
                  <a:lnTo>
                    <a:pt x="1163003" y="2533650"/>
                  </a:lnTo>
                  <a:lnTo>
                    <a:pt x="1194435" y="2533650"/>
                  </a:lnTo>
                  <a:lnTo>
                    <a:pt x="1225868" y="2533650"/>
                  </a:lnTo>
                  <a:lnTo>
                    <a:pt x="1257300" y="2533650"/>
                  </a:lnTo>
                  <a:lnTo>
                    <a:pt x="1288733" y="2533650"/>
                  </a:lnTo>
                  <a:lnTo>
                    <a:pt x="1320165" y="2533650"/>
                  </a:lnTo>
                  <a:lnTo>
                    <a:pt x="1351598" y="2533650"/>
                  </a:lnTo>
                  <a:lnTo>
                    <a:pt x="1383030" y="2533650"/>
                  </a:lnTo>
                  <a:lnTo>
                    <a:pt x="1414463" y="2533650"/>
                  </a:lnTo>
                  <a:lnTo>
                    <a:pt x="1445895" y="2533650"/>
                  </a:lnTo>
                  <a:lnTo>
                    <a:pt x="1477328" y="2533650"/>
                  </a:lnTo>
                  <a:lnTo>
                    <a:pt x="1508760" y="2533650"/>
                  </a:lnTo>
                  <a:lnTo>
                    <a:pt x="1540193" y="2533650"/>
                  </a:lnTo>
                  <a:lnTo>
                    <a:pt x="1571625" y="2533650"/>
                  </a:lnTo>
                  <a:lnTo>
                    <a:pt x="1603057" y="2533650"/>
                  </a:lnTo>
                  <a:lnTo>
                    <a:pt x="1634490" y="2533650"/>
                  </a:lnTo>
                  <a:lnTo>
                    <a:pt x="1665922" y="2533650"/>
                  </a:lnTo>
                  <a:lnTo>
                    <a:pt x="1697355" y="2533650"/>
                  </a:lnTo>
                  <a:lnTo>
                    <a:pt x="1728788" y="2533650"/>
                  </a:lnTo>
                  <a:lnTo>
                    <a:pt x="1760220" y="2533650"/>
                  </a:lnTo>
                  <a:lnTo>
                    <a:pt x="1791652" y="2533650"/>
                  </a:lnTo>
                  <a:lnTo>
                    <a:pt x="1823085" y="2533650"/>
                  </a:lnTo>
                  <a:lnTo>
                    <a:pt x="1854518" y="2533650"/>
                  </a:lnTo>
                  <a:lnTo>
                    <a:pt x="1885950" y="2533650"/>
                  </a:lnTo>
                  <a:lnTo>
                    <a:pt x="1917382" y="2533650"/>
                  </a:lnTo>
                  <a:lnTo>
                    <a:pt x="1948815" y="2533650"/>
                  </a:lnTo>
                  <a:lnTo>
                    <a:pt x="1980248" y="2533650"/>
                  </a:lnTo>
                  <a:lnTo>
                    <a:pt x="2011680" y="2533650"/>
                  </a:lnTo>
                  <a:lnTo>
                    <a:pt x="2043113" y="2533650"/>
                  </a:lnTo>
                  <a:lnTo>
                    <a:pt x="2074545" y="2533650"/>
                  </a:lnTo>
                  <a:lnTo>
                    <a:pt x="2105978" y="2533650"/>
                  </a:lnTo>
                  <a:lnTo>
                    <a:pt x="2137410" y="2533650"/>
                  </a:lnTo>
                  <a:lnTo>
                    <a:pt x="2168842" y="2533650"/>
                  </a:lnTo>
                  <a:lnTo>
                    <a:pt x="2200275" y="2533650"/>
                  </a:lnTo>
                  <a:lnTo>
                    <a:pt x="2231708" y="2533650"/>
                  </a:lnTo>
                  <a:lnTo>
                    <a:pt x="2263140" y="2533650"/>
                  </a:lnTo>
                  <a:lnTo>
                    <a:pt x="2294573" y="2533650"/>
                  </a:lnTo>
                  <a:lnTo>
                    <a:pt x="2326005" y="2533650"/>
                  </a:lnTo>
                  <a:lnTo>
                    <a:pt x="2357438" y="2533650"/>
                  </a:lnTo>
                  <a:lnTo>
                    <a:pt x="2388870" y="2533650"/>
                  </a:lnTo>
                  <a:lnTo>
                    <a:pt x="2420303" y="2533650"/>
                  </a:lnTo>
                  <a:lnTo>
                    <a:pt x="2451735" y="2533650"/>
                  </a:lnTo>
                  <a:lnTo>
                    <a:pt x="2483168" y="2533650"/>
                  </a:lnTo>
                  <a:lnTo>
                    <a:pt x="2514600" y="2533650"/>
                  </a:lnTo>
                  <a:lnTo>
                    <a:pt x="2546033" y="2533650"/>
                  </a:lnTo>
                  <a:lnTo>
                    <a:pt x="2577465" y="2533650"/>
                  </a:lnTo>
                  <a:lnTo>
                    <a:pt x="2608898" y="2533650"/>
                  </a:lnTo>
                  <a:lnTo>
                    <a:pt x="2640330" y="2533650"/>
                  </a:lnTo>
                  <a:lnTo>
                    <a:pt x="2671763" y="2533650"/>
                  </a:lnTo>
                  <a:lnTo>
                    <a:pt x="2703195" y="2533650"/>
                  </a:lnTo>
                  <a:lnTo>
                    <a:pt x="2734627" y="2533650"/>
                  </a:lnTo>
                  <a:lnTo>
                    <a:pt x="2766060" y="2533650"/>
                  </a:lnTo>
                  <a:lnTo>
                    <a:pt x="2797493" y="2533650"/>
                  </a:lnTo>
                  <a:lnTo>
                    <a:pt x="2828925" y="2533650"/>
                  </a:lnTo>
                  <a:lnTo>
                    <a:pt x="2860358" y="2533650"/>
                  </a:lnTo>
                  <a:lnTo>
                    <a:pt x="2891790" y="2533650"/>
                  </a:lnTo>
                  <a:lnTo>
                    <a:pt x="2923223" y="2533650"/>
                  </a:lnTo>
                  <a:lnTo>
                    <a:pt x="2954655" y="2533650"/>
                  </a:lnTo>
                  <a:lnTo>
                    <a:pt x="2986088" y="2533650"/>
                  </a:lnTo>
                  <a:lnTo>
                    <a:pt x="3017520" y="2533650"/>
                  </a:lnTo>
                  <a:lnTo>
                    <a:pt x="3048953" y="2533650"/>
                  </a:lnTo>
                  <a:lnTo>
                    <a:pt x="3080385" y="2533650"/>
                  </a:lnTo>
                  <a:lnTo>
                    <a:pt x="3111817" y="2533650"/>
                  </a:lnTo>
                  <a:lnTo>
                    <a:pt x="3143250" y="2533650"/>
                  </a:lnTo>
                  <a:lnTo>
                    <a:pt x="3174683" y="2533650"/>
                  </a:lnTo>
                  <a:lnTo>
                    <a:pt x="3206115" y="2533650"/>
                  </a:lnTo>
                  <a:lnTo>
                    <a:pt x="3237548" y="2533650"/>
                  </a:lnTo>
                  <a:lnTo>
                    <a:pt x="3268980" y="2533650"/>
                  </a:lnTo>
                  <a:lnTo>
                    <a:pt x="3300413" y="2533650"/>
                  </a:lnTo>
                  <a:lnTo>
                    <a:pt x="3331845" y="2533650"/>
                  </a:lnTo>
                  <a:lnTo>
                    <a:pt x="3363277" y="2533650"/>
                  </a:lnTo>
                  <a:lnTo>
                    <a:pt x="3394710" y="2533650"/>
                  </a:lnTo>
                  <a:lnTo>
                    <a:pt x="3426142" y="2533650"/>
                  </a:lnTo>
                  <a:lnTo>
                    <a:pt x="3457575" y="2533650"/>
                  </a:lnTo>
                  <a:lnTo>
                    <a:pt x="3489008" y="2533650"/>
                  </a:lnTo>
                  <a:lnTo>
                    <a:pt x="3520440" y="2533650"/>
                  </a:lnTo>
                  <a:lnTo>
                    <a:pt x="3551873" y="2533650"/>
                  </a:lnTo>
                  <a:lnTo>
                    <a:pt x="3583305" y="2533650"/>
                  </a:lnTo>
                  <a:lnTo>
                    <a:pt x="3614738" y="2533650"/>
                  </a:lnTo>
                  <a:lnTo>
                    <a:pt x="3646170" y="2533650"/>
                  </a:lnTo>
                  <a:lnTo>
                    <a:pt x="3677602" y="2533650"/>
                  </a:lnTo>
                  <a:lnTo>
                    <a:pt x="3709035" y="2533650"/>
                  </a:lnTo>
                  <a:lnTo>
                    <a:pt x="3740468" y="2533650"/>
                  </a:lnTo>
                  <a:lnTo>
                    <a:pt x="3771900" y="2533650"/>
                  </a:lnTo>
                  <a:lnTo>
                    <a:pt x="3803333" y="2533650"/>
                  </a:lnTo>
                  <a:lnTo>
                    <a:pt x="3834765" y="2533650"/>
                  </a:lnTo>
                  <a:lnTo>
                    <a:pt x="3866197" y="2533650"/>
                  </a:lnTo>
                  <a:lnTo>
                    <a:pt x="3897630" y="2533650"/>
                  </a:lnTo>
                  <a:lnTo>
                    <a:pt x="3929063" y="2533650"/>
                  </a:lnTo>
                  <a:lnTo>
                    <a:pt x="3960495" y="2533651"/>
                  </a:lnTo>
                  <a:lnTo>
                    <a:pt x="3991927" y="2533653"/>
                  </a:lnTo>
                  <a:lnTo>
                    <a:pt x="4023360" y="2533657"/>
                  </a:lnTo>
                  <a:lnTo>
                    <a:pt x="4054792" y="2533662"/>
                  </a:lnTo>
                  <a:lnTo>
                    <a:pt x="4086225" y="2533669"/>
                  </a:lnTo>
                  <a:lnTo>
                    <a:pt x="4117658" y="2533679"/>
                  </a:lnTo>
                  <a:lnTo>
                    <a:pt x="4149090" y="2533691"/>
                  </a:lnTo>
                  <a:lnTo>
                    <a:pt x="4180523" y="2533707"/>
                  </a:lnTo>
                  <a:lnTo>
                    <a:pt x="4211955" y="2533726"/>
                  </a:lnTo>
                  <a:lnTo>
                    <a:pt x="4243388" y="2533750"/>
                  </a:lnTo>
                  <a:lnTo>
                    <a:pt x="4274820" y="2533778"/>
                  </a:lnTo>
                  <a:lnTo>
                    <a:pt x="4306253" y="2533813"/>
                  </a:lnTo>
                  <a:lnTo>
                    <a:pt x="4337685" y="2533854"/>
                  </a:lnTo>
                  <a:lnTo>
                    <a:pt x="4369118" y="2533903"/>
                  </a:lnTo>
                  <a:lnTo>
                    <a:pt x="4400550" y="2533961"/>
                  </a:lnTo>
                  <a:lnTo>
                    <a:pt x="4431983" y="2534028"/>
                  </a:lnTo>
                  <a:lnTo>
                    <a:pt x="4463415" y="2534107"/>
                  </a:lnTo>
                  <a:lnTo>
                    <a:pt x="4494848" y="2534199"/>
                  </a:lnTo>
                  <a:lnTo>
                    <a:pt x="4526280" y="2534305"/>
                  </a:lnTo>
                  <a:lnTo>
                    <a:pt x="4557713" y="2534427"/>
                  </a:lnTo>
                  <a:lnTo>
                    <a:pt x="4589145" y="2534568"/>
                  </a:lnTo>
                  <a:lnTo>
                    <a:pt x="4620578" y="2534728"/>
                  </a:lnTo>
                  <a:lnTo>
                    <a:pt x="4652010" y="2534911"/>
                  </a:lnTo>
                  <a:lnTo>
                    <a:pt x="4683443" y="2535119"/>
                  </a:lnTo>
                  <a:lnTo>
                    <a:pt x="4714875" y="2535354"/>
                  </a:lnTo>
                  <a:lnTo>
                    <a:pt x="4746308" y="2535619"/>
                  </a:lnTo>
                  <a:lnTo>
                    <a:pt x="4777740" y="2535916"/>
                  </a:lnTo>
                  <a:lnTo>
                    <a:pt x="4809172" y="2536250"/>
                  </a:lnTo>
                  <a:lnTo>
                    <a:pt x="4840605" y="2536622"/>
                  </a:lnTo>
                  <a:lnTo>
                    <a:pt x="4872038" y="2537036"/>
                  </a:lnTo>
                  <a:lnTo>
                    <a:pt x="4903470" y="2537496"/>
                  </a:lnTo>
                  <a:lnTo>
                    <a:pt x="4934903" y="2538004"/>
                  </a:lnTo>
                  <a:lnTo>
                    <a:pt x="4966335" y="2538565"/>
                  </a:lnTo>
                  <a:lnTo>
                    <a:pt x="4997767" y="2539182"/>
                  </a:lnTo>
                  <a:lnTo>
                    <a:pt x="5029200" y="2539858"/>
                  </a:lnTo>
                  <a:lnTo>
                    <a:pt x="5060633" y="2540597"/>
                  </a:lnTo>
                  <a:lnTo>
                    <a:pt x="5092065" y="2541403"/>
                  </a:lnTo>
                  <a:lnTo>
                    <a:pt x="5123498" y="2542278"/>
                  </a:lnTo>
                  <a:lnTo>
                    <a:pt x="5154930" y="2543228"/>
                  </a:lnTo>
                  <a:lnTo>
                    <a:pt x="5186363" y="2544254"/>
                  </a:lnTo>
                  <a:lnTo>
                    <a:pt x="5217795" y="2545360"/>
                  </a:lnTo>
                  <a:lnTo>
                    <a:pt x="5249228" y="2546549"/>
                  </a:lnTo>
                  <a:lnTo>
                    <a:pt x="5280660" y="2547824"/>
                  </a:lnTo>
                  <a:lnTo>
                    <a:pt x="5312093" y="2549188"/>
                  </a:lnTo>
                  <a:lnTo>
                    <a:pt x="5343525" y="2550643"/>
                  </a:lnTo>
                  <a:lnTo>
                    <a:pt x="5374958" y="2552190"/>
                  </a:lnTo>
                  <a:lnTo>
                    <a:pt x="5406390" y="2553833"/>
                  </a:lnTo>
                  <a:lnTo>
                    <a:pt x="5437823" y="2555572"/>
                  </a:lnTo>
                  <a:lnTo>
                    <a:pt x="5469255" y="2557407"/>
                  </a:lnTo>
                  <a:lnTo>
                    <a:pt x="5500688" y="2559340"/>
                  </a:lnTo>
                  <a:lnTo>
                    <a:pt x="5532120" y="2561371"/>
                  </a:lnTo>
                  <a:lnTo>
                    <a:pt x="5563553" y="2563498"/>
                  </a:lnTo>
                  <a:lnTo>
                    <a:pt x="5594985" y="2565723"/>
                  </a:lnTo>
                  <a:lnTo>
                    <a:pt x="5626418" y="2568044"/>
                  </a:lnTo>
                  <a:lnTo>
                    <a:pt x="5657850" y="2570460"/>
                  </a:lnTo>
                  <a:lnTo>
                    <a:pt x="5689283" y="2572970"/>
                  </a:lnTo>
                  <a:lnTo>
                    <a:pt x="5720715" y="2575570"/>
                  </a:lnTo>
                  <a:lnTo>
                    <a:pt x="5752147" y="2578259"/>
                  </a:lnTo>
                  <a:lnTo>
                    <a:pt x="5783580" y="2581034"/>
                  </a:lnTo>
                  <a:lnTo>
                    <a:pt x="5815013" y="2583891"/>
                  </a:lnTo>
                  <a:lnTo>
                    <a:pt x="5846445" y="2586828"/>
                  </a:lnTo>
                  <a:lnTo>
                    <a:pt x="5877878" y="2589840"/>
                  </a:lnTo>
                  <a:lnTo>
                    <a:pt x="5909310" y="2592923"/>
                  </a:lnTo>
                  <a:lnTo>
                    <a:pt x="5940742" y="2596074"/>
                  </a:lnTo>
                  <a:lnTo>
                    <a:pt x="5972175" y="2599286"/>
                  </a:lnTo>
                  <a:lnTo>
                    <a:pt x="6003608" y="2602556"/>
                  </a:lnTo>
                  <a:lnTo>
                    <a:pt x="6035040" y="2605878"/>
                  </a:lnTo>
                  <a:lnTo>
                    <a:pt x="6066473" y="2609246"/>
                  </a:lnTo>
                  <a:lnTo>
                    <a:pt x="6097905" y="2612657"/>
                  </a:lnTo>
                  <a:lnTo>
                    <a:pt x="6129338" y="2616102"/>
                  </a:lnTo>
                  <a:lnTo>
                    <a:pt x="6160770" y="2619578"/>
                  </a:lnTo>
                  <a:lnTo>
                    <a:pt x="6192203" y="2623078"/>
                  </a:lnTo>
                  <a:lnTo>
                    <a:pt x="6223635" y="2626596"/>
                  </a:lnTo>
                  <a:lnTo>
                    <a:pt x="6255068" y="2630126"/>
                  </a:lnTo>
                  <a:lnTo>
                    <a:pt x="6286500" y="2633663"/>
                  </a:lnTo>
                  <a:lnTo>
                    <a:pt x="6317933" y="2637199"/>
                  </a:lnTo>
                  <a:lnTo>
                    <a:pt x="6349365" y="2640729"/>
                  </a:lnTo>
                  <a:lnTo>
                    <a:pt x="6380798" y="2644247"/>
                  </a:lnTo>
                  <a:lnTo>
                    <a:pt x="6412230" y="2647747"/>
                  </a:lnTo>
                  <a:lnTo>
                    <a:pt x="6443663" y="2651223"/>
                  </a:lnTo>
                  <a:lnTo>
                    <a:pt x="6475095" y="2654668"/>
                  </a:lnTo>
                  <a:lnTo>
                    <a:pt x="6506528" y="2658079"/>
                  </a:lnTo>
                  <a:lnTo>
                    <a:pt x="6537960" y="2661447"/>
                  </a:lnTo>
                  <a:lnTo>
                    <a:pt x="6569392" y="2664769"/>
                  </a:lnTo>
                  <a:lnTo>
                    <a:pt x="6600825" y="2668039"/>
                  </a:lnTo>
                  <a:lnTo>
                    <a:pt x="6632258" y="2671251"/>
                  </a:lnTo>
                  <a:lnTo>
                    <a:pt x="6663690" y="2674402"/>
                  </a:lnTo>
                  <a:lnTo>
                    <a:pt x="6695122" y="2677485"/>
                  </a:lnTo>
                  <a:lnTo>
                    <a:pt x="6726555" y="2680497"/>
                  </a:lnTo>
                  <a:lnTo>
                    <a:pt x="6757988" y="2683434"/>
                  </a:lnTo>
                  <a:lnTo>
                    <a:pt x="6789420" y="2686291"/>
                  </a:lnTo>
                  <a:lnTo>
                    <a:pt x="6820853" y="2689066"/>
                  </a:lnTo>
                  <a:lnTo>
                    <a:pt x="6852285" y="2691755"/>
                  </a:lnTo>
                  <a:lnTo>
                    <a:pt x="6883717" y="2694355"/>
                  </a:lnTo>
                  <a:lnTo>
                    <a:pt x="6915150" y="2696865"/>
                  </a:lnTo>
                  <a:lnTo>
                    <a:pt x="6946583" y="2699281"/>
                  </a:lnTo>
                  <a:lnTo>
                    <a:pt x="6978015" y="2701602"/>
                  </a:lnTo>
                  <a:lnTo>
                    <a:pt x="7009448" y="2703827"/>
                  </a:lnTo>
                  <a:lnTo>
                    <a:pt x="7040880" y="2705954"/>
                  </a:lnTo>
                  <a:lnTo>
                    <a:pt x="7072313" y="2707985"/>
                  </a:lnTo>
                  <a:lnTo>
                    <a:pt x="7103745" y="2709918"/>
                  </a:lnTo>
                  <a:lnTo>
                    <a:pt x="7135177" y="2711753"/>
                  </a:lnTo>
                  <a:lnTo>
                    <a:pt x="7166610" y="2713492"/>
                  </a:lnTo>
                  <a:lnTo>
                    <a:pt x="7198042" y="2715135"/>
                  </a:lnTo>
                  <a:lnTo>
                    <a:pt x="7229475" y="2716682"/>
                  </a:lnTo>
                  <a:lnTo>
                    <a:pt x="7260908" y="2718137"/>
                  </a:lnTo>
                  <a:lnTo>
                    <a:pt x="7292340" y="2719501"/>
                  </a:lnTo>
                  <a:lnTo>
                    <a:pt x="7323772" y="2720776"/>
                  </a:lnTo>
                  <a:lnTo>
                    <a:pt x="7355205" y="2721965"/>
                  </a:lnTo>
                  <a:lnTo>
                    <a:pt x="7386638" y="2723071"/>
                  </a:lnTo>
                  <a:lnTo>
                    <a:pt x="7418070" y="2724097"/>
                  </a:lnTo>
                  <a:lnTo>
                    <a:pt x="7449503" y="2725047"/>
                  </a:lnTo>
                  <a:lnTo>
                    <a:pt x="7480935" y="2725922"/>
                  </a:lnTo>
                  <a:lnTo>
                    <a:pt x="7512367" y="2726728"/>
                  </a:lnTo>
                  <a:lnTo>
                    <a:pt x="7543800" y="2727467"/>
                  </a:lnTo>
                  <a:lnTo>
                    <a:pt x="7543800" y="3200400"/>
                  </a:lnTo>
                  <a:lnTo>
                    <a:pt x="7512367" y="3200400"/>
                  </a:lnTo>
                  <a:lnTo>
                    <a:pt x="7480935" y="3200400"/>
                  </a:lnTo>
                  <a:lnTo>
                    <a:pt x="7449503" y="3200400"/>
                  </a:lnTo>
                  <a:lnTo>
                    <a:pt x="7418070" y="3200400"/>
                  </a:lnTo>
                  <a:lnTo>
                    <a:pt x="7386638" y="3200400"/>
                  </a:lnTo>
                  <a:lnTo>
                    <a:pt x="7355205" y="3200400"/>
                  </a:lnTo>
                  <a:lnTo>
                    <a:pt x="7323772" y="3200400"/>
                  </a:lnTo>
                  <a:lnTo>
                    <a:pt x="7292340" y="3200400"/>
                  </a:lnTo>
                  <a:lnTo>
                    <a:pt x="7260908" y="3200400"/>
                  </a:lnTo>
                  <a:lnTo>
                    <a:pt x="7229475" y="3200400"/>
                  </a:lnTo>
                  <a:lnTo>
                    <a:pt x="7198042" y="3200400"/>
                  </a:lnTo>
                  <a:lnTo>
                    <a:pt x="7166610" y="3200400"/>
                  </a:lnTo>
                  <a:lnTo>
                    <a:pt x="7135177" y="3200400"/>
                  </a:lnTo>
                  <a:lnTo>
                    <a:pt x="7103745" y="3200400"/>
                  </a:lnTo>
                  <a:lnTo>
                    <a:pt x="7072313" y="3200400"/>
                  </a:lnTo>
                  <a:lnTo>
                    <a:pt x="7040880" y="3200400"/>
                  </a:lnTo>
                  <a:lnTo>
                    <a:pt x="7009448" y="3200400"/>
                  </a:lnTo>
                  <a:lnTo>
                    <a:pt x="6978015" y="3200400"/>
                  </a:lnTo>
                  <a:lnTo>
                    <a:pt x="6946583" y="3200400"/>
                  </a:lnTo>
                  <a:lnTo>
                    <a:pt x="6915150" y="3200400"/>
                  </a:lnTo>
                  <a:lnTo>
                    <a:pt x="6883717" y="3200400"/>
                  </a:lnTo>
                  <a:lnTo>
                    <a:pt x="6852285" y="3200400"/>
                  </a:lnTo>
                  <a:lnTo>
                    <a:pt x="6820853" y="3200400"/>
                  </a:lnTo>
                  <a:lnTo>
                    <a:pt x="6789420" y="3200400"/>
                  </a:lnTo>
                  <a:lnTo>
                    <a:pt x="6757988" y="3200400"/>
                  </a:lnTo>
                  <a:lnTo>
                    <a:pt x="6726555" y="3200400"/>
                  </a:lnTo>
                  <a:lnTo>
                    <a:pt x="6695122" y="3200400"/>
                  </a:lnTo>
                  <a:lnTo>
                    <a:pt x="6663690" y="3200400"/>
                  </a:lnTo>
                  <a:lnTo>
                    <a:pt x="6632258" y="3200400"/>
                  </a:lnTo>
                  <a:lnTo>
                    <a:pt x="6600825" y="3200400"/>
                  </a:lnTo>
                  <a:lnTo>
                    <a:pt x="6569392" y="3200400"/>
                  </a:lnTo>
                  <a:lnTo>
                    <a:pt x="6537960" y="3200400"/>
                  </a:lnTo>
                  <a:lnTo>
                    <a:pt x="6506528" y="3200400"/>
                  </a:lnTo>
                  <a:lnTo>
                    <a:pt x="6475095" y="3200400"/>
                  </a:lnTo>
                  <a:lnTo>
                    <a:pt x="6443663" y="3200400"/>
                  </a:lnTo>
                  <a:lnTo>
                    <a:pt x="6412230" y="3200400"/>
                  </a:lnTo>
                  <a:lnTo>
                    <a:pt x="6380798" y="3200400"/>
                  </a:lnTo>
                  <a:lnTo>
                    <a:pt x="6349365" y="3200400"/>
                  </a:lnTo>
                  <a:lnTo>
                    <a:pt x="6317933" y="3200400"/>
                  </a:lnTo>
                  <a:lnTo>
                    <a:pt x="6286500" y="3200400"/>
                  </a:lnTo>
                  <a:lnTo>
                    <a:pt x="6255068" y="3200400"/>
                  </a:lnTo>
                  <a:lnTo>
                    <a:pt x="6223635" y="3200400"/>
                  </a:lnTo>
                  <a:lnTo>
                    <a:pt x="6192203" y="3200400"/>
                  </a:lnTo>
                  <a:lnTo>
                    <a:pt x="6160770" y="3200400"/>
                  </a:lnTo>
                  <a:lnTo>
                    <a:pt x="6129338" y="3200400"/>
                  </a:lnTo>
                  <a:lnTo>
                    <a:pt x="6097905" y="3200400"/>
                  </a:lnTo>
                  <a:lnTo>
                    <a:pt x="6066473" y="3200400"/>
                  </a:lnTo>
                  <a:lnTo>
                    <a:pt x="6035040" y="3200400"/>
                  </a:lnTo>
                  <a:lnTo>
                    <a:pt x="6003608" y="3200400"/>
                  </a:lnTo>
                  <a:lnTo>
                    <a:pt x="5972175" y="3200400"/>
                  </a:lnTo>
                  <a:lnTo>
                    <a:pt x="5940742" y="3200400"/>
                  </a:lnTo>
                  <a:lnTo>
                    <a:pt x="5909310" y="3200400"/>
                  </a:lnTo>
                  <a:lnTo>
                    <a:pt x="5877878" y="3200400"/>
                  </a:lnTo>
                  <a:lnTo>
                    <a:pt x="5846445" y="3200400"/>
                  </a:lnTo>
                  <a:lnTo>
                    <a:pt x="5815013" y="3200400"/>
                  </a:lnTo>
                  <a:lnTo>
                    <a:pt x="5783580" y="3200400"/>
                  </a:lnTo>
                  <a:lnTo>
                    <a:pt x="5752147" y="3200400"/>
                  </a:lnTo>
                  <a:lnTo>
                    <a:pt x="5720715" y="3200400"/>
                  </a:lnTo>
                  <a:lnTo>
                    <a:pt x="5689283" y="3200400"/>
                  </a:lnTo>
                  <a:lnTo>
                    <a:pt x="5657850" y="3200400"/>
                  </a:lnTo>
                  <a:lnTo>
                    <a:pt x="5626418" y="3200400"/>
                  </a:lnTo>
                  <a:lnTo>
                    <a:pt x="5594985" y="3200400"/>
                  </a:lnTo>
                  <a:lnTo>
                    <a:pt x="5563553" y="3200400"/>
                  </a:lnTo>
                  <a:lnTo>
                    <a:pt x="5532120" y="3200400"/>
                  </a:lnTo>
                  <a:lnTo>
                    <a:pt x="5500688" y="3200400"/>
                  </a:lnTo>
                  <a:lnTo>
                    <a:pt x="5469255" y="3200400"/>
                  </a:lnTo>
                  <a:lnTo>
                    <a:pt x="5437823" y="3200400"/>
                  </a:lnTo>
                  <a:lnTo>
                    <a:pt x="5406390" y="3200400"/>
                  </a:lnTo>
                  <a:lnTo>
                    <a:pt x="5374958" y="3200400"/>
                  </a:lnTo>
                  <a:lnTo>
                    <a:pt x="5343525" y="3200400"/>
                  </a:lnTo>
                  <a:lnTo>
                    <a:pt x="5312093" y="3200400"/>
                  </a:lnTo>
                  <a:lnTo>
                    <a:pt x="5280660" y="3200400"/>
                  </a:lnTo>
                  <a:lnTo>
                    <a:pt x="5249228" y="3200400"/>
                  </a:lnTo>
                  <a:lnTo>
                    <a:pt x="5217795" y="3200400"/>
                  </a:lnTo>
                  <a:lnTo>
                    <a:pt x="5186363" y="3200400"/>
                  </a:lnTo>
                  <a:lnTo>
                    <a:pt x="5154930" y="3200400"/>
                  </a:lnTo>
                  <a:lnTo>
                    <a:pt x="5123498" y="3200400"/>
                  </a:lnTo>
                  <a:lnTo>
                    <a:pt x="5092065" y="3200400"/>
                  </a:lnTo>
                  <a:lnTo>
                    <a:pt x="5060633" y="3200400"/>
                  </a:lnTo>
                  <a:lnTo>
                    <a:pt x="5029200" y="3200400"/>
                  </a:lnTo>
                  <a:lnTo>
                    <a:pt x="4997767" y="3200400"/>
                  </a:lnTo>
                  <a:lnTo>
                    <a:pt x="4966335" y="3200400"/>
                  </a:lnTo>
                  <a:lnTo>
                    <a:pt x="4934903" y="3200400"/>
                  </a:lnTo>
                  <a:lnTo>
                    <a:pt x="4903470" y="3200400"/>
                  </a:lnTo>
                  <a:lnTo>
                    <a:pt x="4872038" y="3200400"/>
                  </a:lnTo>
                  <a:lnTo>
                    <a:pt x="4840605" y="3200400"/>
                  </a:lnTo>
                  <a:lnTo>
                    <a:pt x="4809172" y="3200400"/>
                  </a:lnTo>
                  <a:lnTo>
                    <a:pt x="4777740" y="3200400"/>
                  </a:lnTo>
                  <a:lnTo>
                    <a:pt x="4746308" y="3200400"/>
                  </a:lnTo>
                  <a:lnTo>
                    <a:pt x="4714875" y="3200400"/>
                  </a:lnTo>
                  <a:lnTo>
                    <a:pt x="4683443" y="3200400"/>
                  </a:lnTo>
                  <a:lnTo>
                    <a:pt x="4652010" y="3200400"/>
                  </a:lnTo>
                  <a:lnTo>
                    <a:pt x="4620578" y="3200400"/>
                  </a:lnTo>
                  <a:lnTo>
                    <a:pt x="4589145" y="3200400"/>
                  </a:lnTo>
                  <a:lnTo>
                    <a:pt x="4557713" y="3200400"/>
                  </a:lnTo>
                  <a:lnTo>
                    <a:pt x="4526280" y="3200400"/>
                  </a:lnTo>
                  <a:lnTo>
                    <a:pt x="4494848" y="3200400"/>
                  </a:lnTo>
                  <a:lnTo>
                    <a:pt x="4463415" y="3200400"/>
                  </a:lnTo>
                  <a:lnTo>
                    <a:pt x="4431983" y="3200400"/>
                  </a:lnTo>
                  <a:lnTo>
                    <a:pt x="4400550" y="3200400"/>
                  </a:lnTo>
                  <a:lnTo>
                    <a:pt x="4369118" y="3200400"/>
                  </a:lnTo>
                  <a:lnTo>
                    <a:pt x="4337685" y="3200400"/>
                  </a:lnTo>
                  <a:lnTo>
                    <a:pt x="4306253" y="3200400"/>
                  </a:lnTo>
                  <a:lnTo>
                    <a:pt x="4274820" y="3200400"/>
                  </a:lnTo>
                  <a:lnTo>
                    <a:pt x="4243388" y="3200400"/>
                  </a:lnTo>
                  <a:lnTo>
                    <a:pt x="4211955" y="3200400"/>
                  </a:lnTo>
                  <a:lnTo>
                    <a:pt x="4180523" y="3200400"/>
                  </a:lnTo>
                  <a:lnTo>
                    <a:pt x="4149090" y="3200400"/>
                  </a:lnTo>
                  <a:lnTo>
                    <a:pt x="4117658" y="3200400"/>
                  </a:lnTo>
                  <a:lnTo>
                    <a:pt x="4086225" y="3200400"/>
                  </a:lnTo>
                  <a:lnTo>
                    <a:pt x="4054792" y="3200400"/>
                  </a:lnTo>
                  <a:lnTo>
                    <a:pt x="4023360" y="3200400"/>
                  </a:lnTo>
                  <a:lnTo>
                    <a:pt x="3991927" y="3200400"/>
                  </a:lnTo>
                  <a:lnTo>
                    <a:pt x="3960495" y="3200400"/>
                  </a:lnTo>
                  <a:lnTo>
                    <a:pt x="3929063" y="3200400"/>
                  </a:lnTo>
                  <a:lnTo>
                    <a:pt x="3897630" y="3200400"/>
                  </a:lnTo>
                  <a:lnTo>
                    <a:pt x="3866197" y="3200400"/>
                  </a:lnTo>
                  <a:lnTo>
                    <a:pt x="3834765" y="3200400"/>
                  </a:lnTo>
                  <a:lnTo>
                    <a:pt x="3803333" y="3200400"/>
                  </a:lnTo>
                  <a:lnTo>
                    <a:pt x="3771900" y="3200400"/>
                  </a:lnTo>
                  <a:lnTo>
                    <a:pt x="3740468" y="3200400"/>
                  </a:lnTo>
                  <a:lnTo>
                    <a:pt x="3709035" y="3200400"/>
                  </a:lnTo>
                  <a:lnTo>
                    <a:pt x="3677602" y="3200400"/>
                  </a:lnTo>
                  <a:lnTo>
                    <a:pt x="3646170" y="3200400"/>
                  </a:lnTo>
                  <a:lnTo>
                    <a:pt x="3614738" y="3200400"/>
                  </a:lnTo>
                  <a:lnTo>
                    <a:pt x="3583305" y="3200400"/>
                  </a:lnTo>
                  <a:lnTo>
                    <a:pt x="3551873" y="3200400"/>
                  </a:lnTo>
                  <a:lnTo>
                    <a:pt x="3520440" y="3200400"/>
                  </a:lnTo>
                  <a:lnTo>
                    <a:pt x="3489008" y="3200400"/>
                  </a:lnTo>
                  <a:lnTo>
                    <a:pt x="3457575" y="3200400"/>
                  </a:lnTo>
                  <a:lnTo>
                    <a:pt x="3426142" y="3200400"/>
                  </a:lnTo>
                  <a:lnTo>
                    <a:pt x="3394710" y="3200400"/>
                  </a:lnTo>
                  <a:lnTo>
                    <a:pt x="3363277" y="3200400"/>
                  </a:lnTo>
                  <a:lnTo>
                    <a:pt x="3331845" y="3200400"/>
                  </a:lnTo>
                  <a:lnTo>
                    <a:pt x="3300413" y="3200400"/>
                  </a:lnTo>
                  <a:lnTo>
                    <a:pt x="3268980" y="3200400"/>
                  </a:lnTo>
                  <a:lnTo>
                    <a:pt x="3237548" y="3200400"/>
                  </a:lnTo>
                  <a:lnTo>
                    <a:pt x="3206115" y="3200400"/>
                  </a:lnTo>
                  <a:lnTo>
                    <a:pt x="3174683" y="3200400"/>
                  </a:lnTo>
                  <a:lnTo>
                    <a:pt x="3143250" y="3200400"/>
                  </a:lnTo>
                  <a:lnTo>
                    <a:pt x="3111817" y="3200400"/>
                  </a:lnTo>
                  <a:lnTo>
                    <a:pt x="3080385" y="3200400"/>
                  </a:lnTo>
                  <a:lnTo>
                    <a:pt x="3048953" y="3200400"/>
                  </a:lnTo>
                  <a:lnTo>
                    <a:pt x="3017520" y="3200400"/>
                  </a:lnTo>
                  <a:lnTo>
                    <a:pt x="2986088" y="3200400"/>
                  </a:lnTo>
                  <a:lnTo>
                    <a:pt x="2954655" y="3200400"/>
                  </a:lnTo>
                  <a:lnTo>
                    <a:pt x="2923223" y="3200400"/>
                  </a:lnTo>
                  <a:lnTo>
                    <a:pt x="2891790" y="3200400"/>
                  </a:lnTo>
                  <a:lnTo>
                    <a:pt x="2860358" y="3200400"/>
                  </a:lnTo>
                  <a:lnTo>
                    <a:pt x="2828925" y="3200400"/>
                  </a:lnTo>
                  <a:lnTo>
                    <a:pt x="2797493" y="3200400"/>
                  </a:lnTo>
                  <a:lnTo>
                    <a:pt x="2766060" y="3200400"/>
                  </a:lnTo>
                  <a:lnTo>
                    <a:pt x="2734627" y="3200400"/>
                  </a:lnTo>
                  <a:lnTo>
                    <a:pt x="2703195" y="3200400"/>
                  </a:lnTo>
                  <a:lnTo>
                    <a:pt x="2671763" y="3200400"/>
                  </a:lnTo>
                  <a:lnTo>
                    <a:pt x="2640330" y="3200400"/>
                  </a:lnTo>
                  <a:lnTo>
                    <a:pt x="2608898" y="3200400"/>
                  </a:lnTo>
                  <a:lnTo>
                    <a:pt x="2577465" y="3200400"/>
                  </a:lnTo>
                  <a:lnTo>
                    <a:pt x="2546033" y="3200400"/>
                  </a:lnTo>
                  <a:lnTo>
                    <a:pt x="2514600" y="3200400"/>
                  </a:lnTo>
                  <a:lnTo>
                    <a:pt x="2483168" y="3200400"/>
                  </a:lnTo>
                  <a:lnTo>
                    <a:pt x="2451735" y="3200400"/>
                  </a:lnTo>
                  <a:lnTo>
                    <a:pt x="2420303" y="3200400"/>
                  </a:lnTo>
                  <a:lnTo>
                    <a:pt x="2388870" y="3200400"/>
                  </a:lnTo>
                  <a:lnTo>
                    <a:pt x="2357438" y="3200400"/>
                  </a:lnTo>
                  <a:lnTo>
                    <a:pt x="2326005" y="3200400"/>
                  </a:lnTo>
                  <a:lnTo>
                    <a:pt x="2294573" y="3200400"/>
                  </a:lnTo>
                  <a:lnTo>
                    <a:pt x="2263140" y="3200400"/>
                  </a:lnTo>
                  <a:lnTo>
                    <a:pt x="2231708" y="3200400"/>
                  </a:lnTo>
                  <a:lnTo>
                    <a:pt x="2200275" y="3200400"/>
                  </a:lnTo>
                  <a:lnTo>
                    <a:pt x="2168842" y="3200400"/>
                  </a:lnTo>
                  <a:lnTo>
                    <a:pt x="2137410" y="3200400"/>
                  </a:lnTo>
                  <a:lnTo>
                    <a:pt x="2105978" y="3200400"/>
                  </a:lnTo>
                  <a:lnTo>
                    <a:pt x="2074545" y="3200400"/>
                  </a:lnTo>
                  <a:lnTo>
                    <a:pt x="2043113" y="3200400"/>
                  </a:lnTo>
                  <a:lnTo>
                    <a:pt x="2011680" y="3200400"/>
                  </a:lnTo>
                  <a:lnTo>
                    <a:pt x="1980248" y="3200400"/>
                  </a:lnTo>
                  <a:lnTo>
                    <a:pt x="1948815" y="3200400"/>
                  </a:lnTo>
                  <a:lnTo>
                    <a:pt x="1917382" y="3200400"/>
                  </a:lnTo>
                  <a:lnTo>
                    <a:pt x="1885950" y="3200400"/>
                  </a:lnTo>
                  <a:lnTo>
                    <a:pt x="1854518" y="3200400"/>
                  </a:lnTo>
                  <a:lnTo>
                    <a:pt x="1823085" y="3200400"/>
                  </a:lnTo>
                  <a:lnTo>
                    <a:pt x="1791652" y="3200400"/>
                  </a:lnTo>
                  <a:lnTo>
                    <a:pt x="1760220" y="3200400"/>
                  </a:lnTo>
                  <a:lnTo>
                    <a:pt x="1728788" y="3200400"/>
                  </a:lnTo>
                  <a:lnTo>
                    <a:pt x="1697355" y="3200400"/>
                  </a:lnTo>
                  <a:lnTo>
                    <a:pt x="1665922" y="3200400"/>
                  </a:lnTo>
                  <a:lnTo>
                    <a:pt x="1634490" y="3200400"/>
                  </a:lnTo>
                  <a:lnTo>
                    <a:pt x="1603057" y="3200400"/>
                  </a:lnTo>
                  <a:lnTo>
                    <a:pt x="1571625" y="3200400"/>
                  </a:lnTo>
                  <a:lnTo>
                    <a:pt x="1540193" y="3200400"/>
                  </a:lnTo>
                  <a:lnTo>
                    <a:pt x="1508760" y="3200400"/>
                  </a:lnTo>
                  <a:lnTo>
                    <a:pt x="1477328" y="3200400"/>
                  </a:lnTo>
                  <a:lnTo>
                    <a:pt x="1445895" y="3200400"/>
                  </a:lnTo>
                  <a:lnTo>
                    <a:pt x="1414463" y="3200400"/>
                  </a:lnTo>
                  <a:lnTo>
                    <a:pt x="1383030" y="3200400"/>
                  </a:lnTo>
                  <a:lnTo>
                    <a:pt x="1351598" y="3200400"/>
                  </a:lnTo>
                  <a:lnTo>
                    <a:pt x="1320165" y="3200400"/>
                  </a:lnTo>
                  <a:lnTo>
                    <a:pt x="1288733" y="3200400"/>
                  </a:lnTo>
                  <a:lnTo>
                    <a:pt x="1257300" y="3200400"/>
                  </a:lnTo>
                  <a:lnTo>
                    <a:pt x="1225868" y="3200400"/>
                  </a:lnTo>
                  <a:lnTo>
                    <a:pt x="1194435" y="3200400"/>
                  </a:lnTo>
                  <a:lnTo>
                    <a:pt x="1163003" y="3200400"/>
                  </a:lnTo>
                  <a:lnTo>
                    <a:pt x="1131570" y="3200400"/>
                  </a:lnTo>
                  <a:lnTo>
                    <a:pt x="1100138" y="3200400"/>
                  </a:lnTo>
                  <a:lnTo>
                    <a:pt x="1068705" y="3200400"/>
                  </a:lnTo>
                  <a:lnTo>
                    <a:pt x="1037273" y="3200400"/>
                  </a:lnTo>
                  <a:lnTo>
                    <a:pt x="1005840" y="3200400"/>
                  </a:lnTo>
                  <a:lnTo>
                    <a:pt x="974408" y="3200400"/>
                  </a:lnTo>
                  <a:lnTo>
                    <a:pt x="942975" y="3200400"/>
                  </a:lnTo>
                  <a:lnTo>
                    <a:pt x="911543" y="3200400"/>
                  </a:lnTo>
                  <a:lnTo>
                    <a:pt x="880110" y="3200400"/>
                  </a:lnTo>
                  <a:lnTo>
                    <a:pt x="848678" y="3200400"/>
                  </a:lnTo>
                  <a:lnTo>
                    <a:pt x="817245" y="3200400"/>
                  </a:lnTo>
                  <a:lnTo>
                    <a:pt x="785813" y="3200400"/>
                  </a:lnTo>
                  <a:lnTo>
                    <a:pt x="754380" y="3200400"/>
                  </a:lnTo>
                  <a:lnTo>
                    <a:pt x="722948" y="3200400"/>
                  </a:lnTo>
                  <a:lnTo>
                    <a:pt x="691515" y="3200400"/>
                  </a:lnTo>
                  <a:lnTo>
                    <a:pt x="660082" y="3200400"/>
                  </a:lnTo>
                  <a:lnTo>
                    <a:pt x="628650" y="3200400"/>
                  </a:lnTo>
                  <a:lnTo>
                    <a:pt x="597218" y="3200400"/>
                  </a:lnTo>
                  <a:lnTo>
                    <a:pt x="565785" y="3200400"/>
                  </a:lnTo>
                  <a:lnTo>
                    <a:pt x="534353" y="3200400"/>
                  </a:lnTo>
                  <a:lnTo>
                    <a:pt x="502920" y="3200400"/>
                  </a:lnTo>
                  <a:lnTo>
                    <a:pt x="471488" y="3200400"/>
                  </a:lnTo>
                  <a:lnTo>
                    <a:pt x="440055" y="3200400"/>
                  </a:lnTo>
                  <a:lnTo>
                    <a:pt x="408623" y="3200400"/>
                  </a:lnTo>
                  <a:lnTo>
                    <a:pt x="377190" y="3200400"/>
                  </a:lnTo>
                  <a:lnTo>
                    <a:pt x="345758" y="3200400"/>
                  </a:lnTo>
                  <a:lnTo>
                    <a:pt x="314325" y="3200400"/>
                  </a:lnTo>
                  <a:lnTo>
                    <a:pt x="282892" y="3200400"/>
                  </a:lnTo>
                  <a:lnTo>
                    <a:pt x="251460" y="3200400"/>
                  </a:lnTo>
                  <a:lnTo>
                    <a:pt x="220027" y="3200400"/>
                  </a:lnTo>
                  <a:lnTo>
                    <a:pt x="188595" y="3200400"/>
                  </a:lnTo>
                  <a:lnTo>
                    <a:pt x="157163" y="3200400"/>
                  </a:lnTo>
                  <a:lnTo>
                    <a:pt x="125730" y="3200400"/>
                  </a:lnTo>
                  <a:lnTo>
                    <a:pt x="94298" y="3200400"/>
                  </a:lnTo>
                  <a:lnTo>
                    <a:pt x="62865" y="3200400"/>
                  </a:lnTo>
                  <a:lnTo>
                    <a:pt x="31433" y="3200400"/>
                  </a:lnTo>
                  <a:lnTo>
                    <a:pt x="0" y="3200400"/>
                  </a:lnTo>
                  <a:close/>
                </a:path>
              </a:pathLst>
            </a:custGeom>
            <a:solidFill>
              <a:srgbClr val="CED7E6"/>
            </a:solidFill>
            <a:ln>
              <a:noFill/>
            </a:ln>
          </p:spPr>
        </p:sp>
        <p:sp>
          <p:nvSpPr>
            <p:cNvPr id="7" name="node01.series.source-002"/>
            <p:cNvSpPr/>
            <p:nvPr/>
          </p:nvSpPr>
          <p:spPr>
            <a:xfrm>
              <a:off x="723900" y="1600200"/>
              <a:ext cx="7543800" cy="3200400"/>
            </a:xfrm>
            <a:custGeom>
              <a:avLst/>
              <a:gdLst/>
              <a:ahLst/>
              <a:cxnLst/>
              <a:rect l="l" t="t" r="r" b="b"/>
              <a:pathLst>
                <a:path w="7543800" h="3200400">
                  <a:moveTo>
                    <a:pt x="0" y="2158648"/>
                  </a:moveTo>
                  <a:lnTo>
                    <a:pt x="31433" y="2150594"/>
                  </a:lnTo>
                  <a:lnTo>
                    <a:pt x="62865" y="2142212"/>
                  </a:lnTo>
                  <a:lnTo>
                    <a:pt x="94298" y="2133513"/>
                  </a:lnTo>
                  <a:lnTo>
                    <a:pt x="125730" y="2124507"/>
                  </a:lnTo>
                  <a:lnTo>
                    <a:pt x="157163" y="2115207"/>
                  </a:lnTo>
                  <a:lnTo>
                    <a:pt x="188595" y="2105630"/>
                  </a:lnTo>
                  <a:lnTo>
                    <a:pt x="220027" y="2095792"/>
                  </a:lnTo>
                  <a:lnTo>
                    <a:pt x="251460" y="2085711"/>
                  </a:lnTo>
                  <a:lnTo>
                    <a:pt x="282892" y="2075407"/>
                  </a:lnTo>
                  <a:lnTo>
                    <a:pt x="314325" y="2064902"/>
                  </a:lnTo>
                  <a:lnTo>
                    <a:pt x="345758" y="2054217"/>
                  </a:lnTo>
                  <a:lnTo>
                    <a:pt x="377190" y="2043376"/>
                  </a:lnTo>
                  <a:lnTo>
                    <a:pt x="408623" y="2032403"/>
                  </a:lnTo>
                  <a:lnTo>
                    <a:pt x="440055" y="2021323"/>
                  </a:lnTo>
                  <a:lnTo>
                    <a:pt x="471488" y="2010160"/>
                  </a:lnTo>
                  <a:lnTo>
                    <a:pt x="502920" y="1998940"/>
                  </a:lnTo>
                  <a:lnTo>
                    <a:pt x="534353" y="1987687"/>
                  </a:lnTo>
                  <a:lnTo>
                    <a:pt x="565785" y="1976427"/>
                  </a:lnTo>
                  <a:lnTo>
                    <a:pt x="597218" y="1965184"/>
                  </a:lnTo>
                  <a:lnTo>
                    <a:pt x="628650" y="1953980"/>
                  </a:lnTo>
                  <a:lnTo>
                    <a:pt x="660082" y="1942840"/>
                  </a:lnTo>
                  <a:lnTo>
                    <a:pt x="691515" y="1931783"/>
                  </a:lnTo>
                  <a:lnTo>
                    <a:pt x="722948" y="1920830"/>
                  </a:lnTo>
                  <a:lnTo>
                    <a:pt x="754380" y="1910000"/>
                  </a:lnTo>
                  <a:lnTo>
                    <a:pt x="785813" y="1899310"/>
                  </a:lnTo>
                  <a:lnTo>
                    <a:pt x="817245" y="1888775"/>
                  </a:lnTo>
                  <a:lnTo>
                    <a:pt x="848678" y="1878407"/>
                  </a:lnTo>
                  <a:lnTo>
                    <a:pt x="880110" y="1868220"/>
                  </a:lnTo>
                  <a:lnTo>
                    <a:pt x="911543" y="1858222"/>
                  </a:lnTo>
                  <a:lnTo>
                    <a:pt x="942975" y="1848418"/>
                  </a:lnTo>
                  <a:lnTo>
                    <a:pt x="974408" y="1838813"/>
                  </a:lnTo>
                  <a:lnTo>
                    <a:pt x="1005840" y="1829410"/>
                  </a:lnTo>
                  <a:lnTo>
                    <a:pt x="1037273" y="1820210"/>
                  </a:lnTo>
                  <a:lnTo>
                    <a:pt x="1068705" y="1811211"/>
                  </a:lnTo>
                  <a:lnTo>
                    <a:pt x="1100138" y="1802410"/>
                  </a:lnTo>
                  <a:lnTo>
                    <a:pt x="1131570" y="1793802"/>
                  </a:lnTo>
                  <a:lnTo>
                    <a:pt x="1163003" y="1785379"/>
                  </a:lnTo>
                  <a:lnTo>
                    <a:pt x="1194435" y="1777133"/>
                  </a:lnTo>
                  <a:lnTo>
                    <a:pt x="1225868" y="1769053"/>
                  </a:lnTo>
                  <a:lnTo>
                    <a:pt x="1257300" y="1761129"/>
                  </a:lnTo>
                  <a:lnTo>
                    <a:pt x="1288733" y="1753347"/>
                  </a:lnTo>
                  <a:lnTo>
                    <a:pt x="1320165" y="1745693"/>
                  </a:lnTo>
                  <a:lnTo>
                    <a:pt x="1351598" y="1738152"/>
                  </a:lnTo>
                  <a:lnTo>
                    <a:pt x="1383030" y="1730709"/>
                  </a:lnTo>
                  <a:lnTo>
                    <a:pt x="1414463" y="1723348"/>
                  </a:lnTo>
                  <a:lnTo>
                    <a:pt x="1445895" y="1716052"/>
                  </a:lnTo>
                  <a:lnTo>
                    <a:pt x="1477328" y="1708805"/>
                  </a:lnTo>
                  <a:lnTo>
                    <a:pt x="1508760" y="1701589"/>
                  </a:lnTo>
                  <a:lnTo>
                    <a:pt x="1540193" y="1694388"/>
                  </a:lnTo>
                  <a:lnTo>
                    <a:pt x="1571625" y="1687185"/>
                  </a:lnTo>
                  <a:lnTo>
                    <a:pt x="1603057" y="1679963"/>
                  </a:lnTo>
                  <a:lnTo>
                    <a:pt x="1634490" y="1672707"/>
                  </a:lnTo>
                  <a:lnTo>
                    <a:pt x="1665922" y="1665404"/>
                  </a:lnTo>
                  <a:lnTo>
                    <a:pt x="1697355" y="1658038"/>
                  </a:lnTo>
                  <a:lnTo>
                    <a:pt x="1728788" y="1650594"/>
                  </a:lnTo>
                  <a:lnTo>
                    <a:pt x="1760220" y="1643059"/>
                  </a:lnTo>
                  <a:lnTo>
                    <a:pt x="1791652" y="1635418"/>
                  </a:lnTo>
                  <a:lnTo>
                    <a:pt x="1823085" y="1627658"/>
                  </a:lnTo>
                  <a:lnTo>
                    <a:pt x="1854518" y="1619768"/>
                  </a:lnTo>
                  <a:lnTo>
                    <a:pt x="1885950" y="1611736"/>
                  </a:lnTo>
                  <a:lnTo>
                    <a:pt x="1917382" y="1603552"/>
                  </a:lnTo>
                  <a:lnTo>
                    <a:pt x="1948815" y="1595205"/>
                  </a:lnTo>
                  <a:lnTo>
                    <a:pt x="1980248" y="1586687"/>
                  </a:lnTo>
                  <a:lnTo>
                    <a:pt x="2011680" y="1577989"/>
                  </a:lnTo>
                  <a:lnTo>
                    <a:pt x="2043113" y="1569104"/>
                  </a:lnTo>
                  <a:lnTo>
                    <a:pt x="2074545" y="1560025"/>
                  </a:lnTo>
                  <a:lnTo>
                    <a:pt x="2105978" y="1550745"/>
                  </a:lnTo>
                  <a:lnTo>
                    <a:pt x="2137410" y="1541258"/>
                  </a:lnTo>
                  <a:lnTo>
                    <a:pt x="2168842" y="1531560"/>
                  </a:lnTo>
                  <a:lnTo>
                    <a:pt x="2200275" y="1521646"/>
                  </a:lnTo>
                  <a:lnTo>
                    <a:pt x="2231708" y="1511513"/>
                  </a:lnTo>
                  <a:lnTo>
                    <a:pt x="2263140" y="1501157"/>
                  </a:lnTo>
                  <a:lnTo>
                    <a:pt x="2294573" y="1490576"/>
                  </a:lnTo>
                  <a:lnTo>
                    <a:pt x="2326005" y="1479767"/>
                  </a:lnTo>
                  <a:lnTo>
                    <a:pt x="2357438" y="1468730"/>
                  </a:lnTo>
                  <a:lnTo>
                    <a:pt x="2388870" y="1457464"/>
                  </a:lnTo>
                  <a:lnTo>
                    <a:pt x="2420303" y="1445968"/>
                  </a:lnTo>
                  <a:lnTo>
                    <a:pt x="2451735" y="1434247"/>
                  </a:lnTo>
                  <a:lnTo>
                    <a:pt x="2483168" y="1422304"/>
                  </a:lnTo>
                  <a:lnTo>
                    <a:pt x="2514600" y="1410139"/>
                  </a:lnTo>
                  <a:lnTo>
                    <a:pt x="2546033" y="1397758"/>
                  </a:lnTo>
                  <a:lnTo>
                    <a:pt x="2577465" y="1385163"/>
                  </a:lnTo>
                  <a:lnTo>
                    <a:pt x="2608898" y="1372359"/>
                  </a:lnTo>
                  <a:lnTo>
                    <a:pt x="2640330" y="1359353"/>
                  </a:lnTo>
                  <a:lnTo>
                    <a:pt x="2671763" y="1346147"/>
                  </a:lnTo>
                  <a:lnTo>
                    <a:pt x="2703195" y="1332748"/>
                  </a:lnTo>
                  <a:lnTo>
                    <a:pt x="2734627" y="1319166"/>
                  </a:lnTo>
                  <a:lnTo>
                    <a:pt x="2766060" y="1305408"/>
                  </a:lnTo>
                  <a:lnTo>
                    <a:pt x="2797493" y="1291485"/>
                  </a:lnTo>
                  <a:lnTo>
                    <a:pt x="2828925" y="1277407"/>
                  </a:lnTo>
                  <a:lnTo>
                    <a:pt x="2860358" y="1263184"/>
                  </a:lnTo>
                  <a:lnTo>
                    <a:pt x="2891790" y="1248830"/>
                  </a:lnTo>
                  <a:lnTo>
                    <a:pt x="2923223" y="1234355"/>
                  </a:lnTo>
                  <a:lnTo>
                    <a:pt x="2954655" y="1219772"/>
                  </a:lnTo>
                  <a:lnTo>
                    <a:pt x="2986088" y="1205097"/>
                  </a:lnTo>
                  <a:lnTo>
                    <a:pt x="3017520" y="1190341"/>
                  </a:lnTo>
                  <a:lnTo>
                    <a:pt x="3048953" y="1175521"/>
                  </a:lnTo>
                  <a:lnTo>
                    <a:pt x="3080385" y="1160652"/>
                  </a:lnTo>
                  <a:lnTo>
                    <a:pt x="3111817" y="1145749"/>
                  </a:lnTo>
                  <a:lnTo>
                    <a:pt x="3143250" y="1130829"/>
                  </a:lnTo>
                  <a:lnTo>
                    <a:pt x="3174683" y="1115910"/>
                  </a:lnTo>
                  <a:lnTo>
                    <a:pt x="3206115" y="1101009"/>
                  </a:lnTo>
                  <a:lnTo>
                    <a:pt x="3237548" y="1086144"/>
                  </a:lnTo>
                  <a:lnTo>
                    <a:pt x="3268980" y="1071332"/>
                  </a:lnTo>
                  <a:lnTo>
                    <a:pt x="3300413" y="1056592"/>
                  </a:lnTo>
                  <a:lnTo>
                    <a:pt x="3331845" y="1041942"/>
                  </a:lnTo>
                  <a:lnTo>
                    <a:pt x="3363277" y="1027400"/>
                  </a:lnTo>
                  <a:lnTo>
                    <a:pt x="3394710" y="1012985"/>
                  </a:lnTo>
                  <a:lnTo>
                    <a:pt x="3426142" y="998716"/>
                  </a:lnTo>
                  <a:lnTo>
                    <a:pt x="3457575" y="984612"/>
                  </a:lnTo>
                  <a:lnTo>
                    <a:pt x="3489008" y="970690"/>
                  </a:lnTo>
                  <a:lnTo>
                    <a:pt x="3520440" y="956971"/>
                  </a:lnTo>
                  <a:lnTo>
                    <a:pt x="3551873" y="943471"/>
                  </a:lnTo>
                  <a:lnTo>
                    <a:pt x="3583305" y="930208"/>
                  </a:lnTo>
                  <a:lnTo>
                    <a:pt x="3614738" y="917201"/>
                  </a:lnTo>
                  <a:lnTo>
                    <a:pt x="3646170" y="904464"/>
                  </a:lnTo>
                  <a:lnTo>
                    <a:pt x="3677602" y="892015"/>
                  </a:lnTo>
                  <a:lnTo>
                    <a:pt x="3709035" y="879869"/>
                  </a:lnTo>
                  <a:lnTo>
                    <a:pt x="3740468" y="868040"/>
                  </a:lnTo>
                  <a:lnTo>
                    <a:pt x="3771900" y="856541"/>
                  </a:lnTo>
                  <a:lnTo>
                    <a:pt x="3803333" y="845384"/>
                  </a:lnTo>
                  <a:lnTo>
                    <a:pt x="3834765" y="834581"/>
                  </a:lnTo>
                  <a:lnTo>
                    <a:pt x="3866197" y="824141"/>
                  </a:lnTo>
                  <a:lnTo>
                    <a:pt x="3897630" y="814074"/>
                  </a:lnTo>
                  <a:lnTo>
                    <a:pt x="3929063" y="804386"/>
                  </a:lnTo>
                  <a:lnTo>
                    <a:pt x="3960495" y="795087"/>
                  </a:lnTo>
                  <a:lnTo>
                    <a:pt x="3991927" y="786184"/>
                  </a:lnTo>
                  <a:lnTo>
                    <a:pt x="4023360" y="777679"/>
                  </a:lnTo>
                  <a:lnTo>
                    <a:pt x="4054792" y="769577"/>
                  </a:lnTo>
                  <a:lnTo>
                    <a:pt x="4086225" y="761877"/>
                  </a:lnTo>
                  <a:lnTo>
                    <a:pt x="4117658" y="754581"/>
                  </a:lnTo>
                  <a:lnTo>
                    <a:pt x="4149090" y="747687"/>
                  </a:lnTo>
                  <a:lnTo>
                    <a:pt x="4180523" y="741194"/>
                  </a:lnTo>
                  <a:lnTo>
                    <a:pt x="4211955" y="735100"/>
                  </a:lnTo>
                  <a:lnTo>
                    <a:pt x="4243388" y="729400"/>
                  </a:lnTo>
                  <a:lnTo>
                    <a:pt x="4274820" y="724088"/>
                  </a:lnTo>
                  <a:lnTo>
                    <a:pt x="4306253" y="719160"/>
                  </a:lnTo>
                  <a:lnTo>
                    <a:pt x="4337685" y="714609"/>
                  </a:lnTo>
                  <a:lnTo>
                    <a:pt x="4369118" y="710429"/>
                  </a:lnTo>
                  <a:lnTo>
                    <a:pt x="4400550" y="706613"/>
                  </a:lnTo>
                  <a:lnTo>
                    <a:pt x="4431983" y="703154"/>
                  </a:lnTo>
                  <a:lnTo>
                    <a:pt x="4463415" y="700046"/>
                  </a:lnTo>
                  <a:lnTo>
                    <a:pt x="4494848" y="697282"/>
                  </a:lnTo>
                  <a:lnTo>
                    <a:pt x="4526280" y="694856"/>
                  </a:lnTo>
                  <a:lnTo>
                    <a:pt x="4557713" y="692763"/>
                  </a:lnTo>
                  <a:lnTo>
                    <a:pt x="4589145" y="690999"/>
                  </a:lnTo>
                  <a:lnTo>
                    <a:pt x="4620578" y="689558"/>
                  </a:lnTo>
                  <a:lnTo>
                    <a:pt x="4652010" y="688439"/>
                  </a:lnTo>
                  <a:lnTo>
                    <a:pt x="4683443" y="687638"/>
                  </a:lnTo>
                  <a:lnTo>
                    <a:pt x="4714875" y="687155"/>
                  </a:lnTo>
                  <a:lnTo>
                    <a:pt x="4746308" y="686991"/>
                  </a:lnTo>
                  <a:lnTo>
                    <a:pt x="4777740" y="687145"/>
                  </a:lnTo>
                  <a:lnTo>
                    <a:pt x="4809172" y="687622"/>
                  </a:lnTo>
                  <a:lnTo>
                    <a:pt x="4840605" y="688423"/>
                  </a:lnTo>
                  <a:lnTo>
                    <a:pt x="4872038" y="689555"/>
                  </a:lnTo>
                  <a:lnTo>
                    <a:pt x="4903470" y="691023"/>
                  </a:lnTo>
                  <a:lnTo>
                    <a:pt x="4934903" y="692834"/>
                  </a:lnTo>
                  <a:lnTo>
                    <a:pt x="4966335" y="695000"/>
                  </a:lnTo>
                  <a:lnTo>
                    <a:pt x="4997767" y="697530"/>
                  </a:lnTo>
                  <a:lnTo>
                    <a:pt x="5029200" y="700436"/>
                  </a:lnTo>
                  <a:lnTo>
                    <a:pt x="5060633" y="703728"/>
                  </a:lnTo>
                  <a:lnTo>
                    <a:pt x="5092065" y="707418"/>
                  </a:lnTo>
                  <a:lnTo>
                    <a:pt x="5123498" y="711520"/>
                  </a:lnTo>
                  <a:lnTo>
                    <a:pt x="5154930" y="716045"/>
                  </a:lnTo>
                  <a:lnTo>
                    <a:pt x="5186363" y="721007"/>
                  </a:lnTo>
                  <a:lnTo>
                    <a:pt x="5217795" y="726419"/>
                  </a:lnTo>
                  <a:lnTo>
                    <a:pt x="5249228" y="732295"/>
                  </a:lnTo>
                  <a:lnTo>
                    <a:pt x="5280660" y="738647"/>
                  </a:lnTo>
                  <a:lnTo>
                    <a:pt x="5312093" y="745489"/>
                  </a:lnTo>
                  <a:lnTo>
                    <a:pt x="5343525" y="752833"/>
                  </a:lnTo>
                  <a:lnTo>
                    <a:pt x="5374958" y="760689"/>
                  </a:lnTo>
                  <a:lnTo>
                    <a:pt x="5406390" y="769071"/>
                  </a:lnTo>
                  <a:lnTo>
                    <a:pt x="5437823" y="777987"/>
                  </a:lnTo>
                  <a:lnTo>
                    <a:pt x="5469255" y="787442"/>
                  </a:lnTo>
                  <a:lnTo>
                    <a:pt x="5500688" y="797444"/>
                  </a:lnTo>
                  <a:lnTo>
                    <a:pt x="5532120" y="808000"/>
                  </a:lnTo>
                  <a:lnTo>
                    <a:pt x="5563553" y="819115"/>
                  </a:lnTo>
                  <a:lnTo>
                    <a:pt x="5594985" y="830792"/>
                  </a:lnTo>
                  <a:lnTo>
                    <a:pt x="5626418" y="843036"/>
                  </a:lnTo>
                  <a:lnTo>
                    <a:pt x="5657850" y="855847"/>
                  </a:lnTo>
                  <a:lnTo>
                    <a:pt x="5689283" y="869223"/>
                  </a:lnTo>
                  <a:lnTo>
                    <a:pt x="5720715" y="883164"/>
                  </a:lnTo>
                  <a:lnTo>
                    <a:pt x="5752147" y="897668"/>
                  </a:lnTo>
                  <a:lnTo>
                    <a:pt x="5783580" y="912732"/>
                  </a:lnTo>
                  <a:lnTo>
                    <a:pt x="5815013" y="928353"/>
                  </a:lnTo>
                  <a:lnTo>
                    <a:pt x="5846445" y="944526"/>
                  </a:lnTo>
                  <a:lnTo>
                    <a:pt x="5877878" y="961244"/>
                  </a:lnTo>
                  <a:lnTo>
                    <a:pt x="5909310" y="978499"/>
                  </a:lnTo>
                  <a:lnTo>
                    <a:pt x="5940742" y="996285"/>
                  </a:lnTo>
                  <a:lnTo>
                    <a:pt x="5972175" y="1014586"/>
                  </a:lnTo>
                  <a:lnTo>
                    <a:pt x="6003608" y="1033393"/>
                  </a:lnTo>
                  <a:lnTo>
                    <a:pt x="6035040" y="1052692"/>
                  </a:lnTo>
                  <a:lnTo>
                    <a:pt x="6066473" y="1072472"/>
                  </a:lnTo>
                  <a:lnTo>
                    <a:pt x="6097905" y="1092716"/>
                  </a:lnTo>
                  <a:lnTo>
                    <a:pt x="6129338" y="1113410"/>
                  </a:lnTo>
                  <a:lnTo>
                    <a:pt x="6160770" y="1134537"/>
                  </a:lnTo>
                  <a:lnTo>
                    <a:pt x="6192203" y="1156079"/>
                  </a:lnTo>
                  <a:lnTo>
                    <a:pt x="6223635" y="1178016"/>
                  </a:lnTo>
                  <a:lnTo>
                    <a:pt x="6255068" y="1200330"/>
                  </a:lnTo>
                  <a:lnTo>
                    <a:pt x="6286500" y="1222997"/>
                  </a:lnTo>
                  <a:lnTo>
                    <a:pt x="6317933" y="1245995"/>
                  </a:lnTo>
                  <a:lnTo>
                    <a:pt x="6349365" y="1269299"/>
                  </a:lnTo>
                  <a:lnTo>
                    <a:pt x="6380798" y="1292884"/>
                  </a:lnTo>
                  <a:lnTo>
                    <a:pt x="6412230" y="1316723"/>
                  </a:lnTo>
                  <a:lnTo>
                    <a:pt x="6443663" y="1340787"/>
                  </a:lnTo>
                  <a:lnTo>
                    <a:pt x="6475095" y="1365047"/>
                  </a:lnTo>
                  <a:lnTo>
                    <a:pt x="6506528" y="1389470"/>
                  </a:lnTo>
                  <a:lnTo>
                    <a:pt x="6537960" y="1414026"/>
                  </a:lnTo>
                  <a:lnTo>
                    <a:pt x="6569392" y="1438678"/>
                  </a:lnTo>
                  <a:lnTo>
                    <a:pt x="6600825" y="1463394"/>
                  </a:lnTo>
                  <a:lnTo>
                    <a:pt x="6632258" y="1488137"/>
                  </a:lnTo>
                  <a:lnTo>
                    <a:pt x="6663690" y="1512870"/>
                  </a:lnTo>
                  <a:lnTo>
                    <a:pt x="6695122" y="1537555"/>
                  </a:lnTo>
                  <a:lnTo>
                    <a:pt x="6726555" y="1562154"/>
                  </a:lnTo>
                  <a:lnTo>
                    <a:pt x="6757988" y="1586629"/>
                  </a:lnTo>
                  <a:lnTo>
                    <a:pt x="6789420" y="1610940"/>
                  </a:lnTo>
                  <a:lnTo>
                    <a:pt x="6820853" y="1635049"/>
                  </a:lnTo>
                  <a:lnTo>
                    <a:pt x="6852285" y="1658916"/>
                  </a:lnTo>
                  <a:lnTo>
                    <a:pt x="6883717" y="1682505"/>
                  </a:lnTo>
                  <a:lnTo>
                    <a:pt x="6915150" y="1705776"/>
                  </a:lnTo>
                  <a:lnTo>
                    <a:pt x="6946583" y="1728693"/>
                  </a:lnTo>
                  <a:lnTo>
                    <a:pt x="6978015" y="1751221"/>
                  </a:lnTo>
                  <a:lnTo>
                    <a:pt x="7009448" y="1773325"/>
                  </a:lnTo>
                  <a:lnTo>
                    <a:pt x="7040880" y="1794972"/>
                  </a:lnTo>
                  <a:lnTo>
                    <a:pt x="7072313" y="1816132"/>
                  </a:lnTo>
                  <a:lnTo>
                    <a:pt x="7103745" y="1836776"/>
                  </a:lnTo>
                  <a:lnTo>
                    <a:pt x="7135177" y="1856876"/>
                  </a:lnTo>
                  <a:lnTo>
                    <a:pt x="7166610" y="1876408"/>
                  </a:lnTo>
                  <a:lnTo>
                    <a:pt x="7198042" y="1895346"/>
                  </a:lnTo>
                  <a:lnTo>
                    <a:pt x="7229475" y="1913672"/>
                  </a:lnTo>
                  <a:lnTo>
                    <a:pt x="7260908" y="1931368"/>
                  </a:lnTo>
                  <a:lnTo>
                    <a:pt x="7292340" y="1948421"/>
                  </a:lnTo>
                  <a:lnTo>
                    <a:pt x="7323772" y="1964820"/>
                  </a:lnTo>
                  <a:lnTo>
                    <a:pt x="7355205" y="1980558"/>
                  </a:lnTo>
                  <a:lnTo>
                    <a:pt x="7386638" y="1995627"/>
                  </a:lnTo>
                  <a:lnTo>
                    <a:pt x="7418070" y="2010026"/>
                  </a:lnTo>
                  <a:lnTo>
                    <a:pt x="7449503" y="2023754"/>
                  </a:lnTo>
                  <a:lnTo>
                    <a:pt x="7480935" y="2036813"/>
                  </a:lnTo>
                  <a:lnTo>
                    <a:pt x="7512367" y="2049208"/>
                  </a:lnTo>
                  <a:lnTo>
                    <a:pt x="7543800" y="2060947"/>
                  </a:lnTo>
                  <a:lnTo>
                    <a:pt x="7543800" y="2727467"/>
                  </a:lnTo>
                  <a:lnTo>
                    <a:pt x="7512367" y="2726728"/>
                  </a:lnTo>
                  <a:lnTo>
                    <a:pt x="7480935" y="2725922"/>
                  </a:lnTo>
                  <a:lnTo>
                    <a:pt x="7449503" y="2725047"/>
                  </a:lnTo>
                  <a:lnTo>
                    <a:pt x="7418070" y="2724097"/>
                  </a:lnTo>
                  <a:lnTo>
                    <a:pt x="7386638" y="2723071"/>
                  </a:lnTo>
                  <a:lnTo>
                    <a:pt x="7355205" y="2721965"/>
                  </a:lnTo>
                  <a:lnTo>
                    <a:pt x="7323772" y="2720776"/>
                  </a:lnTo>
                  <a:lnTo>
                    <a:pt x="7292340" y="2719501"/>
                  </a:lnTo>
                  <a:lnTo>
                    <a:pt x="7260908" y="2718137"/>
                  </a:lnTo>
                  <a:lnTo>
                    <a:pt x="7229475" y="2716682"/>
                  </a:lnTo>
                  <a:lnTo>
                    <a:pt x="7198042" y="2715135"/>
                  </a:lnTo>
                  <a:lnTo>
                    <a:pt x="7166610" y="2713492"/>
                  </a:lnTo>
                  <a:lnTo>
                    <a:pt x="7135177" y="2711753"/>
                  </a:lnTo>
                  <a:lnTo>
                    <a:pt x="7103745" y="2709918"/>
                  </a:lnTo>
                  <a:lnTo>
                    <a:pt x="7072313" y="2707985"/>
                  </a:lnTo>
                  <a:lnTo>
                    <a:pt x="7040880" y="2705954"/>
                  </a:lnTo>
                  <a:lnTo>
                    <a:pt x="7009448" y="2703827"/>
                  </a:lnTo>
                  <a:lnTo>
                    <a:pt x="6978015" y="2701602"/>
                  </a:lnTo>
                  <a:lnTo>
                    <a:pt x="6946583" y="2699281"/>
                  </a:lnTo>
                  <a:lnTo>
                    <a:pt x="6915150" y="2696865"/>
                  </a:lnTo>
                  <a:lnTo>
                    <a:pt x="6883717" y="2694355"/>
                  </a:lnTo>
                  <a:lnTo>
                    <a:pt x="6852285" y="2691755"/>
                  </a:lnTo>
                  <a:lnTo>
                    <a:pt x="6820853" y="2689066"/>
                  </a:lnTo>
                  <a:lnTo>
                    <a:pt x="6789420" y="2686291"/>
                  </a:lnTo>
                  <a:lnTo>
                    <a:pt x="6757988" y="2683434"/>
                  </a:lnTo>
                  <a:lnTo>
                    <a:pt x="6726555" y="2680497"/>
                  </a:lnTo>
                  <a:lnTo>
                    <a:pt x="6695122" y="2677485"/>
                  </a:lnTo>
                  <a:lnTo>
                    <a:pt x="6663690" y="2674402"/>
                  </a:lnTo>
                  <a:lnTo>
                    <a:pt x="6632258" y="2671251"/>
                  </a:lnTo>
                  <a:lnTo>
                    <a:pt x="6600825" y="2668039"/>
                  </a:lnTo>
                  <a:lnTo>
                    <a:pt x="6569392" y="2664769"/>
                  </a:lnTo>
                  <a:lnTo>
                    <a:pt x="6537960" y="2661447"/>
                  </a:lnTo>
                  <a:lnTo>
                    <a:pt x="6506528" y="2658079"/>
                  </a:lnTo>
                  <a:lnTo>
                    <a:pt x="6475095" y="2654668"/>
                  </a:lnTo>
                  <a:lnTo>
                    <a:pt x="6443663" y="2651223"/>
                  </a:lnTo>
                  <a:lnTo>
                    <a:pt x="6412230" y="2647747"/>
                  </a:lnTo>
                  <a:lnTo>
                    <a:pt x="6380798" y="2644247"/>
                  </a:lnTo>
                  <a:lnTo>
                    <a:pt x="6349365" y="2640729"/>
                  </a:lnTo>
                  <a:lnTo>
                    <a:pt x="6317933" y="2637199"/>
                  </a:lnTo>
                  <a:lnTo>
                    <a:pt x="6286500" y="2633663"/>
                  </a:lnTo>
                  <a:lnTo>
                    <a:pt x="6255068" y="2630126"/>
                  </a:lnTo>
                  <a:lnTo>
                    <a:pt x="6223635" y="2626596"/>
                  </a:lnTo>
                  <a:lnTo>
                    <a:pt x="6192203" y="2623078"/>
                  </a:lnTo>
                  <a:lnTo>
                    <a:pt x="6160770" y="2619578"/>
                  </a:lnTo>
                  <a:lnTo>
                    <a:pt x="6129338" y="2616102"/>
                  </a:lnTo>
                  <a:lnTo>
                    <a:pt x="6097905" y="2612657"/>
                  </a:lnTo>
                  <a:lnTo>
                    <a:pt x="6066473" y="2609246"/>
                  </a:lnTo>
                  <a:lnTo>
                    <a:pt x="6035040" y="2605878"/>
                  </a:lnTo>
                  <a:lnTo>
                    <a:pt x="6003608" y="2602556"/>
                  </a:lnTo>
                  <a:lnTo>
                    <a:pt x="5972175" y="2599286"/>
                  </a:lnTo>
                  <a:lnTo>
                    <a:pt x="5940742" y="2596074"/>
                  </a:lnTo>
                  <a:lnTo>
                    <a:pt x="5909310" y="2592923"/>
                  </a:lnTo>
                  <a:lnTo>
                    <a:pt x="5877878" y="2589840"/>
                  </a:lnTo>
                  <a:lnTo>
                    <a:pt x="5846445" y="2586828"/>
                  </a:lnTo>
                  <a:lnTo>
                    <a:pt x="5815013" y="2583891"/>
                  </a:lnTo>
                  <a:lnTo>
                    <a:pt x="5783580" y="2581034"/>
                  </a:lnTo>
                  <a:lnTo>
                    <a:pt x="5752147" y="2578259"/>
                  </a:lnTo>
                  <a:lnTo>
                    <a:pt x="5720715" y="2575570"/>
                  </a:lnTo>
                  <a:lnTo>
                    <a:pt x="5689283" y="2572970"/>
                  </a:lnTo>
                  <a:lnTo>
                    <a:pt x="5657850" y="2570460"/>
                  </a:lnTo>
                  <a:lnTo>
                    <a:pt x="5626418" y="2568044"/>
                  </a:lnTo>
                  <a:lnTo>
                    <a:pt x="5594985" y="2565723"/>
                  </a:lnTo>
                  <a:lnTo>
                    <a:pt x="5563553" y="2563498"/>
                  </a:lnTo>
                  <a:lnTo>
                    <a:pt x="5532120" y="2561371"/>
                  </a:lnTo>
                  <a:lnTo>
                    <a:pt x="5500688" y="2559340"/>
                  </a:lnTo>
                  <a:lnTo>
                    <a:pt x="5469255" y="2557407"/>
                  </a:lnTo>
                  <a:lnTo>
                    <a:pt x="5437823" y="2555572"/>
                  </a:lnTo>
                  <a:lnTo>
                    <a:pt x="5406390" y="2553833"/>
                  </a:lnTo>
                  <a:lnTo>
                    <a:pt x="5374958" y="2552190"/>
                  </a:lnTo>
                  <a:lnTo>
                    <a:pt x="5343525" y="2550643"/>
                  </a:lnTo>
                  <a:lnTo>
                    <a:pt x="5312093" y="2549188"/>
                  </a:lnTo>
                  <a:lnTo>
                    <a:pt x="5280660" y="2547824"/>
                  </a:lnTo>
                  <a:lnTo>
                    <a:pt x="5249228" y="2546549"/>
                  </a:lnTo>
                  <a:lnTo>
                    <a:pt x="5217795" y="2545360"/>
                  </a:lnTo>
                  <a:lnTo>
                    <a:pt x="5186363" y="2544254"/>
                  </a:lnTo>
                  <a:lnTo>
                    <a:pt x="5154930" y="2543228"/>
                  </a:lnTo>
                  <a:lnTo>
                    <a:pt x="5123498" y="2542278"/>
                  </a:lnTo>
                  <a:lnTo>
                    <a:pt x="5092065" y="2541403"/>
                  </a:lnTo>
                  <a:lnTo>
                    <a:pt x="5060633" y="2540597"/>
                  </a:lnTo>
                  <a:lnTo>
                    <a:pt x="5029200" y="2539858"/>
                  </a:lnTo>
                  <a:lnTo>
                    <a:pt x="4997767" y="2539182"/>
                  </a:lnTo>
                  <a:lnTo>
                    <a:pt x="4966335" y="2538565"/>
                  </a:lnTo>
                  <a:lnTo>
                    <a:pt x="4934903" y="2538004"/>
                  </a:lnTo>
                  <a:lnTo>
                    <a:pt x="4903470" y="2537496"/>
                  </a:lnTo>
                  <a:lnTo>
                    <a:pt x="4872038" y="2537036"/>
                  </a:lnTo>
                  <a:lnTo>
                    <a:pt x="4840605" y="2536622"/>
                  </a:lnTo>
                  <a:lnTo>
                    <a:pt x="4809172" y="2536250"/>
                  </a:lnTo>
                  <a:lnTo>
                    <a:pt x="4777740" y="2535916"/>
                  </a:lnTo>
                  <a:lnTo>
                    <a:pt x="4746308" y="2535619"/>
                  </a:lnTo>
                  <a:lnTo>
                    <a:pt x="4714875" y="2535354"/>
                  </a:lnTo>
                  <a:lnTo>
                    <a:pt x="4683443" y="2535119"/>
                  </a:lnTo>
                  <a:lnTo>
                    <a:pt x="4652010" y="2534911"/>
                  </a:lnTo>
                  <a:lnTo>
                    <a:pt x="4620578" y="2534728"/>
                  </a:lnTo>
                  <a:lnTo>
                    <a:pt x="4589145" y="2534568"/>
                  </a:lnTo>
                  <a:lnTo>
                    <a:pt x="4557713" y="2534427"/>
                  </a:lnTo>
                  <a:lnTo>
                    <a:pt x="4526280" y="2534305"/>
                  </a:lnTo>
                  <a:lnTo>
                    <a:pt x="4494848" y="2534199"/>
                  </a:lnTo>
                  <a:lnTo>
                    <a:pt x="4463415" y="2534107"/>
                  </a:lnTo>
                  <a:lnTo>
                    <a:pt x="4431983" y="2534028"/>
                  </a:lnTo>
                  <a:lnTo>
                    <a:pt x="4400550" y="2533961"/>
                  </a:lnTo>
                  <a:lnTo>
                    <a:pt x="4369118" y="2533903"/>
                  </a:lnTo>
                  <a:lnTo>
                    <a:pt x="4337685" y="2533854"/>
                  </a:lnTo>
                  <a:lnTo>
                    <a:pt x="4306253" y="2533813"/>
                  </a:lnTo>
                  <a:lnTo>
                    <a:pt x="4274820" y="2533778"/>
                  </a:lnTo>
                  <a:lnTo>
                    <a:pt x="4243388" y="2533750"/>
                  </a:lnTo>
                  <a:lnTo>
                    <a:pt x="4211955" y="2533726"/>
                  </a:lnTo>
                  <a:lnTo>
                    <a:pt x="4180523" y="2533707"/>
                  </a:lnTo>
                  <a:lnTo>
                    <a:pt x="4149090" y="2533691"/>
                  </a:lnTo>
                  <a:lnTo>
                    <a:pt x="4117658" y="2533679"/>
                  </a:lnTo>
                  <a:lnTo>
                    <a:pt x="4086225" y="2533669"/>
                  </a:lnTo>
                  <a:lnTo>
                    <a:pt x="4054792" y="2533662"/>
                  </a:lnTo>
                  <a:lnTo>
                    <a:pt x="4023360" y="2533657"/>
                  </a:lnTo>
                  <a:lnTo>
                    <a:pt x="3991927" y="2533653"/>
                  </a:lnTo>
                  <a:lnTo>
                    <a:pt x="3960495" y="2533651"/>
                  </a:lnTo>
                  <a:lnTo>
                    <a:pt x="3929063" y="2533650"/>
                  </a:lnTo>
                  <a:lnTo>
                    <a:pt x="3897630" y="2533650"/>
                  </a:lnTo>
                  <a:lnTo>
                    <a:pt x="3866197" y="2533650"/>
                  </a:lnTo>
                  <a:lnTo>
                    <a:pt x="3834765" y="2533650"/>
                  </a:lnTo>
                  <a:lnTo>
                    <a:pt x="3803333" y="2533650"/>
                  </a:lnTo>
                  <a:lnTo>
                    <a:pt x="3771900" y="2533650"/>
                  </a:lnTo>
                  <a:lnTo>
                    <a:pt x="3740468" y="2533650"/>
                  </a:lnTo>
                  <a:lnTo>
                    <a:pt x="3709035" y="2533650"/>
                  </a:lnTo>
                  <a:lnTo>
                    <a:pt x="3677602" y="2533650"/>
                  </a:lnTo>
                  <a:lnTo>
                    <a:pt x="3646170" y="2533650"/>
                  </a:lnTo>
                  <a:lnTo>
                    <a:pt x="3614738" y="2533650"/>
                  </a:lnTo>
                  <a:lnTo>
                    <a:pt x="3583305" y="2533650"/>
                  </a:lnTo>
                  <a:lnTo>
                    <a:pt x="3551873" y="2533650"/>
                  </a:lnTo>
                  <a:lnTo>
                    <a:pt x="3520440" y="2533650"/>
                  </a:lnTo>
                  <a:lnTo>
                    <a:pt x="3489008" y="2533650"/>
                  </a:lnTo>
                  <a:lnTo>
                    <a:pt x="3457575" y="2533650"/>
                  </a:lnTo>
                  <a:lnTo>
                    <a:pt x="3426142" y="2533650"/>
                  </a:lnTo>
                  <a:lnTo>
                    <a:pt x="3394710" y="2533650"/>
                  </a:lnTo>
                  <a:lnTo>
                    <a:pt x="3363277" y="2533650"/>
                  </a:lnTo>
                  <a:lnTo>
                    <a:pt x="3331845" y="2533650"/>
                  </a:lnTo>
                  <a:lnTo>
                    <a:pt x="3300413" y="2533650"/>
                  </a:lnTo>
                  <a:lnTo>
                    <a:pt x="3268980" y="2533650"/>
                  </a:lnTo>
                  <a:lnTo>
                    <a:pt x="3237548" y="2533650"/>
                  </a:lnTo>
                  <a:lnTo>
                    <a:pt x="3206115" y="2533650"/>
                  </a:lnTo>
                  <a:lnTo>
                    <a:pt x="3174683" y="2533650"/>
                  </a:lnTo>
                  <a:lnTo>
                    <a:pt x="3143250" y="2533650"/>
                  </a:lnTo>
                  <a:lnTo>
                    <a:pt x="3111817" y="2533650"/>
                  </a:lnTo>
                  <a:lnTo>
                    <a:pt x="3080385" y="2533650"/>
                  </a:lnTo>
                  <a:lnTo>
                    <a:pt x="3048953" y="2533650"/>
                  </a:lnTo>
                  <a:lnTo>
                    <a:pt x="3017520" y="2533650"/>
                  </a:lnTo>
                  <a:lnTo>
                    <a:pt x="2986088" y="2533650"/>
                  </a:lnTo>
                  <a:lnTo>
                    <a:pt x="2954655" y="2533650"/>
                  </a:lnTo>
                  <a:lnTo>
                    <a:pt x="2923223" y="2533650"/>
                  </a:lnTo>
                  <a:lnTo>
                    <a:pt x="2891790" y="2533650"/>
                  </a:lnTo>
                  <a:lnTo>
                    <a:pt x="2860358" y="2533650"/>
                  </a:lnTo>
                  <a:lnTo>
                    <a:pt x="2828925" y="2533650"/>
                  </a:lnTo>
                  <a:lnTo>
                    <a:pt x="2797493" y="2533650"/>
                  </a:lnTo>
                  <a:lnTo>
                    <a:pt x="2766060" y="2533650"/>
                  </a:lnTo>
                  <a:lnTo>
                    <a:pt x="2734627" y="2533650"/>
                  </a:lnTo>
                  <a:lnTo>
                    <a:pt x="2703195" y="2533650"/>
                  </a:lnTo>
                  <a:lnTo>
                    <a:pt x="2671763" y="2533650"/>
                  </a:lnTo>
                  <a:lnTo>
                    <a:pt x="2640330" y="2533650"/>
                  </a:lnTo>
                  <a:lnTo>
                    <a:pt x="2608898" y="2533650"/>
                  </a:lnTo>
                  <a:lnTo>
                    <a:pt x="2577465" y="2533650"/>
                  </a:lnTo>
                  <a:lnTo>
                    <a:pt x="2546033" y="2533650"/>
                  </a:lnTo>
                  <a:lnTo>
                    <a:pt x="2514600" y="2533650"/>
                  </a:lnTo>
                  <a:lnTo>
                    <a:pt x="2483168" y="2533650"/>
                  </a:lnTo>
                  <a:lnTo>
                    <a:pt x="2451735" y="2533650"/>
                  </a:lnTo>
                  <a:lnTo>
                    <a:pt x="2420303" y="2533650"/>
                  </a:lnTo>
                  <a:lnTo>
                    <a:pt x="2388870" y="2533650"/>
                  </a:lnTo>
                  <a:lnTo>
                    <a:pt x="2357438" y="2533650"/>
                  </a:lnTo>
                  <a:lnTo>
                    <a:pt x="2326005" y="2533650"/>
                  </a:lnTo>
                  <a:lnTo>
                    <a:pt x="2294573" y="2533650"/>
                  </a:lnTo>
                  <a:lnTo>
                    <a:pt x="2263140" y="2533650"/>
                  </a:lnTo>
                  <a:lnTo>
                    <a:pt x="2231708" y="2533650"/>
                  </a:lnTo>
                  <a:lnTo>
                    <a:pt x="2200275" y="2533650"/>
                  </a:lnTo>
                  <a:lnTo>
                    <a:pt x="2168842" y="2533650"/>
                  </a:lnTo>
                  <a:lnTo>
                    <a:pt x="2137410" y="2533650"/>
                  </a:lnTo>
                  <a:lnTo>
                    <a:pt x="2105978" y="2533650"/>
                  </a:lnTo>
                  <a:lnTo>
                    <a:pt x="2074545" y="2533650"/>
                  </a:lnTo>
                  <a:lnTo>
                    <a:pt x="2043113" y="2533650"/>
                  </a:lnTo>
                  <a:lnTo>
                    <a:pt x="2011680" y="2533650"/>
                  </a:lnTo>
                  <a:lnTo>
                    <a:pt x="1980248" y="2533650"/>
                  </a:lnTo>
                  <a:lnTo>
                    <a:pt x="1948815" y="2533650"/>
                  </a:lnTo>
                  <a:lnTo>
                    <a:pt x="1917382" y="2533650"/>
                  </a:lnTo>
                  <a:lnTo>
                    <a:pt x="1885950" y="2533650"/>
                  </a:lnTo>
                  <a:lnTo>
                    <a:pt x="1854518" y="2533650"/>
                  </a:lnTo>
                  <a:lnTo>
                    <a:pt x="1823085" y="2533650"/>
                  </a:lnTo>
                  <a:lnTo>
                    <a:pt x="1791652" y="2533650"/>
                  </a:lnTo>
                  <a:lnTo>
                    <a:pt x="1760220" y="2533650"/>
                  </a:lnTo>
                  <a:lnTo>
                    <a:pt x="1728788" y="2533650"/>
                  </a:lnTo>
                  <a:lnTo>
                    <a:pt x="1697355" y="2533650"/>
                  </a:lnTo>
                  <a:lnTo>
                    <a:pt x="1665922" y="2533650"/>
                  </a:lnTo>
                  <a:lnTo>
                    <a:pt x="1634490" y="2533650"/>
                  </a:lnTo>
                  <a:lnTo>
                    <a:pt x="1603057" y="2533650"/>
                  </a:lnTo>
                  <a:lnTo>
                    <a:pt x="1571625" y="2533650"/>
                  </a:lnTo>
                  <a:lnTo>
                    <a:pt x="1540193" y="2533650"/>
                  </a:lnTo>
                  <a:lnTo>
                    <a:pt x="1508760" y="2533650"/>
                  </a:lnTo>
                  <a:lnTo>
                    <a:pt x="1477328" y="2533650"/>
                  </a:lnTo>
                  <a:lnTo>
                    <a:pt x="1445895" y="2533650"/>
                  </a:lnTo>
                  <a:lnTo>
                    <a:pt x="1414463" y="2533650"/>
                  </a:lnTo>
                  <a:lnTo>
                    <a:pt x="1383030" y="2533650"/>
                  </a:lnTo>
                  <a:lnTo>
                    <a:pt x="1351598" y="2533650"/>
                  </a:lnTo>
                  <a:lnTo>
                    <a:pt x="1320165" y="2533650"/>
                  </a:lnTo>
                  <a:lnTo>
                    <a:pt x="1288733" y="2533650"/>
                  </a:lnTo>
                  <a:lnTo>
                    <a:pt x="1257300" y="2533650"/>
                  </a:lnTo>
                  <a:lnTo>
                    <a:pt x="1225868" y="2533650"/>
                  </a:lnTo>
                  <a:lnTo>
                    <a:pt x="1194435" y="2533650"/>
                  </a:lnTo>
                  <a:lnTo>
                    <a:pt x="1163003" y="2533650"/>
                  </a:lnTo>
                  <a:lnTo>
                    <a:pt x="1131570" y="2533650"/>
                  </a:lnTo>
                  <a:lnTo>
                    <a:pt x="1100138" y="2533650"/>
                  </a:lnTo>
                  <a:lnTo>
                    <a:pt x="1068705" y="2533650"/>
                  </a:lnTo>
                  <a:lnTo>
                    <a:pt x="1037273" y="2533650"/>
                  </a:lnTo>
                  <a:lnTo>
                    <a:pt x="1005840" y="2533650"/>
                  </a:lnTo>
                  <a:lnTo>
                    <a:pt x="974408" y="2533650"/>
                  </a:lnTo>
                  <a:lnTo>
                    <a:pt x="942975" y="2533650"/>
                  </a:lnTo>
                  <a:lnTo>
                    <a:pt x="911543" y="2533650"/>
                  </a:lnTo>
                  <a:lnTo>
                    <a:pt x="880110" y="2533650"/>
                  </a:lnTo>
                  <a:lnTo>
                    <a:pt x="848678" y="2533650"/>
                  </a:lnTo>
                  <a:lnTo>
                    <a:pt x="817245" y="2533650"/>
                  </a:lnTo>
                  <a:lnTo>
                    <a:pt x="785813" y="2533650"/>
                  </a:lnTo>
                  <a:lnTo>
                    <a:pt x="754380" y="2533650"/>
                  </a:lnTo>
                  <a:lnTo>
                    <a:pt x="722948" y="2533650"/>
                  </a:lnTo>
                  <a:lnTo>
                    <a:pt x="691515" y="2533650"/>
                  </a:lnTo>
                  <a:lnTo>
                    <a:pt x="660082" y="2533650"/>
                  </a:lnTo>
                  <a:lnTo>
                    <a:pt x="628650" y="2533650"/>
                  </a:lnTo>
                  <a:lnTo>
                    <a:pt x="597218" y="2533650"/>
                  </a:lnTo>
                  <a:lnTo>
                    <a:pt x="565785" y="2533650"/>
                  </a:lnTo>
                  <a:lnTo>
                    <a:pt x="534353" y="2533650"/>
                  </a:lnTo>
                  <a:lnTo>
                    <a:pt x="502920" y="2533650"/>
                  </a:lnTo>
                  <a:lnTo>
                    <a:pt x="471488" y="2533650"/>
                  </a:lnTo>
                  <a:lnTo>
                    <a:pt x="440055" y="2533650"/>
                  </a:lnTo>
                  <a:lnTo>
                    <a:pt x="408623" y="2533650"/>
                  </a:lnTo>
                  <a:lnTo>
                    <a:pt x="377190" y="2533650"/>
                  </a:lnTo>
                  <a:lnTo>
                    <a:pt x="345758" y="2533650"/>
                  </a:lnTo>
                  <a:lnTo>
                    <a:pt x="314325" y="2533650"/>
                  </a:lnTo>
                  <a:lnTo>
                    <a:pt x="282892" y="2533650"/>
                  </a:lnTo>
                  <a:lnTo>
                    <a:pt x="251460" y="2533650"/>
                  </a:lnTo>
                  <a:lnTo>
                    <a:pt x="220027" y="2533650"/>
                  </a:lnTo>
                  <a:lnTo>
                    <a:pt x="188595" y="2533650"/>
                  </a:lnTo>
                  <a:lnTo>
                    <a:pt x="157163" y="2533650"/>
                  </a:lnTo>
                  <a:lnTo>
                    <a:pt x="125730" y="2533650"/>
                  </a:lnTo>
                  <a:lnTo>
                    <a:pt x="94298" y="2533650"/>
                  </a:lnTo>
                  <a:lnTo>
                    <a:pt x="62865" y="2533650"/>
                  </a:lnTo>
                  <a:lnTo>
                    <a:pt x="31433" y="2533650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070154"/>
            </a:solidFill>
            <a:ln>
              <a:noFill/>
            </a:ln>
          </p:spPr>
        </p:sp>
        <p:sp>
          <p:nvSpPr>
            <p:cNvPr id="8" name="node01.series.source-003"/>
            <p:cNvSpPr/>
            <p:nvPr/>
          </p:nvSpPr>
          <p:spPr>
            <a:xfrm>
              <a:off x="723900" y="1600200"/>
              <a:ext cx="7543800" cy="3200400"/>
            </a:xfrm>
            <a:custGeom>
              <a:avLst/>
              <a:gdLst/>
              <a:ahLst/>
              <a:cxnLst/>
              <a:rect l="l" t="t" r="r" b="b"/>
              <a:pathLst>
                <a:path w="7543800" h="3200400">
                  <a:moveTo>
                    <a:pt x="0" y="1928621"/>
                  </a:moveTo>
                  <a:lnTo>
                    <a:pt x="31433" y="1920197"/>
                  </a:lnTo>
                  <a:lnTo>
                    <a:pt x="62865" y="1911416"/>
                  </a:lnTo>
                  <a:lnTo>
                    <a:pt x="94298" y="1902288"/>
                  </a:lnTo>
                  <a:lnTo>
                    <a:pt x="125730" y="1892822"/>
                  </a:lnTo>
                  <a:lnTo>
                    <a:pt x="157163" y="1883031"/>
                  </a:lnTo>
                  <a:lnTo>
                    <a:pt x="188595" y="1872932"/>
                  </a:lnTo>
                  <a:lnTo>
                    <a:pt x="220027" y="1862539"/>
                  </a:lnTo>
                  <a:lnTo>
                    <a:pt x="251460" y="1851871"/>
                  </a:lnTo>
                  <a:lnTo>
                    <a:pt x="282892" y="1840949"/>
                  </a:lnTo>
                  <a:lnTo>
                    <a:pt x="314325" y="1829794"/>
                  </a:lnTo>
                  <a:lnTo>
                    <a:pt x="345758" y="1818429"/>
                  </a:lnTo>
                  <a:lnTo>
                    <a:pt x="377190" y="1806879"/>
                  </a:lnTo>
                  <a:lnTo>
                    <a:pt x="408623" y="1795168"/>
                  </a:lnTo>
                  <a:lnTo>
                    <a:pt x="440055" y="1783322"/>
                  </a:lnTo>
                  <a:lnTo>
                    <a:pt x="471488" y="1771368"/>
                  </a:lnTo>
                  <a:lnTo>
                    <a:pt x="502920" y="1759333"/>
                  </a:lnTo>
                  <a:lnTo>
                    <a:pt x="534353" y="1747244"/>
                  </a:lnTo>
                  <a:lnTo>
                    <a:pt x="565785" y="1735128"/>
                  </a:lnTo>
                  <a:lnTo>
                    <a:pt x="597218" y="1723012"/>
                  </a:lnTo>
                  <a:lnTo>
                    <a:pt x="628650" y="1710921"/>
                  </a:lnTo>
                  <a:lnTo>
                    <a:pt x="660082" y="1698881"/>
                  </a:lnTo>
                  <a:lnTo>
                    <a:pt x="691515" y="1686916"/>
                  </a:lnTo>
                  <a:lnTo>
                    <a:pt x="722948" y="1675050"/>
                  </a:lnTo>
                  <a:lnTo>
                    <a:pt x="754380" y="1663303"/>
                  </a:lnTo>
                  <a:lnTo>
                    <a:pt x="785813" y="1651695"/>
                  </a:lnTo>
                  <a:lnTo>
                    <a:pt x="817245" y="1640246"/>
                  </a:lnTo>
                  <a:lnTo>
                    <a:pt x="848678" y="1628971"/>
                  </a:lnTo>
                  <a:lnTo>
                    <a:pt x="880110" y="1617884"/>
                  </a:lnTo>
                  <a:lnTo>
                    <a:pt x="911543" y="1606999"/>
                  </a:lnTo>
                  <a:lnTo>
                    <a:pt x="942975" y="1596321"/>
                  </a:lnTo>
                  <a:lnTo>
                    <a:pt x="974408" y="1585858"/>
                  </a:lnTo>
                  <a:lnTo>
                    <a:pt x="1005840" y="1575615"/>
                  </a:lnTo>
                  <a:lnTo>
                    <a:pt x="1037273" y="1565595"/>
                  </a:lnTo>
                  <a:lnTo>
                    <a:pt x="1068705" y="1555798"/>
                  </a:lnTo>
                  <a:lnTo>
                    <a:pt x="1100138" y="1546222"/>
                  </a:lnTo>
                  <a:lnTo>
                    <a:pt x="1131570" y="1536863"/>
                  </a:lnTo>
                  <a:lnTo>
                    <a:pt x="1163003" y="1527715"/>
                  </a:lnTo>
                  <a:lnTo>
                    <a:pt x="1194435" y="1518769"/>
                  </a:lnTo>
                  <a:lnTo>
                    <a:pt x="1225868" y="1510017"/>
                  </a:lnTo>
                  <a:lnTo>
                    <a:pt x="1257300" y="1501446"/>
                  </a:lnTo>
                  <a:lnTo>
                    <a:pt x="1288733" y="1493042"/>
                  </a:lnTo>
                  <a:lnTo>
                    <a:pt x="1320165" y="1484792"/>
                  </a:lnTo>
                  <a:lnTo>
                    <a:pt x="1351598" y="1476680"/>
                  </a:lnTo>
                  <a:lnTo>
                    <a:pt x="1383030" y="1468689"/>
                  </a:lnTo>
                  <a:lnTo>
                    <a:pt x="1414463" y="1460800"/>
                  </a:lnTo>
                  <a:lnTo>
                    <a:pt x="1445895" y="1452997"/>
                  </a:lnTo>
                  <a:lnTo>
                    <a:pt x="1477328" y="1445261"/>
                  </a:lnTo>
                  <a:lnTo>
                    <a:pt x="1508760" y="1437573"/>
                  </a:lnTo>
                  <a:lnTo>
                    <a:pt x="1540193" y="1429912"/>
                  </a:lnTo>
                  <a:lnTo>
                    <a:pt x="1571625" y="1422261"/>
                  </a:lnTo>
                  <a:lnTo>
                    <a:pt x="1603057" y="1414599"/>
                  </a:lnTo>
                  <a:lnTo>
                    <a:pt x="1634490" y="1406908"/>
                  </a:lnTo>
                  <a:lnTo>
                    <a:pt x="1665922" y="1399171"/>
                  </a:lnTo>
                  <a:lnTo>
                    <a:pt x="1697355" y="1391371"/>
                  </a:lnTo>
                  <a:lnTo>
                    <a:pt x="1728788" y="1383487"/>
                  </a:lnTo>
                  <a:lnTo>
                    <a:pt x="1760220" y="1375504"/>
                  </a:lnTo>
                  <a:lnTo>
                    <a:pt x="1791652" y="1367402"/>
                  </a:lnTo>
                  <a:lnTo>
                    <a:pt x="1823085" y="1359167"/>
                  </a:lnTo>
                  <a:lnTo>
                    <a:pt x="1854518" y="1350782"/>
                  </a:lnTo>
                  <a:lnTo>
                    <a:pt x="1885950" y="1342233"/>
                  </a:lnTo>
                  <a:lnTo>
                    <a:pt x="1917382" y="1333505"/>
                  </a:lnTo>
                  <a:lnTo>
                    <a:pt x="1948815" y="1324586"/>
                  </a:lnTo>
                  <a:lnTo>
                    <a:pt x="1980248" y="1315463"/>
                  </a:lnTo>
                  <a:lnTo>
                    <a:pt x="2011680" y="1306126"/>
                  </a:lnTo>
                  <a:lnTo>
                    <a:pt x="2043113" y="1296562"/>
                  </a:lnTo>
                  <a:lnTo>
                    <a:pt x="2074545" y="1286764"/>
                  </a:lnTo>
                  <a:lnTo>
                    <a:pt x="2105978" y="1276722"/>
                  </a:lnTo>
                  <a:lnTo>
                    <a:pt x="2137410" y="1266428"/>
                  </a:lnTo>
                  <a:lnTo>
                    <a:pt x="2168842" y="1255877"/>
                  </a:lnTo>
                  <a:lnTo>
                    <a:pt x="2200275" y="1245063"/>
                  </a:lnTo>
                  <a:lnTo>
                    <a:pt x="2231708" y="1233980"/>
                  </a:lnTo>
                  <a:lnTo>
                    <a:pt x="2263140" y="1222626"/>
                  </a:lnTo>
                  <a:lnTo>
                    <a:pt x="2294573" y="1210997"/>
                  </a:lnTo>
                  <a:lnTo>
                    <a:pt x="2326005" y="1199092"/>
                  </a:lnTo>
                  <a:lnTo>
                    <a:pt x="2357438" y="1186910"/>
                  </a:lnTo>
                  <a:lnTo>
                    <a:pt x="2388870" y="1174451"/>
                  </a:lnTo>
                  <a:lnTo>
                    <a:pt x="2420303" y="1161718"/>
                  </a:lnTo>
                  <a:lnTo>
                    <a:pt x="2451735" y="1148716"/>
                  </a:lnTo>
                  <a:lnTo>
                    <a:pt x="2483168" y="1135449"/>
                  </a:lnTo>
                  <a:lnTo>
                    <a:pt x="2514600" y="1121924"/>
                  </a:lnTo>
                  <a:lnTo>
                    <a:pt x="2546033" y="1108146"/>
                  </a:lnTo>
                  <a:lnTo>
                    <a:pt x="2577465" y="1094123"/>
                  </a:lnTo>
                  <a:lnTo>
                    <a:pt x="2608898" y="1079864"/>
                  </a:lnTo>
                  <a:lnTo>
                    <a:pt x="2640330" y="1065379"/>
                  </a:lnTo>
                  <a:lnTo>
                    <a:pt x="2671763" y="1050674"/>
                  </a:lnTo>
                  <a:lnTo>
                    <a:pt x="2703195" y="1035762"/>
                  </a:lnTo>
                  <a:lnTo>
                    <a:pt x="2734627" y="1020656"/>
                  </a:lnTo>
                  <a:lnTo>
                    <a:pt x="2766060" y="1005370"/>
                  </a:lnTo>
                  <a:lnTo>
                    <a:pt x="2797493" y="989919"/>
                  </a:lnTo>
                  <a:lnTo>
                    <a:pt x="2828925" y="974318"/>
                  </a:lnTo>
                  <a:lnTo>
                    <a:pt x="2860358" y="958582"/>
                  </a:lnTo>
                  <a:lnTo>
                    <a:pt x="2891790" y="942729"/>
                  </a:lnTo>
                  <a:lnTo>
                    <a:pt x="2923223" y="926775"/>
                  </a:lnTo>
                  <a:lnTo>
                    <a:pt x="2954655" y="910738"/>
                  </a:lnTo>
                  <a:lnTo>
                    <a:pt x="2986088" y="894635"/>
                  </a:lnTo>
                  <a:lnTo>
                    <a:pt x="3017520" y="878486"/>
                  </a:lnTo>
                  <a:lnTo>
                    <a:pt x="3048953" y="862308"/>
                  </a:lnTo>
                  <a:lnTo>
                    <a:pt x="3080385" y="846120"/>
                  </a:lnTo>
                  <a:lnTo>
                    <a:pt x="3111817" y="829941"/>
                  </a:lnTo>
                  <a:lnTo>
                    <a:pt x="3143250" y="813791"/>
                  </a:lnTo>
                  <a:lnTo>
                    <a:pt x="3174683" y="797689"/>
                  </a:lnTo>
                  <a:lnTo>
                    <a:pt x="3206115" y="781655"/>
                  </a:lnTo>
                  <a:lnTo>
                    <a:pt x="3237548" y="765707"/>
                  </a:lnTo>
                  <a:lnTo>
                    <a:pt x="3268980" y="749865"/>
                  </a:lnTo>
                  <a:lnTo>
                    <a:pt x="3300413" y="734148"/>
                  </a:lnTo>
                  <a:lnTo>
                    <a:pt x="3331845" y="718573"/>
                  </a:lnTo>
                  <a:lnTo>
                    <a:pt x="3363277" y="703160"/>
                  </a:lnTo>
                  <a:lnTo>
                    <a:pt x="3394710" y="687926"/>
                  </a:lnTo>
                  <a:lnTo>
                    <a:pt x="3426142" y="672891"/>
                  </a:lnTo>
                  <a:lnTo>
                    <a:pt x="3457575" y="658071"/>
                  </a:lnTo>
                  <a:lnTo>
                    <a:pt x="3489008" y="643485"/>
                  </a:lnTo>
                  <a:lnTo>
                    <a:pt x="3520440" y="629148"/>
                  </a:lnTo>
                  <a:lnTo>
                    <a:pt x="3551873" y="615079"/>
                  </a:lnTo>
                  <a:lnTo>
                    <a:pt x="3583305" y="601291"/>
                  </a:lnTo>
                  <a:lnTo>
                    <a:pt x="3614738" y="587802"/>
                  </a:lnTo>
                  <a:lnTo>
                    <a:pt x="3646170" y="574625"/>
                  </a:lnTo>
                  <a:lnTo>
                    <a:pt x="3677602" y="561774"/>
                  </a:lnTo>
                  <a:lnTo>
                    <a:pt x="3709035" y="549262"/>
                  </a:lnTo>
                  <a:lnTo>
                    <a:pt x="3740468" y="537102"/>
                  </a:lnTo>
                  <a:lnTo>
                    <a:pt x="3771900" y="525304"/>
                  </a:lnTo>
                  <a:lnTo>
                    <a:pt x="3803333" y="513878"/>
                  </a:lnTo>
                  <a:lnTo>
                    <a:pt x="3834765" y="502834"/>
                  </a:lnTo>
                  <a:lnTo>
                    <a:pt x="3866197" y="492179"/>
                  </a:lnTo>
                  <a:lnTo>
                    <a:pt x="3897630" y="481919"/>
                  </a:lnTo>
                  <a:lnTo>
                    <a:pt x="3929063" y="472060"/>
                  </a:lnTo>
                  <a:lnTo>
                    <a:pt x="3960495" y="462611"/>
                  </a:lnTo>
                  <a:lnTo>
                    <a:pt x="3991927" y="453576"/>
                  </a:lnTo>
                  <a:lnTo>
                    <a:pt x="4023360" y="444957"/>
                  </a:lnTo>
                  <a:lnTo>
                    <a:pt x="4054792" y="436755"/>
                  </a:lnTo>
                  <a:lnTo>
                    <a:pt x="4086225" y="428970"/>
                  </a:lnTo>
                  <a:lnTo>
                    <a:pt x="4117658" y="421601"/>
                  </a:lnTo>
                  <a:lnTo>
                    <a:pt x="4149090" y="414647"/>
                  </a:lnTo>
                  <a:lnTo>
                    <a:pt x="4180523" y="408106"/>
                  </a:lnTo>
                  <a:lnTo>
                    <a:pt x="4211955" y="401975"/>
                  </a:lnTo>
                  <a:lnTo>
                    <a:pt x="4243388" y="396247"/>
                  </a:lnTo>
                  <a:lnTo>
                    <a:pt x="4274820" y="390919"/>
                  </a:lnTo>
                  <a:lnTo>
                    <a:pt x="4306253" y="385983"/>
                  </a:lnTo>
                  <a:lnTo>
                    <a:pt x="4337685" y="381433"/>
                  </a:lnTo>
                  <a:lnTo>
                    <a:pt x="4369118" y="377263"/>
                  </a:lnTo>
                  <a:lnTo>
                    <a:pt x="4400550" y="373465"/>
                  </a:lnTo>
                  <a:lnTo>
                    <a:pt x="4431983" y="370035"/>
                  </a:lnTo>
                  <a:lnTo>
                    <a:pt x="4463415" y="366964"/>
                  </a:lnTo>
                  <a:lnTo>
                    <a:pt x="4494848" y="364248"/>
                  </a:lnTo>
                  <a:lnTo>
                    <a:pt x="4526280" y="361880"/>
                  </a:lnTo>
                  <a:lnTo>
                    <a:pt x="4557713" y="359856"/>
                  </a:lnTo>
                  <a:lnTo>
                    <a:pt x="4589145" y="358172"/>
                  </a:lnTo>
                  <a:lnTo>
                    <a:pt x="4620578" y="356825"/>
                  </a:lnTo>
                  <a:lnTo>
                    <a:pt x="4652010" y="355812"/>
                  </a:lnTo>
                  <a:lnTo>
                    <a:pt x="4683443" y="355133"/>
                  </a:lnTo>
                  <a:lnTo>
                    <a:pt x="4714875" y="354788"/>
                  </a:lnTo>
                  <a:lnTo>
                    <a:pt x="4746308" y="354777"/>
                  </a:lnTo>
                  <a:lnTo>
                    <a:pt x="4777740" y="355105"/>
                  </a:lnTo>
                  <a:lnTo>
                    <a:pt x="4809172" y="355774"/>
                  </a:lnTo>
                  <a:lnTo>
                    <a:pt x="4840605" y="356791"/>
                  </a:lnTo>
                  <a:lnTo>
                    <a:pt x="4872038" y="358161"/>
                  </a:lnTo>
                  <a:lnTo>
                    <a:pt x="4903470" y="359893"/>
                  </a:lnTo>
                  <a:lnTo>
                    <a:pt x="4934903" y="361996"/>
                  </a:lnTo>
                  <a:lnTo>
                    <a:pt x="4966335" y="364482"/>
                  </a:lnTo>
                  <a:lnTo>
                    <a:pt x="4997767" y="367363"/>
                  </a:lnTo>
                  <a:lnTo>
                    <a:pt x="5029200" y="370652"/>
                  </a:lnTo>
                  <a:lnTo>
                    <a:pt x="5060633" y="374361"/>
                  </a:lnTo>
                  <a:lnTo>
                    <a:pt x="5092065" y="378504"/>
                  </a:lnTo>
                  <a:lnTo>
                    <a:pt x="5123498" y="383094"/>
                  </a:lnTo>
                  <a:lnTo>
                    <a:pt x="5154930" y="388147"/>
                  </a:lnTo>
                  <a:lnTo>
                    <a:pt x="5186363" y="393678"/>
                  </a:lnTo>
                  <a:lnTo>
                    <a:pt x="5217795" y="399699"/>
                  </a:lnTo>
                  <a:lnTo>
                    <a:pt x="5249228" y="406226"/>
                  </a:lnTo>
                  <a:lnTo>
                    <a:pt x="5280660" y="413272"/>
                  </a:lnTo>
                  <a:lnTo>
                    <a:pt x="5312093" y="420852"/>
                  </a:lnTo>
                  <a:lnTo>
                    <a:pt x="5343525" y="428977"/>
                  </a:lnTo>
                  <a:lnTo>
                    <a:pt x="5374958" y="437660"/>
                  </a:lnTo>
                  <a:lnTo>
                    <a:pt x="5406390" y="446912"/>
                  </a:lnTo>
                  <a:lnTo>
                    <a:pt x="5437823" y="456743"/>
                  </a:lnTo>
                  <a:lnTo>
                    <a:pt x="5469255" y="467157"/>
                  </a:lnTo>
                  <a:lnTo>
                    <a:pt x="5500688" y="478161"/>
                  </a:lnTo>
                  <a:lnTo>
                    <a:pt x="5532120" y="489762"/>
                  </a:lnTo>
                  <a:lnTo>
                    <a:pt x="5563553" y="501963"/>
                  </a:lnTo>
                  <a:lnTo>
                    <a:pt x="5594985" y="514767"/>
                  </a:lnTo>
                  <a:lnTo>
                    <a:pt x="5626418" y="528175"/>
                  </a:lnTo>
                  <a:lnTo>
                    <a:pt x="5657850" y="542188"/>
                  </a:lnTo>
                  <a:lnTo>
                    <a:pt x="5689283" y="556800"/>
                  </a:lnTo>
                  <a:lnTo>
                    <a:pt x="5720715" y="572008"/>
                  </a:lnTo>
                  <a:lnTo>
                    <a:pt x="5752147" y="587810"/>
                  </a:lnTo>
                  <a:lnTo>
                    <a:pt x="5783580" y="604200"/>
                  </a:lnTo>
                  <a:lnTo>
                    <a:pt x="5815013" y="621171"/>
                  </a:lnTo>
                  <a:lnTo>
                    <a:pt x="5846445" y="638715"/>
                  </a:lnTo>
                  <a:lnTo>
                    <a:pt x="5877878" y="656824"/>
                  </a:lnTo>
                  <a:lnTo>
                    <a:pt x="5909310" y="675486"/>
                  </a:lnTo>
                  <a:lnTo>
                    <a:pt x="5940742" y="694691"/>
                  </a:lnTo>
                  <a:lnTo>
                    <a:pt x="5972175" y="714423"/>
                  </a:lnTo>
                  <a:lnTo>
                    <a:pt x="6003608" y="734667"/>
                  </a:lnTo>
                  <a:lnTo>
                    <a:pt x="6035040" y="755407"/>
                  </a:lnTo>
                  <a:lnTo>
                    <a:pt x="6066473" y="776629"/>
                  </a:lnTo>
                  <a:lnTo>
                    <a:pt x="6097905" y="798315"/>
                  </a:lnTo>
                  <a:lnTo>
                    <a:pt x="6129338" y="820447"/>
                  </a:lnTo>
                  <a:lnTo>
                    <a:pt x="6160770" y="843006"/>
                  </a:lnTo>
                  <a:lnTo>
                    <a:pt x="6192203" y="865972"/>
                  </a:lnTo>
                  <a:lnTo>
                    <a:pt x="6223635" y="889325"/>
                  </a:lnTo>
                  <a:lnTo>
                    <a:pt x="6255068" y="913042"/>
                  </a:lnTo>
                  <a:lnTo>
                    <a:pt x="6286500" y="937100"/>
                  </a:lnTo>
                  <a:lnTo>
                    <a:pt x="6317933" y="961475"/>
                  </a:lnTo>
                  <a:lnTo>
                    <a:pt x="6349365" y="986142"/>
                  </a:lnTo>
                  <a:lnTo>
                    <a:pt x="6380798" y="1011074"/>
                  </a:lnTo>
                  <a:lnTo>
                    <a:pt x="6412230" y="1036245"/>
                  </a:lnTo>
                  <a:lnTo>
                    <a:pt x="6443663" y="1061625"/>
                  </a:lnTo>
                  <a:lnTo>
                    <a:pt x="6475095" y="1087185"/>
                  </a:lnTo>
                  <a:lnTo>
                    <a:pt x="6506528" y="1112893"/>
                  </a:lnTo>
                  <a:lnTo>
                    <a:pt x="6537960" y="1138718"/>
                  </a:lnTo>
                  <a:lnTo>
                    <a:pt x="6569392" y="1164626"/>
                  </a:lnTo>
                  <a:lnTo>
                    <a:pt x="6600825" y="1190583"/>
                  </a:lnTo>
                  <a:lnTo>
                    <a:pt x="6632258" y="1216554"/>
                  </a:lnTo>
                  <a:lnTo>
                    <a:pt x="6663690" y="1242503"/>
                  </a:lnTo>
                  <a:lnTo>
                    <a:pt x="6695122" y="1268394"/>
                  </a:lnTo>
                  <a:lnTo>
                    <a:pt x="6726555" y="1294189"/>
                  </a:lnTo>
                  <a:lnTo>
                    <a:pt x="6757988" y="1319849"/>
                  </a:lnTo>
                  <a:lnTo>
                    <a:pt x="6789420" y="1345339"/>
                  </a:lnTo>
                  <a:lnTo>
                    <a:pt x="6820853" y="1370618"/>
                  </a:lnTo>
                  <a:lnTo>
                    <a:pt x="6852285" y="1395650"/>
                  </a:lnTo>
                  <a:lnTo>
                    <a:pt x="6883717" y="1420396"/>
                  </a:lnTo>
                  <a:lnTo>
                    <a:pt x="6915150" y="1444819"/>
                  </a:lnTo>
                  <a:lnTo>
                    <a:pt x="6946583" y="1468884"/>
                  </a:lnTo>
                  <a:lnTo>
                    <a:pt x="6978015" y="1492554"/>
                  </a:lnTo>
                  <a:lnTo>
                    <a:pt x="7009448" y="1515795"/>
                  </a:lnTo>
                  <a:lnTo>
                    <a:pt x="7040880" y="1538574"/>
                  </a:lnTo>
                  <a:lnTo>
                    <a:pt x="7072313" y="1560860"/>
                  </a:lnTo>
                  <a:lnTo>
                    <a:pt x="7103745" y="1582623"/>
                  </a:lnTo>
                  <a:lnTo>
                    <a:pt x="7135177" y="1603836"/>
                  </a:lnTo>
                  <a:lnTo>
                    <a:pt x="7166610" y="1624472"/>
                  </a:lnTo>
                  <a:lnTo>
                    <a:pt x="7198042" y="1644505"/>
                  </a:lnTo>
                  <a:lnTo>
                    <a:pt x="7229475" y="1663914"/>
                  </a:lnTo>
                  <a:lnTo>
                    <a:pt x="7260908" y="1682681"/>
                  </a:lnTo>
                  <a:lnTo>
                    <a:pt x="7292340" y="1700791"/>
                  </a:lnTo>
                  <a:lnTo>
                    <a:pt x="7323772" y="1718233"/>
                  </a:lnTo>
                  <a:lnTo>
                    <a:pt x="7355205" y="1734994"/>
                  </a:lnTo>
                  <a:lnTo>
                    <a:pt x="7386638" y="1751070"/>
                  </a:lnTo>
                  <a:lnTo>
                    <a:pt x="7418070" y="1766454"/>
                  </a:lnTo>
                  <a:lnTo>
                    <a:pt x="7449503" y="1781144"/>
                  </a:lnTo>
                  <a:lnTo>
                    <a:pt x="7480935" y="1795143"/>
                  </a:lnTo>
                  <a:lnTo>
                    <a:pt x="7512367" y="1808452"/>
                  </a:lnTo>
                  <a:lnTo>
                    <a:pt x="7543800" y="1821077"/>
                  </a:lnTo>
                  <a:lnTo>
                    <a:pt x="7543800" y="2060947"/>
                  </a:lnTo>
                  <a:lnTo>
                    <a:pt x="7512367" y="2049208"/>
                  </a:lnTo>
                  <a:lnTo>
                    <a:pt x="7480935" y="2036813"/>
                  </a:lnTo>
                  <a:lnTo>
                    <a:pt x="7449503" y="2023754"/>
                  </a:lnTo>
                  <a:lnTo>
                    <a:pt x="7418070" y="2010026"/>
                  </a:lnTo>
                  <a:lnTo>
                    <a:pt x="7386638" y="1995627"/>
                  </a:lnTo>
                  <a:lnTo>
                    <a:pt x="7355205" y="1980558"/>
                  </a:lnTo>
                  <a:lnTo>
                    <a:pt x="7323772" y="1964820"/>
                  </a:lnTo>
                  <a:lnTo>
                    <a:pt x="7292340" y="1948421"/>
                  </a:lnTo>
                  <a:lnTo>
                    <a:pt x="7260908" y="1931368"/>
                  </a:lnTo>
                  <a:lnTo>
                    <a:pt x="7229475" y="1913672"/>
                  </a:lnTo>
                  <a:lnTo>
                    <a:pt x="7198042" y="1895346"/>
                  </a:lnTo>
                  <a:lnTo>
                    <a:pt x="7166610" y="1876408"/>
                  </a:lnTo>
                  <a:lnTo>
                    <a:pt x="7135177" y="1856876"/>
                  </a:lnTo>
                  <a:lnTo>
                    <a:pt x="7103745" y="1836776"/>
                  </a:lnTo>
                  <a:lnTo>
                    <a:pt x="7072313" y="1816132"/>
                  </a:lnTo>
                  <a:lnTo>
                    <a:pt x="7040880" y="1794972"/>
                  </a:lnTo>
                  <a:lnTo>
                    <a:pt x="7009448" y="1773325"/>
                  </a:lnTo>
                  <a:lnTo>
                    <a:pt x="6978015" y="1751221"/>
                  </a:lnTo>
                  <a:lnTo>
                    <a:pt x="6946583" y="1728693"/>
                  </a:lnTo>
                  <a:lnTo>
                    <a:pt x="6915150" y="1705776"/>
                  </a:lnTo>
                  <a:lnTo>
                    <a:pt x="6883717" y="1682505"/>
                  </a:lnTo>
                  <a:lnTo>
                    <a:pt x="6852285" y="1658916"/>
                  </a:lnTo>
                  <a:lnTo>
                    <a:pt x="6820853" y="1635049"/>
                  </a:lnTo>
                  <a:lnTo>
                    <a:pt x="6789420" y="1610940"/>
                  </a:lnTo>
                  <a:lnTo>
                    <a:pt x="6757988" y="1586629"/>
                  </a:lnTo>
                  <a:lnTo>
                    <a:pt x="6726555" y="1562154"/>
                  </a:lnTo>
                  <a:lnTo>
                    <a:pt x="6695122" y="1537555"/>
                  </a:lnTo>
                  <a:lnTo>
                    <a:pt x="6663690" y="1512870"/>
                  </a:lnTo>
                  <a:lnTo>
                    <a:pt x="6632258" y="1488137"/>
                  </a:lnTo>
                  <a:lnTo>
                    <a:pt x="6600825" y="1463394"/>
                  </a:lnTo>
                  <a:lnTo>
                    <a:pt x="6569392" y="1438678"/>
                  </a:lnTo>
                  <a:lnTo>
                    <a:pt x="6537960" y="1414026"/>
                  </a:lnTo>
                  <a:lnTo>
                    <a:pt x="6506528" y="1389470"/>
                  </a:lnTo>
                  <a:lnTo>
                    <a:pt x="6475095" y="1365047"/>
                  </a:lnTo>
                  <a:lnTo>
                    <a:pt x="6443663" y="1340787"/>
                  </a:lnTo>
                  <a:lnTo>
                    <a:pt x="6412230" y="1316723"/>
                  </a:lnTo>
                  <a:lnTo>
                    <a:pt x="6380798" y="1292884"/>
                  </a:lnTo>
                  <a:lnTo>
                    <a:pt x="6349365" y="1269299"/>
                  </a:lnTo>
                  <a:lnTo>
                    <a:pt x="6317933" y="1245995"/>
                  </a:lnTo>
                  <a:lnTo>
                    <a:pt x="6286500" y="1222997"/>
                  </a:lnTo>
                  <a:lnTo>
                    <a:pt x="6255068" y="1200330"/>
                  </a:lnTo>
                  <a:lnTo>
                    <a:pt x="6223635" y="1178016"/>
                  </a:lnTo>
                  <a:lnTo>
                    <a:pt x="6192203" y="1156079"/>
                  </a:lnTo>
                  <a:lnTo>
                    <a:pt x="6160770" y="1134537"/>
                  </a:lnTo>
                  <a:lnTo>
                    <a:pt x="6129338" y="1113410"/>
                  </a:lnTo>
                  <a:lnTo>
                    <a:pt x="6097905" y="1092716"/>
                  </a:lnTo>
                  <a:lnTo>
                    <a:pt x="6066473" y="1072472"/>
                  </a:lnTo>
                  <a:lnTo>
                    <a:pt x="6035040" y="1052692"/>
                  </a:lnTo>
                  <a:lnTo>
                    <a:pt x="6003608" y="1033393"/>
                  </a:lnTo>
                  <a:lnTo>
                    <a:pt x="5972175" y="1014586"/>
                  </a:lnTo>
                  <a:lnTo>
                    <a:pt x="5940742" y="996285"/>
                  </a:lnTo>
                  <a:lnTo>
                    <a:pt x="5909310" y="978499"/>
                  </a:lnTo>
                  <a:lnTo>
                    <a:pt x="5877878" y="961244"/>
                  </a:lnTo>
                  <a:lnTo>
                    <a:pt x="5846445" y="944526"/>
                  </a:lnTo>
                  <a:lnTo>
                    <a:pt x="5815013" y="928353"/>
                  </a:lnTo>
                  <a:lnTo>
                    <a:pt x="5783580" y="912732"/>
                  </a:lnTo>
                  <a:lnTo>
                    <a:pt x="5752147" y="897668"/>
                  </a:lnTo>
                  <a:lnTo>
                    <a:pt x="5720715" y="883164"/>
                  </a:lnTo>
                  <a:lnTo>
                    <a:pt x="5689283" y="869223"/>
                  </a:lnTo>
                  <a:lnTo>
                    <a:pt x="5657850" y="855847"/>
                  </a:lnTo>
                  <a:lnTo>
                    <a:pt x="5626418" y="843036"/>
                  </a:lnTo>
                  <a:lnTo>
                    <a:pt x="5594985" y="830792"/>
                  </a:lnTo>
                  <a:lnTo>
                    <a:pt x="5563553" y="819115"/>
                  </a:lnTo>
                  <a:lnTo>
                    <a:pt x="5532120" y="808000"/>
                  </a:lnTo>
                  <a:lnTo>
                    <a:pt x="5500688" y="797444"/>
                  </a:lnTo>
                  <a:lnTo>
                    <a:pt x="5469255" y="787442"/>
                  </a:lnTo>
                  <a:lnTo>
                    <a:pt x="5437823" y="777987"/>
                  </a:lnTo>
                  <a:lnTo>
                    <a:pt x="5406390" y="769071"/>
                  </a:lnTo>
                  <a:lnTo>
                    <a:pt x="5374958" y="760689"/>
                  </a:lnTo>
                  <a:lnTo>
                    <a:pt x="5343525" y="752833"/>
                  </a:lnTo>
                  <a:lnTo>
                    <a:pt x="5312093" y="745489"/>
                  </a:lnTo>
                  <a:lnTo>
                    <a:pt x="5280660" y="738647"/>
                  </a:lnTo>
                  <a:lnTo>
                    <a:pt x="5249228" y="732295"/>
                  </a:lnTo>
                  <a:lnTo>
                    <a:pt x="5217795" y="726419"/>
                  </a:lnTo>
                  <a:lnTo>
                    <a:pt x="5186363" y="721007"/>
                  </a:lnTo>
                  <a:lnTo>
                    <a:pt x="5154930" y="716045"/>
                  </a:lnTo>
                  <a:lnTo>
                    <a:pt x="5123498" y="711520"/>
                  </a:lnTo>
                  <a:lnTo>
                    <a:pt x="5092065" y="707418"/>
                  </a:lnTo>
                  <a:lnTo>
                    <a:pt x="5060633" y="703728"/>
                  </a:lnTo>
                  <a:lnTo>
                    <a:pt x="5029200" y="700436"/>
                  </a:lnTo>
                  <a:lnTo>
                    <a:pt x="4997767" y="697530"/>
                  </a:lnTo>
                  <a:lnTo>
                    <a:pt x="4966335" y="695000"/>
                  </a:lnTo>
                  <a:lnTo>
                    <a:pt x="4934903" y="692834"/>
                  </a:lnTo>
                  <a:lnTo>
                    <a:pt x="4903470" y="691023"/>
                  </a:lnTo>
                  <a:lnTo>
                    <a:pt x="4872038" y="689555"/>
                  </a:lnTo>
                  <a:lnTo>
                    <a:pt x="4840605" y="688423"/>
                  </a:lnTo>
                  <a:lnTo>
                    <a:pt x="4809172" y="687622"/>
                  </a:lnTo>
                  <a:lnTo>
                    <a:pt x="4777740" y="687145"/>
                  </a:lnTo>
                  <a:lnTo>
                    <a:pt x="4746308" y="686991"/>
                  </a:lnTo>
                  <a:lnTo>
                    <a:pt x="4714875" y="687155"/>
                  </a:lnTo>
                  <a:lnTo>
                    <a:pt x="4683443" y="687638"/>
                  </a:lnTo>
                  <a:lnTo>
                    <a:pt x="4652010" y="688439"/>
                  </a:lnTo>
                  <a:lnTo>
                    <a:pt x="4620578" y="689558"/>
                  </a:lnTo>
                  <a:lnTo>
                    <a:pt x="4589145" y="690999"/>
                  </a:lnTo>
                  <a:lnTo>
                    <a:pt x="4557713" y="692763"/>
                  </a:lnTo>
                  <a:lnTo>
                    <a:pt x="4526280" y="694856"/>
                  </a:lnTo>
                  <a:lnTo>
                    <a:pt x="4494848" y="697282"/>
                  </a:lnTo>
                  <a:lnTo>
                    <a:pt x="4463415" y="700046"/>
                  </a:lnTo>
                  <a:lnTo>
                    <a:pt x="4431983" y="703154"/>
                  </a:lnTo>
                  <a:lnTo>
                    <a:pt x="4400550" y="706613"/>
                  </a:lnTo>
                  <a:lnTo>
                    <a:pt x="4369118" y="710429"/>
                  </a:lnTo>
                  <a:lnTo>
                    <a:pt x="4337685" y="714609"/>
                  </a:lnTo>
                  <a:lnTo>
                    <a:pt x="4306253" y="719160"/>
                  </a:lnTo>
                  <a:lnTo>
                    <a:pt x="4274820" y="724088"/>
                  </a:lnTo>
                  <a:lnTo>
                    <a:pt x="4243388" y="729400"/>
                  </a:lnTo>
                  <a:lnTo>
                    <a:pt x="4211955" y="735100"/>
                  </a:lnTo>
                  <a:lnTo>
                    <a:pt x="4180523" y="741194"/>
                  </a:lnTo>
                  <a:lnTo>
                    <a:pt x="4149090" y="747687"/>
                  </a:lnTo>
                  <a:lnTo>
                    <a:pt x="4117658" y="754581"/>
                  </a:lnTo>
                  <a:lnTo>
                    <a:pt x="4086225" y="761877"/>
                  </a:lnTo>
                  <a:lnTo>
                    <a:pt x="4054792" y="769577"/>
                  </a:lnTo>
                  <a:lnTo>
                    <a:pt x="4023360" y="777679"/>
                  </a:lnTo>
                  <a:lnTo>
                    <a:pt x="3991927" y="786184"/>
                  </a:lnTo>
                  <a:lnTo>
                    <a:pt x="3960495" y="795087"/>
                  </a:lnTo>
                  <a:lnTo>
                    <a:pt x="3929063" y="804386"/>
                  </a:lnTo>
                  <a:lnTo>
                    <a:pt x="3897630" y="814074"/>
                  </a:lnTo>
                  <a:lnTo>
                    <a:pt x="3866197" y="824141"/>
                  </a:lnTo>
                  <a:lnTo>
                    <a:pt x="3834765" y="834581"/>
                  </a:lnTo>
                  <a:lnTo>
                    <a:pt x="3803333" y="845384"/>
                  </a:lnTo>
                  <a:lnTo>
                    <a:pt x="3771900" y="856541"/>
                  </a:lnTo>
                  <a:lnTo>
                    <a:pt x="3740468" y="868040"/>
                  </a:lnTo>
                  <a:lnTo>
                    <a:pt x="3709035" y="879869"/>
                  </a:lnTo>
                  <a:lnTo>
                    <a:pt x="3677602" y="892015"/>
                  </a:lnTo>
                  <a:lnTo>
                    <a:pt x="3646170" y="904464"/>
                  </a:lnTo>
                  <a:lnTo>
                    <a:pt x="3614738" y="917201"/>
                  </a:lnTo>
                  <a:lnTo>
                    <a:pt x="3583305" y="930208"/>
                  </a:lnTo>
                  <a:lnTo>
                    <a:pt x="3551873" y="943471"/>
                  </a:lnTo>
                  <a:lnTo>
                    <a:pt x="3520440" y="956971"/>
                  </a:lnTo>
                  <a:lnTo>
                    <a:pt x="3489008" y="970690"/>
                  </a:lnTo>
                  <a:lnTo>
                    <a:pt x="3457575" y="984612"/>
                  </a:lnTo>
                  <a:lnTo>
                    <a:pt x="3426142" y="998716"/>
                  </a:lnTo>
                  <a:lnTo>
                    <a:pt x="3394710" y="1012985"/>
                  </a:lnTo>
                  <a:lnTo>
                    <a:pt x="3363277" y="1027400"/>
                  </a:lnTo>
                  <a:lnTo>
                    <a:pt x="3331845" y="1041942"/>
                  </a:lnTo>
                  <a:lnTo>
                    <a:pt x="3300413" y="1056592"/>
                  </a:lnTo>
                  <a:lnTo>
                    <a:pt x="3268980" y="1071332"/>
                  </a:lnTo>
                  <a:lnTo>
                    <a:pt x="3237548" y="1086144"/>
                  </a:lnTo>
                  <a:lnTo>
                    <a:pt x="3206115" y="1101009"/>
                  </a:lnTo>
                  <a:lnTo>
                    <a:pt x="3174683" y="1115910"/>
                  </a:lnTo>
                  <a:lnTo>
                    <a:pt x="3143250" y="1130829"/>
                  </a:lnTo>
                  <a:lnTo>
                    <a:pt x="3111817" y="1145749"/>
                  </a:lnTo>
                  <a:lnTo>
                    <a:pt x="3080385" y="1160652"/>
                  </a:lnTo>
                  <a:lnTo>
                    <a:pt x="3048953" y="1175521"/>
                  </a:lnTo>
                  <a:lnTo>
                    <a:pt x="3017520" y="1190341"/>
                  </a:lnTo>
                  <a:lnTo>
                    <a:pt x="2986088" y="1205097"/>
                  </a:lnTo>
                  <a:lnTo>
                    <a:pt x="2954655" y="1219772"/>
                  </a:lnTo>
                  <a:lnTo>
                    <a:pt x="2923223" y="1234355"/>
                  </a:lnTo>
                  <a:lnTo>
                    <a:pt x="2891790" y="1248830"/>
                  </a:lnTo>
                  <a:lnTo>
                    <a:pt x="2860358" y="1263184"/>
                  </a:lnTo>
                  <a:lnTo>
                    <a:pt x="2828925" y="1277407"/>
                  </a:lnTo>
                  <a:lnTo>
                    <a:pt x="2797493" y="1291485"/>
                  </a:lnTo>
                  <a:lnTo>
                    <a:pt x="2766060" y="1305408"/>
                  </a:lnTo>
                  <a:lnTo>
                    <a:pt x="2734627" y="1319166"/>
                  </a:lnTo>
                  <a:lnTo>
                    <a:pt x="2703195" y="1332748"/>
                  </a:lnTo>
                  <a:lnTo>
                    <a:pt x="2671763" y="1346147"/>
                  </a:lnTo>
                  <a:lnTo>
                    <a:pt x="2640330" y="1359353"/>
                  </a:lnTo>
                  <a:lnTo>
                    <a:pt x="2608898" y="1372359"/>
                  </a:lnTo>
                  <a:lnTo>
                    <a:pt x="2577465" y="1385163"/>
                  </a:lnTo>
                  <a:lnTo>
                    <a:pt x="2546033" y="1397758"/>
                  </a:lnTo>
                  <a:lnTo>
                    <a:pt x="2514600" y="1410139"/>
                  </a:lnTo>
                  <a:lnTo>
                    <a:pt x="2483168" y="1422304"/>
                  </a:lnTo>
                  <a:lnTo>
                    <a:pt x="2451735" y="1434247"/>
                  </a:lnTo>
                  <a:lnTo>
                    <a:pt x="2420303" y="1445968"/>
                  </a:lnTo>
                  <a:lnTo>
                    <a:pt x="2388870" y="1457464"/>
                  </a:lnTo>
                  <a:lnTo>
                    <a:pt x="2357438" y="1468730"/>
                  </a:lnTo>
                  <a:lnTo>
                    <a:pt x="2326005" y="1479767"/>
                  </a:lnTo>
                  <a:lnTo>
                    <a:pt x="2294573" y="1490576"/>
                  </a:lnTo>
                  <a:lnTo>
                    <a:pt x="2263140" y="1501157"/>
                  </a:lnTo>
                  <a:lnTo>
                    <a:pt x="2231708" y="1511513"/>
                  </a:lnTo>
                  <a:lnTo>
                    <a:pt x="2200275" y="1521646"/>
                  </a:lnTo>
                  <a:lnTo>
                    <a:pt x="2168842" y="1531560"/>
                  </a:lnTo>
                  <a:lnTo>
                    <a:pt x="2137410" y="1541258"/>
                  </a:lnTo>
                  <a:lnTo>
                    <a:pt x="2105978" y="1550745"/>
                  </a:lnTo>
                  <a:lnTo>
                    <a:pt x="2074545" y="1560025"/>
                  </a:lnTo>
                  <a:lnTo>
                    <a:pt x="2043113" y="1569104"/>
                  </a:lnTo>
                  <a:lnTo>
                    <a:pt x="2011680" y="1577989"/>
                  </a:lnTo>
                  <a:lnTo>
                    <a:pt x="1980248" y="1586687"/>
                  </a:lnTo>
                  <a:lnTo>
                    <a:pt x="1948815" y="1595205"/>
                  </a:lnTo>
                  <a:lnTo>
                    <a:pt x="1917382" y="1603552"/>
                  </a:lnTo>
                  <a:lnTo>
                    <a:pt x="1885950" y="1611736"/>
                  </a:lnTo>
                  <a:lnTo>
                    <a:pt x="1854518" y="1619768"/>
                  </a:lnTo>
                  <a:lnTo>
                    <a:pt x="1823085" y="1627658"/>
                  </a:lnTo>
                  <a:lnTo>
                    <a:pt x="1791652" y="1635418"/>
                  </a:lnTo>
                  <a:lnTo>
                    <a:pt x="1760220" y="1643059"/>
                  </a:lnTo>
                  <a:lnTo>
                    <a:pt x="1728788" y="1650594"/>
                  </a:lnTo>
                  <a:lnTo>
                    <a:pt x="1697355" y="1658038"/>
                  </a:lnTo>
                  <a:lnTo>
                    <a:pt x="1665922" y="1665404"/>
                  </a:lnTo>
                  <a:lnTo>
                    <a:pt x="1634490" y="1672707"/>
                  </a:lnTo>
                  <a:lnTo>
                    <a:pt x="1603057" y="1679963"/>
                  </a:lnTo>
                  <a:lnTo>
                    <a:pt x="1571625" y="1687185"/>
                  </a:lnTo>
                  <a:lnTo>
                    <a:pt x="1540193" y="1694388"/>
                  </a:lnTo>
                  <a:lnTo>
                    <a:pt x="1508760" y="1701589"/>
                  </a:lnTo>
                  <a:lnTo>
                    <a:pt x="1477328" y="1708805"/>
                  </a:lnTo>
                  <a:lnTo>
                    <a:pt x="1445895" y="1716052"/>
                  </a:lnTo>
                  <a:lnTo>
                    <a:pt x="1414463" y="1723348"/>
                  </a:lnTo>
                  <a:lnTo>
                    <a:pt x="1383030" y="1730709"/>
                  </a:lnTo>
                  <a:lnTo>
                    <a:pt x="1351598" y="1738152"/>
                  </a:lnTo>
                  <a:lnTo>
                    <a:pt x="1320165" y="1745693"/>
                  </a:lnTo>
                  <a:lnTo>
                    <a:pt x="1288733" y="1753347"/>
                  </a:lnTo>
                  <a:lnTo>
                    <a:pt x="1257300" y="1761129"/>
                  </a:lnTo>
                  <a:lnTo>
                    <a:pt x="1225868" y="1769053"/>
                  </a:lnTo>
                  <a:lnTo>
                    <a:pt x="1194435" y="1777133"/>
                  </a:lnTo>
                  <a:lnTo>
                    <a:pt x="1163003" y="1785379"/>
                  </a:lnTo>
                  <a:lnTo>
                    <a:pt x="1131570" y="1793802"/>
                  </a:lnTo>
                  <a:lnTo>
                    <a:pt x="1100138" y="1802410"/>
                  </a:lnTo>
                  <a:lnTo>
                    <a:pt x="1068705" y="1811211"/>
                  </a:lnTo>
                  <a:lnTo>
                    <a:pt x="1037273" y="1820210"/>
                  </a:lnTo>
                  <a:lnTo>
                    <a:pt x="1005840" y="1829410"/>
                  </a:lnTo>
                  <a:lnTo>
                    <a:pt x="974408" y="1838813"/>
                  </a:lnTo>
                  <a:lnTo>
                    <a:pt x="942975" y="1848418"/>
                  </a:lnTo>
                  <a:lnTo>
                    <a:pt x="911543" y="1858222"/>
                  </a:lnTo>
                  <a:lnTo>
                    <a:pt x="880110" y="1868220"/>
                  </a:lnTo>
                  <a:lnTo>
                    <a:pt x="848678" y="1878407"/>
                  </a:lnTo>
                  <a:lnTo>
                    <a:pt x="817245" y="1888775"/>
                  </a:lnTo>
                  <a:lnTo>
                    <a:pt x="785813" y="1899310"/>
                  </a:lnTo>
                  <a:lnTo>
                    <a:pt x="754380" y="1910000"/>
                  </a:lnTo>
                  <a:lnTo>
                    <a:pt x="722948" y="1920830"/>
                  </a:lnTo>
                  <a:lnTo>
                    <a:pt x="691515" y="1931783"/>
                  </a:lnTo>
                  <a:lnTo>
                    <a:pt x="660082" y="1942840"/>
                  </a:lnTo>
                  <a:lnTo>
                    <a:pt x="628650" y="1953980"/>
                  </a:lnTo>
                  <a:lnTo>
                    <a:pt x="597218" y="1965184"/>
                  </a:lnTo>
                  <a:lnTo>
                    <a:pt x="565785" y="1976427"/>
                  </a:lnTo>
                  <a:lnTo>
                    <a:pt x="534353" y="1987687"/>
                  </a:lnTo>
                  <a:lnTo>
                    <a:pt x="502920" y="1998940"/>
                  </a:lnTo>
                  <a:lnTo>
                    <a:pt x="471488" y="2010160"/>
                  </a:lnTo>
                  <a:lnTo>
                    <a:pt x="440055" y="2021323"/>
                  </a:lnTo>
                  <a:lnTo>
                    <a:pt x="408623" y="2032403"/>
                  </a:lnTo>
                  <a:lnTo>
                    <a:pt x="377190" y="2043376"/>
                  </a:lnTo>
                  <a:lnTo>
                    <a:pt x="345758" y="2054217"/>
                  </a:lnTo>
                  <a:lnTo>
                    <a:pt x="314325" y="2064902"/>
                  </a:lnTo>
                  <a:lnTo>
                    <a:pt x="282892" y="2075407"/>
                  </a:lnTo>
                  <a:lnTo>
                    <a:pt x="251460" y="2085711"/>
                  </a:lnTo>
                  <a:lnTo>
                    <a:pt x="220027" y="2095792"/>
                  </a:lnTo>
                  <a:lnTo>
                    <a:pt x="188595" y="2105630"/>
                  </a:lnTo>
                  <a:lnTo>
                    <a:pt x="157163" y="2115207"/>
                  </a:lnTo>
                  <a:lnTo>
                    <a:pt x="125730" y="2124507"/>
                  </a:lnTo>
                  <a:lnTo>
                    <a:pt x="94298" y="2133513"/>
                  </a:lnTo>
                  <a:lnTo>
                    <a:pt x="62865" y="2142212"/>
                  </a:lnTo>
                  <a:lnTo>
                    <a:pt x="31433" y="2150594"/>
                  </a:lnTo>
                  <a:lnTo>
                    <a:pt x="0" y="2158648"/>
                  </a:lnTo>
                  <a:close/>
                </a:path>
              </a:pathLst>
            </a:custGeom>
            <a:solidFill>
              <a:srgbClr val="0047FF"/>
            </a:solidFill>
            <a:ln>
              <a:noFill/>
            </a:ln>
          </p:spPr>
        </p:sp>
        <p:sp>
          <p:nvSpPr>
            <p:cNvPr id="9" name="node01.phases.source-001.label"/>
            <p:cNvSpPr/>
            <p:nvPr/>
          </p:nvSpPr>
          <p:spPr>
            <a:xfrm>
              <a:off x="83820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MOBILIZE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phases.source-001.sub"/>
            <p:cNvSpPr/>
            <p:nvPr/>
          </p:nvSpPr>
          <p:spPr>
            <a:xfrm>
              <a:off x="83820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1–2: core team and client leads.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phases.source-002.rule"/>
            <p:cNvSpPr/>
            <p:nvPr/>
          </p:nvSpPr>
          <p:spPr>
            <a:xfrm>
              <a:off x="2609850" y="1600200"/>
              <a:ext cx="0" cy="4114800"/>
            </a:xfrm>
            <a:prstGeom prst="line">
              <a:avLst/>
            </a:prstGeom>
            <a:noFill/>
            <a:ln w="9525">
              <a:solidFill>
                <a:srgbClr val="97A4BA"/>
              </a:solidFill>
              <a:prstDash val="solid"/>
            </a:ln>
          </p:spPr>
        </p:sp>
        <p:sp>
          <p:nvSpPr>
            <p:cNvPr id="12" name="node01.phases.source-002.label"/>
            <p:cNvSpPr/>
            <p:nvPr/>
          </p:nvSpPr>
          <p:spPr>
            <a:xfrm>
              <a:off x="272415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DESIGN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hases.source-002.sub"/>
            <p:cNvSpPr/>
            <p:nvPr/>
          </p:nvSpPr>
          <p:spPr>
            <a:xfrm>
              <a:off x="272415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3–6: BAs and architect at full load.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1.phases.source-003.rule"/>
            <p:cNvSpPr/>
            <p:nvPr/>
          </p:nvSpPr>
          <p:spPr>
            <a:xfrm>
              <a:off x="4495800" y="1600200"/>
              <a:ext cx="0" cy="4114800"/>
            </a:xfrm>
            <a:prstGeom prst="line">
              <a:avLst/>
            </a:prstGeom>
            <a:noFill/>
            <a:ln w="9525">
              <a:solidFill>
                <a:srgbClr val="97A4BA"/>
              </a:solidFill>
              <a:prstDash val="solid"/>
            </a:ln>
          </p:spPr>
        </p:sp>
        <p:sp>
          <p:nvSpPr>
            <p:cNvPr id="15" name="node01.phases.source-003.label"/>
            <p:cNvSpPr/>
            <p:nvPr/>
          </p:nvSpPr>
          <p:spPr>
            <a:xfrm>
              <a:off x="461010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BUILD AND TEST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phases.source-003.sub"/>
            <p:cNvSpPr/>
            <p:nvPr/>
          </p:nvSpPr>
          <p:spPr>
            <a:xfrm>
              <a:off x="461010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7–12: developers and QA join.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phases.source-004.rule"/>
            <p:cNvSpPr/>
            <p:nvPr/>
          </p:nvSpPr>
          <p:spPr>
            <a:xfrm>
              <a:off x="6381750" y="1600200"/>
              <a:ext cx="0" cy="4114800"/>
            </a:xfrm>
            <a:prstGeom prst="line">
              <a:avLst/>
            </a:prstGeom>
            <a:noFill/>
            <a:ln w="9525">
              <a:solidFill>
                <a:srgbClr val="97A4BA"/>
              </a:solidFill>
              <a:prstDash val="solid"/>
            </a:ln>
          </p:spPr>
        </p:sp>
        <p:sp>
          <p:nvSpPr>
            <p:cNvPr id="18" name="node01.phases.source-004.label"/>
            <p:cNvSpPr/>
            <p:nvPr/>
          </p:nvSpPr>
          <p:spPr>
            <a:xfrm>
              <a:off x="6496050" y="4914900"/>
              <a:ext cx="165735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LAUNCH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hases.source-004.sub"/>
            <p:cNvSpPr/>
            <p:nvPr/>
          </p:nvSpPr>
          <p:spPr>
            <a:xfrm>
              <a:off x="6496050" y="5080000"/>
              <a:ext cx="1657350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Weeks 13–16: ramp-off to support.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1.series.source-001.label"/>
            <p:cNvSpPr/>
            <p:nvPr/>
          </p:nvSpPr>
          <p:spPr>
            <a:xfrm>
              <a:off x="1470660" y="4365625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series.source-002.label"/>
            <p:cNvSpPr/>
            <p:nvPr/>
          </p:nvSpPr>
          <p:spPr>
            <a:xfrm>
              <a:off x="5494020" y="3183285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series.source-003.label"/>
            <p:cNvSpPr/>
            <p:nvPr/>
          </p:nvSpPr>
          <p:spPr>
            <a:xfrm>
              <a:off x="4991100" y="2034144"/>
              <a:ext cx="2286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CLIENT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2" name="node02"/>
          <p:cNvGrpSpPr/>
          <p:nvPr/>
        </p:nvGrpSpPr>
        <p:grpSpPr>
          <a:xfrm>
            <a:off x="8572500" y="1600200"/>
            <a:ext cx="2895600" cy="802069"/>
            <a:chOff x="8572500" y="1600200"/>
            <a:chExt cx="2895600" cy="802069"/>
          </a:xfrm>
        </p:grpSpPr>
        <p:sp>
          <p:nvSpPr>
            <p:cNvPr id="23" name="node02.value"/>
            <p:cNvSpPr/>
            <p:nvPr/>
          </p:nvSpPr>
          <p:spPr>
            <a:xfrm>
              <a:off x="8572500" y="1600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10.8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2.label"/>
            <p:cNvSpPr/>
            <p:nvPr/>
          </p:nvSpPr>
          <p:spPr>
            <a:xfrm>
              <a:off x="8572500" y="2186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peak team size, weeks 7–10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3" name="node03"/>
          <p:cNvGrpSpPr/>
          <p:nvPr/>
        </p:nvGrpSpPr>
        <p:grpSpPr>
          <a:xfrm>
            <a:off x="8572500" y="2743200"/>
            <a:ext cx="2895600" cy="802069"/>
            <a:chOff x="8572500" y="2743200"/>
            <a:chExt cx="2895600" cy="802069"/>
          </a:xfrm>
        </p:grpSpPr>
        <p:sp>
          <p:nvSpPr>
            <p:cNvPr id="25" name="node03.value"/>
            <p:cNvSpPr/>
            <p:nvPr/>
          </p:nvSpPr>
          <p:spPr>
            <a:xfrm>
              <a:off x="8572500" y="2743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7.9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3.label"/>
            <p:cNvSpPr/>
            <p:nvPr/>
          </p:nvSpPr>
          <p:spPr>
            <a:xfrm>
              <a:off x="8572500" y="3329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average over 16 weeks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4" name="node04"/>
          <p:cNvGrpSpPr/>
          <p:nvPr/>
        </p:nvGrpSpPr>
        <p:grpSpPr>
          <a:xfrm>
            <a:off x="8572500" y="3886200"/>
            <a:ext cx="2895600" cy="802069"/>
            <a:chOff x="8572500" y="3886200"/>
            <a:chExt cx="2895600" cy="802069"/>
          </a:xfrm>
        </p:grpSpPr>
        <p:sp>
          <p:nvSpPr>
            <p:cNvPr id="27" name="node04.value"/>
            <p:cNvSpPr/>
            <p:nvPr/>
          </p:nvSpPr>
          <p:spPr>
            <a:xfrm>
              <a:off x="8572500" y="3886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4.6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4.label"/>
            <p:cNvSpPr/>
            <p:nvPr/>
          </p:nvSpPr>
          <p:spPr>
            <a:xfrm>
              <a:off x="8572500" y="4472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in week 16, handing over to run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5" name="node05"/>
          <p:cNvGrpSpPr/>
          <p:nvPr/>
        </p:nvGrpSpPr>
        <p:grpSpPr>
          <a:xfrm>
            <a:off x="8572500" y="5029200"/>
            <a:ext cx="2895600" cy="802069"/>
            <a:chOff x="8572500" y="5029200"/>
            <a:chExt cx="2895600" cy="802069"/>
          </a:xfrm>
        </p:grpSpPr>
        <p:sp>
          <p:nvSpPr>
            <p:cNvPr id="29" name="node05.value"/>
            <p:cNvSpPr/>
            <p:nvPr/>
          </p:nvSpPr>
          <p:spPr>
            <a:xfrm>
              <a:off x="8572500" y="5029200"/>
              <a:ext cx="2895600" cy="50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000"/>
                </a:lnSpc>
                <a:buNone/>
              </a:pPr>
              <a:r>
                <a:rPr lang="en-US" sz="4000" spc="-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1.2 FTE</a:t>
              </a:r>
              <a:endPara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5.label"/>
            <p:cNvSpPr/>
            <p:nvPr/>
          </p:nvSpPr>
          <p:spPr>
            <a:xfrm>
              <a:off x="8572500" y="5615369"/>
              <a:ext cx="2895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client team at peak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 firm team of up to 9.5 FTE delivers in 16 weeks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4" name="node01"/>
          <p:cNvGrpSpPr/>
          <p:nvPr/>
        </p:nvGrpSpPr>
        <p:grpSpPr>
          <a:xfrm>
            <a:off x="723900" y="1600200"/>
            <a:ext cx="7086600" cy="3556000"/>
            <a:chOff x="723900" y="1600200"/>
            <a:chExt cx="7086600" cy="3556000"/>
          </a:xfrm>
        </p:grpSpPr>
        <p:sp>
          <p:nvSpPr>
            <p:cNvPr id="7" name="node01.row.item-001.m0.heat-gap"/>
            <p:cNvSpPr/>
            <p:nvPr/>
          </p:nvSpPr>
          <p:spPr>
            <a:xfrm>
              <a:off x="29337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m0.heat"/>
            <p:cNvSpPr/>
            <p:nvPr/>
          </p:nvSpPr>
          <p:spPr>
            <a:xfrm>
              <a:off x="29527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" name="node01.row.item-001.m1.heat-gap"/>
            <p:cNvSpPr/>
            <p:nvPr/>
          </p:nvSpPr>
          <p:spPr>
            <a:xfrm>
              <a:off x="41529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m1.heat"/>
            <p:cNvSpPr/>
            <p:nvPr/>
          </p:nvSpPr>
          <p:spPr>
            <a:xfrm>
              <a:off x="41719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m2.heat-gap"/>
            <p:cNvSpPr/>
            <p:nvPr/>
          </p:nvSpPr>
          <p:spPr>
            <a:xfrm>
              <a:off x="53721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m2.heat"/>
            <p:cNvSpPr/>
            <p:nvPr/>
          </p:nvSpPr>
          <p:spPr>
            <a:xfrm>
              <a:off x="53911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m3.heat-gap"/>
            <p:cNvSpPr/>
            <p:nvPr/>
          </p:nvSpPr>
          <p:spPr>
            <a:xfrm>
              <a:off x="6591300" y="1955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m3.heat"/>
            <p:cNvSpPr/>
            <p:nvPr/>
          </p:nvSpPr>
          <p:spPr>
            <a:xfrm>
              <a:off x="6610350" y="1974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2.m0.heat-gap"/>
            <p:cNvSpPr/>
            <p:nvPr/>
          </p:nvSpPr>
          <p:spPr>
            <a:xfrm>
              <a:off x="29337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2.m0.heat"/>
            <p:cNvSpPr/>
            <p:nvPr/>
          </p:nvSpPr>
          <p:spPr>
            <a:xfrm>
              <a:off x="29527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m1.heat-gap"/>
            <p:cNvSpPr/>
            <p:nvPr/>
          </p:nvSpPr>
          <p:spPr>
            <a:xfrm>
              <a:off x="41529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m1.heat"/>
            <p:cNvSpPr/>
            <p:nvPr/>
          </p:nvSpPr>
          <p:spPr>
            <a:xfrm>
              <a:off x="41719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m2.heat-gap"/>
            <p:cNvSpPr/>
            <p:nvPr/>
          </p:nvSpPr>
          <p:spPr>
            <a:xfrm>
              <a:off x="53721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m2.heat"/>
            <p:cNvSpPr/>
            <p:nvPr/>
          </p:nvSpPr>
          <p:spPr>
            <a:xfrm>
              <a:off x="53911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01.row.item-002.m3.heat-gap"/>
            <p:cNvSpPr/>
            <p:nvPr/>
          </p:nvSpPr>
          <p:spPr>
            <a:xfrm>
              <a:off x="6591300" y="2311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m3.heat"/>
            <p:cNvSpPr/>
            <p:nvPr/>
          </p:nvSpPr>
          <p:spPr>
            <a:xfrm>
              <a:off x="6610350" y="2330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3.m0.heat-gap"/>
            <p:cNvSpPr/>
            <p:nvPr/>
          </p:nvSpPr>
          <p:spPr>
            <a:xfrm>
              <a:off x="29337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3.m0.heat"/>
            <p:cNvSpPr/>
            <p:nvPr/>
          </p:nvSpPr>
          <p:spPr>
            <a:xfrm>
              <a:off x="2952750" y="2686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3.m1.heat-gap"/>
            <p:cNvSpPr/>
            <p:nvPr/>
          </p:nvSpPr>
          <p:spPr>
            <a:xfrm>
              <a:off x="41529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3.m1.heat"/>
            <p:cNvSpPr/>
            <p:nvPr/>
          </p:nvSpPr>
          <p:spPr>
            <a:xfrm>
              <a:off x="4171950" y="2686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7" name="node01.row.item-003.m2.heat-gap"/>
            <p:cNvSpPr/>
            <p:nvPr/>
          </p:nvSpPr>
          <p:spPr>
            <a:xfrm>
              <a:off x="53721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m2.heat"/>
            <p:cNvSpPr/>
            <p:nvPr/>
          </p:nvSpPr>
          <p:spPr>
            <a:xfrm>
              <a:off x="5391150" y="2686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m3.heat-gap"/>
            <p:cNvSpPr/>
            <p:nvPr/>
          </p:nvSpPr>
          <p:spPr>
            <a:xfrm>
              <a:off x="6591300" y="2667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m3.heat"/>
            <p:cNvSpPr/>
            <p:nvPr/>
          </p:nvSpPr>
          <p:spPr>
            <a:xfrm>
              <a:off x="6610350" y="2686050"/>
              <a:ext cx="1181100" cy="317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4.m0.heat-gap"/>
            <p:cNvSpPr/>
            <p:nvPr/>
          </p:nvSpPr>
          <p:spPr>
            <a:xfrm>
              <a:off x="29337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4.m0.heat"/>
            <p:cNvSpPr/>
            <p:nvPr/>
          </p:nvSpPr>
          <p:spPr>
            <a:xfrm>
              <a:off x="29527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4.m1.heat-gap"/>
            <p:cNvSpPr/>
            <p:nvPr/>
          </p:nvSpPr>
          <p:spPr>
            <a:xfrm>
              <a:off x="41529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4.m1.heat"/>
            <p:cNvSpPr/>
            <p:nvPr/>
          </p:nvSpPr>
          <p:spPr>
            <a:xfrm>
              <a:off x="41719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4.m2.heat-gap"/>
            <p:cNvSpPr/>
            <p:nvPr/>
          </p:nvSpPr>
          <p:spPr>
            <a:xfrm>
              <a:off x="53721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4.m2.heat"/>
            <p:cNvSpPr/>
            <p:nvPr/>
          </p:nvSpPr>
          <p:spPr>
            <a:xfrm>
              <a:off x="53911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m3.heat-gap"/>
            <p:cNvSpPr/>
            <p:nvPr/>
          </p:nvSpPr>
          <p:spPr>
            <a:xfrm>
              <a:off x="6591300" y="30226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m3.heat"/>
            <p:cNvSpPr/>
            <p:nvPr/>
          </p:nvSpPr>
          <p:spPr>
            <a:xfrm>
              <a:off x="6610350" y="30416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5.m0.heat-gap"/>
            <p:cNvSpPr/>
            <p:nvPr/>
          </p:nvSpPr>
          <p:spPr>
            <a:xfrm>
              <a:off x="29337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5.m0.heat"/>
            <p:cNvSpPr/>
            <p:nvPr/>
          </p:nvSpPr>
          <p:spPr>
            <a:xfrm>
              <a:off x="2952750" y="3397250"/>
              <a:ext cx="1181100" cy="317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1.row.item-005.m1.heat-gap"/>
            <p:cNvSpPr/>
            <p:nvPr/>
          </p:nvSpPr>
          <p:spPr>
            <a:xfrm>
              <a:off x="41529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5.m1.heat"/>
            <p:cNvSpPr/>
            <p:nvPr/>
          </p:nvSpPr>
          <p:spPr>
            <a:xfrm>
              <a:off x="4171950" y="3397250"/>
              <a:ext cx="1181100" cy="317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3" name="node01.row.item-005.m2.heat-gap"/>
            <p:cNvSpPr/>
            <p:nvPr/>
          </p:nvSpPr>
          <p:spPr>
            <a:xfrm>
              <a:off x="53721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5.m2.heat"/>
            <p:cNvSpPr/>
            <p:nvPr/>
          </p:nvSpPr>
          <p:spPr>
            <a:xfrm>
              <a:off x="5391150" y="33972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5.m3.heat-gap"/>
            <p:cNvSpPr/>
            <p:nvPr/>
          </p:nvSpPr>
          <p:spPr>
            <a:xfrm>
              <a:off x="6591300" y="33782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5.m3.heat"/>
            <p:cNvSpPr/>
            <p:nvPr/>
          </p:nvSpPr>
          <p:spPr>
            <a:xfrm>
              <a:off x="6610350" y="33972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7" name="node01.row.item-006.m0.heat-gap"/>
            <p:cNvSpPr/>
            <p:nvPr/>
          </p:nvSpPr>
          <p:spPr>
            <a:xfrm>
              <a:off x="29337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6.m0.heat"/>
            <p:cNvSpPr/>
            <p:nvPr/>
          </p:nvSpPr>
          <p:spPr>
            <a:xfrm>
              <a:off x="2952750" y="3752850"/>
              <a:ext cx="1181100" cy="317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1.row.item-006.m1.heat-gap"/>
            <p:cNvSpPr/>
            <p:nvPr/>
          </p:nvSpPr>
          <p:spPr>
            <a:xfrm>
              <a:off x="41529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6.m1.heat"/>
            <p:cNvSpPr/>
            <p:nvPr/>
          </p:nvSpPr>
          <p:spPr>
            <a:xfrm>
              <a:off x="4171950" y="37528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.item-006.m2.heat-gap"/>
            <p:cNvSpPr/>
            <p:nvPr/>
          </p:nvSpPr>
          <p:spPr>
            <a:xfrm>
              <a:off x="53721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6.m2.heat"/>
            <p:cNvSpPr/>
            <p:nvPr/>
          </p:nvSpPr>
          <p:spPr>
            <a:xfrm>
              <a:off x="5391150" y="37528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1.row.item-006.m3.heat-gap"/>
            <p:cNvSpPr/>
            <p:nvPr/>
          </p:nvSpPr>
          <p:spPr>
            <a:xfrm>
              <a:off x="6591300" y="37338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6.m3.heat"/>
            <p:cNvSpPr/>
            <p:nvPr/>
          </p:nvSpPr>
          <p:spPr>
            <a:xfrm>
              <a:off x="6610350" y="37528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7.m0.heat-gap"/>
            <p:cNvSpPr/>
            <p:nvPr/>
          </p:nvSpPr>
          <p:spPr>
            <a:xfrm>
              <a:off x="29337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7.m0.heat"/>
            <p:cNvSpPr/>
            <p:nvPr/>
          </p:nvSpPr>
          <p:spPr>
            <a:xfrm>
              <a:off x="2952750" y="4108450"/>
              <a:ext cx="1181100" cy="317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7" name="node01.row.item-007.m1.heat-gap"/>
            <p:cNvSpPr/>
            <p:nvPr/>
          </p:nvSpPr>
          <p:spPr>
            <a:xfrm>
              <a:off x="41529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7.m1.heat"/>
            <p:cNvSpPr/>
            <p:nvPr/>
          </p:nvSpPr>
          <p:spPr>
            <a:xfrm>
              <a:off x="4171950" y="4108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7.m2.heat-gap"/>
            <p:cNvSpPr/>
            <p:nvPr/>
          </p:nvSpPr>
          <p:spPr>
            <a:xfrm>
              <a:off x="53721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7.m2.heat"/>
            <p:cNvSpPr/>
            <p:nvPr/>
          </p:nvSpPr>
          <p:spPr>
            <a:xfrm>
              <a:off x="5391150" y="4108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7.m3.heat-gap"/>
            <p:cNvSpPr/>
            <p:nvPr/>
          </p:nvSpPr>
          <p:spPr>
            <a:xfrm>
              <a:off x="6591300" y="40894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7.m3.heat"/>
            <p:cNvSpPr/>
            <p:nvPr/>
          </p:nvSpPr>
          <p:spPr>
            <a:xfrm>
              <a:off x="6610350" y="41084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8.m0.heat-gap"/>
            <p:cNvSpPr/>
            <p:nvPr/>
          </p:nvSpPr>
          <p:spPr>
            <a:xfrm>
              <a:off x="29337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8.m0.heat"/>
            <p:cNvSpPr/>
            <p:nvPr/>
          </p:nvSpPr>
          <p:spPr>
            <a:xfrm>
              <a:off x="29527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5" name="node01.row.item-008.m1.heat-gap"/>
            <p:cNvSpPr/>
            <p:nvPr/>
          </p:nvSpPr>
          <p:spPr>
            <a:xfrm>
              <a:off x="41529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8.m1.heat"/>
            <p:cNvSpPr/>
            <p:nvPr/>
          </p:nvSpPr>
          <p:spPr>
            <a:xfrm>
              <a:off x="41719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7" name="node01.row.item-008.m2.heat-gap"/>
            <p:cNvSpPr/>
            <p:nvPr/>
          </p:nvSpPr>
          <p:spPr>
            <a:xfrm>
              <a:off x="53721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8.m2.heat"/>
            <p:cNvSpPr/>
            <p:nvPr/>
          </p:nvSpPr>
          <p:spPr>
            <a:xfrm>
              <a:off x="53911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8.m3.heat-gap"/>
            <p:cNvSpPr/>
            <p:nvPr/>
          </p:nvSpPr>
          <p:spPr>
            <a:xfrm>
              <a:off x="6591300" y="4445000"/>
              <a:ext cx="1219200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8.m3.heat"/>
            <p:cNvSpPr/>
            <p:nvPr/>
          </p:nvSpPr>
          <p:spPr>
            <a:xfrm>
              <a:off x="6610350" y="4464050"/>
              <a:ext cx="1181100" cy="317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1.row.item-009.m0.heat-gap"/>
            <p:cNvSpPr/>
            <p:nvPr/>
          </p:nvSpPr>
          <p:spPr>
            <a:xfrm>
              <a:off x="29337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2" name="node01.row.item-009.m0.heat"/>
            <p:cNvSpPr/>
            <p:nvPr/>
          </p:nvSpPr>
          <p:spPr>
            <a:xfrm>
              <a:off x="29527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01.row.item-009.m1.heat-gap"/>
            <p:cNvSpPr/>
            <p:nvPr/>
          </p:nvSpPr>
          <p:spPr>
            <a:xfrm>
              <a:off x="41529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4" name="node01.row.item-009.m1.heat"/>
            <p:cNvSpPr/>
            <p:nvPr/>
          </p:nvSpPr>
          <p:spPr>
            <a:xfrm>
              <a:off x="41719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01.row.item-009.m2.heat-gap"/>
            <p:cNvSpPr/>
            <p:nvPr/>
          </p:nvSpPr>
          <p:spPr>
            <a:xfrm>
              <a:off x="53721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6" name="node01.row.item-009.m2.heat"/>
            <p:cNvSpPr/>
            <p:nvPr/>
          </p:nvSpPr>
          <p:spPr>
            <a:xfrm>
              <a:off x="53911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01.row.item-009.m3.heat-gap"/>
            <p:cNvSpPr/>
            <p:nvPr/>
          </p:nvSpPr>
          <p:spPr>
            <a:xfrm>
              <a:off x="6591300" y="4800600"/>
              <a:ext cx="12192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8" name="node01.row.item-009.m3.heat"/>
            <p:cNvSpPr/>
            <p:nvPr/>
          </p:nvSpPr>
          <p:spPr>
            <a:xfrm>
              <a:off x="6610350" y="4819650"/>
              <a:ext cx="1181100" cy="317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79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7086600" cy="35560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1219200"/>
                  <a:gridCol w="1219200"/>
                  <a:gridCol w="12192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 (FIRM FTE)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1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3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 (2)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 (3)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Total firm FTE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5.5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9.5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9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5.75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85" name="node02"/>
          <p:cNvGrpSpPr/>
          <p:nvPr/>
        </p:nvGrpSpPr>
        <p:grpSpPr>
          <a:xfrm>
            <a:off x="8039100" y="1600200"/>
            <a:ext cx="3429000" cy="1600200"/>
            <a:chOff x="8039100" y="1600200"/>
            <a:chExt cx="3429000" cy="1600200"/>
          </a:xfrm>
        </p:grpSpPr>
        <p:sp>
          <p:nvSpPr>
            <p:cNvPr id="80" name="node02.container"/>
            <p:cNvSpPr/>
            <p:nvPr/>
          </p:nvSpPr>
          <p:spPr>
            <a:xfrm>
              <a:off x="8039100" y="16002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1" name="node02.label"/>
            <p:cNvSpPr/>
            <p:nvPr/>
          </p:nvSpPr>
          <p:spPr>
            <a:xfrm>
              <a:off x="8267700" y="18288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KEY ASSUMPTIONS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2" name="node02.body.item-001.bullets"/>
            <p:cNvSpPr/>
            <p:nvPr/>
          </p:nvSpPr>
          <p:spPr>
            <a:xfrm>
              <a:off x="8267700" y="2044700"/>
              <a:ext cx="29718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Client leads are named by week 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Developers start in week 5.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Two-thirds of build is onshore.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aphicFrame>
        <p:nvGraphicFramePr>
          <p:cNvPr id="83" name="node03.nativ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39100" y="3429000"/>
          <a:ext cx="3429000" cy="2133600"/>
        </p:xfrm>
        <a:graphic>
          <a:graphicData uri="http://schemas.openxmlformats.org/drawingml/2006/table">
            <a:tbl>
              <a:tblPr/>
              <a:tblGrid>
                <a:gridCol w="1447800"/>
                <a:gridCol w="1981200"/>
              </a:tblGrid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PHASE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TEAM RUN RATE / MO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Mobilize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$190K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Design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$310K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Build and test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$460K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Launch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$330K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Peak monthly run rate</a:t>
                      </a:r>
                      <a:endParaRPr lang="en-US" sz="1000" spc="0" kern="0" b="0" i="0" dirty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r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$460K</a:t>
                      </a:r>
                      <a:endParaRPr lang="en-US" sz="1000" spc="0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Roles join as work needs them and roll off early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01" name="node01"/>
          <p:cNvGrpSpPr/>
          <p:nvPr/>
        </p:nvGrpSpPr>
        <p:grpSpPr>
          <a:xfrm>
            <a:off x="723900" y="1600200"/>
            <a:ext cx="10744200" cy="4254500"/>
            <a:chOff x="723900" y="1600200"/>
            <a:chExt cx="10744200" cy="4254500"/>
          </a:xfrm>
        </p:grpSpPr>
        <p:sp>
          <p:nvSpPr>
            <p:cNvPr id="6" name="node01.period-header"/>
            <p:cNvSpPr/>
            <p:nvPr/>
          </p:nvSpPr>
          <p:spPr>
            <a:xfrm>
              <a:off x="723900" y="1981200"/>
              <a:ext cx="107442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sidebar-heading"/>
            <p:cNvSpPr/>
            <p:nvPr/>
          </p:nvSpPr>
          <p:spPr>
            <a:xfrm>
              <a:off x="800100" y="206375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WORKSTREAM · ACTIVITY</a:t>
              </a:r>
              <a:endParaRPr lang="en-US" sz="800" spc="48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" name="node01.periods.slot-001.label"/>
            <p:cNvSpPr/>
            <p:nvPr/>
          </p:nvSpPr>
          <p:spPr>
            <a:xfrm>
              <a:off x="33909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periods.slot-002.label"/>
            <p:cNvSpPr/>
            <p:nvPr/>
          </p:nvSpPr>
          <p:spPr>
            <a:xfrm>
              <a:off x="38957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periods.slot-003.label"/>
            <p:cNvSpPr/>
            <p:nvPr/>
          </p:nvSpPr>
          <p:spPr>
            <a:xfrm>
              <a:off x="44005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" name="node01.periods.slot-004.label"/>
            <p:cNvSpPr/>
            <p:nvPr/>
          </p:nvSpPr>
          <p:spPr>
            <a:xfrm>
              <a:off x="49053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periods.slot-005.label"/>
            <p:cNvSpPr/>
            <p:nvPr/>
          </p:nvSpPr>
          <p:spPr>
            <a:xfrm>
              <a:off x="54102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1.periods.slot-006.label"/>
            <p:cNvSpPr/>
            <p:nvPr/>
          </p:nvSpPr>
          <p:spPr>
            <a:xfrm>
              <a:off x="59150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periods.slot-007.label"/>
            <p:cNvSpPr/>
            <p:nvPr/>
          </p:nvSpPr>
          <p:spPr>
            <a:xfrm>
              <a:off x="64198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W7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periods.slot-008.label"/>
            <p:cNvSpPr/>
            <p:nvPr/>
          </p:nvSpPr>
          <p:spPr>
            <a:xfrm>
              <a:off x="69246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W8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periods.slot-009.label"/>
            <p:cNvSpPr/>
            <p:nvPr/>
          </p:nvSpPr>
          <p:spPr>
            <a:xfrm>
              <a:off x="74295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W9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7" name="node01.periods.slot-010.label"/>
            <p:cNvSpPr/>
            <p:nvPr/>
          </p:nvSpPr>
          <p:spPr>
            <a:xfrm>
              <a:off x="79343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W10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periods.slot-011.label"/>
            <p:cNvSpPr/>
            <p:nvPr/>
          </p:nvSpPr>
          <p:spPr>
            <a:xfrm>
              <a:off x="84391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W11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1.periods.slot-012.label"/>
            <p:cNvSpPr/>
            <p:nvPr/>
          </p:nvSpPr>
          <p:spPr>
            <a:xfrm>
              <a:off x="89439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W12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periods.slot-013.label"/>
            <p:cNvSpPr/>
            <p:nvPr/>
          </p:nvSpPr>
          <p:spPr>
            <a:xfrm>
              <a:off x="944880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W13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periods.slot-014.label"/>
            <p:cNvSpPr/>
            <p:nvPr/>
          </p:nvSpPr>
          <p:spPr>
            <a:xfrm>
              <a:off x="995362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W14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periods.slot-015.label"/>
            <p:cNvSpPr/>
            <p:nvPr/>
          </p:nvSpPr>
          <p:spPr>
            <a:xfrm>
              <a:off x="10458450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W15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3" name="node01.periods.slot-016.label"/>
            <p:cNvSpPr/>
            <p:nvPr/>
          </p:nvSpPr>
          <p:spPr>
            <a:xfrm>
              <a:off x="10963275" y="2063750"/>
              <a:ext cx="504825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W16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phases.slot-001.rule"/>
            <p:cNvSpPr/>
            <p:nvPr/>
          </p:nvSpPr>
          <p:spPr>
            <a:xfrm>
              <a:off x="3403600" y="1676400"/>
              <a:ext cx="984250" cy="38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5" name="node01.phases.slot-001.label"/>
            <p:cNvSpPr/>
            <p:nvPr/>
          </p:nvSpPr>
          <p:spPr>
            <a:xfrm>
              <a:off x="3467100" y="1714500"/>
              <a:ext cx="908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MOBILIZE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phases.slot-002.rule"/>
            <p:cNvSpPr/>
            <p:nvPr/>
          </p:nvSpPr>
          <p:spPr>
            <a:xfrm>
              <a:off x="4413250" y="1676400"/>
              <a:ext cx="19939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1.phases.slot-002.label"/>
            <p:cNvSpPr/>
            <p:nvPr/>
          </p:nvSpPr>
          <p:spPr>
            <a:xfrm>
              <a:off x="4476750" y="1714500"/>
              <a:ext cx="19177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DESIGN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1.phases.slot-003.rule"/>
            <p:cNvSpPr/>
            <p:nvPr/>
          </p:nvSpPr>
          <p:spPr>
            <a:xfrm>
              <a:off x="6432550" y="1676400"/>
              <a:ext cx="3003550" cy="38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1.phases.slot-003.label"/>
            <p:cNvSpPr/>
            <p:nvPr/>
          </p:nvSpPr>
          <p:spPr>
            <a:xfrm>
              <a:off x="6496050" y="1714500"/>
              <a:ext cx="29273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BUILD AND TEST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phases.slot-004.rule"/>
            <p:cNvSpPr/>
            <p:nvPr/>
          </p:nvSpPr>
          <p:spPr>
            <a:xfrm>
              <a:off x="9461500" y="1676400"/>
              <a:ext cx="1993900" cy="38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1" name="node01.phases.slot-004.label"/>
            <p:cNvSpPr/>
            <p:nvPr/>
          </p:nvSpPr>
          <p:spPr>
            <a:xfrm>
              <a:off x="9525000" y="1714500"/>
              <a:ext cx="19177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LAUNCH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grid-1"/>
            <p:cNvSpPr/>
            <p:nvPr/>
          </p:nvSpPr>
          <p:spPr>
            <a:xfrm>
              <a:off x="38957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3" name="node01.grid-2"/>
            <p:cNvSpPr/>
            <p:nvPr/>
          </p:nvSpPr>
          <p:spPr>
            <a:xfrm>
              <a:off x="44005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4" name="node01.grid-3"/>
            <p:cNvSpPr/>
            <p:nvPr/>
          </p:nvSpPr>
          <p:spPr>
            <a:xfrm>
              <a:off x="49053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5" name="node01.grid-4"/>
            <p:cNvSpPr/>
            <p:nvPr/>
          </p:nvSpPr>
          <p:spPr>
            <a:xfrm>
              <a:off x="541020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6" name="node01.grid-5"/>
            <p:cNvSpPr/>
            <p:nvPr/>
          </p:nvSpPr>
          <p:spPr>
            <a:xfrm>
              <a:off x="59150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7" name="node01.grid-6"/>
            <p:cNvSpPr/>
            <p:nvPr/>
          </p:nvSpPr>
          <p:spPr>
            <a:xfrm>
              <a:off x="64198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8" name="node01.grid-7"/>
            <p:cNvSpPr/>
            <p:nvPr/>
          </p:nvSpPr>
          <p:spPr>
            <a:xfrm>
              <a:off x="69246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39" name="node01.grid-8"/>
            <p:cNvSpPr/>
            <p:nvPr/>
          </p:nvSpPr>
          <p:spPr>
            <a:xfrm>
              <a:off x="742950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0" name="node01.grid-9"/>
            <p:cNvSpPr/>
            <p:nvPr/>
          </p:nvSpPr>
          <p:spPr>
            <a:xfrm>
              <a:off x="79343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1" name="node01.grid-10"/>
            <p:cNvSpPr/>
            <p:nvPr/>
          </p:nvSpPr>
          <p:spPr>
            <a:xfrm>
              <a:off x="84391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2" name="node01.grid-11"/>
            <p:cNvSpPr/>
            <p:nvPr/>
          </p:nvSpPr>
          <p:spPr>
            <a:xfrm>
              <a:off x="89439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3" name="node01.grid-12"/>
            <p:cNvSpPr/>
            <p:nvPr/>
          </p:nvSpPr>
          <p:spPr>
            <a:xfrm>
              <a:off x="944880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4" name="node01.grid-13"/>
            <p:cNvSpPr/>
            <p:nvPr/>
          </p:nvSpPr>
          <p:spPr>
            <a:xfrm>
              <a:off x="995362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5" name="node01.grid-14"/>
            <p:cNvSpPr/>
            <p:nvPr/>
          </p:nvSpPr>
          <p:spPr>
            <a:xfrm>
              <a:off x="10458450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6" name="node01.grid-15"/>
            <p:cNvSpPr/>
            <p:nvPr/>
          </p:nvSpPr>
          <p:spPr>
            <a:xfrm>
              <a:off x="10963275" y="2286000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47" name="node01.timeline-left"/>
            <p:cNvSpPr/>
            <p:nvPr/>
          </p:nvSpPr>
          <p:spPr>
            <a:xfrm>
              <a:off x="3390900" y="1600200"/>
              <a:ext cx="0" cy="3886200"/>
            </a:xfrm>
            <a:custGeom>
              <a:avLst/>
              <a:gdLst/>
              <a:ahLst/>
              <a:cxnLst/>
              <a:rect l="l" t="t" r="r" b="b"/>
              <a:pathLst>
                <a:path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48" name="node01.groups.slot-001.tab"/>
            <p:cNvSpPr/>
            <p:nvPr/>
          </p:nvSpPr>
          <p:spPr>
            <a:xfrm>
              <a:off x="723900" y="2324100"/>
              <a:ext cx="304800" cy="990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9" name="node01.groups.slot-001.label"/>
            <p:cNvSpPr/>
            <p:nvPr/>
          </p:nvSpPr>
          <p:spPr>
            <a:xfrm rot="-5400000">
              <a:off x="419100" y="2743200"/>
              <a:ext cx="914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94" name="node01.groups.slot-001.lanes.slot-001.icon"/>
            <p:cNvGrpSpPr/>
            <p:nvPr/>
          </p:nvGrpSpPr>
          <p:grpSpPr>
            <a:xfrm>
              <a:off x="1143000" y="2438400"/>
              <a:ext cx="228600" cy="228600"/>
              <a:chOff x="1143000" y="2438400"/>
              <a:chExt cx="228600" cy="228600"/>
            </a:xfrm>
          </p:grpSpPr>
          <p:pic>
            <p:nvPicPr>
              <p:cNvPr id="50" name="node01.groups.slot-001.lanes.slot-001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43000" y="2438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51" name="node01.groups.slot-001.lanes.slot-001.title"/>
            <p:cNvSpPr/>
            <p:nvPr/>
          </p:nvSpPr>
          <p:spPr>
            <a:xfrm>
              <a:off x="1485900" y="24574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Engagement lead and PM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1.groups.slot-001.lanes.slot-001.separator"/>
            <p:cNvSpPr/>
            <p:nvPr/>
          </p:nvSpPr>
          <p:spPr>
            <a:xfrm>
              <a:off x="1028700" y="28146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53" name="node01.groups.slot-001.lanes.slot-001.items.slot-001.segment-0"/>
            <p:cNvSpPr/>
            <p:nvPr/>
          </p:nvSpPr>
          <p:spPr>
            <a:xfrm>
              <a:off x="3390900" y="2413000"/>
              <a:ext cx="8077200" cy="2794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4" name="node01.groups.slot-001.lanes.slot-001.items.slot-001.label"/>
            <p:cNvSpPr/>
            <p:nvPr/>
          </p:nvSpPr>
          <p:spPr>
            <a:xfrm>
              <a:off x="3479800" y="2457450"/>
              <a:ext cx="539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1.5 FTE</a:t>
              </a:r>
              <a:endParaRPr lang="en-US" sz="11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grpSp>
          <p:nvGrpSpPr>
            <p:cNvPr id="95" name="node01.groups.slot-001.lanes.slot-002.icon"/>
            <p:cNvGrpSpPr/>
            <p:nvPr/>
          </p:nvGrpSpPr>
          <p:grpSpPr>
            <a:xfrm>
              <a:off x="1143000" y="2971800"/>
              <a:ext cx="228600" cy="228600"/>
              <a:chOff x="1143000" y="2971800"/>
              <a:chExt cx="228600" cy="228600"/>
            </a:xfrm>
          </p:grpSpPr>
          <p:pic>
            <p:nvPicPr>
              <p:cNvPr id="55" name="node01.groups.slot-001.lanes.slot-002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43000" y="29718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56" name="node01.groups.slot-001.lanes.slot-002.title"/>
            <p:cNvSpPr/>
            <p:nvPr/>
          </p:nvSpPr>
          <p:spPr>
            <a:xfrm>
              <a:off x="1485900" y="29908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Solution architect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01.groups.slot-001.lanes.slot-002.separator"/>
            <p:cNvSpPr/>
            <p:nvPr/>
          </p:nvSpPr>
          <p:spPr>
            <a:xfrm>
              <a:off x="723900" y="33464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8" name="node01.groups.slot-001.lanes.slot-002.items.slot-001.segment-0"/>
            <p:cNvSpPr/>
            <p:nvPr/>
          </p:nvSpPr>
          <p:spPr>
            <a:xfrm>
              <a:off x="3390900" y="2946400"/>
              <a:ext cx="6057900" cy="2794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9" name="node01.groups.slot-001.lanes.slot-002.items.slot-001.label"/>
            <p:cNvSpPr/>
            <p:nvPr/>
          </p:nvSpPr>
          <p:spPr>
            <a:xfrm>
              <a:off x="3479800" y="2990850"/>
              <a:ext cx="539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1.0 FTE</a:t>
              </a:r>
              <a:endParaRPr lang="en-US" sz="11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0" name="node01.groups.slot-001.lanes.slot-002.items.slot-002.marker"/>
            <p:cNvSpPr/>
            <p:nvPr/>
          </p:nvSpPr>
          <p:spPr>
            <a:xfrm>
              <a:off x="9460865" y="2997200"/>
              <a:ext cx="177800" cy="177800"/>
            </a:xfrm>
            <a:prstGeom prst="diamond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61" name="node01.groups.slot-001.lanes.slot-002.items.slot-002.label"/>
            <p:cNvSpPr/>
            <p:nvPr/>
          </p:nvSpPr>
          <p:spPr>
            <a:xfrm>
              <a:off x="9689465" y="2990850"/>
              <a:ext cx="6000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UAT exit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2" name="node01.groups.slot-002.tab"/>
            <p:cNvSpPr/>
            <p:nvPr/>
          </p:nvSpPr>
          <p:spPr>
            <a:xfrm>
              <a:off x="723900" y="3390900"/>
              <a:ext cx="304800" cy="20574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63" name="node01.groups.slot-002.label"/>
            <p:cNvSpPr/>
            <p:nvPr/>
          </p:nvSpPr>
          <p:spPr>
            <a:xfrm rot="-5400000">
              <a:off x="-114300" y="4343400"/>
              <a:ext cx="1981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grpSp>
          <p:nvGrpSpPr>
            <p:cNvPr id="96" name="node01.groups.slot-002.lanes.slot-001.icon"/>
            <p:cNvGrpSpPr/>
            <p:nvPr/>
          </p:nvGrpSpPr>
          <p:grpSpPr>
            <a:xfrm>
              <a:off x="1143000" y="3505200"/>
              <a:ext cx="228600" cy="228600"/>
              <a:chOff x="1143000" y="3505200"/>
              <a:chExt cx="228600" cy="228600"/>
            </a:xfrm>
          </p:grpSpPr>
          <p:pic>
            <p:nvPicPr>
              <p:cNvPr id="64" name="node01.groups.slot-002.lanes.slot-001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43000" y="35052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65" name="node01.groups.slot-002.lanes.slot-001.title"/>
            <p:cNvSpPr/>
            <p:nvPr/>
          </p:nvSpPr>
          <p:spPr>
            <a:xfrm>
              <a:off x="1485900" y="35242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engineer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6" name="node01.groups.slot-002.lanes.slot-001.separator"/>
            <p:cNvSpPr/>
            <p:nvPr/>
          </p:nvSpPr>
          <p:spPr>
            <a:xfrm>
              <a:off x="1028700" y="38814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67" name="node01.groups.slot-002.lanes.slot-001.items.slot-001.segment-0"/>
            <p:cNvSpPr/>
            <p:nvPr/>
          </p:nvSpPr>
          <p:spPr>
            <a:xfrm>
              <a:off x="3895725" y="3479800"/>
              <a:ext cx="6562725" cy="2794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8" name="node01.groups.slot-002.lanes.slot-001.items.slot-001.label"/>
            <p:cNvSpPr/>
            <p:nvPr/>
          </p:nvSpPr>
          <p:spPr>
            <a:xfrm>
              <a:off x="3984625" y="3524250"/>
              <a:ext cx="947737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0.5 to 1.0 FTE</a:t>
              </a:r>
              <a:endParaRPr lang="en-US" sz="11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grpSp>
          <p:nvGrpSpPr>
            <p:cNvPr id="97" name="node01.groups.slot-002.lanes.slot-002.icon"/>
            <p:cNvGrpSpPr/>
            <p:nvPr/>
          </p:nvGrpSpPr>
          <p:grpSpPr>
            <a:xfrm>
              <a:off x="1143000" y="4038600"/>
              <a:ext cx="228600" cy="228600"/>
              <a:chOff x="1143000" y="4038600"/>
              <a:chExt cx="228600" cy="228600"/>
            </a:xfrm>
          </p:grpSpPr>
          <p:pic>
            <p:nvPicPr>
              <p:cNvPr id="69" name="node01.groups.slot-002.lanes.slot-002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43000" y="40386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70" name="node01.groups.slot-002.lanes.slot-002.title"/>
            <p:cNvSpPr/>
            <p:nvPr/>
          </p:nvSpPr>
          <p:spPr>
            <a:xfrm>
              <a:off x="1485900" y="40576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Business analysts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1" name="node01.groups.slot-002.lanes.slot-002.separator"/>
            <p:cNvSpPr/>
            <p:nvPr/>
          </p:nvSpPr>
          <p:spPr>
            <a:xfrm>
              <a:off x="1028700" y="44148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72" name="node01.groups.slot-002.lanes.slot-002.items.slot-001.segment-0"/>
            <p:cNvSpPr/>
            <p:nvPr/>
          </p:nvSpPr>
          <p:spPr>
            <a:xfrm>
              <a:off x="3390900" y="4013200"/>
              <a:ext cx="7067550" cy="2794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73" name="node01.groups.slot-002.lanes.slot-002.items.slot-001.label"/>
            <p:cNvSpPr/>
            <p:nvPr/>
          </p:nvSpPr>
          <p:spPr>
            <a:xfrm>
              <a:off x="3479800" y="4057650"/>
              <a:ext cx="539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2.0 FTE</a:t>
              </a:r>
              <a:endParaRPr lang="en-US" sz="11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grpSp>
          <p:nvGrpSpPr>
            <p:cNvPr id="98" name="node01.groups.slot-002.lanes.slot-003.icon"/>
            <p:cNvGrpSpPr/>
            <p:nvPr/>
          </p:nvGrpSpPr>
          <p:grpSpPr>
            <a:xfrm>
              <a:off x="1143000" y="4572000"/>
              <a:ext cx="228600" cy="228600"/>
              <a:chOff x="1143000" y="4572000"/>
              <a:chExt cx="228600" cy="228600"/>
            </a:xfrm>
          </p:grpSpPr>
          <p:pic>
            <p:nvPicPr>
              <p:cNvPr id="74" name="node01.groups.slot-002.lanes.slot-003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43000" y="45720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75" name="node01.groups.slot-002.lanes.slot-003.title"/>
            <p:cNvSpPr/>
            <p:nvPr/>
          </p:nvSpPr>
          <p:spPr>
            <a:xfrm>
              <a:off x="1485900" y="45910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Developers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6" name="node01.groups.slot-002.lanes.slot-003.separator"/>
            <p:cNvSpPr/>
            <p:nvPr/>
          </p:nvSpPr>
          <p:spPr>
            <a:xfrm>
              <a:off x="1028700" y="4948238"/>
              <a:ext cx="10439400" cy="0"/>
            </a:xfrm>
            <a:custGeom>
              <a:avLst/>
              <a:gdLst/>
              <a:ahLst/>
              <a:cxnLst/>
              <a:rect l="l" t="t" r="r" b="b"/>
              <a:pathLst>
                <a:path w="10439400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ln w="9525">
              <a:solidFill>
                <a:srgbClr val="CED7E6"/>
              </a:solidFill>
              <a:prstDash val="solid"/>
            </a:ln>
          </p:spPr>
        </p:sp>
        <p:sp>
          <p:nvSpPr>
            <p:cNvPr id="77" name="node01.groups.slot-002.lanes.slot-003.items.slot-002.marker"/>
            <p:cNvSpPr/>
            <p:nvPr/>
          </p:nvSpPr>
          <p:spPr>
            <a:xfrm>
              <a:off x="3554413" y="4597400"/>
              <a:ext cx="177800" cy="177800"/>
            </a:xfrm>
            <a:prstGeom prst="diamond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8" name="node01.groups.slot-002.lanes.slot-003.items.slot-002.label"/>
            <p:cNvSpPr/>
            <p:nvPr/>
          </p:nvSpPr>
          <p:spPr>
            <a:xfrm>
              <a:off x="3783013" y="4591050"/>
              <a:ext cx="511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Kickoff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9" name="node01.groups.slot-002.lanes.slot-003.items.slot-001.segment-0"/>
            <p:cNvSpPr/>
            <p:nvPr/>
          </p:nvSpPr>
          <p:spPr>
            <a:xfrm>
              <a:off x="5410200" y="4546600"/>
              <a:ext cx="5553075" cy="2794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0" name="node01.groups.slot-002.lanes.slot-003.items.slot-001.label"/>
            <p:cNvSpPr/>
            <p:nvPr/>
          </p:nvSpPr>
          <p:spPr>
            <a:xfrm>
              <a:off x="5499100" y="4591050"/>
              <a:ext cx="539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3.0 FTE</a:t>
              </a:r>
              <a:endParaRPr lang="en-US" sz="11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grpSp>
          <p:nvGrpSpPr>
            <p:cNvPr id="99" name="node01.groups.slot-002.lanes.slot-004.icon"/>
            <p:cNvGrpSpPr/>
            <p:nvPr/>
          </p:nvGrpSpPr>
          <p:grpSpPr>
            <a:xfrm>
              <a:off x="1143000" y="5105400"/>
              <a:ext cx="228600" cy="228600"/>
              <a:chOff x="1143000" y="5105400"/>
              <a:chExt cx="228600" cy="228600"/>
            </a:xfrm>
          </p:grpSpPr>
          <p:pic>
            <p:nvPicPr>
              <p:cNvPr id="81" name="node01.groups.slot-002.lanes.slot-004.icon.image" descr="icon/target/navy; canonical SHA256=7e8fac18a33f4dbf87bdc105aa76f235f0d896fece68d1da2e445593da87cb5e">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43000" y="51054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82" name="node01.groups.slot-002.lanes.slot-004.title"/>
            <p:cNvSpPr/>
            <p:nvPr/>
          </p:nvSpPr>
          <p:spPr>
            <a:xfrm>
              <a:off x="1485900" y="5124450"/>
              <a:ext cx="17907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46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QA lead</a:t>
              </a:r>
              <a:endPara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3" name="node01.groups.slot-002.lanes.slot-004.separator"/>
            <p:cNvSpPr/>
            <p:nvPr/>
          </p:nvSpPr>
          <p:spPr>
            <a:xfrm>
              <a:off x="723900" y="5480050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84" name="node01.groups.slot-002.lanes.slot-004.items.slot-002.marker"/>
            <p:cNvSpPr/>
            <p:nvPr/>
          </p:nvSpPr>
          <p:spPr>
            <a:xfrm>
              <a:off x="6129020" y="5130800"/>
              <a:ext cx="177800" cy="177800"/>
            </a:xfrm>
            <a:prstGeom prst="diamond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5" name="node01.groups.slot-002.lanes.slot-004.items.slot-002.label"/>
            <p:cNvSpPr/>
            <p:nvPr/>
          </p:nvSpPr>
          <p:spPr>
            <a:xfrm>
              <a:off x="5065395" y="5124450"/>
              <a:ext cx="10255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sign-off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6" name="node01.groups.slot-002.lanes.slot-004.items.slot-001.segment-0"/>
            <p:cNvSpPr/>
            <p:nvPr/>
          </p:nvSpPr>
          <p:spPr>
            <a:xfrm>
              <a:off x="6419850" y="5080000"/>
              <a:ext cx="5048250" cy="2794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87" name="node01.groups.slot-002.lanes.slot-004.items.slot-001.label"/>
            <p:cNvSpPr/>
            <p:nvPr/>
          </p:nvSpPr>
          <p:spPr>
            <a:xfrm>
              <a:off x="6508750" y="5124450"/>
              <a:ext cx="947737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0.5 to 1.0 FTE</a:t>
              </a:r>
              <a:endPara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grpSp>
          <p:nvGrpSpPr>
            <p:cNvPr id="100" name="node01.legend"/>
            <p:cNvGrpSpPr/>
            <p:nvPr/>
          </p:nvGrpSpPr>
          <p:grpSpPr>
            <a:xfrm>
              <a:off x="3390900" y="5664200"/>
              <a:ext cx="4286250" cy="190500"/>
              <a:chOff x="3390900" y="5664200"/>
              <a:chExt cx="4286250" cy="190500"/>
            </a:xfrm>
          </p:grpSpPr>
          <p:sp>
            <p:nvSpPr>
              <p:cNvPr id="88" name="node01.legend.items.kind-core.swatch"/>
              <p:cNvSpPr/>
              <p:nvPr/>
            </p:nvSpPr>
            <p:spPr>
              <a:xfrm>
                <a:off x="3390900" y="5695950"/>
                <a:ext cx="127000" cy="127000"/>
              </a:xfrm>
              <a:prstGeom prst="rect">
                <a:avLst/>
              </a:prstGeom>
              <a:solidFill>
                <a:srgbClr val="070154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89" name="node01.legend.items.kind-core.text"/>
              <p:cNvSpPr/>
              <p:nvPr/>
            </p:nvSpPr>
            <p:spPr>
              <a:xfrm>
                <a:off x="3581400" y="5664200"/>
                <a:ext cx="13335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Full or near full-time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90" name="node01.legend.items.kind-support.swatch"/>
              <p:cNvSpPr/>
              <p:nvPr/>
            </p:nvSpPr>
            <p:spPr>
              <a:xfrm>
                <a:off x="5143500" y="5695950"/>
                <a:ext cx="127000" cy="127000"/>
              </a:xfrm>
              <a:prstGeom prst="rect">
                <a:avLst/>
              </a:prstGeom>
              <a:solidFill>
                <a:srgbClr val="CED7E6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1" name="node01.legend.items.kind-support.text"/>
              <p:cNvSpPr/>
              <p:nvPr/>
            </p:nvSpPr>
            <p:spPr>
              <a:xfrm>
                <a:off x="5334000" y="5664200"/>
                <a:ext cx="12350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Part-time, ramping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92" name="node01.legend.items.event-diamond.swatch"/>
              <p:cNvSpPr/>
              <p:nvPr/>
            </p:nvSpPr>
            <p:spPr>
              <a:xfrm>
                <a:off x="6797675" y="5683250"/>
                <a:ext cx="152400" cy="152400"/>
              </a:xfrm>
              <a:prstGeom prst="diamond">
                <a:avLst/>
              </a:prstGeom>
              <a:solidFill>
                <a:srgbClr val="0047FF"/>
              </a:solidFill>
              <a:ln w="9525">
                <a:solidFill>
                  <a:srgbClr val="070154"/>
                </a:solidFill>
                <a:prstDash val="solid"/>
              </a:ln>
            </p:spPr>
          </p:sp>
          <p:sp>
            <p:nvSpPr>
              <p:cNvPr id="93" name="node01.legend.items.event-diamond.text"/>
              <p:cNvSpPr/>
              <p:nvPr/>
            </p:nvSpPr>
            <p:spPr>
              <a:xfrm>
                <a:off x="7013575" y="5664200"/>
                <a:ext cx="66357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500"/>
                  </a:lnSpc>
                  <a:buNone/>
                </a:pPr>
                <a:r>
                  <a:rPr lang="en-US" sz="11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Milestone</a:t>
                </a:r>
                <a:endPara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Nine named people are in place by February 16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1" name="node01"/>
          <p:cNvGrpSpPr/>
          <p:nvPr/>
        </p:nvGrpSpPr>
        <p:grpSpPr>
          <a:xfrm>
            <a:off x="723900" y="1600200"/>
            <a:ext cx="3429000" cy="1143000"/>
            <a:chOff x="723900" y="1600200"/>
            <a:chExt cx="3429000" cy="1143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62" name="node02"/>
          <p:cNvGrpSpPr/>
          <p:nvPr/>
        </p:nvGrpSpPr>
        <p:grpSpPr>
          <a:xfrm>
            <a:off x="952500" y="1828800"/>
            <a:ext cx="2971800" cy="457200"/>
            <a:chOff x="952500" y="1828800"/>
            <a:chExt cx="2971800" cy="457200"/>
          </a:xfrm>
        </p:grpSpPr>
        <p:sp>
          <p:nvSpPr>
            <p:cNvPr id="7" name="node02.avatar"/>
            <p:cNvSpPr/>
            <p:nvPr/>
          </p:nvSpPr>
          <p:spPr>
            <a:xfrm>
              <a:off x="952500" y="18288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2.initials"/>
            <p:cNvSpPr/>
            <p:nvPr/>
          </p:nvSpPr>
          <p:spPr>
            <a:xfrm>
              <a:off x="952500" y="19494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MR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2.name"/>
            <p:cNvSpPr/>
            <p:nvPr/>
          </p:nvSpPr>
          <p:spPr>
            <a:xfrm>
              <a:off x="1562100" y="18351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Mara R.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node02.role"/>
            <p:cNvSpPr/>
            <p:nvPr/>
          </p:nvSpPr>
          <p:spPr>
            <a:xfrm>
              <a:off x="1562100" y="20891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Engagement lead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3"/>
          <p:cNvGrpSpPr/>
          <p:nvPr/>
        </p:nvGrpSpPr>
        <p:grpSpPr>
          <a:xfrm>
            <a:off x="952500" y="2438400"/>
            <a:ext cx="2971800" cy="139700"/>
            <a:chOff x="952500" y="2438400"/>
            <a:chExt cx="2971800" cy="139700"/>
          </a:xfrm>
        </p:grpSpPr>
        <p:sp>
          <p:nvSpPr>
            <p:cNvPr id="11" name="node03.text"/>
            <p:cNvSpPr/>
            <p:nvPr/>
          </p:nvSpPr>
          <p:spPr>
            <a:xfrm>
              <a:off x="952500" y="2438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· JAN 5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4" name="node04"/>
          <p:cNvGrpSpPr/>
          <p:nvPr/>
        </p:nvGrpSpPr>
        <p:grpSpPr>
          <a:xfrm>
            <a:off x="4381500" y="1600200"/>
            <a:ext cx="3429000" cy="1143000"/>
            <a:chOff x="4381500" y="1600200"/>
            <a:chExt cx="3429000" cy="1143000"/>
          </a:xfrm>
        </p:grpSpPr>
        <p:sp>
          <p:nvSpPr>
            <p:cNvPr id="12" name="node04.container"/>
            <p:cNvSpPr/>
            <p:nvPr/>
          </p:nvSpPr>
          <p:spPr>
            <a:xfrm>
              <a:off x="4381500" y="16002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65" name="node05"/>
          <p:cNvGrpSpPr/>
          <p:nvPr/>
        </p:nvGrpSpPr>
        <p:grpSpPr>
          <a:xfrm>
            <a:off x="4610100" y="1828800"/>
            <a:ext cx="2971800" cy="457200"/>
            <a:chOff x="4610100" y="1828800"/>
            <a:chExt cx="2971800" cy="457200"/>
          </a:xfrm>
        </p:grpSpPr>
        <p:sp>
          <p:nvSpPr>
            <p:cNvPr id="13" name="node05.avatar"/>
            <p:cNvSpPr/>
            <p:nvPr/>
          </p:nvSpPr>
          <p:spPr>
            <a:xfrm>
              <a:off x="4610100" y="18288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5.initials"/>
            <p:cNvSpPr/>
            <p:nvPr/>
          </p:nvSpPr>
          <p:spPr>
            <a:xfrm>
              <a:off x="4610100" y="19494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DK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" name="node05.name"/>
            <p:cNvSpPr/>
            <p:nvPr/>
          </p:nvSpPr>
          <p:spPr>
            <a:xfrm>
              <a:off x="5219700" y="18351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Devon K.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6" name="node05.role"/>
            <p:cNvSpPr/>
            <p:nvPr/>
          </p:nvSpPr>
          <p:spPr>
            <a:xfrm>
              <a:off x="5219700" y="20891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Product manager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06"/>
          <p:cNvGrpSpPr/>
          <p:nvPr/>
        </p:nvGrpSpPr>
        <p:grpSpPr>
          <a:xfrm>
            <a:off x="4610100" y="2438400"/>
            <a:ext cx="2971800" cy="139700"/>
            <a:chOff x="4610100" y="2438400"/>
            <a:chExt cx="2971800" cy="139700"/>
          </a:xfrm>
        </p:grpSpPr>
        <p:sp>
          <p:nvSpPr>
            <p:cNvPr id="17" name="node06.text"/>
            <p:cNvSpPr/>
            <p:nvPr/>
          </p:nvSpPr>
          <p:spPr>
            <a:xfrm>
              <a:off x="4610100" y="2438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JAN 5 – APR 17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7" name="node07"/>
          <p:cNvGrpSpPr/>
          <p:nvPr/>
        </p:nvGrpSpPr>
        <p:grpSpPr>
          <a:xfrm>
            <a:off x="8039100" y="1600200"/>
            <a:ext cx="3429000" cy="1143000"/>
            <a:chOff x="8039100" y="1600200"/>
            <a:chExt cx="3429000" cy="1143000"/>
          </a:xfrm>
        </p:grpSpPr>
        <p:sp>
          <p:nvSpPr>
            <p:cNvPr id="18" name="node07.container"/>
            <p:cNvSpPr/>
            <p:nvPr/>
          </p:nvSpPr>
          <p:spPr>
            <a:xfrm>
              <a:off x="8039100" y="16002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68" name="node08"/>
          <p:cNvGrpSpPr/>
          <p:nvPr/>
        </p:nvGrpSpPr>
        <p:grpSpPr>
          <a:xfrm>
            <a:off x="8267700" y="1828800"/>
            <a:ext cx="2971800" cy="457200"/>
            <a:chOff x="8267700" y="1828800"/>
            <a:chExt cx="2971800" cy="457200"/>
          </a:xfrm>
        </p:grpSpPr>
        <p:sp>
          <p:nvSpPr>
            <p:cNvPr id="19" name="node08.avatar"/>
            <p:cNvSpPr/>
            <p:nvPr/>
          </p:nvSpPr>
          <p:spPr>
            <a:xfrm>
              <a:off x="8267700" y="18288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8.initials"/>
            <p:cNvSpPr/>
            <p:nvPr/>
          </p:nvSpPr>
          <p:spPr>
            <a:xfrm>
              <a:off x="8267700" y="19494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SP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1" name="node08.name"/>
            <p:cNvSpPr/>
            <p:nvPr/>
          </p:nvSpPr>
          <p:spPr>
            <a:xfrm>
              <a:off x="8877300" y="18351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Sasha P.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2" name="node08.role"/>
            <p:cNvSpPr/>
            <p:nvPr/>
          </p:nvSpPr>
          <p:spPr>
            <a:xfrm>
              <a:off x="8877300" y="20891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Solution architect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9" name="node09"/>
          <p:cNvGrpSpPr/>
          <p:nvPr/>
        </p:nvGrpSpPr>
        <p:grpSpPr>
          <a:xfrm>
            <a:off x="8267700" y="2438400"/>
            <a:ext cx="2971800" cy="139700"/>
            <a:chOff x="8267700" y="2438400"/>
            <a:chExt cx="2971800" cy="139700"/>
          </a:xfrm>
        </p:grpSpPr>
        <p:sp>
          <p:nvSpPr>
            <p:cNvPr id="23" name="node09.text"/>
            <p:cNvSpPr/>
            <p:nvPr/>
          </p:nvSpPr>
          <p:spPr>
            <a:xfrm>
              <a:off x="8267700" y="2438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TO 25% · JAN 5 – MAR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0" name="node10"/>
          <p:cNvGrpSpPr/>
          <p:nvPr/>
        </p:nvGrpSpPr>
        <p:grpSpPr>
          <a:xfrm>
            <a:off x="723900" y="2971800"/>
            <a:ext cx="3429000" cy="1143000"/>
            <a:chOff x="723900" y="2971800"/>
            <a:chExt cx="3429000" cy="1143000"/>
          </a:xfrm>
        </p:grpSpPr>
        <p:sp>
          <p:nvSpPr>
            <p:cNvPr id="24" name="node10.container"/>
            <p:cNvSpPr/>
            <p:nvPr/>
          </p:nvSpPr>
          <p:spPr>
            <a:xfrm>
              <a:off x="723900" y="29718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1" name="node11"/>
          <p:cNvGrpSpPr/>
          <p:nvPr/>
        </p:nvGrpSpPr>
        <p:grpSpPr>
          <a:xfrm>
            <a:off x="952500" y="3200400"/>
            <a:ext cx="2971800" cy="457200"/>
            <a:chOff x="952500" y="3200400"/>
            <a:chExt cx="2971800" cy="457200"/>
          </a:xfrm>
        </p:grpSpPr>
        <p:sp>
          <p:nvSpPr>
            <p:cNvPr id="25" name="node11.avatar"/>
            <p:cNvSpPr/>
            <p:nvPr/>
          </p:nvSpPr>
          <p:spPr>
            <a:xfrm>
              <a:off x="952500" y="32004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11.initials"/>
            <p:cNvSpPr/>
            <p:nvPr/>
          </p:nvSpPr>
          <p:spPr>
            <a:xfrm>
              <a:off x="952500" y="33210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TL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11.name"/>
            <p:cNvSpPr/>
            <p:nvPr/>
          </p:nvSpPr>
          <p:spPr>
            <a:xfrm>
              <a:off x="1562100" y="32067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Tariq L.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11.role"/>
            <p:cNvSpPr/>
            <p:nvPr/>
          </p:nvSpPr>
          <p:spPr>
            <a:xfrm>
              <a:off x="1562100" y="34607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Data engineer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12"/>
          <p:cNvGrpSpPr/>
          <p:nvPr/>
        </p:nvGrpSpPr>
        <p:grpSpPr>
          <a:xfrm>
            <a:off x="952500" y="3810000"/>
            <a:ext cx="2971800" cy="139700"/>
            <a:chOff x="952500" y="3810000"/>
            <a:chExt cx="2971800" cy="139700"/>
          </a:xfrm>
        </p:grpSpPr>
        <p:sp>
          <p:nvSpPr>
            <p:cNvPr id="29" name="node12.text"/>
            <p:cNvSpPr/>
            <p:nvPr/>
          </p:nvSpPr>
          <p:spPr>
            <a:xfrm>
              <a:off x="952500" y="3810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TO 100% · JAN 12 – APR 10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3" name="node13"/>
          <p:cNvGrpSpPr/>
          <p:nvPr/>
        </p:nvGrpSpPr>
        <p:grpSpPr>
          <a:xfrm>
            <a:off x="4381500" y="2971800"/>
            <a:ext cx="3429000" cy="1143000"/>
            <a:chOff x="4381500" y="2971800"/>
            <a:chExt cx="3429000" cy="1143000"/>
          </a:xfrm>
        </p:grpSpPr>
        <p:sp>
          <p:nvSpPr>
            <p:cNvPr id="30" name="node13.container"/>
            <p:cNvSpPr/>
            <p:nvPr/>
          </p:nvSpPr>
          <p:spPr>
            <a:xfrm>
              <a:off x="4381500" y="29718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4" name="node14"/>
          <p:cNvGrpSpPr/>
          <p:nvPr/>
        </p:nvGrpSpPr>
        <p:grpSpPr>
          <a:xfrm>
            <a:off x="4610100" y="3200400"/>
            <a:ext cx="2971800" cy="457200"/>
            <a:chOff x="4610100" y="3200400"/>
            <a:chExt cx="2971800" cy="457200"/>
          </a:xfrm>
        </p:grpSpPr>
        <p:sp>
          <p:nvSpPr>
            <p:cNvPr id="31" name="node14.avatar"/>
            <p:cNvSpPr/>
            <p:nvPr/>
          </p:nvSpPr>
          <p:spPr>
            <a:xfrm>
              <a:off x="4610100" y="32004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4.initials"/>
            <p:cNvSpPr/>
            <p:nvPr/>
          </p:nvSpPr>
          <p:spPr>
            <a:xfrm>
              <a:off x="4610100" y="33210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AN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14.name"/>
            <p:cNvSpPr/>
            <p:nvPr/>
          </p:nvSpPr>
          <p:spPr>
            <a:xfrm>
              <a:off x="5219700" y="32067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Anya N.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14.role"/>
            <p:cNvSpPr/>
            <p:nvPr/>
          </p:nvSpPr>
          <p:spPr>
            <a:xfrm>
              <a:off x="5219700" y="34607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analyst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15"/>
          <p:cNvGrpSpPr/>
          <p:nvPr/>
        </p:nvGrpSpPr>
        <p:grpSpPr>
          <a:xfrm>
            <a:off x="4610100" y="3810000"/>
            <a:ext cx="2971800" cy="139700"/>
            <a:chOff x="4610100" y="3810000"/>
            <a:chExt cx="2971800" cy="139700"/>
          </a:xfrm>
        </p:grpSpPr>
        <p:sp>
          <p:nvSpPr>
            <p:cNvPr id="35" name="node15.text"/>
            <p:cNvSpPr/>
            <p:nvPr/>
          </p:nvSpPr>
          <p:spPr>
            <a:xfrm>
              <a:off x="4610100" y="3810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JAN 5 – APR 10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16"/>
          <p:cNvGrpSpPr/>
          <p:nvPr/>
        </p:nvGrpSpPr>
        <p:grpSpPr>
          <a:xfrm>
            <a:off x="8039100" y="2971800"/>
            <a:ext cx="3429000" cy="1143000"/>
            <a:chOff x="8039100" y="2971800"/>
            <a:chExt cx="3429000" cy="1143000"/>
          </a:xfrm>
        </p:grpSpPr>
        <p:sp>
          <p:nvSpPr>
            <p:cNvPr id="36" name="node16.container"/>
            <p:cNvSpPr/>
            <p:nvPr/>
          </p:nvSpPr>
          <p:spPr>
            <a:xfrm>
              <a:off x="8039100" y="29718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7" name="node17"/>
          <p:cNvGrpSpPr/>
          <p:nvPr/>
        </p:nvGrpSpPr>
        <p:grpSpPr>
          <a:xfrm>
            <a:off x="8267700" y="3200400"/>
            <a:ext cx="2971800" cy="457200"/>
            <a:chOff x="8267700" y="3200400"/>
            <a:chExt cx="2971800" cy="457200"/>
          </a:xfrm>
        </p:grpSpPr>
        <p:sp>
          <p:nvSpPr>
            <p:cNvPr id="37" name="node17.avatar"/>
            <p:cNvSpPr/>
            <p:nvPr/>
          </p:nvSpPr>
          <p:spPr>
            <a:xfrm>
              <a:off x="8267700" y="32004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17.initials"/>
            <p:cNvSpPr/>
            <p:nvPr/>
          </p:nvSpPr>
          <p:spPr>
            <a:xfrm>
              <a:off x="8267700" y="33210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JO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17.name"/>
            <p:cNvSpPr/>
            <p:nvPr/>
          </p:nvSpPr>
          <p:spPr>
            <a:xfrm>
              <a:off x="8877300" y="32067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Jonas O.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17.role"/>
            <p:cNvSpPr/>
            <p:nvPr/>
          </p:nvSpPr>
          <p:spPr>
            <a:xfrm>
              <a:off x="8877300" y="34607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Business analyst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18"/>
          <p:cNvGrpSpPr/>
          <p:nvPr/>
        </p:nvGrpSpPr>
        <p:grpSpPr>
          <a:xfrm>
            <a:off x="8267700" y="3810000"/>
            <a:ext cx="2971800" cy="139700"/>
            <a:chOff x="8267700" y="3810000"/>
            <a:chExt cx="2971800" cy="139700"/>
          </a:xfrm>
        </p:grpSpPr>
        <p:sp>
          <p:nvSpPr>
            <p:cNvPr id="41" name="node18.text"/>
            <p:cNvSpPr/>
            <p:nvPr/>
          </p:nvSpPr>
          <p:spPr>
            <a:xfrm>
              <a:off x="8267700" y="3810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JAN 5 – APR 10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9" name="node19"/>
          <p:cNvGrpSpPr/>
          <p:nvPr/>
        </p:nvGrpSpPr>
        <p:grpSpPr>
          <a:xfrm>
            <a:off x="723900" y="4343400"/>
            <a:ext cx="3429000" cy="1143000"/>
            <a:chOff x="723900" y="4343400"/>
            <a:chExt cx="3429000" cy="1143000"/>
          </a:xfrm>
        </p:grpSpPr>
        <p:sp>
          <p:nvSpPr>
            <p:cNvPr id="42" name="node19.container"/>
            <p:cNvSpPr/>
            <p:nvPr/>
          </p:nvSpPr>
          <p:spPr>
            <a:xfrm>
              <a:off x="723900" y="43434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0" name="node20"/>
          <p:cNvGrpSpPr/>
          <p:nvPr/>
        </p:nvGrpSpPr>
        <p:grpSpPr>
          <a:xfrm>
            <a:off x="952500" y="4572000"/>
            <a:ext cx="2971800" cy="457200"/>
            <a:chOff x="952500" y="4572000"/>
            <a:chExt cx="2971800" cy="457200"/>
          </a:xfrm>
        </p:grpSpPr>
        <p:sp>
          <p:nvSpPr>
            <p:cNvPr id="43" name="node20.avatar"/>
            <p:cNvSpPr/>
            <p:nvPr/>
          </p:nvSpPr>
          <p:spPr>
            <a:xfrm>
              <a:off x="952500" y="45720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20.initials"/>
            <p:cNvSpPr/>
            <p:nvPr/>
          </p:nvSpPr>
          <p:spPr>
            <a:xfrm>
              <a:off x="952500" y="46926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PC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20.name"/>
            <p:cNvSpPr/>
            <p:nvPr/>
          </p:nvSpPr>
          <p:spPr>
            <a:xfrm>
              <a:off x="1562100" y="45783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Priya C.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6" name="node20.role"/>
            <p:cNvSpPr/>
            <p:nvPr/>
          </p:nvSpPr>
          <p:spPr>
            <a:xfrm>
              <a:off x="1562100" y="48323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Lead developer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21"/>
          <p:cNvGrpSpPr/>
          <p:nvPr/>
        </p:nvGrpSpPr>
        <p:grpSpPr>
          <a:xfrm>
            <a:off x="952500" y="5181600"/>
            <a:ext cx="2971800" cy="139700"/>
            <a:chOff x="952500" y="5181600"/>
            <a:chExt cx="2971800" cy="139700"/>
          </a:xfrm>
        </p:grpSpPr>
        <p:sp>
          <p:nvSpPr>
            <p:cNvPr id="47" name="node21.text"/>
            <p:cNvSpPr/>
            <p:nvPr/>
          </p:nvSpPr>
          <p:spPr>
            <a:xfrm>
              <a:off x="952500" y="5181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100% · FEB 2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2" name="node22"/>
          <p:cNvGrpSpPr/>
          <p:nvPr/>
        </p:nvGrpSpPr>
        <p:grpSpPr>
          <a:xfrm>
            <a:off x="4381500" y="4343400"/>
            <a:ext cx="3429000" cy="1143000"/>
            <a:chOff x="4381500" y="4343400"/>
            <a:chExt cx="3429000" cy="1143000"/>
          </a:xfrm>
        </p:grpSpPr>
        <p:sp>
          <p:nvSpPr>
            <p:cNvPr id="48" name="node22.container"/>
            <p:cNvSpPr/>
            <p:nvPr/>
          </p:nvSpPr>
          <p:spPr>
            <a:xfrm>
              <a:off x="4381500" y="43434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3" name="node23"/>
          <p:cNvGrpSpPr/>
          <p:nvPr/>
        </p:nvGrpSpPr>
        <p:grpSpPr>
          <a:xfrm>
            <a:off x="4610100" y="4572000"/>
            <a:ext cx="2971800" cy="457200"/>
            <a:chOff x="4610100" y="4572000"/>
            <a:chExt cx="2971800" cy="457200"/>
          </a:xfrm>
        </p:grpSpPr>
        <p:sp>
          <p:nvSpPr>
            <p:cNvPr id="49" name="node23.avatar"/>
            <p:cNvSpPr/>
            <p:nvPr/>
          </p:nvSpPr>
          <p:spPr>
            <a:xfrm>
              <a:off x="4610100" y="45720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23.initials"/>
            <p:cNvSpPr/>
            <p:nvPr/>
          </p:nvSpPr>
          <p:spPr>
            <a:xfrm>
              <a:off x="4610100" y="46926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RB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23.name"/>
            <p:cNvSpPr/>
            <p:nvPr/>
          </p:nvSpPr>
          <p:spPr>
            <a:xfrm>
              <a:off x="5219700" y="45783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Rowan B.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23.role"/>
            <p:cNvSpPr/>
            <p:nvPr/>
          </p:nvSpPr>
          <p:spPr>
            <a:xfrm>
              <a:off x="5219700" y="48323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QA lead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24"/>
          <p:cNvGrpSpPr/>
          <p:nvPr/>
        </p:nvGrpSpPr>
        <p:grpSpPr>
          <a:xfrm>
            <a:off x="4610100" y="5181600"/>
            <a:ext cx="2971800" cy="139700"/>
            <a:chOff x="4610100" y="5181600"/>
            <a:chExt cx="2971800" cy="139700"/>
          </a:xfrm>
        </p:grpSpPr>
        <p:sp>
          <p:nvSpPr>
            <p:cNvPr id="53" name="node24.text"/>
            <p:cNvSpPr/>
            <p:nvPr/>
          </p:nvSpPr>
          <p:spPr>
            <a:xfrm>
              <a:off x="4610100" y="5181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TO 100% · FEB 16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25"/>
          <p:cNvGrpSpPr/>
          <p:nvPr/>
        </p:nvGrpSpPr>
        <p:grpSpPr>
          <a:xfrm>
            <a:off x="8039100" y="4343400"/>
            <a:ext cx="3429000" cy="1143000"/>
            <a:chOff x="8039100" y="4343400"/>
            <a:chExt cx="3429000" cy="1143000"/>
          </a:xfrm>
        </p:grpSpPr>
        <p:sp>
          <p:nvSpPr>
            <p:cNvPr id="54" name="node25.container"/>
            <p:cNvSpPr/>
            <p:nvPr/>
          </p:nvSpPr>
          <p:spPr>
            <a:xfrm>
              <a:off x="8039100" y="43434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6" name="node26"/>
          <p:cNvGrpSpPr/>
          <p:nvPr/>
        </p:nvGrpSpPr>
        <p:grpSpPr>
          <a:xfrm>
            <a:off x="8267700" y="4572000"/>
            <a:ext cx="2971800" cy="457200"/>
            <a:chOff x="8267700" y="4572000"/>
            <a:chExt cx="2971800" cy="457200"/>
          </a:xfrm>
        </p:grpSpPr>
        <p:sp>
          <p:nvSpPr>
            <p:cNvPr id="55" name="node26.avatar"/>
            <p:cNvSpPr/>
            <p:nvPr/>
          </p:nvSpPr>
          <p:spPr>
            <a:xfrm>
              <a:off x="8267700" y="4572000"/>
              <a:ext cx="457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26.initials"/>
            <p:cNvSpPr/>
            <p:nvPr/>
          </p:nvSpPr>
          <p:spPr>
            <a:xfrm>
              <a:off x="8267700" y="4692650"/>
              <a:ext cx="457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EH</a:t>
              </a:r>
              <a:endParaRPr lang="en-US" sz="1200" spc="0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26.name"/>
            <p:cNvSpPr/>
            <p:nvPr/>
          </p:nvSpPr>
          <p:spPr>
            <a:xfrm>
              <a:off x="8877300" y="4578350"/>
              <a:ext cx="2362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Elena H.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8" name="node26.role"/>
            <p:cNvSpPr/>
            <p:nvPr/>
          </p:nvSpPr>
          <p:spPr>
            <a:xfrm>
              <a:off x="8877300" y="483235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Change lead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27"/>
          <p:cNvGrpSpPr/>
          <p:nvPr/>
        </p:nvGrpSpPr>
        <p:grpSpPr>
          <a:xfrm>
            <a:off x="8267700" y="5181600"/>
            <a:ext cx="2971800" cy="139700"/>
            <a:chOff x="8267700" y="5181600"/>
            <a:chExt cx="2971800" cy="139700"/>
          </a:xfrm>
        </p:grpSpPr>
        <p:sp>
          <p:nvSpPr>
            <p:cNvPr id="59" name="node27.text"/>
            <p:cNvSpPr/>
            <p:nvPr/>
          </p:nvSpPr>
          <p:spPr>
            <a:xfrm>
              <a:off x="8267700" y="51816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50% TO 100% · JAN 19 – APR 24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8" name="node28"/>
          <p:cNvGrpSpPr/>
          <p:nvPr/>
        </p:nvGrpSpPr>
        <p:grpSpPr>
          <a:xfrm>
            <a:off x="723900" y="5638800"/>
            <a:ext cx="10744200" cy="215900"/>
            <a:chOff x="723900" y="5638800"/>
            <a:chExt cx="10744200" cy="215900"/>
          </a:xfrm>
        </p:grpSpPr>
        <p:sp>
          <p:nvSpPr>
            <p:cNvPr id="60" name="node28.text"/>
            <p:cNvSpPr/>
            <p:nvPr/>
          </p:nvSpPr>
          <p:spPr>
            <a:xfrm>
              <a:off x="723900" y="5638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Allocation is a share of a 40-hour week; ranges show ramp-up or ramp-down.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Offshore share grows as the build scales up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7" name="node01"/>
          <p:cNvGrpSpPr/>
          <p:nvPr/>
        </p:nvGrpSpPr>
        <p:grpSpPr>
          <a:xfrm>
            <a:off x="2324100" y="1600200"/>
            <a:ext cx="1600200" cy="304800"/>
            <a:chOff x="2324100" y="1600200"/>
            <a:chExt cx="1600200" cy="304800"/>
          </a:xfrm>
        </p:grpSpPr>
        <p:sp>
          <p:nvSpPr>
            <p:cNvPr id="7" name="node01.surface"/>
            <p:cNvSpPr/>
            <p:nvPr/>
          </p:nvSpPr>
          <p:spPr>
            <a:xfrm>
              <a:off x="2324100" y="1600200"/>
              <a:ext cx="1600200" cy="304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2476500" y="1682750"/>
              <a:ext cx="1295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ONSHORE</a:t>
              </a:r>
              <a:endParaRPr lang="en-US" sz="800" spc="48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8" name="node02"/>
          <p:cNvGrpSpPr/>
          <p:nvPr/>
        </p:nvGrpSpPr>
        <p:grpSpPr>
          <a:xfrm>
            <a:off x="4152900" y="1600200"/>
            <a:ext cx="1600200" cy="304800"/>
            <a:chOff x="4152900" y="1600200"/>
            <a:chExt cx="1600200" cy="304800"/>
          </a:xfrm>
        </p:grpSpPr>
        <p:sp>
          <p:nvSpPr>
            <p:cNvPr id="9" name="node02.surface"/>
            <p:cNvSpPr/>
            <p:nvPr/>
          </p:nvSpPr>
          <p:spPr>
            <a:xfrm>
              <a:off x="4152900" y="1600200"/>
              <a:ext cx="1600200" cy="304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0" name="node02.text"/>
            <p:cNvSpPr/>
            <p:nvPr/>
          </p:nvSpPr>
          <p:spPr>
            <a:xfrm>
              <a:off x="4305300" y="1682750"/>
              <a:ext cx="1295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NEARSHORE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9" name="node03"/>
          <p:cNvGrpSpPr/>
          <p:nvPr/>
        </p:nvGrpSpPr>
        <p:grpSpPr>
          <a:xfrm>
            <a:off x="5981700" y="1600200"/>
            <a:ext cx="1600200" cy="304800"/>
            <a:chOff x="5981700" y="1600200"/>
            <a:chExt cx="1600200" cy="304800"/>
          </a:xfrm>
        </p:grpSpPr>
        <p:sp>
          <p:nvSpPr>
            <p:cNvPr id="11" name="node03.surface"/>
            <p:cNvSpPr/>
            <p:nvPr/>
          </p:nvSpPr>
          <p:spPr>
            <a:xfrm>
              <a:off x="5981700" y="1600200"/>
              <a:ext cx="16002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" name="node03.text"/>
            <p:cNvSpPr/>
            <p:nvPr/>
          </p:nvSpPr>
          <p:spPr>
            <a:xfrm>
              <a:off x="6134100" y="1682750"/>
              <a:ext cx="1295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OFFSHORE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0" name="node04"/>
          <p:cNvGrpSpPr/>
          <p:nvPr/>
        </p:nvGrpSpPr>
        <p:grpSpPr>
          <a:xfrm>
            <a:off x="723900" y="2057400"/>
            <a:ext cx="1600200" cy="266700"/>
            <a:chOff x="723900" y="2057400"/>
            <a:chExt cx="1600200" cy="266700"/>
          </a:xfrm>
        </p:grpSpPr>
        <p:sp>
          <p:nvSpPr>
            <p:cNvPr id="13" name="node04.text"/>
            <p:cNvSpPr/>
            <p:nvPr/>
          </p:nvSpPr>
          <p:spPr>
            <a:xfrm>
              <a:off x="723900" y="20574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Mobilize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1" name="node05"/>
          <p:cNvGrpSpPr/>
          <p:nvPr/>
        </p:nvGrpSpPr>
        <p:grpSpPr>
          <a:xfrm>
            <a:off x="723900" y="2362200"/>
            <a:ext cx="1600200" cy="139700"/>
            <a:chOff x="723900" y="2362200"/>
            <a:chExt cx="1600200" cy="139700"/>
          </a:xfrm>
        </p:grpSpPr>
        <p:sp>
          <p:nvSpPr>
            <p:cNvPr id="14" name="node05.text"/>
            <p:cNvSpPr/>
            <p:nvPr/>
          </p:nvSpPr>
          <p:spPr>
            <a:xfrm>
              <a:off x="723900" y="23622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1–2 · 5.5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2" name="node06"/>
          <p:cNvGrpSpPr/>
          <p:nvPr/>
        </p:nvGrpSpPr>
        <p:grpSpPr>
          <a:xfrm>
            <a:off x="723900" y="2971800"/>
            <a:ext cx="1600200" cy="266700"/>
            <a:chOff x="723900" y="2971800"/>
            <a:chExt cx="1600200" cy="266700"/>
          </a:xfrm>
        </p:grpSpPr>
        <p:sp>
          <p:nvSpPr>
            <p:cNvPr id="15" name="node06.text"/>
            <p:cNvSpPr/>
            <p:nvPr/>
          </p:nvSpPr>
          <p:spPr>
            <a:xfrm>
              <a:off x="723900" y="29718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3" name="node07"/>
          <p:cNvGrpSpPr/>
          <p:nvPr/>
        </p:nvGrpSpPr>
        <p:grpSpPr>
          <a:xfrm>
            <a:off x="723900" y="3276600"/>
            <a:ext cx="1600200" cy="139700"/>
            <a:chOff x="723900" y="3276600"/>
            <a:chExt cx="1600200" cy="139700"/>
          </a:xfrm>
        </p:grpSpPr>
        <p:sp>
          <p:nvSpPr>
            <p:cNvPr id="16" name="node07.text"/>
            <p:cNvSpPr/>
            <p:nvPr/>
          </p:nvSpPr>
          <p:spPr>
            <a:xfrm>
              <a:off x="723900" y="32766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3–6 · 8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4" name="node08"/>
          <p:cNvGrpSpPr/>
          <p:nvPr/>
        </p:nvGrpSpPr>
        <p:grpSpPr>
          <a:xfrm>
            <a:off x="723900" y="3886200"/>
            <a:ext cx="1600200" cy="266700"/>
            <a:chOff x="723900" y="3886200"/>
            <a:chExt cx="1600200" cy="266700"/>
          </a:xfrm>
        </p:grpSpPr>
        <p:sp>
          <p:nvSpPr>
            <p:cNvPr id="17" name="node08.text"/>
            <p:cNvSpPr/>
            <p:nvPr/>
          </p:nvSpPr>
          <p:spPr>
            <a:xfrm>
              <a:off x="723900" y="38862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and test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5" name="node09"/>
          <p:cNvGrpSpPr/>
          <p:nvPr/>
        </p:nvGrpSpPr>
        <p:grpSpPr>
          <a:xfrm>
            <a:off x="723900" y="4191000"/>
            <a:ext cx="1600200" cy="139700"/>
            <a:chOff x="723900" y="4191000"/>
            <a:chExt cx="1600200" cy="139700"/>
          </a:xfrm>
        </p:grpSpPr>
        <p:sp>
          <p:nvSpPr>
            <p:cNvPr id="18" name="node09.text"/>
            <p:cNvSpPr/>
            <p:nvPr/>
          </p:nvSpPr>
          <p:spPr>
            <a:xfrm>
              <a:off x="723900" y="41910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7–12 · 10.8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6" name="node10"/>
          <p:cNvGrpSpPr/>
          <p:nvPr/>
        </p:nvGrpSpPr>
        <p:grpSpPr>
          <a:xfrm>
            <a:off x="723900" y="4800600"/>
            <a:ext cx="1600200" cy="266700"/>
            <a:chOff x="723900" y="4800600"/>
            <a:chExt cx="1600200" cy="266700"/>
          </a:xfrm>
        </p:grpSpPr>
        <p:sp>
          <p:nvSpPr>
            <p:cNvPr id="19" name="node10.text"/>
            <p:cNvSpPr/>
            <p:nvPr/>
          </p:nvSpPr>
          <p:spPr>
            <a:xfrm>
              <a:off x="723900" y="4800600"/>
              <a:ext cx="1600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Launch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7" name="node11"/>
          <p:cNvGrpSpPr/>
          <p:nvPr/>
        </p:nvGrpSpPr>
        <p:grpSpPr>
          <a:xfrm>
            <a:off x="723900" y="5105400"/>
            <a:ext cx="1600200" cy="139700"/>
            <a:chOff x="723900" y="5105400"/>
            <a:chExt cx="1600200" cy="139700"/>
          </a:xfrm>
        </p:grpSpPr>
        <p:sp>
          <p:nvSpPr>
            <p:cNvPr id="20" name="node11.text"/>
            <p:cNvSpPr/>
            <p:nvPr/>
          </p:nvSpPr>
          <p:spPr>
            <a:xfrm>
              <a:off x="723900" y="5105400"/>
              <a:ext cx="1600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WEEKS 13–16 · 7.5 FTE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8" name="node12"/>
          <p:cNvGrpSpPr/>
          <p:nvPr/>
        </p:nvGrpSpPr>
        <p:grpSpPr>
          <a:xfrm>
            <a:off x="2324100" y="2057400"/>
            <a:ext cx="4343400" cy="685800"/>
            <a:chOff x="2324100" y="2057400"/>
            <a:chExt cx="4343400" cy="685800"/>
          </a:xfrm>
        </p:grpSpPr>
        <p:sp>
          <p:nvSpPr>
            <p:cNvPr id="21" name="node12.surface"/>
            <p:cNvSpPr/>
            <p:nvPr/>
          </p:nvSpPr>
          <p:spPr>
            <a:xfrm>
              <a:off x="2324100" y="2057400"/>
              <a:ext cx="43434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12.text"/>
            <p:cNvSpPr/>
            <p:nvPr/>
          </p:nvSpPr>
          <p:spPr>
            <a:xfrm>
              <a:off x="2476500" y="2266950"/>
              <a:ext cx="4038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80%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9" name="node13"/>
          <p:cNvGrpSpPr/>
          <p:nvPr/>
        </p:nvGrpSpPr>
        <p:grpSpPr>
          <a:xfrm>
            <a:off x="6667500" y="2057400"/>
            <a:ext cx="1143000" cy="685800"/>
            <a:chOff x="6667500" y="2057400"/>
            <a:chExt cx="1143000" cy="685800"/>
          </a:xfrm>
        </p:grpSpPr>
        <p:sp>
          <p:nvSpPr>
            <p:cNvPr id="23" name="node13.surface"/>
            <p:cNvSpPr/>
            <p:nvPr/>
          </p:nvSpPr>
          <p:spPr>
            <a:xfrm>
              <a:off x="6667500" y="2057400"/>
              <a:ext cx="11430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4" name="node13.text"/>
            <p:cNvSpPr/>
            <p:nvPr/>
          </p:nvSpPr>
          <p:spPr>
            <a:xfrm>
              <a:off x="6819900" y="2266950"/>
              <a:ext cx="838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20%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0" name="node14"/>
          <p:cNvGrpSpPr/>
          <p:nvPr/>
        </p:nvGrpSpPr>
        <p:grpSpPr>
          <a:xfrm>
            <a:off x="2324100" y="2971800"/>
            <a:ext cx="3200400" cy="685800"/>
            <a:chOff x="2324100" y="2971800"/>
            <a:chExt cx="3200400" cy="685800"/>
          </a:xfrm>
        </p:grpSpPr>
        <p:sp>
          <p:nvSpPr>
            <p:cNvPr id="25" name="node14.surface"/>
            <p:cNvSpPr/>
            <p:nvPr/>
          </p:nvSpPr>
          <p:spPr>
            <a:xfrm>
              <a:off x="2324100" y="2971800"/>
              <a:ext cx="32004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14.text"/>
            <p:cNvSpPr/>
            <p:nvPr/>
          </p:nvSpPr>
          <p:spPr>
            <a:xfrm>
              <a:off x="2476500" y="3181350"/>
              <a:ext cx="2895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60%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1" name="node15"/>
          <p:cNvGrpSpPr/>
          <p:nvPr/>
        </p:nvGrpSpPr>
        <p:grpSpPr>
          <a:xfrm>
            <a:off x="5524500" y="2971800"/>
            <a:ext cx="1600200" cy="685800"/>
            <a:chOff x="5524500" y="2971800"/>
            <a:chExt cx="1600200" cy="685800"/>
          </a:xfrm>
        </p:grpSpPr>
        <p:sp>
          <p:nvSpPr>
            <p:cNvPr id="27" name="node15.surface"/>
            <p:cNvSpPr/>
            <p:nvPr/>
          </p:nvSpPr>
          <p:spPr>
            <a:xfrm>
              <a:off x="5524500" y="2971800"/>
              <a:ext cx="16002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8" name="node15.text"/>
            <p:cNvSpPr/>
            <p:nvPr/>
          </p:nvSpPr>
          <p:spPr>
            <a:xfrm>
              <a:off x="5676900" y="3181350"/>
              <a:ext cx="1295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30%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2" name="node16"/>
          <p:cNvGrpSpPr/>
          <p:nvPr/>
        </p:nvGrpSpPr>
        <p:grpSpPr>
          <a:xfrm>
            <a:off x="7124700" y="2971800"/>
            <a:ext cx="685800" cy="685800"/>
            <a:chOff x="7124700" y="2971800"/>
            <a:chExt cx="685800" cy="685800"/>
          </a:xfrm>
        </p:grpSpPr>
        <p:sp>
          <p:nvSpPr>
            <p:cNvPr id="29" name="node16.surface"/>
            <p:cNvSpPr/>
            <p:nvPr/>
          </p:nvSpPr>
          <p:spPr>
            <a:xfrm>
              <a:off x="7124700" y="2971800"/>
              <a:ext cx="6858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0" name="node16.text"/>
            <p:cNvSpPr/>
            <p:nvPr/>
          </p:nvSpPr>
          <p:spPr>
            <a:xfrm>
              <a:off x="7200900" y="3181350"/>
              <a:ext cx="533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10%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3" name="node17"/>
          <p:cNvGrpSpPr/>
          <p:nvPr/>
        </p:nvGrpSpPr>
        <p:grpSpPr>
          <a:xfrm>
            <a:off x="2324100" y="3886200"/>
            <a:ext cx="2286000" cy="685800"/>
            <a:chOff x="2324100" y="3886200"/>
            <a:chExt cx="2286000" cy="685800"/>
          </a:xfrm>
        </p:grpSpPr>
        <p:sp>
          <p:nvSpPr>
            <p:cNvPr id="31" name="node17.surface"/>
            <p:cNvSpPr/>
            <p:nvPr/>
          </p:nvSpPr>
          <p:spPr>
            <a:xfrm>
              <a:off x="2324100" y="3886200"/>
              <a:ext cx="22860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7.text"/>
            <p:cNvSpPr/>
            <p:nvPr/>
          </p:nvSpPr>
          <p:spPr>
            <a:xfrm>
              <a:off x="2476500" y="4095750"/>
              <a:ext cx="1981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40%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4" name="node18"/>
          <p:cNvGrpSpPr/>
          <p:nvPr/>
        </p:nvGrpSpPr>
        <p:grpSpPr>
          <a:xfrm>
            <a:off x="4610100" y="3886200"/>
            <a:ext cx="2057400" cy="685800"/>
            <a:chOff x="4610100" y="3886200"/>
            <a:chExt cx="2057400" cy="685800"/>
          </a:xfrm>
        </p:grpSpPr>
        <p:sp>
          <p:nvSpPr>
            <p:cNvPr id="33" name="node18.surface"/>
            <p:cNvSpPr/>
            <p:nvPr/>
          </p:nvSpPr>
          <p:spPr>
            <a:xfrm>
              <a:off x="4610100" y="3886200"/>
              <a:ext cx="20574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4" name="node18.text"/>
            <p:cNvSpPr/>
            <p:nvPr/>
          </p:nvSpPr>
          <p:spPr>
            <a:xfrm>
              <a:off x="4762500" y="4095750"/>
              <a:ext cx="1752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35%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5" name="node19"/>
          <p:cNvGrpSpPr/>
          <p:nvPr/>
        </p:nvGrpSpPr>
        <p:grpSpPr>
          <a:xfrm>
            <a:off x="6667500" y="3886200"/>
            <a:ext cx="1143000" cy="685800"/>
            <a:chOff x="6667500" y="3886200"/>
            <a:chExt cx="1143000" cy="685800"/>
          </a:xfrm>
        </p:grpSpPr>
        <p:sp>
          <p:nvSpPr>
            <p:cNvPr id="35" name="node19.surface"/>
            <p:cNvSpPr/>
            <p:nvPr/>
          </p:nvSpPr>
          <p:spPr>
            <a:xfrm>
              <a:off x="6667500" y="3886200"/>
              <a:ext cx="11430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6" name="node19.text"/>
            <p:cNvSpPr/>
            <p:nvPr/>
          </p:nvSpPr>
          <p:spPr>
            <a:xfrm>
              <a:off x="6819900" y="4095750"/>
              <a:ext cx="838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25%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6" name="node20"/>
          <p:cNvGrpSpPr/>
          <p:nvPr/>
        </p:nvGrpSpPr>
        <p:grpSpPr>
          <a:xfrm>
            <a:off x="2324100" y="4800600"/>
            <a:ext cx="2971800" cy="685800"/>
            <a:chOff x="2324100" y="4800600"/>
            <a:chExt cx="2971800" cy="685800"/>
          </a:xfrm>
        </p:grpSpPr>
        <p:sp>
          <p:nvSpPr>
            <p:cNvPr id="37" name="node20.surface"/>
            <p:cNvSpPr/>
            <p:nvPr/>
          </p:nvSpPr>
          <p:spPr>
            <a:xfrm>
              <a:off x="2324100" y="4800600"/>
              <a:ext cx="29718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20.text"/>
            <p:cNvSpPr/>
            <p:nvPr/>
          </p:nvSpPr>
          <p:spPr>
            <a:xfrm>
              <a:off x="2476500" y="5010150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55%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7" name="node21"/>
          <p:cNvGrpSpPr/>
          <p:nvPr/>
        </p:nvGrpSpPr>
        <p:grpSpPr>
          <a:xfrm>
            <a:off x="5295900" y="4800600"/>
            <a:ext cx="1600200" cy="685800"/>
            <a:chOff x="5295900" y="4800600"/>
            <a:chExt cx="1600200" cy="685800"/>
          </a:xfrm>
        </p:grpSpPr>
        <p:sp>
          <p:nvSpPr>
            <p:cNvPr id="39" name="node21.surface"/>
            <p:cNvSpPr/>
            <p:nvPr/>
          </p:nvSpPr>
          <p:spPr>
            <a:xfrm>
              <a:off x="5295900" y="4800600"/>
              <a:ext cx="1600200" cy="6858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0" name="node21.text"/>
            <p:cNvSpPr/>
            <p:nvPr/>
          </p:nvSpPr>
          <p:spPr>
            <a:xfrm>
              <a:off x="5448300" y="5010150"/>
              <a:ext cx="1295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30%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22"/>
          <p:cNvGrpSpPr/>
          <p:nvPr/>
        </p:nvGrpSpPr>
        <p:grpSpPr>
          <a:xfrm>
            <a:off x="6896100" y="4800600"/>
            <a:ext cx="914400" cy="685800"/>
            <a:chOff x="6896100" y="4800600"/>
            <a:chExt cx="914400" cy="685800"/>
          </a:xfrm>
        </p:grpSpPr>
        <p:sp>
          <p:nvSpPr>
            <p:cNvPr id="41" name="node22.surface"/>
            <p:cNvSpPr/>
            <p:nvPr/>
          </p:nvSpPr>
          <p:spPr>
            <a:xfrm>
              <a:off x="6896100" y="4800600"/>
              <a:ext cx="914400" cy="685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2" name="node22.text"/>
            <p:cNvSpPr/>
            <p:nvPr/>
          </p:nvSpPr>
          <p:spPr>
            <a:xfrm>
              <a:off x="7048500" y="501015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15%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aphicFrame>
        <p:nvGraphicFramePr>
          <p:cNvPr id="43" name="node23.nativ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39100" y="1600200"/>
          <a:ext cx="3429000" cy="1422400"/>
        </p:xfrm>
        <a:graphic>
          <a:graphicData uri="http://schemas.openxmlformats.org/drawingml/2006/table">
            <a:tbl>
              <a:tblPr/>
              <a:tblGrid>
                <a:gridCol w="1600200"/>
                <a:gridCol w="1828800"/>
              </a:tblGrid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LOCATION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defRPr>
                      </a:pPr>
                      <a:r>
                        <a: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rPr>
                        <a:t xml:space="preserve">OVERLAP WITH ET</a:t>
                      </a:r>
                      <a:endParaRPr lang="en-US" sz="800" spc="48" kern="0" b="0" i="0" dirty="0">
                        <a:solidFill>
                          <a:srgbClr val="FFFFFF"/>
                        </a:solidFill>
                        <a:latin typeface="IBM Plex Mono SemiBold"/>
                        <a:ea typeface="IBM Plex Mono SemiBold"/>
                        <a:cs typeface="IBM Plex Mono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154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Onshore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8 hours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Nearshore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7 to 8 hours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rPr>
                        <a:t xml:space="preserve">Offshore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 SemiBold"/>
                        <a:ea typeface="IBM Plex Sans SemiBold"/>
                        <a:cs typeface="IBM Plex Sans SemiBold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 marL="0" indent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defRPr>
                      </a:pPr>
                      <a:r>
                        <a: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 xml:space="preserve">3.5 hours</a:t>
                      </a:r>
                      <a:endParaRPr lang="en-US" sz="1000" spc="0" kern="0" b="0" i="0" dirty="0">
                        <a:solidFill>
                          <a:srgbClr val="070154"/>
                        </a:solidFill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E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9" name="node24"/>
          <p:cNvGrpSpPr/>
          <p:nvPr/>
        </p:nvGrpSpPr>
        <p:grpSpPr>
          <a:xfrm>
            <a:off x="8039100" y="3200400"/>
            <a:ext cx="3429000" cy="2286000"/>
            <a:chOff x="8039100" y="3200400"/>
            <a:chExt cx="3429000" cy="2286000"/>
          </a:xfrm>
        </p:grpSpPr>
        <p:sp>
          <p:nvSpPr>
            <p:cNvPr id="44" name="node24.container"/>
            <p:cNvSpPr/>
            <p:nvPr/>
          </p:nvSpPr>
          <p:spPr>
            <a:xfrm>
              <a:off x="8039100" y="32004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5" name="node24.label"/>
            <p:cNvSpPr/>
            <p:nvPr/>
          </p:nvSpPr>
          <p:spPr>
            <a:xfrm>
              <a:off x="8267700" y="34290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TIME-ZONE OVERLAP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6" name="node24.body.item-001.bullets"/>
            <p:cNvSpPr/>
            <p:nvPr/>
          </p:nvSpPr>
          <p:spPr>
            <a:xfrm>
              <a:off x="8267700" y="3644900"/>
              <a:ext cx="29718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Offshore overlaps 8:00 to 11:30 ET, so reviews and decisions sit in the morning.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Hand-offs run overnight: offshore builds, onshore reviews next day.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Client ceremonies stay inside the shared window.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Loading peaks in weeks 7–8 and eases through launch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06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sp>
          <p:nvSpPr>
            <p:cNvPr id="6" name="node01.row.item-001.w0.heat-gap"/>
            <p:cNvSpPr/>
            <p:nvPr/>
          </p:nvSpPr>
          <p:spPr>
            <a:xfrm>
              <a:off x="33147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node01.row.item-001.w0.heat"/>
            <p:cNvSpPr/>
            <p:nvPr/>
          </p:nvSpPr>
          <p:spPr>
            <a:xfrm>
              <a:off x="33337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" name="node01.row.item-001.w1.heat-gap"/>
            <p:cNvSpPr/>
            <p:nvPr/>
          </p:nvSpPr>
          <p:spPr>
            <a:xfrm>
              <a:off x="42291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node01.row.item-001.w1.heat"/>
            <p:cNvSpPr/>
            <p:nvPr/>
          </p:nvSpPr>
          <p:spPr>
            <a:xfrm>
              <a:off x="42481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" name="node01.row.item-001.w2.heat-gap"/>
            <p:cNvSpPr/>
            <p:nvPr/>
          </p:nvSpPr>
          <p:spPr>
            <a:xfrm>
              <a:off x="51435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node01.row.item-001.w2.heat"/>
            <p:cNvSpPr/>
            <p:nvPr/>
          </p:nvSpPr>
          <p:spPr>
            <a:xfrm>
              <a:off x="51625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" name="node01.row.item-001.w3.heat-gap"/>
            <p:cNvSpPr/>
            <p:nvPr/>
          </p:nvSpPr>
          <p:spPr>
            <a:xfrm>
              <a:off x="60579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node01.row.item-001.w3.heat"/>
            <p:cNvSpPr/>
            <p:nvPr/>
          </p:nvSpPr>
          <p:spPr>
            <a:xfrm>
              <a:off x="60769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4" name="node01.row.item-001.w4.heat-gap"/>
            <p:cNvSpPr/>
            <p:nvPr/>
          </p:nvSpPr>
          <p:spPr>
            <a:xfrm>
              <a:off x="69723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node01.row.item-001.w4.heat"/>
            <p:cNvSpPr/>
            <p:nvPr/>
          </p:nvSpPr>
          <p:spPr>
            <a:xfrm>
              <a:off x="69913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" name="node01.row.item-001.w5.heat-gap"/>
            <p:cNvSpPr/>
            <p:nvPr/>
          </p:nvSpPr>
          <p:spPr>
            <a:xfrm>
              <a:off x="78867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node01.row.item-001.w5.heat"/>
            <p:cNvSpPr/>
            <p:nvPr/>
          </p:nvSpPr>
          <p:spPr>
            <a:xfrm>
              <a:off x="79057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8" name="node01.row.item-001.w6.heat-gap"/>
            <p:cNvSpPr/>
            <p:nvPr/>
          </p:nvSpPr>
          <p:spPr>
            <a:xfrm>
              <a:off x="88011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node01.row.item-001.w6.heat"/>
            <p:cNvSpPr/>
            <p:nvPr/>
          </p:nvSpPr>
          <p:spPr>
            <a:xfrm>
              <a:off x="88201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0" name="node01.row.item-001.w7.heat-gap"/>
            <p:cNvSpPr/>
            <p:nvPr/>
          </p:nvSpPr>
          <p:spPr>
            <a:xfrm>
              <a:off x="9715500" y="1955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node01.row.item-001.w7.heat"/>
            <p:cNvSpPr/>
            <p:nvPr/>
          </p:nvSpPr>
          <p:spPr>
            <a:xfrm>
              <a:off x="9734550" y="1974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2" name="node01.row.item-002.w0.heat-gap"/>
            <p:cNvSpPr/>
            <p:nvPr/>
          </p:nvSpPr>
          <p:spPr>
            <a:xfrm>
              <a:off x="33147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node01.row.item-002.w0.heat"/>
            <p:cNvSpPr/>
            <p:nvPr/>
          </p:nvSpPr>
          <p:spPr>
            <a:xfrm>
              <a:off x="33337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4" name="node01.row.item-002.w1.heat-gap"/>
            <p:cNvSpPr/>
            <p:nvPr/>
          </p:nvSpPr>
          <p:spPr>
            <a:xfrm>
              <a:off x="42291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node01.row.item-002.w1.heat"/>
            <p:cNvSpPr/>
            <p:nvPr/>
          </p:nvSpPr>
          <p:spPr>
            <a:xfrm>
              <a:off x="42481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6" name="node01.row.item-002.w2.heat-gap"/>
            <p:cNvSpPr/>
            <p:nvPr/>
          </p:nvSpPr>
          <p:spPr>
            <a:xfrm>
              <a:off x="51435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node01.row.item-002.w2.heat"/>
            <p:cNvSpPr/>
            <p:nvPr/>
          </p:nvSpPr>
          <p:spPr>
            <a:xfrm>
              <a:off x="51625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8" name="node01.row.item-002.w3.heat-gap"/>
            <p:cNvSpPr/>
            <p:nvPr/>
          </p:nvSpPr>
          <p:spPr>
            <a:xfrm>
              <a:off x="60579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node01.row.item-002.w3.heat"/>
            <p:cNvSpPr/>
            <p:nvPr/>
          </p:nvSpPr>
          <p:spPr>
            <a:xfrm>
              <a:off x="60769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0" name="node01.row.item-002.w4.heat-gap"/>
            <p:cNvSpPr/>
            <p:nvPr/>
          </p:nvSpPr>
          <p:spPr>
            <a:xfrm>
              <a:off x="69723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node01.row.item-002.w4.heat"/>
            <p:cNvSpPr/>
            <p:nvPr/>
          </p:nvSpPr>
          <p:spPr>
            <a:xfrm>
              <a:off x="69913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2" name="node01.row.item-002.w5.heat-gap"/>
            <p:cNvSpPr/>
            <p:nvPr/>
          </p:nvSpPr>
          <p:spPr>
            <a:xfrm>
              <a:off x="78867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node01.row.item-002.w5.heat"/>
            <p:cNvSpPr/>
            <p:nvPr/>
          </p:nvSpPr>
          <p:spPr>
            <a:xfrm>
              <a:off x="79057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4" name="node01.row.item-002.w6.heat-gap"/>
            <p:cNvSpPr/>
            <p:nvPr/>
          </p:nvSpPr>
          <p:spPr>
            <a:xfrm>
              <a:off x="88011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node01.row.item-002.w6.heat"/>
            <p:cNvSpPr/>
            <p:nvPr/>
          </p:nvSpPr>
          <p:spPr>
            <a:xfrm>
              <a:off x="88201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6" name="node01.row.item-002.w7.heat-gap"/>
            <p:cNvSpPr/>
            <p:nvPr/>
          </p:nvSpPr>
          <p:spPr>
            <a:xfrm>
              <a:off x="9715500" y="2260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node01.row.item-002.w7.heat"/>
            <p:cNvSpPr/>
            <p:nvPr/>
          </p:nvSpPr>
          <p:spPr>
            <a:xfrm>
              <a:off x="9734550" y="2279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8" name="node01.row.item-003.w0.heat-gap"/>
            <p:cNvSpPr/>
            <p:nvPr/>
          </p:nvSpPr>
          <p:spPr>
            <a:xfrm>
              <a:off x="33147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node01.row.item-003.w0.heat"/>
            <p:cNvSpPr/>
            <p:nvPr/>
          </p:nvSpPr>
          <p:spPr>
            <a:xfrm>
              <a:off x="33337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0" name="node01.row.item-003.w1.heat-gap"/>
            <p:cNvSpPr/>
            <p:nvPr/>
          </p:nvSpPr>
          <p:spPr>
            <a:xfrm>
              <a:off x="42291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node01.row.item-003.w1.heat"/>
            <p:cNvSpPr/>
            <p:nvPr/>
          </p:nvSpPr>
          <p:spPr>
            <a:xfrm>
              <a:off x="42481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2" name="node01.row.item-003.w2.heat-gap"/>
            <p:cNvSpPr/>
            <p:nvPr/>
          </p:nvSpPr>
          <p:spPr>
            <a:xfrm>
              <a:off x="51435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node01.row.item-003.w2.heat"/>
            <p:cNvSpPr/>
            <p:nvPr/>
          </p:nvSpPr>
          <p:spPr>
            <a:xfrm>
              <a:off x="51625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4" name="node01.row.item-003.w3.heat-gap"/>
            <p:cNvSpPr/>
            <p:nvPr/>
          </p:nvSpPr>
          <p:spPr>
            <a:xfrm>
              <a:off x="60579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node01.row.item-003.w3.heat"/>
            <p:cNvSpPr/>
            <p:nvPr/>
          </p:nvSpPr>
          <p:spPr>
            <a:xfrm>
              <a:off x="60769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6" name="node01.row.item-003.w4.heat-gap"/>
            <p:cNvSpPr/>
            <p:nvPr/>
          </p:nvSpPr>
          <p:spPr>
            <a:xfrm>
              <a:off x="69723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node01.row.item-003.w4.heat"/>
            <p:cNvSpPr/>
            <p:nvPr/>
          </p:nvSpPr>
          <p:spPr>
            <a:xfrm>
              <a:off x="69913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8" name="node01.row.item-003.w5.heat-gap"/>
            <p:cNvSpPr/>
            <p:nvPr/>
          </p:nvSpPr>
          <p:spPr>
            <a:xfrm>
              <a:off x="78867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node01.row.item-003.w5.heat"/>
            <p:cNvSpPr/>
            <p:nvPr/>
          </p:nvSpPr>
          <p:spPr>
            <a:xfrm>
              <a:off x="7905750" y="2584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0" name="node01.row.item-003.w6.heat-gap"/>
            <p:cNvSpPr/>
            <p:nvPr/>
          </p:nvSpPr>
          <p:spPr>
            <a:xfrm>
              <a:off x="88011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node01.row.item-003.w6.heat"/>
            <p:cNvSpPr/>
            <p:nvPr/>
          </p:nvSpPr>
          <p:spPr>
            <a:xfrm>
              <a:off x="8820150" y="25844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2" name="node01.row.item-003.w7.heat-gap"/>
            <p:cNvSpPr/>
            <p:nvPr/>
          </p:nvSpPr>
          <p:spPr>
            <a:xfrm>
              <a:off x="9715500" y="2565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node01.row.item-003.w7.heat"/>
            <p:cNvSpPr/>
            <p:nvPr/>
          </p:nvSpPr>
          <p:spPr>
            <a:xfrm>
              <a:off x="9734550" y="25844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4" name="node01.row.item-004.w0.heat-gap"/>
            <p:cNvSpPr/>
            <p:nvPr/>
          </p:nvSpPr>
          <p:spPr>
            <a:xfrm>
              <a:off x="33147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node01.row.item-004.w0.heat"/>
            <p:cNvSpPr/>
            <p:nvPr/>
          </p:nvSpPr>
          <p:spPr>
            <a:xfrm>
              <a:off x="33337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6" name="node01.row.item-004.w1.heat-gap"/>
            <p:cNvSpPr/>
            <p:nvPr/>
          </p:nvSpPr>
          <p:spPr>
            <a:xfrm>
              <a:off x="42291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node01.row.item-004.w1.heat"/>
            <p:cNvSpPr/>
            <p:nvPr/>
          </p:nvSpPr>
          <p:spPr>
            <a:xfrm>
              <a:off x="42481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8" name="node01.row.item-004.w2.heat-gap"/>
            <p:cNvSpPr/>
            <p:nvPr/>
          </p:nvSpPr>
          <p:spPr>
            <a:xfrm>
              <a:off x="51435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node01.row.item-004.w2.heat"/>
            <p:cNvSpPr/>
            <p:nvPr/>
          </p:nvSpPr>
          <p:spPr>
            <a:xfrm>
              <a:off x="51625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0" name="node01.row.item-004.w3.heat-gap"/>
            <p:cNvSpPr/>
            <p:nvPr/>
          </p:nvSpPr>
          <p:spPr>
            <a:xfrm>
              <a:off x="60579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node01.row.item-004.w3.heat"/>
            <p:cNvSpPr/>
            <p:nvPr/>
          </p:nvSpPr>
          <p:spPr>
            <a:xfrm>
              <a:off x="60769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2" name="node01.row.item-004.w4.heat-gap"/>
            <p:cNvSpPr/>
            <p:nvPr/>
          </p:nvSpPr>
          <p:spPr>
            <a:xfrm>
              <a:off x="69723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node01.row.item-004.w4.heat"/>
            <p:cNvSpPr/>
            <p:nvPr/>
          </p:nvSpPr>
          <p:spPr>
            <a:xfrm>
              <a:off x="69913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4" name="node01.row.item-004.w5.heat-gap"/>
            <p:cNvSpPr/>
            <p:nvPr/>
          </p:nvSpPr>
          <p:spPr>
            <a:xfrm>
              <a:off x="78867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node01.row.item-004.w5.heat"/>
            <p:cNvSpPr/>
            <p:nvPr/>
          </p:nvSpPr>
          <p:spPr>
            <a:xfrm>
              <a:off x="79057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6" name="node01.row.item-004.w6.heat-gap"/>
            <p:cNvSpPr/>
            <p:nvPr/>
          </p:nvSpPr>
          <p:spPr>
            <a:xfrm>
              <a:off x="88011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node01.row.item-004.w6.heat"/>
            <p:cNvSpPr/>
            <p:nvPr/>
          </p:nvSpPr>
          <p:spPr>
            <a:xfrm>
              <a:off x="88201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8" name="node01.row.item-004.w7.heat-gap"/>
            <p:cNvSpPr/>
            <p:nvPr/>
          </p:nvSpPr>
          <p:spPr>
            <a:xfrm>
              <a:off x="9715500" y="2870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node01.row.item-004.w7.heat"/>
            <p:cNvSpPr/>
            <p:nvPr/>
          </p:nvSpPr>
          <p:spPr>
            <a:xfrm>
              <a:off x="9734550" y="28892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0" name="node01.row.item-005.w0.heat-gap"/>
            <p:cNvSpPr/>
            <p:nvPr/>
          </p:nvSpPr>
          <p:spPr>
            <a:xfrm>
              <a:off x="33147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node01.row.item-005.w0.heat"/>
            <p:cNvSpPr/>
            <p:nvPr/>
          </p:nvSpPr>
          <p:spPr>
            <a:xfrm>
              <a:off x="33337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2" name="node01.row.item-005.w1.heat-gap"/>
            <p:cNvSpPr/>
            <p:nvPr/>
          </p:nvSpPr>
          <p:spPr>
            <a:xfrm>
              <a:off x="42291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node01.row.item-005.w1.heat"/>
            <p:cNvSpPr/>
            <p:nvPr/>
          </p:nvSpPr>
          <p:spPr>
            <a:xfrm>
              <a:off x="42481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4" name="node01.row.item-005.w2.heat-gap"/>
            <p:cNvSpPr/>
            <p:nvPr/>
          </p:nvSpPr>
          <p:spPr>
            <a:xfrm>
              <a:off x="51435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node01.row.item-005.w2.heat"/>
            <p:cNvSpPr/>
            <p:nvPr/>
          </p:nvSpPr>
          <p:spPr>
            <a:xfrm>
              <a:off x="51625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6" name="node01.row.item-005.w3.heat-gap"/>
            <p:cNvSpPr/>
            <p:nvPr/>
          </p:nvSpPr>
          <p:spPr>
            <a:xfrm>
              <a:off x="60579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node01.row.item-005.w3.heat"/>
            <p:cNvSpPr/>
            <p:nvPr/>
          </p:nvSpPr>
          <p:spPr>
            <a:xfrm>
              <a:off x="6076950" y="31940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8" name="node01.row.item-005.w4.heat-gap"/>
            <p:cNvSpPr/>
            <p:nvPr/>
          </p:nvSpPr>
          <p:spPr>
            <a:xfrm>
              <a:off x="69723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node01.row.item-005.w4.heat"/>
            <p:cNvSpPr/>
            <p:nvPr/>
          </p:nvSpPr>
          <p:spPr>
            <a:xfrm>
              <a:off x="69913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0" name="node01.row.item-005.w5.heat-gap"/>
            <p:cNvSpPr/>
            <p:nvPr/>
          </p:nvSpPr>
          <p:spPr>
            <a:xfrm>
              <a:off x="78867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node01.row.item-005.w5.heat"/>
            <p:cNvSpPr/>
            <p:nvPr/>
          </p:nvSpPr>
          <p:spPr>
            <a:xfrm>
              <a:off x="79057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2" name="node01.row.item-005.w6.heat-gap"/>
            <p:cNvSpPr/>
            <p:nvPr/>
          </p:nvSpPr>
          <p:spPr>
            <a:xfrm>
              <a:off x="88011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node01.row.item-005.w6.heat"/>
            <p:cNvSpPr/>
            <p:nvPr/>
          </p:nvSpPr>
          <p:spPr>
            <a:xfrm>
              <a:off x="88201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4" name="node01.row.item-005.w7.heat-gap"/>
            <p:cNvSpPr/>
            <p:nvPr/>
          </p:nvSpPr>
          <p:spPr>
            <a:xfrm>
              <a:off x="9715500" y="3175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node01.row.item-005.w7.heat"/>
            <p:cNvSpPr/>
            <p:nvPr/>
          </p:nvSpPr>
          <p:spPr>
            <a:xfrm>
              <a:off x="9734550" y="3194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6" name="node01.row.item-006.w0.heat-gap"/>
            <p:cNvSpPr/>
            <p:nvPr/>
          </p:nvSpPr>
          <p:spPr>
            <a:xfrm>
              <a:off x="33147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node01.row.item-006.w0.heat"/>
            <p:cNvSpPr/>
            <p:nvPr/>
          </p:nvSpPr>
          <p:spPr>
            <a:xfrm>
              <a:off x="3333750" y="3498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8" name="node01.row.item-006.w1.heat-gap"/>
            <p:cNvSpPr/>
            <p:nvPr/>
          </p:nvSpPr>
          <p:spPr>
            <a:xfrm>
              <a:off x="42291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node01.row.item-006.w1.heat"/>
            <p:cNvSpPr/>
            <p:nvPr/>
          </p:nvSpPr>
          <p:spPr>
            <a:xfrm>
              <a:off x="4248150" y="3498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0" name="node01.row.item-006.w2.heat-gap"/>
            <p:cNvSpPr/>
            <p:nvPr/>
          </p:nvSpPr>
          <p:spPr>
            <a:xfrm>
              <a:off x="51435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node01.row.item-006.w2.heat"/>
            <p:cNvSpPr/>
            <p:nvPr/>
          </p:nvSpPr>
          <p:spPr>
            <a:xfrm>
              <a:off x="5162550" y="34988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2" name="node01.row.item-006.w3.heat-gap"/>
            <p:cNvSpPr/>
            <p:nvPr/>
          </p:nvSpPr>
          <p:spPr>
            <a:xfrm>
              <a:off x="60579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node01.row.item-006.w3.heat"/>
            <p:cNvSpPr/>
            <p:nvPr/>
          </p:nvSpPr>
          <p:spPr>
            <a:xfrm>
              <a:off x="6076950" y="34988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4" name="node01.row.item-006.w4.heat-gap"/>
            <p:cNvSpPr/>
            <p:nvPr/>
          </p:nvSpPr>
          <p:spPr>
            <a:xfrm>
              <a:off x="69723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node01.row.item-006.w4.heat"/>
            <p:cNvSpPr/>
            <p:nvPr/>
          </p:nvSpPr>
          <p:spPr>
            <a:xfrm>
              <a:off x="6991350" y="34988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6" name="node01.row.item-006.w5.heat-gap"/>
            <p:cNvSpPr/>
            <p:nvPr/>
          </p:nvSpPr>
          <p:spPr>
            <a:xfrm>
              <a:off x="78867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node01.row.item-006.w5.heat"/>
            <p:cNvSpPr/>
            <p:nvPr/>
          </p:nvSpPr>
          <p:spPr>
            <a:xfrm>
              <a:off x="7905750" y="34988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8" name="node01.row.item-006.w6.heat-gap"/>
            <p:cNvSpPr/>
            <p:nvPr/>
          </p:nvSpPr>
          <p:spPr>
            <a:xfrm>
              <a:off x="88011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9" name="node01.row.item-006.w6.heat"/>
            <p:cNvSpPr/>
            <p:nvPr/>
          </p:nvSpPr>
          <p:spPr>
            <a:xfrm>
              <a:off x="8820150" y="3498850"/>
              <a:ext cx="8763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0" name="node01.row.item-006.w7.heat-gap"/>
            <p:cNvSpPr/>
            <p:nvPr/>
          </p:nvSpPr>
          <p:spPr>
            <a:xfrm>
              <a:off x="9715500" y="3479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node01.row.item-006.w7.heat"/>
            <p:cNvSpPr/>
            <p:nvPr/>
          </p:nvSpPr>
          <p:spPr>
            <a:xfrm>
              <a:off x="9734550" y="3498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2" name="node01.row.item-007.w0.heat-gap"/>
            <p:cNvSpPr/>
            <p:nvPr/>
          </p:nvSpPr>
          <p:spPr>
            <a:xfrm>
              <a:off x="33147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node01.row.item-007.w0.heat"/>
            <p:cNvSpPr/>
            <p:nvPr/>
          </p:nvSpPr>
          <p:spPr>
            <a:xfrm>
              <a:off x="3333750" y="38036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4" name="node01.row.item-007.w1.heat-gap"/>
            <p:cNvSpPr/>
            <p:nvPr/>
          </p:nvSpPr>
          <p:spPr>
            <a:xfrm>
              <a:off x="42291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node01.row.item-007.w1.heat"/>
            <p:cNvSpPr/>
            <p:nvPr/>
          </p:nvSpPr>
          <p:spPr>
            <a:xfrm>
              <a:off x="4248150" y="38036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6" name="node01.row.item-007.w2.heat-gap"/>
            <p:cNvSpPr/>
            <p:nvPr/>
          </p:nvSpPr>
          <p:spPr>
            <a:xfrm>
              <a:off x="51435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node01.row.item-007.w2.heat"/>
            <p:cNvSpPr/>
            <p:nvPr/>
          </p:nvSpPr>
          <p:spPr>
            <a:xfrm>
              <a:off x="51625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8" name="node01.row.item-007.w3.heat-gap"/>
            <p:cNvSpPr/>
            <p:nvPr/>
          </p:nvSpPr>
          <p:spPr>
            <a:xfrm>
              <a:off x="60579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" name="node01.row.item-007.w3.heat"/>
            <p:cNvSpPr/>
            <p:nvPr/>
          </p:nvSpPr>
          <p:spPr>
            <a:xfrm>
              <a:off x="60769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0" name="node01.row.item-007.w4.heat-gap"/>
            <p:cNvSpPr/>
            <p:nvPr/>
          </p:nvSpPr>
          <p:spPr>
            <a:xfrm>
              <a:off x="69723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1" name="node01.row.item-007.w4.heat"/>
            <p:cNvSpPr/>
            <p:nvPr/>
          </p:nvSpPr>
          <p:spPr>
            <a:xfrm>
              <a:off x="69913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2" name="node01.row.item-007.w5.heat-gap"/>
            <p:cNvSpPr/>
            <p:nvPr/>
          </p:nvSpPr>
          <p:spPr>
            <a:xfrm>
              <a:off x="78867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" name="node01.row.item-007.w5.heat"/>
            <p:cNvSpPr/>
            <p:nvPr/>
          </p:nvSpPr>
          <p:spPr>
            <a:xfrm>
              <a:off x="79057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4" name="node01.row.item-007.w6.heat-gap"/>
            <p:cNvSpPr/>
            <p:nvPr/>
          </p:nvSpPr>
          <p:spPr>
            <a:xfrm>
              <a:off x="88011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" name="node01.row.item-007.w6.heat"/>
            <p:cNvSpPr/>
            <p:nvPr/>
          </p:nvSpPr>
          <p:spPr>
            <a:xfrm>
              <a:off x="88201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6" name="node01.row.item-007.w7.heat-gap"/>
            <p:cNvSpPr/>
            <p:nvPr/>
          </p:nvSpPr>
          <p:spPr>
            <a:xfrm>
              <a:off x="9715500" y="37846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node01.row.item-007.w7.heat"/>
            <p:cNvSpPr/>
            <p:nvPr/>
          </p:nvSpPr>
          <p:spPr>
            <a:xfrm>
              <a:off x="9734550" y="38036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8" name="node01.row.item-008.w0.heat-gap"/>
            <p:cNvSpPr/>
            <p:nvPr/>
          </p:nvSpPr>
          <p:spPr>
            <a:xfrm>
              <a:off x="33147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" name="node01.row.item-008.w0.heat"/>
            <p:cNvSpPr/>
            <p:nvPr/>
          </p:nvSpPr>
          <p:spPr>
            <a:xfrm>
              <a:off x="33337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0" name="node01.row.item-008.w1.heat-gap"/>
            <p:cNvSpPr/>
            <p:nvPr/>
          </p:nvSpPr>
          <p:spPr>
            <a:xfrm>
              <a:off x="42291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" name="node01.row.item-008.w1.heat"/>
            <p:cNvSpPr/>
            <p:nvPr/>
          </p:nvSpPr>
          <p:spPr>
            <a:xfrm>
              <a:off x="42481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2" name="node01.row.item-008.w2.heat-gap"/>
            <p:cNvSpPr/>
            <p:nvPr/>
          </p:nvSpPr>
          <p:spPr>
            <a:xfrm>
              <a:off x="51435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" name="node01.row.item-008.w2.heat"/>
            <p:cNvSpPr/>
            <p:nvPr/>
          </p:nvSpPr>
          <p:spPr>
            <a:xfrm>
              <a:off x="51625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4" name="node01.row.item-008.w3.heat-gap"/>
            <p:cNvSpPr/>
            <p:nvPr/>
          </p:nvSpPr>
          <p:spPr>
            <a:xfrm>
              <a:off x="60579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" name="node01.row.item-008.w3.heat"/>
            <p:cNvSpPr/>
            <p:nvPr/>
          </p:nvSpPr>
          <p:spPr>
            <a:xfrm>
              <a:off x="60769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6" name="node01.row.item-008.w4.heat-gap"/>
            <p:cNvSpPr/>
            <p:nvPr/>
          </p:nvSpPr>
          <p:spPr>
            <a:xfrm>
              <a:off x="69723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" name="node01.row.item-008.w4.heat"/>
            <p:cNvSpPr/>
            <p:nvPr/>
          </p:nvSpPr>
          <p:spPr>
            <a:xfrm>
              <a:off x="69913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8" name="node01.row.item-008.w5.heat-gap"/>
            <p:cNvSpPr/>
            <p:nvPr/>
          </p:nvSpPr>
          <p:spPr>
            <a:xfrm>
              <a:off x="78867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" name="node01.row.item-008.w5.heat"/>
            <p:cNvSpPr/>
            <p:nvPr/>
          </p:nvSpPr>
          <p:spPr>
            <a:xfrm>
              <a:off x="79057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0" name="node01.row.item-008.w6.heat-gap"/>
            <p:cNvSpPr/>
            <p:nvPr/>
          </p:nvSpPr>
          <p:spPr>
            <a:xfrm>
              <a:off x="88011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1" name="node01.row.item-008.w6.heat"/>
            <p:cNvSpPr/>
            <p:nvPr/>
          </p:nvSpPr>
          <p:spPr>
            <a:xfrm>
              <a:off x="88201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2" name="node01.row.item-008.w7.heat-gap"/>
            <p:cNvSpPr/>
            <p:nvPr/>
          </p:nvSpPr>
          <p:spPr>
            <a:xfrm>
              <a:off x="9715500" y="40894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3" name="node01.row.item-008.w7.heat"/>
            <p:cNvSpPr/>
            <p:nvPr/>
          </p:nvSpPr>
          <p:spPr>
            <a:xfrm>
              <a:off x="9734550" y="41084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4" name="node01.row.item-009.w0.heat-gap"/>
            <p:cNvSpPr/>
            <p:nvPr/>
          </p:nvSpPr>
          <p:spPr>
            <a:xfrm>
              <a:off x="33147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5" name="node01.row.item-009.w0.heat"/>
            <p:cNvSpPr/>
            <p:nvPr/>
          </p:nvSpPr>
          <p:spPr>
            <a:xfrm>
              <a:off x="33337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6" name="node01.row.item-009.w1.heat-gap"/>
            <p:cNvSpPr/>
            <p:nvPr/>
          </p:nvSpPr>
          <p:spPr>
            <a:xfrm>
              <a:off x="42291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7" name="node01.row.item-009.w1.heat"/>
            <p:cNvSpPr/>
            <p:nvPr/>
          </p:nvSpPr>
          <p:spPr>
            <a:xfrm>
              <a:off x="42481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8" name="node01.row.item-009.w2.heat-gap"/>
            <p:cNvSpPr/>
            <p:nvPr/>
          </p:nvSpPr>
          <p:spPr>
            <a:xfrm>
              <a:off x="51435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9" name="node01.row.item-009.w2.heat"/>
            <p:cNvSpPr/>
            <p:nvPr/>
          </p:nvSpPr>
          <p:spPr>
            <a:xfrm>
              <a:off x="51625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0" name="node01.row.item-009.w3.heat-gap"/>
            <p:cNvSpPr/>
            <p:nvPr/>
          </p:nvSpPr>
          <p:spPr>
            <a:xfrm>
              <a:off x="60579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1" name="node01.row.item-009.w3.heat"/>
            <p:cNvSpPr/>
            <p:nvPr/>
          </p:nvSpPr>
          <p:spPr>
            <a:xfrm>
              <a:off x="60769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2" name="node01.row.item-009.w4.heat-gap"/>
            <p:cNvSpPr/>
            <p:nvPr/>
          </p:nvSpPr>
          <p:spPr>
            <a:xfrm>
              <a:off x="69723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3" name="node01.row.item-009.w4.heat"/>
            <p:cNvSpPr/>
            <p:nvPr/>
          </p:nvSpPr>
          <p:spPr>
            <a:xfrm>
              <a:off x="69913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4" name="node01.row.item-009.w5.heat-gap"/>
            <p:cNvSpPr/>
            <p:nvPr/>
          </p:nvSpPr>
          <p:spPr>
            <a:xfrm>
              <a:off x="78867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5" name="node01.row.item-009.w5.heat"/>
            <p:cNvSpPr/>
            <p:nvPr/>
          </p:nvSpPr>
          <p:spPr>
            <a:xfrm>
              <a:off x="79057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6" name="node01.row.item-009.w6.heat-gap"/>
            <p:cNvSpPr/>
            <p:nvPr/>
          </p:nvSpPr>
          <p:spPr>
            <a:xfrm>
              <a:off x="88011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7" name="node01.row.item-009.w6.heat"/>
            <p:cNvSpPr/>
            <p:nvPr/>
          </p:nvSpPr>
          <p:spPr>
            <a:xfrm>
              <a:off x="88201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8" name="node01.row.item-009.w7.heat-gap"/>
            <p:cNvSpPr/>
            <p:nvPr/>
          </p:nvSpPr>
          <p:spPr>
            <a:xfrm>
              <a:off x="9715500" y="43942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9" name="node01.row.item-009.w7.heat"/>
            <p:cNvSpPr/>
            <p:nvPr/>
          </p:nvSpPr>
          <p:spPr>
            <a:xfrm>
              <a:off x="9734550" y="44132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50" name="node01.row.item-010.w0.heat-gap"/>
            <p:cNvSpPr/>
            <p:nvPr/>
          </p:nvSpPr>
          <p:spPr>
            <a:xfrm>
              <a:off x="33147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1" name="node01.row.item-010.w0.heat"/>
            <p:cNvSpPr/>
            <p:nvPr/>
          </p:nvSpPr>
          <p:spPr>
            <a:xfrm>
              <a:off x="33337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2" name="node01.row.item-010.w1.heat-gap"/>
            <p:cNvSpPr/>
            <p:nvPr/>
          </p:nvSpPr>
          <p:spPr>
            <a:xfrm>
              <a:off x="42291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3" name="node01.row.item-010.w1.heat"/>
            <p:cNvSpPr/>
            <p:nvPr/>
          </p:nvSpPr>
          <p:spPr>
            <a:xfrm>
              <a:off x="42481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4" name="node01.row.item-010.w2.heat-gap"/>
            <p:cNvSpPr/>
            <p:nvPr/>
          </p:nvSpPr>
          <p:spPr>
            <a:xfrm>
              <a:off x="51435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5" name="node01.row.item-010.w2.heat"/>
            <p:cNvSpPr/>
            <p:nvPr/>
          </p:nvSpPr>
          <p:spPr>
            <a:xfrm>
              <a:off x="51625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6" name="node01.row.item-010.w3.heat-gap"/>
            <p:cNvSpPr/>
            <p:nvPr/>
          </p:nvSpPr>
          <p:spPr>
            <a:xfrm>
              <a:off x="60579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7" name="node01.row.item-010.w3.heat"/>
            <p:cNvSpPr/>
            <p:nvPr/>
          </p:nvSpPr>
          <p:spPr>
            <a:xfrm>
              <a:off x="60769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8" name="node01.row.item-010.w4.heat-gap"/>
            <p:cNvSpPr/>
            <p:nvPr/>
          </p:nvSpPr>
          <p:spPr>
            <a:xfrm>
              <a:off x="69723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9" name="node01.row.item-010.w4.heat"/>
            <p:cNvSpPr/>
            <p:nvPr/>
          </p:nvSpPr>
          <p:spPr>
            <a:xfrm>
              <a:off x="69913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0" name="node01.row.item-010.w5.heat-gap"/>
            <p:cNvSpPr/>
            <p:nvPr/>
          </p:nvSpPr>
          <p:spPr>
            <a:xfrm>
              <a:off x="78867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1" name="node01.row.item-010.w5.heat"/>
            <p:cNvSpPr/>
            <p:nvPr/>
          </p:nvSpPr>
          <p:spPr>
            <a:xfrm>
              <a:off x="79057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2" name="node01.row.item-010.w6.heat-gap"/>
            <p:cNvSpPr/>
            <p:nvPr/>
          </p:nvSpPr>
          <p:spPr>
            <a:xfrm>
              <a:off x="88011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3" name="node01.row.item-010.w6.heat"/>
            <p:cNvSpPr/>
            <p:nvPr/>
          </p:nvSpPr>
          <p:spPr>
            <a:xfrm>
              <a:off x="88201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4" name="node01.row.item-010.w7.heat-gap"/>
            <p:cNvSpPr/>
            <p:nvPr/>
          </p:nvSpPr>
          <p:spPr>
            <a:xfrm>
              <a:off x="9715500" y="46990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5" name="node01.row.item-010.w7.heat"/>
            <p:cNvSpPr/>
            <p:nvPr/>
          </p:nvSpPr>
          <p:spPr>
            <a:xfrm>
              <a:off x="9734550" y="47180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6" name="node01.row.item-011.w0.heat-gap"/>
            <p:cNvSpPr/>
            <p:nvPr/>
          </p:nvSpPr>
          <p:spPr>
            <a:xfrm>
              <a:off x="33147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7" name="node01.row.item-011.w0.heat"/>
            <p:cNvSpPr/>
            <p:nvPr/>
          </p:nvSpPr>
          <p:spPr>
            <a:xfrm>
              <a:off x="33337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68" name="node01.row.item-011.w1.heat-gap"/>
            <p:cNvSpPr/>
            <p:nvPr/>
          </p:nvSpPr>
          <p:spPr>
            <a:xfrm>
              <a:off x="42291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9" name="node01.row.item-011.w1.heat"/>
            <p:cNvSpPr/>
            <p:nvPr/>
          </p:nvSpPr>
          <p:spPr>
            <a:xfrm>
              <a:off x="42481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70" name="node01.row.item-011.w2.heat-gap"/>
            <p:cNvSpPr/>
            <p:nvPr/>
          </p:nvSpPr>
          <p:spPr>
            <a:xfrm>
              <a:off x="51435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1" name="node01.row.item-011.w2.heat"/>
            <p:cNvSpPr/>
            <p:nvPr/>
          </p:nvSpPr>
          <p:spPr>
            <a:xfrm>
              <a:off x="51625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2" name="node01.row.item-011.w3.heat-gap"/>
            <p:cNvSpPr/>
            <p:nvPr/>
          </p:nvSpPr>
          <p:spPr>
            <a:xfrm>
              <a:off x="60579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3" name="node01.row.item-011.w3.heat"/>
            <p:cNvSpPr/>
            <p:nvPr/>
          </p:nvSpPr>
          <p:spPr>
            <a:xfrm>
              <a:off x="60769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4" name="node01.row.item-011.w4.heat-gap"/>
            <p:cNvSpPr/>
            <p:nvPr/>
          </p:nvSpPr>
          <p:spPr>
            <a:xfrm>
              <a:off x="69723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5" name="node01.row.item-011.w4.heat"/>
            <p:cNvSpPr/>
            <p:nvPr/>
          </p:nvSpPr>
          <p:spPr>
            <a:xfrm>
              <a:off x="69913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6" name="node01.row.item-011.w5.heat-gap"/>
            <p:cNvSpPr/>
            <p:nvPr/>
          </p:nvSpPr>
          <p:spPr>
            <a:xfrm>
              <a:off x="78867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7" name="node01.row.item-011.w5.heat"/>
            <p:cNvSpPr/>
            <p:nvPr/>
          </p:nvSpPr>
          <p:spPr>
            <a:xfrm>
              <a:off x="7905750" y="5022850"/>
              <a:ext cx="8763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8" name="node01.row.item-011.w6.heat-gap"/>
            <p:cNvSpPr/>
            <p:nvPr/>
          </p:nvSpPr>
          <p:spPr>
            <a:xfrm>
              <a:off x="88011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9" name="node01.row.item-011.w6.heat"/>
            <p:cNvSpPr/>
            <p:nvPr/>
          </p:nvSpPr>
          <p:spPr>
            <a:xfrm>
              <a:off x="88201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0" name="node01.row.item-011.w7.heat-gap"/>
            <p:cNvSpPr/>
            <p:nvPr/>
          </p:nvSpPr>
          <p:spPr>
            <a:xfrm>
              <a:off x="9715500" y="5003800"/>
              <a:ext cx="9144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1" name="node01.row.item-011.w7.heat"/>
            <p:cNvSpPr/>
            <p:nvPr/>
          </p:nvSpPr>
          <p:spPr>
            <a:xfrm>
              <a:off x="9734550" y="5022850"/>
              <a:ext cx="8763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2" name="node01.row.item-012.w0.heat-gap"/>
            <p:cNvSpPr/>
            <p:nvPr/>
          </p:nvSpPr>
          <p:spPr>
            <a:xfrm>
              <a:off x="33147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3" name="node01.row.item-012.w0.heat"/>
            <p:cNvSpPr/>
            <p:nvPr/>
          </p:nvSpPr>
          <p:spPr>
            <a:xfrm>
              <a:off x="33337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4" name="node01.row.item-012.w1.heat-gap"/>
            <p:cNvSpPr/>
            <p:nvPr/>
          </p:nvSpPr>
          <p:spPr>
            <a:xfrm>
              <a:off x="42291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5" name="node01.row.item-012.w1.heat"/>
            <p:cNvSpPr/>
            <p:nvPr/>
          </p:nvSpPr>
          <p:spPr>
            <a:xfrm>
              <a:off x="42481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6" name="node01.row.item-012.w2.heat-gap"/>
            <p:cNvSpPr/>
            <p:nvPr/>
          </p:nvSpPr>
          <p:spPr>
            <a:xfrm>
              <a:off x="51435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7" name="node01.row.item-012.w2.heat"/>
            <p:cNvSpPr/>
            <p:nvPr/>
          </p:nvSpPr>
          <p:spPr>
            <a:xfrm>
              <a:off x="51625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8" name="node01.row.item-012.w3.heat-gap"/>
            <p:cNvSpPr/>
            <p:nvPr/>
          </p:nvSpPr>
          <p:spPr>
            <a:xfrm>
              <a:off x="60579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9" name="node01.row.item-012.w3.heat"/>
            <p:cNvSpPr/>
            <p:nvPr/>
          </p:nvSpPr>
          <p:spPr>
            <a:xfrm>
              <a:off x="60769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0" name="node01.row.item-012.w4.heat-gap"/>
            <p:cNvSpPr/>
            <p:nvPr/>
          </p:nvSpPr>
          <p:spPr>
            <a:xfrm>
              <a:off x="69723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1" name="node01.row.item-012.w4.heat"/>
            <p:cNvSpPr/>
            <p:nvPr/>
          </p:nvSpPr>
          <p:spPr>
            <a:xfrm>
              <a:off x="69913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2" name="node01.row.item-012.w5.heat-gap"/>
            <p:cNvSpPr/>
            <p:nvPr/>
          </p:nvSpPr>
          <p:spPr>
            <a:xfrm>
              <a:off x="78867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3" name="node01.row.item-012.w5.heat"/>
            <p:cNvSpPr/>
            <p:nvPr/>
          </p:nvSpPr>
          <p:spPr>
            <a:xfrm>
              <a:off x="79057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4" name="node01.row.item-012.w6.heat-gap"/>
            <p:cNvSpPr/>
            <p:nvPr/>
          </p:nvSpPr>
          <p:spPr>
            <a:xfrm>
              <a:off x="88011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5" name="node01.row.item-012.w6.heat"/>
            <p:cNvSpPr/>
            <p:nvPr/>
          </p:nvSpPr>
          <p:spPr>
            <a:xfrm>
              <a:off x="88201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6" name="node01.row.item-012.w7.heat-gap"/>
            <p:cNvSpPr/>
            <p:nvPr/>
          </p:nvSpPr>
          <p:spPr>
            <a:xfrm>
              <a:off x="9715500" y="5308600"/>
              <a:ext cx="9144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97" name="node01.row.item-012.w7.heat"/>
            <p:cNvSpPr/>
            <p:nvPr/>
          </p:nvSpPr>
          <p:spPr>
            <a:xfrm>
              <a:off x="9734550" y="5327650"/>
              <a:ext cx="8763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198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914400"/>
                  <a:gridCol w="914400"/>
                  <a:gridCol w="914400"/>
                  <a:gridCol w="914400"/>
                  <a:gridCol w="914400"/>
                  <a:gridCol w="914400"/>
                  <a:gridCol w="914400"/>
                  <a:gridCol w="914400"/>
                  <a:gridCol w="838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W1–2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W3–4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W5–6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W7–8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W9–10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W11–12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W13–14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W15–16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AVG FTE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0.94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0.69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 (2)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 (3)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0.62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0.75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Executive sponsor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owner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IT integration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0.38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Total FTE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9.6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8.1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8.47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99" name="node01.row-group.source-001.fill"/>
            <p:cNvSpPr/>
            <p:nvPr/>
          </p:nvSpPr>
          <p:spPr>
            <a:xfrm>
              <a:off x="723900" y="1974850"/>
              <a:ext cx="304800" cy="876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0" name="node01.row-group.source-001.label"/>
            <p:cNvSpPr/>
            <p:nvPr/>
          </p:nvSpPr>
          <p:spPr>
            <a:xfrm rot="-5400000">
              <a:off x="438150" y="23431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1" name="node01.row-group.source-002.fill"/>
            <p:cNvSpPr/>
            <p:nvPr/>
          </p:nvSpPr>
          <p:spPr>
            <a:xfrm>
              <a:off x="723900" y="2889250"/>
              <a:ext cx="304800" cy="1485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02" name="node01.row-group.source-002.label"/>
            <p:cNvSpPr/>
            <p:nvPr/>
          </p:nvSpPr>
          <p:spPr>
            <a:xfrm rot="-5400000">
              <a:off x="133350" y="3562350"/>
              <a:ext cx="1485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3" name="node01.row-group.source-003.fill"/>
            <p:cNvSpPr/>
            <p:nvPr/>
          </p:nvSpPr>
          <p:spPr>
            <a:xfrm>
              <a:off x="723900" y="4413250"/>
              <a:ext cx="304800" cy="8763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04" name="node01.row-group.source-003.label"/>
            <p:cNvSpPr/>
            <p:nvPr/>
          </p:nvSpPr>
          <p:spPr>
            <a:xfrm rot="-5400000">
              <a:off x="438150" y="47815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CLIENT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207" name="node02"/>
          <p:cNvGrpSpPr/>
          <p:nvPr/>
        </p:nvGrpSpPr>
        <p:grpSpPr>
          <a:xfrm>
            <a:off x="723900" y="5638800"/>
            <a:ext cx="10744200" cy="215900"/>
            <a:chOff x="723900" y="5638800"/>
            <a:chExt cx="10744200" cy="215900"/>
          </a:xfrm>
        </p:grpSpPr>
        <p:sp>
          <p:nvSpPr>
            <p:cNvPr id="205" name="node02.text"/>
            <p:cNvSpPr/>
            <p:nvPr/>
          </p:nvSpPr>
          <p:spPr>
            <a:xfrm>
              <a:off x="723900" y="5638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Peak fortnight is weeks 7–8 at 10.6 FTE; client counterparts hold near 1 FTE throughout.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RESOURCE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pic>
        <p:nvPicPr>
          <p:cNvPr id="4" name="title.mark-002-001" descr="highlight-1; canonical SHA256=b0048aa39744978d339a9910f5cc1482814a8a0eae4c5a63e1f80d6a2885b3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882" y="733532"/>
            <a:ext cx="3714333" cy="374904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Staffing peaks at </a:t>
            </a:r>
            <a:r>
              <a:rPr lang="en-US" sz="3200" spc="-59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 </a:t>
            </a: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10.6 FTE in month 2</a:t>
            </a:r>
            <a:r>
              <a:rPr lang="en-US" sz="3200" spc="-59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 xml:space="preserve"> 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1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sp>
          <p:nvSpPr>
            <p:cNvPr id="7" name="node01.row.item-001.m0.heat-gap"/>
            <p:cNvSpPr/>
            <p:nvPr/>
          </p:nvSpPr>
          <p:spPr>
            <a:xfrm>
              <a:off x="4152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m0.heat"/>
            <p:cNvSpPr/>
            <p:nvPr/>
          </p:nvSpPr>
          <p:spPr>
            <a:xfrm>
              <a:off x="4171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" name="node01.row.item-001.m1.heat-gap"/>
            <p:cNvSpPr/>
            <p:nvPr/>
          </p:nvSpPr>
          <p:spPr>
            <a:xfrm>
              <a:off x="5676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m1.heat"/>
            <p:cNvSpPr/>
            <p:nvPr/>
          </p:nvSpPr>
          <p:spPr>
            <a:xfrm>
              <a:off x="5695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m2.heat-gap"/>
            <p:cNvSpPr/>
            <p:nvPr/>
          </p:nvSpPr>
          <p:spPr>
            <a:xfrm>
              <a:off x="7200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m2.heat"/>
            <p:cNvSpPr/>
            <p:nvPr/>
          </p:nvSpPr>
          <p:spPr>
            <a:xfrm>
              <a:off x="7219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m3.heat-gap"/>
            <p:cNvSpPr/>
            <p:nvPr/>
          </p:nvSpPr>
          <p:spPr>
            <a:xfrm>
              <a:off x="8724900" y="1955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m3.heat"/>
            <p:cNvSpPr/>
            <p:nvPr/>
          </p:nvSpPr>
          <p:spPr>
            <a:xfrm>
              <a:off x="8743950" y="1974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2.m0.heat-gap"/>
            <p:cNvSpPr/>
            <p:nvPr/>
          </p:nvSpPr>
          <p:spPr>
            <a:xfrm>
              <a:off x="4152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2.m0.heat"/>
            <p:cNvSpPr/>
            <p:nvPr/>
          </p:nvSpPr>
          <p:spPr>
            <a:xfrm>
              <a:off x="4171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m1.heat-gap"/>
            <p:cNvSpPr/>
            <p:nvPr/>
          </p:nvSpPr>
          <p:spPr>
            <a:xfrm>
              <a:off x="5676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m1.heat"/>
            <p:cNvSpPr/>
            <p:nvPr/>
          </p:nvSpPr>
          <p:spPr>
            <a:xfrm>
              <a:off x="5695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m2.heat-gap"/>
            <p:cNvSpPr/>
            <p:nvPr/>
          </p:nvSpPr>
          <p:spPr>
            <a:xfrm>
              <a:off x="7200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m2.heat"/>
            <p:cNvSpPr/>
            <p:nvPr/>
          </p:nvSpPr>
          <p:spPr>
            <a:xfrm>
              <a:off x="7219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01.row.item-002.m3.heat-gap"/>
            <p:cNvSpPr/>
            <p:nvPr/>
          </p:nvSpPr>
          <p:spPr>
            <a:xfrm>
              <a:off x="8724900" y="2260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m3.heat"/>
            <p:cNvSpPr/>
            <p:nvPr/>
          </p:nvSpPr>
          <p:spPr>
            <a:xfrm>
              <a:off x="8743950" y="2279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3.m0.heat-gap"/>
            <p:cNvSpPr/>
            <p:nvPr/>
          </p:nvSpPr>
          <p:spPr>
            <a:xfrm>
              <a:off x="4152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3.m0.heat"/>
            <p:cNvSpPr/>
            <p:nvPr/>
          </p:nvSpPr>
          <p:spPr>
            <a:xfrm>
              <a:off x="4171950" y="2584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3.m1.heat-gap"/>
            <p:cNvSpPr/>
            <p:nvPr/>
          </p:nvSpPr>
          <p:spPr>
            <a:xfrm>
              <a:off x="5676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3.m1.heat"/>
            <p:cNvSpPr/>
            <p:nvPr/>
          </p:nvSpPr>
          <p:spPr>
            <a:xfrm>
              <a:off x="5695950" y="2584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7" name="node01.row.item-003.m2.heat-gap"/>
            <p:cNvSpPr/>
            <p:nvPr/>
          </p:nvSpPr>
          <p:spPr>
            <a:xfrm>
              <a:off x="7200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m2.heat"/>
            <p:cNvSpPr/>
            <p:nvPr/>
          </p:nvSpPr>
          <p:spPr>
            <a:xfrm>
              <a:off x="7219950" y="2584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m3.heat-gap"/>
            <p:cNvSpPr/>
            <p:nvPr/>
          </p:nvSpPr>
          <p:spPr>
            <a:xfrm>
              <a:off x="8724900" y="2565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m3.heat"/>
            <p:cNvSpPr/>
            <p:nvPr/>
          </p:nvSpPr>
          <p:spPr>
            <a:xfrm>
              <a:off x="8743950" y="25844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4.m0.heat-gap"/>
            <p:cNvSpPr/>
            <p:nvPr/>
          </p:nvSpPr>
          <p:spPr>
            <a:xfrm>
              <a:off x="4152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4.m0.heat"/>
            <p:cNvSpPr/>
            <p:nvPr/>
          </p:nvSpPr>
          <p:spPr>
            <a:xfrm>
              <a:off x="4171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4.m1.heat-gap"/>
            <p:cNvSpPr/>
            <p:nvPr/>
          </p:nvSpPr>
          <p:spPr>
            <a:xfrm>
              <a:off x="5676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4.m1.heat"/>
            <p:cNvSpPr/>
            <p:nvPr/>
          </p:nvSpPr>
          <p:spPr>
            <a:xfrm>
              <a:off x="5695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4.m2.heat-gap"/>
            <p:cNvSpPr/>
            <p:nvPr/>
          </p:nvSpPr>
          <p:spPr>
            <a:xfrm>
              <a:off x="7200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4.m2.heat"/>
            <p:cNvSpPr/>
            <p:nvPr/>
          </p:nvSpPr>
          <p:spPr>
            <a:xfrm>
              <a:off x="7219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m3.heat-gap"/>
            <p:cNvSpPr/>
            <p:nvPr/>
          </p:nvSpPr>
          <p:spPr>
            <a:xfrm>
              <a:off x="8724900" y="2870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m3.heat"/>
            <p:cNvSpPr/>
            <p:nvPr/>
          </p:nvSpPr>
          <p:spPr>
            <a:xfrm>
              <a:off x="8743950" y="28892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5.m0.heat-gap"/>
            <p:cNvSpPr/>
            <p:nvPr/>
          </p:nvSpPr>
          <p:spPr>
            <a:xfrm>
              <a:off x="4152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5.m0.heat"/>
            <p:cNvSpPr/>
            <p:nvPr/>
          </p:nvSpPr>
          <p:spPr>
            <a:xfrm>
              <a:off x="4171950" y="3194050"/>
              <a:ext cx="14859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1.row.item-005.m1.heat-gap"/>
            <p:cNvSpPr/>
            <p:nvPr/>
          </p:nvSpPr>
          <p:spPr>
            <a:xfrm>
              <a:off x="5676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5.m1.heat"/>
            <p:cNvSpPr/>
            <p:nvPr/>
          </p:nvSpPr>
          <p:spPr>
            <a:xfrm>
              <a:off x="5695950" y="3194050"/>
              <a:ext cx="1485900" cy="266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3" name="node01.row.item-005.m2.heat-gap"/>
            <p:cNvSpPr/>
            <p:nvPr/>
          </p:nvSpPr>
          <p:spPr>
            <a:xfrm>
              <a:off x="7200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5.m2.heat"/>
            <p:cNvSpPr/>
            <p:nvPr/>
          </p:nvSpPr>
          <p:spPr>
            <a:xfrm>
              <a:off x="7219950" y="3194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5.m3.heat-gap"/>
            <p:cNvSpPr/>
            <p:nvPr/>
          </p:nvSpPr>
          <p:spPr>
            <a:xfrm>
              <a:off x="8724900" y="3175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5.m3.heat"/>
            <p:cNvSpPr/>
            <p:nvPr/>
          </p:nvSpPr>
          <p:spPr>
            <a:xfrm>
              <a:off x="8743950" y="3194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7" name="node01.row.item-006.m0.heat-gap"/>
            <p:cNvSpPr/>
            <p:nvPr/>
          </p:nvSpPr>
          <p:spPr>
            <a:xfrm>
              <a:off x="4152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6.m0.heat"/>
            <p:cNvSpPr/>
            <p:nvPr/>
          </p:nvSpPr>
          <p:spPr>
            <a:xfrm>
              <a:off x="4171950" y="34988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1.row.item-006.m1.heat-gap"/>
            <p:cNvSpPr/>
            <p:nvPr/>
          </p:nvSpPr>
          <p:spPr>
            <a:xfrm>
              <a:off x="5676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6.m1.heat"/>
            <p:cNvSpPr/>
            <p:nvPr/>
          </p:nvSpPr>
          <p:spPr>
            <a:xfrm>
              <a:off x="5695950" y="34988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.item-006.m2.heat-gap"/>
            <p:cNvSpPr/>
            <p:nvPr/>
          </p:nvSpPr>
          <p:spPr>
            <a:xfrm>
              <a:off x="7200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6.m2.heat"/>
            <p:cNvSpPr/>
            <p:nvPr/>
          </p:nvSpPr>
          <p:spPr>
            <a:xfrm>
              <a:off x="7219950" y="34988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3" name="node01.row.item-006.m3.heat-gap"/>
            <p:cNvSpPr/>
            <p:nvPr/>
          </p:nvSpPr>
          <p:spPr>
            <a:xfrm>
              <a:off x="8724900" y="3479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6.m3.heat"/>
            <p:cNvSpPr/>
            <p:nvPr/>
          </p:nvSpPr>
          <p:spPr>
            <a:xfrm>
              <a:off x="8743950" y="3498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7.m0.heat-gap"/>
            <p:cNvSpPr/>
            <p:nvPr/>
          </p:nvSpPr>
          <p:spPr>
            <a:xfrm>
              <a:off x="4152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7.m0.heat"/>
            <p:cNvSpPr/>
            <p:nvPr/>
          </p:nvSpPr>
          <p:spPr>
            <a:xfrm>
              <a:off x="4171950" y="38036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7" name="node01.row.item-007.m1.heat-gap"/>
            <p:cNvSpPr/>
            <p:nvPr/>
          </p:nvSpPr>
          <p:spPr>
            <a:xfrm>
              <a:off x="5676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7.m1.heat"/>
            <p:cNvSpPr/>
            <p:nvPr/>
          </p:nvSpPr>
          <p:spPr>
            <a:xfrm>
              <a:off x="5695950" y="3803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7.m2.heat-gap"/>
            <p:cNvSpPr/>
            <p:nvPr/>
          </p:nvSpPr>
          <p:spPr>
            <a:xfrm>
              <a:off x="7200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7.m2.heat"/>
            <p:cNvSpPr/>
            <p:nvPr/>
          </p:nvSpPr>
          <p:spPr>
            <a:xfrm>
              <a:off x="7219950" y="3803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7.m3.heat-gap"/>
            <p:cNvSpPr/>
            <p:nvPr/>
          </p:nvSpPr>
          <p:spPr>
            <a:xfrm>
              <a:off x="8724900" y="37846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7.m3.heat"/>
            <p:cNvSpPr/>
            <p:nvPr/>
          </p:nvSpPr>
          <p:spPr>
            <a:xfrm>
              <a:off x="8743950" y="38036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8.m0.heat-gap"/>
            <p:cNvSpPr/>
            <p:nvPr/>
          </p:nvSpPr>
          <p:spPr>
            <a:xfrm>
              <a:off x="4152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8.m0.heat"/>
            <p:cNvSpPr/>
            <p:nvPr/>
          </p:nvSpPr>
          <p:spPr>
            <a:xfrm>
              <a:off x="4171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5" name="node01.row.item-008.m1.heat-gap"/>
            <p:cNvSpPr/>
            <p:nvPr/>
          </p:nvSpPr>
          <p:spPr>
            <a:xfrm>
              <a:off x="5676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8.m1.heat"/>
            <p:cNvSpPr/>
            <p:nvPr/>
          </p:nvSpPr>
          <p:spPr>
            <a:xfrm>
              <a:off x="5695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7" name="node01.row.item-008.m2.heat-gap"/>
            <p:cNvSpPr/>
            <p:nvPr/>
          </p:nvSpPr>
          <p:spPr>
            <a:xfrm>
              <a:off x="7200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8.m2.heat"/>
            <p:cNvSpPr/>
            <p:nvPr/>
          </p:nvSpPr>
          <p:spPr>
            <a:xfrm>
              <a:off x="7219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8.m3.heat-gap"/>
            <p:cNvSpPr/>
            <p:nvPr/>
          </p:nvSpPr>
          <p:spPr>
            <a:xfrm>
              <a:off x="8724900" y="40894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8.m3.heat"/>
            <p:cNvSpPr/>
            <p:nvPr/>
          </p:nvSpPr>
          <p:spPr>
            <a:xfrm>
              <a:off x="8743950" y="41084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1.row.item-009.m0.heat-gap"/>
            <p:cNvSpPr/>
            <p:nvPr/>
          </p:nvSpPr>
          <p:spPr>
            <a:xfrm>
              <a:off x="4152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9.m0.heat"/>
            <p:cNvSpPr/>
            <p:nvPr/>
          </p:nvSpPr>
          <p:spPr>
            <a:xfrm>
              <a:off x="4171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3" name="node01.row.item-009.m1.heat-gap"/>
            <p:cNvSpPr/>
            <p:nvPr/>
          </p:nvSpPr>
          <p:spPr>
            <a:xfrm>
              <a:off x="5676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9.m1.heat"/>
            <p:cNvSpPr/>
            <p:nvPr/>
          </p:nvSpPr>
          <p:spPr>
            <a:xfrm>
              <a:off x="5695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5" name="node01.row.item-009.m2.heat-gap"/>
            <p:cNvSpPr/>
            <p:nvPr/>
          </p:nvSpPr>
          <p:spPr>
            <a:xfrm>
              <a:off x="7200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9.m2.heat"/>
            <p:cNvSpPr/>
            <p:nvPr/>
          </p:nvSpPr>
          <p:spPr>
            <a:xfrm>
              <a:off x="7219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7" name="node01.row.item-009.m3.heat-gap"/>
            <p:cNvSpPr/>
            <p:nvPr/>
          </p:nvSpPr>
          <p:spPr>
            <a:xfrm>
              <a:off x="8724900" y="43942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9.m3.heat"/>
            <p:cNvSpPr/>
            <p:nvPr/>
          </p:nvSpPr>
          <p:spPr>
            <a:xfrm>
              <a:off x="8743950" y="44132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9" name="node01.row.item-010.m0.heat-gap"/>
            <p:cNvSpPr/>
            <p:nvPr/>
          </p:nvSpPr>
          <p:spPr>
            <a:xfrm>
              <a:off x="4152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10.m0.heat"/>
            <p:cNvSpPr/>
            <p:nvPr/>
          </p:nvSpPr>
          <p:spPr>
            <a:xfrm>
              <a:off x="4171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1" name="node01.row.item-010.m1.heat-gap"/>
            <p:cNvSpPr/>
            <p:nvPr/>
          </p:nvSpPr>
          <p:spPr>
            <a:xfrm>
              <a:off x="5676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10.m1.heat"/>
            <p:cNvSpPr/>
            <p:nvPr/>
          </p:nvSpPr>
          <p:spPr>
            <a:xfrm>
              <a:off x="5695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3" name="node01.row.item-010.m2.heat-gap"/>
            <p:cNvSpPr/>
            <p:nvPr/>
          </p:nvSpPr>
          <p:spPr>
            <a:xfrm>
              <a:off x="7200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10.m2.heat"/>
            <p:cNvSpPr/>
            <p:nvPr/>
          </p:nvSpPr>
          <p:spPr>
            <a:xfrm>
              <a:off x="7219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5" name="node01.row.item-010.m3.heat-gap"/>
            <p:cNvSpPr/>
            <p:nvPr/>
          </p:nvSpPr>
          <p:spPr>
            <a:xfrm>
              <a:off x="8724900" y="46990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10.m3.heat"/>
            <p:cNvSpPr/>
            <p:nvPr/>
          </p:nvSpPr>
          <p:spPr>
            <a:xfrm>
              <a:off x="8743950" y="47180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7" name="node01.row.item-011.m0.heat-gap"/>
            <p:cNvSpPr/>
            <p:nvPr/>
          </p:nvSpPr>
          <p:spPr>
            <a:xfrm>
              <a:off x="4152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11.m0.heat"/>
            <p:cNvSpPr/>
            <p:nvPr/>
          </p:nvSpPr>
          <p:spPr>
            <a:xfrm>
              <a:off x="4171950" y="50228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9" name="node01.row.item-011.m1.heat-gap"/>
            <p:cNvSpPr/>
            <p:nvPr/>
          </p:nvSpPr>
          <p:spPr>
            <a:xfrm>
              <a:off x="5676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11.m1.heat"/>
            <p:cNvSpPr/>
            <p:nvPr/>
          </p:nvSpPr>
          <p:spPr>
            <a:xfrm>
              <a:off x="5695950" y="5022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1" name="node01.row.item-011.m2.heat-gap"/>
            <p:cNvSpPr/>
            <p:nvPr/>
          </p:nvSpPr>
          <p:spPr>
            <a:xfrm>
              <a:off x="7200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11.m2.heat"/>
            <p:cNvSpPr/>
            <p:nvPr/>
          </p:nvSpPr>
          <p:spPr>
            <a:xfrm>
              <a:off x="7219950" y="5022850"/>
              <a:ext cx="1485900" cy="266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3" name="node01.row.item-011.m3.heat-gap"/>
            <p:cNvSpPr/>
            <p:nvPr/>
          </p:nvSpPr>
          <p:spPr>
            <a:xfrm>
              <a:off x="8724900" y="5003800"/>
              <a:ext cx="1524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11.m3.heat"/>
            <p:cNvSpPr/>
            <p:nvPr/>
          </p:nvSpPr>
          <p:spPr>
            <a:xfrm>
              <a:off x="8743950" y="5022850"/>
              <a:ext cx="1485900" cy="266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5" name="node01.row.item-012.m0.heat-gap"/>
            <p:cNvSpPr/>
            <p:nvPr/>
          </p:nvSpPr>
          <p:spPr>
            <a:xfrm>
              <a:off x="4152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6" name="node01.row.item-012.m0.heat"/>
            <p:cNvSpPr/>
            <p:nvPr/>
          </p:nvSpPr>
          <p:spPr>
            <a:xfrm>
              <a:off x="4171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7" name="node01.row.item-012.m1.heat-gap"/>
            <p:cNvSpPr/>
            <p:nvPr/>
          </p:nvSpPr>
          <p:spPr>
            <a:xfrm>
              <a:off x="5676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8" name="node01.row.item-012.m1.heat"/>
            <p:cNvSpPr/>
            <p:nvPr/>
          </p:nvSpPr>
          <p:spPr>
            <a:xfrm>
              <a:off x="5695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9" name="node01.row.item-012.m2.heat-gap"/>
            <p:cNvSpPr/>
            <p:nvPr/>
          </p:nvSpPr>
          <p:spPr>
            <a:xfrm>
              <a:off x="7200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0" name="node01.row.item-012.m2.heat"/>
            <p:cNvSpPr/>
            <p:nvPr/>
          </p:nvSpPr>
          <p:spPr>
            <a:xfrm>
              <a:off x="7219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1" name="node01.row.item-012.m3.heat-gap"/>
            <p:cNvSpPr/>
            <p:nvPr/>
          </p:nvSpPr>
          <p:spPr>
            <a:xfrm>
              <a:off x="8724900" y="5308600"/>
              <a:ext cx="1524000" cy="304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2" name="node01.row.item-012.m3.heat"/>
            <p:cNvSpPr/>
            <p:nvPr/>
          </p:nvSpPr>
          <p:spPr>
            <a:xfrm>
              <a:off x="8743950" y="5327650"/>
              <a:ext cx="1485900" cy="266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103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3048000"/>
                  <a:gridCol w="1524000"/>
                  <a:gridCol w="1524000"/>
                  <a:gridCol w="1524000"/>
                  <a:gridCol w="15240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ROLE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1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2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3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MONTH 4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AVG FTE</a:t>
                        </a:r>
                        <a:endParaRPr lang="en-US" sz="800" spc="48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Engagement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manager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Solution architect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engineer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Business analysts (2)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2.0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2.0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Developers (3)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3.0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3.0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QA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–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Change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1.0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Executive sponsor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Product owner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IT integration lead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0.25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Total FTE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6.3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10.1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FFFFFF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6.6</a:t>
                        </a:r>
                        <a:endParaRPr lang="en-US" sz="1000" spc="0" kern="0" b="0" i="0" dirty="0">
                          <a:solidFill>
                            <a:srgbClr val="FFFFFF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8.4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0" cap="flat" cmpd="sng" algn="ctr">
                        <a:noFill/>
                      </a:lnB>
                      <a:solidFill>
                        <a:srgbClr val="E8EEF8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04" name="node01.row-group.source-001.fill"/>
            <p:cNvSpPr/>
            <p:nvPr/>
          </p:nvSpPr>
          <p:spPr>
            <a:xfrm>
              <a:off x="723900" y="1974850"/>
              <a:ext cx="304800" cy="876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5" name="node01.row-group.source-001.label"/>
            <p:cNvSpPr/>
            <p:nvPr/>
          </p:nvSpPr>
          <p:spPr>
            <a:xfrm rot="-5400000">
              <a:off x="438150" y="23431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LEADERSHIP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6" name="node01.row-group.source-002.fill"/>
            <p:cNvSpPr/>
            <p:nvPr/>
          </p:nvSpPr>
          <p:spPr>
            <a:xfrm>
              <a:off x="723900" y="2889250"/>
              <a:ext cx="304800" cy="1485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07" name="node01.row-group.source-002.label"/>
            <p:cNvSpPr/>
            <p:nvPr/>
          </p:nvSpPr>
          <p:spPr>
            <a:xfrm rot="-5400000">
              <a:off x="133350" y="3562350"/>
              <a:ext cx="14859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8" name="node01.row-group.source-003.fill"/>
            <p:cNvSpPr/>
            <p:nvPr/>
          </p:nvSpPr>
          <p:spPr>
            <a:xfrm>
              <a:off x="723900" y="4413250"/>
              <a:ext cx="304800" cy="8763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09" name="node01.row-group.source-003.label"/>
            <p:cNvSpPr/>
            <p:nvPr/>
          </p:nvSpPr>
          <p:spPr>
            <a:xfrm rot="-5400000">
              <a:off x="438150" y="4781550"/>
              <a:ext cx="876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CLIENT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12" name="node02"/>
          <p:cNvGrpSpPr/>
          <p:nvPr/>
        </p:nvGrpSpPr>
        <p:grpSpPr>
          <a:xfrm>
            <a:off x="723900" y="5638800"/>
            <a:ext cx="10744200" cy="215900"/>
            <a:chOff x="723900" y="5638800"/>
            <a:chExt cx="10744200" cy="215900"/>
          </a:xfrm>
        </p:grpSpPr>
        <p:sp>
          <p:nvSpPr>
            <p:cNvPr id="110" name="node02.text"/>
            <p:cNvSpPr/>
            <p:nvPr/>
          </p:nvSpPr>
          <p:spPr>
            <a:xfrm>
              <a:off x="723900" y="5638800"/>
              <a:ext cx="1074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Peak is month 2: 10.6 FTE, of which the client team provides 1.1.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bet names its assumption and its decision date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8" name="node01"/>
          <p:cNvGrpSpPr/>
          <p:nvPr/>
        </p:nvGrpSpPr>
        <p:grpSpPr>
          <a:xfrm>
            <a:off x="723900" y="1600200"/>
            <a:ext cx="10744200" cy="3975100"/>
            <a:chOff x="723900" y="1600200"/>
            <a:chExt cx="10744200" cy="39751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975100"/>
          </p:xfrm>
          <a:graphic>
            <a:graphicData uri="http://schemas.openxmlformats.org/drawingml/2006/table">
              <a:tbl>
                <a:tblPr/>
                <a:tblGrid>
                  <a:gridCol w="914400"/>
                  <a:gridCol w="1752600"/>
                  <a:gridCol w="3200400"/>
                  <a:gridCol w="2438400"/>
                  <a:gridCol w="2438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STRATEGIC BET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ASSUMPTION TO VALIDATE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SIGNAL OF SUCCESS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DECISION POINT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Matching rules reach 6% duplicates without manual review at every site.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Duplicates under 8% at two hospitals by Q1 27.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Mar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Buy a matching service if above 9%.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Patients and staff accept one identity without a second login.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70% of active patients enrolled within 90 days.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Jun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Fall back to staff-assisted enrolment.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Patients book online when slots are real time and complete.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30% of primary care visits booked online.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Sep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Pivot to staff-assisted booking if under 20%.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Patients finish forms and insurance before they arrive.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60% complete intake before the visit.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Dec 2027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Cut to insurance capture only if under 40%.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239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Price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Estimates within 10% of the final bill build trust.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Front-end denials under 6%.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Decide Jun 2028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Narrow to scheduled procedures if misses persist.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p.priority.fill"/>
            <p:cNvSpPr/>
            <p:nvPr/>
          </p:nvSpPr>
          <p:spPr>
            <a:xfrm>
              <a:off x="927100" y="22225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p.priority"/>
            <p:cNvSpPr/>
            <p:nvPr/>
          </p:nvSpPr>
          <p:spPr>
            <a:xfrm>
              <a:off x="1028700" y="22479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2.p.priority.fill"/>
            <p:cNvSpPr/>
            <p:nvPr/>
          </p:nvSpPr>
          <p:spPr>
            <a:xfrm>
              <a:off x="927100" y="29464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p.priority"/>
            <p:cNvSpPr/>
            <p:nvPr/>
          </p:nvSpPr>
          <p:spPr>
            <a:xfrm>
              <a:off x="1028700" y="29718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p.priority.fill"/>
            <p:cNvSpPr/>
            <p:nvPr/>
          </p:nvSpPr>
          <p:spPr>
            <a:xfrm>
              <a:off x="927100" y="36703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p.priority"/>
            <p:cNvSpPr/>
            <p:nvPr/>
          </p:nvSpPr>
          <p:spPr>
            <a:xfrm>
              <a:off x="1028700" y="36957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p.priority.fill"/>
            <p:cNvSpPr/>
            <p:nvPr/>
          </p:nvSpPr>
          <p:spPr>
            <a:xfrm>
              <a:off x="927100" y="43942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4.p.priority"/>
            <p:cNvSpPr/>
            <p:nvPr/>
          </p:nvSpPr>
          <p:spPr>
            <a:xfrm>
              <a:off x="1028700" y="44196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.item-005.p.priority.fill"/>
            <p:cNvSpPr/>
            <p:nvPr/>
          </p:nvSpPr>
          <p:spPr>
            <a:xfrm>
              <a:off x="900748" y="5118100"/>
              <a:ext cx="560704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5.p.priority"/>
            <p:cNvSpPr/>
            <p:nvPr/>
          </p:nvSpPr>
          <p:spPr>
            <a:xfrm>
              <a:off x="1002348" y="5143500"/>
              <a:ext cx="357504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bets carry the vision into a sequenced roadmap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7" name="node01"/>
          <p:cNvGrpSpPr/>
          <p:nvPr/>
        </p:nvGrpSpPr>
        <p:grpSpPr>
          <a:xfrm>
            <a:off x="723900" y="1600200"/>
            <a:ext cx="3429000" cy="139700"/>
            <a:chOff x="723900" y="1600200"/>
            <a:chExt cx="3429000" cy="139700"/>
          </a:xfrm>
        </p:grpSpPr>
        <p:sp>
          <p:nvSpPr>
            <p:cNvPr id="7" name="node01.text"/>
            <p:cNvSpPr/>
            <p:nvPr/>
          </p:nvSpPr>
          <p:spPr>
            <a:xfrm>
              <a:off x="723900" y="16002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PRODUCT VISION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8" name="node02"/>
          <p:cNvGrpSpPr/>
          <p:nvPr/>
        </p:nvGrpSpPr>
        <p:grpSpPr>
          <a:xfrm>
            <a:off x="723900" y="1828800"/>
            <a:ext cx="10744200" cy="457200"/>
            <a:chOff x="723900" y="1828800"/>
            <a:chExt cx="10744200" cy="457200"/>
          </a:xfrm>
        </p:grpSpPr>
        <p:sp>
          <p:nvSpPr>
            <p:cNvPr id="8" name="node02.surface"/>
            <p:cNvSpPr/>
            <p:nvPr/>
          </p:nvSpPr>
          <p:spPr>
            <a:xfrm>
              <a:off x="723900" y="1828800"/>
              <a:ext cx="10744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2.text"/>
            <p:cNvSpPr/>
            <p:nvPr/>
          </p:nvSpPr>
          <p:spPr>
            <a:xfrm>
              <a:off x="876300" y="1924050"/>
              <a:ext cx="10439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Every Northfield patient reaches, books and pays for care in one digital front door.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9" name="node03"/>
          <p:cNvGrpSpPr/>
          <p:nvPr/>
        </p:nvGrpSpPr>
        <p:grpSpPr>
          <a:xfrm>
            <a:off x="723900" y="2514600"/>
            <a:ext cx="3429000" cy="457200"/>
            <a:chOff x="723900" y="2514600"/>
            <a:chExt cx="3429000" cy="457200"/>
          </a:xfrm>
        </p:grpSpPr>
        <p:sp>
          <p:nvSpPr>
            <p:cNvPr id="10" name="node03.surface"/>
            <p:cNvSpPr/>
            <p:nvPr/>
          </p:nvSpPr>
          <p:spPr>
            <a:xfrm>
              <a:off x="723900" y="2514600"/>
              <a:ext cx="3429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1" name="node03.text"/>
            <p:cNvSpPr/>
            <p:nvPr/>
          </p:nvSpPr>
          <p:spPr>
            <a:xfrm>
              <a:off x="876300" y="26098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1 · Know every patient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12" name="node04"/>
          <p:cNvSpPr/>
          <p:nvPr/>
        </p:nvSpPr>
        <p:spPr>
          <a:xfrm>
            <a:off x="723900" y="3200400"/>
            <a:ext cx="34290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OUTCOME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Duplicate records 11% → 6%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One record, one sign-in everywhere.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0" name="node05"/>
          <p:cNvGrpSpPr/>
          <p:nvPr/>
        </p:nvGrpSpPr>
        <p:grpSpPr>
          <a:xfrm>
            <a:off x="723900" y="4343400"/>
            <a:ext cx="3429000" cy="342900"/>
            <a:chOff x="723900" y="4343400"/>
            <a:chExt cx="3429000" cy="342900"/>
          </a:xfrm>
        </p:grpSpPr>
        <p:sp>
          <p:nvSpPr>
            <p:cNvPr id="13" name="node05.surface"/>
            <p:cNvSpPr/>
            <p:nvPr/>
          </p:nvSpPr>
          <p:spPr>
            <a:xfrm>
              <a:off x="723900" y="4343400"/>
              <a:ext cx="3429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5.text"/>
            <p:cNvSpPr/>
            <p:nvPr/>
          </p:nvSpPr>
          <p:spPr>
            <a:xfrm>
              <a:off x="876300" y="44069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Now · Master patient index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1" name="node06"/>
          <p:cNvGrpSpPr/>
          <p:nvPr/>
        </p:nvGrpSpPr>
        <p:grpSpPr>
          <a:xfrm>
            <a:off x="723900" y="4800600"/>
            <a:ext cx="3429000" cy="342900"/>
            <a:chOff x="723900" y="4800600"/>
            <a:chExt cx="3429000" cy="342900"/>
          </a:xfrm>
        </p:grpSpPr>
        <p:sp>
          <p:nvSpPr>
            <p:cNvPr id="15" name="node06.surface"/>
            <p:cNvSpPr/>
            <p:nvPr/>
          </p:nvSpPr>
          <p:spPr>
            <a:xfrm>
              <a:off x="723900" y="4800600"/>
              <a:ext cx="3429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6" name="node06.text"/>
            <p:cNvSpPr/>
            <p:nvPr/>
          </p:nvSpPr>
          <p:spPr>
            <a:xfrm>
              <a:off x="876300" y="48641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Next · 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2" name="node07"/>
          <p:cNvGrpSpPr/>
          <p:nvPr/>
        </p:nvGrpSpPr>
        <p:grpSpPr>
          <a:xfrm>
            <a:off x="723900" y="5257800"/>
            <a:ext cx="3429000" cy="342900"/>
            <a:chOff x="723900" y="5257800"/>
            <a:chExt cx="3429000" cy="342900"/>
          </a:xfrm>
        </p:grpSpPr>
        <p:sp>
          <p:nvSpPr>
            <p:cNvPr id="17" name="node07.surface"/>
            <p:cNvSpPr/>
            <p:nvPr/>
          </p:nvSpPr>
          <p:spPr>
            <a:xfrm>
              <a:off x="730250" y="5264150"/>
              <a:ext cx="3416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8" name="node07.text"/>
            <p:cNvSpPr/>
            <p:nvPr/>
          </p:nvSpPr>
          <p:spPr>
            <a:xfrm>
              <a:off x="876300" y="53213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Later · Shared patient data store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3" name="node08"/>
          <p:cNvGrpSpPr/>
          <p:nvPr/>
        </p:nvGrpSpPr>
        <p:grpSpPr>
          <a:xfrm>
            <a:off x="4381500" y="2514600"/>
            <a:ext cx="3429000" cy="457200"/>
            <a:chOff x="4381500" y="2514600"/>
            <a:chExt cx="3429000" cy="457200"/>
          </a:xfrm>
        </p:grpSpPr>
        <p:sp>
          <p:nvSpPr>
            <p:cNvPr id="19" name="node08.surface"/>
            <p:cNvSpPr/>
            <p:nvPr/>
          </p:nvSpPr>
          <p:spPr>
            <a:xfrm>
              <a:off x="4381500" y="2514600"/>
              <a:ext cx="3429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0" name="node08.text"/>
            <p:cNvSpPr/>
            <p:nvPr/>
          </p:nvSpPr>
          <p:spPr>
            <a:xfrm>
              <a:off x="4533900" y="26098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2 · Open the door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21" name="node09"/>
          <p:cNvSpPr/>
          <p:nvPr/>
        </p:nvSpPr>
        <p:spPr>
          <a:xfrm>
            <a:off x="4381500" y="3200400"/>
            <a:ext cx="34290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OUTCOME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Visits booked online 8% → 60%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Patients book and arrive ready, no call.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4" name="node10"/>
          <p:cNvGrpSpPr/>
          <p:nvPr/>
        </p:nvGrpSpPr>
        <p:grpSpPr>
          <a:xfrm>
            <a:off x="4381500" y="4343400"/>
            <a:ext cx="3429000" cy="342900"/>
            <a:chOff x="4381500" y="4343400"/>
            <a:chExt cx="3429000" cy="342900"/>
          </a:xfrm>
        </p:grpSpPr>
        <p:sp>
          <p:nvSpPr>
            <p:cNvPr id="22" name="node10.surface"/>
            <p:cNvSpPr/>
            <p:nvPr/>
          </p:nvSpPr>
          <p:spPr>
            <a:xfrm>
              <a:off x="4381500" y="4343400"/>
              <a:ext cx="3429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10.text"/>
            <p:cNvSpPr/>
            <p:nvPr/>
          </p:nvSpPr>
          <p:spPr>
            <a:xfrm>
              <a:off x="4533900" y="44069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Now · Self-scheduling, primary care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5" name="node11"/>
          <p:cNvGrpSpPr/>
          <p:nvPr/>
        </p:nvGrpSpPr>
        <p:grpSpPr>
          <a:xfrm>
            <a:off x="4381500" y="4800600"/>
            <a:ext cx="3429000" cy="342900"/>
            <a:chOff x="4381500" y="4800600"/>
            <a:chExt cx="3429000" cy="342900"/>
          </a:xfrm>
        </p:grpSpPr>
        <p:sp>
          <p:nvSpPr>
            <p:cNvPr id="24" name="node11.surface"/>
            <p:cNvSpPr/>
            <p:nvPr/>
          </p:nvSpPr>
          <p:spPr>
            <a:xfrm>
              <a:off x="4381500" y="4800600"/>
              <a:ext cx="3429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5" name="node11.text"/>
            <p:cNvSpPr/>
            <p:nvPr/>
          </p:nvSpPr>
          <p:spPr>
            <a:xfrm>
              <a:off x="4533900" y="48641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Next · 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6" name="node12"/>
          <p:cNvGrpSpPr/>
          <p:nvPr/>
        </p:nvGrpSpPr>
        <p:grpSpPr>
          <a:xfrm>
            <a:off x="4381500" y="5257800"/>
            <a:ext cx="3429000" cy="342900"/>
            <a:chOff x="4381500" y="5257800"/>
            <a:chExt cx="3429000" cy="342900"/>
          </a:xfrm>
        </p:grpSpPr>
        <p:sp>
          <p:nvSpPr>
            <p:cNvPr id="26" name="node12.surface"/>
            <p:cNvSpPr/>
            <p:nvPr/>
          </p:nvSpPr>
          <p:spPr>
            <a:xfrm>
              <a:off x="4387850" y="5264150"/>
              <a:ext cx="3416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27" name="node12.text"/>
            <p:cNvSpPr/>
            <p:nvPr/>
          </p:nvSpPr>
          <p:spPr>
            <a:xfrm>
              <a:off x="4533900" y="53213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Later · Multilingual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7" name="node13"/>
          <p:cNvGrpSpPr/>
          <p:nvPr/>
        </p:nvGrpSpPr>
        <p:grpSpPr>
          <a:xfrm>
            <a:off x="8039100" y="2514600"/>
            <a:ext cx="3429000" cy="457200"/>
            <a:chOff x="8039100" y="2514600"/>
            <a:chExt cx="3429000" cy="457200"/>
          </a:xfrm>
        </p:grpSpPr>
        <p:sp>
          <p:nvSpPr>
            <p:cNvPr id="28" name="node13.surface"/>
            <p:cNvSpPr/>
            <p:nvPr/>
          </p:nvSpPr>
          <p:spPr>
            <a:xfrm>
              <a:off x="8039100" y="2514600"/>
              <a:ext cx="3429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9" name="node13.text"/>
            <p:cNvSpPr/>
            <p:nvPr/>
          </p:nvSpPr>
          <p:spPr>
            <a:xfrm>
              <a:off x="8191500" y="26098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3 · Pay and track with confidence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30" name="node14"/>
          <p:cNvSpPr/>
          <p:nvPr/>
        </p:nvSpPr>
        <p:spPr>
          <a:xfrm>
            <a:off x="8039100" y="3200400"/>
            <a:ext cx="34290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OUTCOME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Front-end denials 9% → 5%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Price and eligibility known up front.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8" name="node15"/>
          <p:cNvGrpSpPr/>
          <p:nvPr/>
        </p:nvGrpSpPr>
        <p:grpSpPr>
          <a:xfrm>
            <a:off x="8039100" y="4343400"/>
            <a:ext cx="3429000" cy="342900"/>
            <a:chOff x="8039100" y="4343400"/>
            <a:chExt cx="3429000" cy="342900"/>
          </a:xfrm>
        </p:grpSpPr>
        <p:sp>
          <p:nvSpPr>
            <p:cNvPr id="31" name="node15.surface"/>
            <p:cNvSpPr/>
            <p:nvPr/>
          </p:nvSpPr>
          <p:spPr>
            <a:xfrm>
              <a:off x="8039100" y="4343400"/>
              <a:ext cx="3429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5.text"/>
            <p:cNvSpPr/>
            <p:nvPr/>
          </p:nvSpPr>
          <p:spPr>
            <a:xfrm>
              <a:off x="8191500" y="44069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Now · Eligibility checks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9" name="node16"/>
          <p:cNvGrpSpPr/>
          <p:nvPr/>
        </p:nvGrpSpPr>
        <p:grpSpPr>
          <a:xfrm>
            <a:off x="8039100" y="4800600"/>
            <a:ext cx="3429000" cy="342900"/>
            <a:chOff x="8039100" y="4800600"/>
            <a:chExt cx="3429000" cy="342900"/>
          </a:xfrm>
        </p:grpSpPr>
        <p:sp>
          <p:nvSpPr>
            <p:cNvPr id="33" name="node16.surface"/>
            <p:cNvSpPr/>
            <p:nvPr/>
          </p:nvSpPr>
          <p:spPr>
            <a:xfrm>
              <a:off x="8039100" y="4800600"/>
              <a:ext cx="3429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4" name="node16.text"/>
            <p:cNvSpPr/>
            <p:nvPr/>
          </p:nvSpPr>
          <p:spPr>
            <a:xfrm>
              <a:off x="8191500" y="48641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Next · 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17"/>
          <p:cNvGrpSpPr/>
          <p:nvPr/>
        </p:nvGrpSpPr>
        <p:grpSpPr>
          <a:xfrm>
            <a:off x="8039100" y="5257800"/>
            <a:ext cx="3429000" cy="342900"/>
            <a:chOff x="8039100" y="5257800"/>
            <a:chExt cx="3429000" cy="342900"/>
          </a:xfrm>
        </p:grpSpPr>
        <p:sp>
          <p:nvSpPr>
            <p:cNvPr id="35" name="node17.surface"/>
            <p:cNvSpPr/>
            <p:nvPr/>
          </p:nvSpPr>
          <p:spPr>
            <a:xfrm>
              <a:off x="8045450" y="5264150"/>
              <a:ext cx="3416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6" name="node17.text"/>
            <p:cNvSpPr/>
            <p:nvPr/>
          </p:nvSpPr>
          <p:spPr>
            <a:xfrm>
              <a:off x="8191500" y="53213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Later · 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initiative traces back to the vision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6769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2" name="node01"/>
          <p:cNvGrpSpPr/>
          <p:nvPr/>
        </p:nvGrpSpPr>
        <p:grpSpPr>
          <a:xfrm>
            <a:off x="723900" y="2286000"/>
            <a:ext cx="3429000" cy="139700"/>
            <a:chOff x="723900" y="2286000"/>
            <a:chExt cx="3429000" cy="139700"/>
          </a:xfrm>
        </p:grpSpPr>
        <p:sp>
          <p:nvSpPr>
            <p:cNvPr id="7" name="node01.text"/>
            <p:cNvSpPr/>
            <p:nvPr/>
          </p:nvSpPr>
          <p:spPr>
            <a:xfrm>
              <a:off x="7239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PRODUCT VISION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3" name="node02"/>
          <p:cNvGrpSpPr/>
          <p:nvPr/>
        </p:nvGrpSpPr>
        <p:grpSpPr>
          <a:xfrm>
            <a:off x="723900" y="2514600"/>
            <a:ext cx="3429000" cy="508000"/>
            <a:chOff x="723900" y="2514600"/>
            <a:chExt cx="3429000" cy="508000"/>
          </a:xfrm>
        </p:grpSpPr>
        <p:sp>
          <p:nvSpPr>
            <p:cNvPr id="8" name="node02.text"/>
            <p:cNvSpPr/>
            <p:nvPr/>
          </p:nvSpPr>
          <p:spPr>
            <a:xfrm>
              <a:off x="723900" y="2514600"/>
              <a:ext cx="3429000" cy="5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Every Northfield patient reaches, books and pays for care in one digital front door.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9" name="node03"/>
          <p:cNvSpPr/>
          <p:nvPr/>
        </p:nvSpPr>
        <p:spPr>
          <a:xfrm>
            <a:off x="723900" y="3657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4" name="node04"/>
          <p:cNvGrpSpPr/>
          <p:nvPr/>
        </p:nvGrpSpPr>
        <p:grpSpPr>
          <a:xfrm>
            <a:off x="723900" y="3886200"/>
            <a:ext cx="3429000" cy="139700"/>
            <a:chOff x="723900" y="3886200"/>
            <a:chExt cx="3429000" cy="139700"/>
          </a:xfrm>
        </p:grpSpPr>
        <p:sp>
          <p:nvSpPr>
            <p:cNvPr id="10" name="node04.text"/>
            <p:cNvSpPr/>
            <p:nvPr/>
          </p:nvSpPr>
          <p:spPr>
            <a:xfrm>
              <a:off x="723900" y="38862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NORTH STAR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35" name="node05"/>
          <p:cNvGrpSpPr/>
          <p:nvPr/>
        </p:nvGrpSpPr>
        <p:grpSpPr>
          <a:xfrm>
            <a:off x="723900" y="4114800"/>
            <a:ext cx="3429000" cy="533400"/>
            <a:chOff x="723900" y="4114800"/>
            <a:chExt cx="3429000" cy="533400"/>
          </a:xfrm>
        </p:grpSpPr>
        <p:sp>
          <p:nvSpPr>
            <p:cNvPr id="11" name="node05.text"/>
            <p:cNvSpPr/>
            <p:nvPr/>
          </p:nvSpPr>
          <p:spPr>
            <a:xfrm>
              <a:off x="723900" y="4114800"/>
              <a:ext cx="34290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80% of patients complete access online by 2028.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6" name="node06"/>
          <p:cNvGrpSpPr/>
          <p:nvPr/>
        </p:nvGrpSpPr>
        <p:grpSpPr>
          <a:xfrm>
            <a:off x="723900" y="5029200"/>
            <a:ext cx="3429000" cy="215900"/>
            <a:chOff x="723900" y="5029200"/>
            <a:chExt cx="3429000" cy="215900"/>
          </a:xfrm>
        </p:grpSpPr>
        <p:sp>
          <p:nvSpPr>
            <p:cNvPr id="12" name="node06.text"/>
            <p:cNvSpPr/>
            <p:nvPr/>
          </p:nvSpPr>
          <p:spPr>
            <a:xfrm>
              <a:off x="723900" y="5029200"/>
              <a:ext cx="34290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Baselines are 2026 averages across six hospitals.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" name="node07"/>
          <p:cNvGrpSpPr/>
          <p:nvPr/>
        </p:nvGrpSpPr>
        <p:grpSpPr>
          <a:xfrm>
            <a:off x="4381500" y="457200"/>
            <a:ext cx="7086600" cy="5003800"/>
            <a:chOff x="4381500" y="457200"/>
            <a:chExt cx="7086600" cy="5003800"/>
          </a:xfrm>
        </p:grpSpPr>
        <p:graphicFrame>
          <p:nvGraphicFramePr>
            <p:cNvPr id="13" name="node07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762500" y="457200"/>
            <a:ext cx="6705600" cy="5003800"/>
          </p:xfrm>
          <a:graphic>
            <a:graphicData uri="http://schemas.openxmlformats.org/drawingml/2006/table">
              <a:tbl>
                <a:tblPr/>
                <a:tblGrid>
                  <a:gridCol w="1981200"/>
                  <a:gridCol w="1371600"/>
                  <a:gridCol w="2362200"/>
                  <a:gridCol w="990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OUTCOME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BASELINE → TARGET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INITIATIVES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Duplicate patient records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11% → 6%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Sites on one sign-in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0 → 6 of 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Visits booked online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8% → 60%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Self-scheduling; 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Calls to the access center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100% → 75%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Waitlist;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Front-end denials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9% → 5%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 checks; price estimates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774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Referrals completed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61% → 85%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 tracking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4" name="node07.row.item-001.p.priority.fill"/>
            <p:cNvSpPr/>
            <p:nvPr/>
          </p:nvSpPr>
          <p:spPr>
            <a:xfrm>
              <a:off x="10718800" y="11049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7.row.item-001.p.priority"/>
            <p:cNvSpPr/>
            <p:nvPr/>
          </p:nvSpPr>
          <p:spPr>
            <a:xfrm>
              <a:off x="10820400" y="11303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7.row.item-002.p.priority.fill"/>
            <p:cNvSpPr/>
            <p:nvPr/>
          </p:nvSpPr>
          <p:spPr>
            <a:xfrm>
              <a:off x="10718800" y="1879600"/>
              <a:ext cx="508000" cy="1905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7.row.item-002.p.priority"/>
            <p:cNvSpPr/>
            <p:nvPr/>
          </p:nvSpPr>
          <p:spPr>
            <a:xfrm>
              <a:off x="10820400" y="19050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48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7.row.item-003.p.priority.fill"/>
            <p:cNvSpPr/>
            <p:nvPr/>
          </p:nvSpPr>
          <p:spPr>
            <a:xfrm>
              <a:off x="10718800" y="26543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7.row.item-003.p.priority"/>
            <p:cNvSpPr/>
            <p:nvPr/>
          </p:nvSpPr>
          <p:spPr>
            <a:xfrm>
              <a:off x="10820400" y="26797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7.row.item-004.p.priority.fill"/>
            <p:cNvSpPr/>
            <p:nvPr/>
          </p:nvSpPr>
          <p:spPr>
            <a:xfrm>
              <a:off x="10718800" y="3429000"/>
              <a:ext cx="508000" cy="19050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7.row.item-004.p.priority"/>
            <p:cNvSpPr/>
            <p:nvPr/>
          </p:nvSpPr>
          <p:spPr>
            <a:xfrm>
              <a:off x="10820400" y="3454400"/>
              <a:ext cx="304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7.row.item-005.p.priority.fill"/>
            <p:cNvSpPr/>
            <p:nvPr/>
          </p:nvSpPr>
          <p:spPr>
            <a:xfrm>
              <a:off x="10692448" y="4203700"/>
              <a:ext cx="560704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3" name="node07.row.item-005.p.priority"/>
            <p:cNvSpPr/>
            <p:nvPr/>
          </p:nvSpPr>
          <p:spPr>
            <a:xfrm>
              <a:off x="10794048" y="4229100"/>
              <a:ext cx="357504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7.row.item-006.p.priority.fill"/>
            <p:cNvSpPr/>
            <p:nvPr/>
          </p:nvSpPr>
          <p:spPr>
            <a:xfrm>
              <a:off x="10692448" y="4978400"/>
              <a:ext cx="560704" cy="1905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5" name="node07.row.item-006.p.priority"/>
            <p:cNvSpPr/>
            <p:nvPr/>
          </p:nvSpPr>
          <p:spPr>
            <a:xfrm>
              <a:off x="10794048" y="5003800"/>
              <a:ext cx="357504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7.row-group.source-001.fill"/>
            <p:cNvSpPr/>
            <p:nvPr/>
          </p:nvSpPr>
          <p:spPr>
            <a:xfrm>
              <a:off x="4381500" y="831850"/>
              <a:ext cx="304800" cy="1511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7.row-group.source-001.label"/>
            <p:cNvSpPr/>
            <p:nvPr/>
          </p:nvSpPr>
          <p:spPr>
            <a:xfrm rot="-5400000">
              <a:off x="3778250" y="1517650"/>
              <a:ext cx="1511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KNOW THE PATIENT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8" name="node07.row-group.source-002.fill"/>
            <p:cNvSpPr/>
            <p:nvPr/>
          </p:nvSpPr>
          <p:spPr>
            <a:xfrm>
              <a:off x="4381500" y="2381250"/>
              <a:ext cx="304800" cy="15113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9" name="node07.row-group.source-002.label"/>
            <p:cNvSpPr/>
            <p:nvPr/>
          </p:nvSpPr>
          <p:spPr>
            <a:xfrm rot="-5400000">
              <a:off x="3778250" y="3067050"/>
              <a:ext cx="1511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OPEN THE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7.row-group.source-003.fill"/>
            <p:cNvSpPr/>
            <p:nvPr/>
          </p:nvSpPr>
          <p:spPr>
            <a:xfrm>
              <a:off x="4381500" y="3930650"/>
              <a:ext cx="304800" cy="15113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31" name="node07.row-group.source-003.label"/>
            <p:cNvSpPr/>
            <p:nvPr/>
          </p:nvSpPr>
          <p:spPr>
            <a:xfrm rot="-5400000">
              <a:off x="3778250" y="4616450"/>
              <a:ext cx="15113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PAY AND TRACK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Strategy to roadmap: pillars, bets and decision gates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nav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7" name="nav.label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VISION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8" name="nav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9" name="nav.label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SEGMENTS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nav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1" name="nav.label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BETS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2" name="nav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3" name="nav.label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4" name="nav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5" name="nav.label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MEASURES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0" name="node01"/>
          <p:cNvGrpSpPr/>
          <p:nvPr/>
        </p:nvGrpSpPr>
        <p:grpSpPr>
          <a:xfrm>
            <a:off x="723900" y="1714500"/>
            <a:ext cx="2514600" cy="139700"/>
            <a:chOff x="723900" y="1714500"/>
            <a:chExt cx="2514600" cy="139700"/>
          </a:xfrm>
        </p:grpSpPr>
        <p:sp>
          <p:nvSpPr>
            <p:cNvPr id="17" name="node01.text"/>
            <p:cNvSpPr/>
            <p:nvPr/>
          </p:nvSpPr>
          <p:spPr>
            <a:xfrm>
              <a:off x="723900" y="1714500"/>
              <a:ext cx="2514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STRATEGIC PILLAR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1" name="node02"/>
          <p:cNvGrpSpPr/>
          <p:nvPr/>
        </p:nvGrpSpPr>
        <p:grpSpPr>
          <a:xfrm>
            <a:off x="3467100" y="1600200"/>
            <a:ext cx="2514600" cy="457200"/>
            <a:chOff x="3467100" y="1600200"/>
            <a:chExt cx="2514600" cy="457200"/>
          </a:xfrm>
        </p:grpSpPr>
        <p:sp>
          <p:nvSpPr>
            <p:cNvPr id="18" name="node02.surface"/>
            <p:cNvSpPr/>
            <p:nvPr/>
          </p:nvSpPr>
          <p:spPr>
            <a:xfrm>
              <a:off x="3467100" y="16002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0" y="0"/>
                  </a:moveTo>
                  <a:lnTo>
                    <a:pt x="2362200" y="0"/>
                  </a:lnTo>
                  <a:lnTo>
                    <a:pt x="2514600" y="228600"/>
                  </a:lnTo>
                  <a:lnTo>
                    <a:pt x="2362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70154"/>
            </a:solidFill>
            <a:ln>
              <a:noFill/>
            </a:ln>
          </p:spPr>
        </p:sp>
        <p:sp>
          <p:nvSpPr>
            <p:cNvPr id="19" name="node02.text"/>
            <p:cNvSpPr/>
            <p:nvPr/>
          </p:nvSpPr>
          <p:spPr>
            <a:xfrm>
              <a:off x="3619500" y="1695450"/>
              <a:ext cx="2133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Now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2" name="node03"/>
          <p:cNvGrpSpPr/>
          <p:nvPr/>
        </p:nvGrpSpPr>
        <p:grpSpPr>
          <a:xfrm>
            <a:off x="6210300" y="1600200"/>
            <a:ext cx="2514600" cy="457200"/>
            <a:chOff x="6210300" y="1600200"/>
            <a:chExt cx="2514600" cy="457200"/>
          </a:xfrm>
        </p:grpSpPr>
        <p:sp>
          <p:nvSpPr>
            <p:cNvPr id="20" name="node03.surface"/>
            <p:cNvSpPr/>
            <p:nvPr/>
          </p:nvSpPr>
          <p:spPr>
            <a:xfrm>
              <a:off x="6210300" y="16002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0" y="0"/>
                  </a:moveTo>
                  <a:lnTo>
                    <a:pt x="2362200" y="0"/>
                  </a:lnTo>
                  <a:lnTo>
                    <a:pt x="2514600" y="228600"/>
                  </a:lnTo>
                  <a:lnTo>
                    <a:pt x="23622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CED7E6"/>
            </a:solidFill>
            <a:ln>
              <a:noFill/>
            </a:ln>
          </p:spPr>
        </p:sp>
        <p:sp>
          <p:nvSpPr>
            <p:cNvPr id="21" name="node03.text"/>
            <p:cNvSpPr/>
            <p:nvPr/>
          </p:nvSpPr>
          <p:spPr>
            <a:xfrm>
              <a:off x="6515100" y="1695450"/>
              <a:ext cx="1981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Next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3" name="node04"/>
          <p:cNvGrpSpPr/>
          <p:nvPr/>
        </p:nvGrpSpPr>
        <p:grpSpPr>
          <a:xfrm>
            <a:off x="8953500" y="1600200"/>
            <a:ext cx="2514600" cy="457200"/>
            <a:chOff x="8953500" y="1600200"/>
            <a:chExt cx="2514600" cy="457200"/>
          </a:xfrm>
        </p:grpSpPr>
        <p:sp>
          <p:nvSpPr>
            <p:cNvPr id="22" name="node04.surface"/>
            <p:cNvSpPr/>
            <p:nvPr/>
          </p:nvSpPr>
          <p:spPr>
            <a:xfrm>
              <a:off x="8953500" y="16002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0" y="0"/>
                  </a:moveTo>
                  <a:lnTo>
                    <a:pt x="2362200" y="0"/>
                  </a:lnTo>
                  <a:lnTo>
                    <a:pt x="2514600" y="228600"/>
                  </a:lnTo>
                  <a:lnTo>
                    <a:pt x="23622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</p:spPr>
        </p:sp>
        <p:sp>
          <p:nvSpPr>
            <p:cNvPr id="23" name="node04.text"/>
            <p:cNvSpPr/>
            <p:nvPr/>
          </p:nvSpPr>
          <p:spPr>
            <a:xfrm>
              <a:off x="9258300" y="1695450"/>
              <a:ext cx="1981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Later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sp>
        <p:nvSpPr>
          <p:cNvPr id="24" name="node05"/>
          <p:cNvSpPr/>
          <p:nvPr/>
        </p:nvSpPr>
        <p:spPr>
          <a:xfrm>
            <a:off x="723900" y="2286000"/>
            <a:ext cx="2514600" cy="1028700"/>
          </a:xfrm>
          <a:prstGeom prst="rect">
            <a:avLst/>
          </a:prstGeom>
          <a:solidFill>
            <a:srgbClr val="CED7E6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 xml:space="preserve">OUTCOME · 11% → 6% DUPLICATES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Know every patient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Owner: chief data officer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5" name="node06"/>
          <p:cNvSpPr/>
          <p:nvPr/>
        </p:nvSpPr>
        <p:spPr>
          <a:xfrm>
            <a:off x="3467100" y="2286000"/>
            <a:ext cx="25146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DECISION · MAR 27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Master patient index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Signal: duplicates under 8%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6" name="node07"/>
          <p:cNvSpPr/>
          <p:nvPr/>
        </p:nvSpPr>
        <p:spPr>
          <a:xfrm>
            <a:off x="6210300" y="2286000"/>
            <a:ext cx="25146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DECISION · JUN 27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Single sign-in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Signal: 70% enrolled in 90 days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" name="node08"/>
          <p:cNvSpPr/>
          <p:nvPr/>
        </p:nvSpPr>
        <p:spPr>
          <a:xfrm>
            <a:off x="8959850" y="2292350"/>
            <a:ext cx="25019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7E6"/>
            </a:solidFill>
          </a:ln>
        </p:spPr>
        <p:txBody>
          <a:bodyPr wrap="square" lIns="107950" tIns="107950" rIns="107950" bIns="10795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GATE · 2028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Shared data store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Waits for index and sign-in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8" name="node09"/>
          <p:cNvSpPr/>
          <p:nvPr/>
        </p:nvSpPr>
        <p:spPr>
          <a:xfrm>
            <a:off x="723900" y="3429000"/>
            <a:ext cx="2514600" cy="1028700"/>
          </a:xfrm>
          <a:prstGeom prst="rect">
            <a:avLst/>
          </a:prstGeom>
          <a:solidFill>
            <a:srgbClr val="CED7E6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 xml:space="preserve">OUTCOME · 8% → 60% BOOKED ONLINE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Open the door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Owner: patient access officer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4" name="node10"/>
          <p:cNvGrpSpPr/>
          <p:nvPr/>
        </p:nvGrpSpPr>
        <p:grpSpPr>
          <a:xfrm>
            <a:off x="3467100" y="3429000"/>
            <a:ext cx="2514600" cy="1028700"/>
            <a:chOff x="3467100" y="3429000"/>
            <a:chExt cx="2514600" cy="1028700"/>
          </a:xfrm>
        </p:grpSpPr>
        <p:sp>
          <p:nvSpPr>
            <p:cNvPr id="29" name="node10.container"/>
            <p:cNvSpPr/>
            <p:nvPr/>
          </p:nvSpPr>
          <p:spPr>
            <a:xfrm>
              <a:off x="3467100" y="3429000"/>
              <a:ext cx="2514600" cy="1028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0" name="node10.edge"/>
            <p:cNvSpPr/>
            <p:nvPr/>
          </p:nvSpPr>
          <p:spPr>
            <a:xfrm>
              <a:off x="3467100" y="3429000"/>
              <a:ext cx="76200" cy="10287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1" name="node10.label"/>
            <p:cNvSpPr/>
            <p:nvPr/>
          </p:nvSpPr>
          <p:spPr>
            <a:xfrm>
              <a:off x="3657600" y="3543300"/>
              <a:ext cx="2209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DECISION · SEP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2" name="node10.title"/>
            <p:cNvSpPr/>
            <p:nvPr/>
          </p:nvSpPr>
          <p:spPr>
            <a:xfrm>
              <a:off x="3657600" y="3759200"/>
              <a:ext cx="2209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Self-scheduling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10.body.item-001.paragraph"/>
            <p:cNvSpPr/>
            <p:nvPr/>
          </p:nvSpPr>
          <p:spPr>
            <a:xfrm>
              <a:off x="3657600" y="4127500"/>
              <a:ext cx="2209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Signal: 30% of visits online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sp>
        <p:nvSpPr>
          <p:cNvPr id="34" name="node11"/>
          <p:cNvSpPr/>
          <p:nvPr/>
        </p:nvSpPr>
        <p:spPr>
          <a:xfrm>
            <a:off x="6210300" y="3429000"/>
            <a:ext cx="25146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DECISION · DEC 27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Digital intake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Signal: 60% intake before visit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5" name="node12"/>
          <p:cNvSpPr/>
          <p:nvPr/>
        </p:nvSpPr>
        <p:spPr>
          <a:xfrm>
            <a:off x="8959850" y="3435350"/>
            <a:ext cx="25019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7E6"/>
            </a:solidFill>
          </a:ln>
        </p:spPr>
        <p:txBody>
          <a:bodyPr wrap="square" lIns="107950" tIns="107950" rIns="107950" bIns="10795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GATE · 2028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Multilingual booking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Booking in every language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6" name="node13"/>
          <p:cNvSpPr/>
          <p:nvPr/>
        </p:nvSpPr>
        <p:spPr>
          <a:xfrm>
            <a:off x="723900" y="4572000"/>
            <a:ext cx="2514600" cy="1028700"/>
          </a:xfrm>
          <a:prstGeom prst="rect">
            <a:avLst/>
          </a:prstGeom>
          <a:solidFill>
            <a:srgbClr val="CED7E6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 xml:space="preserve">OUTCOME · 9% → 5% DENIALS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Pay and track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Owner: VP revenue cycle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7" name="node14"/>
          <p:cNvSpPr/>
          <p:nvPr/>
        </p:nvSpPr>
        <p:spPr>
          <a:xfrm>
            <a:off x="3467100" y="4572000"/>
            <a:ext cx="25146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GATE · Q2 27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Eligibility checks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Signal: denials under 7%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8" name="node15"/>
          <p:cNvSpPr/>
          <p:nvPr/>
        </p:nvSpPr>
        <p:spPr>
          <a:xfrm>
            <a:off x="6210300" y="4572000"/>
            <a:ext cx="2514600" cy="102870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lIns="114300" tIns="114300" rIns="114300" bIns="11430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DECISION · JUN 28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Price estimates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Signal: estimates within 10%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9" name="node16"/>
          <p:cNvSpPr/>
          <p:nvPr/>
        </p:nvSpPr>
        <p:spPr>
          <a:xfrm>
            <a:off x="8959850" y="4578350"/>
            <a:ext cx="25019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7E6"/>
            </a:solidFill>
          </a:ln>
        </p:spPr>
        <p:txBody>
          <a:bodyPr wrap="square" lIns="107950" tIns="107950" rIns="107950" bIns="107950" rtlCol="0" anchor="t"/>
          <a:lstStyle/>
          <a:p>
            <a:pPr algn="l" marL="0" indent="0">
              <a:lnSpc>
                <a:spcPts val="1100"/>
              </a:lnSpc>
              <a:spcBef>
                <a:spcPts val="0"/>
              </a:spcBef>
              <a:spcAft>
                <a:spcPts val="600"/>
              </a:spcAft>
              <a:buNone/>
              <a:def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defRPr>
            </a:pPr>
            <a:r>
              <a: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rPr>
              <a:t xml:space="preserve">GATE · 2028</a:t>
            </a:r>
            <a:endParaRPr lang="en-US" sz="800" spc="48" kern="0" b="0" i="0" dirty="0">
              <a:solidFill>
                <a:srgbClr val="0047FF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Referral tracking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 xml:space="preserve">One status view, order to visit</a:t>
            </a:r>
            <a:endParaRPr lang="en-US" sz="12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north star, four inputs, the bets that move them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5" name="node01"/>
          <p:cNvGrpSpPr/>
          <p:nvPr/>
        </p:nvGrpSpPr>
        <p:grpSpPr>
          <a:xfrm>
            <a:off x="723900" y="1600200"/>
            <a:ext cx="10744200" cy="685800"/>
            <a:chOff x="723900" y="1600200"/>
            <a:chExt cx="10744200" cy="6858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10744200" cy="685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797050"/>
              <a:ext cx="10439400" cy="292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300"/>
                </a:lnSpc>
                <a:buNone/>
              </a:pPr>
              <a:r>
                <a:rPr lang="en-US" sz="1800" spc="-27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North star · patients who complete access online, 24% → 80% by 2028</a:t>
              </a:r>
              <a:endParaRPr lang="en-US" sz="1800" spc="-27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6" name="node02"/>
          <p:cNvGrpSpPr/>
          <p:nvPr/>
        </p:nvGrpSpPr>
        <p:grpSpPr>
          <a:xfrm>
            <a:off x="1938579" y="2286000"/>
            <a:ext cx="85242" cy="228600"/>
            <a:chOff x="1938579" y="2286000"/>
            <a:chExt cx="85242" cy="228600"/>
          </a:xfrm>
        </p:grpSpPr>
        <p:sp>
          <p:nvSpPr>
            <p:cNvPr id="9" name="node02.segment-1"/>
            <p:cNvSpPr/>
            <p:nvPr/>
          </p:nvSpPr>
          <p:spPr>
            <a:xfrm>
              <a:off x="19812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2.head-end.0"/>
            <p:cNvSpPr/>
            <p:nvPr/>
          </p:nvSpPr>
          <p:spPr>
            <a:xfrm>
              <a:off x="19385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2.head-end.1"/>
            <p:cNvSpPr/>
            <p:nvPr/>
          </p:nvSpPr>
          <p:spPr>
            <a:xfrm>
              <a:off x="19812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67" name="node03"/>
          <p:cNvGrpSpPr/>
          <p:nvPr/>
        </p:nvGrpSpPr>
        <p:grpSpPr>
          <a:xfrm>
            <a:off x="723900" y="2514600"/>
            <a:ext cx="2514600" cy="457200"/>
            <a:chOff x="723900" y="2514600"/>
            <a:chExt cx="2514600" cy="457200"/>
          </a:xfrm>
        </p:grpSpPr>
        <p:sp>
          <p:nvSpPr>
            <p:cNvPr id="12" name="node03.surface"/>
            <p:cNvSpPr/>
            <p:nvPr/>
          </p:nvSpPr>
          <p:spPr>
            <a:xfrm>
              <a:off x="7239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3" name="node03.text"/>
            <p:cNvSpPr/>
            <p:nvPr/>
          </p:nvSpPr>
          <p:spPr>
            <a:xfrm>
              <a:off x="8763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Identity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04"/>
          <p:cNvGrpSpPr/>
          <p:nvPr/>
        </p:nvGrpSpPr>
        <p:grpSpPr>
          <a:xfrm>
            <a:off x="723900" y="3086100"/>
            <a:ext cx="2514600" cy="127000"/>
            <a:chOff x="723900" y="3086100"/>
            <a:chExt cx="2514600" cy="127000"/>
          </a:xfrm>
        </p:grpSpPr>
        <p:sp>
          <p:nvSpPr>
            <p:cNvPr id="14" name="node04.text"/>
            <p:cNvSpPr/>
            <p:nvPr/>
          </p:nvSpPr>
          <p:spPr>
            <a:xfrm>
              <a:off x="7239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DUPLICATE RECORDS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9" name="node05"/>
          <p:cNvGrpSpPr/>
          <p:nvPr/>
        </p:nvGrpSpPr>
        <p:grpSpPr>
          <a:xfrm>
            <a:off x="723900" y="3314700"/>
            <a:ext cx="2514600" cy="305943"/>
            <a:chOff x="723900" y="3314700"/>
            <a:chExt cx="2514600" cy="305943"/>
          </a:xfrm>
        </p:grpSpPr>
        <p:sp>
          <p:nvSpPr>
            <p:cNvPr id="15" name="node05.text"/>
            <p:cNvSpPr/>
            <p:nvPr/>
          </p:nvSpPr>
          <p:spPr>
            <a:xfrm>
              <a:off x="7239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11% → 6%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0" name="node06"/>
          <p:cNvGrpSpPr/>
          <p:nvPr/>
        </p:nvGrpSpPr>
        <p:grpSpPr>
          <a:xfrm>
            <a:off x="723900" y="3886200"/>
            <a:ext cx="2514600" cy="127000"/>
            <a:chOff x="723900" y="3886200"/>
            <a:chExt cx="2514600" cy="127000"/>
          </a:xfrm>
        </p:grpSpPr>
        <p:sp>
          <p:nvSpPr>
            <p:cNvPr id="16" name="node06.text"/>
            <p:cNvSpPr/>
            <p:nvPr/>
          </p:nvSpPr>
          <p:spPr>
            <a:xfrm>
              <a:off x="7239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1" name="node07"/>
          <p:cNvGrpSpPr/>
          <p:nvPr/>
        </p:nvGrpSpPr>
        <p:grpSpPr>
          <a:xfrm>
            <a:off x="723900" y="4114800"/>
            <a:ext cx="2514600" cy="571500"/>
            <a:chOff x="723900" y="4114800"/>
            <a:chExt cx="2514600" cy="571500"/>
          </a:xfrm>
        </p:grpSpPr>
        <p:sp>
          <p:nvSpPr>
            <p:cNvPr id="17" name="node07.container"/>
            <p:cNvSpPr/>
            <p:nvPr/>
          </p:nvSpPr>
          <p:spPr>
            <a:xfrm>
              <a:off x="7239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" name="node07.label"/>
            <p:cNvSpPr/>
            <p:nvPr/>
          </p:nvSpPr>
          <p:spPr>
            <a:xfrm>
              <a:off x="8001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NOW · Q4 26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9" name="node07.title"/>
            <p:cNvSpPr/>
            <p:nvPr/>
          </p:nvSpPr>
          <p:spPr>
            <a:xfrm>
              <a:off x="8001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Master patient index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08"/>
          <p:cNvGrpSpPr/>
          <p:nvPr/>
        </p:nvGrpSpPr>
        <p:grpSpPr>
          <a:xfrm>
            <a:off x="723900" y="4800600"/>
            <a:ext cx="2514600" cy="571500"/>
            <a:chOff x="723900" y="4800600"/>
            <a:chExt cx="2514600" cy="571500"/>
          </a:xfrm>
        </p:grpSpPr>
        <p:sp>
          <p:nvSpPr>
            <p:cNvPr id="20" name="node08.container"/>
            <p:cNvSpPr/>
            <p:nvPr/>
          </p:nvSpPr>
          <p:spPr>
            <a:xfrm>
              <a:off x="723900" y="48006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1" name="node08.label"/>
            <p:cNvSpPr/>
            <p:nvPr/>
          </p:nvSpPr>
          <p:spPr>
            <a:xfrm>
              <a:off x="8001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Q1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08.title"/>
            <p:cNvSpPr/>
            <p:nvPr/>
          </p:nvSpPr>
          <p:spPr>
            <a:xfrm>
              <a:off x="8001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Single sign-in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09"/>
          <p:cNvGrpSpPr/>
          <p:nvPr/>
        </p:nvGrpSpPr>
        <p:grpSpPr>
          <a:xfrm>
            <a:off x="4681779" y="2286000"/>
            <a:ext cx="85242" cy="228600"/>
            <a:chOff x="4681779" y="2286000"/>
            <a:chExt cx="85242" cy="228600"/>
          </a:xfrm>
        </p:grpSpPr>
        <p:sp>
          <p:nvSpPr>
            <p:cNvPr id="23" name="node09.segment-1"/>
            <p:cNvSpPr/>
            <p:nvPr/>
          </p:nvSpPr>
          <p:spPr>
            <a:xfrm>
              <a:off x="47244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9.head-end.0"/>
            <p:cNvSpPr/>
            <p:nvPr/>
          </p:nvSpPr>
          <p:spPr>
            <a:xfrm>
              <a:off x="46817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5" name="node09.head-end.1"/>
            <p:cNvSpPr/>
            <p:nvPr/>
          </p:nvSpPr>
          <p:spPr>
            <a:xfrm>
              <a:off x="47244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74" name="node10"/>
          <p:cNvGrpSpPr/>
          <p:nvPr/>
        </p:nvGrpSpPr>
        <p:grpSpPr>
          <a:xfrm>
            <a:off x="3467100" y="2514600"/>
            <a:ext cx="2514600" cy="457200"/>
            <a:chOff x="3467100" y="2514600"/>
            <a:chExt cx="2514600" cy="457200"/>
          </a:xfrm>
        </p:grpSpPr>
        <p:sp>
          <p:nvSpPr>
            <p:cNvPr id="26" name="node10.surface"/>
            <p:cNvSpPr/>
            <p:nvPr/>
          </p:nvSpPr>
          <p:spPr>
            <a:xfrm>
              <a:off x="34671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10.text"/>
            <p:cNvSpPr/>
            <p:nvPr/>
          </p:nvSpPr>
          <p:spPr>
            <a:xfrm>
              <a:off x="36195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Booking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11"/>
          <p:cNvGrpSpPr/>
          <p:nvPr/>
        </p:nvGrpSpPr>
        <p:grpSpPr>
          <a:xfrm>
            <a:off x="3467100" y="3086100"/>
            <a:ext cx="2514600" cy="127000"/>
            <a:chOff x="3467100" y="3086100"/>
            <a:chExt cx="2514600" cy="127000"/>
          </a:xfrm>
        </p:grpSpPr>
        <p:sp>
          <p:nvSpPr>
            <p:cNvPr id="28" name="node11.text"/>
            <p:cNvSpPr/>
            <p:nvPr/>
          </p:nvSpPr>
          <p:spPr>
            <a:xfrm>
              <a:off x="34671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VISITS BOOKED ONLINE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6" name="node12"/>
          <p:cNvGrpSpPr/>
          <p:nvPr/>
        </p:nvGrpSpPr>
        <p:grpSpPr>
          <a:xfrm>
            <a:off x="3467100" y="3314700"/>
            <a:ext cx="2514600" cy="305943"/>
            <a:chOff x="3467100" y="3314700"/>
            <a:chExt cx="2514600" cy="305943"/>
          </a:xfrm>
        </p:grpSpPr>
        <p:sp>
          <p:nvSpPr>
            <p:cNvPr id="29" name="node12.text"/>
            <p:cNvSpPr/>
            <p:nvPr/>
          </p:nvSpPr>
          <p:spPr>
            <a:xfrm>
              <a:off x="34671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8% → 60%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7" name="node13"/>
          <p:cNvGrpSpPr/>
          <p:nvPr/>
        </p:nvGrpSpPr>
        <p:grpSpPr>
          <a:xfrm>
            <a:off x="3467100" y="3886200"/>
            <a:ext cx="2514600" cy="127000"/>
            <a:chOff x="3467100" y="3886200"/>
            <a:chExt cx="2514600" cy="127000"/>
          </a:xfrm>
        </p:grpSpPr>
        <p:sp>
          <p:nvSpPr>
            <p:cNvPr id="30" name="node13.text"/>
            <p:cNvSpPr/>
            <p:nvPr/>
          </p:nvSpPr>
          <p:spPr>
            <a:xfrm>
              <a:off x="34671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8" name="node14"/>
          <p:cNvGrpSpPr/>
          <p:nvPr/>
        </p:nvGrpSpPr>
        <p:grpSpPr>
          <a:xfrm>
            <a:off x="3467100" y="4114800"/>
            <a:ext cx="2514600" cy="571500"/>
            <a:chOff x="3467100" y="4114800"/>
            <a:chExt cx="2514600" cy="571500"/>
          </a:xfrm>
        </p:grpSpPr>
        <p:sp>
          <p:nvSpPr>
            <p:cNvPr id="31" name="node14.container"/>
            <p:cNvSpPr/>
            <p:nvPr/>
          </p:nvSpPr>
          <p:spPr>
            <a:xfrm>
              <a:off x="34671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2" name="node14.label"/>
            <p:cNvSpPr/>
            <p:nvPr/>
          </p:nvSpPr>
          <p:spPr>
            <a:xfrm>
              <a:off x="35433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NOW · Q1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3" name="node14.title"/>
            <p:cNvSpPr/>
            <p:nvPr/>
          </p:nvSpPr>
          <p:spPr>
            <a:xfrm>
              <a:off x="35433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Self-scheduling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15"/>
          <p:cNvGrpSpPr/>
          <p:nvPr/>
        </p:nvGrpSpPr>
        <p:grpSpPr>
          <a:xfrm>
            <a:off x="3467100" y="4800600"/>
            <a:ext cx="2514600" cy="571500"/>
            <a:chOff x="3467100" y="4800600"/>
            <a:chExt cx="2514600" cy="571500"/>
          </a:xfrm>
        </p:grpSpPr>
        <p:sp>
          <p:nvSpPr>
            <p:cNvPr id="34" name="node15.container"/>
            <p:cNvSpPr/>
            <p:nvPr/>
          </p:nvSpPr>
          <p:spPr>
            <a:xfrm>
              <a:off x="3473450" y="4806950"/>
              <a:ext cx="2501900" cy="55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5" name="node15.label"/>
            <p:cNvSpPr/>
            <p:nvPr/>
          </p:nvSpPr>
          <p:spPr>
            <a:xfrm>
              <a:off x="35433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LATER · 2028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15.title"/>
            <p:cNvSpPr/>
            <p:nvPr/>
          </p:nvSpPr>
          <p:spPr>
            <a:xfrm>
              <a:off x="35433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Multilingual booking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16"/>
          <p:cNvGrpSpPr/>
          <p:nvPr/>
        </p:nvGrpSpPr>
        <p:grpSpPr>
          <a:xfrm>
            <a:off x="7424979" y="2286000"/>
            <a:ext cx="85242" cy="228600"/>
            <a:chOff x="7424979" y="2286000"/>
            <a:chExt cx="85242" cy="228600"/>
          </a:xfrm>
        </p:grpSpPr>
        <p:sp>
          <p:nvSpPr>
            <p:cNvPr id="37" name="node16.segment-1"/>
            <p:cNvSpPr/>
            <p:nvPr/>
          </p:nvSpPr>
          <p:spPr>
            <a:xfrm>
              <a:off x="74676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8" name="node16.head-end.0"/>
            <p:cNvSpPr/>
            <p:nvPr/>
          </p:nvSpPr>
          <p:spPr>
            <a:xfrm>
              <a:off x="74249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9" name="node16.head-end.1"/>
            <p:cNvSpPr/>
            <p:nvPr/>
          </p:nvSpPr>
          <p:spPr>
            <a:xfrm>
              <a:off x="74676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81" name="node17"/>
          <p:cNvGrpSpPr/>
          <p:nvPr/>
        </p:nvGrpSpPr>
        <p:grpSpPr>
          <a:xfrm>
            <a:off x="6210300" y="2514600"/>
            <a:ext cx="2514600" cy="457200"/>
            <a:chOff x="6210300" y="2514600"/>
            <a:chExt cx="2514600" cy="457200"/>
          </a:xfrm>
        </p:grpSpPr>
        <p:sp>
          <p:nvSpPr>
            <p:cNvPr id="40" name="node17.surface"/>
            <p:cNvSpPr/>
            <p:nvPr/>
          </p:nvSpPr>
          <p:spPr>
            <a:xfrm>
              <a:off x="62103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1" name="node17.text"/>
            <p:cNvSpPr/>
            <p:nvPr/>
          </p:nvSpPr>
          <p:spPr>
            <a:xfrm>
              <a:off x="63627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Readiness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2" name="node18"/>
          <p:cNvGrpSpPr/>
          <p:nvPr/>
        </p:nvGrpSpPr>
        <p:grpSpPr>
          <a:xfrm>
            <a:off x="6210300" y="3086100"/>
            <a:ext cx="2514600" cy="127000"/>
            <a:chOff x="6210300" y="3086100"/>
            <a:chExt cx="2514600" cy="127000"/>
          </a:xfrm>
        </p:grpSpPr>
        <p:sp>
          <p:nvSpPr>
            <p:cNvPr id="42" name="node18.text"/>
            <p:cNvSpPr/>
            <p:nvPr/>
          </p:nvSpPr>
          <p:spPr>
            <a:xfrm>
              <a:off x="62103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INTAKE DONE BEFORE ARRIVAL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3" name="node19"/>
          <p:cNvGrpSpPr/>
          <p:nvPr/>
        </p:nvGrpSpPr>
        <p:grpSpPr>
          <a:xfrm>
            <a:off x="6210300" y="3314700"/>
            <a:ext cx="2514600" cy="305943"/>
            <a:chOff x="6210300" y="3314700"/>
            <a:chExt cx="2514600" cy="305943"/>
          </a:xfrm>
        </p:grpSpPr>
        <p:sp>
          <p:nvSpPr>
            <p:cNvPr id="43" name="node19.text"/>
            <p:cNvSpPr/>
            <p:nvPr/>
          </p:nvSpPr>
          <p:spPr>
            <a:xfrm>
              <a:off x="62103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15% → 70%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4" name="node20"/>
          <p:cNvGrpSpPr/>
          <p:nvPr/>
        </p:nvGrpSpPr>
        <p:grpSpPr>
          <a:xfrm>
            <a:off x="6210300" y="3886200"/>
            <a:ext cx="2514600" cy="127000"/>
            <a:chOff x="6210300" y="3886200"/>
            <a:chExt cx="2514600" cy="127000"/>
          </a:xfrm>
        </p:grpSpPr>
        <p:sp>
          <p:nvSpPr>
            <p:cNvPr id="44" name="node20.text"/>
            <p:cNvSpPr/>
            <p:nvPr/>
          </p:nvSpPr>
          <p:spPr>
            <a:xfrm>
              <a:off x="62103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21"/>
          <p:cNvGrpSpPr/>
          <p:nvPr/>
        </p:nvGrpSpPr>
        <p:grpSpPr>
          <a:xfrm>
            <a:off x="6210300" y="4114800"/>
            <a:ext cx="2514600" cy="571500"/>
            <a:chOff x="6210300" y="4114800"/>
            <a:chExt cx="2514600" cy="571500"/>
          </a:xfrm>
        </p:grpSpPr>
        <p:sp>
          <p:nvSpPr>
            <p:cNvPr id="45" name="node21.container"/>
            <p:cNvSpPr/>
            <p:nvPr/>
          </p:nvSpPr>
          <p:spPr>
            <a:xfrm>
              <a:off x="62103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6" name="node21.label"/>
            <p:cNvSpPr/>
            <p:nvPr/>
          </p:nvSpPr>
          <p:spPr>
            <a:xfrm>
              <a:off x="62865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Q2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21.title"/>
            <p:cNvSpPr/>
            <p:nvPr/>
          </p:nvSpPr>
          <p:spPr>
            <a:xfrm>
              <a:off x="62865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Digital intake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22"/>
          <p:cNvGrpSpPr/>
          <p:nvPr/>
        </p:nvGrpSpPr>
        <p:grpSpPr>
          <a:xfrm>
            <a:off x="6210300" y="4800600"/>
            <a:ext cx="2514600" cy="571500"/>
            <a:chOff x="6210300" y="4800600"/>
            <a:chExt cx="2514600" cy="571500"/>
          </a:xfrm>
        </p:grpSpPr>
        <p:sp>
          <p:nvSpPr>
            <p:cNvPr id="48" name="node22.container"/>
            <p:cNvSpPr/>
            <p:nvPr/>
          </p:nvSpPr>
          <p:spPr>
            <a:xfrm>
              <a:off x="6210300" y="48006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22.label"/>
            <p:cNvSpPr/>
            <p:nvPr/>
          </p:nvSpPr>
          <p:spPr>
            <a:xfrm>
              <a:off x="62865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Q3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0" name="node22.title"/>
            <p:cNvSpPr/>
            <p:nvPr/>
          </p:nvSpPr>
          <p:spPr>
            <a:xfrm>
              <a:off x="62865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Smart reminders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23"/>
          <p:cNvGrpSpPr/>
          <p:nvPr/>
        </p:nvGrpSpPr>
        <p:grpSpPr>
          <a:xfrm>
            <a:off x="10168179" y="2286000"/>
            <a:ext cx="85242" cy="228600"/>
            <a:chOff x="10168179" y="2286000"/>
            <a:chExt cx="85242" cy="228600"/>
          </a:xfrm>
        </p:grpSpPr>
        <p:sp>
          <p:nvSpPr>
            <p:cNvPr id="51" name="node23.segment-1"/>
            <p:cNvSpPr/>
            <p:nvPr/>
          </p:nvSpPr>
          <p:spPr>
            <a:xfrm>
              <a:off x="10210800" y="22860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2" name="node23.head-end.0"/>
            <p:cNvSpPr/>
            <p:nvPr/>
          </p:nvSpPr>
          <p:spPr>
            <a:xfrm>
              <a:off x="10168179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42621" y="780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3" name="node23.head-end.1"/>
            <p:cNvSpPr/>
            <p:nvPr/>
          </p:nvSpPr>
          <p:spPr>
            <a:xfrm>
              <a:off x="10210800" y="2436583"/>
              <a:ext cx="42621" cy="78017"/>
            </a:xfrm>
            <a:custGeom>
              <a:avLst/>
              <a:gdLst/>
              <a:ahLst/>
              <a:cxnLst/>
              <a:rect l="l" t="t" r="r" b="b"/>
              <a:pathLst>
                <a:path w="42621" h="78017">
                  <a:moveTo>
                    <a:pt x="0" y="78017"/>
                  </a:moveTo>
                  <a:lnTo>
                    <a:pt x="42621" y="0"/>
                  </a:lnTo>
                </a:path>
              </a:pathLst>
            </a:custGeom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88" name="node24"/>
          <p:cNvGrpSpPr/>
          <p:nvPr/>
        </p:nvGrpSpPr>
        <p:grpSpPr>
          <a:xfrm>
            <a:off x="8953500" y="2514600"/>
            <a:ext cx="2514600" cy="457200"/>
            <a:chOff x="8953500" y="2514600"/>
            <a:chExt cx="2514600" cy="457200"/>
          </a:xfrm>
        </p:grpSpPr>
        <p:sp>
          <p:nvSpPr>
            <p:cNvPr id="54" name="node24.surface"/>
            <p:cNvSpPr/>
            <p:nvPr/>
          </p:nvSpPr>
          <p:spPr>
            <a:xfrm>
              <a:off x="8953500" y="2514600"/>
              <a:ext cx="2514600" cy="4572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5" name="node24.text"/>
            <p:cNvSpPr/>
            <p:nvPr/>
          </p:nvSpPr>
          <p:spPr>
            <a:xfrm>
              <a:off x="9105900" y="262890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Price clarity input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9" name="node25"/>
          <p:cNvGrpSpPr/>
          <p:nvPr/>
        </p:nvGrpSpPr>
        <p:grpSpPr>
          <a:xfrm>
            <a:off x="8953500" y="3086100"/>
            <a:ext cx="2514600" cy="127000"/>
            <a:chOff x="8953500" y="3086100"/>
            <a:chExt cx="2514600" cy="127000"/>
          </a:xfrm>
        </p:grpSpPr>
        <p:sp>
          <p:nvSpPr>
            <p:cNvPr id="56" name="node25.text"/>
            <p:cNvSpPr/>
            <p:nvPr/>
          </p:nvSpPr>
          <p:spPr>
            <a:xfrm>
              <a:off x="8953500" y="30861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FRONT-END DENIALS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0" name="node26"/>
          <p:cNvGrpSpPr/>
          <p:nvPr/>
        </p:nvGrpSpPr>
        <p:grpSpPr>
          <a:xfrm>
            <a:off x="8953500" y="3314700"/>
            <a:ext cx="2514600" cy="305943"/>
            <a:chOff x="8953500" y="3314700"/>
            <a:chExt cx="2514600" cy="305943"/>
          </a:xfrm>
        </p:grpSpPr>
        <p:sp>
          <p:nvSpPr>
            <p:cNvPr id="57" name="node26.text"/>
            <p:cNvSpPr/>
            <p:nvPr/>
          </p:nvSpPr>
          <p:spPr>
            <a:xfrm>
              <a:off x="8953500" y="3314700"/>
              <a:ext cx="2514600" cy="305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2400" spc="-48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9% → 5%</a:t>
              </a:r>
              <a:endPara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91" name="node27"/>
          <p:cNvGrpSpPr/>
          <p:nvPr/>
        </p:nvGrpSpPr>
        <p:grpSpPr>
          <a:xfrm>
            <a:off x="8953500" y="3886200"/>
            <a:ext cx="2514600" cy="127000"/>
            <a:chOff x="8953500" y="3886200"/>
            <a:chExt cx="2514600" cy="127000"/>
          </a:xfrm>
        </p:grpSpPr>
        <p:sp>
          <p:nvSpPr>
            <p:cNvPr id="58" name="node27.text"/>
            <p:cNvSpPr/>
            <p:nvPr/>
          </p:nvSpPr>
          <p:spPr>
            <a:xfrm>
              <a:off x="8953500" y="3886200"/>
              <a:ext cx="25146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BETS THAT MOVE IT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92" name="node28"/>
          <p:cNvGrpSpPr/>
          <p:nvPr/>
        </p:nvGrpSpPr>
        <p:grpSpPr>
          <a:xfrm>
            <a:off x="8953500" y="4114800"/>
            <a:ext cx="2514600" cy="571500"/>
            <a:chOff x="8953500" y="4114800"/>
            <a:chExt cx="2514600" cy="571500"/>
          </a:xfrm>
        </p:grpSpPr>
        <p:sp>
          <p:nvSpPr>
            <p:cNvPr id="59" name="node28.container"/>
            <p:cNvSpPr/>
            <p:nvPr/>
          </p:nvSpPr>
          <p:spPr>
            <a:xfrm>
              <a:off x="8953500" y="4114800"/>
              <a:ext cx="25146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0" name="node28.label"/>
            <p:cNvSpPr/>
            <p:nvPr/>
          </p:nvSpPr>
          <p:spPr>
            <a:xfrm>
              <a:off x="9029700" y="41910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· Q2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1" name="node28.title"/>
            <p:cNvSpPr/>
            <p:nvPr/>
          </p:nvSpPr>
          <p:spPr>
            <a:xfrm>
              <a:off x="9029700" y="43942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Eligibility checks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3" name="node29"/>
          <p:cNvGrpSpPr/>
          <p:nvPr/>
        </p:nvGrpSpPr>
        <p:grpSpPr>
          <a:xfrm>
            <a:off x="8953500" y="4800600"/>
            <a:ext cx="2514600" cy="571500"/>
            <a:chOff x="8953500" y="4800600"/>
            <a:chExt cx="2514600" cy="571500"/>
          </a:xfrm>
        </p:grpSpPr>
        <p:sp>
          <p:nvSpPr>
            <p:cNvPr id="62" name="node29.container"/>
            <p:cNvSpPr/>
            <p:nvPr/>
          </p:nvSpPr>
          <p:spPr>
            <a:xfrm>
              <a:off x="8959850" y="4806950"/>
              <a:ext cx="2501900" cy="55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63" name="node29.label"/>
            <p:cNvSpPr/>
            <p:nvPr/>
          </p:nvSpPr>
          <p:spPr>
            <a:xfrm>
              <a:off x="9029700" y="4876800"/>
              <a:ext cx="23622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LATER · Q3 27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4" name="node29.title"/>
            <p:cNvSpPr/>
            <p:nvPr/>
          </p:nvSpPr>
          <p:spPr>
            <a:xfrm>
              <a:off x="9029700" y="5080000"/>
              <a:ext cx="2362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estimates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Key results by quarter, each tied to its initiative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0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2159000"/>
                  <a:gridCol w="2921000"/>
                  <a:gridCol w="2286000"/>
                  <a:gridCol w="1651000"/>
                  <a:gridCol w="1346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KEY RESULT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INITIATIVE MAPPED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CONFIDENCE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Know every patient once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Duplicate records 11% → 9%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data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High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Sites on one sign-in 0 → 2 of 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sign-in, pilot sites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digital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Book without a call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Visits booked online 8% → 20%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Self-scheduling, primary care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patient access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High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Sites on one sign-in 2 → 4 of 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sign-in, rollout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digital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Arrive ready for the visit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done before arrival 15% → 40%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Director of registration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No-show rate 11% → 9%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Smart reminders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patient access officer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c.status-mark"/>
            <p:cNvSpPr/>
            <p:nvPr/>
          </p:nvSpPr>
          <p:spPr>
            <a:xfrm>
              <a:off x="10280650" y="2216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2.c.status-mark"/>
            <p:cNvSpPr/>
            <p:nvPr/>
          </p:nvSpPr>
          <p:spPr>
            <a:xfrm>
              <a:off x="10280650" y="28257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c.status-mark"/>
            <p:cNvSpPr/>
            <p:nvPr/>
          </p:nvSpPr>
          <p:spPr>
            <a:xfrm>
              <a:off x="10280650" y="34353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4.c.status-mark"/>
            <p:cNvSpPr/>
            <p:nvPr/>
          </p:nvSpPr>
          <p:spPr>
            <a:xfrm>
              <a:off x="10280650" y="40449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.item-005.c.status-mark"/>
            <p:cNvSpPr/>
            <p:nvPr/>
          </p:nvSpPr>
          <p:spPr>
            <a:xfrm>
              <a:off x="10280650" y="46545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6.c.status-mark"/>
            <p:cNvSpPr/>
            <p:nvPr/>
          </p:nvSpPr>
          <p:spPr>
            <a:xfrm>
              <a:off x="10280650" y="52641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4" name="node01.row-group.source-001.fill"/>
            <p:cNvSpPr/>
            <p:nvPr/>
          </p:nvSpPr>
          <p:spPr>
            <a:xfrm>
              <a:off x="723900" y="1974850"/>
              <a:ext cx="304800" cy="1181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1.row-group.source-001.label"/>
            <p:cNvSpPr/>
            <p:nvPr/>
          </p:nvSpPr>
          <p:spPr>
            <a:xfrm rot="-5400000">
              <a:off x="285750" y="24955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Q4 26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-group.source-002.fill"/>
            <p:cNvSpPr/>
            <p:nvPr/>
          </p:nvSpPr>
          <p:spPr>
            <a:xfrm>
              <a:off x="723900" y="3194050"/>
              <a:ext cx="304800" cy="11811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7" name="node01.row-group.source-002.label"/>
            <p:cNvSpPr/>
            <p:nvPr/>
          </p:nvSpPr>
          <p:spPr>
            <a:xfrm rot="-5400000">
              <a:off x="285750" y="37147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Q1 27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-group.source-003.fill"/>
            <p:cNvSpPr/>
            <p:nvPr/>
          </p:nvSpPr>
          <p:spPr>
            <a:xfrm>
              <a:off x="723900" y="4413250"/>
              <a:ext cx="304800" cy="1181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9" name="node01.row-group.source-003.label"/>
            <p:cNvSpPr/>
            <p:nvPr/>
          </p:nvSpPr>
          <p:spPr>
            <a:xfrm rot="-5400000">
              <a:off x="285750" y="4933950"/>
              <a:ext cx="11811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1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Q2 27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Every roadmap item is an outcome with a target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7" name="node01"/>
          <p:cNvGrpSpPr/>
          <p:nvPr/>
        </p:nvGrpSpPr>
        <p:grpSpPr>
          <a:xfrm>
            <a:off x="723900" y="1600200"/>
            <a:ext cx="3657600" cy="457200"/>
            <a:chOff x="723900" y="1600200"/>
            <a:chExt cx="3657600" cy="4572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505200" y="0"/>
                  </a:lnTo>
                  <a:lnTo>
                    <a:pt x="3657600" y="228600"/>
                  </a:lnTo>
                  <a:lnTo>
                    <a:pt x="3505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695450"/>
              <a:ext cx="3276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Now · Q4 26 to Q1 27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8" name="node02"/>
          <p:cNvGrpSpPr/>
          <p:nvPr/>
        </p:nvGrpSpPr>
        <p:grpSpPr>
          <a:xfrm>
            <a:off x="723900" y="2286000"/>
            <a:ext cx="3429000" cy="1600200"/>
            <a:chOff x="723900" y="2286000"/>
            <a:chExt cx="3429000" cy="1600200"/>
          </a:xfrm>
        </p:grpSpPr>
        <p:sp>
          <p:nvSpPr>
            <p:cNvPr id="9" name="node02.container"/>
            <p:cNvSpPr/>
            <p:nvPr/>
          </p:nvSpPr>
          <p:spPr>
            <a:xfrm>
              <a:off x="723900" y="22860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" name="node02.label"/>
            <p:cNvSpPr/>
            <p:nvPr/>
          </p:nvSpPr>
          <p:spPr>
            <a:xfrm>
              <a:off x="838200" y="24003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11% → 6% DUPLICATE RECORDS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1" name="node02.title"/>
            <p:cNvSpPr/>
            <p:nvPr/>
          </p:nvSpPr>
          <p:spPr>
            <a:xfrm>
              <a:off x="838200" y="26162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record per patient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2.body.item-001.bullets"/>
            <p:cNvSpPr/>
            <p:nvPr/>
          </p:nvSpPr>
          <p:spPr>
            <a:xfrm>
              <a:off x="838200" y="2984500"/>
              <a:ext cx="32004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Master patient index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Match rules at six sites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Duplicate review queue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9" name="node03"/>
          <p:cNvGrpSpPr/>
          <p:nvPr/>
        </p:nvGrpSpPr>
        <p:grpSpPr>
          <a:xfrm>
            <a:off x="723900" y="4114800"/>
            <a:ext cx="3429000" cy="1600200"/>
            <a:chOff x="723900" y="4114800"/>
            <a:chExt cx="3429000" cy="1600200"/>
          </a:xfrm>
        </p:grpSpPr>
        <p:sp>
          <p:nvSpPr>
            <p:cNvPr id="13" name="node03.container"/>
            <p:cNvSpPr/>
            <p:nvPr/>
          </p:nvSpPr>
          <p:spPr>
            <a:xfrm>
              <a:off x="723900" y="41148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" name="node03.label"/>
            <p:cNvSpPr/>
            <p:nvPr/>
          </p:nvSpPr>
          <p:spPr>
            <a:xfrm>
              <a:off x="838200" y="42291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0 → 6 OF 6 SITES ON ONE SIGN-IN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5" name="node03.title"/>
            <p:cNvSpPr/>
            <p:nvPr/>
          </p:nvSpPr>
          <p:spPr>
            <a:xfrm>
              <a:off x="838200" y="44450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identity everywhere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3.body.item-001.bullets"/>
            <p:cNvSpPr/>
            <p:nvPr/>
          </p:nvSpPr>
          <p:spPr>
            <a:xfrm>
              <a:off x="838200" y="4813300"/>
              <a:ext cx="32004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Staff identity federation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Patient app login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0" name="node04"/>
          <p:cNvGrpSpPr/>
          <p:nvPr/>
        </p:nvGrpSpPr>
        <p:grpSpPr>
          <a:xfrm>
            <a:off x="4381500" y="1600200"/>
            <a:ext cx="3657600" cy="457200"/>
            <a:chOff x="4381500" y="1600200"/>
            <a:chExt cx="3657600" cy="457200"/>
          </a:xfrm>
        </p:grpSpPr>
        <p:sp>
          <p:nvSpPr>
            <p:cNvPr id="17" name="node04.surface"/>
            <p:cNvSpPr/>
            <p:nvPr/>
          </p:nvSpPr>
          <p:spPr>
            <a:xfrm>
              <a:off x="4381500" y="160020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505200" y="0"/>
                  </a:lnTo>
                  <a:lnTo>
                    <a:pt x="3657600" y="228600"/>
                  </a:lnTo>
                  <a:lnTo>
                    <a:pt x="35052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CED7E6"/>
            </a:solidFill>
            <a:ln>
              <a:noFill/>
            </a:ln>
          </p:spPr>
        </p:sp>
        <p:sp>
          <p:nvSpPr>
            <p:cNvPr id="18" name="node04.text"/>
            <p:cNvSpPr/>
            <p:nvPr/>
          </p:nvSpPr>
          <p:spPr>
            <a:xfrm>
              <a:off x="4686300" y="1695450"/>
              <a:ext cx="312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Next · Q2 to Q3 27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1" name="node05"/>
          <p:cNvGrpSpPr/>
          <p:nvPr/>
        </p:nvGrpSpPr>
        <p:grpSpPr>
          <a:xfrm>
            <a:off x="4381500" y="2286000"/>
            <a:ext cx="3429000" cy="1600200"/>
            <a:chOff x="4381500" y="2286000"/>
            <a:chExt cx="3429000" cy="1600200"/>
          </a:xfrm>
        </p:grpSpPr>
        <p:sp>
          <p:nvSpPr>
            <p:cNvPr id="19" name="node05.container"/>
            <p:cNvSpPr/>
            <p:nvPr/>
          </p:nvSpPr>
          <p:spPr>
            <a:xfrm>
              <a:off x="4381500" y="22860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0" name="node05.label"/>
            <p:cNvSpPr/>
            <p:nvPr/>
          </p:nvSpPr>
          <p:spPr>
            <a:xfrm>
              <a:off x="4495800" y="24003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8% → 60% VISITS BOOKED ONLINE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1" name="node05.title"/>
            <p:cNvSpPr/>
            <p:nvPr/>
          </p:nvSpPr>
          <p:spPr>
            <a:xfrm>
              <a:off x="4495800" y="26162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book without a call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5.body.item-001.bullets"/>
            <p:cNvSpPr/>
            <p:nvPr/>
          </p:nvSpPr>
          <p:spPr>
            <a:xfrm>
              <a:off x="4495800" y="2984500"/>
              <a:ext cx="32004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Self-scheduling, primary care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Digital intake before arrival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Waitlist and cancellations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2" name="node06"/>
          <p:cNvGrpSpPr/>
          <p:nvPr/>
        </p:nvGrpSpPr>
        <p:grpSpPr>
          <a:xfrm>
            <a:off x="4381500" y="4114800"/>
            <a:ext cx="3429000" cy="1600200"/>
            <a:chOff x="4381500" y="4114800"/>
            <a:chExt cx="3429000" cy="1600200"/>
          </a:xfrm>
        </p:grpSpPr>
        <p:sp>
          <p:nvSpPr>
            <p:cNvPr id="23" name="node06.container"/>
            <p:cNvSpPr/>
            <p:nvPr/>
          </p:nvSpPr>
          <p:spPr>
            <a:xfrm>
              <a:off x="4381500" y="4114800"/>
              <a:ext cx="34290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4" name="node06.label"/>
            <p:cNvSpPr/>
            <p:nvPr/>
          </p:nvSpPr>
          <p:spPr>
            <a:xfrm>
              <a:off x="4495800" y="42291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11% → 6% NO-SHOW RATE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5" name="node06.title"/>
            <p:cNvSpPr/>
            <p:nvPr/>
          </p:nvSpPr>
          <p:spPr>
            <a:xfrm>
              <a:off x="4495800" y="44450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Fewer visits lost to forgetting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6.body.item-001.bullets"/>
            <p:cNvSpPr/>
            <p:nvPr/>
          </p:nvSpPr>
          <p:spPr>
            <a:xfrm>
              <a:off x="4495800" y="4813300"/>
              <a:ext cx="32004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Smart reminders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Care plans in the app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Reminder channel choice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3" name="node07"/>
          <p:cNvGrpSpPr/>
          <p:nvPr/>
        </p:nvGrpSpPr>
        <p:grpSpPr>
          <a:xfrm>
            <a:off x="8039100" y="1600200"/>
            <a:ext cx="3429000" cy="457200"/>
            <a:chOff x="8039100" y="1600200"/>
            <a:chExt cx="3429000" cy="457200"/>
          </a:xfrm>
        </p:grpSpPr>
        <p:sp>
          <p:nvSpPr>
            <p:cNvPr id="27" name="node07.surface"/>
            <p:cNvSpPr/>
            <p:nvPr/>
          </p:nvSpPr>
          <p:spPr>
            <a:xfrm>
              <a:off x="8039100" y="1600200"/>
              <a:ext cx="3429000" cy="457200"/>
            </a:xfrm>
            <a:custGeom>
              <a:avLst/>
              <a:gdLst/>
              <a:ahLst/>
              <a:cxnLst/>
              <a:rect l="l" t="t" r="r" b="b"/>
              <a:pathLst>
                <a:path w="3429000" h="457200">
                  <a:moveTo>
                    <a:pt x="0" y="0"/>
                  </a:moveTo>
                  <a:lnTo>
                    <a:pt x="3276600" y="0"/>
                  </a:lnTo>
                  <a:lnTo>
                    <a:pt x="3429000" y="228600"/>
                  </a:lnTo>
                  <a:lnTo>
                    <a:pt x="3276600" y="457200"/>
                  </a:lnTo>
                  <a:lnTo>
                    <a:pt x="0" y="457200"/>
                  </a:lnTo>
                  <a:lnTo>
                    <a:pt x="152400" y="22860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</p:spPr>
        </p:sp>
        <p:sp>
          <p:nvSpPr>
            <p:cNvPr id="28" name="node07.text"/>
            <p:cNvSpPr/>
            <p:nvPr/>
          </p:nvSpPr>
          <p:spPr>
            <a:xfrm>
              <a:off x="8343900" y="1695450"/>
              <a:ext cx="2895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Later · Q4 27 and 2028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4" name="node08"/>
          <p:cNvGrpSpPr/>
          <p:nvPr/>
        </p:nvGrpSpPr>
        <p:grpSpPr>
          <a:xfrm>
            <a:off x="8039100" y="2286000"/>
            <a:ext cx="3429000" cy="1600200"/>
            <a:chOff x="8039100" y="2286000"/>
            <a:chExt cx="3429000" cy="1600200"/>
          </a:xfrm>
        </p:grpSpPr>
        <p:sp>
          <p:nvSpPr>
            <p:cNvPr id="29" name="node08.container"/>
            <p:cNvSpPr/>
            <p:nvPr/>
          </p:nvSpPr>
          <p:spPr>
            <a:xfrm>
              <a:off x="8045450" y="2292350"/>
              <a:ext cx="34163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0" name="node08.label"/>
            <p:cNvSpPr/>
            <p:nvPr/>
          </p:nvSpPr>
          <p:spPr>
            <a:xfrm>
              <a:off x="8153400" y="24003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9% → 5% FRONT-END DENIALS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1" name="node08.title"/>
            <p:cNvSpPr/>
            <p:nvPr/>
          </p:nvSpPr>
          <p:spPr>
            <a:xfrm>
              <a:off x="8153400" y="26162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known before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8.body.item-001.bullets"/>
            <p:cNvSpPr/>
            <p:nvPr/>
          </p:nvSpPr>
          <p:spPr>
            <a:xfrm>
              <a:off x="8153400" y="2984500"/>
              <a:ext cx="32004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Eligibility checks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Payment plans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5" name="node09"/>
          <p:cNvGrpSpPr/>
          <p:nvPr/>
        </p:nvGrpSpPr>
        <p:grpSpPr>
          <a:xfrm>
            <a:off x="8039100" y="4114800"/>
            <a:ext cx="3429000" cy="1600200"/>
            <a:chOff x="8039100" y="4114800"/>
            <a:chExt cx="3429000" cy="1600200"/>
          </a:xfrm>
        </p:grpSpPr>
        <p:sp>
          <p:nvSpPr>
            <p:cNvPr id="33" name="node09.container"/>
            <p:cNvSpPr/>
            <p:nvPr/>
          </p:nvSpPr>
          <p:spPr>
            <a:xfrm>
              <a:off x="8045450" y="4121150"/>
              <a:ext cx="34163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34" name="node09.label"/>
            <p:cNvSpPr/>
            <p:nvPr/>
          </p:nvSpPr>
          <p:spPr>
            <a:xfrm>
              <a:off x="8153400" y="4229100"/>
              <a:ext cx="3200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KPI · 61% → 85% REFERRALS COMPLETED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5" name="node09.title"/>
            <p:cNvSpPr/>
            <p:nvPr/>
          </p:nvSpPr>
          <p:spPr>
            <a:xfrm>
              <a:off x="8153400" y="4445000"/>
              <a:ext cx="3200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Referrals followed to the visit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9.body.item-001.bullets"/>
            <p:cNvSpPr/>
            <p:nvPr/>
          </p:nvSpPr>
          <p:spPr>
            <a:xfrm>
              <a:off x="8153400" y="4813300"/>
              <a:ext cx="3200400" cy="72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Multilingual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 marL="152400" indent="-152400">
                <a:lnSpc>
                  <a:spcPts val="17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70154"/>
                </a:buClr>
                <a:buSzPts val="1038"/>
                <a:buFont typeface="Wingdings" charset="2"/>
                <a:buChar char=""/>
                <a:def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defRPr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 xml:space="preserve">Caregiver proxy access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Strategy on a page: the digital front door to 2028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8" name="node01"/>
          <p:cNvGrpSpPr/>
          <p:nvPr/>
        </p:nvGrpSpPr>
        <p:grpSpPr>
          <a:xfrm>
            <a:off x="723900" y="1600200"/>
            <a:ext cx="10744200" cy="457200"/>
            <a:chOff x="723900" y="1600200"/>
            <a:chExt cx="10744200" cy="4572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10744200" cy="457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695450"/>
              <a:ext cx="10439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Every Northfield patient reaches, books and pays for care in one digital front door.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39" name="node02"/>
          <p:cNvGrpSpPr/>
          <p:nvPr/>
        </p:nvGrpSpPr>
        <p:grpSpPr>
          <a:xfrm>
            <a:off x="723900" y="2286000"/>
            <a:ext cx="3429000" cy="139700"/>
            <a:chOff x="723900" y="2286000"/>
            <a:chExt cx="3429000" cy="139700"/>
          </a:xfrm>
        </p:grpSpPr>
        <p:sp>
          <p:nvSpPr>
            <p:cNvPr id="9" name="node02.text"/>
            <p:cNvSpPr/>
            <p:nvPr/>
          </p:nvSpPr>
          <p:spPr>
            <a:xfrm>
              <a:off x="7239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TARGET SEGMENTS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0" name="node03"/>
          <p:cNvSpPr/>
          <p:nvPr/>
        </p:nvSpPr>
        <p:spPr>
          <a:xfrm>
            <a:off x="723900" y="2514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1" name="node04"/>
          <p:cNvSpPr/>
          <p:nvPr/>
        </p:nvSpPr>
        <p:spPr>
          <a:xfrm>
            <a:off x="723900" y="2628900"/>
            <a:ext cx="3429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Primary care patients booking routine visits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Specialty patients arriving by referral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Caregivers managing care for family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Patients with chronic conditions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0" name="node05"/>
          <p:cNvGrpSpPr/>
          <p:nvPr/>
        </p:nvGrpSpPr>
        <p:grpSpPr>
          <a:xfrm>
            <a:off x="723900" y="4076700"/>
            <a:ext cx="3429000" cy="139700"/>
            <a:chOff x="723900" y="4076700"/>
            <a:chExt cx="3429000" cy="139700"/>
          </a:xfrm>
        </p:grpSpPr>
        <p:sp>
          <p:nvSpPr>
            <p:cNvPr id="12" name="node05.text"/>
            <p:cNvSpPr/>
            <p:nvPr/>
          </p:nvSpPr>
          <p:spPr>
            <a:xfrm>
              <a:off x="723900" y="40767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PROBLEMS WE SOLVE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3" name="node06"/>
          <p:cNvSpPr/>
          <p:nvPr/>
        </p:nvSpPr>
        <p:spPr>
          <a:xfrm>
            <a:off x="723900" y="43053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node07"/>
          <p:cNvSpPr/>
          <p:nvPr/>
        </p:nvSpPr>
        <p:spPr>
          <a:xfrm>
            <a:off x="723900" y="4419600"/>
            <a:ext cx="3429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No booking without a phone call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Six hospitals, six patient identities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Prices unknown until the bill arrives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Referrals lost between sites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1" name="node08"/>
          <p:cNvGrpSpPr/>
          <p:nvPr/>
        </p:nvGrpSpPr>
        <p:grpSpPr>
          <a:xfrm>
            <a:off x="4381500" y="2286000"/>
            <a:ext cx="3429000" cy="139700"/>
            <a:chOff x="4381500" y="2286000"/>
            <a:chExt cx="3429000" cy="139700"/>
          </a:xfrm>
        </p:grpSpPr>
        <p:sp>
          <p:nvSpPr>
            <p:cNvPr id="15" name="node08.text"/>
            <p:cNvSpPr/>
            <p:nvPr/>
          </p:nvSpPr>
          <p:spPr>
            <a:xfrm>
              <a:off x="43815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VALUE PROPOSITION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16" name="node09"/>
          <p:cNvSpPr/>
          <p:nvPr/>
        </p:nvSpPr>
        <p:spPr>
          <a:xfrm>
            <a:off x="4381500" y="2514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2" name="node10"/>
          <p:cNvGrpSpPr/>
          <p:nvPr/>
        </p:nvGrpSpPr>
        <p:grpSpPr>
          <a:xfrm>
            <a:off x="4381500" y="2743200"/>
            <a:ext cx="3429000" cy="1257300"/>
            <a:chOff x="4381500" y="2743200"/>
            <a:chExt cx="3429000" cy="1257300"/>
          </a:xfrm>
        </p:grpSpPr>
        <p:sp>
          <p:nvSpPr>
            <p:cNvPr id="17" name="node10.container"/>
            <p:cNvSpPr/>
            <p:nvPr/>
          </p:nvSpPr>
          <p:spPr>
            <a:xfrm>
              <a:off x="4381500" y="2743200"/>
              <a:ext cx="3429000" cy="1257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8" name="node10.edge"/>
            <p:cNvSpPr/>
            <p:nvPr/>
          </p:nvSpPr>
          <p:spPr>
            <a:xfrm>
              <a:off x="4381500" y="2743200"/>
              <a:ext cx="76200" cy="12573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9" name="node10.label"/>
            <p:cNvSpPr/>
            <p:nvPr/>
          </p:nvSpPr>
          <p:spPr>
            <a:xfrm>
              <a:off x="4572000" y="2857500"/>
              <a:ext cx="312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FOR PATIENTS</a:t>
              </a:r>
              <a:endParaRPr lang="en-US" sz="800" spc="48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0" name="node10.title"/>
            <p:cNvSpPr/>
            <p:nvPr/>
          </p:nvSpPr>
          <p:spPr>
            <a:xfrm>
              <a:off x="4572000" y="3073400"/>
              <a:ext cx="31242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sign-in to find, book, prepare for and pay for care, with the price known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10.body.item-001.paragraph"/>
            <p:cNvSpPr/>
            <p:nvPr/>
          </p:nvSpPr>
          <p:spPr>
            <a:xfrm>
              <a:off x="4572000" y="3657600"/>
              <a:ext cx="3124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For staff: one verified record at every site.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3" name="node11"/>
          <p:cNvGrpSpPr/>
          <p:nvPr/>
        </p:nvGrpSpPr>
        <p:grpSpPr>
          <a:xfrm>
            <a:off x="4381500" y="4076700"/>
            <a:ext cx="3429000" cy="139700"/>
            <a:chOff x="4381500" y="4076700"/>
            <a:chExt cx="3429000" cy="139700"/>
          </a:xfrm>
        </p:grpSpPr>
        <p:sp>
          <p:nvSpPr>
            <p:cNvPr id="22" name="node11.text"/>
            <p:cNvSpPr/>
            <p:nvPr/>
          </p:nvSpPr>
          <p:spPr>
            <a:xfrm>
              <a:off x="4381500" y="40767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STRATEGIC BETS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23" name="node12"/>
          <p:cNvSpPr/>
          <p:nvPr/>
        </p:nvSpPr>
        <p:spPr>
          <a:xfrm>
            <a:off x="4381500" y="43053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4" name="node13"/>
          <p:cNvGrpSpPr/>
          <p:nvPr/>
        </p:nvGrpSpPr>
        <p:grpSpPr>
          <a:xfrm>
            <a:off x="4381500" y="4419600"/>
            <a:ext cx="3429000" cy="977900"/>
            <a:chOff x="4381500" y="4419600"/>
            <a:chExt cx="3429000" cy="977900"/>
          </a:xfrm>
        </p:grpSpPr>
        <p:sp>
          <p:nvSpPr>
            <p:cNvPr id="24" name="node13.source-001.number"/>
            <p:cNvSpPr/>
            <p:nvPr/>
          </p:nvSpPr>
          <p:spPr>
            <a:xfrm>
              <a:off x="4381500" y="4419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13.source-001.text"/>
            <p:cNvSpPr/>
            <p:nvPr/>
          </p:nvSpPr>
          <p:spPr>
            <a:xfrm>
              <a:off x="4572000" y="4419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Know every patient once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13.source-002.number"/>
            <p:cNvSpPr/>
            <p:nvPr/>
          </p:nvSpPr>
          <p:spPr>
            <a:xfrm>
              <a:off x="4381500" y="4673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13.source-002.text"/>
            <p:cNvSpPr/>
            <p:nvPr/>
          </p:nvSpPr>
          <p:spPr>
            <a:xfrm>
              <a:off x="4572000" y="4673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 the door online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13.source-003.number"/>
            <p:cNvSpPr/>
            <p:nvPr/>
          </p:nvSpPr>
          <p:spPr>
            <a:xfrm>
              <a:off x="4381500" y="4927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13.source-003.text"/>
            <p:cNvSpPr/>
            <p:nvPr/>
          </p:nvSpPr>
          <p:spPr>
            <a:xfrm>
              <a:off x="4572000" y="4927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and track with confidence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13.source-004.number"/>
            <p:cNvSpPr/>
            <p:nvPr/>
          </p:nvSpPr>
          <p:spPr>
            <a:xfrm>
              <a:off x="4381500" y="5181600"/>
              <a:ext cx="190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13.source-004.text"/>
            <p:cNvSpPr/>
            <p:nvPr/>
          </p:nvSpPr>
          <p:spPr>
            <a:xfrm>
              <a:off x="4572000" y="5181600"/>
              <a:ext cx="3238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 on one 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5" name="node14"/>
          <p:cNvGrpSpPr/>
          <p:nvPr/>
        </p:nvGrpSpPr>
        <p:grpSpPr>
          <a:xfrm>
            <a:off x="8039100" y="2286000"/>
            <a:ext cx="3429000" cy="139700"/>
            <a:chOff x="8039100" y="2286000"/>
            <a:chExt cx="3429000" cy="139700"/>
          </a:xfrm>
        </p:grpSpPr>
        <p:sp>
          <p:nvSpPr>
            <p:cNvPr id="32" name="node14.text"/>
            <p:cNvSpPr/>
            <p:nvPr/>
          </p:nvSpPr>
          <p:spPr>
            <a:xfrm>
              <a:off x="8039100" y="22860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 WE WILL NOT DO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33" name="node15"/>
          <p:cNvSpPr/>
          <p:nvPr/>
        </p:nvSpPr>
        <p:spPr>
          <a:xfrm>
            <a:off x="8039100" y="25146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node16"/>
          <p:cNvSpPr/>
          <p:nvPr/>
        </p:nvSpPr>
        <p:spPr>
          <a:xfrm>
            <a:off x="8039100" y="2628900"/>
            <a:ext cx="3429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Replace the EHR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Build tools for a single hospital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Add voice or kiosk channels before 2028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Price every service before 2027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46" name="node17"/>
          <p:cNvGrpSpPr/>
          <p:nvPr/>
        </p:nvGrpSpPr>
        <p:grpSpPr>
          <a:xfrm>
            <a:off x="8039100" y="4076700"/>
            <a:ext cx="3429000" cy="139700"/>
            <a:chOff x="8039100" y="4076700"/>
            <a:chExt cx="3429000" cy="139700"/>
          </a:xfrm>
        </p:grpSpPr>
        <p:sp>
          <p:nvSpPr>
            <p:cNvPr id="35" name="node17.text"/>
            <p:cNvSpPr/>
            <p:nvPr/>
          </p:nvSpPr>
          <p:spPr>
            <a:xfrm>
              <a:off x="8039100" y="4076700"/>
              <a:ext cx="34290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SUCCESS MEASURES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sp>
        <p:nvSpPr>
          <p:cNvPr id="36" name="node18"/>
          <p:cNvSpPr/>
          <p:nvPr/>
        </p:nvSpPr>
        <p:spPr>
          <a:xfrm>
            <a:off x="8039100" y="4305300"/>
            <a:ext cx="3429000" cy="127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7" name="node19"/>
          <p:cNvSpPr/>
          <p:nvPr/>
        </p:nvSpPr>
        <p:spPr>
          <a:xfrm>
            <a:off x="8039100" y="4419600"/>
            <a:ext cx="3429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80% complete access online by 2028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Calls to the access center down 25%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Front-end denials 9% → 5%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marL="152400" indent="-152400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>
                <a:srgbClr val="070154"/>
              </a:buClr>
              <a:buSzPts val="1038"/>
              <a:buFont typeface="Wingdings" charset="2"/>
              <a:buChar char=""/>
              <a:def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 xml:space="preserve">No-show rate 11% → 6%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PRODUCT STRATEGY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themes share capacity across five quarters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0" name="node01"/>
          <p:cNvGrpSpPr/>
          <p:nvPr/>
        </p:nvGrpSpPr>
        <p:grpSpPr>
          <a:xfrm>
            <a:off x="723900" y="1714500"/>
            <a:ext cx="1371600" cy="139700"/>
            <a:chOff x="723900" y="1714500"/>
            <a:chExt cx="1371600" cy="139700"/>
          </a:xfrm>
        </p:grpSpPr>
        <p:sp>
          <p:nvSpPr>
            <p:cNvPr id="7" name="node01.text"/>
            <p:cNvSpPr/>
            <p:nvPr/>
          </p:nvSpPr>
          <p:spPr>
            <a:xfrm>
              <a:off x="723900" y="1714500"/>
              <a:ext cx="13716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THEME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02"/>
          <p:cNvGrpSpPr/>
          <p:nvPr/>
        </p:nvGrpSpPr>
        <p:grpSpPr>
          <a:xfrm>
            <a:off x="2324100" y="1714500"/>
            <a:ext cx="914400" cy="139700"/>
            <a:chOff x="2324100" y="1714500"/>
            <a:chExt cx="914400" cy="139700"/>
          </a:xfrm>
        </p:grpSpPr>
        <p:sp>
          <p:nvSpPr>
            <p:cNvPr id="8" name="node02.text"/>
            <p:cNvSpPr/>
            <p:nvPr/>
          </p:nvSpPr>
          <p:spPr>
            <a:xfrm>
              <a:off x="2324100" y="1714500"/>
              <a:ext cx="9144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CAPACITY</a:t>
              </a:r>
              <a:endParaRPr lang="en-US" sz="800" spc="48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2" name="node03"/>
          <p:cNvGrpSpPr/>
          <p:nvPr/>
        </p:nvGrpSpPr>
        <p:grpSpPr>
          <a:xfrm>
            <a:off x="3467100" y="1600200"/>
            <a:ext cx="1524000" cy="342900"/>
            <a:chOff x="3467100" y="1600200"/>
            <a:chExt cx="1524000" cy="342900"/>
          </a:xfrm>
        </p:grpSpPr>
        <p:sp>
          <p:nvSpPr>
            <p:cNvPr id="9" name="node03.surface"/>
            <p:cNvSpPr/>
            <p:nvPr/>
          </p:nvSpPr>
          <p:spPr>
            <a:xfrm>
              <a:off x="3467100" y="1600200"/>
              <a:ext cx="1524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3.text"/>
            <p:cNvSpPr/>
            <p:nvPr/>
          </p:nvSpPr>
          <p:spPr>
            <a:xfrm>
              <a:off x="36195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Q4 26 · Now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4"/>
          <p:cNvGrpSpPr/>
          <p:nvPr/>
        </p:nvGrpSpPr>
        <p:grpSpPr>
          <a:xfrm>
            <a:off x="5067300" y="1600200"/>
            <a:ext cx="1524000" cy="342900"/>
            <a:chOff x="5067300" y="1600200"/>
            <a:chExt cx="1524000" cy="342900"/>
          </a:xfrm>
        </p:grpSpPr>
        <p:sp>
          <p:nvSpPr>
            <p:cNvPr id="11" name="node04.surface"/>
            <p:cNvSpPr/>
            <p:nvPr/>
          </p:nvSpPr>
          <p:spPr>
            <a:xfrm>
              <a:off x="5067300" y="1600200"/>
              <a:ext cx="15240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4.text"/>
            <p:cNvSpPr/>
            <p:nvPr/>
          </p:nvSpPr>
          <p:spPr>
            <a:xfrm>
              <a:off x="52197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Q1 27 · Now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5"/>
          <p:cNvGrpSpPr/>
          <p:nvPr/>
        </p:nvGrpSpPr>
        <p:grpSpPr>
          <a:xfrm>
            <a:off x="6667500" y="1600200"/>
            <a:ext cx="1524000" cy="342900"/>
            <a:chOff x="6667500" y="1600200"/>
            <a:chExt cx="1524000" cy="342900"/>
          </a:xfrm>
        </p:grpSpPr>
        <p:sp>
          <p:nvSpPr>
            <p:cNvPr id="13" name="node05.surface"/>
            <p:cNvSpPr/>
            <p:nvPr/>
          </p:nvSpPr>
          <p:spPr>
            <a:xfrm>
              <a:off x="6667500" y="1600200"/>
              <a:ext cx="1524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4" name="node05.text"/>
            <p:cNvSpPr/>
            <p:nvPr/>
          </p:nvSpPr>
          <p:spPr>
            <a:xfrm>
              <a:off x="68199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Q2 27 · Next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6"/>
          <p:cNvGrpSpPr/>
          <p:nvPr/>
        </p:nvGrpSpPr>
        <p:grpSpPr>
          <a:xfrm>
            <a:off x="8267700" y="1600200"/>
            <a:ext cx="1524000" cy="342900"/>
            <a:chOff x="8267700" y="1600200"/>
            <a:chExt cx="1524000" cy="342900"/>
          </a:xfrm>
        </p:grpSpPr>
        <p:sp>
          <p:nvSpPr>
            <p:cNvPr id="15" name="node06.surface"/>
            <p:cNvSpPr/>
            <p:nvPr/>
          </p:nvSpPr>
          <p:spPr>
            <a:xfrm>
              <a:off x="8267700" y="1600200"/>
              <a:ext cx="15240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6" name="node06.text"/>
            <p:cNvSpPr/>
            <p:nvPr/>
          </p:nvSpPr>
          <p:spPr>
            <a:xfrm>
              <a:off x="84201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Q3 27 · Next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07"/>
          <p:cNvGrpSpPr/>
          <p:nvPr/>
        </p:nvGrpSpPr>
        <p:grpSpPr>
          <a:xfrm>
            <a:off x="9867900" y="1600200"/>
            <a:ext cx="1524000" cy="342900"/>
            <a:chOff x="9867900" y="1600200"/>
            <a:chExt cx="1524000" cy="342900"/>
          </a:xfrm>
        </p:grpSpPr>
        <p:sp>
          <p:nvSpPr>
            <p:cNvPr id="17" name="node07.surface"/>
            <p:cNvSpPr/>
            <p:nvPr/>
          </p:nvSpPr>
          <p:spPr>
            <a:xfrm>
              <a:off x="9874250" y="1606550"/>
              <a:ext cx="1511300" cy="33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  <p:sp>
          <p:nvSpPr>
            <p:cNvPr id="18" name="node07.text"/>
            <p:cNvSpPr/>
            <p:nvPr/>
          </p:nvSpPr>
          <p:spPr>
            <a:xfrm>
              <a:off x="10020300" y="1663700"/>
              <a:ext cx="12192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Q4 27 · Later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08"/>
          <p:cNvGrpSpPr/>
          <p:nvPr/>
        </p:nvGrpSpPr>
        <p:grpSpPr>
          <a:xfrm>
            <a:off x="723900" y="2057400"/>
            <a:ext cx="1371600" cy="800100"/>
            <a:chOff x="723900" y="2057400"/>
            <a:chExt cx="1371600" cy="800100"/>
          </a:xfrm>
        </p:grpSpPr>
        <p:sp>
          <p:nvSpPr>
            <p:cNvPr id="19" name="node08.surface"/>
            <p:cNvSpPr/>
            <p:nvPr/>
          </p:nvSpPr>
          <p:spPr>
            <a:xfrm>
              <a:off x="723900" y="20574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0" name="node08.text"/>
            <p:cNvSpPr/>
            <p:nvPr/>
          </p:nvSpPr>
          <p:spPr>
            <a:xfrm>
              <a:off x="876300" y="2190750"/>
              <a:ext cx="10668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Know the patient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8" name="node09"/>
          <p:cNvGrpSpPr/>
          <p:nvPr/>
        </p:nvGrpSpPr>
        <p:grpSpPr>
          <a:xfrm>
            <a:off x="2324100" y="2057400"/>
            <a:ext cx="914400" cy="382461"/>
            <a:chOff x="2324100" y="2057400"/>
            <a:chExt cx="914400" cy="382461"/>
          </a:xfrm>
        </p:grpSpPr>
        <p:sp>
          <p:nvSpPr>
            <p:cNvPr id="21" name="node09.text"/>
            <p:cNvSpPr/>
            <p:nvPr/>
          </p:nvSpPr>
          <p:spPr>
            <a:xfrm>
              <a:off x="2324100" y="20574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25%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69" name="node10"/>
          <p:cNvGrpSpPr/>
          <p:nvPr/>
        </p:nvGrpSpPr>
        <p:grpSpPr>
          <a:xfrm>
            <a:off x="2324100" y="2514600"/>
            <a:ext cx="914400" cy="114300"/>
            <a:chOff x="2324100" y="2514600"/>
            <a:chExt cx="914400" cy="114300"/>
          </a:xfrm>
        </p:grpSpPr>
        <p:sp>
          <p:nvSpPr>
            <p:cNvPr id="22" name="node10.surface"/>
            <p:cNvSpPr/>
            <p:nvPr/>
          </p:nvSpPr>
          <p:spPr>
            <a:xfrm>
              <a:off x="2324100" y="25146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0" name="node11"/>
          <p:cNvGrpSpPr/>
          <p:nvPr/>
        </p:nvGrpSpPr>
        <p:grpSpPr>
          <a:xfrm>
            <a:off x="2324100" y="2514600"/>
            <a:ext cx="457200" cy="114300"/>
            <a:chOff x="2324100" y="2514600"/>
            <a:chExt cx="457200" cy="114300"/>
          </a:xfrm>
        </p:grpSpPr>
        <p:sp>
          <p:nvSpPr>
            <p:cNvPr id="23" name="node11.surface"/>
            <p:cNvSpPr/>
            <p:nvPr/>
          </p:nvSpPr>
          <p:spPr>
            <a:xfrm>
              <a:off x="2324100" y="2514600"/>
              <a:ext cx="4572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1" name="node12"/>
          <p:cNvGrpSpPr/>
          <p:nvPr/>
        </p:nvGrpSpPr>
        <p:grpSpPr>
          <a:xfrm>
            <a:off x="3467100" y="2057400"/>
            <a:ext cx="3124200" cy="342900"/>
            <a:chOff x="3467100" y="2057400"/>
            <a:chExt cx="3124200" cy="342900"/>
          </a:xfrm>
        </p:grpSpPr>
        <p:sp>
          <p:nvSpPr>
            <p:cNvPr id="24" name="node12.surface"/>
            <p:cNvSpPr/>
            <p:nvPr/>
          </p:nvSpPr>
          <p:spPr>
            <a:xfrm>
              <a:off x="3467100" y="2057400"/>
              <a:ext cx="31242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12.text"/>
            <p:cNvSpPr/>
            <p:nvPr/>
          </p:nvSpPr>
          <p:spPr>
            <a:xfrm>
              <a:off x="3619500" y="21209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patient index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13"/>
          <p:cNvGrpSpPr/>
          <p:nvPr/>
        </p:nvGrpSpPr>
        <p:grpSpPr>
          <a:xfrm>
            <a:off x="8267700" y="2057400"/>
            <a:ext cx="3124200" cy="342900"/>
            <a:chOff x="8267700" y="2057400"/>
            <a:chExt cx="3124200" cy="342900"/>
          </a:xfrm>
        </p:grpSpPr>
        <p:sp>
          <p:nvSpPr>
            <p:cNvPr id="26" name="node13.surface"/>
            <p:cNvSpPr/>
            <p:nvPr/>
          </p:nvSpPr>
          <p:spPr>
            <a:xfrm>
              <a:off x="8267700" y="20574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13.text"/>
            <p:cNvSpPr/>
            <p:nvPr/>
          </p:nvSpPr>
          <p:spPr>
            <a:xfrm>
              <a:off x="8420100" y="21209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data store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14"/>
          <p:cNvGrpSpPr/>
          <p:nvPr/>
        </p:nvGrpSpPr>
        <p:grpSpPr>
          <a:xfrm>
            <a:off x="3467100" y="2514600"/>
            <a:ext cx="4724400" cy="342900"/>
            <a:chOff x="3467100" y="2514600"/>
            <a:chExt cx="4724400" cy="342900"/>
          </a:xfrm>
        </p:grpSpPr>
        <p:sp>
          <p:nvSpPr>
            <p:cNvPr id="28" name="node14.surface"/>
            <p:cNvSpPr/>
            <p:nvPr/>
          </p:nvSpPr>
          <p:spPr>
            <a:xfrm>
              <a:off x="3467100" y="2514600"/>
              <a:ext cx="47244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14.text"/>
            <p:cNvSpPr/>
            <p:nvPr/>
          </p:nvSpPr>
          <p:spPr>
            <a:xfrm>
              <a:off x="3619500" y="2578100"/>
              <a:ext cx="4419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Single sign-in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4" name="node15"/>
          <p:cNvGrpSpPr/>
          <p:nvPr/>
        </p:nvGrpSpPr>
        <p:grpSpPr>
          <a:xfrm>
            <a:off x="723900" y="2971800"/>
            <a:ext cx="1371600" cy="800100"/>
            <a:chOff x="723900" y="2971800"/>
            <a:chExt cx="1371600" cy="800100"/>
          </a:xfrm>
        </p:grpSpPr>
        <p:sp>
          <p:nvSpPr>
            <p:cNvPr id="30" name="node15.surface"/>
            <p:cNvSpPr/>
            <p:nvPr/>
          </p:nvSpPr>
          <p:spPr>
            <a:xfrm>
              <a:off x="723900" y="29718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31" name="node15.text"/>
            <p:cNvSpPr/>
            <p:nvPr/>
          </p:nvSpPr>
          <p:spPr>
            <a:xfrm>
              <a:off x="876300" y="3105150"/>
              <a:ext cx="10668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Open the door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5" name="node16"/>
          <p:cNvGrpSpPr/>
          <p:nvPr/>
        </p:nvGrpSpPr>
        <p:grpSpPr>
          <a:xfrm>
            <a:off x="2324100" y="2971800"/>
            <a:ext cx="914400" cy="382461"/>
            <a:chOff x="2324100" y="2971800"/>
            <a:chExt cx="914400" cy="382461"/>
          </a:xfrm>
        </p:grpSpPr>
        <p:sp>
          <p:nvSpPr>
            <p:cNvPr id="32" name="node16.text"/>
            <p:cNvSpPr/>
            <p:nvPr/>
          </p:nvSpPr>
          <p:spPr>
            <a:xfrm>
              <a:off x="2324100" y="29718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40%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76" name="node17"/>
          <p:cNvGrpSpPr/>
          <p:nvPr/>
        </p:nvGrpSpPr>
        <p:grpSpPr>
          <a:xfrm>
            <a:off x="2324100" y="3429000"/>
            <a:ext cx="914400" cy="114300"/>
            <a:chOff x="2324100" y="3429000"/>
            <a:chExt cx="914400" cy="114300"/>
          </a:xfrm>
        </p:grpSpPr>
        <p:sp>
          <p:nvSpPr>
            <p:cNvPr id="33" name="node17.surface"/>
            <p:cNvSpPr/>
            <p:nvPr/>
          </p:nvSpPr>
          <p:spPr>
            <a:xfrm>
              <a:off x="2324100" y="34290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77" name="node18"/>
          <p:cNvGrpSpPr/>
          <p:nvPr/>
        </p:nvGrpSpPr>
        <p:grpSpPr>
          <a:xfrm>
            <a:off x="2324100" y="3429000"/>
            <a:ext cx="723900" cy="114300"/>
            <a:chOff x="2324100" y="3429000"/>
            <a:chExt cx="723900" cy="114300"/>
          </a:xfrm>
        </p:grpSpPr>
        <p:sp>
          <p:nvSpPr>
            <p:cNvPr id="34" name="node18.surface"/>
            <p:cNvSpPr/>
            <p:nvPr/>
          </p:nvSpPr>
          <p:spPr>
            <a:xfrm>
              <a:off x="2324100" y="3429000"/>
              <a:ext cx="7239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35" name="node19"/>
          <p:cNvSpPr/>
          <p:nvPr/>
        </p:nvSpPr>
        <p:spPr>
          <a:xfrm>
            <a:off x="723900" y="29083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8" name="node20"/>
          <p:cNvGrpSpPr/>
          <p:nvPr/>
        </p:nvGrpSpPr>
        <p:grpSpPr>
          <a:xfrm>
            <a:off x="5067300" y="2971800"/>
            <a:ext cx="4724400" cy="342900"/>
            <a:chOff x="5067300" y="2971800"/>
            <a:chExt cx="4724400" cy="342900"/>
          </a:xfrm>
        </p:grpSpPr>
        <p:sp>
          <p:nvSpPr>
            <p:cNvPr id="36" name="node20.surface"/>
            <p:cNvSpPr/>
            <p:nvPr/>
          </p:nvSpPr>
          <p:spPr>
            <a:xfrm>
              <a:off x="5067300" y="2971800"/>
              <a:ext cx="47244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20.text"/>
            <p:cNvSpPr/>
            <p:nvPr/>
          </p:nvSpPr>
          <p:spPr>
            <a:xfrm>
              <a:off x="5219700" y="3035300"/>
              <a:ext cx="4419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Self-scheduling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9" name="node21"/>
          <p:cNvGrpSpPr/>
          <p:nvPr/>
        </p:nvGrpSpPr>
        <p:grpSpPr>
          <a:xfrm>
            <a:off x="6667500" y="3429000"/>
            <a:ext cx="4724400" cy="342900"/>
            <a:chOff x="6667500" y="3429000"/>
            <a:chExt cx="4724400" cy="342900"/>
          </a:xfrm>
        </p:grpSpPr>
        <p:sp>
          <p:nvSpPr>
            <p:cNvPr id="38" name="node21.surface"/>
            <p:cNvSpPr/>
            <p:nvPr/>
          </p:nvSpPr>
          <p:spPr>
            <a:xfrm>
              <a:off x="6667500" y="3429000"/>
              <a:ext cx="47244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9" name="node21.text"/>
            <p:cNvSpPr/>
            <p:nvPr/>
          </p:nvSpPr>
          <p:spPr>
            <a:xfrm>
              <a:off x="6819900" y="3492500"/>
              <a:ext cx="4419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22"/>
          <p:cNvGrpSpPr/>
          <p:nvPr/>
        </p:nvGrpSpPr>
        <p:grpSpPr>
          <a:xfrm>
            <a:off x="723900" y="3886200"/>
            <a:ext cx="1371600" cy="800100"/>
            <a:chOff x="723900" y="3886200"/>
            <a:chExt cx="1371600" cy="800100"/>
          </a:xfrm>
        </p:grpSpPr>
        <p:sp>
          <p:nvSpPr>
            <p:cNvPr id="40" name="node22.surface"/>
            <p:cNvSpPr/>
            <p:nvPr/>
          </p:nvSpPr>
          <p:spPr>
            <a:xfrm>
              <a:off x="723900" y="38862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41" name="node22.text"/>
            <p:cNvSpPr/>
            <p:nvPr/>
          </p:nvSpPr>
          <p:spPr>
            <a:xfrm>
              <a:off x="800100" y="4019550"/>
              <a:ext cx="1219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Pay with confidence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1" name="node23"/>
          <p:cNvGrpSpPr/>
          <p:nvPr/>
        </p:nvGrpSpPr>
        <p:grpSpPr>
          <a:xfrm>
            <a:off x="2324100" y="3886200"/>
            <a:ext cx="914400" cy="382461"/>
            <a:chOff x="2324100" y="3886200"/>
            <a:chExt cx="914400" cy="382461"/>
          </a:xfrm>
        </p:grpSpPr>
        <p:sp>
          <p:nvSpPr>
            <p:cNvPr id="42" name="node23.text"/>
            <p:cNvSpPr/>
            <p:nvPr/>
          </p:nvSpPr>
          <p:spPr>
            <a:xfrm>
              <a:off x="2324100" y="38862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20%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2" name="node24"/>
          <p:cNvGrpSpPr/>
          <p:nvPr/>
        </p:nvGrpSpPr>
        <p:grpSpPr>
          <a:xfrm>
            <a:off x="2324100" y="4343400"/>
            <a:ext cx="914400" cy="114300"/>
            <a:chOff x="2324100" y="4343400"/>
            <a:chExt cx="914400" cy="114300"/>
          </a:xfrm>
        </p:grpSpPr>
        <p:sp>
          <p:nvSpPr>
            <p:cNvPr id="43" name="node24.surface"/>
            <p:cNvSpPr/>
            <p:nvPr/>
          </p:nvSpPr>
          <p:spPr>
            <a:xfrm>
              <a:off x="2324100" y="43434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3" name="node25"/>
          <p:cNvGrpSpPr/>
          <p:nvPr/>
        </p:nvGrpSpPr>
        <p:grpSpPr>
          <a:xfrm>
            <a:off x="2324100" y="4343400"/>
            <a:ext cx="355600" cy="114300"/>
            <a:chOff x="2324100" y="4343400"/>
            <a:chExt cx="355600" cy="114300"/>
          </a:xfrm>
        </p:grpSpPr>
        <p:sp>
          <p:nvSpPr>
            <p:cNvPr id="44" name="node25.surface"/>
            <p:cNvSpPr/>
            <p:nvPr/>
          </p:nvSpPr>
          <p:spPr>
            <a:xfrm>
              <a:off x="2324100" y="4343400"/>
              <a:ext cx="3556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45" name="node26"/>
          <p:cNvSpPr/>
          <p:nvPr/>
        </p:nvSpPr>
        <p:spPr>
          <a:xfrm>
            <a:off x="723900" y="38227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4" name="node27"/>
          <p:cNvGrpSpPr/>
          <p:nvPr/>
        </p:nvGrpSpPr>
        <p:grpSpPr>
          <a:xfrm>
            <a:off x="5067300" y="3886200"/>
            <a:ext cx="3124200" cy="342900"/>
            <a:chOff x="5067300" y="3886200"/>
            <a:chExt cx="3124200" cy="342900"/>
          </a:xfrm>
        </p:grpSpPr>
        <p:sp>
          <p:nvSpPr>
            <p:cNvPr id="46" name="node27.surface"/>
            <p:cNvSpPr/>
            <p:nvPr/>
          </p:nvSpPr>
          <p:spPr>
            <a:xfrm>
              <a:off x="5067300" y="3886200"/>
              <a:ext cx="31242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27.text"/>
            <p:cNvSpPr/>
            <p:nvPr/>
          </p:nvSpPr>
          <p:spPr>
            <a:xfrm>
              <a:off x="5219700" y="39497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Eligibility checks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28"/>
          <p:cNvGrpSpPr/>
          <p:nvPr/>
        </p:nvGrpSpPr>
        <p:grpSpPr>
          <a:xfrm>
            <a:off x="8267700" y="4343400"/>
            <a:ext cx="3124200" cy="342900"/>
            <a:chOff x="8267700" y="4343400"/>
            <a:chExt cx="3124200" cy="342900"/>
          </a:xfrm>
        </p:grpSpPr>
        <p:sp>
          <p:nvSpPr>
            <p:cNvPr id="48" name="node28.surface"/>
            <p:cNvSpPr/>
            <p:nvPr/>
          </p:nvSpPr>
          <p:spPr>
            <a:xfrm>
              <a:off x="8267700" y="43434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9" name="node28.text"/>
            <p:cNvSpPr/>
            <p:nvPr/>
          </p:nvSpPr>
          <p:spPr>
            <a:xfrm>
              <a:off x="8420100" y="44069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29"/>
          <p:cNvGrpSpPr/>
          <p:nvPr/>
        </p:nvGrpSpPr>
        <p:grpSpPr>
          <a:xfrm>
            <a:off x="723900" y="4800600"/>
            <a:ext cx="1371600" cy="800100"/>
            <a:chOff x="723900" y="4800600"/>
            <a:chExt cx="1371600" cy="800100"/>
          </a:xfrm>
        </p:grpSpPr>
        <p:sp>
          <p:nvSpPr>
            <p:cNvPr id="50" name="node29.surface"/>
            <p:cNvSpPr/>
            <p:nvPr/>
          </p:nvSpPr>
          <p:spPr>
            <a:xfrm>
              <a:off x="723900" y="4800600"/>
              <a:ext cx="1371600" cy="800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51" name="node29.text"/>
            <p:cNvSpPr/>
            <p:nvPr/>
          </p:nvSpPr>
          <p:spPr>
            <a:xfrm>
              <a:off x="800100" y="4933950"/>
              <a:ext cx="12192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Coordinate care</a:t>
              </a:r>
              <a:endParaRPr lang="en-US" sz="1600" spc="-1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7" name="node30"/>
          <p:cNvGrpSpPr/>
          <p:nvPr/>
        </p:nvGrpSpPr>
        <p:grpSpPr>
          <a:xfrm>
            <a:off x="2324100" y="4800600"/>
            <a:ext cx="914400" cy="382461"/>
            <a:chOff x="2324100" y="4800600"/>
            <a:chExt cx="914400" cy="382461"/>
          </a:xfrm>
        </p:grpSpPr>
        <p:sp>
          <p:nvSpPr>
            <p:cNvPr id="52" name="node30.text"/>
            <p:cNvSpPr/>
            <p:nvPr/>
          </p:nvSpPr>
          <p:spPr>
            <a:xfrm>
              <a:off x="2324100" y="4800600"/>
              <a:ext cx="914400" cy="382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3000" spc="-6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15%</a:t>
              </a:r>
              <a:endPara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8" name="node31"/>
          <p:cNvGrpSpPr/>
          <p:nvPr/>
        </p:nvGrpSpPr>
        <p:grpSpPr>
          <a:xfrm>
            <a:off x="2324100" y="5257800"/>
            <a:ext cx="914400" cy="114300"/>
            <a:chOff x="2324100" y="5257800"/>
            <a:chExt cx="914400" cy="114300"/>
          </a:xfrm>
        </p:grpSpPr>
        <p:sp>
          <p:nvSpPr>
            <p:cNvPr id="53" name="node31.surface"/>
            <p:cNvSpPr/>
            <p:nvPr/>
          </p:nvSpPr>
          <p:spPr>
            <a:xfrm>
              <a:off x="2324100" y="5257800"/>
              <a:ext cx="914400" cy="114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89" name="node32"/>
          <p:cNvGrpSpPr/>
          <p:nvPr/>
        </p:nvGrpSpPr>
        <p:grpSpPr>
          <a:xfrm>
            <a:off x="2324100" y="5257800"/>
            <a:ext cx="266700" cy="114300"/>
            <a:chOff x="2324100" y="5257800"/>
            <a:chExt cx="266700" cy="114300"/>
          </a:xfrm>
        </p:grpSpPr>
        <p:sp>
          <p:nvSpPr>
            <p:cNvPr id="54" name="node32.surface"/>
            <p:cNvSpPr/>
            <p:nvPr/>
          </p:nvSpPr>
          <p:spPr>
            <a:xfrm>
              <a:off x="2324100" y="5257800"/>
              <a:ext cx="266700" cy="114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sp>
        <p:nvSpPr>
          <p:cNvPr id="55" name="node33"/>
          <p:cNvSpPr/>
          <p:nvPr/>
        </p:nvSpPr>
        <p:spPr>
          <a:xfrm>
            <a:off x="723900" y="47371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0" name="node34"/>
          <p:cNvGrpSpPr/>
          <p:nvPr/>
        </p:nvGrpSpPr>
        <p:grpSpPr>
          <a:xfrm>
            <a:off x="6667500" y="4800600"/>
            <a:ext cx="3124200" cy="342900"/>
            <a:chOff x="6667500" y="4800600"/>
            <a:chExt cx="3124200" cy="342900"/>
          </a:xfrm>
        </p:grpSpPr>
        <p:sp>
          <p:nvSpPr>
            <p:cNvPr id="56" name="node34.surface"/>
            <p:cNvSpPr/>
            <p:nvPr/>
          </p:nvSpPr>
          <p:spPr>
            <a:xfrm>
              <a:off x="6667500" y="48006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7" name="node34.text"/>
            <p:cNvSpPr/>
            <p:nvPr/>
          </p:nvSpPr>
          <p:spPr>
            <a:xfrm>
              <a:off x="6819900" y="48641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Smart reminders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35"/>
          <p:cNvGrpSpPr/>
          <p:nvPr/>
        </p:nvGrpSpPr>
        <p:grpSpPr>
          <a:xfrm>
            <a:off x="8267700" y="5257800"/>
            <a:ext cx="3124200" cy="342900"/>
            <a:chOff x="8267700" y="5257800"/>
            <a:chExt cx="3124200" cy="342900"/>
          </a:xfrm>
        </p:grpSpPr>
        <p:sp>
          <p:nvSpPr>
            <p:cNvPr id="58" name="node35.surface"/>
            <p:cNvSpPr/>
            <p:nvPr/>
          </p:nvSpPr>
          <p:spPr>
            <a:xfrm>
              <a:off x="8267700" y="5257800"/>
              <a:ext cx="3124200" cy="3429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9" name="node35.text"/>
            <p:cNvSpPr/>
            <p:nvPr/>
          </p:nvSpPr>
          <p:spPr>
            <a:xfrm>
              <a:off x="8420100" y="5321300"/>
              <a:ext cx="28194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2026-10-08T12:43:11Z</dcterms:created>
  <dcterms:modified xsi:type="dcterms:W3CDTF">2026-10-08T12:43:11Z</dcterms:modified>
</cp:coreProperties>
</file>