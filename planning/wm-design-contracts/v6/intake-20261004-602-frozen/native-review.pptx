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WMDS bound template. Content classification: synthetic_example. Frozen source and binding provenance are recorded in layout-report.json and binding-report.json.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mds.frame.565fa27430157ff1bff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m.footer.rule"/>
          <p:cNvSpPr/>
          <p:nvPr/>
        </p:nvSpPr>
        <p:spPr>
          <a:xfrm>
            <a:off x="723900" y="6057900"/>
            <a:ext cx="10744200" cy="9525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" name="wm.whiteboard.0.0"/>
          <p:cNvSpPr/>
          <p:nvPr/>
        </p:nvSpPr>
        <p:spPr>
          <a:xfrm>
            <a:off x="2667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4" name="wm.whiteboard.0.18"/>
          <p:cNvSpPr/>
          <p:nvPr/>
        </p:nvSpPr>
        <p:spPr>
          <a:xfrm>
            <a:off x="2667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5" name="wm.whiteboard.0.36"/>
          <p:cNvSpPr/>
          <p:nvPr/>
        </p:nvSpPr>
        <p:spPr>
          <a:xfrm>
            <a:off x="2667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6" name="wm.whiteboard.0.54"/>
          <p:cNvSpPr/>
          <p:nvPr/>
        </p:nvSpPr>
        <p:spPr>
          <a:xfrm>
            <a:off x="266700" y="9144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7" name="wm.whiteboard.0.72"/>
          <p:cNvSpPr/>
          <p:nvPr/>
        </p:nvSpPr>
        <p:spPr>
          <a:xfrm>
            <a:off x="266700" y="1143000"/>
            <a:ext cx="38100" cy="38100"/>
          </a:xfrm>
          <a:prstGeom prst="rect">
            <a:avLst/>
          </a:prstGeom>
          <a:solidFill>
            <a:srgbClr val="CED7E6">
              <a:alpha val="85305"/>
            </a:srgbClr>
          </a:solidFill>
          <a:ln>
            <a:noFill/>
          </a:ln>
        </p:spPr>
      </p:sp>
      <p:sp>
        <p:nvSpPr>
          <p:cNvPr id="8" name="wm.whiteboard.0.90"/>
          <p:cNvSpPr/>
          <p:nvPr/>
        </p:nvSpPr>
        <p:spPr>
          <a:xfrm>
            <a:off x="266700" y="1371600"/>
            <a:ext cx="38100" cy="38100"/>
          </a:xfrm>
          <a:prstGeom prst="rect">
            <a:avLst/>
          </a:prstGeom>
          <a:solidFill>
            <a:srgbClr val="CED7E6">
              <a:alpha val="68524"/>
            </a:srgbClr>
          </a:solidFill>
          <a:ln>
            <a:noFill/>
          </a:ln>
        </p:spPr>
      </p:sp>
      <p:sp>
        <p:nvSpPr>
          <p:cNvPr id="9" name="wm.whiteboard.0.108"/>
          <p:cNvSpPr/>
          <p:nvPr/>
        </p:nvSpPr>
        <p:spPr>
          <a:xfrm>
            <a:off x="266700" y="1600200"/>
            <a:ext cx="38100" cy="38100"/>
          </a:xfrm>
          <a:prstGeom prst="rect">
            <a:avLst/>
          </a:prstGeom>
          <a:solidFill>
            <a:srgbClr val="CED7E6">
              <a:alpha val="51742"/>
            </a:srgbClr>
          </a:solidFill>
          <a:ln>
            <a:noFill/>
          </a:ln>
        </p:spPr>
      </p:sp>
      <p:sp>
        <p:nvSpPr>
          <p:cNvPr id="10" name="wm.whiteboard.0.126"/>
          <p:cNvSpPr/>
          <p:nvPr/>
        </p:nvSpPr>
        <p:spPr>
          <a:xfrm>
            <a:off x="266700" y="1828800"/>
            <a:ext cx="38100" cy="38100"/>
          </a:xfrm>
          <a:prstGeom prst="rect">
            <a:avLst/>
          </a:prstGeom>
          <a:solidFill>
            <a:srgbClr val="CED7E6">
              <a:alpha val="34959"/>
            </a:srgbClr>
          </a:solidFill>
          <a:ln>
            <a:noFill/>
          </a:ln>
        </p:spPr>
      </p:sp>
      <p:sp>
        <p:nvSpPr>
          <p:cNvPr id="11" name="wm.whiteboard.0.144"/>
          <p:cNvSpPr/>
          <p:nvPr/>
        </p:nvSpPr>
        <p:spPr>
          <a:xfrm>
            <a:off x="266700" y="2057400"/>
            <a:ext cx="38100" cy="38100"/>
          </a:xfrm>
          <a:prstGeom prst="rect">
            <a:avLst/>
          </a:prstGeom>
          <a:solidFill>
            <a:srgbClr val="CED7E6">
              <a:alpha val="18177"/>
            </a:srgbClr>
          </a:solidFill>
          <a:ln>
            <a:noFill/>
          </a:ln>
        </p:spPr>
      </p:sp>
      <p:sp>
        <p:nvSpPr>
          <p:cNvPr id="12" name="wm.whiteboard.0.162"/>
          <p:cNvSpPr/>
          <p:nvPr/>
        </p:nvSpPr>
        <p:spPr>
          <a:xfrm>
            <a:off x="266700" y="2286000"/>
            <a:ext cx="38100" cy="38100"/>
          </a:xfrm>
          <a:prstGeom prst="rect">
            <a:avLst/>
          </a:prstGeom>
          <a:solidFill>
            <a:srgbClr val="CED7E6">
              <a:alpha val="1394"/>
            </a:srgbClr>
          </a:solidFill>
          <a:ln>
            <a:noFill/>
          </a:ln>
        </p:spPr>
      </p:sp>
      <p:sp>
        <p:nvSpPr>
          <p:cNvPr id="13" name="wm.whiteboard.18.0"/>
          <p:cNvSpPr/>
          <p:nvPr/>
        </p:nvSpPr>
        <p:spPr>
          <a:xfrm>
            <a:off x="4953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4" name="wm.whiteboard.18.18"/>
          <p:cNvSpPr/>
          <p:nvPr/>
        </p:nvSpPr>
        <p:spPr>
          <a:xfrm>
            <a:off x="4953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5" name="wm.whiteboard.18.36"/>
          <p:cNvSpPr/>
          <p:nvPr/>
        </p:nvSpPr>
        <p:spPr>
          <a:xfrm>
            <a:off x="4953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6" name="wm.whiteboard.18.54"/>
          <p:cNvSpPr/>
          <p:nvPr/>
        </p:nvSpPr>
        <p:spPr>
          <a:xfrm>
            <a:off x="495300" y="914400"/>
            <a:ext cx="38100" cy="38100"/>
          </a:xfrm>
          <a:prstGeom prst="rect">
            <a:avLst/>
          </a:prstGeom>
          <a:solidFill>
            <a:srgbClr val="CED7E6">
              <a:alpha val="99988"/>
            </a:srgbClr>
          </a:solidFill>
          <a:ln>
            <a:noFill/>
          </a:ln>
        </p:spPr>
      </p:sp>
      <p:sp>
        <p:nvSpPr>
          <p:cNvPr id="17" name="wm.whiteboard.18.72"/>
          <p:cNvSpPr/>
          <p:nvPr/>
        </p:nvSpPr>
        <p:spPr>
          <a:xfrm>
            <a:off x="495300" y="1143000"/>
            <a:ext cx="38100" cy="38100"/>
          </a:xfrm>
          <a:prstGeom prst="rect">
            <a:avLst/>
          </a:prstGeom>
          <a:solidFill>
            <a:srgbClr val="CED7E6">
              <a:alpha val="83708"/>
            </a:srgbClr>
          </a:solidFill>
          <a:ln>
            <a:noFill/>
          </a:ln>
        </p:spPr>
      </p:sp>
      <p:sp>
        <p:nvSpPr>
          <p:cNvPr id="18" name="wm.whiteboard.18.90"/>
          <p:cNvSpPr/>
          <p:nvPr/>
        </p:nvSpPr>
        <p:spPr>
          <a:xfrm>
            <a:off x="495300" y="1371600"/>
            <a:ext cx="38100" cy="38100"/>
          </a:xfrm>
          <a:prstGeom prst="rect">
            <a:avLst/>
          </a:prstGeom>
          <a:solidFill>
            <a:srgbClr val="CED7E6">
              <a:alpha val="67236"/>
            </a:srgbClr>
          </a:solidFill>
          <a:ln>
            <a:noFill/>
          </a:ln>
        </p:spPr>
      </p:sp>
      <p:sp>
        <p:nvSpPr>
          <p:cNvPr id="19" name="wm.whiteboard.18.108"/>
          <p:cNvSpPr/>
          <p:nvPr/>
        </p:nvSpPr>
        <p:spPr>
          <a:xfrm>
            <a:off x="495300" y="1600200"/>
            <a:ext cx="38100" cy="38100"/>
          </a:xfrm>
          <a:prstGeom prst="rect">
            <a:avLst/>
          </a:prstGeom>
          <a:solidFill>
            <a:srgbClr val="CED7E6">
              <a:alpha val="50663"/>
            </a:srgbClr>
          </a:solidFill>
          <a:ln>
            <a:noFill/>
          </a:ln>
        </p:spPr>
      </p:sp>
      <p:sp>
        <p:nvSpPr>
          <p:cNvPr id="20" name="wm.whiteboard.18.126"/>
          <p:cNvSpPr/>
          <p:nvPr/>
        </p:nvSpPr>
        <p:spPr>
          <a:xfrm>
            <a:off x="495300" y="1828800"/>
            <a:ext cx="38100" cy="38100"/>
          </a:xfrm>
          <a:prstGeom prst="rect">
            <a:avLst/>
          </a:prstGeom>
          <a:solidFill>
            <a:srgbClr val="CED7E6">
              <a:alpha val="34032"/>
            </a:srgbClr>
          </a:solidFill>
          <a:ln>
            <a:noFill/>
          </a:ln>
        </p:spPr>
      </p:sp>
      <p:sp>
        <p:nvSpPr>
          <p:cNvPr id="21" name="wm.whiteboard.18.144"/>
          <p:cNvSpPr/>
          <p:nvPr/>
        </p:nvSpPr>
        <p:spPr>
          <a:xfrm>
            <a:off x="495300" y="2057400"/>
            <a:ext cx="38100" cy="38100"/>
          </a:xfrm>
          <a:prstGeom prst="rect">
            <a:avLst/>
          </a:prstGeom>
          <a:solidFill>
            <a:srgbClr val="CED7E6">
              <a:alpha val="17363"/>
            </a:srgbClr>
          </a:solidFill>
          <a:ln>
            <a:noFill/>
          </a:ln>
        </p:spPr>
      </p:sp>
      <p:sp>
        <p:nvSpPr>
          <p:cNvPr id="22" name="wm.whiteboard.18.162"/>
          <p:cNvSpPr/>
          <p:nvPr/>
        </p:nvSpPr>
        <p:spPr>
          <a:xfrm>
            <a:off x="495300" y="2286000"/>
            <a:ext cx="38100" cy="38100"/>
          </a:xfrm>
          <a:prstGeom prst="rect">
            <a:avLst/>
          </a:prstGeom>
          <a:solidFill>
            <a:srgbClr val="CED7E6">
              <a:alpha val="670"/>
            </a:srgbClr>
          </a:solidFill>
          <a:ln>
            <a:noFill/>
          </a:ln>
        </p:spPr>
      </p:sp>
      <p:sp>
        <p:nvSpPr>
          <p:cNvPr id="23" name="wm.whiteboard.36.0"/>
          <p:cNvSpPr/>
          <p:nvPr/>
        </p:nvSpPr>
        <p:spPr>
          <a:xfrm>
            <a:off x="7239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4" name="wm.whiteboard.36.18"/>
          <p:cNvSpPr/>
          <p:nvPr/>
        </p:nvSpPr>
        <p:spPr>
          <a:xfrm>
            <a:off x="7239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5" name="wm.whiteboard.36.36"/>
          <p:cNvSpPr/>
          <p:nvPr/>
        </p:nvSpPr>
        <p:spPr>
          <a:xfrm>
            <a:off x="7239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6" name="wm.whiteboard.36.54"/>
          <p:cNvSpPr/>
          <p:nvPr/>
        </p:nvSpPr>
        <p:spPr>
          <a:xfrm>
            <a:off x="723900" y="914400"/>
            <a:ext cx="38100" cy="38100"/>
          </a:xfrm>
          <a:prstGeom prst="rect">
            <a:avLst/>
          </a:prstGeom>
          <a:solidFill>
            <a:srgbClr val="CED7E6">
              <a:alpha val="94671"/>
            </a:srgbClr>
          </a:solidFill>
          <a:ln>
            <a:noFill/>
          </a:ln>
        </p:spPr>
      </p:sp>
      <p:sp>
        <p:nvSpPr>
          <p:cNvPr id="27" name="wm.whiteboard.36.72"/>
          <p:cNvSpPr/>
          <p:nvPr/>
        </p:nvSpPr>
        <p:spPr>
          <a:xfrm>
            <a:off x="723900" y="1143000"/>
            <a:ext cx="38100" cy="38100"/>
          </a:xfrm>
          <a:prstGeom prst="rect">
            <a:avLst/>
          </a:prstGeom>
          <a:solidFill>
            <a:srgbClr val="CED7E6">
              <a:alpha val="79547"/>
            </a:srgbClr>
          </a:solidFill>
          <a:ln>
            <a:noFill/>
          </a:ln>
        </p:spPr>
      </p:sp>
      <p:sp>
        <p:nvSpPr>
          <p:cNvPr id="28" name="wm.whiteboard.36.90"/>
          <p:cNvSpPr/>
          <p:nvPr/>
        </p:nvSpPr>
        <p:spPr>
          <a:xfrm>
            <a:off x="723900" y="1371600"/>
            <a:ext cx="38100" cy="38100"/>
          </a:xfrm>
          <a:prstGeom prst="rect">
            <a:avLst/>
          </a:prstGeom>
          <a:solidFill>
            <a:srgbClr val="CED7E6">
              <a:alpha val="63833"/>
            </a:srgbClr>
          </a:solidFill>
          <a:ln>
            <a:noFill/>
          </a:ln>
        </p:spPr>
      </p:sp>
      <p:sp>
        <p:nvSpPr>
          <p:cNvPr id="29" name="wm.whiteboard.36.108"/>
          <p:cNvSpPr/>
          <p:nvPr/>
        </p:nvSpPr>
        <p:spPr>
          <a:xfrm>
            <a:off x="723900" y="1600200"/>
            <a:ext cx="38100" cy="38100"/>
          </a:xfrm>
          <a:prstGeom prst="rect">
            <a:avLst/>
          </a:prstGeom>
          <a:solidFill>
            <a:srgbClr val="CED7E6">
              <a:alpha val="47790"/>
            </a:srgbClr>
          </a:solidFill>
          <a:ln>
            <a:noFill/>
          </a:ln>
        </p:spPr>
      </p:sp>
      <p:sp>
        <p:nvSpPr>
          <p:cNvPr id="30" name="wm.whiteboard.36.126"/>
          <p:cNvSpPr/>
          <p:nvPr/>
        </p:nvSpPr>
        <p:spPr>
          <a:xfrm>
            <a:off x="723900" y="1828800"/>
            <a:ext cx="38100" cy="38100"/>
          </a:xfrm>
          <a:prstGeom prst="rect">
            <a:avLst/>
          </a:prstGeom>
          <a:solidFill>
            <a:srgbClr val="CED7E6">
              <a:alpha val="31549"/>
            </a:srgbClr>
          </a:solidFill>
          <a:ln>
            <a:noFill/>
          </a:ln>
        </p:spPr>
      </p:sp>
      <p:sp>
        <p:nvSpPr>
          <p:cNvPr id="31" name="wm.whiteboard.36.144"/>
          <p:cNvSpPr/>
          <p:nvPr/>
        </p:nvSpPr>
        <p:spPr>
          <a:xfrm>
            <a:off x="723900" y="2057400"/>
            <a:ext cx="38100" cy="38100"/>
          </a:xfrm>
          <a:prstGeom prst="rect">
            <a:avLst/>
          </a:prstGeom>
          <a:solidFill>
            <a:srgbClr val="CED7E6">
              <a:alpha val="15179"/>
            </a:srgbClr>
          </a:solidFill>
          <a:ln>
            <a:noFill/>
          </a:ln>
        </p:spPr>
      </p:sp>
      <p:sp>
        <p:nvSpPr>
          <p:cNvPr id="32" name="wm.whiteboard.54.0"/>
          <p:cNvSpPr/>
          <p:nvPr/>
        </p:nvSpPr>
        <p:spPr>
          <a:xfrm>
            <a:off x="9525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3" name="wm.whiteboard.54.18"/>
          <p:cNvSpPr/>
          <p:nvPr/>
        </p:nvSpPr>
        <p:spPr>
          <a:xfrm>
            <a:off x="9525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4" name="wm.whiteboard.54.36"/>
          <p:cNvSpPr/>
          <p:nvPr/>
        </p:nvSpPr>
        <p:spPr>
          <a:xfrm>
            <a:off x="952500" y="685800"/>
            <a:ext cx="38100" cy="38100"/>
          </a:xfrm>
          <a:prstGeom prst="rect">
            <a:avLst/>
          </a:prstGeom>
          <a:solidFill>
            <a:srgbClr val="CED7E6">
              <a:alpha val="98827"/>
            </a:srgbClr>
          </a:solidFill>
          <a:ln>
            <a:noFill/>
          </a:ln>
        </p:spPr>
      </p:sp>
      <p:sp>
        <p:nvSpPr>
          <p:cNvPr id="35" name="wm.whiteboard.54.54"/>
          <p:cNvSpPr/>
          <p:nvPr/>
        </p:nvSpPr>
        <p:spPr>
          <a:xfrm>
            <a:off x="952500" y="914400"/>
            <a:ext cx="38100" cy="38100"/>
          </a:xfrm>
          <a:prstGeom prst="rect">
            <a:avLst/>
          </a:prstGeom>
          <a:solidFill>
            <a:srgbClr val="CED7E6">
              <a:alpha val="86895"/>
            </a:srgbClr>
          </a:solidFill>
          <a:ln>
            <a:noFill/>
          </a:ln>
        </p:spPr>
      </p:sp>
      <p:sp>
        <p:nvSpPr>
          <p:cNvPr id="36" name="wm.whiteboard.54.72"/>
          <p:cNvSpPr/>
          <p:nvPr/>
        </p:nvSpPr>
        <p:spPr>
          <a:xfrm>
            <a:off x="952500" y="1143000"/>
            <a:ext cx="38100" cy="38100"/>
          </a:xfrm>
          <a:prstGeom prst="rect">
            <a:avLst/>
          </a:prstGeom>
          <a:solidFill>
            <a:srgbClr val="CED7E6">
              <a:alpha val="73217"/>
            </a:srgbClr>
          </a:solidFill>
          <a:ln>
            <a:noFill/>
          </a:ln>
        </p:spPr>
      </p:sp>
      <p:sp>
        <p:nvSpPr>
          <p:cNvPr id="37" name="wm.whiteboard.54.90"/>
          <p:cNvSpPr/>
          <p:nvPr/>
        </p:nvSpPr>
        <p:spPr>
          <a:xfrm>
            <a:off x="952500" y="1371600"/>
            <a:ext cx="38100" cy="38100"/>
          </a:xfrm>
          <a:prstGeom prst="rect">
            <a:avLst/>
          </a:prstGeom>
          <a:solidFill>
            <a:srgbClr val="CED7E6">
              <a:alpha val="58541"/>
            </a:srgbClr>
          </a:solidFill>
          <a:ln>
            <a:noFill/>
          </a:ln>
        </p:spPr>
      </p:sp>
      <p:sp>
        <p:nvSpPr>
          <p:cNvPr id="38" name="wm.whiteboard.54.108"/>
          <p:cNvSpPr/>
          <p:nvPr/>
        </p:nvSpPr>
        <p:spPr>
          <a:xfrm>
            <a:off x="952500" y="1600200"/>
            <a:ext cx="38100" cy="38100"/>
          </a:xfrm>
          <a:prstGeom prst="rect">
            <a:avLst/>
          </a:prstGeom>
          <a:solidFill>
            <a:srgbClr val="CED7E6">
              <a:alpha val="43263"/>
            </a:srgbClr>
          </a:solidFill>
          <a:ln>
            <a:noFill/>
          </a:ln>
        </p:spPr>
      </p:sp>
      <p:sp>
        <p:nvSpPr>
          <p:cNvPr id="39" name="wm.whiteboard.54.126"/>
          <p:cNvSpPr/>
          <p:nvPr/>
        </p:nvSpPr>
        <p:spPr>
          <a:xfrm>
            <a:off x="952500" y="1828800"/>
            <a:ext cx="38100" cy="38100"/>
          </a:xfrm>
          <a:prstGeom prst="rect">
            <a:avLst/>
          </a:prstGeom>
          <a:solidFill>
            <a:srgbClr val="CED7E6">
              <a:alpha val="27603"/>
            </a:srgbClr>
          </a:solidFill>
          <a:ln>
            <a:noFill/>
          </a:ln>
        </p:spPr>
      </p:sp>
      <p:sp>
        <p:nvSpPr>
          <p:cNvPr id="40" name="wm.whiteboard.54.144"/>
          <p:cNvSpPr/>
          <p:nvPr/>
        </p:nvSpPr>
        <p:spPr>
          <a:xfrm>
            <a:off x="952500" y="2057400"/>
            <a:ext cx="38100" cy="38100"/>
          </a:xfrm>
          <a:prstGeom prst="rect">
            <a:avLst/>
          </a:prstGeom>
          <a:solidFill>
            <a:srgbClr val="CED7E6">
              <a:alpha val="11687"/>
            </a:srgbClr>
          </a:solidFill>
          <a:ln>
            <a:noFill/>
          </a:ln>
        </p:spPr>
      </p:sp>
      <p:sp>
        <p:nvSpPr>
          <p:cNvPr id="41" name="wm.whiteboard.72.0"/>
          <p:cNvSpPr/>
          <p:nvPr/>
        </p:nvSpPr>
        <p:spPr>
          <a:xfrm>
            <a:off x="1181100" y="228600"/>
            <a:ext cx="38100" cy="38100"/>
          </a:xfrm>
          <a:prstGeom prst="rect">
            <a:avLst/>
          </a:prstGeom>
          <a:solidFill>
            <a:srgbClr val="CED7E6">
              <a:alpha val="97572"/>
            </a:srgbClr>
          </a:solidFill>
          <a:ln>
            <a:noFill/>
          </a:ln>
        </p:spPr>
      </p:sp>
      <p:sp>
        <p:nvSpPr>
          <p:cNvPr id="42" name="wm.whiteboard.72.18"/>
          <p:cNvSpPr/>
          <p:nvPr/>
        </p:nvSpPr>
        <p:spPr>
          <a:xfrm>
            <a:off x="1181100" y="457200"/>
            <a:ext cx="38100" cy="38100"/>
          </a:xfrm>
          <a:prstGeom prst="rect">
            <a:avLst/>
          </a:prstGeom>
          <a:solidFill>
            <a:srgbClr val="CED7E6">
              <a:alpha val="94724"/>
            </a:srgbClr>
          </a:solidFill>
          <a:ln>
            <a:noFill/>
          </a:ln>
        </p:spPr>
      </p:sp>
      <p:sp>
        <p:nvSpPr>
          <p:cNvPr id="43" name="wm.whiteboard.72.36"/>
          <p:cNvSpPr/>
          <p:nvPr/>
        </p:nvSpPr>
        <p:spPr>
          <a:xfrm>
            <a:off x="1181100" y="685800"/>
            <a:ext cx="38100" cy="38100"/>
          </a:xfrm>
          <a:prstGeom prst="rect">
            <a:avLst/>
          </a:prstGeom>
          <a:solidFill>
            <a:srgbClr val="CED7E6">
              <a:alpha val="87609"/>
            </a:srgbClr>
          </a:solidFill>
          <a:ln>
            <a:noFill/>
          </a:ln>
        </p:spPr>
      </p:sp>
      <p:sp>
        <p:nvSpPr>
          <p:cNvPr id="44" name="wm.whiteboard.72.54"/>
          <p:cNvSpPr/>
          <p:nvPr/>
        </p:nvSpPr>
        <p:spPr>
          <a:xfrm>
            <a:off x="1181100" y="914400"/>
            <a:ext cx="38100" cy="38100"/>
          </a:xfrm>
          <a:prstGeom prst="rect">
            <a:avLst/>
          </a:prstGeom>
          <a:solidFill>
            <a:srgbClr val="CED7E6">
              <a:alpha val="77408"/>
            </a:srgbClr>
          </a:solidFill>
          <a:ln>
            <a:noFill/>
          </a:ln>
        </p:spPr>
      </p:sp>
      <p:sp>
        <p:nvSpPr>
          <p:cNvPr id="45" name="wm.whiteboard.72.72"/>
          <p:cNvSpPr/>
          <p:nvPr/>
        </p:nvSpPr>
        <p:spPr>
          <a:xfrm>
            <a:off x="1181100" y="1143000"/>
            <a:ext cx="38100" cy="38100"/>
          </a:xfrm>
          <a:prstGeom prst="rect">
            <a:avLst/>
          </a:prstGeom>
          <a:solidFill>
            <a:srgbClr val="CED7E6">
              <a:alpha val="65181"/>
            </a:srgbClr>
          </a:solidFill>
          <a:ln>
            <a:noFill/>
          </a:ln>
        </p:spPr>
      </p:sp>
      <p:sp>
        <p:nvSpPr>
          <p:cNvPr id="46" name="wm.whiteboard.72.90"/>
          <p:cNvSpPr/>
          <p:nvPr/>
        </p:nvSpPr>
        <p:spPr>
          <a:xfrm>
            <a:off x="1181100" y="1371600"/>
            <a:ext cx="38100" cy="38100"/>
          </a:xfrm>
          <a:prstGeom prst="rect">
            <a:avLst/>
          </a:prstGeom>
          <a:solidFill>
            <a:srgbClr val="CED7E6">
              <a:alpha val="51653"/>
            </a:srgbClr>
          </a:solidFill>
          <a:ln>
            <a:noFill/>
          </a:ln>
        </p:spPr>
      </p:sp>
      <p:sp>
        <p:nvSpPr>
          <p:cNvPr id="47" name="wm.whiteboard.72.108"/>
          <p:cNvSpPr/>
          <p:nvPr/>
        </p:nvSpPr>
        <p:spPr>
          <a:xfrm>
            <a:off x="1181100" y="1600200"/>
            <a:ext cx="38100" cy="38100"/>
          </a:xfrm>
          <a:prstGeom prst="rect">
            <a:avLst/>
          </a:prstGeom>
          <a:solidFill>
            <a:srgbClr val="CED7E6">
              <a:alpha val="37275"/>
            </a:srgbClr>
          </a:solidFill>
          <a:ln>
            <a:noFill/>
          </a:ln>
        </p:spPr>
      </p:sp>
      <p:sp>
        <p:nvSpPr>
          <p:cNvPr id="48" name="wm.whiteboard.72.126"/>
          <p:cNvSpPr/>
          <p:nvPr/>
        </p:nvSpPr>
        <p:spPr>
          <a:xfrm>
            <a:off x="1181100" y="1828800"/>
            <a:ext cx="38100" cy="38100"/>
          </a:xfrm>
          <a:prstGeom prst="rect">
            <a:avLst/>
          </a:prstGeom>
          <a:solidFill>
            <a:srgbClr val="CED7E6">
              <a:alpha val="22326"/>
            </a:srgbClr>
          </a:solidFill>
          <a:ln>
            <a:noFill/>
          </a:ln>
        </p:spPr>
      </p:sp>
      <p:sp>
        <p:nvSpPr>
          <p:cNvPr id="49" name="wm.whiteboard.72.144"/>
          <p:cNvSpPr/>
          <p:nvPr/>
        </p:nvSpPr>
        <p:spPr>
          <a:xfrm>
            <a:off x="1181100" y="2057400"/>
            <a:ext cx="38100" cy="38100"/>
          </a:xfrm>
          <a:prstGeom prst="rect">
            <a:avLst/>
          </a:prstGeom>
          <a:solidFill>
            <a:srgbClr val="CED7E6">
              <a:alpha val="6980"/>
            </a:srgbClr>
          </a:solidFill>
          <a:ln>
            <a:noFill/>
          </a:ln>
        </p:spPr>
      </p:sp>
      <p:sp>
        <p:nvSpPr>
          <p:cNvPr id="50" name="wm.whiteboard.90.0"/>
          <p:cNvSpPr/>
          <p:nvPr/>
        </p:nvSpPr>
        <p:spPr>
          <a:xfrm>
            <a:off x="1409700" y="228600"/>
            <a:ext cx="38100" cy="38100"/>
          </a:xfrm>
          <a:prstGeom prst="rect">
            <a:avLst/>
          </a:prstGeom>
          <a:solidFill>
            <a:srgbClr val="CED7E6">
              <a:alpha val="83798"/>
            </a:srgbClr>
          </a:solidFill>
          <a:ln>
            <a:noFill/>
          </a:ln>
        </p:spPr>
      </p:sp>
      <p:sp>
        <p:nvSpPr>
          <p:cNvPr id="51" name="wm.whiteboard.90.18"/>
          <p:cNvSpPr/>
          <p:nvPr/>
        </p:nvSpPr>
        <p:spPr>
          <a:xfrm>
            <a:off x="1409700" y="457200"/>
            <a:ext cx="38100" cy="38100"/>
          </a:xfrm>
          <a:prstGeom prst="rect">
            <a:avLst/>
          </a:prstGeom>
          <a:solidFill>
            <a:srgbClr val="CED7E6">
              <a:alpha val="81490"/>
            </a:srgbClr>
          </a:solidFill>
          <a:ln>
            <a:noFill/>
          </a:ln>
        </p:spPr>
      </p:sp>
      <p:sp>
        <p:nvSpPr>
          <p:cNvPr id="52" name="wm.whiteboard.90.36"/>
          <p:cNvSpPr/>
          <p:nvPr/>
        </p:nvSpPr>
        <p:spPr>
          <a:xfrm>
            <a:off x="1409700" y="685800"/>
            <a:ext cx="38100" cy="38100"/>
          </a:xfrm>
          <a:prstGeom prst="rect">
            <a:avLst/>
          </a:prstGeom>
          <a:solidFill>
            <a:srgbClr val="CED7E6">
              <a:alpha val="75569"/>
            </a:srgbClr>
          </a:solidFill>
          <a:ln>
            <a:noFill/>
          </a:ln>
        </p:spPr>
      </p:sp>
      <p:sp>
        <p:nvSpPr>
          <p:cNvPr id="53" name="wm.whiteboard.90.54"/>
          <p:cNvSpPr/>
          <p:nvPr/>
        </p:nvSpPr>
        <p:spPr>
          <a:xfrm>
            <a:off x="1409700" y="914400"/>
            <a:ext cx="38100" cy="38100"/>
          </a:xfrm>
          <a:prstGeom prst="rect">
            <a:avLst/>
          </a:prstGeom>
          <a:solidFill>
            <a:srgbClr val="CED7E6">
              <a:alpha val="66767"/>
            </a:srgbClr>
          </a:solidFill>
          <a:ln>
            <a:noFill/>
          </a:ln>
        </p:spPr>
      </p:sp>
      <p:sp>
        <p:nvSpPr>
          <p:cNvPr id="54" name="wm.whiteboard.90.72"/>
          <p:cNvSpPr/>
          <p:nvPr/>
        </p:nvSpPr>
        <p:spPr>
          <a:xfrm>
            <a:off x="1409700" y="1143000"/>
            <a:ext cx="38100" cy="38100"/>
          </a:xfrm>
          <a:prstGeom prst="rect">
            <a:avLst/>
          </a:prstGeom>
          <a:solidFill>
            <a:srgbClr val="CED7E6">
              <a:alpha val="55859"/>
            </a:srgbClr>
          </a:solidFill>
          <a:ln>
            <a:noFill/>
          </a:ln>
        </p:spPr>
      </p:sp>
      <p:sp>
        <p:nvSpPr>
          <p:cNvPr id="55" name="wm.whiteboard.90.90"/>
          <p:cNvSpPr/>
          <p:nvPr/>
        </p:nvSpPr>
        <p:spPr>
          <a:xfrm>
            <a:off x="1409700" y="1371600"/>
            <a:ext cx="38100" cy="38100"/>
          </a:xfrm>
          <a:prstGeom prst="rect">
            <a:avLst/>
          </a:prstGeom>
          <a:solidFill>
            <a:srgbClr val="CED7E6">
              <a:alpha val="43468"/>
            </a:srgbClr>
          </a:solidFill>
          <a:ln>
            <a:noFill/>
          </a:ln>
        </p:spPr>
      </p:sp>
      <p:sp>
        <p:nvSpPr>
          <p:cNvPr id="56" name="wm.whiteboard.90.108"/>
          <p:cNvSpPr/>
          <p:nvPr/>
        </p:nvSpPr>
        <p:spPr>
          <a:xfrm>
            <a:off x="1409700" y="1600200"/>
            <a:ext cx="38100" cy="38100"/>
          </a:xfrm>
          <a:prstGeom prst="rect">
            <a:avLst/>
          </a:prstGeom>
          <a:solidFill>
            <a:srgbClr val="CED7E6">
              <a:alpha val="30037"/>
            </a:srgbClr>
          </a:solidFill>
          <a:ln>
            <a:noFill/>
          </a:ln>
        </p:spPr>
      </p:sp>
      <p:sp>
        <p:nvSpPr>
          <p:cNvPr id="57" name="wm.whiteboard.90.126"/>
          <p:cNvSpPr/>
          <p:nvPr/>
        </p:nvSpPr>
        <p:spPr>
          <a:xfrm>
            <a:off x="1409700" y="1828800"/>
            <a:ext cx="38100" cy="38100"/>
          </a:xfrm>
          <a:prstGeom prst="rect">
            <a:avLst/>
          </a:prstGeom>
          <a:solidFill>
            <a:srgbClr val="CED7E6">
              <a:alpha val="15870"/>
            </a:srgbClr>
          </a:solidFill>
          <a:ln>
            <a:noFill/>
          </a:ln>
        </p:spPr>
      </p:sp>
      <p:sp>
        <p:nvSpPr>
          <p:cNvPr id="58" name="wm.whiteboard.90.144"/>
          <p:cNvSpPr/>
          <p:nvPr/>
        </p:nvSpPr>
        <p:spPr>
          <a:xfrm>
            <a:off x="1409700" y="2057400"/>
            <a:ext cx="38100" cy="38100"/>
          </a:xfrm>
          <a:prstGeom prst="rect">
            <a:avLst/>
          </a:prstGeom>
          <a:solidFill>
            <a:srgbClr val="CED7E6">
              <a:alpha val="1171"/>
            </a:srgbClr>
          </a:solidFill>
          <a:ln>
            <a:noFill/>
          </a:ln>
        </p:spPr>
      </p:sp>
      <p:sp>
        <p:nvSpPr>
          <p:cNvPr id="59" name="wm.whiteboard.108.0"/>
          <p:cNvSpPr/>
          <p:nvPr/>
        </p:nvSpPr>
        <p:spPr>
          <a:xfrm>
            <a:off x="1638300" y="228600"/>
            <a:ext cx="38100" cy="38100"/>
          </a:xfrm>
          <a:prstGeom prst="rect">
            <a:avLst/>
          </a:prstGeom>
          <a:solidFill>
            <a:srgbClr val="CED7E6">
              <a:alpha val="70023"/>
            </a:srgbClr>
          </a:solidFill>
          <a:ln>
            <a:noFill/>
          </a:ln>
        </p:spPr>
      </p:sp>
      <p:sp>
        <p:nvSpPr>
          <p:cNvPr id="60" name="wm.whiteboard.108.18"/>
          <p:cNvSpPr/>
          <p:nvPr/>
        </p:nvSpPr>
        <p:spPr>
          <a:xfrm>
            <a:off x="1638300" y="457200"/>
            <a:ext cx="38100" cy="38100"/>
          </a:xfrm>
          <a:prstGeom prst="rect">
            <a:avLst/>
          </a:prstGeom>
          <a:solidFill>
            <a:srgbClr val="CED7E6">
              <a:alpha val="68085"/>
            </a:srgbClr>
          </a:solidFill>
          <a:ln>
            <a:noFill/>
          </a:ln>
        </p:spPr>
      </p:sp>
      <p:sp>
        <p:nvSpPr>
          <p:cNvPr id="61" name="wm.whiteboard.108.36"/>
          <p:cNvSpPr/>
          <p:nvPr/>
        </p:nvSpPr>
        <p:spPr>
          <a:xfrm>
            <a:off x="1638300" y="685800"/>
            <a:ext cx="38100" cy="38100"/>
          </a:xfrm>
          <a:prstGeom prst="rect">
            <a:avLst/>
          </a:prstGeom>
          <a:solidFill>
            <a:srgbClr val="CED7E6">
              <a:alpha val="63033"/>
            </a:srgbClr>
          </a:solidFill>
          <a:ln>
            <a:noFill/>
          </a:ln>
        </p:spPr>
      </p:sp>
      <p:sp>
        <p:nvSpPr>
          <p:cNvPr id="62" name="wm.whiteboard.108.54"/>
          <p:cNvSpPr/>
          <p:nvPr/>
        </p:nvSpPr>
        <p:spPr>
          <a:xfrm>
            <a:off x="1638300" y="914400"/>
            <a:ext cx="38100" cy="38100"/>
          </a:xfrm>
          <a:prstGeom prst="rect">
            <a:avLst/>
          </a:prstGeom>
          <a:solidFill>
            <a:srgbClr val="CED7E6">
              <a:alpha val="55346"/>
            </a:srgbClr>
          </a:solidFill>
          <a:ln>
            <a:noFill/>
          </a:ln>
        </p:spPr>
      </p:sp>
      <p:sp>
        <p:nvSpPr>
          <p:cNvPr id="63" name="wm.whiteboard.108.72"/>
          <p:cNvSpPr/>
          <p:nvPr/>
        </p:nvSpPr>
        <p:spPr>
          <a:xfrm>
            <a:off x="1638300" y="1143000"/>
            <a:ext cx="38100" cy="38100"/>
          </a:xfrm>
          <a:prstGeom prst="rect">
            <a:avLst/>
          </a:prstGeom>
          <a:solidFill>
            <a:srgbClr val="CED7E6">
              <a:alpha val="45583"/>
            </a:srgbClr>
          </a:solidFill>
          <a:ln>
            <a:noFill/>
          </a:ln>
        </p:spPr>
      </p:sp>
      <p:sp>
        <p:nvSpPr>
          <p:cNvPr id="64" name="wm.whiteboard.108.90"/>
          <p:cNvSpPr/>
          <p:nvPr/>
        </p:nvSpPr>
        <p:spPr>
          <a:xfrm>
            <a:off x="1638300" y="1371600"/>
            <a:ext cx="38100" cy="38100"/>
          </a:xfrm>
          <a:prstGeom prst="rect">
            <a:avLst/>
          </a:prstGeom>
          <a:solidFill>
            <a:srgbClr val="CED7E6">
              <a:alpha val="34251"/>
            </a:srgbClr>
          </a:solidFill>
          <a:ln>
            <a:noFill/>
          </a:ln>
        </p:spPr>
      </p:sp>
      <p:sp>
        <p:nvSpPr>
          <p:cNvPr id="65" name="wm.whiteboard.108.108"/>
          <p:cNvSpPr/>
          <p:nvPr/>
        </p:nvSpPr>
        <p:spPr>
          <a:xfrm>
            <a:off x="1638300" y="1600200"/>
            <a:ext cx="38100" cy="38100"/>
          </a:xfrm>
          <a:prstGeom prst="rect">
            <a:avLst/>
          </a:prstGeom>
          <a:solidFill>
            <a:srgbClr val="CED7E6">
              <a:alpha val="21754"/>
            </a:srgbClr>
          </a:solidFill>
          <a:ln>
            <a:noFill/>
          </a:ln>
        </p:spPr>
      </p:sp>
      <p:sp>
        <p:nvSpPr>
          <p:cNvPr id="66" name="wm.whiteboard.108.126"/>
          <p:cNvSpPr/>
          <p:nvPr/>
        </p:nvSpPr>
        <p:spPr>
          <a:xfrm>
            <a:off x="1638300" y="1828800"/>
            <a:ext cx="38100" cy="38100"/>
          </a:xfrm>
          <a:prstGeom prst="rect">
            <a:avLst/>
          </a:prstGeom>
          <a:solidFill>
            <a:srgbClr val="CED7E6">
              <a:alpha val="8391"/>
            </a:srgbClr>
          </a:solidFill>
          <a:ln>
            <a:noFill/>
          </a:ln>
        </p:spPr>
      </p:sp>
      <p:sp>
        <p:nvSpPr>
          <p:cNvPr id="67" name="wm.whiteboard.126.0"/>
          <p:cNvSpPr/>
          <p:nvPr/>
        </p:nvSpPr>
        <p:spPr>
          <a:xfrm>
            <a:off x="1866900" y="228600"/>
            <a:ext cx="38100" cy="38100"/>
          </a:xfrm>
          <a:prstGeom prst="rect">
            <a:avLst/>
          </a:prstGeom>
          <a:solidFill>
            <a:srgbClr val="CED7E6">
              <a:alpha val="56247"/>
            </a:srgbClr>
          </a:solidFill>
          <a:ln>
            <a:noFill/>
          </a:ln>
        </p:spPr>
      </p:sp>
      <p:sp>
        <p:nvSpPr>
          <p:cNvPr id="68" name="wm.whiteboard.126.18"/>
          <p:cNvSpPr/>
          <p:nvPr/>
        </p:nvSpPr>
        <p:spPr>
          <a:xfrm>
            <a:off x="1866900" y="457200"/>
            <a:ext cx="38100" cy="38100"/>
          </a:xfrm>
          <a:prstGeom prst="rect">
            <a:avLst/>
          </a:prstGeom>
          <a:solidFill>
            <a:srgbClr val="CED7E6">
              <a:alpha val="54578"/>
            </a:srgbClr>
          </a:solidFill>
          <a:ln>
            <a:noFill/>
          </a:ln>
        </p:spPr>
      </p:sp>
      <p:sp>
        <p:nvSpPr>
          <p:cNvPr id="69" name="wm.whiteboard.126.36"/>
          <p:cNvSpPr/>
          <p:nvPr/>
        </p:nvSpPr>
        <p:spPr>
          <a:xfrm>
            <a:off x="1866900" y="685800"/>
            <a:ext cx="38100" cy="38100"/>
          </a:xfrm>
          <a:prstGeom prst="rect">
            <a:avLst/>
          </a:prstGeom>
          <a:solidFill>
            <a:srgbClr val="CED7E6">
              <a:alpha val="50182"/>
            </a:srgbClr>
          </a:solidFill>
          <a:ln>
            <a:noFill/>
          </a:ln>
        </p:spPr>
      </p:sp>
      <p:sp>
        <p:nvSpPr>
          <p:cNvPr id="70" name="wm.whiteboard.126.54"/>
          <p:cNvSpPr/>
          <p:nvPr/>
        </p:nvSpPr>
        <p:spPr>
          <a:xfrm>
            <a:off x="1866900" y="914400"/>
            <a:ext cx="38100" cy="38100"/>
          </a:xfrm>
          <a:prstGeom prst="rect">
            <a:avLst/>
          </a:prstGeom>
          <a:solidFill>
            <a:srgbClr val="CED7E6">
              <a:alpha val="43386"/>
            </a:srgbClr>
          </a:solidFill>
          <a:ln>
            <a:noFill/>
          </a:ln>
        </p:spPr>
      </p:sp>
      <p:sp>
        <p:nvSpPr>
          <p:cNvPr id="71" name="wm.whiteboard.126.72"/>
          <p:cNvSpPr/>
          <p:nvPr/>
        </p:nvSpPr>
        <p:spPr>
          <a:xfrm>
            <a:off x="1866900" y="1143000"/>
            <a:ext cx="38100" cy="38100"/>
          </a:xfrm>
          <a:prstGeom prst="rect">
            <a:avLst/>
          </a:prstGeom>
          <a:solidFill>
            <a:srgbClr val="CED7E6">
              <a:alpha val="34598"/>
            </a:srgbClr>
          </a:solidFill>
          <a:ln>
            <a:noFill/>
          </a:ln>
        </p:spPr>
      </p:sp>
      <p:sp>
        <p:nvSpPr>
          <p:cNvPr id="72" name="wm.whiteboard.126.90"/>
          <p:cNvSpPr/>
          <p:nvPr/>
        </p:nvSpPr>
        <p:spPr>
          <a:xfrm>
            <a:off x="1866900" y="1371600"/>
            <a:ext cx="38100" cy="38100"/>
          </a:xfrm>
          <a:prstGeom prst="rect">
            <a:avLst/>
          </a:prstGeom>
          <a:solidFill>
            <a:srgbClr val="CED7E6">
              <a:alpha val="24223"/>
            </a:srgbClr>
          </a:solidFill>
          <a:ln>
            <a:noFill/>
          </a:ln>
        </p:spPr>
      </p:sp>
      <p:sp>
        <p:nvSpPr>
          <p:cNvPr id="73" name="wm.whiteboard.126.108"/>
          <p:cNvSpPr/>
          <p:nvPr/>
        </p:nvSpPr>
        <p:spPr>
          <a:xfrm>
            <a:off x="1866900" y="1600200"/>
            <a:ext cx="38100" cy="38100"/>
          </a:xfrm>
          <a:prstGeom prst="rect">
            <a:avLst/>
          </a:prstGeom>
          <a:solidFill>
            <a:srgbClr val="CED7E6">
              <a:alpha val="12610"/>
            </a:srgbClr>
          </a:solidFill>
          <a:ln>
            <a:noFill/>
          </a:ln>
        </p:spPr>
      </p:sp>
      <p:sp>
        <p:nvSpPr>
          <p:cNvPr id="74" name="wm.whiteboard.126.126"/>
          <p:cNvSpPr/>
          <p:nvPr/>
        </p:nvSpPr>
        <p:spPr>
          <a:xfrm>
            <a:off x="1866900" y="1828800"/>
            <a:ext cx="38100" cy="38100"/>
          </a:xfrm>
          <a:prstGeom prst="rect">
            <a:avLst/>
          </a:prstGeom>
          <a:solidFill>
            <a:srgbClr val="CED7E6">
              <a:alpha val="40"/>
            </a:srgbClr>
          </a:solidFill>
          <a:ln>
            <a:noFill/>
          </a:ln>
        </p:spPr>
      </p:sp>
      <p:sp>
        <p:nvSpPr>
          <p:cNvPr id="75" name="wm.whiteboard.144.0"/>
          <p:cNvSpPr/>
          <p:nvPr/>
        </p:nvSpPr>
        <p:spPr>
          <a:xfrm>
            <a:off x="2095500" y="228600"/>
            <a:ext cx="38100" cy="38100"/>
          </a:xfrm>
          <a:prstGeom prst="rect">
            <a:avLst/>
          </a:prstGeom>
          <a:solidFill>
            <a:srgbClr val="CED7E6">
              <a:alpha val="42471"/>
            </a:srgbClr>
          </a:solidFill>
          <a:ln>
            <a:noFill/>
          </a:ln>
        </p:spPr>
      </p:sp>
      <p:sp>
        <p:nvSpPr>
          <p:cNvPr id="76" name="wm.whiteboard.144.18"/>
          <p:cNvSpPr/>
          <p:nvPr/>
        </p:nvSpPr>
        <p:spPr>
          <a:xfrm>
            <a:off x="2095500" y="457200"/>
            <a:ext cx="38100" cy="38100"/>
          </a:xfrm>
          <a:prstGeom prst="rect">
            <a:avLst/>
          </a:prstGeom>
          <a:solidFill>
            <a:srgbClr val="CED7E6">
              <a:alpha val="41005"/>
            </a:srgbClr>
          </a:solidFill>
          <a:ln>
            <a:noFill/>
          </a:ln>
        </p:spPr>
      </p:sp>
      <p:sp>
        <p:nvSpPr>
          <p:cNvPr id="77" name="wm.whiteboard.144.36"/>
          <p:cNvSpPr/>
          <p:nvPr/>
        </p:nvSpPr>
        <p:spPr>
          <a:xfrm>
            <a:off x="2095500" y="685800"/>
            <a:ext cx="38100" cy="38100"/>
          </a:xfrm>
          <a:prstGeom prst="rect">
            <a:avLst/>
          </a:prstGeom>
          <a:solidFill>
            <a:srgbClr val="CED7E6">
              <a:alpha val="37120"/>
            </a:srgbClr>
          </a:solidFill>
          <a:ln>
            <a:noFill/>
          </a:ln>
        </p:spPr>
      </p:sp>
      <p:sp>
        <p:nvSpPr>
          <p:cNvPr id="78" name="wm.whiteboard.144.54"/>
          <p:cNvSpPr/>
          <p:nvPr/>
        </p:nvSpPr>
        <p:spPr>
          <a:xfrm>
            <a:off x="2095500" y="914400"/>
            <a:ext cx="38100" cy="38100"/>
          </a:xfrm>
          <a:prstGeom prst="rect">
            <a:avLst/>
          </a:prstGeom>
          <a:solidFill>
            <a:srgbClr val="CED7E6">
              <a:alpha val="31044"/>
            </a:srgbClr>
          </a:solidFill>
          <a:ln>
            <a:noFill/>
          </a:ln>
        </p:spPr>
      </p:sp>
      <p:sp>
        <p:nvSpPr>
          <p:cNvPr id="79" name="wm.whiteboard.144.72"/>
          <p:cNvSpPr/>
          <p:nvPr/>
        </p:nvSpPr>
        <p:spPr>
          <a:xfrm>
            <a:off x="2095500" y="1143000"/>
            <a:ext cx="38100" cy="38100"/>
          </a:xfrm>
          <a:prstGeom prst="rect">
            <a:avLst/>
          </a:prstGeom>
          <a:solidFill>
            <a:srgbClr val="CED7E6">
              <a:alpha val="23083"/>
            </a:srgbClr>
          </a:solidFill>
          <a:ln>
            <a:noFill/>
          </a:ln>
        </p:spPr>
      </p:sp>
      <p:sp>
        <p:nvSpPr>
          <p:cNvPr id="80" name="wm.whiteboard.144.90"/>
          <p:cNvSpPr/>
          <p:nvPr/>
        </p:nvSpPr>
        <p:spPr>
          <a:xfrm>
            <a:off x="2095500" y="1371600"/>
            <a:ext cx="38100" cy="38100"/>
          </a:xfrm>
          <a:prstGeom prst="rect">
            <a:avLst/>
          </a:prstGeom>
          <a:solidFill>
            <a:srgbClr val="CED7E6">
              <a:alpha val="13557"/>
            </a:srgbClr>
          </a:solidFill>
          <a:ln>
            <a:noFill/>
          </a:ln>
        </p:spPr>
      </p:sp>
      <p:sp>
        <p:nvSpPr>
          <p:cNvPr id="81" name="wm.whiteboard.144.108"/>
          <p:cNvSpPr/>
          <p:nvPr/>
        </p:nvSpPr>
        <p:spPr>
          <a:xfrm>
            <a:off x="2095500" y="1600200"/>
            <a:ext cx="38100" cy="38100"/>
          </a:xfrm>
          <a:prstGeom prst="rect">
            <a:avLst/>
          </a:prstGeom>
          <a:solidFill>
            <a:srgbClr val="CED7E6">
              <a:alpha val="2762"/>
            </a:srgbClr>
          </a:solidFill>
          <a:ln>
            <a:noFill/>
          </a:ln>
        </p:spPr>
      </p:sp>
      <p:sp>
        <p:nvSpPr>
          <p:cNvPr id="82" name="wm.whiteboard.162.0"/>
          <p:cNvSpPr/>
          <p:nvPr/>
        </p:nvSpPr>
        <p:spPr>
          <a:xfrm>
            <a:off x="2324100" y="228600"/>
            <a:ext cx="38100" cy="38100"/>
          </a:xfrm>
          <a:prstGeom prst="rect">
            <a:avLst/>
          </a:prstGeom>
          <a:solidFill>
            <a:srgbClr val="CED7E6">
              <a:alpha val="28695"/>
            </a:srgbClr>
          </a:solidFill>
          <a:ln>
            <a:noFill/>
          </a:ln>
        </p:spPr>
      </p:sp>
      <p:sp>
        <p:nvSpPr>
          <p:cNvPr id="83" name="wm.whiteboard.162.18"/>
          <p:cNvSpPr/>
          <p:nvPr/>
        </p:nvSpPr>
        <p:spPr>
          <a:xfrm>
            <a:off x="2324100" y="457200"/>
            <a:ext cx="38100" cy="38100"/>
          </a:xfrm>
          <a:prstGeom prst="rect">
            <a:avLst/>
          </a:prstGeom>
          <a:solidFill>
            <a:srgbClr val="CED7E6">
              <a:alpha val="27389"/>
            </a:srgbClr>
          </a:solidFill>
          <a:ln>
            <a:noFill/>
          </a:ln>
        </p:spPr>
      </p:sp>
      <p:sp>
        <p:nvSpPr>
          <p:cNvPr id="84" name="wm.whiteboard.162.36"/>
          <p:cNvSpPr/>
          <p:nvPr/>
        </p:nvSpPr>
        <p:spPr>
          <a:xfrm>
            <a:off x="2324100" y="685800"/>
            <a:ext cx="38100" cy="38100"/>
          </a:xfrm>
          <a:prstGeom prst="rect">
            <a:avLst/>
          </a:prstGeom>
          <a:solidFill>
            <a:srgbClr val="CED7E6">
              <a:alpha val="23910"/>
            </a:srgbClr>
          </a:solidFill>
          <a:ln>
            <a:noFill/>
          </a:ln>
        </p:spPr>
      </p:sp>
      <p:sp>
        <p:nvSpPr>
          <p:cNvPr id="85" name="wm.whiteboard.162.54"/>
          <p:cNvSpPr/>
          <p:nvPr/>
        </p:nvSpPr>
        <p:spPr>
          <a:xfrm>
            <a:off x="2324100" y="914400"/>
            <a:ext cx="38100" cy="38100"/>
          </a:xfrm>
          <a:prstGeom prst="rect">
            <a:avLst/>
          </a:prstGeom>
          <a:solidFill>
            <a:srgbClr val="CED7E6">
              <a:alpha val="18425"/>
            </a:srgbClr>
          </a:solidFill>
          <a:ln>
            <a:noFill/>
          </a:ln>
        </p:spPr>
      </p:sp>
      <p:sp>
        <p:nvSpPr>
          <p:cNvPr id="86" name="wm.whiteboard.162.72"/>
          <p:cNvSpPr/>
          <p:nvPr/>
        </p:nvSpPr>
        <p:spPr>
          <a:xfrm>
            <a:off x="2324100" y="1143000"/>
            <a:ext cx="38100" cy="38100"/>
          </a:xfrm>
          <a:prstGeom prst="rect">
            <a:avLst/>
          </a:prstGeom>
          <a:solidFill>
            <a:srgbClr val="CED7E6">
              <a:alpha val="11167"/>
            </a:srgbClr>
          </a:solidFill>
          <a:ln>
            <a:noFill/>
          </a:ln>
        </p:spPr>
      </p:sp>
      <p:sp>
        <p:nvSpPr>
          <p:cNvPr id="87" name="wm.whiteboard.162.90"/>
          <p:cNvSpPr/>
          <p:nvPr/>
        </p:nvSpPr>
        <p:spPr>
          <a:xfrm>
            <a:off x="2324100" y="1371600"/>
            <a:ext cx="38100" cy="38100"/>
          </a:xfrm>
          <a:prstGeom prst="rect">
            <a:avLst/>
          </a:prstGeom>
          <a:solidFill>
            <a:srgbClr val="CED7E6">
              <a:alpha val="2388"/>
            </a:srgbClr>
          </a:solidFill>
          <a:ln>
            <a:noFill/>
          </a:ln>
        </p:spPr>
      </p:sp>
      <p:sp>
        <p:nvSpPr>
          <p:cNvPr id="88" name="wm.whiteboard.180.0"/>
          <p:cNvSpPr/>
          <p:nvPr/>
        </p:nvSpPr>
        <p:spPr>
          <a:xfrm>
            <a:off x="2552700" y="228600"/>
            <a:ext cx="38100" cy="38100"/>
          </a:xfrm>
          <a:prstGeom prst="rect">
            <a:avLst/>
          </a:prstGeom>
          <a:solidFill>
            <a:srgbClr val="CED7E6">
              <a:alpha val="14918"/>
            </a:srgbClr>
          </a:solidFill>
          <a:ln>
            <a:noFill/>
          </a:ln>
        </p:spPr>
      </p:sp>
      <p:sp>
        <p:nvSpPr>
          <p:cNvPr id="89" name="wm.whiteboard.180.18"/>
          <p:cNvSpPr/>
          <p:nvPr/>
        </p:nvSpPr>
        <p:spPr>
          <a:xfrm>
            <a:off x="2552700" y="457200"/>
            <a:ext cx="38100" cy="38100"/>
          </a:xfrm>
          <a:prstGeom prst="rect">
            <a:avLst/>
          </a:prstGeom>
          <a:solidFill>
            <a:srgbClr val="CED7E6">
              <a:alpha val="13741"/>
            </a:srgbClr>
          </a:solidFill>
          <a:ln>
            <a:noFill/>
          </a:ln>
        </p:spPr>
      </p:sp>
      <p:sp>
        <p:nvSpPr>
          <p:cNvPr id="90" name="wm.whiteboard.180.36"/>
          <p:cNvSpPr/>
          <p:nvPr/>
        </p:nvSpPr>
        <p:spPr>
          <a:xfrm>
            <a:off x="2552700" y="685800"/>
            <a:ext cx="38100" cy="38100"/>
          </a:xfrm>
          <a:prstGeom prst="rect">
            <a:avLst/>
          </a:prstGeom>
          <a:solidFill>
            <a:srgbClr val="CED7E6">
              <a:alpha val="10593"/>
            </a:srgbClr>
          </a:solidFill>
          <a:ln>
            <a:noFill/>
          </a:ln>
        </p:spPr>
      </p:sp>
      <p:sp>
        <p:nvSpPr>
          <p:cNvPr id="91" name="wm.whiteboard.180.54"/>
          <p:cNvSpPr/>
          <p:nvPr/>
        </p:nvSpPr>
        <p:spPr>
          <a:xfrm>
            <a:off x="2552700" y="914400"/>
            <a:ext cx="38100" cy="38100"/>
          </a:xfrm>
          <a:prstGeom prst="rect">
            <a:avLst/>
          </a:prstGeom>
          <a:solidFill>
            <a:srgbClr val="CED7E6">
              <a:alpha val="5600"/>
            </a:srgbClr>
          </a:solidFill>
          <a:ln>
            <a:noFill/>
          </a:ln>
        </p:spPr>
      </p:sp>
      <p:sp>
        <p:nvSpPr>
          <p:cNvPr id="92" name="wm.whiteboard.198.0"/>
          <p:cNvSpPr/>
          <p:nvPr/>
        </p:nvSpPr>
        <p:spPr>
          <a:xfrm>
            <a:off x="2781300" y="228600"/>
            <a:ext cx="38100" cy="38100"/>
          </a:xfrm>
          <a:prstGeom prst="rect">
            <a:avLst/>
          </a:prstGeom>
          <a:solidFill>
            <a:srgbClr val="CED7E6">
              <a:alpha val="1142"/>
            </a:srgbClr>
          </a:solidFill>
          <a:ln>
            <a:noFill/>
          </a:ln>
        </p:spPr>
      </p:sp>
      <p:sp>
        <p:nvSpPr>
          <p:cNvPr id="93" name="wm.whiteboard.198.18"/>
          <p:cNvSpPr/>
          <p:nvPr/>
        </p:nvSpPr>
        <p:spPr>
          <a:xfrm>
            <a:off x="2781300" y="457200"/>
            <a:ext cx="38100" cy="38100"/>
          </a:xfrm>
          <a:prstGeom prst="rect">
            <a:avLst/>
          </a:prstGeom>
          <a:solidFill>
            <a:srgbClr val="CED7E6">
              <a:alpha val="69"/>
            </a:srgbClr>
          </a:solidFill>
          <a:ln>
            <a:noFill/>
          </a:ln>
        </p:spPr>
      </p:sp>
      <p:sp>
        <p:nvSpPr>
          <p:cNvPr id="94" name="wm.header.rule"/>
          <p:cNvSpPr/>
          <p:nvPr/>
        </p:nvSpPr>
        <p:spPr>
          <a:xfrm>
            <a:off x="723900" y="1371600"/>
            <a:ext cx="10744200" cy="9525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pic>
        <p:nvPicPr>
          <p:cNvPr id="95" name="wm.logo" descr="West Monro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900" y="6210300"/>
            <a:ext cx="729403" cy="152400"/>
          </a:xfrm>
          <a:prstGeom prst="rect">
            <a:avLst/>
          </a:prstGeom>
        </p:spPr>
      </p:pic>
      <p:sp>
        <p:nvSpPr>
          <p:cNvPr id="96" name="wm.legal"/>
          <p:cNvSpPr/>
          <p:nvPr/>
        </p:nvSpPr>
        <p:spPr>
          <a:xfrm>
            <a:off x="2171700" y="6172200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00" spc="0" kern="0" b="0" i="0" dirty="0">
                <a:solidFill>
                  <a:srgbClr val="50658E"/>
                </a:solidFill>
                <a:latin typeface="IBM Plex Mono"/>
                <a:ea typeface="IBM Plex Mono"/>
                <a:cs typeface="IBM Plex Mono"/>
              </a:rPr>
              <a:t>© 2026 West Monroe Partners | Reproduction and/or distribution without West Monroe Partners’ prior consent is prohibited.</a:t>
            </a:r>
            <a:endParaRPr lang="en-US" sz="700" spc="0" kern="0" b="0" i="0" dirty="0">
              <a:solidFill>
                <a:srgbClr val="50658E"/>
              </a:solidFill>
              <a:latin typeface="IBM Plex Mono"/>
              <a:ea typeface="IBM Plex Mono"/>
              <a:cs typeface="IBM Plex Mon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mds.frame.4f047a8330c1be2128b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m.footer.rule"/>
          <p:cNvSpPr/>
          <p:nvPr/>
        </p:nvSpPr>
        <p:spPr>
          <a:xfrm>
            <a:off x="723900" y="6057900"/>
            <a:ext cx="10744200" cy="9525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" name="wm.whiteboard.0.0"/>
          <p:cNvSpPr/>
          <p:nvPr/>
        </p:nvSpPr>
        <p:spPr>
          <a:xfrm>
            <a:off x="2667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4" name="wm.whiteboard.0.18"/>
          <p:cNvSpPr/>
          <p:nvPr/>
        </p:nvSpPr>
        <p:spPr>
          <a:xfrm>
            <a:off x="2667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5" name="wm.whiteboard.0.36"/>
          <p:cNvSpPr/>
          <p:nvPr/>
        </p:nvSpPr>
        <p:spPr>
          <a:xfrm>
            <a:off x="2667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6" name="wm.whiteboard.0.54"/>
          <p:cNvSpPr/>
          <p:nvPr/>
        </p:nvSpPr>
        <p:spPr>
          <a:xfrm>
            <a:off x="266700" y="9144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7" name="wm.whiteboard.0.72"/>
          <p:cNvSpPr/>
          <p:nvPr/>
        </p:nvSpPr>
        <p:spPr>
          <a:xfrm>
            <a:off x="266700" y="1143000"/>
            <a:ext cx="38100" cy="38100"/>
          </a:xfrm>
          <a:prstGeom prst="rect">
            <a:avLst/>
          </a:prstGeom>
          <a:solidFill>
            <a:srgbClr val="CED7E6">
              <a:alpha val="85305"/>
            </a:srgbClr>
          </a:solidFill>
          <a:ln>
            <a:noFill/>
          </a:ln>
        </p:spPr>
      </p:sp>
      <p:sp>
        <p:nvSpPr>
          <p:cNvPr id="8" name="wm.whiteboard.0.90"/>
          <p:cNvSpPr/>
          <p:nvPr/>
        </p:nvSpPr>
        <p:spPr>
          <a:xfrm>
            <a:off x="266700" y="1371600"/>
            <a:ext cx="38100" cy="38100"/>
          </a:xfrm>
          <a:prstGeom prst="rect">
            <a:avLst/>
          </a:prstGeom>
          <a:solidFill>
            <a:srgbClr val="CED7E6">
              <a:alpha val="68524"/>
            </a:srgbClr>
          </a:solidFill>
          <a:ln>
            <a:noFill/>
          </a:ln>
        </p:spPr>
      </p:sp>
      <p:sp>
        <p:nvSpPr>
          <p:cNvPr id="9" name="wm.whiteboard.0.108"/>
          <p:cNvSpPr/>
          <p:nvPr/>
        </p:nvSpPr>
        <p:spPr>
          <a:xfrm>
            <a:off x="266700" y="1600200"/>
            <a:ext cx="38100" cy="38100"/>
          </a:xfrm>
          <a:prstGeom prst="rect">
            <a:avLst/>
          </a:prstGeom>
          <a:solidFill>
            <a:srgbClr val="CED7E6">
              <a:alpha val="51742"/>
            </a:srgbClr>
          </a:solidFill>
          <a:ln>
            <a:noFill/>
          </a:ln>
        </p:spPr>
      </p:sp>
      <p:sp>
        <p:nvSpPr>
          <p:cNvPr id="10" name="wm.whiteboard.0.126"/>
          <p:cNvSpPr/>
          <p:nvPr/>
        </p:nvSpPr>
        <p:spPr>
          <a:xfrm>
            <a:off x="266700" y="1828800"/>
            <a:ext cx="38100" cy="38100"/>
          </a:xfrm>
          <a:prstGeom prst="rect">
            <a:avLst/>
          </a:prstGeom>
          <a:solidFill>
            <a:srgbClr val="CED7E6">
              <a:alpha val="34959"/>
            </a:srgbClr>
          </a:solidFill>
          <a:ln>
            <a:noFill/>
          </a:ln>
        </p:spPr>
      </p:sp>
      <p:sp>
        <p:nvSpPr>
          <p:cNvPr id="11" name="wm.whiteboard.0.144"/>
          <p:cNvSpPr/>
          <p:nvPr/>
        </p:nvSpPr>
        <p:spPr>
          <a:xfrm>
            <a:off x="266700" y="2057400"/>
            <a:ext cx="38100" cy="38100"/>
          </a:xfrm>
          <a:prstGeom prst="rect">
            <a:avLst/>
          </a:prstGeom>
          <a:solidFill>
            <a:srgbClr val="CED7E6">
              <a:alpha val="18177"/>
            </a:srgbClr>
          </a:solidFill>
          <a:ln>
            <a:noFill/>
          </a:ln>
        </p:spPr>
      </p:sp>
      <p:sp>
        <p:nvSpPr>
          <p:cNvPr id="12" name="wm.whiteboard.0.162"/>
          <p:cNvSpPr/>
          <p:nvPr/>
        </p:nvSpPr>
        <p:spPr>
          <a:xfrm>
            <a:off x="266700" y="2286000"/>
            <a:ext cx="38100" cy="38100"/>
          </a:xfrm>
          <a:prstGeom prst="rect">
            <a:avLst/>
          </a:prstGeom>
          <a:solidFill>
            <a:srgbClr val="CED7E6">
              <a:alpha val="1394"/>
            </a:srgbClr>
          </a:solidFill>
          <a:ln>
            <a:noFill/>
          </a:ln>
        </p:spPr>
      </p:sp>
      <p:sp>
        <p:nvSpPr>
          <p:cNvPr id="13" name="wm.whiteboard.18.0"/>
          <p:cNvSpPr/>
          <p:nvPr/>
        </p:nvSpPr>
        <p:spPr>
          <a:xfrm>
            <a:off x="4953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4" name="wm.whiteboard.18.18"/>
          <p:cNvSpPr/>
          <p:nvPr/>
        </p:nvSpPr>
        <p:spPr>
          <a:xfrm>
            <a:off x="4953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5" name="wm.whiteboard.18.36"/>
          <p:cNvSpPr/>
          <p:nvPr/>
        </p:nvSpPr>
        <p:spPr>
          <a:xfrm>
            <a:off x="4953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6" name="wm.whiteboard.18.54"/>
          <p:cNvSpPr/>
          <p:nvPr/>
        </p:nvSpPr>
        <p:spPr>
          <a:xfrm>
            <a:off x="495300" y="914400"/>
            <a:ext cx="38100" cy="38100"/>
          </a:xfrm>
          <a:prstGeom prst="rect">
            <a:avLst/>
          </a:prstGeom>
          <a:solidFill>
            <a:srgbClr val="CED7E6">
              <a:alpha val="99988"/>
            </a:srgbClr>
          </a:solidFill>
          <a:ln>
            <a:noFill/>
          </a:ln>
        </p:spPr>
      </p:sp>
      <p:sp>
        <p:nvSpPr>
          <p:cNvPr id="17" name="wm.whiteboard.18.72"/>
          <p:cNvSpPr/>
          <p:nvPr/>
        </p:nvSpPr>
        <p:spPr>
          <a:xfrm>
            <a:off x="495300" y="1143000"/>
            <a:ext cx="38100" cy="38100"/>
          </a:xfrm>
          <a:prstGeom prst="rect">
            <a:avLst/>
          </a:prstGeom>
          <a:solidFill>
            <a:srgbClr val="CED7E6">
              <a:alpha val="83708"/>
            </a:srgbClr>
          </a:solidFill>
          <a:ln>
            <a:noFill/>
          </a:ln>
        </p:spPr>
      </p:sp>
      <p:sp>
        <p:nvSpPr>
          <p:cNvPr id="18" name="wm.whiteboard.18.90"/>
          <p:cNvSpPr/>
          <p:nvPr/>
        </p:nvSpPr>
        <p:spPr>
          <a:xfrm>
            <a:off x="495300" y="1371600"/>
            <a:ext cx="38100" cy="38100"/>
          </a:xfrm>
          <a:prstGeom prst="rect">
            <a:avLst/>
          </a:prstGeom>
          <a:solidFill>
            <a:srgbClr val="CED7E6">
              <a:alpha val="67236"/>
            </a:srgbClr>
          </a:solidFill>
          <a:ln>
            <a:noFill/>
          </a:ln>
        </p:spPr>
      </p:sp>
      <p:sp>
        <p:nvSpPr>
          <p:cNvPr id="19" name="wm.whiteboard.18.108"/>
          <p:cNvSpPr/>
          <p:nvPr/>
        </p:nvSpPr>
        <p:spPr>
          <a:xfrm>
            <a:off x="495300" y="1600200"/>
            <a:ext cx="38100" cy="38100"/>
          </a:xfrm>
          <a:prstGeom prst="rect">
            <a:avLst/>
          </a:prstGeom>
          <a:solidFill>
            <a:srgbClr val="CED7E6">
              <a:alpha val="50663"/>
            </a:srgbClr>
          </a:solidFill>
          <a:ln>
            <a:noFill/>
          </a:ln>
        </p:spPr>
      </p:sp>
      <p:sp>
        <p:nvSpPr>
          <p:cNvPr id="20" name="wm.whiteboard.18.126"/>
          <p:cNvSpPr/>
          <p:nvPr/>
        </p:nvSpPr>
        <p:spPr>
          <a:xfrm>
            <a:off x="495300" y="1828800"/>
            <a:ext cx="38100" cy="38100"/>
          </a:xfrm>
          <a:prstGeom prst="rect">
            <a:avLst/>
          </a:prstGeom>
          <a:solidFill>
            <a:srgbClr val="CED7E6">
              <a:alpha val="34032"/>
            </a:srgbClr>
          </a:solidFill>
          <a:ln>
            <a:noFill/>
          </a:ln>
        </p:spPr>
      </p:sp>
      <p:sp>
        <p:nvSpPr>
          <p:cNvPr id="21" name="wm.whiteboard.18.144"/>
          <p:cNvSpPr/>
          <p:nvPr/>
        </p:nvSpPr>
        <p:spPr>
          <a:xfrm>
            <a:off x="495300" y="2057400"/>
            <a:ext cx="38100" cy="38100"/>
          </a:xfrm>
          <a:prstGeom prst="rect">
            <a:avLst/>
          </a:prstGeom>
          <a:solidFill>
            <a:srgbClr val="CED7E6">
              <a:alpha val="17363"/>
            </a:srgbClr>
          </a:solidFill>
          <a:ln>
            <a:noFill/>
          </a:ln>
        </p:spPr>
      </p:sp>
      <p:sp>
        <p:nvSpPr>
          <p:cNvPr id="22" name="wm.whiteboard.18.162"/>
          <p:cNvSpPr/>
          <p:nvPr/>
        </p:nvSpPr>
        <p:spPr>
          <a:xfrm>
            <a:off x="495300" y="2286000"/>
            <a:ext cx="38100" cy="38100"/>
          </a:xfrm>
          <a:prstGeom prst="rect">
            <a:avLst/>
          </a:prstGeom>
          <a:solidFill>
            <a:srgbClr val="CED7E6">
              <a:alpha val="670"/>
            </a:srgbClr>
          </a:solidFill>
          <a:ln>
            <a:noFill/>
          </a:ln>
        </p:spPr>
      </p:sp>
      <p:sp>
        <p:nvSpPr>
          <p:cNvPr id="23" name="wm.whiteboard.36.0"/>
          <p:cNvSpPr/>
          <p:nvPr/>
        </p:nvSpPr>
        <p:spPr>
          <a:xfrm>
            <a:off x="7239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4" name="wm.whiteboard.36.18"/>
          <p:cNvSpPr/>
          <p:nvPr/>
        </p:nvSpPr>
        <p:spPr>
          <a:xfrm>
            <a:off x="7239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5" name="wm.whiteboard.36.36"/>
          <p:cNvSpPr/>
          <p:nvPr/>
        </p:nvSpPr>
        <p:spPr>
          <a:xfrm>
            <a:off x="7239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6" name="wm.whiteboard.36.54"/>
          <p:cNvSpPr/>
          <p:nvPr/>
        </p:nvSpPr>
        <p:spPr>
          <a:xfrm>
            <a:off x="723900" y="914400"/>
            <a:ext cx="38100" cy="38100"/>
          </a:xfrm>
          <a:prstGeom prst="rect">
            <a:avLst/>
          </a:prstGeom>
          <a:solidFill>
            <a:srgbClr val="CED7E6">
              <a:alpha val="94671"/>
            </a:srgbClr>
          </a:solidFill>
          <a:ln>
            <a:noFill/>
          </a:ln>
        </p:spPr>
      </p:sp>
      <p:sp>
        <p:nvSpPr>
          <p:cNvPr id="27" name="wm.whiteboard.36.72"/>
          <p:cNvSpPr/>
          <p:nvPr/>
        </p:nvSpPr>
        <p:spPr>
          <a:xfrm>
            <a:off x="723900" y="1143000"/>
            <a:ext cx="38100" cy="38100"/>
          </a:xfrm>
          <a:prstGeom prst="rect">
            <a:avLst/>
          </a:prstGeom>
          <a:solidFill>
            <a:srgbClr val="CED7E6">
              <a:alpha val="79547"/>
            </a:srgbClr>
          </a:solidFill>
          <a:ln>
            <a:noFill/>
          </a:ln>
        </p:spPr>
      </p:sp>
      <p:sp>
        <p:nvSpPr>
          <p:cNvPr id="28" name="wm.whiteboard.36.90"/>
          <p:cNvSpPr/>
          <p:nvPr/>
        </p:nvSpPr>
        <p:spPr>
          <a:xfrm>
            <a:off x="723900" y="1371600"/>
            <a:ext cx="38100" cy="38100"/>
          </a:xfrm>
          <a:prstGeom prst="rect">
            <a:avLst/>
          </a:prstGeom>
          <a:solidFill>
            <a:srgbClr val="CED7E6">
              <a:alpha val="63833"/>
            </a:srgbClr>
          </a:solidFill>
          <a:ln>
            <a:noFill/>
          </a:ln>
        </p:spPr>
      </p:sp>
      <p:sp>
        <p:nvSpPr>
          <p:cNvPr id="29" name="wm.whiteboard.36.108"/>
          <p:cNvSpPr/>
          <p:nvPr/>
        </p:nvSpPr>
        <p:spPr>
          <a:xfrm>
            <a:off x="723900" y="1600200"/>
            <a:ext cx="38100" cy="38100"/>
          </a:xfrm>
          <a:prstGeom prst="rect">
            <a:avLst/>
          </a:prstGeom>
          <a:solidFill>
            <a:srgbClr val="CED7E6">
              <a:alpha val="47790"/>
            </a:srgbClr>
          </a:solidFill>
          <a:ln>
            <a:noFill/>
          </a:ln>
        </p:spPr>
      </p:sp>
      <p:sp>
        <p:nvSpPr>
          <p:cNvPr id="30" name="wm.whiteboard.36.126"/>
          <p:cNvSpPr/>
          <p:nvPr/>
        </p:nvSpPr>
        <p:spPr>
          <a:xfrm>
            <a:off x="723900" y="1828800"/>
            <a:ext cx="38100" cy="38100"/>
          </a:xfrm>
          <a:prstGeom prst="rect">
            <a:avLst/>
          </a:prstGeom>
          <a:solidFill>
            <a:srgbClr val="CED7E6">
              <a:alpha val="31549"/>
            </a:srgbClr>
          </a:solidFill>
          <a:ln>
            <a:noFill/>
          </a:ln>
        </p:spPr>
      </p:sp>
      <p:sp>
        <p:nvSpPr>
          <p:cNvPr id="31" name="wm.whiteboard.36.144"/>
          <p:cNvSpPr/>
          <p:nvPr/>
        </p:nvSpPr>
        <p:spPr>
          <a:xfrm>
            <a:off x="723900" y="2057400"/>
            <a:ext cx="38100" cy="38100"/>
          </a:xfrm>
          <a:prstGeom prst="rect">
            <a:avLst/>
          </a:prstGeom>
          <a:solidFill>
            <a:srgbClr val="CED7E6">
              <a:alpha val="15179"/>
            </a:srgbClr>
          </a:solidFill>
          <a:ln>
            <a:noFill/>
          </a:ln>
        </p:spPr>
      </p:sp>
      <p:sp>
        <p:nvSpPr>
          <p:cNvPr id="32" name="wm.whiteboard.54.0"/>
          <p:cNvSpPr/>
          <p:nvPr/>
        </p:nvSpPr>
        <p:spPr>
          <a:xfrm>
            <a:off x="9525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3" name="wm.whiteboard.54.18"/>
          <p:cNvSpPr/>
          <p:nvPr/>
        </p:nvSpPr>
        <p:spPr>
          <a:xfrm>
            <a:off x="9525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4" name="wm.whiteboard.54.36"/>
          <p:cNvSpPr/>
          <p:nvPr/>
        </p:nvSpPr>
        <p:spPr>
          <a:xfrm>
            <a:off x="952500" y="685800"/>
            <a:ext cx="38100" cy="38100"/>
          </a:xfrm>
          <a:prstGeom prst="rect">
            <a:avLst/>
          </a:prstGeom>
          <a:solidFill>
            <a:srgbClr val="CED7E6">
              <a:alpha val="98827"/>
            </a:srgbClr>
          </a:solidFill>
          <a:ln>
            <a:noFill/>
          </a:ln>
        </p:spPr>
      </p:sp>
      <p:sp>
        <p:nvSpPr>
          <p:cNvPr id="35" name="wm.whiteboard.54.54"/>
          <p:cNvSpPr/>
          <p:nvPr/>
        </p:nvSpPr>
        <p:spPr>
          <a:xfrm>
            <a:off x="952500" y="914400"/>
            <a:ext cx="38100" cy="38100"/>
          </a:xfrm>
          <a:prstGeom prst="rect">
            <a:avLst/>
          </a:prstGeom>
          <a:solidFill>
            <a:srgbClr val="CED7E6">
              <a:alpha val="86895"/>
            </a:srgbClr>
          </a:solidFill>
          <a:ln>
            <a:noFill/>
          </a:ln>
        </p:spPr>
      </p:sp>
      <p:sp>
        <p:nvSpPr>
          <p:cNvPr id="36" name="wm.whiteboard.54.72"/>
          <p:cNvSpPr/>
          <p:nvPr/>
        </p:nvSpPr>
        <p:spPr>
          <a:xfrm>
            <a:off x="952500" y="1143000"/>
            <a:ext cx="38100" cy="38100"/>
          </a:xfrm>
          <a:prstGeom prst="rect">
            <a:avLst/>
          </a:prstGeom>
          <a:solidFill>
            <a:srgbClr val="CED7E6">
              <a:alpha val="73217"/>
            </a:srgbClr>
          </a:solidFill>
          <a:ln>
            <a:noFill/>
          </a:ln>
        </p:spPr>
      </p:sp>
      <p:sp>
        <p:nvSpPr>
          <p:cNvPr id="37" name="wm.whiteboard.54.90"/>
          <p:cNvSpPr/>
          <p:nvPr/>
        </p:nvSpPr>
        <p:spPr>
          <a:xfrm>
            <a:off x="952500" y="1371600"/>
            <a:ext cx="38100" cy="38100"/>
          </a:xfrm>
          <a:prstGeom prst="rect">
            <a:avLst/>
          </a:prstGeom>
          <a:solidFill>
            <a:srgbClr val="CED7E6">
              <a:alpha val="58541"/>
            </a:srgbClr>
          </a:solidFill>
          <a:ln>
            <a:noFill/>
          </a:ln>
        </p:spPr>
      </p:sp>
      <p:sp>
        <p:nvSpPr>
          <p:cNvPr id="38" name="wm.whiteboard.54.108"/>
          <p:cNvSpPr/>
          <p:nvPr/>
        </p:nvSpPr>
        <p:spPr>
          <a:xfrm>
            <a:off x="952500" y="1600200"/>
            <a:ext cx="38100" cy="38100"/>
          </a:xfrm>
          <a:prstGeom prst="rect">
            <a:avLst/>
          </a:prstGeom>
          <a:solidFill>
            <a:srgbClr val="CED7E6">
              <a:alpha val="43263"/>
            </a:srgbClr>
          </a:solidFill>
          <a:ln>
            <a:noFill/>
          </a:ln>
        </p:spPr>
      </p:sp>
      <p:sp>
        <p:nvSpPr>
          <p:cNvPr id="39" name="wm.whiteboard.54.126"/>
          <p:cNvSpPr/>
          <p:nvPr/>
        </p:nvSpPr>
        <p:spPr>
          <a:xfrm>
            <a:off x="952500" y="1828800"/>
            <a:ext cx="38100" cy="38100"/>
          </a:xfrm>
          <a:prstGeom prst="rect">
            <a:avLst/>
          </a:prstGeom>
          <a:solidFill>
            <a:srgbClr val="CED7E6">
              <a:alpha val="27603"/>
            </a:srgbClr>
          </a:solidFill>
          <a:ln>
            <a:noFill/>
          </a:ln>
        </p:spPr>
      </p:sp>
      <p:sp>
        <p:nvSpPr>
          <p:cNvPr id="40" name="wm.whiteboard.54.144"/>
          <p:cNvSpPr/>
          <p:nvPr/>
        </p:nvSpPr>
        <p:spPr>
          <a:xfrm>
            <a:off x="952500" y="2057400"/>
            <a:ext cx="38100" cy="38100"/>
          </a:xfrm>
          <a:prstGeom prst="rect">
            <a:avLst/>
          </a:prstGeom>
          <a:solidFill>
            <a:srgbClr val="CED7E6">
              <a:alpha val="11687"/>
            </a:srgbClr>
          </a:solidFill>
          <a:ln>
            <a:noFill/>
          </a:ln>
        </p:spPr>
      </p:sp>
      <p:sp>
        <p:nvSpPr>
          <p:cNvPr id="41" name="wm.whiteboard.72.0"/>
          <p:cNvSpPr/>
          <p:nvPr/>
        </p:nvSpPr>
        <p:spPr>
          <a:xfrm>
            <a:off x="1181100" y="228600"/>
            <a:ext cx="38100" cy="38100"/>
          </a:xfrm>
          <a:prstGeom prst="rect">
            <a:avLst/>
          </a:prstGeom>
          <a:solidFill>
            <a:srgbClr val="CED7E6">
              <a:alpha val="97572"/>
            </a:srgbClr>
          </a:solidFill>
          <a:ln>
            <a:noFill/>
          </a:ln>
        </p:spPr>
      </p:sp>
      <p:sp>
        <p:nvSpPr>
          <p:cNvPr id="42" name="wm.whiteboard.72.18"/>
          <p:cNvSpPr/>
          <p:nvPr/>
        </p:nvSpPr>
        <p:spPr>
          <a:xfrm>
            <a:off x="1181100" y="457200"/>
            <a:ext cx="38100" cy="38100"/>
          </a:xfrm>
          <a:prstGeom prst="rect">
            <a:avLst/>
          </a:prstGeom>
          <a:solidFill>
            <a:srgbClr val="CED7E6">
              <a:alpha val="94724"/>
            </a:srgbClr>
          </a:solidFill>
          <a:ln>
            <a:noFill/>
          </a:ln>
        </p:spPr>
      </p:sp>
      <p:sp>
        <p:nvSpPr>
          <p:cNvPr id="43" name="wm.whiteboard.72.36"/>
          <p:cNvSpPr/>
          <p:nvPr/>
        </p:nvSpPr>
        <p:spPr>
          <a:xfrm>
            <a:off x="1181100" y="685800"/>
            <a:ext cx="38100" cy="38100"/>
          </a:xfrm>
          <a:prstGeom prst="rect">
            <a:avLst/>
          </a:prstGeom>
          <a:solidFill>
            <a:srgbClr val="CED7E6">
              <a:alpha val="87609"/>
            </a:srgbClr>
          </a:solidFill>
          <a:ln>
            <a:noFill/>
          </a:ln>
        </p:spPr>
      </p:sp>
      <p:sp>
        <p:nvSpPr>
          <p:cNvPr id="44" name="wm.whiteboard.72.54"/>
          <p:cNvSpPr/>
          <p:nvPr/>
        </p:nvSpPr>
        <p:spPr>
          <a:xfrm>
            <a:off x="1181100" y="914400"/>
            <a:ext cx="38100" cy="38100"/>
          </a:xfrm>
          <a:prstGeom prst="rect">
            <a:avLst/>
          </a:prstGeom>
          <a:solidFill>
            <a:srgbClr val="CED7E6">
              <a:alpha val="77408"/>
            </a:srgbClr>
          </a:solidFill>
          <a:ln>
            <a:noFill/>
          </a:ln>
        </p:spPr>
      </p:sp>
      <p:sp>
        <p:nvSpPr>
          <p:cNvPr id="45" name="wm.whiteboard.72.72"/>
          <p:cNvSpPr/>
          <p:nvPr/>
        </p:nvSpPr>
        <p:spPr>
          <a:xfrm>
            <a:off x="1181100" y="1143000"/>
            <a:ext cx="38100" cy="38100"/>
          </a:xfrm>
          <a:prstGeom prst="rect">
            <a:avLst/>
          </a:prstGeom>
          <a:solidFill>
            <a:srgbClr val="CED7E6">
              <a:alpha val="65181"/>
            </a:srgbClr>
          </a:solidFill>
          <a:ln>
            <a:noFill/>
          </a:ln>
        </p:spPr>
      </p:sp>
      <p:sp>
        <p:nvSpPr>
          <p:cNvPr id="46" name="wm.whiteboard.72.90"/>
          <p:cNvSpPr/>
          <p:nvPr/>
        </p:nvSpPr>
        <p:spPr>
          <a:xfrm>
            <a:off x="1181100" y="1371600"/>
            <a:ext cx="38100" cy="38100"/>
          </a:xfrm>
          <a:prstGeom prst="rect">
            <a:avLst/>
          </a:prstGeom>
          <a:solidFill>
            <a:srgbClr val="CED7E6">
              <a:alpha val="51653"/>
            </a:srgbClr>
          </a:solidFill>
          <a:ln>
            <a:noFill/>
          </a:ln>
        </p:spPr>
      </p:sp>
      <p:sp>
        <p:nvSpPr>
          <p:cNvPr id="47" name="wm.whiteboard.72.108"/>
          <p:cNvSpPr/>
          <p:nvPr/>
        </p:nvSpPr>
        <p:spPr>
          <a:xfrm>
            <a:off x="1181100" y="1600200"/>
            <a:ext cx="38100" cy="38100"/>
          </a:xfrm>
          <a:prstGeom prst="rect">
            <a:avLst/>
          </a:prstGeom>
          <a:solidFill>
            <a:srgbClr val="CED7E6">
              <a:alpha val="37275"/>
            </a:srgbClr>
          </a:solidFill>
          <a:ln>
            <a:noFill/>
          </a:ln>
        </p:spPr>
      </p:sp>
      <p:sp>
        <p:nvSpPr>
          <p:cNvPr id="48" name="wm.whiteboard.72.126"/>
          <p:cNvSpPr/>
          <p:nvPr/>
        </p:nvSpPr>
        <p:spPr>
          <a:xfrm>
            <a:off x="1181100" y="1828800"/>
            <a:ext cx="38100" cy="38100"/>
          </a:xfrm>
          <a:prstGeom prst="rect">
            <a:avLst/>
          </a:prstGeom>
          <a:solidFill>
            <a:srgbClr val="CED7E6">
              <a:alpha val="22326"/>
            </a:srgbClr>
          </a:solidFill>
          <a:ln>
            <a:noFill/>
          </a:ln>
        </p:spPr>
      </p:sp>
      <p:sp>
        <p:nvSpPr>
          <p:cNvPr id="49" name="wm.whiteboard.72.144"/>
          <p:cNvSpPr/>
          <p:nvPr/>
        </p:nvSpPr>
        <p:spPr>
          <a:xfrm>
            <a:off x="1181100" y="2057400"/>
            <a:ext cx="38100" cy="38100"/>
          </a:xfrm>
          <a:prstGeom prst="rect">
            <a:avLst/>
          </a:prstGeom>
          <a:solidFill>
            <a:srgbClr val="CED7E6">
              <a:alpha val="6980"/>
            </a:srgbClr>
          </a:solidFill>
          <a:ln>
            <a:noFill/>
          </a:ln>
        </p:spPr>
      </p:sp>
      <p:sp>
        <p:nvSpPr>
          <p:cNvPr id="50" name="wm.whiteboard.90.0"/>
          <p:cNvSpPr/>
          <p:nvPr/>
        </p:nvSpPr>
        <p:spPr>
          <a:xfrm>
            <a:off x="1409700" y="228600"/>
            <a:ext cx="38100" cy="38100"/>
          </a:xfrm>
          <a:prstGeom prst="rect">
            <a:avLst/>
          </a:prstGeom>
          <a:solidFill>
            <a:srgbClr val="CED7E6">
              <a:alpha val="83798"/>
            </a:srgbClr>
          </a:solidFill>
          <a:ln>
            <a:noFill/>
          </a:ln>
        </p:spPr>
      </p:sp>
      <p:sp>
        <p:nvSpPr>
          <p:cNvPr id="51" name="wm.whiteboard.90.18"/>
          <p:cNvSpPr/>
          <p:nvPr/>
        </p:nvSpPr>
        <p:spPr>
          <a:xfrm>
            <a:off x="1409700" y="457200"/>
            <a:ext cx="38100" cy="38100"/>
          </a:xfrm>
          <a:prstGeom prst="rect">
            <a:avLst/>
          </a:prstGeom>
          <a:solidFill>
            <a:srgbClr val="CED7E6">
              <a:alpha val="81490"/>
            </a:srgbClr>
          </a:solidFill>
          <a:ln>
            <a:noFill/>
          </a:ln>
        </p:spPr>
      </p:sp>
      <p:sp>
        <p:nvSpPr>
          <p:cNvPr id="52" name="wm.whiteboard.90.36"/>
          <p:cNvSpPr/>
          <p:nvPr/>
        </p:nvSpPr>
        <p:spPr>
          <a:xfrm>
            <a:off x="1409700" y="685800"/>
            <a:ext cx="38100" cy="38100"/>
          </a:xfrm>
          <a:prstGeom prst="rect">
            <a:avLst/>
          </a:prstGeom>
          <a:solidFill>
            <a:srgbClr val="CED7E6">
              <a:alpha val="75569"/>
            </a:srgbClr>
          </a:solidFill>
          <a:ln>
            <a:noFill/>
          </a:ln>
        </p:spPr>
      </p:sp>
      <p:sp>
        <p:nvSpPr>
          <p:cNvPr id="53" name="wm.whiteboard.90.54"/>
          <p:cNvSpPr/>
          <p:nvPr/>
        </p:nvSpPr>
        <p:spPr>
          <a:xfrm>
            <a:off x="1409700" y="914400"/>
            <a:ext cx="38100" cy="38100"/>
          </a:xfrm>
          <a:prstGeom prst="rect">
            <a:avLst/>
          </a:prstGeom>
          <a:solidFill>
            <a:srgbClr val="CED7E6">
              <a:alpha val="66767"/>
            </a:srgbClr>
          </a:solidFill>
          <a:ln>
            <a:noFill/>
          </a:ln>
        </p:spPr>
      </p:sp>
      <p:sp>
        <p:nvSpPr>
          <p:cNvPr id="54" name="wm.whiteboard.90.72"/>
          <p:cNvSpPr/>
          <p:nvPr/>
        </p:nvSpPr>
        <p:spPr>
          <a:xfrm>
            <a:off x="1409700" y="1143000"/>
            <a:ext cx="38100" cy="38100"/>
          </a:xfrm>
          <a:prstGeom prst="rect">
            <a:avLst/>
          </a:prstGeom>
          <a:solidFill>
            <a:srgbClr val="CED7E6">
              <a:alpha val="55859"/>
            </a:srgbClr>
          </a:solidFill>
          <a:ln>
            <a:noFill/>
          </a:ln>
        </p:spPr>
      </p:sp>
      <p:sp>
        <p:nvSpPr>
          <p:cNvPr id="55" name="wm.whiteboard.90.90"/>
          <p:cNvSpPr/>
          <p:nvPr/>
        </p:nvSpPr>
        <p:spPr>
          <a:xfrm>
            <a:off x="1409700" y="1371600"/>
            <a:ext cx="38100" cy="38100"/>
          </a:xfrm>
          <a:prstGeom prst="rect">
            <a:avLst/>
          </a:prstGeom>
          <a:solidFill>
            <a:srgbClr val="CED7E6">
              <a:alpha val="43468"/>
            </a:srgbClr>
          </a:solidFill>
          <a:ln>
            <a:noFill/>
          </a:ln>
        </p:spPr>
      </p:sp>
      <p:sp>
        <p:nvSpPr>
          <p:cNvPr id="56" name="wm.whiteboard.90.108"/>
          <p:cNvSpPr/>
          <p:nvPr/>
        </p:nvSpPr>
        <p:spPr>
          <a:xfrm>
            <a:off x="1409700" y="1600200"/>
            <a:ext cx="38100" cy="38100"/>
          </a:xfrm>
          <a:prstGeom prst="rect">
            <a:avLst/>
          </a:prstGeom>
          <a:solidFill>
            <a:srgbClr val="CED7E6">
              <a:alpha val="30037"/>
            </a:srgbClr>
          </a:solidFill>
          <a:ln>
            <a:noFill/>
          </a:ln>
        </p:spPr>
      </p:sp>
      <p:sp>
        <p:nvSpPr>
          <p:cNvPr id="57" name="wm.whiteboard.90.126"/>
          <p:cNvSpPr/>
          <p:nvPr/>
        </p:nvSpPr>
        <p:spPr>
          <a:xfrm>
            <a:off x="1409700" y="1828800"/>
            <a:ext cx="38100" cy="38100"/>
          </a:xfrm>
          <a:prstGeom prst="rect">
            <a:avLst/>
          </a:prstGeom>
          <a:solidFill>
            <a:srgbClr val="CED7E6">
              <a:alpha val="15870"/>
            </a:srgbClr>
          </a:solidFill>
          <a:ln>
            <a:noFill/>
          </a:ln>
        </p:spPr>
      </p:sp>
      <p:sp>
        <p:nvSpPr>
          <p:cNvPr id="58" name="wm.whiteboard.90.144"/>
          <p:cNvSpPr/>
          <p:nvPr/>
        </p:nvSpPr>
        <p:spPr>
          <a:xfrm>
            <a:off x="1409700" y="2057400"/>
            <a:ext cx="38100" cy="38100"/>
          </a:xfrm>
          <a:prstGeom prst="rect">
            <a:avLst/>
          </a:prstGeom>
          <a:solidFill>
            <a:srgbClr val="CED7E6">
              <a:alpha val="1171"/>
            </a:srgbClr>
          </a:solidFill>
          <a:ln>
            <a:noFill/>
          </a:ln>
        </p:spPr>
      </p:sp>
      <p:sp>
        <p:nvSpPr>
          <p:cNvPr id="59" name="wm.whiteboard.108.0"/>
          <p:cNvSpPr/>
          <p:nvPr/>
        </p:nvSpPr>
        <p:spPr>
          <a:xfrm>
            <a:off x="1638300" y="228600"/>
            <a:ext cx="38100" cy="38100"/>
          </a:xfrm>
          <a:prstGeom prst="rect">
            <a:avLst/>
          </a:prstGeom>
          <a:solidFill>
            <a:srgbClr val="CED7E6">
              <a:alpha val="70023"/>
            </a:srgbClr>
          </a:solidFill>
          <a:ln>
            <a:noFill/>
          </a:ln>
        </p:spPr>
      </p:sp>
      <p:sp>
        <p:nvSpPr>
          <p:cNvPr id="60" name="wm.whiteboard.108.18"/>
          <p:cNvSpPr/>
          <p:nvPr/>
        </p:nvSpPr>
        <p:spPr>
          <a:xfrm>
            <a:off x="1638300" y="457200"/>
            <a:ext cx="38100" cy="38100"/>
          </a:xfrm>
          <a:prstGeom prst="rect">
            <a:avLst/>
          </a:prstGeom>
          <a:solidFill>
            <a:srgbClr val="CED7E6">
              <a:alpha val="68085"/>
            </a:srgbClr>
          </a:solidFill>
          <a:ln>
            <a:noFill/>
          </a:ln>
        </p:spPr>
      </p:sp>
      <p:sp>
        <p:nvSpPr>
          <p:cNvPr id="61" name="wm.whiteboard.108.36"/>
          <p:cNvSpPr/>
          <p:nvPr/>
        </p:nvSpPr>
        <p:spPr>
          <a:xfrm>
            <a:off x="1638300" y="685800"/>
            <a:ext cx="38100" cy="38100"/>
          </a:xfrm>
          <a:prstGeom prst="rect">
            <a:avLst/>
          </a:prstGeom>
          <a:solidFill>
            <a:srgbClr val="CED7E6">
              <a:alpha val="63033"/>
            </a:srgbClr>
          </a:solidFill>
          <a:ln>
            <a:noFill/>
          </a:ln>
        </p:spPr>
      </p:sp>
      <p:sp>
        <p:nvSpPr>
          <p:cNvPr id="62" name="wm.whiteboard.108.54"/>
          <p:cNvSpPr/>
          <p:nvPr/>
        </p:nvSpPr>
        <p:spPr>
          <a:xfrm>
            <a:off x="1638300" y="914400"/>
            <a:ext cx="38100" cy="38100"/>
          </a:xfrm>
          <a:prstGeom prst="rect">
            <a:avLst/>
          </a:prstGeom>
          <a:solidFill>
            <a:srgbClr val="CED7E6">
              <a:alpha val="55346"/>
            </a:srgbClr>
          </a:solidFill>
          <a:ln>
            <a:noFill/>
          </a:ln>
        </p:spPr>
      </p:sp>
      <p:sp>
        <p:nvSpPr>
          <p:cNvPr id="63" name="wm.whiteboard.108.72"/>
          <p:cNvSpPr/>
          <p:nvPr/>
        </p:nvSpPr>
        <p:spPr>
          <a:xfrm>
            <a:off x="1638300" y="1143000"/>
            <a:ext cx="38100" cy="38100"/>
          </a:xfrm>
          <a:prstGeom prst="rect">
            <a:avLst/>
          </a:prstGeom>
          <a:solidFill>
            <a:srgbClr val="CED7E6">
              <a:alpha val="45583"/>
            </a:srgbClr>
          </a:solidFill>
          <a:ln>
            <a:noFill/>
          </a:ln>
        </p:spPr>
      </p:sp>
      <p:sp>
        <p:nvSpPr>
          <p:cNvPr id="64" name="wm.whiteboard.108.90"/>
          <p:cNvSpPr/>
          <p:nvPr/>
        </p:nvSpPr>
        <p:spPr>
          <a:xfrm>
            <a:off x="1638300" y="1371600"/>
            <a:ext cx="38100" cy="38100"/>
          </a:xfrm>
          <a:prstGeom prst="rect">
            <a:avLst/>
          </a:prstGeom>
          <a:solidFill>
            <a:srgbClr val="CED7E6">
              <a:alpha val="34251"/>
            </a:srgbClr>
          </a:solidFill>
          <a:ln>
            <a:noFill/>
          </a:ln>
        </p:spPr>
      </p:sp>
      <p:sp>
        <p:nvSpPr>
          <p:cNvPr id="65" name="wm.whiteboard.108.108"/>
          <p:cNvSpPr/>
          <p:nvPr/>
        </p:nvSpPr>
        <p:spPr>
          <a:xfrm>
            <a:off x="1638300" y="1600200"/>
            <a:ext cx="38100" cy="38100"/>
          </a:xfrm>
          <a:prstGeom prst="rect">
            <a:avLst/>
          </a:prstGeom>
          <a:solidFill>
            <a:srgbClr val="CED7E6">
              <a:alpha val="21754"/>
            </a:srgbClr>
          </a:solidFill>
          <a:ln>
            <a:noFill/>
          </a:ln>
        </p:spPr>
      </p:sp>
      <p:sp>
        <p:nvSpPr>
          <p:cNvPr id="66" name="wm.whiteboard.108.126"/>
          <p:cNvSpPr/>
          <p:nvPr/>
        </p:nvSpPr>
        <p:spPr>
          <a:xfrm>
            <a:off x="1638300" y="1828800"/>
            <a:ext cx="38100" cy="38100"/>
          </a:xfrm>
          <a:prstGeom prst="rect">
            <a:avLst/>
          </a:prstGeom>
          <a:solidFill>
            <a:srgbClr val="CED7E6">
              <a:alpha val="8391"/>
            </a:srgbClr>
          </a:solidFill>
          <a:ln>
            <a:noFill/>
          </a:ln>
        </p:spPr>
      </p:sp>
      <p:sp>
        <p:nvSpPr>
          <p:cNvPr id="67" name="wm.whiteboard.126.0"/>
          <p:cNvSpPr/>
          <p:nvPr/>
        </p:nvSpPr>
        <p:spPr>
          <a:xfrm>
            <a:off x="1866900" y="228600"/>
            <a:ext cx="38100" cy="38100"/>
          </a:xfrm>
          <a:prstGeom prst="rect">
            <a:avLst/>
          </a:prstGeom>
          <a:solidFill>
            <a:srgbClr val="CED7E6">
              <a:alpha val="56247"/>
            </a:srgbClr>
          </a:solidFill>
          <a:ln>
            <a:noFill/>
          </a:ln>
        </p:spPr>
      </p:sp>
      <p:sp>
        <p:nvSpPr>
          <p:cNvPr id="68" name="wm.whiteboard.126.18"/>
          <p:cNvSpPr/>
          <p:nvPr/>
        </p:nvSpPr>
        <p:spPr>
          <a:xfrm>
            <a:off x="1866900" y="457200"/>
            <a:ext cx="38100" cy="38100"/>
          </a:xfrm>
          <a:prstGeom prst="rect">
            <a:avLst/>
          </a:prstGeom>
          <a:solidFill>
            <a:srgbClr val="CED7E6">
              <a:alpha val="54578"/>
            </a:srgbClr>
          </a:solidFill>
          <a:ln>
            <a:noFill/>
          </a:ln>
        </p:spPr>
      </p:sp>
      <p:sp>
        <p:nvSpPr>
          <p:cNvPr id="69" name="wm.whiteboard.126.36"/>
          <p:cNvSpPr/>
          <p:nvPr/>
        </p:nvSpPr>
        <p:spPr>
          <a:xfrm>
            <a:off x="1866900" y="685800"/>
            <a:ext cx="38100" cy="38100"/>
          </a:xfrm>
          <a:prstGeom prst="rect">
            <a:avLst/>
          </a:prstGeom>
          <a:solidFill>
            <a:srgbClr val="CED7E6">
              <a:alpha val="50182"/>
            </a:srgbClr>
          </a:solidFill>
          <a:ln>
            <a:noFill/>
          </a:ln>
        </p:spPr>
      </p:sp>
      <p:sp>
        <p:nvSpPr>
          <p:cNvPr id="70" name="wm.whiteboard.126.54"/>
          <p:cNvSpPr/>
          <p:nvPr/>
        </p:nvSpPr>
        <p:spPr>
          <a:xfrm>
            <a:off x="1866900" y="914400"/>
            <a:ext cx="38100" cy="38100"/>
          </a:xfrm>
          <a:prstGeom prst="rect">
            <a:avLst/>
          </a:prstGeom>
          <a:solidFill>
            <a:srgbClr val="CED7E6">
              <a:alpha val="43386"/>
            </a:srgbClr>
          </a:solidFill>
          <a:ln>
            <a:noFill/>
          </a:ln>
        </p:spPr>
      </p:sp>
      <p:sp>
        <p:nvSpPr>
          <p:cNvPr id="71" name="wm.whiteboard.126.72"/>
          <p:cNvSpPr/>
          <p:nvPr/>
        </p:nvSpPr>
        <p:spPr>
          <a:xfrm>
            <a:off x="1866900" y="1143000"/>
            <a:ext cx="38100" cy="38100"/>
          </a:xfrm>
          <a:prstGeom prst="rect">
            <a:avLst/>
          </a:prstGeom>
          <a:solidFill>
            <a:srgbClr val="CED7E6">
              <a:alpha val="34598"/>
            </a:srgbClr>
          </a:solidFill>
          <a:ln>
            <a:noFill/>
          </a:ln>
        </p:spPr>
      </p:sp>
      <p:sp>
        <p:nvSpPr>
          <p:cNvPr id="72" name="wm.whiteboard.126.90"/>
          <p:cNvSpPr/>
          <p:nvPr/>
        </p:nvSpPr>
        <p:spPr>
          <a:xfrm>
            <a:off x="1866900" y="1371600"/>
            <a:ext cx="38100" cy="38100"/>
          </a:xfrm>
          <a:prstGeom prst="rect">
            <a:avLst/>
          </a:prstGeom>
          <a:solidFill>
            <a:srgbClr val="CED7E6">
              <a:alpha val="24223"/>
            </a:srgbClr>
          </a:solidFill>
          <a:ln>
            <a:noFill/>
          </a:ln>
        </p:spPr>
      </p:sp>
      <p:sp>
        <p:nvSpPr>
          <p:cNvPr id="73" name="wm.whiteboard.126.108"/>
          <p:cNvSpPr/>
          <p:nvPr/>
        </p:nvSpPr>
        <p:spPr>
          <a:xfrm>
            <a:off x="1866900" y="1600200"/>
            <a:ext cx="38100" cy="38100"/>
          </a:xfrm>
          <a:prstGeom prst="rect">
            <a:avLst/>
          </a:prstGeom>
          <a:solidFill>
            <a:srgbClr val="CED7E6">
              <a:alpha val="12610"/>
            </a:srgbClr>
          </a:solidFill>
          <a:ln>
            <a:noFill/>
          </a:ln>
        </p:spPr>
      </p:sp>
      <p:sp>
        <p:nvSpPr>
          <p:cNvPr id="74" name="wm.whiteboard.126.126"/>
          <p:cNvSpPr/>
          <p:nvPr/>
        </p:nvSpPr>
        <p:spPr>
          <a:xfrm>
            <a:off x="1866900" y="1828800"/>
            <a:ext cx="38100" cy="38100"/>
          </a:xfrm>
          <a:prstGeom prst="rect">
            <a:avLst/>
          </a:prstGeom>
          <a:solidFill>
            <a:srgbClr val="CED7E6">
              <a:alpha val="40"/>
            </a:srgbClr>
          </a:solidFill>
          <a:ln>
            <a:noFill/>
          </a:ln>
        </p:spPr>
      </p:sp>
      <p:sp>
        <p:nvSpPr>
          <p:cNvPr id="75" name="wm.whiteboard.144.0"/>
          <p:cNvSpPr/>
          <p:nvPr/>
        </p:nvSpPr>
        <p:spPr>
          <a:xfrm>
            <a:off x="2095500" y="228600"/>
            <a:ext cx="38100" cy="38100"/>
          </a:xfrm>
          <a:prstGeom prst="rect">
            <a:avLst/>
          </a:prstGeom>
          <a:solidFill>
            <a:srgbClr val="CED7E6">
              <a:alpha val="42471"/>
            </a:srgbClr>
          </a:solidFill>
          <a:ln>
            <a:noFill/>
          </a:ln>
        </p:spPr>
      </p:sp>
      <p:sp>
        <p:nvSpPr>
          <p:cNvPr id="76" name="wm.whiteboard.144.18"/>
          <p:cNvSpPr/>
          <p:nvPr/>
        </p:nvSpPr>
        <p:spPr>
          <a:xfrm>
            <a:off x="2095500" y="457200"/>
            <a:ext cx="38100" cy="38100"/>
          </a:xfrm>
          <a:prstGeom prst="rect">
            <a:avLst/>
          </a:prstGeom>
          <a:solidFill>
            <a:srgbClr val="CED7E6">
              <a:alpha val="41005"/>
            </a:srgbClr>
          </a:solidFill>
          <a:ln>
            <a:noFill/>
          </a:ln>
        </p:spPr>
      </p:sp>
      <p:sp>
        <p:nvSpPr>
          <p:cNvPr id="77" name="wm.whiteboard.144.36"/>
          <p:cNvSpPr/>
          <p:nvPr/>
        </p:nvSpPr>
        <p:spPr>
          <a:xfrm>
            <a:off x="2095500" y="685800"/>
            <a:ext cx="38100" cy="38100"/>
          </a:xfrm>
          <a:prstGeom prst="rect">
            <a:avLst/>
          </a:prstGeom>
          <a:solidFill>
            <a:srgbClr val="CED7E6">
              <a:alpha val="37120"/>
            </a:srgbClr>
          </a:solidFill>
          <a:ln>
            <a:noFill/>
          </a:ln>
        </p:spPr>
      </p:sp>
      <p:sp>
        <p:nvSpPr>
          <p:cNvPr id="78" name="wm.whiteboard.144.54"/>
          <p:cNvSpPr/>
          <p:nvPr/>
        </p:nvSpPr>
        <p:spPr>
          <a:xfrm>
            <a:off x="2095500" y="914400"/>
            <a:ext cx="38100" cy="38100"/>
          </a:xfrm>
          <a:prstGeom prst="rect">
            <a:avLst/>
          </a:prstGeom>
          <a:solidFill>
            <a:srgbClr val="CED7E6">
              <a:alpha val="31044"/>
            </a:srgbClr>
          </a:solidFill>
          <a:ln>
            <a:noFill/>
          </a:ln>
        </p:spPr>
      </p:sp>
      <p:sp>
        <p:nvSpPr>
          <p:cNvPr id="79" name="wm.whiteboard.144.72"/>
          <p:cNvSpPr/>
          <p:nvPr/>
        </p:nvSpPr>
        <p:spPr>
          <a:xfrm>
            <a:off x="2095500" y="1143000"/>
            <a:ext cx="38100" cy="38100"/>
          </a:xfrm>
          <a:prstGeom prst="rect">
            <a:avLst/>
          </a:prstGeom>
          <a:solidFill>
            <a:srgbClr val="CED7E6">
              <a:alpha val="23083"/>
            </a:srgbClr>
          </a:solidFill>
          <a:ln>
            <a:noFill/>
          </a:ln>
        </p:spPr>
      </p:sp>
      <p:sp>
        <p:nvSpPr>
          <p:cNvPr id="80" name="wm.whiteboard.144.90"/>
          <p:cNvSpPr/>
          <p:nvPr/>
        </p:nvSpPr>
        <p:spPr>
          <a:xfrm>
            <a:off x="2095500" y="1371600"/>
            <a:ext cx="38100" cy="38100"/>
          </a:xfrm>
          <a:prstGeom prst="rect">
            <a:avLst/>
          </a:prstGeom>
          <a:solidFill>
            <a:srgbClr val="CED7E6">
              <a:alpha val="13557"/>
            </a:srgbClr>
          </a:solidFill>
          <a:ln>
            <a:noFill/>
          </a:ln>
        </p:spPr>
      </p:sp>
      <p:sp>
        <p:nvSpPr>
          <p:cNvPr id="81" name="wm.whiteboard.144.108"/>
          <p:cNvSpPr/>
          <p:nvPr/>
        </p:nvSpPr>
        <p:spPr>
          <a:xfrm>
            <a:off x="2095500" y="1600200"/>
            <a:ext cx="38100" cy="38100"/>
          </a:xfrm>
          <a:prstGeom prst="rect">
            <a:avLst/>
          </a:prstGeom>
          <a:solidFill>
            <a:srgbClr val="CED7E6">
              <a:alpha val="2762"/>
            </a:srgbClr>
          </a:solidFill>
          <a:ln>
            <a:noFill/>
          </a:ln>
        </p:spPr>
      </p:sp>
      <p:sp>
        <p:nvSpPr>
          <p:cNvPr id="82" name="wm.whiteboard.162.0"/>
          <p:cNvSpPr/>
          <p:nvPr/>
        </p:nvSpPr>
        <p:spPr>
          <a:xfrm>
            <a:off x="2324100" y="228600"/>
            <a:ext cx="38100" cy="38100"/>
          </a:xfrm>
          <a:prstGeom prst="rect">
            <a:avLst/>
          </a:prstGeom>
          <a:solidFill>
            <a:srgbClr val="CED7E6">
              <a:alpha val="28695"/>
            </a:srgbClr>
          </a:solidFill>
          <a:ln>
            <a:noFill/>
          </a:ln>
        </p:spPr>
      </p:sp>
      <p:sp>
        <p:nvSpPr>
          <p:cNvPr id="83" name="wm.whiteboard.162.18"/>
          <p:cNvSpPr/>
          <p:nvPr/>
        </p:nvSpPr>
        <p:spPr>
          <a:xfrm>
            <a:off x="2324100" y="457200"/>
            <a:ext cx="38100" cy="38100"/>
          </a:xfrm>
          <a:prstGeom prst="rect">
            <a:avLst/>
          </a:prstGeom>
          <a:solidFill>
            <a:srgbClr val="CED7E6">
              <a:alpha val="27389"/>
            </a:srgbClr>
          </a:solidFill>
          <a:ln>
            <a:noFill/>
          </a:ln>
        </p:spPr>
      </p:sp>
      <p:sp>
        <p:nvSpPr>
          <p:cNvPr id="84" name="wm.whiteboard.162.36"/>
          <p:cNvSpPr/>
          <p:nvPr/>
        </p:nvSpPr>
        <p:spPr>
          <a:xfrm>
            <a:off x="2324100" y="685800"/>
            <a:ext cx="38100" cy="38100"/>
          </a:xfrm>
          <a:prstGeom prst="rect">
            <a:avLst/>
          </a:prstGeom>
          <a:solidFill>
            <a:srgbClr val="CED7E6">
              <a:alpha val="23910"/>
            </a:srgbClr>
          </a:solidFill>
          <a:ln>
            <a:noFill/>
          </a:ln>
        </p:spPr>
      </p:sp>
      <p:sp>
        <p:nvSpPr>
          <p:cNvPr id="85" name="wm.whiteboard.162.54"/>
          <p:cNvSpPr/>
          <p:nvPr/>
        </p:nvSpPr>
        <p:spPr>
          <a:xfrm>
            <a:off x="2324100" y="914400"/>
            <a:ext cx="38100" cy="38100"/>
          </a:xfrm>
          <a:prstGeom prst="rect">
            <a:avLst/>
          </a:prstGeom>
          <a:solidFill>
            <a:srgbClr val="CED7E6">
              <a:alpha val="18425"/>
            </a:srgbClr>
          </a:solidFill>
          <a:ln>
            <a:noFill/>
          </a:ln>
        </p:spPr>
      </p:sp>
      <p:sp>
        <p:nvSpPr>
          <p:cNvPr id="86" name="wm.whiteboard.162.72"/>
          <p:cNvSpPr/>
          <p:nvPr/>
        </p:nvSpPr>
        <p:spPr>
          <a:xfrm>
            <a:off x="2324100" y="1143000"/>
            <a:ext cx="38100" cy="38100"/>
          </a:xfrm>
          <a:prstGeom prst="rect">
            <a:avLst/>
          </a:prstGeom>
          <a:solidFill>
            <a:srgbClr val="CED7E6">
              <a:alpha val="11167"/>
            </a:srgbClr>
          </a:solidFill>
          <a:ln>
            <a:noFill/>
          </a:ln>
        </p:spPr>
      </p:sp>
      <p:sp>
        <p:nvSpPr>
          <p:cNvPr id="87" name="wm.whiteboard.162.90"/>
          <p:cNvSpPr/>
          <p:nvPr/>
        </p:nvSpPr>
        <p:spPr>
          <a:xfrm>
            <a:off x="2324100" y="1371600"/>
            <a:ext cx="38100" cy="38100"/>
          </a:xfrm>
          <a:prstGeom prst="rect">
            <a:avLst/>
          </a:prstGeom>
          <a:solidFill>
            <a:srgbClr val="CED7E6">
              <a:alpha val="2388"/>
            </a:srgbClr>
          </a:solidFill>
          <a:ln>
            <a:noFill/>
          </a:ln>
        </p:spPr>
      </p:sp>
      <p:sp>
        <p:nvSpPr>
          <p:cNvPr id="88" name="wm.whiteboard.180.0"/>
          <p:cNvSpPr/>
          <p:nvPr/>
        </p:nvSpPr>
        <p:spPr>
          <a:xfrm>
            <a:off x="2552700" y="228600"/>
            <a:ext cx="38100" cy="38100"/>
          </a:xfrm>
          <a:prstGeom prst="rect">
            <a:avLst/>
          </a:prstGeom>
          <a:solidFill>
            <a:srgbClr val="CED7E6">
              <a:alpha val="14918"/>
            </a:srgbClr>
          </a:solidFill>
          <a:ln>
            <a:noFill/>
          </a:ln>
        </p:spPr>
      </p:sp>
      <p:sp>
        <p:nvSpPr>
          <p:cNvPr id="89" name="wm.whiteboard.180.18"/>
          <p:cNvSpPr/>
          <p:nvPr/>
        </p:nvSpPr>
        <p:spPr>
          <a:xfrm>
            <a:off x="2552700" y="457200"/>
            <a:ext cx="38100" cy="38100"/>
          </a:xfrm>
          <a:prstGeom prst="rect">
            <a:avLst/>
          </a:prstGeom>
          <a:solidFill>
            <a:srgbClr val="CED7E6">
              <a:alpha val="13741"/>
            </a:srgbClr>
          </a:solidFill>
          <a:ln>
            <a:noFill/>
          </a:ln>
        </p:spPr>
      </p:sp>
      <p:sp>
        <p:nvSpPr>
          <p:cNvPr id="90" name="wm.whiteboard.180.36"/>
          <p:cNvSpPr/>
          <p:nvPr/>
        </p:nvSpPr>
        <p:spPr>
          <a:xfrm>
            <a:off x="2552700" y="685800"/>
            <a:ext cx="38100" cy="38100"/>
          </a:xfrm>
          <a:prstGeom prst="rect">
            <a:avLst/>
          </a:prstGeom>
          <a:solidFill>
            <a:srgbClr val="CED7E6">
              <a:alpha val="10593"/>
            </a:srgbClr>
          </a:solidFill>
          <a:ln>
            <a:noFill/>
          </a:ln>
        </p:spPr>
      </p:sp>
      <p:sp>
        <p:nvSpPr>
          <p:cNvPr id="91" name="wm.whiteboard.180.54"/>
          <p:cNvSpPr/>
          <p:nvPr/>
        </p:nvSpPr>
        <p:spPr>
          <a:xfrm>
            <a:off x="2552700" y="914400"/>
            <a:ext cx="38100" cy="38100"/>
          </a:xfrm>
          <a:prstGeom prst="rect">
            <a:avLst/>
          </a:prstGeom>
          <a:solidFill>
            <a:srgbClr val="CED7E6">
              <a:alpha val="5600"/>
            </a:srgbClr>
          </a:solidFill>
          <a:ln>
            <a:noFill/>
          </a:ln>
        </p:spPr>
      </p:sp>
      <p:sp>
        <p:nvSpPr>
          <p:cNvPr id="92" name="wm.whiteboard.198.0"/>
          <p:cNvSpPr/>
          <p:nvPr/>
        </p:nvSpPr>
        <p:spPr>
          <a:xfrm>
            <a:off x="2781300" y="228600"/>
            <a:ext cx="38100" cy="38100"/>
          </a:xfrm>
          <a:prstGeom prst="rect">
            <a:avLst/>
          </a:prstGeom>
          <a:solidFill>
            <a:srgbClr val="CED7E6">
              <a:alpha val="1142"/>
            </a:srgbClr>
          </a:solidFill>
          <a:ln>
            <a:noFill/>
          </a:ln>
        </p:spPr>
      </p:sp>
      <p:sp>
        <p:nvSpPr>
          <p:cNvPr id="93" name="wm.whiteboard.198.18"/>
          <p:cNvSpPr/>
          <p:nvPr/>
        </p:nvSpPr>
        <p:spPr>
          <a:xfrm>
            <a:off x="2781300" y="457200"/>
            <a:ext cx="38100" cy="38100"/>
          </a:xfrm>
          <a:prstGeom prst="rect">
            <a:avLst/>
          </a:prstGeom>
          <a:solidFill>
            <a:srgbClr val="CED7E6">
              <a:alpha val="69"/>
            </a:srgbClr>
          </a:solidFill>
          <a:ln>
            <a:noFill/>
          </a:ln>
        </p:spPr>
      </p:sp>
      <p:sp>
        <p:nvSpPr>
          <p:cNvPr id="94" name="wm.header.rule"/>
          <p:cNvSpPr/>
          <p:nvPr/>
        </p:nvSpPr>
        <p:spPr>
          <a:xfrm>
            <a:off x="723900" y="2057400"/>
            <a:ext cx="3429000" cy="9525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pic>
        <p:nvPicPr>
          <p:cNvPr id="95" name="wm.logo" descr="West Monro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900" y="6210300"/>
            <a:ext cx="729403" cy="152400"/>
          </a:xfrm>
          <a:prstGeom prst="rect">
            <a:avLst/>
          </a:prstGeom>
        </p:spPr>
      </p:pic>
      <p:sp>
        <p:nvSpPr>
          <p:cNvPr id="96" name="wm.legal"/>
          <p:cNvSpPr/>
          <p:nvPr/>
        </p:nvSpPr>
        <p:spPr>
          <a:xfrm>
            <a:off x="2171700" y="6172200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00" spc="0" kern="0" b="0" i="0" dirty="0">
                <a:solidFill>
                  <a:srgbClr val="50658E"/>
                </a:solidFill>
                <a:latin typeface="IBM Plex Mono"/>
                <a:ea typeface="IBM Plex Mono"/>
                <a:cs typeface="IBM Plex Mono"/>
              </a:rPr>
              <a:t>© 2026 West Monroe Partners | Reproduction and/or distribution without West Monroe Partners’ prior consent is prohibited.</a:t>
            </a:r>
            <a:endParaRPr lang="en-US" sz="700" spc="0" kern="0" b="0" i="0" dirty="0">
              <a:solidFill>
                <a:srgbClr val="50658E"/>
              </a:solidFill>
              <a:latin typeface="IBM Plex Mono"/>
              <a:ea typeface="IBM Plex Mono"/>
              <a:cs typeface="IBM Plex Mon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mds.frame.03f2044367179651ea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m.footer.rule"/>
          <p:cNvSpPr/>
          <p:nvPr/>
        </p:nvSpPr>
        <p:spPr>
          <a:xfrm>
            <a:off x="723900" y="6057900"/>
            <a:ext cx="10744200" cy="9525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" name="wm.whiteboard.0.0"/>
          <p:cNvSpPr/>
          <p:nvPr/>
        </p:nvSpPr>
        <p:spPr>
          <a:xfrm>
            <a:off x="75819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4" name="wm.whiteboard.0.18"/>
          <p:cNvSpPr/>
          <p:nvPr/>
        </p:nvSpPr>
        <p:spPr>
          <a:xfrm>
            <a:off x="75819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5" name="wm.whiteboard.0.36"/>
          <p:cNvSpPr/>
          <p:nvPr/>
        </p:nvSpPr>
        <p:spPr>
          <a:xfrm>
            <a:off x="75819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6" name="wm.whiteboard.0.54"/>
          <p:cNvSpPr/>
          <p:nvPr/>
        </p:nvSpPr>
        <p:spPr>
          <a:xfrm>
            <a:off x="7581900" y="9144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7" name="wm.whiteboard.0.72"/>
          <p:cNvSpPr/>
          <p:nvPr/>
        </p:nvSpPr>
        <p:spPr>
          <a:xfrm>
            <a:off x="7581900" y="1143000"/>
            <a:ext cx="38100" cy="38100"/>
          </a:xfrm>
          <a:prstGeom prst="rect">
            <a:avLst/>
          </a:prstGeom>
          <a:solidFill>
            <a:srgbClr val="CED7E6">
              <a:alpha val="85305"/>
            </a:srgbClr>
          </a:solidFill>
          <a:ln>
            <a:noFill/>
          </a:ln>
        </p:spPr>
      </p:sp>
      <p:sp>
        <p:nvSpPr>
          <p:cNvPr id="8" name="wm.whiteboard.0.90"/>
          <p:cNvSpPr/>
          <p:nvPr/>
        </p:nvSpPr>
        <p:spPr>
          <a:xfrm>
            <a:off x="7581900" y="1371600"/>
            <a:ext cx="38100" cy="38100"/>
          </a:xfrm>
          <a:prstGeom prst="rect">
            <a:avLst/>
          </a:prstGeom>
          <a:solidFill>
            <a:srgbClr val="CED7E6">
              <a:alpha val="68524"/>
            </a:srgbClr>
          </a:solidFill>
          <a:ln>
            <a:noFill/>
          </a:ln>
        </p:spPr>
      </p:sp>
      <p:sp>
        <p:nvSpPr>
          <p:cNvPr id="9" name="wm.whiteboard.0.108"/>
          <p:cNvSpPr/>
          <p:nvPr/>
        </p:nvSpPr>
        <p:spPr>
          <a:xfrm>
            <a:off x="7581900" y="1600200"/>
            <a:ext cx="38100" cy="38100"/>
          </a:xfrm>
          <a:prstGeom prst="rect">
            <a:avLst/>
          </a:prstGeom>
          <a:solidFill>
            <a:srgbClr val="CED7E6">
              <a:alpha val="51742"/>
            </a:srgbClr>
          </a:solidFill>
          <a:ln>
            <a:noFill/>
          </a:ln>
        </p:spPr>
      </p:sp>
      <p:sp>
        <p:nvSpPr>
          <p:cNvPr id="10" name="wm.whiteboard.0.126"/>
          <p:cNvSpPr/>
          <p:nvPr/>
        </p:nvSpPr>
        <p:spPr>
          <a:xfrm>
            <a:off x="7581900" y="1828800"/>
            <a:ext cx="38100" cy="38100"/>
          </a:xfrm>
          <a:prstGeom prst="rect">
            <a:avLst/>
          </a:prstGeom>
          <a:solidFill>
            <a:srgbClr val="CED7E6">
              <a:alpha val="34959"/>
            </a:srgbClr>
          </a:solidFill>
          <a:ln>
            <a:noFill/>
          </a:ln>
        </p:spPr>
      </p:sp>
      <p:sp>
        <p:nvSpPr>
          <p:cNvPr id="11" name="wm.whiteboard.0.144"/>
          <p:cNvSpPr/>
          <p:nvPr/>
        </p:nvSpPr>
        <p:spPr>
          <a:xfrm>
            <a:off x="7581900" y="2057400"/>
            <a:ext cx="38100" cy="38100"/>
          </a:xfrm>
          <a:prstGeom prst="rect">
            <a:avLst/>
          </a:prstGeom>
          <a:solidFill>
            <a:srgbClr val="CED7E6">
              <a:alpha val="18177"/>
            </a:srgbClr>
          </a:solidFill>
          <a:ln>
            <a:noFill/>
          </a:ln>
        </p:spPr>
      </p:sp>
      <p:sp>
        <p:nvSpPr>
          <p:cNvPr id="12" name="wm.whiteboard.0.162"/>
          <p:cNvSpPr/>
          <p:nvPr/>
        </p:nvSpPr>
        <p:spPr>
          <a:xfrm>
            <a:off x="7581900" y="2286000"/>
            <a:ext cx="38100" cy="38100"/>
          </a:xfrm>
          <a:prstGeom prst="rect">
            <a:avLst/>
          </a:prstGeom>
          <a:solidFill>
            <a:srgbClr val="CED7E6">
              <a:alpha val="1394"/>
            </a:srgbClr>
          </a:solidFill>
          <a:ln>
            <a:noFill/>
          </a:ln>
        </p:spPr>
      </p:sp>
      <p:sp>
        <p:nvSpPr>
          <p:cNvPr id="13" name="wm.whiteboard.18.0"/>
          <p:cNvSpPr/>
          <p:nvPr/>
        </p:nvSpPr>
        <p:spPr>
          <a:xfrm>
            <a:off x="78105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4" name="wm.whiteboard.18.18"/>
          <p:cNvSpPr/>
          <p:nvPr/>
        </p:nvSpPr>
        <p:spPr>
          <a:xfrm>
            <a:off x="78105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5" name="wm.whiteboard.18.36"/>
          <p:cNvSpPr/>
          <p:nvPr/>
        </p:nvSpPr>
        <p:spPr>
          <a:xfrm>
            <a:off x="78105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6" name="wm.whiteboard.18.54"/>
          <p:cNvSpPr/>
          <p:nvPr/>
        </p:nvSpPr>
        <p:spPr>
          <a:xfrm>
            <a:off x="7810500" y="914400"/>
            <a:ext cx="38100" cy="38100"/>
          </a:xfrm>
          <a:prstGeom prst="rect">
            <a:avLst/>
          </a:prstGeom>
          <a:solidFill>
            <a:srgbClr val="CED7E6">
              <a:alpha val="99988"/>
            </a:srgbClr>
          </a:solidFill>
          <a:ln>
            <a:noFill/>
          </a:ln>
        </p:spPr>
      </p:sp>
      <p:sp>
        <p:nvSpPr>
          <p:cNvPr id="17" name="wm.whiteboard.18.72"/>
          <p:cNvSpPr/>
          <p:nvPr/>
        </p:nvSpPr>
        <p:spPr>
          <a:xfrm>
            <a:off x="7810500" y="1143000"/>
            <a:ext cx="38100" cy="38100"/>
          </a:xfrm>
          <a:prstGeom prst="rect">
            <a:avLst/>
          </a:prstGeom>
          <a:solidFill>
            <a:srgbClr val="CED7E6">
              <a:alpha val="83708"/>
            </a:srgbClr>
          </a:solidFill>
          <a:ln>
            <a:noFill/>
          </a:ln>
        </p:spPr>
      </p:sp>
      <p:sp>
        <p:nvSpPr>
          <p:cNvPr id="18" name="wm.whiteboard.18.90"/>
          <p:cNvSpPr/>
          <p:nvPr/>
        </p:nvSpPr>
        <p:spPr>
          <a:xfrm>
            <a:off x="7810500" y="1371600"/>
            <a:ext cx="38100" cy="38100"/>
          </a:xfrm>
          <a:prstGeom prst="rect">
            <a:avLst/>
          </a:prstGeom>
          <a:solidFill>
            <a:srgbClr val="CED7E6">
              <a:alpha val="67236"/>
            </a:srgbClr>
          </a:solidFill>
          <a:ln>
            <a:noFill/>
          </a:ln>
        </p:spPr>
      </p:sp>
      <p:sp>
        <p:nvSpPr>
          <p:cNvPr id="19" name="wm.whiteboard.18.108"/>
          <p:cNvSpPr/>
          <p:nvPr/>
        </p:nvSpPr>
        <p:spPr>
          <a:xfrm>
            <a:off x="7810500" y="1600200"/>
            <a:ext cx="38100" cy="38100"/>
          </a:xfrm>
          <a:prstGeom prst="rect">
            <a:avLst/>
          </a:prstGeom>
          <a:solidFill>
            <a:srgbClr val="CED7E6">
              <a:alpha val="50663"/>
            </a:srgbClr>
          </a:solidFill>
          <a:ln>
            <a:noFill/>
          </a:ln>
        </p:spPr>
      </p:sp>
      <p:sp>
        <p:nvSpPr>
          <p:cNvPr id="20" name="wm.whiteboard.18.126"/>
          <p:cNvSpPr/>
          <p:nvPr/>
        </p:nvSpPr>
        <p:spPr>
          <a:xfrm>
            <a:off x="7810500" y="1828800"/>
            <a:ext cx="38100" cy="38100"/>
          </a:xfrm>
          <a:prstGeom prst="rect">
            <a:avLst/>
          </a:prstGeom>
          <a:solidFill>
            <a:srgbClr val="CED7E6">
              <a:alpha val="34032"/>
            </a:srgbClr>
          </a:solidFill>
          <a:ln>
            <a:noFill/>
          </a:ln>
        </p:spPr>
      </p:sp>
      <p:sp>
        <p:nvSpPr>
          <p:cNvPr id="21" name="wm.whiteboard.18.144"/>
          <p:cNvSpPr/>
          <p:nvPr/>
        </p:nvSpPr>
        <p:spPr>
          <a:xfrm>
            <a:off x="7810500" y="2057400"/>
            <a:ext cx="38100" cy="38100"/>
          </a:xfrm>
          <a:prstGeom prst="rect">
            <a:avLst/>
          </a:prstGeom>
          <a:solidFill>
            <a:srgbClr val="CED7E6">
              <a:alpha val="17363"/>
            </a:srgbClr>
          </a:solidFill>
          <a:ln>
            <a:noFill/>
          </a:ln>
        </p:spPr>
      </p:sp>
      <p:sp>
        <p:nvSpPr>
          <p:cNvPr id="22" name="wm.whiteboard.18.162"/>
          <p:cNvSpPr/>
          <p:nvPr/>
        </p:nvSpPr>
        <p:spPr>
          <a:xfrm>
            <a:off x="7810500" y="2286000"/>
            <a:ext cx="38100" cy="38100"/>
          </a:xfrm>
          <a:prstGeom prst="rect">
            <a:avLst/>
          </a:prstGeom>
          <a:solidFill>
            <a:srgbClr val="CED7E6">
              <a:alpha val="670"/>
            </a:srgbClr>
          </a:solidFill>
          <a:ln>
            <a:noFill/>
          </a:ln>
        </p:spPr>
      </p:sp>
      <p:sp>
        <p:nvSpPr>
          <p:cNvPr id="23" name="wm.whiteboard.36.0"/>
          <p:cNvSpPr/>
          <p:nvPr/>
        </p:nvSpPr>
        <p:spPr>
          <a:xfrm>
            <a:off x="80391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4" name="wm.whiteboard.36.18"/>
          <p:cNvSpPr/>
          <p:nvPr/>
        </p:nvSpPr>
        <p:spPr>
          <a:xfrm>
            <a:off x="80391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5" name="wm.whiteboard.36.36"/>
          <p:cNvSpPr/>
          <p:nvPr/>
        </p:nvSpPr>
        <p:spPr>
          <a:xfrm>
            <a:off x="80391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6" name="wm.whiteboard.36.54"/>
          <p:cNvSpPr/>
          <p:nvPr/>
        </p:nvSpPr>
        <p:spPr>
          <a:xfrm>
            <a:off x="8039100" y="914400"/>
            <a:ext cx="38100" cy="38100"/>
          </a:xfrm>
          <a:prstGeom prst="rect">
            <a:avLst/>
          </a:prstGeom>
          <a:solidFill>
            <a:srgbClr val="CED7E6">
              <a:alpha val="94671"/>
            </a:srgbClr>
          </a:solidFill>
          <a:ln>
            <a:noFill/>
          </a:ln>
        </p:spPr>
      </p:sp>
      <p:sp>
        <p:nvSpPr>
          <p:cNvPr id="27" name="wm.whiteboard.36.72"/>
          <p:cNvSpPr/>
          <p:nvPr/>
        </p:nvSpPr>
        <p:spPr>
          <a:xfrm>
            <a:off x="8039100" y="1143000"/>
            <a:ext cx="38100" cy="38100"/>
          </a:xfrm>
          <a:prstGeom prst="rect">
            <a:avLst/>
          </a:prstGeom>
          <a:solidFill>
            <a:srgbClr val="CED7E6">
              <a:alpha val="79547"/>
            </a:srgbClr>
          </a:solidFill>
          <a:ln>
            <a:noFill/>
          </a:ln>
        </p:spPr>
      </p:sp>
      <p:sp>
        <p:nvSpPr>
          <p:cNvPr id="28" name="wm.whiteboard.36.90"/>
          <p:cNvSpPr/>
          <p:nvPr/>
        </p:nvSpPr>
        <p:spPr>
          <a:xfrm>
            <a:off x="8039100" y="1371600"/>
            <a:ext cx="38100" cy="38100"/>
          </a:xfrm>
          <a:prstGeom prst="rect">
            <a:avLst/>
          </a:prstGeom>
          <a:solidFill>
            <a:srgbClr val="CED7E6">
              <a:alpha val="63833"/>
            </a:srgbClr>
          </a:solidFill>
          <a:ln>
            <a:noFill/>
          </a:ln>
        </p:spPr>
      </p:sp>
      <p:sp>
        <p:nvSpPr>
          <p:cNvPr id="29" name="wm.whiteboard.36.108"/>
          <p:cNvSpPr/>
          <p:nvPr/>
        </p:nvSpPr>
        <p:spPr>
          <a:xfrm>
            <a:off x="8039100" y="1600200"/>
            <a:ext cx="38100" cy="38100"/>
          </a:xfrm>
          <a:prstGeom prst="rect">
            <a:avLst/>
          </a:prstGeom>
          <a:solidFill>
            <a:srgbClr val="CED7E6">
              <a:alpha val="47790"/>
            </a:srgbClr>
          </a:solidFill>
          <a:ln>
            <a:noFill/>
          </a:ln>
        </p:spPr>
      </p:sp>
      <p:sp>
        <p:nvSpPr>
          <p:cNvPr id="30" name="wm.whiteboard.36.126"/>
          <p:cNvSpPr/>
          <p:nvPr/>
        </p:nvSpPr>
        <p:spPr>
          <a:xfrm>
            <a:off x="8039100" y="1828800"/>
            <a:ext cx="38100" cy="38100"/>
          </a:xfrm>
          <a:prstGeom prst="rect">
            <a:avLst/>
          </a:prstGeom>
          <a:solidFill>
            <a:srgbClr val="CED7E6">
              <a:alpha val="31549"/>
            </a:srgbClr>
          </a:solidFill>
          <a:ln>
            <a:noFill/>
          </a:ln>
        </p:spPr>
      </p:sp>
      <p:sp>
        <p:nvSpPr>
          <p:cNvPr id="31" name="wm.whiteboard.36.144"/>
          <p:cNvSpPr/>
          <p:nvPr/>
        </p:nvSpPr>
        <p:spPr>
          <a:xfrm>
            <a:off x="8039100" y="2057400"/>
            <a:ext cx="38100" cy="38100"/>
          </a:xfrm>
          <a:prstGeom prst="rect">
            <a:avLst/>
          </a:prstGeom>
          <a:solidFill>
            <a:srgbClr val="CED7E6">
              <a:alpha val="15179"/>
            </a:srgbClr>
          </a:solidFill>
          <a:ln>
            <a:noFill/>
          </a:ln>
        </p:spPr>
      </p:sp>
      <p:sp>
        <p:nvSpPr>
          <p:cNvPr id="32" name="wm.whiteboard.54.0"/>
          <p:cNvSpPr/>
          <p:nvPr/>
        </p:nvSpPr>
        <p:spPr>
          <a:xfrm>
            <a:off x="82677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3" name="wm.whiteboard.54.18"/>
          <p:cNvSpPr/>
          <p:nvPr/>
        </p:nvSpPr>
        <p:spPr>
          <a:xfrm>
            <a:off x="82677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4" name="wm.whiteboard.54.36"/>
          <p:cNvSpPr/>
          <p:nvPr/>
        </p:nvSpPr>
        <p:spPr>
          <a:xfrm>
            <a:off x="8267700" y="685800"/>
            <a:ext cx="38100" cy="38100"/>
          </a:xfrm>
          <a:prstGeom prst="rect">
            <a:avLst/>
          </a:prstGeom>
          <a:solidFill>
            <a:srgbClr val="CED7E6">
              <a:alpha val="98827"/>
            </a:srgbClr>
          </a:solidFill>
          <a:ln>
            <a:noFill/>
          </a:ln>
        </p:spPr>
      </p:sp>
      <p:sp>
        <p:nvSpPr>
          <p:cNvPr id="35" name="wm.whiteboard.54.54"/>
          <p:cNvSpPr/>
          <p:nvPr/>
        </p:nvSpPr>
        <p:spPr>
          <a:xfrm>
            <a:off x="8267700" y="914400"/>
            <a:ext cx="38100" cy="38100"/>
          </a:xfrm>
          <a:prstGeom prst="rect">
            <a:avLst/>
          </a:prstGeom>
          <a:solidFill>
            <a:srgbClr val="CED7E6">
              <a:alpha val="86895"/>
            </a:srgbClr>
          </a:solidFill>
          <a:ln>
            <a:noFill/>
          </a:ln>
        </p:spPr>
      </p:sp>
      <p:sp>
        <p:nvSpPr>
          <p:cNvPr id="36" name="wm.whiteboard.54.72"/>
          <p:cNvSpPr/>
          <p:nvPr/>
        </p:nvSpPr>
        <p:spPr>
          <a:xfrm>
            <a:off x="8267700" y="1143000"/>
            <a:ext cx="38100" cy="38100"/>
          </a:xfrm>
          <a:prstGeom prst="rect">
            <a:avLst/>
          </a:prstGeom>
          <a:solidFill>
            <a:srgbClr val="CED7E6">
              <a:alpha val="73217"/>
            </a:srgbClr>
          </a:solidFill>
          <a:ln>
            <a:noFill/>
          </a:ln>
        </p:spPr>
      </p:sp>
      <p:sp>
        <p:nvSpPr>
          <p:cNvPr id="37" name="wm.whiteboard.54.90"/>
          <p:cNvSpPr/>
          <p:nvPr/>
        </p:nvSpPr>
        <p:spPr>
          <a:xfrm>
            <a:off x="8267700" y="1371600"/>
            <a:ext cx="38100" cy="38100"/>
          </a:xfrm>
          <a:prstGeom prst="rect">
            <a:avLst/>
          </a:prstGeom>
          <a:solidFill>
            <a:srgbClr val="CED7E6">
              <a:alpha val="58541"/>
            </a:srgbClr>
          </a:solidFill>
          <a:ln>
            <a:noFill/>
          </a:ln>
        </p:spPr>
      </p:sp>
      <p:sp>
        <p:nvSpPr>
          <p:cNvPr id="38" name="wm.whiteboard.54.108"/>
          <p:cNvSpPr/>
          <p:nvPr/>
        </p:nvSpPr>
        <p:spPr>
          <a:xfrm>
            <a:off x="8267700" y="1600200"/>
            <a:ext cx="38100" cy="38100"/>
          </a:xfrm>
          <a:prstGeom prst="rect">
            <a:avLst/>
          </a:prstGeom>
          <a:solidFill>
            <a:srgbClr val="CED7E6">
              <a:alpha val="43263"/>
            </a:srgbClr>
          </a:solidFill>
          <a:ln>
            <a:noFill/>
          </a:ln>
        </p:spPr>
      </p:sp>
      <p:sp>
        <p:nvSpPr>
          <p:cNvPr id="39" name="wm.whiteboard.54.126"/>
          <p:cNvSpPr/>
          <p:nvPr/>
        </p:nvSpPr>
        <p:spPr>
          <a:xfrm>
            <a:off x="8267700" y="1828800"/>
            <a:ext cx="38100" cy="38100"/>
          </a:xfrm>
          <a:prstGeom prst="rect">
            <a:avLst/>
          </a:prstGeom>
          <a:solidFill>
            <a:srgbClr val="CED7E6">
              <a:alpha val="27603"/>
            </a:srgbClr>
          </a:solidFill>
          <a:ln>
            <a:noFill/>
          </a:ln>
        </p:spPr>
      </p:sp>
      <p:sp>
        <p:nvSpPr>
          <p:cNvPr id="40" name="wm.whiteboard.54.144"/>
          <p:cNvSpPr/>
          <p:nvPr/>
        </p:nvSpPr>
        <p:spPr>
          <a:xfrm>
            <a:off x="8267700" y="2057400"/>
            <a:ext cx="38100" cy="38100"/>
          </a:xfrm>
          <a:prstGeom prst="rect">
            <a:avLst/>
          </a:prstGeom>
          <a:solidFill>
            <a:srgbClr val="CED7E6">
              <a:alpha val="11687"/>
            </a:srgbClr>
          </a:solidFill>
          <a:ln>
            <a:noFill/>
          </a:ln>
        </p:spPr>
      </p:sp>
      <p:sp>
        <p:nvSpPr>
          <p:cNvPr id="41" name="wm.whiteboard.72.0"/>
          <p:cNvSpPr/>
          <p:nvPr/>
        </p:nvSpPr>
        <p:spPr>
          <a:xfrm>
            <a:off x="8496300" y="228600"/>
            <a:ext cx="38100" cy="38100"/>
          </a:xfrm>
          <a:prstGeom prst="rect">
            <a:avLst/>
          </a:prstGeom>
          <a:solidFill>
            <a:srgbClr val="CED7E6">
              <a:alpha val="97572"/>
            </a:srgbClr>
          </a:solidFill>
          <a:ln>
            <a:noFill/>
          </a:ln>
        </p:spPr>
      </p:sp>
      <p:sp>
        <p:nvSpPr>
          <p:cNvPr id="42" name="wm.whiteboard.72.18"/>
          <p:cNvSpPr/>
          <p:nvPr/>
        </p:nvSpPr>
        <p:spPr>
          <a:xfrm>
            <a:off x="8496300" y="457200"/>
            <a:ext cx="38100" cy="38100"/>
          </a:xfrm>
          <a:prstGeom prst="rect">
            <a:avLst/>
          </a:prstGeom>
          <a:solidFill>
            <a:srgbClr val="CED7E6">
              <a:alpha val="94724"/>
            </a:srgbClr>
          </a:solidFill>
          <a:ln>
            <a:noFill/>
          </a:ln>
        </p:spPr>
      </p:sp>
      <p:sp>
        <p:nvSpPr>
          <p:cNvPr id="43" name="wm.whiteboard.72.36"/>
          <p:cNvSpPr/>
          <p:nvPr/>
        </p:nvSpPr>
        <p:spPr>
          <a:xfrm>
            <a:off x="8496300" y="685800"/>
            <a:ext cx="38100" cy="38100"/>
          </a:xfrm>
          <a:prstGeom prst="rect">
            <a:avLst/>
          </a:prstGeom>
          <a:solidFill>
            <a:srgbClr val="CED7E6">
              <a:alpha val="87609"/>
            </a:srgbClr>
          </a:solidFill>
          <a:ln>
            <a:noFill/>
          </a:ln>
        </p:spPr>
      </p:sp>
      <p:sp>
        <p:nvSpPr>
          <p:cNvPr id="44" name="wm.whiteboard.72.54"/>
          <p:cNvSpPr/>
          <p:nvPr/>
        </p:nvSpPr>
        <p:spPr>
          <a:xfrm>
            <a:off x="8496300" y="914400"/>
            <a:ext cx="38100" cy="38100"/>
          </a:xfrm>
          <a:prstGeom prst="rect">
            <a:avLst/>
          </a:prstGeom>
          <a:solidFill>
            <a:srgbClr val="CED7E6">
              <a:alpha val="77408"/>
            </a:srgbClr>
          </a:solidFill>
          <a:ln>
            <a:noFill/>
          </a:ln>
        </p:spPr>
      </p:sp>
      <p:sp>
        <p:nvSpPr>
          <p:cNvPr id="45" name="wm.whiteboard.72.72"/>
          <p:cNvSpPr/>
          <p:nvPr/>
        </p:nvSpPr>
        <p:spPr>
          <a:xfrm>
            <a:off x="8496300" y="1143000"/>
            <a:ext cx="38100" cy="38100"/>
          </a:xfrm>
          <a:prstGeom prst="rect">
            <a:avLst/>
          </a:prstGeom>
          <a:solidFill>
            <a:srgbClr val="CED7E6">
              <a:alpha val="65181"/>
            </a:srgbClr>
          </a:solidFill>
          <a:ln>
            <a:noFill/>
          </a:ln>
        </p:spPr>
      </p:sp>
      <p:sp>
        <p:nvSpPr>
          <p:cNvPr id="46" name="wm.whiteboard.72.90"/>
          <p:cNvSpPr/>
          <p:nvPr/>
        </p:nvSpPr>
        <p:spPr>
          <a:xfrm>
            <a:off x="8496300" y="1371600"/>
            <a:ext cx="38100" cy="38100"/>
          </a:xfrm>
          <a:prstGeom prst="rect">
            <a:avLst/>
          </a:prstGeom>
          <a:solidFill>
            <a:srgbClr val="CED7E6">
              <a:alpha val="51653"/>
            </a:srgbClr>
          </a:solidFill>
          <a:ln>
            <a:noFill/>
          </a:ln>
        </p:spPr>
      </p:sp>
      <p:sp>
        <p:nvSpPr>
          <p:cNvPr id="47" name="wm.whiteboard.72.108"/>
          <p:cNvSpPr/>
          <p:nvPr/>
        </p:nvSpPr>
        <p:spPr>
          <a:xfrm>
            <a:off x="8496300" y="1600200"/>
            <a:ext cx="38100" cy="38100"/>
          </a:xfrm>
          <a:prstGeom prst="rect">
            <a:avLst/>
          </a:prstGeom>
          <a:solidFill>
            <a:srgbClr val="CED7E6">
              <a:alpha val="37275"/>
            </a:srgbClr>
          </a:solidFill>
          <a:ln>
            <a:noFill/>
          </a:ln>
        </p:spPr>
      </p:sp>
      <p:sp>
        <p:nvSpPr>
          <p:cNvPr id="48" name="wm.whiteboard.72.126"/>
          <p:cNvSpPr/>
          <p:nvPr/>
        </p:nvSpPr>
        <p:spPr>
          <a:xfrm>
            <a:off x="8496300" y="1828800"/>
            <a:ext cx="38100" cy="38100"/>
          </a:xfrm>
          <a:prstGeom prst="rect">
            <a:avLst/>
          </a:prstGeom>
          <a:solidFill>
            <a:srgbClr val="CED7E6">
              <a:alpha val="22326"/>
            </a:srgbClr>
          </a:solidFill>
          <a:ln>
            <a:noFill/>
          </a:ln>
        </p:spPr>
      </p:sp>
      <p:sp>
        <p:nvSpPr>
          <p:cNvPr id="49" name="wm.whiteboard.72.144"/>
          <p:cNvSpPr/>
          <p:nvPr/>
        </p:nvSpPr>
        <p:spPr>
          <a:xfrm>
            <a:off x="8496300" y="2057400"/>
            <a:ext cx="38100" cy="38100"/>
          </a:xfrm>
          <a:prstGeom prst="rect">
            <a:avLst/>
          </a:prstGeom>
          <a:solidFill>
            <a:srgbClr val="CED7E6">
              <a:alpha val="6980"/>
            </a:srgbClr>
          </a:solidFill>
          <a:ln>
            <a:noFill/>
          </a:ln>
        </p:spPr>
      </p:sp>
      <p:sp>
        <p:nvSpPr>
          <p:cNvPr id="50" name="wm.whiteboard.90.0"/>
          <p:cNvSpPr/>
          <p:nvPr/>
        </p:nvSpPr>
        <p:spPr>
          <a:xfrm>
            <a:off x="8724900" y="228600"/>
            <a:ext cx="38100" cy="38100"/>
          </a:xfrm>
          <a:prstGeom prst="rect">
            <a:avLst/>
          </a:prstGeom>
          <a:solidFill>
            <a:srgbClr val="CED7E6">
              <a:alpha val="83798"/>
            </a:srgbClr>
          </a:solidFill>
          <a:ln>
            <a:noFill/>
          </a:ln>
        </p:spPr>
      </p:sp>
      <p:sp>
        <p:nvSpPr>
          <p:cNvPr id="51" name="wm.whiteboard.90.18"/>
          <p:cNvSpPr/>
          <p:nvPr/>
        </p:nvSpPr>
        <p:spPr>
          <a:xfrm>
            <a:off x="8724900" y="457200"/>
            <a:ext cx="38100" cy="38100"/>
          </a:xfrm>
          <a:prstGeom prst="rect">
            <a:avLst/>
          </a:prstGeom>
          <a:solidFill>
            <a:srgbClr val="CED7E6">
              <a:alpha val="81490"/>
            </a:srgbClr>
          </a:solidFill>
          <a:ln>
            <a:noFill/>
          </a:ln>
        </p:spPr>
      </p:sp>
      <p:sp>
        <p:nvSpPr>
          <p:cNvPr id="52" name="wm.whiteboard.90.36"/>
          <p:cNvSpPr/>
          <p:nvPr/>
        </p:nvSpPr>
        <p:spPr>
          <a:xfrm>
            <a:off x="8724900" y="685800"/>
            <a:ext cx="38100" cy="38100"/>
          </a:xfrm>
          <a:prstGeom prst="rect">
            <a:avLst/>
          </a:prstGeom>
          <a:solidFill>
            <a:srgbClr val="CED7E6">
              <a:alpha val="75569"/>
            </a:srgbClr>
          </a:solidFill>
          <a:ln>
            <a:noFill/>
          </a:ln>
        </p:spPr>
      </p:sp>
      <p:sp>
        <p:nvSpPr>
          <p:cNvPr id="53" name="wm.whiteboard.90.54"/>
          <p:cNvSpPr/>
          <p:nvPr/>
        </p:nvSpPr>
        <p:spPr>
          <a:xfrm>
            <a:off x="8724900" y="914400"/>
            <a:ext cx="38100" cy="38100"/>
          </a:xfrm>
          <a:prstGeom prst="rect">
            <a:avLst/>
          </a:prstGeom>
          <a:solidFill>
            <a:srgbClr val="CED7E6">
              <a:alpha val="66767"/>
            </a:srgbClr>
          </a:solidFill>
          <a:ln>
            <a:noFill/>
          </a:ln>
        </p:spPr>
      </p:sp>
      <p:sp>
        <p:nvSpPr>
          <p:cNvPr id="54" name="wm.whiteboard.90.72"/>
          <p:cNvSpPr/>
          <p:nvPr/>
        </p:nvSpPr>
        <p:spPr>
          <a:xfrm>
            <a:off x="8724900" y="1143000"/>
            <a:ext cx="38100" cy="38100"/>
          </a:xfrm>
          <a:prstGeom prst="rect">
            <a:avLst/>
          </a:prstGeom>
          <a:solidFill>
            <a:srgbClr val="CED7E6">
              <a:alpha val="55859"/>
            </a:srgbClr>
          </a:solidFill>
          <a:ln>
            <a:noFill/>
          </a:ln>
        </p:spPr>
      </p:sp>
      <p:sp>
        <p:nvSpPr>
          <p:cNvPr id="55" name="wm.whiteboard.90.90"/>
          <p:cNvSpPr/>
          <p:nvPr/>
        </p:nvSpPr>
        <p:spPr>
          <a:xfrm>
            <a:off x="8724900" y="1371600"/>
            <a:ext cx="38100" cy="38100"/>
          </a:xfrm>
          <a:prstGeom prst="rect">
            <a:avLst/>
          </a:prstGeom>
          <a:solidFill>
            <a:srgbClr val="CED7E6">
              <a:alpha val="43468"/>
            </a:srgbClr>
          </a:solidFill>
          <a:ln>
            <a:noFill/>
          </a:ln>
        </p:spPr>
      </p:sp>
      <p:sp>
        <p:nvSpPr>
          <p:cNvPr id="56" name="wm.whiteboard.90.108"/>
          <p:cNvSpPr/>
          <p:nvPr/>
        </p:nvSpPr>
        <p:spPr>
          <a:xfrm>
            <a:off x="8724900" y="1600200"/>
            <a:ext cx="38100" cy="38100"/>
          </a:xfrm>
          <a:prstGeom prst="rect">
            <a:avLst/>
          </a:prstGeom>
          <a:solidFill>
            <a:srgbClr val="CED7E6">
              <a:alpha val="30037"/>
            </a:srgbClr>
          </a:solidFill>
          <a:ln>
            <a:noFill/>
          </a:ln>
        </p:spPr>
      </p:sp>
      <p:sp>
        <p:nvSpPr>
          <p:cNvPr id="57" name="wm.whiteboard.90.126"/>
          <p:cNvSpPr/>
          <p:nvPr/>
        </p:nvSpPr>
        <p:spPr>
          <a:xfrm>
            <a:off x="8724900" y="1828800"/>
            <a:ext cx="38100" cy="38100"/>
          </a:xfrm>
          <a:prstGeom prst="rect">
            <a:avLst/>
          </a:prstGeom>
          <a:solidFill>
            <a:srgbClr val="CED7E6">
              <a:alpha val="15870"/>
            </a:srgbClr>
          </a:solidFill>
          <a:ln>
            <a:noFill/>
          </a:ln>
        </p:spPr>
      </p:sp>
      <p:sp>
        <p:nvSpPr>
          <p:cNvPr id="58" name="wm.whiteboard.90.144"/>
          <p:cNvSpPr/>
          <p:nvPr/>
        </p:nvSpPr>
        <p:spPr>
          <a:xfrm>
            <a:off x="8724900" y="2057400"/>
            <a:ext cx="38100" cy="38100"/>
          </a:xfrm>
          <a:prstGeom prst="rect">
            <a:avLst/>
          </a:prstGeom>
          <a:solidFill>
            <a:srgbClr val="CED7E6">
              <a:alpha val="1171"/>
            </a:srgbClr>
          </a:solidFill>
          <a:ln>
            <a:noFill/>
          </a:ln>
        </p:spPr>
      </p:sp>
      <p:sp>
        <p:nvSpPr>
          <p:cNvPr id="59" name="wm.whiteboard.108.0"/>
          <p:cNvSpPr/>
          <p:nvPr/>
        </p:nvSpPr>
        <p:spPr>
          <a:xfrm>
            <a:off x="8953500" y="228600"/>
            <a:ext cx="38100" cy="38100"/>
          </a:xfrm>
          <a:prstGeom prst="rect">
            <a:avLst/>
          </a:prstGeom>
          <a:solidFill>
            <a:srgbClr val="CED7E6">
              <a:alpha val="70023"/>
            </a:srgbClr>
          </a:solidFill>
          <a:ln>
            <a:noFill/>
          </a:ln>
        </p:spPr>
      </p:sp>
      <p:sp>
        <p:nvSpPr>
          <p:cNvPr id="60" name="wm.whiteboard.108.18"/>
          <p:cNvSpPr/>
          <p:nvPr/>
        </p:nvSpPr>
        <p:spPr>
          <a:xfrm>
            <a:off x="8953500" y="457200"/>
            <a:ext cx="38100" cy="38100"/>
          </a:xfrm>
          <a:prstGeom prst="rect">
            <a:avLst/>
          </a:prstGeom>
          <a:solidFill>
            <a:srgbClr val="CED7E6">
              <a:alpha val="68085"/>
            </a:srgbClr>
          </a:solidFill>
          <a:ln>
            <a:noFill/>
          </a:ln>
        </p:spPr>
      </p:sp>
      <p:sp>
        <p:nvSpPr>
          <p:cNvPr id="61" name="wm.whiteboard.108.36"/>
          <p:cNvSpPr/>
          <p:nvPr/>
        </p:nvSpPr>
        <p:spPr>
          <a:xfrm>
            <a:off x="8953500" y="685800"/>
            <a:ext cx="38100" cy="38100"/>
          </a:xfrm>
          <a:prstGeom prst="rect">
            <a:avLst/>
          </a:prstGeom>
          <a:solidFill>
            <a:srgbClr val="CED7E6">
              <a:alpha val="63033"/>
            </a:srgbClr>
          </a:solidFill>
          <a:ln>
            <a:noFill/>
          </a:ln>
        </p:spPr>
      </p:sp>
      <p:sp>
        <p:nvSpPr>
          <p:cNvPr id="62" name="wm.whiteboard.108.54"/>
          <p:cNvSpPr/>
          <p:nvPr/>
        </p:nvSpPr>
        <p:spPr>
          <a:xfrm>
            <a:off x="8953500" y="914400"/>
            <a:ext cx="38100" cy="38100"/>
          </a:xfrm>
          <a:prstGeom prst="rect">
            <a:avLst/>
          </a:prstGeom>
          <a:solidFill>
            <a:srgbClr val="CED7E6">
              <a:alpha val="55346"/>
            </a:srgbClr>
          </a:solidFill>
          <a:ln>
            <a:noFill/>
          </a:ln>
        </p:spPr>
      </p:sp>
      <p:sp>
        <p:nvSpPr>
          <p:cNvPr id="63" name="wm.whiteboard.108.72"/>
          <p:cNvSpPr/>
          <p:nvPr/>
        </p:nvSpPr>
        <p:spPr>
          <a:xfrm>
            <a:off x="8953500" y="1143000"/>
            <a:ext cx="38100" cy="38100"/>
          </a:xfrm>
          <a:prstGeom prst="rect">
            <a:avLst/>
          </a:prstGeom>
          <a:solidFill>
            <a:srgbClr val="CED7E6">
              <a:alpha val="45583"/>
            </a:srgbClr>
          </a:solidFill>
          <a:ln>
            <a:noFill/>
          </a:ln>
        </p:spPr>
      </p:sp>
      <p:sp>
        <p:nvSpPr>
          <p:cNvPr id="64" name="wm.whiteboard.108.90"/>
          <p:cNvSpPr/>
          <p:nvPr/>
        </p:nvSpPr>
        <p:spPr>
          <a:xfrm>
            <a:off x="8953500" y="1371600"/>
            <a:ext cx="38100" cy="38100"/>
          </a:xfrm>
          <a:prstGeom prst="rect">
            <a:avLst/>
          </a:prstGeom>
          <a:solidFill>
            <a:srgbClr val="CED7E6">
              <a:alpha val="34251"/>
            </a:srgbClr>
          </a:solidFill>
          <a:ln>
            <a:noFill/>
          </a:ln>
        </p:spPr>
      </p:sp>
      <p:sp>
        <p:nvSpPr>
          <p:cNvPr id="65" name="wm.whiteboard.108.108"/>
          <p:cNvSpPr/>
          <p:nvPr/>
        </p:nvSpPr>
        <p:spPr>
          <a:xfrm>
            <a:off x="8953500" y="1600200"/>
            <a:ext cx="38100" cy="38100"/>
          </a:xfrm>
          <a:prstGeom prst="rect">
            <a:avLst/>
          </a:prstGeom>
          <a:solidFill>
            <a:srgbClr val="CED7E6">
              <a:alpha val="21754"/>
            </a:srgbClr>
          </a:solidFill>
          <a:ln>
            <a:noFill/>
          </a:ln>
        </p:spPr>
      </p:sp>
      <p:sp>
        <p:nvSpPr>
          <p:cNvPr id="66" name="wm.whiteboard.108.126"/>
          <p:cNvSpPr/>
          <p:nvPr/>
        </p:nvSpPr>
        <p:spPr>
          <a:xfrm>
            <a:off x="8953500" y="1828800"/>
            <a:ext cx="38100" cy="38100"/>
          </a:xfrm>
          <a:prstGeom prst="rect">
            <a:avLst/>
          </a:prstGeom>
          <a:solidFill>
            <a:srgbClr val="CED7E6">
              <a:alpha val="8391"/>
            </a:srgbClr>
          </a:solidFill>
          <a:ln>
            <a:noFill/>
          </a:ln>
        </p:spPr>
      </p:sp>
      <p:sp>
        <p:nvSpPr>
          <p:cNvPr id="67" name="wm.whiteboard.126.0"/>
          <p:cNvSpPr/>
          <p:nvPr/>
        </p:nvSpPr>
        <p:spPr>
          <a:xfrm>
            <a:off x="9182100" y="228600"/>
            <a:ext cx="38100" cy="38100"/>
          </a:xfrm>
          <a:prstGeom prst="rect">
            <a:avLst/>
          </a:prstGeom>
          <a:solidFill>
            <a:srgbClr val="CED7E6">
              <a:alpha val="56247"/>
            </a:srgbClr>
          </a:solidFill>
          <a:ln>
            <a:noFill/>
          </a:ln>
        </p:spPr>
      </p:sp>
      <p:sp>
        <p:nvSpPr>
          <p:cNvPr id="68" name="wm.whiteboard.126.18"/>
          <p:cNvSpPr/>
          <p:nvPr/>
        </p:nvSpPr>
        <p:spPr>
          <a:xfrm>
            <a:off x="9182100" y="457200"/>
            <a:ext cx="38100" cy="38100"/>
          </a:xfrm>
          <a:prstGeom prst="rect">
            <a:avLst/>
          </a:prstGeom>
          <a:solidFill>
            <a:srgbClr val="CED7E6">
              <a:alpha val="54578"/>
            </a:srgbClr>
          </a:solidFill>
          <a:ln>
            <a:noFill/>
          </a:ln>
        </p:spPr>
      </p:sp>
      <p:sp>
        <p:nvSpPr>
          <p:cNvPr id="69" name="wm.whiteboard.126.36"/>
          <p:cNvSpPr/>
          <p:nvPr/>
        </p:nvSpPr>
        <p:spPr>
          <a:xfrm>
            <a:off x="9182100" y="685800"/>
            <a:ext cx="38100" cy="38100"/>
          </a:xfrm>
          <a:prstGeom prst="rect">
            <a:avLst/>
          </a:prstGeom>
          <a:solidFill>
            <a:srgbClr val="CED7E6">
              <a:alpha val="50182"/>
            </a:srgbClr>
          </a:solidFill>
          <a:ln>
            <a:noFill/>
          </a:ln>
        </p:spPr>
      </p:sp>
      <p:sp>
        <p:nvSpPr>
          <p:cNvPr id="70" name="wm.whiteboard.126.54"/>
          <p:cNvSpPr/>
          <p:nvPr/>
        </p:nvSpPr>
        <p:spPr>
          <a:xfrm>
            <a:off x="9182100" y="914400"/>
            <a:ext cx="38100" cy="38100"/>
          </a:xfrm>
          <a:prstGeom prst="rect">
            <a:avLst/>
          </a:prstGeom>
          <a:solidFill>
            <a:srgbClr val="CED7E6">
              <a:alpha val="43386"/>
            </a:srgbClr>
          </a:solidFill>
          <a:ln>
            <a:noFill/>
          </a:ln>
        </p:spPr>
      </p:sp>
      <p:sp>
        <p:nvSpPr>
          <p:cNvPr id="71" name="wm.whiteboard.126.72"/>
          <p:cNvSpPr/>
          <p:nvPr/>
        </p:nvSpPr>
        <p:spPr>
          <a:xfrm>
            <a:off x="9182100" y="1143000"/>
            <a:ext cx="38100" cy="38100"/>
          </a:xfrm>
          <a:prstGeom prst="rect">
            <a:avLst/>
          </a:prstGeom>
          <a:solidFill>
            <a:srgbClr val="CED7E6">
              <a:alpha val="34598"/>
            </a:srgbClr>
          </a:solidFill>
          <a:ln>
            <a:noFill/>
          </a:ln>
        </p:spPr>
      </p:sp>
      <p:sp>
        <p:nvSpPr>
          <p:cNvPr id="72" name="wm.whiteboard.126.90"/>
          <p:cNvSpPr/>
          <p:nvPr/>
        </p:nvSpPr>
        <p:spPr>
          <a:xfrm>
            <a:off x="9182100" y="1371600"/>
            <a:ext cx="38100" cy="38100"/>
          </a:xfrm>
          <a:prstGeom prst="rect">
            <a:avLst/>
          </a:prstGeom>
          <a:solidFill>
            <a:srgbClr val="CED7E6">
              <a:alpha val="24223"/>
            </a:srgbClr>
          </a:solidFill>
          <a:ln>
            <a:noFill/>
          </a:ln>
        </p:spPr>
      </p:sp>
      <p:sp>
        <p:nvSpPr>
          <p:cNvPr id="73" name="wm.whiteboard.126.108"/>
          <p:cNvSpPr/>
          <p:nvPr/>
        </p:nvSpPr>
        <p:spPr>
          <a:xfrm>
            <a:off x="9182100" y="1600200"/>
            <a:ext cx="38100" cy="38100"/>
          </a:xfrm>
          <a:prstGeom prst="rect">
            <a:avLst/>
          </a:prstGeom>
          <a:solidFill>
            <a:srgbClr val="CED7E6">
              <a:alpha val="12610"/>
            </a:srgbClr>
          </a:solidFill>
          <a:ln>
            <a:noFill/>
          </a:ln>
        </p:spPr>
      </p:sp>
      <p:sp>
        <p:nvSpPr>
          <p:cNvPr id="74" name="wm.whiteboard.126.126"/>
          <p:cNvSpPr/>
          <p:nvPr/>
        </p:nvSpPr>
        <p:spPr>
          <a:xfrm>
            <a:off x="9182100" y="1828800"/>
            <a:ext cx="38100" cy="38100"/>
          </a:xfrm>
          <a:prstGeom prst="rect">
            <a:avLst/>
          </a:prstGeom>
          <a:solidFill>
            <a:srgbClr val="CED7E6">
              <a:alpha val="40"/>
            </a:srgbClr>
          </a:solidFill>
          <a:ln>
            <a:noFill/>
          </a:ln>
        </p:spPr>
      </p:sp>
      <p:sp>
        <p:nvSpPr>
          <p:cNvPr id="75" name="wm.whiteboard.144.0"/>
          <p:cNvSpPr/>
          <p:nvPr/>
        </p:nvSpPr>
        <p:spPr>
          <a:xfrm>
            <a:off x="9410700" y="228600"/>
            <a:ext cx="38100" cy="38100"/>
          </a:xfrm>
          <a:prstGeom prst="rect">
            <a:avLst/>
          </a:prstGeom>
          <a:solidFill>
            <a:srgbClr val="CED7E6">
              <a:alpha val="42471"/>
            </a:srgbClr>
          </a:solidFill>
          <a:ln>
            <a:noFill/>
          </a:ln>
        </p:spPr>
      </p:sp>
      <p:sp>
        <p:nvSpPr>
          <p:cNvPr id="76" name="wm.whiteboard.144.18"/>
          <p:cNvSpPr/>
          <p:nvPr/>
        </p:nvSpPr>
        <p:spPr>
          <a:xfrm>
            <a:off x="9410700" y="457200"/>
            <a:ext cx="38100" cy="38100"/>
          </a:xfrm>
          <a:prstGeom prst="rect">
            <a:avLst/>
          </a:prstGeom>
          <a:solidFill>
            <a:srgbClr val="CED7E6">
              <a:alpha val="41005"/>
            </a:srgbClr>
          </a:solidFill>
          <a:ln>
            <a:noFill/>
          </a:ln>
        </p:spPr>
      </p:sp>
      <p:sp>
        <p:nvSpPr>
          <p:cNvPr id="77" name="wm.whiteboard.144.36"/>
          <p:cNvSpPr/>
          <p:nvPr/>
        </p:nvSpPr>
        <p:spPr>
          <a:xfrm>
            <a:off x="9410700" y="685800"/>
            <a:ext cx="38100" cy="38100"/>
          </a:xfrm>
          <a:prstGeom prst="rect">
            <a:avLst/>
          </a:prstGeom>
          <a:solidFill>
            <a:srgbClr val="CED7E6">
              <a:alpha val="37120"/>
            </a:srgbClr>
          </a:solidFill>
          <a:ln>
            <a:noFill/>
          </a:ln>
        </p:spPr>
      </p:sp>
      <p:sp>
        <p:nvSpPr>
          <p:cNvPr id="78" name="wm.whiteboard.144.54"/>
          <p:cNvSpPr/>
          <p:nvPr/>
        </p:nvSpPr>
        <p:spPr>
          <a:xfrm>
            <a:off x="9410700" y="914400"/>
            <a:ext cx="38100" cy="38100"/>
          </a:xfrm>
          <a:prstGeom prst="rect">
            <a:avLst/>
          </a:prstGeom>
          <a:solidFill>
            <a:srgbClr val="CED7E6">
              <a:alpha val="31044"/>
            </a:srgbClr>
          </a:solidFill>
          <a:ln>
            <a:noFill/>
          </a:ln>
        </p:spPr>
      </p:sp>
      <p:sp>
        <p:nvSpPr>
          <p:cNvPr id="79" name="wm.whiteboard.144.72"/>
          <p:cNvSpPr/>
          <p:nvPr/>
        </p:nvSpPr>
        <p:spPr>
          <a:xfrm>
            <a:off x="9410700" y="1143000"/>
            <a:ext cx="38100" cy="38100"/>
          </a:xfrm>
          <a:prstGeom prst="rect">
            <a:avLst/>
          </a:prstGeom>
          <a:solidFill>
            <a:srgbClr val="CED7E6">
              <a:alpha val="23083"/>
            </a:srgbClr>
          </a:solidFill>
          <a:ln>
            <a:noFill/>
          </a:ln>
        </p:spPr>
      </p:sp>
      <p:sp>
        <p:nvSpPr>
          <p:cNvPr id="80" name="wm.whiteboard.144.90"/>
          <p:cNvSpPr/>
          <p:nvPr/>
        </p:nvSpPr>
        <p:spPr>
          <a:xfrm>
            <a:off x="9410700" y="1371600"/>
            <a:ext cx="38100" cy="38100"/>
          </a:xfrm>
          <a:prstGeom prst="rect">
            <a:avLst/>
          </a:prstGeom>
          <a:solidFill>
            <a:srgbClr val="CED7E6">
              <a:alpha val="13557"/>
            </a:srgbClr>
          </a:solidFill>
          <a:ln>
            <a:noFill/>
          </a:ln>
        </p:spPr>
      </p:sp>
      <p:sp>
        <p:nvSpPr>
          <p:cNvPr id="81" name="wm.whiteboard.144.108"/>
          <p:cNvSpPr/>
          <p:nvPr/>
        </p:nvSpPr>
        <p:spPr>
          <a:xfrm>
            <a:off x="9410700" y="1600200"/>
            <a:ext cx="38100" cy="38100"/>
          </a:xfrm>
          <a:prstGeom prst="rect">
            <a:avLst/>
          </a:prstGeom>
          <a:solidFill>
            <a:srgbClr val="CED7E6">
              <a:alpha val="2762"/>
            </a:srgbClr>
          </a:solidFill>
          <a:ln>
            <a:noFill/>
          </a:ln>
        </p:spPr>
      </p:sp>
      <p:sp>
        <p:nvSpPr>
          <p:cNvPr id="82" name="wm.whiteboard.162.0"/>
          <p:cNvSpPr/>
          <p:nvPr/>
        </p:nvSpPr>
        <p:spPr>
          <a:xfrm>
            <a:off x="9639300" y="228600"/>
            <a:ext cx="38100" cy="38100"/>
          </a:xfrm>
          <a:prstGeom prst="rect">
            <a:avLst/>
          </a:prstGeom>
          <a:solidFill>
            <a:srgbClr val="CED7E6">
              <a:alpha val="28695"/>
            </a:srgbClr>
          </a:solidFill>
          <a:ln>
            <a:noFill/>
          </a:ln>
        </p:spPr>
      </p:sp>
      <p:sp>
        <p:nvSpPr>
          <p:cNvPr id="83" name="wm.whiteboard.162.18"/>
          <p:cNvSpPr/>
          <p:nvPr/>
        </p:nvSpPr>
        <p:spPr>
          <a:xfrm>
            <a:off x="9639300" y="457200"/>
            <a:ext cx="38100" cy="38100"/>
          </a:xfrm>
          <a:prstGeom prst="rect">
            <a:avLst/>
          </a:prstGeom>
          <a:solidFill>
            <a:srgbClr val="CED7E6">
              <a:alpha val="27389"/>
            </a:srgbClr>
          </a:solidFill>
          <a:ln>
            <a:noFill/>
          </a:ln>
        </p:spPr>
      </p:sp>
      <p:sp>
        <p:nvSpPr>
          <p:cNvPr id="84" name="wm.whiteboard.162.36"/>
          <p:cNvSpPr/>
          <p:nvPr/>
        </p:nvSpPr>
        <p:spPr>
          <a:xfrm>
            <a:off x="9639300" y="685800"/>
            <a:ext cx="38100" cy="38100"/>
          </a:xfrm>
          <a:prstGeom prst="rect">
            <a:avLst/>
          </a:prstGeom>
          <a:solidFill>
            <a:srgbClr val="CED7E6">
              <a:alpha val="23910"/>
            </a:srgbClr>
          </a:solidFill>
          <a:ln>
            <a:noFill/>
          </a:ln>
        </p:spPr>
      </p:sp>
      <p:sp>
        <p:nvSpPr>
          <p:cNvPr id="85" name="wm.whiteboard.162.54"/>
          <p:cNvSpPr/>
          <p:nvPr/>
        </p:nvSpPr>
        <p:spPr>
          <a:xfrm>
            <a:off x="9639300" y="914400"/>
            <a:ext cx="38100" cy="38100"/>
          </a:xfrm>
          <a:prstGeom prst="rect">
            <a:avLst/>
          </a:prstGeom>
          <a:solidFill>
            <a:srgbClr val="CED7E6">
              <a:alpha val="18425"/>
            </a:srgbClr>
          </a:solidFill>
          <a:ln>
            <a:noFill/>
          </a:ln>
        </p:spPr>
      </p:sp>
      <p:sp>
        <p:nvSpPr>
          <p:cNvPr id="86" name="wm.whiteboard.162.72"/>
          <p:cNvSpPr/>
          <p:nvPr/>
        </p:nvSpPr>
        <p:spPr>
          <a:xfrm>
            <a:off x="9639300" y="1143000"/>
            <a:ext cx="38100" cy="38100"/>
          </a:xfrm>
          <a:prstGeom prst="rect">
            <a:avLst/>
          </a:prstGeom>
          <a:solidFill>
            <a:srgbClr val="CED7E6">
              <a:alpha val="11167"/>
            </a:srgbClr>
          </a:solidFill>
          <a:ln>
            <a:noFill/>
          </a:ln>
        </p:spPr>
      </p:sp>
      <p:sp>
        <p:nvSpPr>
          <p:cNvPr id="87" name="wm.whiteboard.162.90"/>
          <p:cNvSpPr/>
          <p:nvPr/>
        </p:nvSpPr>
        <p:spPr>
          <a:xfrm>
            <a:off x="9639300" y="1371600"/>
            <a:ext cx="38100" cy="38100"/>
          </a:xfrm>
          <a:prstGeom prst="rect">
            <a:avLst/>
          </a:prstGeom>
          <a:solidFill>
            <a:srgbClr val="CED7E6">
              <a:alpha val="2388"/>
            </a:srgbClr>
          </a:solidFill>
          <a:ln>
            <a:noFill/>
          </a:ln>
        </p:spPr>
      </p:sp>
      <p:sp>
        <p:nvSpPr>
          <p:cNvPr id="88" name="wm.whiteboard.180.0"/>
          <p:cNvSpPr/>
          <p:nvPr/>
        </p:nvSpPr>
        <p:spPr>
          <a:xfrm>
            <a:off x="9867900" y="228600"/>
            <a:ext cx="38100" cy="38100"/>
          </a:xfrm>
          <a:prstGeom prst="rect">
            <a:avLst/>
          </a:prstGeom>
          <a:solidFill>
            <a:srgbClr val="CED7E6">
              <a:alpha val="14918"/>
            </a:srgbClr>
          </a:solidFill>
          <a:ln>
            <a:noFill/>
          </a:ln>
        </p:spPr>
      </p:sp>
      <p:sp>
        <p:nvSpPr>
          <p:cNvPr id="89" name="wm.whiteboard.180.18"/>
          <p:cNvSpPr/>
          <p:nvPr/>
        </p:nvSpPr>
        <p:spPr>
          <a:xfrm>
            <a:off x="9867900" y="457200"/>
            <a:ext cx="38100" cy="38100"/>
          </a:xfrm>
          <a:prstGeom prst="rect">
            <a:avLst/>
          </a:prstGeom>
          <a:solidFill>
            <a:srgbClr val="CED7E6">
              <a:alpha val="13741"/>
            </a:srgbClr>
          </a:solidFill>
          <a:ln>
            <a:noFill/>
          </a:ln>
        </p:spPr>
      </p:sp>
      <p:sp>
        <p:nvSpPr>
          <p:cNvPr id="90" name="wm.whiteboard.180.36"/>
          <p:cNvSpPr/>
          <p:nvPr/>
        </p:nvSpPr>
        <p:spPr>
          <a:xfrm>
            <a:off x="9867900" y="685800"/>
            <a:ext cx="38100" cy="38100"/>
          </a:xfrm>
          <a:prstGeom prst="rect">
            <a:avLst/>
          </a:prstGeom>
          <a:solidFill>
            <a:srgbClr val="CED7E6">
              <a:alpha val="10593"/>
            </a:srgbClr>
          </a:solidFill>
          <a:ln>
            <a:noFill/>
          </a:ln>
        </p:spPr>
      </p:sp>
      <p:sp>
        <p:nvSpPr>
          <p:cNvPr id="91" name="wm.whiteboard.180.54"/>
          <p:cNvSpPr/>
          <p:nvPr/>
        </p:nvSpPr>
        <p:spPr>
          <a:xfrm>
            <a:off x="9867900" y="914400"/>
            <a:ext cx="38100" cy="38100"/>
          </a:xfrm>
          <a:prstGeom prst="rect">
            <a:avLst/>
          </a:prstGeom>
          <a:solidFill>
            <a:srgbClr val="CED7E6">
              <a:alpha val="5600"/>
            </a:srgbClr>
          </a:solidFill>
          <a:ln>
            <a:noFill/>
          </a:ln>
        </p:spPr>
      </p:sp>
      <p:sp>
        <p:nvSpPr>
          <p:cNvPr id="92" name="wm.whiteboard.198.0"/>
          <p:cNvSpPr/>
          <p:nvPr/>
        </p:nvSpPr>
        <p:spPr>
          <a:xfrm>
            <a:off x="10096500" y="228600"/>
            <a:ext cx="38100" cy="38100"/>
          </a:xfrm>
          <a:prstGeom prst="rect">
            <a:avLst/>
          </a:prstGeom>
          <a:solidFill>
            <a:srgbClr val="CED7E6">
              <a:alpha val="1142"/>
            </a:srgbClr>
          </a:solidFill>
          <a:ln>
            <a:noFill/>
          </a:ln>
        </p:spPr>
      </p:sp>
      <p:sp>
        <p:nvSpPr>
          <p:cNvPr id="93" name="wm.whiteboard.198.18"/>
          <p:cNvSpPr/>
          <p:nvPr/>
        </p:nvSpPr>
        <p:spPr>
          <a:xfrm>
            <a:off x="10096500" y="457200"/>
            <a:ext cx="38100" cy="38100"/>
          </a:xfrm>
          <a:prstGeom prst="rect">
            <a:avLst/>
          </a:prstGeom>
          <a:solidFill>
            <a:srgbClr val="CED7E6">
              <a:alpha val="69"/>
            </a:srgbClr>
          </a:solidFill>
          <a:ln>
            <a:noFill/>
          </a:ln>
        </p:spPr>
      </p:sp>
      <p:sp>
        <p:nvSpPr>
          <p:cNvPr id="94" name="wm.header.rule"/>
          <p:cNvSpPr/>
          <p:nvPr/>
        </p:nvSpPr>
        <p:spPr>
          <a:xfrm>
            <a:off x="8039100" y="2057400"/>
            <a:ext cx="3429000" cy="9525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pic>
        <p:nvPicPr>
          <p:cNvPr id="95" name="wm.logo" descr="West Monro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900" y="6210300"/>
            <a:ext cx="729403" cy="152400"/>
          </a:xfrm>
          <a:prstGeom prst="rect">
            <a:avLst/>
          </a:prstGeom>
        </p:spPr>
      </p:pic>
      <p:sp>
        <p:nvSpPr>
          <p:cNvPr id="96" name="wm.legal"/>
          <p:cNvSpPr/>
          <p:nvPr/>
        </p:nvSpPr>
        <p:spPr>
          <a:xfrm>
            <a:off x="2171700" y="6172200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00" spc="0" kern="0" b="0" i="0" dirty="0">
                <a:solidFill>
                  <a:srgbClr val="50658E"/>
                </a:solidFill>
                <a:latin typeface="IBM Plex Mono"/>
                <a:ea typeface="IBM Plex Mono"/>
                <a:cs typeface="IBM Plex Mono"/>
              </a:rPr>
              <a:t>© 2026 West Monroe Partners | Reproduction and/or distribution without West Monroe Partners’ prior consent is prohibited.</a:t>
            </a:r>
            <a:endParaRPr lang="en-US" sz="700" spc="0" kern="0" b="0" i="0" dirty="0">
              <a:solidFill>
                <a:srgbClr val="50658E"/>
              </a:solidFill>
              <a:latin typeface="IBM Plex Mono"/>
              <a:ea typeface="IBM Plex Mono"/>
              <a:cs typeface="IBM Plex Mon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mds.frame.b38837d6f3b2841c97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m.footer.rule"/>
          <p:cNvSpPr/>
          <p:nvPr/>
        </p:nvSpPr>
        <p:spPr>
          <a:xfrm>
            <a:off x="723900" y="6057900"/>
            <a:ext cx="10744200" cy="9525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" name="wm.whiteboard.0.0"/>
          <p:cNvSpPr/>
          <p:nvPr/>
        </p:nvSpPr>
        <p:spPr>
          <a:xfrm>
            <a:off x="39243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4" name="wm.whiteboard.0.18"/>
          <p:cNvSpPr/>
          <p:nvPr/>
        </p:nvSpPr>
        <p:spPr>
          <a:xfrm>
            <a:off x="39243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5" name="wm.whiteboard.0.36"/>
          <p:cNvSpPr/>
          <p:nvPr/>
        </p:nvSpPr>
        <p:spPr>
          <a:xfrm>
            <a:off x="39243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6" name="wm.whiteboard.0.54"/>
          <p:cNvSpPr/>
          <p:nvPr/>
        </p:nvSpPr>
        <p:spPr>
          <a:xfrm>
            <a:off x="3924300" y="9144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7" name="wm.whiteboard.0.72"/>
          <p:cNvSpPr/>
          <p:nvPr/>
        </p:nvSpPr>
        <p:spPr>
          <a:xfrm>
            <a:off x="3924300" y="1143000"/>
            <a:ext cx="38100" cy="38100"/>
          </a:xfrm>
          <a:prstGeom prst="rect">
            <a:avLst/>
          </a:prstGeom>
          <a:solidFill>
            <a:srgbClr val="CED7E6">
              <a:alpha val="85305"/>
            </a:srgbClr>
          </a:solidFill>
          <a:ln>
            <a:noFill/>
          </a:ln>
        </p:spPr>
      </p:sp>
      <p:sp>
        <p:nvSpPr>
          <p:cNvPr id="8" name="wm.whiteboard.0.90"/>
          <p:cNvSpPr/>
          <p:nvPr/>
        </p:nvSpPr>
        <p:spPr>
          <a:xfrm>
            <a:off x="3924300" y="1371600"/>
            <a:ext cx="38100" cy="38100"/>
          </a:xfrm>
          <a:prstGeom prst="rect">
            <a:avLst/>
          </a:prstGeom>
          <a:solidFill>
            <a:srgbClr val="CED7E6">
              <a:alpha val="68524"/>
            </a:srgbClr>
          </a:solidFill>
          <a:ln>
            <a:noFill/>
          </a:ln>
        </p:spPr>
      </p:sp>
      <p:sp>
        <p:nvSpPr>
          <p:cNvPr id="9" name="wm.whiteboard.0.108"/>
          <p:cNvSpPr/>
          <p:nvPr/>
        </p:nvSpPr>
        <p:spPr>
          <a:xfrm>
            <a:off x="3924300" y="1600200"/>
            <a:ext cx="38100" cy="38100"/>
          </a:xfrm>
          <a:prstGeom prst="rect">
            <a:avLst/>
          </a:prstGeom>
          <a:solidFill>
            <a:srgbClr val="CED7E6">
              <a:alpha val="51742"/>
            </a:srgbClr>
          </a:solidFill>
          <a:ln>
            <a:noFill/>
          </a:ln>
        </p:spPr>
      </p:sp>
      <p:sp>
        <p:nvSpPr>
          <p:cNvPr id="10" name="wm.whiteboard.0.126"/>
          <p:cNvSpPr/>
          <p:nvPr/>
        </p:nvSpPr>
        <p:spPr>
          <a:xfrm>
            <a:off x="3924300" y="1828800"/>
            <a:ext cx="38100" cy="38100"/>
          </a:xfrm>
          <a:prstGeom prst="rect">
            <a:avLst/>
          </a:prstGeom>
          <a:solidFill>
            <a:srgbClr val="CED7E6">
              <a:alpha val="34959"/>
            </a:srgbClr>
          </a:solidFill>
          <a:ln>
            <a:noFill/>
          </a:ln>
        </p:spPr>
      </p:sp>
      <p:sp>
        <p:nvSpPr>
          <p:cNvPr id="11" name="wm.whiteboard.0.144"/>
          <p:cNvSpPr/>
          <p:nvPr/>
        </p:nvSpPr>
        <p:spPr>
          <a:xfrm>
            <a:off x="3924300" y="2057400"/>
            <a:ext cx="38100" cy="38100"/>
          </a:xfrm>
          <a:prstGeom prst="rect">
            <a:avLst/>
          </a:prstGeom>
          <a:solidFill>
            <a:srgbClr val="CED7E6">
              <a:alpha val="18177"/>
            </a:srgbClr>
          </a:solidFill>
          <a:ln>
            <a:noFill/>
          </a:ln>
        </p:spPr>
      </p:sp>
      <p:sp>
        <p:nvSpPr>
          <p:cNvPr id="12" name="wm.whiteboard.0.162"/>
          <p:cNvSpPr/>
          <p:nvPr/>
        </p:nvSpPr>
        <p:spPr>
          <a:xfrm>
            <a:off x="3924300" y="2286000"/>
            <a:ext cx="38100" cy="38100"/>
          </a:xfrm>
          <a:prstGeom prst="rect">
            <a:avLst/>
          </a:prstGeom>
          <a:solidFill>
            <a:srgbClr val="CED7E6">
              <a:alpha val="1394"/>
            </a:srgbClr>
          </a:solidFill>
          <a:ln>
            <a:noFill/>
          </a:ln>
        </p:spPr>
      </p:sp>
      <p:sp>
        <p:nvSpPr>
          <p:cNvPr id="13" name="wm.whiteboard.18.0"/>
          <p:cNvSpPr/>
          <p:nvPr/>
        </p:nvSpPr>
        <p:spPr>
          <a:xfrm>
            <a:off x="41529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4" name="wm.whiteboard.18.18"/>
          <p:cNvSpPr/>
          <p:nvPr/>
        </p:nvSpPr>
        <p:spPr>
          <a:xfrm>
            <a:off x="41529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5" name="wm.whiteboard.18.36"/>
          <p:cNvSpPr/>
          <p:nvPr/>
        </p:nvSpPr>
        <p:spPr>
          <a:xfrm>
            <a:off x="41529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16" name="wm.whiteboard.18.54"/>
          <p:cNvSpPr/>
          <p:nvPr/>
        </p:nvSpPr>
        <p:spPr>
          <a:xfrm>
            <a:off x="4152900" y="914400"/>
            <a:ext cx="38100" cy="38100"/>
          </a:xfrm>
          <a:prstGeom prst="rect">
            <a:avLst/>
          </a:prstGeom>
          <a:solidFill>
            <a:srgbClr val="CED7E6">
              <a:alpha val="99988"/>
            </a:srgbClr>
          </a:solidFill>
          <a:ln>
            <a:noFill/>
          </a:ln>
        </p:spPr>
      </p:sp>
      <p:sp>
        <p:nvSpPr>
          <p:cNvPr id="17" name="wm.whiteboard.18.72"/>
          <p:cNvSpPr/>
          <p:nvPr/>
        </p:nvSpPr>
        <p:spPr>
          <a:xfrm>
            <a:off x="4152900" y="1143000"/>
            <a:ext cx="38100" cy="38100"/>
          </a:xfrm>
          <a:prstGeom prst="rect">
            <a:avLst/>
          </a:prstGeom>
          <a:solidFill>
            <a:srgbClr val="CED7E6">
              <a:alpha val="83708"/>
            </a:srgbClr>
          </a:solidFill>
          <a:ln>
            <a:noFill/>
          </a:ln>
        </p:spPr>
      </p:sp>
      <p:sp>
        <p:nvSpPr>
          <p:cNvPr id="18" name="wm.whiteboard.18.90"/>
          <p:cNvSpPr/>
          <p:nvPr/>
        </p:nvSpPr>
        <p:spPr>
          <a:xfrm>
            <a:off x="4152900" y="1371600"/>
            <a:ext cx="38100" cy="38100"/>
          </a:xfrm>
          <a:prstGeom prst="rect">
            <a:avLst/>
          </a:prstGeom>
          <a:solidFill>
            <a:srgbClr val="CED7E6">
              <a:alpha val="67236"/>
            </a:srgbClr>
          </a:solidFill>
          <a:ln>
            <a:noFill/>
          </a:ln>
        </p:spPr>
      </p:sp>
      <p:sp>
        <p:nvSpPr>
          <p:cNvPr id="19" name="wm.whiteboard.18.108"/>
          <p:cNvSpPr/>
          <p:nvPr/>
        </p:nvSpPr>
        <p:spPr>
          <a:xfrm>
            <a:off x="4152900" y="1600200"/>
            <a:ext cx="38100" cy="38100"/>
          </a:xfrm>
          <a:prstGeom prst="rect">
            <a:avLst/>
          </a:prstGeom>
          <a:solidFill>
            <a:srgbClr val="CED7E6">
              <a:alpha val="50663"/>
            </a:srgbClr>
          </a:solidFill>
          <a:ln>
            <a:noFill/>
          </a:ln>
        </p:spPr>
      </p:sp>
      <p:sp>
        <p:nvSpPr>
          <p:cNvPr id="20" name="wm.whiteboard.18.126"/>
          <p:cNvSpPr/>
          <p:nvPr/>
        </p:nvSpPr>
        <p:spPr>
          <a:xfrm>
            <a:off x="4152900" y="1828800"/>
            <a:ext cx="38100" cy="38100"/>
          </a:xfrm>
          <a:prstGeom prst="rect">
            <a:avLst/>
          </a:prstGeom>
          <a:solidFill>
            <a:srgbClr val="CED7E6">
              <a:alpha val="34032"/>
            </a:srgbClr>
          </a:solidFill>
          <a:ln>
            <a:noFill/>
          </a:ln>
        </p:spPr>
      </p:sp>
      <p:sp>
        <p:nvSpPr>
          <p:cNvPr id="21" name="wm.whiteboard.18.144"/>
          <p:cNvSpPr/>
          <p:nvPr/>
        </p:nvSpPr>
        <p:spPr>
          <a:xfrm>
            <a:off x="4152900" y="2057400"/>
            <a:ext cx="38100" cy="38100"/>
          </a:xfrm>
          <a:prstGeom prst="rect">
            <a:avLst/>
          </a:prstGeom>
          <a:solidFill>
            <a:srgbClr val="CED7E6">
              <a:alpha val="17363"/>
            </a:srgbClr>
          </a:solidFill>
          <a:ln>
            <a:noFill/>
          </a:ln>
        </p:spPr>
      </p:sp>
      <p:sp>
        <p:nvSpPr>
          <p:cNvPr id="22" name="wm.whiteboard.18.162"/>
          <p:cNvSpPr/>
          <p:nvPr/>
        </p:nvSpPr>
        <p:spPr>
          <a:xfrm>
            <a:off x="4152900" y="2286000"/>
            <a:ext cx="38100" cy="38100"/>
          </a:xfrm>
          <a:prstGeom prst="rect">
            <a:avLst/>
          </a:prstGeom>
          <a:solidFill>
            <a:srgbClr val="CED7E6">
              <a:alpha val="670"/>
            </a:srgbClr>
          </a:solidFill>
          <a:ln>
            <a:noFill/>
          </a:ln>
        </p:spPr>
      </p:sp>
      <p:sp>
        <p:nvSpPr>
          <p:cNvPr id="23" name="wm.whiteboard.36.0"/>
          <p:cNvSpPr/>
          <p:nvPr/>
        </p:nvSpPr>
        <p:spPr>
          <a:xfrm>
            <a:off x="43815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4" name="wm.whiteboard.36.18"/>
          <p:cNvSpPr/>
          <p:nvPr/>
        </p:nvSpPr>
        <p:spPr>
          <a:xfrm>
            <a:off x="43815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5" name="wm.whiteboard.36.36"/>
          <p:cNvSpPr/>
          <p:nvPr/>
        </p:nvSpPr>
        <p:spPr>
          <a:xfrm>
            <a:off x="4381500" y="6858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26" name="wm.whiteboard.36.54"/>
          <p:cNvSpPr/>
          <p:nvPr/>
        </p:nvSpPr>
        <p:spPr>
          <a:xfrm>
            <a:off x="4381500" y="914400"/>
            <a:ext cx="38100" cy="38100"/>
          </a:xfrm>
          <a:prstGeom prst="rect">
            <a:avLst/>
          </a:prstGeom>
          <a:solidFill>
            <a:srgbClr val="CED7E6">
              <a:alpha val="94671"/>
            </a:srgbClr>
          </a:solidFill>
          <a:ln>
            <a:noFill/>
          </a:ln>
        </p:spPr>
      </p:sp>
      <p:sp>
        <p:nvSpPr>
          <p:cNvPr id="27" name="wm.whiteboard.36.72"/>
          <p:cNvSpPr/>
          <p:nvPr/>
        </p:nvSpPr>
        <p:spPr>
          <a:xfrm>
            <a:off x="4381500" y="1143000"/>
            <a:ext cx="38100" cy="38100"/>
          </a:xfrm>
          <a:prstGeom prst="rect">
            <a:avLst/>
          </a:prstGeom>
          <a:solidFill>
            <a:srgbClr val="CED7E6">
              <a:alpha val="79547"/>
            </a:srgbClr>
          </a:solidFill>
          <a:ln>
            <a:noFill/>
          </a:ln>
        </p:spPr>
      </p:sp>
      <p:sp>
        <p:nvSpPr>
          <p:cNvPr id="28" name="wm.whiteboard.36.90"/>
          <p:cNvSpPr/>
          <p:nvPr/>
        </p:nvSpPr>
        <p:spPr>
          <a:xfrm>
            <a:off x="4381500" y="1371600"/>
            <a:ext cx="38100" cy="38100"/>
          </a:xfrm>
          <a:prstGeom prst="rect">
            <a:avLst/>
          </a:prstGeom>
          <a:solidFill>
            <a:srgbClr val="CED7E6">
              <a:alpha val="63833"/>
            </a:srgbClr>
          </a:solidFill>
          <a:ln>
            <a:noFill/>
          </a:ln>
        </p:spPr>
      </p:sp>
      <p:sp>
        <p:nvSpPr>
          <p:cNvPr id="29" name="wm.whiteboard.36.108"/>
          <p:cNvSpPr/>
          <p:nvPr/>
        </p:nvSpPr>
        <p:spPr>
          <a:xfrm>
            <a:off x="4381500" y="1600200"/>
            <a:ext cx="38100" cy="38100"/>
          </a:xfrm>
          <a:prstGeom prst="rect">
            <a:avLst/>
          </a:prstGeom>
          <a:solidFill>
            <a:srgbClr val="CED7E6">
              <a:alpha val="47790"/>
            </a:srgbClr>
          </a:solidFill>
          <a:ln>
            <a:noFill/>
          </a:ln>
        </p:spPr>
      </p:sp>
      <p:sp>
        <p:nvSpPr>
          <p:cNvPr id="30" name="wm.whiteboard.36.126"/>
          <p:cNvSpPr/>
          <p:nvPr/>
        </p:nvSpPr>
        <p:spPr>
          <a:xfrm>
            <a:off x="4381500" y="1828800"/>
            <a:ext cx="38100" cy="38100"/>
          </a:xfrm>
          <a:prstGeom prst="rect">
            <a:avLst/>
          </a:prstGeom>
          <a:solidFill>
            <a:srgbClr val="CED7E6">
              <a:alpha val="31549"/>
            </a:srgbClr>
          </a:solidFill>
          <a:ln>
            <a:noFill/>
          </a:ln>
        </p:spPr>
      </p:sp>
      <p:sp>
        <p:nvSpPr>
          <p:cNvPr id="31" name="wm.whiteboard.36.144"/>
          <p:cNvSpPr/>
          <p:nvPr/>
        </p:nvSpPr>
        <p:spPr>
          <a:xfrm>
            <a:off x="4381500" y="2057400"/>
            <a:ext cx="38100" cy="38100"/>
          </a:xfrm>
          <a:prstGeom prst="rect">
            <a:avLst/>
          </a:prstGeom>
          <a:solidFill>
            <a:srgbClr val="CED7E6">
              <a:alpha val="15179"/>
            </a:srgbClr>
          </a:solidFill>
          <a:ln>
            <a:noFill/>
          </a:ln>
        </p:spPr>
      </p:sp>
      <p:sp>
        <p:nvSpPr>
          <p:cNvPr id="32" name="wm.whiteboard.54.0"/>
          <p:cNvSpPr/>
          <p:nvPr/>
        </p:nvSpPr>
        <p:spPr>
          <a:xfrm>
            <a:off x="4610100" y="2286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3" name="wm.whiteboard.54.18"/>
          <p:cNvSpPr/>
          <p:nvPr/>
        </p:nvSpPr>
        <p:spPr>
          <a:xfrm>
            <a:off x="4610100" y="457200"/>
            <a:ext cx="38100" cy="38100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sp>
        <p:nvSpPr>
          <p:cNvPr id="34" name="wm.whiteboard.54.36"/>
          <p:cNvSpPr/>
          <p:nvPr/>
        </p:nvSpPr>
        <p:spPr>
          <a:xfrm>
            <a:off x="4610100" y="685800"/>
            <a:ext cx="38100" cy="38100"/>
          </a:xfrm>
          <a:prstGeom prst="rect">
            <a:avLst/>
          </a:prstGeom>
          <a:solidFill>
            <a:srgbClr val="CED7E6">
              <a:alpha val="98827"/>
            </a:srgbClr>
          </a:solidFill>
          <a:ln>
            <a:noFill/>
          </a:ln>
        </p:spPr>
      </p:sp>
      <p:sp>
        <p:nvSpPr>
          <p:cNvPr id="35" name="wm.whiteboard.54.54"/>
          <p:cNvSpPr/>
          <p:nvPr/>
        </p:nvSpPr>
        <p:spPr>
          <a:xfrm>
            <a:off x="4610100" y="914400"/>
            <a:ext cx="38100" cy="38100"/>
          </a:xfrm>
          <a:prstGeom prst="rect">
            <a:avLst/>
          </a:prstGeom>
          <a:solidFill>
            <a:srgbClr val="CED7E6">
              <a:alpha val="86895"/>
            </a:srgbClr>
          </a:solidFill>
          <a:ln>
            <a:noFill/>
          </a:ln>
        </p:spPr>
      </p:sp>
      <p:sp>
        <p:nvSpPr>
          <p:cNvPr id="36" name="wm.whiteboard.54.72"/>
          <p:cNvSpPr/>
          <p:nvPr/>
        </p:nvSpPr>
        <p:spPr>
          <a:xfrm>
            <a:off x="4610100" y="1143000"/>
            <a:ext cx="38100" cy="38100"/>
          </a:xfrm>
          <a:prstGeom prst="rect">
            <a:avLst/>
          </a:prstGeom>
          <a:solidFill>
            <a:srgbClr val="CED7E6">
              <a:alpha val="73217"/>
            </a:srgbClr>
          </a:solidFill>
          <a:ln>
            <a:noFill/>
          </a:ln>
        </p:spPr>
      </p:sp>
      <p:sp>
        <p:nvSpPr>
          <p:cNvPr id="37" name="wm.whiteboard.54.90"/>
          <p:cNvSpPr/>
          <p:nvPr/>
        </p:nvSpPr>
        <p:spPr>
          <a:xfrm>
            <a:off x="4610100" y="1371600"/>
            <a:ext cx="38100" cy="38100"/>
          </a:xfrm>
          <a:prstGeom prst="rect">
            <a:avLst/>
          </a:prstGeom>
          <a:solidFill>
            <a:srgbClr val="CED7E6">
              <a:alpha val="58541"/>
            </a:srgbClr>
          </a:solidFill>
          <a:ln>
            <a:noFill/>
          </a:ln>
        </p:spPr>
      </p:sp>
      <p:sp>
        <p:nvSpPr>
          <p:cNvPr id="38" name="wm.whiteboard.54.108"/>
          <p:cNvSpPr/>
          <p:nvPr/>
        </p:nvSpPr>
        <p:spPr>
          <a:xfrm>
            <a:off x="4610100" y="1600200"/>
            <a:ext cx="38100" cy="38100"/>
          </a:xfrm>
          <a:prstGeom prst="rect">
            <a:avLst/>
          </a:prstGeom>
          <a:solidFill>
            <a:srgbClr val="CED7E6">
              <a:alpha val="43263"/>
            </a:srgbClr>
          </a:solidFill>
          <a:ln>
            <a:noFill/>
          </a:ln>
        </p:spPr>
      </p:sp>
      <p:sp>
        <p:nvSpPr>
          <p:cNvPr id="39" name="wm.whiteboard.54.126"/>
          <p:cNvSpPr/>
          <p:nvPr/>
        </p:nvSpPr>
        <p:spPr>
          <a:xfrm>
            <a:off x="4610100" y="1828800"/>
            <a:ext cx="38100" cy="38100"/>
          </a:xfrm>
          <a:prstGeom prst="rect">
            <a:avLst/>
          </a:prstGeom>
          <a:solidFill>
            <a:srgbClr val="CED7E6">
              <a:alpha val="27603"/>
            </a:srgbClr>
          </a:solidFill>
          <a:ln>
            <a:noFill/>
          </a:ln>
        </p:spPr>
      </p:sp>
      <p:sp>
        <p:nvSpPr>
          <p:cNvPr id="40" name="wm.whiteboard.54.144"/>
          <p:cNvSpPr/>
          <p:nvPr/>
        </p:nvSpPr>
        <p:spPr>
          <a:xfrm>
            <a:off x="4610100" y="2057400"/>
            <a:ext cx="38100" cy="38100"/>
          </a:xfrm>
          <a:prstGeom prst="rect">
            <a:avLst/>
          </a:prstGeom>
          <a:solidFill>
            <a:srgbClr val="CED7E6">
              <a:alpha val="11687"/>
            </a:srgbClr>
          </a:solidFill>
          <a:ln>
            <a:noFill/>
          </a:ln>
        </p:spPr>
      </p:sp>
      <p:sp>
        <p:nvSpPr>
          <p:cNvPr id="41" name="wm.whiteboard.72.0"/>
          <p:cNvSpPr/>
          <p:nvPr/>
        </p:nvSpPr>
        <p:spPr>
          <a:xfrm>
            <a:off x="4838700" y="228600"/>
            <a:ext cx="38100" cy="38100"/>
          </a:xfrm>
          <a:prstGeom prst="rect">
            <a:avLst/>
          </a:prstGeom>
          <a:solidFill>
            <a:srgbClr val="CED7E6">
              <a:alpha val="97572"/>
            </a:srgbClr>
          </a:solidFill>
          <a:ln>
            <a:noFill/>
          </a:ln>
        </p:spPr>
      </p:sp>
      <p:sp>
        <p:nvSpPr>
          <p:cNvPr id="42" name="wm.whiteboard.72.18"/>
          <p:cNvSpPr/>
          <p:nvPr/>
        </p:nvSpPr>
        <p:spPr>
          <a:xfrm>
            <a:off x="4838700" y="457200"/>
            <a:ext cx="38100" cy="38100"/>
          </a:xfrm>
          <a:prstGeom prst="rect">
            <a:avLst/>
          </a:prstGeom>
          <a:solidFill>
            <a:srgbClr val="CED7E6">
              <a:alpha val="94724"/>
            </a:srgbClr>
          </a:solidFill>
          <a:ln>
            <a:noFill/>
          </a:ln>
        </p:spPr>
      </p:sp>
      <p:sp>
        <p:nvSpPr>
          <p:cNvPr id="43" name="wm.whiteboard.72.36"/>
          <p:cNvSpPr/>
          <p:nvPr/>
        </p:nvSpPr>
        <p:spPr>
          <a:xfrm>
            <a:off x="4838700" y="685800"/>
            <a:ext cx="38100" cy="38100"/>
          </a:xfrm>
          <a:prstGeom prst="rect">
            <a:avLst/>
          </a:prstGeom>
          <a:solidFill>
            <a:srgbClr val="CED7E6">
              <a:alpha val="87609"/>
            </a:srgbClr>
          </a:solidFill>
          <a:ln>
            <a:noFill/>
          </a:ln>
        </p:spPr>
      </p:sp>
      <p:sp>
        <p:nvSpPr>
          <p:cNvPr id="44" name="wm.whiteboard.72.54"/>
          <p:cNvSpPr/>
          <p:nvPr/>
        </p:nvSpPr>
        <p:spPr>
          <a:xfrm>
            <a:off x="4838700" y="914400"/>
            <a:ext cx="38100" cy="38100"/>
          </a:xfrm>
          <a:prstGeom prst="rect">
            <a:avLst/>
          </a:prstGeom>
          <a:solidFill>
            <a:srgbClr val="CED7E6">
              <a:alpha val="77408"/>
            </a:srgbClr>
          </a:solidFill>
          <a:ln>
            <a:noFill/>
          </a:ln>
        </p:spPr>
      </p:sp>
      <p:sp>
        <p:nvSpPr>
          <p:cNvPr id="45" name="wm.whiteboard.72.72"/>
          <p:cNvSpPr/>
          <p:nvPr/>
        </p:nvSpPr>
        <p:spPr>
          <a:xfrm>
            <a:off x="4838700" y="1143000"/>
            <a:ext cx="38100" cy="38100"/>
          </a:xfrm>
          <a:prstGeom prst="rect">
            <a:avLst/>
          </a:prstGeom>
          <a:solidFill>
            <a:srgbClr val="CED7E6">
              <a:alpha val="65181"/>
            </a:srgbClr>
          </a:solidFill>
          <a:ln>
            <a:noFill/>
          </a:ln>
        </p:spPr>
      </p:sp>
      <p:sp>
        <p:nvSpPr>
          <p:cNvPr id="46" name="wm.whiteboard.72.90"/>
          <p:cNvSpPr/>
          <p:nvPr/>
        </p:nvSpPr>
        <p:spPr>
          <a:xfrm>
            <a:off x="4838700" y="1371600"/>
            <a:ext cx="38100" cy="38100"/>
          </a:xfrm>
          <a:prstGeom prst="rect">
            <a:avLst/>
          </a:prstGeom>
          <a:solidFill>
            <a:srgbClr val="CED7E6">
              <a:alpha val="51653"/>
            </a:srgbClr>
          </a:solidFill>
          <a:ln>
            <a:noFill/>
          </a:ln>
        </p:spPr>
      </p:sp>
      <p:sp>
        <p:nvSpPr>
          <p:cNvPr id="47" name="wm.whiteboard.72.108"/>
          <p:cNvSpPr/>
          <p:nvPr/>
        </p:nvSpPr>
        <p:spPr>
          <a:xfrm>
            <a:off x="4838700" y="1600200"/>
            <a:ext cx="38100" cy="38100"/>
          </a:xfrm>
          <a:prstGeom prst="rect">
            <a:avLst/>
          </a:prstGeom>
          <a:solidFill>
            <a:srgbClr val="CED7E6">
              <a:alpha val="37275"/>
            </a:srgbClr>
          </a:solidFill>
          <a:ln>
            <a:noFill/>
          </a:ln>
        </p:spPr>
      </p:sp>
      <p:sp>
        <p:nvSpPr>
          <p:cNvPr id="48" name="wm.whiteboard.72.126"/>
          <p:cNvSpPr/>
          <p:nvPr/>
        </p:nvSpPr>
        <p:spPr>
          <a:xfrm>
            <a:off x="4838700" y="1828800"/>
            <a:ext cx="38100" cy="38100"/>
          </a:xfrm>
          <a:prstGeom prst="rect">
            <a:avLst/>
          </a:prstGeom>
          <a:solidFill>
            <a:srgbClr val="CED7E6">
              <a:alpha val="22326"/>
            </a:srgbClr>
          </a:solidFill>
          <a:ln>
            <a:noFill/>
          </a:ln>
        </p:spPr>
      </p:sp>
      <p:sp>
        <p:nvSpPr>
          <p:cNvPr id="49" name="wm.whiteboard.72.144"/>
          <p:cNvSpPr/>
          <p:nvPr/>
        </p:nvSpPr>
        <p:spPr>
          <a:xfrm>
            <a:off x="4838700" y="2057400"/>
            <a:ext cx="38100" cy="38100"/>
          </a:xfrm>
          <a:prstGeom prst="rect">
            <a:avLst/>
          </a:prstGeom>
          <a:solidFill>
            <a:srgbClr val="CED7E6">
              <a:alpha val="6980"/>
            </a:srgbClr>
          </a:solidFill>
          <a:ln>
            <a:noFill/>
          </a:ln>
        </p:spPr>
      </p:sp>
      <p:sp>
        <p:nvSpPr>
          <p:cNvPr id="50" name="wm.whiteboard.90.0"/>
          <p:cNvSpPr/>
          <p:nvPr/>
        </p:nvSpPr>
        <p:spPr>
          <a:xfrm>
            <a:off x="5067300" y="228600"/>
            <a:ext cx="38100" cy="38100"/>
          </a:xfrm>
          <a:prstGeom prst="rect">
            <a:avLst/>
          </a:prstGeom>
          <a:solidFill>
            <a:srgbClr val="CED7E6">
              <a:alpha val="83798"/>
            </a:srgbClr>
          </a:solidFill>
          <a:ln>
            <a:noFill/>
          </a:ln>
        </p:spPr>
      </p:sp>
      <p:sp>
        <p:nvSpPr>
          <p:cNvPr id="51" name="wm.whiteboard.90.18"/>
          <p:cNvSpPr/>
          <p:nvPr/>
        </p:nvSpPr>
        <p:spPr>
          <a:xfrm>
            <a:off x="5067300" y="457200"/>
            <a:ext cx="38100" cy="38100"/>
          </a:xfrm>
          <a:prstGeom prst="rect">
            <a:avLst/>
          </a:prstGeom>
          <a:solidFill>
            <a:srgbClr val="CED7E6">
              <a:alpha val="81490"/>
            </a:srgbClr>
          </a:solidFill>
          <a:ln>
            <a:noFill/>
          </a:ln>
        </p:spPr>
      </p:sp>
      <p:sp>
        <p:nvSpPr>
          <p:cNvPr id="52" name="wm.whiteboard.90.36"/>
          <p:cNvSpPr/>
          <p:nvPr/>
        </p:nvSpPr>
        <p:spPr>
          <a:xfrm>
            <a:off x="5067300" y="685800"/>
            <a:ext cx="38100" cy="38100"/>
          </a:xfrm>
          <a:prstGeom prst="rect">
            <a:avLst/>
          </a:prstGeom>
          <a:solidFill>
            <a:srgbClr val="CED7E6">
              <a:alpha val="75569"/>
            </a:srgbClr>
          </a:solidFill>
          <a:ln>
            <a:noFill/>
          </a:ln>
        </p:spPr>
      </p:sp>
      <p:sp>
        <p:nvSpPr>
          <p:cNvPr id="53" name="wm.whiteboard.90.54"/>
          <p:cNvSpPr/>
          <p:nvPr/>
        </p:nvSpPr>
        <p:spPr>
          <a:xfrm>
            <a:off x="5067300" y="914400"/>
            <a:ext cx="38100" cy="38100"/>
          </a:xfrm>
          <a:prstGeom prst="rect">
            <a:avLst/>
          </a:prstGeom>
          <a:solidFill>
            <a:srgbClr val="CED7E6">
              <a:alpha val="66767"/>
            </a:srgbClr>
          </a:solidFill>
          <a:ln>
            <a:noFill/>
          </a:ln>
        </p:spPr>
      </p:sp>
      <p:sp>
        <p:nvSpPr>
          <p:cNvPr id="54" name="wm.whiteboard.90.72"/>
          <p:cNvSpPr/>
          <p:nvPr/>
        </p:nvSpPr>
        <p:spPr>
          <a:xfrm>
            <a:off x="5067300" y="1143000"/>
            <a:ext cx="38100" cy="38100"/>
          </a:xfrm>
          <a:prstGeom prst="rect">
            <a:avLst/>
          </a:prstGeom>
          <a:solidFill>
            <a:srgbClr val="CED7E6">
              <a:alpha val="55859"/>
            </a:srgbClr>
          </a:solidFill>
          <a:ln>
            <a:noFill/>
          </a:ln>
        </p:spPr>
      </p:sp>
      <p:sp>
        <p:nvSpPr>
          <p:cNvPr id="55" name="wm.whiteboard.90.90"/>
          <p:cNvSpPr/>
          <p:nvPr/>
        </p:nvSpPr>
        <p:spPr>
          <a:xfrm>
            <a:off x="5067300" y="1371600"/>
            <a:ext cx="38100" cy="38100"/>
          </a:xfrm>
          <a:prstGeom prst="rect">
            <a:avLst/>
          </a:prstGeom>
          <a:solidFill>
            <a:srgbClr val="CED7E6">
              <a:alpha val="43468"/>
            </a:srgbClr>
          </a:solidFill>
          <a:ln>
            <a:noFill/>
          </a:ln>
        </p:spPr>
      </p:sp>
      <p:sp>
        <p:nvSpPr>
          <p:cNvPr id="56" name="wm.whiteboard.90.108"/>
          <p:cNvSpPr/>
          <p:nvPr/>
        </p:nvSpPr>
        <p:spPr>
          <a:xfrm>
            <a:off x="5067300" y="1600200"/>
            <a:ext cx="38100" cy="38100"/>
          </a:xfrm>
          <a:prstGeom prst="rect">
            <a:avLst/>
          </a:prstGeom>
          <a:solidFill>
            <a:srgbClr val="CED7E6">
              <a:alpha val="30037"/>
            </a:srgbClr>
          </a:solidFill>
          <a:ln>
            <a:noFill/>
          </a:ln>
        </p:spPr>
      </p:sp>
      <p:sp>
        <p:nvSpPr>
          <p:cNvPr id="57" name="wm.whiteboard.90.126"/>
          <p:cNvSpPr/>
          <p:nvPr/>
        </p:nvSpPr>
        <p:spPr>
          <a:xfrm>
            <a:off x="5067300" y="1828800"/>
            <a:ext cx="38100" cy="38100"/>
          </a:xfrm>
          <a:prstGeom prst="rect">
            <a:avLst/>
          </a:prstGeom>
          <a:solidFill>
            <a:srgbClr val="CED7E6">
              <a:alpha val="15870"/>
            </a:srgbClr>
          </a:solidFill>
          <a:ln>
            <a:noFill/>
          </a:ln>
        </p:spPr>
      </p:sp>
      <p:sp>
        <p:nvSpPr>
          <p:cNvPr id="58" name="wm.whiteboard.90.144"/>
          <p:cNvSpPr/>
          <p:nvPr/>
        </p:nvSpPr>
        <p:spPr>
          <a:xfrm>
            <a:off x="5067300" y="2057400"/>
            <a:ext cx="38100" cy="38100"/>
          </a:xfrm>
          <a:prstGeom prst="rect">
            <a:avLst/>
          </a:prstGeom>
          <a:solidFill>
            <a:srgbClr val="CED7E6">
              <a:alpha val="1171"/>
            </a:srgbClr>
          </a:solidFill>
          <a:ln>
            <a:noFill/>
          </a:ln>
        </p:spPr>
      </p:sp>
      <p:sp>
        <p:nvSpPr>
          <p:cNvPr id="59" name="wm.whiteboard.108.0"/>
          <p:cNvSpPr/>
          <p:nvPr/>
        </p:nvSpPr>
        <p:spPr>
          <a:xfrm>
            <a:off x="5295900" y="228600"/>
            <a:ext cx="38100" cy="38100"/>
          </a:xfrm>
          <a:prstGeom prst="rect">
            <a:avLst/>
          </a:prstGeom>
          <a:solidFill>
            <a:srgbClr val="CED7E6">
              <a:alpha val="70023"/>
            </a:srgbClr>
          </a:solidFill>
          <a:ln>
            <a:noFill/>
          </a:ln>
        </p:spPr>
      </p:sp>
      <p:sp>
        <p:nvSpPr>
          <p:cNvPr id="60" name="wm.whiteboard.108.18"/>
          <p:cNvSpPr/>
          <p:nvPr/>
        </p:nvSpPr>
        <p:spPr>
          <a:xfrm>
            <a:off x="5295900" y="457200"/>
            <a:ext cx="38100" cy="38100"/>
          </a:xfrm>
          <a:prstGeom prst="rect">
            <a:avLst/>
          </a:prstGeom>
          <a:solidFill>
            <a:srgbClr val="CED7E6">
              <a:alpha val="68085"/>
            </a:srgbClr>
          </a:solidFill>
          <a:ln>
            <a:noFill/>
          </a:ln>
        </p:spPr>
      </p:sp>
      <p:sp>
        <p:nvSpPr>
          <p:cNvPr id="61" name="wm.whiteboard.108.36"/>
          <p:cNvSpPr/>
          <p:nvPr/>
        </p:nvSpPr>
        <p:spPr>
          <a:xfrm>
            <a:off x="5295900" y="685800"/>
            <a:ext cx="38100" cy="38100"/>
          </a:xfrm>
          <a:prstGeom prst="rect">
            <a:avLst/>
          </a:prstGeom>
          <a:solidFill>
            <a:srgbClr val="CED7E6">
              <a:alpha val="63033"/>
            </a:srgbClr>
          </a:solidFill>
          <a:ln>
            <a:noFill/>
          </a:ln>
        </p:spPr>
      </p:sp>
      <p:sp>
        <p:nvSpPr>
          <p:cNvPr id="62" name="wm.whiteboard.108.54"/>
          <p:cNvSpPr/>
          <p:nvPr/>
        </p:nvSpPr>
        <p:spPr>
          <a:xfrm>
            <a:off x="5295900" y="914400"/>
            <a:ext cx="38100" cy="38100"/>
          </a:xfrm>
          <a:prstGeom prst="rect">
            <a:avLst/>
          </a:prstGeom>
          <a:solidFill>
            <a:srgbClr val="CED7E6">
              <a:alpha val="55346"/>
            </a:srgbClr>
          </a:solidFill>
          <a:ln>
            <a:noFill/>
          </a:ln>
        </p:spPr>
      </p:sp>
      <p:sp>
        <p:nvSpPr>
          <p:cNvPr id="63" name="wm.whiteboard.108.72"/>
          <p:cNvSpPr/>
          <p:nvPr/>
        </p:nvSpPr>
        <p:spPr>
          <a:xfrm>
            <a:off x="5295900" y="1143000"/>
            <a:ext cx="38100" cy="38100"/>
          </a:xfrm>
          <a:prstGeom prst="rect">
            <a:avLst/>
          </a:prstGeom>
          <a:solidFill>
            <a:srgbClr val="CED7E6">
              <a:alpha val="45583"/>
            </a:srgbClr>
          </a:solidFill>
          <a:ln>
            <a:noFill/>
          </a:ln>
        </p:spPr>
      </p:sp>
      <p:sp>
        <p:nvSpPr>
          <p:cNvPr id="64" name="wm.whiteboard.108.90"/>
          <p:cNvSpPr/>
          <p:nvPr/>
        </p:nvSpPr>
        <p:spPr>
          <a:xfrm>
            <a:off x="5295900" y="1371600"/>
            <a:ext cx="38100" cy="38100"/>
          </a:xfrm>
          <a:prstGeom prst="rect">
            <a:avLst/>
          </a:prstGeom>
          <a:solidFill>
            <a:srgbClr val="CED7E6">
              <a:alpha val="34251"/>
            </a:srgbClr>
          </a:solidFill>
          <a:ln>
            <a:noFill/>
          </a:ln>
        </p:spPr>
      </p:sp>
      <p:sp>
        <p:nvSpPr>
          <p:cNvPr id="65" name="wm.whiteboard.108.108"/>
          <p:cNvSpPr/>
          <p:nvPr/>
        </p:nvSpPr>
        <p:spPr>
          <a:xfrm>
            <a:off x="5295900" y="1600200"/>
            <a:ext cx="38100" cy="38100"/>
          </a:xfrm>
          <a:prstGeom prst="rect">
            <a:avLst/>
          </a:prstGeom>
          <a:solidFill>
            <a:srgbClr val="CED7E6">
              <a:alpha val="21754"/>
            </a:srgbClr>
          </a:solidFill>
          <a:ln>
            <a:noFill/>
          </a:ln>
        </p:spPr>
      </p:sp>
      <p:sp>
        <p:nvSpPr>
          <p:cNvPr id="66" name="wm.whiteboard.108.126"/>
          <p:cNvSpPr/>
          <p:nvPr/>
        </p:nvSpPr>
        <p:spPr>
          <a:xfrm>
            <a:off x="5295900" y="1828800"/>
            <a:ext cx="38100" cy="38100"/>
          </a:xfrm>
          <a:prstGeom prst="rect">
            <a:avLst/>
          </a:prstGeom>
          <a:solidFill>
            <a:srgbClr val="CED7E6">
              <a:alpha val="8391"/>
            </a:srgbClr>
          </a:solidFill>
          <a:ln>
            <a:noFill/>
          </a:ln>
        </p:spPr>
      </p:sp>
      <p:sp>
        <p:nvSpPr>
          <p:cNvPr id="67" name="wm.whiteboard.126.0"/>
          <p:cNvSpPr/>
          <p:nvPr/>
        </p:nvSpPr>
        <p:spPr>
          <a:xfrm>
            <a:off x="5524500" y="228600"/>
            <a:ext cx="38100" cy="38100"/>
          </a:xfrm>
          <a:prstGeom prst="rect">
            <a:avLst/>
          </a:prstGeom>
          <a:solidFill>
            <a:srgbClr val="CED7E6">
              <a:alpha val="56247"/>
            </a:srgbClr>
          </a:solidFill>
          <a:ln>
            <a:noFill/>
          </a:ln>
        </p:spPr>
      </p:sp>
      <p:sp>
        <p:nvSpPr>
          <p:cNvPr id="68" name="wm.whiteboard.126.18"/>
          <p:cNvSpPr/>
          <p:nvPr/>
        </p:nvSpPr>
        <p:spPr>
          <a:xfrm>
            <a:off x="5524500" y="457200"/>
            <a:ext cx="38100" cy="38100"/>
          </a:xfrm>
          <a:prstGeom prst="rect">
            <a:avLst/>
          </a:prstGeom>
          <a:solidFill>
            <a:srgbClr val="CED7E6">
              <a:alpha val="54578"/>
            </a:srgbClr>
          </a:solidFill>
          <a:ln>
            <a:noFill/>
          </a:ln>
        </p:spPr>
      </p:sp>
      <p:sp>
        <p:nvSpPr>
          <p:cNvPr id="69" name="wm.whiteboard.126.36"/>
          <p:cNvSpPr/>
          <p:nvPr/>
        </p:nvSpPr>
        <p:spPr>
          <a:xfrm>
            <a:off x="5524500" y="685800"/>
            <a:ext cx="38100" cy="38100"/>
          </a:xfrm>
          <a:prstGeom prst="rect">
            <a:avLst/>
          </a:prstGeom>
          <a:solidFill>
            <a:srgbClr val="CED7E6">
              <a:alpha val="50182"/>
            </a:srgbClr>
          </a:solidFill>
          <a:ln>
            <a:noFill/>
          </a:ln>
        </p:spPr>
      </p:sp>
      <p:sp>
        <p:nvSpPr>
          <p:cNvPr id="70" name="wm.whiteboard.126.54"/>
          <p:cNvSpPr/>
          <p:nvPr/>
        </p:nvSpPr>
        <p:spPr>
          <a:xfrm>
            <a:off x="5524500" y="914400"/>
            <a:ext cx="38100" cy="38100"/>
          </a:xfrm>
          <a:prstGeom prst="rect">
            <a:avLst/>
          </a:prstGeom>
          <a:solidFill>
            <a:srgbClr val="CED7E6">
              <a:alpha val="43386"/>
            </a:srgbClr>
          </a:solidFill>
          <a:ln>
            <a:noFill/>
          </a:ln>
        </p:spPr>
      </p:sp>
      <p:sp>
        <p:nvSpPr>
          <p:cNvPr id="71" name="wm.whiteboard.126.72"/>
          <p:cNvSpPr/>
          <p:nvPr/>
        </p:nvSpPr>
        <p:spPr>
          <a:xfrm>
            <a:off x="5524500" y="1143000"/>
            <a:ext cx="38100" cy="38100"/>
          </a:xfrm>
          <a:prstGeom prst="rect">
            <a:avLst/>
          </a:prstGeom>
          <a:solidFill>
            <a:srgbClr val="CED7E6">
              <a:alpha val="34598"/>
            </a:srgbClr>
          </a:solidFill>
          <a:ln>
            <a:noFill/>
          </a:ln>
        </p:spPr>
      </p:sp>
      <p:sp>
        <p:nvSpPr>
          <p:cNvPr id="72" name="wm.whiteboard.126.90"/>
          <p:cNvSpPr/>
          <p:nvPr/>
        </p:nvSpPr>
        <p:spPr>
          <a:xfrm>
            <a:off x="5524500" y="1371600"/>
            <a:ext cx="38100" cy="38100"/>
          </a:xfrm>
          <a:prstGeom prst="rect">
            <a:avLst/>
          </a:prstGeom>
          <a:solidFill>
            <a:srgbClr val="CED7E6">
              <a:alpha val="24223"/>
            </a:srgbClr>
          </a:solidFill>
          <a:ln>
            <a:noFill/>
          </a:ln>
        </p:spPr>
      </p:sp>
      <p:sp>
        <p:nvSpPr>
          <p:cNvPr id="73" name="wm.whiteboard.126.108"/>
          <p:cNvSpPr/>
          <p:nvPr/>
        </p:nvSpPr>
        <p:spPr>
          <a:xfrm>
            <a:off x="5524500" y="1600200"/>
            <a:ext cx="38100" cy="38100"/>
          </a:xfrm>
          <a:prstGeom prst="rect">
            <a:avLst/>
          </a:prstGeom>
          <a:solidFill>
            <a:srgbClr val="CED7E6">
              <a:alpha val="12610"/>
            </a:srgbClr>
          </a:solidFill>
          <a:ln>
            <a:noFill/>
          </a:ln>
        </p:spPr>
      </p:sp>
      <p:sp>
        <p:nvSpPr>
          <p:cNvPr id="74" name="wm.whiteboard.126.126"/>
          <p:cNvSpPr/>
          <p:nvPr/>
        </p:nvSpPr>
        <p:spPr>
          <a:xfrm>
            <a:off x="5524500" y="1828800"/>
            <a:ext cx="38100" cy="38100"/>
          </a:xfrm>
          <a:prstGeom prst="rect">
            <a:avLst/>
          </a:prstGeom>
          <a:solidFill>
            <a:srgbClr val="CED7E6">
              <a:alpha val="40"/>
            </a:srgbClr>
          </a:solidFill>
          <a:ln>
            <a:noFill/>
          </a:ln>
        </p:spPr>
      </p:sp>
      <p:sp>
        <p:nvSpPr>
          <p:cNvPr id="75" name="wm.whiteboard.144.0"/>
          <p:cNvSpPr/>
          <p:nvPr/>
        </p:nvSpPr>
        <p:spPr>
          <a:xfrm>
            <a:off x="5753100" y="228600"/>
            <a:ext cx="38100" cy="38100"/>
          </a:xfrm>
          <a:prstGeom prst="rect">
            <a:avLst/>
          </a:prstGeom>
          <a:solidFill>
            <a:srgbClr val="CED7E6">
              <a:alpha val="42471"/>
            </a:srgbClr>
          </a:solidFill>
          <a:ln>
            <a:noFill/>
          </a:ln>
        </p:spPr>
      </p:sp>
      <p:sp>
        <p:nvSpPr>
          <p:cNvPr id="76" name="wm.whiteboard.144.18"/>
          <p:cNvSpPr/>
          <p:nvPr/>
        </p:nvSpPr>
        <p:spPr>
          <a:xfrm>
            <a:off x="5753100" y="457200"/>
            <a:ext cx="38100" cy="38100"/>
          </a:xfrm>
          <a:prstGeom prst="rect">
            <a:avLst/>
          </a:prstGeom>
          <a:solidFill>
            <a:srgbClr val="CED7E6">
              <a:alpha val="41005"/>
            </a:srgbClr>
          </a:solidFill>
          <a:ln>
            <a:noFill/>
          </a:ln>
        </p:spPr>
      </p:sp>
      <p:sp>
        <p:nvSpPr>
          <p:cNvPr id="77" name="wm.whiteboard.144.36"/>
          <p:cNvSpPr/>
          <p:nvPr/>
        </p:nvSpPr>
        <p:spPr>
          <a:xfrm>
            <a:off x="5753100" y="685800"/>
            <a:ext cx="38100" cy="38100"/>
          </a:xfrm>
          <a:prstGeom prst="rect">
            <a:avLst/>
          </a:prstGeom>
          <a:solidFill>
            <a:srgbClr val="CED7E6">
              <a:alpha val="37120"/>
            </a:srgbClr>
          </a:solidFill>
          <a:ln>
            <a:noFill/>
          </a:ln>
        </p:spPr>
      </p:sp>
      <p:sp>
        <p:nvSpPr>
          <p:cNvPr id="78" name="wm.whiteboard.144.54"/>
          <p:cNvSpPr/>
          <p:nvPr/>
        </p:nvSpPr>
        <p:spPr>
          <a:xfrm>
            <a:off x="5753100" y="914400"/>
            <a:ext cx="38100" cy="38100"/>
          </a:xfrm>
          <a:prstGeom prst="rect">
            <a:avLst/>
          </a:prstGeom>
          <a:solidFill>
            <a:srgbClr val="CED7E6">
              <a:alpha val="31044"/>
            </a:srgbClr>
          </a:solidFill>
          <a:ln>
            <a:noFill/>
          </a:ln>
        </p:spPr>
      </p:sp>
      <p:sp>
        <p:nvSpPr>
          <p:cNvPr id="79" name="wm.whiteboard.144.72"/>
          <p:cNvSpPr/>
          <p:nvPr/>
        </p:nvSpPr>
        <p:spPr>
          <a:xfrm>
            <a:off x="5753100" y="1143000"/>
            <a:ext cx="38100" cy="38100"/>
          </a:xfrm>
          <a:prstGeom prst="rect">
            <a:avLst/>
          </a:prstGeom>
          <a:solidFill>
            <a:srgbClr val="CED7E6">
              <a:alpha val="23083"/>
            </a:srgbClr>
          </a:solidFill>
          <a:ln>
            <a:noFill/>
          </a:ln>
        </p:spPr>
      </p:sp>
      <p:sp>
        <p:nvSpPr>
          <p:cNvPr id="80" name="wm.whiteboard.144.90"/>
          <p:cNvSpPr/>
          <p:nvPr/>
        </p:nvSpPr>
        <p:spPr>
          <a:xfrm>
            <a:off x="5753100" y="1371600"/>
            <a:ext cx="38100" cy="38100"/>
          </a:xfrm>
          <a:prstGeom prst="rect">
            <a:avLst/>
          </a:prstGeom>
          <a:solidFill>
            <a:srgbClr val="CED7E6">
              <a:alpha val="13557"/>
            </a:srgbClr>
          </a:solidFill>
          <a:ln>
            <a:noFill/>
          </a:ln>
        </p:spPr>
      </p:sp>
      <p:sp>
        <p:nvSpPr>
          <p:cNvPr id="81" name="wm.whiteboard.144.108"/>
          <p:cNvSpPr/>
          <p:nvPr/>
        </p:nvSpPr>
        <p:spPr>
          <a:xfrm>
            <a:off x="5753100" y="1600200"/>
            <a:ext cx="38100" cy="38100"/>
          </a:xfrm>
          <a:prstGeom prst="rect">
            <a:avLst/>
          </a:prstGeom>
          <a:solidFill>
            <a:srgbClr val="CED7E6">
              <a:alpha val="2762"/>
            </a:srgbClr>
          </a:solidFill>
          <a:ln>
            <a:noFill/>
          </a:ln>
        </p:spPr>
      </p:sp>
      <p:sp>
        <p:nvSpPr>
          <p:cNvPr id="82" name="wm.whiteboard.162.0"/>
          <p:cNvSpPr/>
          <p:nvPr/>
        </p:nvSpPr>
        <p:spPr>
          <a:xfrm>
            <a:off x="5981700" y="228600"/>
            <a:ext cx="38100" cy="38100"/>
          </a:xfrm>
          <a:prstGeom prst="rect">
            <a:avLst/>
          </a:prstGeom>
          <a:solidFill>
            <a:srgbClr val="CED7E6">
              <a:alpha val="28695"/>
            </a:srgbClr>
          </a:solidFill>
          <a:ln>
            <a:noFill/>
          </a:ln>
        </p:spPr>
      </p:sp>
      <p:sp>
        <p:nvSpPr>
          <p:cNvPr id="83" name="wm.whiteboard.162.18"/>
          <p:cNvSpPr/>
          <p:nvPr/>
        </p:nvSpPr>
        <p:spPr>
          <a:xfrm>
            <a:off x="5981700" y="457200"/>
            <a:ext cx="38100" cy="38100"/>
          </a:xfrm>
          <a:prstGeom prst="rect">
            <a:avLst/>
          </a:prstGeom>
          <a:solidFill>
            <a:srgbClr val="CED7E6">
              <a:alpha val="27389"/>
            </a:srgbClr>
          </a:solidFill>
          <a:ln>
            <a:noFill/>
          </a:ln>
        </p:spPr>
      </p:sp>
      <p:sp>
        <p:nvSpPr>
          <p:cNvPr id="84" name="wm.whiteboard.162.36"/>
          <p:cNvSpPr/>
          <p:nvPr/>
        </p:nvSpPr>
        <p:spPr>
          <a:xfrm>
            <a:off x="5981700" y="685800"/>
            <a:ext cx="38100" cy="38100"/>
          </a:xfrm>
          <a:prstGeom prst="rect">
            <a:avLst/>
          </a:prstGeom>
          <a:solidFill>
            <a:srgbClr val="CED7E6">
              <a:alpha val="23910"/>
            </a:srgbClr>
          </a:solidFill>
          <a:ln>
            <a:noFill/>
          </a:ln>
        </p:spPr>
      </p:sp>
      <p:sp>
        <p:nvSpPr>
          <p:cNvPr id="85" name="wm.whiteboard.162.54"/>
          <p:cNvSpPr/>
          <p:nvPr/>
        </p:nvSpPr>
        <p:spPr>
          <a:xfrm>
            <a:off x="5981700" y="914400"/>
            <a:ext cx="38100" cy="38100"/>
          </a:xfrm>
          <a:prstGeom prst="rect">
            <a:avLst/>
          </a:prstGeom>
          <a:solidFill>
            <a:srgbClr val="CED7E6">
              <a:alpha val="18425"/>
            </a:srgbClr>
          </a:solidFill>
          <a:ln>
            <a:noFill/>
          </a:ln>
        </p:spPr>
      </p:sp>
      <p:sp>
        <p:nvSpPr>
          <p:cNvPr id="86" name="wm.whiteboard.162.72"/>
          <p:cNvSpPr/>
          <p:nvPr/>
        </p:nvSpPr>
        <p:spPr>
          <a:xfrm>
            <a:off x="5981700" y="1143000"/>
            <a:ext cx="38100" cy="38100"/>
          </a:xfrm>
          <a:prstGeom prst="rect">
            <a:avLst/>
          </a:prstGeom>
          <a:solidFill>
            <a:srgbClr val="CED7E6">
              <a:alpha val="11167"/>
            </a:srgbClr>
          </a:solidFill>
          <a:ln>
            <a:noFill/>
          </a:ln>
        </p:spPr>
      </p:sp>
      <p:sp>
        <p:nvSpPr>
          <p:cNvPr id="87" name="wm.whiteboard.162.90"/>
          <p:cNvSpPr/>
          <p:nvPr/>
        </p:nvSpPr>
        <p:spPr>
          <a:xfrm>
            <a:off x="5981700" y="1371600"/>
            <a:ext cx="38100" cy="38100"/>
          </a:xfrm>
          <a:prstGeom prst="rect">
            <a:avLst/>
          </a:prstGeom>
          <a:solidFill>
            <a:srgbClr val="CED7E6">
              <a:alpha val="2388"/>
            </a:srgbClr>
          </a:solidFill>
          <a:ln>
            <a:noFill/>
          </a:ln>
        </p:spPr>
      </p:sp>
      <p:sp>
        <p:nvSpPr>
          <p:cNvPr id="88" name="wm.whiteboard.180.0"/>
          <p:cNvSpPr/>
          <p:nvPr/>
        </p:nvSpPr>
        <p:spPr>
          <a:xfrm>
            <a:off x="6210300" y="228600"/>
            <a:ext cx="38100" cy="38100"/>
          </a:xfrm>
          <a:prstGeom prst="rect">
            <a:avLst/>
          </a:prstGeom>
          <a:solidFill>
            <a:srgbClr val="CED7E6">
              <a:alpha val="14918"/>
            </a:srgbClr>
          </a:solidFill>
          <a:ln>
            <a:noFill/>
          </a:ln>
        </p:spPr>
      </p:sp>
      <p:sp>
        <p:nvSpPr>
          <p:cNvPr id="89" name="wm.whiteboard.180.18"/>
          <p:cNvSpPr/>
          <p:nvPr/>
        </p:nvSpPr>
        <p:spPr>
          <a:xfrm>
            <a:off x="6210300" y="457200"/>
            <a:ext cx="38100" cy="38100"/>
          </a:xfrm>
          <a:prstGeom prst="rect">
            <a:avLst/>
          </a:prstGeom>
          <a:solidFill>
            <a:srgbClr val="CED7E6">
              <a:alpha val="13741"/>
            </a:srgbClr>
          </a:solidFill>
          <a:ln>
            <a:noFill/>
          </a:ln>
        </p:spPr>
      </p:sp>
      <p:sp>
        <p:nvSpPr>
          <p:cNvPr id="90" name="wm.whiteboard.180.36"/>
          <p:cNvSpPr/>
          <p:nvPr/>
        </p:nvSpPr>
        <p:spPr>
          <a:xfrm>
            <a:off x="6210300" y="685800"/>
            <a:ext cx="38100" cy="38100"/>
          </a:xfrm>
          <a:prstGeom prst="rect">
            <a:avLst/>
          </a:prstGeom>
          <a:solidFill>
            <a:srgbClr val="CED7E6">
              <a:alpha val="10593"/>
            </a:srgbClr>
          </a:solidFill>
          <a:ln>
            <a:noFill/>
          </a:ln>
        </p:spPr>
      </p:sp>
      <p:sp>
        <p:nvSpPr>
          <p:cNvPr id="91" name="wm.whiteboard.180.54"/>
          <p:cNvSpPr/>
          <p:nvPr/>
        </p:nvSpPr>
        <p:spPr>
          <a:xfrm>
            <a:off x="6210300" y="914400"/>
            <a:ext cx="38100" cy="38100"/>
          </a:xfrm>
          <a:prstGeom prst="rect">
            <a:avLst/>
          </a:prstGeom>
          <a:solidFill>
            <a:srgbClr val="CED7E6">
              <a:alpha val="5600"/>
            </a:srgbClr>
          </a:solidFill>
          <a:ln>
            <a:noFill/>
          </a:ln>
        </p:spPr>
      </p:sp>
      <p:sp>
        <p:nvSpPr>
          <p:cNvPr id="92" name="wm.whiteboard.198.0"/>
          <p:cNvSpPr/>
          <p:nvPr/>
        </p:nvSpPr>
        <p:spPr>
          <a:xfrm>
            <a:off x="6438900" y="228600"/>
            <a:ext cx="38100" cy="38100"/>
          </a:xfrm>
          <a:prstGeom prst="rect">
            <a:avLst/>
          </a:prstGeom>
          <a:solidFill>
            <a:srgbClr val="CED7E6">
              <a:alpha val="1142"/>
            </a:srgbClr>
          </a:solidFill>
          <a:ln>
            <a:noFill/>
          </a:ln>
        </p:spPr>
      </p:sp>
      <p:sp>
        <p:nvSpPr>
          <p:cNvPr id="93" name="wm.whiteboard.198.18"/>
          <p:cNvSpPr/>
          <p:nvPr/>
        </p:nvSpPr>
        <p:spPr>
          <a:xfrm>
            <a:off x="6438900" y="457200"/>
            <a:ext cx="38100" cy="38100"/>
          </a:xfrm>
          <a:prstGeom prst="rect">
            <a:avLst/>
          </a:prstGeom>
          <a:solidFill>
            <a:srgbClr val="CED7E6">
              <a:alpha val="69"/>
            </a:srgbClr>
          </a:solidFill>
          <a:ln>
            <a:noFill/>
          </a:ln>
        </p:spPr>
      </p:sp>
      <p:sp>
        <p:nvSpPr>
          <p:cNvPr id="94" name="wm.header.rule"/>
          <p:cNvSpPr/>
          <p:nvPr/>
        </p:nvSpPr>
        <p:spPr>
          <a:xfrm>
            <a:off x="4381500" y="1371600"/>
            <a:ext cx="7086600" cy="9525"/>
          </a:xfrm>
          <a:prstGeom prst="rect">
            <a:avLst/>
          </a:prstGeom>
          <a:solidFill>
            <a:srgbClr val="CED7E6"/>
          </a:solidFill>
          <a:ln>
            <a:noFill/>
          </a:ln>
        </p:spPr>
      </p:sp>
      <p:pic>
        <p:nvPicPr>
          <p:cNvPr id="95" name="wm.logo" descr="West Monro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3900" y="6210300"/>
            <a:ext cx="729403" cy="152400"/>
          </a:xfrm>
          <a:prstGeom prst="rect">
            <a:avLst/>
          </a:prstGeom>
        </p:spPr>
      </p:pic>
      <p:sp>
        <p:nvSpPr>
          <p:cNvPr id="96" name="wm.legal"/>
          <p:cNvSpPr/>
          <p:nvPr/>
        </p:nvSpPr>
        <p:spPr>
          <a:xfrm>
            <a:off x="2171700" y="6172200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00" spc="0" kern="0" b="0" i="0" dirty="0">
                <a:solidFill>
                  <a:srgbClr val="50658E"/>
                </a:solidFill>
                <a:latin typeface="IBM Plex Mono"/>
                <a:ea typeface="IBM Plex Mono"/>
                <a:cs typeface="IBM Plex Mono"/>
              </a:rPr>
              <a:t>© 2026 West Monroe Partners | Reproduction and/or distribution without West Monroe Partners’ prior consent is prohibited.</a:t>
            </a:r>
            <a:endParaRPr lang="en-US" sz="700" spc="0" kern="0" b="0" i="0" dirty="0">
              <a:solidFill>
                <a:srgbClr val="50658E"/>
              </a:solidFill>
              <a:latin typeface="IBM Plex Mono"/>
              <a:ea typeface="IBM Plex Mono"/>
              <a:cs typeface="IBM Plex Mon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0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Maturity falls away from the main campus toward Harbor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Northfield Health System assessment, Sep 2026.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1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32" name="node01"/>
          <p:cNvGrpSpPr/>
          <p:nvPr/>
        </p:nvGrpSpPr>
        <p:grpSpPr>
          <a:xfrm>
            <a:off x="723900" y="1600200"/>
            <a:ext cx="10744200" cy="3784600"/>
            <a:chOff x="723900" y="1600200"/>
            <a:chExt cx="10744200" cy="3784600"/>
          </a:xfrm>
        </p:grpSpPr>
        <p:sp>
          <p:nvSpPr>
            <p:cNvPr id="7" name="node01.row.item-001.c1.heat-gap"/>
            <p:cNvSpPr/>
            <p:nvPr/>
          </p:nvSpPr>
          <p:spPr>
            <a:xfrm>
              <a:off x="3238500" y="1955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c1.heat"/>
            <p:cNvSpPr/>
            <p:nvPr/>
          </p:nvSpPr>
          <p:spPr>
            <a:xfrm>
              <a:off x="3257550" y="1974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" name="node01.row.item-001.c2.heat-gap"/>
            <p:cNvSpPr/>
            <p:nvPr/>
          </p:nvSpPr>
          <p:spPr>
            <a:xfrm>
              <a:off x="4610100" y="1955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c2.heat"/>
            <p:cNvSpPr/>
            <p:nvPr/>
          </p:nvSpPr>
          <p:spPr>
            <a:xfrm>
              <a:off x="4629150" y="1974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" name="node01.row.item-001.c3.heat-gap"/>
            <p:cNvSpPr/>
            <p:nvPr/>
          </p:nvSpPr>
          <p:spPr>
            <a:xfrm>
              <a:off x="5981700" y="1955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c3.heat"/>
            <p:cNvSpPr/>
            <p:nvPr/>
          </p:nvSpPr>
          <p:spPr>
            <a:xfrm>
              <a:off x="6000750" y="1974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3" name="node01.row.item-001.c4.heat-gap"/>
            <p:cNvSpPr/>
            <p:nvPr/>
          </p:nvSpPr>
          <p:spPr>
            <a:xfrm>
              <a:off x="7353300" y="1955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c4.heat"/>
            <p:cNvSpPr/>
            <p:nvPr/>
          </p:nvSpPr>
          <p:spPr>
            <a:xfrm>
              <a:off x="7372350" y="1974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5" name="node01.row.item-001.c5.heat-gap"/>
            <p:cNvSpPr/>
            <p:nvPr/>
          </p:nvSpPr>
          <p:spPr>
            <a:xfrm>
              <a:off x="8724900" y="1955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c5.heat"/>
            <p:cNvSpPr/>
            <p:nvPr/>
          </p:nvSpPr>
          <p:spPr>
            <a:xfrm>
              <a:off x="8743950" y="1974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7" name="node01.row.item-001.c6.heat-gap"/>
            <p:cNvSpPr/>
            <p:nvPr/>
          </p:nvSpPr>
          <p:spPr>
            <a:xfrm>
              <a:off x="10096500" y="1955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1.c6.heat"/>
            <p:cNvSpPr/>
            <p:nvPr/>
          </p:nvSpPr>
          <p:spPr>
            <a:xfrm>
              <a:off x="10115550" y="1974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c1.heat-gap"/>
            <p:cNvSpPr/>
            <p:nvPr/>
          </p:nvSpPr>
          <p:spPr>
            <a:xfrm>
              <a:off x="3238500" y="2336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c1.heat"/>
            <p:cNvSpPr/>
            <p:nvPr/>
          </p:nvSpPr>
          <p:spPr>
            <a:xfrm>
              <a:off x="3257550" y="2355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21" name="node01.row.item-002.c2.heat-gap"/>
            <p:cNvSpPr/>
            <p:nvPr/>
          </p:nvSpPr>
          <p:spPr>
            <a:xfrm>
              <a:off x="4610100" y="2336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c2.heat"/>
            <p:cNvSpPr/>
            <p:nvPr/>
          </p:nvSpPr>
          <p:spPr>
            <a:xfrm>
              <a:off x="4629150" y="2355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23" name="node01.row.item-002.c3.heat-gap"/>
            <p:cNvSpPr/>
            <p:nvPr/>
          </p:nvSpPr>
          <p:spPr>
            <a:xfrm>
              <a:off x="5981700" y="2336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c3.heat"/>
            <p:cNvSpPr/>
            <p:nvPr/>
          </p:nvSpPr>
          <p:spPr>
            <a:xfrm>
              <a:off x="6000750" y="2355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5" name="node01.row.item-002.c4.heat-gap"/>
            <p:cNvSpPr/>
            <p:nvPr/>
          </p:nvSpPr>
          <p:spPr>
            <a:xfrm>
              <a:off x="7353300" y="2336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c4.heat"/>
            <p:cNvSpPr/>
            <p:nvPr/>
          </p:nvSpPr>
          <p:spPr>
            <a:xfrm>
              <a:off x="7372350" y="2355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7" name="node01.row.item-002.c5.heat-gap"/>
            <p:cNvSpPr/>
            <p:nvPr/>
          </p:nvSpPr>
          <p:spPr>
            <a:xfrm>
              <a:off x="8724900" y="2336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2.c5.heat"/>
            <p:cNvSpPr/>
            <p:nvPr/>
          </p:nvSpPr>
          <p:spPr>
            <a:xfrm>
              <a:off x="8743950" y="2355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9" name="node01.row.item-002.c6.heat-gap"/>
            <p:cNvSpPr/>
            <p:nvPr/>
          </p:nvSpPr>
          <p:spPr>
            <a:xfrm>
              <a:off x="10096500" y="2336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2.c6.heat"/>
            <p:cNvSpPr/>
            <p:nvPr/>
          </p:nvSpPr>
          <p:spPr>
            <a:xfrm>
              <a:off x="10115550" y="2355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1" name="node01.row.item-003.c1.heat-gap"/>
            <p:cNvSpPr/>
            <p:nvPr/>
          </p:nvSpPr>
          <p:spPr>
            <a:xfrm>
              <a:off x="3238500" y="2717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c1.heat"/>
            <p:cNvSpPr/>
            <p:nvPr/>
          </p:nvSpPr>
          <p:spPr>
            <a:xfrm>
              <a:off x="3257550" y="2736850"/>
              <a:ext cx="1333500" cy="342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3" name="node01.row.item-003.c2.heat-gap"/>
            <p:cNvSpPr/>
            <p:nvPr/>
          </p:nvSpPr>
          <p:spPr>
            <a:xfrm>
              <a:off x="4610100" y="2717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c2.heat"/>
            <p:cNvSpPr/>
            <p:nvPr/>
          </p:nvSpPr>
          <p:spPr>
            <a:xfrm>
              <a:off x="4629150" y="2736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5" name="node01.row.item-003.c3.heat-gap"/>
            <p:cNvSpPr/>
            <p:nvPr/>
          </p:nvSpPr>
          <p:spPr>
            <a:xfrm>
              <a:off x="5981700" y="2717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c3.heat"/>
            <p:cNvSpPr/>
            <p:nvPr/>
          </p:nvSpPr>
          <p:spPr>
            <a:xfrm>
              <a:off x="6000750" y="2736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7" name="node01.row.item-003.c4.heat-gap"/>
            <p:cNvSpPr/>
            <p:nvPr/>
          </p:nvSpPr>
          <p:spPr>
            <a:xfrm>
              <a:off x="7353300" y="2717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3.c4.heat"/>
            <p:cNvSpPr/>
            <p:nvPr/>
          </p:nvSpPr>
          <p:spPr>
            <a:xfrm>
              <a:off x="7372350" y="2736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9" name="node01.row.item-003.c5.heat-gap"/>
            <p:cNvSpPr/>
            <p:nvPr/>
          </p:nvSpPr>
          <p:spPr>
            <a:xfrm>
              <a:off x="8724900" y="2717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3.c5.heat"/>
            <p:cNvSpPr/>
            <p:nvPr/>
          </p:nvSpPr>
          <p:spPr>
            <a:xfrm>
              <a:off x="8743950" y="2736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1" name="node01.row.item-003.c6.heat-gap"/>
            <p:cNvSpPr/>
            <p:nvPr/>
          </p:nvSpPr>
          <p:spPr>
            <a:xfrm>
              <a:off x="10096500" y="2717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3.c6.heat"/>
            <p:cNvSpPr/>
            <p:nvPr/>
          </p:nvSpPr>
          <p:spPr>
            <a:xfrm>
              <a:off x="10115550" y="2736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3" name="node01.row.item-004.c1.heat-gap"/>
            <p:cNvSpPr/>
            <p:nvPr/>
          </p:nvSpPr>
          <p:spPr>
            <a:xfrm>
              <a:off x="3238500" y="3098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c1.heat"/>
            <p:cNvSpPr/>
            <p:nvPr/>
          </p:nvSpPr>
          <p:spPr>
            <a:xfrm>
              <a:off x="3257550" y="3117850"/>
              <a:ext cx="1333500" cy="342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45" name="node01.row.item-004.c2.heat-gap"/>
            <p:cNvSpPr/>
            <p:nvPr/>
          </p:nvSpPr>
          <p:spPr>
            <a:xfrm>
              <a:off x="4610100" y="3098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c2.heat"/>
            <p:cNvSpPr/>
            <p:nvPr/>
          </p:nvSpPr>
          <p:spPr>
            <a:xfrm>
              <a:off x="4629150" y="3117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7" name="node01.row.item-004.c3.heat-gap"/>
            <p:cNvSpPr/>
            <p:nvPr/>
          </p:nvSpPr>
          <p:spPr>
            <a:xfrm>
              <a:off x="5981700" y="3098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4.c3.heat"/>
            <p:cNvSpPr/>
            <p:nvPr/>
          </p:nvSpPr>
          <p:spPr>
            <a:xfrm>
              <a:off x="6000750" y="3117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9" name="node01.row.item-004.c4.heat-gap"/>
            <p:cNvSpPr/>
            <p:nvPr/>
          </p:nvSpPr>
          <p:spPr>
            <a:xfrm>
              <a:off x="7353300" y="3098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4.c4.heat"/>
            <p:cNvSpPr/>
            <p:nvPr/>
          </p:nvSpPr>
          <p:spPr>
            <a:xfrm>
              <a:off x="7372350" y="3117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1" name="node01.row.item-004.c5.heat-gap"/>
            <p:cNvSpPr/>
            <p:nvPr/>
          </p:nvSpPr>
          <p:spPr>
            <a:xfrm>
              <a:off x="8724900" y="3098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4.c5.heat"/>
            <p:cNvSpPr/>
            <p:nvPr/>
          </p:nvSpPr>
          <p:spPr>
            <a:xfrm>
              <a:off x="8743950" y="3117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3" name="node01.row.item-004.c6.heat-gap"/>
            <p:cNvSpPr/>
            <p:nvPr/>
          </p:nvSpPr>
          <p:spPr>
            <a:xfrm>
              <a:off x="10096500" y="3098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4.c6.heat"/>
            <p:cNvSpPr/>
            <p:nvPr/>
          </p:nvSpPr>
          <p:spPr>
            <a:xfrm>
              <a:off x="10115550" y="3117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5" name="node01.row.item-005.c1.heat-gap"/>
            <p:cNvSpPr/>
            <p:nvPr/>
          </p:nvSpPr>
          <p:spPr>
            <a:xfrm>
              <a:off x="3238500" y="3479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c1.heat"/>
            <p:cNvSpPr/>
            <p:nvPr/>
          </p:nvSpPr>
          <p:spPr>
            <a:xfrm>
              <a:off x="3257550" y="3498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7" name="node01.row.item-005.c2.heat-gap"/>
            <p:cNvSpPr/>
            <p:nvPr/>
          </p:nvSpPr>
          <p:spPr>
            <a:xfrm>
              <a:off x="4610100" y="3479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5.c2.heat"/>
            <p:cNvSpPr/>
            <p:nvPr/>
          </p:nvSpPr>
          <p:spPr>
            <a:xfrm>
              <a:off x="4629150" y="3498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9" name="node01.row.item-005.c3.heat-gap"/>
            <p:cNvSpPr/>
            <p:nvPr/>
          </p:nvSpPr>
          <p:spPr>
            <a:xfrm>
              <a:off x="5981700" y="3479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5.c3.heat"/>
            <p:cNvSpPr/>
            <p:nvPr/>
          </p:nvSpPr>
          <p:spPr>
            <a:xfrm>
              <a:off x="6000750" y="3498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1" name="node01.row.item-005.c4.heat-gap"/>
            <p:cNvSpPr/>
            <p:nvPr/>
          </p:nvSpPr>
          <p:spPr>
            <a:xfrm>
              <a:off x="7353300" y="3479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5.c4.heat"/>
            <p:cNvSpPr/>
            <p:nvPr/>
          </p:nvSpPr>
          <p:spPr>
            <a:xfrm>
              <a:off x="7372350" y="3498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3" name="node01.row.item-005.c5.heat-gap"/>
            <p:cNvSpPr/>
            <p:nvPr/>
          </p:nvSpPr>
          <p:spPr>
            <a:xfrm>
              <a:off x="8724900" y="3479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5.c5.heat"/>
            <p:cNvSpPr/>
            <p:nvPr/>
          </p:nvSpPr>
          <p:spPr>
            <a:xfrm>
              <a:off x="8743950" y="3498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5" name="node01.row.item-005.c6.heat-gap"/>
            <p:cNvSpPr/>
            <p:nvPr/>
          </p:nvSpPr>
          <p:spPr>
            <a:xfrm>
              <a:off x="10096500" y="3479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5.c6.heat"/>
            <p:cNvSpPr/>
            <p:nvPr/>
          </p:nvSpPr>
          <p:spPr>
            <a:xfrm>
              <a:off x="10115550" y="3498850"/>
              <a:ext cx="13335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67" name="node01.row.item-006.c1.heat-gap"/>
            <p:cNvSpPr/>
            <p:nvPr/>
          </p:nvSpPr>
          <p:spPr>
            <a:xfrm>
              <a:off x="3238500" y="3860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node01.row.item-006.c1.heat"/>
            <p:cNvSpPr/>
            <p:nvPr/>
          </p:nvSpPr>
          <p:spPr>
            <a:xfrm>
              <a:off x="3257550" y="3879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69" name="node01.row.item-006.c2.heat-gap"/>
            <p:cNvSpPr/>
            <p:nvPr/>
          </p:nvSpPr>
          <p:spPr>
            <a:xfrm>
              <a:off x="4610100" y="3860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node01.row.item-006.c2.heat"/>
            <p:cNvSpPr/>
            <p:nvPr/>
          </p:nvSpPr>
          <p:spPr>
            <a:xfrm>
              <a:off x="4629150" y="3879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1" name="node01.row.item-006.c3.heat-gap"/>
            <p:cNvSpPr/>
            <p:nvPr/>
          </p:nvSpPr>
          <p:spPr>
            <a:xfrm>
              <a:off x="5981700" y="3860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node01.row.item-006.c3.heat"/>
            <p:cNvSpPr/>
            <p:nvPr/>
          </p:nvSpPr>
          <p:spPr>
            <a:xfrm>
              <a:off x="6000750" y="3879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3" name="node01.row.item-006.c4.heat-gap"/>
            <p:cNvSpPr/>
            <p:nvPr/>
          </p:nvSpPr>
          <p:spPr>
            <a:xfrm>
              <a:off x="7353300" y="3860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node01.row.item-006.c4.heat"/>
            <p:cNvSpPr/>
            <p:nvPr/>
          </p:nvSpPr>
          <p:spPr>
            <a:xfrm>
              <a:off x="7372350" y="3879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5" name="node01.row.item-006.c5.heat-gap"/>
            <p:cNvSpPr/>
            <p:nvPr/>
          </p:nvSpPr>
          <p:spPr>
            <a:xfrm>
              <a:off x="8724900" y="3860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node01.row.item-006.c5.heat"/>
            <p:cNvSpPr/>
            <p:nvPr/>
          </p:nvSpPr>
          <p:spPr>
            <a:xfrm>
              <a:off x="8743950" y="3879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7" name="node01.row.item-006.c6.heat-gap"/>
            <p:cNvSpPr/>
            <p:nvPr/>
          </p:nvSpPr>
          <p:spPr>
            <a:xfrm>
              <a:off x="10096500" y="3860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node01.row.item-006.c6.heat"/>
            <p:cNvSpPr/>
            <p:nvPr/>
          </p:nvSpPr>
          <p:spPr>
            <a:xfrm>
              <a:off x="10115550" y="3879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9" name="node01.row.item-007.c1.heat-gap"/>
            <p:cNvSpPr/>
            <p:nvPr/>
          </p:nvSpPr>
          <p:spPr>
            <a:xfrm>
              <a:off x="3238500" y="4241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node01.row.item-007.c1.heat"/>
            <p:cNvSpPr/>
            <p:nvPr/>
          </p:nvSpPr>
          <p:spPr>
            <a:xfrm>
              <a:off x="3257550" y="4260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1" name="node01.row.item-007.c2.heat-gap"/>
            <p:cNvSpPr/>
            <p:nvPr/>
          </p:nvSpPr>
          <p:spPr>
            <a:xfrm>
              <a:off x="4610100" y="4241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node01.row.item-007.c2.heat"/>
            <p:cNvSpPr/>
            <p:nvPr/>
          </p:nvSpPr>
          <p:spPr>
            <a:xfrm>
              <a:off x="4629150" y="4260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3" name="node01.row.item-007.c3.heat-gap"/>
            <p:cNvSpPr/>
            <p:nvPr/>
          </p:nvSpPr>
          <p:spPr>
            <a:xfrm>
              <a:off x="5981700" y="4241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node01.row.item-007.c3.heat"/>
            <p:cNvSpPr/>
            <p:nvPr/>
          </p:nvSpPr>
          <p:spPr>
            <a:xfrm>
              <a:off x="6000750" y="4260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5" name="node01.row.item-007.c4.heat-gap"/>
            <p:cNvSpPr/>
            <p:nvPr/>
          </p:nvSpPr>
          <p:spPr>
            <a:xfrm>
              <a:off x="7353300" y="4241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node01.row.item-007.c4.heat"/>
            <p:cNvSpPr/>
            <p:nvPr/>
          </p:nvSpPr>
          <p:spPr>
            <a:xfrm>
              <a:off x="7372350" y="4260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87" name="node01.row.item-007.c5.heat-gap"/>
            <p:cNvSpPr/>
            <p:nvPr/>
          </p:nvSpPr>
          <p:spPr>
            <a:xfrm>
              <a:off x="8724900" y="4241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node01.row.item-007.c5.heat"/>
            <p:cNvSpPr/>
            <p:nvPr/>
          </p:nvSpPr>
          <p:spPr>
            <a:xfrm>
              <a:off x="8743950" y="4260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89" name="node01.row.item-007.c6.heat-gap"/>
            <p:cNvSpPr/>
            <p:nvPr/>
          </p:nvSpPr>
          <p:spPr>
            <a:xfrm>
              <a:off x="10096500" y="4241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node01.row.item-007.c6.heat"/>
            <p:cNvSpPr/>
            <p:nvPr/>
          </p:nvSpPr>
          <p:spPr>
            <a:xfrm>
              <a:off x="10115550" y="4260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1" name="node01.row.item-008.c1.heat-gap"/>
            <p:cNvSpPr/>
            <p:nvPr/>
          </p:nvSpPr>
          <p:spPr>
            <a:xfrm>
              <a:off x="3238500" y="4622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node01.row.item-008.c1.heat"/>
            <p:cNvSpPr/>
            <p:nvPr/>
          </p:nvSpPr>
          <p:spPr>
            <a:xfrm>
              <a:off x="3257550" y="4641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3" name="node01.row.item-008.c2.heat-gap"/>
            <p:cNvSpPr/>
            <p:nvPr/>
          </p:nvSpPr>
          <p:spPr>
            <a:xfrm>
              <a:off x="4610100" y="4622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4" name="node01.row.item-008.c2.heat"/>
            <p:cNvSpPr/>
            <p:nvPr/>
          </p:nvSpPr>
          <p:spPr>
            <a:xfrm>
              <a:off x="4629150" y="4641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5" name="node01.row.item-008.c3.heat-gap"/>
            <p:cNvSpPr/>
            <p:nvPr/>
          </p:nvSpPr>
          <p:spPr>
            <a:xfrm>
              <a:off x="5981700" y="4622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6" name="node01.row.item-008.c3.heat"/>
            <p:cNvSpPr/>
            <p:nvPr/>
          </p:nvSpPr>
          <p:spPr>
            <a:xfrm>
              <a:off x="6000750" y="4641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7" name="node01.row.item-008.c4.heat-gap"/>
            <p:cNvSpPr/>
            <p:nvPr/>
          </p:nvSpPr>
          <p:spPr>
            <a:xfrm>
              <a:off x="7353300" y="4622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8" name="node01.row.item-008.c4.heat"/>
            <p:cNvSpPr/>
            <p:nvPr/>
          </p:nvSpPr>
          <p:spPr>
            <a:xfrm>
              <a:off x="7372350" y="4641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9" name="node01.row.item-008.c5.heat-gap"/>
            <p:cNvSpPr/>
            <p:nvPr/>
          </p:nvSpPr>
          <p:spPr>
            <a:xfrm>
              <a:off x="8724900" y="4622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0" name="node01.row.item-008.c5.heat"/>
            <p:cNvSpPr/>
            <p:nvPr/>
          </p:nvSpPr>
          <p:spPr>
            <a:xfrm>
              <a:off x="8743950" y="4641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1" name="node01.row.item-008.c6.heat-gap"/>
            <p:cNvSpPr/>
            <p:nvPr/>
          </p:nvSpPr>
          <p:spPr>
            <a:xfrm>
              <a:off x="10096500" y="4622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2" name="node01.row.item-008.c6.heat"/>
            <p:cNvSpPr/>
            <p:nvPr/>
          </p:nvSpPr>
          <p:spPr>
            <a:xfrm>
              <a:off x="10115550" y="4641850"/>
              <a:ext cx="13335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03" name="node01.row.item-009.c1.heat-gap"/>
            <p:cNvSpPr/>
            <p:nvPr/>
          </p:nvSpPr>
          <p:spPr>
            <a:xfrm>
              <a:off x="3238500" y="5003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4" name="node01.row.item-009.c1.heat"/>
            <p:cNvSpPr/>
            <p:nvPr/>
          </p:nvSpPr>
          <p:spPr>
            <a:xfrm>
              <a:off x="3257550" y="5022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05" name="node01.row.item-009.c2.heat-gap"/>
            <p:cNvSpPr/>
            <p:nvPr/>
          </p:nvSpPr>
          <p:spPr>
            <a:xfrm>
              <a:off x="4610100" y="5003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6" name="node01.row.item-009.c2.heat"/>
            <p:cNvSpPr/>
            <p:nvPr/>
          </p:nvSpPr>
          <p:spPr>
            <a:xfrm>
              <a:off x="4629150" y="5022850"/>
              <a:ext cx="13335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07" name="node01.row.item-009.c3.heat-gap"/>
            <p:cNvSpPr/>
            <p:nvPr/>
          </p:nvSpPr>
          <p:spPr>
            <a:xfrm>
              <a:off x="5981700" y="5003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8" name="node01.row.item-009.c3.heat"/>
            <p:cNvSpPr/>
            <p:nvPr/>
          </p:nvSpPr>
          <p:spPr>
            <a:xfrm>
              <a:off x="6000750" y="5022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9" name="node01.row.item-009.c4.heat-gap"/>
            <p:cNvSpPr/>
            <p:nvPr/>
          </p:nvSpPr>
          <p:spPr>
            <a:xfrm>
              <a:off x="7353300" y="5003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0" name="node01.row.item-009.c4.heat"/>
            <p:cNvSpPr/>
            <p:nvPr/>
          </p:nvSpPr>
          <p:spPr>
            <a:xfrm>
              <a:off x="7372350" y="5022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1" name="node01.row.item-009.c5.heat-gap"/>
            <p:cNvSpPr/>
            <p:nvPr/>
          </p:nvSpPr>
          <p:spPr>
            <a:xfrm>
              <a:off x="8724900" y="5003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2" name="node01.row.item-009.c5.heat"/>
            <p:cNvSpPr/>
            <p:nvPr/>
          </p:nvSpPr>
          <p:spPr>
            <a:xfrm>
              <a:off x="8743950" y="5022850"/>
              <a:ext cx="13335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3" name="node01.row.item-009.c6.heat-gap"/>
            <p:cNvSpPr/>
            <p:nvPr/>
          </p:nvSpPr>
          <p:spPr>
            <a:xfrm>
              <a:off x="10096500" y="5003800"/>
              <a:ext cx="13716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4" name="node01.row.item-009.c6.heat"/>
            <p:cNvSpPr/>
            <p:nvPr/>
          </p:nvSpPr>
          <p:spPr>
            <a:xfrm>
              <a:off x="10115550" y="5022850"/>
              <a:ext cx="13335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graphicFrame>
          <p:nvGraphicFramePr>
            <p:cNvPr id="115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1104900" y="1600200"/>
            <a:ext cx="10363200" cy="3784600"/>
          </p:xfrm>
          <a:graphic>
            <a:graphicData uri="http://schemas.openxmlformats.org/drawingml/2006/table">
              <a:tbl>
                <a:tblPr/>
                <a:tblGrid>
                  <a:gridCol w="2133600"/>
                  <a:gridCol w="1371600"/>
                  <a:gridCol w="1371600"/>
                  <a:gridCol w="1371600"/>
                  <a:gridCol w="1371600"/>
                  <a:gridCol w="1371600"/>
                  <a:gridCol w="13716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MAIN CAMPUS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LAKESIDE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EASTGATE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RIDGEVIEW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ST. ANNE'S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HARBOR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Scheduling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Supply chain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Workforce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Data and analytics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Cybersecurity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116" name="node01.row-group.source-001.fill"/>
            <p:cNvSpPr/>
            <p:nvPr/>
          </p:nvSpPr>
          <p:spPr>
            <a:xfrm>
              <a:off x="723900" y="1974850"/>
              <a:ext cx="304800" cy="1104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17" name="node01.row-group.source-001.label"/>
            <p:cNvSpPr/>
            <p:nvPr/>
          </p:nvSpPr>
          <p:spPr>
            <a:xfrm rot="-5400000">
              <a:off x="323850" y="2451100"/>
              <a:ext cx="11049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PATIENT FLOW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18" name="node01.row-group.source-002.fill"/>
            <p:cNvSpPr/>
            <p:nvPr/>
          </p:nvSpPr>
          <p:spPr>
            <a:xfrm>
              <a:off x="723900" y="3117850"/>
              <a:ext cx="304800" cy="1104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19" name="node01.row-group.source-002.label"/>
            <p:cNvSpPr/>
            <p:nvPr/>
          </p:nvSpPr>
          <p:spPr>
            <a:xfrm rot="-5400000">
              <a:off x="323850" y="3594100"/>
              <a:ext cx="11049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CARE DELIVERY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0" name="node01.row-group.source-003.fill"/>
            <p:cNvSpPr/>
            <p:nvPr/>
          </p:nvSpPr>
          <p:spPr>
            <a:xfrm>
              <a:off x="723900" y="4260850"/>
              <a:ext cx="304800" cy="1104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21" name="node01.row-group.source-003.label"/>
            <p:cNvSpPr/>
            <p:nvPr/>
          </p:nvSpPr>
          <p:spPr>
            <a:xfrm rot="-5400000">
              <a:off x="323850" y="4737100"/>
              <a:ext cx="11049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ENTERPRISE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</p:grpSp>
      <p:grpSp>
        <p:nvGrpSpPr>
          <p:cNvPr id="133" name="node02"/>
          <p:cNvGrpSpPr/>
          <p:nvPr/>
        </p:nvGrpSpPr>
        <p:grpSpPr>
          <a:xfrm>
            <a:off x="723900" y="5486400"/>
            <a:ext cx="5453063" cy="228600"/>
            <a:chOff x="723900" y="5486400"/>
            <a:chExt cx="5453063" cy="228600"/>
          </a:xfrm>
        </p:grpSpPr>
        <p:sp>
          <p:nvSpPr>
            <p:cNvPr id="122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23" name="node02.items.slot-001.text"/>
            <p:cNvSpPr/>
            <p:nvPr/>
          </p:nvSpPr>
          <p:spPr>
            <a:xfrm>
              <a:off x="1016000" y="5486400"/>
              <a:ext cx="5381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Absent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24" name="node02.items.slot-002.swatch"/>
            <p:cNvSpPr/>
            <p:nvPr/>
          </p:nvSpPr>
          <p:spPr>
            <a:xfrm>
              <a:off x="17827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25" name="node02.items.slot-002.text"/>
            <p:cNvSpPr/>
            <p:nvPr/>
          </p:nvSpPr>
          <p:spPr>
            <a:xfrm>
              <a:off x="2074863" y="5486400"/>
              <a:ext cx="5238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26" name="node02.items.slot-003.swatch"/>
            <p:cNvSpPr/>
            <p:nvPr/>
          </p:nvSpPr>
          <p:spPr>
            <a:xfrm>
              <a:off x="2827338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27" name="node02.items.slot-003.text"/>
            <p:cNvSpPr/>
            <p:nvPr/>
          </p:nvSpPr>
          <p:spPr>
            <a:xfrm>
              <a:off x="3119438" y="5486400"/>
              <a:ext cx="582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28" name="node02.items.slot-004.swatch"/>
            <p:cNvSpPr/>
            <p:nvPr/>
          </p:nvSpPr>
          <p:spPr>
            <a:xfrm>
              <a:off x="3930650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29" name="node02.items.slot-004.text"/>
            <p:cNvSpPr/>
            <p:nvPr/>
          </p:nvSpPr>
          <p:spPr>
            <a:xfrm>
              <a:off x="4222750" y="5486400"/>
              <a:ext cx="6778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0" name="node02.items.slot-005.swatch"/>
            <p:cNvSpPr/>
            <p:nvPr/>
          </p:nvSpPr>
          <p:spPr>
            <a:xfrm>
              <a:off x="5129213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1" name="node02.items.slot-005.text"/>
            <p:cNvSpPr/>
            <p:nvPr/>
          </p:nvSpPr>
          <p:spPr>
            <a:xfrm>
              <a:off x="5421313" y="5486400"/>
              <a:ext cx="7556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0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The front door trails every other group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Northfield Health System assessment, Sep 2026.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2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70" name="node01"/>
          <p:cNvGrpSpPr/>
          <p:nvPr/>
        </p:nvGrpSpPr>
        <p:grpSpPr>
          <a:xfrm>
            <a:off x="723900" y="1600200"/>
            <a:ext cx="10744200" cy="3708400"/>
            <a:chOff x="723900" y="1600200"/>
            <a:chExt cx="10744200" cy="3708400"/>
          </a:xfrm>
        </p:grpSpPr>
        <p:sp>
          <p:nvSpPr>
            <p:cNvPr id="7" name="node01.row.item-001.c1.heat-gap"/>
            <p:cNvSpPr/>
            <p:nvPr/>
          </p:nvSpPr>
          <p:spPr>
            <a:xfrm>
              <a:off x="3238500" y="1955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c1.heat"/>
            <p:cNvSpPr/>
            <p:nvPr/>
          </p:nvSpPr>
          <p:spPr>
            <a:xfrm>
              <a:off x="3257550" y="19748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" name="node01.row.item-001.c2.heat-gap"/>
            <p:cNvSpPr/>
            <p:nvPr/>
          </p:nvSpPr>
          <p:spPr>
            <a:xfrm>
              <a:off x="4483100" y="1955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c2.heat"/>
            <p:cNvSpPr/>
            <p:nvPr/>
          </p:nvSpPr>
          <p:spPr>
            <a:xfrm>
              <a:off x="4502150" y="19748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" name="node01.row.item-001.c3.heat-gap"/>
            <p:cNvSpPr/>
            <p:nvPr/>
          </p:nvSpPr>
          <p:spPr>
            <a:xfrm>
              <a:off x="5727700" y="1955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c3.heat"/>
            <p:cNvSpPr/>
            <p:nvPr/>
          </p:nvSpPr>
          <p:spPr>
            <a:xfrm>
              <a:off x="5746750" y="19748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3" name="node01.row.item-001.c4.heat-gap"/>
            <p:cNvSpPr/>
            <p:nvPr/>
          </p:nvSpPr>
          <p:spPr>
            <a:xfrm>
              <a:off x="6972300" y="1955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c4.heat"/>
            <p:cNvSpPr/>
            <p:nvPr/>
          </p:nvSpPr>
          <p:spPr>
            <a:xfrm>
              <a:off x="6991350" y="19748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5" name="node01.row.item-001.c5.heat-gap"/>
            <p:cNvSpPr/>
            <p:nvPr/>
          </p:nvSpPr>
          <p:spPr>
            <a:xfrm>
              <a:off x="8216900" y="1955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c5.heat"/>
            <p:cNvSpPr/>
            <p:nvPr/>
          </p:nvSpPr>
          <p:spPr>
            <a:xfrm>
              <a:off x="8235950" y="19748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7" name="node01.row.item-001.c6.heat-gap"/>
            <p:cNvSpPr/>
            <p:nvPr/>
          </p:nvSpPr>
          <p:spPr>
            <a:xfrm>
              <a:off x="9461500" y="1955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1.c6.heat"/>
            <p:cNvSpPr/>
            <p:nvPr/>
          </p:nvSpPr>
          <p:spPr>
            <a:xfrm>
              <a:off x="9480550" y="19748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c1.heat-gap"/>
            <p:cNvSpPr/>
            <p:nvPr/>
          </p:nvSpPr>
          <p:spPr>
            <a:xfrm>
              <a:off x="3238500" y="2235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c1.heat"/>
            <p:cNvSpPr/>
            <p:nvPr/>
          </p:nvSpPr>
          <p:spPr>
            <a:xfrm>
              <a:off x="3257550" y="22542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21" name="node01.row.item-002.c2.heat-gap"/>
            <p:cNvSpPr/>
            <p:nvPr/>
          </p:nvSpPr>
          <p:spPr>
            <a:xfrm>
              <a:off x="4483100" y="2235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c2.heat"/>
            <p:cNvSpPr/>
            <p:nvPr/>
          </p:nvSpPr>
          <p:spPr>
            <a:xfrm>
              <a:off x="4502150" y="22542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3" name="node01.row.item-002.c3.heat-gap"/>
            <p:cNvSpPr/>
            <p:nvPr/>
          </p:nvSpPr>
          <p:spPr>
            <a:xfrm>
              <a:off x="5727700" y="2235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c3.heat"/>
            <p:cNvSpPr/>
            <p:nvPr/>
          </p:nvSpPr>
          <p:spPr>
            <a:xfrm>
              <a:off x="5746750" y="22542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5" name="node01.row.item-002.c4.heat-gap"/>
            <p:cNvSpPr/>
            <p:nvPr/>
          </p:nvSpPr>
          <p:spPr>
            <a:xfrm>
              <a:off x="6972300" y="2235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c4.heat"/>
            <p:cNvSpPr/>
            <p:nvPr/>
          </p:nvSpPr>
          <p:spPr>
            <a:xfrm>
              <a:off x="6991350" y="22542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7" name="node01.row.item-002.c5.heat-gap"/>
            <p:cNvSpPr/>
            <p:nvPr/>
          </p:nvSpPr>
          <p:spPr>
            <a:xfrm>
              <a:off x="8216900" y="2235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2.c5.heat"/>
            <p:cNvSpPr/>
            <p:nvPr/>
          </p:nvSpPr>
          <p:spPr>
            <a:xfrm>
              <a:off x="8235950" y="22542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9" name="node01.row.item-002.c6.heat-gap"/>
            <p:cNvSpPr/>
            <p:nvPr/>
          </p:nvSpPr>
          <p:spPr>
            <a:xfrm>
              <a:off x="9461500" y="2235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2.c6.heat"/>
            <p:cNvSpPr/>
            <p:nvPr/>
          </p:nvSpPr>
          <p:spPr>
            <a:xfrm>
              <a:off x="9480550" y="22542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1" name="node01.row.item-003.c1.heat-gap"/>
            <p:cNvSpPr/>
            <p:nvPr/>
          </p:nvSpPr>
          <p:spPr>
            <a:xfrm>
              <a:off x="3238500" y="2514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c1.heat"/>
            <p:cNvSpPr/>
            <p:nvPr/>
          </p:nvSpPr>
          <p:spPr>
            <a:xfrm>
              <a:off x="3257550" y="25336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3" name="node01.row.item-003.c2.heat-gap"/>
            <p:cNvSpPr/>
            <p:nvPr/>
          </p:nvSpPr>
          <p:spPr>
            <a:xfrm>
              <a:off x="4483100" y="2514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c2.heat"/>
            <p:cNvSpPr/>
            <p:nvPr/>
          </p:nvSpPr>
          <p:spPr>
            <a:xfrm>
              <a:off x="4502150" y="25336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5" name="node01.row.item-003.c3.heat-gap"/>
            <p:cNvSpPr/>
            <p:nvPr/>
          </p:nvSpPr>
          <p:spPr>
            <a:xfrm>
              <a:off x="5727700" y="2514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c3.heat"/>
            <p:cNvSpPr/>
            <p:nvPr/>
          </p:nvSpPr>
          <p:spPr>
            <a:xfrm>
              <a:off x="5746750" y="25336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7" name="node01.row.item-003.c4.heat-gap"/>
            <p:cNvSpPr/>
            <p:nvPr/>
          </p:nvSpPr>
          <p:spPr>
            <a:xfrm>
              <a:off x="6972300" y="2514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3.c4.heat"/>
            <p:cNvSpPr/>
            <p:nvPr/>
          </p:nvSpPr>
          <p:spPr>
            <a:xfrm>
              <a:off x="6991350" y="25336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9" name="node01.row.item-003.c5.heat-gap"/>
            <p:cNvSpPr/>
            <p:nvPr/>
          </p:nvSpPr>
          <p:spPr>
            <a:xfrm>
              <a:off x="8216900" y="2514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3.c5.heat"/>
            <p:cNvSpPr/>
            <p:nvPr/>
          </p:nvSpPr>
          <p:spPr>
            <a:xfrm>
              <a:off x="8235950" y="25336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1" name="node01.row.item-003.c6.heat-gap"/>
            <p:cNvSpPr/>
            <p:nvPr/>
          </p:nvSpPr>
          <p:spPr>
            <a:xfrm>
              <a:off x="9461500" y="2514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3.c6.heat"/>
            <p:cNvSpPr/>
            <p:nvPr/>
          </p:nvSpPr>
          <p:spPr>
            <a:xfrm>
              <a:off x="9480550" y="2533650"/>
              <a:ext cx="1206500" cy="241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43" name="node01.row.item-004.c1.heat-gap"/>
            <p:cNvSpPr/>
            <p:nvPr/>
          </p:nvSpPr>
          <p:spPr>
            <a:xfrm>
              <a:off x="3238500" y="2794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c1.heat"/>
            <p:cNvSpPr/>
            <p:nvPr/>
          </p:nvSpPr>
          <p:spPr>
            <a:xfrm>
              <a:off x="3257550" y="2813050"/>
              <a:ext cx="1206500" cy="2413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45" name="node01.row.item-004.c2.heat-gap"/>
            <p:cNvSpPr/>
            <p:nvPr/>
          </p:nvSpPr>
          <p:spPr>
            <a:xfrm>
              <a:off x="4483100" y="2794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c2.heat"/>
            <p:cNvSpPr/>
            <p:nvPr/>
          </p:nvSpPr>
          <p:spPr>
            <a:xfrm>
              <a:off x="4502150" y="28130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7" name="node01.row.item-004.c3.heat-gap"/>
            <p:cNvSpPr/>
            <p:nvPr/>
          </p:nvSpPr>
          <p:spPr>
            <a:xfrm>
              <a:off x="5727700" y="2794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4.c3.heat"/>
            <p:cNvSpPr/>
            <p:nvPr/>
          </p:nvSpPr>
          <p:spPr>
            <a:xfrm>
              <a:off x="5746750" y="28130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9" name="node01.row.item-004.c4.heat-gap"/>
            <p:cNvSpPr/>
            <p:nvPr/>
          </p:nvSpPr>
          <p:spPr>
            <a:xfrm>
              <a:off x="6972300" y="2794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4.c4.heat"/>
            <p:cNvSpPr/>
            <p:nvPr/>
          </p:nvSpPr>
          <p:spPr>
            <a:xfrm>
              <a:off x="6991350" y="28130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1" name="node01.row.item-004.c5.heat-gap"/>
            <p:cNvSpPr/>
            <p:nvPr/>
          </p:nvSpPr>
          <p:spPr>
            <a:xfrm>
              <a:off x="8216900" y="2794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4.c5.heat"/>
            <p:cNvSpPr/>
            <p:nvPr/>
          </p:nvSpPr>
          <p:spPr>
            <a:xfrm>
              <a:off x="8235950" y="28130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3" name="node01.row.item-004.c6.heat-gap"/>
            <p:cNvSpPr/>
            <p:nvPr/>
          </p:nvSpPr>
          <p:spPr>
            <a:xfrm>
              <a:off x="9461500" y="2794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4.c6.heat"/>
            <p:cNvSpPr/>
            <p:nvPr/>
          </p:nvSpPr>
          <p:spPr>
            <a:xfrm>
              <a:off x="9480550" y="28130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5" name="node01.row.item-005.c1.heat-gap"/>
            <p:cNvSpPr/>
            <p:nvPr/>
          </p:nvSpPr>
          <p:spPr>
            <a:xfrm>
              <a:off x="3238500" y="3073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c1.heat"/>
            <p:cNvSpPr/>
            <p:nvPr/>
          </p:nvSpPr>
          <p:spPr>
            <a:xfrm>
              <a:off x="3257550" y="30924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7" name="node01.row.item-005.c2.heat-gap"/>
            <p:cNvSpPr/>
            <p:nvPr/>
          </p:nvSpPr>
          <p:spPr>
            <a:xfrm>
              <a:off x="4483100" y="3073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5.c2.heat"/>
            <p:cNvSpPr/>
            <p:nvPr/>
          </p:nvSpPr>
          <p:spPr>
            <a:xfrm>
              <a:off x="4502150" y="30924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9" name="node01.row.item-005.c3.heat-gap"/>
            <p:cNvSpPr/>
            <p:nvPr/>
          </p:nvSpPr>
          <p:spPr>
            <a:xfrm>
              <a:off x="5727700" y="3073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5.c3.heat"/>
            <p:cNvSpPr/>
            <p:nvPr/>
          </p:nvSpPr>
          <p:spPr>
            <a:xfrm>
              <a:off x="5746750" y="30924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1" name="node01.row.item-005.c4.heat-gap"/>
            <p:cNvSpPr/>
            <p:nvPr/>
          </p:nvSpPr>
          <p:spPr>
            <a:xfrm>
              <a:off x="6972300" y="3073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5.c4.heat"/>
            <p:cNvSpPr/>
            <p:nvPr/>
          </p:nvSpPr>
          <p:spPr>
            <a:xfrm>
              <a:off x="6991350" y="30924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3" name="node01.row.item-005.c5.heat-gap"/>
            <p:cNvSpPr/>
            <p:nvPr/>
          </p:nvSpPr>
          <p:spPr>
            <a:xfrm>
              <a:off x="8216900" y="3073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5.c5.heat"/>
            <p:cNvSpPr/>
            <p:nvPr/>
          </p:nvSpPr>
          <p:spPr>
            <a:xfrm>
              <a:off x="8235950" y="30924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5" name="node01.row.item-005.c6.heat-gap"/>
            <p:cNvSpPr/>
            <p:nvPr/>
          </p:nvSpPr>
          <p:spPr>
            <a:xfrm>
              <a:off x="9461500" y="3073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5.c6.heat"/>
            <p:cNvSpPr/>
            <p:nvPr/>
          </p:nvSpPr>
          <p:spPr>
            <a:xfrm>
              <a:off x="9480550" y="30924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7" name="node01.row.item-006.c1.heat-gap"/>
            <p:cNvSpPr/>
            <p:nvPr/>
          </p:nvSpPr>
          <p:spPr>
            <a:xfrm>
              <a:off x="3238500" y="3352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node01.row.item-006.c1.heat"/>
            <p:cNvSpPr/>
            <p:nvPr/>
          </p:nvSpPr>
          <p:spPr>
            <a:xfrm>
              <a:off x="3257550" y="33718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69" name="node01.row.item-006.c2.heat-gap"/>
            <p:cNvSpPr/>
            <p:nvPr/>
          </p:nvSpPr>
          <p:spPr>
            <a:xfrm>
              <a:off x="4483100" y="3352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node01.row.item-006.c2.heat"/>
            <p:cNvSpPr/>
            <p:nvPr/>
          </p:nvSpPr>
          <p:spPr>
            <a:xfrm>
              <a:off x="4502150" y="33718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1" name="node01.row.item-006.c3.heat-gap"/>
            <p:cNvSpPr/>
            <p:nvPr/>
          </p:nvSpPr>
          <p:spPr>
            <a:xfrm>
              <a:off x="5727700" y="3352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node01.row.item-006.c3.heat"/>
            <p:cNvSpPr/>
            <p:nvPr/>
          </p:nvSpPr>
          <p:spPr>
            <a:xfrm>
              <a:off x="5746750" y="33718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3" name="node01.row.item-006.c4.heat-gap"/>
            <p:cNvSpPr/>
            <p:nvPr/>
          </p:nvSpPr>
          <p:spPr>
            <a:xfrm>
              <a:off x="6972300" y="3352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node01.row.item-006.c4.heat"/>
            <p:cNvSpPr/>
            <p:nvPr/>
          </p:nvSpPr>
          <p:spPr>
            <a:xfrm>
              <a:off x="6991350" y="33718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5" name="node01.row.item-006.c5.heat-gap"/>
            <p:cNvSpPr/>
            <p:nvPr/>
          </p:nvSpPr>
          <p:spPr>
            <a:xfrm>
              <a:off x="8216900" y="3352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node01.row.item-006.c5.heat"/>
            <p:cNvSpPr/>
            <p:nvPr/>
          </p:nvSpPr>
          <p:spPr>
            <a:xfrm>
              <a:off x="8235950" y="33718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7" name="node01.row.item-006.c6.heat-gap"/>
            <p:cNvSpPr/>
            <p:nvPr/>
          </p:nvSpPr>
          <p:spPr>
            <a:xfrm>
              <a:off x="9461500" y="3352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node01.row.item-006.c6.heat"/>
            <p:cNvSpPr/>
            <p:nvPr/>
          </p:nvSpPr>
          <p:spPr>
            <a:xfrm>
              <a:off x="9480550" y="33718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9" name="node01.row.item-007.c1.heat-gap"/>
            <p:cNvSpPr/>
            <p:nvPr/>
          </p:nvSpPr>
          <p:spPr>
            <a:xfrm>
              <a:off x="3238500" y="3632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node01.row.item-007.c1.heat"/>
            <p:cNvSpPr/>
            <p:nvPr/>
          </p:nvSpPr>
          <p:spPr>
            <a:xfrm>
              <a:off x="3257550" y="3651250"/>
              <a:ext cx="1206500" cy="2413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1" name="node01.row.item-007.c2.heat-gap"/>
            <p:cNvSpPr/>
            <p:nvPr/>
          </p:nvSpPr>
          <p:spPr>
            <a:xfrm>
              <a:off x="4483100" y="3632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node01.row.item-007.c2.heat"/>
            <p:cNvSpPr/>
            <p:nvPr/>
          </p:nvSpPr>
          <p:spPr>
            <a:xfrm>
              <a:off x="4502150" y="36512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3" name="node01.row.item-007.c3.heat-gap"/>
            <p:cNvSpPr/>
            <p:nvPr/>
          </p:nvSpPr>
          <p:spPr>
            <a:xfrm>
              <a:off x="5727700" y="3632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node01.row.item-007.c3.heat"/>
            <p:cNvSpPr/>
            <p:nvPr/>
          </p:nvSpPr>
          <p:spPr>
            <a:xfrm>
              <a:off x="5746750" y="36512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5" name="node01.row.item-007.c4.heat-gap"/>
            <p:cNvSpPr/>
            <p:nvPr/>
          </p:nvSpPr>
          <p:spPr>
            <a:xfrm>
              <a:off x="6972300" y="3632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node01.row.item-007.c4.heat"/>
            <p:cNvSpPr/>
            <p:nvPr/>
          </p:nvSpPr>
          <p:spPr>
            <a:xfrm>
              <a:off x="6991350" y="36512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7" name="node01.row.item-007.c5.heat-gap"/>
            <p:cNvSpPr/>
            <p:nvPr/>
          </p:nvSpPr>
          <p:spPr>
            <a:xfrm>
              <a:off x="8216900" y="3632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node01.row.item-007.c5.heat"/>
            <p:cNvSpPr/>
            <p:nvPr/>
          </p:nvSpPr>
          <p:spPr>
            <a:xfrm>
              <a:off x="8235950" y="36512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9" name="node01.row.item-007.c6.heat-gap"/>
            <p:cNvSpPr/>
            <p:nvPr/>
          </p:nvSpPr>
          <p:spPr>
            <a:xfrm>
              <a:off x="9461500" y="3632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node01.row.item-007.c6.heat"/>
            <p:cNvSpPr/>
            <p:nvPr/>
          </p:nvSpPr>
          <p:spPr>
            <a:xfrm>
              <a:off x="9480550" y="36512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1" name="node01.row.item-008.c1.heat-gap"/>
            <p:cNvSpPr/>
            <p:nvPr/>
          </p:nvSpPr>
          <p:spPr>
            <a:xfrm>
              <a:off x="3238500" y="3911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node01.row.item-008.c1.heat"/>
            <p:cNvSpPr/>
            <p:nvPr/>
          </p:nvSpPr>
          <p:spPr>
            <a:xfrm>
              <a:off x="3257550" y="39306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3" name="node01.row.item-008.c2.heat-gap"/>
            <p:cNvSpPr/>
            <p:nvPr/>
          </p:nvSpPr>
          <p:spPr>
            <a:xfrm>
              <a:off x="4483100" y="3911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4" name="node01.row.item-008.c2.heat"/>
            <p:cNvSpPr/>
            <p:nvPr/>
          </p:nvSpPr>
          <p:spPr>
            <a:xfrm>
              <a:off x="4502150" y="39306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5" name="node01.row.item-008.c3.heat-gap"/>
            <p:cNvSpPr/>
            <p:nvPr/>
          </p:nvSpPr>
          <p:spPr>
            <a:xfrm>
              <a:off x="5727700" y="3911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6" name="node01.row.item-008.c3.heat"/>
            <p:cNvSpPr/>
            <p:nvPr/>
          </p:nvSpPr>
          <p:spPr>
            <a:xfrm>
              <a:off x="5746750" y="39306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7" name="node01.row.item-008.c4.heat-gap"/>
            <p:cNvSpPr/>
            <p:nvPr/>
          </p:nvSpPr>
          <p:spPr>
            <a:xfrm>
              <a:off x="6972300" y="3911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8" name="node01.row.item-008.c4.heat"/>
            <p:cNvSpPr/>
            <p:nvPr/>
          </p:nvSpPr>
          <p:spPr>
            <a:xfrm>
              <a:off x="6991350" y="39306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9" name="node01.row.item-008.c5.heat-gap"/>
            <p:cNvSpPr/>
            <p:nvPr/>
          </p:nvSpPr>
          <p:spPr>
            <a:xfrm>
              <a:off x="8216900" y="3911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0" name="node01.row.item-008.c5.heat"/>
            <p:cNvSpPr/>
            <p:nvPr/>
          </p:nvSpPr>
          <p:spPr>
            <a:xfrm>
              <a:off x="8235950" y="39306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1" name="node01.row.item-008.c6.heat-gap"/>
            <p:cNvSpPr/>
            <p:nvPr/>
          </p:nvSpPr>
          <p:spPr>
            <a:xfrm>
              <a:off x="9461500" y="39116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2" name="node01.row.item-008.c6.heat"/>
            <p:cNvSpPr/>
            <p:nvPr/>
          </p:nvSpPr>
          <p:spPr>
            <a:xfrm>
              <a:off x="9480550" y="3930650"/>
              <a:ext cx="1206500" cy="241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03" name="node01.row.item-009.c1.heat-gap"/>
            <p:cNvSpPr/>
            <p:nvPr/>
          </p:nvSpPr>
          <p:spPr>
            <a:xfrm>
              <a:off x="3238500" y="4191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4" name="node01.row.item-009.c1.heat"/>
            <p:cNvSpPr/>
            <p:nvPr/>
          </p:nvSpPr>
          <p:spPr>
            <a:xfrm>
              <a:off x="3257550" y="42100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05" name="node01.row.item-009.c2.heat-gap"/>
            <p:cNvSpPr/>
            <p:nvPr/>
          </p:nvSpPr>
          <p:spPr>
            <a:xfrm>
              <a:off x="4483100" y="4191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6" name="node01.row.item-009.c2.heat"/>
            <p:cNvSpPr/>
            <p:nvPr/>
          </p:nvSpPr>
          <p:spPr>
            <a:xfrm>
              <a:off x="4502150" y="42100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07" name="node01.row.item-009.c3.heat-gap"/>
            <p:cNvSpPr/>
            <p:nvPr/>
          </p:nvSpPr>
          <p:spPr>
            <a:xfrm>
              <a:off x="5727700" y="4191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8" name="node01.row.item-009.c3.heat"/>
            <p:cNvSpPr/>
            <p:nvPr/>
          </p:nvSpPr>
          <p:spPr>
            <a:xfrm>
              <a:off x="5746750" y="42100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9" name="node01.row.item-009.c4.heat-gap"/>
            <p:cNvSpPr/>
            <p:nvPr/>
          </p:nvSpPr>
          <p:spPr>
            <a:xfrm>
              <a:off x="6972300" y="4191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0" name="node01.row.item-009.c4.heat"/>
            <p:cNvSpPr/>
            <p:nvPr/>
          </p:nvSpPr>
          <p:spPr>
            <a:xfrm>
              <a:off x="6991350" y="42100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1" name="node01.row.item-009.c5.heat-gap"/>
            <p:cNvSpPr/>
            <p:nvPr/>
          </p:nvSpPr>
          <p:spPr>
            <a:xfrm>
              <a:off x="8216900" y="4191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2" name="node01.row.item-009.c5.heat"/>
            <p:cNvSpPr/>
            <p:nvPr/>
          </p:nvSpPr>
          <p:spPr>
            <a:xfrm>
              <a:off x="8235950" y="42100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3" name="node01.row.item-009.c6.heat-gap"/>
            <p:cNvSpPr/>
            <p:nvPr/>
          </p:nvSpPr>
          <p:spPr>
            <a:xfrm>
              <a:off x="9461500" y="41910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4" name="node01.row.item-009.c6.heat"/>
            <p:cNvSpPr/>
            <p:nvPr/>
          </p:nvSpPr>
          <p:spPr>
            <a:xfrm>
              <a:off x="9480550" y="42100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5" name="node01.row.item-010.c1.heat-gap"/>
            <p:cNvSpPr/>
            <p:nvPr/>
          </p:nvSpPr>
          <p:spPr>
            <a:xfrm>
              <a:off x="3238500" y="4470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6" name="node01.row.item-010.c1.heat"/>
            <p:cNvSpPr/>
            <p:nvPr/>
          </p:nvSpPr>
          <p:spPr>
            <a:xfrm>
              <a:off x="3257550" y="44894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17" name="node01.row.item-010.c2.heat-gap"/>
            <p:cNvSpPr/>
            <p:nvPr/>
          </p:nvSpPr>
          <p:spPr>
            <a:xfrm>
              <a:off x="4483100" y="4470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8" name="node01.row.item-010.c2.heat"/>
            <p:cNvSpPr/>
            <p:nvPr/>
          </p:nvSpPr>
          <p:spPr>
            <a:xfrm>
              <a:off x="4502150" y="44894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9" name="node01.row.item-010.c3.heat-gap"/>
            <p:cNvSpPr/>
            <p:nvPr/>
          </p:nvSpPr>
          <p:spPr>
            <a:xfrm>
              <a:off x="5727700" y="4470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0" name="node01.row.item-010.c3.heat"/>
            <p:cNvSpPr/>
            <p:nvPr/>
          </p:nvSpPr>
          <p:spPr>
            <a:xfrm>
              <a:off x="5746750" y="44894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21" name="node01.row.item-010.c4.heat-gap"/>
            <p:cNvSpPr/>
            <p:nvPr/>
          </p:nvSpPr>
          <p:spPr>
            <a:xfrm>
              <a:off x="6972300" y="4470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2" name="node01.row.item-010.c4.heat"/>
            <p:cNvSpPr/>
            <p:nvPr/>
          </p:nvSpPr>
          <p:spPr>
            <a:xfrm>
              <a:off x="6991350" y="44894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23" name="node01.row.item-010.c5.heat-gap"/>
            <p:cNvSpPr/>
            <p:nvPr/>
          </p:nvSpPr>
          <p:spPr>
            <a:xfrm>
              <a:off x="8216900" y="4470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4" name="node01.row.item-010.c5.heat"/>
            <p:cNvSpPr/>
            <p:nvPr/>
          </p:nvSpPr>
          <p:spPr>
            <a:xfrm>
              <a:off x="8235950" y="44894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25" name="node01.row.item-010.c6.heat-gap"/>
            <p:cNvSpPr/>
            <p:nvPr/>
          </p:nvSpPr>
          <p:spPr>
            <a:xfrm>
              <a:off x="9461500" y="44704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6" name="node01.row.item-010.c6.heat"/>
            <p:cNvSpPr/>
            <p:nvPr/>
          </p:nvSpPr>
          <p:spPr>
            <a:xfrm>
              <a:off x="9480550" y="44894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27" name="node01.row.item-011.c1.heat-gap"/>
            <p:cNvSpPr/>
            <p:nvPr/>
          </p:nvSpPr>
          <p:spPr>
            <a:xfrm>
              <a:off x="3238500" y="4749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8" name="node01.row.item-011.c1.heat"/>
            <p:cNvSpPr/>
            <p:nvPr/>
          </p:nvSpPr>
          <p:spPr>
            <a:xfrm>
              <a:off x="3257550" y="47688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29" name="node01.row.item-011.c2.heat-gap"/>
            <p:cNvSpPr/>
            <p:nvPr/>
          </p:nvSpPr>
          <p:spPr>
            <a:xfrm>
              <a:off x="4483100" y="4749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0" name="node01.row.item-011.c2.heat"/>
            <p:cNvSpPr/>
            <p:nvPr/>
          </p:nvSpPr>
          <p:spPr>
            <a:xfrm>
              <a:off x="4502150" y="47688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31" name="node01.row.item-011.c3.heat-gap"/>
            <p:cNvSpPr/>
            <p:nvPr/>
          </p:nvSpPr>
          <p:spPr>
            <a:xfrm>
              <a:off x="5727700" y="4749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2" name="node01.row.item-011.c3.heat"/>
            <p:cNvSpPr/>
            <p:nvPr/>
          </p:nvSpPr>
          <p:spPr>
            <a:xfrm>
              <a:off x="5746750" y="47688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3" name="node01.row.item-011.c4.heat-gap"/>
            <p:cNvSpPr/>
            <p:nvPr/>
          </p:nvSpPr>
          <p:spPr>
            <a:xfrm>
              <a:off x="6972300" y="4749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4" name="node01.row.item-011.c4.heat"/>
            <p:cNvSpPr/>
            <p:nvPr/>
          </p:nvSpPr>
          <p:spPr>
            <a:xfrm>
              <a:off x="6991350" y="47688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5" name="node01.row.item-011.c5.heat-gap"/>
            <p:cNvSpPr/>
            <p:nvPr/>
          </p:nvSpPr>
          <p:spPr>
            <a:xfrm>
              <a:off x="8216900" y="4749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6" name="node01.row.item-011.c5.heat"/>
            <p:cNvSpPr/>
            <p:nvPr/>
          </p:nvSpPr>
          <p:spPr>
            <a:xfrm>
              <a:off x="8235950" y="47688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37" name="node01.row.item-011.c6.heat-gap"/>
            <p:cNvSpPr/>
            <p:nvPr/>
          </p:nvSpPr>
          <p:spPr>
            <a:xfrm>
              <a:off x="9461500" y="47498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8" name="node01.row.item-011.c6.heat"/>
            <p:cNvSpPr/>
            <p:nvPr/>
          </p:nvSpPr>
          <p:spPr>
            <a:xfrm>
              <a:off x="9480550" y="4768850"/>
              <a:ext cx="1206500" cy="241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9" name="node01.row.item-012.c1.heat-gap"/>
            <p:cNvSpPr/>
            <p:nvPr/>
          </p:nvSpPr>
          <p:spPr>
            <a:xfrm>
              <a:off x="3238500" y="5029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0" name="node01.row.item-012.c1.heat"/>
            <p:cNvSpPr/>
            <p:nvPr/>
          </p:nvSpPr>
          <p:spPr>
            <a:xfrm>
              <a:off x="3257550" y="5048250"/>
              <a:ext cx="1206500" cy="2413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1" name="node01.row.item-012.c2.heat-gap"/>
            <p:cNvSpPr/>
            <p:nvPr/>
          </p:nvSpPr>
          <p:spPr>
            <a:xfrm>
              <a:off x="4483100" y="5029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2" name="node01.row.item-012.c2.heat"/>
            <p:cNvSpPr/>
            <p:nvPr/>
          </p:nvSpPr>
          <p:spPr>
            <a:xfrm>
              <a:off x="4502150" y="50482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43" name="node01.row.item-012.c3.heat-gap"/>
            <p:cNvSpPr/>
            <p:nvPr/>
          </p:nvSpPr>
          <p:spPr>
            <a:xfrm>
              <a:off x="5727700" y="5029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4" name="node01.row.item-012.c3.heat"/>
            <p:cNvSpPr/>
            <p:nvPr/>
          </p:nvSpPr>
          <p:spPr>
            <a:xfrm>
              <a:off x="5746750" y="50482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45" name="node01.row.item-012.c4.heat-gap"/>
            <p:cNvSpPr/>
            <p:nvPr/>
          </p:nvSpPr>
          <p:spPr>
            <a:xfrm>
              <a:off x="6972300" y="5029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6" name="node01.row.item-012.c4.heat"/>
            <p:cNvSpPr/>
            <p:nvPr/>
          </p:nvSpPr>
          <p:spPr>
            <a:xfrm>
              <a:off x="6991350" y="50482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47" name="node01.row.item-012.c5.heat-gap"/>
            <p:cNvSpPr/>
            <p:nvPr/>
          </p:nvSpPr>
          <p:spPr>
            <a:xfrm>
              <a:off x="8216900" y="5029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8" name="node01.row.item-012.c5.heat"/>
            <p:cNvSpPr/>
            <p:nvPr/>
          </p:nvSpPr>
          <p:spPr>
            <a:xfrm>
              <a:off x="8235950" y="5048250"/>
              <a:ext cx="1206500" cy="241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49" name="node01.row.item-012.c6.heat-gap"/>
            <p:cNvSpPr/>
            <p:nvPr/>
          </p:nvSpPr>
          <p:spPr>
            <a:xfrm>
              <a:off x="9461500" y="5029200"/>
              <a:ext cx="1244600" cy="279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0" name="node01.row.item-012.c6.heat"/>
            <p:cNvSpPr/>
            <p:nvPr/>
          </p:nvSpPr>
          <p:spPr>
            <a:xfrm>
              <a:off x="9480550" y="5048250"/>
              <a:ext cx="1206500" cy="241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graphicFrame>
          <p:nvGraphicFramePr>
            <p:cNvPr id="151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1104900" y="1600200"/>
            <a:ext cx="10363200" cy="3708400"/>
          </p:xfrm>
          <a:graphic>
            <a:graphicData uri="http://schemas.openxmlformats.org/drawingml/2006/table">
              <a:tbl>
                <a:tblPr/>
                <a:tblGrid>
                  <a:gridCol w="2133600"/>
                  <a:gridCol w="1244600"/>
                  <a:gridCol w="1244600"/>
                  <a:gridCol w="1244600"/>
                  <a:gridCol w="1244600"/>
                  <a:gridCol w="1244600"/>
                  <a:gridCol w="1244600"/>
                  <a:gridCol w="7620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MAIN CAMPUS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LAKESIDE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EASTGATE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RIDGEVIEW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ST. ANNE'S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HARBOR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AVERAGE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2.0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Scheduling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2.0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1.3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2.8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billing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2.2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1.8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2.7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1.3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Supply chain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2.3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Workforce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1.8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Data and analytics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1.7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279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Cybersecurity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3.0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152" name="node01.row-group.source-001.fill"/>
            <p:cNvSpPr/>
            <p:nvPr/>
          </p:nvSpPr>
          <p:spPr>
            <a:xfrm>
              <a:off x="723900" y="1974850"/>
              <a:ext cx="304800" cy="800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53" name="node01.row-group.source-001.label"/>
            <p:cNvSpPr/>
            <p:nvPr/>
          </p:nvSpPr>
          <p:spPr>
            <a:xfrm rot="-5400000">
              <a:off x="476250" y="2298700"/>
              <a:ext cx="8001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FRONT DOOR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54" name="node01.row-group.source-002.fill"/>
            <p:cNvSpPr/>
            <p:nvPr/>
          </p:nvSpPr>
          <p:spPr>
            <a:xfrm>
              <a:off x="723900" y="2813050"/>
              <a:ext cx="304800" cy="800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55" name="node01.row-group.source-002.label"/>
            <p:cNvSpPr/>
            <p:nvPr/>
          </p:nvSpPr>
          <p:spPr>
            <a:xfrm rot="-5400000">
              <a:off x="476250" y="3136900"/>
              <a:ext cx="8001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REVENUE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56" name="node01.row-group.source-003.fill"/>
            <p:cNvSpPr/>
            <p:nvPr/>
          </p:nvSpPr>
          <p:spPr>
            <a:xfrm>
              <a:off x="723900" y="3651250"/>
              <a:ext cx="304800" cy="800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57" name="node01.row-group.source-003.label"/>
            <p:cNvSpPr/>
            <p:nvPr/>
          </p:nvSpPr>
          <p:spPr>
            <a:xfrm rot="-5400000">
              <a:off x="476250" y="3975100"/>
              <a:ext cx="8001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DELIVERY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58" name="node01.row-group.source-004.fill"/>
            <p:cNvSpPr/>
            <p:nvPr/>
          </p:nvSpPr>
          <p:spPr>
            <a:xfrm>
              <a:off x="723900" y="4489450"/>
              <a:ext cx="304800" cy="800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59" name="node01.row-group.source-004.label"/>
            <p:cNvSpPr/>
            <p:nvPr/>
          </p:nvSpPr>
          <p:spPr>
            <a:xfrm rot="-5400000">
              <a:off x="476250" y="4813300"/>
              <a:ext cx="8001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ENTERPRISE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</p:grpSp>
      <p:grpSp>
        <p:nvGrpSpPr>
          <p:cNvPr id="171" name="node02"/>
          <p:cNvGrpSpPr/>
          <p:nvPr/>
        </p:nvGrpSpPr>
        <p:grpSpPr>
          <a:xfrm>
            <a:off x="723900" y="5486400"/>
            <a:ext cx="5453063" cy="228600"/>
            <a:chOff x="723900" y="5486400"/>
            <a:chExt cx="5453063" cy="228600"/>
          </a:xfrm>
        </p:grpSpPr>
        <p:sp>
          <p:nvSpPr>
            <p:cNvPr id="160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61" name="node02.items.slot-001.text"/>
            <p:cNvSpPr/>
            <p:nvPr/>
          </p:nvSpPr>
          <p:spPr>
            <a:xfrm>
              <a:off x="1016000" y="5486400"/>
              <a:ext cx="5381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Absent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62" name="node02.items.slot-002.swatch"/>
            <p:cNvSpPr/>
            <p:nvPr/>
          </p:nvSpPr>
          <p:spPr>
            <a:xfrm>
              <a:off x="17827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63" name="node02.items.slot-002.text"/>
            <p:cNvSpPr/>
            <p:nvPr/>
          </p:nvSpPr>
          <p:spPr>
            <a:xfrm>
              <a:off x="2074863" y="5486400"/>
              <a:ext cx="5238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64" name="node02.items.slot-003.swatch"/>
            <p:cNvSpPr/>
            <p:nvPr/>
          </p:nvSpPr>
          <p:spPr>
            <a:xfrm>
              <a:off x="2827338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65" name="node02.items.slot-003.text"/>
            <p:cNvSpPr/>
            <p:nvPr/>
          </p:nvSpPr>
          <p:spPr>
            <a:xfrm>
              <a:off x="3119438" y="5486400"/>
              <a:ext cx="582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66" name="node02.items.slot-004.swatch"/>
            <p:cNvSpPr/>
            <p:nvPr/>
          </p:nvSpPr>
          <p:spPr>
            <a:xfrm>
              <a:off x="3930650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67" name="node02.items.slot-004.text"/>
            <p:cNvSpPr/>
            <p:nvPr/>
          </p:nvSpPr>
          <p:spPr>
            <a:xfrm>
              <a:off x="4222750" y="5486400"/>
              <a:ext cx="6778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68" name="node02.items.slot-005.swatch"/>
            <p:cNvSpPr/>
            <p:nvPr/>
          </p:nvSpPr>
          <p:spPr>
            <a:xfrm>
              <a:off x="5129213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69" name="node02.items.slot-005.text"/>
            <p:cNvSpPr/>
            <p:nvPr/>
          </p:nvSpPr>
          <p:spPr>
            <a:xfrm>
              <a:off x="5421313" y="5486400"/>
              <a:ext cx="7556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0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spc="-36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The front door is the weakest group</a:t>
            </a:r>
            <a:endParaRPr lang="en-US" sz="2400" spc="-36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Northfield Health System assessment, Sep 2026.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3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46" name="node01"/>
          <p:cNvGrpSpPr/>
          <p:nvPr/>
        </p:nvGrpSpPr>
        <p:grpSpPr>
          <a:xfrm>
            <a:off x="4381500" y="457200"/>
            <a:ext cx="7086600" cy="4978400"/>
            <a:chOff x="4381500" y="457200"/>
            <a:chExt cx="7086600" cy="4978400"/>
          </a:xfrm>
        </p:grpSpPr>
        <p:sp>
          <p:nvSpPr>
            <p:cNvPr id="7" name="node01.row.item-001.c1.heat-gap"/>
            <p:cNvSpPr/>
            <p:nvPr/>
          </p:nvSpPr>
          <p:spPr>
            <a:xfrm>
              <a:off x="6896100" y="812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c1.heat"/>
            <p:cNvSpPr/>
            <p:nvPr/>
          </p:nvSpPr>
          <p:spPr>
            <a:xfrm>
              <a:off x="6915150" y="8318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" name="node01.row.item-001.c2.heat-gap"/>
            <p:cNvSpPr/>
            <p:nvPr/>
          </p:nvSpPr>
          <p:spPr>
            <a:xfrm>
              <a:off x="8039100" y="812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c2.heat"/>
            <p:cNvSpPr/>
            <p:nvPr/>
          </p:nvSpPr>
          <p:spPr>
            <a:xfrm>
              <a:off x="8058150" y="8318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" name="node01.row.item-001.c3.heat-gap"/>
            <p:cNvSpPr/>
            <p:nvPr/>
          </p:nvSpPr>
          <p:spPr>
            <a:xfrm>
              <a:off x="9182100" y="812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c3.heat"/>
            <p:cNvSpPr/>
            <p:nvPr/>
          </p:nvSpPr>
          <p:spPr>
            <a:xfrm>
              <a:off x="9201150" y="8318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" name="node01.row.item-001.c4.heat-gap"/>
            <p:cNvSpPr/>
            <p:nvPr/>
          </p:nvSpPr>
          <p:spPr>
            <a:xfrm>
              <a:off x="10325100" y="812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c4.heat"/>
            <p:cNvSpPr/>
            <p:nvPr/>
          </p:nvSpPr>
          <p:spPr>
            <a:xfrm>
              <a:off x="10344150" y="8318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5" name="node01.row.item-002.c1.heat-gap"/>
            <p:cNvSpPr/>
            <p:nvPr/>
          </p:nvSpPr>
          <p:spPr>
            <a:xfrm>
              <a:off x="6896100" y="1143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2.c1.heat"/>
            <p:cNvSpPr/>
            <p:nvPr/>
          </p:nvSpPr>
          <p:spPr>
            <a:xfrm>
              <a:off x="6915150" y="11620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7" name="node01.row.item-002.c2.heat-gap"/>
            <p:cNvSpPr/>
            <p:nvPr/>
          </p:nvSpPr>
          <p:spPr>
            <a:xfrm>
              <a:off x="8039100" y="1143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2.c2.heat"/>
            <p:cNvSpPr/>
            <p:nvPr/>
          </p:nvSpPr>
          <p:spPr>
            <a:xfrm>
              <a:off x="8058150" y="11620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9" name="node01.row.item-002.c3.heat-gap"/>
            <p:cNvSpPr/>
            <p:nvPr/>
          </p:nvSpPr>
          <p:spPr>
            <a:xfrm>
              <a:off x="9182100" y="1143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c3.heat"/>
            <p:cNvSpPr/>
            <p:nvPr/>
          </p:nvSpPr>
          <p:spPr>
            <a:xfrm>
              <a:off x="9201150" y="11620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1" name="node01.row.item-002.c4.heat-gap"/>
            <p:cNvSpPr/>
            <p:nvPr/>
          </p:nvSpPr>
          <p:spPr>
            <a:xfrm>
              <a:off x="10325100" y="1143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c4.heat"/>
            <p:cNvSpPr/>
            <p:nvPr/>
          </p:nvSpPr>
          <p:spPr>
            <a:xfrm>
              <a:off x="10344150" y="11620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3" name="node01.row.item-003.c1.heat-gap"/>
            <p:cNvSpPr/>
            <p:nvPr/>
          </p:nvSpPr>
          <p:spPr>
            <a:xfrm>
              <a:off x="6896100" y="1473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3.c1.heat"/>
            <p:cNvSpPr/>
            <p:nvPr/>
          </p:nvSpPr>
          <p:spPr>
            <a:xfrm>
              <a:off x="6915150" y="14922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5" name="node01.row.item-003.c2.heat-gap"/>
            <p:cNvSpPr/>
            <p:nvPr/>
          </p:nvSpPr>
          <p:spPr>
            <a:xfrm>
              <a:off x="8039100" y="1473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3.c2.heat"/>
            <p:cNvSpPr/>
            <p:nvPr/>
          </p:nvSpPr>
          <p:spPr>
            <a:xfrm>
              <a:off x="8058150" y="14922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7" name="node01.row.item-003.c3.heat-gap"/>
            <p:cNvSpPr/>
            <p:nvPr/>
          </p:nvSpPr>
          <p:spPr>
            <a:xfrm>
              <a:off x="9182100" y="1473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3.c3.heat"/>
            <p:cNvSpPr/>
            <p:nvPr/>
          </p:nvSpPr>
          <p:spPr>
            <a:xfrm>
              <a:off x="9201150" y="14922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9" name="node01.row.item-003.c4.heat-gap"/>
            <p:cNvSpPr/>
            <p:nvPr/>
          </p:nvSpPr>
          <p:spPr>
            <a:xfrm>
              <a:off x="10325100" y="1473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3.c4.heat"/>
            <p:cNvSpPr/>
            <p:nvPr/>
          </p:nvSpPr>
          <p:spPr>
            <a:xfrm>
              <a:off x="10344150" y="1492250"/>
              <a:ext cx="1104900" cy="2921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1" name="node01.row.item-004.c1.heat-gap"/>
            <p:cNvSpPr/>
            <p:nvPr/>
          </p:nvSpPr>
          <p:spPr>
            <a:xfrm>
              <a:off x="6896100" y="1803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4.c1.heat"/>
            <p:cNvSpPr/>
            <p:nvPr/>
          </p:nvSpPr>
          <p:spPr>
            <a:xfrm>
              <a:off x="6915150" y="18224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3" name="node01.row.item-004.c2.heat-gap"/>
            <p:cNvSpPr/>
            <p:nvPr/>
          </p:nvSpPr>
          <p:spPr>
            <a:xfrm>
              <a:off x="8039100" y="1803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4.c2.heat"/>
            <p:cNvSpPr/>
            <p:nvPr/>
          </p:nvSpPr>
          <p:spPr>
            <a:xfrm>
              <a:off x="8058150" y="18224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5" name="node01.row.item-004.c3.heat-gap"/>
            <p:cNvSpPr/>
            <p:nvPr/>
          </p:nvSpPr>
          <p:spPr>
            <a:xfrm>
              <a:off x="9182100" y="1803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4.c3.heat"/>
            <p:cNvSpPr/>
            <p:nvPr/>
          </p:nvSpPr>
          <p:spPr>
            <a:xfrm>
              <a:off x="9201150" y="18224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7" name="node01.row.item-004.c4.heat-gap"/>
            <p:cNvSpPr/>
            <p:nvPr/>
          </p:nvSpPr>
          <p:spPr>
            <a:xfrm>
              <a:off x="10325100" y="1803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4.c4.heat"/>
            <p:cNvSpPr/>
            <p:nvPr/>
          </p:nvSpPr>
          <p:spPr>
            <a:xfrm>
              <a:off x="10344150" y="18224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9" name="node01.row.item-005.c1.heat-gap"/>
            <p:cNvSpPr/>
            <p:nvPr/>
          </p:nvSpPr>
          <p:spPr>
            <a:xfrm>
              <a:off x="6896100" y="21336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5.c1.heat"/>
            <p:cNvSpPr/>
            <p:nvPr/>
          </p:nvSpPr>
          <p:spPr>
            <a:xfrm>
              <a:off x="6915150" y="2152650"/>
              <a:ext cx="1104900" cy="292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41" name="node01.row.item-005.c2.heat-gap"/>
            <p:cNvSpPr/>
            <p:nvPr/>
          </p:nvSpPr>
          <p:spPr>
            <a:xfrm>
              <a:off x="8039100" y="21336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5.c2.heat"/>
            <p:cNvSpPr/>
            <p:nvPr/>
          </p:nvSpPr>
          <p:spPr>
            <a:xfrm>
              <a:off x="8058150" y="21526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3" name="node01.row.item-005.c3.heat-gap"/>
            <p:cNvSpPr/>
            <p:nvPr/>
          </p:nvSpPr>
          <p:spPr>
            <a:xfrm>
              <a:off x="9182100" y="21336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5.c3.heat"/>
            <p:cNvSpPr/>
            <p:nvPr/>
          </p:nvSpPr>
          <p:spPr>
            <a:xfrm>
              <a:off x="9201150" y="21526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5" name="node01.row.item-005.c4.heat-gap"/>
            <p:cNvSpPr/>
            <p:nvPr/>
          </p:nvSpPr>
          <p:spPr>
            <a:xfrm>
              <a:off x="10325100" y="21336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5.c4.heat"/>
            <p:cNvSpPr/>
            <p:nvPr/>
          </p:nvSpPr>
          <p:spPr>
            <a:xfrm>
              <a:off x="10344150" y="21526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7" name="node01.row.item-006.c1.heat-gap"/>
            <p:cNvSpPr/>
            <p:nvPr/>
          </p:nvSpPr>
          <p:spPr>
            <a:xfrm>
              <a:off x="6896100" y="2463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6.c1.heat"/>
            <p:cNvSpPr/>
            <p:nvPr/>
          </p:nvSpPr>
          <p:spPr>
            <a:xfrm>
              <a:off x="6915150" y="24828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9" name="node01.row.item-006.c2.heat-gap"/>
            <p:cNvSpPr/>
            <p:nvPr/>
          </p:nvSpPr>
          <p:spPr>
            <a:xfrm>
              <a:off x="8039100" y="2463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6.c2.heat"/>
            <p:cNvSpPr/>
            <p:nvPr/>
          </p:nvSpPr>
          <p:spPr>
            <a:xfrm>
              <a:off x="8058150" y="24828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1" name="node01.row.item-006.c3.heat-gap"/>
            <p:cNvSpPr/>
            <p:nvPr/>
          </p:nvSpPr>
          <p:spPr>
            <a:xfrm>
              <a:off x="9182100" y="2463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6.c3.heat"/>
            <p:cNvSpPr/>
            <p:nvPr/>
          </p:nvSpPr>
          <p:spPr>
            <a:xfrm>
              <a:off x="9201150" y="24828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3" name="node01.row.item-006.c4.heat-gap"/>
            <p:cNvSpPr/>
            <p:nvPr/>
          </p:nvSpPr>
          <p:spPr>
            <a:xfrm>
              <a:off x="10325100" y="2463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6.c4.heat"/>
            <p:cNvSpPr/>
            <p:nvPr/>
          </p:nvSpPr>
          <p:spPr>
            <a:xfrm>
              <a:off x="10344150" y="24828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5" name="node01.row.item-007.c1.heat-gap"/>
            <p:cNvSpPr/>
            <p:nvPr/>
          </p:nvSpPr>
          <p:spPr>
            <a:xfrm>
              <a:off x="6896100" y="2794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7.c1.heat"/>
            <p:cNvSpPr/>
            <p:nvPr/>
          </p:nvSpPr>
          <p:spPr>
            <a:xfrm>
              <a:off x="6915150" y="2813050"/>
              <a:ext cx="1104900" cy="292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57" name="node01.row.item-007.c2.heat-gap"/>
            <p:cNvSpPr/>
            <p:nvPr/>
          </p:nvSpPr>
          <p:spPr>
            <a:xfrm>
              <a:off x="8039100" y="2794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7.c2.heat"/>
            <p:cNvSpPr/>
            <p:nvPr/>
          </p:nvSpPr>
          <p:spPr>
            <a:xfrm>
              <a:off x="8058150" y="28130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9" name="node01.row.item-007.c3.heat-gap"/>
            <p:cNvSpPr/>
            <p:nvPr/>
          </p:nvSpPr>
          <p:spPr>
            <a:xfrm>
              <a:off x="9182100" y="2794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7.c3.heat"/>
            <p:cNvSpPr/>
            <p:nvPr/>
          </p:nvSpPr>
          <p:spPr>
            <a:xfrm>
              <a:off x="9201150" y="28130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1" name="node01.row.item-007.c4.heat-gap"/>
            <p:cNvSpPr/>
            <p:nvPr/>
          </p:nvSpPr>
          <p:spPr>
            <a:xfrm>
              <a:off x="10325100" y="2794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7.c4.heat"/>
            <p:cNvSpPr/>
            <p:nvPr/>
          </p:nvSpPr>
          <p:spPr>
            <a:xfrm>
              <a:off x="10344150" y="28130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3" name="node01.row.item-008.c1.heat-gap"/>
            <p:cNvSpPr/>
            <p:nvPr/>
          </p:nvSpPr>
          <p:spPr>
            <a:xfrm>
              <a:off x="6896100" y="3124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8.c1.heat"/>
            <p:cNvSpPr/>
            <p:nvPr/>
          </p:nvSpPr>
          <p:spPr>
            <a:xfrm>
              <a:off x="6915150" y="31432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5" name="node01.row.item-008.c2.heat-gap"/>
            <p:cNvSpPr/>
            <p:nvPr/>
          </p:nvSpPr>
          <p:spPr>
            <a:xfrm>
              <a:off x="8039100" y="3124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8.c2.heat"/>
            <p:cNvSpPr/>
            <p:nvPr/>
          </p:nvSpPr>
          <p:spPr>
            <a:xfrm>
              <a:off x="8058150" y="31432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7" name="node01.row.item-008.c3.heat-gap"/>
            <p:cNvSpPr/>
            <p:nvPr/>
          </p:nvSpPr>
          <p:spPr>
            <a:xfrm>
              <a:off x="9182100" y="3124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node01.row.item-008.c3.heat"/>
            <p:cNvSpPr/>
            <p:nvPr/>
          </p:nvSpPr>
          <p:spPr>
            <a:xfrm>
              <a:off x="9201150" y="31432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9" name="node01.row.item-008.c4.heat-gap"/>
            <p:cNvSpPr/>
            <p:nvPr/>
          </p:nvSpPr>
          <p:spPr>
            <a:xfrm>
              <a:off x="10325100" y="3124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node01.row.item-008.c4.heat"/>
            <p:cNvSpPr/>
            <p:nvPr/>
          </p:nvSpPr>
          <p:spPr>
            <a:xfrm>
              <a:off x="10344150" y="3143250"/>
              <a:ext cx="1104900" cy="2921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71" name="node01.row.item-009.c1.heat-gap"/>
            <p:cNvSpPr/>
            <p:nvPr/>
          </p:nvSpPr>
          <p:spPr>
            <a:xfrm>
              <a:off x="6896100" y="3454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node01.row.item-009.c1.heat"/>
            <p:cNvSpPr/>
            <p:nvPr/>
          </p:nvSpPr>
          <p:spPr>
            <a:xfrm>
              <a:off x="6915150" y="34734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73" name="node01.row.item-009.c2.heat-gap"/>
            <p:cNvSpPr/>
            <p:nvPr/>
          </p:nvSpPr>
          <p:spPr>
            <a:xfrm>
              <a:off x="8039100" y="3454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node01.row.item-009.c2.heat"/>
            <p:cNvSpPr/>
            <p:nvPr/>
          </p:nvSpPr>
          <p:spPr>
            <a:xfrm>
              <a:off x="8058150" y="34734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75" name="node01.row.item-009.c3.heat-gap"/>
            <p:cNvSpPr/>
            <p:nvPr/>
          </p:nvSpPr>
          <p:spPr>
            <a:xfrm>
              <a:off x="9182100" y="3454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node01.row.item-009.c3.heat"/>
            <p:cNvSpPr/>
            <p:nvPr/>
          </p:nvSpPr>
          <p:spPr>
            <a:xfrm>
              <a:off x="9201150" y="34734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7" name="node01.row.item-009.c4.heat-gap"/>
            <p:cNvSpPr/>
            <p:nvPr/>
          </p:nvSpPr>
          <p:spPr>
            <a:xfrm>
              <a:off x="10325100" y="3454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node01.row.item-009.c4.heat"/>
            <p:cNvSpPr/>
            <p:nvPr/>
          </p:nvSpPr>
          <p:spPr>
            <a:xfrm>
              <a:off x="10344150" y="34734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9" name="node01.row.item-010.c1.heat-gap"/>
            <p:cNvSpPr/>
            <p:nvPr/>
          </p:nvSpPr>
          <p:spPr>
            <a:xfrm>
              <a:off x="6896100" y="37846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node01.row.item-010.c1.heat"/>
            <p:cNvSpPr/>
            <p:nvPr/>
          </p:nvSpPr>
          <p:spPr>
            <a:xfrm>
              <a:off x="6915150" y="38036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1" name="node01.row.item-010.c2.heat-gap"/>
            <p:cNvSpPr/>
            <p:nvPr/>
          </p:nvSpPr>
          <p:spPr>
            <a:xfrm>
              <a:off x="8039100" y="37846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node01.row.item-010.c2.heat"/>
            <p:cNvSpPr/>
            <p:nvPr/>
          </p:nvSpPr>
          <p:spPr>
            <a:xfrm>
              <a:off x="8058150" y="38036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3" name="node01.row.item-010.c3.heat-gap"/>
            <p:cNvSpPr/>
            <p:nvPr/>
          </p:nvSpPr>
          <p:spPr>
            <a:xfrm>
              <a:off x="9182100" y="37846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node01.row.item-010.c3.heat"/>
            <p:cNvSpPr/>
            <p:nvPr/>
          </p:nvSpPr>
          <p:spPr>
            <a:xfrm>
              <a:off x="9201150" y="38036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85" name="node01.row.item-010.c4.heat-gap"/>
            <p:cNvSpPr/>
            <p:nvPr/>
          </p:nvSpPr>
          <p:spPr>
            <a:xfrm>
              <a:off x="10325100" y="37846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node01.row.item-010.c4.heat"/>
            <p:cNvSpPr/>
            <p:nvPr/>
          </p:nvSpPr>
          <p:spPr>
            <a:xfrm>
              <a:off x="10344150" y="3803650"/>
              <a:ext cx="1104900" cy="2921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87" name="node01.row.item-011.c1.heat-gap"/>
            <p:cNvSpPr/>
            <p:nvPr/>
          </p:nvSpPr>
          <p:spPr>
            <a:xfrm>
              <a:off x="6896100" y="4114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node01.row.item-011.c1.heat"/>
            <p:cNvSpPr/>
            <p:nvPr/>
          </p:nvSpPr>
          <p:spPr>
            <a:xfrm>
              <a:off x="6915150" y="41338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9" name="node01.row.item-011.c2.heat-gap"/>
            <p:cNvSpPr/>
            <p:nvPr/>
          </p:nvSpPr>
          <p:spPr>
            <a:xfrm>
              <a:off x="8039100" y="4114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node01.row.item-011.c2.heat"/>
            <p:cNvSpPr/>
            <p:nvPr/>
          </p:nvSpPr>
          <p:spPr>
            <a:xfrm>
              <a:off x="8058150" y="41338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1" name="node01.row.item-011.c3.heat-gap"/>
            <p:cNvSpPr/>
            <p:nvPr/>
          </p:nvSpPr>
          <p:spPr>
            <a:xfrm>
              <a:off x="9182100" y="4114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node01.row.item-011.c3.heat"/>
            <p:cNvSpPr/>
            <p:nvPr/>
          </p:nvSpPr>
          <p:spPr>
            <a:xfrm>
              <a:off x="9201150" y="41338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3" name="node01.row.item-011.c4.heat-gap"/>
            <p:cNvSpPr/>
            <p:nvPr/>
          </p:nvSpPr>
          <p:spPr>
            <a:xfrm>
              <a:off x="10325100" y="41148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4" name="node01.row.item-011.c4.heat"/>
            <p:cNvSpPr/>
            <p:nvPr/>
          </p:nvSpPr>
          <p:spPr>
            <a:xfrm>
              <a:off x="10344150" y="4133850"/>
              <a:ext cx="1104900" cy="2921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95" name="node01.row.item-012.c1.heat-gap"/>
            <p:cNvSpPr/>
            <p:nvPr/>
          </p:nvSpPr>
          <p:spPr>
            <a:xfrm>
              <a:off x="6896100" y="4445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6" name="node01.row.item-012.c1.heat"/>
            <p:cNvSpPr/>
            <p:nvPr/>
          </p:nvSpPr>
          <p:spPr>
            <a:xfrm>
              <a:off x="6915150" y="44640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7" name="node01.row.item-012.c2.heat-gap"/>
            <p:cNvSpPr/>
            <p:nvPr/>
          </p:nvSpPr>
          <p:spPr>
            <a:xfrm>
              <a:off x="8039100" y="4445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8" name="node01.row.item-012.c2.heat"/>
            <p:cNvSpPr/>
            <p:nvPr/>
          </p:nvSpPr>
          <p:spPr>
            <a:xfrm>
              <a:off x="8058150" y="44640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9" name="node01.row.item-012.c3.heat-gap"/>
            <p:cNvSpPr/>
            <p:nvPr/>
          </p:nvSpPr>
          <p:spPr>
            <a:xfrm>
              <a:off x="9182100" y="4445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0" name="node01.row.item-012.c3.heat"/>
            <p:cNvSpPr/>
            <p:nvPr/>
          </p:nvSpPr>
          <p:spPr>
            <a:xfrm>
              <a:off x="9201150" y="44640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1" name="node01.row.item-012.c4.heat-gap"/>
            <p:cNvSpPr/>
            <p:nvPr/>
          </p:nvSpPr>
          <p:spPr>
            <a:xfrm>
              <a:off x="10325100" y="44450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2" name="node01.row.item-012.c4.heat"/>
            <p:cNvSpPr/>
            <p:nvPr/>
          </p:nvSpPr>
          <p:spPr>
            <a:xfrm>
              <a:off x="10344150" y="44640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3" name="node01.row.item-013.c1.heat-gap"/>
            <p:cNvSpPr/>
            <p:nvPr/>
          </p:nvSpPr>
          <p:spPr>
            <a:xfrm>
              <a:off x="6896100" y="4775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4" name="node01.row.item-013.c1.heat"/>
            <p:cNvSpPr/>
            <p:nvPr/>
          </p:nvSpPr>
          <p:spPr>
            <a:xfrm>
              <a:off x="6915150" y="47942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05" name="node01.row.item-013.c2.heat-gap"/>
            <p:cNvSpPr/>
            <p:nvPr/>
          </p:nvSpPr>
          <p:spPr>
            <a:xfrm>
              <a:off x="8039100" y="4775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6" name="node01.row.item-013.c2.heat"/>
            <p:cNvSpPr/>
            <p:nvPr/>
          </p:nvSpPr>
          <p:spPr>
            <a:xfrm>
              <a:off x="8058150" y="47942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7" name="node01.row.item-013.c3.heat-gap"/>
            <p:cNvSpPr/>
            <p:nvPr/>
          </p:nvSpPr>
          <p:spPr>
            <a:xfrm>
              <a:off x="9182100" y="4775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8" name="node01.row.item-013.c3.heat"/>
            <p:cNvSpPr/>
            <p:nvPr/>
          </p:nvSpPr>
          <p:spPr>
            <a:xfrm>
              <a:off x="9201150" y="47942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9" name="node01.row.item-013.c4.heat-gap"/>
            <p:cNvSpPr/>
            <p:nvPr/>
          </p:nvSpPr>
          <p:spPr>
            <a:xfrm>
              <a:off x="10325100" y="47752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0" name="node01.row.item-013.c4.heat"/>
            <p:cNvSpPr/>
            <p:nvPr/>
          </p:nvSpPr>
          <p:spPr>
            <a:xfrm>
              <a:off x="10344150" y="4794250"/>
              <a:ext cx="1104900" cy="2921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1" name="node01.row.item-014.c1.heat-gap"/>
            <p:cNvSpPr/>
            <p:nvPr/>
          </p:nvSpPr>
          <p:spPr>
            <a:xfrm>
              <a:off x="6896100" y="5105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2" name="node01.row.item-014.c1.heat"/>
            <p:cNvSpPr/>
            <p:nvPr/>
          </p:nvSpPr>
          <p:spPr>
            <a:xfrm>
              <a:off x="6915150" y="5124450"/>
              <a:ext cx="1104900" cy="292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13" name="node01.row.item-014.c2.heat-gap"/>
            <p:cNvSpPr/>
            <p:nvPr/>
          </p:nvSpPr>
          <p:spPr>
            <a:xfrm>
              <a:off x="8039100" y="5105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4" name="node01.row.item-014.c2.heat"/>
            <p:cNvSpPr/>
            <p:nvPr/>
          </p:nvSpPr>
          <p:spPr>
            <a:xfrm>
              <a:off x="8058150" y="51244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15" name="node01.row.item-014.c3.heat-gap"/>
            <p:cNvSpPr/>
            <p:nvPr/>
          </p:nvSpPr>
          <p:spPr>
            <a:xfrm>
              <a:off x="9182100" y="5105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6" name="node01.row.item-014.c3.heat"/>
            <p:cNvSpPr/>
            <p:nvPr/>
          </p:nvSpPr>
          <p:spPr>
            <a:xfrm>
              <a:off x="9201150" y="5124450"/>
              <a:ext cx="1104900" cy="2921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17" name="node01.row.item-014.c4.heat-gap"/>
            <p:cNvSpPr/>
            <p:nvPr/>
          </p:nvSpPr>
          <p:spPr>
            <a:xfrm>
              <a:off x="10325100" y="5105400"/>
              <a:ext cx="1143000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8" name="node01.row.item-014.c4.heat"/>
            <p:cNvSpPr/>
            <p:nvPr/>
          </p:nvSpPr>
          <p:spPr>
            <a:xfrm>
              <a:off x="10344150" y="5124450"/>
              <a:ext cx="1104900" cy="2921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graphicFrame>
          <p:nvGraphicFramePr>
            <p:cNvPr id="119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4762500" y="457200"/>
            <a:ext cx="6705600" cy="4978400"/>
          </p:xfrm>
          <a:graphic>
            <a:graphicData uri="http://schemas.openxmlformats.org/drawingml/2006/table">
              <a:tbl>
                <a:tblPr/>
                <a:tblGrid>
                  <a:gridCol w="2133600"/>
                  <a:gridCol w="1143000"/>
                  <a:gridCol w="1143000"/>
                  <a:gridCol w="1143000"/>
                  <a:gridCol w="11430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MAIN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LAKESIDE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RIDGEVIEW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HARBOR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Scheduling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billing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Supply chain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Quality reporting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Population health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0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Workforce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Data and analytics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302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Cybersecurity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120" name="node01.row-group.source-001.fill"/>
            <p:cNvSpPr/>
            <p:nvPr/>
          </p:nvSpPr>
          <p:spPr>
            <a:xfrm>
              <a:off x="4381500" y="831850"/>
              <a:ext cx="304800" cy="952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21" name="node01.row-group.source-001.label"/>
            <p:cNvSpPr/>
            <p:nvPr/>
          </p:nvSpPr>
          <p:spPr>
            <a:xfrm rot="-5400000">
              <a:off x="4057650" y="1231900"/>
              <a:ext cx="952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FRONT DOOR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2" name="node01.row-group.source-002.fill"/>
            <p:cNvSpPr/>
            <p:nvPr/>
          </p:nvSpPr>
          <p:spPr>
            <a:xfrm>
              <a:off x="4381500" y="1822450"/>
              <a:ext cx="304800" cy="952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23" name="node01.row-group.source-002.label"/>
            <p:cNvSpPr/>
            <p:nvPr/>
          </p:nvSpPr>
          <p:spPr>
            <a:xfrm rot="-5400000">
              <a:off x="4057650" y="2222500"/>
              <a:ext cx="952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REVENUE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4" name="node01.row-group.source-003.fill"/>
            <p:cNvSpPr/>
            <p:nvPr/>
          </p:nvSpPr>
          <p:spPr>
            <a:xfrm>
              <a:off x="4381500" y="2813050"/>
              <a:ext cx="304800" cy="1612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25" name="node01.row-group.source-003.label"/>
            <p:cNvSpPr/>
            <p:nvPr/>
          </p:nvSpPr>
          <p:spPr>
            <a:xfrm rot="-5400000">
              <a:off x="3727450" y="3543300"/>
              <a:ext cx="16129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CARE DELIVERY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6" name="node01.row-group.source-004.fill"/>
            <p:cNvSpPr/>
            <p:nvPr/>
          </p:nvSpPr>
          <p:spPr>
            <a:xfrm>
              <a:off x="4381500" y="4464050"/>
              <a:ext cx="304800" cy="952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27" name="node01.row-group.source-004.label"/>
            <p:cNvSpPr/>
            <p:nvPr/>
          </p:nvSpPr>
          <p:spPr>
            <a:xfrm rot="-5400000">
              <a:off x="4057650" y="4864100"/>
              <a:ext cx="952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ENTERPRISE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</p:grpSp>
      <p:grpSp>
        <p:nvGrpSpPr>
          <p:cNvPr id="147" name="node02"/>
          <p:cNvGrpSpPr/>
          <p:nvPr/>
        </p:nvGrpSpPr>
        <p:grpSpPr>
          <a:xfrm>
            <a:off x="4381500" y="5486400"/>
            <a:ext cx="5453063" cy="228600"/>
            <a:chOff x="4381500" y="5486400"/>
            <a:chExt cx="5453063" cy="228600"/>
          </a:xfrm>
        </p:grpSpPr>
        <p:sp>
          <p:nvSpPr>
            <p:cNvPr id="128" name="node02.items.slot-001.swatch"/>
            <p:cNvSpPr/>
            <p:nvPr/>
          </p:nvSpPr>
          <p:spPr>
            <a:xfrm>
              <a:off x="43815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29" name="node02.items.slot-001.text"/>
            <p:cNvSpPr/>
            <p:nvPr/>
          </p:nvSpPr>
          <p:spPr>
            <a:xfrm>
              <a:off x="4673600" y="5486400"/>
              <a:ext cx="5381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Absent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0" name="node02.items.slot-002.swatch"/>
            <p:cNvSpPr/>
            <p:nvPr/>
          </p:nvSpPr>
          <p:spPr>
            <a:xfrm>
              <a:off x="54403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1" name="node02.items.slot-002.text"/>
            <p:cNvSpPr/>
            <p:nvPr/>
          </p:nvSpPr>
          <p:spPr>
            <a:xfrm>
              <a:off x="5732463" y="5486400"/>
              <a:ext cx="5238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2" name="node02.items.slot-003.swatch"/>
            <p:cNvSpPr/>
            <p:nvPr/>
          </p:nvSpPr>
          <p:spPr>
            <a:xfrm>
              <a:off x="6484938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33" name="node02.items.slot-003.text"/>
            <p:cNvSpPr/>
            <p:nvPr/>
          </p:nvSpPr>
          <p:spPr>
            <a:xfrm>
              <a:off x="6777038" y="5486400"/>
              <a:ext cx="582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4" name="node02.items.slot-004.swatch"/>
            <p:cNvSpPr/>
            <p:nvPr/>
          </p:nvSpPr>
          <p:spPr>
            <a:xfrm>
              <a:off x="7588250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35" name="node02.items.slot-004.text"/>
            <p:cNvSpPr/>
            <p:nvPr/>
          </p:nvSpPr>
          <p:spPr>
            <a:xfrm>
              <a:off x="7880350" y="5486400"/>
              <a:ext cx="6778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6" name="node02.items.slot-005.swatch"/>
            <p:cNvSpPr/>
            <p:nvPr/>
          </p:nvSpPr>
          <p:spPr>
            <a:xfrm>
              <a:off x="8786813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7" name="node02.items.slot-005.text"/>
            <p:cNvSpPr/>
            <p:nvPr/>
          </p:nvSpPr>
          <p:spPr>
            <a:xfrm>
              <a:off x="9078913" y="5486400"/>
              <a:ext cx="7556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8" name="node03"/>
          <p:cNvGrpSpPr/>
          <p:nvPr/>
        </p:nvGrpSpPr>
        <p:grpSpPr>
          <a:xfrm>
            <a:off x="723900" y="2286000"/>
            <a:ext cx="3429000" cy="952500"/>
            <a:chOff x="723900" y="2286000"/>
            <a:chExt cx="3429000" cy="952500"/>
          </a:xfrm>
        </p:grpSpPr>
        <p:sp>
          <p:nvSpPr>
            <p:cNvPr id="138" name="node03.source-001.bullet"/>
            <p:cNvSpPr/>
            <p:nvPr/>
          </p:nvSpPr>
          <p:spPr>
            <a:xfrm>
              <a:off x="723900" y="23749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9" name="node03.source-001.text"/>
            <p:cNvSpPr/>
            <p:nvPr/>
          </p:nvSpPr>
          <p:spPr>
            <a:xfrm>
              <a:off x="876300" y="2286000"/>
              <a:ext cx="32766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Strong core.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Revenue rows reach level 3 or better at the main campus.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0" name="node03.source-002.bullet"/>
            <p:cNvSpPr/>
            <p:nvPr/>
          </p:nvSpPr>
          <p:spPr>
            <a:xfrm>
              <a:off x="723900" y="28702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1" name="node03.source-002.text"/>
            <p:cNvSpPr/>
            <p:nvPr/>
          </p:nvSpPr>
          <p:spPr>
            <a:xfrm>
              <a:off x="876300" y="2781300"/>
              <a:ext cx="32766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Thin edges.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Harbor sits at level 1 or below in most front-door and care rows.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9" name="node04"/>
          <p:cNvGrpSpPr/>
          <p:nvPr/>
        </p:nvGrpSpPr>
        <p:grpSpPr>
          <a:xfrm>
            <a:off x="723900" y="3657600"/>
            <a:ext cx="3429000" cy="1907350"/>
            <a:chOff x="723900" y="3657600"/>
            <a:chExt cx="3429000" cy="1907350"/>
          </a:xfrm>
        </p:grpSpPr>
        <p:sp>
          <p:nvSpPr>
            <p:cNvPr id="142" name="node04.container"/>
            <p:cNvSpPr/>
            <p:nvPr/>
          </p:nvSpPr>
          <p:spPr>
            <a:xfrm>
              <a:off x="723900" y="3657600"/>
              <a:ext cx="3429000" cy="1907350"/>
            </a:xfrm>
            <a:prstGeom prst="rect">
              <a:avLst/>
            </a:prstGeom>
            <a:solidFill>
              <a:srgbClr val="F900D3"/>
            </a:solidFill>
            <a:ln>
              <a:noFill/>
            </a:ln>
          </p:spPr>
        </p:sp>
        <p:sp>
          <p:nvSpPr>
            <p:cNvPr id="143" name="node04.eyebrow"/>
            <p:cNvSpPr/>
            <p:nvPr/>
          </p:nvSpPr>
          <p:spPr>
            <a:xfrm>
              <a:off x="952500" y="3886200"/>
              <a:ext cx="29718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1000" spc="80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WEAKEST GROUP</a:t>
              </a:r>
              <a:endParaRPr lang="en-US" sz="1000" spc="8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44" name="node04.metric.value"/>
            <p:cNvSpPr/>
            <p:nvPr/>
          </p:nvSpPr>
          <p:spPr>
            <a:xfrm>
              <a:off x="952500" y="4114800"/>
              <a:ext cx="2971800" cy="6119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4800"/>
                </a:lnSpc>
                <a:buNone/>
              </a:pPr>
              <a:r>
                <a:rPr lang="en-US" sz="4800" spc="-96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1.7</a:t>
              </a:r>
              <a:endParaRPr lang="en-US" sz="4800" spc="-96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45" name="node04.metric.label"/>
            <p:cNvSpPr/>
            <p:nvPr/>
          </p:nvSpPr>
          <p:spPr>
            <a:xfrm>
              <a:off x="952500" y="4802950"/>
              <a:ext cx="29718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is the four-site average for the front door, the lowest of the four groups.</a:t>
              </a:r>
              <a:endParaRPr lang="en-US" sz="14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Front door scores well on process, poorly on data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4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58" name="node01"/>
          <p:cNvGrpSpPr/>
          <p:nvPr/>
        </p:nvGrpSpPr>
        <p:grpSpPr>
          <a:xfrm>
            <a:off x="723900" y="1600200"/>
            <a:ext cx="10744200" cy="3810000"/>
            <a:chOff x="723900" y="1600200"/>
            <a:chExt cx="10744200" cy="38100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2781300" y="19558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2800350" y="1974850"/>
              <a:ext cx="800100" cy="825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3619500" y="19558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3638550" y="1974850"/>
              <a:ext cx="800100" cy="825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4457700" y="19558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4476750" y="1974850"/>
              <a:ext cx="800100" cy="825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5295900" y="19558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5314950" y="1974850"/>
              <a:ext cx="800100" cy="825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6134100" y="19558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6153150" y="1974850"/>
              <a:ext cx="800100" cy="825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7" name="node01.row.item-002.h0.heat-gap"/>
            <p:cNvSpPr/>
            <p:nvPr/>
          </p:nvSpPr>
          <p:spPr>
            <a:xfrm>
              <a:off x="2781300" y="28194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2.h0.heat"/>
            <p:cNvSpPr/>
            <p:nvPr/>
          </p:nvSpPr>
          <p:spPr>
            <a:xfrm>
              <a:off x="2800350" y="2838450"/>
              <a:ext cx="800100" cy="825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9" name="node01.row.item-002.h1.heat-gap"/>
            <p:cNvSpPr/>
            <p:nvPr/>
          </p:nvSpPr>
          <p:spPr>
            <a:xfrm>
              <a:off x="3619500" y="28194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1.heat"/>
            <p:cNvSpPr/>
            <p:nvPr/>
          </p:nvSpPr>
          <p:spPr>
            <a:xfrm>
              <a:off x="3638550" y="2838450"/>
              <a:ext cx="800100" cy="825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1" name="node01.row.item-002.h2.heat-gap"/>
            <p:cNvSpPr/>
            <p:nvPr/>
          </p:nvSpPr>
          <p:spPr>
            <a:xfrm>
              <a:off x="4457700" y="28194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2.heat"/>
            <p:cNvSpPr/>
            <p:nvPr/>
          </p:nvSpPr>
          <p:spPr>
            <a:xfrm>
              <a:off x="4476750" y="2838450"/>
              <a:ext cx="800100" cy="825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3" name="node01.row.item-002.h3.heat-gap"/>
            <p:cNvSpPr/>
            <p:nvPr/>
          </p:nvSpPr>
          <p:spPr>
            <a:xfrm>
              <a:off x="5295900" y="28194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3.heat"/>
            <p:cNvSpPr/>
            <p:nvPr/>
          </p:nvSpPr>
          <p:spPr>
            <a:xfrm>
              <a:off x="5314950" y="2838450"/>
              <a:ext cx="800100" cy="825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5" name="node01.row.item-002.h4.heat-gap"/>
            <p:cNvSpPr/>
            <p:nvPr/>
          </p:nvSpPr>
          <p:spPr>
            <a:xfrm>
              <a:off x="6134100" y="28194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4.heat"/>
            <p:cNvSpPr/>
            <p:nvPr/>
          </p:nvSpPr>
          <p:spPr>
            <a:xfrm>
              <a:off x="6153150" y="2838450"/>
              <a:ext cx="800100" cy="825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7" name="node01.row.item-003.h0.heat-gap"/>
            <p:cNvSpPr/>
            <p:nvPr/>
          </p:nvSpPr>
          <p:spPr>
            <a:xfrm>
              <a:off x="2781300" y="36830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3.h0.heat"/>
            <p:cNvSpPr/>
            <p:nvPr/>
          </p:nvSpPr>
          <p:spPr>
            <a:xfrm>
              <a:off x="2800350" y="3702050"/>
              <a:ext cx="800100" cy="825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9" name="node01.row.item-003.h1.heat-gap"/>
            <p:cNvSpPr/>
            <p:nvPr/>
          </p:nvSpPr>
          <p:spPr>
            <a:xfrm>
              <a:off x="3619500" y="36830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3.h1.heat"/>
            <p:cNvSpPr/>
            <p:nvPr/>
          </p:nvSpPr>
          <p:spPr>
            <a:xfrm>
              <a:off x="3638550" y="3702050"/>
              <a:ext cx="800100" cy="8255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1" name="node01.row.item-003.h2.heat-gap"/>
            <p:cNvSpPr/>
            <p:nvPr/>
          </p:nvSpPr>
          <p:spPr>
            <a:xfrm>
              <a:off x="4457700" y="36830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2.heat"/>
            <p:cNvSpPr/>
            <p:nvPr/>
          </p:nvSpPr>
          <p:spPr>
            <a:xfrm>
              <a:off x="4476750" y="3702050"/>
              <a:ext cx="800100" cy="8255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3" name="node01.row.item-003.h3.heat-gap"/>
            <p:cNvSpPr/>
            <p:nvPr/>
          </p:nvSpPr>
          <p:spPr>
            <a:xfrm>
              <a:off x="5295900" y="36830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3.heat"/>
            <p:cNvSpPr/>
            <p:nvPr/>
          </p:nvSpPr>
          <p:spPr>
            <a:xfrm>
              <a:off x="5314950" y="3702050"/>
              <a:ext cx="800100" cy="825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5" name="node01.row.item-003.h4.heat-gap"/>
            <p:cNvSpPr/>
            <p:nvPr/>
          </p:nvSpPr>
          <p:spPr>
            <a:xfrm>
              <a:off x="6134100" y="36830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4.heat"/>
            <p:cNvSpPr/>
            <p:nvPr/>
          </p:nvSpPr>
          <p:spPr>
            <a:xfrm>
              <a:off x="6153150" y="3702050"/>
              <a:ext cx="800100" cy="825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7" name="node01.row.item-004.h0.heat-gap"/>
            <p:cNvSpPr/>
            <p:nvPr/>
          </p:nvSpPr>
          <p:spPr>
            <a:xfrm>
              <a:off x="2781300" y="45466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4.h0.heat"/>
            <p:cNvSpPr/>
            <p:nvPr/>
          </p:nvSpPr>
          <p:spPr>
            <a:xfrm>
              <a:off x="2800350" y="4565650"/>
              <a:ext cx="800100" cy="8255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9" name="node01.row.item-004.h1.heat-gap"/>
            <p:cNvSpPr/>
            <p:nvPr/>
          </p:nvSpPr>
          <p:spPr>
            <a:xfrm>
              <a:off x="3619500" y="45466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4.h1.heat"/>
            <p:cNvSpPr/>
            <p:nvPr/>
          </p:nvSpPr>
          <p:spPr>
            <a:xfrm>
              <a:off x="3638550" y="4565650"/>
              <a:ext cx="800100" cy="825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41" name="node01.row.item-004.h2.heat-gap"/>
            <p:cNvSpPr/>
            <p:nvPr/>
          </p:nvSpPr>
          <p:spPr>
            <a:xfrm>
              <a:off x="4457700" y="45466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4.h2.heat"/>
            <p:cNvSpPr/>
            <p:nvPr/>
          </p:nvSpPr>
          <p:spPr>
            <a:xfrm>
              <a:off x="4476750" y="4565650"/>
              <a:ext cx="800100" cy="825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3" name="node01.row.item-004.h3.heat-gap"/>
            <p:cNvSpPr/>
            <p:nvPr/>
          </p:nvSpPr>
          <p:spPr>
            <a:xfrm>
              <a:off x="5295900" y="45466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3.heat"/>
            <p:cNvSpPr/>
            <p:nvPr/>
          </p:nvSpPr>
          <p:spPr>
            <a:xfrm>
              <a:off x="5314950" y="4565650"/>
              <a:ext cx="800100" cy="825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5" name="node01.row.item-004.h4.heat-gap"/>
            <p:cNvSpPr/>
            <p:nvPr/>
          </p:nvSpPr>
          <p:spPr>
            <a:xfrm>
              <a:off x="6134100" y="4546600"/>
              <a:ext cx="838200" cy="863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4.heat"/>
            <p:cNvSpPr/>
            <p:nvPr/>
          </p:nvSpPr>
          <p:spPr>
            <a:xfrm>
              <a:off x="6153150" y="4565650"/>
              <a:ext cx="800100" cy="8255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graphicFrame>
          <p:nvGraphicFramePr>
            <p:cNvPr id="47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723900" y="1600200"/>
            <a:ext cx="10744200" cy="3810000"/>
          </p:xfrm>
          <a:graphic>
            <a:graphicData uri="http://schemas.openxmlformats.org/drawingml/2006/table">
              <a:tbl>
                <a:tblPr/>
                <a:tblGrid>
                  <a:gridCol w="2057400"/>
                  <a:gridCol w="838200"/>
                  <a:gridCol w="838200"/>
                  <a:gridCol w="838200"/>
                  <a:gridCol w="838200"/>
                  <a:gridCol w="838200"/>
                  <a:gridCol w="44958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PROCESS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TECHNOLOGY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PEOPLE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GOVERNANCE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WHAT WE FOUND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863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Front door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Online booking covers 40% of visits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Two registration workflows by site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Add a single eligibility check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863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Scheduling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Front door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Templates differ by clinic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Self-scheduling live at three sites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Standardize visit-type rules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863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Front door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Referrals arrive by fax and portal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No shared status view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Stand up a referral queue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863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Revenue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5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Rules engine at posting is mature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Close takes eight days, not five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Month-end review is manual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  <p:grpSp>
        <p:nvGrpSpPr>
          <p:cNvPr id="59" name="node02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48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49" name="node02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50" name="node02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1" name="node02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52" name="node02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3" name="node02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54" name="node02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5" name="node02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56" name="node02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57" name="node02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Revenue and care delivery: strong cores, weak handoffs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5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79" name="node01"/>
          <p:cNvGrpSpPr/>
          <p:nvPr/>
        </p:nvGrpSpPr>
        <p:grpSpPr>
          <a:xfrm>
            <a:off x="723900" y="1371600"/>
            <a:ext cx="10744200" cy="3937000"/>
            <a:chOff x="723900" y="1371600"/>
            <a:chExt cx="10744200" cy="39370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2781300" y="1955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2800350" y="19748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3619500" y="1955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3638550" y="19748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4457700" y="1955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4476750" y="19748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5295900" y="1955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5314950" y="19748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6134100" y="1955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6153150" y="19748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7" name="node01.row.item-002.h0.heat-gap"/>
            <p:cNvSpPr/>
            <p:nvPr/>
          </p:nvSpPr>
          <p:spPr>
            <a:xfrm>
              <a:off x="2781300" y="25146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2.h0.heat"/>
            <p:cNvSpPr/>
            <p:nvPr/>
          </p:nvSpPr>
          <p:spPr>
            <a:xfrm>
              <a:off x="2800350" y="25336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h1.heat-gap"/>
            <p:cNvSpPr/>
            <p:nvPr/>
          </p:nvSpPr>
          <p:spPr>
            <a:xfrm>
              <a:off x="3619500" y="25146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1.heat"/>
            <p:cNvSpPr/>
            <p:nvPr/>
          </p:nvSpPr>
          <p:spPr>
            <a:xfrm>
              <a:off x="3638550" y="25336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1" name="node01.row.item-002.h2.heat-gap"/>
            <p:cNvSpPr/>
            <p:nvPr/>
          </p:nvSpPr>
          <p:spPr>
            <a:xfrm>
              <a:off x="4457700" y="25146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2.heat"/>
            <p:cNvSpPr/>
            <p:nvPr/>
          </p:nvSpPr>
          <p:spPr>
            <a:xfrm>
              <a:off x="4476750" y="25336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3" name="node01.row.item-002.h3.heat-gap"/>
            <p:cNvSpPr/>
            <p:nvPr/>
          </p:nvSpPr>
          <p:spPr>
            <a:xfrm>
              <a:off x="5295900" y="25146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3.heat"/>
            <p:cNvSpPr/>
            <p:nvPr/>
          </p:nvSpPr>
          <p:spPr>
            <a:xfrm>
              <a:off x="5314950" y="25336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5" name="node01.row.item-002.h4.heat-gap"/>
            <p:cNvSpPr/>
            <p:nvPr/>
          </p:nvSpPr>
          <p:spPr>
            <a:xfrm>
              <a:off x="6134100" y="25146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4.heat"/>
            <p:cNvSpPr/>
            <p:nvPr/>
          </p:nvSpPr>
          <p:spPr>
            <a:xfrm>
              <a:off x="6153150" y="2533650"/>
              <a:ext cx="8001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27" name="node01.row.item-003.h0.heat-gap"/>
            <p:cNvSpPr/>
            <p:nvPr/>
          </p:nvSpPr>
          <p:spPr>
            <a:xfrm>
              <a:off x="2781300" y="30734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3.h0.heat"/>
            <p:cNvSpPr/>
            <p:nvPr/>
          </p:nvSpPr>
          <p:spPr>
            <a:xfrm>
              <a:off x="2800350" y="3092450"/>
              <a:ext cx="8001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29" name="node01.row.item-003.h1.heat-gap"/>
            <p:cNvSpPr/>
            <p:nvPr/>
          </p:nvSpPr>
          <p:spPr>
            <a:xfrm>
              <a:off x="3619500" y="30734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3.h1.heat"/>
            <p:cNvSpPr/>
            <p:nvPr/>
          </p:nvSpPr>
          <p:spPr>
            <a:xfrm>
              <a:off x="3638550" y="3092450"/>
              <a:ext cx="8001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1" name="node01.row.item-003.h2.heat-gap"/>
            <p:cNvSpPr/>
            <p:nvPr/>
          </p:nvSpPr>
          <p:spPr>
            <a:xfrm>
              <a:off x="4457700" y="30734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2.heat"/>
            <p:cNvSpPr/>
            <p:nvPr/>
          </p:nvSpPr>
          <p:spPr>
            <a:xfrm>
              <a:off x="4476750" y="30924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3" name="node01.row.item-003.h3.heat-gap"/>
            <p:cNvSpPr/>
            <p:nvPr/>
          </p:nvSpPr>
          <p:spPr>
            <a:xfrm>
              <a:off x="5295900" y="30734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3.heat"/>
            <p:cNvSpPr/>
            <p:nvPr/>
          </p:nvSpPr>
          <p:spPr>
            <a:xfrm>
              <a:off x="5314950" y="3092450"/>
              <a:ext cx="8001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5" name="node01.row.item-003.h4.heat-gap"/>
            <p:cNvSpPr/>
            <p:nvPr/>
          </p:nvSpPr>
          <p:spPr>
            <a:xfrm>
              <a:off x="6134100" y="30734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4.heat"/>
            <p:cNvSpPr/>
            <p:nvPr/>
          </p:nvSpPr>
          <p:spPr>
            <a:xfrm>
              <a:off x="6153150" y="30924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7" name="node01.row.item-004.h0.heat-gap"/>
            <p:cNvSpPr/>
            <p:nvPr/>
          </p:nvSpPr>
          <p:spPr>
            <a:xfrm>
              <a:off x="2781300" y="36322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4.h0.heat"/>
            <p:cNvSpPr/>
            <p:nvPr/>
          </p:nvSpPr>
          <p:spPr>
            <a:xfrm>
              <a:off x="2800350" y="36512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9" name="node01.row.item-004.h1.heat-gap"/>
            <p:cNvSpPr/>
            <p:nvPr/>
          </p:nvSpPr>
          <p:spPr>
            <a:xfrm>
              <a:off x="3619500" y="36322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4.h1.heat"/>
            <p:cNvSpPr/>
            <p:nvPr/>
          </p:nvSpPr>
          <p:spPr>
            <a:xfrm>
              <a:off x="3638550" y="36512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1" name="node01.row.item-004.h2.heat-gap"/>
            <p:cNvSpPr/>
            <p:nvPr/>
          </p:nvSpPr>
          <p:spPr>
            <a:xfrm>
              <a:off x="4457700" y="36322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4.h2.heat"/>
            <p:cNvSpPr/>
            <p:nvPr/>
          </p:nvSpPr>
          <p:spPr>
            <a:xfrm>
              <a:off x="4476750" y="3651250"/>
              <a:ext cx="8001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43" name="node01.row.item-004.h3.heat-gap"/>
            <p:cNvSpPr/>
            <p:nvPr/>
          </p:nvSpPr>
          <p:spPr>
            <a:xfrm>
              <a:off x="5295900" y="36322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3.heat"/>
            <p:cNvSpPr/>
            <p:nvPr/>
          </p:nvSpPr>
          <p:spPr>
            <a:xfrm>
              <a:off x="5314950" y="36512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5" name="node01.row.item-004.h4.heat-gap"/>
            <p:cNvSpPr/>
            <p:nvPr/>
          </p:nvSpPr>
          <p:spPr>
            <a:xfrm>
              <a:off x="6134100" y="36322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4.heat"/>
            <p:cNvSpPr/>
            <p:nvPr/>
          </p:nvSpPr>
          <p:spPr>
            <a:xfrm>
              <a:off x="6153150" y="36512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7" name="node01.row.item-005.h0.heat-gap"/>
            <p:cNvSpPr/>
            <p:nvPr/>
          </p:nvSpPr>
          <p:spPr>
            <a:xfrm>
              <a:off x="2781300" y="41910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5.h0.heat"/>
            <p:cNvSpPr/>
            <p:nvPr/>
          </p:nvSpPr>
          <p:spPr>
            <a:xfrm>
              <a:off x="2800350" y="42100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9" name="node01.row.item-005.h1.heat-gap"/>
            <p:cNvSpPr/>
            <p:nvPr/>
          </p:nvSpPr>
          <p:spPr>
            <a:xfrm>
              <a:off x="3619500" y="41910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5.h1.heat"/>
            <p:cNvSpPr/>
            <p:nvPr/>
          </p:nvSpPr>
          <p:spPr>
            <a:xfrm>
              <a:off x="3638550" y="42100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1" name="node01.row.item-005.h2.heat-gap"/>
            <p:cNvSpPr/>
            <p:nvPr/>
          </p:nvSpPr>
          <p:spPr>
            <a:xfrm>
              <a:off x="4457700" y="41910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5.h2.heat"/>
            <p:cNvSpPr/>
            <p:nvPr/>
          </p:nvSpPr>
          <p:spPr>
            <a:xfrm>
              <a:off x="4476750" y="42100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3" name="node01.row.item-005.h3.heat-gap"/>
            <p:cNvSpPr/>
            <p:nvPr/>
          </p:nvSpPr>
          <p:spPr>
            <a:xfrm>
              <a:off x="5295900" y="41910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5.h3.heat"/>
            <p:cNvSpPr/>
            <p:nvPr/>
          </p:nvSpPr>
          <p:spPr>
            <a:xfrm>
              <a:off x="5314950" y="42100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5" name="node01.row.item-005.h4.heat-gap"/>
            <p:cNvSpPr/>
            <p:nvPr/>
          </p:nvSpPr>
          <p:spPr>
            <a:xfrm>
              <a:off x="6134100" y="41910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h4.heat"/>
            <p:cNvSpPr/>
            <p:nvPr/>
          </p:nvSpPr>
          <p:spPr>
            <a:xfrm>
              <a:off x="6153150" y="42100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7" name="node01.row.item-006.h0.heat-gap"/>
            <p:cNvSpPr/>
            <p:nvPr/>
          </p:nvSpPr>
          <p:spPr>
            <a:xfrm>
              <a:off x="2781300" y="4749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6.h0.heat"/>
            <p:cNvSpPr/>
            <p:nvPr/>
          </p:nvSpPr>
          <p:spPr>
            <a:xfrm>
              <a:off x="2800350" y="47688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9" name="node01.row.item-006.h1.heat-gap"/>
            <p:cNvSpPr/>
            <p:nvPr/>
          </p:nvSpPr>
          <p:spPr>
            <a:xfrm>
              <a:off x="3619500" y="4749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6.h1.heat"/>
            <p:cNvSpPr/>
            <p:nvPr/>
          </p:nvSpPr>
          <p:spPr>
            <a:xfrm>
              <a:off x="3638550" y="47688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1" name="node01.row.item-006.h2.heat-gap"/>
            <p:cNvSpPr/>
            <p:nvPr/>
          </p:nvSpPr>
          <p:spPr>
            <a:xfrm>
              <a:off x="4457700" y="4749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6.h2.heat"/>
            <p:cNvSpPr/>
            <p:nvPr/>
          </p:nvSpPr>
          <p:spPr>
            <a:xfrm>
              <a:off x="4476750" y="47688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3" name="node01.row.item-006.h3.heat-gap"/>
            <p:cNvSpPr/>
            <p:nvPr/>
          </p:nvSpPr>
          <p:spPr>
            <a:xfrm>
              <a:off x="5295900" y="4749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6.h3.heat"/>
            <p:cNvSpPr/>
            <p:nvPr/>
          </p:nvSpPr>
          <p:spPr>
            <a:xfrm>
              <a:off x="5314950" y="4768850"/>
              <a:ext cx="8001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5" name="node01.row.item-006.h4.heat-gap"/>
            <p:cNvSpPr/>
            <p:nvPr/>
          </p:nvSpPr>
          <p:spPr>
            <a:xfrm>
              <a:off x="6134100" y="4749800"/>
              <a:ext cx="8382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6.h4.heat"/>
            <p:cNvSpPr/>
            <p:nvPr/>
          </p:nvSpPr>
          <p:spPr>
            <a:xfrm>
              <a:off x="6153150" y="4768850"/>
              <a:ext cx="8001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graphicFrame>
          <p:nvGraphicFramePr>
            <p:cNvPr id="67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723900" y="1600200"/>
            <a:ext cx="10744200" cy="3708400"/>
          </p:xfrm>
          <a:graphic>
            <a:graphicData uri="http://schemas.openxmlformats.org/drawingml/2006/table">
              <a:tbl>
                <a:tblPr/>
                <a:tblGrid>
                  <a:gridCol w="2057400"/>
                  <a:gridCol w="838200"/>
                  <a:gridCol w="838200"/>
                  <a:gridCol w="838200"/>
                  <a:gridCol w="838200"/>
                  <a:gridCol w="838200"/>
                  <a:gridCol w="44958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PROCESS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TECHNOLOGY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PEOPLE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GOVERNANCE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WHAT WE FOUND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billing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Revenue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Statements are clear and on time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Payment plans sit outside the platform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Revenue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Denial reasons are not coded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Rework is owned by no one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Care delivery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Templates are strong and reused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Voice capture is live in two units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Care delivery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Handoffs run on phone and email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Care plans live in three tools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Supply chain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Operations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Contracts are tracked by site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Item master has duplicates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Workforce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Operations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Rosters are built by hand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Credentialing is on time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68" name="node01.continued"/>
            <p:cNvSpPr/>
            <p:nvPr/>
          </p:nvSpPr>
          <p:spPr>
            <a:xfrm>
              <a:off x="723900" y="1371600"/>
              <a:ext cx="10744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50658E"/>
                  </a:solidFill>
                  <a:latin typeface="IBM Plex Mono Medium"/>
                  <a:ea typeface="IBM Plex Mono Medium"/>
                  <a:cs typeface="IBM Plex Mono Medium"/>
                </a:rPr>
                <a:t>CAPABILITY HEAT MAP WITH NOTES (CONTINUED, 2 OF 3)</a:t>
              </a:r>
              <a:endParaRPr lang="en-US" sz="900" spc="54" kern="0" b="0" i="0" dirty="0">
                <a:solidFill>
                  <a:srgbClr val="50658E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80" name="node02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69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70" name="node02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1" name="node02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2" name="node02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3" name="node02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4" name="node02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5" name="node02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76" name="node02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7" name="node02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78" name="node02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Referrals, denials and care coordination score lowest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6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84" name="node01"/>
          <p:cNvGrpSpPr/>
          <p:nvPr/>
        </p:nvGrpSpPr>
        <p:grpSpPr>
          <a:xfrm>
            <a:off x="723900" y="1600200"/>
            <a:ext cx="10744200" cy="3708400"/>
            <a:chOff x="723900" y="1600200"/>
            <a:chExt cx="10744200" cy="37084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32385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3257550" y="19748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39751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3994150" y="1974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47117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4730750" y="1974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54483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5467350" y="19748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61849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6203950" y="1974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7" name="node01.row.item-002.h0.heat-gap"/>
            <p:cNvSpPr/>
            <p:nvPr/>
          </p:nvSpPr>
          <p:spPr>
            <a:xfrm>
              <a:off x="32385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2.h0.heat"/>
            <p:cNvSpPr/>
            <p:nvPr/>
          </p:nvSpPr>
          <p:spPr>
            <a:xfrm>
              <a:off x="3257550" y="25336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h1.heat-gap"/>
            <p:cNvSpPr/>
            <p:nvPr/>
          </p:nvSpPr>
          <p:spPr>
            <a:xfrm>
              <a:off x="39751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1.heat"/>
            <p:cNvSpPr/>
            <p:nvPr/>
          </p:nvSpPr>
          <p:spPr>
            <a:xfrm>
              <a:off x="3994150" y="2533650"/>
              <a:ext cx="6985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21" name="node01.row.item-002.h2.heat-gap"/>
            <p:cNvSpPr/>
            <p:nvPr/>
          </p:nvSpPr>
          <p:spPr>
            <a:xfrm>
              <a:off x="47117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2.heat"/>
            <p:cNvSpPr/>
            <p:nvPr/>
          </p:nvSpPr>
          <p:spPr>
            <a:xfrm>
              <a:off x="4730750" y="2533650"/>
              <a:ext cx="6985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23" name="node01.row.item-002.h3.heat-gap"/>
            <p:cNvSpPr/>
            <p:nvPr/>
          </p:nvSpPr>
          <p:spPr>
            <a:xfrm>
              <a:off x="54483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3.heat"/>
            <p:cNvSpPr/>
            <p:nvPr/>
          </p:nvSpPr>
          <p:spPr>
            <a:xfrm>
              <a:off x="5467350" y="25336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5" name="node01.row.item-002.h4.heat-gap"/>
            <p:cNvSpPr/>
            <p:nvPr/>
          </p:nvSpPr>
          <p:spPr>
            <a:xfrm>
              <a:off x="61849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4.heat"/>
            <p:cNvSpPr/>
            <p:nvPr/>
          </p:nvSpPr>
          <p:spPr>
            <a:xfrm>
              <a:off x="6203950" y="25336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7" name="node01.row.item-003.h0.heat-gap"/>
            <p:cNvSpPr/>
            <p:nvPr/>
          </p:nvSpPr>
          <p:spPr>
            <a:xfrm>
              <a:off x="32385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3.h0.heat"/>
            <p:cNvSpPr/>
            <p:nvPr/>
          </p:nvSpPr>
          <p:spPr>
            <a:xfrm>
              <a:off x="3257550" y="30924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29" name="node01.row.item-003.h1.heat-gap"/>
            <p:cNvSpPr/>
            <p:nvPr/>
          </p:nvSpPr>
          <p:spPr>
            <a:xfrm>
              <a:off x="39751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3.h1.heat"/>
            <p:cNvSpPr/>
            <p:nvPr/>
          </p:nvSpPr>
          <p:spPr>
            <a:xfrm>
              <a:off x="3994150" y="3092450"/>
              <a:ext cx="698500" cy="5207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1" name="node01.row.item-003.h2.heat-gap"/>
            <p:cNvSpPr/>
            <p:nvPr/>
          </p:nvSpPr>
          <p:spPr>
            <a:xfrm>
              <a:off x="47117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2.heat"/>
            <p:cNvSpPr/>
            <p:nvPr/>
          </p:nvSpPr>
          <p:spPr>
            <a:xfrm>
              <a:off x="4730750" y="30924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3" name="node01.row.item-003.h3.heat-gap"/>
            <p:cNvSpPr/>
            <p:nvPr/>
          </p:nvSpPr>
          <p:spPr>
            <a:xfrm>
              <a:off x="54483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3.heat"/>
            <p:cNvSpPr/>
            <p:nvPr/>
          </p:nvSpPr>
          <p:spPr>
            <a:xfrm>
              <a:off x="5467350" y="30924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5" name="node01.row.item-003.h4.heat-gap"/>
            <p:cNvSpPr/>
            <p:nvPr/>
          </p:nvSpPr>
          <p:spPr>
            <a:xfrm>
              <a:off x="61849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4.heat"/>
            <p:cNvSpPr/>
            <p:nvPr/>
          </p:nvSpPr>
          <p:spPr>
            <a:xfrm>
              <a:off x="6203950" y="30924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7" name="node01.row.item-004.h0.heat-gap"/>
            <p:cNvSpPr/>
            <p:nvPr/>
          </p:nvSpPr>
          <p:spPr>
            <a:xfrm>
              <a:off x="32385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4.h0.heat"/>
            <p:cNvSpPr/>
            <p:nvPr/>
          </p:nvSpPr>
          <p:spPr>
            <a:xfrm>
              <a:off x="3257550" y="36512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9" name="node01.row.item-004.h1.heat-gap"/>
            <p:cNvSpPr/>
            <p:nvPr/>
          </p:nvSpPr>
          <p:spPr>
            <a:xfrm>
              <a:off x="39751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4.h1.heat"/>
            <p:cNvSpPr/>
            <p:nvPr/>
          </p:nvSpPr>
          <p:spPr>
            <a:xfrm>
              <a:off x="3994150" y="36512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1" name="node01.row.item-004.h2.heat-gap"/>
            <p:cNvSpPr/>
            <p:nvPr/>
          </p:nvSpPr>
          <p:spPr>
            <a:xfrm>
              <a:off x="47117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4.h2.heat"/>
            <p:cNvSpPr/>
            <p:nvPr/>
          </p:nvSpPr>
          <p:spPr>
            <a:xfrm>
              <a:off x="4730750" y="36512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3" name="node01.row.item-004.h3.heat-gap"/>
            <p:cNvSpPr/>
            <p:nvPr/>
          </p:nvSpPr>
          <p:spPr>
            <a:xfrm>
              <a:off x="54483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3.heat"/>
            <p:cNvSpPr/>
            <p:nvPr/>
          </p:nvSpPr>
          <p:spPr>
            <a:xfrm>
              <a:off x="5467350" y="36512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5" name="node01.row.item-004.h4.heat-gap"/>
            <p:cNvSpPr/>
            <p:nvPr/>
          </p:nvSpPr>
          <p:spPr>
            <a:xfrm>
              <a:off x="61849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4.heat"/>
            <p:cNvSpPr/>
            <p:nvPr/>
          </p:nvSpPr>
          <p:spPr>
            <a:xfrm>
              <a:off x="6203950" y="3651250"/>
              <a:ext cx="6985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47" name="node01.row.item-005.h0.heat-gap"/>
            <p:cNvSpPr/>
            <p:nvPr/>
          </p:nvSpPr>
          <p:spPr>
            <a:xfrm>
              <a:off x="32385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5.h0.heat"/>
            <p:cNvSpPr/>
            <p:nvPr/>
          </p:nvSpPr>
          <p:spPr>
            <a:xfrm>
              <a:off x="3257550" y="42100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9" name="node01.row.item-005.h1.heat-gap"/>
            <p:cNvSpPr/>
            <p:nvPr/>
          </p:nvSpPr>
          <p:spPr>
            <a:xfrm>
              <a:off x="39751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5.h1.heat"/>
            <p:cNvSpPr/>
            <p:nvPr/>
          </p:nvSpPr>
          <p:spPr>
            <a:xfrm>
              <a:off x="3994150" y="42100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1" name="node01.row.item-005.h2.heat-gap"/>
            <p:cNvSpPr/>
            <p:nvPr/>
          </p:nvSpPr>
          <p:spPr>
            <a:xfrm>
              <a:off x="47117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5.h2.heat"/>
            <p:cNvSpPr/>
            <p:nvPr/>
          </p:nvSpPr>
          <p:spPr>
            <a:xfrm>
              <a:off x="4730750" y="42100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3" name="node01.row.item-005.h3.heat-gap"/>
            <p:cNvSpPr/>
            <p:nvPr/>
          </p:nvSpPr>
          <p:spPr>
            <a:xfrm>
              <a:off x="54483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5.h3.heat"/>
            <p:cNvSpPr/>
            <p:nvPr/>
          </p:nvSpPr>
          <p:spPr>
            <a:xfrm>
              <a:off x="5467350" y="42100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5" name="node01.row.item-005.h4.heat-gap"/>
            <p:cNvSpPr/>
            <p:nvPr/>
          </p:nvSpPr>
          <p:spPr>
            <a:xfrm>
              <a:off x="61849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h4.heat"/>
            <p:cNvSpPr/>
            <p:nvPr/>
          </p:nvSpPr>
          <p:spPr>
            <a:xfrm>
              <a:off x="6203950" y="42100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7" name="node01.row.item-006.h0.heat-gap"/>
            <p:cNvSpPr/>
            <p:nvPr/>
          </p:nvSpPr>
          <p:spPr>
            <a:xfrm>
              <a:off x="32385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6.h0.heat"/>
            <p:cNvSpPr/>
            <p:nvPr/>
          </p:nvSpPr>
          <p:spPr>
            <a:xfrm>
              <a:off x="3257550" y="4768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9" name="node01.row.item-006.h1.heat-gap"/>
            <p:cNvSpPr/>
            <p:nvPr/>
          </p:nvSpPr>
          <p:spPr>
            <a:xfrm>
              <a:off x="39751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6.h1.heat"/>
            <p:cNvSpPr/>
            <p:nvPr/>
          </p:nvSpPr>
          <p:spPr>
            <a:xfrm>
              <a:off x="3994150" y="4768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1" name="node01.row.item-006.h2.heat-gap"/>
            <p:cNvSpPr/>
            <p:nvPr/>
          </p:nvSpPr>
          <p:spPr>
            <a:xfrm>
              <a:off x="47117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6.h2.heat"/>
            <p:cNvSpPr/>
            <p:nvPr/>
          </p:nvSpPr>
          <p:spPr>
            <a:xfrm>
              <a:off x="4730750" y="4768850"/>
              <a:ext cx="6985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63" name="node01.row.item-006.h3.heat-gap"/>
            <p:cNvSpPr/>
            <p:nvPr/>
          </p:nvSpPr>
          <p:spPr>
            <a:xfrm>
              <a:off x="54483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6.h3.heat"/>
            <p:cNvSpPr/>
            <p:nvPr/>
          </p:nvSpPr>
          <p:spPr>
            <a:xfrm>
              <a:off x="5467350" y="47688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5" name="node01.row.item-006.h4.heat-gap"/>
            <p:cNvSpPr/>
            <p:nvPr/>
          </p:nvSpPr>
          <p:spPr>
            <a:xfrm>
              <a:off x="61849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6.h4.heat"/>
            <p:cNvSpPr/>
            <p:nvPr/>
          </p:nvSpPr>
          <p:spPr>
            <a:xfrm>
              <a:off x="6203950" y="4768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graphicFrame>
          <p:nvGraphicFramePr>
            <p:cNvPr id="67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1104900" y="1600200"/>
            <a:ext cx="10363200" cy="3708400"/>
          </p:xfrm>
          <a:graphic>
            <a:graphicData uri="http://schemas.openxmlformats.org/drawingml/2006/table">
              <a:tbl>
                <a:tblPr/>
                <a:tblGrid>
                  <a:gridCol w="2133600"/>
                  <a:gridCol w="736600"/>
                  <a:gridCol w="736600"/>
                  <a:gridCol w="736600"/>
                  <a:gridCol w="736600"/>
                  <a:gridCol w="736600"/>
                  <a:gridCol w="45466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PROCESS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TECHNOLOGY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PEOPLE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GOVERNANCE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WHAT WE FOUND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Two registration flows across sites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Eligibility is checked after arrival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Referrals arrive by fax and portal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No shared status view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5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Rules engine at posting is mature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Month-end review is still manual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Denial reasons are not coded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Rework has no owner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Templates are strong and reused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Voice capture live in two units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Handoffs run on phone and email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Care plans live in three tools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68" name="node01.row-group.source-001.fill"/>
            <p:cNvSpPr/>
            <p:nvPr/>
          </p:nvSpPr>
          <p:spPr>
            <a:xfrm>
              <a:off x="723900" y="1974850"/>
              <a:ext cx="304800" cy="1079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69" name="node01.row-group.source-001.label"/>
            <p:cNvSpPr/>
            <p:nvPr/>
          </p:nvSpPr>
          <p:spPr>
            <a:xfrm rot="-5400000">
              <a:off x="336550" y="2438400"/>
              <a:ext cx="1079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FRONT DOOR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70" name="node01.row-group.source-002.fill"/>
            <p:cNvSpPr/>
            <p:nvPr/>
          </p:nvSpPr>
          <p:spPr>
            <a:xfrm>
              <a:off x="723900" y="3092450"/>
              <a:ext cx="304800" cy="1079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71" name="node01.row-group.source-002.label"/>
            <p:cNvSpPr/>
            <p:nvPr/>
          </p:nvSpPr>
          <p:spPr>
            <a:xfrm rot="-5400000">
              <a:off x="336550" y="3556000"/>
              <a:ext cx="1079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REVENUE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72" name="node01.row-group.source-003.fill"/>
            <p:cNvSpPr/>
            <p:nvPr/>
          </p:nvSpPr>
          <p:spPr>
            <a:xfrm>
              <a:off x="723900" y="4210050"/>
              <a:ext cx="304800" cy="1079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73" name="node01.row-group.source-003.label"/>
            <p:cNvSpPr/>
            <p:nvPr/>
          </p:nvSpPr>
          <p:spPr>
            <a:xfrm rot="-5400000">
              <a:off x="336550" y="4673600"/>
              <a:ext cx="1079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CARE DELIVERY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</p:grpSp>
      <p:grpSp>
        <p:nvGrpSpPr>
          <p:cNvPr id="85" name="node02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74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75" name="node02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6" name="node02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7" name="node02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8" name="node02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9" name="node02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80" name="node02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1" name="node02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82" name="node02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3" name="node02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ROADMAP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Start with denials and referrals, then lift the rest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7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97" name="node01"/>
          <p:cNvGrpSpPr/>
          <p:nvPr/>
        </p:nvGrpSpPr>
        <p:grpSpPr>
          <a:xfrm>
            <a:off x="723900" y="1600200"/>
            <a:ext cx="10744200" cy="3708400"/>
            <a:chOff x="723900" y="1600200"/>
            <a:chExt cx="10744200" cy="37084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32385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3257550" y="19748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39751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3994150" y="1974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47117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4730750" y="1974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54483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5467350" y="19748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6184900" y="1955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6203950" y="1974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7" name="node01.row.item-002.h0.heat-gap"/>
            <p:cNvSpPr/>
            <p:nvPr/>
          </p:nvSpPr>
          <p:spPr>
            <a:xfrm>
              <a:off x="32385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2.h0.heat"/>
            <p:cNvSpPr/>
            <p:nvPr/>
          </p:nvSpPr>
          <p:spPr>
            <a:xfrm>
              <a:off x="3257550" y="25336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h1.heat-gap"/>
            <p:cNvSpPr/>
            <p:nvPr/>
          </p:nvSpPr>
          <p:spPr>
            <a:xfrm>
              <a:off x="39751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1.heat"/>
            <p:cNvSpPr/>
            <p:nvPr/>
          </p:nvSpPr>
          <p:spPr>
            <a:xfrm>
              <a:off x="3994150" y="2533650"/>
              <a:ext cx="6985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21" name="node01.row.item-002.h2.heat-gap"/>
            <p:cNvSpPr/>
            <p:nvPr/>
          </p:nvSpPr>
          <p:spPr>
            <a:xfrm>
              <a:off x="47117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2.heat"/>
            <p:cNvSpPr/>
            <p:nvPr/>
          </p:nvSpPr>
          <p:spPr>
            <a:xfrm>
              <a:off x="4730750" y="2533650"/>
              <a:ext cx="6985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23" name="node01.row.item-002.h3.heat-gap"/>
            <p:cNvSpPr/>
            <p:nvPr/>
          </p:nvSpPr>
          <p:spPr>
            <a:xfrm>
              <a:off x="54483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3.heat"/>
            <p:cNvSpPr/>
            <p:nvPr/>
          </p:nvSpPr>
          <p:spPr>
            <a:xfrm>
              <a:off x="5467350" y="25336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5" name="node01.row.item-002.h4.heat-gap"/>
            <p:cNvSpPr/>
            <p:nvPr/>
          </p:nvSpPr>
          <p:spPr>
            <a:xfrm>
              <a:off x="6184900" y="25146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4.heat"/>
            <p:cNvSpPr/>
            <p:nvPr/>
          </p:nvSpPr>
          <p:spPr>
            <a:xfrm>
              <a:off x="6203950" y="25336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7" name="node01.row.item-003.h0.heat-gap"/>
            <p:cNvSpPr/>
            <p:nvPr/>
          </p:nvSpPr>
          <p:spPr>
            <a:xfrm>
              <a:off x="32385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3.h0.heat"/>
            <p:cNvSpPr/>
            <p:nvPr/>
          </p:nvSpPr>
          <p:spPr>
            <a:xfrm>
              <a:off x="3257550" y="30924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29" name="node01.row.item-003.h1.heat-gap"/>
            <p:cNvSpPr/>
            <p:nvPr/>
          </p:nvSpPr>
          <p:spPr>
            <a:xfrm>
              <a:off x="39751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3.h1.heat"/>
            <p:cNvSpPr/>
            <p:nvPr/>
          </p:nvSpPr>
          <p:spPr>
            <a:xfrm>
              <a:off x="3994150" y="3092450"/>
              <a:ext cx="698500" cy="5207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1" name="node01.row.item-003.h2.heat-gap"/>
            <p:cNvSpPr/>
            <p:nvPr/>
          </p:nvSpPr>
          <p:spPr>
            <a:xfrm>
              <a:off x="47117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2.heat"/>
            <p:cNvSpPr/>
            <p:nvPr/>
          </p:nvSpPr>
          <p:spPr>
            <a:xfrm>
              <a:off x="4730750" y="30924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3" name="node01.row.item-003.h3.heat-gap"/>
            <p:cNvSpPr/>
            <p:nvPr/>
          </p:nvSpPr>
          <p:spPr>
            <a:xfrm>
              <a:off x="54483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3.heat"/>
            <p:cNvSpPr/>
            <p:nvPr/>
          </p:nvSpPr>
          <p:spPr>
            <a:xfrm>
              <a:off x="5467350" y="30924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5" name="node01.row.item-003.h4.heat-gap"/>
            <p:cNvSpPr/>
            <p:nvPr/>
          </p:nvSpPr>
          <p:spPr>
            <a:xfrm>
              <a:off x="6184900" y="30734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4.heat"/>
            <p:cNvSpPr/>
            <p:nvPr/>
          </p:nvSpPr>
          <p:spPr>
            <a:xfrm>
              <a:off x="6203950" y="30924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7" name="node01.row.item-004.h0.heat-gap"/>
            <p:cNvSpPr/>
            <p:nvPr/>
          </p:nvSpPr>
          <p:spPr>
            <a:xfrm>
              <a:off x="32385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4.h0.heat"/>
            <p:cNvSpPr/>
            <p:nvPr/>
          </p:nvSpPr>
          <p:spPr>
            <a:xfrm>
              <a:off x="3257550" y="36512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9" name="node01.row.item-004.h1.heat-gap"/>
            <p:cNvSpPr/>
            <p:nvPr/>
          </p:nvSpPr>
          <p:spPr>
            <a:xfrm>
              <a:off x="39751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4.h1.heat"/>
            <p:cNvSpPr/>
            <p:nvPr/>
          </p:nvSpPr>
          <p:spPr>
            <a:xfrm>
              <a:off x="3994150" y="36512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1" name="node01.row.item-004.h2.heat-gap"/>
            <p:cNvSpPr/>
            <p:nvPr/>
          </p:nvSpPr>
          <p:spPr>
            <a:xfrm>
              <a:off x="47117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4.h2.heat"/>
            <p:cNvSpPr/>
            <p:nvPr/>
          </p:nvSpPr>
          <p:spPr>
            <a:xfrm>
              <a:off x="4730750" y="36512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3" name="node01.row.item-004.h3.heat-gap"/>
            <p:cNvSpPr/>
            <p:nvPr/>
          </p:nvSpPr>
          <p:spPr>
            <a:xfrm>
              <a:off x="54483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3.heat"/>
            <p:cNvSpPr/>
            <p:nvPr/>
          </p:nvSpPr>
          <p:spPr>
            <a:xfrm>
              <a:off x="5467350" y="36512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5" name="node01.row.item-004.h4.heat-gap"/>
            <p:cNvSpPr/>
            <p:nvPr/>
          </p:nvSpPr>
          <p:spPr>
            <a:xfrm>
              <a:off x="6184900" y="36322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4.heat"/>
            <p:cNvSpPr/>
            <p:nvPr/>
          </p:nvSpPr>
          <p:spPr>
            <a:xfrm>
              <a:off x="6203950" y="3651250"/>
              <a:ext cx="6985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47" name="node01.row.item-005.h0.heat-gap"/>
            <p:cNvSpPr/>
            <p:nvPr/>
          </p:nvSpPr>
          <p:spPr>
            <a:xfrm>
              <a:off x="32385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5.h0.heat"/>
            <p:cNvSpPr/>
            <p:nvPr/>
          </p:nvSpPr>
          <p:spPr>
            <a:xfrm>
              <a:off x="3257550" y="42100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9" name="node01.row.item-005.h1.heat-gap"/>
            <p:cNvSpPr/>
            <p:nvPr/>
          </p:nvSpPr>
          <p:spPr>
            <a:xfrm>
              <a:off x="39751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5.h1.heat"/>
            <p:cNvSpPr/>
            <p:nvPr/>
          </p:nvSpPr>
          <p:spPr>
            <a:xfrm>
              <a:off x="3994150" y="42100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1" name="node01.row.item-005.h2.heat-gap"/>
            <p:cNvSpPr/>
            <p:nvPr/>
          </p:nvSpPr>
          <p:spPr>
            <a:xfrm>
              <a:off x="47117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5.h2.heat"/>
            <p:cNvSpPr/>
            <p:nvPr/>
          </p:nvSpPr>
          <p:spPr>
            <a:xfrm>
              <a:off x="4730750" y="42100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3" name="node01.row.item-005.h3.heat-gap"/>
            <p:cNvSpPr/>
            <p:nvPr/>
          </p:nvSpPr>
          <p:spPr>
            <a:xfrm>
              <a:off x="54483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5.h3.heat"/>
            <p:cNvSpPr/>
            <p:nvPr/>
          </p:nvSpPr>
          <p:spPr>
            <a:xfrm>
              <a:off x="5467350" y="4210050"/>
              <a:ext cx="698500" cy="5207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5" name="node01.row.item-005.h4.heat-gap"/>
            <p:cNvSpPr/>
            <p:nvPr/>
          </p:nvSpPr>
          <p:spPr>
            <a:xfrm>
              <a:off x="6184900" y="41910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h4.heat"/>
            <p:cNvSpPr/>
            <p:nvPr/>
          </p:nvSpPr>
          <p:spPr>
            <a:xfrm>
              <a:off x="6203950" y="42100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7" name="node01.row.item-006.h0.heat-gap"/>
            <p:cNvSpPr/>
            <p:nvPr/>
          </p:nvSpPr>
          <p:spPr>
            <a:xfrm>
              <a:off x="32385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6.h0.heat"/>
            <p:cNvSpPr/>
            <p:nvPr/>
          </p:nvSpPr>
          <p:spPr>
            <a:xfrm>
              <a:off x="3257550" y="4768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9" name="node01.row.item-006.h1.heat-gap"/>
            <p:cNvSpPr/>
            <p:nvPr/>
          </p:nvSpPr>
          <p:spPr>
            <a:xfrm>
              <a:off x="39751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6.h1.heat"/>
            <p:cNvSpPr/>
            <p:nvPr/>
          </p:nvSpPr>
          <p:spPr>
            <a:xfrm>
              <a:off x="3994150" y="4768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1" name="node01.row.item-006.h2.heat-gap"/>
            <p:cNvSpPr/>
            <p:nvPr/>
          </p:nvSpPr>
          <p:spPr>
            <a:xfrm>
              <a:off x="47117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6.h2.heat"/>
            <p:cNvSpPr/>
            <p:nvPr/>
          </p:nvSpPr>
          <p:spPr>
            <a:xfrm>
              <a:off x="4730750" y="4768850"/>
              <a:ext cx="698500" cy="5207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63" name="node01.row.item-006.h3.heat-gap"/>
            <p:cNvSpPr/>
            <p:nvPr/>
          </p:nvSpPr>
          <p:spPr>
            <a:xfrm>
              <a:off x="54483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6.h3.heat"/>
            <p:cNvSpPr/>
            <p:nvPr/>
          </p:nvSpPr>
          <p:spPr>
            <a:xfrm>
              <a:off x="5467350" y="4768850"/>
              <a:ext cx="698500" cy="5207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5" name="node01.row.item-006.h4.heat-gap"/>
            <p:cNvSpPr/>
            <p:nvPr/>
          </p:nvSpPr>
          <p:spPr>
            <a:xfrm>
              <a:off x="6184900" y="4749800"/>
              <a:ext cx="7366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6.h4.heat"/>
            <p:cNvSpPr/>
            <p:nvPr/>
          </p:nvSpPr>
          <p:spPr>
            <a:xfrm>
              <a:off x="6203950" y="4768850"/>
              <a:ext cx="698500" cy="5207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graphicFrame>
          <p:nvGraphicFramePr>
            <p:cNvPr id="67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1104900" y="1600200"/>
            <a:ext cx="10363200" cy="3708400"/>
          </p:xfrm>
          <a:graphic>
            <a:graphicData uri="http://schemas.openxmlformats.org/drawingml/2006/table">
              <a:tbl>
                <a:tblPr/>
                <a:tblGrid>
                  <a:gridCol w="2133600"/>
                  <a:gridCol w="736600"/>
                  <a:gridCol w="736600"/>
                  <a:gridCol w="736600"/>
                  <a:gridCol w="736600"/>
                  <a:gridCol w="736600"/>
                  <a:gridCol w="914400"/>
                  <a:gridCol w="36322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PROCESS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TECHNOLOGY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PEOPLE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GOVERNANCE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HORIZON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WHAT WE FOUND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Two registration flows across sites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Eligibility is checked after arrival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Referrals arrive by fax and portal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No shared status view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5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Rules engine at posting is mature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Month-end review is still manual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Denial reasons are not coded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Rework has no owner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Templates are strong and reused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Voice capture live in two units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5588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Handoffs run on phone and email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Care plans live in three tools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68" name="node01.row.item-001.st.priority.fill"/>
            <p:cNvSpPr/>
            <p:nvPr/>
          </p:nvSpPr>
          <p:spPr>
            <a:xfrm>
              <a:off x="7124700" y="2124075"/>
              <a:ext cx="508000" cy="222250"/>
            </a:xfrm>
            <a:prstGeom prst="rect">
              <a:avLst/>
            </a:prstGeom>
            <a:solidFill>
              <a:srgbClr val="CED7E6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69" name="node01.row.item-001.st.priority"/>
            <p:cNvSpPr/>
            <p:nvPr/>
          </p:nvSpPr>
          <p:spPr>
            <a:xfrm>
              <a:off x="7226300" y="21494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NEXT</a:t>
              </a:r>
              <a:endParaRPr lang="en-US" sz="900" spc="54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70" name="node01.row.item-002.st.priority.fill"/>
            <p:cNvSpPr/>
            <p:nvPr/>
          </p:nvSpPr>
          <p:spPr>
            <a:xfrm>
              <a:off x="7124700" y="2682875"/>
              <a:ext cx="508000" cy="22225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71" name="node01.row.item-002.st.priority"/>
            <p:cNvSpPr/>
            <p:nvPr/>
          </p:nvSpPr>
          <p:spPr>
            <a:xfrm>
              <a:off x="7226300" y="27082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NOW</a:t>
              </a:r>
              <a:endParaRPr lang="en-US" sz="900" spc="54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72" name="node01.row.item-003.st.priority.fill"/>
            <p:cNvSpPr/>
            <p:nvPr/>
          </p:nvSpPr>
          <p:spPr>
            <a:xfrm>
              <a:off x="7089298" y="3241675"/>
              <a:ext cx="578805" cy="22225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73" name="node01.row.item-003.st.priority"/>
            <p:cNvSpPr/>
            <p:nvPr/>
          </p:nvSpPr>
          <p:spPr>
            <a:xfrm>
              <a:off x="7190898" y="3267075"/>
              <a:ext cx="375605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LATER</a:t>
              </a:r>
              <a:endParaRPr lang="en-US" sz="900" spc="54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74" name="node01.row.item-004.st.priority.fill"/>
            <p:cNvSpPr/>
            <p:nvPr/>
          </p:nvSpPr>
          <p:spPr>
            <a:xfrm>
              <a:off x="7124700" y="3800475"/>
              <a:ext cx="508000" cy="22225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75" name="node01.row.item-004.st.priority"/>
            <p:cNvSpPr/>
            <p:nvPr/>
          </p:nvSpPr>
          <p:spPr>
            <a:xfrm>
              <a:off x="7226300" y="38258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NOW</a:t>
              </a:r>
              <a:endParaRPr lang="en-US" sz="900" spc="54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76" name="node01.row.item-005.st.priority.fill"/>
            <p:cNvSpPr/>
            <p:nvPr/>
          </p:nvSpPr>
          <p:spPr>
            <a:xfrm>
              <a:off x="7089298" y="4359275"/>
              <a:ext cx="578805" cy="22225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77" name="node01.row.item-005.st.priority"/>
            <p:cNvSpPr/>
            <p:nvPr/>
          </p:nvSpPr>
          <p:spPr>
            <a:xfrm>
              <a:off x="7190898" y="4384675"/>
              <a:ext cx="375605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LATER</a:t>
              </a:r>
              <a:endParaRPr lang="en-US" sz="900" spc="54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78" name="node01.row.item-006.st.priority.fill"/>
            <p:cNvSpPr/>
            <p:nvPr/>
          </p:nvSpPr>
          <p:spPr>
            <a:xfrm>
              <a:off x="7124700" y="4918075"/>
              <a:ext cx="508000" cy="222250"/>
            </a:xfrm>
            <a:prstGeom prst="rect">
              <a:avLst/>
            </a:prstGeom>
            <a:solidFill>
              <a:srgbClr val="CED7E6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79" name="node01.row.item-006.st.priority"/>
            <p:cNvSpPr/>
            <p:nvPr/>
          </p:nvSpPr>
          <p:spPr>
            <a:xfrm>
              <a:off x="7226300" y="49434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NEXT</a:t>
              </a:r>
              <a:endParaRPr lang="en-US" sz="900" spc="54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80" name="node01.row-group.source-001.fill"/>
            <p:cNvSpPr/>
            <p:nvPr/>
          </p:nvSpPr>
          <p:spPr>
            <a:xfrm>
              <a:off x="723900" y="1974850"/>
              <a:ext cx="304800" cy="1079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1" name="node01.row-group.source-001.label"/>
            <p:cNvSpPr/>
            <p:nvPr/>
          </p:nvSpPr>
          <p:spPr>
            <a:xfrm rot="-5400000">
              <a:off x="336550" y="2438400"/>
              <a:ext cx="1079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FRONT DOOR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82" name="node01.row-group.source-002.fill"/>
            <p:cNvSpPr/>
            <p:nvPr/>
          </p:nvSpPr>
          <p:spPr>
            <a:xfrm>
              <a:off x="723900" y="3092450"/>
              <a:ext cx="304800" cy="1079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3" name="node01.row-group.source-002.label"/>
            <p:cNvSpPr/>
            <p:nvPr/>
          </p:nvSpPr>
          <p:spPr>
            <a:xfrm rot="-5400000">
              <a:off x="336550" y="3556000"/>
              <a:ext cx="1079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REVENUE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84" name="node01.row-group.source-003.fill"/>
            <p:cNvSpPr/>
            <p:nvPr/>
          </p:nvSpPr>
          <p:spPr>
            <a:xfrm>
              <a:off x="723900" y="4210050"/>
              <a:ext cx="304800" cy="1079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5" name="node01.row-group.source-003.label"/>
            <p:cNvSpPr/>
            <p:nvPr/>
          </p:nvSpPr>
          <p:spPr>
            <a:xfrm rot="-5400000">
              <a:off x="336550" y="4673600"/>
              <a:ext cx="10795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CARE DELIVERY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</p:grpSp>
      <p:grpSp>
        <p:nvGrpSpPr>
          <p:cNvPr id="98" name="node02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86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87" name="node02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88" name="node02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89" name="node02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0" name="node02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1" name="node02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2" name="node02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3" name="node02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4" name="node02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5" name="node02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99" name="node03"/>
          <p:cNvGrpSpPr/>
          <p:nvPr/>
        </p:nvGrpSpPr>
        <p:grpSpPr>
          <a:xfrm>
            <a:off x="8039100" y="5486400"/>
            <a:ext cx="3429000" cy="228600"/>
            <a:chOff x="8039100" y="5486400"/>
            <a:chExt cx="3429000" cy="228600"/>
          </a:xfrm>
        </p:grpSpPr>
        <p:sp>
          <p:nvSpPr>
            <p:cNvPr id="96" name="node03.text"/>
            <p:cNvSpPr/>
            <p:nvPr/>
          </p:nvSpPr>
          <p:spPr>
            <a:xfrm>
              <a:off x="8039100" y="5486400"/>
              <a:ext cx="3429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Now this quarter, Next after, Later backlog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8039100" y="4572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8039100" y="6858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spc="-36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Seven capabilities and the reason behind each score</a:t>
            </a:r>
            <a:endParaRPr lang="en-US" sz="2400" spc="-36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8039100" y="58293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8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94" name="node01"/>
          <p:cNvGrpSpPr/>
          <p:nvPr/>
        </p:nvGrpSpPr>
        <p:grpSpPr>
          <a:xfrm>
            <a:off x="723900" y="457200"/>
            <a:ext cx="7086600" cy="4978400"/>
            <a:chOff x="723900" y="457200"/>
            <a:chExt cx="7086600" cy="49784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2171700" y="812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2190750" y="8318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2679700" y="812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2698750" y="8318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3187700" y="812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3206750" y="8318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3695700" y="812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3714750" y="8318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4203700" y="812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4222750" y="8318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7" name="node01.row.item-002.h0.heat-gap"/>
            <p:cNvSpPr/>
            <p:nvPr/>
          </p:nvSpPr>
          <p:spPr>
            <a:xfrm>
              <a:off x="2171700" y="1473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2.h0.heat"/>
            <p:cNvSpPr/>
            <p:nvPr/>
          </p:nvSpPr>
          <p:spPr>
            <a:xfrm>
              <a:off x="2190750" y="14922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9" name="node01.row.item-002.h1.heat-gap"/>
            <p:cNvSpPr/>
            <p:nvPr/>
          </p:nvSpPr>
          <p:spPr>
            <a:xfrm>
              <a:off x="2679700" y="1473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1.heat"/>
            <p:cNvSpPr/>
            <p:nvPr/>
          </p:nvSpPr>
          <p:spPr>
            <a:xfrm>
              <a:off x="2698750" y="14922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1" name="node01.row.item-002.h2.heat-gap"/>
            <p:cNvSpPr/>
            <p:nvPr/>
          </p:nvSpPr>
          <p:spPr>
            <a:xfrm>
              <a:off x="3187700" y="1473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2.heat"/>
            <p:cNvSpPr/>
            <p:nvPr/>
          </p:nvSpPr>
          <p:spPr>
            <a:xfrm>
              <a:off x="3206750" y="14922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3" name="node01.row.item-002.h3.heat-gap"/>
            <p:cNvSpPr/>
            <p:nvPr/>
          </p:nvSpPr>
          <p:spPr>
            <a:xfrm>
              <a:off x="3695700" y="1473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3.heat"/>
            <p:cNvSpPr/>
            <p:nvPr/>
          </p:nvSpPr>
          <p:spPr>
            <a:xfrm>
              <a:off x="3714750" y="14922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5" name="node01.row.item-002.h4.heat-gap"/>
            <p:cNvSpPr/>
            <p:nvPr/>
          </p:nvSpPr>
          <p:spPr>
            <a:xfrm>
              <a:off x="4203700" y="1473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4.heat"/>
            <p:cNvSpPr/>
            <p:nvPr/>
          </p:nvSpPr>
          <p:spPr>
            <a:xfrm>
              <a:off x="4222750" y="14922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7" name="node01.row.item-003.h0.heat-gap"/>
            <p:cNvSpPr/>
            <p:nvPr/>
          </p:nvSpPr>
          <p:spPr>
            <a:xfrm>
              <a:off x="2171700" y="21336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3.h0.heat"/>
            <p:cNvSpPr/>
            <p:nvPr/>
          </p:nvSpPr>
          <p:spPr>
            <a:xfrm>
              <a:off x="2190750" y="21526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9" name="node01.row.item-003.h1.heat-gap"/>
            <p:cNvSpPr/>
            <p:nvPr/>
          </p:nvSpPr>
          <p:spPr>
            <a:xfrm>
              <a:off x="2679700" y="21336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3.h1.heat"/>
            <p:cNvSpPr/>
            <p:nvPr/>
          </p:nvSpPr>
          <p:spPr>
            <a:xfrm>
              <a:off x="2698750" y="2152650"/>
              <a:ext cx="469900" cy="622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1" name="node01.row.item-003.h2.heat-gap"/>
            <p:cNvSpPr/>
            <p:nvPr/>
          </p:nvSpPr>
          <p:spPr>
            <a:xfrm>
              <a:off x="3187700" y="21336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2.heat"/>
            <p:cNvSpPr/>
            <p:nvPr/>
          </p:nvSpPr>
          <p:spPr>
            <a:xfrm>
              <a:off x="3206750" y="2152650"/>
              <a:ext cx="469900" cy="622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3" name="node01.row.item-003.h3.heat-gap"/>
            <p:cNvSpPr/>
            <p:nvPr/>
          </p:nvSpPr>
          <p:spPr>
            <a:xfrm>
              <a:off x="3695700" y="21336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3.heat"/>
            <p:cNvSpPr/>
            <p:nvPr/>
          </p:nvSpPr>
          <p:spPr>
            <a:xfrm>
              <a:off x="3714750" y="21526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5" name="node01.row.item-003.h4.heat-gap"/>
            <p:cNvSpPr/>
            <p:nvPr/>
          </p:nvSpPr>
          <p:spPr>
            <a:xfrm>
              <a:off x="4203700" y="21336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4.heat"/>
            <p:cNvSpPr/>
            <p:nvPr/>
          </p:nvSpPr>
          <p:spPr>
            <a:xfrm>
              <a:off x="4222750" y="21526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7" name="node01.row.item-004.h0.heat-gap"/>
            <p:cNvSpPr/>
            <p:nvPr/>
          </p:nvSpPr>
          <p:spPr>
            <a:xfrm>
              <a:off x="2171700" y="27940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4.h0.heat"/>
            <p:cNvSpPr/>
            <p:nvPr/>
          </p:nvSpPr>
          <p:spPr>
            <a:xfrm>
              <a:off x="2190750" y="2813050"/>
              <a:ext cx="469900" cy="622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39" name="node01.row.item-004.h1.heat-gap"/>
            <p:cNvSpPr/>
            <p:nvPr/>
          </p:nvSpPr>
          <p:spPr>
            <a:xfrm>
              <a:off x="2679700" y="27940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4.h1.heat"/>
            <p:cNvSpPr/>
            <p:nvPr/>
          </p:nvSpPr>
          <p:spPr>
            <a:xfrm>
              <a:off x="2698750" y="2813050"/>
              <a:ext cx="469900" cy="6223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41" name="node01.row.item-004.h2.heat-gap"/>
            <p:cNvSpPr/>
            <p:nvPr/>
          </p:nvSpPr>
          <p:spPr>
            <a:xfrm>
              <a:off x="3187700" y="27940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4.h2.heat"/>
            <p:cNvSpPr/>
            <p:nvPr/>
          </p:nvSpPr>
          <p:spPr>
            <a:xfrm>
              <a:off x="3206750" y="28130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3" name="node01.row.item-004.h3.heat-gap"/>
            <p:cNvSpPr/>
            <p:nvPr/>
          </p:nvSpPr>
          <p:spPr>
            <a:xfrm>
              <a:off x="3695700" y="27940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3.heat"/>
            <p:cNvSpPr/>
            <p:nvPr/>
          </p:nvSpPr>
          <p:spPr>
            <a:xfrm>
              <a:off x="3714750" y="28130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5" name="node01.row.item-004.h4.heat-gap"/>
            <p:cNvSpPr/>
            <p:nvPr/>
          </p:nvSpPr>
          <p:spPr>
            <a:xfrm>
              <a:off x="4203700" y="27940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4.heat"/>
            <p:cNvSpPr/>
            <p:nvPr/>
          </p:nvSpPr>
          <p:spPr>
            <a:xfrm>
              <a:off x="4222750" y="2813050"/>
              <a:ext cx="469900" cy="622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7" name="node01.row.item-005.h0.heat-gap"/>
            <p:cNvSpPr/>
            <p:nvPr/>
          </p:nvSpPr>
          <p:spPr>
            <a:xfrm>
              <a:off x="2171700" y="34544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5.h0.heat"/>
            <p:cNvSpPr/>
            <p:nvPr/>
          </p:nvSpPr>
          <p:spPr>
            <a:xfrm>
              <a:off x="2190750" y="34734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9" name="node01.row.item-005.h1.heat-gap"/>
            <p:cNvSpPr/>
            <p:nvPr/>
          </p:nvSpPr>
          <p:spPr>
            <a:xfrm>
              <a:off x="2679700" y="34544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5.h1.heat"/>
            <p:cNvSpPr/>
            <p:nvPr/>
          </p:nvSpPr>
          <p:spPr>
            <a:xfrm>
              <a:off x="2698750" y="34734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1" name="node01.row.item-005.h2.heat-gap"/>
            <p:cNvSpPr/>
            <p:nvPr/>
          </p:nvSpPr>
          <p:spPr>
            <a:xfrm>
              <a:off x="3187700" y="34544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5.h2.heat"/>
            <p:cNvSpPr/>
            <p:nvPr/>
          </p:nvSpPr>
          <p:spPr>
            <a:xfrm>
              <a:off x="3206750" y="34734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3" name="node01.row.item-005.h3.heat-gap"/>
            <p:cNvSpPr/>
            <p:nvPr/>
          </p:nvSpPr>
          <p:spPr>
            <a:xfrm>
              <a:off x="3695700" y="34544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5.h3.heat"/>
            <p:cNvSpPr/>
            <p:nvPr/>
          </p:nvSpPr>
          <p:spPr>
            <a:xfrm>
              <a:off x="3714750" y="34734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5" name="node01.row.item-005.h4.heat-gap"/>
            <p:cNvSpPr/>
            <p:nvPr/>
          </p:nvSpPr>
          <p:spPr>
            <a:xfrm>
              <a:off x="4203700" y="34544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h4.heat"/>
            <p:cNvSpPr/>
            <p:nvPr/>
          </p:nvSpPr>
          <p:spPr>
            <a:xfrm>
              <a:off x="4222750" y="34734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7" name="node01.row.item-006.h0.heat-gap"/>
            <p:cNvSpPr/>
            <p:nvPr/>
          </p:nvSpPr>
          <p:spPr>
            <a:xfrm>
              <a:off x="2171700" y="4114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6.h0.heat"/>
            <p:cNvSpPr/>
            <p:nvPr/>
          </p:nvSpPr>
          <p:spPr>
            <a:xfrm>
              <a:off x="2190750" y="41338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9" name="node01.row.item-006.h1.heat-gap"/>
            <p:cNvSpPr/>
            <p:nvPr/>
          </p:nvSpPr>
          <p:spPr>
            <a:xfrm>
              <a:off x="2679700" y="4114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6.h1.heat"/>
            <p:cNvSpPr/>
            <p:nvPr/>
          </p:nvSpPr>
          <p:spPr>
            <a:xfrm>
              <a:off x="2698750" y="41338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1" name="node01.row.item-006.h2.heat-gap"/>
            <p:cNvSpPr/>
            <p:nvPr/>
          </p:nvSpPr>
          <p:spPr>
            <a:xfrm>
              <a:off x="3187700" y="4114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6.h2.heat"/>
            <p:cNvSpPr/>
            <p:nvPr/>
          </p:nvSpPr>
          <p:spPr>
            <a:xfrm>
              <a:off x="3206750" y="41338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3" name="node01.row.item-006.h3.heat-gap"/>
            <p:cNvSpPr/>
            <p:nvPr/>
          </p:nvSpPr>
          <p:spPr>
            <a:xfrm>
              <a:off x="3695700" y="4114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6.h3.heat"/>
            <p:cNvSpPr/>
            <p:nvPr/>
          </p:nvSpPr>
          <p:spPr>
            <a:xfrm>
              <a:off x="3714750" y="4133850"/>
              <a:ext cx="469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5" name="node01.row.item-006.h4.heat-gap"/>
            <p:cNvSpPr/>
            <p:nvPr/>
          </p:nvSpPr>
          <p:spPr>
            <a:xfrm>
              <a:off x="4203700" y="41148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6.h4.heat"/>
            <p:cNvSpPr/>
            <p:nvPr/>
          </p:nvSpPr>
          <p:spPr>
            <a:xfrm>
              <a:off x="4222750" y="4133850"/>
              <a:ext cx="469900" cy="622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67" name="node01.row.item-007.h0.heat-gap"/>
            <p:cNvSpPr/>
            <p:nvPr/>
          </p:nvSpPr>
          <p:spPr>
            <a:xfrm>
              <a:off x="2171700" y="4775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node01.row.item-007.h0.heat"/>
            <p:cNvSpPr/>
            <p:nvPr/>
          </p:nvSpPr>
          <p:spPr>
            <a:xfrm>
              <a:off x="2190750" y="4794250"/>
              <a:ext cx="469900" cy="622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69" name="node01.row.item-007.h1.heat-gap"/>
            <p:cNvSpPr/>
            <p:nvPr/>
          </p:nvSpPr>
          <p:spPr>
            <a:xfrm>
              <a:off x="2679700" y="4775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node01.row.item-007.h1.heat"/>
            <p:cNvSpPr/>
            <p:nvPr/>
          </p:nvSpPr>
          <p:spPr>
            <a:xfrm>
              <a:off x="2698750" y="4794250"/>
              <a:ext cx="469900" cy="622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71" name="node01.row.item-007.h2.heat-gap"/>
            <p:cNvSpPr/>
            <p:nvPr/>
          </p:nvSpPr>
          <p:spPr>
            <a:xfrm>
              <a:off x="3187700" y="4775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node01.row.item-007.h2.heat"/>
            <p:cNvSpPr/>
            <p:nvPr/>
          </p:nvSpPr>
          <p:spPr>
            <a:xfrm>
              <a:off x="3206750" y="47942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3" name="node01.row.item-007.h3.heat-gap"/>
            <p:cNvSpPr/>
            <p:nvPr/>
          </p:nvSpPr>
          <p:spPr>
            <a:xfrm>
              <a:off x="3695700" y="4775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node01.row.item-007.h3.heat"/>
            <p:cNvSpPr/>
            <p:nvPr/>
          </p:nvSpPr>
          <p:spPr>
            <a:xfrm>
              <a:off x="3714750" y="4794250"/>
              <a:ext cx="469900" cy="622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75" name="node01.row.item-007.h4.heat-gap"/>
            <p:cNvSpPr/>
            <p:nvPr/>
          </p:nvSpPr>
          <p:spPr>
            <a:xfrm>
              <a:off x="4203700" y="4775200"/>
              <a:ext cx="508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node01.row.item-007.h4.heat"/>
            <p:cNvSpPr/>
            <p:nvPr/>
          </p:nvSpPr>
          <p:spPr>
            <a:xfrm>
              <a:off x="4222750" y="4794250"/>
              <a:ext cx="469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graphicFrame>
          <p:nvGraphicFramePr>
            <p:cNvPr id="77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723900" y="457200"/>
            <a:ext cx="7086600" cy="4978400"/>
          </p:xfrm>
          <a:graphic>
            <a:graphicData uri="http://schemas.openxmlformats.org/drawingml/2006/table">
              <a:tbl>
                <a:tblPr/>
                <a:tblGrid>
                  <a:gridCol w="1447800"/>
                  <a:gridCol w="508000"/>
                  <a:gridCol w="508000"/>
                  <a:gridCol w="508000"/>
                  <a:gridCol w="508000"/>
                  <a:gridCol w="508000"/>
                  <a:gridCol w="30988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PPL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NOTES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Two registration flows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Eligibility checked late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Scheduling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Rules differ by clinic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Self-scheduling at 3 sites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Faxes and portal mixed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No shared status view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5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Rules engine is mature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Month-end review is manual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billing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Statements are on time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Plans sit outside billing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Denials are not coded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Rework has no owner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Templates well reused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Voice capture in 2 units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  <p:grpSp>
        <p:nvGrpSpPr>
          <p:cNvPr id="95" name="node02"/>
          <p:cNvGrpSpPr/>
          <p:nvPr/>
        </p:nvGrpSpPr>
        <p:grpSpPr>
          <a:xfrm>
            <a:off x="8039100" y="2286000"/>
            <a:ext cx="3429000" cy="1219200"/>
            <a:chOff x="8039100" y="2286000"/>
            <a:chExt cx="3429000" cy="1219200"/>
          </a:xfrm>
        </p:grpSpPr>
        <p:sp>
          <p:nvSpPr>
            <p:cNvPr id="78" name="node02.source-001.bullet"/>
            <p:cNvSpPr/>
            <p:nvPr/>
          </p:nvSpPr>
          <p:spPr>
            <a:xfrm>
              <a:off x="8039100" y="23749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79" name="node02.source-001.text"/>
            <p:cNvSpPr/>
            <p:nvPr/>
          </p:nvSpPr>
          <p:spPr>
            <a:xfrm>
              <a:off x="8191500" y="2286000"/>
              <a:ext cx="32766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Process leads.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It is the top score in five of seven rows.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80" name="node02.source-002.bullet"/>
            <p:cNvSpPr/>
            <p:nvPr/>
          </p:nvSpPr>
          <p:spPr>
            <a:xfrm>
              <a:off x="8039100" y="28702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1" name="node02.source-002.text"/>
            <p:cNvSpPr/>
            <p:nvPr/>
          </p:nvSpPr>
          <p:spPr>
            <a:xfrm>
              <a:off x="8191500" y="2781300"/>
              <a:ext cx="32766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Data lags.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Referral management scores 1 on technology and data.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82" name="node02.source-003.bullet"/>
            <p:cNvSpPr/>
            <p:nvPr/>
          </p:nvSpPr>
          <p:spPr>
            <a:xfrm>
              <a:off x="8039100" y="33655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3" name="node02.source-003.text"/>
            <p:cNvSpPr/>
            <p:nvPr/>
          </p:nvSpPr>
          <p:spPr>
            <a:xfrm>
              <a:off x="8191500" y="3276600"/>
              <a:ext cx="3276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Floor.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Denials has a 1 on governance.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96" name="node03"/>
          <p:cNvGrpSpPr/>
          <p:nvPr/>
        </p:nvGrpSpPr>
        <p:grpSpPr>
          <a:xfrm>
            <a:off x="8039100" y="3886200"/>
            <a:ext cx="1306513" cy="1600200"/>
            <a:chOff x="8039100" y="3886200"/>
            <a:chExt cx="1306513" cy="1600200"/>
          </a:xfrm>
        </p:grpSpPr>
        <p:sp>
          <p:nvSpPr>
            <p:cNvPr id="84" name="node03.items.slot-001.swatch"/>
            <p:cNvSpPr/>
            <p:nvPr/>
          </p:nvSpPr>
          <p:spPr>
            <a:xfrm>
              <a:off x="8039100" y="39370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85" name="node03.items.slot-001.text"/>
            <p:cNvSpPr/>
            <p:nvPr/>
          </p:nvSpPr>
          <p:spPr>
            <a:xfrm>
              <a:off x="8382000" y="38862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86" name="node03.items.slot-002.swatch"/>
            <p:cNvSpPr/>
            <p:nvPr/>
          </p:nvSpPr>
          <p:spPr>
            <a:xfrm>
              <a:off x="8039100" y="42799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87" name="node03.items.slot-002.text"/>
            <p:cNvSpPr/>
            <p:nvPr/>
          </p:nvSpPr>
          <p:spPr>
            <a:xfrm>
              <a:off x="8382000" y="42291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88" name="node03.items.slot-003.swatch"/>
            <p:cNvSpPr/>
            <p:nvPr/>
          </p:nvSpPr>
          <p:spPr>
            <a:xfrm>
              <a:off x="8039100" y="46228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9" name="node03.items.slot-003.text"/>
            <p:cNvSpPr/>
            <p:nvPr/>
          </p:nvSpPr>
          <p:spPr>
            <a:xfrm>
              <a:off x="8382000" y="45720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0" name="node03.items.slot-004.swatch"/>
            <p:cNvSpPr/>
            <p:nvPr/>
          </p:nvSpPr>
          <p:spPr>
            <a:xfrm>
              <a:off x="8039100" y="49657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1" name="node03.items.slot-004.text"/>
            <p:cNvSpPr/>
            <p:nvPr/>
          </p:nvSpPr>
          <p:spPr>
            <a:xfrm>
              <a:off x="8382000" y="49149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2" name="node03.items.slot-005.swatch"/>
            <p:cNvSpPr/>
            <p:nvPr/>
          </p:nvSpPr>
          <p:spPr>
            <a:xfrm>
              <a:off x="8039100" y="53086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3" name="node03.items.slot-005.text"/>
            <p:cNvSpPr/>
            <p:nvPr/>
          </p:nvSpPr>
          <p:spPr>
            <a:xfrm>
              <a:off x="8382000" y="52578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spc="-36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Enterprise capabilities trail on data and people</a:t>
            </a:r>
            <a:endParaRPr lang="en-US" sz="2400" spc="-36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9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65" name="node01"/>
          <p:cNvGrpSpPr/>
          <p:nvPr/>
        </p:nvGrpSpPr>
        <p:grpSpPr>
          <a:xfrm>
            <a:off x="4381500" y="457200"/>
            <a:ext cx="7086600" cy="5054600"/>
            <a:chOff x="4381500" y="457200"/>
            <a:chExt cx="7086600" cy="50546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5829300" y="10414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5848350" y="1060450"/>
              <a:ext cx="469900" cy="1079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6337300" y="10414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6356350" y="10604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6845300" y="10414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6864350" y="10604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7353300" y="10414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7372350" y="10604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7861300" y="10414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7880350" y="1060450"/>
              <a:ext cx="469900" cy="1079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7" name="node01.row.item-002.h0.heat-gap"/>
            <p:cNvSpPr/>
            <p:nvPr/>
          </p:nvSpPr>
          <p:spPr>
            <a:xfrm>
              <a:off x="5829300" y="21590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2.h0.heat"/>
            <p:cNvSpPr/>
            <p:nvPr/>
          </p:nvSpPr>
          <p:spPr>
            <a:xfrm>
              <a:off x="5848350" y="21780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h1.heat-gap"/>
            <p:cNvSpPr/>
            <p:nvPr/>
          </p:nvSpPr>
          <p:spPr>
            <a:xfrm>
              <a:off x="6337300" y="21590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1.heat"/>
            <p:cNvSpPr/>
            <p:nvPr/>
          </p:nvSpPr>
          <p:spPr>
            <a:xfrm>
              <a:off x="6356350" y="2178050"/>
              <a:ext cx="469900" cy="1079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1" name="node01.row.item-002.h2.heat-gap"/>
            <p:cNvSpPr/>
            <p:nvPr/>
          </p:nvSpPr>
          <p:spPr>
            <a:xfrm>
              <a:off x="6845300" y="21590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2.heat"/>
            <p:cNvSpPr/>
            <p:nvPr/>
          </p:nvSpPr>
          <p:spPr>
            <a:xfrm>
              <a:off x="6864350" y="21780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3" name="node01.row.item-002.h3.heat-gap"/>
            <p:cNvSpPr/>
            <p:nvPr/>
          </p:nvSpPr>
          <p:spPr>
            <a:xfrm>
              <a:off x="7353300" y="21590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3.heat"/>
            <p:cNvSpPr/>
            <p:nvPr/>
          </p:nvSpPr>
          <p:spPr>
            <a:xfrm>
              <a:off x="7372350" y="21780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5" name="node01.row.item-002.h4.heat-gap"/>
            <p:cNvSpPr/>
            <p:nvPr/>
          </p:nvSpPr>
          <p:spPr>
            <a:xfrm>
              <a:off x="7861300" y="21590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4.heat"/>
            <p:cNvSpPr/>
            <p:nvPr/>
          </p:nvSpPr>
          <p:spPr>
            <a:xfrm>
              <a:off x="7880350" y="2178050"/>
              <a:ext cx="469900" cy="1079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7" name="node01.row.item-003.h0.heat-gap"/>
            <p:cNvSpPr/>
            <p:nvPr/>
          </p:nvSpPr>
          <p:spPr>
            <a:xfrm>
              <a:off x="5829300" y="32766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3.h0.heat"/>
            <p:cNvSpPr/>
            <p:nvPr/>
          </p:nvSpPr>
          <p:spPr>
            <a:xfrm>
              <a:off x="5848350" y="32956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9" name="node01.row.item-003.h1.heat-gap"/>
            <p:cNvSpPr/>
            <p:nvPr/>
          </p:nvSpPr>
          <p:spPr>
            <a:xfrm>
              <a:off x="6337300" y="32766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3.h1.heat"/>
            <p:cNvSpPr/>
            <p:nvPr/>
          </p:nvSpPr>
          <p:spPr>
            <a:xfrm>
              <a:off x="6356350" y="3295650"/>
              <a:ext cx="469900" cy="1079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1" name="node01.row.item-003.h2.heat-gap"/>
            <p:cNvSpPr/>
            <p:nvPr/>
          </p:nvSpPr>
          <p:spPr>
            <a:xfrm>
              <a:off x="6845300" y="32766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2.heat"/>
            <p:cNvSpPr/>
            <p:nvPr/>
          </p:nvSpPr>
          <p:spPr>
            <a:xfrm>
              <a:off x="6864350" y="32956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3" name="node01.row.item-003.h3.heat-gap"/>
            <p:cNvSpPr/>
            <p:nvPr/>
          </p:nvSpPr>
          <p:spPr>
            <a:xfrm>
              <a:off x="7353300" y="32766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3.heat"/>
            <p:cNvSpPr/>
            <p:nvPr/>
          </p:nvSpPr>
          <p:spPr>
            <a:xfrm>
              <a:off x="7372350" y="32956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5" name="node01.row.item-003.h4.heat-gap"/>
            <p:cNvSpPr/>
            <p:nvPr/>
          </p:nvSpPr>
          <p:spPr>
            <a:xfrm>
              <a:off x="7861300" y="32766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4.heat"/>
            <p:cNvSpPr/>
            <p:nvPr/>
          </p:nvSpPr>
          <p:spPr>
            <a:xfrm>
              <a:off x="7880350" y="3295650"/>
              <a:ext cx="469900" cy="10795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7" name="node01.row.item-004.h0.heat-gap"/>
            <p:cNvSpPr/>
            <p:nvPr/>
          </p:nvSpPr>
          <p:spPr>
            <a:xfrm>
              <a:off x="5829300" y="43942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4.h0.heat"/>
            <p:cNvSpPr/>
            <p:nvPr/>
          </p:nvSpPr>
          <p:spPr>
            <a:xfrm>
              <a:off x="5848350" y="4413250"/>
              <a:ext cx="469900" cy="1079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9" name="node01.row.item-004.h1.heat-gap"/>
            <p:cNvSpPr/>
            <p:nvPr/>
          </p:nvSpPr>
          <p:spPr>
            <a:xfrm>
              <a:off x="6337300" y="43942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4.h1.heat"/>
            <p:cNvSpPr/>
            <p:nvPr/>
          </p:nvSpPr>
          <p:spPr>
            <a:xfrm>
              <a:off x="6356350" y="4413250"/>
              <a:ext cx="469900" cy="10795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1" name="node01.row.item-004.h2.heat-gap"/>
            <p:cNvSpPr/>
            <p:nvPr/>
          </p:nvSpPr>
          <p:spPr>
            <a:xfrm>
              <a:off x="6845300" y="43942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4.h2.heat"/>
            <p:cNvSpPr/>
            <p:nvPr/>
          </p:nvSpPr>
          <p:spPr>
            <a:xfrm>
              <a:off x="6864350" y="4413250"/>
              <a:ext cx="469900" cy="1079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3" name="node01.row.item-004.h3.heat-gap"/>
            <p:cNvSpPr/>
            <p:nvPr/>
          </p:nvSpPr>
          <p:spPr>
            <a:xfrm>
              <a:off x="7353300" y="43942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3.heat"/>
            <p:cNvSpPr/>
            <p:nvPr/>
          </p:nvSpPr>
          <p:spPr>
            <a:xfrm>
              <a:off x="7372350" y="4413250"/>
              <a:ext cx="469900" cy="10795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5" name="node01.row.item-004.h4.heat-gap"/>
            <p:cNvSpPr/>
            <p:nvPr/>
          </p:nvSpPr>
          <p:spPr>
            <a:xfrm>
              <a:off x="7861300" y="4394200"/>
              <a:ext cx="508000" cy="111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4.heat"/>
            <p:cNvSpPr/>
            <p:nvPr/>
          </p:nvSpPr>
          <p:spPr>
            <a:xfrm>
              <a:off x="7880350" y="4413250"/>
              <a:ext cx="469900" cy="10795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graphicFrame>
          <p:nvGraphicFramePr>
            <p:cNvPr id="47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4381500" y="685800"/>
            <a:ext cx="7086600" cy="4826000"/>
          </p:xfrm>
          <a:graphic>
            <a:graphicData uri="http://schemas.openxmlformats.org/drawingml/2006/table">
              <a:tbl>
                <a:tblPr/>
                <a:tblGrid>
                  <a:gridCol w="1447800"/>
                  <a:gridCol w="508000"/>
                  <a:gridCol w="508000"/>
                  <a:gridCol w="508000"/>
                  <a:gridCol w="508000"/>
                  <a:gridCol w="508000"/>
                  <a:gridCol w="30988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PPL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NOTES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1117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Supply chain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Item master has duplicates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Contracts tracked by site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Clean item master first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Pool volumes across sites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1117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Workforce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Rosters are built by hand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Credentialing is on time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Open reqs data is stale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Automate roster build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1117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Data and analytics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Reports rebuilt per team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Master data has no owner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Name data stewards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Publish a metric catalog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1117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Cybersecurity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5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Controls tested yearly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Access review quarterly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Vendor risk is tracked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Add live monitoring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48" name="node01.continued"/>
            <p:cNvSpPr/>
            <p:nvPr/>
          </p:nvSpPr>
          <p:spPr>
            <a:xfrm>
              <a:off x="4381500" y="457200"/>
              <a:ext cx="7086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50658E"/>
                  </a:solidFill>
                  <a:latin typeface="IBM Plex Mono Medium"/>
                  <a:ea typeface="IBM Plex Mono Medium"/>
                  <a:cs typeface="IBM Plex Mono Medium"/>
                </a:rPr>
                <a:t>CAPABILITY HEAT MAP WITH NOTES (CONTINUED, 3 OF 3)</a:t>
              </a:r>
              <a:endParaRPr lang="en-US" sz="900" spc="54" kern="0" b="0" i="0" dirty="0">
                <a:solidFill>
                  <a:srgbClr val="50658E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66" name="node02"/>
          <p:cNvGrpSpPr/>
          <p:nvPr/>
        </p:nvGrpSpPr>
        <p:grpSpPr>
          <a:xfrm>
            <a:off x="723900" y="2286000"/>
            <a:ext cx="3429000" cy="1447800"/>
            <a:chOff x="723900" y="2286000"/>
            <a:chExt cx="3429000" cy="1447800"/>
          </a:xfrm>
        </p:grpSpPr>
        <p:sp>
          <p:nvSpPr>
            <p:cNvPr id="49" name="node02.source-001.bullet"/>
            <p:cNvSpPr/>
            <p:nvPr/>
          </p:nvSpPr>
          <p:spPr>
            <a:xfrm>
              <a:off x="723900" y="23749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50" name="node02.source-001.text"/>
            <p:cNvSpPr/>
            <p:nvPr/>
          </p:nvSpPr>
          <p:spPr>
            <a:xfrm>
              <a:off x="876300" y="2286000"/>
              <a:ext cx="32766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Security holds.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Governance reaches 5 in cybersecurity.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51" name="node02.source-002.bullet"/>
            <p:cNvSpPr/>
            <p:nvPr/>
          </p:nvSpPr>
          <p:spPr>
            <a:xfrm>
              <a:off x="723900" y="28702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52" name="node02.source-002.text"/>
            <p:cNvSpPr/>
            <p:nvPr/>
          </p:nvSpPr>
          <p:spPr>
            <a:xfrm>
              <a:off x="876300" y="2781300"/>
              <a:ext cx="32766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Data is the gap.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Master data has no owner in three of four rows.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53" name="node02.source-003.bullet"/>
            <p:cNvSpPr/>
            <p:nvPr/>
          </p:nvSpPr>
          <p:spPr>
            <a:xfrm>
              <a:off x="723900" y="33655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54" name="node02.source-003.text"/>
            <p:cNvSpPr/>
            <p:nvPr/>
          </p:nvSpPr>
          <p:spPr>
            <a:xfrm>
              <a:off x="876300" y="3276600"/>
              <a:ext cx="32766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People next.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Workforce and analytics both score 2.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67" name="node03"/>
          <p:cNvGrpSpPr/>
          <p:nvPr/>
        </p:nvGrpSpPr>
        <p:grpSpPr>
          <a:xfrm>
            <a:off x="723900" y="3886200"/>
            <a:ext cx="1306513" cy="1600200"/>
            <a:chOff x="723900" y="3886200"/>
            <a:chExt cx="1306513" cy="1600200"/>
          </a:xfrm>
        </p:grpSpPr>
        <p:sp>
          <p:nvSpPr>
            <p:cNvPr id="55" name="node03.items.slot-001.swatch"/>
            <p:cNvSpPr/>
            <p:nvPr/>
          </p:nvSpPr>
          <p:spPr>
            <a:xfrm>
              <a:off x="723900" y="39370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56" name="node03.items.slot-001.text"/>
            <p:cNvSpPr/>
            <p:nvPr/>
          </p:nvSpPr>
          <p:spPr>
            <a:xfrm>
              <a:off x="1066800" y="38862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57" name="node03.items.slot-002.swatch"/>
            <p:cNvSpPr/>
            <p:nvPr/>
          </p:nvSpPr>
          <p:spPr>
            <a:xfrm>
              <a:off x="723900" y="42799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8" name="node03.items.slot-002.text"/>
            <p:cNvSpPr/>
            <p:nvPr/>
          </p:nvSpPr>
          <p:spPr>
            <a:xfrm>
              <a:off x="1066800" y="42291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59" name="node03.items.slot-003.swatch"/>
            <p:cNvSpPr/>
            <p:nvPr/>
          </p:nvSpPr>
          <p:spPr>
            <a:xfrm>
              <a:off x="723900" y="46228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0" name="node03.items.slot-003.text"/>
            <p:cNvSpPr/>
            <p:nvPr/>
          </p:nvSpPr>
          <p:spPr>
            <a:xfrm>
              <a:off x="1066800" y="45720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61" name="node03.items.slot-004.swatch"/>
            <p:cNvSpPr/>
            <p:nvPr/>
          </p:nvSpPr>
          <p:spPr>
            <a:xfrm>
              <a:off x="723900" y="49657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62" name="node03.items.slot-004.text"/>
            <p:cNvSpPr/>
            <p:nvPr/>
          </p:nvSpPr>
          <p:spPr>
            <a:xfrm>
              <a:off x="1066800" y="49149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63" name="node03.items.slot-005.swatch"/>
            <p:cNvSpPr/>
            <p:nvPr/>
          </p:nvSpPr>
          <p:spPr>
            <a:xfrm>
              <a:off x="723900" y="53086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64" name="node03.items.slot-005.text"/>
            <p:cNvSpPr/>
            <p:nvPr/>
          </p:nvSpPr>
          <p:spPr>
            <a:xfrm>
              <a:off x="1066800" y="52578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Four capabilities need attention first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10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79" name="node01"/>
          <p:cNvGrpSpPr/>
          <p:nvPr/>
        </p:nvGrpSpPr>
        <p:grpSpPr>
          <a:xfrm>
            <a:off x="723900" y="1600200"/>
            <a:ext cx="10744200" cy="3657600"/>
            <a:chOff x="723900" y="1600200"/>
            <a:chExt cx="10744200" cy="36576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2781300" y="19558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2800350" y="19748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3543300" y="19558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3562350" y="1974850"/>
              <a:ext cx="723900" cy="622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4305300" y="19558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4324350" y="1974850"/>
              <a:ext cx="723900" cy="622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5067300" y="19558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5086350" y="19748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5829300" y="19558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5848350" y="19748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7" name="node01.row.item-002.h0.heat-gap"/>
            <p:cNvSpPr/>
            <p:nvPr/>
          </p:nvSpPr>
          <p:spPr>
            <a:xfrm>
              <a:off x="2781300" y="26162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2.h0.heat"/>
            <p:cNvSpPr/>
            <p:nvPr/>
          </p:nvSpPr>
          <p:spPr>
            <a:xfrm>
              <a:off x="2800350" y="26352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h1.heat-gap"/>
            <p:cNvSpPr/>
            <p:nvPr/>
          </p:nvSpPr>
          <p:spPr>
            <a:xfrm>
              <a:off x="3543300" y="26162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1.heat"/>
            <p:cNvSpPr/>
            <p:nvPr/>
          </p:nvSpPr>
          <p:spPr>
            <a:xfrm>
              <a:off x="3562350" y="26352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1" name="node01.row.item-002.h2.heat-gap"/>
            <p:cNvSpPr/>
            <p:nvPr/>
          </p:nvSpPr>
          <p:spPr>
            <a:xfrm>
              <a:off x="4305300" y="26162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2.heat"/>
            <p:cNvSpPr/>
            <p:nvPr/>
          </p:nvSpPr>
          <p:spPr>
            <a:xfrm>
              <a:off x="4324350" y="26352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3" name="node01.row.item-002.h3.heat-gap"/>
            <p:cNvSpPr/>
            <p:nvPr/>
          </p:nvSpPr>
          <p:spPr>
            <a:xfrm>
              <a:off x="5067300" y="26162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3.heat"/>
            <p:cNvSpPr/>
            <p:nvPr/>
          </p:nvSpPr>
          <p:spPr>
            <a:xfrm>
              <a:off x="5086350" y="26352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5" name="node01.row.item-002.h4.heat-gap"/>
            <p:cNvSpPr/>
            <p:nvPr/>
          </p:nvSpPr>
          <p:spPr>
            <a:xfrm>
              <a:off x="5829300" y="26162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4.heat"/>
            <p:cNvSpPr/>
            <p:nvPr/>
          </p:nvSpPr>
          <p:spPr>
            <a:xfrm>
              <a:off x="5848350" y="2635250"/>
              <a:ext cx="723900" cy="622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27" name="node01.row.item-003.h0.heat-gap"/>
            <p:cNvSpPr/>
            <p:nvPr/>
          </p:nvSpPr>
          <p:spPr>
            <a:xfrm>
              <a:off x="2781300" y="32766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3.h0.heat"/>
            <p:cNvSpPr/>
            <p:nvPr/>
          </p:nvSpPr>
          <p:spPr>
            <a:xfrm>
              <a:off x="2800350" y="32956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9" name="node01.row.item-003.h1.heat-gap"/>
            <p:cNvSpPr/>
            <p:nvPr/>
          </p:nvSpPr>
          <p:spPr>
            <a:xfrm>
              <a:off x="3543300" y="32766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3.h1.heat"/>
            <p:cNvSpPr/>
            <p:nvPr/>
          </p:nvSpPr>
          <p:spPr>
            <a:xfrm>
              <a:off x="3562350" y="32956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1" name="node01.row.item-003.h2.heat-gap"/>
            <p:cNvSpPr/>
            <p:nvPr/>
          </p:nvSpPr>
          <p:spPr>
            <a:xfrm>
              <a:off x="4305300" y="32766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2.heat"/>
            <p:cNvSpPr/>
            <p:nvPr/>
          </p:nvSpPr>
          <p:spPr>
            <a:xfrm>
              <a:off x="4324350" y="3295650"/>
              <a:ext cx="723900" cy="6223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3" name="node01.row.item-003.h3.heat-gap"/>
            <p:cNvSpPr/>
            <p:nvPr/>
          </p:nvSpPr>
          <p:spPr>
            <a:xfrm>
              <a:off x="5067300" y="32766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3.heat"/>
            <p:cNvSpPr/>
            <p:nvPr/>
          </p:nvSpPr>
          <p:spPr>
            <a:xfrm>
              <a:off x="5086350" y="3295650"/>
              <a:ext cx="723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5" name="node01.row.item-003.h4.heat-gap"/>
            <p:cNvSpPr/>
            <p:nvPr/>
          </p:nvSpPr>
          <p:spPr>
            <a:xfrm>
              <a:off x="5829300" y="32766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4.heat"/>
            <p:cNvSpPr/>
            <p:nvPr/>
          </p:nvSpPr>
          <p:spPr>
            <a:xfrm>
              <a:off x="5848350" y="32956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7" name="node01.row.item-004.h0.heat-gap"/>
            <p:cNvSpPr/>
            <p:nvPr/>
          </p:nvSpPr>
          <p:spPr>
            <a:xfrm>
              <a:off x="2781300" y="39370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4.h0.heat"/>
            <p:cNvSpPr/>
            <p:nvPr/>
          </p:nvSpPr>
          <p:spPr>
            <a:xfrm>
              <a:off x="2800350" y="3956050"/>
              <a:ext cx="723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9" name="node01.row.item-004.h1.heat-gap"/>
            <p:cNvSpPr/>
            <p:nvPr/>
          </p:nvSpPr>
          <p:spPr>
            <a:xfrm>
              <a:off x="3543300" y="39370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4.h1.heat"/>
            <p:cNvSpPr/>
            <p:nvPr/>
          </p:nvSpPr>
          <p:spPr>
            <a:xfrm>
              <a:off x="3562350" y="39560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1" name="node01.row.item-004.h2.heat-gap"/>
            <p:cNvSpPr/>
            <p:nvPr/>
          </p:nvSpPr>
          <p:spPr>
            <a:xfrm>
              <a:off x="4305300" y="39370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4.h2.heat"/>
            <p:cNvSpPr/>
            <p:nvPr/>
          </p:nvSpPr>
          <p:spPr>
            <a:xfrm>
              <a:off x="4324350" y="39560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3" name="node01.row.item-004.h3.heat-gap"/>
            <p:cNvSpPr/>
            <p:nvPr/>
          </p:nvSpPr>
          <p:spPr>
            <a:xfrm>
              <a:off x="5067300" y="39370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3.heat"/>
            <p:cNvSpPr/>
            <p:nvPr/>
          </p:nvSpPr>
          <p:spPr>
            <a:xfrm>
              <a:off x="5086350" y="3956050"/>
              <a:ext cx="723900" cy="6223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5" name="node01.row.item-004.h4.heat-gap"/>
            <p:cNvSpPr/>
            <p:nvPr/>
          </p:nvSpPr>
          <p:spPr>
            <a:xfrm>
              <a:off x="5829300" y="39370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4.heat"/>
            <p:cNvSpPr/>
            <p:nvPr/>
          </p:nvSpPr>
          <p:spPr>
            <a:xfrm>
              <a:off x="5848350" y="3956050"/>
              <a:ext cx="723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7" name="node01.row.item-005.h0.heat-gap"/>
            <p:cNvSpPr/>
            <p:nvPr/>
          </p:nvSpPr>
          <p:spPr>
            <a:xfrm>
              <a:off x="2781300" y="45974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5.h0.heat"/>
            <p:cNvSpPr/>
            <p:nvPr/>
          </p:nvSpPr>
          <p:spPr>
            <a:xfrm>
              <a:off x="2800350" y="4616450"/>
              <a:ext cx="723900" cy="622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9" name="node01.row.item-005.h1.heat-gap"/>
            <p:cNvSpPr/>
            <p:nvPr/>
          </p:nvSpPr>
          <p:spPr>
            <a:xfrm>
              <a:off x="3543300" y="45974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5.h1.heat"/>
            <p:cNvSpPr/>
            <p:nvPr/>
          </p:nvSpPr>
          <p:spPr>
            <a:xfrm>
              <a:off x="3562350" y="4616450"/>
              <a:ext cx="723900" cy="6223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51" name="node01.row.item-005.h2.heat-gap"/>
            <p:cNvSpPr/>
            <p:nvPr/>
          </p:nvSpPr>
          <p:spPr>
            <a:xfrm>
              <a:off x="4305300" y="45974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5.h2.heat"/>
            <p:cNvSpPr/>
            <p:nvPr/>
          </p:nvSpPr>
          <p:spPr>
            <a:xfrm>
              <a:off x="4324350" y="4616450"/>
              <a:ext cx="723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3" name="node01.row.item-005.h3.heat-gap"/>
            <p:cNvSpPr/>
            <p:nvPr/>
          </p:nvSpPr>
          <p:spPr>
            <a:xfrm>
              <a:off x="5067300" y="45974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5.h3.heat"/>
            <p:cNvSpPr/>
            <p:nvPr/>
          </p:nvSpPr>
          <p:spPr>
            <a:xfrm>
              <a:off x="5086350" y="4616450"/>
              <a:ext cx="723900" cy="6223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5" name="node01.row.item-005.h4.heat-gap"/>
            <p:cNvSpPr/>
            <p:nvPr/>
          </p:nvSpPr>
          <p:spPr>
            <a:xfrm>
              <a:off x="5829300" y="4597400"/>
              <a:ext cx="762000" cy="660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h4.heat"/>
            <p:cNvSpPr/>
            <p:nvPr/>
          </p:nvSpPr>
          <p:spPr>
            <a:xfrm>
              <a:off x="5848350" y="4616450"/>
              <a:ext cx="723900" cy="6223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graphicFrame>
          <p:nvGraphicFramePr>
            <p:cNvPr id="57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723900" y="1600200"/>
            <a:ext cx="10744200" cy="3657600"/>
          </p:xfrm>
          <a:graphic>
            <a:graphicData uri="http://schemas.openxmlformats.org/drawingml/2006/table">
              <a:tbl>
                <a:tblPr/>
                <a:tblGrid>
                  <a:gridCol w="2057400"/>
                  <a:gridCol w="762000"/>
                  <a:gridCol w="762000"/>
                  <a:gridCol w="762000"/>
                  <a:gridCol w="762000"/>
                  <a:gridCol w="762000"/>
                  <a:gridCol w="1066800"/>
                  <a:gridCol w="38100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PROCESS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TECHNOLOGY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PEOPLE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GOVERNANCE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PRIORITY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WHAT WE FOUND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Front door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Referrals arrive by fax and portal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No shared status view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Revenue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Denial reasons are not coded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Rework has no owner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Care delivery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Handoffs run on phone and email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Care plans live in three tools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Supply chain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Care delivery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Item master has duplicates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Contracts tracked by site, not system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6604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20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  <a:p>
                        <a:pPr algn="l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50658E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Revenue</a:t>
                        </a:r>
                        <a:endParaRPr lang="en-US" sz="1200" spc="0" kern="0" b="0" i="0" dirty="0">
                          <a:solidFill>
                            <a:srgbClr val="50658E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5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30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Rules engine at posting is mature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  <a:p>
                        <a:pPr algn="l" marL="152400" indent="-15240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SzPts val="300"/>
                          <a:buFont typeface="IBM Plex Sans"/>
                          <a:buChar char="■"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"/>
                            <a:ea typeface="IBM Plex Sans"/>
                            <a:cs typeface="IBM Plex Sans"/>
                          </a:rPr>
                          <a:t xml:space="preserve">Month-end review is still manual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"/>
                          <a:ea typeface="IBM Plex Sans"/>
                          <a:cs typeface="IBM Plex Sans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8" name="node01.row.item-001.st.priority.fill"/>
            <p:cNvSpPr/>
            <p:nvPr/>
          </p:nvSpPr>
          <p:spPr>
            <a:xfrm>
              <a:off x="6870700" y="2174875"/>
              <a:ext cx="508000" cy="22225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59" name="node01.row.item-001.st.priority"/>
            <p:cNvSpPr/>
            <p:nvPr/>
          </p:nvSpPr>
          <p:spPr>
            <a:xfrm>
              <a:off x="6972300" y="22002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P1</a:t>
              </a:r>
              <a:endParaRPr lang="en-US" sz="900" spc="54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60" name="node01.row.item-002.st.priority.fill"/>
            <p:cNvSpPr/>
            <p:nvPr/>
          </p:nvSpPr>
          <p:spPr>
            <a:xfrm>
              <a:off x="6870700" y="2835275"/>
              <a:ext cx="508000" cy="22225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61" name="node01.row.item-002.st.priority"/>
            <p:cNvSpPr/>
            <p:nvPr/>
          </p:nvSpPr>
          <p:spPr>
            <a:xfrm>
              <a:off x="6972300" y="28606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P1</a:t>
              </a:r>
              <a:endParaRPr lang="en-US" sz="900" spc="54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62" name="node01.row.item-003.st.priority.fill"/>
            <p:cNvSpPr/>
            <p:nvPr/>
          </p:nvSpPr>
          <p:spPr>
            <a:xfrm>
              <a:off x="6870700" y="3495675"/>
              <a:ext cx="508000" cy="222250"/>
            </a:xfrm>
            <a:prstGeom prst="rect">
              <a:avLst/>
            </a:prstGeom>
            <a:solidFill>
              <a:srgbClr val="32477B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63" name="node01.row.item-003.st.priority"/>
            <p:cNvSpPr/>
            <p:nvPr/>
          </p:nvSpPr>
          <p:spPr>
            <a:xfrm>
              <a:off x="6972300" y="35210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P2</a:t>
              </a:r>
              <a:endParaRPr lang="en-US" sz="900" spc="54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64" name="node01.row.item-004.st.priority.fill"/>
            <p:cNvSpPr/>
            <p:nvPr/>
          </p:nvSpPr>
          <p:spPr>
            <a:xfrm>
              <a:off x="6870700" y="4156075"/>
              <a:ext cx="508000" cy="222250"/>
            </a:xfrm>
            <a:prstGeom prst="rect">
              <a:avLst/>
            </a:prstGeom>
            <a:solidFill>
              <a:srgbClr val="CED7E6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65" name="node01.row.item-004.st.priority"/>
            <p:cNvSpPr/>
            <p:nvPr/>
          </p:nvSpPr>
          <p:spPr>
            <a:xfrm>
              <a:off x="6972300" y="41814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P3</a:t>
              </a:r>
              <a:endParaRPr lang="en-US" sz="900" spc="54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66" name="node01.row.item-005.st.priority.fill"/>
            <p:cNvSpPr/>
            <p:nvPr/>
          </p:nvSpPr>
          <p:spPr>
            <a:xfrm>
              <a:off x="6870700" y="4816475"/>
              <a:ext cx="508000" cy="22225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67" name="node01.row.item-005.st.priority"/>
            <p:cNvSpPr/>
            <p:nvPr/>
          </p:nvSpPr>
          <p:spPr>
            <a:xfrm>
              <a:off x="6972300" y="4841875"/>
              <a:ext cx="304800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P4</a:t>
              </a:r>
              <a:endParaRPr lang="en-US" sz="900" spc="54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</p:grpSp>
      <p:grpSp>
        <p:nvGrpSpPr>
          <p:cNvPr id="80" name="node02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68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69" name="node02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0" name="node02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1" name="node02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2" name="node02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3" name="node02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4" name="node02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75" name="node02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6" name="node02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77" name="node02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81" name="node03"/>
          <p:cNvGrpSpPr/>
          <p:nvPr/>
        </p:nvGrpSpPr>
        <p:grpSpPr>
          <a:xfrm>
            <a:off x="8039100" y="5486400"/>
            <a:ext cx="3429000" cy="228600"/>
            <a:chOff x="8039100" y="5486400"/>
            <a:chExt cx="3429000" cy="228600"/>
          </a:xfrm>
        </p:grpSpPr>
        <p:sp>
          <p:nvSpPr>
            <p:cNvPr id="78" name="node03.text"/>
            <p:cNvSpPr/>
            <p:nvPr/>
          </p:nvSpPr>
          <p:spPr>
            <a:xfrm>
              <a:off x="8039100" y="5486400"/>
              <a:ext cx="3429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P1 fix now, P2 next, P3 plan, P4 hold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CARE DELIVERY DETAIL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spc="-36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Care delivery and operations: one card per row</a:t>
            </a:r>
            <a:endParaRPr lang="en-US" sz="2400" spc="-36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11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45" name="node01"/>
          <p:cNvGrpSpPr/>
          <p:nvPr/>
        </p:nvGrpSpPr>
        <p:grpSpPr>
          <a:xfrm>
            <a:off x="723900" y="2286000"/>
            <a:ext cx="2743200" cy="152400"/>
            <a:chOff x="723900" y="2286000"/>
            <a:chExt cx="2743200" cy="152400"/>
          </a:xfrm>
        </p:grpSpPr>
        <p:sp>
          <p:nvSpPr>
            <p:cNvPr id="7" name="node01.text"/>
            <p:cNvSpPr/>
            <p:nvPr/>
          </p:nvSpPr>
          <p:spPr>
            <a:xfrm>
              <a:off x="723900" y="2286000"/>
              <a:ext cx="2743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LOCATOR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46" name="node02"/>
          <p:cNvGrpSpPr/>
          <p:nvPr/>
        </p:nvGrpSpPr>
        <p:grpSpPr>
          <a:xfrm>
            <a:off x="723900" y="2743200"/>
            <a:ext cx="457200" cy="228600"/>
            <a:chOff x="723900" y="2743200"/>
            <a:chExt cx="457200" cy="228600"/>
          </a:xfrm>
        </p:grpSpPr>
        <p:sp>
          <p:nvSpPr>
            <p:cNvPr id="8" name="node02.text"/>
            <p:cNvSpPr/>
            <p:nvPr/>
          </p:nvSpPr>
          <p:spPr>
            <a:xfrm>
              <a:off x="723900" y="27432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A1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7" name="node03"/>
          <p:cNvGrpSpPr/>
          <p:nvPr/>
        </p:nvGrpSpPr>
        <p:grpSpPr>
          <a:xfrm>
            <a:off x="1181100" y="2743200"/>
            <a:ext cx="431800" cy="203200"/>
            <a:chOff x="1181100" y="2743200"/>
            <a:chExt cx="431800" cy="203200"/>
          </a:xfrm>
        </p:grpSpPr>
        <p:sp>
          <p:nvSpPr>
            <p:cNvPr id="9" name="node03.surface"/>
            <p:cNvSpPr/>
            <p:nvPr/>
          </p:nvSpPr>
          <p:spPr>
            <a:xfrm>
              <a:off x="1181100" y="27432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48" name="node04"/>
          <p:cNvGrpSpPr/>
          <p:nvPr/>
        </p:nvGrpSpPr>
        <p:grpSpPr>
          <a:xfrm>
            <a:off x="1638300" y="2743200"/>
            <a:ext cx="431800" cy="203200"/>
            <a:chOff x="1638300" y="2743200"/>
            <a:chExt cx="431800" cy="203200"/>
          </a:xfrm>
        </p:grpSpPr>
        <p:sp>
          <p:nvSpPr>
            <p:cNvPr id="10" name="node04.surface"/>
            <p:cNvSpPr/>
            <p:nvPr/>
          </p:nvSpPr>
          <p:spPr>
            <a:xfrm>
              <a:off x="1638300" y="27432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49" name="node05"/>
          <p:cNvGrpSpPr/>
          <p:nvPr/>
        </p:nvGrpSpPr>
        <p:grpSpPr>
          <a:xfrm>
            <a:off x="2095500" y="2743200"/>
            <a:ext cx="431800" cy="203200"/>
            <a:chOff x="2095500" y="2743200"/>
            <a:chExt cx="431800" cy="203200"/>
          </a:xfrm>
        </p:grpSpPr>
        <p:sp>
          <p:nvSpPr>
            <p:cNvPr id="11" name="node05.surface"/>
            <p:cNvSpPr/>
            <p:nvPr/>
          </p:nvSpPr>
          <p:spPr>
            <a:xfrm>
              <a:off x="2095500" y="27432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0" name="node06"/>
          <p:cNvGrpSpPr/>
          <p:nvPr/>
        </p:nvGrpSpPr>
        <p:grpSpPr>
          <a:xfrm>
            <a:off x="2552700" y="2743200"/>
            <a:ext cx="431800" cy="203200"/>
            <a:chOff x="2552700" y="2743200"/>
            <a:chExt cx="431800" cy="203200"/>
          </a:xfrm>
        </p:grpSpPr>
        <p:sp>
          <p:nvSpPr>
            <p:cNvPr id="12" name="node06.surface"/>
            <p:cNvSpPr/>
            <p:nvPr/>
          </p:nvSpPr>
          <p:spPr>
            <a:xfrm>
              <a:off x="2552700" y="27432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1" name="node07"/>
          <p:cNvGrpSpPr/>
          <p:nvPr/>
        </p:nvGrpSpPr>
        <p:grpSpPr>
          <a:xfrm>
            <a:off x="3009900" y="2743200"/>
            <a:ext cx="431800" cy="203200"/>
            <a:chOff x="3009900" y="2743200"/>
            <a:chExt cx="431800" cy="203200"/>
          </a:xfrm>
        </p:grpSpPr>
        <p:sp>
          <p:nvSpPr>
            <p:cNvPr id="13" name="node07.surface"/>
            <p:cNvSpPr/>
            <p:nvPr/>
          </p:nvSpPr>
          <p:spPr>
            <a:xfrm>
              <a:off x="3009900" y="27432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2" name="node08"/>
          <p:cNvGrpSpPr/>
          <p:nvPr/>
        </p:nvGrpSpPr>
        <p:grpSpPr>
          <a:xfrm>
            <a:off x="723900" y="2971800"/>
            <a:ext cx="457200" cy="228600"/>
            <a:chOff x="723900" y="2971800"/>
            <a:chExt cx="457200" cy="228600"/>
          </a:xfrm>
        </p:grpSpPr>
        <p:sp>
          <p:nvSpPr>
            <p:cNvPr id="14" name="node08.text"/>
            <p:cNvSpPr/>
            <p:nvPr/>
          </p:nvSpPr>
          <p:spPr>
            <a:xfrm>
              <a:off x="723900" y="29718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A2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53" name="node09"/>
          <p:cNvGrpSpPr/>
          <p:nvPr/>
        </p:nvGrpSpPr>
        <p:grpSpPr>
          <a:xfrm>
            <a:off x="1181100" y="2971800"/>
            <a:ext cx="431800" cy="203200"/>
            <a:chOff x="1181100" y="2971800"/>
            <a:chExt cx="431800" cy="203200"/>
          </a:xfrm>
        </p:grpSpPr>
        <p:sp>
          <p:nvSpPr>
            <p:cNvPr id="15" name="node09.surface"/>
            <p:cNvSpPr/>
            <p:nvPr/>
          </p:nvSpPr>
          <p:spPr>
            <a:xfrm>
              <a:off x="1181100" y="29718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4" name="node10"/>
          <p:cNvGrpSpPr/>
          <p:nvPr/>
        </p:nvGrpSpPr>
        <p:grpSpPr>
          <a:xfrm>
            <a:off x="1638300" y="2971800"/>
            <a:ext cx="431800" cy="203200"/>
            <a:chOff x="1638300" y="2971800"/>
            <a:chExt cx="431800" cy="203200"/>
          </a:xfrm>
        </p:grpSpPr>
        <p:sp>
          <p:nvSpPr>
            <p:cNvPr id="16" name="node10.surface"/>
            <p:cNvSpPr/>
            <p:nvPr/>
          </p:nvSpPr>
          <p:spPr>
            <a:xfrm>
              <a:off x="1638300" y="29718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5" name="node11"/>
          <p:cNvGrpSpPr/>
          <p:nvPr/>
        </p:nvGrpSpPr>
        <p:grpSpPr>
          <a:xfrm>
            <a:off x="2095500" y="2971800"/>
            <a:ext cx="431800" cy="203200"/>
            <a:chOff x="2095500" y="2971800"/>
            <a:chExt cx="431800" cy="203200"/>
          </a:xfrm>
        </p:grpSpPr>
        <p:sp>
          <p:nvSpPr>
            <p:cNvPr id="17" name="node11.surface"/>
            <p:cNvSpPr/>
            <p:nvPr/>
          </p:nvSpPr>
          <p:spPr>
            <a:xfrm>
              <a:off x="2095500" y="29718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6" name="node12"/>
          <p:cNvGrpSpPr/>
          <p:nvPr/>
        </p:nvGrpSpPr>
        <p:grpSpPr>
          <a:xfrm>
            <a:off x="2552700" y="2971800"/>
            <a:ext cx="431800" cy="203200"/>
            <a:chOff x="2552700" y="2971800"/>
            <a:chExt cx="431800" cy="203200"/>
          </a:xfrm>
        </p:grpSpPr>
        <p:sp>
          <p:nvSpPr>
            <p:cNvPr id="18" name="node12.surface"/>
            <p:cNvSpPr/>
            <p:nvPr/>
          </p:nvSpPr>
          <p:spPr>
            <a:xfrm>
              <a:off x="2552700" y="29718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7" name="node13"/>
          <p:cNvGrpSpPr/>
          <p:nvPr/>
        </p:nvGrpSpPr>
        <p:grpSpPr>
          <a:xfrm>
            <a:off x="3009900" y="2971800"/>
            <a:ext cx="431800" cy="203200"/>
            <a:chOff x="3009900" y="2971800"/>
            <a:chExt cx="431800" cy="203200"/>
          </a:xfrm>
        </p:grpSpPr>
        <p:sp>
          <p:nvSpPr>
            <p:cNvPr id="19" name="node13.surface"/>
            <p:cNvSpPr/>
            <p:nvPr/>
          </p:nvSpPr>
          <p:spPr>
            <a:xfrm>
              <a:off x="3009900" y="29718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8" name="node14"/>
          <p:cNvGrpSpPr/>
          <p:nvPr/>
        </p:nvGrpSpPr>
        <p:grpSpPr>
          <a:xfrm>
            <a:off x="723900" y="3200400"/>
            <a:ext cx="457200" cy="228600"/>
            <a:chOff x="723900" y="3200400"/>
            <a:chExt cx="457200" cy="228600"/>
          </a:xfrm>
        </p:grpSpPr>
        <p:sp>
          <p:nvSpPr>
            <p:cNvPr id="20" name="node14.text"/>
            <p:cNvSpPr/>
            <p:nvPr/>
          </p:nvSpPr>
          <p:spPr>
            <a:xfrm>
              <a:off x="723900" y="32004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A3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59" name="node15"/>
          <p:cNvGrpSpPr/>
          <p:nvPr/>
        </p:nvGrpSpPr>
        <p:grpSpPr>
          <a:xfrm>
            <a:off x="1181100" y="3200400"/>
            <a:ext cx="431800" cy="203200"/>
            <a:chOff x="1181100" y="3200400"/>
            <a:chExt cx="431800" cy="203200"/>
          </a:xfrm>
        </p:grpSpPr>
        <p:sp>
          <p:nvSpPr>
            <p:cNvPr id="21" name="node15.surface"/>
            <p:cNvSpPr/>
            <p:nvPr/>
          </p:nvSpPr>
          <p:spPr>
            <a:xfrm>
              <a:off x="1181100" y="32004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60" name="node16"/>
          <p:cNvGrpSpPr/>
          <p:nvPr/>
        </p:nvGrpSpPr>
        <p:grpSpPr>
          <a:xfrm>
            <a:off x="1638300" y="3200400"/>
            <a:ext cx="431800" cy="203200"/>
            <a:chOff x="1638300" y="3200400"/>
            <a:chExt cx="431800" cy="203200"/>
          </a:xfrm>
        </p:grpSpPr>
        <p:sp>
          <p:nvSpPr>
            <p:cNvPr id="22" name="node16.surface"/>
            <p:cNvSpPr/>
            <p:nvPr/>
          </p:nvSpPr>
          <p:spPr>
            <a:xfrm>
              <a:off x="1638300" y="3200400"/>
              <a:ext cx="4318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61" name="node17"/>
          <p:cNvGrpSpPr/>
          <p:nvPr/>
        </p:nvGrpSpPr>
        <p:grpSpPr>
          <a:xfrm>
            <a:off x="2095500" y="3200400"/>
            <a:ext cx="431800" cy="203200"/>
            <a:chOff x="2095500" y="3200400"/>
            <a:chExt cx="431800" cy="203200"/>
          </a:xfrm>
        </p:grpSpPr>
        <p:sp>
          <p:nvSpPr>
            <p:cNvPr id="23" name="node17.surface"/>
            <p:cNvSpPr/>
            <p:nvPr/>
          </p:nvSpPr>
          <p:spPr>
            <a:xfrm>
              <a:off x="2095500" y="3200400"/>
              <a:ext cx="4318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62" name="node18"/>
          <p:cNvGrpSpPr/>
          <p:nvPr/>
        </p:nvGrpSpPr>
        <p:grpSpPr>
          <a:xfrm>
            <a:off x="2552700" y="3200400"/>
            <a:ext cx="431800" cy="203200"/>
            <a:chOff x="2552700" y="3200400"/>
            <a:chExt cx="431800" cy="203200"/>
          </a:xfrm>
        </p:grpSpPr>
        <p:sp>
          <p:nvSpPr>
            <p:cNvPr id="24" name="node18.surface"/>
            <p:cNvSpPr/>
            <p:nvPr/>
          </p:nvSpPr>
          <p:spPr>
            <a:xfrm>
              <a:off x="2552700" y="32004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63" name="node19"/>
          <p:cNvGrpSpPr/>
          <p:nvPr/>
        </p:nvGrpSpPr>
        <p:grpSpPr>
          <a:xfrm>
            <a:off x="3009900" y="3200400"/>
            <a:ext cx="431800" cy="203200"/>
            <a:chOff x="3009900" y="3200400"/>
            <a:chExt cx="431800" cy="203200"/>
          </a:xfrm>
        </p:grpSpPr>
        <p:sp>
          <p:nvSpPr>
            <p:cNvPr id="25" name="node19.surface"/>
            <p:cNvSpPr/>
            <p:nvPr/>
          </p:nvSpPr>
          <p:spPr>
            <a:xfrm>
              <a:off x="3009900" y="32004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64" name="node20"/>
          <p:cNvGrpSpPr/>
          <p:nvPr/>
        </p:nvGrpSpPr>
        <p:grpSpPr>
          <a:xfrm>
            <a:off x="723900" y="3429000"/>
            <a:ext cx="457200" cy="228600"/>
            <a:chOff x="723900" y="3429000"/>
            <a:chExt cx="457200" cy="228600"/>
          </a:xfrm>
        </p:grpSpPr>
        <p:sp>
          <p:nvSpPr>
            <p:cNvPr id="26" name="node20.text"/>
            <p:cNvSpPr/>
            <p:nvPr/>
          </p:nvSpPr>
          <p:spPr>
            <a:xfrm>
              <a:off x="723900" y="34290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A4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5" name="node21"/>
          <p:cNvGrpSpPr/>
          <p:nvPr/>
        </p:nvGrpSpPr>
        <p:grpSpPr>
          <a:xfrm>
            <a:off x="1181100" y="3429000"/>
            <a:ext cx="431800" cy="203200"/>
            <a:chOff x="1181100" y="3429000"/>
            <a:chExt cx="431800" cy="203200"/>
          </a:xfrm>
        </p:grpSpPr>
        <p:sp>
          <p:nvSpPr>
            <p:cNvPr id="27" name="node21.surface"/>
            <p:cNvSpPr/>
            <p:nvPr/>
          </p:nvSpPr>
          <p:spPr>
            <a:xfrm>
              <a:off x="1181100" y="3429000"/>
              <a:ext cx="4318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66" name="node22"/>
          <p:cNvGrpSpPr/>
          <p:nvPr/>
        </p:nvGrpSpPr>
        <p:grpSpPr>
          <a:xfrm>
            <a:off x="1638300" y="3429000"/>
            <a:ext cx="431800" cy="203200"/>
            <a:chOff x="1638300" y="3429000"/>
            <a:chExt cx="431800" cy="203200"/>
          </a:xfrm>
        </p:grpSpPr>
        <p:sp>
          <p:nvSpPr>
            <p:cNvPr id="28" name="node22.surface"/>
            <p:cNvSpPr/>
            <p:nvPr/>
          </p:nvSpPr>
          <p:spPr>
            <a:xfrm>
              <a:off x="1638300" y="3429000"/>
              <a:ext cx="431800" cy="2032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</p:grpSp>
      <p:grpSp>
        <p:nvGrpSpPr>
          <p:cNvPr id="167" name="node23"/>
          <p:cNvGrpSpPr/>
          <p:nvPr/>
        </p:nvGrpSpPr>
        <p:grpSpPr>
          <a:xfrm>
            <a:off x="2095500" y="3429000"/>
            <a:ext cx="431800" cy="203200"/>
            <a:chOff x="2095500" y="3429000"/>
            <a:chExt cx="431800" cy="203200"/>
          </a:xfrm>
        </p:grpSpPr>
        <p:sp>
          <p:nvSpPr>
            <p:cNvPr id="29" name="node23.surface"/>
            <p:cNvSpPr/>
            <p:nvPr/>
          </p:nvSpPr>
          <p:spPr>
            <a:xfrm>
              <a:off x="2095500" y="34290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8" name="node24"/>
          <p:cNvGrpSpPr/>
          <p:nvPr/>
        </p:nvGrpSpPr>
        <p:grpSpPr>
          <a:xfrm>
            <a:off x="2552700" y="3429000"/>
            <a:ext cx="431800" cy="203200"/>
            <a:chOff x="2552700" y="3429000"/>
            <a:chExt cx="431800" cy="203200"/>
          </a:xfrm>
        </p:grpSpPr>
        <p:sp>
          <p:nvSpPr>
            <p:cNvPr id="30" name="node24.surface"/>
            <p:cNvSpPr/>
            <p:nvPr/>
          </p:nvSpPr>
          <p:spPr>
            <a:xfrm>
              <a:off x="2552700" y="34290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9" name="node25"/>
          <p:cNvGrpSpPr/>
          <p:nvPr/>
        </p:nvGrpSpPr>
        <p:grpSpPr>
          <a:xfrm>
            <a:off x="3009900" y="3429000"/>
            <a:ext cx="431800" cy="203200"/>
            <a:chOff x="3009900" y="3429000"/>
            <a:chExt cx="431800" cy="203200"/>
          </a:xfrm>
        </p:grpSpPr>
        <p:sp>
          <p:nvSpPr>
            <p:cNvPr id="31" name="node25.surface"/>
            <p:cNvSpPr/>
            <p:nvPr/>
          </p:nvSpPr>
          <p:spPr>
            <a:xfrm>
              <a:off x="3009900" y="3429000"/>
              <a:ext cx="4318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70" name="node26"/>
          <p:cNvGrpSpPr/>
          <p:nvPr/>
        </p:nvGrpSpPr>
        <p:grpSpPr>
          <a:xfrm>
            <a:off x="723900" y="3657600"/>
            <a:ext cx="457200" cy="228600"/>
            <a:chOff x="723900" y="3657600"/>
            <a:chExt cx="457200" cy="228600"/>
          </a:xfrm>
        </p:grpSpPr>
        <p:sp>
          <p:nvSpPr>
            <p:cNvPr id="32" name="node26.text"/>
            <p:cNvSpPr/>
            <p:nvPr/>
          </p:nvSpPr>
          <p:spPr>
            <a:xfrm>
              <a:off x="723900" y="36576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A5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1" name="node27"/>
          <p:cNvGrpSpPr/>
          <p:nvPr/>
        </p:nvGrpSpPr>
        <p:grpSpPr>
          <a:xfrm>
            <a:off x="1181100" y="3657600"/>
            <a:ext cx="431800" cy="203200"/>
            <a:chOff x="1181100" y="3657600"/>
            <a:chExt cx="431800" cy="203200"/>
          </a:xfrm>
        </p:grpSpPr>
        <p:sp>
          <p:nvSpPr>
            <p:cNvPr id="33" name="node27.surface"/>
            <p:cNvSpPr/>
            <p:nvPr/>
          </p:nvSpPr>
          <p:spPr>
            <a:xfrm>
              <a:off x="1181100" y="36576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2" name="node28"/>
          <p:cNvGrpSpPr/>
          <p:nvPr/>
        </p:nvGrpSpPr>
        <p:grpSpPr>
          <a:xfrm>
            <a:off x="1638300" y="3657600"/>
            <a:ext cx="431800" cy="203200"/>
            <a:chOff x="1638300" y="3657600"/>
            <a:chExt cx="431800" cy="203200"/>
          </a:xfrm>
        </p:grpSpPr>
        <p:sp>
          <p:nvSpPr>
            <p:cNvPr id="34" name="node28.surface"/>
            <p:cNvSpPr/>
            <p:nvPr/>
          </p:nvSpPr>
          <p:spPr>
            <a:xfrm>
              <a:off x="1638300" y="36576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3" name="node29"/>
          <p:cNvGrpSpPr/>
          <p:nvPr/>
        </p:nvGrpSpPr>
        <p:grpSpPr>
          <a:xfrm>
            <a:off x="2095500" y="3657600"/>
            <a:ext cx="431800" cy="203200"/>
            <a:chOff x="2095500" y="3657600"/>
            <a:chExt cx="431800" cy="203200"/>
          </a:xfrm>
        </p:grpSpPr>
        <p:sp>
          <p:nvSpPr>
            <p:cNvPr id="35" name="node29.surface"/>
            <p:cNvSpPr/>
            <p:nvPr/>
          </p:nvSpPr>
          <p:spPr>
            <a:xfrm>
              <a:off x="2095500" y="36576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4" name="node30"/>
          <p:cNvGrpSpPr/>
          <p:nvPr/>
        </p:nvGrpSpPr>
        <p:grpSpPr>
          <a:xfrm>
            <a:off x="2552700" y="3657600"/>
            <a:ext cx="431800" cy="203200"/>
            <a:chOff x="2552700" y="3657600"/>
            <a:chExt cx="431800" cy="203200"/>
          </a:xfrm>
        </p:grpSpPr>
        <p:sp>
          <p:nvSpPr>
            <p:cNvPr id="36" name="node30.surface"/>
            <p:cNvSpPr/>
            <p:nvPr/>
          </p:nvSpPr>
          <p:spPr>
            <a:xfrm>
              <a:off x="2552700" y="36576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5" name="node31"/>
          <p:cNvGrpSpPr/>
          <p:nvPr/>
        </p:nvGrpSpPr>
        <p:grpSpPr>
          <a:xfrm>
            <a:off x="3009900" y="3657600"/>
            <a:ext cx="431800" cy="203200"/>
            <a:chOff x="3009900" y="3657600"/>
            <a:chExt cx="431800" cy="203200"/>
          </a:xfrm>
        </p:grpSpPr>
        <p:sp>
          <p:nvSpPr>
            <p:cNvPr id="37" name="node31.surface"/>
            <p:cNvSpPr/>
            <p:nvPr/>
          </p:nvSpPr>
          <p:spPr>
            <a:xfrm>
              <a:off x="3009900" y="36576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6" name="node32"/>
          <p:cNvGrpSpPr/>
          <p:nvPr/>
        </p:nvGrpSpPr>
        <p:grpSpPr>
          <a:xfrm>
            <a:off x="723900" y="3886200"/>
            <a:ext cx="457200" cy="228600"/>
            <a:chOff x="723900" y="3886200"/>
            <a:chExt cx="457200" cy="228600"/>
          </a:xfrm>
        </p:grpSpPr>
        <p:sp>
          <p:nvSpPr>
            <p:cNvPr id="38" name="node32.text"/>
            <p:cNvSpPr/>
            <p:nvPr/>
          </p:nvSpPr>
          <p:spPr>
            <a:xfrm>
              <a:off x="723900" y="38862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A6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7" name="node33"/>
          <p:cNvGrpSpPr/>
          <p:nvPr/>
        </p:nvGrpSpPr>
        <p:grpSpPr>
          <a:xfrm>
            <a:off x="1181100" y="3886200"/>
            <a:ext cx="431800" cy="203200"/>
            <a:chOff x="1181100" y="3886200"/>
            <a:chExt cx="431800" cy="203200"/>
          </a:xfrm>
        </p:grpSpPr>
        <p:sp>
          <p:nvSpPr>
            <p:cNvPr id="39" name="node33.surface"/>
            <p:cNvSpPr/>
            <p:nvPr/>
          </p:nvSpPr>
          <p:spPr>
            <a:xfrm>
              <a:off x="1181100" y="38862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8" name="node34"/>
          <p:cNvGrpSpPr/>
          <p:nvPr/>
        </p:nvGrpSpPr>
        <p:grpSpPr>
          <a:xfrm>
            <a:off x="1638300" y="3886200"/>
            <a:ext cx="431800" cy="203200"/>
            <a:chOff x="1638300" y="3886200"/>
            <a:chExt cx="431800" cy="203200"/>
          </a:xfrm>
        </p:grpSpPr>
        <p:sp>
          <p:nvSpPr>
            <p:cNvPr id="40" name="node34.surface"/>
            <p:cNvSpPr/>
            <p:nvPr/>
          </p:nvSpPr>
          <p:spPr>
            <a:xfrm>
              <a:off x="1638300" y="38862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9" name="node35"/>
          <p:cNvGrpSpPr/>
          <p:nvPr/>
        </p:nvGrpSpPr>
        <p:grpSpPr>
          <a:xfrm>
            <a:off x="2095500" y="3886200"/>
            <a:ext cx="431800" cy="203200"/>
            <a:chOff x="2095500" y="3886200"/>
            <a:chExt cx="431800" cy="203200"/>
          </a:xfrm>
        </p:grpSpPr>
        <p:sp>
          <p:nvSpPr>
            <p:cNvPr id="41" name="node35.surface"/>
            <p:cNvSpPr/>
            <p:nvPr/>
          </p:nvSpPr>
          <p:spPr>
            <a:xfrm>
              <a:off x="2095500" y="38862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80" name="node36"/>
          <p:cNvGrpSpPr/>
          <p:nvPr/>
        </p:nvGrpSpPr>
        <p:grpSpPr>
          <a:xfrm>
            <a:off x="2552700" y="3886200"/>
            <a:ext cx="431800" cy="203200"/>
            <a:chOff x="2552700" y="3886200"/>
            <a:chExt cx="431800" cy="203200"/>
          </a:xfrm>
        </p:grpSpPr>
        <p:sp>
          <p:nvSpPr>
            <p:cNvPr id="42" name="node36.surface"/>
            <p:cNvSpPr/>
            <p:nvPr/>
          </p:nvSpPr>
          <p:spPr>
            <a:xfrm>
              <a:off x="2552700" y="38862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81" name="node37"/>
          <p:cNvGrpSpPr/>
          <p:nvPr/>
        </p:nvGrpSpPr>
        <p:grpSpPr>
          <a:xfrm>
            <a:off x="3009900" y="3886200"/>
            <a:ext cx="431800" cy="203200"/>
            <a:chOff x="3009900" y="3886200"/>
            <a:chExt cx="431800" cy="203200"/>
          </a:xfrm>
        </p:grpSpPr>
        <p:sp>
          <p:nvSpPr>
            <p:cNvPr id="43" name="node37.surface"/>
            <p:cNvSpPr/>
            <p:nvPr/>
          </p:nvSpPr>
          <p:spPr>
            <a:xfrm>
              <a:off x="3009900" y="3886200"/>
              <a:ext cx="4318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82" name="node38"/>
          <p:cNvGrpSpPr/>
          <p:nvPr/>
        </p:nvGrpSpPr>
        <p:grpSpPr>
          <a:xfrm>
            <a:off x="723900" y="4114800"/>
            <a:ext cx="457200" cy="228600"/>
            <a:chOff x="723900" y="4114800"/>
            <a:chExt cx="457200" cy="228600"/>
          </a:xfrm>
        </p:grpSpPr>
        <p:sp>
          <p:nvSpPr>
            <p:cNvPr id="44" name="node38.text"/>
            <p:cNvSpPr/>
            <p:nvPr/>
          </p:nvSpPr>
          <p:spPr>
            <a:xfrm>
              <a:off x="723900" y="41148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A7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83" name="node39"/>
          <p:cNvGrpSpPr/>
          <p:nvPr/>
        </p:nvGrpSpPr>
        <p:grpSpPr>
          <a:xfrm>
            <a:off x="1181100" y="4114800"/>
            <a:ext cx="431800" cy="203200"/>
            <a:chOff x="1181100" y="4114800"/>
            <a:chExt cx="431800" cy="203200"/>
          </a:xfrm>
        </p:grpSpPr>
        <p:sp>
          <p:nvSpPr>
            <p:cNvPr id="45" name="node39.surface"/>
            <p:cNvSpPr/>
            <p:nvPr/>
          </p:nvSpPr>
          <p:spPr>
            <a:xfrm>
              <a:off x="1181100" y="4114800"/>
              <a:ext cx="4318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84" name="node40"/>
          <p:cNvGrpSpPr/>
          <p:nvPr/>
        </p:nvGrpSpPr>
        <p:grpSpPr>
          <a:xfrm>
            <a:off x="1638300" y="4114800"/>
            <a:ext cx="431800" cy="203200"/>
            <a:chOff x="1638300" y="4114800"/>
            <a:chExt cx="431800" cy="203200"/>
          </a:xfrm>
        </p:grpSpPr>
        <p:sp>
          <p:nvSpPr>
            <p:cNvPr id="46" name="node40.surface"/>
            <p:cNvSpPr/>
            <p:nvPr/>
          </p:nvSpPr>
          <p:spPr>
            <a:xfrm>
              <a:off x="1638300" y="4114800"/>
              <a:ext cx="4318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85" name="node41"/>
          <p:cNvGrpSpPr/>
          <p:nvPr/>
        </p:nvGrpSpPr>
        <p:grpSpPr>
          <a:xfrm>
            <a:off x="2095500" y="4114800"/>
            <a:ext cx="431800" cy="203200"/>
            <a:chOff x="2095500" y="4114800"/>
            <a:chExt cx="431800" cy="203200"/>
          </a:xfrm>
        </p:grpSpPr>
        <p:sp>
          <p:nvSpPr>
            <p:cNvPr id="47" name="node41.surface"/>
            <p:cNvSpPr/>
            <p:nvPr/>
          </p:nvSpPr>
          <p:spPr>
            <a:xfrm>
              <a:off x="2095500" y="41148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86" name="node42"/>
          <p:cNvGrpSpPr/>
          <p:nvPr/>
        </p:nvGrpSpPr>
        <p:grpSpPr>
          <a:xfrm>
            <a:off x="2552700" y="4114800"/>
            <a:ext cx="431800" cy="203200"/>
            <a:chOff x="2552700" y="4114800"/>
            <a:chExt cx="431800" cy="203200"/>
          </a:xfrm>
        </p:grpSpPr>
        <p:sp>
          <p:nvSpPr>
            <p:cNvPr id="48" name="node42.surface"/>
            <p:cNvSpPr/>
            <p:nvPr/>
          </p:nvSpPr>
          <p:spPr>
            <a:xfrm>
              <a:off x="2552700" y="4114800"/>
              <a:ext cx="4318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87" name="node43"/>
          <p:cNvGrpSpPr/>
          <p:nvPr/>
        </p:nvGrpSpPr>
        <p:grpSpPr>
          <a:xfrm>
            <a:off x="3009900" y="4114800"/>
            <a:ext cx="431800" cy="203200"/>
            <a:chOff x="3009900" y="4114800"/>
            <a:chExt cx="431800" cy="203200"/>
          </a:xfrm>
        </p:grpSpPr>
        <p:sp>
          <p:nvSpPr>
            <p:cNvPr id="49" name="node43.surface"/>
            <p:cNvSpPr/>
            <p:nvPr/>
          </p:nvSpPr>
          <p:spPr>
            <a:xfrm>
              <a:off x="3009900" y="41148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88" name="node44"/>
          <p:cNvGrpSpPr/>
          <p:nvPr/>
        </p:nvGrpSpPr>
        <p:grpSpPr>
          <a:xfrm>
            <a:off x="723900" y="4343400"/>
            <a:ext cx="457200" cy="228600"/>
            <a:chOff x="723900" y="4343400"/>
            <a:chExt cx="457200" cy="228600"/>
          </a:xfrm>
        </p:grpSpPr>
        <p:sp>
          <p:nvSpPr>
            <p:cNvPr id="50" name="node44.text"/>
            <p:cNvSpPr/>
            <p:nvPr/>
          </p:nvSpPr>
          <p:spPr>
            <a:xfrm>
              <a:off x="723900" y="43434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A8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89" name="node45"/>
          <p:cNvGrpSpPr/>
          <p:nvPr/>
        </p:nvGrpSpPr>
        <p:grpSpPr>
          <a:xfrm>
            <a:off x="1181100" y="4343400"/>
            <a:ext cx="431800" cy="203200"/>
            <a:chOff x="1181100" y="4343400"/>
            <a:chExt cx="431800" cy="203200"/>
          </a:xfrm>
        </p:grpSpPr>
        <p:sp>
          <p:nvSpPr>
            <p:cNvPr id="51" name="node45.surface"/>
            <p:cNvSpPr/>
            <p:nvPr/>
          </p:nvSpPr>
          <p:spPr>
            <a:xfrm>
              <a:off x="1181100" y="43434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0" name="node46"/>
          <p:cNvGrpSpPr/>
          <p:nvPr/>
        </p:nvGrpSpPr>
        <p:grpSpPr>
          <a:xfrm>
            <a:off x="1638300" y="4343400"/>
            <a:ext cx="431800" cy="203200"/>
            <a:chOff x="1638300" y="4343400"/>
            <a:chExt cx="431800" cy="203200"/>
          </a:xfrm>
        </p:grpSpPr>
        <p:sp>
          <p:nvSpPr>
            <p:cNvPr id="52" name="node46.surface"/>
            <p:cNvSpPr/>
            <p:nvPr/>
          </p:nvSpPr>
          <p:spPr>
            <a:xfrm>
              <a:off x="1638300" y="43434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1" name="node47"/>
          <p:cNvGrpSpPr/>
          <p:nvPr/>
        </p:nvGrpSpPr>
        <p:grpSpPr>
          <a:xfrm>
            <a:off x="2095500" y="4343400"/>
            <a:ext cx="431800" cy="203200"/>
            <a:chOff x="2095500" y="4343400"/>
            <a:chExt cx="431800" cy="203200"/>
          </a:xfrm>
        </p:grpSpPr>
        <p:sp>
          <p:nvSpPr>
            <p:cNvPr id="53" name="node47.surface"/>
            <p:cNvSpPr/>
            <p:nvPr/>
          </p:nvSpPr>
          <p:spPr>
            <a:xfrm>
              <a:off x="2095500" y="4343400"/>
              <a:ext cx="4318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92" name="node48"/>
          <p:cNvGrpSpPr/>
          <p:nvPr/>
        </p:nvGrpSpPr>
        <p:grpSpPr>
          <a:xfrm>
            <a:off x="2552700" y="4343400"/>
            <a:ext cx="431800" cy="203200"/>
            <a:chOff x="2552700" y="4343400"/>
            <a:chExt cx="431800" cy="203200"/>
          </a:xfrm>
        </p:grpSpPr>
        <p:sp>
          <p:nvSpPr>
            <p:cNvPr id="54" name="node48.surface"/>
            <p:cNvSpPr/>
            <p:nvPr/>
          </p:nvSpPr>
          <p:spPr>
            <a:xfrm>
              <a:off x="2552700" y="43434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93" name="node49"/>
          <p:cNvGrpSpPr/>
          <p:nvPr/>
        </p:nvGrpSpPr>
        <p:grpSpPr>
          <a:xfrm>
            <a:off x="3009900" y="4343400"/>
            <a:ext cx="431800" cy="203200"/>
            <a:chOff x="3009900" y="4343400"/>
            <a:chExt cx="431800" cy="203200"/>
          </a:xfrm>
        </p:grpSpPr>
        <p:sp>
          <p:nvSpPr>
            <p:cNvPr id="55" name="node49.surface"/>
            <p:cNvSpPr/>
            <p:nvPr/>
          </p:nvSpPr>
          <p:spPr>
            <a:xfrm>
              <a:off x="3009900" y="43434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4" name="node50"/>
          <p:cNvGrpSpPr/>
          <p:nvPr/>
        </p:nvGrpSpPr>
        <p:grpSpPr>
          <a:xfrm>
            <a:off x="723900" y="4572000"/>
            <a:ext cx="457200" cy="228600"/>
            <a:chOff x="723900" y="4572000"/>
            <a:chExt cx="457200" cy="228600"/>
          </a:xfrm>
        </p:grpSpPr>
        <p:sp>
          <p:nvSpPr>
            <p:cNvPr id="56" name="node50.text"/>
            <p:cNvSpPr/>
            <p:nvPr/>
          </p:nvSpPr>
          <p:spPr>
            <a:xfrm>
              <a:off x="723900" y="45720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A9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95" name="node51"/>
          <p:cNvGrpSpPr/>
          <p:nvPr/>
        </p:nvGrpSpPr>
        <p:grpSpPr>
          <a:xfrm>
            <a:off x="1181100" y="4572000"/>
            <a:ext cx="431800" cy="203200"/>
            <a:chOff x="1181100" y="4572000"/>
            <a:chExt cx="431800" cy="203200"/>
          </a:xfrm>
        </p:grpSpPr>
        <p:sp>
          <p:nvSpPr>
            <p:cNvPr id="57" name="node51.surface"/>
            <p:cNvSpPr/>
            <p:nvPr/>
          </p:nvSpPr>
          <p:spPr>
            <a:xfrm>
              <a:off x="1181100" y="45720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96" name="node52"/>
          <p:cNvGrpSpPr/>
          <p:nvPr/>
        </p:nvGrpSpPr>
        <p:grpSpPr>
          <a:xfrm>
            <a:off x="1638300" y="4572000"/>
            <a:ext cx="431800" cy="203200"/>
            <a:chOff x="1638300" y="4572000"/>
            <a:chExt cx="431800" cy="203200"/>
          </a:xfrm>
        </p:grpSpPr>
        <p:sp>
          <p:nvSpPr>
            <p:cNvPr id="58" name="node52.surface"/>
            <p:cNvSpPr/>
            <p:nvPr/>
          </p:nvSpPr>
          <p:spPr>
            <a:xfrm>
              <a:off x="1638300" y="45720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7" name="node53"/>
          <p:cNvGrpSpPr/>
          <p:nvPr/>
        </p:nvGrpSpPr>
        <p:grpSpPr>
          <a:xfrm>
            <a:off x="2095500" y="4572000"/>
            <a:ext cx="431800" cy="203200"/>
            <a:chOff x="2095500" y="4572000"/>
            <a:chExt cx="431800" cy="203200"/>
          </a:xfrm>
        </p:grpSpPr>
        <p:sp>
          <p:nvSpPr>
            <p:cNvPr id="59" name="node53.surface"/>
            <p:cNvSpPr/>
            <p:nvPr/>
          </p:nvSpPr>
          <p:spPr>
            <a:xfrm>
              <a:off x="2095500" y="45720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8" name="node54"/>
          <p:cNvGrpSpPr/>
          <p:nvPr/>
        </p:nvGrpSpPr>
        <p:grpSpPr>
          <a:xfrm>
            <a:off x="2552700" y="4572000"/>
            <a:ext cx="431800" cy="203200"/>
            <a:chOff x="2552700" y="4572000"/>
            <a:chExt cx="431800" cy="203200"/>
          </a:xfrm>
        </p:grpSpPr>
        <p:sp>
          <p:nvSpPr>
            <p:cNvPr id="60" name="node54.surface"/>
            <p:cNvSpPr/>
            <p:nvPr/>
          </p:nvSpPr>
          <p:spPr>
            <a:xfrm>
              <a:off x="2552700" y="4572000"/>
              <a:ext cx="4318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9" name="node55"/>
          <p:cNvGrpSpPr/>
          <p:nvPr/>
        </p:nvGrpSpPr>
        <p:grpSpPr>
          <a:xfrm>
            <a:off x="3009900" y="4572000"/>
            <a:ext cx="431800" cy="203200"/>
            <a:chOff x="3009900" y="4572000"/>
            <a:chExt cx="431800" cy="203200"/>
          </a:xfrm>
        </p:grpSpPr>
        <p:sp>
          <p:nvSpPr>
            <p:cNvPr id="61" name="node55.surface"/>
            <p:cNvSpPr/>
            <p:nvPr/>
          </p:nvSpPr>
          <p:spPr>
            <a:xfrm>
              <a:off x="3009900" y="4572000"/>
              <a:ext cx="4318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200" name="node56"/>
          <p:cNvGrpSpPr/>
          <p:nvPr/>
        </p:nvGrpSpPr>
        <p:grpSpPr>
          <a:xfrm>
            <a:off x="1181100" y="4114800"/>
            <a:ext cx="2286000" cy="25400"/>
            <a:chOff x="1181100" y="4114800"/>
            <a:chExt cx="2286000" cy="25400"/>
          </a:xfrm>
        </p:grpSpPr>
        <p:sp>
          <p:nvSpPr>
            <p:cNvPr id="62" name="node56.surface"/>
            <p:cNvSpPr/>
            <p:nvPr/>
          </p:nvSpPr>
          <p:spPr>
            <a:xfrm>
              <a:off x="1181100" y="4114800"/>
              <a:ext cx="2286000" cy="254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201" name="node57"/>
          <p:cNvGrpSpPr/>
          <p:nvPr/>
        </p:nvGrpSpPr>
        <p:grpSpPr>
          <a:xfrm>
            <a:off x="1181100" y="4800600"/>
            <a:ext cx="2286000" cy="25400"/>
            <a:chOff x="1181100" y="4800600"/>
            <a:chExt cx="2286000" cy="25400"/>
          </a:xfrm>
        </p:grpSpPr>
        <p:sp>
          <p:nvSpPr>
            <p:cNvPr id="63" name="node57.surface"/>
            <p:cNvSpPr/>
            <p:nvPr/>
          </p:nvSpPr>
          <p:spPr>
            <a:xfrm>
              <a:off x="1181100" y="4800600"/>
              <a:ext cx="2286000" cy="254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202" name="node58"/>
          <p:cNvGrpSpPr/>
          <p:nvPr/>
        </p:nvGrpSpPr>
        <p:grpSpPr>
          <a:xfrm>
            <a:off x="1181100" y="4114800"/>
            <a:ext cx="25400" cy="685800"/>
            <a:chOff x="1181100" y="4114800"/>
            <a:chExt cx="25400" cy="685800"/>
          </a:xfrm>
        </p:grpSpPr>
        <p:sp>
          <p:nvSpPr>
            <p:cNvPr id="64" name="node58.surface"/>
            <p:cNvSpPr/>
            <p:nvPr/>
          </p:nvSpPr>
          <p:spPr>
            <a:xfrm>
              <a:off x="1181100" y="4114800"/>
              <a:ext cx="25400" cy="6858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203" name="node59"/>
          <p:cNvGrpSpPr/>
          <p:nvPr/>
        </p:nvGrpSpPr>
        <p:grpSpPr>
          <a:xfrm>
            <a:off x="3467100" y="4114800"/>
            <a:ext cx="25400" cy="711200"/>
            <a:chOff x="3467100" y="4114800"/>
            <a:chExt cx="25400" cy="711200"/>
          </a:xfrm>
        </p:grpSpPr>
        <p:sp>
          <p:nvSpPr>
            <p:cNvPr id="65" name="node59.surface"/>
            <p:cNvSpPr/>
            <p:nvPr/>
          </p:nvSpPr>
          <p:spPr>
            <a:xfrm>
              <a:off x="3467100" y="4114800"/>
              <a:ext cx="25400" cy="7112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204" name="node60"/>
          <p:cNvGrpSpPr/>
          <p:nvPr/>
        </p:nvGrpSpPr>
        <p:grpSpPr>
          <a:xfrm>
            <a:off x="723900" y="5486400"/>
            <a:ext cx="2349500" cy="228600"/>
            <a:chOff x="723900" y="5486400"/>
            <a:chExt cx="2349500" cy="228600"/>
          </a:xfrm>
        </p:grpSpPr>
        <p:sp>
          <p:nvSpPr>
            <p:cNvPr id="66" name="node60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67" name="node60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68" name="node60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69" name="node60.items.slot-002.text"/>
            <p:cNvSpPr/>
            <p:nvPr/>
          </p:nvSpPr>
          <p:spPr>
            <a:xfrm>
              <a:off x="2189163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05" name="node61"/>
          <p:cNvGrpSpPr/>
          <p:nvPr/>
        </p:nvGrpSpPr>
        <p:grpSpPr>
          <a:xfrm>
            <a:off x="4381500" y="457200"/>
            <a:ext cx="7086600" cy="1600200"/>
            <a:chOff x="4381500" y="457200"/>
            <a:chExt cx="7086600" cy="1600200"/>
          </a:xfrm>
        </p:grpSpPr>
        <p:sp>
          <p:nvSpPr>
            <p:cNvPr id="70" name="node61.surface"/>
            <p:cNvSpPr/>
            <p:nvPr/>
          </p:nvSpPr>
          <p:spPr>
            <a:xfrm>
              <a:off x="4387850" y="463550"/>
              <a:ext cx="7073900" cy="15875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ED7E6"/>
              </a:solidFill>
              <a:prstDash val="solid"/>
            </a:ln>
          </p:spPr>
        </p:sp>
      </p:grpSp>
      <p:grpSp>
        <p:nvGrpSpPr>
          <p:cNvPr id="206" name="node62"/>
          <p:cNvGrpSpPr/>
          <p:nvPr/>
        </p:nvGrpSpPr>
        <p:grpSpPr>
          <a:xfrm>
            <a:off x="4610100" y="685800"/>
            <a:ext cx="609600" cy="381000"/>
            <a:chOff x="4610100" y="685800"/>
            <a:chExt cx="609600" cy="381000"/>
          </a:xfrm>
        </p:grpSpPr>
        <p:sp>
          <p:nvSpPr>
            <p:cNvPr id="71" name="node62.surface"/>
            <p:cNvSpPr/>
            <p:nvPr/>
          </p:nvSpPr>
          <p:spPr>
            <a:xfrm>
              <a:off x="4610100" y="685800"/>
              <a:ext cx="609600" cy="3810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72" name="node62.text"/>
            <p:cNvSpPr/>
            <p:nvPr/>
          </p:nvSpPr>
          <p:spPr>
            <a:xfrm>
              <a:off x="4762500" y="742950"/>
              <a:ext cx="3048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A7</a:t>
              </a:r>
              <a:endParaRPr lang="en-US" sz="14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07" name="node63"/>
          <p:cNvGrpSpPr/>
          <p:nvPr/>
        </p:nvGrpSpPr>
        <p:grpSpPr>
          <a:xfrm>
            <a:off x="5372100" y="698500"/>
            <a:ext cx="2743200" cy="304800"/>
            <a:chOff x="5372100" y="698500"/>
            <a:chExt cx="2743200" cy="304800"/>
          </a:xfrm>
        </p:grpSpPr>
        <p:sp>
          <p:nvSpPr>
            <p:cNvPr id="73" name="node63.text"/>
            <p:cNvSpPr/>
            <p:nvPr/>
          </p:nvSpPr>
          <p:spPr>
            <a:xfrm>
              <a:off x="5372100" y="698500"/>
              <a:ext cx="2743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Clinical documentation</a:t>
              </a:r>
              <a:endParaRPr lang="en-US" sz="1800" spc="-18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208" name="node64"/>
          <p:cNvGrpSpPr/>
          <p:nvPr/>
        </p:nvGrpSpPr>
        <p:grpSpPr>
          <a:xfrm>
            <a:off x="4610100" y="1117600"/>
            <a:ext cx="457200" cy="152400"/>
            <a:chOff x="4610100" y="1117600"/>
            <a:chExt cx="457200" cy="152400"/>
          </a:xfrm>
        </p:grpSpPr>
        <p:sp>
          <p:nvSpPr>
            <p:cNvPr id="74" name="node64.text"/>
            <p:cNvSpPr/>
            <p:nvPr/>
          </p:nvSpPr>
          <p:spPr>
            <a:xfrm>
              <a:off x="4610100" y="1117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09" name="node65"/>
          <p:cNvGrpSpPr/>
          <p:nvPr/>
        </p:nvGrpSpPr>
        <p:grpSpPr>
          <a:xfrm>
            <a:off x="4610100" y="1371600"/>
            <a:ext cx="431800" cy="381000"/>
            <a:chOff x="4610100" y="1371600"/>
            <a:chExt cx="431800" cy="381000"/>
          </a:xfrm>
        </p:grpSpPr>
        <p:sp>
          <p:nvSpPr>
            <p:cNvPr id="75" name="node65.surface"/>
            <p:cNvSpPr/>
            <p:nvPr/>
          </p:nvSpPr>
          <p:spPr>
            <a:xfrm>
              <a:off x="4610100" y="1371600"/>
              <a:ext cx="431800" cy="381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76" name="node65.text"/>
            <p:cNvSpPr/>
            <p:nvPr/>
          </p:nvSpPr>
          <p:spPr>
            <a:xfrm>
              <a:off x="4682067" y="1447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 lang="en-US" sz="12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0" name="node66"/>
          <p:cNvGrpSpPr/>
          <p:nvPr/>
        </p:nvGrpSpPr>
        <p:grpSpPr>
          <a:xfrm>
            <a:off x="5067300" y="1117600"/>
            <a:ext cx="457200" cy="152400"/>
            <a:chOff x="5067300" y="1117600"/>
            <a:chExt cx="457200" cy="152400"/>
          </a:xfrm>
        </p:grpSpPr>
        <p:sp>
          <p:nvSpPr>
            <p:cNvPr id="77" name="node66.text"/>
            <p:cNvSpPr/>
            <p:nvPr/>
          </p:nvSpPr>
          <p:spPr>
            <a:xfrm>
              <a:off x="5067300" y="1117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1" name="node67"/>
          <p:cNvGrpSpPr/>
          <p:nvPr/>
        </p:nvGrpSpPr>
        <p:grpSpPr>
          <a:xfrm>
            <a:off x="5067300" y="1371600"/>
            <a:ext cx="431800" cy="381000"/>
            <a:chOff x="5067300" y="1371600"/>
            <a:chExt cx="431800" cy="381000"/>
          </a:xfrm>
        </p:grpSpPr>
        <p:sp>
          <p:nvSpPr>
            <p:cNvPr id="78" name="node67.surface"/>
            <p:cNvSpPr/>
            <p:nvPr/>
          </p:nvSpPr>
          <p:spPr>
            <a:xfrm>
              <a:off x="5067300" y="1371600"/>
              <a:ext cx="431800" cy="381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79" name="node67.text"/>
            <p:cNvSpPr/>
            <p:nvPr/>
          </p:nvSpPr>
          <p:spPr>
            <a:xfrm>
              <a:off x="5139267" y="1447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 lang="en-US" sz="12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2" name="node68"/>
          <p:cNvGrpSpPr/>
          <p:nvPr/>
        </p:nvGrpSpPr>
        <p:grpSpPr>
          <a:xfrm>
            <a:off x="5524500" y="1117600"/>
            <a:ext cx="457200" cy="152400"/>
            <a:chOff x="5524500" y="1117600"/>
            <a:chExt cx="457200" cy="152400"/>
          </a:xfrm>
        </p:grpSpPr>
        <p:sp>
          <p:nvSpPr>
            <p:cNvPr id="80" name="node68.text"/>
            <p:cNvSpPr/>
            <p:nvPr/>
          </p:nvSpPr>
          <p:spPr>
            <a:xfrm>
              <a:off x="5524500" y="1117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3" name="node69"/>
          <p:cNvGrpSpPr/>
          <p:nvPr/>
        </p:nvGrpSpPr>
        <p:grpSpPr>
          <a:xfrm>
            <a:off x="5524500" y="1371600"/>
            <a:ext cx="431800" cy="381000"/>
            <a:chOff x="5524500" y="1371600"/>
            <a:chExt cx="431800" cy="381000"/>
          </a:xfrm>
        </p:grpSpPr>
        <p:sp>
          <p:nvSpPr>
            <p:cNvPr id="81" name="node69.surface"/>
            <p:cNvSpPr/>
            <p:nvPr/>
          </p:nvSpPr>
          <p:spPr>
            <a:xfrm>
              <a:off x="5524500" y="13716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2" name="node69.text"/>
            <p:cNvSpPr/>
            <p:nvPr/>
          </p:nvSpPr>
          <p:spPr>
            <a:xfrm>
              <a:off x="5596467" y="1447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4" name="node70"/>
          <p:cNvGrpSpPr/>
          <p:nvPr/>
        </p:nvGrpSpPr>
        <p:grpSpPr>
          <a:xfrm>
            <a:off x="5981700" y="1117600"/>
            <a:ext cx="457200" cy="152400"/>
            <a:chOff x="5981700" y="1117600"/>
            <a:chExt cx="457200" cy="152400"/>
          </a:xfrm>
        </p:grpSpPr>
        <p:sp>
          <p:nvSpPr>
            <p:cNvPr id="83" name="node70.text"/>
            <p:cNvSpPr/>
            <p:nvPr/>
          </p:nvSpPr>
          <p:spPr>
            <a:xfrm>
              <a:off x="5981700" y="1117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5" name="node71"/>
          <p:cNvGrpSpPr/>
          <p:nvPr/>
        </p:nvGrpSpPr>
        <p:grpSpPr>
          <a:xfrm>
            <a:off x="5981700" y="1371600"/>
            <a:ext cx="431800" cy="381000"/>
            <a:chOff x="5981700" y="1371600"/>
            <a:chExt cx="431800" cy="381000"/>
          </a:xfrm>
        </p:grpSpPr>
        <p:sp>
          <p:nvSpPr>
            <p:cNvPr id="84" name="node71.surface"/>
            <p:cNvSpPr/>
            <p:nvPr/>
          </p:nvSpPr>
          <p:spPr>
            <a:xfrm>
              <a:off x="5981700" y="1371600"/>
              <a:ext cx="431800" cy="381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5" name="node71.text"/>
            <p:cNvSpPr/>
            <p:nvPr/>
          </p:nvSpPr>
          <p:spPr>
            <a:xfrm>
              <a:off x="6053667" y="1447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 lang="en-US" sz="12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6" name="node72"/>
          <p:cNvGrpSpPr/>
          <p:nvPr/>
        </p:nvGrpSpPr>
        <p:grpSpPr>
          <a:xfrm>
            <a:off x="6438900" y="1117600"/>
            <a:ext cx="457200" cy="152400"/>
            <a:chOff x="6438900" y="1117600"/>
            <a:chExt cx="457200" cy="152400"/>
          </a:xfrm>
        </p:grpSpPr>
        <p:sp>
          <p:nvSpPr>
            <p:cNvPr id="86" name="node72.text"/>
            <p:cNvSpPr/>
            <p:nvPr/>
          </p:nvSpPr>
          <p:spPr>
            <a:xfrm>
              <a:off x="6438900" y="1117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7" name="node73"/>
          <p:cNvGrpSpPr/>
          <p:nvPr/>
        </p:nvGrpSpPr>
        <p:grpSpPr>
          <a:xfrm>
            <a:off x="6438900" y="1371600"/>
            <a:ext cx="431800" cy="381000"/>
            <a:chOff x="6438900" y="1371600"/>
            <a:chExt cx="431800" cy="381000"/>
          </a:xfrm>
        </p:grpSpPr>
        <p:sp>
          <p:nvSpPr>
            <p:cNvPr id="87" name="node73.surface"/>
            <p:cNvSpPr/>
            <p:nvPr/>
          </p:nvSpPr>
          <p:spPr>
            <a:xfrm>
              <a:off x="6438900" y="13716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8" name="node73.text"/>
            <p:cNvSpPr/>
            <p:nvPr/>
          </p:nvSpPr>
          <p:spPr>
            <a:xfrm>
              <a:off x="6510867" y="1447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8" name="node74"/>
          <p:cNvGrpSpPr/>
          <p:nvPr/>
        </p:nvGrpSpPr>
        <p:grpSpPr>
          <a:xfrm>
            <a:off x="8267700" y="685800"/>
            <a:ext cx="3048000" cy="762000"/>
            <a:chOff x="8267700" y="685800"/>
            <a:chExt cx="3048000" cy="762000"/>
          </a:xfrm>
        </p:grpSpPr>
        <p:sp>
          <p:nvSpPr>
            <p:cNvPr id="89" name="node74.source-001.bullet"/>
            <p:cNvSpPr/>
            <p:nvPr/>
          </p:nvSpPr>
          <p:spPr>
            <a:xfrm>
              <a:off x="8267700" y="7747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0" name="node74.source-001.text"/>
            <p:cNvSpPr/>
            <p:nvPr/>
          </p:nvSpPr>
          <p:spPr>
            <a:xfrm>
              <a:off x="8420100" y="6858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Templates are strong and reused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1" name="node74.source-002.bullet"/>
            <p:cNvSpPr/>
            <p:nvPr/>
          </p:nvSpPr>
          <p:spPr>
            <a:xfrm>
              <a:off x="8267700" y="1041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2" name="node74.source-002.text"/>
            <p:cNvSpPr/>
            <p:nvPr/>
          </p:nvSpPr>
          <p:spPr>
            <a:xfrm>
              <a:off x="8420100" y="9525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Voice capture live in two units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3" name="node74.source-003.bullet"/>
            <p:cNvSpPr/>
            <p:nvPr/>
          </p:nvSpPr>
          <p:spPr>
            <a:xfrm>
              <a:off x="8267700" y="1308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4" name="node74.source-003.text"/>
            <p:cNvSpPr/>
            <p:nvPr/>
          </p:nvSpPr>
          <p:spPr>
            <a:xfrm>
              <a:off x="8420100" y="12192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Scale ambient notes to eight units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9" name="node75"/>
          <p:cNvGrpSpPr/>
          <p:nvPr/>
        </p:nvGrpSpPr>
        <p:grpSpPr>
          <a:xfrm>
            <a:off x="4381500" y="2286000"/>
            <a:ext cx="7086600" cy="1600200"/>
            <a:chOff x="4381500" y="2286000"/>
            <a:chExt cx="7086600" cy="1600200"/>
          </a:xfrm>
        </p:grpSpPr>
        <p:sp>
          <p:nvSpPr>
            <p:cNvPr id="95" name="node75.surface"/>
            <p:cNvSpPr/>
            <p:nvPr/>
          </p:nvSpPr>
          <p:spPr>
            <a:xfrm>
              <a:off x="4387850" y="2292350"/>
              <a:ext cx="7073900" cy="15875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ED7E6"/>
              </a:solidFill>
              <a:prstDash val="solid"/>
            </a:ln>
          </p:spPr>
        </p:sp>
      </p:grpSp>
      <p:grpSp>
        <p:nvGrpSpPr>
          <p:cNvPr id="220" name="node76"/>
          <p:cNvGrpSpPr/>
          <p:nvPr/>
        </p:nvGrpSpPr>
        <p:grpSpPr>
          <a:xfrm>
            <a:off x="4610100" y="2514600"/>
            <a:ext cx="609600" cy="381000"/>
            <a:chOff x="4610100" y="2514600"/>
            <a:chExt cx="609600" cy="381000"/>
          </a:xfrm>
        </p:grpSpPr>
        <p:sp>
          <p:nvSpPr>
            <p:cNvPr id="96" name="node76.surface"/>
            <p:cNvSpPr/>
            <p:nvPr/>
          </p:nvSpPr>
          <p:spPr>
            <a:xfrm>
              <a:off x="4610100" y="2514600"/>
              <a:ext cx="609600" cy="3810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97" name="node76.text"/>
            <p:cNvSpPr/>
            <p:nvPr/>
          </p:nvSpPr>
          <p:spPr>
            <a:xfrm>
              <a:off x="4762500" y="2571750"/>
              <a:ext cx="3048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A8</a:t>
              </a:r>
              <a:endParaRPr lang="en-US" sz="14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1" name="node77"/>
          <p:cNvGrpSpPr/>
          <p:nvPr/>
        </p:nvGrpSpPr>
        <p:grpSpPr>
          <a:xfrm>
            <a:off x="5372100" y="2527300"/>
            <a:ext cx="2743200" cy="304800"/>
            <a:chOff x="5372100" y="2527300"/>
            <a:chExt cx="2743200" cy="304800"/>
          </a:xfrm>
        </p:grpSpPr>
        <p:sp>
          <p:nvSpPr>
            <p:cNvPr id="98" name="node77.text"/>
            <p:cNvSpPr/>
            <p:nvPr/>
          </p:nvSpPr>
          <p:spPr>
            <a:xfrm>
              <a:off x="5372100" y="2527300"/>
              <a:ext cx="2743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Care coordination</a:t>
              </a:r>
              <a:endParaRPr lang="en-US" sz="1800" spc="-18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222" name="node78"/>
          <p:cNvGrpSpPr/>
          <p:nvPr/>
        </p:nvGrpSpPr>
        <p:grpSpPr>
          <a:xfrm>
            <a:off x="4610100" y="2946400"/>
            <a:ext cx="457200" cy="152400"/>
            <a:chOff x="4610100" y="2946400"/>
            <a:chExt cx="457200" cy="152400"/>
          </a:xfrm>
        </p:grpSpPr>
        <p:sp>
          <p:nvSpPr>
            <p:cNvPr id="99" name="node78.text"/>
            <p:cNvSpPr/>
            <p:nvPr/>
          </p:nvSpPr>
          <p:spPr>
            <a:xfrm>
              <a:off x="4610100" y="2946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23" name="node79"/>
          <p:cNvGrpSpPr/>
          <p:nvPr/>
        </p:nvGrpSpPr>
        <p:grpSpPr>
          <a:xfrm>
            <a:off x="4610100" y="3200400"/>
            <a:ext cx="431800" cy="381000"/>
            <a:chOff x="4610100" y="3200400"/>
            <a:chExt cx="431800" cy="381000"/>
          </a:xfrm>
        </p:grpSpPr>
        <p:sp>
          <p:nvSpPr>
            <p:cNvPr id="100" name="node79.surface"/>
            <p:cNvSpPr/>
            <p:nvPr/>
          </p:nvSpPr>
          <p:spPr>
            <a:xfrm>
              <a:off x="4610100" y="32004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1" name="node79.text"/>
            <p:cNvSpPr/>
            <p:nvPr/>
          </p:nvSpPr>
          <p:spPr>
            <a:xfrm>
              <a:off x="4682067" y="32766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4" name="node80"/>
          <p:cNvGrpSpPr/>
          <p:nvPr/>
        </p:nvGrpSpPr>
        <p:grpSpPr>
          <a:xfrm>
            <a:off x="5067300" y="2946400"/>
            <a:ext cx="457200" cy="152400"/>
            <a:chOff x="5067300" y="2946400"/>
            <a:chExt cx="457200" cy="152400"/>
          </a:xfrm>
        </p:grpSpPr>
        <p:sp>
          <p:nvSpPr>
            <p:cNvPr id="102" name="node80.text"/>
            <p:cNvSpPr/>
            <p:nvPr/>
          </p:nvSpPr>
          <p:spPr>
            <a:xfrm>
              <a:off x="5067300" y="2946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25" name="node81"/>
          <p:cNvGrpSpPr/>
          <p:nvPr/>
        </p:nvGrpSpPr>
        <p:grpSpPr>
          <a:xfrm>
            <a:off x="5067300" y="3200400"/>
            <a:ext cx="431800" cy="381000"/>
            <a:chOff x="5067300" y="3200400"/>
            <a:chExt cx="431800" cy="381000"/>
          </a:xfrm>
        </p:grpSpPr>
        <p:sp>
          <p:nvSpPr>
            <p:cNvPr id="103" name="node81.surface"/>
            <p:cNvSpPr/>
            <p:nvPr/>
          </p:nvSpPr>
          <p:spPr>
            <a:xfrm>
              <a:off x="5067300" y="32004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4" name="node81.text"/>
            <p:cNvSpPr/>
            <p:nvPr/>
          </p:nvSpPr>
          <p:spPr>
            <a:xfrm>
              <a:off x="5139267" y="32766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6" name="node82"/>
          <p:cNvGrpSpPr/>
          <p:nvPr/>
        </p:nvGrpSpPr>
        <p:grpSpPr>
          <a:xfrm>
            <a:off x="5524500" y="2946400"/>
            <a:ext cx="457200" cy="152400"/>
            <a:chOff x="5524500" y="2946400"/>
            <a:chExt cx="457200" cy="152400"/>
          </a:xfrm>
        </p:grpSpPr>
        <p:sp>
          <p:nvSpPr>
            <p:cNvPr id="105" name="node82.text"/>
            <p:cNvSpPr/>
            <p:nvPr/>
          </p:nvSpPr>
          <p:spPr>
            <a:xfrm>
              <a:off x="5524500" y="2946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27" name="node83"/>
          <p:cNvGrpSpPr/>
          <p:nvPr/>
        </p:nvGrpSpPr>
        <p:grpSpPr>
          <a:xfrm>
            <a:off x="5524500" y="3200400"/>
            <a:ext cx="431800" cy="381000"/>
            <a:chOff x="5524500" y="3200400"/>
            <a:chExt cx="431800" cy="381000"/>
          </a:xfrm>
        </p:grpSpPr>
        <p:sp>
          <p:nvSpPr>
            <p:cNvPr id="106" name="node83.surface"/>
            <p:cNvSpPr/>
            <p:nvPr/>
          </p:nvSpPr>
          <p:spPr>
            <a:xfrm>
              <a:off x="5524500" y="3200400"/>
              <a:ext cx="431800" cy="381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07" name="node83.text"/>
            <p:cNvSpPr/>
            <p:nvPr/>
          </p:nvSpPr>
          <p:spPr>
            <a:xfrm>
              <a:off x="5596467" y="32766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8" name="node84"/>
          <p:cNvGrpSpPr/>
          <p:nvPr/>
        </p:nvGrpSpPr>
        <p:grpSpPr>
          <a:xfrm>
            <a:off x="5981700" y="2946400"/>
            <a:ext cx="457200" cy="152400"/>
            <a:chOff x="5981700" y="2946400"/>
            <a:chExt cx="457200" cy="152400"/>
          </a:xfrm>
        </p:grpSpPr>
        <p:sp>
          <p:nvSpPr>
            <p:cNvPr id="108" name="node84.text"/>
            <p:cNvSpPr/>
            <p:nvPr/>
          </p:nvSpPr>
          <p:spPr>
            <a:xfrm>
              <a:off x="5981700" y="2946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29" name="node85"/>
          <p:cNvGrpSpPr/>
          <p:nvPr/>
        </p:nvGrpSpPr>
        <p:grpSpPr>
          <a:xfrm>
            <a:off x="5981700" y="3200400"/>
            <a:ext cx="431800" cy="381000"/>
            <a:chOff x="5981700" y="3200400"/>
            <a:chExt cx="431800" cy="381000"/>
          </a:xfrm>
        </p:grpSpPr>
        <p:sp>
          <p:nvSpPr>
            <p:cNvPr id="109" name="node85.surface"/>
            <p:cNvSpPr/>
            <p:nvPr/>
          </p:nvSpPr>
          <p:spPr>
            <a:xfrm>
              <a:off x="5981700" y="32004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0" name="node85.text"/>
            <p:cNvSpPr/>
            <p:nvPr/>
          </p:nvSpPr>
          <p:spPr>
            <a:xfrm>
              <a:off x="6053667" y="32766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0" name="node86"/>
          <p:cNvGrpSpPr/>
          <p:nvPr/>
        </p:nvGrpSpPr>
        <p:grpSpPr>
          <a:xfrm>
            <a:off x="6438900" y="2946400"/>
            <a:ext cx="457200" cy="152400"/>
            <a:chOff x="6438900" y="2946400"/>
            <a:chExt cx="457200" cy="152400"/>
          </a:xfrm>
        </p:grpSpPr>
        <p:sp>
          <p:nvSpPr>
            <p:cNvPr id="111" name="node86.text"/>
            <p:cNvSpPr/>
            <p:nvPr/>
          </p:nvSpPr>
          <p:spPr>
            <a:xfrm>
              <a:off x="6438900" y="2946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31" name="node87"/>
          <p:cNvGrpSpPr/>
          <p:nvPr/>
        </p:nvGrpSpPr>
        <p:grpSpPr>
          <a:xfrm>
            <a:off x="6438900" y="3200400"/>
            <a:ext cx="431800" cy="381000"/>
            <a:chOff x="6438900" y="3200400"/>
            <a:chExt cx="431800" cy="381000"/>
          </a:xfrm>
        </p:grpSpPr>
        <p:sp>
          <p:nvSpPr>
            <p:cNvPr id="112" name="node87.surface"/>
            <p:cNvSpPr/>
            <p:nvPr/>
          </p:nvSpPr>
          <p:spPr>
            <a:xfrm>
              <a:off x="6438900" y="32004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3" name="node87.text"/>
            <p:cNvSpPr/>
            <p:nvPr/>
          </p:nvSpPr>
          <p:spPr>
            <a:xfrm>
              <a:off x="6510867" y="32766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2" name="node88"/>
          <p:cNvGrpSpPr/>
          <p:nvPr/>
        </p:nvGrpSpPr>
        <p:grpSpPr>
          <a:xfrm>
            <a:off x="8267700" y="2514600"/>
            <a:ext cx="3048000" cy="762000"/>
            <a:chOff x="8267700" y="2514600"/>
            <a:chExt cx="3048000" cy="762000"/>
          </a:xfrm>
        </p:grpSpPr>
        <p:sp>
          <p:nvSpPr>
            <p:cNvPr id="114" name="node88.source-001.bullet"/>
            <p:cNvSpPr/>
            <p:nvPr/>
          </p:nvSpPr>
          <p:spPr>
            <a:xfrm>
              <a:off x="8267700" y="26035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15" name="node88.source-001.text"/>
            <p:cNvSpPr/>
            <p:nvPr/>
          </p:nvSpPr>
          <p:spPr>
            <a:xfrm>
              <a:off x="8420100" y="25146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Handoffs run on phone and email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16" name="node88.source-002.bullet"/>
            <p:cNvSpPr/>
            <p:nvPr/>
          </p:nvSpPr>
          <p:spPr>
            <a:xfrm>
              <a:off x="8267700" y="28702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17" name="node88.source-002.text"/>
            <p:cNvSpPr/>
            <p:nvPr/>
          </p:nvSpPr>
          <p:spPr>
            <a:xfrm>
              <a:off x="8420100" y="27813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Care plans live in three tools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18" name="node88.source-003.bullet"/>
            <p:cNvSpPr/>
            <p:nvPr/>
          </p:nvSpPr>
          <p:spPr>
            <a:xfrm>
              <a:off x="8267700" y="31369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19" name="node88.source-003.text"/>
            <p:cNvSpPr/>
            <p:nvPr/>
          </p:nvSpPr>
          <p:spPr>
            <a:xfrm>
              <a:off x="8420100" y="30480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Pilot a shared care plan in oncology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3" name="node89"/>
          <p:cNvGrpSpPr/>
          <p:nvPr/>
        </p:nvGrpSpPr>
        <p:grpSpPr>
          <a:xfrm>
            <a:off x="4381500" y="4114800"/>
            <a:ext cx="7086600" cy="1600200"/>
            <a:chOff x="4381500" y="4114800"/>
            <a:chExt cx="7086600" cy="1600200"/>
          </a:xfrm>
        </p:grpSpPr>
        <p:sp>
          <p:nvSpPr>
            <p:cNvPr id="120" name="node89.surface"/>
            <p:cNvSpPr/>
            <p:nvPr/>
          </p:nvSpPr>
          <p:spPr>
            <a:xfrm>
              <a:off x="4387850" y="4121150"/>
              <a:ext cx="7073900" cy="15875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ED7E6"/>
              </a:solidFill>
              <a:prstDash val="solid"/>
            </a:ln>
          </p:spPr>
        </p:sp>
      </p:grpSp>
      <p:grpSp>
        <p:nvGrpSpPr>
          <p:cNvPr id="234" name="node90"/>
          <p:cNvGrpSpPr/>
          <p:nvPr/>
        </p:nvGrpSpPr>
        <p:grpSpPr>
          <a:xfrm>
            <a:off x="4610100" y="4343400"/>
            <a:ext cx="609600" cy="381000"/>
            <a:chOff x="4610100" y="4343400"/>
            <a:chExt cx="609600" cy="381000"/>
          </a:xfrm>
        </p:grpSpPr>
        <p:sp>
          <p:nvSpPr>
            <p:cNvPr id="121" name="node90.surface"/>
            <p:cNvSpPr/>
            <p:nvPr/>
          </p:nvSpPr>
          <p:spPr>
            <a:xfrm>
              <a:off x="4610100" y="4343400"/>
              <a:ext cx="609600" cy="3810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122" name="node90.text"/>
            <p:cNvSpPr/>
            <p:nvPr/>
          </p:nvSpPr>
          <p:spPr>
            <a:xfrm>
              <a:off x="4762500" y="4400550"/>
              <a:ext cx="3048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A9</a:t>
              </a:r>
              <a:endParaRPr lang="en-US" sz="14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5" name="node91"/>
          <p:cNvGrpSpPr/>
          <p:nvPr/>
        </p:nvGrpSpPr>
        <p:grpSpPr>
          <a:xfrm>
            <a:off x="5372100" y="4356100"/>
            <a:ext cx="2743200" cy="304800"/>
            <a:chOff x="5372100" y="4356100"/>
            <a:chExt cx="2743200" cy="304800"/>
          </a:xfrm>
        </p:grpSpPr>
        <p:sp>
          <p:nvSpPr>
            <p:cNvPr id="123" name="node91.text"/>
            <p:cNvSpPr/>
            <p:nvPr/>
          </p:nvSpPr>
          <p:spPr>
            <a:xfrm>
              <a:off x="5372100" y="4356100"/>
              <a:ext cx="2743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Supply chain</a:t>
              </a:r>
              <a:endParaRPr lang="en-US" sz="1800" spc="-18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236" name="node92"/>
          <p:cNvGrpSpPr/>
          <p:nvPr/>
        </p:nvGrpSpPr>
        <p:grpSpPr>
          <a:xfrm>
            <a:off x="4610100" y="4775200"/>
            <a:ext cx="457200" cy="152400"/>
            <a:chOff x="4610100" y="4775200"/>
            <a:chExt cx="457200" cy="152400"/>
          </a:xfrm>
        </p:grpSpPr>
        <p:sp>
          <p:nvSpPr>
            <p:cNvPr id="124" name="node92.text"/>
            <p:cNvSpPr/>
            <p:nvPr/>
          </p:nvSpPr>
          <p:spPr>
            <a:xfrm>
              <a:off x="46101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37" name="node93"/>
          <p:cNvGrpSpPr/>
          <p:nvPr/>
        </p:nvGrpSpPr>
        <p:grpSpPr>
          <a:xfrm>
            <a:off x="4610100" y="5029200"/>
            <a:ext cx="431800" cy="381000"/>
            <a:chOff x="4610100" y="5029200"/>
            <a:chExt cx="431800" cy="381000"/>
          </a:xfrm>
        </p:grpSpPr>
        <p:sp>
          <p:nvSpPr>
            <p:cNvPr id="125" name="node93.surface"/>
            <p:cNvSpPr/>
            <p:nvPr/>
          </p:nvSpPr>
          <p:spPr>
            <a:xfrm>
              <a:off x="4610100" y="50292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26" name="node93.text"/>
            <p:cNvSpPr/>
            <p:nvPr/>
          </p:nvSpPr>
          <p:spPr>
            <a:xfrm>
              <a:off x="4682067" y="51054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8" name="node94"/>
          <p:cNvGrpSpPr/>
          <p:nvPr/>
        </p:nvGrpSpPr>
        <p:grpSpPr>
          <a:xfrm>
            <a:off x="5067300" y="4775200"/>
            <a:ext cx="457200" cy="152400"/>
            <a:chOff x="5067300" y="4775200"/>
            <a:chExt cx="457200" cy="152400"/>
          </a:xfrm>
        </p:grpSpPr>
        <p:sp>
          <p:nvSpPr>
            <p:cNvPr id="127" name="node94.text"/>
            <p:cNvSpPr/>
            <p:nvPr/>
          </p:nvSpPr>
          <p:spPr>
            <a:xfrm>
              <a:off x="50673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39" name="node95"/>
          <p:cNvGrpSpPr/>
          <p:nvPr/>
        </p:nvGrpSpPr>
        <p:grpSpPr>
          <a:xfrm>
            <a:off x="5067300" y="5029200"/>
            <a:ext cx="431800" cy="381000"/>
            <a:chOff x="5067300" y="5029200"/>
            <a:chExt cx="431800" cy="381000"/>
          </a:xfrm>
        </p:grpSpPr>
        <p:sp>
          <p:nvSpPr>
            <p:cNvPr id="128" name="node95.surface"/>
            <p:cNvSpPr/>
            <p:nvPr/>
          </p:nvSpPr>
          <p:spPr>
            <a:xfrm>
              <a:off x="5067300" y="50292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29" name="node95.text"/>
            <p:cNvSpPr/>
            <p:nvPr/>
          </p:nvSpPr>
          <p:spPr>
            <a:xfrm>
              <a:off x="5139267" y="51054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40" name="node96"/>
          <p:cNvGrpSpPr/>
          <p:nvPr/>
        </p:nvGrpSpPr>
        <p:grpSpPr>
          <a:xfrm>
            <a:off x="5524500" y="4775200"/>
            <a:ext cx="457200" cy="152400"/>
            <a:chOff x="5524500" y="4775200"/>
            <a:chExt cx="457200" cy="152400"/>
          </a:xfrm>
        </p:grpSpPr>
        <p:sp>
          <p:nvSpPr>
            <p:cNvPr id="130" name="node96.text"/>
            <p:cNvSpPr/>
            <p:nvPr/>
          </p:nvSpPr>
          <p:spPr>
            <a:xfrm>
              <a:off x="55245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41" name="node97"/>
          <p:cNvGrpSpPr/>
          <p:nvPr/>
        </p:nvGrpSpPr>
        <p:grpSpPr>
          <a:xfrm>
            <a:off x="5524500" y="5029200"/>
            <a:ext cx="431800" cy="381000"/>
            <a:chOff x="5524500" y="5029200"/>
            <a:chExt cx="431800" cy="381000"/>
          </a:xfrm>
        </p:grpSpPr>
        <p:sp>
          <p:nvSpPr>
            <p:cNvPr id="131" name="node97.surface"/>
            <p:cNvSpPr/>
            <p:nvPr/>
          </p:nvSpPr>
          <p:spPr>
            <a:xfrm>
              <a:off x="5524500" y="50292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2" name="node97.text"/>
            <p:cNvSpPr/>
            <p:nvPr/>
          </p:nvSpPr>
          <p:spPr>
            <a:xfrm>
              <a:off x="5596467" y="51054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42" name="node98"/>
          <p:cNvGrpSpPr/>
          <p:nvPr/>
        </p:nvGrpSpPr>
        <p:grpSpPr>
          <a:xfrm>
            <a:off x="5981700" y="4775200"/>
            <a:ext cx="457200" cy="152400"/>
            <a:chOff x="5981700" y="4775200"/>
            <a:chExt cx="457200" cy="152400"/>
          </a:xfrm>
        </p:grpSpPr>
        <p:sp>
          <p:nvSpPr>
            <p:cNvPr id="133" name="node98.text"/>
            <p:cNvSpPr/>
            <p:nvPr/>
          </p:nvSpPr>
          <p:spPr>
            <a:xfrm>
              <a:off x="59817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43" name="node99"/>
          <p:cNvGrpSpPr/>
          <p:nvPr/>
        </p:nvGrpSpPr>
        <p:grpSpPr>
          <a:xfrm>
            <a:off x="5981700" y="5029200"/>
            <a:ext cx="431800" cy="381000"/>
            <a:chOff x="5981700" y="5029200"/>
            <a:chExt cx="431800" cy="381000"/>
          </a:xfrm>
        </p:grpSpPr>
        <p:sp>
          <p:nvSpPr>
            <p:cNvPr id="134" name="node99.surface"/>
            <p:cNvSpPr/>
            <p:nvPr/>
          </p:nvSpPr>
          <p:spPr>
            <a:xfrm>
              <a:off x="5981700" y="50292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5" name="node99.text"/>
            <p:cNvSpPr/>
            <p:nvPr/>
          </p:nvSpPr>
          <p:spPr>
            <a:xfrm>
              <a:off x="6053667" y="51054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44" name="node100"/>
          <p:cNvGrpSpPr/>
          <p:nvPr/>
        </p:nvGrpSpPr>
        <p:grpSpPr>
          <a:xfrm>
            <a:off x="6438900" y="4775200"/>
            <a:ext cx="457200" cy="152400"/>
            <a:chOff x="6438900" y="4775200"/>
            <a:chExt cx="457200" cy="152400"/>
          </a:xfrm>
        </p:grpSpPr>
        <p:sp>
          <p:nvSpPr>
            <p:cNvPr id="136" name="node100.text"/>
            <p:cNvSpPr/>
            <p:nvPr/>
          </p:nvSpPr>
          <p:spPr>
            <a:xfrm>
              <a:off x="64389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45" name="node101"/>
          <p:cNvGrpSpPr/>
          <p:nvPr/>
        </p:nvGrpSpPr>
        <p:grpSpPr>
          <a:xfrm>
            <a:off x="6438900" y="5029200"/>
            <a:ext cx="431800" cy="381000"/>
            <a:chOff x="6438900" y="5029200"/>
            <a:chExt cx="431800" cy="381000"/>
          </a:xfrm>
        </p:grpSpPr>
        <p:sp>
          <p:nvSpPr>
            <p:cNvPr id="137" name="node101.surface"/>
            <p:cNvSpPr/>
            <p:nvPr/>
          </p:nvSpPr>
          <p:spPr>
            <a:xfrm>
              <a:off x="6438900" y="50292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38" name="node101.text"/>
            <p:cNvSpPr/>
            <p:nvPr/>
          </p:nvSpPr>
          <p:spPr>
            <a:xfrm>
              <a:off x="6510867" y="51054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46" name="node102"/>
          <p:cNvGrpSpPr/>
          <p:nvPr/>
        </p:nvGrpSpPr>
        <p:grpSpPr>
          <a:xfrm>
            <a:off x="8267700" y="4343400"/>
            <a:ext cx="3048000" cy="762000"/>
            <a:chOff x="8267700" y="4343400"/>
            <a:chExt cx="3048000" cy="762000"/>
          </a:xfrm>
        </p:grpSpPr>
        <p:sp>
          <p:nvSpPr>
            <p:cNvPr id="139" name="node102.source-001.bullet"/>
            <p:cNvSpPr/>
            <p:nvPr/>
          </p:nvSpPr>
          <p:spPr>
            <a:xfrm>
              <a:off x="8267700" y="44323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0" name="node102.source-001.text"/>
            <p:cNvSpPr/>
            <p:nvPr/>
          </p:nvSpPr>
          <p:spPr>
            <a:xfrm>
              <a:off x="8420100" y="43434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Item master has duplicates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1" name="node102.source-002.bullet"/>
            <p:cNvSpPr/>
            <p:nvPr/>
          </p:nvSpPr>
          <p:spPr>
            <a:xfrm>
              <a:off x="8267700" y="46990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2" name="node102.source-002.text"/>
            <p:cNvSpPr/>
            <p:nvPr/>
          </p:nvSpPr>
          <p:spPr>
            <a:xfrm>
              <a:off x="8420100" y="46101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Contracts tracked by site, not system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3" name="node102.source-003.bullet"/>
            <p:cNvSpPr/>
            <p:nvPr/>
          </p:nvSpPr>
          <p:spPr>
            <a:xfrm>
              <a:off x="8267700" y="49657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4" name="node102.source-003.text"/>
            <p:cNvSpPr/>
            <p:nvPr/>
          </p:nvSpPr>
          <p:spPr>
            <a:xfrm>
              <a:off x="8420100" y="4876800"/>
              <a:ext cx="2895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Clean the item master first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REVENUE CYCLE DETAIL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Denials management is the weakest of the revenue rows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12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10" name="node01"/>
          <p:cNvGrpSpPr/>
          <p:nvPr/>
        </p:nvGrpSpPr>
        <p:grpSpPr>
          <a:xfrm>
            <a:off x="723900" y="1600200"/>
            <a:ext cx="762000" cy="457200"/>
            <a:chOff x="723900" y="1600200"/>
            <a:chExt cx="762000" cy="457200"/>
          </a:xfrm>
        </p:grpSpPr>
        <p:sp>
          <p:nvSpPr>
            <p:cNvPr id="7" name="node01.surface"/>
            <p:cNvSpPr/>
            <p:nvPr/>
          </p:nvSpPr>
          <p:spPr>
            <a:xfrm>
              <a:off x="723900" y="1600200"/>
              <a:ext cx="762000" cy="4572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8" name="node01.text"/>
            <p:cNvSpPr/>
            <p:nvPr/>
          </p:nvSpPr>
          <p:spPr>
            <a:xfrm>
              <a:off x="876300" y="1676400"/>
              <a:ext cx="457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FFFFFF"/>
                  </a:solidFill>
                  <a:latin typeface="IBM Plex Sans SemiBold"/>
                  <a:ea typeface="IBM Plex Sans SemiBold"/>
                  <a:cs typeface="IBM Plex Sans SemiBold"/>
                </a:rPr>
                <a:t>A6</a:t>
              </a:r>
              <a:endParaRPr lang="en-US" sz="1800" spc="-18" kern="0" b="0" i="0" dirty="0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111" name="node02"/>
          <p:cNvGrpSpPr/>
          <p:nvPr/>
        </p:nvGrpSpPr>
        <p:grpSpPr>
          <a:xfrm>
            <a:off x="1638300" y="1600200"/>
            <a:ext cx="6604000" cy="381000"/>
            <a:chOff x="1638300" y="1600200"/>
            <a:chExt cx="6604000" cy="381000"/>
          </a:xfrm>
        </p:grpSpPr>
        <p:sp>
          <p:nvSpPr>
            <p:cNvPr id="9" name="node02.text"/>
            <p:cNvSpPr/>
            <p:nvPr/>
          </p:nvSpPr>
          <p:spPr>
            <a:xfrm>
              <a:off x="1638300" y="1600200"/>
              <a:ext cx="6604000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3000"/>
                </a:lnSpc>
                <a:buNone/>
              </a:pPr>
              <a:r>
                <a:rPr lang="en-US" sz="2400" spc="-36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Denials management</a:t>
              </a:r>
              <a:endParaRPr lang="en-US" sz="2400" spc="-36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112" name="node03"/>
          <p:cNvGrpSpPr/>
          <p:nvPr/>
        </p:nvGrpSpPr>
        <p:grpSpPr>
          <a:xfrm>
            <a:off x="723900" y="2286000"/>
            <a:ext cx="457200" cy="152400"/>
            <a:chOff x="723900" y="2286000"/>
            <a:chExt cx="457200" cy="152400"/>
          </a:xfrm>
        </p:grpSpPr>
        <p:sp>
          <p:nvSpPr>
            <p:cNvPr id="10" name="node03.text"/>
            <p:cNvSpPr/>
            <p:nvPr/>
          </p:nvSpPr>
          <p:spPr>
            <a:xfrm>
              <a:off x="7239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13" name="node04"/>
          <p:cNvGrpSpPr/>
          <p:nvPr/>
        </p:nvGrpSpPr>
        <p:grpSpPr>
          <a:xfrm>
            <a:off x="723900" y="2514600"/>
            <a:ext cx="431800" cy="381000"/>
            <a:chOff x="723900" y="2514600"/>
            <a:chExt cx="431800" cy="381000"/>
          </a:xfrm>
        </p:grpSpPr>
        <p:sp>
          <p:nvSpPr>
            <p:cNvPr id="11" name="node04.surface"/>
            <p:cNvSpPr/>
            <p:nvPr/>
          </p:nvSpPr>
          <p:spPr>
            <a:xfrm>
              <a:off x="723900" y="25146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2" name="node04.text"/>
            <p:cNvSpPr/>
            <p:nvPr/>
          </p:nvSpPr>
          <p:spPr>
            <a:xfrm>
              <a:off x="7958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14" name="node05"/>
          <p:cNvGrpSpPr/>
          <p:nvPr/>
        </p:nvGrpSpPr>
        <p:grpSpPr>
          <a:xfrm>
            <a:off x="1181100" y="2286000"/>
            <a:ext cx="457200" cy="152400"/>
            <a:chOff x="1181100" y="2286000"/>
            <a:chExt cx="457200" cy="152400"/>
          </a:xfrm>
        </p:grpSpPr>
        <p:sp>
          <p:nvSpPr>
            <p:cNvPr id="13" name="node05.text"/>
            <p:cNvSpPr/>
            <p:nvPr/>
          </p:nvSpPr>
          <p:spPr>
            <a:xfrm>
              <a:off x="11811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15" name="node06"/>
          <p:cNvGrpSpPr/>
          <p:nvPr/>
        </p:nvGrpSpPr>
        <p:grpSpPr>
          <a:xfrm>
            <a:off x="1181100" y="2514600"/>
            <a:ext cx="431800" cy="381000"/>
            <a:chOff x="1181100" y="2514600"/>
            <a:chExt cx="431800" cy="381000"/>
          </a:xfrm>
        </p:grpSpPr>
        <p:sp>
          <p:nvSpPr>
            <p:cNvPr id="14" name="node06.surface"/>
            <p:cNvSpPr/>
            <p:nvPr/>
          </p:nvSpPr>
          <p:spPr>
            <a:xfrm>
              <a:off x="1181100" y="25146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5" name="node06.text"/>
            <p:cNvSpPr/>
            <p:nvPr/>
          </p:nvSpPr>
          <p:spPr>
            <a:xfrm>
              <a:off x="12530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16" name="node07"/>
          <p:cNvGrpSpPr/>
          <p:nvPr/>
        </p:nvGrpSpPr>
        <p:grpSpPr>
          <a:xfrm>
            <a:off x="1638300" y="2286000"/>
            <a:ext cx="457200" cy="152400"/>
            <a:chOff x="1638300" y="2286000"/>
            <a:chExt cx="457200" cy="152400"/>
          </a:xfrm>
        </p:grpSpPr>
        <p:sp>
          <p:nvSpPr>
            <p:cNvPr id="16" name="node07.text"/>
            <p:cNvSpPr/>
            <p:nvPr/>
          </p:nvSpPr>
          <p:spPr>
            <a:xfrm>
              <a:off x="16383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17" name="node08"/>
          <p:cNvGrpSpPr/>
          <p:nvPr/>
        </p:nvGrpSpPr>
        <p:grpSpPr>
          <a:xfrm>
            <a:off x="1638300" y="2514600"/>
            <a:ext cx="431800" cy="381000"/>
            <a:chOff x="1638300" y="2514600"/>
            <a:chExt cx="431800" cy="381000"/>
          </a:xfrm>
        </p:grpSpPr>
        <p:sp>
          <p:nvSpPr>
            <p:cNvPr id="17" name="node08.surface"/>
            <p:cNvSpPr/>
            <p:nvPr/>
          </p:nvSpPr>
          <p:spPr>
            <a:xfrm>
              <a:off x="1638300" y="25146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8" name="node08.text"/>
            <p:cNvSpPr/>
            <p:nvPr/>
          </p:nvSpPr>
          <p:spPr>
            <a:xfrm>
              <a:off x="17102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18" name="node09"/>
          <p:cNvGrpSpPr/>
          <p:nvPr/>
        </p:nvGrpSpPr>
        <p:grpSpPr>
          <a:xfrm>
            <a:off x="2095500" y="2286000"/>
            <a:ext cx="457200" cy="152400"/>
            <a:chOff x="2095500" y="2286000"/>
            <a:chExt cx="457200" cy="152400"/>
          </a:xfrm>
        </p:grpSpPr>
        <p:sp>
          <p:nvSpPr>
            <p:cNvPr id="19" name="node09.text"/>
            <p:cNvSpPr/>
            <p:nvPr/>
          </p:nvSpPr>
          <p:spPr>
            <a:xfrm>
              <a:off x="20955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19" name="node10"/>
          <p:cNvGrpSpPr/>
          <p:nvPr/>
        </p:nvGrpSpPr>
        <p:grpSpPr>
          <a:xfrm>
            <a:off x="2095500" y="2514600"/>
            <a:ext cx="431800" cy="381000"/>
            <a:chOff x="2095500" y="2514600"/>
            <a:chExt cx="431800" cy="381000"/>
          </a:xfrm>
        </p:grpSpPr>
        <p:sp>
          <p:nvSpPr>
            <p:cNvPr id="20" name="node10.surface"/>
            <p:cNvSpPr/>
            <p:nvPr/>
          </p:nvSpPr>
          <p:spPr>
            <a:xfrm>
              <a:off x="2095500" y="25146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1" name="node10.text"/>
            <p:cNvSpPr/>
            <p:nvPr/>
          </p:nvSpPr>
          <p:spPr>
            <a:xfrm>
              <a:off x="21674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20" name="node11"/>
          <p:cNvGrpSpPr/>
          <p:nvPr/>
        </p:nvGrpSpPr>
        <p:grpSpPr>
          <a:xfrm>
            <a:off x="2552700" y="2286000"/>
            <a:ext cx="457200" cy="152400"/>
            <a:chOff x="2552700" y="2286000"/>
            <a:chExt cx="457200" cy="152400"/>
          </a:xfrm>
        </p:grpSpPr>
        <p:sp>
          <p:nvSpPr>
            <p:cNvPr id="22" name="node11.text"/>
            <p:cNvSpPr/>
            <p:nvPr/>
          </p:nvSpPr>
          <p:spPr>
            <a:xfrm>
              <a:off x="25527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21" name="node12"/>
          <p:cNvGrpSpPr/>
          <p:nvPr/>
        </p:nvGrpSpPr>
        <p:grpSpPr>
          <a:xfrm>
            <a:off x="2552700" y="2514600"/>
            <a:ext cx="431800" cy="381000"/>
            <a:chOff x="2552700" y="2514600"/>
            <a:chExt cx="431800" cy="381000"/>
          </a:xfrm>
        </p:grpSpPr>
        <p:sp>
          <p:nvSpPr>
            <p:cNvPr id="23" name="node12.surface"/>
            <p:cNvSpPr/>
            <p:nvPr/>
          </p:nvSpPr>
          <p:spPr>
            <a:xfrm>
              <a:off x="2552700" y="2514600"/>
              <a:ext cx="431800" cy="381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24" name="node12.text"/>
            <p:cNvSpPr/>
            <p:nvPr/>
          </p:nvSpPr>
          <p:spPr>
            <a:xfrm>
              <a:off x="26246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22" name="node13"/>
          <p:cNvGrpSpPr/>
          <p:nvPr/>
        </p:nvGrpSpPr>
        <p:grpSpPr>
          <a:xfrm>
            <a:off x="723900" y="2971800"/>
            <a:ext cx="2514600" cy="228600"/>
            <a:chOff x="723900" y="2971800"/>
            <a:chExt cx="2514600" cy="228600"/>
          </a:xfrm>
        </p:grpSpPr>
        <p:sp>
          <p:nvSpPr>
            <p:cNvPr id="25" name="node13.text"/>
            <p:cNvSpPr/>
            <p:nvPr/>
          </p:nvSpPr>
          <p:spPr>
            <a:xfrm>
              <a:off x="723900" y="2971800"/>
              <a:ext cx="2514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Overall 2 of 5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23" name="node14"/>
          <p:cNvGrpSpPr/>
          <p:nvPr/>
        </p:nvGrpSpPr>
        <p:grpSpPr>
          <a:xfrm>
            <a:off x="3467100" y="2286000"/>
            <a:ext cx="2895600" cy="152400"/>
            <a:chOff x="3467100" y="2286000"/>
            <a:chExt cx="2895600" cy="152400"/>
          </a:xfrm>
        </p:grpSpPr>
        <p:sp>
          <p:nvSpPr>
            <p:cNvPr id="26" name="node14.text"/>
            <p:cNvSpPr/>
            <p:nvPr/>
          </p:nvSpPr>
          <p:spPr>
            <a:xfrm>
              <a:off x="3467100" y="2286000"/>
              <a:ext cx="2895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WHAT DRIVES THE SCORE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24" name="node15"/>
          <p:cNvGrpSpPr/>
          <p:nvPr/>
        </p:nvGrpSpPr>
        <p:grpSpPr>
          <a:xfrm>
            <a:off x="3467100" y="2590800"/>
            <a:ext cx="2895600" cy="762000"/>
            <a:chOff x="3467100" y="2590800"/>
            <a:chExt cx="2895600" cy="762000"/>
          </a:xfrm>
        </p:grpSpPr>
        <p:sp>
          <p:nvSpPr>
            <p:cNvPr id="27" name="node15.source-001.bullet"/>
            <p:cNvSpPr/>
            <p:nvPr/>
          </p:nvSpPr>
          <p:spPr>
            <a:xfrm>
              <a:off x="3467100" y="26797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28" name="node15.source-001.text"/>
            <p:cNvSpPr/>
            <p:nvPr/>
          </p:nvSpPr>
          <p:spPr>
            <a:xfrm>
              <a:off x="3619500" y="25908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Denial reasons are not coded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29" name="node15.source-002.bullet"/>
            <p:cNvSpPr/>
            <p:nvPr/>
          </p:nvSpPr>
          <p:spPr>
            <a:xfrm>
              <a:off x="3467100" y="2946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0" name="node15.source-002.text"/>
            <p:cNvSpPr/>
            <p:nvPr/>
          </p:nvSpPr>
          <p:spPr>
            <a:xfrm>
              <a:off x="3619500" y="28575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Rework has no owner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31" name="node15.source-003.bullet"/>
            <p:cNvSpPr/>
            <p:nvPr/>
          </p:nvSpPr>
          <p:spPr>
            <a:xfrm>
              <a:off x="3467100" y="3213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2" name="node15.source-003.text"/>
            <p:cNvSpPr/>
            <p:nvPr/>
          </p:nvSpPr>
          <p:spPr>
            <a:xfrm>
              <a:off x="3619500" y="31242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Appeals follow no playbook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25" name="node16"/>
          <p:cNvGrpSpPr/>
          <p:nvPr/>
        </p:nvGrpSpPr>
        <p:grpSpPr>
          <a:xfrm>
            <a:off x="6591300" y="2286000"/>
            <a:ext cx="2895600" cy="152400"/>
            <a:chOff x="6591300" y="2286000"/>
            <a:chExt cx="2895600" cy="152400"/>
          </a:xfrm>
        </p:grpSpPr>
        <p:sp>
          <p:nvSpPr>
            <p:cNvPr id="33" name="node16.text"/>
            <p:cNvSpPr/>
            <p:nvPr/>
          </p:nvSpPr>
          <p:spPr>
            <a:xfrm>
              <a:off x="6591300" y="2286000"/>
              <a:ext cx="2895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WHAT WE'D DO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26" name="node17"/>
          <p:cNvGrpSpPr/>
          <p:nvPr/>
        </p:nvGrpSpPr>
        <p:grpSpPr>
          <a:xfrm>
            <a:off x="6591300" y="2590800"/>
            <a:ext cx="2895600" cy="762000"/>
            <a:chOff x="6591300" y="2590800"/>
            <a:chExt cx="2895600" cy="762000"/>
          </a:xfrm>
        </p:grpSpPr>
        <p:sp>
          <p:nvSpPr>
            <p:cNvPr id="34" name="node17.source-001.bullet"/>
            <p:cNvSpPr/>
            <p:nvPr/>
          </p:nvSpPr>
          <p:spPr>
            <a:xfrm>
              <a:off x="6591300" y="26797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5" name="node17.source-001.text"/>
            <p:cNvSpPr/>
            <p:nvPr/>
          </p:nvSpPr>
          <p:spPr>
            <a:xfrm>
              <a:off x="6743700" y="25908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Code every denial at source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36" name="node17.source-002.bullet"/>
            <p:cNvSpPr/>
            <p:nvPr/>
          </p:nvSpPr>
          <p:spPr>
            <a:xfrm>
              <a:off x="6591300" y="2946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7" name="node17.source-002.text"/>
            <p:cNvSpPr/>
            <p:nvPr/>
          </p:nvSpPr>
          <p:spPr>
            <a:xfrm>
              <a:off x="6743700" y="28575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Name one denials owner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38" name="node17.source-003.bullet"/>
            <p:cNvSpPr/>
            <p:nvPr/>
          </p:nvSpPr>
          <p:spPr>
            <a:xfrm>
              <a:off x="6591300" y="3213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9" name="node17.source-003.text"/>
            <p:cNvSpPr/>
            <p:nvPr/>
          </p:nvSpPr>
          <p:spPr>
            <a:xfrm>
              <a:off x="6743700" y="31242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Write the appeal playbook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27" name="node18"/>
          <p:cNvGrpSpPr/>
          <p:nvPr/>
        </p:nvGrpSpPr>
        <p:grpSpPr>
          <a:xfrm>
            <a:off x="10096500" y="1600200"/>
            <a:ext cx="1397000" cy="152400"/>
            <a:chOff x="10096500" y="1600200"/>
            <a:chExt cx="1397000" cy="152400"/>
          </a:xfrm>
        </p:grpSpPr>
        <p:sp>
          <p:nvSpPr>
            <p:cNvPr id="40" name="node18.text"/>
            <p:cNvSpPr/>
            <p:nvPr/>
          </p:nvSpPr>
          <p:spPr>
            <a:xfrm>
              <a:off x="10096500" y="1600200"/>
              <a:ext cx="13970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50658E"/>
                  </a:solidFill>
                  <a:latin typeface="IBM Plex Mono Medium"/>
                  <a:ea typeface="IBM Plex Mono Medium"/>
                  <a:cs typeface="IBM Plex Mono Medium"/>
                </a:rPr>
                <a:t>LOCATOR</a:t>
              </a:r>
              <a:endParaRPr lang="en-US" sz="900" spc="54" kern="0" b="0" i="0" dirty="0">
                <a:solidFill>
                  <a:srgbClr val="50658E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28" name="node19"/>
          <p:cNvGrpSpPr/>
          <p:nvPr/>
        </p:nvGrpSpPr>
        <p:grpSpPr>
          <a:xfrm>
            <a:off x="10096500" y="1828800"/>
            <a:ext cx="203200" cy="203200"/>
            <a:chOff x="10096500" y="1828800"/>
            <a:chExt cx="203200" cy="203200"/>
          </a:xfrm>
        </p:grpSpPr>
        <p:sp>
          <p:nvSpPr>
            <p:cNvPr id="41" name="node19.surface"/>
            <p:cNvSpPr/>
            <p:nvPr/>
          </p:nvSpPr>
          <p:spPr>
            <a:xfrm>
              <a:off x="10096500" y="18288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29" name="node20"/>
          <p:cNvGrpSpPr/>
          <p:nvPr/>
        </p:nvGrpSpPr>
        <p:grpSpPr>
          <a:xfrm>
            <a:off x="10325100" y="1828800"/>
            <a:ext cx="203200" cy="203200"/>
            <a:chOff x="10325100" y="1828800"/>
            <a:chExt cx="203200" cy="203200"/>
          </a:xfrm>
        </p:grpSpPr>
        <p:sp>
          <p:nvSpPr>
            <p:cNvPr id="42" name="node20.surface"/>
            <p:cNvSpPr/>
            <p:nvPr/>
          </p:nvSpPr>
          <p:spPr>
            <a:xfrm>
              <a:off x="10325100" y="1828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30" name="node21"/>
          <p:cNvGrpSpPr/>
          <p:nvPr/>
        </p:nvGrpSpPr>
        <p:grpSpPr>
          <a:xfrm>
            <a:off x="10553700" y="1828800"/>
            <a:ext cx="203200" cy="203200"/>
            <a:chOff x="10553700" y="1828800"/>
            <a:chExt cx="203200" cy="203200"/>
          </a:xfrm>
        </p:grpSpPr>
        <p:sp>
          <p:nvSpPr>
            <p:cNvPr id="43" name="node21.surface"/>
            <p:cNvSpPr/>
            <p:nvPr/>
          </p:nvSpPr>
          <p:spPr>
            <a:xfrm>
              <a:off x="10553700" y="1828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31" name="node22"/>
          <p:cNvGrpSpPr/>
          <p:nvPr/>
        </p:nvGrpSpPr>
        <p:grpSpPr>
          <a:xfrm>
            <a:off x="10782300" y="1828800"/>
            <a:ext cx="203200" cy="203200"/>
            <a:chOff x="10782300" y="1828800"/>
            <a:chExt cx="203200" cy="203200"/>
          </a:xfrm>
        </p:grpSpPr>
        <p:sp>
          <p:nvSpPr>
            <p:cNvPr id="44" name="node22.surface"/>
            <p:cNvSpPr/>
            <p:nvPr/>
          </p:nvSpPr>
          <p:spPr>
            <a:xfrm>
              <a:off x="10782300" y="18288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32" name="node23"/>
          <p:cNvGrpSpPr/>
          <p:nvPr/>
        </p:nvGrpSpPr>
        <p:grpSpPr>
          <a:xfrm>
            <a:off x="11010900" y="1828800"/>
            <a:ext cx="203200" cy="203200"/>
            <a:chOff x="11010900" y="1828800"/>
            <a:chExt cx="203200" cy="203200"/>
          </a:xfrm>
        </p:grpSpPr>
        <p:sp>
          <p:nvSpPr>
            <p:cNvPr id="45" name="node23.surface"/>
            <p:cNvSpPr/>
            <p:nvPr/>
          </p:nvSpPr>
          <p:spPr>
            <a:xfrm>
              <a:off x="11010900" y="1828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33" name="node24"/>
          <p:cNvGrpSpPr/>
          <p:nvPr/>
        </p:nvGrpSpPr>
        <p:grpSpPr>
          <a:xfrm>
            <a:off x="10096500" y="2057400"/>
            <a:ext cx="203200" cy="203200"/>
            <a:chOff x="10096500" y="2057400"/>
            <a:chExt cx="203200" cy="203200"/>
          </a:xfrm>
        </p:grpSpPr>
        <p:sp>
          <p:nvSpPr>
            <p:cNvPr id="46" name="node24.surface"/>
            <p:cNvSpPr/>
            <p:nvPr/>
          </p:nvSpPr>
          <p:spPr>
            <a:xfrm>
              <a:off x="10096500" y="2057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34" name="node25"/>
          <p:cNvGrpSpPr/>
          <p:nvPr/>
        </p:nvGrpSpPr>
        <p:grpSpPr>
          <a:xfrm>
            <a:off x="10325100" y="2057400"/>
            <a:ext cx="203200" cy="203200"/>
            <a:chOff x="10325100" y="2057400"/>
            <a:chExt cx="203200" cy="203200"/>
          </a:xfrm>
        </p:grpSpPr>
        <p:sp>
          <p:nvSpPr>
            <p:cNvPr id="47" name="node25.surface"/>
            <p:cNvSpPr/>
            <p:nvPr/>
          </p:nvSpPr>
          <p:spPr>
            <a:xfrm>
              <a:off x="10325100" y="2057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35" name="node26"/>
          <p:cNvGrpSpPr/>
          <p:nvPr/>
        </p:nvGrpSpPr>
        <p:grpSpPr>
          <a:xfrm>
            <a:off x="10553700" y="2057400"/>
            <a:ext cx="203200" cy="203200"/>
            <a:chOff x="10553700" y="2057400"/>
            <a:chExt cx="203200" cy="203200"/>
          </a:xfrm>
        </p:grpSpPr>
        <p:sp>
          <p:nvSpPr>
            <p:cNvPr id="48" name="node26.surface"/>
            <p:cNvSpPr/>
            <p:nvPr/>
          </p:nvSpPr>
          <p:spPr>
            <a:xfrm>
              <a:off x="10553700" y="20574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36" name="node27"/>
          <p:cNvGrpSpPr/>
          <p:nvPr/>
        </p:nvGrpSpPr>
        <p:grpSpPr>
          <a:xfrm>
            <a:off x="10782300" y="2057400"/>
            <a:ext cx="203200" cy="203200"/>
            <a:chOff x="10782300" y="2057400"/>
            <a:chExt cx="203200" cy="203200"/>
          </a:xfrm>
        </p:grpSpPr>
        <p:sp>
          <p:nvSpPr>
            <p:cNvPr id="49" name="node27.surface"/>
            <p:cNvSpPr/>
            <p:nvPr/>
          </p:nvSpPr>
          <p:spPr>
            <a:xfrm>
              <a:off x="10782300" y="2057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37" name="node28"/>
          <p:cNvGrpSpPr/>
          <p:nvPr/>
        </p:nvGrpSpPr>
        <p:grpSpPr>
          <a:xfrm>
            <a:off x="11010900" y="2057400"/>
            <a:ext cx="203200" cy="203200"/>
            <a:chOff x="11010900" y="2057400"/>
            <a:chExt cx="203200" cy="203200"/>
          </a:xfrm>
        </p:grpSpPr>
        <p:sp>
          <p:nvSpPr>
            <p:cNvPr id="50" name="node28.surface"/>
            <p:cNvSpPr/>
            <p:nvPr/>
          </p:nvSpPr>
          <p:spPr>
            <a:xfrm>
              <a:off x="11010900" y="2057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38" name="node29"/>
          <p:cNvGrpSpPr/>
          <p:nvPr/>
        </p:nvGrpSpPr>
        <p:grpSpPr>
          <a:xfrm>
            <a:off x="10096500" y="2286000"/>
            <a:ext cx="203200" cy="203200"/>
            <a:chOff x="10096500" y="2286000"/>
            <a:chExt cx="203200" cy="203200"/>
          </a:xfrm>
        </p:grpSpPr>
        <p:sp>
          <p:nvSpPr>
            <p:cNvPr id="51" name="node29.surface"/>
            <p:cNvSpPr/>
            <p:nvPr/>
          </p:nvSpPr>
          <p:spPr>
            <a:xfrm>
              <a:off x="10096500" y="2286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39" name="node30"/>
          <p:cNvGrpSpPr/>
          <p:nvPr/>
        </p:nvGrpSpPr>
        <p:grpSpPr>
          <a:xfrm>
            <a:off x="10325100" y="2286000"/>
            <a:ext cx="203200" cy="203200"/>
            <a:chOff x="10325100" y="2286000"/>
            <a:chExt cx="203200" cy="203200"/>
          </a:xfrm>
        </p:grpSpPr>
        <p:sp>
          <p:nvSpPr>
            <p:cNvPr id="52" name="node30.surface"/>
            <p:cNvSpPr/>
            <p:nvPr/>
          </p:nvSpPr>
          <p:spPr>
            <a:xfrm>
              <a:off x="10325100" y="2286000"/>
              <a:ext cx="2032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40" name="node31"/>
          <p:cNvGrpSpPr/>
          <p:nvPr/>
        </p:nvGrpSpPr>
        <p:grpSpPr>
          <a:xfrm>
            <a:off x="10553700" y="2286000"/>
            <a:ext cx="203200" cy="203200"/>
            <a:chOff x="10553700" y="2286000"/>
            <a:chExt cx="203200" cy="203200"/>
          </a:xfrm>
        </p:grpSpPr>
        <p:sp>
          <p:nvSpPr>
            <p:cNvPr id="53" name="node31.surface"/>
            <p:cNvSpPr/>
            <p:nvPr/>
          </p:nvSpPr>
          <p:spPr>
            <a:xfrm>
              <a:off x="10553700" y="2286000"/>
              <a:ext cx="2032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41" name="node32"/>
          <p:cNvGrpSpPr/>
          <p:nvPr/>
        </p:nvGrpSpPr>
        <p:grpSpPr>
          <a:xfrm>
            <a:off x="10782300" y="2286000"/>
            <a:ext cx="203200" cy="203200"/>
            <a:chOff x="10782300" y="2286000"/>
            <a:chExt cx="203200" cy="203200"/>
          </a:xfrm>
        </p:grpSpPr>
        <p:sp>
          <p:nvSpPr>
            <p:cNvPr id="54" name="node32.surface"/>
            <p:cNvSpPr/>
            <p:nvPr/>
          </p:nvSpPr>
          <p:spPr>
            <a:xfrm>
              <a:off x="10782300" y="2286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42" name="node33"/>
          <p:cNvGrpSpPr/>
          <p:nvPr/>
        </p:nvGrpSpPr>
        <p:grpSpPr>
          <a:xfrm>
            <a:off x="11010900" y="2286000"/>
            <a:ext cx="203200" cy="203200"/>
            <a:chOff x="11010900" y="2286000"/>
            <a:chExt cx="203200" cy="203200"/>
          </a:xfrm>
        </p:grpSpPr>
        <p:sp>
          <p:nvSpPr>
            <p:cNvPr id="55" name="node33.surface"/>
            <p:cNvSpPr/>
            <p:nvPr/>
          </p:nvSpPr>
          <p:spPr>
            <a:xfrm>
              <a:off x="11010900" y="2286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43" name="node34"/>
          <p:cNvGrpSpPr/>
          <p:nvPr/>
        </p:nvGrpSpPr>
        <p:grpSpPr>
          <a:xfrm>
            <a:off x="10096500" y="2514600"/>
            <a:ext cx="203200" cy="203200"/>
            <a:chOff x="10096500" y="2514600"/>
            <a:chExt cx="203200" cy="203200"/>
          </a:xfrm>
        </p:grpSpPr>
        <p:sp>
          <p:nvSpPr>
            <p:cNvPr id="56" name="node34.surface"/>
            <p:cNvSpPr/>
            <p:nvPr/>
          </p:nvSpPr>
          <p:spPr>
            <a:xfrm>
              <a:off x="10096500" y="25146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44" name="node35"/>
          <p:cNvGrpSpPr/>
          <p:nvPr/>
        </p:nvGrpSpPr>
        <p:grpSpPr>
          <a:xfrm>
            <a:off x="10325100" y="2514600"/>
            <a:ext cx="203200" cy="203200"/>
            <a:chOff x="10325100" y="2514600"/>
            <a:chExt cx="203200" cy="203200"/>
          </a:xfrm>
        </p:grpSpPr>
        <p:sp>
          <p:nvSpPr>
            <p:cNvPr id="57" name="node35.surface"/>
            <p:cNvSpPr/>
            <p:nvPr/>
          </p:nvSpPr>
          <p:spPr>
            <a:xfrm>
              <a:off x="10325100" y="2514600"/>
              <a:ext cx="203200" cy="2032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</p:grpSp>
      <p:grpSp>
        <p:nvGrpSpPr>
          <p:cNvPr id="145" name="node36"/>
          <p:cNvGrpSpPr/>
          <p:nvPr/>
        </p:nvGrpSpPr>
        <p:grpSpPr>
          <a:xfrm>
            <a:off x="10553700" y="2514600"/>
            <a:ext cx="203200" cy="203200"/>
            <a:chOff x="10553700" y="2514600"/>
            <a:chExt cx="203200" cy="203200"/>
          </a:xfrm>
        </p:grpSpPr>
        <p:sp>
          <p:nvSpPr>
            <p:cNvPr id="58" name="node36.surface"/>
            <p:cNvSpPr/>
            <p:nvPr/>
          </p:nvSpPr>
          <p:spPr>
            <a:xfrm>
              <a:off x="10553700" y="25146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46" name="node37"/>
          <p:cNvGrpSpPr/>
          <p:nvPr/>
        </p:nvGrpSpPr>
        <p:grpSpPr>
          <a:xfrm>
            <a:off x="10782300" y="2514600"/>
            <a:ext cx="203200" cy="203200"/>
            <a:chOff x="10782300" y="2514600"/>
            <a:chExt cx="203200" cy="203200"/>
          </a:xfrm>
        </p:grpSpPr>
        <p:sp>
          <p:nvSpPr>
            <p:cNvPr id="59" name="node37.surface"/>
            <p:cNvSpPr/>
            <p:nvPr/>
          </p:nvSpPr>
          <p:spPr>
            <a:xfrm>
              <a:off x="10782300" y="25146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47" name="node38"/>
          <p:cNvGrpSpPr/>
          <p:nvPr/>
        </p:nvGrpSpPr>
        <p:grpSpPr>
          <a:xfrm>
            <a:off x="11010900" y="2514600"/>
            <a:ext cx="203200" cy="203200"/>
            <a:chOff x="11010900" y="2514600"/>
            <a:chExt cx="203200" cy="203200"/>
          </a:xfrm>
        </p:grpSpPr>
        <p:sp>
          <p:nvSpPr>
            <p:cNvPr id="60" name="node38.surface"/>
            <p:cNvSpPr/>
            <p:nvPr/>
          </p:nvSpPr>
          <p:spPr>
            <a:xfrm>
              <a:off x="11010900" y="25146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48" name="node39"/>
          <p:cNvGrpSpPr/>
          <p:nvPr/>
        </p:nvGrpSpPr>
        <p:grpSpPr>
          <a:xfrm>
            <a:off x="10096500" y="2743200"/>
            <a:ext cx="203200" cy="203200"/>
            <a:chOff x="10096500" y="2743200"/>
            <a:chExt cx="203200" cy="203200"/>
          </a:xfrm>
        </p:grpSpPr>
        <p:sp>
          <p:nvSpPr>
            <p:cNvPr id="61" name="node39.surface"/>
            <p:cNvSpPr/>
            <p:nvPr/>
          </p:nvSpPr>
          <p:spPr>
            <a:xfrm>
              <a:off x="10096500" y="27432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49" name="node40"/>
          <p:cNvGrpSpPr/>
          <p:nvPr/>
        </p:nvGrpSpPr>
        <p:grpSpPr>
          <a:xfrm>
            <a:off x="10325100" y="2743200"/>
            <a:ext cx="203200" cy="203200"/>
            <a:chOff x="10325100" y="2743200"/>
            <a:chExt cx="203200" cy="203200"/>
          </a:xfrm>
        </p:grpSpPr>
        <p:sp>
          <p:nvSpPr>
            <p:cNvPr id="62" name="node40.surface"/>
            <p:cNvSpPr/>
            <p:nvPr/>
          </p:nvSpPr>
          <p:spPr>
            <a:xfrm>
              <a:off x="10325100" y="27432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0" name="node41"/>
          <p:cNvGrpSpPr/>
          <p:nvPr/>
        </p:nvGrpSpPr>
        <p:grpSpPr>
          <a:xfrm>
            <a:off x="10553700" y="2743200"/>
            <a:ext cx="203200" cy="203200"/>
            <a:chOff x="10553700" y="2743200"/>
            <a:chExt cx="203200" cy="203200"/>
          </a:xfrm>
        </p:grpSpPr>
        <p:sp>
          <p:nvSpPr>
            <p:cNvPr id="63" name="node41.surface"/>
            <p:cNvSpPr/>
            <p:nvPr/>
          </p:nvSpPr>
          <p:spPr>
            <a:xfrm>
              <a:off x="10553700" y="27432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1" name="node42"/>
          <p:cNvGrpSpPr/>
          <p:nvPr/>
        </p:nvGrpSpPr>
        <p:grpSpPr>
          <a:xfrm>
            <a:off x="10782300" y="2743200"/>
            <a:ext cx="203200" cy="203200"/>
            <a:chOff x="10782300" y="2743200"/>
            <a:chExt cx="203200" cy="203200"/>
          </a:xfrm>
        </p:grpSpPr>
        <p:sp>
          <p:nvSpPr>
            <p:cNvPr id="64" name="node42.surface"/>
            <p:cNvSpPr/>
            <p:nvPr/>
          </p:nvSpPr>
          <p:spPr>
            <a:xfrm>
              <a:off x="10782300" y="27432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2" name="node43"/>
          <p:cNvGrpSpPr/>
          <p:nvPr/>
        </p:nvGrpSpPr>
        <p:grpSpPr>
          <a:xfrm>
            <a:off x="11010900" y="2743200"/>
            <a:ext cx="203200" cy="203200"/>
            <a:chOff x="11010900" y="2743200"/>
            <a:chExt cx="203200" cy="203200"/>
          </a:xfrm>
        </p:grpSpPr>
        <p:sp>
          <p:nvSpPr>
            <p:cNvPr id="65" name="node43.surface"/>
            <p:cNvSpPr/>
            <p:nvPr/>
          </p:nvSpPr>
          <p:spPr>
            <a:xfrm>
              <a:off x="11010900" y="27432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3" name="node44"/>
          <p:cNvGrpSpPr/>
          <p:nvPr/>
        </p:nvGrpSpPr>
        <p:grpSpPr>
          <a:xfrm>
            <a:off x="10096500" y="2971800"/>
            <a:ext cx="203200" cy="203200"/>
            <a:chOff x="10096500" y="2971800"/>
            <a:chExt cx="203200" cy="203200"/>
          </a:xfrm>
        </p:grpSpPr>
        <p:sp>
          <p:nvSpPr>
            <p:cNvPr id="66" name="node44.surface"/>
            <p:cNvSpPr/>
            <p:nvPr/>
          </p:nvSpPr>
          <p:spPr>
            <a:xfrm>
              <a:off x="10096500" y="2971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4" name="node45"/>
          <p:cNvGrpSpPr/>
          <p:nvPr/>
        </p:nvGrpSpPr>
        <p:grpSpPr>
          <a:xfrm>
            <a:off x="10325100" y="2971800"/>
            <a:ext cx="203200" cy="203200"/>
            <a:chOff x="10325100" y="2971800"/>
            <a:chExt cx="203200" cy="203200"/>
          </a:xfrm>
        </p:grpSpPr>
        <p:sp>
          <p:nvSpPr>
            <p:cNvPr id="67" name="node45.surface"/>
            <p:cNvSpPr/>
            <p:nvPr/>
          </p:nvSpPr>
          <p:spPr>
            <a:xfrm>
              <a:off x="10325100" y="2971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5" name="node46"/>
          <p:cNvGrpSpPr/>
          <p:nvPr/>
        </p:nvGrpSpPr>
        <p:grpSpPr>
          <a:xfrm>
            <a:off x="10553700" y="2971800"/>
            <a:ext cx="203200" cy="203200"/>
            <a:chOff x="10553700" y="2971800"/>
            <a:chExt cx="203200" cy="203200"/>
          </a:xfrm>
        </p:grpSpPr>
        <p:sp>
          <p:nvSpPr>
            <p:cNvPr id="68" name="node46.surface"/>
            <p:cNvSpPr/>
            <p:nvPr/>
          </p:nvSpPr>
          <p:spPr>
            <a:xfrm>
              <a:off x="10553700" y="2971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6" name="node47"/>
          <p:cNvGrpSpPr/>
          <p:nvPr/>
        </p:nvGrpSpPr>
        <p:grpSpPr>
          <a:xfrm>
            <a:off x="10782300" y="2971800"/>
            <a:ext cx="203200" cy="203200"/>
            <a:chOff x="10782300" y="2971800"/>
            <a:chExt cx="203200" cy="203200"/>
          </a:xfrm>
        </p:grpSpPr>
        <p:sp>
          <p:nvSpPr>
            <p:cNvPr id="69" name="node47.surface"/>
            <p:cNvSpPr/>
            <p:nvPr/>
          </p:nvSpPr>
          <p:spPr>
            <a:xfrm>
              <a:off x="10782300" y="2971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7" name="node48"/>
          <p:cNvGrpSpPr/>
          <p:nvPr/>
        </p:nvGrpSpPr>
        <p:grpSpPr>
          <a:xfrm>
            <a:off x="11010900" y="2971800"/>
            <a:ext cx="203200" cy="203200"/>
            <a:chOff x="11010900" y="2971800"/>
            <a:chExt cx="203200" cy="203200"/>
          </a:xfrm>
        </p:grpSpPr>
        <p:sp>
          <p:nvSpPr>
            <p:cNvPr id="70" name="node48.surface"/>
            <p:cNvSpPr/>
            <p:nvPr/>
          </p:nvSpPr>
          <p:spPr>
            <a:xfrm>
              <a:off x="11010900" y="2971800"/>
              <a:ext cx="2032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58" name="node49"/>
          <p:cNvGrpSpPr/>
          <p:nvPr/>
        </p:nvGrpSpPr>
        <p:grpSpPr>
          <a:xfrm>
            <a:off x="10096500" y="3200400"/>
            <a:ext cx="203200" cy="203200"/>
            <a:chOff x="10096500" y="3200400"/>
            <a:chExt cx="203200" cy="203200"/>
          </a:xfrm>
        </p:grpSpPr>
        <p:sp>
          <p:nvSpPr>
            <p:cNvPr id="71" name="node49.surface"/>
            <p:cNvSpPr/>
            <p:nvPr/>
          </p:nvSpPr>
          <p:spPr>
            <a:xfrm>
              <a:off x="10096500" y="32004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59" name="node50"/>
          <p:cNvGrpSpPr/>
          <p:nvPr/>
        </p:nvGrpSpPr>
        <p:grpSpPr>
          <a:xfrm>
            <a:off x="10325100" y="3200400"/>
            <a:ext cx="203200" cy="203200"/>
            <a:chOff x="10325100" y="3200400"/>
            <a:chExt cx="203200" cy="203200"/>
          </a:xfrm>
        </p:grpSpPr>
        <p:sp>
          <p:nvSpPr>
            <p:cNvPr id="72" name="node50.surface"/>
            <p:cNvSpPr/>
            <p:nvPr/>
          </p:nvSpPr>
          <p:spPr>
            <a:xfrm>
              <a:off x="10325100" y="32004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60" name="node51"/>
          <p:cNvGrpSpPr/>
          <p:nvPr/>
        </p:nvGrpSpPr>
        <p:grpSpPr>
          <a:xfrm>
            <a:off x="10553700" y="3200400"/>
            <a:ext cx="203200" cy="203200"/>
            <a:chOff x="10553700" y="3200400"/>
            <a:chExt cx="203200" cy="203200"/>
          </a:xfrm>
        </p:grpSpPr>
        <p:sp>
          <p:nvSpPr>
            <p:cNvPr id="73" name="node51.surface"/>
            <p:cNvSpPr/>
            <p:nvPr/>
          </p:nvSpPr>
          <p:spPr>
            <a:xfrm>
              <a:off x="10553700" y="3200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1" name="node52"/>
          <p:cNvGrpSpPr/>
          <p:nvPr/>
        </p:nvGrpSpPr>
        <p:grpSpPr>
          <a:xfrm>
            <a:off x="10782300" y="3200400"/>
            <a:ext cx="203200" cy="203200"/>
            <a:chOff x="10782300" y="3200400"/>
            <a:chExt cx="203200" cy="203200"/>
          </a:xfrm>
        </p:grpSpPr>
        <p:sp>
          <p:nvSpPr>
            <p:cNvPr id="74" name="node52.surface"/>
            <p:cNvSpPr/>
            <p:nvPr/>
          </p:nvSpPr>
          <p:spPr>
            <a:xfrm>
              <a:off x="10782300" y="32004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62" name="node53"/>
          <p:cNvGrpSpPr/>
          <p:nvPr/>
        </p:nvGrpSpPr>
        <p:grpSpPr>
          <a:xfrm>
            <a:off x="11010900" y="3200400"/>
            <a:ext cx="203200" cy="203200"/>
            <a:chOff x="11010900" y="3200400"/>
            <a:chExt cx="203200" cy="203200"/>
          </a:xfrm>
        </p:grpSpPr>
        <p:sp>
          <p:nvSpPr>
            <p:cNvPr id="75" name="node53.surface"/>
            <p:cNvSpPr/>
            <p:nvPr/>
          </p:nvSpPr>
          <p:spPr>
            <a:xfrm>
              <a:off x="11010900" y="3200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3" name="node54"/>
          <p:cNvGrpSpPr/>
          <p:nvPr/>
        </p:nvGrpSpPr>
        <p:grpSpPr>
          <a:xfrm>
            <a:off x="10096500" y="3429000"/>
            <a:ext cx="203200" cy="203200"/>
            <a:chOff x="10096500" y="3429000"/>
            <a:chExt cx="203200" cy="203200"/>
          </a:xfrm>
        </p:grpSpPr>
        <p:sp>
          <p:nvSpPr>
            <p:cNvPr id="76" name="node54.surface"/>
            <p:cNvSpPr/>
            <p:nvPr/>
          </p:nvSpPr>
          <p:spPr>
            <a:xfrm>
              <a:off x="10096500" y="3429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64" name="node55"/>
          <p:cNvGrpSpPr/>
          <p:nvPr/>
        </p:nvGrpSpPr>
        <p:grpSpPr>
          <a:xfrm>
            <a:off x="10325100" y="3429000"/>
            <a:ext cx="203200" cy="203200"/>
            <a:chOff x="10325100" y="3429000"/>
            <a:chExt cx="203200" cy="203200"/>
          </a:xfrm>
        </p:grpSpPr>
        <p:sp>
          <p:nvSpPr>
            <p:cNvPr id="77" name="node55.surface"/>
            <p:cNvSpPr/>
            <p:nvPr/>
          </p:nvSpPr>
          <p:spPr>
            <a:xfrm>
              <a:off x="10325100" y="3429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65" name="node56"/>
          <p:cNvGrpSpPr/>
          <p:nvPr/>
        </p:nvGrpSpPr>
        <p:grpSpPr>
          <a:xfrm>
            <a:off x="10553700" y="3429000"/>
            <a:ext cx="203200" cy="203200"/>
            <a:chOff x="10553700" y="3429000"/>
            <a:chExt cx="203200" cy="203200"/>
          </a:xfrm>
        </p:grpSpPr>
        <p:sp>
          <p:nvSpPr>
            <p:cNvPr id="78" name="node56.surface"/>
            <p:cNvSpPr/>
            <p:nvPr/>
          </p:nvSpPr>
          <p:spPr>
            <a:xfrm>
              <a:off x="10553700" y="3429000"/>
              <a:ext cx="2032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66" name="node57"/>
          <p:cNvGrpSpPr/>
          <p:nvPr/>
        </p:nvGrpSpPr>
        <p:grpSpPr>
          <a:xfrm>
            <a:off x="10782300" y="3429000"/>
            <a:ext cx="203200" cy="203200"/>
            <a:chOff x="10782300" y="3429000"/>
            <a:chExt cx="203200" cy="203200"/>
          </a:xfrm>
        </p:grpSpPr>
        <p:sp>
          <p:nvSpPr>
            <p:cNvPr id="79" name="node57.surface"/>
            <p:cNvSpPr/>
            <p:nvPr/>
          </p:nvSpPr>
          <p:spPr>
            <a:xfrm>
              <a:off x="10782300" y="34290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7" name="node58"/>
          <p:cNvGrpSpPr/>
          <p:nvPr/>
        </p:nvGrpSpPr>
        <p:grpSpPr>
          <a:xfrm>
            <a:off x="11010900" y="3429000"/>
            <a:ext cx="203200" cy="203200"/>
            <a:chOff x="11010900" y="3429000"/>
            <a:chExt cx="203200" cy="203200"/>
          </a:xfrm>
        </p:grpSpPr>
        <p:sp>
          <p:nvSpPr>
            <p:cNvPr id="80" name="node58.surface"/>
            <p:cNvSpPr/>
            <p:nvPr/>
          </p:nvSpPr>
          <p:spPr>
            <a:xfrm>
              <a:off x="11010900" y="3429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68" name="node59"/>
          <p:cNvGrpSpPr/>
          <p:nvPr/>
        </p:nvGrpSpPr>
        <p:grpSpPr>
          <a:xfrm>
            <a:off x="10096500" y="3657600"/>
            <a:ext cx="203200" cy="203200"/>
            <a:chOff x="10096500" y="3657600"/>
            <a:chExt cx="203200" cy="203200"/>
          </a:xfrm>
        </p:grpSpPr>
        <p:sp>
          <p:nvSpPr>
            <p:cNvPr id="81" name="node59.surface"/>
            <p:cNvSpPr/>
            <p:nvPr/>
          </p:nvSpPr>
          <p:spPr>
            <a:xfrm>
              <a:off x="10096500" y="36576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9" name="node60"/>
          <p:cNvGrpSpPr/>
          <p:nvPr/>
        </p:nvGrpSpPr>
        <p:grpSpPr>
          <a:xfrm>
            <a:off x="10325100" y="3657600"/>
            <a:ext cx="203200" cy="203200"/>
            <a:chOff x="10325100" y="3657600"/>
            <a:chExt cx="203200" cy="203200"/>
          </a:xfrm>
        </p:grpSpPr>
        <p:sp>
          <p:nvSpPr>
            <p:cNvPr id="82" name="node60.surface"/>
            <p:cNvSpPr/>
            <p:nvPr/>
          </p:nvSpPr>
          <p:spPr>
            <a:xfrm>
              <a:off x="10325100" y="36576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0" name="node61"/>
          <p:cNvGrpSpPr/>
          <p:nvPr/>
        </p:nvGrpSpPr>
        <p:grpSpPr>
          <a:xfrm>
            <a:off x="10553700" y="3657600"/>
            <a:ext cx="203200" cy="203200"/>
            <a:chOff x="10553700" y="3657600"/>
            <a:chExt cx="203200" cy="203200"/>
          </a:xfrm>
        </p:grpSpPr>
        <p:sp>
          <p:nvSpPr>
            <p:cNvPr id="83" name="node61.surface"/>
            <p:cNvSpPr/>
            <p:nvPr/>
          </p:nvSpPr>
          <p:spPr>
            <a:xfrm>
              <a:off x="10553700" y="36576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1" name="node62"/>
          <p:cNvGrpSpPr/>
          <p:nvPr/>
        </p:nvGrpSpPr>
        <p:grpSpPr>
          <a:xfrm>
            <a:off x="10782300" y="3657600"/>
            <a:ext cx="203200" cy="203200"/>
            <a:chOff x="10782300" y="3657600"/>
            <a:chExt cx="203200" cy="203200"/>
          </a:xfrm>
        </p:grpSpPr>
        <p:sp>
          <p:nvSpPr>
            <p:cNvPr id="84" name="node62.surface"/>
            <p:cNvSpPr/>
            <p:nvPr/>
          </p:nvSpPr>
          <p:spPr>
            <a:xfrm>
              <a:off x="10782300" y="36576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2" name="node63"/>
          <p:cNvGrpSpPr/>
          <p:nvPr/>
        </p:nvGrpSpPr>
        <p:grpSpPr>
          <a:xfrm>
            <a:off x="11010900" y="3657600"/>
            <a:ext cx="203200" cy="203200"/>
            <a:chOff x="11010900" y="3657600"/>
            <a:chExt cx="203200" cy="203200"/>
          </a:xfrm>
        </p:grpSpPr>
        <p:sp>
          <p:nvSpPr>
            <p:cNvPr id="85" name="node63.surface"/>
            <p:cNvSpPr/>
            <p:nvPr/>
          </p:nvSpPr>
          <p:spPr>
            <a:xfrm>
              <a:off x="11010900" y="36576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3" name="node64"/>
          <p:cNvGrpSpPr/>
          <p:nvPr/>
        </p:nvGrpSpPr>
        <p:grpSpPr>
          <a:xfrm>
            <a:off x="10096500" y="2971800"/>
            <a:ext cx="1143000" cy="25400"/>
            <a:chOff x="10096500" y="2971800"/>
            <a:chExt cx="1143000" cy="25400"/>
          </a:xfrm>
        </p:grpSpPr>
        <p:sp>
          <p:nvSpPr>
            <p:cNvPr id="86" name="node64.surface"/>
            <p:cNvSpPr/>
            <p:nvPr/>
          </p:nvSpPr>
          <p:spPr>
            <a:xfrm>
              <a:off x="10096500" y="2971800"/>
              <a:ext cx="1143000" cy="254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174" name="node65"/>
          <p:cNvGrpSpPr/>
          <p:nvPr/>
        </p:nvGrpSpPr>
        <p:grpSpPr>
          <a:xfrm>
            <a:off x="10096500" y="3200400"/>
            <a:ext cx="1143000" cy="25400"/>
            <a:chOff x="10096500" y="3200400"/>
            <a:chExt cx="1143000" cy="25400"/>
          </a:xfrm>
        </p:grpSpPr>
        <p:sp>
          <p:nvSpPr>
            <p:cNvPr id="87" name="node65.surface"/>
            <p:cNvSpPr/>
            <p:nvPr/>
          </p:nvSpPr>
          <p:spPr>
            <a:xfrm>
              <a:off x="10096500" y="3200400"/>
              <a:ext cx="1143000" cy="254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175" name="node66"/>
          <p:cNvGrpSpPr/>
          <p:nvPr/>
        </p:nvGrpSpPr>
        <p:grpSpPr>
          <a:xfrm>
            <a:off x="10096500" y="2971800"/>
            <a:ext cx="25400" cy="228600"/>
            <a:chOff x="10096500" y="2971800"/>
            <a:chExt cx="25400" cy="228600"/>
          </a:xfrm>
        </p:grpSpPr>
        <p:sp>
          <p:nvSpPr>
            <p:cNvPr id="88" name="node66.surface"/>
            <p:cNvSpPr/>
            <p:nvPr/>
          </p:nvSpPr>
          <p:spPr>
            <a:xfrm>
              <a:off x="10096500" y="2971800"/>
              <a:ext cx="25400" cy="2286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176" name="node67"/>
          <p:cNvGrpSpPr/>
          <p:nvPr/>
        </p:nvGrpSpPr>
        <p:grpSpPr>
          <a:xfrm>
            <a:off x="11239500" y="2971800"/>
            <a:ext cx="25400" cy="254000"/>
            <a:chOff x="11239500" y="2971800"/>
            <a:chExt cx="25400" cy="254000"/>
          </a:xfrm>
        </p:grpSpPr>
        <p:sp>
          <p:nvSpPr>
            <p:cNvPr id="89" name="node67.surface"/>
            <p:cNvSpPr/>
            <p:nvPr/>
          </p:nvSpPr>
          <p:spPr>
            <a:xfrm>
              <a:off x="11239500" y="2971800"/>
              <a:ext cx="25400" cy="2540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177" name="node68"/>
          <p:cNvGrpSpPr/>
          <p:nvPr/>
        </p:nvGrpSpPr>
        <p:grpSpPr>
          <a:xfrm>
            <a:off x="10096500" y="3962400"/>
            <a:ext cx="1397000" cy="152400"/>
            <a:chOff x="10096500" y="3962400"/>
            <a:chExt cx="1397000" cy="152400"/>
          </a:xfrm>
        </p:grpSpPr>
        <p:sp>
          <p:nvSpPr>
            <p:cNvPr id="90" name="node68.text"/>
            <p:cNvSpPr/>
            <p:nvPr/>
          </p:nvSpPr>
          <p:spPr>
            <a:xfrm>
              <a:off x="10096500" y="3962400"/>
              <a:ext cx="13970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50658E"/>
                  </a:solidFill>
                  <a:latin typeface="IBM Plex Mono Medium"/>
                  <a:ea typeface="IBM Plex Mono Medium"/>
                  <a:cs typeface="IBM Plex Mono Medium"/>
                </a:rPr>
                <a:t>ROW A6</a:t>
              </a:r>
              <a:endParaRPr lang="en-US" sz="900" spc="54" kern="0" b="0" i="0" dirty="0">
                <a:solidFill>
                  <a:srgbClr val="50658E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78" name="node69"/>
          <p:cNvGrpSpPr/>
          <p:nvPr/>
        </p:nvGrpSpPr>
        <p:grpSpPr>
          <a:xfrm>
            <a:off x="723900" y="3657600"/>
            <a:ext cx="3810000" cy="152400"/>
            <a:chOff x="723900" y="3657600"/>
            <a:chExt cx="3810000" cy="152400"/>
          </a:xfrm>
        </p:grpSpPr>
        <p:sp>
          <p:nvSpPr>
            <p:cNvPr id="91" name="node69.text"/>
            <p:cNvSpPr/>
            <p:nvPr/>
          </p:nvSpPr>
          <p:spPr>
            <a:xfrm>
              <a:off x="723900" y="3657600"/>
              <a:ext cx="38100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ACROSS A4 TO A6 (CONTINUED, 2 OF 2)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79" name="node70"/>
          <p:cNvGrpSpPr/>
          <p:nvPr/>
        </p:nvGrpSpPr>
        <p:grpSpPr>
          <a:xfrm>
            <a:off x="723900" y="3962400"/>
            <a:ext cx="8763000" cy="1028700"/>
            <a:chOff x="723900" y="3962400"/>
            <a:chExt cx="8763000" cy="1028700"/>
          </a:xfrm>
        </p:grpSpPr>
        <p:sp>
          <p:nvSpPr>
            <p:cNvPr id="92" name="node70.source-001.bullet"/>
            <p:cNvSpPr/>
            <p:nvPr/>
          </p:nvSpPr>
          <p:spPr>
            <a:xfrm>
              <a:off x="723900" y="40513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3" name="node70.source-001.text"/>
            <p:cNvSpPr/>
            <p:nvPr/>
          </p:nvSpPr>
          <p:spPr>
            <a:xfrm>
              <a:off x="876300" y="3962400"/>
              <a:ext cx="8610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Process outruns data.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Revenue cycle scores 4 on process but 3 on data.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4" name="node70.source-002.bullet"/>
            <p:cNvSpPr/>
            <p:nvPr/>
          </p:nvSpPr>
          <p:spPr>
            <a:xfrm>
              <a:off x="723900" y="43180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5" name="node70.source-002.text"/>
            <p:cNvSpPr/>
            <p:nvPr/>
          </p:nvSpPr>
          <p:spPr>
            <a:xfrm>
              <a:off x="876300" y="4229100"/>
              <a:ext cx="8610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Denials are the gap.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A6 is the only revenue row with a 1.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6" name="node70.source-003.bullet"/>
            <p:cNvSpPr/>
            <p:nvPr/>
          </p:nvSpPr>
          <p:spPr>
            <a:xfrm>
              <a:off x="723900" y="45847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7" name="node70.source-003.text"/>
            <p:cNvSpPr/>
            <p:nvPr/>
          </p:nvSpPr>
          <p:spPr>
            <a:xfrm>
              <a:off x="876300" y="4495800"/>
              <a:ext cx="8610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Lowest cell.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Governance in denials management scores 1.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98" name="node70.source-004.bullet"/>
            <p:cNvSpPr/>
            <p:nvPr/>
          </p:nvSpPr>
          <p:spPr>
            <a:xfrm>
              <a:off x="723900" y="4851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99" name="node70.source-004.text"/>
            <p:cNvSpPr/>
            <p:nvPr/>
          </p:nvSpPr>
          <p:spPr>
            <a:xfrm>
              <a:off x="876300" y="4762500"/>
              <a:ext cx="8610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Sequence.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Code denials first; rules and billing changes follow.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80" name="node71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100" name="node71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01" name="node71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02" name="node71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3" name="node71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04" name="node71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5" name="node71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06" name="node71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07" name="node71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08" name="node71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09" name="node71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REVENUE CYCLE DETAIL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Revenue cycle and billing: process is ahead of the platform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13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34" name="node01"/>
          <p:cNvGrpSpPr/>
          <p:nvPr/>
        </p:nvGrpSpPr>
        <p:grpSpPr>
          <a:xfrm>
            <a:off x="723900" y="1600200"/>
            <a:ext cx="762000" cy="457200"/>
            <a:chOff x="723900" y="1600200"/>
            <a:chExt cx="762000" cy="457200"/>
          </a:xfrm>
        </p:grpSpPr>
        <p:sp>
          <p:nvSpPr>
            <p:cNvPr id="7" name="node01.surface"/>
            <p:cNvSpPr/>
            <p:nvPr/>
          </p:nvSpPr>
          <p:spPr>
            <a:xfrm>
              <a:off x="723900" y="1600200"/>
              <a:ext cx="762000" cy="4572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8" name="node01.text"/>
            <p:cNvSpPr/>
            <p:nvPr/>
          </p:nvSpPr>
          <p:spPr>
            <a:xfrm>
              <a:off x="876300" y="1676400"/>
              <a:ext cx="457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FFFFFF"/>
                  </a:solidFill>
                  <a:latin typeface="IBM Plex Sans SemiBold"/>
                  <a:ea typeface="IBM Plex Sans SemiBold"/>
                  <a:cs typeface="IBM Plex Sans SemiBold"/>
                </a:rPr>
                <a:t>A4</a:t>
              </a:r>
              <a:endParaRPr lang="en-US" sz="1800" spc="-18" kern="0" b="0" i="0" dirty="0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135" name="node02"/>
          <p:cNvGrpSpPr/>
          <p:nvPr/>
        </p:nvGrpSpPr>
        <p:grpSpPr>
          <a:xfrm>
            <a:off x="1638300" y="1600200"/>
            <a:ext cx="6604000" cy="381000"/>
            <a:chOff x="1638300" y="1600200"/>
            <a:chExt cx="6604000" cy="381000"/>
          </a:xfrm>
        </p:grpSpPr>
        <p:sp>
          <p:nvSpPr>
            <p:cNvPr id="9" name="node02.text"/>
            <p:cNvSpPr/>
            <p:nvPr/>
          </p:nvSpPr>
          <p:spPr>
            <a:xfrm>
              <a:off x="1638300" y="1600200"/>
              <a:ext cx="6604000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3000"/>
                </a:lnSpc>
                <a:buNone/>
              </a:pPr>
              <a:r>
                <a:rPr lang="en-US" sz="2400" spc="-36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Revenue cycle</a:t>
              </a:r>
              <a:endParaRPr lang="en-US" sz="2400" spc="-36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136" name="node03"/>
          <p:cNvGrpSpPr/>
          <p:nvPr/>
        </p:nvGrpSpPr>
        <p:grpSpPr>
          <a:xfrm>
            <a:off x="723900" y="2286000"/>
            <a:ext cx="457200" cy="152400"/>
            <a:chOff x="723900" y="2286000"/>
            <a:chExt cx="457200" cy="152400"/>
          </a:xfrm>
        </p:grpSpPr>
        <p:sp>
          <p:nvSpPr>
            <p:cNvPr id="10" name="node03.text"/>
            <p:cNvSpPr/>
            <p:nvPr/>
          </p:nvSpPr>
          <p:spPr>
            <a:xfrm>
              <a:off x="7239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37" name="node04"/>
          <p:cNvGrpSpPr/>
          <p:nvPr/>
        </p:nvGrpSpPr>
        <p:grpSpPr>
          <a:xfrm>
            <a:off x="723900" y="2514600"/>
            <a:ext cx="431800" cy="381000"/>
            <a:chOff x="723900" y="2514600"/>
            <a:chExt cx="431800" cy="381000"/>
          </a:xfrm>
        </p:grpSpPr>
        <p:sp>
          <p:nvSpPr>
            <p:cNvPr id="11" name="node04.surface"/>
            <p:cNvSpPr/>
            <p:nvPr/>
          </p:nvSpPr>
          <p:spPr>
            <a:xfrm>
              <a:off x="723900" y="2514600"/>
              <a:ext cx="431800" cy="381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2" name="node04.text"/>
            <p:cNvSpPr/>
            <p:nvPr/>
          </p:nvSpPr>
          <p:spPr>
            <a:xfrm>
              <a:off x="7958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 lang="en-US" sz="12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38" name="node05"/>
          <p:cNvGrpSpPr/>
          <p:nvPr/>
        </p:nvGrpSpPr>
        <p:grpSpPr>
          <a:xfrm>
            <a:off x="1181100" y="2286000"/>
            <a:ext cx="457200" cy="152400"/>
            <a:chOff x="1181100" y="2286000"/>
            <a:chExt cx="457200" cy="152400"/>
          </a:xfrm>
        </p:grpSpPr>
        <p:sp>
          <p:nvSpPr>
            <p:cNvPr id="13" name="node05.text"/>
            <p:cNvSpPr/>
            <p:nvPr/>
          </p:nvSpPr>
          <p:spPr>
            <a:xfrm>
              <a:off x="11811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39" name="node06"/>
          <p:cNvGrpSpPr/>
          <p:nvPr/>
        </p:nvGrpSpPr>
        <p:grpSpPr>
          <a:xfrm>
            <a:off x="1181100" y="2514600"/>
            <a:ext cx="431800" cy="381000"/>
            <a:chOff x="1181100" y="2514600"/>
            <a:chExt cx="431800" cy="381000"/>
          </a:xfrm>
        </p:grpSpPr>
        <p:sp>
          <p:nvSpPr>
            <p:cNvPr id="14" name="node06.surface"/>
            <p:cNvSpPr/>
            <p:nvPr/>
          </p:nvSpPr>
          <p:spPr>
            <a:xfrm>
              <a:off x="1181100" y="2514600"/>
              <a:ext cx="431800" cy="381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5" name="node06.text"/>
            <p:cNvSpPr/>
            <p:nvPr/>
          </p:nvSpPr>
          <p:spPr>
            <a:xfrm>
              <a:off x="12530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 lang="en-US" sz="12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0" name="node07"/>
          <p:cNvGrpSpPr/>
          <p:nvPr/>
        </p:nvGrpSpPr>
        <p:grpSpPr>
          <a:xfrm>
            <a:off x="1638300" y="2286000"/>
            <a:ext cx="457200" cy="152400"/>
            <a:chOff x="1638300" y="2286000"/>
            <a:chExt cx="457200" cy="152400"/>
          </a:xfrm>
        </p:grpSpPr>
        <p:sp>
          <p:nvSpPr>
            <p:cNvPr id="16" name="node07.text"/>
            <p:cNvSpPr/>
            <p:nvPr/>
          </p:nvSpPr>
          <p:spPr>
            <a:xfrm>
              <a:off x="16383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41" name="node08"/>
          <p:cNvGrpSpPr/>
          <p:nvPr/>
        </p:nvGrpSpPr>
        <p:grpSpPr>
          <a:xfrm>
            <a:off x="1638300" y="2514600"/>
            <a:ext cx="431800" cy="381000"/>
            <a:chOff x="1638300" y="2514600"/>
            <a:chExt cx="431800" cy="381000"/>
          </a:xfrm>
        </p:grpSpPr>
        <p:sp>
          <p:nvSpPr>
            <p:cNvPr id="17" name="node08.surface"/>
            <p:cNvSpPr/>
            <p:nvPr/>
          </p:nvSpPr>
          <p:spPr>
            <a:xfrm>
              <a:off x="1638300" y="25146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8" name="node08.text"/>
            <p:cNvSpPr/>
            <p:nvPr/>
          </p:nvSpPr>
          <p:spPr>
            <a:xfrm>
              <a:off x="17102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2" name="node09"/>
          <p:cNvGrpSpPr/>
          <p:nvPr/>
        </p:nvGrpSpPr>
        <p:grpSpPr>
          <a:xfrm>
            <a:off x="2095500" y="2286000"/>
            <a:ext cx="457200" cy="152400"/>
            <a:chOff x="2095500" y="2286000"/>
            <a:chExt cx="457200" cy="152400"/>
          </a:xfrm>
        </p:grpSpPr>
        <p:sp>
          <p:nvSpPr>
            <p:cNvPr id="19" name="node09.text"/>
            <p:cNvSpPr/>
            <p:nvPr/>
          </p:nvSpPr>
          <p:spPr>
            <a:xfrm>
              <a:off x="20955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43" name="node10"/>
          <p:cNvGrpSpPr/>
          <p:nvPr/>
        </p:nvGrpSpPr>
        <p:grpSpPr>
          <a:xfrm>
            <a:off x="2095500" y="2514600"/>
            <a:ext cx="431800" cy="381000"/>
            <a:chOff x="2095500" y="2514600"/>
            <a:chExt cx="431800" cy="381000"/>
          </a:xfrm>
        </p:grpSpPr>
        <p:sp>
          <p:nvSpPr>
            <p:cNvPr id="20" name="node10.surface"/>
            <p:cNvSpPr/>
            <p:nvPr/>
          </p:nvSpPr>
          <p:spPr>
            <a:xfrm>
              <a:off x="2095500" y="25146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1" name="node10.text"/>
            <p:cNvSpPr/>
            <p:nvPr/>
          </p:nvSpPr>
          <p:spPr>
            <a:xfrm>
              <a:off x="21674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4" name="node11"/>
          <p:cNvGrpSpPr/>
          <p:nvPr/>
        </p:nvGrpSpPr>
        <p:grpSpPr>
          <a:xfrm>
            <a:off x="2552700" y="2286000"/>
            <a:ext cx="457200" cy="152400"/>
            <a:chOff x="2552700" y="2286000"/>
            <a:chExt cx="457200" cy="152400"/>
          </a:xfrm>
        </p:grpSpPr>
        <p:sp>
          <p:nvSpPr>
            <p:cNvPr id="22" name="node11.text"/>
            <p:cNvSpPr/>
            <p:nvPr/>
          </p:nvSpPr>
          <p:spPr>
            <a:xfrm>
              <a:off x="2552700" y="2286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45" name="node12"/>
          <p:cNvGrpSpPr/>
          <p:nvPr/>
        </p:nvGrpSpPr>
        <p:grpSpPr>
          <a:xfrm>
            <a:off x="2552700" y="2514600"/>
            <a:ext cx="431800" cy="381000"/>
            <a:chOff x="2552700" y="2514600"/>
            <a:chExt cx="431800" cy="381000"/>
          </a:xfrm>
        </p:grpSpPr>
        <p:sp>
          <p:nvSpPr>
            <p:cNvPr id="23" name="node12.surface"/>
            <p:cNvSpPr/>
            <p:nvPr/>
          </p:nvSpPr>
          <p:spPr>
            <a:xfrm>
              <a:off x="2552700" y="2514600"/>
              <a:ext cx="431800" cy="381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24" name="node12.text"/>
            <p:cNvSpPr/>
            <p:nvPr/>
          </p:nvSpPr>
          <p:spPr>
            <a:xfrm>
              <a:off x="2624667" y="25908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 lang="en-US" sz="12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6" name="node13"/>
          <p:cNvGrpSpPr/>
          <p:nvPr/>
        </p:nvGrpSpPr>
        <p:grpSpPr>
          <a:xfrm>
            <a:off x="723900" y="2971800"/>
            <a:ext cx="2514600" cy="228600"/>
            <a:chOff x="723900" y="2971800"/>
            <a:chExt cx="2514600" cy="228600"/>
          </a:xfrm>
        </p:grpSpPr>
        <p:sp>
          <p:nvSpPr>
            <p:cNvPr id="25" name="node13.text"/>
            <p:cNvSpPr/>
            <p:nvPr/>
          </p:nvSpPr>
          <p:spPr>
            <a:xfrm>
              <a:off x="723900" y="2971800"/>
              <a:ext cx="2514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Overall 4 of 5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7" name="node14"/>
          <p:cNvGrpSpPr/>
          <p:nvPr/>
        </p:nvGrpSpPr>
        <p:grpSpPr>
          <a:xfrm>
            <a:off x="3467100" y="2286000"/>
            <a:ext cx="2895600" cy="152400"/>
            <a:chOff x="3467100" y="2286000"/>
            <a:chExt cx="2895600" cy="152400"/>
          </a:xfrm>
        </p:grpSpPr>
        <p:sp>
          <p:nvSpPr>
            <p:cNvPr id="26" name="node14.text"/>
            <p:cNvSpPr/>
            <p:nvPr/>
          </p:nvSpPr>
          <p:spPr>
            <a:xfrm>
              <a:off x="3467100" y="2286000"/>
              <a:ext cx="2895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WHAT DRIVES THE SCORE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48" name="node15"/>
          <p:cNvGrpSpPr/>
          <p:nvPr/>
        </p:nvGrpSpPr>
        <p:grpSpPr>
          <a:xfrm>
            <a:off x="3467100" y="2590800"/>
            <a:ext cx="2895600" cy="762000"/>
            <a:chOff x="3467100" y="2590800"/>
            <a:chExt cx="2895600" cy="762000"/>
          </a:xfrm>
        </p:grpSpPr>
        <p:sp>
          <p:nvSpPr>
            <p:cNvPr id="27" name="node15.source-001.bullet"/>
            <p:cNvSpPr/>
            <p:nvPr/>
          </p:nvSpPr>
          <p:spPr>
            <a:xfrm>
              <a:off x="3467100" y="26797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28" name="node15.source-001.text"/>
            <p:cNvSpPr/>
            <p:nvPr/>
          </p:nvSpPr>
          <p:spPr>
            <a:xfrm>
              <a:off x="3619500" y="25908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Rules engine at posting is mature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29" name="node15.source-002.bullet"/>
            <p:cNvSpPr/>
            <p:nvPr/>
          </p:nvSpPr>
          <p:spPr>
            <a:xfrm>
              <a:off x="3467100" y="2946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0" name="node15.source-002.text"/>
            <p:cNvSpPr/>
            <p:nvPr/>
          </p:nvSpPr>
          <p:spPr>
            <a:xfrm>
              <a:off x="3619500" y="28575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Month-end review is still manual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31" name="node15.source-003.bullet"/>
            <p:cNvSpPr/>
            <p:nvPr/>
          </p:nvSpPr>
          <p:spPr>
            <a:xfrm>
              <a:off x="3467100" y="3213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2" name="node15.source-003.text"/>
            <p:cNvSpPr/>
            <p:nvPr/>
          </p:nvSpPr>
          <p:spPr>
            <a:xfrm>
              <a:off x="3619500" y="31242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Close takes eight days, not five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9" name="node16"/>
          <p:cNvGrpSpPr/>
          <p:nvPr/>
        </p:nvGrpSpPr>
        <p:grpSpPr>
          <a:xfrm>
            <a:off x="6591300" y="2286000"/>
            <a:ext cx="2895600" cy="152400"/>
            <a:chOff x="6591300" y="2286000"/>
            <a:chExt cx="2895600" cy="152400"/>
          </a:xfrm>
        </p:grpSpPr>
        <p:sp>
          <p:nvSpPr>
            <p:cNvPr id="33" name="node16.text"/>
            <p:cNvSpPr/>
            <p:nvPr/>
          </p:nvSpPr>
          <p:spPr>
            <a:xfrm>
              <a:off x="6591300" y="2286000"/>
              <a:ext cx="2895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WHAT WE'D DO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50" name="node17"/>
          <p:cNvGrpSpPr/>
          <p:nvPr/>
        </p:nvGrpSpPr>
        <p:grpSpPr>
          <a:xfrm>
            <a:off x="6591300" y="2590800"/>
            <a:ext cx="2895600" cy="762000"/>
            <a:chOff x="6591300" y="2590800"/>
            <a:chExt cx="2895600" cy="762000"/>
          </a:xfrm>
        </p:grpSpPr>
        <p:sp>
          <p:nvSpPr>
            <p:cNvPr id="34" name="node17.source-001.bullet"/>
            <p:cNvSpPr/>
            <p:nvPr/>
          </p:nvSpPr>
          <p:spPr>
            <a:xfrm>
              <a:off x="6591300" y="26797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5" name="node17.source-001.text"/>
            <p:cNvSpPr/>
            <p:nvPr/>
          </p:nvSpPr>
          <p:spPr>
            <a:xfrm>
              <a:off x="6743700" y="25908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Extend rules to the remaining sites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36" name="node17.source-002.bullet"/>
            <p:cNvSpPr/>
            <p:nvPr/>
          </p:nvSpPr>
          <p:spPr>
            <a:xfrm>
              <a:off x="6591300" y="2946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7" name="node17.source-002.text"/>
            <p:cNvSpPr/>
            <p:nvPr/>
          </p:nvSpPr>
          <p:spPr>
            <a:xfrm>
              <a:off x="6743700" y="28575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Automate the day-one review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38" name="node17.source-003.bullet"/>
            <p:cNvSpPr/>
            <p:nvPr/>
          </p:nvSpPr>
          <p:spPr>
            <a:xfrm>
              <a:off x="6591300" y="3213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39" name="node17.source-003.text"/>
            <p:cNvSpPr/>
            <p:nvPr/>
          </p:nvSpPr>
          <p:spPr>
            <a:xfrm>
              <a:off x="6743700" y="31242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Publish a daily close status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51" name="node18"/>
          <p:cNvGrpSpPr/>
          <p:nvPr/>
        </p:nvGrpSpPr>
        <p:grpSpPr>
          <a:xfrm>
            <a:off x="723900" y="3657600"/>
            <a:ext cx="762000" cy="457200"/>
            <a:chOff x="723900" y="3657600"/>
            <a:chExt cx="762000" cy="457200"/>
          </a:xfrm>
        </p:grpSpPr>
        <p:sp>
          <p:nvSpPr>
            <p:cNvPr id="40" name="node18.surface"/>
            <p:cNvSpPr/>
            <p:nvPr/>
          </p:nvSpPr>
          <p:spPr>
            <a:xfrm>
              <a:off x="723900" y="3657600"/>
              <a:ext cx="762000" cy="4572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41" name="node18.text"/>
            <p:cNvSpPr/>
            <p:nvPr/>
          </p:nvSpPr>
          <p:spPr>
            <a:xfrm>
              <a:off x="876300" y="3733800"/>
              <a:ext cx="457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FFFFFF"/>
                  </a:solidFill>
                  <a:latin typeface="IBM Plex Sans SemiBold"/>
                  <a:ea typeface="IBM Plex Sans SemiBold"/>
                  <a:cs typeface="IBM Plex Sans SemiBold"/>
                </a:rPr>
                <a:t>A5</a:t>
              </a:r>
              <a:endParaRPr lang="en-US" sz="1800" spc="-18" kern="0" b="0" i="0" dirty="0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152" name="node19"/>
          <p:cNvGrpSpPr/>
          <p:nvPr/>
        </p:nvGrpSpPr>
        <p:grpSpPr>
          <a:xfrm>
            <a:off x="1638300" y="3657600"/>
            <a:ext cx="6604000" cy="381000"/>
            <a:chOff x="1638300" y="3657600"/>
            <a:chExt cx="6604000" cy="381000"/>
          </a:xfrm>
        </p:grpSpPr>
        <p:sp>
          <p:nvSpPr>
            <p:cNvPr id="42" name="node19.text"/>
            <p:cNvSpPr/>
            <p:nvPr/>
          </p:nvSpPr>
          <p:spPr>
            <a:xfrm>
              <a:off x="1638300" y="3657600"/>
              <a:ext cx="6604000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3000"/>
                </a:lnSpc>
                <a:buNone/>
              </a:pPr>
              <a:r>
                <a:rPr lang="en-US" sz="2400" spc="-36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Patient billing</a:t>
              </a:r>
              <a:endParaRPr lang="en-US" sz="2400" spc="-36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153" name="node20"/>
          <p:cNvGrpSpPr/>
          <p:nvPr/>
        </p:nvGrpSpPr>
        <p:grpSpPr>
          <a:xfrm>
            <a:off x="723900" y="4343400"/>
            <a:ext cx="457200" cy="152400"/>
            <a:chOff x="723900" y="4343400"/>
            <a:chExt cx="457200" cy="152400"/>
          </a:xfrm>
        </p:grpSpPr>
        <p:sp>
          <p:nvSpPr>
            <p:cNvPr id="43" name="node20.text"/>
            <p:cNvSpPr/>
            <p:nvPr/>
          </p:nvSpPr>
          <p:spPr>
            <a:xfrm>
              <a:off x="723900" y="4343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54" name="node21"/>
          <p:cNvGrpSpPr/>
          <p:nvPr/>
        </p:nvGrpSpPr>
        <p:grpSpPr>
          <a:xfrm>
            <a:off x="723900" y="4572000"/>
            <a:ext cx="431800" cy="381000"/>
            <a:chOff x="723900" y="4572000"/>
            <a:chExt cx="431800" cy="381000"/>
          </a:xfrm>
        </p:grpSpPr>
        <p:sp>
          <p:nvSpPr>
            <p:cNvPr id="44" name="node21.surface"/>
            <p:cNvSpPr/>
            <p:nvPr/>
          </p:nvSpPr>
          <p:spPr>
            <a:xfrm>
              <a:off x="723900" y="45720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5" name="node21.text"/>
            <p:cNvSpPr/>
            <p:nvPr/>
          </p:nvSpPr>
          <p:spPr>
            <a:xfrm>
              <a:off x="795867" y="46482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55" name="node22"/>
          <p:cNvGrpSpPr/>
          <p:nvPr/>
        </p:nvGrpSpPr>
        <p:grpSpPr>
          <a:xfrm>
            <a:off x="1181100" y="4343400"/>
            <a:ext cx="457200" cy="152400"/>
            <a:chOff x="1181100" y="4343400"/>
            <a:chExt cx="457200" cy="152400"/>
          </a:xfrm>
        </p:grpSpPr>
        <p:sp>
          <p:nvSpPr>
            <p:cNvPr id="46" name="node22.text"/>
            <p:cNvSpPr/>
            <p:nvPr/>
          </p:nvSpPr>
          <p:spPr>
            <a:xfrm>
              <a:off x="1181100" y="4343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56" name="node23"/>
          <p:cNvGrpSpPr/>
          <p:nvPr/>
        </p:nvGrpSpPr>
        <p:grpSpPr>
          <a:xfrm>
            <a:off x="1181100" y="4572000"/>
            <a:ext cx="431800" cy="381000"/>
            <a:chOff x="1181100" y="4572000"/>
            <a:chExt cx="431800" cy="381000"/>
          </a:xfrm>
        </p:grpSpPr>
        <p:sp>
          <p:nvSpPr>
            <p:cNvPr id="47" name="node23.surface"/>
            <p:cNvSpPr/>
            <p:nvPr/>
          </p:nvSpPr>
          <p:spPr>
            <a:xfrm>
              <a:off x="1181100" y="45720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8" name="node23.text"/>
            <p:cNvSpPr/>
            <p:nvPr/>
          </p:nvSpPr>
          <p:spPr>
            <a:xfrm>
              <a:off x="1253067" y="46482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57" name="node24"/>
          <p:cNvGrpSpPr/>
          <p:nvPr/>
        </p:nvGrpSpPr>
        <p:grpSpPr>
          <a:xfrm>
            <a:off x="1638300" y="4343400"/>
            <a:ext cx="457200" cy="152400"/>
            <a:chOff x="1638300" y="4343400"/>
            <a:chExt cx="457200" cy="152400"/>
          </a:xfrm>
        </p:grpSpPr>
        <p:sp>
          <p:nvSpPr>
            <p:cNvPr id="49" name="node24.text"/>
            <p:cNvSpPr/>
            <p:nvPr/>
          </p:nvSpPr>
          <p:spPr>
            <a:xfrm>
              <a:off x="1638300" y="4343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58" name="node25"/>
          <p:cNvGrpSpPr/>
          <p:nvPr/>
        </p:nvGrpSpPr>
        <p:grpSpPr>
          <a:xfrm>
            <a:off x="1638300" y="4572000"/>
            <a:ext cx="431800" cy="381000"/>
            <a:chOff x="1638300" y="4572000"/>
            <a:chExt cx="431800" cy="381000"/>
          </a:xfrm>
        </p:grpSpPr>
        <p:sp>
          <p:nvSpPr>
            <p:cNvPr id="50" name="node25.surface"/>
            <p:cNvSpPr/>
            <p:nvPr/>
          </p:nvSpPr>
          <p:spPr>
            <a:xfrm>
              <a:off x="1638300" y="45720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1" name="node25.text"/>
            <p:cNvSpPr/>
            <p:nvPr/>
          </p:nvSpPr>
          <p:spPr>
            <a:xfrm>
              <a:off x="1710267" y="46482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59" name="node26"/>
          <p:cNvGrpSpPr/>
          <p:nvPr/>
        </p:nvGrpSpPr>
        <p:grpSpPr>
          <a:xfrm>
            <a:off x="2095500" y="4343400"/>
            <a:ext cx="457200" cy="152400"/>
            <a:chOff x="2095500" y="4343400"/>
            <a:chExt cx="457200" cy="152400"/>
          </a:xfrm>
        </p:grpSpPr>
        <p:sp>
          <p:nvSpPr>
            <p:cNvPr id="52" name="node26.text"/>
            <p:cNvSpPr/>
            <p:nvPr/>
          </p:nvSpPr>
          <p:spPr>
            <a:xfrm>
              <a:off x="2095500" y="4343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60" name="node27"/>
          <p:cNvGrpSpPr/>
          <p:nvPr/>
        </p:nvGrpSpPr>
        <p:grpSpPr>
          <a:xfrm>
            <a:off x="2095500" y="4572000"/>
            <a:ext cx="431800" cy="381000"/>
            <a:chOff x="2095500" y="4572000"/>
            <a:chExt cx="431800" cy="381000"/>
          </a:xfrm>
        </p:grpSpPr>
        <p:sp>
          <p:nvSpPr>
            <p:cNvPr id="53" name="node27.surface"/>
            <p:cNvSpPr/>
            <p:nvPr/>
          </p:nvSpPr>
          <p:spPr>
            <a:xfrm>
              <a:off x="2095500" y="4572000"/>
              <a:ext cx="431800" cy="381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54" name="node27.text"/>
            <p:cNvSpPr/>
            <p:nvPr/>
          </p:nvSpPr>
          <p:spPr>
            <a:xfrm>
              <a:off x="2167467" y="46482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1" name="node28"/>
          <p:cNvGrpSpPr/>
          <p:nvPr/>
        </p:nvGrpSpPr>
        <p:grpSpPr>
          <a:xfrm>
            <a:off x="2552700" y="4343400"/>
            <a:ext cx="457200" cy="152400"/>
            <a:chOff x="2552700" y="4343400"/>
            <a:chExt cx="457200" cy="152400"/>
          </a:xfrm>
        </p:grpSpPr>
        <p:sp>
          <p:nvSpPr>
            <p:cNvPr id="55" name="node28.text"/>
            <p:cNvSpPr/>
            <p:nvPr/>
          </p:nvSpPr>
          <p:spPr>
            <a:xfrm>
              <a:off x="2552700" y="43434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62" name="node29"/>
          <p:cNvGrpSpPr/>
          <p:nvPr/>
        </p:nvGrpSpPr>
        <p:grpSpPr>
          <a:xfrm>
            <a:off x="2552700" y="4572000"/>
            <a:ext cx="431800" cy="381000"/>
            <a:chOff x="2552700" y="4572000"/>
            <a:chExt cx="431800" cy="381000"/>
          </a:xfrm>
        </p:grpSpPr>
        <p:sp>
          <p:nvSpPr>
            <p:cNvPr id="56" name="node29.surface"/>
            <p:cNvSpPr/>
            <p:nvPr/>
          </p:nvSpPr>
          <p:spPr>
            <a:xfrm>
              <a:off x="2552700" y="4572000"/>
              <a:ext cx="431800" cy="381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7" name="node29.text"/>
            <p:cNvSpPr/>
            <p:nvPr/>
          </p:nvSpPr>
          <p:spPr>
            <a:xfrm>
              <a:off x="2624667" y="46482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3" name="node30"/>
          <p:cNvGrpSpPr/>
          <p:nvPr/>
        </p:nvGrpSpPr>
        <p:grpSpPr>
          <a:xfrm>
            <a:off x="723900" y="5029200"/>
            <a:ext cx="2514600" cy="228600"/>
            <a:chOff x="723900" y="5029200"/>
            <a:chExt cx="2514600" cy="228600"/>
          </a:xfrm>
        </p:grpSpPr>
        <p:sp>
          <p:nvSpPr>
            <p:cNvPr id="58" name="node30.text"/>
            <p:cNvSpPr/>
            <p:nvPr/>
          </p:nvSpPr>
          <p:spPr>
            <a:xfrm>
              <a:off x="723900" y="5029200"/>
              <a:ext cx="2514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Overall 3 of 5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4" name="node31"/>
          <p:cNvGrpSpPr/>
          <p:nvPr/>
        </p:nvGrpSpPr>
        <p:grpSpPr>
          <a:xfrm>
            <a:off x="3467100" y="4343400"/>
            <a:ext cx="2895600" cy="152400"/>
            <a:chOff x="3467100" y="4343400"/>
            <a:chExt cx="2895600" cy="152400"/>
          </a:xfrm>
        </p:grpSpPr>
        <p:sp>
          <p:nvSpPr>
            <p:cNvPr id="59" name="node31.text"/>
            <p:cNvSpPr/>
            <p:nvPr/>
          </p:nvSpPr>
          <p:spPr>
            <a:xfrm>
              <a:off x="3467100" y="4343400"/>
              <a:ext cx="2895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WHAT DRIVES THE SCORE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65" name="node32"/>
          <p:cNvGrpSpPr/>
          <p:nvPr/>
        </p:nvGrpSpPr>
        <p:grpSpPr>
          <a:xfrm>
            <a:off x="3467100" y="4648200"/>
            <a:ext cx="2895600" cy="762000"/>
            <a:chOff x="3467100" y="4648200"/>
            <a:chExt cx="2895600" cy="762000"/>
          </a:xfrm>
        </p:grpSpPr>
        <p:sp>
          <p:nvSpPr>
            <p:cNvPr id="60" name="node32.source-001.bullet"/>
            <p:cNvSpPr/>
            <p:nvPr/>
          </p:nvSpPr>
          <p:spPr>
            <a:xfrm>
              <a:off x="3467100" y="4737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61" name="node32.source-001.text"/>
            <p:cNvSpPr/>
            <p:nvPr/>
          </p:nvSpPr>
          <p:spPr>
            <a:xfrm>
              <a:off x="3619500" y="46482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Statements are clear and on time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62" name="node32.source-002.bullet"/>
            <p:cNvSpPr/>
            <p:nvPr/>
          </p:nvSpPr>
          <p:spPr>
            <a:xfrm>
              <a:off x="3467100" y="50038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63" name="node32.source-002.text"/>
            <p:cNvSpPr/>
            <p:nvPr/>
          </p:nvSpPr>
          <p:spPr>
            <a:xfrm>
              <a:off x="3619500" y="49149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Payment plans sit outside the platform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64" name="node32.source-003.bullet"/>
            <p:cNvSpPr/>
            <p:nvPr/>
          </p:nvSpPr>
          <p:spPr>
            <a:xfrm>
              <a:off x="3467100" y="52705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65" name="node32.source-003.text"/>
            <p:cNvSpPr/>
            <p:nvPr/>
          </p:nvSpPr>
          <p:spPr>
            <a:xfrm>
              <a:off x="3619500" y="51816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Lockbox posting runs on a spreadsheet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6" name="node33"/>
          <p:cNvGrpSpPr/>
          <p:nvPr/>
        </p:nvGrpSpPr>
        <p:grpSpPr>
          <a:xfrm>
            <a:off x="6591300" y="4343400"/>
            <a:ext cx="2895600" cy="152400"/>
            <a:chOff x="6591300" y="4343400"/>
            <a:chExt cx="2895600" cy="152400"/>
          </a:xfrm>
        </p:grpSpPr>
        <p:sp>
          <p:nvSpPr>
            <p:cNvPr id="66" name="node33.text"/>
            <p:cNvSpPr/>
            <p:nvPr/>
          </p:nvSpPr>
          <p:spPr>
            <a:xfrm>
              <a:off x="6591300" y="4343400"/>
              <a:ext cx="2895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WHAT WE'D DO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67" name="node34"/>
          <p:cNvGrpSpPr/>
          <p:nvPr/>
        </p:nvGrpSpPr>
        <p:grpSpPr>
          <a:xfrm>
            <a:off x="6591300" y="4648200"/>
            <a:ext cx="2895600" cy="762000"/>
            <a:chOff x="6591300" y="4648200"/>
            <a:chExt cx="2895600" cy="762000"/>
          </a:xfrm>
        </p:grpSpPr>
        <p:sp>
          <p:nvSpPr>
            <p:cNvPr id="67" name="node34.source-001.bullet"/>
            <p:cNvSpPr/>
            <p:nvPr/>
          </p:nvSpPr>
          <p:spPr>
            <a:xfrm>
              <a:off x="6591300" y="4737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68" name="node34.source-001.text"/>
            <p:cNvSpPr/>
            <p:nvPr/>
          </p:nvSpPr>
          <p:spPr>
            <a:xfrm>
              <a:off x="6743700" y="46482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Move plans into the billing system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69" name="node34.source-002.bullet"/>
            <p:cNvSpPr/>
            <p:nvPr/>
          </p:nvSpPr>
          <p:spPr>
            <a:xfrm>
              <a:off x="6591300" y="50038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70" name="node34.source-002.text"/>
            <p:cNvSpPr/>
            <p:nvPr/>
          </p:nvSpPr>
          <p:spPr>
            <a:xfrm>
              <a:off x="6743700" y="49149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Retire the lockbox spreadsheet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71" name="node34.source-003.bullet"/>
            <p:cNvSpPr/>
            <p:nvPr/>
          </p:nvSpPr>
          <p:spPr>
            <a:xfrm>
              <a:off x="6591300" y="52705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72" name="node34.source-003.text"/>
            <p:cNvSpPr/>
            <p:nvPr/>
          </p:nvSpPr>
          <p:spPr>
            <a:xfrm>
              <a:off x="6743700" y="5181600"/>
              <a:ext cx="2743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Add text-to-pay for balances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8" name="node35"/>
          <p:cNvGrpSpPr/>
          <p:nvPr/>
        </p:nvGrpSpPr>
        <p:grpSpPr>
          <a:xfrm>
            <a:off x="10096500" y="1600200"/>
            <a:ext cx="1397000" cy="152400"/>
            <a:chOff x="10096500" y="1600200"/>
            <a:chExt cx="1397000" cy="152400"/>
          </a:xfrm>
        </p:grpSpPr>
        <p:sp>
          <p:nvSpPr>
            <p:cNvPr id="73" name="node35.text"/>
            <p:cNvSpPr/>
            <p:nvPr/>
          </p:nvSpPr>
          <p:spPr>
            <a:xfrm>
              <a:off x="10096500" y="1600200"/>
              <a:ext cx="13970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50658E"/>
                  </a:solidFill>
                  <a:latin typeface="IBM Plex Mono Medium"/>
                  <a:ea typeface="IBM Plex Mono Medium"/>
                  <a:cs typeface="IBM Plex Mono Medium"/>
                </a:rPr>
                <a:t>LOCATOR</a:t>
              </a:r>
              <a:endParaRPr lang="en-US" sz="900" spc="54" kern="0" b="0" i="0" dirty="0">
                <a:solidFill>
                  <a:srgbClr val="50658E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69" name="node36"/>
          <p:cNvGrpSpPr/>
          <p:nvPr/>
        </p:nvGrpSpPr>
        <p:grpSpPr>
          <a:xfrm>
            <a:off x="10096500" y="1828800"/>
            <a:ext cx="203200" cy="203200"/>
            <a:chOff x="10096500" y="1828800"/>
            <a:chExt cx="203200" cy="203200"/>
          </a:xfrm>
        </p:grpSpPr>
        <p:sp>
          <p:nvSpPr>
            <p:cNvPr id="74" name="node36.surface"/>
            <p:cNvSpPr/>
            <p:nvPr/>
          </p:nvSpPr>
          <p:spPr>
            <a:xfrm>
              <a:off x="10096500" y="18288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0" name="node37"/>
          <p:cNvGrpSpPr/>
          <p:nvPr/>
        </p:nvGrpSpPr>
        <p:grpSpPr>
          <a:xfrm>
            <a:off x="10325100" y="1828800"/>
            <a:ext cx="203200" cy="203200"/>
            <a:chOff x="10325100" y="1828800"/>
            <a:chExt cx="203200" cy="203200"/>
          </a:xfrm>
        </p:grpSpPr>
        <p:sp>
          <p:nvSpPr>
            <p:cNvPr id="75" name="node37.surface"/>
            <p:cNvSpPr/>
            <p:nvPr/>
          </p:nvSpPr>
          <p:spPr>
            <a:xfrm>
              <a:off x="10325100" y="1828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1" name="node38"/>
          <p:cNvGrpSpPr/>
          <p:nvPr/>
        </p:nvGrpSpPr>
        <p:grpSpPr>
          <a:xfrm>
            <a:off x="10553700" y="1828800"/>
            <a:ext cx="203200" cy="203200"/>
            <a:chOff x="10553700" y="1828800"/>
            <a:chExt cx="203200" cy="203200"/>
          </a:xfrm>
        </p:grpSpPr>
        <p:sp>
          <p:nvSpPr>
            <p:cNvPr id="76" name="node38.surface"/>
            <p:cNvSpPr/>
            <p:nvPr/>
          </p:nvSpPr>
          <p:spPr>
            <a:xfrm>
              <a:off x="10553700" y="1828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2" name="node39"/>
          <p:cNvGrpSpPr/>
          <p:nvPr/>
        </p:nvGrpSpPr>
        <p:grpSpPr>
          <a:xfrm>
            <a:off x="10782300" y="1828800"/>
            <a:ext cx="203200" cy="203200"/>
            <a:chOff x="10782300" y="1828800"/>
            <a:chExt cx="203200" cy="203200"/>
          </a:xfrm>
        </p:grpSpPr>
        <p:sp>
          <p:nvSpPr>
            <p:cNvPr id="77" name="node39.surface"/>
            <p:cNvSpPr/>
            <p:nvPr/>
          </p:nvSpPr>
          <p:spPr>
            <a:xfrm>
              <a:off x="10782300" y="18288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3" name="node40"/>
          <p:cNvGrpSpPr/>
          <p:nvPr/>
        </p:nvGrpSpPr>
        <p:grpSpPr>
          <a:xfrm>
            <a:off x="11010900" y="1828800"/>
            <a:ext cx="203200" cy="203200"/>
            <a:chOff x="11010900" y="1828800"/>
            <a:chExt cx="203200" cy="203200"/>
          </a:xfrm>
        </p:grpSpPr>
        <p:sp>
          <p:nvSpPr>
            <p:cNvPr id="78" name="node40.surface"/>
            <p:cNvSpPr/>
            <p:nvPr/>
          </p:nvSpPr>
          <p:spPr>
            <a:xfrm>
              <a:off x="11010900" y="1828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4" name="node41"/>
          <p:cNvGrpSpPr/>
          <p:nvPr/>
        </p:nvGrpSpPr>
        <p:grpSpPr>
          <a:xfrm>
            <a:off x="10096500" y="2057400"/>
            <a:ext cx="203200" cy="203200"/>
            <a:chOff x="10096500" y="2057400"/>
            <a:chExt cx="203200" cy="203200"/>
          </a:xfrm>
        </p:grpSpPr>
        <p:sp>
          <p:nvSpPr>
            <p:cNvPr id="79" name="node41.surface"/>
            <p:cNvSpPr/>
            <p:nvPr/>
          </p:nvSpPr>
          <p:spPr>
            <a:xfrm>
              <a:off x="10096500" y="2057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5" name="node42"/>
          <p:cNvGrpSpPr/>
          <p:nvPr/>
        </p:nvGrpSpPr>
        <p:grpSpPr>
          <a:xfrm>
            <a:off x="10325100" y="2057400"/>
            <a:ext cx="203200" cy="203200"/>
            <a:chOff x="10325100" y="2057400"/>
            <a:chExt cx="203200" cy="203200"/>
          </a:xfrm>
        </p:grpSpPr>
        <p:sp>
          <p:nvSpPr>
            <p:cNvPr id="80" name="node42.surface"/>
            <p:cNvSpPr/>
            <p:nvPr/>
          </p:nvSpPr>
          <p:spPr>
            <a:xfrm>
              <a:off x="10325100" y="2057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6" name="node43"/>
          <p:cNvGrpSpPr/>
          <p:nvPr/>
        </p:nvGrpSpPr>
        <p:grpSpPr>
          <a:xfrm>
            <a:off x="10553700" y="2057400"/>
            <a:ext cx="203200" cy="203200"/>
            <a:chOff x="10553700" y="2057400"/>
            <a:chExt cx="203200" cy="203200"/>
          </a:xfrm>
        </p:grpSpPr>
        <p:sp>
          <p:nvSpPr>
            <p:cNvPr id="81" name="node43.surface"/>
            <p:cNvSpPr/>
            <p:nvPr/>
          </p:nvSpPr>
          <p:spPr>
            <a:xfrm>
              <a:off x="10553700" y="20574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7" name="node44"/>
          <p:cNvGrpSpPr/>
          <p:nvPr/>
        </p:nvGrpSpPr>
        <p:grpSpPr>
          <a:xfrm>
            <a:off x="10782300" y="2057400"/>
            <a:ext cx="203200" cy="203200"/>
            <a:chOff x="10782300" y="2057400"/>
            <a:chExt cx="203200" cy="203200"/>
          </a:xfrm>
        </p:grpSpPr>
        <p:sp>
          <p:nvSpPr>
            <p:cNvPr id="82" name="node44.surface"/>
            <p:cNvSpPr/>
            <p:nvPr/>
          </p:nvSpPr>
          <p:spPr>
            <a:xfrm>
              <a:off x="10782300" y="2057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8" name="node45"/>
          <p:cNvGrpSpPr/>
          <p:nvPr/>
        </p:nvGrpSpPr>
        <p:grpSpPr>
          <a:xfrm>
            <a:off x="11010900" y="2057400"/>
            <a:ext cx="203200" cy="203200"/>
            <a:chOff x="11010900" y="2057400"/>
            <a:chExt cx="203200" cy="203200"/>
          </a:xfrm>
        </p:grpSpPr>
        <p:sp>
          <p:nvSpPr>
            <p:cNvPr id="83" name="node45.surface"/>
            <p:cNvSpPr/>
            <p:nvPr/>
          </p:nvSpPr>
          <p:spPr>
            <a:xfrm>
              <a:off x="11010900" y="2057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9" name="node46"/>
          <p:cNvGrpSpPr/>
          <p:nvPr/>
        </p:nvGrpSpPr>
        <p:grpSpPr>
          <a:xfrm>
            <a:off x="10096500" y="2286000"/>
            <a:ext cx="203200" cy="203200"/>
            <a:chOff x="10096500" y="2286000"/>
            <a:chExt cx="203200" cy="203200"/>
          </a:xfrm>
        </p:grpSpPr>
        <p:sp>
          <p:nvSpPr>
            <p:cNvPr id="84" name="node46.surface"/>
            <p:cNvSpPr/>
            <p:nvPr/>
          </p:nvSpPr>
          <p:spPr>
            <a:xfrm>
              <a:off x="10096500" y="2286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80" name="node47"/>
          <p:cNvGrpSpPr/>
          <p:nvPr/>
        </p:nvGrpSpPr>
        <p:grpSpPr>
          <a:xfrm>
            <a:off x="10325100" y="2286000"/>
            <a:ext cx="203200" cy="203200"/>
            <a:chOff x="10325100" y="2286000"/>
            <a:chExt cx="203200" cy="203200"/>
          </a:xfrm>
        </p:grpSpPr>
        <p:sp>
          <p:nvSpPr>
            <p:cNvPr id="85" name="node47.surface"/>
            <p:cNvSpPr/>
            <p:nvPr/>
          </p:nvSpPr>
          <p:spPr>
            <a:xfrm>
              <a:off x="10325100" y="2286000"/>
              <a:ext cx="2032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81" name="node48"/>
          <p:cNvGrpSpPr/>
          <p:nvPr/>
        </p:nvGrpSpPr>
        <p:grpSpPr>
          <a:xfrm>
            <a:off x="10553700" y="2286000"/>
            <a:ext cx="203200" cy="203200"/>
            <a:chOff x="10553700" y="2286000"/>
            <a:chExt cx="203200" cy="203200"/>
          </a:xfrm>
        </p:grpSpPr>
        <p:sp>
          <p:nvSpPr>
            <p:cNvPr id="86" name="node48.surface"/>
            <p:cNvSpPr/>
            <p:nvPr/>
          </p:nvSpPr>
          <p:spPr>
            <a:xfrm>
              <a:off x="10553700" y="2286000"/>
              <a:ext cx="2032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82" name="node49"/>
          <p:cNvGrpSpPr/>
          <p:nvPr/>
        </p:nvGrpSpPr>
        <p:grpSpPr>
          <a:xfrm>
            <a:off x="10782300" y="2286000"/>
            <a:ext cx="203200" cy="203200"/>
            <a:chOff x="10782300" y="2286000"/>
            <a:chExt cx="203200" cy="203200"/>
          </a:xfrm>
        </p:grpSpPr>
        <p:sp>
          <p:nvSpPr>
            <p:cNvPr id="87" name="node49.surface"/>
            <p:cNvSpPr/>
            <p:nvPr/>
          </p:nvSpPr>
          <p:spPr>
            <a:xfrm>
              <a:off x="10782300" y="2286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83" name="node50"/>
          <p:cNvGrpSpPr/>
          <p:nvPr/>
        </p:nvGrpSpPr>
        <p:grpSpPr>
          <a:xfrm>
            <a:off x="11010900" y="2286000"/>
            <a:ext cx="203200" cy="203200"/>
            <a:chOff x="11010900" y="2286000"/>
            <a:chExt cx="203200" cy="203200"/>
          </a:xfrm>
        </p:grpSpPr>
        <p:sp>
          <p:nvSpPr>
            <p:cNvPr id="88" name="node50.surface"/>
            <p:cNvSpPr/>
            <p:nvPr/>
          </p:nvSpPr>
          <p:spPr>
            <a:xfrm>
              <a:off x="11010900" y="2286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84" name="node51"/>
          <p:cNvGrpSpPr/>
          <p:nvPr/>
        </p:nvGrpSpPr>
        <p:grpSpPr>
          <a:xfrm>
            <a:off x="10096500" y="2514600"/>
            <a:ext cx="203200" cy="203200"/>
            <a:chOff x="10096500" y="2514600"/>
            <a:chExt cx="203200" cy="203200"/>
          </a:xfrm>
        </p:grpSpPr>
        <p:sp>
          <p:nvSpPr>
            <p:cNvPr id="89" name="node51.surface"/>
            <p:cNvSpPr/>
            <p:nvPr/>
          </p:nvSpPr>
          <p:spPr>
            <a:xfrm>
              <a:off x="10096500" y="25146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85" name="node52"/>
          <p:cNvGrpSpPr/>
          <p:nvPr/>
        </p:nvGrpSpPr>
        <p:grpSpPr>
          <a:xfrm>
            <a:off x="10325100" y="2514600"/>
            <a:ext cx="203200" cy="203200"/>
            <a:chOff x="10325100" y="2514600"/>
            <a:chExt cx="203200" cy="203200"/>
          </a:xfrm>
        </p:grpSpPr>
        <p:sp>
          <p:nvSpPr>
            <p:cNvPr id="90" name="node52.surface"/>
            <p:cNvSpPr/>
            <p:nvPr/>
          </p:nvSpPr>
          <p:spPr>
            <a:xfrm>
              <a:off x="10325100" y="2514600"/>
              <a:ext cx="203200" cy="2032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</p:grpSp>
      <p:grpSp>
        <p:nvGrpSpPr>
          <p:cNvPr id="186" name="node53"/>
          <p:cNvGrpSpPr/>
          <p:nvPr/>
        </p:nvGrpSpPr>
        <p:grpSpPr>
          <a:xfrm>
            <a:off x="10553700" y="2514600"/>
            <a:ext cx="203200" cy="203200"/>
            <a:chOff x="10553700" y="2514600"/>
            <a:chExt cx="203200" cy="203200"/>
          </a:xfrm>
        </p:grpSpPr>
        <p:sp>
          <p:nvSpPr>
            <p:cNvPr id="91" name="node53.surface"/>
            <p:cNvSpPr/>
            <p:nvPr/>
          </p:nvSpPr>
          <p:spPr>
            <a:xfrm>
              <a:off x="10553700" y="25146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87" name="node54"/>
          <p:cNvGrpSpPr/>
          <p:nvPr/>
        </p:nvGrpSpPr>
        <p:grpSpPr>
          <a:xfrm>
            <a:off x="10782300" y="2514600"/>
            <a:ext cx="203200" cy="203200"/>
            <a:chOff x="10782300" y="2514600"/>
            <a:chExt cx="203200" cy="203200"/>
          </a:xfrm>
        </p:grpSpPr>
        <p:sp>
          <p:nvSpPr>
            <p:cNvPr id="92" name="node54.surface"/>
            <p:cNvSpPr/>
            <p:nvPr/>
          </p:nvSpPr>
          <p:spPr>
            <a:xfrm>
              <a:off x="10782300" y="25146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88" name="node55"/>
          <p:cNvGrpSpPr/>
          <p:nvPr/>
        </p:nvGrpSpPr>
        <p:grpSpPr>
          <a:xfrm>
            <a:off x="11010900" y="2514600"/>
            <a:ext cx="203200" cy="203200"/>
            <a:chOff x="11010900" y="2514600"/>
            <a:chExt cx="203200" cy="203200"/>
          </a:xfrm>
        </p:grpSpPr>
        <p:sp>
          <p:nvSpPr>
            <p:cNvPr id="93" name="node55.surface"/>
            <p:cNvSpPr/>
            <p:nvPr/>
          </p:nvSpPr>
          <p:spPr>
            <a:xfrm>
              <a:off x="11010900" y="25146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89" name="node56"/>
          <p:cNvGrpSpPr/>
          <p:nvPr/>
        </p:nvGrpSpPr>
        <p:grpSpPr>
          <a:xfrm>
            <a:off x="10096500" y="2743200"/>
            <a:ext cx="203200" cy="203200"/>
            <a:chOff x="10096500" y="2743200"/>
            <a:chExt cx="203200" cy="203200"/>
          </a:xfrm>
        </p:grpSpPr>
        <p:sp>
          <p:nvSpPr>
            <p:cNvPr id="94" name="node56.surface"/>
            <p:cNvSpPr/>
            <p:nvPr/>
          </p:nvSpPr>
          <p:spPr>
            <a:xfrm>
              <a:off x="10096500" y="27432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90" name="node57"/>
          <p:cNvGrpSpPr/>
          <p:nvPr/>
        </p:nvGrpSpPr>
        <p:grpSpPr>
          <a:xfrm>
            <a:off x="10325100" y="2743200"/>
            <a:ext cx="203200" cy="203200"/>
            <a:chOff x="10325100" y="2743200"/>
            <a:chExt cx="203200" cy="203200"/>
          </a:xfrm>
        </p:grpSpPr>
        <p:sp>
          <p:nvSpPr>
            <p:cNvPr id="95" name="node57.surface"/>
            <p:cNvSpPr/>
            <p:nvPr/>
          </p:nvSpPr>
          <p:spPr>
            <a:xfrm>
              <a:off x="10325100" y="27432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91" name="node58"/>
          <p:cNvGrpSpPr/>
          <p:nvPr/>
        </p:nvGrpSpPr>
        <p:grpSpPr>
          <a:xfrm>
            <a:off x="10553700" y="2743200"/>
            <a:ext cx="203200" cy="203200"/>
            <a:chOff x="10553700" y="2743200"/>
            <a:chExt cx="203200" cy="203200"/>
          </a:xfrm>
        </p:grpSpPr>
        <p:sp>
          <p:nvSpPr>
            <p:cNvPr id="96" name="node58.surface"/>
            <p:cNvSpPr/>
            <p:nvPr/>
          </p:nvSpPr>
          <p:spPr>
            <a:xfrm>
              <a:off x="10553700" y="27432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92" name="node59"/>
          <p:cNvGrpSpPr/>
          <p:nvPr/>
        </p:nvGrpSpPr>
        <p:grpSpPr>
          <a:xfrm>
            <a:off x="10782300" y="2743200"/>
            <a:ext cx="203200" cy="203200"/>
            <a:chOff x="10782300" y="2743200"/>
            <a:chExt cx="203200" cy="203200"/>
          </a:xfrm>
        </p:grpSpPr>
        <p:sp>
          <p:nvSpPr>
            <p:cNvPr id="97" name="node59.surface"/>
            <p:cNvSpPr/>
            <p:nvPr/>
          </p:nvSpPr>
          <p:spPr>
            <a:xfrm>
              <a:off x="10782300" y="27432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3" name="node60"/>
          <p:cNvGrpSpPr/>
          <p:nvPr/>
        </p:nvGrpSpPr>
        <p:grpSpPr>
          <a:xfrm>
            <a:off x="11010900" y="2743200"/>
            <a:ext cx="203200" cy="203200"/>
            <a:chOff x="11010900" y="2743200"/>
            <a:chExt cx="203200" cy="203200"/>
          </a:xfrm>
        </p:grpSpPr>
        <p:sp>
          <p:nvSpPr>
            <p:cNvPr id="98" name="node60.surface"/>
            <p:cNvSpPr/>
            <p:nvPr/>
          </p:nvSpPr>
          <p:spPr>
            <a:xfrm>
              <a:off x="11010900" y="27432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94" name="node61"/>
          <p:cNvGrpSpPr/>
          <p:nvPr/>
        </p:nvGrpSpPr>
        <p:grpSpPr>
          <a:xfrm>
            <a:off x="10096500" y="2971800"/>
            <a:ext cx="203200" cy="203200"/>
            <a:chOff x="10096500" y="2971800"/>
            <a:chExt cx="203200" cy="203200"/>
          </a:xfrm>
        </p:grpSpPr>
        <p:sp>
          <p:nvSpPr>
            <p:cNvPr id="99" name="node61.surface"/>
            <p:cNvSpPr/>
            <p:nvPr/>
          </p:nvSpPr>
          <p:spPr>
            <a:xfrm>
              <a:off x="10096500" y="2971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5" name="node62"/>
          <p:cNvGrpSpPr/>
          <p:nvPr/>
        </p:nvGrpSpPr>
        <p:grpSpPr>
          <a:xfrm>
            <a:off x="10325100" y="2971800"/>
            <a:ext cx="203200" cy="203200"/>
            <a:chOff x="10325100" y="2971800"/>
            <a:chExt cx="203200" cy="203200"/>
          </a:xfrm>
        </p:grpSpPr>
        <p:sp>
          <p:nvSpPr>
            <p:cNvPr id="100" name="node62.surface"/>
            <p:cNvSpPr/>
            <p:nvPr/>
          </p:nvSpPr>
          <p:spPr>
            <a:xfrm>
              <a:off x="10325100" y="2971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6" name="node63"/>
          <p:cNvGrpSpPr/>
          <p:nvPr/>
        </p:nvGrpSpPr>
        <p:grpSpPr>
          <a:xfrm>
            <a:off x="10553700" y="2971800"/>
            <a:ext cx="203200" cy="203200"/>
            <a:chOff x="10553700" y="2971800"/>
            <a:chExt cx="203200" cy="203200"/>
          </a:xfrm>
        </p:grpSpPr>
        <p:sp>
          <p:nvSpPr>
            <p:cNvPr id="101" name="node63.surface"/>
            <p:cNvSpPr/>
            <p:nvPr/>
          </p:nvSpPr>
          <p:spPr>
            <a:xfrm>
              <a:off x="10553700" y="2971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7" name="node64"/>
          <p:cNvGrpSpPr/>
          <p:nvPr/>
        </p:nvGrpSpPr>
        <p:grpSpPr>
          <a:xfrm>
            <a:off x="10782300" y="2971800"/>
            <a:ext cx="203200" cy="203200"/>
            <a:chOff x="10782300" y="2971800"/>
            <a:chExt cx="203200" cy="203200"/>
          </a:xfrm>
        </p:grpSpPr>
        <p:sp>
          <p:nvSpPr>
            <p:cNvPr id="102" name="node64.surface"/>
            <p:cNvSpPr/>
            <p:nvPr/>
          </p:nvSpPr>
          <p:spPr>
            <a:xfrm>
              <a:off x="10782300" y="29718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8" name="node65"/>
          <p:cNvGrpSpPr/>
          <p:nvPr/>
        </p:nvGrpSpPr>
        <p:grpSpPr>
          <a:xfrm>
            <a:off x="11010900" y="2971800"/>
            <a:ext cx="203200" cy="203200"/>
            <a:chOff x="11010900" y="2971800"/>
            <a:chExt cx="203200" cy="203200"/>
          </a:xfrm>
        </p:grpSpPr>
        <p:sp>
          <p:nvSpPr>
            <p:cNvPr id="103" name="node65.surface"/>
            <p:cNvSpPr/>
            <p:nvPr/>
          </p:nvSpPr>
          <p:spPr>
            <a:xfrm>
              <a:off x="11010900" y="2971800"/>
              <a:ext cx="2032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99" name="node66"/>
          <p:cNvGrpSpPr/>
          <p:nvPr/>
        </p:nvGrpSpPr>
        <p:grpSpPr>
          <a:xfrm>
            <a:off x="10096500" y="3200400"/>
            <a:ext cx="203200" cy="203200"/>
            <a:chOff x="10096500" y="3200400"/>
            <a:chExt cx="203200" cy="203200"/>
          </a:xfrm>
        </p:grpSpPr>
        <p:sp>
          <p:nvSpPr>
            <p:cNvPr id="104" name="node66.surface"/>
            <p:cNvSpPr/>
            <p:nvPr/>
          </p:nvSpPr>
          <p:spPr>
            <a:xfrm>
              <a:off x="10096500" y="32004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200" name="node67"/>
          <p:cNvGrpSpPr/>
          <p:nvPr/>
        </p:nvGrpSpPr>
        <p:grpSpPr>
          <a:xfrm>
            <a:off x="10325100" y="3200400"/>
            <a:ext cx="203200" cy="203200"/>
            <a:chOff x="10325100" y="3200400"/>
            <a:chExt cx="203200" cy="203200"/>
          </a:xfrm>
        </p:grpSpPr>
        <p:sp>
          <p:nvSpPr>
            <p:cNvPr id="105" name="node67.surface"/>
            <p:cNvSpPr/>
            <p:nvPr/>
          </p:nvSpPr>
          <p:spPr>
            <a:xfrm>
              <a:off x="10325100" y="32004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201" name="node68"/>
          <p:cNvGrpSpPr/>
          <p:nvPr/>
        </p:nvGrpSpPr>
        <p:grpSpPr>
          <a:xfrm>
            <a:off x="10553700" y="3200400"/>
            <a:ext cx="203200" cy="203200"/>
            <a:chOff x="10553700" y="3200400"/>
            <a:chExt cx="203200" cy="203200"/>
          </a:xfrm>
        </p:grpSpPr>
        <p:sp>
          <p:nvSpPr>
            <p:cNvPr id="106" name="node68.surface"/>
            <p:cNvSpPr/>
            <p:nvPr/>
          </p:nvSpPr>
          <p:spPr>
            <a:xfrm>
              <a:off x="10553700" y="3200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202" name="node69"/>
          <p:cNvGrpSpPr/>
          <p:nvPr/>
        </p:nvGrpSpPr>
        <p:grpSpPr>
          <a:xfrm>
            <a:off x="10782300" y="3200400"/>
            <a:ext cx="203200" cy="203200"/>
            <a:chOff x="10782300" y="3200400"/>
            <a:chExt cx="203200" cy="203200"/>
          </a:xfrm>
        </p:grpSpPr>
        <p:sp>
          <p:nvSpPr>
            <p:cNvPr id="107" name="node69.surface"/>
            <p:cNvSpPr/>
            <p:nvPr/>
          </p:nvSpPr>
          <p:spPr>
            <a:xfrm>
              <a:off x="10782300" y="3200400"/>
              <a:ext cx="203200" cy="2032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203" name="node70"/>
          <p:cNvGrpSpPr/>
          <p:nvPr/>
        </p:nvGrpSpPr>
        <p:grpSpPr>
          <a:xfrm>
            <a:off x="11010900" y="3200400"/>
            <a:ext cx="203200" cy="203200"/>
            <a:chOff x="11010900" y="3200400"/>
            <a:chExt cx="203200" cy="203200"/>
          </a:xfrm>
        </p:grpSpPr>
        <p:sp>
          <p:nvSpPr>
            <p:cNvPr id="108" name="node70.surface"/>
            <p:cNvSpPr/>
            <p:nvPr/>
          </p:nvSpPr>
          <p:spPr>
            <a:xfrm>
              <a:off x="11010900" y="32004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204" name="node71"/>
          <p:cNvGrpSpPr/>
          <p:nvPr/>
        </p:nvGrpSpPr>
        <p:grpSpPr>
          <a:xfrm>
            <a:off x="10096500" y="3429000"/>
            <a:ext cx="203200" cy="203200"/>
            <a:chOff x="10096500" y="3429000"/>
            <a:chExt cx="203200" cy="203200"/>
          </a:xfrm>
        </p:grpSpPr>
        <p:sp>
          <p:nvSpPr>
            <p:cNvPr id="109" name="node71.surface"/>
            <p:cNvSpPr/>
            <p:nvPr/>
          </p:nvSpPr>
          <p:spPr>
            <a:xfrm>
              <a:off x="10096500" y="3429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205" name="node72"/>
          <p:cNvGrpSpPr/>
          <p:nvPr/>
        </p:nvGrpSpPr>
        <p:grpSpPr>
          <a:xfrm>
            <a:off x="10325100" y="3429000"/>
            <a:ext cx="203200" cy="203200"/>
            <a:chOff x="10325100" y="3429000"/>
            <a:chExt cx="203200" cy="203200"/>
          </a:xfrm>
        </p:grpSpPr>
        <p:sp>
          <p:nvSpPr>
            <p:cNvPr id="110" name="node72.surface"/>
            <p:cNvSpPr/>
            <p:nvPr/>
          </p:nvSpPr>
          <p:spPr>
            <a:xfrm>
              <a:off x="10325100" y="3429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206" name="node73"/>
          <p:cNvGrpSpPr/>
          <p:nvPr/>
        </p:nvGrpSpPr>
        <p:grpSpPr>
          <a:xfrm>
            <a:off x="10553700" y="3429000"/>
            <a:ext cx="203200" cy="203200"/>
            <a:chOff x="10553700" y="3429000"/>
            <a:chExt cx="203200" cy="203200"/>
          </a:xfrm>
        </p:grpSpPr>
        <p:sp>
          <p:nvSpPr>
            <p:cNvPr id="111" name="node73.surface"/>
            <p:cNvSpPr/>
            <p:nvPr/>
          </p:nvSpPr>
          <p:spPr>
            <a:xfrm>
              <a:off x="10553700" y="3429000"/>
              <a:ext cx="203200" cy="2032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207" name="node74"/>
          <p:cNvGrpSpPr/>
          <p:nvPr/>
        </p:nvGrpSpPr>
        <p:grpSpPr>
          <a:xfrm>
            <a:off x="10782300" y="3429000"/>
            <a:ext cx="203200" cy="203200"/>
            <a:chOff x="10782300" y="3429000"/>
            <a:chExt cx="203200" cy="203200"/>
          </a:xfrm>
        </p:grpSpPr>
        <p:sp>
          <p:nvSpPr>
            <p:cNvPr id="112" name="node74.surface"/>
            <p:cNvSpPr/>
            <p:nvPr/>
          </p:nvSpPr>
          <p:spPr>
            <a:xfrm>
              <a:off x="10782300" y="34290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208" name="node75"/>
          <p:cNvGrpSpPr/>
          <p:nvPr/>
        </p:nvGrpSpPr>
        <p:grpSpPr>
          <a:xfrm>
            <a:off x="11010900" y="3429000"/>
            <a:ext cx="203200" cy="203200"/>
            <a:chOff x="11010900" y="3429000"/>
            <a:chExt cx="203200" cy="203200"/>
          </a:xfrm>
        </p:grpSpPr>
        <p:sp>
          <p:nvSpPr>
            <p:cNvPr id="113" name="node75.surface"/>
            <p:cNvSpPr/>
            <p:nvPr/>
          </p:nvSpPr>
          <p:spPr>
            <a:xfrm>
              <a:off x="11010900" y="34290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209" name="node76"/>
          <p:cNvGrpSpPr/>
          <p:nvPr/>
        </p:nvGrpSpPr>
        <p:grpSpPr>
          <a:xfrm>
            <a:off x="10096500" y="3657600"/>
            <a:ext cx="203200" cy="203200"/>
            <a:chOff x="10096500" y="3657600"/>
            <a:chExt cx="203200" cy="203200"/>
          </a:xfrm>
        </p:grpSpPr>
        <p:sp>
          <p:nvSpPr>
            <p:cNvPr id="114" name="node76.surface"/>
            <p:cNvSpPr/>
            <p:nvPr/>
          </p:nvSpPr>
          <p:spPr>
            <a:xfrm>
              <a:off x="10096500" y="36576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210" name="node77"/>
          <p:cNvGrpSpPr/>
          <p:nvPr/>
        </p:nvGrpSpPr>
        <p:grpSpPr>
          <a:xfrm>
            <a:off x="10325100" y="3657600"/>
            <a:ext cx="203200" cy="203200"/>
            <a:chOff x="10325100" y="3657600"/>
            <a:chExt cx="203200" cy="203200"/>
          </a:xfrm>
        </p:grpSpPr>
        <p:sp>
          <p:nvSpPr>
            <p:cNvPr id="115" name="node77.surface"/>
            <p:cNvSpPr/>
            <p:nvPr/>
          </p:nvSpPr>
          <p:spPr>
            <a:xfrm>
              <a:off x="10325100" y="36576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211" name="node78"/>
          <p:cNvGrpSpPr/>
          <p:nvPr/>
        </p:nvGrpSpPr>
        <p:grpSpPr>
          <a:xfrm>
            <a:off x="10553700" y="3657600"/>
            <a:ext cx="203200" cy="203200"/>
            <a:chOff x="10553700" y="3657600"/>
            <a:chExt cx="203200" cy="203200"/>
          </a:xfrm>
        </p:grpSpPr>
        <p:sp>
          <p:nvSpPr>
            <p:cNvPr id="116" name="node78.surface"/>
            <p:cNvSpPr/>
            <p:nvPr/>
          </p:nvSpPr>
          <p:spPr>
            <a:xfrm>
              <a:off x="10553700" y="36576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212" name="node79"/>
          <p:cNvGrpSpPr/>
          <p:nvPr/>
        </p:nvGrpSpPr>
        <p:grpSpPr>
          <a:xfrm>
            <a:off x="10782300" y="3657600"/>
            <a:ext cx="203200" cy="203200"/>
            <a:chOff x="10782300" y="3657600"/>
            <a:chExt cx="203200" cy="203200"/>
          </a:xfrm>
        </p:grpSpPr>
        <p:sp>
          <p:nvSpPr>
            <p:cNvPr id="117" name="node79.surface"/>
            <p:cNvSpPr/>
            <p:nvPr/>
          </p:nvSpPr>
          <p:spPr>
            <a:xfrm>
              <a:off x="10782300" y="3657600"/>
              <a:ext cx="203200" cy="2032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213" name="node80"/>
          <p:cNvGrpSpPr/>
          <p:nvPr/>
        </p:nvGrpSpPr>
        <p:grpSpPr>
          <a:xfrm>
            <a:off x="11010900" y="3657600"/>
            <a:ext cx="203200" cy="203200"/>
            <a:chOff x="11010900" y="3657600"/>
            <a:chExt cx="203200" cy="203200"/>
          </a:xfrm>
        </p:grpSpPr>
        <p:sp>
          <p:nvSpPr>
            <p:cNvPr id="118" name="node80.surface"/>
            <p:cNvSpPr/>
            <p:nvPr/>
          </p:nvSpPr>
          <p:spPr>
            <a:xfrm>
              <a:off x="11010900" y="3657600"/>
              <a:ext cx="203200" cy="2032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214" name="node81"/>
          <p:cNvGrpSpPr/>
          <p:nvPr/>
        </p:nvGrpSpPr>
        <p:grpSpPr>
          <a:xfrm>
            <a:off x="10096500" y="2514600"/>
            <a:ext cx="1143000" cy="25400"/>
            <a:chOff x="10096500" y="2514600"/>
            <a:chExt cx="1143000" cy="25400"/>
          </a:xfrm>
        </p:grpSpPr>
        <p:sp>
          <p:nvSpPr>
            <p:cNvPr id="119" name="node81.surface"/>
            <p:cNvSpPr/>
            <p:nvPr/>
          </p:nvSpPr>
          <p:spPr>
            <a:xfrm>
              <a:off x="10096500" y="2514600"/>
              <a:ext cx="1143000" cy="254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215" name="node82"/>
          <p:cNvGrpSpPr/>
          <p:nvPr/>
        </p:nvGrpSpPr>
        <p:grpSpPr>
          <a:xfrm>
            <a:off x="10096500" y="2971800"/>
            <a:ext cx="1143000" cy="25400"/>
            <a:chOff x="10096500" y="2971800"/>
            <a:chExt cx="1143000" cy="25400"/>
          </a:xfrm>
        </p:grpSpPr>
        <p:sp>
          <p:nvSpPr>
            <p:cNvPr id="120" name="node82.surface"/>
            <p:cNvSpPr/>
            <p:nvPr/>
          </p:nvSpPr>
          <p:spPr>
            <a:xfrm>
              <a:off x="10096500" y="2971800"/>
              <a:ext cx="1143000" cy="254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216" name="node83"/>
          <p:cNvGrpSpPr/>
          <p:nvPr/>
        </p:nvGrpSpPr>
        <p:grpSpPr>
          <a:xfrm>
            <a:off x="10096500" y="2514600"/>
            <a:ext cx="25400" cy="457200"/>
            <a:chOff x="10096500" y="2514600"/>
            <a:chExt cx="25400" cy="457200"/>
          </a:xfrm>
        </p:grpSpPr>
        <p:sp>
          <p:nvSpPr>
            <p:cNvPr id="121" name="node83.surface"/>
            <p:cNvSpPr/>
            <p:nvPr/>
          </p:nvSpPr>
          <p:spPr>
            <a:xfrm>
              <a:off x="10096500" y="2514600"/>
              <a:ext cx="25400" cy="4572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217" name="node84"/>
          <p:cNvGrpSpPr/>
          <p:nvPr/>
        </p:nvGrpSpPr>
        <p:grpSpPr>
          <a:xfrm>
            <a:off x="11239500" y="2514600"/>
            <a:ext cx="25400" cy="482600"/>
            <a:chOff x="11239500" y="2514600"/>
            <a:chExt cx="25400" cy="482600"/>
          </a:xfrm>
        </p:grpSpPr>
        <p:sp>
          <p:nvSpPr>
            <p:cNvPr id="122" name="node84.surface"/>
            <p:cNvSpPr/>
            <p:nvPr/>
          </p:nvSpPr>
          <p:spPr>
            <a:xfrm>
              <a:off x="11239500" y="2514600"/>
              <a:ext cx="25400" cy="4826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218" name="node85"/>
          <p:cNvGrpSpPr/>
          <p:nvPr/>
        </p:nvGrpSpPr>
        <p:grpSpPr>
          <a:xfrm>
            <a:off x="10096500" y="3962400"/>
            <a:ext cx="1397000" cy="152400"/>
            <a:chOff x="10096500" y="3962400"/>
            <a:chExt cx="1397000" cy="152400"/>
          </a:xfrm>
        </p:grpSpPr>
        <p:sp>
          <p:nvSpPr>
            <p:cNvPr id="123" name="node85.text"/>
            <p:cNvSpPr/>
            <p:nvPr/>
          </p:nvSpPr>
          <p:spPr>
            <a:xfrm>
              <a:off x="10096500" y="3962400"/>
              <a:ext cx="13970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50658E"/>
                  </a:solidFill>
                  <a:latin typeface="IBM Plex Mono Medium"/>
                  <a:ea typeface="IBM Plex Mono Medium"/>
                  <a:cs typeface="IBM Plex Mono Medium"/>
                </a:rPr>
                <a:t>ROWS A4–A5</a:t>
              </a:r>
              <a:endParaRPr lang="en-US" sz="900" spc="54" kern="0" b="0" i="0" dirty="0">
                <a:solidFill>
                  <a:srgbClr val="50658E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9" name="node86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124" name="node86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25" name="node86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26" name="node86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27" name="node86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28" name="node86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29" name="node86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0" name="node86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31" name="node86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2" name="node86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3" name="node86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4381500" y="457200"/>
            <a:ext cx="7086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FRONT-DOOR DETAIL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4381500" y="685800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Front-door rows in depth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4381500" y="5829300"/>
            <a:ext cx="7086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14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37" name="node01"/>
          <p:cNvGrpSpPr/>
          <p:nvPr/>
        </p:nvGrpSpPr>
        <p:grpSpPr>
          <a:xfrm>
            <a:off x="4381500" y="2743200"/>
            <a:ext cx="7086600" cy="1371600"/>
            <a:chOff x="4381500" y="2743200"/>
            <a:chExt cx="7086600" cy="1371600"/>
          </a:xfrm>
        </p:grpSpPr>
        <p:sp>
          <p:nvSpPr>
            <p:cNvPr id="7" name="node01.surface"/>
            <p:cNvSpPr/>
            <p:nvPr/>
          </p:nvSpPr>
          <p:spPr>
            <a:xfrm>
              <a:off x="4381500" y="2743200"/>
              <a:ext cx="7086600" cy="13716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38" name="node02"/>
          <p:cNvGrpSpPr/>
          <p:nvPr/>
        </p:nvGrpSpPr>
        <p:grpSpPr>
          <a:xfrm>
            <a:off x="723900" y="457200"/>
            <a:ext cx="2743200" cy="152400"/>
            <a:chOff x="723900" y="457200"/>
            <a:chExt cx="2743200" cy="152400"/>
          </a:xfrm>
        </p:grpSpPr>
        <p:sp>
          <p:nvSpPr>
            <p:cNvPr id="8" name="node02.text"/>
            <p:cNvSpPr/>
            <p:nvPr/>
          </p:nvSpPr>
          <p:spPr>
            <a:xfrm>
              <a:off x="723900" y="457200"/>
              <a:ext cx="2743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LOCATOR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39" name="node03"/>
          <p:cNvGrpSpPr/>
          <p:nvPr/>
        </p:nvGrpSpPr>
        <p:grpSpPr>
          <a:xfrm>
            <a:off x="723900" y="1054100"/>
            <a:ext cx="457200" cy="228600"/>
            <a:chOff x="723900" y="1054100"/>
            <a:chExt cx="457200" cy="228600"/>
          </a:xfrm>
        </p:grpSpPr>
        <p:sp>
          <p:nvSpPr>
            <p:cNvPr id="9" name="node03.text"/>
            <p:cNvSpPr/>
            <p:nvPr/>
          </p:nvSpPr>
          <p:spPr>
            <a:xfrm>
              <a:off x="723900" y="10541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A1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0" name="node04"/>
          <p:cNvGrpSpPr/>
          <p:nvPr/>
        </p:nvGrpSpPr>
        <p:grpSpPr>
          <a:xfrm>
            <a:off x="1181100" y="914400"/>
            <a:ext cx="431800" cy="431800"/>
            <a:chOff x="1181100" y="914400"/>
            <a:chExt cx="431800" cy="431800"/>
          </a:xfrm>
        </p:grpSpPr>
        <p:sp>
          <p:nvSpPr>
            <p:cNvPr id="10" name="node04.surface"/>
            <p:cNvSpPr/>
            <p:nvPr/>
          </p:nvSpPr>
          <p:spPr>
            <a:xfrm>
              <a:off x="1181100" y="9144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41" name="node05"/>
          <p:cNvGrpSpPr/>
          <p:nvPr/>
        </p:nvGrpSpPr>
        <p:grpSpPr>
          <a:xfrm>
            <a:off x="1638300" y="914400"/>
            <a:ext cx="431800" cy="431800"/>
            <a:chOff x="1638300" y="914400"/>
            <a:chExt cx="431800" cy="431800"/>
          </a:xfrm>
        </p:grpSpPr>
        <p:sp>
          <p:nvSpPr>
            <p:cNvPr id="11" name="node05.surface"/>
            <p:cNvSpPr/>
            <p:nvPr/>
          </p:nvSpPr>
          <p:spPr>
            <a:xfrm>
              <a:off x="1638300" y="9144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42" name="node06"/>
          <p:cNvGrpSpPr/>
          <p:nvPr/>
        </p:nvGrpSpPr>
        <p:grpSpPr>
          <a:xfrm>
            <a:off x="2095500" y="914400"/>
            <a:ext cx="431800" cy="431800"/>
            <a:chOff x="2095500" y="914400"/>
            <a:chExt cx="431800" cy="431800"/>
          </a:xfrm>
        </p:grpSpPr>
        <p:sp>
          <p:nvSpPr>
            <p:cNvPr id="12" name="node06.surface"/>
            <p:cNvSpPr/>
            <p:nvPr/>
          </p:nvSpPr>
          <p:spPr>
            <a:xfrm>
              <a:off x="2095500" y="9144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43" name="node07"/>
          <p:cNvGrpSpPr/>
          <p:nvPr/>
        </p:nvGrpSpPr>
        <p:grpSpPr>
          <a:xfrm>
            <a:off x="2552700" y="914400"/>
            <a:ext cx="431800" cy="431800"/>
            <a:chOff x="2552700" y="914400"/>
            <a:chExt cx="431800" cy="431800"/>
          </a:xfrm>
        </p:grpSpPr>
        <p:sp>
          <p:nvSpPr>
            <p:cNvPr id="13" name="node07.surface"/>
            <p:cNvSpPr/>
            <p:nvPr/>
          </p:nvSpPr>
          <p:spPr>
            <a:xfrm>
              <a:off x="2552700" y="9144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44" name="node08"/>
          <p:cNvGrpSpPr/>
          <p:nvPr/>
        </p:nvGrpSpPr>
        <p:grpSpPr>
          <a:xfrm>
            <a:off x="3009900" y="914400"/>
            <a:ext cx="431800" cy="431800"/>
            <a:chOff x="3009900" y="914400"/>
            <a:chExt cx="431800" cy="431800"/>
          </a:xfrm>
        </p:grpSpPr>
        <p:sp>
          <p:nvSpPr>
            <p:cNvPr id="14" name="node08.surface"/>
            <p:cNvSpPr/>
            <p:nvPr/>
          </p:nvSpPr>
          <p:spPr>
            <a:xfrm>
              <a:off x="3009900" y="9144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45" name="node09"/>
          <p:cNvGrpSpPr/>
          <p:nvPr/>
        </p:nvGrpSpPr>
        <p:grpSpPr>
          <a:xfrm>
            <a:off x="723900" y="1511300"/>
            <a:ext cx="457200" cy="228600"/>
            <a:chOff x="723900" y="1511300"/>
            <a:chExt cx="457200" cy="228600"/>
          </a:xfrm>
        </p:grpSpPr>
        <p:sp>
          <p:nvSpPr>
            <p:cNvPr id="15" name="node09.text"/>
            <p:cNvSpPr/>
            <p:nvPr/>
          </p:nvSpPr>
          <p:spPr>
            <a:xfrm>
              <a:off x="723900" y="15113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46" name="node10"/>
          <p:cNvGrpSpPr/>
          <p:nvPr/>
        </p:nvGrpSpPr>
        <p:grpSpPr>
          <a:xfrm>
            <a:off x="1181100" y="1371600"/>
            <a:ext cx="431800" cy="431800"/>
            <a:chOff x="1181100" y="1371600"/>
            <a:chExt cx="431800" cy="431800"/>
          </a:xfrm>
        </p:grpSpPr>
        <p:sp>
          <p:nvSpPr>
            <p:cNvPr id="16" name="node10.surface"/>
            <p:cNvSpPr/>
            <p:nvPr/>
          </p:nvSpPr>
          <p:spPr>
            <a:xfrm>
              <a:off x="1181100" y="13716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47" name="node11"/>
          <p:cNvGrpSpPr/>
          <p:nvPr/>
        </p:nvGrpSpPr>
        <p:grpSpPr>
          <a:xfrm>
            <a:off x="1638300" y="1371600"/>
            <a:ext cx="431800" cy="431800"/>
            <a:chOff x="1638300" y="1371600"/>
            <a:chExt cx="431800" cy="431800"/>
          </a:xfrm>
        </p:grpSpPr>
        <p:sp>
          <p:nvSpPr>
            <p:cNvPr id="17" name="node11.surface"/>
            <p:cNvSpPr/>
            <p:nvPr/>
          </p:nvSpPr>
          <p:spPr>
            <a:xfrm>
              <a:off x="1638300" y="13716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48" name="node12"/>
          <p:cNvGrpSpPr/>
          <p:nvPr/>
        </p:nvGrpSpPr>
        <p:grpSpPr>
          <a:xfrm>
            <a:off x="2095500" y="1371600"/>
            <a:ext cx="431800" cy="431800"/>
            <a:chOff x="2095500" y="1371600"/>
            <a:chExt cx="431800" cy="431800"/>
          </a:xfrm>
        </p:grpSpPr>
        <p:sp>
          <p:nvSpPr>
            <p:cNvPr id="18" name="node12.surface"/>
            <p:cNvSpPr/>
            <p:nvPr/>
          </p:nvSpPr>
          <p:spPr>
            <a:xfrm>
              <a:off x="2095500" y="13716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49" name="node13"/>
          <p:cNvGrpSpPr/>
          <p:nvPr/>
        </p:nvGrpSpPr>
        <p:grpSpPr>
          <a:xfrm>
            <a:off x="2552700" y="1371600"/>
            <a:ext cx="431800" cy="431800"/>
            <a:chOff x="2552700" y="1371600"/>
            <a:chExt cx="431800" cy="431800"/>
          </a:xfrm>
        </p:grpSpPr>
        <p:sp>
          <p:nvSpPr>
            <p:cNvPr id="19" name="node13.surface"/>
            <p:cNvSpPr/>
            <p:nvPr/>
          </p:nvSpPr>
          <p:spPr>
            <a:xfrm>
              <a:off x="2552700" y="13716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0" name="node14"/>
          <p:cNvGrpSpPr/>
          <p:nvPr/>
        </p:nvGrpSpPr>
        <p:grpSpPr>
          <a:xfrm>
            <a:off x="3009900" y="1371600"/>
            <a:ext cx="431800" cy="431800"/>
            <a:chOff x="3009900" y="1371600"/>
            <a:chExt cx="431800" cy="431800"/>
          </a:xfrm>
        </p:grpSpPr>
        <p:sp>
          <p:nvSpPr>
            <p:cNvPr id="20" name="node14.surface"/>
            <p:cNvSpPr/>
            <p:nvPr/>
          </p:nvSpPr>
          <p:spPr>
            <a:xfrm>
              <a:off x="3009900" y="13716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51" name="node15"/>
          <p:cNvGrpSpPr/>
          <p:nvPr/>
        </p:nvGrpSpPr>
        <p:grpSpPr>
          <a:xfrm>
            <a:off x="723900" y="1968500"/>
            <a:ext cx="457200" cy="228600"/>
            <a:chOff x="723900" y="1968500"/>
            <a:chExt cx="457200" cy="228600"/>
          </a:xfrm>
        </p:grpSpPr>
        <p:sp>
          <p:nvSpPr>
            <p:cNvPr id="21" name="node15.text"/>
            <p:cNvSpPr/>
            <p:nvPr/>
          </p:nvSpPr>
          <p:spPr>
            <a:xfrm>
              <a:off x="723900" y="19685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A3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52" name="node16"/>
          <p:cNvGrpSpPr/>
          <p:nvPr/>
        </p:nvGrpSpPr>
        <p:grpSpPr>
          <a:xfrm>
            <a:off x="1181100" y="1828800"/>
            <a:ext cx="431800" cy="431800"/>
            <a:chOff x="1181100" y="1828800"/>
            <a:chExt cx="431800" cy="431800"/>
          </a:xfrm>
        </p:grpSpPr>
        <p:sp>
          <p:nvSpPr>
            <p:cNvPr id="22" name="node16.surface"/>
            <p:cNvSpPr/>
            <p:nvPr/>
          </p:nvSpPr>
          <p:spPr>
            <a:xfrm>
              <a:off x="1181100" y="18288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3" name="node17"/>
          <p:cNvGrpSpPr/>
          <p:nvPr/>
        </p:nvGrpSpPr>
        <p:grpSpPr>
          <a:xfrm>
            <a:off x="1638300" y="1828800"/>
            <a:ext cx="431800" cy="431800"/>
            <a:chOff x="1638300" y="1828800"/>
            <a:chExt cx="431800" cy="431800"/>
          </a:xfrm>
        </p:grpSpPr>
        <p:sp>
          <p:nvSpPr>
            <p:cNvPr id="23" name="node17.surface"/>
            <p:cNvSpPr/>
            <p:nvPr/>
          </p:nvSpPr>
          <p:spPr>
            <a:xfrm>
              <a:off x="1638300" y="1828800"/>
              <a:ext cx="431800" cy="4318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54" name="node18"/>
          <p:cNvGrpSpPr/>
          <p:nvPr/>
        </p:nvGrpSpPr>
        <p:grpSpPr>
          <a:xfrm>
            <a:off x="2095500" y="1828800"/>
            <a:ext cx="431800" cy="431800"/>
            <a:chOff x="2095500" y="1828800"/>
            <a:chExt cx="431800" cy="431800"/>
          </a:xfrm>
        </p:grpSpPr>
        <p:sp>
          <p:nvSpPr>
            <p:cNvPr id="24" name="node18.surface"/>
            <p:cNvSpPr/>
            <p:nvPr/>
          </p:nvSpPr>
          <p:spPr>
            <a:xfrm>
              <a:off x="2095500" y="1828800"/>
              <a:ext cx="431800" cy="4318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55" name="node19"/>
          <p:cNvGrpSpPr/>
          <p:nvPr/>
        </p:nvGrpSpPr>
        <p:grpSpPr>
          <a:xfrm>
            <a:off x="2552700" y="1828800"/>
            <a:ext cx="431800" cy="431800"/>
            <a:chOff x="2552700" y="1828800"/>
            <a:chExt cx="431800" cy="431800"/>
          </a:xfrm>
        </p:grpSpPr>
        <p:sp>
          <p:nvSpPr>
            <p:cNvPr id="25" name="node19.surface"/>
            <p:cNvSpPr/>
            <p:nvPr/>
          </p:nvSpPr>
          <p:spPr>
            <a:xfrm>
              <a:off x="2552700" y="18288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6" name="node20"/>
          <p:cNvGrpSpPr/>
          <p:nvPr/>
        </p:nvGrpSpPr>
        <p:grpSpPr>
          <a:xfrm>
            <a:off x="3009900" y="1828800"/>
            <a:ext cx="431800" cy="431800"/>
            <a:chOff x="3009900" y="1828800"/>
            <a:chExt cx="431800" cy="431800"/>
          </a:xfrm>
        </p:grpSpPr>
        <p:sp>
          <p:nvSpPr>
            <p:cNvPr id="26" name="node20.surface"/>
            <p:cNvSpPr/>
            <p:nvPr/>
          </p:nvSpPr>
          <p:spPr>
            <a:xfrm>
              <a:off x="3009900" y="18288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57" name="node21"/>
          <p:cNvGrpSpPr/>
          <p:nvPr/>
        </p:nvGrpSpPr>
        <p:grpSpPr>
          <a:xfrm>
            <a:off x="723900" y="2425700"/>
            <a:ext cx="457200" cy="228600"/>
            <a:chOff x="723900" y="2425700"/>
            <a:chExt cx="457200" cy="228600"/>
          </a:xfrm>
        </p:grpSpPr>
        <p:sp>
          <p:nvSpPr>
            <p:cNvPr id="27" name="node21.text"/>
            <p:cNvSpPr/>
            <p:nvPr/>
          </p:nvSpPr>
          <p:spPr>
            <a:xfrm>
              <a:off x="723900" y="24257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A4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58" name="node22"/>
          <p:cNvGrpSpPr/>
          <p:nvPr/>
        </p:nvGrpSpPr>
        <p:grpSpPr>
          <a:xfrm>
            <a:off x="1181100" y="2286000"/>
            <a:ext cx="431800" cy="431800"/>
            <a:chOff x="1181100" y="2286000"/>
            <a:chExt cx="431800" cy="431800"/>
          </a:xfrm>
        </p:grpSpPr>
        <p:sp>
          <p:nvSpPr>
            <p:cNvPr id="28" name="node22.surface"/>
            <p:cNvSpPr/>
            <p:nvPr/>
          </p:nvSpPr>
          <p:spPr>
            <a:xfrm>
              <a:off x="1181100" y="2286000"/>
              <a:ext cx="431800" cy="4318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59" name="node23"/>
          <p:cNvGrpSpPr/>
          <p:nvPr/>
        </p:nvGrpSpPr>
        <p:grpSpPr>
          <a:xfrm>
            <a:off x="1638300" y="2286000"/>
            <a:ext cx="431800" cy="431800"/>
            <a:chOff x="1638300" y="2286000"/>
            <a:chExt cx="431800" cy="431800"/>
          </a:xfrm>
        </p:grpSpPr>
        <p:sp>
          <p:nvSpPr>
            <p:cNvPr id="29" name="node23.surface"/>
            <p:cNvSpPr/>
            <p:nvPr/>
          </p:nvSpPr>
          <p:spPr>
            <a:xfrm>
              <a:off x="1638300" y="2286000"/>
              <a:ext cx="431800" cy="4318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</p:grpSp>
      <p:grpSp>
        <p:nvGrpSpPr>
          <p:cNvPr id="160" name="node24"/>
          <p:cNvGrpSpPr/>
          <p:nvPr/>
        </p:nvGrpSpPr>
        <p:grpSpPr>
          <a:xfrm>
            <a:off x="2095500" y="2286000"/>
            <a:ext cx="431800" cy="431800"/>
            <a:chOff x="2095500" y="2286000"/>
            <a:chExt cx="431800" cy="431800"/>
          </a:xfrm>
        </p:grpSpPr>
        <p:sp>
          <p:nvSpPr>
            <p:cNvPr id="30" name="node24.surface"/>
            <p:cNvSpPr/>
            <p:nvPr/>
          </p:nvSpPr>
          <p:spPr>
            <a:xfrm>
              <a:off x="2095500" y="22860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1" name="node25"/>
          <p:cNvGrpSpPr/>
          <p:nvPr/>
        </p:nvGrpSpPr>
        <p:grpSpPr>
          <a:xfrm>
            <a:off x="2552700" y="2286000"/>
            <a:ext cx="431800" cy="431800"/>
            <a:chOff x="2552700" y="2286000"/>
            <a:chExt cx="431800" cy="431800"/>
          </a:xfrm>
        </p:grpSpPr>
        <p:sp>
          <p:nvSpPr>
            <p:cNvPr id="31" name="node25.surface"/>
            <p:cNvSpPr/>
            <p:nvPr/>
          </p:nvSpPr>
          <p:spPr>
            <a:xfrm>
              <a:off x="2552700" y="22860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2" name="node26"/>
          <p:cNvGrpSpPr/>
          <p:nvPr/>
        </p:nvGrpSpPr>
        <p:grpSpPr>
          <a:xfrm>
            <a:off x="3009900" y="2286000"/>
            <a:ext cx="431800" cy="431800"/>
            <a:chOff x="3009900" y="2286000"/>
            <a:chExt cx="431800" cy="431800"/>
          </a:xfrm>
        </p:grpSpPr>
        <p:sp>
          <p:nvSpPr>
            <p:cNvPr id="32" name="node26.surface"/>
            <p:cNvSpPr/>
            <p:nvPr/>
          </p:nvSpPr>
          <p:spPr>
            <a:xfrm>
              <a:off x="3009900" y="2286000"/>
              <a:ext cx="431800" cy="4318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63" name="node27"/>
          <p:cNvGrpSpPr/>
          <p:nvPr/>
        </p:nvGrpSpPr>
        <p:grpSpPr>
          <a:xfrm>
            <a:off x="723900" y="2882900"/>
            <a:ext cx="457200" cy="228600"/>
            <a:chOff x="723900" y="2882900"/>
            <a:chExt cx="457200" cy="228600"/>
          </a:xfrm>
        </p:grpSpPr>
        <p:sp>
          <p:nvSpPr>
            <p:cNvPr id="33" name="node27.text"/>
            <p:cNvSpPr/>
            <p:nvPr/>
          </p:nvSpPr>
          <p:spPr>
            <a:xfrm>
              <a:off x="723900" y="28829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A5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4" name="node28"/>
          <p:cNvGrpSpPr/>
          <p:nvPr/>
        </p:nvGrpSpPr>
        <p:grpSpPr>
          <a:xfrm>
            <a:off x="1181100" y="2743200"/>
            <a:ext cx="431800" cy="431800"/>
            <a:chOff x="1181100" y="2743200"/>
            <a:chExt cx="431800" cy="431800"/>
          </a:xfrm>
        </p:grpSpPr>
        <p:sp>
          <p:nvSpPr>
            <p:cNvPr id="34" name="node28.surface"/>
            <p:cNvSpPr/>
            <p:nvPr/>
          </p:nvSpPr>
          <p:spPr>
            <a:xfrm>
              <a:off x="1181100" y="27432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5" name="node29"/>
          <p:cNvGrpSpPr/>
          <p:nvPr/>
        </p:nvGrpSpPr>
        <p:grpSpPr>
          <a:xfrm>
            <a:off x="1638300" y="2743200"/>
            <a:ext cx="431800" cy="431800"/>
            <a:chOff x="1638300" y="2743200"/>
            <a:chExt cx="431800" cy="431800"/>
          </a:xfrm>
        </p:grpSpPr>
        <p:sp>
          <p:nvSpPr>
            <p:cNvPr id="35" name="node29.surface"/>
            <p:cNvSpPr/>
            <p:nvPr/>
          </p:nvSpPr>
          <p:spPr>
            <a:xfrm>
              <a:off x="1638300" y="27432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6" name="node30"/>
          <p:cNvGrpSpPr/>
          <p:nvPr/>
        </p:nvGrpSpPr>
        <p:grpSpPr>
          <a:xfrm>
            <a:off x="2095500" y="2743200"/>
            <a:ext cx="431800" cy="431800"/>
            <a:chOff x="2095500" y="2743200"/>
            <a:chExt cx="431800" cy="431800"/>
          </a:xfrm>
        </p:grpSpPr>
        <p:sp>
          <p:nvSpPr>
            <p:cNvPr id="36" name="node30.surface"/>
            <p:cNvSpPr/>
            <p:nvPr/>
          </p:nvSpPr>
          <p:spPr>
            <a:xfrm>
              <a:off x="2095500" y="27432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7" name="node31"/>
          <p:cNvGrpSpPr/>
          <p:nvPr/>
        </p:nvGrpSpPr>
        <p:grpSpPr>
          <a:xfrm>
            <a:off x="2552700" y="2743200"/>
            <a:ext cx="431800" cy="431800"/>
            <a:chOff x="2552700" y="2743200"/>
            <a:chExt cx="431800" cy="431800"/>
          </a:xfrm>
        </p:grpSpPr>
        <p:sp>
          <p:nvSpPr>
            <p:cNvPr id="37" name="node31.surface"/>
            <p:cNvSpPr/>
            <p:nvPr/>
          </p:nvSpPr>
          <p:spPr>
            <a:xfrm>
              <a:off x="2552700" y="27432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68" name="node32"/>
          <p:cNvGrpSpPr/>
          <p:nvPr/>
        </p:nvGrpSpPr>
        <p:grpSpPr>
          <a:xfrm>
            <a:off x="3009900" y="2743200"/>
            <a:ext cx="431800" cy="431800"/>
            <a:chOff x="3009900" y="2743200"/>
            <a:chExt cx="431800" cy="431800"/>
          </a:xfrm>
        </p:grpSpPr>
        <p:sp>
          <p:nvSpPr>
            <p:cNvPr id="38" name="node32.surface"/>
            <p:cNvSpPr/>
            <p:nvPr/>
          </p:nvSpPr>
          <p:spPr>
            <a:xfrm>
              <a:off x="3009900" y="27432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69" name="node33"/>
          <p:cNvGrpSpPr/>
          <p:nvPr/>
        </p:nvGrpSpPr>
        <p:grpSpPr>
          <a:xfrm>
            <a:off x="723900" y="3340100"/>
            <a:ext cx="457200" cy="228600"/>
            <a:chOff x="723900" y="3340100"/>
            <a:chExt cx="457200" cy="228600"/>
          </a:xfrm>
        </p:grpSpPr>
        <p:sp>
          <p:nvSpPr>
            <p:cNvPr id="39" name="node33.text"/>
            <p:cNvSpPr/>
            <p:nvPr/>
          </p:nvSpPr>
          <p:spPr>
            <a:xfrm>
              <a:off x="723900" y="33401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A6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0" name="node34"/>
          <p:cNvGrpSpPr/>
          <p:nvPr/>
        </p:nvGrpSpPr>
        <p:grpSpPr>
          <a:xfrm>
            <a:off x="1181100" y="3200400"/>
            <a:ext cx="431800" cy="431800"/>
            <a:chOff x="1181100" y="3200400"/>
            <a:chExt cx="431800" cy="431800"/>
          </a:xfrm>
        </p:grpSpPr>
        <p:sp>
          <p:nvSpPr>
            <p:cNvPr id="40" name="node34.surface"/>
            <p:cNvSpPr/>
            <p:nvPr/>
          </p:nvSpPr>
          <p:spPr>
            <a:xfrm>
              <a:off x="1181100" y="32004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1" name="node35"/>
          <p:cNvGrpSpPr/>
          <p:nvPr/>
        </p:nvGrpSpPr>
        <p:grpSpPr>
          <a:xfrm>
            <a:off x="1638300" y="3200400"/>
            <a:ext cx="431800" cy="431800"/>
            <a:chOff x="1638300" y="3200400"/>
            <a:chExt cx="431800" cy="431800"/>
          </a:xfrm>
        </p:grpSpPr>
        <p:sp>
          <p:nvSpPr>
            <p:cNvPr id="41" name="node35.surface"/>
            <p:cNvSpPr/>
            <p:nvPr/>
          </p:nvSpPr>
          <p:spPr>
            <a:xfrm>
              <a:off x="1638300" y="32004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2" name="node36"/>
          <p:cNvGrpSpPr/>
          <p:nvPr/>
        </p:nvGrpSpPr>
        <p:grpSpPr>
          <a:xfrm>
            <a:off x="2095500" y="3200400"/>
            <a:ext cx="431800" cy="431800"/>
            <a:chOff x="2095500" y="3200400"/>
            <a:chExt cx="431800" cy="431800"/>
          </a:xfrm>
        </p:grpSpPr>
        <p:sp>
          <p:nvSpPr>
            <p:cNvPr id="42" name="node36.surface"/>
            <p:cNvSpPr/>
            <p:nvPr/>
          </p:nvSpPr>
          <p:spPr>
            <a:xfrm>
              <a:off x="2095500" y="32004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3" name="node37"/>
          <p:cNvGrpSpPr/>
          <p:nvPr/>
        </p:nvGrpSpPr>
        <p:grpSpPr>
          <a:xfrm>
            <a:off x="2552700" y="3200400"/>
            <a:ext cx="431800" cy="431800"/>
            <a:chOff x="2552700" y="3200400"/>
            <a:chExt cx="431800" cy="431800"/>
          </a:xfrm>
        </p:grpSpPr>
        <p:sp>
          <p:nvSpPr>
            <p:cNvPr id="43" name="node37.surface"/>
            <p:cNvSpPr/>
            <p:nvPr/>
          </p:nvSpPr>
          <p:spPr>
            <a:xfrm>
              <a:off x="2552700" y="32004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74" name="node38"/>
          <p:cNvGrpSpPr/>
          <p:nvPr/>
        </p:nvGrpSpPr>
        <p:grpSpPr>
          <a:xfrm>
            <a:off x="3009900" y="3200400"/>
            <a:ext cx="431800" cy="431800"/>
            <a:chOff x="3009900" y="3200400"/>
            <a:chExt cx="431800" cy="431800"/>
          </a:xfrm>
        </p:grpSpPr>
        <p:sp>
          <p:nvSpPr>
            <p:cNvPr id="44" name="node38.surface"/>
            <p:cNvSpPr/>
            <p:nvPr/>
          </p:nvSpPr>
          <p:spPr>
            <a:xfrm>
              <a:off x="3009900" y="3200400"/>
              <a:ext cx="431800" cy="4318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75" name="node39"/>
          <p:cNvGrpSpPr/>
          <p:nvPr/>
        </p:nvGrpSpPr>
        <p:grpSpPr>
          <a:xfrm>
            <a:off x="723900" y="3797300"/>
            <a:ext cx="457200" cy="228600"/>
            <a:chOff x="723900" y="3797300"/>
            <a:chExt cx="457200" cy="228600"/>
          </a:xfrm>
        </p:grpSpPr>
        <p:sp>
          <p:nvSpPr>
            <p:cNvPr id="45" name="node39.text"/>
            <p:cNvSpPr/>
            <p:nvPr/>
          </p:nvSpPr>
          <p:spPr>
            <a:xfrm>
              <a:off x="723900" y="37973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A7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6" name="node40"/>
          <p:cNvGrpSpPr/>
          <p:nvPr/>
        </p:nvGrpSpPr>
        <p:grpSpPr>
          <a:xfrm>
            <a:off x="1181100" y="3657600"/>
            <a:ext cx="431800" cy="431800"/>
            <a:chOff x="1181100" y="3657600"/>
            <a:chExt cx="431800" cy="431800"/>
          </a:xfrm>
        </p:grpSpPr>
        <p:sp>
          <p:nvSpPr>
            <p:cNvPr id="46" name="node40.surface"/>
            <p:cNvSpPr/>
            <p:nvPr/>
          </p:nvSpPr>
          <p:spPr>
            <a:xfrm>
              <a:off x="1181100" y="3657600"/>
              <a:ext cx="431800" cy="4318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77" name="node41"/>
          <p:cNvGrpSpPr/>
          <p:nvPr/>
        </p:nvGrpSpPr>
        <p:grpSpPr>
          <a:xfrm>
            <a:off x="1638300" y="3657600"/>
            <a:ext cx="431800" cy="431800"/>
            <a:chOff x="1638300" y="3657600"/>
            <a:chExt cx="431800" cy="431800"/>
          </a:xfrm>
        </p:grpSpPr>
        <p:sp>
          <p:nvSpPr>
            <p:cNvPr id="47" name="node41.surface"/>
            <p:cNvSpPr/>
            <p:nvPr/>
          </p:nvSpPr>
          <p:spPr>
            <a:xfrm>
              <a:off x="1638300" y="3657600"/>
              <a:ext cx="431800" cy="4318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78" name="node42"/>
          <p:cNvGrpSpPr/>
          <p:nvPr/>
        </p:nvGrpSpPr>
        <p:grpSpPr>
          <a:xfrm>
            <a:off x="2095500" y="3657600"/>
            <a:ext cx="431800" cy="431800"/>
            <a:chOff x="2095500" y="3657600"/>
            <a:chExt cx="431800" cy="431800"/>
          </a:xfrm>
        </p:grpSpPr>
        <p:sp>
          <p:nvSpPr>
            <p:cNvPr id="48" name="node42.surface"/>
            <p:cNvSpPr/>
            <p:nvPr/>
          </p:nvSpPr>
          <p:spPr>
            <a:xfrm>
              <a:off x="2095500" y="36576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79" name="node43"/>
          <p:cNvGrpSpPr/>
          <p:nvPr/>
        </p:nvGrpSpPr>
        <p:grpSpPr>
          <a:xfrm>
            <a:off x="2552700" y="3657600"/>
            <a:ext cx="431800" cy="431800"/>
            <a:chOff x="2552700" y="3657600"/>
            <a:chExt cx="431800" cy="431800"/>
          </a:xfrm>
        </p:grpSpPr>
        <p:sp>
          <p:nvSpPr>
            <p:cNvPr id="49" name="node43.surface"/>
            <p:cNvSpPr/>
            <p:nvPr/>
          </p:nvSpPr>
          <p:spPr>
            <a:xfrm>
              <a:off x="2552700" y="3657600"/>
              <a:ext cx="431800" cy="4318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</p:grpSp>
      <p:grpSp>
        <p:nvGrpSpPr>
          <p:cNvPr id="180" name="node44"/>
          <p:cNvGrpSpPr/>
          <p:nvPr/>
        </p:nvGrpSpPr>
        <p:grpSpPr>
          <a:xfrm>
            <a:off x="3009900" y="3657600"/>
            <a:ext cx="431800" cy="431800"/>
            <a:chOff x="3009900" y="3657600"/>
            <a:chExt cx="431800" cy="431800"/>
          </a:xfrm>
        </p:grpSpPr>
        <p:sp>
          <p:nvSpPr>
            <p:cNvPr id="50" name="node44.surface"/>
            <p:cNvSpPr/>
            <p:nvPr/>
          </p:nvSpPr>
          <p:spPr>
            <a:xfrm>
              <a:off x="3009900" y="36576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81" name="node45"/>
          <p:cNvGrpSpPr/>
          <p:nvPr/>
        </p:nvGrpSpPr>
        <p:grpSpPr>
          <a:xfrm>
            <a:off x="723900" y="4254500"/>
            <a:ext cx="457200" cy="228600"/>
            <a:chOff x="723900" y="4254500"/>
            <a:chExt cx="457200" cy="228600"/>
          </a:xfrm>
        </p:grpSpPr>
        <p:sp>
          <p:nvSpPr>
            <p:cNvPr id="51" name="node45.text"/>
            <p:cNvSpPr/>
            <p:nvPr/>
          </p:nvSpPr>
          <p:spPr>
            <a:xfrm>
              <a:off x="723900" y="42545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A8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82" name="node46"/>
          <p:cNvGrpSpPr/>
          <p:nvPr/>
        </p:nvGrpSpPr>
        <p:grpSpPr>
          <a:xfrm>
            <a:off x="1181100" y="4114800"/>
            <a:ext cx="431800" cy="431800"/>
            <a:chOff x="1181100" y="4114800"/>
            <a:chExt cx="431800" cy="431800"/>
          </a:xfrm>
        </p:grpSpPr>
        <p:sp>
          <p:nvSpPr>
            <p:cNvPr id="52" name="node46.surface"/>
            <p:cNvSpPr/>
            <p:nvPr/>
          </p:nvSpPr>
          <p:spPr>
            <a:xfrm>
              <a:off x="1181100" y="41148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83" name="node47"/>
          <p:cNvGrpSpPr/>
          <p:nvPr/>
        </p:nvGrpSpPr>
        <p:grpSpPr>
          <a:xfrm>
            <a:off x="1638300" y="4114800"/>
            <a:ext cx="431800" cy="431800"/>
            <a:chOff x="1638300" y="4114800"/>
            <a:chExt cx="431800" cy="431800"/>
          </a:xfrm>
        </p:grpSpPr>
        <p:sp>
          <p:nvSpPr>
            <p:cNvPr id="53" name="node47.surface"/>
            <p:cNvSpPr/>
            <p:nvPr/>
          </p:nvSpPr>
          <p:spPr>
            <a:xfrm>
              <a:off x="1638300" y="41148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84" name="node48"/>
          <p:cNvGrpSpPr/>
          <p:nvPr/>
        </p:nvGrpSpPr>
        <p:grpSpPr>
          <a:xfrm>
            <a:off x="2095500" y="4114800"/>
            <a:ext cx="431800" cy="431800"/>
            <a:chOff x="2095500" y="4114800"/>
            <a:chExt cx="431800" cy="431800"/>
          </a:xfrm>
        </p:grpSpPr>
        <p:sp>
          <p:nvSpPr>
            <p:cNvPr id="54" name="node48.surface"/>
            <p:cNvSpPr/>
            <p:nvPr/>
          </p:nvSpPr>
          <p:spPr>
            <a:xfrm>
              <a:off x="2095500" y="4114800"/>
              <a:ext cx="431800" cy="4318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85" name="node49"/>
          <p:cNvGrpSpPr/>
          <p:nvPr/>
        </p:nvGrpSpPr>
        <p:grpSpPr>
          <a:xfrm>
            <a:off x="2552700" y="4114800"/>
            <a:ext cx="431800" cy="431800"/>
            <a:chOff x="2552700" y="4114800"/>
            <a:chExt cx="431800" cy="431800"/>
          </a:xfrm>
        </p:grpSpPr>
        <p:sp>
          <p:nvSpPr>
            <p:cNvPr id="55" name="node49.surface"/>
            <p:cNvSpPr/>
            <p:nvPr/>
          </p:nvSpPr>
          <p:spPr>
            <a:xfrm>
              <a:off x="2552700" y="41148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86" name="node50"/>
          <p:cNvGrpSpPr/>
          <p:nvPr/>
        </p:nvGrpSpPr>
        <p:grpSpPr>
          <a:xfrm>
            <a:off x="3009900" y="4114800"/>
            <a:ext cx="431800" cy="431800"/>
            <a:chOff x="3009900" y="4114800"/>
            <a:chExt cx="431800" cy="431800"/>
          </a:xfrm>
        </p:grpSpPr>
        <p:sp>
          <p:nvSpPr>
            <p:cNvPr id="56" name="node50.surface"/>
            <p:cNvSpPr/>
            <p:nvPr/>
          </p:nvSpPr>
          <p:spPr>
            <a:xfrm>
              <a:off x="3009900" y="41148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87" name="node51"/>
          <p:cNvGrpSpPr/>
          <p:nvPr/>
        </p:nvGrpSpPr>
        <p:grpSpPr>
          <a:xfrm>
            <a:off x="723900" y="4711700"/>
            <a:ext cx="457200" cy="228600"/>
            <a:chOff x="723900" y="4711700"/>
            <a:chExt cx="457200" cy="228600"/>
          </a:xfrm>
        </p:grpSpPr>
        <p:sp>
          <p:nvSpPr>
            <p:cNvPr id="57" name="node51.text"/>
            <p:cNvSpPr/>
            <p:nvPr/>
          </p:nvSpPr>
          <p:spPr>
            <a:xfrm>
              <a:off x="723900" y="471170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>A9</a:t>
              </a:r>
              <a:endParaRPr lang="en-US" sz="12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88" name="node52"/>
          <p:cNvGrpSpPr/>
          <p:nvPr/>
        </p:nvGrpSpPr>
        <p:grpSpPr>
          <a:xfrm>
            <a:off x="1181100" y="4572000"/>
            <a:ext cx="431800" cy="431800"/>
            <a:chOff x="1181100" y="4572000"/>
            <a:chExt cx="431800" cy="431800"/>
          </a:xfrm>
        </p:grpSpPr>
        <p:sp>
          <p:nvSpPr>
            <p:cNvPr id="58" name="node52.surface"/>
            <p:cNvSpPr/>
            <p:nvPr/>
          </p:nvSpPr>
          <p:spPr>
            <a:xfrm>
              <a:off x="1181100" y="45720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89" name="node53"/>
          <p:cNvGrpSpPr/>
          <p:nvPr/>
        </p:nvGrpSpPr>
        <p:grpSpPr>
          <a:xfrm>
            <a:off x="1638300" y="4572000"/>
            <a:ext cx="431800" cy="431800"/>
            <a:chOff x="1638300" y="4572000"/>
            <a:chExt cx="431800" cy="431800"/>
          </a:xfrm>
        </p:grpSpPr>
        <p:sp>
          <p:nvSpPr>
            <p:cNvPr id="59" name="node53.surface"/>
            <p:cNvSpPr/>
            <p:nvPr/>
          </p:nvSpPr>
          <p:spPr>
            <a:xfrm>
              <a:off x="1638300" y="45720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0" name="node54"/>
          <p:cNvGrpSpPr/>
          <p:nvPr/>
        </p:nvGrpSpPr>
        <p:grpSpPr>
          <a:xfrm>
            <a:off x="2095500" y="4572000"/>
            <a:ext cx="431800" cy="431800"/>
            <a:chOff x="2095500" y="4572000"/>
            <a:chExt cx="431800" cy="431800"/>
          </a:xfrm>
        </p:grpSpPr>
        <p:sp>
          <p:nvSpPr>
            <p:cNvPr id="60" name="node54.surface"/>
            <p:cNvSpPr/>
            <p:nvPr/>
          </p:nvSpPr>
          <p:spPr>
            <a:xfrm>
              <a:off x="2095500" y="45720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1" name="node55"/>
          <p:cNvGrpSpPr/>
          <p:nvPr/>
        </p:nvGrpSpPr>
        <p:grpSpPr>
          <a:xfrm>
            <a:off x="2552700" y="4572000"/>
            <a:ext cx="431800" cy="431800"/>
            <a:chOff x="2552700" y="4572000"/>
            <a:chExt cx="431800" cy="431800"/>
          </a:xfrm>
        </p:grpSpPr>
        <p:sp>
          <p:nvSpPr>
            <p:cNvPr id="61" name="node55.surface"/>
            <p:cNvSpPr/>
            <p:nvPr/>
          </p:nvSpPr>
          <p:spPr>
            <a:xfrm>
              <a:off x="2552700" y="4572000"/>
              <a:ext cx="431800" cy="4318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</p:grpSp>
      <p:grpSp>
        <p:nvGrpSpPr>
          <p:cNvPr id="192" name="node56"/>
          <p:cNvGrpSpPr/>
          <p:nvPr/>
        </p:nvGrpSpPr>
        <p:grpSpPr>
          <a:xfrm>
            <a:off x="3009900" y="4572000"/>
            <a:ext cx="431800" cy="431800"/>
            <a:chOff x="3009900" y="4572000"/>
            <a:chExt cx="431800" cy="431800"/>
          </a:xfrm>
        </p:grpSpPr>
        <p:sp>
          <p:nvSpPr>
            <p:cNvPr id="62" name="node56.surface"/>
            <p:cNvSpPr/>
            <p:nvPr/>
          </p:nvSpPr>
          <p:spPr>
            <a:xfrm>
              <a:off x="3009900" y="4572000"/>
              <a:ext cx="431800" cy="4318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</p:grpSp>
      <p:grpSp>
        <p:nvGrpSpPr>
          <p:cNvPr id="193" name="node57"/>
          <p:cNvGrpSpPr/>
          <p:nvPr/>
        </p:nvGrpSpPr>
        <p:grpSpPr>
          <a:xfrm>
            <a:off x="1181100" y="914400"/>
            <a:ext cx="2286000" cy="25400"/>
            <a:chOff x="1181100" y="914400"/>
            <a:chExt cx="2286000" cy="25400"/>
          </a:xfrm>
        </p:grpSpPr>
        <p:sp>
          <p:nvSpPr>
            <p:cNvPr id="63" name="node57.surface"/>
            <p:cNvSpPr/>
            <p:nvPr/>
          </p:nvSpPr>
          <p:spPr>
            <a:xfrm>
              <a:off x="1181100" y="914400"/>
              <a:ext cx="2286000" cy="254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194" name="node58"/>
          <p:cNvGrpSpPr/>
          <p:nvPr/>
        </p:nvGrpSpPr>
        <p:grpSpPr>
          <a:xfrm>
            <a:off x="1181100" y="2286000"/>
            <a:ext cx="2286000" cy="25400"/>
            <a:chOff x="1181100" y="2286000"/>
            <a:chExt cx="2286000" cy="25400"/>
          </a:xfrm>
        </p:grpSpPr>
        <p:sp>
          <p:nvSpPr>
            <p:cNvPr id="64" name="node58.surface"/>
            <p:cNvSpPr/>
            <p:nvPr/>
          </p:nvSpPr>
          <p:spPr>
            <a:xfrm>
              <a:off x="1181100" y="2286000"/>
              <a:ext cx="2286000" cy="254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195" name="node59"/>
          <p:cNvGrpSpPr/>
          <p:nvPr/>
        </p:nvGrpSpPr>
        <p:grpSpPr>
          <a:xfrm>
            <a:off x="1181100" y="914400"/>
            <a:ext cx="25400" cy="1371600"/>
            <a:chOff x="1181100" y="914400"/>
            <a:chExt cx="25400" cy="1371600"/>
          </a:xfrm>
        </p:grpSpPr>
        <p:sp>
          <p:nvSpPr>
            <p:cNvPr id="65" name="node59.surface"/>
            <p:cNvSpPr/>
            <p:nvPr/>
          </p:nvSpPr>
          <p:spPr>
            <a:xfrm>
              <a:off x="1181100" y="914400"/>
              <a:ext cx="25400" cy="13716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196" name="node60"/>
          <p:cNvGrpSpPr/>
          <p:nvPr/>
        </p:nvGrpSpPr>
        <p:grpSpPr>
          <a:xfrm>
            <a:off x="3467100" y="914400"/>
            <a:ext cx="25400" cy="1397000"/>
            <a:chOff x="3467100" y="914400"/>
            <a:chExt cx="25400" cy="1397000"/>
          </a:xfrm>
        </p:grpSpPr>
        <p:sp>
          <p:nvSpPr>
            <p:cNvPr id="66" name="node60.surface"/>
            <p:cNvSpPr/>
            <p:nvPr/>
          </p:nvSpPr>
          <p:spPr>
            <a:xfrm>
              <a:off x="3467100" y="914400"/>
              <a:ext cx="25400" cy="13970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</p:grpSp>
      <p:grpSp>
        <p:nvGrpSpPr>
          <p:cNvPr id="197" name="node61"/>
          <p:cNvGrpSpPr/>
          <p:nvPr/>
        </p:nvGrpSpPr>
        <p:grpSpPr>
          <a:xfrm>
            <a:off x="4610100" y="1600200"/>
            <a:ext cx="609600" cy="381000"/>
            <a:chOff x="4610100" y="1600200"/>
            <a:chExt cx="609600" cy="381000"/>
          </a:xfrm>
        </p:grpSpPr>
        <p:sp>
          <p:nvSpPr>
            <p:cNvPr id="67" name="node61.surface"/>
            <p:cNvSpPr/>
            <p:nvPr/>
          </p:nvSpPr>
          <p:spPr>
            <a:xfrm>
              <a:off x="4610100" y="1600200"/>
              <a:ext cx="609600" cy="3810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68" name="node61.text"/>
            <p:cNvSpPr/>
            <p:nvPr/>
          </p:nvSpPr>
          <p:spPr>
            <a:xfrm>
              <a:off x="4762500" y="1657350"/>
              <a:ext cx="3048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A1</a:t>
              </a:r>
              <a:endParaRPr lang="en-US" sz="14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98" name="node62"/>
          <p:cNvGrpSpPr/>
          <p:nvPr/>
        </p:nvGrpSpPr>
        <p:grpSpPr>
          <a:xfrm>
            <a:off x="5295900" y="1612900"/>
            <a:ext cx="2362200" cy="304800"/>
            <a:chOff x="5295900" y="1612900"/>
            <a:chExt cx="2362200" cy="304800"/>
          </a:xfrm>
        </p:grpSpPr>
        <p:sp>
          <p:nvSpPr>
            <p:cNvPr id="69" name="node62.text"/>
            <p:cNvSpPr/>
            <p:nvPr/>
          </p:nvSpPr>
          <p:spPr>
            <a:xfrm>
              <a:off x="5295900" y="1612900"/>
              <a:ext cx="2362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Patient access</a:t>
              </a:r>
              <a:endParaRPr lang="en-US" sz="1800" spc="-18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199" name="node63"/>
          <p:cNvGrpSpPr/>
          <p:nvPr/>
        </p:nvGrpSpPr>
        <p:grpSpPr>
          <a:xfrm>
            <a:off x="4610100" y="2032000"/>
            <a:ext cx="457200" cy="152400"/>
            <a:chOff x="4610100" y="2032000"/>
            <a:chExt cx="457200" cy="152400"/>
          </a:xfrm>
        </p:grpSpPr>
        <p:sp>
          <p:nvSpPr>
            <p:cNvPr id="70" name="node63.text"/>
            <p:cNvSpPr/>
            <p:nvPr/>
          </p:nvSpPr>
          <p:spPr>
            <a:xfrm>
              <a:off x="4610100" y="2032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00" name="node64"/>
          <p:cNvGrpSpPr/>
          <p:nvPr/>
        </p:nvGrpSpPr>
        <p:grpSpPr>
          <a:xfrm>
            <a:off x="4610100" y="2286000"/>
            <a:ext cx="431800" cy="355600"/>
            <a:chOff x="4610100" y="2286000"/>
            <a:chExt cx="431800" cy="355600"/>
          </a:xfrm>
        </p:grpSpPr>
        <p:sp>
          <p:nvSpPr>
            <p:cNvPr id="71" name="node64.surface"/>
            <p:cNvSpPr/>
            <p:nvPr/>
          </p:nvSpPr>
          <p:spPr>
            <a:xfrm>
              <a:off x="4610100" y="2286000"/>
              <a:ext cx="431800" cy="3556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72" name="node64.text"/>
            <p:cNvSpPr/>
            <p:nvPr/>
          </p:nvSpPr>
          <p:spPr>
            <a:xfrm>
              <a:off x="4682067" y="23495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01" name="node65"/>
          <p:cNvGrpSpPr/>
          <p:nvPr/>
        </p:nvGrpSpPr>
        <p:grpSpPr>
          <a:xfrm>
            <a:off x="5067300" y="2032000"/>
            <a:ext cx="457200" cy="152400"/>
            <a:chOff x="5067300" y="2032000"/>
            <a:chExt cx="457200" cy="152400"/>
          </a:xfrm>
        </p:grpSpPr>
        <p:sp>
          <p:nvSpPr>
            <p:cNvPr id="73" name="node65.text"/>
            <p:cNvSpPr/>
            <p:nvPr/>
          </p:nvSpPr>
          <p:spPr>
            <a:xfrm>
              <a:off x="5067300" y="2032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02" name="node66"/>
          <p:cNvGrpSpPr/>
          <p:nvPr/>
        </p:nvGrpSpPr>
        <p:grpSpPr>
          <a:xfrm>
            <a:off x="5067300" y="2286000"/>
            <a:ext cx="431800" cy="355600"/>
            <a:chOff x="5067300" y="2286000"/>
            <a:chExt cx="431800" cy="355600"/>
          </a:xfrm>
        </p:grpSpPr>
        <p:sp>
          <p:nvSpPr>
            <p:cNvPr id="74" name="node66.surface"/>
            <p:cNvSpPr/>
            <p:nvPr/>
          </p:nvSpPr>
          <p:spPr>
            <a:xfrm>
              <a:off x="5067300" y="2286000"/>
              <a:ext cx="431800" cy="3556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5" name="node66.text"/>
            <p:cNvSpPr/>
            <p:nvPr/>
          </p:nvSpPr>
          <p:spPr>
            <a:xfrm>
              <a:off x="5139267" y="23495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03" name="node67"/>
          <p:cNvGrpSpPr/>
          <p:nvPr/>
        </p:nvGrpSpPr>
        <p:grpSpPr>
          <a:xfrm>
            <a:off x="5524500" y="2032000"/>
            <a:ext cx="457200" cy="152400"/>
            <a:chOff x="5524500" y="2032000"/>
            <a:chExt cx="457200" cy="152400"/>
          </a:xfrm>
        </p:grpSpPr>
        <p:sp>
          <p:nvSpPr>
            <p:cNvPr id="76" name="node67.text"/>
            <p:cNvSpPr/>
            <p:nvPr/>
          </p:nvSpPr>
          <p:spPr>
            <a:xfrm>
              <a:off x="5524500" y="2032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04" name="node68"/>
          <p:cNvGrpSpPr/>
          <p:nvPr/>
        </p:nvGrpSpPr>
        <p:grpSpPr>
          <a:xfrm>
            <a:off x="5524500" y="2286000"/>
            <a:ext cx="431800" cy="355600"/>
            <a:chOff x="5524500" y="2286000"/>
            <a:chExt cx="431800" cy="355600"/>
          </a:xfrm>
        </p:grpSpPr>
        <p:sp>
          <p:nvSpPr>
            <p:cNvPr id="77" name="node68.surface"/>
            <p:cNvSpPr/>
            <p:nvPr/>
          </p:nvSpPr>
          <p:spPr>
            <a:xfrm>
              <a:off x="5524500" y="2286000"/>
              <a:ext cx="431800" cy="3556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8" name="node68.text"/>
            <p:cNvSpPr/>
            <p:nvPr/>
          </p:nvSpPr>
          <p:spPr>
            <a:xfrm>
              <a:off x="5596467" y="23495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05" name="node69"/>
          <p:cNvGrpSpPr/>
          <p:nvPr/>
        </p:nvGrpSpPr>
        <p:grpSpPr>
          <a:xfrm>
            <a:off x="5981700" y="2032000"/>
            <a:ext cx="457200" cy="152400"/>
            <a:chOff x="5981700" y="2032000"/>
            <a:chExt cx="457200" cy="152400"/>
          </a:xfrm>
        </p:grpSpPr>
        <p:sp>
          <p:nvSpPr>
            <p:cNvPr id="79" name="node69.text"/>
            <p:cNvSpPr/>
            <p:nvPr/>
          </p:nvSpPr>
          <p:spPr>
            <a:xfrm>
              <a:off x="5981700" y="2032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06" name="node70"/>
          <p:cNvGrpSpPr/>
          <p:nvPr/>
        </p:nvGrpSpPr>
        <p:grpSpPr>
          <a:xfrm>
            <a:off x="5981700" y="2286000"/>
            <a:ext cx="431800" cy="355600"/>
            <a:chOff x="5981700" y="2286000"/>
            <a:chExt cx="431800" cy="355600"/>
          </a:xfrm>
        </p:grpSpPr>
        <p:sp>
          <p:nvSpPr>
            <p:cNvPr id="80" name="node70.surface"/>
            <p:cNvSpPr/>
            <p:nvPr/>
          </p:nvSpPr>
          <p:spPr>
            <a:xfrm>
              <a:off x="5981700" y="2286000"/>
              <a:ext cx="431800" cy="3556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1" name="node70.text"/>
            <p:cNvSpPr/>
            <p:nvPr/>
          </p:nvSpPr>
          <p:spPr>
            <a:xfrm>
              <a:off x="6053667" y="23495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07" name="node71"/>
          <p:cNvGrpSpPr/>
          <p:nvPr/>
        </p:nvGrpSpPr>
        <p:grpSpPr>
          <a:xfrm>
            <a:off x="6438900" y="2032000"/>
            <a:ext cx="457200" cy="152400"/>
            <a:chOff x="6438900" y="2032000"/>
            <a:chExt cx="457200" cy="152400"/>
          </a:xfrm>
        </p:grpSpPr>
        <p:sp>
          <p:nvSpPr>
            <p:cNvPr id="82" name="node71.text"/>
            <p:cNvSpPr/>
            <p:nvPr/>
          </p:nvSpPr>
          <p:spPr>
            <a:xfrm>
              <a:off x="6438900" y="20320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08" name="node72"/>
          <p:cNvGrpSpPr/>
          <p:nvPr/>
        </p:nvGrpSpPr>
        <p:grpSpPr>
          <a:xfrm>
            <a:off x="6438900" y="2286000"/>
            <a:ext cx="431800" cy="355600"/>
            <a:chOff x="6438900" y="2286000"/>
            <a:chExt cx="431800" cy="355600"/>
          </a:xfrm>
        </p:grpSpPr>
        <p:sp>
          <p:nvSpPr>
            <p:cNvPr id="83" name="node72.surface"/>
            <p:cNvSpPr/>
            <p:nvPr/>
          </p:nvSpPr>
          <p:spPr>
            <a:xfrm>
              <a:off x="6438900" y="2286000"/>
              <a:ext cx="431800" cy="3556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84" name="node72.text"/>
            <p:cNvSpPr/>
            <p:nvPr/>
          </p:nvSpPr>
          <p:spPr>
            <a:xfrm>
              <a:off x="6510867" y="23495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09" name="node73"/>
          <p:cNvGrpSpPr/>
          <p:nvPr/>
        </p:nvGrpSpPr>
        <p:grpSpPr>
          <a:xfrm>
            <a:off x="7734300" y="1600200"/>
            <a:ext cx="3505200" cy="952500"/>
            <a:chOff x="7734300" y="1600200"/>
            <a:chExt cx="3505200" cy="952500"/>
          </a:xfrm>
        </p:grpSpPr>
        <p:sp>
          <p:nvSpPr>
            <p:cNvPr id="85" name="node73.source-001.bullet"/>
            <p:cNvSpPr/>
            <p:nvPr/>
          </p:nvSpPr>
          <p:spPr>
            <a:xfrm>
              <a:off x="7734300" y="1689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6" name="node73.source-001.text"/>
            <p:cNvSpPr/>
            <p:nvPr/>
          </p:nvSpPr>
          <p:spPr>
            <a:xfrm>
              <a:off x="7886700" y="1600200"/>
              <a:ext cx="3352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Drives it.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Two registration flows across sites; eligibility checked after arrival.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87" name="node73.source-002.bullet"/>
            <p:cNvSpPr/>
            <p:nvPr/>
          </p:nvSpPr>
          <p:spPr>
            <a:xfrm>
              <a:off x="7734300" y="2184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88" name="node73.source-002.text"/>
            <p:cNvSpPr/>
            <p:nvPr/>
          </p:nvSpPr>
          <p:spPr>
            <a:xfrm>
              <a:off x="7886700" y="2095500"/>
              <a:ext cx="3352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We'd do.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Run one eligibility check at booking; train front desks on a single script.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0" name="node74"/>
          <p:cNvGrpSpPr/>
          <p:nvPr/>
        </p:nvGrpSpPr>
        <p:grpSpPr>
          <a:xfrm>
            <a:off x="4610100" y="2971800"/>
            <a:ext cx="609600" cy="381000"/>
            <a:chOff x="4610100" y="2971800"/>
            <a:chExt cx="609600" cy="381000"/>
          </a:xfrm>
        </p:grpSpPr>
        <p:sp>
          <p:nvSpPr>
            <p:cNvPr id="89" name="node74.surface"/>
            <p:cNvSpPr/>
            <p:nvPr/>
          </p:nvSpPr>
          <p:spPr>
            <a:xfrm>
              <a:off x="4610100" y="2971800"/>
              <a:ext cx="609600" cy="3810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90" name="node74.text"/>
            <p:cNvSpPr/>
            <p:nvPr/>
          </p:nvSpPr>
          <p:spPr>
            <a:xfrm>
              <a:off x="4762500" y="3028950"/>
              <a:ext cx="3048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A2</a:t>
              </a:r>
              <a:endParaRPr lang="en-US" sz="14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1" name="node75"/>
          <p:cNvGrpSpPr/>
          <p:nvPr/>
        </p:nvGrpSpPr>
        <p:grpSpPr>
          <a:xfrm>
            <a:off x="5295900" y="2984500"/>
            <a:ext cx="2362200" cy="304800"/>
            <a:chOff x="5295900" y="2984500"/>
            <a:chExt cx="2362200" cy="304800"/>
          </a:xfrm>
        </p:grpSpPr>
        <p:sp>
          <p:nvSpPr>
            <p:cNvPr id="91" name="node75.text"/>
            <p:cNvSpPr/>
            <p:nvPr/>
          </p:nvSpPr>
          <p:spPr>
            <a:xfrm>
              <a:off x="5295900" y="2984500"/>
              <a:ext cx="2362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Scheduling</a:t>
              </a:r>
              <a:endParaRPr lang="en-US" sz="1800" spc="-18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212" name="node76"/>
          <p:cNvGrpSpPr/>
          <p:nvPr/>
        </p:nvGrpSpPr>
        <p:grpSpPr>
          <a:xfrm>
            <a:off x="4610100" y="3403600"/>
            <a:ext cx="457200" cy="152400"/>
            <a:chOff x="4610100" y="3403600"/>
            <a:chExt cx="457200" cy="152400"/>
          </a:xfrm>
        </p:grpSpPr>
        <p:sp>
          <p:nvSpPr>
            <p:cNvPr id="92" name="node76.text"/>
            <p:cNvSpPr/>
            <p:nvPr/>
          </p:nvSpPr>
          <p:spPr>
            <a:xfrm>
              <a:off x="4610100" y="3403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3" name="node77"/>
          <p:cNvGrpSpPr/>
          <p:nvPr/>
        </p:nvGrpSpPr>
        <p:grpSpPr>
          <a:xfrm>
            <a:off x="4610100" y="3657600"/>
            <a:ext cx="431800" cy="355600"/>
            <a:chOff x="4610100" y="3657600"/>
            <a:chExt cx="431800" cy="355600"/>
          </a:xfrm>
        </p:grpSpPr>
        <p:sp>
          <p:nvSpPr>
            <p:cNvPr id="93" name="node77.surface"/>
            <p:cNvSpPr/>
            <p:nvPr/>
          </p:nvSpPr>
          <p:spPr>
            <a:xfrm>
              <a:off x="4610100" y="3657600"/>
              <a:ext cx="431800" cy="3556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4" name="node77.text"/>
            <p:cNvSpPr/>
            <p:nvPr/>
          </p:nvSpPr>
          <p:spPr>
            <a:xfrm>
              <a:off x="4682067" y="37211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4" name="node78"/>
          <p:cNvGrpSpPr/>
          <p:nvPr/>
        </p:nvGrpSpPr>
        <p:grpSpPr>
          <a:xfrm>
            <a:off x="5067300" y="3403600"/>
            <a:ext cx="457200" cy="152400"/>
            <a:chOff x="5067300" y="3403600"/>
            <a:chExt cx="457200" cy="152400"/>
          </a:xfrm>
        </p:grpSpPr>
        <p:sp>
          <p:nvSpPr>
            <p:cNvPr id="95" name="node78.text"/>
            <p:cNvSpPr/>
            <p:nvPr/>
          </p:nvSpPr>
          <p:spPr>
            <a:xfrm>
              <a:off x="5067300" y="3403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5" name="node79"/>
          <p:cNvGrpSpPr/>
          <p:nvPr/>
        </p:nvGrpSpPr>
        <p:grpSpPr>
          <a:xfrm>
            <a:off x="5067300" y="3657600"/>
            <a:ext cx="431800" cy="355600"/>
            <a:chOff x="5067300" y="3657600"/>
            <a:chExt cx="431800" cy="355600"/>
          </a:xfrm>
        </p:grpSpPr>
        <p:sp>
          <p:nvSpPr>
            <p:cNvPr id="96" name="node79.surface"/>
            <p:cNvSpPr/>
            <p:nvPr/>
          </p:nvSpPr>
          <p:spPr>
            <a:xfrm>
              <a:off x="5067300" y="3657600"/>
              <a:ext cx="431800" cy="3556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7" name="node79.text"/>
            <p:cNvSpPr/>
            <p:nvPr/>
          </p:nvSpPr>
          <p:spPr>
            <a:xfrm>
              <a:off x="5139267" y="37211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6" name="node80"/>
          <p:cNvGrpSpPr/>
          <p:nvPr/>
        </p:nvGrpSpPr>
        <p:grpSpPr>
          <a:xfrm>
            <a:off x="5524500" y="3403600"/>
            <a:ext cx="457200" cy="152400"/>
            <a:chOff x="5524500" y="3403600"/>
            <a:chExt cx="457200" cy="152400"/>
          </a:xfrm>
        </p:grpSpPr>
        <p:sp>
          <p:nvSpPr>
            <p:cNvPr id="98" name="node80.text"/>
            <p:cNvSpPr/>
            <p:nvPr/>
          </p:nvSpPr>
          <p:spPr>
            <a:xfrm>
              <a:off x="5524500" y="3403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7" name="node81"/>
          <p:cNvGrpSpPr/>
          <p:nvPr/>
        </p:nvGrpSpPr>
        <p:grpSpPr>
          <a:xfrm>
            <a:off x="5524500" y="3657600"/>
            <a:ext cx="431800" cy="355600"/>
            <a:chOff x="5524500" y="3657600"/>
            <a:chExt cx="431800" cy="355600"/>
          </a:xfrm>
        </p:grpSpPr>
        <p:sp>
          <p:nvSpPr>
            <p:cNvPr id="99" name="node81.surface"/>
            <p:cNvSpPr/>
            <p:nvPr/>
          </p:nvSpPr>
          <p:spPr>
            <a:xfrm>
              <a:off x="5524500" y="3657600"/>
              <a:ext cx="431800" cy="3556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0" name="node81.text"/>
            <p:cNvSpPr/>
            <p:nvPr/>
          </p:nvSpPr>
          <p:spPr>
            <a:xfrm>
              <a:off x="5596467" y="37211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18" name="node82"/>
          <p:cNvGrpSpPr/>
          <p:nvPr/>
        </p:nvGrpSpPr>
        <p:grpSpPr>
          <a:xfrm>
            <a:off x="5981700" y="3403600"/>
            <a:ext cx="457200" cy="152400"/>
            <a:chOff x="5981700" y="3403600"/>
            <a:chExt cx="457200" cy="152400"/>
          </a:xfrm>
        </p:grpSpPr>
        <p:sp>
          <p:nvSpPr>
            <p:cNvPr id="101" name="node82.text"/>
            <p:cNvSpPr/>
            <p:nvPr/>
          </p:nvSpPr>
          <p:spPr>
            <a:xfrm>
              <a:off x="5981700" y="3403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19" name="node83"/>
          <p:cNvGrpSpPr/>
          <p:nvPr/>
        </p:nvGrpSpPr>
        <p:grpSpPr>
          <a:xfrm>
            <a:off x="5981700" y="3657600"/>
            <a:ext cx="431800" cy="355600"/>
            <a:chOff x="5981700" y="3657600"/>
            <a:chExt cx="431800" cy="355600"/>
          </a:xfrm>
        </p:grpSpPr>
        <p:sp>
          <p:nvSpPr>
            <p:cNvPr id="102" name="node83.surface"/>
            <p:cNvSpPr/>
            <p:nvPr/>
          </p:nvSpPr>
          <p:spPr>
            <a:xfrm>
              <a:off x="5981700" y="3657600"/>
              <a:ext cx="431800" cy="3556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3" name="node83.text"/>
            <p:cNvSpPr/>
            <p:nvPr/>
          </p:nvSpPr>
          <p:spPr>
            <a:xfrm>
              <a:off x="6053667" y="37211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0" name="node84"/>
          <p:cNvGrpSpPr/>
          <p:nvPr/>
        </p:nvGrpSpPr>
        <p:grpSpPr>
          <a:xfrm>
            <a:off x="6438900" y="3403600"/>
            <a:ext cx="457200" cy="152400"/>
            <a:chOff x="6438900" y="3403600"/>
            <a:chExt cx="457200" cy="152400"/>
          </a:xfrm>
        </p:grpSpPr>
        <p:sp>
          <p:nvSpPr>
            <p:cNvPr id="104" name="node84.text"/>
            <p:cNvSpPr/>
            <p:nvPr/>
          </p:nvSpPr>
          <p:spPr>
            <a:xfrm>
              <a:off x="6438900" y="34036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21" name="node85"/>
          <p:cNvGrpSpPr/>
          <p:nvPr/>
        </p:nvGrpSpPr>
        <p:grpSpPr>
          <a:xfrm>
            <a:off x="6438900" y="3657600"/>
            <a:ext cx="431800" cy="355600"/>
            <a:chOff x="6438900" y="3657600"/>
            <a:chExt cx="431800" cy="355600"/>
          </a:xfrm>
        </p:grpSpPr>
        <p:sp>
          <p:nvSpPr>
            <p:cNvPr id="105" name="node85.surface"/>
            <p:cNvSpPr/>
            <p:nvPr/>
          </p:nvSpPr>
          <p:spPr>
            <a:xfrm>
              <a:off x="6438900" y="3657600"/>
              <a:ext cx="431800" cy="3556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6" name="node85.text"/>
            <p:cNvSpPr/>
            <p:nvPr/>
          </p:nvSpPr>
          <p:spPr>
            <a:xfrm>
              <a:off x="6510867" y="37211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2" name="node86"/>
          <p:cNvGrpSpPr/>
          <p:nvPr/>
        </p:nvGrpSpPr>
        <p:grpSpPr>
          <a:xfrm>
            <a:off x="7734300" y="2971800"/>
            <a:ext cx="3505200" cy="952500"/>
            <a:chOff x="7734300" y="2971800"/>
            <a:chExt cx="3505200" cy="952500"/>
          </a:xfrm>
        </p:grpSpPr>
        <p:sp>
          <p:nvSpPr>
            <p:cNvPr id="107" name="node86.source-001.bullet"/>
            <p:cNvSpPr/>
            <p:nvPr/>
          </p:nvSpPr>
          <p:spPr>
            <a:xfrm>
              <a:off x="7734300" y="30607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08" name="node86.source-001.text"/>
            <p:cNvSpPr/>
            <p:nvPr/>
          </p:nvSpPr>
          <p:spPr>
            <a:xfrm>
              <a:off x="7886700" y="2971800"/>
              <a:ext cx="3352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Drives it.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Self-scheduling live at three sites; visit-type rules differ by clinic.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09" name="node86.source-002.bullet"/>
            <p:cNvSpPr/>
            <p:nvPr/>
          </p:nvSpPr>
          <p:spPr>
            <a:xfrm>
              <a:off x="7734300" y="35560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10" name="node86.source-002.text"/>
            <p:cNvSpPr/>
            <p:nvPr/>
          </p:nvSpPr>
          <p:spPr>
            <a:xfrm>
              <a:off x="7886700" y="3467100"/>
              <a:ext cx="3352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We'd do.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Standardize visit-type rules; automate the waitlist.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3" name="node87"/>
          <p:cNvGrpSpPr/>
          <p:nvPr/>
        </p:nvGrpSpPr>
        <p:grpSpPr>
          <a:xfrm>
            <a:off x="4610100" y="4343400"/>
            <a:ext cx="609600" cy="381000"/>
            <a:chOff x="4610100" y="4343400"/>
            <a:chExt cx="609600" cy="381000"/>
          </a:xfrm>
        </p:grpSpPr>
        <p:sp>
          <p:nvSpPr>
            <p:cNvPr id="111" name="node87.surface"/>
            <p:cNvSpPr/>
            <p:nvPr/>
          </p:nvSpPr>
          <p:spPr>
            <a:xfrm>
              <a:off x="4610100" y="4343400"/>
              <a:ext cx="609600" cy="3810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112" name="node87.text"/>
            <p:cNvSpPr/>
            <p:nvPr/>
          </p:nvSpPr>
          <p:spPr>
            <a:xfrm>
              <a:off x="4762500" y="4400550"/>
              <a:ext cx="3048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A3</a:t>
              </a:r>
              <a:endParaRPr lang="en-US" sz="1400" spc="0" kern="0" b="0" i="0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4" name="node88"/>
          <p:cNvGrpSpPr/>
          <p:nvPr/>
        </p:nvGrpSpPr>
        <p:grpSpPr>
          <a:xfrm>
            <a:off x="5295900" y="4356100"/>
            <a:ext cx="2362200" cy="304800"/>
            <a:chOff x="5295900" y="4356100"/>
            <a:chExt cx="2362200" cy="304800"/>
          </a:xfrm>
        </p:grpSpPr>
        <p:sp>
          <p:nvSpPr>
            <p:cNvPr id="113" name="node88.text"/>
            <p:cNvSpPr/>
            <p:nvPr/>
          </p:nvSpPr>
          <p:spPr>
            <a:xfrm>
              <a:off x="5295900" y="4356100"/>
              <a:ext cx="2362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400"/>
                </a:lnSpc>
                <a:buNone/>
              </a:pPr>
              <a:r>
                <a:rPr lang="en-US" sz="1800" spc="-18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>Referral management</a:t>
              </a:r>
              <a:endParaRPr lang="en-US" sz="1800" spc="-18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endParaRPr>
            </a:p>
          </p:txBody>
        </p:sp>
      </p:grpSp>
      <p:grpSp>
        <p:nvGrpSpPr>
          <p:cNvPr id="225" name="node89"/>
          <p:cNvGrpSpPr/>
          <p:nvPr/>
        </p:nvGrpSpPr>
        <p:grpSpPr>
          <a:xfrm>
            <a:off x="4610100" y="4775200"/>
            <a:ext cx="457200" cy="152400"/>
            <a:chOff x="4610100" y="4775200"/>
            <a:chExt cx="457200" cy="152400"/>
          </a:xfrm>
        </p:grpSpPr>
        <p:sp>
          <p:nvSpPr>
            <p:cNvPr id="114" name="node89.text"/>
            <p:cNvSpPr/>
            <p:nvPr/>
          </p:nvSpPr>
          <p:spPr>
            <a:xfrm>
              <a:off x="46101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PRO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26" name="node90"/>
          <p:cNvGrpSpPr/>
          <p:nvPr/>
        </p:nvGrpSpPr>
        <p:grpSpPr>
          <a:xfrm>
            <a:off x="4610100" y="5029200"/>
            <a:ext cx="431800" cy="355600"/>
            <a:chOff x="4610100" y="5029200"/>
            <a:chExt cx="431800" cy="355600"/>
          </a:xfrm>
        </p:grpSpPr>
        <p:sp>
          <p:nvSpPr>
            <p:cNvPr id="115" name="node90.surface"/>
            <p:cNvSpPr/>
            <p:nvPr/>
          </p:nvSpPr>
          <p:spPr>
            <a:xfrm>
              <a:off x="4610100" y="5029200"/>
              <a:ext cx="431800" cy="3556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6" name="node90.text"/>
            <p:cNvSpPr/>
            <p:nvPr/>
          </p:nvSpPr>
          <p:spPr>
            <a:xfrm>
              <a:off x="4682067" y="50927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7" name="node91"/>
          <p:cNvGrpSpPr/>
          <p:nvPr/>
        </p:nvGrpSpPr>
        <p:grpSpPr>
          <a:xfrm>
            <a:off x="5067300" y="4775200"/>
            <a:ext cx="457200" cy="152400"/>
            <a:chOff x="5067300" y="4775200"/>
            <a:chExt cx="457200" cy="152400"/>
          </a:xfrm>
        </p:grpSpPr>
        <p:sp>
          <p:nvSpPr>
            <p:cNvPr id="117" name="node91.text"/>
            <p:cNvSpPr/>
            <p:nvPr/>
          </p:nvSpPr>
          <p:spPr>
            <a:xfrm>
              <a:off x="50673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TEC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28" name="node92"/>
          <p:cNvGrpSpPr/>
          <p:nvPr/>
        </p:nvGrpSpPr>
        <p:grpSpPr>
          <a:xfrm>
            <a:off x="5067300" y="5029200"/>
            <a:ext cx="431800" cy="355600"/>
            <a:chOff x="5067300" y="5029200"/>
            <a:chExt cx="431800" cy="355600"/>
          </a:xfrm>
        </p:grpSpPr>
        <p:sp>
          <p:nvSpPr>
            <p:cNvPr id="118" name="node92.surface"/>
            <p:cNvSpPr/>
            <p:nvPr/>
          </p:nvSpPr>
          <p:spPr>
            <a:xfrm>
              <a:off x="5067300" y="5029200"/>
              <a:ext cx="431800" cy="3556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19" name="node92.text"/>
            <p:cNvSpPr/>
            <p:nvPr/>
          </p:nvSpPr>
          <p:spPr>
            <a:xfrm>
              <a:off x="5139267" y="50927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29" name="node93"/>
          <p:cNvGrpSpPr/>
          <p:nvPr/>
        </p:nvGrpSpPr>
        <p:grpSpPr>
          <a:xfrm>
            <a:off x="5524500" y="4775200"/>
            <a:ext cx="457200" cy="152400"/>
            <a:chOff x="5524500" y="4775200"/>
            <a:chExt cx="457200" cy="152400"/>
          </a:xfrm>
        </p:grpSpPr>
        <p:sp>
          <p:nvSpPr>
            <p:cNvPr id="120" name="node93.text"/>
            <p:cNvSpPr/>
            <p:nvPr/>
          </p:nvSpPr>
          <p:spPr>
            <a:xfrm>
              <a:off x="55245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DAT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30" name="node94"/>
          <p:cNvGrpSpPr/>
          <p:nvPr/>
        </p:nvGrpSpPr>
        <p:grpSpPr>
          <a:xfrm>
            <a:off x="5524500" y="5029200"/>
            <a:ext cx="431800" cy="355600"/>
            <a:chOff x="5524500" y="5029200"/>
            <a:chExt cx="431800" cy="355600"/>
          </a:xfrm>
        </p:grpSpPr>
        <p:sp>
          <p:nvSpPr>
            <p:cNvPr id="121" name="node94.surface"/>
            <p:cNvSpPr/>
            <p:nvPr/>
          </p:nvSpPr>
          <p:spPr>
            <a:xfrm>
              <a:off x="5524500" y="5029200"/>
              <a:ext cx="431800" cy="3556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22" name="node94.text"/>
            <p:cNvSpPr/>
            <p:nvPr/>
          </p:nvSpPr>
          <p:spPr>
            <a:xfrm>
              <a:off x="5596467" y="50927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1" name="node95"/>
          <p:cNvGrpSpPr/>
          <p:nvPr/>
        </p:nvGrpSpPr>
        <p:grpSpPr>
          <a:xfrm>
            <a:off x="5981700" y="4775200"/>
            <a:ext cx="457200" cy="152400"/>
            <a:chOff x="5981700" y="4775200"/>
            <a:chExt cx="457200" cy="152400"/>
          </a:xfrm>
        </p:grpSpPr>
        <p:sp>
          <p:nvSpPr>
            <p:cNvPr id="123" name="node95.text"/>
            <p:cNvSpPr/>
            <p:nvPr/>
          </p:nvSpPr>
          <p:spPr>
            <a:xfrm>
              <a:off x="59817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PPL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32" name="node96"/>
          <p:cNvGrpSpPr/>
          <p:nvPr/>
        </p:nvGrpSpPr>
        <p:grpSpPr>
          <a:xfrm>
            <a:off x="5981700" y="5029200"/>
            <a:ext cx="431800" cy="355600"/>
            <a:chOff x="5981700" y="5029200"/>
            <a:chExt cx="431800" cy="355600"/>
          </a:xfrm>
        </p:grpSpPr>
        <p:sp>
          <p:nvSpPr>
            <p:cNvPr id="124" name="node96.surface"/>
            <p:cNvSpPr/>
            <p:nvPr/>
          </p:nvSpPr>
          <p:spPr>
            <a:xfrm>
              <a:off x="5981700" y="5029200"/>
              <a:ext cx="431800" cy="3556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25" name="node96.text"/>
            <p:cNvSpPr/>
            <p:nvPr/>
          </p:nvSpPr>
          <p:spPr>
            <a:xfrm>
              <a:off x="6053667" y="50927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3" name="node97"/>
          <p:cNvGrpSpPr/>
          <p:nvPr/>
        </p:nvGrpSpPr>
        <p:grpSpPr>
          <a:xfrm>
            <a:off x="6438900" y="4775200"/>
            <a:ext cx="457200" cy="152400"/>
            <a:chOff x="6438900" y="4775200"/>
            <a:chExt cx="457200" cy="152400"/>
          </a:xfrm>
        </p:grpSpPr>
        <p:sp>
          <p:nvSpPr>
            <p:cNvPr id="126" name="node97.text"/>
            <p:cNvSpPr/>
            <p:nvPr/>
          </p:nvSpPr>
          <p:spPr>
            <a:xfrm>
              <a:off x="6438900" y="4775200"/>
              <a:ext cx="4572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GOV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234" name="node98"/>
          <p:cNvGrpSpPr/>
          <p:nvPr/>
        </p:nvGrpSpPr>
        <p:grpSpPr>
          <a:xfrm>
            <a:off x="6438900" y="5029200"/>
            <a:ext cx="431800" cy="355600"/>
            <a:chOff x="6438900" y="5029200"/>
            <a:chExt cx="431800" cy="355600"/>
          </a:xfrm>
        </p:grpSpPr>
        <p:sp>
          <p:nvSpPr>
            <p:cNvPr id="127" name="node98.surface"/>
            <p:cNvSpPr/>
            <p:nvPr/>
          </p:nvSpPr>
          <p:spPr>
            <a:xfrm>
              <a:off x="6438900" y="5029200"/>
              <a:ext cx="431800" cy="3556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28" name="node98.text"/>
            <p:cNvSpPr/>
            <p:nvPr/>
          </p:nvSpPr>
          <p:spPr>
            <a:xfrm>
              <a:off x="6510867" y="5092700"/>
              <a:ext cx="28786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5" name="node99"/>
          <p:cNvGrpSpPr/>
          <p:nvPr/>
        </p:nvGrpSpPr>
        <p:grpSpPr>
          <a:xfrm>
            <a:off x="7734300" y="4343400"/>
            <a:ext cx="3505200" cy="952500"/>
            <a:chOff x="7734300" y="4343400"/>
            <a:chExt cx="3505200" cy="952500"/>
          </a:xfrm>
        </p:grpSpPr>
        <p:sp>
          <p:nvSpPr>
            <p:cNvPr id="129" name="node99.source-001.bullet"/>
            <p:cNvSpPr/>
            <p:nvPr/>
          </p:nvSpPr>
          <p:spPr>
            <a:xfrm>
              <a:off x="7734300" y="44323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0" name="node99.source-001.text"/>
            <p:cNvSpPr/>
            <p:nvPr/>
          </p:nvSpPr>
          <p:spPr>
            <a:xfrm>
              <a:off x="7886700" y="4343400"/>
              <a:ext cx="3352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Drives it.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Referrals arrive by fax and portal; no shared status view.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1" name="node99.source-002.bullet"/>
            <p:cNvSpPr/>
            <p:nvPr/>
          </p:nvSpPr>
          <p:spPr>
            <a:xfrm>
              <a:off x="7734300" y="49276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2" name="node99.source-002.text"/>
            <p:cNvSpPr/>
            <p:nvPr/>
          </p:nvSpPr>
          <p:spPr>
            <a:xfrm>
              <a:off x="7886700" y="4838700"/>
              <a:ext cx="3352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We'd do.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Stand up one referral queue; track leakage by specialty.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236" name="node100"/>
          <p:cNvGrpSpPr/>
          <p:nvPr/>
        </p:nvGrpSpPr>
        <p:grpSpPr>
          <a:xfrm>
            <a:off x="723900" y="5486400"/>
            <a:ext cx="2349500" cy="228600"/>
            <a:chOff x="723900" y="5486400"/>
            <a:chExt cx="2349500" cy="228600"/>
          </a:xfrm>
        </p:grpSpPr>
        <p:sp>
          <p:nvSpPr>
            <p:cNvPr id="133" name="node100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34" name="node100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5" name="node100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6" name="node100.items.slot-002.text"/>
            <p:cNvSpPr/>
            <p:nvPr/>
          </p:nvSpPr>
          <p:spPr>
            <a:xfrm>
              <a:off x="2189163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Revenue cycle is the group to look at first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15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61" name="node01"/>
          <p:cNvGrpSpPr/>
          <p:nvPr/>
        </p:nvGrpSpPr>
        <p:grpSpPr>
          <a:xfrm>
            <a:off x="723900" y="1600200"/>
            <a:ext cx="7543800" cy="3784600"/>
            <a:chOff x="723900" y="1600200"/>
            <a:chExt cx="7543800" cy="37846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3238500" y="1955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3257550" y="1974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4076700" y="1955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4095750" y="1974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4914900" y="1955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4933950" y="1974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5753100" y="1955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5772150" y="1974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6591300" y="1955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6610350" y="1974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7" name="node01.row.item-001.ov.heat-gap"/>
            <p:cNvSpPr/>
            <p:nvPr/>
          </p:nvSpPr>
          <p:spPr>
            <a:xfrm>
              <a:off x="7429500" y="1955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1.ov.heat"/>
            <p:cNvSpPr/>
            <p:nvPr/>
          </p:nvSpPr>
          <p:spPr>
            <a:xfrm>
              <a:off x="7448550" y="1974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h0.heat-gap"/>
            <p:cNvSpPr/>
            <p:nvPr/>
          </p:nvSpPr>
          <p:spPr>
            <a:xfrm>
              <a:off x="3238500" y="2336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0.heat"/>
            <p:cNvSpPr/>
            <p:nvPr/>
          </p:nvSpPr>
          <p:spPr>
            <a:xfrm>
              <a:off x="3257550" y="2355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1" name="node01.row.item-002.h1.heat-gap"/>
            <p:cNvSpPr/>
            <p:nvPr/>
          </p:nvSpPr>
          <p:spPr>
            <a:xfrm>
              <a:off x="4076700" y="2336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1.heat"/>
            <p:cNvSpPr/>
            <p:nvPr/>
          </p:nvSpPr>
          <p:spPr>
            <a:xfrm>
              <a:off x="4095750" y="2355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3" name="node01.row.item-002.h2.heat-gap"/>
            <p:cNvSpPr/>
            <p:nvPr/>
          </p:nvSpPr>
          <p:spPr>
            <a:xfrm>
              <a:off x="4914900" y="2336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2.heat"/>
            <p:cNvSpPr/>
            <p:nvPr/>
          </p:nvSpPr>
          <p:spPr>
            <a:xfrm>
              <a:off x="4933950" y="2355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5" name="node01.row.item-002.h3.heat-gap"/>
            <p:cNvSpPr/>
            <p:nvPr/>
          </p:nvSpPr>
          <p:spPr>
            <a:xfrm>
              <a:off x="5753100" y="2336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3.heat"/>
            <p:cNvSpPr/>
            <p:nvPr/>
          </p:nvSpPr>
          <p:spPr>
            <a:xfrm>
              <a:off x="5772150" y="2355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7" name="node01.row.item-002.h4.heat-gap"/>
            <p:cNvSpPr/>
            <p:nvPr/>
          </p:nvSpPr>
          <p:spPr>
            <a:xfrm>
              <a:off x="6591300" y="2336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2.h4.heat"/>
            <p:cNvSpPr/>
            <p:nvPr/>
          </p:nvSpPr>
          <p:spPr>
            <a:xfrm>
              <a:off x="6610350" y="2355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9" name="node01.row.item-002.ov.heat-gap"/>
            <p:cNvSpPr/>
            <p:nvPr/>
          </p:nvSpPr>
          <p:spPr>
            <a:xfrm>
              <a:off x="7429500" y="2336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2.ov.heat"/>
            <p:cNvSpPr/>
            <p:nvPr/>
          </p:nvSpPr>
          <p:spPr>
            <a:xfrm>
              <a:off x="7448550" y="2355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1" name="node01.row.item-003.h0.heat-gap"/>
            <p:cNvSpPr/>
            <p:nvPr/>
          </p:nvSpPr>
          <p:spPr>
            <a:xfrm>
              <a:off x="3238500" y="2717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0.heat"/>
            <p:cNvSpPr/>
            <p:nvPr/>
          </p:nvSpPr>
          <p:spPr>
            <a:xfrm>
              <a:off x="3257550" y="2736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3" name="node01.row.item-003.h1.heat-gap"/>
            <p:cNvSpPr/>
            <p:nvPr/>
          </p:nvSpPr>
          <p:spPr>
            <a:xfrm>
              <a:off x="4076700" y="2717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1.heat"/>
            <p:cNvSpPr/>
            <p:nvPr/>
          </p:nvSpPr>
          <p:spPr>
            <a:xfrm>
              <a:off x="4095750" y="2736850"/>
              <a:ext cx="8001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5" name="node01.row.item-003.h2.heat-gap"/>
            <p:cNvSpPr/>
            <p:nvPr/>
          </p:nvSpPr>
          <p:spPr>
            <a:xfrm>
              <a:off x="4914900" y="2717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2.heat"/>
            <p:cNvSpPr/>
            <p:nvPr/>
          </p:nvSpPr>
          <p:spPr>
            <a:xfrm>
              <a:off x="4933950" y="2736850"/>
              <a:ext cx="8001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7" name="node01.row.item-003.h3.heat-gap"/>
            <p:cNvSpPr/>
            <p:nvPr/>
          </p:nvSpPr>
          <p:spPr>
            <a:xfrm>
              <a:off x="5753100" y="2717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3.h3.heat"/>
            <p:cNvSpPr/>
            <p:nvPr/>
          </p:nvSpPr>
          <p:spPr>
            <a:xfrm>
              <a:off x="5772150" y="2736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9" name="node01.row.item-003.h4.heat-gap"/>
            <p:cNvSpPr/>
            <p:nvPr/>
          </p:nvSpPr>
          <p:spPr>
            <a:xfrm>
              <a:off x="6591300" y="2717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3.h4.heat"/>
            <p:cNvSpPr/>
            <p:nvPr/>
          </p:nvSpPr>
          <p:spPr>
            <a:xfrm>
              <a:off x="6610350" y="2736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1" name="node01.row.item-003.ov.heat-gap"/>
            <p:cNvSpPr/>
            <p:nvPr/>
          </p:nvSpPr>
          <p:spPr>
            <a:xfrm>
              <a:off x="7429500" y="2717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3.ov.heat"/>
            <p:cNvSpPr/>
            <p:nvPr/>
          </p:nvSpPr>
          <p:spPr>
            <a:xfrm>
              <a:off x="7448550" y="2736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3" name="node01.row.item-004.h0.heat-gap"/>
            <p:cNvSpPr/>
            <p:nvPr/>
          </p:nvSpPr>
          <p:spPr>
            <a:xfrm>
              <a:off x="3238500" y="3098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0.heat"/>
            <p:cNvSpPr/>
            <p:nvPr/>
          </p:nvSpPr>
          <p:spPr>
            <a:xfrm>
              <a:off x="3257550" y="3117850"/>
              <a:ext cx="8001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5" name="node01.row.item-004.h1.heat-gap"/>
            <p:cNvSpPr/>
            <p:nvPr/>
          </p:nvSpPr>
          <p:spPr>
            <a:xfrm>
              <a:off x="4076700" y="3098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1.heat"/>
            <p:cNvSpPr/>
            <p:nvPr/>
          </p:nvSpPr>
          <p:spPr>
            <a:xfrm>
              <a:off x="4095750" y="3117850"/>
              <a:ext cx="800100" cy="342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47" name="node01.row.item-004.h2.heat-gap"/>
            <p:cNvSpPr/>
            <p:nvPr/>
          </p:nvSpPr>
          <p:spPr>
            <a:xfrm>
              <a:off x="4914900" y="3098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4.h2.heat"/>
            <p:cNvSpPr/>
            <p:nvPr/>
          </p:nvSpPr>
          <p:spPr>
            <a:xfrm>
              <a:off x="4933950" y="3117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9" name="node01.row.item-004.h3.heat-gap"/>
            <p:cNvSpPr/>
            <p:nvPr/>
          </p:nvSpPr>
          <p:spPr>
            <a:xfrm>
              <a:off x="5753100" y="3098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4.h3.heat"/>
            <p:cNvSpPr/>
            <p:nvPr/>
          </p:nvSpPr>
          <p:spPr>
            <a:xfrm>
              <a:off x="5772150" y="3117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1" name="node01.row.item-004.h4.heat-gap"/>
            <p:cNvSpPr/>
            <p:nvPr/>
          </p:nvSpPr>
          <p:spPr>
            <a:xfrm>
              <a:off x="6591300" y="3098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4.h4.heat"/>
            <p:cNvSpPr/>
            <p:nvPr/>
          </p:nvSpPr>
          <p:spPr>
            <a:xfrm>
              <a:off x="6610350" y="3117850"/>
              <a:ext cx="8001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3" name="node01.row.item-004.ov.heat-gap"/>
            <p:cNvSpPr/>
            <p:nvPr/>
          </p:nvSpPr>
          <p:spPr>
            <a:xfrm>
              <a:off x="7429500" y="3098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4.ov.heat"/>
            <p:cNvSpPr/>
            <p:nvPr/>
          </p:nvSpPr>
          <p:spPr>
            <a:xfrm>
              <a:off x="7448550" y="3117850"/>
              <a:ext cx="8001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5" name="node01.row.item-005.h0.heat-gap"/>
            <p:cNvSpPr/>
            <p:nvPr/>
          </p:nvSpPr>
          <p:spPr>
            <a:xfrm>
              <a:off x="3238500" y="3479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h0.heat"/>
            <p:cNvSpPr/>
            <p:nvPr/>
          </p:nvSpPr>
          <p:spPr>
            <a:xfrm>
              <a:off x="3257550" y="3498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7" name="node01.row.item-005.h1.heat-gap"/>
            <p:cNvSpPr/>
            <p:nvPr/>
          </p:nvSpPr>
          <p:spPr>
            <a:xfrm>
              <a:off x="4076700" y="3479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5.h1.heat"/>
            <p:cNvSpPr/>
            <p:nvPr/>
          </p:nvSpPr>
          <p:spPr>
            <a:xfrm>
              <a:off x="4095750" y="3498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9" name="node01.row.item-005.h2.heat-gap"/>
            <p:cNvSpPr/>
            <p:nvPr/>
          </p:nvSpPr>
          <p:spPr>
            <a:xfrm>
              <a:off x="4914900" y="3479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5.h2.heat"/>
            <p:cNvSpPr/>
            <p:nvPr/>
          </p:nvSpPr>
          <p:spPr>
            <a:xfrm>
              <a:off x="4933950" y="3498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1" name="node01.row.item-005.h3.heat-gap"/>
            <p:cNvSpPr/>
            <p:nvPr/>
          </p:nvSpPr>
          <p:spPr>
            <a:xfrm>
              <a:off x="5753100" y="3479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5.h3.heat"/>
            <p:cNvSpPr/>
            <p:nvPr/>
          </p:nvSpPr>
          <p:spPr>
            <a:xfrm>
              <a:off x="5772150" y="3498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3" name="node01.row.item-005.h4.heat-gap"/>
            <p:cNvSpPr/>
            <p:nvPr/>
          </p:nvSpPr>
          <p:spPr>
            <a:xfrm>
              <a:off x="6591300" y="3479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5.h4.heat"/>
            <p:cNvSpPr/>
            <p:nvPr/>
          </p:nvSpPr>
          <p:spPr>
            <a:xfrm>
              <a:off x="6610350" y="3498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5" name="node01.row.item-005.ov.heat-gap"/>
            <p:cNvSpPr/>
            <p:nvPr/>
          </p:nvSpPr>
          <p:spPr>
            <a:xfrm>
              <a:off x="7429500" y="3479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5.ov.heat"/>
            <p:cNvSpPr/>
            <p:nvPr/>
          </p:nvSpPr>
          <p:spPr>
            <a:xfrm>
              <a:off x="7448550" y="3498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7" name="node01.row.item-006.h0.heat-gap"/>
            <p:cNvSpPr/>
            <p:nvPr/>
          </p:nvSpPr>
          <p:spPr>
            <a:xfrm>
              <a:off x="3238500" y="3860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node01.row.item-006.h0.heat"/>
            <p:cNvSpPr/>
            <p:nvPr/>
          </p:nvSpPr>
          <p:spPr>
            <a:xfrm>
              <a:off x="3257550" y="3879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9" name="node01.row.item-006.h1.heat-gap"/>
            <p:cNvSpPr/>
            <p:nvPr/>
          </p:nvSpPr>
          <p:spPr>
            <a:xfrm>
              <a:off x="4076700" y="3860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node01.row.item-006.h1.heat"/>
            <p:cNvSpPr/>
            <p:nvPr/>
          </p:nvSpPr>
          <p:spPr>
            <a:xfrm>
              <a:off x="4095750" y="3879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1" name="node01.row.item-006.h2.heat-gap"/>
            <p:cNvSpPr/>
            <p:nvPr/>
          </p:nvSpPr>
          <p:spPr>
            <a:xfrm>
              <a:off x="4914900" y="3860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node01.row.item-006.h2.heat"/>
            <p:cNvSpPr/>
            <p:nvPr/>
          </p:nvSpPr>
          <p:spPr>
            <a:xfrm>
              <a:off x="4933950" y="3879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3" name="node01.row.item-006.h3.heat-gap"/>
            <p:cNvSpPr/>
            <p:nvPr/>
          </p:nvSpPr>
          <p:spPr>
            <a:xfrm>
              <a:off x="5753100" y="3860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node01.row.item-006.h3.heat"/>
            <p:cNvSpPr/>
            <p:nvPr/>
          </p:nvSpPr>
          <p:spPr>
            <a:xfrm>
              <a:off x="5772150" y="3879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5" name="node01.row.item-006.h4.heat-gap"/>
            <p:cNvSpPr/>
            <p:nvPr/>
          </p:nvSpPr>
          <p:spPr>
            <a:xfrm>
              <a:off x="6591300" y="3860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node01.row.item-006.h4.heat"/>
            <p:cNvSpPr/>
            <p:nvPr/>
          </p:nvSpPr>
          <p:spPr>
            <a:xfrm>
              <a:off x="6610350" y="3879850"/>
              <a:ext cx="8001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77" name="node01.row.item-006.ov.heat-gap"/>
            <p:cNvSpPr/>
            <p:nvPr/>
          </p:nvSpPr>
          <p:spPr>
            <a:xfrm>
              <a:off x="7429500" y="3860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node01.row.item-006.ov.heat"/>
            <p:cNvSpPr/>
            <p:nvPr/>
          </p:nvSpPr>
          <p:spPr>
            <a:xfrm>
              <a:off x="7448550" y="3879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9" name="node01.row.item-007.h0.heat-gap"/>
            <p:cNvSpPr/>
            <p:nvPr/>
          </p:nvSpPr>
          <p:spPr>
            <a:xfrm>
              <a:off x="3238500" y="4241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node01.row.item-007.h0.heat"/>
            <p:cNvSpPr/>
            <p:nvPr/>
          </p:nvSpPr>
          <p:spPr>
            <a:xfrm>
              <a:off x="3257550" y="4260850"/>
              <a:ext cx="8001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1" name="node01.row.item-007.h1.heat-gap"/>
            <p:cNvSpPr/>
            <p:nvPr/>
          </p:nvSpPr>
          <p:spPr>
            <a:xfrm>
              <a:off x="4076700" y="4241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node01.row.item-007.h1.heat"/>
            <p:cNvSpPr/>
            <p:nvPr/>
          </p:nvSpPr>
          <p:spPr>
            <a:xfrm>
              <a:off x="4095750" y="4260850"/>
              <a:ext cx="8001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3" name="node01.row.item-007.h2.heat-gap"/>
            <p:cNvSpPr/>
            <p:nvPr/>
          </p:nvSpPr>
          <p:spPr>
            <a:xfrm>
              <a:off x="4914900" y="4241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node01.row.item-007.h2.heat"/>
            <p:cNvSpPr/>
            <p:nvPr/>
          </p:nvSpPr>
          <p:spPr>
            <a:xfrm>
              <a:off x="4933950" y="4260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5" name="node01.row.item-007.h3.heat-gap"/>
            <p:cNvSpPr/>
            <p:nvPr/>
          </p:nvSpPr>
          <p:spPr>
            <a:xfrm>
              <a:off x="5753100" y="4241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node01.row.item-007.h3.heat"/>
            <p:cNvSpPr/>
            <p:nvPr/>
          </p:nvSpPr>
          <p:spPr>
            <a:xfrm>
              <a:off x="5772150" y="4260850"/>
              <a:ext cx="8001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7" name="node01.row.item-007.h4.heat-gap"/>
            <p:cNvSpPr/>
            <p:nvPr/>
          </p:nvSpPr>
          <p:spPr>
            <a:xfrm>
              <a:off x="6591300" y="4241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node01.row.item-007.h4.heat"/>
            <p:cNvSpPr/>
            <p:nvPr/>
          </p:nvSpPr>
          <p:spPr>
            <a:xfrm>
              <a:off x="6610350" y="4260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9" name="node01.row.item-007.ov.heat-gap"/>
            <p:cNvSpPr/>
            <p:nvPr/>
          </p:nvSpPr>
          <p:spPr>
            <a:xfrm>
              <a:off x="7429500" y="4241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node01.row.item-007.ov.heat"/>
            <p:cNvSpPr/>
            <p:nvPr/>
          </p:nvSpPr>
          <p:spPr>
            <a:xfrm>
              <a:off x="7448550" y="4260850"/>
              <a:ext cx="8001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1" name="node01.row.item-008.h0.heat-gap"/>
            <p:cNvSpPr/>
            <p:nvPr/>
          </p:nvSpPr>
          <p:spPr>
            <a:xfrm>
              <a:off x="3238500" y="4622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node01.row.item-008.h0.heat"/>
            <p:cNvSpPr/>
            <p:nvPr/>
          </p:nvSpPr>
          <p:spPr>
            <a:xfrm>
              <a:off x="3257550" y="4641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3" name="node01.row.item-008.h1.heat-gap"/>
            <p:cNvSpPr/>
            <p:nvPr/>
          </p:nvSpPr>
          <p:spPr>
            <a:xfrm>
              <a:off x="4076700" y="4622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4" name="node01.row.item-008.h1.heat"/>
            <p:cNvSpPr/>
            <p:nvPr/>
          </p:nvSpPr>
          <p:spPr>
            <a:xfrm>
              <a:off x="4095750" y="4641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5" name="node01.row.item-008.h2.heat-gap"/>
            <p:cNvSpPr/>
            <p:nvPr/>
          </p:nvSpPr>
          <p:spPr>
            <a:xfrm>
              <a:off x="4914900" y="4622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6" name="node01.row.item-008.h2.heat"/>
            <p:cNvSpPr/>
            <p:nvPr/>
          </p:nvSpPr>
          <p:spPr>
            <a:xfrm>
              <a:off x="4933950" y="4641850"/>
              <a:ext cx="8001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97" name="node01.row.item-008.h3.heat-gap"/>
            <p:cNvSpPr/>
            <p:nvPr/>
          </p:nvSpPr>
          <p:spPr>
            <a:xfrm>
              <a:off x="5753100" y="4622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8" name="node01.row.item-008.h3.heat"/>
            <p:cNvSpPr/>
            <p:nvPr/>
          </p:nvSpPr>
          <p:spPr>
            <a:xfrm>
              <a:off x="5772150" y="4641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9" name="node01.row.item-008.h4.heat-gap"/>
            <p:cNvSpPr/>
            <p:nvPr/>
          </p:nvSpPr>
          <p:spPr>
            <a:xfrm>
              <a:off x="6591300" y="4622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0" name="node01.row.item-008.h4.heat"/>
            <p:cNvSpPr/>
            <p:nvPr/>
          </p:nvSpPr>
          <p:spPr>
            <a:xfrm>
              <a:off x="6610350" y="4641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1" name="node01.row.item-008.ov.heat-gap"/>
            <p:cNvSpPr/>
            <p:nvPr/>
          </p:nvSpPr>
          <p:spPr>
            <a:xfrm>
              <a:off x="7429500" y="4622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2" name="node01.row.item-008.ov.heat"/>
            <p:cNvSpPr/>
            <p:nvPr/>
          </p:nvSpPr>
          <p:spPr>
            <a:xfrm>
              <a:off x="7448550" y="4641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3" name="node01.row.item-009.h0.heat-gap"/>
            <p:cNvSpPr/>
            <p:nvPr/>
          </p:nvSpPr>
          <p:spPr>
            <a:xfrm>
              <a:off x="3238500" y="5003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4" name="node01.row.item-009.h0.heat"/>
            <p:cNvSpPr/>
            <p:nvPr/>
          </p:nvSpPr>
          <p:spPr>
            <a:xfrm>
              <a:off x="3257550" y="5022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5" name="node01.row.item-009.h1.heat-gap"/>
            <p:cNvSpPr/>
            <p:nvPr/>
          </p:nvSpPr>
          <p:spPr>
            <a:xfrm>
              <a:off x="4076700" y="5003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6" name="node01.row.item-009.h1.heat"/>
            <p:cNvSpPr/>
            <p:nvPr/>
          </p:nvSpPr>
          <p:spPr>
            <a:xfrm>
              <a:off x="4095750" y="5022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7" name="node01.row.item-009.h2.heat-gap"/>
            <p:cNvSpPr/>
            <p:nvPr/>
          </p:nvSpPr>
          <p:spPr>
            <a:xfrm>
              <a:off x="4914900" y="5003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8" name="node01.row.item-009.h2.heat"/>
            <p:cNvSpPr/>
            <p:nvPr/>
          </p:nvSpPr>
          <p:spPr>
            <a:xfrm>
              <a:off x="4933950" y="5022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9" name="node01.row.item-009.h3.heat-gap"/>
            <p:cNvSpPr/>
            <p:nvPr/>
          </p:nvSpPr>
          <p:spPr>
            <a:xfrm>
              <a:off x="5753100" y="5003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0" name="node01.row.item-009.h3.heat"/>
            <p:cNvSpPr/>
            <p:nvPr/>
          </p:nvSpPr>
          <p:spPr>
            <a:xfrm>
              <a:off x="5772150" y="5022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1" name="node01.row.item-009.h4.heat-gap"/>
            <p:cNvSpPr/>
            <p:nvPr/>
          </p:nvSpPr>
          <p:spPr>
            <a:xfrm>
              <a:off x="6591300" y="5003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2" name="node01.row.item-009.h4.heat"/>
            <p:cNvSpPr/>
            <p:nvPr/>
          </p:nvSpPr>
          <p:spPr>
            <a:xfrm>
              <a:off x="6610350" y="5022850"/>
              <a:ext cx="8001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3" name="node01.row.item-009.ov.heat-gap"/>
            <p:cNvSpPr/>
            <p:nvPr/>
          </p:nvSpPr>
          <p:spPr>
            <a:xfrm>
              <a:off x="7429500" y="5003800"/>
              <a:ext cx="8382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4" name="node01.row.item-009.ov.heat"/>
            <p:cNvSpPr/>
            <p:nvPr/>
          </p:nvSpPr>
          <p:spPr>
            <a:xfrm>
              <a:off x="7448550" y="5022850"/>
              <a:ext cx="8001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graphicFrame>
          <p:nvGraphicFramePr>
            <p:cNvPr id="115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723900" y="1600200"/>
            <a:ext cx="7543800" cy="3784600"/>
          </p:xfrm>
          <a:graphic>
            <a:graphicData uri="http://schemas.openxmlformats.org/drawingml/2006/table">
              <a:tbl>
                <a:tblPr/>
                <a:tblGrid>
                  <a:gridCol w="2514600"/>
                  <a:gridCol w="838200"/>
                  <a:gridCol w="838200"/>
                  <a:gridCol w="838200"/>
                  <a:gridCol w="838200"/>
                  <a:gridCol w="838200"/>
                  <a:gridCol w="8382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PROCESS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TECHNOLOGY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PEOPLE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GOVERNANCE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OVERALL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Scheduling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5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billing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Supply chain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116" name="node01.row.item-001.c0.ref.fill"/>
            <p:cNvSpPr/>
            <p:nvPr/>
          </p:nvSpPr>
          <p:spPr>
            <a:xfrm>
              <a:off x="876300" y="2032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17" name="node01.row.item-001.c0.ref"/>
            <p:cNvSpPr/>
            <p:nvPr/>
          </p:nvSpPr>
          <p:spPr>
            <a:xfrm>
              <a:off x="914400" y="2028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A1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18" name="node01.row.item-002.c0.ref.fill"/>
            <p:cNvSpPr/>
            <p:nvPr/>
          </p:nvSpPr>
          <p:spPr>
            <a:xfrm>
              <a:off x="876300" y="2413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19" name="node01.row.item-002.c0.ref"/>
            <p:cNvSpPr/>
            <p:nvPr/>
          </p:nvSpPr>
          <p:spPr>
            <a:xfrm>
              <a:off x="914400" y="2409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A2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0" name="node01.row.item-003.c0.ref.fill"/>
            <p:cNvSpPr/>
            <p:nvPr/>
          </p:nvSpPr>
          <p:spPr>
            <a:xfrm>
              <a:off x="876300" y="2794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1" name="node01.row.item-003.c0.ref"/>
            <p:cNvSpPr/>
            <p:nvPr/>
          </p:nvSpPr>
          <p:spPr>
            <a:xfrm>
              <a:off x="914400" y="2790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A3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2" name="node01.row.item-004.c0.ref.fill"/>
            <p:cNvSpPr/>
            <p:nvPr/>
          </p:nvSpPr>
          <p:spPr>
            <a:xfrm>
              <a:off x="876300" y="3175000"/>
              <a:ext cx="221872" cy="16510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3" name="node01.row.item-004.c0.ref"/>
            <p:cNvSpPr/>
            <p:nvPr/>
          </p:nvSpPr>
          <p:spPr>
            <a:xfrm>
              <a:off x="914400" y="3171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A4</a:t>
              </a:r>
              <a:endParaRPr lang="en-US" sz="900" spc="36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4" name="node01.row.item-005.c0.ref.fill"/>
            <p:cNvSpPr/>
            <p:nvPr/>
          </p:nvSpPr>
          <p:spPr>
            <a:xfrm>
              <a:off x="876300" y="3556000"/>
              <a:ext cx="221872" cy="16510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5" name="node01.row.item-005.c0.ref"/>
            <p:cNvSpPr/>
            <p:nvPr/>
          </p:nvSpPr>
          <p:spPr>
            <a:xfrm>
              <a:off x="914400" y="3552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A5</a:t>
              </a:r>
              <a:endParaRPr lang="en-US" sz="900" spc="36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6" name="node01.row.item-006.c0.ref.fill"/>
            <p:cNvSpPr/>
            <p:nvPr/>
          </p:nvSpPr>
          <p:spPr>
            <a:xfrm>
              <a:off x="876300" y="3937000"/>
              <a:ext cx="221872" cy="16510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7" name="node01.row.item-006.c0.ref"/>
            <p:cNvSpPr/>
            <p:nvPr/>
          </p:nvSpPr>
          <p:spPr>
            <a:xfrm>
              <a:off x="914400" y="3933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A6</a:t>
              </a:r>
              <a:endParaRPr lang="en-US" sz="900" spc="36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8" name="node01.row.item-007.c0.ref.fill"/>
            <p:cNvSpPr/>
            <p:nvPr/>
          </p:nvSpPr>
          <p:spPr>
            <a:xfrm>
              <a:off x="876300" y="4318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9" name="node01.row.item-007.c0.ref"/>
            <p:cNvSpPr/>
            <p:nvPr/>
          </p:nvSpPr>
          <p:spPr>
            <a:xfrm>
              <a:off x="914400" y="4314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A7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30" name="node01.row.item-008.c0.ref.fill"/>
            <p:cNvSpPr/>
            <p:nvPr/>
          </p:nvSpPr>
          <p:spPr>
            <a:xfrm>
              <a:off x="876300" y="4699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31" name="node01.row.item-008.c0.ref"/>
            <p:cNvSpPr/>
            <p:nvPr/>
          </p:nvSpPr>
          <p:spPr>
            <a:xfrm>
              <a:off x="914400" y="4695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A8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32" name="node01.row.item-009.c0.ref.fill"/>
            <p:cNvSpPr/>
            <p:nvPr/>
          </p:nvSpPr>
          <p:spPr>
            <a:xfrm>
              <a:off x="876300" y="5080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33" name="node01.row.item-009.c0.ref"/>
            <p:cNvSpPr/>
            <p:nvPr/>
          </p:nvSpPr>
          <p:spPr>
            <a:xfrm>
              <a:off x="914400" y="5076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A9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</p:grpSp>
      <p:grpSp>
        <p:nvGrpSpPr>
          <p:cNvPr id="162" name="node02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134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35" name="node02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6" name="node02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7" name="node02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38" name="node02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39" name="node02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0" name="node02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41" name="node02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2" name="node02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3" name="node02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3" name="node03"/>
          <p:cNvGrpSpPr/>
          <p:nvPr/>
        </p:nvGrpSpPr>
        <p:grpSpPr>
          <a:xfrm>
            <a:off x="8496300" y="1600200"/>
            <a:ext cx="2971800" cy="952500"/>
            <a:chOff x="8496300" y="1600200"/>
            <a:chExt cx="2971800" cy="952500"/>
          </a:xfrm>
        </p:grpSpPr>
        <p:sp>
          <p:nvSpPr>
            <p:cNvPr id="144" name="node03.source-001.bullet"/>
            <p:cNvSpPr/>
            <p:nvPr/>
          </p:nvSpPr>
          <p:spPr>
            <a:xfrm>
              <a:off x="8496300" y="1689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5" name="node03.source-001.text"/>
            <p:cNvSpPr/>
            <p:nvPr/>
          </p:nvSpPr>
          <p:spPr>
            <a:xfrm>
              <a:off x="8648700" y="1600200"/>
              <a:ext cx="28194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Reference badges.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Each row keeps its code on the slides that follow.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6" name="node03.source-002.bullet"/>
            <p:cNvSpPr/>
            <p:nvPr/>
          </p:nvSpPr>
          <p:spPr>
            <a:xfrm>
              <a:off x="8496300" y="2184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7" name="node03.source-002.text"/>
            <p:cNvSpPr/>
            <p:nvPr/>
          </p:nvSpPr>
          <p:spPr>
            <a:xfrm>
              <a:off x="8648700" y="2095500"/>
              <a:ext cx="28194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Overall.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The rounded mean of five dimensions.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4" name="node04"/>
          <p:cNvGrpSpPr/>
          <p:nvPr/>
        </p:nvGrpSpPr>
        <p:grpSpPr>
          <a:xfrm>
            <a:off x="8496300" y="2971800"/>
            <a:ext cx="2971800" cy="2514600"/>
            <a:chOff x="8496300" y="2971800"/>
            <a:chExt cx="2971800" cy="2514600"/>
          </a:xfrm>
        </p:grpSpPr>
        <p:sp>
          <p:nvSpPr>
            <p:cNvPr id="148" name="node04.surface"/>
            <p:cNvSpPr/>
            <p:nvPr/>
          </p:nvSpPr>
          <p:spPr>
            <a:xfrm>
              <a:off x="8496300" y="2971800"/>
              <a:ext cx="2971800" cy="25146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65" name="node05"/>
          <p:cNvGrpSpPr/>
          <p:nvPr/>
        </p:nvGrpSpPr>
        <p:grpSpPr>
          <a:xfrm>
            <a:off x="8724900" y="3200400"/>
            <a:ext cx="2514600" cy="152400"/>
            <a:chOff x="8724900" y="3200400"/>
            <a:chExt cx="2514600" cy="152400"/>
          </a:xfrm>
        </p:grpSpPr>
        <p:sp>
          <p:nvSpPr>
            <p:cNvPr id="149" name="node05.text"/>
            <p:cNvSpPr/>
            <p:nvPr/>
          </p:nvSpPr>
          <p:spPr>
            <a:xfrm>
              <a:off x="8724900" y="3200400"/>
              <a:ext cx="2514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NEXT TWO SLIDES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66" name="node06"/>
          <p:cNvGrpSpPr/>
          <p:nvPr/>
        </p:nvGrpSpPr>
        <p:grpSpPr>
          <a:xfrm>
            <a:off x="8724900" y="3454400"/>
            <a:ext cx="2514600" cy="266700"/>
            <a:chOff x="8724900" y="3454400"/>
            <a:chExt cx="2514600" cy="266700"/>
          </a:xfrm>
        </p:grpSpPr>
        <p:sp>
          <p:nvSpPr>
            <p:cNvPr id="150" name="node06.text"/>
            <p:cNvSpPr/>
            <p:nvPr/>
          </p:nvSpPr>
          <p:spPr>
            <a:xfrm>
              <a:off x="8724900" y="3454400"/>
              <a:ext cx="2514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Detailed notes follow</a:t>
              </a:r>
              <a:endParaRPr lang="en-US" sz="14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7" name="node07"/>
          <p:cNvGrpSpPr/>
          <p:nvPr/>
        </p:nvGrpSpPr>
        <p:grpSpPr>
          <a:xfrm>
            <a:off x="8724900" y="3721100"/>
            <a:ext cx="2514600" cy="266700"/>
            <a:chOff x="8724900" y="3721100"/>
            <a:chExt cx="2514600" cy="266700"/>
          </a:xfrm>
        </p:grpSpPr>
        <p:sp>
          <p:nvSpPr>
            <p:cNvPr id="151" name="node07.text"/>
            <p:cNvSpPr/>
            <p:nvPr/>
          </p:nvSpPr>
          <p:spPr>
            <a:xfrm>
              <a:off x="8724900" y="3721100"/>
              <a:ext cx="2514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for A4–A6</a:t>
              </a:r>
              <a:endParaRPr lang="en-US" sz="14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8" name="node08"/>
          <p:cNvGrpSpPr/>
          <p:nvPr/>
        </p:nvGrpSpPr>
        <p:grpSpPr>
          <a:xfrm>
            <a:off x="8724900" y="4114800"/>
            <a:ext cx="457200" cy="304800"/>
            <a:chOff x="8724900" y="4114800"/>
            <a:chExt cx="457200" cy="304800"/>
          </a:xfrm>
        </p:grpSpPr>
        <p:sp>
          <p:nvSpPr>
            <p:cNvPr id="152" name="node08.surface"/>
            <p:cNvSpPr/>
            <p:nvPr/>
          </p:nvSpPr>
          <p:spPr>
            <a:xfrm>
              <a:off x="8724900" y="4114800"/>
              <a:ext cx="457200" cy="3048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153" name="node08.text"/>
            <p:cNvSpPr/>
            <p:nvPr/>
          </p:nvSpPr>
          <p:spPr>
            <a:xfrm>
              <a:off x="8801100" y="4191000"/>
              <a:ext cx="3048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Medium"/>
                  <a:ea typeface="IBM Plex Mono Medium"/>
                  <a:cs typeface="IBM Plex Mono Medium"/>
                </a:rPr>
                <a:t>A4</a:t>
              </a:r>
              <a:endParaRPr lang="en-US" sz="900" spc="54" kern="0" b="0" i="0" dirty="0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69" name="node09"/>
          <p:cNvGrpSpPr/>
          <p:nvPr/>
        </p:nvGrpSpPr>
        <p:grpSpPr>
          <a:xfrm>
            <a:off x="9309100" y="4140200"/>
            <a:ext cx="1930400" cy="228600"/>
            <a:chOff x="9309100" y="4140200"/>
            <a:chExt cx="1930400" cy="228600"/>
          </a:xfrm>
        </p:grpSpPr>
        <p:sp>
          <p:nvSpPr>
            <p:cNvPr id="154" name="node09.text"/>
            <p:cNvSpPr/>
            <p:nvPr/>
          </p:nvSpPr>
          <p:spPr>
            <a:xfrm>
              <a:off x="9309100" y="4140200"/>
              <a:ext cx="193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Revenue cycle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0" name="node10"/>
          <p:cNvGrpSpPr/>
          <p:nvPr/>
        </p:nvGrpSpPr>
        <p:grpSpPr>
          <a:xfrm>
            <a:off x="8724900" y="4572000"/>
            <a:ext cx="457200" cy="304800"/>
            <a:chOff x="8724900" y="4572000"/>
            <a:chExt cx="457200" cy="304800"/>
          </a:xfrm>
        </p:grpSpPr>
        <p:sp>
          <p:nvSpPr>
            <p:cNvPr id="155" name="node10.surface"/>
            <p:cNvSpPr/>
            <p:nvPr/>
          </p:nvSpPr>
          <p:spPr>
            <a:xfrm>
              <a:off x="8724900" y="4572000"/>
              <a:ext cx="457200" cy="3048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156" name="node10.text"/>
            <p:cNvSpPr/>
            <p:nvPr/>
          </p:nvSpPr>
          <p:spPr>
            <a:xfrm>
              <a:off x="8801100" y="4648200"/>
              <a:ext cx="3048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Medium"/>
                  <a:ea typeface="IBM Plex Mono Medium"/>
                  <a:cs typeface="IBM Plex Mono Medium"/>
                </a:rPr>
                <a:t>A5</a:t>
              </a:r>
              <a:endParaRPr lang="en-US" sz="900" spc="54" kern="0" b="0" i="0" dirty="0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71" name="node11"/>
          <p:cNvGrpSpPr/>
          <p:nvPr/>
        </p:nvGrpSpPr>
        <p:grpSpPr>
          <a:xfrm>
            <a:off x="9309100" y="4597400"/>
            <a:ext cx="1930400" cy="228600"/>
            <a:chOff x="9309100" y="4597400"/>
            <a:chExt cx="1930400" cy="228600"/>
          </a:xfrm>
        </p:grpSpPr>
        <p:sp>
          <p:nvSpPr>
            <p:cNvPr id="157" name="node11.text"/>
            <p:cNvSpPr/>
            <p:nvPr/>
          </p:nvSpPr>
          <p:spPr>
            <a:xfrm>
              <a:off x="9309100" y="4597400"/>
              <a:ext cx="193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Patient billing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2" name="node12"/>
          <p:cNvGrpSpPr/>
          <p:nvPr/>
        </p:nvGrpSpPr>
        <p:grpSpPr>
          <a:xfrm>
            <a:off x="8724900" y="5029200"/>
            <a:ext cx="457200" cy="304800"/>
            <a:chOff x="8724900" y="5029200"/>
            <a:chExt cx="457200" cy="304800"/>
          </a:xfrm>
        </p:grpSpPr>
        <p:sp>
          <p:nvSpPr>
            <p:cNvPr id="158" name="node12.surface"/>
            <p:cNvSpPr/>
            <p:nvPr/>
          </p:nvSpPr>
          <p:spPr>
            <a:xfrm>
              <a:off x="8724900" y="5029200"/>
              <a:ext cx="457200" cy="3048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159" name="node12.text"/>
            <p:cNvSpPr/>
            <p:nvPr/>
          </p:nvSpPr>
          <p:spPr>
            <a:xfrm>
              <a:off x="8801100" y="5105400"/>
              <a:ext cx="3048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Medium"/>
                  <a:ea typeface="IBM Plex Mono Medium"/>
                  <a:cs typeface="IBM Plex Mono Medium"/>
                </a:rPr>
                <a:t>A6</a:t>
              </a:r>
              <a:endParaRPr lang="en-US" sz="900" spc="54" kern="0" b="0" i="0" dirty="0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73" name="node13"/>
          <p:cNvGrpSpPr/>
          <p:nvPr/>
        </p:nvGrpSpPr>
        <p:grpSpPr>
          <a:xfrm>
            <a:off x="9309100" y="5054600"/>
            <a:ext cx="1930400" cy="228600"/>
            <a:chOff x="9309100" y="5054600"/>
            <a:chExt cx="1930400" cy="228600"/>
          </a:xfrm>
        </p:grpSpPr>
        <p:sp>
          <p:nvSpPr>
            <p:cNvPr id="160" name="node13.text"/>
            <p:cNvSpPr/>
            <p:nvPr/>
          </p:nvSpPr>
          <p:spPr>
            <a:xfrm>
              <a:off x="9309100" y="5054600"/>
              <a:ext cx="193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Denials management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urce-2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/>
          <p:nvPr/>
        </p:nvSpPr>
        <p:spPr>
          <a:xfrm>
            <a:off x="723900" y="4572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80" kern="0" b="0" i="0" dirty="0">
                <a:solidFill>
                  <a:srgbClr val="0047FF"/>
                </a:solidFill>
                <a:latin typeface="IBM Plex Mono SemiBold"/>
                <a:ea typeface="IBM Plex Mono SemiBold"/>
                <a:cs typeface="IBM Plex Mono SemiBold"/>
              </a:rPr>
              <a:t>CAPABILITY ASSESSMENT</a:t>
            </a:r>
            <a:endParaRPr lang="en-US" sz="1000" spc="80" kern="0" b="0" i="0" dirty="0">
              <a:solidFill>
                <a:srgbClr val="0047FF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sp>
        <p:nvSpPr>
          <p:cNvPr id="4" name="title"/>
          <p:cNvSpPr/>
          <p:nvPr/>
        </p:nvSpPr>
        <p:spPr>
          <a:xfrm>
            <a:off x="723900" y="685800"/>
            <a:ext cx="10744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200" spc="-64" kern="0" b="0" i="0" dirty="0">
                <a:solidFill>
                  <a:srgbClr val="070154"/>
                </a:solidFill>
                <a:latin typeface="IBM Plex Sans SemiBold"/>
                <a:ea typeface="IBM Plex Sans SemiBold"/>
                <a:cs typeface="IBM Plex Sans SemiBold"/>
              </a:rPr>
              <a:t>Revenue cycle is the group to look at first</a:t>
            </a:r>
            <a:endParaRPr lang="en-US" sz="3200" spc="-64" kern="0" b="0" i="0" dirty="0">
              <a:solidFill>
                <a:srgbClr val="070154"/>
              </a:solidFill>
              <a:latin typeface="IBM Plex Sans SemiBold"/>
              <a:ea typeface="IBM Plex Sans SemiBold"/>
              <a:cs typeface="IBM Plex Sans SemiBold"/>
            </a:endParaRPr>
          </a:p>
        </p:txBody>
      </p:sp>
      <p:sp>
        <p:nvSpPr>
          <p:cNvPr id="5" name="source"/>
          <p:cNvSpPr/>
          <p:nvPr/>
        </p:nvSpPr>
        <p:spPr>
          <a:xfrm>
            <a:off x="723900" y="5829300"/>
            <a:ext cx="10744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spc="0" kern="0" b="0" i="0" dirty="0">
                <a:solidFill>
                  <a:srgbClr val="50658E"/>
                </a:solidFill>
                <a:latin typeface="IBM Plex Sans"/>
                <a:ea typeface="IBM Plex Sans"/>
                <a:cs typeface="IBM Plex Sans"/>
              </a:rPr>
              <a:t>Source: Sample ratings for layout only; replace before use.</a:t>
            </a:r>
            <a:endParaRPr lang="en-US" sz="900" spc="0" kern="0" b="0" i="0" dirty="0">
              <a:solidFill>
                <a:srgbClr val="50658E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" name="wm.page"/>
          <p:cNvSpPr/>
          <p:nvPr/>
        </p:nvSpPr>
        <p:spPr>
          <a:xfrm>
            <a:off x="11163300" y="6172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fld id="{7DC738B1-48F4-45B7-954D-37669918DC70}" type="slidenum">
              <a:rPr lang="en-US" sz="700" spc="0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rPr>
              <a:t>16</a:t>
            </a:fld>
            <a:endParaRPr lang="en-US" sz="700" spc="0" kern="0" b="0" i="0" dirty="0">
              <a:solidFill>
                <a:srgbClr val="070154"/>
              </a:solidFill>
              <a:latin typeface="IBM Plex Mono SemiBold"/>
              <a:ea typeface="IBM Plex Mono SemiBold"/>
              <a:cs typeface="IBM Plex Mono SemiBold"/>
            </a:endParaRPr>
          </a:p>
        </p:txBody>
      </p:sp>
      <p:grpSp>
        <p:nvGrpSpPr>
          <p:cNvPr id="167" name="node01"/>
          <p:cNvGrpSpPr/>
          <p:nvPr/>
        </p:nvGrpSpPr>
        <p:grpSpPr>
          <a:xfrm>
            <a:off x="723900" y="1600200"/>
            <a:ext cx="7543800" cy="3784600"/>
            <a:chOff x="723900" y="1600200"/>
            <a:chExt cx="7543800" cy="3784600"/>
          </a:xfrm>
        </p:grpSpPr>
        <p:sp>
          <p:nvSpPr>
            <p:cNvPr id="7" name="node01.row.item-001.h0.heat-gap"/>
            <p:cNvSpPr/>
            <p:nvPr/>
          </p:nvSpPr>
          <p:spPr>
            <a:xfrm>
              <a:off x="3619500" y="1955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" name="node01.row.item-001.h0.heat"/>
            <p:cNvSpPr/>
            <p:nvPr/>
          </p:nvSpPr>
          <p:spPr>
            <a:xfrm>
              <a:off x="3638550" y="1974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" name="node01.row.item-001.h1.heat-gap"/>
            <p:cNvSpPr/>
            <p:nvPr/>
          </p:nvSpPr>
          <p:spPr>
            <a:xfrm>
              <a:off x="4394200" y="1955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" name="node01.row.item-001.h1.heat"/>
            <p:cNvSpPr/>
            <p:nvPr/>
          </p:nvSpPr>
          <p:spPr>
            <a:xfrm>
              <a:off x="4413250" y="1974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" name="node01.row.item-001.h2.heat-gap"/>
            <p:cNvSpPr/>
            <p:nvPr/>
          </p:nvSpPr>
          <p:spPr>
            <a:xfrm>
              <a:off x="5168900" y="1955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node01.row.item-001.h2.heat"/>
            <p:cNvSpPr/>
            <p:nvPr/>
          </p:nvSpPr>
          <p:spPr>
            <a:xfrm>
              <a:off x="5187950" y="1974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3" name="node01.row.item-001.h3.heat-gap"/>
            <p:cNvSpPr/>
            <p:nvPr/>
          </p:nvSpPr>
          <p:spPr>
            <a:xfrm>
              <a:off x="5943600" y="1955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node01.row.item-001.h3.heat"/>
            <p:cNvSpPr/>
            <p:nvPr/>
          </p:nvSpPr>
          <p:spPr>
            <a:xfrm>
              <a:off x="5962650" y="1974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5" name="node01.row.item-001.h4.heat-gap"/>
            <p:cNvSpPr/>
            <p:nvPr/>
          </p:nvSpPr>
          <p:spPr>
            <a:xfrm>
              <a:off x="6718300" y="1955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node01.row.item-001.h4.heat"/>
            <p:cNvSpPr/>
            <p:nvPr/>
          </p:nvSpPr>
          <p:spPr>
            <a:xfrm>
              <a:off x="6737350" y="1974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7" name="node01.row.item-001.ov.heat-gap"/>
            <p:cNvSpPr/>
            <p:nvPr/>
          </p:nvSpPr>
          <p:spPr>
            <a:xfrm>
              <a:off x="7493000" y="1955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node01.row.item-001.ov.heat"/>
            <p:cNvSpPr/>
            <p:nvPr/>
          </p:nvSpPr>
          <p:spPr>
            <a:xfrm>
              <a:off x="7512050" y="1974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9" name="node01.row.item-002.h0.heat-gap"/>
            <p:cNvSpPr/>
            <p:nvPr/>
          </p:nvSpPr>
          <p:spPr>
            <a:xfrm>
              <a:off x="3619500" y="2336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node01.row.item-002.h0.heat"/>
            <p:cNvSpPr/>
            <p:nvPr/>
          </p:nvSpPr>
          <p:spPr>
            <a:xfrm>
              <a:off x="3638550" y="2355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1" name="node01.row.item-002.h1.heat-gap"/>
            <p:cNvSpPr/>
            <p:nvPr/>
          </p:nvSpPr>
          <p:spPr>
            <a:xfrm>
              <a:off x="4394200" y="2336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node01.row.item-002.h1.heat"/>
            <p:cNvSpPr/>
            <p:nvPr/>
          </p:nvSpPr>
          <p:spPr>
            <a:xfrm>
              <a:off x="4413250" y="2355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3" name="node01.row.item-002.h2.heat-gap"/>
            <p:cNvSpPr/>
            <p:nvPr/>
          </p:nvSpPr>
          <p:spPr>
            <a:xfrm>
              <a:off x="5168900" y="2336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node01.row.item-002.h2.heat"/>
            <p:cNvSpPr/>
            <p:nvPr/>
          </p:nvSpPr>
          <p:spPr>
            <a:xfrm>
              <a:off x="5187950" y="2355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25" name="node01.row.item-002.h3.heat-gap"/>
            <p:cNvSpPr/>
            <p:nvPr/>
          </p:nvSpPr>
          <p:spPr>
            <a:xfrm>
              <a:off x="5943600" y="2336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node01.row.item-002.h3.heat"/>
            <p:cNvSpPr/>
            <p:nvPr/>
          </p:nvSpPr>
          <p:spPr>
            <a:xfrm>
              <a:off x="5962650" y="2355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7" name="node01.row.item-002.h4.heat-gap"/>
            <p:cNvSpPr/>
            <p:nvPr/>
          </p:nvSpPr>
          <p:spPr>
            <a:xfrm>
              <a:off x="6718300" y="2336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node01.row.item-002.h4.heat"/>
            <p:cNvSpPr/>
            <p:nvPr/>
          </p:nvSpPr>
          <p:spPr>
            <a:xfrm>
              <a:off x="6737350" y="2355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29" name="node01.row.item-002.ov.heat-gap"/>
            <p:cNvSpPr/>
            <p:nvPr/>
          </p:nvSpPr>
          <p:spPr>
            <a:xfrm>
              <a:off x="7493000" y="2336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node01.row.item-002.ov.heat"/>
            <p:cNvSpPr/>
            <p:nvPr/>
          </p:nvSpPr>
          <p:spPr>
            <a:xfrm>
              <a:off x="7512050" y="2355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31" name="node01.row.item-003.h0.heat-gap"/>
            <p:cNvSpPr/>
            <p:nvPr/>
          </p:nvSpPr>
          <p:spPr>
            <a:xfrm>
              <a:off x="3619500" y="2717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node01.row.item-003.h0.heat"/>
            <p:cNvSpPr/>
            <p:nvPr/>
          </p:nvSpPr>
          <p:spPr>
            <a:xfrm>
              <a:off x="3638550" y="2736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3" name="node01.row.item-003.h1.heat-gap"/>
            <p:cNvSpPr/>
            <p:nvPr/>
          </p:nvSpPr>
          <p:spPr>
            <a:xfrm>
              <a:off x="4394200" y="2717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node01.row.item-003.h1.heat"/>
            <p:cNvSpPr/>
            <p:nvPr/>
          </p:nvSpPr>
          <p:spPr>
            <a:xfrm>
              <a:off x="4413250" y="2736850"/>
              <a:ext cx="7366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5" name="node01.row.item-003.h2.heat-gap"/>
            <p:cNvSpPr/>
            <p:nvPr/>
          </p:nvSpPr>
          <p:spPr>
            <a:xfrm>
              <a:off x="5168900" y="2717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node01.row.item-003.h2.heat"/>
            <p:cNvSpPr/>
            <p:nvPr/>
          </p:nvSpPr>
          <p:spPr>
            <a:xfrm>
              <a:off x="5187950" y="2736850"/>
              <a:ext cx="7366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37" name="node01.row.item-003.h3.heat-gap"/>
            <p:cNvSpPr/>
            <p:nvPr/>
          </p:nvSpPr>
          <p:spPr>
            <a:xfrm>
              <a:off x="5943600" y="2717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node01.row.item-003.h3.heat"/>
            <p:cNvSpPr/>
            <p:nvPr/>
          </p:nvSpPr>
          <p:spPr>
            <a:xfrm>
              <a:off x="5962650" y="2736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39" name="node01.row.item-003.h4.heat-gap"/>
            <p:cNvSpPr/>
            <p:nvPr/>
          </p:nvSpPr>
          <p:spPr>
            <a:xfrm>
              <a:off x="6718300" y="2717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node01.row.item-003.h4.heat"/>
            <p:cNvSpPr/>
            <p:nvPr/>
          </p:nvSpPr>
          <p:spPr>
            <a:xfrm>
              <a:off x="6737350" y="2736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1" name="node01.row.item-003.ov.heat-gap"/>
            <p:cNvSpPr/>
            <p:nvPr/>
          </p:nvSpPr>
          <p:spPr>
            <a:xfrm>
              <a:off x="7493000" y="2717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node01.row.item-003.ov.heat"/>
            <p:cNvSpPr/>
            <p:nvPr/>
          </p:nvSpPr>
          <p:spPr>
            <a:xfrm>
              <a:off x="7512050" y="2736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43" name="node01.row.item-004.h0.heat-gap"/>
            <p:cNvSpPr/>
            <p:nvPr/>
          </p:nvSpPr>
          <p:spPr>
            <a:xfrm>
              <a:off x="3619500" y="3098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node01.row.item-004.h0.heat"/>
            <p:cNvSpPr/>
            <p:nvPr/>
          </p:nvSpPr>
          <p:spPr>
            <a:xfrm>
              <a:off x="3638550" y="3117850"/>
              <a:ext cx="7366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45" name="node01.row.item-004.h1.heat-gap"/>
            <p:cNvSpPr/>
            <p:nvPr/>
          </p:nvSpPr>
          <p:spPr>
            <a:xfrm>
              <a:off x="4394200" y="3098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node01.row.item-004.h1.heat"/>
            <p:cNvSpPr/>
            <p:nvPr/>
          </p:nvSpPr>
          <p:spPr>
            <a:xfrm>
              <a:off x="4413250" y="3117850"/>
              <a:ext cx="736600" cy="342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47" name="node01.row.item-004.h2.heat-gap"/>
            <p:cNvSpPr/>
            <p:nvPr/>
          </p:nvSpPr>
          <p:spPr>
            <a:xfrm>
              <a:off x="5168900" y="3098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node01.row.item-004.h2.heat"/>
            <p:cNvSpPr/>
            <p:nvPr/>
          </p:nvSpPr>
          <p:spPr>
            <a:xfrm>
              <a:off x="5187950" y="3117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49" name="node01.row.item-004.h3.heat-gap"/>
            <p:cNvSpPr/>
            <p:nvPr/>
          </p:nvSpPr>
          <p:spPr>
            <a:xfrm>
              <a:off x="5943600" y="3098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node01.row.item-004.h3.heat"/>
            <p:cNvSpPr/>
            <p:nvPr/>
          </p:nvSpPr>
          <p:spPr>
            <a:xfrm>
              <a:off x="5962650" y="3117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1" name="node01.row.item-004.h4.heat-gap"/>
            <p:cNvSpPr/>
            <p:nvPr/>
          </p:nvSpPr>
          <p:spPr>
            <a:xfrm>
              <a:off x="6718300" y="3098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node01.row.item-004.h4.heat"/>
            <p:cNvSpPr/>
            <p:nvPr/>
          </p:nvSpPr>
          <p:spPr>
            <a:xfrm>
              <a:off x="6737350" y="3117850"/>
              <a:ext cx="7366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3" name="node01.row.item-004.ov.heat-gap"/>
            <p:cNvSpPr/>
            <p:nvPr/>
          </p:nvSpPr>
          <p:spPr>
            <a:xfrm>
              <a:off x="7493000" y="3098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node01.row.item-004.ov.heat"/>
            <p:cNvSpPr/>
            <p:nvPr/>
          </p:nvSpPr>
          <p:spPr>
            <a:xfrm>
              <a:off x="7512050" y="3117850"/>
              <a:ext cx="7366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55" name="node01.row.item-005.h0.heat-gap"/>
            <p:cNvSpPr/>
            <p:nvPr/>
          </p:nvSpPr>
          <p:spPr>
            <a:xfrm>
              <a:off x="3619500" y="3479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node01.row.item-005.h0.heat"/>
            <p:cNvSpPr/>
            <p:nvPr/>
          </p:nvSpPr>
          <p:spPr>
            <a:xfrm>
              <a:off x="3638550" y="3498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7" name="node01.row.item-005.h1.heat-gap"/>
            <p:cNvSpPr/>
            <p:nvPr/>
          </p:nvSpPr>
          <p:spPr>
            <a:xfrm>
              <a:off x="4394200" y="3479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node01.row.item-005.h1.heat"/>
            <p:cNvSpPr/>
            <p:nvPr/>
          </p:nvSpPr>
          <p:spPr>
            <a:xfrm>
              <a:off x="4413250" y="3498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59" name="node01.row.item-005.h2.heat-gap"/>
            <p:cNvSpPr/>
            <p:nvPr/>
          </p:nvSpPr>
          <p:spPr>
            <a:xfrm>
              <a:off x="5168900" y="3479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node01.row.item-005.h2.heat"/>
            <p:cNvSpPr/>
            <p:nvPr/>
          </p:nvSpPr>
          <p:spPr>
            <a:xfrm>
              <a:off x="5187950" y="3498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1" name="node01.row.item-005.h3.heat-gap"/>
            <p:cNvSpPr/>
            <p:nvPr/>
          </p:nvSpPr>
          <p:spPr>
            <a:xfrm>
              <a:off x="5943600" y="3479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node01.row.item-005.h3.heat"/>
            <p:cNvSpPr/>
            <p:nvPr/>
          </p:nvSpPr>
          <p:spPr>
            <a:xfrm>
              <a:off x="5962650" y="3498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3" name="node01.row.item-005.h4.heat-gap"/>
            <p:cNvSpPr/>
            <p:nvPr/>
          </p:nvSpPr>
          <p:spPr>
            <a:xfrm>
              <a:off x="6718300" y="3479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node01.row.item-005.h4.heat"/>
            <p:cNvSpPr/>
            <p:nvPr/>
          </p:nvSpPr>
          <p:spPr>
            <a:xfrm>
              <a:off x="6737350" y="3498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5" name="node01.row.item-005.ov.heat-gap"/>
            <p:cNvSpPr/>
            <p:nvPr/>
          </p:nvSpPr>
          <p:spPr>
            <a:xfrm>
              <a:off x="7493000" y="3479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node01.row.item-005.ov.heat"/>
            <p:cNvSpPr/>
            <p:nvPr/>
          </p:nvSpPr>
          <p:spPr>
            <a:xfrm>
              <a:off x="7512050" y="3498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67" name="node01.row.item-006.h0.heat-gap"/>
            <p:cNvSpPr/>
            <p:nvPr/>
          </p:nvSpPr>
          <p:spPr>
            <a:xfrm>
              <a:off x="3619500" y="3860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node01.row.item-006.h0.heat"/>
            <p:cNvSpPr/>
            <p:nvPr/>
          </p:nvSpPr>
          <p:spPr>
            <a:xfrm>
              <a:off x="3638550" y="3879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69" name="node01.row.item-006.h1.heat-gap"/>
            <p:cNvSpPr/>
            <p:nvPr/>
          </p:nvSpPr>
          <p:spPr>
            <a:xfrm>
              <a:off x="4394200" y="3860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node01.row.item-006.h1.heat"/>
            <p:cNvSpPr/>
            <p:nvPr/>
          </p:nvSpPr>
          <p:spPr>
            <a:xfrm>
              <a:off x="4413250" y="3879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1" name="node01.row.item-006.h2.heat-gap"/>
            <p:cNvSpPr/>
            <p:nvPr/>
          </p:nvSpPr>
          <p:spPr>
            <a:xfrm>
              <a:off x="5168900" y="3860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node01.row.item-006.h2.heat"/>
            <p:cNvSpPr/>
            <p:nvPr/>
          </p:nvSpPr>
          <p:spPr>
            <a:xfrm>
              <a:off x="5187950" y="3879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3" name="node01.row.item-006.h3.heat-gap"/>
            <p:cNvSpPr/>
            <p:nvPr/>
          </p:nvSpPr>
          <p:spPr>
            <a:xfrm>
              <a:off x="5943600" y="3860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node01.row.item-006.h3.heat"/>
            <p:cNvSpPr/>
            <p:nvPr/>
          </p:nvSpPr>
          <p:spPr>
            <a:xfrm>
              <a:off x="5962650" y="3879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5" name="node01.row.item-006.h4.heat-gap"/>
            <p:cNvSpPr/>
            <p:nvPr/>
          </p:nvSpPr>
          <p:spPr>
            <a:xfrm>
              <a:off x="6718300" y="3860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node01.row.item-006.h4.heat"/>
            <p:cNvSpPr/>
            <p:nvPr/>
          </p:nvSpPr>
          <p:spPr>
            <a:xfrm>
              <a:off x="6737350" y="3879850"/>
              <a:ext cx="7366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77" name="node01.row.item-006.ov.heat-gap"/>
            <p:cNvSpPr/>
            <p:nvPr/>
          </p:nvSpPr>
          <p:spPr>
            <a:xfrm>
              <a:off x="7493000" y="3860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node01.row.item-006.ov.heat"/>
            <p:cNvSpPr/>
            <p:nvPr/>
          </p:nvSpPr>
          <p:spPr>
            <a:xfrm>
              <a:off x="7512050" y="3879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79" name="node01.row.item-007.h0.heat-gap"/>
            <p:cNvSpPr/>
            <p:nvPr/>
          </p:nvSpPr>
          <p:spPr>
            <a:xfrm>
              <a:off x="3619500" y="4241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node01.row.item-007.h0.heat"/>
            <p:cNvSpPr/>
            <p:nvPr/>
          </p:nvSpPr>
          <p:spPr>
            <a:xfrm>
              <a:off x="3638550" y="4260850"/>
              <a:ext cx="7366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1" name="node01.row.item-007.h1.heat-gap"/>
            <p:cNvSpPr/>
            <p:nvPr/>
          </p:nvSpPr>
          <p:spPr>
            <a:xfrm>
              <a:off x="4394200" y="4241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node01.row.item-007.h1.heat"/>
            <p:cNvSpPr/>
            <p:nvPr/>
          </p:nvSpPr>
          <p:spPr>
            <a:xfrm>
              <a:off x="4413250" y="4260850"/>
              <a:ext cx="7366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3" name="node01.row.item-007.h2.heat-gap"/>
            <p:cNvSpPr/>
            <p:nvPr/>
          </p:nvSpPr>
          <p:spPr>
            <a:xfrm>
              <a:off x="5168900" y="4241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node01.row.item-007.h2.heat"/>
            <p:cNvSpPr/>
            <p:nvPr/>
          </p:nvSpPr>
          <p:spPr>
            <a:xfrm>
              <a:off x="5187950" y="4260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5" name="node01.row.item-007.h3.heat-gap"/>
            <p:cNvSpPr/>
            <p:nvPr/>
          </p:nvSpPr>
          <p:spPr>
            <a:xfrm>
              <a:off x="5943600" y="4241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node01.row.item-007.h3.heat"/>
            <p:cNvSpPr/>
            <p:nvPr/>
          </p:nvSpPr>
          <p:spPr>
            <a:xfrm>
              <a:off x="5962650" y="4260850"/>
              <a:ext cx="7366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87" name="node01.row.item-007.h4.heat-gap"/>
            <p:cNvSpPr/>
            <p:nvPr/>
          </p:nvSpPr>
          <p:spPr>
            <a:xfrm>
              <a:off x="6718300" y="4241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node01.row.item-007.h4.heat"/>
            <p:cNvSpPr/>
            <p:nvPr/>
          </p:nvSpPr>
          <p:spPr>
            <a:xfrm>
              <a:off x="6737350" y="4260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89" name="node01.row.item-007.ov.heat-gap"/>
            <p:cNvSpPr/>
            <p:nvPr/>
          </p:nvSpPr>
          <p:spPr>
            <a:xfrm>
              <a:off x="7493000" y="4241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node01.row.item-007.ov.heat"/>
            <p:cNvSpPr/>
            <p:nvPr/>
          </p:nvSpPr>
          <p:spPr>
            <a:xfrm>
              <a:off x="7512050" y="4260850"/>
              <a:ext cx="736600" cy="3429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91" name="node01.row.item-008.h0.heat-gap"/>
            <p:cNvSpPr/>
            <p:nvPr/>
          </p:nvSpPr>
          <p:spPr>
            <a:xfrm>
              <a:off x="3619500" y="4622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node01.row.item-008.h0.heat"/>
            <p:cNvSpPr/>
            <p:nvPr/>
          </p:nvSpPr>
          <p:spPr>
            <a:xfrm>
              <a:off x="3638550" y="4641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3" name="node01.row.item-008.h1.heat-gap"/>
            <p:cNvSpPr/>
            <p:nvPr/>
          </p:nvSpPr>
          <p:spPr>
            <a:xfrm>
              <a:off x="4394200" y="4622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4" name="node01.row.item-008.h1.heat"/>
            <p:cNvSpPr/>
            <p:nvPr/>
          </p:nvSpPr>
          <p:spPr>
            <a:xfrm>
              <a:off x="4413250" y="4641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95" name="node01.row.item-008.h2.heat-gap"/>
            <p:cNvSpPr/>
            <p:nvPr/>
          </p:nvSpPr>
          <p:spPr>
            <a:xfrm>
              <a:off x="5168900" y="4622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6" name="node01.row.item-008.h2.heat"/>
            <p:cNvSpPr/>
            <p:nvPr/>
          </p:nvSpPr>
          <p:spPr>
            <a:xfrm>
              <a:off x="5187950" y="4641850"/>
              <a:ext cx="736600" cy="3429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97" name="node01.row.item-008.h3.heat-gap"/>
            <p:cNvSpPr/>
            <p:nvPr/>
          </p:nvSpPr>
          <p:spPr>
            <a:xfrm>
              <a:off x="5943600" y="4622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8" name="node01.row.item-008.h3.heat"/>
            <p:cNvSpPr/>
            <p:nvPr/>
          </p:nvSpPr>
          <p:spPr>
            <a:xfrm>
              <a:off x="5962650" y="4641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99" name="node01.row.item-008.h4.heat-gap"/>
            <p:cNvSpPr/>
            <p:nvPr/>
          </p:nvSpPr>
          <p:spPr>
            <a:xfrm>
              <a:off x="6718300" y="4622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0" name="node01.row.item-008.h4.heat"/>
            <p:cNvSpPr/>
            <p:nvPr/>
          </p:nvSpPr>
          <p:spPr>
            <a:xfrm>
              <a:off x="6737350" y="4641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1" name="node01.row.item-008.ov.heat-gap"/>
            <p:cNvSpPr/>
            <p:nvPr/>
          </p:nvSpPr>
          <p:spPr>
            <a:xfrm>
              <a:off x="7493000" y="4622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2" name="node01.row.item-008.ov.heat"/>
            <p:cNvSpPr/>
            <p:nvPr/>
          </p:nvSpPr>
          <p:spPr>
            <a:xfrm>
              <a:off x="7512050" y="4641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3" name="node01.row.item-009.h0.heat-gap"/>
            <p:cNvSpPr/>
            <p:nvPr/>
          </p:nvSpPr>
          <p:spPr>
            <a:xfrm>
              <a:off x="3619500" y="5003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4" name="node01.row.item-009.h0.heat"/>
            <p:cNvSpPr/>
            <p:nvPr/>
          </p:nvSpPr>
          <p:spPr>
            <a:xfrm>
              <a:off x="3638550" y="5022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05" name="node01.row.item-009.h1.heat-gap"/>
            <p:cNvSpPr/>
            <p:nvPr/>
          </p:nvSpPr>
          <p:spPr>
            <a:xfrm>
              <a:off x="4394200" y="5003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6" name="node01.row.item-009.h1.heat"/>
            <p:cNvSpPr/>
            <p:nvPr/>
          </p:nvSpPr>
          <p:spPr>
            <a:xfrm>
              <a:off x="4413250" y="5022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7" name="node01.row.item-009.h2.heat-gap"/>
            <p:cNvSpPr/>
            <p:nvPr/>
          </p:nvSpPr>
          <p:spPr>
            <a:xfrm>
              <a:off x="5168900" y="5003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8" name="node01.row.item-009.h2.heat"/>
            <p:cNvSpPr/>
            <p:nvPr/>
          </p:nvSpPr>
          <p:spPr>
            <a:xfrm>
              <a:off x="5187950" y="5022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09" name="node01.row.item-009.h3.heat-gap"/>
            <p:cNvSpPr/>
            <p:nvPr/>
          </p:nvSpPr>
          <p:spPr>
            <a:xfrm>
              <a:off x="5943600" y="5003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0" name="node01.row.item-009.h3.heat"/>
            <p:cNvSpPr/>
            <p:nvPr/>
          </p:nvSpPr>
          <p:spPr>
            <a:xfrm>
              <a:off x="5962650" y="5022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11" name="node01.row.item-009.h4.heat-gap"/>
            <p:cNvSpPr/>
            <p:nvPr/>
          </p:nvSpPr>
          <p:spPr>
            <a:xfrm>
              <a:off x="6718300" y="5003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2" name="node01.row.item-009.h4.heat"/>
            <p:cNvSpPr/>
            <p:nvPr/>
          </p:nvSpPr>
          <p:spPr>
            <a:xfrm>
              <a:off x="6737350" y="5022850"/>
              <a:ext cx="736600" cy="3429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13" name="node01.row.item-009.ov.heat-gap"/>
            <p:cNvSpPr/>
            <p:nvPr/>
          </p:nvSpPr>
          <p:spPr>
            <a:xfrm>
              <a:off x="7493000" y="5003800"/>
              <a:ext cx="774700" cy="38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4" name="node01.row.item-009.ov.heat"/>
            <p:cNvSpPr/>
            <p:nvPr/>
          </p:nvSpPr>
          <p:spPr>
            <a:xfrm>
              <a:off x="7512050" y="5022850"/>
              <a:ext cx="736600" cy="3429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graphicFrame>
          <p:nvGraphicFramePr>
            <p:cNvPr id="115" name="node01.native"/>
            <p:cNvGraphicFramePr>
              <a:graphicFrameLocks noGrp="1"/>
            </p:cNvGraphicFramePr>
            <p:nvPr>
              <p:extLst>
                <p:ext uri="{D42A27DB-BD31-4B8C-83A1-F6EECF244321}">
                  <p14:modId xmlns:p14="http://schemas.microsoft.com/office/powerpoint/2010/main" val="1579011935"/>
                </p:ext>
              </p:extLst>
            </p:nvPr>
          </p:nvGraphicFramePr>
          <p:xfrm>
            <a:off x="1104900" y="1600200"/>
            <a:ext cx="7162800" cy="3784600"/>
          </p:xfrm>
          <a:graphic>
            <a:graphicData uri="http://schemas.openxmlformats.org/drawingml/2006/table">
              <a:tbl>
                <a:tblPr/>
                <a:tblGrid>
                  <a:gridCol w="2514600"/>
                  <a:gridCol w="774700"/>
                  <a:gridCol w="774700"/>
                  <a:gridCol w="774700"/>
                  <a:gridCol w="774700"/>
                  <a:gridCol w="774700"/>
                  <a:gridCol w="774700"/>
                </a:tblGrid>
                <a:tr h="3556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CAPABILITY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PROCESS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TECHNOLOGY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DATA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PEOPLE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GOVERNANCE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2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900" spc="54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OVERALL</a:t>
                        </a:r>
                        <a:endParaRPr lang="en-US" sz="900" spc="54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76200" marR="762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19050" cap="flat" cmpd="sng" algn="ctr">
                        <a:solidFill>
                          <a:srgbClr val="070154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access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Scheduling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Referral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Revenue cycle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5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Patient billing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Denials management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Clinical documentation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FFFFFF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4</a:t>
                        </a:r>
                        <a:endParaRPr lang="en-US" sz="1200" spc="0" kern="0" b="0" i="0" dirty="0">
                          <a:solidFill>
                            <a:srgbClr val="FFFFFF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Care coordination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1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  <a:tr h="381000"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l" marL="0" indent="0">
                          <a:lnSpc>
                            <a:spcPts val="144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Sans SemiBold"/>
                            <a:ea typeface="IBM Plex Sans SemiBold"/>
                            <a:cs typeface="IBM Plex Sans SemiBold"/>
                          </a:rPr>
                          <a:t xml:space="preserve">Supply chain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Sans SemiBold"/>
                          <a:ea typeface="IBM Plex Sans SemiBold"/>
                          <a:cs typeface="IBM Plex Sans SemiBold"/>
                        </a:endParaRPr>
                      </a:p>
                    </a:txBody>
                    <a:tcPr marL="450472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3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  <a:tc>
                    <a:txBody>
                      <a:bodyPr wrap="square" anchor="ctr" lIns="0" rIns="0" tIns="0" bIns="0">
                        <a:noAutofit/>
                      </a:bodyPr>
                      <a:lstStyle/>
                      <a:p>
                        <a:pPr algn="ctr" marL="0" indent="0">
                          <a:lnSpc>
                            <a:spcPts val="18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  <a:def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defRPr>
                        </a:pPr>
                        <a:r>
                          <a:rPr lang="en-US" sz="1200" spc="0" kern="0" b="0" i="0" dirty="0">
                            <a:solidFill>
                              <a:srgbClr val="070154"/>
                            </a:solidFill>
                            <a:latin typeface="IBM Plex Mono SemiBold"/>
                            <a:ea typeface="IBM Plex Mono SemiBold"/>
                            <a:cs typeface="IBM Plex Mono SemiBold"/>
                          </a:rPr>
                          <a:t xml:space="preserve">2</a:t>
                        </a:r>
                        <a:endParaRPr lang="en-US" sz="1200" spc="0" kern="0" b="0" i="0" dirty="0">
                          <a:solidFill>
                            <a:srgbClr val="070154"/>
                          </a:solidFill>
                          <a:latin typeface="IBM Plex Mono SemiBold"/>
                          <a:ea typeface="IBM Plex Mono SemiBold"/>
                          <a:cs typeface="IBM Plex Mono SemiBold"/>
                        </a:endParaRPr>
                      </a:p>
                    </a:txBody>
                    <a:tcPr marL="152400" marR="152400" marT="0" marB="0" anchor="ctr">
                      <a:lnL w="0" cap="flat" cmpd="sng" algn="ctr">
                        <a:noFill/>
                      </a:lnL>
                      <a:lnR w="0" cap="flat" cmpd="sng" algn="ctr">
                        <a:noFill/>
                      </a:lnR>
                      <a:lnT w="0" cap="flat" cmpd="sng" algn="ctr">
                        <a:noFill/>
                      </a:lnT>
                      <a:lnB w="9525" cap="flat" cmpd="sng" algn="ctr">
                        <a:solidFill>
                          <a:srgbClr val="CED7E6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solidFill>
                        <a:srgbClr val="FFFFFF">
                          <a:alpha val="0"/>
                        </a:srgbClr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116" name="node01.row.item-001.c0.ref.fill"/>
            <p:cNvSpPr/>
            <p:nvPr/>
          </p:nvSpPr>
          <p:spPr>
            <a:xfrm>
              <a:off x="1257300" y="2032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17" name="node01.row.item-001.c0.ref"/>
            <p:cNvSpPr/>
            <p:nvPr/>
          </p:nvSpPr>
          <p:spPr>
            <a:xfrm>
              <a:off x="1295400" y="2028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A1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18" name="node01.row.item-002.c0.ref.fill"/>
            <p:cNvSpPr/>
            <p:nvPr/>
          </p:nvSpPr>
          <p:spPr>
            <a:xfrm>
              <a:off x="1257300" y="2413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19" name="node01.row.item-002.c0.ref"/>
            <p:cNvSpPr/>
            <p:nvPr/>
          </p:nvSpPr>
          <p:spPr>
            <a:xfrm>
              <a:off x="1295400" y="2409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A2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0" name="node01.row.item-003.c0.ref.fill"/>
            <p:cNvSpPr/>
            <p:nvPr/>
          </p:nvSpPr>
          <p:spPr>
            <a:xfrm>
              <a:off x="1257300" y="2794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1" name="node01.row.item-003.c0.ref"/>
            <p:cNvSpPr/>
            <p:nvPr/>
          </p:nvSpPr>
          <p:spPr>
            <a:xfrm>
              <a:off x="1295400" y="2790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A3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2" name="node01.row.item-004.c0.ref.fill"/>
            <p:cNvSpPr/>
            <p:nvPr/>
          </p:nvSpPr>
          <p:spPr>
            <a:xfrm>
              <a:off x="1257300" y="3175000"/>
              <a:ext cx="221872" cy="16510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3" name="node01.row.item-004.c0.ref"/>
            <p:cNvSpPr/>
            <p:nvPr/>
          </p:nvSpPr>
          <p:spPr>
            <a:xfrm>
              <a:off x="1295400" y="3171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A4</a:t>
              </a:r>
              <a:endParaRPr lang="en-US" sz="900" spc="36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4" name="node01.row.item-005.c0.ref.fill"/>
            <p:cNvSpPr/>
            <p:nvPr/>
          </p:nvSpPr>
          <p:spPr>
            <a:xfrm>
              <a:off x="1257300" y="3556000"/>
              <a:ext cx="221872" cy="16510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5" name="node01.row.item-005.c0.ref"/>
            <p:cNvSpPr/>
            <p:nvPr/>
          </p:nvSpPr>
          <p:spPr>
            <a:xfrm>
              <a:off x="1295400" y="3552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A5</a:t>
              </a:r>
              <a:endParaRPr lang="en-US" sz="900" spc="36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6" name="node01.row.item-006.c0.ref.fill"/>
            <p:cNvSpPr/>
            <p:nvPr/>
          </p:nvSpPr>
          <p:spPr>
            <a:xfrm>
              <a:off x="1257300" y="3937000"/>
              <a:ext cx="221872" cy="165100"/>
            </a:xfrm>
            <a:prstGeom prst="rect">
              <a:avLst/>
            </a:prstGeom>
            <a:solidFill>
              <a:srgbClr val="070154"/>
            </a:solidFill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7" name="node01.row.item-006.c0.ref"/>
            <p:cNvSpPr/>
            <p:nvPr/>
          </p:nvSpPr>
          <p:spPr>
            <a:xfrm>
              <a:off x="1295400" y="3933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A6</a:t>
              </a:r>
              <a:endParaRPr lang="en-US" sz="900" spc="36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28" name="node01.row.item-007.c0.ref.fill"/>
            <p:cNvSpPr/>
            <p:nvPr/>
          </p:nvSpPr>
          <p:spPr>
            <a:xfrm>
              <a:off x="1257300" y="4318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29" name="node01.row.item-007.c0.ref"/>
            <p:cNvSpPr/>
            <p:nvPr/>
          </p:nvSpPr>
          <p:spPr>
            <a:xfrm>
              <a:off x="1295400" y="4314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A7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30" name="node01.row.item-008.c0.ref.fill"/>
            <p:cNvSpPr/>
            <p:nvPr/>
          </p:nvSpPr>
          <p:spPr>
            <a:xfrm>
              <a:off x="1257300" y="4699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31" name="node01.row.item-008.c0.ref"/>
            <p:cNvSpPr/>
            <p:nvPr/>
          </p:nvSpPr>
          <p:spPr>
            <a:xfrm>
              <a:off x="1295400" y="4695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A8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32" name="node01.row.item-009.c0.ref.fill"/>
            <p:cNvSpPr/>
            <p:nvPr/>
          </p:nvSpPr>
          <p:spPr>
            <a:xfrm>
              <a:off x="1257300" y="5080000"/>
              <a:ext cx="221872" cy="165100"/>
            </a:xfrm>
            <a:prstGeom prst="rect">
              <a:avLst/>
            </a:prstGeom>
            <a:ln w="9525">
              <a:solidFill>
                <a:srgbClr val="070154"/>
              </a:solidFill>
              <a:prstDash val="solid"/>
            </a:ln>
          </p:spPr>
        </p:sp>
        <p:sp>
          <p:nvSpPr>
            <p:cNvPr id="133" name="node01.row.item-009.c0.ref"/>
            <p:cNvSpPr/>
            <p:nvPr/>
          </p:nvSpPr>
          <p:spPr>
            <a:xfrm>
              <a:off x="1295400" y="5076825"/>
              <a:ext cx="145672" cy="171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300"/>
                </a:lnSpc>
                <a:buNone/>
              </a:pPr>
              <a:r>
                <a:rPr lang="en-US" sz="900" spc="36" kern="0" b="0" i="0" dirty="0">
                  <a:solidFill>
                    <a:srgbClr val="070154"/>
                  </a:solidFill>
                  <a:latin typeface="IBM Plex Mono SemiBold"/>
                  <a:ea typeface="IBM Plex Mono SemiBold"/>
                  <a:cs typeface="IBM Plex Mono SemiBold"/>
                </a:rPr>
                <a:t>A9</a:t>
              </a:r>
              <a:endParaRPr lang="en-US" sz="900" spc="36" kern="0" b="0" i="0" dirty="0">
                <a:solidFill>
                  <a:srgbClr val="070154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34" name="node01.row-group.source-001.fill"/>
            <p:cNvSpPr/>
            <p:nvPr/>
          </p:nvSpPr>
          <p:spPr>
            <a:xfrm>
              <a:off x="723900" y="1974850"/>
              <a:ext cx="304800" cy="1104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5" name="node01.row-group.source-001.label"/>
            <p:cNvSpPr/>
            <p:nvPr/>
          </p:nvSpPr>
          <p:spPr>
            <a:xfrm rot="-5400000">
              <a:off x="323850" y="2451100"/>
              <a:ext cx="11049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FRONT DOOR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36" name="node01.row-group.source-002.fill"/>
            <p:cNvSpPr/>
            <p:nvPr/>
          </p:nvSpPr>
          <p:spPr>
            <a:xfrm>
              <a:off x="723900" y="3117850"/>
              <a:ext cx="304800" cy="11049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37" name="node01.row-group.source-002.label"/>
            <p:cNvSpPr/>
            <p:nvPr/>
          </p:nvSpPr>
          <p:spPr>
            <a:xfrm rot="-5400000">
              <a:off x="323850" y="3594100"/>
              <a:ext cx="11049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REVENUE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  <p:sp>
          <p:nvSpPr>
            <p:cNvPr id="138" name="node01.row-group.source-003.fill"/>
            <p:cNvSpPr/>
            <p:nvPr/>
          </p:nvSpPr>
          <p:spPr>
            <a:xfrm>
              <a:off x="723900" y="4260850"/>
              <a:ext cx="304800" cy="1104900"/>
            </a:xfrm>
            <a:prstGeom prst="rect">
              <a:avLst/>
            </a:prstGeom>
            <a:solidFill>
              <a:srgbClr val="50658E"/>
            </a:solidFill>
            <a:ln>
              <a:noFill/>
            </a:ln>
          </p:spPr>
        </p:sp>
        <p:sp>
          <p:nvSpPr>
            <p:cNvPr id="139" name="node01.row-group.source-003.label"/>
            <p:cNvSpPr/>
            <p:nvPr/>
          </p:nvSpPr>
          <p:spPr>
            <a:xfrm rot="-5400000">
              <a:off x="323850" y="4737100"/>
              <a:ext cx="11049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800" spc="80" kern="0" b="0" i="0" dirty="0">
                  <a:solidFill>
                    <a:srgbClr val="FFFFFF"/>
                  </a:solidFill>
                  <a:latin typeface="IBM Plex Mono SemiBold"/>
                  <a:ea typeface="IBM Plex Mono SemiBold"/>
                  <a:cs typeface="IBM Plex Mono SemiBold"/>
                </a:rPr>
                <a:t>CARE DELIVERY</a:t>
              </a:r>
              <a:endParaRPr lang="en-US" sz="800" spc="80" kern="0" b="0" i="0" dirty="0">
                <a:solidFill>
                  <a:srgbClr val="FFFFFF"/>
                </a:solidFill>
                <a:latin typeface="IBM Plex Mono SemiBold"/>
                <a:ea typeface="IBM Plex Mono SemiBold"/>
                <a:cs typeface="IBM Plex Mono SemiBold"/>
              </a:endParaRPr>
            </a:p>
          </p:txBody>
        </p:sp>
      </p:grpSp>
      <p:grpSp>
        <p:nvGrpSpPr>
          <p:cNvPr id="168" name="node02"/>
          <p:cNvGrpSpPr/>
          <p:nvPr/>
        </p:nvGrpSpPr>
        <p:grpSpPr>
          <a:xfrm>
            <a:off x="723900" y="5486400"/>
            <a:ext cx="6392863" cy="228600"/>
            <a:chOff x="723900" y="5486400"/>
            <a:chExt cx="6392863" cy="228600"/>
          </a:xfrm>
        </p:grpSpPr>
        <p:sp>
          <p:nvSpPr>
            <p:cNvPr id="140" name="node02.items.slot-001.swatch"/>
            <p:cNvSpPr/>
            <p:nvPr/>
          </p:nvSpPr>
          <p:spPr>
            <a:xfrm>
              <a:off x="723900" y="5537200"/>
              <a:ext cx="228600" cy="1270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  <p:sp>
          <p:nvSpPr>
            <p:cNvPr id="141" name="node02.items.slot-001.text"/>
            <p:cNvSpPr/>
            <p:nvPr/>
          </p:nvSpPr>
          <p:spPr>
            <a:xfrm>
              <a:off x="1016000" y="5486400"/>
              <a:ext cx="6524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1 Ad hoc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2" name="node02.items.slot-002.swatch"/>
            <p:cNvSpPr/>
            <p:nvPr/>
          </p:nvSpPr>
          <p:spPr>
            <a:xfrm>
              <a:off x="1897063" y="5537200"/>
              <a:ext cx="228600" cy="127000"/>
            </a:xfrm>
            <a:prstGeom prst="rect">
              <a:avLst/>
            </a:prstGeom>
            <a:solidFill>
              <a:srgbClr val="B9C9F0"/>
            </a:solidFill>
            <a:ln>
              <a:noFill/>
            </a:ln>
          </p:spPr>
        </p:sp>
        <p:sp>
          <p:nvSpPr>
            <p:cNvPr id="143" name="node02.items.slot-002.text"/>
            <p:cNvSpPr/>
            <p:nvPr/>
          </p:nvSpPr>
          <p:spPr>
            <a:xfrm>
              <a:off x="2189163" y="5486400"/>
              <a:ext cx="96361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2 Repeatable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4" name="node02.items.slot-003.swatch"/>
            <p:cNvSpPr/>
            <p:nvPr/>
          </p:nvSpPr>
          <p:spPr>
            <a:xfrm>
              <a:off x="3381375" y="5537200"/>
              <a:ext cx="228600" cy="127000"/>
            </a:xfrm>
            <a:prstGeom prst="rect">
              <a:avLst/>
            </a:prstGeom>
            <a:solidFill>
              <a:srgbClr val="7C9BFF"/>
            </a:solidFill>
            <a:ln>
              <a:noFill/>
            </a:ln>
          </p:spPr>
        </p:sp>
        <p:sp>
          <p:nvSpPr>
            <p:cNvPr id="145" name="node02.items.slot-003.text"/>
            <p:cNvSpPr/>
            <p:nvPr/>
          </p:nvSpPr>
          <p:spPr>
            <a:xfrm>
              <a:off x="3673475" y="5486400"/>
              <a:ext cx="711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3 Defined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6" name="node02.items.slot-004.swatch"/>
            <p:cNvSpPr/>
            <p:nvPr/>
          </p:nvSpPr>
          <p:spPr>
            <a:xfrm>
              <a:off x="4613275" y="5537200"/>
              <a:ext cx="228600" cy="127000"/>
            </a:xfrm>
            <a:prstGeom prst="rect">
              <a:avLst/>
            </a:prstGeom>
            <a:solidFill>
              <a:srgbClr val="0047FF"/>
            </a:solidFill>
            <a:ln>
              <a:noFill/>
            </a:ln>
          </p:spPr>
        </p:sp>
        <p:sp>
          <p:nvSpPr>
            <p:cNvPr id="147" name="node02.items.slot-004.text"/>
            <p:cNvSpPr/>
            <p:nvPr/>
          </p:nvSpPr>
          <p:spPr>
            <a:xfrm>
              <a:off x="4905375" y="5486400"/>
              <a:ext cx="8064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4 Managed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48" name="node02.items.slot-005.swatch"/>
            <p:cNvSpPr/>
            <p:nvPr/>
          </p:nvSpPr>
          <p:spPr>
            <a:xfrm>
              <a:off x="5940425" y="5537200"/>
              <a:ext cx="228600" cy="1270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49" name="node02.items.slot-005.text"/>
            <p:cNvSpPr/>
            <p:nvPr/>
          </p:nvSpPr>
          <p:spPr>
            <a:xfrm>
              <a:off x="6232525" y="5486400"/>
              <a:ext cx="8842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5 Optimized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69" name="node03"/>
          <p:cNvGrpSpPr/>
          <p:nvPr/>
        </p:nvGrpSpPr>
        <p:grpSpPr>
          <a:xfrm>
            <a:off x="8496300" y="1600200"/>
            <a:ext cx="2971800" cy="952500"/>
            <a:chOff x="8496300" y="1600200"/>
            <a:chExt cx="2971800" cy="952500"/>
          </a:xfrm>
        </p:grpSpPr>
        <p:sp>
          <p:nvSpPr>
            <p:cNvPr id="150" name="node03.source-001.bullet"/>
            <p:cNvSpPr/>
            <p:nvPr/>
          </p:nvSpPr>
          <p:spPr>
            <a:xfrm>
              <a:off x="8496300" y="16891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51" name="node03.source-001.text"/>
            <p:cNvSpPr/>
            <p:nvPr/>
          </p:nvSpPr>
          <p:spPr>
            <a:xfrm>
              <a:off x="8648700" y="1600200"/>
              <a:ext cx="28194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Reference badges.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Each row keeps its code on the slides that follow.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52" name="node03.source-002.bullet"/>
            <p:cNvSpPr/>
            <p:nvPr/>
          </p:nvSpPr>
          <p:spPr>
            <a:xfrm>
              <a:off x="8496300" y="2184400"/>
              <a:ext cx="38100" cy="38100"/>
            </a:xfrm>
            <a:prstGeom prst="rect">
              <a:avLst/>
            </a:prstGeom>
            <a:solidFill>
              <a:srgbClr val="070154"/>
            </a:solidFill>
            <a:ln>
              <a:noFill/>
            </a:ln>
          </p:spPr>
        </p:sp>
        <p:sp>
          <p:nvSpPr>
            <p:cNvPr id="153" name="node03.source-002.text"/>
            <p:cNvSpPr/>
            <p:nvPr/>
          </p:nvSpPr>
          <p:spPr>
            <a:xfrm>
              <a:off x="8648700" y="2095500"/>
              <a:ext cx="28194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 SemiBold"/>
                  <a:ea typeface="IBM Plex Sans SemiBold"/>
                  <a:cs typeface="IBM Plex Sans SemiBold"/>
                </a:rPr>
                <a:t xml:space="preserve">Overall.</a:t>
              </a:r>
              <a:r>
                <a:rPr lang="en-US" sz="1200" spc="0" kern="0" b="0" i="0" dirty="0">
                  <a:solidFill>
                    <a:srgbClr val="50658E"/>
                  </a:solidFill>
                  <a:latin typeface="IBM Plex Sans"/>
                  <a:ea typeface="IBM Plex Sans"/>
                  <a:cs typeface="IBM Plex Sans"/>
                </a:rPr>
                <a:t xml:space="preserve"> The rounded mean of five dimensions.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0" name="node04"/>
          <p:cNvGrpSpPr/>
          <p:nvPr/>
        </p:nvGrpSpPr>
        <p:grpSpPr>
          <a:xfrm>
            <a:off x="8496300" y="2971800"/>
            <a:ext cx="2971800" cy="2514600"/>
            <a:chOff x="8496300" y="2971800"/>
            <a:chExt cx="2971800" cy="2514600"/>
          </a:xfrm>
        </p:grpSpPr>
        <p:sp>
          <p:nvSpPr>
            <p:cNvPr id="154" name="node04.surface"/>
            <p:cNvSpPr/>
            <p:nvPr/>
          </p:nvSpPr>
          <p:spPr>
            <a:xfrm>
              <a:off x="8496300" y="2971800"/>
              <a:ext cx="2971800" cy="2514600"/>
            </a:xfrm>
            <a:prstGeom prst="rect">
              <a:avLst/>
            </a:prstGeom>
            <a:solidFill>
              <a:srgbClr val="E8EEF8"/>
            </a:solidFill>
            <a:ln>
              <a:noFill/>
            </a:ln>
          </p:spPr>
        </p:sp>
      </p:grpSp>
      <p:grpSp>
        <p:nvGrpSpPr>
          <p:cNvPr id="171" name="node05"/>
          <p:cNvGrpSpPr/>
          <p:nvPr/>
        </p:nvGrpSpPr>
        <p:grpSpPr>
          <a:xfrm>
            <a:off x="8724900" y="3200400"/>
            <a:ext cx="2514600" cy="152400"/>
            <a:chOff x="8724900" y="3200400"/>
            <a:chExt cx="2514600" cy="152400"/>
          </a:xfrm>
        </p:grpSpPr>
        <p:sp>
          <p:nvSpPr>
            <p:cNvPr id="155" name="node05.text"/>
            <p:cNvSpPr/>
            <p:nvPr/>
          </p:nvSpPr>
          <p:spPr>
            <a:xfrm>
              <a:off x="8724900" y="3200400"/>
              <a:ext cx="25146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070154"/>
                  </a:solidFill>
                  <a:latin typeface="IBM Plex Mono Medium"/>
                  <a:ea typeface="IBM Plex Mono Medium"/>
                  <a:cs typeface="IBM Plex Mono Medium"/>
                </a:rPr>
                <a:t>NEXT TWO SLIDES</a:t>
              </a:r>
              <a:endParaRPr lang="en-US" sz="900" spc="54" kern="0" b="0" i="0" dirty="0">
                <a:solidFill>
                  <a:srgbClr val="070154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72" name="node06"/>
          <p:cNvGrpSpPr/>
          <p:nvPr/>
        </p:nvGrpSpPr>
        <p:grpSpPr>
          <a:xfrm>
            <a:off x="8724900" y="3454400"/>
            <a:ext cx="2514600" cy="266700"/>
            <a:chOff x="8724900" y="3454400"/>
            <a:chExt cx="2514600" cy="266700"/>
          </a:xfrm>
        </p:grpSpPr>
        <p:sp>
          <p:nvSpPr>
            <p:cNvPr id="156" name="node06.text"/>
            <p:cNvSpPr/>
            <p:nvPr/>
          </p:nvSpPr>
          <p:spPr>
            <a:xfrm>
              <a:off x="8724900" y="3454400"/>
              <a:ext cx="2514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Detailed notes follow</a:t>
              </a:r>
              <a:endParaRPr lang="en-US" sz="14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3" name="node07"/>
          <p:cNvGrpSpPr/>
          <p:nvPr/>
        </p:nvGrpSpPr>
        <p:grpSpPr>
          <a:xfrm>
            <a:off x="8724900" y="3721100"/>
            <a:ext cx="2514600" cy="266700"/>
            <a:chOff x="8724900" y="3721100"/>
            <a:chExt cx="2514600" cy="266700"/>
          </a:xfrm>
        </p:grpSpPr>
        <p:sp>
          <p:nvSpPr>
            <p:cNvPr id="157" name="node07.text"/>
            <p:cNvSpPr/>
            <p:nvPr/>
          </p:nvSpPr>
          <p:spPr>
            <a:xfrm>
              <a:off x="8724900" y="3721100"/>
              <a:ext cx="2514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2100"/>
                </a:lnSpc>
                <a:buNone/>
              </a:pPr>
              <a:r>
                <a:rPr lang="en-US" sz="14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for A4–A6</a:t>
              </a:r>
              <a:endParaRPr lang="en-US" sz="14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4" name="node08"/>
          <p:cNvGrpSpPr/>
          <p:nvPr/>
        </p:nvGrpSpPr>
        <p:grpSpPr>
          <a:xfrm>
            <a:off x="8724900" y="4114800"/>
            <a:ext cx="457200" cy="304800"/>
            <a:chOff x="8724900" y="4114800"/>
            <a:chExt cx="457200" cy="304800"/>
          </a:xfrm>
        </p:grpSpPr>
        <p:sp>
          <p:nvSpPr>
            <p:cNvPr id="158" name="node08.surface"/>
            <p:cNvSpPr/>
            <p:nvPr/>
          </p:nvSpPr>
          <p:spPr>
            <a:xfrm>
              <a:off x="8724900" y="4114800"/>
              <a:ext cx="457200" cy="3048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159" name="node08.text"/>
            <p:cNvSpPr/>
            <p:nvPr/>
          </p:nvSpPr>
          <p:spPr>
            <a:xfrm>
              <a:off x="8801100" y="4191000"/>
              <a:ext cx="3048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Medium"/>
                  <a:ea typeface="IBM Plex Mono Medium"/>
                  <a:cs typeface="IBM Plex Mono Medium"/>
                </a:rPr>
                <a:t>A4</a:t>
              </a:r>
              <a:endParaRPr lang="en-US" sz="900" spc="54" kern="0" b="0" i="0" dirty="0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75" name="node09"/>
          <p:cNvGrpSpPr/>
          <p:nvPr/>
        </p:nvGrpSpPr>
        <p:grpSpPr>
          <a:xfrm>
            <a:off x="9309100" y="4140200"/>
            <a:ext cx="1930400" cy="228600"/>
            <a:chOff x="9309100" y="4140200"/>
            <a:chExt cx="1930400" cy="228600"/>
          </a:xfrm>
        </p:grpSpPr>
        <p:sp>
          <p:nvSpPr>
            <p:cNvPr id="160" name="node09.text"/>
            <p:cNvSpPr/>
            <p:nvPr/>
          </p:nvSpPr>
          <p:spPr>
            <a:xfrm>
              <a:off x="9309100" y="4140200"/>
              <a:ext cx="193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Revenue cycle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6" name="node10"/>
          <p:cNvGrpSpPr/>
          <p:nvPr/>
        </p:nvGrpSpPr>
        <p:grpSpPr>
          <a:xfrm>
            <a:off x="8724900" y="4572000"/>
            <a:ext cx="457200" cy="304800"/>
            <a:chOff x="8724900" y="4572000"/>
            <a:chExt cx="457200" cy="304800"/>
          </a:xfrm>
        </p:grpSpPr>
        <p:sp>
          <p:nvSpPr>
            <p:cNvPr id="161" name="node10.surface"/>
            <p:cNvSpPr/>
            <p:nvPr/>
          </p:nvSpPr>
          <p:spPr>
            <a:xfrm>
              <a:off x="8724900" y="4572000"/>
              <a:ext cx="457200" cy="3048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162" name="node10.text"/>
            <p:cNvSpPr/>
            <p:nvPr/>
          </p:nvSpPr>
          <p:spPr>
            <a:xfrm>
              <a:off x="8801100" y="4648200"/>
              <a:ext cx="3048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Medium"/>
                  <a:ea typeface="IBM Plex Mono Medium"/>
                  <a:cs typeface="IBM Plex Mono Medium"/>
                </a:rPr>
                <a:t>A5</a:t>
              </a:r>
              <a:endParaRPr lang="en-US" sz="900" spc="54" kern="0" b="0" i="0" dirty="0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77" name="node11"/>
          <p:cNvGrpSpPr/>
          <p:nvPr/>
        </p:nvGrpSpPr>
        <p:grpSpPr>
          <a:xfrm>
            <a:off x="9309100" y="4597400"/>
            <a:ext cx="1930400" cy="228600"/>
            <a:chOff x="9309100" y="4597400"/>
            <a:chExt cx="1930400" cy="228600"/>
          </a:xfrm>
        </p:grpSpPr>
        <p:sp>
          <p:nvSpPr>
            <p:cNvPr id="163" name="node11.text"/>
            <p:cNvSpPr/>
            <p:nvPr/>
          </p:nvSpPr>
          <p:spPr>
            <a:xfrm>
              <a:off x="9309100" y="4597400"/>
              <a:ext cx="193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Patient billing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  <p:grpSp>
        <p:nvGrpSpPr>
          <p:cNvPr id="178" name="node12"/>
          <p:cNvGrpSpPr/>
          <p:nvPr/>
        </p:nvGrpSpPr>
        <p:grpSpPr>
          <a:xfrm>
            <a:off x="8724900" y="5029200"/>
            <a:ext cx="457200" cy="304800"/>
            <a:chOff x="8724900" y="5029200"/>
            <a:chExt cx="457200" cy="304800"/>
          </a:xfrm>
        </p:grpSpPr>
        <p:sp>
          <p:nvSpPr>
            <p:cNvPr id="164" name="node12.surface"/>
            <p:cNvSpPr/>
            <p:nvPr/>
          </p:nvSpPr>
          <p:spPr>
            <a:xfrm>
              <a:off x="8724900" y="5029200"/>
              <a:ext cx="457200" cy="304800"/>
            </a:xfrm>
            <a:prstGeom prst="rect">
              <a:avLst/>
            </a:prstGeom>
            <a:solidFill>
              <a:srgbClr val="05013F"/>
            </a:solidFill>
            <a:ln>
              <a:noFill/>
            </a:ln>
          </p:spPr>
        </p:sp>
        <p:sp>
          <p:nvSpPr>
            <p:cNvPr id="165" name="node12.text"/>
            <p:cNvSpPr/>
            <p:nvPr/>
          </p:nvSpPr>
          <p:spPr>
            <a:xfrm>
              <a:off x="8801100" y="5105400"/>
              <a:ext cx="304800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ts val="1200"/>
                </a:lnSpc>
                <a:buNone/>
              </a:pPr>
              <a:r>
                <a:rPr lang="en-US" sz="900" spc="54" kern="0" b="0" i="0" dirty="0">
                  <a:solidFill>
                    <a:srgbClr val="FFFFFF"/>
                  </a:solidFill>
                  <a:latin typeface="IBM Plex Mono Medium"/>
                  <a:ea typeface="IBM Plex Mono Medium"/>
                  <a:cs typeface="IBM Plex Mono Medium"/>
                </a:rPr>
                <a:t>A6</a:t>
              </a:r>
              <a:endParaRPr lang="en-US" sz="900" spc="54" kern="0" b="0" i="0" dirty="0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endParaRPr>
            </a:p>
          </p:txBody>
        </p:sp>
      </p:grpSp>
      <p:grpSp>
        <p:nvGrpSpPr>
          <p:cNvPr id="179" name="node13"/>
          <p:cNvGrpSpPr/>
          <p:nvPr/>
        </p:nvGrpSpPr>
        <p:grpSpPr>
          <a:xfrm>
            <a:off x="9309100" y="5054600"/>
            <a:ext cx="1930400" cy="228600"/>
            <a:chOff x="9309100" y="5054600"/>
            <a:chExt cx="1930400" cy="228600"/>
          </a:xfrm>
        </p:grpSpPr>
        <p:sp>
          <p:nvSpPr>
            <p:cNvPr id="166" name="node13.text"/>
            <p:cNvSpPr/>
            <p:nvPr/>
          </p:nvSpPr>
          <p:spPr>
            <a:xfrm>
              <a:off x="9309100" y="5054600"/>
              <a:ext cx="193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ts val="1800"/>
                </a:lnSpc>
                <a:buNone/>
              </a:pPr>
              <a:r>
                <a:rPr lang="en-US" sz="1200" spc="0" kern="0" b="0" i="0" dirty="0">
                  <a:solidFill>
                    <a:srgbClr val="070154"/>
                  </a:solidFill>
                  <a:latin typeface="IBM Plex Sans"/>
                  <a:ea typeface="IBM Plex Sans"/>
                  <a:cs typeface="IBM Plex Sans"/>
                </a:rPr>
                <a:t>Denials management</a:t>
              </a:r>
              <a:endParaRPr lang="en-US" sz="1200" spc="0" kern="0" b="0" i="0" dirty="0">
                <a:solidFill>
                  <a:srgbClr val="070154"/>
                </a:solidFill>
                <a:latin typeface="IBM Plex Sans"/>
                <a:ea typeface="IBM Plex Sans"/>
                <a:cs typeface="IBM Plex Sans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WMDS foundation reference</dc:title>
  <dc:subject>PptxGenJS Presentation</dc:subject>
  <dc:creator>West Monroe</dc:creator>
  <cp:lastModifiedBy>West Monroe</cp:lastModifiedBy>
  <cp:revision>1</cp:revision>
  <dcterms:created xsi:type="dcterms:W3CDTF">2026-10-05T00:25:11Z</dcterms:created>
  <dcterms:modified xsi:type="dcterms:W3CDTF">2026-10-05T00:25:11Z</dcterms:modified>
</cp:coreProperties>
</file>