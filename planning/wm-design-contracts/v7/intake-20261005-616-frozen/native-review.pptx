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53c346042c23db17db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00748f160d66bb2745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08f542bbe0b661588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8288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ad6910ea27b9db5aa0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600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65fa27430157ff1bff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d30880dcfd75d549064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581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581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7810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7810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8039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8267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8496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8724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8953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9182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9410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9639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9867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10096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8039100" y="1600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 half day on how patients get access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6" name="node01"/>
          <p:cNvGrpSpPr/>
          <p:nvPr/>
        </p:nvGrpSpPr>
        <p:grpSpPr>
          <a:xfrm>
            <a:off x="723900" y="1600200"/>
            <a:ext cx="9525000" cy="762000"/>
            <a:chOff x="723900" y="1600200"/>
            <a:chExt cx="9525000" cy="762000"/>
          </a:xfrm>
        </p:grpSpPr>
        <p:sp>
          <p:nvSpPr>
            <p:cNvPr id="6" name="node01.text"/>
            <p:cNvSpPr/>
            <p:nvPr/>
          </p:nvSpPr>
          <p:spPr>
            <a:xfrm>
              <a:off x="723900" y="1600200"/>
              <a:ext cx="95250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In one morning, Northfield leaders agree how patients get in, know the cost and get paid.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0" name="node02"/>
          <p:cNvGrpSpPr/>
          <p:nvPr/>
        </p:nvGrpSpPr>
        <p:grpSpPr>
          <a:xfrm>
            <a:off x="723900" y="2514600"/>
            <a:ext cx="10744200" cy="1371600"/>
            <a:chOff x="723900" y="2514600"/>
            <a:chExt cx="10744200" cy="1371600"/>
          </a:xfrm>
        </p:grpSpPr>
        <p:grpSp>
          <p:nvGrpSpPr>
            <p:cNvPr id="47" name="node02.item-001"/>
            <p:cNvGrpSpPr/>
            <p:nvPr/>
          </p:nvGrpSpPr>
          <p:grpSpPr>
            <a:xfrm>
              <a:off x="723900" y="2514600"/>
              <a:ext cx="3429000" cy="1371600"/>
              <a:chOff x="723900" y="2514600"/>
              <a:chExt cx="3429000" cy="1371600"/>
            </a:xfrm>
          </p:grpSpPr>
          <p:sp>
            <p:nvSpPr>
              <p:cNvPr id="7" name="node02.item-001.container"/>
              <p:cNvSpPr/>
              <p:nvPr/>
            </p:nvSpPr>
            <p:spPr>
              <a:xfrm>
                <a:off x="723900" y="2514600"/>
                <a:ext cx="3429000" cy="13716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8" name="node02.item-001.number"/>
              <p:cNvSpPr/>
              <p:nvPr/>
            </p:nvSpPr>
            <p:spPr>
              <a:xfrm>
                <a:off x="952500" y="2743200"/>
                <a:ext cx="285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01</a:t>
                </a:r>
                <a:endPara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9" name="node02.item-001.title"/>
              <p:cNvSpPr/>
              <p:nvPr/>
            </p:nvSpPr>
            <p:spPr>
              <a:xfrm>
                <a:off x="1352550" y="2743200"/>
                <a:ext cx="2571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-18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Getting patients in</a:t>
                </a:r>
                <a:endPara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10" name="node02.item-001.body.item-001.paragraph"/>
              <p:cNvSpPr/>
              <p:nvPr/>
            </p:nvSpPr>
            <p:spPr>
              <a:xfrm>
                <a:off x="952500" y="3162300"/>
                <a:ext cx="29718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Scheduling and registration: one front door and one booking template.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48" name="node02.item-002"/>
            <p:cNvGrpSpPr/>
            <p:nvPr/>
          </p:nvGrpSpPr>
          <p:grpSpPr>
            <a:xfrm>
              <a:off x="4381500" y="2514600"/>
              <a:ext cx="3429000" cy="1371600"/>
              <a:chOff x="4381500" y="2514600"/>
              <a:chExt cx="3429000" cy="1371600"/>
            </a:xfrm>
          </p:grpSpPr>
          <p:sp>
            <p:nvSpPr>
              <p:cNvPr id="11" name="node02.item-002.container"/>
              <p:cNvSpPr/>
              <p:nvPr/>
            </p:nvSpPr>
            <p:spPr>
              <a:xfrm>
                <a:off x="4381500" y="2514600"/>
                <a:ext cx="3429000" cy="13716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12" name="node02.item-002.number"/>
              <p:cNvSpPr/>
              <p:nvPr/>
            </p:nvSpPr>
            <p:spPr>
              <a:xfrm>
                <a:off x="4610100" y="2743200"/>
                <a:ext cx="285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02</a:t>
                </a:r>
                <a:endPara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13" name="node02.item-002.title"/>
              <p:cNvSpPr/>
              <p:nvPr/>
            </p:nvSpPr>
            <p:spPr>
              <a:xfrm>
                <a:off x="5010150" y="2743200"/>
                <a:ext cx="2571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-18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Knowing the cost</a:t>
                </a:r>
                <a:endPara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14" name="node02.item-002.body.item-001.paragraph"/>
              <p:cNvSpPr/>
              <p:nvPr/>
            </p:nvSpPr>
            <p:spPr>
              <a:xfrm>
                <a:off x="4610100" y="3162300"/>
                <a:ext cx="29718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Estimates: a reliable price before the patient books.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49" name="node02.item-003"/>
            <p:cNvGrpSpPr/>
            <p:nvPr/>
          </p:nvGrpSpPr>
          <p:grpSpPr>
            <a:xfrm>
              <a:off x="8039100" y="2514600"/>
              <a:ext cx="3429000" cy="1371600"/>
              <a:chOff x="8039100" y="2514600"/>
              <a:chExt cx="3429000" cy="1371600"/>
            </a:xfrm>
          </p:grpSpPr>
          <p:sp>
            <p:nvSpPr>
              <p:cNvPr id="15" name="node02.item-003.container"/>
              <p:cNvSpPr/>
              <p:nvPr/>
            </p:nvSpPr>
            <p:spPr>
              <a:xfrm>
                <a:off x="8039100" y="2514600"/>
                <a:ext cx="3429000" cy="13716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16" name="node02.item-003.number"/>
              <p:cNvSpPr/>
              <p:nvPr/>
            </p:nvSpPr>
            <p:spPr>
              <a:xfrm>
                <a:off x="8267700" y="2743200"/>
                <a:ext cx="285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03</a:t>
                </a:r>
                <a:endPara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17" name="node02.item-003.title"/>
              <p:cNvSpPr/>
              <p:nvPr/>
            </p:nvSpPr>
            <p:spPr>
              <a:xfrm>
                <a:off x="8667750" y="2743200"/>
                <a:ext cx="2571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-18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Getting paid</a:t>
                </a:r>
                <a:endPara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18" name="node02.item-003.body.item-001.paragraph"/>
              <p:cNvSpPr/>
              <p:nvPr/>
            </p:nvSpPr>
            <p:spPr>
              <a:xfrm>
                <a:off x="8267700" y="3162300"/>
                <a:ext cx="29718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Denials: stop front-end causes before the claim is sent.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  <p:grpSp>
        <p:nvGrpSpPr>
          <p:cNvPr id="51" name="node03"/>
          <p:cNvGrpSpPr/>
          <p:nvPr/>
        </p:nvGrpSpPr>
        <p:grpSpPr>
          <a:xfrm>
            <a:off x="723900" y="4343400"/>
            <a:ext cx="3429000" cy="228600"/>
            <a:chOff x="723900" y="4343400"/>
            <a:chExt cx="3429000" cy="228600"/>
          </a:xfrm>
        </p:grpSpPr>
        <p:sp>
          <p:nvSpPr>
            <p:cNvPr id="19" name="node03.label"/>
            <p:cNvSpPr/>
            <p:nvPr/>
          </p:nvSpPr>
          <p:spPr>
            <a:xfrm>
              <a:off x="723900" y="4343400"/>
              <a:ext cx="47612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AGENDA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0" name="node03.rule"/>
            <p:cNvSpPr/>
            <p:nvPr/>
          </p:nvSpPr>
          <p:spPr>
            <a:xfrm>
              <a:off x="1327026" y="4452938"/>
              <a:ext cx="2825874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1" name="node04"/>
          <p:cNvSpPr/>
          <p:nvPr/>
        </p:nvSpPr>
        <p:spPr>
          <a:xfrm>
            <a:off x="723900" y="4572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2" name="node05"/>
          <p:cNvGrpSpPr/>
          <p:nvPr/>
        </p:nvGrpSpPr>
        <p:grpSpPr>
          <a:xfrm>
            <a:off x="723900" y="4800600"/>
            <a:ext cx="3429000" cy="1117600"/>
            <a:chOff x="723900" y="4800600"/>
            <a:chExt cx="3429000" cy="1117600"/>
          </a:xfrm>
        </p:grpSpPr>
        <p:sp>
          <p:nvSpPr>
            <p:cNvPr id="22" name="node05.source-001.key"/>
            <p:cNvSpPr/>
            <p:nvPr/>
          </p:nvSpPr>
          <p:spPr>
            <a:xfrm>
              <a:off x="723900" y="4800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5.source-001.text"/>
            <p:cNvSpPr/>
            <p:nvPr/>
          </p:nvSpPr>
          <p:spPr>
            <a:xfrm>
              <a:off x="1562100" y="4804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Welcome and goals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4" name="node05.source-002.key"/>
            <p:cNvSpPr/>
            <p:nvPr/>
          </p:nvSpPr>
          <p:spPr>
            <a:xfrm>
              <a:off x="723900" y="50800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5.source-002.text"/>
            <p:cNvSpPr/>
            <p:nvPr/>
          </p:nvSpPr>
          <p:spPr>
            <a:xfrm>
              <a:off x="1562100" y="50841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by area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6" name="node05.source-003.key"/>
            <p:cNvSpPr/>
            <p:nvPr/>
          </p:nvSpPr>
          <p:spPr>
            <a:xfrm>
              <a:off x="723900" y="5359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11:40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5.source-003.text"/>
            <p:cNvSpPr/>
            <p:nvPr/>
          </p:nvSpPr>
          <p:spPr>
            <a:xfrm>
              <a:off x="1562100" y="5363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Decisions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05.source-004.key"/>
            <p:cNvSpPr/>
            <p:nvPr/>
          </p:nvSpPr>
          <p:spPr>
            <a:xfrm>
              <a:off x="723900" y="5638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12:00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5.source-004.text"/>
            <p:cNvSpPr/>
            <p:nvPr/>
          </p:nvSpPr>
          <p:spPr>
            <a:xfrm>
              <a:off x="1562100" y="5642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53" name="node06"/>
          <p:cNvGrpSpPr/>
          <p:nvPr/>
        </p:nvGrpSpPr>
        <p:grpSpPr>
          <a:xfrm>
            <a:off x="4381500" y="4343400"/>
            <a:ext cx="3429000" cy="228600"/>
            <a:chOff x="4381500" y="4343400"/>
            <a:chExt cx="3429000" cy="228600"/>
          </a:xfrm>
        </p:grpSpPr>
        <p:sp>
          <p:nvSpPr>
            <p:cNvPr id="30" name="node06.label"/>
            <p:cNvSpPr/>
            <p:nvPr/>
          </p:nvSpPr>
          <p:spPr>
            <a:xfrm>
              <a:off x="4381500" y="4343400"/>
              <a:ext cx="145269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YOU WILL LEAVE WITH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1" name="node06.rule"/>
            <p:cNvSpPr/>
            <p:nvPr/>
          </p:nvSpPr>
          <p:spPr>
            <a:xfrm>
              <a:off x="5961199" y="4452938"/>
              <a:ext cx="184930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2" name="node07"/>
          <p:cNvSpPr/>
          <p:nvPr/>
        </p:nvSpPr>
        <p:spPr>
          <a:xfrm>
            <a:off x="4381500" y="4572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4" name="node08"/>
          <p:cNvGrpSpPr/>
          <p:nvPr/>
        </p:nvGrpSpPr>
        <p:grpSpPr>
          <a:xfrm>
            <a:off x="4381500" y="4800600"/>
            <a:ext cx="3429000" cy="762000"/>
            <a:chOff x="4381500" y="4800600"/>
            <a:chExt cx="3429000" cy="762000"/>
          </a:xfrm>
        </p:grpSpPr>
        <p:sp>
          <p:nvSpPr>
            <p:cNvPr id="33" name="node08.source-001.bullet"/>
            <p:cNvSpPr/>
            <p:nvPr/>
          </p:nvSpPr>
          <p:spPr>
            <a:xfrm>
              <a:off x="4381500" y="4889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4" name="node08.source-001.text"/>
            <p:cNvSpPr/>
            <p:nvPr/>
          </p:nvSpPr>
          <p:spPr>
            <a:xfrm>
              <a:off x="4533900" y="4800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future-state design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08.source-002.bullet"/>
            <p:cNvSpPr/>
            <p:nvPr/>
          </p:nvSpPr>
          <p:spPr>
            <a:xfrm>
              <a:off x="43815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6" name="node08.source-002.text"/>
            <p:cNvSpPr/>
            <p:nvPr/>
          </p:nvSpPr>
          <p:spPr>
            <a:xfrm>
              <a:off x="4533900" y="5067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Owners for each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08.source-003.bullet"/>
            <p:cNvSpPr/>
            <p:nvPr/>
          </p:nvSpPr>
          <p:spPr>
            <a:xfrm>
              <a:off x="4381500" y="5422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08.source-003.text"/>
            <p:cNvSpPr/>
            <p:nvPr/>
          </p:nvSpPr>
          <p:spPr>
            <a:xfrm>
              <a:off x="4533900" y="5334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shortlist to prioritize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5" name="node09"/>
          <p:cNvGrpSpPr/>
          <p:nvPr/>
        </p:nvGrpSpPr>
        <p:grpSpPr>
          <a:xfrm>
            <a:off x="8039100" y="4343400"/>
            <a:ext cx="3429000" cy="228600"/>
            <a:chOff x="8039100" y="4343400"/>
            <a:chExt cx="3429000" cy="228600"/>
          </a:xfrm>
        </p:grpSpPr>
        <p:sp>
          <p:nvSpPr>
            <p:cNvPr id="39" name="node09.label"/>
            <p:cNvSpPr/>
            <p:nvPr/>
          </p:nvSpPr>
          <p:spPr>
            <a:xfrm>
              <a:off x="8039100" y="4343400"/>
              <a:ext cx="70148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WHO JOINS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0" name="node09.rule"/>
            <p:cNvSpPr/>
            <p:nvPr/>
          </p:nvSpPr>
          <p:spPr>
            <a:xfrm>
              <a:off x="8867589" y="4452938"/>
              <a:ext cx="260051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1" name="node10"/>
          <p:cNvSpPr/>
          <p:nvPr/>
        </p:nvSpPr>
        <p:spPr>
          <a:xfrm>
            <a:off x="8039100" y="4572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6" name="node11"/>
          <p:cNvGrpSpPr/>
          <p:nvPr/>
        </p:nvGrpSpPr>
        <p:grpSpPr>
          <a:xfrm>
            <a:off x="8039100" y="4800600"/>
            <a:ext cx="3429000" cy="495300"/>
            <a:chOff x="8039100" y="4800600"/>
            <a:chExt cx="3429000" cy="495300"/>
          </a:xfrm>
        </p:grpSpPr>
        <p:sp>
          <p:nvSpPr>
            <p:cNvPr id="42" name="node11.source-001.bullet"/>
            <p:cNvSpPr/>
            <p:nvPr/>
          </p:nvSpPr>
          <p:spPr>
            <a:xfrm>
              <a:off x="8039100" y="4889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3" name="node11.source-001.text"/>
            <p:cNvSpPr/>
            <p:nvPr/>
          </p:nvSpPr>
          <p:spPr>
            <a:xfrm>
              <a:off x="8191500" y="4800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Executive sponsors and area leads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1.source-002.bullet"/>
            <p:cNvSpPr/>
            <p:nvPr/>
          </p:nvSpPr>
          <p:spPr>
            <a:xfrm>
              <a:off x="80391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11.source-002.text"/>
            <p:cNvSpPr/>
            <p:nvPr/>
          </p:nvSpPr>
          <p:spPr>
            <a:xfrm>
              <a:off x="8191500" y="5067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Oct 28 · half day · HQ and video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 half day to agree how patients get access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9" name="node01"/>
          <p:cNvGrpSpPr/>
          <p:nvPr/>
        </p:nvGrpSpPr>
        <p:grpSpPr>
          <a:xfrm>
            <a:off x="723900" y="1600200"/>
            <a:ext cx="3429000" cy="228600"/>
            <a:chOff x="723900" y="1600200"/>
            <a:chExt cx="3429000" cy="228600"/>
          </a:xfrm>
        </p:grpSpPr>
        <p:sp>
          <p:nvSpPr>
            <p:cNvPr id="6" name="node01.label"/>
            <p:cNvSpPr/>
            <p:nvPr/>
          </p:nvSpPr>
          <p:spPr>
            <a:xfrm>
              <a:off x="723900" y="1600200"/>
              <a:ext cx="167806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PURPOSE AND OBJECTIVES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2528962" y="1709738"/>
              <a:ext cx="162393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7239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0" name="node03"/>
          <p:cNvGrpSpPr/>
          <p:nvPr/>
        </p:nvGrpSpPr>
        <p:grpSpPr>
          <a:xfrm>
            <a:off x="723900" y="2057400"/>
            <a:ext cx="3429000" cy="457200"/>
            <a:chOff x="723900" y="2057400"/>
            <a:chExt cx="3429000" cy="457200"/>
          </a:xfrm>
        </p:grpSpPr>
        <p:sp>
          <p:nvSpPr>
            <p:cNvPr id="9" name="node03.text"/>
            <p:cNvSpPr/>
            <p:nvPr/>
          </p:nvSpPr>
          <p:spPr>
            <a:xfrm>
              <a:off x="723900" y="20574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 how patients will schedule, register, get estimates and avoid denials at Northfield.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1" name="node04"/>
          <p:cNvGrpSpPr/>
          <p:nvPr/>
        </p:nvGrpSpPr>
        <p:grpSpPr>
          <a:xfrm>
            <a:off x="723900" y="2743200"/>
            <a:ext cx="3429000" cy="1028700"/>
            <a:chOff x="723900" y="2743200"/>
            <a:chExt cx="3429000" cy="1028700"/>
          </a:xfrm>
        </p:grpSpPr>
        <p:sp>
          <p:nvSpPr>
            <p:cNvPr id="10" name="node04.source-001.bullet"/>
            <p:cNvSpPr/>
            <p:nvPr/>
          </p:nvSpPr>
          <p:spPr>
            <a:xfrm>
              <a:off x="723900" y="2832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4.source-001.text"/>
            <p:cNvSpPr/>
            <p:nvPr/>
          </p:nvSpPr>
          <p:spPr>
            <a:xfrm>
              <a:off x="876300" y="2743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future-state journey, end to end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4.source-002.bullet"/>
            <p:cNvSpPr/>
            <p:nvPr/>
          </p:nvSpPr>
          <p:spPr>
            <a:xfrm>
              <a:off x="723900" y="3098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4.source-002.text"/>
            <p:cNvSpPr/>
            <p:nvPr/>
          </p:nvSpPr>
          <p:spPr>
            <a:xfrm>
              <a:off x="876300" y="3009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Owners named for each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4.source-003.bullet"/>
            <p:cNvSpPr/>
            <p:nvPr/>
          </p:nvSpPr>
          <p:spPr>
            <a:xfrm>
              <a:off x="723900" y="3365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4.source-003.text"/>
            <p:cNvSpPr/>
            <p:nvPr/>
          </p:nvSpPr>
          <p:spPr>
            <a:xfrm>
              <a:off x="876300" y="3276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shortlist ready to prioritize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4.source-004.bullet"/>
            <p:cNvSpPr/>
            <p:nvPr/>
          </p:nvSpPr>
          <p:spPr>
            <a:xfrm>
              <a:off x="723900" y="3632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4.source-004.text"/>
            <p:cNvSpPr/>
            <p:nvPr/>
          </p:nvSpPr>
          <p:spPr>
            <a:xfrm>
              <a:off x="876300" y="3543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Agreed focus for session 3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05"/>
          <p:cNvGrpSpPr/>
          <p:nvPr/>
        </p:nvGrpSpPr>
        <p:grpSpPr>
          <a:xfrm>
            <a:off x="4381500" y="1600200"/>
            <a:ext cx="3429000" cy="228600"/>
            <a:chOff x="4381500" y="1600200"/>
            <a:chExt cx="3429000" cy="228600"/>
          </a:xfrm>
        </p:grpSpPr>
        <p:sp>
          <p:nvSpPr>
            <p:cNvPr id="18" name="node05.label"/>
            <p:cNvSpPr/>
            <p:nvPr/>
          </p:nvSpPr>
          <p:spPr>
            <a:xfrm>
              <a:off x="4381500" y="1600200"/>
              <a:ext cx="130245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AGENDA · HALF DAY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9" name="node05.rule"/>
            <p:cNvSpPr/>
            <p:nvPr/>
          </p:nvSpPr>
          <p:spPr>
            <a:xfrm>
              <a:off x="5810957" y="1709738"/>
              <a:ext cx="199954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0" name="node06"/>
          <p:cNvSpPr/>
          <p:nvPr/>
        </p:nvSpPr>
        <p:spPr>
          <a:xfrm>
            <a:off x="43815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3" name="node07"/>
          <p:cNvGrpSpPr/>
          <p:nvPr/>
        </p:nvGrpSpPr>
        <p:grpSpPr>
          <a:xfrm>
            <a:off x="4381500" y="2057400"/>
            <a:ext cx="3429000" cy="1955800"/>
            <a:chOff x="4381500" y="2057400"/>
            <a:chExt cx="3429000" cy="1955800"/>
          </a:xfrm>
        </p:grpSpPr>
        <p:sp>
          <p:nvSpPr>
            <p:cNvPr id="21" name="node07.source-001.key"/>
            <p:cNvSpPr/>
            <p:nvPr/>
          </p:nvSpPr>
          <p:spPr>
            <a:xfrm>
              <a:off x="4381500" y="2057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7.source-001.text"/>
            <p:cNvSpPr/>
            <p:nvPr/>
          </p:nvSpPr>
          <p:spPr>
            <a:xfrm>
              <a:off x="5219700" y="2061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Welcome and goals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7.source-002.key"/>
            <p:cNvSpPr/>
            <p:nvPr/>
          </p:nvSpPr>
          <p:spPr>
            <a:xfrm>
              <a:off x="4381500" y="2336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9:15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7.source-002.text"/>
            <p:cNvSpPr/>
            <p:nvPr/>
          </p:nvSpPr>
          <p:spPr>
            <a:xfrm>
              <a:off x="5219700" y="2340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Current-state recap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5" name="node07.source-003.key"/>
            <p:cNvSpPr/>
            <p:nvPr/>
          </p:nvSpPr>
          <p:spPr>
            <a:xfrm>
              <a:off x="4381500" y="26162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7.source-003.text"/>
            <p:cNvSpPr/>
            <p:nvPr/>
          </p:nvSpPr>
          <p:spPr>
            <a:xfrm>
              <a:off x="5219700" y="26203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Future-state design by area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07.source-004.key"/>
            <p:cNvSpPr/>
            <p:nvPr/>
          </p:nvSpPr>
          <p:spPr>
            <a:xfrm>
              <a:off x="4381500" y="2895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10:45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7.source-004.text"/>
            <p:cNvSpPr/>
            <p:nvPr/>
          </p:nvSpPr>
          <p:spPr>
            <a:xfrm>
              <a:off x="5219700" y="2899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Break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9" name="node07.source-005.key"/>
            <p:cNvSpPr/>
            <p:nvPr/>
          </p:nvSpPr>
          <p:spPr>
            <a:xfrm>
              <a:off x="4381500" y="31750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0" name="node07.source-005.text"/>
            <p:cNvSpPr/>
            <p:nvPr/>
          </p:nvSpPr>
          <p:spPr>
            <a:xfrm>
              <a:off x="5219700" y="31791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Playback and gaps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1" name="node07.source-006.key"/>
            <p:cNvSpPr/>
            <p:nvPr/>
          </p:nvSpPr>
          <p:spPr>
            <a:xfrm>
              <a:off x="4381500" y="3454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11:40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7.source-006.text"/>
            <p:cNvSpPr/>
            <p:nvPr/>
          </p:nvSpPr>
          <p:spPr>
            <a:xfrm>
              <a:off x="5219700" y="3458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Decisions and next steps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07.source-007.key"/>
            <p:cNvSpPr/>
            <p:nvPr/>
          </p:nvSpPr>
          <p:spPr>
            <a:xfrm>
              <a:off x="4381500" y="3733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12:00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7.source-007.text"/>
            <p:cNvSpPr/>
            <p:nvPr/>
          </p:nvSpPr>
          <p:spPr>
            <a:xfrm>
              <a:off x="5219700" y="3737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4" name="node08"/>
          <p:cNvGrpSpPr/>
          <p:nvPr/>
        </p:nvGrpSpPr>
        <p:grpSpPr>
          <a:xfrm>
            <a:off x="8039100" y="1600200"/>
            <a:ext cx="3429000" cy="228600"/>
            <a:chOff x="8039100" y="1600200"/>
            <a:chExt cx="3429000" cy="228600"/>
          </a:xfrm>
        </p:grpSpPr>
        <p:sp>
          <p:nvSpPr>
            <p:cNvPr id="35" name="node08.label"/>
            <p:cNvSpPr/>
            <p:nvPr/>
          </p:nvSpPr>
          <p:spPr>
            <a:xfrm>
              <a:off x="8039100" y="16002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AREAS OF FOCUS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6" name="node08.rule"/>
            <p:cNvSpPr/>
            <p:nvPr/>
          </p:nvSpPr>
          <p:spPr>
            <a:xfrm>
              <a:off x="9243194" y="1709738"/>
              <a:ext cx="22249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7" name="node09"/>
          <p:cNvSpPr/>
          <p:nvPr/>
        </p:nvSpPr>
        <p:spPr>
          <a:xfrm>
            <a:off x="80391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5" name="node10"/>
          <p:cNvGrpSpPr/>
          <p:nvPr/>
        </p:nvGrpSpPr>
        <p:grpSpPr>
          <a:xfrm>
            <a:off x="8039100" y="2057400"/>
            <a:ext cx="3429000" cy="1943100"/>
            <a:chOff x="8039100" y="2057400"/>
            <a:chExt cx="3429000" cy="1943100"/>
          </a:xfrm>
        </p:grpSpPr>
        <p:sp>
          <p:nvSpPr>
            <p:cNvPr id="38" name="node10.source-001.number"/>
            <p:cNvSpPr/>
            <p:nvPr/>
          </p:nvSpPr>
          <p:spPr>
            <a:xfrm>
              <a:off x="8039100" y="20574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10.source-001.text"/>
            <p:cNvSpPr/>
            <p:nvPr/>
          </p:nvSpPr>
          <p:spPr>
            <a:xfrm>
              <a:off x="8191500" y="20574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Scheduling. One front door and one template for every service line.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10.source-002.number"/>
            <p:cNvSpPr/>
            <p:nvPr/>
          </p:nvSpPr>
          <p:spPr>
            <a:xfrm>
              <a:off x="8039100" y="25527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10.source-002.text"/>
            <p:cNvSpPr/>
            <p:nvPr/>
          </p:nvSpPr>
          <p:spPr>
            <a:xfrm>
              <a:off x="8191500" y="25527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Registration. Capture insurance and consent once, before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10.source-003.number"/>
            <p:cNvSpPr/>
            <p:nvPr/>
          </p:nvSpPr>
          <p:spPr>
            <a:xfrm>
              <a:off x="8039100" y="30480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10.source-003.text"/>
            <p:cNvSpPr/>
            <p:nvPr/>
          </p:nvSpPr>
          <p:spPr>
            <a:xfrm>
              <a:off x="8191500" y="30480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Estimates. A price patients can rely on before they book.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0.source-004.number"/>
            <p:cNvSpPr/>
            <p:nvPr/>
          </p:nvSpPr>
          <p:spPr>
            <a:xfrm>
              <a:off x="8039100" y="35433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10.source-004.text"/>
            <p:cNvSpPr/>
            <p:nvPr/>
          </p:nvSpPr>
          <p:spPr>
            <a:xfrm>
              <a:off x="8191500" y="35433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Denials. Stop front-end causes before the claim is sent.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6" name="node11"/>
          <p:cNvGrpSpPr/>
          <p:nvPr/>
        </p:nvGrpSpPr>
        <p:grpSpPr>
          <a:xfrm>
            <a:off x="723900" y="4114800"/>
            <a:ext cx="3429000" cy="228600"/>
            <a:chOff x="723900" y="4114800"/>
            <a:chExt cx="3429000" cy="228600"/>
          </a:xfrm>
        </p:grpSpPr>
        <p:sp>
          <p:nvSpPr>
            <p:cNvPr id="46" name="node11.label"/>
            <p:cNvSpPr/>
            <p:nvPr/>
          </p:nvSpPr>
          <p:spPr>
            <a:xfrm>
              <a:off x="723900" y="4114800"/>
              <a:ext cx="130245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EXPECTED OUTCOMES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11.rule"/>
            <p:cNvSpPr/>
            <p:nvPr/>
          </p:nvSpPr>
          <p:spPr>
            <a:xfrm>
              <a:off x="2153357" y="4224338"/>
              <a:ext cx="199954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8" name="node12"/>
          <p:cNvSpPr/>
          <p:nvPr/>
        </p:nvSpPr>
        <p:spPr>
          <a:xfrm>
            <a:off x="723900" y="4343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7" name="node13"/>
          <p:cNvGrpSpPr/>
          <p:nvPr/>
        </p:nvGrpSpPr>
        <p:grpSpPr>
          <a:xfrm>
            <a:off x="723900" y="4572000"/>
            <a:ext cx="3429000" cy="1028700"/>
            <a:chOff x="723900" y="4572000"/>
            <a:chExt cx="3429000" cy="1028700"/>
          </a:xfrm>
        </p:grpSpPr>
        <p:sp>
          <p:nvSpPr>
            <p:cNvPr id="49" name="node13.source-001.bullet"/>
            <p:cNvSpPr/>
            <p:nvPr/>
          </p:nvSpPr>
          <p:spPr>
            <a:xfrm>
              <a:off x="723900" y="4660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13.source-001.text"/>
            <p:cNvSpPr/>
            <p:nvPr/>
          </p:nvSpPr>
          <p:spPr>
            <a:xfrm>
              <a:off x="876300" y="4572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Future-state process for each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1" name="node13.source-002.bullet"/>
            <p:cNvSpPr/>
            <p:nvPr/>
          </p:nvSpPr>
          <p:spPr>
            <a:xfrm>
              <a:off x="723900" y="4927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13.source-002.text"/>
            <p:cNvSpPr/>
            <p:nvPr/>
          </p:nvSpPr>
          <p:spPr>
            <a:xfrm>
              <a:off x="876300" y="4838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Decisions log with owners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3" name="node13.source-003.bullet"/>
            <p:cNvSpPr/>
            <p:nvPr/>
          </p:nvSpPr>
          <p:spPr>
            <a:xfrm>
              <a:off x="723900" y="5194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4" name="node13.source-003.text"/>
            <p:cNvSpPr/>
            <p:nvPr/>
          </p:nvSpPr>
          <p:spPr>
            <a:xfrm>
              <a:off x="876300" y="5105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Ranked list of 12 to 15 opportunities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5" name="node13.source-004.bullet"/>
            <p:cNvSpPr/>
            <p:nvPr/>
          </p:nvSpPr>
          <p:spPr>
            <a:xfrm>
              <a:off x="7239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6" name="node13.source-004.text"/>
            <p:cNvSpPr/>
            <p:nvPr/>
          </p:nvSpPr>
          <p:spPr>
            <a:xfrm>
              <a:off x="876300" y="5372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Draft target measures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8" name="node14"/>
          <p:cNvGrpSpPr/>
          <p:nvPr/>
        </p:nvGrpSpPr>
        <p:grpSpPr>
          <a:xfrm>
            <a:off x="4381500" y="4114800"/>
            <a:ext cx="3429000" cy="228600"/>
            <a:chOff x="4381500" y="4114800"/>
            <a:chExt cx="3429000" cy="228600"/>
          </a:xfrm>
        </p:grpSpPr>
        <p:sp>
          <p:nvSpPr>
            <p:cNvPr id="57" name="node14.label"/>
            <p:cNvSpPr/>
            <p:nvPr/>
          </p:nvSpPr>
          <p:spPr>
            <a:xfrm>
              <a:off x="4381500" y="4114800"/>
              <a:ext cx="130245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WHO SHOULD ATTEND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8" name="node14.rule"/>
            <p:cNvSpPr/>
            <p:nvPr/>
          </p:nvSpPr>
          <p:spPr>
            <a:xfrm>
              <a:off x="5810957" y="4224338"/>
              <a:ext cx="199954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9" name="node15"/>
          <p:cNvSpPr/>
          <p:nvPr/>
        </p:nvSpPr>
        <p:spPr>
          <a:xfrm>
            <a:off x="4381500" y="4343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9" name="node16"/>
          <p:cNvGrpSpPr/>
          <p:nvPr/>
        </p:nvGrpSpPr>
        <p:grpSpPr>
          <a:xfrm>
            <a:off x="4381500" y="4572000"/>
            <a:ext cx="3429000" cy="1028700"/>
            <a:chOff x="4381500" y="4572000"/>
            <a:chExt cx="3429000" cy="1028700"/>
          </a:xfrm>
        </p:grpSpPr>
        <p:sp>
          <p:nvSpPr>
            <p:cNvPr id="60" name="node16.source-001.bullet"/>
            <p:cNvSpPr/>
            <p:nvPr/>
          </p:nvSpPr>
          <p:spPr>
            <a:xfrm>
              <a:off x="4381500" y="4660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1" name="node16.source-001.text"/>
            <p:cNvSpPr/>
            <p:nvPr/>
          </p:nvSpPr>
          <p:spPr>
            <a:xfrm>
              <a:off x="4533900" y="4572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 access and scheduling leaders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2" name="node16.source-002.bullet"/>
            <p:cNvSpPr/>
            <p:nvPr/>
          </p:nvSpPr>
          <p:spPr>
            <a:xfrm>
              <a:off x="4381500" y="4927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3" name="node16.source-002.text"/>
            <p:cNvSpPr/>
            <p:nvPr/>
          </p:nvSpPr>
          <p:spPr>
            <a:xfrm>
              <a:off x="4533900" y="4838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Revenue cycle and denials managers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16.source-003.bullet"/>
            <p:cNvSpPr/>
            <p:nvPr/>
          </p:nvSpPr>
          <p:spPr>
            <a:xfrm>
              <a:off x="4381500" y="5194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5" name="node16.source-003.text"/>
            <p:cNvSpPr/>
            <p:nvPr/>
          </p:nvSpPr>
          <p:spPr>
            <a:xfrm>
              <a:off x="4533900" y="5105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Registration supervisors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6" name="node16.source-004.bullet"/>
            <p:cNvSpPr/>
            <p:nvPr/>
          </p:nvSpPr>
          <p:spPr>
            <a:xfrm>
              <a:off x="43815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7" name="node16.source-004.text"/>
            <p:cNvSpPr/>
            <p:nvPr/>
          </p:nvSpPr>
          <p:spPr>
            <a:xfrm>
              <a:off x="4533900" y="5372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IT application owners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0" name="node17"/>
          <p:cNvGrpSpPr/>
          <p:nvPr/>
        </p:nvGrpSpPr>
        <p:grpSpPr>
          <a:xfrm>
            <a:off x="8039100" y="4114800"/>
            <a:ext cx="3429000" cy="228600"/>
            <a:chOff x="8039100" y="4114800"/>
            <a:chExt cx="3429000" cy="228600"/>
          </a:xfrm>
        </p:grpSpPr>
        <p:sp>
          <p:nvSpPr>
            <p:cNvPr id="68" name="node17.label"/>
            <p:cNvSpPr/>
            <p:nvPr/>
          </p:nvSpPr>
          <p:spPr>
            <a:xfrm>
              <a:off x="8039100" y="4114800"/>
              <a:ext cx="6263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PRE-WORK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9" name="node17.rule"/>
            <p:cNvSpPr/>
            <p:nvPr/>
          </p:nvSpPr>
          <p:spPr>
            <a:xfrm>
              <a:off x="8792468" y="4224338"/>
              <a:ext cx="267563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70" name="node18"/>
          <p:cNvSpPr/>
          <p:nvPr/>
        </p:nvSpPr>
        <p:spPr>
          <a:xfrm>
            <a:off x="8039100" y="4343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1" name="node19"/>
          <p:cNvGrpSpPr/>
          <p:nvPr/>
        </p:nvGrpSpPr>
        <p:grpSpPr>
          <a:xfrm>
            <a:off x="8039100" y="4572000"/>
            <a:ext cx="3429000" cy="1028700"/>
            <a:chOff x="8039100" y="4572000"/>
            <a:chExt cx="3429000" cy="1028700"/>
          </a:xfrm>
        </p:grpSpPr>
        <p:sp>
          <p:nvSpPr>
            <p:cNvPr id="71" name="node19.source-001.bullet"/>
            <p:cNvSpPr/>
            <p:nvPr/>
          </p:nvSpPr>
          <p:spPr>
            <a:xfrm>
              <a:off x="8039100" y="4660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2" name="node19.source-001.text"/>
            <p:cNvSpPr/>
            <p:nvPr/>
          </p:nvSpPr>
          <p:spPr>
            <a:xfrm>
              <a:off x="8191500" y="4572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Review the Discovery readout (10 min)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3" name="node19.source-002.bullet"/>
            <p:cNvSpPr/>
            <p:nvPr/>
          </p:nvSpPr>
          <p:spPr>
            <a:xfrm>
              <a:off x="8039100" y="4927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4" name="node19.source-002.text"/>
            <p:cNvSpPr/>
            <p:nvPr/>
          </p:nvSpPr>
          <p:spPr>
            <a:xfrm>
              <a:off x="8191500" y="4838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Bring one example of a failed visit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5" name="node19.source-003.bullet"/>
            <p:cNvSpPr/>
            <p:nvPr/>
          </p:nvSpPr>
          <p:spPr>
            <a:xfrm>
              <a:off x="8039100" y="5194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6" name="node19.source-003.text"/>
            <p:cNvSpPr/>
            <p:nvPr/>
          </p:nvSpPr>
          <p:spPr>
            <a:xfrm>
              <a:off x="8191500" y="5105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Confirm your area's top two pain points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7" name="node19.source-004.bullet"/>
            <p:cNvSpPr/>
            <p:nvPr/>
          </p:nvSpPr>
          <p:spPr>
            <a:xfrm>
              <a:off x="80391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8" name="node19.source-004.text"/>
            <p:cNvSpPr/>
            <p:nvPr/>
          </p:nvSpPr>
          <p:spPr>
            <a:xfrm>
              <a:off x="8191500" y="5372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Join by Oct 21 to test video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Leave the morning with one design for patient access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7" name="node01"/>
          <p:cNvGrpSpPr/>
          <p:nvPr/>
        </p:nvGrpSpPr>
        <p:grpSpPr>
          <a:xfrm>
            <a:off x="723900" y="1600200"/>
            <a:ext cx="3429000" cy="228600"/>
            <a:chOff x="723900" y="1600200"/>
            <a:chExt cx="3429000" cy="228600"/>
          </a:xfrm>
        </p:grpSpPr>
        <p:sp>
          <p:nvSpPr>
            <p:cNvPr id="6" name="node01.label"/>
            <p:cNvSpPr/>
            <p:nvPr/>
          </p:nvSpPr>
          <p:spPr>
            <a:xfrm>
              <a:off x="723900" y="1600200"/>
              <a:ext cx="167806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PURPOSE AND OBJECTIVES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" name="node01.rule"/>
            <p:cNvSpPr/>
            <p:nvPr/>
          </p:nvSpPr>
          <p:spPr>
            <a:xfrm>
              <a:off x="2528962" y="1709738"/>
              <a:ext cx="162393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8" name="node02"/>
          <p:cNvSpPr/>
          <p:nvPr/>
        </p:nvSpPr>
        <p:spPr>
          <a:xfrm>
            <a:off x="7239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8" name="node03"/>
          <p:cNvGrpSpPr/>
          <p:nvPr/>
        </p:nvGrpSpPr>
        <p:grpSpPr>
          <a:xfrm>
            <a:off x="723900" y="2057400"/>
            <a:ext cx="3429000" cy="685800"/>
            <a:chOff x="723900" y="2057400"/>
            <a:chExt cx="3429000" cy="685800"/>
          </a:xfrm>
        </p:grpSpPr>
        <p:sp>
          <p:nvSpPr>
            <p:cNvPr id="9" name="node03.text"/>
            <p:cNvSpPr/>
            <p:nvPr/>
          </p:nvSpPr>
          <p:spPr>
            <a:xfrm>
              <a:off x="723900" y="2057400"/>
              <a:ext cx="34290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 how patients schedule, register, get estimates and avoid denials, with one owner for each area.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9" name="node04"/>
          <p:cNvGrpSpPr/>
          <p:nvPr/>
        </p:nvGrpSpPr>
        <p:grpSpPr>
          <a:xfrm>
            <a:off x="723900" y="2743200"/>
            <a:ext cx="3429000" cy="228600"/>
            <a:chOff x="723900" y="2743200"/>
            <a:chExt cx="3429000" cy="228600"/>
          </a:xfrm>
        </p:grpSpPr>
        <p:sp>
          <p:nvSpPr>
            <p:cNvPr id="10" name="node04.label"/>
            <p:cNvSpPr/>
            <p:nvPr/>
          </p:nvSpPr>
          <p:spPr>
            <a:xfrm>
              <a:off x="723900" y="2743200"/>
              <a:ext cx="47612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AGENDA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1" name="node04.rule"/>
            <p:cNvSpPr/>
            <p:nvPr/>
          </p:nvSpPr>
          <p:spPr>
            <a:xfrm>
              <a:off x="1327026" y="2852738"/>
              <a:ext cx="2825874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2" name="node05"/>
          <p:cNvSpPr/>
          <p:nvPr/>
        </p:nvSpPr>
        <p:spPr>
          <a:xfrm>
            <a:off x="723900" y="2971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0" name="node06"/>
          <p:cNvGrpSpPr/>
          <p:nvPr/>
        </p:nvGrpSpPr>
        <p:grpSpPr>
          <a:xfrm>
            <a:off x="723900" y="3200400"/>
            <a:ext cx="3429000" cy="1955800"/>
            <a:chOff x="723900" y="3200400"/>
            <a:chExt cx="3429000" cy="1955800"/>
          </a:xfrm>
        </p:grpSpPr>
        <p:sp>
          <p:nvSpPr>
            <p:cNvPr id="13" name="node06.source-001.key"/>
            <p:cNvSpPr/>
            <p:nvPr/>
          </p:nvSpPr>
          <p:spPr>
            <a:xfrm>
              <a:off x="723900" y="3200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6.source-001.text"/>
            <p:cNvSpPr/>
            <p:nvPr/>
          </p:nvSpPr>
          <p:spPr>
            <a:xfrm>
              <a:off x="1562100" y="3204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Welcome and goals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5" name="node06.source-002.key"/>
            <p:cNvSpPr/>
            <p:nvPr/>
          </p:nvSpPr>
          <p:spPr>
            <a:xfrm>
              <a:off x="723900" y="3479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9:15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6.source-002.text"/>
            <p:cNvSpPr/>
            <p:nvPr/>
          </p:nvSpPr>
          <p:spPr>
            <a:xfrm>
              <a:off x="1562100" y="3483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Current-state recap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7" name="node06.source-003.key"/>
            <p:cNvSpPr/>
            <p:nvPr/>
          </p:nvSpPr>
          <p:spPr>
            <a:xfrm>
              <a:off x="723900" y="37592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8" name="node06.source-003.text"/>
            <p:cNvSpPr/>
            <p:nvPr/>
          </p:nvSpPr>
          <p:spPr>
            <a:xfrm>
              <a:off x="1562100" y="37633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Future-state design by area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9" name="node06.source-004.key"/>
            <p:cNvSpPr/>
            <p:nvPr/>
          </p:nvSpPr>
          <p:spPr>
            <a:xfrm>
              <a:off x="723900" y="4038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10:45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6.source-004.text"/>
            <p:cNvSpPr/>
            <p:nvPr/>
          </p:nvSpPr>
          <p:spPr>
            <a:xfrm>
              <a:off x="1562100" y="4042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Break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1" name="node06.source-005.key"/>
            <p:cNvSpPr/>
            <p:nvPr/>
          </p:nvSpPr>
          <p:spPr>
            <a:xfrm>
              <a:off x="723900" y="43180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6.source-005.text"/>
            <p:cNvSpPr/>
            <p:nvPr/>
          </p:nvSpPr>
          <p:spPr>
            <a:xfrm>
              <a:off x="1562100" y="43221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Playback and gaps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6.source-006.key"/>
            <p:cNvSpPr/>
            <p:nvPr/>
          </p:nvSpPr>
          <p:spPr>
            <a:xfrm>
              <a:off x="723900" y="4597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11:40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6.source-006.text"/>
            <p:cNvSpPr/>
            <p:nvPr/>
          </p:nvSpPr>
          <p:spPr>
            <a:xfrm>
              <a:off x="1562100" y="4601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Decisions and next steps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5" name="node06.source-007.key"/>
            <p:cNvSpPr/>
            <p:nvPr/>
          </p:nvSpPr>
          <p:spPr>
            <a:xfrm>
              <a:off x="723900" y="4876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12:00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6.source-007.text"/>
            <p:cNvSpPr/>
            <p:nvPr/>
          </p:nvSpPr>
          <p:spPr>
            <a:xfrm>
              <a:off x="1562100" y="4880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71" name="node07"/>
          <p:cNvGrpSpPr/>
          <p:nvPr/>
        </p:nvGrpSpPr>
        <p:grpSpPr>
          <a:xfrm>
            <a:off x="723900" y="5257800"/>
            <a:ext cx="3429000" cy="228600"/>
            <a:chOff x="723900" y="5257800"/>
            <a:chExt cx="3429000" cy="228600"/>
          </a:xfrm>
        </p:grpSpPr>
        <p:sp>
          <p:nvSpPr>
            <p:cNvPr id="27" name="node07.label"/>
            <p:cNvSpPr/>
            <p:nvPr/>
          </p:nvSpPr>
          <p:spPr>
            <a:xfrm>
              <a:off x="723900" y="5257800"/>
              <a:ext cx="6263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PRE-WORK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8" name="node07.rule"/>
            <p:cNvSpPr/>
            <p:nvPr/>
          </p:nvSpPr>
          <p:spPr>
            <a:xfrm>
              <a:off x="1477268" y="5367338"/>
              <a:ext cx="267563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9" name="node08"/>
          <p:cNvSpPr/>
          <p:nvPr/>
        </p:nvSpPr>
        <p:spPr>
          <a:xfrm>
            <a:off x="723900" y="5486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2" name="node09"/>
          <p:cNvGrpSpPr/>
          <p:nvPr/>
        </p:nvGrpSpPr>
        <p:grpSpPr>
          <a:xfrm>
            <a:off x="723900" y="5715000"/>
            <a:ext cx="3429000" cy="228600"/>
            <a:chOff x="723900" y="5715000"/>
            <a:chExt cx="3429000" cy="228600"/>
          </a:xfrm>
        </p:grpSpPr>
        <p:sp>
          <p:nvSpPr>
            <p:cNvPr id="30" name="node09.text"/>
            <p:cNvSpPr/>
            <p:nvPr/>
          </p:nvSpPr>
          <p:spPr>
            <a:xfrm>
              <a:off x="723900" y="57150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Read the Discovery readout.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10"/>
          <p:cNvGrpSpPr/>
          <p:nvPr/>
        </p:nvGrpSpPr>
        <p:grpSpPr>
          <a:xfrm>
            <a:off x="4381500" y="1600200"/>
            <a:ext cx="3429000" cy="228600"/>
            <a:chOff x="4381500" y="1600200"/>
            <a:chExt cx="3429000" cy="228600"/>
          </a:xfrm>
        </p:grpSpPr>
        <p:sp>
          <p:nvSpPr>
            <p:cNvPr id="31" name="node10.label"/>
            <p:cNvSpPr/>
            <p:nvPr/>
          </p:nvSpPr>
          <p:spPr>
            <a:xfrm>
              <a:off x="4381500" y="16002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AREAS OF FOCUS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2" name="node10.rule"/>
            <p:cNvSpPr/>
            <p:nvPr/>
          </p:nvSpPr>
          <p:spPr>
            <a:xfrm>
              <a:off x="5585594" y="1709738"/>
              <a:ext cx="22249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3" name="node11"/>
          <p:cNvSpPr/>
          <p:nvPr/>
        </p:nvSpPr>
        <p:spPr>
          <a:xfrm>
            <a:off x="43815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4" name="node12"/>
          <p:cNvGrpSpPr/>
          <p:nvPr/>
        </p:nvGrpSpPr>
        <p:grpSpPr>
          <a:xfrm>
            <a:off x="4381500" y="2057400"/>
            <a:ext cx="3429000" cy="1943100"/>
            <a:chOff x="4381500" y="2057400"/>
            <a:chExt cx="3429000" cy="1943100"/>
          </a:xfrm>
        </p:grpSpPr>
        <p:sp>
          <p:nvSpPr>
            <p:cNvPr id="34" name="node12.source-001.number"/>
            <p:cNvSpPr/>
            <p:nvPr/>
          </p:nvSpPr>
          <p:spPr>
            <a:xfrm>
              <a:off x="4381500" y="20574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12.source-001.text"/>
            <p:cNvSpPr/>
            <p:nvPr/>
          </p:nvSpPr>
          <p:spPr>
            <a:xfrm>
              <a:off x="4533900" y="20574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Scheduling. One front door and one template for every service line.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12.source-002.number"/>
            <p:cNvSpPr/>
            <p:nvPr/>
          </p:nvSpPr>
          <p:spPr>
            <a:xfrm>
              <a:off x="4381500" y="25527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12.source-002.text"/>
            <p:cNvSpPr/>
            <p:nvPr/>
          </p:nvSpPr>
          <p:spPr>
            <a:xfrm>
              <a:off x="4533900" y="25527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Registration. Capture insurance and consent once, before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12.source-003.number"/>
            <p:cNvSpPr/>
            <p:nvPr/>
          </p:nvSpPr>
          <p:spPr>
            <a:xfrm>
              <a:off x="4381500" y="30480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12.source-003.text"/>
            <p:cNvSpPr/>
            <p:nvPr/>
          </p:nvSpPr>
          <p:spPr>
            <a:xfrm>
              <a:off x="4533900" y="30480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Estimates. A price patients can rely on before they book.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12.source-004.number"/>
            <p:cNvSpPr/>
            <p:nvPr/>
          </p:nvSpPr>
          <p:spPr>
            <a:xfrm>
              <a:off x="4381500" y="35433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12.source-004.text"/>
            <p:cNvSpPr/>
            <p:nvPr/>
          </p:nvSpPr>
          <p:spPr>
            <a:xfrm>
              <a:off x="4533900" y="35433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Denials. Stop front-end causes before the claim is sent.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5" name="node13"/>
          <p:cNvGrpSpPr/>
          <p:nvPr/>
        </p:nvGrpSpPr>
        <p:grpSpPr>
          <a:xfrm>
            <a:off x="4381500" y="4114800"/>
            <a:ext cx="3429000" cy="228600"/>
            <a:chOff x="4381500" y="4114800"/>
            <a:chExt cx="3429000" cy="228600"/>
          </a:xfrm>
        </p:grpSpPr>
        <p:sp>
          <p:nvSpPr>
            <p:cNvPr id="42" name="node13.label"/>
            <p:cNvSpPr/>
            <p:nvPr/>
          </p:nvSpPr>
          <p:spPr>
            <a:xfrm>
              <a:off x="4381500" y="4114800"/>
              <a:ext cx="130245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WHO SHOULD ATTEND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3" name="node13.rule"/>
            <p:cNvSpPr/>
            <p:nvPr/>
          </p:nvSpPr>
          <p:spPr>
            <a:xfrm>
              <a:off x="5810957" y="4224338"/>
              <a:ext cx="199954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4" name="node14"/>
          <p:cNvSpPr/>
          <p:nvPr/>
        </p:nvSpPr>
        <p:spPr>
          <a:xfrm>
            <a:off x="4381500" y="4343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6" name="node15"/>
          <p:cNvGrpSpPr/>
          <p:nvPr/>
        </p:nvGrpSpPr>
        <p:grpSpPr>
          <a:xfrm>
            <a:off x="4381500" y="4572000"/>
            <a:ext cx="3429000" cy="1028700"/>
            <a:chOff x="4381500" y="4572000"/>
            <a:chExt cx="3429000" cy="1028700"/>
          </a:xfrm>
        </p:grpSpPr>
        <p:sp>
          <p:nvSpPr>
            <p:cNvPr id="45" name="node15.source-001.bullet"/>
            <p:cNvSpPr/>
            <p:nvPr/>
          </p:nvSpPr>
          <p:spPr>
            <a:xfrm>
              <a:off x="4381500" y="4660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15.source-001.text"/>
            <p:cNvSpPr/>
            <p:nvPr/>
          </p:nvSpPr>
          <p:spPr>
            <a:xfrm>
              <a:off x="4533900" y="4572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 access and scheduling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15.source-002.bullet"/>
            <p:cNvSpPr/>
            <p:nvPr/>
          </p:nvSpPr>
          <p:spPr>
            <a:xfrm>
              <a:off x="4381500" y="4927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15.source-002.text"/>
            <p:cNvSpPr/>
            <p:nvPr/>
          </p:nvSpPr>
          <p:spPr>
            <a:xfrm>
              <a:off x="4533900" y="4838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Revenue cycle and denials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15.source-003.bullet"/>
            <p:cNvSpPr/>
            <p:nvPr/>
          </p:nvSpPr>
          <p:spPr>
            <a:xfrm>
              <a:off x="4381500" y="5194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15.source-003.text"/>
            <p:cNvSpPr/>
            <p:nvPr/>
          </p:nvSpPr>
          <p:spPr>
            <a:xfrm>
              <a:off x="4533900" y="5105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Registration supervisors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1" name="node15.source-004.bullet"/>
            <p:cNvSpPr/>
            <p:nvPr/>
          </p:nvSpPr>
          <p:spPr>
            <a:xfrm>
              <a:off x="4381500" y="5461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15.source-004.text"/>
            <p:cNvSpPr/>
            <p:nvPr/>
          </p:nvSpPr>
          <p:spPr>
            <a:xfrm>
              <a:off x="4533900" y="5372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IT application owners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7" name="node16"/>
          <p:cNvGrpSpPr/>
          <p:nvPr/>
        </p:nvGrpSpPr>
        <p:grpSpPr>
          <a:xfrm>
            <a:off x="8039100" y="1600200"/>
            <a:ext cx="3429000" cy="4114800"/>
            <a:chOff x="8039100" y="1600200"/>
            <a:chExt cx="3429000" cy="4114800"/>
          </a:xfrm>
        </p:grpSpPr>
        <p:sp>
          <p:nvSpPr>
            <p:cNvPr id="53" name="node16.container"/>
            <p:cNvSpPr/>
            <p:nvPr/>
          </p:nvSpPr>
          <p:spPr>
            <a:xfrm>
              <a:off x="8039100" y="1600200"/>
              <a:ext cx="3429000" cy="4114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4" name="node16.label"/>
            <p:cNvSpPr/>
            <p:nvPr/>
          </p:nvSpPr>
          <p:spPr>
            <a:xfrm>
              <a:off x="8267700" y="1828800"/>
              <a:ext cx="2971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WHAT YOU WILL LEAVE WITH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5" name="node16.title"/>
            <p:cNvSpPr/>
            <p:nvPr/>
          </p:nvSpPr>
          <p:spPr>
            <a:xfrm>
              <a:off x="8267700" y="2019300"/>
              <a:ext cx="29718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Five decisions, one shared design</a:t>
              </a:r>
              <a:endParaRPr lang="en-US" sz="1800" spc="-18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6" name="node16.body.item-001.bullets.item-001.marker"/>
            <p:cNvSpPr/>
            <p:nvPr/>
          </p:nvSpPr>
          <p:spPr>
            <a:xfrm>
              <a:off x="8267700" y="2832100"/>
              <a:ext cx="381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node16.body.item-001.bullets.item-001.text"/>
            <p:cNvSpPr/>
            <p:nvPr/>
          </p:nvSpPr>
          <p:spPr>
            <a:xfrm>
              <a:off x="8420100" y="27432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future-state process for each of the four areas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16.body.item-001.bullets.item-002.marker"/>
            <p:cNvSpPr/>
            <p:nvPr/>
          </p:nvSpPr>
          <p:spPr>
            <a:xfrm>
              <a:off x="8267700" y="3327400"/>
              <a:ext cx="381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node16.body.item-001.bullets.item-002.text"/>
            <p:cNvSpPr/>
            <p:nvPr/>
          </p:nvSpPr>
          <p:spPr>
            <a:xfrm>
              <a:off x="8420100" y="32385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Named owner and target measure per area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16.body.item-001.bullets.item-003.marker"/>
            <p:cNvSpPr/>
            <p:nvPr/>
          </p:nvSpPr>
          <p:spPr>
            <a:xfrm>
              <a:off x="8267700" y="3822700"/>
              <a:ext cx="381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node16.body.item-001.bullets.item-003.text"/>
            <p:cNvSpPr/>
            <p:nvPr/>
          </p:nvSpPr>
          <p:spPr>
            <a:xfrm>
              <a:off x="8420100" y="37338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decisions log signed off in the room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2" name="node16.body.item-001.bullets.item-004.marker"/>
            <p:cNvSpPr/>
            <p:nvPr/>
          </p:nvSpPr>
          <p:spPr>
            <a:xfrm>
              <a:off x="8267700" y="4089400"/>
              <a:ext cx="381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node16.body.item-001.bullets.item-004.text"/>
            <p:cNvSpPr/>
            <p:nvPr/>
          </p:nvSpPr>
          <p:spPr>
            <a:xfrm>
              <a:off x="8420100" y="40005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ranked list of 12 to 15 opportunities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16.body.item-001.bullets.item-005.marker"/>
            <p:cNvSpPr/>
            <p:nvPr/>
          </p:nvSpPr>
          <p:spPr>
            <a:xfrm>
              <a:off x="8267700" y="4356100"/>
              <a:ext cx="381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node16.body.item-001.bullets.item-005.text"/>
            <p:cNvSpPr/>
            <p:nvPr/>
          </p:nvSpPr>
          <p:spPr>
            <a:xfrm>
              <a:off x="8420100" y="42672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Pre-work for the prioritization session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6" name="node16.body.item-002.paragraph"/>
            <p:cNvSpPr/>
            <p:nvPr/>
          </p:nvSpPr>
          <p:spPr>
            <a:xfrm>
              <a:off x="8267700" y="4533900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Oct 28 · 9:00 to 12:00 · Northfield HQ and video</a:t>
              </a:r>
              <a:endParaRPr lang="en-US" sz="12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WORKSHOP 2 OF 4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Workshop 2 designs the future state of access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DISCOVERY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8478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FUTURE STATE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323850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PRIORITIZE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4629150"/>
            <a:ext cx="2286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8" name="node01"/>
          <p:cNvGrpSpPr/>
          <p:nvPr/>
        </p:nvGrpSpPr>
        <p:grpSpPr>
          <a:xfrm>
            <a:off x="723900" y="1600200"/>
            <a:ext cx="3429000" cy="228600"/>
            <a:chOff x="723900" y="1600200"/>
            <a:chExt cx="3429000" cy="228600"/>
          </a:xfrm>
        </p:grpSpPr>
        <p:sp>
          <p:nvSpPr>
            <p:cNvPr id="14" name="node01.label"/>
            <p:cNvSpPr/>
            <p:nvPr/>
          </p:nvSpPr>
          <p:spPr>
            <a:xfrm>
              <a:off x="723900" y="1600200"/>
              <a:ext cx="55124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PURPOSE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5" name="node01.rule"/>
            <p:cNvSpPr/>
            <p:nvPr/>
          </p:nvSpPr>
          <p:spPr>
            <a:xfrm>
              <a:off x="1402147" y="1709738"/>
              <a:ext cx="275075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6" name="node02"/>
          <p:cNvSpPr/>
          <p:nvPr/>
        </p:nvSpPr>
        <p:spPr>
          <a:xfrm>
            <a:off x="7239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9" name="node03"/>
          <p:cNvGrpSpPr/>
          <p:nvPr/>
        </p:nvGrpSpPr>
        <p:grpSpPr>
          <a:xfrm>
            <a:off x="723900" y="2057400"/>
            <a:ext cx="3429000" cy="457200"/>
            <a:chOff x="723900" y="2057400"/>
            <a:chExt cx="3429000" cy="457200"/>
          </a:xfrm>
        </p:grpSpPr>
        <p:sp>
          <p:nvSpPr>
            <p:cNvPr id="17" name="node03.text"/>
            <p:cNvSpPr/>
            <p:nvPr/>
          </p:nvSpPr>
          <p:spPr>
            <a:xfrm>
              <a:off x="723900" y="20574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Turn the Discovery findings into one future-state design for each access area.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0" name="node04"/>
          <p:cNvGrpSpPr/>
          <p:nvPr/>
        </p:nvGrpSpPr>
        <p:grpSpPr>
          <a:xfrm>
            <a:off x="4381500" y="1600200"/>
            <a:ext cx="3429000" cy="228600"/>
            <a:chOff x="4381500" y="1600200"/>
            <a:chExt cx="3429000" cy="228600"/>
          </a:xfrm>
        </p:grpSpPr>
        <p:sp>
          <p:nvSpPr>
            <p:cNvPr id="18" name="node04.label"/>
            <p:cNvSpPr/>
            <p:nvPr/>
          </p:nvSpPr>
          <p:spPr>
            <a:xfrm>
              <a:off x="4381500" y="1600200"/>
              <a:ext cx="70148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LOGISTICS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9" name="node04.rule"/>
            <p:cNvSpPr/>
            <p:nvPr/>
          </p:nvSpPr>
          <p:spPr>
            <a:xfrm>
              <a:off x="5209989" y="1709738"/>
              <a:ext cx="260051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0" name="node05"/>
          <p:cNvSpPr/>
          <p:nvPr/>
        </p:nvSpPr>
        <p:spPr>
          <a:xfrm>
            <a:off x="43815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1" name="node06"/>
          <p:cNvGrpSpPr/>
          <p:nvPr/>
        </p:nvGrpSpPr>
        <p:grpSpPr>
          <a:xfrm>
            <a:off x="4381500" y="2057400"/>
            <a:ext cx="3429000" cy="762000"/>
            <a:chOff x="4381500" y="2057400"/>
            <a:chExt cx="3429000" cy="762000"/>
          </a:xfrm>
        </p:grpSpPr>
        <p:sp>
          <p:nvSpPr>
            <p:cNvPr id="21" name="node06.source-001.bullet"/>
            <p:cNvSpPr/>
            <p:nvPr/>
          </p:nvSpPr>
          <p:spPr>
            <a:xfrm>
              <a:off x="4381500" y="2146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6.source-001.text"/>
            <p:cNvSpPr/>
            <p:nvPr/>
          </p:nvSpPr>
          <p:spPr>
            <a:xfrm>
              <a:off x="4533900" y="2057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Oct 28 · 9:00 to 12:00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6.source-002.bullet"/>
            <p:cNvSpPr/>
            <p:nvPr/>
          </p:nvSpPr>
          <p:spPr>
            <a:xfrm>
              <a:off x="4381500" y="2413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6.source-002.text"/>
            <p:cNvSpPr/>
            <p:nvPr/>
          </p:nvSpPr>
          <p:spPr>
            <a:xfrm>
              <a:off x="4533900" y="2324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Northfield HQ, room 4B, and video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6.source-003.bullet"/>
            <p:cNvSpPr/>
            <p:nvPr/>
          </p:nvSpPr>
          <p:spPr>
            <a:xfrm>
              <a:off x="4381500" y="2679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6.source-003.text"/>
            <p:cNvSpPr/>
            <p:nvPr/>
          </p:nvSpPr>
          <p:spPr>
            <a:xfrm>
              <a:off x="4533900" y="2590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Two facilitators, one scribe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07"/>
          <p:cNvGrpSpPr/>
          <p:nvPr/>
        </p:nvGrpSpPr>
        <p:grpSpPr>
          <a:xfrm>
            <a:off x="8039100" y="1600200"/>
            <a:ext cx="3429000" cy="228600"/>
            <a:chOff x="8039100" y="1600200"/>
            <a:chExt cx="3429000" cy="228600"/>
          </a:xfrm>
        </p:grpSpPr>
        <p:sp>
          <p:nvSpPr>
            <p:cNvPr id="27" name="node07.label"/>
            <p:cNvSpPr/>
            <p:nvPr/>
          </p:nvSpPr>
          <p:spPr>
            <a:xfrm>
              <a:off x="8039100" y="1600200"/>
              <a:ext cx="130245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WHO SHOULD ATTEND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8" name="node07.rule"/>
            <p:cNvSpPr/>
            <p:nvPr/>
          </p:nvSpPr>
          <p:spPr>
            <a:xfrm>
              <a:off x="9468557" y="1709738"/>
              <a:ext cx="199954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9" name="node08"/>
          <p:cNvSpPr/>
          <p:nvPr/>
        </p:nvSpPr>
        <p:spPr>
          <a:xfrm>
            <a:off x="80391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3" name="node09"/>
          <p:cNvGrpSpPr/>
          <p:nvPr/>
        </p:nvGrpSpPr>
        <p:grpSpPr>
          <a:xfrm>
            <a:off x="8039100" y="2057400"/>
            <a:ext cx="3429000" cy="495300"/>
            <a:chOff x="8039100" y="2057400"/>
            <a:chExt cx="3429000" cy="495300"/>
          </a:xfrm>
        </p:grpSpPr>
        <p:sp>
          <p:nvSpPr>
            <p:cNvPr id="30" name="node09.source-001.bullet"/>
            <p:cNvSpPr/>
            <p:nvPr/>
          </p:nvSpPr>
          <p:spPr>
            <a:xfrm>
              <a:off x="8039100" y="2146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9.source-001.text"/>
            <p:cNvSpPr/>
            <p:nvPr/>
          </p:nvSpPr>
          <p:spPr>
            <a:xfrm>
              <a:off x="8191500" y="2057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Access, registration, revenue cycle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9.source-002.bullet"/>
            <p:cNvSpPr/>
            <p:nvPr/>
          </p:nvSpPr>
          <p:spPr>
            <a:xfrm>
              <a:off x="8039100" y="2413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09.source-002.text"/>
            <p:cNvSpPr/>
            <p:nvPr/>
          </p:nvSpPr>
          <p:spPr>
            <a:xfrm>
              <a:off x="8191500" y="2324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IT application owners, finance partner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4" name="node10"/>
          <p:cNvGrpSpPr/>
          <p:nvPr/>
        </p:nvGrpSpPr>
        <p:grpSpPr>
          <a:xfrm>
            <a:off x="723900" y="3200400"/>
            <a:ext cx="3429000" cy="228600"/>
            <a:chOff x="723900" y="3200400"/>
            <a:chExt cx="3429000" cy="228600"/>
          </a:xfrm>
        </p:grpSpPr>
        <p:sp>
          <p:nvSpPr>
            <p:cNvPr id="34" name="node10.label"/>
            <p:cNvSpPr/>
            <p:nvPr/>
          </p:nvSpPr>
          <p:spPr>
            <a:xfrm>
              <a:off x="723900" y="3200400"/>
              <a:ext cx="47612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AGENDA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5" name="node10.rule"/>
            <p:cNvSpPr/>
            <p:nvPr/>
          </p:nvSpPr>
          <p:spPr>
            <a:xfrm>
              <a:off x="1327026" y="3309938"/>
              <a:ext cx="2825874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6" name="node11"/>
          <p:cNvSpPr/>
          <p:nvPr/>
        </p:nvSpPr>
        <p:spPr>
          <a:xfrm>
            <a:off x="7239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5" name="node12"/>
          <p:cNvGrpSpPr/>
          <p:nvPr/>
        </p:nvGrpSpPr>
        <p:grpSpPr>
          <a:xfrm>
            <a:off x="723900" y="3657600"/>
            <a:ext cx="3429000" cy="2133600"/>
            <a:chOff x="723900" y="3657600"/>
            <a:chExt cx="3429000" cy="2133600"/>
          </a:xfrm>
        </p:grpSpPr>
        <p:sp>
          <p:nvSpPr>
            <p:cNvPr id="37" name="node12.source-001.key"/>
            <p:cNvSpPr/>
            <p:nvPr/>
          </p:nvSpPr>
          <p:spPr>
            <a:xfrm>
              <a:off x="723900" y="3657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12.source-001.text"/>
            <p:cNvSpPr/>
            <p:nvPr/>
          </p:nvSpPr>
          <p:spPr>
            <a:xfrm>
              <a:off x="1562100" y="3661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Welcome and goals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9" name="node12.source-002.key"/>
            <p:cNvSpPr/>
            <p:nvPr/>
          </p:nvSpPr>
          <p:spPr>
            <a:xfrm>
              <a:off x="723900" y="3962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9:15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12.source-002.text"/>
            <p:cNvSpPr/>
            <p:nvPr/>
          </p:nvSpPr>
          <p:spPr>
            <a:xfrm>
              <a:off x="1562100" y="3966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Current-state recap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1" name="node12.source-003.key"/>
            <p:cNvSpPr/>
            <p:nvPr/>
          </p:nvSpPr>
          <p:spPr>
            <a:xfrm>
              <a:off x="723900" y="42672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9:45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12.source-003.text"/>
            <p:cNvSpPr/>
            <p:nvPr/>
          </p:nvSpPr>
          <p:spPr>
            <a:xfrm>
              <a:off x="1562100" y="42713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Future-state design by area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3" name="node12.source-004.key"/>
            <p:cNvSpPr/>
            <p:nvPr/>
          </p:nvSpPr>
          <p:spPr>
            <a:xfrm>
              <a:off x="723900" y="45720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10:45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2.source-004.text"/>
            <p:cNvSpPr/>
            <p:nvPr/>
          </p:nvSpPr>
          <p:spPr>
            <a:xfrm>
              <a:off x="1562100" y="45761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Break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12.source-005.key"/>
            <p:cNvSpPr/>
            <p:nvPr/>
          </p:nvSpPr>
          <p:spPr>
            <a:xfrm>
              <a:off x="723900" y="48768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12.source-005.text"/>
            <p:cNvSpPr/>
            <p:nvPr/>
          </p:nvSpPr>
          <p:spPr>
            <a:xfrm>
              <a:off x="1562100" y="48809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Playback and gaps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7" name="node12.source-006.key"/>
            <p:cNvSpPr/>
            <p:nvPr/>
          </p:nvSpPr>
          <p:spPr>
            <a:xfrm>
              <a:off x="723900" y="51816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11:40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12.source-006.text"/>
            <p:cNvSpPr/>
            <p:nvPr/>
          </p:nvSpPr>
          <p:spPr>
            <a:xfrm>
              <a:off x="1562100" y="51857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Decisions and next steps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9" name="node12.source-007.key"/>
            <p:cNvSpPr/>
            <p:nvPr/>
          </p:nvSpPr>
          <p:spPr>
            <a:xfrm>
              <a:off x="723900" y="5486400"/>
              <a:ext cx="6096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2100"/>
                </a:lnSpc>
                <a:buNone/>
              </a:pPr>
              <a:r>
                <a:rPr lang="en-US" sz="1400" spc="0" kern="0" b="1" i="0" dirty="0">
                  <a:solidFill>
                    <a:srgbClr val="0047FF"/>
                  </a:solidFill>
                  <a:latin typeface="IBM Plex Sans"/>
                  <a:ea typeface="IBM Plex Sans"/>
                  <a:cs typeface="IBM Plex Sans"/>
                </a:rPr>
                <a:t>12:00</a:t>
              </a:r>
              <a:endParaRPr lang="en-US" sz="1400" spc="0" kern="0" b="1" i="0" dirty="0">
                <a:solidFill>
                  <a:srgbClr val="0047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12.source-007.text"/>
            <p:cNvSpPr/>
            <p:nvPr/>
          </p:nvSpPr>
          <p:spPr>
            <a:xfrm>
              <a:off x="1562100" y="5490591"/>
              <a:ext cx="2590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86" name="node13"/>
          <p:cNvGrpSpPr/>
          <p:nvPr/>
        </p:nvGrpSpPr>
        <p:grpSpPr>
          <a:xfrm>
            <a:off x="4381500" y="3200400"/>
            <a:ext cx="3429000" cy="228600"/>
            <a:chOff x="4381500" y="3200400"/>
            <a:chExt cx="3429000" cy="228600"/>
          </a:xfrm>
        </p:grpSpPr>
        <p:sp>
          <p:nvSpPr>
            <p:cNvPr id="51" name="node13.label"/>
            <p:cNvSpPr/>
            <p:nvPr/>
          </p:nvSpPr>
          <p:spPr>
            <a:xfrm>
              <a:off x="4381500" y="32004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AREAS OF FOCUS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2" name="node13.rule"/>
            <p:cNvSpPr/>
            <p:nvPr/>
          </p:nvSpPr>
          <p:spPr>
            <a:xfrm>
              <a:off x="5585594" y="3309938"/>
              <a:ext cx="22249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3" name="node14"/>
          <p:cNvSpPr/>
          <p:nvPr/>
        </p:nvSpPr>
        <p:spPr>
          <a:xfrm>
            <a:off x="43815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7" name="node15"/>
          <p:cNvGrpSpPr/>
          <p:nvPr/>
        </p:nvGrpSpPr>
        <p:grpSpPr>
          <a:xfrm>
            <a:off x="4381500" y="3657600"/>
            <a:ext cx="3429000" cy="1943100"/>
            <a:chOff x="4381500" y="3657600"/>
            <a:chExt cx="3429000" cy="1943100"/>
          </a:xfrm>
        </p:grpSpPr>
        <p:sp>
          <p:nvSpPr>
            <p:cNvPr id="54" name="node15.source-001.number"/>
            <p:cNvSpPr/>
            <p:nvPr/>
          </p:nvSpPr>
          <p:spPr>
            <a:xfrm>
              <a:off x="4381500" y="36576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5" name="node15.source-001.text"/>
            <p:cNvSpPr/>
            <p:nvPr/>
          </p:nvSpPr>
          <p:spPr>
            <a:xfrm>
              <a:off x="4533900" y="36576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Scheduling. One front door and one template for every service line.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6" name="node15.source-002.number"/>
            <p:cNvSpPr/>
            <p:nvPr/>
          </p:nvSpPr>
          <p:spPr>
            <a:xfrm>
              <a:off x="4381500" y="41529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15.source-002.text"/>
            <p:cNvSpPr/>
            <p:nvPr/>
          </p:nvSpPr>
          <p:spPr>
            <a:xfrm>
              <a:off x="4533900" y="41529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Registration. Capture insurance and consent once, before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15.source-003.number"/>
            <p:cNvSpPr/>
            <p:nvPr/>
          </p:nvSpPr>
          <p:spPr>
            <a:xfrm>
              <a:off x="4381500" y="46482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9" name="node15.source-003.text"/>
            <p:cNvSpPr/>
            <p:nvPr/>
          </p:nvSpPr>
          <p:spPr>
            <a:xfrm>
              <a:off x="4533900" y="46482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Estimates. A price patients can rely on before they book.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15.source-004.number"/>
            <p:cNvSpPr/>
            <p:nvPr/>
          </p:nvSpPr>
          <p:spPr>
            <a:xfrm>
              <a:off x="4381500" y="51435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1" name="node15.source-004.text"/>
            <p:cNvSpPr/>
            <p:nvPr/>
          </p:nvSpPr>
          <p:spPr>
            <a:xfrm>
              <a:off x="4533900" y="51435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Denials. Stop front-end causes before the claim is sent.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8" name="node16"/>
          <p:cNvGrpSpPr/>
          <p:nvPr/>
        </p:nvGrpSpPr>
        <p:grpSpPr>
          <a:xfrm>
            <a:off x="8039100" y="3200400"/>
            <a:ext cx="3429000" cy="228600"/>
            <a:chOff x="8039100" y="3200400"/>
            <a:chExt cx="3429000" cy="228600"/>
          </a:xfrm>
        </p:grpSpPr>
        <p:sp>
          <p:nvSpPr>
            <p:cNvPr id="62" name="node16.label"/>
            <p:cNvSpPr/>
            <p:nvPr/>
          </p:nvSpPr>
          <p:spPr>
            <a:xfrm>
              <a:off x="8039100" y="3200400"/>
              <a:ext cx="6263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OUTCOMES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3" name="node16.rule"/>
            <p:cNvSpPr/>
            <p:nvPr/>
          </p:nvSpPr>
          <p:spPr>
            <a:xfrm>
              <a:off x="8792468" y="3309938"/>
              <a:ext cx="267563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4" name="node17"/>
          <p:cNvSpPr/>
          <p:nvPr/>
        </p:nvSpPr>
        <p:spPr>
          <a:xfrm>
            <a:off x="80391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9" name="node18"/>
          <p:cNvGrpSpPr/>
          <p:nvPr/>
        </p:nvGrpSpPr>
        <p:grpSpPr>
          <a:xfrm>
            <a:off x="8039100" y="3657600"/>
            <a:ext cx="3429000" cy="762000"/>
            <a:chOff x="8039100" y="3657600"/>
            <a:chExt cx="3429000" cy="762000"/>
          </a:xfrm>
        </p:grpSpPr>
        <p:sp>
          <p:nvSpPr>
            <p:cNvPr id="65" name="node18.source-001.bullet"/>
            <p:cNvSpPr/>
            <p:nvPr/>
          </p:nvSpPr>
          <p:spPr>
            <a:xfrm>
              <a:off x="80391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6" name="node18.source-001.text"/>
            <p:cNvSpPr/>
            <p:nvPr/>
          </p:nvSpPr>
          <p:spPr>
            <a:xfrm>
              <a:off x="8191500" y="3657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Future-state process per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18.source-002.bullet"/>
            <p:cNvSpPr/>
            <p:nvPr/>
          </p:nvSpPr>
          <p:spPr>
            <a:xfrm>
              <a:off x="80391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8" name="node18.source-002.text"/>
            <p:cNvSpPr/>
            <p:nvPr/>
          </p:nvSpPr>
          <p:spPr>
            <a:xfrm>
              <a:off x="8191500" y="3924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Decisions log with owners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18.source-003.bullet"/>
            <p:cNvSpPr/>
            <p:nvPr/>
          </p:nvSpPr>
          <p:spPr>
            <a:xfrm>
              <a:off x="8039100" y="4279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0" name="node18.source-003.text"/>
            <p:cNvSpPr/>
            <p:nvPr/>
          </p:nvSpPr>
          <p:spPr>
            <a:xfrm>
              <a:off x="8191500" y="4191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Ranked opportunity list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0" name="node19"/>
          <p:cNvGrpSpPr/>
          <p:nvPr/>
        </p:nvGrpSpPr>
        <p:grpSpPr>
          <a:xfrm>
            <a:off x="8039100" y="4800600"/>
            <a:ext cx="3429000" cy="228600"/>
            <a:chOff x="8039100" y="4800600"/>
            <a:chExt cx="3429000" cy="228600"/>
          </a:xfrm>
        </p:grpSpPr>
        <p:sp>
          <p:nvSpPr>
            <p:cNvPr id="71" name="node19.label"/>
            <p:cNvSpPr/>
            <p:nvPr/>
          </p:nvSpPr>
          <p:spPr>
            <a:xfrm>
              <a:off x="8039100" y="4800600"/>
              <a:ext cx="6263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PRE-WORK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2" name="node19.rule"/>
            <p:cNvSpPr/>
            <p:nvPr/>
          </p:nvSpPr>
          <p:spPr>
            <a:xfrm>
              <a:off x="8792468" y="4910138"/>
              <a:ext cx="267563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73" name="node20"/>
          <p:cNvSpPr/>
          <p:nvPr/>
        </p:nvSpPr>
        <p:spPr>
          <a:xfrm>
            <a:off x="80391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1" name="node21"/>
          <p:cNvGrpSpPr/>
          <p:nvPr/>
        </p:nvGrpSpPr>
        <p:grpSpPr>
          <a:xfrm>
            <a:off x="8039100" y="5257800"/>
            <a:ext cx="3429000" cy="495300"/>
            <a:chOff x="8039100" y="5257800"/>
            <a:chExt cx="3429000" cy="495300"/>
          </a:xfrm>
        </p:grpSpPr>
        <p:sp>
          <p:nvSpPr>
            <p:cNvPr id="74" name="node21.source-001.bullet"/>
            <p:cNvSpPr/>
            <p:nvPr/>
          </p:nvSpPr>
          <p:spPr>
            <a:xfrm>
              <a:off x="8039100" y="5346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5" name="node21.source-001.text"/>
            <p:cNvSpPr/>
            <p:nvPr/>
          </p:nvSpPr>
          <p:spPr>
            <a:xfrm>
              <a:off x="8191500" y="5257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Read the Discovery readout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21.source-002.bullet"/>
            <p:cNvSpPr/>
            <p:nvPr/>
          </p:nvSpPr>
          <p:spPr>
            <a:xfrm>
              <a:off x="8039100" y="5613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7" name="node21.source-002.text"/>
            <p:cNvSpPr/>
            <p:nvPr/>
          </p:nvSpPr>
          <p:spPr>
            <a:xfrm>
              <a:off x="8191500" y="5524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Bring one failed-visit example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708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Four tables, one morning: design the future state of access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7" name="node01"/>
          <p:cNvGrpSpPr/>
          <p:nvPr/>
        </p:nvGrpSpPr>
        <p:grpSpPr>
          <a:xfrm>
            <a:off x="8077200" y="723900"/>
            <a:ext cx="3390900" cy="4724400"/>
            <a:chOff x="8077200" y="723900"/>
            <a:chExt cx="3390900" cy="4724400"/>
          </a:xfrm>
        </p:grpSpPr>
        <p:sp>
          <p:nvSpPr>
            <p:cNvPr id="6" name="node01.base"/>
            <p:cNvSpPr/>
            <p:nvPr/>
          </p:nvSpPr>
          <p:spPr>
            <a:xfrm>
              <a:off x="8153400" y="838200"/>
              <a:ext cx="0" cy="4191000"/>
            </a:xfrm>
            <a:custGeom>
              <a:avLst/>
              <a:gdLst/>
              <a:ahLst/>
              <a:cxnLst/>
              <a:rect l="l" t="t" r="r" b="b"/>
              <a:pathLst>
                <a:path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ln w="25400">
              <a:solidFill>
                <a:srgbClr val="CED7E6"/>
              </a:solidFill>
              <a:prstDash val="solid"/>
            </a:ln>
          </p:spPr>
        </p:sp>
        <p:sp>
          <p:nvSpPr>
            <p:cNvPr id="7" name="node01.steps.slot-001.marker"/>
            <p:cNvSpPr/>
            <p:nvPr/>
          </p:nvSpPr>
          <p:spPr>
            <a:xfrm>
              <a:off x="8077200" y="7620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8" name="node01.steps.slot-001.title"/>
            <p:cNvSpPr/>
            <p:nvPr/>
          </p:nvSpPr>
          <p:spPr>
            <a:xfrm>
              <a:off x="8496300" y="723900"/>
              <a:ext cx="16478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Welcome and goals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1.steps.slot-001.label"/>
            <p:cNvSpPr/>
            <p:nvPr/>
          </p:nvSpPr>
          <p:spPr>
            <a:xfrm>
              <a:off x="10296525" y="811149"/>
              <a:ext cx="325884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9:00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0" name="node01.steps.slot-001.description.part-0"/>
            <p:cNvSpPr/>
            <p:nvPr/>
          </p:nvSpPr>
          <p:spPr>
            <a:xfrm>
              <a:off x="8496300" y="10287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Objectives and ground rules.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steps.slot-002.marker"/>
            <p:cNvSpPr/>
            <p:nvPr/>
          </p:nvSpPr>
          <p:spPr>
            <a:xfrm>
              <a:off x="8077200" y="16002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steps.slot-002.title"/>
            <p:cNvSpPr/>
            <p:nvPr/>
          </p:nvSpPr>
          <p:spPr>
            <a:xfrm>
              <a:off x="8496300" y="1562100"/>
              <a:ext cx="1677988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Current-state recap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3" name="node01.steps.slot-002.label"/>
            <p:cNvSpPr/>
            <p:nvPr/>
          </p:nvSpPr>
          <p:spPr>
            <a:xfrm>
              <a:off x="10326688" y="1649349"/>
              <a:ext cx="325884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9:15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4" name="node01.steps.slot-002.description.part-0"/>
            <p:cNvSpPr/>
            <p:nvPr/>
          </p:nvSpPr>
          <p:spPr>
            <a:xfrm>
              <a:off x="8496300" y="18669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What Discovery found.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1.steps.slot-003.marker"/>
            <p:cNvSpPr/>
            <p:nvPr/>
          </p:nvSpPr>
          <p:spPr>
            <a:xfrm>
              <a:off x="8077200" y="24384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6" name="node01.steps.slot-003.title"/>
            <p:cNvSpPr/>
            <p:nvPr/>
          </p:nvSpPr>
          <p:spPr>
            <a:xfrm>
              <a:off x="8496300" y="2400300"/>
              <a:ext cx="126206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Design by area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7" name="node01.steps.slot-003.label"/>
            <p:cNvSpPr/>
            <p:nvPr/>
          </p:nvSpPr>
          <p:spPr>
            <a:xfrm>
              <a:off x="9910763" y="2487549"/>
              <a:ext cx="325884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9:45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8" name="node01.steps.slot-003.description.part-0"/>
            <p:cNvSpPr/>
            <p:nvPr/>
          </p:nvSpPr>
          <p:spPr>
            <a:xfrm>
              <a:off x="8496300" y="27051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Four breakout tables.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" name="node01.steps.slot-004.marker"/>
            <p:cNvSpPr/>
            <p:nvPr/>
          </p:nvSpPr>
          <p:spPr>
            <a:xfrm>
              <a:off x="8077200" y="32766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0" name="node01.steps.slot-004.title"/>
            <p:cNvSpPr/>
            <p:nvPr/>
          </p:nvSpPr>
          <p:spPr>
            <a:xfrm>
              <a:off x="8496300" y="3238500"/>
              <a:ext cx="15938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Playback and gaps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1" name="node01.steps.slot-004.label"/>
            <p:cNvSpPr/>
            <p:nvPr/>
          </p:nvSpPr>
          <p:spPr>
            <a:xfrm>
              <a:off x="10242550" y="3325749"/>
              <a:ext cx="401005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11:00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2" name="node01.steps.slot-004.description.part-0"/>
            <p:cNvSpPr/>
            <p:nvPr/>
          </p:nvSpPr>
          <p:spPr>
            <a:xfrm>
              <a:off x="8496300" y="35433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Each table reports back.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1.steps.slot-005.marker"/>
            <p:cNvSpPr/>
            <p:nvPr/>
          </p:nvSpPr>
          <p:spPr>
            <a:xfrm>
              <a:off x="8077200" y="41148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4" name="node01.steps.slot-005.title"/>
            <p:cNvSpPr/>
            <p:nvPr/>
          </p:nvSpPr>
          <p:spPr>
            <a:xfrm>
              <a:off x="8496300" y="4076700"/>
              <a:ext cx="84296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Decisions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5" name="node01.steps.slot-005.label"/>
            <p:cNvSpPr/>
            <p:nvPr/>
          </p:nvSpPr>
          <p:spPr>
            <a:xfrm>
              <a:off x="9491663" y="4163949"/>
              <a:ext cx="401005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11:40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6" name="node01.steps.slot-005.description.part-0"/>
            <p:cNvSpPr/>
            <p:nvPr/>
          </p:nvSpPr>
          <p:spPr>
            <a:xfrm>
              <a:off x="8496300" y="43815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Owners and next steps.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1.steps.slot-006.marker"/>
            <p:cNvSpPr/>
            <p:nvPr/>
          </p:nvSpPr>
          <p:spPr>
            <a:xfrm>
              <a:off x="8077200" y="4953000"/>
              <a:ext cx="152400" cy="152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8" name="node01.steps.slot-006.title"/>
            <p:cNvSpPr/>
            <p:nvPr/>
          </p:nvSpPr>
          <p:spPr>
            <a:xfrm>
              <a:off x="8496300" y="4914900"/>
              <a:ext cx="5048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Close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9" name="node01.steps.slot-006.label"/>
            <p:cNvSpPr/>
            <p:nvPr/>
          </p:nvSpPr>
          <p:spPr>
            <a:xfrm>
              <a:off x="9153525" y="5002149"/>
              <a:ext cx="401005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12:00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0" name="node01.steps.slot-006.description.part-0"/>
            <p:cNvSpPr/>
            <p:nvPr/>
          </p:nvSpPr>
          <p:spPr>
            <a:xfrm>
              <a:off x="8496300" y="52197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Confirm pre-work for session 3.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02"/>
          <p:cNvGrpSpPr/>
          <p:nvPr/>
        </p:nvGrpSpPr>
        <p:grpSpPr>
          <a:xfrm>
            <a:off x="723900" y="2057400"/>
            <a:ext cx="7086600" cy="609600"/>
            <a:chOff x="723900" y="2057400"/>
            <a:chExt cx="7086600" cy="609600"/>
          </a:xfrm>
        </p:grpSpPr>
        <p:sp>
          <p:nvSpPr>
            <p:cNvPr id="31" name="node02.text"/>
            <p:cNvSpPr/>
            <p:nvPr/>
          </p:nvSpPr>
          <p:spPr>
            <a:xfrm>
              <a:off x="723900" y="2057400"/>
              <a:ext cx="7086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6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Agree how patients will schedule, register, get estimates and avoid denials, with named owners by Oct 28.</a:t>
              </a:r>
              <a:endParaRPr lang="en-US" sz="16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9" name="node03"/>
          <p:cNvGrpSpPr/>
          <p:nvPr/>
        </p:nvGrpSpPr>
        <p:grpSpPr>
          <a:xfrm>
            <a:off x="723900" y="2971800"/>
            <a:ext cx="7086600" cy="228600"/>
            <a:chOff x="723900" y="2971800"/>
            <a:chExt cx="7086600" cy="228600"/>
          </a:xfrm>
        </p:grpSpPr>
        <p:sp>
          <p:nvSpPr>
            <p:cNvPr id="32" name="node03.label"/>
            <p:cNvSpPr/>
            <p:nvPr/>
          </p:nvSpPr>
          <p:spPr>
            <a:xfrm>
              <a:off x="723900" y="29718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AREAS OF FOCUS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3" name="node03.rule"/>
            <p:cNvSpPr/>
            <p:nvPr/>
          </p:nvSpPr>
          <p:spPr>
            <a:xfrm>
              <a:off x="1927994" y="3081338"/>
              <a:ext cx="58825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4" name="node04"/>
          <p:cNvSpPr/>
          <p:nvPr/>
        </p:nvSpPr>
        <p:spPr>
          <a:xfrm>
            <a:off x="723900" y="32004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0" name="node05"/>
          <p:cNvGrpSpPr/>
          <p:nvPr/>
        </p:nvGrpSpPr>
        <p:grpSpPr>
          <a:xfrm>
            <a:off x="723900" y="3429000"/>
            <a:ext cx="3429000" cy="952500"/>
            <a:chOff x="723900" y="3429000"/>
            <a:chExt cx="3429000" cy="952500"/>
          </a:xfrm>
        </p:grpSpPr>
        <p:sp>
          <p:nvSpPr>
            <p:cNvPr id="35" name="node05.source-001.bullet"/>
            <p:cNvSpPr/>
            <p:nvPr/>
          </p:nvSpPr>
          <p:spPr>
            <a:xfrm>
              <a:off x="723900" y="3517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6" name="node05.source-001.text"/>
            <p:cNvSpPr/>
            <p:nvPr/>
          </p:nvSpPr>
          <p:spPr>
            <a:xfrm>
              <a:off x="876300" y="34290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Scheduling.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One front door and one template for every service line.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05.source-002.bullet"/>
            <p:cNvSpPr/>
            <p:nvPr/>
          </p:nvSpPr>
          <p:spPr>
            <a:xfrm>
              <a:off x="7239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05.source-002.text"/>
            <p:cNvSpPr/>
            <p:nvPr/>
          </p:nvSpPr>
          <p:spPr>
            <a:xfrm>
              <a:off x="876300" y="39243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Registration.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Capture insurance and consent once, before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1" name="node06"/>
          <p:cNvGrpSpPr/>
          <p:nvPr/>
        </p:nvGrpSpPr>
        <p:grpSpPr>
          <a:xfrm>
            <a:off x="4381500" y="3429000"/>
            <a:ext cx="3429000" cy="952500"/>
            <a:chOff x="4381500" y="3429000"/>
            <a:chExt cx="3429000" cy="952500"/>
          </a:xfrm>
        </p:grpSpPr>
        <p:sp>
          <p:nvSpPr>
            <p:cNvPr id="39" name="node06.source-001.bullet"/>
            <p:cNvSpPr/>
            <p:nvPr/>
          </p:nvSpPr>
          <p:spPr>
            <a:xfrm>
              <a:off x="4381500" y="3517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06.source-001.text"/>
            <p:cNvSpPr/>
            <p:nvPr/>
          </p:nvSpPr>
          <p:spPr>
            <a:xfrm>
              <a:off x="4533900" y="34290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Estimates.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A price patients can rely on before they book.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6.source-002.bullet"/>
            <p:cNvSpPr/>
            <p:nvPr/>
          </p:nvSpPr>
          <p:spPr>
            <a:xfrm>
              <a:off x="43815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06.source-002.text"/>
            <p:cNvSpPr/>
            <p:nvPr/>
          </p:nvSpPr>
          <p:spPr>
            <a:xfrm>
              <a:off x="4533900" y="39243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Denials.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Stop front-end causes before the claim is sent.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07"/>
          <p:cNvGrpSpPr/>
          <p:nvPr/>
        </p:nvGrpSpPr>
        <p:grpSpPr>
          <a:xfrm>
            <a:off x="723900" y="4800600"/>
            <a:ext cx="3429000" cy="228600"/>
            <a:chOff x="723900" y="4800600"/>
            <a:chExt cx="3429000" cy="228600"/>
          </a:xfrm>
        </p:grpSpPr>
        <p:sp>
          <p:nvSpPr>
            <p:cNvPr id="43" name="node07.label"/>
            <p:cNvSpPr/>
            <p:nvPr/>
          </p:nvSpPr>
          <p:spPr>
            <a:xfrm>
              <a:off x="723900" y="4800600"/>
              <a:ext cx="182830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WHAT YOU WILL LEAVE WITH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4" name="node07.rule"/>
            <p:cNvSpPr/>
            <p:nvPr/>
          </p:nvSpPr>
          <p:spPr>
            <a:xfrm>
              <a:off x="2679204" y="4910138"/>
              <a:ext cx="147369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5" name="node08"/>
          <p:cNvSpPr/>
          <p:nvPr/>
        </p:nvSpPr>
        <p:spPr>
          <a:xfrm>
            <a:off x="7239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3" name="node09"/>
          <p:cNvGrpSpPr/>
          <p:nvPr/>
        </p:nvGrpSpPr>
        <p:grpSpPr>
          <a:xfrm>
            <a:off x="723900" y="5257800"/>
            <a:ext cx="3429000" cy="495300"/>
            <a:chOff x="723900" y="5257800"/>
            <a:chExt cx="3429000" cy="495300"/>
          </a:xfrm>
        </p:grpSpPr>
        <p:sp>
          <p:nvSpPr>
            <p:cNvPr id="46" name="node09.source-001.bullet"/>
            <p:cNvSpPr/>
            <p:nvPr/>
          </p:nvSpPr>
          <p:spPr>
            <a:xfrm>
              <a:off x="723900" y="5346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7" name="node09.source-001.text"/>
            <p:cNvSpPr/>
            <p:nvPr/>
          </p:nvSpPr>
          <p:spPr>
            <a:xfrm>
              <a:off x="876300" y="5257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Future-state process per area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09.source-002.bullet"/>
            <p:cNvSpPr/>
            <p:nvPr/>
          </p:nvSpPr>
          <p:spPr>
            <a:xfrm>
              <a:off x="723900" y="5613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9" name="node09.source-002.text"/>
            <p:cNvSpPr/>
            <p:nvPr/>
          </p:nvSpPr>
          <p:spPr>
            <a:xfrm>
              <a:off x="876300" y="5524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Decisions log and a ranked list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10"/>
          <p:cNvGrpSpPr/>
          <p:nvPr/>
        </p:nvGrpSpPr>
        <p:grpSpPr>
          <a:xfrm>
            <a:off x="4381500" y="4800600"/>
            <a:ext cx="3429000" cy="228600"/>
            <a:chOff x="4381500" y="4800600"/>
            <a:chExt cx="3429000" cy="228600"/>
          </a:xfrm>
        </p:grpSpPr>
        <p:sp>
          <p:nvSpPr>
            <p:cNvPr id="50" name="node10.label"/>
            <p:cNvSpPr/>
            <p:nvPr/>
          </p:nvSpPr>
          <p:spPr>
            <a:xfrm>
              <a:off x="4381500" y="4800600"/>
              <a:ext cx="19034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WHO ATTENDS, AND PRE-WORK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1" name="node10.rule"/>
            <p:cNvSpPr/>
            <p:nvPr/>
          </p:nvSpPr>
          <p:spPr>
            <a:xfrm>
              <a:off x="6411925" y="4910138"/>
              <a:ext cx="1398575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2" name="node11"/>
          <p:cNvSpPr/>
          <p:nvPr/>
        </p:nvSpPr>
        <p:spPr>
          <a:xfrm>
            <a:off x="43815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5" name="node12"/>
          <p:cNvGrpSpPr/>
          <p:nvPr/>
        </p:nvGrpSpPr>
        <p:grpSpPr>
          <a:xfrm>
            <a:off x="4381500" y="5257800"/>
            <a:ext cx="3429000" cy="495300"/>
            <a:chOff x="4381500" y="5257800"/>
            <a:chExt cx="3429000" cy="495300"/>
          </a:xfrm>
        </p:grpSpPr>
        <p:sp>
          <p:nvSpPr>
            <p:cNvPr id="53" name="node12.source-001.bullet"/>
            <p:cNvSpPr/>
            <p:nvPr/>
          </p:nvSpPr>
          <p:spPr>
            <a:xfrm>
              <a:off x="4381500" y="5346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4" name="node12.source-001.text"/>
            <p:cNvSpPr/>
            <p:nvPr/>
          </p:nvSpPr>
          <p:spPr>
            <a:xfrm>
              <a:off x="4533900" y="5257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Access, revenue cycle, IT and registration leads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5" name="node12.source-002.bullet"/>
            <p:cNvSpPr/>
            <p:nvPr/>
          </p:nvSpPr>
          <p:spPr>
            <a:xfrm>
              <a:off x="4381500" y="5613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6" name="node12.source-002.text"/>
            <p:cNvSpPr/>
            <p:nvPr/>
          </p:nvSpPr>
          <p:spPr>
            <a:xfrm>
              <a:off x="4533900" y="5524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Read the Discovery readout first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FACILITATION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Run of show: three hours to a future-state design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4013200"/>
          </p:xfrm>
          <a:graphic>
            <a:graphicData uri="http://schemas.openxmlformats.org/drawingml/2006/table">
              <a:tbl>
                <a:tblPr/>
                <a:tblGrid>
                  <a:gridCol w="838200"/>
                  <a:gridCol w="609600"/>
                  <a:gridCol w="2133600"/>
                  <a:gridCol w="3429000"/>
                  <a:gridCol w="2209800"/>
                  <a:gridCol w="1524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TIME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MIN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SEGMENT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ACTIVITY OR METHOD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MATERIALS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FACILITATOR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8:15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Room setup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Four tables, journey map on the wall, timer visible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Journey map, markers, name tents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Welcome and goals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 opens; objectives, ground rules, parking lot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Agenda poster, slide 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Current-state recap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Journey-map walk-through; dot vote on top pain points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Printed map, 6 dots per person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by area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Four tables, future-state canvas, 15-minute timeboxes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Canvas, sticky notes, markers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Area facilitators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10:45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Break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Tables reset; scribes consolidate notes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Refreshments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Playback and gaps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5-minute playback per table; gap callouts on the board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Gap board, timer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11:40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Decisions and next steps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Fist-to-five consensus; owners and dates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Decisions log template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Close and debrief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Confirm pre-work; one-word check-out; team debrief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Feedback cards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FACILITATION PLAN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Facilitation plan for workshop 2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4" name="node01"/>
          <p:cNvGrpSpPr/>
          <p:nvPr/>
        </p:nvGrpSpPr>
        <p:grpSpPr>
          <a:xfrm>
            <a:off x="4381500" y="457200"/>
            <a:ext cx="7086600" cy="5232400"/>
            <a:chOff x="4381500" y="457200"/>
            <a:chExt cx="7086600" cy="5232400"/>
          </a:xfrm>
        </p:grpSpPr>
        <p:graphicFrame>
          <p:nvGraphicFramePr>
            <p:cNvPr id="6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457200"/>
            <a:ext cx="7086600" cy="5232400"/>
          </p:xfrm>
          <a:graphic>
            <a:graphicData uri="http://schemas.openxmlformats.org/drawingml/2006/table">
              <a:tbl>
                <a:tblPr/>
                <a:tblGrid>
                  <a:gridCol w="762000"/>
                  <a:gridCol w="1905000"/>
                  <a:gridCol w="2971800"/>
                  <a:gridCol w="1447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TIME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SEGMENT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ACTIVITY OR METHOD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LEAD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8:15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Room setup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Four tables, journey map on the wall, timer visible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Welcome and goals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 opens; objectives, ground rules, parking lot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9:15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Current-state recap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Journey-map walk-through; dot vote on top pain points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by area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Four tables, future-state canvas, 15-minute timeboxes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Area facilitators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10:45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Break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Tables reset; scribes consolidate notes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Playback and gaps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5-minute playback per table; gap callouts on the board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Co-facilitator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11:40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Decisions and next steps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Fist-to-five consensus; owners and dates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12:00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Close and debrief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Confirm pre-work; one-word check-out; team debrief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Lead facilitator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35" name="node02"/>
          <p:cNvGrpSpPr/>
          <p:nvPr/>
        </p:nvGrpSpPr>
        <p:grpSpPr>
          <a:xfrm>
            <a:off x="723900" y="1828800"/>
            <a:ext cx="3429000" cy="228600"/>
            <a:chOff x="723900" y="1828800"/>
            <a:chExt cx="3429000" cy="228600"/>
          </a:xfrm>
        </p:grpSpPr>
        <p:sp>
          <p:nvSpPr>
            <p:cNvPr id="7" name="node02.label"/>
            <p:cNvSpPr/>
            <p:nvPr/>
          </p:nvSpPr>
          <p:spPr>
            <a:xfrm>
              <a:off x="723900" y="1828800"/>
              <a:ext cx="40100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ROLES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8" name="node02.rule"/>
            <p:cNvSpPr/>
            <p:nvPr/>
          </p:nvSpPr>
          <p:spPr>
            <a:xfrm>
              <a:off x="1251905" y="1938337"/>
              <a:ext cx="2900995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9" name="node03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6" name="node04"/>
          <p:cNvGrpSpPr/>
          <p:nvPr/>
        </p:nvGrpSpPr>
        <p:grpSpPr>
          <a:xfrm>
            <a:off x="723900" y="2286000"/>
            <a:ext cx="3429000" cy="762000"/>
            <a:chOff x="723900" y="2286000"/>
            <a:chExt cx="3429000" cy="762000"/>
          </a:xfrm>
        </p:grpSpPr>
        <p:sp>
          <p:nvSpPr>
            <p:cNvPr id="10" name="node04.source-001.bullet"/>
            <p:cNvSpPr/>
            <p:nvPr/>
          </p:nvSpPr>
          <p:spPr>
            <a:xfrm>
              <a:off x="723900" y="2374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4.source-001.text"/>
            <p:cNvSpPr/>
            <p:nvPr/>
          </p:nvSpPr>
          <p:spPr>
            <a:xfrm>
              <a:off x="876300" y="2286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Lead: runs the room and the clock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4.source-002.bullet"/>
            <p:cNvSpPr/>
            <p:nvPr/>
          </p:nvSpPr>
          <p:spPr>
            <a:xfrm>
              <a:off x="723900" y="2641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4.source-002.text"/>
            <p:cNvSpPr/>
            <p:nvPr/>
          </p:nvSpPr>
          <p:spPr>
            <a:xfrm>
              <a:off x="876300" y="2552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Co-facilitator: tables and scribes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4.source-003.bullet"/>
            <p:cNvSpPr/>
            <p:nvPr/>
          </p:nvSpPr>
          <p:spPr>
            <a:xfrm>
              <a:off x="723900" y="2908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4.source-003.text"/>
            <p:cNvSpPr/>
            <p:nvPr/>
          </p:nvSpPr>
          <p:spPr>
            <a:xfrm>
              <a:off x="876300" y="2819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Area facilitators: one per 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7" name="node05"/>
          <p:cNvGrpSpPr/>
          <p:nvPr/>
        </p:nvGrpSpPr>
        <p:grpSpPr>
          <a:xfrm>
            <a:off x="723900" y="3200400"/>
            <a:ext cx="3429000" cy="228600"/>
            <a:chOff x="723900" y="3200400"/>
            <a:chExt cx="3429000" cy="228600"/>
          </a:xfrm>
        </p:grpSpPr>
        <p:sp>
          <p:nvSpPr>
            <p:cNvPr id="16" name="node05.label"/>
            <p:cNvSpPr/>
            <p:nvPr/>
          </p:nvSpPr>
          <p:spPr>
            <a:xfrm>
              <a:off x="723900" y="3200400"/>
              <a:ext cx="145269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MATERIALS CHECKLIST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7" name="node05.rule"/>
            <p:cNvSpPr/>
            <p:nvPr/>
          </p:nvSpPr>
          <p:spPr>
            <a:xfrm>
              <a:off x="2303599" y="3309938"/>
              <a:ext cx="184930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8" name="node06"/>
          <p:cNvSpPr/>
          <p:nvPr/>
        </p:nvSpPr>
        <p:spPr>
          <a:xfrm>
            <a:off x="7239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8" name="node07"/>
          <p:cNvGrpSpPr/>
          <p:nvPr/>
        </p:nvGrpSpPr>
        <p:grpSpPr>
          <a:xfrm>
            <a:off x="723900" y="3657600"/>
            <a:ext cx="3429000" cy="1028700"/>
            <a:chOff x="723900" y="3657600"/>
            <a:chExt cx="3429000" cy="1028700"/>
          </a:xfrm>
        </p:grpSpPr>
        <p:sp>
          <p:nvSpPr>
            <p:cNvPr id="19" name="node07.source-001.bullet"/>
            <p:cNvSpPr/>
            <p:nvPr/>
          </p:nvSpPr>
          <p:spPr>
            <a:xfrm>
              <a:off x="7239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7.source-001.text"/>
            <p:cNvSpPr/>
            <p:nvPr/>
          </p:nvSpPr>
          <p:spPr>
            <a:xfrm>
              <a:off x="876300" y="3657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Journey map, printed A0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7.source-002.bullet"/>
            <p:cNvSpPr/>
            <p:nvPr/>
          </p:nvSpPr>
          <p:spPr>
            <a:xfrm>
              <a:off x="7239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7.source-002.text"/>
            <p:cNvSpPr/>
            <p:nvPr/>
          </p:nvSpPr>
          <p:spPr>
            <a:xfrm>
              <a:off x="876300" y="3924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Canvas and sticky notes per table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7.source-003.bullet"/>
            <p:cNvSpPr/>
            <p:nvPr/>
          </p:nvSpPr>
          <p:spPr>
            <a:xfrm>
              <a:off x="723900" y="4279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7.source-003.text"/>
            <p:cNvSpPr/>
            <p:nvPr/>
          </p:nvSpPr>
          <p:spPr>
            <a:xfrm>
              <a:off x="876300" y="4191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Dots, markers, name tents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7.source-004.bullet"/>
            <p:cNvSpPr/>
            <p:nvPr/>
          </p:nvSpPr>
          <p:spPr>
            <a:xfrm>
              <a:off x="723900" y="4546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7.source-004.text"/>
            <p:cNvSpPr/>
            <p:nvPr/>
          </p:nvSpPr>
          <p:spPr>
            <a:xfrm>
              <a:off x="876300" y="4457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Decisions log template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9" name="node08"/>
          <p:cNvGrpSpPr/>
          <p:nvPr/>
        </p:nvGrpSpPr>
        <p:grpSpPr>
          <a:xfrm>
            <a:off x="723900" y="4800600"/>
            <a:ext cx="3429000" cy="228600"/>
            <a:chOff x="723900" y="4800600"/>
            <a:chExt cx="3429000" cy="228600"/>
          </a:xfrm>
        </p:grpSpPr>
        <p:sp>
          <p:nvSpPr>
            <p:cNvPr id="27" name="node08.label"/>
            <p:cNvSpPr/>
            <p:nvPr/>
          </p:nvSpPr>
          <p:spPr>
            <a:xfrm>
              <a:off x="723900" y="48006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GROUND RULES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8" name="node08.rule"/>
            <p:cNvSpPr/>
            <p:nvPr/>
          </p:nvSpPr>
          <p:spPr>
            <a:xfrm>
              <a:off x="1777752" y="4910138"/>
              <a:ext cx="23751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9" name="node09"/>
          <p:cNvSpPr/>
          <p:nvPr/>
        </p:nvSpPr>
        <p:spPr>
          <a:xfrm>
            <a:off x="723900" y="5029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40" name="node10"/>
          <p:cNvGrpSpPr/>
          <p:nvPr/>
        </p:nvGrpSpPr>
        <p:grpSpPr>
          <a:xfrm>
            <a:off x="723900" y="5257800"/>
            <a:ext cx="3429000" cy="495300"/>
            <a:chOff x="723900" y="5257800"/>
            <a:chExt cx="3429000" cy="495300"/>
          </a:xfrm>
        </p:grpSpPr>
        <p:sp>
          <p:nvSpPr>
            <p:cNvPr id="30" name="node10.source-001.bullet"/>
            <p:cNvSpPr/>
            <p:nvPr/>
          </p:nvSpPr>
          <p:spPr>
            <a:xfrm>
              <a:off x="723900" y="5346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10.source-001.text"/>
            <p:cNvSpPr/>
            <p:nvPr/>
          </p:nvSpPr>
          <p:spPr>
            <a:xfrm>
              <a:off x="876300" y="5257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Timeboxes hold; parking lot for the rest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10.source-002.bullet"/>
            <p:cNvSpPr/>
            <p:nvPr/>
          </p:nvSpPr>
          <p:spPr>
            <a:xfrm>
              <a:off x="723900" y="56134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3" name="node10.source-002.text"/>
            <p:cNvSpPr/>
            <p:nvPr/>
          </p:nvSpPr>
          <p:spPr>
            <a:xfrm>
              <a:off x="876300" y="55245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Every decision gets an owner and a date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WORKSHOP 2 READOUT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room agreed a design; targets are still open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3" name="node01"/>
          <p:cNvGrpSpPr/>
          <p:nvPr/>
        </p:nvGrpSpPr>
        <p:grpSpPr>
          <a:xfrm>
            <a:off x="723900" y="1600200"/>
            <a:ext cx="10744200" cy="228600"/>
            <a:chOff x="723900" y="1600200"/>
            <a:chExt cx="10744200" cy="228600"/>
          </a:xfrm>
        </p:grpSpPr>
        <p:sp>
          <p:nvSpPr>
            <p:cNvPr id="7" name="node01.text"/>
            <p:cNvSpPr/>
            <p:nvPr/>
          </p:nvSpPr>
          <p:spPr>
            <a:xfrm>
              <a:off x="723900" y="1600200"/>
              <a:ext cx="10744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Covered: Discovery recap, four design tables, playback of gaps, decisions and next steps. 22 attendees, 3 hours.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4" name="node02"/>
          <p:cNvGrpSpPr/>
          <p:nvPr/>
        </p:nvGrpSpPr>
        <p:grpSpPr>
          <a:xfrm>
            <a:off x="723900" y="2057400"/>
            <a:ext cx="3429000" cy="228600"/>
            <a:chOff x="723900" y="2057400"/>
            <a:chExt cx="3429000" cy="228600"/>
          </a:xfrm>
        </p:grpSpPr>
        <p:sp>
          <p:nvSpPr>
            <p:cNvPr id="8" name="node02.label"/>
            <p:cNvSpPr/>
            <p:nvPr/>
          </p:nvSpPr>
          <p:spPr>
            <a:xfrm>
              <a:off x="723900" y="2057400"/>
              <a:ext cx="100197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KEY LEARNINGS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" name="node02.rule"/>
            <p:cNvSpPr/>
            <p:nvPr/>
          </p:nvSpPr>
          <p:spPr>
            <a:xfrm>
              <a:off x="1852873" y="2166938"/>
              <a:ext cx="2300027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0" name="node03"/>
          <p:cNvSpPr/>
          <p:nvPr/>
        </p:nvSpPr>
        <p:spPr>
          <a:xfrm>
            <a:off x="723900" y="2286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5" name="node04"/>
          <p:cNvGrpSpPr/>
          <p:nvPr/>
        </p:nvGrpSpPr>
        <p:grpSpPr>
          <a:xfrm>
            <a:off x="723900" y="2514600"/>
            <a:ext cx="3429000" cy="1028700"/>
            <a:chOff x="723900" y="2514600"/>
            <a:chExt cx="3429000" cy="1028700"/>
          </a:xfrm>
        </p:grpSpPr>
        <p:sp>
          <p:nvSpPr>
            <p:cNvPr id="11" name="node04.source-001.number"/>
            <p:cNvSpPr/>
            <p:nvPr/>
          </p:nvSpPr>
          <p:spPr>
            <a:xfrm>
              <a:off x="723900" y="25146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4.source-001.text"/>
            <p:cNvSpPr/>
            <p:nvPr/>
          </p:nvSpPr>
          <p:spPr>
            <a:xfrm>
              <a:off x="876300" y="2514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Patients meet three tools to book once.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4.source-002.number"/>
            <p:cNvSpPr/>
            <p:nvPr/>
          </p:nvSpPr>
          <p:spPr>
            <a:xfrm>
              <a:off x="723900" y="27813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4.source-002.text"/>
            <p:cNvSpPr/>
            <p:nvPr/>
          </p:nvSpPr>
          <p:spPr>
            <a:xfrm>
              <a:off x="876300" y="2781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Registration errors drive most denials.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4.source-003.number"/>
            <p:cNvSpPr/>
            <p:nvPr/>
          </p:nvSpPr>
          <p:spPr>
            <a:xfrm>
              <a:off x="723900" y="30480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6" name="node04.source-003.text"/>
            <p:cNvSpPr/>
            <p:nvPr/>
          </p:nvSpPr>
          <p:spPr>
            <a:xfrm>
              <a:off x="876300" y="3048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 are rarely given before a visit.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4.source-004.number"/>
            <p:cNvSpPr/>
            <p:nvPr/>
          </p:nvSpPr>
          <p:spPr>
            <a:xfrm>
              <a:off x="723900" y="33147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8" name="node04.source-004.text"/>
            <p:cNvSpPr/>
            <p:nvPr/>
          </p:nvSpPr>
          <p:spPr>
            <a:xfrm>
              <a:off x="876300" y="3314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Leads agree on goals, not on order.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6" name="node05"/>
          <p:cNvGrpSpPr/>
          <p:nvPr/>
        </p:nvGrpSpPr>
        <p:grpSpPr>
          <a:xfrm>
            <a:off x="4381500" y="2057400"/>
            <a:ext cx="3429000" cy="228600"/>
            <a:chOff x="4381500" y="2057400"/>
            <a:chExt cx="3429000" cy="228600"/>
          </a:xfrm>
        </p:grpSpPr>
        <p:sp>
          <p:nvSpPr>
            <p:cNvPr id="19" name="node05.label"/>
            <p:cNvSpPr/>
            <p:nvPr/>
          </p:nvSpPr>
          <p:spPr>
            <a:xfrm>
              <a:off x="4381500" y="20574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DECISIONS MADE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0" name="node05.rule"/>
            <p:cNvSpPr/>
            <p:nvPr/>
          </p:nvSpPr>
          <p:spPr>
            <a:xfrm>
              <a:off x="5585594" y="2166938"/>
              <a:ext cx="22249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1" name="node06"/>
          <p:cNvSpPr/>
          <p:nvPr/>
        </p:nvSpPr>
        <p:spPr>
          <a:xfrm>
            <a:off x="4381500" y="2286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7" name="node07"/>
          <p:cNvGrpSpPr/>
          <p:nvPr/>
        </p:nvGrpSpPr>
        <p:grpSpPr>
          <a:xfrm>
            <a:off x="4381500" y="2514600"/>
            <a:ext cx="3429000" cy="762000"/>
            <a:chOff x="4381500" y="2514600"/>
            <a:chExt cx="3429000" cy="762000"/>
          </a:xfrm>
        </p:grpSpPr>
        <p:sp>
          <p:nvSpPr>
            <p:cNvPr id="22" name="node07.source-001.bullet"/>
            <p:cNvSpPr/>
            <p:nvPr/>
          </p:nvSpPr>
          <p:spPr>
            <a:xfrm>
              <a:off x="4381500" y="2603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7.source-001.text"/>
            <p:cNvSpPr/>
            <p:nvPr/>
          </p:nvSpPr>
          <p:spPr>
            <a:xfrm>
              <a:off x="4533900" y="2514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scheduling template for all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7.source-002.bullet"/>
            <p:cNvSpPr/>
            <p:nvPr/>
          </p:nvSpPr>
          <p:spPr>
            <a:xfrm>
              <a:off x="4381500" y="287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7.source-002.text"/>
            <p:cNvSpPr/>
            <p:nvPr/>
          </p:nvSpPr>
          <p:spPr>
            <a:xfrm>
              <a:off x="4533900" y="2781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Eligibility checked at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7.source-003.bullet"/>
            <p:cNvSpPr/>
            <p:nvPr/>
          </p:nvSpPr>
          <p:spPr>
            <a:xfrm>
              <a:off x="4381500" y="313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7.source-003.text"/>
            <p:cNvSpPr/>
            <p:nvPr/>
          </p:nvSpPr>
          <p:spPr>
            <a:xfrm>
              <a:off x="4533900" y="3048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 start with imaging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8" name="node08"/>
          <p:cNvGrpSpPr/>
          <p:nvPr/>
        </p:nvGrpSpPr>
        <p:grpSpPr>
          <a:xfrm>
            <a:off x="8039100" y="2057400"/>
            <a:ext cx="3429000" cy="228600"/>
            <a:chOff x="8039100" y="2057400"/>
            <a:chExt cx="3429000" cy="228600"/>
          </a:xfrm>
        </p:grpSpPr>
        <p:sp>
          <p:nvSpPr>
            <p:cNvPr id="28" name="node08.label"/>
            <p:cNvSpPr/>
            <p:nvPr/>
          </p:nvSpPr>
          <p:spPr>
            <a:xfrm>
              <a:off x="8039100" y="20574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OPEN QUESTIONS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9" name="node08.rule"/>
            <p:cNvSpPr/>
            <p:nvPr/>
          </p:nvSpPr>
          <p:spPr>
            <a:xfrm>
              <a:off x="9243194" y="2166938"/>
              <a:ext cx="22249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0" name="node09"/>
          <p:cNvSpPr/>
          <p:nvPr/>
        </p:nvSpPr>
        <p:spPr>
          <a:xfrm>
            <a:off x="8039100" y="2286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9" name="node10"/>
          <p:cNvGrpSpPr/>
          <p:nvPr/>
        </p:nvGrpSpPr>
        <p:grpSpPr>
          <a:xfrm>
            <a:off x="8039100" y="2514600"/>
            <a:ext cx="3429000" cy="762000"/>
            <a:chOff x="8039100" y="2514600"/>
            <a:chExt cx="3429000" cy="762000"/>
          </a:xfrm>
        </p:grpSpPr>
        <p:sp>
          <p:nvSpPr>
            <p:cNvPr id="31" name="node10.source-001.bullet"/>
            <p:cNvSpPr/>
            <p:nvPr/>
          </p:nvSpPr>
          <p:spPr>
            <a:xfrm>
              <a:off x="8039100" y="2603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10.source-001.text"/>
            <p:cNvSpPr/>
            <p:nvPr/>
          </p:nvSpPr>
          <p:spPr>
            <a:xfrm>
              <a:off x="8191500" y="2514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Who owns the estimate tool?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10.source-002.bullet"/>
            <p:cNvSpPr/>
            <p:nvPr/>
          </p:nvSpPr>
          <p:spPr>
            <a:xfrm>
              <a:off x="8039100" y="2870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4" name="node10.source-002.text"/>
            <p:cNvSpPr/>
            <p:nvPr/>
          </p:nvSpPr>
          <p:spPr>
            <a:xfrm>
              <a:off x="8191500" y="2781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consent form across systems?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10.source-003.bullet"/>
            <p:cNvSpPr/>
            <p:nvPr/>
          </p:nvSpPr>
          <p:spPr>
            <a:xfrm>
              <a:off x="8039100" y="313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6" name="node10.source-003.text"/>
            <p:cNvSpPr/>
            <p:nvPr/>
          </p:nvSpPr>
          <p:spPr>
            <a:xfrm>
              <a:off x="8191500" y="3048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denial codes come first?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11"/>
          <p:cNvGrpSpPr/>
          <p:nvPr/>
        </p:nvGrpSpPr>
        <p:grpSpPr>
          <a:xfrm>
            <a:off x="723900" y="3657600"/>
            <a:ext cx="7086600" cy="228600"/>
            <a:chOff x="723900" y="3657600"/>
            <a:chExt cx="7086600" cy="228600"/>
          </a:xfrm>
        </p:grpSpPr>
        <p:sp>
          <p:nvSpPr>
            <p:cNvPr id="37" name="node11.label"/>
            <p:cNvSpPr/>
            <p:nvPr/>
          </p:nvSpPr>
          <p:spPr>
            <a:xfrm>
              <a:off x="723900" y="3657600"/>
              <a:ext cx="7766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NEXT STEPS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8" name="node11.rule"/>
            <p:cNvSpPr/>
            <p:nvPr/>
          </p:nvSpPr>
          <p:spPr>
            <a:xfrm>
              <a:off x="1627510" y="3767138"/>
              <a:ext cx="6182990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9" name="node12"/>
          <p:cNvSpPr/>
          <p:nvPr/>
        </p:nvSpPr>
        <p:spPr>
          <a:xfrm>
            <a:off x="723900" y="38862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1" name="node13"/>
          <p:cNvGrpSpPr/>
          <p:nvPr/>
        </p:nvGrpSpPr>
        <p:grpSpPr>
          <a:xfrm>
            <a:off x="723900" y="4114800"/>
            <a:ext cx="7086600" cy="1574800"/>
            <a:chOff x="723900" y="4114800"/>
            <a:chExt cx="7086600" cy="1574800"/>
          </a:xfrm>
        </p:grpSpPr>
        <p:graphicFrame>
          <p:nvGraphicFramePr>
            <p:cNvPr id="40" name="node13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4114800"/>
            <a:ext cx="7086600" cy="1574800"/>
          </p:xfrm>
          <a:graphic>
            <a:graphicData uri="http://schemas.openxmlformats.org/drawingml/2006/table">
              <a:tbl>
                <a:tblPr/>
                <a:tblGrid>
                  <a:gridCol w="2895600"/>
                  <a:gridCol w="1752600"/>
                  <a:gridCol w="990600"/>
                  <a:gridCol w="1447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NEXT STEP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DUE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Publish the decisions log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Program office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Oct 30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Draft registration target measures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Registration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4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Confirm estimate data sources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Finance partner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4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Size the top denial causes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41" name="node13.row.item-001.s.status-mark"/>
            <p:cNvSpPr/>
            <p:nvPr/>
          </p:nvSpPr>
          <p:spPr>
            <a:xfrm>
              <a:off x="6521450" y="45783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2" name="node13.row.item-002.s.status-mark"/>
            <p:cNvSpPr/>
            <p:nvPr/>
          </p:nvSpPr>
          <p:spPr>
            <a:xfrm>
              <a:off x="6521450" y="48831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3" name="node13.row.item-003.s.status-mark"/>
            <p:cNvSpPr/>
            <p:nvPr/>
          </p:nvSpPr>
          <p:spPr>
            <a:xfrm>
              <a:off x="6521450" y="51879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44" name="node13.row.item-004.s.status-mark"/>
            <p:cNvSpPr/>
            <p:nvPr/>
          </p:nvSpPr>
          <p:spPr>
            <a:xfrm>
              <a:off x="6521450" y="54927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62" name="node14"/>
          <p:cNvGrpSpPr/>
          <p:nvPr/>
        </p:nvGrpSpPr>
        <p:grpSpPr>
          <a:xfrm>
            <a:off x="8039100" y="3657600"/>
            <a:ext cx="3429000" cy="228600"/>
            <a:chOff x="8039100" y="3657600"/>
            <a:chExt cx="3429000" cy="228600"/>
          </a:xfrm>
        </p:grpSpPr>
        <p:sp>
          <p:nvSpPr>
            <p:cNvPr id="45" name="node14.label"/>
            <p:cNvSpPr/>
            <p:nvPr/>
          </p:nvSpPr>
          <p:spPr>
            <a:xfrm>
              <a:off x="8039100" y="3657600"/>
              <a:ext cx="20536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OUTCOMES AGAINST OBJECTIVES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6" name="node14.rule"/>
            <p:cNvSpPr/>
            <p:nvPr/>
          </p:nvSpPr>
          <p:spPr>
            <a:xfrm>
              <a:off x="10219767" y="3767138"/>
              <a:ext cx="124833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7" name="node15"/>
          <p:cNvSpPr/>
          <p:nvPr/>
        </p:nvSpPr>
        <p:spPr>
          <a:xfrm>
            <a:off x="8039100" y="3886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3" name="node16"/>
          <p:cNvGrpSpPr/>
          <p:nvPr/>
        </p:nvGrpSpPr>
        <p:grpSpPr>
          <a:xfrm>
            <a:off x="8039100" y="4114800"/>
            <a:ext cx="3429000" cy="1574800"/>
            <a:chOff x="8039100" y="4114800"/>
            <a:chExt cx="3429000" cy="1574800"/>
          </a:xfrm>
        </p:grpSpPr>
        <p:graphicFrame>
          <p:nvGraphicFramePr>
            <p:cNvPr id="48" name="node16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8039100" y="4114800"/>
            <a:ext cx="3429000" cy="1574800"/>
          </p:xfrm>
          <a:graphic>
            <a:graphicData uri="http://schemas.openxmlformats.org/drawingml/2006/table">
              <a:tbl>
                <a:tblPr/>
                <a:tblGrid>
                  <a:gridCol w="22098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OBJECTIVE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RESULT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future-state journey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Owners named per area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Partly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Shortlist ready to rank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Target measures drafted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49" name="node16.row.item-001.s.status-mark"/>
            <p:cNvSpPr/>
            <p:nvPr/>
          </p:nvSpPr>
          <p:spPr>
            <a:xfrm>
              <a:off x="10407650" y="45783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0" name="node16.row.item-002.s.status-mark"/>
            <p:cNvSpPr/>
            <p:nvPr/>
          </p:nvSpPr>
          <p:spPr>
            <a:xfrm>
              <a:off x="10407650" y="48831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1" name="node16.row.item-003.s.status-mark"/>
            <p:cNvSpPr/>
            <p:nvPr/>
          </p:nvSpPr>
          <p:spPr>
            <a:xfrm>
              <a:off x="10407650" y="51879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2" name="node16.row.item-004.s.status-mark"/>
            <p:cNvSpPr/>
            <p:nvPr/>
          </p:nvSpPr>
          <p:spPr>
            <a:xfrm>
              <a:off x="10407650" y="54927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WORKSHOP 3 READOUT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Two opportunities go to Now after the dot vote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0" name="node01"/>
          <p:cNvGrpSpPr/>
          <p:nvPr/>
        </p:nvGrpSpPr>
        <p:grpSpPr>
          <a:xfrm>
            <a:off x="723900" y="1600200"/>
            <a:ext cx="7086600" cy="3022600"/>
            <a:chOff x="723900" y="1600200"/>
            <a:chExt cx="7086600" cy="30226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7086600" cy="3022600"/>
          </p:xfrm>
          <a:graphic>
            <a:graphicData uri="http://schemas.openxmlformats.org/drawingml/2006/table">
              <a:tbl>
                <a:tblPr/>
                <a:tblGrid>
                  <a:gridCol w="2819400"/>
                  <a:gridCol w="1371600"/>
                  <a:gridCol w="1066800"/>
                  <a:gridCol w="18288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OPPORTUNITY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VOTES (OF 5)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PRIORITY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Eligibility check at booking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Registration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scheduling template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 director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Pre-visit estimate for imaging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Finance partner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Shared consent capture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Compliance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 root-cause dashboard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Real-time insurance cross-check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IT application owner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810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Self-service rebooking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v.dots-1"/>
            <p:cNvSpPr/>
            <p:nvPr/>
          </p:nvSpPr>
          <p:spPr>
            <a:xfrm>
              <a:off x="3695700" y="2095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row.item-001.v.dots-2"/>
            <p:cNvSpPr/>
            <p:nvPr/>
          </p:nvSpPr>
          <p:spPr>
            <a:xfrm>
              <a:off x="3848100" y="2095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row.item-001.v.dots-3"/>
            <p:cNvSpPr/>
            <p:nvPr/>
          </p:nvSpPr>
          <p:spPr>
            <a:xfrm>
              <a:off x="4000500" y="2095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1.row.item-001.v.dots-4"/>
            <p:cNvSpPr/>
            <p:nvPr/>
          </p:nvSpPr>
          <p:spPr>
            <a:xfrm>
              <a:off x="4152900" y="2095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row.item-001.v.dots-5"/>
            <p:cNvSpPr/>
            <p:nvPr/>
          </p:nvSpPr>
          <p:spPr>
            <a:xfrm>
              <a:off x="4305300" y="2095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1.row.item-001.p.priority.fill"/>
            <p:cNvSpPr/>
            <p:nvPr/>
          </p:nvSpPr>
          <p:spPr>
            <a:xfrm>
              <a:off x="5194300" y="20351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4" name="node01.row.item-001.p.priority"/>
            <p:cNvSpPr/>
            <p:nvPr/>
          </p:nvSpPr>
          <p:spPr>
            <a:xfrm>
              <a:off x="5295900" y="20605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1.row.item-002.v.dots-1"/>
            <p:cNvSpPr/>
            <p:nvPr/>
          </p:nvSpPr>
          <p:spPr>
            <a:xfrm>
              <a:off x="3695700" y="2476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1.row.item-002.v.dots-2"/>
            <p:cNvSpPr/>
            <p:nvPr/>
          </p:nvSpPr>
          <p:spPr>
            <a:xfrm>
              <a:off x="3848100" y="2476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row.item-002.v.dots-3"/>
            <p:cNvSpPr/>
            <p:nvPr/>
          </p:nvSpPr>
          <p:spPr>
            <a:xfrm>
              <a:off x="4000500" y="2476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row.item-002.v.dots-4"/>
            <p:cNvSpPr/>
            <p:nvPr/>
          </p:nvSpPr>
          <p:spPr>
            <a:xfrm>
              <a:off x="4152900" y="2476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9" name="node01.row.item-002.v.dots-5"/>
            <p:cNvSpPr/>
            <p:nvPr/>
          </p:nvSpPr>
          <p:spPr>
            <a:xfrm>
              <a:off x="4305300" y="2476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0" name="node01.row.item-002.p.priority.fill"/>
            <p:cNvSpPr/>
            <p:nvPr/>
          </p:nvSpPr>
          <p:spPr>
            <a:xfrm>
              <a:off x="5194300" y="24161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1" name="node01.row.item-002.p.priority"/>
            <p:cNvSpPr/>
            <p:nvPr/>
          </p:nvSpPr>
          <p:spPr>
            <a:xfrm>
              <a:off x="5295900" y="24415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row.item-003.v.dots-1"/>
            <p:cNvSpPr/>
            <p:nvPr/>
          </p:nvSpPr>
          <p:spPr>
            <a:xfrm>
              <a:off x="3695700" y="2857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1.row.item-003.v.dots-2"/>
            <p:cNvSpPr/>
            <p:nvPr/>
          </p:nvSpPr>
          <p:spPr>
            <a:xfrm>
              <a:off x="3848100" y="2857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1.row.item-003.v.dots-3"/>
            <p:cNvSpPr/>
            <p:nvPr/>
          </p:nvSpPr>
          <p:spPr>
            <a:xfrm>
              <a:off x="4000500" y="2857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1.row.item-003.v.dots-4"/>
            <p:cNvSpPr/>
            <p:nvPr/>
          </p:nvSpPr>
          <p:spPr>
            <a:xfrm>
              <a:off x="4152900" y="2857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1.row.item-003.v.dots-5"/>
            <p:cNvSpPr/>
            <p:nvPr/>
          </p:nvSpPr>
          <p:spPr>
            <a:xfrm>
              <a:off x="4305300" y="2857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27" name="node01.row.item-003.p.priority.fill"/>
            <p:cNvSpPr/>
            <p:nvPr/>
          </p:nvSpPr>
          <p:spPr>
            <a:xfrm>
              <a:off x="5183758" y="27971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28" name="node01.row.item-003.p.priority"/>
            <p:cNvSpPr/>
            <p:nvPr/>
          </p:nvSpPr>
          <p:spPr>
            <a:xfrm>
              <a:off x="5285358" y="28225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9" name="node01.row.item-004.v.dots-1"/>
            <p:cNvSpPr/>
            <p:nvPr/>
          </p:nvSpPr>
          <p:spPr>
            <a:xfrm>
              <a:off x="3695700" y="3238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1.row.item-004.v.dots-2"/>
            <p:cNvSpPr/>
            <p:nvPr/>
          </p:nvSpPr>
          <p:spPr>
            <a:xfrm>
              <a:off x="3848100" y="3238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1.row.item-004.v.dots-3"/>
            <p:cNvSpPr/>
            <p:nvPr/>
          </p:nvSpPr>
          <p:spPr>
            <a:xfrm>
              <a:off x="4000500" y="3238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1.row.item-004.v.dots-4"/>
            <p:cNvSpPr/>
            <p:nvPr/>
          </p:nvSpPr>
          <p:spPr>
            <a:xfrm>
              <a:off x="4152900" y="3238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3" name="node01.row.item-004.v.dots-5"/>
            <p:cNvSpPr/>
            <p:nvPr/>
          </p:nvSpPr>
          <p:spPr>
            <a:xfrm>
              <a:off x="4305300" y="3238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34" name="node01.row.item-004.p.priority.fill"/>
            <p:cNvSpPr/>
            <p:nvPr/>
          </p:nvSpPr>
          <p:spPr>
            <a:xfrm>
              <a:off x="5183758" y="31781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35" name="node01.row.item-004.p.priority"/>
            <p:cNvSpPr/>
            <p:nvPr/>
          </p:nvSpPr>
          <p:spPr>
            <a:xfrm>
              <a:off x="5285358" y="32035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row.item-005.v.dots-1"/>
            <p:cNvSpPr/>
            <p:nvPr/>
          </p:nvSpPr>
          <p:spPr>
            <a:xfrm>
              <a:off x="3695700" y="3619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7" name="node01.row.item-005.v.dots-2"/>
            <p:cNvSpPr/>
            <p:nvPr/>
          </p:nvSpPr>
          <p:spPr>
            <a:xfrm>
              <a:off x="3848100" y="3619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01.row.item-005.v.dots-3"/>
            <p:cNvSpPr/>
            <p:nvPr/>
          </p:nvSpPr>
          <p:spPr>
            <a:xfrm>
              <a:off x="4000500" y="3619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01.row.item-005.v.dots-4"/>
            <p:cNvSpPr/>
            <p:nvPr/>
          </p:nvSpPr>
          <p:spPr>
            <a:xfrm>
              <a:off x="4152900" y="3619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0" name="node01.row.item-005.v.dots-5"/>
            <p:cNvSpPr/>
            <p:nvPr/>
          </p:nvSpPr>
          <p:spPr>
            <a:xfrm>
              <a:off x="4305300" y="3619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1" name="node01.row.item-005.p.priority.fill"/>
            <p:cNvSpPr/>
            <p:nvPr/>
          </p:nvSpPr>
          <p:spPr>
            <a:xfrm>
              <a:off x="5183758" y="35591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2" name="node01.row.item-005.p.priority"/>
            <p:cNvSpPr/>
            <p:nvPr/>
          </p:nvSpPr>
          <p:spPr>
            <a:xfrm>
              <a:off x="5285358" y="35845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row.item-006.v.dots-1"/>
            <p:cNvSpPr/>
            <p:nvPr/>
          </p:nvSpPr>
          <p:spPr>
            <a:xfrm>
              <a:off x="3695700" y="4000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1.row.item-006.v.dots-2"/>
            <p:cNvSpPr/>
            <p:nvPr/>
          </p:nvSpPr>
          <p:spPr>
            <a:xfrm>
              <a:off x="3848100" y="4000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01.row.item-006.v.dots-3"/>
            <p:cNvSpPr/>
            <p:nvPr/>
          </p:nvSpPr>
          <p:spPr>
            <a:xfrm>
              <a:off x="4000500" y="4000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01.row.item-006.v.dots-4"/>
            <p:cNvSpPr/>
            <p:nvPr/>
          </p:nvSpPr>
          <p:spPr>
            <a:xfrm>
              <a:off x="4152900" y="4000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7" name="node01.row.item-006.v.dots-5"/>
            <p:cNvSpPr/>
            <p:nvPr/>
          </p:nvSpPr>
          <p:spPr>
            <a:xfrm>
              <a:off x="4305300" y="4000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48" name="node01.row.item-006.p.priority.fill"/>
            <p:cNvSpPr/>
            <p:nvPr/>
          </p:nvSpPr>
          <p:spPr>
            <a:xfrm>
              <a:off x="5183758" y="39401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49" name="node01.row.item-006.p.priority"/>
            <p:cNvSpPr/>
            <p:nvPr/>
          </p:nvSpPr>
          <p:spPr>
            <a:xfrm>
              <a:off x="5285358" y="39655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row.item-007.v.dots-1"/>
            <p:cNvSpPr/>
            <p:nvPr/>
          </p:nvSpPr>
          <p:spPr>
            <a:xfrm>
              <a:off x="3695700" y="4381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1" name="node01.row.item-007.v.dots-2"/>
            <p:cNvSpPr/>
            <p:nvPr/>
          </p:nvSpPr>
          <p:spPr>
            <a:xfrm>
              <a:off x="3848100" y="4381500"/>
              <a:ext cx="101600" cy="101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01.row.item-007.v.dots-3"/>
            <p:cNvSpPr/>
            <p:nvPr/>
          </p:nvSpPr>
          <p:spPr>
            <a:xfrm>
              <a:off x="4000500" y="4381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3" name="node01.row.item-007.v.dots-4"/>
            <p:cNvSpPr/>
            <p:nvPr/>
          </p:nvSpPr>
          <p:spPr>
            <a:xfrm>
              <a:off x="4152900" y="4381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4" name="node01.row.item-007.v.dots-5"/>
            <p:cNvSpPr/>
            <p:nvPr/>
          </p:nvSpPr>
          <p:spPr>
            <a:xfrm>
              <a:off x="4305300" y="4381500"/>
              <a:ext cx="101600" cy="101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55" name="node01.row.item-007.p.priority.fill"/>
            <p:cNvSpPr/>
            <p:nvPr/>
          </p:nvSpPr>
          <p:spPr>
            <a:xfrm>
              <a:off x="5146198" y="4321175"/>
              <a:ext cx="604205" cy="22225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56" name="node01.row.item-007.p.priority"/>
            <p:cNvSpPr/>
            <p:nvPr/>
          </p:nvSpPr>
          <p:spPr>
            <a:xfrm>
              <a:off x="5247798" y="4346575"/>
              <a:ext cx="40100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81" name="node02"/>
          <p:cNvGrpSpPr/>
          <p:nvPr/>
        </p:nvGrpSpPr>
        <p:grpSpPr>
          <a:xfrm>
            <a:off x="723900" y="4800600"/>
            <a:ext cx="7086600" cy="228600"/>
            <a:chOff x="723900" y="4800600"/>
            <a:chExt cx="7086600" cy="228600"/>
          </a:xfrm>
        </p:grpSpPr>
        <p:sp>
          <p:nvSpPr>
            <p:cNvPr id="57" name="node02.label"/>
            <p:cNvSpPr/>
            <p:nvPr/>
          </p:nvSpPr>
          <p:spPr>
            <a:xfrm>
              <a:off x="723900" y="4800600"/>
              <a:ext cx="100197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KEY LEARNINGS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8" name="node02.rule"/>
            <p:cNvSpPr/>
            <p:nvPr/>
          </p:nvSpPr>
          <p:spPr>
            <a:xfrm>
              <a:off x="1852873" y="4910138"/>
              <a:ext cx="5957627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9" name="node03"/>
          <p:cNvSpPr/>
          <p:nvPr/>
        </p:nvSpPr>
        <p:spPr>
          <a:xfrm>
            <a:off x="723900" y="50292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2" name="node04"/>
          <p:cNvGrpSpPr/>
          <p:nvPr/>
        </p:nvGrpSpPr>
        <p:grpSpPr>
          <a:xfrm>
            <a:off x="723900" y="5257800"/>
            <a:ext cx="7086600" cy="228600"/>
            <a:chOff x="723900" y="5257800"/>
            <a:chExt cx="7086600" cy="228600"/>
          </a:xfrm>
        </p:grpSpPr>
        <p:sp>
          <p:nvSpPr>
            <p:cNvPr id="60" name="node04.text"/>
            <p:cNvSpPr/>
            <p:nvPr/>
          </p:nvSpPr>
          <p:spPr>
            <a:xfrm>
              <a:off x="723900" y="5257800"/>
              <a:ext cx="708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Front-end fixes drive most value; estimates and denials depend on the same registration data.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3" name="node05"/>
          <p:cNvGrpSpPr/>
          <p:nvPr/>
        </p:nvGrpSpPr>
        <p:grpSpPr>
          <a:xfrm>
            <a:off x="8039100" y="1600200"/>
            <a:ext cx="3429000" cy="228600"/>
            <a:chOff x="8039100" y="1600200"/>
            <a:chExt cx="3429000" cy="228600"/>
          </a:xfrm>
        </p:grpSpPr>
        <p:sp>
          <p:nvSpPr>
            <p:cNvPr id="61" name="node05.label"/>
            <p:cNvSpPr/>
            <p:nvPr/>
          </p:nvSpPr>
          <p:spPr>
            <a:xfrm>
              <a:off x="8039100" y="1600200"/>
              <a:ext cx="20536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OUTCOMES AGAINST OBJECTIVES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2" name="node05.rule"/>
            <p:cNvSpPr/>
            <p:nvPr/>
          </p:nvSpPr>
          <p:spPr>
            <a:xfrm>
              <a:off x="10219767" y="1709738"/>
              <a:ext cx="124833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3" name="node06"/>
          <p:cNvSpPr/>
          <p:nvPr/>
        </p:nvSpPr>
        <p:spPr>
          <a:xfrm>
            <a:off x="8039100" y="18288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4" name="node07"/>
          <p:cNvGrpSpPr/>
          <p:nvPr/>
        </p:nvGrpSpPr>
        <p:grpSpPr>
          <a:xfrm>
            <a:off x="8039100" y="2057400"/>
            <a:ext cx="3429000" cy="1574800"/>
            <a:chOff x="8039100" y="2057400"/>
            <a:chExt cx="3429000" cy="1574800"/>
          </a:xfrm>
        </p:grpSpPr>
        <p:graphicFrame>
          <p:nvGraphicFramePr>
            <p:cNvPr id="64" name="node07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8039100" y="2057400"/>
            <a:ext cx="3429000" cy="1574800"/>
          </p:xfrm>
          <a:graphic>
            <a:graphicData uri="http://schemas.openxmlformats.org/drawingml/2006/table">
              <a:tbl>
                <a:tblPr/>
                <a:tblGrid>
                  <a:gridCol w="22098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OBJECTIVE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RESULT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future-state journey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Owners named per area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Partly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Shortlist ready to rank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Target measures drafted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65" name="node07.row.item-001.s.status-mark"/>
            <p:cNvSpPr/>
            <p:nvPr/>
          </p:nvSpPr>
          <p:spPr>
            <a:xfrm>
              <a:off x="10407650" y="25209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6" name="node07.row.item-002.s.status-mark"/>
            <p:cNvSpPr/>
            <p:nvPr/>
          </p:nvSpPr>
          <p:spPr>
            <a:xfrm>
              <a:off x="10407650" y="28257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7" name="node07.row.item-003.s.status-mark"/>
            <p:cNvSpPr/>
            <p:nvPr/>
          </p:nvSpPr>
          <p:spPr>
            <a:xfrm>
              <a:off x="10407650" y="31305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8" name="node07.row.item-004.s.status-mark"/>
            <p:cNvSpPr/>
            <p:nvPr/>
          </p:nvSpPr>
          <p:spPr>
            <a:xfrm>
              <a:off x="10407650" y="34353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85" name="node08"/>
          <p:cNvGrpSpPr/>
          <p:nvPr/>
        </p:nvGrpSpPr>
        <p:grpSpPr>
          <a:xfrm>
            <a:off x="8039100" y="3810000"/>
            <a:ext cx="3429000" cy="228600"/>
            <a:chOff x="8039100" y="3810000"/>
            <a:chExt cx="3429000" cy="228600"/>
          </a:xfrm>
        </p:grpSpPr>
        <p:sp>
          <p:nvSpPr>
            <p:cNvPr id="69" name="node08.label"/>
            <p:cNvSpPr/>
            <p:nvPr/>
          </p:nvSpPr>
          <p:spPr>
            <a:xfrm>
              <a:off x="8039100" y="3810000"/>
              <a:ext cx="212878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DECISIONS AND OPEN QUESTIONS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70" name="node08.rule"/>
            <p:cNvSpPr/>
            <p:nvPr/>
          </p:nvSpPr>
          <p:spPr>
            <a:xfrm>
              <a:off x="10294888" y="3919537"/>
              <a:ext cx="117321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71" name="node09"/>
          <p:cNvSpPr/>
          <p:nvPr/>
        </p:nvSpPr>
        <p:spPr>
          <a:xfrm>
            <a:off x="8039100" y="4038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86" name="node10"/>
          <p:cNvGrpSpPr/>
          <p:nvPr/>
        </p:nvGrpSpPr>
        <p:grpSpPr>
          <a:xfrm>
            <a:off x="8039100" y="4267200"/>
            <a:ext cx="3429000" cy="1028700"/>
            <a:chOff x="8039100" y="4267200"/>
            <a:chExt cx="3429000" cy="1028700"/>
          </a:xfrm>
        </p:grpSpPr>
        <p:sp>
          <p:nvSpPr>
            <p:cNvPr id="72" name="node10.source-001.bullet"/>
            <p:cNvSpPr/>
            <p:nvPr/>
          </p:nvSpPr>
          <p:spPr>
            <a:xfrm>
              <a:off x="8039100" y="4356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3" name="node10.source-001.text"/>
            <p:cNvSpPr/>
            <p:nvPr/>
          </p:nvSpPr>
          <p:spPr>
            <a:xfrm>
              <a:off x="8191500" y="4267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Decided: top two go to Now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4" name="node10.source-002.bullet"/>
            <p:cNvSpPr/>
            <p:nvPr/>
          </p:nvSpPr>
          <p:spPr>
            <a:xfrm>
              <a:off x="8039100" y="4622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5" name="node10.source-002.text"/>
            <p:cNvSpPr/>
            <p:nvPr/>
          </p:nvSpPr>
          <p:spPr>
            <a:xfrm>
              <a:off x="8191500" y="4533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Decided: estimates start with imaging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10.source-003.bullet"/>
            <p:cNvSpPr/>
            <p:nvPr/>
          </p:nvSpPr>
          <p:spPr>
            <a:xfrm>
              <a:off x="8039100" y="4889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7" name="node10.source-003.text"/>
            <p:cNvSpPr/>
            <p:nvPr/>
          </p:nvSpPr>
          <p:spPr>
            <a:xfrm>
              <a:off x="8191500" y="4800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Open: who owns the estimate tool?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8" name="node10.source-004.bullet"/>
            <p:cNvSpPr/>
            <p:nvPr/>
          </p:nvSpPr>
          <p:spPr>
            <a:xfrm>
              <a:off x="8039100" y="5156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9" name="node10.source-004.text"/>
            <p:cNvSpPr/>
            <p:nvPr/>
          </p:nvSpPr>
          <p:spPr>
            <a:xfrm>
              <a:off x="8191500" y="5067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Open: consent form scope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80391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WORKSHOP 2 READOUT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8039100" y="6858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Five learnings shape the design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8039100" y="56769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0" name="node01"/>
          <p:cNvGrpSpPr/>
          <p:nvPr/>
        </p:nvGrpSpPr>
        <p:grpSpPr>
          <a:xfrm>
            <a:off x="8039100" y="1828800"/>
            <a:ext cx="3429000" cy="228600"/>
            <a:chOff x="8039100" y="1828800"/>
            <a:chExt cx="3429000" cy="228600"/>
          </a:xfrm>
        </p:grpSpPr>
        <p:sp>
          <p:nvSpPr>
            <p:cNvPr id="7" name="node01.label"/>
            <p:cNvSpPr/>
            <p:nvPr/>
          </p:nvSpPr>
          <p:spPr>
            <a:xfrm>
              <a:off x="8039100" y="18288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DECISIONS MADE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8" name="node01.rule"/>
            <p:cNvSpPr/>
            <p:nvPr/>
          </p:nvSpPr>
          <p:spPr>
            <a:xfrm>
              <a:off x="9243194" y="1938337"/>
              <a:ext cx="22249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9" name="node02"/>
          <p:cNvSpPr/>
          <p:nvPr/>
        </p:nvSpPr>
        <p:spPr>
          <a:xfrm>
            <a:off x="80391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1" name="node03"/>
          <p:cNvGrpSpPr/>
          <p:nvPr/>
        </p:nvGrpSpPr>
        <p:grpSpPr>
          <a:xfrm>
            <a:off x="8039100" y="2286000"/>
            <a:ext cx="3429000" cy="762000"/>
            <a:chOff x="8039100" y="2286000"/>
            <a:chExt cx="3429000" cy="762000"/>
          </a:xfrm>
        </p:grpSpPr>
        <p:sp>
          <p:nvSpPr>
            <p:cNvPr id="10" name="node03.source-001.bullet"/>
            <p:cNvSpPr/>
            <p:nvPr/>
          </p:nvSpPr>
          <p:spPr>
            <a:xfrm>
              <a:off x="8039100" y="2374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3.source-001.text"/>
            <p:cNvSpPr/>
            <p:nvPr/>
          </p:nvSpPr>
          <p:spPr>
            <a:xfrm>
              <a:off x="8191500" y="22860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scheduling template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2.bullet"/>
            <p:cNvSpPr/>
            <p:nvPr/>
          </p:nvSpPr>
          <p:spPr>
            <a:xfrm>
              <a:off x="8039100" y="2641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3.source-002.text"/>
            <p:cNvSpPr/>
            <p:nvPr/>
          </p:nvSpPr>
          <p:spPr>
            <a:xfrm>
              <a:off x="8191500" y="25527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Eligibility checked at booking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4" name="node03.source-003.bullet"/>
            <p:cNvSpPr/>
            <p:nvPr/>
          </p:nvSpPr>
          <p:spPr>
            <a:xfrm>
              <a:off x="8039100" y="2908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5" name="node03.source-003.text"/>
            <p:cNvSpPr/>
            <p:nvPr/>
          </p:nvSpPr>
          <p:spPr>
            <a:xfrm>
              <a:off x="8191500" y="2819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 start with imaging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04"/>
          <p:cNvGrpSpPr/>
          <p:nvPr/>
        </p:nvGrpSpPr>
        <p:grpSpPr>
          <a:xfrm>
            <a:off x="8039100" y="3200400"/>
            <a:ext cx="3429000" cy="228600"/>
            <a:chOff x="8039100" y="3200400"/>
            <a:chExt cx="3429000" cy="228600"/>
          </a:xfrm>
        </p:grpSpPr>
        <p:sp>
          <p:nvSpPr>
            <p:cNvPr id="16" name="node04.label"/>
            <p:cNvSpPr/>
            <p:nvPr/>
          </p:nvSpPr>
          <p:spPr>
            <a:xfrm>
              <a:off x="8039100" y="3200400"/>
              <a:ext cx="20536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OUTCOMES AGAINST OBJECTIVES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7" name="node04.rule"/>
            <p:cNvSpPr/>
            <p:nvPr/>
          </p:nvSpPr>
          <p:spPr>
            <a:xfrm>
              <a:off x="10219767" y="3309938"/>
              <a:ext cx="124833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8" name="node05"/>
          <p:cNvSpPr/>
          <p:nvPr/>
        </p:nvSpPr>
        <p:spPr>
          <a:xfrm>
            <a:off x="8039100" y="34290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3" name="node06"/>
          <p:cNvGrpSpPr/>
          <p:nvPr/>
        </p:nvGrpSpPr>
        <p:grpSpPr>
          <a:xfrm>
            <a:off x="8039100" y="3657600"/>
            <a:ext cx="3429000" cy="1778000"/>
            <a:chOff x="8039100" y="3657600"/>
            <a:chExt cx="3429000" cy="1778000"/>
          </a:xfrm>
        </p:grpSpPr>
        <p:graphicFrame>
          <p:nvGraphicFramePr>
            <p:cNvPr id="19" name="node06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8039100" y="3657600"/>
            <a:ext cx="3429000" cy="1778000"/>
          </p:xfrm>
          <a:graphic>
            <a:graphicData uri="http://schemas.openxmlformats.org/drawingml/2006/table">
              <a:tbl>
                <a:tblPr/>
                <a:tblGrid>
                  <a:gridCol w="22098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OBJECTIVE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RESULT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future-state journey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Owners named per area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Partly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Shortlist ready to rank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Target measures drafted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20" name="node06.row.item-001.s.status-mark"/>
            <p:cNvSpPr/>
            <p:nvPr/>
          </p:nvSpPr>
          <p:spPr>
            <a:xfrm>
              <a:off x="10407650" y="41465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1" name="node06.row.item-002.s.status-mark"/>
            <p:cNvSpPr/>
            <p:nvPr/>
          </p:nvSpPr>
          <p:spPr>
            <a:xfrm>
              <a:off x="10407650" y="45021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2" name="node06.row.item-003.s.status-mark"/>
            <p:cNvSpPr/>
            <p:nvPr/>
          </p:nvSpPr>
          <p:spPr>
            <a:xfrm>
              <a:off x="10407650" y="48577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23" name="node06.row.item-004.s.status-mark"/>
            <p:cNvSpPr/>
            <p:nvPr/>
          </p:nvSpPr>
          <p:spPr>
            <a:xfrm>
              <a:off x="10407650" y="52133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64" name="node07"/>
          <p:cNvGrpSpPr/>
          <p:nvPr/>
        </p:nvGrpSpPr>
        <p:grpSpPr>
          <a:xfrm>
            <a:off x="723900" y="457200"/>
            <a:ext cx="7086600" cy="228600"/>
            <a:chOff x="723900" y="457200"/>
            <a:chExt cx="7086600" cy="228600"/>
          </a:xfrm>
        </p:grpSpPr>
        <p:sp>
          <p:nvSpPr>
            <p:cNvPr id="24" name="node07.label"/>
            <p:cNvSpPr/>
            <p:nvPr/>
          </p:nvSpPr>
          <p:spPr>
            <a:xfrm>
              <a:off x="723900" y="457200"/>
              <a:ext cx="100197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KEY LEARNINGS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5" name="node07.rule"/>
            <p:cNvSpPr/>
            <p:nvPr/>
          </p:nvSpPr>
          <p:spPr>
            <a:xfrm>
              <a:off x="1852873" y="566738"/>
              <a:ext cx="5957627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6" name="node08"/>
          <p:cNvSpPr/>
          <p:nvPr/>
        </p:nvSpPr>
        <p:spPr>
          <a:xfrm>
            <a:off x="723900" y="6858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5" name="node09"/>
          <p:cNvGrpSpPr/>
          <p:nvPr/>
        </p:nvGrpSpPr>
        <p:grpSpPr>
          <a:xfrm>
            <a:off x="723900" y="914400"/>
            <a:ext cx="7086600" cy="1295400"/>
            <a:chOff x="723900" y="914400"/>
            <a:chExt cx="7086600" cy="1295400"/>
          </a:xfrm>
        </p:grpSpPr>
        <p:sp>
          <p:nvSpPr>
            <p:cNvPr id="27" name="node09.source-001.number"/>
            <p:cNvSpPr/>
            <p:nvPr/>
          </p:nvSpPr>
          <p:spPr>
            <a:xfrm>
              <a:off x="723900" y="9144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9.source-001.text"/>
            <p:cNvSpPr/>
            <p:nvPr/>
          </p:nvSpPr>
          <p:spPr>
            <a:xfrm>
              <a:off x="876300" y="914400"/>
              <a:ext cx="6934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Patients meet three scheduling tools before they can book one visit.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9.source-002.number"/>
            <p:cNvSpPr/>
            <p:nvPr/>
          </p:nvSpPr>
          <p:spPr>
            <a:xfrm>
              <a:off x="723900" y="11811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0" name="node09.source-002.text"/>
            <p:cNvSpPr/>
            <p:nvPr/>
          </p:nvSpPr>
          <p:spPr>
            <a:xfrm>
              <a:off x="876300" y="1181100"/>
              <a:ext cx="6934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Registration errors cause most of the front-end denials we see.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9.source-003.number"/>
            <p:cNvSpPr/>
            <p:nvPr/>
          </p:nvSpPr>
          <p:spPr>
            <a:xfrm>
              <a:off x="723900" y="14478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2" name="node09.source-003.text"/>
            <p:cNvSpPr/>
            <p:nvPr/>
          </p:nvSpPr>
          <p:spPr>
            <a:xfrm>
              <a:off x="876300" y="1447800"/>
              <a:ext cx="6934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 are rarely given before the visit, so patients arrive unsure of cost.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09.source-004.number"/>
            <p:cNvSpPr/>
            <p:nvPr/>
          </p:nvSpPr>
          <p:spPr>
            <a:xfrm>
              <a:off x="723900" y="17145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9.source-004.text"/>
            <p:cNvSpPr/>
            <p:nvPr/>
          </p:nvSpPr>
          <p:spPr>
            <a:xfrm>
              <a:off x="876300" y="1714500"/>
              <a:ext cx="6934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Area leads agree on the goals but not yet on the order of work.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09.source-005.number"/>
            <p:cNvSpPr/>
            <p:nvPr/>
          </p:nvSpPr>
          <p:spPr>
            <a:xfrm>
              <a:off x="723900" y="19812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5.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09.source-005.text"/>
            <p:cNvSpPr/>
            <p:nvPr/>
          </p:nvSpPr>
          <p:spPr>
            <a:xfrm>
              <a:off x="876300" y="1981200"/>
              <a:ext cx="6934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Insurance checks run too late in the flow to prevent a denial.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10"/>
          <p:cNvGrpSpPr/>
          <p:nvPr/>
        </p:nvGrpSpPr>
        <p:grpSpPr>
          <a:xfrm>
            <a:off x="723900" y="2286000"/>
            <a:ext cx="3429000" cy="228600"/>
            <a:chOff x="723900" y="2286000"/>
            <a:chExt cx="3429000" cy="228600"/>
          </a:xfrm>
        </p:grpSpPr>
        <p:sp>
          <p:nvSpPr>
            <p:cNvPr id="37" name="node10.label"/>
            <p:cNvSpPr/>
            <p:nvPr/>
          </p:nvSpPr>
          <p:spPr>
            <a:xfrm>
              <a:off x="723900" y="2286000"/>
              <a:ext cx="107709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OPEN QUESTIONS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8" name="node10.rule"/>
            <p:cNvSpPr/>
            <p:nvPr/>
          </p:nvSpPr>
          <p:spPr>
            <a:xfrm>
              <a:off x="1927994" y="2395538"/>
              <a:ext cx="222490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9" name="node11"/>
          <p:cNvSpPr/>
          <p:nvPr/>
        </p:nvSpPr>
        <p:spPr>
          <a:xfrm>
            <a:off x="723900" y="2514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7" name="node12"/>
          <p:cNvGrpSpPr/>
          <p:nvPr/>
        </p:nvGrpSpPr>
        <p:grpSpPr>
          <a:xfrm>
            <a:off x="723900" y="2743200"/>
            <a:ext cx="3429000" cy="762000"/>
            <a:chOff x="723900" y="2743200"/>
            <a:chExt cx="3429000" cy="762000"/>
          </a:xfrm>
        </p:grpSpPr>
        <p:sp>
          <p:nvSpPr>
            <p:cNvPr id="40" name="node12.source-001.bullet"/>
            <p:cNvSpPr/>
            <p:nvPr/>
          </p:nvSpPr>
          <p:spPr>
            <a:xfrm>
              <a:off x="723900" y="2832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12.source-001.text"/>
            <p:cNvSpPr/>
            <p:nvPr/>
          </p:nvSpPr>
          <p:spPr>
            <a:xfrm>
              <a:off x="876300" y="2743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Who owns the estimate tool?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12.source-002.bullet"/>
            <p:cNvSpPr/>
            <p:nvPr/>
          </p:nvSpPr>
          <p:spPr>
            <a:xfrm>
              <a:off x="723900" y="3098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3" name="node12.source-002.text"/>
            <p:cNvSpPr/>
            <p:nvPr/>
          </p:nvSpPr>
          <p:spPr>
            <a:xfrm>
              <a:off x="876300" y="3009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consent form across systems?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2.source-003.bullet"/>
            <p:cNvSpPr/>
            <p:nvPr/>
          </p:nvSpPr>
          <p:spPr>
            <a:xfrm>
              <a:off x="723900" y="3365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12.source-003.text"/>
            <p:cNvSpPr/>
            <p:nvPr/>
          </p:nvSpPr>
          <p:spPr>
            <a:xfrm>
              <a:off x="876300" y="3276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Which denial codes come first?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8" name="node13"/>
          <p:cNvGrpSpPr/>
          <p:nvPr/>
        </p:nvGrpSpPr>
        <p:grpSpPr>
          <a:xfrm>
            <a:off x="4381500" y="2286000"/>
            <a:ext cx="3429000" cy="228600"/>
            <a:chOff x="4381500" y="2286000"/>
            <a:chExt cx="3429000" cy="228600"/>
          </a:xfrm>
        </p:grpSpPr>
        <p:sp>
          <p:nvSpPr>
            <p:cNvPr id="46" name="node13.label"/>
            <p:cNvSpPr/>
            <p:nvPr/>
          </p:nvSpPr>
          <p:spPr>
            <a:xfrm>
              <a:off x="4381500" y="2286000"/>
              <a:ext cx="115221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WHAT WE COVERED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47" name="node13.rule"/>
            <p:cNvSpPr/>
            <p:nvPr/>
          </p:nvSpPr>
          <p:spPr>
            <a:xfrm>
              <a:off x="5660715" y="2395538"/>
              <a:ext cx="2149785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48" name="node14"/>
          <p:cNvSpPr/>
          <p:nvPr/>
        </p:nvSpPr>
        <p:spPr>
          <a:xfrm>
            <a:off x="4381500" y="2514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9" name="node15"/>
          <p:cNvGrpSpPr/>
          <p:nvPr/>
        </p:nvGrpSpPr>
        <p:grpSpPr>
          <a:xfrm>
            <a:off x="4381500" y="2743200"/>
            <a:ext cx="3429000" cy="495300"/>
            <a:chOff x="4381500" y="2743200"/>
            <a:chExt cx="3429000" cy="495300"/>
          </a:xfrm>
        </p:grpSpPr>
        <p:sp>
          <p:nvSpPr>
            <p:cNvPr id="49" name="node15.source-001.bullet"/>
            <p:cNvSpPr/>
            <p:nvPr/>
          </p:nvSpPr>
          <p:spPr>
            <a:xfrm>
              <a:off x="4381500" y="2832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15.source-001.text"/>
            <p:cNvSpPr/>
            <p:nvPr/>
          </p:nvSpPr>
          <p:spPr>
            <a:xfrm>
              <a:off x="4533900" y="2743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Discovery recap and four design tables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1" name="node15.source-002.bullet"/>
            <p:cNvSpPr/>
            <p:nvPr/>
          </p:nvSpPr>
          <p:spPr>
            <a:xfrm>
              <a:off x="4381500" y="3098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15.source-002.text"/>
            <p:cNvSpPr/>
            <p:nvPr/>
          </p:nvSpPr>
          <p:spPr>
            <a:xfrm>
              <a:off x="4533900" y="3009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Playback, gaps and decisions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0" name="node16"/>
          <p:cNvGrpSpPr/>
          <p:nvPr/>
        </p:nvGrpSpPr>
        <p:grpSpPr>
          <a:xfrm>
            <a:off x="723900" y="3657600"/>
            <a:ext cx="7086600" cy="228600"/>
            <a:chOff x="723900" y="3657600"/>
            <a:chExt cx="7086600" cy="228600"/>
          </a:xfrm>
        </p:grpSpPr>
        <p:sp>
          <p:nvSpPr>
            <p:cNvPr id="53" name="node16.label"/>
            <p:cNvSpPr/>
            <p:nvPr/>
          </p:nvSpPr>
          <p:spPr>
            <a:xfrm>
              <a:off x="723900" y="3657600"/>
              <a:ext cx="7766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NEXT STEPS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4" name="node16.rule"/>
            <p:cNvSpPr/>
            <p:nvPr/>
          </p:nvSpPr>
          <p:spPr>
            <a:xfrm>
              <a:off x="1627510" y="3767138"/>
              <a:ext cx="6182990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5" name="node17"/>
          <p:cNvSpPr/>
          <p:nvPr/>
        </p:nvSpPr>
        <p:spPr>
          <a:xfrm>
            <a:off x="723900" y="38862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1" name="node18"/>
          <p:cNvGrpSpPr/>
          <p:nvPr/>
        </p:nvGrpSpPr>
        <p:grpSpPr>
          <a:xfrm>
            <a:off x="723900" y="4114800"/>
            <a:ext cx="7086600" cy="1270000"/>
            <a:chOff x="723900" y="4114800"/>
            <a:chExt cx="7086600" cy="1270000"/>
          </a:xfrm>
        </p:grpSpPr>
        <p:graphicFrame>
          <p:nvGraphicFramePr>
            <p:cNvPr id="56" name="node18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4114800"/>
            <a:ext cx="7086600" cy="1270000"/>
          </p:xfrm>
          <a:graphic>
            <a:graphicData uri="http://schemas.openxmlformats.org/drawingml/2006/table">
              <a:tbl>
                <a:tblPr/>
                <a:tblGrid>
                  <a:gridCol w="3200400"/>
                  <a:gridCol w="1600200"/>
                  <a:gridCol w="990600"/>
                  <a:gridCol w="1295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NEXT STEP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DUE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Publish the decisions log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Program office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Oct 30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 progress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Draft registration target measures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Registration lead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4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Confirm estimate data sources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Finance partner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4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started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57" name="node18.row.item-001.s.status-mark"/>
            <p:cNvSpPr/>
            <p:nvPr/>
          </p:nvSpPr>
          <p:spPr>
            <a:xfrm>
              <a:off x="6673850" y="4578350"/>
              <a:ext cx="88900" cy="88900"/>
            </a:xfrm>
            <a:prstGeom prst="rect">
              <a:avLst/>
            </a:prstGeom>
            <a:solidFill>
              <a:srgbClr val="0047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8" name="node18.row.item-002.s.status-mark"/>
            <p:cNvSpPr/>
            <p:nvPr/>
          </p:nvSpPr>
          <p:spPr>
            <a:xfrm>
              <a:off x="6673850" y="48831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9" name="node18.row.item-003.s.status-mark"/>
            <p:cNvSpPr/>
            <p:nvPr/>
          </p:nvSpPr>
          <p:spPr>
            <a:xfrm>
              <a:off x="6673850" y="51879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WORKSHOP 2 READOUT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In their words: front-end fixes come first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quotes for layout only; replace with comments from the session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6" name="node01"/>
          <p:cNvGrpSpPr/>
          <p:nvPr/>
        </p:nvGrpSpPr>
        <p:grpSpPr>
          <a:xfrm>
            <a:off x="723900" y="1600200"/>
            <a:ext cx="3429000" cy="1524000"/>
            <a:chOff x="723900" y="1600200"/>
            <a:chExt cx="3429000" cy="1524000"/>
          </a:xfrm>
        </p:grpSpPr>
        <p:sp>
          <p:nvSpPr>
            <p:cNvPr id="7" name="node01.quote-mark"/>
            <p:cNvSpPr/>
            <p:nvPr/>
          </p:nvSpPr>
          <p:spPr>
            <a:xfrm>
              <a:off x="723900" y="1600200"/>
              <a:ext cx="342900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6000" spc="-90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“</a:t>
              </a:r>
              <a:endParaRPr lang="en-US" sz="6000" spc="-90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quote"/>
            <p:cNvSpPr/>
            <p:nvPr/>
          </p:nvSpPr>
          <p:spPr>
            <a:xfrm>
              <a:off x="723900" y="2095500"/>
              <a:ext cx="34290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One phone number to book one visit.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1.by"/>
            <p:cNvSpPr/>
            <p:nvPr/>
          </p:nvSpPr>
          <p:spPr>
            <a:xfrm>
              <a:off x="723900" y="2971800"/>
              <a:ext cx="3429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DIRECTOR, PATIENT ACCESS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7" name="node02"/>
          <p:cNvGrpSpPr/>
          <p:nvPr/>
        </p:nvGrpSpPr>
        <p:grpSpPr>
          <a:xfrm>
            <a:off x="4381500" y="1600200"/>
            <a:ext cx="3429000" cy="1524000"/>
            <a:chOff x="4381500" y="1600200"/>
            <a:chExt cx="3429000" cy="1524000"/>
          </a:xfrm>
        </p:grpSpPr>
        <p:sp>
          <p:nvSpPr>
            <p:cNvPr id="10" name="node02.quote-mark"/>
            <p:cNvSpPr/>
            <p:nvPr/>
          </p:nvSpPr>
          <p:spPr>
            <a:xfrm>
              <a:off x="4381500" y="1600200"/>
              <a:ext cx="342900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6000" spc="-90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“</a:t>
              </a:r>
              <a:endParaRPr lang="en-US" sz="6000" spc="-90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1" name="node02.quote"/>
            <p:cNvSpPr/>
            <p:nvPr/>
          </p:nvSpPr>
          <p:spPr>
            <a:xfrm>
              <a:off x="4381500" y="2095500"/>
              <a:ext cx="34290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A wrong estimate becomes our denial.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2" name="node02.by"/>
            <p:cNvSpPr/>
            <p:nvPr/>
          </p:nvSpPr>
          <p:spPr>
            <a:xfrm>
              <a:off x="4381500" y="2971800"/>
              <a:ext cx="3429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REVENUE CYCLE MANAGER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8" name="node03"/>
          <p:cNvGrpSpPr/>
          <p:nvPr/>
        </p:nvGrpSpPr>
        <p:grpSpPr>
          <a:xfrm>
            <a:off x="8039100" y="1600200"/>
            <a:ext cx="3429000" cy="1524000"/>
            <a:chOff x="8039100" y="1600200"/>
            <a:chExt cx="3429000" cy="1524000"/>
          </a:xfrm>
        </p:grpSpPr>
        <p:sp>
          <p:nvSpPr>
            <p:cNvPr id="13" name="node03.quote-mark"/>
            <p:cNvSpPr/>
            <p:nvPr/>
          </p:nvSpPr>
          <p:spPr>
            <a:xfrm>
              <a:off x="8039100" y="1600200"/>
              <a:ext cx="342900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6000" spc="-90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“</a:t>
              </a:r>
              <a:endParaRPr lang="en-US" sz="6000" spc="-90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4" name="node03.quote"/>
            <p:cNvSpPr/>
            <p:nvPr/>
          </p:nvSpPr>
          <p:spPr>
            <a:xfrm>
              <a:off x="8039100" y="2095500"/>
              <a:ext cx="3429000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Registration is where claims are won.</a:t>
              </a:r>
              <a:endPara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5" name="node03.by"/>
            <p:cNvSpPr/>
            <p:nvPr/>
          </p:nvSpPr>
          <p:spPr>
            <a:xfrm>
              <a:off x="8039100" y="2971800"/>
              <a:ext cx="34290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REGISTRATION SUPERVISOR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9" name="node04"/>
          <p:cNvGrpSpPr/>
          <p:nvPr/>
        </p:nvGrpSpPr>
        <p:grpSpPr>
          <a:xfrm>
            <a:off x="723900" y="3429000"/>
            <a:ext cx="3429000" cy="228600"/>
            <a:chOff x="723900" y="3429000"/>
            <a:chExt cx="3429000" cy="228600"/>
          </a:xfrm>
        </p:grpSpPr>
        <p:sp>
          <p:nvSpPr>
            <p:cNvPr id="16" name="node04.label"/>
            <p:cNvSpPr/>
            <p:nvPr/>
          </p:nvSpPr>
          <p:spPr>
            <a:xfrm>
              <a:off x="723900" y="3429000"/>
              <a:ext cx="100197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KEY LEARNINGS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7" name="node04.rule"/>
            <p:cNvSpPr/>
            <p:nvPr/>
          </p:nvSpPr>
          <p:spPr>
            <a:xfrm>
              <a:off x="1852873" y="3538538"/>
              <a:ext cx="2300027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8" name="node05"/>
          <p:cNvSpPr/>
          <p:nvPr/>
        </p:nvSpPr>
        <p:spPr>
          <a:xfrm>
            <a:off x="723900" y="3657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0" name="node06"/>
          <p:cNvGrpSpPr/>
          <p:nvPr/>
        </p:nvGrpSpPr>
        <p:grpSpPr>
          <a:xfrm>
            <a:off x="723900" y="3886200"/>
            <a:ext cx="3429000" cy="1028700"/>
            <a:chOff x="723900" y="3886200"/>
            <a:chExt cx="3429000" cy="1028700"/>
          </a:xfrm>
        </p:grpSpPr>
        <p:sp>
          <p:nvSpPr>
            <p:cNvPr id="19" name="node06.source-001.number"/>
            <p:cNvSpPr/>
            <p:nvPr/>
          </p:nvSpPr>
          <p:spPr>
            <a:xfrm>
              <a:off x="723900" y="38862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1.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0" name="node06.source-001.text"/>
            <p:cNvSpPr/>
            <p:nvPr/>
          </p:nvSpPr>
          <p:spPr>
            <a:xfrm>
              <a:off x="876300" y="3886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Patients meet three tools to book once.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6.source-002.number"/>
            <p:cNvSpPr/>
            <p:nvPr/>
          </p:nvSpPr>
          <p:spPr>
            <a:xfrm>
              <a:off x="723900" y="41529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2.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2" name="node06.source-002.text"/>
            <p:cNvSpPr/>
            <p:nvPr/>
          </p:nvSpPr>
          <p:spPr>
            <a:xfrm>
              <a:off x="876300" y="4152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Registration errors drive most denials.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6.source-003.number"/>
            <p:cNvSpPr/>
            <p:nvPr/>
          </p:nvSpPr>
          <p:spPr>
            <a:xfrm>
              <a:off x="723900" y="44196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3.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6.source-003.text"/>
            <p:cNvSpPr/>
            <p:nvPr/>
          </p:nvSpPr>
          <p:spPr>
            <a:xfrm>
              <a:off x="876300" y="4419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Estimates are rarely given before a visit.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6.source-004.number"/>
            <p:cNvSpPr/>
            <p:nvPr/>
          </p:nvSpPr>
          <p:spPr>
            <a:xfrm>
              <a:off x="723900" y="4686300"/>
              <a:ext cx="152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4.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6.source-004.text"/>
            <p:cNvSpPr/>
            <p:nvPr/>
          </p:nvSpPr>
          <p:spPr>
            <a:xfrm>
              <a:off x="876300" y="4686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Leads agree on goals, not on order.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1" name="node07"/>
          <p:cNvGrpSpPr/>
          <p:nvPr/>
        </p:nvGrpSpPr>
        <p:grpSpPr>
          <a:xfrm>
            <a:off x="4381500" y="3429000"/>
            <a:ext cx="3429000" cy="228600"/>
            <a:chOff x="4381500" y="3429000"/>
            <a:chExt cx="3429000" cy="228600"/>
          </a:xfrm>
        </p:grpSpPr>
        <p:sp>
          <p:nvSpPr>
            <p:cNvPr id="27" name="node07.label"/>
            <p:cNvSpPr/>
            <p:nvPr/>
          </p:nvSpPr>
          <p:spPr>
            <a:xfrm>
              <a:off x="4381500" y="3429000"/>
              <a:ext cx="205366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OUTCOMES AGAINST OBJECTIVES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8" name="node07.rule"/>
            <p:cNvSpPr/>
            <p:nvPr/>
          </p:nvSpPr>
          <p:spPr>
            <a:xfrm>
              <a:off x="6562167" y="3538538"/>
              <a:ext cx="1248333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9" name="node08"/>
          <p:cNvSpPr/>
          <p:nvPr/>
        </p:nvSpPr>
        <p:spPr>
          <a:xfrm>
            <a:off x="4381500" y="3657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2" name="node09"/>
          <p:cNvGrpSpPr/>
          <p:nvPr/>
        </p:nvGrpSpPr>
        <p:grpSpPr>
          <a:xfrm>
            <a:off x="4381500" y="3886200"/>
            <a:ext cx="3429000" cy="1574800"/>
            <a:chOff x="4381500" y="3886200"/>
            <a:chExt cx="3429000" cy="1574800"/>
          </a:xfrm>
        </p:grpSpPr>
        <p:graphicFrame>
          <p:nvGraphicFramePr>
            <p:cNvPr id="30" name="node09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3886200"/>
            <a:ext cx="3429000" cy="1574800"/>
          </p:xfrm>
          <a:graphic>
            <a:graphicData uri="http://schemas.openxmlformats.org/drawingml/2006/table">
              <a:tbl>
                <a:tblPr/>
                <a:tblGrid>
                  <a:gridCol w="2209800"/>
                  <a:gridCol w="12192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OBJECTIVE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RESULT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future-state journey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Owners named per area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Partly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Shortlist ready to rank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304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Target measures drafted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Not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31" name="node09.row.item-001.s.status-mark"/>
            <p:cNvSpPr/>
            <p:nvPr/>
          </p:nvSpPr>
          <p:spPr>
            <a:xfrm>
              <a:off x="6750050" y="43497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2" name="node09.row.item-002.s.status-mark"/>
            <p:cNvSpPr/>
            <p:nvPr/>
          </p:nvSpPr>
          <p:spPr>
            <a:xfrm>
              <a:off x="6750050" y="46545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3" name="node09.row.item-003.s.status-mark"/>
            <p:cNvSpPr/>
            <p:nvPr/>
          </p:nvSpPr>
          <p:spPr>
            <a:xfrm>
              <a:off x="6750050" y="49593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34" name="node09.row.item-004.s.status-mark"/>
            <p:cNvSpPr/>
            <p:nvPr/>
          </p:nvSpPr>
          <p:spPr>
            <a:xfrm>
              <a:off x="6750050" y="526415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</p:grpSp>
      <p:grpSp>
        <p:nvGrpSpPr>
          <p:cNvPr id="53" name="node10"/>
          <p:cNvGrpSpPr/>
          <p:nvPr/>
        </p:nvGrpSpPr>
        <p:grpSpPr>
          <a:xfrm>
            <a:off x="8039100" y="3429000"/>
            <a:ext cx="3429000" cy="228600"/>
            <a:chOff x="8039100" y="3429000"/>
            <a:chExt cx="3429000" cy="228600"/>
          </a:xfrm>
        </p:grpSpPr>
        <p:sp>
          <p:nvSpPr>
            <p:cNvPr id="35" name="node10.label"/>
            <p:cNvSpPr/>
            <p:nvPr/>
          </p:nvSpPr>
          <p:spPr>
            <a:xfrm>
              <a:off x="8039100" y="3429000"/>
              <a:ext cx="182830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DECISIONS AND NEXT STEPS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36" name="node10.rule"/>
            <p:cNvSpPr/>
            <p:nvPr/>
          </p:nvSpPr>
          <p:spPr>
            <a:xfrm>
              <a:off x="9994404" y="3538538"/>
              <a:ext cx="147369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37" name="node11"/>
          <p:cNvSpPr/>
          <p:nvPr/>
        </p:nvSpPr>
        <p:spPr>
          <a:xfrm>
            <a:off x="8039100" y="3657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54" name="node12"/>
          <p:cNvGrpSpPr/>
          <p:nvPr/>
        </p:nvGrpSpPr>
        <p:grpSpPr>
          <a:xfrm>
            <a:off x="8039100" y="3886200"/>
            <a:ext cx="3429000" cy="1028700"/>
            <a:chOff x="8039100" y="3886200"/>
            <a:chExt cx="3429000" cy="1028700"/>
          </a:xfrm>
        </p:grpSpPr>
        <p:sp>
          <p:nvSpPr>
            <p:cNvPr id="38" name="node12.source-001.bullet"/>
            <p:cNvSpPr/>
            <p:nvPr/>
          </p:nvSpPr>
          <p:spPr>
            <a:xfrm>
              <a:off x="8039100" y="397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9" name="node12.source-001.text"/>
            <p:cNvSpPr/>
            <p:nvPr/>
          </p:nvSpPr>
          <p:spPr>
            <a:xfrm>
              <a:off x="8191500" y="38862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Decided.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One scheduling template.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12.source-002.bullet"/>
            <p:cNvSpPr/>
            <p:nvPr/>
          </p:nvSpPr>
          <p:spPr>
            <a:xfrm>
              <a:off x="8039100" y="424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1" name="node12.source-002.text"/>
            <p:cNvSpPr/>
            <p:nvPr/>
          </p:nvSpPr>
          <p:spPr>
            <a:xfrm>
              <a:off x="8191500" y="41529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Oct 30.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Program office publishes the log.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12.source-003.bullet"/>
            <p:cNvSpPr/>
            <p:nvPr/>
          </p:nvSpPr>
          <p:spPr>
            <a:xfrm>
              <a:off x="8039100" y="4508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3" name="node12.source-003.text"/>
            <p:cNvSpPr/>
            <p:nvPr/>
          </p:nvSpPr>
          <p:spPr>
            <a:xfrm>
              <a:off x="8191500" y="44196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Nov 4.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Registration lead drafts measures.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4" name="node12.source-004.bullet"/>
            <p:cNvSpPr/>
            <p:nvPr/>
          </p:nvSpPr>
          <p:spPr>
            <a:xfrm>
              <a:off x="8039100" y="4775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5" name="node12.source-004.text"/>
            <p:cNvSpPr/>
            <p:nvPr/>
          </p:nvSpPr>
          <p:spPr>
            <a:xfrm>
              <a:off x="8191500" y="46863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Open.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Who owns estimates?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workshop has a focus, a room and an output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5" name="node01"/>
          <p:cNvGrpSpPr/>
          <p:nvPr/>
        </p:nvGrpSpPr>
        <p:grpSpPr>
          <a:xfrm>
            <a:off x="723900" y="1600200"/>
            <a:ext cx="10744200" cy="4114800"/>
            <a:chOff x="723900" y="1600200"/>
            <a:chExt cx="10744200" cy="4114800"/>
          </a:xfrm>
        </p:grpSpPr>
        <p:grpSp>
          <p:nvGrpSpPr>
            <p:cNvPr id="51" name="node01.item-001"/>
            <p:cNvGrpSpPr/>
            <p:nvPr/>
          </p:nvGrpSpPr>
          <p:grpSpPr>
            <a:xfrm>
              <a:off x="723900" y="1600200"/>
              <a:ext cx="2514600" cy="4114800"/>
              <a:chOff x="723900" y="1600200"/>
              <a:chExt cx="2514600" cy="4114800"/>
            </a:xfrm>
          </p:grpSpPr>
          <p:sp>
            <p:nvSpPr>
              <p:cNvPr id="7" name="node01.item-001.container"/>
              <p:cNvSpPr/>
              <p:nvPr/>
            </p:nvSpPr>
            <p:spPr>
              <a:xfrm>
                <a:off x="723900" y="1600200"/>
                <a:ext cx="2514600" cy="41148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8" name="node01.item-001.label"/>
              <p:cNvSpPr/>
              <p:nvPr/>
            </p:nvSpPr>
            <p:spPr>
              <a:xfrm>
                <a:off x="952500" y="1828800"/>
                <a:ext cx="2057400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900" spc="54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OCT 14 · HALF DAY</a:t>
                </a:r>
                <a:endPara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9" name="node01.item-001.number"/>
              <p:cNvSpPr/>
              <p:nvPr/>
            </p:nvSpPr>
            <p:spPr>
              <a:xfrm>
                <a:off x="952500" y="2019300"/>
                <a:ext cx="285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01</a:t>
                </a:r>
                <a:endPara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10" name="node01.item-001.title"/>
              <p:cNvSpPr/>
              <p:nvPr/>
            </p:nvSpPr>
            <p:spPr>
              <a:xfrm>
                <a:off x="1352550" y="2019300"/>
                <a:ext cx="16573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-18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Discovery</a:t>
                </a:r>
                <a:endPara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11" name="node01.item-001.body.item-001.paragraph"/>
              <p:cNvSpPr/>
              <p:nvPr/>
            </p:nvSpPr>
            <p:spPr>
              <a:xfrm>
                <a:off x="952500" y="2438400"/>
                <a:ext cx="205740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Baseline scheduling, registration, estimates and denials.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2" name="node01.item-001.body.item-002.paragraph"/>
              <p:cNvSpPr/>
              <p:nvPr/>
            </p:nvSpPr>
            <p:spPr>
              <a:xfrm>
                <a:off x="952500" y="31623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Who: 18 access, revenue cycle and IT leads.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3" name="node01.item-001.body.item-003.paragraph"/>
              <p:cNvSpPr/>
              <p:nvPr/>
            </p:nvSpPr>
            <p:spPr>
              <a:xfrm>
                <a:off x="952500" y="36576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Output: current-state map and pain-point list.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4" name="node01.item-001.body.item-004.bullets.item-001.marker"/>
              <p:cNvSpPr/>
              <p:nvPr/>
            </p:nvSpPr>
            <p:spPr>
              <a:xfrm>
                <a:off x="952500" y="42418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15" name="node01.item-001.body.item-004.bullets.item-001.text"/>
              <p:cNvSpPr/>
              <p:nvPr/>
            </p:nvSpPr>
            <p:spPr>
              <a:xfrm>
                <a:off x="1104900" y="4152900"/>
                <a:ext cx="1905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Booking and intake walk-through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16" name="node01.item-001.body.item-004.bullets.item-002.marker"/>
              <p:cNvSpPr/>
              <p:nvPr/>
            </p:nvSpPr>
            <p:spPr>
              <a:xfrm>
                <a:off x="952500" y="47371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17" name="node01.item-001.body.item-004.bullets.item-002.text"/>
              <p:cNvSpPr/>
              <p:nvPr/>
            </p:nvSpPr>
            <p:spPr>
              <a:xfrm>
                <a:off x="1104900" y="4648200"/>
                <a:ext cx="1905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Estimate and denial data review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52" name="node01.item-002"/>
            <p:cNvGrpSpPr/>
            <p:nvPr/>
          </p:nvGrpSpPr>
          <p:grpSpPr>
            <a:xfrm>
              <a:off x="3467100" y="1600200"/>
              <a:ext cx="2514600" cy="4114800"/>
              <a:chOff x="3467100" y="1600200"/>
              <a:chExt cx="2514600" cy="4114800"/>
            </a:xfrm>
          </p:grpSpPr>
          <p:sp>
            <p:nvSpPr>
              <p:cNvPr id="18" name="node01.item-002.container"/>
              <p:cNvSpPr/>
              <p:nvPr/>
            </p:nvSpPr>
            <p:spPr>
              <a:xfrm>
                <a:off x="3467100" y="1600200"/>
                <a:ext cx="2514600" cy="41148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19" name="node01.item-002.label"/>
              <p:cNvSpPr/>
              <p:nvPr/>
            </p:nvSpPr>
            <p:spPr>
              <a:xfrm>
                <a:off x="3695700" y="1828800"/>
                <a:ext cx="2057400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900" spc="54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OCT 28 · HALF DAY</a:t>
                </a:r>
                <a:endPara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20" name="node01.item-002.number"/>
              <p:cNvSpPr/>
              <p:nvPr/>
            </p:nvSpPr>
            <p:spPr>
              <a:xfrm>
                <a:off x="3695700" y="2019300"/>
                <a:ext cx="285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02</a:t>
                </a:r>
                <a:endPara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21" name="node01.item-002.title"/>
              <p:cNvSpPr/>
              <p:nvPr/>
            </p:nvSpPr>
            <p:spPr>
              <a:xfrm>
                <a:off x="4095750" y="2019300"/>
                <a:ext cx="16573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-18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Future state</a:t>
                </a:r>
                <a:endPara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22" name="node01.item-002.body.item-001.paragraph"/>
              <p:cNvSpPr/>
              <p:nvPr/>
            </p:nvSpPr>
            <p:spPr>
              <a:xfrm>
                <a:off x="3695700" y="24384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Design the target process for each of the four areas.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23" name="node01.item-002.body.item-002.paragraph"/>
              <p:cNvSpPr/>
              <p:nvPr/>
            </p:nvSpPr>
            <p:spPr>
              <a:xfrm>
                <a:off x="3695700" y="29337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Who: 22 area leads and IT owners.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24" name="node01.item-002.body.item-003.paragraph"/>
              <p:cNvSpPr/>
              <p:nvPr/>
            </p:nvSpPr>
            <p:spPr>
              <a:xfrm>
                <a:off x="3695700" y="34290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Output: future-state design and decisions log.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25" name="node01.item-002.body.item-004.bullets.item-001.marker"/>
              <p:cNvSpPr/>
              <p:nvPr/>
            </p:nvSpPr>
            <p:spPr>
              <a:xfrm>
                <a:off x="3695700" y="40132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26" name="node01.item-002.body.item-004.bullets.item-001.text"/>
              <p:cNvSpPr/>
              <p:nvPr/>
            </p:nvSpPr>
            <p:spPr>
              <a:xfrm>
                <a:off x="3848100" y="3924300"/>
                <a:ext cx="1905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Four breakout design tables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27" name="node01.item-002.body.item-004.bullets.item-002.marker"/>
              <p:cNvSpPr/>
              <p:nvPr/>
            </p:nvSpPr>
            <p:spPr>
              <a:xfrm>
                <a:off x="3695700" y="45085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28" name="node01.item-002.body.item-004.bullets.item-002.text"/>
              <p:cNvSpPr/>
              <p:nvPr/>
            </p:nvSpPr>
            <p:spPr>
              <a:xfrm>
                <a:off x="3848100" y="4419600"/>
                <a:ext cx="19050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Playback and decisions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53" name="node01.item-003"/>
            <p:cNvGrpSpPr/>
            <p:nvPr/>
          </p:nvGrpSpPr>
          <p:grpSpPr>
            <a:xfrm>
              <a:off x="6210300" y="1600200"/>
              <a:ext cx="2514600" cy="4114800"/>
              <a:chOff x="6210300" y="1600200"/>
              <a:chExt cx="2514600" cy="4114800"/>
            </a:xfrm>
          </p:grpSpPr>
          <p:sp>
            <p:nvSpPr>
              <p:cNvPr id="29" name="node01.item-003.container"/>
              <p:cNvSpPr/>
              <p:nvPr/>
            </p:nvSpPr>
            <p:spPr>
              <a:xfrm>
                <a:off x="6210300" y="1600200"/>
                <a:ext cx="2514600" cy="41148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30" name="node01.item-003.label"/>
              <p:cNvSpPr/>
              <p:nvPr/>
            </p:nvSpPr>
            <p:spPr>
              <a:xfrm>
                <a:off x="6438900" y="1828800"/>
                <a:ext cx="2057400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900" spc="54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NOV 11 · HALF DAY</a:t>
                </a:r>
                <a:endPara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31" name="node01.item-003.number"/>
              <p:cNvSpPr/>
              <p:nvPr/>
            </p:nvSpPr>
            <p:spPr>
              <a:xfrm>
                <a:off x="6438900" y="2019300"/>
                <a:ext cx="285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03</a:t>
                </a:r>
                <a:endPara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32" name="node01.item-003.title"/>
              <p:cNvSpPr/>
              <p:nvPr/>
            </p:nvSpPr>
            <p:spPr>
              <a:xfrm>
                <a:off x="6838950" y="2019300"/>
                <a:ext cx="16573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-18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Prioritization</a:t>
                </a:r>
                <a:endPara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33" name="node01.item-003.body.item-001.paragraph"/>
              <p:cNvSpPr/>
              <p:nvPr/>
            </p:nvSpPr>
            <p:spPr>
              <a:xfrm>
                <a:off x="6438900" y="24384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Score and rank opportunities by value and effort.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34" name="node01.item-003.body.item-002.paragraph"/>
              <p:cNvSpPr/>
              <p:nvPr/>
            </p:nvSpPr>
            <p:spPr>
              <a:xfrm>
                <a:off x="6438900" y="29337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Who: 14 sponsors and area leads.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35" name="node01.item-003.body.item-003.paragraph"/>
              <p:cNvSpPr/>
              <p:nvPr/>
            </p:nvSpPr>
            <p:spPr>
              <a:xfrm>
                <a:off x="6438900" y="34290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Output: ranked list in Now, Next, Later.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36" name="node01.item-003.body.item-004.bullets.item-001.marker"/>
              <p:cNvSpPr/>
              <p:nvPr/>
            </p:nvSpPr>
            <p:spPr>
              <a:xfrm>
                <a:off x="6438900" y="40132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37" name="node01.item-003.body.item-004.bullets.item-001.text"/>
              <p:cNvSpPr/>
              <p:nvPr/>
            </p:nvSpPr>
            <p:spPr>
              <a:xfrm>
                <a:off x="6591300" y="3924300"/>
                <a:ext cx="19050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Value and effort scoring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38" name="node01.item-003.body.item-004.bullets.item-002.marker"/>
              <p:cNvSpPr/>
              <p:nvPr/>
            </p:nvSpPr>
            <p:spPr>
              <a:xfrm>
                <a:off x="6438900" y="42799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39" name="node01.item-003.body.item-004.bullets.item-002.text"/>
              <p:cNvSpPr/>
              <p:nvPr/>
            </p:nvSpPr>
            <p:spPr>
              <a:xfrm>
                <a:off x="6591300" y="4191000"/>
                <a:ext cx="1905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Dot vote and Now, Next, Later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  <p:grpSp>
          <p:nvGrpSpPr>
            <p:cNvPr id="54" name="node01.item-004"/>
            <p:cNvGrpSpPr/>
            <p:nvPr/>
          </p:nvGrpSpPr>
          <p:grpSpPr>
            <a:xfrm>
              <a:off x="8953500" y="1600200"/>
              <a:ext cx="2514600" cy="4114800"/>
              <a:chOff x="8953500" y="1600200"/>
              <a:chExt cx="2514600" cy="4114800"/>
            </a:xfrm>
          </p:grpSpPr>
          <p:sp>
            <p:nvSpPr>
              <p:cNvPr id="40" name="node01.item-004.container"/>
              <p:cNvSpPr/>
              <p:nvPr/>
            </p:nvSpPr>
            <p:spPr>
              <a:xfrm>
                <a:off x="8953500" y="1600200"/>
                <a:ext cx="2514600" cy="4114800"/>
              </a:xfrm>
              <a:prstGeom prst="rect">
                <a:avLst/>
              </a:prstGeom>
              <a:solidFill>
                <a:srgbClr val="E8EEF8"/>
              </a:solidFill>
              <a:ln>
                <a:noFill/>
              </a:ln>
            </p:spPr>
          </p:sp>
          <p:sp>
            <p:nvSpPr>
              <p:cNvPr id="41" name="node01.item-004.label"/>
              <p:cNvSpPr/>
              <p:nvPr/>
            </p:nvSpPr>
            <p:spPr>
              <a:xfrm>
                <a:off x="9182100" y="1828800"/>
                <a:ext cx="2057400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200"/>
                  </a:lnSpc>
                  <a:buNone/>
                </a:pPr>
                <a:r>
                  <a:rPr lang="en-US" sz="900" spc="54" kern="0" b="0" i="0" dirty="0">
                    <a:solidFill>
                      <a:srgbClr val="0047FF"/>
                    </a:solidFill>
                    <a:latin typeface="IBM Plex Mono Medium"/>
                    <a:ea typeface="IBM Plex Mono Medium"/>
                    <a:cs typeface="IBM Plex Mono Medium"/>
                  </a:rPr>
                  <a:t>NOV 18 · HALF DAY</a:t>
                </a:r>
                <a:endPara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endParaRPr>
              </a:p>
            </p:txBody>
          </p:sp>
          <p:sp>
            <p:nvSpPr>
              <p:cNvPr id="42" name="node01.item-004.number"/>
              <p:cNvSpPr/>
              <p:nvPr/>
            </p:nvSpPr>
            <p:spPr>
              <a:xfrm>
                <a:off x="9182100" y="2019300"/>
                <a:ext cx="2857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0" kern="0" b="0" i="0" dirty="0">
                    <a:solidFill>
                      <a:srgbClr val="0047FF"/>
                    </a:solidFill>
                    <a:latin typeface="IBM Plex Mono SemiBold"/>
                    <a:ea typeface="IBM Plex Mono SemiBold"/>
                    <a:cs typeface="IBM Plex Mono SemiBold"/>
                  </a:rPr>
                  <a:t>04</a:t>
                </a:r>
                <a:endParaRPr lang="en-US" sz="1800" spc="0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endParaRPr>
              </a:p>
            </p:txBody>
          </p:sp>
          <p:sp>
            <p:nvSpPr>
              <p:cNvPr id="43" name="node01.item-004.title"/>
              <p:cNvSpPr/>
              <p:nvPr/>
            </p:nvSpPr>
            <p:spPr>
              <a:xfrm>
                <a:off x="9582150" y="2019300"/>
                <a:ext cx="165735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400"/>
                  </a:lnSpc>
                  <a:buNone/>
                </a:pPr>
                <a:r>
                  <a:rPr lang="en-US" sz="1800" spc="-18" kern="0" b="0" i="0" dirty="0">
                    <a:solidFill>
                      <a:srgbClr val="070154"/>
                    </a:solidFill>
                    <a:latin typeface="IBM Plex Sans SemiBold"/>
                    <a:ea typeface="IBM Plex Sans SemiBold"/>
                    <a:cs typeface="IBM Plex Sans SemiBold"/>
                  </a:rPr>
                  <a:t>Roadmap</a:t>
                </a:r>
                <a:endPara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endParaRPr>
              </a:p>
            </p:txBody>
          </p:sp>
          <p:sp>
            <p:nvSpPr>
              <p:cNvPr id="44" name="node01.item-004.body.item-001.paragraph"/>
              <p:cNvSpPr/>
              <p:nvPr/>
            </p:nvSpPr>
            <p:spPr>
              <a:xfrm>
                <a:off x="9182100" y="24384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Sequence the work, owners and funding asks.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45" name="node01.item-004.body.item-002.paragraph"/>
              <p:cNvSpPr/>
              <p:nvPr/>
            </p:nvSpPr>
            <p:spPr>
              <a:xfrm>
                <a:off x="9182100" y="29337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Who: 12 sponsors and finance.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46" name="node01.item-004.body.item-003.paragraph"/>
              <p:cNvSpPr/>
              <p:nvPr/>
            </p:nvSpPr>
            <p:spPr>
              <a:xfrm>
                <a:off x="9182100" y="3429000"/>
                <a:ext cx="2057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50658E"/>
                    </a:solidFill>
                    <a:latin typeface="IBM Plex Sans"/>
                    <a:ea typeface="IBM Plex Sans"/>
                    <a:cs typeface="IBM Plex Sans"/>
                  </a:rPr>
                  <a:t>Output: 18-month roadmap and funding request.</a:t>
                </a:r>
                <a:endPara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47" name="node01.item-004.body.item-004.bullets.item-001.marker"/>
              <p:cNvSpPr/>
              <p:nvPr/>
            </p:nvSpPr>
            <p:spPr>
              <a:xfrm>
                <a:off x="9182100" y="40132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48" name="node01.item-004.body.item-004.bullets.item-001.text"/>
              <p:cNvSpPr/>
              <p:nvPr/>
            </p:nvSpPr>
            <p:spPr>
              <a:xfrm>
                <a:off x="9334500" y="3924300"/>
                <a:ext cx="1905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Sequencing and dependencies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  <p:sp>
            <p:nvSpPr>
              <p:cNvPr id="49" name="node01.item-004.body.item-004.bullets.item-002.marker"/>
              <p:cNvSpPr/>
              <p:nvPr/>
            </p:nvSpPr>
            <p:spPr>
              <a:xfrm>
                <a:off x="9182100" y="4508500"/>
                <a:ext cx="38100" cy="38100"/>
              </a:xfrm>
              <a:prstGeom prst="rect">
                <a:avLst/>
              </a:prstGeom>
              <a:solidFill>
                <a:srgbClr val="070154"/>
              </a:solidFill>
              <a:ln>
                <a:noFill/>
              </a:ln>
            </p:spPr>
          </p:sp>
          <p:sp>
            <p:nvSpPr>
              <p:cNvPr id="50" name="node01.item-004.body.item-004.bullets.item-002.text"/>
              <p:cNvSpPr/>
              <p:nvPr/>
            </p:nvSpPr>
            <p:spPr>
              <a:xfrm>
                <a:off x="9334500" y="4419600"/>
                <a:ext cx="19050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1800"/>
                  </a:lnSpc>
                  <a:buNone/>
                </a:pPr>
                <a:r>
                  <a:rPr lang="en-US" sz="1200" spc="0" kern="0" b="0" i="0" dirty="0">
                    <a:solidFill>
                      <a:srgbClr val="070154"/>
                    </a:solidFill>
                    <a:latin typeface="IBM Plex Sans"/>
                    <a:ea typeface="IBM Plex Sans"/>
                    <a:cs typeface="IBM Plex Sans"/>
                  </a:rPr>
                  <a:t>Owners and funding asks</a:t>
                </a:r>
                <a:endPara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Understand and design first, then decide and plan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6" name="node01"/>
          <p:cNvGrpSpPr/>
          <p:nvPr/>
        </p:nvGrpSpPr>
        <p:grpSpPr>
          <a:xfrm>
            <a:off x="723900" y="1600200"/>
            <a:ext cx="10744200" cy="4114800"/>
            <a:chOff x="723900" y="1600200"/>
            <a:chExt cx="10744200" cy="41148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114800"/>
          </p:xfrm>
          <a:graphic>
            <a:graphicData uri="http://schemas.openxmlformats.org/drawingml/2006/table">
              <a:tbl>
                <a:tblPr/>
                <a:tblGrid>
                  <a:gridCol w="1600200"/>
                  <a:gridCol w="2590800"/>
                  <a:gridCol w="1828800"/>
                  <a:gridCol w="914400"/>
                  <a:gridCol w="2057400"/>
                  <a:gridCol w="1371600"/>
                </a:tblGrid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WORKSHOP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FOCUS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PARTICIPANTS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OUTPUTS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 Discovery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Half day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Baseline of scheduling, registration, estimates and denials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Access, revenue cycle, IT; 18 people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Oct 14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Current-state map and pain-point list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Complete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 Future state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Half day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the target process for each of the four areas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Area leads, IT; 22 people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Oct 28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Future-state design and decisions log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Scheduled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 Prioritization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Half day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Score and rank opportunities by value and effort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Sponsors, area leads; 14 people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11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Ranked list and Now, Next, Later view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Planned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 Roadmap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Half day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Sequence the work, owners and funding asks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Sponsors, finance; 12 people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18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18-month roadmap and funding request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Planned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s.status-mark"/>
            <p:cNvSpPr/>
            <p:nvPr/>
          </p:nvSpPr>
          <p:spPr>
            <a:xfrm>
              <a:off x="10255250" y="24701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2.s.status-mark"/>
            <p:cNvSpPr/>
            <p:nvPr/>
          </p:nvSpPr>
          <p:spPr>
            <a:xfrm>
              <a:off x="10255250" y="33845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3.s.status-mark"/>
            <p:cNvSpPr/>
            <p:nvPr/>
          </p:nvSpPr>
          <p:spPr>
            <a:xfrm>
              <a:off x="10255250" y="42989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4.s.status-mark"/>
            <p:cNvSpPr/>
            <p:nvPr/>
          </p:nvSpPr>
          <p:spPr>
            <a:xfrm>
              <a:off x="10255250" y="52133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2" name="node01.row-group.source-001.fill"/>
            <p:cNvSpPr/>
            <p:nvPr/>
          </p:nvSpPr>
          <p:spPr>
            <a:xfrm>
              <a:off x="723900" y="2076450"/>
              <a:ext cx="304800" cy="17907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1.row-group.source-001.label"/>
            <p:cNvSpPr/>
            <p:nvPr/>
          </p:nvSpPr>
          <p:spPr>
            <a:xfrm rot="-5400000">
              <a:off x="-19050" y="2895600"/>
              <a:ext cx="17907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UNDERSTAND AND DESIGN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-group.source-002.fill"/>
            <p:cNvSpPr/>
            <p:nvPr/>
          </p:nvSpPr>
          <p:spPr>
            <a:xfrm>
              <a:off x="723900" y="3905250"/>
              <a:ext cx="304800" cy="17907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5" name="node01.row-group.source-002.label"/>
            <p:cNvSpPr/>
            <p:nvPr/>
          </p:nvSpPr>
          <p:spPr>
            <a:xfrm rot="-5400000">
              <a:off x="-19050" y="4724400"/>
              <a:ext cx="17907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DECIDE AND PLAN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PATIENT ACCESS WORKSHOPS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Four workshops take access from baseline to roadmap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2" name="node01"/>
          <p:cNvGrpSpPr/>
          <p:nvPr/>
        </p:nvGrpSpPr>
        <p:grpSpPr>
          <a:xfrm>
            <a:off x="723900" y="1600200"/>
            <a:ext cx="10744200" cy="4114800"/>
            <a:chOff x="723900" y="1600200"/>
            <a:chExt cx="10744200" cy="41148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4114800"/>
          </p:xfrm>
          <a:graphic>
            <a:graphicData uri="http://schemas.openxmlformats.org/drawingml/2006/table">
              <a:tbl>
                <a:tblPr/>
                <a:tblGrid>
                  <a:gridCol w="1676400"/>
                  <a:gridCol w="2743200"/>
                  <a:gridCol w="1981200"/>
                  <a:gridCol w="990600"/>
                  <a:gridCol w="1981200"/>
                  <a:gridCol w="1371600"/>
                </a:tblGrid>
                <a:tr h="457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WORKSHOP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FOCUS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PARTICIPANTS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DATE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OUTPUTS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FFFFFF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STATUS</a:t>
                        </a:r>
                        <a:endParaRPr lang="en-US" sz="900" spc="54" kern="0" b="0" i="0" dirty="0">
                          <a:solidFill>
                            <a:srgbClr val="FFFFFF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0" cap="flat" cmpd="sng" algn="ctr">
                        <a:noFill/>
                      </a:lnB>
                      <a:solidFill>
                        <a:srgbClr val="070154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 Discovery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Half day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Baseline of scheduling, registration, estimates and denials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Access, revenue cycle, IT; 18 people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Oct 14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Current-state map and pain-point list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Complete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2 Future state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Half day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Design the target process for each of the four areas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Area leads, IT; 22 people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Oct 28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Future-state design and decisions log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Scheduled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3 Prioritization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Half day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Score and rank opportunities by value and effort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Sponsors, area leads; 14 people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11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Ranked list and Now, Next, Later view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Planned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9144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4 Roadmap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Half day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Sequence the work, owners and funding asks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Sponsors, finance; 12 people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Nov 18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2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4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18-month roadmap and funding request</a:t>
                        </a:r>
                        <a:endParaRPr lang="en-US" sz="14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Planned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s.status-mark"/>
            <p:cNvSpPr/>
            <p:nvPr/>
          </p:nvSpPr>
          <p:spPr>
            <a:xfrm>
              <a:off x="10255250" y="247015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2.s.status-mark"/>
            <p:cNvSpPr/>
            <p:nvPr/>
          </p:nvSpPr>
          <p:spPr>
            <a:xfrm>
              <a:off x="10255250" y="338455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0" name="node01.row.item-003.s.status-mark"/>
            <p:cNvSpPr/>
            <p:nvPr/>
          </p:nvSpPr>
          <p:spPr>
            <a:xfrm>
              <a:off x="10255250" y="42989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4.s.status-mark"/>
            <p:cNvSpPr/>
            <p:nvPr/>
          </p:nvSpPr>
          <p:spPr>
            <a:xfrm>
              <a:off x="10255250" y="5213350"/>
              <a:ext cx="88900" cy="88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70154"/>
              </a:solidFill>
              <a:prstDash val="solid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foundation reference</dc:title>
  <dc:subject>PptxGenJS Presentation</dc:subject>
  <dc:creator>West Monroe</dc:creator>
  <cp:lastModifiedBy>West Monroe</cp:lastModifiedBy>
  <cp:revision>1</cp:revision>
  <dcterms:created xsi:type="dcterms:W3CDTF">2026-10-05T15:48:11Z</dcterms:created>
  <dcterms:modified xsi:type="dcterms:W3CDTF">2026-10-05T15:48:11Z</dcterms:modified>
</cp:coreProperties>
</file>