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0ede602603f628a342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beb4a113709e8973b7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143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d6f1a8810e384dd54f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575343a5c84c636b1e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1600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Design by area: guide for the 60-minute segment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RECAP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DESIGN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PLAYBACK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DECIDE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2" name="node01"/>
          <p:cNvGrpSpPr/>
          <p:nvPr/>
        </p:nvGrpSpPr>
        <p:grpSpPr>
          <a:xfrm>
            <a:off x="723900" y="1600200"/>
            <a:ext cx="10744200" cy="914400"/>
            <a:chOff x="723900" y="1600200"/>
            <a:chExt cx="10744200" cy="914400"/>
          </a:xfrm>
        </p:grpSpPr>
        <p:sp>
          <p:nvSpPr>
            <p:cNvPr id="14" name="node01.surface"/>
            <p:cNvSpPr/>
            <p:nvPr/>
          </p:nvSpPr>
          <p:spPr>
            <a:xfrm>
              <a:off x="723900" y="1600200"/>
              <a:ext cx="10744200" cy="914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3" name="node02"/>
          <p:cNvGrpSpPr/>
          <p:nvPr/>
        </p:nvGrpSpPr>
        <p:grpSpPr>
          <a:xfrm>
            <a:off x="952500" y="1828800"/>
            <a:ext cx="7620000" cy="152400"/>
            <a:chOff x="952500" y="1828800"/>
            <a:chExt cx="7620000" cy="152400"/>
          </a:xfrm>
        </p:grpSpPr>
        <p:sp>
          <p:nvSpPr>
            <p:cNvPr id="15" name="node02.text"/>
            <p:cNvSpPr/>
            <p:nvPr/>
          </p:nvSpPr>
          <p:spPr>
            <a:xfrm>
              <a:off x="952500" y="1828800"/>
              <a:ext cx="7620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OBJECTIVE · 9:45 TO 10:45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4" name="node03"/>
          <p:cNvGrpSpPr/>
          <p:nvPr/>
        </p:nvGrpSpPr>
        <p:grpSpPr>
          <a:xfrm>
            <a:off x="952500" y="2057400"/>
            <a:ext cx="8001000" cy="266700"/>
            <a:chOff x="952500" y="2057400"/>
            <a:chExt cx="8001000" cy="266700"/>
          </a:xfrm>
        </p:grpSpPr>
        <p:sp>
          <p:nvSpPr>
            <p:cNvPr id="16" name="node03.text"/>
            <p:cNvSpPr/>
            <p:nvPr/>
          </p:nvSpPr>
          <p:spPr>
            <a:xfrm>
              <a:off x="952500" y="2057400"/>
              <a:ext cx="800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Leave with a future-state sketch for each area and the gaps that block it.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04"/>
          <p:cNvGrpSpPr/>
          <p:nvPr/>
        </p:nvGrpSpPr>
        <p:grpSpPr>
          <a:xfrm>
            <a:off x="9410700" y="1828800"/>
            <a:ext cx="1828800" cy="152400"/>
            <a:chOff x="9410700" y="1828800"/>
            <a:chExt cx="1828800" cy="152400"/>
          </a:xfrm>
        </p:grpSpPr>
        <p:sp>
          <p:nvSpPr>
            <p:cNvPr id="17" name="node04.text"/>
            <p:cNvSpPr/>
            <p:nvPr/>
          </p:nvSpPr>
          <p:spPr>
            <a:xfrm>
              <a:off x="9410700" y="18288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TIME BOX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05"/>
          <p:cNvGrpSpPr/>
          <p:nvPr/>
        </p:nvGrpSpPr>
        <p:grpSpPr>
          <a:xfrm>
            <a:off x="9410700" y="2057400"/>
            <a:ext cx="1828800" cy="381000"/>
            <a:chOff x="9410700" y="2057400"/>
            <a:chExt cx="1828800" cy="381000"/>
          </a:xfrm>
        </p:grpSpPr>
        <p:sp>
          <p:nvSpPr>
            <p:cNvPr id="18" name="node05.text"/>
            <p:cNvSpPr/>
            <p:nvPr/>
          </p:nvSpPr>
          <p:spPr>
            <a:xfrm>
              <a:off x="9410700" y="2057400"/>
              <a:ext cx="1828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60 min</a:t>
              </a:r>
              <a:endParaRPr lang="en-US" sz="2400" spc="-3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7" name="node06"/>
          <p:cNvGrpSpPr/>
          <p:nvPr/>
        </p:nvGrpSpPr>
        <p:grpSpPr>
          <a:xfrm>
            <a:off x="723900" y="2743200"/>
            <a:ext cx="5257800" cy="228600"/>
            <a:chOff x="723900" y="2743200"/>
            <a:chExt cx="5257800" cy="228600"/>
          </a:xfrm>
        </p:grpSpPr>
        <p:sp>
          <p:nvSpPr>
            <p:cNvPr id="19" name="node06.label"/>
            <p:cNvSpPr/>
            <p:nvPr/>
          </p:nvSpPr>
          <p:spPr>
            <a:xfrm>
              <a:off x="723900" y="2743200"/>
              <a:ext cx="122733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QUESTIONS TO ASK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06.rule"/>
            <p:cNvSpPr/>
            <p:nvPr/>
          </p:nvSpPr>
          <p:spPr>
            <a:xfrm>
              <a:off x="2078236" y="2852738"/>
              <a:ext cx="3903464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1" name="node07"/>
          <p:cNvSpPr/>
          <p:nvPr/>
        </p:nvSpPr>
        <p:spPr>
          <a:xfrm>
            <a:off x="723900" y="29718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08"/>
          <p:cNvGrpSpPr/>
          <p:nvPr/>
        </p:nvGrpSpPr>
        <p:grpSpPr>
          <a:xfrm>
            <a:off x="723900" y="3200400"/>
            <a:ext cx="5257800" cy="2324100"/>
            <a:chOff x="723900" y="3200400"/>
            <a:chExt cx="5257800" cy="2324100"/>
          </a:xfrm>
        </p:grpSpPr>
        <p:sp>
          <p:nvSpPr>
            <p:cNvPr id="22" name="node08.source-001.bullet"/>
            <p:cNvSpPr/>
            <p:nvPr/>
          </p:nvSpPr>
          <p:spPr>
            <a:xfrm>
              <a:off x="723900" y="3308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8.source-001.text"/>
            <p:cNvSpPr/>
            <p:nvPr/>
          </p:nvSpPr>
          <p:spPr>
            <a:xfrm>
              <a:off x="914400" y="32004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Open: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Which step costs a patient the most time today?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8.source-002.bullet"/>
            <p:cNvSpPr/>
            <p:nvPr/>
          </p:nvSpPr>
          <p:spPr>
            <a:xfrm>
              <a:off x="723900" y="36512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8.source-002.text"/>
            <p:cNvSpPr/>
            <p:nvPr/>
          </p:nvSpPr>
          <p:spPr>
            <a:xfrm>
              <a:off x="914400" y="35433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Probe: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Where does the work wait, and who is it waiting on?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8.source-003.bullet"/>
            <p:cNvSpPr/>
            <p:nvPr/>
          </p:nvSpPr>
          <p:spPr>
            <a:xfrm>
              <a:off x="723900" y="3994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8.source-003.text"/>
            <p:cNvSpPr/>
            <p:nvPr/>
          </p:nvSpPr>
          <p:spPr>
            <a:xfrm>
              <a:off x="914400" y="38862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Probe: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What do you do when the system says no?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8.source-004.bullet"/>
            <p:cNvSpPr/>
            <p:nvPr/>
          </p:nvSpPr>
          <p:spPr>
            <a:xfrm>
              <a:off x="723900" y="43370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08.source-004.text"/>
            <p:cNvSpPr/>
            <p:nvPr/>
          </p:nvSpPr>
          <p:spPr>
            <a:xfrm>
              <a:off x="914400" y="42291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Probe: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Which step would you remove first, and what breaks?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08.source-005.bullet"/>
            <p:cNvSpPr/>
            <p:nvPr/>
          </p:nvSpPr>
          <p:spPr>
            <a:xfrm>
              <a:off x="723900" y="4679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8.source-005.text"/>
            <p:cNvSpPr/>
            <p:nvPr/>
          </p:nvSpPr>
          <p:spPr>
            <a:xfrm>
              <a:off x="914400" y="45720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Probe: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Who outside this room feels this change?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8.source-006.bullet"/>
            <p:cNvSpPr/>
            <p:nvPr/>
          </p:nvSpPr>
          <p:spPr>
            <a:xfrm>
              <a:off x="723900" y="50228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8.source-006.text"/>
            <p:cNvSpPr/>
            <p:nvPr/>
          </p:nvSpPr>
          <p:spPr>
            <a:xfrm>
              <a:off x="914400" y="49149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Probe: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How often does this happen, and how do we know?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8.source-007.bullet"/>
            <p:cNvSpPr/>
            <p:nvPr/>
          </p:nvSpPr>
          <p:spPr>
            <a:xfrm>
              <a:off x="723900" y="53657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8.source-007.text"/>
            <p:cNvSpPr/>
            <p:nvPr/>
          </p:nvSpPr>
          <p:spPr>
            <a:xfrm>
              <a:off x="914400" y="5257800"/>
              <a:ext cx="5067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Test: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If we did only this, would you stand behind it on Monday?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09"/>
          <p:cNvGrpSpPr/>
          <p:nvPr/>
        </p:nvGrpSpPr>
        <p:grpSpPr>
          <a:xfrm>
            <a:off x="6210300" y="2743200"/>
            <a:ext cx="2514600" cy="228600"/>
            <a:chOff x="6210300" y="2743200"/>
            <a:chExt cx="2514600" cy="228600"/>
          </a:xfrm>
        </p:grpSpPr>
        <p:sp>
          <p:nvSpPr>
            <p:cNvPr id="36" name="node09.label"/>
            <p:cNvSpPr/>
            <p:nvPr/>
          </p:nvSpPr>
          <p:spPr>
            <a:xfrm>
              <a:off x="6210300" y="2743200"/>
              <a:ext cx="776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LISTEN FOR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7" name="node09.rule"/>
            <p:cNvSpPr/>
            <p:nvPr/>
          </p:nvSpPr>
          <p:spPr>
            <a:xfrm>
              <a:off x="7113910" y="2852738"/>
              <a:ext cx="161099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8" name="node10"/>
          <p:cNvSpPr/>
          <p:nvPr/>
        </p:nvSpPr>
        <p:spPr>
          <a:xfrm>
            <a:off x="6210300" y="29718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0" name="node11"/>
          <p:cNvGrpSpPr/>
          <p:nvPr/>
        </p:nvGrpSpPr>
        <p:grpSpPr>
          <a:xfrm>
            <a:off x="6210300" y="3200400"/>
            <a:ext cx="2514600" cy="1257300"/>
            <a:chOff x="6210300" y="3200400"/>
            <a:chExt cx="2514600" cy="1257300"/>
          </a:xfrm>
        </p:grpSpPr>
        <p:sp>
          <p:nvSpPr>
            <p:cNvPr id="39" name="node11.source-001.bullet"/>
            <p:cNvSpPr/>
            <p:nvPr/>
          </p:nvSpPr>
          <p:spPr>
            <a:xfrm>
              <a:off x="6210300" y="3289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11.source-001.text"/>
            <p:cNvSpPr/>
            <p:nvPr/>
          </p:nvSpPr>
          <p:spPr>
            <a:xfrm>
              <a:off x="6362700" y="32004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Workarounds nobody wrote down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1.source-002.bullet"/>
            <p:cNvSpPr/>
            <p:nvPr/>
          </p:nvSpPr>
          <p:spPr>
            <a:xfrm>
              <a:off x="6210300" y="3556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11.source-002.text"/>
            <p:cNvSpPr/>
            <p:nvPr/>
          </p:nvSpPr>
          <p:spPr>
            <a:xfrm>
              <a:off x="6362700" y="34671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Handoffs with no owner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1.source-003.bullet"/>
            <p:cNvSpPr/>
            <p:nvPr/>
          </p:nvSpPr>
          <p:spPr>
            <a:xfrm>
              <a:off x="6210300" y="3822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11.source-003.text"/>
            <p:cNvSpPr/>
            <p:nvPr/>
          </p:nvSpPr>
          <p:spPr>
            <a:xfrm>
              <a:off x="6362700" y="37338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Quick win: one fix, one owner, 30 days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1.source-004.bullet"/>
            <p:cNvSpPr/>
            <p:nvPr/>
          </p:nvSpPr>
          <p:spPr>
            <a:xfrm>
              <a:off x="6210300" y="4318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11.source-004.text"/>
            <p:cNvSpPr/>
            <p:nvPr/>
          </p:nvSpPr>
          <p:spPr>
            <a:xfrm>
              <a:off x="6362700" y="42291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Disagreement between areas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12"/>
          <p:cNvGrpSpPr/>
          <p:nvPr/>
        </p:nvGrpSpPr>
        <p:grpSpPr>
          <a:xfrm>
            <a:off x="8953500" y="2743200"/>
            <a:ext cx="2514600" cy="228600"/>
            <a:chOff x="8953500" y="2743200"/>
            <a:chExt cx="2514600" cy="228600"/>
          </a:xfrm>
        </p:grpSpPr>
        <p:sp>
          <p:nvSpPr>
            <p:cNvPr id="47" name="node12.label"/>
            <p:cNvSpPr/>
            <p:nvPr/>
          </p:nvSpPr>
          <p:spPr>
            <a:xfrm>
              <a:off x="8953500" y="2743200"/>
              <a:ext cx="776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WATCH-OUTS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8" name="node12.rule"/>
            <p:cNvSpPr/>
            <p:nvPr/>
          </p:nvSpPr>
          <p:spPr>
            <a:xfrm>
              <a:off x="9857110" y="2852738"/>
              <a:ext cx="161099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9" name="node13"/>
          <p:cNvSpPr/>
          <p:nvPr/>
        </p:nvSpPr>
        <p:spPr>
          <a:xfrm>
            <a:off x="8953500" y="29718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2" name="node14"/>
          <p:cNvGrpSpPr/>
          <p:nvPr/>
        </p:nvGrpSpPr>
        <p:grpSpPr>
          <a:xfrm>
            <a:off x="8953500" y="3200400"/>
            <a:ext cx="2514600" cy="1028700"/>
            <a:chOff x="8953500" y="3200400"/>
            <a:chExt cx="2514600" cy="1028700"/>
          </a:xfrm>
        </p:grpSpPr>
        <p:sp>
          <p:nvSpPr>
            <p:cNvPr id="50" name="node14.source-001.bullet"/>
            <p:cNvSpPr/>
            <p:nvPr/>
          </p:nvSpPr>
          <p:spPr>
            <a:xfrm>
              <a:off x="8953500" y="3289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4.source-001.text"/>
            <p:cNvSpPr/>
            <p:nvPr/>
          </p:nvSpPr>
          <p:spPr>
            <a:xfrm>
              <a:off x="9105900" y="32004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voice filling the time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4.source-002.bullet"/>
            <p:cNvSpPr/>
            <p:nvPr/>
          </p:nvSpPr>
          <p:spPr>
            <a:xfrm>
              <a:off x="8953500" y="3556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14.source-002.text"/>
            <p:cNvSpPr/>
            <p:nvPr/>
          </p:nvSpPr>
          <p:spPr>
            <a:xfrm>
              <a:off x="9105900" y="34671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Solutions before the pain is clear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14.source-003.bullet"/>
            <p:cNvSpPr/>
            <p:nvPr/>
          </p:nvSpPr>
          <p:spPr>
            <a:xfrm>
              <a:off x="8953500" y="3822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14.source-003.text"/>
            <p:cNvSpPr/>
            <p:nvPr/>
          </p:nvSpPr>
          <p:spPr>
            <a:xfrm>
              <a:off x="9105900" y="37338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Drift into another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14.source-004.bullet"/>
            <p:cNvSpPr/>
            <p:nvPr/>
          </p:nvSpPr>
          <p:spPr>
            <a:xfrm>
              <a:off x="8953500" y="4089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14.source-004.text"/>
            <p:cNvSpPr/>
            <p:nvPr/>
          </p:nvSpPr>
          <p:spPr>
            <a:xfrm>
              <a:off x="9105900" y="40005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Quiet tables never heard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3" name="node15"/>
          <p:cNvGrpSpPr/>
          <p:nvPr/>
        </p:nvGrpSpPr>
        <p:grpSpPr>
          <a:xfrm>
            <a:off x="6210300" y="4572000"/>
            <a:ext cx="2514600" cy="228600"/>
            <a:chOff x="6210300" y="4572000"/>
            <a:chExt cx="2514600" cy="228600"/>
          </a:xfrm>
        </p:grpSpPr>
        <p:sp>
          <p:nvSpPr>
            <p:cNvPr id="58" name="node15.label"/>
            <p:cNvSpPr/>
            <p:nvPr/>
          </p:nvSpPr>
          <p:spPr>
            <a:xfrm>
              <a:off x="6210300" y="4572000"/>
              <a:ext cx="115221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SCRIBE CAPTURES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15.rule"/>
            <p:cNvSpPr/>
            <p:nvPr/>
          </p:nvSpPr>
          <p:spPr>
            <a:xfrm>
              <a:off x="7489515" y="4681538"/>
              <a:ext cx="123538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0" name="node16"/>
          <p:cNvSpPr/>
          <p:nvPr/>
        </p:nvSpPr>
        <p:spPr>
          <a:xfrm>
            <a:off x="6210300" y="48006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4" name="node17"/>
          <p:cNvGrpSpPr/>
          <p:nvPr/>
        </p:nvGrpSpPr>
        <p:grpSpPr>
          <a:xfrm>
            <a:off x="6210300" y="5029200"/>
            <a:ext cx="2514600" cy="723900"/>
            <a:chOff x="6210300" y="5029200"/>
            <a:chExt cx="2514600" cy="723900"/>
          </a:xfrm>
        </p:grpSpPr>
        <p:sp>
          <p:nvSpPr>
            <p:cNvPr id="61" name="node17.source-001.bullet"/>
            <p:cNvSpPr/>
            <p:nvPr/>
          </p:nvSpPr>
          <p:spPr>
            <a:xfrm>
              <a:off x="6210300" y="5118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17.source-001.text"/>
            <p:cNvSpPr/>
            <p:nvPr/>
          </p:nvSpPr>
          <p:spPr>
            <a:xfrm>
              <a:off x="6362700" y="50292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Decisions, owners, open questions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17.source-002.bullet"/>
            <p:cNvSpPr/>
            <p:nvPr/>
          </p:nvSpPr>
          <p:spPr>
            <a:xfrm>
              <a:off x="6210300" y="561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17.source-002.text"/>
            <p:cNvSpPr/>
            <p:nvPr/>
          </p:nvSpPr>
          <p:spPr>
            <a:xfrm>
              <a:off x="6362700" y="55245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Pain points in their own words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18"/>
          <p:cNvGrpSpPr/>
          <p:nvPr/>
        </p:nvGrpSpPr>
        <p:grpSpPr>
          <a:xfrm>
            <a:off x="8953500" y="4572000"/>
            <a:ext cx="2514600" cy="228600"/>
            <a:chOff x="8953500" y="4572000"/>
            <a:chExt cx="2514600" cy="228600"/>
          </a:xfrm>
        </p:grpSpPr>
        <p:sp>
          <p:nvSpPr>
            <p:cNvPr id="65" name="node18.label"/>
            <p:cNvSpPr/>
            <p:nvPr/>
          </p:nvSpPr>
          <p:spPr>
            <a:xfrm>
              <a:off x="8953500" y="4572000"/>
              <a:ext cx="115221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OUTPUT AT 10:45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6" name="node18.rule"/>
            <p:cNvSpPr/>
            <p:nvPr/>
          </p:nvSpPr>
          <p:spPr>
            <a:xfrm>
              <a:off x="10232715" y="4681538"/>
              <a:ext cx="123538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7" name="node19"/>
          <p:cNvSpPr/>
          <p:nvPr/>
        </p:nvSpPr>
        <p:spPr>
          <a:xfrm>
            <a:off x="8953500" y="48006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6" name="node20"/>
          <p:cNvGrpSpPr/>
          <p:nvPr/>
        </p:nvGrpSpPr>
        <p:grpSpPr>
          <a:xfrm>
            <a:off x="8953500" y="5029200"/>
            <a:ext cx="2514600" cy="495300"/>
            <a:chOff x="8953500" y="5029200"/>
            <a:chExt cx="2514600" cy="495300"/>
          </a:xfrm>
        </p:grpSpPr>
        <p:sp>
          <p:nvSpPr>
            <p:cNvPr id="68" name="node20.source-001.bullet"/>
            <p:cNvSpPr/>
            <p:nvPr/>
          </p:nvSpPr>
          <p:spPr>
            <a:xfrm>
              <a:off x="8953500" y="5118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20.source-001.text"/>
            <p:cNvSpPr/>
            <p:nvPr/>
          </p:nvSpPr>
          <p:spPr>
            <a:xfrm>
              <a:off x="9105900" y="50292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canvas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20.source-002.bullet"/>
            <p:cNvSpPr/>
            <p:nvPr/>
          </p:nvSpPr>
          <p:spPr>
            <a:xfrm>
              <a:off x="8953500" y="538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20.source-002.text"/>
            <p:cNvSpPr/>
            <p:nvPr/>
          </p:nvSpPr>
          <p:spPr>
            <a:xfrm>
              <a:off x="9105900" y="52959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ranked list of gaps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Question bank by focus area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1371600"/>
            <a:ext cx="10744200" cy="4470400"/>
            <a:chOff x="723900" y="1371600"/>
            <a:chExt cx="10744200" cy="44704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371600"/>
            <a:ext cx="10363200" cy="4470400"/>
          </p:xfrm>
          <a:graphic>
            <a:graphicData uri="http://schemas.openxmlformats.org/drawingml/2006/table">
              <a:tbl>
                <a:tblPr/>
                <a:tblGrid>
                  <a:gridCol w="4495800"/>
                  <a:gridCol w="3124200"/>
                  <a:gridCol w="2743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QUESTION TO ASK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WHY WE ASK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LISTEN FOR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Where does a patient wait after asking for an appointment?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Maps the real path, not the policy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Workarounds, second-team calls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Where do clinic templates differ, and why?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Finds variation with no clinical reason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“We always did it this way”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How long before a no-show slot is refilled?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Sizes the capacity leak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Manual lists,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do you ask patients that we already know?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Surfaces repeated data capture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Re-keying, duplicate forms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When is insurance verified, and by whom?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Locates the earliest point of catch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Day-of checks, handoffs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Which consent is missed most often?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Finds compliance exposure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Paper scans, unclear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How does a patient get a price today?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Tests whether estimates exist at all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Phone calls, spreadsheets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Which services can you quote reliably?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Picks a safe starting scope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Bundled, high-volume visits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do patients do when the price is high?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Links price to abandonment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Cancellations, payment-plan asks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Which denial codes recur every week?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Finds the few causes behind the volume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Eligibility, authorization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Which denials start at the front desk?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Separates front-end from billing causes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Missing data, wrong plan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42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 sees a denial, and how fast?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Tests the feedback loop to the source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Weeks of delay, no feedback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-group.source-001.fill"/>
            <p:cNvSpPr/>
            <p:nvPr/>
          </p:nvSpPr>
          <p:spPr>
            <a:xfrm>
              <a:off x="723900" y="1746250"/>
              <a:ext cx="304800" cy="990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row-group.source-001.label"/>
            <p:cNvSpPr/>
            <p:nvPr/>
          </p:nvSpPr>
          <p:spPr>
            <a:xfrm rot="-5400000">
              <a:off x="381000" y="2165350"/>
              <a:ext cx="99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SCHEDULING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-group.source-002.fill"/>
            <p:cNvSpPr/>
            <p:nvPr/>
          </p:nvSpPr>
          <p:spPr>
            <a:xfrm>
              <a:off x="723900" y="2774950"/>
              <a:ext cx="304800" cy="9906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0" name="node01.row-group.source-002.label"/>
            <p:cNvSpPr/>
            <p:nvPr/>
          </p:nvSpPr>
          <p:spPr>
            <a:xfrm rot="-5400000">
              <a:off x="381000" y="3194050"/>
              <a:ext cx="99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REGISTRATION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row-group.source-003.fill"/>
            <p:cNvSpPr/>
            <p:nvPr/>
          </p:nvSpPr>
          <p:spPr>
            <a:xfrm>
              <a:off x="723900" y="3803650"/>
              <a:ext cx="304800" cy="990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row-group.source-003.label"/>
            <p:cNvSpPr/>
            <p:nvPr/>
          </p:nvSpPr>
          <p:spPr>
            <a:xfrm rot="-5400000">
              <a:off x="381000" y="4222750"/>
              <a:ext cx="99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ESTIMATES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row-group.source-004.fill"/>
            <p:cNvSpPr/>
            <p:nvPr/>
          </p:nvSpPr>
          <p:spPr>
            <a:xfrm>
              <a:off x="723900" y="4832350"/>
              <a:ext cx="304800" cy="9906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4" name="node01.row-group.source-004.label"/>
            <p:cNvSpPr/>
            <p:nvPr/>
          </p:nvSpPr>
          <p:spPr>
            <a:xfrm rot="-5400000">
              <a:off x="381000" y="5251450"/>
              <a:ext cx="99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DENIALS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Question ladder for the estimates topic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4381500" y="495300"/>
            <a:ext cx="7086600" cy="3276600"/>
            <a:chOff x="4381500" y="495300"/>
            <a:chExt cx="7086600" cy="3276600"/>
          </a:xfrm>
        </p:grpSpPr>
        <p:sp>
          <p:nvSpPr>
            <p:cNvPr id="6" name="node01.base"/>
            <p:cNvSpPr/>
            <p:nvPr/>
          </p:nvSpPr>
          <p:spPr>
            <a:xfrm>
              <a:off x="4495800" y="609600"/>
              <a:ext cx="0" cy="2514600"/>
            </a:xfrm>
            <a:custGeom>
              <a:avLst/>
              <a:gdLst/>
              <a:ahLst/>
              <a:cxnLst/>
              <a:rect l="l" t="t" r="r" b="b"/>
              <a:pathLst>
                <a:path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7" name="node01.steps.slot-001.marker"/>
            <p:cNvSpPr/>
            <p:nvPr/>
          </p:nvSpPr>
          <p:spPr>
            <a:xfrm>
              <a:off x="4381500" y="495300"/>
              <a:ext cx="228600" cy="2286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8" name="node01.steps.slot-001.title"/>
            <p:cNvSpPr/>
            <p:nvPr/>
          </p:nvSpPr>
          <p:spPr>
            <a:xfrm>
              <a:off x="4838700" y="495300"/>
              <a:ext cx="48736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Open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steps.slot-001.label"/>
            <p:cNvSpPr/>
            <p:nvPr/>
          </p:nvSpPr>
          <p:spPr>
            <a:xfrm>
              <a:off x="5478463" y="582549"/>
              <a:ext cx="4761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RUNG 1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0" name="node01.steps.slot-001.description.part-0"/>
            <p:cNvSpPr/>
            <p:nvPr/>
          </p:nvSpPr>
          <p:spPr>
            <a:xfrm>
              <a:off x="4838700" y="8001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“Walk me through the last time a patient asked what a visit would cost.” Intent: get the real story, not the policy. Move on when you hear a named step.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steps.slot-002.marker"/>
            <p:cNvSpPr/>
            <p:nvPr/>
          </p:nvSpPr>
          <p:spPr>
            <a:xfrm>
              <a:off x="4419600" y="13716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steps.slot-002.title"/>
            <p:cNvSpPr/>
            <p:nvPr/>
          </p:nvSpPr>
          <p:spPr>
            <a:xfrm>
              <a:off x="4838700" y="1333500"/>
              <a:ext cx="5397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Probe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" name="node01.steps.slot-002.label"/>
            <p:cNvSpPr/>
            <p:nvPr/>
          </p:nvSpPr>
          <p:spPr>
            <a:xfrm>
              <a:off x="5530850" y="1420749"/>
              <a:ext cx="4761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RUNG 2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4" name="node01.steps.slot-002.description.part-0"/>
            <p:cNvSpPr/>
            <p:nvPr/>
          </p:nvSpPr>
          <p:spPr>
            <a:xfrm>
              <a:off x="4838700" y="16383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“What happened next, and who did you hand it to?” Intent: trace handoffs and waiting time. Move on when each wait has an owner.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1.steps.slot-003.marker"/>
            <p:cNvSpPr/>
            <p:nvPr/>
          </p:nvSpPr>
          <p:spPr>
            <a:xfrm>
              <a:off x="4419600" y="22098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steps.slot-003.title"/>
            <p:cNvSpPr/>
            <p:nvPr/>
          </p:nvSpPr>
          <p:spPr>
            <a:xfrm>
              <a:off x="4838700" y="2171700"/>
              <a:ext cx="8731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Challenge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7" name="node01.steps.slot-003.label"/>
            <p:cNvSpPr/>
            <p:nvPr/>
          </p:nvSpPr>
          <p:spPr>
            <a:xfrm>
              <a:off x="5864225" y="2258949"/>
              <a:ext cx="4761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RUNG 3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1.steps.slot-003.description.part-0"/>
            <p:cNvSpPr/>
            <p:nvPr/>
          </p:nvSpPr>
          <p:spPr>
            <a:xfrm>
              <a:off x="4838700" y="24765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“If the estimate came before booking, what would break?” Intent: test assumptions and find the true constraint. Move on when the constraint is named.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1.steps.slot-004.marker"/>
            <p:cNvSpPr/>
            <p:nvPr/>
          </p:nvSpPr>
          <p:spPr>
            <a:xfrm>
              <a:off x="4419600" y="30480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steps.slot-004.title"/>
            <p:cNvSpPr/>
            <p:nvPr/>
          </p:nvSpPr>
          <p:spPr>
            <a:xfrm>
              <a:off x="4838700" y="3009900"/>
              <a:ext cx="7080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Confirm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1.steps.slot-004.label"/>
            <p:cNvSpPr/>
            <p:nvPr/>
          </p:nvSpPr>
          <p:spPr>
            <a:xfrm>
              <a:off x="5699125" y="3097149"/>
              <a:ext cx="4761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RUNG 4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1.steps.slot-004.description.part-0"/>
            <p:cNvSpPr/>
            <p:nvPr/>
          </p:nvSpPr>
          <p:spPr>
            <a:xfrm>
              <a:off x="4838700" y="33147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“So the blocker is missing charge data. Is that right, and who owns it?” Intent: check we heard it and agree an owner. Move on when the table says yes.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02"/>
          <p:cNvGrpSpPr/>
          <p:nvPr/>
        </p:nvGrpSpPr>
        <p:grpSpPr>
          <a:xfrm>
            <a:off x="4381500" y="4114800"/>
            <a:ext cx="7086600" cy="1600200"/>
            <a:chOff x="4381500" y="4114800"/>
            <a:chExt cx="7086600" cy="1600200"/>
          </a:xfrm>
        </p:grpSpPr>
        <p:sp>
          <p:nvSpPr>
            <p:cNvPr id="23" name="node02.surface"/>
            <p:cNvSpPr/>
            <p:nvPr/>
          </p:nvSpPr>
          <p:spPr>
            <a:xfrm>
              <a:off x="4381500" y="4114800"/>
              <a:ext cx="70866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54" name="node03"/>
          <p:cNvGrpSpPr/>
          <p:nvPr/>
        </p:nvGrpSpPr>
        <p:grpSpPr>
          <a:xfrm>
            <a:off x="4610100" y="4343400"/>
            <a:ext cx="6629400" cy="152400"/>
            <a:chOff x="4610100" y="4343400"/>
            <a:chExt cx="6629400" cy="152400"/>
          </a:xfrm>
        </p:grpSpPr>
        <p:sp>
          <p:nvSpPr>
            <p:cNvPr id="24" name="node03.text"/>
            <p:cNvSpPr/>
            <p:nvPr/>
          </p:nvSpPr>
          <p:spPr>
            <a:xfrm>
              <a:off x="4610100" y="4343400"/>
              <a:ext cx="6629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SIGNS THE LADDER IS WORKING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5" name="node04"/>
          <p:cNvGrpSpPr/>
          <p:nvPr/>
        </p:nvGrpSpPr>
        <p:grpSpPr>
          <a:xfrm>
            <a:off x="4610100" y="4648200"/>
            <a:ext cx="6629400" cy="762000"/>
            <a:chOff x="4610100" y="4648200"/>
            <a:chExt cx="6629400" cy="762000"/>
          </a:xfrm>
        </p:grpSpPr>
        <p:sp>
          <p:nvSpPr>
            <p:cNvPr id="25" name="node04.source-001.bullet"/>
            <p:cNvSpPr/>
            <p:nvPr/>
          </p:nvSpPr>
          <p:spPr>
            <a:xfrm>
              <a:off x="4610100" y="4737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4.source-001.text"/>
            <p:cNvSpPr/>
            <p:nvPr/>
          </p:nvSpPr>
          <p:spPr>
            <a:xfrm>
              <a:off x="4762500" y="4648200"/>
              <a:ext cx="6477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The table names steps, owners and numbers, not opinions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4.source-002.bullet"/>
            <p:cNvSpPr/>
            <p:nvPr/>
          </p:nvSpPr>
          <p:spPr>
            <a:xfrm>
              <a:off x="4610100" y="5003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4.source-002.text"/>
            <p:cNvSpPr/>
            <p:nvPr/>
          </p:nvSpPr>
          <p:spPr>
            <a:xfrm>
              <a:off x="4762500" y="4914900"/>
              <a:ext cx="6477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Quiet participants are speaking by rung 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4.source-003.bullet"/>
            <p:cNvSpPr/>
            <p:nvPr/>
          </p:nvSpPr>
          <p:spPr>
            <a:xfrm>
              <a:off x="46101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4.source-003.text"/>
            <p:cNvSpPr/>
            <p:nvPr/>
          </p:nvSpPr>
          <p:spPr>
            <a:xfrm>
              <a:off x="4762500" y="5181600"/>
              <a:ext cx="6477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Disagreement is stated out loud, not smoothed 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05"/>
          <p:cNvGrpSpPr/>
          <p:nvPr/>
        </p:nvGrpSpPr>
        <p:grpSpPr>
          <a:xfrm>
            <a:off x="723900" y="2286000"/>
            <a:ext cx="3429000" cy="228600"/>
            <a:chOff x="723900" y="2286000"/>
            <a:chExt cx="3429000" cy="228600"/>
          </a:xfrm>
        </p:grpSpPr>
        <p:sp>
          <p:nvSpPr>
            <p:cNvPr id="31" name="node05.label"/>
            <p:cNvSpPr/>
            <p:nvPr/>
          </p:nvSpPr>
          <p:spPr>
            <a:xfrm>
              <a:off x="723900" y="2286000"/>
              <a:ext cx="4010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TOPIC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2" name="node05.rule"/>
            <p:cNvSpPr/>
            <p:nvPr/>
          </p:nvSpPr>
          <p:spPr>
            <a:xfrm>
              <a:off x="1251905" y="2395538"/>
              <a:ext cx="290099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3" name="node06"/>
          <p:cNvSpPr/>
          <p:nvPr/>
        </p:nvSpPr>
        <p:spPr>
          <a:xfrm>
            <a:off x="723900" y="2514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7" name="node07"/>
          <p:cNvGrpSpPr/>
          <p:nvPr/>
        </p:nvGrpSpPr>
        <p:grpSpPr>
          <a:xfrm>
            <a:off x="723900" y="2743200"/>
            <a:ext cx="3429000" cy="457200"/>
            <a:chOff x="723900" y="2743200"/>
            <a:chExt cx="3429000" cy="457200"/>
          </a:xfrm>
        </p:grpSpPr>
        <p:sp>
          <p:nvSpPr>
            <p:cNvPr id="34" name="node07.source-001.bullet"/>
            <p:cNvSpPr/>
            <p:nvPr/>
          </p:nvSpPr>
          <p:spPr>
            <a:xfrm>
              <a:off x="723900" y="2832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7.source-001.text"/>
            <p:cNvSpPr/>
            <p:nvPr/>
          </p:nvSpPr>
          <p:spPr>
            <a:xfrm>
              <a:off x="876300" y="27432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Estimates: a price patients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8"/>
          <p:cNvGrpSpPr/>
          <p:nvPr/>
        </p:nvGrpSpPr>
        <p:grpSpPr>
          <a:xfrm>
            <a:off x="723900" y="3200400"/>
            <a:ext cx="3429000" cy="228600"/>
            <a:chOff x="723900" y="3200400"/>
            <a:chExt cx="3429000" cy="228600"/>
          </a:xfrm>
        </p:grpSpPr>
        <p:sp>
          <p:nvSpPr>
            <p:cNvPr id="36" name="node08.label"/>
            <p:cNvSpPr/>
            <p:nvPr/>
          </p:nvSpPr>
          <p:spPr>
            <a:xfrm>
              <a:off x="723900" y="32004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IF THE ANSWER IS VAGUE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7" name="node08.rule"/>
            <p:cNvSpPr/>
            <p:nvPr/>
          </p:nvSpPr>
          <p:spPr>
            <a:xfrm>
              <a:off x="2528962" y="33099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8" name="node09"/>
          <p:cNvSpPr/>
          <p:nvPr/>
        </p:nvSpPr>
        <p:spPr>
          <a:xfrm>
            <a:off x="7239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9" name="node10"/>
          <p:cNvGrpSpPr/>
          <p:nvPr/>
        </p:nvGrpSpPr>
        <p:grpSpPr>
          <a:xfrm>
            <a:off x="723900" y="3657600"/>
            <a:ext cx="3429000" cy="1028700"/>
            <a:chOff x="723900" y="3657600"/>
            <a:chExt cx="3429000" cy="1028700"/>
          </a:xfrm>
        </p:grpSpPr>
        <p:sp>
          <p:nvSpPr>
            <p:cNvPr id="39" name="node10.source-001.bullet"/>
            <p:cNvSpPr/>
            <p:nvPr/>
          </p:nvSpPr>
          <p:spPr>
            <a:xfrm>
              <a:off x="7239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10.source-001.text"/>
            <p:cNvSpPr/>
            <p:nvPr/>
          </p:nvSpPr>
          <p:spPr>
            <a:xfrm>
              <a:off x="876300" y="3657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“Give me one example from this week.”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0.source-002.bullet"/>
            <p:cNvSpPr/>
            <p:nvPr/>
          </p:nvSpPr>
          <p:spPr>
            <a:xfrm>
              <a:off x="7239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10.source-002.text"/>
            <p:cNvSpPr/>
            <p:nvPr/>
          </p:nvSpPr>
          <p:spPr>
            <a:xfrm>
              <a:off x="876300" y="3924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“What would a new hire see on day one?”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0.source-003.bullet"/>
            <p:cNvSpPr/>
            <p:nvPr/>
          </p:nvSpPr>
          <p:spPr>
            <a:xfrm>
              <a:off x="723900" y="4279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10.source-003.text"/>
            <p:cNvSpPr/>
            <p:nvPr/>
          </p:nvSpPr>
          <p:spPr>
            <a:xfrm>
              <a:off x="876300" y="4191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“How many times a month is that?”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0.source-004.bullet"/>
            <p:cNvSpPr/>
            <p:nvPr/>
          </p:nvSpPr>
          <p:spPr>
            <a:xfrm>
              <a:off x="723900" y="4546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10.source-004.text"/>
            <p:cNvSpPr/>
            <p:nvPr/>
          </p:nvSpPr>
          <p:spPr>
            <a:xfrm>
              <a:off x="876300" y="4457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“Who would answer that differently?”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11"/>
          <p:cNvGrpSpPr/>
          <p:nvPr/>
        </p:nvGrpSpPr>
        <p:grpSpPr>
          <a:xfrm>
            <a:off x="723900" y="5029200"/>
            <a:ext cx="3429000" cy="228600"/>
            <a:chOff x="723900" y="5029200"/>
            <a:chExt cx="3429000" cy="228600"/>
          </a:xfrm>
        </p:grpSpPr>
        <p:sp>
          <p:nvSpPr>
            <p:cNvPr id="47" name="node11.label"/>
            <p:cNvSpPr/>
            <p:nvPr/>
          </p:nvSpPr>
          <p:spPr>
            <a:xfrm>
              <a:off x="723900" y="5029200"/>
              <a:ext cx="100197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RULE OF THUMB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8" name="node11.rule"/>
            <p:cNvSpPr/>
            <p:nvPr/>
          </p:nvSpPr>
          <p:spPr>
            <a:xfrm>
              <a:off x="1852873" y="5138738"/>
              <a:ext cx="230002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9" name="node12"/>
          <p:cNvSpPr/>
          <p:nvPr/>
        </p:nvSpPr>
        <p:spPr>
          <a:xfrm>
            <a:off x="723900" y="5257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1" name="node13"/>
          <p:cNvGrpSpPr/>
          <p:nvPr/>
        </p:nvGrpSpPr>
        <p:grpSpPr>
          <a:xfrm>
            <a:off x="723900" y="5486400"/>
            <a:ext cx="3429000" cy="228600"/>
            <a:chOff x="723900" y="5486400"/>
            <a:chExt cx="3429000" cy="228600"/>
          </a:xfrm>
        </p:grpSpPr>
        <p:sp>
          <p:nvSpPr>
            <p:cNvPr id="50" name="node13.source-001.bullet"/>
            <p:cNvSpPr/>
            <p:nvPr/>
          </p:nvSpPr>
          <p:spPr>
            <a:xfrm>
              <a:off x="723900" y="5575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3.source-001.text"/>
            <p:cNvSpPr/>
            <p:nvPr/>
          </p:nvSpPr>
          <p:spPr>
            <a:xfrm>
              <a:off x="876300" y="5486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 challenge until the story is told.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Who does what in each segment of workshop 2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013200"/>
          </p:xfrm>
          <a:graphic>
            <a:graphicData uri="http://schemas.openxmlformats.org/drawingml/2006/table">
              <a:tbl>
                <a:tblPr/>
                <a:tblGrid>
                  <a:gridCol w="1600200"/>
                  <a:gridCol w="685800"/>
                  <a:gridCol w="2209800"/>
                  <a:gridCol w="2133600"/>
                  <a:gridCol w="2133600"/>
                  <a:gridCol w="1981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SEGMENT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WHO LEADS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WHO CAPTURES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 AND TECH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HANDOFF CUE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Room setup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Co-lead: tables, journey map, timer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canvases labeled, notes template open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video room, audio and screen check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 tells lead: room is ready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Welcome and goals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objectives, ground rules, parking lot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attendee list, parking lot started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timer on screen, mute rules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“Over to the recap”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recap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journey-map walk-through, dot vote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top five pain points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shares map, runs the vote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hands tables to area leads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by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leads: one table each, 15-minute boxes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decisions and gaps per canvas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10 and 2 minute warnings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break at 10:45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Break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Co-lead: reset tables, check pace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consolidate notes, flag gaps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restart video, reopen the room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Co-lead: back at 11:00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and gaps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Co-lead: five minutes per table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gap callouts on the board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strict five-minute timer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 hands to lead at 11:35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and next steps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11:40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fist-to-five, owners and dates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decisions log read back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shares the log live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“Read back the log”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and debrief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Lead: pre-work, one-word check-out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Scribe: send notes within 24 hours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Producer: stops recording, saves files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Team debrief at 12:15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Listen for the signal, watch for the flag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7" name="node01"/>
          <p:cNvGrpSpPr/>
          <p:nvPr/>
        </p:nvGrpSpPr>
        <p:grpSpPr>
          <a:xfrm>
            <a:off x="723900" y="457200"/>
            <a:ext cx="7086600" cy="5156200"/>
            <a:chOff x="723900" y="457200"/>
            <a:chExt cx="7086600" cy="5156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457200"/>
            <a:ext cx="6705600" cy="5156200"/>
          </p:xfrm>
          <a:graphic>
            <a:graphicData uri="http://schemas.openxmlformats.org/drawingml/2006/table">
              <a:tbl>
                <a:tblPr/>
                <a:tblGrid>
                  <a:gridCol w="3200400"/>
                  <a:gridCol w="3505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IF YOU HEAR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THEN ASK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“We work around it.”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“Show me the workaround. What does it cost?”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“That depends on the clinic.”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“Which clinics differ, and is there a reason?”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“One person always fixes it.”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“What happens when they are away?”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“We need a new system.”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“What does the process need first?”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“That is not our problem.”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“Who owns it, and are they here?”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Silence or quick agreement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“What would make this fail?”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voice answering for all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“Let us hear from the other tables.”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-group.source-001.fill"/>
            <p:cNvSpPr/>
            <p:nvPr/>
          </p:nvSpPr>
          <p:spPr>
            <a:xfrm>
              <a:off x="723900" y="831850"/>
              <a:ext cx="304800" cy="2019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row-group.source-001.label"/>
            <p:cNvSpPr/>
            <p:nvPr/>
          </p:nvSpPr>
          <p:spPr>
            <a:xfrm rot="-5400000">
              <a:off x="-133350" y="1765300"/>
              <a:ext cx="20193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SIGNALS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-group.source-002.fill"/>
            <p:cNvSpPr/>
            <p:nvPr/>
          </p:nvSpPr>
          <p:spPr>
            <a:xfrm>
              <a:off x="723900" y="2889250"/>
              <a:ext cx="304800" cy="2705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0" name="node01.row-group.source-002.label"/>
            <p:cNvSpPr/>
            <p:nvPr/>
          </p:nvSpPr>
          <p:spPr>
            <a:xfrm rot="-5400000">
              <a:off x="-476250" y="4165600"/>
              <a:ext cx="2705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RED FLAGS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8" name="node02"/>
          <p:cNvGrpSpPr/>
          <p:nvPr/>
        </p:nvGrpSpPr>
        <p:grpSpPr>
          <a:xfrm>
            <a:off x="8039100" y="2057400"/>
            <a:ext cx="3429000" cy="1600200"/>
            <a:chOff x="8039100" y="2057400"/>
            <a:chExt cx="3429000" cy="1600200"/>
          </a:xfrm>
        </p:grpSpPr>
        <p:sp>
          <p:nvSpPr>
            <p:cNvPr id="11" name="node02.surface"/>
            <p:cNvSpPr/>
            <p:nvPr/>
          </p:nvSpPr>
          <p:spPr>
            <a:xfrm>
              <a:off x="8039100" y="2057400"/>
              <a:ext cx="3429000" cy="1600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29" name="node03"/>
          <p:cNvGrpSpPr/>
          <p:nvPr/>
        </p:nvGrpSpPr>
        <p:grpSpPr>
          <a:xfrm>
            <a:off x="8267700" y="2286000"/>
            <a:ext cx="2971800" cy="152400"/>
            <a:chOff x="8267700" y="2286000"/>
            <a:chExt cx="2971800" cy="152400"/>
          </a:xfrm>
        </p:grpSpPr>
        <p:sp>
          <p:nvSpPr>
            <p:cNvPr id="12" name="node03.text"/>
            <p:cNvSpPr/>
            <p:nvPr/>
          </p:nvSpPr>
          <p:spPr>
            <a:xfrm>
              <a:off x="8267700" y="22860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SESSION OBJECTIVE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0" name="node04"/>
          <p:cNvGrpSpPr/>
          <p:nvPr/>
        </p:nvGrpSpPr>
        <p:grpSpPr>
          <a:xfrm>
            <a:off x="8267700" y="2590800"/>
            <a:ext cx="2971800" cy="800100"/>
            <a:chOff x="8267700" y="2590800"/>
            <a:chExt cx="2971800" cy="800100"/>
          </a:xfrm>
        </p:grpSpPr>
        <p:sp>
          <p:nvSpPr>
            <p:cNvPr id="13" name="node04.text"/>
            <p:cNvSpPr/>
            <p:nvPr/>
          </p:nvSpPr>
          <p:spPr>
            <a:xfrm>
              <a:off x="8267700" y="2590800"/>
              <a:ext cx="29718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Design the future state for scheduling, registration, estimates and denials.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" name="node05"/>
          <p:cNvGrpSpPr/>
          <p:nvPr/>
        </p:nvGrpSpPr>
        <p:grpSpPr>
          <a:xfrm>
            <a:off x="8039100" y="3886200"/>
            <a:ext cx="3429000" cy="228600"/>
            <a:chOff x="8039100" y="3886200"/>
            <a:chExt cx="3429000" cy="228600"/>
          </a:xfrm>
        </p:grpSpPr>
        <p:sp>
          <p:nvSpPr>
            <p:cNvPr id="14" name="node05.label"/>
            <p:cNvSpPr/>
            <p:nvPr/>
          </p:nvSpPr>
          <p:spPr>
            <a:xfrm>
              <a:off x="8039100" y="3886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GROUND RULES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5.rule"/>
            <p:cNvSpPr/>
            <p:nvPr/>
          </p:nvSpPr>
          <p:spPr>
            <a:xfrm>
              <a:off x="9092952" y="39957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6" name="node06"/>
          <p:cNvSpPr/>
          <p:nvPr/>
        </p:nvSpPr>
        <p:spPr>
          <a:xfrm>
            <a:off x="8039100" y="4114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2" name="node07"/>
          <p:cNvGrpSpPr/>
          <p:nvPr/>
        </p:nvGrpSpPr>
        <p:grpSpPr>
          <a:xfrm>
            <a:off x="8039100" y="4343400"/>
            <a:ext cx="3429000" cy="1295400"/>
            <a:chOff x="8039100" y="4343400"/>
            <a:chExt cx="3429000" cy="1295400"/>
          </a:xfrm>
        </p:grpSpPr>
        <p:sp>
          <p:nvSpPr>
            <p:cNvPr id="17" name="node07.source-001.bullet"/>
            <p:cNvSpPr/>
            <p:nvPr/>
          </p:nvSpPr>
          <p:spPr>
            <a:xfrm>
              <a:off x="8039100" y="4432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7.source-001.text"/>
            <p:cNvSpPr/>
            <p:nvPr/>
          </p:nvSpPr>
          <p:spPr>
            <a:xfrm>
              <a:off x="8191500" y="4343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Timeboxes hold; the parking lot takes the rest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7.source-002.bullet"/>
            <p:cNvSpPr/>
            <p:nvPr/>
          </p:nvSpPr>
          <p:spPr>
            <a:xfrm>
              <a:off x="8039100" y="4699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7.source-002.text"/>
            <p:cNvSpPr/>
            <p:nvPr/>
          </p:nvSpPr>
          <p:spPr>
            <a:xfrm>
              <a:off x="8191500" y="4610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decision gets an owner and a date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7.source-003.bullet"/>
            <p:cNvSpPr/>
            <p:nvPr/>
          </p:nvSpPr>
          <p:spPr>
            <a:xfrm>
              <a:off x="8039100" y="4965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7.source-003.text"/>
            <p:cNvSpPr/>
            <p:nvPr/>
          </p:nvSpPr>
          <p:spPr>
            <a:xfrm>
              <a:off x="8191500" y="4876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Problems before solutions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7.source-004.bullet"/>
            <p:cNvSpPr/>
            <p:nvPr/>
          </p:nvSpPr>
          <p:spPr>
            <a:xfrm>
              <a:off x="8039100" y="5232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7.source-004.text"/>
            <p:cNvSpPr/>
            <p:nvPr/>
          </p:nvSpPr>
          <p:spPr>
            <a:xfrm>
              <a:off x="8191500" y="5143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table speaks at playback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7.source-005.bullet"/>
            <p:cNvSpPr/>
            <p:nvPr/>
          </p:nvSpPr>
          <p:spPr>
            <a:xfrm>
              <a:off x="8039100" y="549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source-005.text"/>
            <p:cNvSpPr/>
            <p:nvPr/>
          </p:nvSpPr>
          <p:spPr>
            <a:xfrm>
              <a:off x="8191500" y="5410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Video tables get equal airtime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If this happens, do this: contingencies for workshop 2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9" name="node01"/>
          <p:cNvGrpSpPr/>
          <p:nvPr/>
        </p:nvGrpSpPr>
        <p:grpSpPr>
          <a:xfrm>
            <a:off x="723900" y="1600200"/>
            <a:ext cx="10744200" cy="4127500"/>
            <a:chOff x="723900" y="1600200"/>
            <a:chExt cx="10744200" cy="41275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1275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1981200"/>
                  <a:gridCol w="2438400"/>
                  <a:gridCol w="4343400"/>
                  <a:gridCol w="1066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SEVERITY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IF THIS HAPPENS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EARLY SIGN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DO THIS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571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Decision-makers missing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or area lead absent at 9:15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Mark decisions as recommendations; log an owner and a date; confirm by email within 24 hours.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71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Video fails for remote table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audio or picture for two minutes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 moves them to the phone bridge and shares a photo of the canvas; the scribe pastes notes live.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Running long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Ten minutes behind at the break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 in this order: 1 playback to three minutes a table; 2 recap dot vote; 3 gap discussion, moved to follow-up. Never cut decisions.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71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Dominant voice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person holds over 40% of airtime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Round-robin on index cards; “Let us hear from tables not yet in”; side-chat at the break.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71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Off-topic deep dive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Five minutes on one system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Park it with an owner, offer a follow-up session, and return to the canvas.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71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Low energy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Quiet tables after the break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Stand-up pair share, switch to sticky notes, shorten the next timebox.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p.priority.fill"/>
            <p:cNvSpPr/>
            <p:nvPr/>
          </p:nvSpPr>
          <p:spPr>
            <a:xfrm>
              <a:off x="927100" y="213042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p.priority"/>
            <p:cNvSpPr/>
            <p:nvPr/>
          </p:nvSpPr>
          <p:spPr>
            <a:xfrm>
              <a:off x="1028700" y="215582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2.p.priority.fill"/>
            <p:cNvSpPr/>
            <p:nvPr/>
          </p:nvSpPr>
          <p:spPr>
            <a:xfrm>
              <a:off x="927100" y="270192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2.p.priority"/>
            <p:cNvSpPr/>
            <p:nvPr/>
          </p:nvSpPr>
          <p:spPr>
            <a:xfrm>
              <a:off x="1028700" y="272732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row.item-003.p.priority.fill"/>
            <p:cNvSpPr/>
            <p:nvPr/>
          </p:nvSpPr>
          <p:spPr>
            <a:xfrm>
              <a:off x="927100" y="3444875"/>
              <a:ext cx="508000" cy="22225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3.p.priority"/>
            <p:cNvSpPr/>
            <p:nvPr/>
          </p:nvSpPr>
          <p:spPr>
            <a:xfrm>
              <a:off x="1028700" y="34702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row.item-004.p.priority.fill"/>
            <p:cNvSpPr/>
            <p:nvPr/>
          </p:nvSpPr>
          <p:spPr>
            <a:xfrm>
              <a:off x="927100" y="4187825"/>
              <a:ext cx="508000" cy="22225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4.p.priority"/>
            <p:cNvSpPr/>
            <p:nvPr/>
          </p:nvSpPr>
          <p:spPr>
            <a:xfrm>
              <a:off x="1028700" y="421322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5.p.priority.fill"/>
            <p:cNvSpPr/>
            <p:nvPr/>
          </p:nvSpPr>
          <p:spPr>
            <a:xfrm>
              <a:off x="927100" y="4759325"/>
              <a:ext cx="508000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5.p.priority"/>
            <p:cNvSpPr/>
            <p:nvPr/>
          </p:nvSpPr>
          <p:spPr>
            <a:xfrm>
              <a:off x="1028700" y="478472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row.item-006.p.priority.fill"/>
            <p:cNvSpPr/>
            <p:nvPr/>
          </p:nvSpPr>
          <p:spPr>
            <a:xfrm>
              <a:off x="927100" y="5330825"/>
              <a:ext cx="508000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6.p.priority"/>
            <p:cNvSpPr/>
            <p:nvPr/>
          </p:nvSpPr>
          <p:spPr>
            <a:xfrm>
              <a:off x="1028700" y="535622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FACILITATOR GUIDE · INTERNAL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Breakout table guide: one prompt per focus area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4" name="node01"/>
          <p:cNvGrpSpPr/>
          <p:nvPr/>
        </p:nvGrpSpPr>
        <p:grpSpPr>
          <a:xfrm>
            <a:off x="723900" y="1600200"/>
            <a:ext cx="2514600" cy="685800"/>
            <a:chOff x="723900" y="1600200"/>
            <a:chExt cx="2514600" cy="685800"/>
          </a:xfrm>
        </p:grpSpPr>
        <p:sp>
          <p:nvSpPr>
            <p:cNvPr id="6" name="node01.surface"/>
            <p:cNvSpPr/>
            <p:nvPr/>
          </p:nvSpPr>
          <p:spPr>
            <a:xfrm>
              <a:off x="723900" y="1600200"/>
              <a:ext cx="25146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5" name="node02"/>
          <p:cNvGrpSpPr/>
          <p:nvPr/>
        </p:nvGrpSpPr>
        <p:grpSpPr>
          <a:xfrm>
            <a:off x="952500" y="1828800"/>
            <a:ext cx="2057400" cy="152400"/>
            <a:chOff x="952500" y="1828800"/>
            <a:chExt cx="2057400" cy="152400"/>
          </a:xfrm>
        </p:grpSpPr>
        <p:sp>
          <p:nvSpPr>
            <p:cNvPr id="7" name="node02.text"/>
            <p:cNvSpPr/>
            <p:nvPr/>
          </p:nvSpPr>
          <p:spPr>
            <a:xfrm>
              <a:off x="952500" y="18288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TABLE 1 · SCHEDULING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03"/>
          <p:cNvGrpSpPr/>
          <p:nvPr/>
        </p:nvGrpSpPr>
        <p:grpSpPr>
          <a:xfrm>
            <a:off x="723900" y="2514600"/>
            <a:ext cx="2514600" cy="1676400"/>
            <a:chOff x="723900" y="2514600"/>
            <a:chExt cx="2514600" cy="1676400"/>
          </a:xfrm>
        </p:grpSpPr>
        <p:sp>
          <p:nvSpPr>
            <p:cNvPr id="8" name="node03.source-001.bullet"/>
            <p:cNvSpPr/>
            <p:nvPr/>
          </p:nvSpPr>
          <p:spPr>
            <a:xfrm>
              <a:off x="7239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3.source-001.text"/>
            <p:cNvSpPr/>
            <p:nvPr/>
          </p:nvSpPr>
          <p:spPr>
            <a:xfrm>
              <a:off x="876300" y="2514600"/>
              <a:ext cx="2362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Prompt: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Draw one front door and one template for every service 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3.source-002.bullet"/>
            <p:cNvSpPr/>
            <p:nvPr/>
          </p:nvSpPr>
          <p:spPr>
            <a:xfrm>
              <a:off x="723900" y="3327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2.text"/>
            <p:cNvSpPr/>
            <p:nvPr/>
          </p:nvSpPr>
          <p:spPr>
            <a:xfrm>
              <a:off x="876300" y="32385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Materials: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Canvas, template samples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3.bullet"/>
            <p:cNvSpPr/>
            <p:nvPr/>
          </p:nvSpPr>
          <p:spPr>
            <a:xfrm>
              <a:off x="723900" y="3822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3.text"/>
            <p:cNvSpPr/>
            <p:nvPr/>
          </p:nvSpPr>
          <p:spPr>
            <a:xfrm>
              <a:off x="876300" y="37338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Time: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20 min · 2-minute report-back: three steps, one gap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7" name="node04"/>
          <p:cNvGrpSpPr/>
          <p:nvPr/>
        </p:nvGrpSpPr>
        <p:grpSpPr>
          <a:xfrm>
            <a:off x="723900" y="4343400"/>
            <a:ext cx="2514600" cy="228600"/>
            <a:chOff x="723900" y="4343400"/>
            <a:chExt cx="2514600" cy="228600"/>
          </a:xfrm>
        </p:grpSpPr>
        <p:sp>
          <p:nvSpPr>
            <p:cNvPr id="14" name="node04.label"/>
            <p:cNvSpPr/>
            <p:nvPr/>
          </p:nvSpPr>
          <p:spPr>
            <a:xfrm>
              <a:off x="723900" y="4343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ASK THIS TABLE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4.rule"/>
            <p:cNvSpPr/>
            <p:nvPr/>
          </p:nvSpPr>
          <p:spPr>
            <a:xfrm>
              <a:off x="1927994" y="4452938"/>
              <a:ext cx="13105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6" name="node05"/>
          <p:cNvSpPr/>
          <p:nvPr/>
        </p:nvSpPr>
        <p:spPr>
          <a:xfrm>
            <a:off x="723900" y="45720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06"/>
          <p:cNvGrpSpPr/>
          <p:nvPr/>
        </p:nvGrpSpPr>
        <p:grpSpPr>
          <a:xfrm>
            <a:off x="723900" y="4800600"/>
            <a:ext cx="2514600" cy="990600"/>
            <a:chOff x="723900" y="4800600"/>
            <a:chExt cx="2514600" cy="990600"/>
          </a:xfrm>
        </p:grpSpPr>
        <p:sp>
          <p:nvSpPr>
            <p:cNvPr id="17" name="node06.source-001.bullet"/>
            <p:cNvSpPr/>
            <p:nvPr/>
          </p:nvSpPr>
          <p:spPr>
            <a:xfrm>
              <a:off x="7239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6.source-001.text"/>
            <p:cNvSpPr/>
            <p:nvPr/>
          </p:nvSpPr>
          <p:spPr>
            <a:xfrm>
              <a:off x="876300" y="48006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Where does a request wait today?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6.source-002.bullet"/>
            <p:cNvSpPr/>
            <p:nvPr/>
          </p:nvSpPr>
          <p:spPr>
            <a:xfrm>
              <a:off x="7239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6.source-002.text"/>
            <p:cNvSpPr/>
            <p:nvPr/>
          </p:nvSpPr>
          <p:spPr>
            <a:xfrm>
              <a:off x="876300" y="50673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template could every clinic use?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6.source-003.bullet"/>
            <p:cNvSpPr/>
            <p:nvPr/>
          </p:nvSpPr>
          <p:spPr>
            <a:xfrm>
              <a:off x="7239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6.source-003.text"/>
            <p:cNvSpPr/>
            <p:nvPr/>
          </p:nvSpPr>
          <p:spPr>
            <a:xfrm>
              <a:off x="876300" y="55626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Who owns the no-show list?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07"/>
          <p:cNvGrpSpPr/>
          <p:nvPr/>
        </p:nvGrpSpPr>
        <p:grpSpPr>
          <a:xfrm>
            <a:off x="3467100" y="1600200"/>
            <a:ext cx="2514600" cy="685800"/>
            <a:chOff x="3467100" y="1600200"/>
            <a:chExt cx="2514600" cy="685800"/>
          </a:xfrm>
        </p:grpSpPr>
        <p:sp>
          <p:nvSpPr>
            <p:cNvPr id="23" name="node07.surface"/>
            <p:cNvSpPr/>
            <p:nvPr/>
          </p:nvSpPr>
          <p:spPr>
            <a:xfrm>
              <a:off x="3467100" y="1600200"/>
              <a:ext cx="25146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0" name="node08"/>
          <p:cNvGrpSpPr/>
          <p:nvPr/>
        </p:nvGrpSpPr>
        <p:grpSpPr>
          <a:xfrm>
            <a:off x="3695700" y="1828800"/>
            <a:ext cx="2057400" cy="152400"/>
            <a:chOff x="3695700" y="1828800"/>
            <a:chExt cx="2057400" cy="152400"/>
          </a:xfrm>
        </p:grpSpPr>
        <p:sp>
          <p:nvSpPr>
            <p:cNvPr id="24" name="node08.text"/>
            <p:cNvSpPr/>
            <p:nvPr/>
          </p:nvSpPr>
          <p:spPr>
            <a:xfrm>
              <a:off x="3695700" y="18288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TABLE 2 · REGISTRATION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1" name="node09"/>
          <p:cNvGrpSpPr/>
          <p:nvPr/>
        </p:nvGrpSpPr>
        <p:grpSpPr>
          <a:xfrm>
            <a:off x="3467100" y="2514600"/>
            <a:ext cx="2514600" cy="1447800"/>
            <a:chOff x="3467100" y="2514600"/>
            <a:chExt cx="2514600" cy="1447800"/>
          </a:xfrm>
        </p:grpSpPr>
        <p:sp>
          <p:nvSpPr>
            <p:cNvPr id="25" name="node09.source-001.bullet"/>
            <p:cNvSpPr/>
            <p:nvPr/>
          </p:nvSpPr>
          <p:spPr>
            <a:xfrm>
              <a:off x="34671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9.source-001.text"/>
            <p:cNvSpPr/>
            <p:nvPr/>
          </p:nvSpPr>
          <p:spPr>
            <a:xfrm>
              <a:off x="3619500" y="2514600"/>
              <a:ext cx="2362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Prompt: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Capture insurance and consent once, before the patient arrives.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9.source-002.bullet"/>
            <p:cNvSpPr/>
            <p:nvPr/>
          </p:nvSpPr>
          <p:spPr>
            <a:xfrm>
              <a:off x="3467100" y="3327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9.source-002.text"/>
            <p:cNvSpPr/>
            <p:nvPr/>
          </p:nvSpPr>
          <p:spPr>
            <a:xfrm>
              <a:off x="3619500" y="32385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Materials: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Canvas, form samples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9.source-003.bullet"/>
            <p:cNvSpPr/>
            <p:nvPr/>
          </p:nvSpPr>
          <p:spPr>
            <a:xfrm>
              <a:off x="3467100" y="3594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9.source-003.text"/>
            <p:cNvSpPr/>
            <p:nvPr/>
          </p:nvSpPr>
          <p:spPr>
            <a:xfrm>
              <a:off x="3619500" y="35052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Time: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20 min · 2-minute report-back: data captured, owner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0"/>
          <p:cNvGrpSpPr/>
          <p:nvPr/>
        </p:nvGrpSpPr>
        <p:grpSpPr>
          <a:xfrm>
            <a:off x="3467100" y="4343400"/>
            <a:ext cx="2514600" cy="228600"/>
            <a:chOff x="3467100" y="4343400"/>
            <a:chExt cx="2514600" cy="228600"/>
          </a:xfrm>
        </p:grpSpPr>
        <p:sp>
          <p:nvSpPr>
            <p:cNvPr id="31" name="node10.label"/>
            <p:cNvSpPr/>
            <p:nvPr/>
          </p:nvSpPr>
          <p:spPr>
            <a:xfrm>
              <a:off x="3467100" y="4343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ASK THIS TABLE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2" name="node10.rule"/>
            <p:cNvSpPr/>
            <p:nvPr/>
          </p:nvSpPr>
          <p:spPr>
            <a:xfrm>
              <a:off x="4671194" y="4452938"/>
              <a:ext cx="13105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3" name="node11"/>
          <p:cNvSpPr/>
          <p:nvPr/>
        </p:nvSpPr>
        <p:spPr>
          <a:xfrm>
            <a:off x="3467100" y="45720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3" name="node12"/>
          <p:cNvGrpSpPr/>
          <p:nvPr/>
        </p:nvGrpSpPr>
        <p:grpSpPr>
          <a:xfrm>
            <a:off x="3467100" y="4800600"/>
            <a:ext cx="2514600" cy="990600"/>
            <a:chOff x="3467100" y="4800600"/>
            <a:chExt cx="2514600" cy="990600"/>
          </a:xfrm>
        </p:grpSpPr>
        <p:sp>
          <p:nvSpPr>
            <p:cNvPr id="34" name="node12.source-001.bullet"/>
            <p:cNvSpPr/>
            <p:nvPr/>
          </p:nvSpPr>
          <p:spPr>
            <a:xfrm>
              <a:off x="34671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12.source-001.text"/>
            <p:cNvSpPr/>
            <p:nvPr/>
          </p:nvSpPr>
          <p:spPr>
            <a:xfrm>
              <a:off x="3619500" y="48006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What do we ask that we already know?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12.source-002.bullet"/>
            <p:cNvSpPr/>
            <p:nvPr/>
          </p:nvSpPr>
          <p:spPr>
            <a:xfrm>
              <a:off x="3467100" y="538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12.source-002.text"/>
            <p:cNvSpPr/>
            <p:nvPr/>
          </p:nvSpPr>
          <p:spPr>
            <a:xfrm>
              <a:off x="3619500" y="52959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Who verifies, and when?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2.source-003.bullet"/>
            <p:cNvSpPr/>
            <p:nvPr/>
          </p:nvSpPr>
          <p:spPr>
            <a:xfrm>
              <a:off x="34671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12.source-003.text"/>
            <p:cNvSpPr/>
            <p:nvPr/>
          </p:nvSpPr>
          <p:spPr>
            <a:xfrm>
              <a:off x="3619500" y="55626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consent is missed most?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13"/>
          <p:cNvGrpSpPr/>
          <p:nvPr/>
        </p:nvGrpSpPr>
        <p:grpSpPr>
          <a:xfrm>
            <a:off x="6210300" y="1600200"/>
            <a:ext cx="2514600" cy="685800"/>
            <a:chOff x="6210300" y="1600200"/>
            <a:chExt cx="2514600" cy="685800"/>
          </a:xfrm>
        </p:grpSpPr>
        <p:sp>
          <p:nvSpPr>
            <p:cNvPr id="40" name="node13.surface"/>
            <p:cNvSpPr/>
            <p:nvPr/>
          </p:nvSpPr>
          <p:spPr>
            <a:xfrm>
              <a:off x="6210300" y="1600200"/>
              <a:ext cx="25146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5" name="node14"/>
          <p:cNvGrpSpPr/>
          <p:nvPr/>
        </p:nvGrpSpPr>
        <p:grpSpPr>
          <a:xfrm>
            <a:off x="6438900" y="1828800"/>
            <a:ext cx="2057400" cy="152400"/>
            <a:chOff x="6438900" y="1828800"/>
            <a:chExt cx="2057400" cy="152400"/>
          </a:xfrm>
        </p:grpSpPr>
        <p:sp>
          <p:nvSpPr>
            <p:cNvPr id="41" name="node14.text"/>
            <p:cNvSpPr/>
            <p:nvPr/>
          </p:nvSpPr>
          <p:spPr>
            <a:xfrm>
              <a:off x="6438900" y="18288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TABLE 3 · ESTIMATES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6" name="node15"/>
          <p:cNvGrpSpPr/>
          <p:nvPr/>
        </p:nvGrpSpPr>
        <p:grpSpPr>
          <a:xfrm>
            <a:off x="6210300" y="2514600"/>
            <a:ext cx="2514600" cy="1447800"/>
            <a:chOff x="6210300" y="2514600"/>
            <a:chExt cx="2514600" cy="1447800"/>
          </a:xfrm>
        </p:grpSpPr>
        <p:sp>
          <p:nvSpPr>
            <p:cNvPr id="42" name="node15.source-001.bullet"/>
            <p:cNvSpPr/>
            <p:nvPr/>
          </p:nvSpPr>
          <p:spPr>
            <a:xfrm>
              <a:off x="62103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15.source-001.text"/>
            <p:cNvSpPr/>
            <p:nvPr/>
          </p:nvSpPr>
          <p:spPr>
            <a:xfrm>
              <a:off x="6362700" y="25146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Prompt: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Give a price a patient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5.source-002.bullet"/>
            <p:cNvSpPr/>
            <p:nvPr/>
          </p:nvSpPr>
          <p:spPr>
            <a:xfrm>
              <a:off x="62103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15.source-002.text"/>
            <p:cNvSpPr/>
            <p:nvPr/>
          </p:nvSpPr>
          <p:spPr>
            <a:xfrm>
              <a:off x="6362700" y="30099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Materials: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Canvas, price list sample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15.source-003.bullet"/>
            <p:cNvSpPr/>
            <p:nvPr/>
          </p:nvSpPr>
          <p:spPr>
            <a:xfrm>
              <a:off x="6210300" y="3594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15.source-003.text"/>
            <p:cNvSpPr/>
            <p:nvPr/>
          </p:nvSpPr>
          <p:spPr>
            <a:xfrm>
              <a:off x="6362700" y="35052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Time: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20 min · 2-minute report-back: services quoted first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16"/>
          <p:cNvGrpSpPr/>
          <p:nvPr/>
        </p:nvGrpSpPr>
        <p:grpSpPr>
          <a:xfrm>
            <a:off x="6210300" y="4343400"/>
            <a:ext cx="2514600" cy="228600"/>
            <a:chOff x="6210300" y="4343400"/>
            <a:chExt cx="2514600" cy="228600"/>
          </a:xfrm>
        </p:grpSpPr>
        <p:sp>
          <p:nvSpPr>
            <p:cNvPr id="48" name="node16.label"/>
            <p:cNvSpPr/>
            <p:nvPr/>
          </p:nvSpPr>
          <p:spPr>
            <a:xfrm>
              <a:off x="6210300" y="4343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ASK THIS TABLE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9" name="node16.rule"/>
            <p:cNvSpPr/>
            <p:nvPr/>
          </p:nvSpPr>
          <p:spPr>
            <a:xfrm>
              <a:off x="7414394" y="4452938"/>
              <a:ext cx="13105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0" name="node17"/>
          <p:cNvSpPr/>
          <p:nvPr/>
        </p:nvSpPr>
        <p:spPr>
          <a:xfrm>
            <a:off x="6210300" y="45720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8" name="node18"/>
          <p:cNvGrpSpPr/>
          <p:nvPr/>
        </p:nvGrpSpPr>
        <p:grpSpPr>
          <a:xfrm>
            <a:off x="6210300" y="4800600"/>
            <a:ext cx="2514600" cy="990600"/>
            <a:chOff x="6210300" y="4800600"/>
            <a:chExt cx="2514600" cy="990600"/>
          </a:xfrm>
        </p:grpSpPr>
        <p:sp>
          <p:nvSpPr>
            <p:cNvPr id="51" name="node18.source-001.bullet"/>
            <p:cNvSpPr/>
            <p:nvPr/>
          </p:nvSpPr>
          <p:spPr>
            <a:xfrm>
              <a:off x="62103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18.source-001.text"/>
            <p:cNvSpPr/>
            <p:nvPr/>
          </p:nvSpPr>
          <p:spPr>
            <a:xfrm>
              <a:off x="6362700" y="48006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ten services first?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18.source-002.bullet"/>
            <p:cNvSpPr/>
            <p:nvPr/>
          </p:nvSpPr>
          <p:spPr>
            <a:xfrm>
              <a:off x="62103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18.source-002.text"/>
            <p:cNvSpPr/>
            <p:nvPr/>
          </p:nvSpPr>
          <p:spPr>
            <a:xfrm>
              <a:off x="6362700" y="50673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What data is missing today?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18.source-003.bullet"/>
            <p:cNvSpPr/>
            <p:nvPr/>
          </p:nvSpPr>
          <p:spPr>
            <a:xfrm>
              <a:off x="6210300" y="542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18.source-003.text"/>
            <p:cNvSpPr/>
            <p:nvPr/>
          </p:nvSpPr>
          <p:spPr>
            <a:xfrm>
              <a:off x="6362700" y="53340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What happens when the price is high?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9" name="node19"/>
          <p:cNvGrpSpPr/>
          <p:nvPr/>
        </p:nvGrpSpPr>
        <p:grpSpPr>
          <a:xfrm>
            <a:off x="8953500" y="1600200"/>
            <a:ext cx="2514600" cy="685800"/>
            <a:chOff x="8953500" y="1600200"/>
            <a:chExt cx="2514600" cy="685800"/>
          </a:xfrm>
        </p:grpSpPr>
        <p:sp>
          <p:nvSpPr>
            <p:cNvPr id="57" name="node19.surface"/>
            <p:cNvSpPr/>
            <p:nvPr/>
          </p:nvSpPr>
          <p:spPr>
            <a:xfrm>
              <a:off x="8953500" y="1600200"/>
              <a:ext cx="25146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0" name="node20"/>
          <p:cNvGrpSpPr/>
          <p:nvPr/>
        </p:nvGrpSpPr>
        <p:grpSpPr>
          <a:xfrm>
            <a:off x="9182100" y="1828800"/>
            <a:ext cx="2057400" cy="152400"/>
            <a:chOff x="9182100" y="1828800"/>
            <a:chExt cx="2057400" cy="152400"/>
          </a:xfrm>
        </p:grpSpPr>
        <p:sp>
          <p:nvSpPr>
            <p:cNvPr id="58" name="node20.text"/>
            <p:cNvSpPr/>
            <p:nvPr/>
          </p:nvSpPr>
          <p:spPr>
            <a:xfrm>
              <a:off x="9182100" y="18288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TABLE 4 · DENIALS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1" name="node21"/>
          <p:cNvGrpSpPr/>
          <p:nvPr/>
        </p:nvGrpSpPr>
        <p:grpSpPr>
          <a:xfrm>
            <a:off x="8953500" y="2514600"/>
            <a:ext cx="2514600" cy="1447800"/>
            <a:chOff x="8953500" y="2514600"/>
            <a:chExt cx="2514600" cy="1447800"/>
          </a:xfrm>
        </p:grpSpPr>
        <p:sp>
          <p:nvSpPr>
            <p:cNvPr id="59" name="node21.source-001.bullet"/>
            <p:cNvSpPr/>
            <p:nvPr/>
          </p:nvSpPr>
          <p:spPr>
            <a:xfrm>
              <a:off x="89535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0" name="node21.source-001.text"/>
            <p:cNvSpPr/>
            <p:nvPr/>
          </p:nvSpPr>
          <p:spPr>
            <a:xfrm>
              <a:off x="9105900" y="25146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Prompt: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Stop front-end causes of denial before the claim is sent.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21.source-002.bullet"/>
            <p:cNvSpPr/>
            <p:nvPr/>
          </p:nvSpPr>
          <p:spPr>
            <a:xfrm>
              <a:off x="89535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21.source-002.text"/>
            <p:cNvSpPr/>
            <p:nvPr/>
          </p:nvSpPr>
          <p:spPr>
            <a:xfrm>
              <a:off x="9105900" y="30099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Materials: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Canvas, top denial codes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21.source-003.bullet"/>
            <p:cNvSpPr/>
            <p:nvPr/>
          </p:nvSpPr>
          <p:spPr>
            <a:xfrm>
              <a:off x="8953500" y="3594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21.source-003.text"/>
            <p:cNvSpPr/>
            <p:nvPr/>
          </p:nvSpPr>
          <p:spPr>
            <a:xfrm>
              <a:off x="9105900" y="3505200"/>
              <a:ext cx="2362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Time: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20 min · 2-minute report-back: top three causes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2" name="node22"/>
          <p:cNvGrpSpPr/>
          <p:nvPr/>
        </p:nvGrpSpPr>
        <p:grpSpPr>
          <a:xfrm>
            <a:off x="8953500" y="4343400"/>
            <a:ext cx="2514600" cy="228600"/>
            <a:chOff x="8953500" y="4343400"/>
            <a:chExt cx="2514600" cy="228600"/>
          </a:xfrm>
        </p:grpSpPr>
        <p:sp>
          <p:nvSpPr>
            <p:cNvPr id="65" name="node22.label"/>
            <p:cNvSpPr/>
            <p:nvPr/>
          </p:nvSpPr>
          <p:spPr>
            <a:xfrm>
              <a:off x="8953500" y="4343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ASK THIS TABLE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6" name="node22.rule"/>
            <p:cNvSpPr/>
            <p:nvPr/>
          </p:nvSpPr>
          <p:spPr>
            <a:xfrm>
              <a:off x="10157594" y="4452938"/>
              <a:ext cx="13105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7" name="node23"/>
          <p:cNvSpPr/>
          <p:nvPr/>
        </p:nvSpPr>
        <p:spPr>
          <a:xfrm>
            <a:off x="8953500" y="45720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3" name="node24"/>
          <p:cNvGrpSpPr/>
          <p:nvPr/>
        </p:nvGrpSpPr>
        <p:grpSpPr>
          <a:xfrm>
            <a:off x="8953500" y="4800600"/>
            <a:ext cx="2514600" cy="762000"/>
            <a:chOff x="8953500" y="4800600"/>
            <a:chExt cx="2514600" cy="762000"/>
          </a:xfrm>
        </p:grpSpPr>
        <p:sp>
          <p:nvSpPr>
            <p:cNvPr id="68" name="node24.source-001.bullet"/>
            <p:cNvSpPr/>
            <p:nvPr/>
          </p:nvSpPr>
          <p:spPr>
            <a:xfrm>
              <a:off x="89535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24.source-001.text"/>
            <p:cNvSpPr/>
            <p:nvPr/>
          </p:nvSpPr>
          <p:spPr>
            <a:xfrm>
              <a:off x="9105900" y="48006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codes recur weekly?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24.source-002.bullet"/>
            <p:cNvSpPr/>
            <p:nvPr/>
          </p:nvSpPr>
          <p:spPr>
            <a:xfrm>
              <a:off x="89535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24.source-002.text"/>
            <p:cNvSpPr/>
            <p:nvPr/>
          </p:nvSpPr>
          <p:spPr>
            <a:xfrm>
              <a:off x="9105900" y="50673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start at the front desk?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24.source-003.bullet"/>
            <p:cNvSpPr/>
            <p:nvPr/>
          </p:nvSpPr>
          <p:spPr>
            <a:xfrm>
              <a:off x="8953500" y="542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24.source-003.text"/>
            <p:cNvSpPr/>
            <p:nvPr/>
          </p:nvSpPr>
          <p:spPr>
            <a:xfrm>
              <a:off x="9105900" y="5334000"/>
              <a:ext cx="2362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How fast does feedback return?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2026-10-06T12:09:15Z</dcterms:created>
  <dcterms:modified xsi:type="dcterms:W3CDTF">2026-10-06T12:09:15Z</dcterms:modified>
</cp:coreProperties>
</file>