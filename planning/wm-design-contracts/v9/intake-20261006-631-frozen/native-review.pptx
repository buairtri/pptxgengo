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53c346042c23db17db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d6f1a8810e384dd54f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a0999517128e333220e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8677fb235580748422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581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581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581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581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581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581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581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581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581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581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7810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7810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7810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7810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7810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7810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7810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7810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7810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7810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8039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8039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8039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8039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8039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8267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8267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8267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8267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8267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8496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8496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8496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8496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8496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8724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8724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8724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8724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8724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8953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8953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8953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8953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8953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9182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9182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9182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9182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9182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9410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9410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9410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9410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9410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9639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9639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9639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9639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9639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9867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9867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9867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9867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10096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10096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80391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Two days to design how patients get access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4" name="node01"/>
          <p:cNvGrpSpPr/>
          <p:nvPr/>
        </p:nvGrpSpPr>
        <p:grpSpPr>
          <a:xfrm>
            <a:off x="723900" y="1600200"/>
            <a:ext cx="10744200" cy="228600"/>
            <a:chOff x="723900" y="1600200"/>
            <a:chExt cx="10744200" cy="228600"/>
          </a:xfrm>
        </p:grpSpPr>
        <p:sp>
          <p:nvSpPr>
            <p:cNvPr id="6" name="node01.label"/>
            <p:cNvSpPr/>
            <p:nvPr/>
          </p:nvSpPr>
          <p:spPr>
            <a:xfrm>
              <a:off x="723900" y="1600200"/>
              <a:ext cx="92685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OVERALL GOAL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" name="node01.rule"/>
            <p:cNvSpPr/>
            <p:nvPr/>
          </p:nvSpPr>
          <p:spPr>
            <a:xfrm>
              <a:off x="1777752" y="1709738"/>
              <a:ext cx="969034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8" name="node02"/>
          <p:cNvSpPr/>
          <p:nvPr/>
        </p:nvSpPr>
        <p:spPr>
          <a:xfrm>
            <a:off x="723900" y="1828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5" name="node03"/>
          <p:cNvGrpSpPr/>
          <p:nvPr/>
        </p:nvGrpSpPr>
        <p:grpSpPr>
          <a:xfrm>
            <a:off x="723900" y="1905000"/>
            <a:ext cx="10744200" cy="266700"/>
            <a:chOff x="723900" y="1905000"/>
            <a:chExt cx="10744200" cy="266700"/>
          </a:xfrm>
        </p:grpSpPr>
        <p:sp>
          <p:nvSpPr>
            <p:cNvPr id="9" name="node03.text"/>
            <p:cNvSpPr/>
            <p:nvPr/>
          </p:nvSpPr>
          <p:spPr>
            <a:xfrm>
              <a:off x="723900" y="1905000"/>
              <a:ext cx="1074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Agree, test and commit to one future-state design for how patients schedule, register, get estimates and avoid denials.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6" name="node04"/>
          <p:cNvGrpSpPr/>
          <p:nvPr/>
        </p:nvGrpSpPr>
        <p:grpSpPr>
          <a:xfrm>
            <a:off x="723900" y="2514600"/>
            <a:ext cx="5257800" cy="609600"/>
            <a:chOff x="723900" y="2514600"/>
            <a:chExt cx="5257800" cy="609600"/>
          </a:xfrm>
        </p:grpSpPr>
        <p:sp>
          <p:nvSpPr>
            <p:cNvPr id="10" name="node04.rule"/>
            <p:cNvSpPr/>
            <p:nvPr/>
          </p:nvSpPr>
          <p:spPr>
            <a:xfrm>
              <a:off x="723900" y="2514600"/>
              <a:ext cx="52578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4.label"/>
            <p:cNvSpPr/>
            <p:nvPr/>
          </p:nvSpPr>
          <p:spPr>
            <a:xfrm>
              <a:off x="723900" y="2667000"/>
              <a:ext cx="5257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DAY 1 · TUE NOV 4 · 9:00 TO 17:00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2" name="node04.title"/>
            <p:cNvSpPr/>
            <p:nvPr/>
          </p:nvSpPr>
          <p:spPr>
            <a:xfrm>
              <a:off x="723900" y="2819400"/>
              <a:ext cx="5257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Discover the current state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7" name="node05"/>
          <p:cNvGrpSpPr/>
          <p:nvPr/>
        </p:nvGrpSpPr>
        <p:grpSpPr>
          <a:xfrm>
            <a:off x="723900" y="3200400"/>
            <a:ext cx="5257800" cy="1524000"/>
            <a:chOff x="723900" y="3200400"/>
            <a:chExt cx="5257800" cy="1524000"/>
          </a:xfrm>
        </p:grpSpPr>
        <p:sp>
          <p:nvSpPr>
            <p:cNvPr id="13" name="node05.source-001.key"/>
            <p:cNvSpPr/>
            <p:nvPr/>
          </p:nvSpPr>
          <p:spPr>
            <a:xfrm>
              <a:off x="723900" y="32004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5.source-001.text"/>
            <p:cNvSpPr/>
            <p:nvPr/>
          </p:nvSpPr>
          <p:spPr>
            <a:xfrm>
              <a:off x="1714500" y="3204591"/>
              <a:ext cx="426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Welcome, goals and ground rules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5" name="node05.source-002.key"/>
            <p:cNvSpPr/>
            <p:nvPr/>
          </p:nvSpPr>
          <p:spPr>
            <a:xfrm>
              <a:off x="723900" y="35052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" name="node05.source-002.text"/>
            <p:cNvSpPr/>
            <p:nvPr/>
          </p:nvSpPr>
          <p:spPr>
            <a:xfrm>
              <a:off x="1714500" y="3509391"/>
              <a:ext cx="426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Current-state walk-through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7" name="node05.source-003.key"/>
            <p:cNvSpPr/>
            <p:nvPr/>
          </p:nvSpPr>
          <p:spPr>
            <a:xfrm>
              <a:off x="723900" y="38100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11:15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8" name="node05.source-003.text"/>
            <p:cNvSpPr/>
            <p:nvPr/>
          </p:nvSpPr>
          <p:spPr>
            <a:xfrm>
              <a:off x="1714500" y="3814191"/>
              <a:ext cx="426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Patient journey mapping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9" name="node05.source-004.key"/>
            <p:cNvSpPr/>
            <p:nvPr/>
          </p:nvSpPr>
          <p:spPr>
            <a:xfrm>
              <a:off x="723900" y="41148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13:00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5.source-004.text"/>
            <p:cNvSpPr/>
            <p:nvPr/>
          </p:nvSpPr>
          <p:spPr>
            <a:xfrm>
              <a:off x="1714500" y="4118991"/>
              <a:ext cx="426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Pain points and root causes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1" name="node05.source-005.key"/>
            <p:cNvSpPr/>
            <p:nvPr/>
          </p:nvSpPr>
          <p:spPr>
            <a:xfrm>
              <a:off x="723900" y="44196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16:30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2" name="node05.source-005.text"/>
            <p:cNvSpPr/>
            <p:nvPr/>
          </p:nvSpPr>
          <p:spPr>
            <a:xfrm>
              <a:off x="1714500" y="4423791"/>
              <a:ext cx="426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Day 1 playback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8" name="node06"/>
          <p:cNvGrpSpPr/>
          <p:nvPr/>
        </p:nvGrpSpPr>
        <p:grpSpPr>
          <a:xfrm>
            <a:off x="723900" y="4876800"/>
            <a:ext cx="5257800" cy="228600"/>
            <a:chOff x="723900" y="4876800"/>
            <a:chExt cx="5257800" cy="228600"/>
          </a:xfrm>
        </p:grpSpPr>
        <p:sp>
          <p:nvSpPr>
            <p:cNvPr id="23" name="node06.label"/>
            <p:cNvSpPr/>
            <p:nvPr/>
          </p:nvSpPr>
          <p:spPr>
            <a:xfrm>
              <a:off x="723900" y="4876800"/>
              <a:ext cx="15278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OUTPUT BY END OF DAY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4" name="node06.rule"/>
            <p:cNvSpPr/>
            <p:nvPr/>
          </p:nvSpPr>
          <p:spPr>
            <a:xfrm>
              <a:off x="2378720" y="4986338"/>
              <a:ext cx="3602980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5" name="node07"/>
          <p:cNvSpPr/>
          <p:nvPr/>
        </p:nvSpPr>
        <p:spPr>
          <a:xfrm>
            <a:off x="723900" y="51054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9" name="node08"/>
          <p:cNvGrpSpPr/>
          <p:nvPr/>
        </p:nvGrpSpPr>
        <p:grpSpPr>
          <a:xfrm>
            <a:off x="723900" y="5181600"/>
            <a:ext cx="5257800" cy="457200"/>
            <a:chOff x="723900" y="5181600"/>
            <a:chExt cx="5257800" cy="457200"/>
          </a:xfrm>
        </p:grpSpPr>
        <p:sp>
          <p:nvSpPr>
            <p:cNvPr id="26" name="node08.text"/>
            <p:cNvSpPr/>
            <p:nvPr/>
          </p:nvSpPr>
          <p:spPr>
            <a:xfrm>
              <a:off x="723900" y="5181600"/>
              <a:ext cx="5257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 validated current-state map and the top ten pain points, ranked by the room.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0" name="node09"/>
          <p:cNvGrpSpPr/>
          <p:nvPr/>
        </p:nvGrpSpPr>
        <p:grpSpPr>
          <a:xfrm>
            <a:off x="6210300" y="2514600"/>
            <a:ext cx="5257800" cy="609600"/>
            <a:chOff x="6210300" y="2514600"/>
            <a:chExt cx="5257800" cy="609600"/>
          </a:xfrm>
        </p:grpSpPr>
        <p:sp>
          <p:nvSpPr>
            <p:cNvPr id="27" name="node09.rule"/>
            <p:cNvSpPr/>
            <p:nvPr/>
          </p:nvSpPr>
          <p:spPr>
            <a:xfrm>
              <a:off x="6210300" y="2514600"/>
              <a:ext cx="52578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9.label"/>
            <p:cNvSpPr/>
            <p:nvPr/>
          </p:nvSpPr>
          <p:spPr>
            <a:xfrm>
              <a:off x="6210300" y="2667000"/>
              <a:ext cx="5257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DAY 2 · WED NOV 5 · 9:00 TO 16:30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9" name="node09.title"/>
            <p:cNvSpPr/>
            <p:nvPr/>
          </p:nvSpPr>
          <p:spPr>
            <a:xfrm>
              <a:off x="6210300" y="2819400"/>
              <a:ext cx="5257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the future state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1" name="node10"/>
          <p:cNvGrpSpPr/>
          <p:nvPr/>
        </p:nvGrpSpPr>
        <p:grpSpPr>
          <a:xfrm>
            <a:off x="6210300" y="3200400"/>
            <a:ext cx="5257800" cy="1524000"/>
            <a:chOff x="6210300" y="3200400"/>
            <a:chExt cx="5257800" cy="1524000"/>
          </a:xfrm>
        </p:grpSpPr>
        <p:sp>
          <p:nvSpPr>
            <p:cNvPr id="30" name="node10.source-001.key"/>
            <p:cNvSpPr/>
            <p:nvPr/>
          </p:nvSpPr>
          <p:spPr>
            <a:xfrm>
              <a:off x="6210300" y="32004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10.source-001.text"/>
            <p:cNvSpPr/>
            <p:nvPr/>
          </p:nvSpPr>
          <p:spPr>
            <a:xfrm>
              <a:off x="7200900" y="3204591"/>
              <a:ext cx="426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Recap and design principles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2" name="node10.source-002.key"/>
            <p:cNvSpPr/>
            <p:nvPr/>
          </p:nvSpPr>
          <p:spPr>
            <a:xfrm>
              <a:off x="6210300" y="35052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3" name="node10.source-002.text"/>
            <p:cNvSpPr/>
            <p:nvPr/>
          </p:nvSpPr>
          <p:spPr>
            <a:xfrm>
              <a:off x="7200900" y="3509391"/>
              <a:ext cx="426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Future-state design by area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4" name="node10.source-003.key"/>
            <p:cNvSpPr/>
            <p:nvPr/>
          </p:nvSpPr>
          <p:spPr>
            <a:xfrm>
              <a:off x="6210300" y="38100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13:00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5" name="node10.source-003.text"/>
            <p:cNvSpPr/>
            <p:nvPr/>
          </p:nvSpPr>
          <p:spPr>
            <a:xfrm>
              <a:off x="7200900" y="3814191"/>
              <a:ext cx="426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Cross-area hand-offs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6" name="node10.source-004.key"/>
            <p:cNvSpPr/>
            <p:nvPr/>
          </p:nvSpPr>
          <p:spPr>
            <a:xfrm>
              <a:off x="6210300" y="41148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14:45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7" name="node10.source-004.text"/>
            <p:cNvSpPr/>
            <p:nvPr/>
          </p:nvSpPr>
          <p:spPr>
            <a:xfrm>
              <a:off x="7200900" y="4118991"/>
              <a:ext cx="426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Decisions and owners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8" name="node10.source-005.key"/>
            <p:cNvSpPr/>
            <p:nvPr/>
          </p:nvSpPr>
          <p:spPr>
            <a:xfrm>
              <a:off x="6210300" y="4419600"/>
              <a:ext cx="762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16:00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10.source-005.text"/>
            <p:cNvSpPr/>
            <p:nvPr/>
          </p:nvSpPr>
          <p:spPr>
            <a:xfrm>
              <a:off x="7200900" y="4423791"/>
              <a:ext cx="4267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Readout to sponsors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2" name="node11"/>
          <p:cNvGrpSpPr/>
          <p:nvPr/>
        </p:nvGrpSpPr>
        <p:grpSpPr>
          <a:xfrm>
            <a:off x="6210300" y="4876800"/>
            <a:ext cx="5257800" cy="228600"/>
            <a:chOff x="6210300" y="4876800"/>
            <a:chExt cx="5257800" cy="228600"/>
          </a:xfrm>
        </p:grpSpPr>
        <p:sp>
          <p:nvSpPr>
            <p:cNvPr id="40" name="node11.label"/>
            <p:cNvSpPr/>
            <p:nvPr/>
          </p:nvSpPr>
          <p:spPr>
            <a:xfrm>
              <a:off x="6210300" y="4876800"/>
              <a:ext cx="15278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OUTPUT BY END OF DAY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1" name="node11.rule"/>
            <p:cNvSpPr/>
            <p:nvPr/>
          </p:nvSpPr>
          <p:spPr>
            <a:xfrm>
              <a:off x="7865120" y="4986338"/>
              <a:ext cx="3602980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42" name="node12"/>
          <p:cNvSpPr/>
          <p:nvPr/>
        </p:nvSpPr>
        <p:spPr>
          <a:xfrm>
            <a:off x="6210300" y="51054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3" name="node13"/>
          <p:cNvGrpSpPr/>
          <p:nvPr/>
        </p:nvGrpSpPr>
        <p:grpSpPr>
          <a:xfrm>
            <a:off x="6210300" y="5181600"/>
            <a:ext cx="5257800" cy="457200"/>
            <a:chOff x="6210300" y="5181600"/>
            <a:chExt cx="5257800" cy="457200"/>
          </a:xfrm>
        </p:grpSpPr>
        <p:sp>
          <p:nvSpPr>
            <p:cNvPr id="43" name="node13.text"/>
            <p:cNvSpPr/>
            <p:nvPr/>
          </p:nvSpPr>
          <p:spPr>
            <a:xfrm>
              <a:off x="6210300" y="5181600"/>
              <a:ext cx="5257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 future-state design for each of the four areas, with a named owner and a decisions log.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Discover, design and decide in three days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5" name="node01"/>
          <p:cNvGrpSpPr/>
          <p:nvPr/>
        </p:nvGrpSpPr>
        <p:grpSpPr>
          <a:xfrm>
            <a:off x="723900" y="1600200"/>
            <a:ext cx="10744200" cy="228600"/>
            <a:chOff x="723900" y="1600200"/>
            <a:chExt cx="10744200" cy="228600"/>
          </a:xfrm>
        </p:grpSpPr>
        <p:sp>
          <p:nvSpPr>
            <p:cNvPr id="6" name="node01.label"/>
            <p:cNvSpPr/>
            <p:nvPr/>
          </p:nvSpPr>
          <p:spPr>
            <a:xfrm>
              <a:off x="723900" y="1600200"/>
              <a:ext cx="92685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OVERALL GOAL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" name="node01.rule"/>
            <p:cNvSpPr/>
            <p:nvPr/>
          </p:nvSpPr>
          <p:spPr>
            <a:xfrm>
              <a:off x="1777752" y="1709738"/>
              <a:ext cx="969034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8" name="node02"/>
          <p:cNvSpPr/>
          <p:nvPr/>
        </p:nvSpPr>
        <p:spPr>
          <a:xfrm>
            <a:off x="723900" y="1828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6" name="node03"/>
          <p:cNvGrpSpPr/>
          <p:nvPr/>
        </p:nvGrpSpPr>
        <p:grpSpPr>
          <a:xfrm>
            <a:off x="723900" y="1905000"/>
            <a:ext cx="10744200" cy="266700"/>
            <a:chOff x="723900" y="1905000"/>
            <a:chExt cx="10744200" cy="266700"/>
          </a:xfrm>
        </p:grpSpPr>
        <p:sp>
          <p:nvSpPr>
            <p:cNvPr id="9" name="node03.text"/>
            <p:cNvSpPr/>
            <p:nvPr/>
          </p:nvSpPr>
          <p:spPr>
            <a:xfrm>
              <a:off x="723900" y="1905000"/>
              <a:ext cx="1074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Agree, test and commit to one future-state design for how patients schedule, register, get estimates and avoid denials.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7" name="node04"/>
          <p:cNvGrpSpPr/>
          <p:nvPr/>
        </p:nvGrpSpPr>
        <p:grpSpPr>
          <a:xfrm>
            <a:off x="723900" y="2286000"/>
            <a:ext cx="3429000" cy="2743200"/>
            <a:chOff x="723900" y="2286000"/>
            <a:chExt cx="3429000" cy="2743200"/>
          </a:xfrm>
        </p:grpSpPr>
        <p:sp>
          <p:nvSpPr>
            <p:cNvPr id="10" name="node04.container"/>
            <p:cNvSpPr/>
            <p:nvPr/>
          </p:nvSpPr>
          <p:spPr>
            <a:xfrm>
              <a:off x="723900" y="2286000"/>
              <a:ext cx="3429000" cy="274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1" name="node04.label"/>
            <p:cNvSpPr/>
            <p:nvPr/>
          </p:nvSpPr>
          <p:spPr>
            <a:xfrm>
              <a:off x="952500" y="25146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DAY 1 · TUE NOV 4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2" name="node04.title"/>
            <p:cNvSpPr/>
            <p:nvPr/>
          </p:nvSpPr>
          <p:spPr>
            <a:xfrm>
              <a:off x="952500" y="27051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Discover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3" name="node04.body.item-001.bullets.item-001.marker"/>
            <p:cNvSpPr/>
            <p:nvPr/>
          </p:nvSpPr>
          <p:spPr>
            <a:xfrm>
              <a:off x="952500" y="3213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4.body.item-001.bullets.item-001.text"/>
            <p:cNvSpPr/>
            <p:nvPr/>
          </p:nvSpPr>
          <p:spPr>
            <a:xfrm>
              <a:off x="1104900" y="31242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9:00 Welcome and goals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" name="node04.body.item-001.bullets.item-002.marker"/>
            <p:cNvSpPr/>
            <p:nvPr/>
          </p:nvSpPr>
          <p:spPr>
            <a:xfrm>
              <a:off x="952500" y="3479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" name="node04.body.item-001.bullets.item-002.text"/>
            <p:cNvSpPr/>
            <p:nvPr/>
          </p:nvSpPr>
          <p:spPr>
            <a:xfrm>
              <a:off x="1104900" y="33909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10:00 Current-state walk-through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4.body.item-001.bullets.item-003.marker"/>
            <p:cNvSpPr/>
            <p:nvPr/>
          </p:nvSpPr>
          <p:spPr>
            <a:xfrm>
              <a:off x="952500" y="374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4.body.item-001.bullets.item-003.text"/>
            <p:cNvSpPr/>
            <p:nvPr/>
          </p:nvSpPr>
          <p:spPr>
            <a:xfrm>
              <a:off x="1104900" y="36576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13:00 Journey mapping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" name="node04.body.item-001.bullets.item-004.marker"/>
            <p:cNvSpPr/>
            <p:nvPr/>
          </p:nvSpPr>
          <p:spPr>
            <a:xfrm>
              <a:off x="952500" y="4013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" name="node04.body.item-001.bullets.item-004.text"/>
            <p:cNvSpPr/>
            <p:nvPr/>
          </p:nvSpPr>
          <p:spPr>
            <a:xfrm>
              <a:off x="1104900" y="39243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15:00 Root-cause tables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1" name="node04.body.item-002.paragraph"/>
            <p:cNvSpPr/>
            <p:nvPr/>
          </p:nvSpPr>
          <p:spPr>
            <a:xfrm>
              <a:off x="952500" y="41910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Output: validated current state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8" name="node05"/>
          <p:cNvGrpSpPr/>
          <p:nvPr/>
        </p:nvGrpSpPr>
        <p:grpSpPr>
          <a:xfrm>
            <a:off x="4381500" y="2286000"/>
            <a:ext cx="3429000" cy="2743200"/>
            <a:chOff x="4381500" y="2286000"/>
            <a:chExt cx="3429000" cy="2743200"/>
          </a:xfrm>
        </p:grpSpPr>
        <p:sp>
          <p:nvSpPr>
            <p:cNvPr id="22" name="node05.container"/>
            <p:cNvSpPr/>
            <p:nvPr/>
          </p:nvSpPr>
          <p:spPr>
            <a:xfrm>
              <a:off x="4381500" y="2286000"/>
              <a:ext cx="3429000" cy="274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3" name="node05.label"/>
            <p:cNvSpPr/>
            <p:nvPr/>
          </p:nvSpPr>
          <p:spPr>
            <a:xfrm>
              <a:off x="4610100" y="25146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DAY 2 · WED NOV 5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4" name="node05.title"/>
            <p:cNvSpPr/>
            <p:nvPr/>
          </p:nvSpPr>
          <p:spPr>
            <a:xfrm>
              <a:off x="4610100" y="27051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5" name="node05.body.item-001.bullets.item-001.marker"/>
            <p:cNvSpPr/>
            <p:nvPr/>
          </p:nvSpPr>
          <p:spPr>
            <a:xfrm>
              <a:off x="4610100" y="3213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5.body.item-001.bullets.item-001.text"/>
            <p:cNvSpPr/>
            <p:nvPr/>
          </p:nvSpPr>
          <p:spPr>
            <a:xfrm>
              <a:off x="4762500" y="31242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9:00 Design principles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5.body.item-001.bullets.item-002.marker"/>
            <p:cNvSpPr/>
            <p:nvPr/>
          </p:nvSpPr>
          <p:spPr>
            <a:xfrm>
              <a:off x="4610100" y="3479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5.body.item-001.bullets.item-002.text"/>
            <p:cNvSpPr/>
            <p:nvPr/>
          </p:nvSpPr>
          <p:spPr>
            <a:xfrm>
              <a:off x="4762500" y="33909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9:45 Four design tables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5.body.item-001.bullets.item-003.marker"/>
            <p:cNvSpPr/>
            <p:nvPr/>
          </p:nvSpPr>
          <p:spPr>
            <a:xfrm>
              <a:off x="4610100" y="374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5.body.item-001.bullets.item-003.text"/>
            <p:cNvSpPr/>
            <p:nvPr/>
          </p:nvSpPr>
          <p:spPr>
            <a:xfrm>
              <a:off x="4762500" y="36576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13:00 Hand-offs across areas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05.body.item-001.bullets.item-004.marker"/>
            <p:cNvSpPr/>
            <p:nvPr/>
          </p:nvSpPr>
          <p:spPr>
            <a:xfrm>
              <a:off x="4610100" y="4013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05.body.item-001.bullets.item-004.text"/>
            <p:cNvSpPr/>
            <p:nvPr/>
          </p:nvSpPr>
          <p:spPr>
            <a:xfrm>
              <a:off x="4762500" y="39243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15:30 Scenario tests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3" name="node05.body.item-002.paragraph"/>
            <p:cNvSpPr/>
            <p:nvPr/>
          </p:nvSpPr>
          <p:spPr>
            <a:xfrm>
              <a:off x="4610100" y="41910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Output: draft future-state design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9" name="node06"/>
          <p:cNvGrpSpPr/>
          <p:nvPr/>
        </p:nvGrpSpPr>
        <p:grpSpPr>
          <a:xfrm>
            <a:off x="8039100" y="2286000"/>
            <a:ext cx="3429000" cy="2743200"/>
            <a:chOff x="8039100" y="2286000"/>
            <a:chExt cx="3429000" cy="2743200"/>
          </a:xfrm>
        </p:grpSpPr>
        <p:sp>
          <p:nvSpPr>
            <p:cNvPr id="34" name="node06.container"/>
            <p:cNvSpPr/>
            <p:nvPr/>
          </p:nvSpPr>
          <p:spPr>
            <a:xfrm>
              <a:off x="8039100" y="2286000"/>
              <a:ext cx="3429000" cy="2743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5" name="node06.label"/>
            <p:cNvSpPr/>
            <p:nvPr/>
          </p:nvSpPr>
          <p:spPr>
            <a:xfrm>
              <a:off x="8267700" y="25146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DAY 3 · THU NOV 6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6" name="node06.title"/>
            <p:cNvSpPr/>
            <p:nvPr/>
          </p:nvSpPr>
          <p:spPr>
            <a:xfrm>
              <a:off x="8267700" y="27051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Decide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7" name="node06.body.item-001.bullets.item-001.marker"/>
            <p:cNvSpPr/>
            <p:nvPr/>
          </p:nvSpPr>
          <p:spPr>
            <a:xfrm>
              <a:off x="8267700" y="3213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06.body.item-001.bullets.item-001.text"/>
            <p:cNvSpPr/>
            <p:nvPr/>
          </p:nvSpPr>
          <p:spPr>
            <a:xfrm>
              <a:off x="8420100" y="31242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9:00 Close the gaps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06.body.item-001.bullets.item-002.marker"/>
            <p:cNvSpPr/>
            <p:nvPr/>
          </p:nvSpPr>
          <p:spPr>
            <a:xfrm>
              <a:off x="8267700" y="3479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0" name="node06.body.item-001.bullets.item-002.text"/>
            <p:cNvSpPr/>
            <p:nvPr/>
          </p:nvSpPr>
          <p:spPr>
            <a:xfrm>
              <a:off x="8420100" y="33909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10:30 Score and rank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06.body.item-001.bullets.item-003.marker"/>
            <p:cNvSpPr/>
            <p:nvPr/>
          </p:nvSpPr>
          <p:spPr>
            <a:xfrm>
              <a:off x="8267700" y="374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2" name="node06.body.item-001.bullets.item-003.text"/>
            <p:cNvSpPr/>
            <p:nvPr/>
          </p:nvSpPr>
          <p:spPr>
            <a:xfrm>
              <a:off x="8420100" y="36576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13:00 Roadmap and owners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06.body.item-001.bullets.item-004.marker"/>
            <p:cNvSpPr/>
            <p:nvPr/>
          </p:nvSpPr>
          <p:spPr>
            <a:xfrm>
              <a:off x="8267700" y="4013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06.body.item-001.bullets.item-004.text"/>
            <p:cNvSpPr/>
            <p:nvPr/>
          </p:nvSpPr>
          <p:spPr>
            <a:xfrm>
              <a:off x="8420100" y="39243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14:00 Decisions readout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06.body.item-002.paragraph"/>
            <p:cNvSpPr/>
            <p:nvPr/>
          </p:nvSpPr>
          <p:spPr>
            <a:xfrm>
              <a:off x="8267700" y="41910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Output: ranked roadmap and decisions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0" name="node07"/>
          <p:cNvGrpSpPr/>
          <p:nvPr/>
        </p:nvGrpSpPr>
        <p:grpSpPr>
          <a:xfrm>
            <a:off x="723900" y="5257800"/>
            <a:ext cx="10744200" cy="228600"/>
            <a:chOff x="723900" y="5257800"/>
            <a:chExt cx="10744200" cy="228600"/>
          </a:xfrm>
        </p:grpSpPr>
        <p:sp>
          <p:nvSpPr>
            <p:cNvPr id="46" name="node07.label"/>
            <p:cNvSpPr/>
            <p:nvPr/>
          </p:nvSpPr>
          <p:spPr>
            <a:xfrm>
              <a:off x="723900" y="5257800"/>
              <a:ext cx="145269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BY THE END OF DAY 3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7" name="node07.rule"/>
            <p:cNvSpPr/>
            <p:nvPr/>
          </p:nvSpPr>
          <p:spPr>
            <a:xfrm>
              <a:off x="2303599" y="5367338"/>
              <a:ext cx="9164501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48" name="node08"/>
          <p:cNvSpPr/>
          <p:nvPr/>
        </p:nvSpPr>
        <p:spPr>
          <a:xfrm>
            <a:off x="723900" y="54864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1" name="node09"/>
          <p:cNvGrpSpPr/>
          <p:nvPr/>
        </p:nvGrpSpPr>
        <p:grpSpPr>
          <a:xfrm>
            <a:off x="723900" y="5562600"/>
            <a:ext cx="3429000" cy="228600"/>
            <a:chOff x="723900" y="5562600"/>
            <a:chExt cx="3429000" cy="228600"/>
          </a:xfrm>
        </p:grpSpPr>
        <p:sp>
          <p:nvSpPr>
            <p:cNvPr id="49" name="node09.source-001.bullet"/>
            <p:cNvSpPr/>
            <p:nvPr/>
          </p:nvSpPr>
          <p:spPr>
            <a:xfrm>
              <a:off x="723900" y="5651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09.source-001.text"/>
            <p:cNvSpPr/>
            <p:nvPr/>
          </p:nvSpPr>
          <p:spPr>
            <a:xfrm>
              <a:off x="876300" y="5562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agreed future-state design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2" name="node10"/>
          <p:cNvGrpSpPr/>
          <p:nvPr/>
        </p:nvGrpSpPr>
        <p:grpSpPr>
          <a:xfrm>
            <a:off x="4381500" y="5562600"/>
            <a:ext cx="3429000" cy="228600"/>
            <a:chOff x="4381500" y="5562600"/>
            <a:chExt cx="3429000" cy="228600"/>
          </a:xfrm>
        </p:grpSpPr>
        <p:sp>
          <p:nvSpPr>
            <p:cNvPr id="51" name="node10.source-001.bullet"/>
            <p:cNvSpPr/>
            <p:nvPr/>
          </p:nvSpPr>
          <p:spPr>
            <a:xfrm>
              <a:off x="4381500" y="5651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2" name="node10.source-001.text"/>
            <p:cNvSpPr/>
            <p:nvPr/>
          </p:nvSpPr>
          <p:spPr>
            <a:xfrm>
              <a:off x="4533900" y="5562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Owners and dates for each area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11"/>
          <p:cNvGrpSpPr/>
          <p:nvPr/>
        </p:nvGrpSpPr>
        <p:grpSpPr>
          <a:xfrm>
            <a:off x="8039100" y="5562600"/>
            <a:ext cx="3429000" cy="228600"/>
            <a:chOff x="8039100" y="5562600"/>
            <a:chExt cx="3429000" cy="228600"/>
          </a:xfrm>
        </p:grpSpPr>
        <p:sp>
          <p:nvSpPr>
            <p:cNvPr id="53" name="node11.source-001.bullet"/>
            <p:cNvSpPr/>
            <p:nvPr/>
          </p:nvSpPr>
          <p:spPr>
            <a:xfrm>
              <a:off x="8039100" y="5651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4" name="node11.source-001.text"/>
            <p:cNvSpPr/>
            <p:nvPr/>
          </p:nvSpPr>
          <p:spPr>
            <a:xfrm>
              <a:off x="8191500" y="5562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 ranked roadmap, signed off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Three days at a glance, from first session to final decision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1" name="node01"/>
          <p:cNvGrpSpPr/>
          <p:nvPr/>
        </p:nvGrpSpPr>
        <p:grpSpPr>
          <a:xfrm>
            <a:off x="723900" y="1600200"/>
            <a:ext cx="10744200" cy="228600"/>
            <a:chOff x="723900" y="1600200"/>
            <a:chExt cx="10744200" cy="228600"/>
          </a:xfrm>
        </p:grpSpPr>
        <p:sp>
          <p:nvSpPr>
            <p:cNvPr id="6" name="node01.label"/>
            <p:cNvSpPr/>
            <p:nvPr/>
          </p:nvSpPr>
          <p:spPr>
            <a:xfrm>
              <a:off x="723900" y="1600200"/>
              <a:ext cx="92685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OVERALL GOAL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" name="node01.rule"/>
            <p:cNvSpPr/>
            <p:nvPr/>
          </p:nvSpPr>
          <p:spPr>
            <a:xfrm>
              <a:off x="1777752" y="1709738"/>
              <a:ext cx="969034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8" name="node02"/>
          <p:cNvSpPr/>
          <p:nvPr/>
        </p:nvSpPr>
        <p:spPr>
          <a:xfrm>
            <a:off x="723900" y="1828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2" name="node03"/>
          <p:cNvGrpSpPr/>
          <p:nvPr/>
        </p:nvGrpSpPr>
        <p:grpSpPr>
          <a:xfrm>
            <a:off x="723900" y="1905000"/>
            <a:ext cx="10744200" cy="266700"/>
            <a:chOff x="723900" y="1905000"/>
            <a:chExt cx="10744200" cy="266700"/>
          </a:xfrm>
        </p:grpSpPr>
        <p:sp>
          <p:nvSpPr>
            <p:cNvPr id="9" name="node03.text"/>
            <p:cNvSpPr/>
            <p:nvPr/>
          </p:nvSpPr>
          <p:spPr>
            <a:xfrm>
              <a:off x="723900" y="1905000"/>
              <a:ext cx="1074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Agree, test and commit to one future-state design for how patients schedule, register, get estimates and avoid denials.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3" name="node04"/>
          <p:cNvGrpSpPr/>
          <p:nvPr/>
        </p:nvGrpSpPr>
        <p:grpSpPr>
          <a:xfrm>
            <a:off x="723900" y="2286000"/>
            <a:ext cx="10744200" cy="3657600"/>
            <a:chOff x="723900" y="2286000"/>
            <a:chExt cx="10744200" cy="3657600"/>
          </a:xfrm>
        </p:grpSpPr>
        <p:graphicFrame>
          <p:nvGraphicFramePr>
            <p:cNvPr id="10" name="node04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2286000"/>
            <a:ext cx="10744200" cy="3657600"/>
          </p:xfrm>
          <a:graphic>
            <a:graphicData uri="http://schemas.openxmlformats.org/drawingml/2006/table">
              <a:tbl>
                <a:tblPr/>
                <a:tblGrid>
                  <a:gridCol w="1600200"/>
                  <a:gridCol w="3048000"/>
                  <a:gridCol w="3048000"/>
                  <a:gridCol w="3048000"/>
                </a:tblGrid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TIME BAND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DAY 1 · DISCOVER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DAY 2 · DESIGN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DAY 3 · DECIDE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685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Morning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9:00 to 12:00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Welcome and goals. Current-state walk-through. Journey mapping.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Design principles. Four design tables, one per area.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Close the design gaps. Score and rank opportunities.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533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Midday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12:00 to 13:00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Working lunch, sponsors join.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Working lunch: tables swap notes.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Working lunch: draft the readout.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85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Afternoon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13:00 to 17:00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Data and pain-point review. Root-cause tables.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Cross-area hand-offs. Scenario walk-throughs with real cases.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Roadmap and owners. Sponsor readout, 14:00 to 15:00.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85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End of day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Playback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Playback to the room, 16:30 to 17:00.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Playback and open questions, 16:30 to 17:00.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Close and next steps, 15:00. Day ends early.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Output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What we keep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Validated current state and top pain points.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Draft future-state design for each area.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Ranked roadmap, named owners and signed-off decisions.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Three days from discovery to decisions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4" name="node01"/>
          <p:cNvGrpSpPr/>
          <p:nvPr/>
        </p:nvGrpSpPr>
        <p:grpSpPr>
          <a:xfrm>
            <a:off x="4381500" y="457200"/>
            <a:ext cx="7086600" cy="228600"/>
            <a:chOff x="4381500" y="457200"/>
            <a:chExt cx="7086600" cy="228600"/>
          </a:xfrm>
        </p:grpSpPr>
        <p:sp>
          <p:nvSpPr>
            <p:cNvPr id="6" name="node01.label"/>
            <p:cNvSpPr/>
            <p:nvPr/>
          </p:nvSpPr>
          <p:spPr>
            <a:xfrm>
              <a:off x="4381500" y="457200"/>
              <a:ext cx="333072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DAY 1 · DISCOVER · TUE NOV 4 · 9:00 TO 17:00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" name="node01.rule"/>
            <p:cNvSpPr/>
            <p:nvPr/>
          </p:nvSpPr>
          <p:spPr>
            <a:xfrm>
              <a:off x="7839224" y="566738"/>
              <a:ext cx="362887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8" name="node02"/>
          <p:cNvSpPr/>
          <p:nvPr/>
        </p:nvSpPr>
        <p:spPr>
          <a:xfrm>
            <a:off x="4381500" y="6858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5" name="node03"/>
          <p:cNvGrpSpPr/>
          <p:nvPr/>
        </p:nvGrpSpPr>
        <p:grpSpPr>
          <a:xfrm>
            <a:off x="4381500" y="762000"/>
            <a:ext cx="3429000" cy="914400"/>
            <a:chOff x="4381500" y="762000"/>
            <a:chExt cx="3429000" cy="914400"/>
          </a:xfrm>
        </p:grpSpPr>
        <p:sp>
          <p:nvSpPr>
            <p:cNvPr id="9" name="node03.source-001.key"/>
            <p:cNvSpPr/>
            <p:nvPr/>
          </p:nvSpPr>
          <p:spPr>
            <a:xfrm>
              <a:off x="4381500" y="7620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" name="node03.source-001.text"/>
            <p:cNvSpPr/>
            <p:nvPr/>
          </p:nvSpPr>
          <p:spPr>
            <a:xfrm>
              <a:off x="5219700" y="7661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Welcome and goals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1" name="node03.source-002.key"/>
            <p:cNvSpPr/>
            <p:nvPr/>
          </p:nvSpPr>
          <p:spPr>
            <a:xfrm>
              <a:off x="4381500" y="10668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3.source-002.text"/>
            <p:cNvSpPr/>
            <p:nvPr/>
          </p:nvSpPr>
          <p:spPr>
            <a:xfrm>
              <a:off x="5219700" y="10709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Current-state walk-through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3" name="node03.source-003.key"/>
            <p:cNvSpPr/>
            <p:nvPr/>
          </p:nvSpPr>
          <p:spPr>
            <a:xfrm>
              <a:off x="4381500" y="13716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11:15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3.source-003.text"/>
            <p:cNvSpPr/>
            <p:nvPr/>
          </p:nvSpPr>
          <p:spPr>
            <a:xfrm>
              <a:off x="5219700" y="13757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Journey mapping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6" name="node04"/>
          <p:cNvGrpSpPr/>
          <p:nvPr/>
        </p:nvGrpSpPr>
        <p:grpSpPr>
          <a:xfrm>
            <a:off x="8039100" y="762000"/>
            <a:ext cx="3429000" cy="914400"/>
            <a:chOff x="8039100" y="762000"/>
            <a:chExt cx="3429000" cy="914400"/>
          </a:xfrm>
        </p:grpSpPr>
        <p:sp>
          <p:nvSpPr>
            <p:cNvPr id="15" name="node04.source-001.key"/>
            <p:cNvSpPr/>
            <p:nvPr/>
          </p:nvSpPr>
          <p:spPr>
            <a:xfrm>
              <a:off x="8039100" y="7620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13:00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" name="node04.source-001.text"/>
            <p:cNvSpPr/>
            <p:nvPr/>
          </p:nvSpPr>
          <p:spPr>
            <a:xfrm>
              <a:off x="8877300" y="7661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Data review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7" name="node04.source-002.key"/>
            <p:cNvSpPr/>
            <p:nvPr/>
          </p:nvSpPr>
          <p:spPr>
            <a:xfrm>
              <a:off x="8039100" y="10668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15:00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8" name="node04.source-002.text"/>
            <p:cNvSpPr/>
            <p:nvPr/>
          </p:nvSpPr>
          <p:spPr>
            <a:xfrm>
              <a:off x="8877300" y="10709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Root-cause tables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9" name="node04.source-003.key"/>
            <p:cNvSpPr/>
            <p:nvPr/>
          </p:nvSpPr>
          <p:spPr>
            <a:xfrm>
              <a:off x="8039100" y="13716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16:30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4.source-003.text"/>
            <p:cNvSpPr/>
            <p:nvPr/>
          </p:nvSpPr>
          <p:spPr>
            <a:xfrm>
              <a:off x="8877300" y="13757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Playback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7" name="node05"/>
          <p:cNvGrpSpPr/>
          <p:nvPr/>
        </p:nvGrpSpPr>
        <p:grpSpPr>
          <a:xfrm>
            <a:off x="4381500" y="1752600"/>
            <a:ext cx="7086600" cy="228600"/>
            <a:chOff x="4381500" y="1752600"/>
            <a:chExt cx="7086600" cy="228600"/>
          </a:xfrm>
        </p:grpSpPr>
        <p:sp>
          <p:nvSpPr>
            <p:cNvPr id="21" name="node05.text"/>
            <p:cNvSpPr/>
            <p:nvPr/>
          </p:nvSpPr>
          <p:spPr>
            <a:xfrm>
              <a:off x="4381500" y="1752600"/>
              <a:ext cx="708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Output: validated current state, top pain points.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8" name="node06"/>
          <p:cNvGrpSpPr/>
          <p:nvPr/>
        </p:nvGrpSpPr>
        <p:grpSpPr>
          <a:xfrm>
            <a:off x="4381500" y="2286000"/>
            <a:ext cx="7086600" cy="228600"/>
            <a:chOff x="4381500" y="2286000"/>
            <a:chExt cx="7086600" cy="228600"/>
          </a:xfrm>
        </p:grpSpPr>
        <p:sp>
          <p:nvSpPr>
            <p:cNvPr id="22" name="node06.label"/>
            <p:cNvSpPr/>
            <p:nvPr/>
          </p:nvSpPr>
          <p:spPr>
            <a:xfrm>
              <a:off x="4381500" y="2286000"/>
              <a:ext cx="318048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DAY 2 · DESIGN · WED NOV 5 · 9:00 TO 17:00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3" name="node06.rule"/>
            <p:cNvSpPr/>
            <p:nvPr/>
          </p:nvSpPr>
          <p:spPr>
            <a:xfrm>
              <a:off x="7688982" y="2395538"/>
              <a:ext cx="377911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4" name="node07"/>
          <p:cNvSpPr/>
          <p:nvPr/>
        </p:nvSpPr>
        <p:spPr>
          <a:xfrm>
            <a:off x="4381500" y="25146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9" name="node08"/>
          <p:cNvGrpSpPr/>
          <p:nvPr/>
        </p:nvGrpSpPr>
        <p:grpSpPr>
          <a:xfrm>
            <a:off x="4381500" y="2590800"/>
            <a:ext cx="3429000" cy="914400"/>
            <a:chOff x="4381500" y="2590800"/>
            <a:chExt cx="3429000" cy="914400"/>
          </a:xfrm>
        </p:grpSpPr>
        <p:sp>
          <p:nvSpPr>
            <p:cNvPr id="25" name="node08.source-001.key"/>
            <p:cNvSpPr/>
            <p:nvPr/>
          </p:nvSpPr>
          <p:spPr>
            <a:xfrm>
              <a:off x="4381500" y="25908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8.source-001.text"/>
            <p:cNvSpPr/>
            <p:nvPr/>
          </p:nvSpPr>
          <p:spPr>
            <a:xfrm>
              <a:off x="5219700" y="25949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principles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7" name="node08.source-002.key"/>
            <p:cNvSpPr/>
            <p:nvPr/>
          </p:nvSpPr>
          <p:spPr>
            <a:xfrm>
              <a:off x="4381500" y="28956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8.source-002.text"/>
            <p:cNvSpPr/>
            <p:nvPr/>
          </p:nvSpPr>
          <p:spPr>
            <a:xfrm>
              <a:off x="5219700" y="28997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by area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9" name="node08.source-003.key"/>
            <p:cNvSpPr/>
            <p:nvPr/>
          </p:nvSpPr>
          <p:spPr>
            <a:xfrm>
              <a:off x="4381500" y="32004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11:30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0" name="node08.source-003.text"/>
            <p:cNvSpPr/>
            <p:nvPr/>
          </p:nvSpPr>
          <p:spPr>
            <a:xfrm>
              <a:off x="5219700" y="32045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Table playbacks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0" name="node09"/>
          <p:cNvGrpSpPr/>
          <p:nvPr/>
        </p:nvGrpSpPr>
        <p:grpSpPr>
          <a:xfrm>
            <a:off x="8039100" y="2590800"/>
            <a:ext cx="3429000" cy="914400"/>
            <a:chOff x="8039100" y="2590800"/>
            <a:chExt cx="3429000" cy="914400"/>
          </a:xfrm>
        </p:grpSpPr>
        <p:sp>
          <p:nvSpPr>
            <p:cNvPr id="31" name="node09.source-001.key"/>
            <p:cNvSpPr/>
            <p:nvPr/>
          </p:nvSpPr>
          <p:spPr>
            <a:xfrm>
              <a:off x="8039100" y="25908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13:00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9.source-001.text"/>
            <p:cNvSpPr/>
            <p:nvPr/>
          </p:nvSpPr>
          <p:spPr>
            <a:xfrm>
              <a:off x="8877300" y="25949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Cross-area hand-offs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3" name="node09.source-002.key"/>
            <p:cNvSpPr/>
            <p:nvPr/>
          </p:nvSpPr>
          <p:spPr>
            <a:xfrm>
              <a:off x="8039100" y="28956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15:00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4" name="node09.source-002.text"/>
            <p:cNvSpPr/>
            <p:nvPr/>
          </p:nvSpPr>
          <p:spPr>
            <a:xfrm>
              <a:off x="8877300" y="28997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Scenario tests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5" name="node09.source-003.key"/>
            <p:cNvSpPr/>
            <p:nvPr/>
          </p:nvSpPr>
          <p:spPr>
            <a:xfrm>
              <a:off x="8039100" y="32004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16:30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09.source-003.text"/>
            <p:cNvSpPr/>
            <p:nvPr/>
          </p:nvSpPr>
          <p:spPr>
            <a:xfrm>
              <a:off x="8877300" y="32045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Playback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1" name="node10"/>
          <p:cNvGrpSpPr/>
          <p:nvPr/>
        </p:nvGrpSpPr>
        <p:grpSpPr>
          <a:xfrm>
            <a:off x="4381500" y="3581400"/>
            <a:ext cx="7086600" cy="228600"/>
            <a:chOff x="4381500" y="3581400"/>
            <a:chExt cx="7086600" cy="228600"/>
          </a:xfrm>
        </p:grpSpPr>
        <p:sp>
          <p:nvSpPr>
            <p:cNvPr id="37" name="node10.text"/>
            <p:cNvSpPr/>
            <p:nvPr/>
          </p:nvSpPr>
          <p:spPr>
            <a:xfrm>
              <a:off x="4381500" y="3581400"/>
              <a:ext cx="708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Output: draft future-state design for four areas.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2" name="node11"/>
          <p:cNvGrpSpPr/>
          <p:nvPr/>
        </p:nvGrpSpPr>
        <p:grpSpPr>
          <a:xfrm>
            <a:off x="4381500" y="4114800"/>
            <a:ext cx="7086600" cy="228600"/>
            <a:chOff x="4381500" y="4114800"/>
            <a:chExt cx="7086600" cy="228600"/>
          </a:xfrm>
        </p:grpSpPr>
        <p:sp>
          <p:nvSpPr>
            <p:cNvPr id="38" name="node11.label"/>
            <p:cNvSpPr/>
            <p:nvPr/>
          </p:nvSpPr>
          <p:spPr>
            <a:xfrm>
              <a:off x="4381500" y="4114800"/>
              <a:ext cx="318048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DAY 3 · DECIDE · THU NOV 6 · 9:00 TO 15:00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9" name="node11.rule"/>
            <p:cNvSpPr/>
            <p:nvPr/>
          </p:nvSpPr>
          <p:spPr>
            <a:xfrm>
              <a:off x="7688982" y="4224338"/>
              <a:ext cx="377911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40" name="node12"/>
          <p:cNvSpPr/>
          <p:nvPr/>
        </p:nvSpPr>
        <p:spPr>
          <a:xfrm>
            <a:off x="4381500" y="43434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3" name="node13"/>
          <p:cNvGrpSpPr/>
          <p:nvPr/>
        </p:nvGrpSpPr>
        <p:grpSpPr>
          <a:xfrm>
            <a:off x="4381500" y="4419600"/>
            <a:ext cx="3429000" cy="914400"/>
            <a:chOff x="4381500" y="4419600"/>
            <a:chExt cx="3429000" cy="914400"/>
          </a:xfrm>
        </p:grpSpPr>
        <p:sp>
          <p:nvSpPr>
            <p:cNvPr id="41" name="node13.source-001.key"/>
            <p:cNvSpPr/>
            <p:nvPr/>
          </p:nvSpPr>
          <p:spPr>
            <a:xfrm>
              <a:off x="4381500" y="44196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2" name="node13.source-001.text"/>
            <p:cNvSpPr/>
            <p:nvPr/>
          </p:nvSpPr>
          <p:spPr>
            <a:xfrm>
              <a:off x="5219700" y="44237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Close design gaps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3" name="node13.source-002.key"/>
            <p:cNvSpPr/>
            <p:nvPr/>
          </p:nvSpPr>
          <p:spPr>
            <a:xfrm>
              <a:off x="4381500" y="47244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10:30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4" name="node13.source-002.text"/>
            <p:cNvSpPr/>
            <p:nvPr/>
          </p:nvSpPr>
          <p:spPr>
            <a:xfrm>
              <a:off x="5219700" y="47285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Score and rank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5" name="node13.source-003.key"/>
            <p:cNvSpPr/>
            <p:nvPr/>
          </p:nvSpPr>
          <p:spPr>
            <a:xfrm>
              <a:off x="4381500" y="50292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12:30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6" name="node13.source-003.text"/>
            <p:cNvSpPr/>
            <p:nvPr/>
          </p:nvSpPr>
          <p:spPr>
            <a:xfrm>
              <a:off x="5219700" y="50333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Working lunch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4" name="node14"/>
          <p:cNvGrpSpPr/>
          <p:nvPr/>
        </p:nvGrpSpPr>
        <p:grpSpPr>
          <a:xfrm>
            <a:off x="8039100" y="4419600"/>
            <a:ext cx="3429000" cy="914400"/>
            <a:chOff x="8039100" y="4419600"/>
            <a:chExt cx="3429000" cy="914400"/>
          </a:xfrm>
        </p:grpSpPr>
        <p:sp>
          <p:nvSpPr>
            <p:cNvPr id="47" name="node14.source-001.key"/>
            <p:cNvSpPr/>
            <p:nvPr/>
          </p:nvSpPr>
          <p:spPr>
            <a:xfrm>
              <a:off x="8039100" y="44196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13:00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8" name="node14.source-001.text"/>
            <p:cNvSpPr/>
            <p:nvPr/>
          </p:nvSpPr>
          <p:spPr>
            <a:xfrm>
              <a:off x="8877300" y="44237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Roadmap and owners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9" name="node14.source-002.key"/>
            <p:cNvSpPr/>
            <p:nvPr/>
          </p:nvSpPr>
          <p:spPr>
            <a:xfrm>
              <a:off x="8039100" y="47244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14:00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0" name="node14.source-002.text"/>
            <p:cNvSpPr/>
            <p:nvPr/>
          </p:nvSpPr>
          <p:spPr>
            <a:xfrm>
              <a:off x="8877300" y="47285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Readout to sponsors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1" name="node14.source-003.key"/>
            <p:cNvSpPr/>
            <p:nvPr/>
          </p:nvSpPr>
          <p:spPr>
            <a:xfrm>
              <a:off x="8039100" y="50292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15:00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14.source-003.text"/>
            <p:cNvSpPr/>
            <p:nvPr/>
          </p:nvSpPr>
          <p:spPr>
            <a:xfrm>
              <a:off x="8877300" y="50333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Close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5" name="node15"/>
          <p:cNvGrpSpPr/>
          <p:nvPr/>
        </p:nvGrpSpPr>
        <p:grpSpPr>
          <a:xfrm>
            <a:off x="4381500" y="5410200"/>
            <a:ext cx="7086600" cy="228600"/>
            <a:chOff x="4381500" y="5410200"/>
            <a:chExt cx="7086600" cy="228600"/>
          </a:xfrm>
        </p:grpSpPr>
        <p:sp>
          <p:nvSpPr>
            <p:cNvPr id="53" name="node15.text"/>
            <p:cNvSpPr/>
            <p:nvPr/>
          </p:nvSpPr>
          <p:spPr>
            <a:xfrm>
              <a:off x="4381500" y="5410200"/>
              <a:ext cx="708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Output: ranked roadmap, owners and decisions.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6" name="node16"/>
          <p:cNvGrpSpPr/>
          <p:nvPr/>
        </p:nvGrpSpPr>
        <p:grpSpPr>
          <a:xfrm>
            <a:off x="723900" y="2286000"/>
            <a:ext cx="3429000" cy="228600"/>
            <a:chOff x="723900" y="2286000"/>
            <a:chExt cx="3429000" cy="228600"/>
          </a:xfrm>
        </p:grpSpPr>
        <p:sp>
          <p:nvSpPr>
            <p:cNvPr id="54" name="node16.label"/>
            <p:cNvSpPr/>
            <p:nvPr/>
          </p:nvSpPr>
          <p:spPr>
            <a:xfrm>
              <a:off x="723900" y="2286000"/>
              <a:ext cx="92685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OVERALL GOAL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5" name="node16.rule"/>
            <p:cNvSpPr/>
            <p:nvPr/>
          </p:nvSpPr>
          <p:spPr>
            <a:xfrm>
              <a:off x="1777752" y="2395538"/>
              <a:ext cx="237514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56" name="node17"/>
          <p:cNvSpPr/>
          <p:nvPr/>
        </p:nvSpPr>
        <p:spPr>
          <a:xfrm>
            <a:off x="723900" y="2514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7" name="node18"/>
          <p:cNvGrpSpPr/>
          <p:nvPr/>
        </p:nvGrpSpPr>
        <p:grpSpPr>
          <a:xfrm>
            <a:off x="723900" y="2590800"/>
            <a:ext cx="3429000" cy="457200"/>
            <a:chOff x="723900" y="2590800"/>
            <a:chExt cx="3429000" cy="457200"/>
          </a:xfrm>
        </p:grpSpPr>
        <p:sp>
          <p:nvSpPr>
            <p:cNvPr id="57" name="node18.text"/>
            <p:cNvSpPr/>
            <p:nvPr/>
          </p:nvSpPr>
          <p:spPr>
            <a:xfrm>
              <a:off x="723900" y="259080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Agree one future-state design for patient access and commit to who does what by when.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8" name="node19"/>
          <p:cNvGrpSpPr/>
          <p:nvPr/>
        </p:nvGrpSpPr>
        <p:grpSpPr>
          <a:xfrm>
            <a:off x="723900" y="3429000"/>
            <a:ext cx="3429000" cy="228600"/>
            <a:chOff x="723900" y="3429000"/>
            <a:chExt cx="3429000" cy="228600"/>
          </a:xfrm>
        </p:grpSpPr>
        <p:sp>
          <p:nvSpPr>
            <p:cNvPr id="58" name="node19.label"/>
            <p:cNvSpPr/>
            <p:nvPr/>
          </p:nvSpPr>
          <p:spPr>
            <a:xfrm>
              <a:off x="723900" y="3429000"/>
              <a:ext cx="145269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YOU WILL LEAVE WITH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9" name="node19.rule"/>
            <p:cNvSpPr/>
            <p:nvPr/>
          </p:nvSpPr>
          <p:spPr>
            <a:xfrm>
              <a:off x="2303599" y="3538538"/>
              <a:ext cx="1849301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60" name="node20"/>
          <p:cNvSpPr/>
          <p:nvPr/>
        </p:nvSpPr>
        <p:spPr>
          <a:xfrm>
            <a:off x="723900" y="3657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9" name="node21"/>
          <p:cNvGrpSpPr/>
          <p:nvPr/>
        </p:nvGrpSpPr>
        <p:grpSpPr>
          <a:xfrm>
            <a:off x="723900" y="3733800"/>
            <a:ext cx="3429000" cy="762000"/>
            <a:chOff x="723900" y="3733800"/>
            <a:chExt cx="3429000" cy="762000"/>
          </a:xfrm>
        </p:grpSpPr>
        <p:sp>
          <p:nvSpPr>
            <p:cNvPr id="61" name="node21.source-001.bullet"/>
            <p:cNvSpPr/>
            <p:nvPr/>
          </p:nvSpPr>
          <p:spPr>
            <a:xfrm>
              <a:off x="723900" y="3822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2" name="node21.source-001.text"/>
            <p:cNvSpPr/>
            <p:nvPr/>
          </p:nvSpPr>
          <p:spPr>
            <a:xfrm>
              <a:off x="876300" y="37338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design for four areas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3" name="node21.source-002.bullet"/>
            <p:cNvSpPr/>
            <p:nvPr/>
          </p:nvSpPr>
          <p:spPr>
            <a:xfrm>
              <a:off x="723900" y="4089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4" name="node21.source-002.text"/>
            <p:cNvSpPr/>
            <p:nvPr/>
          </p:nvSpPr>
          <p:spPr>
            <a:xfrm>
              <a:off x="876300" y="40005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Owners and dates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5" name="node21.source-003.bullet"/>
            <p:cNvSpPr/>
            <p:nvPr/>
          </p:nvSpPr>
          <p:spPr>
            <a:xfrm>
              <a:off x="723900" y="4356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6" name="node21.source-003.text"/>
            <p:cNvSpPr/>
            <p:nvPr/>
          </p:nvSpPr>
          <p:spPr>
            <a:xfrm>
              <a:off x="876300" y="4267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 ranked roadmap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0" name="node22"/>
          <p:cNvGrpSpPr/>
          <p:nvPr/>
        </p:nvGrpSpPr>
        <p:grpSpPr>
          <a:xfrm>
            <a:off x="723900" y="4800600"/>
            <a:ext cx="3429000" cy="228600"/>
            <a:chOff x="723900" y="4800600"/>
            <a:chExt cx="3429000" cy="228600"/>
          </a:xfrm>
        </p:grpSpPr>
        <p:sp>
          <p:nvSpPr>
            <p:cNvPr id="67" name="node22.label"/>
            <p:cNvSpPr/>
            <p:nvPr/>
          </p:nvSpPr>
          <p:spPr>
            <a:xfrm>
              <a:off x="723900" y="4800600"/>
              <a:ext cx="70148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LOGISTICS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8" name="node22.rule"/>
            <p:cNvSpPr/>
            <p:nvPr/>
          </p:nvSpPr>
          <p:spPr>
            <a:xfrm>
              <a:off x="1552389" y="4910138"/>
              <a:ext cx="2600511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69" name="node23"/>
          <p:cNvSpPr/>
          <p:nvPr/>
        </p:nvSpPr>
        <p:spPr>
          <a:xfrm>
            <a:off x="723900" y="5029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1" name="node24"/>
          <p:cNvGrpSpPr/>
          <p:nvPr/>
        </p:nvGrpSpPr>
        <p:grpSpPr>
          <a:xfrm>
            <a:off x="723900" y="5105400"/>
            <a:ext cx="3429000" cy="495300"/>
            <a:chOff x="723900" y="5105400"/>
            <a:chExt cx="3429000" cy="495300"/>
          </a:xfrm>
        </p:grpSpPr>
        <p:sp>
          <p:nvSpPr>
            <p:cNvPr id="70" name="node24.source-001.bullet"/>
            <p:cNvSpPr/>
            <p:nvPr/>
          </p:nvSpPr>
          <p:spPr>
            <a:xfrm>
              <a:off x="723900" y="5194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1" name="node24.source-001.text"/>
            <p:cNvSpPr/>
            <p:nvPr/>
          </p:nvSpPr>
          <p:spPr>
            <a:xfrm>
              <a:off x="876300" y="5105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Nov 4 to 6, Northfield HQ, 4B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2" name="node24.source-002.bullet"/>
            <p:cNvSpPr/>
            <p:nvPr/>
          </p:nvSpPr>
          <p:spPr>
            <a:xfrm>
              <a:off x="723900" y="546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3" name="node24.source-002.text"/>
            <p:cNvSpPr/>
            <p:nvPr/>
          </p:nvSpPr>
          <p:spPr>
            <a:xfrm>
              <a:off x="876300" y="53721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Video bridge for remote leads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Two days, three decisions for Northfield leaders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0" name="node01"/>
          <p:cNvGrpSpPr/>
          <p:nvPr/>
        </p:nvGrpSpPr>
        <p:grpSpPr>
          <a:xfrm>
            <a:off x="723900" y="1600200"/>
            <a:ext cx="10744200" cy="228600"/>
            <a:chOff x="723900" y="1600200"/>
            <a:chExt cx="10744200" cy="228600"/>
          </a:xfrm>
        </p:grpSpPr>
        <p:sp>
          <p:nvSpPr>
            <p:cNvPr id="6" name="node01.label"/>
            <p:cNvSpPr/>
            <p:nvPr/>
          </p:nvSpPr>
          <p:spPr>
            <a:xfrm>
              <a:off x="723900" y="1600200"/>
              <a:ext cx="92685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OVERALL GOAL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" name="node01.rule"/>
            <p:cNvSpPr/>
            <p:nvPr/>
          </p:nvSpPr>
          <p:spPr>
            <a:xfrm>
              <a:off x="1777752" y="1709738"/>
              <a:ext cx="969034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8" name="node02"/>
          <p:cNvSpPr/>
          <p:nvPr/>
        </p:nvSpPr>
        <p:spPr>
          <a:xfrm>
            <a:off x="723900" y="1828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1" name="node03"/>
          <p:cNvGrpSpPr/>
          <p:nvPr/>
        </p:nvGrpSpPr>
        <p:grpSpPr>
          <a:xfrm>
            <a:off x="723900" y="1905000"/>
            <a:ext cx="9525000" cy="381000"/>
            <a:chOff x="723900" y="1905000"/>
            <a:chExt cx="9525000" cy="381000"/>
          </a:xfrm>
        </p:grpSpPr>
        <p:sp>
          <p:nvSpPr>
            <p:cNvPr id="9" name="node03.text"/>
            <p:cNvSpPr/>
            <p:nvPr/>
          </p:nvSpPr>
          <p:spPr>
            <a:xfrm>
              <a:off x="723900" y="1905000"/>
              <a:ext cx="9525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Two days to agree how patients get in, know the cost and get paid.</a:t>
              </a:r>
              <a:endPara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2" name="node04"/>
          <p:cNvGrpSpPr/>
          <p:nvPr/>
        </p:nvGrpSpPr>
        <p:grpSpPr>
          <a:xfrm>
            <a:off x="723900" y="2514600"/>
            <a:ext cx="5257800" cy="1905000"/>
            <a:chOff x="723900" y="2514600"/>
            <a:chExt cx="5257800" cy="1905000"/>
          </a:xfrm>
        </p:grpSpPr>
        <p:sp>
          <p:nvSpPr>
            <p:cNvPr id="10" name="node04.container"/>
            <p:cNvSpPr/>
            <p:nvPr/>
          </p:nvSpPr>
          <p:spPr>
            <a:xfrm>
              <a:off x="723900" y="2514600"/>
              <a:ext cx="5257800" cy="1905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11" name="node04.label"/>
            <p:cNvSpPr/>
            <p:nvPr/>
          </p:nvSpPr>
          <p:spPr>
            <a:xfrm>
              <a:off x="952500" y="2743200"/>
              <a:ext cx="4800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DAY 1 · NOV 4 · 9:00 TO 17:00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2" name="node04.title"/>
            <p:cNvSpPr/>
            <p:nvPr/>
          </p:nvSpPr>
          <p:spPr>
            <a:xfrm>
              <a:off x="952500" y="2933700"/>
              <a:ext cx="4800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See access as patients do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3" name="node04.body.item-001.bullets.item-001.marker"/>
            <p:cNvSpPr/>
            <p:nvPr/>
          </p:nvSpPr>
          <p:spPr>
            <a:xfrm>
              <a:off x="952500" y="3441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4.body.item-001.bullets.item-001.text"/>
            <p:cNvSpPr/>
            <p:nvPr/>
          </p:nvSpPr>
          <p:spPr>
            <a:xfrm>
              <a:off x="1104900" y="3352800"/>
              <a:ext cx="4648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Morning: walk the patient journey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" name="node04.body.item-001.bullets.item-002.marker"/>
            <p:cNvSpPr/>
            <p:nvPr/>
          </p:nvSpPr>
          <p:spPr>
            <a:xfrm>
              <a:off x="952500" y="3708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" name="node04.body.item-001.bullets.item-002.text"/>
            <p:cNvSpPr/>
            <p:nvPr/>
          </p:nvSpPr>
          <p:spPr>
            <a:xfrm>
              <a:off x="1104900" y="3619500"/>
              <a:ext cx="4648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Afternoon: review data and root causes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4.body.item-001.bullets.item-003.marker"/>
            <p:cNvSpPr/>
            <p:nvPr/>
          </p:nvSpPr>
          <p:spPr>
            <a:xfrm>
              <a:off x="952500" y="3975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4.body.item-001.bullets.item-003.text"/>
            <p:cNvSpPr/>
            <p:nvPr/>
          </p:nvSpPr>
          <p:spPr>
            <a:xfrm>
              <a:off x="1104900" y="3886200"/>
              <a:ext cx="4648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16:30: playback to the room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3" name="node05"/>
          <p:cNvGrpSpPr/>
          <p:nvPr/>
        </p:nvGrpSpPr>
        <p:grpSpPr>
          <a:xfrm>
            <a:off x="6210300" y="2514600"/>
            <a:ext cx="5257800" cy="1905000"/>
            <a:chOff x="6210300" y="2514600"/>
            <a:chExt cx="5257800" cy="1905000"/>
          </a:xfrm>
        </p:grpSpPr>
        <p:sp>
          <p:nvSpPr>
            <p:cNvPr id="19" name="node05.container"/>
            <p:cNvSpPr/>
            <p:nvPr/>
          </p:nvSpPr>
          <p:spPr>
            <a:xfrm>
              <a:off x="6210300" y="2514600"/>
              <a:ext cx="5257800" cy="1905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0" name="node05.label"/>
            <p:cNvSpPr/>
            <p:nvPr/>
          </p:nvSpPr>
          <p:spPr>
            <a:xfrm>
              <a:off x="6438900" y="2743200"/>
              <a:ext cx="4800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DAY 2 · NOV 5 · 9:00 TO 16:30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1" name="node05.title"/>
            <p:cNvSpPr/>
            <p:nvPr/>
          </p:nvSpPr>
          <p:spPr>
            <a:xfrm>
              <a:off x="6438900" y="2933700"/>
              <a:ext cx="4800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and decide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2" name="node05.body.item-001.bullets.item-001.marker"/>
            <p:cNvSpPr/>
            <p:nvPr/>
          </p:nvSpPr>
          <p:spPr>
            <a:xfrm>
              <a:off x="6438900" y="3441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05.body.item-001.bullets.item-001.text"/>
            <p:cNvSpPr/>
            <p:nvPr/>
          </p:nvSpPr>
          <p:spPr>
            <a:xfrm>
              <a:off x="6591300" y="3352800"/>
              <a:ext cx="4648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Morning: design the future state by area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5.body.item-001.bullets.item-002.marker"/>
            <p:cNvSpPr/>
            <p:nvPr/>
          </p:nvSpPr>
          <p:spPr>
            <a:xfrm>
              <a:off x="6438900" y="3708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05.body.item-001.bullets.item-002.text"/>
            <p:cNvSpPr/>
            <p:nvPr/>
          </p:nvSpPr>
          <p:spPr>
            <a:xfrm>
              <a:off x="6591300" y="3619500"/>
              <a:ext cx="4648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Afternoon: test it on real patient cases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5.body.item-001.bullets.item-003.marker"/>
            <p:cNvSpPr/>
            <p:nvPr/>
          </p:nvSpPr>
          <p:spPr>
            <a:xfrm>
              <a:off x="6438900" y="3975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5.body.item-001.bullets.item-003.text"/>
            <p:cNvSpPr/>
            <p:nvPr/>
          </p:nvSpPr>
          <p:spPr>
            <a:xfrm>
              <a:off x="6591300" y="3886200"/>
              <a:ext cx="4648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15:30: readout and decisions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4" name="node06"/>
          <p:cNvGrpSpPr/>
          <p:nvPr/>
        </p:nvGrpSpPr>
        <p:grpSpPr>
          <a:xfrm>
            <a:off x="723900" y="4648200"/>
            <a:ext cx="10744200" cy="228600"/>
            <a:chOff x="723900" y="4648200"/>
            <a:chExt cx="10744200" cy="228600"/>
          </a:xfrm>
        </p:grpSpPr>
        <p:sp>
          <p:nvSpPr>
            <p:cNvPr id="28" name="node06.label"/>
            <p:cNvSpPr/>
            <p:nvPr/>
          </p:nvSpPr>
          <p:spPr>
            <a:xfrm>
              <a:off x="723900" y="4648200"/>
              <a:ext cx="265463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DECISIONS YOU WILL BE ASKED TO MAKE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9" name="node06.rule"/>
            <p:cNvSpPr/>
            <p:nvPr/>
          </p:nvSpPr>
          <p:spPr>
            <a:xfrm>
              <a:off x="3505535" y="4757738"/>
              <a:ext cx="7962565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0" name="node07"/>
          <p:cNvSpPr/>
          <p:nvPr/>
        </p:nvSpPr>
        <p:spPr>
          <a:xfrm>
            <a:off x="723900" y="4876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5" name="node08"/>
          <p:cNvGrpSpPr/>
          <p:nvPr/>
        </p:nvGrpSpPr>
        <p:grpSpPr>
          <a:xfrm>
            <a:off x="723900" y="5029200"/>
            <a:ext cx="3429000" cy="381000"/>
            <a:chOff x="723900" y="5029200"/>
            <a:chExt cx="3429000" cy="381000"/>
          </a:xfrm>
        </p:grpSpPr>
        <p:sp>
          <p:nvSpPr>
            <p:cNvPr id="31" name="node08.number"/>
            <p:cNvSpPr/>
            <p:nvPr/>
          </p:nvSpPr>
          <p:spPr>
            <a:xfrm>
              <a:off x="723900" y="5093208"/>
              <a:ext cx="2743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01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8.text"/>
            <p:cNvSpPr/>
            <p:nvPr/>
          </p:nvSpPr>
          <p:spPr>
            <a:xfrm>
              <a:off x="1111250" y="5029200"/>
              <a:ext cx="30416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Front door</a:t>
              </a:r>
              <a:endPara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6" name="node09"/>
          <p:cNvGrpSpPr/>
          <p:nvPr/>
        </p:nvGrpSpPr>
        <p:grpSpPr>
          <a:xfrm>
            <a:off x="723900" y="5410200"/>
            <a:ext cx="3429000" cy="228600"/>
            <a:chOff x="723900" y="5410200"/>
            <a:chExt cx="3429000" cy="228600"/>
          </a:xfrm>
        </p:grpSpPr>
        <p:sp>
          <p:nvSpPr>
            <p:cNvPr id="33" name="node09.text"/>
            <p:cNvSpPr/>
            <p:nvPr/>
          </p:nvSpPr>
          <p:spPr>
            <a:xfrm>
              <a:off x="723900" y="5410200"/>
              <a:ext cx="3429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Which front door and booking template to adopt.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7" name="node10"/>
          <p:cNvGrpSpPr/>
          <p:nvPr/>
        </p:nvGrpSpPr>
        <p:grpSpPr>
          <a:xfrm>
            <a:off x="4381500" y="5029200"/>
            <a:ext cx="3429000" cy="381000"/>
            <a:chOff x="4381500" y="5029200"/>
            <a:chExt cx="3429000" cy="381000"/>
          </a:xfrm>
        </p:grpSpPr>
        <p:sp>
          <p:nvSpPr>
            <p:cNvPr id="34" name="node10.number"/>
            <p:cNvSpPr/>
            <p:nvPr/>
          </p:nvSpPr>
          <p:spPr>
            <a:xfrm>
              <a:off x="4381500" y="5093208"/>
              <a:ext cx="2743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02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5" name="node10.text"/>
            <p:cNvSpPr/>
            <p:nvPr/>
          </p:nvSpPr>
          <p:spPr>
            <a:xfrm>
              <a:off x="4768850" y="5029200"/>
              <a:ext cx="30416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Ownership</a:t>
              </a:r>
              <a:endPara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48" name="node11"/>
          <p:cNvGrpSpPr/>
          <p:nvPr/>
        </p:nvGrpSpPr>
        <p:grpSpPr>
          <a:xfrm>
            <a:off x="4381500" y="5410200"/>
            <a:ext cx="3429000" cy="228600"/>
            <a:chOff x="4381500" y="5410200"/>
            <a:chExt cx="3429000" cy="228600"/>
          </a:xfrm>
        </p:grpSpPr>
        <p:sp>
          <p:nvSpPr>
            <p:cNvPr id="36" name="node11.text"/>
            <p:cNvSpPr/>
            <p:nvPr/>
          </p:nvSpPr>
          <p:spPr>
            <a:xfrm>
              <a:off x="4381500" y="5410200"/>
              <a:ext cx="3429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Who owns each of the four areas.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9" name="node12"/>
          <p:cNvGrpSpPr/>
          <p:nvPr/>
        </p:nvGrpSpPr>
        <p:grpSpPr>
          <a:xfrm>
            <a:off x="8039100" y="5029200"/>
            <a:ext cx="3429000" cy="381000"/>
            <a:chOff x="8039100" y="5029200"/>
            <a:chExt cx="3429000" cy="381000"/>
          </a:xfrm>
        </p:grpSpPr>
        <p:sp>
          <p:nvSpPr>
            <p:cNvPr id="37" name="node12.number"/>
            <p:cNvSpPr/>
            <p:nvPr/>
          </p:nvSpPr>
          <p:spPr>
            <a:xfrm>
              <a:off x="8039100" y="5093208"/>
              <a:ext cx="2743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03</a:t>
              </a:r>
              <a:endParaRPr lang="en-US" sz="1800" spc="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12.text"/>
            <p:cNvSpPr/>
            <p:nvPr/>
          </p:nvSpPr>
          <p:spPr>
            <a:xfrm>
              <a:off x="8426450" y="5029200"/>
              <a:ext cx="304165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First wave</a:t>
              </a:r>
              <a:endPara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0" name="node13"/>
          <p:cNvGrpSpPr/>
          <p:nvPr/>
        </p:nvGrpSpPr>
        <p:grpSpPr>
          <a:xfrm>
            <a:off x="8039100" y="5410200"/>
            <a:ext cx="3429000" cy="228600"/>
            <a:chOff x="8039100" y="5410200"/>
            <a:chExt cx="3429000" cy="228600"/>
          </a:xfrm>
        </p:grpSpPr>
        <p:sp>
          <p:nvSpPr>
            <p:cNvPr id="39" name="node13.text"/>
            <p:cNvSpPr/>
            <p:nvPr/>
          </p:nvSpPr>
          <p:spPr>
            <a:xfrm>
              <a:off x="8039100" y="5410200"/>
              <a:ext cx="3429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Which five opportunities start first.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Each day narrows the work: open up, shape, commit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2" name="node01"/>
          <p:cNvGrpSpPr/>
          <p:nvPr/>
        </p:nvGrpSpPr>
        <p:grpSpPr>
          <a:xfrm>
            <a:off x="723900" y="1600200"/>
            <a:ext cx="10744200" cy="228600"/>
            <a:chOff x="723900" y="1600200"/>
            <a:chExt cx="10744200" cy="228600"/>
          </a:xfrm>
        </p:grpSpPr>
        <p:sp>
          <p:nvSpPr>
            <p:cNvPr id="6" name="node01.label"/>
            <p:cNvSpPr/>
            <p:nvPr/>
          </p:nvSpPr>
          <p:spPr>
            <a:xfrm>
              <a:off x="723900" y="1600200"/>
              <a:ext cx="92685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OVERALL GOAL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" name="node01.rule"/>
            <p:cNvSpPr/>
            <p:nvPr/>
          </p:nvSpPr>
          <p:spPr>
            <a:xfrm>
              <a:off x="1777752" y="1709738"/>
              <a:ext cx="969034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8" name="node02"/>
          <p:cNvSpPr/>
          <p:nvPr/>
        </p:nvSpPr>
        <p:spPr>
          <a:xfrm>
            <a:off x="723900" y="1828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3" name="node03"/>
          <p:cNvGrpSpPr/>
          <p:nvPr/>
        </p:nvGrpSpPr>
        <p:grpSpPr>
          <a:xfrm>
            <a:off x="723900" y="1905000"/>
            <a:ext cx="10744200" cy="266700"/>
            <a:chOff x="723900" y="1905000"/>
            <a:chExt cx="10744200" cy="266700"/>
          </a:xfrm>
        </p:grpSpPr>
        <p:sp>
          <p:nvSpPr>
            <p:cNvPr id="9" name="node03.text"/>
            <p:cNvSpPr/>
            <p:nvPr/>
          </p:nvSpPr>
          <p:spPr>
            <a:xfrm>
              <a:off x="723900" y="1905000"/>
              <a:ext cx="107442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Agree, test and commit to one future-state design for how patients schedule, register, get estimates and avoid denials.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4" name="node04"/>
          <p:cNvGrpSpPr/>
          <p:nvPr/>
        </p:nvGrpSpPr>
        <p:grpSpPr>
          <a:xfrm>
            <a:off x="723900" y="2400300"/>
            <a:ext cx="3200400" cy="800100"/>
            <a:chOff x="723900" y="2400300"/>
            <a:chExt cx="3200400" cy="800100"/>
          </a:xfrm>
        </p:grpSpPr>
        <p:sp>
          <p:nvSpPr>
            <p:cNvPr id="10" name="node04.steps.slot-001.marker"/>
            <p:cNvSpPr/>
            <p:nvPr/>
          </p:nvSpPr>
          <p:spPr>
            <a:xfrm>
              <a:off x="723900" y="24003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1" name="node04.steps.slot-001.part-0"/>
            <p:cNvSpPr/>
            <p:nvPr/>
          </p:nvSpPr>
          <p:spPr>
            <a:xfrm>
              <a:off x="723900" y="2743200"/>
              <a:ext cx="3200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DAY 1 · 9:00 TO 17:00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2" name="node04.steps.slot-001.part-1"/>
            <p:cNvSpPr/>
            <p:nvPr/>
          </p:nvSpPr>
          <p:spPr>
            <a:xfrm>
              <a:off x="723900" y="2933700"/>
              <a:ext cx="3200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Diverge: open up the problem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5" name="node05"/>
          <p:cNvGrpSpPr/>
          <p:nvPr/>
        </p:nvGrpSpPr>
        <p:grpSpPr>
          <a:xfrm>
            <a:off x="4381500" y="2400300"/>
            <a:ext cx="3200400" cy="800100"/>
            <a:chOff x="4381500" y="2400300"/>
            <a:chExt cx="3200400" cy="800100"/>
          </a:xfrm>
        </p:grpSpPr>
        <p:sp>
          <p:nvSpPr>
            <p:cNvPr id="13" name="node05.steps.slot-001.marker"/>
            <p:cNvSpPr/>
            <p:nvPr/>
          </p:nvSpPr>
          <p:spPr>
            <a:xfrm>
              <a:off x="4381500" y="24003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4" name="node05.steps.slot-001.part-0"/>
            <p:cNvSpPr/>
            <p:nvPr/>
          </p:nvSpPr>
          <p:spPr>
            <a:xfrm>
              <a:off x="4381500" y="2743200"/>
              <a:ext cx="3200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DAY 2 · 9:00 TO 17:00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5" name="node05.steps.slot-001.part-1"/>
            <p:cNvSpPr/>
            <p:nvPr/>
          </p:nvSpPr>
          <p:spPr>
            <a:xfrm>
              <a:off x="4381500" y="2933700"/>
              <a:ext cx="3200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Converge: shape one design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6" name="node06"/>
          <p:cNvGrpSpPr/>
          <p:nvPr/>
        </p:nvGrpSpPr>
        <p:grpSpPr>
          <a:xfrm>
            <a:off x="8039100" y="2400300"/>
            <a:ext cx="3200400" cy="800100"/>
            <a:chOff x="8039100" y="2400300"/>
            <a:chExt cx="3200400" cy="800100"/>
          </a:xfrm>
        </p:grpSpPr>
        <p:sp>
          <p:nvSpPr>
            <p:cNvPr id="16" name="node06.steps.slot-001.marker"/>
            <p:cNvSpPr/>
            <p:nvPr/>
          </p:nvSpPr>
          <p:spPr>
            <a:xfrm>
              <a:off x="8039100" y="24003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7" name="node06.steps.slot-001.part-0"/>
            <p:cNvSpPr/>
            <p:nvPr/>
          </p:nvSpPr>
          <p:spPr>
            <a:xfrm>
              <a:off x="8039100" y="2743200"/>
              <a:ext cx="3200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DAY 3 · 9:00 TO 15:00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8" name="node06.steps.slot-001.part-1"/>
            <p:cNvSpPr/>
            <p:nvPr/>
          </p:nvSpPr>
          <p:spPr>
            <a:xfrm>
              <a:off x="8039100" y="2933700"/>
              <a:ext cx="3200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Commit: decide and assign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7" name="node07"/>
          <p:cNvGrpSpPr/>
          <p:nvPr/>
        </p:nvGrpSpPr>
        <p:grpSpPr>
          <a:xfrm>
            <a:off x="723900" y="3352800"/>
            <a:ext cx="3429000" cy="1028700"/>
            <a:chOff x="723900" y="3352800"/>
            <a:chExt cx="3429000" cy="1028700"/>
          </a:xfrm>
        </p:grpSpPr>
        <p:sp>
          <p:nvSpPr>
            <p:cNvPr id="19" name="node07.source-001.bullet"/>
            <p:cNvSpPr/>
            <p:nvPr/>
          </p:nvSpPr>
          <p:spPr>
            <a:xfrm>
              <a:off x="723900" y="3441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" name="node07.source-001.text"/>
            <p:cNvSpPr/>
            <p:nvPr/>
          </p:nvSpPr>
          <p:spPr>
            <a:xfrm>
              <a:off x="876300" y="33528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9:00 Goals and ground rules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1" name="node07.source-002.bullet"/>
            <p:cNvSpPr/>
            <p:nvPr/>
          </p:nvSpPr>
          <p:spPr>
            <a:xfrm>
              <a:off x="723900" y="3708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07.source-002.text"/>
            <p:cNvSpPr/>
            <p:nvPr/>
          </p:nvSpPr>
          <p:spPr>
            <a:xfrm>
              <a:off x="876300" y="36195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10:00 Journey mapping from every angle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7.source-003.bullet"/>
            <p:cNvSpPr/>
            <p:nvPr/>
          </p:nvSpPr>
          <p:spPr>
            <a:xfrm>
              <a:off x="723900" y="3975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7.source-003.text"/>
            <p:cNvSpPr/>
            <p:nvPr/>
          </p:nvSpPr>
          <p:spPr>
            <a:xfrm>
              <a:off x="876300" y="3886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13:00 Data, pain points, root causes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7.source-004.bullet"/>
            <p:cNvSpPr/>
            <p:nvPr/>
          </p:nvSpPr>
          <p:spPr>
            <a:xfrm>
              <a:off x="723900" y="4241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7.source-004.text"/>
            <p:cNvSpPr/>
            <p:nvPr/>
          </p:nvSpPr>
          <p:spPr>
            <a:xfrm>
              <a:off x="876300" y="41529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16:30 Playback, nothing ruled out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8" name="node08"/>
          <p:cNvGrpSpPr/>
          <p:nvPr/>
        </p:nvGrpSpPr>
        <p:grpSpPr>
          <a:xfrm>
            <a:off x="723900" y="4800600"/>
            <a:ext cx="3429000" cy="1143000"/>
            <a:chOff x="723900" y="4800600"/>
            <a:chExt cx="3429000" cy="1143000"/>
          </a:xfrm>
        </p:grpSpPr>
        <p:sp>
          <p:nvSpPr>
            <p:cNvPr id="27" name="node08.container"/>
            <p:cNvSpPr/>
            <p:nvPr/>
          </p:nvSpPr>
          <p:spPr>
            <a:xfrm>
              <a:off x="723900" y="48006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28" name="node08.label"/>
            <p:cNvSpPr/>
            <p:nvPr/>
          </p:nvSpPr>
          <p:spPr>
            <a:xfrm>
              <a:off x="952500" y="50292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OUTPUT BY END OF DAY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9" name="node08.title"/>
            <p:cNvSpPr/>
            <p:nvPr/>
          </p:nvSpPr>
          <p:spPr>
            <a:xfrm>
              <a:off x="952500" y="52197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Shared current state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9" name="node09"/>
          <p:cNvGrpSpPr/>
          <p:nvPr/>
        </p:nvGrpSpPr>
        <p:grpSpPr>
          <a:xfrm>
            <a:off x="4381500" y="3352800"/>
            <a:ext cx="3429000" cy="1028700"/>
            <a:chOff x="4381500" y="3352800"/>
            <a:chExt cx="3429000" cy="1028700"/>
          </a:xfrm>
        </p:grpSpPr>
        <p:sp>
          <p:nvSpPr>
            <p:cNvPr id="30" name="node09.source-001.bullet"/>
            <p:cNvSpPr/>
            <p:nvPr/>
          </p:nvSpPr>
          <p:spPr>
            <a:xfrm>
              <a:off x="4381500" y="3441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09.source-001.text"/>
            <p:cNvSpPr/>
            <p:nvPr/>
          </p:nvSpPr>
          <p:spPr>
            <a:xfrm>
              <a:off x="4533900" y="33528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9:00 Design principles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9.source-002.bullet"/>
            <p:cNvSpPr/>
            <p:nvPr/>
          </p:nvSpPr>
          <p:spPr>
            <a:xfrm>
              <a:off x="4381500" y="3708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3" name="node09.source-002.text"/>
            <p:cNvSpPr/>
            <p:nvPr/>
          </p:nvSpPr>
          <p:spPr>
            <a:xfrm>
              <a:off x="4533900" y="36195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9:45 Four design tables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4" name="node09.source-003.bullet"/>
            <p:cNvSpPr/>
            <p:nvPr/>
          </p:nvSpPr>
          <p:spPr>
            <a:xfrm>
              <a:off x="4381500" y="3975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09.source-003.text"/>
            <p:cNvSpPr/>
            <p:nvPr/>
          </p:nvSpPr>
          <p:spPr>
            <a:xfrm>
              <a:off x="4533900" y="3886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13:00 Cross-area hand-offs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09.source-004.bullet"/>
            <p:cNvSpPr/>
            <p:nvPr/>
          </p:nvSpPr>
          <p:spPr>
            <a:xfrm>
              <a:off x="4381500" y="4241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09.source-004.text"/>
            <p:cNvSpPr/>
            <p:nvPr/>
          </p:nvSpPr>
          <p:spPr>
            <a:xfrm>
              <a:off x="4533900" y="41529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15:00 Scenario tests, narrowing options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0" name="node10"/>
          <p:cNvGrpSpPr/>
          <p:nvPr/>
        </p:nvGrpSpPr>
        <p:grpSpPr>
          <a:xfrm>
            <a:off x="4381500" y="4800600"/>
            <a:ext cx="3429000" cy="1143000"/>
            <a:chOff x="4381500" y="4800600"/>
            <a:chExt cx="3429000" cy="1143000"/>
          </a:xfrm>
        </p:grpSpPr>
        <p:sp>
          <p:nvSpPr>
            <p:cNvPr id="38" name="node10.container"/>
            <p:cNvSpPr/>
            <p:nvPr/>
          </p:nvSpPr>
          <p:spPr>
            <a:xfrm>
              <a:off x="4381500" y="48006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39" name="node10.label"/>
            <p:cNvSpPr/>
            <p:nvPr/>
          </p:nvSpPr>
          <p:spPr>
            <a:xfrm>
              <a:off x="4610100" y="50292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OUTPUT BY END OF DAY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0" name="node10.title"/>
            <p:cNvSpPr/>
            <p:nvPr/>
          </p:nvSpPr>
          <p:spPr>
            <a:xfrm>
              <a:off x="4610100" y="52197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One design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61" name="node11"/>
          <p:cNvGrpSpPr/>
          <p:nvPr/>
        </p:nvGrpSpPr>
        <p:grpSpPr>
          <a:xfrm>
            <a:off x="8039100" y="3352800"/>
            <a:ext cx="3429000" cy="1028700"/>
            <a:chOff x="8039100" y="3352800"/>
            <a:chExt cx="3429000" cy="1028700"/>
          </a:xfrm>
        </p:grpSpPr>
        <p:sp>
          <p:nvSpPr>
            <p:cNvPr id="41" name="node11.source-001.bullet"/>
            <p:cNvSpPr/>
            <p:nvPr/>
          </p:nvSpPr>
          <p:spPr>
            <a:xfrm>
              <a:off x="8039100" y="3441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2" name="node11.source-001.text"/>
            <p:cNvSpPr/>
            <p:nvPr/>
          </p:nvSpPr>
          <p:spPr>
            <a:xfrm>
              <a:off x="8191500" y="33528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9:00 Resolve the last gaps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11.source-002.bullet"/>
            <p:cNvSpPr/>
            <p:nvPr/>
          </p:nvSpPr>
          <p:spPr>
            <a:xfrm>
              <a:off x="8039100" y="3708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11.source-002.text"/>
            <p:cNvSpPr/>
            <p:nvPr/>
          </p:nvSpPr>
          <p:spPr>
            <a:xfrm>
              <a:off x="8191500" y="36195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10:30 Score and rank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11.source-003.bullet"/>
            <p:cNvSpPr/>
            <p:nvPr/>
          </p:nvSpPr>
          <p:spPr>
            <a:xfrm>
              <a:off x="8039100" y="3975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6" name="node11.source-003.text"/>
            <p:cNvSpPr/>
            <p:nvPr/>
          </p:nvSpPr>
          <p:spPr>
            <a:xfrm>
              <a:off x="8191500" y="3886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13:00 Owners, dates, funding asks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7" name="node11.source-004.bullet"/>
            <p:cNvSpPr/>
            <p:nvPr/>
          </p:nvSpPr>
          <p:spPr>
            <a:xfrm>
              <a:off x="8039100" y="4241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8" name="node11.source-004.text"/>
            <p:cNvSpPr/>
            <p:nvPr/>
          </p:nvSpPr>
          <p:spPr>
            <a:xfrm>
              <a:off x="8191500" y="41529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14:00 Readout to sponsors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2" name="node12"/>
          <p:cNvGrpSpPr/>
          <p:nvPr/>
        </p:nvGrpSpPr>
        <p:grpSpPr>
          <a:xfrm>
            <a:off x="8039100" y="4800600"/>
            <a:ext cx="3429000" cy="1143000"/>
            <a:chOff x="8039100" y="4800600"/>
            <a:chExt cx="3429000" cy="1143000"/>
          </a:xfrm>
        </p:grpSpPr>
        <p:sp>
          <p:nvSpPr>
            <p:cNvPr id="49" name="node12.container"/>
            <p:cNvSpPr/>
            <p:nvPr/>
          </p:nvSpPr>
          <p:spPr>
            <a:xfrm>
              <a:off x="8039100" y="4800600"/>
              <a:ext cx="3429000" cy="1143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50" name="node12.label"/>
            <p:cNvSpPr/>
            <p:nvPr/>
          </p:nvSpPr>
          <p:spPr>
            <a:xfrm>
              <a:off x="8267700" y="50292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OUTPUT BY END OF DAY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1" name="node12.title"/>
            <p:cNvSpPr/>
            <p:nvPr/>
          </p:nvSpPr>
          <p:spPr>
            <a:xfrm>
              <a:off x="8267700" y="52197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Commitments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DAY 2 OF 3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Day 2 designs the future state, area by area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nav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6" name="nav.label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DAY 1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nav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8" name="nav.label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DAY 2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nav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0" name="nav.label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DAY 3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1" name="nav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2" name="nav.label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AFTER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3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5" name="node01"/>
          <p:cNvGrpSpPr/>
          <p:nvPr/>
        </p:nvGrpSpPr>
        <p:grpSpPr>
          <a:xfrm>
            <a:off x="723900" y="1600200"/>
            <a:ext cx="3429000" cy="228600"/>
            <a:chOff x="723900" y="1600200"/>
            <a:chExt cx="3429000" cy="228600"/>
          </a:xfrm>
        </p:grpSpPr>
        <p:sp>
          <p:nvSpPr>
            <p:cNvPr id="14" name="node01.label"/>
            <p:cNvSpPr/>
            <p:nvPr/>
          </p:nvSpPr>
          <p:spPr>
            <a:xfrm>
              <a:off x="723900" y="1600200"/>
              <a:ext cx="92685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OVERALL GOAL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5" name="node01.rule"/>
            <p:cNvSpPr/>
            <p:nvPr/>
          </p:nvSpPr>
          <p:spPr>
            <a:xfrm>
              <a:off x="1777752" y="1709738"/>
              <a:ext cx="237514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6" name="node02"/>
          <p:cNvSpPr/>
          <p:nvPr/>
        </p:nvSpPr>
        <p:spPr>
          <a:xfrm>
            <a:off x="723900" y="1828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6" name="node03"/>
          <p:cNvGrpSpPr/>
          <p:nvPr/>
        </p:nvGrpSpPr>
        <p:grpSpPr>
          <a:xfrm>
            <a:off x="723900" y="1905000"/>
            <a:ext cx="3429000" cy="457200"/>
            <a:chOff x="723900" y="1905000"/>
            <a:chExt cx="3429000" cy="457200"/>
          </a:xfrm>
        </p:grpSpPr>
        <p:sp>
          <p:nvSpPr>
            <p:cNvPr id="17" name="node03.text"/>
            <p:cNvSpPr/>
            <p:nvPr/>
          </p:nvSpPr>
          <p:spPr>
            <a:xfrm>
              <a:off x="723900" y="190500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Agree and commit to one future-state design for patient access by Thursday afternoon.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7" name="node04"/>
          <p:cNvGrpSpPr/>
          <p:nvPr/>
        </p:nvGrpSpPr>
        <p:grpSpPr>
          <a:xfrm>
            <a:off x="723900" y="2971800"/>
            <a:ext cx="3429000" cy="228600"/>
            <a:chOff x="723900" y="2971800"/>
            <a:chExt cx="3429000" cy="228600"/>
          </a:xfrm>
        </p:grpSpPr>
        <p:sp>
          <p:nvSpPr>
            <p:cNvPr id="18" name="node04.label"/>
            <p:cNvSpPr/>
            <p:nvPr/>
          </p:nvSpPr>
          <p:spPr>
            <a:xfrm>
              <a:off x="723900" y="2971800"/>
              <a:ext cx="167806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THREE DAYS AT A GLANCE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9" name="node04.rule"/>
            <p:cNvSpPr/>
            <p:nvPr/>
          </p:nvSpPr>
          <p:spPr>
            <a:xfrm>
              <a:off x="2528962" y="3081338"/>
              <a:ext cx="162393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0" name="node05"/>
          <p:cNvSpPr/>
          <p:nvPr/>
        </p:nvSpPr>
        <p:spPr>
          <a:xfrm>
            <a:off x="723900" y="3200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8" name="node06"/>
          <p:cNvGrpSpPr/>
          <p:nvPr/>
        </p:nvGrpSpPr>
        <p:grpSpPr>
          <a:xfrm>
            <a:off x="723900" y="3276600"/>
            <a:ext cx="3429000" cy="990600"/>
            <a:chOff x="723900" y="3276600"/>
            <a:chExt cx="3429000" cy="990600"/>
          </a:xfrm>
        </p:grpSpPr>
        <p:sp>
          <p:nvSpPr>
            <p:cNvPr id="21" name="node06.source-001.bullet"/>
            <p:cNvSpPr/>
            <p:nvPr/>
          </p:nvSpPr>
          <p:spPr>
            <a:xfrm>
              <a:off x="723900" y="3365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06.source-001.text"/>
            <p:cNvSpPr/>
            <p:nvPr/>
          </p:nvSpPr>
          <p:spPr>
            <a:xfrm>
              <a:off x="876300" y="3276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Day 1 Discover.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Current state and pain points.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6.source-002.bullet"/>
            <p:cNvSpPr/>
            <p:nvPr/>
          </p:nvSpPr>
          <p:spPr>
            <a:xfrm>
              <a:off x="723900" y="3632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6.source-002.text"/>
            <p:cNvSpPr/>
            <p:nvPr/>
          </p:nvSpPr>
          <p:spPr>
            <a:xfrm>
              <a:off x="876300" y="3543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Day 2 Design.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Future state for each area.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6.source-003.bullet"/>
            <p:cNvSpPr/>
            <p:nvPr/>
          </p:nvSpPr>
          <p:spPr>
            <a:xfrm>
              <a:off x="723900" y="3898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6.source-003.text"/>
            <p:cNvSpPr/>
            <p:nvPr/>
          </p:nvSpPr>
          <p:spPr>
            <a:xfrm>
              <a:off x="876300" y="38100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Day 3 Decide.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Rank, assign, commit; ends 15:00.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9" name="node07"/>
          <p:cNvGrpSpPr/>
          <p:nvPr/>
        </p:nvGrpSpPr>
        <p:grpSpPr>
          <a:xfrm>
            <a:off x="723900" y="4800600"/>
            <a:ext cx="3429000" cy="228600"/>
            <a:chOff x="723900" y="4800600"/>
            <a:chExt cx="3429000" cy="228600"/>
          </a:xfrm>
        </p:grpSpPr>
        <p:sp>
          <p:nvSpPr>
            <p:cNvPr id="27" name="node07.label"/>
            <p:cNvSpPr/>
            <p:nvPr/>
          </p:nvSpPr>
          <p:spPr>
            <a:xfrm>
              <a:off x="723900" y="4800600"/>
              <a:ext cx="70148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ATTENDEES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8" name="node07.rule"/>
            <p:cNvSpPr/>
            <p:nvPr/>
          </p:nvSpPr>
          <p:spPr>
            <a:xfrm>
              <a:off x="1552389" y="4910138"/>
              <a:ext cx="2600511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9" name="node08"/>
          <p:cNvSpPr/>
          <p:nvPr/>
        </p:nvSpPr>
        <p:spPr>
          <a:xfrm>
            <a:off x="723900" y="5029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0" name="node09"/>
          <p:cNvGrpSpPr/>
          <p:nvPr/>
        </p:nvGrpSpPr>
        <p:grpSpPr>
          <a:xfrm>
            <a:off x="723900" y="5105400"/>
            <a:ext cx="3429000" cy="495300"/>
            <a:chOff x="723900" y="5105400"/>
            <a:chExt cx="3429000" cy="495300"/>
          </a:xfrm>
        </p:grpSpPr>
        <p:sp>
          <p:nvSpPr>
            <p:cNvPr id="30" name="node09.source-001.bullet"/>
            <p:cNvSpPr/>
            <p:nvPr/>
          </p:nvSpPr>
          <p:spPr>
            <a:xfrm>
              <a:off x="723900" y="5194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09.source-001.text"/>
            <p:cNvSpPr/>
            <p:nvPr/>
          </p:nvSpPr>
          <p:spPr>
            <a:xfrm>
              <a:off x="876300" y="5105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Access, registration, revenue cycle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9.source-002.bullet"/>
            <p:cNvSpPr/>
            <p:nvPr/>
          </p:nvSpPr>
          <p:spPr>
            <a:xfrm>
              <a:off x="723900" y="546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3" name="node09.source-002.text"/>
            <p:cNvSpPr/>
            <p:nvPr/>
          </p:nvSpPr>
          <p:spPr>
            <a:xfrm>
              <a:off x="876300" y="53721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IT owners and a finance partner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1" name="node10"/>
          <p:cNvGrpSpPr/>
          <p:nvPr/>
        </p:nvGrpSpPr>
        <p:grpSpPr>
          <a:xfrm>
            <a:off x="4381500" y="1600200"/>
            <a:ext cx="3429000" cy="228600"/>
            <a:chOff x="4381500" y="1600200"/>
            <a:chExt cx="3429000" cy="228600"/>
          </a:xfrm>
        </p:grpSpPr>
        <p:sp>
          <p:nvSpPr>
            <p:cNvPr id="34" name="node10.label"/>
            <p:cNvSpPr/>
            <p:nvPr/>
          </p:nvSpPr>
          <p:spPr>
            <a:xfrm>
              <a:off x="4381500" y="1600200"/>
              <a:ext cx="212878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DAY 2 AGENDA · 9:00 TO 17:00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5" name="node10.rule"/>
            <p:cNvSpPr/>
            <p:nvPr/>
          </p:nvSpPr>
          <p:spPr>
            <a:xfrm>
              <a:off x="6637288" y="1709738"/>
              <a:ext cx="1173212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6" name="node11"/>
          <p:cNvSpPr/>
          <p:nvPr/>
        </p:nvSpPr>
        <p:spPr>
          <a:xfrm>
            <a:off x="4381500" y="1828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2" name="node12"/>
          <p:cNvGrpSpPr/>
          <p:nvPr/>
        </p:nvGrpSpPr>
        <p:grpSpPr>
          <a:xfrm>
            <a:off x="4381500" y="1905000"/>
            <a:ext cx="3429000" cy="2743200"/>
            <a:chOff x="4381500" y="1905000"/>
            <a:chExt cx="3429000" cy="2743200"/>
          </a:xfrm>
        </p:grpSpPr>
        <p:sp>
          <p:nvSpPr>
            <p:cNvPr id="37" name="node12.source-001.key"/>
            <p:cNvSpPr/>
            <p:nvPr/>
          </p:nvSpPr>
          <p:spPr>
            <a:xfrm>
              <a:off x="4381500" y="19050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12.source-001.text"/>
            <p:cNvSpPr/>
            <p:nvPr/>
          </p:nvSpPr>
          <p:spPr>
            <a:xfrm>
              <a:off x="5295900" y="1909191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Recap and principles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9" name="node12.source-002.key"/>
            <p:cNvSpPr/>
            <p:nvPr/>
          </p:nvSpPr>
          <p:spPr>
            <a:xfrm>
              <a:off x="4381500" y="22479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12.source-002.text"/>
            <p:cNvSpPr/>
            <p:nvPr/>
          </p:nvSpPr>
          <p:spPr>
            <a:xfrm>
              <a:off x="5295900" y="2252091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by area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1" name="node12.source-003.key"/>
            <p:cNvSpPr/>
            <p:nvPr/>
          </p:nvSpPr>
          <p:spPr>
            <a:xfrm>
              <a:off x="4381500" y="25908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11:30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2" name="node12.source-003.text"/>
            <p:cNvSpPr/>
            <p:nvPr/>
          </p:nvSpPr>
          <p:spPr>
            <a:xfrm>
              <a:off x="5295900" y="2594991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Table playbacks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3" name="node12.source-004.key"/>
            <p:cNvSpPr/>
            <p:nvPr/>
          </p:nvSpPr>
          <p:spPr>
            <a:xfrm>
              <a:off x="4381500" y="29337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12:30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4" name="node12.source-004.text"/>
            <p:cNvSpPr/>
            <p:nvPr/>
          </p:nvSpPr>
          <p:spPr>
            <a:xfrm>
              <a:off x="5295900" y="2937891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Working lunch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5" name="node12.source-005.key"/>
            <p:cNvSpPr/>
            <p:nvPr/>
          </p:nvSpPr>
          <p:spPr>
            <a:xfrm>
              <a:off x="4381500" y="32766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13:00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6" name="node12.source-005.text"/>
            <p:cNvSpPr/>
            <p:nvPr/>
          </p:nvSpPr>
          <p:spPr>
            <a:xfrm>
              <a:off x="5295900" y="3280791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Cross-area hand-offs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7" name="node12.source-006.key"/>
            <p:cNvSpPr/>
            <p:nvPr/>
          </p:nvSpPr>
          <p:spPr>
            <a:xfrm>
              <a:off x="4381500" y="36195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15:00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8" name="node12.source-006.text"/>
            <p:cNvSpPr/>
            <p:nvPr/>
          </p:nvSpPr>
          <p:spPr>
            <a:xfrm>
              <a:off x="5295900" y="3623691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Scenario tests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9" name="node12.source-007.key"/>
            <p:cNvSpPr/>
            <p:nvPr/>
          </p:nvSpPr>
          <p:spPr>
            <a:xfrm>
              <a:off x="4381500" y="39624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16:30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0" name="node12.source-007.text"/>
            <p:cNvSpPr/>
            <p:nvPr/>
          </p:nvSpPr>
          <p:spPr>
            <a:xfrm>
              <a:off x="5295900" y="3966591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Day 2 playback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1" name="node12.source-008.key"/>
            <p:cNvSpPr/>
            <p:nvPr/>
          </p:nvSpPr>
          <p:spPr>
            <a:xfrm>
              <a:off x="4381500" y="4305300"/>
              <a:ext cx="68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17:00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12.source-008.text"/>
            <p:cNvSpPr/>
            <p:nvPr/>
          </p:nvSpPr>
          <p:spPr>
            <a:xfrm>
              <a:off x="5295900" y="4309491"/>
              <a:ext cx="2514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Close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93" name="node13"/>
          <p:cNvGrpSpPr/>
          <p:nvPr/>
        </p:nvGrpSpPr>
        <p:grpSpPr>
          <a:xfrm>
            <a:off x="4381500" y="4800600"/>
            <a:ext cx="3429000" cy="228600"/>
            <a:chOff x="4381500" y="4800600"/>
            <a:chExt cx="3429000" cy="228600"/>
          </a:xfrm>
        </p:grpSpPr>
        <p:sp>
          <p:nvSpPr>
            <p:cNvPr id="53" name="node13.label"/>
            <p:cNvSpPr/>
            <p:nvPr/>
          </p:nvSpPr>
          <p:spPr>
            <a:xfrm>
              <a:off x="4381500" y="4800600"/>
              <a:ext cx="130245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ROLES IN THE ROOM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4" name="node13.rule"/>
            <p:cNvSpPr/>
            <p:nvPr/>
          </p:nvSpPr>
          <p:spPr>
            <a:xfrm>
              <a:off x="5810957" y="4910138"/>
              <a:ext cx="1999543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55" name="node14"/>
          <p:cNvSpPr/>
          <p:nvPr/>
        </p:nvSpPr>
        <p:spPr>
          <a:xfrm>
            <a:off x="4381500" y="5029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4" name="node15"/>
          <p:cNvGrpSpPr/>
          <p:nvPr/>
        </p:nvGrpSpPr>
        <p:grpSpPr>
          <a:xfrm>
            <a:off x="4381500" y="5105400"/>
            <a:ext cx="3429000" cy="495300"/>
            <a:chOff x="4381500" y="5105400"/>
            <a:chExt cx="3429000" cy="495300"/>
          </a:xfrm>
        </p:grpSpPr>
        <p:sp>
          <p:nvSpPr>
            <p:cNvPr id="56" name="node15.source-001.bullet"/>
            <p:cNvSpPr/>
            <p:nvPr/>
          </p:nvSpPr>
          <p:spPr>
            <a:xfrm>
              <a:off x="4381500" y="5194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7" name="node15.source-001.text"/>
            <p:cNvSpPr/>
            <p:nvPr/>
          </p:nvSpPr>
          <p:spPr>
            <a:xfrm>
              <a:off x="4533900" y="5105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Two facilitators, one scribe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8" name="node15.source-002.bullet"/>
            <p:cNvSpPr/>
            <p:nvPr/>
          </p:nvSpPr>
          <p:spPr>
            <a:xfrm>
              <a:off x="4381500" y="546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9" name="node15.source-002.text"/>
            <p:cNvSpPr/>
            <p:nvPr/>
          </p:nvSpPr>
          <p:spPr>
            <a:xfrm>
              <a:off x="4533900" y="53721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owner per area 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5" name="node16"/>
          <p:cNvGrpSpPr/>
          <p:nvPr/>
        </p:nvGrpSpPr>
        <p:grpSpPr>
          <a:xfrm>
            <a:off x="8039100" y="1600200"/>
            <a:ext cx="3429000" cy="228600"/>
            <a:chOff x="8039100" y="1600200"/>
            <a:chExt cx="3429000" cy="228600"/>
          </a:xfrm>
        </p:grpSpPr>
        <p:sp>
          <p:nvSpPr>
            <p:cNvPr id="60" name="node16.label"/>
            <p:cNvSpPr/>
            <p:nvPr/>
          </p:nvSpPr>
          <p:spPr>
            <a:xfrm>
              <a:off x="8039100" y="1600200"/>
              <a:ext cx="167806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OUTPUT BY END OF DAY 2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1" name="node16.rule"/>
            <p:cNvSpPr/>
            <p:nvPr/>
          </p:nvSpPr>
          <p:spPr>
            <a:xfrm>
              <a:off x="9844162" y="1709738"/>
              <a:ext cx="162393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62" name="node17"/>
          <p:cNvSpPr/>
          <p:nvPr/>
        </p:nvSpPr>
        <p:spPr>
          <a:xfrm>
            <a:off x="8039100" y="1828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6" name="node18"/>
          <p:cNvGrpSpPr/>
          <p:nvPr/>
        </p:nvGrpSpPr>
        <p:grpSpPr>
          <a:xfrm>
            <a:off x="8039100" y="1905000"/>
            <a:ext cx="3429000" cy="762000"/>
            <a:chOff x="8039100" y="1905000"/>
            <a:chExt cx="3429000" cy="762000"/>
          </a:xfrm>
        </p:grpSpPr>
        <p:sp>
          <p:nvSpPr>
            <p:cNvPr id="63" name="node18.source-001.bullet"/>
            <p:cNvSpPr/>
            <p:nvPr/>
          </p:nvSpPr>
          <p:spPr>
            <a:xfrm>
              <a:off x="8039100" y="1993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4" name="node18.source-001.text"/>
            <p:cNvSpPr/>
            <p:nvPr/>
          </p:nvSpPr>
          <p:spPr>
            <a:xfrm>
              <a:off x="8191500" y="1905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Future-state design for each area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5" name="node18.source-002.bullet"/>
            <p:cNvSpPr/>
            <p:nvPr/>
          </p:nvSpPr>
          <p:spPr>
            <a:xfrm>
              <a:off x="8039100" y="2260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6" name="node18.source-002.text"/>
            <p:cNvSpPr/>
            <p:nvPr/>
          </p:nvSpPr>
          <p:spPr>
            <a:xfrm>
              <a:off x="8191500" y="21717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Open gaps list for day 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7" name="node18.source-003.bullet"/>
            <p:cNvSpPr/>
            <p:nvPr/>
          </p:nvSpPr>
          <p:spPr>
            <a:xfrm>
              <a:off x="8039100" y="2527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8" name="node18.source-003.text"/>
            <p:cNvSpPr/>
            <p:nvPr/>
          </p:nvSpPr>
          <p:spPr>
            <a:xfrm>
              <a:off x="8191500" y="2438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Decisions log, draft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7" name="node19"/>
          <p:cNvGrpSpPr/>
          <p:nvPr/>
        </p:nvGrpSpPr>
        <p:grpSpPr>
          <a:xfrm>
            <a:off x="8039100" y="3200400"/>
            <a:ext cx="3429000" cy="228600"/>
            <a:chOff x="8039100" y="3200400"/>
            <a:chExt cx="3429000" cy="228600"/>
          </a:xfrm>
        </p:grpSpPr>
        <p:sp>
          <p:nvSpPr>
            <p:cNvPr id="69" name="node19.label"/>
            <p:cNvSpPr/>
            <p:nvPr/>
          </p:nvSpPr>
          <p:spPr>
            <a:xfrm>
              <a:off x="8039100" y="3200400"/>
              <a:ext cx="137757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ROOM AND LOGISTICS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0" name="node19.rule"/>
            <p:cNvSpPr/>
            <p:nvPr/>
          </p:nvSpPr>
          <p:spPr>
            <a:xfrm>
              <a:off x="9543678" y="3309938"/>
              <a:ext cx="1924422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71" name="node20"/>
          <p:cNvSpPr/>
          <p:nvPr/>
        </p:nvSpPr>
        <p:spPr>
          <a:xfrm>
            <a:off x="8039100" y="3429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8" name="node21"/>
          <p:cNvGrpSpPr/>
          <p:nvPr/>
        </p:nvGrpSpPr>
        <p:grpSpPr>
          <a:xfrm>
            <a:off x="8039100" y="3505200"/>
            <a:ext cx="3429000" cy="762000"/>
            <a:chOff x="8039100" y="3505200"/>
            <a:chExt cx="3429000" cy="762000"/>
          </a:xfrm>
        </p:grpSpPr>
        <p:sp>
          <p:nvSpPr>
            <p:cNvPr id="72" name="node21.source-001.bullet"/>
            <p:cNvSpPr/>
            <p:nvPr/>
          </p:nvSpPr>
          <p:spPr>
            <a:xfrm>
              <a:off x="8039100" y="3594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3" name="node21.source-001.text"/>
            <p:cNvSpPr/>
            <p:nvPr/>
          </p:nvSpPr>
          <p:spPr>
            <a:xfrm>
              <a:off x="8191500" y="3505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Wed Nov 5, HQ room 4B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4" name="node21.source-002.bullet"/>
            <p:cNvSpPr/>
            <p:nvPr/>
          </p:nvSpPr>
          <p:spPr>
            <a:xfrm>
              <a:off x="8039100" y="3860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5" name="node21.source-002.text"/>
            <p:cNvSpPr/>
            <p:nvPr/>
          </p:nvSpPr>
          <p:spPr>
            <a:xfrm>
              <a:off x="8191500" y="37719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Four tables, one per area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6" name="node21.source-003.bullet"/>
            <p:cNvSpPr/>
            <p:nvPr/>
          </p:nvSpPr>
          <p:spPr>
            <a:xfrm>
              <a:off x="8039100" y="4127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7" name="node21.source-003.text"/>
            <p:cNvSpPr/>
            <p:nvPr/>
          </p:nvSpPr>
          <p:spPr>
            <a:xfrm>
              <a:off x="8191500" y="4038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Video bridge for remote leads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9" name="node22"/>
          <p:cNvGrpSpPr/>
          <p:nvPr/>
        </p:nvGrpSpPr>
        <p:grpSpPr>
          <a:xfrm>
            <a:off x="8039100" y="4800600"/>
            <a:ext cx="3429000" cy="228600"/>
            <a:chOff x="8039100" y="4800600"/>
            <a:chExt cx="3429000" cy="228600"/>
          </a:xfrm>
        </p:grpSpPr>
        <p:sp>
          <p:nvSpPr>
            <p:cNvPr id="78" name="node22.label"/>
            <p:cNvSpPr/>
            <p:nvPr/>
          </p:nvSpPr>
          <p:spPr>
            <a:xfrm>
              <a:off x="8039100" y="4800600"/>
              <a:ext cx="92685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BEFORE DAY 3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9" name="node22.rule"/>
            <p:cNvSpPr/>
            <p:nvPr/>
          </p:nvSpPr>
          <p:spPr>
            <a:xfrm>
              <a:off x="9092952" y="4910138"/>
              <a:ext cx="237514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80" name="node23"/>
          <p:cNvSpPr/>
          <p:nvPr/>
        </p:nvSpPr>
        <p:spPr>
          <a:xfrm>
            <a:off x="8039100" y="5029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100" name="node24"/>
          <p:cNvGrpSpPr/>
          <p:nvPr/>
        </p:nvGrpSpPr>
        <p:grpSpPr>
          <a:xfrm>
            <a:off x="8039100" y="5105400"/>
            <a:ext cx="3429000" cy="495300"/>
            <a:chOff x="8039100" y="5105400"/>
            <a:chExt cx="3429000" cy="495300"/>
          </a:xfrm>
        </p:grpSpPr>
        <p:sp>
          <p:nvSpPr>
            <p:cNvPr id="81" name="node24.source-001.bullet"/>
            <p:cNvSpPr/>
            <p:nvPr/>
          </p:nvSpPr>
          <p:spPr>
            <a:xfrm>
              <a:off x="8039100" y="5194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2" name="node24.source-001.text"/>
            <p:cNvSpPr/>
            <p:nvPr/>
          </p:nvSpPr>
          <p:spPr>
            <a:xfrm>
              <a:off x="8191500" y="5105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Sponsors hold 14:00 to 15:00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3" name="node24.source-002.bullet"/>
            <p:cNvSpPr/>
            <p:nvPr/>
          </p:nvSpPr>
          <p:spPr>
            <a:xfrm>
              <a:off x="8039100" y="546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4" name="node24.source-002.text"/>
            <p:cNvSpPr/>
            <p:nvPr/>
          </p:nvSpPr>
          <p:spPr>
            <a:xfrm>
              <a:off x="8191500" y="53721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Owners confirm their area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6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80391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80391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Two days, in the room and on video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3" name="node01"/>
          <p:cNvGrpSpPr/>
          <p:nvPr/>
        </p:nvGrpSpPr>
        <p:grpSpPr>
          <a:xfrm>
            <a:off x="723900" y="457200"/>
            <a:ext cx="7086600" cy="5308600"/>
            <a:chOff x="723900" y="457200"/>
            <a:chExt cx="7086600" cy="53086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457200"/>
            <a:ext cx="6705600" cy="5308600"/>
          </p:xfrm>
          <a:graphic>
            <a:graphicData uri="http://schemas.openxmlformats.org/drawingml/2006/table">
              <a:tbl>
                <a:tblPr/>
                <a:tblGrid>
                  <a:gridCol w="762000"/>
                  <a:gridCol w="2590800"/>
                  <a:gridCol w="1066800"/>
                  <a:gridCol w="22860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TIME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SESSION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WHERE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OUTPUT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4953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Welcome and goals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person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Validated current state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953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9:45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Current-state walk-through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person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Ranked pain points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953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11:15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Journey mapping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person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Journey map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953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13:00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Data and pain points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Remote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Root-cause list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953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15:00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Playback and root causes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person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Day 1 playback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953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Recap and principles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Remote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Agreed principles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953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9:45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Design by area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person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Four area designs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953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13:00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Cross-area hand-offs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Remote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Hand-off agreements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953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15:00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Decisions and owners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person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Decisions log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953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16:00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Readout to sponsors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Hybrid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Signed-off readout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7" name="node01.row-group.source-001.fill"/>
            <p:cNvSpPr/>
            <p:nvPr/>
          </p:nvSpPr>
          <p:spPr>
            <a:xfrm>
              <a:off x="723900" y="831850"/>
              <a:ext cx="304800" cy="2438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8" name="node01.row-group.source-001.label"/>
            <p:cNvSpPr/>
            <p:nvPr/>
          </p:nvSpPr>
          <p:spPr>
            <a:xfrm rot="-5400000">
              <a:off x="-342900" y="1974850"/>
              <a:ext cx="2438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DAY 1 · NOV 4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9" name="node01.row-group.source-002.fill"/>
            <p:cNvSpPr/>
            <p:nvPr/>
          </p:nvSpPr>
          <p:spPr>
            <a:xfrm>
              <a:off x="723900" y="3308350"/>
              <a:ext cx="304800" cy="24384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row-group.source-002.label"/>
            <p:cNvSpPr/>
            <p:nvPr/>
          </p:nvSpPr>
          <p:spPr>
            <a:xfrm rot="-5400000">
              <a:off x="-342900" y="4451350"/>
              <a:ext cx="2438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DAY 2 · NOV 5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4" name="node02"/>
          <p:cNvGrpSpPr/>
          <p:nvPr/>
        </p:nvGrpSpPr>
        <p:grpSpPr>
          <a:xfrm>
            <a:off x="8039100" y="2286000"/>
            <a:ext cx="3429000" cy="228600"/>
            <a:chOff x="8039100" y="2286000"/>
            <a:chExt cx="3429000" cy="228600"/>
          </a:xfrm>
        </p:grpSpPr>
        <p:sp>
          <p:nvSpPr>
            <p:cNvPr id="11" name="node02.label"/>
            <p:cNvSpPr/>
            <p:nvPr/>
          </p:nvSpPr>
          <p:spPr>
            <a:xfrm>
              <a:off x="8039100" y="2286000"/>
              <a:ext cx="92685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OVERALL GOAL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2" name="node02.rule"/>
            <p:cNvSpPr/>
            <p:nvPr/>
          </p:nvSpPr>
          <p:spPr>
            <a:xfrm>
              <a:off x="9092952" y="2395538"/>
              <a:ext cx="237514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3" name="node03"/>
          <p:cNvSpPr/>
          <p:nvPr/>
        </p:nvSpPr>
        <p:spPr>
          <a:xfrm>
            <a:off x="8039100" y="2514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5" name="node04"/>
          <p:cNvGrpSpPr/>
          <p:nvPr/>
        </p:nvGrpSpPr>
        <p:grpSpPr>
          <a:xfrm>
            <a:off x="8039100" y="2590800"/>
            <a:ext cx="3429000" cy="457200"/>
            <a:chOff x="8039100" y="2590800"/>
            <a:chExt cx="3429000" cy="457200"/>
          </a:xfrm>
        </p:grpSpPr>
        <p:sp>
          <p:nvSpPr>
            <p:cNvPr id="14" name="node04.text"/>
            <p:cNvSpPr/>
            <p:nvPr/>
          </p:nvSpPr>
          <p:spPr>
            <a:xfrm>
              <a:off x="8039100" y="259080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Agree and commit to one future-state design for patient access.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6" name="node05"/>
          <p:cNvGrpSpPr/>
          <p:nvPr/>
        </p:nvGrpSpPr>
        <p:grpSpPr>
          <a:xfrm>
            <a:off x="8039100" y="3429000"/>
            <a:ext cx="3429000" cy="228600"/>
            <a:chOff x="8039100" y="3429000"/>
            <a:chExt cx="3429000" cy="228600"/>
          </a:xfrm>
        </p:grpSpPr>
        <p:sp>
          <p:nvSpPr>
            <p:cNvPr id="15" name="node05.label"/>
            <p:cNvSpPr/>
            <p:nvPr/>
          </p:nvSpPr>
          <p:spPr>
            <a:xfrm>
              <a:off x="8039100" y="3429000"/>
              <a:ext cx="70148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LOGISTICS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6" name="node05.rule"/>
            <p:cNvSpPr/>
            <p:nvPr/>
          </p:nvSpPr>
          <p:spPr>
            <a:xfrm>
              <a:off x="8867589" y="3538538"/>
              <a:ext cx="2600511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7" name="node06"/>
          <p:cNvSpPr/>
          <p:nvPr/>
        </p:nvSpPr>
        <p:spPr>
          <a:xfrm>
            <a:off x="8039100" y="3657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7" name="node07"/>
          <p:cNvGrpSpPr/>
          <p:nvPr/>
        </p:nvGrpSpPr>
        <p:grpSpPr>
          <a:xfrm>
            <a:off x="8039100" y="3733800"/>
            <a:ext cx="3429000" cy="762000"/>
            <a:chOff x="8039100" y="3733800"/>
            <a:chExt cx="3429000" cy="762000"/>
          </a:xfrm>
        </p:grpSpPr>
        <p:sp>
          <p:nvSpPr>
            <p:cNvPr id="18" name="node07.source-001.bullet"/>
            <p:cNvSpPr/>
            <p:nvPr/>
          </p:nvSpPr>
          <p:spPr>
            <a:xfrm>
              <a:off x="8039100" y="3822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" name="node07.source-001.text"/>
            <p:cNvSpPr/>
            <p:nvPr/>
          </p:nvSpPr>
          <p:spPr>
            <a:xfrm>
              <a:off x="8191500" y="37338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In person: Northfield HQ, room 4B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7.source-002.bullet"/>
            <p:cNvSpPr/>
            <p:nvPr/>
          </p:nvSpPr>
          <p:spPr>
            <a:xfrm>
              <a:off x="8039100" y="4089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1" name="node07.source-002.text"/>
            <p:cNvSpPr/>
            <p:nvPr/>
          </p:nvSpPr>
          <p:spPr>
            <a:xfrm>
              <a:off x="8191500" y="40005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Remote: video bridge, shared board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2" name="node07.source-003.bullet"/>
            <p:cNvSpPr/>
            <p:nvPr/>
          </p:nvSpPr>
          <p:spPr>
            <a:xfrm>
              <a:off x="8039100" y="4356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07.source-003.text"/>
            <p:cNvSpPr/>
            <p:nvPr/>
          </p:nvSpPr>
          <p:spPr>
            <a:xfrm>
              <a:off x="8191500" y="4267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Hybrid blocks run both at once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8" name="node08"/>
          <p:cNvGrpSpPr/>
          <p:nvPr/>
        </p:nvGrpSpPr>
        <p:grpSpPr>
          <a:xfrm>
            <a:off x="8039100" y="4724400"/>
            <a:ext cx="3429000" cy="228600"/>
            <a:chOff x="8039100" y="4724400"/>
            <a:chExt cx="3429000" cy="228600"/>
          </a:xfrm>
        </p:grpSpPr>
        <p:sp>
          <p:nvSpPr>
            <p:cNvPr id="24" name="node08.label"/>
            <p:cNvSpPr/>
            <p:nvPr/>
          </p:nvSpPr>
          <p:spPr>
            <a:xfrm>
              <a:off x="8039100" y="4724400"/>
              <a:ext cx="167806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WHO JOINS AND PRE-WORK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5" name="node08.rule"/>
            <p:cNvSpPr/>
            <p:nvPr/>
          </p:nvSpPr>
          <p:spPr>
            <a:xfrm>
              <a:off x="9844162" y="4833938"/>
              <a:ext cx="162393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6" name="node09"/>
          <p:cNvSpPr/>
          <p:nvPr/>
        </p:nvSpPr>
        <p:spPr>
          <a:xfrm>
            <a:off x="8039100" y="4953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9" name="node10"/>
          <p:cNvGrpSpPr/>
          <p:nvPr/>
        </p:nvGrpSpPr>
        <p:grpSpPr>
          <a:xfrm>
            <a:off x="8039100" y="5029200"/>
            <a:ext cx="3429000" cy="762000"/>
            <a:chOff x="8039100" y="5029200"/>
            <a:chExt cx="3429000" cy="762000"/>
          </a:xfrm>
        </p:grpSpPr>
        <p:sp>
          <p:nvSpPr>
            <p:cNvPr id="27" name="node10.source-001.bullet"/>
            <p:cNvSpPr/>
            <p:nvPr/>
          </p:nvSpPr>
          <p:spPr>
            <a:xfrm>
              <a:off x="8039100" y="5118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10.source-001.text"/>
            <p:cNvSpPr/>
            <p:nvPr/>
          </p:nvSpPr>
          <p:spPr>
            <a:xfrm>
              <a:off x="8191500" y="5029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Core group of 14, plus eight remote leads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10.source-002.bullet"/>
            <p:cNvSpPr/>
            <p:nvPr/>
          </p:nvSpPr>
          <p:spPr>
            <a:xfrm>
              <a:off x="8039100" y="5384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10.source-002.text"/>
            <p:cNvSpPr/>
            <p:nvPr/>
          </p:nvSpPr>
          <p:spPr>
            <a:xfrm>
              <a:off x="8191500" y="52959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Test the video link by Oct 30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10.source-003.bullet"/>
            <p:cNvSpPr/>
            <p:nvPr/>
          </p:nvSpPr>
          <p:spPr>
            <a:xfrm>
              <a:off x="8039100" y="5651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10.source-003.text"/>
            <p:cNvSpPr/>
            <p:nvPr/>
          </p:nvSpPr>
          <p:spPr>
            <a:xfrm>
              <a:off x="8191500" y="5562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Bring one failed-visit example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foundation reference</dc:title>
  <dc:subject>PptxGenJS Presentation</dc:subject>
  <dc:creator>West Monroe</dc:creator>
  <cp:lastModifiedBy>West Monroe</cp:lastModifiedBy>
  <cp:revision>1</cp:revision>
  <dcterms:created xsi:type="dcterms:W3CDTF">2026-10-06T12:18:08Z</dcterms:created>
  <dcterms:modified xsi:type="dcterms:W3CDTF">2026-10-06T12:18:08Z</dcterms:modified>
</cp:coreProperties>
</file>