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5.svg" ContentType="image/svg+xml"/>
  <Override PartName="/ppt/media/image19.svg" ContentType="image/svg+xml"/>
  <Override PartName="/ppt/media/image2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2"/>
  </p:notesMasterIdLst>
  <p:sldIdLst>
    <p:sldId id="256" r:id="rId5"/>
    <p:sldId id="671" r:id="rId69"/>
    <p:sldId id="672" r:id="rId70"/>
    <p:sldId id="673" r:id="rId71"/>
    <p:sldId id="674" r:id="rId72"/>
    <p:sldId id="675" r:id="rId73"/>
    <p:sldId id="687" r:id="rId85"/>
    <p:sldId id="676" r:id="rId74"/>
    <p:sldId id="677" r:id="rId75"/>
    <p:sldId id="678" r:id="rId76"/>
    <p:sldId id="679" r:id="rId77"/>
    <p:sldId id="680" r:id="rId78"/>
    <p:sldId id="681" r:id="rId79"/>
    <p:sldId id="682" r:id="rId80"/>
    <p:sldId id="683" r:id="rId81"/>
    <p:sldId id="684" r:id="rId82"/>
    <p:sldId id="685" r:id="rId83"/>
    <p:sldId id="686"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316C4AD-AAB6-1E4A-AF4B-0226BEF7CC03}">
          <p14:sldIdLst>
            <p14:sldId id="256"/>
            <p14:sldId id="667"/>
            <p14:sldId id="315"/>
            <p14:sldId id="304"/>
          </p14:sldIdLst>
        </p14:section>
        <p14:section name="Executive Summary" id="{BFF74B93-E984-F24C-BAAF-CF488E3B5F4B}">
          <p14:sldIdLst>
            <p14:sldId id="259"/>
            <p14:sldId id="345"/>
            <p14:sldId id="670"/>
            <p14:sldId id="332"/>
          </p14:sldIdLst>
        </p14:section>
        <p14:section name="Deliverables" id="{4BC8D54B-858F-AF44-9C09-8E444A1CA937}">
          <p14:sldIdLst>
            <p14:sldId id="327"/>
          </p14:sldIdLst>
        </p14:section>
        <p14:section name="Practices map" id="{86C5F6B6-BA30-484D-8D5B-49C3E8859218}">
          <p14:sldIdLst>
            <p14:sldId id="282"/>
            <p14:sldId id="326"/>
            <p14:sldId id="294"/>
          </p14:sldIdLst>
        </p14:section>
        <p14:section name="Activation summary" id="{4B5FA3C8-41AA-8140-AEF6-A5504DCFF45D}">
          <p14:sldIdLst>
            <p14:sldId id="346"/>
            <p14:sldId id="295"/>
            <p14:sldId id="265"/>
            <p14:sldId id="292"/>
          </p14:sldIdLst>
        </p14:section>
        <p14:section name="Activation roadmap" id="{6B9EEFA3-B0EE-6847-A1FB-0170F7C3AB20}">
          <p14:sldIdLst>
            <p14:sldId id="347"/>
            <p14:sldId id="323"/>
            <p14:sldId id="316"/>
            <p14:sldId id="302"/>
            <p14:sldId id="319"/>
            <p14:sldId id="318"/>
            <p14:sldId id="317"/>
            <p14:sldId id="283"/>
            <p14:sldId id="267"/>
            <p14:sldId id="274"/>
            <p14:sldId id="276"/>
            <p14:sldId id="287"/>
            <p14:sldId id="278"/>
            <p14:sldId id="306"/>
            <p14:sldId id="288"/>
            <p14:sldId id="272"/>
            <p14:sldId id="311"/>
            <p14:sldId id="314"/>
            <p14:sldId id="322"/>
            <p14:sldId id="310"/>
            <p14:sldId id="348"/>
            <p14:sldId id="340"/>
            <p14:sldId id="668"/>
            <p14:sldId id="669"/>
            <p14:sldId id="341"/>
          </p14:sldIdLst>
        </p14:section>
        <p14:section name="Graveyard" id="{8053114B-8BA2-F145-AD74-1EEE94E2779B}">
          <p14:sldIdLst>
            <p14:sldId id="296"/>
            <p14:sldId id="286"/>
            <p14:sldId id="297"/>
            <p14:sldId id="303"/>
            <p14:sldId id="263"/>
            <p14:sldId id="284"/>
            <p14:sldId id="305"/>
            <p14:sldId id="298"/>
            <p14:sldId id="299"/>
            <p14:sldId id="300"/>
            <p14:sldId id="301"/>
            <p14:sldId id="307"/>
            <p14:sldId id="321"/>
            <p14:sldId id="257"/>
            <p14:sldId id="320"/>
            <p14:sldId id="331"/>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E7A012-4DE3-BD7D-683E-6DBA83D26AFF}" name="Ri Scott" initials="RS" userId="S::rscott@westmonroepartners.com::1913be8a-4603-46d8-b612-bfc881c3abfb" providerId="AD"/>
  <p188:author id="{6BCFFFA3-632A-0650-139C-853EA209CC34}" name="Anthony Salerno" initials="AS" userId="S::asalerno@westmonroepartners.com::d1b4cfc1-2afc-4247-a96a-a247d4d9def5" providerId="AD"/>
  <p188:author id="{91CEAAE8-0363-BC96-FF8A-DB87E053E59F}" name="Sameer Karim" initials="SK" userId="S::skarim@westmonroepartners.com::9cab37b7-2936-4623-a6a1-1caa11eed363" providerId="AD"/>
  <p188:author id="{A4955AF2-D546-83B0-A1A9-47C685039754}" name="Gerardo Arroyo" initials="" userId="S::garroyo@westmonroepartners.com::29bef0c0-363c-4268-bff3-0d97d45984e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0658E"/>
    <a:srgbClr val="FDE0DC"/>
    <a:srgbClr val="004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9" dt="2026-10-02T13:46:44.074"/>
    <p1510:client id="{6300F808-CFA9-3342-9EE8-69F43F51DC98}" v="150" dt="2026-10-02T17:27:31.915"/>
    <p1510:client id="{6B542629-A5E4-7842-B7E6-1762C931D5D6}" v="3" dt="2026-10-02T17:27:53.120"/>
    <p1510:client id="{88D9DEE5-70A0-D04F-BBA0-31B3991DFF6E}" v="1179" dt="2026-10-02T16:41:01.800"/>
    <p1510:client id="{F4EB36EC-32E4-EE4A-933C-95603214D0D4}" v="442" dt="2026-10-02T15:28:58.417"/>
  </p1510:revLst>
</p1510:revInfo>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51" d="100"/>
          <a:sy n="51" d="100"/>
        </p:scale>
        <p:origin x="224" y="15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microsoft.com/office/2015/10/relationships/revisionInfo" Target="revisionInfo.xml"/><Relationship Id="rId68" Type="http://schemas.microsoft.com/office/2018/10/relationships/authors" Target="authors.xml"/><Relationship Id="rId69" Type="http://schemas.openxmlformats.org/officeDocument/2006/relationships/slide" Target="slides/slide2.xml"/><Relationship Id="rId70" Type="http://schemas.openxmlformats.org/officeDocument/2006/relationships/slide" Target="slides/slide3.xml"/><Relationship Id="rId71" Type="http://schemas.openxmlformats.org/officeDocument/2006/relationships/slide" Target="slides/slide4.xml"/><Relationship Id="rId72" Type="http://schemas.openxmlformats.org/officeDocument/2006/relationships/slide" Target="slides/slide5.xml"/><Relationship Id="rId73" Type="http://schemas.openxmlformats.org/officeDocument/2006/relationships/slide" Target="slides/slide6.xml"/><Relationship Id="rId74" Type="http://schemas.openxmlformats.org/officeDocument/2006/relationships/slide" Target="slides/slide8.xml"/><Relationship Id="rId75" Type="http://schemas.openxmlformats.org/officeDocument/2006/relationships/slide" Target="slides/slide9.xml"/><Relationship Id="rId76" Type="http://schemas.openxmlformats.org/officeDocument/2006/relationships/slide" Target="slides/slide10.xml"/><Relationship Id="rId77" Type="http://schemas.openxmlformats.org/officeDocument/2006/relationships/slide" Target="slides/slide11.xml"/><Relationship Id="rId78" Type="http://schemas.openxmlformats.org/officeDocument/2006/relationships/slide" Target="slides/slide12.xml"/><Relationship Id="rId79" Type="http://schemas.openxmlformats.org/officeDocument/2006/relationships/slide" Target="slides/slide13.xml"/><Relationship Id="rId80" Type="http://schemas.openxmlformats.org/officeDocument/2006/relationships/slide" Target="slides/slide14.xml"/><Relationship Id="rId81" Type="http://schemas.openxmlformats.org/officeDocument/2006/relationships/slide" Target="slides/slide15.xml"/><Relationship Id="rId82" Type="http://schemas.openxmlformats.org/officeDocument/2006/relationships/slide" Target="slides/slide16.xml"/><Relationship Id="rId83" Type="http://schemas.openxmlformats.org/officeDocument/2006/relationships/slide" Target="slides/slide17.xml"/><Relationship Id="rId84" Type="http://schemas.openxmlformats.org/officeDocument/2006/relationships/slide" Target="slides/slide18.xml"/><Relationship Id="rId85"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Draft for internal review: engineering findings and action plan, built on the main deck template.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DXC production release calendar (Jan 2024 – Sep 2026, Core applications); working sessions with Core engineering, release management, new-platform engineering, Reconcile AI engineering, and QA leadership; engineering survey (n=44); Commercialization Framework (Concord). Finding 1: 30 release events in 2026 to Sep 1 (15 standard, 11 patches, 2 off-version, 2 rollbacks). Tickets exist (DXCM, CORE, ITSUPPORT), but we found no classification or trend of causes; confirm with release management before presenting. Core engineering separately reported 62 releases and 15 patches, counted per deployment. Finding 2: the Salesforce client password expired on 05/30 (blocked HS1 case creation) and 08/28; outbound Salesforce calls to Core were restored on 09/01. BMA, DIL, and SSO certificate updates also shipped as patches; the calendar does not say whether they had expired. Finding 3: release management described separate staging and production branches merged on release day, and flagged it as something that may need to change; late changes delay product owner sign-off within a Monday-to-Thursday window. A rebuild is inferred, not confirmed. Finding 4: QA leadership reports Claude substantially cuts test creation and diagnosis time; access is limited to some full-time staff and not yet available to contractors. Half of the Core team is offshore. Finding 5: the Rules Engine has a rough MVP estimate toward year-end, with platform and team placement undecided and no epic. New-platform engineering leadership named commitments made without engineering input as its top issue. Internal context only: the Portfolio Governance Board has no engineering seat, and the G0 effort tier is confirmed by the PjM.</a:t>
            </a:r>
          </a:p>
          <a:p/>
          <a:p>
            <a:r>
              <a:t>QA session (senior QA leadership): when QA leadership arrived five to six months ago there was no QA process or automation framework. Core is the proving ground, now rolling out to the other eight or nine pods. Core went from 21 to 200+ automated tests; estimated coverage about 50%, with critical paths defined with Product and about 10–15% automated. Eligibility AI is estimated at 15–20% automated. QA is largely contractors, with two full-time staff; one leader oversees about 15 testers and asks for a QA lead. Code ships four days after dev done, leaving three to four days for QA and UAT; pre-live is not production-like. A hardening-sprint plan (release 9–10 days after dev done) has been presented to engineering leadership; environments, which run on VMs, are the main constraint.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map to the four themes: stabilize Core's SDLC, deepen agile with Claude Code without modernizing Core, extend and strengthen QA, and measure. The AI guardrail applies to all four. Workstream mapping: process map, spec workflow, Claude Code practices, and metrics integration are deliverables of Reconcile AI engineering across Core; release controls, test coverage, and evidence belong to Testing &amp; release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flow keeps the Core team, Java stack, and Scrum cadence. Gates are process changes plus AI assistance; same-build promotion is the only change that touches the release pipeline. The PR gate reduces dependence on a small senior review group without removing senior review of high-risk changes.</a:t>
            </a:r>
          </a:p>
          <a:p/>
          <a:p>
            <a:r>
              <a:t>The hardening window adopts the plan QA leadership has already presented: release 9–10 days after dev done, which requires templated environments so two releases can be in flight, and a settled branch strategy.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SDLC as described in the Core engineering, release management, and QA sessions: grooming with two PMs; refinement with 10 engineers, PMs, and a scrum master, estimating by vote; two-week sprints of about 65 story points; work assigned by skill, with research-heavy items kept onshore because offshore has no live data access; Copilot in IntelliJ since January 20, 2026, Claude for some; documentation written after coding; senior review of every Core PR before a QA build; staging on Monday, product owner sign-off, production on Thursday, with a branch merge on release day; patches outside the cadence. Half of the Core team is offshore.</a:t>
            </a:r>
          </a:p>
          <a:p/>
          <a:p>
            <a:r>
              <a:t>QA details from the QA session: Playwright framework; Claude-based Playwright agents with human-in-the-loop points; a Claude PR bot triggered manually; critical paths defined with Product, 10–15% automated; no performance testing yet; pre-live and QA are the two lower environments, and pre-live is not production-like.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plan for move 1. Owners are DXC roles; names to confirm with DXC. Weeks follow the two engineering workstreams in the proposal.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Adapted from Reconcile AI's agentic spec-driven delivery (spec, technical stories, agent implementation, verification, delivery report). On Core, the pattern is applied inside the existing Scrum sprint and Java codebase; it is not a modernization. Claude Code access requires the sanctioned-tool and PHI decisions at week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plan for move 2. The spec-before-date rule mirrors the Concord's G2 gate, which commits capacity on the solution design brief and delivery plan. The week-4 workshop matches the Reconcile AI engineering across Core workstream.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 layers. Integration checks respond to the 2026 Salesforce password expiries, which broke HS1 case creation and calls into Core in production. The capacity practice comes from QA leadership: time-box a problem for 15–20 minutes before asking Claude, use it to review work before a PR, and never to do the whole job. The added QE capacity is a deliverable of the Testing &amp; release controls workstream.</a:t>
            </a:r>
          </a:p>
          <a:p/>
          <a:p>
            <a:r>
              <a:t>QA tools already built: Claude-based Playwright agents (built for HIPAA compliance, with human review points), a Claude PR bot with per-run cost tracking (not yet in the Bitbucket pipeline), and a Jira story-to-test prototype that is not yet hosted in DXC's environment. Claude is also used to check that tests follow the framework conventions. The test library holds 3,000+ atomic scenarios after Eligibility AI was imported, with a small share automated.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plan for move 3. Claude access for contractors is in progress with engineering leadership, according to QA leadership.</a:t>
            </a:r>
          </a:p>
          <a:p/>
          <a:p>
            <a:r>
              <a:t>The QA lead action responds to QA leadership's request for a lead and, over time, a full-time QA per pod, with contractors filling gaps.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use data DXC already has: Jira (including the DXCM, CORE, and ITSUPPORT projects referenced in the release calendar), the release calendar, the in-house build system's build IDs, Git, and support tickets. Delivery metrics follow the DORA definitions. Story points remain a planning tool. The Reconcile AI team has already proposed cycle time by stage and flow charts, which this set builds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from each finding, plus the metrics gap DXC raised, to the engineering move, workstream, week-6 result, and measure.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Bars follow the weeks in the two engineering workstream slides of the proposal. Gates: week 2 leadership decisions, week 4 hands-on workshop, week 6 scorecard review and decision on the next pods.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only. Lists the edits needed in the main client deck so these slides fit without contradictions.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Targets are hypotheses for the week-2 gate. Basis: unplanned events averaged about two a month in 2026 (15 in eight months); critical-path automation pace uses QA's own trend (about 180 tests added in five months, roughly 9 a week) plus the two full-time QE engineers in the Testing &amp; release controls workstream; the hardening window comes from the plan QA leadership already drafted. Natural targets (zero repeats, 100% coverage of credentials, matching builds, signed specs) need no baseline. Delivery-metric targets wait for the week-2 baseline.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DXC time is an estimate to confirm with each owner. West Monroe roles follow the proposal: Executive Engineering Leader (part time) and Senior Architect (full time) in Reconcile AI engineering across Core; Executive Engineering Leader (part time), QE Architect and QE Senior Engineer (full time) in Testing &amp; release controls. The three-day workshop and evidence database are deliverables listed in the proposal.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detailed action plans, models, metrics, traceability, plan, risks, and internal edits.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come from the working sessions: Claude access limited to some full-time staff; QA tools not yet hosted in DXC's environment; VM-based environments as the main constraint for the hardening window; QA and Core leadership capacity; the branch strategy debate (feature branches versus master); CAB friction with switched-off code; and the undecided Rules Engine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3.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5.svg"/><Relationship Id="rId4" Type="http://schemas.openxmlformats.org/officeDocument/2006/relationships/image" Target="../media/image3.png"/><Relationship Id="rId5"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eg"/><Relationship Id="rId3" Type="http://schemas.openxmlformats.org/officeDocument/2006/relationships/image" Target="../media/image15.svg"/><Relationship Id="rId4" Type="http://schemas.openxmlformats.org/officeDocument/2006/relationships/image" Target="../media/image3.png"/><Relationship Id="rId5"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3.png"/><Relationship Id="rId4" Type="http://schemas.openxmlformats.org/officeDocument/2006/relationships/image" Target="../media/image19.svg"/><Relationship Id="rId5"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 Id="rId3" Type="http://schemas.openxmlformats.org/officeDocument/2006/relationships/image" Target="../media/image10.png"/><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5.svg"/><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svg"/><Relationship Id="rId3" Type="http://schemas.openxmlformats.org/officeDocument/2006/relationships/image" Target="../media/image3.png"/><Relationship Id="rId4"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e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e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eg"/><Relationship Id="rId3"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eg"/><Relationship Id="rId3"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eg"/><Relationship Id="rId3" Type="http://schemas.openxmlformats.org/officeDocument/2006/relationships/image" Target="../media/image3.png"/><Relationship Id="rId4" Type="http://schemas.openxmlformats.org/officeDocument/2006/relationships/image" Target="../media/image26.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jpeg"/><Relationship Id="rId3"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eg"/><Relationship Id="rId3"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eg"/><Relationship Id="rId3"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jpeg"/><Relationship Id="rId3" Type="http://schemas.openxmlformats.org/officeDocument/2006/relationships/image" Target="../media/image2.png"/><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idx="23" hasCustomPrompt="1"/>
          </p:nvPr>
        </p:nvSpPr>
        <p:spPr>
          <a:xfrm>
            <a:off x="0" y="3240042"/>
            <a:ext cx="1739348" cy="586696"/>
          </a:xfrm>
          <a:prstGeom prst="rect">
            <a:avLst/>
          </a:prstGeom>
          <a:blipFill>
            <a:blip r:embed="rId3"/>
            <a:stretch>
              <a:fillRect/>
            </a:stretch>
          </a:blipFill>
        </p:spPr>
        <p:txBody>
          <a:bodyPr/>
          <a:lstStyle>
            <a:lvl1pPr>
              <a:buNone/>
              <a:defRPr sz="2800" b="0" i="0"/>
            </a:lvl1pPr>
          </a:lstStyle>
          <a:p>
            <a:pPr lvl="0">
              <a:buNone/>
            </a:pPr>
            <a:r>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5106989"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tx1"/>
                </a:solidFill>
                <a:latin typeface="+mn-lt"/>
                <a:ea typeface="+mn-lt"/>
                <a:cs typeface="+mn-lt"/>
              </a:defRPr>
            </a:lvl1pPr>
            <a:lvl2pPr>
              <a:buNone/>
              <a:defRPr sz="1000" b="0" i="0">
                <a:solidFill>
                  <a:schemeClr val="tx1"/>
                </a:solidFill>
                <a:latin typeface="+mj-lt"/>
                <a:ea typeface="+mj-lt"/>
                <a:cs typeface="+mj-lt"/>
              </a:defRPr>
            </a:lvl2pPr>
            <a:lvl3pPr>
              <a:buNone/>
              <a:defRPr sz="1000" b="0" i="0">
                <a:solidFill>
                  <a:schemeClr val="tx1"/>
                </a:solidFill>
                <a:latin typeface="+mj-lt"/>
                <a:ea typeface="+mj-lt"/>
                <a:cs typeface="+mj-lt"/>
              </a:defRPr>
            </a:lvl3pPr>
            <a:lvl4pPr>
              <a:buNone/>
              <a:defRPr sz="1000" b="0" i="0">
                <a:solidFill>
                  <a:schemeClr val="tx1"/>
                </a:solidFill>
                <a:latin typeface="+mj-lt"/>
                <a:ea typeface="+mj-lt"/>
                <a:cs typeface="+mj-lt"/>
              </a:defRPr>
            </a:lvl4pPr>
            <a:lvl5pPr>
              <a:buNone/>
              <a:defRPr sz="1000" b="0" i="0">
                <a:solidFill>
                  <a:schemeClr val="tx1"/>
                </a:solidFill>
                <a:latin typeface="+mj-lt"/>
                <a:ea typeface="+mj-lt"/>
                <a:cs typeface="+mj-lt"/>
              </a:defRPr>
            </a:lvl5pPr>
            <a:lvl6pPr>
              <a:buNone/>
              <a:defRPr sz="1000" b="0" i="0">
                <a:solidFill>
                  <a:schemeClr val="tx1"/>
                </a:solidFill>
                <a:latin typeface="+mj-lt"/>
                <a:ea typeface="+mj-lt"/>
                <a:cs typeface="+mj-lt"/>
              </a:defRPr>
            </a:lvl6pPr>
            <a:lvl7pPr>
              <a:buNone/>
              <a:defRPr sz="1000" b="0" i="0">
                <a:solidFill>
                  <a:schemeClr val="tx1"/>
                </a:solidFill>
                <a:latin typeface="+mj-lt"/>
                <a:ea typeface="+mj-lt"/>
                <a:cs typeface="+mj-lt"/>
              </a:defRPr>
            </a:lvl7pPr>
            <a:lvl8pPr>
              <a:buNone/>
              <a:defRPr sz="1000" b="0" i="0">
                <a:solidFill>
                  <a:schemeClr val="tx1"/>
                </a:solidFill>
                <a:latin typeface="+mj-lt"/>
                <a:ea typeface="+mj-lt"/>
                <a:cs typeface="+mj-lt"/>
              </a:defRPr>
            </a:lvl8pPr>
            <a:lvl9pPr marL="0">
              <a:buNone/>
              <a:defRPr sz="1000" b="0" i="0">
                <a:solidFill>
                  <a:schemeClr val="tx1"/>
                </a:solidFill>
                <a:latin typeface="+mj-lt"/>
                <a:ea typeface="+mj-lt"/>
                <a:cs typeface="+mj-lt"/>
              </a:defRPr>
            </a:lvl9pPr>
          </a:lstStyle>
          <a:p>
            <a:pPr indent="-3200400">
              <a:buNone/>
            </a:pPr>
            <a:endParaRP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lstStyle>
            <a:lvl1pPr>
              <a:buNone/>
              <a:defRPr sz="3200" b="1">
                <a:solidFill>
                  <a:schemeClr val="tx1"/>
                </a:solidFill>
              </a:defRPr>
            </a:lvl1pPr>
          </a:lstStyle>
          <a:p>
            <a:r>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p:nvPr>
        </p:nvSpPr>
        <p:spPr>
          <a:xfrm>
            <a:off x="6533804" y="850900"/>
            <a:ext cx="5658196" cy="5716588"/>
          </a:xfrm>
          <a:prstGeom prst="rect">
            <a:avLst/>
          </a:prstGeom>
          <a:solidFill>
            <a:schemeClr val="accent2">
              <a:lumMod val="40000"/>
              <a:lumOff val="60000"/>
            </a:schemeClr>
          </a:solidFill>
        </p:spPr>
        <p:txBody>
          <a:bodyPr tIns="2377440"/>
          <a:lstStyle>
            <a:lvl1pPr algn="ctr">
              <a:buNone/>
              <a:defRPr b="0" i="0"/>
            </a:lvl1pPr>
          </a:lstStyle>
          <a:p>
            <a:r>
              <a:t>Click icon to add picture</a:t>
            </a:r>
          </a:p>
        </p:txBody>
      </p:sp>
      <p:pic>
        <p:nvPicPr>
          <p:cNvPr id="19" name="Picture 7"/>
          <p:cNvPicPr>
            <a:picLocks noChangeAspect="1"/>
          </p:cNvPicPr>
          <p:nvPr/>
        </p:nvPicPr>
        <p:blipFill>
          <a:blip r:embed="rId4"/>
          <a:stretch>
            <a:fillRect/>
          </a:stretch>
        </p:blipFill>
        <p:spPr>
          <a:xfrm>
            <a:off x="460376" y="350432"/>
            <a:ext cx="2330449" cy="4877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idx="23" hasCustomPrompt="1"/>
          </p:nvPr>
        </p:nvSpPr>
        <p:spPr>
          <a:xfrm>
            <a:off x="0" y="3240042"/>
            <a:ext cx="1739348" cy="586696"/>
          </a:xfrm>
          <a:prstGeom prst="rect">
            <a:avLst/>
          </a:prstGeom>
          <a:blipFill>
            <a:blip r:embed="rId3"/>
            <a:stretch>
              <a:fillRect/>
            </a:stretch>
          </a:blipFill>
        </p:spPr>
        <p:txBody>
          <a:bodyPr/>
          <a:lstStyle>
            <a:lvl1pPr>
              <a:buNone/>
              <a:defRPr sz="2800" b="0" i="0"/>
            </a:lvl1pPr>
          </a:lstStyle>
          <a:p>
            <a:pPr lvl="0">
              <a:buNone/>
            </a:pPr>
            <a:r>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5106989"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lstStyle>
            <a:lvl1pPr>
              <a:buNone/>
              <a:defRPr sz="3200" b="1">
                <a:solidFill>
                  <a:schemeClr val="tx1"/>
                </a:solidFill>
              </a:defRPr>
            </a:lvl1pPr>
          </a:lstStyle>
          <a:p>
            <a:r>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a:lnSpc>
                <a:spcPct val="100000"/>
              </a:lnSpc>
              <a:spcBef>
                <a:spcPts val="0"/>
              </a:spcBef>
              <a:spcAft>
                <a:spcPts val="1600"/>
              </a:spcAft>
              <a:buClrTx/>
              <a:buSzTx/>
              <a:buFont typeface="Arial"/>
              <a:buNone/>
              <a:defRPr b="0" i="0"/>
            </a:lvl1pPr>
          </a:lstStyle>
          <a:p>
            <a:r>
              <a:t>Industry/Functional image</a:t>
            </a:r>
          </a:p>
        </p:txBody>
      </p:sp>
      <p:pic>
        <p:nvPicPr>
          <p:cNvPr id="18" name="Picture 7"/>
          <p:cNvPicPr>
            <a:picLocks noChangeAspect="1"/>
          </p:cNvPicPr>
          <p:nvPr/>
        </p:nvPicPr>
        <p:blipFill>
          <a:blip r:embed="rId4"/>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buNone/>
              <a:defRPr b="0" i="0"/>
            </a:lvl1pPr>
          </a:lstStyle>
          <a:p>
            <a:r>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idx="25" hasCustomPrompt="1"/>
          </p:nvPr>
        </p:nvSpPr>
        <p:spPr>
          <a:xfrm rot="10800000" flipH="1">
            <a:off x="5824330" y="1413507"/>
            <a:ext cx="1461053" cy="1419143"/>
          </a:xfrm>
          <a:prstGeom prst="rect">
            <a:avLst/>
          </a:prstGeom>
          <a:blipFill>
            <a:blip r:embed="rId5"/>
            <a:stretch>
              <a:fillRect/>
            </a:stretch>
          </a:blipFill>
        </p:spPr>
        <p:txBody>
          <a:bodyPr/>
          <a:lstStyle>
            <a:lvl1pPr>
              <a:buNone/>
              <a:defRPr sz="2800" b="0" i="0"/>
            </a:lvl1pPr>
          </a:lstStyle>
          <a:p>
            <a:pPr lvl="0">
              <a:buNone/>
            </a:pPr>
            <a:r>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tx1"/>
                </a:solidFill>
                <a:latin typeface="+mn-lt"/>
                <a:ea typeface="+mn-lt"/>
                <a:cs typeface="+mn-lt"/>
              </a:defRPr>
            </a:lvl1pPr>
            <a:lvl2pPr>
              <a:buNone/>
              <a:defRPr sz="1000" b="0" i="0">
                <a:solidFill>
                  <a:schemeClr val="tx1"/>
                </a:solidFill>
                <a:latin typeface="+mj-lt"/>
                <a:ea typeface="+mj-lt"/>
                <a:cs typeface="+mj-lt"/>
              </a:defRPr>
            </a:lvl2pPr>
            <a:lvl3pPr>
              <a:buNone/>
              <a:defRPr sz="1000" b="0" i="0">
                <a:solidFill>
                  <a:schemeClr val="tx1"/>
                </a:solidFill>
                <a:latin typeface="+mj-lt"/>
                <a:ea typeface="+mj-lt"/>
                <a:cs typeface="+mj-lt"/>
              </a:defRPr>
            </a:lvl3pPr>
            <a:lvl4pPr>
              <a:buNone/>
              <a:defRPr sz="1000" b="0" i="0">
                <a:solidFill>
                  <a:schemeClr val="tx1"/>
                </a:solidFill>
                <a:latin typeface="+mj-lt"/>
                <a:ea typeface="+mj-lt"/>
                <a:cs typeface="+mj-lt"/>
              </a:defRPr>
            </a:lvl4pPr>
            <a:lvl5pPr>
              <a:buNone/>
              <a:defRPr sz="1000" b="0" i="0">
                <a:solidFill>
                  <a:schemeClr val="tx1"/>
                </a:solidFill>
                <a:latin typeface="+mj-lt"/>
                <a:ea typeface="+mj-lt"/>
                <a:cs typeface="+mj-lt"/>
              </a:defRPr>
            </a:lvl5pPr>
            <a:lvl6pPr>
              <a:buNone/>
              <a:defRPr sz="1000" b="0" i="0">
                <a:solidFill>
                  <a:schemeClr val="tx1"/>
                </a:solidFill>
                <a:latin typeface="+mj-lt"/>
                <a:ea typeface="+mj-lt"/>
                <a:cs typeface="+mj-lt"/>
              </a:defRPr>
            </a:lvl6pPr>
            <a:lvl7pPr>
              <a:buNone/>
              <a:defRPr sz="1000" b="0" i="0">
                <a:solidFill>
                  <a:schemeClr val="tx1"/>
                </a:solidFill>
                <a:latin typeface="+mj-lt"/>
                <a:ea typeface="+mj-lt"/>
                <a:cs typeface="+mj-lt"/>
              </a:defRPr>
            </a:lvl7pPr>
            <a:lvl8pPr>
              <a:buNone/>
              <a:defRPr sz="1000" b="0" i="0">
                <a:solidFill>
                  <a:schemeClr val="tx1"/>
                </a:solidFill>
                <a:latin typeface="+mj-lt"/>
                <a:ea typeface="+mj-lt"/>
                <a:cs typeface="+mj-lt"/>
              </a:defRPr>
            </a:lvl8pPr>
            <a:lvl9pPr marL="0">
              <a:buNone/>
              <a:defRPr sz="1000" b="0" i="0">
                <a:solidFill>
                  <a:schemeClr val="tx1"/>
                </a:solidFill>
                <a:latin typeface="+mj-lt"/>
                <a:ea typeface="+mj-lt"/>
                <a:cs typeface="+mj-lt"/>
              </a:defRPr>
            </a:lvl9pPr>
          </a:lstStyle>
          <a:p>
            <a:pPr indent="-3200400">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4884945"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bg1"/>
                </a:solidFill>
                <a:latin typeface="+mn-lt"/>
                <a:ea typeface="+mn-lt"/>
                <a:cs typeface="+mn-lt"/>
              </a:defRPr>
            </a:lvl1pPr>
            <a:lvl2pPr>
              <a:buNone/>
              <a:defRPr sz="1000" b="0" i="0">
                <a:solidFill>
                  <a:schemeClr val="bg1"/>
                </a:solidFill>
                <a:latin typeface="+mj-lt"/>
                <a:ea typeface="+mj-lt"/>
                <a:cs typeface="+mj-lt"/>
              </a:defRPr>
            </a:lvl2pPr>
            <a:lvl3pPr>
              <a:buNone/>
              <a:defRPr sz="1000" b="0" i="0">
                <a:solidFill>
                  <a:schemeClr val="bg1"/>
                </a:solidFill>
                <a:latin typeface="+mj-lt"/>
                <a:ea typeface="+mj-lt"/>
                <a:cs typeface="+mj-lt"/>
              </a:defRPr>
            </a:lvl3pPr>
            <a:lvl4pPr>
              <a:buNone/>
              <a:defRPr sz="1000" b="0" i="0">
                <a:solidFill>
                  <a:schemeClr val="bg1"/>
                </a:solidFill>
                <a:latin typeface="+mj-lt"/>
                <a:ea typeface="+mj-lt"/>
                <a:cs typeface="+mj-lt"/>
              </a:defRPr>
            </a:lvl4pPr>
            <a:lvl5pPr>
              <a:buNone/>
              <a:defRPr sz="1000" b="0" i="0">
                <a:solidFill>
                  <a:schemeClr val="bg1"/>
                </a:solidFill>
                <a:latin typeface="+mj-lt"/>
                <a:ea typeface="+mj-lt"/>
                <a:cs typeface="+mj-lt"/>
              </a:defRPr>
            </a:lvl5pPr>
            <a:lvl6pPr>
              <a:buNone/>
              <a:defRPr sz="1000" b="0" i="0">
                <a:solidFill>
                  <a:schemeClr val="bg1"/>
                </a:solidFill>
                <a:latin typeface="+mj-lt"/>
                <a:ea typeface="+mj-lt"/>
                <a:cs typeface="+mj-lt"/>
              </a:defRPr>
            </a:lvl6pPr>
            <a:lvl7pPr>
              <a:buNone/>
              <a:defRPr sz="1000" b="0" i="0">
                <a:solidFill>
                  <a:schemeClr val="bg1"/>
                </a:solidFill>
                <a:latin typeface="+mj-lt"/>
                <a:ea typeface="+mj-lt"/>
                <a:cs typeface="+mj-lt"/>
              </a:defRPr>
            </a:lvl7pPr>
            <a:lvl8pPr>
              <a:buNone/>
              <a:defRPr sz="1000" b="0" i="0">
                <a:solidFill>
                  <a:schemeClr val="bg1"/>
                </a:solidFill>
                <a:latin typeface="+mj-lt"/>
                <a:ea typeface="+mj-lt"/>
                <a:cs typeface="+mj-lt"/>
              </a:defRPr>
            </a:lvl8pPr>
            <a:lvl9pPr marL="0">
              <a:buNone/>
              <a:defRPr sz="1000" b="0" i="0">
                <a:solidFill>
                  <a:schemeClr val="bg1"/>
                </a:solidFill>
                <a:latin typeface="+mj-lt"/>
                <a:ea typeface="+mj-lt"/>
                <a:cs typeface="+mj-lt"/>
              </a:defRPr>
            </a:lvl9pPr>
          </a:lstStyle>
          <a:p>
            <a:pPr indent="-3200400">
              <a:buNone/>
            </a:pPr>
            <a:endParaRPr/>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lstStyle>
            <a:lvl1pPr>
              <a:buNone/>
              <a:defRPr sz="3200" b="1">
                <a:solidFill>
                  <a:schemeClr val="bg1"/>
                </a:solidFill>
              </a:defRPr>
            </a:lvl1pPr>
          </a:lstStyle>
          <a:p>
            <a:r>
              <a:t>Click to edit Master title style</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p:nvPr>
        </p:nvSpPr>
        <p:spPr>
          <a:xfrm>
            <a:off x="5572126" y="1152939"/>
            <a:ext cx="4317309" cy="4343400"/>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pic>
        <p:nvPicPr>
          <p:cNvPr id="18" name="Picture 7"/>
          <p:cNvPicPr>
            <a:picLocks noChangeAspect="1"/>
          </p:cNvPicPr>
          <p:nvPr/>
        </p:nvPicPr>
        <p:blipFill>
          <a:blip r:embed="rId3"/>
          <a:srcRect/>
          <a:stretch/>
        </p:blipFill>
        <p:spPr>
          <a:xfrm>
            <a:off x="460377" y="350432"/>
            <a:ext cx="2330447" cy="48776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buNone/>
              <a:defRPr b="0" i="0"/>
            </a:lvl1pPr>
          </a:lstStyle>
          <a:p>
            <a:pPr marL="0" marR="0" lvl="0" indent="0" algn="ctr" defTabSz="914400">
              <a:lnSpc>
                <a:spcPct val="100000"/>
              </a:lnSpc>
              <a:spcBef>
                <a:spcPts val="0"/>
              </a:spcBef>
              <a:spcAft>
                <a:spcPts val="1600"/>
              </a:spcAft>
              <a:buClrTx/>
              <a:buSzTx/>
              <a:buFont typeface="Arial"/>
              <a:buNone/>
            </a:pPr>
            <a:r>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4885430"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buNone/>
              <a:defRPr b="0" i="0"/>
            </a:lvl1pPr>
          </a:lstStyle>
          <a:p>
            <a:r>
              <a:t>Abstract image</a:t>
            </a:r>
          </a:p>
        </p:txBody>
      </p:sp>
      <p:pic>
        <p:nvPicPr>
          <p:cNvPr id="20" name="Picture 5"/>
          <p:cNvPicPr>
            <a:picLocks noChangeAspect="1"/>
          </p:cNvPicPr>
          <p:nvPr/>
        </p:nvPicPr>
        <p:blipFill>
          <a:blip r:embed="rId3"/>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bg1"/>
                </a:solidFill>
                <a:latin typeface="+mn-lt"/>
                <a:ea typeface="+mn-lt"/>
                <a:cs typeface="+mn-lt"/>
              </a:defRPr>
            </a:lvl1pPr>
            <a:lvl2pPr>
              <a:buNone/>
              <a:defRPr sz="1000" b="0" i="0">
                <a:solidFill>
                  <a:schemeClr val="bg1"/>
                </a:solidFill>
                <a:latin typeface="+mj-lt"/>
                <a:ea typeface="+mj-lt"/>
                <a:cs typeface="+mj-lt"/>
              </a:defRPr>
            </a:lvl2pPr>
            <a:lvl3pPr>
              <a:buNone/>
              <a:defRPr sz="1000" b="0" i="0">
                <a:solidFill>
                  <a:schemeClr val="bg1"/>
                </a:solidFill>
                <a:latin typeface="+mj-lt"/>
                <a:ea typeface="+mj-lt"/>
                <a:cs typeface="+mj-lt"/>
              </a:defRPr>
            </a:lvl3pPr>
            <a:lvl4pPr>
              <a:buNone/>
              <a:defRPr sz="1000" b="0" i="0">
                <a:solidFill>
                  <a:schemeClr val="bg1"/>
                </a:solidFill>
                <a:latin typeface="+mj-lt"/>
                <a:ea typeface="+mj-lt"/>
                <a:cs typeface="+mj-lt"/>
              </a:defRPr>
            </a:lvl4pPr>
            <a:lvl5pPr>
              <a:buNone/>
              <a:defRPr sz="1000" b="0" i="0">
                <a:solidFill>
                  <a:schemeClr val="bg1"/>
                </a:solidFill>
                <a:latin typeface="+mj-lt"/>
                <a:ea typeface="+mj-lt"/>
                <a:cs typeface="+mj-lt"/>
              </a:defRPr>
            </a:lvl5pPr>
            <a:lvl6pPr>
              <a:buNone/>
              <a:defRPr sz="1000" b="0" i="0">
                <a:solidFill>
                  <a:schemeClr val="bg1"/>
                </a:solidFill>
                <a:latin typeface="+mj-lt"/>
                <a:ea typeface="+mj-lt"/>
                <a:cs typeface="+mj-lt"/>
              </a:defRPr>
            </a:lvl6pPr>
            <a:lvl7pPr>
              <a:buNone/>
              <a:defRPr sz="1000" b="0" i="0">
                <a:solidFill>
                  <a:schemeClr val="bg1"/>
                </a:solidFill>
                <a:latin typeface="+mj-lt"/>
                <a:ea typeface="+mj-lt"/>
                <a:cs typeface="+mj-lt"/>
              </a:defRPr>
            </a:lvl7pPr>
            <a:lvl8pPr>
              <a:buNone/>
              <a:defRPr sz="1000" b="0" i="0">
                <a:solidFill>
                  <a:schemeClr val="bg1"/>
                </a:solidFill>
                <a:latin typeface="+mj-lt"/>
                <a:ea typeface="+mj-lt"/>
                <a:cs typeface="+mj-lt"/>
              </a:defRPr>
            </a:lvl8pPr>
            <a:lvl9pPr marL="0">
              <a:buNone/>
              <a:defRPr sz="1000" b="0" i="0">
                <a:solidFill>
                  <a:schemeClr val="bg1"/>
                </a:solidFill>
                <a:latin typeface="+mj-lt"/>
                <a:ea typeface="+mj-lt"/>
                <a:cs typeface="+mj-lt"/>
              </a:defRPr>
            </a:lvl9pPr>
          </a:lstStyle>
          <a:p>
            <a:pPr indent="-3200400">
              <a:buNone/>
            </a:pPr>
            <a:endParaRPr/>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lstStyle>
            <a:lvl1pPr>
              <a:buNone/>
              <a:defRPr sz="3200" b="1">
                <a:solidFill>
                  <a:schemeClr val="bg1"/>
                </a:solidFill>
              </a:defRPr>
            </a:lvl1pPr>
          </a:lstStyle>
          <a:p>
            <a:r>
              <a:t>Click to edit Master title style</a:t>
            </a:r>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idx="25" hasCustomPrompt="1"/>
          </p:nvPr>
        </p:nvSpPr>
        <p:spPr>
          <a:xfrm flipH="1">
            <a:off x="9484277" y="3825875"/>
            <a:ext cx="1488523" cy="1463067"/>
          </a:xfrm>
          <a:prstGeom prst="rect">
            <a:avLst/>
          </a:prstGeom>
          <a:blipFill>
            <a:blip r:embed="rId4"/>
            <a:stretch>
              <a:fillRect/>
            </a:stretch>
          </a:blipFill>
        </p:spPr>
        <p:txBody>
          <a:bodyPr/>
          <a:lstStyle>
            <a:lvl1pPr>
              <a:buNone/>
              <a:defRPr b="0" i="0"/>
            </a:lvl1pPr>
          </a:lstStyle>
          <a:p>
            <a:pPr lvl="0">
              <a:buNone/>
            </a:pPr>
            <a:r>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17" name="Picture 1"/>
          <p:cNvPicPr>
            <a:picLocks noChangeAspect="1"/>
          </p:cNvPicPr>
          <p:nvPr/>
        </p:nvPicPr>
        <p:blipFill>
          <a:blip r:embed="rId3"/>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idx="22"/>
          </p:nvPr>
        </p:nvSpPr>
        <p:spPr>
          <a:xfrm>
            <a:off x="6248400" y="1508125"/>
            <a:ext cx="4470400" cy="4473575"/>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idx="34" hasCustomPrompt="1"/>
          </p:nvPr>
        </p:nvSpPr>
        <p:spPr>
          <a:xfrm>
            <a:off x="460375" y="1508125"/>
            <a:ext cx="789691" cy="4511674"/>
          </a:xfrm>
          <a:prstGeom prst="rect">
            <a:avLst/>
          </a:prstGeom>
          <a:ln>
            <a:noFill/>
          </a:ln>
        </p:spPr>
        <p:txBody>
          <a:bodyPr tIns="0" anchor="ctr"/>
          <a:lstStyle>
            <a:lvl1pPr>
              <a:lnSpc>
                <a:spcPct val="100000"/>
              </a:lnSpc>
              <a:spcBef>
                <a:spcPts val="0"/>
              </a:spcBef>
              <a:spcAft>
                <a:spcPts val="700"/>
              </a:spcAft>
              <a:buNone/>
              <a:defRPr sz="3600" b="1" i="0">
                <a:ln w="12700">
                  <a:noFill/>
                </a:ln>
                <a:solidFill>
                  <a:schemeClr val="accent1"/>
                </a:solidFill>
                <a:latin typeface="+mn-lt"/>
                <a:ea typeface="+mn-lt"/>
                <a:cs typeface="+mn-lt"/>
              </a:defRPr>
            </a:lvl1pPr>
            <a:lvl2pPr>
              <a:lnSpc>
                <a:spcPct val="100000"/>
              </a:lnSpc>
              <a:spcBef>
                <a:spcPts val="0"/>
              </a:spcBef>
              <a:spcAft>
                <a:spcPts val="700"/>
              </a:spcAft>
              <a:buNone/>
              <a:defRPr sz="3600" b="1" i="0" spc="0">
                <a:ln w="12700">
                  <a:noFill/>
                </a:ln>
                <a:solidFill>
                  <a:schemeClr val="accent1"/>
                </a:solidFill>
                <a:latin typeface="+mn-lt"/>
                <a:ea typeface="+mn-lt"/>
                <a:cs typeface="+mn-lt"/>
              </a:defRPr>
            </a:lvl2pPr>
            <a:lvl3pPr>
              <a:lnSpc>
                <a:spcPct val="100000"/>
              </a:lnSpc>
              <a:spcBef>
                <a:spcPts val="0"/>
              </a:spcBef>
              <a:spcAft>
                <a:spcPts val="700"/>
              </a:spcAft>
              <a:buNone/>
              <a:defRPr sz="3600" b="1" i="0">
                <a:ln w="12700">
                  <a:noFill/>
                </a:ln>
                <a:solidFill>
                  <a:schemeClr val="accent1"/>
                </a:solidFill>
                <a:latin typeface="+mn-lt"/>
                <a:ea typeface="+mn-lt"/>
                <a:cs typeface="+mn-lt"/>
              </a:defRPr>
            </a:lvl3pPr>
            <a:lvl4pPr marL="0">
              <a:lnSpc>
                <a:spcPct val="100000"/>
              </a:lnSpc>
              <a:spcBef>
                <a:spcPts val="0"/>
              </a:spcBef>
              <a:spcAft>
                <a:spcPts val="700"/>
              </a:spcAft>
              <a:buNone/>
              <a:defRPr sz="3600" b="1" i="0">
                <a:ln w="12700">
                  <a:noFill/>
                </a:ln>
                <a:solidFill>
                  <a:schemeClr val="accent1"/>
                </a:solidFill>
                <a:latin typeface="+mn-lt"/>
                <a:ea typeface="+mn-lt"/>
                <a:cs typeface="+mn-lt"/>
              </a:defRPr>
            </a:lvl4pPr>
            <a:lvl5pPr marL="0">
              <a:lnSpc>
                <a:spcPct val="100000"/>
              </a:lnSpc>
              <a:spcBef>
                <a:spcPts val="0"/>
              </a:spcBef>
              <a:spcAft>
                <a:spcPts val="700"/>
              </a:spcAft>
              <a:buNone/>
              <a:defRPr sz="3600" b="1" i="0">
                <a:ln w="12700">
                  <a:noFill/>
                </a:ln>
                <a:solidFill>
                  <a:schemeClr val="accent1"/>
                </a:solidFill>
                <a:latin typeface="+mn-lt"/>
                <a:ea typeface="+mn-lt"/>
                <a:cs typeface="+mn-lt"/>
              </a:defRPr>
            </a:lvl5pPr>
            <a:lvl6pPr>
              <a:lnSpc>
                <a:spcPct val="100000"/>
              </a:lnSpc>
              <a:spcAft>
                <a:spcPts val="700"/>
              </a:spcAft>
              <a:buNone/>
              <a:defRPr sz="3600" b="1">
                <a:ln w="12700">
                  <a:noFill/>
                </a:ln>
                <a:solidFill>
                  <a:schemeClr val="accent1"/>
                </a:solidFill>
                <a:latin typeface="+mn-lt"/>
                <a:ea typeface="+mn-lt"/>
                <a:cs typeface="+mn-lt"/>
              </a:defRPr>
            </a:lvl6pPr>
            <a:lvl7pPr marL="0">
              <a:lnSpc>
                <a:spcPct val="100000"/>
              </a:lnSpc>
              <a:spcAft>
                <a:spcPts val="700"/>
              </a:spcAft>
              <a:buNone/>
              <a:defRPr sz="3600" b="1">
                <a:ln w="12700">
                  <a:noFill/>
                </a:ln>
                <a:solidFill>
                  <a:schemeClr val="accent1"/>
                </a:solidFill>
                <a:latin typeface="+mn-lt"/>
                <a:ea typeface="+mn-lt"/>
                <a:cs typeface="+mn-lt"/>
              </a:defRPr>
            </a:lvl7pPr>
            <a:lvl8pPr marL="0">
              <a:lnSpc>
                <a:spcPct val="100000"/>
              </a:lnSpc>
              <a:spcAft>
                <a:spcPts val="700"/>
              </a:spcAft>
              <a:buNone/>
              <a:defRPr sz="3600" b="1">
                <a:ln w="12700">
                  <a:noFill/>
                </a:ln>
                <a:solidFill>
                  <a:schemeClr val="accent1"/>
                </a:solidFill>
                <a:latin typeface="+mn-lt"/>
                <a:ea typeface="+mn-lt"/>
                <a:cs typeface="+mn-lt"/>
              </a:defRPr>
            </a:lvl8pPr>
            <a:lvl9pPr>
              <a:lnSpc>
                <a:spcPct val="100000"/>
              </a:lnSpc>
              <a:spcAft>
                <a:spcPts val="700"/>
              </a:spcAft>
              <a:buNone/>
              <a:defRPr sz="3600" b="1">
                <a:ln w="12700">
                  <a:noFill/>
                </a:ln>
                <a:solidFill>
                  <a:schemeClr val="accent1"/>
                </a:solidFill>
                <a:latin typeface="+mn-lt"/>
                <a:ea typeface="+mn-lt"/>
                <a:cs typeface="+mn-lt"/>
              </a:defRPr>
            </a:lvl9pPr>
          </a:lstStyle>
          <a:p>
            <a:pPr lvl="0">
              <a:buNone/>
            </a:pPr>
            <a:r>
              <a:t>01</a:t>
            </a:r>
          </a:p>
          <a:p>
            <a:pPr lvl="0">
              <a:buNone/>
            </a:pPr>
            <a:r>
              <a:t>02</a:t>
            </a:r>
          </a:p>
          <a:p>
            <a:pPr lvl="0">
              <a:buNone/>
            </a:pPr>
            <a:r>
              <a:t>03</a:t>
            </a:r>
          </a:p>
          <a:p>
            <a:pPr lvl="0">
              <a:buNone/>
            </a:pPr>
            <a:r>
              <a:t>04</a:t>
            </a:r>
          </a:p>
          <a:p>
            <a:pPr lvl="0">
              <a:buNone/>
            </a:pPr>
            <a:r>
              <a:t>05</a:t>
            </a:r>
          </a:p>
          <a:p>
            <a:pPr lvl="0">
              <a:buNone/>
            </a:pPr>
            <a:r>
              <a:t>06</a:t>
            </a:r>
          </a:p>
          <a:p>
            <a:pPr lvl="0">
              <a:buNone/>
            </a:pPr>
            <a:r>
              <a:t>07</a:t>
            </a:r>
          </a:p>
        </p:txBody>
      </p:sp>
      <p:sp>
        <p:nvSpPr>
          <p:cNvPr id="3" name="Rectangle 2">
            <a:extLst>
              <a:ext uri="{FF2B5EF4-FFF2-40B4-BE49-F238E27FC236}">
                <a16:creationId xmlns:a16="http://schemas.microsoft.com/office/drawing/2014/main" id="{F9D3A198-41C5-A389-D58D-6067B66B5EE8}"/>
              </a:ext>
            </a:extLst>
          </p:cNvPr>
          <p:cNvSpPr>
            <a:spLocks noGrp="1"/>
          </p:cNvSpPr>
          <p:nvPr/>
        </p:nvSpPr>
        <p:spPr>
          <a:xfrm>
            <a:off x="300446" y="966651"/>
            <a:ext cx="2050868" cy="195943"/>
          </a:xfrm>
          <a:prstGeom prst="rect">
            <a:avLst/>
          </a:prstGeom>
          <a:solidFill>
            <a:schemeClr val="bg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buNone/>
              <a:defRPr sz="2200"/>
            </a:lvl1pPr>
          </a:lstStyle>
          <a:p>
            <a:r>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idx="20" hasCustomPrompt="1"/>
          </p:nvPr>
        </p:nvSpPr>
        <p:spPr>
          <a:xfrm>
            <a:off x="1250065" y="1508125"/>
            <a:ext cx="4174689" cy="4511673"/>
          </a:xfrm>
          <a:prstGeom prst="rect">
            <a:avLst/>
          </a:prstGeom>
        </p:spPr>
        <p:txBody>
          <a:bodyPr anchor="ctr"/>
          <a:lstStyle>
            <a:lvl1pPr>
              <a:spcAft>
                <a:spcPts val="2900"/>
              </a:spcAft>
              <a:buNone/>
              <a:defRPr sz="1800" b="1" i="0"/>
            </a:lvl1pPr>
            <a:lvl2pPr marL="295275" indent="-285750">
              <a:spcAft>
                <a:spcPts val="2900"/>
              </a:spcAft>
              <a:buFont typeface="Arial"/>
              <a:buChar char="•"/>
              <a:defRPr sz="1800" b="1" i="0"/>
            </a:lvl2pPr>
            <a:lvl3pPr marL="635000" indent="-287338">
              <a:spcAft>
                <a:spcPts val="2900"/>
              </a:spcAft>
              <a:buNone/>
              <a:defRPr sz="1800" b="1" i="0"/>
            </a:lvl3pPr>
            <a:lvl4pPr marL="971550" indent="-285750">
              <a:spcAft>
                <a:spcPts val="2900"/>
              </a:spcAft>
              <a:buNone/>
              <a:defRPr sz="1800" b="1" i="0"/>
            </a:lvl4pPr>
            <a:lvl5pPr marL="1320800" indent="-287338">
              <a:spcAft>
                <a:spcPts val="2900"/>
              </a:spcAft>
              <a:buNone/>
              <a:defRPr sz="1800" b="1" i="0"/>
            </a:lvl5pPr>
            <a:lvl6pPr marL="1658938" indent="-287338">
              <a:spcAft>
                <a:spcPts val="2900"/>
              </a:spcAft>
              <a:buNone/>
              <a:defRPr sz="1800" b="1"/>
            </a:lvl6pPr>
            <a:lvl7pPr marL="2006600" indent="-287338">
              <a:spcAft>
                <a:spcPts val="2900"/>
              </a:spcAft>
              <a:buNone/>
              <a:defRPr sz="1800" b="1"/>
            </a:lvl7pPr>
            <a:lvl8pPr marL="2344738" indent="-266700">
              <a:buNone/>
              <a:defRPr/>
            </a:lvl8pPr>
            <a:lvl9pPr marL="2692400" indent="-285750">
              <a:buNone/>
              <a:defRPr/>
            </a:lvl9pPr>
          </a:lstStyle>
          <a:p>
            <a:pPr lvl="0">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idx="26" hasCustomPrompt="1"/>
          </p:nvPr>
        </p:nvSpPr>
        <p:spPr>
          <a:xfrm flipH="1" flipV="1">
            <a:off x="364794" y="855203"/>
            <a:ext cx="1381456" cy="192234"/>
          </a:xfrm>
          <a:prstGeom prst="rect">
            <a:avLst/>
          </a:prstGeom>
          <a:blipFill rotWithShape="0">
            <a:blip r:embed="rId4"/>
            <a:srcRect/>
            <a:stretch>
              <a:fillRect t="-317465" b="-325807"/>
            </a:stretch>
          </a:blipFill>
        </p:spPr>
        <p:txBody>
          <a:bodyPr/>
          <a:lstStyle>
            <a:lvl1pPr>
              <a:buNone/>
              <a:defRPr sz="2800" b="0" i="0"/>
            </a:lvl1pPr>
          </a:lstStyle>
          <a:p>
            <a:pPr lvl="0">
              <a:buNone/>
            </a:pPr>
            <a:r>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p:cNvSpPr>
          <p:nvPr/>
        </p:nvSpPr>
        <p:spPr>
          <a:xfrm>
            <a:off x="300446" y="966651"/>
            <a:ext cx="2050868" cy="195943"/>
          </a:xfrm>
          <a:prstGeom prst="rect">
            <a:avLst/>
          </a:prstGeom>
          <a:solidFill>
            <a:schemeClr val="bg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7" name="Rectangle 6">
            <a:extLst>
              <a:ext uri="{FF2B5EF4-FFF2-40B4-BE49-F238E27FC236}">
                <a16:creationId xmlns:a16="http://schemas.microsoft.com/office/drawing/2014/main" id="{2FBA661D-36AF-0575-B525-6804A0045D53}"/>
              </a:ext>
            </a:extLst>
          </p:cNvPr>
          <p:cNvSpPr>
            <a:spLocks noGrp="1"/>
          </p:cNvSpPr>
          <p:nvPr/>
        </p:nvSpPr>
        <p:spPr>
          <a:xfrm>
            <a:off x="0" y="0"/>
            <a:ext cx="3935767" cy="6858000"/>
          </a:xfrm>
          <a:prstGeom prst="rect">
            <a:avLst/>
          </a:prstGeom>
          <a:solidFill>
            <a:schemeClr val="tx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21" name="Picture 1"/>
          <p:cNvPicPr>
            <a:picLocks noChangeAspect="1"/>
          </p:cNvPicPr>
          <p:nvPr/>
        </p:nvPicPr>
        <p:blipFill>
          <a:blip r:embed="rId2"/>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idx="22"/>
          </p:nvPr>
        </p:nvSpPr>
        <p:spPr>
          <a:xfrm>
            <a:off x="610669" y="1508125"/>
            <a:ext cx="3913550" cy="3916330"/>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buNone/>
              <a:defRPr sz="2200"/>
            </a:lvl1pPr>
          </a:lstStyle>
          <a:p>
            <a:r>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idx="20" hasCustomPrompt="1"/>
          </p:nvPr>
        </p:nvSpPr>
        <p:spPr>
          <a:xfrm>
            <a:off x="5168649" y="1508125"/>
            <a:ext cx="6559800" cy="4511673"/>
          </a:xfrm>
          <a:prstGeom prst="rect">
            <a:avLst/>
          </a:prstGeom>
        </p:spPr>
        <p:txBody>
          <a:bodyPr anchor="t"/>
          <a:lstStyle>
            <a:lvl1pPr>
              <a:spcAft>
                <a:spcPts val="1200"/>
              </a:spcAft>
              <a:buNone/>
              <a:defRPr sz="1800" b="1" i="0"/>
            </a:lvl1pPr>
            <a:lvl2pPr marL="295275" indent="-285750">
              <a:spcAft>
                <a:spcPts val="1200"/>
              </a:spcAft>
              <a:buFont typeface="Arial"/>
              <a:buChar char="•"/>
              <a:defRPr sz="1800" b="1" i="0"/>
            </a:lvl2pPr>
            <a:lvl3pPr marL="635000" indent="-287338">
              <a:spcAft>
                <a:spcPts val="1200"/>
              </a:spcAft>
              <a:buNone/>
              <a:defRPr sz="1800" b="1" i="0"/>
            </a:lvl3pPr>
            <a:lvl4pPr marL="971550" indent="-285750">
              <a:spcAft>
                <a:spcPts val="1200"/>
              </a:spcAft>
              <a:buNone/>
              <a:defRPr sz="1800" b="1" i="0"/>
            </a:lvl4pPr>
            <a:lvl5pPr marL="1320800" indent="-287338">
              <a:spcAft>
                <a:spcPts val="1200"/>
              </a:spcAft>
              <a:buNone/>
              <a:defRPr sz="1800" b="1" i="0"/>
            </a:lvl5pPr>
            <a:lvl6pPr marL="1658938" indent="-287338">
              <a:spcAft>
                <a:spcPts val="1200"/>
              </a:spcAft>
              <a:buNone/>
              <a:defRPr sz="1800" b="1"/>
            </a:lvl6pPr>
            <a:lvl7pPr marL="2006600" indent="-287338">
              <a:spcAft>
                <a:spcPts val="1200"/>
              </a:spcAft>
              <a:buNone/>
              <a:defRPr sz="1800" b="1"/>
            </a:lvl7pPr>
            <a:lvl8pPr marL="2344738" indent="-266700">
              <a:buNone/>
              <a:defRPr/>
            </a:lvl8pPr>
            <a:lvl9pPr marL="2692400" indent="-285750">
              <a:buNone/>
              <a:defRPr/>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a:p>
            <a:pPr lvl="5">
              <a:buNone/>
            </a:pPr>
            <a:r>
              <a:t>Sixth Level</a:t>
            </a:r>
          </a:p>
          <a:p>
            <a:pPr lvl="6">
              <a:buNone/>
            </a:pPr>
            <a:r>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idx="26" hasCustomPrompt="1"/>
          </p:nvPr>
        </p:nvSpPr>
        <p:spPr>
          <a:xfrm flipH="1" flipV="1">
            <a:off x="5020644" y="857796"/>
            <a:ext cx="1381456" cy="192234"/>
          </a:xfrm>
          <a:prstGeom prst="rect">
            <a:avLst/>
          </a:prstGeom>
          <a:blipFill rotWithShape="0">
            <a:blip r:embed="rId3"/>
            <a:srcRect/>
            <a:stretch>
              <a:fillRect t="-317465" b="-325807"/>
            </a:stretch>
          </a:blipFill>
        </p:spPr>
        <p:txBody>
          <a:bodyPr/>
          <a:lstStyle>
            <a:lvl1pPr>
              <a:buNone/>
              <a:defRPr sz="2800" b="0" i="0"/>
            </a:lvl1pPr>
          </a:lstStyle>
          <a:p>
            <a:pPr lvl="0">
              <a:buNone/>
            </a:pPr>
            <a:r>
              <a:t> </a:t>
            </a:r>
          </a:p>
        </p:txBody>
      </p:sp>
      <p:pic>
        <p:nvPicPr>
          <p:cNvPr id="26" name="Picture 7"/>
          <p:cNvPicPr>
            <a:picLocks noChangeAspect="1"/>
          </p:cNvPicPr>
          <p:nvPr/>
        </p:nvPicPr>
        <p:blipFill>
          <a:blip r:embed="rId4"/>
          <a:srcRect/>
          <a:stretch/>
        </p:blipFill>
        <p:spPr>
          <a:xfrm>
            <a:off x="460378" y="6325375"/>
            <a:ext cx="1457322" cy="305021"/>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a:noAutofit/>
          </a:bodyPr>
          <a:lstStyle>
            <a:lvl1pPr>
              <a:spcAft>
                <a:spcPts val="600"/>
              </a:spcAft>
              <a:buNone/>
              <a:defRPr/>
            </a:lvl1pPr>
            <a:lvl2pPr marL="295275" indent="-295275">
              <a:spcAft>
                <a:spcPts val="600"/>
              </a:spcAft>
              <a:buNone/>
              <a:defRPr/>
            </a:lvl2pPr>
            <a:lvl3pPr>
              <a:spcAft>
                <a:spcPts val="600"/>
              </a:spcAft>
              <a:buNone/>
              <a:defRPr/>
            </a:lvl3pPr>
            <a:lvl4pPr>
              <a:spcAft>
                <a:spcPts val="600"/>
              </a:spcAft>
              <a:buNone/>
              <a:defRPr/>
            </a:lvl4pPr>
            <a:lvl5pPr>
              <a:spcAft>
                <a:spcPts val="600"/>
              </a:spcAft>
              <a:buNone/>
              <a:defRPr/>
            </a:lvl5pPr>
            <a:lvl6pPr>
              <a:spcAft>
                <a:spcPts val="600"/>
              </a:spcAft>
              <a:buNone/>
              <a:defRPr/>
            </a:lvl6pPr>
            <a:lvl7pPr>
              <a:spcAft>
                <a:spcPts val="600"/>
              </a:spcAft>
              <a:buNone/>
              <a:defRPr/>
            </a:lvl7pPr>
            <a:lvl8pPr>
              <a:spcAft>
                <a:spcPts val="600"/>
              </a:spcAft>
              <a:buNone/>
              <a:defRPr/>
            </a:lvl8pPr>
            <a:lvl9pPr>
              <a:spcAft>
                <a:spcPts val="600"/>
              </a:spcAft>
              <a:buNone/>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a:p>
            <a:pPr lvl="5">
              <a:buNone/>
            </a:pPr>
            <a:r>
              <a:t>Sixth level</a:t>
            </a:r>
          </a:p>
          <a:p>
            <a:pPr lvl="6">
              <a:buNone/>
            </a:pPr>
            <a:r>
              <a:t>Seventh level</a:t>
            </a:r>
          </a:p>
          <a:p>
            <a:pPr lvl="7">
              <a:buNone/>
            </a:pPr>
            <a:r>
              <a:t>Eighth level</a:t>
            </a:r>
          </a:p>
          <a:p>
            <a:pPr lvl="8">
              <a:buNone/>
            </a:pPr>
            <a:r>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idx="11"/>
          </p:nvPr>
        </p:nvSpPr>
        <p:spPr/>
        <p:txBody>
          <a:bodyPr/>
          <a:lstStyle>
            <a:lvl1pPr>
              <a:buNone/>
              <a:defRPr b="0" i="0"/>
            </a:lvl1pPr>
          </a:lstStyle>
          <a:p>
            <a:fld id="{63DCA5C9-2E11-4C67-86EB-AE1DE127DC64}" type="slidenum">
              <a:rPr/>
              <a:t>‹#›</a:t>
            </a:fld>
            <a:endParaRPr/>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18" name="Picture 4"/>
          <p:cNvPicPr>
            <a:picLocks noChangeAspect="1"/>
          </p:cNvPicPr>
          <p:nvPr/>
        </p:nvPicPr>
        <p:blipFill>
          <a:blip r:embed="rId3"/>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idx="22"/>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idx="23"/>
          </p:nvPr>
        </p:nvSpPr>
        <p:spPr/>
        <p:txBody>
          <a:bodyPr/>
          <a:lstStyle>
            <a:lvl1pPr>
              <a:buNone/>
              <a:defRPr b="0" i="0"/>
            </a:lvl1pPr>
          </a:lstStyle>
          <a:p>
            <a:fld id="{63DCA5C9-2E11-4C67-86EB-AE1DE127DC64}" type="slidenum">
              <a:rPr/>
              <a:t>‹#›</a:t>
            </a:fld>
            <a:endParaRPr/>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2" name="Picture 6"/>
          <p:cNvPicPr>
            <a:picLocks noChangeAspect="1"/>
          </p:cNvPicPr>
          <p:nvPr/>
        </p:nvPicPr>
        <p:blipFill>
          <a:blip r:embed="rId3"/>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idx="20"/>
          </p:nvPr>
        </p:nvSpPr>
        <p:spPr>
          <a:xfrm>
            <a:off x="460375" y="1770063"/>
            <a:ext cx="5521325"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idx="24"/>
          </p:nvPr>
        </p:nvSpPr>
        <p:spPr>
          <a:xfrm>
            <a:off x="6210300" y="1770063"/>
            <a:ext cx="551815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idx="15"/>
          </p:nvPr>
        </p:nvSpPr>
        <p:spPr/>
        <p:txBody>
          <a:bodyPr/>
          <a:lstStyle>
            <a:lvl1pPr>
              <a:buNone/>
              <a:defRPr b="0" i="0"/>
            </a:lvl1pPr>
          </a:lstStyle>
          <a:p>
            <a:r>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idx="16"/>
          </p:nvPr>
        </p:nvSpPr>
        <p:spPr/>
        <p:txBody>
          <a:bodyPr/>
          <a:lstStyle>
            <a:lvl1pPr>
              <a:buNone/>
              <a:defRPr b="0" i="0"/>
            </a:lvl1pPr>
          </a:lstStyle>
          <a:p>
            <a:fld id="{63DCA5C9-2E11-4C67-86EB-AE1DE127DC64}" type="slidenum">
              <a:rPr/>
              <a:t>‹#›</a:t>
            </a:fld>
            <a:endParaRPr/>
          </a:p>
        </p:txBody>
      </p:sp>
      <p:pic>
        <p:nvPicPr>
          <p:cNvPr id="42" name="Picture 7"/>
          <p:cNvPicPr>
            <a:picLocks noChangeAspect="1"/>
          </p:cNvPicPr>
          <p:nvPr/>
        </p:nvPicPr>
        <p:blipFill>
          <a:blip r:embed="rId3"/>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idx="20"/>
          </p:nvPr>
        </p:nvSpPr>
        <p:spPr>
          <a:xfrm>
            <a:off x="460375"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idx="21"/>
          </p:nvPr>
        </p:nvSpPr>
        <p:spPr>
          <a:xfrm>
            <a:off x="8124827"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idx="22"/>
          </p:nvPr>
        </p:nvSpPr>
        <p:spPr>
          <a:xfrm>
            <a:off x="4321019"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idx="15"/>
          </p:nvPr>
        </p:nvSpPr>
        <p:spPr/>
        <p:txBody>
          <a:bodyPr/>
          <a:lstStyle>
            <a:lvl1pPr>
              <a:buNone/>
              <a:defRPr b="0" i="0"/>
            </a:lvl1pPr>
          </a:lstStyle>
          <a:p>
            <a:r>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idx="16"/>
          </p:nvPr>
        </p:nvSpPr>
        <p:spPr/>
        <p:txBody>
          <a:bodyPr/>
          <a:lstStyle>
            <a:lvl1pPr>
              <a:buNone/>
              <a:defRPr b="0" i="0"/>
            </a:lvl1pPr>
          </a:lstStyle>
          <a:p>
            <a:fld id="{63DCA5C9-2E11-4C67-86EB-AE1DE127DC64}" type="slidenum">
              <a:rPr/>
              <a:t>‹#›</a:t>
            </a:fld>
            <a:endParaRPr/>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idx="19"/>
          </p:nvPr>
        </p:nvSpPr>
        <p:spPr>
          <a:xfrm>
            <a:off x="460375"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idx="20"/>
          </p:nvPr>
        </p:nvSpPr>
        <p:spPr>
          <a:xfrm>
            <a:off x="460375"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idx="21"/>
          </p:nvPr>
        </p:nvSpPr>
        <p:spPr>
          <a:xfrm>
            <a:off x="4298950"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idx="22"/>
          </p:nvPr>
        </p:nvSpPr>
        <p:spPr>
          <a:xfrm>
            <a:off x="4298950"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idx="23"/>
          </p:nvPr>
        </p:nvSpPr>
        <p:spPr>
          <a:xfrm>
            <a:off x="8121650"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idx="24"/>
          </p:nvPr>
        </p:nvSpPr>
        <p:spPr>
          <a:xfrm>
            <a:off x="8121650"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52" name="Picture 3"/>
          <p:cNvPicPr>
            <a:picLocks noChangeAspect="1"/>
          </p:cNvPicPr>
          <p:nvPr/>
        </p:nvPicPr>
        <p:blipFill>
          <a:blip r:embed="rId3"/>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idx="25"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_ful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idx="10"/>
          </p:nvPr>
        </p:nvSpPr>
        <p:spPr>
          <a:xfrm>
            <a:off x="0" y="1"/>
            <a:ext cx="12191999" cy="6132512"/>
          </a:xfrm>
          <a:prstGeom prst="rect">
            <a:avLst/>
          </a:prstGeom>
          <a:solidFill>
            <a:schemeClr val="accent2">
              <a:lumMod val="40000"/>
              <a:lumOff val="60000"/>
            </a:schemeClr>
          </a:solidFill>
        </p:spPr>
        <p:txBody>
          <a:bodyPr tIns="2560320" rIns="0"/>
          <a:lstStyle>
            <a:lvl1pPr algn="ctr">
              <a:buNone/>
              <a:defRPr b="0" i="0">
                <a:solidFill>
                  <a:schemeClr val="tx1"/>
                </a:solidFill>
              </a:defRPr>
            </a:lvl1pPr>
          </a:lstStyle>
          <a:p>
            <a:r>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idx="11"/>
          </p:nvPr>
        </p:nvSpPr>
        <p:spPr/>
        <p:txBody>
          <a:bodyPr/>
          <a:lstStyle>
            <a:lvl1pPr>
              <a:buNone/>
              <a:defRPr b="0" i="0"/>
            </a:lvl1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idx="12"/>
          </p:nvPr>
        </p:nvSpPr>
        <p:spPr/>
        <p:txBody>
          <a:bodyPr/>
          <a:lstStyle>
            <a:lvl1pPr>
              <a:buNone/>
              <a:defRPr b="0" i="0"/>
            </a:lvl1pPr>
          </a:lstStyle>
          <a:p>
            <a:fld id="{63DCA5C9-2E11-4C67-86EB-AE1DE127DC64}" type="slidenum">
              <a:rPr/>
              <a:t>‹#›</a:t>
            </a:fld>
            <a:endParaRPr/>
          </a:p>
        </p:txBody>
      </p:sp>
      <p:pic>
        <p:nvPicPr>
          <p:cNvPr id="16" name="Picture 1"/>
          <p:cNvPicPr>
            <a:picLocks noChangeAspect="1"/>
          </p:cNvPicPr>
          <p:nvPr/>
        </p:nvPicPr>
        <p:blipFill>
          <a:blip r:embed="rId3"/>
          <a:stretch>
            <a:fillRect/>
          </a:stretch>
        </p:blipFill>
        <p:spPr>
          <a:xfrm>
            <a:off x="460377" y="6325375"/>
            <a:ext cx="1457324" cy="305021"/>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buNone/>
              <a:defRPr b="0" i="0">
                <a:solidFill>
                  <a:schemeClr val="tx1"/>
                </a:solidFill>
              </a:defRPr>
            </a:lvl1pPr>
          </a:lstStyle>
          <a:p>
            <a:r>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idx="16"/>
          </p:nvPr>
        </p:nvSpPr>
        <p:spPr/>
        <p:txBody>
          <a:bodyPr/>
          <a:lstStyle>
            <a:lvl1pPr>
              <a:buNone/>
              <a:defRPr b="0" i="0"/>
            </a:lvl1pPr>
          </a:lstStyle>
          <a:p>
            <a:r>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idx="17"/>
          </p:nvPr>
        </p:nvSpPr>
        <p:spPr/>
        <p:txBody>
          <a:bodyPr/>
          <a:lstStyle>
            <a:lvl1pPr>
              <a:buNone/>
              <a:defRPr b="0" i="0"/>
            </a:lvl1pPr>
          </a:lstStyle>
          <a:p>
            <a:fld id="{63DCA5C9-2E11-4C67-86EB-AE1DE127DC64}" type="slidenum">
              <a:rPr/>
              <a:t>‹#›</a:t>
            </a:fld>
            <a:endParaRPr/>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17"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rPr/>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8" name="Picture 1"/>
          <p:cNvPicPr>
            <a:picLocks noChangeAspect="1"/>
          </p:cNvPicPr>
          <p:nvPr/>
        </p:nvPicPr>
        <p:blipFill>
          <a:blip r:embed="rId3"/>
          <a:stretch>
            <a:fillRect/>
          </a:stretch>
        </p:blipFill>
        <p:spPr>
          <a:xfrm>
            <a:off x="460377" y="6325375"/>
            <a:ext cx="1457324" cy="30502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rPr/>
              <a:t>‹#›</a:t>
            </a:fld>
            <a:endParaRPr/>
          </a:p>
        </p:txBody>
      </p:sp>
      <p:pic>
        <p:nvPicPr>
          <p:cNvPr id="8" name="Picture 1"/>
          <p:cNvPicPr>
            <a:picLocks noChangeAspect="1"/>
          </p:cNvPicPr>
          <p:nvPr/>
        </p:nvPicPr>
        <p:blipFill>
          <a:blip r:embed="rId2"/>
          <a:stretch>
            <a:fillRect/>
          </a:stretch>
        </p:blipFill>
        <p:spPr>
          <a:xfrm>
            <a:off x="460377" y="6325375"/>
            <a:ext cx="1457324" cy="305021"/>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000000"/>
        </a:solidFill>
        <a:effectLst/>
      </p:bgPr>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67D2A3DE-7ED2-471F-9BD6-3D83A693AAC6}"/>
              </a:ext>
            </a:extLst>
          </p:cNvPr>
          <p:cNvSpPr>
            <a:spLocks noGrp="1"/>
          </p:cNvSpPr>
          <p:nvPr>
            <p:ph type="media" idx="10" hasCustomPrompt="1"/>
          </p:nvPr>
        </p:nvSpPr>
        <p:spPr>
          <a:xfrm>
            <a:off x="0" y="0"/>
            <a:ext cx="12192000" cy="6858000"/>
          </a:xfrm>
          <a:prstGeom prst="rect">
            <a:avLst/>
          </a:prstGeom>
          <a:solidFill>
            <a:srgbClr val="000000"/>
          </a:solidFill>
        </p:spPr>
        <p:txBody>
          <a:bodyPr tIns="731520" anchor="ctr"/>
          <a:lstStyle>
            <a:lvl1pPr algn="ctr">
              <a:buNone/>
              <a:defRPr sz="2000" b="0" i="0">
                <a:solidFill>
                  <a:schemeClr val="bg1"/>
                </a:solidFill>
              </a:defRPr>
            </a:lvl1pPr>
          </a:lstStyle>
          <a:p>
            <a:r>
              <a:t>Click icon to add video</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9">
            <a:extLst>
              <a:ext uri="{FF2B5EF4-FFF2-40B4-BE49-F238E27FC236}">
                <a16:creationId xmlns:a16="http://schemas.microsoft.com/office/drawing/2014/main" id="{E3D8E744-7A24-AE07-4B72-9BE3D3C4E03D}"/>
              </a:ext>
            </a:extLst>
          </p:cNvPr>
          <p:cNvSpPr>
            <a:spLocks noGrp="1"/>
          </p:cNvSpPr>
          <p:nvPr>
            <p:ph type="body" idx="23" hasCustomPrompt="1"/>
          </p:nvPr>
        </p:nvSpPr>
        <p:spPr>
          <a:xfrm>
            <a:off x="711749" y="3465467"/>
            <a:ext cx="1381456" cy="586696"/>
          </a:xfrm>
          <a:prstGeom prst="rect">
            <a:avLst/>
          </a:prstGeom>
          <a:blipFill>
            <a:blip r:embed="rId3"/>
            <a:stretch>
              <a:fillRect/>
            </a:stretch>
          </a:blipFill>
        </p:spPr>
        <p:txBody>
          <a:bodyPr/>
          <a:lstStyle>
            <a:lvl1pPr>
              <a:buNone/>
              <a:defRPr sz="2800" b="0" i="0"/>
            </a:lvl1pPr>
          </a:lstStyle>
          <a:p>
            <a:pPr lvl="0">
              <a:buNone/>
            </a:pPr>
            <a:r>
              <a:t> </a:t>
            </a:r>
          </a:p>
        </p:txBody>
      </p:sp>
      <p:pic>
        <p:nvPicPr>
          <p:cNvPr id="13" name="Picture 6"/>
          <p:cNvPicPr>
            <a:picLocks noChangeAspect="1"/>
          </p:cNvPicPr>
          <p:nvPr/>
        </p:nvPicPr>
        <p:blipFill>
          <a:blip r:embed="rId4"/>
          <a:stretch>
            <a:fillRect/>
          </a:stretch>
        </p:blipFill>
        <p:spPr>
          <a:xfrm>
            <a:off x="91227" y="2216888"/>
            <a:ext cx="1421661" cy="1421661"/>
          </a:xfrm>
          <a:prstGeom prst="rect">
            <a:avLst/>
          </a:prstGeom>
        </p:spPr>
      </p:pic>
      <p:pic>
        <p:nvPicPr>
          <p:cNvPr id="14" name="Picture 1"/>
          <p:cNvPicPr>
            <a:picLocks noChangeAspect="1"/>
          </p:cNvPicPr>
          <p:nvPr/>
        </p:nvPicPr>
        <p:blipFill>
          <a:blip r:embed="rId5"/>
          <a:stretch>
            <a:fillRect/>
          </a:stretch>
        </p:blipFill>
        <p:spPr>
          <a:xfrm>
            <a:off x="460376" y="6021389"/>
            <a:ext cx="2330449" cy="487768"/>
          </a:xfrm>
          <a:prstGeom prst="rect">
            <a:avLst/>
          </a:prstGeom>
        </p:spPr>
      </p:pic>
      <p:sp>
        <p:nvSpPr>
          <p:cNvPr id="3" name="Title 2">
            <a:extLst>
              <a:ext uri="{FF2B5EF4-FFF2-40B4-BE49-F238E27FC236}">
                <a16:creationId xmlns:a16="http://schemas.microsoft.com/office/drawing/2014/main" id="{E370F854-6EFF-21FF-B3FC-87FF997AA62F}"/>
              </a:ext>
            </a:extLst>
          </p:cNvPr>
          <p:cNvSpPr>
            <a:spLocks noGrp="1"/>
          </p:cNvSpPr>
          <p:nvPr>
            <p:ph type="title" hasCustomPrompt="1"/>
          </p:nvPr>
        </p:nvSpPr>
        <p:spPr>
          <a:xfrm>
            <a:off x="800717" y="2995922"/>
            <a:ext cx="5815983" cy="3023877"/>
          </a:xfrm>
          <a:prstGeom prst="rect">
            <a:avLst/>
          </a:prstGeom>
        </p:spPr>
        <p:txBody>
          <a:bodyPr lIns="0" anchor="t"/>
          <a:lstStyle>
            <a:lvl1pPr>
              <a:buNone/>
              <a:defRPr sz="3200">
                <a:solidFill>
                  <a:schemeClr val="tx1"/>
                </a:solidFill>
              </a:defRPr>
            </a:lvl1pPr>
          </a:lstStyle>
          <a:p>
            <a:r>
              <a:t>Closing statement goes here adjust highlight on text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Graphic 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6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idx="22" hasCustomPrompt="1"/>
          </p:nvPr>
        </p:nvSpPr>
        <p:spPr>
          <a:xfrm>
            <a:off x="6210300" y="1959429"/>
            <a:ext cx="2926896" cy="2944585"/>
          </a:xfrm>
          <a:prstGeom prst="rect">
            <a:avLst/>
          </a:prstGeom>
          <a:noFill/>
        </p:spPr>
        <p:txBody>
          <a:bodyPr tIns="1737360"/>
          <a:lstStyle>
            <a:lvl1pPr algn="ctr">
              <a:buNone/>
              <a:defRPr b="0" i="0"/>
            </a:lvl1pPr>
          </a:lstStyle>
          <a:p>
            <a:r>
              <a:t>Delete image </a:t>
            </a:r>
            <a:br>
              <a:rPr/>
            </a:br>
            <a:r>
              <a:t>placeholder </a:t>
            </a:r>
            <a:br>
              <a:rPr/>
            </a:br>
            <a:r>
              <a:t>if not needed</a:t>
            </a:r>
          </a:p>
        </p:txBody>
      </p:sp>
      <p:pic>
        <p:nvPicPr>
          <p:cNvPr id="19" name="Picture 7"/>
          <p:cNvPicPr>
            <a:picLocks noChangeAspect="1"/>
          </p:cNvPicPr>
          <p:nvPr/>
        </p:nvPicPr>
        <p:blipFill>
          <a:blip r:embed="rId4"/>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11" name="Rectangle 10">
            <a:extLst>
              <a:ext uri="{FF2B5EF4-FFF2-40B4-BE49-F238E27FC236}">
                <a16:creationId xmlns:a16="http://schemas.microsoft.com/office/drawing/2014/main" id="{42C7BC3E-22B9-A296-42F7-5B7D706CE6B8}"/>
              </a:ext>
            </a:extLst>
          </p:cNvPr>
          <p:cNvSpPr>
            <a:spLocks noGrp="1"/>
          </p:cNvSpPr>
          <p:nvPr/>
        </p:nvSpPr>
        <p:spPr>
          <a:xfrm>
            <a:off x="296562" y="2533135"/>
            <a:ext cx="1621139" cy="197708"/>
          </a:xfrm>
          <a:prstGeom prst="rect">
            <a:avLst/>
          </a:prstGeom>
          <a:solidFill>
            <a:schemeClr val="tx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idx="23" hasCustomPrompt="1"/>
          </p:nvPr>
        </p:nvSpPr>
        <p:spPr>
          <a:xfrm>
            <a:off x="465137" y="1412875"/>
            <a:ext cx="4884738"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idx="26" hasCustomPrompt="1"/>
          </p:nvPr>
        </p:nvSpPr>
        <p:spPr>
          <a:xfrm flipH="1" flipV="1">
            <a:off x="364794" y="2519917"/>
            <a:ext cx="1381456" cy="192234"/>
          </a:xfrm>
          <a:prstGeom prst="rect">
            <a:avLst/>
          </a:prstGeom>
          <a:blipFill rotWithShape="0">
            <a:blip r:embed="rId5"/>
            <a:srcRect/>
            <a:stretch>
              <a:fillRect t="20350"/>
            </a:stretch>
          </a:blipFill>
        </p:spPr>
        <p:txBody>
          <a:bodyPr/>
          <a:lstStyle>
            <a:lvl1pPr>
              <a:buNone/>
              <a:defRPr sz="2800" b="0" i="0"/>
            </a:lvl1pPr>
          </a:lstStyle>
          <a:p>
            <a:pPr lvl="0">
              <a:buNone/>
            </a:pPr>
            <a:r>
              <a:t>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Graphic 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bg1"/>
                </a:solidFill>
                <a:latin typeface="+mn-lt"/>
                <a:ea typeface="+mn-lt"/>
                <a:cs typeface="+mn-lt"/>
              </a:defRPr>
            </a:lvl1pPr>
            <a:lvl2pPr>
              <a:spcAft>
                <a:spcPts val="0"/>
              </a:spcAft>
              <a:buFontTx/>
              <a:buNone/>
              <a:defRPr sz="1600" b="1" i="0" cap="none" baseline="0">
                <a:solidFill>
                  <a:schemeClr val="bg1"/>
                </a:solidFill>
                <a:latin typeface="+mj-lt"/>
                <a:ea typeface="+mj-lt"/>
                <a:cs typeface="+mj-lt"/>
              </a:defRPr>
            </a:lvl2pPr>
            <a:lvl3pPr marL="0" indent="0">
              <a:spcAft>
                <a:spcPts val="0"/>
              </a:spcAft>
              <a:buFontTx/>
              <a:buNone/>
              <a:defRPr sz="1600" b="1" i="0" cap="none" baseline="0">
                <a:solidFill>
                  <a:schemeClr val="bg1"/>
                </a:solidFill>
                <a:latin typeface="+mj-lt"/>
                <a:ea typeface="+mj-lt"/>
                <a:cs typeface="+mj-lt"/>
              </a:defRPr>
            </a:lvl3pPr>
            <a:lvl4pPr marL="0" indent="0">
              <a:spcAft>
                <a:spcPts val="0"/>
              </a:spcAft>
              <a:buFontTx/>
              <a:buNone/>
              <a:defRPr sz="1600" b="1" i="0" cap="none" baseline="0">
                <a:solidFill>
                  <a:schemeClr val="bg1"/>
                </a:solidFill>
                <a:latin typeface="+mj-lt"/>
                <a:ea typeface="+mj-lt"/>
                <a:cs typeface="+mj-lt"/>
              </a:defRPr>
            </a:lvl4pPr>
            <a:lvl5pPr marL="0" indent="0">
              <a:spcAft>
                <a:spcPts val="0"/>
              </a:spcAft>
              <a:buFontTx/>
              <a:buNone/>
              <a:defRPr sz="1600" b="1" i="0" cap="none" baseline="0">
                <a:solidFill>
                  <a:schemeClr val="bg1"/>
                </a:solidFill>
                <a:latin typeface="+mn-lt"/>
                <a:ea typeface="+mn-lt"/>
                <a:cs typeface="+mn-lt"/>
              </a:defRPr>
            </a:lvl5pPr>
            <a:lvl6pPr marL="0" indent="0">
              <a:spcAft>
                <a:spcPts val="0"/>
              </a:spcAft>
              <a:buFontTx/>
              <a:buNone/>
              <a:defRPr sz="1600" b="1" i="0" cap="none" baseline="0">
                <a:solidFill>
                  <a:schemeClr val="bg1"/>
                </a:solidFill>
                <a:latin typeface="+mn-lt"/>
                <a:ea typeface="+mn-lt"/>
                <a:cs typeface="+mn-lt"/>
              </a:defRPr>
            </a:lvl6pPr>
            <a:lvl7pPr marL="0" indent="0">
              <a:spcAft>
                <a:spcPts val="0"/>
              </a:spcAft>
              <a:buFontTx/>
              <a:buNone/>
              <a:defRPr sz="1600" b="1" i="0" cap="none" baseline="0">
                <a:solidFill>
                  <a:schemeClr val="bg1"/>
                </a:solidFill>
                <a:latin typeface="+mn-lt"/>
                <a:ea typeface="+mn-lt"/>
                <a:cs typeface="+mn-lt"/>
              </a:defRPr>
            </a:lvl7pPr>
            <a:lvl8pPr marL="0" indent="0">
              <a:spcAft>
                <a:spcPts val="0"/>
              </a:spcAft>
              <a:buFontTx/>
              <a:buNone/>
              <a:defRPr sz="1600" b="1" i="0" cap="none" baseline="0">
                <a:solidFill>
                  <a:schemeClr val="bg1"/>
                </a:solidFill>
                <a:latin typeface="+mn-lt"/>
                <a:ea typeface="+mn-lt"/>
                <a:cs typeface="+mn-lt"/>
              </a:defRPr>
            </a:lvl8pPr>
            <a:lvl9pPr marL="0" indent="0">
              <a:spcAft>
                <a:spcPts val="0"/>
              </a:spcAft>
              <a:buFontTx/>
              <a:buNone/>
              <a:defRPr sz="1600" b="1" i="0" cap="none" baseline="0">
                <a:solidFill>
                  <a:schemeClr val="bg1"/>
                </a:solidFill>
                <a:latin typeface="+mn-lt"/>
                <a:ea typeface="+mn-lt"/>
                <a:cs typeface="+mn-lt"/>
              </a:defRPr>
            </a:lvl9pPr>
          </a:lstStyle>
          <a:p>
            <a:pPr lvl="0">
              <a:buNone/>
            </a:pPr>
            <a:r>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idx="22" hasCustomPrompt="1"/>
          </p:nvPr>
        </p:nvSpPr>
        <p:spPr>
          <a:xfrm>
            <a:off x="6210300" y="1959429"/>
            <a:ext cx="2926896" cy="2944585"/>
          </a:xfrm>
          <a:prstGeom prst="rect">
            <a:avLst/>
          </a:prstGeom>
          <a:noFill/>
        </p:spPr>
        <p:txBody>
          <a:bodyPr tIns="1737360"/>
          <a:lstStyle>
            <a:lvl1pPr algn="ctr">
              <a:buNone/>
              <a:defRPr b="0" i="0"/>
            </a:lvl1pPr>
          </a:lstStyle>
          <a:p>
            <a:r>
              <a:t>Delete image </a:t>
            </a:r>
            <a:br>
              <a:rPr/>
            </a:br>
            <a:r>
              <a:t>placeholder </a:t>
            </a:r>
            <a:br>
              <a:rPr/>
            </a:br>
            <a:r>
              <a:t>if not needed</a:t>
            </a:r>
          </a:p>
        </p:txBody>
      </p:sp>
      <p:pic>
        <p:nvPicPr>
          <p:cNvPr id="18" name="Picture 7"/>
          <p:cNvPicPr>
            <a:picLocks noChangeAspect="1"/>
          </p:cNvPicPr>
          <p:nvPr/>
        </p:nvPicPr>
        <p:blipFill>
          <a:blip r:embed="rId4"/>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6" name="Rectangle 5">
            <a:extLst>
              <a:ext uri="{FF2B5EF4-FFF2-40B4-BE49-F238E27FC236}">
                <a16:creationId xmlns:a16="http://schemas.microsoft.com/office/drawing/2014/main" id="{D6255CA2-1EF0-D45E-0F8C-D8FFCF0F48BF}"/>
              </a:ext>
            </a:extLst>
          </p:cNvPr>
          <p:cNvSpPr>
            <a:spLocks noGrp="1"/>
          </p:cNvSpPr>
          <p:nvPr/>
        </p:nvSpPr>
        <p:spPr>
          <a:xfrm>
            <a:off x="296562" y="2533135"/>
            <a:ext cx="1621139" cy="197708"/>
          </a:xfrm>
          <a:prstGeom prst="rect">
            <a:avLst/>
          </a:prstGeom>
          <a:solidFill>
            <a:schemeClr val="tx2"/>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idx="23" hasCustomPrompt="1"/>
          </p:nvPr>
        </p:nvSpPr>
        <p:spPr>
          <a:xfrm>
            <a:off x="465137" y="1412875"/>
            <a:ext cx="4884738"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
        <p:nvSpPr>
          <p:cNvPr id="11" name="Text Placeholder 9">
            <a:extLst>
              <a:ext uri="{FF2B5EF4-FFF2-40B4-BE49-F238E27FC236}">
                <a16:creationId xmlns:a16="http://schemas.microsoft.com/office/drawing/2014/main" id="{71F24330-E4EB-5F2D-3E9D-837E687DE41B}"/>
              </a:ext>
            </a:extLst>
          </p:cNvPr>
          <p:cNvSpPr>
            <a:spLocks noGrp="1"/>
          </p:cNvSpPr>
          <p:nvPr>
            <p:ph type="body" idx="26" hasCustomPrompt="1"/>
          </p:nvPr>
        </p:nvSpPr>
        <p:spPr>
          <a:xfrm flipH="1" flipV="1">
            <a:off x="364794" y="2519917"/>
            <a:ext cx="1381456" cy="192234"/>
          </a:xfrm>
          <a:prstGeom prst="rect">
            <a:avLst/>
          </a:prstGeom>
          <a:blipFill rotWithShape="0">
            <a:blip r:embed="rId5"/>
            <a:srcRect/>
            <a:stretch>
              <a:fillRect t="20350"/>
            </a:stretch>
          </a:blipFill>
        </p:spPr>
        <p:txBody>
          <a:bodyPr/>
          <a:lstStyle>
            <a:lvl1pPr>
              <a:buNone/>
              <a:defRPr sz="2800" b="0" i="0"/>
            </a:lvl1pPr>
          </a:lstStyle>
          <a:p>
            <a:pPr lvl="0">
              <a:buNone/>
            </a:pPr>
            <a:r>
              <a:t> </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idx="22" hasCustomPrompt="1"/>
          </p:nvPr>
        </p:nvSpPr>
        <p:spPr>
          <a:xfrm>
            <a:off x="6210300" y="1959429"/>
            <a:ext cx="2926896" cy="2944585"/>
          </a:xfrm>
          <a:prstGeom prst="rect">
            <a:avLst/>
          </a:prstGeom>
          <a:noFill/>
        </p:spPr>
        <p:txBody>
          <a:bodyPr tIns="1737360"/>
          <a:lstStyle>
            <a:lvl1pPr algn="ctr">
              <a:buNone/>
              <a:defRPr b="0" i="0"/>
            </a:lvl1pPr>
          </a:lstStyle>
          <a:p>
            <a:r>
              <a:t>Delete image </a:t>
            </a:r>
            <a:br>
              <a:rPr/>
            </a:br>
            <a:r>
              <a:t>placeholder </a:t>
            </a:r>
            <a:br>
              <a:rPr/>
            </a:br>
            <a:r>
              <a:t>if not needed</a:t>
            </a:r>
          </a:p>
        </p:txBody>
      </p:sp>
      <p:pic>
        <p:nvPicPr>
          <p:cNvPr id="17" name="Picture 7"/>
          <p:cNvPicPr>
            <a:picLocks noChangeAspect="1"/>
          </p:cNvPicPr>
          <p:nvPr/>
        </p:nvPicPr>
        <p:blipFill>
          <a:blip r:embed="rId3"/>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pic>
        <p:nvPicPr>
          <p:cNvPr id="20" name="Graphic 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538F5BB5-9720-46B1-5D3D-A302578A8824}"/>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600" b="1" i="0" cap="none" baseline="0">
                <a:solidFill>
                  <a:schemeClr val="tx1"/>
                </a:solidFill>
                <a:latin typeface="+mj-lt"/>
                <a:ea typeface="+mj-lt"/>
                <a:cs typeface="+mj-lt"/>
              </a:defRPr>
            </a:lvl2pPr>
            <a:lvl3pPr marL="0" indent="0">
              <a:spcAft>
                <a:spcPts val="0"/>
              </a:spcAft>
              <a:buFontTx/>
              <a:buNone/>
              <a:defRPr sz="1600" b="1" i="0" cap="none" baseline="0">
                <a:solidFill>
                  <a:schemeClr val="tx1"/>
                </a:solidFill>
                <a:latin typeface="+mj-lt"/>
                <a:ea typeface="+mj-lt"/>
                <a:cs typeface="+mj-lt"/>
              </a:defRPr>
            </a:lvl3pPr>
            <a:lvl4pPr marL="0" indent="0">
              <a:spcAft>
                <a:spcPts val="0"/>
              </a:spcAft>
              <a:buFontTx/>
              <a:buNone/>
              <a:defRPr sz="1600" b="1" i="0" cap="none" baseline="0">
                <a:solidFill>
                  <a:schemeClr val="tx1"/>
                </a:solidFill>
                <a:latin typeface="+mj-lt"/>
                <a:ea typeface="+mj-lt"/>
                <a:cs typeface="+mj-lt"/>
              </a:defRPr>
            </a:lvl4pPr>
            <a:lvl5pPr marL="0" indent="0">
              <a:spcAft>
                <a:spcPts val="0"/>
              </a:spcAft>
              <a:buFontTx/>
              <a:buNone/>
              <a:defRPr sz="1600" b="1" i="0" cap="none" baseline="0">
                <a:solidFill>
                  <a:schemeClr val="tx1"/>
                </a:solidFill>
                <a:latin typeface="+mn-lt"/>
                <a:ea typeface="+mn-lt"/>
                <a:cs typeface="+mn-lt"/>
              </a:defRPr>
            </a:lvl5pPr>
            <a:lvl6pPr marL="0" indent="0">
              <a:spcAft>
                <a:spcPts val="0"/>
              </a:spcAft>
              <a:buFontTx/>
              <a:buNone/>
              <a:defRPr sz="1600" b="1" i="0" cap="none" baseline="0">
                <a:solidFill>
                  <a:schemeClr val="tx1"/>
                </a:solidFill>
                <a:latin typeface="+mn-lt"/>
                <a:ea typeface="+mn-lt"/>
                <a:cs typeface="+mn-lt"/>
              </a:defRPr>
            </a:lvl6pPr>
            <a:lvl7pPr marL="0" indent="0">
              <a:spcAft>
                <a:spcPts val="0"/>
              </a:spcAft>
              <a:buFontTx/>
              <a:buNone/>
              <a:defRPr sz="1600" b="1" i="0" cap="none" baseline="0">
                <a:solidFill>
                  <a:schemeClr val="tx1"/>
                </a:solidFill>
                <a:latin typeface="+mn-lt"/>
                <a:ea typeface="+mn-lt"/>
                <a:cs typeface="+mn-lt"/>
              </a:defRPr>
            </a:lvl7pPr>
            <a:lvl8pPr marL="0" indent="0">
              <a:spcAft>
                <a:spcPts val="0"/>
              </a:spcAft>
              <a:buFontTx/>
              <a:buNone/>
              <a:defRPr sz="1600" b="1" i="0" cap="none" baseline="0">
                <a:solidFill>
                  <a:schemeClr val="tx1"/>
                </a:solidFill>
                <a:latin typeface="+mn-lt"/>
                <a:ea typeface="+mn-lt"/>
                <a:cs typeface="+mn-lt"/>
              </a:defRPr>
            </a:lvl8pPr>
            <a:lvl9pPr marL="0" indent="0">
              <a:spcAft>
                <a:spcPts val="0"/>
              </a:spcAft>
              <a:buFontTx/>
              <a:buNone/>
              <a:defRPr sz="1600" b="1" i="0" cap="none" baseline="0">
                <a:solidFill>
                  <a:schemeClr val="tx1"/>
                </a:solidFill>
                <a:latin typeface="+mn-lt"/>
                <a:ea typeface="+mn-lt"/>
                <a:cs typeface="+mn-lt"/>
              </a:defRPr>
            </a:lvl9pPr>
          </a:lstStyle>
          <a:p>
            <a:pPr lvl="0">
              <a:buNone/>
            </a:pPr>
            <a:r>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a:prstGeom prst="rect">
            <a:avLst/>
          </a:prstGeom>
        </p:spPr>
        <p:txBody>
          <a:bodyPr anchor="b"/>
          <a:lstStyle>
            <a:lvl1pPr>
              <a:buNone/>
              <a:defRPr sz="3200" b="1">
                <a:solidFill>
                  <a:schemeClr val="tx1"/>
                </a:solidFill>
              </a:defRPr>
            </a:lvl1pPr>
          </a:lstStyle>
          <a:p>
            <a:r>
              <a:t>Divider title goes up to three lines lorem ipsum dolor tatem voluptis</a:t>
            </a:r>
          </a:p>
        </p:txBody>
      </p:sp>
      <p:sp>
        <p:nvSpPr>
          <p:cNvPr id="2" name="Rectangle 1">
            <a:extLst>
              <a:ext uri="{FF2B5EF4-FFF2-40B4-BE49-F238E27FC236}">
                <a16:creationId xmlns:a16="http://schemas.microsoft.com/office/drawing/2014/main" id="{0C051312-AC51-CC64-7366-205949959795}"/>
              </a:ext>
            </a:extLst>
          </p:cNvPr>
          <p:cNvSpPr>
            <a:spLocks noGrp="1"/>
          </p:cNvSpPr>
          <p:nvPr/>
        </p:nvSpPr>
        <p:spPr>
          <a:xfrm>
            <a:off x="296562" y="2533135"/>
            <a:ext cx="1621139" cy="197708"/>
          </a:xfrm>
          <a:prstGeom prst="rect">
            <a:avLst/>
          </a:prstGeom>
          <a:solidFill>
            <a:schemeClr val="accent3"/>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idx="23" hasCustomPrompt="1"/>
          </p:nvPr>
        </p:nvSpPr>
        <p:spPr>
          <a:xfrm>
            <a:off x="465137" y="1412875"/>
            <a:ext cx="4884738" cy="1219200"/>
          </a:xfrm>
          <a:prstGeom prst="rect">
            <a:avLst/>
          </a:prstGeom>
        </p:spPr>
        <p:txBody>
          <a:bodyPr tIns="0" rIns="0" bIns="0" anchor="b"/>
          <a:lstStyle>
            <a:lvl1pPr>
              <a:spcAft>
                <a:spcPts val="0"/>
              </a:spcAft>
              <a:buFontTx/>
              <a:buNone/>
              <a:defRPr sz="7200" b="1" i="0" cap="none" baseline="0">
                <a:solidFill>
                  <a:schemeClr val="tx1"/>
                </a:solidFill>
                <a:latin typeface="+mn-lt"/>
                <a:ea typeface="+mn-lt"/>
                <a:cs typeface="+mn-lt"/>
              </a:defRPr>
            </a:lvl1pPr>
            <a:lvl2pPr>
              <a:spcAft>
                <a:spcPts val="0"/>
              </a:spcAft>
              <a:buFontTx/>
              <a:buNone/>
              <a:defRPr sz="7200" b="1" i="0" cap="none" baseline="0">
                <a:solidFill>
                  <a:schemeClr val="tx1"/>
                </a:solidFill>
                <a:latin typeface="+mj-lt"/>
                <a:ea typeface="+mj-lt"/>
                <a:cs typeface="+mj-lt"/>
              </a:defRPr>
            </a:lvl2pPr>
            <a:lvl3pPr marL="0" indent="0">
              <a:spcAft>
                <a:spcPts val="0"/>
              </a:spcAft>
              <a:buFontTx/>
              <a:buNone/>
              <a:defRPr sz="7200" b="1" i="0" cap="none" baseline="0">
                <a:solidFill>
                  <a:schemeClr val="tx1"/>
                </a:solidFill>
                <a:latin typeface="+mj-lt"/>
                <a:ea typeface="+mj-lt"/>
                <a:cs typeface="+mj-lt"/>
              </a:defRPr>
            </a:lvl3pPr>
            <a:lvl4pPr marL="0" indent="0">
              <a:spcAft>
                <a:spcPts val="0"/>
              </a:spcAft>
              <a:buFontTx/>
              <a:buNone/>
              <a:defRPr sz="7200" b="1" i="0" cap="none" baseline="0">
                <a:solidFill>
                  <a:schemeClr val="tx1"/>
                </a:solidFill>
                <a:latin typeface="+mj-lt"/>
                <a:ea typeface="+mj-lt"/>
                <a:cs typeface="+mj-lt"/>
              </a:defRPr>
            </a:lvl4pPr>
            <a:lvl5pPr marL="0" indent="0">
              <a:spcAft>
                <a:spcPts val="0"/>
              </a:spcAft>
              <a:buFontTx/>
              <a:buNone/>
              <a:defRPr sz="7200" b="1" i="0" cap="none" baseline="0">
                <a:solidFill>
                  <a:schemeClr val="tx1"/>
                </a:solidFill>
                <a:latin typeface="+mn-lt"/>
                <a:ea typeface="+mn-lt"/>
                <a:cs typeface="+mn-lt"/>
              </a:defRPr>
            </a:lvl5pPr>
            <a:lvl6pPr marL="0" indent="0">
              <a:spcAft>
                <a:spcPts val="0"/>
              </a:spcAft>
              <a:buFontTx/>
              <a:buNone/>
              <a:defRPr sz="7200" b="1" i="0" cap="none" baseline="0">
                <a:solidFill>
                  <a:schemeClr val="tx1"/>
                </a:solidFill>
                <a:latin typeface="+mn-lt"/>
                <a:ea typeface="+mn-lt"/>
                <a:cs typeface="+mn-lt"/>
              </a:defRPr>
            </a:lvl6pPr>
            <a:lvl7pPr marL="0" indent="0">
              <a:spcAft>
                <a:spcPts val="0"/>
              </a:spcAft>
              <a:buFontTx/>
              <a:buNone/>
              <a:defRPr sz="7200" b="1" i="0" cap="none" baseline="0">
                <a:solidFill>
                  <a:schemeClr val="tx1"/>
                </a:solidFill>
                <a:latin typeface="+mn-lt"/>
                <a:ea typeface="+mn-lt"/>
                <a:cs typeface="+mn-lt"/>
              </a:defRPr>
            </a:lvl7pPr>
            <a:lvl8pPr marL="0" indent="0">
              <a:spcAft>
                <a:spcPts val="0"/>
              </a:spcAft>
              <a:buFontTx/>
              <a:buNone/>
              <a:defRPr sz="7200" b="1" i="0" cap="none" baseline="0">
                <a:solidFill>
                  <a:schemeClr val="tx1"/>
                </a:solidFill>
                <a:latin typeface="+mn-lt"/>
                <a:ea typeface="+mn-lt"/>
                <a:cs typeface="+mn-lt"/>
              </a:defRPr>
            </a:lvl8pPr>
            <a:lvl9pPr marL="0" indent="0">
              <a:spcAft>
                <a:spcPts val="0"/>
              </a:spcAft>
              <a:buFontTx/>
              <a:buNone/>
              <a:defRPr sz="7200" b="1" i="0" cap="none" baseline="0">
                <a:solidFill>
                  <a:schemeClr val="tx1"/>
                </a:solidFill>
                <a:latin typeface="+mn-lt"/>
                <a:ea typeface="+mn-lt"/>
                <a:cs typeface="+mn-lt"/>
              </a:defRPr>
            </a:lvl9pPr>
          </a:lstStyle>
          <a:p>
            <a:pPr lvl="0">
              <a:buNone/>
            </a:pPr>
            <a:r>
              <a:t>00</a:t>
            </a:r>
          </a:p>
        </p:txBody>
      </p:sp>
      <p:sp>
        <p:nvSpPr>
          <p:cNvPr id="3" name="Text Placeholder 9">
            <a:extLst>
              <a:ext uri="{FF2B5EF4-FFF2-40B4-BE49-F238E27FC236}">
                <a16:creationId xmlns:a16="http://schemas.microsoft.com/office/drawing/2014/main" id="{E8FD128D-692A-2AB6-3921-483D465C6837}"/>
              </a:ext>
            </a:extLst>
          </p:cNvPr>
          <p:cNvSpPr>
            <a:spLocks noGrp="1"/>
          </p:cNvSpPr>
          <p:nvPr>
            <p:ph type="body" idx="26" hasCustomPrompt="1"/>
          </p:nvPr>
        </p:nvSpPr>
        <p:spPr>
          <a:xfrm flipH="1" flipV="1">
            <a:off x="364794" y="2519917"/>
            <a:ext cx="1381456" cy="192234"/>
          </a:xfrm>
          <a:prstGeom prst="rect">
            <a:avLst/>
          </a:prstGeom>
          <a:blipFill rotWithShape="0">
            <a:blip r:embed="rId5"/>
            <a:srcRect/>
            <a:stretch>
              <a:fillRect t="-317465" b="-325807"/>
            </a:stretch>
          </a:blipFill>
        </p:spPr>
        <p:txBody>
          <a:bodyPr/>
          <a:lstStyle>
            <a:lvl1pPr>
              <a:buNone/>
              <a:defRPr sz="2800" b="0" i="0"/>
            </a:lvl1pPr>
          </a:lstStyle>
          <a:p>
            <a:pPr lvl="0">
              <a:buNone/>
            </a:pPr>
            <a:r>
              <a:t> </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tx1"/>
        </a:solidFill>
        <a:effectLst/>
      </p:bgPr>
    </p:bg>
    <p:spTree>
      <p:nvGrpSpPr>
        <p:cNvPr id="1" name=""/>
        <p:cNvGrpSpPr/>
        <p:nvPr/>
      </p:nvGrpSpPr>
      <p:grpSpPr>
        <a:xfrm>
          <a:off x="0" y="0"/>
          <a:ext cx="0" cy="0"/>
          <a:chOff x="0" y="0"/>
          <a:chExt cx="0" cy="0"/>
        </a:xfrm>
      </p:grpSpPr>
      <p:pic>
        <p:nvPicPr>
          <p:cNvPr id="13"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pic>
        <p:nvPicPr>
          <p:cNvPr id="16" name="Picture 7"/>
          <p:cNvPicPr>
            <a:picLocks noChangeAspect="1"/>
          </p:cNvPicPr>
          <p:nvPr/>
        </p:nvPicPr>
        <p:blipFill>
          <a:blip r:embed="rId3"/>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p:cNvSpPr>
          <p:nvPr/>
        </p:nvSpPr>
        <p:spPr>
          <a:xfrm>
            <a:off x="296562" y="2533135"/>
            <a:ext cx="1621139" cy="197708"/>
          </a:xfrm>
          <a:prstGeom prst="rect">
            <a:avLst/>
          </a:prstGeom>
          <a:solidFill>
            <a:schemeClr val="tx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idx="26" hasCustomPrompt="1"/>
          </p:nvPr>
        </p:nvSpPr>
        <p:spPr>
          <a:xfrm flipH="1" flipV="1">
            <a:off x="364794" y="2519917"/>
            <a:ext cx="1381456" cy="192234"/>
          </a:xfrm>
          <a:prstGeom prst="rect">
            <a:avLst/>
          </a:prstGeom>
          <a:blipFill rotWithShape="0">
            <a:blip r:embed="rId4"/>
            <a:srcRect/>
            <a:stretch>
              <a:fillRect t="20350"/>
            </a:stretch>
          </a:blipFill>
        </p:spPr>
        <p:txBody>
          <a:bodyPr/>
          <a:lstStyle>
            <a:lvl1pPr>
              <a:buNone/>
              <a:defRPr sz="2800" b="0" i="0"/>
            </a:lvl1pPr>
          </a:lstStyle>
          <a:p>
            <a:pPr lvl="0">
              <a:buNone/>
            </a:pPr>
            <a:r>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idx="23" hasCustomPrompt="1"/>
          </p:nvPr>
        </p:nvSpPr>
        <p:spPr>
          <a:xfrm>
            <a:off x="465137" y="1412875"/>
            <a:ext cx="7434263"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2"/>
        </a:solidFill>
        <a:effectLst/>
      </p:bgPr>
    </p:bg>
    <p:spTree>
      <p:nvGrpSpPr>
        <p:cNvPr id="1" name=""/>
        <p:cNvGrpSpPr/>
        <p:nvPr/>
      </p:nvGrpSpPr>
      <p:grpSpPr>
        <a:xfrm>
          <a:off x="0" y="0"/>
          <a:ext cx="0" cy="0"/>
          <a:chOff x="0" y="0"/>
          <a:chExt cx="0" cy="0"/>
        </a:xfrm>
      </p:grpSpPr>
      <p:pic>
        <p:nvPicPr>
          <p:cNvPr id="21" name="Picture 5"/>
          <p:cNvPicPr>
            <a:picLocks noChangeAspect="1"/>
          </p:cNvPicPr>
          <p:nvPr/>
        </p:nvPicPr>
        <p:blipFill>
          <a:blip r:embed="rId2"/>
          <a:srcRect/>
          <a:stretch/>
        </p:blipFill>
        <p:spPr>
          <a:xfrm>
            <a:off x="460378" y="6325375"/>
            <a:ext cx="1457322" cy="305021"/>
          </a:xfrm>
          <a:prstGeom prst="rect">
            <a:avLst/>
          </a:prstGeom>
        </p:spPr>
      </p:pic>
      <p:pic>
        <p:nvPicPr>
          <p:cNvPr id="22"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bg1"/>
                </a:solidFill>
                <a:latin typeface="+mn-lt"/>
                <a:ea typeface="+mn-lt"/>
                <a:cs typeface="+mn-lt"/>
              </a:defRPr>
            </a:lvl1pPr>
            <a:lvl2pPr>
              <a:spcAft>
                <a:spcPts val="0"/>
              </a:spcAft>
              <a:buFontTx/>
              <a:buNone/>
              <a:defRPr sz="1600" b="1" i="0" cap="none" baseline="0">
                <a:solidFill>
                  <a:schemeClr val="bg1"/>
                </a:solidFill>
                <a:latin typeface="+mj-lt"/>
                <a:ea typeface="+mj-lt"/>
                <a:cs typeface="+mj-lt"/>
              </a:defRPr>
            </a:lvl2pPr>
            <a:lvl3pPr marL="0" indent="0">
              <a:spcAft>
                <a:spcPts val="0"/>
              </a:spcAft>
              <a:buFontTx/>
              <a:buNone/>
              <a:defRPr sz="1600" b="1" i="0" cap="none" baseline="0">
                <a:solidFill>
                  <a:schemeClr val="bg1"/>
                </a:solidFill>
                <a:latin typeface="+mj-lt"/>
                <a:ea typeface="+mj-lt"/>
                <a:cs typeface="+mj-lt"/>
              </a:defRPr>
            </a:lvl3pPr>
            <a:lvl4pPr marL="0" indent="0">
              <a:spcAft>
                <a:spcPts val="0"/>
              </a:spcAft>
              <a:buFontTx/>
              <a:buNone/>
              <a:defRPr sz="1600" b="1" i="0" cap="none" baseline="0">
                <a:solidFill>
                  <a:schemeClr val="bg1"/>
                </a:solidFill>
                <a:latin typeface="+mj-lt"/>
                <a:ea typeface="+mj-lt"/>
                <a:cs typeface="+mj-lt"/>
              </a:defRPr>
            </a:lvl4pPr>
            <a:lvl5pPr marL="0" indent="0">
              <a:spcAft>
                <a:spcPts val="0"/>
              </a:spcAft>
              <a:buFontTx/>
              <a:buNone/>
              <a:defRPr sz="1600" b="1" i="0" cap="none" baseline="0">
                <a:solidFill>
                  <a:schemeClr val="bg1"/>
                </a:solidFill>
                <a:latin typeface="+mn-lt"/>
                <a:ea typeface="+mn-lt"/>
                <a:cs typeface="+mn-lt"/>
              </a:defRPr>
            </a:lvl5pPr>
            <a:lvl6pPr marL="0" indent="0">
              <a:spcAft>
                <a:spcPts val="0"/>
              </a:spcAft>
              <a:buFontTx/>
              <a:buNone/>
              <a:defRPr sz="1600" b="1" i="0" cap="none" baseline="0">
                <a:solidFill>
                  <a:schemeClr val="bg1"/>
                </a:solidFill>
                <a:latin typeface="+mn-lt"/>
                <a:ea typeface="+mn-lt"/>
                <a:cs typeface="+mn-lt"/>
              </a:defRPr>
            </a:lvl6pPr>
            <a:lvl7pPr marL="0" indent="0">
              <a:spcAft>
                <a:spcPts val="0"/>
              </a:spcAft>
              <a:buFontTx/>
              <a:buNone/>
              <a:defRPr sz="1600" b="1" i="0" cap="none" baseline="0">
                <a:solidFill>
                  <a:schemeClr val="bg1"/>
                </a:solidFill>
                <a:latin typeface="+mn-lt"/>
                <a:ea typeface="+mn-lt"/>
                <a:cs typeface="+mn-lt"/>
              </a:defRPr>
            </a:lvl7pPr>
            <a:lvl8pPr marL="0" indent="0">
              <a:spcAft>
                <a:spcPts val="0"/>
              </a:spcAft>
              <a:buFontTx/>
              <a:buNone/>
              <a:defRPr sz="1600" b="1" i="0" cap="none" baseline="0">
                <a:solidFill>
                  <a:schemeClr val="bg1"/>
                </a:solidFill>
                <a:latin typeface="+mn-lt"/>
                <a:ea typeface="+mn-lt"/>
                <a:cs typeface="+mn-lt"/>
              </a:defRPr>
            </a:lvl8pPr>
            <a:lvl9pPr marL="0" indent="0">
              <a:spcAft>
                <a:spcPts val="0"/>
              </a:spcAft>
              <a:buFontTx/>
              <a:buNone/>
              <a:defRPr sz="1600" b="1" i="0" cap="none" baseline="0">
                <a:solidFill>
                  <a:schemeClr val="bg1"/>
                </a:solidFill>
                <a:latin typeface="+mn-lt"/>
                <a:ea typeface="+mn-lt"/>
                <a:cs typeface="+mn-lt"/>
              </a:defRPr>
            </a:lvl9pPr>
          </a:lstStyle>
          <a:p>
            <a:pPr lvl="0">
              <a:buNone/>
            </a:pPr>
            <a:r>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a:prstGeom prst="rect">
            <a:avLst/>
          </a:prstGeom>
        </p:spPr>
        <p:txBody>
          <a:bodyPr anchor="b"/>
          <a:lstStyle>
            <a:lvl1pPr>
              <a:buNone/>
              <a:defRPr sz="3200" b="1">
                <a:solidFill>
                  <a:schemeClr val="bg1"/>
                </a:solidFill>
              </a:defRPr>
            </a:lvl1pPr>
          </a:lstStyle>
          <a:p>
            <a:r>
              <a:t>Divider title goes up to three lines lorem ipsum dolor tatem voluptis</a:t>
            </a:r>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idx="24"/>
          </p:nvPr>
        </p:nvSpPr>
        <p:spPr>
          <a:xfrm>
            <a:off x="4321019" y="6400798"/>
            <a:ext cx="7102834" cy="167949"/>
          </a:xfrm>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2" name="Rectangle 1">
            <a:extLst>
              <a:ext uri="{FF2B5EF4-FFF2-40B4-BE49-F238E27FC236}">
                <a16:creationId xmlns:a16="http://schemas.microsoft.com/office/drawing/2014/main" id="{B549349A-74DC-0FF5-41EC-9D501D64B9B5}"/>
              </a:ext>
            </a:extLst>
          </p:cNvPr>
          <p:cNvSpPr>
            <a:spLocks noGrp="1"/>
          </p:cNvSpPr>
          <p:nvPr/>
        </p:nvSpPr>
        <p:spPr>
          <a:xfrm>
            <a:off x="296562" y="2533135"/>
            <a:ext cx="1621139" cy="197708"/>
          </a:xfrm>
          <a:prstGeom prst="rect">
            <a:avLst/>
          </a:prstGeom>
          <a:solidFill>
            <a:schemeClr val="tx2"/>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idx="25"/>
          </p:nvPr>
        </p:nvSpPr>
        <p:spPr>
          <a:xfrm>
            <a:off x="11509578" y="6400799"/>
            <a:ext cx="218871" cy="167949"/>
          </a:xfrm>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idx="23" hasCustomPrompt="1"/>
          </p:nvPr>
        </p:nvSpPr>
        <p:spPr>
          <a:xfrm>
            <a:off x="465137" y="1412875"/>
            <a:ext cx="7434263" cy="1219200"/>
          </a:xfrm>
          <a:prstGeom prst="rect">
            <a:avLst/>
          </a:prstGeom>
        </p:spPr>
        <p:txBody>
          <a:bodyPr tIns="0" rIns="0" bIns="0" anchor="b"/>
          <a:lstStyle>
            <a:lvl1pPr>
              <a:spcAft>
                <a:spcPts val="0"/>
              </a:spcAft>
              <a:buFontTx/>
              <a:buNone/>
              <a:defRPr sz="7200" b="1" i="0" cap="none" baseline="0">
                <a:solidFill>
                  <a:schemeClr val="bg1"/>
                </a:solidFill>
                <a:latin typeface="+mn-lt"/>
                <a:ea typeface="+mn-lt"/>
                <a:cs typeface="+mn-lt"/>
              </a:defRPr>
            </a:lvl1pPr>
            <a:lvl2pPr>
              <a:spcAft>
                <a:spcPts val="0"/>
              </a:spcAft>
              <a:buFontTx/>
              <a:buNone/>
              <a:defRPr sz="7200" b="1" i="0" cap="none" baseline="0">
                <a:solidFill>
                  <a:schemeClr val="bg1"/>
                </a:solidFill>
                <a:latin typeface="+mj-lt"/>
                <a:ea typeface="+mj-lt"/>
                <a:cs typeface="+mj-lt"/>
              </a:defRPr>
            </a:lvl2pPr>
            <a:lvl3pPr marL="0" indent="0">
              <a:spcAft>
                <a:spcPts val="0"/>
              </a:spcAft>
              <a:buFontTx/>
              <a:buNone/>
              <a:defRPr sz="7200" b="1" i="0" cap="none" baseline="0">
                <a:solidFill>
                  <a:schemeClr val="bg1"/>
                </a:solidFill>
                <a:latin typeface="+mj-lt"/>
                <a:ea typeface="+mj-lt"/>
                <a:cs typeface="+mj-lt"/>
              </a:defRPr>
            </a:lvl3pPr>
            <a:lvl4pPr marL="0" indent="0">
              <a:spcAft>
                <a:spcPts val="0"/>
              </a:spcAft>
              <a:buFontTx/>
              <a:buNone/>
              <a:defRPr sz="7200" b="1" i="0" cap="none" baseline="0">
                <a:solidFill>
                  <a:schemeClr val="bg1"/>
                </a:solidFill>
                <a:latin typeface="+mj-lt"/>
                <a:ea typeface="+mj-lt"/>
                <a:cs typeface="+mj-lt"/>
              </a:defRPr>
            </a:lvl4pPr>
            <a:lvl5pPr marL="0" indent="0">
              <a:spcAft>
                <a:spcPts val="0"/>
              </a:spcAft>
              <a:buFontTx/>
              <a:buNone/>
              <a:defRPr sz="7200" b="1" i="0" cap="none" baseline="0">
                <a:solidFill>
                  <a:schemeClr val="bg1"/>
                </a:solidFill>
                <a:latin typeface="+mn-lt"/>
                <a:ea typeface="+mn-lt"/>
                <a:cs typeface="+mn-lt"/>
              </a:defRPr>
            </a:lvl5pPr>
            <a:lvl6pPr marL="0" indent="0">
              <a:spcAft>
                <a:spcPts val="0"/>
              </a:spcAft>
              <a:buFontTx/>
              <a:buNone/>
              <a:defRPr sz="7200" b="1" i="0" cap="none" baseline="0">
                <a:solidFill>
                  <a:schemeClr val="bg1"/>
                </a:solidFill>
                <a:latin typeface="+mn-lt"/>
                <a:ea typeface="+mn-lt"/>
                <a:cs typeface="+mn-lt"/>
              </a:defRPr>
            </a:lvl6pPr>
            <a:lvl7pPr marL="0" indent="0">
              <a:spcAft>
                <a:spcPts val="0"/>
              </a:spcAft>
              <a:buFontTx/>
              <a:buNone/>
              <a:defRPr sz="7200" b="1" i="0" cap="none" baseline="0">
                <a:solidFill>
                  <a:schemeClr val="bg1"/>
                </a:solidFill>
                <a:latin typeface="+mn-lt"/>
                <a:ea typeface="+mn-lt"/>
                <a:cs typeface="+mn-lt"/>
              </a:defRPr>
            </a:lvl7pPr>
            <a:lvl8pPr marL="0" indent="0">
              <a:spcAft>
                <a:spcPts val="0"/>
              </a:spcAft>
              <a:buFontTx/>
              <a:buNone/>
              <a:defRPr sz="7200" b="1" i="0" cap="none" baseline="0">
                <a:solidFill>
                  <a:schemeClr val="bg1"/>
                </a:solidFill>
                <a:latin typeface="+mn-lt"/>
                <a:ea typeface="+mn-lt"/>
                <a:cs typeface="+mn-lt"/>
              </a:defRPr>
            </a:lvl8pPr>
            <a:lvl9pPr marL="0" indent="0">
              <a:spcAft>
                <a:spcPts val="0"/>
              </a:spcAft>
              <a:buFontTx/>
              <a:buNone/>
              <a:defRPr sz="7200" b="1" i="0" cap="none" baseline="0">
                <a:solidFill>
                  <a:schemeClr val="bg1"/>
                </a:solidFill>
                <a:latin typeface="+mn-lt"/>
                <a:ea typeface="+mn-lt"/>
                <a:cs typeface="+mn-lt"/>
              </a:defRPr>
            </a:lvl9pPr>
          </a:lstStyle>
          <a:p>
            <a:pPr lvl="0">
              <a:buNone/>
            </a:pPr>
            <a:r>
              <a:t>00</a:t>
            </a:r>
          </a:p>
        </p:txBody>
      </p:sp>
      <p:sp>
        <p:nvSpPr>
          <p:cNvPr id="3" name="Text Placeholder 9">
            <a:extLst>
              <a:ext uri="{FF2B5EF4-FFF2-40B4-BE49-F238E27FC236}">
                <a16:creationId xmlns:a16="http://schemas.microsoft.com/office/drawing/2014/main" id="{8F05334E-78D6-1BA6-A09B-6F37EB4BC5FC}"/>
              </a:ext>
            </a:extLst>
          </p:cNvPr>
          <p:cNvSpPr>
            <a:spLocks noGrp="1"/>
          </p:cNvSpPr>
          <p:nvPr>
            <p:ph type="body" idx="26" hasCustomPrompt="1"/>
          </p:nvPr>
        </p:nvSpPr>
        <p:spPr>
          <a:xfrm flipH="1" flipV="1">
            <a:off x="364794" y="2519917"/>
            <a:ext cx="1381456" cy="192234"/>
          </a:xfrm>
          <a:prstGeom prst="rect">
            <a:avLst/>
          </a:prstGeom>
          <a:blipFill rotWithShape="0">
            <a:blip r:embed="rId4"/>
            <a:srcRect/>
            <a:stretch>
              <a:fillRect t="20350"/>
            </a:stretch>
          </a:blipFill>
        </p:spPr>
        <p:txBody>
          <a:bodyPr/>
          <a:lstStyle>
            <a:lvl1pPr>
              <a:buNone/>
              <a:defRPr sz="2800" b="0" i="0"/>
            </a:lvl1pPr>
          </a:lstStyle>
          <a:p>
            <a:pPr lvl="0">
              <a:buNone/>
            </a:pPr>
            <a:r>
              <a:t> </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3"/>
        </a:solidFill>
        <a:effectLst/>
      </p:bgPr>
    </p:bg>
    <p:spTree>
      <p:nvGrpSpPr>
        <p:cNvPr id="1" name=""/>
        <p:cNvGrpSpPr/>
        <p:nvPr/>
      </p:nvGrpSpPr>
      <p:grpSpPr>
        <a:xfrm>
          <a:off x="0" y="0"/>
          <a:ext cx="0" cy="0"/>
          <a:chOff x="0" y="0"/>
          <a:chExt cx="0" cy="0"/>
        </a:xfrm>
      </p:grpSpPr>
      <p:pic>
        <p:nvPicPr>
          <p:cNvPr id="16"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idx="19" hasCustomPrompt="1"/>
          </p:nvPr>
        </p:nvSpPr>
        <p:spPr>
          <a:xfrm>
            <a:off x="465137" y="4759568"/>
            <a:ext cx="4884945" cy="1260231"/>
          </a:xfrm>
          <a:prstGeom prst="rect">
            <a:avLst/>
          </a:prstGeom>
        </p:spPr>
        <p:txBody>
          <a:bodyPr tIns="9144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600" b="1" i="0" cap="none" baseline="0">
                <a:solidFill>
                  <a:schemeClr val="tx1"/>
                </a:solidFill>
                <a:latin typeface="+mj-lt"/>
                <a:ea typeface="+mj-lt"/>
                <a:cs typeface="+mj-lt"/>
              </a:defRPr>
            </a:lvl2pPr>
            <a:lvl3pPr marL="0" indent="0">
              <a:spcAft>
                <a:spcPts val="0"/>
              </a:spcAft>
              <a:buFontTx/>
              <a:buNone/>
              <a:defRPr sz="1600" b="1" i="0" cap="none" baseline="0">
                <a:solidFill>
                  <a:schemeClr val="tx1"/>
                </a:solidFill>
                <a:latin typeface="+mj-lt"/>
                <a:ea typeface="+mj-lt"/>
                <a:cs typeface="+mj-lt"/>
              </a:defRPr>
            </a:lvl3pPr>
            <a:lvl4pPr marL="0" indent="0">
              <a:spcAft>
                <a:spcPts val="0"/>
              </a:spcAft>
              <a:buFontTx/>
              <a:buNone/>
              <a:defRPr sz="1600" b="1" i="0" cap="none" baseline="0">
                <a:solidFill>
                  <a:schemeClr val="tx1"/>
                </a:solidFill>
                <a:latin typeface="+mj-lt"/>
                <a:ea typeface="+mj-lt"/>
                <a:cs typeface="+mj-lt"/>
              </a:defRPr>
            </a:lvl4pPr>
            <a:lvl5pPr marL="0" indent="0">
              <a:spcAft>
                <a:spcPts val="0"/>
              </a:spcAft>
              <a:buFontTx/>
              <a:buNone/>
              <a:defRPr sz="1600" b="1" i="0" cap="none" baseline="0">
                <a:solidFill>
                  <a:schemeClr val="tx1"/>
                </a:solidFill>
                <a:latin typeface="+mn-lt"/>
                <a:ea typeface="+mn-lt"/>
                <a:cs typeface="+mn-lt"/>
              </a:defRPr>
            </a:lvl5pPr>
            <a:lvl6pPr marL="0" indent="0">
              <a:spcAft>
                <a:spcPts val="0"/>
              </a:spcAft>
              <a:buFontTx/>
              <a:buNone/>
              <a:defRPr sz="1600" b="1" i="0" cap="none" baseline="0">
                <a:solidFill>
                  <a:schemeClr val="tx1"/>
                </a:solidFill>
                <a:latin typeface="+mn-lt"/>
                <a:ea typeface="+mn-lt"/>
                <a:cs typeface="+mn-lt"/>
              </a:defRPr>
            </a:lvl6pPr>
            <a:lvl7pPr marL="0" indent="0">
              <a:spcAft>
                <a:spcPts val="0"/>
              </a:spcAft>
              <a:buFontTx/>
              <a:buNone/>
              <a:defRPr sz="1600" b="1" i="0" cap="none" baseline="0">
                <a:solidFill>
                  <a:schemeClr val="tx1"/>
                </a:solidFill>
                <a:latin typeface="+mn-lt"/>
                <a:ea typeface="+mn-lt"/>
                <a:cs typeface="+mn-lt"/>
              </a:defRPr>
            </a:lvl7pPr>
            <a:lvl8pPr marL="0" indent="0">
              <a:spcAft>
                <a:spcPts val="0"/>
              </a:spcAft>
              <a:buFontTx/>
              <a:buNone/>
              <a:defRPr sz="1600" b="1" i="0" cap="none" baseline="0">
                <a:solidFill>
                  <a:schemeClr val="tx1"/>
                </a:solidFill>
                <a:latin typeface="+mn-lt"/>
                <a:ea typeface="+mn-lt"/>
                <a:cs typeface="+mn-lt"/>
              </a:defRPr>
            </a:lvl8pPr>
            <a:lvl9pPr marL="0" indent="0">
              <a:spcAft>
                <a:spcPts val="0"/>
              </a:spcAft>
              <a:buFontTx/>
              <a:buNone/>
              <a:defRPr sz="1600" b="1" i="0" cap="none" baseline="0">
                <a:solidFill>
                  <a:schemeClr val="tx1"/>
                </a:solidFill>
                <a:latin typeface="+mn-lt"/>
                <a:ea typeface="+mn-lt"/>
                <a:cs typeface="+mn-lt"/>
              </a:defRPr>
            </a:lvl9pPr>
          </a:lstStyle>
          <a:p>
            <a:pPr lvl="0">
              <a:buNone/>
            </a:pPr>
            <a:r>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lstStyle>
            <a:lvl1pPr>
              <a:buNone/>
              <a:defRPr sz="3200" b="1">
                <a:solidFill>
                  <a:schemeClr val="tx1"/>
                </a:solidFill>
              </a:defRPr>
            </a:lvl1pPr>
          </a:lstStyle>
          <a:p>
            <a:r>
              <a:t>Divider title goes up to three lines lorem ipsum dolor tatem voluptis</a:t>
            </a:r>
          </a:p>
        </p:txBody>
      </p:sp>
      <p:pic>
        <p:nvPicPr>
          <p:cNvPr id="19" name="Picture 7"/>
          <p:cNvPicPr>
            <a:picLocks noChangeAspect="1"/>
          </p:cNvPicPr>
          <p:nvPr/>
        </p:nvPicPr>
        <p:blipFill>
          <a:blip r:embed="rId3"/>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4026A7AA-BD38-4791-4316-8DF767838FF4}"/>
              </a:ext>
            </a:extLst>
          </p:cNvPr>
          <p:cNvSpPr>
            <a:spLocks noGrp="1"/>
          </p:cNvSpPr>
          <p:nvPr/>
        </p:nvSpPr>
        <p:spPr>
          <a:xfrm>
            <a:off x="296562" y="2533135"/>
            <a:ext cx="1621139" cy="197708"/>
          </a:xfrm>
          <a:prstGeom prst="rect">
            <a:avLst/>
          </a:prstGeom>
          <a:solidFill>
            <a:schemeClr val="accent3"/>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sz="1400" b="0" i="0" u="none" kern="1200" cap="none" spc="0" baseline="0">
              <a:ln>
                <a:noFill/>
              </a:ln>
              <a:solidFill>
                <a:schemeClr val="bg1"/>
              </a:solidFill>
              <a:latin typeface="Arial"/>
              <a:ea typeface="Arial"/>
              <a:cs typeface="Arial"/>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idx="23" hasCustomPrompt="1"/>
          </p:nvPr>
        </p:nvSpPr>
        <p:spPr>
          <a:xfrm>
            <a:off x="465137" y="1412875"/>
            <a:ext cx="7434263" cy="1219200"/>
          </a:xfrm>
          <a:prstGeom prst="rect">
            <a:avLst/>
          </a:prstGeom>
        </p:spPr>
        <p:txBody>
          <a:bodyPr tIns="0" rIns="0" bIns="0" anchor="b"/>
          <a:lstStyle>
            <a:lvl1pPr>
              <a:spcAft>
                <a:spcPts val="0"/>
              </a:spcAft>
              <a:buFontTx/>
              <a:buNone/>
              <a:defRPr sz="7200" b="1" i="0" cap="none" baseline="0">
                <a:solidFill>
                  <a:schemeClr val="tx1"/>
                </a:solidFill>
                <a:latin typeface="+mn-lt"/>
                <a:ea typeface="+mn-lt"/>
                <a:cs typeface="+mn-lt"/>
              </a:defRPr>
            </a:lvl1pPr>
            <a:lvl2pPr>
              <a:spcAft>
                <a:spcPts val="0"/>
              </a:spcAft>
              <a:buFontTx/>
              <a:buNone/>
              <a:defRPr sz="7200" b="1" i="0" cap="none" baseline="0">
                <a:solidFill>
                  <a:schemeClr val="tx1"/>
                </a:solidFill>
                <a:latin typeface="+mj-lt"/>
                <a:ea typeface="+mj-lt"/>
                <a:cs typeface="+mj-lt"/>
              </a:defRPr>
            </a:lvl2pPr>
            <a:lvl3pPr marL="0" indent="0">
              <a:spcAft>
                <a:spcPts val="0"/>
              </a:spcAft>
              <a:buFontTx/>
              <a:buNone/>
              <a:defRPr sz="7200" b="1" i="0" cap="none" baseline="0">
                <a:solidFill>
                  <a:schemeClr val="tx1"/>
                </a:solidFill>
                <a:latin typeface="+mj-lt"/>
                <a:ea typeface="+mj-lt"/>
                <a:cs typeface="+mj-lt"/>
              </a:defRPr>
            </a:lvl3pPr>
            <a:lvl4pPr marL="0" indent="0">
              <a:spcAft>
                <a:spcPts val="0"/>
              </a:spcAft>
              <a:buFontTx/>
              <a:buNone/>
              <a:defRPr sz="7200" b="1" i="0" cap="none" baseline="0">
                <a:solidFill>
                  <a:schemeClr val="tx1"/>
                </a:solidFill>
                <a:latin typeface="+mj-lt"/>
                <a:ea typeface="+mj-lt"/>
                <a:cs typeface="+mj-lt"/>
              </a:defRPr>
            </a:lvl4pPr>
            <a:lvl5pPr marL="0" indent="0">
              <a:spcAft>
                <a:spcPts val="0"/>
              </a:spcAft>
              <a:buFontTx/>
              <a:buNone/>
              <a:defRPr sz="7200" b="1" i="0" cap="none" baseline="0">
                <a:solidFill>
                  <a:schemeClr val="tx1"/>
                </a:solidFill>
                <a:latin typeface="+mn-lt"/>
                <a:ea typeface="+mn-lt"/>
                <a:cs typeface="+mn-lt"/>
              </a:defRPr>
            </a:lvl5pPr>
            <a:lvl6pPr marL="0" indent="0">
              <a:spcAft>
                <a:spcPts val="0"/>
              </a:spcAft>
              <a:buFontTx/>
              <a:buNone/>
              <a:defRPr sz="7200" b="1" i="0" cap="none" baseline="0">
                <a:solidFill>
                  <a:schemeClr val="tx1"/>
                </a:solidFill>
                <a:latin typeface="+mn-lt"/>
                <a:ea typeface="+mn-lt"/>
                <a:cs typeface="+mn-lt"/>
              </a:defRPr>
            </a:lvl6pPr>
            <a:lvl7pPr marL="0" indent="0">
              <a:spcAft>
                <a:spcPts val="0"/>
              </a:spcAft>
              <a:buFontTx/>
              <a:buNone/>
              <a:defRPr sz="7200" b="1" i="0" cap="none" baseline="0">
                <a:solidFill>
                  <a:schemeClr val="tx1"/>
                </a:solidFill>
                <a:latin typeface="+mn-lt"/>
                <a:ea typeface="+mn-lt"/>
                <a:cs typeface="+mn-lt"/>
              </a:defRPr>
            </a:lvl7pPr>
            <a:lvl8pPr marL="0" indent="0">
              <a:spcAft>
                <a:spcPts val="0"/>
              </a:spcAft>
              <a:buFontTx/>
              <a:buNone/>
              <a:defRPr sz="7200" b="1" i="0" cap="none" baseline="0">
                <a:solidFill>
                  <a:schemeClr val="tx1"/>
                </a:solidFill>
                <a:latin typeface="+mn-lt"/>
                <a:ea typeface="+mn-lt"/>
                <a:cs typeface="+mn-lt"/>
              </a:defRPr>
            </a:lvl8pPr>
            <a:lvl9pPr marL="0" indent="0">
              <a:spcAft>
                <a:spcPts val="0"/>
              </a:spcAft>
              <a:buFontTx/>
              <a:buNone/>
              <a:defRPr sz="7200" b="1" i="0" cap="none" baseline="0">
                <a:solidFill>
                  <a:schemeClr val="tx1"/>
                </a:solidFill>
                <a:latin typeface="+mn-lt"/>
                <a:ea typeface="+mn-lt"/>
                <a:cs typeface="+mn-lt"/>
              </a:defRPr>
            </a:lvl9pPr>
          </a:lstStyle>
          <a:p>
            <a:pPr lvl="0">
              <a:buNone/>
            </a:pPr>
            <a:r>
              <a:t>00</a:t>
            </a:r>
          </a:p>
        </p:txBody>
      </p:sp>
      <p:sp>
        <p:nvSpPr>
          <p:cNvPr id="13" name="Text Placeholder 9">
            <a:extLst>
              <a:ext uri="{FF2B5EF4-FFF2-40B4-BE49-F238E27FC236}">
                <a16:creationId xmlns:a16="http://schemas.microsoft.com/office/drawing/2014/main" id="{3B3FA78F-7164-1F04-B57D-BA7C3FDD53DC}"/>
              </a:ext>
            </a:extLst>
          </p:cNvPr>
          <p:cNvSpPr>
            <a:spLocks noGrp="1"/>
          </p:cNvSpPr>
          <p:nvPr>
            <p:ph type="body" idx="26" hasCustomPrompt="1"/>
          </p:nvPr>
        </p:nvSpPr>
        <p:spPr>
          <a:xfrm flipH="1" flipV="1">
            <a:off x="364794" y="2519917"/>
            <a:ext cx="1381456" cy="192234"/>
          </a:xfrm>
          <a:prstGeom prst="rect">
            <a:avLst/>
          </a:prstGeom>
          <a:blipFill rotWithShape="0">
            <a:blip r:embed="rId4"/>
            <a:srcRect/>
            <a:stretch>
              <a:fillRect t="-317465" b="-325807"/>
            </a:stretch>
          </a:blipFill>
        </p:spPr>
        <p:txBody>
          <a:bodyPr/>
          <a:lstStyle>
            <a:lvl1pPr>
              <a:buNone/>
              <a:defRPr sz="2800" b="0" i="0"/>
            </a:lvl1pPr>
          </a:lstStyle>
          <a:p>
            <a:pPr lvl="0">
              <a:buNone/>
            </a:pPr>
            <a:r>
              <a:t> </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buNone/>
              <a:defRPr b="0" i="0"/>
            </a:lvl1pPr>
          </a:lstStyle>
          <a:p>
            <a:r>
              <a:t>Picture</a:t>
            </a:r>
          </a:p>
        </p:txBody>
      </p:sp>
      <p:pic>
        <p:nvPicPr>
          <p:cNvPr id="15"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lstStyle>
            <a:lvl1pPr>
              <a:buNone/>
              <a:defRPr sz="2200">
                <a:solidFill>
                  <a:schemeClr val="tx1"/>
                </a:solidFill>
              </a:defRPr>
            </a:lvl1pPr>
          </a:lstStyle>
          <a:p>
            <a:r>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idx="27"/>
          </p:nvPr>
        </p:nvSpPr>
        <p:spPr>
          <a:xfrm>
            <a:off x="5572125" y="1770063"/>
            <a:ext cx="6156324" cy="4249737"/>
          </a:xfrm>
          <a:prstGeom prst="rect">
            <a:avLst/>
          </a:prstGeom>
        </p:spPr>
        <p:txBody>
          <a:bodyPr tIns="0"/>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buNone/>
              <a:defRPr b="0" i="0"/>
            </a:lvl1pPr>
          </a:lstStyle>
          <a:p>
            <a:r>
              <a:t>Picture</a:t>
            </a:r>
          </a:p>
        </p:txBody>
      </p:sp>
      <p:pic>
        <p:nvPicPr>
          <p:cNvPr id="16"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lstStyle>
            <a:lvl1pPr>
              <a:buNone/>
              <a:defRPr sz="2200">
                <a:solidFill>
                  <a:schemeClr val="bg1"/>
                </a:solidFill>
              </a:defRPr>
            </a:lvl1pPr>
          </a:lstStyle>
          <a:p>
            <a:r>
              <a:t>Key message up to four lines long lorem ipsum dolor sit amet</a:t>
            </a:r>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idx="27"/>
          </p:nvPr>
        </p:nvSpPr>
        <p:spPr>
          <a:xfrm>
            <a:off x="5572125" y="1770063"/>
            <a:ext cx="6156324" cy="4249737"/>
          </a:xfrm>
          <a:prstGeom prst="rect">
            <a:avLst/>
          </a:prstGeom>
        </p:spPr>
        <p:txBody>
          <a:bodyPr tIns="0"/>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buNone/>
              <a:defRPr b="0" i="0"/>
            </a:lvl1pPr>
          </a:lstStyle>
          <a:p>
            <a:r>
              <a:t>Picture</a:t>
            </a:r>
          </a:p>
        </p:txBody>
      </p:sp>
      <p:pic>
        <p:nvPicPr>
          <p:cNvPr id="16"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lstStyle>
            <a:lvl1pPr>
              <a:buNone/>
              <a:defRPr sz="2200">
                <a:solidFill>
                  <a:schemeClr val="bg1"/>
                </a:solidFill>
              </a:defRPr>
            </a:lvl1pPr>
          </a:lstStyle>
          <a:p>
            <a:r>
              <a:t>Key message up to four lines long lorem ipsum dolor sit amet</a:t>
            </a:r>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idx="27"/>
          </p:nvPr>
        </p:nvSpPr>
        <p:spPr>
          <a:xfrm>
            <a:off x="5572125" y="1770063"/>
            <a:ext cx="6156324" cy="4249737"/>
          </a:xfrm>
          <a:prstGeom prst="rect">
            <a:avLst/>
          </a:prstGeom>
        </p:spPr>
        <p:txBody>
          <a:bodyPr tIns="0"/>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_team">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pic>
        <p:nvPicPr>
          <p:cNvPr id="45" name="Picture 2"/>
          <p:cNvPicPr>
            <a:picLocks noChangeAspect="1"/>
          </p:cNvPicPr>
          <p:nvPr/>
        </p:nvPicPr>
        <p:blipFill>
          <a:blip r:embed="rId3"/>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idx="27" hasCustomPrompt="1"/>
          </p:nvPr>
        </p:nvSpPr>
        <p:spPr>
          <a:xfrm>
            <a:off x="460376"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5" name="TextBox 4">
            <a:extLst>
              <a:ext uri="{FF2B5EF4-FFF2-40B4-BE49-F238E27FC236}">
                <a16:creationId xmlns:a16="http://schemas.microsoft.com/office/drawing/2014/main" id="{055DE255-BAC4-98A8-8AB1-993F10F0E0B4}"/>
              </a:ext>
            </a:extLst>
          </p:cNvPr>
          <p:cNvSpPr>
            <a:spLocks noGrp="1"/>
          </p:cNvSpPr>
          <p:nvPr/>
        </p:nvSpPr>
        <p:spPr>
          <a:xfrm>
            <a:off x="460377" y="549275"/>
            <a:ext cx="2333625" cy="449296"/>
          </a:xfrm>
          <a:prstGeom prst="rect">
            <a:avLst/>
          </a:prstGeom>
          <a:noFill/>
        </p:spPr>
        <p:txBody>
          <a:bodyPr wrap="square" lIns="0" tIns="0" rIns="0" bIns="0" anchor="b">
            <a:normAutofit/>
          </a:bodyPr>
          <a:lstStyle/>
          <a:p>
            <a:pPr marL="0" lvl="0" indent="-3657600" algn="l">
              <a:spcAft>
                <a:spcPts val="600"/>
              </a:spcAft>
              <a:buNone/>
            </a:pPr>
            <a:r>
              <a:rPr sz="2800" b="1" i="0">
                <a:solidFill>
                  <a:schemeClr val="tx1"/>
                </a:solidFill>
                <a:latin typeface="+mn-lt"/>
                <a:ea typeface="+mn-lt"/>
                <a:cs typeface="+mn-lt"/>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buNone/>
              <a:defRPr sz="1000" b="0" i="0"/>
            </a:lvl1pPr>
          </a:lstStyle>
          <a:p>
            <a:r>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idx="45" hasCustomPrompt="1"/>
          </p:nvPr>
        </p:nvSpPr>
        <p:spPr>
          <a:xfrm>
            <a:off x="460376"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idx="46" hasCustomPrompt="1"/>
          </p:nvPr>
        </p:nvSpPr>
        <p:spPr>
          <a:xfrm>
            <a:off x="2955924"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idx="47" hasCustomPrompt="1"/>
          </p:nvPr>
        </p:nvSpPr>
        <p:spPr>
          <a:xfrm>
            <a:off x="2955924"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idx="48" hasCustomPrompt="1"/>
          </p:nvPr>
        </p:nvSpPr>
        <p:spPr>
          <a:xfrm>
            <a:off x="5457824"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idx="49" hasCustomPrompt="1"/>
          </p:nvPr>
        </p:nvSpPr>
        <p:spPr>
          <a:xfrm>
            <a:off x="5457824"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idx="50" hasCustomPrompt="1"/>
          </p:nvPr>
        </p:nvSpPr>
        <p:spPr>
          <a:xfrm>
            <a:off x="7959724" y="28050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idx="51" hasCustomPrompt="1"/>
          </p:nvPr>
        </p:nvSpPr>
        <p:spPr>
          <a:xfrm>
            <a:off x="7959724" y="5116426"/>
            <a:ext cx="2330450"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idx="52" hasCustomPrompt="1"/>
          </p:nvPr>
        </p:nvSpPr>
        <p:spPr>
          <a:xfrm>
            <a:off x="10461624" y="2805026"/>
            <a:ext cx="1730376"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idx="53" hasCustomPrompt="1"/>
          </p:nvPr>
        </p:nvSpPr>
        <p:spPr>
          <a:xfrm>
            <a:off x="10461624" y="5116426"/>
            <a:ext cx="1730376" cy="488748"/>
          </a:xfrm>
          <a:prstGeom prst="rect">
            <a:avLst/>
          </a:prstGeom>
        </p:spPr>
        <p:txBody>
          <a:bodyPr tIns="0"/>
          <a:lstStyle>
            <a:lvl1pPr>
              <a:spcAft>
                <a:spcPts val="400"/>
              </a:spcAft>
              <a:buNone/>
              <a:defRPr sz="1200" b="1" i="0">
                <a:solidFill>
                  <a:schemeClr val="tx1"/>
                </a:solidFill>
              </a:defRPr>
            </a:lvl1pPr>
            <a:lvl2pPr>
              <a:buNone/>
              <a:defRPr sz="12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vl7pPr>
              <a:buNone/>
              <a:defRPr>
                <a:solidFill>
                  <a:schemeClr val="tx1"/>
                </a:solidFill>
              </a:defRPr>
            </a:lvl7pPr>
            <a:lvl8pPr>
              <a:buNone/>
              <a:defRPr>
                <a:solidFill>
                  <a:schemeClr val="tx1"/>
                </a:solidFill>
              </a:defRPr>
            </a:lvl8pPr>
          </a:lstStyle>
          <a:p>
            <a:pPr lvl="0">
              <a:buNone/>
            </a:pPr>
            <a:r>
              <a:t>Name Lastname</a:t>
            </a:r>
          </a:p>
          <a:p>
            <a:pPr lvl="0">
              <a:buNone/>
            </a:pPr>
            <a:r>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o">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buNone/>
              <a:defRPr sz="1000" b="0" i="0"/>
            </a:lvl1pPr>
          </a:lstStyle>
          <a:p>
            <a:r>
              <a:t>Headshot</a:t>
            </a:r>
          </a:p>
        </p:txBody>
      </p:sp>
      <p:pic>
        <p:nvPicPr>
          <p:cNvPr id="20" name="Picture 2"/>
          <p:cNvPicPr>
            <a:picLocks noChangeAspect="1"/>
          </p:cNvPicPr>
          <p:nvPr/>
        </p:nvPicPr>
        <p:blipFill>
          <a:blip r:embed="rId3"/>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idx="27" hasCustomPrompt="1"/>
          </p:nvPr>
        </p:nvSpPr>
        <p:spPr>
          <a:xfrm>
            <a:off x="460376" y="3077336"/>
            <a:ext cx="1600199" cy="955574"/>
          </a:xfrm>
          <a:prstGeom prst="rect">
            <a:avLst/>
          </a:prstGeom>
        </p:spPr>
        <p:txBody>
          <a:bodyPr tIns="0"/>
          <a:lstStyle>
            <a:lvl1pPr>
              <a:spcAft>
                <a:spcPts val="0"/>
              </a:spcAft>
              <a:buNone/>
              <a:defRPr sz="1600" b="1" i="0">
                <a:solidFill>
                  <a:schemeClr val="tx1"/>
                </a:solidFill>
              </a:defRPr>
            </a:lvl1pPr>
            <a:lvl2pPr>
              <a:buNone/>
              <a:defRPr sz="1600" b="0" i="0">
                <a:solidFill>
                  <a:schemeClr val="tx1"/>
                </a:solidFill>
              </a:defRPr>
            </a:lvl2pPr>
            <a:lvl3pPr>
              <a:buNone/>
              <a:defRPr sz="1200" b="0">
                <a:solidFill>
                  <a:schemeClr val="tx1"/>
                </a:solidFill>
              </a:defRPr>
            </a:lvl3pPr>
            <a:lvl4pPr>
              <a:buNone/>
              <a:defRPr sz="1200" b="0">
                <a:solidFill>
                  <a:schemeClr val="tx1"/>
                </a:solidFill>
              </a:defRPr>
            </a:lvl4pPr>
            <a:lvl5pPr>
              <a:buNone/>
              <a:defRPr sz="1200" b="0">
                <a:solidFill>
                  <a:schemeClr val="tx1"/>
                </a:solidFill>
              </a:defRPr>
            </a:lvl5pPr>
            <a:lvl6pPr>
              <a:buNone/>
              <a:defRPr>
                <a:solidFill>
                  <a:schemeClr val="tx1"/>
                </a:solidFill>
              </a:defRPr>
            </a:lvl6pPr>
          </a:lstStyle>
          <a:p>
            <a:pPr lvl="0">
              <a:buNone/>
            </a:pPr>
            <a:r>
              <a:t>Name Lastname</a:t>
            </a:r>
          </a:p>
          <a:p>
            <a:pPr lvl="0">
              <a:buNone/>
            </a:pPr>
            <a:r>
              <a:t>Title</a:t>
            </a:r>
          </a:p>
        </p:txBody>
      </p:sp>
      <p:sp>
        <p:nvSpPr>
          <p:cNvPr id="5" name="TextBox 4">
            <a:extLst>
              <a:ext uri="{FF2B5EF4-FFF2-40B4-BE49-F238E27FC236}">
                <a16:creationId xmlns:a16="http://schemas.microsoft.com/office/drawing/2014/main" id="{055DE255-BAC4-98A8-8AB1-993F10F0E0B4}"/>
              </a:ext>
            </a:extLst>
          </p:cNvPr>
          <p:cNvSpPr>
            <a:spLocks noGrp="1"/>
          </p:cNvSpPr>
          <p:nvPr/>
        </p:nvSpPr>
        <p:spPr>
          <a:xfrm>
            <a:off x="460377" y="549275"/>
            <a:ext cx="2333625" cy="449296"/>
          </a:xfrm>
          <a:prstGeom prst="rect">
            <a:avLst/>
          </a:prstGeom>
          <a:noFill/>
        </p:spPr>
        <p:txBody>
          <a:bodyPr wrap="square" lIns="0" tIns="0" rIns="0" bIns="0" anchor="b">
            <a:normAutofit/>
          </a:bodyPr>
          <a:lstStyle/>
          <a:p>
            <a:pPr marL="0" lvl="0" indent="-3657600" algn="l">
              <a:spcAft>
                <a:spcPts val="600"/>
              </a:spcAft>
              <a:buNone/>
            </a:pPr>
            <a:r>
              <a:rPr sz="2800" b="1" i="0">
                <a:solidFill>
                  <a:schemeClr val="tx1"/>
                </a:solidFill>
                <a:latin typeface="+mn-lt"/>
                <a:ea typeface="+mn-lt"/>
                <a:cs typeface="+mn-lt"/>
              </a:rPr>
              <a:t>BIO</a:t>
            </a:r>
          </a:p>
        </p:txBody>
      </p:sp>
      <p:sp>
        <p:nvSpPr>
          <p:cNvPr id="4" name="TextBox 3">
            <a:extLst>
              <a:ext uri="{FF2B5EF4-FFF2-40B4-BE49-F238E27FC236}">
                <a16:creationId xmlns:a16="http://schemas.microsoft.com/office/drawing/2014/main" id="{C5F7974B-9D4B-FA7C-DB5D-C7B4A4D2A99D}"/>
              </a:ext>
            </a:extLst>
          </p:cNvPr>
          <p:cNvSpPr>
            <a:spLocks noGrp="1"/>
          </p:cNvSpPr>
          <p:nvPr/>
        </p:nvSpPr>
        <p:spPr>
          <a:xfrm>
            <a:off x="7315200" y="-1397000"/>
            <a:ext cx="0" cy="0"/>
          </a:xfrm>
          <a:prstGeom prst="rect">
            <a:avLst/>
          </a:prstGeom>
          <a:noFill/>
        </p:spPr>
        <p:txBody>
          <a:bodyPr wrap="none" lIns="0" tIns="0" rIns="0" bIns="0">
            <a:normAutofit fontScale="25000" lnSpcReduction="20000"/>
          </a:bodyPr>
          <a:lstStyle/>
          <a:p>
            <a:pPr marL="0" indent="-3657600" algn="l">
              <a:spcAft>
                <a:spcPts val="600"/>
              </a:spcAft>
              <a:buNone/>
            </a:pPr>
            <a:endParaRPr sz="1600" b="0" i="0">
              <a:solidFill>
                <a:schemeClr val="bg1"/>
              </a:solidFill>
              <a:latin typeface="+mn-lt"/>
              <a:ea typeface="+mn-lt"/>
              <a:cs typeface="+mn-lt"/>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idx="28"/>
          </p:nvPr>
        </p:nvSpPr>
        <p:spPr>
          <a:xfrm>
            <a:off x="2268071" y="1412875"/>
            <a:ext cx="5631329" cy="4606925"/>
          </a:xfrm>
          <a:prstGeom prst="rect">
            <a:avLst/>
          </a:prstGeom>
        </p:spPr>
        <p:txBody>
          <a:bodyPr/>
          <a:lstStyle>
            <a:lvl1pPr>
              <a:buNone/>
              <a:defRPr sz="1400" b="0" i="0"/>
            </a:lvl1pPr>
            <a:lvl2pPr>
              <a:buNone/>
              <a:defRPr sz="1400" b="0" i="0"/>
            </a:lvl2pPr>
            <a:lvl3pPr>
              <a:buNone/>
              <a:defRPr sz="1400" b="0" i="0"/>
            </a:lvl3pPr>
            <a:lvl4pPr>
              <a:buNone/>
              <a:defRPr sz="1400" b="0" i="0"/>
            </a:lvl4pPr>
            <a:lvl5pPr>
              <a:buNone/>
              <a:defRPr sz="1400"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idx="29" hasCustomPrompt="1"/>
          </p:nvPr>
        </p:nvSpPr>
        <p:spPr>
          <a:xfrm>
            <a:off x="8076579" y="1347340"/>
            <a:ext cx="3459790" cy="2272161"/>
          </a:xfrm>
          <a:prstGeom prst="rect">
            <a:avLst/>
          </a:prstGeom>
          <a:solidFill>
            <a:schemeClr val="accent4"/>
          </a:solidFill>
        </p:spPr>
        <p:txBody>
          <a:bodyPr lIns="182880" tIns="182880" rIns="182880" bIns="182880"/>
          <a:lstStyle>
            <a:lvl1pPr>
              <a:buNone/>
              <a:defRPr sz="1400" b="1" i="0" u="sng">
                <a:solidFill>
                  <a:schemeClr val="accent2"/>
                </a:solidFill>
              </a:defRPr>
            </a:lvl1pPr>
            <a:lvl2pPr marL="228600" indent="-228600">
              <a:buClr>
                <a:schemeClr val="tx1"/>
              </a:buClr>
              <a:buFont typeface="Arial"/>
              <a:buChar char="•"/>
              <a:defRPr sz="1400" b="0" i="0">
                <a:solidFill>
                  <a:schemeClr val="tx1"/>
                </a:solidFill>
              </a:defRPr>
            </a:lvl2pPr>
            <a:lvl3pPr marL="457200">
              <a:buNone/>
              <a:defRPr/>
            </a:lvl3pPr>
            <a:lvl4pPr marL="685800">
              <a:buNone/>
              <a:defRPr sz="1400"/>
            </a:lvl4pPr>
            <a:lvl5pPr marL="914400">
              <a:buNone/>
              <a:defRPr/>
            </a:lvl5pPr>
          </a:lstStyle>
          <a:p>
            <a:pPr lvl="0">
              <a:buNone/>
            </a:pPr>
            <a:r>
              <a:t>Industries served</a:t>
            </a:r>
          </a:p>
          <a:p>
            <a:pPr lvl="1">
              <a:buNone/>
            </a:pPr>
            <a:r>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idx="30" hasCustomPrompt="1"/>
          </p:nvPr>
        </p:nvSpPr>
        <p:spPr>
          <a:xfrm>
            <a:off x="8076579" y="3743441"/>
            <a:ext cx="3459790" cy="2272161"/>
          </a:xfrm>
          <a:prstGeom prst="rect">
            <a:avLst/>
          </a:prstGeom>
          <a:solidFill>
            <a:schemeClr val="accent4"/>
          </a:solidFill>
        </p:spPr>
        <p:txBody>
          <a:bodyPr lIns="182880" tIns="182880" rIns="182880" bIns="182880"/>
          <a:lstStyle>
            <a:lvl1pPr>
              <a:buNone/>
              <a:defRPr sz="1400" b="1" i="0" u="sng">
                <a:solidFill>
                  <a:schemeClr val="accent2"/>
                </a:solidFill>
              </a:defRPr>
            </a:lvl1pPr>
            <a:lvl2pPr marL="228600" indent="-228600">
              <a:buClr>
                <a:schemeClr val="tx1"/>
              </a:buClr>
              <a:buFont typeface="Arial"/>
              <a:buChar char="•"/>
              <a:defRPr sz="1400" b="0" i="0">
                <a:solidFill>
                  <a:schemeClr val="tx1"/>
                </a:solidFill>
              </a:defRPr>
            </a:lvl2pPr>
            <a:lvl3pPr marL="457200">
              <a:buNone/>
              <a:defRPr/>
            </a:lvl3pPr>
            <a:lvl4pPr marL="685800">
              <a:buNone/>
              <a:defRPr sz="1400"/>
            </a:lvl4pPr>
            <a:lvl5pPr marL="914400">
              <a:buNone/>
              <a:defRPr/>
            </a:lvl5pPr>
          </a:lstStyle>
          <a:p>
            <a:pPr lvl="0">
              <a:buNone/>
            </a:pPr>
            <a:r>
              <a:t>Skills &amp; Specialties</a:t>
            </a:r>
          </a:p>
          <a:p>
            <a:pPr lvl="1">
              <a:buNone/>
            </a:pPr>
            <a:r>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_stud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idx="33" hasCustomPrompt="1"/>
          </p:nvPr>
        </p:nvSpPr>
        <p:spPr>
          <a:xfrm>
            <a:off x="4298950" y="831591"/>
            <a:ext cx="3602038" cy="1436596"/>
          </a:xfrm>
          <a:prstGeom prst="rect">
            <a:avLst/>
          </a:prstGeom>
          <a:solidFill>
            <a:schemeClr val="accent4"/>
          </a:solidFill>
        </p:spPr>
        <p:txBody>
          <a:bodyPr lIns="0" tIns="0" rIns="0" bIns="0" anchor="t"/>
          <a:lstStyle>
            <a:lvl1pPr>
              <a:spcAft>
                <a:spcPts val="0"/>
              </a:spcAft>
              <a:buFontTx/>
              <a:buNone/>
              <a:defRPr sz="1200" b="0" i="0" cap="none" baseline="0">
                <a:solidFill>
                  <a:schemeClr val="bg1"/>
                </a:solidFill>
                <a:latin typeface="+mn-lt"/>
                <a:ea typeface="+mn-lt"/>
                <a:cs typeface="+mn-lt"/>
              </a:defRPr>
            </a:lvl1pPr>
            <a:lvl2pPr>
              <a:spcAft>
                <a:spcPts val="0"/>
              </a:spcAft>
              <a:buFontTx/>
              <a:buNone/>
              <a:defRPr sz="1200" b="0" i="0" cap="none" baseline="0">
                <a:solidFill>
                  <a:schemeClr val="bg1"/>
                </a:solidFill>
                <a:latin typeface="+mn-lt"/>
                <a:ea typeface="+mn-lt"/>
                <a:cs typeface="+mn-lt"/>
              </a:defRPr>
            </a:lvl2pPr>
            <a:lvl3pPr marL="0" indent="0">
              <a:spcAft>
                <a:spcPts val="0"/>
              </a:spcAft>
              <a:buFontTx/>
              <a:buNone/>
              <a:defRPr sz="1200" b="0" i="0" cap="none" baseline="0">
                <a:solidFill>
                  <a:schemeClr val="bg1"/>
                </a:solidFill>
                <a:latin typeface="+mn-lt"/>
                <a:ea typeface="+mn-lt"/>
                <a:cs typeface="+mn-lt"/>
              </a:defRPr>
            </a:lvl3pPr>
            <a:lvl4pPr marL="0" indent="0">
              <a:spcAft>
                <a:spcPts val="0"/>
              </a:spcAft>
              <a:buFontTx/>
              <a:buNone/>
              <a:defRPr sz="1200" b="0" i="0" cap="none" baseline="0">
                <a:solidFill>
                  <a:schemeClr val="bg1"/>
                </a:solidFill>
                <a:latin typeface="+mn-lt"/>
                <a:ea typeface="+mn-lt"/>
                <a:cs typeface="+mn-lt"/>
              </a:defRPr>
            </a:lvl4pPr>
            <a:lvl5pPr marL="0" indent="0">
              <a:spcAft>
                <a:spcPts val="0"/>
              </a:spcAft>
              <a:buFontTx/>
              <a:buNone/>
              <a:defRPr sz="1200" b="0" i="0" cap="none" baseline="0">
                <a:solidFill>
                  <a:schemeClr val="bg1"/>
                </a:solidFill>
                <a:latin typeface="+mn-lt"/>
                <a:ea typeface="+mn-lt"/>
                <a:cs typeface="+mn-lt"/>
              </a:defRPr>
            </a:lvl5pPr>
            <a:lvl6pPr marL="0" indent="0">
              <a:spcAft>
                <a:spcPts val="0"/>
              </a:spcAft>
              <a:buFontTx/>
              <a:buNone/>
              <a:defRPr sz="1200" b="0" i="0" cap="none" baseline="0">
                <a:solidFill>
                  <a:schemeClr val="bg1"/>
                </a:solidFill>
                <a:latin typeface="+mn-lt"/>
                <a:ea typeface="+mn-lt"/>
                <a:cs typeface="+mn-lt"/>
              </a:defRPr>
            </a:lvl6pPr>
            <a:lvl7pPr marL="0" indent="0">
              <a:spcAft>
                <a:spcPts val="0"/>
              </a:spcAft>
              <a:buFontTx/>
              <a:buNone/>
              <a:defRPr sz="1200" b="0" i="0" cap="none" baseline="0">
                <a:solidFill>
                  <a:schemeClr val="bg1"/>
                </a:solidFill>
                <a:latin typeface="+mn-lt"/>
                <a:ea typeface="+mn-lt"/>
                <a:cs typeface="+mn-lt"/>
              </a:defRPr>
            </a:lvl7pPr>
            <a:lvl8pPr marL="0" indent="0">
              <a:spcAft>
                <a:spcPts val="0"/>
              </a:spcAft>
              <a:buFontTx/>
              <a:buNone/>
              <a:defRPr sz="1200" b="0" i="0" cap="none" baseline="0">
                <a:solidFill>
                  <a:schemeClr val="bg1"/>
                </a:solidFill>
                <a:latin typeface="+mn-lt"/>
                <a:ea typeface="+mn-lt"/>
                <a:cs typeface="+mn-lt"/>
              </a:defRPr>
            </a:lvl8pPr>
            <a:lvl9pPr marL="0" indent="0">
              <a:spcAft>
                <a:spcPts val="0"/>
              </a:spcAft>
              <a:buFontTx/>
              <a:buNone/>
              <a:defRPr sz="1200" b="0" i="0" cap="none" baseline="0">
                <a:solidFill>
                  <a:schemeClr val="bg1"/>
                </a:solidFill>
                <a:latin typeface="+mn-lt"/>
                <a:ea typeface="+mn-lt"/>
                <a:cs typeface="+mn-lt"/>
              </a:defRPr>
            </a:lvl9pPr>
          </a:lstStyle>
          <a:p>
            <a:pPr lvl="0">
              <a:buNone/>
            </a:pPr>
            <a:r>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rPr/>
              <a:t>‹#›</a:t>
            </a:fld>
            <a:endParaRPr/>
          </a:p>
        </p:txBody>
      </p:sp>
      <p:pic>
        <p:nvPicPr>
          <p:cNvPr id="38" name="Picture 2"/>
          <p:cNvPicPr>
            <a:picLocks noChangeAspect="1"/>
          </p:cNvPicPr>
          <p:nvPr/>
        </p:nvPicPr>
        <p:blipFill>
          <a:blip r:embed="rId3"/>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idx="28"/>
          </p:nvPr>
        </p:nvSpPr>
        <p:spPr>
          <a:xfrm>
            <a:off x="460375" y="2202611"/>
            <a:ext cx="3606800" cy="3817189"/>
          </a:xfrm>
          <a:prstGeom prst="rect">
            <a:avLst/>
          </a:prstGeom>
        </p:spPr>
        <p:txBody>
          <a:bodyPr tIns="91440"/>
          <a:lstStyle>
            <a:lvl1pPr>
              <a:buNone/>
              <a:defRPr sz="1200" b="0" i="0"/>
            </a:lvl1pPr>
            <a:lvl2pPr marL="285750" indent="-276225">
              <a:buNone/>
              <a:defRPr sz="1200" b="0" i="0"/>
            </a:lvl2pPr>
            <a:lvl3pPr marL="628650" indent="-285750">
              <a:buNone/>
              <a:defRPr sz="1200" b="0" i="0"/>
            </a:lvl3pPr>
            <a:lvl4pPr marL="973138" indent="-276225">
              <a:buFont typeface="Arial"/>
              <a:buChar char="•"/>
              <a:defRPr sz="1200" b="0" i="0"/>
            </a:lvl4pPr>
            <a:lvl5pPr marL="1317625" indent="-287338">
              <a:buNone/>
              <a:defRPr sz="1200" b="0" i="0"/>
            </a:lvl5pPr>
            <a:lvl6pPr marL="182880" indent="-182880">
              <a:buAutoNum type="arabicPeriod"/>
              <a:defRPr sz="1200"/>
            </a:lvl6pPr>
            <a:lvl7pPr marL="365760" indent="-182880">
              <a:buAutoNum type="arabicPeriod"/>
              <a:defRPr sz="1200"/>
            </a:lvl7pPr>
            <a:lvl8pPr marL="548640" indent="-182880">
              <a:buNone/>
              <a:defRPr sz="1200"/>
            </a:lvl8pPr>
            <a:lvl9pPr>
              <a:buNone/>
              <a:defRPr sz="1400" b="1"/>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idx="19" hasCustomPrompt="1"/>
          </p:nvPr>
        </p:nvSpPr>
        <p:spPr>
          <a:xfrm>
            <a:off x="465138" y="556953"/>
            <a:ext cx="3602038" cy="556953"/>
          </a:xfrm>
          <a:prstGeom prst="rect">
            <a:avLst/>
          </a:prstGeom>
        </p:spPr>
        <p:txBody>
          <a:bodyPr tIns="228600" rIns="0" bIns="0" anchor="t"/>
          <a:lstStyle>
            <a:lvl1pPr>
              <a:spcAft>
                <a:spcPts val="0"/>
              </a:spcAft>
              <a:buFontTx/>
              <a:buNone/>
              <a:defRPr sz="1500" b="1" i="0" cap="all" baseline="0">
                <a:solidFill>
                  <a:schemeClr val="accent1"/>
                </a:solidFill>
                <a:latin typeface="+mn-lt"/>
                <a:ea typeface="+mn-lt"/>
                <a:cs typeface="+mn-lt"/>
              </a:defRPr>
            </a:lvl1pPr>
            <a:lvl2pPr>
              <a:spcAft>
                <a:spcPts val="0"/>
              </a:spcAft>
              <a:buFontTx/>
              <a:buNone/>
              <a:defRPr sz="1600" b="1" i="0" cap="all"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a:prstGeom prst="rect">
            <a:avLst/>
          </a:prstGeom>
        </p:spPr>
        <p:txBody>
          <a:bodyPr tIns="45720"/>
          <a:lstStyle>
            <a:lvl1pPr>
              <a:buNone/>
              <a:defRPr sz="2200">
                <a:solidFill>
                  <a:schemeClr val="tx1"/>
                </a:solidFill>
              </a:defRPr>
            </a:lvl1pPr>
          </a:lstStyle>
          <a:p>
            <a:r>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buNone/>
              <a:defRPr b="0" i="0"/>
            </a:lvl1pPr>
          </a:lstStyle>
          <a:p>
            <a:r>
              <a:t>Relevant image or </a:t>
            </a:r>
            <a:br>
              <a:rPr/>
            </a:br>
            <a:r>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idx="23" hasCustomPrompt="1"/>
          </p:nvPr>
        </p:nvSpPr>
        <p:spPr>
          <a:xfrm>
            <a:off x="4516834" y="1014960"/>
            <a:ext cx="1372790" cy="510741"/>
          </a:xfrm>
          <a:prstGeom prst="rect">
            <a:avLst/>
          </a:prstGeom>
        </p:spPr>
        <p:txBody>
          <a:bodyPr tIns="0" rIns="0" bIns="0" anchor="t"/>
          <a:lstStyle>
            <a:lvl1pPr>
              <a:spcAft>
                <a:spcPts val="0"/>
              </a:spcAft>
              <a:buFontTx/>
              <a:buNone/>
              <a:defRPr sz="3600" b="1" i="0" cap="none" baseline="0">
                <a:solidFill>
                  <a:schemeClr val="tx1"/>
                </a:solidFill>
                <a:latin typeface="+mn-lt"/>
                <a:ea typeface="+mn-lt"/>
                <a:cs typeface="+mn-lt"/>
              </a:defRPr>
            </a:lvl1pPr>
            <a:lvl2pPr>
              <a:spcAft>
                <a:spcPts val="0"/>
              </a:spcAft>
              <a:buFontTx/>
              <a:buNone/>
              <a:defRPr sz="3600" b="1" i="0" cap="none" baseline="0">
                <a:solidFill>
                  <a:schemeClr val="tx1"/>
                </a:solidFill>
                <a:latin typeface="+mj-lt"/>
                <a:ea typeface="+mj-lt"/>
                <a:cs typeface="+mj-lt"/>
              </a:defRPr>
            </a:lvl2pPr>
            <a:lvl3pPr marL="0" indent="0">
              <a:spcAft>
                <a:spcPts val="0"/>
              </a:spcAft>
              <a:buFontTx/>
              <a:buNone/>
              <a:defRPr sz="3600" b="1" i="0" cap="none" baseline="0">
                <a:solidFill>
                  <a:schemeClr val="tx1"/>
                </a:solidFill>
                <a:latin typeface="+mj-lt"/>
                <a:ea typeface="+mj-lt"/>
                <a:cs typeface="+mj-lt"/>
              </a:defRPr>
            </a:lvl3pPr>
            <a:lvl4pPr marL="0" indent="0">
              <a:spcAft>
                <a:spcPts val="0"/>
              </a:spcAft>
              <a:buFontTx/>
              <a:buNone/>
              <a:defRPr sz="3600" b="1" i="0" cap="none" baseline="0">
                <a:solidFill>
                  <a:schemeClr val="tx1"/>
                </a:solidFill>
                <a:latin typeface="+mj-lt"/>
                <a:ea typeface="+mj-lt"/>
                <a:cs typeface="+mj-lt"/>
              </a:defRPr>
            </a:lvl4pPr>
            <a:lvl5pPr marL="0" indent="0">
              <a:spcAft>
                <a:spcPts val="0"/>
              </a:spcAft>
              <a:buFontTx/>
              <a:buNone/>
              <a:defRPr sz="3600" b="1" i="0" cap="none" baseline="0">
                <a:solidFill>
                  <a:schemeClr val="tx1"/>
                </a:solidFill>
                <a:latin typeface="+mn-lt"/>
                <a:ea typeface="+mn-lt"/>
                <a:cs typeface="+mn-lt"/>
              </a:defRPr>
            </a:lvl5pPr>
            <a:lvl6pPr marL="0" indent="0">
              <a:spcAft>
                <a:spcPts val="0"/>
              </a:spcAft>
              <a:buFontTx/>
              <a:buNone/>
              <a:defRPr sz="3600" b="1" i="0" cap="none" baseline="0">
                <a:solidFill>
                  <a:schemeClr val="tx1"/>
                </a:solidFill>
                <a:latin typeface="+mn-lt"/>
                <a:ea typeface="+mn-lt"/>
                <a:cs typeface="+mn-lt"/>
              </a:defRPr>
            </a:lvl6pPr>
            <a:lvl7pPr marL="0" indent="0">
              <a:spcAft>
                <a:spcPts val="0"/>
              </a:spcAft>
              <a:buFontTx/>
              <a:buNone/>
              <a:defRPr sz="3600" b="1" i="0" cap="none" baseline="0">
                <a:solidFill>
                  <a:schemeClr val="tx1"/>
                </a:solidFill>
                <a:latin typeface="+mn-lt"/>
                <a:ea typeface="+mn-lt"/>
                <a:cs typeface="+mn-lt"/>
              </a:defRPr>
            </a:lvl7pPr>
            <a:lvl8pPr marL="0" indent="0">
              <a:spcAft>
                <a:spcPts val="0"/>
              </a:spcAft>
              <a:buFontTx/>
              <a:buNone/>
              <a:defRPr sz="3600" b="1" i="0" cap="none" baseline="0">
                <a:solidFill>
                  <a:schemeClr val="tx1"/>
                </a:solidFill>
                <a:latin typeface="+mn-lt"/>
                <a:ea typeface="+mn-lt"/>
                <a:cs typeface="+mn-lt"/>
              </a:defRPr>
            </a:lvl8pPr>
            <a:lvl9pPr marL="0" indent="0">
              <a:spcAft>
                <a:spcPts val="0"/>
              </a:spcAft>
              <a:buFontTx/>
              <a:buNone/>
              <a:defRPr sz="3600" b="1" i="0" cap="none" baseline="0">
                <a:solidFill>
                  <a:schemeClr val="tx1"/>
                </a:solidFill>
                <a:latin typeface="+mn-lt"/>
                <a:ea typeface="+mn-lt"/>
                <a:cs typeface="+mn-lt"/>
              </a:defRPr>
            </a:lvl9pPr>
          </a:lstStyle>
          <a:p>
            <a:pPr lvl="0">
              <a:buNone/>
            </a:pPr>
            <a:r>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idx="31" hasCustomPrompt="1"/>
          </p:nvPr>
        </p:nvSpPr>
        <p:spPr>
          <a:xfrm>
            <a:off x="4516834" y="1525702"/>
            <a:ext cx="1372791" cy="556953"/>
          </a:xfrm>
          <a:prstGeom prst="rect">
            <a:avLst/>
          </a:prstGeom>
        </p:spPr>
        <p:txBody>
          <a:bodyPr tIns="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400" b="1" i="0" cap="none" baseline="0">
                <a:solidFill>
                  <a:schemeClr val="tx1"/>
                </a:solidFill>
                <a:latin typeface="+mj-lt"/>
                <a:ea typeface="+mj-lt"/>
                <a:cs typeface="+mj-lt"/>
              </a:defRPr>
            </a:lvl2pPr>
            <a:lvl3pPr marL="0" indent="0">
              <a:spcAft>
                <a:spcPts val="0"/>
              </a:spcAft>
              <a:buFontTx/>
              <a:buNone/>
              <a:defRPr sz="1400" b="1" i="0" cap="none" baseline="0">
                <a:solidFill>
                  <a:schemeClr val="tx1"/>
                </a:solidFill>
                <a:latin typeface="+mj-lt"/>
                <a:ea typeface="+mj-lt"/>
                <a:cs typeface="+mj-lt"/>
              </a:defRPr>
            </a:lvl3pPr>
            <a:lvl4pPr marL="0" indent="0">
              <a:spcAft>
                <a:spcPts val="0"/>
              </a:spcAft>
              <a:buFontTx/>
              <a:buNone/>
              <a:defRPr sz="1400" b="1" i="0" cap="none" baseline="0">
                <a:solidFill>
                  <a:schemeClr val="tx1"/>
                </a:solidFill>
                <a:latin typeface="+mj-lt"/>
                <a:ea typeface="+mj-lt"/>
                <a:cs typeface="+mj-lt"/>
              </a:defRPr>
            </a:lvl4pPr>
            <a:lvl5pPr marL="0" indent="0">
              <a:spcAft>
                <a:spcPts val="0"/>
              </a:spcAft>
              <a:buFontTx/>
              <a:buNone/>
              <a:defRPr sz="1400" b="1" i="0" cap="none" baseline="0">
                <a:solidFill>
                  <a:schemeClr val="tx1"/>
                </a:solidFill>
                <a:latin typeface="+mn-lt"/>
                <a:ea typeface="+mn-lt"/>
                <a:cs typeface="+mn-lt"/>
              </a:defRPr>
            </a:lvl5pPr>
            <a:lvl6pPr marL="0" indent="0">
              <a:spcAft>
                <a:spcPts val="0"/>
              </a:spcAft>
              <a:buFontTx/>
              <a:buNone/>
              <a:defRPr sz="1400" b="1" i="0" cap="none" baseline="0">
                <a:solidFill>
                  <a:schemeClr val="tx1"/>
                </a:solidFill>
                <a:latin typeface="+mn-lt"/>
                <a:ea typeface="+mn-lt"/>
                <a:cs typeface="+mn-lt"/>
              </a:defRPr>
            </a:lvl6pPr>
            <a:lvl7pPr marL="0" indent="0">
              <a:spcAft>
                <a:spcPts val="0"/>
              </a:spcAft>
              <a:buFontTx/>
              <a:buNone/>
              <a:defRPr sz="1400" b="1" i="0" cap="none" baseline="0">
                <a:solidFill>
                  <a:schemeClr val="tx1"/>
                </a:solidFill>
                <a:latin typeface="+mn-lt"/>
                <a:ea typeface="+mn-lt"/>
                <a:cs typeface="+mn-lt"/>
              </a:defRPr>
            </a:lvl7pPr>
            <a:lvl8pPr marL="0" indent="0">
              <a:spcAft>
                <a:spcPts val="0"/>
              </a:spcAft>
              <a:buFontTx/>
              <a:buNone/>
              <a:defRPr sz="1400" b="1" i="0" cap="none" baseline="0">
                <a:solidFill>
                  <a:schemeClr val="tx1"/>
                </a:solidFill>
                <a:latin typeface="+mn-lt"/>
                <a:ea typeface="+mn-lt"/>
                <a:cs typeface="+mn-lt"/>
              </a:defRPr>
            </a:lvl8pPr>
            <a:lvl9pPr marL="0" indent="0">
              <a:spcAft>
                <a:spcPts val="0"/>
              </a:spcAft>
              <a:buFontTx/>
              <a:buNone/>
              <a:defRPr sz="1400" b="1" i="0" cap="none" baseline="0">
                <a:solidFill>
                  <a:schemeClr val="tx1"/>
                </a:solidFill>
                <a:latin typeface="+mn-lt"/>
                <a:ea typeface="+mn-lt"/>
                <a:cs typeface="+mn-lt"/>
              </a:defRPr>
            </a:lvl9pPr>
          </a:lstStyle>
          <a:p>
            <a:pPr lvl="0">
              <a:buNone/>
            </a:pPr>
            <a:r>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idx="32" hasCustomPrompt="1"/>
          </p:nvPr>
        </p:nvSpPr>
        <p:spPr>
          <a:xfrm>
            <a:off x="5981700" y="1014838"/>
            <a:ext cx="1786952" cy="1067817"/>
          </a:xfrm>
          <a:prstGeom prst="rect">
            <a:avLst/>
          </a:prstGeom>
        </p:spPr>
        <p:txBody>
          <a:bodyPr lIns="45720" tIns="137160" rIns="0" bIns="0" anchor="t"/>
          <a:lstStyle>
            <a:lvl1pPr>
              <a:spcAft>
                <a:spcPts val="0"/>
              </a:spcAft>
              <a:buFontTx/>
              <a:buNone/>
              <a:defRPr sz="1200" b="0"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n-lt"/>
                <a:ea typeface="+mn-lt"/>
                <a:cs typeface="+mn-lt"/>
              </a:defRPr>
            </a:lvl2pPr>
            <a:lvl3pPr marL="0" indent="0">
              <a:spcAft>
                <a:spcPts val="0"/>
              </a:spcAft>
              <a:buFontTx/>
              <a:buNone/>
              <a:defRPr sz="1200" b="0" i="0" cap="none" baseline="0">
                <a:solidFill>
                  <a:schemeClr val="tx1"/>
                </a:solidFill>
                <a:latin typeface="+mn-lt"/>
                <a:ea typeface="+mn-lt"/>
                <a:cs typeface="+mn-lt"/>
              </a:defRPr>
            </a:lvl3pPr>
            <a:lvl4pPr marL="0" indent="0">
              <a:spcAft>
                <a:spcPts val="0"/>
              </a:spcAft>
              <a:buFontTx/>
              <a:buNone/>
              <a:defRPr sz="1200" b="0" i="0" cap="none" baseline="0">
                <a:solidFill>
                  <a:schemeClr val="tx1"/>
                </a:solidFill>
                <a:latin typeface="+mn-lt"/>
                <a:ea typeface="+mn-lt"/>
                <a:cs typeface="+mn-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Lorem ipsum dolor sit amet</a:t>
            </a:r>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idx="38" hasCustomPrompt="1"/>
          </p:nvPr>
        </p:nvSpPr>
        <p:spPr>
          <a:xfrm>
            <a:off x="4300536" y="4419803"/>
            <a:ext cx="803275" cy="269761"/>
          </a:xfrm>
          <a:prstGeom prst="rect">
            <a:avLst/>
          </a:prstGeom>
          <a:blipFill>
            <a:blip>
              <a:extLst>
                <a:ext uri="{96DAC541-7B7A-43D3-8B79-37D633B846F1}">
                  <asvg:svgBlip xmlns:asvg="http://schemas.microsoft.com/office/drawing/2016/SVG/main" r:embed="rId4"/>
                </a:ext>
              </a:extLst>
            </a:blip>
            <a:stretch>
              <a:fillRect/>
            </a:stretch>
          </a:blipFill>
        </p:spPr>
        <p:txBody>
          <a:bodyPr/>
          <a:lstStyle>
            <a:lvl1pPr>
              <a:buNone/>
              <a:defRPr b="0" i="0"/>
            </a:lvl1pPr>
          </a:lstStyle>
          <a:p>
            <a:pPr lvl="0">
              <a:buNone/>
            </a:pPr>
            <a:r>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idx="39" hasCustomPrompt="1"/>
          </p:nvPr>
        </p:nvSpPr>
        <p:spPr>
          <a:xfrm>
            <a:off x="4298950" y="4800601"/>
            <a:ext cx="3600450" cy="1219458"/>
          </a:xfrm>
          <a:prstGeom prst="rect">
            <a:avLst/>
          </a:prstGeom>
        </p:spPr>
        <p:txBody>
          <a:bodyPr tIns="0" rIns="0" bIns="0" anchor="t"/>
          <a:lstStyle>
            <a:lvl1pPr>
              <a:spcAft>
                <a:spcPts val="1000"/>
              </a:spcAft>
              <a:buFontTx/>
              <a:buNone/>
              <a:defRPr sz="1500" b="1"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j-lt"/>
                <a:ea typeface="+mj-lt"/>
                <a:cs typeface="+mj-lt"/>
              </a:defRPr>
            </a:lvl2pPr>
            <a:lvl3pPr marL="0" indent="0">
              <a:spcAft>
                <a:spcPts val="0"/>
              </a:spcAft>
              <a:buFontTx/>
              <a:buNone/>
              <a:defRPr sz="1200" b="0" i="0" cap="none" baseline="0">
                <a:solidFill>
                  <a:schemeClr val="tx1"/>
                </a:solidFill>
                <a:latin typeface="+mj-lt"/>
                <a:ea typeface="+mj-lt"/>
                <a:cs typeface="+mj-lt"/>
              </a:defRPr>
            </a:lvl3pPr>
            <a:lvl4pPr marL="0" indent="0">
              <a:spcAft>
                <a:spcPts val="0"/>
              </a:spcAft>
              <a:buFontTx/>
              <a:buNone/>
              <a:defRPr sz="1200" b="0" i="0" cap="none" baseline="0">
                <a:solidFill>
                  <a:schemeClr val="tx1"/>
                </a:solidFill>
                <a:latin typeface="+mj-lt"/>
                <a:ea typeface="+mj-lt"/>
                <a:cs typeface="+mj-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Testimonial or project highlight goes here lorem ipsum dolor. Lorem amet repudicae nihitatis et magnam.</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idx="40" hasCustomPrompt="1"/>
          </p:nvPr>
        </p:nvSpPr>
        <p:spPr>
          <a:xfrm>
            <a:off x="4298950" y="2506012"/>
            <a:ext cx="3602038" cy="1436596"/>
          </a:xfrm>
          <a:prstGeom prst="rect">
            <a:avLst/>
          </a:prstGeom>
          <a:solidFill>
            <a:schemeClr val="accent4"/>
          </a:solidFill>
        </p:spPr>
        <p:txBody>
          <a:bodyPr lIns="0" tIns="0" rIns="0" bIns="0" anchor="t"/>
          <a:lstStyle>
            <a:lvl1pPr>
              <a:spcAft>
                <a:spcPts val="0"/>
              </a:spcAft>
              <a:buFontTx/>
              <a:buNone/>
              <a:defRPr sz="1200" b="0" i="0" cap="none" baseline="0">
                <a:solidFill>
                  <a:schemeClr val="bg1"/>
                </a:solidFill>
                <a:latin typeface="+mn-lt"/>
                <a:ea typeface="+mn-lt"/>
                <a:cs typeface="+mn-lt"/>
              </a:defRPr>
            </a:lvl1pPr>
            <a:lvl2pPr>
              <a:spcAft>
                <a:spcPts val="0"/>
              </a:spcAft>
              <a:buFontTx/>
              <a:buNone/>
              <a:defRPr sz="1200" b="0" i="0" cap="none" baseline="0">
                <a:solidFill>
                  <a:schemeClr val="bg1"/>
                </a:solidFill>
                <a:latin typeface="+mn-lt"/>
                <a:ea typeface="+mn-lt"/>
                <a:cs typeface="+mn-lt"/>
              </a:defRPr>
            </a:lvl2pPr>
            <a:lvl3pPr marL="0" indent="0">
              <a:spcAft>
                <a:spcPts val="0"/>
              </a:spcAft>
              <a:buFontTx/>
              <a:buNone/>
              <a:defRPr sz="1200" b="0" i="0" cap="none" baseline="0">
                <a:solidFill>
                  <a:schemeClr val="bg1"/>
                </a:solidFill>
                <a:latin typeface="+mn-lt"/>
                <a:ea typeface="+mn-lt"/>
                <a:cs typeface="+mn-lt"/>
              </a:defRPr>
            </a:lvl3pPr>
            <a:lvl4pPr marL="0" indent="0">
              <a:spcAft>
                <a:spcPts val="0"/>
              </a:spcAft>
              <a:buFontTx/>
              <a:buNone/>
              <a:defRPr sz="1200" b="0" i="0" cap="none" baseline="0">
                <a:solidFill>
                  <a:schemeClr val="bg1"/>
                </a:solidFill>
                <a:latin typeface="+mn-lt"/>
                <a:ea typeface="+mn-lt"/>
                <a:cs typeface="+mn-lt"/>
              </a:defRPr>
            </a:lvl4pPr>
            <a:lvl5pPr marL="0" indent="0">
              <a:spcAft>
                <a:spcPts val="0"/>
              </a:spcAft>
              <a:buFontTx/>
              <a:buNone/>
              <a:defRPr sz="1200" b="0" i="0" cap="none" baseline="0">
                <a:solidFill>
                  <a:schemeClr val="bg1"/>
                </a:solidFill>
                <a:latin typeface="+mn-lt"/>
                <a:ea typeface="+mn-lt"/>
                <a:cs typeface="+mn-lt"/>
              </a:defRPr>
            </a:lvl5pPr>
            <a:lvl6pPr marL="0" indent="0">
              <a:spcAft>
                <a:spcPts val="0"/>
              </a:spcAft>
              <a:buFontTx/>
              <a:buNone/>
              <a:defRPr sz="1200" b="0" i="0" cap="none" baseline="0">
                <a:solidFill>
                  <a:schemeClr val="bg1"/>
                </a:solidFill>
                <a:latin typeface="+mn-lt"/>
                <a:ea typeface="+mn-lt"/>
                <a:cs typeface="+mn-lt"/>
              </a:defRPr>
            </a:lvl6pPr>
            <a:lvl7pPr marL="0" indent="0">
              <a:spcAft>
                <a:spcPts val="0"/>
              </a:spcAft>
              <a:buFontTx/>
              <a:buNone/>
              <a:defRPr sz="1200" b="0" i="0" cap="none" baseline="0">
                <a:solidFill>
                  <a:schemeClr val="bg1"/>
                </a:solidFill>
                <a:latin typeface="+mn-lt"/>
                <a:ea typeface="+mn-lt"/>
                <a:cs typeface="+mn-lt"/>
              </a:defRPr>
            </a:lvl7pPr>
            <a:lvl8pPr marL="0" indent="0">
              <a:spcAft>
                <a:spcPts val="0"/>
              </a:spcAft>
              <a:buFontTx/>
              <a:buNone/>
              <a:defRPr sz="1200" b="0" i="0" cap="none" baseline="0">
                <a:solidFill>
                  <a:schemeClr val="bg1"/>
                </a:solidFill>
                <a:latin typeface="+mn-lt"/>
                <a:ea typeface="+mn-lt"/>
                <a:cs typeface="+mn-lt"/>
              </a:defRPr>
            </a:lvl8pPr>
            <a:lvl9pPr marL="0" indent="0">
              <a:spcAft>
                <a:spcPts val="0"/>
              </a:spcAft>
              <a:buFontTx/>
              <a:buNone/>
              <a:defRPr sz="1200" b="0" i="0" cap="none" baseline="0">
                <a:solidFill>
                  <a:schemeClr val="bg1"/>
                </a:solidFill>
                <a:latin typeface="+mn-lt"/>
                <a:ea typeface="+mn-lt"/>
                <a:cs typeface="+mn-lt"/>
              </a:defRPr>
            </a:lvl9pPr>
          </a:lstStyle>
          <a:p>
            <a:pPr lvl="0">
              <a:buNone/>
            </a:pPr>
            <a:r>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idx="41" hasCustomPrompt="1"/>
          </p:nvPr>
        </p:nvSpPr>
        <p:spPr>
          <a:xfrm>
            <a:off x="4516834" y="2689381"/>
            <a:ext cx="1372790" cy="510741"/>
          </a:xfrm>
          <a:prstGeom prst="rect">
            <a:avLst/>
          </a:prstGeom>
        </p:spPr>
        <p:txBody>
          <a:bodyPr tIns="0" rIns="0" bIns="0" anchor="t"/>
          <a:lstStyle>
            <a:lvl1pPr>
              <a:spcAft>
                <a:spcPts val="0"/>
              </a:spcAft>
              <a:buFontTx/>
              <a:buNone/>
              <a:defRPr sz="3600" b="1" i="0" cap="none" baseline="0">
                <a:solidFill>
                  <a:schemeClr val="tx1"/>
                </a:solidFill>
                <a:latin typeface="+mn-lt"/>
                <a:ea typeface="+mn-lt"/>
                <a:cs typeface="+mn-lt"/>
              </a:defRPr>
            </a:lvl1pPr>
            <a:lvl2pPr>
              <a:spcAft>
                <a:spcPts val="0"/>
              </a:spcAft>
              <a:buFontTx/>
              <a:buNone/>
              <a:defRPr sz="3600" b="1" i="0" cap="none" baseline="0">
                <a:solidFill>
                  <a:schemeClr val="tx1"/>
                </a:solidFill>
                <a:latin typeface="+mj-lt"/>
                <a:ea typeface="+mj-lt"/>
                <a:cs typeface="+mj-lt"/>
              </a:defRPr>
            </a:lvl2pPr>
            <a:lvl3pPr marL="0" indent="0">
              <a:spcAft>
                <a:spcPts val="0"/>
              </a:spcAft>
              <a:buFontTx/>
              <a:buNone/>
              <a:defRPr sz="3600" b="1" i="0" cap="none" baseline="0">
                <a:solidFill>
                  <a:schemeClr val="tx1"/>
                </a:solidFill>
                <a:latin typeface="+mj-lt"/>
                <a:ea typeface="+mj-lt"/>
                <a:cs typeface="+mj-lt"/>
              </a:defRPr>
            </a:lvl3pPr>
            <a:lvl4pPr marL="0" indent="0">
              <a:spcAft>
                <a:spcPts val="0"/>
              </a:spcAft>
              <a:buFontTx/>
              <a:buNone/>
              <a:defRPr sz="3600" b="1" i="0" cap="none" baseline="0">
                <a:solidFill>
                  <a:schemeClr val="tx1"/>
                </a:solidFill>
                <a:latin typeface="+mj-lt"/>
                <a:ea typeface="+mj-lt"/>
                <a:cs typeface="+mj-lt"/>
              </a:defRPr>
            </a:lvl4pPr>
            <a:lvl5pPr marL="0" indent="0">
              <a:spcAft>
                <a:spcPts val="0"/>
              </a:spcAft>
              <a:buFontTx/>
              <a:buNone/>
              <a:defRPr sz="3600" b="1" i="0" cap="none" baseline="0">
                <a:solidFill>
                  <a:schemeClr val="tx1"/>
                </a:solidFill>
                <a:latin typeface="+mn-lt"/>
                <a:ea typeface="+mn-lt"/>
                <a:cs typeface="+mn-lt"/>
              </a:defRPr>
            </a:lvl5pPr>
            <a:lvl6pPr marL="0" indent="0">
              <a:spcAft>
                <a:spcPts val="0"/>
              </a:spcAft>
              <a:buFontTx/>
              <a:buNone/>
              <a:defRPr sz="3600" b="1" i="0" cap="none" baseline="0">
                <a:solidFill>
                  <a:schemeClr val="tx1"/>
                </a:solidFill>
                <a:latin typeface="+mn-lt"/>
                <a:ea typeface="+mn-lt"/>
                <a:cs typeface="+mn-lt"/>
              </a:defRPr>
            </a:lvl6pPr>
            <a:lvl7pPr marL="0" indent="0">
              <a:spcAft>
                <a:spcPts val="0"/>
              </a:spcAft>
              <a:buFontTx/>
              <a:buNone/>
              <a:defRPr sz="3600" b="1" i="0" cap="none" baseline="0">
                <a:solidFill>
                  <a:schemeClr val="tx1"/>
                </a:solidFill>
                <a:latin typeface="+mn-lt"/>
                <a:ea typeface="+mn-lt"/>
                <a:cs typeface="+mn-lt"/>
              </a:defRPr>
            </a:lvl7pPr>
            <a:lvl8pPr marL="0" indent="0">
              <a:spcAft>
                <a:spcPts val="0"/>
              </a:spcAft>
              <a:buFontTx/>
              <a:buNone/>
              <a:defRPr sz="3600" b="1" i="0" cap="none" baseline="0">
                <a:solidFill>
                  <a:schemeClr val="tx1"/>
                </a:solidFill>
                <a:latin typeface="+mn-lt"/>
                <a:ea typeface="+mn-lt"/>
                <a:cs typeface="+mn-lt"/>
              </a:defRPr>
            </a:lvl8pPr>
            <a:lvl9pPr marL="0" indent="0">
              <a:spcAft>
                <a:spcPts val="0"/>
              </a:spcAft>
              <a:buFontTx/>
              <a:buNone/>
              <a:defRPr sz="3600" b="1" i="0" cap="none" baseline="0">
                <a:solidFill>
                  <a:schemeClr val="tx1"/>
                </a:solidFill>
                <a:latin typeface="+mn-lt"/>
                <a:ea typeface="+mn-lt"/>
                <a:cs typeface="+mn-lt"/>
              </a:defRPr>
            </a:lvl9pPr>
          </a:lstStyle>
          <a:p>
            <a:pPr lvl="0">
              <a:buNone/>
            </a:pPr>
            <a:r>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idx="42" hasCustomPrompt="1"/>
          </p:nvPr>
        </p:nvSpPr>
        <p:spPr>
          <a:xfrm>
            <a:off x="4516834" y="3200123"/>
            <a:ext cx="1372791" cy="556953"/>
          </a:xfrm>
          <a:prstGeom prst="rect">
            <a:avLst/>
          </a:prstGeom>
        </p:spPr>
        <p:txBody>
          <a:bodyPr tIns="0" rIns="0" bIns="0" anchor="t"/>
          <a:lstStyle>
            <a:lvl1pPr>
              <a:spcAft>
                <a:spcPts val="0"/>
              </a:spcAft>
              <a:buFontTx/>
              <a:buNone/>
              <a:defRPr sz="1500" b="1" i="0" cap="none" baseline="0">
                <a:solidFill>
                  <a:schemeClr val="tx1"/>
                </a:solidFill>
                <a:latin typeface="+mn-lt"/>
                <a:ea typeface="+mn-lt"/>
                <a:cs typeface="+mn-lt"/>
              </a:defRPr>
            </a:lvl1pPr>
            <a:lvl2pPr>
              <a:spcAft>
                <a:spcPts val="0"/>
              </a:spcAft>
              <a:buFontTx/>
              <a:buNone/>
              <a:defRPr sz="1400" b="1" i="0" cap="none" baseline="0">
                <a:solidFill>
                  <a:schemeClr val="tx1"/>
                </a:solidFill>
                <a:latin typeface="+mj-lt"/>
                <a:ea typeface="+mj-lt"/>
                <a:cs typeface="+mj-lt"/>
              </a:defRPr>
            </a:lvl2pPr>
            <a:lvl3pPr marL="0" indent="0">
              <a:spcAft>
                <a:spcPts val="0"/>
              </a:spcAft>
              <a:buFontTx/>
              <a:buNone/>
              <a:defRPr sz="1400" b="1" i="0" cap="none" baseline="0">
                <a:solidFill>
                  <a:schemeClr val="tx1"/>
                </a:solidFill>
                <a:latin typeface="+mj-lt"/>
                <a:ea typeface="+mj-lt"/>
                <a:cs typeface="+mj-lt"/>
              </a:defRPr>
            </a:lvl3pPr>
            <a:lvl4pPr marL="0" indent="0">
              <a:spcAft>
                <a:spcPts val="0"/>
              </a:spcAft>
              <a:buFontTx/>
              <a:buNone/>
              <a:defRPr sz="1400" b="1" i="0" cap="none" baseline="0">
                <a:solidFill>
                  <a:schemeClr val="tx1"/>
                </a:solidFill>
                <a:latin typeface="+mj-lt"/>
                <a:ea typeface="+mj-lt"/>
                <a:cs typeface="+mj-lt"/>
              </a:defRPr>
            </a:lvl4pPr>
            <a:lvl5pPr marL="0" indent="0">
              <a:spcAft>
                <a:spcPts val="0"/>
              </a:spcAft>
              <a:buFontTx/>
              <a:buNone/>
              <a:defRPr sz="1400" b="1" i="0" cap="none" baseline="0">
                <a:solidFill>
                  <a:schemeClr val="tx1"/>
                </a:solidFill>
                <a:latin typeface="+mn-lt"/>
                <a:ea typeface="+mn-lt"/>
                <a:cs typeface="+mn-lt"/>
              </a:defRPr>
            </a:lvl5pPr>
            <a:lvl6pPr marL="0" indent="0">
              <a:spcAft>
                <a:spcPts val="0"/>
              </a:spcAft>
              <a:buFontTx/>
              <a:buNone/>
              <a:defRPr sz="1400" b="1" i="0" cap="none" baseline="0">
                <a:solidFill>
                  <a:schemeClr val="tx1"/>
                </a:solidFill>
                <a:latin typeface="+mn-lt"/>
                <a:ea typeface="+mn-lt"/>
                <a:cs typeface="+mn-lt"/>
              </a:defRPr>
            </a:lvl6pPr>
            <a:lvl7pPr marL="0" indent="0">
              <a:spcAft>
                <a:spcPts val="0"/>
              </a:spcAft>
              <a:buFontTx/>
              <a:buNone/>
              <a:defRPr sz="1400" b="1" i="0" cap="none" baseline="0">
                <a:solidFill>
                  <a:schemeClr val="tx1"/>
                </a:solidFill>
                <a:latin typeface="+mn-lt"/>
                <a:ea typeface="+mn-lt"/>
                <a:cs typeface="+mn-lt"/>
              </a:defRPr>
            </a:lvl7pPr>
            <a:lvl8pPr marL="0" indent="0">
              <a:spcAft>
                <a:spcPts val="0"/>
              </a:spcAft>
              <a:buFontTx/>
              <a:buNone/>
              <a:defRPr sz="1400" b="1" i="0" cap="none" baseline="0">
                <a:solidFill>
                  <a:schemeClr val="tx1"/>
                </a:solidFill>
                <a:latin typeface="+mn-lt"/>
                <a:ea typeface="+mn-lt"/>
                <a:cs typeface="+mn-lt"/>
              </a:defRPr>
            </a:lvl8pPr>
            <a:lvl9pPr marL="0" indent="0">
              <a:spcAft>
                <a:spcPts val="0"/>
              </a:spcAft>
              <a:buFontTx/>
              <a:buNone/>
              <a:defRPr sz="1400" b="1" i="0" cap="none" baseline="0">
                <a:solidFill>
                  <a:schemeClr val="tx1"/>
                </a:solidFill>
                <a:latin typeface="+mn-lt"/>
                <a:ea typeface="+mn-lt"/>
                <a:cs typeface="+mn-lt"/>
              </a:defRPr>
            </a:lvl9pPr>
          </a:lstStyle>
          <a:p>
            <a:pPr lvl="0">
              <a:buNone/>
            </a:pPr>
            <a:r>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idx="43" hasCustomPrompt="1"/>
          </p:nvPr>
        </p:nvSpPr>
        <p:spPr>
          <a:xfrm>
            <a:off x="5981700" y="2689259"/>
            <a:ext cx="1786952" cy="1067817"/>
          </a:xfrm>
          <a:prstGeom prst="rect">
            <a:avLst/>
          </a:prstGeom>
        </p:spPr>
        <p:txBody>
          <a:bodyPr lIns="45720" tIns="137160" rIns="0" bIns="0" anchor="t"/>
          <a:lstStyle>
            <a:lvl1pPr>
              <a:spcAft>
                <a:spcPts val="0"/>
              </a:spcAft>
              <a:buFontTx/>
              <a:buNone/>
              <a:defRPr sz="1200" b="0"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n-lt"/>
                <a:ea typeface="+mn-lt"/>
                <a:cs typeface="+mn-lt"/>
              </a:defRPr>
            </a:lvl2pPr>
            <a:lvl3pPr marL="0" indent="0">
              <a:spcAft>
                <a:spcPts val="0"/>
              </a:spcAft>
              <a:buFontTx/>
              <a:buNone/>
              <a:defRPr sz="1200" b="0" i="0" cap="none" baseline="0">
                <a:solidFill>
                  <a:schemeClr val="tx1"/>
                </a:solidFill>
                <a:latin typeface="+mn-lt"/>
                <a:ea typeface="+mn-lt"/>
                <a:cs typeface="+mn-lt"/>
              </a:defRPr>
            </a:lvl3pPr>
            <a:lvl4pPr marL="0" indent="0">
              <a:spcAft>
                <a:spcPts val="0"/>
              </a:spcAft>
              <a:buFontTx/>
              <a:buNone/>
              <a:defRPr sz="1200" b="0" i="0" cap="none" baseline="0">
                <a:solidFill>
                  <a:schemeClr val="tx1"/>
                </a:solidFill>
                <a:latin typeface="+mn-lt"/>
                <a:ea typeface="+mn-lt"/>
                <a:cs typeface="+mn-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Lorem ipsum dolor sit amet</a:t>
            </a:r>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idx="44"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7"/>
          <p:cNvPicPr>
            <a:picLocks noChangeAspect="1"/>
          </p:cNvPicPr>
          <p:nvPr/>
        </p:nvPicPr>
        <p:blipFill>
          <a:blip r:embed="rId3"/>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a:prstGeom prst="rect">
            <a:avLst/>
          </a:prstGeom>
        </p:spPr>
        <p:txBody>
          <a:bodyPr anchor="ctr"/>
          <a:lstStyle>
            <a:lvl1pPr>
              <a:buNone/>
              <a:defRPr sz="2800" b="1">
                <a:solidFill>
                  <a:schemeClr val="tx1"/>
                </a:solidFill>
              </a:defRPr>
            </a:lvl1pPr>
          </a:lstStyle>
          <a:p>
            <a:r>
              <a:t>Statement lorem ipsum dolor sit amet, consectetur elit, sed do eiusmod tempor amet</a:t>
            </a:r>
          </a:p>
        </p:txBody>
      </p:sp>
      <p:sp>
        <p:nvSpPr>
          <p:cNvPr id="2" name="Picture Placeholder 7">
            <a:extLst>
              <a:ext uri="{FF2B5EF4-FFF2-40B4-BE49-F238E27FC236}">
                <a16:creationId xmlns:a16="http://schemas.microsoft.com/office/drawing/2014/main" id="{83BAC274-EB05-8089-8DCA-82CC218E7B7D}"/>
              </a:ext>
            </a:extLst>
          </p:cNvPr>
          <p:cNvSpPr>
            <a:spLocks noGrp="1"/>
          </p:cNvSpPr>
          <p:nvPr>
            <p:ph type="pic"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buNone/>
              <a:defRPr b="0" i="0"/>
            </a:lvl1pPr>
          </a:lstStyle>
          <a:p>
            <a:r>
              <a:t>Picture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ement_2">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7"/>
          <p:cNvPicPr>
            <a:picLocks noChangeAspect="1"/>
          </p:cNvPicPr>
          <p:nvPr/>
        </p:nvPicPr>
        <p:blipFill>
          <a:blip r:embed="rId3"/>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a:prstGeom prst="rect">
            <a:avLst/>
          </a:prstGeom>
        </p:spPr>
        <p:txBody>
          <a:bodyPr anchor="ctr"/>
          <a:lstStyle>
            <a:lvl1pPr>
              <a:buNone/>
              <a:defRPr sz="2800" b="1">
                <a:solidFill>
                  <a:schemeClr val="bg1"/>
                </a:solidFill>
              </a:defRPr>
            </a:lvl1pPr>
          </a:lstStyle>
          <a:p>
            <a:r>
              <a:t>Statement lorem ipsum dolor sit amet, consectetur elit, sed do eiusmod tempor amet</a:t>
            </a:r>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buNone/>
              <a:defRPr b="0" i="0"/>
            </a:lvl1pPr>
          </a:lstStyle>
          <a:p>
            <a:r>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idx="24"/>
          </p:nvPr>
        </p:nvSpPr>
        <p:spPr>
          <a:xfrm>
            <a:off x="4321019" y="6400798"/>
            <a:ext cx="7102834" cy="167949"/>
          </a:xfrm>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idx="25"/>
          </p:nvPr>
        </p:nvSpPr>
        <p:spPr>
          <a:xfrm>
            <a:off x="11509578" y="6400799"/>
            <a:ext cx="218871" cy="167949"/>
          </a:xfrm>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_3">
    <p:bg>
      <p:bgPr>
        <a:blipFill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7"/>
          <p:cNvPicPr>
            <a:picLocks noChangeAspect="1"/>
          </p:cNvPicPr>
          <p:nvPr/>
        </p:nvPicPr>
        <p:blipFill>
          <a:blip r:embed="rId3"/>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lstStyle>
            <a:lvl1pPr>
              <a:buNone/>
              <a:defRPr sz="2800" b="1">
                <a:solidFill>
                  <a:schemeClr val="bg1"/>
                </a:solidFill>
              </a:defRPr>
            </a:lvl1pPr>
          </a:lstStyle>
          <a:p>
            <a:r>
              <a:t>Statement lorem ipsum dolor sit amet, consectetur elit, sed do eiusmod tempor amet</a:t>
            </a:r>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buNone/>
              <a:defRPr b="0" i="0"/>
            </a:lvl1pPr>
          </a:lstStyle>
          <a:p>
            <a:r>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idx="24"/>
          </p:nvPr>
        </p:nvSpPr>
        <p:spPr>
          <a:xfrm>
            <a:off x="4321019" y="6400798"/>
            <a:ext cx="7102834" cy="167949"/>
          </a:xfrm>
        </p:spPr>
        <p:txBody>
          <a:bodyPr/>
          <a:lstStyle>
            <a:lvl1pPr>
              <a:buNone/>
              <a:defRPr b="0" i="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r>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idx="25"/>
          </p:nvPr>
        </p:nvSpPr>
        <p:spPr>
          <a:xfrm>
            <a:off x="11509578" y="6400799"/>
            <a:ext cx="218871" cy="167949"/>
          </a:xfrm>
        </p:spPr>
        <p:txBody>
          <a:bodyPr/>
          <a:lstStyle>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a:fld id="{63DCA5C9-2E11-4C67-86EB-AE1DE127DC64}" type="slidenum">
              <a:rP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_4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idx="23" hasCustomPrompt="1"/>
          </p:nvPr>
        </p:nvSpPr>
        <p:spPr>
          <a:xfrm>
            <a:off x="0" y="3240042"/>
            <a:ext cx="3441700" cy="586696"/>
          </a:xfrm>
          <a:prstGeom prst="rect">
            <a:avLst/>
          </a:prstGeom>
          <a:blipFill>
            <a:blip r:embed="rId3"/>
            <a:stretch>
              <a:fillRect/>
            </a:stretch>
          </a:blipFill>
        </p:spPr>
        <p:txBody>
          <a:bodyPr/>
          <a:lstStyle>
            <a:lvl1pPr>
              <a:buNone/>
              <a:defRPr sz="2800" b="0" i="0"/>
            </a:lvl1pPr>
          </a:lstStyle>
          <a:p>
            <a:pPr lvl="0">
              <a:buNone/>
            </a:pPr>
            <a:r>
              <a:t> </a:t>
            </a:r>
          </a:p>
        </p:txBody>
      </p:sp>
      <p:pic>
        <p:nvPicPr>
          <p:cNvPr id="20" name="Picture 7"/>
          <p:cNvPicPr>
            <a:picLocks noChangeAspect="1"/>
          </p:cNvPicPr>
          <p:nvPr/>
        </p:nvPicPr>
        <p:blipFill>
          <a:blip r:embed="rId4"/>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idx="25"/>
          </p:nvPr>
        </p:nvSpPr>
        <p:spPr/>
        <p:txBody>
          <a:bodyPr/>
          <a:lstStyle/>
          <a:p>
            <a:fld id="{63DCA5C9-2E11-4C67-86EB-AE1DE127DC64}" type="slidenum">
              <a:rPr/>
              <a:t>‹#›</a:t>
            </a:fld>
            <a:endParaRPr/>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a:prstGeom prst="rect">
            <a:avLst/>
          </a:prstGeom>
        </p:spPr>
        <p:txBody>
          <a:bodyPr anchor="b"/>
          <a:lstStyle>
            <a:lvl1pPr>
              <a:buNone/>
              <a:defRPr sz="2800" b="1">
                <a:solidFill>
                  <a:schemeClr val="tx1"/>
                </a:solidFill>
              </a:defRPr>
            </a:lvl1pPr>
          </a:lstStyle>
          <a:p>
            <a:r>
              <a:t>Statement lorem ipsum dolor sit amet, consectetur adipiscing elit, sed do eiusmod tempor amet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buNone/>
              <a:defRPr b="0" i="0"/>
            </a:lvl1pPr>
          </a:lstStyle>
          <a:p>
            <a:r>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buNone/>
              <a:defRPr b="0" i="0"/>
            </a:lvl1pPr>
          </a:lstStyle>
          <a:p>
            <a:r>
              <a:t>Picture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41253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F6E430-C704-4347-B9B2-A316866DAB3C}"/>
              </a:ext>
            </a:extLst>
          </p:cNvPr>
          <p:cNvSpPr>
            <a:spLocks noGrp="1"/>
          </p:cNvSpPr>
          <p:nvPr>
            <p:ph type="title"/>
          </p:nvPr>
        </p:nvSpPr>
        <p:spPr>
          <a:xfrm>
            <a:off x="460372" y="556953"/>
            <a:ext cx="11268077" cy="855922"/>
          </a:xfrm>
          <a:prstGeom prst="rect">
            <a:avLst/>
          </a:prstGeom>
        </p:spPr>
        <p:txBody>
          <a:bodyPr vert="horz" lIns="0" tIns="0" rIns="0" bIns="0" anchor="t">
            <a:noAutofit/>
          </a:bodyPr>
          <a:lstStyle/>
          <a:p>
            <a:r>
              <a:t>Click to edit Master title style</a:t>
            </a:r>
          </a:p>
        </p:txBody>
      </p:sp>
      <p:sp>
        <p:nvSpPr>
          <p:cNvPr id="5" name="Footer Placeholder 4">
            <a:extLst>
              <a:ext uri="{FF2B5EF4-FFF2-40B4-BE49-F238E27FC236}">
                <a16:creationId xmlns:a16="http://schemas.microsoft.com/office/drawing/2014/main" id="{AD3E1188-1FD1-4224-934E-272968053E35}"/>
              </a:ext>
            </a:extLst>
          </p:cNvPr>
          <p:cNvSpPr>
            <a:spLocks noGrp="1"/>
          </p:cNvSpPr>
          <p:nvPr>
            <p:ph type="ftr" idx="3"/>
          </p:nvPr>
        </p:nvSpPr>
        <p:spPr>
          <a:xfrm>
            <a:off x="4321019" y="6400798"/>
            <a:ext cx="7102834" cy="167949"/>
          </a:xfrm>
          <a:prstGeom prst="rect">
            <a:avLst/>
          </a:prstGeom>
        </p:spPr>
        <p:txBody>
          <a:bodyPr vert="horz" lIns="0" tIns="0" rIns="0" bIns="0" anchor="ctr"/>
          <a:lstStyle>
            <a:lvl1pPr marL="0" indent="9525" algn="r">
              <a:buNone/>
              <a:defRPr sz="900" b="0" i="0" cap="none" baseline="0">
                <a:solidFill>
                  <a:schemeClr val="tx1"/>
                </a:solidFill>
                <a:latin typeface="+mn-lt"/>
                <a:ea typeface="+mn-lt"/>
                <a:cs typeface="+mn-lt"/>
              </a:defRPr>
            </a:lvl1pPr>
            <a:lvl2pPr marL="0" indent="9525" algn="r">
              <a:buNone/>
              <a:defRPr sz="900" b="0" i="0" cap="none" baseline="0">
                <a:solidFill>
                  <a:schemeClr val="tx1"/>
                </a:solidFill>
                <a:latin typeface="+mn-lt"/>
                <a:ea typeface="+mn-lt"/>
                <a:cs typeface="+mn-lt"/>
              </a:defRPr>
            </a:lvl2pPr>
            <a:lvl3pPr marL="0" indent="9525" algn="r">
              <a:buNone/>
              <a:defRPr sz="900" b="0" i="0" cap="none" baseline="0">
                <a:solidFill>
                  <a:schemeClr val="tx1"/>
                </a:solidFill>
                <a:latin typeface="+mn-lt"/>
                <a:ea typeface="+mn-lt"/>
                <a:cs typeface="+mn-lt"/>
              </a:defRPr>
            </a:lvl3pPr>
            <a:lvl4pPr marL="0" indent="9525" algn="r">
              <a:buNone/>
              <a:defRPr sz="900" b="0" i="0" cap="none" baseline="0">
                <a:solidFill>
                  <a:schemeClr val="tx1"/>
                </a:solidFill>
                <a:latin typeface="+mn-lt"/>
                <a:ea typeface="+mn-lt"/>
                <a:cs typeface="+mn-lt"/>
              </a:defRPr>
            </a:lvl4pPr>
            <a:lvl5pPr marL="0" indent="9525" algn="r">
              <a:buNone/>
              <a:defRPr sz="900" b="0" i="0" cap="none" baseline="0">
                <a:solidFill>
                  <a:schemeClr val="tx1"/>
                </a:solidFill>
                <a:latin typeface="+mn-lt"/>
                <a:ea typeface="+mn-lt"/>
                <a:cs typeface="+mn-lt"/>
              </a:defRPr>
            </a:lvl5pPr>
            <a:lvl6pPr marL="0" indent="9525" algn="r">
              <a:buNone/>
              <a:defRPr sz="900" b="0" i="0" cap="none" baseline="0">
                <a:solidFill>
                  <a:schemeClr val="tx1"/>
                </a:solidFill>
                <a:latin typeface="+mn-lt"/>
                <a:ea typeface="+mn-lt"/>
                <a:cs typeface="+mn-lt"/>
              </a:defRPr>
            </a:lvl6pPr>
            <a:lvl7pPr marL="0" indent="9525" algn="r">
              <a:buNone/>
              <a:defRPr sz="900" b="0" i="0" cap="none" baseline="0">
                <a:solidFill>
                  <a:schemeClr val="tx1"/>
                </a:solidFill>
                <a:latin typeface="+mn-lt"/>
                <a:ea typeface="+mn-lt"/>
                <a:cs typeface="+mn-lt"/>
              </a:defRPr>
            </a:lvl7pPr>
            <a:lvl8pPr marL="0" indent="9525" algn="r">
              <a:buNone/>
              <a:defRPr sz="900" b="0" i="0" cap="none" baseline="0">
                <a:solidFill>
                  <a:schemeClr val="tx1"/>
                </a:solidFill>
                <a:latin typeface="+mn-lt"/>
                <a:ea typeface="+mn-lt"/>
                <a:cs typeface="+mn-lt"/>
              </a:defRPr>
            </a:lvl8pPr>
            <a:lvl9pPr marL="0" indent="9525" algn="r">
              <a:buNone/>
              <a:defRPr sz="900" b="0" i="0" cap="none" baseline="0">
                <a:solidFill>
                  <a:schemeClr val="tx1"/>
                </a:solidFill>
                <a:latin typeface="+mn-lt"/>
                <a:ea typeface="+mn-lt"/>
                <a:cs typeface="+mn-lt"/>
              </a:defRPr>
            </a:lvl9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700D9174-BB97-4E1D-B1F8-F7809EED8223}"/>
              </a:ext>
            </a:extLst>
          </p:cNvPr>
          <p:cNvSpPr>
            <a:spLocks noGrp="1"/>
          </p:cNvSpPr>
          <p:nvPr>
            <p:ph type="sldNum" idx="4"/>
          </p:nvPr>
        </p:nvSpPr>
        <p:spPr>
          <a:xfrm>
            <a:off x="11509578" y="6400799"/>
            <a:ext cx="218871" cy="167949"/>
          </a:xfrm>
          <a:prstGeom prst="rect">
            <a:avLst/>
          </a:prstGeom>
        </p:spPr>
        <p:txBody>
          <a:bodyPr vert="horz" lIns="0" tIns="0" rIns="0" bIns="0" anchor="ctr"/>
          <a:lstStyle>
            <a:lvl1pPr algn="r">
              <a:buNone/>
              <a:defRPr sz="900" b="0" i="0">
                <a:solidFill>
                  <a:schemeClr val="tx1"/>
                </a:solidFill>
                <a:latin typeface="+mn-lt"/>
                <a:ea typeface="+mn-lt"/>
                <a:cs typeface="+mn-lt"/>
              </a:defRPr>
            </a:lvl1pPr>
            <a:lvl2pPr marL="0" algn="r">
              <a:buNone/>
              <a:defRPr sz="900" b="0" i="0">
                <a:solidFill>
                  <a:schemeClr val="tx1"/>
                </a:solidFill>
                <a:latin typeface="+mn-lt"/>
                <a:ea typeface="+mn-lt"/>
                <a:cs typeface="+mn-lt"/>
              </a:defRPr>
            </a:lvl2pPr>
            <a:lvl3pPr marL="0" algn="r">
              <a:buNone/>
              <a:defRPr sz="900" b="0" i="0">
                <a:solidFill>
                  <a:schemeClr val="tx1"/>
                </a:solidFill>
                <a:latin typeface="+mn-lt"/>
                <a:ea typeface="+mn-lt"/>
                <a:cs typeface="+mn-lt"/>
              </a:defRPr>
            </a:lvl3pPr>
            <a:lvl4pPr marL="0" algn="r">
              <a:buNone/>
              <a:defRPr sz="900" b="0" i="0">
                <a:solidFill>
                  <a:schemeClr val="tx1"/>
                </a:solidFill>
                <a:latin typeface="+mn-lt"/>
                <a:ea typeface="+mn-lt"/>
                <a:cs typeface="+mn-lt"/>
              </a:defRPr>
            </a:lvl4pPr>
            <a:lvl5pPr marL="0" algn="r">
              <a:buNone/>
              <a:defRPr sz="900" b="0" i="0">
                <a:solidFill>
                  <a:schemeClr val="tx1"/>
                </a:solidFill>
                <a:latin typeface="+mn-lt"/>
                <a:ea typeface="+mn-lt"/>
                <a:cs typeface="+mn-lt"/>
              </a:defRPr>
            </a:lvl5pPr>
            <a:lvl6pPr marL="0" algn="r">
              <a:buNone/>
              <a:defRPr sz="900" b="0" i="0">
                <a:solidFill>
                  <a:schemeClr val="tx1"/>
                </a:solidFill>
                <a:latin typeface="+mn-lt"/>
                <a:ea typeface="+mn-lt"/>
                <a:cs typeface="+mn-lt"/>
              </a:defRPr>
            </a:lvl6pPr>
            <a:lvl7pPr marL="0" algn="r">
              <a:buNone/>
              <a:defRPr sz="900" b="0" i="0">
                <a:solidFill>
                  <a:schemeClr val="tx1"/>
                </a:solidFill>
                <a:latin typeface="+mn-lt"/>
                <a:ea typeface="+mn-lt"/>
                <a:cs typeface="+mn-lt"/>
              </a:defRPr>
            </a:lvl7pPr>
            <a:lvl8pPr marL="0" algn="r">
              <a:buNone/>
              <a:defRPr sz="900" b="0" i="0">
                <a:solidFill>
                  <a:schemeClr val="tx1"/>
                </a:solidFill>
                <a:latin typeface="+mn-lt"/>
                <a:ea typeface="+mn-lt"/>
                <a:cs typeface="+mn-lt"/>
              </a:defRPr>
            </a:lvl8pPr>
            <a:lvl9pPr marL="0" algn="r">
              <a:buNone/>
              <a:defRPr sz="900" b="0" i="0">
                <a:solidFill>
                  <a:schemeClr val="tx1"/>
                </a:solidFill>
                <a:latin typeface="+mn-lt"/>
                <a:ea typeface="+mn-lt"/>
                <a:cs typeface="+mn-lt"/>
              </a:defRPr>
            </a:lvl9pPr>
          </a:lstStyle>
          <a:p>
            <a:fld id="{63DCA5C9-2E11-4C67-86EB-AE1DE127DC64}" type="slidenum">
              <a:rPr/>
              <a:t>‹#›</a:t>
            </a:fld>
            <a:endParaRPr/>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hdr="0" dt="0"/>
  <p:txStyles>
    <p:titleStyle>
      <a:lvl1pPr algn="l" defTabSz="914400">
        <a:lnSpc>
          <a:spcPct val="100000"/>
        </a:lnSpc>
        <a:spcBef>
          <a:spcPct val="0"/>
        </a:spcBef>
        <a:buNone/>
        <a:defRPr sz="2200" b="1" i="0" kern="1200">
          <a:solidFill>
            <a:schemeClr val="tx1"/>
          </a:solidFill>
          <a:latin typeface="+mj-lt"/>
          <a:ea typeface="+mj-lt"/>
          <a:cs typeface="+mj-lt"/>
        </a:defRPr>
      </a:lvl1pPr>
    </p:titleStyle>
    <p:bodyStyle>
      <a:lvl1pPr marL="0" indent="0" algn="l" defTabSz="914400">
        <a:lnSpc>
          <a:spcPct val="100000"/>
        </a:lnSpc>
        <a:spcBef>
          <a:spcPts val="0"/>
        </a:spcBef>
        <a:spcAft>
          <a:spcPts val="600"/>
        </a:spcAft>
        <a:buFont typeface="Arial"/>
        <a:buNone/>
        <a:defRPr sz="1500" kern="1200">
          <a:solidFill>
            <a:schemeClr val="tx1"/>
          </a:solidFill>
          <a:latin typeface="+mn-lt"/>
          <a:ea typeface="+mn-lt"/>
          <a:cs typeface="+mn-lt"/>
        </a:defRPr>
      </a:lvl1pPr>
      <a:lvl2pPr marL="29260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2pPr>
      <a:lvl3pPr marL="56692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3pPr>
      <a:lvl4pPr marL="914400"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4pPr>
      <a:lvl5pPr marL="1261872"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5pPr>
      <a:lvl6pPr marL="1600200" indent="-283464" algn="l" defTabSz="914400">
        <a:lnSpc>
          <a:spcPct val="100000"/>
        </a:lnSpc>
        <a:spcBef>
          <a:spcPts val="0"/>
        </a:spcBef>
        <a:spcAft>
          <a:spcPts val="400"/>
        </a:spcAft>
        <a:buFont typeface="Arial"/>
        <a:buChar char="•"/>
        <a:defRPr sz="1500" kern="1200">
          <a:solidFill>
            <a:schemeClr val="tx1"/>
          </a:solidFill>
          <a:latin typeface="+mn-lt"/>
          <a:ea typeface="+mn-lt"/>
          <a:cs typeface="+mn-lt"/>
        </a:defRPr>
      </a:lvl6pPr>
      <a:lvl7pPr marL="193852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7pPr>
      <a:lvl8pPr marL="2286000"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8pPr>
      <a:lvl9pPr marL="2633472"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9pPr>
    </p:bodyStyle>
    <p:otherStyle>
      <a:lvl1pPr marL="0" algn="l" defTabSz="914400">
        <a:buNone/>
        <a:defRPr sz="1400" kern="1200">
          <a:solidFill>
            <a:schemeClr val="tx1"/>
          </a:solidFill>
          <a:latin typeface="+mn-lt"/>
          <a:ea typeface="+mn-lt"/>
          <a:cs typeface="+mn-lt"/>
        </a:defRPr>
      </a:lvl1pPr>
      <a:lvl2pPr marL="457200" algn="l" defTabSz="914400">
        <a:buNone/>
        <a:defRPr sz="1400" kern="1200">
          <a:solidFill>
            <a:schemeClr val="tx1"/>
          </a:solidFill>
          <a:latin typeface="+mn-lt"/>
          <a:ea typeface="+mn-lt"/>
          <a:cs typeface="+mn-lt"/>
        </a:defRPr>
      </a:lvl2pPr>
      <a:lvl3pPr marL="914400" algn="l" defTabSz="914400">
        <a:buNone/>
        <a:defRPr sz="1400" kern="1200">
          <a:solidFill>
            <a:schemeClr val="tx1"/>
          </a:solidFill>
          <a:latin typeface="+mn-lt"/>
          <a:ea typeface="+mn-lt"/>
          <a:cs typeface="+mn-lt"/>
        </a:defRPr>
      </a:lvl3pPr>
      <a:lvl4pPr marL="1371600" algn="l" defTabSz="914400">
        <a:buNone/>
        <a:defRPr sz="1400" kern="1200">
          <a:solidFill>
            <a:schemeClr val="tx1"/>
          </a:solidFill>
          <a:latin typeface="+mn-lt"/>
          <a:ea typeface="+mn-lt"/>
          <a:cs typeface="+mn-lt"/>
        </a:defRPr>
      </a:lvl4pPr>
      <a:lvl5pPr marL="1828800" algn="l" defTabSz="914400">
        <a:buNone/>
        <a:defRPr sz="1400" kern="1200">
          <a:solidFill>
            <a:schemeClr val="tx1"/>
          </a:solidFill>
          <a:latin typeface="+mn-lt"/>
          <a:ea typeface="+mn-lt"/>
          <a:cs typeface="+mn-lt"/>
        </a:defRPr>
      </a:lvl5pPr>
      <a:lvl6pPr marL="2286000" algn="l" defTabSz="914400">
        <a:buNone/>
        <a:defRPr sz="1400" kern="1200">
          <a:solidFill>
            <a:schemeClr val="tx1"/>
          </a:solidFill>
          <a:latin typeface="+mn-lt"/>
          <a:ea typeface="+mn-lt"/>
          <a:cs typeface="+mn-lt"/>
        </a:defRPr>
      </a:lvl6pPr>
      <a:lvl7pPr marL="2743200" algn="l" defTabSz="914400">
        <a:buNone/>
        <a:defRPr sz="1400" kern="1200">
          <a:solidFill>
            <a:schemeClr val="tx1"/>
          </a:solidFill>
          <a:latin typeface="+mn-lt"/>
          <a:ea typeface="+mn-lt"/>
          <a:cs typeface="+mn-lt"/>
        </a:defRPr>
      </a:lvl7pPr>
      <a:lvl8pPr marL="3200400" algn="l" defTabSz="914400">
        <a:buNone/>
        <a:defRPr sz="1400" kern="1200">
          <a:solidFill>
            <a:schemeClr val="tx1"/>
          </a:solidFill>
          <a:latin typeface="+mn-lt"/>
          <a:ea typeface="+mn-lt"/>
          <a:cs typeface="+mn-lt"/>
        </a:defRPr>
      </a:lvl8pPr>
      <a:lvl9pPr marL="3657600" algn="l" defTabSz="914400">
        <a:buNone/>
        <a:defRPr sz="1400" kern="1200">
          <a:solidFill>
            <a:schemeClr val="tx1"/>
          </a:solidFill>
          <a:latin typeface="+mn-lt"/>
          <a:ea typeface="+mn-lt"/>
          <a:cs typeface="+mn-lt"/>
        </a:defRPr>
      </a:lvl9pPr>
    </p:otherStyle>
  </p:txStyles>
  <p:extLst>
    <p:ext uri="{27BBF7A9-308A-43DC-89C8-2F10F3537804}">
      <p15:sldGuideLst xmlns:p15="http://schemas.microsoft.com/office/powerpoint/2012/main">
        <p15:guide id="25" orient="horz" pos="346" userDrawn="1">
          <p15:clr>
            <a:srgbClr val="F26B43"/>
          </p15:clr>
        </p15:guide>
        <p15:guide id="31" orient="horz" pos="4137" userDrawn="1">
          <p15:clr>
            <a:srgbClr val="F26B43"/>
          </p15:clr>
        </p15:guide>
        <p15:guide id="32" orient="horz" pos="4032" userDrawn="1">
          <p15:clr>
            <a:srgbClr val="F26B43"/>
          </p15:clr>
        </p15:guide>
        <p15:guide id="49" orient="horz" pos="890" userDrawn="1">
          <p15:clr>
            <a:srgbClr val="F26B43"/>
          </p15:clr>
        </p15:guide>
        <p15:guide id="50" orient="horz" pos="1115" userDrawn="1">
          <p15:clr>
            <a:srgbClr val="F26B43"/>
          </p15:clr>
        </p15:guide>
        <p15:guide id="51" pos="288" userDrawn="1">
          <p15:clr>
            <a:srgbClr val="F26B43"/>
          </p15:clr>
        </p15:guide>
        <p15:guide id="64" orient="horz" pos="3792" userDrawn="1">
          <p15:clr>
            <a:srgbClr val="F26B43"/>
          </p15:clr>
        </p15:guide>
        <p15:guide id="65" orient="horz" pos="3863" userDrawn="1">
          <p15:clr>
            <a:srgbClr val="F26B43"/>
          </p15:clr>
        </p15:guide>
        <p15:guide id="66" pos="739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2.xml"/><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3.xml"/><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4.xml"/><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5.xml"/><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6.xml"/><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5.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6.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7.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8.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9.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0.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1.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3.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8.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notesSlide" Target="../notesSlides/notesSlide14.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2AB537DE-4188-4683-A18A-E8EF051A1A7E}"/>
              </a:ext>
            </a:extLst>
          </p:cNvPr>
          <p:cNvSpPr>
            <a:spLocks noGrp="1"/>
          </p:cNvSpPr>
          <p:nvPr/>
        </p:nvSpPr>
        <p:spPr>
          <a:xfrm>
            <a:off x="457200" y="2038350"/>
            <a:ext cx="4857750" cy="1066800"/>
          </a:xfrm>
          <a:prstGeom prst="rect">
            <a:avLst/>
          </a:prstGeom>
          <a:noFill/>
          <a:ln w="0">
            <a:noFill/>
          </a:ln>
        </p:spPr>
        <p:txBody>
          <a:bodyPr anchor="t">
            <a:normAutofit/>
          </a:bodyPr>
          <a:lstStyle/>
          <a:p>
            <a:pPr>
              <a:lnSpc>
                <a:spcPct val="94000"/>
              </a:lnSpc>
              <a:buNone/>
              <a:defRPr sz="3000" b="1" i="0">
                <a:solidFill>
                  <a:srgbClr val="070154"/>
                </a:solidFill>
                <a:latin typeface="Arial"/>
                <a:ea typeface="Arial"/>
                <a:cs typeface="Arial"/>
              </a:defRPr>
            </a:pPr>
            <a:r>
              <a:rPr sz="3000" b="1" i="0">
                <a:solidFill>
                  <a:srgbClr val="070154"/>
                </a:solidFill>
                <a:latin typeface="Arial"/>
                <a:ea typeface="Arial"/>
                <a:cs typeface="Arial"/>
              </a:rPr>
              <a:t>Engineering findings</a:t>
            </a:r>
          </a:p>
          <a:p>
            <a:pPr>
              <a:lnSpc>
                <a:spcPct val="94000"/>
              </a:lnSpc>
              <a:buNone/>
              <a:defRPr sz="3000" b="1" i="0">
                <a:solidFill>
                  <a:srgbClr val="070154"/>
                </a:solidFill>
                <a:latin typeface="Arial"/>
                <a:ea typeface="Arial"/>
                <a:cs typeface="Arial"/>
              </a:defRPr>
            </a:pPr>
            <a:r>
              <a:rPr sz="3000" b="1" i="0">
                <a:solidFill>
                  <a:srgbClr val="070154"/>
                </a:solidFill>
                <a:latin typeface="Arial"/>
                <a:ea typeface="Arial"/>
                <a:cs typeface="Arial"/>
              </a:rPr>
              <a:t>and action plan</a:t>
            </a:r>
          </a:p>
        </p:txBody>
      </p:sp>
      <p:sp>
        <p:nvSpPr>
          <p:cNvPr id="3" name="Rectangle 2">
            <a:extLst>
              <a:ext uri="{FF2B5EF4-FFF2-40B4-BE49-F238E27FC236}">
                <a16:creationId xmlns:a16="http://schemas.microsoft.com/office/drawing/2014/main" id="{16FD8E26-7E96-4194-9E3B-7366D0598797}"/>
              </a:ext>
            </a:extLst>
          </p:cNvPr>
          <p:cNvSpPr>
            <a:spLocks noGrp="1"/>
          </p:cNvSpPr>
          <p:nvPr/>
        </p:nvSpPr>
        <p:spPr>
          <a:xfrm>
            <a:off x="457200" y="3333750"/>
            <a:ext cx="1143000" cy="66675"/>
          </a:xfrm>
          <a:prstGeom prst="rect">
            <a:avLst/>
          </a:prstGeom>
          <a:solidFill>
            <a:srgbClr val="0047FF"/>
          </a:solidFill>
          <a:ln w="0">
            <a:noFill/>
          </a:ln>
        </p:spPr>
        <p:txBody>
          <a:bodyPr/>
          <a:lstStyle/>
          <a:p>
            <a:endParaRPr lang="en-US"/>
          </a:p>
        </p:txBody>
      </p:sp>
      <p:sp>
        <p:nvSpPr>
          <p:cNvPr id="4" name="Rectangle 3">
            <a:extLst>
              <a:ext uri="{FF2B5EF4-FFF2-40B4-BE49-F238E27FC236}">
                <a16:creationId xmlns:a16="http://schemas.microsoft.com/office/drawing/2014/main" id="{0ECC50DB-9005-4D0C-80D3-68A21AF6BDF7}"/>
              </a:ext>
            </a:extLst>
          </p:cNvPr>
          <p:cNvSpPr>
            <a:spLocks noGrp="1"/>
          </p:cNvSpPr>
          <p:nvPr/>
        </p:nvSpPr>
        <p:spPr>
          <a:xfrm>
            <a:off x="457200" y="3619500"/>
            <a:ext cx="5143500" cy="400050"/>
          </a:xfrm>
          <a:prstGeom prst="rect">
            <a:avLst/>
          </a:prstGeom>
          <a:noFill/>
          <a:ln w="0">
            <a:noFill/>
          </a:ln>
        </p:spPr>
        <p:txBody>
          <a:bodyPr anchor="t">
            <a:normAutofit/>
          </a:bodyPr>
          <a:lstStyle/>
          <a:p>
            <a:pPr>
              <a:lnSpc>
                <a:spcPct val="108000"/>
              </a:lnSpc>
              <a:buNone/>
              <a:defRPr sz="1800" b="1" i="0">
                <a:solidFill>
                  <a:srgbClr val="0047FF"/>
                </a:solidFill>
                <a:latin typeface="Arial"/>
                <a:ea typeface="Arial"/>
                <a:cs typeface="Arial"/>
              </a:defRPr>
            </a:pPr>
            <a:r>
              <a:rPr sz="1800" b="1" i="0">
                <a:solidFill>
                  <a:srgbClr val="0047FF"/>
                </a:solidFill>
                <a:latin typeface="Arial"/>
                <a:ea typeface="Arial"/>
                <a:cs typeface="Arial"/>
              </a:rPr>
              <a:t>Core SDLC, agile with Claude Code, QA, and metrics</a:t>
            </a:r>
          </a:p>
        </p:txBody>
      </p:sp>
      <p:sp>
        <p:nvSpPr>
          <p:cNvPr id="5" name="Rectangle 4">
            <a:extLst>
              <a:ext uri="{FF2B5EF4-FFF2-40B4-BE49-F238E27FC236}">
                <a16:creationId xmlns:a16="http://schemas.microsoft.com/office/drawing/2014/main" id="{D15B196C-8243-4CAC-855B-9EC2F1CDA961}"/>
              </a:ext>
            </a:extLst>
          </p:cNvPr>
          <p:cNvSpPr>
            <a:spLocks noGrp="1"/>
          </p:cNvSpPr>
          <p:nvPr/>
        </p:nvSpPr>
        <p:spPr>
          <a:xfrm>
            <a:off x="457200" y="4171950"/>
            <a:ext cx="4953000" cy="285750"/>
          </a:xfrm>
          <a:prstGeom prst="rect">
            <a:avLst/>
          </a:prstGeom>
          <a:noFill/>
          <a:ln w="0">
            <a:noFill/>
          </a:ln>
        </p:spPr>
        <p:txBody>
          <a:bodyPr anchor="t">
            <a:normAutofit fontScale="94949" lnSpcReduction="10000"/>
          </a:bodyPr>
          <a:lstStyle/>
          <a:p>
            <a:pPr>
              <a:lnSpc>
                <a:spcPct val="108000"/>
              </a:lnSpc>
              <a:buNone/>
              <a:defRPr sz="1350" b="0" i="0">
                <a:solidFill>
                  <a:srgbClr val="50658E"/>
                </a:solidFill>
                <a:latin typeface="Arial"/>
                <a:ea typeface="Arial"/>
                <a:cs typeface="Arial"/>
              </a:defRPr>
            </a:pPr>
            <a:r>
              <a:rPr lang="en-US" sz="1350" b="0" i="0">
                <a:solidFill>
                  <a:srgbClr val="50658E"/>
                </a:solidFill>
                <a:latin typeface="Arial"/>
                <a:ea typeface="Arial"/>
                <a:cs typeface="Arial"/>
              </a:rPr>
              <a:t>Draft for internal review</a:t>
            </a:r>
            <a:endParaRPr sz="1350" b="0" i="0">
              <a:solidFill>
                <a:srgbClr val="50658E"/>
              </a:solidFill>
              <a:latin typeface="Arial"/>
              <a:ea typeface="Arial"/>
              <a:cs typeface="Arial"/>
            </a:endParaRPr>
          </a:p>
        </p:txBody>
      </p:sp>
      <p:sp>
        <p:nvSpPr>
          <p:cNvPr id="7" name="Rectangle 6">
            <a:extLst>
              <a:ext uri="{FF2B5EF4-FFF2-40B4-BE49-F238E27FC236}">
                <a16:creationId xmlns:a16="http://schemas.microsoft.com/office/drawing/2014/main" id="{FEB6F825-51CA-4A24-A107-18187EFAC36E}"/>
              </a:ext>
            </a:extLst>
          </p:cNvPr>
          <p:cNvSpPr>
            <a:spLocks noGrp="1"/>
          </p:cNvSpPr>
          <p:nvPr/>
        </p:nvSpPr>
        <p:spPr>
          <a:xfrm>
            <a:off x="457200" y="5905500"/>
            <a:ext cx="1619250" cy="190500"/>
          </a:xfrm>
          <a:prstGeom prst="rect">
            <a:avLst/>
          </a:prstGeom>
          <a:noFill/>
          <a:ln w="0">
            <a:noFill/>
          </a:ln>
        </p:spPr>
        <p:txBody>
          <a:bodyPr anchor="t">
            <a:noAutofit/>
          </a:bodyPr>
          <a:lstStyle/>
          <a:p>
            <a:pPr>
              <a:lnSpc>
                <a:spcPct val="108000"/>
              </a:lnSpc>
              <a:buNone/>
              <a:defRPr sz="900" b="1" i="0">
                <a:solidFill>
                  <a:srgbClr val="0047FF"/>
                </a:solidFill>
                <a:latin typeface="Arial"/>
                <a:ea typeface="Arial"/>
                <a:cs typeface="Arial"/>
              </a:defRPr>
            </a:pPr>
            <a:r>
              <a:rPr lang="en-US" sz="1100" b="1" i="0">
                <a:solidFill>
                  <a:srgbClr val="0047FF"/>
                </a:solidFill>
                <a:latin typeface="Arial"/>
                <a:ea typeface="Arial"/>
                <a:cs typeface="Arial"/>
              </a:rPr>
              <a:t>October</a:t>
            </a:r>
            <a:r>
              <a:rPr sz="1100" b="1" i="0">
                <a:solidFill>
                  <a:srgbClr val="0047FF"/>
                </a:solidFill>
                <a:latin typeface="Arial"/>
                <a:ea typeface="Arial"/>
                <a:cs typeface="Arial"/>
              </a:rPr>
              <a:t> 2026</a:t>
            </a:r>
          </a:p>
        </p:txBody>
      </p:sp>
    </p:spTree>
    <p:extLst>
      <p:ext uri="{BB962C8B-B14F-4D97-AF65-F5344CB8AC3E}">
        <p14:creationId xmlns:p14="http://schemas.microsoft.com/office/powerpoint/2010/main" val="13042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Six engineering findings, each with a clear fix</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From DXC's own release records and working sessions. Each finding points to a specific action and owner.</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FINDINGS</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sp>
        <p:nvSpPr>
          <p:cNvPr id="200" name="H1"/>
          <p:cNvSpPr/>
          <p:nvPr/>
        </p:nvSpPr>
        <p:spPr>
          <a:xfrm>
            <a:off x="457200" y="1752600"/>
            <a:ext cx="2900000" cy="260000"/>
          </a:xfrm>
          <a:prstGeom prst="rect">
            <a:avLst/>
          </a:prstGeom>
          <a:noFill/>
          <a:ln w="0">
            <a:noFill/>
          </a:ln>
        </p:spPr>
        <p:txBody>
          <a:bodyPr wrap="square" anchor="ctr" lIns="0" tIns="0" rIns="0" bIns="0">
            <a:noAutofit/>
          </a:bodyPr>
          <a:lstStyle/>
          <a:p>
            <a:pPr>
              <a:lnSpc>
                <a:spcPct val="108000"/>
              </a:lnSpc>
              <a:buNone/>
            </a:pPr>
            <a:r>
              <a:rPr lang="en-US" sz="900" b="1" i="0" dirty="0">
                <a:solidFill>
                  <a:srgbClr val="0047FF"/>
                </a:solidFill>
                <a:latin typeface="Arial"/>
                <a:ea typeface="Arial"/>
                <a:cs typeface="Arial"/>
              </a:rPr>
              <a:t>FINDING</a:t>
            </a:r>
          </a:p>
        </p:txBody>
      </p:sp>
      <p:sp>
        <p:nvSpPr>
          <p:cNvPr id="201" name="H2"/>
          <p:cNvSpPr/>
          <p:nvPr/>
        </p:nvSpPr>
        <p:spPr>
          <a:xfrm>
            <a:off x="3500000" y="1752600"/>
            <a:ext cx="4300000" cy="260000"/>
          </a:xfrm>
          <a:prstGeom prst="rect">
            <a:avLst/>
          </a:prstGeom>
          <a:noFill/>
          <a:ln w="0">
            <a:noFill/>
          </a:ln>
        </p:spPr>
        <p:txBody>
          <a:bodyPr wrap="square" anchor="ctr" lIns="0" tIns="0" rIns="0" bIns="0">
            <a:noAutofit/>
          </a:bodyPr>
          <a:lstStyle/>
          <a:p>
            <a:pPr>
              <a:lnSpc>
                <a:spcPct val="108000"/>
              </a:lnSpc>
              <a:buNone/>
            </a:pPr>
            <a:r>
              <a:rPr lang="en-US" sz="900" b="1" i="0" dirty="0">
                <a:solidFill>
                  <a:srgbClr val="0047FF"/>
                </a:solidFill>
                <a:latin typeface="Arial"/>
                <a:ea typeface="Arial"/>
                <a:cs typeface="Arial"/>
              </a:rPr>
              <a:t>WHAT WE FOUND</a:t>
            </a:r>
          </a:p>
        </p:txBody>
      </p:sp>
      <p:sp>
        <p:nvSpPr>
          <p:cNvPr id="202" name="H3"/>
          <p:cNvSpPr/>
          <p:nvPr/>
        </p:nvSpPr>
        <p:spPr>
          <a:xfrm>
            <a:off x="7950000" y="1752600"/>
            <a:ext cx="3784800" cy="260000"/>
          </a:xfrm>
          <a:prstGeom prst="rect">
            <a:avLst/>
          </a:prstGeom>
          <a:noFill/>
          <a:ln w="0">
            <a:noFill/>
          </a:ln>
        </p:spPr>
        <p:txBody>
          <a:bodyPr wrap="square" anchor="ctr" lIns="0" tIns="0" rIns="0" bIns="0">
            <a:noAutofit/>
          </a:bodyPr>
          <a:lstStyle/>
          <a:p>
            <a:pPr>
              <a:lnSpc>
                <a:spcPct val="108000"/>
              </a:lnSpc>
              <a:buNone/>
            </a:pPr>
            <a:r>
              <a:rPr lang="en-US" sz="900" b="1" i="0" dirty="0">
                <a:solidFill>
                  <a:srgbClr val="0047FF"/>
                </a:solidFill>
                <a:latin typeface="Arial"/>
                <a:ea typeface="Arial"/>
                <a:cs typeface="Arial"/>
              </a:rPr>
              <a:t>SO WHAT</a:t>
            </a:r>
          </a:p>
        </p:txBody>
      </p:sp>
      <p:sp>
        <p:nvSpPr>
          <p:cNvPr id="203" name="Row 1"/>
          <p:cNvSpPr/>
          <p:nvPr/>
        </p:nvSpPr>
        <p:spPr>
          <a:xfrm>
            <a:off x="457200" y="2042600"/>
            <a:ext cx="11277600" cy="545000"/>
          </a:xfrm>
          <a:prstGeom prst="rect">
            <a:avLst/>
          </a:prstGeom>
          <a:solidFill>
            <a:srgbClr val="E8EEF8"/>
          </a:solidFill>
          <a:ln w="9525">
            <a:solidFill>
              <a:srgbClr val="CED7E6"/>
            </a:solidFill>
          </a:ln>
        </p:spPr>
        <p:txBody>
          <a:bodyPr wrap="square" anchor="t">
            <a:noAutofit/>
          </a:bodyPr>
          <a:lstStyle/>
          <a:p>
            <a:endParaRPr lang="en-US"/>
          </a:p>
        </p:txBody>
      </p:sp>
      <p:sp>
        <p:nvSpPr>
          <p:cNvPr id="204" name="Badge 1"/>
          <p:cNvSpPr/>
          <p:nvPr/>
        </p:nvSpPr>
        <p:spPr>
          <a:xfrm>
            <a:off x="560000" y="2164600"/>
            <a:ext cx="300000" cy="300000"/>
          </a:xfrm>
          <a:prstGeom prst="rect">
            <a:avLst/>
          </a:prstGeom>
          <a:solidFill>
            <a:srgbClr val="0047FF"/>
          </a:solidFill>
          <a:ln w="0">
            <a:noFill/>
          </a:ln>
        </p:spPr>
        <p:txBody>
          <a:bodyPr wrap="square" anchor="ctr" lIns="0" tIns="0" rIns="0" bIns="0">
            <a:noAutofit/>
          </a:bodyPr>
          <a:lstStyle/>
          <a:p>
            <a:pPr algn="ctr">
              <a:lnSpc>
                <a:spcPct val="108000"/>
              </a:lnSpc>
              <a:buNone/>
            </a:pPr>
            <a:r>
              <a:rPr lang="en-US" sz="1100" b="1" i="0" dirty="0">
                <a:solidFill>
                  <a:srgbClr val="FFFFFF"/>
                </a:solidFill>
                <a:latin typeface="Arial"/>
                <a:ea typeface="Arial"/>
                <a:cs typeface="Arial"/>
              </a:rPr>
              <a:t>1</a:t>
            </a:r>
          </a:p>
        </p:txBody>
      </p:sp>
      <p:sp>
        <p:nvSpPr>
          <p:cNvPr id="205" name="Hook 1"/>
          <p:cNvSpPr/>
          <p:nvPr/>
        </p:nvSpPr>
        <p:spPr>
          <a:xfrm>
            <a:off x="960000" y="2042600"/>
            <a:ext cx="2450000" cy="545000"/>
          </a:xfrm>
          <a:prstGeom prst="rect">
            <a:avLst/>
          </a:prstGeom>
          <a:noFill/>
          <a:ln w="0">
            <a:noFill/>
          </a:ln>
        </p:spPr>
        <p:txBody>
          <a:bodyPr wrap="square" anchor="ctr" lIns="0" tIns="0" rIns="0" bIns="0">
            <a:noAutofit/>
          </a:bodyPr>
          <a:lstStyle/>
          <a:p>
            <a:pPr>
              <a:lnSpc>
                <a:spcPct val="108000"/>
              </a:lnSpc>
              <a:buNone/>
            </a:pPr>
            <a:r>
              <a:rPr lang="en-US" sz="1500" b="1" i="0" dirty="0">
                <a:solidFill>
                  <a:srgbClr val="070154"/>
                </a:solidFill>
                <a:latin typeface="Arial"/>
                <a:ea typeface="Arial"/>
                <a:cs typeface="Arial"/>
              </a:rPr>
              <a:t>Unplanned, untracked</a:t>
            </a:r>
          </a:p>
        </p:txBody>
      </p:sp>
      <p:sp>
        <p:nvSpPr>
          <p:cNvPr id="206" name="Found 1"/>
          <p:cNvSpPr/>
          <p:nvPr/>
        </p:nvSpPr>
        <p:spPr>
          <a:xfrm>
            <a:off x="3500000" y="2042600"/>
            <a:ext cx="4300000" cy="545000"/>
          </a:xfrm>
          <a:prstGeom prst="rect">
            <a:avLst/>
          </a:prstGeom>
          <a:noFill/>
          <a:ln w="0">
            <a:noFill/>
          </a:ln>
        </p:spPr>
        <p:txBody>
          <a:bodyPr wrap="square" anchor="ctr" lIns="0" tIns="0" rIns="0" bIns="0">
            <a:noAutofit/>
          </a:bodyPr>
          <a:lstStyle/>
          <a:p>
            <a:pPr>
              <a:lnSpc>
                <a:spcPct val="108000"/>
              </a:lnSpc>
              <a:buNone/>
            </a:pPr>
            <a:r>
              <a:rPr lang="en-US" sz="950" b="0" i="0" dirty="0">
                <a:solidFill>
                  <a:srgbClr val="070154"/>
                </a:solidFill>
                <a:latin typeface="Arial"/>
                <a:ea typeface="Arial"/>
                <a:cs typeface="Arial"/>
              </a:rPr>
              <a:t>Half of 2026 Core release events were unplanned (15 of 30), and their causes are not classified or trended.</a:t>
            </a:r>
          </a:p>
        </p:txBody>
      </p:sp>
      <p:sp>
        <p:nvSpPr>
          <p:cNvPr id="207" name="SoWhat 1"/>
          <p:cNvSpPr/>
          <p:nvPr/>
        </p:nvSpPr>
        <p:spPr>
          <a:xfrm>
            <a:off x="7950000" y="2102600"/>
            <a:ext cx="3700000" cy="425000"/>
          </a:xfrm>
          <a:prstGeom prst="rect">
            <a:avLst/>
          </a:prstGeom>
          <a:solidFill>
            <a:srgbClr val="FFFFFF"/>
          </a:solidFill>
          <a:ln w="0">
            <a:noFill/>
          </a:ln>
        </p:spPr>
        <p:txBody>
          <a:bodyPr wrap="square" anchor="ctr" lIns="70000" tIns="70000" rIns="70000" bIns="70000">
            <a:noAutofit/>
          </a:bodyPr>
          <a:lstStyle/>
          <a:p>
            <a:pPr>
              <a:lnSpc>
                <a:spcPct val="108000"/>
              </a:lnSpc>
              <a:buNone/>
            </a:pPr>
            <a:r>
              <a:rPr lang="en-US" sz="950" b="1" i="0" dirty="0">
                <a:solidFill>
                  <a:srgbClr val="0047FF"/>
                </a:solidFill>
                <a:latin typeface="Arial"/>
                <a:ea typeface="Arial"/>
                <a:cs typeface="Arial"/>
              </a:rPr>
              <a:t>Without cause data, the same failures repeat. A two-week triage turns the patch count into a fix list.</a:t>
            </a:r>
          </a:p>
        </p:txBody>
      </p:sp>
      <p:sp>
        <p:nvSpPr>
          <p:cNvPr id="208" name="Row 2"/>
          <p:cNvSpPr/>
          <p:nvPr/>
        </p:nvSpPr>
        <p:spPr>
          <a:xfrm>
            <a:off x="457200" y="2632600"/>
            <a:ext cx="11277600" cy="545000"/>
          </a:xfrm>
          <a:prstGeom prst="rect">
            <a:avLst/>
          </a:prstGeom>
          <a:solidFill>
            <a:srgbClr val="E8EEF8"/>
          </a:solidFill>
          <a:ln w="9525">
            <a:solidFill>
              <a:srgbClr val="CED7E6"/>
            </a:solidFill>
          </a:ln>
        </p:spPr>
        <p:txBody>
          <a:bodyPr wrap="square" anchor="t">
            <a:noAutofit/>
          </a:bodyPr>
          <a:lstStyle/>
          <a:p>
            <a:endParaRPr lang="en-US"/>
          </a:p>
        </p:txBody>
      </p:sp>
      <p:sp>
        <p:nvSpPr>
          <p:cNvPr id="209" name="Badge 2"/>
          <p:cNvSpPr/>
          <p:nvPr/>
        </p:nvSpPr>
        <p:spPr>
          <a:xfrm>
            <a:off x="560000" y="2754600"/>
            <a:ext cx="300000" cy="300000"/>
          </a:xfrm>
          <a:prstGeom prst="rect">
            <a:avLst/>
          </a:prstGeom>
          <a:solidFill>
            <a:srgbClr val="0047FF"/>
          </a:solidFill>
          <a:ln w="0">
            <a:noFill/>
          </a:ln>
        </p:spPr>
        <p:txBody>
          <a:bodyPr wrap="square" anchor="ctr" lIns="0" tIns="0" rIns="0" bIns="0">
            <a:noAutofit/>
          </a:bodyPr>
          <a:lstStyle/>
          <a:p>
            <a:pPr algn="ctr">
              <a:lnSpc>
                <a:spcPct val="108000"/>
              </a:lnSpc>
              <a:buNone/>
            </a:pPr>
            <a:r>
              <a:rPr lang="en-US" sz="1100" b="1" i="0" dirty="0">
                <a:solidFill>
                  <a:srgbClr val="FFFFFF"/>
                </a:solidFill>
                <a:latin typeface="Arial"/>
                <a:ea typeface="Arial"/>
                <a:cs typeface="Arial"/>
              </a:rPr>
              <a:t>2</a:t>
            </a:r>
          </a:p>
        </p:txBody>
      </p:sp>
      <p:sp>
        <p:nvSpPr>
          <p:cNvPr id="210" name="Hook 2"/>
          <p:cNvSpPr/>
          <p:nvPr/>
        </p:nvSpPr>
        <p:spPr>
          <a:xfrm>
            <a:off x="960000" y="2632600"/>
            <a:ext cx="2450000" cy="545000"/>
          </a:xfrm>
          <a:prstGeom prst="rect">
            <a:avLst/>
          </a:prstGeom>
          <a:noFill/>
          <a:ln w="0">
            <a:noFill/>
          </a:ln>
        </p:spPr>
        <p:txBody>
          <a:bodyPr wrap="square" anchor="ctr" lIns="0" tIns="0" rIns="0" bIns="0">
            <a:noAutofit/>
          </a:bodyPr>
          <a:lstStyle/>
          <a:p>
            <a:pPr>
              <a:lnSpc>
                <a:spcPct val="108000"/>
              </a:lnSpc>
              <a:buNone/>
            </a:pPr>
            <a:r>
              <a:rPr lang="en-US" sz="1500" b="1" i="0" dirty="0">
                <a:solidFill>
                  <a:srgbClr val="070154"/>
                </a:solidFill>
                <a:latin typeface="Arial"/>
                <a:ea typeface="Arial"/>
                <a:cs typeface="Arial"/>
              </a:rPr>
              <a:t>Same failure, twice</a:t>
            </a:r>
          </a:p>
        </p:txBody>
      </p:sp>
      <p:sp>
        <p:nvSpPr>
          <p:cNvPr id="211" name="Found 2"/>
          <p:cNvSpPr/>
          <p:nvPr/>
        </p:nvSpPr>
        <p:spPr>
          <a:xfrm>
            <a:off x="3500000" y="2632600"/>
            <a:ext cx="4300000" cy="545000"/>
          </a:xfrm>
          <a:prstGeom prst="rect">
            <a:avLst/>
          </a:prstGeom>
          <a:noFill/>
          <a:ln w="0">
            <a:noFill/>
          </a:ln>
        </p:spPr>
        <p:txBody>
          <a:bodyPr wrap="square" anchor="ctr" lIns="0" tIns="0" rIns="0" bIns="0">
            <a:noAutofit/>
          </a:bodyPr>
          <a:lstStyle/>
          <a:p>
            <a:pPr>
              <a:lnSpc>
                <a:spcPct val="108000"/>
              </a:lnSpc>
              <a:buNone/>
            </a:pPr>
            <a:r>
              <a:rPr lang="en-US" sz="950" b="0" i="0" dirty="0">
                <a:solidFill>
                  <a:srgbClr val="070154"/>
                </a:solidFill>
                <a:latin typeface="Arial"/>
                <a:ea typeface="Arial"/>
                <a:cs typeface="Arial"/>
              </a:rPr>
              <a:t>The Salesforce client password expired in May and again in August, blocking HS1 case creation and calls into Core.</a:t>
            </a:r>
          </a:p>
        </p:txBody>
      </p:sp>
      <p:sp>
        <p:nvSpPr>
          <p:cNvPr id="212" name="SoWhat 2"/>
          <p:cNvSpPr/>
          <p:nvPr/>
        </p:nvSpPr>
        <p:spPr>
          <a:xfrm>
            <a:off x="7950000" y="2692600"/>
            <a:ext cx="3700000" cy="425000"/>
          </a:xfrm>
          <a:prstGeom prst="rect">
            <a:avLst/>
          </a:prstGeom>
          <a:solidFill>
            <a:srgbClr val="FFFFFF"/>
          </a:solidFill>
          <a:ln w="0">
            <a:noFill/>
          </a:ln>
        </p:spPr>
        <p:txBody>
          <a:bodyPr wrap="square" anchor="ctr" lIns="70000" tIns="70000" rIns="70000" bIns="70000">
            <a:noAutofit/>
          </a:bodyPr>
          <a:lstStyle/>
          <a:p>
            <a:pPr>
              <a:lnSpc>
                <a:spcPct val="108000"/>
              </a:lnSpc>
              <a:buNone/>
            </a:pPr>
            <a:r>
              <a:rPr lang="en-US" sz="950" b="1" i="0" dirty="0">
                <a:solidFill>
                  <a:srgbClr val="0047FF"/>
                </a:solidFill>
                <a:latin typeface="Arial"/>
                <a:ea typeface="Arial"/>
                <a:cs typeface="Arial"/>
              </a:rPr>
              <a:t>Predictable expiries are handled as incidents. An inventory with owners and alerts prevents the repeat.</a:t>
            </a:r>
          </a:p>
        </p:txBody>
      </p:sp>
      <p:sp>
        <p:nvSpPr>
          <p:cNvPr id="213" name="Row 3"/>
          <p:cNvSpPr/>
          <p:nvPr/>
        </p:nvSpPr>
        <p:spPr>
          <a:xfrm>
            <a:off x="457200" y="3222600"/>
            <a:ext cx="11277600" cy="545000"/>
          </a:xfrm>
          <a:prstGeom prst="rect">
            <a:avLst/>
          </a:prstGeom>
          <a:solidFill>
            <a:srgbClr val="E8EEF8"/>
          </a:solidFill>
          <a:ln w="9525">
            <a:solidFill>
              <a:srgbClr val="CED7E6"/>
            </a:solidFill>
          </a:ln>
        </p:spPr>
        <p:txBody>
          <a:bodyPr wrap="square" anchor="t">
            <a:noAutofit/>
          </a:bodyPr>
          <a:lstStyle/>
          <a:p>
            <a:endParaRPr lang="en-US"/>
          </a:p>
        </p:txBody>
      </p:sp>
      <p:sp>
        <p:nvSpPr>
          <p:cNvPr id="214" name="Badge 3"/>
          <p:cNvSpPr/>
          <p:nvPr/>
        </p:nvSpPr>
        <p:spPr>
          <a:xfrm>
            <a:off x="560000" y="3344600"/>
            <a:ext cx="300000" cy="300000"/>
          </a:xfrm>
          <a:prstGeom prst="rect">
            <a:avLst/>
          </a:prstGeom>
          <a:solidFill>
            <a:srgbClr val="0047FF"/>
          </a:solidFill>
          <a:ln w="0">
            <a:noFill/>
          </a:ln>
        </p:spPr>
        <p:txBody>
          <a:bodyPr wrap="square" anchor="ctr" lIns="0" tIns="0" rIns="0" bIns="0">
            <a:noAutofit/>
          </a:bodyPr>
          <a:lstStyle/>
          <a:p>
            <a:pPr algn="ctr">
              <a:lnSpc>
                <a:spcPct val="108000"/>
              </a:lnSpc>
              <a:buNone/>
            </a:pPr>
            <a:r>
              <a:rPr lang="en-US" sz="1100" b="1" i="0" dirty="0">
                <a:solidFill>
                  <a:srgbClr val="FFFFFF"/>
                </a:solidFill>
                <a:latin typeface="Arial"/>
                <a:ea typeface="Arial"/>
                <a:cs typeface="Arial"/>
              </a:rPr>
              <a:t>3</a:t>
            </a:r>
          </a:p>
        </p:txBody>
      </p:sp>
      <p:sp>
        <p:nvSpPr>
          <p:cNvPr id="215" name="Hook 3"/>
          <p:cNvSpPr/>
          <p:nvPr/>
        </p:nvSpPr>
        <p:spPr>
          <a:xfrm>
            <a:off x="960000" y="3222600"/>
            <a:ext cx="2450000" cy="545000"/>
          </a:xfrm>
          <a:prstGeom prst="rect">
            <a:avLst/>
          </a:prstGeom>
          <a:noFill/>
          <a:ln w="0">
            <a:noFill/>
          </a:ln>
        </p:spPr>
        <p:txBody>
          <a:bodyPr wrap="square" anchor="ctr" lIns="0" tIns="0" rIns="0" bIns="0">
            <a:noAutofit/>
          </a:bodyPr>
          <a:lstStyle/>
          <a:p>
            <a:pPr>
              <a:lnSpc>
                <a:spcPct val="108000"/>
              </a:lnSpc>
              <a:buNone/>
            </a:pPr>
            <a:r>
              <a:rPr lang="en-US" sz="1500" b="1" i="0" dirty="0">
                <a:solidFill>
                  <a:srgbClr val="070154"/>
                </a:solidFill>
                <a:latin typeface="Arial"/>
                <a:ea typeface="Arial"/>
                <a:cs typeface="Arial"/>
              </a:rPr>
              <a:t>Tested ≠ shipped</a:t>
            </a:r>
          </a:p>
        </p:txBody>
      </p:sp>
      <p:sp>
        <p:nvSpPr>
          <p:cNvPr id="216" name="Found 3"/>
          <p:cNvSpPr/>
          <p:nvPr/>
        </p:nvSpPr>
        <p:spPr>
          <a:xfrm>
            <a:off x="3500000" y="3222600"/>
            <a:ext cx="4300000" cy="545000"/>
          </a:xfrm>
          <a:prstGeom prst="rect">
            <a:avLst/>
          </a:prstGeom>
          <a:noFill/>
          <a:ln w="0">
            <a:noFill/>
          </a:ln>
        </p:spPr>
        <p:txBody>
          <a:bodyPr wrap="square" anchor="ctr" lIns="0" tIns="0" rIns="0" bIns="0">
            <a:noAutofit/>
          </a:bodyPr>
          <a:lstStyle/>
          <a:p>
            <a:pPr>
              <a:lnSpc>
                <a:spcPct val="108000"/>
              </a:lnSpc>
              <a:buNone/>
            </a:pPr>
            <a:r>
              <a:rPr lang="en-US" sz="950" b="0" i="0" dirty="0">
                <a:solidFill>
                  <a:srgbClr val="070154"/>
                </a:solidFill>
                <a:latin typeface="Arial"/>
                <a:ea typeface="Arial"/>
                <a:cs typeface="Arial"/>
              </a:rPr>
              <a:t>Code ships four days after dev done, pre-live is not production-like, and branches merge on release day.</a:t>
            </a:r>
          </a:p>
        </p:txBody>
      </p:sp>
      <p:sp>
        <p:nvSpPr>
          <p:cNvPr id="217" name="SoWhat 3"/>
          <p:cNvSpPr/>
          <p:nvPr/>
        </p:nvSpPr>
        <p:spPr>
          <a:xfrm>
            <a:off x="7950000" y="3282600"/>
            <a:ext cx="3700000" cy="425000"/>
          </a:xfrm>
          <a:prstGeom prst="rect">
            <a:avLst/>
          </a:prstGeom>
          <a:solidFill>
            <a:srgbClr val="FFFFFF"/>
          </a:solidFill>
          <a:ln w="0">
            <a:noFill/>
          </a:ln>
        </p:spPr>
        <p:txBody>
          <a:bodyPr wrap="square" anchor="ctr" lIns="70000" tIns="70000" rIns="70000" bIns="70000">
            <a:noAutofit/>
          </a:bodyPr>
          <a:lstStyle/>
          <a:p>
            <a:pPr>
              <a:lnSpc>
                <a:spcPct val="108000"/>
              </a:lnSpc>
              <a:buNone/>
            </a:pPr>
            <a:r>
              <a:rPr lang="en-US" sz="950" b="1" i="0" dirty="0">
                <a:solidFill>
                  <a:srgbClr val="0047FF"/>
                </a:solidFill>
                <a:latin typeface="Arial"/>
                <a:ea typeface="Arial"/>
                <a:cs typeface="Arial"/>
              </a:rPr>
              <a:t>Staging evidence may not match production. Add a hardening window, template environments, promote the tested build.</a:t>
            </a:r>
          </a:p>
        </p:txBody>
      </p:sp>
      <p:sp>
        <p:nvSpPr>
          <p:cNvPr id="218" name="Row 4"/>
          <p:cNvSpPr/>
          <p:nvPr/>
        </p:nvSpPr>
        <p:spPr>
          <a:xfrm>
            <a:off x="457200" y="3812600"/>
            <a:ext cx="11277600" cy="545000"/>
          </a:xfrm>
          <a:prstGeom prst="rect">
            <a:avLst/>
          </a:prstGeom>
          <a:solidFill>
            <a:srgbClr val="E8EEF8"/>
          </a:solidFill>
          <a:ln w="9525">
            <a:solidFill>
              <a:srgbClr val="CED7E6"/>
            </a:solidFill>
          </a:ln>
        </p:spPr>
        <p:txBody>
          <a:bodyPr wrap="square" anchor="t">
            <a:noAutofit/>
          </a:bodyPr>
          <a:lstStyle/>
          <a:p>
            <a:endParaRPr lang="en-US"/>
          </a:p>
        </p:txBody>
      </p:sp>
      <p:sp>
        <p:nvSpPr>
          <p:cNvPr id="219" name="Badge 4"/>
          <p:cNvSpPr/>
          <p:nvPr/>
        </p:nvSpPr>
        <p:spPr>
          <a:xfrm>
            <a:off x="560000" y="3934600"/>
            <a:ext cx="300000" cy="300000"/>
          </a:xfrm>
          <a:prstGeom prst="rect">
            <a:avLst/>
          </a:prstGeom>
          <a:solidFill>
            <a:srgbClr val="0047FF"/>
          </a:solidFill>
          <a:ln w="0">
            <a:noFill/>
          </a:ln>
        </p:spPr>
        <p:txBody>
          <a:bodyPr wrap="square" anchor="ctr" lIns="0" tIns="0" rIns="0" bIns="0">
            <a:noAutofit/>
          </a:bodyPr>
          <a:lstStyle/>
          <a:p>
            <a:pPr algn="ctr">
              <a:lnSpc>
                <a:spcPct val="108000"/>
              </a:lnSpc>
              <a:buNone/>
            </a:pPr>
            <a:r>
              <a:rPr lang="en-US" sz="1100" b="1" i="0" dirty="0">
                <a:solidFill>
                  <a:srgbClr val="FFFFFF"/>
                </a:solidFill>
                <a:latin typeface="Arial"/>
                <a:ea typeface="Arial"/>
                <a:cs typeface="Arial"/>
              </a:rPr>
              <a:t>4</a:t>
            </a:r>
          </a:p>
        </p:txBody>
      </p:sp>
      <p:sp>
        <p:nvSpPr>
          <p:cNvPr id="220" name="Hook 4"/>
          <p:cNvSpPr/>
          <p:nvPr/>
        </p:nvSpPr>
        <p:spPr>
          <a:xfrm>
            <a:off x="960000" y="3812600"/>
            <a:ext cx="2450000" cy="545000"/>
          </a:xfrm>
          <a:prstGeom prst="rect">
            <a:avLst/>
          </a:prstGeom>
          <a:noFill/>
          <a:ln w="0">
            <a:noFill/>
          </a:ln>
        </p:spPr>
        <p:txBody>
          <a:bodyPr wrap="square" anchor="ctr" lIns="0" tIns="0" rIns="0" bIns="0">
            <a:noAutofit/>
          </a:bodyPr>
          <a:lstStyle/>
          <a:p>
            <a:pPr>
              <a:lnSpc>
                <a:spcPct val="108000"/>
              </a:lnSpc>
              <a:buNone/>
            </a:pPr>
            <a:r>
              <a:rPr lang="en-US" sz="1500" b="1" i="0" dirty="0">
                <a:solidFill>
                  <a:srgbClr val="070154"/>
                </a:solidFill>
                <a:latin typeface="Arial"/>
                <a:ea typeface="Arial"/>
                <a:cs typeface="Arial"/>
              </a:rPr>
              <a:t>AI locked to few</a:t>
            </a:r>
          </a:p>
        </p:txBody>
      </p:sp>
      <p:sp>
        <p:nvSpPr>
          <p:cNvPr id="221" name="Found 4"/>
          <p:cNvSpPr/>
          <p:nvPr/>
        </p:nvSpPr>
        <p:spPr>
          <a:xfrm>
            <a:off x="3500000" y="3812600"/>
            <a:ext cx="4300000" cy="545000"/>
          </a:xfrm>
          <a:prstGeom prst="rect">
            <a:avLst/>
          </a:prstGeom>
          <a:noFill/>
          <a:ln w="0">
            <a:noFill/>
          </a:ln>
        </p:spPr>
        <p:txBody>
          <a:bodyPr wrap="square" anchor="ctr" lIns="0" tIns="0" rIns="0" bIns="0">
            <a:noAutofit/>
          </a:bodyPr>
          <a:lstStyle/>
          <a:p>
            <a:pPr>
              <a:lnSpc>
                <a:spcPct val="108000"/>
              </a:lnSpc>
              <a:buNone/>
            </a:pPr>
            <a:r>
              <a:rPr lang="en-US" sz="950" b="0" i="0" dirty="0">
                <a:solidFill>
                  <a:srgbClr val="070154"/>
                </a:solidFill>
                <a:latin typeface="Arial"/>
                <a:ea typeface="Arial"/>
                <a:cs typeface="Arial"/>
              </a:rPr>
              <a:t>Claude already cuts test-writing and diagnosis time, but only some full-time staff can use it. Contractors, most of QA, cannot.</a:t>
            </a:r>
          </a:p>
        </p:txBody>
      </p:sp>
      <p:sp>
        <p:nvSpPr>
          <p:cNvPr id="222" name="SoWhat 4"/>
          <p:cNvSpPr/>
          <p:nvPr/>
        </p:nvSpPr>
        <p:spPr>
          <a:xfrm>
            <a:off x="7950000" y="3872600"/>
            <a:ext cx="3700000" cy="425000"/>
          </a:xfrm>
          <a:prstGeom prst="rect">
            <a:avLst/>
          </a:prstGeom>
          <a:solidFill>
            <a:srgbClr val="FFFFFF"/>
          </a:solidFill>
          <a:ln w="0">
            <a:noFill/>
          </a:ln>
        </p:spPr>
        <p:txBody>
          <a:bodyPr wrap="square" anchor="ctr" lIns="70000" tIns="70000" rIns="70000" bIns="70000">
            <a:noAutofit/>
          </a:bodyPr>
          <a:lstStyle/>
          <a:p>
            <a:pPr>
              <a:lnSpc>
                <a:spcPct val="108000"/>
              </a:lnSpc>
              <a:buNone/>
            </a:pPr>
            <a:r>
              <a:rPr lang="en-US" sz="950" b="1" i="0" dirty="0">
                <a:solidFill>
                  <a:srgbClr val="0047FF"/>
                </a:solidFill>
                <a:latin typeface="Arial"/>
                <a:ea typeface="Arial"/>
                <a:cs typeface="Arial"/>
              </a:rPr>
              <a:t>AI gains stay with a few people. Extend sanctioned access, with the same guardrails, to everyone who builds.</a:t>
            </a:r>
          </a:p>
        </p:txBody>
      </p:sp>
      <p:sp>
        <p:nvSpPr>
          <p:cNvPr id="223" name="Row 5"/>
          <p:cNvSpPr/>
          <p:nvPr/>
        </p:nvSpPr>
        <p:spPr>
          <a:xfrm>
            <a:off x="457200" y="4402600"/>
            <a:ext cx="11277600" cy="545000"/>
          </a:xfrm>
          <a:prstGeom prst="rect">
            <a:avLst/>
          </a:prstGeom>
          <a:solidFill>
            <a:srgbClr val="E8EEF8"/>
          </a:solidFill>
          <a:ln w="9525">
            <a:solidFill>
              <a:srgbClr val="CED7E6"/>
            </a:solidFill>
          </a:ln>
        </p:spPr>
        <p:txBody>
          <a:bodyPr wrap="square" anchor="t">
            <a:noAutofit/>
          </a:bodyPr>
          <a:lstStyle/>
          <a:p>
            <a:endParaRPr lang="en-US"/>
          </a:p>
        </p:txBody>
      </p:sp>
      <p:sp>
        <p:nvSpPr>
          <p:cNvPr id="224" name="Badge 5"/>
          <p:cNvSpPr/>
          <p:nvPr/>
        </p:nvSpPr>
        <p:spPr>
          <a:xfrm>
            <a:off x="560000" y="4524600"/>
            <a:ext cx="300000" cy="300000"/>
          </a:xfrm>
          <a:prstGeom prst="rect">
            <a:avLst/>
          </a:prstGeom>
          <a:solidFill>
            <a:srgbClr val="0047FF"/>
          </a:solidFill>
          <a:ln w="0">
            <a:noFill/>
          </a:ln>
        </p:spPr>
        <p:txBody>
          <a:bodyPr wrap="square" anchor="ctr" lIns="0" tIns="0" rIns="0" bIns="0">
            <a:noAutofit/>
          </a:bodyPr>
          <a:lstStyle/>
          <a:p>
            <a:pPr algn="ctr">
              <a:lnSpc>
                <a:spcPct val="108000"/>
              </a:lnSpc>
              <a:buNone/>
            </a:pPr>
            <a:r>
              <a:rPr lang="en-US" sz="1100" b="1" i="0" dirty="0">
                <a:solidFill>
                  <a:srgbClr val="FFFFFF"/>
                </a:solidFill>
                <a:latin typeface="Arial"/>
                <a:ea typeface="Arial"/>
                <a:cs typeface="Arial"/>
              </a:rPr>
              <a:t>5</a:t>
            </a:r>
          </a:p>
        </p:txBody>
      </p:sp>
      <p:sp>
        <p:nvSpPr>
          <p:cNvPr id="225" name="Hook 5"/>
          <p:cNvSpPr/>
          <p:nvPr/>
        </p:nvSpPr>
        <p:spPr>
          <a:xfrm>
            <a:off x="960000" y="4402600"/>
            <a:ext cx="2450000" cy="545000"/>
          </a:xfrm>
          <a:prstGeom prst="rect">
            <a:avLst/>
          </a:prstGeom>
          <a:noFill/>
          <a:ln w="0">
            <a:noFill/>
          </a:ln>
        </p:spPr>
        <p:txBody>
          <a:bodyPr wrap="square" anchor="ctr" lIns="0" tIns="0" rIns="0" bIns="0">
            <a:noAutofit/>
          </a:bodyPr>
          <a:lstStyle/>
          <a:p>
            <a:pPr>
              <a:lnSpc>
                <a:spcPct val="108000"/>
              </a:lnSpc>
              <a:buNone/>
            </a:pPr>
            <a:r>
              <a:rPr lang="en-US" sz="1500" b="1" i="0" dirty="0">
                <a:solidFill>
                  <a:srgbClr val="070154"/>
                </a:solidFill>
                <a:latin typeface="Arial"/>
                <a:ea typeface="Arial"/>
                <a:cs typeface="Arial"/>
              </a:rPr>
              <a:t>Dates before design</a:t>
            </a:r>
          </a:p>
        </p:txBody>
      </p:sp>
      <p:sp>
        <p:nvSpPr>
          <p:cNvPr id="226" name="Found 5"/>
          <p:cNvSpPr/>
          <p:nvPr/>
        </p:nvSpPr>
        <p:spPr>
          <a:xfrm>
            <a:off x="3500000" y="4402600"/>
            <a:ext cx="4300000" cy="545000"/>
          </a:xfrm>
          <a:prstGeom prst="rect">
            <a:avLst/>
          </a:prstGeom>
          <a:noFill/>
          <a:ln w="0">
            <a:noFill/>
          </a:ln>
        </p:spPr>
        <p:txBody>
          <a:bodyPr wrap="square" anchor="ctr" lIns="0" tIns="0" rIns="0" bIns="0">
            <a:noAutofit/>
          </a:bodyPr>
          <a:lstStyle/>
          <a:p>
            <a:pPr>
              <a:lnSpc>
                <a:spcPct val="108000"/>
              </a:lnSpc>
              <a:buNone/>
            </a:pPr>
            <a:r>
              <a:rPr lang="en-US" sz="950" b="0" i="0" dirty="0">
                <a:solidFill>
                  <a:srgbClr val="070154"/>
                </a:solidFill>
                <a:latin typeface="Arial"/>
                <a:ea typeface="Arial"/>
                <a:cs typeface="Arial"/>
              </a:rPr>
              <a:t>The Rules Engine carries a year-end MVP estimate while its platform, team, and first epic are still undecided.</a:t>
            </a:r>
          </a:p>
        </p:txBody>
      </p:sp>
      <p:sp>
        <p:nvSpPr>
          <p:cNvPr id="227" name="SoWhat 5"/>
          <p:cNvSpPr/>
          <p:nvPr/>
        </p:nvSpPr>
        <p:spPr>
          <a:xfrm>
            <a:off x="7950000" y="4462600"/>
            <a:ext cx="3700000" cy="425000"/>
          </a:xfrm>
          <a:prstGeom prst="rect">
            <a:avLst/>
          </a:prstGeom>
          <a:solidFill>
            <a:srgbClr val="FFFFFF"/>
          </a:solidFill>
          <a:ln w="0">
            <a:noFill/>
          </a:ln>
        </p:spPr>
        <p:txBody>
          <a:bodyPr wrap="square" anchor="ctr" lIns="70000" tIns="70000" rIns="70000" bIns="70000">
            <a:noAutofit/>
          </a:bodyPr>
          <a:lstStyle/>
          <a:p>
            <a:pPr>
              <a:lnSpc>
                <a:spcPct val="108000"/>
              </a:lnSpc>
              <a:buNone/>
            </a:pPr>
            <a:r>
              <a:rPr lang="en-US" sz="950" b="1" i="0" dirty="0">
                <a:solidFill>
                  <a:srgbClr val="0047FF"/>
                </a:solidFill>
                <a:latin typeface="Arial"/>
                <a:ea typeface="Arial"/>
                <a:cs typeface="Arial"/>
              </a:rPr>
              <a:t>Predictability breaks at commitment. No customer date without an engineering estimate and a signed tech spec.</a:t>
            </a:r>
          </a:p>
        </p:txBody>
      </p:sp>
      <p:sp>
        <p:nvSpPr>
          <p:cNvPr id="228" name="Row 6"/>
          <p:cNvSpPr/>
          <p:nvPr/>
        </p:nvSpPr>
        <p:spPr>
          <a:xfrm>
            <a:off x="457200" y="4992600"/>
            <a:ext cx="11277600" cy="545000"/>
          </a:xfrm>
          <a:prstGeom prst="rect">
            <a:avLst/>
          </a:prstGeom>
          <a:solidFill>
            <a:srgbClr val="E8EEF8"/>
          </a:solidFill>
          <a:ln w="9525">
            <a:solidFill>
              <a:srgbClr val="CED7E6"/>
            </a:solidFill>
          </a:ln>
        </p:spPr>
        <p:txBody>
          <a:bodyPr wrap="square" anchor="t">
            <a:noAutofit/>
          </a:bodyPr>
          <a:lstStyle/>
          <a:p>
            <a:endParaRPr lang="en-US"/>
          </a:p>
        </p:txBody>
      </p:sp>
      <p:sp>
        <p:nvSpPr>
          <p:cNvPr id="229" name="Badge 6"/>
          <p:cNvSpPr/>
          <p:nvPr/>
        </p:nvSpPr>
        <p:spPr>
          <a:xfrm>
            <a:off x="560000" y="5114600"/>
            <a:ext cx="300000" cy="300000"/>
          </a:xfrm>
          <a:prstGeom prst="rect">
            <a:avLst/>
          </a:prstGeom>
          <a:solidFill>
            <a:srgbClr val="0047FF"/>
          </a:solidFill>
          <a:ln w="0">
            <a:noFill/>
          </a:ln>
        </p:spPr>
        <p:txBody>
          <a:bodyPr wrap="square" anchor="ctr" lIns="0" tIns="0" rIns="0" bIns="0">
            <a:noAutofit/>
          </a:bodyPr>
          <a:lstStyle/>
          <a:p>
            <a:pPr algn="ctr">
              <a:lnSpc>
                <a:spcPct val="108000"/>
              </a:lnSpc>
              <a:buNone/>
            </a:pPr>
            <a:r>
              <a:rPr lang="en-US" sz="1100" b="1" i="0" dirty="0">
                <a:solidFill>
                  <a:srgbClr val="FFFFFF"/>
                </a:solidFill>
                <a:latin typeface="Arial"/>
                <a:ea typeface="Arial"/>
                <a:cs typeface="Arial"/>
              </a:rPr>
              <a:t>6</a:t>
            </a:r>
          </a:p>
        </p:txBody>
      </p:sp>
      <p:sp>
        <p:nvSpPr>
          <p:cNvPr id="230" name="Hook 6"/>
          <p:cNvSpPr/>
          <p:nvPr/>
        </p:nvSpPr>
        <p:spPr>
          <a:xfrm>
            <a:off x="960000" y="4992600"/>
            <a:ext cx="2450000" cy="545000"/>
          </a:xfrm>
          <a:prstGeom prst="rect">
            <a:avLst/>
          </a:prstGeom>
          <a:noFill/>
          <a:ln w="0">
            <a:noFill/>
          </a:ln>
        </p:spPr>
        <p:txBody>
          <a:bodyPr wrap="square" anchor="ctr" lIns="0" tIns="0" rIns="0" bIns="0">
            <a:noAutofit/>
          </a:bodyPr>
          <a:lstStyle/>
          <a:p>
            <a:pPr>
              <a:lnSpc>
                <a:spcPct val="108000"/>
              </a:lnSpc>
              <a:buNone/>
            </a:pPr>
            <a:r>
              <a:rPr lang="en-US" sz="1500" b="1" i="0" dirty="0">
                <a:solidFill>
                  <a:srgbClr val="070154"/>
                </a:solidFill>
                <a:latin typeface="Arial"/>
                <a:ea typeface="Arial"/>
                <a:cs typeface="Arial"/>
              </a:rPr>
              <a:t>QA built, not staffed</a:t>
            </a:r>
          </a:p>
        </p:txBody>
      </p:sp>
      <p:sp>
        <p:nvSpPr>
          <p:cNvPr id="231" name="Found 6"/>
          <p:cNvSpPr/>
          <p:nvPr/>
        </p:nvSpPr>
        <p:spPr>
          <a:xfrm>
            <a:off x="3500000" y="4992600"/>
            <a:ext cx="4300000" cy="545000"/>
          </a:xfrm>
          <a:prstGeom prst="rect">
            <a:avLst/>
          </a:prstGeom>
          <a:noFill/>
          <a:ln w="0">
            <a:noFill/>
          </a:ln>
        </p:spPr>
        <p:txBody>
          <a:bodyPr wrap="square" anchor="ctr" lIns="0" tIns="0" rIns="0" bIns="0">
            <a:noAutofit/>
          </a:bodyPr>
          <a:lstStyle/>
          <a:p>
            <a:pPr>
              <a:lnSpc>
                <a:spcPct val="108000"/>
              </a:lnSpc>
              <a:buNone/>
            </a:pPr>
            <a:r>
              <a:rPr lang="en-US" sz="950" b="0" i="0" dirty="0">
                <a:solidFill>
                  <a:srgbClr val="070154"/>
                </a:solidFill>
                <a:latin typeface="Arial"/>
                <a:ea typeface="Arial"/>
                <a:cs typeface="Arial"/>
              </a:rPr>
              <a:t>In five months QA grew Core automation from 21 to 200+ tests and built Claude-based tools, with one leader over about 15 testers.</a:t>
            </a:r>
          </a:p>
        </p:txBody>
      </p:sp>
      <p:sp>
        <p:nvSpPr>
          <p:cNvPr id="232" name="SoWhat 6"/>
          <p:cNvSpPr/>
          <p:nvPr/>
        </p:nvSpPr>
        <p:spPr>
          <a:xfrm>
            <a:off x="7950000" y="5052600"/>
            <a:ext cx="3700000" cy="425000"/>
          </a:xfrm>
          <a:prstGeom prst="rect">
            <a:avLst/>
          </a:prstGeom>
          <a:solidFill>
            <a:srgbClr val="FFFFFF"/>
          </a:solidFill>
          <a:ln w="0">
            <a:noFill/>
          </a:ln>
        </p:spPr>
        <p:txBody>
          <a:bodyPr wrap="square" anchor="ctr" lIns="70000" tIns="70000" rIns="70000" bIns="70000">
            <a:noAutofit/>
          </a:bodyPr>
          <a:lstStyle/>
          <a:p>
            <a:pPr>
              <a:lnSpc>
                <a:spcPct val="108000"/>
              </a:lnSpc>
              <a:buNone/>
            </a:pPr>
            <a:r>
              <a:rPr lang="en-US" sz="950" b="1" i="0" dirty="0">
                <a:solidFill>
                  <a:srgbClr val="0047FF"/>
                </a:solidFill>
                <a:latin typeface="Arial"/>
                <a:ea typeface="Arial"/>
                <a:cs typeface="Arial"/>
              </a:rPr>
              <a:t>The foundation exists. It needs a production home for the tools, coverage of critical paths, and a QA lead.</a:t>
            </a:r>
          </a:p>
        </p:txBody>
      </p:sp>
      <p:sp>
        <p:nvSpPr>
          <p:cNvPr id="233" name="Source"/>
          <p:cNvSpPr/>
          <p:nvPr/>
        </p:nvSpPr>
        <p:spPr>
          <a:xfrm>
            <a:off x="457200" y="5640000"/>
            <a:ext cx="11277600" cy="260000"/>
          </a:xfrm>
          <a:prstGeom prst="rect">
            <a:avLst/>
          </a:prstGeom>
          <a:noFill/>
          <a:ln w="0">
            <a:noFill/>
          </a:ln>
        </p:spPr>
        <p:txBody>
          <a:bodyPr wrap="square" anchor="ctr" lIns="0" tIns="0" rIns="0" bIns="0">
            <a:noAutofit/>
          </a:bodyPr>
          <a:lstStyle/>
          <a:p>
            <a:pPr>
              <a:lnSpc>
                <a:spcPct val="108000"/>
              </a:lnSpc>
              <a:buNone/>
            </a:pPr>
            <a:r>
              <a:rPr lang="en-US" sz="800" b="0" i="0" dirty="0">
                <a:solidFill>
                  <a:srgbClr val="50658E"/>
                </a:solidFill>
                <a:latin typeface="Arial"/>
                <a:ea typeface="Arial"/>
                <a:cs typeface="Arial"/>
              </a:rPr>
              <a:t>Sources: DXC production release calendar (Jan 2024 – Sep 2026, Core applications); working sessions with engineering, release, and QA; engineering survey (n=44).</a:t>
            </a:r>
          </a:p>
        </p:txBody>
      </p:sp>
    </p:spTree>
    <p:extLst>
      <p:ext uri="{BB962C8B-B14F-4D97-AF65-F5344CB8AC3E}">
        <p14:creationId xmlns:p14="http://schemas.microsoft.com/office/powerpoint/2010/main" val="288705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Four engineering moves answer the findings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Each move has an action plan with owners, weeks, and a clear definition of done, and maps to a proposed workstream.</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MOVES</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sp>
        <p:nvSpPr>
          <p:cNvPr id="200" name="Card 0"/>
          <p:cNvSpPr/>
          <p:nvPr/>
        </p:nvSpPr>
        <p:spPr>
          <a:xfrm>
            <a:off x="457200" y="1752600"/>
            <a:ext cx="2700000" cy="33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201" name="Acc 0"/>
          <p:cNvSpPr/>
          <p:nvPr/>
        </p:nvSpPr>
        <p:spPr>
          <a:xfrm>
            <a:off x="457200" y="1752600"/>
            <a:ext cx="2700000" cy="63500"/>
          </a:xfrm>
          <a:prstGeom prst="rect">
            <a:avLst/>
          </a:prstGeom>
          <a:solidFill>
            <a:srgbClr val="00E8FA"/>
          </a:solidFill>
          <a:ln w="0">
            <a:noFill/>
          </a:ln>
        </p:spPr>
        <p:txBody>
          <a:bodyPr wrap="square" anchor="t">
            <a:noAutofit/>
          </a:bodyPr>
          <a:lstStyle/>
          <a:p>
            <a:endParaRPr lang="en-US"/>
          </a:p>
        </p:txBody>
      </p:sp>
      <p:sp>
        <p:nvSpPr>
          <p:cNvPr id="202" name="Lab 0"/>
          <p:cNvSpPr/>
          <p:nvPr/>
        </p:nvSpPr>
        <p:spPr>
          <a:xfrm>
            <a:off x="607200" y="1912600"/>
            <a:ext cx="2400000" cy="240000"/>
          </a:xfrm>
          <a:prstGeom prst="rect">
            <a:avLst/>
          </a:prstGeom>
          <a:noFill/>
          <a:ln w="0">
            <a:noFill/>
          </a:ln>
        </p:spPr>
        <p:txBody>
          <a:bodyPr wrap="square" anchor="t" lIns="0" tIns="0" rIns="0" bIns="0">
            <a:noAutofit/>
          </a:bodyPr>
          <a:lstStyle/>
          <a:p>
            <a:pPr>
              <a:lnSpc>
                <a:spcPct val="108000"/>
              </a:lnSpc>
              <a:buNone/>
            </a:pPr>
            <a:r>
              <a:rPr lang="en-US" sz="950" b="1" i="0" dirty="0">
                <a:solidFill>
                  <a:srgbClr val="0047FF"/>
                </a:solidFill>
                <a:latin typeface="Arial"/>
                <a:ea typeface="Arial"/>
                <a:cs typeface="Arial"/>
              </a:rPr>
              <a:t>STABILIZE CORE SDLC</a:t>
            </a:r>
          </a:p>
        </p:txBody>
      </p:sp>
      <p:sp>
        <p:nvSpPr>
          <p:cNvPr id="203" name="Goal 0"/>
          <p:cNvSpPr/>
          <p:nvPr/>
        </p:nvSpPr>
        <p:spPr>
          <a:xfrm>
            <a:off x="607200" y="2172600"/>
            <a:ext cx="2400000" cy="520000"/>
          </a:xfrm>
          <a:prstGeom prst="rect">
            <a:avLst/>
          </a:prstGeom>
          <a:noFill/>
          <a:ln w="0">
            <a:noFill/>
          </a:ln>
        </p:spPr>
        <p:txBody>
          <a:bodyPr wrap="square" anchor="t" lIns="0" tIns="0" rIns="0" bIns="0">
            <a:noAutofit/>
          </a:bodyPr>
          <a:lstStyle/>
          <a:p>
            <a:pPr>
              <a:lnSpc>
                <a:spcPct val="108000"/>
              </a:lnSpc>
              <a:buNone/>
            </a:pPr>
            <a:r>
              <a:rPr lang="en-US" sz="1250" b="1" i="0" dirty="0">
                <a:solidFill>
                  <a:srgbClr val="070154"/>
                </a:solidFill>
                <a:latin typeface="Arial"/>
                <a:ea typeface="Arial"/>
                <a:cs typeface="Arial"/>
              </a:rPr>
              <a:t>Every release planned, proven, and repeatable</a:t>
            </a:r>
          </a:p>
        </p:txBody>
      </p:sp>
      <p:sp>
        <p:nvSpPr>
          <p:cNvPr id="204" name="Hooks 0"/>
          <p:cNvSpPr/>
          <p:nvPr/>
        </p:nvSpPr>
        <p:spPr>
          <a:xfrm>
            <a:off x="607200" y="2752600"/>
            <a:ext cx="2400000" cy="1700000"/>
          </a:xfrm>
          <a:prstGeom prst="rect">
            <a:avLst/>
          </a:prstGeom>
          <a:noFill/>
          <a:ln w="0">
            <a:noFill/>
          </a:ln>
        </p:spPr>
        <p:txBody>
          <a:bodyPr wrap="square" anchor="t" lIns="0" tIns="0" rIns="0" bIns="0">
            <a:noAutofit/>
          </a:bodyPr>
          <a:lstStyle/>
          <a:p>
            <a:pPr>
              <a:lnSpc>
                <a:spcPct val="108000"/>
              </a:lnSpc>
              <a:buNone/>
            </a:pPr>
            <a:r>
              <a:rPr lang="en-US" sz="1100" b="1" i="0" dirty="0">
                <a:solidFill>
                  <a:srgbClr val="070154"/>
                </a:solidFill>
                <a:latin typeface="Arial"/>
                <a:ea typeface="Arial"/>
                <a:cs typeface="Arial"/>
              </a:rPr>
              <a:t>Hardening window</a:t>
            </a:r>
          </a:p>
          <a:p>
            <a:pPr>
              <a:lnSpc>
                <a:spcPct val="108000"/>
              </a:lnSpc>
              <a:spcAft>
                <a:spcPts val="800"/>
              </a:spcAft>
              <a:buNone/>
            </a:pPr>
            <a:r>
              <a:rPr lang="en-US" sz="900" b="0" i="0" dirty="0">
                <a:solidFill>
                  <a:srgbClr val="50658E"/>
                </a:solidFill>
                <a:latin typeface="Arial"/>
                <a:ea typeface="Arial"/>
                <a:cs typeface="Arial"/>
              </a:rPr>
              <a:t>release 9–10 days after dev done, not 4</a:t>
            </a:r>
          </a:p>
          <a:p>
            <a:pPr>
              <a:lnSpc>
                <a:spcPct val="108000"/>
              </a:lnSpc>
              <a:buNone/>
            </a:pPr>
            <a:r>
              <a:rPr lang="en-US" sz="1100" b="1" i="0" dirty="0">
                <a:solidFill>
                  <a:srgbClr val="070154"/>
                </a:solidFill>
                <a:latin typeface="Arial"/>
                <a:ea typeface="Arial"/>
                <a:cs typeface="Arial"/>
              </a:rPr>
              <a:t>Same-build promotion</a:t>
            </a:r>
          </a:p>
          <a:p>
            <a:pPr>
              <a:lnSpc>
                <a:spcPct val="108000"/>
              </a:lnSpc>
              <a:spcAft>
                <a:spcPts val="800"/>
              </a:spcAft>
              <a:buNone/>
            </a:pPr>
            <a:r>
              <a:rPr lang="en-US" sz="900" b="0" i="0" dirty="0">
                <a:solidFill>
                  <a:srgbClr val="50658E"/>
                </a:solidFill>
                <a:latin typeface="Arial"/>
                <a:ea typeface="Arial"/>
                <a:cs typeface="Arial"/>
              </a:rPr>
              <a:t>what passed pre-live is what ships</a:t>
            </a:r>
          </a:p>
          <a:p>
            <a:pPr>
              <a:lnSpc>
                <a:spcPct val="108000"/>
              </a:lnSpc>
              <a:buNone/>
            </a:pPr>
            <a:r>
              <a:rPr lang="en-US" sz="1100" b="1" i="0" dirty="0">
                <a:solidFill>
                  <a:srgbClr val="070154"/>
                </a:solidFill>
                <a:latin typeface="Arial"/>
                <a:ea typeface="Arial"/>
                <a:cs typeface="Arial"/>
              </a:rPr>
              <a:t>Hotfix lane + RCA</a:t>
            </a:r>
          </a:p>
          <a:p>
            <a:pPr>
              <a:lnSpc>
                <a:spcPct val="108000"/>
              </a:lnSpc>
              <a:spcAft>
                <a:spcPts val="800"/>
              </a:spcAft>
              <a:buNone/>
            </a:pPr>
            <a:r>
              <a:rPr lang="en-US" sz="900" b="0" i="0" dirty="0">
                <a:solidFill>
                  <a:srgbClr val="50658E"/>
                </a:solidFill>
                <a:latin typeface="Arial"/>
                <a:ea typeface="Arial"/>
                <a:cs typeface="Arial"/>
              </a:rPr>
              <a:t>every patch gets a root cause</a:t>
            </a:r>
          </a:p>
        </p:txBody>
      </p:sp>
      <p:sp>
        <p:nvSpPr>
          <p:cNvPr id="205" name="Fix 0"/>
          <p:cNvSpPr/>
          <p:nvPr/>
        </p:nvSpPr>
        <p:spPr>
          <a:xfrm>
            <a:off x="607200" y="4452600"/>
            <a:ext cx="2400000" cy="240000"/>
          </a:xfrm>
          <a:prstGeom prst="rect">
            <a:avLst/>
          </a:prstGeom>
          <a:noFill/>
          <a:ln w="0">
            <a:noFill/>
          </a:ln>
        </p:spPr>
        <p:txBody>
          <a:bodyPr wrap="square" anchor="t" lIns="0" tIns="0" rIns="0" bIns="0">
            <a:noAutofit/>
          </a:bodyPr>
          <a:lstStyle/>
          <a:p>
            <a:pPr>
              <a:lnSpc>
                <a:spcPct val="108000"/>
              </a:lnSpc>
              <a:buNone/>
            </a:pPr>
            <a:r>
              <a:rPr lang="en-US" sz="850" b="1" i="0" dirty="0">
                <a:solidFill>
                  <a:srgbClr val="F900D3"/>
                </a:solidFill>
                <a:latin typeface="Arial"/>
                <a:ea typeface="Arial"/>
                <a:cs typeface="Arial"/>
              </a:rPr>
              <a:t>Fixes findings 1, 2, 3</a:t>
            </a:r>
          </a:p>
        </p:txBody>
      </p:sp>
      <p:sp>
        <p:nvSpPr>
          <p:cNvPr id="206" name="WS 0"/>
          <p:cNvSpPr/>
          <p:nvPr/>
        </p:nvSpPr>
        <p:spPr>
          <a:xfrm>
            <a:off x="607200" y="4702600"/>
            <a:ext cx="2400000" cy="300000"/>
          </a:xfrm>
          <a:prstGeom prst="rect">
            <a:avLst/>
          </a:prstGeom>
          <a:noFill/>
          <a:ln w="0">
            <a:noFill/>
          </a:ln>
        </p:spPr>
        <p:txBody>
          <a:bodyPr wrap="square" anchor="t" lIns="0" tIns="0" rIns="0" bIns="0">
            <a:noAutofit/>
          </a:bodyPr>
          <a:lstStyle/>
          <a:p>
            <a:pPr>
              <a:lnSpc>
                <a:spcPct val="108000"/>
              </a:lnSpc>
              <a:buNone/>
            </a:pPr>
            <a:r>
              <a:rPr lang="en-US" sz="850" b="0" i="0" dirty="0">
                <a:solidFill>
                  <a:srgbClr val="50658E"/>
                </a:solidFill>
                <a:latin typeface="Arial"/>
                <a:ea typeface="Arial"/>
                <a:cs typeface="Arial"/>
              </a:rPr>
              <a:t>Both workstreams</a:t>
            </a:r>
          </a:p>
        </p:txBody>
      </p:sp>
      <p:sp>
        <p:nvSpPr>
          <p:cNvPr id="207" name="Card 1"/>
          <p:cNvSpPr/>
          <p:nvPr/>
        </p:nvSpPr>
        <p:spPr>
          <a:xfrm>
            <a:off x="3316400" y="1752600"/>
            <a:ext cx="2700000" cy="33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208" name="Acc 1"/>
          <p:cNvSpPr/>
          <p:nvPr/>
        </p:nvSpPr>
        <p:spPr>
          <a:xfrm>
            <a:off x="3316400" y="1752600"/>
            <a:ext cx="2700000" cy="63500"/>
          </a:xfrm>
          <a:prstGeom prst="rect">
            <a:avLst/>
          </a:prstGeom>
          <a:solidFill>
            <a:srgbClr val="F900D3"/>
          </a:solidFill>
          <a:ln w="0">
            <a:noFill/>
          </a:ln>
        </p:spPr>
        <p:txBody>
          <a:bodyPr wrap="square" anchor="t">
            <a:noAutofit/>
          </a:bodyPr>
          <a:lstStyle/>
          <a:p>
            <a:endParaRPr lang="en-US"/>
          </a:p>
        </p:txBody>
      </p:sp>
      <p:sp>
        <p:nvSpPr>
          <p:cNvPr id="209" name="Lab 1"/>
          <p:cNvSpPr/>
          <p:nvPr/>
        </p:nvSpPr>
        <p:spPr>
          <a:xfrm>
            <a:off x="3466400" y="1912600"/>
            <a:ext cx="2400000" cy="240000"/>
          </a:xfrm>
          <a:prstGeom prst="rect">
            <a:avLst/>
          </a:prstGeom>
          <a:noFill/>
          <a:ln w="0">
            <a:noFill/>
          </a:ln>
        </p:spPr>
        <p:txBody>
          <a:bodyPr wrap="square" anchor="t" lIns="0" tIns="0" rIns="0" bIns="0">
            <a:noAutofit/>
          </a:bodyPr>
          <a:lstStyle/>
          <a:p>
            <a:pPr>
              <a:lnSpc>
                <a:spcPct val="108000"/>
              </a:lnSpc>
              <a:buNone/>
            </a:pPr>
            <a:r>
              <a:rPr lang="en-US" sz="950" b="1" i="0" dirty="0">
                <a:solidFill>
                  <a:srgbClr val="0047FF"/>
                </a:solidFill>
                <a:latin typeface="Arial"/>
                <a:ea typeface="Arial"/>
                <a:cs typeface="Arial"/>
              </a:rPr>
              <a:t>AGILE WITH CLAUDE CODE</a:t>
            </a:r>
          </a:p>
        </p:txBody>
      </p:sp>
      <p:sp>
        <p:nvSpPr>
          <p:cNvPr id="210" name="Goal 1"/>
          <p:cNvSpPr/>
          <p:nvPr/>
        </p:nvSpPr>
        <p:spPr>
          <a:xfrm>
            <a:off x="3466400" y="2172600"/>
            <a:ext cx="2400000" cy="520000"/>
          </a:xfrm>
          <a:prstGeom prst="rect">
            <a:avLst/>
          </a:prstGeom>
          <a:noFill/>
          <a:ln w="0">
            <a:noFill/>
          </a:ln>
        </p:spPr>
        <p:txBody>
          <a:bodyPr wrap="square" anchor="t" lIns="0" tIns="0" rIns="0" bIns="0">
            <a:noAutofit/>
          </a:bodyPr>
          <a:lstStyle/>
          <a:p>
            <a:pPr>
              <a:lnSpc>
                <a:spcPct val="108000"/>
              </a:lnSpc>
              <a:buNone/>
            </a:pPr>
            <a:r>
              <a:rPr lang="en-US" sz="1250" b="1" i="0" dirty="0">
                <a:solidFill>
                  <a:srgbClr val="070154"/>
                </a:solidFill>
                <a:latin typeface="Arial"/>
                <a:ea typeface="Arial"/>
                <a:cs typeface="Arial"/>
              </a:rPr>
              <a:t>Same Core stack, faster and safer flow</a:t>
            </a:r>
          </a:p>
        </p:txBody>
      </p:sp>
      <p:sp>
        <p:nvSpPr>
          <p:cNvPr id="211" name="Hooks 1"/>
          <p:cNvSpPr/>
          <p:nvPr/>
        </p:nvSpPr>
        <p:spPr>
          <a:xfrm>
            <a:off x="3466400" y="2752600"/>
            <a:ext cx="2400000" cy="1700000"/>
          </a:xfrm>
          <a:prstGeom prst="rect">
            <a:avLst/>
          </a:prstGeom>
          <a:noFill/>
          <a:ln w="0">
            <a:noFill/>
          </a:ln>
        </p:spPr>
        <p:txBody>
          <a:bodyPr wrap="square" anchor="t" lIns="0" tIns="0" rIns="0" bIns="0">
            <a:noAutofit/>
          </a:bodyPr>
          <a:lstStyle/>
          <a:p>
            <a:pPr>
              <a:lnSpc>
                <a:spcPct val="108000"/>
              </a:lnSpc>
              <a:buNone/>
            </a:pPr>
            <a:r>
              <a:rPr lang="en-US" sz="1100" b="1" i="0" dirty="0">
                <a:solidFill>
                  <a:srgbClr val="070154"/>
                </a:solidFill>
                <a:latin typeface="Arial"/>
                <a:ea typeface="Arial"/>
                <a:cs typeface="Arial"/>
              </a:rPr>
              <a:t>Spec-first stories</a:t>
            </a:r>
          </a:p>
          <a:p>
            <a:pPr>
              <a:lnSpc>
                <a:spcPct val="108000"/>
              </a:lnSpc>
              <a:spcAft>
                <a:spcPts val="800"/>
              </a:spcAft>
              <a:buNone/>
            </a:pPr>
            <a:r>
              <a:rPr lang="en-US" sz="900" b="0" i="0" dirty="0">
                <a:solidFill>
                  <a:srgbClr val="50658E"/>
                </a:solidFill>
                <a:latin typeface="Arial"/>
                <a:ea typeface="Arial"/>
                <a:cs typeface="Arial"/>
              </a:rPr>
              <a:t>Ready means tests and tech notes first</a:t>
            </a:r>
          </a:p>
          <a:p>
            <a:pPr>
              <a:lnSpc>
                <a:spcPct val="108000"/>
              </a:lnSpc>
              <a:buNone/>
            </a:pPr>
            <a:r>
              <a:rPr lang="en-US" sz="1100" b="1" i="0" dirty="0">
                <a:solidFill>
                  <a:srgbClr val="070154"/>
                </a:solidFill>
                <a:latin typeface="Arial"/>
                <a:ea typeface="Arial"/>
                <a:cs typeface="Arial"/>
              </a:rPr>
              <a:t>Claude Code pairing</a:t>
            </a:r>
          </a:p>
          <a:p>
            <a:pPr>
              <a:lnSpc>
                <a:spcPct val="108000"/>
              </a:lnSpc>
              <a:spcAft>
                <a:spcPts val="800"/>
              </a:spcAft>
              <a:buNone/>
            </a:pPr>
            <a:r>
              <a:rPr lang="en-US" sz="900" b="0" i="0" dirty="0">
                <a:solidFill>
                  <a:srgbClr val="50658E"/>
                </a:solidFill>
                <a:latin typeface="Arial"/>
                <a:ea typeface="Arial"/>
                <a:cs typeface="Arial"/>
              </a:rPr>
              <a:t>code, unit tests, and docs, human-reviewed</a:t>
            </a:r>
          </a:p>
          <a:p>
            <a:pPr>
              <a:lnSpc>
                <a:spcPct val="108000"/>
              </a:lnSpc>
              <a:buNone/>
            </a:pPr>
            <a:r>
              <a:rPr lang="en-US" sz="1100" b="1" i="0" dirty="0">
                <a:solidFill>
                  <a:srgbClr val="070154"/>
                </a:solidFill>
                <a:latin typeface="Arial"/>
                <a:ea typeface="Arial"/>
                <a:cs typeface="Arial"/>
              </a:rPr>
              <a:t>PR gate in the pipeline</a:t>
            </a:r>
          </a:p>
          <a:p>
            <a:pPr>
              <a:lnSpc>
                <a:spcPct val="108000"/>
              </a:lnSpc>
              <a:spcAft>
                <a:spcPts val="800"/>
              </a:spcAft>
              <a:buNone/>
            </a:pPr>
            <a:r>
              <a:rPr lang="en-US" sz="900" b="0" i="0" dirty="0">
                <a:solidFill>
                  <a:srgbClr val="50658E"/>
                </a:solidFill>
                <a:latin typeface="Arial"/>
                <a:ea typeface="Arial"/>
                <a:cs typeface="Arial"/>
              </a:rPr>
              <a:t>Claude pre-review plus a second reviewer</a:t>
            </a:r>
          </a:p>
        </p:txBody>
      </p:sp>
      <p:sp>
        <p:nvSpPr>
          <p:cNvPr id="212" name="Fix 1"/>
          <p:cNvSpPr/>
          <p:nvPr/>
        </p:nvSpPr>
        <p:spPr>
          <a:xfrm>
            <a:off x="3466400" y="4452600"/>
            <a:ext cx="2400000" cy="240000"/>
          </a:xfrm>
          <a:prstGeom prst="rect">
            <a:avLst/>
          </a:prstGeom>
          <a:noFill/>
          <a:ln w="0">
            <a:noFill/>
          </a:ln>
        </p:spPr>
        <p:txBody>
          <a:bodyPr wrap="square" anchor="t" lIns="0" tIns="0" rIns="0" bIns="0">
            <a:noAutofit/>
          </a:bodyPr>
          <a:lstStyle/>
          <a:p>
            <a:pPr>
              <a:lnSpc>
                <a:spcPct val="108000"/>
              </a:lnSpc>
              <a:buNone/>
            </a:pPr>
            <a:r>
              <a:rPr lang="en-US" sz="850" b="1" i="0" dirty="0">
                <a:solidFill>
                  <a:srgbClr val="F900D3"/>
                </a:solidFill>
                <a:latin typeface="Arial"/>
                <a:ea typeface="Arial"/>
                <a:cs typeface="Arial"/>
              </a:rPr>
              <a:t>Fixes findings 4, 5</a:t>
            </a:r>
          </a:p>
        </p:txBody>
      </p:sp>
      <p:sp>
        <p:nvSpPr>
          <p:cNvPr id="213" name="WS 1"/>
          <p:cNvSpPr/>
          <p:nvPr/>
        </p:nvSpPr>
        <p:spPr>
          <a:xfrm>
            <a:off x="3466400" y="4702600"/>
            <a:ext cx="2400000" cy="300000"/>
          </a:xfrm>
          <a:prstGeom prst="rect">
            <a:avLst/>
          </a:prstGeom>
          <a:noFill/>
          <a:ln w="0">
            <a:noFill/>
          </a:ln>
        </p:spPr>
        <p:txBody>
          <a:bodyPr wrap="square" anchor="t" lIns="0" tIns="0" rIns="0" bIns="0">
            <a:noAutofit/>
          </a:bodyPr>
          <a:lstStyle/>
          <a:p>
            <a:pPr>
              <a:lnSpc>
                <a:spcPct val="108000"/>
              </a:lnSpc>
              <a:buNone/>
            </a:pPr>
            <a:r>
              <a:rPr lang="en-US" sz="850" b="0" i="0" dirty="0">
                <a:solidFill>
                  <a:srgbClr val="50658E"/>
                </a:solidFill>
                <a:latin typeface="Arial"/>
                <a:ea typeface="Arial"/>
                <a:cs typeface="Arial"/>
              </a:rPr>
              <a:t>Reconcile AI engineering across Core</a:t>
            </a:r>
          </a:p>
        </p:txBody>
      </p:sp>
      <p:sp>
        <p:nvSpPr>
          <p:cNvPr id="214" name="Card 2"/>
          <p:cNvSpPr/>
          <p:nvPr/>
        </p:nvSpPr>
        <p:spPr>
          <a:xfrm>
            <a:off x="6175600" y="1752600"/>
            <a:ext cx="2700000" cy="33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215" name="Acc 2"/>
          <p:cNvSpPr/>
          <p:nvPr/>
        </p:nvSpPr>
        <p:spPr>
          <a:xfrm>
            <a:off x="6175600" y="1752600"/>
            <a:ext cx="2700000" cy="63500"/>
          </a:xfrm>
          <a:prstGeom prst="rect">
            <a:avLst/>
          </a:prstGeom>
          <a:solidFill>
            <a:srgbClr val="00A3FF"/>
          </a:solidFill>
          <a:ln w="0">
            <a:noFill/>
          </a:ln>
        </p:spPr>
        <p:txBody>
          <a:bodyPr wrap="square" anchor="t">
            <a:noAutofit/>
          </a:bodyPr>
          <a:lstStyle/>
          <a:p>
            <a:endParaRPr lang="en-US"/>
          </a:p>
        </p:txBody>
      </p:sp>
      <p:sp>
        <p:nvSpPr>
          <p:cNvPr id="216" name="Lab 2"/>
          <p:cNvSpPr/>
          <p:nvPr/>
        </p:nvSpPr>
        <p:spPr>
          <a:xfrm>
            <a:off x="6325600" y="1912600"/>
            <a:ext cx="2400000" cy="240000"/>
          </a:xfrm>
          <a:prstGeom prst="rect">
            <a:avLst/>
          </a:prstGeom>
          <a:noFill/>
          <a:ln w="0">
            <a:noFill/>
          </a:ln>
        </p:spPr>
        <p:txBody>
          <a:bodyPr wrap="square" anchor="t" lIns="0" tIns="0" rIns="0" bIns="0">
            <a:noAutofit/>
          </a:bodyPr>
          <a:lstStyle/>
          <a:p>
            <a:pPr>
              <a:lnSpc>
                <a:spcPct val="108000"/>
              </a:lnSpc>
              <a:buNone/>
            </a:pPr>
            <a:r>
              <a:rPr lang="en-US" sz="950" b="1" i="0" dirty="0">
                <a:solidFill>
                  <a:srgbClr val="0047FF"/>
                </a:solidFill>
                <a:latin typeface="Arial"/>
                <a:ea typeface="Arial"/>
                <a:cs typeface="Arial"/>
              </a:rPr>
              <a:t>ROBUST QA</a:t>
            </a:r>
          </a:p>
        </p:txBody>
      </p:sp>
      <p:sp>
        <p:nvSpPr>
          <p:cNvPr id="217" name="Goal 2"/>
          <p:cNvSpPr/>
          <p:nvPr/>
        </p:nvSpPr>
        <p:spPr>
          <a:xfrm>
            <a:off x="6325600" y="2172600"/>
            <a:ext cx="2400000" cy="520000"/>
          </a:xfrm>
          <a:prstGeom prst="rect">
            <a:avLst/>
          </a:prstGeom>
          <a:noFill/>
          <a:ln w="0">
            <a:noFill/>
          </a:ln>
        </p:spPr>
        <p:txBody>
          <a:bodyPr wrap="square" anchor="t" lIns="0" tIns="0" rIns="0" bIns="0">
            <a:noAutofit/>
          </a:bodyPr>
          <a:lstStyle/>
          <a:p>
            <a:pPr>
              <a:lnSpc>
                <a:spcPct val="108000"/>
              </a:lnSpc>
              <a:buNone/>
            </a:pPr>
            <a:r>
              <a:rPr lang="en-US" sz="1250" b="1" i="0" dirty="0">
                <a:solidFill>
                  <a:srgbClr val="070154"/>
                </a:solidFill>
                <a:latin typeface="Arial"/>
                <a:ea typeface="Arial"/>
                <a:cs typeface="Arial"/>
              </a:rPr>
              <a:t>Scale what QA already built</a:t>
            </a:r>
          </a:p>
        </p:txBody>
      </p:sp>
      <p:sp>
        <p:nvSpPr>
          <p:cNvPr id="218" name="Hooks 2"/>
          <p:cNvSpPr/>
          <p:nvPr/>
        </p:nvSpPr>
        <p:spPr>
          <a:xfrm>
            <a:off x="6325600" y="2752600"/>
            <a:ext cx="2400000" cy="1700000"/>
          </a:xfrm>
          <a:prstGeom prst="rect">
            <a:avLst/>
          </a:prstGeom>
          <a:noFill/>
          <a:ln w="0">
            <a:noFill/>
          </a:ln>
        </p:spPr>
        <p:txBody>
          <a:bodyPr wrap="square" anchor="t" lIns="0" tIns="0" rIns="0" bIns="0">
            <a:noAutofit/>
          </a:bodyPr>
          <a:lstStyle/>
          <a:p>
            <a:pPr>
              <a:lnSpc>
                <a:spcPct val="108000"/>
              </a:lnSpc>
              <a:buNone/>
            </a:pPr>
            <a:r>
              <a:rPr lang="en-US" sz="1100" b="1" i="0" dirty="0">
                <a:solidFill>
                  <a:srgbClr val="070154"/>
                </a:solidFill>
                <a:latin typeface="Arial"/>
                <a:ea typeface="Arial"/>
                <a:cs typeface="Arial"/>
              </a:rPr>
              <a:t>Critical paths automated</a:t>
            </a:r>
          </a:p>
          <a:p>
            <a:pPr>
              <a:lnSpc>
                <a:spcPct val="108000"/>
              </a:lnSpc>
              <a:spcAft>
                <a:spcPts val="800"/>
              </a:spcAft>
              <a:buNone/>
            </a:pPr>
            <a:r>
              <a:rPr lang="en-US" sz="900" b="0" i="0" dirty="0">
                <a:solidFill>
                  <a:srgbClr val="50658E"/>
                </a:solidFill>
                <a:latin typeface="Arial"/>
                <a:ea typeface="Arial"/>
                <a:cs typeface="Arial"/>
              </a:rPr>
              <a:t>from 10–15% today, paths already defined</a:t>
            </a:r>
          </a:p>
          <a:p>
            <a:pPr>
              <a:lnSpc>
                <a:spcPct val="108000"/>
              </a:lnSpc>
              <a:buNone/>
            </a:pPr>
            <a:r>
              <a:rPr lang="en-US" sz="1100" b="1" i="0" dirty="0">
                <a:solidFill>
                  <a:srgbClr val="070154"/>
                </a:solidFill>
                <a:latin typeface="Arial"/>
                <a:ea typeface="Arial"/>
                <a:cs typeface="Arial"/>
              </a:rPr>
              <a:t>QA tools in production</a:t>
            </a:r>
          </a:p>
          <a:p>
            <a:pPr>
              <a:lnSpc>
                <a:spcPct val="108000"/>
              </a:lnSpc>
              <a:spcAft>
                <a:spcPts val="800"/>
              </a:spcAft>
              <a:buNone/>
            </a:pPr>
            <a:r>
              <a:rPr lang="en-US" sz="900" b="0" i="0" dirty="0">
                <a:solidFill>
                  <a:srgbClr val="50658E"/>
                </a:solidFill>
                <a:latin typeface="Arial"/>
                <a:ea typeface="Arial"/>
                <a:cs typeface="Arial"/>
              </a:rPr>
              <a:t>agents, PR bot, and test generator</a:t>
            </a:r>
          </a:p>
          <a:p>
            <a:pPr>
              <a:lnSpc>
                <a:spcPct val="108000"/>
              </a:lnSpc>
              <a:buNone/>
            </a:pPr>
            <a:r>
              <a:rPr lang="en-US" sz="1100" b="1" i="0" dirty="0">
                <a:solidFill>
                  <a:srgbClr val="070154"/>
                </a:solidFill>
                <a:latin typeface="Arial"/>
                <a:ea typeface="Arial"/>
                <a:cs typeface="Arial"/>
              </a:rPr>
              <a:t>A QA lead</a:t>
            </a:r>
          </a:p>
          <a:p>
            <a:pPr>
              <a:lnSpc>
                <a:spcPct val="108000"/>
              </a:lnSpc>
              <a:spcAft>
                <a:spcPts val="800"/>
              </a:spcAft>
              <a:buNone/>
            </a:pPr>
            <a:r>
              <a:rPr lang="en-US" sz="900" b="0" i="0" dirty="0">
                <a:solidFill>
                  <a:srgbClr val="50658E"/>
                </a:solidFill>
                <a:latin typeface="Arial"/>
                <a:ea typeface="Arial"/>
                <a:cs typeface="Arial"/>
              </a:rPr>
              <a:t>plus Claude for every tester</a:t>
            </a:r>
          </a:p>
        </p:txBody>
      </p:sp>
      <p:sp>
        <p:nvSpPr>
          <p:cNvPr id="219" name="Fix 2"/>
          <p:cNvSpPr/>
          <p:nvPr/>
        </p:nvSpPr>
        <p:spPr>
          <a:xfrm>
            <a:off x="6325600" y="4452600"/>
            <a:ext cx="2400000" cy="240000"/>
          </a:xfrm>
          <a:prstGeom prst="rect">
            <a:avLst/>
          </a:prstGeom>
          <a:noFill/>
          <a:ln w="0">
            <a:noFill/>
          </a:ln>
        </p:spPr>
        <p:txBody>
          <a:bodyPr wrap="square" anchor="t" lIns="0" tIns="0" rIns="0" bIns="0">
            <a:noAutofit/>
          </a:bodyPr>
          <a:lstStyle/>
          <a:p>
            <a:pPr>
              <a:lnSpc>
                <a:spcPct val="108000"/>
              </a:lnSpc>
              <a:buNone/>
            </a:pPr>
            <a:r>
              <a:rPr lang="en-US" sz="850" b="1" i="0" dirty="0">
                <a:solidFill>
                  <a:srgbClr val="F900D3"/>
                </a:solidFill>
                <a:latin typeface="Arial"/>
                <a:ea typeface="Arial"/>
                <a:cs typeface="Arial"/>
              </a:rPr>
              <a:t>Fixes findings 3, 4, 6</a:t>
            </a:r>
          </a:p>
        </p:txBody>
      </p:sp>
      <p:sp>
        <p:nvSpPr>
          <p:cNvPr id="220" name="WS 2"/>
          <p:cNvSpPr/>
          <p:nvPr/>
        </p:nvSpPr>
        <p:spPr>
          <a:xfrm>
            <a:off x="6325600" y="4702600"/>
            <a:ext cx="2400000" cy="300000"/>
          </a:xfrm>
          <a:prstGeom prst="rect">
            <a:avLst/>
          </a:prstGeom>
          <a:noFill/>
          <a:ln w="0">
            <a:noFill/>
          </a:ln>
        </p:spPr>
        <p:txBody>
          <a:bodyPr wrap="square" anchor="t" lIns="0" tIns="0" rIns="0" bIns="0">
            <a:noAutofit/>
          </a:bodyPr>
          <a:lstStyle/>
          <a:p>
            <a:pPr>
              <a:lnSpc>
                <a:spcPct val="108000"/>
              </a:lnSpc>
              <a:buNone/>
            </a:pPr>
            <a:r>
              <a:rPr lang="en-US" sz="850" b="0" i="0" dirty="0">
                <a:solidFill>
                  <a:srgbClr val="50658E"/>
                </a:solidFill>
                <a:latin typeface="Arial"/>
                <a:ea typeface="Arial"/>
                <a:cs typeface="Arial"/>
              </a:rPr>
              <a:t>Testing &amp; release controls</a:t>
            </a:r>
          </a:p>
        </p:txBody>
      </p:sp>
      <p:sp>
        <p:nvSpPr>
          <p:cNvPr id="221" name="Card 3"/>
          <p:cNvSpPr/>
          <p:nvPr/>
        </p:nvSpPr>
        <p:spPr>
          <a:xfrm>
            <a:off x="9034800" y="1752600"/>
            <a:ext cx="2700000" cy="3330000"/>
          </a:xfrm>
          <a:prstGeom prst="rect">
            <a:avLst/>
          </a:prstGeom>
          <a:solidFill>
            <a:srgbClr val="E8EEF8"/>
          </a:solidFill>
          <a:ln w="9525">
            <a:solidFill>
              <a:srgbClr val="CED7E6"/>
            </a:solidFill>
          </a:ln>
          <a:effectLst>
            <a:outerShdw blurRad="63500" dist="25400" dir="5400000" rotWithShape="0">
              <a:srgbClr val="070154">
                <a:alpha val="38000"/>
              </a:srgbClr>
            </a:outerShdw>
          </a:effectLst>
        </p:spPr>
        <p:txBody>
          <a:bodyPr wrap="square" anchor="t">
            <a:noAutofit/>
          </a:bodyPr>
          <a:lstStyle/>
          <a:p>
            <a:endParaRPr lang="en-US"/>
          </a:p>
        </p:txBody>
      </p:sp>
      <p:sp>
        <p:nvSpPr>
          <p:cNvPr id="222" name="Acc 3"/>
          <p:cNvSpPr/>
          <p:nvPr/>
        </p:nvSpPr>
        <p:spPr>
          <a:xfrm>
            <a:off x="9034800" y="1752600"/>
            <a:ext cx="2700000" cy="63500"/>
          </a:xfrm>
          <a:prstGeom prst="rect">
            <a:avLst/>
          </a:prstGeom>
          <a:solidFill>
            <a:srgbClr val="070154"/>
          </a:solidFill>
          <a:ln w="0">
            <a:noFill/>
          </a:ln>
        </p:spPr>
        <p:txBody>
          <a:bodyPr wrap="square" anchor="t">
            <a:noAutofit/>
          </a:bodyPr>
          <a:lstStyle/>
          <a:p>
            <a:endParaRPr lang="en-US"/>
          </a:p>
        </p:txBody>
      </p:sp>
      <p:sp>
        <p:nvSpPr>
          <p:cNvPr id="223" name="Lab 3"/>
          <p:cNvSpPr/>
          <p:nvPr/>
        </p:nvSpPr>
        <p:spPr>
          <a:xfrm>
            <a:off x="9184800" y="1912600"/>
            <a:ext cx="2400000" cy="240000"/>
          </a:xfrm>
          <a:prstGeom prst="rect">
            <a:avLst/>
          </a:prstGeom>
          <a:noFill/>
          <a:ln w="0">
            <a:noFill/>
          </a:ln>
        </p:spPr>
        <p:txBody>
          <a:bodyPr wrap="square" anchor="t" lIns="0" tIns="0" rIns="0" bIns="0">
            <a:noAutofit/>
          </a:bodyPr>
          <a:lstStyle/>
          <a:p>
            <a:pPr>
              <a:lnSpc>
                <a:spcPct val="108000"/>
              </a:lnSpc>
              <a:buNone/>
            </a:pPr>
            <a:r>
              <a:rPr lang="en-US" sz="950" b="1" i="0" dirty="0">
                <a:solidFill>
                  <a:srgbClr val="0047FF"/>
                </a:solidFill>
                <a:latin typeface="Arial"/>
                <a:ea typeface="Arial"/>
                <a:cs typeface="Arial"/>
              </a:rPr>
              <a:t>MEASURE WHAT MATTERS</a:t>
            </a:r>
          </a:p>
        </p:txBody>
      </p:sp>
      <p:sp>
        <p:nvSpPr>
          <p:cNvPr id="224" name="Goal 3"/>
          <p:cNvSpPr/>
          <p:nvPr/>
        </p:nvSpPr>
        <p:spPr>
          <a:xfrm>
            <a:off x="9184800" y="2172600"/>
            <a:ext cx="2400000" cy="520000"/>
          </a:xfrm>
          <a:prstGeom prst="rect">
            <a:avLst/>
          </a:prstGeom>
          <a:noFill/>
          <a:ln w="0">
            <a:noFill/>
          </a:ln>
        </p:spPr>
        <p:txBody>
          <a:bodyPr wrap="square" anchor="t" lIns="0" tIns="0" rIns="0" bIns="0">
            <a:noAutofit/>
          </a:bodyPr>
          <a:lstStyle/>
          <a:p>
            <a:pPr>
              <a:lnSpc>
                <a:spcPct val="108000"/>
              </a:lnSpc>
              <a:buNone/>
            </a:pPr>
            <a:r>
              <a:rPr lang="en-US" sz="1250" b="1" i="0" dirty="0">
                <a:solidFill>
                  <a:srgbClr val="070154"/>
                </a:solidFill>
                <a:latin typeface="Arial"/>
                <a:ea typeface="Arial"/>
                <a:cs typeface="Arial"/>
              </a:rPr>
              <a:t>Numbers leadership can steer by</a:t>
            </a:r>
          </a:p>
        </p:txBody>
      </p:sp>
      <p:sp>
        <p:nvSpPr>
          <p:cNvPr id="225" name="Hooks 3"/>
          <p:cNvSpPr/>
          <p:nvPr/>
        </p:nvSpPr>
        <p:spPr>
          <a:xfrm>
            <a:off x="9184800" y="2752600"/>
            <a:ext cx="2400000" cy="1700000"/>
          </a:xfrm>
          <a:prstGeom prst="rect">
            <a:avLst/>
          </a:prstGeom>
          <a:noFill/>
          <a:ln w="0">
            <a:noFill/>
          </a:ln>
        </p:spPr>
        <p:txBody>
          <a:bodyPr wrap="square" anchor="t" lIns="0" tIns="0" rIns="0" bIns="0">
            <a:noAutofit/>
          </a:bodyPr>
          <a:lstStyle/>
          <a:p>
            <a:pPr>
              <a:lnSpc>
                <a:spcPct val="108000"/>
              </a:lnSpc>
              <a:buNone/>
            </a:pPr>
            <a:r>
              <a:rPr lang="en-US" sz="1100" b="1" i="0" dirty="0">
                <a:solidFill>
                  <a:srgbClr val="070154"/>
                </a:solidFill>
                <a:latin typeface="Arial"/>
                <a:ea typeface="Arial"/>
                <a:cs typeface="Arial"/>
              </a:rPr>
              <a:t>Four delivery numbers</a:t>
            </a:r>
          </a:p>
          <a:p>
            <a:pPr>
              <a:lnSpc>
                <a:spcPct val="108000"/>
              </a:lnSpc>
              <a:spcAft>
                <a:spcPts val="800"/>
              </a:spcAft>
              <a:buNone/>
            </a:pPr>
            <a:r>
              <a:rPr lang="en-US" sz="900" b="0" i="0" dirty="0">
                <a:solidFill>
                  <a:srgbClr val="50658E"/>
                </a:solidFill>
                <a:latin typeface="Arial"/>
                <a:ea typeface="Arial"/>
                <a:cs typeface="Arial"/>
              </a:rPr>
              <a:t>frequency, lead time, failure rate, restore</a:t>
            </a:r>
          </a:p>
          <a:p>
            <a:pPr>
              <a:lnSpc>
                <a:spcPct val="108000"/>
              </a:lnSpc>
              <a:buNone/>
            </a:pPr>
            <a:r>
              <a:rPr lang="en-US" sz="1100" b="1" i="0" dirty="0">
                <a:solidFill>
                  <a:srgbClr val="070154"/>
                </a:solidFill>
                <a:latin typeface="Arial"/>
                <a:ea typeface="Arial"/>
                <a:cs typeface="Arial"/>
              </a:rPr>
              <a:t>Flow by stage</a:t>
            </a:r>
          </a:p>
          <a:p>
            <a:pPr>
              <a:lnSpc>
                <a:spcPct val="108000"/>
              </a:lnSpc>
              <a:spcAft>
                <a:spcPts val="800"/>
              </a:spcAft>
              <a:buNone/>
            </a:pPr>
            <a:r>
              <a:rPr lang="en-US" sz="900" b="0" i="0" dirty="0">
                <a:solidFill>
                  <a:srgbClr val="50658E"/>
                </a:solidFill>
                <a:latin typeface="Arial"/>
                <a:ea typeface="Arial"/>
                <a:cs typeface="Arial"/>
              </a:rPr>
              <a:t>where work waits, sprint by sprint</a:t>
            </a:r>
          </a:p>
          <a:p>
            <a:pPr>
              <a:lnSpc>
                <a:spcPct val="108000"/>
              </a:lnSpc>
              <a:buNone/>
            </a:pPr>
            <a:r>
              <a:rPr lang="en-US" sz="1100" b="1" i="0" dirty="0">
                <a:solidFill>
                  <a:srgbClr val="070154"/>
                </a:solidFill>
                <a:latin typeface="Arial"/>
                <a:ea typeface="Arial"/>
                <a:cs typeface="Arial"/>
              </a:rPr>
              <a:t>AI cost per run</a:t>
            </a:r>
          </a:p>
          <a:p>
            <a:pPr>
              <a:lnSpc>
                <a:spcPct val="108000"/>
              </a:lnSpc>
              <a:spcAft>
                <a:spcPts val="800"/>
              </a:spcAft>
              <a:buNone/>
            </a:pPr>
            <a:r>
              <a:rPr lang="en-US" sz="900" b="0" i="0" dirty="0">
                <a:solidFill>
                  <a:srgbClr val="50658E"/>
                </a:solidFill>
                <a:latin typeface="Arial"/>
                <a:ea typeface="Arial"/>
                <a:cs typeface="Arial"/>
              </a:rPr>
              <a:t>QA already tracks it; extend to all tools</a:t>
            </a:r>
          </a:p>
        </p:txBody>
      </p:sp>
      <p:sp>
        <p:nvSpPr>
          <p:cNvPr id="226" name="Fix 3"/>
          <p:cNvSpPr/>
          <p:nvPr/>
        </p:nvSpPr>
        <p:spPr>
          <a:xfrm>
            <a:off x="9184800" y="4452600"/>
            <a:ext cx="2400000" cy="240000"/>
          </a:xfrm>
          <a:prstGeom prst="rect">
            <a:avLst/>
          </a:prstGeom>
          <a:noFill/>
          <a:ln w="0">
            <a:noFill/>
          </a:ln>
        </p:spPr>
        <p:txBody>
          <a:bodyPr wrap="square" anchor="t" lIns="0" tIns="0" rIns="0" bIns="0">
            <a:noAutofit/>
          </a:bodyPr>
          <a:lstStyle/>
          <a:p>
            <a:pPr>
              <a:lnSpc>
                <a:spcPct val="108000"/>
              </a:lnSpc>
              <a:buNone/>
            </a:pPr>
            <a:r>
              <a:rPr lang="en-US" sz="850" b="1" i="0" dirty="0">
                <a:solidFill>
                  <a:srgbClr val="F900D3"/>
                </a:solidFill>
                <a:latin typeface="Arial"/>
                <a:ea typeface="Arial"/>
                <a:cs typeface="Arial"/>
              </a:rPr>
              <a:t>Fixes the metrics gap and finding 1</a:t>
            </a:r>
          </a:p>
        </p:txBody>
      </p:sp>
      <p:sp>
        <p:nvSpPr>
          <p:cNvPr id="227" name="WS 3"/>
          <p:cNvSpPr/>
          <p:nvPr/>
        </p:nvSpPr>
        <p:spPr>
          <a:xfrm>
            <a:off x="9184800" y="4702600"/>
            <a:ext cx="2400000" cy="300000"/>
          </a:xfrm>
          <a:prstGeom prst="rect">
            <a:avLst/>
          </a:prstGeom>
          <a:noFill/>
          <a:ln w="0">
            <a:noFill/>
          </a:ln>
        </p:spPr>
        <p:txBody>
          <a:bodyPr wrap="square" anchor="t" lIns="0" tIns="0" rIns="0" bIns="0">
            <a:noAutofit/>
          </a:bodyPr>
          <a:lstStyle/>
          <a:p>
            <a:pPr>
              <a:lnSpc>
                <a:spcPct val="108000"/>
              </a:lnSpc>
              <a:buNone/>
            </a:pPr>
            <a:r>
              <a:rPr lang="en-US" sz="850" b="0" i="0" dirty="0">
                <a:solidFill>
                  <a:srgbClr val="50658E"/>
                </a:solidFill>
                <a:latin typeface="Arial"/>
                <a:ea typeface="Arial"/>
                <a:cs typeface="Arial"/>
              </a:rPr>
              <a:t>Both workstreams</a:t>
            </a:r>
          </a:p>
        </p:txBody>
      </p:sp>
      <p:sp>
        <p:nvSpPr>
          <p:cNvPr id="228" name="Bar 228"/>
          <p:cNvSpPr/>
          <p:nvPr/>
        </p:nvSpPr>
        <p:spPr>
          <a:xfrm>
            <a:off x="457200" y="5170000"/>
            <a:ext cx="11277600" cy="380000"/>
          </a:xfrm>
          <a:prstGeom prst="rect">
            <a:avLst/>
          </a:prstGeom>
          <a:solidFill>
            <a:srgbClr val="E8EEF8"/>
          </a:solidFill>
          <a:ln w="0">
            <a:noFill/>
          </a:ln>
        </p:spPr>
        <p:txBody>
          <a:bodyPr wrap="square" anchor="ctr">
            <a:noAutofit/>
          </a:bodyPr>
          <a:lstStyle/>
          <a:p>
            <a:pPr>
              <a:lnSpc>
                <a:spcPct val="108000"/>
              </a:lnSpc>
              <a:buNone/>
            </a:pPr>
            <a:r>
              <a:rPr lang="en-US" sz="1000" b="1" i="0" dirty="0">
                <a:solidFill>
                  <a:srgbClr val="F900D3"/>
                </a:solidFill>
                <a:latin typeface="Arial"/>
                <a:ea typeface="Arial"/>
                <a:cs typeface="Arial"/>
              </a:rPr>
              <a:t>AI guardrail across all four:  </a:t>
            </a:r>
            <a:r>
              <a:rPr lang="en-US" sz="900" b="1" i="0" dirty="0">
                <a:solidFill>
                  <a:srgbClr val="070154"/>
                </a:solidFill>
                <a:latin typeface="Arial"/>
                <a:ea typeface="Arial"/>
                <a:cs typeface="Arial"/>
              </a:rPr>
              <a:t>sanctioned Claude for everyone who builds, contractors included  ·  AI tools run in DXC's accounts  ·  no PHI in prompts  ·  human review before every merge</a:t>
            </a:r>
          </a:p>
        </p:txBody>
      </p:sp>
      <p:sp>
        <p:nvSpPr>
          <p:cNvPr id="229" name="Bar 229"/>
          <p:cNvSpPr/>
          <p:nvPr/>
        </p:nvSpPr>
        <p:spPr>
          <a:xfrm>
            <a:off x="457200" y="5600000"/>
            <a:ext cx="11277600" cy="38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We stabilize how Core is built and released, building on what QA has started. We do not re-platform Core.</a:t>
            </a:r>
          </a:p>
        </p:txBody>
      </p:sp>
    </p:spTree>
    <p:extLst>
      <p:ext uri="{BB962C8B-B14F-4D97-AF65-F5344CB8AC3E}">
        <p14:creationId xmlns:p14="http://schemas.microsoft.com/office/powerpoint/2010/main" val="288705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Stabilized Core SDLC: seven gates on the flow Core already runs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Same team, same Java stack, same tools. Each gate has an owner and makes a weak point visible.</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CORE SDLC · STABILIZED</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sp>
        <p:nvSpPr>
          <p:cNvPr id="200" name="StageLbl"/>
          <p:cNvSpPr/>
          <p:nvPr/>
        </p:nvSpPr>
        <p:spPr>
          <a:xfrm>
            <a:off x="457200" y="1752600"/>
            <a:ext cx="1350000" cy="380000"/>
          </a:xfrm>
          <a:prstGeom prst="rect">
            <a:avLst/>
          </a:prstGeom>
          <a:solidFill>
            <a:srgbClr val="070154"/>
          </a:solidFill>
          <a:ln w="0">
            <a:noFill/>
          </a:ln>
        </p:spPr>
        <p:txBody>
          <a:bodyPr wrap="square" anchor="ctr">
            <a:noAutofit/>
          </a:bodyPr>
          <a:lstStyle/>
          <a:p>
            <a:pPr>
              <a:lnSpc>
                <a:spcPct val="108000"/>
              </a:lnSpc>
              <a:buNone/>
            </a:pPr>
            <a:r>
              <a:rPr lang="en-US" sz="900" b="1" i="0" dirty="0">
                <a:solidFill>
                  <a:srgbClr val="FFFFFF"/>
                </a:solidFill>
                <a:latin typeface="Arial"/>
                <a:ea typeface="Arial"/>
                <a:cs typeface="Arial"/>
              </a:rPr>
              <a:t>Core SDLC stage</a:t>
            </a:r>
          </a:p>
        </p:txBody>
      </p:sp>
      <p:sp>
        <p:nvSpPr>
          <p:cNvPr id="201" name="St0"/>
          <p:cNvSpPr/>
          <p:nvPr/>
        </p:nvSpPr>
        <p:spPr>
          <a:xfrm>
            <a:off x="1879200"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1  Refine</a:t>
            </a:r>
          </a:p>
        </p:txBody>
      </p:sp>
      <p:sp>
        <p:nvSpPr>
          <p:cNvPr id="202" name="Ar0"/>
          <p:cNvSpPr/>
          <p:nvPr/>
        </p:nvSpPr>
        <p:spPr>
          <a:xfrm>
            <a:off x="3216857"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3" name="St1"/>
          <p:cNvSpPr/>
          <p:nvPr/>
        </p:nvSpPr>
        <p:spPr>
          <a:xfrm>
            <a:off x="3288857"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2  Plan</a:t>
            </a:r>
          </a:p>
        </p:txBody>
      </p:sp>
      <p:sp>
        <p:nvSpPr>
          <p:cNvPr id="204" name="Ar1"/>
          <p:cNvSpPr/>
          <p:nvPr/>
        </p:nvSpPr>
        <p:spPr>
          <a:xfrm>
            <a:off x="4626514"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5" name="St2"/>
          <p:cNvSpPr/>
          <p:nvPr/>
        </p:nvSpPr>
        <p:spPr>
          <a:xfrm>
            <a:off x="4698514"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3  Build</a:t>
            </a:r>
          </a:p>
        </p:txBody>
      </p:sp>
      <p:sp>
        <p:nvSpPr>
          <p:cNvPr id="206" name="Ar2"/>
          <p:cNvSpPr/>
          <p:nvPr/>
        </p:nvSpPr>
        <p:spPr>
          <a:xfrm>
            <a:off x="6036171"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7" name="St3"/>
          <p:cNvSpPr/>
          <p:nvPr/>
        </p:nvSpPr>
        <p:spPr>
          <a:xfrm>
            <a:off x="6108171"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4  Review</a:t>
            </a:r>
          </a:p>
        </p:txBody>
      </p:sp>
      <p:sp>
        <p:nvSpPr>
          <p:cNvPr id="208" name="Ar3"/>
          <p:cNvSpPr/>
          <p:nvPr/>
        </p:nvSpPr>
        <p:spPr>
          <a:xfrm>
            <a:off x="7445828"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9" name="St4"/>
          <p:cNvSpPr/>
          <p:nvPr/>
        </p:nvSpPr>
        <p:spPr>
          <a:xfrm>
            <a:off x="7517828"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5  QA</a:t>
            </a:r>
          </a:p>
        </p:txBody>
      </p:sp>
      <p:sp>
        <p:nvSpPr>
          <p:cNvPr id="210" name="Ar4"/>
          <p:cNvSpPr/>
          <p:nvPr/>
        </p:nvSpPr>
        <p:spPr>
          <a:xfrm>
            <a:off x="8855485"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11" name="St5"/>
          <p:cNvSpPr/>
          <p:nvPr/>
        </p:nvSpPr>
        <p:spPr>
          <a:xfrm>
            <a:off x="8927485"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6  Release</a:t>
            </a:r>
          </a:p>
        </p:txBody>
      </p:sp>
      <p:sp>
        <p:nvSpPr>
          <p:cNvPr id="212" name="Ar5"/>
          <p:cNvSpPr/>
          <p:nvPr/>
        </p:nvSpPr>
        <p:spPr>
          <a:xfrm>
            <a:off x="10265142"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13" name="St6"/>
          <p:cNvSpPr/>
          <p:nvPr/>
        </p:nvSpPr>
        <p:spPr>
          <a:xfrm>
            <a:off x="10337142"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7  Patch</a:t>
            </a:r>
          </a:p>
        </p:txBody>
      </p:sp>
      <p:sp>
        <p:nvSpPr>
          <p:cNvPr id="214" name="RL Gate we add"/>
          <p:cNvSpPr/>
          <p:nvPr/>
        </p:nvSpPr>
        <p:spPr>
          <a:xfrm>
            <a:off x="457200" y="2182600"/>
            <a:ext cx="1350000" cy="1450000"/>
          </a:xfrm>
          <a:prstGeom prst="rect">
            <a:avLst/>
          </a:prstGeom>
          <a:solidFill>
            <a:srgbClr val="E8EEF8"/>
          </a:solidFill>
          <a:ln w="0">
            <a:noFill/>
          </a:ln>
        </p:spPr>
        <p:txBody>
          <a:bodyPr wrap="square" anchor="ctr">
            <a:noAutofit/>
          </a:bodyPr>
          <a:lstStyle/>
          <a:p>
            <a:pPr>
              <a:lnSpc>
                <a:spcPct val="108000"/>
              </a:lnSpc>
              <a:buNone/>
            </a:pPr>
            <a:r>
              <a:rPr lang="en-US" sz="950" b="1" i="0" dirty="0">
                <a:solidFill>
                  <a:srgbClr val="070154"/>
                </a:solidFill>
                <a:latin typeface="Arial"/>
                <a:ea typeface="Arial"/>
                <a:cs typeface="Arial"/>
              </a:rPr>
              <a:t>Gate we add</a:t>
            </a:r>
          </a:p>
        </p:txBody>
      </p:sp>
      <p:sp>
        <p:nvSpPr>
          <p:cNvPr id="215" name="C Gate we add 0"/>
          <p:cNvSpPr/>
          <p:nvPr/>
        </p:nvSpPr>
        <p:spPr>
          <a:xfrm>
            <a:off x="1879200" y="2182600"/>
            <a:ext cx="1385657" cy="1450000"/>
          </a:xfrm>
          <a:prstGeom prst="rect">
            <a:avLst/>
          </a:prstGeom>
          <a:solidFill>
            <a:srgbClr val="CCF2DD"/>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16804D"/>
                </a:solidFill>
                <a:latin typeface="Arial"/>
                <a:ea typeface="Arial"/>
                <a:cs typeface="Arial"/>
              </a:rPr>
              <a:t>Ready gate: acceptance criteria, test cases, and tech notes before a story enters the sprint.</a:t>
            </a:r>
          </a:p>
        </p:txBody>
      </p:sp>
      <p:sp>
        <p:nvSpPr>
          <p:cNvPr id="216" name="C Gate we add 1"/>
          <p:cNvSpPr/>
          <p:nvPr/>
        </p:nvSpPr>
        <p:spPr>
          <a:xfrm>
            <a:off x="3288857" y="2182600"/>
            <a:ext cx="1385657" cy="1450000"/>
          </a:xfrm>
          <a:prstGeom prst="rect">
            <a:avLst/>
          </a:prstGeom>
          <a:solidFill>
            <a:srgbClr val="CCF2DD"/>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16804D"/>
                </a:solidFill>
                <a:latin typeface="Arial"/>
                <a:ea typeface="Arial"/>
                <a:cs typeface="Arial"/>
              </a:rPr>
              <a:t>Run-lane allowance: capacity reserved for support and patches.</a:t>
            </a:r>
          </a:p>
        </p:txBody>
      </p:sp>
      <p:sp>
        <p:nvSpPr>
          <p:cNvPr id="217" name="C Gate we add 2"/>
          <p:cNvSpPr/>
          <p:nvPr/>
        </p:nvSpPr>
        <p:spPr>
          <a:xfrm>
            <a:off x="4698514" y="2182600"/>
            <a:ext cx="1385657" cy="1450000"/>
          </a:xfrm>
          <a:prstGeom prst="rect">
            <a:avLst/>
          </a:prstGeom>
          <a:solidFill>
            <a:srgbClr val="CCF2DD"/>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16804D"/>
                </a:solidFill>
                <a:latin typeface="Arial"/>
                <a:ea typeface="Arial"/>
                <a:cs typeface="Arial"/>
              </a:rPr>
              <a:t>Claude Code pairing: code, unit tests, and docs before the PR.</a:t>
            </a:r>
          </a:p>
        </p:txBody>
      </p:sp>
      <p:sp>
        <p:nvSpPr>
          <p:cNvPr id="218" name="C Gate we add 3"/>
          <p:cNvSpPr/>
          <p:nvPr/>
        </p:nvSpPr>
        <p:spPr>
          <a:xfrm>
            <a:off x="6108171" y="2182600"/>
            <a:ext cx="1385657" cy="1450000"/>
          </a:xfrm>
          <a:prstGeom prst="rect">
            <a:avLst/>
          </a:prstGeom>
          <a:solidFill>
            <a:srgbClr val="CCF2DD"/>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16804D"/>
                </a:solidFill>
                <a:latin typeface="Arial"/>
                <a:ea typeface="Arial"/>
                <a:cs typeface="Arial"/>
              </a:rPr>
              <a:t>PR gate: Claude PR bot in the pipeline plus a rotating second reviewer.</a:t>
            </a:r>
          </a:p>
        </p:txBody>
      </p:sp>
      <p:sp>
        <p:nvSpPr>
          <p:cNvPr id="219" name="C Gate we add 4"/>
          <p:cNvSpPr/>
          <p:nvPr/>
        </p:nvSpPr>
        <p:spPr>
          <a:xfrm>
            <a:off x="7517828" y="2182600"/>
            <a:ext cx="1385657" cy="1450000"/>
          </a:xfrm>
          <a:prstGeom prst="rect">
            <a:avLst/>
          </a:prstGeom>
          <a:solidFill>
            <a:srgbClr val="CCF2DD"/>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16804D"/>
                </a:solidFill>
                <a:latin typeface="Arial"/>
                <a:ea typeface="Arial"/>
                <a:cs typeface="Arial"/>
              </a:rPr>
              <a:t>Quality gate: defined critical paths automated; evidence linked to the release.</a:t>
            </a:r>
          </a:p>
        </p:txBody>
      </p:sp>
      <p:sp>
        <p:nvSpPr>
          <p:cNvPr id="220" name="C Gate we add 5"/>
          <p:cNvSpPr/>
          <p:nvPr/>
        </p:nvSpPr>
        <p:spPr>
          <a:xfrm>
            <a:off x="8927485" y="2182600"/>
            <a:ext cx="1385657" cy="1450000"/>
          </a:xfrm>
          <a:prstGeom prst="rect">
            <a:avLst/>
          </a:prstGeom>
          <a:solidFill>
            <a:srgbClr val="CCF2DD"/>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16804D"/>
                </a:solidFill>
                <a:latin typeface="Arial"/>
                <a:ea typeface="Arial"/>
                <a:cs typeface="Arial"/>
              </a:rPr>
              <a:t>Hardening window: release 9–10 days after dev done; the build that passed pre-live ships.</a:t>
            </a:r>
          </a:p>
        </p:txBody>
      </p:sp>
      <p:sp>
        <p:nvSpPr>
          <p:cNvPr id="221" name="C Gate we add 6"/>
          <p:cNvSpPr/>
          <p:nvPr/>
        </p:nvSpPr>
        <p:spPr>
          <a:xfrm>
            <a:off x="10337142" y="2182600"/>
            <a:ext cx="1385657" cy="1450000"/>
          </a:xfrm>
          <a:prstGeom prst="rect">
            <a:avLst/>
          </a:prstGeom>
          <a:solidFill>
            <a:srgbClr val="CCF2DD"/>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16804D"/>
                </a:solidFill>
                <a:latin typeface="Arial"/>
                <a:ea typeface="Arial"/>
                <a:cs typeface="Arial"/>
              </a:rPr>
              <a:t>Hotfix lane: root cause within the sprint; credential and certificate alerts.</a:t>
            </a:r>
          </a:p>
        </p:txBody>
      </p:sp>
      <p:sp>
        <p:nvSpPr>
          <p:cNvPr id="222" name="RL Where Claude helps"/>
          <p:cNvSpPr/>
          <p:nvPr/>
        </p:nvSpPr>
        <p:spPr>
          <a:xfrm>
            <a:off x="457200" y="3682600"/>
            <a:ext cx="1350000" cy="900000"/>
          </a:xfrm>
          <a:prstGeom prst="rect">
            <a:avLst/>
          </a:prstGeom>
          <a:solidFill>
            <a:srgbClr val="E8EEF8"/>
          </a:solidFill>
          <a:ln w="0">
            <a:noFill/>
          </a:ln>
        </p:spPr>
        <p:txBody>
          <a:bodyPr wrap="square" anchor="ctr">
            <a:noAutofit/>
          </a:bodyPr>
          <a:lstStyle/>
          <a:p>
            <a:pPr>
              <a:lnSpc>
                <a:spcPct val="108000"/>
              </a:lnSpc>
              <a:buNone/>
            </a:pPr>
            <a:r>
              <a:rPr lang="en-US" sz="950" b="1" i="0" dirty="0">
                <a:solidFill>
                  <a:srgbClr val="070154"/>
                </a:solidFill>
                <a:latin typeface="Arial"/>
                <a:ea typeface="Arial"/>
                <a:cs typeface="Arial"/>
              </a:rPr>
              <a:t>Where Claude helps</a:t>
            </a:r>
          </a:p>
        </p:txBody>
      </p:sp>
      <p:sp>
        <p:nvSpPr>
          <p:cNvPr id="223" name="C Where Claude helps 0"/>
          <p:cNvSpPr/>
          <p:nvPr/>
        </p:nvSpPr>
        <p:spPr>
          <a:xfrm>
            <a:off x="1879200" y="3682600"/>
            <a:ext cx="1385657" cy="900000"/>
          </a:xfrm>
          <a:prstGeom prst="rect">
            <a:avLst/>
          </a:prstGeom>
          <a:solidFill>
            <a:srgbClr val="E8EEF8"/>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F900D3"/>
                </a:solidFill>
                <a:latin typeface="Arial"/>
                <a:ea typeface="Arial"/>
                <a:cs typeface="Arial"/>
              </a:rPr>
              <a:t>Drafts acceptance criteria and test cases.</a:t>
            </a:r>
          </a:p>
        </p:txBody>
      </p:sp>
      <p:sp>
        <p:nvSpPr>
          <p:cNvPr id="224" name="C Where Claude helps 1"/>
          <p:cNvSpPr/>
          <p:nvPr/>
        </p:nvSpPr>
        <p:spPr>
          <a:xfrm>
            <a:off x="3288857" y="3682600"/>
            <a:ext cx="1385657" cy="900000"/>
          </a:xfrm>
          <a:prstGeom prst="rect">
            <a:avLst/>
          </a:prstGeom>
          <a:solidFill>
            <a:srgbClr val="E8EEF8"/>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F900D3"/>
                </a:solidFill>
                <a:latin typeface="Arial"/>
                <a:ea typeface="Arial"/>
                <a:cs typeface="Arial"/>
              </a:rPr>
              <a:t>Sizes slices from the spec.</a:t>
            </a:r>
          </a:p>
        </p:txBody>
      </p:sp>
      <p:sp>
        <p:nvSpPr>
          <p:cNvPr id="225" name="C Where Claude helps 2"/>
          <p:cNvSpPr/>
          <p:nvPr/>
        </p:nvSpPr>
        <p:spPr>
          <a:xfrm>
            <a:off x="4698514" y="3682600"/>
            <a:ext cx="1385657" cy="900000"/>
          </a:xfrm>
          <a:prstGeom prst="rect">
            <a:avLst/>
          </a:prstGeom>
          <a:solidFill>
            <a:srgbClr val="E8EEF8"/>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F900D3"/>
                </a:solidFill>
                <a:latin typeface="Arial"/>
                <a:ea typeface="Arial"/>
                <a:cs typeface="Arial"/>
              </a:rPr>
              <a:t>Writes code, unit tests, and docs.</a:t>
            </a:r>
          </a:p>
        </p:txBody>
      </p:sp>
      <p:sp>
        <p:nvSpPr>
          <p:cNvPr id="226" name="C Where Claude helps 3"/>
          <p:cNvSpPr/>
          <p:nvPr/>
        </p:nvSpPr>
        <p:spPr>
          <a:xfrm>
            <a:off x="6108171" y="3682600"/>
            <a:ext cx="1385657" cy="900000"/>
          </a:xfrm>
          <a:prstGeom prst="rect">
            <a:avLst/>
          </a:prstGeom>
          <a:solidFill>
            <a:srgbClr val="E8EEF8"/>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F900D3"/>
                </a:solidFill>
                <a:latin typeface="Arial"/>
                <a:ea typeface="Arial"/>
                <a:cs typeface="Arial"/>
              </a:rPr>
              <a:t>Pre-reviews every PR in the pipeline.</a:t>
            </a:r>
          </a:p>
        </p:txBody>
      </p:sp>
      <p:sp>
        <p:nvSpPr>
          <p:cNvPr id="227" name="C Where Claude helps 4"/>
          <p:cNvSpPr/>
          <p:nvPr/>
        </p:nvSpPr>
        <p:spPr>
          <a:xfrm>
            <a:off x="7517828" y="3682600"/>
            <a:ext cx="1385657" cy="900000"/>
          </a:xfrm>
          <a:prstGeom prst="rect">
            <a:avLst/>
          </a:prstGeom>
          <a:solidFill>
            <a:srgbClr val="E8EEF8"/>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F900D3"/>
                </a:solidFill>
                <a:latin typeface="Arial"/>
                <a:ea typeface="Arial"/>
                <a:cs typeface="Arial"/>
              </a:rPr>
              <a:t>Agents draft tests from the backlog.</a:t>
            </a:r>
          </a:p>
        </p:txBody>
      </p:sp>
      <p:sp>
        <p:nvSpPr>
          <p:cNvPr id="228" name="C Where Claude helps 5"/>
          <p:cNvSpPr/>
          <p:nvPr/>
        </p:nvSpPr>
        <p:spPr>
          <a:xfrm>
            <a:off x="8927485" y="3682600"/>
            <a:ext cx="1385657" cy="900000"/>
          </a:xfrm>
          <a:prstGeom prst="rect">
            <a:avLst/>
          </a:prstGeom>
          <a:solidFill>
            <a:srgbClr val="E8EEF8"/>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F900D3"/>
                </a:solidFill>
                <a:latin typeface="Arial"/>
                <a:ea typeface="Arial"/>
                <a:cs typeface="Arial"/>
              </a:rPr>
              <a:t>Drafts release notes from delivered work.</a:t>
            </a:r>
          </a:p>
        </p:txBody>
      </p:sp>
      <p:sp>
        <p:nvSpPr>
          <p:cNvPr id="229" name="C Where Claude helps 6"/>
          <p:cNvSpPr/>
          <p:nvPr/>
        </p:nvSpPr>
        <p:spPr>
          <a:xfrm>
            <a:off x="10337142" y="3682600"/>
            <a:ext cx="1385657" cy="900000"/>
          </a:xfrm>
          <a:prstGeom prst="rect">
            <a:avLst/>
          </a:prstGeom>
          <a:solidFill>
            <a:srgbClr val="E8EEF8"/>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F900D3"/>
                </a:solidFill>
                <a:latin typeface="Arial"/>
                <a:ea typeface="Arial"/>
                <a:cs typeface="Arial"/>
              </a:rPr>
              <a:t>Drafts the root-cause summary.</a:t>
            </a:r>
          </a:p>
        </p:txBody>
      </p:sp>
      <p:sp>
        <p:nvSpPr>
          <p:cNvPr id="230" name="RL DXC owner"/>
          <p:cNvSpPr/>
          <p:nvPr/>
        </p:nvSpPr>
        <p:spPr>
          <a:xfrm>
            <a:off x="457200" y="4632600"/>
            <a:ext cx="1350000" cy="480000"/>
          </a:xfrm>
          <a:prstGeom prst="rect">
            <a:avLst/>
          </a:prstGeom>
          <a:solidFill>
            <a:srgbClr val="E8EEF8"/>
          </a:solidFill>
          <a:ln w="0">
            <a:noFill/>
          </a:ln>
        </p:spPr>
        <p:txBody>
          <a:bodyPr wrap="square" anchor="ctr">
            <a:noAutofit/>
          </a:bodyPr>
          <a:lstStyle/>
          <a:p>
            <a:pPr>
              <a:lnSpc>
                <a:spcPct val="108000"/>
              </a:lnSpc>
              <a:buNone/>
            </a:pPr>
            <a:r>
              <a:rPr lang="en-US" sz="950" b="1" i="0" dirty="0">
                <a:solidFill>
                  <a:srgbClr val="070154"/>
                </a:solidFill>
                <a:latin typeface="Arial"/>
                <a:ea typeface="Arial"/>
                <a:cs typeface="Arial"/>
              </a:rPr>
              <a:t>DXC owner</a:t>
            </a:r>
          </a:p>
        </p:txBody>
      </p:sp>
      <p:sp>
        <p:nvSpPr>
          <p:cNvPr id="231" name="C DXC owner 0"/>
          <p:cNvSpPr/>
          <p:nvPr/>
        </p:nvSpPr>
        <p:spPr>
          <a:xfrm>
            <a:off x="1879200" y="4632600"/>
            <a:ext cx="1385657" cy="48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070154"/>
                </a:solidFill>
                <a:latin typeface="Arial"/>
                <a:ea typeface="Arial"/>
                <a:cs typeface="Arial"/>
              </a:rPr>
              <a:t>PMs + QA lead</a:t>
            </a:r>
          </a:p>
        </p:txBody>
      </p:sp>
      <p:sp>
        <p:nvSpPr>
          <p:cNvPr id="232" name="C DXC owner 1"/>
          <p:cNvSpPr/>
          <p:nvPr/>
        </p:nvSpPr>
        <p:spPr>
          <a:xfrm>
            <a:off x="3288857" y="4632600"/>
            <a:ext cx="1385657" cy="48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070154"/>
                </a:solidFill>
                <a:latin typeface="Arial"/>
                <a:ea typeface="Arial"/>
                <a:cs typeface="Arial"/>
              </a:rPr>
              <a:t>Scrum master</a:t>
            </a:r>
          </a:p>
        </p:txBody>
      </p:sp>
      <p:sp>
        <p:nvSpPr>
          <p:cNvPr id="233" name="C DXC owner 2"/>
          <p:cNvSpPr/>
          <p:nvPr/>
        </p:nvSpPr>
        <p:spPr>
          <a:xfrm>
            <a:off x="4698514" y="4632600"/>
            <a:ext cx="1385657" cy="48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070154"/>
                </a:solidFill>
                <a:latin typeface="Arial"/>
                <a:ea typeface="Arial"/>
                <a:cs typeface="Arial"/>
              </a:rPr>
              <a:t>Core engineers</a:t>
            </a:r>
          </a:p>
        </p:txBody>
      </p:sp>
      <p:sp>
        <p:nvSpPr>
          <p:cNvPr id="234" name="C DXC owner 3"/>
          <p:cNvSpPr/>
          <p:nvPr/>
        </p:nvSpPr>
        <p:spPr>
          <a:xfrm>
            <a:off x="6108171" y="4632600"/>
            <a:ext cx="1385657" cy="48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070154"/>
                </a:solidFill>
                <a:latin typeface="Arial"/>
                <a:ea typeface="Arial"/>
                <a:cs typeface="Arial"/>
              </a:rPr>
              <a:t>Core engineering lead</a:t>
            </a:r>
          </a:p>
        </p:txBody>
      </p:sp>
      <p:sp>
        <p:nvSpPr>
          <p:cNvPr id="235" name="C DXC owner 4"/>
          <p:cNvSpPr/>
          <p:nvPr/>
        </p:nvSpPr>
        <p:spPr>
          <a:xfrm>
            <a:off x="7517828" y="4632600"/>
            <a:ext cx="1385657" cy="48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070154"/>
                </a:solidFill>
                <a:latin typeface="Arial"/>
                <a:ea typeface="Arial"/>
                <a:cs typeface="Arial"/>
              </a:rPr>
              <a:t>QA lead</a:t>
            </a:r>
          </a:p>
        </p:txBody>
      </p:sp>
      <p:sp>
        <p:nvSpPr>
          <p:cNvPr id="236" name="C DXC owner 5"/>
          <p:cNvSpPr/>
          <p:nvPr/>
        </p:nvSpPr>
        <p:spPr>
          <a:xfrm>
            <a:off x="8927485" y="4632600"/>
            <a:ext cx="1385657" cy="48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070154"/>
                </a:solidFill>
                <a:latin typeface="Arial"/>
                <a:ea typeface="Arial"/>
                <a:cs typeface="Arial"/>
              </a:rPr>
              <a:t>Release management + DevOps</a:t>
            </a:r>
          </a:p>
        </p:txBody>
      </p:sp>
      <p:sp>
        <p:nvSpPr>
          <p:cNvPr id="237" name="C DXC owner 6"/>
          <p:cNvSpPr/>
          <p:nvPr/>
        </p:nvSpPr>
        <p:spPr>
          <a:xfrm>
            <a:off x="10337142" y="4632600"/>
            <a:ext cx="1385657" cy="48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070154"/>
                </a:solidFill>
                <a:latin typeface="Arial"/>
                <a:ea typeface="Arial"/>
                <a:cs typeface="Arial"/>
              </a:rPr>
              <a:t>Release management</a:t>
            </a:r>
          </a:p>
        </p:txBody>
      </p:sp>
      <p:sp>
        <p:nvSpPr>
          <p:cNvPr id="238" name="Bar 238"/>
          <p:cNvSpPr/>
          <p:nvPr/>
        </p:nvSpPr>
        <p:spPr>
          <a:xfrm>
            <a:off x="457200" y="5560000"/>
            <a:ext cx="11277600" cy="42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No re-platforming: we add gates, evidence, and AI assistance to the existing flow, and back QA's hardening plan.</a:t>
            </a:r>
          </a:p>
        </p:txBody>
      </p:sp>
    </p:spTree>
    <p:extLst>
      <p:ext uri="{BB962C8B-B14F-4D97-AF65-F5344CB8AC3E}">
        <p14:creationId xmlns:p14="http://schemas.microsoft.com/office/powerpoint/2010/main" val="288705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Engineering scorecard: ten measures with proposed targets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Real baselines where DXC has them. Each target states why it is realistic within the next phase.</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ENGINEERING SCORECARD</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Scorecard"/>
          <p:cNvGraphicFramePr>
            <a:graphicFrameLocks noGrp="1"/>
          </p:cNvGraphicFramePr>
          <p:nvPr/>
        </p:nvGraphicFramePr>
        <p:xfrm>
          <a:off x="457200" y="1752600"/>
          <a:ext cx="11277600" cy="3540000"/>
        </p:xfrm>
        <a:graphic>
          <a:graphicData uri="http://schemas.openxmlformats.org/drawingml/2006/table">
            <a:tbl>
              <a:tblPr/>
              <a:tblGrid>
                <a:gridCol w="2900000"/>
                <a:gridCol w="2350000"/>
                <a:gridCol w="1550000"/>
                <a:gridCol w="1850000"/>
                <a:gridCol w="2627600"/>
              </a:tblGrid>
              <a:tr h="340000">
                <a:tc>
                  <a:txBody>
                    <a:bodyPr/>
                    <a:lstStyle/>
                    <a:p>
                      <a:pPr>
                        <a:lnSpc>
                          <a:spcPct val="102000"/>
                        </a:lnSpc>
                        <a:buNone/>
                      </a:pPr>
                      <a:r>
                        <a:rPr lang="en-US" sz="900" b="1" i="0" dirty="0">
                          <a:solidFill>
                            <a:srgbClr val="FFFFFF"/>
                          </a:solidFill>
                          <a:latin typeface="Arial"/>
                          <a:ea typeface="Arial"/>
                          <a:cs typeface="Arial"/>
                        </a:rPr>
                        <a:t>Measure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Today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Target (hypothesis)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By when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Why this number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320000">
                <a:tc>
                  <a:txBody>
                    <a:bodyPr/>
                    <a:lstStyle/>
                    <a:p>
                      <a:pPr>
                        <a:lnSpc>
                          <a:spcPct val="102000"/>
                        </a:lnSpc>
                        <a:buNone/>
                      </a:pPr>
                      <a:r>
                        <a:rPr lang="en-US" sz="880" b="1" i="0" dirty="0">
                          <a:solidFill>
                            <a:srgbClr val="070154"/>
                          </a:solidFill>
                          <a:latin typeface="Arial"/>
                          <a:ea typeface="Arial"/>
                          <a:cs typeface="Arial"/>
                        </a:rPr>
                        <a:t>Unplanned release events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50% of 2026 events (15 of 30)</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25% or less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90 days after the phase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Halve today's share once causes are triaged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Repeat incident causes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Salesforce password expired twice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Zero</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From week 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Inventory and alerts remove known repeats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Credentials and certificates with owner and alert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No inventory found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100%</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Week 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Finite list; owners and alerts are setup work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Test window before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3–4 days after dev done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9–10 days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First release after week 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QA's hardening plan, already drafted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Pre-live build = production build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Unknown: merge on release 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100% of releases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Week 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One promotion rule, applied every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Defined critical paths automated (Core)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About 10–15% (QA estimate)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About 30%</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Week 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QA adds ~9 tests a week; QE capacity roughly doubles pace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Sprint stories that meet Ready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Not tracked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80% or more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Week 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Pilot team first; Ready is checked in refinement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Builders with sanctioned AI access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Some full-time staff; no contractors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100%</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Week 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Needs the week-2 access decision only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New commitments with a signed tech spec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Not consistently required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100%</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From week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A rule, not a build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20000">
                <a:tc>
                  <a:txBody>
                    <a:bodyPr/>
                    <a:lstStyle/>
                    <a:p>
                      <a:pPr>
                        <a:lnSpc>
                          <a:spcPct val="102000"/>
                        </a:lnSpc>
                        <a:buNone/>
                      </a:pPr>
                      <a:r>
                        <a:rPr lang="en-US" sz="880" b="1" i="0" dirty="0">
                          <a:solidFill>
                            <a:srgbClr val="070154"/>
                          </a:solidFill>
                          <a:latin typeface="Arial"/>
                          <a:ea typeface="Arial"/>
                          <a:cs typeface="Arial"/>
                        </a:rPr>
                        <a:t>Lead time, deployment frequency, failure rate, restore time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0" i="0" dirty="0">
                          <a:solidFill>
                            <a:srgbClr val="B7412F"/>
                          </a:solidFill>
                          <a:latin typeface="Arial"/>
                          <a:ea typeface="Arial"/>
                          <a:cs typeface="Arial"/>
                        </a:rPr>
                        <a:t>Not measured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Baseline, then targets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60" b="1" i="0" dirty="0">
                          <a:solidFill>
                            <a:srgbClr val="070154"/>
                          </a:solidFill>
                          <a:latin typeface="Arial"/>
                          <a:ea typeface="Arial"/>
                          <a:cs typeface="Arial"/>
                        </a:rPr>
                        <a:t>Baseline week 2; targets week 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Targets need a baseline first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Bar 300"/>
          <p:cNvSpPr/>
          <p:nvPr/>
        </p:nvSpPr>
        <p:spPr>
          <a:xfrm>
            <a:off x="457200" y="5600000"/>
            <a:ext cx="11277600" cy="40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Targets are hypotheses to confirm at the week-2 gate, then reviewed at week 6 to decide what scales.</a:t>
            </a:r>
          </a:p>
        </p:txBody>
      </p:sp>
    </p:spTree>
    <p:extLst>
      <p:ext uri="{BB962C8B-B14F-4D97-AF65-F5344CB8AC3E}">
        <p14:creationId xmlns:p14="http://schemas.microsoft.com/office/powerpoint/2010/main" val="288705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What the next phase adds to what DXC already has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We build on DXC's own work instead of starting over. The asks of DXC's people are small and explicit.</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NEXT PHASE · VALUE AND EFFORT</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Value"/>
          <p:cNvGraphicFramePr>
            <a:graphicFrameLocks noGrp="1"/>
          </p:cNvGraphicFramePr>
          <p:nvPr/>
        </p:nvGraphicFramePr>
        <p:xfrm>
          <a:off x="457200" y="1752600"/>
          <a:ext cx="7700000" cy="3380000"/>
        </p:xfrm>
        <a:graphic>
          <a:graphicData uri="http://schemas.openxmlformats.org/drawingml/2006/table">
            <a:tbl>
              <a:tblPr/>
              <a:tblGrid>
                <a:gridCol w="1700000"/>
                <a:gridCol w="2650000"/>
                <a:gridCol w="3350000"/>
              </a:tblGrid>
              <a:tr h="340000">
                <a:tc>
                  <a:txBody>
                    <a:bodyPr/>
                    <a:lstStyle/>
                    <a:p>
                      <a:pPr>
                        <a:lnSpc>
                          <a:spcPct val="102000"/>
                        </a:lnSpc>
                        <a:buNone/>
                      </a:pPr>
                      <a:r>
                        <a:rPr lang="en-US" sz="900" b="1" i="0" dirty="0">
                          <a:solidFill>
                            <a:srgbClr val="FFFFFF"/>
                          </a:solidFill>
                          <a:latin typeface="Arial"/>
                          <a:ea typeface="Arial"/>
                          <a:cs typeface="Arial"/>
                        </a:rPr>
                        <a:t>Move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DXC already has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West Monroe adds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900D3"/>
                    </a:solidFill>
                  </a:tcPr>
                </a:tc>
              </a:tr>
              <a:tr h="760000">
                <a:tc>
                  <a:txBody>
                    <a:bodyPr/>
                    <a:lstStyle/>
                    <a:p>
                      <a:pPr>
                        <a:lnSpc>
                          <a:spcPct val="102000"/>
                        </a:lnSpc>
                        <a:buNone/>
                      </a:pPr>
                      <a:r>
                        <a:rPr lang="en-US" sz="1000" b="1" i="0" dirty="0">
                          <a:solidFill>
                            <a:srgbClr val="070154"/>
                          </a:solidFill>
                          <a:latin typeface="Arial"/>
                          <a:ea typeface="Arial"/>
                          <a:cs typeface="Arial"/>
                        </a:rPr>
                        <a:t>Stabilize Core SDLC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50658E"/>
                          </a:solidFill>
                          <a:latin typeface="Arial"/>
                          <a:ea typeface="Arial"/>
                          <a:cs typeface="Arial"/>
                        </a:rPr>
                        <a:t>Release process, CAB, build IDs, and QA's hardening plan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Patch triage and root-cause method, cert inventory, same-build promotion design, environment templating with DevOps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760000">
                <a:tc>
                  <a:txBody>
                    <a:bodyPr/>
                    <a:lstStyle/>
                    <a:p>
                      <a:pPr>
                        <a:lnSpc>
                          <a:spcPct val="102000"/>
                        </a:lnSpc>
                        <a:buNone/>
                      </a:pPr>
                      <a:r>
                        <a:rPr lang="en-US" sz="1000" b="1" i="0" dirty="0">
                          <a:solidFill>
                            <a:srgbClr val="070154"/>
                          </a:solidFill>
                          <a:latin typeface="Arial"/>
                          <a:ea typeface="Arial"/>
                          <a:cs typeface="Arial"/>
                        </a:rPr>
                        <a:t>Agile with Claude Code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50658E"/>
                          </a:solidFill>
                          <a:latin typeface="Arial"/>
                          <a:ea typeface="Arial"/>
                          <a:cs typeface="Arial"/>
                        </a:rPr>
                        <a:t>Scrum cadence, Copilot and Claude for some, Reconcile AI's agent pipeline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Core skill library from Reconcile AI, Ready gate, PR gate design, three-day hands-on workshop, coaching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760000">
                <a:tc>
                  <a:txBody>
                    <a:bodyPr/>
                    <a:lstStyle/>
                    <a:p>
                      <a:pPr>
                        <a:lnSpc>
                          <a:spcPct val="102000"/>
                        </a:lnSpc>
                        <a:buNone/>
                      </a:pPr>
                      <a:r>
                        <a:rPr lang="en-US" sz="1000" b="1" i="0" dirty="0">
                          <a:solidFill>
                            <a:srgbClr val="070154"/>
                          </a:solidFill>
                          <a:latin typeface="Arial"/>
                          <a:ea typeface="Arial"/>
                          <a:cs typeface="Arial"/>
                        </a:rPr>
                        <a:t>Robust QA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50658E"/>
                          </a:solidFill>
                          <a:latin typeface="Arial"/>
                          <a:ea typeface="Arial"/>
                          <a:cs typeface="Arial"/>
                        </a:rPr>
                        <a:t>Playwright framework, Claude test agents, PR bot, defined critical paths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Two full-time QE engineers (a sprint of added coverage), pipeline integration, AWS hosting design, evidence database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760000">
                <a:tc>
                  <a:txBody>
                    <a:bodyPr/>
                    <a:lstStyle/>
                    <a:p>
                      <a:pPr>
                        <a:lnSpc>
                          <a:spcPct val="102000"/>
                        </a:lnSpc>
                        <a:buNone/>
                      </a:pPr>
                      <a:r>
                        <a:rPr lang="en-US" sz="1000" b="1" i="0" dirty="0">
                          <a:solidFill>
                            <a:srgbClr val="070154"/>
                          </a:solidFill>
                          <a:latin typeface="Arial"/>
                          <a:ea typeface="Arial"/>
                          <a:cs typeface="Arial"/>
                        </a:rPr>
                        <a:t>Measure what matters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50658E"/>
                          </a:solidFill>
                          <a:latin typeface="Arial"/>
                          <a:ea typeface="Arial"/>
                          <a:cs typeface="Arial"/>
                        </a:rPr>
                        <a:t>Jira, release calendar, build IDs, QA's AI cost log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Metric definitions, Jira cause codes, one dashboard aligned with product metrics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bl>
          </a:graphicData>
        </a:graphic>
      </p:graphicFrame>
      <p:sp>
        <p:nvSpPr>
          <p:cNvPr id="300" name="TimeBox"/>
          <p:cNvSpPr/>
          <p:nvPr/>
        </p:nvSpPr>
        <p:spPr>
          <a:xfrm>
            <a:off x="8307200" y="1752600"/>
            <a:ext cx="3427600" cy="3380000"/>
          </a:xfrm>
          <a:prstGeom prst="rect">
            <a:avLst/>
          </a:prstGeom>
          <a:solidFill>
            <a:srgbClr val="E8EEF8"/>
          </a:solidFill>
          <a:ln w="9525">
            <a:solidFill>
              <a:srgbClr val="CED7E6"/>
            </a:solidFill>
          </a:ln>
        </p:spPr>
        <p:txBody>
          <a:bodyPr wrap="square" anchor="t" lIns="120000" tIns="120000" rIns="120000" bIns="120000">
            <a:noAutofit/>
          </a:bodyPr>
          <a:lstStyle/>
          <a:p>
            <a:pPr>
              <a:lnSpc>
                <a:spcPct val="108000"/>
              </a:lnSpc>
              <a:spcAft>
                <a:spcPts val="600"/>
              </a:spcAft>
              <a:buNone/>
            </a:pPr>
            <a:r>
              <a:rPr lang="en-US" sz="1000" b="1" i="0" dirty="0">
                <a:solidFill>
                  <a:srgbClr val="0047FF"/>
                </a:solidFill>
                <a:latin typeface="Arial"/>
                <a:ea typeface="Arial"/>
                <a:cs typeface="Arial"/>
              </a:rPr>
              <a:t>DXC TIME NEEDED (ESTIMATE)</a:t>
            </a:r>
          </a:p>
          <a:p>
            <a:pPr>
              <a:lnSpc>
                <a:spcPct val="108000"/>
              </a:lnSpc>
              <a:buNone/>
            </a:pPr>
            <a:r>
              <a:rPr lang="en-US" sz="1000" b="1" i="0" dirty="0">
                <a:solidFill>
                  <a:srgbClr val="070154"/>
                </a:solidFill>
                <a:latin typeface="Arial"/>
                <a:ea typeface="Arial"/>
                <a:cs typeface="Arial"/>
              </a:rPr>
              <a:t>Engineering leadership</a:t>
            </a:r>
          </a:p>
          <a:p>
            <a:pPr>
              <a:lnSpc>
                <a:spcPct val="108000"/>
              </a:lnSpc>
              <a:spcAft>
                <a:spcPts val="300"/>
              </a:spcAft>
              <a:buNone/>
            </a:pPr>
            <a:r>
              <a:rPr lang="en-US" sz="920" b="0" i="0" dirty="0">
                <a:solidFill>
                  <a:srgbClr val="50658E"/>
                </a:solidFill>
                <a:latin typeface="Arial"/>
                <a:ea typeface="Arial"/>
                <a:cs typeface="Arial"/>
              </a:rPr>
              <a:t>1 h/week + three 1-h gates</a:t>
            </a:r>
          </a:p>
          <a:p>
            <a:pPr>
              <a:lnSpc>
                <a:spcPct val="108000"/>
              </a:lnSpc>
              <a:buNone/>
            </a:pPr>
            <a:r>
              <a:rPr lang="en-US" sz="1000" b="1" i="0" dirty="0">
                <a:solidFill>
                  <a:srgbClr val="070154"/>
                </a:solidFill>
                <a:latin typeface="Arial"/>
                <a:ea typeface="Arial"/>
                <a:cs typeface="Arial"/>
              </a:rPr>
              <a:t>Core engineering lead</a:t>
            </a:r>
          </a:p>
          <a:p>
            <a:pPr>
              <a:lnSpc>
                <a:spcPct val="108000"/>
              </a:lnSpc>
              <a:spcAft>
                <a:spcPts val="300"/>
              </a:spcAft>
              <a:buNone/>
            </a:pPr>
            <a:r>
              <a:rPr lang="en-US" sz="920" b="0" i="0" dirty="0">
                <a:solidFill>
                  <a:srgbClr val="50658E"/>
                </a:solidFill>
                <a:latin typeface="Arial"/>
                <a:ea typeface="Arial"/>
                <a:cs typeface="Arial"/>
              </a:rPr>
              <a:t>4 h/week + workshop</a:t>
            </a:r>
          </a:p>
          <a:p>
            <a:pPr>
              <a:lnSpc>
                <a:spcPct val="108000"/>
              </a:lnSpc>
              <a:buNone/>
            </a:pPr>
            <a:r>
              <a:rPr lang="en-US" sz="1000" b="1" i="0" dirty="0">
                <a:solidFill>
                  <a:srgbClr val="070154"/>
                </a:solidFill>
                <a:latin typeface="Arial"/>
                <a:ea typeface="Arial"/>
                <a:cs typeface="Arial"/>
              </a:rPr>
              <a:t>QA lead</a:t>
            </a:r>
          </a:p>
          <a:p>
            <a:pPr>
              <a:lnSpc>
                <a:spcPct val="108000"/>
              </a:lnSpc>
              <a:spcAft>
                <a:spcPts val="300"/>
              </a:spcAft>
              <a:buNone/>
            </a:pPr>
            <a:r>
              <a:rPr lang="en-US" sz="920" b="0" i="0" dirty="0">
                <a:solidFill>
                  <a:srgbClr val="50658E"/>
                </a:solidFill>
                <a:latin typeface="Arial"/>
                <a:ea typeface="Arial"/>
                <a:cs typeface="Arial"/>
              </a:rPr>
              <a:t>4 h/week</a:t>
            </a:r>
          </a:p>
          <a:p>
            <a:pPr>
              <a:lnSpc>
                <a:spcPct val="108000"/>
              </a:lnSpc>
              <a:buNone/>
            </a:pPr>
            <a:r>
              <a:rPr lang="en-US" sz="1000" b="1" i="0" dirty="0">
                <a:solidFill>
                  <a:srgbClr val="070154"/>
                </a:solidFill>
                <a:latin typeface="Arial"/>
                <a:ea typeface="Arial"/>
                <a:cs typeface="Arial"/>
              </a:rPr>
              <a:t>Release management</a:t>
            </a:r>
          </a:p>
          <a:p>
            <a:pPr>
              <a:lnSpc>
                <a:spcPct val="108000"/>
              </a:lnSpc>
              <a:spcAft>
                <a:spcPts val="300"/>
              </a:spcAft>
              <a:buNone/>
            </a:pPr>
            <a:r>
              <a:rPr lang="en-US" sz="920" b="0" i="0" dirty="0">
                <a:solidFill>
                  <a:srgbClr val="50658E"/>
                </a:solidFill>
                <a:latin typeface="Arial"/>
                <a:ea typeface="Arial"/>
                <a:cs typeface="Arial"/>
              </a:rPr>
              <a:t>3 h/week</a:t>
            </a:r>
          </a:p>
          <a:p>
            <a:pPr>
              <a:lnSpc>
                <a:spcPct val="108000"/>
              </a:lnSpc>
              <a:buNone/>
            </a:pPr>
            <a:r>
              <a:rPr lang="en-US" sz="1000" b="1" i="0" dirty="0">
                <a:solidFill>
                  <a:srgbClr val="070154"/>
                </a:solidFill>
                <a:latin typeface="Arial"/>
                <a:ea typeface="Arial"/>
                <a:cs typeface="Arial"/>
              </a:rPr>
              <a:t>DevOps</a:t>
            </a:r>
          </a:p>
          <a:p>
            <a:pPr>
              <a:lnSpc>
                <a:spcPct val="108000"/>
              </a:lnSpc>
              <a:spcAft>
                <a:spcPts val="300"/>
              </a:spcAft>
              <a:buNone/>
            </a:pPr>
            <a:r>
              <a:rPr lang="en-US" sz="920" b="0" i="0" dirty="0">
                <a:solidFill>
                  <a:srgbClr val="50658E"/>
                </a:solidFill>
                <a:latin typeface="Arial"/>
                <a:ea typeface="Arial"/>
                <a:cs typeface="Arial"/>
              </a:rPr>
              <a:t>1 day/week, weeks 2–6</a:t>
            </a:r>
          </a:p>
          <a:p>
            <a:pPr>
              <a:lnSpc>
                <a:spcPct val="108000"/>
              </a:lnSpc>
              <a:buNone/>
            </a:pPr>
            <a:r>
              <a:rPr lang="en-US" sz="1000" b="1" i="0" dirty="0">
                <a:solidFill>
                  <a:srgbClr val="070154"/>
                </a:solidFill>
                <a:latin typeface="Arial"/>
                <a:ea typeface="Arial"/>
                <a:cs typeface="Arial"/>
              </a:rPr>
              <a:t>Security</a:t>
            </a:r>
          </a:p>
          <a:p>
            <a:pPr>
              <a:lnSpc>
                <a:spcPct val="108000"/>
              </a:lnSpc>
              <a:spcAft>
                <a:spcPts val="300"/>
              </a:spcAft>
              <a:buNone/>
            </a:pPr>
            <a:r>
              <a:rPr lang="en-US" sz="920" b="0" i="0" dirty="0">
                <a:solidFill>
                  <a:srgbClr val="50658E"/>
                </a:solidFill>
                <a:latin typeface="Arial"/>
                <a:ea typeface="Arial"/>
                <a:cs typeface="Arial"/>
              </a:rPr>
              <a:t>One review, weeks 1–3</a:t>
            </a:r>
          </a:p>
          <a:p>
            <a:pPr>
              <a:lnSpc>
                <a:spcPct val="108000"/>
              </a:lnSpc>
              <a:buNone/>
            </a:pPr>
            <a:r>
              <a:rPr lang="en-US" sz="1000" b="1" i="0" dirty="0">
                <a:solidFill>
                  <a:srgbClr val="070154"/>
                </a:solidFill>
                <a:latin typeface="Arial"/>
                <a:ea typeface="Arial"/>
                <a:cs typeface="Arial"/>
              </a:rPr>
              <a:t>Product managers</a:t>
            </a:r>
          </a:p>
          <a:p>
            <a:pPr>
              <a:lnSpc>
                <a:spcPct val="108000"/>
              </a:lnSpc>
              <a:spcAft>
                <a:spcPts val="300"/>
              </a:spcAft>
              <a:buNone/>
            </a:pPr>
            <a:r>
              <a:rPr lang="en-US" sz="920" b="0" i="0" dirty="0">
                <a:solidFill>
                  <a:srgbClr val="50658E"/>
                </a:solidFill>
                <a:latin typeface="Arial"/>
                <a:ea typeface="Arial"/>
                <a:cs typeface="Arial"/>
              </a:rPr>
              <a:t>2 h/week</a:t>
            </a:r>
          </a:p>
          <a:p>
            <a:pPr>
              <a:lnSpc>
                <a:spcPct val="108000"/>
              </a:lnSpc>
              <a:buNone/>
            </a:pPr>
            <a:r>
              <a:rPr lang="en-US" sz="1000" b="1" i="0" dirty="0">
                <a:solidFill>
                  <a:srgbClr val="070154"/>
                </a:solidFill>
                <a:latin typeface="Arial"/>
                <a:ea typeface="Arial"/>
                <a:cs typeface="Arial"/>
              </a:rPr>
              <a:t>Pilot engineers</a:t>
            </a:r>
          </a:p>
          <a:p>
            <a:pPr>
              <a:lnSpc>
                <a:spcPct val="108000"/>
              </a:lnSpc>
              <a:spcAft>
                <a:spcPts val="300"/>
              </a:spcAft>
              <a:buNone/>
            </a:pPr>
            <a:r>
              <a:rPr lang="en-US" sz="920" b="0" i="0" dirty="0">
                <a:solidFill>
                  <a:srgbClr val="50658E"/>
                </a:solidFill>
                <a:latin typeface="Arial"/>
                <a:ea typeface="Arial"/>
                <a:cs typeface="Arial"/>
              </a:rPr>
              <a:t>Three-day workshop</a:t>
            </a:r>
          </a:p>
        </p:txBody>
      </p:sp>
      <p:sp>
        <p:nvSpPr>
          <p:cNvPr id="301" name="Bar 301"/>
          <p:cNvSpPr/>
          <p:nvPr/>
        </p:nvSpPr>
        <p:spPr>
          <a:xfrm>
            <a:off x="457200" y="5280000"/>
            <a:ext cx="11277600" cy="640000"/>
          </a:xfrm>
          <a:prstGeom prst="rect">
            <a:avLst/>
          </a:prstGeom>
          <a:solidFill>
            <a:srgbClr val="0047FF"/>
          </a:solidFill>
          <a:ln w="0">
            <a:noFill/>
          </a:ln>
        </p:spPr>
        <p:txBody>
          <a:bodyPr wrap="square" anchor="ctr">
            <a:noAutofit/>
          </a:bodyPr>
          <a:lstStyle/>
          <a:p>
            <a:pPr>
              <a:lnSpc>
                <a:spcPct val="108000"/>
              </a:lnSpc>
              <a:buNone/>
            </a:pPr>
            <a:r>
              <a:rPr lang="en-US" sz="950" b="1" i="0" dirty="0">
                <a:solidFill>
                  <a:srgbClr val="FFFFFF"/>
                </a:solidFill>
                <a:latin typeface="Arial"/>
                <a:ea typeface="Arial"/>
                <a:cs typeface="Arial"/>
              </a:rPr>
              <a:t>West Monroe brings execution capacity, Reconcile AI's patterns, and integration work. DXC brings decisions and a few hours a week from the people who own each gate.</a:t>
            </a:r>
          </a:p>
        </p:txBody>
      </p:sp>
    </p:spTree>
    <p:extLst>
      <p:ext uri="{BB962C8B-B14F-4D97-AF65-F5344CB8AC3E}">
        <p14:creationId xmlns:p14="http://schemas.microsoft.com/office/powerpoint/2010/main" val="288705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24CE-E9D3-0B15-F0AB-0DC73FFEBD4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DD23BFB-0B62-8422-C5C2-4095418B58E6}"/>
              </a:ext>
            </a:extLst>
          </p:cNvPr>
          <p:cNvPicPr>
            <a:picLocks noChangeAspect="1"/>
          </p:cNvPicPr>
          <p:nvPr/>
        </p:nvPicPr>
        <p:blipFill>
          <a:blip r:embed="rId3"/>
          <a:stretch/>
        </p:blipFill>
        <p:spPr>
          <a:xfrm>
            <a:off x="10608469" y="171450"/>
            <a:ext cx="1071563" cy="476250"/>
          </a:xfrm>
          <a:prstGeom prst="rect">
            <a:avLst/>
          </a:prstGeom>
        </p:spPr>
      </p:pic>
      <p:sp>
        <p:nvSpPr>
          <p:cNvPr id="3" name="Rectangle 2">
            <a:extLst>
              <a:ext uri="{FF2B5EF4-FFF2-40B4-BE49-F238E27FC236}">
                <a16:creationId xmlns:a16="http://schemas.microsoft.com/office/drawing/2014/main" id="{C295DA54-D595-2D0A-D209-31B122E571E0}"/>
              </a:ext>
            </a:extLst>
          </p:cNvPr>
          <p:cNvSpPr>
            <a:spLocks noGrp="1"/>
          </p:cNvSpPr>
          <p:nvPr/>
        </p:nvSpPr>
        <p:spPr>
          <a:xfrm>
            <a:off x="457200" y="2876550"/>
            <a:ext cx="5143500" cy="1428750"/>
          </a:xfrm>
          <a:prstGeom prst="rect">
            <a:avLst/>
          </a:prstGeom>
          <a:noFill/>
          <a:ln w="0">
            <a:noFill/>
          </a:ln>
        </p:spPr>
        <p:txBody>
          <a:bodyPr anchor="t">
            <a:normAutofit/>
          </a:bodyPr>
          <a:lstStyle/>
          <a:p>
            <a:pPr>
              <a:lnSpc>
                <a:spcPct val="98000"/>
              </a:lnSpc>
              <a:buNone/>
              <a:defRPr sz="2550" b="1" i="0">
                <a:solidFill>
                  <a:srgbClr val="FFFFFF"/>
                </a:solidFill>
                <a:latin typeface="Arial"/>
                <a:ea typeface="Arial"/>
                <a:cs typeface="Arial"/>
              </a:defRPr>
            </a:pPr>
            <a:r>
              <a:rPr lang="en-US" sz="2550" b="1" i="0">
                <a:solidFill>
                  <a:srgbClr val="FFFFFF"/>
                </a:solidFill>
                <a:latin typeface="Arial"/>
                <a:ea typeface="Arial"/>
                <a:cs typeface="Arial"/>
              </a:rPr>
              <a:t>Appendix: detailed plans</a:t>
            </a:r>
            <a:endParaRPr sz="2550" b="1" i="0">
              <a:solidFill>
                <a:srgbClr val="FFFFFF"/>
              </a:solidFill>
              <a:latin typeface="Arial"/>
              <a:ea typeface="Arial"/>
              <a:cs typeface="Arial"/>
            </a:endParaRPr>
          </a:p>
        </p:txBody>
      </p:sp>
      <p:sp>
        <p:nvSpPr>
          <p:cNvPr id="13" name="EyebrowAccent">
            <a:extLst>
              <a:ext uri="{FF2B5EF4-FFF2-40B4-BE49-F238E27FC236}">
                <a16:creationId xmlns:a16="http://schemas.microsoft.com/office/drawing/2014/main" id="{D5FB72DF-06DF-1D63-868B-30C61118BCAF}"/>
              </a:ext>
            </a:extLst>
          </p:cNvPr>
          <p:cNvSpPr/>
          <p:nvPr/>
        </p:nvSpPr>
        <p:spPr>
          <a:xfrm>
            <a:off x="457200" y="2711450"/>
            <a:ext cx="584200" cy="38100"/>
          </a:xfrm>
          <a:prstGeom prst="rect">
            <a:avLst/>
          </a:prstGeom>
          <a:solidFill>
            <a:srgbClr val="00E8F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905754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Core SDLC today: a working flow with seven weak points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From the Core engineering, release, and QA sessions and the 2026 release calendar.</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CORE SDLC · TODAY</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sp>
        <p:nvSpPr>
          <p:cNvPr id="200" name="StageLbl"/>
          <p:cNvSpPr/>
          <p:nvPr/>
        </p:nvSpPr>
        <p:spPr>
          <a:xfrm>
            <a:off x="457200" y="1752600"/>
            <a:ext cx="1350000" cy="380000"/>
          </a:xfrm>
          <a:prstGeom prst="rect">
            <a:avLst/>
          </a:prstGeom>
          <a:solidFill>
            <a:srgbClr val="070154"/>
          </a:solidFill>
          <a:ln w="0">
            <a:noFill/>
          </a:ln>
        </p:spPr>
        <p:txBody>
          <a:bodyPr wrap="square" anchor="ctr">
            <a:noAutofit/>
          </a:bodyPr>
          <a:lstStyle/>
          <a:p>
            <a:pPr>
              <a:lnSpc>
                <a:spcPct val="108000"/>
              </a:lnSpc>
              <a:buNone/>
            </a:pPr>
            <a:r>
              <a:rPr lang="en-US" sz="900" b="1" i="0" dirty="0">
                <a:solidFill>
                  <a:srgbClr val="FFFFFF"/>
                </a:solidFill>
                <a:latin typeface="Arial"/>
                <a:ea typeface="Arial"/>
                <a:cs typeface="Arial"/>
              </a:rPr>
              <a:t>Core SDLC stage</a:t>
            </a:r>
          </a:p>
        </p:txBody>
      </p:sp>
      <p:sp>
        <p:nvSpPr>
          <p:cNvPr id="201" name="St0"/>
          <p:cNvSpPr/>
          <p:nvPr/>
        </p:nvSpPr>
        <p:spPr>
          <a:xfrm>
            <a:off x="1879200"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1  Refine</a:t>
            </a:r>
          </a:p>
        </p:txBody>
      </p:sp>
      <p:sp>
        <p:nvSpPr>
          <p:cNvPr id="202" name="Ar0"/>
          <p:cNvSpPr/>
          <p:nvPr/>
        </p:nvSpPr>
        <p:spPr>
          <a:xfrm>
            <a:off x="3216857"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3" name="St1"/>
          <p:cNvSpPr/>
          <p:nvPr/>
        </p:nvSpPr>
        <p:spPr>
          <a:xfrm>
            <a:off x="3288857"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2  Plan</a:t>
            </a:r>
          </a:p>
        </p:txBody>
      </p:sp>
      <p:sp>
        <p:nvSpPr>
          <p:cNvPr id="204" name="Ar1"/>
          <p:cNvSpPr/>
          <p:nvPr/>
        </p:nvSpPr>
        <p:spPr>
          <a:xfrm>
            <a:off x="4626514"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5" name="St2"/>
          <p:cNvSpPr/>
          <p:nvPr/>
        </p:nvSpPr>
        <p:spPr>
          <a:xfrm>
            <a:off x="4698514"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3  Build</a:t>
            </a:r>
          </a:p>
        </p:txBody>
      </p:sp>
      <p:sp>
        <p:nvSpPr>
          <p:cNvPr id="206" name="Ar2"/>
          <p:cNvSpPr/>
          <p:nvPr/>
        </p:nvSpPr>
        <p:spPr>
          <a:xfrm>
            <a:off x="6036171"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7" name="St3"/>
          <p:cNvSpPr/>
          <p:nvPr/>
        </p:nvSpPr>
        <p:spPr>
          <a:xfrm>
            <a:off x="6108171"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4  Review</a:t>
            </a:r>
          </a:p>
        </p:txBody>
      </p:sp>
      <p:sp>
        <p:nvSpPr>
          <p:cNvPr id="208" name="Ar3"/>
          <p:cNvSpPr/>
          <p:nvPr/>
        </p:nvSpPr>
        <p:spPr>
          <a:xfrm>
            <a:off x="7445828"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09" name="St4"/>
          <p:cNvSpPr/>
          <p:nvPr/>
        </p:nvSpPr>
        <p:spPr>
          <a:xfrm>
            <a:off x="7517828"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5  QA</a:t>
            </a:r>
          </a:p>
        </p:txBody>
      </p:sp>
      <p:sp>
        <p:nvSpPr>
          <p:cNvPr id="210" name="Ar4"/>
          <p:cNvSpPr/>
          <p:nvPr/>
        </p:nvSpPr>
        <p:spPr>
          <a:xfrm>
            <a:off x="8855485"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11" name="St5"/>
          <p:cNvSpPr/>
          <p:nvPr/>
        </p:nvSpPr>
        <p:spPr>
          <a:xfrm>
            <a:off x="8927485"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6  Release</a:t>
            </a:r>
          </a:p>
        </p:txBody>
      </p:sp>
      <p:sp>
        <p:nvSpPr>
          <p:cNvPr id="212" name="Ar5"/>
          <p:cNvSpPr/>
          <p:nvPr/>
        </p:nvSpPr>
        <p:spPr>
          <a:xfrm>
            <a:off x="10265142" y="1882600"/>
            <a:ext cx="120000" cy="120000"/>
          </a:xfrm>
          <a:prstGeom prst="rect">
            <a:avLst/>
          </a:prstGeom>
          <a:noFill/>
          <a:ln w="0">
            <a:noFill/>
          </a:ln>
        </p:spPr>
        <p:txBody>
          <a:bodyPr wrap="square" anchor="ctr" lIns="0" tIns="0" rIns="0" bIns="0">
            <a:noAutofit/>
          </a:bodyPr>
          <a:lstStyle/>
          <a:p>
            <a:pPr algn="ctr">
              <a:lnSpc>
                <a:spcPct val="108000"/>
              </a:lnSpc>
              <a:buNone/>
            </a:pPr>
            <a:r>
              <a:rPr lang="en-US" sz="700" b="1" i="0" dirty="0">
                <a:solidFill>
                  <a:srgbClr val="00E8FA"/>
                </a:solidFill>
                <a:latin typeface="Arial"/>
                <a:ea typeface="Arial"/>
                <a:cs typeface="Arial"/>
              </a:rPr>
              <a:t>▶</a:t>
            </a:r>
          </a:p>
        </p:txBody>
      </p:sp>
      <p:sp>
        <p:nvSpPr>
          <p:cNvPr id="213" name="St6"/>
          <p:cNvSpPr/>
          <p:nvPr/>
        </p:nvSpPr>
        <p:spPr>
          <a:xfrm>
            <a:off x="10337142" y="1752600"/>
            <a:ext cx="1385657" cy="38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1050" b="1" i="0" dirty="0">
                <a:solidFill>
                  <a:srgbClr val="FFFFFF"/>
                </a:solidFill>
                <a:latin typeface="Arial"/>
                <a:ea typeface="Arial"/>
                <a:cs typeface="Arial"/>
              </a:rPr>
              <a:t>7  Patch</a:t>
            </a:r>
          </a:p>
        </p:txBody>
      </p:sp>
      <p:sp>
        <p:nvSpPr>
          <p:cNvPr id="214" name="RL How it works"/>
          <p:cNvSpPr/>
          <p:nvPr/>
        </p:nvSpPr>
        <p:spPr>
          <a:xfrm>
            <a:off x="457200" y="2182600"/>
            <a:ext cx="1350000" cy="1150000"/>
          </a:xfrm>
          <a:prstGeom prst="rect">
            <a:avLst/>
          </a:prstGeom>
          <a:solidFill>
            <a:srgbClr val="E8EEF8"/>
          </a:solidFill>
          <a:ln w="0">
            <a:noFill/>
          </a:ln>
        </p:spPr>
        <p:txBody>
          <a:bodyPr wrap="square" anchor="ctr">
            <a:noAutofit/>
          </a:bodyPr>
          <a:lstStyle/>
          <a:p>
            <a:pPr>
              <a:lnSpc>
                <a:spcPct val="108000"/>
              </a:lnSpc>
              <a:buNone/>
            </a:pPr>
            <a:r>
              <a:rPr lang="en-US" sz="950" b="1" i="0" dirty="0">
                <a:solidFill>
                  <a:srgbClr val="070154"/>
                </a:solidFill>
                <a:latin typeface="Arial"/>
                <a:ea typeface="Arial"/>
                <a:cs typeface="Arial"/>
              </a:rPr>
              <a:t>How it works</a:t>
            </a:r>
          </a:p>
        </p:txBody>
      </p:sp>
      <p:sp>
        <p:nvSpPr>
          <p:cNvPr id="215" name="C How it works 0"/>
          <p:cNvSpPr/>
          <p:nvPr/>
        </p:nvSpPr>
        <p:spPr>
          <a:xfrm>
            <a:off x="1879200" y="2182600"/>
            <a:ext cx="1385657" cy="115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0" i="0" dirty="0">
                <a:solidFill>
                  <a:srgbClr val="50658E"/>
                </a:solidFill>
                <a:latin typeface="Arial"/>
                <a:ea typeface="Arial"/>
                <a:cs typeface="Arial"/>
              </a:rPr>
              <a:t>PMs and 10 engineers estimate stories by vote; a scrum master runs the sprint.</a:t>
            </a:r>
          </a:p>
        </p:txBody>
      </p:sp>
      <p:sp>
        <p:nvSpPr>
          <p:cNvPr id="216" name="C How it works 1"/>
          <p:cNvSpPr/>
          <p:nvPr/>
        </p:nvSpPr>
        <p:spPr>
          <a:xfrm>
            <a:off x="3288857" y="2182600"/>
            <a:ext cx="1385657" cy="115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0" i="0" dirty="0">
                <a:solidFill>
                  <a:srgbClr val="50658E"/>
                </a:solidFill>
                <a:latin typeface="Arial"/>
                <a:ea typeface="Arial"/>
                <a:cs typeface="Arial"/>
              </a:rPr>
              <a:t>Two-week sprints, about 65 story points; the lead assigns work by skill.</a:t>
            </a:r>
          </a:p>
        </p:txBody>
      </p:sp>
      <p:sp>
        <p:nvSpPr>
          <p:cNvPr id="217" name="C How it works 2"/>
          <p:cNvSpPr/>
          <p:nvPr/>
        </p:nvSpPr>
        <p:spPr>
          <a:xfrm>
            <a:off x="4698514" y="2182600"/>
            <a:ext cx="1385657" cy="115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0" i="0" dirty="0">
                <a:solidFill>
                  <a:srgbClr val="50658E"/>
                </a:solidFill>
                <a:latin typeface="Arial"/>
                <a:ea typeface="Arial"/>
                <a:cs typeface="Arial"/>
              </a:rPr>
              <a:t>Copilot in IntelliJ since January 2026; Claude for some.</a:t>
            </a:r>
          </a:p>
        </p:txBody>
      </p:sp>
      <p:sp>
        <p:nvSpPr>
          <p:cNvPr id="218" name="C How it works 3"/>
          <p:cNvSpPr/>
          <p:nvPr/>
        </p:nvSpPr>
        <p:spPr>
          <a:xfrm>
            <a:off x="6108171" y="2182600"/>
            <a:ext cx="1385657" cy="115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0" i="0" dirty="0">
                <a:solidFill>
                  <a:srgbClr val="50658E"/>
                </a:solidFill>
                <a:latin typeface="Arial"/>
                <a:ea typeface="Arial"/>
                <a:cs typeface="Arial"/>
              </a:rPr>
              <a:t>Senior review for every Core PR; QA's Claude PR bot runs on demand.</a:t>
            </a:r>
          </a:p>
        </p:txBody>
      </p:sp>
      <p:sp>
        <p:nvSpPr>
          <p:cNvPr id="219" name="C How it works 4"/>
          <p:cNvSpPr/>
          <p:nvPr/>
        </p:nvSpPr>
        <p:spPr>
          <a:xfrm>
            <a:off x="7517828" y="2182600"/>
            <a:ext cx="1385657" cy="115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0" i="0" dirty="0">
                <a:solidFill>
                  <a:srgbClr val="50658E"/>
                </a:solidFill>
                <a:latin typeface="Arial"/>
                <a:ea typeface="Arial"/>
                <a:cs typeface="Arial"/>
              </a:rPr>
              <a:t>Playwright framework; Core went from 21 to 200+ automated tests in five months.</a:t>
            </a:r>
          </a:p>
        </p:txBody>
      </p:sp>
      <p:sp>
        <p:nvSpPr>
          <p:cNvPr id="220" name="C How it works 5"/>
          <p:cNvSpPr/>
          <p:nvPr/>
        </p:nvSpPr>
        <p:spPr>
          <a:xfrm>
            <a:off x="8927485" y="2182600"/>
            <a:ext cx="1385657" cy="115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0" i="0" dirty="0">
                <a:solidFill>
                  <a:srgbClr val="50658E"/>
                </a:solidFill>
                <a:latin typeface="Arial"/>
                <a:ea typeface="Arial"/>
                <a:cs typeface="Arial"/>
              </a:rPr>
              <a:t>Code ships four days after dev done: pre-live Monday, production Thursday.</a:t>
            </a:r>
          </a:p>
        </p:txBody>
      </p:sp>
      <p:sp>
        <p:nvSpPr>
          <p:cNvPr id="221" name="C How it works 6"/>
          <p:cNvSpPr/>
          <p:nvPr/>
        </p:nvSpPr>
        <p:spPr>
          <a:xfrm>
            <a:off x="10337142" y="2182600"/>
            <a:ext cx="1385657" cy="1150000"/>
          </a:xfrm>
          <a:prstGeom prst="rect">
            <a:avLst/>
          </a:prstGeom>
          <a:solidFill>
            <a:srgbClr val="FFFFFF"/>
          </a:solidFill>
          <a:ln w="9525">
            <a:solidFill>
              <a:srgbClr val="CED7E6"/>
            </a:solidFill>
          </a:ln>
        </p:spPr>
        <p:txBody>
          <a:bodyPr wrap="square" anchor="t" lIns="60000" tIns="60000" rIns="60000" bIns="60000">
            <a:noAutofit/>
          </a:bodyPr>
          <a:lstStyle/>
          <a:p>
            <a:pPr>
              <a:lnSpc>
                <a:spcPct val="108000"/>
              </a:lnSpc>
              <a:buNone/>
            </a:pPr>
            <a:r>
              <a:rPr lang="en-US" sz="900" b="0" i="0" dirty="0">
                <a:solidFill>
                  <a:srgbClr val="50658E"/>
                </a:solidFill>
                <a:latin typeface="Arial"/>
                <a:ea typeface="Arial"/>
                <a:cs typeface="Arial"/>
              </a:rPr>
              <a:t>Fixes ship outside the cadence as patches.</a:t>
            </a:r>
          </a:p>
        </p:txBody>
      </p:sp>
      <p:sp>
        <p:nvSpPr>
          <p:cNvPr id="222" name="RL Where it breaks"/>
          <p:cNvSpPr/>
          <p:nvPr/>
        </p:nvSpPr>
        <p:spPr>
          <a:xfrm>
            <a:off x="457200" y="3382600"/>
            <a:ext cx="1350000" cy="1350000"/>
          </a:xfrm>
          <a:prstGeom prst="rect">
            <a:avLst/>
          </a:prstGeom>
          <a:solidFill>
            <a:srgbClr val="E8EEF8"/>
          </a:solidFill>
          <a:ln w="0">
            <a:noFill/>
          </a:ln>
        </p:spPr>
        <p:txBody>
          <a:bodyPr wrap="square" anchor="ctr">
            <a:noAutofit/>
          </a:bodyPr>
          <a:lstStyle/>
          <a:p>
            <a:pPr>
              <a:lnSpc>
                <a:spcPct val="108000"/>
              </a:lnSpc>
              <a:buNone/>
            </a:pPr>
            <a:r>
              <a:rPr lang="en-US" sz="950" b="1" i="0" dirty="0">
                <a:solidFill>
                  <a:srgbClr val="070154"/>
                </a:solidFill>
                <a:latin typeface="Arial"/>
                <a:ea typeface="Arial"/>
                <a:cs typeface="Arial"/>
              </a:rPr>
              <a:t>Where it breaks</a:t>
            </a:r>
          </a:p>
        </p:txBody>
      </p:sp>
      <p:sp>
        <p:nvSpPr>
          <p:cNvPr id="223" name="C Where it breaks 0"/>
          <p:cNvSpPr/>
          <p:nvPr/>
        </p:nvSpPr>
        <p:spPr>
          <a:xfrm>
            <a:off x="1879200" y="3382600"/>
            <a:ext cx="1385657" cy="1350000"/>
          </a:xfrm>
          <a:prstGeom prst="rect">
            <a:avLst/>
          </a:prstGeom>
          <a:solidFill>
            <a:srgbClr val="FDE0DC"/>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B7412F"/>
                </a:solidFill>
                <a:latin typeface="Arial"/>
                <a:ea typeface="Arial"/>
                <a:cs typeface="Arial"/>
              </a:rPr>
              <a:t>QA and technical design are not in refinement.</a:t>
            </a:r>
          </a:p>
        </p:txBody>
      </p:sp>
      <p:sp>
        <p:nvSpPr>
          <p:cNvPr id="224" name="C Where it breaks 1"/>
          <p:cNvSpPr/>
          <p:nvPr/>
        </p:nvSpPr>
        <p:spPr>
          <a:xfrm>
            <a:off x="3288857" y="3382600"/>
            <a:ext cx="1385657" cy="1350000"/>
          </a:xfrm>
          <a:prstGeom prst="rect">
            <a:avLst/>
          </a:prstGeom>
          <a:solidFill>
            <a:srgbClr val="FDE0DC"/>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B7412F"/>
                </a:solidFill>
                <a:latin typeface="Arial"/>
                <a:ea typeface="Arial"/>
                <a:cs typeface="Arial"/>
              </a:rPr>
              <a:t>Patches and support land on the same people as sprint work.</a:t>
            </a:r>
          </a:p>
        </p:txBody>
      </p:sp>
      <p:sp>
        <p:nvSpPr>
          <p:cNvPr id="225" name="C Where it breaks 2"/>
          <p:cNvSpPr/>
          <p:nvPr/>
        </p:nvSpPr>
        <p:spPr>
          <a:xfrm>
            <a:off x="4698514" y="3382600"/>
            <a:ext cx="1385657" cy="1350000"/>
          </a:xfrm>
          <a:prstGeom prst="rect">
            <a:avLst/>
          </a:prstGeom>
          <a:solidFill>
            <a:srgbClr val="FDE0DC"/>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B7412F"/>
                </a:solidFill>
                <a:latin typeface="Arial"/>
                <a:ea typeface="Arial"/>
                <a:cs typeface="Arial"/>
              </a:rPr>
              <a:t>Docs written after coding; offshore has no live data access.</a:t>
            </a:r>
          </a:p>
        </p:txBody>
      </p:sp>
      <p:sp>
        <p:nvSpPr>
          <p:cNvPr id="226" name="C Where it breaks 3"/>
          <p:cNvSpPr/>
          <p:nvPr/>
        </p:nvSpPr>
        <p:spPr>
          <a:xfrm>
            <a:off x="6108171" y="3382600"/>
            <a:ext cx="1385657" cy="1350000"/>
          </a:xfrm>
          <a:prstGeom prst="rect">
            <a:avLst/>
          </a:prstGeom>
          <a:solidFill>
            <a:srgbClr val="FDE0DC"/>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B7412F"/>
                </a:solidFill>
                <a:latin typeface="Arial"/>
                <a:ea typeface="Arial"/>
                <a:cs typeface="Arial"/>
              </a:rPr>
              <a:t>Review rests on a small senior group.</a:t>
            </a:r>
          </a:p>
        </p:txBody>
      </p:sp>
      <p:sp>
        <p:nvSpPr>
          <p:cNvPr id="227" name="C Where it breaks 4"/>
          <p:cNvSpPr/>
          <p:nvPr/>
        </p:nvSpPr>
        <p:spPr>
          <a:xfrm>
            <a:off x="7517828" y="3382600"/>
            <a:ext cx="1385657" cy="1350000"/>
          </a:xfrm>
          <a:prstGeom prst="rect">
            <a:avLst/>
          </a:prstGeom>
          <a:solidFill>
            <a:srgbClr val="FDE0DC"/>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B7412F"/>
                </a:solidFill>
                <a:latin typeface="Arial"/>
                <a:ea typeface="Arial"/>
                <a:cs typeface="Arial"/>
              </a:rPr>
              <a:t>Most testing still manual; critical paths 10–15% automated; no performance tests.</a:t>
            </a:r>
          </a:p>
        </p:txBody>
      </p:sp>
      <p:sp>
        <p:nvSpPr>
          <p:cNvPr id="228" name="C Where it breaks 5"/>
          <p:cNvSpPr/>
          <p:nvPr/>
        </p:nvSpPr>
        <p:spPr>
          <a:xfrm>
            <a:off x="8927485" y="3382600"/>
            <a:ext cx="1385657" cy="1350000"/>
          </a:xfrm>
          <a:prstGeom prst="rect">
            <a:avLst/>
          </a:prstGeom>
          <a:solidFill>
            <a:srgbClr val="FDE0DC"/>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B7412F"/>
                </a:solidFill>
                <a:latin typeface="Arial"/>
                <a:ea typeface="Arial"/>
                <a:cs typeface="Arial"/>
              </a:rPr>
              <a:t>3–4 days for QA and UAT; pre-live is not production-like; merge on release day.</a:t>
            </a:r>
          </a:p>
        </p:txBody>
      </p:sp>
      <p:sp>
        <p:nvSpPr>
          <p:cNvPr id="229" name="C Where it breaks 6"/>
          <p:cNvSpPr/>
          <p:nvPr/>
        </p:nvSpPr>
        <p:spPr>
          <a:xfrm>
            <a:off x="10337142" y="3382600"/>
            <a:ext cx="1385657" cy="1350000"/>
          </a:xfrm>
          <a:prstGeom prst="rect">
            <a:avLst/>
          </a:prstGeom>
          <a:solidFill>
            <a:srgbClr val="FDE0DC"/>
          </a:solidFill>
          <a:ln w="9525">
            <a:solidFill>
              <a:srgbClr val="CED7E6"/>
            </a:solidFill>
          </a:ln>
        </p:spPr>
        <p:txBody>
          <a:bodyPr wrap="square" anchor="t" lIns="60000" tIns="60000" rIns="60000" bIns="60000">
            <a:noAutofit/>
          </a:bodyPr>
          <a:lstStyle/>
          <a:p>
            <a:pPr>
              <a:lnSpc>
                <a:spcPct val="108000"/>
              </a:lnSpc>
              <a:buNone/>
            </a:pPr>
            <a:r>
              <a:rPr lang="en-US" sz="900" b="1" i="0" dirty="0">
                <a:solidFill>
                  <a:srgbClr val="B7412F"/>
                </a:solidFill>
                <a:latin typeface="Arial"/>
                <a:ea typeface="Arial"/>
                <a:cs typeface="Arial"/>
              </a:rPr>
              <a:t>15 unplanned changes in 2026; causes not trended; same expiry twice.</a:t>
            </a:r>
          </a:p>
        </p:txBody>
      </p:sp>
      <p:sp>
        <p:nvSpPr>
          <p:cNvPr id="230" name="Bar 230"/>
          <p:cNvSpPr/>
          <p:nvPr/>
        </p:nvSpPr>
        <p:spPr>
          <a:xfrm>
            <a:off x="457200" y="5560000"/>
            <a:ext cx="11277600" cy="42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Only one delivery number exists today: story points. Nobody can see lead time, failure rate, or where work waits.</a:t>
            </a:r>
          </a:p>
        </p:txBody>
      </p:sp>
    </p:spTree>
    <p:extLst>
      <p:ext uri="{BB962C8B-B14F-4D97-AF65-F5344CB8AC3E}">
        <p14:creationId xmlns:p14="http://schemas.microsoft.com/office/powerpoint/2010/main" val="28870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Stabilize Core SDLC: action plan</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Fixes findings 1, 2, and 3. Delivered through Testing &amp; release controls, with the process map in Reconcile AI engineering across Core.</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MOVE 1 · STABILIZE CORE SDLC</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Action Table"/>
          <p:cNvGraphicFramePr>
            <a:graphicFrameLocks noGrp="1"/>
          </p:cNvGraphicFramePr>
          <p:nvPr/>
        </p:nvGraphicFramePr>
        <p:xfrm>
          <a:off x="457200" y="1752600"/>
          <a:ext cx="11277600" cy="3180000"/>
        </p:xfrm>
        <a:graphic>
          <a:graphicData uri="http://schemas.openxmlformats.org/drawingml/2006/table">
            <a:tbl>
              <a:tblPr/>
              <a:tblGrid>
                <a:gridCol w="1650000"/>
                <a:gridCol w="3400000"/>
                <a:gridCol w="1700000"/>
                <a:gridCol w="1400000"/>
                <a:gridCol w="700000"/>
                <a:gridCol w="2427600"/>
              </a:tblGrid>
              <a:tr h="360000">
                <a:tc>
                  <a:txBody>
                    <a:bodyPr/>
                    <a:lstStyle/>
                    <a:p>
                      <a:pPr>
                        <a:lnSpc>
                          <a:spcPct val="102000"/>
                        </a:lnSpc>
                        <a:buNone/>
                      </a:pPr>
                      <a:r>
                        <a:rPr lang="en-US" sz="900" b="1" i="0" dirty="0">
                          <a:solidFill>
                            <a:srgbClr val="FFFFFF"/>
                          </a:solidFill>
                          <a:latin typeface="Arial"/>
                          <a:ea typeface="Arial"/>
                          <a:cs typeface="Arial"/>
                        </a:rPr>
                        <a:t>Action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What, exactly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DXC 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West Monroe role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Weeks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Done when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470000">
                <a:tc>
                  <a:txBody>
                    <a:bodyPr/>
                    <a:lstStyle/>
                    <a:p>
                      <a:pPr>
                        <a:lnSpc>
                          <a:spcPct val="102000"/>
                        </a:lnSpc>
                        <a:buNone/>
                      </a:pPr>
                      <a:r>
                        <a:rPr lang="en-US" sz="950" b="1" i="0" dirty="0">
                          <a:solidFill>
                            <a:srgbClr val="070154"/>
                          </a:solidFill>
                          <a:latin typeface="Arial"/>
                          <a:ea typeface="Arial"/>
                          <a:cs typeface="Arial"/>
                        </a:rPr>
                        <a:t>Patch triage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Classify the 15 unplanned 2026 changes by cause: code, configuration, data, credential, or unknown.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Release management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Every unplanned change has a cause and an 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Cert inventory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List every credential and certificate with expiry date and owner; alert before expiry.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Release management + DevOps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100% of credentials and certificates have an owner and an alert.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Hardening window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Adopt QA's plan to release 9–10 days after dev done, and settle the branch strategy.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Engineering leadership + QA lead +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Executive Engineering Leader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First Core release ships on the new window.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Templated environments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Template the VM-based QA and pre-live environments so two releases can be in flight.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DevOps + application architects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2–6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Environments start from a template; two releases run without conflict.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Same-build promotion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Release the build that passed pre-live instead of a new merge on release 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DevOps + Release management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3–6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Pre-live and production build IDs match for every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Hotfix lane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Each patch or rollback gets a cause code and a short review within the sprint.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Release management + Core engineering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2–6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No patch closes without a recorded root cause.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Bar 300"/>
          <p:cNvSpPr/>
          <p:nvPr/>
        </p:nvSpPr>
        <p:spPr>
          <a:xfrm>
            <a:off x="457200" y="5080000"/>
            <a:ext cx="11277600" cy="360000"/>
          </a:xfrm>
          <a:prstGeom prst="rect">
            <a:avLst/>
          </a:prstGeom>
          <a:solidFill>
            <a:srgbClr val="E8EEF8"/>
          </a:solidFill>
          <a:ln w="0">
            <a:noFill/>
          </a:ln>
        </p:spPr>
        <p:txBody>
          <a:bodyPr wrap="square" anchor="ctr">
            <a:noAutofit/>
          </a:bodyPr>
          <a:lstStyle/>
          <a:p>
            <a:pPr>
              <a:lnSpc>
                <a:spcPct val="108000"/>
              </a:lnSpc>
              <a:buNone/>
            </a:pPr>
            <a:r>
              <a:rPr lang="en-US" sz="1000" b="1" i="0" dirty="0">
                <a:solidFill>
                  <a:srgbClr val="F900D3"/>
                </a:solidFill>
                <a:latin typeface="Arial"/>
                <a:ea typeface="Arial"/>
                <a:cs typeface="Arial"/>
              </a:rPr>
              <a:t>Decision needed:  </a:t>
            </a:r>
            <a:r>
              <a:rPr lang="en-US" sz="950" b="1" i="0" dirty="0">
                <a:solidFill>
                  <a:srgbClr val="070154"/>
                </a:solidFill>
                <a:latin typeface="Arial"/>
                <a:ea typeface="Arial"/>
                <a:cs typeface="Arial"/>
              </a:rPr>
              <a:t>Name the triage owner, approve the hardening window and same-build promotion, and fund environment templating by week 2.</a:t>
            </a:r>
          </a:p>
        </p:txBody>
      </p:sp>
      <p:sp>
        <p:nvSpPr>
          <p:cNvPr id="301" name="Bar 301"/>
          <p:cNvSpPr/>
          <p:nvPr/>
        </p:nvSpPr>
        <p:spPr>
          <a:xfrm>
            <a:off x="457200" y="5500000"/>
            <a:ext cx="11277600" cy="46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Measure:  </a:t>
            </a:r>
            <a:r>
              <a:rPr lang="en-US" sz="900" b="0" i="0" dirty="0">
                <a:solidFill>
                  <a:srgbClr val="FFFFFF"/>
                </a:solidFill>
                <a:latin typeface="Arial"/>
                <a:ea typeface="Arial"/>
                <a:cs typeface="Arial"/>
              </a:rPr>
              <a:t>Unplanned release events (2026: 15 of 30)  ·  Repeat causes: zero  ·  Test window: 3–4 days → 9–10  ·  Matching builds: 100%</a:t>
            </a:r>
          </a:p>
        </p:txBody>
      </p:sp>
    </p:spTree>
    <p:extLst>
      <p:ext uri="{BB962C8B-B14F-4D97-AF65-F5344CB8AC3E}">
        <p14:creationId xmlns:p14="http://schemas.microsoft.com/office/powerpoint/2010/main" val="288705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Agile with Claude Code: what changes in each ceremony</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Reconcile AI's spec-driven pattern and QA's tools, adapted to Core's Scrum. People keep every decision; Claude does the drafting.</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MOVE 2 · AGILE WITH CLAUDE CODE</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Agile"/>
          <p:cNvGraphicFramePr>
            <a:graphicFrameLocks noGrp="1"/>
          </p:cNvGraphicFramePr>
          <p:nvPr/>
        </p:nvGraphicFramePr>
        <p:xfrm>
          <a:off x="457200" y="1752600"/>
          <a:ext cx="11277600" cy="2960000"/>
        </p:xfrm>
        <a:graphic>
          <a:graphicData uri="http://schemas.openxmlformats.org/drawingml/2006/table">
            <a:tbl>
              <a:tblPr/>
              <a:tblGrid>
                <a:gridCol w="1650000"/>
                <a:gridCol w="2900000"/>
                <a:gridCol w="3800000"/>
                <a:gridCol w="2927600"/>
              </a:tblGrid>
              <a:tr h="360000">
                <a:tc>
                  <a:txBody>
                    <a:bodyPr/>
                    <a:lstStyle/>
                    <a:p>
                      <a:pPr>
                        <a:lnSpc>
                          <a:spcPct val="102000"/>
                        </a:lnSpc>
                        <a:buNone/>
                      </a:pPr>
                      <a:r>
                        <a:rPr lang="en-US" sz="900" b="1" i="0" dirty="0">
                          <a:solidFill>
                            <a:srgbClr val="FFFFFF"/>
                          </a:solidFill>
                          <a:latin typeface="Arial"/>
                          <a:ea typeface="Arial"/>
                          <a:cs typeface="Arial"/>
                        </a:rPr>
                        <a:t>Ceremony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Today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With Claude Code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900D3"/>
                    </a:solidFill>
                  </a:tcPr>
                </a:tc>
                <a:tc>
                  <a:txBody>
                    <a:bodyPr/>
                    <a:lstStyle/>
                    <a:p>
                      <a:pPr>
                        <a:lnSpc>
                          <a:spcPct val="102000"/>
                        </a:lnSpc>
                        <a:buNone/>
                      </a:pPr>
                      <a:r>
                        <a:rPr lang="en-US" sz="900" b="1" i="0" dirty="0">
                          <a:solidFill>
                            <a:srgbClr val="FFFFFF"/>
                          </a:solidFill>
                          <a:latin typeface="Arial"/>
                          <a:ea typeface="Arial"/>
                          <a:cs typeface="Arial"/>
                        </a:rPr>
                        <a:t>Human gate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520000">
                <a:tc>
                  <a:txBody>
                    <a:bodyPr/>
                    <a:lstStyle/>
                    <a:p>
                      <a:pPr>
                        <a:lnSpc>
                          <a:spcPct val="102000"/>
                        </a:lnSpc>
                        <a:buNone/>
                      </a:pPr>
                      <a:r>
                        <a:rPr lang="en-US" sz="1000" b="1" i="0" dirty="0">
                          <a:solidFill>
                            <a:srgbClr val="070154"/>
                          </a:solidFill>
                          <a:latin typeface="Arial"/>
                          <a:ea typeface="Arial"/>
                          <a:cs typeface="Arial"/>
                        </a:rPr>
                        <a:t>Refinement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PMs and engineers estimate stories by vote.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Claude drafts acceptance criteria and test cases from the spec.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dirty="0">
                          <a:solidFill>
                            <a:srgbClr val="070154"/>
                          </a:solidFill>
                          <a:latin typeface="Arial"/>
                          <a:ea typeface="Arial"/>
                          <a:cs typeface="Arial"/>
                        </a:rPr>
                        <a:t>PM and QA lead approve the story as Ready.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520000">
                <a:tc>
                  <a:txBody>
                    <a:bodyPr/>
                    <a:lstStyle/>
                    <a:p>
                      <a:pPr>
                        <a:lnSpc>
                          <a:spcPct val="102000"/>
                        </a:lnSpc>
                        <a:buNone/>
                      </a:pPr>
                      <a:r>
                        <a:rPr lang="en-US" sz="1000" b="1" i="0" dirty="0">
                          <a:solidFill>
                            <a:srgbClr val="070154"/>
                          </a:solidFill>
                          <a:latin typeface="Arial"/>
                          <a:ea typeface="Arial"/>
                          <a:cs typeface="Arial"/>
                        </a:rPr>
                        <a:t>Planning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About 65 points; the lead assigns work by skill.</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Smaller slices; capacity reserved for support and patches.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dirty="0">
                          <a:solidFill>
                            <a:srgbClr val="070154"/>
                          </a:solidFill>
                          <a:latin typeface="Arial"/>
                          <a:ea typeface="Arial"/>
                          <a:cs typeface="Arial"/>
                        </a:rPr>
                        <a:t>Scrum master and lead confirm capacity.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520000">
                <a:tc>
                  <a:txBody>
                    <a:bodyPr/>
                    <a:lstStyle/>
                    <a:p>
                      <a:pPr>
                        <a:lnSpc>
                          <a:spcPct val="102000"/>
                        </a:lnSpc>
                        <a:buNone/>
                      </a:pPr>
                      <a:r>
                        <a:rPr lang="en-US" sz="1000" b="1" i="0" dirty="0">
                          <a:solidFill>
                            <a:srgbClr val="070154"/>
                          </a:solidFill>
                          <a:latin typeface="Arial"/>
                          <a:ea typeface="Arial"/>
                          <a:cs typeface="Arial"/>
                        </a:rPr>
                        <a:t>Build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Copilot autocomplete; docs written after coding.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Claude Code implements, writes unit tests, and drafts docs in the existing Java codebase.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dirty="0">
                          <a:solidFill>
                            <a:srgbClr val="070154"/>
                          </a:solidFill>
                          <a:latin typeface="Arial"/>
                          <a:ea typeface="Arial"/>
                          <a:cs typeface="Arial"/>
                        </a:rPr>
                        <a:t>The engineer owns every line merged.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520000">
                <a:tc>
                  <a:txBody>
                    <a:bodyPr/>
                    <a:lstStyle/>
                    <a:p>
                      <a:pPr>
                        <a:lnSpc>
                          <a:spcPct val="102000"/>
                        </a:lnSpc>
                        <a:buNone/>
                      </a:pPr>
                      <a:r>
                        <a:rPr lang="en-US" sz="1000" b="1" i="0" dirty="0">
                          <a:solidFill>
                            <a:srgbClr val="070154"/>
                          </a:solidFill>
                          <a:latin typeface="Arial"/>
                          <a:ea typeface="Arial"/>
                          <a:cs typeface="Arial"/>
                        </a:rPr>
                        <a:t>Review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Senior review for every PR.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QA's Claude PR bot, moved into the pipeline, pre-reviews every Core PR.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dirty="0">
                          <a:solidFill>
                            <a:srgbClr val="070154"/>
                          </a:solidFill>
                          <a:latin typeface="Arial"/>
                          <a:ea typeface="Arial"/>
                          <a:cs typeface="Arial"/>
                        </a:rPr>
                        <a:t>Rotating reviewer approves; senior review for high-risk PRs.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520000">
                <a:tc>
                  <a:txBody>
                    <a:bodyPr/>
                    <a:lstStyle/>
                    <a:p>
                      <a:pPr>
                        <a:lnSpc>
                          <a:spcPct val="102000"/>
                        </a:lnSpc>
                        <a:buNone/>
                      </a:pPr>
                      <a:r>
                        <a:rPr lang="en-US" sz="1000" b="1" i="0" dirty="0">
                          <a:solidFill>
                            <a:srgbClr val="070154"/>
                          </a:solidFill>
                          <a:latin typeface="Arial"/>
                          <a:ea typeface="Arial"/>
                          <a:cs typeface="Arial"/>
                        </a:rPr>
                        <a:t>Retrospective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Held every sprint, without delivery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Cycle time by stage, escaped defects, and unplanned work on screen.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900" b="0" i="0" dirty="0">
                          <a:solidFill>
                            <a:srgbClr val="070154"/>
                          </a:solidFill>
                          <a:latin typeface="Arial"/>
                          <a:ea typeface="Arial"/>
                          <a:cs typeface="Arial"/>
                        </a:rPr>
                        <a:t>The team commits to one change per sprint.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Bar 300"/>
          <p:cNvSpPr/>
          <p:nvPr/>
        </p:nvSpPr>
        <p:spPr>
          <a:xfrm>
            <a:off x="457200" y="5080000"/>
            <a:ext cx="11277600" cy="360000"/>
          </a:xfrm>
          <a:prstGeom prst="rect">
            <a:avLst/>
          </a:prstGeom>
          <a:solidFill>
            <a:srgbClr val="E8EEF8"/>
          </a:solidFill>
          <a:ln w="0">
            <a:noFill/>
          </a:ln>
        </p:spPr>
        <p:txBody>
          <a:bodyPr wrap="square" anchor="ctr">
            <a:noAutofit/>
          </a:bodyPr>
          <a:lstStyle/>
          <a:p>
            <a:pPr>
              <a:lnSpc>
                <a:spcPct val="108000"/>
              </a:lnSpc>
              <a:buNone/>
            </a:pPr>
            <a:r>
              <a:rPr lang="en-US" sz="1000" b="1" i="0" dirty="0">
                <a:solidFill>
                  <a:srgbClr val="F900D3"/>
                </a:solidFill>
                <a:latin typeface="Arial"/>
                <a:ea typeface="Arial"/>
                <a:cs typeface="Arial"/>
              </a:rPr>
              <a:t>Guardrails:  </a:t>
            </a:r>
            <a:r>
              <a:rPr lang="en-US" sz="900" b="1" i="0" dirty="0">
                <a:solidFill>
                  <a:srgbClr val="070154"/>
                </a:solidFill>
                <a:latin typeface="Arial"/>
                <a:ea typeface="Arial"/>
                <a:cs typeface="Arial"/>
              </a:rPr>
              <a:t>sanctioned access for every engineer, contractors included  ·  tools run in DXC's accounts  ·  no PHI in prompts  ·  cost tracked per run</a:t>
            </a:r>
          </a:p>
        </p:txBody>
      </p:sp>
      <p:sp>
        <p:nvSpPr>
          <p:cNvPr id="301" name="Bar 301"/>
          <p:cNvSpPr/>
          <p:nvPr/>
        </p:nvSpPr>
        <p:spPr>
          <a:xfrm>
            <a:off x="457200" y="5500000"/>
            <a:ext cx="11277600" cy="460000"/>
          </a:xfrm>
          <a:prstGeom prst="rect">
            <a:avLst/>
          </a:prstGeom>
          <a:solidFill>
            <a:srgbClr val="0047FF"/>
          </a:solidFill>
          <a:ln w="0">
            <a:noFill/>
          </a:ln>
        </p:spPr>
        <p:txBody>
          <a:bodyPr wrap="square" anchor="ctr">
            <a:noAutofit/>
          </a:bodyPr>
          <a:lstStyle/>
          <a:p>
            <a:pPr>
              <a:lnSpc>
                <a:spcPct val="108000"/>
              </a:lnSpc>
              <a:buNone/>
            </a:pPr>
            <a:r>
              <a:rPr lang="en-US" sz="950" b="1" i="0" dirty="0">
                <a:solidFill>
                  <a:srgbClr val="FFFFFF"/>
                </a:solidFill>
                <a:latin typeface="Arial"/>
                <a:ea typeface="Arial"/>
                <a:cs typeface="Arial"/>
              </a:rPr>
              <a:t>Not a modernization of Core: same backlog, same sprints, same codebase. Pilot on the Rules Engine and one Core team, then scale at the week-6 gate.</a:t>
            </a:r>
          </a:p>
        </p:txBody>
      </p:sp>
    </p:spTree>
    <p:extLst>
      <p:ext uri="{BB962C8B-B14F-4D97-AF65-F5344CB8AC3E}">
        <p14:creationId xmlns:p14="http://schemas.microsoft.com/office/powerpoint/2010/main" val="288705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Agile with Claude Code: action plan</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Fixes findings 4 and 5. Delivered through the Reconcile AI engineering across Core workstream.</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MOVE 2 · AGILE WITH CLAUDE CODE</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Action Table"/>
          <p:cNvGraphicFramePr>
            <a:graphicFrameLocks noGrp="1"/>
          </p:cNvGraphicFramePr>
          <p:nvPr/>
        </p:nvGraphicFramePr>
        <p:xfrm>
          <a:off x="457200" y="1752600"/>
          <a:ext cx="11277600" cy="3180000"/>
        </p:xfrm>
        <a:graphic>
          <a:graphicData uri="http://schemas.openxmlformats.org/drawingml/2006/table">
            <a:tbl>
              <a:tblPr/>
              <a:tblGrid>
                <a:gridCol w="1650000"/>
                <a:gridCol w="3400000"/>
                <a:gridCol w="1700000"/>
                <a:gridCol w="1400000"/>
                <a:gridCol w="700000"/>
                <a:gridCol w="2427600"/>
              </a:tblGrid>
              <a:tr h="360000">
                <a:tc>
                  <a:txBody>
                    <a:bodyPr/>
                    <a:lstStyle/>
                    <a:p>
                      <a:pPr>
                        <a:lnSpc>
                          <a:spcPct val="102000"/>
                        </a:lnSpc>
                        <a:buNone/>
                      </a:pPr>
                      <a:r>
                        <a:rPr lang="en-US" sz="900" b="1" i="0" dirty="0">
                          <a:solidFill>
                            <a:srgbClr val="FFFFFF"/>
                          </a:solidFill>
                          <a:latin typeface="Arial"/>
                          <a:ea typeface="Arial"/>
                          <a:cs typeface="Arial"/>
                        </a:rPr>
                        <a:t>Action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What, exactly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DXC 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West Monroe role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Weeks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Done when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470000">
                <a:tc>
                  <a:txBody>
                    <a:bodyPr/>
                    <a:lstStyle/>
                    <a:p>
                      <a:pPr>
                        <a:lnSpc>
                          <a:spcPct val="102000"/>
                        </a:lnSpc>
                        <a:buNone/>
                      </a:pPr>
                      <a:r>
                        <a:rPr lang="en-US" sz="950" b="1" i="0" dirty="0">
                          <a:solidFill>
                            <a:srgbClr val="070154"/>
                          </a:solidFill>
                          <a:latin typeface="Arial"/>
                          <a:ea typeface="Arial"/>
                          <a:cs typeface="Arial"/>
                        </a:rPr>
                        <a:t>Spec before date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No customer date without an engineering estimate and a signed tech spec.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Product + 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Executive Engineering Leader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Rule adopted, starting with the Rules Engine.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Ready gate, spec first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Ready means acceptance criteria, test cases, and tech notes; the Rules Engine spec is drafted by the agent and signed.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Core engineering lead + PMs + QA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Senior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1–4</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No story enters a sprint without Ready; Rules Engine spec signed.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Core skill library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Adapt Reconcile AI's skills to Core's Java stack: spec, unit tests, review, docs.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Core engineering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Senior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Skills versioned and tested on one real Core epic.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Claude Code pairing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Engineers use Claude Code on real Core stories, with a hands-on workshop in week 4.</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Core engineers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Senior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3–6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Pilot team ships two sprints with AI-assisted stories.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PR gate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Extend QA's Claude PR bot to Core PRs in the pipeline; add a rotating second reviewer.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Core engineering lead + QA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Senior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2–5</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Every Core PR has an AI pre-review and a second reviewer.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Sprint rhythm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Reserve run-lane capacity in every plan; each retro reviews cycle time and escaped defects.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Scrum master + PMs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Senior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Run-lane capacity in every plan; two retros held on data.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Bar 300"/>
          <p:cNvSpPr/>
          <p:nvPr/>
        </p:nvSpPr>
        <p:spPr>
          <a:xfrm>
            <a:off x="457200" y="5080000"/>
            <a:ext cx="11277600" cy="360000"/>
          </a:xfrm>
          <a:prstGeom prst="rect">
            <a:avLst/>
          </a:prstGeom>
          <a:solidFill>
            <a:srgbClr val="E8EEF8"/>
          </a:solidFill>
          <a:ln w="0">
            <a:noFill/>
          </a:ln>
        </p:spPr>
        <p:txBody>
          <a:bodyPr wrap="square" anchor="ctr">
            <a:noAutofit/>
          </a:bodyPr>
          <a:lstStyle/>
          <a:p>
            <a:pPr>
              <a:lnSpc>
                <a:spcPct val="108000"/>
              </a:lnSpc>
              <a:buNone/>
            </a:pPr>
            <a:r>
              <a:rPr lang="en-US" sz="1000" b="1" i="0" dirty="0">
                <a:solidFill>
                  <a:srgbClr val="F900D3"/>
                </a:solidFill>
                <a:latin typeface="Arial"/>
                <a:ea typeface="Arial"/>
                <a:cs typeface="Arial"/>
              </a:rPr>
              <a:t>Decision needed:  </a:t>
            </a:r>
            <a:r>
              <a:rPr lang="en-US" sz="950" b="1" i="0" dirty="0">
                <a:solidFill>
                  <a:srgbClr val="070154"/>
                </a:solidFill>
                <a:latin typeface="Arial"/>
                <a:ea typeface="Arial"/>
                <a:cs typeface="Arial"/>
              </a:rPr>
              <a:t>Adopt the spec-before-date rule and approve sanctioned Claude Code access for the pilot team, contractors included, by week 2.</a:t>
            </a:r>
          </a:p>
        </p:txBody>
      </p:sp>
      <p:sp>
        <p:nvSpPr>
          <p:cNvPr id="301" name="Bar 301"/>
          <p:cNvSpPr/>
          <p:nvPr/>
        </p:nvSpPr>
        <p:spPr>
          <a:xfrm>
            <a:off x="457200" y="5500000"/>
            <a:ext cx="11277600" cy="46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Measure:  </a:t>
            </a:r>
            <a:r>
              <a:rPr lang="en-US" sz="900" b="0" i="0" dirty="0">
                <a:solidFill>
                  <a:srgbClr val="FFFFFF"/>
                </a:solidFill>
                <a:latin typeface="Arial"/>
                <a:ea typeface="Arial"/>
                <a:cs typeface="Arial"/>
              </a:rPr>
              <a:t>Commitments with a signed spec: 100%  ·  Cycle time by stage  ·  Stories meeting Ready  ·  PRs with AI pre-review</a:t>
            </a:r>
          </a:p>
        </p:txBody>
      </p:sp>
    </p:spTree>
    <p:extLst>
      <p:ext uri="{BB962C8B-B14F-4D97-AF65-F5344CB8AC3E}">
        <p14:creationId xmlns:p14="http://schemas.microsoft.com/office/powerpoint/2010/main" val="288705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Robust QA: scale what QA has built, layer by layer</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Seven layers, each with an owner. The gaps are coverage, performance, environments, and QA leadership capacity.</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MOVE 3 · ROBUST QA</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QA"/>
          <p:cNvGraphicFramePr>
            <a:graphicFrameLocks noGrp="1"/>
          </p:cNvGraphicFramePr>
          <p:nvPr/>
        </p:nvGraphicFramePr>
        <p:xfrm>
          <a:off x="457200" y="1752600"/>
          <a:ext cx="11277600" cy="3105000"/>
        </p:xfrm>
        <a:graphic>
          <a:graphicData uri="http://schemas.openxmlformats.org/drawingml/2006/table">
            <a:tbl>
              <a:tblPr/>
              <a:tblGrid>
                <a:gridCol w="1650000"/>
                <a:gridCol w="2300000"/>
                <a:gridCol w="4800000"/>
                <a:gridCol w="2527600"/>
              </a:tblGrid>
              <a:tr h="340000">
                <a:tc>
                  <a:txBody>
                    <a:bodyPr/>
                    <a:lstStyle/>
                    <a:p>
                      <a:pPr>
                        <a:lnSpc>
                          <a:spcPct val="102000"/>
                        </a:lnSpc>
                        <a:buNone/>
                      </a:pPr>
                      <a:r>
                        <a:rPr lang="en-US" sz="900" b="1" i="0" dirty="0">
                          <a:solidFill>
                            <a:srgbClr val="FFFFFF"/>
                          </a:solidFill>
                          <a:latin typeface="Arial"/>
                          <a:ea typeface="Arial"/>
                          <a:cs typeface="Arial"/>
                        </a:rPr>
                        <a:t>Layer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Who</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What changes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Today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395000">
                <a:tc>
                  <a:txBody>
                    <a:bodyPr/>
                    <a:lstStyle/>
                    <a:p>
                      <a:pPr>
                        <a:lnSpc>
                          <a:spcPct val="102000"/>
                        </a:lnSpc>
                        <a:buNone/>
                      </a:pPr>
                      <a:r>
                        <a:rPr lang="en-US" sz="1000" b="1" i="0" dirty="0">
                          <a:solidFill>
                            <a:srgbClr val="070154"/>
                          </a:solidFill>
                          <a:latin typeface="Arial"/>
                          <a:ea typeface="Arial"/>
                          <a:cs typeface="Arial"/>
                        </a:rPr>
                        <a:t>Refinement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070154"/>
                          </a:solidFill>
                          <a:latin typeface="Arial"/>
                          <a:ea typeface="Arial"/>
                          <a:cs typeface="Arial"/>
                        </a:rPr>
                        <a:t>QA lead + PMs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Test cases written from acceptance criteria; QA's Jira test generator drafts them.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80" b="1" i="0" dirty="0">
                          <a:solidFill>
                            <a:srgbClr val="B7412F"/>
                          </a:solidFill>
                          <a:latin typeface="Arial"/>
                          <a:ea typeface="Arial"/>
                          <a:cs typeface="Arial"/>
                        </a:rPr>
                        <a:t>QA not in the room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r>
              <a:tr h="395000">
                <a:tc>
                  <a:txBody>
                    <a:bodyPr/>
                    <a:lstStyle/>
                    <a:p>
                      <a:pPr>
                        <a:lnSpc>
                          <a:spcPct val="102000"/>
                        </a:lnSpc>
                        <a:buNone/>
                      </a:pPr>
                      <a:r>
                        <a:rPr lang="en-US" sz="1000" b="1" i="0" dirty="0">
                          <a:solidFill>
                            <a:srgbClr val="070154"/>
                          </a:solidFill>
                          <a:latin typeface="Arial"/>
                          <a:ea typeface="Arial"/>
                          <a:cs typeface="Arial"/>
                        </a:rPr>
                        <a:t>Unit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070154"/>
                          </a:solidFill>
                          <a:latin typeface="Arial"/>
                          <a:ea typeface="Arial"/>
                          <a:cs typeface="Arial"/>
                        </a:rPr>
                        <a:t>Core engineers + Claude Code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Changed code ships with unit tests, drafted by Claude and reviewed.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80" b="1" i="0" dirty="0">
                          <a:solidFill>
                            <a:srgbClr val="B7412F"/>
                          </a:solidFill>
                          <a:latin typeface="Arial"/>
                          <a:ea typeface="Arial"/>
                          <a:cs typeface="Arial"/>
                        </a:rPr>
                        <a:t>Engineering only; not measured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r>
              <a:tr h="395000">
                <a:tc>
                  <a:txBody>
                    <a:bodyPr/>
                    <a:lstStyle/>
                    <a:p>
                      <a:pPr>
                        <a:lnSpc>
                          <a:spcPct val="102000"/>
                        </a:lnSpc>
                        <a:buNone/>
                      </a:pPr>
                      <a:r>
                        <a:rPr lang="en-US" sz="1000" b="1" i="0" dirty="0">
                          <a:solidFill>
                            <a:srgbClr val="070154"/>
                          </a:solidFill>
                          <a:latin typeface="Arial"/>
                          <a:ea typeface="Arial"/>
                          <a:cs typeface="Arial"/>
                        </a:rPr>
                        <a:t>API and UI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070154"/>
                          </a:solidFill>
                          <a:latin typeface="Arial"/>
                          <a:ea typeface="Arial"/>
                          <a:cs typeface="Arial"/>
                        </a:rPr>
                        <a:t>QA (Playwright, Postman)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Claude-based agents draft tests from the backlog daily; the PR bot reviews them.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80" b="1" i="0" dirty="0">
                          <a:solidFill>
                            <a:srgbClr val="B7412F"/>
                          </a:solidFill>
                          <a:latin typeface="Arial"/>
                          <a:ea typeface="Arial"/>
                          <a:cs typeface="Arial"/>
                        </a:rPr>
                        <a:t>200+ automated on Core; most manual</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r>
              <a:tr h="395000">
                <a:tc>
                  <a:txBody>
                    <a:bodyPr/>
                    <a:lstStyle/>
                    <a:p>
                      <a:pPr>
                        <a:lnSpc>
                          <a:spcPct val="102000"/>
                        </a:lnSpc>
                        <a:buNone/>
                      </a:pPr>
                      <a:r>
                        <a:rPr lang="en-US" sz="1000" b="1" i="0" dirty="0">
                          <a:solidFill>
                            <a:srgbClr val="070154"/>
                          </a:solidFill>
                          <a:latin typeface="Arial"/>
                          <a:ea typeface="Arial"/>
                          <a:cs typeface="Arial"/>
                        </a:rPr>
                        <a:t>Critical paths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070154"/>
                          </a:solidFill>
                          <a:latin typeface="Arial"/>
                          <a:ea typeface="Arial"/>
                          <a:cs typeface="Arial"/>
                        </a:rPr>
                        <a:t>QA + Product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Paths already defined with Product, automated release by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80" b="1" i="0" dirty="0">
                          <a:solidFill>
                            <a:srgbClr val="B7412F"/>
                          </a:solidFill>
                          <a:latin typeface="Arial"/>
                          <a:ea typeface="Arial"/>
                          <a:cs typeface="Arial"/>
                        </a:rPr>
                        <a:t>10–15% automated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r>
              <a:tr h="395000">
                <a:tc>
                  <a:txBody>
                    <a:bodyPr/>
                    <a:lstStyle/>
                    <a:p>
                      <a:pPr>
                        <a:lnSpc>
                          <a:spcPct val="102000"/>
                        </a:lnSpc>
                        <a:buNone/>
                      </a:pPr>
                      <a:r>
                        <a:rPr lang="en-US" sz="1000" b="1" i="0" dirty="0">
                          <a:solidFill>
                            <a:srgbClr val="070154"/>
                          </a:solidFill>
                          <a:latin typeface="Arial"/>
                          <a:ea typeface="Arial"/>
                          <a:cs typeface="Arial"/>
                        </a:rPr>
                        <a:t>Performance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070154"/>
                          </a:solidFill>
                          <a:latin typeface="Arial"/>
                          <a:ea typeface="Arial"/>
                          <a:cs typeface="Arial"/>
                        </a:rPr>
                        <a:t>QA + DevOps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Baseline load tests on the highest-volume Core flows.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80" b="1" i="0" dirty="0">
                          <a:solidFill>
                            <a:srgbClr val="B7412F"/>
                          </a:solidFill>
                          <a:latin typeface="Arial"/>
                          <a:ea typeface="Arial"/>
                          <a:cs typeface="Arial"/>
                        </a:rPr>
                        <a:t>Not done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r>
              <a:tr h="395000">
                <a:tc>
                  <a:txBody>
                    <a:bodyPr/>
                    <a:lstStyle/>
                    <a:p>
                      <a:pPr>
                        <a:lnSpc>
                          <a:spcPct val="102000"/>
                        </a:lnSpc>
                        <a:buNone/>
                      </a:pPr>
                      <a:r>
                        <a:rPr lang="en-US" sz="1000" b="1" i="0" dirty="0">
                          <a:solidFill>
                            <a:srgbClr val="070154"/>
                          </a:solidFill>
                          <a:latin typeface="Arial"/>
                          <a:ea typeface="Arial"/>
                          <a:cs typeface="Arial"/>
                        </a:rPr>
                        <a:t>UAT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070154"/>
                          </a:solidFill>
                          <a:latin typeface="Arial"/>
                          <a:ea typeface="Arial"/>
                          <a:cs typeface="Arial"/>
                        </a:rPr>
                        <a:t>Product owners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Realistic scenarios in pre-live, inside the hardening window.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80" b="1" i="0" dirty="0">
                          <a:solidFill>
                            <a:srgbClr val="B7412F"/>
                          </a:solidFill>
                          <a:latin typeface="Arial"/>
                          <a:ea typeface="Arial"/>
                          <a:cs typeface="Arial"/>
                        </a:rPr>
                        <a:t>3–4 day window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r>
              <a:tr h="395000">
                <a:tc>
                  <a:txBody>
                    <a:bodyPr/>
                    <a:lstStyle/>
                    <a:p>
                      <a:pPr>
                        <a:lnSpc>
                          <a:spcPct val="102000"/>
                        </a:lnSpc>
                        <a:buNone/>
                      </a:pPr>
                      <a:r>
                        <a:rPr lang="en-US" sz="1000" b="1" i="0" dirty="0">
                          <a:solidFill>
                            <a:srgbClr val="070154"/>
                          </a:solidFill>
                          <a:latin typeface="Arial"/>
                          <a:ea typeface="Arial"/>
                          <a:cs typeface="Arial"/>
                        </a:rPr>
                        <a:t>Production checks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80" b="0" i="0" dirty="0">
                          <a:solidFill>
                            <a:srgbClr val="070154"/>
                          </a:solidFill>
                          <a:latin typeface="Arial"/>
                          <a:ea typeface="Arial"/>
                          <a:cs typeface="Arial"/>
                        </a:rPr>
                        <a:t>Release management + DevOps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1" i="0" dirty="0">
                          <a:solidFill>
                            <a:srgbClr val="16804D"/>
                          </a:solidFill>
                          <a:latin typeface="Arial"/>
                          <a:ea typeface="Arial"/>
                          <a:cs typeface="Arial"/>
                        </a:rPr>
                        <a:t>Smoke tests and post-checkout evidence linked to the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80" b="1" i="0" dirty="0">
                          <a:solidFill>
                            <a:srgbClr val="B7412F"/>
                          </a:solidFill>
                          <a:latin typeface="Arial"/>
                          <a:ea typeface="Arial"/>
                          <a:cs typeface="Arial"/>
                        </a:rPr>
                        <a:t>In place: smoke tests, post-checkout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r>
            </a:tbl>
          </a:graphicData>
        </a:graphic>
      </p:graphicFrame>
      <p:sp>
        <p:nvSpPr>
          <p:cNvPr id="300" name="Bar 300"/>
          <p:cNvSpPr/>
          <p:nvPr/>
        </p:nvSpPr>
        <p:spPr>
          <a:xfrm>
            <a:off x="457200" y="5100000"/>
            <a:ext cx="11277600" cy="360000"/>
          </a:xfrm>
          <a:prstGeom prst="rect">
            <a:avLst/>
          </a:prstGeom>
          <a:solidFill>
            <a:srgbClr val="E8EEF8"/>
          </a:solidFill>
          <a:ln w="0">
            <a:noFill/>
          </a:ln>
        </p:spPr>
        <p:txBody>
          <a:bodyPr wrap="square" anchor="ctr">
            <a:noAutofit/>
          </a:bodyPr>
          <a:lstStyle/>
          <a:p>
            <a:pPr>
              <a:lnSpc>
                <a:spcPct val="108000"/>
              </a:lnSpc>
              <a:buNone/>
            </a:pPr>
            <a:r>
              <a:rPr lang="en-US" sz="1000" b="1" i="0" dirty="0">
                <a:solidFill>
                  <a:srgbClr val="F900D3"/>
                </a:solidFill>
                <a:latin typeface="Arial"/>
                <a:ea typeface="Arial"/>
                <a:cs typeface="Arial"/>
              </a:rPr>
              <a:t>Capacity:  </a:t>
            </a:r>
            <a:r>
              <a:rPr lang="en-US" sz="880" b="1" i="0" dirty="0">
                <a:solidFill>
                  <a:srgbClr val="070154"/>
                </a:solidFill>
                <a:latin typeface="Arial"/>
                <a:ea typeface="Arial"/>
                <a:cs typeface="Arial"/>
              </a:rPr>
              <a:t>one QA leader covers about 15 testers, two of them full-time  ·  name a QA lead  ·  Claude for every tester, contractors included  ·  one sprint of added QE capacity</a:t>
            </a:r>
          </a:p>
        </p:txBody>
      </p:sp>
      <p:sp>
        <p:nvSpPr>
          <p:cNvPr id="301" name="Bar 301"/>
          <p:cNvSpPr/>
          <p:nvPr/>
        </p:nvSpPr>
        <p:spPr>
          <a:xfrm>
            <a:off x="457200" y="5520000"/>
            <a:ext cx="11277600" cy="44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QA built the framework and the AI tools in five months. The next phase gives them coverage, a production home, and a lead.</a:t>
            </a:r>
          </a:p>
        </p:txBody>
      </p:sp>
    </p:spTree>
    <p:extLst>
      <p:ext uri="{BB962C8B-B14F-4D97-AF65-F5344CB8AC3E}">
        <p14:creationId xmlns:p14="http://schemas.microsoft.com/office/powerpoint/2010/main" val="288705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Robust QA: action plan</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Fixes findings 3, 4, and 6. Delivered through the Testing &amp; release controls workstream, building on QA's existing tools.</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MOVE 3 · ROBUST QA</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Action Table"/>
          <p:cNvGraphicFramePr>
            <a:graphicFrameLocks noGrp="1"/>
          </p:cNvGraphicFramePr>
          <p:nvPr/>
        </p:nvGraphicFramePr>
        <p:xfrm>
          <a:off x="457200" y="1752600"/>
          <a:ext cx="11277600" cy="3180000"/>
        </p:xfrm>
        <a:graphic>
          <a:graphicData uri="http://schemas.openxmlformats.org/drawingml/2006/table">
            <a:tbl>
              <a:tblPr/>
              <a:tblGrid>
                <a:gridCol w="1650000"/>
                <a:gridCol w="3400000"/>
                <a:gridCol w="1700000"/>
                <a:gridCol w="1400000"/>
                <a:gridCol w="700000"/>
                <a:gridCol w="2427600"/>
              </a:tblGrid>
              <a:tr h="360000">
                <a:tc>
                  <a:txBody>
                    <a:bodyPr/>
                    <a:lstStyle/>
                    <a:p>
                      <a:pPr>
                        <a:lnSpc>
                          <a:spcPct val="102000"/>
                        </a:lnSpc>
                        <a:buNone/>
                      </a:pPr>
                      <a:r>
                        <a:rPr lang="en-US" sz="900" b="1" i="0" dirty="0">
                          <a:solidFill>
                            <a:srgbClr val="FFFFFF"/>
                          </a:solidFill>
                          <a:latin typeface="Arial"/>
                          <a:ea typeface="Arial"/>
                          <a:cs typeface="Arial"/>
                        </a:rPr>
                        <a:t>Action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What, exactly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DXC 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West Monroe role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Weeks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Done when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470000">
                <a:tc>
                  <a:txBody>
                    <a:bodyPr/>
                    <a:lstStyle/>
                    <a:p>
                      <a:pPr>
                        <a:lnSpc>
                          <a:spcPct val="102000"/>
                        </a:lnSpc>
                        <a:buNone/>
                      </a:pPr>
                      <a:r>
                        <a:rPr lang="en-US" sz="950" b="1" i="0" dirty="0">
                          <a:solidFill>
                            <a:srgbClr val="070154"/>
                          </a:solidFill>
                          <a:latin typeface="Arial"/>
                          <a:ea typeface="Arial"/>
                          <a:cs typeface="Arial"/>
                        </a:rPr>
                        <a:t>Critical paths automated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Automate the critical paths already defined with Product, starting with Core (10–15% today).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QA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Senior Engineer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About 30% of defined critical paths automated by week 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Agent-generated tests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Run QA's Claude-based Playwright agents on backlog items daily; every test goes through PR review.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QA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Senior Engineer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1–4</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Agent-drafted tests merged every sprint after review.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PR bot in pipeline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Move QA's Claude PR bot into the Bitbucket pipeline, with cost tracked per run.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QA lead + DevOps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2–4</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Runs on every QA PR; cost reported monthly.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Jira test generator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Bring QA's story-to-test prototype into DXC's AWS account, with human approval.</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QA lead + DevOps + Security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QE Architect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3–6</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Runs in DXC's account on one pilot team's stories.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Access and practice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Sanctioned Claude for every tester, contractors included; time-box, then review before the PR.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QA lead + 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Executive Engineering Leader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Every tester has access and follows the practice.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70000">
                <a:tc>
                  <a:txBody>
                    <a:bodyPr/>
                    <a:lstStyle/>
                    <a:p>
                      <a:pPr>
                        <a:lnSpc>
                          <a:spcPct val="102000"/>
                        </a:lnSpc>
                        <a:buNone/>
                      </a:pPr>
                      <a:r>
                        <a:rPr lang="en-US" sz="950" b="1" i="0" dirty="0">
                          <a:solidFill>
                            <a:srgbClr val="070154"/>
                          </a:solidFill>
                          <a:latin typeface="Arial"/>
                          <a:ea typeface="Arial"/>
                          <a:cs typeface="Arial"/>
                        </a:rPr>
                        <a:t>A QA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0" i="0" dirty="0">
                          <a:solidFill>
                            <a:srgbClr val="50658E"/>
                          </a:solidFill>
                          <a:latin typeface="Arial"/>
                          <a:ea typeface="Arial"/>
                          <a:cs typeface="Arial"/>
                        </a:rPr>
                        <a:t>Name or hire a QA lead for Core; plan one full-time QA per pod over time.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070154"/>
                          </a:solidFill>
                          <a:latin typeface="Arial"/>
                          <a:ea typeface="Arial"/>
                          <a:cs typeface="Arial"/>
                        </a:rPr>
                        <a:t>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Executive Engineering Leader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50" b="1" i="0" dirty="0">
                          <a:solidFill>
                            <a:srgbClr val="16804D"/>
                          </a:solidFill>
                          <a:latin typeface="Arial"/>
                          <a:ea typeface="Arial"/>
                          <a:cs typeface="Arial"/>
                        </a:rPr>
                        <a:t>1–2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c>
                  <a:txBody>
                    <a:bodyPr/>
                    <a:lstStyle/>
                    <a:p>
                      <a:pPr>
                        <a:lnSpc>
                          <a:spcPct val="102000"/>
                        </a:lnSpc>
                        <a:buNone/>
                      </a:pPr>
                      <a:r>
                        <a:rPr lang="en-US" sz="850" b="1" i="0" dirty="0">
                          <a:solidFill>
                            <a:srgbClr val="0047FF"/>
                          </a:solidFill>
                          <a:latin typeface="Arial"/>
                          <a:ea typeface="Arial"/>
                          <a:cs typeface="Arial"/>
                        </a:rPr>
                        <a:t>QA lead named; staffing plan agreed.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Bar 300"/>
          <p:cNvSpPr/>
          <p:nvPr/>
        </p:nvSpPr>
        <p:spPr>
          <a:xfrm>
            <a:off x="457200" y="5080000"/>
            <a:ext cx="11277600" cy="360000"/>
          </a:xfrm>
          <a:prstGeom prst="rect">
            <a:avLst/>
          </a:prstGeom>
          <a:solidFill>
            <a:srgbClr val="E8EEF8"/>
          </a:solidFill>
          <a:ln w="0">
            <a:noFill/>
          </a:ln>
        </p:spPr>
        <p:txBody>
          <a:bodyPr wrap="square" anchor="ctr">
            <a:noAutofit/>
          </a:bodyPr>
          <a:lstStyle/>
          <a:p>
            <a:pPr>
              <a:lnSpc>
                <a:spcPct val="108000"/>
              </a:lnSpc>
              <a:buNone/>
            </a:pPr>
            <a:r>
              <a:rPr lang="en-US" sz="1000" b="1" i="0" dirty="0">
                <a:solidFill>
                  <a:srgbClr val="F900D3"/>
                </a:solidFill>
                <a:latin typeface="Arial"/>
                <a:ea typeface="Arial"/>
                <a:cs typeface="Arial"/>
              </a:rPr>
              <a:t>Decision needed:  </a:t>
            </a:r>
            <a:r>
              <a:rPr lang="en-US" sz="950" b="1" i="0" dirty="0">
                <a:solidFill>
                  <a:srgbClr val="070154"/>
                </a:solidFill>
                <a:latin typeface="Arial"/>
                <a:ea typeface="Arial"/>
                <a:cs typeface="Arial"/>
              </a:rPr>
              <a:t>Name a QA lead, approve Claude access for contractors, and approve a DXC home for QA's AI tools by week 2.</a:t>
            </a:r>
          </a:p>
        </p:txBody>
      </p:sp>
      <p:sp>
        <p:nvSpPr>
          <p:cNvPr id="301" name="Bar 301"/>
          <p:cNvSpPr/>
          <p:nvPr/>
        </p:nvSpPr>
        <p:spPr>
          <a:xfrm>
            <a:off x="457200" y="5500000"/>
            <a:ext cx="11277600" cy="46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Measure:  </a:t>
            </a:r>
            <a:r>
              <a:rPr lang="en-US" sz="900" b="0" i="0" dirty="0">
                <a:solidFill>
                  <a:srgbClr val="FFFFFF"/>
                </a:solidFill>
                <a:latin typeface="Arial"/>
                <a:ea typeface="Arial"/>
                <a:cs typeface="Arial"/>
              </a:rPr>
              <a:t>Critical paths automated: ~10–15% → ~30% by week 6 (hypothesis)  ·  Agent-drafted tests per sprint  ·  Defects reaching production, by cause  ·  AI cost per run</a:t>
            </a:r>
          </a:p>
        </p:txBody>
      </p:sp>
    </p:spTree>
    <p:extLst>
      <p:ext uri="{BB962C8B-B14F-4D97-AF65-F5344CB8AC3E}">
        <p14:creationId xmlns:p14="http://schemas.microsoft.com/office/powerpoint/2010/main" val="288705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Measure what matters: ten metrics from data DXC already has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Today the only delivery number is story points. These cover speed, stability, flow, quality, and AI adoption and cost.</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MOVE 4 · MEASURE WHAT MATTERS</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Metrics"/>
          <p:cNvGraphicFramePr>
            <a:graphicFrameLocks noGrp="1"/>
          </p:cNvGraphicFramePr>
          <p:nvPr/>
        </p:nvGraphicFramePr>
        <p:xfrm>
          <a:off x="457200" y="1752600"/>
          <a:ext cx="11277600" cy="2790000"/>
        </p:xfrm>
        <a:graphic>
          <a:graphicData uri="http://schemas.openxmlformats.org/drawingml/2006/table">
            <a:tbl>
              <a:tblPr/>
              <a:tblGrid>
                <a:gridCol w="1250000"/>
                <a:gridCol w="2400000"/>
                <a:gridCol w="3600000"/>
                <a:gridCol w="2650000"/>
                <a:gridCol w="1377600"/>
              </a:tblGrid>
              <a:tr h="340000">
                <a:tc>
                  <a:txBody>
                    <a:bodyPr/>
                    <a:lstStyle/>
                    <a:p>
                      <a:pPr>
                        <a:lnSpc>
                          <a:spcPct val="102000"/>
                        </a:lnSpc>
                        <a:buNone/>
                      </a:pPr>
                      <a:r>
                        <a:rPr lang="en-US" sz="900" b="1" i="0" dirty="0">
                          <a:solidFill>
                            <a:srgbClr val="FFFFFF"/>
                          </a:solidFill>
                          <a:latin typeface="Arial"/>
                          <a:ea typeface="Arial"/>
                          <a:cs typeface="Arial"/>
                        </a:rPr>
                        <a:t>Group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Metric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Definition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Source (exists today)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Cadence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245000">
                <a:tc>
                  <a:txBody>
                    <a:bodyPr/>
                    <a:lstStyle/>
                    <a:p>
                      <a:pPr>
                        <a:lnSpc>
                          <a:spcPct val="102000"/>
                        </a:lnSpc>
                        <a:buNone/>
                      </a:pPr>
                      <a:r>
                        <a:rPr lang="en-US" sz="850" b="1" i="0" dirty="0">
                          <a:solidFill>
                            <a:srgbClr val="0047FF"/>
                          </a:solidFill>
                          <a:latin typeface="Arial"/>
                          <a:ea typeface="Arial"/>
                          <a:cs typeface="Arial"/>
                        </a:rPr>
                        <a:t>Delivery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Deployment frequency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Production releases per month</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Release calendar, build system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Monthly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Lead time for changes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Merge to production, in days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Git + build system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Monthly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Change failure rate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Share of releases that need a patch or rollback</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Release calendar + support tickets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Monthly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Time to restore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Incident opened to service restored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Support tickets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Monthly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Flow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Cycle time by stage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Days a story spends in each Jira status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Jira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Every sprint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Unplanned work share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Share of sprint capacity spent on support and patches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Jira labels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Every sprint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Commitment reliability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Stories done versus committed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Jira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Every sprint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Quality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Escaped defects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Production defects per release, by cause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Support tickets + Jira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Every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Critical-path automation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Share of defined critical paths with automated tests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Test suite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Every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245000">
                <a:tc>
                  <a:txBody>
                    <a:bodyPr/>
                    <a:lstStyle/>
                    <a:p>
                      <a:pPr>
                        <a:lnSpc>
                          <a:spcPct val="102000"/>
                        </a:lnSpc>
                        <a:buNone/>
                      </a:pPr>
                      <a:r>
                        <a:rPr lang="en-US" sz="850" b="1" i="0" dirty="0">
                          <a:solidFill>
                            <a:srgbClr val="0047FF"/>
                          </a:solidFill>
                          <a:latin typeface="Arial"/>
                          <a:ea typeface="Arial"/>
                          <a:cs typeface="Arial"/>
                        </a:rPr>
                        <a:t>AI</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50" b="1" i="0" dirty="0">
                          <a:solidFill>
                            <a:srgbClr val="070154"/>
                          </a:solidFill>
                          <a:latin typeface="Arial"/>
                          <a:ea typeface="Arial"/>
                          <a:cs typeface="Arial"/>
                        </a:rPr>
                        <a:t>Adoption and cost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Builders with sanctioned access; model cost per run, as QA already tracks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50658E"/>
                          </a:solidFill>
                          <a:latin typeface="Arial"/>
                          <a:ea typeface="Arial"/>
                          <a:cs typeface="Arial"/>
                        </a:rPr>
                        <a:t>Access lists, QA cost log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20" b="0" i="0" dirty="0">
                          <a:solidFill>
                            <a:srgbClr val="070154"/>
                          </a:solidFill>
                          <a:latin typeface="Arial"/>
                          <a:ea typeface="Arial"/>
                          <a:cs typeface="Arial"/>
                        </a:rPr>
                        <a:t>Monthly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Bar 300"/>
          <p:cNvSpPr/>
          <p:nvPr/>
        </p:nvSpPr>
        <p:spPr>
          <a:xfrm>
            <a:off x="457200" y="5300000"/>
            <a:ext cx="11277600" cy="340000"/>
          </a:xfrm>
          <a:prstGeom prst="rect">
            <a:avLst/>
          </a:prstGeom>
          <a:solidFill>
            <a:srgbClr val="E8EEF8"/>
          </a:solidFill>
          <a:ln w="0">
            <a:noFill/>
          </a:ln>
        </p:spPr>
        <p:txBody>
          <a:bodyPr wrap="square" anchor="ctr">
            <a:noAutofit/>
          </a:bodyPr>
          <a:lstStyle/>
          <a:p>
            <a:pPr>
              <a:lnSpc>
                <a:spcPct val="108000"/>
              </a:lnSpc>
              <a:buNone/>
            </a:pPr>
            <a:r>
              <a:rPr lang="en-US" sz="1000" b="1" i="0" dirty="0">
                <a:solidFill>
                  <a:srgbClr val="F900D3"/>
                </a:solidFill>
                <a:latin typeface="Arial"/>
                <a:ea typeface="Arial"/>
                <a:cs typeface="Arial"/>
              </a:rPr>
              <a:t>How we start:  </a:t>
            </a:r>
            <a:r>
              <a:rPr lang="en-US" sz="880" b="1" i="0" dirty="0">
                <a:solidFill>
                  <a:srgbClr val="070154"/>
                </a:solidFill>
                <a:latin typeface="Arial"/>
                <a:ea typeface="Arial"/>
                <a:cs typeface="Arial"/>
              </a:rPr>
              <a:t>Weeks 1–2: baseline from data that already exists  ·  Weeks 3–4: agree definitions, add Jira cause codes and labels  ·  Weeks 5–6: one dashboard, first review in retro and with leadership</a:t>
            </a:r>
          </a:p>
        </p:txBody>
      </p:sp>
      <p:sp>
        <p:nvSpPr>
          <p:cNvPr id="301" name="Bar 301"/>
          <p:cNvSpPr/>
          <p:nvPr/>
        </p:nvSpPr>
        <p:spPr>
          <a:xfrm>
            <a:off x="457200" y="5680000"/>
            <a:ext cx="11277600" cy="380000"/>
          </a:xfrm>
          <a:prstGeom prst="rect">
            <a:avLst/>
          </a:prstGeom>
          <a:solidFill>
            <a:srgbClr val="0047FF"/>
          </a:solidFill>
          <a:ln w="0">
            <a:noFill/>
          </a:ln>
        </p:spPr>
        <p:txBody>
          <a:bodyPr wrap="square" anchor="ctr">
            <a:noAutofit/>
          </a:bodyPr>
          <a:lstStyle/>
          <a:p>
            <a:pPr>
              <a:lnSpc>
                <a:spcPct val="108000"/>
              </a:lnSpc>
              <a:buNone/>
            </a:pPr>
            <a:r>
              <a:rPr lang="en-US" sz="950" b="1" i="0" dirty="0">
                <a:solidFill>
                  <a:srgbClr val="FFFFFF"/>
                </a:solidFill>
                <a:latin typeface="Arial"/>
                <a:ea typeface="Arial"/>
                <a:cs typeface="Arial"/>
              </a:rPr>
              <a:t>Story points stay as a planning tool, not a performance measure. The same view covers Core, the new platform, and the vendor team.</a:t>
            </a:r>
          </a:p>
        </p:txBody>
      </p:sp>
    </p:spTree>
    <p:extLst>
      <p:ext uri="{BB962C8B-B14F-4D97-AF65-F5344CB8AC3E}">
        <p14:creationId xmlns:p14="http://schemas.microsoft.com/office/powerpoint/2010/main" val="288705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From finding to proposal: what each workstream fixes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Six findings plus the metrics gap DXC raised, traced to the two engineering workstreams.</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FINDINGS TO PROPOSAL</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Trace"/>
          <p:cNvGraphicFramePr>
            <a:graphicFrameLocks noGrp="1"/>
          </p:cNvGraphicFramePr>
          <p:nvPr/>
        </p:nvGraphicFramePr>
        <p:xfrm>
          <a:off x="457200" y="1752600"/>
          <a:ext cx="11277600" cy="3350000"/>
        </p:xfrm>
        <a:graphic>
          <a:graphicData uri="http://schemas.openxmlformats.org/drawingml/2006/table">
            <a:tbl>
              <a:tblPr/>
              <a:tblGrid>
                <a:gridCol w="2200000"/>
                <a:gridCol w="2300000"/>
                <a:gridCol w="2150000"/>
                <a:gridCol w="2900000"/>
                <a:gridCol w="1727600"/>
              </a:tblGrid>
              <a:tr h="340000">
                <a:tc>
                  <a:txBody>
                    <a:bodyPr/>
                    <a:lstStyle/>
                    <a:p>
                      <a:pPr>
                        <a:lnSpc>
                          <a:spcPct val="102000"/>
                        </a:lnSpc>
                        <a:buNone/>
                      </a:pPr>
                      <a:r>
                        <a:rPr lang="en-US" sz="900" b="1" i="0" dirty="0">
                          <a:solidFill>
                            <a:srgbClr val="FFFFFF"/>
                          </a:solidFill>
                          <a:latin typeface="Arial"/>
                          <a:ea typeface="Arial"/>
                          <a:cs typeface="Arial"/>
                        </a:rPr>
                        <a:t>Finding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Engineering move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Proposed workstream</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Week-6 result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Measure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430000">
                <a:tc>
                  <a:txBody>
                    <a:bodyPr/>
                    <a:lstStyle/>
                    <a:p>
                      <a:pPr>
                        <a:lnSpc>
                          <a:spcPct val="102000"/>
                        </a:lnSpc>
                        <a:buNone/>
                      </a:pPr>
                      <a:r>
                        <a:rPr lang="en-US" sz="1000" b="1" i="0" dirty="0">
                          <a:solidFill>
                            <a:srgbClr val="070154"/>
                          </a:solidFill>
                          <a:latin typeface="Arial"/>
                          <a:ea typeface="Arial"/>
                          <a:cs typeface="Arial"/>
                        </a:rPr>
                        <a:t>Unplanned, untracked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dirty="0">
                          <a:solidFill>
                            <a:srgbClr val="0047FF"/>
                          </a:solidFill>
                          <a:latin typeface="Arial"/>
                          <a:ea typeface="Arial"/>
                          <a:cs typeface="Arial"/>
                        </a:rPr>
                        <a:t>Stabilize Core SDLC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dirty="0">
                          <a:solidFill>
                            <a:srgbClr val="070154"/>
                          </a:solidFill>
                          <a:latin typeface="Arial"/>
                          <a:ea typeface="Arial"/>
                          <a:cs typeface="Arial"/>
                        </a:rPr>
                        <a:t>Testing &amp; release controls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0" i="0" dirty="0">
                          <a:solidFill>
                            <a:srgbClr val="50658E"/>
                          </a:solidFill>
                          <a:latin typeface="Arial"/>
                          <a:ea typeface="Arial"/>
                          <a:cs typeface="Arial"/>
                        </a:rPr>
                        <a:t>Every unplanned change classified; hotfix lane with root cause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Unplanned events, repeat causes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30000">
                <a:tc>
                  <a:txBody>
                    <a:bodyPr/>
                    <a:lstStyle/>
                    <a:p>
                      <a:pPr>
                        <a:lnSpc>
                          <a:spcPct val="102000"/>
                        </a:lnSpc>
                        <a:buNone/>
                      </a:pPr>
                      <a:r>
                        <a:rPr lang="en-US" sz="1000" b="1" i="0" dirty="0">
                          <a:solidFill>
                            <a:srgbClr val="070154"/>
                          </a:solidFill>
                          <a:latin typeface="Arial"/>
                          <a:ea typeface="Arial"/>
                          <a:cs typeface="Arial"/>
                        </a:rPr>
                        <a:t>Same failure, twice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dirty="0">
                          <a:solidFill>
                            <a:srgbClr val="0047FF"/>
                          </a:solidFill>
                          <a:latin typeface="Arial"/>
                          <a:ea typeface="Arial"/>
                          <a:cs typeface="Arial"/>
                        </a:rPr>
                        <a:t>Stabilize Core SDLC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dirty="0">
                          <a:solidFill>
                            <a:srgbClr val="070154"/>
                          </a:solidFill>
                          <a:latin typeface="Arial"/>
                          <a:ea typeface="Arial"/>
                          <a:cs typeface="Arial"/>
                        </a:rPr>
                        <a:t>Testing &amp; release controls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0" i="0" dirty="0">
                          <a:solidFill>
                            <a:srgbClr val="50658E"/>
                          </a:solidFill>
                          <a:latin typeface="Arial"/>
                          <a:ea typeface="Arial"/>
                          <a:cs typeface="Arial"/>
                        </a:rPr>
                        <a:t>Credential and certificate inventory with owners and alerts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Repeat incidents: zero</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30000">
                <a:tc>
                  <a:txBody>
                    <a:bodyPr/>
                    <a:lstStyle/>
                    <a:p>
                      <a:pPr>
                        <a:lnSpc>
                          <a:spcPct val="102000"/>
                        </a:lnSpc>
                        <a:buNone/>
                      </a:pPr>
                      <a:r>
                        <a:rPr lang="en-US" sz="1000" b="1" i="0" dirty="0">
                          <a:solidFill>
                            <a:srgbClr val="070154"/>
                          </a:solidFill>
                          <a:latin typeface="Arial"/>
                          <a:ea typeface="Arial"/>
                          <a:cs typeface="Arial"/>
                        </a:rPr>
                        <a:t>Tested ≠ shipped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dirty="0">
                          <a:solidFill>
                            <a:srgbClr val="0047FF"/>
                          </a:solidFill>
                          <a:latin typeface="Arial"/>
                          <a:ea typeface="Arial"/>
                          <a:cs typeface="Arial"/>
                        </a:rPr>
                        <a:t>Stabilize Core SDLC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dirty="0">
                          <a:solidFill>
                            <a:srgbClr val="070154"/>
                          </a:solidFill>
                          <a:latin typeface="Arial"/>
                          <a:ea typeface="Arial"/>
                          <a:cs typeface="Arial"/>
                        </a:rPr>
                        <a:t>Testing &amp; release controls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0" i="0" dirty="0">
                          <a:solidFill>
                            <a:srgbClr val="50658E"/>
                          </a:solidFill>
                          <a:latin typeface="Arial"/>
                          <a:ea typeface="Arial"/>
                          <a:cs typeface="Arial"/>
                        </a:rPr>
                        <a:t>Hardening window adopted; templated environments; same build promoted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Test window, matching builds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30000">
                <a:tc>
                  <a:txBody>
                    <a:bodyPr/>
                    <a:lstStyle/>
                    <a:p>
                      <a:pPr>
                        <a:lnSpc>
                          <a:spcPct val="102000"/>
                        </a:lnSpc>
                        <a:buNone/>
                      </a:pPr>
                      <a:r>
                        <a:rPr lang="en-US" sz="1000" b="1" i="0" dirty="0">
                          <a:solidFill>
                            <a:srgbClr val="070154"/>
                          </a:solidFill>
                          <a:latin typeface="Arial"/>
                          <a:ea typeface="Arial"/>
                          <a:cs typeface="Arial"/>
                        </a:rPr>
                        <a:t>AI locked to few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dirty="0">
                          <a:solidFill>
                            <a:srgbClr val="0047FF"/>
                          </a:solidFill>
                          <a:latin typeface="Arial"/>
                          <a:ea typeface="Arial"/>
                          <a:cs typeface="Arial"/>
                        </a:rPr>
                        <a:t>Agile with Claude Code + Robust QA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dirty="0">
                          <a:solidFill>
                            <a:srgbClr val="070154"/>
                          </a:solidFill>
                          <a:latin typeface="Arial"/>
                          <a:ea typeface="Arial"/>
                          <a:cs typeface="Arial"/>
                        </a:rPr>
                        <a:t>Both workstreams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0" i="0" dirty="0">
                          <a:solidFill>
                            <a:srgbClr val="50658E"/>
                          </a:solidFill>
                          <a:latin typeface="Arial"/>
                          <a:ea typeface="Arial"/>
                          <a:cs typeface="Arial"/>
                        </a:rPr>
                        <a:t>Sanctioned access for all builders; PR bot in the pipeline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Builders with access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30000">
                <a:tc>
                  <a:txBody>
                    <a:bodyPr/>
                    <a:lstStyle/>
                    <a:p>
                      <a:pPr>
                        <a:lnSpc>
                          <a:spcPct val="102000"/>
                        </a:lnSpc>
                        <a:buNone/>
                      </a:pPr>
                      <a:r>
                        <a:rPr lang="en-US" sz="1000" b="1" i="0" dirty="0">
                          <a:solidFill>
                            <a:srgbClr val="070154"/>
                          </a:solidFill>
                          <a:latin typeface="Arial"/>
                          <a:ea typeface="Arial"/>
                          <a:cs typeface="Arial"/>
                        </a:rPr>
                        <a:t>Dates before design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dirty="0">
                          <a:solidFill>
                            <a:srgbClr val="0047FF"/>
                          </a:solidFill>
                          <a:latin typeface="Arial"/>
                          <a:ea typeface="Arial"/>
                          <a:cs typeface="Arial"/>
                        </a:rPr>
                        <a:t>Agile with Claude Code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dirty="0">
                          <a:solidFill>
                            <a:srgbClr val="070154"/>
                          </a:solidFill>
                          <a:latin typeface="Arial"/>
                          <a:ea typeface="Arial"/>
                          <a:cs typeface="Arial"/>
                        </a:rPr>
                        <a:t>Reconcile AI engineering across Core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0" i="0" dirty="0">
                          <a:solidFill>
                            <a:srgbClr val="50658E"/>
                          </a:solidFill>
                          <a:latin typeface="Arial"/>
                          <a:ea typeface="Arial"/>
                          <a:cs typeface="Arial"/>
                        </a:rPr>
                        <a:t>Signed, agent-drafted Rules Engine spec; spec-before-date rule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Commitments with a signed spec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30000">
                <a:tc>
                  <a:txBody>
                    <a:bodyPr/>
                    <a:lstStyle/>
                    <a:p>
                      <a:pPr>
                        <a:lnSpc>
                          <a:spcPct val="102000"/>
                        </a:lnSpc>
                        <a:buNone/>
                      </a:pPr>
                      <a:r>
                        <a:rPr lang="en-US" sz="1000" b="1" i="0" dirty="0">
                          <a:solidFill>
                            <a:srgbClr val="070154"/>
                          </a:solidFill>
                          <a:latin typeface="Arial"/>
                          <a:ea typeface="Arial"/>
                          <a:cs typeface="Arial"/>
                        </a:rPr>
                        <a:t>QA built, not staffed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dirty="0">
                          <a:solidFill>
                            <a:srgbClr val="0047FF"/>
                          </a:solidFill>
                          <a:latin typeface="Arial"/>
                          <a:ea typeface="Arial"/>
                          <a:cs typeface="Arial"/>
                        </a:rPr>
                        <a:t>Robust QA</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dirty="0">
                          <a:solidFill>
                            <a:srgbClr val="070154"/>
                          </a:solidFill>
                          <a:latin typeface="Arial"/>
                          <a:ea typeface="Arial"/>
                          <a:cs typeface="Arial"/>
                        </a:rPr>
                        <a:t>Testing &amp; release controls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0" i="0" dirty="0">
                          <a:solidFill>
                            <a:srgbClr val="50658E"/>
                          </a:solidFill>
                          <a:latin typeface="Arial"/>
                          <a:ea typeface="Arial"/>
                          <a:cs typeface="Arial"/>
                        </a:rPr>
                        <a:t>QA lead named; QA tools in DXC's accounts; critical-path coverage rising</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Critical paths automated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430000">
                <a:tc>
                  <a:txBody>
                    <a:bodyPr/>
                    <a:lstStyle/>
                    <a:p>
                      <a:pPr>
                        <a:lnSpc>
                          <a:spcPct val="102000"/>
                        </a:lnSpc>
                        <a:buNone/>
                      </a:pPr>
                      <a:r>
                        <a:rPr lang="en-US" sz="1000" b="1" i="0" dirty="0">
                          <a:solidFill>
                            <a:srgbClr val="070154"/>
                          </a:solidFill>
                          <a:latin typeface="Arial"/>
                          <a:ea typeface="Arial"/>
                          <a:cs typeface="Arial"/>
                        </a:rPr>
                        <a:t>No delivery numbers (raised by DXC)</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1" i="0" dirty="0">
                          <a:solidFill>
                            <a:srgbClr val="0047FF"/>
                          </a:solidFill>
                          <a:latin typeface="Arial"/>
                          <a:ea typeface="Arial"/>
                          <a:cs typeface="Arial"/>
                        </a:rPr>
                        <a:t>Measure what matters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0" i="0" dirty="0">
                          <a:solidFill>
                            <a:srgbClr val="070154"/>
                          </a:solidFill>
                          <a:latin typeface="Arial"/>
                          <a:ea typeface="Arial"/>
                          <a:cs typeface="Arial"/>
                        </a:rPr>
                        <a:t>Both workstreams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80" b="0" i="0" dirty="0">
                          <a:solidFill>
                            <a:srgbClr val="50658E"/>
                          </a:solidFill>
                          <a:latin typeface="Arial"/>
                          <a:ea typeface="Arial"/>
                          <a:cs typeface="Arial"/>
                        </a:rPr>
                        <a:t>Baseline of the metrics set and one monthly dashboard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50" b="0" i="0" dirty="0">
                          <a:solidFill>
                            <a:srgbClr val="50658E"/>
                          </a:solidFill>
                          <a:latin typeface="Arial"/>
                          <a:ea typeface="Arial"/>
                          <a:cs typeface="Arial"/>
                        </a:rPr>
                        <a:t>Metrics live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Bar 300"/>
          <p:cNvSpPr/>
          <p:nvPr/>
        </p:nvSpPr>
        <p:spPr>
          <a:xfrm>
            <a:off x="457200" y="5500000"/>
            <a:ext cx="11277600" cy="42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Each engineering workstream in the proposal answers specific findings and ends with a measurable week-6 result.</a:t>
            </a:r>
          </a:p>
        </p:txBody>
      </p:sp>
    </p:spTree>
    <p:extLst>
      <p:ext uri="{BB962C8B-B14F-4D97-AF65-F5344CB8AC3E}">
        <p14:creationId xmlns:p14="http://schemas.microsoft.com/office/powerpoint/2010/main" val="288705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Six weeks, two engineering workstreams, three decision gates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The same weeks as the proposal. Each bar is an action from the four plans.</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SIX-WEEK PLAN</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sp>
        <p:nvSpPr>
          <p:cNvPr id="200" name="WkLabel"/>
          <p:cNvSpPr/>
          <p:nvPr/>
        </p:nvSpPr>
        <p:spPr>
          <a:xfrm>
            <a:off x="457200" y="1752600"/>
            <a:ext cx="2700000" cy="240000"/>
          </a:xfrm>
          <a:prstGeom prst="rect">
            <a:avLst/>
          </a:prstGeom>
          <a:solidFill>
            <a:srgbClr val="070154"/>
          </a:solidFill>
          <a:ln w="0">
            <a:noFill/>
          </a:ln>
        </p:spPr>
        <p:txBody>
          <a:bodyPr wrap="square" anchor="ctr">
            <a:noAutofit/>
          </a:bodyPr>
          <a:lstStyle/>
          <a:p>
            <a:pPr>
              <a:lnSpc>
                <a:spcPct val="108000"/>
              </a:lnSpc>
              <a:buNone/>
            </a:pPr>
            <a:r>
              <a:rPr lang="en-US" sz="900" b="1" i="0" dirty="0">
                <a:solidFill>
                  <a:srgbClr val="FFFFFF"/>
                </a:solidFill>
                <a:latin typeface="Arial"/>
                <a:ea typeface="Arial"/>
                <a:cs typeface="Arial"/>
              </a:rPr>
              <a:t>Action</a:t>
            </a:r>
          </a:p>
        </p:txBody>
      </p:sp>
      <p:sp>
        <p:nvSpPr>
          <p:cNvPr id="201" name="Wk0"/>
          <p:cNvSpPr/>
          <p:nvPr/>
        </p:nvSpPr>
        <p:spPr>
          <a:xfrm>
            <a:off x="3227200" y="1752600"/>
            <a:ext cx="1399600" cy="24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900" b="1" i="0" dirty="0">
                <a:solidFill>
                  <a:srgbClr val="FFFFFF"/>
                </a:solidFill>
                <a:latin typeface="Arial"/>
                <a:ea typeface="Arial"/>
                <a:cs typeface="Arial"/>
              </a:rPr>
              <a:t>Week 1</a:t>
            </a:r>
          </a:p>
        </p:txBody>
      </p:sp>
      <p:sp>
        <p:nvSpPr>
          <p:cNvPr id="202" name="Wk1"/>
          <p:cNvSpPr/>
          <p:nvPr/>
        </p:nvSpPr>
        <p:spPr>
          <a:xfrm>
            <a:off x="4646800" y="1752600"/>
            <a:ext cx="1399600" cy="24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900" b="1" i="0" dirty="0">
                <a:solidFill>
                  <a:srgbClr val="FFFFFF"/>
                </a:solidFill>
                <a:latin typeface="Arial"/>
                <a:ea typeface="Arial"/>
                <a:cs typeface="Arial"/>
              </a:rPr>
              <a:t>Week 2</a:t>
            </a:r>
          </a:p>
        </p:txBody>
      </p:sp>
      <p:sp>
        <p:nvSpPr>
          <p:cNvPr id="203" name="Wk2"/>
          <p:cNvSpPr/>
          <p:nvPr/>
        </p:nvSpPr>
        <p:spPr>
          <a:xfrm>
            <a:off x="6066400" y="1752600"/>
            <a:ext cx="1399600" cy="24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900" b="1" i="0" dirty="0">
                <a:solidFill>
                  <a:srgbClr val="FFFFFF"/>
                </a:solidFill>
                <a:latin typeface="Arial"/>
                <a:ea typeface="Arial"/>
                <a:cs typeface="Arial"/>
              </a:rPr>
              <a:t>Week 3</a:t>
            </a:r>
          </a:p>
        </p:txBody>
      </p:sp>
      <p:sp>
        <p:nvSpPr>
          <p:cNvPr id="204" name="Wk3"/>
          <p:cNvSpPr/>
          <p:nvPr/>
        </p:nvSpPr>
        <p:spPr>
          <a:xfrm>
            <a:off x="7486000" y="1752600"/>
            <a:ext cx="1399600" cy="24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900" b="1" i="0" dirty="0">
                <a:solidFill>
                  <a:srgbClr val="FFFFFF"/>
                </a:solidFill>
                <a:latin typeface="Arial"/>
                <a:ea typeface="Arial"/>
                <a:cs typeface="Arial"/>
              </a:rPr>
              <a:t>Week 4</a:t>
            </a:r>
          </a:p>
        </p:txBody>
      </p:sp>
      <p:sp>
        <p:nvSpPr>
          <p:cNvPr id="205" name="Wk4"/>
          <p:cNvSpPr/>
          <p:nvPr/>
        </p:nvSpPr>
        <p:spPr>
          <a:xfrm>
            <a:off x="8905600" y="1752600"/>
            <a:ext cx="1399600" cy="24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900" b="1" i="0" dirty="0">
                <a:solidFill>
                  <a:srgbClr val="FFFFFF"/>
                </a:solidFill>
                <a:latin typeface="Arial"/>
                <a:ea typeface="Arial"/>
                <a:cs typeface="Arial"/>
              </a:rPr>
              <a:t>Week 5</a:t>
            </a:r>
          </a:p>
        </p:txBody>
      </p:sp>
      <p:sp>
        <p:nvSpPr>
          <p:cNvPr id="206" name="Wk5"/>
          <p:cNvSpPr/>
          <p:nvPr/>
        </p:nvSpPr>
        <p:spPr>
          <a:xfrm>
            <a:off x="10325200" y="1752600"/>
            <a:ext cx="1399600" cy="240000"/>
          </a:xfrm>
          <a:prstGeom prst="rect">
            <a:avLst/>
          </a:prstGeom>
          <a:solidFill>
            <a:srgbClr val="070154"/>
          </a:solidFill>
          <a:ln w="0">
            <a:noFill/>
          </a:ln>
        </p:spPr>
        <p:txBody>
          <a:bodyPr wrap="square" anchor="ctr" lIns="0" tIns="0" rIns="0" bIns="0">
            <a:noAutofit/>
          </a:bodyPr>
          <a:lstStyle/>
          <a:p>
            <a:pPr algn="ctr">
              <a:lnSpc>
                <a:spcPct val="108000"/>
              </a:lnSpc>
              <a:buNone/>
            </a:pPr>
            <a:r>
              <a:rPr lang="en-US" sz="900" b="1" i="0" dirty="0">
                <a:solidFill>
                  <a:srgbClr val="FFFFFF"/>
                </a:solidFill>
                <a:latin typeface="Arial"/>
                <a:ea typeface="Arial"/>
                <a:cs typeface="Arial"/>
              </a:rPr>
              <a:t>Week 6</a:t>
            </a:r>
          </a:p>
        </p:txBody>
      </p:sp>
      <p:sp>
        <p:nvSpPr>
          <p:cNvPr id="207" name="G RECONCILE AI ENGINEERING ACROSS CORE"/>
          <p:cNvSpPr/>
          <p:nvPr/>
        </p:nvSpPr>
        <p:spPr>
          <a:xfrm>
            <a:off x="457200" y="2012600"/>
            <a:ext cx="11277600" cy="180000"/>
          </a:xfrm>
          <a:prstGeom prst="rect">
            <a:avLst/>
          </a:prstGeom>
          <a:noFill/>
          <a:ln w="0">
            <a:noFill/>
          </a:ln>
        </p:spPr>
        <p:txBody>
          <a:bodyPr wrap="square" anchor="ctr" lIns="0" tIns="0" rIns="0" bIns="0">
            <a:noAutofit/>
          </a:bodyPr>
          <a:lstStyle/>
          <a:p>
            <a:pPr>
              <a:lnSpc>
                <a:spcPct val="108000"/>
              </a:lnSpc>
              <a:buNone/>
            </a:pPr>
            <a:r>
              <a:rPr lang="en-US" sz="760" b="1" i="0" dirty="0">
                <a:solidFill>
                  <a:srgbClr val="0047FF"/>
                </a:solidFill>
                <a:latin typeface="Arial"/>
                <a:ea typeface="Arial"/>
                <a:cs typeface="Arial"/>
              </a:rPr>
              <a:t>RECONCILE AI ENGINEERING ACROSS CORE</a:t>
            </a:r>
          </a:p>
        </p:txBody>
      </p:sp>
      <p:sp>
        <p:nvSpPr>
          <p:cNvPr id="208" name="L Core SDLC process map"/>
          <p:cNvSpPr/>
          <p:nvPr/>
        </p:nvSpPr>
        <p:spPr>
          <a:xfrm>
            <a:off x="457200" y="2197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Core SDLC process map</a:t>
            </a:r>
          </a:p>
        </p:txBody>
      </p:sp>
      <p:sp>
        <p:nvSpPr>
          <p:cNvPr id="209" name="B Core SDLC process map"/>
          <p:cNvSpPr/>
          <p:nvPr/>
        </p:nvSpPr>
        <p:spPr>
          <a:xfrm>
            <a:off x="3237200" y="2225600"/>
            <a:ext cx="2799200" cy="118000"/>
          </a:xfrm>
          <a:prstGeom prst="rect">
            <a:avLst/>
          </a:prstGeom>
          <a:solidFill>
            <a:srgbClr val="070154"/>
          </a:solidFill>
          <a:ln w="0">
            <a:noFill/>
          </a:ln>
        </p:spPr>
        <p:txBody>
          <a:bodyPr wrap="square" anchor="t">
            <a:noAutofit/>
          </a:bodyPr>
          <a:lstStyle/>
          <a:p>
            <a:endParaRPr lang="en-US"/>
          </a:p>
        </p:txBody>
      </p:sp>
      <p:sp>
        <p:nvSpPr>
          <p:cNvPr id="210" name="L Ready gate and spec-before-date"/>
          <p:cNvSpPr/>
          <p:nvPr/>
        </p:nvSpPr>
        <p:spPr>
          <a:xfrm>
            <a:off x="457200" y="2389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Ready gate and spec-before-date</a:t>
            </a:r>
          </a:p>
        </p:txBody>
      </p:sp>
      <p:sp>
        <p:nvSpPr>
          <p:cNvPr id="211" name="B Ready gate and spec-before-date"/>
          <p:cNvSpPr/>
          <p:nvPr/>
        </p:nvSpPr>
        <p:spPr>
          <a:xfrm>
            <a:off x="3237200" y="2417600"/>
            <a:ext cx="2799200" cy="118000"/>
          </a:xfrm>
          <a:prstGeom prst="rect">
            <a:avLst/>
          </a:prstGeom>
          <a:solidFill>
            <a:srgbClr val="070154"/>
          </a:solidFill>
          <a:ln w="0">
            <a:noFill/>
          </a:ln>
        </p:spPr>
        <p:txBody>
          <a:bodyPr wrap="square" anchor="t">
            <a:noAutofit/>
          </a:bodyPr>
          <a:lstStyle/>
          <a:p>
            <a:endParaRPr lang="en-US"/>
          </a:p>
        </p:txBody>
      </p:sp>
      <p:sp>
        <p:nvSpPr>
          <p:cNvPr id="212" name="L Core skill library"/>
          <p:cNvSpPr/>
          <p:nvPr/>
        </p:nvSpPr>
        <p:spPr>
          <a:xfrm>
            <a:off x="457200" y="2581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Core skill library</a:t>
            </a:r>
          </a:p>
        </p:txBody>
      </p:sp>
      <p:sp>
        <p:nvSpPr>
          <p:cNvPr id="213" name="B Core skill library"/>
          <p:cNvSpPr/>
          <p:nvPr/>
        </p:nvSpPr>
        <p:spPr>
          <a:xfrm>
            <a:off x="3237200" y="2609600"/>
            <a:ext cx="4218800" cy="118000"/>
          </a:xfrm>
          <a:prstGeom prst="rect">
            <a:avLst/>
          </a:prstGeom>
          <a:solidFill>
            <a:srgbClr val="070154"/>
          </a:solidFill>
          <a:ln w="0">
            <a:noFill/>
          </a:ln>
        </p:spPr>
        <p:txBody>
          <a:bodyPr wrap="square" anchor="t">
            <a:noAutofit/>
          </a:bodyPr>
          <a:lstStyle/>
          <a:p>
            <a:endParaRPr lang="en-US"/>
          </a:p>
        </p:txBody>
      </p:sp>
      <p:sp>
        <p:nvSpPr>
          <p:cNvPr id="214" name="L Rules Engine spec-first pilot"/>
          <p:cNvSpPr/>
          <p:nvPr/>
        </p:nvSpPr>
        <p:spPr>
          <a:xfrm>
            <a:off x="457200" y="2773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Rules Engine spec-first pilot</a:t>
            </a:r>
          </a:p>
        </p:txBody>
      </p:sp>
      <p:sp>
        <p:nvSpPr>
          <p:cNvPr id="215" name="B Rules Engine spec-first pilot"/>
          <p:cNvSpPr/>
          <p:nvPr/>
        </p:nvSpPr>
        <p:spPr>
          <a:xfrm>
            <a:off x="3237200" y="2801600"/>
            <a:ext cx="5638400" cy="118000"/>
          </a:xfrm>
          <a:prstGeom prst="rect">
            <a:avLst/>
          </a:prstGeom>
          <a:solidFill>
            <a:srgbClr val="070154"/>
          </a:solidFill>
          <a:ln w="0">
            <a:noFill/>
          </a:ln>
        </p:spPr>
        <p:txBody>
          <a:bodyPr wrap="square" anchor="t">
            <a:noAutofit/>
          </a:bodyPr>
          <a:lstStyle/>
          <a:p>
            <a:endParaRPr lang="en-US"/>
          </a:p>
        </p:txBody>
      </p:sp>
      <p:sp>
        <p:nvSpPr>
          <p:cNvPr id="216" name="L Claude Code pairing and PR gate"/>
          <p:cNvSpPr/>
          <p:nvPr/>
        </p:nvSpPr>
        <p:spPr>
          <a:xfrm>
            <a:off x="457200" y="2965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Claude Code pairing and PR gate</a:t>
            </a:r>
          </a:p>
        </p:txBody>
      </p:sp>
      <p:sp>
        <p:nvSpPr>
          <p:cNvPr id="217" name="B Claude Code pairing and PR gate"/>
          <p:cNvSpPr/>
          <p:nvPr/>
        </p:nvSpPr>
        <p:spPr>
          <a:xfrm>
            <a:off x="6076400" y="2993600"/>
            <a:ext cx="5638400" cy="118000"/>
          </a:xfrm>
          <a:prstGeom prst="rect">
            <a:avLst/>
          </a:prstGeom>
          <a:solidFill>
            <a:srgbClr val="070154"/>
          </a:solidFill>
          <a:ln w="0">
            <a:noFill/>
          </a:ln>
        </p:spPr>
        <p:txBody>
          <a:bodyPr wrap="square" anchor="t">
            <a:noAutofit/>
          </a:bodyPr>
          <a:lstStyle/>
          <a:p>
            <a:endParaRPr lang="en-US"/>
          </a:p>
        </p:txBody>
      </p:sp>
      <p:sp>
        <p:nvSpPr>
          <p:cNvPr id="218" name="L Metrics baseline to dashboard"/>
          <p:cNvSpPr/>
          <p:nvPr/>
        </p:nvSpPr>
        <p:spPr>
          <a:xfrm>
            <a:off x="457200" y="3157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Metrics baseline to dashboard</a:t>
            </a:r>
          </a:p>
        </p:txBody>
      </p:sp>
      <p:sp>
        <p:nvSpPr>
          <p:cNvPr id="219" name="B Metrics baseline to dashboard"/>
          <p:cNvSpPr/>
          <p:nvPr/>
        </p:nvSpPr>
        <p:spPr>
          <a:xfrm>
            <a:off x="3237200" y="3185600"/>
            <a:ext cx="8477600" cy="118000"/>
          </a:xfrm>
          <a:prstGeom prst="rect">
            <a:avLst/>
          </a:prstGeom>
          <a:solidFill>
            <a:srgbClr val="070154"/>
          </a:solidFill>
          <a:ln w="0">
            <a:noFill/>
          </a:ln>
        </p:spPr>
        <p:txBody>
          <a:bodyPr wrap="square" anchor="t">
            <a:noAutofit/>
          </a:bodyPr>
          <a:lstStyle/>
          <a:p>
            <a:endParaRPr lang="en-US"/>
          </a:p>
        </p:txBody>
      </p:sp>
      <p:sp>
        <p:nvSpPr>
          <p:cNvPr id="220" name="G TESTING &amp; RELEASE CONTROLS"/>
          <p:cNvSpPr/>
          <p:nvPr/>
        </p:nvSpPr>
        <p:spPr>
          <a:xfrm>
            <a:off x="457200" y="3369600"/>
            <a:ext cx="11277600" cy="180000"/>
          </a:xfrm>
          <a:prstGeom prst="rect">
            <a:avLst/>
          </a:prstGeom>
          <a:noFill/>
          <a:ln w="0">
            <a:noFill/>
          </a:ln>
        </p:spPr>
        <p:txBody>
          <a:bodyPr wrap="square" anchor="ctr" lIns="0" tIns="0" rIns="0" bIns="0">
            <a:noAutofit/>
          </a:bodyPr>
          <a:lstStyle/>
          <a:p>
            <a:pPr>
              <a:lnSpc>
                <a:spcPct val="108000"/>
              </a:lnSpc>
              <a:buNone/>
            </a:pPr>
            <a:r>
              <a:rPr lang="en-US" sz="760" b="1" i="0" dirty="0">
                <a:solidFill>
                  <a:srgbClr val="0047FF"/>
                </a:solidFill>
                <a:latin typeface="Arial"/>
                <a:ea typeface="Arial"/>
                <a:cs typeface="Arial"/>
              </a:rPr>
              <a:t>TESTING &amp; RELEASE CONTROLS</a:t>
            </a:r>
          </a:p>
        </p:txBody>
      </p:sp>
      <p:sp>
        <p:nvSpPr>
          <p:cNvPr id="221" name="L Patch triage"/>
          <p:cNvSpPr/>
          <p:nvPr/>
        </p:nvSpPr>
        <p:spPr>
          <a:xfrm>
            <a:off x="457200" y="3554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Patch triage</a:t>
            </a:r>
          </a:p>
        </p:txBody>
      </p:sp>
      <p:sp>
        <p:nvSpPr>
          <p:cNvPr id="222" name="B Patch triage"/>
          <p:cNvSpPr/>
          <p:nvPr/>
        </p:nvSpPr>
        <p:spPr>
          <a:xfrm>
            <a:off x="3237200" y="3582600"/>
            <a:ext cx="2799200" cy="118000"/>
          </a:xfrm>
          <a:prstGeom prst="rect">
            <a:avLst/>
          </a:prstGeom>
          <a:solidFill>
            <a:srgbClr val="0047FF"/>
          </a:solidFill>
          <a:ln w="0">
            <a:noFill/>
          </a:ln>
        </p:spPr>
        <p:txBody>
          <a:bodyPr wrap="square" anchor="t">
            <a:noAutofit/>
          </a:bodyPr>
          <a:lstStyle/>
          <a:p>
            <a:endParaRPr lang="en-US"/>
          </a:p>
        </p:txBody>
      </p:sp>
      <p:sp>
        <p:nvSpPr>
          <p:cNvPr id="223" name="L Cert inventory"/>
          <p:cNvSpPr/>
          <p:nvPr/>
        </p:nvSpPr>
        <p:spPr>
          <a:xfrm>
            <a:off x="457200" y="3746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Cert inventory</a:t>
            </a:r>
          </a:p>
        </p:txBody>
      </p:sp>
      <p:sp>
        <p:nvSpPr>
          <p:cNvPr id="224" name="B Cert inventory"/>
          <p:cNvSpPr/>
          <p:nvPr/>
        </p:nvSpPr>
        <p:spPr>
          <a:xfrm>
            <a:off x="3237200" y="3774600"/>
            <a:ext cx="4218800" cy="118000"/>
          </a:xfrm>
          <a:prstGeom prst="rect">
            <a:avLst/>
          </a:prstGeom>
          <a:solidFill>
            <a:srgbClr val="0047FF"/>
          </a:solidFill>
          <a:ln w="0">
            <a:noFill/>
          </a:ln>
        </p:spPr>
        <p:txBody>
          <a:bodyPr wrap="square" anchor="t">
            <a:noAutofit/>
          </a:bodyPr>
          <a:lstStyle/>
          <a:p>
            <a:endParaRPr lang="en-US"/>
          </a:p>
        </p:txBody>
      </p:sp>
      <p:sp>
        <p:nvSpPr>
          <p:cNvPr id="225" name="L Hardening window"/>
          <p:cNvSpPr/>
          <p:nvPr/>
        </p:nvSpPr>
        <p:spPr>
          <a:xfrm>
            <a:off x="457200" y="3938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Hardening window</a:t>
            </a:r>
          </a:p>
        </p:txBody>
      </p:sp>
      <p:sp>
        <p:nvSpPr>
          <p:cNvPr id="226" name="B Hardening window"/>
          <p:cNvSpPr/>
          <p:nvPr/>
        </p:nvSpPr>
        <p:spPr>
          <a:xfrm>
            <a:off x="3237200" y="3966600"/>
            <a:ext cx="4218800" cy="118000"/>
          </a:xfrm>
          <a:prstGeom prst="rect">
            <a:avLst/>
          </a:prstGeom>
          <a:solidFill>
            <a:srgbClr val="0047FF"/>
          </a:solidFill>
          <a:ln w="0">
            <a:noFill/>
          </a:ln>
        </p:spPr>
        <p:txBody>
          <a:bodyPr wrap="square" anchor="t">
            <a:noAutofit/>
          </a:bodyPr>
          <a:lstStyle/>
          <a:p>
            <a:endParaRPr lang="en-US"/>
          </a:p>
        </p:txBody>
      </p:sp>
      <p:sp>
        <p:nvSpPr>
          <p:cNvPr id="227" name="L Templated environments"/>
          <p:cNvSpPr/>
          <p:nvPr/>
        </p:nvSpPr>
        <p:spPr>
          <a:xfrm>
            <a:off x="457200" y="4130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Templated environments</a:t>
            </a:r>
          </a:p>
        </p:txBody>
      </p:sp>
      <p:sp>
        <p:nvSpPr>
          <p:cNvPr id="228" name="B Templated environments"/>
          <p:cNvSpPr/>
          <p:nvPr/>
        </p:nvSpPr>
        <p:spPr>
          <a:xfrm>
            <a:off x="4656800" y="4158600"/>
            <a:ext cx="7058000" cy="118000"/>
          </a:xfrm>
          <a:prstGeom prst="rect">
            <a:avLst/>
          </a:prstGeom>
          <a:solidFill>
            <a:srgbClr val="0047FF"/>
          </a:solidFill>
          <a:ln w="0">
            <a:noFill/>
          </a:ln>
        </p:spPr>
        <p:txBody>
          <a:bodyPr wrap="square" anchor="t">
            <a:noAutofit/>
          </a:bodyPr>
          <a:lstStyle/>
          <a:p>
            <a:endParaRPr lang="en-US"/>
          </a:p>
        </p:txBody>
      </p:sp>
      <p:sp>
        <p:nvSpPr>
          <p:cNvPr id="229" name="L Critical paths and agent tests"/>
          <p:cNvSpPr/>
          <p:nvPr/>
        </p:nvSpPr>
        <p:spPr>
          <a:xfrm>
            <a:off x="457200" y="4322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Critical paths and agent tests</a:t>
            </a:r>
          </a:p>
        </p:txBody>
      </p:sp>
      <p:sp>
        <p:nvSpPr>
          <p:cNvPr id="230" name="B Critical paths and agent tests"/>
          <p:cNvSpPr/>
          <p:nvPr/>
        </p:nvSpPr>
        <p:spPr>
          <a:xfrm>
            <a:off x="3237200" y="4350600"/>
            <a:ext cx="8477600" cy="118000"/>
          </a:xfrm>
          <a:prstGeom prst="rect">
            <a:avLst/>
          </a:prstGeom>
          <a:solidFill>
            <a:srgbClr val="0047FF"/>
          </a:solidFill>
          <a:ln w="0">
            <a:noFill/>
          </a:ln>
        </p:spPr>
        <p:txBody>
          <a:bodyPr wrap="square" anchor="t">
            <a:noAutofit/>
          </a:bodyPr>
          <a:lstStyle/>
          <a:p>
            <a:endParaRPr lang="en-US"/>
          </a:p>
        </p:txBody>
      </p:sp>
      <p:sp>
        <p:nvSpPr>
          <p:cNvPr id="231" name="L PR bot in the pipeline"/>
          <p:cNvSpPr/>
          <p:nvPr/>
        </p:nvSpPr>
        <p:spPr>
          <a:xfrm>
            <a:off x="457200" y="4514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PR bot in the pipeline</a:t>
            </a:r>
          </a:p>
        </p:txBody>
      </p:sp>
      <p:sp>
        <p:nvSpPr>
          <p:cNvPr id="232" name="B PR bot in the pipeline"/>
          <p:cNvSpPr/>
          <p:nvPr/>
        </p:nvSpPr>
        <p:spPr>
          <a:xfrm>
            <a:off x="4656800" y="4542600"/>
            <a:ext cx="4218800" cy="118000"/>
          </a:xfrm>
          <a:prstGeom prst="rect">
            <a:avLst/>
          </a:prstGeom>
          <a:solidFill>
            <a:srgbClr val="0047FF"/>
          </a:solidFill>
          <a:ln w="0">
            <a:noFill/>
          </a:ln>
        </p:spPr>
        <p:txBody>
          <a:bodyPr wrap="square" anchor="t">
            <a:noAutofit/>
          </a:bodyPr>
          <a:lstStyle/>
          <a:p>
            <a:endParaRPr lang="en-US"/>
          </a:p>
        </p:txBody>
      </p:sp>
      <p:sp>
        <p:nvSpPr>
          <p:cNvPr id="233" name="L Jira test generator in DXC's account"/>
          <p:cNvSpPr/>
          <p:nvPr/>
        </p:nvSpPr>
        <p:spPr>
          <a:xfrm>
            <a:off x="457200" y="4706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Jira test generator in DXC's account</a:t>
            </a:r>
          </a:p>
        </p:txBody>
      </p:sp>
      <p:sp>
        <p:nvSpPr>
          <p:cNvPr id="234" name="B Jira test generator in DXC's account"/>
          <p:cNvSpPr/>
          <p:nvPr/>
        </p:nvSpPr>
        <p:spPr>
          <a:xfrm>
            <a:off x="6076400" y="4734600"/>
            <a:ext cx="5638400" cy="118000"/>
          </a:xfrm>
          <a:prstGeom prst="rect">
            <a:avLst/>
          </a:prstGeom>
          <a:solidFill>
            <a:srgbClr val="0047FF"/>
          </a:solidFill>
          <a:ln w="0">
            <a:noFill/>
          </a:ln>
        </p:spPr>
        <p:txBody>
          <a:bodyPr wrap="square" anchor="t">
            <a:noAutofit/>
          </a:bodyPr>
          <a:lstStyle/>
          <a:p>
            <a:endParaRPr lang="en-US"/>
          </a:p>
        </p:txBody>
      </p:sp>
      <p:sp>
        <p:nvSpPr>
          <p:cNvPr id="235" name="L Same-build promotion"/>
          <p:cNvSpPr/>
          <p:nvPr/>
        </p:nvSpPr>
        <p:spPr>
          <a:xfrm>
            <a:off x="457200" y="4898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Same-build promotion</a:t>
            </a:r>
          </a:p>
        </p:txBody>
      </p:sp>
      <p:sp>
        <p:nvSpPr>
          <p:cNvPr id="236" name="B Same-build promotion"/>
          <p:cNvSpPr/>
          <p:nvPr/>
        </p:nvSpPr>
        <p:spPr>
          <a:xfrm>
            <a:off x="6076400" y="4926600"/>
            <a:ext cx="5638400" cy="118000"/>
          </a:xfrm>
          <a:prstGeom prst="rect">
            <a:avLst/>
          </a:prstGeom>
          <a:solidFill>
            <a:srgbClr val="0047FF"/>
          </a:solidFill>
          <a:ln w="0">
            <a:noFill/>
          </a:ln>
        </p:spPr>
        <p:txBody>
          <a:bodyPr wrap="square" anchor="t">
            <a:noAutofit/>
          </a:bodyPr>
          <a:lstStyle/>
          <a:p>
            <a:endParaRPr lang="en-US"/>
          </a:p>
        </p:txBody>
      </p:sp>
      <p:sp>
        <p:nvSpPr>
          <p:cNvPr id="237" name="G DECISIONS AND GUARDRAIL"/>
          <p:cNvSpPr/>
          <p:nvPr/>
        </p:nvSpPr>
        <p:spPr>
          <a:xfrm>
            <a:off x="457200" y="5110600"/>
            <a:ext cx="11277600" cy="180000"/>
          </a:xfrm>
          <a:prstGeom prst="rect">
            <a:avLst/>
          </a:prstGeom>
          <a:noFill/>
          <a:ln w="0">
            <a:noFill/>
          </a:ln>
        </p:spPr>
        <p:txBody>
          <a:bodyPr wrap="square" anchor="ctr" lIns="0" tIns="0" rIns="0" bIns="0">
            <a:noAutofit/>
          </a:bodyPr>
          <a:lstStyle/>
          <a:p>
            <a:pPr>
              <a:lnSpc>
                <a:spcPct val="108000"/>
              </a:lnSpc>
              <a:buNone/>
            </a:pPr>
            <a:r>
              <a:rPr lang="en-US" sz="760" b="1" i="0" dirty="0">
                <a:solidFill>
                  <a:srgbClr val="0047FF"/>
                </a:solidFill>
                <a:latin typeface="Arial"/>
                <a:ea typeface="Arial"/>
                <a:cs typeface="Arial"/>
              </a:rPr>
              <a:t>DECISIONS AND GUARDRAIL</a:t>
            </a:r>
          </a:p>
        </p:txBody>
      </p:sp>
      <p:sp>
        <p:nvSpPr>
          <p:cNvPr id="238" name="L AI access for all and QA lead named"/>
          <p:cNvSpPr/>
          <p:nvPr/>
        </p:nvSpPr>
        <p:spPr>
          <a:xfrm>
            <a:off x="457200" y="5295600"/>
            <a:ext cx="2700000" cy="174000"/>
          </a:xfrm>
          <a:prstGeom prst="rect">
            <a:avLst/>
          </a:prstGeom>
          <a:solidFill>
            <a:srgbClr val="E8EEF8"/>
          </a:solidFill>
          <a:ln w="0">
            <a:noFill/>
          </a:ln>
        </p:spPr>
        <p:txBody>
          <a:bodyPr wrap="square" anchor="ctr" lIns="45720" tIns="45720" rIns="45720" bIns="45720">
            <a:noAutofit/>
          </a:bodyPr>
          <a:lstStyle/>
          <a:p>
            <a:pPr>
              <a:lnSpc>
                <a:spcPct val="108000"/>
              </a:lnSpc>
              <a:buNone/>
            </a:pPr>
            <a:r>
              <a:rPr lang="en-US" sz="800" b="1" i="0" dirty="0">
                <a:solidFill>
                  <a:srgbClr val="070154"/>
                </a:solidFill>
                <a:latin typeface="Arial"/>
                <a:ea typeface="Arial"/>
                <a:cs typeface="Arial"/>
              </a:rPr>
              <a:t>AI access for all and QA lead named</a:t>
            </a:r>
          </a:p>
        </p:txBody>
      </p:sp>
      <p:sp>
        <p:nvSpPr>
          <p:cNvPr id="239" name="B AI access for all and QA lead named"/>
          <p:cNvSpPr/>
          <p:nvPr/>
        </p:nvSpPr>
        <p:spPr>
          <a:xfrm>
            <a:off x="3237200" y="5323600"/>
            <a:ext cx="2799200" cy="118000"/>
          </a:xfrm>
          <a:prstGeom prst="rect">
            <a:avLst/>
          </a:prstGeom>
          <a:solidFill>
            <a:srgbClr val="F900D3"/>
          </a:solidFill>
          <a:ln w="0">
            <a:noFill/>
          </a:ln>
        </p:spPr>
        <p:txBody>
          <a:bodyPr wrap="square" anchor="t">
            <a:noAutofit/>
          </a:bodyPr>
          <a:lstStyle/>
          <a:p>
            <a:endParaRPr lang="en-US"/>
          </a:p>
        </p:txBody>
      </p:sp>
      <p:sp>
        <p:nvSpPr>
          <p:cNvPr id="240" name="Gl2"/>
          <p:cNvSpPr/>
          <p:nvPr/>
        </p:nvSpPr>
        <p:spPr>
          <a:xfrm>
            <a:off x="6050400" y="2012600"/>
            <a:ext cx="12000" cy="3495000"/>
          </a:xfrm>
          <a:prstGeom prst="rect">
            <a:avLst/>
          </a:prstGeom>
          <a:solidFill>
            <a:srgbClr val="F900D3"/>
          </a:solidFill>
          <a:ln w="0">
            <a:noFill/>
          </a:ln>
        </p:spPr>
        <p:txBody>
          <a:bodyPr wrap="square" anchor="t">
            <a:noAutofit/>
          </a:bodyPr>
          <a:lstStyle/>
          <a:p>
            <a:endParaRPr lang="en-US"/>
          </a:p>
        </p:txBody>
      </p:sp>
      <p:sp>
        <p:nvSpPr>
          <p:cNvPr id="241" name="Gl4"/>
          <p:cNvSpPr/>
          <p:nvPr/>
        </p:nvSpPr>
        <p:spPr>
          <a:xfrm>
            <a:off x="8889600" y="2012600"/>
            <a:ext cx="12000" cy="3495000"/>
          </a:xfrm>
          <a:prstGeom prst="rect">
            <a:avLst/>
          </a:prstGeom>
          <a:solidFill>
            <a:srgbClr val="F900D3"/>
          </a:solidFill>
          <a:ln w="0">
            <a:noFill/>
          </a:ln>
        </p:spPr>
        <p:txBody>
          <a:bodyPr wrap="square" anchor="t">
            <a:noAutofit/>
          </a:bodyPr>
          <a:lstStyle/>
          <a:p>
            <a:endParaRPr lang="en-US"/>
          </a:p>
        </p:txBody>
      </p:sp>
      <p:sp>
        <p:nvSpPr>
          <p:cNvPr id="242" name="Gl6"/>
          <p:cNvSpPr/>
          <p:nvPr/>
        </p:nvSpPr>
        <p:spPr>
          <a:xfrm>
            <a:off x="11728800" y="2012600"/>
            <a:ext cx="12000" cy="3495000"/>
          </a:xfrm>
          <a:prstGeom prst="rect">
            <a:avLst/>
          </a:prstGeom>
          <a:solidFill>
            <a:srgbClr val="F900D3"/>
          </a:solidFill>
          <a:ln w="0">
            <a:noFill/>
          </a:ln>
        </p:spPr>
        <p:txBody>
          <a:bodyPr wrap="square" anchor="t">
            <a:noAutofit/>
          </a:bodyPr>
          <a:lstStyle/>
          <a:p>
            <a:endParaRPr lang="en-US"/>
          </a:p>
        </p:txBody>
      </p:sp>
      <p:sp>
        <p:nvSpPr>
          <p:cNvPr id="243" name="Bar 243"/>
          <p:cNvSpPr/>
          <p:nvPr/>
        </p:nvSpPr>
        <p:spPr>
          <a:xfrm>
            <a:off x="457200" y="5532600"/>
            <a:ext cx="11277600" cy="360000"/>
          </a:xfrm>
          <a:prstGeom prst="rect">
            <a:avLst/>
          </a:prstGeom>
          <a:solidFill>
            <a:srgbClr val="E8EEF8"/>
          </a:solidFill>
          <a:ln w="0">
            <a:noFill/>
          </a:ln>
        </p:spPr>
        <p:txBody>
          <a:bodyPr wrap="square" anchor="ctr">
            <a:noAutofit/>
          </a:bodyPr>
          <a:lstStyle/>
          <a:p>
            <a:pPr>
              <a:lnSpc>
                <a:spcPct val="108000"/>
              </a:lnSpc>
              <a:buNone/>
            </a:pPr>
            <a:r>
              <a:rPr lang="en-US" sz="950" b="1" i="0" dirty="0">
                <a:solidFill>
                  <a:srgbClr val="F900D3"/>
                </a:solidFill>
                <a:latin typeface="Arial"/>
                <a:ea typeface="Arial"/>
                <a:cs typeface="Arial"/>
              </a:rPr>
              <a:t>◆ Gates:  </a:t>
            </a:r>
            <a:r>
              <a:rPr lang="en-US" sz="830" b="1" i="0" dirty="0">
                <a:solidFill>
                  <a:srgbClr val="070154"/>
                </a:solidFill>
                <a:latin typeface="Arial"/>
                <a:ea typeface="Arial"/>
                <a:cs typeface="Arial"/>
              </a:rPr>
              <a:t>Week 2: owners, hardening window, Ready and PR gates, spec-before-date, QA lead, and AI access decided   ·   Week 4: hands-on workshop on real Core epics   ·   Week 6: scorecard review and next-pod decision</a:t>
            </a:r>
          </a:p>
        </p:txBody>
      </p:sp>
    </p:spTree>
    <p:extLst>
      <p:ext uri="{BB962C8B-B14F-4D97-AF65-F5344CB8AC3E}">
        <p14:creationId xmlns:p14="http://schemas.microsoft.com/office/powerpoint/2010/main" val="288705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Risks and dependencies: most are decisions, not unknowns</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Each risk has a mitigation, an owner, and the week it is needed by.</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RISKS AND DEPENDENCIES</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Risks"/>
          <p:cNvGraphicFramePr>
            <a:graphicFrameLocks noGrp="1"/>
          </p:cNvGraphicFramePr>
          <p:nvPr/>
        </p:nvGraphicFramePr>
        <p:xfrm>
          <a:off x="457200" y="1752600"/>
          <a:ext cx="11277600" cy="3540000"/>
        </p:xfrm>
        <a:graphic>
          <a:graphicData uri="http://schemas.openxmlformats.org/drawingml/2006/table">
            <a:tbl>
              <a:tblPr/>
              <a:tblGrid>
                <a:gridCol w="2600000"/>
                <a:gridCol w="2300000"/>
                <a:gridCol w="3300000"/>
                <a:gridCol w="2100000"/>
                <a:gridCol w="977600"/>
              </a:tblGrid>
              <a:tr h="340000">
                <a:tc>
                  <a:txBody>
                    <a:bodyPr/>
                    <a:lstStyle/>
                    <a:p>
                      <a:pPr>
                        <a:lnSpc>
                          <a:spcPct val="102000"/>
                        </a:lnSpc>
                        <a:buNone/>
                      </a:pPr>
                      <a:r>
                        <a:rPr lang="en-US" sz="900" b="1" i="0" dirty="0">
                          <a:solidFill>
                            <a:srgbClr val="FFFFFF"/>
                          </a:solidFill>
                          <a:latin typeface="Arial"/>
                          <a:ea typeface="Arial"/>
                          <a:cs typeface="Arial"/>
                        </a:rPr>
                        <a:t>Risk or dependency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If it slips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Mitigation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Owner</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Needed by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400000">
                <a:tc>
                  <a:txBody>
                    <a:bodyPr/>
                    <a:lstStyle/>
                    <a:p>
                      <a:pPr>
                        <a:lnSpc>
                          <a:spcPct val="102000"/>
                        </a:lnSpc>
                        <a:buNone/>
                      </a:pPr>
                      <a:r>
                        <a:rPr lang="en-US" sz="900" b="1" i="0" dirty="0">
                          <a:solidFill>
                            <a:srgbClr val="070154"/>
                          </a:solidFill>
                          <a:latin typeface="Arial"/>
                          <a:ea typeface="Arial"/>
                          <a:cs typeface="Arial"/>
                        </a:rPr>
                        <a:t>Claude access and PHI rule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AI moves stall for contractors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Decide at week 2; start with full-time pilot users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Engineering leadership + Security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400000">
                <a:tc>
                  <a:txBody>
                    <a:bodyPr/>
                    <a:lstStyle/>
                    <a:p>
                      <a:pPr>
                        <a:lnSpc>
                          <a:spcPct val="102000"/>
                        </a:lnSpc>
                        <a:buNone/>
                      </a:pPr>
                      <a:r>
                        <a:rPr lang="en-US" sz="900" b="1" i="0" dirty="0">
                          <a:solidFill>
                            <a:srgbClr val="070154"/>
                          </a:solidFill>
                          <a:latin typeface="Arial"/>
                          <a:ea typeface="Arial"/>
                          <a:cs typeface="Arial"/>
                        </a:rPr>
                        <a:t>Security review to host QA tools in AWS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Test generator and PR bot stay manual</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Start the review in week 1 on the existing Claude subscription</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Security + DevOps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400000">
                <a:tc>
                  <a:txBody>
                    <a:bodyPr/>
                    <a:lstStyle/>
                    <a:p>
                      <a:pPr>
                        <a:lnSpc>
                          <a:spcPct val="102000"/>
                        </a:lnSpc>
                        <a:buNone/>
                      </a:pPr>
                      <a:r>
                        <a:rPr lang="en-US" sz="900" b="1" i="0" dirty="0">
                          <a:solidFill>
                            <a:srgbClr val="070154"/>
                          </a:solidFill>
                          <a:latin typeface="Arial"/>
                          <a:ea typeface="Arial"/>
                          <a:cs typeface="Arial"/>
                        </a:rPr>
                        <a:t>Environment templating capacity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Hardening window cannot run two releases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Template pre-live first; stagger releases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DevOps + application architects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400000">
                <a:tc>
                  <a:txBody>
                    <a:bodyPr/>
                    <a:lstStyle/>
                    <a:p>
                      <a:pPr>
                        <a:lnSpc>
                          <a:spcPct val="102000"/>
                        </a:lnSpc>
                        <a:buNone/>
                      </a:pPr>
                      <a:r>
                        <a:rPr lang="en-US" sz="900" b="1" i="0" dirty="0">
                          <a:solidFill>
                            <a:srgbClr val="070154"/>
                          </a:solidFill>
                          <a:latin typeface="Arial"/>
                          <a:ea typeface="Arial"/>
                          <a:cs typeface="Arial"/>
                        </a:rPr>
                        <a:t>Load on QA and Core leads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Actions slip; leads burn out</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West Monroe QE engineers take execution; name a QA lead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400000">
                <a:tc>
                  <a:txBody>
                    <a:bodyPr/>
                    <a:lstStyle/>
                    <a:p>
                      <a:pPr>
                        <a:lnSpc>
                          <a:spcPct val="102000"/>
                        </a:lnSpc>
                        <a:buNone/>
                      </a:pPr>
                      <a:r>
                        <a:rPr lang="en-US" sz="900" b="1" i="0" dirty="0">
                          <a:solidFill>
                            <a:srgbClr val="070154"/>
                          </a:solidFill>
                          <a:latin typeface="Arial"/>
                          <a:ea typeface="Arial"/>
                          <a:cs typeface="Arial"/>
                        </a:rPr>
                        <a:t>Branch strategy not settled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Hardening window blocked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Options paper and decision at the week-2 gate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Core lead + QA lead + Release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400000">
                <a:tc>
                  <a:txBody>
                    <a:bodyPr/>
                    <a:lstStyle/>
                    <a:p>
                      <a:pPr>
                        <a:lnSpc>
                          <a:spcPct val="102000"/>
                        </a:lnSpc>
                        <a:buNone/>
                      </a:pPr>
                      <a:r>
                        <a:rPr lang="en-US" sz="900" b="1" i="0" dirty="0">
                          <a:solidFill>
                            <a:srgbClr val="070154"/>
                          </a:solidFill>
                          <a:latin typeface="Arial"/>
                          <a:ea typeface="Arial"/>
                          <a:cs typeface="Arial"/>
                        </a:rPr>
                        <a:t>CAB rule for switched-off code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Release friction continues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Written rule as part of the release gate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Release management + CAB</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400000">
                <a:tc>
                  <a:txBody>
                    <a:bodyPr/>
                    <a:lstStyle/>
                    <a:p>
                      <a:pPr>
                        <a:lnSpc>
                          <a:spcPct val="102000"/>
                        </a:lnSpc>
                        <a:buNone/>
                      </a:pPr>
                      <a:r>
                        <a:rPr lang="en-US" sz="900" b="1" i="0" dirty="0">
                          <a:solidFill>
                            <a:srgbClr val="070154"/>
                          </a:solidFill>
                          <a:latin typeface="Arial"/>
                          <a:ea typeface="Arial"/>
                          <a:cs typeface="Arial"/>
                        </a:rPr>
                        <a:t>Data quality for baselines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Metrics not trusted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Start with calendar and build IDs; add Jira cause codes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3</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r h="400000">
                <a:tc>
                  <a:txBody>
                    <a:bodyPr/>
                    <a:lstStyle/>
                    <a:p>
                      <a:pPr>
                        <a:lnSpc>
                          <a:spcPct val="102000"/>
                        </a:lnSpc>
                        <a:buNone/>
                      </a:pPr>
                      <a:r>
                        <a:rPr lang="en-US" sz="900" b="1" i="0" dirty="0">
                          <a:solidFill>
                            <a:srgbClr val="070154"/>
                          </a:solidFill>
                          <a:latin typeface="Arial"/>
                          <a:ea typeface="Arial"/>
                          <a:cs typeface="Arial"/>
                        </a:rPr>
                        <a:t>Rules Engine platform undecided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860" b="1" i="0" dirty="0">
                          <a:solidFill>
                            <a:srgbClr val="B7412F"/>
                          </a:solidFill>
                          <a:latin typeface="Arial"/>
                          <a:ea typeface="Arial"/>
                          <a:cs typeface="Arial"/>
                        </a:rPr>
                        <a:t>Spec-first pilot delayed</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DE0DC"/>
                    </a:solidFill>
                  </a:tcPr>
                </a:tc>
                <a:tc>
                  <a:txBody>
                    <a:bodyPr/>
                    <a:lstStyle/>
                    <a:p>
                      <a:pPr>
                        <a:lnSpc>
                          <a:spcPct val="102000"/>
                        </a:lnSpc>
                        <a:buNone/>
                      </a:pPr>
                      <a:r>
                        <a:rPr lang="en-US" sz="860" b="0" i="0" dirty="0">
                          <a:solidFill>
                            <a:srgbClr val="50658E"/>
                          </a:solidFill>
                          <a:latin typeface="Arial"/>
                          <a:ea typeface="Arial"/>
                          <a:cs typeface="Arial"/>
                        </a:rPr>
                        <a:t>Spec is platform-neutral; decide at week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860" b="0" i="0" dirty="0">
                          <a:solidFill>
                            <a:srgbClr val="070154"/>
                          </a:solidFill>
                          <a:latin typeface="Arial"/>
                          <a:ea typeface="Arial"/>
                          <a:cs typeface="Arial"/>
                        </a:rPr>
                        <a:t>Product + Engineering leadership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c>
                  <a:txBody>
                    <a:bodyPr/>
                    <a:lstStyle/>
                    <a:p>
                      <a:pPr>
                        <a:lnSpc>
                          <a:spcPct val="102000"/>
                        </a:lnSpc>
                        <a:buNone/>
                      </a:pPr>
                      <a:r>
                        <a:rPr lang="en-US" sz="900" b="1" i="0" dirty="0">
                          <a:solidFill>
                            <a:srgbClr val="16804D"/>
                          </a:solidFill>
                          <a:latin typeface="Arial"/>
                          <a:ea typeface="Arial"/>
                          <a:cs typeface="Arial"/>
                        </a:rPr>
                        <a:t>Week 2</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CCF2DD"/>
                    </a:solidFill>
                  </a:tcPr>
                </a:tc>
              </a:tr>
            </a:tbl>
          </a:graphicData>
        </a:graphic>
      </p:graphicFrame>
      <p:sp>
        <p:nvSpPr>
          <p:cNvPr id="300" name="Bar 300"/>
          <p:cNvSpPr/>
          <p:nvPr/>
        </p:nvSpPr>
        <p:spPr>
          <a:xfrm>
            <a:off x="457200" y="5560000"/>
            <a:ext cx="11277600" cy="420000"/>
          </a:xfrm>
          <a:prstGeom prst="rect">
            <a:avLst/>
          </a:prstGeom>
          <a:solidFill>
            <a:srgbClr val="0047FF"/>
          </a:solidFill>
          <a:ln w="0">
            <a:noFill/>
          </a:ln>
        </p:spPr>
        <p:txBody>
          <a:bodyPr wrap="square" anchor="ctr">
            <a:noAutofit/>
          </a:bodyPr>
          <a:lstStyle/>
          <a:p>
            <a:pPr>
              <a:lnSpc>
                <a:spcPct val="108000"/>
              </a:lnSpc>
              <a:buNone/>
            </a:pPr>
            <a:r>
              <a:rPr lang="en-US" sz="1000" b="1" i="0" dirty="0">
                <a:solidFill>
                  <a:srgbClr val="FFFFFF"/>
                </a:solidFill>
                <a:latin typeface="Arial"/>
                <a:ea typeface="Arial"/>
                <a:cs typeface="Arial"/>
              </a:rPr>
              <a:t>Five of the eight are decisions at the week-2 gate. The gate is where the plan is won or lost.</a:t>
            </a:r>
          </a:p>
        </p:txBody>
      </p:sp>
    </p:spTree>
    <p:extLst>
      <p:ext uri="{BB962C8B-B14F-4D97-AF65-F5344CB8AC3E}">
        <p14:creationId xmlns:p14="http://schemas.microsoft.com/office/powerpoint/2010/main" val="288705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p:blipFill>
        <p:spPr>
          <a:xfrm>
            <a:off x="10608469" y="171450"/>
            <a:ext cx="1071563" cy="476250"/>
          </a:xfrm>
          <a:prstGeom prst="rect">
            <a:avLst/>
          </a:prstGeom>
        </p:spPr>
      </p:pic>
      <p:sp>
        <p:nvSpPr>
          <p:cNvPr id="2" name="Rectangle 1">
            <a:extLst>
              <a:ext uri="{FF2B5EF4-FFF2-40B4-BE49-F238E27FC236}">
                <a16:creationId xmlns:a16="http://schemas.microsoft.com/office/drawing/2014/main" id="{48ECADC8-8364-4C28-9544-00464591157E}"/>
              </a:ext>
            </a:extLst>
          </p:cNvPr>
          <p:cNvSpPr>
            <a:spLocks noGrp="1"/>
          </p:cNvSpPr>
          <p:nvPr/>
        </p:nvSpPr>
        <p:spPr>
          <a:xfrm>
            <a:off x="457200" y="552450"/>
            <a:ext cx="11125200" cy="590550"/>
          </a:xfrm>
          <a:prstGeom prst="rect">
            <a:avLst/>
          </a:prstGeom>
          <a:noFill/>
          <a:ln w="0">
            <a:noFill/>
          </a:ln>
        </p:spPr>
        <p:txBody>
          <a:bodyPr lIns="91440" tIns="45720" rIns="91440" bIns="45720" anchor="t">
            <a:normAutofit/>
          </a:bodyPr>
          <a:lstStyle/>
          <a:p>
            <a:pPr>
              <a:lnSpc>
                <a:spcPct val="98000"/>
              </a:lnSpc>
              <a:buNone/>
              <a:defRPr sz="2325" b="1" i="0">
                <a:solidFill>
                  <a:srgbClr val="070154"/>
                </a:solidFill>
                <a:latin typeface="Arial"/>
                <a:ea typeface="Arial"/>
                <a:cs typeface="Arial"/>
              </a:defRPr>
            </a:pPr>
            <a:r>
              <a:rPr lang="en-US" sz="2300" b="1">
                <a:solidFill>
                  <a:srgbClr val="070154"/>
                </a:solidFill>
                <a:latin typeface="Arial"/>
                <a:ea typeface="Arial"/>
                <a:cs typeface="Arial"/>
              </a:rPr>
              <a:t>Proposed edits to the main deck</a:t>
            </a:r>
          </a:p>
        </p:txBody>
      </p:sp>
      <p:sp>
        <p:nvSpPr>
          <p:cNvPr id="3" name="Rectangle 2">
            <a:extLst>
              <a:ext uri="{FF2B5EF4-FFF2-40B4-BE49-F238E27FC236}">
                <a16:creationId xmlns:a16="http://schemas.microsoft.com/office/drawing/2014/main" id="{3DFCDD6A-DBBE-41E7-9AFA-61E7504F6753}"/>
              </a:ext>
            </a:extLst>
          </p:cNvPr>
          <p:cNvSpPr>
            <a:spLocks noGrp="1"/>
          </p:cNvSpPr>
          <p:nvPr/>
        </p:nvSpPr>
        <p:spPr>
          <a:xfrm>
            <a:off x="457200" y="1181100"/>
            <a:ext cx="10668000" cy="400050"/>
          </a:xfrm>
          <a:prstGeom prst="rect">
            <a:avLst/>
          </a:prstGeom>
          <a:noFill/>
          <a:ln w="0">
            <a:noFill/>
          </a:ln>
        </p:spPr>
        <p:txBody>
          <a:bodyPr anchor="t">
            <a:normAutofit/>
          </a:bodyPr>
          <a:lstStyle/>
          <a:p>
            <a:pPr>
              <a:lnSpc>
                <a:spcPct val="110000"/>
              </a:lnSpc>
              <a:buNone/>
              <a:defRPr sz="1275" b="0" i="0">
                <a:solidFill>
                  <a:srgbClr val="50658E"/>
                </a:solidFill>
                <a:latin typeface="Arial"/>
                <a:ea typeface="Arial"/>
                <a:cs typeface="Arial"/>
              </a:defRPr>
            </a:pPr>
            <a:r>
              <a:rPr lang="en-US" sz="1275">
                <a:solidFill>
                  <a:srgbClr val="50658E"/>
                </a:solidFill>
                <a:latin typeface="Arial"/>
                <a:ea typeface="Arial"/>
                <a:cs typeface="Arial"/>
              </a:rPr>
              <a:t>For internal review only. How these slides would fit into the current client deck.</a:t>
            </a:r>
          </a:p>
        </p:txBody>
      </p:sp>
      <p:sp>
        <p:nvSpPr>
          <p:cNvPr id="4" name="Rectangle 3">
            <a:extLst>
              <a:ext uri="{FF2B5EF4-FFF2-40B4-BE49-F238E27FC236}">
                <a16:creationId xmlns:a16="http://schemas.microsoft.com/office/drawing/2014/main" id="{93E73CE5-295D-41AA-AF20-B7C927BE1BC7}"/>
              </a:ext>
            </a:extLst>
          </p:cNvPr>
          <p:cNvSpPr>
            <a:spLocks noGrp="1"/>
          </p:cNvSpPr>
          <p:nvPr/>
        </p:nvSpPr>
        <p:spPr>
          <a:xfrm>
            <a:off x="457200" y="1438275"/>
            <a:ext cx="3238500" cy="171450"/>
          </a:xfrm>
          <a:prstGeom prst="rect">
            <a:avLst/>
          </a:prstGeom>
          <a:noFill/>
          <a:ln w="0">
            <a:noFill/>
          </a:ln>
        </p:spPr>
        <p:txBody>
          <a:bodyPr anchor="t">
            <a:noAutofit/>
          </a:bodyPr>
          <a:lstStyle/>
          <a:p>
            <a:pPr>
              <a:lnSpc>
                <a:spcPct val="108000"/>
              </a:lnSpc>
              <a:buNone/>
              <a:defRPr sz="750" b="1" i="0">
                <a:solidFill>
                  <a:srgbClr val="0047FF"/>
                </a:solidFill>
                <a:latin typeface="Arial"/>
                <a:ea typeface="Arial"/>
                <a:cs typeface="Arial"/>
              </a:defRPr>
            </a:pPr>
            <a:r>
              <a:rPr sz="1100" b="1" i="0">
                <a:solidFill>
                  <a:srgbClr val="0047FF"/>
                </a:solidFill>
                <a:latin typeface="Arial"/>
                <a:ea typeface="Arial"/>
                <a:cs typeface="Arial"/>
              </a:rPr>
              <a:t>INTERNAL · NOT FOR CLIENT</a:t>
            </a:r>
          </a:p>
        </p:txBody>
      </p:sp>
      <p:sp>
        <p:nvSpPr>
          <p:cNvPr id="5" name="Footer Placeholder 1">
            <a:extLst>
              <a:ext uri="{FF2B5EF4-FFF2-40B4-BE49-F238E27FC236}">
                <a16:creationId xmlns:a16="http://schemas.microsoft.com/office/drawing/2014/main" id="{D8B079FB-FAF3-F701-E830-5321AC7D80DE}"/>
              </a:ext>
            </a:extLst>
          </p:cNvPr>
          <p:cNvSpPr>
            <a:spLocks noGrp="1"/>
          </p:cNvSpPr>
          <p:nvPr>
            <p:ph type="ftr" idx="10"/>
          </p:nvPr>
        </p:nvSpPr>
        <p:spPr>
          <a:xfrm>
            <a:off x="4321019" y="6400798"/>
            <a:ext cx="7102834" cy="167949"/>
          </a:xfrm>
        </p:spPr>
        <p:txBody>
          <a:bodyPr/>
          <a:lstStyle/>
          <a:p>
            <a:r>
              <a:rPr lang="en-US"/>
              <a:t>© 2026 West Monroe Partners | Reproduction and/or distribution without West Monroe Partners’ prior consent is prohibited.</a:t>
            </a:r>
          </a:p>
        </p:txBody>
      </p:sp>
      <p:sp>
        <p:nvSpPr>
          <p:cNvPr id="7" name="Slide Number Placeholder 2">
            <a:extLst>
              <a:ext uri="{FF2B5EF4-FFF2-40B4-BE49-F238E27FC236}">
                <a16:creationId xmlns:a16="http://schemas.microsoft.com/office/drawing/2014/main" id="{F1685B17-409D-9125-A2DB-E45F708AA3C3}"/>
              </a:ext>
            </a:extLst>
          </p:cNvPr>
          <p:cNvSpPr>
            <a:spLocks noGrp="1"/>
          </p:cNvSpPr>
          <p:nvPr>
            <p:ph type="sldNum" idx="11"/>
          </p:nvPr>
        </p:nvSpPr>
        <p:spPr>
          <a:xfrm>
            <a:off x="11509578" y="6400799"/>
            <a:ext cx="218871" cy="167949"/>
          </a:xfrm>
        </p:spPr>
        <p:txBody>
          <a:bodyPr/>
          <a:lstStyle/>
          <a:p>
            <a:fld id="{63DCA5C9-2E11-4C67-86EB-AE1DE127DC64}" type="slidenum">
              <a:rPr lang="en-US" smtClean="0"/>
              <a:t>21</a:t>
            </a:fld>
            <a:endParaRPr lang="en-US"/>
          </a:p>
        </p:txBody>
      </p:sp>
      <p:graphicFrame>
        <p:nvGraphicFramePr>
          <p:cNvPr id="200" name="Edits"/>
          <p:cNvGraphicFramePr>
            <a:graphicFrameLocks noGrp="1"/>
          </p:cNvGraphicFramePr>
          <p:nvPr/>
        </p:nvGraphicFramePr>
        <p:xfrm>
          <a:off x="457200" y="1752600"/>
          <a:ext cx="11277600" cy="3000000"/>
        </p:xfrm>
        <a:graphic>
          <a:graphicData uri="http://schemas.openxmlformats.org/drawingml/2006/table">
            <a:tbl>
              <a:tblPr/>
              <a:tblGrid>
                <a:gridCol w="3000000"/>
                <a:gridCol w="8277600"/>
              </a:tblGrid>
              <a:tr h="340000">
                <a:tc>
                  <a:txBody>
                    <a:bodyPr/>
                    <a:lstStyle/>
                    <a:p>
                      <a:pPr>
                        <a:lnSpc>
                          <a:spcPct val="102000"/>
                        </a:lnSpc>
                        <a:buNone/>
                      </a:pPr>
                      <a:r>
                        <a:rPr lang="en-US" sz="900" b="1" i="0" dirty="0">
                          <a:solidFill>
                            <a:srgbClr val="FFFFFF"/>
                          </a:solidFill>
                          <a:latin typeface="Arial"/>
                          <a:ea typeface="Arial"/>
                          <a:cs typeface="Arial"/>
                        </a:rPr>
                        <a:t>Main deck slide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c>
                  <a:txBody>
                    <a:bodyPr/>
                    <a:lstStyle/>
                    <a:p>
                      <a:pPr>
                        <a:lnSpc>
                          <a:spcPct val="102000"/>
                        </a:lnSpc>
                        <a:buNone/>
                      </a:pPr>
                      <a:r>
                        <a:rPr lang="en-US" sz="900" b="1" i="0" dirty="0">
                          <a:solidFill>
                            <a:srgbClr val="FFFFFF"/>
                          </a:solidFill>
                          <a:latin typeface="Arial"/>
                          <a:ea typeface="Arial"/>
                          <a:cs typeface="Arial"/>
                        </a:rPr>
                        <a:t>Proposed change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070154"/>
                    </a:solidFill>
                  </a:tcPr>
                </a:tc>
              </a:tr>
              <a:tr h="380000">
                <a:tc>
                  <a:txBody>
                    <a:bodyPr/>
                    <a:lstStyle/>
                    <a:p>
                      <a:pPr>
                        <a:lnSpc>
                          <a:spcPct val="102000"/>
                        </a:lnSpc>
                        <a:buNone/>
                      </a:pPr>
                      <a:r>
                        <a:rPr lang="en-US" sz="900" b="1" i="0" dirty="0">
                          <a:solidFill>
                            <a:srgbClr val="070154"/>
                          </a:solidFill>
                          <a:latin typeface="Arial"/>
                          <a:ea typeface="Arial"/>
                          <a:cs typeface="Arial"/>
                        </a:rPr>
                        <a:t>6  Executive summary</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Replace the engineering lines with the six finding hooks, the four moves, and the week-2 decisions.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80000">
                <a:tc>
                  <a:txBody>
                    <a:bodyPr/>
                    <a:lstStyle/>
                    <a:p>
                      <a:pPr>
                        <a:lnSpc>
                          <a:spcPct val="102000"/>
                        </a:lnSpc>
                        <a:buNone/>
                      </a:pPr>
                      <a:r>
                        <a:rPr lang="en-US" sz="900" b="1" i="0" dirty="0">
                          <a:solidFill>
                            <a:srgbClr val="070154"/>
                          </a:solidFill>
                          <a:latin typeface="Arial"/>
                          <a:ea typeface="Arial"/>
                          <a:cs typeface="Arial"/>
                        </a:rPr>
                        <a:t>12  Engineering practices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Fix "one QA" and the patch claim, or move to the appendix.</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80000">
                <a:tc>
                  <a:txBody>
                    <a:bodyPr/>
                    <a:lstStyle/>
                    <a:p>
                      <a:pPr>
                        <a:lnSpc>
                          <a:spcPct val="102000"/>
                        </a:lnSpc>
                        <a:buNone/>
                      </a:pPr>
                      <a:r>
                        <a:rPr lang="en-US" sz="900" b="1" i="0" dirty="0">
                          <a:solidFill>
                            <a:srgbClr val="070154"/>
                          </a:solidFill>
                          <a:latin typeface="Arial"/>
                          <a:ea typeface="Arial"/>
                          <a:cs typeface="Arial"/>
                        </a:rPr>
                        <a:t>19, 20, 31</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Move to the graveyard: replaced by the four moves and their action plans.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80000">
                <a:tc>
                  <a:txBody>
                    <a:bodyPr/>
                    <a:lstStyle/>
                    <a:p>
                      <a:pPr>
                        <a:lnSpc>
                          <a:spcPct val="102000"/>
                        </a:lnSpc>
                        <a:buNone/>
                      </a:pPr>
                      <a:r>
                        <a:rPr lang="en-US" sz="900" b="1" i="0" dirty="0">
                          <a:solidFill>
                            <a:srgbClr val="070154"/>
                          </a:solidFill>
                          <a:latin typeface="Arial"/>
                          <a:ea typeface="Arial"/>
                          <a:cs typeface="Arial"/>
                        </a:rPr>
                        <a:t>21–23  Engineering priorities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Replace with the Core SDLC, agile with Claude Code, QA, and metrics slides.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80000">
                <a:tc>
                  <a:txBody>
                    <a:bodyPr/>
                    <a:lstStyle/>
                    <a:p>
                      <a:pPr>
                        <a:lnSpc>
                          <a:spcPct val="102000"/>
                        </a:lnSpc>
                        <a:buNone/>
                      </a:pPr>
                      <a:r>
                        <a:rPr lang="en-US" sz="900" b="1" i="0" dirty="0">
                          <a:solidFill>
                            <a:srgbClr val="070154"/>
                          </a:solidFill>
                          <a:latin typeface="Arial"/>
                          <a:ea typeface="Arial"/>
                          <a:cs typeface="Arial"/>
                        </a:rPr>
                        <a:t>25, 32  Summary and roadmap</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Align horizons to Now / Next / Future and drop agentic delivery from Future.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80000">
                <a:tc>
                  <a:txBody>
                    <a:bodyPr/>
                    <a:lstStyle/>
                    <a:p>
                      <a:pPr>
                        <a:lnSpc>
                          <a:spcPct val="102000"/>
                        </a:lnSpc>
                        <a:buNone/>
                      </a:pPr>
                      <a:r>
                        <a:rPr lang="en-US" sz="900" b="1" i="0" dirty="0">
                          <a:solidFill>
                            <a:srgbClr val="070154"/>
                          </a:solidFill>
                          <a:latin typeface="Arial"/>
                          <a:ea typeface="Arial"/>
                          <a:cs typeface="Arial"/>
                        </a:rPr>
                        <a:t>39, 40  Next-phase workstreams</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Add the moves each workstream delivers and the gates; in 40, build on QA's framework, agents, and PR bot, and include environment templating and the hardening window.</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r h="380000">
                <a:tc>
                  <a:txBody>
                    <a:bodyPr/>
                    <a:lstStyle/>
                    <a:p>
                      <a:pPr>
                        <a:lnSpc>
                          <a:spcPct val="102000"/>
                        </a:lnSpc>
                        <a:buNone/>
                      </a:pPr>
                      <a:r>
                        <a:rPr lang="en-US" sz="900" b="1" i="0" dirty="0">
                          <a:solidFill>
                            <a:srgbClr val="070154"/>
                          </a:solidFill>
                          <a:latin typeface="Arial"/>
                          <a:ea typeface="Arial"/>
                          <a:cs typeface="Arial"/>
                        </a:rPr>
                        <a:t>3, 7, 40</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E8EEF8"/>
                    </a:solidFill>
                  </a:tcPr>
                </a:tc>
                <a:tc>
                  <a:txBody>
                    <a:bodyPr/>
                    <a:lstStyle/>
                    <a:p>
                      <a:pPr>
                        <a:lnSpc>
                          <a:spcPct val="102000"/>
                        </a:lnSpc>
                        <a:buNone/>
                      </a:pPr>
                      <a:r>
                        <a:rPr lang="en-US" sz="900" b="0" i="0" dirty="0">
                          <a:solidFill>
                            <a:srgbClr val="50658E"/>
                          </a:solidFill>
                          <a:latin typeface="Arial"/>
                          <a:ea typeface="Arial"/>
                          <a:cs typeface="Arial"/>
                        </a:rPr>
                        <a:t>Slide 3 duplicates slide 35 and has a review note; slide 7 is empty; slide 40 has the typo "Datatabase".</a:t>
                      </a:r>
                    </a:p>
                  </a:txBody>
                  <a:tcPr anchor="ctr">
                    <a:lnL w="76200" cap="flat" cmpd="sng" algn="ctr">
                      <a:solidFill>
                        <a:srgbClr val="FFFFFF"/>
                      </a:solidFill>
                    </a:lnL>
                    <a:lnR w="76200" cap="flat" cmpd="sng" algn="ctr">
                      <a:solidFill>
                        <a:srgbClr val="FFFFFF"/>
                      </a:solidFill>
                    </a:lnR>
                    <a:lnT w="76200" cap="flat" cmpd="sng" algn="ctr">
                      <a:solidFill>
                        <a:srgbClr val="FFFFFF"/>
                      </a:solidFill>
                    </a:lnT>
                    <a:lnB w="76200" cap="flat" cmpd="sng" algn="ctr">
                      <a:solidFill>
                        <a:srgbClr val="FFFFFF"/>
                      </a:solidFill>
                    </a:lnB>
                    <a:solidFill>
                      <a:srgbClr val="FFFFFF"/>
                    </a:solidFill>
                  </a:tcPr>
                </a:tc>
              </a:tr>
            </a:tbl>
          </a:graphicData>
        </a:graphic>
      </p:graphicFrame>
      <p:sp>
        <p:nvSpPr>
          <p:cNvPr id="300" name="ExecBox"/>
          <p:cNvSpPr/>
          <p:nvPr/>
        </p:nvSpPr>
        <p:spPr>
          <a:xfrm>
            <a:off x="457200" y="4950000"/>
            <a:ext cx="11277600" cy="1000000"/>
          </a:xfrm>
          <a:prstGeom prst="rect">
            <a:avLst/>
          </a:prstGeom>
          <a:solidFill>
            <a:srgbClr val="E8EEF8"/>
          </a:solidFill>
          <a:ln w="9525">
            <a:solidFill>
              <a:srgbClr val="CED7E6"/>
            </a:solidFill>
          </a:ln>
        </p:spPr>
        <p:txBody>
          <a:bodyPr wrap="square" anchor="ctr" lIns="120000" tIns="120000" rIns="120000" bIns="120000">
            <a:noAutofit/>
          </a:bodyPr>
          <a:lstStyle/>
          <a:p>
            <a:pPr>
              <a:lnSpc>
                <a:spcPct val="108000"/>
              </a:lnSpc>
              <a:spcAft>
                <a:spcPts val="300"/>
              </a:spcAft>
              <a:buNone/>
            </a:pPr>
            <a:r>
              <a:rPr lang="en-US" sz="850" b="1" i="0" dirty="0">
                <a:solidFill>
                  <a:srgbClr val="0047FF"/>
                </a:solidFill>
                <a:latin typeface="Arial"/>
                <a:ea typeface="Arial"/>
                <a:cs typeface="Arial"/>
              </a:rPr>
              <a:t>PROPOSED ENGINEERING LINES FOR THE EXECUTIVE SUMMARY</a:t>
            </a:r>
          </a:p>
          <a:p>
            <a:pPr>
              <a:lnSpc>
                <a:spcPct val="108000"/>
              </a:lnSpc>
              <a:spcAft>
                <a:spcPts val="300"/>
              </a:spcAft>
              <a:buNone/>
            </a:pPr>
            <a:r>
              <a:rPr lang="en-US" sz="900" b="1" i="0" dirty="0">
                <a:solidFill>
                  <a:srgbClr val="070154"/>
                </a:solidFill>
                <a:latin typeface="Arial"/>
                <a:ea typeface="Arial"/>
                <a:cs typeface="Arial"/>
              </a:rPr>
              <a:t>What we saw:  </a:t>
            </a:r>
            <a:r>
              <a:rPr lang="en-US" sz="900" b="0" i="0" dirty="0">
                <a:solidFill>
                  <a:srgbClr val="50658E"/>
                </a:solidFill>
                <a:latin typeface="Arial"/>
                <a:ea typeface="Arial"/>
                <a:cs typeface="Arial"/>
              </a:rPr>
              <a:t>Unplanned, untracked  ·  Same failure, twice  ·  Tested ≠ shipped  ·  AI locked to few  ·  Dates before design  ·  QA built, not staffed  ·  No delivery numbers</a:t>
            </a:r>
          </a:p>
          <a:p>
            <a:pPr>
              <a:lnSpc>
                <a:spcPct val="108000"/>
              </a:lnSpc>
              <a:buNone/>
            </a:pPr>
            <a:r>
              <a:rPr lang="en-US" sz="900" b="1" i="0" dirty="0">
                <a:solidFill>
                  <a:srgbClr val="070154"/>
                </a:solidFill>
                <a:latin typeface="Arial"/>
                <a:ea typeface="Arial"/>
                <a:cs typeface="Arial"/>
              </a:rPr>
              <a:t>What we do:  </a:t>
            </a:r>
            <a:r>
              <a:rPr lang="en-US" sz="900" b="0" i="0" dirty="0">
                <a:solidFill>
                  <a:srgbClr val="50658E"/>
                </a:solidFill>
                <a:latin typeface="Arial"/>
                <a:ea typeface="Arial"/>
                <a:cs typeface="Arial"/>
              </a:rPr>
              <a:t>Stabilize Core SDLC  ·  Agile with Claude Code  ·  Robust QA  ·  Measure what matters, with decisions at week 2 and a scorecard review at week 6.</a:t>
            </a:r>
          </a:p>
        </p:txBody>
      </p:sp>
    </p:spTree>
    <p:extLst>
      <p:ext uri="{BB962C8B-B14F-4D97-AF65-F5344CB8AC3E}">
        <p14:creationId xmlns:p14="http://schemas.microsoft.com/office/powerpoint/2010/main" val="288705116"/>
      </p:ext>
    </p:extLst>
  </p:cSld>
  <p:clrMapOvr>
    <a:masterClrMapping/>
  </p:clrMapOvr>
</p:sld>
</file>

<file path=ppt/theme/theme1.xml><?xml version="1.0" encoding="utf-8"?>
<a:theme xmlns:a="http://schemas.openxmlformats.org/drawingml/2006/main" name="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st Monroe 0312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st Monroe 0312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BC2ACE5-8349-EF47-8E8E-174ED5E317E4}">
  <we:reference id="f5f369e5-aa35-49d7-ad7b-638152ddb008" version="1.0.0.1" store="EXCatalog" storeType="EXCatalog"/>
  <we:alternateReferences>
    <we:reference id="WA200010001" version="1.0.0.1" store="en-US" storeType="OMEX"/>
  </we:alternateReferences>
  <we:properties>
    <we:property name="claude.fileId" value="&quot;9d5bc0e7-3b58-4e81-a8f2-31889ff109d6&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458DE4D-B3AC-1849-AC64-0361A53AA644}">
  <we:reference id="cba9fc06-6fc9-492e-9525-923870a3b909" version="2.0.0.1" store="EXCatalog" storeType="EXCatalog"/>
  <we:alternateReferences>
    <we:reference id="WA200010215" version="2.0.0.1" store="en-US" storeType="OMEX"/>
  </we:alternateReferences>
  <we:properties>
    <we:property name="bps.codex_control.document_id" value="&quot;eb326f6e-ab14-4a4f-aca9-d033965c903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5196BC1DEAA74F93B5E75F3E956930" ma:contentTypeVersion="3" ma:contentTypeDescription="Create a new document." ma:contentTypeScope="" ma:versionID="81d036a4641e06d67146fe7561e5d4da">
  <xsd:schema xmlns:xsd="http://www.w3.org/2001/XMLSchema" xmlns:xs="http://www.w3.org/2001/XMLSchema" xmlns:p="http://schemas.microsoft.com/office/2006/metadata/properties" xmlns:ns2="d7985c0d-71e6-40a8-abea-6c86883caec8" targetNamespace="http://schemas.microsoft.com/office/2006/metadata/properties" ma:root="true" ma:fieldsID="c9eb127e60c2b1c8815b650985713df8" ns2:_="">
    <xsd:import namespace="d7985c0d-71e6-40a8-abea-6c86883caec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985c0d-71e6-40a8-abea-6c86883cae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CCCD56-7E1C-42EA-B658-570BB4D7E673}">
  <ds:schemaRefs>
    <ds:schemaRef ds:uri="d7985c0d-71e6-40a8-abea-6c86883cae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2D4518-A974-4D2E-A08B-96298718DA74}">
  <ds:schemaRefs>
    <ds:schemaRef ds:uri="http://schemas.microsoft.com/sharepoint/v3/contenttype/forms"/>
  </ds:schemaRefs>
</ds:datastoreItem>
</file>

<file path=customXml/itemProps3.xml><?xml version="1.0" encoding="utf-8"?>
<ds:datastoreItem xmlns:ds="http://schemas.openxmlformats.org/officeDocument/2006/customXml" ds:itemID="{56542559-E8E2-437C-8F6B-AB7D4E6AB3A9}">
  <ds:schemaRefs>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schemas.microsoft.com/office/infopath/2007/PartnerControls"/>
    <ds:schemaRef ds:uri="http://www.w3.org/XML/1998/namespace"/>
    <ds:schemaRef ds:uri="http://purl.org/dc/elements/1.1/"/>
    <ds:schemaRef ds:uri="d7985c0d-71e6-40a8-abea-6c86883caec8"/>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12358</Words>
  <Application>Microsoft Macintosh PowerPoint</Application>
  <PresentationFormat>Widescreen</PresentationFormat>
  <Paragraphs>1589</Paragraphs>
  <Slides>57</Slides>
  <Notes>57</Notes>
  <HiddenSlides>15</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57</vt:i4>
      </vt:variant>
    </vt:vector>
  </HeadingPairs>
  <TitlesOfParts>
    <vt:vector size="59" baseType="lpstr">
      <vt:lpstr>Arial</vt:lpstr>
      <vt:lpstr>West Monroe 032625</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Gerardo Arroyo</cp:lastModifiedBy>
  <cp:revision>1</cp:revision>
  <dcterms:created xsi:type="dcterms:W3CDTF">2026-09-21T20:55:50Z</dcterms:created>
  <dcterms:modified xsi:type="dcterms:W3CDTF">2026-10-02T17:27:53Z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0x010100CA5196BC1DEAA74F93B5E75F3E956930</vt:lpwstr>
  </property>
</Properties>
</file>