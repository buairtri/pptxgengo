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charts/chart1.xml" ContentType="application/vnd.openxmlformats-officedocument.drawingml.chart+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c76487-fcfd-df03-3e40-73d45f1c63a9}">
          <p14:sldIdLst>
            <p14:sldId id="256"/>
            <p14:sldId id="257"/>
            <p14:sldId id="258"/>
            <p14:sldId id="259"/>
          </p14:sldIdLst>
        </p14:section>
        <p14:section name="Executive Summary" id="{7b2a8418-34bb-5690-82b9-d4042a55f76f}">
          <p14:sldIdLst>
            <p14:sldId id="260"/>
            <p14:sldId id="261"/>
            <p14:sldId id="262"/>
            <p14:sldId id="263"/>
          </p14:sldIdLst>
        </p14:section>
        <p14:section name="Deliverables" id="{5fb12b1f-cfc0-7043-5c06-820768ffe5d2}">
          <p14:sldIdLst>
            <p14:sldId id="264"/>
          </p14:sldIdLst>
        </p14:section>
        <p14:section name="Practices map" id="{af9ccf8a-db5b-f233-5fb6-2e014c330e63}">
          <p14:sldIdLst>
            <p14:sldId id="265"/>
            <p14:sldId id="266"/>
            <p14:sldId id="267"/>
          </p14:sldIdLst>
        </p14:section>
        <p14:section name="Activation summary" id="{326c3ab2-55d2-f211-b381-e45ec3273cbd}">
          <p14:sldIdLst>
            <p14:sldId id="268"/>
            <p14:sldId id="269"/>
            <p14:sldId id="270"/>
            <p14:sldId id="271"/>
          </p14:sldIdLst>
        </p14:section>
        <p14:section name="Activation roadmap" id="{25dccb76-65a6-ffc5-6f93-9a20fe79a0ad}">
          <p14:sldIdLst>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Lst>
        </p14:section>
        <p14:section name="Graveyard" id="{5d2925f2-9a9a-f1fe-a2a6-9225de8f71fc}">
          <p14:sldIdLst>
            <p14:sldId id="297"/>
            <p14:sldId id="298"/>
            <p14:sldId id="299"/>
            <p14:sldId id="300"/>
            <p14:sldId id="301"/>
            <p14:sldId id="302"/>
            <p14:sldId id="303"/>
            <p14:sldId id="304"/>
            <p14:sldId id="305"/>
            <p14:sldId id="306"/>
            <p14:sldId id="307"/>
            <p14:sldId id="308"/>
            <p14:sldId id="309"/>
            <p14:sldId id="310"/>
            <p14:sldId id="311"/>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
          <c:y val="0.056140350877192984"/>
          <c:w val="0.8279569892473119"/>
          <c:h val="0.8807017543859649"/>
        </c:manualLayout>
      </c:layout>
      <c:barChart>
        <c:barDir val="col"/>
        <c:grouping val="stacked"/>
        <c:varyColors val="0"/>
        <c:ser>
          <c:idx val="0"/>
          <c:order val="0"/>
          <c:tx>
            <c:strRef>
              <c:f>Sheet1!$B$1</c:f>
              <c:strCache>
                <c:ptCount val="1"/>
                <c:pt idx="0">
                  <c:v>Standard release</c:v>
                </c:pt>
              </c:strCache>
            </c:strRef>
          </c:tx>
          <c:spPr>
            <a:solidFill>
              <a:srgbClr val="070154"/>
            </a:solidFill>
            <a:ln w="12700" cap="flat">
              <a:solidFill>
                <a:srgbClr val="070154"/>
              </a:solidFill>
              <a:prstDash val="solid"/>
              <a:round/>
            </a:ln>
            <a:effectLst/>
          </c:spPr>
          <c:invertIfNegative val="0"/>
          <c:dLbls>
            <c:numFmt formatCode="#,##0;-#,##0;" sourceLinked="0"/>
            <c:txPr>
              <a:bodyPr/>
              <a:lstStyle/>
              <a:p>
                <a:pPr>
                  <a:defRPr b="1" i="0" strike="noStrike" sz="900" u="none">
                    <a:solidFill>
                      <a:srgbClr val="070154"/>
                    </a:solidFill>
                    <a:latin typeface="IBM Plex Mono SemiBold"/>
                  </a:defRPr>
                </a:pPr>
              </a:p>
            </c:txPr>
            <c:dLblPos val="ctr"/>
            <c:showLegendKey val="0"/>
            <c:showVal val="1"/>
            <c:showCatName val="0"/>
            <c:showSerName val="0"/>
            <c:showPercent val="0"/>
            <c:showBubbleSize val="0"/>
            <c:showLeaderLines val="0"/>
          </c:dLbls>
          <c:cat>
            <c:multiLvlStrRef>
              <c:f>Sheet1!$A$2:$A$4</c:f>
              <c:multiLvlStrCache>
                <c:ptCount val="3"/>
                <c:lvl>
                  <c:pt idx="0">
                    <c:v>2024</c:v>
                  </c:pt>
                  <c:pt idx="1">
                    <c:v>2025</c:v>
                  </c:pt>
                  <c:pt idx="2">
                    <c:v>2026 (to Sep 1)</c:v>
                  </c:pt>
                </c:lvl>
              </c:multiLvlStrCache>
            </c:multiLvlStrRef>
          </c:cat>
          <c:val>
            <c:numRef>
              <c:f>Sheet1!$B$2:$B$4</c:f>
              <c:numCache>
                <c:formatCode>General</c:formatCode>
                <c:ptCount val="3"/>
                <c:pt idx="0">
                  <c:v>17</c:v>
                </c:pt>
                <c:pt idx="1">
                  <c:v>23</c:v>
                </c:pt>
                <c:pt idx="2">
                  <c:v>15</c:v>
                </c:pt>
              </c:numCache>
            </c:numRef>
          </c:val>
        </c:ser>
        <c:ser>
          <c:idx val="1"/>
          <c:order val="1"/>
          <c:tx>
            <c:strRef>
              <c:f>Sheet1!$C$1</c:f>
              <c:strCache>
                <c:ptCount val="1"/>
                <c:pt idx="0">
                  <c:v>Patch</c:v>
                </c:pt>
              </c:strCache>
            </c:strRef>
          </c:tx>
          <c:spPr>
            <a:solidFill>
              <a:srgbClr val="F900D3"/>
            </a:solidFill>
            <a:ln w="12700" cap="flat">
              <a:solidFill>
                <a:srgbClr val="070154"/>
              </a:solidFill>
              <a:prstDash val="solid"/>
              <a:round/>
            </a:ln>
            <a:effectLst/>
          </c:spPr>
          <c:invertIfNegative val="0"/>
          <c:dLbls>
            <c:numFmt formatCode="#,##0;-#,##0;" sourceLinked="0"/>
            <c:txPr>
              <a:bodyPr/>
              <a:lstStyle/>
              <a:p>
                <a:pPr>
                  <a:defRPr b="1" i="0" strike="noStrike" sz="900" u="none">
                    <a:solidFill>
                      <a:srgbClr val="070154"/>
                    </a:solidFill>
                    <a:latin typeface="IBM Plex Mono SemiBold"/>
                  </a:defRPr>
                </a:pPr>
              </a:p>
            </c:txPr>
            <c:dLblPos val="ctr"/>
            <c:showLegendKey val="0"/>
            <c:showVal val="1"/>
            <c:showCatName val="0"/>
            <c:showSerName val="0"/>
            <c:showPercent val="0"/>
            <c:showBubbleSize val="0"/>
            <c:showLeaderLines val="0"/>
          </c:dLbls>
          <c:cat>
            <c:multiLvlStrRef>
              <c:f>Sheet1!$A$2:$A$4</c:f>
              <c:multiLvlStrCache>
                <c:ptCount val="3"/>
                <c:lvl>
                  <c:pt idx="0">
                    <c:v>2024</c:v>
                  </c:pt>
                  <c:pt idx="1">
                    <c:v>2025</c:v>
                  </c:pt>
                  <c:pt idx="2">
                    <c:v>2026 (to Sep 1)</c:v>
                  </c:pt>
                </c:lvl>
              </c:multiLvlStrCache>
            </c:multiLvlStrRef>
          </c:cat>
          <c:val>
            <c:numRef>
              <c:f>Sheet1!$C$2:$C$4</c:f>
              <c:numCache>
                <c:formatCode>General</c:formatCode>
                <c:ptCount val="3"/>
                <c:pt idx="0">
                  <c:v>0</c:v>
                </c:pt>
                <c:pt idx="1">
                  <c:v>0</c:v>
                </c:pt>
                <c:pt idx="2">
                  <c:v>11</c:v>
                </c:pt>
              </c:numCache>
            </c:numRef>
          </c:val>
        </c:ser>
        <c:ser>
          <c:idx val="2"/>
          <c:order val="2"/>
          <c:tx>
            <c:strRef>
              <c:f>Sheet1!$D$1</c:f>
              <c:strCache>
                <c:ptCount val="1"/>
                <c:pt idx="0">
                  <c:v>Off-version release</c:v>
                </c:pt>
              </c:strCache>
            </c:strRef>
          </c:tx>
          <c:spPr>
            <a:solidFill>
              <a:srgbClr val="00E8FA"/>
            </a:solidFill>
            <a:ln w="12700" cap="flat">
              <a:solidFill>
                <a:srgbClr val="070154"/>
              </a:solidFill>
              <a:prstDash val="solid"/>
              <a:round/>
            </a:ln>
            <a:effectLst/>
          </c:spPr>
          <c:invertIfNegative val="0"/>
          <c:dLbls>
            <c:numFmt formatCode="#,##0;-#,##0;" sourceLinked="0"/>
            <c:txPr>
              <a:bodyPr/>
              <a:lstStyle/>
              <a:p>
                <a:pPr>
                  <a:defRPr b="1" i="0" strike="noStrike" sz="900" u="none">
                    <a:solidFill>
                      <a:srgbClr val="070154"/>
                    </a:solidFill>
                    <a:latin typeface="IBM Plex Mono SemiBold"/>
                  </a:defRPr>
                </a:pPr>
              </a:p>
            </c:txPr>
            <c:dLblPos val="ctr"/>
            <c:showLegendKey val="0"/>
            <c:showVal val="1"/>
            <c:showCatName val="0"/>
            <c:showSerName val="0"/>
            <c:showPercent val="0"/>
            <c:showBubbleSize val="0"/>
            <c:showLeaderLines val="0"/>
          </c:dLbls>
          <c:cat>
            <c:multiLvlStrRef>
              <c:f>Sheet1!$A$2:$A$4</c:f>
              <c:multiLvlStrCache>
                <c:ptCount val="3"/>
                <c:lvl>
                  <c:pt idx="0">
                    <c:v>2024</c:v>
                  </c:pt>
                  <c:pt idx="1">
                    <c:v>2025</c:v>
                  </c:pt>
                  <c:pt idx="2">
                    <c:v>2026 (to Sep 1)</c:v>
                  </c:pt>
                </c:lvl>
              </c:multiLvlStrCache>
            </c:multiLvlStrRef>
          </c:cat>
          <c:val>
            <c:numRef>
              <c:f>Sheet1!$D$2:$D$4</c:f>
              <c:numCache>
                <c:formatCode>General</c:formatCode>
                <c:ptCount val="3"/>
                <c:pt idx="0">
                  <c:v>0</c:v>
                </c:pt>
                <c:pt idx="1">
                  <c:v>0</c:v>
                </c:pt>
                <c:pt idx="2">
                  <c:v>2</c:v>
                </c:pt>
              </c:numCache>
            </c:numRef>
          </c:val>
        </c:ser>
        <c:ser>
          <c:idx val="3"/>
          <c:order val="3"/>
          <c:tx>
            <c:strRef>
              <c:f>Sheet1!$E$1</c:f>
              <c:strCache>
                <c:ptCount val="1"/>
                <c:pt idx="0">
                  <c:v>Rollback</c:v>
                </c:pt>
              </c:strCache>
            </c:strRef>
          </c:tx>
          <c:spPr>
            <a:solidFill>
              <a:srgbClr val="1DD566"/>
            </a:solidFill>
            <a:ln w="12700" cap="flat">
              <a:solidFill>
                <a:srgbClr val="070154"/>
              </a:solidFill>
              <a:prstDash val="solid"/>
              <a:round/>
            </a:ln>
            <a:effectLst/>
          </c:spPr>
          <c:invertIfNegative val="0"/>
          <c:dLbls>
            <c:numFmt formatCode="#,##0;-#,##0;" sourceLinked="0"/>
            <c:txPr>
              <a:bodyPr/>
              <a:lstStyle/>
              <a:p>
                <a:pPr>
                  <a:defRPr b="1" i="0" strike="noStrike" sz="900" u="none">
                    <a:solidFill>
                      <a:srgbClr val="070154"/>
                    </a:solidFill>
                    <a:latin typeface="IBM Plex Mono SemiBold"/>
                  </a:defRPr>
                </a:pPr>
              </a:p>
            </c:txPr>
            <c:dLblPos val="ctr"/>
            <c:showLegendKey val="0"/>
            <c:showVal val="1"/>
            <c:showCatName val="0"/>
            <c:showSerName val="0"/>
            <c:showPercent val="0"/>
            <c:showBubbleSize val="0"/>
            <c:showLeaderLines val="0"/>
          </c:dLbls>
          <c:cat>
            <c:multiLvlStrRef>
              <c:f>Sheet1!$A$2:$A$4</c:f>
              <c:multiLvlStrCache>
                <c:ptCount val="3"/>
                <c:lvl>
                  <c:pt idx="0">
                    <c:v>2024</c:v>
                  </c:pt>
                  <c:pt idx="1">
                    <c:v>2025</c:v>
                  </c:pt>
                  <c:pt idx="2">
                    <c:v>2026 (to Sep 1)</c:v>
                  </c:pt>
                </c:lvl>
              </c:multiLvlStrCache>
            </c:multiLvlStrRef>
          </c:cat>
          <c:val>
            <c:numRef>
              <c:f>Sheet1!$E$2:$E$4</c:f>
              <c:numCache>
                <c:formatCode>General</c:formatCode>
                <c:ptCount val="3"/>
                <c:pt idx="0">
                  <c:v>0</c:v>
                </c:pt>
                <c:pt idx="1">
                  <c:v>0</c:v>
                </c:pt>
                <c:pt idx="2">
                  <c:v>2</c:v>
                </c:pt>
              </c:numCache>
            </c:numRef>
          </c:val>
        </c:ser>
        <c:dLbls>
          <c:numFmt formatCode="#,##0;-#,##0;" sourceLinked="0"/>
          <c:txPr>
            <a:bodyPr/>
            <a:lstStyle/>
            <a:p>
              <a:pPr>
                <a:defRPr b="1" i="0" strike="noStrike" sz="900" u="none">
                  <a:solidFill>
                    <a:srgbClr val="070154"/>
                  </a:solidFill>
                  <a:latin typeface="IBM Plex Mono SemiBold"/>
                </a:defRPr>
              </a:pPr>
            </a:p>
          </c:txPr>
          <c:dLblPos val="ctr"/>
          <c:showLegendKey val="0"/>
          <c:showVal val="1"/>
          <c:showCatName val="0"/>
          <c:showSerName val="0"/>
          <c:showPercent val="0"/>
          <c:showBubbleSize val="0"/>
          <c:showLeaderLines val="0"/>
        </c:dLbls>
        <c:gapWidth val="56"/>
        <c:overlap val="100"/>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rgbClr val="070154"/>
            </a:solidFill>
            <a:prstDash val="solid"/>
            <a:round/>
          </a:ln>
        </c:spPr>
        <c:txPr>
          <a:bodyPr/>
          <a:lstStyle/>
          <a:p>
            <a:pPr>
              <a:defRPr sz="900" b="0" i="0" u="none" strike="noStrike">
                <a:solidFill>
                  <a:srgbClr val="50658E"/>
                </a:solidFill>
                <a:latin typeface="IBM Plex Mono SemiBold"/>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rgbClr val="50658E"/>
                </a:solidFill>
                <a:latin typeface="IBM Plex Mono SemiBold"/>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
Product and R&amp;D
Operating Model
Validate, improve, and activate
Phase 1 Final Deliverable
October 2026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SOURCE PRESERVATION — original slide 2
01
02
03
Agenda
Executive Summary
Deliverables
Recommended Next Phase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pdlc_stage field and review decision record of each template, and the Commercialization Framework (the Concord). Concord mapping: Identify = Concept &amp; Strategy (G0); Define = Design &amp; Viability (G1 funds the build, G2 commits capacity on the solution design brief and delivery plan); Build = Build (G4 Commercial Readiness sign-off); Release = Beta and, where needed, Pilot; Go-to-Market = Launch (G5); Optimize = post-launch review (G6). G3 certification is conditional and runs in parallel when new payers or partners are involved. Implication: G2 commits capacity on the solution design brief and delivery plan, which is the content of the Technical Implementation Plan. The plan should therefore start before the capacity commitment, at the end of Define, even though the template places it in Build. Practices Map row: Prioritization sits inside the Opportunity Brief review decision, and Optimize corresponds to the Measurement and feedback row. Decision-makers follow the templates; the ownership matrix on the next slide still needs to be aligned for the Feature Brief, Technical Implementation Plan, and Testing plan approvers. AI row: agents documented in the Reconcile AI Agentic Spec-Driven Delivery document (the Release Agent is deferred until Product defines its outputs); none are documented yet for Identify, Define, Go-to-Market, or Optimize. The Technical Implementation Plan's section 6 requires named human review for any AI-assisted work.
Working rules come from the README's evidence and decision rules; the step-by-step usage instructions stay in the README itself.
The Build cell also reflects the QA working session: QA uses Claude to create tests and diagnose failures, with access currently limited to some full-time staff.
SOURCE PRESERVATION — original slide 3
Implementation templates: when and how to use them
Each template opens at a lifecycle stage and closes with a named decision. Testing and release planning start early and run in parallel.
IMPLEMENTATION TEMPLATES
   Review decision      Sequential chain      Runs in parallel
PDLC stage
Identify
Define
Build
Release
Go-to-Market
Optimize
DXC Concord gates
Concept &amp; Strategy · G0
Design &amp; Viability · G1, G2
Build · G4
Beta / Pilot
Launch · G5
Post-launch review · G6
Practices Map
Opportunity + Prioritization
Definition
Build
Release
GTM
Measurement and feedback
01 Opportunity Brief
   Senior leader: worth defining?
02 Product Brief
   Senior leader approves direction
03 Feature Brief
   Product, Engineering, and QA or Design: ready to build
04 Technical Implementation Plan
   Engineering + reviewers: ready to execute
05 Testing, QA, and UAT Plan
Starts in Define  ·     Test evidence supports release readiness; Product accepts UAT
06 Initial Release and GTM Plan
Starts in Define  ·     Go, Revise, Hold, or Stop per phase; expansion is a new decision in Optimize
Where AI can assist today
Human review required. Agents in use in Reconcile AI; Claude in use by QA.
Recon agents draft the spec, stories, and tests. QA uses Claude to create tests and diagnose failures.
Delivery Report Agent traces test  evidence to the spec; Release Agent (paused) drafts release notes.
—
—
—
—
Working rules:  Decision points, not paperwork: every review ends in Approve, Revise, Hold, or Stop   ·   Link to Jira, design, and test systems; don't copy them   ·   Unknowns stay visible, with an owner and a date   ·   Product and Engineering agree before any customer, scope, or date commitment
Sameer to review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SOW Deliverable 3. The roadmap should sequence recommendations by value, urgency, feasibility, and dependency, with proposed owners and initial measures.
SOURCE PRESERVATION — original slide 4
DELIVERABLE 03
Prioritized Operating Model Recommendations and Activation Roadmap
A sequenced path for practices, decision rights, roles, measures, and feedback loops that can support scale.
NOW, NEXT, AND FUTURE ACTIONS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5
Executive Summary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6
Executive summary
DXC is at an inflexion point with plans to become a SaaS business. The ability to make progress on a multifaceted business strategy with coordinated and coupled product and engineering teams is critical in realizing that ambition.
What we saw
What should be done
Decision path is inconsistent
Signals do not move consistently from opportunity brief to PRD, epic, technical design, and implementation plan.
Platform maturity is uneven
Reconcile AI leads on technical design and test automation; Core still relies on manual regression and has had 15 unplanned changes to-date in 2026.
Evidence arrives too late
Delivery is not measured end to end, and release validation plus post-launch learning are not yet a consistent feedback loop.
NOW
4-6 weeks
Define strategy, outcome measures, and six-month roadmaps for all products in a four-week spike. Improve quality, testing, and release readiness in parallel. Introduce lifecycle skills and templates and support usage / adoption.
NEXT
1–3 months
Execute roadmaps and use customer and business evidence to adjust priorities. Improve engineering efficiency and handoffs across the lifecycle. Develop the new business strategy in parallel. Roll updated engineering practices out to core teams.
FUTURE
January
Refresh outcomes and product roadmaps against the new business strategy in January. Execute through the upgraded lifecycle and use outcome measures to guide subsequent decisions.
Use evidence to extend what works
Use early signals to decide what becomes standard practice and what needs further iteration.
What’s needed from leadership
Name owners
One accountable owner for each product and engineering activation.
Approve pilots
Confirm pods for additional activation.
Set guardrails
Agree on the principles and ownership that will guide new delivery practices.
Drive data visibility
Jira, release, test-data, and usage access for core product areas.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7
Discovery Sessions
The West Monroe teams conduct a dozen+ focused sessions across Engineering, Quality/UAT, Release, and Product resources from DXC
Name
Function
Avinash Manjunath
Engineering
Amal Endal
Engineering
Derrick Boyd
Quality
Allys Fritz
UAT
Mehdi Razavi
UAT
Ashok Kalyani
Release
Archana Sabapathy
Product
Troy Andrews
Product
Sapna Sathyanarayana
Product
Paul Smith
Engineering
Navin Narayanan
Product
Bob Franceschini
Engineering
In addition to the focused sessions, WM also conducted a collaborative session with the core project group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8
Implementation roadmap
PDLC stage
Identify
Define
Build
Release
Go-to-Market
Optimize
Outcome-based priorities now, with the new business strategy feeding into the process in January
Bars show PDLC coverage. Rows show the rollout sequence.
FIRST 4 WEEKS
Product strategy spike
All products: strategy, outcome measures, and six-month roadmaps
IN PARALLEL
Quality, test &amp; release
Improve quality, test coverage, staging validation, and release readiness
EARLY
Lifecycle skills pack
Use skills and guided templates across the lifecycle to fill capability gaps while hiring
THEN
Product execution
Run the roadmap, review outcome metrics, and adjust priorities using customer and business evidence
THEN
Engineering efficiency
Reduce delivery friction and improve engineering handoffs across the rest of the lifecycle
IN PARALLEL
Business strategy
Develop the new business strategy
JANUARY
Strategy integration
Refresh outcomes and roadmaps, then execute the new business strategy through the upgraded process
Product
Engineering
Both / other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9
Deliverables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10
Three deliverables, one working structure
Validated Product and R&amp;D Practices Map
A maturity-based view of observed strengths, gaps, and opportunities.
Activation Summary
A record of bounded changes tested in live work, early signals, and the activation playbook.
Prioritized Operating Model Recommendations and Activation Roadmap
Recommended practices, decision rights, roles, measures, feedback loops, owners, and dependencies.
Working inputs already surfaced: internal signals, opportunity briefs, PRDs, feature briefs, epics, implementation plans, agentic delivery patterns, and early interview themes.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11
Practices Map
Current state of practices across the PDLC
DELIVERABLE 01
Practice area
Identify
Define
Build
Release
GTM
Optimize
Customer evidence
Emerging
-
-
-
-
-
Roadmap and prioritization
Developing
-
-
-
-
-
Ownership and decisions
-
Developing
-
-
-
Emerging
Product definition and design
-
Developing
Developing
-
-
Emerging
Product and Engineering delivery
-
-
Variable / pocket
-
-
-
Release validation
-
-
-
Emerging
-
-
Commercialization and enablement
-
-
-
Developing
Developing
Emerging
Measurement and feedback
-
-
-
-
Developing
-
AI-enabled delivery
Emerging
Developing
Leading pocket
Developing
-
-
Ratings are working hypotheses based on limited conversations and observations with DXC team.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12
Engineering practices by platform
Maturity varies widely between core platform and the Reconcile AI project.
DELIVERABLE 01
Sources: engineering and release working sessions, engineering survey (n=44), 2024–2026 release calendar. Working hypotheses to validate with Engineering.
Engineering practice
Core platform (Java)
New platform: Reconcile AI
New platform: other pods
Evidence so far
Technical design and architecture
Emerging
Leading pocket
To validate
No owned design step before build (readout finding 04); Core design knowledge sits with a small group. Recon: Architectural Specification template, Team Lead signs.
AI-assisted build
Developing
Leading pocket
Variable
Core: Copilot in IntelliJ since January 2026, all gates human. Recon: epic-level agent pipeline. Other pods: developer-led, mostly unit tests.
Test automation
Emerging
Leading pocket
Variable
Core regression is manual with one QA. Recon agents write Jest, Playwright, and Postman tests per story. XConnect ~100%; other pods partially automated.
Release engineering and promotion
Developing
Developing
To validate
Builds are tracked by ID, but release-night branch merges suggest production may be rebuilt rather than promoted: to confirm. Some new products not yet in CAB.
Environments, access, and test data
Emerging
Emerging
Emerging
Survey: access delays, late test data, no read-only database access for troubleshooting. Recon waited months for production-like data.
Operability and run lane
Developing
To validate
To validate
DevOps, SRE, and incident roles are in place, but half of 2026 Core changes fell outside cadence; at least 5 of 11 patches were expired credentials or certificates.
Delivery measurement
Emerging
Emerging
Emerging
Core plans in story points (~65 per sprint). Recon has proposed cycle time by stage, CFD, and control charts, not yet running. No DORA-style measures.
Continuity and knowledge sharing
Emerging
Emerging
Emerging
On both platforms, review, technical direction, and approvals rely on a few senior people; onboarding paths are thin. New onshore leads are being added.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13
Three deliverables, one working structure
Validated Product and R&amp;D Practices Map
A maturity-based view of observed strengths, gaps, and opportunities.
Activation Summary
A record of bounded changes tested in live work, early signals, and the activation playbook.
Prioritized Operating Model Recommendations and Activation Roadmap
Recommended practices, decision rights, roles, measures, feedback loops, owners, and dependencies.
Working inputs already surfaced: internal signals, opportunity briefs, PRDs, feature briefs, epics, implementation plans, agentic delivery patterns, and early interview themes.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14
Activation Summary: from signal to implementation plan
A working definition path to test in one selected live initiative, now with an Engineering-owned design step before the plan.
DELIVERABLE 02
Internal signal
Customer, support, operations, research, or engineering evidence.
Opportunity brief
Problem, evidence, outcome, decision, and why now.
Product brief / PRD
User need, success measure, scope, and design context.
Feature brief / epic
Decomposition, acceptance, ownership, and dependencies.
Technical design
Architecture, data flow, PHI, security, effort, and risk. Engineering signs.
Implementation plan
Sequence, validation, release evidence, and feedback.
Test intent: make decision logic, feasibility, design context, and evidence visible before the team commits to delivery scope.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15
Activation Summary: bounded tests
Three practical tests that create evidence for the operating model recommendations.
DELIVERABLE 02
Bounded test
What changes
Evidence to capture
Activation playbook
Opportunity signal funnel
Run one internal signal through an opportunity brief with an outcome and decision criterion.
Signal quality, decision speed, and next-step clarity.
Weekly review with Product, Engineering, and the initiative owner.
Product definition path
Carry one opportunity brief through product brief / PRD, feature brief, epic, technical design and implementation plan.
Handoff quality, rework, design context, and decision clarity.
Joint Product and Engineering review before commitment.
Ship with proof
Define the smallest release evidence path before the next release or client-facing test.
Validation coverage, issues found earlier, and owner clarity.
Evidence review before release, followed by post-launch learning.
Complete the activation record after each test: change made, result or early signal, open question, and recommendation for continued use.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16
Selected initiatives: engineering baseline
The two SOW initiatives sit at opposite ends of the lifecycle, so the bounded tests cover both.
DELIVERABLE 02
Recon AI tests release evidence and agentic scale; the Rules Engine tests an Engineering-informed commitment before a date is set.
Baseline
Reconcile AI: ERA / EFT enrollment and KYC
Custom Claim Submission Rules Engine
Stage today
In build. MVP release targeted for November 2026.
Discovery done; ready for a formal commercialization kickoff. Rough estimate for an MVP toward year-end.
Artifacts in place
PRD, Figma designs, Architectural Specification, Technical User Stories, UAT design, and an active Jira project.
PRD and a Portfolio Governance Board deck. No Jira epic yet.
Platform and team
New platform (Node.js, Angular, NX monorepo) on AWS. Team lead, about four developers, and one DevSecOps/QA person.
Undecided: its own Jira project and team, or inside the Core team's work. Sits in the partner and client-driven lane (Aspen / TeamTAG).
Delivery model
Agentic spec-driven pipeline at the epic level; Kanban and flow metrics proposed; promotion still on the two-week cycle.
Not set. Depends on the platform decision: Core runs Scrum with story points; the new platform is moving to epic-level Kanban.
Engineering question to resolve
How release evidence and review scale when epic PRs reach 100–145 files and DevSecOps runs at a WIP limit of 2.
Which platform it lands on, what Core capacity it displaces, and whether the year-end date carries Engineering-informed effort and risk.
Activation tests it can carry
Ship with proof  ·  Governed agentic delivery
Opportunity signal funnel  ·  Product definition path  ·  Outcome-led prioritization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17
Three deliverables, one working structure
Validated Product and R&amp;D Practices Map
A maturity-based view of observed strengths, gaps, and opportunities.
Activation Summary
A record of bounded changes tested in live work, early signals, and the activation playbook.
Prioritized Operating Model Recommendations and Activation Roadmap
Recommended practices, decision rights, roles, measures, feedback loops, owners, and dependencies.
Working inputs already surfaced: internal signals, opportunity briefs, PRDs, feature briefs, epics, implementation plans, agentic delivery patterns, and early interview themes.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18
Activation Roadmap: product track
Each product recommendation starts in one pilot initiative, then extends on the same Now, Next, and Future horizons.
DELIVERABLE 03
Pilot first, measure, then extend: a recommendation moves to the next initiative once its measure shows it works.
Recommendation
Pilot initiative
Now
Next
Future
Owner
01 Outcome-led prioritization
Rules Engine
Apply the decision criteria and Engineering-informed effort and risk to the Rules Engine's year-end commitment.
Protect capacity for support, patches, and escalations; show a credible 3-4 sprint view.
Portfolio decisions use outcome, capacity, and predictability evidence on every pod.
Product leadership, Engineering leadership
02 Product management as business ownership
Reconcile AI
Map decision rights and name one PM owner for the outcome and learning loop.
Review adoption, customer evidence, and business results alongside delivery after the November MVP.
PM accountability for outcomes and learning, separate from backlog work, on every pod.
Product leadership
03 Opportunity brief to implementation path
Rules Engine
Take the Rules Engine through the Opportunity, Product, and Feature Briefs and the Technical Plan.
Use the templates and their review decisions for the next new initiatives.
One definition path across pods, aligned with the Concord gates.
Product, Engineering
04 Earlier cross-functional collaboration
Rules Engine
Set the date and minimum team for a pre-commitment session on the Rules Engine.
Run the session with Product, UX, Engineering, QA, Release, and Operations; keep one shared record of open questions.
A pre-commitment review on every pod, tracking wait time and rework.
Product, Engineering
05 Ship with proof feedback loop
Reconcile AI
Name Reconcile AI's highest-risk client workflow ahead of the November MVP.
Define the smallest release evidence path; review evidence before release; compare issues before and after.
Post-launch results and adoption feed the next roadmap decision on every pod.
Product, Release, Operations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19
First experiment: PRD to tech spec to release
One bounded chain that tests the technical design step, agent reuse beyond Reconcile AI, and release evidence.
ENGINEERING · FIRST EXPERIMENT
RULES ENGINE
PRD
The existing PRD, with no epic yet. Product confirms scope and the success measure.
QUALITY BUCKET
Tech spec
The Architecture Design Agent drafts the spec and technical stories; the Team Lead reviews and signs.
RELEASE BUCKET
Release evidence
Product defines what the Release Agent produces: release notes, PRD reconciliation, and destinations.
WHAT WE LEARN
Whether the agent's template works outside Reconcile AI.
How long PRD to signed spec takes with a human gate.
What Product needs from release evidence to unblock the Release Agent.
WATCH-OUTS
The Rules Engine platform is undecided; if it lands on Core, the template may need adjusting.
The sanctioned AI tools and PHI rule must be in place first.
Ways of working only: no production-system change.
Owner: Product + Engineering Team Lead  |  Buckets: Quality (tech spec) and Release (Release Agent)  |  Measure: time from PRD to signed spec, rework after review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20
Activation Roadmap: engineering track
Each engineering recommendation starts in one pilot pod, then extends on the same Now, Next, and Future horizons.
DELIVERABLE 03
Pilot first, measure, then extend: a recommendation moves to the next pod once its measure shows it works.
Recommendation
Pilot pod
Now
Next
Future
Owner
E1 Release stability and production quality
Core
Root-cause review of the 15 unplanned 2026 changes; credential and certificate inventory with owners.
Review after every patch or rollback; expiry alerts; same-artifact promotion; new products into CAB.
Change failure rate, restore time, and repeat causes tracked on every pod.
Engineering leadership, Release/DevOps, Quality
E2 Quality and test automation
Core
Map the highest-risk regression workflows and the manual effort per release.
Automate those workflows; extend Recon's test patterns to Eligibility AI and Pay Connect.
Automated regression as a release entry criterion on every pod.
Quality leadership, Engineering leads
E3 Environments, access, and test data
Reconcile AI, Rules Engine
Log who waits for access and test data, for what, and for how long.
Masked, production-like data for Recon; read-only diagnostic access, including offshore.
Self-service environments and access on every pod.
DevOps/Infrastructure, Security
E4 Delivery measurement
Core, Reconcile AI
Baseline release frequency, lead time, change failure rate, and time to restore.
Recon flow metrics live; one monthly delivery view, vendor team included.
Measures inform prioritization and portfolio decisions.
Engineering leadership
E5 Governed agentic delivery
Reconcile AI
Classify pipeline steps (automate, assist, human review); name sanctioned tools for PHI work.
Extend to Eligibility AI with an agent registry; light pilot on Core; December rollout.
Scale what improves speed and quality together.
Engineering, Product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21
Engineering Priority: Quality
Build quality in from the spec, and prove the change with measures leadership can see.
ENGINEERING · QUALITY
STATUS TODAY
Defects reach production: at least 3 in 2026, plus 2 rollbacks, in the Core calendar.
Only Reconcile AI has an owned technical design step before build.
Delivery is not measured end to end, and the vendor team is not measured on delivery.
NOW   Pilot: Rules Engine, Core, Reconcile AI
First experiment: take the Rules Engine PRD to a tech spec with the Architecture Design Agent, reviewed and signed by the Team Lead.
Baseline release frequency, lead time, change failure rate, and time to restore from the calendar and Jira.
NEXT
A lightweight tech spec template for Core.
Recon's flow metrics live, and one monthly quality view with the vendor team included.
FUTURE
Quality measures inform prioritization and portfolio decisions.
Agentic lens:  the Architecture Design Agent drafts the spec from the PRD; people review and sign before any build starts.
Owner: Engineering leadership + Product  |  Measure: change failure rate, escaped defects, and lead time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22
Engineering Priority: Test
Move quality checks earlier and remove the waits that slow validation.
ENGINEERING · TEST
STATUS TODAY
Core regression is manual, with limited QA capacity.
Reconcile AI's verification agents write Jest, Playwright, and Postman tests per story.
XConnect is ~100% automated; other pods are partially automated.
Teams wait for access, test data, and read-only diagnostics; Recon waited months for production-like data.
QA uses Claude to create tests and diagnose failures; access is limited to some full-time staff.
NOW   Pilot: Core, Reconcile AI, Rules Engine
Map Core's highest-risk regression workflows, using the Release root-cause categories.
Log who waits for access and test data, for what, and for how long.
NEXT   Automated quality
Automate Core's highest-risk workflows first.
Extend Recon's test agents to Eligibility AI and Pay Connect.
Masked, production-like test data and a read-only diagnostic access path.
FUTURE
Automated regression as a release entry criterion on every pod.
Self-service environments and access.
Agentic lens:  Recon agents write and trace tests; QA uses Claude to draft tests and diagnose failures, time-boxed and reviewed before every PR.
Owner: Quality leadership + DevOps/Infrastructure + Security  |  Measure: automated coverage of high-risk workflows, escaped defects, wait time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23
Engineering Priority: Release
Stop repeat causes of unplanned changes and make every release repeatable.
ENGINEERING · RELEASE
STATUS TODAY
Core engineering reports 62 releases through September 1, 15 of them patches; in the calendar, half of 2026 release events were unplanned.
Release-night branch merges suggest production may be rebuilt rather than promoted.
Some new products are not yet in the CAB process.
Credential and certificate changes ship as patches.
NOW   Pilot: Core, Reconcile AI
Root-cause review of the 15 unplanned 2026 changes, classified by cause.
Inventory of credentials and certificates with expiry dates and owners.
Product defines what the Release Agent should produce: release notes, PRD reconciliation, destinations.
NEXT
Promote the same validated artifact across environments.
Expiry alerts and a standard review after every patch or rollback.
Onboard new products to CAB; clarify how the release rule applies to code behind a switch.
Release Agent running in Reconcile AI's staging validation.
FUTURE
On-demand releases for low-risk changes, gated by automated evidence.
Release Agent pattern on every pod.
Agentic lens:  the Release Agent reconciles delivered work against the PRD and drafts release notes, so release evidence is produced, not assembled.
Owner: Engineering leadership + Release/DevOps  |  Measure: share of unplanned changes, rollbacks, and repeat causes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24
Evidence behind the map
Select observations from this phase suggest some foundations to build on within engineering with significant gaps in product
OBSERVED STRENGTHS
Pockets worth scaling
Portfolio governance and commercialization gates are emerging.
Reconcile AI shows a leading agentic delivery pocket.
Engineering skills, MSPs, and a Git-based source of truth are documented.
OBSERVED GAPS
Constraints to resolve
Customer commitments and late scope changes reduce predictability.
Product ownership often centers on intake, backlog, and sprint scope.
Engineering, UX, QA, Release, and Operations often join after key commitments.
MAPPED OPPORTUNITIES
Future-state themes
Outcome-led prioritization and protected capacity.
Product management as business ownership.
Earlier cross-functional collaboration.
Governed, reusable agentic delivery across the lifecycle.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25
Recommendations summary: what should be done
DELIVERABLE 03
Recommendation
What should be done
Activation horizon
Outcome-led prioritization
Set decision criteria, protect capacity, and make 3-4 sprint visibility credible before commitments are made.
Immediate
Product management as business ownership
Clarify PM accountability for evidence, outcomes, roadmap, adoption, and learning beyond backlog administration.
Immediate
Opportunity brief to implementation path
Standardize the artifact and decision path from internal signal through PRD, feature brief, epic, technical design, and implementation plan.
Immediate
Earlier cross-functional collaboration
Bring UX, Engineering, QA, Release, and Operations into feasibility, evidence, and living documentation earlier.
Near-term
Governed agentic delivery
Define reusable, human-supervised AI practices and measures from discovery through post-launch learning.
Future
The detailed pages below define the action, owner, decision rights, dependencies, measures, and first activation step for each theme.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26
Outcome-led prioritization
Make priority and commitment decisions from evidence about outcomes, feasibility, and capacity.
RECOMMENDATION 01
WHAT SHOULD BE DONE
Set explicit decision criteria for value, urgency, feasibility, and dependency before commitments are made.
Protect capacity for high-value work, with an explicit allocation for support, patches, and escalations and show a credible 3-4 sprint view.
Require Engineering-informed effort and risk input before customer dates become commitments.
HOW TO ACTIVATE IT
Select one live initiative and apply the criteria to the next prioritization decision.
Compare the committed scope with evidence and capacity, then record the trade-off.
Review predictability, scope changes, and rework in the activation cadence, using flow data where teams have moved off story points.
Owner: Product leadership + Engineering leadership | Dependency: roadmap, customer commitments, capacity data | Measure: commitment predictability, late scope change rate, and share of capacity spent on unplanned work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27
Product management as business ownership
Shift Product accountability toward customer evidence, outcomes, roadmap, adoption, and learning.
RECOMMENDATION 02
WHAT SHOULD BE DONE
Define what Product owns from opportunity through post-launch learning, separate from backlog administration.
Clarify decision rights across Product Manager, Product Owner, Engineering Lead, Sales, and Operations.
Use the opportunity brief and PRD to carry business context and decision logic into delivery.
HOW TO ACTIVATE IT
Map current decision rights and identify one gap that slows the live initiative.
Assign a PM owner for the initiative's outcome and learning loop.
Review adoption, customer evidence, and business results in the same cadence as delivery progress.
Owner: Product leadership | Dependency: role clarity, customer and usage data, outcome measures | Measure: decisions supported by evidence and post-launch learning captured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28
Opportunity brief to implementation path
Make the decision path from an internal signal to an implementation plan visible and repeatable.
RECOMMENDATION 03
WHAT SHOULD BE DONE
Standardize the minimum content for an opportunity brief: problem, evidence, outcome, decision, and why now.
Carry the decision logic through product brief or PRD, feature brief, epic, technical design and implementation plan.
Make ownership, acceptance, design context, dependencies, and release evidence explicit before delivery scope is committed.
HOW TO ACTIVATE IT
Select one internal signal from a live initiative and complete the opportunity brief.
Review the brief with Product, Engineering, UX, and the initiative sponsor before creating the PRD.
Trace the same decision through the feature brief, epic, technical design and implementation plan, then record handoff gaps and rework.
Owner: Product + Engineering | Dependency: shared templates, architectural spec template, design context, initiative sponsor | Measure: handoff quality, rework, and decision clarity before commitment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29
Earlier cross-functional collaboration
Bring the right people and evidence into feasibility work before commitments harden.
RECOMMENDATION 04
WHAT SHOULD BE DONE
Define the minimum cross-functional team and artifact set required before a commitment is ready.
Include Product, UX, Engineering, QA, Release, and Operations in early feasibility and evidence work.
Maintain living documentation in a source of truth that supports handoffs and reuse.
HOW TO ACTIVATE IT
Choose one initiative and run a pre-commitment working session.
Capture the open feasibility, design, release, and operational questions in one shared record.
Measure wait time, rework, and late discovery of issues before and after the test.
Owner: Product + Engineering | Dependency: stakeholder access, cadence, Figma and design context | Measure: rework, wait time, and issues found before commitment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30
Ship with proof feedback loop
Move from release coordination to evidence that a product works in a realistic client environment.
RECOMMENDATION 05
WHAT SHOULD BE DONE
Define the smallest release evidence path for each selected initiative, including workflow, data, owner, and decision threshold.
Create realistic partner-system or client-facing validation where current test data and environments are not representative.
Carry post-launch results, issues, and adoption signals back into the next roadmap and prioritization decision.
HOW TO ACTIVATE IT
Use the Reconcile AI release path as the first test and identify the highest-risk client workflow.
Complete an evidence review before release with Product, Engineering, Release, Operations, and the initiative owner.
Compare issues found before versus after release, then update the checklist and roadmap based on what the evidence shows.
Owner: Product + Release + Operations | Dependency: realistic test data, partner environments, enablement | Measure: validation coverage, post-release defects, and time to feedback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31
Extend the Reconcile AI pocket into reusable, human-supervised practices across the PDLC.
ENGINEERING E5
WHAT SHOULD BE DONE
Classify lifecycle tasks that are safe to automate, require assistance, or require mandatory human review, and name the sanctioned tools for PHI-bearing work.
Create reusable skills, prompts, documentation, and versioning that teams can discover and reuse.
Track speed and quality together through cycle time, defects, rework, cost, and review evidence.
HOW TO ACTIVATE IT
Now (Reconcile AI): classify pipeline steps as automate, assist, or human review, and name the sanctioned tools for PHI-bearing work.
Next: extend to Eligibility AI with a shared agent registry, and pilot a light, human-gated pattern on Core, ahead of the December rollout.
Future: scale only the patterns that improve speed and quality together.
Owner: Engineering + Product | Dependency: model access, agent registry, developer hardware, design context, cost, security, governance | Measure: cycle time, defects, rework, cost, and reuse
Governed agentic delivery throughout the lifecycle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32
Activation Roadmap
Sequence the recommendations into immediate, near-term, and future actions with owners and dependencies.
DELIVERABLE 03
Timing
Recommendation
First action
Proposed owner
Dependency
Initial measure
Immediate
Outcome-led prioritization
Apply decision criteria to the next live prioritization decision.
Product + Eng
Decision criteria
Predictability
Immediate
Product management as business ownership
Map decision rights and assign PM outcome ownership for one initiative.
Product
Role clarity
Outcome learning
Immediate
Opportunity brief to implementation path
Run one internal signal through brief, PRD, feature brief, epic, technical design, and plan.
Product + Eng
Shared artifacts
Handoff quality
Near-term
Earlier cross-functional collaboration
Run a pre-commitment working session with the minimum team and evidence set.
Product + Eng
Cadence and access
Rework and wait time
Near-term
Ship-with-proof feedback loop
Define release evidence and post-launch learning for the next test.
Product + Release
Measures
Validation coverage
Future
Governed agentic delivery
Test one reusable, human-supervised AI practice outside the current pocket.
Eng + Product
Guardrails and skills
Cycle time, defects, cost
Use the roadmap after each quick-win test to update timing, owners, dependencies, measures, and the Phase 2 enablement need.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33
DELIVERABLE 02
Implementation Templates
The briefs and plans that are included as part of the R&amp;D Operating Model project, when to use them, and the different ways of contributing.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34
Implementation templates: summary
Six linked working documents that turn the definition path into decisions. Each one ends in Approve, Revise, Hold, or Stop.
IMPLEMENTATION TEMPLATES
Opportunity Brief
IDENTIFY   ·   Path steps 01–02
Frames a request or signal as an evidence-backed problem before any solution is chosen.
Owner: Product manager
Decision: Senior leader: is it worth defining?
Proposed pilot: Rules Engine, rebuilt from its PGB deck.
Product Brief
DEFINE   ·   Path step 03 (PRD)
Turns an approved opportunity into a product direction: outcome, experience, scope, and measures.
Owner: Product manager
Decision: Senior leader approves direction and measures.
Proposed pilot: Rules Engine, checked against its existing PRD.
Feature Brief
DEFINE → BUILD   ·   Path step 04
Defines one buildable, testable capability: stories, business rules, acceptance conditions, and tracking.
Owner: Product manager with Engineering lead
Decision: Product, Engineering, and QA or Design: ready to build.
Proposed pilot: Rules Engine, to define its first epic.
Technical Implementation Plan
BUILD   ·   Path steps 05–06
How Engineering delivers safely: architecture, data, environments, rollback, and human-reviewed AI assistance.
Owner: Engineering lead
Decision: Engineering and required reviewers: ready to execute.
Proposed pilot: Rules Engine tech spec, drafted with the Architecture Design Agent.
Testing, QA, and UAT Plan
DEFINE → RELEASE   ·   Runs alongside the path
Shows what was tested, where, with which data, and what remains uncertain, including user acceptance.
Owner: QA or engineering test lead; Product owns UAT
Decision: Test evidence supports release readiness.
Proposed pilot: Reconcile AI, ahead of its November MVP.
Initial Release and GTM Plan
DEFINE → OPTIMIZE   ·   Runs alongside the path
Defines the smallest valuable first release, its audience, readiness by function, and expansion rules.
Owner: Product manager with functional leads
Decision: Named decision-maker: Go, Revise, Hold, or Stop.
Proposed pilot: Reconcile AI, for its first release.
Linked by readable IDs:  OPPORTUNITY → PRODUCT → FEATURE → ACCEPTANCE → TEST → METRIC   ·   Proposed working templates and pilots, to validate with DXC.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35
Implementation templates: when and how to use them
Each template opens at a lifecycle stage and closes with a named decision. Testing and release planning start early and run in parallel.
IMPLEMENTATION TEMPLATES
   Review decision      Sequential chain      Runs in parallel
PDLC stage
Identify
Define
Build
Release
Go-to-Market
Optimize
DXC Concord gates
Concept &amp; Strategy · G0
Design &amp; Viability · G1, G2
Build · G4
Beta / Pilot
Launch · G5
Post-launch review · G6
Practices Map
Opportunity + Prioritization
Definition
Build
Release
GTM
Measurement and feedback
01 Opportunity Brief
   Senior leader: worth defining?
02 Product Brief
   Senior leader approves direction
03 Feature Brief
   Product, Engineering, and QA or Design: ready to build
04 Technical Implementation Plan
   Engineering + reviewers: ready to execute
05 Testing, QA, and UAT Plan
Starts in Define  ·     Test evidence supports release readiness; Product accepts UAT
06 Initial Release and GTM Plan
Starts in Define  ·     Go, Revise, Hold, or Stop per phase; expansion is a new decision in Optimize
Where AI can assist today
Human review required. Agents in use in Reconcile AI; Claude in use by QA.
Recon agents draft the spec, stories, and tests. QA uses Claude to create tests and diagnose failures.
Delivery Report Agent traces test  evidence to the spec; Release Agent (paused) drafts release notes.
—
—
—
—
Working rules:  Decision points, not paperwork: every review ends in Approve, Revise, Hold, or Stop   ·   Link to Jira, design, and test systems; don't copy them   ·   Unknowns stay visible, with an owner and a date   ·   Product and Engineering agree before any customer, scope, or date commitment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36
Artifact ownership matrix
Use the templates as decision points in the work, not as documents completed after the work is done.
RECOMMENDED ROLE MODEL
Lead coordinates the artifact. Contributors shape it. Inform roles stay aligned. Approvers decide whether it is ready to move forward.
L
C
Contribute
A
Approve
Role / stakeholder
Opportunity Brief
Product Brief
Feature Brief
Technical Implementation Plan
Testing / QA / UAT Plan
Initial Release / GTM Plan
Product Manager / Product Lead
L
L
C
C
C
L
Business / Initiative Sponsor
A
A
C
C
C
A
Product Owner / Delivery Lead
C
C
L
C
C
C
UX / Design
C
C
C
C
C
C
Engineering Lead / Architect
C
C
C
L
C
C
QA / UAT
C
C
C
C
L
C
Release / Operations
C
C
C
C
C
A
Sales / Customer Success
C
C
C
C
C
C
Leadership
C
C
C
C
C
C
Lead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37
Recommended Next Phase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38
Product strategy spike
Product direction, priorities, and a practical path to execution
OUTCOME
Clear product strategy and an executable six-month roadmap
KEY ACTIVITIES
Build the evidence base
Review customer needs, product performance, and business priorities.
Align on product strategy
Prepare and facilitate a focused strategy workshop with product leaders.
Define priorities and success measures
Set product-area direction, measurable outcomes, and roadmap trade-offs.
Make the roadmap actionable
Complete product briefs, ownership, and roadmap for the next six months.
PRODUCT TEAM
Executive Product Strategist · Part time
Sameer Karim
Senior Product Strategist · Full time
Mzati Kapalamula
DURATION
4-week product strategy spike
Product direction and a six-month roadmap.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39
SOURCE PRESERVATION — original slide 39
Scale Reconcile AI engineering across Core
Six weeks to pilot and scale reusable AI engineering practices.
OUTCOME
Reusable practices tested on a Core rules-engine pilot
KEY ACTIVITIES
Assess and refine
Weeks 1–3: refine Recon’s AI library and Core specification workflows.
Run a hands-on workshop
Week 4: apply refined AI practices to real Core epics with the team.
Coach adoption
Weeks 5–6: test library reuse with Core teams and plan rollout.
Decide the next gate
Review pilot specifications and access before any build extension.
ENGINEERING TEAM
Executive Engineering Leader
Part time · leader to confirm
Senior Architect · Full time
Gerardo Arroyo
DELIVERABLES
A refined, process-oriented skill library
A process map for core SDLC process enhancements
Integration of SDLC enhancements with ongoing metrics and measurement systems, aligned with product-side metrics
Delivery of a three-day training workshop for select members of the Dental Exchange engineering team
Hands-on engineering coaching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SOURCE PRESERVATION — original slide 40
Strengthen Core testing and release controls
Six weeks to improve critical-path coverage and release confidence.
OUTCOME
More reliable release gates and critical-path test coverage
KEY ACTIVITIES
Prioritize critical paths
Weeks 1–2: confirm journeys, coverage gaps and release gates with Product.
Expand automated testing
Weeks 3–4: strengthen Playwright coverage and reusable AI test workflows.
Validate release controls
Weeks 5–6: exercise priority tests and release checks in staging.
Coach and transfer ownership
Assign test owners and scope remaining pipeline and environment improvements.
TESTING &amp; RELEASE TEAM
Executive Engineering Leader
Part time
DELIVERABLES
Quality Engineering Architect
Full time
Quality Engineering Senior Engineer
Full time
An assessment of the existing testing process, with recommendations on focus areas
Recommendations on enhancing environment provisioning and release controls
A sprint’s worth of added capacity to enhance end-to-end testing coverage
Agentic skills to speed up test creation generation by dev teams
Evidence Datatabase and Critical user journey inventory generated by Intellio Evolve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PRESERVATION — original slide 41
Three parallel workstreams, one combined investment
Distinct teams and durations; pricing applies to the combined package.
COMBINED INVESTMENT · ALL THREE WORKSTREAMS
Total fees
$370,000
Credit from Phase 1
($25,000)
Total investment
$345,000
Product strategy spike
4 weeks
PROPOSED TEAM
Sameer Karim · Executive Product Strategy (part time)
Mzati Kapalamula · Senior Product Strategist (full time)
Reconcile AI engineering across Core
6 weeks
PROPOSED TEAM
Ri Scott· Executive Engineering Leader (part time)
Gerardo Arroyo · Senior Architect · full time
Testing &amp; release controls
6 weeks
PROPOSED TEAM
Ri Scott · Executive Engineering Leader (part time)
Quality Engineering Architect · full time
Quality Engineering Senior Engineer · full time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Executive summary, engineering track. The product column is left for the product team. The engineering column summarizes the engineering practices map, the release health baseline, and recommendations E1–E5. Horizons: Now = readout decisions plus the first 30 days; Next = 1–3 months; Future = 3–6 months and beyond.
SOURCE PRESERVATION — original slide 42
Executive summary
What we saw, what we recommend now, how it rolls out, and what we need from leadership.
WORKING DRAFT
Both tracks use the same horizons: Now (readout and first 30 days), Next (1–3 months), and Future (3–6+ months).
Product track
Engineering track
What we saw
[To be completed by the product team]
Two platforms at very different maturity: Reconcile AI leads on technical design, AI-assisted build, and test automation, while Core relies on manual regression. Half of 2026 Core production changes were unplanned, and delivery is not measured end to end.
What we recommend now
[To be completed by the product team]
Five engineering recommendations, each starting with one pilot: a root-cause review of unplanned changes (E1), a map of Core's highest-risk regression (E2), wait times for access and test data (E3), a delivery baseline (E4), and sanctioned tools for agentic work (E5).
How it rolls out
[To be completed by the product team]
One pilot pod per recommendation: Core for release stability and quality, Reconcile AI and the Rules Engine for environments and data, Reconcile AI for agentic delivery. What works extends to Eligibility AI, Pay Connect, and the other pods, with a light, human-gated version for Core.
What we need from leadership
[To be completed by the product team]
An owner for each of E1–E5, agreement on the pilot pods, the sanctioned AI tools and PHI rule before the December AIDLC rollout, and access to release and Jira data to build the baseline.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SOW Deliverable 1, current Practices Map working deliverable, discovery synthesis, daily stand-up transcript, and Miro lifecycle themes. Ratings are placeholders for validation and should be updated by the team.
SOURCE PRESERVATION — original slide 43
Practices Map
Current state of practices across the PDLC
DELIVERABLE 01
Practice area
Identify
Prioritization
Definition
Build
Release
GTM
Customer evidence
Emerging
Developing
-
-
-
-
Roadmap and prioritization
Developing
Developing
-
-
-
-
Ownership and decisions
-
Developing
Developing
-
-
-
Product definition and design
-
-
Developing
Developing
-
-
Product and Engineering delivery
-
-
-
Variable / pocket
-
-
Release validation
-
-
-
-
Emerging
-
Commercialization and enablement
-
-
-
-
Developing
Developing
Measurement and feedback
-
-
-
-
-
Developing
AI-enabled delivery
Emerging
-
Developing
Leading pocket
Developing
-
Ratings are working hypotheses based on limited conversations and observations with DXC team.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Engineering practices by platform. Ratings are working hypotheses built from working sessions with Reconcile AI engineering leadership, new-platform engineering leadership, Core engineering leadership, and release management, plus the engineering survey (n=44, March 2026) and the release calendar. 'To validate' means we have no evidence yet, not a low score. XConnect automation is ~100% in both the working session and the value chain deck; a ~70% figure is attributed to different products in different sources, so it is left off the slide. Release promotion: builds are tracked by ID through the in-house build system, confirmed by build numbers in the release calendar. Release management described merging the staging branch to production on release night, which suggests a rebuild; the Monday UAT / Thursday production cadence matches the Core releases in the calendar. Whether the staging-validated build is the one promoted to production is unconfirmed. The 'Addressed by' column links each practice to the recommendation that acts on it.
SOURCE PRESERVATION — original slide 44
Engineering practices by platform
The single Build cell on the Practices Map hides two very different platforms. Working ratings to validate with Engineering.
DELIVERABLE 01
Sources: engineering and release working sessions, engineering survey (n=44), 2024–2026 release calendar. Working hypotheses to validate with Engineering.
Engineering practice
Core platform (Java)
New platform: Reconcile AI
New platform: other pods
Evidence so far
Addressed by
Technical design and architecture
Emerging
Leading pocket
To validate
No owned design step before build (readout finding 04); Core design knowledge sits with a small group. Recon: Architectural Specification template, Team Lead signs.
Rec 03
AI-assisted build
Developing
Leading pocket
Variable
Core: Copilot in IntelliJ since January 2026, all gates human. Recon: epic-level agent pipeline. Other pods: developer-led, mostly unit tests.
E5
Test automation
Emerging
Leading pocket
Variable
Core regression is manual with limited QA capacity. Recon agents write Jest, Playwright, and Postman tests per story. XConnect ~100%; other pods partially automated.
E2
Release engineering and promotion
Developing
Developing
To validate
Builds are tracked by ID, but release-night branch merges suggest production may be rebuilt rather than promoted: to confirm. Some new products not yet in CAB.
E1
Environments, access, and test data
Emerging
Emerging
Emerging
Survey: access delays, late test data, no read-only database access for troubleshooting. Recon waited months for production-like data.
E3
Operability and run lane
Developing
To validate
To validate
DevOps, SRE, and incident roles are in place, but half of 2026 Core changes fell outside cadence: defects, rollbacks, and credential or certificate fixes.
E1
Delivery measurement
Emerging
Emerging
Emerging
Core plans in story points (~65 per sprint). Recon has proposed cycle time by stage, CFD, and control charts, not yet running. No DORA-style measures.
E4
Continuity and knowledge sharing
Emerging
Emerging
Emerging
On both platforms, review, technical direction, and approvals rely on a few senior people; onboarding paths are thin. New onshore leads are being added.
Rec 04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Release health baseline. Counts come from the consolidated release calendar: 2024–2025 from 'New builds' release emails, 2026 from the Deployments Team channel. The calendar lists Core applications (CHS, DCI, DCQ, CUSTCARE, REG, CRED, PNT, DWS, DEA and others); new-platform releases are not included. 2024–2025 emails did not label patches separately, so zeros for those years reflect recording, not absence. Credential and certificate patches: Salesforce client password expirations on 05/30 and 08/28 (the second followed by the 09/01 restoration of outbound Salesforce calls); BMA (04/07), DIL (05/11), and SSO (08/20) certificates applied as patches, where the calendar does not say whether they had expired. Defects that reached production: an ambiguous column name in DCI (03/23), a slow Custcare credentialing search (05/15), and a file-delivery failure for MET (07/15). Rollbacks: DEA (01/23) and DCQ (08/28). Two March patches (03/26 and 03/27) have no recorded cause.
SOURCE PRESERVATION — original slide 45
Release health baseline, 2024–2026
Production changes to the Core applications, as a starting baseline for Ship with proof and delivery measurement.
DELIVERABLE 01
50%
of 2026 production changes fell outside the biweekly cadence: 11 patches, 2 off-version releases, and 2 rollbacks out of 30.
5 of 11
2026 patches were credential or certificate changes; two expired Salesforce passwords blocked customer workflows.
rollbacks in 2026 (DEA in January, DCQ in August), plus a release item held after a failed checkout (DCQ, January).
Half of 2026 changes were unplanned: defects, rollbacks, and credential or certificate fixes. Each merits a root-cause review (E1).
Source: DXC Production Release Calendar, Jan 2024 – Sep 2026; Core applications only; 2024–25 did not label patches.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SOW Deliverable 2 and daily stand-up transcript. The opportunity-to-implementation path is an emerging theme identified in team discussion and is included as a working example, not a final prescribed process.
SOURCE PRESERVATION — original slide 46
Activation Summary: what the deliverable must show
Complete one record for each bounded change tested in the selected live initiatives.
DELIVERABLE 02
Bounded activation stays within ways of working. It does not include production-system change, software development, or broad implementation.
Activation record
Working input to complete
Selected initiative and baseline
Add initiative, participants, cadence, and artifact set.
Methodology or process change
Name the change in the way work flows, including opportunity brief, product brief / PRD, feature brief, epic, technical design or implementation plan.
Practice, role, decision, meeting, artifact, or measure
Name what changed, who changed it, and what artifact or decision point made the change visible.
Observed result or early signal
Add evidence, open questions, risks, and what changed in the work.
Recommended activation playbook
Describe the repeatable cadence, owner, evidence, guardrail, and decision needed to continue.
The first working test to capture: carry one internal signal through opportunity brief, PRD, feature brief, epic, technical design, and implementation plan.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Daily stand-up transcript and client-provided themes. The signal-to-implementation path is a working hypothesis for bounded activation, intended to connect discovery, definition, delivery, release, and post-launch learning.
SOURCE PRESERVATION — original slide 47
Activation Summary: from signal to implementation plan
A working definition path to test in one selected live initiative.
DELIVERABLE 02
Internal signal
Customer, support, operations, research, or engineering evidence.
Opportunity brief
Problem, evidence, outcome, decision, and why now.
Product brief / PRD
User need, success measure, scope, and design context.
Feature brief / epic
Decomposition, acceptance, ownership, and dependencies.
Implementation plan
Sequence, validation, release evidence, and feedback.
Test intent: make decision logic, feasibility, design context, and evidence visible before the team commits to delivery scope.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SOW Deliverable 3, early interview themes, daily stand-up transcript, and current working deliverable. This is the summary view; detailed action definitions follow.
Two tracks: product recommendations 01–05 and engineering recommendations E1–E5. Governed agentic delivery (formerly recommendation 06) is now E5. 'Starts' shows the first horizon and, for engineering, the pilot pod.
SOURCE PRESERVATION — original slide 48
Recommendations summary: what should be done
Use this page as the leadership-level view before the detailed recommendation pages.
DELIVERABLE 03
Track
Recommendation
What should be done
Starts
Product
01 Outcome-led prioritization
Set decision criteria, protect capacity, and make a 3-4 sprint view credible before commitments.
Now
02 Product management as business ownership
Clarify PM accountability for evidence, outcomes, adoption, and learning beyond the backlog.
Now
03 Opportunity brief to implementation path
Standardize the path from internal signal through PRD, epic, technical design, and plan.
Now
04 Earlier cross-functional collaboration
Bring UX, Engineering, QA, Release, and Operations into feasibility work earlier.
Next
05 Ship with proof feedback loop
Define the smallest release evidence path and feed post-launch results into the roadmap.
Next
Engineering
E1 Release stability and production quality
Review the root cause of unplanned changes; manage credentials and certificates as a lifecycle.
Now · Core
E2 Quality and test automation
Automate the highest-risk regression first, reusing the patterns already working in Recon.
Now · Core
E3 Environments, access, and test data
Remove the waits for access and for realistic, masked test data.
Now · Recon, Rules Engine
E4 Delivery measurement
Baseline and track release and flow measures on every platform, vendor team included.
Now · Core, Recon
E5 Governed agentic delivery
Scale human-supervised AI practices with sanctioned tools, ahead of the December rollout.
Now · Recon
Product recommendations are detailed first, then the engineering track. Both roll up in the two roadmaps at the end.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E1 sources: 2024–2026 release calendar (Core applications), release management and Core engineering working sessions (CAB process, configuration switches), and the readout finding on quality. The 15 unplanned 2026 changes are 11 patches, 2 off-version releases, and 2 rollbacks; see the notes on the release health baseline for the breakdown by cause.
SOURCE PRESERVATION — original slide 49
Release stability and production quality
Learn from what reaches production and stop repeat causes, starting with Core.
ENGINEERING E1
WHAT SHOULD BE DONE
Review the root cause of every unplanned production change: patches, rollbacks, and off-version releases.
Manage credentials and certificates as a lifecycle, with expiry dates, owners, and alerts.
Make releases repeatable: promote the same validated artifact, onboard new products to CAB, and clarify how the release rule applies to code behind a configuration switch.
HOW TO ACTIVATE IT
Now (Core): classify the 15 unplanned 2026 changes by cause and build the credential and certificate inventory.
Next: a standard review after every patch or rollback, expiry alerts, and same-artifact promotion.
Future: change failure rate, time to restore, and repeat causes tracked on every pod.
Owner: Engineering leadership + Release/DevOps + Quality | Dependency: release calendar, Jira, CAB records | Measure: share of unplanned changes, change failure rate, and repeat causes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E2 sources: Core engineering working session (manual regression, limited QA capacity), new-platform engineering working session (automation levels by pod), the Agentic Spec-Driven Delivery document (Reconcile AI test agents), and the readout (testing is uneven; some defects reach customers). Engineering survey: rework cited by 16 of 44 respondents as slowing delivery.
SOURCE PRESERVATION — original slide 50
Quality and test automation
Move quality earlier so fewer defects reach production, starting where regression is manual.
ENGINEERING E2
WHAT SHOULD BE DONE
Target automation by risk, starting with the workflows behind the highest-impact defects and rollbacks.
Reuse the test-generation patterns already working in Reconcile AI where the stack allows.
Make automated regression evidence part of the release decision.
HOW TO ACTIVATE IT
Now (Core): map the highest-risk regression workflows and the manual effort each release consumes, using E1's root-cause categories.
Next: automate those workflows in Core and extend Recon's test patterns to Eligibility AI and Pay Connect.
Future: automated regression becomes a release entry criterion on every pod.
Owner: Quality leadership + Engineering leads | Dependency: E1 root-cause data, QA capacity, test environments | Measure: automated coverage of high-risk workflows, escaped defects, and regression effort per release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E3 sources: engineering survey free text (access delays, late test data, no read-only database access for troubleshooting), product survey (Reconcile AI waited months for production-like data), Core engineering working session (offshore access to production data), and the readout (HIPAA and PII approval constraints).
SOURCE PRESERVATION — original slide 51
Environments, access, and test data
Remove the waits for access and realistic data that slow both build and validation.
ENGINEERING E3
WHAT SHOULD BE DONE
Make access and test-data wait times visible, by team and by type of request.
Provide masked, production-like test data on a refresh cadence, within HIPAA and PHI rules.
Give engineers, including offshore teams, approved read-only access for diagnostics.
HOW TO ACTIVATE IT
Now (Reconcile AI and Rules Engine): log who waits for access and test data, for what, and for how long.
Next: masked, production-like data for Recon and a read-only diagnostic access path.
Future: self-service environments and access provisioning on every pod.
Owner: DevOps/Infrastructure + Security | Dependency: data masking approach, security review, environment capacity | Measure: wait time for access and test data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E4 sources: readout findings (PDLC and SDLC not measured; the outside workforce is not measured on delivery), Reconcile AI engineering working session (flow metrics proposed, not yet running), Core engineering working session (story-point planning), and the release calendar and Jira as existing data.
SOURCE PRESERVATION — original slide 52
Delivery measurement
See how work moves from commit to production, across internal and vendor teams.
ENGINEERING E4
WHAT SHOULD BE DONE
Agree a small set of release and flow measures that every platform reports the same way.
Build them from data that already exists: the release calendar and Jira.
Include the offshore vendor team in the same view, measured on delivery rather than headcount.
HOW TO ACTIVATE IT
Now (Core and Reconcile AI): baseline release frequency, lead time, change failure rate, and time to restore.
Next: turn on Recon's proposed flow metrics and publish one monthly delivery view.
Future: the measures inform prioritization and portfolio decisions.
Owner: Engineering leadership | Dependency: Jira hygiene, release calendar, data access | Measure: teams with live measures, and the trend in lead time and change failure rate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SOW Deliverable 3, Decide and Activate methodology, early interview themes, daily stand-up transcript, and current working deliverable. This roadmap is intended to be refined as live initiative evidence accumulates.
Governed agentic delivery moved to the engineering track as E5; see the engineering roadmap on the next page.
SOURCE PRESERVATION — original slide 53
Activation Roadmap: product track
Sequence the product recommendations into now and next actions with owners and dependencies.
DELIVERABLE 03
Timing
Recommendation
First action
Proposed owner
Dependency
Initial measure
Now
Outcome-led prioritization
Apply decision criteria to the next live prioritization decision.
Product + Eng
Decision criteria
Predictability
Now
Product management as business ownership
Map decision rights and assign PM outcome ownership for one initiative.
Product
Role clarity
Outcome learning
Now
Opportunity brief to implementation path
Run one internal signal through brief, PRD, feature brief, epic, technical design, and plan.
Product + Eng
Shared artifacts
Handoff quality
Next
Earlier cross-functional collaboration
Run a pre-commitment working session with the minimum team and evidence set.
Product + Eng
Cadence and access
Rework and wait time
Next
Ship-with-proof feedback loop
Define release evidence and post-launch learning for the next test.
Product + Release
Measures
Validation coverage
Use the roadmap after each quick-win test to update timing, owners, dependencies, measures, and the Phase 2 enablement need.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slide uses a recommended role model rather than RACI or RAPID: L = Lead, C = Contribute, I = Inform, A = Approve. The mappings are a starting point based on the six artifacts named by the user and the Product / Engineering operating model in the supplied DentalXChange source deck. Validate role names and approval gates with DXC leadership before operationalizing the templates.
SOURCE PRESERVATION — original slide 54
Artifact ownership matrix
Use the templates as decision points in the work, not as documents completed after the work is done.
RECOMMENDED ROLE MODEL
Lead coordinates the artifact. Contributors shape it. Inform roles stay aligned. Approvers decide whether it is ready to move forward.
L
Lead
C
Contribute
I
Iform
A
Approve
Role / stakeholder
Opportunity Brief
Product Brief
Feature Brief
Technical Implementation Plan
Testing / QA / UAT Plan
Initial Release / GTM Plan
Product Manager / Product Lead
L
L
C
I
C
L
Business / Initiative Sponsor
A
A
I
I
I
A
Product Owner / Delivery Lead
C
C
L
C
C
C
UX / Design
C
C
C
I
I
C
Engineering Lead / Architect
C
C
C
L
C
C
QA / UAT
I
I
C
C
L
C
Release / Operations
I
I
C
C
C
A
Sales / Customer Success
I
C
I
I
I
C
Leadership
I
I
I
I
I
I
A marks the stage-gate approver(s). Multiple approvals are intentional where Product, Engineering, QA, or Release share a readiness decision.
Starting role model to validate with DXC
The lead owns the handoff to the next artifact.
Merge C &amp; I
@Gerardo – can you help me make the C and I’s the same? Hopefully just a copy / paste. 
Sameer to review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SOW pages 1-3. The SOW frames the work around up to two live initiatives, up to three bounded quick wins, a three-week project, and no production-system changes.
SOURCE PRESERVATION — original slide 55
Why this work matters
The project connects live work to a clearer Product and R&amp;D operating model.
BUSINESS NEED
DentalXChange is growing and maturing its SaaS business model. Leadership wants to identify meaningful opportunities quickly, then activate changes through live work.
The value is a faster, more consistent delivery system that can keep pace with growth.
WORKING BOUNDARIES
Up to two
live initiatives
Up to three
bounded quick wins
Three weeks
from launch to executive readout
No
production-system change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Engineering roadmap. Three buckets, each starting in its pilot pods, plus an AI guardrail that applies to all of them. Rollout sequence: pilots now in Core, Reconcile AI, and the Rules Engine; Eligibility AI and Pay Connect next; the other pods later, with a light, human-gated AI version for Core.
AI guardrail: the QA working session confirmed that sanctioned tool access is limited to some full-time staff and not yet available to contractors.
SOURCE PRESERVATION — original slide 56
Activation Roadmap: engineering priorities
Each engineering bucket starts in its pilot pods, then extends on the same Now, Next, and Future horizons.
DELIVERABLE 03
Pilot first, measure, then extend: each bucket moves to the next pods once its measure shows it works.
Priority
Pilot pods
Now
Next
Future
Owner
Release
Core, Reconcile AI
Root-cause review of unplanned changes; credential and certificate inventory; Release Agent outputs defined.
Same-artifact promotion; expiry alerts; review after every patch or rollback; Release Agent live in Recon.
On-demand low-risk releases; Release Agent pattern on every pod.
Engineering leadership, Release/DevOps
Test
Core, Reconcile AI, Rules Engine
Map Core's highest-risk regression; log waits for access and test data.
Automated quality: automate high-risk workflows; test agents in Eligibility AI and Pay Connect; masked data.
Automated regression as release entry criterion; self-service environments.
Quality leadership, DevOps, Security
Quality
Rules Engine, Core, Reconcile AI
First experiment: Rules Engine PRD to tech spec with the agent; baseline four delivery measures.
Tech spec template for Core; Recon flow metrics live; monthly quality view.
Quality measures inform prioritization and portfolio decisions.
Engineering leadership, Product
AI guardrail
All pods
Approve sanctioned AI tools and the PHI rule, and extend access to all staff, including contractors, before the December rollout.
Govern the December AIDLC rollout; shared agent registry.
Scale what improves speed and quality together.
Engineering, Product, Security
Rollout sequence
Core, Reconcile AI, and the Rules Engine as pilots.
Eligibility AI and Pay Connect.
The other pods; Core with a light, human-gated AI version.
Sameer to review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slide uses a recommended role model rather than RACI or RAPID: L = Lead, C = Contribute, I = Inform, A = Approve. The mappings are a starting point based on the six artifacts named by the user and the Product / Engineering operating model in the supplied DentalXChange source deck. Validate role names and approval gates with DXC leadership before operationalizing the templates.
SOURCE PRESERVATION — original slide 57
Product strategy spike
Product direction, priorities, and a practical path to execution
OUTCOME
Clear product direction and an executable six-month roadmap
KEY ACTIVITIES
Build the evidence base
Review customer needs, product performance, and business priorities.
Align on product strategy
Prepare and facilitate a focused strategy workshop with product leaders.
Define priorities and success measures
Set product-area direction, measurable outcomes, and roadmap trade-offs.
Make the roadmap actionable
Complete product briefs, ownership, and handoffs for the next six months.
PRODUCT TEAM
Executive Product Strategy · Part time
Sameer Karim
Senior Product Strategist · Full time
Mzati Kapalamula
INVESTMENT: ALL 3 WORKSTREAMS
Total fees
$370,000
Credit memo
($25,000)
Total investment
$345,000
Sameer to review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sv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mds.frame.7dbf80f513bab0692831">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pic>
        <p:nvPicPr>
          <p:cNvPr id="9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5" name="wm.legal"/>
          <p:cNvSpPr/>
          <p:nvPr/>
        </p:nvSpPr>
        <p:spPr>
          <a:xfrm>
            <a:off x="2171700" y="6172200"/>
            <a:ext cx="9296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mds.frame.f53eef68b553941e34d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pic>
        <p:nvPicPr>
          <p:cNvPr id="9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5"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mds.frame.6ecea4cbfd81bb02e8f5">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2865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pic>
        <p:nvPicPr>
          <p:cNvPr id="9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400800"/>
            <a:ext cx="729403" cy="152400"/>
          </a:xfrm>
          <a:prstGeom prst="rect">
            <a:avLst/>
          </a:prstGeom>
        </p:spPr>
      </p:pic>
      <p:sp>
        <p:nvSpPr>
          <p:cNvPr id="95" name="wm.legal"/>
          <p:cNvSpPr/>
          <p:nvPr/>
        </p:nvSpPr>
        <p:spPr>
          <a:xfrm>
            <a:off x="2171700" y="6419850"/>
            <a:ext cx="8915400" cy="1143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mds.frame.4e84678008a2f5b595a6">
    <p:bg>
      <p:bgPr>
        <a:solidFill>
          <a:srgbClr val="070154"/>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50658E"/>
          </a:solidFill>
          <a:ln>
            <a:noFill/>
          </a:ln>
        </p:spPr>
      </p:sp>
      <p:sp>
        <p:nvSpPr>
          <p:cNvPr id="3" name="wm.whiteboard.0.0"/>
          <p:cNvSpPr/>
          <p:nvPr/>
        </p:nvSpPr>
        <p:spPr>
          <a:xfrm>
            <a:off x="266700" y="228600"/>
            <a:ext cx="38100" cy="38100"/>
          </a:xfrm>
          <a:prstGeom prst="rect">
            <a:avLst/>
          </a:prstGeom>
          <a:solidFill>
            <a:srgbClr val="50658E"/>
          </a:solidFill>
          <a:ln>
            <a:noFill/>
          </a:ln>
        </p:spPr>
      </p:sp>
      <p:sp>
        <p:nvSpPr>
          <p:cNvPr id="4" name="wm.whiteboard.0.18"/>
          <p:cNvSpPr/>
          <p:nvPr/>
        </p:nvSpPr>
        <p:spPr>
          <a:xfrm>
            <a:off x="266700" y="457200"/>
            <a:ext cx="38100" cy="38100"/>
          </a:xfrm>
          <a:prstGeom prst="rect">
            <a:avLst/>
          </a:prstGeom>
          <a:solidFill>
            <a:srgbClr val="50658E"/>
          </a:solidFill>
          <a:ln>
            <a:noFill/>
          </a:ln>
        </p:spPr>
      </p:sp>
      <p:sp>
        <p:nvSpPr>
          <p:cNvPr id="5" name="wm.whiteboard.0.36"/>
          <p:cNvSpPr/>
          <p:nvPr/>
        </p:nvSpPr>
        <p:spPr>
          <a:xfrm>
            <a:off x="266700" y="685800"/>
            <a:ext cx="38100" cy="38100"/>
          </a:xfrm>
          <a:prstGeom prst="rect">
            <a:avLst/>
          </a:prstGeom>
          <a:solidFill>
            <a:srgbClr val="50658E"/>
          </a:solidFill>
          <a:ln>
            <a:noFill/>
          </a:ln>
        </p:spPr>
      </p:sp>
      <p:sp>
        <p:nvSpPr>
          <p:cNvPr id="6" name="wm.whiteboard.0.54"/>
          <p:cNvSpPr/>
          <p:nvPr/>
        </p:nvSpPr>
        <p:spPr>
          <a:xfrm>
            <a:off x="266700" y="914400"/>
            <a:ext cx="38100" cy="38100"/>
          </a:xfrm>
          <a:prstGeom prst="rect">
            <a:avLst/>
          </a:prstGeom>
          <a:solidFill>
            <a:srgbClr val="50658E"/>
          </a:solidFill>
          <a:ln>
            <a:noFill/>
          </a:ln>
        </p:spPr>
      </p:sp>
      <p:sp>
        <p:nvSpPr>
          <p:cNvPr id="7" name="wm.whiteboard.0.72"/>
          <p:cNvSpPr/>
          <p:nvPr/>
        </p:nvSpPr>
        <p:spPr>
          <a:xfrm>
            <a:off x="266700" y="1143000"/>
            <a:ext cx="38100" cy="38100"/>
          </a:xfrm>
          <a:prstGeom prst="rect">
            <a:avLst/>
          </a:prstGeom>
          <a:solidFill>
            <a:srgbClr val="50658E">
              <a:alpha val="85305"/>
            </a:srgbClr>
          </a:solidFill>
          <a:ln>
            <a:noFill/>
          </a:ln>
        </p:spPr>
      </p:sp>
      <p:sp>
        <p:nvSpPr>
          <p:cNvPr id="8" name="wm.whiteboard.0.90"/>
          <p:cNvSpPr/>
          <p:nvPr/>
        </p:nvSpPr>
        <p:spPr>
          <a:xfrm>
            <a:off x="266700" y="1371600"/>
            <a:ext cx="38100" cy="38100"/>
          </a:xfrm>
          <a:prstGeom prst="rect">
            <a:avLst/>
          </a:prstGeom>
          <a:solidFill>
            <a:srgbClr val="50658E">
              <a:alpha val="68524"/>
            </a:srgbClr>
          </a:solidFill>
          <a:ln>
            <a:noFill/>
          </a:ln>
        </p:spPr>
      </p:sp>
      <p:sp>
        <p:nvSpPr>
          <p:cNvPr id="9" name="wm.whiteboard.0.108"/>
          <p:cNvSpPr/>
          <p:nvPr/>
        </p:nvSpPr>
        <p:spPr>
          <a:xfrm>
            <a:off x="266700" y="1600200"/>
            <a:ext cx="38100" cy="38100"/>
          </a:xfrm>
          <a:prstGeom prst="rect">
            <a:avLst/>
          </a:prstGeom>
          <a:solidFill>
            <a:srgbClr val="50658E">
              <a:alpha val="51742"/>
            </a:srgbClr>
          </a:solidFill>
          <a:ln>
            <a:noFill/>
          </a:ln>
        </p:spPr>
      </p:sp>
      <p:sp>
        <p:nvSpPr>
          <p:cNvPr id="10" name="wm.whiteboard.0.126"/>
          <p:cNvSpPr/>
          <p:nvPr/>
        </p:nvSpPr>
        <p:spPr>
          <a:xfrm>
            <a:off x="266700" y="1828800"/>
            <a:ext cx="38100" cy="38100"/>
          </a:xfrm>
          <a:prstGeom prst="rect">
            <a:avLst/>
          </a:prstGeom>
          <a:solidFill>
            <a:srgbClr val="50658E">
              <a:alpha val="34959"/>
            </a:srgbClr>
          </a:solidFill>
          <a:ln>
            <a:noFill/>
          </a:ln>
        </p:spPr>
      </p:sp>
      <p:sp>
        <p:nvSpPr>
          <p:cNvPr id="11" name="wm.whiteboard.0.144"/>
          <p:cNvSpPr/>
          <p:nvPr/>
        </p:nvSpPr>
        <p:spPr>
          <a:xfrm>
            <a:off x="266700" y="2057400"/>
            <a:ext cx="38100" cy="38100"/>
          </a:xfrm>
          <a:prstGeom prst="rect">
            <a:avLst/>
          </a:prstGeom>
          <a:solidFill>
            <a:srgbClr val="50658E">
              <a:alpha val="18177"/>
            </a:srgbClr>
          </a:solidFill>
          <a:ln>
            <a:noFill/>
          </a:ln>
        </p:spPr>
      </p:sp>
      <p:sp>
        <p:nvSpPr>
          <p:cNvPr id="12" name="wm.whiteboard.0.162"/>
          <p:cNvSpPr/>
          <p:nvPr/>
        </p:nvSpPr>
        <p:spPr>
          <a:xfrm>
            <a:off x="266700" y="2286000"/>
            <a:ext cx="38100" cy="38100"/>
          </a:xfrm>
          <a:prstGeom prst="rect">
            <a:avLst/>
          </a:prstGeom>
          <a:solidFill>
            <a:srgbClr val="50658E">
              <a:alpha val="1394"/>
            </a:srgbClr>
          </a:solidFill>
          <a:ln>
            <a:noFill/>
          </a:ln>
        </p:spPr>
      </p:sp>
      <p:sp>
        <p:nvSpPr>
          <p:cNvPr id="13" name="wm.whiteboard.18.0"/>
          <p:cNvSpPr/>
          <p:nvPr/>
        </p:nvSpPr>
        <p:spPr>
          <a:xfrm>
            <a:off x="495300" y="228600"/>
            <a:ext cx="38100" cy="38100"/>
          </a:xfrm>
          <a:prstGeom prst="rect">
            <a:avLst/>
          </a:prstGeom>
          <a:solidFill>
            <a:srgbClr val="50658E"/>
          </a:solidFill>
          <a:ln>
            <a:noFill/>
          </a:ln>
        </p:spPr>
      </p:sp>
      <p:sp>
        <p:nvSpPr>
          <p:cNvPr id="14" name="wm.whiteboard.18.18"/>
          <p:cNvSpPr/>
          <p:nvPr/>
        </p:nvSpPr>
        <p:spPr>
          <a:xfrm>
            <a:off x="495300" y="457200"/>
            <a:ext cx="38100" cy="38100"/>
          </a:xfrm>
          <a:prstGeom prst="rect">
            <a:avLst/>
          </a:prstGeom>
          <a:solidFill>
            <a:srgbClr val="50658E"/>
          </a:solidFill>
          <a:ln>
            <a:noFill/>
          </a:ln>
        </p:spPr>
      </p:sp>
      <p:sp>
        <p:nvSpPr>
          <p:cNvPr id="15" name="wm.whiteboard.18.36"/>
          <p:cNvSpPr/>
          <p:nvPr/>
        </p:nvSpPr>
        <p:spPr>
          <a:xfrm>
            <a:off x="495300" y="685800"/>
            <a:ext cx="38100" cy="38100"/>
          </a:xfrm>
          <a:prstGeom prst="rect">
            <a:avLst/>
          </a:prstGeom>
          <a:solidFill>
            <a:srgbClr val="50658E"/>
          </a:solidFill>
          <a:ln>
            <a:noFill/>
          </a:ln>
        </p:spPr>
      </p:sp>
      <p:sp>
        <p:nvSpPr>
          <p:cNvPr id="16" name="wm.whiteboard.18.54"/>
          <p:cNvSpPr/>
          <p:nvPr/>
        </p:nvSpPr>
        <p:spPr>
          <a:xfrm>
            <a:off x="495300" y="914400"/>
            <a:ext cx="38100" cy="38100"/>
          </a:xfrm>
          <a:prstGeom prst="rect">
            <a:avLst/>
          </a:prstGeom>
          <a:solidFill>
            <a:srgbClr val="50658E">
              <a:alpha val="99988"/>
            </a:srgbClr>
          </a:solidFill>
          <a:ln>
            <a:noFill/>
          </a:ln>
        </p:spPr>
      </p:sp>
      <p:sp>
        <p:nvSpPr>
          <p:cNvPr id="17" name="wm.whiteboard.18.72"/>
          <p:cNvSpPr/>
          <p:nvPr/>
        </p:nvSpPr>
        <p:spPr>
          <a:xfrm>
            <a:off x="495300" y="1143000"/>
            <a:ext cx="38100" cy="38100"/>
          </a:xfrm>
          <a:prstGeom prst="rect">
            <a:avLst/>
          </a:prstGeom>
          <a:solidFill>
            <a:srgbClr val="50658E">
              <a:alpha val="83708"/>
            </a:srgbClr>
          </a:solidFill>
          <a:ln>
            <a:noFill/>
          </a:ln>
        </p:spPr>
      </p:sp>
      <p:sp>
        <p:nvSpPr>
          <p:cNvPr id="18" name="wm.whiteboard.18.90"/>
          <p:cNvSpPr/>
          <p:nvPr/>
        </p:nvSpPr>
        <p:spPr>
          <a:xfrm>
            <a:off x="495300" y="1371600"/>
            <a:ext cx="38100" cy="38100"/>
          </a:xfrm>
          <a:prstGeom prst="rect">
            <a:avLst/>
          </a:prstGeom>
          <a:solidFill>
            <a:srgbClr val="50658E">
              <a:alpha val="67236"/>
            </a:srgbClr>
          </a:solidFill>
          <a:ln>
            <a:noFill/>
          </a:ln>
        </p:spPr>
      </p:sp>
      <p:sp>
        <p:nvSpPr>
          <p:cNvPr id="19" name="wm.whiteboard.18.108"/>
          <p:cNvSpPr/>
          <p:nvPr/>
        </p:nvSpPr>
        <p:spPr>
          <a:xfrm>
            <a:off x="495300" y="1600200"/>
            <a:ext cx="38100" cy="38100"/>
          </a:xfrm>
          <a:prstGeom prst="rect">
            <a:avLst/>
          </a:prstGeom>
          <a:solidFill>
            <a:srgbClr val="50658E">
              <a:alpha val="50663"/>
            </a:srgbClr>
          </a:solidFill>
          <a:ln>
            <a:noFill/>
          </a:ln>
        </p:spPr>
      </p:sp>
      <p:sp>
        <p:nvSpPr>
          <p:cNvPr id="20" name="wm.whiteboard.18.126"/>
          <p:cNvSpPr/>
          <p:nvPr/>
        </p:nvSpPr>
        <p:spPr>
          <a:xfrm>
            <a:off x="495300" y="1828800"/>
            <a:ext cx="38100" cy="38100"/>
          </a:xfrm>
          <a:prstGeom prst="rect">
            <a:avLst/>
          </a:prstGeom>
          <a:solidFill>
            <a:srgbClr val="50658E">
              <a:alpha val="34032"/>
            </a:srgbClr>
          </a:solidFill>
          <a:ln>
            <a:noFill/>
          </a:ln>
        </p:spPr>
      </p:sp>
      <p:sp>
        <p:nvSpPr>
          <p:cNvPr id="21" name="wm.whiteboard.18.144"/>
          <p:cNvSpPr/>
          <p:nvPr/>
        </p:nvSpPr>
        <p:spPr>
          <a:xfrm>
            <a:off x="495300" y="2057400"/>
            <a:ext cx="38100" cy="38100"/>
          </a:xfrm>
          <a:prstGeom prst="rect">
            <a:avLst/>
          </a:prstGeom>
          <a:solidFill>
            <a:srgbClr val="50658E">
              <a:alpha val="17363"/>
            </a:srgbClr>
          </a:solidFill>
          <a:ln>
            <a:noFill/>
          </a:ln>
        </p:spPr>
      </p:sp>
      <p:sp>
        <p:nvSpPr>
          <p:cNvPr id="22" name="wm.whiteboard.18.162"/>
          <p:cNvSpPr/>
          <p:nvPr/>
        </p:nvSpPr>
        <p:spPr>
          <a:xfrm>
            <a:off x="495300" y="2286000"/>
            <a:ext cx="38100" cy="38100"/>
          </a:xfrm>
          <a:prstGeom prst="rect">
            <a:avLst/>
          </a:prstGeom>
          <a:solidFill>
            <a:srgbClr val="50658E">
              <a:alpha val="670"/>
            </a:srgbClr>
          </a:solidFill>
          <a:ln>
            <a:noFill/>
          </a:ln>
        </p:spPr>
      </p:sp>
      <p:sp>
        <p:nvSpPr>
          <p:cNvPr id="23" name="wm.whiteboard.36.0"/>
          <p:cNvSpPr/>
          <p:nvPr/>
        </p:nvSpPr>
        <p:spPr>
          <a:xfrm>
            <a:off x="723900" y="228600"/>
            <a:ext cx="38100" cy="38100"/>
          </a:xfrm>
          <a:prstGeom prst="rect">
            <a:avLst/>
          </a:prstGeom>
          <a:solidFill>
            <a:srgbClr val="50658E"/>
          </a:solidFill>
          <a:ln>
            <a:noFill/>
          </a:ln>
        </p:spPr>
      </p:sp>
      <p:sp>
        <p:nvSpPr>
          <p:cNvPr id="24" name="wm.whiteboard.36.18"/>
          <p:cNvSpPr/>
          <p:nvPr/>
        </p:nvSpPr>
        <p:spPr>
          <a:xfrm>
            <a:off x="723900" y="457200"/>
            <a:ext cx="38100" cy="38100"/>
          </a:xfrm>
          <a:prstGeom prst="rect">
            <a:avLst/>
          </a:prstGeom>
          <a:solidFill>
            <a:srgbClr val="50658E"/>
          </a:solidFill>
          <a:ln>
            <a:noFill/>
          </a:ln>
        </p:spPr>
      </p:sp>
      <p:sp>
        <p:nvSpPr>
          <p:cNvPr id="25" name="wm.whiteboard.36.36"/>
          <p:cNvSpPr/>
          <p:nvPr/>
        </p:nvSpPr>
        <p:spPr>
          <a:xfrm>
            <a:off x="723900" y="685800"/>
            <a:ext cx="38100" cy="38100"/>
          </a:xfrm>
          <a:prstGeom prst="rect">
            <a:avLst/>
          </a:prstGeom>
          <a:solidFill>
            <a:srgbClr val="50658E"/>
          </a:solidFill>
          <a:ln>
            <a:noFill/>
          </a:ln>
        </p:spPr>
      </p:sp>
      <p:sp>
        <p:nvSpPr>
          <p:cNvPr id="26" name="wm.whiteboard.36.54"/>
          <p:cNvSpPr/>
          <p:nvPr/>
        </p:nvSpPr>
        <p:spPr>
          <a:xfrm>
            <a:off x="723900" y="914400"/>
            <a:ext cx="38100" cy="38100"/>
          </a:xfrm>
          <a:prstGeom prst="rect">
            <a:avLst/>
          </a:prstGeom>
          <a:solidFill>
            <a:srgbClr val="50658E">
              <a:alpha val="94671"/>
            </a:srgbClr>
          </a:solidFill>
          <a:ln>
            <a:noFill/>
          </a:ln>
        </p:spPr>
      </p:sp>
      <p:sp>
        <p:nvSpPr>
          <p:cNvPr id="27" name="wm.whiteboard.36.72"/>
          <p:cNvSpPr/>
          <p:nvPr/>
        </p:nvSpPr>
        <p:spPr>
          <a:xfrm>
            <a:off x="723900" y="1143000"/>
            <a:ext cx="38100" cy="38100"/>
          </a:xfrm>
          <a:prstGeom prst="rect">
            <a:avLst/>
          </a:prstGeom>
          <a:solidFill>
            <a:srgbClr val="50658E">
              <a:alpha val="79547"/>
            </a:srgbClr>
          </a:solidFill>
          <a:ln>
            <a:noFill/>
          </a:ln>
        </p:spPr>
      </p:sp>
      <p:sp>
        <p:nvSpPr>
          <p:cNvPr id="28" name="wm.whiteboard.36.90"/>
          <p:cNvSpPr/>
          <p:nvPr/>
        </p:nvSpPr>
        <p:spPr>
          <a:xfrm>
            <a:off x="723900" y="1371600"/>
            <a:ext cx="38100" cy="38100"/>
          </a:xfrm>
          <a:prstGeom prst="rect">
            <a:avLst/>
          </a:prstGeom>
          <a:solidFill>
            <a:srgbClr val="50658E">
              <a:alpha val="63833"/>
            </a:srgbClr>
          </a:solidFill>
          <a:ln>
            <a:noFill/>
          </a:ln>
        </p:spPr>
      </p:sp>
      <p:sp>
        <p:nvSpPr>
          <p:cNvPr id="29" name="wm.whiteboard.36.108"/>
          <p:cNvSpPr/>
          <p:nvPr/>
        </p:nvSpPr>
        <p:spPr>
          <a:xfrm>
            <a:off x="723900" y="1600200"/>
            <a:ext cx="38100" cy="38100"/>
          </a:xfrm>
          <a:prstGeom prst="rect">
            <a:avLst/>
          </a:prstGeom>
          <a:solidFill>
            <a:srgbClr val="50658E">
              <a:alpha val="47790"/>
            </a:srgbClr>
          </a:solidFill>
          <a:ln>
            <a:noFill/>
          </a:ln>
        </p:spPr>
      </p:sp>
      <p:sp>
        <p:nvSpPr>
          <p:cNvPr id="30" name="wm.whiteboard.36.126"/>
          <p:cNvSpPr/>
          <p:nvPr/>
        </p:nvSpPr>
        <p:spPr>
          <a:xfrm>
            <a:off x="723900" y="1828800"/>
            <a:ext cx="38100" cy="38100"/>
          </a:xfrm>
          <a:prstGeom prst="rect">
            <a:avLst/>
          </a:prstGeom>
          <a:solidFill>
            <a:srgbClr val="50658E">
              <a:alpha val="31549"/>
            </a:srgbClr>
          </a:solidFill>
          <a:ln>
            <a:noFill/>
          </a:ln>
        </p:spPr>
      </p:sp>
      <p:sp>
        <p:nvSpPr>
          <p:cNvPr id="31" name="wm.whiteboard.36.144"/>
          <p:cNvSpPr/>
          <p:nvPr/>
        </p:nvSpPr>
        <p:spPr>
          <a:xfrm>
            <a:off x="723900" y="2057400"/>
            <a:ext cx="38100" cy="38100"/>
          </a:xfrm>
          <a:prstGeom prst="rect">
            <a:avLst/>
          </a:prstGeom>
          <a:solidFill>
            <a:srgbClr val="50658E">
              <a:alpha val="15179"/>
            </a:srgbClr>
          </a:solidFill>
          <a:ln>
            <a:noFill/>
          </a:ln>
        </p:spPr>
      </p:sp>
      <p:sp>
        <p:nvSpPr>
          <p:cNvPr id="32" name="wm.whiteboard.54.0"/>
          <p:cNvSpPr/>
          <p:nvPr/>
        </p:nvSpPr>
        <p:spPr>
          <a:xfrm>
            <a:off x="952500" y="228600"/>
            <a:ext cx="38100" cy="38100"/>
          </a:xfrm>
          <a:prstGeom prst="rect">
            <a:avLst/>
          </a:prstGeom>
          <a:solidFill>
            <a:srgbClr val="50658E"/>
          </a:solidFill>
          <a:ln>
            <a:noFill/>
          </a:ln>
        </p:spPr>
      </p:sp>
      <p:sp>
        <p:nvSpPr>
          <p:cNvPr id="33" name="wm.whiteboard.54.18"/>
          <p:cNvSpPr/>
          <p:nvPr/>
        </p:nvSpPr>
        <p:spPr>
          <a:xfrm>
            <a:off x="952500" y="457200"/>
            <a:ext cx="38100" cy="38100"/>
          </a:xfrm>
          <a:prstGeom prst="rect">
            <a:avLst/>
          </a:prstGeom>
          <a:solidFill>
            <a:srgbClr val="50658E"/>
          </a:solidFill>
          <a:ln>
            <a:noFill/>
          </a:ln>
        </p:spPr>
      </p:sp>
      <p:sp>
        <p:nvSpPr>
          <p:cNvPr id="34" name="wm.whiteboard.54.36"/>
          <p:cNvSpPr/>
          <p:nvPr/>
        </p:nvSpPr>
        <p:spPr>
          <a:xfrm>
            <a:off x="952500" y="685800"/>
            <a:ext cx="38100" cy="38100"/>
          </a:xfrm>
          <a:prstGeom prst="rect">
            <a:avLst/>
          </a:prstGeom>
          <a:solidFill>
            <a:srgbClr val="50658E">
              <a:alpha val="98827"/>
            </a:srgbClr>
          </a:solidFill>
          <a:ln>
            <a:noFill/>
          </a:ln>
        </p:spPr>
      </p:sp>
      <p:sp>
        <p:nvSpPr>
          <p:cNvPr id="35" name="wm.whiteboard.54.54"/>
          <p:cNvSpPr/>
          <p:nvPr/>
        </p:nvSpPr>
        <p:spPr>
          <a:xfrm>
            <a:off x="952500" y="914400"/>
            <a:ext cx="38100" cy="38100"/>
          </a:xfrm>
          <a:prstGeom prst="rect">
            <a:avLst/>
          </a:prstGeom>
          <a:solidFill>
            <a:srgbClr val="50658E">
              <a:alpha val="86895"/>
            </a:srgbClr>
          </a:solidFill>
          <a:ln>
            <a:noFill/>
          </a:ln>
        </p:spPr>
      </p:sp>
      <p:sp>
        <p:nvSpPr>
          <p:cNvPr id="36" name="wm.whiteboard.54.72"/>
          <p:cNvSpPr/>
          <p:nvPr/>
        </p:nvSpPr>
        <p:spPr>
          <a:xfrm>
            <a:off x="952500" y="1143000"/>
            <a:ext cx="38100" cy="38100"/>
          </a:xfrm>
          <a:prstGeom prst="rect">
            <a:avLst/>
          </a:prstGeom>
          <a:solidFill>
            <a:srgbClr val="50658E">
              <a:alpha val="73217"/>
            </a:srgbClr>
          </a:solidFill>
          <a:ln>
            <a:noFill/>
          </a:ln>
        </p:spPr>
      </p:sp>
      <p:sp>
        <p:nvSpPr>
          <p:cNvPr id="37" name="wm.whiteboard.54.90"/>
          <p:cNvSpPr/>
          <p:nvPr/>
        </p:nvSpPr>
        <p:spPr>
          <a:xfrm>
            <a:off x="952500" y="1371600"/>
            <a:ext cx="38100" cy="38100"/>
          </a:xfrm>
          <a:prstGeom prst="rect">
            <a:avLst/>
          </a:prstGeom>
          <a:solidFill>
            <a:srgbClr val="50658E">
              <a:alpha val="58541"/>
            </a:srgbClr>
          </a:solidFill>
          <a:ln>
            <a:noFill/>
          </a:ln>
        </p:spPr>
      </p:sp>
      <p:sp>
        <p:nvSpPr>
          <p:cNvPr id="38" name="wm.whiteboard.54.108"/>
          <p:cNvSpPr/>
          <p:nvPr/>
        </p:nvSpPr>
        <p:spPr>
          <a:xfrm>
            <a:off x="952500" y="1600200"/>
            <a:ext cx="38100" cy="38100"/>
          </a:xfrm>
          <a:prstGeom prst="rect">
            <a:avLst/>
          </a:prstGeom>
          <a:solidFill>
            <a:srgbClr val="50658E">
              <a:alpha val="43263"/>
            </a:srgbClr>
          </a:solidFill>
          <a:ln>
            <a:noFill/>
          </a:ln>
        </p:spPr>
      </p:sp>
      <p:sp>
        <p:nvSpPr>
          <p:cNvPr id="39" name="wm.whiteboard.54.126"/>
          <p:cNvSpPr/>
          <p:nvPr/>
        </p:nvSpPr>
        <p:spPr>
          <a:xfrm>
            <a:off x="952500" y="1828800"/>
            <a:ext cx="38100" cy="38100"/>
          </a:xfrm>
          <a:prstGeom prst="rect">
            <a:avLst/>
          </a:prstGeom>
          <a:solidFill>
            <a:srgbClr val="50658E">
              <a:alpha val="27603"/>
            </a:srgbClr>
          </a:solidFill>
          <a:ln>
            <a:noFill/>
          </a:ln>
        </p:spPr>
      </p:sp>
      <p:sp>
        <p:nvSpPr>
          <p:cNvPr id="40" name="wm.whiteboard.54.144"/>
          <p:cNvSpPr/>
          <p:nvPr/>
        </p:nvSpPr>
        <p:spPr>
          <a:xfrm>
            <a:off x="952500" y="2057400"/>
            <a:ext cx="38100" cy="38100"/>
          </a:xfrm>
          <a:prstGeom prst="rect">
            <a:avLst/>
          </a:prstGeom>
          <a:solidFill>
            <a:srgbClr val="50658E">
              <a:alpha val="11687"/>
            </a:srgbClr>
          </a:solidFill>
          <a:ln>
            <a:noFill/>
          </a:ln>
        </p:spPr>
      </p:sp>
      <p:sp>
        <p:nvSpPr>
          <p:cNvPr id="41" name="wm.whiteboard.72.0"/>
          <p:cNvSpPr/>
          <p:nvPr/>
        </p:nvSpPr>
        <p:spPr>
          <a:xfrm>
            <a:off x="1181100" y="228600"/>
            <a:ext cx="38100" cy="38100"/>
          </a:xfrm>
          <a:prstGeom prst="rect">
            <a:avLst/>
          </a:prstGeom>
          <a:solidFill>
            <a:srgbClr val="50658E">
              <a:alpha val="97572"/>
            </a:srgbClr>
          </a:solidFill>
          <a:ln>
            <a:noFill/>
          </a:ln>
        </p:spPr>
      </p:sp>
      <p:sp>
        <p:nvSpPr>
          <p:cNvPr id="42" name="wm.whiteboard.72.18"/>
          <p:cNvSpPr/>
          <p:nvPr/>
        </p:nvSpPr>
        <p:spPr>
          <a:xfrm>
            <a:off x="1181100" y="457200"/>
            <a:ext cx="38100" cy="38100"/>
          </a:xfrm>
          <a:prstGeom prst="rect">
            <a:avLst/>
          </a:prstGeom>
          <a:solidFill>
            <a:srgbClr val="50658E">
              <a:alpha val="94724"/>
            </a:srgbClr>
          </a:solidFill>
          <a:ln>
            <a:noFill/>
          </a:ln>
        </p:spPr>
      </p:sp>
      <p:sp>
        <p:nvSpPr>
          <p:cNvPr id="43" name="wm.whiteboard.72.36"/>
          <p:cNvSpPr/>
          <p:nvPr/>
        </p:nvSpPr>
        <p:spPr>
          <a:xfrm>
            <a:off x="1181100" y="685800"/>
            <a:ext cx="38100" cy="38100"/>
          </a:xfrm>
          <a:prstGeom prst="rect">
            <a:avLst/>
          </a:prstGeom>
          <a:solidFill>
            <a:srgbClr val="50658E">
              <a:alpha val="87609"/>
            </a:srgbClr>
          </a:solidFill>
          <a:ln>
            <a:noFill/>
          </a:ln>
        </p:spPr>
      </p:sp>
      <p:sp>
        <p:nvSpPr>
          <p:cNvPr id="44" name="wm.whiteboard.72.54"/>
          <p:cNvSpPr/>
          <p:nvPr/>
        </p:nvSpPr>
        <p:spPr>
          <a:xfrm>
            <a:off x="1181100" y="914400"/>
            <a:ext cx="38100" cy="38100"/>
          </a:xfrm>
          <a:prstGeom prst="rect">
            <a:avLst/>
          </a:prstGeom>
          <a:solidFill>
            <a:srgbClr val="50658E">
              <a:alpha val="77408"/>
            </a:srgbClr>
          </a:solidFill>
          <a:ln>
            <a:noFill/>
          </a:ln>
        </p:spPr>
      </p:sp>
      <p:sp>
        <p:nvSpPr>
          <p:cNvPr id="45" name="wm.whiteboard.72.72"/>
          <p:cNvSpPr/>
          <p:nvPr/>
        </p:nvSpPr>
        <p:spPr>
          <a:xfrm>
            <a:off x="1181100" y="1143000"/>
            <a:ext cx="38100" cy="38100"/>
          </a:xfrm>
          <a:prstGeom prst="rect">
            <a:avLst/>
          </a:prstGeom>
          <a:solidFill>
            <a:srgbClr val="50658E">
              <a:alpha val="65181"/>
            </a:srgbClr>
          </a:solidFill>
          <a:ln>
            <a:noFill/>
          </a:ln>
        </p:spPr>
      </p:sp>
      <p:sp>
        <p:nvSpPr>
          <p:cNvPr id="46" name="wm.whiteboard.72.90"/>
          <p:cNvSpPr/>
          <p:nvPr/>
        </p:nvSpPr>
        <p:spPr>
          <a:xfrm>
            <a:off x="1181100" y="1371600"/>
            <a:ext cx="38100" cy="38100"/>
          </a:xfrm>
          <a:prstGeom prst="rect">
            <a:avLst/>
          </a:prstGeom>
          <a:solidFill>
            <a:srgbClr val="50658E">
              <a:alpha val="51653"/>
            </a:srgbClr>
          </a:solidFill>
          <a:ln>
            <a:noFill/>
          </a:ln>
        </p:spPr>
      </p:sp>
      <p:sp>
        <p:nvSpPr>
          <p:cNvPr id="47" name="wm.whiteboard.72.108"/>
          <p:cNvSpPr/>
          <p:nvPr/>
        </p:nvSpPr>
        <p:spPr>
          <a:xfrm>
            <a:off x="1181100" y="1600200"/>
            <a:ext cx="38100" cy="38100"/>
          </a:xfrm>
          <a:prstGeom prst="rect">
            <a:avLst/>
          </a:prstGeom>
          <a:solidFill>
            <a:srgbClr val="50658E">
              <a:alpha val="37275"/>
            </a:srgbClr>
          </a:solidFill>
          <a:ln>
            <a:noFill/>
          </a:ln>
        </p:spPr>
      </p:sp>
      <p:sp>
        <p:nvSpPr>
          <p:cNvPr id="48" name="wm.whiteboard.72.126"/>
          <p:cNvSpPr/>
          <p:nvPr/>
        </p:nvSpPr>
        <p:spPr>
          <a:xfrm>
            <a:off x="1181100" y="1828800"/>
            <a:ext cx="38100" cy="38100"/>
          </a:xfrm>
          <a:prstGeom prst="rect">
            <a:avLst/>
          </a:prstGeom>
          <a:solidFill>
            <a:srgbClr val="50658E">
              <a:alpha val="22326"/>
            </a:srgbClr>
          </a:solidFill>
          <a:ln>
            <a:noFill/>
          </a:ln>
        </p:spPr>
      </p:sp>
      <p:sp>
        <p:nvSpPr>
          <p:cNvPr id="49" name="wm.whiteboard.72.144"/>
          <p:cNvSpPr/>
          <p:nvPr/>
        </p:nvSpPr>
        <p:spPr>
          <a:xfrm>
            <a:off x="1181100" y="2057400"/>
            <a:ext cx="38100" cy="38100"/>
          </a:xfrm>
          <a:prstGeom prst="rect">
            <a:avLst/>
          </a:prstGeom>
          <a:solidFill>
            <a:srgbClr val="50658E">
              <a:alpha val="6980"/>
            </a:srgbClr>
          </a:solidFill>
          <a:ln>
            <a:noFill/>
          </a:ln>
        </p:spPr>
      </p:sp>
      <p:sp>
        <p:nvSpPr>
          <p:cNvPr id="50" name="wm.whiteboard.90.0"/>
          <p:cNvSpPr/>
          <p:nvPr/>
        </p:nvSpPr>
        <p:spPr>
          <a:xfrm>
            <a:off x="1409700" y="228600"/>
            <a:ext cx="38100" cy="38100"/>
          </a:xfrm>
          <a:prstGeom prst="rect">
            <a:avLst/>
          </a:prstGeom>
          <a:solidFill>
            <a:srgbClr val="50658E">
              <a:alpha val="83798"/>
            </a:srgbClr>
          </a:solidFill>
          <a:ln>
            <a:noFill/>
          </a:ln>
        </p:spPr>
      </p:sp>
      <p:sp>
        <p:nvSpPr>
          <p:cNvPr id="51" name="wm.whiteboard.90.18"/>
          <p:cNvSpPr/>
          <p:nvPr/>
        </p:nvSpPr>
        <p:spPr>
          <a:xfrm>
            <a:off x="1409700" y="457200"/>
            <a:ext cx="38100" cy="38100"/>
          </a:xfrm>
          <a:prstGeom prst="rect">
            <a:avLst/>
          </a:prstGeom>
          <a:solidFill>
            <a:srgbClr val="50658E">
              <a:alpha val="81490"/>
            </a:srgbClr>
          </a:solidFill>
          <a:ln>
            <a:noFill/>
          </a:ln>
        </p:spPr>
      </p:sp>
      <p:sp>
        <p:nvSpPr>
          <p:cNvPr id="52" name="wm.whiteboard.90.36"/>
          <p:cNvSpPr/>
          <p:nvPr/>
        </p:nvSpPr>
        <p:spPr>
          <a:xfrm>
            <a:off x="1409700" y="685800"/>
            <a:ext cx="38100" cy="38100"/>
          </a:xfrm>
          <a:prstGeom prst="rect">
            <a:avLst/>
          </a:prstGeom>
          <a:solidFill>
            <a:srgbClr val="50658E">
              <a:alpha val="75569"/>
            </a:srgbClr>
          </a:solidFill>
          <a:ln>
            <a:noFill/>
          </a:ln>
        </p:spPr>
      </p:sp>
      <p:sp>
        <p:nvSpPr>
          <p:cNvPr id="53" name="wm.whiteboard.90.54"/>
          <p:cNvSpPr/>
          <p:nvPr/>
        </p:nvSpPr>
        <p:spPr>
          <a:xfrm>
            <a:off x="1409700" y="914400"/>
            <a:ext cx="38100" cy="38100"/>
          </a:xfrm>
          <a:prstGeom prst="rect">
            <a:avLst/>
          </a:prstGeom>
          <a:solidFill>
            <a:srgbClr val="50658E">
              <a:alpha val="66767"/>
            </a:srgbClr>
          </a:solidFill>
          <a:ln>
            <a:noFill/>
          </a:ln>
        </p:spPr>
      </p:sp>
      <p:sp>
        <p:nvSpPr>
          <p:cNvPr id="54" name="wm.whiteboard.90.72"/>
          <p:cNvSpPr/>
          <p:nvPr/>
        </p:nvSpPr>
        <p:spPr>
          <a:xfrm>
            <a:off x="1409700" y="1143000"/>
            <a:ext cx="38100" cy="38100"/>
          </a:xfrm>
          <a:prstGeom prst="rect">
            <a:avLst/>
          </a:prstGeom>
          <a:solidFill>
            <a:srgbClr val="50658E">
              <a:alpha val="55859"/>
            </a:srgbClr>
          </a:solidFill>
          <a:ln>
            <a:noFill/>
          </a:ln>
        </p:spPr>
      </p:sp>
      <p:sp>
        <p:nvSpPr>
          <p:cNvPr id="55" name="wm.whiteboard.90.90"/>
          <p:cNvSpPr/>
          <p:nvPr/>
        </p:nvSpPr>
        <p:spPr>
          <a:xfrm>
            <a:off x="1409700" y="1371600"/>
            <a:ext cx="38100" cy="38100"/>
          </a:xfrm>
          <a:prstGeom prst="rect">
            <a:avLst/>
          </a:prstGeom>
          <a:solidFill>
            <a:srgbClr val="50658E">
              <a:alpha val="43468"/>
            </a:srgbClr>
          </a:solidFill>
          <a:ln>
            <a:noFill/>
          </a:ln>
        </p:spPr>
      </p:sp>
      <p:sp>
        <p:nvSpPr>
          <p:cNvPr id="56" name="wm.whiteboard.90.108"/>
          <p:cNvSpPr/>
          <p:nvPr/>
        </p:nvSpPr>
        <p:spPr>
          <a:xfrm>
            <a:off x="1409700" y="1600200"/>
            <a:ext cx="38100" cy="38100"/>
          </a:xfrm>
          <a:prstGeom prst="rect">
            <a:avLst/>
          </a:prstGeom>
          <a:solidFill>
            <a:srgbClr val="50658E">
              <a:alpha val="30037"/>
            </a:srgbClr>
          </a:solidFill>
          <a:ln>
            <a:noFill/>
          </a:ln>
        </p:spPr>
      </p:sp>
      <p:sp>
        <p:nvSpPr>
          <p:cNvPr id="57" name="wm.whiteboard.90.126"/>
          <p:cNvSpPr/>
          <p:nvPr/>
        </p:nvSpPr>
        <p:spPr>
          <a:xfrm>
            <a:off x="1409700" y="1828800"/>
            <a:ext cx="38100" cy="38100"/>
          </a:xfrm>
          <a:prstGeom prst="rect">
            <a:avLst/>
          </a:prstGeom>
          <a:solidFill>
            <a:srgbClr val="50658E">
              <a:alpha val="15870"/>
            </a:srgbClr>
          </a:solidFill>
          <a:ln>
            <a:noFill/>
          </a:ln>
        </p:spPr>
      </p:sp>
      <p:sp>
        <p:nvSpPr>
          <p:cNvPr id="58" name="wm.whiteboard.90.144"/>
          <p:cNvSpPr/>
          <p:nvPr/>
        </p:nvSpPr>
        <p:spPr>
          <a:xfrm>
            <a:off x="1409700" y="2057400"/>
            <a:ext cx="38100" cy="38100"/>
          </a:xfrm>
          <a:prstGeom prst="rect">
            <a:avLst/>
          </a:prstGeom>
          <a:solidFill>
            <a:srgbClr val="50658E">
              <a:alpha val="1171"/>
            </a:srgbClr>
          </a:solidFill>
          <a:ln>
            <a:noFill/>
          </a:ln>
        </p:spPr>
      </p:sp>
      <p:sp>
        <p:nvSpPr>
          <p:cNvPr id="59" name="wm.whiteboard.108.0"/>
          <p:cNvSpPr/>
          <p:nvPr/>
        </p:nvSpPr>
        <p:spPr>
          <a:xfrm>
            <a:off x="1638300" y="228600"/>
            <a:ext cx="38100" cy="38100"/>
          </a:xfrm>
          <a:prstGeom prst="rect">
            <a:avLst/>
          </a:prstGeom>
          <a:solidFill>
            <a:srgbClr val="50658E">
              <a:alpha val="70023"/>
            </a:srgbClr>
          </a:solidFill>
          <a:ln>
            <a:noFill/>
          </a:ln>
        </p:spPr>
      </p:sp>
      <p:sp>
        <p:nvSpPr>
          <p:cNvPr id="60" name="wm.whiteboard.108.18"/>
          <p:cNvSpPr/>
          <p:nvPr/>
        </p:nvSpPr>
        <p:spPr>
          <a:xfrm>
            <a:off x="1638300" y="457200"/>
            <a:ext cx="38100" cy="38100"/>
          </a:xfrm>
          <a:prstGeom prst="rect">
            <a:avLst/>
          </a:prstGeom>
          <a:solidFill>
            <a:srgbClr val="50658E">
              <a:alpha val="68085"/>
            </a:srgbClr>
          </a:solidFill>
          <a:ln>
            <a:noFill/>
          </a:ln>
        </p:spPr>
      </p:sp>
      <p:sp>
        <p:nvSpPr>
          <p:cNvPr id="61" name="wm.whiteboard.108.36"/>
          <p:cNvSpPr/>
          <p:nvPr/>
        </p:nvSpPr>
        <p:spPr>
          <a:xfrm>
            <a:off x="1638300" y="685800"/>
            <a:ext cx="38100" cy="38100"/>
          </a:xfrm>
          <a:prstGeom prst="rect">
            <a:avLst/>
          </a:prstGeom>
          <a:solidFill>
            <a:srgbClr val="50658E">
              <a:alpha val="63033"/>
            </a:srgbClr>
          </a:solidFill>
          <a:ln>
            <a:noFill/>
          </a:ln>
        </p:spPr>
      </p:sp>
      <p:sp>
        <p:nvSpPr>
          <p:cNvPr id="62" name="wm.whiteboard.108.54"/>
          <p:cNvSpPr/>
          <p:nvPr/>
        </p:nvSpPr>
        <p:spPr>
          <a:xfrm>
            <a:off x="1638300" y="914400"/>
            <a:ext cx="38100" cy="38100"/>
          </a:xfrm>
          <a:prstGeom prst="rect">
            <a:avLst/>
          </a:prstGeom>
          <a:solidFill>
            <a:srgbClr val="50658E">
              <a:alpha val="55346"/>
            </a:srgbClr>
          </a:solidFill>
          <a:ln>
            <a:noFill/>
          </a:ln>
        </p:spPr>
      </p:sp>
      <p:sp>
        <p:nvSpPr>
          <p:cNvPr id="63" name="wm.whiteboard.108.72"/>
          <p:cNvSpPr/>
          <p:nvPr/>
        </p:nvSpPr>
        <p:spPr>
          <a:xfrm>
            <a:off x="1638300" y="1143000"/>
            <a:ext cx="38100" cy="38100"/>
          </a:xfrm>
          <a:prstGeom prst="rect">
            <a:avLst/>
          </a:prstGeom>
          <a:solidFill>
            <a:srgbClr val="50658E">
              <a:alpha val="45583"/>
            </a:srgbClr>
          </a:solidFill>
          <a:ln>
            <a:noFill/>
          </a:ln>
        </p:spPr>
      </p:sp>
      <p:sp>
        <p:nvSpPr>
          <p:cNvPr id="64" name="wm.whiteboard.108.90"/>
          <p:cNvSpPr/>
          <p:nvPr/>
        </p:nvSpPr>
        <p:spPr>
          <a:xfrm>
            <a:off x="1638300" y="1371600"/>
            <a:ext cx="38100" cy="38100"/>
          </a:xfrm>
          <a:prstGeom prst="rect">
            <a:avLst/>
          </a:prstGeom>
          <a:solidFill>
            <a:srgbClr val="50658E">
              <a:alpha val="34251"/>
            </a:srgbClr>
          </a:solidFill>
          <a:ln>
            <a:noFill/>
          </a:ln>
        </p:spPr>
      </p:sp>
      <p:sp>
        <p:nvSpPr>
          <p:cNvPr id="65" name="wm.whiteboard.108.108"/>
          <p:cNvSpPr/>
          <p:nvPr/>
        </p:nvSpPr>
        <p:spPr>
          <a:xfrm>
            <a:off x="1638300" y="1600200"/>
            <a:ext cx="38100" cy="38100"/>
          </a:xfrm>
          <a:prstGeom prst="rect">
            <a:avLst/>
          </a:prstGeom>
          <a:solidFill>
            <a:srgbClr val="50658E">
              <a:alpha val="21754"/>
            </a:srgbClr>
          </a:solidFill>
          <a:ln>
            <a:noFill/>
          </a:ln>
        </p:spPr>
      </p:sp>
      <p:sp>
        <p:nvSpPr>
          <p:cNvPr id="66" name="wm.whiteboard.108.126"/>
          <p:cNvSpPr/>
          <p:nvPr/>
        </p:nvSpPr>
        <p:spPr>
          <a:xfrm>
            <a:off x="1638300" y="1828800"/>
            <a:ext cx="38100" cy="38100"/>
          </a:xfrm>
          <a:prstGeom prst="rect">
            <a:avLst/>
          </a:prstGeom>
          <a:solidFill>
            <a:srgbClr val="50658E">
              <a:alpha val="8391"/>
            </a:srgbClr>
          </a:solidFill>
          <a:ln>
            <a:noFill/>
          </a:ln>
        </p:spPr>
      </p:sp>
      <p:sp>
        <p:nvSpPr>
          <p:cNvPr id="67" name="wm.whiteboard.126.0"/>
          <p:cNvSpPr/>
          <p:nvPr/>
        </p:nvSpPr>
        <p:spPr>
          <a:xfrm>
            <a:off x="1866900" y="228600"/>
            <a:ext cx="38100" cy="38100"/>
          </a:xfrm>
          <a:prstGeom prst="rect">
            <a:avLst/>
          </a:prstGeom>
          <a:solidFill>
            <a:srgbClr val="50658E">
              <a:alpha val="56247"/>
            </a:srgbClr>
          </a:solidFill>
          <a:ln>
            <a:noFill/>
          </a:ln>
        </p:spPr>
      </p:sp>
      <p:sp>
        <p:nvSpPr>
          <p:cNvPr id="68" name="wm.whiteboard.126.18"/>
          <p:cNvSpPr/>
          <p:nvPr/>
        </p:nvSpPr>
        <p:spPr>
          <a:xfrm>
            <a:off x="1866900" y="457200"/>
            <a:ext cx="38100" cy="38100"/>
          </a:xfrm>
          <a:prstGeom prst="rect">
            <a:avLst/>
          </a:prstGeom>
          <a:solidFill>
            <a:srgbClr val="50658E">
              <a:alpha val="54578"/>
            </a:srgbClr>
          </a:solidFill>
          <a:ln>
            <a:noFill/>
          </a:ln>
        </p:spPr>
      </p:sp>
      <p:sp>
        <p:nvSpPr>
          <p:cNvPr id="69" name="wm.whiteboard.126.36"/>
          <p:cNvSpPr/>
          <p:nvPr/>
        </p:nvSpPr>
        <p:spPr>
          <a:xfrm>
            <a:off x="1866900" y="685800"/>
            <a:ext cx="38100" cy="38100"/>
          </a:xfrm>
          <a:prstGeom prst="rect">
            <a:avLst/>
          </a:prstGeom>
          <a:solidFill>
            <a:srgbClr val="50658E">
              <a:alpha val="50182"/>
            </a:srgbClr>
          </a:solidFill>
          <a:ln>
            <a:noFill/>
          </a:ln>
        </p:spPr>
      </p:sp>
      <p:sp>
        <p:nvSpPr>
          <p:cNvPr id="70" name="wm.whiteboard.126.54"/>
          <p:cNvSpPr/>
          <p:nvPr/>
        </p:nvSpPr>
        <p:spPr>
          <a:xfrm>
            <a:off x="1866900" y="914400"/>
            <a:ext cx="38100" cy="38100"/>
          </a:xfrm>
          <a:prstGeom prst="rect">
            <a:avLst/>
          </a:prstGeom>
          <a:solidFill>
            <a:srgbClr val="50658E">
              <a:alpha val="43386"/>
            </a:srgbClr>
          </a:solidFill>
          <a:ln>
            <a:noFill/>
          </a:ln>
        </p:spPr>
      </p:sp>
      <p:sp>
        <p:nvSpPr>
          <p:cNvPr id="71" name="wm.whiteboard.126.72"/>
          <p:cNvSpPr/>
          <p:nvPr/>
        </p:nvSpPr>
        <p:spPr>
          <a:xfrm>
            <a:off x="1866900" y="1143000"/>
            <a:ext cx="38100" cy="38100"/>
          </a:xfrm>
          <a:prstGeom prst="rect">
            <a:avLst/>
          </a:prstGeom>
          <a:solidFill>
            <a:srgbClr val="50658E">
              <a:alpha val="34598"/>
            </a:srgbClr>
          </a:solidFill>
          <a:ln>
            <a:noFill/>
          </a:ln>
        </p:spPr>
      </p:sp>
      <p:sp>
        <p:nvSpPr>
          <p:cNvPr id="72" name="wm.whiteboard.126.90"/>
          <p:cNvSpPr/>
          <p:nvPr/>
        </p:nvSpPr>
        <p:spPr>
          <a:xfrm>
            <a:off x="1866900" y="1371600"/>
            <a:ext cx="38100" cy="38100"/>
          </a:xfrm>
          <a:prstGeom prst="rect">
            <a:avLst/>
          </a:prstGeom>
          <a:solidFill>
            <a:srgbClr val="50658E">
              <a:alpha val="24223"/>
            </a:srgbClr>
          </a:solidFill>
          <a:ln>
            <a:noFill/>
          </a:ln>
        </p:spPr>
      </p:sp>
      <p:sp>
        <p:nvSpPr>
          <p:cNvPr id="73" name="wm.whiteboard.126.108"/>
          <p:cNvSpPr/>
          <p:nvPr/>
        </p:nvSpPr>
        <p:spPr>
          <a:xfrm>
            <a:off x="1866900" y="1600200"/>
            <a:ext cx="38100" cy="38100"/>
          </a:xfrm>
          <a:prstGeom prst="rect">
            <a:avLst/>
          </a:prstGeom>
          <a:solidFill>
            <a:srgbClr val="50658E">
              <a:alpha val="12610"/>
            </a:srgbClr>
          </a:solidFill>
          <a:ln>
            <a:noFill/>
          </a:ln>
        </p:spPr>
      </p:sp>
      <p:sp>
        <p:nvSpPr>
          <p:cNvPr id="74" name="wm.whiteboard.126.126"/>
          <p:cNvSpPr/>
          <p:nvPr/>
        </p:nvSpPr>
        <p:spPr>
          <a:xfrm>
            <a:off x="1866900" y="1828800"/>
            <a:ext cx="38100" cy="38100"/>
          </a:xfrm>
          <a:prstGeom prst="rect">
            <a:avLst/>
          </a:prstGeom>
          <a:solidFill>
            <a:srgbClr val="50658E">
              <a:alpha val="40"/>
            </a:srgbClr>
          </a:solidFill>
          <a:ln>
            <a:noFill/>
          </a:ln>
        </p:spPr>
      </p:sp>
      <p:sp>
        <p:nvSpPr>
          <p:cNvPr id="75" name="wm.whiteboard.144.0"/>
          <p:cNvSpPr/>
          <p:nvPr/>
        </p:nvSpPr>
        <p:spPr>
          <a:xfrm>
            <a:off x="2095500" y="228600"/>
            <a:ext cx="38100" cy="38100"/>
          </a:xfrm>
          <a:prstGeom prst="rect">
            <a:avLst/>
          </a:prstGeom>
          <a:solidFill>
            <a:srgbClr val="50658E">
              <a:alpha val="42471"/>
            </a:srgbClr>
          </a:solidFill>
          <a:ln>
            <a:noFill/>
          </a:ln>
        </p:spPr>
      </p:sp>
      <p:sp>
        <p:nvSpPr>
          <p:cNvPr id="76" name="wm.whiteboard.144.18"/>
          <p:cNvSpPr/>
          <p:nvPr/>
        </p:nvSpPr>
        <p:spPr>
          <a:xfrm>
            <a:off x="2095500" y="457200"/>
            <a:ext cx="38100" cy="38100"/>
          </a:xfrm>
          <a:prstGeom prst="rect">
            <a:avLst/>
          </a:prstGeom>
          <a:solidFill>
            <a:srgbClr val="50658E">
              <a:alpha val="41005"/>
            </a:srgbClr>
          </a:solidFill>
          <a:ln>
            <a:noFill/>
          </a:ln>
        </p:spPr>
      </p:sp>
      <p:sp>
        <p:nvSpPr>
          <p:cNvPr id="77" name="wm.whiteboard.144.36"/>
          <p:cNvSpPr/>
          <p:nvPr/>
        </p:nvSpPr>
        <p:spPr>
          <a:xfrm>
            <a:off x="2095500" y="685800"/>
            <a:ext cx="38100" cy="38100"/>
          </a:xfrm>
          <a:prstGeom prst="rect">
            <a:avLst/>
          </a:prstGeom>
          <a:solidFill>
            <a:srgbClr val="50658E">
              <a:alpha val="37120"/>
            </a:srgbClr>
          </a:solidFill>
          <a:ln>
            <a:noFill/>
          </a:ln>
        </p:spPr>
      </p:sp>
      <p:sp>
        <p:nvSpPr>
          <p:cNvPr id="78" name="wm.whiteboard.144.54"/>
          <p:cNvSpPr/>
          <p:nvPr/>
        </p:nvSpPr>
        <p:spPr>
          <a:xfrm>
            <a:off x="2095500" y="914400"/>
            <a:ext cx="38100" cy="38100"/>
          </a:xfrm>
          <a:prstGeom prst="rect">
            <a:avLst/>
          </a:prstGeom>
          <a:solidFill>
            <a:srgbClr val="50658E">
              <a:alpha val="31044"/>
            </a:srgbClr>
          </a:solidFill>
          <a:ln>
            <a:noFill/>
          </a:ln>
        </p:spPr>
      </p:sp>
      <p:sp>
        <p:nvSpPr>
          <p:cNvPr id="79" name="wm.whiteboard.144.72"/>
          <p:cNvSpPr/>
          <p:nvPr/>
        </p:nvSpPr>
        <p:spPr>
          <a:xfrm>
            <a:off x="2095500" y="1143000"/>
            <a:ext cx="38100" cy="38100"/>
          </a:xfrm>
          <a:prstGeom prst="rect">
            <a:avLst/>
          </a:prstGeom>
          <a:solidFill>
            <a:srgbClr val="50658E">
              <a:alpha val="23083"/>
            </a:srgbClr>
          </a:solidFill>
          <a:ln>
            <a:noFill/>
          </a:ln>
        </p:spPr>
      </p:sp>
      <p:sp>
        <p:nvSpPr>
          <p:cNvPr id="80" name="wm.whiteboard.144.90"/>
          <p:cNvSpPr/>
          <p:nvPr/>
        </p:nvSpPr>
        <p:spPr>
          <a:xfrm>
            <a:off x="2095500" y="1371600"/>
            <a:ext cx="38100" cy="38100"/>
          </a:xfrm>
          <a:prstGeom prst="rect">
            <a:avLst/>
          </a:prstGeom>
          <a:solidFill>
            <a:srgbClr val="50658E">
              <a:alpha val="13557"/>
            </a:srgbClr>
          </a:solidFill>
          <a:ln>
            <a:noFill/>
          </a:ln>
        </p:spPr>
      </p:sp>
      <p:sp>
        <p:nvSpPr>
          <p:cNvPr id="81" name="wm.whiteboard.144.108"/>
          <p:cNvSpPr/>
          <p:nvPr/>
        </p:nvSpPr>
        <p:spPr>
          <a:xfrm>
            <a:off x="2095500" y="1600200"/>
            <a:ext cx="38100" cy="38100"/>
          </a:xfrm>
          <a:prstGeom prst="rect">
            <a:avLst/>
          </a:prstGeom>
          <a:solidFill>
            <a:srgbClr val="50658E">
              <a:alpha val="2762"/>
            </a:srgbClr>
          </a:solidFill>
          <a:ln>
            <a:noFill/>
          </a:ln>
        </p:spPr>
      </p:sp>
      <p:sp>
        <p:nvSpPr>
          <p:cNvPr id="82" name="wm.whiteboard.162.0"/>
          <p:cNvSpPr/>
          <p:nvPr/>
        </p:nvSpPr>
        <p:spPr>
          <a:xfrm>
            <a:off x="2324100" y="228600"/>
            <a:ext cx="38100" cy="38100"/>
          </a:xfrm>
          <a:prstGeom prst="rect">
            <a:avLst/>
          </a:prstGeom>
          <a:solidFill>
            <a:srgbClr val="50658E">
              <a:alpha val="28695"/>
            </a:srgbClr>
          </a:solidFill>
          <a:ln>
            <a:noFill/>
          </a:ln>
        </p:spPr>
      </p:sp>
      <p:sp>
        <p:nvSpPr>
          <p:cNvPr id="83" name="wm.whiteboard.162.18"/>
          <p:cNvSpPr/>
          <p:nvPr/>
        </p:nvSpPr>
        <p:spPr>
          <a:xfrm>
            <a:off x="2324100" y="457200"/>
            <a:ext cx="38100" cy="38100"/>
          </a:xfrm>
          <a:prstGeom prst="rect">
            <a:avLst/>
          </a:prstGeom>
          <a:solidFill>
            <a:srgbClr val="50658E">
              <a:alpha val="27389"/>
            </a:srgbClr>
          </a:solidFill>
          <a:ln>
            <a:noFill/>
          </a:ln>
        </p:spPr>
      </p:sp>
      <p:sp>
        <p:nvSpPr>
          <p:cNvPr id="84" name="wm.whiteboard.162.36"/>
          <p:cNvSpPr/>
          <p:nvPr/>
        </p:nvSpPr>
        <p:spPr>
          <a:xfrm>
            <a:off x="2324100" y="685800"/>
            <a:ext cx="38100" cy="38100"/>
          </a:xfrm>
          <a:prstGeom prst="rect">
            <a:avLst/>
          </a:prstGeom>
          <a:solidFill>
            <a:srgbClr val="50658E">
              <a:alpha val="23910"/>
            </a:srgbClr>
          </a:solidFill>
          <a:ln>
            <a:noFill/>
          </a:ln>
        </p:spPr>
      </p:sp>
      <p:sp>
        <p:nvSpPr>
          <p:cNvPr id="85" name="wm.whiteboard.162.54"/>
          <p:cNvSpPr/>
          <p:nvPr/>
        </p:nvSpPr>
        <p:spPr>
          <a:xfrm>
            <a:off x="2324100" y="914400"/>
            <a:ext cx="38100" cy="38100"/>
          </a:xfrm>
          <a:prstGeom prst="rect">
            <a:avLst/>
          </a:prstGeom>
          <a:solidFill>
            <a:srgbClr val="50658E">
              <a:alpha val="18425"/>
            </a:srgbClr>
          </a:solidFill>
          <a:ln>
            <a:noFill/>
          </a:ln>
        </p:spPr>
      </p:sp>
      <p:sp>
        <p:nvSpPr>
          <p:cNvPr id="86" name="wm.whiteboard.162.72"/>
          <p:cNvSpPr/>
          <p:nvPr/>
        </p:nvSpPr>
        <p:spPr>
          <a:xfrm>
            <a:off x="2324100" y="1143000"/>
            <a:ext cx="38100" cy="38100"/>
          </a:xfrm>
          <a:prstGeom prst="rect">
            <a:avLst/>
          </a:prstGeom>
          <a:solidFill>
            <a:srgbClr val="50658E">
              <a:alpha val="11167"/>
            </a:srgbClr>
          </a:solidFill>
          <a:ln>
            <a:noFill/>
          </a:ln>
        </p:spPr>
      </p:sp>
      <p:sp>
        <p:nvSpPr>
          <p:cNvPr id="87" name="wm.whiteboard.162.90"/>
          <p:cNvSpPr/>
          <p:nvPr/>
        </p:nvSpPr>
        <p:spPr>
          <a:xfrm>
            <a:off x="2324100" y="1371600"/>
            <a:ext cx="38100" cy="38100"/>
          </a:xfrm>
          <a:prstGeom prst="rect">
            <a:avLst/>
          </a:prstGeom>
          <a:solidFill>
            <a:srgbClr val="50658E">
              <a:alpha val="2388"/>
            </a:srgbClr>
          </a:solidFill>
          <a:ln>
            <a:noFill/>
          </a:ln>
        </p:spPr>
      </p:sp>
      <p:sp>
        <p:nvSpPr>
          <p:cNvPr id="88" name="wm.whiteboard.180.0"/>
          <p:cNvSpPr/>
          <p:nvPr/>
        </p:nvSpPr>
        <p:spPr>
          <a:xfrm>
            <a:off x="2552700" y="228600"/>
            <a:ext cx="38100" cy="38100"/>
          </a:xfrm>
          <a:prstGeom prst="rect">
            <a:avLst/>
          </a:prstGeom>
          <a:solidFill>
            <a:srgbClr val="50658E">
              <a:alpha val="14918"/>
            </a:srgbClr>
          </a:solidFill>
          <a:ln>
            <a:noFill/>
          </a:ln>
        </p:spPr>
      </p:sp>
      <p:sp>
        <p:nvSpPr>
          <p:cNvPr id="89" name="wm.whiteboard.180.18"/>
          <p:cNvSpPr/>
          <p:nvPr/>
        </p:nvSpPr>
        <p:spPr>
          <a:xfrm>
            <a:off x="2552700" y="457200"/>
            <a:ext cx="38100" cy="38100"/>
          </a:xfrm>
          <a:prstGeom prst="rect">
            <a:avLst/>
          </a:prstGeom>
          <a:solidFill>
            <a:srgbClr val="50658E">
              <a:alpha val="13741"/>
            </a:srgbClr>
          </a:solidFill>
          <a:ln>
            <a:noFill/>
          </a:ln>
        </p:spPr>
      </p:sp>
      <p:sp>
        <p:nvSpPr>
          <p:cNvPr id="90" name="wm.whiteboard.180.36"/>
          <p:cNvSpPr/>
          <p:nvPr/>
        </p:nvSpPr>
        <p:spPr>
          <a:xfrm>
            <a:off x="2552700" y="685800"/>
            <a:ext cx="38100" cy="38100"/>
          </a:xfrm>
          <a:prstGeom prst="rect">
            <a:avLst/>
          </a:prstGeom>
          <a:solidFill>
            <a:srgbClr val="50658E">
              <a:alpha val="10593"/>
            </a:srgbClr>
          </a:solidFill>
          <a:ln>
            <a:noFill/>
          </a:ln>
        </p:spPr>
      </p:sp>
      <p:sp>
        <p:nvSpPr>
          <p:cNvPr id="91" name="wm.whiteboard.180.54"/>
          <p:cNvSpPr/>
          <p:nvPr/>
        </p:nvSpPr>
        <p:spPr>
          <a:xfrm>
            <a:off x="2552700" y="914400"/>
            <a:ext cx="38100" cy="38100"/>
          </a:xfrm>
          <a:prstGeom prst="rect">
            <a:avLst/>
          </a:prstGeom>
          <a:solidFill>
            <a:srgbClr val="50658E">
              <a:alpha val="5600"/>
            </a:srgbClr>
          </a:solidFill>
          <a:ln>
            <a:noFill/>
          </a:ln>
        </p:spPr>
      </p:sp>
      <p:sp>
        <p:nvSpPr>
          <p:cNvPr id="92" name="wm.whiteboard.198.0"/>
          <p:cNvSpPr/>
          <p:nvPr/>
        </p:nvSpPr>
        <p:spPr>
          <a:xfrm>
            <a:off x="2781300" y="228600"/>
            <a:ext cx="38100" cy="38100"/>
          </a:xfrm>
          <a:prstGeom prst="rect">
            <a:avLst/>
          </a:prstGeom>
          <a:solidFill>
            <a:srgbClr val="50658E">
              <a:alpha val="1142"/>
            </a:srgbClr>
          </a:solidFill>
          <a:ln>
            <a:noFill/>
          </a:ln>
        </p:spPr>
      </p:sp>
      <p:sp>
        <p:nvSpPr>
          <p:cNvPr id="93" name="wm.whiteboard.198.18"/>
          <p:cNvSpPr/>
          <p:nvPr/>
        </p:nvSpPr>
        <p:spPr>
          <a:xfrm>
            <a:off x="2781300" y="457200"/>
            <a:ext cx="38100" cy="38100"/>
          </a:xfrm>
          <a:prstGeom prst="rect">
            <a:avLst/>
          </a:prstGeom>
          <a:solidFill>
            <a:srgbClr val="50658E">
              <a:alpha val="69"/>
            </a:srgbClr>
          </a:solidFill>
          <a:ln>
            <a:noFill/>
          </a:ln>
        </p:spPr>
      </p:sp>
      <p:pic>
        <p:nvPicPr>
          <p:cNvPr id="9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5"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CED7E6"/>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CED7E6"/>
              </a:solidFill>
              <a:latin typeface="IBM Plex Mono"/>
              <a:ea typeface="IBM Plex Mono"/>
              <a:cs typeface="IBM Plex Mon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wmds.frame.63c4c61309101dc27f34">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pic>
        <p:nvPicPr>
          <p:cNvPr id="9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5"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02-2.svg"/><Relationship Id="rId3" Type="http://schemas.openxmlformats.org/officeDocument/2006/relationships/image" Target="../media/image-1-3.png"/><Relationship Id="rId4" Type="http://schemas.openxmlformats.org/officeDocument/2006/relationships/image" Target="../media/image-1-4.jpe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image" Target="../media/image-1-3.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1-3.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1-3.png"/><Relationship Id="rId6" Type="http://schemas.openxmlformats.org/officeDocument/2006/relationships/slideLayout" Target="../slideLayouts/slideLayout3.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1-3.png"/><Relationship Id="rId6" Type="http://schemas.openxmlformats.org/officeDocument/2006/relationships/slideLayout" Target="../slideLayouts/slideLayout3.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1-3.png"/><Relationship Id="rId6" Type="http://schemas.openxmlformats.org/officeDocument/2006/relationships/slideLayout" Target="../slideLayouts/slideLayout3.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1-3.png"/><Relationship Id="rId6" Type="http://schemas.openxmlformats.org/officeDocument/2006/relationships/slideLayout" Target="../slideLayouts/slideLayout3.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1-3.png"/><Relationship Id="rId6" Type="http://schemas.openxmlformats.org/officeDocument/2006/relationships/slideLayout" Target="../slideLayouts/slideLayout3.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1-3.png"/><Relationship Id="rId6" Type="http://schemas.openxmlformats.org/officeDocument/2006/relationships/slideLayout" Target="../slideLayouts/slideLayout3.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3.png"/><Relationship Id="rId3" Type="http://schemas.openxmlformats.org/officeDocument/2006/relationships/slideLayout" Target="../slideLayouts/slideLayout3.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1-3.png"/><Relationship Id="rId6" Type="http://schemas.openxmlformats.org/officeDocument/2006/relationships/slideLayout" Target="../slideLayouts/slideLayout3.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1-3.png"/><Relationship Id="rId6" Type="http://schemas.openxmlformats.org/officeDocument/2006/relationships/slideLayout" Target="../slideLayouts/slideLayout3.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1-3.png"/><Relationship Id="rId6" Type="http://schemas.openxmlformats.org/officeDocument/2006/relationships/slideLayout" Target="../slideLayouts/slideLayout3.xml"/><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1-3.png"/><Relationship Id="rId6" Type="http://schemas.openxmlformats.org/officeDocument/2006/relationships/slideLayout" Target="../slideLayouts/slideLayout3.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dxc-001">
    <p:spTree>
      <p:nvGrpSpPr>
        <p:cNvPr id="1" name=""/>
        <p:cNvGrpSpPr/>
        <p:nvPr/>
      </p:nvGrpSpPr>
      <p:grpSpPr>
        <a:xfrm>
          <a:off x="0" y="0"/>
          <a:ext cx="0" cy="0"/>
          <a:chOff x="0" y="0"/>
          <a:chExt cx="0" cy="0"/>
        </a:xfrm>
      </p:grpSpPr>
      <p:grpSp>
        <p:nvGrpSpPr>
          <p:cNvPr id="11" name="wm-logo"/>
          <p:cNvGrpSpPr/>
          <p:nvPr/>
        </p:nvGrpSpPr>
        <p:grpSpPr>
          <a:xfrm>
            <a:off x="723900" y="685800"/>
            <a:ext cx="1600200" cy="334342"/>
            <a:chOff x="723900" y="685800"/>
            <a:chExt cx="1600200" cy="334342"/>
          </a:xfrm>
        </p:grpSpPr>
        <p:pic>
          <p:nvPicPr>
            <p:cNvPr id="4" name="wm-logo.image" descr="logo-pos; canonical SHA256=1792d6399d80ca979fc609aa50c9cc0dc1b9358132748180df858fb82ad39d86">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85800"/>
              <a:ext cx="1600200" cy="334342"/>
            </a:xfrm>
            <a:prstGeom prst="rect">
              <a:avLst/>
            </a:prstGeom>
          </p:spPr>
        </p:pic>
      </p:grpSp>
      <p:grpSp>
        <p:nvGrpSpPr>
          <p:cNvPr id="12" name="client-logo"/>
          <p:cNvGrpSpPr/>
          <p:nvPr/>
        </p:nvGrpSpPr>
        <p:grpSpPr>
          <a:xfrm>
            <a:off x="4581525" y="685800"/>
            <a:ext cx="1200150" cy="533400"/>
            <a:chOff x="4581525" y="685800"/>
            <a:chExt cx="1200150" cy="533400"/>
          </a:xfrm>
        </p:grpSpPr>
        <p:pic>
          <p:nvPicPr>
            <p:cNvPr id="5" name="client-logo.image" descr="Exact original DentalXChange asset ppt/media/image31.png; project:source-image31; canonical SHA256=51385b7813333a7f4207d77364f6a318acc4d148486d489c8a87f115754c251f">    </p:cNvPr>
            <p:cNvPicPr>
              <a:picLocks noChangeAspect="1"/>
            </p:cNvPicPr>
            <p:nvPr/>
          </p:nvPicPr>
          <p:blipFill>
            <a:blip r:embed="rId3"/>
            <a:stretch>
              <a:fillRect/>
            </a:stretch>
          </p:blipFill>
          <p:spPr>
            <a:xfrm>
              <a:off x="4581525" y="685800"/>
              <a:ext cx="1200150" cy="533400"/>
            </a:xfrm>
            <a:prstGeom prst="rect">
              <a:avLst/>
            </a:prstGeom>
          </p:spPr>
        </p:pic>
      </p:grpSp>
      <p:grpSp>
        <p:nvGrpSpPr>
          <p:cNvPr id="13" name="context"/>
          <p:cNvGrpSpPr/>
          <p:nvPr/>
        </p:nvGrpSpPr>
        <p:grpSpPr>
          <a:xfrm>
            <a:off x="723900" y="2209800"/>
            <a:ext cx="5486400" cy="304800"/>
            <a:chOff x="723900" y="2209800"/>
            <a:chExt cx="5486400" cy="304800"/>
          </a:xfrm>
        </p:grpSpPr>
        <p:sp>
          <p:nvSpPr>
            <p:cNvPr id="6" name="context.text"/>
            <p:cNvSpPr/>
            <p:nvPr/>
          </p:nvSpPr>
          <p:spPr>
            <a:xfrm>
              <a:off x="723900" y="2209800"/>
              <a:ext cx="5486400" cy="3048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PHASE 1 FINAL DELIVERABLE</a:t>
              </a:r>
              <a:endParaRPr lang="en-US" sz="1000" spc="80" kern="0" b="0" i="0" dirty="0">
                <a:solidFill>
                  <a:srgbClr val="0047FF"/>
                </a:solidFill>
                <a:latin typeface="IBM Plex Mono SemiBold"/>
                <a:ea typeface="IBM Plex Mono SemiBold"/>
                <a:cs typeface="IBM Plex Mono SemiBold"/>
              </a:endParaRPr>
            </a:p>
          </p:txBody>
        </p:sp>
      </p:grpSp>
      <p:grpSp>
        <p:nvGrpSpPr>
          <p:cNvPr id="14" name="headline"/>
          <p:cNvGrpSpPr/>
          <p:nvPr/>
        </p:nvGrpSpPr>
        <p:grpSpPr>
          <a:xfrm>
            <a:off x="723900" y="2590800"/>
            <a:ext cx="5486400" cy="1676400"/>
            <a:chOff x="723900" y="2590800"/>
            <a:chExt cx="5486400" cy="1676400"/>
          </a:xfrm>
        </p:grpSpPr>
        <p:sp>
          <p:nvSpPr>
            <p:cNvPr id="7" name="headline.text"/>
            <p:cNvSpPr/>
            <p:nvPr/>
          </p:nvSpPr>
          <p:spPr>
            <a:xfrm>
              <a:off x="723900" y="2590800"/>
              <a:ext cx="5486400" cy="16764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070154"/>
                  </a:solidFill>
                  <a:latin typeface="IBM Plex Sans SemiBold"/>
                  <a:ea typeface="IBM Plex Sans SemiBold"/>
                  <a:cs typeface="IBM Plex Sans SemiBold"/>
                </a:rPr>
                <a:t>Product and R&amp;D</a:t>
              </a:r>
              <a:endParaRPr lang="en-US" sz="5400" spc="-135" kern="0" b="0" i="0" dirty="0">
                <a:solidFill>
                  <a:srgbClr val="070154"/>
                </a:solidFill>
                <a:latin typeface="IBM Plex Sans SemiBold"/>
                <a:ea typeface="IBM Plex Sans SemiBold"/>
                <a:cs typeface="IBM Plex Sans SemiBold"/>
              </a:endParaRPr>
            </a:p>
            <a:p>
              <a:pPr algn="l" indent="0" marL="0">
                <a:lnSpc>
                  <a:spcPts val="6000"/>
                </a:lnSpc>
                <a:buNone/>
              </a:pPr>
              <a:r>
                <a:rPr lang="en-US" sz="5400" spc="-135" kern="0" b="0" i="0" dirty="0">
                  <a:solidFill>
                    <a:srgbClr val="070154"/>
                  </a:solidFill>
                  <a:latin typeface="IBM Plex Sans SemiBold"/>
                  <a:ea typeface="IBM Plex Sans SemiBold"/>
                  <a:cs typeface="IBM Plex Sans SemiBold"/>
                </a:rPr>
                <a:t>Operating Model</a:t>
              </a:r>
              <a:endParaRPr lang="en-US" sz="5400" spc="-135" kern="0" b="0" i="0" dirty="0">
                <a:solidFill>
                  <a:srgbClr val="070154"/>
                </a:solidFill>
                <a:latin typeface="IBM Plex Sans SemiBold"/>
                <a:ea typeface="IBM Plex Sans SemiBold"/>
                <a:cs typeface="IBM Plex Sans SemiBold"/>
              </a:endParaRPr>
            </a:p>
          </p:txBody>
        </p:sp>
      </p:grpSp>
      <p:grpSp>
        <p:nvGrpSpPr>
          <p:cNvPr id="15" name="sub"/>
          <p:cNvGrpSpPr/>
          <p:nvPr/>
        </p:nvGrpSpPr>
        <p:grpSpPr>
          <a:xfrm>
            <a:off x="723900" y="4343400"/>
            <a:ext cx="5486400" cy="533400"/>
            <a:chOff x="723900" y="4343400"/>
            <a:chExt cx="5486400" cy="533400"/>
          </a:xfrm>
        </p:grpSpPr>
        <p:sp>
          <p:nvSpPr>
            <p:cNvPr id="8" name="sub.text"/>
            <p:cNvSpPr/>
            <p:nvPr/>
          </p:nvSpPr>
          <p:spPr>
            <a:xfrm>
              <a:off x="723900" y="4343400"/>
              <a:ext cx="5486400" cy="533400"/>
            </a:xfrm>
            <a:prstGeom prst="rect">
              <a:avLst/>
            </a:prstGeom>
            <a:noFill/>
            <a:ln/>
          </p:spPr>
          <p:txBody>
            <a:bodyPr wrap="square" lIns="0" tIns="0" rIns="0" bIns="0" rtlCol="0" anchor="t"/>
            <a:lstStyle/>
            <a:p>
              <a:pPr algn="l" indent="0" marL="0">
                <a:lnSpc>
                  <a:spcPts val="2400"/>
                </a:lnSpc>
                <a:buNone/>
              </a:pPr>
              <a:r>
                <a:rPr lang="en-US" sz="1600" spc="0" kern="0" b="0" i="0" dirty="0">
                  <a:solidFill>
                    <a:srgbClr val="070154"/>
                  </a:solidFill>
                  <a:latin typeface="IBM Plex Sans"/>
                  <a:ea typeface="IBM Plex Sans"/>
                  <a:cs typeface="IBM Plex Sans"/>
                </a:rPr>
                <a:t>Validate, improve, and activate</a:t>
              </a:r>
              <a:endParaRPr lang="en-US" sz="1600" spc="0" kern="0" b="0" i="0" dirty="0">
                <a:solidFill>
                  <a:srgbClr val="070154"/>
                </a:solidFill>
                <a:latin typeface="IBM Plex Sans"/>
                <a:ea typeface="IBM Plex Sans"/>
                <a:cs typeface="IBM Plex Sans"/>
              </a:endParaRPr>
            </a:p>
          </p:txBody>
        </p:sp>
      </p:grpSp>
      <p:grpSp>
        <p:nvGrpSpPr>
          <p:cNvPr id="16" name="date"/>
          <p:cNvGrpSpPr/>
          <p:nvPr/>
        </p:nvGrpSpPr>
        <p:grpSpPr>
          <a:xfrm>
            <a:off x="723900" y="5334000"/>
            <a:ext cx="5486400" cy="304800"/>
            <a:chOff x="723900" y="5334000"/>
            <a:chExt cx="5486400" cy="304800"/>
          </a:xfrm>
        </p:grpSpPr>
        <p:sp>
          <p:nvSpPr>
            <p:cNvPr id="9" name="date.text"/>
            <p:cNvSpPr/>
            <p:nvPr/>
          </p:nvSpPr>
          <p:spPr>
            <a:xfrm>
              <a:off x="723900" y="5334000"/>
              <a:ext cx="54864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October 2026</a:t>
              </a:r>
              <a:endParaRPr lang="en-US" sz="1200" spc="0" kern="0" b="0" i="0" dirty="0">
                <a:solidFill>
                  <a:srgbClr val="50658E"/>
                </a:solidFill>
                <a:latin typeface="IBM Plex Sans"/>
                <a:ea typeface="IBM Plex Sans"/>
                <a:cs typeface="IBM Plex Sans"/>
              </a:endParaRPr>
            </a:p>
          </p:txBody>
        </p:sp>
      </p:grpSp>
      <p:grpSp>
        <p:nvGrpSpPr>
          <p:cNvPr id="17" name="photo"/>
          <p:cNvGrpSpPr/>
          <p:nvPr/>
        </p:nvGrpSpPr>
        <p:grpSpPr>
          <a:xfrm>
            <a:off x="7124700" y="914400"/>
            <a:ext cx="4343400" cy="4800600"/>
            <a:chOff x="7124700" y="914400"/>
            <a:chExt cx="4343400" cy="4800600"/>
          </a:xfrm>
        </p:grpSpPr>
        <p:pic>
          <p:nvPicPr>
            <p:cNvPr id="10" name="photo.image" descr="Exact original DentalXChange asset ppt/media/image32.jpeg; project:source-image32; canonical SHA256=3778f239f6d32794508911208c8533388b96a93b8d7f6bd6233e2893fa925d10">    </p:cNvPr>
            <p:cNvPicPr>
              <a:picLocks noChangeAspect="1"/>
            </p:cNvPicPr>
            <p:nvPr/>
          </p:nvPicPr>
          <p:blipFill>
            <a:blip r:embed="rId4"/>
            <a:srcRect l="4889" r="4889" t="0" b="0"/>
            <a:stretch/>
          </p:blipFill>
          <p:spPr>
            <a:xfrm>
              <a:off x="7124700" y="914400"/>
              <a:ext cx="4343400" cy="480060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xc-002">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a:t>
            </a:fld>
            <a:endParaRPr lang="en-US" sz="700" spc="0" kern="0" b="0" i="0" dirty="0">
              <a:solidFill>
                <a:srgbClr val="070154"/>
              </a:solidFill>
              <a:latin typeface="IBM Plex Mono SemiBold"/>
              <a:ea typeface="IBM Plex Mono SemiBold"/>
              <a:cs typeface="IBM Plex Mono SemiBold"/>
            </a:endParaRPr>
          </a:p>
        </p:txBody>
      </p:sp>
      <p:grpSp>
        <p:nvGrpSpPr>
          <p:cNvPr id="21" name="panel"/>
          <p:cNvGrpSpPr/>
          <p:nvPr/>
        </p:nvGrpSpPr>
        <p:grpSpPr>
          <a:xfrm>
            <a:off x="723900" y="457200"/>
            <a:ext cx="3657600" cy="5486400"/>
            <a:chOff x="723900" y="457200"/>
            <a:chExt cx="3657600" cy="5486400"/>
          </a:xfrm>
        </p:grpSpPr>
        <p:sp>
          <p:nvSpPr>
            <p:cNvPr id="5" name="panel.surface"/>
            <p:cNvSpPr/>
            <p:nvPr/>
          </p:nvSpPr>
          <p:spPr>
            <a:xfrm>
              <a:off x="723900" y="457200"/>
              <a:ext cx="3657600" cy="5486400"/>
            </a:xfrm>
            <a:prstGeom prst="rect">
              <a:avLst/>
            </a:prstGeom>
            <a:solidFill>
              <a:srgbClr val="070154"/>
            </a:solidFill>
            <a:ln>
              <a:noFill/>
            </a:ln>
          </p:spPr>
        </p:sp>
      </p:grpSp>
      <p:grpSp>
        <p:nvGrpSpPr>
          <p:cNvPr id="22" name="agenda-title"/>
          <p:cNvGrpSpPr/>
          <p:nvPr/>
        </p:nvGrpSpPr>
        <p:grpSpPr>
          <a:xfrm>
            <a:off x="1028700" y="685800"/>
            <a:ext cx="3048000" cy="1066800"/>
            <a:chOff x="1028700" y="685800"/>
            <a:chExt cx="3048000" cy="1066800"/>
          </a:xfrm>
        </p:grpSpPr>
        <p:sp>
          <p:nvSpPr>
            <p:cNvPr id="6" name="agenda-title.text"/>
            <p:cNvSpPr/>
            <p:nvPr/>
          </p:nvSpPr>
          <p:spPr>
            <a:xfrm>
              <a:off x="1028700" y="685800"/>
              <a:ext cx="3048000" cy="10668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Agenda</a:t>
              </a:r>
              <a:endParaRPr lang="en-US" sz="5400" spc="-135" kern="0" b="0" i="0" dirty="0">
                <a:solidFill>
                  <a:srgbClr val="FFFFFF"/>
                </a:solidFill>
                <a:latin typeface="IBM Plex Sans SemiBold"/>
                <a:ea typeface="IBM Plex Sans SemiBold"/>
                <a:cs typeface="IBM Plex Sans SemiBold"/>
              </a:endParaRPr>
            </a:p>
          </p:txBody>
        </p:sp>
      </p:grpSp>
      <p:grpSp>
        <p:nvGrpSpPr>
          <p:cNvPr id="23" name="photo"/>
          <p:cNvGrpSpPr/>
          <p:nvPr/>
        </p:nvGrpSpPr>
        <p:grpSpPr>
          <a:xfrm>
            <a:off x="1181100" y="3581400"/>
            <a:ext cx="3200400" cy="2057400"/>
            <a:chOff x="1181100" y="3581400"/>
            <a:chExt cx="3200400" cy="2057400"/>
          </a:xfrm>
        </p:grpSpPr>
        <p:pic>
          <p:nvPicPr>
            <p:cNvPr id="7" name="photo.image" descr="Exact original DentalXChange asset ppt/media/image32.jpeg; project:source-image32; canonical SHA256=3778f239f6d32794508911208c8533388b96a93b8d7f6bd6233e2893fa925d10">    </p:cNvPr>
            <p:cNvPicPr>
              <a:picLocks noChangeAspect="1"/>
            </p:cNvPicPr>
            <p:nvPr/>
          </p:nvPicPr>
          <p:blipFill>
            <a:blip r:embed="rId1"/>
            <a:srcRect l="0" r="0" t="17767" b="17767"/>
            <a:stretch/>
          </p:blipFill>
          <p:spPr>
            <a:xfrm>
              <a:off x="1181100" y="3581400"/>
              <a:ext cx="3200400" cy="2057400"/>
            </a:xfrm>
            <a:prstGeom prst="rect">
              <a:avLst/>
            </a:prstGeom>
          </p:spPr>
        </p:pic>
      </p:grpSp>
      <p:grpSp>
        <p:nvGrpSpPr>
          <p:cNvPr id="24" name="num0"/>
          <p:cNvGrpSpPr/>
          <p:nvPr/>
        </p:nvGrpSpPr>
        <p:grpSpPr>
          <a:xfrm>
            <a:off x="5067300" y="1066800"/>
            <a:ext cx="533400" cy="381000"/>
            <a:chOff x="5067300" y="1066800"/>
            <a:chExt cx="533400" cy="381000"/>
          </a:xfrm>
        </p:grpSpPr>
        <p:sp>
          <p:nvSpPr>
            <p:cNvPr id="8" name="num0.text"/>
            <p:cNvSpPr/>
            <p:nvPr/>
          </p:nvSpPr>
          <p:spPr>
            <a:xfrm>
              <a:off x="5067300" y="1066800"/>
              <a:ext cx="533400" cy="3810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01</a:t>
              </a:r>
              <a:endParaRPr lang="en-US" sz="1000" spc="80" kern="0" b="0" i="0" dirty="0">
                <a:solidFill>
                  <a:srgbClr val="0047FF"/>
                </a:solidFill>
                <a:latin typeface="IBM Plex Mono SemiBold"/>
                <a:ea typeface="IBM Plex Mono SemiBold"/>
                <a:cs typeface="IBM Plex Mono SemiBold"/>
              </a:endParaRPr>
            </a:p>
          </p:txBody>
        </p:sp>
      </p:grpSp>
      <p:grpSp>
        <p:nvGrpSpPr>
          <p:cNvPr id="25" name="item0"/>
          <p:cNvGrpSpPr/>
          <p:nvPr/>
        </p:nvGrpSpPr>
        <p:grpSpPr>
          <a:xfrm>
            <a:off x="5753100" y="1066800"/>
            <a:ext cx="4800600" cy="762000"/>
            <a:chOff x="5753100" y="1066800"/>
            <a:chExt cx="4800600" cy="762000"/>
          </a:xfrm>
        </p:grpSpPr>
        <p:sp>
          <p:nvSpPr>
            <p:cNvPr id="9" name="item0.text"/>
            <p:cNvSpPr/>
            <p:nvPr/>
          </p:nvSpPr>
          <p:spPr>
            <a:xfrm>
              <a:off x="5753100" y="1066800"/>
              <a:ext cx="4800600" cy="7620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Executive Summary</a:t>
              </a:r>
              <a:endParaRPr lang="en-US" sz="1800" spc="-18" kern="0" b="0" i="0" dirty="0">
                <a:solidFill>
                  <a:srgbClr val="070154"/>
                </a:solidFill>
                <a:latin typeface="IBM Plex Sans SemiBold"/>
                <a:ea typeface="IBM Plex Sans SemiBold"/>
                <a:cs typeface="IBM Plex Sans SemiBold"/>
              </a:endParaRPr>
            </a:p>
          </p:txBody>
        </p:sp>
      </p:grpSp>
      <p:grpSp>
        <p:nvGrpSpPr>
          <p:cNvPr id="26" name="page0"/>
          <p:cNvGrpSpPr/>
          <p:nvPr/>
        </p:nvGrpSpPr>
        <p:grpSpPr>
          <a:xfrm>
            <a:off x="10782300" y="1066800"/>
            <a:ext cx="685800" cy="381000"/>
            <a:chOff x="10782300" y="1066800"/>
            <a:chExt cx="685800" cy="381000"/>
          </a:xfrm>
        </p:grpSpPr>
        <p:sp>
          <p:nvSpPr>
            <p:cNvPr id="10" name="page0.text"/>
            <p:cNvSpPr/>
            <p:nvPr/>
          </p:nvSpPr>
          <p:spPr>
            <a:xfrm>
              <a:off x="10782300" y="1066800"/>
              <a:ext cx="685800" cy="3810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05</a:t>
              </a:r>
              <a:endParaRPr lang="en-US" sz="1400" spc="0" kern="0" b="0" i="0" dirty="0">
                <a:solidFill>
                  <a:srgbClr val="50658E"/>
                </a:solidFill>
                <a:latin typeface="IBM Plex Sans"/>
                <a:ea typeface="IBM Plex Sans"/>
                <a:cs typeface="IBM Plex Sans"/>
              </a:endParaRPr>
            </a:p>
          </p:txBody>
        </p:sp>
      </p:grpSp>
      <p:sp>
        <p:nvSpPr>
          <p:cNvPr id="11" name="rule0"/>
          <p:cNvSpPr/>
          <p:nvPr/>
        </p:nvSpPr>
        <p:spPr>
          <a:xfrm>
            <a:off x="5067300" y="2057400"/>
            <a:ext cx="6400800" cy="9525"/>
          </a:xfrm>
          <a:prstGeom prst="rect">
            <a:avLst/>
          </a:prstGeom>
          <a:solidFill>
            <a:srgbClr val="CED7E6"/>
          </a:solidFill>
          <a:ln>
            <a:noFill/>
          </a:ln>
        </p:spPr>
      </p:sp>
      <p:grpSp>
        <p:nvGrpSpPr>
          <p:cNvPr id="27" name="num1"/>
          <p:cNvGrpSpPr/>
          <p:nvPr/>
        </p:nvGrpSpPr>
        <p:grpSpPr>
          <a:xfrm>
            <a:off x="5067300" y="2438400"/>
            <a:ext cx="533400" cy="381000"/>
            <a:chOff x="5067300" y="2438400"/>
            <a:chExt cx="533400" cy="381000"/>
          </a:xfrm>
        </p:grpSpPr>
        <p:sp>
          <p:nvSpPr>
            <p:cNvPr id="12" name="num1.text"/>
            <p:cNvSpPr/>
            <p:nvPr/>
          </p:nvSpPr>
          <p:spPr>
            <a:xfrm>
              <a:off x="5067300" y="2438400"/>
              <a:ext cx="533400" cy="3810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02</a:t>
              </a:r>
              <a:endParaRPr lang="en-US" sz="1000" spc="80" kern="0" b="0" i="0" dirty="0">
                <a:solidFill>
                  <a:srgbClr val="0047FF"/>
                </a:solidFill>
                <a:latin typeface="IBM Plex Mono SemiBold"/>
                <a:ea typeface="IBM Plex Mono SemiBold"/>
                <a:cs typeface="IBM Plex Mono SemiBold"/>
              </a:endParaRPr>
            </a:p>
          </p:txBody>
        </p:sp>
      </p:grpSp>
      <p:grpSp>
        <p:nvGrpSpPr>
          <p:cNvPr id="28" name="item1"/>
          <p:cNvGrpSpPr/>
          <p:nvPr/>
        </p:nvGrpSpPr>
        <p:grpSpPr>
          <a:xfrm>
            <a:off x="5753100" y="2438400"/>
            <a:ext cx="4800600" cy="762000"/>
            <a:chOff x="5753100" y="2438400"/>
            <a:chExt cx="4800600" cy="762000"/>
          </a:xfrm>
        </p:grpSpPr>
        <p:sp>
          <p:nvSpPr>
            <p:cNvPr id="13" name="item1.text"/>
            <p:cNvSpPr/>
            <p:nvPr/>
          </p:nvSpPr>
          <p:spPr>
            <a:xfrm>
              <a:off x="5753100" y="2438400"/>
              <a:ext cx="4800600" cy="7620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Deliverables</a:t>
              </a:r>
              <a:endParaRPr lang="en-US" sz="1800" spc="-18" kern="0" b="0" i="0" dirty="0">
                <a:solidFill>
                  <a:srgbClr val="070154"/>
                </a:solidFill>
                <a:latin typeface="IBM Plex Sans SemiBold"/>
                <a:ea typeface="IBM Plex Sans SemiBold"/>
                <a:cs typeface="IBM Plex Sans SemiBold"/>
              </a:endParaRPr>
            </a:p>
          </p:txBody>
        </p:sp>
      </p:grpSp>
      <p:grpSp>
        <p:nvGrpSpPr>
          <p:cNvPr id="29" name="page1"/>
          <p:cNvGrpSpPr/>
          <p:nvPr/>
        </p:nvGrpSpPr>
        <p:grpSpPr>
          <a:xfrm>
            <a:off x="10782300" y="2438400"/>
            <a:ext cx="685800" cy="381000"/>
            <a:chOff x="10782300" y="2438400"/>
            <a:chExt cx="685800" cy="381000"/>
          </a:xfrm>
        </p:grpSpPr>
        <p:sp>
          <p:nvSpPr>
            <p:cNvPr id="14" name="page1.text"/>
            <p:cNvSpPr/>
            <p:nvPr/>
          </p:nvSpPr>
          <p:spPr>
            <a:xfrm>
              <a:off x="10782300" y="2438400"/>
              <a:ext cx="685800" cy="3810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09</a:t>
              </a:r>
              <a:endParaRPr lang="en-US" sz="1400" spc="0" kern="0" b="0" i="0" dirty="0">
                <a:solidFill>
                  <a:srgbClr val="50658E"/>
                </a:solidFill>
                <a:latin typeface="IBM Plex Sans"/>
                <a:ea typeface="IBM Plex Sans"/>
                <a:cs typeface="IBM Plex Sans"/>
              </a:endParaRPr>
            </a:p>
          </p:txBody>
        </p:sp>
      </p:grpSp>
      <p:sp>
        <p:nvSpPr>
          <p:cNvPr id="15" name="rule1"/>
          <p:cNvSpPr/>
          <p:nvPr/>
        </p:nvSpPr>
        <p:spPr>
          <a:xfrm>
            <a:off x="5067300" y="3429000"/>
            <a:ext cx="6400800" cy="9525"/>
          </a:xfrm>
          <a:prstGeom prst="rect">
            <a:avLst/>
          </a:prstGeom>
          <a:solidFill>
            <a:srgbClr val="CED7E6"/>
          </a:solidFill>
          <a:ln>
            <a:noFill/>
          </a:ln>
        </p:spPr>
      </p:sp>
      <p:grpSp>
        <p:nvGrpSpPr>
          <p:cNvPr id="30" name="num2"/>
          <p:cNvGrpSpPr/>
          <p:nvPr/>
        </p:nvGrpSpPr>
        <p:grpSpPr>
          <a:xfrm>
            <a:off x="5067300" y="3810000"/>
            <a:ext cx="533400" cy="381000"/>
            <a:chOff x="5067300" y="3810000"/>
            <a:chExt cx="533400" cy="381000"/>
          </a:xfrm>
        </p:grpSpPr>
        <p:sp>
          <p:nvSpPr>
            <p:cNvPr id="16" name="num2.text"/>
            <p:cNvSpPr/>
            <p:nvPr/>
          </p:nvSpPr>
          <p:spPr>
            <a:xfrm>
              <a:off x="5067300" y="3810000"/>
              <a:ext cx="533400" cy="3810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03</a:t>
              </a:r>
              <a:endParaRPr lang="en-US" sz="1000" spc="80" kern="0" b="0" i="0" dirty="0">
                <a:solidFill>
                  <a:srgbClr val="0047FF"/>
                </a:solidFill>
                <a:latin typeface="IBM Plex Mono SemiBold"/>
                <a:ea typeface="IBM Plex Mono SemiBold"/>
                <a:cs typeface="IBM Plex Mono SemiBold"/>
              </a:endParaRPr>
            </a:p>
          </p:txBody>
        </p:sp>
      </p:grpSp>
      <p:grpSp>
        <p:nvGrpSpPr>
          <p:cNvPr id="31" name="item2"/>
          <p:cNvGrpSpPr/>
          <p:nvPr/>
        </p:nvGrpSpPr>
        <p:grpSpPr>
          <a:xfrm>
            <a:off x="5753100" y="3810000"/>
            <a:ext cx="4800600" cy="762000"/>
            <a:chOff x="5753100" y="3810000"/>
            <a:chExt cx="4800600" cy="762000"/>
          </a:xfrm>
        </p:grpSpPr>
        <p:sp>
          <p:nvSpPr>
            <p:cNvPr id="17" name="item2.text"/>
            <p:cNvSpPr/>
            <p:nvPr/>
          </p:nvSpPr>
          <p:spPr>
            <a:xfrm>
              <a:off x="5753100" y="3810000"/>
              <a:ext cx="4800600" cy="7620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Recommended Next Phase</a:t>
              </a:r>
              <a:endParaRPr lang="en-US" sz="1800" spc="-18" kern="0" b="0" i="0" dirty="0">
                <a:solidFill>
                  <a:srgbClr val="070154"/>
                </a:solidFill>
                <a:latin typeface="IBM Plex Sans SemiBold"/>
                <a:ea typeface="IBM Plex Sans SemiBold"/>
                <a:cs typeface="IBM Plex Sans SemiBold"/>
              </a:endParaRPr>
            </a:p>
          </p:txBody>
        </p:sp>
      </p:grpSp>
      <p:grpSp>
        <p:nvGrpSpPr>
          <p:cNvPr id="32" name="page2"/>
          <p:cNvGrpSpPr/>
          <p:nvPr/>
        </p:nvGrpSpPr>
        <p:grpSpPr>
          <a:xfrm>
            <a:off x="10782300" y="3810000"/>
            <a:ext cx="685800" cy="381000"/>
            <a:chOff x="10782300" y="3810000"/>
            <a:chExt cx="685800" cy="381000"/>
          </a:xfrm>
        </p:grpSpPr>
        <p:sp>
          <p:nvSpPr>
            <p:cNvPr id="18" name="page2.text"/>
            <p:cNvSpPr/>
            <p:nvPr/>
          </p:nvSpPr>
          <p:spPr>
            <a:xfrm>
              <a:off x="10782300" y="3810000"/>
              <a:ext cx="685800" cy="3810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37</a:t>
              </a:r>
              <a:endParaRPr lang="en-US" sz="1400" spc="0" kern="0" b="0" i="0" dirty="0">
                <a:solidFill>
                  <a:srgbClr val="50658E"/>
                </a:solidFill>
                <a:latin typeface="IBM Plex Sans"/>
                <a:ea typeface="IBM Plex Sans"/>
                <a:cs typeface="IBM Plex Sans"/>
              </a:endParaRPr>
            </a:p>
          </p:txBody>
        </p:sp>
      </p:grpSp>
      <p:sp>
        <p:nvSpPr>
          <p:cNvPr id="19" name="rule2"/>
          <p:cNvSpPr/>
          <p:nvPr/>
        </p:nvSpPr>
        <p:spPr>
          <a:xfrm>
            <a:off x="5067300" y="4800600"/>
            <a:ext cx="6400800" cy="9525"/>
          </a:xfrm>
          <a:prstGeom prst="rect">
            <a:avLst/>
          </a:prstGeom>
          <a:solidFill>
            <a:srgbClr val="CED7E6"/>
          </a:solidFill>
          <a:ln>
            <a:noFill/>
          </a:ln>
        </p:spPr>
      </p:sp>
      <p:grpSp>
        <p:nvGrpSpPr>
          <p:cNvPr id="33" name="client-brand"/>
          <p:cNvGrpSpPr/>
          <p:nvPr/>
        </p:nvGrpSpPr>
        <p:grpSpPr>
          <a:xfrm>
            <a:off x="10382250" y="457200"/>
            <a:ext cx="1028700" cy="457200"/>
            <a:chOff x="10382250" y="457200"/>
            <a:chExt cx="1028700" cy="457200"/>
          </a:xfrm>
        </p:grpSpPr>
        <p:pic>
          <p:nvPicPr>
            <p:cNvPr id="20" name="client-brand.image" descr="Exact original DentalXChange asset ppt/media/image31.png; project:source-image31; canonical SHA256=51385b7813333a7f4207d77364f6a318acc4d148486d489c8a87f115754c251f">    </p:cNvPr>
            <p:cNvPicPr>
              <a:picLocks noChangeAspect="1"/>
            </p:cNvPicPr>
            <p:nvPr/>
          </p:nvPicPr>
          <p:blipFill>
            <a:blip r:embed="rId2"/>
            <a:stretch>
              <a:fillRect/>
            </a:stretch>
          </p:blipFill>
          <p:spPr>
            <a:xfrm>
              <a:off x="10382250" y="457200"/>
              <a:ext cx="1028700" cy="457200"/>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xc-003">
    <p:spTree>
      <p:nvGrpSpPr>
        <p:cNvPr id="1" name=""/>
        <p:cNvGrpSpPr/>
        <p:nvPr/>
      </p:nvGrpSpPr>
      <p:grpSpPr>
        <a:xfrm>
          <a:off x="0" y="0"/>
          <a:ext cx="0" cy="0"/>
          <a:chOff x="0" y="0"/>
          <a:chExt cx="0" cy="0"/>
        </a:xfrm>
      </p:grpSpPr>
      <p:sp>
        <p:nvSpPr>
          <p:cNvPr id="4"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a:t>
            </a:fld>
            <a:endParaRPr lang="en-US" sz="700" spc="0" kern="0" b="0" i="0" dirty="0">
              <a:solidFill>
                <a:srgbClr val="070154"/>
              </a:solidFill>
              <a:latin typeface="IBM Plex Mono SemiBold"/>
              <a:ea typeface="IBM Plex Mono SemiBold"/>
              <a:cs typeface="IBM Plex Mono SemiBold"/>
            </a:endParaRPr>
          </a:p>
        </p:txBody>
      </p:sp>
      <p:grpSp>
        <p:nvGrpSpPr>
          <p:cNvPr id="65" name="heading"/>
          <p:cNvGrpSpPr/>
          <p:nvPr/>
        </p:nvGrpSpPr>
        <p:grpSpPr>
          <a:xfrm>
            <a:off x="723900" y="457200"/>
            <a:ext cx="9372600" cy="609600"/>
            <a:chOff x="723900" y="457200"/>
            <a:chExt cx="9372600" cy="609600"/>
          </a:xfrm>
        </p:grpSpPr>
        <p:sp>
          <p:nvSpPr>
            <p:cNvPr id="5" name="heading.text"/>
            <p:cNvSpPr/>
            <p:nvPr/>
          </p:nvSpPr>
          <p:spPr>
            <a:xfrm>
              <a:off x="723900" y="457200"/>
              <a:ext cx="9372600" cy="609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Artifacts link stages to review decisions</a:t>
              </a:r>
              <a:endParaRPr lang="en-US" sz="2400" spc="-36" kern="0" b="0" i="0" dirty="0">
                <a:solidFill>
                  <a:srgbClr val="070154"/>
                </a:solidFill>
                <a:latin typeface="IBM Plex Sans SemiBold"/>
                <a:ea typeface="IBM Plex Sans SemiBold"/>
                <a:cs typeface="IBM Plex Sans SemiBold"/>
              </a:endParaRPr>
            </a:p>
          </p:txBody>
        </p:sp>
      </p:grpSp>
      <p:grpSp>
        <p:nvGrpSpPr>
          <p:cNvPr id="66" name="subtitle"/>
          <p:cNvGrpSpPr/>
          <p:nvPr/>
        </p:nvGrpSpPr>
        <p:grpSpPr>
          <a:xfrm>
            <a:off x="723900" y="1143000"/>
            <a:ext cx="10744200" cy="381000"/>
            <a:chOff x="723900" y="1143000"/>
            <a:chExt cx="10744200" cy="381000"/>
          </a:xfrm>
        </p:grpSpPr>
        <p:sp>
          <p:nvSpPr>
            <p:cNvPr id="6" name="subtitle.text"/>
            <p:cNvSpPr/>
            <p:nvPr/>
          </p:nvSpPr>
          <p:spPr>
            <a:xfrm>
              <a:off x="723900" y="11430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Testing and release plans start in Define. Each bar names a review decision. Navy bars form the sequential chain; gray bars run in parallel.</a:t>
              </a:r>
              <a:endParaRPr lang="en-US" sz="1200" spc="0" kern="0" b="0" i="0" dirty="0">
                <a:solidFill>
                  <a:srgbClr val="50658E"/>
                </a:solidFill>
                <a:latin typeface="IBM Plex Sans"/>
                <a:ea typeface="IBM Plex Sans"/>
                <a:cs typeface="IBM Plex Sans"/>
              </a:endParaRPr>
            </a:p>
          </p:txBody>
        </p:sp>
      </p:grpSp>
      <p:grpSp>
        <p:nvGrpSpPr>
          <p:cNvPr id="67" name="stage-label"/>
          <p:cNvGrpSpPr/>
          <p:nvPr/>
        </p:nvGrpSpPr>
        <p:grpSpPr>
          <a:xfrm>
            <a:off x="723900" y="1600200"/>
            <a:ext cx="1752600" cy="381000"/>
            <a:chOff x="723900" y="1600200"/>
            <a:chExt cx="1752600" cy="381000"/>
          </a:xfrm>
        </p:grpSpPr>
        <p:sp>
          <p:nvSpPr>
            <p:cNvPr id="7" name="stage-label.surface"/>
            <p:cNvSpPr/>
            <p:nvPr/>
          </p:nvSpPr>
          <p:spPr>
            <a:xfrm>
              <a:off x="723900" y="1600200"/>
              <a:ext cx="1752600" cy="381000"/>
            </a:xfrm>
            <a:prstGeom prst="rect">
              <a:avLst/>
            </a:prstGeom>
            <a:solidFill>
              <a:srgbClr val="070154"/>
            </a:solidFill>
            <a:ln>
              <a:noFill/>
            </a:ln>
          </p:spPr>
        </p:sp>
        <p:sp>
          <p:nvSpPr>
            <p:cNvPr id="8" name="stage-label.text"/>
            <p:cNvSpPr/>
            <p:nvPr/>
          </p:nvSpPr>
          <p:spPr>
            <a:xfrm>
              <a:off x="876300" y="1676400"/>
              <a:ext cx="1447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PDLC stage</a:t>
              </a:r>
              <a:endParaRPr lang="en-US" sz="1200" spc="0" kern="0" b="0" i="0" dirty="0">
                <a:solidFill>
                  <a:srgbClr val="FFFFFF"/>
                </a:solidFill>
                <a:latin typeface="IBM Plex Sans"/>
                <a:ea typeface="IBM Plex Sans"/>
                <a:cs typeface="IBM Plex Sans"/>
              </a:endParaRPr>
            </a:p>
          </p:txBody>
        </p:sp>
      </p:grpSp>
      <p:grpSp>
        <p:nvGrpSpPr>
          <p:cNvPr id="68" name="phase0"/>
          <p:cNvGrpSpPr/>
          <p:nvPr/>
        </p:nvGrpSpPr>
        <p:grpSpPr>
          <a:xfrm>
            <a:off x="2552700" y="1600200"/>
            <a:ext cx="1447800" cy="381000"/>
            <a:chOff x="2552700" y="1600200"/>
            <a:chExt cx="1447800" cy="381000"/>
          </a:xfrm>
        </p:grpSpPr>
        <p:sp>
          <p:nvSpPr>
            <p:cNvPr id="9" name="phase0.surface"/>
            <p:cNvSpPr/>
            <p:nvPr/>
          </p:nvSpPr>
          <p:spPr>
            <a:xfrm>
              <a:off x="2552700" y="1600200"/>
              <a:ext cx="1447800" cy="381000"/>
            </a:xfrm>
            <a:custGeom>
              <a:avLst/>
              <a:gdLst/>
              <a:ahLst/>
              <a:cxnLst/>
              <a:rect l="l" t="t" r="r" b="b"/>
              <a:pathLst>
                <a:path w="1447800" h="381000">
                  <a:moveTo>
                    <a:pt x="0" y="0"/>
                  </a:moveTo>
                  <a:lnTo>
                    <a:pt x="1320800" y="0"/>
                  </a:lnTo>
                  <a:lnTo>
                    <a:pt x="1447800" y="190500"/>
                  </a:lnTo>
                  <a:lnTo>
                    <a:pt x="1320800" y="381000"/>
                  </a:lnTo>
                  <a:lnTo>
                    <a:pt x="0" y="381000"/>
                  </a:lnTo>
                  <a:close/>
                </a:path>
              </a:pathLst>
            </a:custGeom>
            <a:solidFill>
              <a:srgbClr val="070154"/>
            </a:solidFill>
            <a:ln>
              <a:noFill/>
            </a:ln>
          </p:spPr>
        </p:sp>
        <p:sp>
          <p:nvSpPr>
            <p:cNvPr id="10" name="phase0.text"/>
            <p:cNvSpPr/>
            <p:nvPr/>
          </p:nvSpPr>
          <p:spPr>
            <a:xfrm>
              <a:off x="2705100" y="1657350"/>
              <a:ext cx="1092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Identify</a:t>
              </a:r>
              <a:endParaRPr lang="en-US" sz="1400" spc="0" kern="0" b="0" i="0" dirty="0">
                <a:solidFill>
                  <a:srgbClr val="FFFFFF"/>
                </a:solidFill>
                <a:latin typeface="IBM Plex Sans"/>
                <a:ea typeface="IBM Plex Sans"/>
                <a:cs typeface="IBM Plex Sans"/>
              </a:endParaRPr>
            </a:p>
          </p:txBody>
        </p:sp>
      </p:grpSp>
      <p:grpSp>
        <p:nvGrpSpPr>
          <p:cNvPr id="69" name="gate0"/>
          <p:cNvGrpSpPr/>
          <p:nvPr/>
        </p:nvGrpSpPr>
        <p:grpSpPr>
          <a:xfrm>
            <a:off x="2552700" y="2057400"/>
            <a:ext cx="1447800" cy="381000"/>
            <a:chOff x="2552700" y="2057400"/>
            <a:chExt cx="1447800" cy="381000"/>
          </a:xfrm>
        </p:grpSpPr>
        <p:sp>
          <p:nvSpPr>
            <p:cNvPr id="11" name="gate0.text"/>
            <p:cNvSpPr/>
            <p:nvPr/>
          </p:nvSpPr>
          <p:spPr>
            <a:xfrm>
              <a:off x="25527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Concept &amp; Strategy · G0</a:t>
              </a:r>
              <a:endParaRPr lang="en-US" sz="900" spc="0" kern="0" b="0" i="0" dirty="0">
                <a:solidFill>
                  <a:srgbClr val="50658E"/>
                </a:solidFill>
                <a:latin typeface="IBM Plex Sans"/>
                <a:ea typeface="IBM Plex Sans"/>
                <a:cs typeface="IBM Plex Sans"/>
              </a:endParaRPr>
            </a:p>
          </p:txBody>
        </p:sp>
      </p:grpSp>
      <p:grpSp>
        <p:nvGrpSpPr>
          <p:cNvPr id="70" name="practice0"/>
          <p:cNvGrpSpPr/>
          <p:nvPr/>
        </p:nvGrpSpPr>
        <p:grpSpPr>
          <a:xfrm>
            <a:off x="2552700" y="2438400"/>
            <a:ext cx="1447800" cy="342900"/>
            <a:chOff x="2552700" y="2438400"/>
            <a:chExt cx="1447800" cy="342900"/>
          </a:xfrm>
        </p:grpSpPr>
        <p:sp>
          <p:nvSpPr>
            <p:cNvPr id="12" name="practice0.text"/>
            <p:cNvSpPr/>
            <p:nvPr/>
          </p:nvSpPr>
          <p:spPr>
            <a:xfrm>
              <a:off x="25527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Opportunity + Prioritization</a:t>
              </a:r>
              <a:endParaRPr lang="en-US" sz="900" spc="0" kern="0" b="0" i="0" dirty="0">
                <a:solidFill>
                  <a:srgbClr val="070154"/>
                </a:solidFill>
                <a:latin typeface="IBM Plex Sans"/>
                <a:ea typeface="IBM Plex Sans"/>
                <a:cs typeface="IBM Plex Sans"/>
              </a:endParaRPr>
            </a:p>
          </p:txBody>
        </p:sp>
      </p:grpSp>
      <p:grpSp>
        <p:nvGrpSpPr>
          <p:cNvPr id="71" name="phase1"/>
          <p:cNvGrpSpPr/>
          <p:nvPr/>
        </p:nvGrpSpPr>
        <p:grpSpPr>
          <a:xfrm>
            <a:off x="4038600" y="1600200"/>
            <a:ext cx="1447800" cy="381000"/>
            <a:chOff x="4038600" y="1600200"/>
            <a:chExt cx="1447800" cy="381000"/>
          </a:xfrm>
        </p:grpSpPr>
        <p:sp>
          <p:nvSpPr>
            <p:cNvPr id="13" name="phase1.surface"/>
            <p:cNvSpPr/>
            <p:nvPr/>
          </p:nvSpPr>
          <p:spPr>
            <a:xfrm>
              <a:off x="4038600" y="1600200"/>
              <a:ext cx="1447800" cy="381000"/>
            </a:xfrm>
            <a:custGeom>
              <a:avLst/>
              <a:gdLst/>
              <a:ahLst/>
              <a:cxnLst/>
              <a:rect l="l" t="t" r="r" b="b"/>
              <a:pathLst>
                <a:path w="1447800" h="381000">
                  <a:moveTo>
                    <a:pt x="0" y="0"/>
                  </a:moveTo>
                  <a:lnTo>
                    <a:pt x="1320800" y="0"/>
                  </a:lnTo>
                  <a:lnTo>
                    <a:pt x="1447800" y="190500"/>
                  </a:lnTo>
                  <a:lnTo>
                    <a:pt x="1320800" y="381000"/>
                  </a:lnTo>
                  <a:lnTo>
                    <a:pt x="0" y="381000"/>
                  </a:lnTo>
                  <a:lnTo>
                    <a:pt x="127000" y="190500"/>
                  </a:lnTo>
                  <a:close/>
                </a:path>
              </a:pathLst>
            </a:custGeom>
            <a:solidFill>
              <a:srgbClr val="070154"/>
            </a:solidFill>
            <a:ln>
              <a:noFill/>
            </a:ln>
          </p:spPr>
        </p:sp>
        <p:sp>
          <p:nvSpPr>
            <p:cNvPr id="14" name="phase1.text"/>
            <p:cNvSpPr/>
            <p:nvPr/>
          </p:nvSpPr>
          <p:spPr>
            <a:xfrm>
              <a:off x="4318000" y="1657350"/>
              <a:ext cx="965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Define</a:t>
              </a:r>
              <a:endParaRPr lang="en-US" sz="1400" spc="0" kern="0" b="0" i="0" dirty="0">
                <a:solidFill>
                  <a:srgbClr val="FFFFFF"/>
                </a:solidFill>
                <a:latin typeface="IBM Plex Sans"/>
                <a:ea typeface="IBM Plex Sans"/>
                <a:cs typeface="IBM Plex Sans"/>
              </a:endParaRPr>
            </a:p>
          </p:txBody>
        </p:sp>
      </p:grpSp>
      <p:grpSp>
        <p:nvGrpSpPr>
          <p:cNvPr id="72" name="gate1"/>
          <p:cNvGrpSpPr/>
          <p:nvPr/>
        </p:nvGrpSpPr>
        <p:grpSpPr>
          <a:xfrm>
            <a:off x="4038600" y="2057400"/>
            <a:ext cx="1447800" cy="381000"/>
            <a:chOff x="4038600" y="2057400"/>
            <a:chExt cx="1447800" cy="381000"/>
          </a:xfrm>
        </p:grpSpPr>
        <p:sp>
          <p:nvSpPr>
            <p:cNvPr id="15" name="gate1.text"/>
            <p:cNvSpPr/>
            <p:nvPr/>
          </p:nvSpPr>
          <p:spPr>
            <a:xfrm>
              <a:off x="40386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Design &amp; Viability · G1, G2</a:t>
              </a:r>
              <a:endParaRPr lang="en-US" sz="900" spc="0" kern="0" b="0" i="0" dirty="0">
                <a:solidFill>
                  <a:srgbClr val="50658E"/>
                </a:solidFill>
                <a:latin typeface="IBM Plex Sans"/>
                <a:ea typeface="IBM Plex Sans"/>
                <a:cs typeface="IBM Plex Sans"/>
              </a:endParaRPr>
            </a:p>
          </p:txBody>
        </p:sp>
      </p:grpSp>
      <p:grpSp>
        <p:nvGrpSpPr>
          <p:cNvPr id="73" name="practice1"/>
          <p:cNvGrpSpPr/>
          <p:nvPr/>
        </p:nvGrpSpPr>
        <p:grpSpPr>
          <a:xfrm>
            <a:off x="4038600" y="2438400"/>
            <a:ext cx="1447800" cy="342900"/>
            <a:chOff x="4038600" y="2438400"/>
            <a:chExt cx="1447800" cy="342900"/>
          </a:xfrm>
        </p:grpSpPr>
        <p:sp>
          <p:nvSpPr>
            <p:cNvPr id="16" name="practice1.text"/>
            <p:cNvSpPr/>
            <p:nvPr/>
          </p:nvSpPr>
          <p:spPr>
            <a:xfrm>
              <a:off x="40386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Definition</a:t>
              </a:r>
              <a:endParaRPr lang="en-US" sz="900" spc="0" kern="0" b="0" i="0" dirty="0">
                <a:solidFill>
                  <a:srgbClr val="070154"/>
                </a:solidFill>
                <a:latin typeface="IBM Plex Sans"/>
                <a:ea typeface="IBM Plex Sans"/>
                <a:cs typeface="IBM Plex Sans"/>
              </a:endParaRPr>
            </a:p>
          </p:txBody>
        </p:sp>
      </p:grpSp>
      <p:grpSp>
        <p:nvGrpSpPr>
          <p:cNvPr id="74" name="phase2"/>
          <p:cNvGrpSpPr/>
          <p:nvPr/>
        </p:nvGrpSpPr>
        <p:grpSpPr>
          <a:xfrm>
            <a:off x="5524500" y="1600200"/>
            <a:ext cx="1447800" cy="381000"/>
            <a:chOff x="5524500" y="1600200"/>
            <a:chExt cx="1447800" cy="381000"/>
          </a:xfrm>
        </p:grpSpPr>
        <p:sp>
          <p:nvSpPr>
            <p:cNvPr id="17" name="phase2.surface"/>
            <p:cNvSpPr/>
            <p:nvPr/>
          </p:nvSpPr>
          <p:spPr>
            <a:xfrm>
              <a:off x="5524500" y="1600200"/>
              <a:ext cx="1447800" cy="381000"/>
            </a:xfrm>
            <a:custGeom>
              <a:avLst/>
              <a:gdLst/>
              <a:ahLst/>
              <a:cxnLst/>
              <a:rect l="l" t="t" r="r" b="b"/>
              <a:pathLst>
                <a:path w="1447800" h="381000">
                  <a:moveTo>
                    <a:pt x="0" y="0"/>
                  </a:moveTo>
                  <a:lnTo>
                    <a:pt x="1320800" y="0"/>
                  </a:lnTo>
                  <a:lnTo>
                    <a:pt x="1447800" y="190500"/>
                  </a:lnTo>
                  <a:lnTo>
                    <a:pt x="1320800" y="381000"/>
                  </a:lnTo>
                  <a:lnTo>
                    <a:pt x="0" y="381000"/>
                  </a:lnTo>
                  <a:lnTo>
                    <a:pt x="127000" y="190500"/>
                  </a:lnTo>
                  <a:close/>
                </a:path>
              </a:pathLst>
            </a:custGeom>
            <a:solidFill>
              <a:srgbClr val="070154"/>
            </a:solidFill>
            <a:ln>
              <a:noFill/>
            </a:ln>
          </p:spPr>
        </p:sp>
        <p:sp>
          <p:nvSpPr>
            <p:cNvPr id="18" name="phase2.text"/>
            <p:cNvSpPr/>
            <p:nvPr/>
          </p:nvSpPr>
          <p:spPr>
            <a:xfrm>
              <a:off x="5803900" y="1657350"/>
              <a:ext cx="965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Build</a:t>
              </a:r>
              <a:endParaRPr lang="en-US" sz="1400" spc="0" kern="0" b="0" i="0" dirty="0">
                <a:solidFill>
                  <a:srgbClr val="FFFFFF"/>
                </a:solidFill>
                <a:latin typeface="IBM Plex Sans"/>
                <a:ea typeface="IBM Plex Sans"/>
                <a:cs typeface="IBM Plex Sans"/>
              </a:endParaRPr>
            </a:p>
          </p:txBody>
        </p:sp>
      </p:grpSp>
      <p:grpSp>
        <p:nvGrpSpPr>
          <p:cNvPr id="75" name="gate2"/>
          <p:cNvGrpSpPr/>
          <p:nvPr/>
        </p:nvGrpSpPr>
        <p:grpSpPr>
          <a:xfrm>
            <a:off x="5524500" y="2057400"/>
            <a:ext cx="1447800" cy="381000"/>
            <a:chOff x="5524500" y="2057400"/>
            <a:chExt cx="1447800" cy="381000"/>
          </a:xfrm>
        </p:grpSpPr>
        <p:sp>
          <p:nvSpPr>
            <p:cNvPr id="19" name="gate2.text"/>
            <p:cNvSpPr/>
            <p:nvPr/>
          </p:nvSpPr>
          <p:spPr>
            <a:xfrm>
              <a:off x="55245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Build · G4</a:t>
              </a:r>
              <a:endParaRPr lang="en-US" sz="900" spc="0" kern="0" b="0" i="0" dirty="0">
                <a:solidFill>
                  <a:srgbClr val="50658E"/>
                </a:solidFill>
                <a:latin typeface="IBM Plex Sans"/>
                <a:ea typeface="IBM Plex Sans"/>
                <a:cs typeface="IBM Plex Sans"/>
              </a:endParaRPr>
            </a:p>
          </p:txBody>
        </p:sp>
      </p:grpSp>
      <p:grpSp>
        <p:nvGrpSpPr>
          <p:cNvPr id="76" name="practice2"/>
          <p:cNvGrpSpPr/>
          <p:nvPr/>
        </p:nvGrpSpPr>
        <p:grpSpPr>
          <a:xfrm>
            <a:off x="5524500" y="2438400"/>
            <a:ext cx="1447800" cy="342900"/>
            <a:chOff x="5524500" y="2438400"/>
            <a:chExt cx="1447800" cy="342900"/>
          </a:xfrm>
        </p:grpSpPr>
        <p:sp>
          <p:nvSpPr>
            <p:cNvPr id="20" name="practice2.text"/>
            <p:cNvSpPr/>
            <p:nvPr/>
          </p:nvSpPr>
          <p:spPr>
            <a:xfrm>
              <a:off x="55245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Build</a:t>
              </a:r>
              <a:endParaRPr lang="en-US" sz="900" spc="0" kern="0" b="0" i="0" dirty="0">
                <a:solidFill>
                  <a:srgbClr val="070154"/>
                </a:solidFill>
                <a:latin typeface="IBM Plex Sans"/>
                <a:ea typeface="IBM Plex Sans"/>
                <a:cs typeface="IBM Plex Sans"/>
              </a:endParaRPr>
            </a:p>
          </p:txBody>
        </p:sp>
      </p:grpSp>
      <p:grpSp>
        <p:nvGrpSpPr>
          <p:cNvPr id="77" name="phase3"/>
          <p:cNvGrpSpPr/>
          <p:nvPr/>
        </p:nvGrpSpPr>
        <p:grpSpPr>
          <a:xfrm>
            <a:off x="7010400" y="1600200"/>
            <a:ext cx="1447800" cy="381000"/>
            <a:chOff x="7010400" y="1600200"/>
            <a:chExt cx="1447800" cy="381000"/>
          </a:xfrm>
        </p:grpSpPr>
        <p:sp>
          <p:nvSpPr>
            <p:cNvPr id="21" name="phase3.surface"/>
            <p:cNvSpPr/>
            <p:nvPr/>
          </p:nvSpPr>
          <p:spPr>
            <a:xfrm>
              <a:off x="7010400" y="1600200"/>
              <a:ext cx="1447800" cy="381000"/>
            </a:xfrm>
            <a:custGeom>
              <a:avLst/>
              <a:gdLst/>
              <a:ahLst/>
              <a:cxnLst/>
              <a:rect l="l" t="t" r="r" b="b"/>
              <a:pathLst>
                <a:path w="1447800" h="381000">
                  <a:moveTo>
                    <a:pt x="0" y="0"/>
                  </a:moveTo>
                  <a:lnTo>
                    <a:pt x="1320800" y="0"/>
                  </a:lnTo>
                  <a:lnTo>
                    <a:pt x="1447800" y="190500"/>
                  </a:lnTo>
                  <a:lnTo>
                    <a:pt x="1320800" y="381000"/>
                  </a:lnTo>
                  <a:lnTo>
                    <a:pt x="0" y="381000"/>
                  </a:lnTo>
                  <a:lnTo>
                    <a:pt x="127000" y="190500"/>
                  </a:lnTo>
                  <a:close/>
                </a:path>
              </a:pathLst>
            </a:custGeom>
            <a:solidFill>
              <a:srgbClr val="070154"/>
            </a:solidFill>
            <a:ln>
              <a:noFill/>
            </a:ln>
          </p:spPr>
        </p:sp>
        <p:sp>
          <p:nvSpPr>
            <p:cNvPr id="22" name="phase3.text"/>
            <p:cNvSpPr/>
            <p:nvPr/>
          </p:nvSpPr>
          <p:spPr>
            <a:xfrm>
              <a:off x="7289800" y="1657350"/>
              <a:ext cx="965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Release</a:t>
              </a:r>
              <a:endParaRPr lang="en-US" sz="1400" spc="0" kern="0" b="0" i="0" dirty="0">
                <a:solidFill>
                  <a:srgbClr val="FFFFFF"/>
                </a:solidFill>
                <a:latin typeface="IBM Plex Sans"/>
                <a:ea typeface="IBM Plex Sans"/>
                <a:cs typeface="IBM Plex Sans"/>
              </a:endParaRPr>
            </a:p>
          </p:txBody>
        </p:sp>
      </p:grpSp>
      <p:grpSp>
        <p:nvGrpSpPr>
          <p:cNvPr id="78" name="gate3"/>
          <p:cNvGrpSpPr/>
          <p:nvPr/>
        </p:nvGrpSpPr>
        <p:grpSpPr>
          <a:xfrm>
            <a:off x="7010400" y="2057400"/>
            <a:ext cx="1447800" cy="381000"/>
            <a:chOff x="7010400" y="2057400"/>
            <a:chExt cx="1447800" cy="381000"/>
          </a:xfrm>
        </p:grpSpPr>
        <p:sp>
          <p:nvSpPr>
            <p:cNvPr id="23" name="gate3.text"/>
            <p:cNvSpPr/>
            <p:nvPr/>
          </p:nvSpPr>
          <p:spPr>
            <a:xfrm>
              <a:off x="70104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Beta / Pilot</a:t>
              </a:r>
              <a:endParaRPr lang="en-US" sz="900" spc="0" kern="0" b="0" i="0" dirty="0">
                <a:solidFill>
                  <a:srgbClr val="50658E"/>
                </a:solidFill>
                <a:latin typeface="IBM Plex Sans"/>
                <a:ea typeface="IBM Plex Sans"/>
                <a:cs typeface="IBM Plex Sans"/>
              </a:endParaRPr>
            </a:p>
          </p:txBody>
        </p:sp>
      </p:grpSp>
      <p:grpSp>
        <p:nvGrpSpPr>
          <p:cNvPr id="79" name="practice3"/>
          <p:cNvGrpSpPr/>
          <p:nvPr/>
        </p:nvGrpSpPr>
        <p:grpSpPr>
          <a:xfrm>
            <a:off x="7010400" y="2438400"/>
            <a:ext cx="1447800" cy="342900"/>
            <a:chOff x="7010400" y="2438400"/>
            <a:chExt cx="1447800" cy="342900"/>
          </a:xfrm>
        </p:grpSpPr>
        <p:sp>
          <p:nvSpPr>
            <p:cNvPr id="24" name="practice3.text"/>
            <p:cNvSpPr/>
            <p:nvPr/>
          </p:nvSpPr>
          <p:spPr>
            <a:xfrm>
              <a:off x="70104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Release</a:t>
              </a:r>
              <a:endParaRPr lang="en-US" sz="900" spc="0" kern="0" b="0" i="0" dirty="0">
                <a:solidFill>
                  <a:srgbClr val="070154"/>
                </a:solidFill>
                <a:latin typeface="IBM Plex Sans"/>
                <a:ea typeface="IBM Plex Sans"/>
                <a:cs typeface="IBM Plex Sans"/>
              </a:endParaRPr>
            </a:p>
          </p:txBody>
        </p:sp>
      </p:grpSp>
      <p:grpSp>
        <p:nvGrpSpPr>
          <p:cNvPr id="80" name="phase4"/>
          <p:cNvGrpSpPr/>
          <p:nvPr/>
        </p:nvGrpSpPr>
        <p:grpSpPr>
          <a:xfrm>
            <a:off x="8496300" y="1600200"/>
            <a:ext cx="1447800" cy="381000"/>
            <a:chOff x="8496300" y="1600200"/>
            <a:chExt cx="1447800" cy="381000"/>
          </a:xfrm>
        </p:grpSpPr>
        <p:sp>
          <p:nvSpPr>
            <p:cNvPr id="25" name="phase4.surface"/>
            <p:cNvSpPr/>
            <p:nvPr/>
          </p:nvSpPr>
          <p:spPr>
            <a:xfrm>
              <a:off x="8496300" y="1600200"/>
              <a:ext cx="1447800" cy="381000"/>
            </a:xfrm>
            <a:custGeom>
              <a:avLst/>
              <a:gdLst/>
              <a:ahLst/>
              <a:cxnLst/>
              <a:rect l="l" t="t" r="r" b="b"/>
              <a:pathLst>
                <a:path w="1447800" h="381000">
                  <a:moveTo>
                    <a:pt x="0" y="0"/>
                  </a:moveTo>
                  <a:lnTo>
                    <a:pt x="1320800" y="0"/>
                  </a:lnTo>
                  <a:lnTo>
                    <a:pt x="1447800" y="190500"/>
                  </a:lnTo>
                  <a:lnTo>
                    <a:pt x="1320800" y="381000"/>
                  </a:lnTo>
                  <a:lnTo>
                    <a:pt x="0" y="381000"/>
                  </a:lnTo>
                  <a:lnTo>
                    <a:pt x="127000" y="190500"/>
                  </a:lnTo>
                  <a:close/>
                </a:path>
              </a:pathLst>
            </a:custGeom>
            <a:solidFill>
              <a:srgbClr val="070154"/>
            </a:solidFill>
            <a:ln>
              <a:noFill/>
            </a:ln>
          </p:spPr>
        </p:sp>
        <p:sp>
          <p:nvSpPr>
            <p:cNvPr id="26" name="phase4.text"/>
            <p:cNvSpPr/>
            <p:nvPr/>
          </p:nvSpPr>
          <p:spPr>
            <a:xfrm>
              <a:off x="8775700" y="1657350"/>
              <a:ext cx="965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GTM</a:t>
              </a:r>
              <a:endParaRPr lang="en-US" sz="1400" spc="0" kern="0" b="0" i="0" dirty="0">
                <a:solidFill>
                  <a:srgbClr val="FFFFFF"/>
                </a:solidFill>
                <a:latin typeface="IBM Plex Sans"/>
                <a:ea typeface="IBM Plex Sans"/>
                <a:cs typeface="IBM Plex Sans"/>
              </a:endParaRPr>
            </a:p>
          </p:txBody>
        </p:sp>
      </p:grpSp>
      <p:grpSp>
        <p:nvGrpSpPr>
          <p:cNvPr id="81" name="gate4"/>
          <p:cNvGrpSpPr/>
          <p:nvPr/>
        </p:nvGrpSpPr>
        <p:grpSpPr>
          <a:xfrm>
            <a:off x="8496300" y="2057400"/>
            <a:ext cx="1447800" cy="381000"/>
            <a:chOff x="8496300" y="2057400"/>
            <a:chExt cx="1447800" cy="381000"/>
          </a:xfrm>
        </p:grpSpPr>
        <p:sp>
          <p:nvSpPr>
            <p:cNvPr id="27" name="gate4.text"/>
            <p:cNvSpPr/>
            <p:nvPr/>
          </p:nvSpPr>
          <p:spPr>
            <a:xfrm>
              <a:off x="84963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Launch · G5</a:t>
              </a:r>
              <a:endParaRPr lang="en-US" sz="900" spc="0" kern="0" b="0" i="0" dirty="0">
                <a:solidFill>
                  <a:srgbClr val="50658E"/>
                </a:solidFill>
                <a:latin typeface="IBM Plex Sans"/>
                <a:ea typeface="IBM Plex Sans"/>
                <a:cs typeface="IBM Plex Sans"/>
              </a:endParaRPr>
            </a:p>
          </p:txBody>
        </p:sp>
      </p:grpSp>
      <p:grpSp>
        <p:nvGrpSpPr>
          <p:cNvPr id="82" name="practice4"/>
          <p:cNvGrpSpPr/>
          <p:nvPr/>
        </p:nvGrpSpPr>
        <p:grpSpPr>
          <a:xfrm>
            <a:off x="8496300" y="2438400"/>
            <a:ext cx="1447800" cy="342900"/>
            <a:chOff x="8496300" y="2438400"/>
            <a:chExt cx="1447800" cy="342900"/>
          </a:xfrm>
        </p:grpSpPr>
        <p:sp>
          <p:nvSpPr>
            <p:cNvPr id="28" name="practice4.text"/>
            <p:cNvSpPr/>
            <p:nvPr/>
          </p:nvSpPr>
          <p:spPr>
            <a:xfrm>
              <a:off x="84963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GTM</a:t>
              </a:r>
              <a:endParaRPr lang="en-US" sz="900" spc="0" kern="0" b="0" i="0" dirty="0">
                <a:solidFill>
                  <a:srgbClr val="070154"/>
                </a:solidFill>
                <a:latin typeface="IBM Plex Sans"/>
                <a:ea typeface="IBM Plex Sans"/>
                <a:cs typeface="IBM Plex Sans"/>
              </a:endParaRPr>
            </a:p>
          </p:txBody>
        </p:sp>
      </p:grpSp>
      <p:grpSp>
        <p:nvGrpSpPr>
          <p:cNvPr id="83" name="phase5"/>
          <p:cNvGrpSpPr/>
          <p:nvPr/>
        </p:nvGrpSpPr>
        <p:grpSpPr>
          <a:xfrm>
            <a:off x="9982200" y="1600200"/>
            <a:ext cx="1447800" cy="381000"/>
            <a:chOff x="9982200" y="1600200"/>
            <a:chExt cx="1447800" cy="381000"/>
          </a:xfrm>
        </p:grpSpPr>
        <p:sp>
          <p:nvSpPr>
            <p:cNvPr id="29" name="phase5.surface"/>
            <p:cNvSpPr/>
            <p:nvPr/>
          </p:nvSpPr>
          <p:spPr>
            <a:xfrm>
              <a:off x="9982200" y="1600200"/>
              <a:ext cx="1447800" cy="381000"/>
            </a:xfrm>
            <a:custGeom>
              <a:avLst/>
              <a:gdLst/>
              <a:ahLst/>
              <a:cxnLst/>
              <a:rect l="l" t="t" r="r" b="b"/>
              <a:pathLst>
                <a:path w="1447800" h="381000">
                  <a:moveTo>
                    <a:pt x="0" y="0"/>
                  </a:moveTo>
                  <a:lnTo>
                    <a:pt x="1320800" y="0"/>
                  </a:lnTo>
                  <a:lnTo>
                    <a:pt x="1447800" y="190500"/>
                  </a:lnTo>
                  <a:lnTo>
                    <a:pt x="1320800" y="381000"/>
                  </a:lnTo>
                  <a:lnTo>
                    <a:pt x="0" y="381000"/>
                  </a:lnTo>
                  <a:lnTo>
                    <a:pt x="127000" y="190500"/>
                  </a:lnTo>
                  <a:close/>
                </a:path>
              </a:pathLst>
            </a:custGeom>
            <a:solidFill>
              <a:srgbClr val="070154"/>
            </a:solidFill>
            <a:ln>
              <a:noFill/>
            </a:ln>
          </p:spPr>
        </p:sp>
        <p:sp>
          <p:nvSpPr>
            <p:cNvPr id="30" name="phase5.text"/>
            <p:cNvSpPr/>
            <p:nvPr/>
          </p:nvSpPr>
          <p:spPr>
            <a:xfrm>
              <a:off x="10261600" y="1657350"/>
              <a:ext cx="965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Optimize</a:t>
              </a:r>
              <a:endParaRPr lang="en-US" sz="1400" spc="0" kern="0" b="0" i="0" dirty="0">
                <a:solidFill>
                  <a:srgbClr val="FFFFFF"/>
                </a:solidFill>
                <a:latin typeface="IBM Plex Sans"/>
                <a:ea typeface="IBM Plex Sans"/>
                <a:cs typeface="IBM Plex Sans"/>
              </a:endParaRPr>
            </a:p>
          </p:txBody>
        </p:sp>
      </p:grpSp>
      <p:grpSp>
        <p:nvGrpSpPr>
          <p:cNvPr id="84" name="gate5"/>
          <p:cNvGrpSpPr/>
          <p:nvPr/>
        </p:nvGrpSpPr>
        <p:grpSpPr>
          <a:xfrm>
            <a:off x="9982200" y="2057400"/>
            <a:ext cx="1447800" cy="381000"/>
            <a:chOff x="9982200" y="2057400"/>
            <a:chExt cx="1447800" cy="381000"/>
          </a:xfrm>
        </p:grpSpPr>
        <p:sp>
          <p:nvSpPr>
            <p:cNvPr id="31" name="gate5.text"/>
            <p:cNvSpPr/>
            <p:nvPr/>
          </p:nvSpPr>
          <p:spPr>
            <a:xfrm>
              <a:off x="99822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Post-launch review · G6</a:t>
              </a:r>
              <a:endParaRPr lang="en-US" sz="900" spc="0" kern="0" b="0" i="0" dirty="0">
                <a:solidFill>
                  <a:srgbClr val="50658E"/>
                </a:solidFill>
                <a:latin typeface="IBM Plex Sans"/>
                <a:ea typeface="IBM Plex Sans"/>
                <a:cs typeface="IBM Plex Sans"/>
              </a:endParaRPr>
            </a:p>
          </p:txBody>
        </p:sp>
      </p:grpSp>
      <p:grpSp>
        <p:nvGrpSpPr>
          <p:cNvPr id="85" name="practice5"/>
          <p:cNvGrpSpPr/>
          <p:nvPr/>
        </p:nvGrpSpPr>
        <p:grpSpPr>
          <a:xfrm>
            <a:off x="9982200" y="2438400"/>
            <a:ext cx="1447800" cy="342900"/>
            <a:chOff x="9982200" y="2438400"/>
            <a:chExt cx="1447800" cy="342900"/>
          </a:xfrm>
        </p:grpSpPr>
        <p:sp>
          <p:nvSpPr>
            <p:cNvPr id="32" name="practice5.text"/>
            <p:cNvSpPr/>
            <p:nvPr/>
          </p:nvSpPr>
          <p:spPr>
            <a:xfrm>
              <a:off x="99822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Measurement and feedback</a:t>
              </a:r>
              <a:endParaRPr lang="en-US" sz="900" spc="0" kern="0" b="0" i="0" dirty="0">
                <a:solidFill>
                  <a:srgbClr val="070154"/>
                </a:solidFill>
                <a:latin typeface="IBM Plex Sans"/>
                <a:ea typeface="IBM Plex Sans"/>
                <a:cs typeface="IBM Plex Sans"/>
              </a:endParaRPr>
            </a:p>
          </p:txBody>
        </p:sp>
      </p:grpSp>
      <p:grpSp>
        <p:nvGrpSpPr>
          <p:cNvPr id="86" name="gate-label"/>
          <p:cNvGrpSpPr/>
          <p:nvPr/>
        </p:nvGrpSpPr>
        <p:grpSpPr>
          <a:xfrm>
            <a:off x="723900" y="2057400"/>
            <a:ext cx="1752600" cy="381000"/>
            <a:chOff x="723900" y="2057400"/>
            <a:chExt cx="1752600" cy="381000"/>
          </a:xfrm>
        </p:grpSpPr>
        <p:sp>
          <p:nvSpPr>
            <p:cNvPr id="33" name="gate-label.text"/>
            <p:cNvSpPr/>
            <p:nvPr/>
          </p:nvSpPr>
          <p:spPr>
            <a:xfrm>
              <a:off x="723900" y="2057400"/>
              <a:ext cx="17526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DXC Concord gates</a:t>
              </a:r>
              <a:endParaRPr lang="en-US" sz="900" spc="0" kern="0" b="0" i="0" dirty="0">
                <a:solidFill>
                  <a:srgbClr val="50658E"/>
                </a:solidFill>
                <a:latin typeface="IBM Plex Sans"/>
                <a:ea typeface="IBM Plex Sans"/>
                <a:cs typeface="IBM Plex Sans"/>
              </a:endParaRPr>
            </a:p>
          </p:txBody>
        </p:sp>
      </p:grpSp>
      <p:grpSp>
        <p:nvGrpSpPr>
          <p:cNvPr id="87" name="practice-label"/>
          <p:cNvGrpSpPr/>
          <p:nvPr/>
        </p:nvGrpSpPr>
        <p:grpSpPr>
          <a:xfrm>
            <a:off x="723900" y="2438400"/>
            <a:ext cx="1752600" cy="342900"/>
            <a:chOff x="723900" y="2438400"/>
            <a:chExt cx="1752600" cy="342900"/>
          </a:xfrm>
        </p:grpSpPr>
        <p:sp>
          <p:nvSpPr>
            <p:cNvPr id="34" name="practice-label.text"/>
            <p:cNvSpPr/>
            <p:nvPr/>
          </p:nvSpPr>
          <p:spPr>
            <a:xfrm>
              <a:off x="723900" y="2438400"/>
              <a:ext cx="17526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Practices Map</a:t>
              </a:r>
              <a:endParaRPr lang="en-US" sz="900" spc="0" kern="0" b="0" i="0" dirty="0">
                <a:solidFill>
                  <a:srgbClr val="070154"/>
                </a:solidFill>
                <a:latin typeface="IBM Plex Sans"/>
                <a:ea typeface="IBM Plex Sans"/>
                <a:cs typeface="IBM Plex Sans"/>
              </a:endParaRPr>
            </a:p>
          </p:txBody>
        </p:sp>
      </p:grpSp>
      <p:grpSp>
        <p:nvGrpSpPr>
          <p:cNvPr id="88" name="artifact0"/>
          <p:cNvGrpSpPr/>
          <p:nvPr/>
        </p:nvGrpSpPr>
        <p:grpSpPr>
          <a:xfrm>
            <a:off x="723900" y="2857500"/>
            <a:ext cx="1752600" cy="342900"/>
            <a:chOff x="723900" y="2857500"/>
            <a:chExt cx="1752600" cy="342900"/>
          </a:xfrm>
        </p:grpSpPr>
        <p:sp>
          <p:nvSpPr>
            <p:cNvPr id="35" name="artifact0.surface"/>
            <p:cNvSpPr/>
            <p:nvPr/>
          </p:nvSpPr>
          <p:spPr>
            <a:xfrm>
              <a:off x="723900" y="2857500"/>
              <a:ext cx="1752600" cy="342900"/>
            </a:xfrm>
            <a:prstGeom prst="rect">
              <a:avLst/>
            </a:prstGeom>
            <a:solidFill>
              <a:srgbClr val="E8EEF8"/>
            </a:solidFill>
            <a:ln>
              <a:noFill/>
            </a:ln>
          </p:spPr>
        </p:sp>
        <p:sp>
          <p:nvSpPr>
            <p:cNvPr id="36" name="artifact0.text"/>
            <p:cNvSpPr/>
            <p:nvPr/>
          </p:nvSpPr>
          <p:spPr>
            <a:xfrm>
              <a:off x="876300" y="2952750"/>
              <a:ext cx="1447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01 Opportunity Brief</a:t>
              </a:r>
              <a:endParaRPr lang="en-US" sz="900" spc="0" kern="0" b="0" i="0" dirty="0">
                <a:solidFill>
                  <a:srgbClr val="070154"/>
                </a:solidFill>
                <a:latin typeface="IBM Plex Sans"/>
                <a:ea typeface="IBM Plex Sans"/>
                <a:cs typeface="IBM Plex Sans"/>
              </a:endParaRPr>
            </a:p>
          </p:txBody>
        </p:sp>
      </p:grpSp>
      <p:grpSp>
        <p:nvGrpSpPr>
          <p:cNvPr id="89" name="review0"/>
          <p:cNvGrpSpPr/>
          <p:nvPr/>
        </p:nvGrpSpPr>
        <p:grpSpPr>
          <a:xfrm>
            <a:off x="2552700" y="2857500"/>
            <a:ext cx="1447800" cy="342900"/>
            <a:chOff x="2552700" y="2857500"/>
            <a:chExt cx="1447800" cy="342900"/>
          </a:xfrm>
        </p:grpSpPr>
        <p:sp>
          <p:nvSpPr>
            <p:cNvPr id="37" name="review0.surface"/>
            <p:cNvSpPr/>
            <p:nvPr/>
          </p:nvSpPr>
          <p:spPr>
            <a:xfrm>
              <a:off x="2552700" y="2857500"/>
              <a:ext cx="1447800" cy="342900"/>
            </a:xfrm>
            <a:prstGeom prst="rect">
              <a:avLst/>
            </a:prstGeom>
            <a:solidFill>
              <a:srgbClr val="070154"/>
            </a:solidFill>
            <a:ln>
              <a:noFill/>
            </a:ln>
          </p:spPr>
        </p:sp>
        <p:sp>
          <p:nvSpPr>
            <p:cNvPr id="38" name="review0.text"/>
            <p:cNvSpPr/>
            <p:nvPr/>
          </p:nvSpPr>
          <p:spPr>
            <a:xfrm>
              <a:off x="2705100" y="2876550"/>
              <a:ext cx="1143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   Senior leader: worth defining?</a:t>
              </a:r>
              <a:endParaRPr lang="en-US" sz="900" spc="0" kern="0" b="0" i="0" dirty="0">
                <a:solidFill>
                  <a:srgbClr val="FFFFFF"/>
                </a:solidFill>
                <a:latin typeface="IBM Plex Sans"/>
                <a:ea typeface="IBM Plex Sans"/>
                <a:cs typeface="IBM Plex Sans"/>
              </a:endParaRPr>
            </a:p>
          </p:txBody>
        </p:sp>
      </p:grpSp>
      <p:grpSp>
        <p:nvGrpSpPr>
          <p:cNvPr id="90" name="artifact1"/>
          <p:cNvGrpSpPr/>
          <p:nvPr/>
        </p:nvGrpSpPr>
        <p:grpSpPr>
          <a:xfrm>
            <a:off x="723900" y="3238500"/>
            <a:ext cx="1752600" cy="342900"/>
            <a:chOff x="723900" y="3238500"/>
            <a:chExt cx="1752600" cy="342900"/>
          </a:xfrm>
        </p:grpSpPr>
        <p:sp>
          <p:nvSpPr>
            <p:cNvPr id="39" name="artifact1.surface"/>
            <p:cNvSpPr/>
            <p:nvPr/>
          </p:nvSpPr>
          <p:spPr>
            <a:xfrm>
              <a:off x="723900" y="3238500"/>
              <a:ext cx="1752600" cy="342900"/>
            </a:xfrm>
            <a:prstGeom prst="rect">
              <a:avLst/>
            </a:prstGeom>
            <a:solidFill>
              <a:srgbClr val="E8EEF8"/>
            </a:solidFill>
            <a:ln>
              <a:noFill/>
            </a:ln>
          </p:spPr>
        </p:sp>
        <p:sp>
          <p:nvSpPr>
            <p:cNvPr id="40" name="artifact1.text"/>
            <p:cNvSpPr/>
            <p:nvPr/>
          </p:nvSpPr>
          <p:spPr>
            <a:xfrm>
              <a:off x="876300" y="3333750"/>
              <a:ext cx="1447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02 Product Brief</a:t>
              </a:r>
              <a:endParaRPr lang="en-US" sz="900" spc="0" kern="0" b="0" i="0" dirty="0">
                <a:solidFill>
                  <a:srgbClr val="070154"/>
                </a:solidFill>
                <a:latin typeface="IBM Plex Sans"/>
                <a:ea typeface="IBM Plex Sans"/>
                <a:cs typeface="IBM Plex Sans"/>
              </a:endParaRPr>
            </a:p>
          </p:txBody>
        </p:sp>
      </p:grpSp>
      <p:grpSp>
        <p:nvGrpSpPr>
          <p:cNvPr id="91" name="review1"/>
          <p:cNvGrpSpPr/>
          <p:nvPr/>
        </p:nvGrpSpPr>
        <p:grpSpPr>
          <a:xfrm>
            <a:off x="4038600" y="3238500"/>
            <a:ext cx="1447800" cy="342900"/>
            <a:chOff x="4038600" y="3238500"/>
            <a:chExt cx="1447800" cy="342900"/>
          </a:xfrm>
        </p:grpSpPr>
        <p:sp>
          <p:nvSpPr>
            <p:cNvPr id="41" name="review1.surface"/>
            <p:cNvSpPr/>
            <p:nvPr/>
          </p:nvSpPr>
          <p:spPr>
            <a:xfrm>
              <a:off x="4038600" y="3238500"/>
              <a:ext cx="1447800" cy="342900"/>
            </a:xfrm>
            <a:prstGeom prst="rect">
              <a:avLst/>
            </a:prstGeom>
            <a:solidFill>
              <a:srgbClr val="070154"/>
            </a:solidFill>
            <a:ln>
              <a:noFill/>
            </a:ln>
          </p:spPr>
        </p:sp>
        <p:sp>
          <p:nvSpPr>
            <p:cNvPr id="42" name="review1.text"/>
            <p:cNvSpPr/>
            <p:nvPr/>
          </p:nvSpPr>
          <p:spPr>
            <a:xfrm>
              <a:off x="4191000" y="3257550"/>
              <a:ext cx="1143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   Senior leader approves direction</a:t>
              </a:r>
              <a:endParaRPr lang="en-US" sz="900" spc="0" kern="0" b="0" i="0" dirty="0">
                <a:solidFill>
                  <a:srgbClr val="FFFFFF"/>
                </a:solidFill>
                <a:latin typeface="IBM Plex Sans"/>
                <a:ea typeface="IBM Plex Sans"/>
                <a:cs typeface="IBM Plex Sans"/>
              </a:endParaRPr>
            </a:p>
          </p:txBody>
        </p:sp>
      </p:grpSp>
      <p:grpSp>
        <p:nvGrpSpPr>
          <p:cNvPr id="92" name="artifact2"/>
          <p:cNvGrpSpPr/>
          <p:nvPr/>
        </p:nvGrpSpPr>
        <p:grpSpPr>
          <a:xfrm>
            <a:off x="723900" y="3619500"/>
            <a:ext cx="1752600" cy="342900"/>
            <a:chOff x="723900" y="3619500"/>
            <a:chExt cx="1752600" cy="342900"/>
          </a:xfrm>
        </p:grpSpPr>
        <p:sp>
          <p:nvSpPr>
            <p:cNvPr id="43" name="artifact2.surface"/>
            <p:cNvSpPr/>
            <p:nvPr/>
          </p:nvSpPr>
          <p:spPr>
            <a:xfrm>
              <a:off x="723900" y="3619500"/>
              <a:ext cx="1752600" cy="342900"/>
            </a:xfrm>
            <a:prstGeom prst="rect">
              <a:avLst/>
            </a:prstGeom>
            <a:solidFill>
              <a:srgbClr val="E8EEF8"/>
            </a:solidFill>
            <a:ln>
              <a:noFill/>
            </a:ln>
          </p:spPr>
        </p:sp>
        <p:sp>
          <p:nvSpPr>
            <p:cNvPr id="44" name="artifact2.text"/>
            <p:cNvSpPr/>
            <p:nvPr/>
          </p:nvSpPr>
          <p:spPr>
            <a:xfrm>
              <a:off x="876300" y="3714750"/>
              <a:ext cx="1447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03 Feature Brief</a:t>
              </a:r>
              <a:endParaRPr lang="en-US" sz="900" spc="0" kern="0" b="0" i="0" dirty="0">
                <a:solidFill>
                  <a:srgbClr val="070154"/>
                </a:solidFill>
                <a:latin typeface="IBM Plex Sans"/>
                <a:ea typeface="IBM Plex Sans"/>
                <a:cs typeface="IBM Plex Sans"/>
              </a:endParaRPr>
            </a:p>
          </p:txBody>
        </p:sp>
      </p:grpSp>
      <p:grpSp>
        <p:nvGrpSpPr>
          <p:cNvPr id="93" name="review2"/>
          <p:cNvGrpSpPr/>
          <p:nvPr/>
        </p:nvGrpSpPr>
        <p:grpSpPr>
          <a:xfrm>
            <a:off x="4038600" y="3619500"/>
            <a:ext cx="2933700" cy="342900"/>
            <a:chOff x="4038600" y="3619500"/>
            <a:chExt cx="2933700" cy="342900"/>
          </a:xfrm>
        </p:grpSpPr>
        <p:sp>
          <p:nvSpPr>
            <p:cNvPr id="45" name="review2.surface"/>
            <p:cNvSpPr/>
            <p:nvPr/>
          </p:nvSpPr>
          <p:spPr>
            <a:xfrm>
              <a:off x="4038600" y="3619500"/>
              <a:ext cx="2933700" cy="342900"/>
            </a:xfrm>
            <a:prstGeom prst="rect">
              <a:avLst/>
            </a:prstGeom>
            <a:solidFill>
              <a:srgbClr val="070154"/>
            </a:solidFill>
            <a:ln>
              <a:noFill/>
            </a:ln>
          </p:spPr>
        </p:sp>
        <p:sp>
          <p:nvSpPr>
            <p:cNvPr id="46" name="review2.text"/>
            <p:cNvSpPr/>
            <p:nvPr/>
          </p:nvSpPr>
          <p:spPr>
            <a:xfrm>
              <a:off x="4191000" y="3638550"/>
              <a:ext cx="26289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   Product, Engineering, and QA or Design: ready to build</a:t>
              </a:r>
              <a:endParaRPr lang="en-US" sz="900" spc="0" kern="0" b="0" i="0" dirty="0">
                <a:solidFill>
                  <a:srgbClr val="FFFFFF"/>
                </a:solidFill>
                <a:latin typeface="IBM Plex Sans"/>
                <a:ea typeface="IBM Plex Sans"/>
                <a:cs typeface="IBM Plex Sans"/>
              </a:endParaRPr>
            </a:p>
          </p:txBody>
        </p:sp>
      </p:grpSp>
      <p:grpSp>
        <p:nvGrpSpPr>
          <p:cNvPr id="94" name="artifact3"/>
          <p:cNvGrpSpPr/>
          <p:nvPr/>
        </p:nvGrpSpPr>
        <p:grpSpPr>
          <a:xfrm>
            <a:off x="723900" y="4000500"/>
            <a:ext cx="1752600" cy="342900"/>
            <a:chOff x="723900" y="4000500"/>
            <a:chExt cx="1752600" cy="342900"/>
          </a:xfrm>
        </p:grpSpPr>
        <p:sp>
          <p:nvSpPr>
            <p:cNvPr id="47" name="artifact3.surface"/>
            <p:cNvSpPr/>
            <p:nvPr/>
          </p:nvSpPr>
          <p:spPr>
            <a:xfrm>
              <a:off x="723900" y="4000500"/>
              <a:ext cx="1752600" cy="342900"/>
            </a:xfrm>
            <a:prstGeom prst="rect">
              <a:avLst/>
            </a:prstGeom>
            <a:solidFill>
              <a:srgbClr val="E8EEF8"/>
            </a:solidFill>
            <a:ln>
              <a:noFill/>
            </a:ln>
          </p:spPr>
        </p:sp>
        <p:sp>
          <p:nvSpPr>
            <p:cNvPr id="48" name="artifact3.text"/>
            <p:cNvSpPr/>
            <p:nvPr/>
          </p:nvSpPr>
          <p:spPr>
            <a:xfrm>
              <a:off x="876300" y="4019550"/>
              <a:ext cx="1447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04 Technical Implementation Plan</a:t>
              </a:r>
              <a:endParaRPr lang="en-US" sz="900" spc="0" kern="0" b="0" i="0" dirty="0">
                <a:solidFill>
                  <a:srgbClr val="070154"/>
                </a:solidFill>
                <a:latin typeface="IBM Plex Sans"/>
                <a:ea typeface="IBM Plex Sans"/>
                <a:cs typeface="IBM Plex Sans"/>
              </a:endParaRPr>
            </a:p>
          </p:txBody>
        </p:sp>
      </p:grpSp>
      <p:grpSp>
        <p:nvGrpSpPr>
          <p:cNvPr id="95" name="review3"/>
          <p:cNvGrpSpPr/>
          <p:nvPr/>
        </p:nvGrpSpPr>
        <p:grpSpPr>
          <a:xfrm>
            <a:off x="5524500" y="4000500"/>
            <a:ext cx="1447800" cy="342900"/>
            <a:chOff x="5524500" y="4000500"/>
            <a:chExt cx="1447800" cy="342900"/>
          </a:xfrm>
        </p:grpSpPr>
        <p:sp>
          <p:nvSpPr>
            <p:cNvPr id="49" name="review3.surface"/>
            <p:cNvSpPr/>
            <p:nvPr/>
          </p:nvSpPr>
          <p:spPr>
            <a:xfrm>
              <a:off x="5524500" y="4000500"/>
              <a:ext cx="1447800" cy="342900"/>
            </a:xfrm>
            <a:prstGeom prst="rect">
              <a:avLst/>
            </a:prstGeom>
            <a:solidFill>
              <a:srgbClr val="070154"/>
            </a:solidFill>
            <a:ln>
              <a:noFill/>
            </a:ln>
          </p:spPr>
        </p:sp>
        <p:sp>
          <p:nvSpPr>
            <p:cNvPr id="50" name="review3.text"/>
            <p:cNvSpPr/>
            <p:nvPr/>
          </p:nvSpPr>
          <p:spPr>
            <a:xfrm>
              <a:off x="5676900" y="4019550"/>
              <a:ext cx="1143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Eng + reviewers</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Ready to execute</a:t>
              </a:r>
              <a:endParaRPr lang="en-US" sz="900" spc="0" kern="0" b="0" i="0" dirty="0">
                <a:solidFill>
                  <a:srgbClr val="FFFFFF"/>
                </a:solidFill>
                <a:latin typeface="IBM Plex Sans"/>
                <a:ea typeface="IBM Plex Sans"/>
                <a:cs typeface="IBM Plex Sans"/>
              </a:endParaRPr>
            </a:p>
          </p:txBody>
        </p:sp>
      </p:grpSp>
      <p:grpSp>
        <p:nvGrpSpPr>
          <p:cNvPr id="96" name="artifact4"/>
          <p:cNvGrpSpPr/>
          <p:nvPr/>
        </p:nvGrpSpPr>
        <p:grpSpPr>
          <a:xfrm>
            <a:off x="723900" y="4381500"/>
            <a:ext cx="1752600" cy="342900"/>
            <a:chOff x="723900" y="4381500"/>
            <a:chExt cx="1752600" cy="342900"/>
          </a:xfrm>
        </p:grpSpPr>
        <p:sp>
          <p:nvSpPr>
            <p:cNvPr id="51" name="artifact4.surface"/>
            <p:cNvSpPr/>
            <p:nvPr/>
          </p:nvSpPr>
          <p:spPr>
            <a:xfrm>
              <a:off x="723900" y="4381500"/>
              <a:ext cx="1752600" cy="342900"/>
            </a:xfrm>
            <a:prstGeom prst="rect">
              <a:avLst/>
            </a:prstGeom>
            <a:solidFill>
              <a:srgbClr val="E8EEF8"/>
            </a:solidFill>
            <a:ln>
              <a:noFill/>
            </a:ln>
          </p:spPr>
        </p:sp>
        <p:sp>
          <p:nvSpPr>
            <p:cNvPr id="52" name="artifact4.text"/>
            <p:cNvSpPr/>
            <p:nvPr/>
          </p:nvSpPr>
          <p:spPr>
            <a:xfrm>
              <a:off x="876300" y="4400550"/>
              <a:ext cx="1447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05 Testing, QA, and UAT Plan</a:t>
              </a:r>
              <a:endParaRPr lang="en-US" sz="900" spc="0" kern="0" b="0" i="0" dirty="0">
                <a:solidFill>
                  <a:srgbClr val="070154"/>
                </a:solidFill>
                <a:latin typeface="IBM Plex Sans"/>
                <a:ea typeface="IBM Plex Sans"/>
                <a:cs typeface="IBM Plex Sans"/>
              </a:endParaRPr>
            </a:p>
          </p:txBody>
        </p:sp>
      </p:grpSp>
      <p:grpSp>
        <p:nvGrpSpPr>
          <p:cNvPr id="97" name="review4"/>
          <p:cNvGrpSpPr/>
          <p:nvPr/>
        </p:nvGrpSpPr>
        <p:grpSpPr>
          <a:xfrm>
            <a:off x="4038600" y="4381500"/>
            <a:ext cx="4419600" cy="342900"/>
            <a:chOff x="4038600" y="4381500"/>
            <a:chExt cx="4419600" cy="342900"/>
          </a:xfrm>
        </p:grpSpPr>
        <p:sp>
          <p:nvSpPr>
            <p:cNvPr id="53" name="review4.surface"/>
            <p:cNvSpPr/>
            <p:nvPr/>
          </p:nvSpPr>
          <p:spPr>
            <a:xfrm>
              <a:off x="4038600" y="4381500"/>
              <a:ext cx="4419600" cy="342900"/>
            </a:xfrm>
            <a:prstGeom prst="rect">
              <a:avLst/>
            </a:prstGeom>
            <a:solidFill>
              <a:srgbClr val="CED7E6"/>
            </a:solidFill>
            <a:ln>
              <a:noFill/>
            </a:ln>
          </p:spPr>
        </p:sp>
        <p:sp>
          <p:nvSpPr>
            <p:cNvPr id="54" name="review4.text"/>
            <p:cNvSpPr/>
            <p:nvPr/>
          </p:nvSpPr>
          <p:spPr>
            <a:xfrm>
              <a:off x="4191000" y="4400550"/>
              <a:ext cx="4114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Define → Release · Test evidence supports release readiness; Product accepts UAT</a:t>
              </a:r>
              <a:endParaRPr lang="en-US" sz="900" spc="0" kern="0" b="0" i="0" dirty="0">
                <a:solidFill>
                  <a:srgbClr val="070154"/>
                </a:solidFill>
                <a:latin typeface="IBM Plex Sans"/>
                <a:ea typeface="IBM Plex Sans"/>
                <a:cs typeface="IBM Plex Sans"/>
              </a:endParaRPr>
            </a:p>
          </p:txBody>
        </p:sp>
      </p:grpSp>
      <p:grpSp>
        <p:nvGrpSpPr>
          <p:cNvPr id="98" name="artifact5"/>
          <p:cNvGrpSpPr/>
          <p:nvPr/>
        </p:nvGrpSpPr>
        <p:grpSpPr>
          <a:xfrm>
            <a:off x="723900" y="4762500"/>
            <a:ext cx="1752600" cy="342900"/>
            <a:chOff x="723900" y="4762500"/>
            <a:chExt cx="1752600" cy="342900"/>
          </a:xfrm>
        </p:grpSpPr>
        <p:sp>
          <p:nvSpPr>
            <p:cNvPr id="55" name="artifact5.surface"/>
            <p:cNvSpPr/>
            <p:nvPr/>
          </p:nvSpPr>
          <p:spPr>
            <a:xfrm>
              <a:off x="723900" y="4762500"/>
              <a:ext cx="1752600" cy="342900"/>
            </a:xfrm>
            <a:prstGeom prst="rect">
              <a:avLst/>
            </a:prstGeom>
            <a:solidFill>
              <a:srgbClr val="E8EEF8"/>
            </a:solidFill>
            <a:ln>
              <a:noFill/>
            </a:ln>
          </p:spPr>
        </p:sp>
        <p:sp>
          <p:nvSpPr>
            <p:cNvPr id="56" name="artifact5.text"/>
            <p:cNvSpPr/>
            <p:nvPr/>
          </p:nvSpPr>
          <p:spPr>
            <a:xfrm>
              <a:off x="876300" y="4781550"/>
              <a:ext cx="1447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06 Initial Release and GTM Plan</a:t>
              </a:r>
              <a:endParaRPr lang="en-US" sz="900" spc="0" kern="0" b="0" i="0" dirty="0">
                <a:solidFill>
                  <a:srgbClr val="070154"/>
                </a:solidFill>
                <a:latin typeface="IBM Plex Sans"/>
                <a:ea typeface="IBM Plex Sans"/>
                <a:cs typeface="IBM Plex Sans"/>
              </a:endParaRPr>
            </a:p>
          </p:txBody>
        </p:sp>
      </p:grpSp>
      <p:grpSp>
        <p:nvGrpSpPr>
          <p:cNvPr id="99" name="review5"/>
          <p:cNvGrpSpPr/>
          <p:nvPr/>
        </p:nvGrpSpPr>
        <p:grpSpPr>
          <a:xfrm>
            <a:off x="4038600" y="4762500"/>
            <a:ext cx="7391400" cy="342900"/>
            <a:chOff x="4038600" y="4762500"/>
            <a:chExt cx="7391400" cy="342900"/>
          </a:xfrm>
        </p:grpSpPr>
        <p:sp>
          <p:nvSpPr>
            <p:cNvPr id="57" name="review5.surface"/>
            <p:cNvSpPr/>
            <p:nvPr/>
          </p:nvSpPr>
          <p:spPr>
            <a:xfrm>
              <a:off x="4038600" y="4762500"/>
              <a:ext cx="7391400" cy="342900"/>
            </a:xfrm>
            <a:prstGeom prst="rect">
              <a:avLst/>
            </a:prstGeom>
            <a:solidFill>
              <a:srgbClr val="CED7E6"/>
            </a:solidFill>
            <a:ln>
              <a:noFill/>
            </a:ln>
          </p:spPr>
        </p:sp>
        <p:sp>
          <p:nvSpPr>
            <p:cNvPr id="58" name="review5.text"/>
            <p:cNvSpPr/>
            <p:nvPr/>
          </p:nvSpPr>
          <p:spPr>
            <a:xfrm>
              <a:off x="4191000" y="485775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Starts in Define  ·     Go, Revise, Hold, or Stop per phase; expansion is a new decision in Optimize</a:t>
              </a:r>
              <a:endParaRPr lang="en-US" sz="900" spc="0" kern="0" b="0" i="0" dirty="0">
                <a:solidFill>
                  <a:srgbClr val="070154"/>
                </a:solidFill>
                <a:latin typeface="IBM Plex Sans"/>
                <a:ea typeface="IBM Plex Sans"/>
                <a:cs typeface="IBM Plex Sans"/>
              </a:endParaRPr>
            </a:p>
          </p:txBody>
        </p:sp>
      </p:grpSp>
      <p:grpSp>
        <p:nvGrpSpPr>
          <p:cNvPr id="100" name="ai-label"/>
          <p:cNvGrpSpPr/>
          <p:nvPr/>
        </p:nvGrpSpPr>
        <p:grpSpPr>
          <a:xfrm>
            <a:off x="723900" y="5105400"/>
            <a:ext cx="1752600" cy="533400"/>
            <a:chOff x="723900" y="5105400"/>
            <a:chExt cx="1752600" cy="533400"/>
          </a:xfrm>
        </p:grpSpPr>
        <p:sp>
          <p:nvSpPr>
            <p:cNvPr id="59" name="ai-label.text"/>
            <p:cNvSpPr/>
            <p:nvPr/>
          </p:nvSpPr>
          <p:spPr>
            <a:xfrm>
              <a:off x="723900" y="5105400"/>
              <a:ext cx="17526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047FF"/>
                  </a:solidFill>
                  <a:latin typeface="IBM Plex Sans"/>
                  <a:ea typeface="IBM Plex Sans"/>
                  <a:cs typeface="IBM Plex Sans"/>
                </a:rPr>
                <a:t>AI assistance today</a:t>
              </a:r>
              <a:endParaRPr lang="en-US" sz="900" spc="0" kern="0" b="0" i="0" dirty="0">
                <a:solidFill>
                  <a:srgbClr val="0047FF"/>
                </a:solidFill>
                <a:latin typeface="IBM Plex Sans"/>
                <a:ea typeface="IBM Plex Sans"/>
                <a:cs typeface="IBM Plex Sans"/>
              </a:endParaRPr>
            </a:p>
            <a:p>
              <a:pPr algn="l" indent="0" marL="0">
                <a:lnSpc>
                  <a:spcPts val="1200"/>
                </a:lnSpc>
                <a:buNone/>
              </a:pPr>
              <a:r>
                <a:rPr lang="en-US" sz="900" spc="0" kern="0" b="0" i="0" dirty="0">
                  <a:solidFill>
                    <a:srgbClr val="0047FF"/>
                  </a:solidFill>
                  <a:latin typeface="IBM Plex Sans"/>
                  <a:ea typeface="IBM Plex Sans"/>
                  <a:cs typeface="IBM Plex Sans"/>
                </a:rPr>
                <a:t>Human review required</a:t>
              </a:r>
              <a:endParaRPr lang="en-US" sz="900" spc="0" kern="0" b="0" i="0" dirty="0">
                <a:solidFill>
                  <a:srgbClr val="0047FF"/>
                </a:solidFill>
                <a:latin typeface="IBM Plex Sans"/>
                <a:ea typeface="IBM Plex Sans"/>
                <a:cs typeface="IBM Plex Sans"/>
              </a:endParaRPr>
            </a:p>
          </p:txBody>
        </p:sp>
      </p:grpSp>
      <p:grpSp>
        <p:nvGrpSpPr>
          <p:cNvPr id="101" name="ai-build"/>
          <p:cNvGrpSpPr/>
          <p:nvPr/>
        </p:nvGrpSpPr>
        <p:grpSpPr>
          <a:xfrm>
            <a:off x="5524500" y="5105400"/>
            <a:ext cx="1447800" cy="533400"/>
            <a:chOff x="5524500" y="5105400"/>
            <a:chExt cx="1447800" cy="533400"/>
          </a:xfrm>
        </p:grpSpPr>
        <p:sp>
          <p:nvSpPr>
            <p:cNvPr id="60" name="ai-build.text"/>
            <p:cNvSpPr/>
            <p:nvPr/>
          </p:nvSpPr>
          <p:spPr>
            <a:xfrm>
              <a:off x="5524500" y="5105400"/>
              <a:ext cx="14478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Recon agents: spec/story/tests. QA: Claude tests/diagnosis.</a:t>
              </a:r>
              <a:endParaRPr lang="en-US" sz="900" spc="0" kern="0" b="0" i="0" dirty="0">
                <a:solidFill>
                  <a:srgbClr val="070154"/>
                </a:solidFill>
                <a:latin typeface="IBM Plex Sans"/>
                <a:ea typeface="IBM Plex Sans"/>
                <a:cs typeface="IBM Plex Sans"/>
              </a:endParaRPr>
            </a:p>
          </p:txBody>
        </p:sp>
      </p:grpSp>
      <p:grpSp>
        <p:nvGrpSpPr>
          <p:cNvPr id="102" name="ai-release"/>
          <p:cNvGrpSpPr/>
          <p:nvPr/>
        </p:nvGrpSpPr>
        <p:grpSpPr>
          <a:xfrm>
            <a:off x="7010400" y="5105400"/>
            <a:ext cx="1447800" cy="533400"/>
            <a:chOff x="7010400" y="5105400"/>
            <a:chExt cx="1447800" cy="533400"/>
          </a:xfrm>
        </p:grpSpPr>
        <p:sp>
          <p:nvSpPr>
            <p:cNvPr id="61" name="ai-release.text"/>
            <p:cNvSpPr/>
            <p:nvPr/>
          </p:nvSpPr>
          <p:spPr>
            <a:xfrm>
              <a:off x="7010400" y="5105400"/>
              <a:ext cx="14478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Report: test → spec.</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Release Agent paused;</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drafts release notes.</a:t>
              </a:r>
              <a:endParaRPr lang="en-US" sz="900" spc="0" kern="0" b="0" i="0" dirty="0">
                <a:solidFill>
                  <a:srgbClr val="070154"/>
                </a:solidFill>
                <a:latin typeface="IBM Plex Sans"/>
                <a:ea typeface="IBM Plex Sans"/>
                <a:cs typeface="IBM Plex Sans"/>
              </a:endParaRPr>
            </a:p>
          </p:txBody>
        </p:sp>
      </p:grpSp>
      <p:grpSp>
        <p:nvGrpSpPr>
          <p:cNvPr id="103" name="rules"/>
          <p:cNvGrpSpPr/>
          <p:nvPr/>
        </p:nvGrpSpPr>
        <p:grpSpPr>
          <a:xfrm>
            <a:off x="723900" y="5715000"/>
            <a:ext cx="10744200" cy="457200"/>
            <a:chOff x="723900" y="5715000"/>
            <a:chExt cx="10744200" cy="457200"/>
          </a:xfrm>
        </p:grpSpPr>
        <p:sp>
          <p:nvSpPr>
            <p:cNvPr id="62" name="rules.surface"/>
            <p:cNvSpPr/>
            <p:nvPr/>
          </p:nvSpPr>
          <p:spPr>
            <a:xfrm>
              <a:off x="723900" y="5715000"/>
              <a:ext cx="10744200" cy="457200"/>
            </a:xfrm>
            <a:prstGeom prst="rect">
              <a:avLst/>
            </a:prstGeom>
            <a:solidFill>
              <a:srgbClr val="E8EEF8"/>
            </a:solidFill>
            <a:ln>
              <a:noFill/>
            </a:ln>
          </p:spPr>
        </p:sp>
        <p:sp>
          <p:nvSpPr>
            <p:cNvPr id="63" name="rules.text"/>
            <p:cNvSpPr/>
            <p:nvPr/>
          </p:nvSpPr>
          <p:spPr>
            <a:xfrm>
              <a:off x="876300" y="5867400"/>
              <a:ext cx="104394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Reviews end in Approve, Revise, Hold or Stop. Link Jira, design and tests. Unknowns retain an owner/date. Product + Engineering agree before customer, scope or date commitments.</a:t>
              </a:r>
              <a:endParaRPr lang="en-US" sz="900" spc="0" kern="0" b="0" i="0" dirty="0">
                <a:solidFill>
                  <a:srgbClr val="070154"/>
                </a:solidFill>
                <a:latin typeface="IBM Plex Sans"/>
                <a:ea typeface="IBM Plex Sans"/>
                <a:cs typeface="IBM Plex Sans"/>
              </a:endParaRPr>
            </a:p>
          </p:txBody>
        </p:sp>
      </p:grpSp>
      <p:grpSp>
        <p:nvGrpSpPr>
          <p:cNvPr id="104" name="client-brand"/>
          <p:cNvGrpSpPr/>
          <p:nvPr/>
        </p:nvGrpSpPr>
        <p:grpSpPr>
          <a:xfrm>
            <a:off x="10382250" y="457200"/>
            <a:ext cx="1028700" cy="457200"/>
            <a:chOff x="10382250" y="457200"/>
            <a:chExt cx="1028700" cy="457200"/>
          </a:xfrm>
        </p:grpSpPr>
        <p:pic>
          <p:nvPicPr>
            <p:cNvPr id="64"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xc-004">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4</a:t>
            </a:fld>
            <a:endParaRPr lang="en-US" sz="700" spc="0" kern="0" b="0" i="0" dirty="0">
              <a:solidFill>
                <a:srgbClr val="FFFFFF"/>
              </a:solidFill>
              <a:latin typeface="IBM Plex Mono SemiBold"/>
              <a:ea typeface="IBM Plex Mono SemiBold"/>
              <a:cs typeface="IBM Plex Mono SemiBold"/>
            </a:endParaRPr>
          </a:p>
        </p:txBody>
      </p:sp>
      <p:grpSp>
        <p:nvGrpSpPr>
          <p:cNvPr id="13" name="context"/>
          <p:cNvGrpSpPr/>
          <p:nvPr/>
        </p:nvGrpSpPr>
        <p:grpSpPr>
          <a:xfrm>
            <a:off x="723900" y="1143000"/>
            <a:ext cx="6172200" cy="457200"/>
            <a:chOff x="723900" y="1143000"/>
            <a:chExt cx="6172200" cy="457200"/>
          </a:xfrm>
        </p:grpSpPr>
        <p:sp>
          <p:nvSpPr>
            <p:cNvPr id="5" name="context.text"/>
            <p:cNvSpPr/>
            <p:nvPr/>
          </p:nvSpPr>
          <p:spPr>
            <a:xfrm>
              <a:off x="723900" y="1143000"/>
              <a:ext cx="6172200" cy="4572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FFFFF"/>
                  </a:solidFill>
                  <a:latin typeface="IBM Plex Mono SemiBold"/>
                  <a:ea typeface="IBM Plex Mono SemiBold"/>
                  <a:cs typeface="IBM Plex Mono SemiBold"/>
                </a:rPr>
                <a:t>DELIVERABLE 03</a:t>
              </a:r>
              <a:endParaRPr lang="en-US" sz="1000" spc="80" kern="0" b="0" i="0" dirty="0">
                <a:solidFill>
                  <a:srgbClr val="FFFFFF"/>
                </a:solidFill>
                <a:latin typeface="IBM Plex Mono SemiBold"/>
                <a:ea typeface="IBM Plex Mono SemiBold"/>
                <a:cs typeface="IBM Plex Mono SemiBold"/>
              </a:endParaRPr>
            </a:p>
          </p:txBody>
        </p:sp>
      </p:grpSp>
      <p:grpSp>
        <p:nvGrpSpPr>
          <p:cNvPr id="14" name="section-title"/>
          <p:cNvGrpSpPr/>
          <p:nvPr/>
        </p:nvGrpSpPr>
        <p:grpSpPr>
          <a:xfrm>
            <a:off x="723900" y="2209800"/>
            <a:ext cx="6858000" cy="1828800"/>
            <a:chOff x="723900" y="2209800"/>
            <a:chExt cx="6858000" cy="1828800"/>
          </a:xfrm>
        </p:grpSpPr>
        <p:sp>
          <p:nvSpPr>
            <p:cNvPr id="6" name="section-title.text"/>
            <p:cNvSpPr/>
            <p:nvPr/>
          </p:nvSpPr>
          <p:spPr>
            <a:xfrm>
              <a:off x="723900" y="2209800"/>
              <a:ext cx="6858000" cy="18288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Operating model</a:t>
              </a:r>
              <a:endParaRPr lang="en-US" sz="5400" spc="-135" kern="0" b="0" i="0" dirty="0">
                <a:solidFill>
                  <a:srgbClr val="FFFFFF"/>
                </a:solidFill>
                <a:latin typeface="IBM Plex Sans SemiBold"/>
                <a:ea typeface="IBM Plex Sans SemiBold"/>
                <a:cs typeface="IBM Plex Sans SemiBold"/>
              </a:endParaRPr>
            </a:p>
            <a:p>
              <a:pPr algn="l" indent="0" marL="0">
                <a:lnSpc>
                  <a:spcPts val="6000"/>
                </a:lnSpc>
                <a:buNone/>
              </a:pPr>
              <a:r>
                <a:rPr lang="en-US" sz="5400" spc="-135" kern="0" b="0" i="0" dirty="0">
                  <a:solidFill>
                    <a:srgbClr val="FFFFFF"/>
                  </a:solidFill>
                  <a:latin typeface="IBM Plex Sans SemiBold"/>
                  <a:ea typeface="IBM Plex Sans SemiBold"/>
                  <a:cs typeface="IBM Plex Sans SemiBold"/>
                </a:rPr>
                <a:t>activation roadmap</a:t>
              </a:r>
              <a:endParaRPr lang="en-US" sz="5400" spc="-135" kern="0" b="0" i="0" dirty="0">
                <a:solidFill>
                  <a:srgbClr val="FFFFFF"/>
                </a:solidFill>
                <a:latin typeface="IBM Plex Sans SemiBold"/>
                <a:ea typeface="IBM Plex Sans SemiBold"/>
                <a:cs typeface="IBM Plex Sans SemiBold"/>
              </a:endParaRPr>
            </a:p>
          </p:txBody>
        </p:sp>
      </p:grpSp>
      <p:grpSp>
        <p:nvGrpSpPr>
          <p:cNvPr id="15" name="subtitle"/>
          <p:cNvGrpSpPr/>
          <p:nvPr/>
        </p:nvGrpSpPr>
        <p:grpSpPr>
          <a:xfrm>
            <a:off x="723900" y="4191000"/>
            <a:ext cx="8686800" cy="762000"/>
            <a:chOff x="723900" y="4191000"/>
            <a:chExt cx="8686800" cy="762000"/>
          </a:xfrm>
        </p:grpSpPr>
        <p:sp>
          <p:nvSpPr>
            <p:cNvPr id="7" name="subtitle.text"/>
            <p:cNvSpPr/>
            <p:nvPr/>
          </p:nvSpPr>
          <p:spPr>
            <a:xfrm>
              <a:off x="723900" y="4191000"/>
              <a:ext cx="8686800" cy="7620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Now, Next and Future: prioritized recommendations for practices, decision rights, roles, measures and feedback loops that support scale.</a:t>
              </a:r>
              <a:endParaRPr lang="en-US" sz="1400" spc="0" kern="0" b="0" i="0" dirty="0">
                <a:solidFill>
                  <a:srgbClr val="FFFFFF"/>
                </a:solidFill>
                <a:latin typeface="IBM Plex Sans"/>
                <a:ea typeface="IBM Plex Sans"/>
                <a:cs typeface="IBM Plex Sans"/>
              </a:endParaRPr>
            </a:p>
          </p:txBody>
        </p:sp>
      </p:grpSp>
      <p:grpSp>
        <p:nvGrpSpPr>
          <p:cNvPr id="16" name="tab0"/>
          <p:cNvGrpSpPr/>
          <p:nvPr/>
        </p:nvGrpSpPr>
        <p:grpSpPr>
          <a:xfrm>
            <a:off x="723900" y="5257800"/>
            <a:ext cx="3429000" cy="304800"/>
            <a:chOff x="723900" y="5257800"/>
            <a:chExt cx="3429000" cy="304800"/>
          </a:xfrm>
        </p:grpSpPr>
        <p:sp>
          <p:nvSpPr>
            <p:cNvPr id="8" name="tab0.text"/>
            <p:cNvSpPr/>
            <p:nvPr/>
          </p:nvSpPr>
          <p:spPr>
            <a:xfrm>
              <a:off x="7239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Practices Map</a:t>
              </a:r>
              <a:endParaRPr lang="en-US" sz="1200" spc="0" kern="0" b="0" i="0" dirty="0">
                <a:solidFill>
                  <a:srgbClr val="FFFFFF"/>
                </a:solidFill>
                <a:latin typeface="IBM Plex Sans"/>
                <a:ea typeface="IBM Plex Sans"/>
                <a:cs typeface="IBM Plex Sans"/>
              </a:endParaRPr>
            </a:p>
          </p:txBody>
        </p:sp>
      </p:grpSp>
      <p:grpSp>
        <p:nvGrpSpPr>
          <p:cNvPr id="17" name="tab1"/>
          <p:cNvGrpSpPr/>
          <p:nvPr/>
        </p:nvGrpSpPr>
        <p:grpSpPr>
          <a:xfrm>
            <a:off x="4381500" y="5257800"/>
            <a:ext cx="3429000" cy="304800"/>
            <a:chOff x="4381500" y="5257800"/>
            <a:chExt cx="3429000" cy="304800"/>
          </a:xfrm>
        </p:grpSpPr>
        <p:sp>
          <p:nvSpPr>
            <p:cNvPr id="9" name="tab1.text"/>
            <p:cNvSpPr/>
            <p:nvPr/>
          </p:nvSpPr>
          <p:spPr>
            <a:xfrm>
              <a:off x="43815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Activation Summary</a:t>
              </a:r>
              <a:endParaRPr lang="en-US" sz="1200" spc="0" kern="0" b="0" i="0" dirty="0">
                <a:solidFill>
                  <a:srgbClr val="FFFFFF"/>
                </a:solidFill>
                <a:latin typeface="IBM Plex Sans"/>
                <a:ea typeface="IBM Plex Sans"/>
                <a:cs typeface="IBM Plex Sans"/>
              </a:endParaRPr>
            </a:p>
          </p:txBody>
        </p:sp>
      </p:grpSp>
      <p:grpSp>
        <p:nvGrpSpPr>
          <p:cNvPr id="18" name="tab2"/>
          <p:cNvGrpSpPr/>
          <p:nvPr/>
        </p:nvGrpSpPr>
        <p:grpSpPr>
          <a:xfrm>
            <a:off x="8039100" y="5257800"/>
            <a:ext cx="3429000" cy="304800"/>
            <a:chOff x="8039100" y="5257800"/>
            <a:chExt cx="3429000" cy="304800"/>
          </a:xfrm>
        </p:grpSpPr>
        <p:sp>
          <p:nvSpPr>
            <p:cNvPr id="10" name="tab2.text"/>
            <p:cNvSpPr/>
            <p:nvPr/>
          </p:nvSpPr>
          <p:spPr>
            <a:xfrm>
              <a:off x="80391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Recommendations</a:t>
              </a:r>
              <a:endParaRPr lang="en-US" sz="1200" spc="0" kern="0" b="0" i="0" dirty="0">
                <a:solidFill>
                  <a:srgbClr val="FFFFFF"/>
                </a:solidFill>
                <a:latin typeface="IBM Plex Sans"/>
                <a:ea typeface="IBM Plex Sans"/>
                <a:cs typeface="IBM Plex Sans"/>
              </a:endParaRPr>
            </a:p>
          </p:txBody>
        </p:sp>
      </p:grpSp>
      <p:sp>
        <p:nvSpPr>
          <p:cNvPr id="11" name="active"/>
          <p:cNvSpPr/>
          <p:nvPr/>
        </p:nvSpPr>
        <p:spPr>
          <a:xfrm>
            <a:off x="8039100" y="5715000"/>
            <a:ext cx="685800" cy="9525"/>
          </a:xfrm>
          <a:prstGeom prst="rect">
            <a:avLst/>
          </a:prstGeom>
          <a:solidFill>
            <a:srgbClr val="50658E"/>
          </a:solidFill>
          <a:ln>
            <a:noFill/>
          </a:ln>
        </p:spPr>
      </p:sp>
      <p:grpSp>
        <p:nvGrpSpPr>
          <p:cNvPr id="19" name="client-brand"/>
          <p:cNvGrpSpPr/>
          <p:nvPr/>
        </p:nvGrpSpPr>
        <p:grpSpPr>
          <a:xfrm>
            <a:off x="10382250" y="457200"/>
            <a:ext cx="1028700" cy="457200"/>
            <a:chOff x="10382250" y="457200"/>
            <a:chExt cx="1028700" cy="457200"/>
          </a:xfrm>
        </p:grpSpPr>
        <p:pic>
          <p:nvPicPr>
            <p:cNvPr id="12"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dxc-005">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5</a:t>
            </a:fld>
            <a:endParaRPr lang="en-US" sz="700" spc="0" kern="0" b="0" i="0" dirty="0">
              <a:solidFill>
                <a:srgbClr val="FFFFFF"/>
              </a:solidFill>
              <a:latin typeface="IBM Plex Mono SemiBold"/>
              <a:ea typeface="IBM Plex Mono SemiBold"/>
              <a:cs typeface="IBM Plex Mono SemiBold"/>
            </a:endParaRPr>
          </a:p>
        </p:txBody>
      </p:sp>
      <p:grpSp>
        <p:nvGrpSpPr>
          <p:cNvPr id="11" name="section-title"/>
          <p:cNvGrpSpPr/>
          <p:nvPr/>
        </p:nvGrpSpPr>
        <p:grpSpPr>
          <a:xfrm>
            <a:off x="723900" y="2209800"/>
            <a:ext cx="6858000" cy="1828800"/>
            <a:chOff x="723900" y="2209800"/>
            <a:chExt cx="6858000" cy="1828800"/>
          </a:xfrm>
        </p:grpSpPr>
        <p:sp>
          <p:nvSpPr>
            <p:cNvPr id="5" name="section-title.text"/>
            <p:cNvSpPr/>
            <p:nvPr/>
          </p:nvSpPr>
          <p:spPr>
            <a:xfrm>
              <a:off x="723900" y="2209800"/>
              <a:ext cx="6858000" cy="18288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Executive Summary</a:t>
              </a:r>
              <a:endParaRPr lang="en-US" sz="5400" spc="-135" kern="0" b="0" i="0" dirty="0">
                <a:solidFill>
                  <a:srgbClr val="FFFFFF"/>
                </a:solidFill>
                <a:latin typeface="IBM Plex Sans SemiBold"/>
                <a:ea typeface="IBM Plex Sans SemiBold"/>
                <a:cs typeface="IBM Plex Sans SemiBold"/>
              </a:endParaRPr>
            </a:p>
          </p:txBody>
        </p:sp>
      </p:grpSp>
      <p:grpSp>
        <p:nvGrpSpPr>
          <p:cNvPr id="12" name="tab0"/>
          <p:cNvGrpSpPr/>
          <p:nvPr/>
        </p:nvGrpSpPr>
        <p:grpSpPr>
          <a:xfrm>
            <a:off x="723900" y="5257800"/>
            <a:ext cx="3429000" cy="304800"/>
            <a:chOff x="723900" y="5257800"/>
            <a:chExt cx="3429000" cy="304800"/>
          </a:xfrm>
        </p:grpSpPr>
        <p:sp>
          <p:nvSpPr>
            <p:cNvPr id="6" name="tab0.text"/>
            <p:cNvSpPr/>
            <p:nvPr/>
          </p:nvSpPr>
          <p:spPr>
            <a:xfrm>
              <a:off x="7239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Executive Summary</a:t>
              </a:r>
              <a:endParaRPr lang="en-US" sz="1200" spc="0" kern="0" b="0" i="0" dirty="0">
                <a:solidFill>
                  <a:srgbClr val="FFFFFF"/>
                </a:solidFill>
                <a:latin typeface="IBM Plex Sans"/>
                <a:ea typeface="IBM Plex Sans"/>
                <a:cs typeface="IBM Plex Sans"/>
              </a:endParaRPr>
            </a:p>
          </p:txBody>
        </p:sp>
      </p:grpSp>
      <p:grpSp>
        <p:nvGrpSpPr>
          <p:cNvPr id="13" name="tab1"/>
          <p:cNvGrpSpPr/>
          <p:nvPr/>
        </p:nvGrpSpPr>
        <p:grpSpPr>
          <a:xfrm>
            <a:off x="4381500" y="5257800"/>
            <a:ext cx="3429000" cy="304800"/>
            <a:chOff x="4381500" y="5257800"/>
            <a:chExt cx="3429000" cy="304800"/>
          </a:xfrm>
        </p:grpSpPr>
        <p:sp>
          <p:nvSpPr>
            <p:cNvPr id="7" name="tab1.text"/>
            <p:cNvSpPr/>
            <p:nvPr/>
          </p:nvSpPr>
          <p:spPr>
            <a:xfrm>
              <a:off x="43815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Deliverables</a:t>
              </a:r>
              <a:endParaRPr lang="en-US" sz="1200" spc="0" kern="0" b="0" i="0" dirty="0">
                <a:solidFill>
                  <a:srgbClr val="FFFFFF"/>
                </a:solidFill>
                <a:latin typeface="IBM Plex Sans"/>
                <a:ea typeface="IBM Plex Sans"/>
                <a:cs typeface="IBM Plex Sans"/>
              </a:endParaRPr>
            </a:p>
          </p:txBody>
        </p:sp>
      </p:grpSp>
      <p:grpSp>
        <p:nvGrpSpPr>
          <p:cNvPr id="14" name="tab2"/>
          <p:cNvGrpSpPr/>
          <p:nvPr/>
        </p:nvGrpSpPr>
        <p:grpSpPr>
          <a:xfrm>
            <a:off x="8039100" y="5257800"/>
            <a:ext cx="3429000" cy="304800"/>
            <a:chOff x="8039100" y="5257800"/>
            <a:chExt cx="3429000" cy="304800"/>
          </a:xfrm>
        </p:grpSpPr>
        <p:sp>
          <p:nvSpPr>
            <p:cNvPr id="8" name="tab2.text"/>
            <p:cNvSpPr/>
            <p:nvPr/>
          </p:nvSpPr>
          <p:spPr>
            <a:xfrm>
              <a:off x="80391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Recommended Next Phase</a:t>
              </a:r>
              <a:endParaRPr lang="en-US" sz="1200" spc="0" kern="0" b="0" i="0" dirty="0">
                <a:solidFill>
                  <a:srgbClr val="FFFFFF"/>
                </a:solidFill>
                <a:latin typeface="IBM Plex Sans"/>
                <a:ea typeface="IBM Plex Sans"/>
                <a:cs typeface="IBM Plex Sans"/>
              </a:endParaRPr>
            </a:p>
          </p:txBody>
        </p:sp>
      </p:grpSp>
      <p:sp>
        <p:nvSpPr>
          <p:cNvPr id="9" name="active"/>
          <p:cNvSpPr/>
          <p:nvPr/>
        </p:nvSpPr>
        <p:spPr>
          <a:xfrm>
            <a:off x="723900" y="5715000"/>
            <a:ext cx="685800" cy="9525"/>
          </a:xfrm>
          <a:prstGeom prst="rect">
            <a:avLst/>
          </a:prstGeom>
          <a:solidFill>
            <a:srgbClr val="50658E"/>
          </a:solidFill>
          <a:ln>
            <a:noFill/>
          </a:ln>
        </p:spPr>
      </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dxc-006">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6</a:t>
            </a:fld>
            <a:endParaRPr lang="en-US" sz="700" spc="0" kern="0" b="0" i="0" dirty="0">
              <a:solidFill>
                <a:srgbClr val="070154"/>
              </a:solidFill>
              <a:latin typeface="IBM Plex Mono SemiBold"/>
              <a:ea typeface="IBM Plex Mono SemiBold"/>
              <a:cs typeface="IBM Plex Mono SemiBold"/>
            </a:endParaRPr>
          </a:p>
        </p:txBody>
      </p:sp>
      <p:grpSp>
        <p:nvGrpSpPr>
          <p:cNvPr id="25" name="today-panel"/>
          <p:cNvGrpSpPr/>
          <p:nvPr/>
        </p:nvGrpSpPr>
        <p:grpSpPr>
          <a:xfrm>
            <a:off x="723900" y="2057400"/>
            <a:ext cx="3429000" cy="3352800"/>
            <a:chOff x="723900" y="2057400"/>
            <a:chExt cx="3429000" cy="3352800"/>
          </a:xfrm>
        </p:grpSpPr>
        <p:sp>
          <p:nvSpPr>
            <p:cNvPr id="5" name="today-panel.container"/>
            <p:cNvSpPr/>
            <p:nvPr/>
          </p:nvSpPr>
          <p:spPr>
            <a:xfrm>
              <a:off x="723900" y="2057400"/>
              <a:ext cx="3429000" cy="3352800"/>
            </a:xfrm>
            <a:prstGeom prst="rect">
              <a:avLst/>
            </a:prstGeom>
            <a:solidFill>
              <a:srgbClr val="E8EEF8"/>
            </a:solidFill>
            <a:ln>
              <a:noFill/>
            </a:ln>
          </p:spPr>
        </p:sp>
        <p:sp>
          <p:nvSpPr>
            <p:cNvPr id="6" name="today-panel.title"/>
            <p:cNvSpPr/>
            <p:nvPr/>
          </p:nvSpPr>
          <p:spPr>
            <a:xfrm>
              <a:off x="876300" y="22098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What we saw</a:t>
              </a:r>
              <a:endParaRPr lang="en-US" sz="1400" spc="0" kern="0" b="0" i="0" dirty="0">
                <a:solidFill>
                  <a:srgbClr val="070154"/>
                </a:solidFill>
                <a:latin typeface="IBM Plex Sans"/>
                <a:ea typeface="IBM Plex Sans"/>
                <a:cs typeface="IBM Plex Sans"/>
              </a:endParaRPr>
            </a:p>
          </p:txBody>
        </p:sp>
        <p:sp>
          <p:nvSpPr>
            <p:cNvPr id="7" name="today-panel.body.item-0.paragraph"/>
            <p:cNvSpPr/>
            <p:nvPr/>
          </p:nvSpPr>
          <p:spPr>
            <a:xfrm>
              <a:off x="876300" y="2590800"/>
              <a:ext cx="3124200" cy="2514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Decision path is inconsistent: opportunity brief → PRD → epic → technical design → implementation plan.</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Maturity is uneven: Recon leads design and automation; Core uses manual regression and had 15 unplanned changes in 2026.</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Evidence arrives late: delivery lacks end-to-end measures; release validation and post-launch learning are inconsistent.</a:t>
              </a:r>
              <a:endParaRPr lang="en-US" sz="1200" spc="0" kern="0" b="0" i="0" dirty="0">
                <a:solidFill>
                  <a:srgbClr val="50658E"/>
                </a:solidFill>
                <a:latin typeface="IBM Plex Sans"/>
                <a:ea typeface="IBM Plex Sans"/>
                <a:cs typeface="IBM Plex Sans"/>
              </a:endParaRPr>
            </a:p>
          </p:txBody>
        </p:sp>
      </p:grpSp>
      <p:grpSp>
        <p:nvGrpSpPr>
          <p:cNvPr id="26" name="horizon0"/>
          <p:cNvGrpSpPr/>
          <p:nvPr/>
        </p:nvGrpSpPr>
        <p:grpSpPr>
          <a:xfrm>
            <a:off x="4381500" y="2057400"/>
            <a:ext cx="1371600" cy="990600"/>
            <a:chOff x="4381500" y="2057400"/>
            <a:chExt cx="1371600" cy="990600"/>
          </a:xfrm>
        </p:grpSpPr>
        <p:sp>
          <p:nvSpPr>
            <p:cNvPr id="8" name="horizon0.surface"/>
            <p:cNvSpPr/>
            <p:nvPr/>
          </p:nvSpPr>
          <p:spPr>
            <a:xfrm>
              <a:off x="4381500" y="2057400"/>
              <a:ext cx="1371600" cy="990600"/>
            </a:xfrm>
            <a:prstGeom prst="rect">
              <a:avLst/>
            </a:prstGeom>
            <a:solidFill>
              <a:srgbClr val="070154"/>
            </a:solidFill>
            <a:ln>
              <a:noFill/>
            </a:ln>
          </p:spPr>
        </p:sp>
        <p:sp>
          <p:nvSpPr>
            <p:cNvPr id="9" name="horizon0.text"/>
            <p:cNvSpPr/>
            <p:nvPr/>
          </p:nvSpPr>
          <p:spPr>
            <a:xfrm>
              <a:off x="4533900" y="2324100"/>
              <a:ext cx="1066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NOW · 4–6 weeks</a:t>
              </a:r>
              <a:endParaRPr lang="en-US" sz="1200" spc="0" kern="0" b="0" i="0" dirty="0">
                <a:solidFill>
                  <a:srgbClr val="FFFFFF"/>
                </a:solidFill>
                <a:latin typeface="IBM Plex Sans"/>
                <a:ea typeface="IBM Plex Sans"/>
                <a:cs typeface="IBM Plex Sans"/>
              </a:endParaRPr>
            </a:p>
          </p:txBody>
        </p:sp>
      </p:grpSp>
      <p:grpSp>
        <p:nvGrpSpPr>
          <p:cNvPr id="27" name="horizon-body0"/>
          <p:cNvGrpSpPr/>
          <p:nvPr/>
        </p:nvGrpSpPr>
        <p:grpSpPr>
          <a:xfrm>
            <a:off x="5905500" y="2057400"/>
            <a:ext cx="5562600" cy="990600"/>
            <a:chOff x="5905500" y="2057400"/>
            <a:chExt cx="5562600" cy="990600"/>
          </a:xfrm>
        </p:grpSpPr>
        <p:sp>
          <p:nvSpPr>
            <p:cNvPr id="10" name="horizon-body0.container"/>
            <p:cNvSpPr/>
            <p:nvPr/>
          </p:nvSpPr>
          <p:spPr>
            <a:xfrm>
              <a:off x="5905500" y="2057400"/>
              <a:ext cx="5562600" cy="990600"/>
            </a:xfrm>
            <a:prstGeom prst="rect">
              <a:avLst/>
            </a:prstGeom>
            <a:solidFill>
              <a:srgbClr val="E8EEF8"/>
            </a:solidFill>
            <a:ln>
              <a:noFill/>
            </a:ln>
          </p:spPr>
        </p:sp>
        <p:sp>
          <p:nvSpPr>
            <p:cNvPr id="11" name="horizon-body0.body.item-0.paragraph"/>
            <p:cNvSpPr/>
            <p:nvPr/>
          </p:nvSpPr>
          <p:spPr>
            <a:xfrm>
              <a:off x="6019800" y="2171700"/>
              <a:ext cx="5334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Four-week strategy spike: outcomes and six-month roadmaps for every product. In parallel, improve quality, testing and release readiness; introduce lifecycle skills and templates.</a:t>
              </a:r>
              <a:endParaRPr lang="en-US" sz="1200" spc="0" kern="0" b="0" i="0" dirty="0">
                <a:solidFill>
                  <a:srgbClr val="50658E"/>
                </a:solidFill>
                <a:latin typeface="IBM Plex Sans"/>
                <a:ea typeface="IBM Plex Sans"/>
                <a:cs typeface="IBM Plex Sans"/>
              </a:endParaRPr>
            </a:p>
          </p:txBody>
        </p:sp>
      </p:grpSp>
      <p:grpSp>
        <p:nvGrpSpPr>
          <p:cNvPr id="28" name="horizon1"/>
          <p:cNvGrpSpPr/>
          <p:nvPr/>
        </p:nvGrpSpPr>
        <p:grpSpPr>
          <a:xfrm>
            <a:off x="4381500" y="3124200"/>
            <a:ext cx="1371600" cy="990600"/>
            <a:chOff x="4381500" y="3124200"/>
            <a:chExt cx="1371600" cy="990600"/>
          </a:xfrm>
        </p:grpSpPr>
        <p:sp>
          <p:nvSpPr>
            <p:cNvPr id="12" name="horizon1.surface"/>
            <p:cNvSpPr/>
            <p:nvPr/>
          </p:nvSpPr>
          <p:spPr>
            <a:xfrm>
              <a:off x="4381500" y="3124200"/>
              <a:ext cx="1371600" cy="990600"/>
            </a:xfrm>
            <a:prstGeom prst="rect">
              <a:avLst/>
            </a:prstGeom>
            <a:solidFill>
              <a:srgbClr val="CED7E6"/>
            </a:solidFill>
            <a:ln>
              <a:noFill/>
            </a:ln>
          </p:spPr>
        </p:sp>
        <p:sp>
          <p:nvSpPr>
            <p:cNvPr id="13" name="horizon1.text"/>
            <p:cNvSpPr/>
            <p:nvPr/>
          </p:nvSpPr>
          <p:spPr>
            <a:xfrm>
              <a:off x="4533900" y="3390900"/>
              <a:ext cx="1066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NEXT · 1–3 months</a:t>
              </a:r>
              <a:endParaRPr lang="en-US" sz="1200" spc="0" kern="0" b="0" i="0" dirty="0">
                <a:solidFill>
                  <a:srgbClr val="070154"/>
                </a:solidFill>
                <a:latin typeface="IBM Plex Sans"/>
                <a:ea typeface="IBM Plex Sans"/>
                <a:cs typeface="IBM Plex Sans"/>
              </a:endParaRPr>
            </a:p>
          </p:txBody>
        </p:sp>
      </p:grpSp>
      <p:grpSp>
        <p:nvGrpSpPr>
          <p:cNvPr id="29" name="horizon-body1"/>
          <p:cNvGrpSpPr/>
          <p:nvPr/>
        </p:nvGrpSpPr>
        <p:grpSpPr>
          <a:xfrm>
            <a:off x="5905500" y="3124200"/>
            <a:ext cx="5562600" cy="990600"/>
            <a:chOff x="5905500" y="3124200"/>
            <a:chExt cx="5562600" cy="990600"/>
          </a:xfrm>
        </p:grpSpPr>
        <p:sp>
          <p:nvSpPr>
            <p:cNvPr id="14" name="horizon-body1.container"/>
            <p:cNvSpPr/>
            <p:nvPr/>
          </p:nvSpPr>
          <p:spPr>
            <a:xfrm>
              <a:off x="5905500" y="3124200"/>
              <a:ext cx="5562600" cy="990600"/>
            </a:xfrm>
            <a:prstGeom prst="rect">
              <a:avLst/>
            </a:prstGeom>
            <a:solidFill>
              <a:srgbClr val="E8EEF8"/>
            </a:solidFill>
            <a:ln>
              <a:noFill/>
            </a:ln>
          </p:spPr>
        </p:sp>
        <p:sp>
          <p:nvSpPr>
            <p:cNvPr id="15" name="horizon-body1.body.item-0.paragraph"/>
            <p:cNvSpPr/>
            <p:nvPr/>
          </p:nvSpPr>
          <p:spPr>
            <a:xfrm>
              <a:off x="6019800" y="3238500"/>
              <a:ext cx="5334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Execute roadmaps and adjust priorities with customer and business evidence. Improve lifecycle efficiency and handoffs; develop the business strategy in parallel; roll updated engineering practices into Core.</a:t>
              </a:r>
              <a:endParaRPr lang="en-US" sz="1200" spc="0" kern="0" b="0" i="0" dirty="0">
                <a:solidFill>
                  <a:srgbClr val="50658E"/>
                </a:solidFill>
                <a:latin typeface="IBM Plex Sans"/>
                <a:ea typeface="IBM Plex Sans"/>
                <a:cs typeface="IBM Plex Sans"/>
              </a:endParaRPr>
            </a:p>
          </p:txBody>
        </p:sp>
      </p:grpSp>
      <p:grpSp>
        <p:nvGrpSpPr>
          <p:cNvPr id="30" name="horizon2"/>
          <p:cNvGrpSpPr/>
          <p:nvPr/>
        </p:nvGrpSpPr>
        <p:grpSpPr>
          <a:xfrm>
            <a:off x="4381500" y="4191000"/>
            <a:ext cx="1371600" cy="990600"/>
            <a:chOff x="4381500" y="4191000"/>
            <a:chExt cx="1371600" cy="990600"/>
          </a:xfrm>
        </p:grpSpPr>
        <p:sp>
          <p:nvSpPr>
            <p:cNvPr id="16" name="horizon2.surface"/>
            <p:cNvSpPr/>
            <p:nvPr/>
          </p:nvSpPr>
          <p:spPr>
            <a:xfrm>
              <a:off x="4381500" y="4191000"/>
              <a:ext cx="1371600" cy="990600"/>
            </a:xfrm>
            <a:prstGeom prst="rect">
              <a:avLst/>
            </a:prstGeom>
            <a:solidFill>
              <a:srgbClr val="E8EEF8"/>
            </a:solidFill>
            <a:ln>
              <a:noFill/>
            </a:ln>
          </p:spPr>
        </p:sp>
        <p:sp>
          <p:nvSpPr>
            <p:cNvPr id="17" name="horizon2.text"/>
            <p:cNvSpPr/>
            <p:nvPr/>
          </p:nvSpPr>
          <p:spPr>
            <a:xfrm>
              <a:off x="4533900" y="4457700"/>
              <a:ext cx="1066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FUTURE · January</a:t>
              </a:r>
              <a:endParaRPr lang="en-US" sz="1200" spc="0" kern="0" b="0" i="0" dirty="0">
                <a:solidFill>
                  <a:srgbClr val="070154"/>
                </a:solidFill>
                <a:latin typeface="IBM Plex Sans"/>
                <a:ea typeface="IBM Plex Sans"/>
                <a:cs typeface="IBM Plex Sans"/>
              </a:endParaRPr>
            </a:p>
          </p:txBody>
        </p:sp>
      </p:grpSp>
      <p:grpSp>
        <p:nvGrpSpPr>
          <p:cNvPr id="31" name="horizon-body2"/>
          <p:cNvGrpSpPr/>
          <p:nvPr/>
        </p:nvGrpSpPr>
        <p:grpSpPr>
          <a:xfrm>
            <a:off x="5905500" y="4191000"/>
            <a:ext cx="5562600" cy="990600"/>
            <a:chOff x="5905500" y="4191000"/>
            <a:chExt cx="5562600" cy="990600"/>
          </a:xfrm>
        </p:grpSpPr>
        <p:sp>
          <p:nvSpPr>
            <p:cNvPr id="18" name="horizon-body2.container"/>
            <p:cNvSpPr/>
            <p:nvPr/>
          </p:nvSpPr>
          <p:spPr>
            <a:xfrm>
              <a:off x="5905500" y="4191000"/>
              <a:ext cx="5562600" cy="990600"/>
            </a:xfrm>
            <a:prstGeom prst="rect">
              <a:avLst/>
            </a:prstGeom>
            <a:solidFill>
              <a:srgbClr val="E8EEF8"/>
            </a:solidFill>
            <a:ln>
              <a:noFill/>
            </a:ln>
          </p:spPr>
        </p:sp>
        <p:sp>
          <p:nvSpPr>
            <p:cNvPr id="19" name="horizon-body2.body.item-0.paragraph"/>
            <p:cNvSpPr/>
            <p:nvPr/>
          </p:nvSpPr>
          <p:spPr>
            <a:xfrm>
              <a:off x="6019800" y="4305300"/>
              <a:ext cx="53340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Refresh outcomes and product roadmaps against the new business strategy in January. Execute through the upgraded lifecycle and use outcome measures to guide subsequent decisions.</a:t>
              </a:r>
              <a:endParaRPr lang="en-US" sz="1200" spc="0" kern="0" b="0" i="0" dirty="0">
                <a:solidFill>
                  <a:srgbClr val="50658E"/>
                </a:solidFill>
                <a:latin typeface="IBM Plex Sans"/>
                <a:ea typeface="IBM Plex Sans"/>
                <a:cs typeface="IBM Plex Sans"/>
              </a:endParaRPr>
            </a:p>
          </p:txBody>
        </p:sp>
      </p:grpSp>
      <p:grpSp>
        <p:nvGrpSpPr>
          <p:cNvPr id="32" name="leadership"/>
          <p:cNvGrpSpPr/>
          <p:nvPr/>
        </p:nvGrpSpPr>
        <p:grpSpPr>
          <a:xfrm>
            <a:off x="723900" y="5486400"/>
            <a:ext cx="10744200" cy="457200"/>
            <a:chOff x="723900" y="5486400"/>
            <a:chExt cx="10744200" cy="457200"/>
          </a:xfrm>
        </p:grpSpPr>
        <p:sp>
          <p:nvSpPr>
            <p:cNvPr id="20" name="leadership.surface"/>
            <p:cNvSpPr/>
            <p:nvPr/>
          </p:nvSpPr>
          <p:spPr>
            <a:xfrm>
              <a:off x="723900" y="5486400"/>
              <a:ext cx="10744200" cy="457200"/>
            </a:xfrm>
            <a:prstGeom prst="rect">
              <a:avLst/>
            </a:prstGeom>
            <a:solidFill>
              <a:srgbClr val="E8EEF8"/>
            </a:solidFill>
            <a:ln>
              <a:noFill/>
            </a:ln>
          </p:spPr>
        </p:sp>
        <p:sp>
          <p:nvSpPr>
            <p:cNvPr id="21" name="leadership.text"/>
            <p:cNvSpPr/>
            <p:nvPr/>
          </p:nvSpPr>
          <p:spPr>
            <a:xfrm>
              <a:off x="876300" y="54864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LEADERSHIP: Name one accountable owner per activation; approve pilot pods; agree delivery principles and ownership; provide Jira, release, test-data and usage access. Use early evidence to extend what works or iterate.</a:t>
              </a:r>
              <a:endParaRPr lang="en-US" sz="1200" spc="0" kern="0" b="0" i="0" dirty="0">
                <a:solidFill>
                  <a:srgbClr val="070154"/>
                </a:solidFill>
                <a:latin typeface="IBM Plex Sans"/>
                <a:ea typeface="IBM Plex Sans"/>
                <a:cs typeface="IBM Plex Sans"/>
              </a:endParaRPr>
            </a:p>
          </p:txBody>
        </p:sp>
      </p:grpSp>
      <p:grpSp>
        <p:nvGrpSpPr>
          <p:cNvPr id="33" name="authored-header"/>
          <p:cNvGrpSpPr/>
          <p:nvPr/>
        </p:nvGrpSpPr>
        <p:grpSpPr>
          <a:xfrm>
            <a:off x="723900" y="685800"/>
            <a:ext cx="9372600" cy="914400"/>
            <a:chOff x="723900" y="685800"/>
            <a:chExt cx="9372600" cy="914400"/>
          </a:xfrm>
        </p:grpSpPr>
        <p:sp>
          <p:nvSpPr>
            <p:cNvPr id="22"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Coordinate Product and Engineering to realize the SaaS ambition</a:t>
              </a:r>
              <a:endParaRPr lang="en-US" sz="3200" spc="-64" kern="0" b="0" i="0" dirty="0">
                <a:solidFill>
                  <a:srgbClr val="070154"/>
                </a:solidFill>
                <a:latin typeface="IBM Plex Sans SemiBold"/>
                <a:ea typeface="IBM Plex Sans SemiBold"/>
                <a:cs typeface="IBM Plex Sans SemiBold"/>
              </a:endParaRPr>
            </a:p>
          </p:txBody>
        </p:sp>
      </p:grpSp>
      <p:grpSp>
        <p:nvGrpSpPr>
          <p:cNvPr id="34" name="authored-eyebrow"/>
          <p:cNvGrpSpPr/>
          <p:nvPr/>
        </p:nvGrpSpPr>
        <p:grpSpPr>
          <a:xfrm>
            <a:off x="723900" y="457200"/>
            <a:ext cx="9372600" cy="228600"/>
            <a:chOff x="723900" y="457200"/>
            <a:chExt cx="9372600" cy="228600"/>
          </a:xfrm>
        </p:grpSpPr>
        <p:sp>
          <p:nvSpPr>
            <p:cNvPr id="23"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EXECUTIVE SUMMARY</a:t>
              </a:r>
              <a:endParaRPr lang="en-US" sz="1000" spc="80" kern="0" b="0" i="0" dirty="0">
                <a:solidFill>
                  <a:srgbClr val="0047FF"/>
                </a:solidFill>
                <a:latin typeface="IBM Plex Mono SemiBold"/>
                <a:ea typeface="IBM Plex Mono SemiBold"/>
                <a:cs typeface="IBM Plex Mono SemiBold"/>
              </a:endParaRPr>
            </a:p>
          </p:txBody>
        </p:sp>
      </p:grpSp>
      <p:grpSp>
        <p:nvGrpSpPr>
          <p:cNvPr id="35" name="client-brand"/>
          <p:cNvGrpSpPr/>
          <p:nvPr/>
        </p:nvGrpSpPr>
        <p:grpSpPr>
          <a:xfrm>
            <a:off x="10382250" y="457200"/>
            <a:ext cx="1028700" cy="457200"/>
            <a:chOff x="10382250" y="457200"/>
            <a:chExt cx="1028700" cy="457200"/>
          </a:xfrm>
        </p:grpSpPr>
        <p:pic>
          <p:nvPicPr>
            <p:cNvPr id="24"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xc-007">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7</a:t>
            </a:fld>
            <a:endParaRPr lang="en-US" sz="700" spc="0" kern="0" b="0" i="0" dirty="0">
              <a:solidFill>
                <a:srgbClr val="070154"/>
              </a:solidFill>
              <a:latin typeface="IBM Plex Mono SemiBold"/>
              <a:ea typeface="IBM Plex Mono SemiBold"/>
              <a:cs typeface="IBM Plex Mono SemiBold"/>
            </a:endParaRPr>
          </a:p>
        </p:txBody>
      </p:sp>
      <p:grpSp>
        <p:nvGrpSpPr>
          <p:cNvPr id="48" name="person0"/>
          <p:cNvGrpSpPr/>
          <p:nvPr/>
        </p:nvGrpSpPr>
        <p:grpSpPr>
          <a:xfrm>
            <a:off x="723900" y="1600200"/>
            <a:ext cx="2514600" cy="838200"/>
            <a:chOff x="723900" y="1600200"/>
            <a:chExt cx="2514600" cy="838200"/>
          </a:xfrm>
        </p:grpSpPr>
        <p:sp>
          <p:nvSpPr>
            <p:cNvPr id="5" name="person0.container"/>
            <p:cNvSpPr/>
            <p:nvPr/>
          </p:nvSpPr>
          <p:spPr>
            <a:xfrm>
              <a:off x="723900" y="1600200"/>
              <a:ext cx="2514600" cy="838200"/>
            </a:xfrm>
            <a:prstGeom prst="rect">
              <a:avLst/>
            </a:prstGeom>
            <a:solidFill>
              <a:srgbClr val="E8EEF8"/>
            </a:solidFill>
            <a:ln>
              <a:noFill/>
            </a:ln>
          </p:spPr>
        </p:sp>
        <p:sp>
          <p:nvSpPr>
            <p:cNvPr id="6" name="person0.title"/>
            <p:cNvSpPr/>
            <p:nvPr/>
          </p:nvSpPr>
          <p:spPr>
            <a:xfrm>
              <a:off x="838200" y="17145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Avinash Manjunath</a:t>
              </a:r>
              <a:endParaRPr lang="en-US" sz="1200" spc="0" kern="0" b="0" i="0" dirty="0">
                <a:solidFill>
                  <a:srgbClr val="070154"/>
                </a:solidFill>
                <a:latin typeface="IBM Plex Sans"/>
                <a:ea typeface="IBM Plex Sans"/>
                <a:cs typeface="IBM Plex Sans"/>
              </a:endParaRPr>
            </a:p>
          </p:txBody>
        </p:sp>
        <p:sp>
          <p:nvSpPr>
            <p:cNvPr id="7" name="person0.body.item-0.paragraph"/>
            <p:cNvSpPr/>
            <p:nvPr/>
          </p:nvSpPr>
          <p:spPr>
            <a:xfrm>
              <a:off x="838200" y="20574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Engineering</a:t>
              </a:r>
              <a:endParaRPr lang="en-US" sz="1200" spc="0" kern="0" b="0" i="0" dirty="0">
                <a:solidFill>
                  <a:srgbClr val="50658E"/>
                </a:solidFill>
                <a:latin typeface="IBM Plex Sans"/>
                <a:ea typeface="IBM Plex Sans"/>
                <a:cs typeface="IBM Plex Sans"/>
              </a:endParaRPr>
            </a:p>
          </p:txBody>
        </p:sp>
      </p:grpSp>
      <p:grpSp>
        <p:nvGrpSpPr>
          <p:cNvPr id="49" name="person1"/>
          <p:cNvGrpSpPr/>
          <p:nvPr/>
        </p:nvGrpSpPr>
        <p:grpSpPr>
          <a:xfrm>
            <a:off x="3467100" y="1600200"/>
            <a:ext cx="2514600" cy="838200"/>
            <a:chOff x="3467100" y="1600200"/>
            <a:chExt cx="2514600" cy="838200"/>
          </a:xfrm>
        </p:grpSpPr>
        <p:sp>
          <p:nvSpPr>
            <p:cNvPr id="8" name="person1.container"/>
            <p:cNvSpPr/>
            <p:nvPr/>
          </p:nvSpPr>
          <p:spPr>
            <a:xfrm>
              <a:off x="3467100" y="1600200"/>
              <a:ext cx="2514600" cy="838200"/>
            </a:xfrm>
            <a:prstGeom prst="rect">
              <a:avLst/>
            </a:prstGeom>
            <a:solidFill>
              <a:srgbClr val="E8EEF8"/>
            </a:solidFill>
            <a:ln>
              <a:noFill/>
            </a:ln>
          </p:spPr>
        </p:sp>
        <p:sp>
          <p:nvSpPr>
            <p:cNvPr id="9" name="person1.title"/>
            <p:cNvSpPr/>
            <p:nvPr/>
          </p:nvSpPr>
          <p:spPr>
            <a:xfrm>
              <a:off x="3581400" y="17145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Amal Endal</a:t>
              </a:r>
              <a:endParaRPr lang="en-US" sz="1200" spc="0" kern="0" b="0" i="0" dirty="0">
                <a:solidFill>
                  <a:srgbClr val="070154"/>
                </a:solidFill>
                <a:latin typeface="IBM Plex Sans"/>
                <a:ea typeface="IBM Plex Sans"/>
                <a:cs typeface="IBM Plex Sans"/>
              </a:endParaRPr>
            </a:p>
          </p:txBody>
        </p:sp>
        <p:sp>
          <p:nvSpPr>
            <p:cNvPr id="10" name="person1.body.item-0.paragraph"/>
            <p:cNvSpPr/>
            <p:nvPr/>
          </p:nvSpPr>
          <p:spPr>
            <a:xfrm>
              <a:off x="3581400" y="20574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Engineering</a:t>
              </a:r>
              <a:endParaRPr lang="en-US" sz="1200" spc="0" kern="0" b="0" i="0" dirty="0">
                <a:solidFill>
                  <a:srgbClr val="50658E"/>
                </a:solidFill>
                <a:latin typeface="IBM Plex Sans"/>
                <a:ea typeface="IBM Plex Sans"/>
                <a:cs typeface="IBM Plex Sans"/>
              </a:endParaRPr>
            </a:p>
          </p:txBody>
        </p:sp>
      </p:grpSp>
      <p:grpSp>
        <p:nvGrpSpPr>
          <p:cNvPr id="50" name="person2"/>
          <p:cNvGrpSpPr/>
          <p:nvPr/>
        </p:nvGrpSpPr>
        <p:grpSpPr>
          <a:xfrm>
            <a:off x="6210300" y="1600200"/>
            <a:ext cx="2514600" cy="838200"/>
            <a:chOff x="6210300" y="1600200"/>
            <a:chExt cx="2514600" cy="838200"/>
          </a:xfrm>
        </p:grpSpPr>
        <p:sp>
          <p:nvSpPr>
            <p:cNvPr id="11" name="person2.container"/>
            <p:cNvSpPr/>
            <p:nvPr/>
          </p:nvSpPr>
          <p:spPr>
            <a:xfrm>
              <a:off x="6210300" y="1600200"/>
              <a:ext cx="2514600" cy="838200"/>
            </a:xfrm>
            <a:prstGeom prst="rect">
              <a:avLst/>
            </a:prstGeom>
            <a:solidFill>
              <a:srgbClr val="E8EEF8"/>
            </a:solidFill>
            <a:ln>
              <a:noFill/>
            </a:ln>
          </p:spPr>
        </p:sp>
        <p:sp>
          <p:nvSpPr>
            <p:cNvPr id="12" name="person2.title"/>
            <p:cNvSpPr/>
            <p:nvPr/>
          </p:nvSpPr>
          <p:spPr>
            <a:xfrm>
              <a:off x="6324600" y="17145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Derrick Boyd</a:t>
              </a:r>
              <a:endParaRPr lang="en-US" sz="1200" spc="0" kern="0" b="0" i="0" dirty="0">
                <a:solidFill>
                  <a:srgbClr val="070154"/>
                </a:solidFill>
                <a:latin typeface="IBM Plex Sans"/>
                <a:ea typeface="IBM Plex Sans"/>
                <a:cs typeface="IBM Plex Sans"/>
              </a:endParaRPr>
            </a:p>
          </p:txBody>
        </p:sp>
        <p:sp>
          <p:nvSpPr>
            <p:cNvPr id="13" name="person2.body.item-0.paragraph"/>
            <p:cNvSpPr/>
            <p:nvPr/>
          </p:nvSpPr>
          <p:spPr>
            <a:xfrm>
              <a:off x="6324600" y="20574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Quality</a:t>
              </a:r>
              <a:endParaRPr lang="en-US" sz="1200" spc="0" kern="0" b="0" i="0" dirty="0">
                <a:solidFill>
                  <a:srgbClr val="50658E"/>
                </a:solidFill>
                <a:latin typeface="IBM Plex Sans"/>
                <a:ea typeface="IBM Plex Sans"/>
                <a:cs typeface="IBM Plex Sans"/>
              </a:endParaRPr>
            </a:p>
          </p:txBody>
        </p:sp>
      </p:grpSp>
      <p:grpSp>
        <p:nvGrpSpPr>
          <p:cNvPr id="51" name="person3"/>
          <p:cNvGrpSpPr/>
          <p:nvPr/>
        </p:nvGrpSpPr>
        <p:grpSpPr>
          <a:xfrm>
            <a:off x="723900" y="2438400"/>
            <a:ext cx="2514600" cy="838200"/>
            <a:chOff x="723900" y="2438400"/>
            <a:chExt cx="2514600" cy="838200"/>
          </a:xfrm>
        </p:grpSpPr>
        <p:sp>
          <p:nvSpPr>
            <p:cNvPr id="14" name="person3.container"/>
            <p:cNvSpPr/>
            <p:nvPr/>
          </p:nvSpPr>
          <p:spPr>
            <a:xfrm>
              <a:off x="723900" y="2438400"/>
              <a:ext cx="2514600" cy="838200"/>
            </a:xfrm>
            <a:prstGeom prst="rect">
              <a:avLst/>
            </a:prstGeom>
            <a:solidFill>
              <a:srgbClr val="E8EEF8"/>
            </a:solidFill>
            <a:ln>
              <a:noFill/>
            </a:ln>
          </p:spPr>
        </p:sp>
        <p:sp>
          <p:nvSpPr>
            <p:cNvPr id="15" name="person3.title"/>
            <p:cNvSpPr/>
            <p:nvPr/>
          </p:nvSpPr>
          <p:spPr>
            <a:xfrm>
              <a:off x="838200" y="25527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Allys Fritz</a:t>
              </a:r>
              <a:endParaRPr lang="en-US" sz="1200" spc="0" kern="0" b="0" i="0" dirty="0">
                <a:solidFill>
                  <a:srgbClr val="070154"/>
                </a:solidFill>
                <a:latin typeface="IBM Plex Sans"/>
                <a:ea typeface="IBM Plex Sans"/>
                <a:cs typeface="IBM Plex Sans"/>
              </a:endParaRPr>
            </a:p>
          </p:txBody>
        </p:sp>
        <p:sp>
          <p:nvSpPr>
            <p:cNvPr id="16" name="person3.body.item-0.paragraph"/>
            <p:cNvSpPr/>
            <p:nvPr/>
          </p:nvSpPr>
          <p:spPr>
            <a:xfrm>
              <a:off x="838200" y="28956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UAT</a:t>
              </a:r>
              <a:endParaRPr lang="en-US" sz="1200" spc="0" kern="0" b="0" i="0" dirty="0">
                <a:solidFill>
                  <a:srgbClr val="50658E"/>
                </a:solidFill>
                <a:latin typeface="IBM Plex Sans"/>
                <a:ea typeface="IBM Plex Sans"/>
                <a:cs typeface="IBM Plex Sans"/>
              </a:endParaRPr>
            </a:p>
          </p:txBody>
        </p:sp>
      </p:grpSp>
      <p:grpSp>
        <p:nvGrpSpPr>
          <p:cNvPr id="52" name="person4"/>
          <p:cNvGrpSpPr/>
          <p:nvPr/>
        </p:nvGrpSpPr>
        <p:grpSpPr>
          <a:xfrm>
            <a:off x="3467100" y="2438400"/>
            <a:ext cx="2514600" cy="838200"/>
            <a:chOff x="3467100" y="2438400"/>
            <a:chExt cx="2514600" cy="838200"/>
          </a:xfrm>
        </p:grpSpPr>
        <p:sp>
          <p:nvSpPr>
            <p:cNvPr id="17" name="person4.container"/>
            <p:cNvSpPr/>
            <p:nvPr/>
          </p:nvSpPr>
          <p:spPr>
            <a:xfrm>
              <a:off x="3467100" y="2438400"/>
              <a:ext cx="2514600" cy="838200"/>
            </a:xfrm>
            <a:prstGeom prst="rect">
              <a:avLst/>
            </a:prstGeom>
            <a:solidFill>
              <a:srgbClr val="E8EEF8"/>
            </a:solidFill>
            <a:ln>
              <a:noFill/>
            </a:ln>
          </p:spPr>
        </p:sp>
        <p:sp>
          <p:nvSpPr>
            <p:cNvPr id="18" name="person4.title"/>
            <p:cNvSpPr/>
            <p:nvPr/>
          </p:nvSpPr>
          <p:spPr>
            <a:xfrm>
              <a:off x="3581400" y="25527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Mehdi Razavi</a:t>
              </a:r>
              <a:endParaRPr lang="en-US" sz="1200" spc="0" kern="0" b="0" i="0" dirty="0">
                <a:solidFill>
                  <a:srgbClr val="070154"/>
                </a:solidFill>
                <a:latin typeface="IBM Plex Sans"/>
                <a:ea typeface="IBM Plex Sans"/>
                <a:cs typeface="IBM Plex Sans"/>
              </a:endParaRPr>
            </a:p>
          </p:txBody>
        </p:sp>
        <p:sp>
          <p:nvSpPr>
            <p:cNvPr id="19" name="person4.body.item-0.paragraph"/>
            <p:cNvSpPr/>
            <p:nvPr/>
          </p:nvSpPr>
          <p:spPr>
            <a:xfrm>
              <a:off x="3581400" y="28956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UAT</a:t>
              </a:r>
              <a:endParaRPr lang="en-US" sz="1200" spc="0" kern="0" b="0" i="0" dirty="0">
                <a:solidFill>
                  <a:srgbClr val="50658E"/>
                </a:solidFill>
                <a:latin typeface="IBM Plex Sans"/>
                <a:ea typeface="IBM Plex Sans"/>
                <a:cs typeface="IBM Plex Sans"/>
              </a:endParaRPr>
            </a:p>
          </p:txBody>
        </p:sp>
      </p:grpSp>
      <p:grpSp>
        <p:nvGrpSpPr>
          <p:cNvPr id="53" name="person5"/>
          <p:cNvGrpSpPr/>
          <p:nvPr/>
        </p:nvGrpSpPr>
        <p:grpSpPr>
          <a:xfrm>
            <a:off x="6210300" y="2438400"/>
            <a:ext cx="2514600" cy="838200"/>
            <a:chOff x="6210300" y="2438400"/>
            <a:chExt cx="2514600" cy="838200"/>
          </a:xfrm>
        </p:grpSpPr>
        <p:sp>
          <p:nvSpPr>
            <p:cNvPr id="20" name="person5.container"/>
            <p:cNvSpPr/>
            <p:nvPr/>
          </p:nvSpPr>
          <p:spPr>
            <a:xfrm>
              <a:off x="6210300" y="2438400"/>
              <a:ext cx="2514600" cy="838200"/>
            </a:xfrm>
            <a:prstGeom prst="rect">
              <a:avLst/>
            </a:prstGeom>
            <a:solidFill>
              <a:srgbClr val="E8EEF8"/>
            </a:solidFill>
            <a:ln>
              <a:noFill/>
            </a:ln>
          </p:spPr>
        </p:sp>
        <p:sp>
          <p:nvSpPr>
            <p:cNvPr id="21" name="person5.title"/>
            <p:cNvSpPr/>
            <p:nvPr/>
          </p:nvSpPr>
          <p:spPr>
            <a:xfrm>
              <a:off x="6324600" y="25527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Ashok Kalyani</a:t>
              </a:r>
              <a:endParaRPr lang="en-US" sz="1200" spc="0" kern="0" b="0" i="0" dirty="0">
                <a:solidFill>
                  <a:srgbClr val="070154"/>
                </a:solidFill>
                <a:latin typeface="IBM Plex Sans"/>
                <a:ea typeface="IBM Plex Sans"/>
                <a:cs typeface="IBM Plex Sans"/>
              </a:endParaRPr>
            </a:p>
          </p:txBody>
        </p:sp>
        <p:sp>
          <p:nvSpPr>
            <p:cNvPr id="22" name="person5.body.item-0.paragraph"/>
            <p:cNvSpPr/>
            <p:nvPr/>
          </p:nvSpPr>
          <p:spPr>
            <a:xfrm>
              <a:off x="6324600" y="28956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Release</a:t>
              </a:r>
              <a:endParaRPr lang="en-US" sz="1200" spc="0" kern="0" b="0" i="0" dirty="0">
                <a:solidFill>
                  <a:srgbClr val="50658E"/>
                </a:solidFill>
                <a:latin typeface="IBM Plex Sans"/>
                <a:ea typeface="IBM Plex Sans"/>
                <a:cs typeface="IBM Plex Sans"/>
              </a:endParaRPr>
            </a:p>
          </p:txBody>
        </p:sp>
      </p:grpSp>
      <p:grpSp>
        <p:nvGrpSpPr>
          <p:cNvPr id="54" name="person6"/>
          <p:cNvGrpSpPr/>
          <p:nvPr/>
        </p:nvGrpSpPr>
        <p:grpSpPr>
          <a:xfrm>
            <a:off x="723900" y="3276600"/>
            <a:ext cx="2514600" cy="838200"/>
            <a:chOff x="723900" y="3276600"/>
            <a:chExt cx="2514600" cy="838200"/>
          </a:xfrm>
        </p:grpSpPr>
        <p:sp>
          <p:nvSpPr>
            <p:cNvPr id="23" name="person6.container"/>
            <p:cNvSpPr/>
            <p:nvPr/>
          </p:nvSpPr>
          <p:spPr>
            <a:xfrm>
              <a:off x="723900" y="3276600"/>
              <a:ext cx="2514600" cy="838200"/>
            </a:xfrm>
            <a:prstGeom prst="rect">
              <a:avLst/>
            </a:prstGeom>
            <a:solidFill>
              <a:srgbClr val="E8EEF8"/>
            </a:solidFill>
            <a:ln>
              <a:noFill/>
            </a:ln>
          </p:spPr>
        </p:sp>
        <p:sp>
          <p:nvSpPr>
            <p:cNvPr id="24" name="person6.title"/>
            <p:cNvSpPr/>
            <p:nvPr/>
          </p:nvSpPr>
          <p:spPr>
            <a:xfrm>
              <a:off x="838200" y="33909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Archana Sabapathy</a:t>
              </a:r>
              <a:endParaRPr lang="en-US" sz="1200" spc="0" kern="0" b="0" i="0" dirty="0">
                <a:solidFill>
                  <a:srgbClr val="070154"/>
                </a:solidFill>
                <a:latin typeface="IBM Plex Sans"/>
                <a:ea typeface="IBM Plex Sans"/>
                <a:cs typeface="IBM Plex Sans"/>
              </a:endParaRPr>
            </a:p>
          </p:txBody>
        </p:sp>
        <p:sp>
          <p:nvSpPr>
            <p:cNvPr id="25" name="person6.body.item-0.paragraph"/>
            <p:cNvSpPr/>
            <p:nvPr/>
          </p:nvSpPr>
          <p:spPr>
            <a:xfrm>
              <a:off x="838200" y="37338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a:t>
              </a:r>
              <a:endParaRPr lang="en-US" sz="1200" spc="0" kern="0" b="0" i="0" dirty="0">
                <a:solidFill>
                  <a:srgbClr val="50658E"/>
                </a:solidFill>
                <a:latin typeface="IBM Plex Sans"/>
                <a:ea typeface="IBM Plex Sans"/>
                <a:cs typeface="IBM Plex Sans"/>
              </a:endParaRPr>
            </a:p>
          </p:txBody>
        </p:sp>
      </p:grpSp>
      <p:grpSp>
        <p:nvGrpSpPr>
          <p:cNvPr id="55" name="person7"/>
          <p:cNvGrpSpPr/>
          <p:nvPr/>
        </p:nvGrpSpPr>
        <p:grpSpPr>
          <a:xfrm>
            <a:off x="3467100" y="3276600"/>
            <a:ext cx="2514600" cy="838200"/>
            <a:chOff x="3467100" y="3276600"/>
            <a:chExt cx="2514600" cy="838200"/>
          </a:xfrm>
        </p:grpSpPr>
        <p:sp>
          <p:nvSpPr>
            <p:cNvPr id="26" name="person7.container"/>
            <p:cNvSpPr/>
            <p:nvPr/>
          </p:nvSpPr>
          <p:spPr>
            <a:xfrm>
              <a:off x="3467100" y="3276600"/>
              <a:ext cx="2514600" cy="838200"/>
            </a:xfrm>
            <a:prstGeom prst="rect">
              <a:avLst/>
            </a:prstGeom>
            <a:solidFill>
              <a:srgbClr val="E8EEF8"/>
            </a:solidFill>
            <a:ln>
              <a:noFill/>
            </a:ln>
          </p:spPr>
        </p:sp>
        <p:sp>
          <p:nvSpPr>
            <p:cNvPr id="27" name="person7.title"/>
            <p:cNvSpPr/>
            <p:nvPr/>
          </p:nvSpPr>
          <p:spPr>
            <a:xfrm>
              <a:off x="3581400" y="33909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Troy Andrews</a:t>
              </a:r>
              <a:endParaRPr lang="en-US" sz="1200" spc="0" kern="0" b="0" i="0" dirty="0">
                <a:solidFill>
                  <a:srgbClr val="070154"/>
                </a:solidFill>
                <a:latin typeface="IBM Plex Sans"/>
                <a:ea typeface="IBM Plex Sans"/>
                <a:cs typeface="IBM Plex Sans"/>
              </a:endParaRPr>
            </a:p>
          </p:txBody>
        </p:sp>
        <p:sp>
          <p:nvSpPr>
            <p:cNvPr id="28" name="person7.body.item-0.paragraph"/>
            <p:cNvSpPr/>
            <p:nvPr/>
          </p:nvSpPr>
          <p:spPr>
            <a:xfrm>
              <a:off x="3581400" y="37338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a:t>
              </a:r>
              <a:endParaRPr lang="en-US" sz="1200" spc="0" kern="0" b="0" i="0" dirty="0">
                <a:solidFill>
                  <a:srgbClr val="50658E"/>
                </a:solidFill>
                <a:latin typeface="IBM Plex Sans"/>
                <a:ea typeface="IBM Plex Sans"/>
                <a:cs typeface="IBM Plex Sans"/>
              </a:endParaRPr>
            </a:p>
          </p:txBody>
        </p:sp>
      </p:grpSp>
      <p:grpSp>
        <p:nvGrpSpPr>
          <p:cNvPr id="56" name="person8"/>
          <p:cNvGrpSpPr/>
          <p:nvPr/>
        </p:nvGrpSpPr>
        <p:grpSpPr>
          <a:xfrm>
            <a:off x="6210300" y="3276600"/>
            <a:ext cx="2514600" cy="838200"/>
            <a:chOff x="6210300" y="3276600"/>
            <a:chExt cx="2514600" cy="838200"/>
          </a:xfrm>
        </p:grpSpPr>
        <p:sp>
          <p:nvSpPr>
            <p:cNvPr id="29" name="person8.container"/>
            <p:cNvSpPr/>
            <p:nvPr/>
          </p:nvSpPr>
          <p:spPr>
            <a:xfrm>
              <a:off x="6210300" y="3276600"/>
              <a:ext cx="2514600" cy="838200"/>
            </a:xfrm>
            <a:prstGeom prst="rect">
              <a:avLst/>
            </a:prstGeom>
            <a:solidFill>
              <a:srgbClr val="E8EEF8"/>
            </a:solidFill>
            <a:ln>
              <a:noFill/>
            </a:ln>
          </p:spPr>
        </p:sp>
        <p:sp>
          <p:nvSpPr>
            <p:cNvPr id="30" name="person8.title"/>
            <p:cNvSpPr/>
            <p:nvPr/>
          </p:nvSpPr>
          <p:spPr>
            <a:xfrm>
              <a:off x="6324600" y="33909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Sapna Sathyanarayana</a:t>
              </a:r>
              <a:endParaRPr lang="en-US" sz="1200" spc="0" kern="0" b="0" i="0" dirty="0">
                <a:solidFill>
                  <a:srgbClr val="070154"/>
                </a:solidFill>
                <a:latin typeface="IBM Plex Sans"/>
                <a:ea typeface="IBM Plex Sans"/>
                <a:cs typeface="IBM Plex Sans"/>
              </a:endParaRPr>
            </a:p>
          </p:txBody>
        </p:sp>
        <p:sp>
          <p:nvSpPr>
            <p:cNvPr id="31" name="person8.body.item-0.paragraph"/>
            <p:cNvSpPr/>
            <p:nvPr/>
          </p:nvSpPr>
          <p:spPr>
            <a:xfrm>
              <a:off x="6324600" y="37338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a:t>
              </a:r>
              <a:endParaRPr lang="en-US" sz="1200" spc="0" kern="0" b="0" i="0" dirty="0">
                <a:solidFill>
                  <a:srgbClr val="50658E"/>
                </a:solidFill>
                <a:latin typeface="IBM Plex Sans"/>
                <a:ea typeface="IBM Plex Sans"/>
                <a:cs typeface="IBM Plex Sans"/>
              </a:endParaRPr>
            </a:p>
          </p:txBody>
        </p:sp>
      </p:grpSp>
      <p:grpSp>
        <p:nvGrpSpPr>
          <p:cNvPr id="57" name="person9"/>
          <p:cNvGrpSpPr/>
          <p:nvPr/>
        </p:nvGrpSpPr>
        <p:grpSpPr>
          <a:xfrm>
            <a:off x="723900" y="4114800"/>
            <a:ext cx="2514600" cy="838200"/>
            <a:chOff x="723900" y="4114800"/>
            <a:chExt cx="2514600" cy="838200"/>
          </a:xfrm>
        </p:grpSpPr>
        <p:sp>
          <p:nvSpPr>
            <p:cNvPr id="32" name="person9.container"/>
            <p:cNvSpPr/>
            <p:nvPr/>
          </p:nvSpPr>
          <p:spPr>
            <a:xfrm>
              <a:off x="723900" y="4114800"/>
              <a:ext cx="2514600" cy="838200"/>
            </a:xfrm>
            <a:prstGeom prst="rect">
              <a:avLst/>
            </a:prstGeom>
            <a:solidFill>
              <a:srgbClr val="E8EEF8"/>
            </a:solidFill>
            <a:ln>
              <a:noFill/>
            </a:ln>
          </p:spPr>
        </p:sp>
        <p:sp>
          <p:nvSpPr>
            <p:cNvPr id="33" name="person9.title"/>
            <p:cNvSpPr/>
            <p:nvPr/>
          </p:nvSpPr>
          <p:spPr>
            <a:xfrm>
              <a:off x="838200" y="4229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Paul Smith</a:t>
              </a:r>
              <a:endParaRPr lang="en-US" sz="1200" spc="0" kern="0" b="0" i="0" dirty="0">
                <a:solidFill>
                  <a:srgbClr val="070154"/>
                </a:solidFill>
                <a:latin typeface="IBM Plex Sans"/>
                <a:ea typeface="IBM Plex Sans"/>
                <a:cs typeface="IBM Plex Sans"/>
              </a:endParaRPr>
            </a:p>
          </p:txBody>
        </p:sp>
        <p:sp>
          <p:nvSpPr>
            <p:cNvPr id="34" name="person9.body.item-0.paragraph"/>
            <p:cNvSpPr/>
            <p:nvPr/>
          </p:nvSpPr>
          <p:spPr>
            <a:xfrm>
              <a:off x="838200" y="45720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Engineering</a:t>
              </a:r>
              <a:endParaRPr lang="en-US" sz="1200" spc="0" kern="0" b="0" i="0" dirty="0">
                <a:solidFill>
                  <a:srgbClr val="50658E"/>
                </a:solidFill>
                <a:latin typeface="IBM Plex Sans"/>
                <a:ea typeface="IBM Plex Sans"/>
                <a:cs typeface="IBM Plex Sans"/>
              </a:endParaRPr>
            </a:p>
          </p:txBody>
        </p:sp>
      </p:grpSp>
      <p:grpSp>
        <p:nvGrpSpPr>
          <p:cNvPr id="58" name="person10"/>
          <p:cNvGrpSpPr/>
          <p:nvPr/>
        </p:nvGrpSpPr>
        <p:grpSpPr>
          <a:xfrm>
            <a:off x="3467100" y="4114800"/>
            <a:ext cx="2514600" cy="838200"/>
            <a:chOff x="3467100" y="4114800"/>
            <a:chExt cx="2514600" cy="838200"/>
          </a:xfrm>
        </p:grpSpPr>
        <p:sp>
          <p:nvSpPr>
            <p:cNvPr id="35" name="person10.container"/>
            <p:cNvSpPr/>
            <p:nvPr/>
          </p:nvSpPr>
          <p:spPr>
            <a:xfrm>
              <a:off x="3467100" y="4114800"/>
              <a:ext cx="2514600" cy="838200"/>
            </a:xfrm>
            <a:prstGeom prst="rect">
              <a:avLst/>
            </a:prstGeom>
            <a:solidFill>
              <a:srgbClr val="E8EEF8"/>
            </a:solidFill>
            <a:ln>
              <a:noFill/>
            </a:ln>
          </p:spPr>
        </p:sp>
        <p:sp>
          <p:nvSpPr>
            <p:cNvPr id="36" name="person10.title"/>
            <p:cNvSpPr/>
            <p:nvPr/>
          </p:nvSpPr>
          <p:spPr>
            <a:xfrm>
              <a:off x="3581400" y="4229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Navin Narayanan</a:t>
              </a:r>
              <a:endParaRPr lang="en-US" sz="1200" spc="0" kern="0" b="0" i="0" dirty="0">
                <a:solidFill>
                  <a:srgbClr val="070154"/>
                </a:solidFill>
                <a:latin typeface="IBM Plex Sans"/>
                <a:ea typeface="IBM Plex Sans"/>
                <a:cs typeface="IBM Plex Sans"/>
              </a:endParaRPr>
            </a:p>
          </p:txBody>
        </p:sp>
        <p:sp>
          <p:nvSpPr>
            <p:cNvPr id="37" name="person10.body.item-0.paragraph"/>
            <p:cNvSpPr/>
            <p:nvPr/>
          </p:nvSpPr>
          <p:spPr>
            <a:xfrm>
              <a:off x="3581400" y="45720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a:t>
              </a:r>
              <a:endParaRPr lang="en-US" sz="1200" spc="0" kern="0" b="0" i="0" dirty="0">
                <a:solidFill>
                  <a:srgbClr val="50658E"/>
                </a:solidFill>
                <a:latin typeface="IBM Plex Sans"/>
                <a:ea typeface="IBM Plex Sans"/>
                <a:cs typeface="IBM Plex Sans"/>
              </a:endParaRPr>
            </a:p>
          </p:txBody>
        </p:sp>
      </p:grpSp>
      <p:grpSp>
        <p:nvGrpSpPr>
          <p:cNvPr id="59" name="person11"/>
          <p:cNvGrpSpPr/>
          <p:nvPr/>
        </p:nvGrpSpPr>
        <p:grpSpPr>
          <a:xfrm>
            <a:off x="6210300" y="4114800"/>
            <a:ext cx="2514600" cy="838200"/>
            <a:chOff x="6210300" y="4114800"/>
            <a:chExt cx="2514600" cy="838200"/>
          </a:xfrm>
        </p:grpSpPr>
        <p:sp>
          <p:nvSpPr>
            <p:cNvPr id="38" name="person11.container"/>
            <p:cNvSpPr/>
            <p:nvPr/>
          </p:nvSpPr>
          <p:spPr>
            <a:xfrm>
              <a:off x="6210300" y="4114800"/>
              <a:ext cx="2514600" cy="838200"/>
            </a:xfrm>
            <a:prstGeom prst="rect">
              <a:avLst/>
            </a:prstGeom>
            <a:solidFill>
              <a:srgbClr val="E8EEF8"/>
            </a:solidFill>
            <a:ln>
              <a:noFill/>
            </a:ln>
          </p:spPr>
        </p:sp>
        <p:sp>
          <p:nvSpPr>
            <p:cNvPr id="39" name="person11.title"/>
            <p:cNvSpPr/>
            <p:nvPr/>
          </p:nvSpPr>
          <p:spPr>
            <a:xfrm>
              <a:off x="6324600" y="42291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Bob Franceschini</a:t>
              </a:r>
              <a:endParaRPr lang="en-US" sz="1200" spc="0" kern="0" b="0" i="0" dirty="0">
                <a:solidFill>
                  <a:srgbClr val="070154"/>
                </a:solidFill>
                <a:latin typeface="IBM Plex Sans"/>
                <a:ea typeface="IBM Plex Sans"/>
                <a:cs typeface="IBM Plex Sans"/>
              </a:endParaRPr>
            </a:p>
          </p:txBody>
        </p:sp>
        <p:sp>
          <p:nvSpPr>
            <p:cNvPr id="40" name="person11.body.item-0.paragraph"/>
            <p:cNvSpPr/>
            <p:nvPr/>
          </p:nvSpPr>
          <p:spPr>
            <a:xfrm>
              <a:off x="6324600" y="4572000"/>
              <a:ext cx="22860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Engineering</a:t>
              </a:r>
              <a:endParaRPr lang="en-US" sz="1200" spc="0" kern="0" b="0" i="0" dirty="0">
                <a:solidFill>
                  <a:srgbClr val="50658E"/>
                </a:solidFill>
                <a:latin typeface="IBM Plex Sans"/>
                <a:ea typeface="IBM Plex Sans"/>
                <a:cs typeface="IBM Plex Sans"/>
              </a:endParaRPr>
            </a:p>
          </p:txBody>
        </p:sp>
      </p:grpSp>
      <p:grpSp>
        <p:nvGrpSpPr>
          <p:cNvPr id="60" name="workshop"/>
          <p:cNvGrpSpPr/>
          <p:nvPr/>
        </p:nvGrpSpPr>
        <p:grpSpPr>
          <a:xfrm>
            <a:off x="8953500" y="1933939"/>
            <a:ext cx="2514600" cy="1618522"/>
            <a:chOff x="8953500" y="1933939"/>
            <a:chExt cx="2514600" cy="1618522"/>
          </a:xfrm>
        </p:grpSpPr>
        <p:pic>
          <p:nvPicPr>
            <p:cNvPr id="41" name="workshop.image" descr="Exact original DentalXChange asset ppt/media/image33.png; project:source-image33; canonical SHA256=e2a4ccd88ee79e15cdb60a3ac4c83fdc69fa06de38b27ebf8452f9bd994bc2e7">    </p:cNvPr>
            <p:cNvPicPr>
              <a:picLocks noChangeAspect="1"/>
            </p:cNvPicPr>
            <p:nvPr/>
          </p:nvPicPr>
          <p:blipFill>
            <a:blip r:embed="rId1"/>
            <a:stretch>
              <a:fillRect/>
            </a:stretch>
          </p:blipFill>
          <p:spPr>
            <a:xfrm>
              <a:off x="8953500" y="1933939"/>
              <a:ext cx="2514600" cy="1618522"/>
            </a:xfrm>
            <a:prstGeom prst="rect">
              <a:avLst/>
            </a:prstGeom>
          </p:spPr>
        </p:pic>
      </p:grpSp>
      <p:grpSp>
        <p:nvGrpSpPr>
          <p:cNvPr id="61" name="caption"/>
          <p:cNvGrpSpPr/>
          <p:nvPr/>
        </p:nvGrpSpPr>
        <p:grpSpPr>
          <a:xfrm>
            <a:off x="8953500" y="4038600"/>
            <a:ext cx="2514600" cy="1143000"/>
            <a:chOff x="8953500" y="4038600"/>
            <a:chExt cx="2514600" cy="1143000"/>
          </a:xfrm>
        </p:grpSpPr>
        <p:sp>
          <p:nvSpPr>
            <p:cNvPr id="42" name="caption.text"/>
            <p:cNvSpPr/>
            <p:nvPr/>
          </p:nvSpPr>
          <p:spPr>
            <a:xfrm>
              <a:off x="8953500" y="4038600"/>
              <a:ext cx="251460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 addition to the focused sessions, WM also conducted a collaborative session with the core project group</a:t>
              </a:r>
              <a:endParaRPr lang="en-US" sz="1200" spc="0" kern="0" b="0" i="0" dirty="0">
                <a:solidFill>
                  <a:srgbClr val="070154"/>
                </a:solidFill>
                <a:latin typeface="IBM Plex Sans"/>
                <a:ea typeface="IBM Plex Sans"/>
                <a:cs typeface="IBM Plex Sans"/>
              </a:endParaRPr>
            </a:p>
          </p:txBody>
        </p:sp>
      </p:grpSp>
      <p:grpSp>
        <p:nvGrpSpPr>
          <p:cNvPr id="62" name="scope"/>
          <p:cNvGrpSpPr/>
          <p:nvPr/>
        </p:nvGrpSpPr>
        <p:grpSpPr>
          <a:xfrm>
            <a:off x="723900" y="5257800"/>
            <a:ext cx="10744200" cy="685800"/>
            <a:chOff x="723900" y="5257800"/>
            <a:chExt cx="10744200" cy="685800"/>
          </a:xfrm>
        </p:grpSpPr>
        <p:sp>
          <p:nvSpPr>
            <p:cNvPr id="43" name="scope.surface"/>
            <p:cNvSpPr/>
            <p:nvPr/>
          </p:nvSpPr>
          <p:spPr>
            <a:xfrm>
              <a:off x="723900" y="5257800"/>
              <a:ext cx="10744200" cy="685800"/>
            </a:xfrm>
            <a:prstGeom prst="rect">
              <a:avLst/>
            </a:prstGeom>
            <a:solidFill>
              <a:srgbClr val="E8EEF8"/>
            </a:solidFill>
            <a:ln>
              <a:noFill/>
            </a:ln>
          </p:spPr>
        </p:sp>
        <p:sp>
          <p:nvSpPr>
            <p:cNvPr id="44" name="scope.text"/>
            <p:cNvSpPr/>
            <p:nvPr/>
          </p:nvSpPr>
          <p:spPr>
            <a:xfrm>
              <a:off x="876300" y="54864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Focused sessions covered Engineering, Quality/UAT, Release and Product; a collaborative session included the core project group.</a:t>
              </a:r>
              <a:endParaRPr lang="en-US" sz="1200" spc="0" kern="0" b="0" i="0" dirty="0">
                <a:solidFill>
                  <a:srgbClr val="070154"/>
                </a:solidFill>
                <a:latin typeface="IBM Plex Sans"/>
                <a:ea typeface="IBM Plex Sans"/>
                <a:cs typeface="IBM Plex Sans"/>
              </a:endParaRPr>
            </a:p>
          </p:txBody>
        </p:sp>
      </p:grpSp>
      <p:grpSp>
        <p:nvGrpSpPr>
          <p:cNvPr id="63" name="authored-header"/>
          <p:cNvGrpSpPr/>
          <p:nvPr/>
        </p:nvGrpSpPr>
        <p:grpSpPr>
          <a:xfrm>
            <a:off x="723900" y="685800"/>
            <a:ext cx="9372600" cy="914400"/>
            <a:chOff x="723900" y="685800"/>
            <a:chExt cx="9372600" cy="914400"/>
          </a:xfrm>
        </p:grpSpPr>
        <p:sp>
          <p:nvSpPr>
            <p:cNvPr id="45"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 dozen-plus discovery sessions informed the work</a:t>
              </a:r>
              <a:endParaRPr lang="en-US" sz="3200" spc="-64" kern="0" b="0" i="0" dirty="0">
                <a:solidFill>
                  <a:srgbClr val="070154"/>
                </a:solidFill>
                <a:latin typeface="IBM Plex Sans SemiBold"/>
                <a:ea typeface="IBM Plex Sans SemiBold"/>
                <a:cs typeface="IBM Plex Sans SemiBold"/>
              </a:endParaRPr>
            </a:p>
          </p:txBody>
        </p:sp>
      </p:grpSp>
      <p:grpSp>
        <p:nvGrpSpPr>
          <p:cNvPr id="64" name="authored-eyebrow"/>
          <p:cNvGrpSpPr/>
          <p:nvPr/>
        </p:nvGrpSpPr>
        <p:grpSpPr>
          <a:xfrm>
            <a:off x="723900" y="457200"/>
            <a:ext cx="9372600" cy="228600"/>
            <a:chOff x="723900" y="457200"/>
            <a:chExt cx="9372600" cy="228600"/>
          </a:xfrm>
        </p:grpSpPr>
        <p:sp>
          <p:nvSpPr>
            <p:cNvPr id="46"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DISCOVERY</a:t>
              </a:r>
              <a:endParaRPr lang="en-US" sz="1000" spc="80" kern="0" b="0" i="0" dirty="0">
                <a:solidFill>
                  <a:srgbClr val="0047FF"/>
                </a:solidFill>
                <a:latin typeface="IBM Plex Mono SemiBold"/>
                <a:ea typeface="IBM Plex Mono SemiBold"/>
                <a:cs typeface="IBM Plex Mono SemiBold"/>
              </a:endParaRPr>
            </a:p>
          </p:txBody>
        </p:sp>
      </p:grpSp>
      <p:grpSp>
        <p:nvGrpSpPr>
          <p:cNvPr id="65" name="client-brand"/>
          <p:cNvGrpSpPr/>
          <p:nvPr/>
        </p:nvGrpSpPr>
        <p:grpSpPr>
          <a:xfrm>
            <a:off x="10382250" y="457200"/>
            <a:ext cx="1028700" cy="457200"/>
            <a:chOff x="10382250" y="457200"/>
            <a:chExt cx="1028700" cy="457200"/>
          </a:xfrm>
        </p:grpSpPr>
        <p:pic>
          <p:nvPicPr>
            <p:cNvPr id="47" name="client-brand.image" descr="Exact original DentalXChange asset ppt/media/image31.png; project:source-image31; canonical SHA256=51385b7813333a7f4207d77364f6a318acc4d148486d489c8a87f115754c251f">    </p:cNvPr>
            <p:cNvPicPr>
              <a:picLocks noChangeAspect="1"/>
            </p:cNvPicPr>
            <p:nvPr/>
          </p:nvPicPr>
          <p:blipFill>
            <a:blip r:embed="rId2"/>
            <a:stretch>
              <a:fillRect/>
            </a:stretch>
          </p:blipFill>
          <p:spPr>
            <a:xfrm>
              <a:off x="10382250" y="457200"/>
              <a:ext cx="1028700" cy="457200"/>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xc-008">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8</a:t>
            </a:fld>
            <a:endParaRPr lang="en-US" sz="700" spc="0" kern="0" b="0" i="0" dirty="0">
              <a:solidFill>
                <a:srgbClr val="070154"/>
              </a:solidFill>
              <a:latin typeface="IBM Plex Mono SemiBold"/>
              <a:ea typeface="IBM Plex Mono SemiBold"/>
              <a:cs typeface="IBM Plex Mono SemiBold"/>
            </a:endParaRPr>
          </a:p>
        </p:txBody>
      </p:sp>
      <p:grpSp>
        <p:nvGrpSpPr>
          <p:cNvPr id="52" name="axis"/>
          <p:cNvGrpSpPr/>
          <p:nvPr/>
        </p:nvGrpSpPr>
        <p:grpSpPr>
          <a:xfrm>
            <a:off x="723900" y="1600200"/>
            <a:ext cx="2286000" cy="381000"/>
            <a:chOff x="723900" y="1600200"/>
            <a:chExt cx="2286000" cy="381000"/>
          </a:xfrm>
        </p:grpSpPr>
        <p:sp>
          <p:nvSpPr>
            <p:cNvPr id="5" name="axis.surface"/>
            <p:cNvSpPr/>
            <p:nvPr/>
          </p:nvSpPr>
          <p:spPr>
            <a:xfrm>
              <a:off x="723900" y="1600200"/>
              <a:ext cx="2286000" cy="381000"/>
            </a:xfrm>
            <a:prstGeom prst="rect">
              <a:avLst/>
            </a:prstGeom>
            <a:solidFill>
              <a:srgbClr val="070154"/>
            </a:solidFill>
            <a:ln>
              <a:noFill/>
            </a:ln>
          </p:spPr>
        </p:sp>
        <p:sp>
          <p:nvSpPr>
            <p:cNvPr id="6" name="axis.text"/>
            <p:cNvSpPr/>
            <p:nvPr/>
          </p:nvSpPr>
          <p:spPr>
            <a:xfrm>
              <a:off x="876300" y="1676400"/>
              <a:ext cx="19812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Rollout sequence</a:t>
              </a:r>
              <a:endParaRPr lang="en-US" sz="1200" spc="0" kern="0" b="0" i="0" dirty="0">
                <a:solidFill>
                  <a:srgbClr val="FFFFFF"/>
                </a:solidFill>
                <a:latin typeface="IBM Plex Sans"/>
                <a:ea typeface="IBM Plex Sans"/>
                <a:cs typeface="IBM Plex Sans"/>
              </a:endParaRPr>
            </a:p>
          </p:txBody>
        </p:sp>
      </p:grpSp>
      <p:grpSp>
        <p:nvGrpSpPr>
          <p:cNvPr id="53" name="phase0"/>
          <p:cNvGrpSpPr/>
          <p:nvPr/>
        </p:nvGrpSpPr>
        <p:grpSpPr>
          <a:xfrm>
            <a:off x="3086100" y="1600200"/>
            <a:ext cx="1371600" cy="381000"/>
            <a:chOff x="3086100" y="1600200"/>
            <a:chExt cx="1371600" cy="381000"/>
          </a:xfrm>
        </p:grpSpPr>
        <p:sp>
          <p:nvSpPr>
            <p:cNvPr id="7" name="phase0.surface"/>
            <p:cNvSpPr/>
            <p:nvPr/>
          </p:nvSpPr>
          <p:spPr>
            <a:xfrm>
              <a:off x="3086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close/>
                </a:path>
              </a:pathLst>
            </a:custGeom>
            <a:solidFill>
              <a:srgbClr val="070154"/>
            </a:solidFill>
            <a:ln>
              <a:noFill/>
            </a:ln>
          </p:spPr>
        </p:sp>
        <p:sp>
          <p:nvSpPr>
            <p:cNvPr id="8" name="phase0.text"/>
            <p:cNvSpPr/>
            <p:nvPr/>
          </p:nvSpPr>
          <p:spPr>
            <a:xfrm>
              <a:off x="3238500" y="1657350"/>
              <a:ext cx="1016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Identify</a:t>
              </a:r>
              <a:endParaRPr lang="en-US" sz="1400" spc="0" kern="0" b="0" i="0" dirty="0">
                <a:solidFill>
                  <a:srgbClr val="FFFFFF"/>
                </a:solidFill>
                <a:latin typeface="IBM Plex Sans"/>
                <a:ea typeface="IBM Plex Sans"/>
                <a:cs typeface="IBM Plex Sans"/>
              </a:endParaRPr>
            </a:p>
          </p:txBody>
        </p:sp>
      </p:grpSp>
      <p:grpSp>
        <p:nvGrpSpPr>
          <p:cNvPr id="54" name="phase1"/>
          <p:cNvGrpSpPr/>
          <p:nvPr/>
        </p:nvGrpSpPr>
        <p:grpSpPr>
          <a:xfrm>
            <a:off x="4483100" y="1600200"/>
            <a:ext cx="1371600" cy="381000"/>
            <a:chOff x="4483100" y="1600200"/>
            <a:chExt cx="1371600" cy="381000"/>
          </a:xfrm>
        </p:grpSpPr>
        <p:sp>
          <p:nvSpPr>
            <p:cNvPr id="9" name="phase1.surface"/>
            <p:cNvSpPr/>
            <p:nvPr/>
          </p:nvSpPr>
          <p:spPr>
            <a:xfrm>
              <a:off x="4483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lnTo>
                    <a:pt x="127000" y="190500"/>
                  </a:lnTo>
                  <a:close/>
                </a:path>
              </a:pathLst>
            </a:custGeom>
            <a:solidFill>
              <a:srgbClr val="070154"/>
            </a:solidFill>
            <a:ln>
              <a:noFill/>
            </a:ln>
          </p:spPr>
        </p:sp>
        <p:sp>
          <p:nvSpPr>
            <p:cNvPr id="10" name="phase1.text"/>
            <p:cNvSpPr/>
            <p:nvPr/>
          </p:nvSpPr>
          <p:spPr>
            <a:xfrm>
              <a:off x="4762500" y="1657350"/>
              <a:ext cx="88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Define</a:t>
              </a:r>
              <a:endParaRPr lang="en-US" sz="1400" spc="0" kern="0" b="0" i="0" dirty="0">
                <a:solidFill>
                  <a:srgbClr val="FFFFFF"/>
                </a:solidFill>
                <a:latin typeface="IBM Plex Sans"/>
                <a:ea typeface="IBM Plex Sans"/>
                <a:cs typeface="IBM Plex Sans"/>
              </a:endParaRPr>
            </a:p>
          </p:txBody>
        </p:sp>
      </p:grpSp>
      <p:grpSp>
        <p:nvGrpSpPr>
          <p:cNvPr id="55" name="phase2"/>
          <p:cNvGrpSpPr/>
          <p:nvPr/>
        </p:nvGrpSpPr>
        <p:grpSpPr>
          <a:xfrm>
            <a:off x="5880100" y="1600200"/>
            <a:ext cx="1371600" cy="381000"/>
            <a:chOff x="5880100" y="1600200"/>
            <a:chExt cx="1371600" cy="381000"/>
          </a:xfrm>
        </p:grpSpPr>
        <p:sp>
          <p:nvSpPr>
            <p:cNvPr id="11" name="phase2.surface"/>
            <p:cNvSpPr/>
            <p:nvPr/>
          </p:nvSpPr>
          <p:spPr>
            <a:xfrm>
              <a:off x="5880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lnTo>
                    <a:pt x="127000" y="190500"/>
                  </a:lnTo>
                  <a:close/>
                </a:path>
              </a:pathLst>
            </a:custGeom>
            <a:solidFill>
              <a:srgbClr val="070154"/>
            </a:solidFill>
            <a:ln>
              <a:noFill/>
            </a:ln>
          </p:spPr>
        </p:sp>
        <p:sp>
          <p:nvSpPr>
            <p:cNvPr id="12" name="phase2.text"/>
            <p:cNvSpPr/>
            <p:nvPr/>
          </p:nvSpPr>
          <p:spPr>
            <a:xfrm>
              <a:off x="6159500" y="1657350"/>
              <a:ext cx="88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Build</a:t>
              </a:r>
              <a:endParaRPr lang="en-US" sz="1400" spc="0" kern="0" b="0" i="0" dirty="0">
                <a:solidFill>
                  <a:srgbClr val="FFFFFF"/>
                </a:solidFill>
                <a:latin typeface="IBM Plex Sans"/>
                <a:ea typeface="IBM Plex Sans"/>
                <a:cs typeface="IBM Plex Sans"/>
              </a:endParaRPr>
            </a:p>
          </p:txBody>
        </p:sp>
      </p:grpSp>
      <p:grpSp>
        <p:nvGrpSpPr>
          <p:cNvPr id="56" name="phase3"/>
          <p:cNvGrpSpPr/>
          <p:nvPr/>
        </p:nvGrpSpPr>
        <p:grpSpPr>
          <a:xfrm>
            <a:off x="7277100" y="1600200"/>
            <a:ext cx="1371600" cy="381000"/>
            <a:chOff x="7277100" y="1600200"/>
            <a:chExt cx="1371600" cy="381000"/>
          </a:xfrm>
        </p:grpSpPr>
        <p:sp>
          <p:nvSpPr>
            <p:cNvPr id="13" name="phase3.surface"/>
            <p:cNvSpPr/>
            <p:nvPr/>
          </p:nvSpPr>
          <p:spPr>
            <a:xfrm>
              <a:off x="7277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lnTo>
                    <a:pt x="127000" y="190500"/>
                  </a:lnTo>
                  <a:close/>
                </a:path>
              </a:pathLst>
            </a:custGeom>
            <a:solidFill>
              <a:srgbClr val="070154"/>
            </a:solidFill>
            <a:ln>
              <a:noFill/>
            </a:ln>
          </p:spPr>
        </p:sp>
        <p:sp>
          <p:nvSpPr>
            <p:cNvPr id="14" name="phase3.text"/>
            <p:cNvSpPr/>
            <p:nvPr/>
          </p:nvSpPr>
          <p:spPr>
            <a:xfrm>
              <a:off x="7556500" y="1657350"/>
              <a:ext cx="88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Release</a:t>
              </a:r>
              <a:endParaRPr lang="en-US" sz="1400" spc="0" kern="0" b="0" i="0" dirty="0">
                <a:solidFill>
                  <a:srgbClr val="FFFFFF"/>
                </a:solidFill>
                <a:latin typeface="IBM Plex Sans"/>
                <a:ea typeface="IBM Plex Sans"/>
                <a:cs typeface="IBM Plex Sans"/>
              </a:endParaRPr>
            </a:p>
          </p:txBody>
        </p:sp>
      </p:grpSp>
      <p:grpSp>
        <p:nvGrpSpPr>
          <p:cNvPr id="57" name="phase4"/>
          <p:cNvGrpSpPr/>
          <p:nvPr/>
        </p:nvGrpSpPr>
        <p:grpSpPr>
          <a:xfrm>
            <a:off x="8674100" y="1600200"/>
            <a:ext cx="1371600" cy="381000"/>
            <a:chOff x="8674100" y="1600200"/>
            <a:chExt cx="1371600" cy="381000"/>
          </a:xfrm>
        </p:grpSpPr>
        <p:sp>
          <p:nvSpPr>
            <p:cNvPr id="15" name="phase4.surface"/>
            <p:cNvSpPr/>
            <p:nvPr/>
          </p:nvSpPr>
          <p:spPr>
            <a:xfrm>
              <a:off x="8674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lnTo>
                    <a:pt x="127000" y="190500"/>
                  </a:lnTo>
                  <a:close/>
                </a:path>
              </a:pathLst>
            </a:custGeom>
            <a:solidFill>
              <a:srgbClr val="070154"/>
            </a:solidFill>
            <a:ln>
              <a:noFill/>
            </a:ln>
          </p:spPr>
        </p:sp>
        <p:sp>
          <p:nvSpPr>
            <p:cNvPr id="16" name="phase4.text"/>
            <p:cNvSpPr/>
            <p:nvPr/>
          </p:nvSpPr>
          <p:spPr>
            <a:xfrm>
              <a:off x="8953500" y="1657350"/>
              <a:ext cx="88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GTM</a:t>
              </a:r>
              <a:endParaRPr lang="en-US" sz="1400" spc="0" kern="0" b="0" i="0" dirty="0">
                <a:solidFill>
                  <a:srgbClr val="FFFFFF"/>
                </a:solidFill>
                <a:latin typeface="IBM Plex Sans"/>
                <a:ea typeface="IBM Plex Sans"/>
                <a:cs typeface="IBM Plex Sans"/>
              </a:endParaRPr>
            </a:p>
          </p:txBody>
        </p:sp>
      </p:grpSp>
      <p:grpSp>
        <p:nvGrpSpPr>
          <p:cNvPr id="58" name="phase5"/>
          <p:cNvGrpSpPr/>
          <p:nvPr/>
        </p:nvGrpSpPr>
        <p:grpSpPr>
          <a:xfrm>
            <a:off x="10071100" y="1600200"/>
            <a:ext cx="1371600" cy="381000"/>
            <a:chOff x="10071100" y="1600200"/>
            <a:chExt cx="1371600" cy="381000"/>
          </a:xfrm>
        </p:grpSpPr>
        <p:sp>
          <p:nvSpPr>
            <p:cNvPr id="17" name="phase5.surface"/>
            <p:cNvSpPr/>
            <p:nvPr/>
          </p:nvSpPr>
          <p:spPr>
            <a:xfrm>
              <a:off x="10071100" y="1600200"/>
              <a:ext cx="1371600" cy="381000"/>
            </a:xfrm>
            <a:custGeom>
              <a:avLst/>
              <a:gdLst/>
              <a:ahLst/>
              <a:cxnLst/>
              <a:rect l="l" t="t" r="r" b="b"/>
              <a:pathLst>
                <a:path w="1371600" h="381000">
                  <a:moveTo>
                    <a:pt x="0" y="0"/>
                  </a:moveTo>
                  <a:lnTo>
                    <a:pt x="1244600" y="0"/>
                  </a:lnTo>
                  <a:lnTo>
                    <a:pt x="1371600" y="190500"/>
                  </a:lnTo>
                  <a:lnTo>
                    <a:pt x="1244600" y="381000"/>
                  </a:lnTo>
                  <a:lnTo>
                    <a:pt x="0" y="381000"/>
                  </a:lnTo>
                  <a:lnTo>
                    <a:pt x="127000" y="190500"/>
                  </a:lnTo>
                  <a:close/>
                </a:path>
              </a:pathLst>
            </a:custGeom>
            <a:solidFill>
              <a:srgbClr val="070154"/>
            </a:solidFill>
            <a:ln>
              <a:noFill/>
            </a:ln>
          </p:spPr>
        </p:sp>
        <p:sp>
          <p:nvSpPr>
            <p:cNvPr id="18" name="phase5.text"/>
            <p:cNvSpPr/>
            <p:nvPr/>
          </p:nvSpPr>
          <p:spPr>
            <a:xfrm>
              <a:off x="10350500" y="1657350"/>
              <a:ext cx="8890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Optimize</a:t>
              </a:r>
              <a:endParaRPr lang="en-US" sz="1400" spc="0" kern="0" b="0" i="0" dirty="0">
                <a:solidFill>
                  <a:srgbClr val="FFFFFF"/>
                </a:solidFill>
                <a:latin typeface="IBM Plex Sans"/>
                <a:ea typeface="IBM Plex Sans"/>
                <a:cs typeface="IBM Plex Sans"/>
              </a:endParaRPr>
            </a:p>
          </p:txBody>
        </p:sp>
      </p:grpSp>
      <p:grpSp>
        <p:nvGrpSpPr>
          <p:cNvPr id="59" name="lane0"/>
          <p:cNvGrpSpPr/>
          <p:nvPr/>
        </p:nvGrpSpPr>
        <p:grpSpPr>
          <a:xfrm>
            <a:off x="723900" y="2133600"/>
            <a:ext cx="2286000" cy="381000"/>
            <a:chOff x="723900" y="2133600"/>
            <a:chExt cx="2286000" cy="381000"/>
          </a:xfrm>
        </p:grpSpPr>
        <p:sp>
          <p:nvSpPr>
            <p:cNvPr id="19" name="lane0.surface"/>
            <p:cNvSpPr/>
            <p:nvPr/>
          </p:nvSpPr>
          <p:spPr>
            <a:xfrm>
              <a:off x="723900" y="2133600"/>
              <a:ext cx="2286000" cy="381000"/>
            </a:xfrm>
            <a:prstGeom prst="rect">
              <a:avLst/>
            </a:prstGeom>
            <a:solidFill>
              <a:srgbClr val="E8EEF8"/>
            </a:solidFill>
            <a:ln>
              <a:noFill/>
            </a:ln>
          </p:spPr>
        </p:sp>
        <p:sp>
          <p:nvSpPr>
            <p:cNvPr id="20" name="lane0.text"/>
            <p:cNvSpPr/>
            <p:nvPr/>
          </p:nvSpPr>
          <p:spPr>
            <a:xfrm>
              <a:off x="876300" y="21717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FIRST 4 WEEKS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Product strategy spike</a:t>
              </a:r>
              <a:endParaRPr lang="en-US" sz="900" spc="0" kern="0" b="0" i="0" dirty="0">
                <a:solidFill>
                  <a:srgbClr val="070154"/>
                </a:solidFill>
                <a:latin typeface="IBM Plex Sans"/>
                <a:ea typeface="IBM Plex Sans"/>
                <a:cs typeface="IBM Plex Sans"/>
              </a:endParaRPr>
            </a:p>
          </p:txBody>
        </p:sp>
      </p:grpSp>
      <p:grpSp>
        <p:nvGrpSpPr>
          <p:cNvPr id="60" name="coverage0"/>
          <p:cNvGrpSpPr/>
          <p:nvPr/>
        </p:nvGrpSpPr>
        <p:grpSpPr>
          <a:xfrm>
            <a:off x="3086100" y="2133600"/>
            <a:ext cx="2768600" cy="381000"/>
            <a:chOff x="3086100" y="2133600"/>
            <a:chExt cx="2768600" cy="381000"/>
          </a:xfrm>
        </p:grpSpPr>
        <p:sp>
          <p:nvSpPr>
            <p:cNvPr id="21" name="coverage0.surface"/>
            <p:cNvSpPr/>
            <p:nvPr/>
          </p:nvSpPr>
          <p:spPr>
            <a:xfrm>
              <a:off x="3086100" y="2133600"/>
              <a:ext cx="2768600" cy="381000"/>
            </a:xfrm>
            <a:prstGeom prst="rect">
              <a:avLst/>
            </a:prstGeom>
            <a:solidFill>
              <a:srgbClr val="070154"/>
            </a:solidFill>
            <a:ln>
              <a:noFill/>
            </a:ln>
          </p:spPr>
        </p:sp>
        <p:sp>
          <p:nvSpPr>
            <p:cNvPr id="22" name="coverage0.text"/>
            <p:cNvSpPr/>
            <p:nvPr/>
          </p:nvSpPr>
          <p:spPr>
            <a:xfrm>
              <a:off x="3238500" y="2171700"/>
              <a:ext cx="2463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All products: strategy, outcome measures, and six-month roadmaps</a:t>
              </a:r>
              <a:endParaRPr lang="en-US" sz="900" spc="0" kern="0" b="0" i="0" dirty="0">
                <a:solidFill>
                  <a:srgbClr val="FFFFFF"/>
                </a:solidFill>
                <a:latin typeface="IBM Plex Sans"/>
                <a:ea typeface="IBM Plex Sans"/>
                <a:cs typeface="IBM Plex Sans"/>
              </a:endParaRPr>
            </a:p>
          </p:txBody>
        </p:sp>
      </p:grpSp>
      <p:grpSp>
        <p:nvGrpSpPr>
          <p:cNvPr id="61" name="lane1"/>
          <p:cNvGrpSpPr/>
          <p:nvPr/>
        </p:nvGrpSpPr>
        <p:grpSpPr>
          <a:xfrm>
            <a:off x="723900" y="2590800"/>
            <a:ext cx="2286000" cy="381000"/>
            <a:chOff x="723900" y="2590800"/>
            <a:chExt cx="2286000" cy="381000"/>
          </a:xfrm>
        </p:grpSpPr>
        <p:sp>
          <p:nvSpPr>
            <p:cNvPr id="23" name="lane1.surface"/>
            <p:cNvSpPr/>
            <p:nvPr/>
          </p:nvSpPr>
          <p:spPr>
            <a:xfrm>
              <a:off x="723900" y="2590800"/>
              <a:ext cx="2286000" cy="381000"/>
            </a:xfrm>
            <a:prstGeom prst="rect">
              <a:avLst/>
            </a:prstGeom>
            <a:solidFill>
              <a:srgbClr val="E8EEF8"/>
            </a:solidFill>
            <a:ln>
              <a:noFill/>
            </a:ln>
          </p:spPr>
        </p:sp>
        <p:sp>
          <p:nvSpPr>
            <p:cNvPr id="24" name="lane1.text"/>
            <p:cNvSpPr/>
            <p:nvPr/>
          </p:nvSpPr>
          <p:spPr>
            <a:xfrm>
              <a:off x="876300" y="26289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 PARALLEL</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Quality, test &amp; release</a:t>
              </a:r>
              <a:endParaRPr lang="en-US" sz="900" spc="0" kern="0" b="0" i="0" dirty="0">
                <a:solidFill>
                  <a:srgbClr val="070154"/>
                </a:solidFill>
                <a:latin typeface="IBM Plex Sans"/>
                <a:ea typeface="IBM Plex Sans"/>
                <a:cs typeface="IBM Plex Sans"/>
              </a:endParaRPr>
            </a:p>
          </p:txBody>
        </p:sp>
      </p:grpSp>
      <p:grpSp>
        <p:nvGrpSpPr>
          <p:cNvPr id="62" name="coverage1"/>
          <p:cNvGrpSpPr/>
          <p:nvPr/>
        </p:nvGrpSpPr>
        <p:grpSpPr>
          <a:xfrm>
            <a:off x="4483100" y="2590800"/>
            <a:ext cx="4165600" cy="381000"/>
            <a:chOff x="4483100" y="2590800"/>
            <a:chExt cx="4165600" cy="381000"/>
          </a:xfrm>
        </p:grpSpPr>
        <p:sp>
          <p:nvSpPr>
            <p:cNvPr id="25" name="coverage1.surface"/>
            <p:cNvSpPr/>
            <p:nvPr/>
          </p:nvSpPr>
          <p:spPr>
            <a:xfrm>
              <a:off x="4483100" y="2590800"/>
              <a:ext cx="4165600" cy="381000"/>
            </a:xfrm>
            <a:prstGeom prst="rect">
              <a:avLst/>
            </a:prstGeom>
            <a:solidFill>
              <a:srgbClr val="CED7E6"/>
            </a:solidFill>
            <a:ln>
              <a:noFill/>
            </a:ln>
          </p:spPr>
        </p:sp>
        <p:sp>
          <p:nvSpPr>
            <p:cNvPr id="26" name="coverage1.text"/>
            <p:cNvSpPr/>
            <p:nvPr/>
          </p:nvSpPr>
          <p:spPr>
            <a:xfrm>
              <a:off x="4635500" y="2705100"/>
              <a:ext cx="3860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Improve quality, test coverage, staging validation, and release readiness</a:t>
              </a:r>
              <a:endParaRPr lang="en-US" sz="900" spc="0" kern="0" b="0" i="0" dirty="0">
                <a:solidFill>
                  <a:srgbClr val="070154"/>
                </a:solidFill>
                <a:latin typeface="IBM Plex Sans"/>
                <a:ea typeface="IBM Plex Sans"/>
                <a:cs typeface="IBM Plex Sans"/>
              </a:endParaRPr>
            </a:p>
          </p:txBody>
        </p:sp>
      </p:grpSp>
      <p:grpSp>
        <p:nvGrpSpPr>
          <p:cNvPr id="63" name="lane2"/>
          <p:cNvGrpSpPr/>
          <p:nvPr/>
        </p:nvGrpSpPr>
        <p:grpSpPr>
          <a:xfrm>
            <a:off x="723900" y="3048000"/>
            <a:ext cx="2286000" cy="381000"/>
            <a:chOff x="723900" y="3048000"/>
            <a:chExt cx="2286000" cy="381000"/>
          </a:xfrm>
        </p:grpSpPr>
        <p:sp>
          <p:nvSpPr>
            <p:cNvPr id="27" name="lane2.surface"/>
            <p:cNvSpPr/>
            <p:nvPr/>
          </p:nvSpPr>
          <p:spPr>
            <a:xfrm>
              <a:off x="723900" y="3048000"/>
              <a:ext cx="2286000" cy="381000"/>
            </a:xfrm>
            <a:prstGeom prst="rect">
              <a:avLst/>
            </a:prstGeom>
            <a:solidFill>
              <a:srgbClr val="E8EEF8"/>
            </a:solidFill>
            <a:ln>
              <a:noFill/>
            </a:ln>
          </p:spPr>
        </p:sp>
        <p:sp>
          <p:nvSpPr>
            <p:cNvPr id="28" name="lane2.text"/>
            <p:cNvSpPr/>
            <p:nvPr/>
          </p:nvSpPr>
          <p:spPr>
            <a:xfrm>
              <a:off x="876300" y="30861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EARLY</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Lifecycle skills pack</a:t>
              </a:r>
              <a:endParaRPr lang="en-US" sz="900" spc="0" kern="0" b="0" i="0" dirty="0">
                <a:solidFill>
                  <a:srgbClr val="070154"/>
                </a:solidFill>
                <a:latin typeface="IBM Plex Sans"/>
                <a:ea typeface="IBM Plex Sans"/>
                <a:cs typeface="IBM Plex Sans"/>
              </a:endParaRPr>
            </a:p>
          </p:txBody>
        </p:sp>
      </p:grpSp>
      <p:grpSp>
        <p:nvGrpSpPr>
          <p:cNvPr id="64" name="coverage2"/>
          <p:cNvGrpSpPr/>
          <p:nvPr/>
        </p:nvGrpSpPr>
        <p:grpSpPr>
          <a:xfrm>
            <a:off x="3086100" y="3048000"/>
            <a:ext cx="8356600" cy="381000"/>
            <a:chOff x="3086100" y="3048000"/>
            <a:chExt cx="8356600" cy="381000"/>
          </a:xfrm>
        </p:grpSpPr>
        <p:sp>
          <p:nvSpPr>
            <p:cNvPr id="29" name="coverage2.surface"/>
            <p:cNvSpPr/>
            <p:nvPr/>
          </p:nvSpPr>
          <p:spPr>
            <a:xfrm>
              <a:off x="3086100" y="3048000"/>
              <a:ext cx="8356600" cy="381000"/>
            </a:xfrm>
            <a:prstGeom prst="rect">
              <a:avLst/>
            </a:prstGeom>
            <a:solidFill>
              <a:srgbClr val="E8EEF8"/>
            </a:solidFill>
            <a:ln>
              <a:noFill/>
            </a:ln>
          </p:spPr>
        </p:sp>
        <p:sp>
          <p:nvSpPr>
            <p:cNvPr id="30" name="coverage2.text"/>
            <p:cNvSpPr/>
            <p:nvPr/>
          </p:nvSpPr>
          <p:spPr>
            <a:xfrm>
              <a:off x="3238500" y="3162300"/>
              <a:ext cx="8051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Use skills and guided templates across the lifecycle to fill capability gaps while hiring</a:t>
              </a:r>
              <a:endParaRPr lang="en-US" sz="900" spc="0" kern="0" b="0" i="0" dirty="0">
                <a:solidFill>
                  <a:srgbClr val="070154"/>
                </a:solidFill>
                <a:latin typeface="IBM Plex Sans"/>
                <a:ea typeface="IBM Plex Sans"/>
                <a:cs typeface="IBM Plex Sans"/>
              </a:endParaRPr>
            </a:p>
          </p:txBody>
        </p:sp>
      </p:grpSp>
      <p:grpSp>
        <p:nvGrpSpPr>
          <p:cNvPr id="65" name="lane3"/>
          <p:cNvGrpSpPr/>
          <p:nvPr/>
        </p:nvGrpSpPr>
        <p:grpSpPr>
          <a:xfrm>
            <a:off x="723900" y="3505200"/>
            <a:ext cx="2286000" cy="381000"/>
            <a:chOff x="723900" y="3505200"/>
            <a:chExt cx="2286000" cy="381000"/>
          </a:xfrm>
        </p:grpSpPr>
        <p:sp>
          <p:nvSpPr>
            <p:cNvPr id="31" name="lane3.surface"/>
            <p:cNvSpPr/>
            <p:nvPr/>
          </p:nvSpPr>
          <p:spPr>
            <a:xfrm>
              <a:off x="723900" y="3505200"/>
              <a:ext cx="2286000" cy="381000"/>
            </a:xfrm>
            <a:prstGeom prst="rect">
              <a:avLst/>
            </a:prstGeom>
            <a:solidFill>
              <a:srgbClr val="E8EEF8"/>
            </a:solidFill>
            <a:ln>
              <a:noFill/>
            </a:ln>
          </p:spPr>
        </p:sp>
        <p:sp>
          <p:nvSpPr>
            <p:cNvPr id="32" name="lane3.text"/>
            <p:cNvSpPr/>
            <p:nvPr/>
          </p:nvSpPr>
          <p:spPr>
            <a:xfrm>
              <a:off x="876300" y="35433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THEN</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Product execution</a:t>
              </a:r>
              <a:endParaRPr lang="en-US" sz="900" spc="0" kern="0" b="0" i="0" dirty="0">
                <a:solidFill>
                  <a:srgbClr val="070154"/>
                </a:solidFill>
                <a:latin typeface="IBM Plex Sans"/>
                <a:ea typeface="IBM Plex Sans"/>
                <a:cs typeface="IBM Plex Sans"/>
              </a:endParaRPr>
            </a:p>
          </p:txBody>
        </p:sp>
      </p:grpSp>
      <p:grpSp>
        <p:nvGrpSpPr>
          <p:cNvPr id="66" name="coverage3"/>
          <p:cNvGrpSpPr/>
          <p:nvPr/>
        </p:nvGrpSpPr>
        <p:grpSpPr>
          <a:xfrm>
            <a:off x="3086100" y="3505200"/>
            <a:ext cx="8356600" cy="381000"/>
            <a:chOff x="3086100" y="3505200"/>
            <a:chExt cx="8356600" cy="381000"/>
          </a:xfrm>
        </p:grpSpPr>
        <p:sp>
          <p:nvSpPr>
            <p:cNvPr id="33" name="coverage3.surface"/>
            <p:cNvSpPr/>
            <p:nvPr/>
          </p:nvSpPr>
          <p:spPr>
            <a:xfrm>
              <a:off x="3086100" y="3505200"/>
              <a:ext cx="8356600" cy="381000"/>
            </a:xfrm>
            <a:prstGeom prst="rect">
              <a:avLst/>
            </a:prstGeom>
            <a:solidFill>
              <a:srgbClr val="070154"/>
            </a:solidFill>
            <a:ln>
              <a:noFill/>
            </a:ln>
          </p:spPr>
        </p:sp>
        <p:sp>
          <p:nvSpPr>
            <p:cNvPr id="34" name="coverage3.text"/>
            <p:cNvSpPr/>
            <p:nvPr/>
          </p:nvSpPr>
          <p:spPr>
            <a:xfrm>
              <a:off x="3238500" y="3619500"/>
              <a:ext cx="8051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Run the roadmap, review outcome metrics, and adjust priorities using customer and business evidence</a:t>
              </a:r>
              <a:endParaRPr lang="en-US" sz="900" spc="0" kern="0" b="0" i="0" dirty="0">
                <a:solidFill>
                  <a:srgbClr val="FFFFFF"/>
                </a:solidFill>
                <a:latin typeface="IBM Plex Sans"/>
                <a:ea typeface="IBM Plex Sans"/>
                <a:cs typeface="IBM Plex Sans"/>
              </a:endParaRPr>
            </a:p>
          </p:txBody>
        </p:sp>
      </p:grpSp>
      <p:grpSp>
        <p:nvGrpSpPr>
          <p:cNvPr id="67" name="lane4"/>
          <p:cNvGrpSpPr/>
          <p:nvPr/>
        </p:nvGrpSpPr>
        <p:grpSpPr>
          <a:xfrm>
            <a:off x="723900" y="3962400"/>
            <a:ext cx="2286000" cy="381000"/>
            <a:chOff x="723900" y="3962400"/>
            <a:chExt cx="2286000" cy="381000"/>
          </a:xfrm>
        </p:grpSpPr>
        <p:sp>
          <p:nvSpPr>
            <p:cNvPr id="35" name="lane4.surface"/>
            <p:cNvSpPr/>
            <p:nvPr/>
          </p:nvSpPr>
          <p:spPr>
            <a:xfrm>
              <a:off x="723900" y="3962400"/>
              <a:ext cx="2286000" cy="381000"/>
            </a:xfrm>
            <a:prstGeom prst="rect">
              <a:avLst/>
            </a:prstGeom>
            <a:solidFill>
              <a:srgbClr val="E8EEF8"/>
            </a:solidFill>
            <a:ln>
              <a:noFill/>
            </a:ln>
          </p:spPr>
        </p:sp>
        <p:sp>
          <p:nvSpPr>
            <p:cNvPr id="36" name="lane4.text"/>
            <p:cNvSpPr/>
            <p:nvPr/>
          </p:nvSpPr>
          <p:spPr>
            <a:xfrm>
              <a:off x="876300" y="40005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THEN</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Engineering efficiency</a:t>
              </a:r>
              <a:endParaRPr lang="en-US" sz="900" spc="0" kern="0" b="0" i="0" dirty="0">
                <a:solidFill>
                  <a:srgbClr val="070154"/>
                </a:solidFill>
                <a:latin typeface="IBM Plex Sans"/>
                <a:ea typeface="IBM Plex Sans"/>
                <a:cs typeface="IBM Plex Sans"/>
              </a:endParaRPr>
            </a:p>
          </p:txBody>
        </p:sp>
      </p:grpSp>
      <p:grpSp>
        <p:nvGrpSpPr>
          <p:cNvPr id="68" name="coverage4"/>
          <p:cNvGrpSpPr/>
          <p:nvPr/>
        </p:nvGrpSpPr>
        <p:grpSpPr>
          <a:xfrm>
            <a:off x="4483100" y="3962400"/>
            <a:ext cx="6959600" cy="381000"/>
            <a:chOff x="4483100" y="3962400"/>
            <a:chExt cx="6959600" cy="381000"/>
          </a:xfrm>
        </p:grpSpPr>
        <p:sp>
          <p:nvSpPr>
            <p:cNvPr id="37" name="coverage4.surface"/>
            <p:cNvSpPr/>
            <p:nvPr/>
          </p:nvSpPr>
          <p:spPr>
            <a:xfrm>
              <a:off x="4483100" y="3962400"/>
              <a:ext cx="6959600" cy="381000"/>
            </a:xfrm>
            <a:prstGeom prst="rect">
              <a:avLst/>
            </a:prstGeom>
            <a:solidFill>
              <a:srgbClr val="CED7E6"/>
            </a:solidFill>
            <a:ln>
              <a:noFill/>
            </a:ln>
          </p:spPr>
        </p:sp>
        <p:sp>
          <p:nvSpPr>
            <p:cNvPr id="38" name="coverage4.text"/>
            <p:cNvSpPr/>
            <p:nvPr/>
          </p:nvSpPr>
          <p:spPr>
            <a:xfrm>
              <a:off x="4635500" y="4076700"/>
              <a:ext cx="6654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Reduce delivery friction and improve engineering handoffs across the rest of the lifecycle</a:t>
              </a:r>
              <a:endParaRPr lang="en-US" sz="900" spc="0" kern="0" b="0" i="0" dirty="0">
                <a:solidFill>
                  <a:srgbClr val="070154"/>
                </a:solidFill>
                <a:latin typeface="IBM Plex Sans"/>
                <a:ea typeface="IBM Plex Sans"/>
                <a:cs typeface="IBM Plex Sans"/>
              </a:endParaRPr>
            </a:p>
          </p:txBody>
        </p:sp>
      </p:grpSp>
      <p:grpSp>
        <p:nvGrpSpPr>
          <p:cNvPr id="69" name="lane5"/>
          <p:cNvGrpSpPr/>
          <p:nvPr/>
        </p:nvGrpSpPr>
        <p:grpSpPr>
          <a:xfrm>
            <a:off x="723900" y="4419600"/>
            <a:ext cx="2286000" cy="381000"/>
            <a:chOff x="723900" y="4419600"/>
            <a:chExt cx="2286000" cy="381000"/>
          </a:xfrm>
        </p:grpSpPr>
        <p:sp>
          <p:nvSpPr>
            <p:cNvPr id="39" name="lane5.surface"/>
            <p:cNvSpPr/>
            <p:nvPr/>
          </p:nvSpPr>
          <p:spPr>
            <a:xfrm>
              <a:off x="723900" y="4419600"/>
              <a:ext cx="2286000" cy="381000"/>
            </a:xfrm>
            <a:prstGeom prst="rect">
              <a:avLst/>
            </a:prstGeom>
            <a:solidFill>
              <a:srgbClr val="E8EEF8"/>
            </a:solidFill>
            <a:ln>
              <a:noFill/>
            </a:ln>
          </p:spPr>
        </p:sp>
        <p:sp>
          <p:nvSpPr>
            <p:cNvPr id="40" name="lane5.text"/>
            <p:cNvSpPr/>
            <p:nvPr/>
          </p:nvSpPr>
          <p:spPr>
            <a:xfrm>
              <a:off x="876300" y="44577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 PARALLEL</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Business strategy</a:t>
              </a:r>
              <a:endParaRPr lang="en-US" sz="900" spc="0" kern="0" b="0" i="0" dirty="0">
                <a:solidFill>
                  <a:srgbClr val="070154"/>
                </a:solidFill>
                <a:latin typeface="IBM Plex Sans"/>
                <a:ea typeface="IBM Plex Sans"/>
                <a:cs typeface="IBM Plex Sans"/>
              </a:endParaRPr>
            </a:p>
          </p:txBody>
        </p:sp>
      </p:grpSp>
      <p:grpSp>
        <p:nvGrpSpPr>
          <p:cNvPr id="70" name="coverage5"/>
          <p:cNvGrpSpPr/>
          <p:nvPr/>
        </p:nvGrpSpPr>
        <p:grpSpPr>
          <a:xfrm>
            <a:off x="3086100" y="4419600"/>
            <a:ext cx="2768600" cy="381000"/>
            <a:chOff x="3086100" y="4419600"/>
            <a:chExt cx="2768600" cy="381000"/>
          </a:xfrm>
        </p:grpSpPr>
        <p:sp>
          <p:nvSpPr>
            <p:cNvPr id="41" name="coverage5.surface"/>
            <p:cNvSpPr/>
            <p:nvPr/>
          </p:nvSpPr>
          <p:spPr>
            <a:xfrm>
              <a:off x="3086100" y="4419600"/>
              <a:ext cx="2768600" cy="381000"/>
            </a:xfrm>
            <a:prstGeom prst="rect">
              <a:avLst/>
            </a:prstGeom>
            <a:solidFill>
              <a:srgbClr val="E8EEF8"/>
            </a:solidFill>
            <a:ln>
              <a:noFill/>
            </a:ln>
          </p:spPr>
        </p:sp>
        <p:sp>
          <p:nvSpPr>
            <p:cNvPr id="42" name="coverage5.text"/>
            <p:cNvSpPr/>
            <p:nvPr/>
          </p:nvSpPr>
          <p:spPr>
            <a:xfrm>
              <a:off x="3238500" y="4533900"/>
              <a:ext cx="2463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Develop the new business strategy</a:t>
              </a:r>
              <a:endParaRPr lang="en-US" sz="900" spc="0" kern="0" b="0" i="0" dirty="0">
                <a:solidFill>
                  <a:srgbClr val="070154"/>
                </a:solidFill>
                <a:latin typeface="IBM Plex Sans"/>
                <a:ea typeface="IBM Plex Sans"/>
                <a:cs typeface="IBM Plex Sans"/>
              </a:endParaRPr>
            </a:p>
          </p:txBody>
        </p:sp>
      </p:grpSp>
      <p:grpSp>
        <p:nvGrpSpPr>
          <p:cNvPr id="71" name="lane6"/>
          <p:cNvGrpSpPr/>
          <p:nvPr/>
        </p:nvGrpSpPr>
        <p:grpSpPr>
          <a:xfrm>
            <a:off x="723900" y="4876800"/>
            <a:ext cx="2286000" cy="381000"/>
            <a:chOff x="723900" y="4876800"/>
            <a:chExt cx="2286000" cy="381000"/>
          </a:xfrm>
        </p:grpSpPr>
        <p:sp>
          <p:nvSpPr>
            <p:cNvPr id="43" name="lane6.surface"/>
            <p:cNvSpPr/>
            <p:nvPr/>
          </p:nvSpPr>
          <p:spPr>
            <a:xfrm>
              <a:off x="723900" y="4876800"/>
              <a:ext cx="2286000" cy="381000"/>
            </a:xfrm>
            <a:prstGeom prst="rect">
              <a:avLst/>
            </a:prstGeom>
            <a:solidFill>
              <a:srgbClr val="E8EEF8"/>
            </a:solidFill>
            <a:ln>
              <a:noFill/>
            </a:ln>
          </p:spPr>
        </p:sp>
        <p:sp>
          <p:nvSpPr>
            <p:cNvPr id="44" name="lane6.text"/>
            <p:cNvSpPr/>
            <p:nvPr/>
          </p:nvSpPr>
          <p:spPr>
            <a:xfrm>
              <a:off x="876300" y="4914900"/>
              <a:ext cx="19812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JANUARY</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Strategy integration</a:t>
              </a:r>
              <a:endParaRPr lang="en-US" sz="900" spc="0" kern="0" b="0" i="0" dirty="0">
                <a:solidFill>
                  <a:srgbClr val="070154"/>
                </a:solidFill>
                <a:latin typeface="IBM Plex Sans"/>
                <a:ea typeface="IBM Plex Sans"/>
                <a:cs typeface="IBM Plex Sans"/>
              </a:endParaRPr>
            </a:p>
          </p:txBody>
        </p:sp>
      </p:grpSp>
      <p:grpSp>
        <p:nvGrpSpPr>
          <p:cNvPr id="72" name="coverage6"/>
          <p:cNvGrpSpPr/>
          <p:nvPr/>
        </p:nvGrpSpPr>
        <p:grpSpPr>
          <a:xfrm>
            <a:off x="3086100" y="4876800"/>
            <a:ext cx="8356600" cy="381000"/>
            <a:chOff x="3086100" y="4876800"/>
            <a:chExt cx="8356600" cy="381000"/>
          </a:xfrm>
        </p:grpSpPr>
        <p:sp>
          <p:nvSpPr>
            <p:cNvPr id="45" name="coverage6.surface"/>
            <p:cNvSpPr/>
            <p:nvPr/>
          </p:nvSpPr>
          <p:spPr>
            <a:xfrm>
              <a:off x="3086100" y="4876800"/>
              <a:ext cx="8356600" cy="381000"/>
            </a:xfrm>
            <a:prstGeom prst="rect">
              <a:avLst/>
            </a:prstGeom>
            <a:solidFill>
              <a:srgbClr val="E8EEF8"/>
            </a:solidFill>
            <a:ln>
              <a:noFill/>
            </a:ln>
          </p:spPr>
        </p:sp>
        <p:sp>
          <p:nvSpPr>
            <p:cNvPr id="46" name="coverage6.text"/>
            <p:cNvSpPr/>
            <p:nvPr/>
          </p:nvSpPr>
          <p:spPr>
            <a:xfrm>
              <a:off x="3238500" y="4991100"/>
              <a:ext cx="8051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Refresh outcomes and roadmaps, then execute the new business strategy through the upgraded process</a:t>
              </a:r>
              <a:endParaRPr lang="en-US" sz="900" spc="0" kern="0" b="0" i="0" dirty="0">
                <a:solidFill>
                  <a:srgbClr val="070154"/>
                </a:solidFill>
                <a:latin typeface="IBM Plex Sans"/>
                <a:ea typeface="IBM Plex Sans"/>
                <a:cs typeface="IBM Plex Sans"/>
              </a:endParaRPr>
            </a:p>
          </p:txBody>
        </p:sp>
      </p:grpSp>
      <p:grpSp>
        <p:nvGrpSpPr>
          <p:cNvPr id="73" name="legend"/>
          <p:cNvGrpSpPr/>
          <p:nvPr/>
        </p:nvGrpSpPr>
        <p:grpSpPr>
          <a:xfrm>
            <a:off x="723900" y="5486400"/>
            <a:ext cx="10744200" cy="457200"/>
            <a:chOff x="723900" y="5486400"/>
            <a:chExt cx="10744200" cy="457200"/>
          </a:xfrm>
        </p:grpSpPr>
        <p:sp>
          <p:nvSpPr>
            <p:cNvPr id="47" name="legend.surface"/>
            <p:cNvSpPr/>
            <p:nvPr/>
          </p:nvSpPr>
          <p:spPr>
            <a:xfrm>
              <a:off x="723900" y="5486400"/>
              <a:ext cx="10744200" cy="457200"/>
            </a:xfrm>
            <a:prstGeom prst="rect">
              <a:avLst/>
            </a:prstGeom>
            <a:solidFill>
              <a:srgbClr val="E8EEF8"/>
            </a:solidFill>
            <a:ln>
              <a:noFill/>
            </a:ln>
          </p:spPr>
        </p:sp>
        <p:sp>
          <p:nvSpPr>
            <p:cNvPr id="48" name="legend.text"/>
            <p:cNvSpPr/>
            <p:nvPr/>
          </p:nvSpPr>
          <p:spPr>
            <a:xfrm>
              <a:off x="876300" y="54864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 navy   Engineering · gray   Both / other · pale blue   |   Bars show phase coverage, not elapsed time. Outcome priorities now; new business strategy feeds the process in January.</a:t>
              </a:r>
              <a:endParaRPr lang="en-US" sz="1200" spc="0" kern="0" b="0" i="0" dirty="0">
                <a:solidFill>
                  <a:srgbClr val="070154"/>
                </a:solidFill>
                <a:latin typeface="IBM Plex Sans"/>
                <a:ea typeface="IBM Plex Sans"/>
                <a:cs typeface="IBM Plex Sans"/>
              </a:endParaRPr>
            </a:p>
          </p:txBody>
        </p:sp>
      </p:grpSp>
      <p:grpSp>
        <p:nvGrpSpPr>
          <p:cNvPr id="74" name="authored-header"/>
          <p:cNvGrpSpPr/>
          <p:nvPr/>
        </p:nvGrpSpPr>
        <p:grpSpPr>
          <a:xfrm>
            <a:off x="723900" y="685800"/>
            <a:ext cx="9372600" cy="914400"/>
            <a:chOff x="723900" y="685800"/>
            <a:chExt cx="9372600" cy="914400"/>
          </a:xfrm>
        </p:grpSpPr>
        <p:sp>
          <p:nvSpPr>
            <p:cNvPr id="49"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Rollout sequence across the PDLC</a:t>
              </a:r>
              <a:endParaRPr lang="en-US" sz="3200" spc="-64" kern="0" b="0" i="0" dirty="0">
                <a:solidFill>
                  <a:srgbClr val="070154"/>
                </a:solidFill>
                <a:latin typeface="IBM Plex Sans SemiBold"/>
                <a:ea typeface="IBM Plex Sans SemiBold"/>
                <a:cs typeface="IBM Plex Sans SemiBold"/>
              </a:endParaRPr>
            </a:p>
          </p:txBody>
        </p:sp>
      </p:grpSp>
      <p:grpSp>
        <p:nvGrpSpPr>
          <p:cNvPr id="75" name="authored-eyebrow"/>
          <p:cNvGrpSpPr/>
          <p:nvPr/>
        </p:nvGrpSpPr>
        <p:grpSpPr>
          <a:xfrm>
            <a:off x="723900" y="457200"/>
            <a:ext cx="9372600" cy="228600"/>
            <a:chOff x="723900" y="457200"/>
            <a:chExt cx="9372600" cy="228600"/>
          </a:xfrm>
        </p:grpSpPr>
        <p:sp>
          <p:nvSpPr>
            <p:cNvPr id="50"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ACTIVATION</a:t>
              </a:r>
              <a:endParaRPr lang="en-US" sz="1000" spc="80" kern="0" b="0" i="0" dirty="0">
                <a:solidFill>
                  <a:srgbClr val="0047FF"/>
                </a:solidFill>
                <a:latin typeface="IBM Plex Mono SemiBold"/>
                <a:ea typeface="IBM Plex Mono SemiBold"/>
                <a:cs typeface="IBM Plex Mono SemiBold"/>
              </a:endParaRPr>
            </a:p>
          </p:txBody>
        </p:sp>
      </p:grpSp>
      <p:grpSp>
        <p:nvGrpSpPr>
          <p:cNvPr id="76" name="client-brand"/>
          <p:cNvGrpSpPr/>
          <p:nvPr/>
        </p:nvGrpSpPr>
        <p:grpSpPr>
          <a:xfrm>
            <a:off x="10382250" y="457200"/>
            <a:ext cx="1028700" cy="457200"/>
            <a:chOff x="10382250" y="457200"/>
            <a:chExt cx="1028700" cy="457200"/>
          </a:xfrm>
        </p:grpSpPr>
        <p:pic>
          <p:nvPicPr>
            <p:cNvPr id="51"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dxc-009">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9</a:t>
            </a:fld>
            <a:endParaRPr lang="en-US" sz="700" spc="0" kern="0" b="0" i="0" dirty="0">
              <a:solidFill>
                <a:srgbClr val="FFFFFF"/>
              </a:solidFill>
              <a:latin typeface="IBM Plex Mono SemiBold"/>
              <a:ea typeface="IBM Plex Mono SemiBold"/>
              <a:cs typeface="IBM Plex Mono SemiBold"/>
            </a:endParaRPr>
          </a:p>
        </p:txBody>
      </p:sp>
      <p:grpSp>
        <p:nvGrpSpPr>
          <p:cNvPr id="11" name="section-title"/>
          <p:cNvGrpSpPr/>
          <p:nvPr/>
        </p:nvGrpSpPr>
        <p:grpSpPr>
          <a:xfrm>
            <a:off x="723900" y="2209800"/>
            <a:ext cx="6858000" cy="1828800"/>
            <a:chOff x="723900" y="2209800"/>
            <a:chExt cx="6858000" cy="1828800"/>
          </a:xfrm>
        </p:grpSpPr>
        <p:sp>
          <p:nvSpPr>
            <p:cNvPr id="5" name="section-title.text"/>
            <p:cNvSpPr/>
            <p:nvPr/>
          </p:nvSpPr>
          <p:spPr>
            <a:xfrm>
              <a:off x="723900" y="2209800"/>
              <a:ext cx="6858000" cy="18288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Deliverables</a:t>
              </a:r>
              <a:endParaRPr lang="en-US" sz="5400" spc="-135" kern="0" b="0" i="0" dirty="0">
                <a:solidFill>
                  <a:srgbClr val="FFFFFF"/>
                </a:solidFill>
                <a:latin typeface="IBM Plex Sans SemiBold"/>
                <a:ea typeface="IBM Plex Sans SemiBold"/>
                <a:cs typeface="IBM Plex Sans SemiBold"/>
              </a:endParaRPr>
            </a:p>
          </p:txBody>
        </p:sp>
      </p:grpSp>
      <p:grpSp>
        <p:nvGrpSpPr>
          <p:cNvPr id="12" name="tab0"/>
          <p:cNvGrpSpPr/>
          <p:nvPr/>
        </p:nvGrpSpPr>
        <p:grpSpPr>
          <a:xfrm>
            <a:off x="723900" y="5257800"/>
            <a:ext cx="3429000" cy="304800"/>
            <a:chOff x="723900" y="5257800"/>
            <a:chExt cx="3429000" cy="304800"/>
          </a:xfrm>
        </p:grpSpPr>
        <p:sp>
          <p:nvSpPr>
            <p:cNvPr id="6" name="tab0.text"/>
            <p:cNvSpPr/>
            <p:nvPr/>
          </p:nvSpPr>
          <p:spPr>
            <a:xfrm>
              <a:off x="7239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Executive Summary</a:t>
              </a:r>
              <a:endParaRPr lang="en-US" sz="1200" spc="0" kern="0" b="0" i="0" dirty="0">
                <a:solidFill>
                  <a:srgbClr val="FFFFFF"/>
                </a:solidFill>
                <a:latin typeface="IBM Plex Sans"/>
                <a:ea typeface="IBM Plex Sans"/>
                <a:cs typeface="IBM Plex Sans"/>
              </a:endParaRPr>
            </a:p>
          </p:txBody>
        </p:sp>
      </p:grpSp>
      <p:grpSp>
        <p:nvGrpSpPr>
          <p:cNvPr id="13" name="tab1"/>
          <p:cNvGrpSpPr/>
          <p:nvPr/>
        </p:nvGrpSpPr>
        <p:grpSpPr>
          <a:xfrm>
            <a:off x="4381500" y="5257800"/>
            <a:ext cx="3429000" cy="304800"/>
            <a:chOff x="4381500" y="5257800"/>
            <a:chExt cx="3429000" cy="304800"/>
          </a:xfrm>
        </p:grpSpPr>
        <p:sp>
          <p:nvSpPr>
            <p:cNvPr id="7" name="tab1.text"/>
            <p:cNvSpPr/>
            <p:nvPr/>
          </p:nvSpPr>
          <p:spPr>
            <a:xfrm>
              <a:off x="43815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Deliverables</a:t>
              </a:r>
              <a:endParaRPr lang="en-US" sz="1200" spc="0" kern="0" b="0" i="0" dirty="0">
                <a:solidFill>
                  <a:srgbClr val="FFFFFF"/>
                </a:solidFill>
                <a:latin typeface="IBM Plex Sans"/>
                <a:ea typeface="IBM Plex Sans"/>
                <a:cs typeface="IBM Plex Sans"/>
              </a:endParaRPr>
            </a:p>
          </p:txBody>
        </p:sp>
      </p:grpSp>
      <p:grpSp>
        <p:nvGrpSpPr>
          <p:cNvPr id="14" name="tab2"/>
          <p:cNvGrpSpPr/>
          <p:nvPr/>
        </p:nvGrpSpPr>
        <p:grpSpPr>
          <a:xfrm>
            <a:off x="8039100" y="5257800"/>
            <a:ext cx="3429000" cy="304800"/>
            <a:chOff x="8039100" y="5257800"/>
            <a:chExt cx="3429000" cy="304800"/>
          </a:xfrm>
        </p:grpSpPr>
        <p:sp>
          <p:nvSpPr>
            <p:cNvPr id="8" name="tab2.text"/>
            <p:cNvSpPr/>
            <p:nvPr/>
          </p:nvSpPr>
          <p:spPr>
            <a:xfrm>
              <a:off x="80391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Recommended Next Phase</a:t>
              </a:r>
              <a:endParaRPr lang="en-US" sz="1200" spc="0" kern="0" b="0" i="0" dirty="0">
                <a:solidFill>
                  <a:srgbClr val="FFFFFF"/>
                </a:solidFill>
                <a:latin typeface="IBM Plex Sans"/>
                <a:ea typeface="IBM Plex Sans"/>
                <a:cs typeface="IBM Plex Sans"/>
              </a:endParaRPr>
            </a:p>
          </p:txBody>
        </p:sp>
      </p:grpSp>
      <p:sp>
        <p:nvSpPr>
          <p:cNvPr id="9" name="active"/>
          <p:cNvSpPr/>
          <p:nvPr/>
        </p:nvSpPr>
        <p:spPr>
          <a:xfrm>
            <a:off x="4381500" y="5715000"/>
            <a:ext cx="685800" cy="9525"/>
          </a:xfrm>
          <a:prstGeom prst="rect">
            <a:avLst/>
          </a:prstGeom>
          <a:solidFill>
            <a:srgbClr val="50658E"/>
          </a:solidFill>
          <a:ln>
            <a:noFill/>
          </a:ln>
        </p:spPr>
      </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xc-010">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10</a:t>
            </a:fld>
            <a:endParaRPr lang="en-US" sz="700" spc="0" kern="0" b="0" i="0" dirty="0">
              <a:solidFill>
                <a:srgbClr val="070154"/>
              </a:solidFill>
              <a:latin typeface="IBM Plex Mono SemiBold"/>
              <a:ea typeface="IBM Plex Mono SemiBold"/>
              <a:cs typeface="IBM Plex Mono SemiBold"/>
            </a:endParaRPr>
          </a:p>
        </p:txBody>
      </p:sp>
      <p:grpSp>
        <p:nvGrpSpPr>
          <p:cNvPr id="25" name="card0"/>
          <p:cNvGrpSpPr/>
          <p:nvPr/>
        </p:nvGrpSpPr>
        <p:grpSpPr>
          <a:xfrm>
            <a:off x="4381500" y="1600200"/>
            <a:ext cx="7086600" cy="1371600"/>
            <a:chOff x="4381500" y="1600200"/>
            <a:chExt cx="7086600" cy="1371600"/>
          </a:xfrm>
        </p:grpSpPr>
        <p:sp>
          <p:nvSpPr>
            <p:cNvPr id="5" name="card0.container"/>
            <p:cNvSpPr/>
            <p:nvPr/>
          </p:nvSpPr>
          <p:spPr>
            <a:xfrm>
              <a:off x="4381500" y="1600200"/>
              <a:ext cx="7086600" cy="1371600"/>
            </a:xfrm>
            <a:prstGeom prst="rect">
              <a:avLst/>
            </a:prstGeom>
            <a:solidFill>
              <a:srgbClr val="070154"/>
            </a:solidFill>
            <a:ln>
              <a:noFill/>
            </a:ln>
          </p:spPr>
        </p:sp>
        <p:sp>
          <p:nvSpPr>
            <p:cNvPr id="6" name="card0.edge"/>
            <p:cNvSpPr/>
            <p:nvPr/>
          </p:nvSpPr>
          <p:spPr>
            <a:xfrm>
              <a:off x="4381500" y="1600200"/>
              <a:ext cx="38100" cy="1371600"/>
            </a:xfrm>
            <a:prstGeom prst="rect">
              <a:avLst/>
            </a:prstGeom>
            <a:solidFill>
              <a:srgbClr val="F900D3"/>
            </a:solidFill>
            <a:ln>
              <a:noFill/>
            </a:ln>
          </p:spPr>
        </p:sp>
        <p:sp>
          <p:nvSpPr>
            <p:cNvPr id="7" name="card0.number"/>
            <p:cNvSpPr/>
            <p:nvPr/>
          </p:nvSpPr>
          <p:spPr>
            <a:xfrm>
              <a:off x="4533900" y="17145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01</a:t>
              </a:r>
              <a:endParaRPr lang="en-US" sz="1800" spc="0" kern="0" b="0" i="0" dirty="0">
                <a:solidFill>
                  <a:srgbClr val="F900D3"/>
                </a:solidFill>
                <a:latin typeface="IBM Plex Mono SemiBold"/>
                <a:ea typeface="IBM Plex Mono SemiBold"/>
                <a:cs typeface="IBM Plex Mono SemiBold"/>
              </a:endParaRPr>
            </a:p>
          </p:txBody>
        </p:sp>
        <p:sp>
          <p:nvSpPr>
            <p:cNvPr id="8" name="card0.title"/>
            <p:cNvSpPr/>
            <p:nvPr/>
          </p:nvSpPr>
          <p:spPr>
            <a:xfrm>
              <a:off x="4933950" y="1766316"/>
              <a:ext cx="64198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Validated Product and R&amp;D Practices Map</a:t>
              </a:r>
              <a:endParaRPr lang="en-US" sz="1200" spc="0" kern="0" b="0" i="0" dirty="0">
                <a:solidFill>
                  <a:srgbClr val="FFFFFF"/>
                </a:solidFill>
                <a:latin typeface="IBM Plex Sans"/>
                <a:ea typeface="IBM Plex Sans"/>
                <a:cs typeface="IBM Plex Sans"/>
              </a:endParaRPr>
            </a:p>
          </p:txBody>
        </p:sp>
        <p:sp>
          <p:nvSpPr>
            <p:cNvPr id="9" name="card0.body.item-0.paragraph"/>
            <p:cNvSpPr/>
            <p:nvPr/>
          </p:nvSpPr>
          <p:spPr>
            <a:xfrm>
              <a:off x="4533900" y="2133600"/>
              <a:ext cx="6819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A maturity-based view of observed strengths, gaps, and opportunities.</a:t>
              </a:r>
              <a:endParaRPr lang="en-US" sz="1200" spc="0" kern="0" b="0" i="0" dirty="0">
                <a:solidFill>
                  <a:srgbClr val="CED7E6"/>
                </a:solidFill>
                <a:latin typeface="IBM Plex Sans"/>
                <a:ea typeface="IBM Plex Sans"/>
                <a:cs typeface="IBM Plex Sans"/>
              </a:endParaRPr>
            </a:p>
          </p:txBody>
        </p:sp>
      </p:grpSp>
      <p:grpSp>
        <p:nvGrpSpPr>
          <p:cNvPr id="26" name="card1"/>
          <p:cNvGrpSpPr/>
          <p:nvPr/>
        </p:nvGrpSpPr>
        <p:grpSpPr>
          <a:xfrm>
            <a:off x="4381500" y="3048000"/>
            <a:ext cx="7086600" cy="1371600"/>
            <a:chOff x="4381500" y="3048000"/>
            <a:chExt cx="7086600" cy="1371600"/>
          </a:xfrm>
        </p:grpSpPr>
        <p:sp>
          <p:nvSpPr>
            <p:cNvPr id="10" name="card1.container"/>
            <p:cNvSpPr/>
            <p:nvPr/>
          </p:nvSpPr>
          <p:spPr>
            <a:xfrm>
              <a:off x="4381500" y="3048000"/>
              <a:ext cx="7086600" cy="1371600"/>
            </a:xfrm>
            <a:prstGeom prst="rect">
              <a:avLst/>
            </a:prstGeom>
            <a:solidFill>
              <a:srgbClr val="E8EEF8"/>
            </a:solidFill>
            <a:ln>
              <a:noFill/>
            </a:ln>
          </p:spPr>
        </p:sp>
        <p:sp>
          <p:nvSpPr>
            <p:cNvPr id="11" name="card1.edge"/>
            <p:cNvSpPr/>
            <p:nvPr/>
          </p:nvSpPr>
          <p:spPr>
            <a:xfrm>
              <a:off x="4381500" y="3048000"/>
              <a:ext cx="38100" cy="1371600"/>
            </a:xfrm>
            <a:prstGeom prst="rect">
              <a:avLst/>
            </a:prstGeom>
            <a:solidFill>
              <a:srgbClr val="0047FF"/>
            </a:solidFill>
            <a:ln>
              <a:noFill/>
            </a:ln>
          </p:spPr>
        </p:sp>
        <p:sp>
          <p:nvSpPr>
            <p:cNvPr id="12" name="card1.number"/>
            <p:cNvSpPr/>
            <p:nvPr/>
          </p:nvSpPr>
          <p:spPr>
            <a:xfrm>
              <a:off x="4533900" y="3162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1.title"/>
            <p:cNvSpPr/>
            <p:nvPr/>
          </p:nvSpPr>
          <p:spPr>
            <a:xfrm>
              <a:off x="4933950" y="3214116"/>
              <a:ext cx="64198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Activation Summary</a:t>
              </a:r>
              <a:endParaRPr lang="en-US" sz="1200" spc="0" kern="0" b="0" i="0" dirty="0">
                <a:solidFill>
                  <a:srgbClr val="070154"/>
                </a:solidFill>
                <a:latin typeface="IBM Plex Sans"/>
                <a:ea typeface="IBM Plex Sans"/>
                <a:cs typeface="IBM Plex Sans"/>
              </a:endParaRPr>
            </a:p>
          </p:txBody>
        </p:sp>
        <p:sp>
          <p:nvSpPr>
            <p:cNvPr id="14" name="card1.body.item-0.paragraph"/>
            <p:cNvSpPr/>
            <p:nvPr/>
          </p:nvSpPr>
          <p:spPr>
            <a:xfrm>
              <a:off x="4533900" y="3581400"/>
              <a:ext cx="6819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record of bounded changes tested in live work, early signals, and the activation playbook.</a:t>
              </a:r>
              <a:endParaRPr lang="en-US" sz="1200" spc="0" kern="0" b="0" i="0" dirty="0">
                <a:solidFill>
                  <a:srgbClr val="50658E"/>
                </a:solidFill>
                <a:latin typeface="IBM Plex Sans"/>
                <a:ea typeface="IBM Plex Sans"/>
                <a:cs typeface="IBM Plex Sans"/>
              </a:endParaRPr>
            </a:p>
          </p:txBody>
        </p:sp>
      </p:grpSp>
      <p:grpSp>
        <p:nvGrpSpPr>
          <p:cNvPr id="27" name="card2"/>
          <p:cNvGrpSpPr/>
          <p:nvPr/>
        </p:nvGrpSpPr>
        <p:grpSpPr>
          <a:xfrm>
            <a:off x="4381500" y="4495800"/>
            <a:ext cx="7086600" cy="1371600"/>
            <a:chOff x="4381500" y="4495800"/>
            <a:chExt cx="7086600" cy="1371600"/>
          </a:xfrm>
        </p:grpSpPr>
        <p:sp>
          <p:nvSpPr>
            <p:cNvPr id="15" name="card2.container"/>
            <p:cNvSpPr/>
            <p:nvPr/>
          </p:nvSpPr>
          <p:spPr>
            <a:xfrm>
              <a:off x="4381500" y="4495800"/>
              <a:ext cx="7086600" cy="1371600"/>
            </a:xfrm>
            <a:prstGeom prst="rect">
              <a:avLst/>
            </a:prstGeom>
            <a:solidFill>
              <a:srgbClr val="E8EEF8"/>
            </a:solidFill>
            <a:ln>
              <a:noFill/>
            </a:ln>
          </p:spPr>
        </p:sp>
        <p:sp>
          <p:nvSpPr>
            <p:cNvPr id="16" name="card2.edge"/>
            <p:cNvSpPr/>
            <p:nvPr/>
          </p:nvSpPr>
          <p:spPr>
            <a:xfrm>
              <a:off x="4381500" y="4495800"/>
              <a:ext cx="38100" cy="1371600"/>
            </a:xfrm>
            <a:prstGeom prst="rect">
              <a:avLst/>
            </a:prstGeom>
            <a:solidFill>
              <a:srgbClr val="0047FF"/>
            </a:solidFill>
            <a:ln>
              <a:noFill/>
            </a:ln>
          </p:spPr>
        </p:sp>
        <p:sp>
          <p:nvSpPr>
            <p:cNvPr id="17" name="card2.number"/>
            <p:cNvSpPr/>
            <p:nvPr/>
          </p:nvSpPr>
          <p:spPr>
            <a:xfrm>
              <a:off x="4533900" y="46101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8" name="card2.title"/>
            <p:cNvSpPr/>
            <p:nvPr/>
          </p:nvSpPr>
          <p:spPr>
            <a:xfrm>
              <a:off x="4933950" y="4661916"/>
              <a:ext cx="64198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Prioritized Operating Model Recommendations and Activation Roadmap</a:t>
              </a:r>
              <a:endParaRPr lang="en-US" sz="1200" spc="0" kern="0" b="0" i="0" dirty="0">
                <a:solidFill>
                  <a:srgbClr val="070154"/>
                </a:solidFill>
                <a:latin typeface="IBM Plex Sans"/>
                <a:ea typeface="IBM Plex Sans"/>
                <a:cs typeface="IBM Plex Sans"/>
              </a:endParaRPr>
            </a:p>
          </p:txBody>
        </p:sp>
        <p:sp>
          <p:nvSpPr>
            <p:cNvPr id="19" name="card2.body.item-0.paragraph"/>
            <p:cNvSpPr/>
            <p:nvPr/>
          </p:nvSpPr>
          <p:spPr>
            <a:xfrm>
              <a:off x="4533900" y="5029200"/>
              <a:ext cx="68199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Recommended practices, decision rights, roles, measures, feedback loops, owners, and dependencies.</a:t>
              </a:r>
              <a:endParaRPr lang="en-US" sz="1200" spc="0" kern="0" b="0" i="0" dirty="0">
                <a:solidFill>
                  <a:srgbClr val="50658E"/>
                </a:solidFill>
                <a:latin typeface="IBM Plex Sans"/>
                <a:ea typeface="IBM Plex Sans"/>
                <a:cs typeface="IBM Plex Sans"/>
              </a:endParaRPr>
            </a:p>
          </p:txBody>
        </p:sp>
      </p:grpSp>
      <p:grpSp>
        <p:nvGrpSpPr>
          <p:cNvPr id="28" name="working-inputs"/>
          <p:cNvGrpSpPr/>
          <p:nvPr/>
        </p:nvGrpSpPr>
        <p:grpSpPr>
          <a:xfrm>
            <a:off x="723900" y="1600200"/>
            <a:ext cx="3429000" cy="4267200"/>
            <a:chOff x="723900" y="1600200"/>
            <a:chExt cx="3429000" cy="4267200"/>
          </a:xfrm>
        </p:grpSpPr>
        <p:sp>
          <p:nvSpPr>
            <p:cNvPr id="20" name="working-inputs.surface"/>
            <p:cNvSpPr/>
            <p:nvPr/>
          </p:nvSpPr>
          <p:spPr>
            <a:xfrm>
              <a:off x="723900" y="1600200"/>
              <a:ext cx="3429000" cy="4267200"/>
            </a:xfrm>
            <a:prstGeom prst="rect">
              <a:avLst/>
            </a:prstGeom>
            <a:solidFill>
              <a:srgbClr val="E8EEF8"/>
            </a:solidFill>
            <a:ln>
              <a:noFill/>
            </a:ln>
          </p:spPr>
        </p:sp>
        <p:sp>
          <p:nvSpPr>
            <p:cNvPr id="21" name="working-inputs.text"/>
            <p:cNvSpPr/>
            <p:nvPr/>
          </p:nvSpPr>
          <p:spPr>
            <a:xfrm>
              <a:off x="876300" y="3067050"/>
              <a:ext cx="31242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Working inputs already surfaced: internal signals, opportunity briefs, PRDs, feature briefs, epics, implementation plans, agentic delivery patterns, and early interview themes.</a:t>
              </a:r>
              <a:endParaRPr lang="en-US" sz="1400" spc="0" kern="0" b="0" i="0" dirty="0">
                <a:solidFill>
                  <a:srgbClr val="070154"/>
                </a:solidFill>
                <a:latin typeface="IBM Plex Sans"/>
                <a:ea typeface="IBM Plex Sans"/>
                <a:cs typeface="IBM Plex Sans"/>
              </a:endParaRPr>
            </a:p>
          </p:txBody>
        </p:sp>
      </p:grpSp>
      <p:grpSp>
        <p:nvGrpSpPr>
          <p:cNvPr id="29" name="authored-header"/>
          <p:cNvGrpSpPr/>
          <p:nvPr/>
        </p:nvGrpSpPr>
        <p:grpSpPr>
          <a:xfrm>
            <a:off x="723900" y="685800"/>
            <a:ext cx="9372600" cy="914400"/>
            <a:chOff x="723900" y="685800"/>
            <a:chExt cx="9372600" cy="914400"/>
          </a:xfrm>
        </p:grpSpPr>
        <p:sp>
          <p:nvSpPr>
            <p:cNvPr id="22"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deliverables, one working structure</a:t>
              </a:r>
              <a:endParaRPr lang="en-US" sz="3200" spc="-64" kern="0" b="0" i="0" dirty="0">
                <a:solidFill>
                  <a:srgbClr val="070154"/>
                </a:solidFill>
                <a:latin typeface="IBM Plex Sans SemiBold"/>
                <a:ea typeface="IBM Plex Sans SemiBold"/>
                <a:cs typeface="IBM Plex Sans SemiBold"/>
              </a:endParaRPr>
            </a:p>
          </p:txBody>
        </p:sp>
      </p:grpSp>
      <p:grpSp>
        <p:nvGrpSpPr>
          <p:cNvPr id="30" name="authored-eyebrow"/>
          <p:cNvGrpSpPr/>
          <p:nvPr/>
        </p:nvGrpSpPr>
        <p:grpSpPr>
          <a:xfrm>
            <a:off x="723900" y="457200"/>
            <a:ext cx="9372600" cy="228600"/>
            <a:chOff x="723900" y="457200"/>
            <a:chExt cx="9372600" cy="228600"/>
          </a:xfrm>
        </p:grpSpPr>
        <p:sp>
          <p:nvSpPr>
            <p:cNvPr id="23"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01</a:t>
              </a:r>
              <a:endParaRPr lang="en-US" sz="1000" spc="80" kern="0" b="0" i="0" dirty="0">
                <a:solidFill>
                  <a:srgbClr val="0047FF"/>
                </a:solidFill>
                <a:latin typeface="IBM Plex Mono SemiBold"/>
                <a:ea typeface="IBM Plex Mono SemiBold"/>
                <a:cs typeface="IBM Plex Mono SemiBold"/>
              </a:endParaRPr>
            </a:p>
          </p:txBody>
        </p:sp>
      </p:grpSp>
      <p:grpSp>
        <p:nvGrpSpPr>
          <p:cNvPr id="31" name="client-brand"/>
          <p:cNvGrpSpPr/>
          <p:nvPr/>
        </p:nvGrpSpPr>
        <p:grpSpPr>
          <a:xfrm>
            <a:off x="10382250" y="457200"/>
            <a:ext cx="1028700" cy="457200"/>
            <a:chOff x="10382250" y="457200"/>
            <a:chExt cx="1028700" cy="457200"/>
          </a:xfrm>
        </p:grpSpPr>
        <p:pic>
          <p:nvPicPr>
            <p:cNvPr id="24"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xc-011">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11</a:t>
            </a:fld>
            <a:endParaRPr lang="en-US" sz="700" spc="0" kern="0" b="0" i="0" dirty="0">
              <a:solidFill>
                <a:srgbClr val="070154"/>
              </a:solidFill>
              <a:latin typeface="IBM Plex Mono SemiBold"/>
              <a:ea typeface="IBM Plex Mono SemiBold"/>
              <a:cs typeface="IBM Plex Mono SemiBold"/>
            </a:endParaRPr>
          </a:p>
        </p:txBody>
      </p:sp>
      <p:grpSp>
        <p:nvGrpSpPr>
          <p:cNvPr id="150" name="rating-0-0"/>
          <p:cNvGrpSpPr/>
          <p:nvPr/>
        </p:nvGrpSpPr>
        <p:grpSpPr>
          <a:xfrm>
            <a:off x="723900" y="1600200"/>
            <a:ext cx="2730500" cy="381000"/>
            <a:chOff x="723900" y="1600200"/>
            <a:chExt cx="2730500" cy="381000"/>
          </a:xfrm>
        </p:grpSpPr>
        <p:sp>
          <p:nvSpPr>
            <p:cNvPr id="5" name="rating-0-0.surface"/>
            <p:cNvSpPr/>
            <p:nvPr/>
          </p:nvSpPr>
          <p:spPr>
            <a:xfrm>
              <a:off x="723900" y="1600200"/>
              <a:ext cx="2730500" cy="381000"/>
            </a:xfrm>
            <a:prstGeom prst="rect">
              <a:avLst/>
            </a:prstGeom>
            <a:solidFill>
              <a:srgbClr val="070154"/>
            </a:solidFill>
            <a:ln>
              <a:noFill/>
            </a:ln>
          </p:spPr>
        </p:sp>
        <p:sp>
          <p:nvSpPr>
            <p:cNvPr id="6" name="rating-0-0.text"/>
            <p:cNvSpPr/>
            <p:nvPr/>
          </p:nvSpPr>
          <p:spPr>
            <a:xfrm>
              <a:off x="876300" y="17145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Practice area</a:t>
              </a:r>
              <a:endParaRPr lang="en-US" sz="900" spc="0" kern="0" b="0" i="0" dirty="0">
                <a:solidFill>
                  <a:srgbClr val="FFFFFF"/>
                </a:solidFill>
                <a:latin typeface="IBM Plex Sans"/>
                <a:ea typeface="IBM Plex Sans"/>
                <a:cs typeface="IBM Plex Sans"/>
              </a:endParaRPr>
            </a:p>
          </p:txBody>
        </p:sp>
      </p:grpSp>
      <p:grpSp>
        <p:nvGrpSpPr>
          <p:cNvPr id="151" name="rating-0-1"/>
          <p:cNvGrpSpPr/>
          <p:nvPr/>
        </p:nvGrpSpPr>
        <p:grpSpPr>
          <a:xfrm>
            <a:off x="3467100" y="1600200"/>
            <a:ext cx="1320800" cy="381000"/>
            <a:chOff x="3467100" y="1600200"/>
            <a:chExt cx="1320800" cy="381000"/>
          </a:xfrm>
        </p:grpSpPr>
        <p:sp>
          <p:nvSpPr>
            <p:cNvPr id="7" name="rating-0-1.surface"/>
            <p:cNvSpPr/>
            <p:nvPr/>
          </p:nvSpPr>
          <p:spPr>
            <a:xfrm>
              <a:off x="3467100" y="1600200"/>
              <a:ext cx="1320800" cy="381000"/>
            </a:xfrm>
            <a:prstGeom prst="rect">
              <a:avLst/>
            </a:prstGeom>
            <a:solidFill>
              <a:srgbClr val="070154"/>
            </a:solidFill>
            <a:ln>
              <a:noFill/>
            </a:ln>
          </p:spPr>
        </p:sp>
        <p:sp>
          <p:nvSpPr>
            <p:cNvPr id="8" name="rating-0-1.text"/>
            <p:cNvSpPr/>
            <p:nvPr/>
          </p:nvSpPr>
          <p:spPr>
            <a:xfrm>
              <a:off x="36195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Identify</a:t>
              </a:r>
              <a:endParaRPr lang="en-US" sz="900" spc="0" kern="0" b="0" i="0" dirty="0">
                <a:solidFill>
                  <a:srgbClr val="FFFFFF"/>
                </a:solidFill>
                <a:latin typeface="IBM Plex Sans"/>
                <a:ea typeface="IBM Plex Sans"/>
                <a:cs typeface="IBM Plex Sans"/>
              </a:endParaRPr>
            </a:p>
          </p:txBody>
        </p:sp>
      </p:grpSp>
      <p:grpSp>
        <p:nvGrpSpPr>
          <p:cNvPr id="152" name="rating-0-2"/>
          <p:cNvGrpSpPr/>
          <p:nvPr/>
        </p:nvGrpSpPr>
        <p:grpSpPr>
          <a:xfrm>
            <a:off x="4800600" y="1600200"/>
            <a:ext cx="1320800" cy="381000"/>
            <a:chOff x="4800600" y="1600200"/>
            <a:chExt cx="1320800" cy="381000"/>
          </a:xfrm>
        </p:grpSpPr>
        <p:sp>
          <p:nvSpPr>
            <p:cNvPr id="9" name="rating-0-2.surface"/>
            <p:cNvSpPr/>
            <p:nvPr/>
          </p:nvSpPr>
          <p:spPr>
            <a:xfrm>
              <a:off x="4800600" y="1600200"/>
              <a:ext cx="1320800" cy="381000"/>
            </a:xfrm>
            <a:prstGeom prst="rect">
              <a:avLst/>
            </a:prstGeom>
            <a:solidFill>
              <a:srgbClr val="070154"/>
            </a:solidFill>
            <a:ln>
              <a:noFill/>
            </a:ln>
          </p:spPr>
        </p:sp>
        <p:sp>
          <p:nvSpPr>
            <p:cNvPr id="10" name="rating-0-2.text"/>
            <p:cNvSpPr/>
            <p:nvPr/>
          </p:nvSpPr>
          <p:spPr>
            <a:xfrm>
              <a:off x="49530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Define</a:t>
              </a:r>
              <a:endParaRPr lang="en-US" sz="900" spc="0" kern="0" b="0" i="0" dirty="0">
                <a:solidFill>
                  <a:srgbClr val="FFFFFF"/>
                </a:solidFill>
                <a:latin typeface="IBM Plex Sans"/>
                <a:ea typeface="IBM Plex Sans"/>
                <a:cs typeface="IBM Plex Sans"/>
              </a:endParaRPr>
            </a:p>
          </p:txBody>
        </p:sp>
      </p:grpSp>
      <p:grpSp>
        <p:nvGrpSpPr>
          <p:cNvPr id="153" name="rating-0-3"/>
          <p:cNvGrpSpPr/>
          <p:nvPr/>
        </p:nvGrpSpPr>
        <p:grpSpPr>
          <a:xfrm>
            <a:off x="6134100" y="1600200"/>
            <a:ext cx="1320800" cy="381000"/>
            <a:chOff x="6134100" y="1600200"/>
            <a:chExt cx="1320800" cy="381000"/>
          </a:xfrm>
        </p:grpSpPr>
        <p:sp>
          <p:nvSpPr>
            <p:cNvPr id="11" name="rating-0-3.surface"/>
            <p:cNvSpPr/>
            <p:nvPr/>
          </p:nvSpPr>
          <p:spPr>
            <a:xfrm>
              <a:off x="6134100" y="1600200"/>
              <a:ext cx="1320800" cy="381000"/>
            </a:xfrm>
            <a:prstGeom prst="rect">
              <a:avLst/>
            </a:prstGeom>
            <a:solidFill>
              <a:srgbClr val="070154"/>
            </a:solidFill>
            <a:ln>
              <a:noFill/>
            </a:ln>
          </p:spPr>
        </p:sp>
        <p:sp>
          <p:nvSpPr>
            <p:cNvPr id="12" name="rating-0-3.text"/>
            <p:cNvSpPr/>
            <p:nvPr/>
          </p:nvSpPr>
          <p:spPr>
            <a:xfrm>
              <a:off x="62865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Build</a:t>
              </a:r>
              <a:endParaRPr lang="en-US" sz="900" spc="0" kern="0" b="0" i="0" dirty="0">
                <a:solidFill>
                  <a:srgbClr val="FFFFFF"/>
                </a:solidFill>
                <a:latin typeface="IBM Plex Sans"/>
                <a:ea typeface="IBM Plex Sans"/>
                <a:cs typeface="IBM Plex Sans"/>
              </a:endParaRPr>
            </a:p>
          </p:txBody>
        </p:sp>
      </p:grpSp>
      <p:grpSp>
        <p:nvGrpSpPr>
          <p:cNvPr id="154" name="rating-0-4"/>
          <p:cNvGrpSpPr/>
          <p:nvPr/>
        </p:nvGrpSpPr>
        <p:grpSpPr>
          <a:xfrm>
            <a:off x="7467600" y="1600200"/>
            <a:ext cx="1320800" cy="381000"/>
            <a:chOff x="7467600" y="1600200"/>
            <a:chExt cx="1320800" cy="381000"/>
          </a:xfrm>
        </p:grpSpPr>
        <p:sp>
          <p:nvSpPr>
            <p:cNvPr id="13" name="rating-0-4.surface"/>
            <p:cNvSpPr/>
            <p:nvPr/>
          </p:nvSpPr>
          <p:spPr>
            <a:xfrm>
              <a:off x="7467600" y="1600200"/>
              <a:ext cx="1320800" cy="381000"/>
            </a:xfrm>
            <a:prstGeom prst="rect">
              <a:avLst/>
            </a:prstGeom>
            <a:solidFill>
              <a:srgbClr val="070154"/>
            </a:solidFill>
            <a:ln>
              <a:noFill/>
            </a:ln>
          </p:spPr>
        </p:sp>
        <p:sp>
          <p:nvSpPr>
            <p:cNvPr id="14" name="rating-0-4.text"/>
            <p:cNvSpPr/>
            <p:nvPr/>
          </p:nvSpPr>
          <p:spPr>
            <a:xfrm>
              <a:off x="76200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Release</a:t>
              </a:r>
              <a:endParaRPr lang="en-US" sz="900" spc="0" kern="0" b="0" i="0" dirty="0">
                <a:solidFill>
                  <a:srgbClr val="FFFFFF"/>
                </a:solidFill>
                <a:latin typeface="IBM Plex Sans"/>
                <a:ea typeface="IBM Plex Sans"/>
                <a:cs typeface="IBM Plex Sans"/>
              </a:endParaRPr>
            </a:p>
          </p:txBody>
        </p:sp>
      </p:grpSp>
      <p:grpSp>
        <p:nvGrpSpPr>
          <p:cNvPr id="155" name="rating-0-5"/>
          <p:cNvGrpSpPr/>
          <p:nvPr/>
        </p:nvGrpSpPr>
        <p:grpSpPr>
          <a:xfrm>
            <a:off x="8801100" y="1600200"/>
            <a:ext cx="1320800" cy="381000"/>
            <a:chOff x="8801100" y="1600200"/>
            <a:chExt cx="1320800" cy="381000"/>
          </a:xfrm>
        </p:grpSpPr>
        <p:sp>
          <p:nvSpPr>
            <p:cNvPr id="15" name="rating-0-5.surface"/>
            <p:cNvSpPr/>
            <p:nvPr/>
          </p:nvSpPr>
          <p:spPr>
            <a:xfrm>
              <a:off x="8801100" y="1600200"/>
              <a:ext cx="1320800" cy="381000"/>
            </a:xfrm>
            <a:prstGeom prst="rect">
              <a:avLst/>
            </a:prstGeom>
            <a:solidFill>
              <a:srgbClr val="070154"/>
            </a:solidFill>
            <a:ln>
              <a:noFill/>
            </a:ln>
          </p:spPr>
        </p:sp>
        <p:sp>
          <p:nvSpPr>
            <p:cNvPr id="16" name="rating-0-5.text"/>
            <p:cNvSpPr/>
            <p:nvPr/>
          </p:nvSpPr>
          <p:spPr>
            <a:xfrm>
              <a:off x="89535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GTM</a:t>
              </a:r>
              <a:endParaRPr lang="en-US" sz="900" spc="0" kern="0" b="0" i="0" dirty="0">
                <a:solidFill>
                  <a:srgbClr val="FFFFFF"/>
                </a:solidFill>
                <a:latin typeface="IBM Plex Sans"/>
                <a:ea typeface="IBM Plex Sans"/>
                <a:cs typeface="IBM Plex Sans"/>
              </a:endParaRPr>
            </a:p>
          </p:txBody>
        </p:sp>
      </p:grpSp>
      <p:grpSp>
        <p:nvGrpSpPr>
          <p:cNvPr id="156" name="rating-0-6"/>
          <p:cNvGrpSpPr/>
          <p:nvPr/>
        </p:nvGrpSpPr>
        <p:grpSpPr>
          <a:xfrm>
            <a:off x="10134600" y="1600200"/>
            <a:ext cx="1320800" cy="381000"/>
            <a:chOff x="10134600" y="1600200"/>
            <a:chExt cx="1320800" cy="381000"/>
          </a:xfrm>
        </p:grpSpPr>
        <p:sp>
          <p:nvSpPr>
            <p:cNvPr id="17" name="rating-0-6.surface"/>
            <p:cNvSpPr/>
            <p:nvPr/>
          </p:nvSpPr>
          <p:spPr>
            <a:xfrm>
              <a:off x="10134600" y="1600200"/>
              <a:ext cx="1320800" cy="381000"/>
            </a:xfrm>
            <a:prstGeom prst="rect">
              <a:avLst/>
            </a:prstGeom>
            <a:solidFill>
              <a:srgbClr val="070154"/>
            </a:solidFill>
            <a:ln>
              <a:noFill/>
            </a:ln>
          </p:spPr>
        </p:sp>
        <p:sp>
          <p:nvSpPr>
            <p:cNvPr id="18" name="rating-0-6.text"/>
            <p:cNvSpPr/>
            <p:nvPr/>
          </p:nvSpPr>
          <p:spPr>
            <a:xfrm>
              <a:off x="102870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Optimize</a:t>
              </a:r>
              <a:endParaRPr lang="en-US" sz="900" spc="0" kern="0" b="0" i="0" dirty="0">
                <a:solidFill>
                  <a:srgbClr val="FFFFFF"/>
                </a:solidFill>
                <a:latin typeface="IBM Plex Sans"/>
                <a:ea typeface="IBM Plex Sans"/>
                <a:cs typeface="IBM Plex Sans"/>
              </a:endParaRPr>
            </a:p>
          </p:txBody>
        </p:sp>
      </p:grpSp>
      <p:grpSp>
        <p:nvGrpSpPr>
          <p:cNvPr id="157" name="rating-1-0"/>
          <p:cNvGrpSpPr/>
          <p:nvPr/>
        </p:nvGrpSpPr>
        <p:grpSpPr>
          <a:xfrm>
            <a:off x="723900" y="1981200"/>
            <a:ext cx="2730500" cy="355600"/>
            <a:chOff x="723900" y="1981200"/>
            <a:chExt cx="2730500" cy="355600"/>
          </a:xfrm>
        </p:grpSpPr>
        <p:sp>
          <p:nvSpPr>
            <p:cNvPr id="19" name="rating-1-0.surface"/>
            <p:cNvSpPr/>
            <p:nvPr/>
          </p:nvSpPr>
          <p:spPr>
            <a:xfrm>
              <a:off x="723900" y="1981200"/>
              <a:ext cx="2730500" cy="355600"/>
            </a:xfrm>
            <a:prstGeom prst="rect">
              <a:avLst/>
            </a:prstGeom>
            <a:solidFill>
              <a:srgbClr val="E8EEF8"/>
            </a:solidFill>
            <a:ln>
              <a:noFill/>
            </a:ln>
          </p:spPr>
        </p:sp>
        <p:sp>
          <p:nvSpPr>
            <p:cNvPr id="20" name="rating-1-0.text"/>
            <p:cNvSpPr/>
            <p:nvPr/>
          </p:nvSpPr>
          <p:spPr>
            <a:xfrm>
              <a:off x="876300" y="20828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Customer evidence</a:t>
              </a:r>
              <a:endParaRPr lang="en-US" sz="900" spc="0" kern="0" b="0" i="0" dirty="0">
                <a:solidFill>
                  <a:srgbClr val="070154"/>
                </a:solidFill>
                <a:latin typeface="IBM Plex Sans"/>
                <a:ea typeface="IBM Plex Sans"/>
                <a:cs typeface="IBM Plex Sans"/>
              </a:endParaRPr>
            </a:p>
          </p:txBody>
        </p:sp>
      </p:grpSp>
      <p:grpSp>
        <p:nvGrpSpPr>
          <p:cNvPr id="158" name="rating-1-1"/>
          <p:cNvGrpSpPr/>
          <p:nvPr/>
        </p:nvGrpSpPr>
        <p:grpSpPr>
          <a:xfrm>
            <a:off x="3467100" y="1981200"/>
            <a:ext cx="1320800" cy="355600"/>
            <a:chOff x="3467100" y="1981200"/>
            <a:chExt cx="1320800" cy="355600"/>
          </a:xfrm>
        </p:grpSpPr>
        <p:sp>
          <p:nvSpPr>
            <p:cNvPr id="21" name="rating-1-1.surface"/>
            <p:cNvSpPr/>
            <p:nvPr/>
          </p:nvSpPr>
          <p:spPr>
            <a:xfrm>
              <a:off x="3467100" y="1981200"/>
              <a:ext cx="1320800" cy="355600"/>
            </a:xfrm>
            <a:prstGeom prst="rect">
              <a:avLst/>
            </a:prstGeom>
            <a:solidFill>
              <a:srgbClr val="E8EEF8"/>
            </a:solidFill>
            <a:ln>
              <a:noFill/>
            </a:ln>
          </p:spPr>
        </p:sp>
        <p:sp>
          <p:nvSpPr>
            <p:cNvPr id="22" name="rating-1-1.text"/>
            <p:cNvSpPr/>
            <p:nvPr/>
          </p:nvSpPr>
          <p:spPr>
            <a:xfrm>
              <a:off x="36195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Emerging</a:t>
              </a:r>
              <a:endParaRPr lang="en-US" sz="900" spc="0" kern="0" b="0" i="0" dirty="0">
                <a:solidFill>
                  <a:srgbClr val="070154"/>
                </a:solidFill>
                <a:latin typeface="IBM Plex Sans"/>
                <a:ea typeface="IBM Plex Sans"/>
                <a:cs typeface="IBM Plex Sans"/>
              </a:endParaRPr>
            </a:p>
          </p:txBody>
        </p:sp>
      </p:grpSp>
      <p:grpSp>
        <p:nvGrpSpPr>
          <p:cNvPr id="159" name="rating-1-2"/>
          <p:cNvGrpSpPr/>
          <p:nvPr/>
        </p:nvGrpSpPr>
        <p:grpSpPr>
          <a:xfrm>
            <a:off x="4800600" y="1981200"/>
            <a:ext cx="1320800" cy="355600"/>
            <a:chOff x="4800600" y="1981200"/>
            <a:chExt cx="1320800" cy="355600"/>
          </a:xfrm>
        </p:grpSpPr>
        <p:sp>
          <p:nvSpPr>
            <p:cNvPr id="23" name="rating-1-2.surface"/>
            <p:cNvSpPr/>
            <p:nvPr/>
          </p:nvSpPr>
          <p:spPr>
            <a:xfrm>
              <a:off x="4800600" y="1981200"/>
              <a:ext cx="1320800" cy="355600"/>
            </a:xfrm>
            <a:prstGeom prst="rect">
              <a:avLst/>
            </a:prstGeom>
            <a:solidFill>
              <a:srgbClr val="FFFFFF"/>
            </a:solidFill>
            <a:ln>
              <a:noFill/>
            </a:ln>
          </p:spPr>
        </p:sp>
        <p:sp>
          <p:nvSpPr>
            <p:cNvPr id="24" name="rating-1-2.text"/>
            <p:cNvSpPr/>
            <p:nvPr/>
          </p:nvSpPr>
          <p:spPr>
            <a:xfrm>
              <a:off x="49530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0" name="rating-1-3"/>
          <p:cNvGrpSpPr/>
          <p:nvPr/>
        </p:nvGrpSpPr>
        <p:grpSpPr>
          <a:xfrm>
            <a:off x="6134100" y="1981200"/>
            <a:ext cx="1320800" cy="355600"/>
            <a:chOff x="6134100" y="1981200"/>
            <a:chExt cx="1320800" cy="355600"/>
          </a:xfrm>
        </p:grpSpPr>
        <p:sp>
          <p:nvSpPr>
            <p:cNvPr id="25" name="rating-1-3.surface"/>
            <p:cNvSpPr/>
            <p:nvPr/>
          </p:nvSpPr>
          <p:spPr>
            <a:xfrm>
              <a:off x="6134100" y="1981200"/>
              <a:ext cx="1320800" cy="355600"/>
            </a:xfrm>
            <a:prstGeom prst="rect">
              <a:avLst/>
            </a:prstGeom>
            <a:solidFill>
              <a:srgbClr val="FFFFFF"/>
            </a:solidFill>
            <a:ln>
              <a:noFill/>
            </a:ln>
          </p:spPr>
        </p:sp>
        <p:sp>
          <p:nvSpPr>
            <p:cNvPr id="26" name="rating-1-3.text"/>
            <p:cNvSpPr/>
            <p:nvPr/>
          </p:nvSpPr>
          <p:spPr>
            <a:xfrm>
              <a:off x="62865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1" name="rating-1-4"/>
          <p:cNvGrpSpPr/>
          <p:nvPr/>
        </p:nvGrpSpPr>
        <p:grpSpPr>
          <a:xfrm>
            <a:off x="7467600" y="1981200"/>
            <a:ext cx="1320800" cy="355600"/>
            <a:chOff x="7467600" y="1981200"/>
            <a:chExt cx="1320800" cy="355600"/>
          </a:xfrm>
        </p:grpSpPr>
        <p:sp>
          <p:nvSpPr>
            <p:cNvPr id="27" name="rating-1-4.surface"/>
            <p:cNvSpPr/>
            <p:nvPr/>
          </p:nvSpPr>
          <p:spPr>
            <a:xfrm>
              <a:off x="7467600" y="1981200"/>
              <a:ext cx="1320800" cy="355600"/>
            </a:xfrm>
            <a:prstGeom prst="rect">
              <a:avLst/>
            </a:prstGeom>
            <a:solidFill>
              <a:srgbClr val="FFFFFF"/>
            </a:solidFill>
            <a:ln>
              <a:noFill/>
            </a:ln>
          </p:spPr>
        </p:sp>
        <p:sp>
          <p:nvSpPr>
            <p:cNvPr id="28" name="rating-1-4.text"/>
            <p:cNvSpPr/>
            <p:nvPr/>
          </p:nvSpPr>
          <p:spPr>
            <a:xfrm>
              <a:off x="76200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2" name="rating-1-5"/>
          <p:cNvGrpSpPr/>
          <p:nvPr/>
        </p:nvGrpSpPr>
        <p:grpSpPr>
          <a:xfrm>
            <a:off x="8801100" y="1981200"/>
            <a:ext cx="1320800" cy="355600"/>
            <a:chOff x="8801100" y="1981200"/>
            <a:chExt cx="1320800" cy="355600"/>
          </a:xfrm>
        </p:grpSpPr>
        <p:sp>
          <p:nvSpPr>
            <p:cNvPr id="29" name="rating-1-5.surface"/>
            <p:cNvSpPr/>
            <p:nvPr/>
          </p:nvSpPr>
          <p:spPr>
            <a:xfrm>
              <a:off x="8801100" y="1981200"/>
              <a:ext cx="1320800" cy="355600"/>
            </a:xfrm>
            <a:prstGeom prst="rect">
              <a:avLst/>
            </a:prstGeom>
            <a:solidFill>
              <a:srgbClr val="FFFFFF"/>
            </a:solidFill>
            <a:ln>
              <a:noFill/>
            </a:ln>
          </p:spPr>
        </p:sp>
        <p:sp>
          <p:nvSpPr>
            <p:cNvPr id="30" name="rating-1-5.text"/>
            <p:cNvSpPr/>
            <p:nvPr/>
          </p:nvSpPr>
          <p:spPr>
            <a:xfrm>
              <a:off x="89535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3" name="rating-1-6"/>
          <p:cNvGrpSpPr/>
          <p:nvPr/>
        </p:nvGrpSpPr>
        <p:grpSpPr>
          <a:xfrm>
            <a:off x="10134600" y="1981200"/>
            <a:ext cx="1320800" cy="355600"/>
            <a:chOff x="10134600" y="1981200"/>
            <a:chExt cx="1320800" cy="355600"/>
          </a:xfrm>
        </p:grpSpPr>
        <p:sp>
          <p:nvSpPr>
            <p:cNvPr id="31" name="rating-1-6.surface"/>
            <p:cNvSpPr/>
            <p:nvPr/>
          </p:nvSpPr>
          <p:spPr>
            <a:xfrm>
              <a:off x="10134600" y="1981200"/>
              <a:ext cx="1320800" cy="355600"/>
            </a:xfrm>
            <a:prstGeom prst="rect">
              <a:avLst/>
            </a:prstGeom>
            <a:solidFill>
              <a:srgbClr val="FFFFFF"/>
            </a:solidFill>
            <a:ln>
              <a:noFill/>
            </a:ln>
          </p:spPr>
        </p:sp>
        <p:sp>
          <p:nvSpPr>
            <p:cNvPr id="32" name="rating-1-6.text"/>
            <p:cNvSpPr/>
            <p:nvPr/>
          </p:nvSpPr>
          <p:spPr>
            <a:xfrm>
              <a:off x="102870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4" name="rating-2-0"/>
          <p:cNvGrpSpPr/>
          <p:nvPr/>
        </p:nvGrpSpPr>
        <p:grpSpPr>
          <a:xfrm>
            <a:off x="723900" y="2336800"/>
            <a:ext cx="2730500" cy="355600"/>
            <a:chOff x="723900" y="2336800"/>
            <a:chExt cx="2730500" cy="355600"/>
          </a:xfrm>
        </p:grpSpPr>
        <p:sp>
          <p:nvSpPr>
            <p:cNvPr id="33" name="rating-2-0.surface"/>
            <p:cNvSpPr/>
            <p:nvPr/>
          </p:nvSpPr>
          <p:spPr>
            <a:xfrm>
              <a:off x="723900" y="2336800"/>
              <a:ext cx="2730500" cy="355600"/>
            </a:xfrm>
            <a:prstGeom prst="rect">
              <a:avLst/>
            </a:prstGeom>
            <a:solidFill>
              <a:srgbClr val="E8EEF8"/>
            </a:solidFill>
            <a:ln>
              <a:noFill/>
            </a:ln>
          </p:spPr>
        </p:sp>
        <p:sp>
          <p:nvSpPr>
            <p:cNvPr id="34" name="rating-2-0.text"/>
            <p:cNvSpPr/>
            <p:nvPr/>
          </p:nvSpPr>
          <p:spPr>
            <a:xfrm>
              <a:off x="876300" y="24384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Roadmap and prioritization</a:t>
              </a:r>
              <a:endParaRPr lang="en-US" sz="900" spc="0" kern="0" b="0" i="0" dirty="0">
                <a:solidFill>
                  <a:srgbClr val="070154"/>
                </a:solidFill>
                <a:latin typeface="IBM Plex Sans"/>
                <a:ea typeface="IBM Plex Sans"/>
                <a:cs typeface="IBM Plex Sans"/>
              </a:endParaRPr>
            </a:p>
          </p:txBody>
        </p:sp>
      </p:grpSp>
      <p:grpSp>
        <p:nvGrpSpPr>
          <p:cNvPr id="165" name="rating-2-1"/>
          <p:cNvGrpSpPr/>
          <p:nvPr/>
        </p:nvGrpSpPr>
        <p:grpSpPr>
          <a:xfrm>
            <a:off x="3467100" y="2336800"/>
            <a:ext cx="1320800" cy="355600"/>
            <a:chOff x="3467100" y="2336800"/>
            <a:chExt cx="1320800" cy="355600"/>
          </a:xfrm>
        </p:grpSpPr>
        <p:sp>
          <p:nvSpPr>
            <p:cNvPr id="35" name="rating-2-1.surface"/>
            <p:cNvSpPr/>
            <p:nvPr/>
          </p:nvSpPr>
          <p:spPr>
            <a:xfrm>
              <a:off x="3467100" y="2336800"/>
              <a:ext cx="1320800" cy="355600"/>
            </a:xfrm>
            <a:prstGeom prst="rect">
              <a:avLst/>
            </a:prstGeom>
            <a:solidFill>
              <a:srgbClr val="FFFFFF"/>
            </a:solidFill>
            <a:ln>
              <a:noFill/>
            </a:ln>
          </p:spPr>
        </p:sp>
        <p:sp>
          <p:nvSpPr>
            <p:cNvPr id="36" name="rating-2-1.text"/>
            <p:cNvSpPr/>
            <p:nvPr/>
          </p:nvSpPr>
          <p:spPr>
            <a:xfrm>
              <a:off x="36195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166" name="rating-2-2"/>
          <p:cNvGrpSpPr/>
          <p:nvPr/>
        </p:nvGrpSpPr>
        <p:grpSpPr>
          <a:xfrm>
            <a:off x="4800600" y="2336800"/>
            <a:ext cx="1320800" cy="355600"/>
            <a:chOff x="4800600" y="2336800"/>
            <a:chExt cx="1320800" cy="355600"/>
          </a:xfrm>
        </p:grpSpPr>
        <p:sp>
          <p:nvSpPr>
            <p:cNvPr id="37" name="rating-2-2.surface"/>
            <p:cNvSpPr/>
            <p:nvPr/>
          </p:nvSpPr>
          <p:spPr>
            <a:xfrm>
              <a:off x="4800600" y="2336800"/>
              <a:ext cx="1320800" cy="355600"/>
            </a:xfrm>
            <a:prstGeom prst="rect">
              <a:avLst/>
            </a:prstGeom>
            <a:solidFill>
              <a:srgbClr val="FFFFFF"/>
            </a:solidFill>
            <a:ln>
              <a:noFill/>
            </a:ln>
          </p:spPr>
        </p:sp>
        <p:sp>
          <p:nvSpPr>
            <p:cNvPr id="38" name="rating-2-2.text"/>
            <p:cNvSpPr/>
            <p:nvPr/>
          </p:nvSpPr>
          <p:spPr>
            <a:xfrm>
              <a:off x="49530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7" name="rating-2-3"/>
          <p:cNvGrpSpPr/>
          <p:nvPr/>
        </p:nvGrpSpPr>
        <p:grpSpPr>
          <a:xfrm>
            <a:off x="6134100" y="2336800"/>
            <a:ext cx="1320800" cy="355600"/>
            <a:chOff x="6134100" y="2336800"/>
            <a:chExt cx="1320800" cy="355600"/>
          </a:xfrm>
        </p:grpSpPr>
        <p:sp>
          <p:nvSpPr>
            <p:cNvPr id="39" name="rating-2-3.surface"/>
            <p:cNvSpPr/>
            <p:nvPr/>
          </p:nvSpPr>
          <p:spPr>
            <a:xfrm>
              <a:off x="6134100" y="2336800"/>
              <a:ext cx="1320800" cy="355600"/>
            </a:xfrm>
            <a:prstGeom prst="rect">
              <a:avLst/>
            </a:prstGeom>
            <a:solidFill>
              <a:srgbClr val="FFFFFF"/>
            </a:solidFill>
            <a:ln>
              <a:noFill/>
            </a:ln>
          </p:spPr>
        </p:sp>
        <p:sp>
          <p:nvSpPr>
            <p:cNvPr id="40" name="rating-2-3.text"/>
            <p:cNvSpPr/>
            <p:nvPr/>
          </p:nvSpPr>
          <p:spPr>
            <a:xfrm>
              <a:off x="62865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8" name="rating-2-4"/>
          <p:cNvGrpSpPr/>
          <p:nvPr/>
        </p:nvGrpSpPr>
        <p:grpSpPr>
          <a:xfrm>
            <a:off x="7467600" y="2336800"/>
            <a:ext cx="1320800" cy="355600"/>
            <a:chOff x="7467600" y="2336800"/>
            <a:chExt cx="1320800" cy="355600"/>
          </a:xfrm>
        </p:grpSpPr>
        <p:sp>
          <p:nvSpPr>
            <p:cNvPr id="41" name="rating-2-4.surface"/>
            <p:cNvSpPr/>
            <p:nvPr/>
          </p:nvSpPr>
          <p:spPr>
            <a:xfrm>
              <a:off x="7467600" y="2336800"/>
              <a:ext cx="1320800" cy="355600"/>
            </a:xfrm>
            <a:prstGeom prst="rect">
              <a:avLst/>
            </a:prstGeom>
            <a:solidFill>
              <a:srgbClr val="FFFFFF"/>
            </a:solidFill>
            <a:ln>
              <a:noFill/>
            </a:ln>
          </p:spPr>
        </p:sp>
        <p:sp>
          <p:nvSpPr>
            <p:cNvPr id="42" name="rating-2-4.text"/>
            <p:cNvSpPr/>
            <p:nvPr/>
          </p:nvSpPr>
          <p:spPr>
            <a:xfrm>
              <a:off x="76200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9" name="rating-2-5"/>
          <p:cNvGrpSpPr/>
          <p:nvPr/>
        </p:nvGrpSpPr>
        <p:grpSpPr>
          <a:xfrm>
            <a:off x="8801100" y="2336800"/>
            <a:ext cx="1320800" cy="355600"/>
            <a:chOff x="8801100" y="2336800"/>
            <a:chExt cx="1320800" cy="355600"/>
          </a:xfrm>
        </p:grpSpPr>
        <p:sp>
          <p:nvSpPr>
            <p:cNvPr id="43" name="rating-2-5.surface"/>
            <p:cNvSpPr/>
            <p:nvPr/>
          </p:nvSpPr>
          <p:spPr>
            <a:xfrm>
              <a:off x="8801100" y="2336800"/>
              <a:ext cx="1320800" cy="355600"/>
            </a:xfrm>
            <a:prstGeom prst="rect">
              <a:avLst/>
            </a:prstGeom>
            <a:solidFill>
              <a:srgbClr val="FFFFFF"/>
            </a:solidFill>
            <a:ln>
              <a:noFill/>
            </a:ln>
          </p:spPr>
        </p:sp>
        <p:sp>
          <p:nvSpPr>
            <p:cNvPr id="44" name="rating-2-5.text"/>
            <p:cNvSpPr/>
            <p:nvPr/>
          </p:nvSpPr>
          <p:spPr>
            <a:xfrm>
              <a:off x="89535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0" name="rating-2-6"/>
          <p:cNvGrpSpPr/>
          <p:nvPr/>
        </p:nvGrpSpPr>
        <p:grpSpPr>
          <a:xfrm>
            <a:off x="10134600" y="2336800"/>
            <a:ext cx="1320800" cy="355600"/>
            <a:chOff x="10134600" y="2336800"/>
            <a:chExt cx="1320800" cy="355600"/>
          </a:xfrm>
        </p:grpSpPr>
        <p:sp>
          <p:nvSpPr>
            <p:cNvPr id="45" name="rating-2-6.surface"/>
            <p:cNvSpPr/>
            <p:nvPr/>
          </p:nvSpPr>
          <p:spPr>
            <a:xfrm>
              <a:off x="10134600" y="2336800"/>
              <a:ext cx="1320800" cy="355600"/>
            </a:xfrm>
            <a:prstGeom prst="rect">
              <a:avLst/>
            </a:prstGeom>
            <a:solidFill>
              <a:srgbClr val="FFFFFF"/>
            </a:solidFill>
            <a:ln>
              <a:noFill/>
            </a:ln>
          </p:spPr>
        </p:sp>
        <p:sp>
          <p:nvSpPr>
            <p:cNvPr id="46" name="rating-2-6.text"/>
            <p:cNvSpPr/>
            <p:nvPr/>
          </p:nvSpPr>
          <p:spPr>
            <a:xfrm>
              <a:off x="102870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1" name="rating-3-0"/>
          <p:cNvGrpSpPr/>
          <p:nvPr/>
        </p:nvGrpSpPr>
        <p:grpSpPr>
          <a:xfrm>
            <a:off x="723900" y="2692400"/>
            <a:ext cx="2730500" cy="355600"/>
            <a:chOff x="723900" y="2692400"/>
            <a:chExt cx="2730500" cy="355600"/>
          </a:xfrm>
        </p:grpSpPr>
        <p:sp>
          <p:nvSpPr>
            <p:cNvPr id="47" name="rating-3-0.surface"/>
            <p:cNvSpPr/>
            <p:nvPr/>
          </p:nvSpPr>
          <p:spPr>
            <a:xfrm>
              <a:off x="723900" y="2692400"/>
              <a:ext cx="2730500" cy="355600"/>
            </a:xfrm>
            <a:prstGeom prst="rect">
              <a:avLst/>
            </a:prstGeom>
            <a:solidFill>
              <a:srgbClr val="E8EEF8"/>
            </a:solidFill>
            <a:ln>
              <a:noFill/>
            </a:ln>
          </p:spPr>
        </p:sp>
        <p:sp>
          <p:nvSpPr>
            <p:cNvPr id="48" name="rating-3-0.text"/>
            <p:cNvSpPr/>
            <p:nvPr/>
          </p:nvSpPr>
          <p:spPr>
            <a:xfrm>
              <a:off x="876300" y="27940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Ownership and decisions</a:t>
              </a:r>
              <a:endParaRPr lang="en-US" sz="900" spc="0" kern="0" b="0" i="0" dirty="0">
                <a:solidFill>
                  <a:srgbClr val="070154"/>
                </a:solidFill>
                <a:latin typeface="IBM Plex Sans"/>
                <a:ea typeface="IBM Plex Sans"/>
                <a:cs typeface="IBM Plex Sans"/>
              </a:endParaRPr>
            </a:p>
          </p:txBody>
        </p:sp>
      </p:grpSp>
      <p:grpSp>
        <p:nvGrpSpPr>
          <p:cNvPr id="172" name="rating-3-1"/>
          <p:cNvGrpSpPr/>
          <p:nvPr/>
        </p:nvGrpSpPr>
        <p:grpSpPr>
          <a:xfrm>
            <a:off x="3467100" y="2692400"/>
            <a:ext cx="1320800" cy="355600"/>
            <a:chOff x="3467100" y="2692400"/>
            <a:chExt cx="1320800" cy="355600"/>
          </a:xfrm>
        </p:grpSpPr>
        <p:sp>
          <p:nvSpPr>
            <p:cNvPr id="49" name="rating-3-1.surface"/>
            <p:cNvSpPr/>
            <p:nvPr/>
          </p:nvSpPr>
          <p:spPr>
            <a:xfrm>
              <a:off x="3467100" y="2692400"/>
              <a:ext cx="1320800" cy="355600"/>
            </a:xfrm>
            <a:prstGeom prst="rect">
              <a:avLst/>
            </a:prstGeom>
            <a:solidFill>
              <a:srgbClr val="FFFFFF"/>
            </a:solidFill>
            <a:ln>
              <a:noFill/>
            </a:ln>
          </p:spPr>
        </p:sp>
        <p:sp>
          <p:nvSpPr>
            <p:cNvPr id="50" name="rating-3-1.text"/>
            <p:cNvSpPr/>
            <p:nvPr/>
          </p:nvSpPr>
          <p:spPr>
            <a:xfrm>
              <a:off x="36195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3" name="rating-3-2"/>
          <p:cNvGrpSpPr/>
          <p:nvPr/>
        </p:nvGrpSpPr>
        <p:grpSpPr>
          <a:xfrm>
            <a:off x="4800600" y="2692400"/>
            <a:ext cx="1320800" cy="355600"/>
            <a:chOff x="4800600" y="2692400"/>
            <a:chExt cx="1320800" cy="355600"/>
          </a:xfrm>
        </p:grpSpPr>
        <p:sp>
          <p:nvSpPr>
            <p:cNvPr id="51" name="rating-3-2.surface"/>
            <p:cNvSpPr/>
            <p:nvPr/>
          </p:nvSpPr>
          <p:spPr>
            <a:xfrm>
              <a:off x="4800600" y="2692400"/>
              <a:ext cx="1320800" cy="355600"/>
            </a:xfrm>
            <a:prstGeom prst="rect">
              <a:avLst/>
            </a:prstGeom>
            <a:solidFill>
              <a:srgbClr val="FFFFFF"/>
            </a:solidFill>
            <a:ln>
              <a:noFill/>
            </a:ln>
          </p:spPr>
        </p:sp>
        <p:sp>
          <p:nvSpPr>
            <p:cNvPr id="52" name="rating-3-2.text"/>
            <p:cNvSpPr/>
            <p:nvPr/>
          </p:nvSpPr>
          <p:spPr>
            <a:xfrm>
              <a:off x="49530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174" name="rating-3-3"/>
          <p:cNvGrpSpPr/>
          <p:nvPr/>
        </p:nvGrpSpPr>
        <p:grpSpPr>
          <a:xfrm>
            <a:off x="6134100" y="2692400"/>
            <a:ext cx="1320800" cy="355600"/>
            <a:chOff x="6134100" y="2692400"/>
            <a:chExt cx="1320800" cy="355600"/>
          </a:xfrm>
        </p:grpSpPr>
        <p:sp>
          <p:nvSpPr>
            <p:cNvPr id="53" name="rating-3-3.surface"/>
            <p:cNvSpPr/>
            <p:nvPr/>
          </p:nvSpPr>
          <p:spPr>
            <a:xfrm>
              <a:off x="6134100" y="2692400"/>
              <a:ext cx="1320800" cy="355600"/>
            </a:xfrm>
            <a:prstGeom prst="rect">
              <a:avLst/>
            </a:prstGeom>
            <a:solidFill>
              <a:srgbClr val="FFFFFF"/>
            </a:solidFill>
            <a:ln>
              <a:noFill/>
            </a:ln>
          </p:spPr>
        </p:sp>
        <p:sp>
          <p:nvSpPr>
            <p:cNvPr id="54" name="rating-3-3.text"/>
            <p:cNvSpPr/>
            <p:nvPr/>
          </p:nvSpPr>
          <p:spPr>
            <a:xfrm>
              <a:off x="62865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5" name="rating-3-4"/>
          <p:cNvGrpSpPr/>
          <p:nvPr/>
        </p:nvGrpSpPr>
        <p:grpSpPr>
          <a:xfrm>
            <a:off x="7467600" y="2692400"/>
            <a:ext cx="1320800" cy="355600"/>
            <a:chOff x="7467600" y="2692400"/>
            <a:chExt cx="1320800" cy="355600"/>
          </a:xfrm>
        </p:grpSpPr>
        <p:sp>
          <p:nvSpPr>
            <p:cNvPr id="55" name="rating-3-4.surface"/>
            <p:cNvSpPr/>
            <p:nvPr/>
          </p:nvSpPr>
          <p:spPr>
            <a:xfrm>
              <a:off x="7467600" y="2692400"/>
              <a:ext cx="1320800" cy="355600"/>
            </a:xfrm>
            <a:prstGeom prst="rect">
              <a:avLst/>
            </a:prstGeom>
            <a:solidFill>
              <a:srgbClr val="FFFFFF"/>
            </a:solidFill>
            <a:ln>
              <a:noFill/>
            </a:ln>
          </p:spPr>
        </p:sp>
        <p:sp>
          <p:nvSpPr>
            <p:cNvPr id="56" name="rating-3-4.text"/>
            <p:cNvSpPr/>
            <p:nvPr/>
          </p:nvSpPr>
          <p:spPr>
            <a:xfrm>
              <a:off x="76200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6" name="rating-3-5"/>
          <p:cNvGrpSpPr/>
          <p:nvPr/>
        </p:nvGrpSpPr>
        <p:grpSpPr>
          <a:xfrm>
            <a:off x="8801100" y="2692400"/>
            <a:ext cx="1320800" cy="355600"/>
            <a:chOff x="8801100" y="2692400"/>
            <a:chExt cx="1320800" cy="355600"/>
          </a:xfrm>
        </p:grpSpPr>
        <p:sp>
          <p:nvSpPr>
            <p:cNvPr id="57" name="rating-3-5.surface"/>
            <p:cNvSpPr/>
            <p:nvPr/>
          </p:nvSpPr>
          <p:spPr>
            <a:xfrm>
              <a:off x="8801100" y="2692400"/>
              <a:ext cx="1320800" cy="355600"/>
            </a:xfrm>
            <a:prstGeom prst="rect">
              <a:avLst/>
            </a:prstGeom>
            <a:solidFill>
              <a:srgbClr val="FFFFFF"/>
            </a:solidFill>
            <a:ln>
              <a:noFill/>
            </a:ln>
          </p:spPr>
        </p:sp>
        <p:sp>
          <p:nvSpPr>
            <p:cNvPr id="58" name="rating-3-5.text"/>
            <p:cNvSpPr/>
            <p:nvPr/>
          </p:nvSpPr>
          <p:spPr>
            <a:xfrm>
              <a:off x="89535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7" name="rating-3-6"/>
          <p:cNvGrpSpPr/>
          <p:nvPr/>
        </p:nvGrpSpPr>
        <p:grpSpPr>
          <a:xfrm>
            <a:off x="10134600" y="2692400"/>
            <a:ext cx="1320800" cy="355600"/>
            <a:chOff x="10134600" y="2692400"/>
            <a:chExt cx="1320800" cy="355600"/>
          </a:xfrm>
        </p:grpSpPr>
        <p:sp>
          <p:nvSpPr>
            <p:cNvPr id="59" name="rating-3-6.surface"/>
            <p:cNvSpPr/>
            <p:nvPr/>
          </p:nvSpPr>
          <p:spPr>
            <a:xfrm>
              <a:off x="10134600" y="2692400"/>
              <a:ext cx="1320800" cy="355600"/>
            </a:xfrm>
            <a:prstGeom prst="rect">
              <a:avLst/>
            </a:prstGeom>
            <a:solidFill>
              <a:srgbClr val="E8EEF8"/>
            </a:solidFill>
            <a:ln>
              <a:noFill/>
            </a:ln>
          </p:spPr>
        </p:sp>
        <p:sp>
          <p:nvSpPr>
            <p:cNvPr id="60" name="rating-3-6.text"/>
            <p:cNvSpPr/>
            <p:nvPr/>
          </p:nvSpPr>
          <p:spPr>
            <a:xfrm>
              <a:off x="102870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Emerging</a:t>
              </a:r>
              <a:endParaRPr lang="en-US" sz="900" spc="0" kern="0" b="0" i="0" dirty="0">
                <a:solidFill>
                  <a:srgbClr val="070154"/>
                </a:solidFill>
                <a:latin typeface="IBM Plex Sans"/>
                <a:ea typeface="IBM Plex Sans"/>
                <a:cs typeface="IBM Plex Sans"/>
              </a:endParaRPr>
            </a:p>
          </p:txBody>
        </p:sp>
      </p:grpSp>
      <p:grpSp>
        <p:nvGrpSpPr>
          <p:cNvPr id="178" name="rating-4-0"/>
          <p:cNvGrpSpPr/>
          <p:nvPr/>
        </p:nvGrpSpPr>
        <p:grpSpPr>
          <a:xfrm>
            <a:off x="723900" y="3048000"/>
            <a:ext cx="2730500" cy="355600"/>
            <a:chOff x="723900" y="3048000"/>
            <a:chExt cx="2730500" cy="355600"/>
          </a:xfrm>
        </p:grpSpPr>
        <p:sp>
          <p:nvSpPr>
            <p:cNvPr id="61" name="rating-4-0.surface"/>
            <p:cNvSpPr/>
            <p:nvPr/>
          </p:nvSpPr>
          <p:spPr>
            <a:xfrm>
              <a:off x="723900" y="3048000"/>
              <a:ext cx="2730500" cy="355600"/>
            </a:xfrm>
            <a:prstGeom prst="rect">
              <a:avLst/>
            </a:prstGeom>
            <a:solidFill>
              <a:srgbClr val="E8EEF8"/>
            </a:solidFill>
            <a:ln>
              <a:noFill/>
            </a:ln>
          </p:spPr>
        </p:sp>
        <p:sp>
          <p:nvSpPr>
            <p:cNvPr id="62" name="rating-4-0.text"/>
            <p:cNvSpPr/>
            <p:nvPr/>
          </p:nvSpPr>
          <p:spPr>
            <a:xfrm>
              <a:off x="876300" y="31496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Product definition and design</a:t>
              </a:r>
              <a:endParaRPr lang="en-US" sz="900" spc="0" kern="0" b="0" i="0" dirty="0">
                <a:solidFill>
                  <a:srgbClr val="070154"/>
                </a:solidFill>
                <a:latin typeface="IBM Plex Sans"/>
                <a:ea typeface="IBM Plex Sans"/>
                <a:cs typeface="IBM Plex Sans"/>
              </a:endParaRPr>
            </a:p>
          </p:txBody>
        </p:sp>
      </p:grpSp>
      <p:grpSp>
        <p:nvGrpSpPr>
          <p:cNvPr id="179" name="rating-4-1"/>
          <p:cNvGrpSpPr/>
          <p:nvPr/>
        </p:nvGrpSpPr>
        <p:grpSpPr>
          <a:xfrm>
            <a:off x="3467100" y="3048000"/>
            <a:ext cx="1320800" cy="355600"/>
            <a:chOff x="3467100" y="3048000"/>
            <a:chExt cx="1320800" cy="355600"/>
          </a:xfrm>
        </p:grpSpPr>
        <p:sp>
          <p:nvSpPr>
            <p:cNvPr id="63" name="rating-4-1.surface"/>
            <p:cNvSpPr/>
            <p:nvPr/>
          </p:nvSpPr>
          <p:spPr>
            <a:xfrm>
              <a:off x="3467100" y="3048000"/>
              <a:ext cx="1320800" cy="355600"/>
            </a:xfrm>
            <a:prstGeom prst="rect">
              <a:avLst/>
            </a:prstGeom>
            <a:solidFill>
              <a:srgbClr val="FFFFFF"/>
            </a:solidFill>
            <a:ln>
              <a:noFill/>
            </a:ln>
          </p:spPr>
        </p:sp>
        <p:sp>
          <p:nvSpPr>
            <p:cNvPr id="64" name="rating-4-1.text"/>
            <p:cNvSpPr/>
            <p:nvPr/>
          </p:nvSpPr>
          <p:spPr>
            <a:xfrm>
              <a:off x="36195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0" name="rating-4-2"/>
          <p:cNvGrpSpPr/>
          <p:nvPr/>
        </p:nvGrpSpPr>
        <p:grpSpPr>
          <a:xfrm>
            <a:off x="4800600" y="3048000"/>
            <a:ext cx="1320800" cy="355600"/>
            <a:chOff x="4800600" y="3048000"/>
            <a:chExt cx="1320800" cy="355600"/>
          </a:xfrm>
        </p:grpSpPr>
        <p:sp>
          <p:nvSpPr>
            <p:cNvPr id="65" name="rating-4-2.surface"/>
            <p:cNvSpPr/>
            <p:nvPr/>
          </p:nvSpPr>
          <p:spPr>
            <a:xfrm>
              <a:off x="4800600" y="3048000"/>
              <a:ext cx="1320800" cy="355600"/>
            </a:xfrm>
            <a:prstGeom prst="rect">
              <a:avLst/>
            </a:prstGeom>
            <a:solidFill>
              <a:srgbClr val="FFFFFF"/>
            </a:solidFill>
            <a:ln>
              <a:noFill/>
            </a:ln>
          </p:spPr>
        </p:sp>
        <p:sp>
          <p:nvSpPr>
            <p:cNvPr id="66" name="rating-4-2.text"/>
            <p:cNvSpPr/>
            <p:nvPr/>
          </p:nvSpPr>
          <p:spPr>
            <a:xfrm>
              <a:off x="49530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181" name="rating-4-3"/>
          <p:cNvGrpSpPr/>
          <p:nvPr/>
        </p:nvGrpSpPr>
        <p:grpSpPr>
          <a:xfrm>
            <a:off x="6134100" y="3048000"/>
            <a:ext cx="1320800" cy="355600"/>
            <a:chOff x="6134100" y="3048000"/>
            <a:chExt cx="1320800" cy="355600"/>
          </a:xfrm>
        </p:grpSpPr>
        <p:sp>
          <p:nvSpPr>
            <p:cNvPr id="67" name="rating-4-3.surface"/>
            <p:cNvSpPr/>
            <p:nvPr/>
          </p:nvSpPr>
          <p:spPr>
            <a:xfrm>
              <a:off x="6134100" y="3048000"/>
              <a:ext cx="1320800" cy="355600"/>
            </a:xfrm>
            <a:prstGeom prst="rect">
              <a:avLst/>
            </a:prstGeom>
            <a:solidFill>
              <a:srgbClr val="FFFFFF"/>
            </a:solidFill>
            <a:ln>
              <a:noFill/>
            </a:ln>
          </p:spPr>
        </p:sp>
        <p:sp>
          <p:nvSpPr>
            <p:cNvPr id="68" name="rating-4-3.text"/>
            <p:cNvSpPr/>
            <p:nvPr/>
          </p:nvSpPr>
          <p:spPr>
            <a:xfrm>
              <a:off x="62865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182" name="rating-4-4"/>
          <p:cNvGrpSpPr/>
          <p:nvPr/>
        </p:nvGrpSpPr>
        <p:grpSpPr>
          <a:xfrm>
            <a:off x="7467600" y="3048000"/>
            <a:ext cx="1320800" cy="355600"/>
            <a:chOff x="7467600" y="3048000"/>
            <a:chExt cx="1320800" cy="355600"/>
          </a:xfrm>
        </p:grpSpPr>
        <p:sp>
          <p:nvSpPr>
            <p:cNvPr id="69" name="rating-4-4.surface"/>
            <p:cNvSpPr/>
            <p:nvPr/>
          </p:nvSpPr>
          <p:spPr>
            <a:xfrm>
              <a:off x="7467600" y="3048000"/>
              <a:ext cx="1320800" cy="355600"/>
            </a:xfrm>
            <a:prstGeom prst="rect">
              <a:avLst/>
            </a:prstGeom>
            <a:solidFill>
              <a:srgbClr val="FFFFFF"/>
            </a:solidFill>
            <a:ln>
              <a:noFill/>
            </a:ln>
          </p:spPr>
        </p:sp>
        <p:sp>
          <p:nvSpPr>
            <p:cNvPr id="70" name="rating-4-4.text"/>
            <p:cNvSpPr/>
            <p:nvPr/>
          </p:nvSpPr>
          <p:spPr>
            <a:xfrm>
              <a:off x="76200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3" name="rating-4-5"/>
          <p:cNvGrpSpPr/>
          <p:nvPr/>
        </p:nvGrpSpPr>
        <p:grpSpPr>
          <a:xfrm>
            <a:off x="8801100" y="3048000"/>
            <a:ext cx="1320800" cy="355600"/>
            <a:chOff x="8801100" y="3048000"/>
            <a:chExt cx="1320800" cy="355600"/>
          </a:xfrm>
        </p:grpSpPr>
        <p:sp>
          <p:nvSpPr>
            <p:cNvPr id="71" name="rating-4-5.surface"/>
            <p:cNvSpPr/>
            <p:nvPr/>
          </p:nvSpPr>
          <p:spPr>
            <a:xfrm>
              <a:off x="8801100" y="3048000"/>
              <a:ext cx="1320800" cy="355600"/>
            </a:xfrm>
            <a:prstGeom prst="rect">
              <a:avLst/>
            </a:prstGeom>
            <a:solidFill>
              <a:srgbClr val="FFFFFF"/>
            </a:solidFill>
            <a:ln>
              <a:noFill/>
            </a:ln>
          </p:spPr>
        </p:sp>
        <p:sp>
          <p:nvSpPr>
            <p:cNvPr id="72" name="rating-4-5.text"/>
            <p:cNvSpPr/>
            <p:nvPr/>
          </p:nvSpPr>
          <p:spPr>
            <a:xfrm>
              <a:off x="89535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4" name="rating-4-6"/>
          <p:cNvGrpSpPr/>
          <p:nvPr/>
        </p:nvGrpSpPr>
        <p:grpSpPr>
          <a:xfrm>
            <a:off x="10134600" y="3048000"/>
            <a:ext cx="1320800" cy="355600"/>
            <a:chOff x="10134600" y="3048000"/>
            <a:chExt cx="1320800" cy="355600"/>
          </a:xfrm>
        </p:grpSpPr>
        <p:sp>
          <p:nvSpPr>
            <p:cNvPr id="73" name="rating-4-6.surface"/>
            <p:cNvSpPr/>
            <p:nvPr/>
          </p:nvSpPr>
          <p:spPr>
            <a:xfrm>
              <a:off x="10134600" y="3048000"/>
              <a:ext cx="1320800" cy="355600"/>
            </a:xfrm>
            <a:prstGeom prst="rect">
              <a:avLst/>
            </a:prstGeom>
            <a:solidFill>
              <a:srgbClr val="E8EEF8"/>
            </a:solidFill>
            <a:ln>
              <a:noFill/>
            </a:ln>
          </p:spPr>
        </p:sp>
        <p:sp>
          <p:nvSpPr>
            <p:cNvPr id="74" name="rating-4-6.text"/>
            <p:cNvSpPr/>
            <p:nvPr/>
          </p:nvSpPr>
          <p:spPr>
            <a:xfrm>
              <a:off x="102870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Emerging</a:t>
              </a:r>
              <a:endParaRPr lang="en-US" sz="900" spc="0" kern="0" b="0" i="0" dirty="0">
                <a:solidFill>
                  <a:srgbClr val="070154"/>
                </a:solidFill>
                <a:latin typeface="IBM Plex Sans"/>
                <a:ea typeface="IBM Plex Sans"/>
                <a:cs typeface="IBM Plex Sans"/>
              </a:endParaRPr>
            </a:p>
          </p:txBody>
        </p:sp>
      </p:grpSp>
      <p:grpSp>
        <p:nvGrpSpPr>
          <p:cNvPr id="185" name="rating-5-0"/>
          <p:cNvGrpSpPr/>
          <p:nvPr/>
        </p:nvGrpSpPr>
        <p:grpSpPr>
          <a:xfrm>
            <a:off x="723900" y="3403600"/>
            <a:ext cx="2730500" cy="355600"/>
            <a:chOff x="723900" y="3403600"/>
            <a:chExt cx="2730500" cy="355600"/>
          </a:xfrm>
        </p:grpSpPr>
        <p:sp>
          <p:nvSpPr>
            <p:cNvPr id="75" name="rating-5-0.surface"/>
            <p:cNvSpPr/>
            <p:nvPr/>
          </p:nvSpPr>
          <p:spPr>
            <a:xfrm>
              <a:off x="723900" y="3403600"/>
              <a:ext cx="2730500" cy="355600"/>
            </a:xfrm>
            <a:prstGeom prst="rect">
              <a:avLst/>
            </a:prstGeom>
            <a:solidFill>
              <a:srgbClr val="E8EEF8"/>
            </a:solidFill>
            <a:ln>
              <a:noFill/>
            </a:ln>
          </p:spPr>
        </p:sp>
        <p:sp>
          <p:nvSpPr>
            <p:cNvPr id="76" name="rating-5-0.text"/>
            <p:cNvSpPr/>
            <p:nvPr/>
          </p:nvSpPr>
          <p:spPr>
            <a:xfrm>
              <a:off x="876300" y="35052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Product and Engineering delivery</a:t>
              </a:r>
              <a:endParaRPr lang="en-US" sz="900" spc="0" kern="0" b="0" i="0" dirty="0">
                <a:solidFill>
                  <a:srgbClr val="070154"/>
                </a:solidFill>
                <a:latin typeface="IBM Plex Sans"/>
                <a:ea typeface="IBM Plex Sans"/>
                <a:cs typeface="IBM Plex Sans"/>
              </a:endParaRPr>
            </a:p>
          </p:txBody>
        </p:sp>
      </p:grpSp>
      <p:grpSp>
        <p:nvGrpSpPr>
          <p:cNvPr id="186" name="rating-5-1"/>
          <p:cNvGrpSpPr/>
          <p:nvPr/>
        </p:nvGrpSpPr>
        <p:grpSpPr>
          <a:xfrm>
            <a:off x="3467100" y="3403600"/>
            <a:ext cx="1320800" cy="355600"/>
            <a:chOff x="3467100" y="3403600"/>
            <a:chExt cx="1320800" cy="355600"/>
          </a:xfrm>
        </p:grpSpPr>
        <p:sp>
          <p:nvSpPr>
            <p:cNvPr id="77" name="rating-5-1.surface"/>
            <p:cNvSpPr/>
            <p:nvPr/>
          </p:nvSpPr>
          <p:spPr>
            <a:xfrm>
              <a:off x="3467100" y="3403600"/>
              <a:ext cx="1320800" cy="355600"/>
            </a:xfrm>
            <a:prstGeom prst="rect">
              <a:avLst/>
            </a:prstGeom>
            <a:solidFill>
              <a:srgbClr val="FFFFFF"/>
            </a:solidFill>
            <a:ln>
              <a:noFill/>
            </a:ln>
          </p:spPr>
        </p:sp>
        <p:sp>
          <p:nvSpPr>
            <p:cNvPr id="78" name="rating-5-1.text"/>
            <p:cNvSpPr/>
            <p:nvPr/>
          </p:nvSpPr>
          <p:spPr>
            <a:xfrm>
              <a:off x="36195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7" name="rating-5-2"/>
          <p:cNvGrpSpPr/>
          <p:nvPr/>
        </p:nvGrpSpPr>
        <p:grpSpPr>
          <a:xfrm>
            <a:off x="4800600" y="3403600"/>
            <a:ext cx="1320800" cy="355600"/>
            <a:chOff x="4800600" y="3403600"/>
            <a:chExt cx="1320800" cy="355600"/>
          </a:xfrm>
        </p:grpSpPr>
        <p:sp>
          <p:nvSpPr>
            <p:cNvPr id="79" name="rating-5-2.surface"/>
            <p:cNvSpPr/>
            <p:nvPr/>
          </p:nvSpPr>
          <p:spPr>
            <a:xfrm>
              <a:off x="4800600" y="3403600"/>
              <a:ext cx="1320800" cy="355600"/>
            </a:xfrm>
            <a:prstGeom prst="rect">
              <a:avLst/>
            </a:prstGeom>
            <a:solidFill>
              <a:srgbClr val="FFFFFF"/>
            </a:solidFill>
            <a:ln>
              <a:noFill/>
            </a:ln>
          </p:spPr>
        </p:sp>
        <p:sp>
          <p:nvSpPr>
            <p:cNvPr id="80" name="rating-5-2.text"/>
            <p:cNvSpPr/>
            <p:nvPr/>
          </p:nvSpPr>
          <p:spPr>
            <a:xfrm>
              <a:off x="49530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8" name="rating-5-3"/>
          <p:cNvGrpSpPr/>
          <p:nvPr/>
        </p:nvGrpSpPr>
        <p:grpSpPr>
          <a:xfrm>
            <a:off x="6134100" y="3403600"/>
            <a:ext cx="1320800" cy="355600"/>
            <a:chOff x="6134100" y="3403600"/>
            <a:chExt cx="1320800" cy="355600"/>
          </a:xfrm>
        </p:grpSpPr>
        <p:sp>
          <p:nvSpPr>
            <p:cNvPr id="81" name="rating-5-3.surface"/>
            <p:cNvSpPr/>
            <p:nvPr/>
          </p:nvSpPr>
          <p:spPr>
            <a:xfrm>
              <a:off x="6134100" y="3403600"/>
              <a:ext cx="1320800" cy="355600"/>
            </a:xfrm>
            <a:prstGeom prst="rect">
              <a:avLst/>
            </a:prstGeom>
            <a:solidFill>
              <a:srgbClr val="CED7E6"/>
            </a:solidFill>
            <a:ln>
              <a:noFill/>
            </a:ln>
          </p:spPr>
        </p:sp>
        <p:sp>
          <p:nvSpPr>
            <p:cNvPr id="82" name="rating-5-3.text"/>
            <p:cNvSpPr/>
            <p:nvPr/>
          </p:nvSpPr>
          <p:spPr>
            <a:xfrm>
              <a:off x="62865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Variable / pocket</a:t>
              </a:r>
              <a:endParaRPr lang="en-US" sz="900" spc="0" kern="0" b="0" i="0" dirty="0">
                <a:solidFill>
                  <a:srgbClr val="070154"/>
                </a:solidFill>
                <a:latin typeface="IBM Plex Sans"/>
                <a:ea typeface="IBM Plex Sans"/>
                <a:cs typeface="IBM Plex Sans"/>
              </a:endParaRPr>
            </a:p>
          </p:txBody>
        </p:sp>
      </p:grpSp>
      <p:grpSp>
        <p:nvGrpSpPr>
          <p:cNvPr id="189" name="rating-5-4"/>
          <p:cNvGrpSpPr/>
          <p:nvPr/>
        </p:nvGrpSpPr>
        <p:grpSpPr>
          <a:xfrm>
            <a:off x="7467600" y="3403600"/>
            <a:ext cx="1320800" cy="355600"/>
            <a:chOff x="7467600" y="3403600"/>
            <a:chExt cx="1320800" cy="355600"/>
          </a:xfrm>
        </p:grpSpPr>
        <p:sp>
          <p:nvSpPr>
            <p:cNvPr id="83" name="rating-5-4.surface"/>
            <p:cNvSpPr/>
            <p:nvPr/>
          </p:nvSpPr>
          <p:spPr>
            <a:xfrm>
              <a:off x="7467600" y="3403600"/>
              <a:ext cx="1320800" cy="355600"/>
            </a:xfrm>
            <a:prstGeom prst="rect">
              <a:avLst/>
            </a:prstGeom>
            <a:solidFill>
              <a:srgbClr val="FFFFFF"/>
            </a:solidFill>
            <a:ln>
              <a:noFill/>
            </a:ln>
          </p:spPr>
        </p:sp>
        <p:sp>
          <p:nvSpPr>
            <p:cNvPr id="84" name="rating-5-4.text"/>
            <p:cNvSpPr/>
            <p:nvPr/>
          </p:nvSpPr>
          <p:spPr>
            <a:xfrm>
              <a:off x="76200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0" name="rating-5-5"/>
          <p:cNvGrpSpPr/>
          <p:nvPr/>
        </p:nvGrpSpPr>
        <p:grpSpPr>
          <a:xfrm>
            <a:off x="8801100" y="3403600"/>
            <a:ext cx="1320800" cy="355600"/>
            <a:chOff x="8801100" y="3403600"/>
            <a:chExt cx="1320800" cy="355600"/>
          </a:xfrm>
        </p:grpSpPr>
        <p:sp>
          <p:nvSpPr>
            <p:cNvPr id="85" name="rating-5-5.surface"/>
            <p:cNvSpPr/>
            <p:nvPr/>
          </p:nvSpPr>
          <p:spPr>
            <a:xfrm>
              <a:off x="8801100" y="3403600"/>
              <a:ext cx="1320800" cy="355600"/>
            </a:xfrm>
            <a:prstGeom prst="rect">
              <a:avLst/>
            </a:prstGeom>
            <a:solidFill>
              <a:srgbClr val="FFFFFF"/>
            </a:solidFill>
            <a:ln>
              <a:noFill/>
            </a:ln>
          </p:spPr>
        </p:sp>
        <p:sp>
          <p:nvSpPr>
            <p:cNvPr id="86" name="rating-5-5.text"/>
            <p:cNvSpPr/>
            <p:nvPr/>
          </p:nvSpPr>
          <p:spPr>
            <a:xfrm>
              <a:off x="89535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1" name="rating-5-6"/>
          <p:cNvGrpSpPr/>
          <p:nvPr/>
        </p:nvGrpSpPr>
        <p:grpSpPr>
          <a:xfrm>
            <a:off x="10134600" y="3403600"/>
            <a:ext cx="1320800" cy="355600"/>
            <a:chOff x="10134600" y="3403600"/>
            <a:chExt cx="1320800" cy="355600"/>
          </a:xfrm>
        </p:grpSpPr>
        <p:sp>
          <p:nvSpPr>
            <p:cNvPr id="87" name="rating-5-6.surface"/>
            <p:cNvSpPr/>
            <p:nvPr/>
          </p:nvSpPr>
          <p:spPr>
            <a:xfrm>
              <a:off x="10134600" y="3403600"/>
              <a:ext cx="1320800" cy="355600"/>
            </a:xfrm>
            <a:prstGeom prst="rect">
              <a:avLst/>
            </a:prstGeom>
            <a:solidFill>
              <a:srgbClr val="FFFFFF"/>
            </a:solidFill>
            <a:ln>
              <a:noFill/>
            </a:ln>
          </p:spPr>
        </p:sp>
        <p:sp>
          <p:nvSpPr>
            <p:cNvPr id="88" name="rating-5-6.text"/>
            <p:cNvSpPr/>
            <p:nvPr/>
          </p:nvSpPr>
          <p:spPr>
            <a:xfrm>
              <a:off x="102870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2" name="rating-6-0"/>
          <p:cNvGrpSpPr/>
          <p:nvPr/>
        </p:nvGrpSpPr>
        <p:grpSpPr>
          <a:xfrm>
            <a:off x="723900" y="3759200"/>
            <a:ext cx="2730500" cy="355600"/>
            <a:chOff x="723900" y="3759200"/>
            <a:chExt cx="2730500" cy="355600"/>
          </a:xfrm>
        </p:grpSpPr>
        <p:sp>
          <p:nvSpPr>
            <p:cNvPr id="89" name="rating-6-0.surface"/>
            <p:cNvSpPr/>
            <p:nvPr/>
          </p:nvSpPr>
          <p:spPr>
            <a:xfrm>
              <a:off x="723900" y="3759200"/>
              <a:ext cx="2730500" cy="355600"/>
            </a:xfrm>
            <a:prstGeom prst="rect">
              <a:avLst/>
            </a:prstGeom>
            <a:solidFill>
              <a:srgbClr val="E8EEF8"/>
            </a:solidFill>
            <a:ln>
              <a:noFill/>
            </a:ln>
          </p:spPr>
        </p:sp>
        <p:sp>
          <p:nvSpPr>
            <p:cNvPr id="90" name="rating-6-0.text"/>
            <p:cNvSpPr/>
            <p:nvPr/>
          </p:nvSpPr>
          <p:spPr>
            <a:xfrm>
              <a:off x="876300" y="38608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Release validation</a:t>
              </a:r>
              <a:endParaRPr lang="en-US" sz="900" spc="0" kern="0" b="0" i="0" dirty="0">
                <a:solidFill>
                  <a:srgbClr val="070154"/>
                </a:solidFill>
                <a:latin typeface="IBM Plex Sans"/>
                <a:ea typeface="IBM Plex Sans"/>
                <a:cs typeface="IBM Plex Sans"/>
              </a:endParaRPr>
            </a:p>
          </p:txBody>
        </p:sp>
      </p:grpSp>
      <p:grpSp>
        <p:nvGrpSpPr>
          <p:cNvPr id="193" name="rating-6-1"/>
          <p:cNvGrpSpPr/>
          <p:nvPr/>
        </p:nvGrpSpPr>
        <p:grpSpPr>
          <a:xfrm>
            <a:off x="3467100" y="3759200"/>
            <a:ext cx="1320800" cy="355600"/>
            <a:chOff x="3467100" y="3759200"/>
            <a:chExt cx="1320800" cy="355600"/>
          </a:xfrm>
        </p:grpSpPr>
        <p:sp>
          <p:nvSpPr>
            <p:cNvPr id="91" name="rating-6-1.surface"/>
            <p:cNvSpPr/>
            <p:nvPr/>
          </p:nvSpPr>
          <p:spPr>
            <a:xfrm>
              <a:off x="3467100" y="3759200"/>
              <a:ext cx="1320800" cy="355600"/>
            </a:xfrm>
            <a:prstGeom prst="rect">
              <a:avLst/>
            </a:prstGeom>
            <a:solidFill>
              <a:srgbClr val="FFFFFF"/>
            </a:solidFill>
            <a:ln>
              <a:noFill/>
            </a:ln>
          </p:spPr>
        </p:sp>
        <p:sp>
          <p:nvSpPr>
            <p:cNvPr id="92" name="rating-6-1.text"/>
            <p:cNvSpPr/>
            <p:nvPr/>
          </p:nvSpPr>
          <p:spPr>
            <a:xfrm>
              <a:off x="36195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4" name="rating-6-2"/>
          <p:cNvGrpSpPr/>
          <p:nvPr/>
        </p:nvGrpSpPr>
        <p:grpSpPr>
          <a:xfrm>
            <a:off x="4800600" y="3759200"/>
            <a:ext cx="1320800" cy="355600"/>
            <a:chOff x="4800600" y="3759200"/>
            <a:chExt cx="1320800" cy="355600"/>
          </a:xfrm>
        </p:grpSpPr>
        <p:sp>
          <p:nvSpPr>
            <p:cNvPr id="93" name="rating-6-2.surface"/>
            <p:cNvSpPr/>
            <p:nvPr/>
          </p:nvSpPr>
          <p:spPr>
            <a:xfrm>
              <a:off x="4800600" y="3759200"/>
              <a:ext cx="1320800" cy="355600"/>
            </a:xfrm>
            <a:prstGeom prst="rect">
              <a:avLst/>
            </a:prstGeom>
            <a:solidFill>
              <a:srgbClr val="FFFFFF"/>
            </a:solidFill>
            <a:ln>
              <a:noFill/>
            </a:ln>
          </p:spPr>
        </p:sp>
        <p:sp>
          <p:nvSpPr>
            <p:cNvPr id="94" name="rating-6-2.text"/>
            <p:cNvSpPr/>
            <p:nvPr/>
          </p:nvSpPr>
          <p:spPr>
            <a:xfrm>
              <a:off x="49530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5" name="rating-6-3"/>
          <p:cNvGrpSpPr/>
          <p:nvPr/>
        </p:nvGrpSpPr>
        <p:grpSpPr>
          <a:xfrm>
            <a:off x="6134100" y="3759200"/>
            <a:ext cx="1320800" cy="355600"/>
            <a:chOff x="6134100" y="3759200"/>
            <a:chExt cx="1320800" cy="355600"/>
          </a:xfrm>
        </p:grpSpPr>
        <p:sp>
          <p:nvSpPr>
            <p:cNvPr id="95" name="rating-6-3.surface"/>
            <p:cNvSpPr/>
            <p:nvPr/>
          </p:nvSpPr>
          <p:spPr>
            <a:xfrm>
              <a:off x="6134100" y="3759200"/>
              <a:ext cx="1320800" cy="355600"/>
            </a:xfrm>
            <a:prstGeom prst="rect">
              <a:avLst/>
            </a:prstGeom>
            <a:solidFill>
              <a:srgbClr val="FFFFFF"/>
            </a:solidFill>
            <a:ln>
              <a:noFill/>
            </a:ln>
          </p:spPr>
        </p:sp>
        <p:sp>
          <p:nvSpPr>
            <p:cNvPr id="96" name="rating-6-3.text"/>
            <p:cNvSpPr/>
            <p:nvPr/>
          </p:nvSpPr>
          <p:spPr>
            <a:xfrm>
              <a:off x="62865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6" name="rating-6-4"/>
          <p:cNvGrpSpPr/>
          <p:nvPr/>
        </p:nvGrpSpPr>
        <p:grpSpPr>
          <a:xfrm>
            <a:off x="7467600" y="3759200"/>
            <a:ext cx="1320800" cy="355600"/>
            <a:chOff x="7467600" y="3759200"/>
            <a:chExt cx="1320800" cy="355600"/>
          </a:xfrm>
        </p:grpSpPr>
        <p:sp>
          <p:nvSpPr>
            <p:cNvPr id="97" name="rating-6-4.surface"/>
            <p:cNvSpPr/>
            <p:nvPr/>
          </p:nvSpPr>
          <p:spPr>
            <a:xfrm>
              <a:off x="7467600" y="3759200"/>
              <a:ext cx="1320800" cy="355600"/>
            </a:xfrm>
            <a:prstGeom prst="rect">
              <a:avLst/>
            </a:prstGeom>
            <a:solidFill>
              <a:srgbClr val="E8EEF8"/>
            </a:solidFill>
            <a:ln>
              <a:noFill/>
            </a:ln>
          </p:spPr>
        </p:sp>
        <p:sp>
          <p:nvSpPr>
            <p:cNvPr id="98" name="rating-6-4.text"/>
            <p:cNvSpPr/>
            <p:nvPr/>
          </p:nvSpPr>
          <p:spPr>
            <a:xfrm>
              <a:off x="76200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Emerging</a:t>
              </a:r>
              <a:endParaRPr lang="en-US" sz="900" spc="0" kern="0" b="0" i="0" dirty="0">
                <a:solidFill>
                  <a:srgbClr val="070154"/>
                </a:solidFill>
                <a:latin typeface="IBM Plex Sans"/>
                <a:ea typeface="IBM Plex Sans"/>
                <a:cs typeface="IBM Plex Sans"/>
              </a:endParaRPr>
            </a:p>
          </p:txBody>
        </p:sp>
      </p:grpSp>
      <p:grpSp>
        <p:nvGrpSpPr>
          <p:cNvPr id="197" name="rating-6-5"/>
          <p:cNvGrpSpPr/>
          <p:nvPr/>
        </p:nvGrpSpPr>
        <p:grpSpPr>
          <a:xfrm>
            <a:off x="8801100" y="3759200"/>
            <a:ext cx="1320800" cy="355600"/>
            <a:chOff x="8801100" y="3759200"/>
            <a:chExt cx="1320800" cy="355600"/>
          </a:xfrm>
        </p:grpSpPr>
        <p:sp>
          <p:nvSpPr>
            <p:cNvPr id="99" name="rating-6-5.surface"/>
            <p:cNvSpPr/>
            <p:nvPr/>
          </p:nvSpPr>
          <p:spPr>
            <a:xfrm>
              <a:off x="8801100" y="3759200"/>
              <a:ext cx="1320800" cy="355600"/>
            </a:xfrm>
            <a:prstGeom prst="rect">
              <a:avLst/>
            </a:prstGeom>
            <a:solidFill>
              <a:srgbClr val="FFFFFF"/>
            </a:solidFill>
            <a:ln>
              <a:noFill/>
            </a:ln>
          </p:spPr>
        </p:sp>
        <p:sp>
          <p:nvSpPr>
            <p:cNvPr id="100" name="rating-6-5.text"/>
            <p:cNvSpPr/>
            <p:nvPr/>
          </p:nvSpPr>
          <p:spPr>
            <a:xfrm>
              <a:off x="89535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8" name="rating-6-6"/>
          <p:cNvGrpSpPr/>
          <p:nvPr/>
        </p:nvGrpSpPr>
        <p:grpSpPr>
          <a:xfrm>
            <a:off x="10134600" y="3759200"/>
            <a:ext cx="1320800" cy="355600"/>
            <a:chOff x="10134600" y="3759200"/>
            <a:chExt cx="1320800" cy="355600"/>
          </a:xfrm>
        </p:grpSpPr>
        <p:sp>
          <p:nvSpPr>
            <p:cNvPr id="101" name="rating-6-6.surface"/>
            <p:cNvSpPr/>
            <p:nvPr/>
          </p:nvSpPr>
          <p:spPr>
            <a:xfrm>
              <a:off x="10134600" y="3759200"/>
              <a:ext cx="1320800" cy="355600"/>
            </a:xfrm>
            <a:prstGeom prst="rect">
              <a:avLst/>
            </a:prstGeom>
            <a:solidFill>
              <a:srgbClr val="FFFFFF"/>
            </a:solidFill>
            <a:ln>
              <a:noFill/>
            </a:ln>
          </p:spPr>
        </p:sp>
        <p:sp>
          <p:nvSpPr>
            <p:cNvPr id="102" name="rating-6-6.text"/>
            <p:cNvSpPr/>
            <p:nvPr/>
          </p:nvSpPr>
          <p:spPr>
            <a:xfrm>
              <a:off x="102870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9" name="rating-7-0"/>
          <p:cNvGrpSpPr/>
          <p:nvPr/>
        </p:nvGrpSpPr>
        <p:grpSpPr>
          <a:xfrm>
            <a:off x="723900" y="4114800"/>
            <a:ext cx="2730500" cy="355600"/>
            <a:chOff x="723900" y="4114800"/>
            <a:chExt cx="2730500" cy="355600"/>
          </a:xfrm>
        </p:grpSpPr>
        <p:sp>
          <p:nvSpPr>
            <p:cNvPr id="103" name="rating-7-0.surface"/>
            <p:cNvSpPr/>
            <p:nvPr/>
          </p:nvSpPr>
          <p:spPr>
            <a:xfrm>
              <a:off x="723900" y="4114800"/>
              <a:ext cx="2730500" cy="355600"/>
            </a:xfrm>
            <a:prstGeom prst="rect">
              <a:avLst/>
            </a:prstGeom>
            <a:solidFill>
              <a:srgbClr val="E8EEF8"/>
            </a:solidFill>
            <a:ln>
              <a:noFill/>
            </a:ln>
          </p:spPr>
        </p:sp>
        <p:sp>
          <p:nvSpPr>
            <p:cNvPr id="104" name="rating-7-0.text"/>
            <p:cNvSpPr/>
            <p:nvPr/>
          </p:nvSpPr>
          <p:spPr>
            <a:xfrm>
              <a:off x="876300" y="42164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Commercialization and enablement</a:t>
              </a:r>
              <a:endParaRPr lang="en-US" sz="900" spc="0" kern="0" b="0" i="0" dirty="0">
                <a:solidFill>
                  <a:srgbClr val="070154"/>
                </a:solidFill>
                <a:latin typeface="IBM Plex Sans"/>
                <a:ea typeface="IBM Plex Sans"/>
                <a:cs typeface="IBM Plex Sans"/>
              </a:endParaRPr>
            </a:p>
          </p:txBody>
        </p:sp>
      </p:grpSp>
      <p:grpSp>
        <p:nvGrpSpPr>
          <p:cNvPr id="200" name="rating-7-1"/>
          <p:cNvGrpSpPr/>
          <p:nvPr/>
        </p:nvGrpSpPr>
        <p:grpSpPr>
          <a:xfrm>
            <a:off x="3467100" y="4114800"/>
            <a:ext cx="1320800" cy="355600"/>
            <a:chOff x="3467100" y="4114800"/>
            <a:chExt cx="1320800" cy="355600"/>
          </a:xfrm>
        </p:grpSpPr>
        <p:sp>
          <p:nvSpPr>
            <p:cNvPr id="105" name="rating-7-1.surface"/>
            <p:cNvSpPr/>
            <p:nvPr/>
          </p:nvSpPr>
          <p:spPr>
            <a:xfrm>
              <a:off x="3467100" y="4114800"/>
              <a:ext cx="1320800" cy="355600"/>
            </a:xfrm>
            <a:prstGeom prst="rect">
              <a:avLst/>
            </a:prstGeom>
            <a:solidFill>
              <a:srgbClr val="FFFFFF"/>
            </a:solidFill>
            <a:ln>
              <a:noFill/>
            </a:ln>
          </p:spPr>
        </p:sp>
        <p:sp>
          <p:nvSpPr>
            <p:cNvPr id="106" name="rating-7-1.text"/>
            <p:cNvSpPr/>
            <p:nvPr/>
          </p:nvSpPr>
          <p:spPr>
            <a:xfrm>
              <a:off x="36195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01" name="rating-7-2"/>
          <p:cNvGrpSpPr/>
          <p:nvPr/>
        </p:nvGrpSpPr>
        <p:grpSpPr>
          <a:xfrm>
            <a:off x="4800600" y="4114800"/>
            <a:ext cx="1320800" cy="355600"/>
            <a:chOff x="4800600" y="4114800"/>
            <a:chExt cx="1320800" cy="355600"/>
          </a:xfrm>
        </p:grpSpPr>
        <p:sp>
          <p:nvSpPr>
            <p:cNvPr id="107" name="rating-7-2.surface"/>
            <p:cNvSpPr/>
            <p:nvPr/>
          </p:nvSpPr>
          <p:spPr>
            <a:xfrm>
              <a:off x="4800600" y="4114800"/>
              <a:ext cx="1320800" cy="355600"/>
            </a:xfrm>
            <a:prstGeom prst="rect">
              <a:avLst/>
            </a:prstGeom>
            <a:solidFill>
              <a:srgbClr val="FFFFFF"/>
            </a:solidFill>
            <a:ln>
              <a:noFill/>
            </a:ln>
          </p:spPr>
        </p:sp>
        <p:sp>
          <p:nvSpPr>
            <p:cNvPr id="108" name="rating-7-2.text"/>
            <p:cNvSpPr/>
            <p:nvPr/>
          </p:nvSpPr>
          <p:spPr>
            <a:xfrm>
              <a:off x="49530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02" name="rating-7-3"/>
          <p:cNvGrpSpPr/>
          <p:nvPr/>
        </p:nvGrpSpPr>
        <p:grpSpPr>
          <a:xfrm>
            <a:off x="6134100" y="4114800"/>
            <a:ext cx="1320800" cy="355600"/>
            <a:chOff x="6134100" y="4114800"/>
            <a:chExt cx="1320800" cy="355600"/>
          </a:xfrm>
        </p:grpSpPr>
        <p:sp>
          <p:nvSpPr>
            <p:cNvPr id="109" name="rating-7-3.surface"/>
            <p:cNvSpPr/>
            <p:nvPr/>
          </p:nvSpPr>
          <p:spPr>
            <a:xfrm>
              <a:off x="6134100" y="4114800"/>
              <a:ext cx="1320800" cy="355600"/>
            </a:xfrm>
            <a:prstGeom prst="rect">
              <a:avLst/>
            </a:prstGeom>
            <a:solidFill>
              <a:srgbClr val="FFFFFF"/>
            </a:solidFill>
            <a:ln>
              <a:noFill/>
            </a:ln>
          </p:spPr>
        </p:sp>
        <p:sp>
          <p:nvSpPr>
            <p:cNvPr id="110" name="rating-7-3.text"/>
            <p:cNvSpPr/>
            <p:nvPr/>
          </p:nvSpPr>
          <p:spPr>
            <a:xfrm>
              <a:off x="62865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03" name="rating-7-4"/>
          <p:cNvGrpSpPr/>
          <p:nvPr/>
        </p:nvGrpSpPr>
        <p:grpSpPr>
          <a:xfrm>
            <a:off x="7467600" y="4114800"/>
            <a:ext cx="1320800" cy="355600"/>
            <a:chOff x="7467600" y="4114800"/>
            <a:chExt cx="1320800" cy="355600"/>
          </a:xfrm>
        </p:grpSpPr>
        <p:sp>
          <p:nvSpPr>
            <p:cNvPr id="111" name="rating-7-4.surface"/>
            <p:cNvSpPr/>
            <p:nvPr/>
          </p:nvSpPr>
          <p:spPr>
            <a:xfrm>
              <a:off x="7467600" y="4114800"/>
              <a:ext cx="1320800" cy="355600"/>
            </a:xfrm>
            <a:prstGeom prst="rect">
              <a:avLst/>
            </a:prstGeom>
            <a:solidFill>
              <a:srgbClr val="FFFFFF"/>
            </a:solidFill>
            <a:ln>
              <a:noFill/>
            </a:ln>
          </p:spPr>
        </p:sp>
        <p:sp>
          <p:nvSpPr>
            <p:cNvPr id="112" name="rating-7-4.text"/>
            <p:cNvSpPr/>
            <p:nvPr/>
          </p:nvSpPr>
          <p:spPr>
            <a:xfrm>
              <a:off x="76200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204" name="rating-7-5"/>
          <p:cNvGrpSpPr/>
          <p:nvPr/>
        </p:nvGrpSpPr>
        <p:grpSpPr>
          <a:xfrm>
            <a:off x="8801100" y="4114800"/>
            <a:ext cx="1320800" cy="355600"/>
            <a:chOff x="8801100" y="4114800"/>
            <a:chExt cx="1320800" cy="355600"/>
          </a:xfrm>
        </p:grpSpPr>
        <p:sp>
          <p:nvSpPr>
            <p:cNvPr id="113" name="rating-7-5.surface"/>
            <p:cNvSpPr/>
            <p:nvPr/>
          </p:nvSpPr>
          <p:spPr>
            <a:xfrm>
              <a:off x="8801100" y="4114800"/>
              <a:ext cx="1320800" cy="355600"/>
            </a:xfrm>
            <a:prstGeom prst="rect">
              <a:avLst/>
            </a:prstGeom>
            <a:solidFill>
              <a:srgbClr val="FFFFFF"/>
            </a:solidFill>
            <a:ln>
              <a:noFill/>
            </a:ln>
          </p:spPr>
        </p:sp>
        <p:sp>
          <p:nvSpPr>
            <p:cNvPr id="114" name="rating-7-5.text"/>
            <p:cNvSpPr/>
            <p:nvPr/>
          </p:nvSpPr>
          <p:spPr>
            <a:xfrm>
              <a:off x="89535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205" name="rating-7-6"/>
          <p:cNvGrpSpPr/>
          <p:nvPr/>
        </p:nvGrpSpPr>
        <p:grpSpPr>
          <a:xfrm>
            <a:off x="10134600" y="4114800"/>
            <a:ext cx="1320800" cy="355600"/>
            <a:chOff x="10134600" y="4114800"/>
            <a:chExt cx="1320800" cy="355600"/>
          </a:xfrm>
        </p:grpSpPr>
        <p:sp>
          <p:nvSpPr>
            <p:cNvPr id="115" name="rating-7-6.surface"/>
            <p:cNvSpPr/>
            <p:nvPr/>
          </p:nvSpPr>
          <p:spPr>
            <a:xfrm>
              <a:off x="10134600" y="4114800"/>
              <a:ext cx="1320800" cy="355600"/>
            </a:xfrm>
            <a:prstGeom prst="rect">
              <a:avLst/>
            </a:prstGeom>
            <a:solidFill>
              <a:srgbClr val="E8EEF8"/>
            </a:solidFill>
            <a:ln>
              <a:noFill/>
            </a:ln>
          </p:spPr>
        </p:sp>
        <p:sp>
          <p:nvSpPr>
            <p:cNvPr id="116" name="rating-7-6.text"/>
            <p:cNvSpPr/>
            <p:nvPr/>
          </p:nvSpPr>
          <p:spPr>
            <a:xfrm>
              <a:off x="102870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Emerging</a:t>
              </a:r>
              <a:endParaRPr lang="en-US" sz="900" spc="0" kern="0" b="0" i="0" dirty="0">
                <a:solidFill>
                  <a:srgbClr val="070154"/>
                </a:solidFill>
                <a:latin typeface="IBM Plex Sans"/>
                <a:ea typeface="IBM Plex Sans"/>
                <a:cs typeface="IBM Plex Sans"/>
              </a:endParaRPr>
            </a:p>
          </p:txBody>
        </p:sp>
      </p:grpSp>
      <p:grpSp>
        <p:nvGrpSpPr>
          <p:cNvPr id="206" name="rating-8-0"/>
          <p:cNvGrpSpPr/>
          <p:nvPr/>
        </p:nvGrpSpPr>
        <p:grpSpPr>
          <a:xfrm>
            <a:off x="723900" y="4470400"/>
            <a:ext cx="2730500" cy="355600"/>
            <a:chOff x="723900" y="4470400"/>
            <a:chExt cx="2730500" cy="355600"/>
          </a:xfrm>
        </p:grpSpPr>
        <p:sp>
          <p:nvSpPr>
            <p:cNvPr id="117" name="rating-8-0.surface"/>
            <p:cNvSpPr/>
            <p:nvPr/>
          </p:nvSpPr>
          <p:spPr>
            <a:xfrm>
              <a:off x="723900" y="4470400"/>
              <a:ext cx="2730500" cy="355600"/>
            </a:xfrm>
            <a:prstGeom prst="rect">
              <a:avLst/>
            </a:prstGeom>
            <a:solidFill>
              <a:srgbClr val="E8EEF8"/>
            </a:solidFill>
            <a:ln>
              <a:noFill/>
            </a:ln>
          </p:spPr>
        </p:sp>
        <p:sp>
          <p:nvSpPr>
            <p:cNvPr id="118" name="rating-8-0.text"/>
            <p:cNvSpPr/>
            <p:nvPr/>
          </p:nvSpPr>
          <p:spPr>
            <a:xfrm>
              <a:off x="876300" y="45720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Measurement and feedback</a:t>
              </a:r>
              <a:endParaRPr lang="en-US" sz="900" spc="0" kern="0" b="0" i="0" dirty="0">
                <a:solidFill>
                  <a:srgbClr val="070154"/>
                </a:solidFill>
                <a:latin typeface="IBM Plex Sans"/>
                <a:ea typeface="IBM Plex Sans"/>
                <a:cs typeface="IBM Plex Sans"/>
              </a:endParaRPr>
            </a:p>
          </p:txBody>
        </p:sp>
      </p:grpSp>
      <p:grpSp>
        <p:nvGrpSpPr>
          <p:cNvPr id="207" name="rating-8-1"/>
          <p:cNvGrpSpPr/>
          <p:nvPr/>
        </p:nvGrpSpPr>
        <p:grpSpPr>
          <a:xfrm>
            <a:off x="3467100" y="4470400"/>
            <a:ext cx="1320800" cy="355600"/>
            <a:chOff x="3467100" y="4470400"/>
            <a:chExt cx="1320800" cy="355600"/>
          </a:xfrm>
        </p:grpSpPr>
        <p:sp>
          <p:nvSpPr>
            <p:cNvPr id="119" name="rating-8-1.surface"/>
            <p:cNvSpPr/>
            <p:nvPr/>
          </p:nvSpPr>
          <p:spPr>
            <a:xfrm>
              <a:off x="3467100" y="4470400"/>
              <a:ext cx="1320800" cy="355600"/>
            </a:xfrm>
            <a:prstGeom prst="rect">
              <a:avLst/>
            </a:prstGeom>
            <a:solidFill>
              <a:srgbClr val="FFFFFF"/>
            </a:solidFill>
            <a:ln>
              <a:noFill/>
            </a:ln>
          </p:spPr>
        </p:sp>
        <p:sp>
          <p:nvSpPr>
            <p:cNvPr id="120" name="rating-8-1.text"/>
            <p:cNvSpPr/>
            <p:nvPr/>
          </p:nvSpPr>
          <p:spPr>
            <a:xfrm>
              <a:off x="36195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08" name="rating-8-2"/>
          <p:cNvGrpSpPr/>
          <p:nvPr/>
        </p:nvGrpSpPr>
        <p:grpSpPr>
          <a:xfrm>
            <a:off x="4800600" y="4470400"/>
            <a:ext cx="1320800" cy="355600"/>
            <a:chOff x="4800600" y="4470400"/>
            <a:chExt cx="1320800" cy="355600"/>
          </a:xfrm>
        </p:grpSpPr>
        <p:sp>
          <p:nvSpPr>
            <p:cNvPr id="121" name="rating-8-2.surface"/>
            <p:cNvSpPr/>
            <p:nvPr/>
          </p:nvSpPr>
          <p:spPr>
            <a:xfrm>
              <a:off x="4800600" y="4470400"/>
              <a:ext cx="1320800" cy="355600"/>
            </a:xfrm>
            <a:prstGeom prst="rect">
              <a:avLst/>
            </a:prstGeom>
            <a:solidFill>
              <a:srgbClr val="FFFFFF"/>
            </a:solidFill>
            <a:ln>
              <a:noFill/>
            </a:ln>
          </p:spPr>
        </p:sp>
        <p:sp>
          <p:nvSpPr>
            <p:cNvPr id="122" name="rating-8-2.text"/>
            <p:cNvSpPr/>
            <p:nvPr/>
          </p:nvSpPr>
          <p:spPr>
            <a:xfrm>
              <a:off x="49530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09" name="rating-8-3"/>
          <p:cNvGrpSpPr/>
          <p:nvPr/>
        </p:nvGrpSpPr>
        <p:grpSpPr>
          <a:xfrm>
            <a:off x="6134100" y="4470400"/>
            <a:ext cx="1320800" cy="355600"/>
            <a:chOff x="6134100" y="4470400"/>
            <a:chExt cx="1320800" cy="355600"/>
          </a:xfrm>
        </p:grpSpPr>
        <p:sp>
          <p:nvSpPr>
            <p:cNvPr id="123" name="rating-8-3.surface"/>
            <p:cNvSpPr/>
            <p:nvPr/>
          </p:nvSpPr>
          <p:spPr>
            <a:xfrm>
              <a:off x="6134100" y="4470400"/>
              <a:ext cx="1320800" cy="355600"/>
            </a:xfrm>
            <a:prstGeom prst="rect">
              <a:avLst/>
            </a:prstGeom>
            <a:solidFill>
              <a:srgbClr val="FFFFFF"/>
            </a:solidFill>
            <a:ln>
              <a:noFill/>
            </a:ln>
          </p:spPr>
        </p:sp>
        <p:sp>
          <p:nvSpPr>
            <p:cNvPr id="124" name="rating-8-3.text"/>
            <p:cNvSpPr/>
            <p:nvPr/>
          </p:nvSpPr>
          <p:spPr>
            <a:xfrm>
              <a:off x="62865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10" name="rating-8-4"/>
          <p:cNvGrpSpPr/>
          <p:nvPr/>
        </p:nvGrpSpPr>
        <p:grpSpPr>
          <a:xfrm>
            <a:off x="7467600" y="4470400"/>
            <a:ext cx="1320800" cy="355600"/>
            <a:chOff x="7467600" y="4470400"/>
            <a:chExt cx="1320800" cy="355600"/>
          </a:xfrm>
        </p:grpSpPr>
        <p:sp>
          <p:nvSpPr>
            <p:cNvPr id="125" name="rating-8-4.surface"/>
            <p:cNvSpPr/>
            <p:nvPr/>
          </p:nvSpPr>
          <p:spPr>
            <a:xfrm>
              <a:off x="7467600" y="4470400"/>
              <a:ext cx="1320800" cy="355600"/>
            </a:xfrm>
            <a:prstGeom prst="rect">
              <a:avLst/>
            </a:prstGeom>
            <a:solidFill>
              <a:srgbClr val="FFFFFF"/>
            </a:solidFill>
            <a:ln>
              <a:noFill/>
            </a:ln>
          </p:spPr>
        </p:sp>
        <p:sp>
          <p:nvSpPr>
            <p:cNvPr id="126" name="rating-8-4.text"/>
            <p:cNvSpPr/>
            <p:nvPr/>
          </p:nvSpPr>
          <p:spPr>
            <a:xfrm>
              <a:off x="76200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11" name="rating-8-5"/>
          <p:cNvGrpSpPr/>
          <p:nvPr/>
        </p:nvGrpSpPr>
        <p:grpSpPr>
          <a:xfrm>
            <a:off x="8801100" y="4470400"/>
            <a:ext cx="1320800" cy="355600"/>
            <a:chOff x="8801100" y="4470400"/>
            <a:chExt cx="1320800" cy="355600"/>
          </a:xfrm>
        </p:grpSpPr>
        <p:sp>
          <p:nvSpPr>
            <p:cNvPr id="127" name="rating-8-5.surface"/>
            <p:cNvSpPr/>
            <p:nvPr/>
          </p:nvSpPr>
          <p:spPr>
            <a:xfrm>
              <a:off x="8801100" y="4470400"/>
              <a:ext cx="1320800" cy="355600"/>
            </a:xfrm>
            <a:prstGeom prst="rect">
              <a:avLst/>
            </a:prstGeom>
            <a:solidFill>
              <a:srgbClr val="FFFFFF"/>
            </a:solidFill>
            <a:ln>
              <a:noFill/>
            </a:ln>
          </p:spPr>
        </p:sp>
        <p:sp>
          <p:nvSpPr>
            <p:cNvPr id="128" name="rating-8-5.text"/>
            <p:cNvSpPr/>
            <p:nvPr/>
          </p:nvSpPr>
          <p:spPr>
            <a:xfrm>
              <a:off x="89535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212" name="rating-8-6"/>
          <p:cNvGrpSpPr/>
          <p:nvPr/>
        </p:nvGrpSpPr>
        <p:grpSpPr>
          <a:xfrm>
            <a:off x="10134600" y="4470400"/>
            <a:ext cx="1320800" cy="355600"/>
            <a:chOff x="10134600" y="4470400"/>
            <a:chExt cx="1320800" cy="355600"/>
          </a:xfrm>
        </p:grpSpPr>
        <p:sp>
          <p:nvSpPr>
            <p:cNvPr id="129" name="rating-8-6.surface"/>
            <p:cNvSpPr/>
            <p:nvPr/>
          </p:nvSpPr>
          <p:spPr>
            <a:xfrm>
              <a:off x="10134600" y="4470400"/>
              <a:ext cx="1320800" cy="355600"/>
            </a:xfrm>
            <a:prstGeom prst="rect">
              <a:avLst/>
            </a:prstGeom>
            <a:solidFill>
              <a:srgbClr val="FFFFFF"/>
            </a:solidFill>
            <a:ln>
              <a:noFill/>
            </a:ln>
          </p:spPr>
        </p:sp>
        <p:sp>
          <p:nvSpPr>
            <p:cNvPr id="130" name="rating-8-6.text"/>
            <p:cNvSpPr/>
            <p:nvPr/>
          </p:nvSpPr>
          <p:spPr>
            <a:xfrm>
              <a:off x="102870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13" name="rating-9-0"/>
          <p:cNvGrpSpPr/>
          <p:nvPr/>
        </p:nvGrpSpPr>
        <p:grpSpPr>
          <a:xfrm>
            <a:off x="723900" y="4826000"/>
            <a:ext cx="2730500" cy="355600"/>
            <a:chOff x="723900" y="4826000"/>
            <a:chExt cx="2730500" cy="355600"/>
          </a:xfrm>
        </p:grpSpPr>
        <p:sp>
          <p:nvSpPr>
            <p:cNvPr id="131" name="rating-9-0.surface"/>
            <p:cNvSpPr/>
            <p:nvPr/>
          </p:nvSpPr>
          <p:spPr>
            <a:xfrm>
              <a:off x="723900" y="4826000"/>
              <a:ext cx="2730500" cy="355600"/>
            </a:xfrm>
            <a:prstGeom prst="rect">
              <a:avLst/>
            </a:prstGeom>
            <a:solidFill>
              <a:srgbClr val="E8EEF8"/>
            </a:solidFill>
            <a:ln>
              <a:noFill/>
            </a:ln>
          </p:spPr>
        </p:sp>
        <p:sp>
          <p:nvSpPr>
            <p:cNvPr id="132" name="rating-9-0.text"/>
            <p:cNvSpPr/>
            <p:nvPr/>
          </p:nvSpPr>
          <p:spPr>
            <a:xfrm>
              <a:off x="876300" y="49276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AI-enabled delivery</a:t>
              </a:r>
              <a:endParaRPr lang="en-US" sz="900" spc="0" kern="0" b="0" i="0" dirty="0">
                <a:solidFill>
                  <a:srgbClr val="070154"/>
                </a:solidFill>
                <a:latin typeface="IBM Plex Sans"/>
                <a:ea typeface="IBM Plex Sans"/>
                <a:cs typeface="IBM Plex Sans"/>
              </a:endParaRPr>
            </a:p>
          </p:txBody>
        </p:sp>
      </p:grpSp>
      <p:grpSp>
        <p:nvGrpSpPr>
          <p:cNvPr id="214" name="rating-9-1"/>
          <p:cNvGrpSpPr/>
          <p:nvPr/>
        </p:nvGrpSpPr>
        <p:grpSpPr>
          <a:xfrm>
            <a:off x="3467100" y="4826000"/>
            <a:ext cx="1320800" cy="355600"/>
            <a:chOff x="3467100" y="4826000"/>
            <a:chExt cx="1320800" cy="355600"/>
          </a:xfrm>
        </p:grpSpPr>
        <p:sp>
          <p:nvSpPr>
            <p:cNvPr id="133" name="rating-9-1.surface"/>
            <p:cNvSpPr/>
            <p:nvPr/>
          </p:nvSpPr>
          <p:spPr>
            <a:xfrm>
              <a:off x="3467100" y="4826000"/>
              <a:ext cx="1320800" cy="355600"/>
            </a:xfrm>
            <a:prstGeom prst="rect">
              <a:avLst/>
            </a:prstGeom>
            <a:solidFill>
              <a:srgbClr val="E8EEF8"/>
            </a:solidFill>
            <a:ln>
              <a:noFill/>
            </a:ln>
          </p:spPr>
        </p:sp>
        <p:sp>
          <p:nvSpPr>
            <p:cNvPr id="134" name="rating-9-1.text"/>
            <p:cNvSpPr/>
            <p:nvPr/>
          </p:nvSpPr>
          <p:spPr>
            <a:xfrm>
              <a:off x="36195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Emerging</a:t>
              </a:r>
              <a:endParaRPr lang="en-US" sz="900" spc="0" kern="0" b="0" i="0" dirty="0">
                <a:solidFill>
                  <a:srgbClr val="070154"/>
                </a:solidFill>
                <a:latin typeface="IBM Plex Sans"/>
                <a:ea typeface="IBM Plex Sans"/>
                <a:cs typeface="IBM Plex Sans"/>
              </a:endParaRPr>
            </a:p>
          </p:txBody>
        </p:sp>
      </p:grpSp>
      <p:grpSp>
        <p:nvGrpSpPr>
          <p:cNvPr id="215" name="rating-9-2"/>
          <p:cNvGrpSpPr/>
          <p:nvPr/>
        </p:nvGrpSpPr>
        <p:grpSpPr>
          <a:xfrm>
            <a:off x="4800600" y="4826000"/>
            <a:ext cx="1320800" cy="355600"/>
            <a:chOff x="4800600" y="4826000"/>
            <a:chExt cx="1320800" cy="355600"/>
          </a:xfrm>
        </p:grpSpPr>
        <p:sp>
          <p:nvSpPr>
            <p:cNvPr id="135" name="rating-9-2.surface"/>
            <p:cNvSpPr/>
            <p:nvPr/>
          </p:nvSpPr>
          <p:spPr>
            <a:xfrm>
              <a:off x="4800600" y="4826000"/>
              <a:ext cx="1320800" cy="355600"/>
            </a:xfrm>
            <a:prstGeom prst="rect">
              <a:avLst/>
            </a:prstGeom>
            <a:solidFill>
              <a:srgbClr val="FFFFFF"/>
            </a:solidFill>
            <a:ln>
              <a:noFill/>
            </a:ln>
          </p:spPr>
        </p:sp>
        <p:sp>
          <p:nvSpPr>
            <p:cNvPr id="136" name="rating-9-2.text"/>
            <p:cNvSpPr/>
            <p:nvPr/>
          </p:nvSpPr>
          <p:spPr>
            <a:xfrm>
              <a:off x="49530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216" name="rating-9-3"/>
          <p:cNvGrpSpPr/>
          <p:nvPr/>
        </p:nvGrpSpPr>
        <p:grpSpPr>
          <a:xfrm>
            <a:off x="6134100" y="4826000"/>
            <a:ext cx="1320800" cy="355600"/>
            <a:chOff x="6134100" y="4826000"/>
            <a:chExt cx="1320800" cy="355600"/>
          </a:xfrm>
        </p:grpSpPr>
        <p:sp>
          <p:nvSpPr>
            <p:cNvPr id="137" name="rating-9-3.surface"/>
            <p:cNvSpPr/>
            <p:nvPr/>
          </p:nvSpPr>
          <p:spPr>
            <a:xfrm>
              <a:off x="6134100" y="4826000"/>
              <a:ext cx="1320800" cy="355600"/>
            </a:xfrm>
            <a:prstGeom prst="rect">
              <a:avLst/>
            </a:prstGeom>
            <a:solidFill>
              <a:srgbClr val="070154"/>
            </a:solidFill>
            <a:ln>
              <a:noFill/>
            </a:ln>
          </p:spPr>
        </p:sp>
        <p:sp>
          <p:nvSpPr>
            <p:cNvPr id="138" name="rating-9-3.text"/>
            <p:cNvSpPr/>
            <p:nvPr/>
          </p:nvSpPr>
          <p:spPr>
            <a:xfrm>
              <a:off x="62865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Leading pocket</a:t>
              </a:r>
              <a:endParaRPr lang="en-US" sz="900" spc="0" kern="0" b="0" i="0" dirty="0">
                <a:solidFill>
                  <a:srgbClr val="FFFFFF"/>
                </a:solidFill>
                <a:latin typeface="IBM Plex Sans"/>
                <a:ea typeface="IBM Plex Sans"/>
                <a:cs typeface="IBM Plex Sans"/>
              </a:endParaRPr>
            </a:p>
          </p:txBody>
        </p:sp>
      </p:grpSp>
      <p:grpSp>
        <p:nvGrpSpPr>
          <p:cNvPr id="217" name="rating-9-4"/>
          <p:cNvGrpSpPr/>
          <p:nvPr/>
        </p:nvGrpSpPr>
        <p:grpSpPr>
          <a:xfrm>
            <a:off x="7467600" y="4826000"/>
            <a:ext cx="1320800" cy="355600"/>
            <a:chOff x="7467600" y="4826000"/>
            <a:chExt cx="1320800" cy="355600"/>
          </a:xfrm>
        </p:grpSpPr>
        <p:sp>
          <p:nvSpPr>
            <p:cNvPr id="139" name="rating-9-4.surface"/>
            <p:cNvSpPr/>
            <p:nvPr/>
          </p:nvSpPr>
          <p:spPr>
            <a:xfrm>
              <a:off x="7467600" y="4826000"/>
              <a:ext cx="1320800" cy="355600"/>
            </a:xfrm>
            <a:prstGeom prst="rect">
              <a:avLst/>
            </a:prstGeom>
            <a:solidFill>
              <a:srgbClr val="FFFFFF"/>
            </a:solidFill>
            <a:ln>
              <a:noFill/>
            </a:ln>
          </p:spPr>
        </p:sp>
        <p:sp>
          <p:nvSpPr>
            <p:cNvPr id="140" name="rating-9-4.text"/>
            <p:cNvSpPr/>
            <p:nvPr/>
          </p:nvSpPr>
          <p:spPr>
            <a:xfrm>
              <a:off x="76200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218" name="rating-9-5"/>
          <p:cNvGrpSpPr/>
          <p:nvPr/>
        </p:nvGrpSpPr>
        <p:grpSpPr>
          <a:xfrm>
            <a:off x="8801100" y="4826000"/>
            <a:ext cx="1320800" cy="355600"/>
            <a:chOff x="8801100" y="4826000"/>
            <a:chExt cx="1320800" cy="355600"/>
          </a:xfrm>
        </p:grpSpPr>
        <p:sp>
          <p:nvSpPr>
            <p:cNvPr id="141" name="rating-9-5.surface"/>
            <p:cNvSpPr/>
            <p:nvPr/>
          </p:nvSpPr>
          <p:spPr>
            <a:xfrm>
              <a:off x="8801100" y="4826000"/>
              <a:ext cx="1320800" cy="355600"/>
            </a:xfrm>
            <a:prstGeom prst="rect">
              <a:avLst/>
            </a:prstGeom>
            <a:solidFill>
              <a:srgbClr val="FFFFFF"/>
            </a:solidFill>
            <a:ln>
              <a:noFill/>
            </a:ln>
          </p:spPr>
        </p:sp>
        <p:sp>
          <p:nvSpPr>
            <p:cNvPr id="142" name="rating-9-5.text"/>
            <p:cNvSpPr/>
            <p:nvPr/>
          </p:nvSpPr>
          <p:spPr>
            <a:xfrm>
              <a:off x="89535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19" name="rating-9-6"/>
          <p:cNvGrpSpPr/>
          <p:nvPr/>
        </p:nvGrpSpPr>
        <p:grpSpPr>
          <a:xfrm>
            <a:off x="10134600" y="4826000"/>
            <a:ext cx="1320800" cy="355600"/>
            <a:chOff x="10134600" y="4826000"/>
            <a:chExt cx="1320800" cy="355600"/>
          </a:xfrm>
        </p:grpSpPr>
        <p:sp>
          <p:nvSpPr>
            <p:cNvPr id="143" name="rating-9-6.surface"/>
            <p:cNvSpPr/>
            <p:nvPr/>
          </p:nvSpPr>
          <p:spPr>
            <a:xfrm>
              <a:off x="10134600" y="4826000"/>
              <a:ext cx="1320800" cy="355600"/>
            </a:xfrm>
            <a:prstGeom prst="rect">
              <a:avLst/>
            </a:prstGeom>
            <a:solidFill>
              <a:srgbClr val="FFFFFF"/>
            </a:solidFill>
            <a:ln>
              <a:noFill/>
            </a:ln>
          </p:spPr>
        </p:sp>
        <p:sp>
          <p:nvSpPr>
            <p:cNvPr id="144" name="rating-9-6.text"/>
            <p:cNvSpPr/>
            <p:nvPr/>
          </p:nvSpPr>
          <p:spPr>
            <a:xfrm>
              <a:off x="102870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20" name="qualification"/>
          <p:cNvGrpSpPr/>
          <p:nvPr/>
        </p:nvGrpSpPr>
        <p:grpSpPr>
          <a:xfrm>
            <a:off x="723900" y="5410200"/>
            <a:ext cx="10744200" cy="533400"/>
            <a:chOff x="723900" y="5410200"/>
            <a:chExt cx="10744200" cy="533400"/>
          </a:xfrm>
        </p:grpSpPr>
        <p:sp>
          <p:nvSpPr>
            <p:cNvPr id="145" name="qualification.surface"/>
            <p:cNvSpPr/>
            <p:nvPr/>
          </p:nvSpPr>
          <p:spPr>
            <a:xfrm>
              <a:off x="723900" y="5410200"/>
              <a:ext cx="10744200" cy="533400"/>
            </a:xfrm>
            <a:prstGeom prst="rect">
              <a:avLst/>
            </a:prstGeom>
            <a:solidFill>
              <a:srgbClr val="E8EEF8"/>
            </a:solidFill>
            <a:ln>
              <a:noFill/>
            </a:ln>
          </p:spPr>
        </p:sp>
        <p:sp>
          <p:nvSpPr>
            <p:cNvPr id="146" name="qualification.text"/>
            <p:cNvSpPr/>
            <p:nvPr/>
          </p:nvSpPr>
          <p:spPr>
            <a:xfrm>
              <a:off x="876300" y="55626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Ratings are working hypotheses based on limited conversations and observations with DXC team.</a:t>
              </a:r>
              <a:endParaRPr lang="en-US" sz="1200" spc="0" kern="0" b="0" i="0" dirty="0">
                <a:solidFill>
                  <a:srgbClr val="070154"/>
                </a:solidFill>
                <a:latin typeface="IBM Plex Sans"/>
                <a:ea typeface="IBM Plex Sans"/>
                <a:cs typeface="IBM Plex Sans"/>
              </a:endParaRPr>
            </a:p>
          </p:txBody>
        </p:sp>
      </p:grpSp>
      <p:grpSp>
        <p:nvGrpSpPr>
          <p:cNvPr id="221" name="authored-header"/>
          <p:cNvGrpSpPr/>
          <p:nvPr/>
        </p:nvGrpSpPr>
        <p:grpSpPr>
          <a:xfrm>
            <a:off x="723900" y="685800"/>
            <a:ext cx="9372600" cy="914400"/>
            <a:chOff x="723900" y="685800"/>
            <a:chExt cx="9372600" cy="914400"/>
          </a:xfrm>
        </p:grpSpPr>
        <p:sp>
          <p:nvSpPr>
            <p:cNvPr id="147"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Practices Map · working ratings</a:t>
              </a:r>
              <a:endParaRPr lang="en-US" sz="3200" spc="-64" kern="0" b="0" i="0" dirty="0">
                <a:solidFill>
                  <a:srgbClr val="070154"/>
                </a:solidFill>
                <a:latin typeface="IBM Plex Sans SemiBold"/>
                <a:ea typeface="IBM Plex Sans SemiBold"/>
                <a:cs typeface="IBM Plex Sans SemiBold"/>
              </a:endParaRPr>
            </a:p>
          </p:txBody>
        </p:sp>
      </p:grpSp>
      <p:grpSp>
        <p:nvGrpSpPr>
          <p:cNvPr id="222" name="authored-eyebrow"/>
          <p:cNvGrpSpPr/>
          <p:nvPr/>
        </p:nvGrpSpPr>
        <p:grpSpPr>
          <a:xfrm>
            <a:off x="723900" y="457200"/>
            <a:ext cx="9372600" cy="228600"/>
            <a:chOff x="723900" y="457200"/>
            <a:chExt cx="9372600" cy="228600"/>
          </a:xfrm>
        </p:grpSpPr>
        <p:sp>
          <p:nvSpPr>
            <p:cNvPr id="148"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01</a:t>
              </a:r>
              <a:endParaRPr lang="en-US" sz="1000" spc="80" kern="0" b="0" i="0" dirty="0">
                <a:solidFill>
                  <a:srgbClr val="0047FF"/>
                </a:solidFill>
                <a:latin typeface="IBM Plex Mono SemiBold"/>
                <a:ea typeface="IBM Plex Mono SemiBold"/>
                <a:cs typeface="IBM Plex Mono SemiBold"/>
              </a:endParaRPr>
            </a:p>
          </p:txBody>
        </p:sp>
      </p:grpSp>
      <p:grpSp>
        <p:nvGrpSpPr>
          <p:cNvPr id="223" name="client-brand"/>
          <p:cNvGrpSpPr/>
          <p:nvPr/>
        </p:nvGrpSpPr>
        <p:grpSpPr>
          <a:xfrm>
            <a:off x="10382250" y="457200"/>
            <a:ext cx="1028700" cy="457200"/>
            <a:chOff x="10382250" y="457200"/>
            <a:chExt cx="1028700" cy="457200"/>
          </a:xfrm>
        </p:grpSpPr>
        <p:pic>
          <p:nvPicPr>
            <p:cNvPr id="149"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xc-012">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12</a:t>
            </a:fld>
            <a:endParaRPr lang="en-US" sz="700" spc="0" kern="0" b="0" i="0" dirty="0">
              <a:solidFill>
                <a:srgbClr val="070154"/>
              </a:solidFill>
              <a:latin typeface="IBM Plex Mono SemiBold"/>
              <a:ea typeface="IBM Plex Mono SemiBold"/>
              <a:cs typeface="IBM Plex Mono SemiBold"/>
            </a:endParaRPr>
          </a:p>
        </p:txBody>
      </p:sp>
      <p:grpSp>
        <p:nvGrpSpPr>
          <p:cNvPr id="11" name="platform-evidence"/>
          <p:cNvGrpSpPr/>
          <p:nvPr/>
        </p:nvGrpSpPr>
        <p:grpSpPr>
          <a:xfrm>
            <a:off x="723900" y="1600200"/>
            <a:ext cx="10744200" cy="4013200"/>
            <a:chOff x="723900" y="1600200"/>
            <a:chExt cx="10744200" cy="4013200"/>
          </a:xfrm>
        </p:grpSpPr>
        <p:graphicFrame>
          <p:nvGraphicFramePr>
            <p:cNvPr id="5" name="platform-evidenc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1905000"/>
                  <a:gridCol w="1219200"/>
                  <a:gridCol w="1371600"/>
                  <a:gridCol w="1143000"/>
                  <a:gridCol w="5105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PRACTICE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CORE JAVA</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RECONCILE AI</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OTHER PODS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EVIDENCE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Technical design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design owner before build; Core knowledge concentrated. Recon spec: Team Lead signs.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AI-assisted build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Variable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Copilot since Jan 2026, human gates; Recon epic agents; others mainly unit tests.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Test automation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Variable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manual, one QA. Recon: Jest / Playwright / Postman. XConnect ~100%; others partial.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Release promotion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Release-night merges suggest rebuild vs promotion (confirm); some products outside CAB.</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Access / test data</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Survey: access/data delays, no read-only DB diagnostics. Recon data wait: months.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Operability / run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Half 2026 Core changes outside cadence; ≥5/11 patches: expired credentials/certificates.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Delivery measures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~65 points/sprint. Recon flow measures proposed, not live. No DORA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Knowledge sharing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Senior-person dependency; thin onboarding. New onshore leads being added.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2" name="evidence-source"/>
          <p:cNvGrpSpPr/>
          <p:nvPr/>
        </p:nvGrpSpPr>
        <p:grpSpPr>
          <a:xfrm>
            <a:off x="723900" y="5638800"/>
            <a:ext cx="10744200" cy="304800"/>
            <a:chOff x="723900" y="5638800"/>
            <a:chExt cx="10744200" cy="304800"/>
          </a:xfrm>
        </p:grpSpPr>
        <p:sp>
          <p:nvSpPr>
            <p:cNvPr id="6" name="evidence-source.surface"/>
            <p:cNvSpPr/>
            <p:nvPr/>
          </p:nvSpPr>
          <p:spPr>
            <a:xfrm>
              <a:off x="723900" y="5638800"/>
              <a:ext cx="10744200" cy="304800"/>
            </a:xfrm>
            <a:prstGeom prst="rect">
              <a:avLst/>
            </a:prstGeom>
            <a:solidFill>
              <a:srgbClr val="E8EEF8"/>
            </a:solidFill>
            <a:ln>
              <a:noFill/>
            </a:ln>
          </p:spPr>
        </p:sp>
        <p:sp>
          <p:nvSpPr>
            <p:cNvPr id="7" name="evidence-source.text"/>
            <p:cNvSpPr/>
            <p:nvPr/>
          </p:nvSpPr>
          <p:spPr>
            <a:xfrm>
              <a:off x="876300" y="5715000"/>
              <a:ext cx="104394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Working hypotheses to validate with Engineering. Sources: working sessions; engineering survey n=44; 2024–2026 release calendar.</a:t>
              </a:r>
              <a:endParaRPr lang="en-US" sz="900" spc="0" kern="0" b="0" i="0" dirty="0">
                <a:solidFill>
                  <a:srgbClr val="070154"/>
                </a:solidFill>
                <a:latin typeface="IBM Plex Sans"/>
                <a:ea typeface="IBM Plex Sans"/>
                <a:cs typeface="IBM Plex Sans"/>
              </a:endParaRPr>
            </a:p>
          </p:txBody>
        </p:sp>
      </p:grpSp>
      <p:grpSp>
        <p:nvGrpSpPr>
          <p:cNvPr id="13" name="authored-header"/>
          <p:cNvGrpSpPr/>
          <p:nvPr/>
        </p:nvGrpSpPr>
        <p:grpSpPr>
          <a:xfrm>
            <a:off x="723900" y="685800"/>
            <a:ext cx="9372600" cy="914400"/>
            <a:chOff x="723900" y="685800"/>
            <a:chExt cx="9372600" cy="914400"/>
          </a:xfrm>
        </p:grpSpPr>
        <p:sp>
          <p:nvSpPr>
            <p:cNvPr id="8"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Engineering practices by platform</a:t>
              </a:r>
              <a:endParaRPr lang="en-US" sz="3200" spc="-64" kern="0" b="0" i="0" dirty="0">
                <a:solidFill>
                  <a:srgbClr val="070154"/>
                </a:solidFill>
                <a:latin typeface="IBM Plex Sans SemiBold"/>
                <a:ea typeface="IBM Plex Sans SemiBold"/>
                <a:cs typeface="IBM Plex Sans SemiBold"/>
              </a:endParaRPr>
            </a:p>
          </p:txBody>
        </p:sp>
      </p:grpSp>
      <p:grpSp>
        <p:nvGrpSpPr>
          <p:cNvPr id="14" name="authored-eyebrow"/>
          <p:cNvGrpSpPr/>
          <p:nvPr/>
        </p:nvGrpSpPr>
        <p:grpSpPr>
          <a:xfrm>
            <a:off x="723900" y="457200"/>
            <a:ext cx="9372600" cy="228600"/>
            <a:chOff x="723900" y="457200"/>
            <a:chExt cx="9372600" cy="228600"/>
          </a:xfrm>
        </p:grpSpPr>
        <p:sp>
          <p:nvSpPr>
            <p:cNvPr id="9"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01</a:t>
              </a:r>
              <a:endParaRPr lang="en-US" sz="1000" spc="80" kern="0" b="0" i="0" dirty="0">
                <a:solidFill>
                  <a:srgbClr val="0047FF"/>
                </a:solidFill>
                <a:latin typeface="IBM Plex Mono SemiBold"/>
                <a:ea typeface="IBM Plex Mono SemiBold"/>
                <a:cs typeface="IBM Plex Mono SemiBold"/>
              </a:endParaRPr>
            </a:p>
          </p:txBody>
        </p:sp>
      </p:gr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dxc-013">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13</a:t>
            </a:fld>
            <a:endParaRPr lang="en-US" sz="700" spc="0" kern="0" b="0" i="0" dirty="0">
              <a:solidFill>
                <a:srgbClr val="070154"/>
              </a:solidFill>
              <a:latin typeface="IBM Plex Mono SemiBold"/>
              <a:ea typeface="IBM Plex Mono SemiBold"/>
              <a:cs typeface="IBM Plex Mono SemiBold"/>
            </a:endParaRPr>
          </a:p>
        </p:txBody>
      </p:sp>
      <p:grpSp>
        <p:nvGrpSpPr>
          <p:cNvPr id="25" name="card0"/>
          <p:cNvGrpSpPr/>
          <p:nvPr/>
        </p:nvGrpSpPr>
        <p:grpSpPr>
          <a:xfrm>
            <a:off x="4381500" y="1600200"/>
            <a:ext cx="7086600" cy="1371600"/>
            <a:chOff x="4381500" y="1600200"/>
            <a:chExt cx="7086600" cy="1371600"/>
          </a:xfrm>
        </p:grpSpPr>
        <p:sp>
          <p:nvSpPr>
            <p:cNvPr id="5" name="card0.container"/>
            <p:cNvSpPr/>
            <p:nvPr/>
          </p:nvSpPr>
          <p:spPr>
            <a:xfrm>
              <a:off x="4381500" y="1600200"/>
              <a:ext cx="7086600" cy="1371600"/>
            </a:xfrm>
            <a:prstGeom prst="rect">
              <a:avLst/>
            </a:prstGeom>
            <a:solidFill>
              <a:srgbClr val="E8EEF8"/>
            </a:solidFill>
            <a:ln>
              <a:noFill/>
            </a:ln>
          </p:spPr>
        </p:sp>
        <p:sp>
          <p:nvSpPr>
            <p:cNvPr id="6" name="card0.edge"/>
            <p:cNvSpPr/>
            <p:nvPr/>
          </p:nvSpPr>
          <p:spPr>
            <a:xfrm>
              <a:off x="4381500" y="1600200"/>
              <a:ext cx="38100" cy="1371600"/>
            </a:xfrm>
            <a:prstGeom prst="rect">
              <a:avLst/>
            </a:prstGeom>
            <a:solidFill>
              <a:srgbClr val="0047FF"/>
            </a:solidFill>
            <a:ln>
              <a:noFill/>
            </a:ln>
          </p:spPr>
        </p:sp>
        <p:sp>
          <p:nvSpPr>
            <p:cNvPr id="7" name="card0.number"/>
            <p:cNvSpPr/>
            <p:nvPr/>
          </p:nvSpPr>
          <p:spPr>
            <a:xfrm>
              <a:off x="4533900" y="17145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8" name="card0.title"/>
            <p:cNvSpPr/>
            <p:nvPr/>
          </p:nvSpPr>
          <p:spPr>
            <a:xfrm>
              <a:off x="4933950" y="1766316"/>
              <a:ext cx="64198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Validated Product and R&amp;D Practices Map</a:t>
              </a:r>
              <a:endParaRPr lang="en-US" sz="1200" spc="0" kern="0" b="0" i="0" dirty="0">
                <a:solidFill>
                  <a:srgbClr val="070154"/>
                </a:solidFill>
                <a:latin typeface="IBM Plex Sans"/>
                <a:ea typeface="IBM Plex Sans"/>
                <a:cs typeface="IBM Plex Sans"/>
              </a:endParaRPr>
            </a:p>
          </p:txBody>
        </p:sp>
        <p:sp>
          <p:nvSpPr>
            <p:cNvPr id="9" name="card0.body.item-0.paragraph"/>
            <p:cNvSpPr/>
            <p:nvPr/>
          </p:nvSpPr>
          <p:spPr>
            <a:xfrm>
              <a:off x="4533900" y="2133600"/>
              <a:ext cx="6819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maturity-based view of observed strengths, gaps, and opportunities.</a:t>
              </a:r>
              <a:endParaRPr lang="en-US" sz="1200" spc="0" kern="0" b="0" i="0" dirty="0">
                <a:solidFill>
                  <a:srgbClr val="50658E"/>
                </a:solidFill>
                <a:latin typeface="IBM Plex Sans"/>
                <a:ea typeface="IBM Plex Sans"/>
                <a:cs typeface="IBM Plex Sans"/>
              </a:endParaRPr>
            </a:p>
          </p:txBody>
        </p:sp>
      </p:grpSp>
      <p:grpSp>
        <p:nvGrpSpPr>
          <p:cNvPr id="26" name="card1"/>
          <p:cNvGrpSpPr/>
          <p:nvPr/>
        </p:nvGrpSpPr>
        <p:grpSpPr>
          <a:xfrm>
            <a:off x="4381500" y="3048000"/>
            <a:ext cx="7086600" cy="1371600"/>
            <a:chOff x="4381500" y="3048000"/>
            <a:chExt cx="7086600" cy="1371600"/>
          </a:xfrm>
        </p:grpSpPr>
        <p:sp>
          <p:nvSpPr>
            <p:cNvPr id="10" name="card1.container"/>
            <p:cNvSpPr/>
            <p:nvPr/>
          </p:nvSpPr>
          <p:spPr>
            <a:xfrm>
              <a:off x="4381500" y="3048000"/>
              <a:ext cx="7086600" cy="1371600"/>
            </a:xfrm>
            <a:prstGeom prst="rect">
              <a:avLst/>
            </a:prstGeom>
            <a:solidFill>
              <a:srgbClr val="070154"/>
            </a:solidFill>
            <a:ln>
              <a:noFill/>
            </a:ln>
          </p:spPr>
        </p:sp>
        <p:sp>
          <p:nvSpPr>
            <p:cNvPr id="11" name="card1.edge"/>
            <p:cNvSpPr/>
            <p:nvPr/>
          </p:nvSpPr>
          <p:spPr>
            <a:xfrm>
              <a:off x="4381500" y="3048000"/>
              <a:ext cx="38100" cy="1371600"/>
            </a:xfrm>
            <a:prstGeom prst="rect">
              <a:avLst/>
            </a:prstGeom>
            <a:solidFill>
              <a:srgbClr val="F900D3"/>
            </a:solidFill>
            <a:ln>
              <a:noFill/>
            </a:ln>
          </p:spPr>
        </p:sp>
        <p:sp>
          <p:nvSpPr>
            <p:cNvPr id="12" name="card1.number"/>
            <p:cNvSpPr/>
            <p:nvPr/>
          </p:nvSpPr>
          <p:spPr>
            <a:xfrm>
              <a:off x="4533900" y="3162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02</a:t>
              </a:r>
              <a:endParaRPr lang="en-US" sz="1800" spc="0" kern="0" b="0" i="0" dirty="0">
                <a:solidFill>
                  <a:srgbClr val="F900D3"/>
                </a:solidFill>
                <a:latin typeface="IBM Plex Mono SemiBold"/>
                <a:ea typeface="IBM Plex Mono SemiBold"/>
                <a:cs typeface="IBM Plex Mono SemiBold"/>
              </a:endParaRPr>
            </a:p>
          </p:txBody>
        </p:sp>
        <p:sp>
          <p:nvSpPr>
            <p:cNvPr id="13" name="card1.title"/>
            <p:cNvSpPr/>
            <p:nvPr/>
          </p:nvSpPr>
          <p:spPr>
            <a:xfrm>
              <a:off x="4933950" y="3214116"/>
              <a:ext cx="64198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Activation Summary</a:t>
              </a:r>
              <a:endParaRPr lang="en-US" sz="1200" spc="0" kern="0" b="0" i="0" dirty="0">
                <a:solidFill>
                  <a:srgbClr val="FFFFFF"/>
                </a:solidFill>
                <a:latin typeface="IBM Plex Sans"/>
                <a:ea typeface="IBM Plex Sans"/>
                <a:cs typeface="IBM Plex Sans"/>
              </a:endParaRPr>
            </a:p>
          </p:txBody>
        </p:sp>
        <p:sp>
          <p:nvSpPr>
            <p:cNvPr id="14" name="card1.body.item-0.paragraph"/>
            <p:cNvSpPr/>
            <p:nvPr/>
          </p:nvSpPr>
          <p:spPr>
            <a:xfrm>
              <a:off x="4533900" y="3581400"/>
              <a:ext cx="6819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A record of bounded changes tested in live work, early signals, and the activation playbook.</a:t>
              </a:r>
              <a:endParaRPr lang="en-US" sz="1200" spc="0" kern="0" b="0" i="0" dirty="0">
                <a:solidFill>
                  <a:srgbClr val="CED7E6"/>
                </a:solidFill>
                <a:latin typeface="IBM Plex Sans"/>
                <a:ea typeface="IBM Plex Sans"/>
                <a:cs typeface="IBM Plex Sans"/>
              </a:endParaRPr>
            </a:p>
          </p:txBody>
        </p:sp>
      </p:grpSp>
      <p:grpSp>
        <p:nvGrpSpPr>
          <p:cNvPr id="27" name="card2"/>
          <p:cNvGrpSpPr/>
          <p:nvPr/>
        </p:nvGrpSpPr>
        <p:grpSpPr>
          <a:xfrm>
            <a:off x="4381500" y="4495800"/>
            <a:ext cx="7086600" cy="1371600"/>
            <a:chOff x="4381500" y="4495800"/>
            <a:chExt cx="7086600" cy="1371600"/>
          </a:xfrm>
        </p:grpSpPr>
        <p:sp>
          <p:nvSpPr>
            <p:cNvPr id="15" name="card2.container"/>
            <p:cNvSpPr/>
            <p:nvPr/>
          </p:nvSpPr>
          <p:spPr>
            <a:xfrm>
              <a:off x="4381500" y="4495800"/>
              <a:ext cx="7086600" cy="1371600"/>
            </a:xfrm>
            <a:prstGeom prst="rect">
              <a:avLst/>
            </a:prstGeom>
            <a:solidFill>
              <a:srgbClr val="E8EEF8"/>
            </a:solidFill>
            <a:ln>
              <a:noFill/>
            </a:ln>
          </p:spPr>
        </p:sp>
        <p:sp>
          <p:nvSpPr>
            <p:cNvPr id="16" name="card2.edge"/>
            <p:cNvSpPr/>
            <p:nvPr/>
          </p:nvSpPr>
          <p:spPr>
            <a:xfrm>
              <a:off x="4381500" y="4495800"/>
              <a:ext cx="38100" cy="1371600"/>
            </a:xfrm>
            <a:prstGeom prst="rect">
              <a:avLst/>
            </a:prstGeom>
            <a:solidFill>
              <a:srgbClr val="0047FF"/>
            </a:solidFill>
            <a:ln>
              <a:noFill/>
            </a:ln>
          </p:spPr>
        </p:sp>
        <p:sp>
          <p:nvSpPr>
            <p:cNvPr id="17" name="card2.number"/>
            <p:cNvSpPr/>
            <p:nvPr/>
          </p:nvSpPr>
          <p:spPr>
            <a:xfrm>
              <a:off x="4533900" y="46101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8" name="card2.title"/>
            <p:cNvSpPr/>
            <p:nvPr/>
          </p:nvSpPr>
          <p:spPr>
            <a:xfrm>
              <a:off x="4933950" y="4661916"/>
              <a:ext cx="64198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Prioritized Operating Model Recommendations and Activation Roadmap</a:t>
              </a:r>
              <a:endParaRPr lang="en-US" sz="1200" spc="0" kern="0" b="0" i="0" dirty="0">
                <a:solidFill>
                  <a:srgbClr val="070154"/>
                </a:solidFill>
                <a:latin typeface="IBM Plex Sans"/>
                <a:ea typeface="IBM Plex Sans"/>
                <a:cs typeface="IBM Plex Sans"/>
              </a:endParaRPr>
            </a:p>
          </p:txBody>
        </p:sp>
        <p:sp>
          <p:nvSpPr>
            <p:cNvPr id="19" name="card2.body.item-0.paragraph"/>
            <p:cNvSpPr/>
            <p:nvPr/>
          </p:nvSpPr>
          <p:spPr>
            <a:xfrm>
              <a:off x="4533900" y="5029200"/>
              <a:ext cx="68199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Recommended practices, decision rights, roles, measures, feedback loops, owners, and dependencies.</a:t>
              </a:r>
              <a:endParaRPr lang="en-US" sz="1200" spc="0" kern="0" b="0" i="0" dirty="0">
                <a:solidFill>
                  <a:srgbClr val="50658E"/>
                </a:solidFill>
                <a:latin typeface="IBM Plex Sans"/>
                <a:ea typeface="IBM Plex Sans"/>
                <a:cs typeface="IBM Plex Sans"/>
              </a:endParaRPr>
            </a:p>
          </p:txBody>
        </p:sp>
      </p:grpSp>
      <p:grpSp>
        <p:nvGrpSpPr>
          <p:cNvPr id="28" name="working-inputs"/>
          <p:cNvGrpSpPr/>
          <p:nvPr/>
        </p:nvGrpSpPr>
        <p:grpSpPr>
          <a:xfrm>
            <a:off x="723900" y="1600200"/>
            <a:ext cx="3429000" cy="4267200"/>
            <a:chOff x="723900" y="1600200"/>
            <a:chExt cx="3429000" cy="4267200"/>
          </a:xfrm>
        </p:grpSpPr>
        <p:sp>
          <p:nvSpPr>
            <p:cNvPr id="20" name="working-inputs.surface"/>
            <p:cNvSpPr/>
            <p:nvPr/>
          </p:nvSpPr>
          <p:spPr>
            <a:xfrm>
              <a:off x="723900" y="1600200"/>
              <a:ext cx="3429000" cy="4267200"/>
            </a:xfrm>
            <a:prstGeom prst="rect">
              <a:avLst/>
            </a:prstGeom>
            <a:solidFill>
              <a:srgbClr val="E8EEF8"/>
            </a:solidFill>
            <a:ln>
              <a:noFill/>
            </a:ln>
          </p:spPr>
        </p:sp>
        <p:sp>
          <p:nvSpPr>
            <p:cNvPr id="21" name="working-inputs.text"/>
            <p:cNvSpPr/>
            <p:nvPr/>
          </p:nvSpPr>
          <p:spPr>
            <a:xfrm>
              <a:off x="876300" y="3067050"/>
              <a:ext cx="31242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Working inputs already surfaced: internal signals, opportunity briefs, PRDs, feature briefs, epics, implementation plans, agentic delivery patterns, and early interview themes.</a:t>
              </a:r>
              <a:endParaRPr lang="en-US" sz="1400" spc="0" kern="0" b="0" i="0" dirty="0">
                <a:solidFill>
                  <a:srgbClr val="070154"/>
                </a:solidFill>
                <a:latin typeface="IBM Plex Sans"/>
                <a:ea typeface="IBM Plex Sans"/>
                <a:cs typeface="IBM Plex Sans"/>
              </a:endParaRPr>
            </a:p>
          </p:txBody>
        </p:sp>
      </p:grpSp>
      <p:grpSp>
        <p:nvGrpSpPr>
          <p:cNvPr id="29" name="authored-header"/>
          <p:cNvGrpSpPr/>
          <p:nvPr/>
        </p:nvGrpSpPr>
        <p:grpSpPr>
          <a:xfrm>
            <a:off x="723900" y="685800"/>
            <a:ext cx="9372600" cy="914400"/>
            <a:chOff x="723900" y="685800"/>
            <a:chExt cx="9372600" cy="914400"/>
          </a:xfrm>
        </p:grpSpPr>
        <p:sp>
          <p:nvSpPr>
            <p:cNvPr id="22"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deliverables, one working structure</a:t>
              </a:r>
              <a:endParaRPr lang="en-US" sz="3200" spc="-64" kern="0" b="0" i="0" dirty="0">
                <a:solidFill>
                  <a:srgbClr val="070154"/>
                </a:solidFill>
                <a:latin typeface="IBM Plex Sans SemiBold"/>
                <a:ea typeface="IBM Plex Sans SemiBold"/>
                <a:cs typeface="IBM Plex Sans SemiBold"/>
              </a:endParaRPr>
            </a:p>
          </p:txBody>
        </p:sp>
      </p:grpSp>
      <p:grpSp>
        <p:nvGrpSpPr>
          <p:cNvPr id="30" name="authored-eyebrow"/>
          <p:cNvGrpSpPr/>
          <p:nvPr/>
        </p:nvGrpSpPr>
        <p:grpSpPr>
          <a:xfrm>
            <a:off x="723900" y="457200"/>
            <a:ext cx="9372600" cy="228600"/>
            <a:chOff x="723900" y="457200"/>
            <a:chExt cx="9372600" cy="228600"/>
          </a:xfrm>
        </p:grpSpPr>
        <p:sp>
          <p:nvSpPr>
            <p:cNvPr id="23"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a:t>
              </a:r>
              <a:endParaRPr lang="en-US" sz="1000" spc="80" kern="0" b="0" i="0" dirty="0">
                <a:solidFill>
                  <a:srgbClr val="0047FF"/>
                </a:solidFill>
                <a:latin typeface="IBM Plex Mono SemiBold"/>
                <a:ea typeface="IBM Plex Mono SemiBold"/>
                <a:cs typeface="IBM Plex Mono SemiBold"/>
              </a:endParaRPr>
            </a:p>
          </p:txBody>
        </p:sp>
      </p:grpSp>
      <p:grpSp>
        <p:nvGrpSpPr>
          <p:cNvPr id="31" name="client-brand"/>
          <p:cNvGrpSpPr/>
          <p:nvPr/>
        </p:nvGrpSpPr>
        <p:grpSpPr>
          <a:xfrm>
            <a:off x="10382250" y="457200"/>
            <a:ext cx="1028700" cy="457200"/>
            <a:chOff x="10382250" y="457200"/>
            <a:chExt cx="1028700" cy="457200"/>
          </a:xfrm>
        </p:grpSpPr>
        <p:pic>
          <p:nvPicPr>
            <p:cNvPr id="24"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dxc-014">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14</a:t>
            </a:fld>
            <a:endParaRPr lang="en-US" sz="700" spc="0" kern="0" b="0" i="0" dirty="0">
              <a:solidFill>
                <a:srgbClr val="070154"/>
              </a:solidFill>
              <a:latin typeface="IBM Plex Mono SemiBold"/>
              <a:ea typeface="IBM Plex Mono SemiBold"/>
              <a:cs typeface="IBM Plex Mono SemiBold"/>
            </a:endParaRPr>
          </a:p>
        </p:txBody>
      </p:sp>
      <p:grpSp>
        <p:nvGrpSpPr>
          <p:cNvPr id="42"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working definition path to test in one selected live initiative, now with an Engineering-owned design step before the plan.</a:t>
              </a:r>
              <a:endParaRPr lang="en-US" sz="1200" spc="0" kern="0" b="0" i="0" dirty="0">
                <a:solidFill>
                  <a:srgbClr val="50658E"/>
                </a:solidFill>
                <a:latin typeface="IBM Plex Sans"/>
                <a:ea typeface="IBM Plex Sans"/>
                <a:cs typeface="IBM Plex Sans"/>
              </a:endParaRPr>
            </a:p>
          </p:txBody>
        </p:sp>
      </p:grpSp>
      <p:grpSp>
        <p:nvGrpSpPr>
          <p:cNvPr id="43" name="sequence"/>
          <p:cNvGrpSpPr/>
          <p:nvPr/>
        </p:nvGrpSpPr>
        <p:grpSpPr>
          <a:xfrm>
            <a:off x="723900" y="2171700"/>
            <a:ext cx="10515600" cy="800100"/>
            <a:chOff x="723900" y="2171700"/>
            <a:chExt cx="10515600" cy="800100"/>
          </a:xfrm>
        </p:grpSpPr>
        <p:sp>
          <p:nvSpPr>
            <p:cNvPr id="6" name="sequence.base"/>
            <p:cNvSpPr/>
            <p:nvPr/>
          </p:nvSpPr>
          <p:spPr>
            <a:xfrm>
              <a:off x="800100" y="2247900"/>
              <a:ext cx="8953500" cy="0"/>
            </a:xfrm>
            <a:custGeom>
              <a:avLst/>
              <a:gdLst/>
              <a:ahLst/>
              <a:cxnLst/>
              <a:rect l="l" t="t" r="r" b="b"/>
              <a:pathLst>
                <a:path w="8953500">
                  <a:moveTo>
                    <a:pt x="0" y="0"/>
                  </a:moveTo>
                  <a:lnTo>
                    <a:pt x="8953500" y="0"/>
                  </a:lnTo>
                </a:path>
              </a:pathLst>
            </a:custGeom>
            <a:ln w="25400">
              <a:solidFill>
                <a:srgbClr val="CED7E6"/>
              </a:solidFill>
              <a:prstDash val="solid"/>
            </a:ln>
          </p:spPr>
        </p:sp>
        <p:sp>
          <p:nvSpPr>
            <p:cNvPr id="7" name="sequence.steps.item-0.marker"/>
            <p:cNvSpPr/>
            <p:nvPr/>
          </p:nvSpPr>
          <p:spPr>
            <a:xfrm>
              <a:off x="723900" y="2171700"/>
              <a:ext cx="152400" cy="152400"/>
            </a:xfrm>
            <a:prstGeom prst="rect">
              <a:avLst/>
            </a:prstGeom>
            <a:solidFill>
              <a:srgbClr val="FFFFFF"/>
            </a:solidFill>
            <a:ln w="12700">
              <a:solidFill>
                <a:srgbClr val="070154"/>
              </a:solidFill>
              <a:prstDash val="solid"/>
            </a:ln>
          </p:spPr>
        </p:sp>
        <p:sp>
          <p:nvSpPr>
            <p:cNvPr id="8" name="sequence.steps.item-0.part-0"/>
            <p:cNvSpPr/>
            <p:nvPr/>
          </p:nvSpPr>
          <p:spPr>
            <a:xfrm>
              <a:off x="723900" y="2514600"/>
              <a:ext cx="1562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a:t>
              </a:r>
              <a:endParaRPr lang="en-US" sz="900" spc="54" kern="0" b="0" i="0" dirty="0">
                <a:solidFill>
                  <a:srgbClr val="0047FF"/>
                </a:solidFill>
                <a:latin typeface="IBM Plex Mono Medium"/>
                <a:ea typeface="IBM Plex Mono Medium"/>
                <a:cs typeface="IBM Plex Mono Medium"/>
              </a:endParaRPr>
            </a:p>
          </p:txBody>
        </p:sp>
        <p:sp>
          <p:nvSpPr>
            <p:cNvPr id="9" name="sequence.steps.item-0.part-1"/>
            <p:cNvSpPr/>
            <p:nvPr/>
          </p:nvSpPr>
          <p:spPr>
            <a:xfrm>
              <a:off x="723900" y="2705100"/>
              <a:ext cx="1562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Signal</a:t>
              </a:r>
              <a:endParaRPr lang="en-US" sz="1400" spc="0" kern="0" b="0" i="0" dirty="0">
                <a:solidFill>
                  <a:srgbClr val="070154"/>
                </a:solidFill>
                <a:latin typeface="IBM Plex Sans SemiBold"/>
                <a:ea typeface="IBM Plex Sans SemiBold"/>
                <a:cs typeface="IBM Plex Sans SemiBold"/>
              </a:endParaRPr>
            </a:p>
          </p:txBody>
        </p:sp>
        <p:sp>
          <p:nvSpPr>
            <p:cNvPr id="10" name="sequence.steps.item-1.marker"/>
            <p:cNvSpPr/>
            <p:nvPr/>
          </p:nvSpPr>
          <p:spPr>
            <a:xfrm>
              <a:off x="2514600" y="2171700"/>
              <a:ext cx="152400" cy="152400"/>
            </a:xfrm>
            <a:prstGeom prst="rect">
              <a:avLst/>
            </a:prstGeom>
            <a:solidFill>
              <a:srgbClr val="FFFFFF"/>
            </a:solidFill>
            <a:ln w="12700">
              <a:solidFill>
                <a:srgbClr val="070154"/>
              </a:solidFill>
              <a:prstDash val="solid"/>
            </a:ln>
          </p:spPr>
        </p:sp>
        <p:sp>
          <p:nvSpPr>
            <p:cNvPr id="11" name="sequence.steps.item-1.part-0"/>
            <p:cNvSpPr/>
            <p:nvPr/>
          </p:nvSpPr>
          <p:spPr>
            <a:xfrm>
              <a:off x="2514600" y="2514600"/>
              <a:ext cx="1562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a:t>
              </a:r>
              <a:endParaRPr lang="en-US" sz="900" spc="54" kern="0" b="0" i="0" dirty="0">
                <a:solidFill>
                  <a:srgbClr val="0047FF"/>
                </a:solidFill>
                <a:latin typeface="IBM Plex Mono Medium"/>
                <a:ea typeface="IBM Plex Mono Medium"/>
                <a:cs typeface="IBM Plex Mono Medium"/>
              </a:endParaRPr>
            </a:p>
          </p:txBody>
        </p:sp>
        <p:sp>
          <p:nvSpPr>
            <p:cNvPr id="12" name="sequence.steps.item-1.part-1"/>
            <p:cNvSpPr/>
            <p:nvPr/>
          </p:nvSpPr>
          <p:spPr>
            <a:xfrm>
              <a:off x="2514600" y="2705100"/>
              <a:ext cx="1562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Opportunity</a:t>
              </a:r>
              <a:endParaRPr lang="en-US" sz="1400" spc="0" kern="0" b="0" i="0" dirty="0">
                <a:solidFill>
                  <a:srgbClr val="070154"/>
                </a:solidFill>
                <a:latin typeface="IBM Plex Sans SemiBold"/>
                <a:ea typeface="IBM Plex Sans SemiBold"/>
                <a:cs typeface="IBM Plex Sans SemiBold"/>
              </a:endParaRPr>
            </a:p>
          </p:txBody>
        </p:sp>
        <p:sp>
          <p:nvSpPr>
            <p:cNvPr id="13" name="sequence.steps.item-2.marker"/>
            <p:cNvSpPr/>
            <p:nvPr/>
          </p:nvSpPr>
          <p:spPr>
            <a:xfrm>
              <a:off x="4305300" y="2171700"/>
              <a:ext cx="152400" cy="152400"/>
            </a:xfrm>
            <a:prstGeom prst="rect">
              <a:avLst/>
            </a:prstGeom>
            <a:solidFill>
              <a:srgbClr val="FFFFFF"/>
            </a:solidFill>
            <a:ln w="12700">
              <a:solidFill>
                <a:srgbClr val="070154"/>
              </a:solidFill>
              <a:prstDash val="solid"/>
            </a:ln>
          </p:spPr>
        </p:sp>
        <p:sp>
          <p:nvSpPr>
            <p:cNvPr id="14" name="sequence.steps.item-2.part-0"/>
            <p:cNvSpPr/>
            <p:nvPr/>
          </p:nvSpPr>
          <p:spPr>
            <a:xfrm>
              <a:off x="4305300" y="2514600"/>
              <a:ext cx="1562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a:t>
              </a:r>
              <a:endParaRPr lang="en-US" sz="900" spc="54" kern="0" b="0" i="0" dirty="0">
                <a:solidFill>
                  <a:srgbClr val="0047FF"/>
                </a:solidFill>
                <a:latin typeface="IBM Plex Mono Medium"/>
                <a:ea typeface="IBM Plex Mono Medium"/>
                <a:cs typeface="IBM Plex Mono Medium"/>
              </a:endParaRPr>
            </a:p>
          </p:txBody>
        </p:sp>
        <p:sp>
          <p:nvSpPr>
            <p:cNvPr id="15" name="sequence.steps.item-2.part-1"/>
            <p:cNvSpPr/>
            <p:nvPr/>
          </p:nvSpPr>
          <p:spPr>
            <a:xfrm>
              <a:off x="4305300" y="2705100"/>
              <a:ext cx="1562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Product / PRD</a:t>
              </a:r>
              <a:endParaRPr lang="en-US" sz="1400" spc="0" kern="0" b="0" i="0" dirty="0">
                <a:solidFill>
                  <a:srgbClr val="070154"/>
                </a:solidFill>
                <a:latin typeface="IBM Plex Sans SemiBold"/>
                <a:ea typeface="IBM Plex Sans SemiBold"/>
                <a:cs typeface="IBM Plex Sans SemiBold"/>
              </a:endParaRPr>
            </a:p>
          </p:txBody>
        </p:sp>
        <p:sp>
          <p:nvSpPr>
            <p:cNvPr id="16" name="sequence.steps.item-3.marker"/>
            <p:cNvSpPr/>
            <p:nvPr/>
          </p:nvSpPr>
          <p:spPr>
            <a:xfrm>
              <a:off x="6096000" y="2171700"/>
              <a:ext cx="152400" cy="152400"/>
            </a:xfrm>
            <a:prstGeom prst="rect">
              <a:avLst/>
            </a:prstGeom>
            <a:solidFill>
              <a:srgbClr val="FFFFFF"/>
            </a:solidFill>
            <a:ln w="12700">
              <a:solidFill>
                <a:srgbClr val="070154"/>
              </a:solidFill>
              <a:prstDash val="solid"/>
            </a:ln>
          </p:spPr>
        </p:sp>
        <p:sp>
          <p:nvSpPr>
            <p:cNvPr id="17" name="sequence.steps.item-3.part-0"/>
            <p:cNvSpPr/>
            <p:nvPr/>
          </p:nvSpPr>
          <p:spPr>
            <a:xfrm>
              <a:off x="6096000" y="2514600"/>
              <a:ext cx="1562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04</a:t>
              </a:r>
              <a:endParaRPr lang="en-US" sz="900" spc="54" kern="0" b="0" i="0" dirty="0">
                <a:solidFill>
                  <a:srgbClr val="0047FF"/>
                </a:solidFill>
                <a:latin typeface="IBM Plex Mono Medium"/>
                <a:ea typeface="IBM Plex Mono Medium"/>
                <a:cs typeface="IBM Plex Mono Medium"/>
              </a:endParaRPr>
            </a:p>
          </p:txBody>
        </p:sp>
        <p:sp>
          <p:nvSpPr>
            <p:cNvPr id="18" name="sequence.steps.item-3.part-1"/>
            <p:cNvSpPr/>
            <p:nvPr/>
          </p:nvSpPr>
          <p:spPr>
            <a:xfrm>
              <a:off x="6096000" y="2705100"/>
              <a:ext cx="1562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Feature / epic</a:t>
              </a:r>
              <a:endParaRPr lang="en-US" sz="1400" spc="0" kern="0" b="0" i="0" dirty="0">
                <a:solidFill>
                  <a:srgbClr val="070154"/>
                </a:solidFill>
                <a:latin typeface="IBM Plex Sans SemiBold"/>
                <a:ea typeface="IBM Plex Sans SemiBold"/>
                <a:cs typeface="IBM Plex Sans SemiBold"/>
              </a:endParaRPr>
            </a:p>
          </p:txBody>
        </p:sp>
        <p:sp>
          <p:nvSpPr>
            <p:cNvPr id="19" name="sequence.steps.item-4.marker"/>
            <p:cNvSpPr/>
            <p:nvPr/>
          </p:nvSpPr>
          <p:spPr>
            <a:xfrm>
              <a:off x="7886700" y="2171700"/>
              <a:ext cx="152400" cy="152400"/>
            </a:xfrm>
            <a:prstGeom prst="rect">
              <a:avLst/>
            </a:prstGeom>
            <a:solidFill>
              <a:srgbClr val="FFFFFF"/>
            </a:solidFill>
            <a:ln w="12700">
              <a:solidFill>
                <a:srgbClr val="070154"/>
              </a:solidFill>
              <a:prstDash val="solid"/>
            </a:ln>
          </p:spPr>
        </p:sp>
        <p:sp>
          <p:nvSpPr>
            <p:cNvPr id="20" name="sequence.steps.item-4.part-0"/>
            <p:cNvSpPr/>
            <p:nvPr/>
          </p:nvSpPr>
          <p:spPr>
            <a:xfrm>
              <a:off x="7886700" y="2514600"/>
              <a:ext cx="1562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05</a:t>
              </a:r>
              <a:endParaRPr lang="en-US" sz="900" spc="54" kern="0" b="0" i="0" dirty="0">
                <a:solidFill>
                  <a:srgbClr val="0047FF"/>
                </a:solidFill>
                <a:latin typeface="IBM Plex Mono Medium"/>
                <a:ea typeface="IBM Plex Mono Medium"/>
                <a:cs typeface="IBM Plex Mono Medium"/>
              </a:endParaRPr>
            </a:p>
          </p:txBody>
        </p:sp>
        <p:sp>
          <p:nvSpPr>
            <p:cNvPr id="21" name="sequence.steps.item-4.part-1"/>
            <p:cNvSpPr/>
            <p:nvPr/>
          </p:nvSpPr>
          <p:spPr>
            <a:xfrm>
              <a:off x="7886700" y="2705100"/>
              <a:ext cx="1562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Tech design</a:t>
              </a:r>
              <a:endParaRPr lang="en-US" sz="1400" spc="0" kern="0" b="0" i="0" dirty="0">
                <a:solidFill>
                  <a:srgbClr val="070154"/>
                </a:solidFill>
                <a:latin typeface="IBM Plex Sans SemiBold"/>
                <a:ea typeface="IBM Plex Sans SemiBold"/>
                <a:cs typeface="IBM Plex Sans SemiBold"/>
              </a:endParaRPr>
            </a:p>
          </p:txBody>
        </p:sp>
        <p:sp>
          <p:nvSpPr>
            <p:cNvPr id="22" name="sequence.steps.item-5.marker"/>
            <p:cNvSpPr/>
            <p:nvPr/>
          </p:nvSpPr>
          <p:spPr>
            <a:xfrm>
              <a:off x="9677400" y="2171700"/>
              <a:ext cx="152400" cy="152400"/>
            </a:xfrm>
            <a:prstGeom prst="rect">
              <a:avLst/>
            </a:prstGeom>
            <a:solidFill>
              <a:srgbClr val="FFFFFF"/>
            </a:solidFill>
            <a:ln w="12700">
              <a:solidFill>
                <a:srgbClr val="070154"/>
              </a:solidFill>
              <a:prstDash val="solid"/>
            </a:ln>
          </p:spPr>
        </p:sp>
        <p:sp>
          <p:nvSpPr>
            <p:cNvPr id="23" name="sequence.steps.item-5.part-0"/>
            <p:cNvSpPr/>
            <p:nvPr/>
          </p:nvSpPr>
          <p:spPr>
            <a:xfrm>
              <a:off x="9677400" y="2514600"/>
              <a:ext cx="15621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06</a:t>
              </a:r>
              <a:endParaRPr lang="en-US" sz="900" spc="54" kern="0" b="0" i="0" dirty="0">
                <a:solidFill>
                  <a:srgbClr val="0047FF"/>
                </a:solidFill>
                <a:latin typeface="IBM Plex Mono Medium"/>
                <a:ea typeface="IBM Plex Mono Medium"/>
                <a:cs typeface="IBM Plex Mono Medium"/>
              </a:endParaRPr>
            </a:p>
          </p:txBody>
        </p:sp>
        <p:sp>
          <p:nvSpPr>
            <p:cNvPr id="24" name="sequence.steps.item-5.part-1"/>
            <p:cNvSpPr/>
            <p:nvPr/>
          </p:nvSpPr>
          <p:spPr>
            <a:xfrm>
              <a:off x="9677400" y="2705100"/>
              <a:ext cx="15621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Plan</a:t>
              </a:r>
              <a:endParaRPr lang="en-US" sz="1400" spc="0" kern="0" b="0" i="0" dirty="0">
                <a:solidFill>
                  <a:srgbClr val="070154"/>
                </a:solidFill>
                <a:latin typeface="IBM Plex Sans SemiBold"/>
                <a:ea typeface="IBM Plex Sans SemiBold"/>
                <a:cs typeface="IBM Plex Sans SemiBold"/>
              </a:endParaRPr>
            </a:p>
          </p:txBody>
        </p:sp>
      </p:grpSp>
      <p:sp>
        <p:nvSpPr>
          <p:cNvPr id="25" name="detail-rule0"/>
          <p:cNvSpPr/>
          <p:nvPr/>
        </p:nvSpPr>
        <p:spPr>
          <a:xfrm>
            <a:off x="723900" y="3200400"/>
            <a:ext cx="1600200" cy="9525"/>
          </a:xfrm>
          <a:prstGeom prst="rect">
            <a:avLst/>
          </a:prstGeom>
          <a:solidFill>
            <a:srgbClr val="CED7E6"/>
          </a:solidFill>
          <a:ln>
            <a:noFill/>
          </a:ln>
        </p:spPr>
      </p:sp>
      <p:grpSp>
        <p:nvGrpSpPr>
          <p:cNvPr id="44" name="detail0"/>
          <p:cNvGrpSpPr/>
          <p:nvPr/>
        </p:nvGrpSpPr>
        <p:grpSpPr>
          <a:xfrm>
            <a:off x="723900" y="3429000"/>
            <a:ext cx="1663700" cy="1600200"/>
            <a:chOff x="723900" y="3429000"/>
            <a:chExt cx="1663700" cy="1600200"/>
          </a:xfrm>
        </p:grpSpPr>
        <p:sp>
          <p:nvSpPr>
            <p:cNvPr id="26" name="detail0.text"/>
            <p:cNvSpPr/>
            <p:nvPr/>
          </p:nvSpPr>
          <p:spPr>
            <a:xfrm>
              <a:off x="723900" y="3429000"/>
              <a:ext cx="166370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Customer, support, operations, research, or engineering evidence.</a:t>
              </a:r>
              <a:endParaRPr lang="en-US" sz="1200" spc="0" kern="0" b="0" i="0" dirty="0">
                <a:solidFill>
                  <a:srgbClr val="070154"/>
                </a:solidFill>
                <a:latin typeface="IBM Plex Sans"/>
                <a:ea typeface="IBM Plex Sans"/>
                <a:cs typeface="IBM Plex Sans"/>
              </a:endParaRPr>
            </a:p>
          </p:txBody>
        </p:sp>
      </p:grpSp>
      <p:sp>
        <p:nvSpPr>
          <p:cNvPr id="27" name="detail-rule1"/>
          <p:cNvSpPr/>
          <p:nvPr/>
        </p:nvSpPr>
        <p:spPr>
          <a:xfrm>
            <a:off x="2552700" y="3200400"/>
            <a:ext cx="1600200" cy="9525"/>
          </a:xfrm>
          <a:prstGeom prst="rect">
            <a:avLst/>
          </a:prstGeom>
          <a:solidFill>
            <a:srgbClr val="CED7E6"/>
          </a:solidFill>
          <a:ln>
            <a:noFill/>
          </a:ln>
        </p:spPr>
      </p:sp>
      <p:grpSp>
        <p:nvGrpSpPr>
          <p:cNvPr id="45" name="detail1"/>
          <p:cNvGrpSpPr/>
          <p:nvPr/>
        </p:nvGrpSpPr>
        <p:grpSpPr>
          <a:xfrm>
            <a:off x="2540000" y="3429000"/>
            <a:ext cx="1663700" cy="1600200"/>
            <a:chOff x="2540000" y="3429000"/>
            <a:chExt cx="1663700" cy="1600200"/>
          </a:xfrm>
        </p:grpSpPr>
        <p:sp>
          <p:nvSpPr>
            <p:cNvPr id="28" name="detail1.text"/>
            <p:cNvSpPr/>
            <p:nvPr/>
          </p:nvSpPr>
          <p:spPr>
            <a:xfrm>
              <a:off x="2540000" y="3429000"/>
              <a:ext cx="166370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Problem, evidence, outcome, decision, and why now.</a:t>
              </a:r>
              <a:endParaRPr lang="en-US" sz="1200" spc="0" kern="0" b="0" i="0" dirty="0">
                <a:solidFill>
                  <a:srgbClr val="070154"/>
                </a:solidFill>
                <a:latin typeface="IBM Plex Sans"/>
                <a:ea typeface="IBM Plex Sans"/>
                <a:cs typeface="IBM Plex Sans"/>
              </a:endParaRPr>
            </a:p>
          </p:txBody>
        </p:sp>
      </p:grpSp>
      <p:sp>
        <p:nvSpPr>
          <p:cNvPr id="29" name="detail-rule2"/>
          <p:cNvSpPr/>
          <p:nvPr/>
        </p:nvSpPr>
        <p:spPr>
          <a:xfrm>
            <a:off x="4381500" y="3200400"/>
            <a:ext cx="1600200" cy="9525"/>
          </a:xfrm>
          <a:prstGeom prst="rect">
            <a:avLst/>
          </a:prstGeom>
          <a:solidFill>
            <a:srgbClr val="CED7E6"/>
          </a:solidFill>
          <a:ln>
            <a:noFill/>
          </a:ln>
        </p:spPr>
      </p:sp>
      <p:grpSp>
        <p:nvGrpSpPr>
          <p:cNvPr id="46" name="detail2"/>
          <p:cNvGrpSpPr/>
          <p:nvPr/>
        </p:nvGrpSpPr>
        <p:grpSpPr>
          <a:xfrm>
            <a:off x="4356100" y="3429000"/>
            <a:ext cx="1663700" cy="1600200"/>
            <a:chOff x="4356100" y="3429000"/>
            <a:chExt cx="1663700" cy="1600200"/>
          </a:xfrm>
        </p:grpSpPr>
        <p:sp>
          <p:nvSpPr>
            <p:cNvPr id="30" name="detail2.text"/>
            <p:cNvSpPr/>
            <p:nvPr/>
          </p:nvSpPr>
          <p:spPr>
            <a:xfrm>
              <a:off x="4356100" y="3429000"/>
              <a:ext cx="166370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User need, success measure, scope, and design context.</a:t>
              </a:r>
              <a:endParaRPr lang="en-US" sz="1200" spc="0" kern="0" b="0" i="0" dirty="0">
                <a:solidFill>
                  <a:srgbClr val="070154"/>
                </a:solidFill>
                <a:latin typeface="IBM Plex Sans"/>
                <a:ea typeface="IBM Plex Sans"/>
                <a:cs typeface="IBM Plex Sans"/>
              </a:endParaRPr>
            </a:p>
          </p:txBody>
        </p:sp>
      </p:grpSp>
      <p:sp>
        <p:nvSpPr>
          <p:cNvPr id="31" name="detail-rule3"/>
          <p:cNvSpPr/>
          <p:nvPr/>
        </p:nvSpPr>
        <p:spPr>
          <a:xfrm>
            <a:off x="6210300" y="3200400"/>
            <a:ext cx="1600200" cy="9525"/>
          </a:xfrm>
          <a:prstGeom prst="rect">
            <a:avLst/>
          </a:prstGeom>
          <a:solidFill>
            <a:srgbClr val="CED7E6"/>
          </a:solidFill>
          <a:ln>
            <a:noFill/>
          </a:ln>
        </p:spPr>
      </p:sp>
      <p:grpSp>
        <p:nvGrpSpPr>
          <p:cNvPr id="47" name="detail3"/>
          <p:cNvGrpSpPr/>
          <p:nvPr/>
        </p:nvGrpSpPr>
        <p:grpSpPr>
          <a:xfrm>
            <a:off x="6172200" y="3429000"/>
            <a:ext cx="1663700" cy="1600200"/>
            <a:chOff x="6172200" y="3429000"/>
            <a:chExt cx="1663700" cy="1600200"/>
          </a:xfrm>
        </p:grpSpPr>
        <p:sp>
          <p:nvSpPr>
            <p:cNvPr id="32" name="detail3.text"/>
            <p:cNvSpPr/>
            <p:nvPr/>
          </p:nvSpPr>
          <p:spPr>
            <a:xfrm>
              <a:off x="6172200" y="3429000"/>
              <a:ext cx="166370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Decomposition, acceptance, ownership, and dependencies.</a:t>
              </a:r>
              <a:endParaRPr lang="en-US" sz="1200" spc="0" kern="0" b="0" i="0" dirty="0">
                <a:solidFill>
                  <a:srgbClr val="070154"/>
                </a:solidFill>
                <a:latin typeface="IBM Plex Sans"/>
                <a:ea typeface="IBM Plex Sans"/>
                <a:cs typeface="IBM Plex Sans"/>
              </a:endParaRPr>
            </a:p>
          </p:txBody>
        </p:sp>
      </p:grpSp>
      <p:sp>
        <p:nvSpPr>
          <p:cNvPr id="33" name="detail-rule4"/>
          <p:cNvSpPr/>
          <p:nvPr/>
        </p:nvSpPr>
        <p:spPr>
          <a:xfrm>
            <a:off x="8039100" y="3200400"/>
            <a:ext cx="1600200" cy="9525"/>
          </a:xfrm>
          <a:prstGeom prst="rect">
            <a:avLst/>
          </a:prstGeom>
          <a:solidFill>
            <a:srgbClr val="CED7E6"/>
          </a:solidFill>
          <a:ln>
            <a:noFill/>
          </a:ln>
        </p:spPr>
      </p:sp>
      <p:grpSp>
        <p:nvGrpSpPr>
          <p:cNvPr id="48" name="detail4"/>
          <p:cNvGrpSpPr/>
          <p:nvPr/>
        </p:nvGrpSpPr>
        <p:grpSpPr>
          <a:xfrm>
            <a:off x="7988300" y="3429000"/>
            <a:ext cx="1663700" cy="1600200"/>
            <a:chOff x="7988300" y="3429000"/>
            <a:chExt cx="1663700" cy="1600200"/>
          </a:xfrm>
        </p:grpSpPr>
        <p:sp>
          <p:nvSpPr>
            <p:cNvPr id="34" name="detail4.text"/>
            <p:cNvSpPr/>
            <p:nvPr/>
          </p:nvSpPr>
          <p:spPr>
            <a:xfrm>
              <a:off x="7988300" y="3429000"/>
              <a:ext cx="166370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Architecture, data flow, PHI, security, effort, and risk. Engineering signs.</a:t>
              </a:r>
              <a:endParaRPr lang="en-US" sz="1200" spc="0" kern="0" b="0" i="0" dirty="0">
                <a:solidFill>
                  <a:srgbClr val="070154"/>
                </a:solidFill>
                <a:latin typeface="IBM Plex Sans"/>
                <a:ea typeface="IBM Plex Sans"/>
                <a:cs typeface="IBM Plex Sans"/>
              </a:endParaRPr>
            </a:p>
          </p:txBody>
        </p:sp>
      </p:grpSp>
      <p:sp>
        <p:nvSpPr>
          <p:cNvPr id="35" name="detail-rule5"/>
          <p:cNvSpPr/>
          <p:nvPr/>
        </p:nvSpPr>
        <p:spPr>
          <a:xfrm>
            <a:off x="9867900" y="3200400"/>
            <a:ext cx="1600200" cy="9525"/>
          </a:xfrm>
          <a:prstGeom prst="rect">
            <a:avLst/>
          </a:prstGeom>
          <a:solidFill>
            <a:srgbClr val="CED7E6"/>
          </a:solidFill>
          <a:ln>
            <a:noFill/>
          </a:ln>
        </p:spPr>
      </p:sp>
      <p:grpSp>
        <p:nvGrpSpPr>
          <p:cNvPr id="49" name="detail5"/>
          <p:cNvGrpSpPr/>
          <p:nvPr/>
        </p:nvGrpSpPr>
        <p:grpSpPr>
          <a:xfrm>
            <a:off x="9804400" y="3429000"/>
            <a:ext cx="1663700" cy="1600200"/>
            <a:chOff x="9804400" y="3429000"/>
            <a:chExt cx="1663700" cy="1600200"/>
          </a:xfrm>
        </p:grpSpPr>
        <p:sp>
          <p:nvSpPr>
            <p:cNvPr id="36" name="detail5.text"/>
            <p:cNvSpPr/>
            <p:nvPr/>
          </p:nvSpPr>
          <p:spPr>
            <a:xfrm>
              <a:off x="9804400" y="3429000"/>
              <a:ext cx="166370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Sequence, validation, release evidence, and feedback.</a:t>
              </a:r>
              <a:endParaRPr lang="en-US" sz="1200" spc="0" kern="0" b="0" i="0" dirty="0">
                <a:solidFill>
                  <a:srgbClr val="070154"/>
                </a:solidFill>
                <a:latin typeface="IBM Plex Sans"/>
                <a:ea typeface="IBM Plex Sans"/>
                <a:cs typeface="IBM Plex Sans"/>
              </a:endParaRPr>
            </a:p>
          </p:txBody>
        </p:sp>
      </p:grpSp>
      <p:grpSp>
        <p:nvGrpSpPr>
          <p:cNvPr id="50" name="test-intent"/>
          <p:cNvGrpSpPr/>
          <p:nvPr/>
        </p:nvGrpSpPr>
        <p:grpSpPr>
          <a:xfrm>
            <a:off x="723900" y="5257800"/>
            <a:ext cx="10744200" cy="685800"/>
            <a:chOff x="723900" y="5257800"/>
            <a:chExt cx="10744200" cy="685800"/>
          </a:xfrm>
        </p:grpSpPr>
        <p:sp>
          <p:nvSpPr>
            <p:cNvPr id="37" name="test-intent.surface"/>
            <p:cNvSpPr/>
            <p:nvPr/>
          </p:nvSpPr>
          <p:spPr>
            <a:xfrm>
              <a:off x="723900" y="5257800"/>
              <a:ext cx="10744200" cy="685800"/>
            </a:xfrm>
            <a:prstGeom prst="rect">
              <a:avLst/>
            </a:prstGeom>
            <a:solidFill>
              <a:srgbClr val="E8EEF8"/>
            </a:solidFill>
            <a:ln>
              <a:noFill/>
            </a:ln>
          </p:spPr>
        </p:sp>
        <p:sp>
          <p:nvSpPr>
            <p:cNvPr id="38" name="test-intent.text"/>
            <p:cNvSpPr/>
            <p:nvPr/>
          </p:nvSpPr>
          <p:spPr>
            <a:xfrm>
              <a:off x="876300" y="54864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 intent: make decision logic, feasibility, design context, and evidence visible before the team commits to delivery scope.</a:t>
              </a:r>
              <a:endParaRPr lang="en-US" sz="1200" spc="0" kern="0" b="0" i="0" dirty="0">
                <a:solidFill>
                  <a:srgbClr val="070154"/>
                </a:solidFill>
                <a:latin typeface="IBM Plex Sans"/>
                <a:ea typeface="IBM Plex Sans"/>
                <a:cs typeface="IBM Plex Sans"/>
              </a:endParaRPr>
            </a:p>
          </p:txBody>
        </p:sp>
      </p:grpSp>
      <p:grpSp>
        <p:nvGrpSpPr>
          <p:cNvPr id="51" name="authored-header"/>
          <p:cNvGrpSpPr/>
          <p:nvPr/>
        </p:nvGrpSpPr>
        <p:grpSpPr>
          <a:xfrm>
            <a:off x="723900" y="685800"/>
            <a:ext cx="9372600" cy="914400"/>
            <a:chOff x="723900" y="685800"/>
            <a:chExt cx="9372600" cy="914400"/>
          </a:xfrm>
        </p:grpSpPr>
        <p:sp>
          <p:nvSpPr>
            <p:cNvPr id="39"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From signal to implementation plan</a:t>
              </a:r>
              <a:endParaRPr lang="en-US" sz="3200" spc="-64" kern="0" b="0" i="0" dirty="0">
                <a:solidFill>
                  <a:srgbClr val="070154"/>
                </a:solidFill>
                <a:latin typeface="IBM Plex Sans SemiBold"/>
                <a:ea typeface="IBM Plex Sans SemiBold"/>
                <a:cs typeface="IBM Plex Sans SemiBold"/>
              </a:endParaRPr>
            </a:p>
          </p:txBody>
        </p:sp>
      </p:grpSp>
      <p:grpSp>
        <p:nvGrpSpPr>
          <p:cNvPr id="52" name="authored-eyebrow"/>
          <p:cNvGrpSpPr/>
          <p:nvPr/>
        </p:nvGrpSpPr>
        <p:grpSpPr>
          <a:xfrm>
            <a:off x="723900" y="457200"/>
            <a:ext cx="9372600" cy="228600"/>
            <a:chOff x="723900" y="457200"/>
            <a:chExt cx="9372600" cy="228600"/>
          </a:xfrm>
        </p:grpSpPr>
        <p:sp>
          <p:nvSpPr>
            <p:cNvPr id="40"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a:t>
              </a:r>
              <a:endParaRPr lang="en-US" sz="1000" spc="80" kern="0" b="0" i="0" dirty="0">
                <a:solidFill>
                  <a:srgbClr val="0047FF"/>
                </a:solidFill>
                <a:latin typeface="IBM Plex Mono SemiBold"/>
                <a:ea typeface="IBM Plex Mono SemiBold"/>
                <a:cs typeface="IBM Plex Mono SemiBold"/>
              </a:endParaRPr>
            </a:p>
          </p:txBody>
        </p:sp>
      </p:grpSp>
      <p:grpSp>
        <p:nvGrpSpPr>
          <p:cNvPr id="53" name="client-brand"/>
          <p:cNvGrpSpPr/>
          <p:nvPr/>
        </p:nvGrpSpPr>
        <p:grpSpPr>
          <a:xfrm>
            <a:off x="10382250" y="457200"/>
            <a:ext cx="1028700" cy="457200"/>
            <a:chOff x="10382250" y="457200"/>
            <a:chExt cx="1028700" cy="457200"/>
          </a:xfrm>
        </p:grpSpPr>
        <p:pic>
          <p:nvPicPr>
            <p:cNvPr id="41"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xc-015">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15</a:t>
            </a:fld>
            <a:endParaRPr lang="en-US" sz="700" spc="0" kern="0" b="0" i="0" dirty="0">
              <a:solidFill>
                <a:srgbClr val="070154"/>
              </a:solidFill>
              <a:latin typeface="IBM Plex Mono SemiBold"/>
              <a:ea typeface="IBM Plex Mono SemiBold"/>
              <a:cs typeface="IBM Plex Mono SemiBold"/>
            </a:endParaRPr>
          </a:p>
        </p:txBody>
      </p:sp>
      <p:grpSp>
        <p:nvGrpSpPr>
          <p:cNvPr id="25" name="card0"/>
          <p:cNvGrpSpPr/>
          <p:nvPr/>
        </p:nvGrpSpPr>
        <p:grpSpPr>
          <a:xfrm>
            <a:off x="723900" y="1600200"/>
            <a:ext cx="3429000" cy="3581400"/>
            <a:chOff x="723900" y="1600200"/>
            <a:chExt cx="3429000" cy="3581400"/>
          </a:xfrm>
        </p:grpSpPr>
        <p:sp>
          <p:nvSpPr>
            <p:cNvPr id="5" name="card0.container"/>
            <p:cNvSpPr/>
            <p:nvPr/>
          </p:nvSpPr>
          <p:spPr>
            <a:xfrm>
              <a:off x="723900" y="1600200"/>
              <a:ext cx="3429000" cy="3581400"/>
            </a:xfrm>
            <a:prstGeom prst="rect">
              <a:avLst/>
            </a:prstGeom>
            <a:solidFill>
              <a:srgbClr val="E8EEF8"/>
            </a:solidFill>
            <a:ln>
              <a:noFill/>
            </a:ln>
          </p:spPr>
        </p:sp>
        <p:sp>
          <p:nvSpPr>
            <p:cNvPr id="6" name="card0.edge"/>
            <p:cNvSpPr/>
            <p:nvPr/>
          </p:nvSpPr>
          <p:spPr>
            <a:xfrm>
              <a:off x="723900" y="1600200"/>
              <a:ext cx="38100" cy="3581400"/>
            </a:xfrm>
            <a:prstGeom prst="rect">
              <a:avLst/>
            </a:prstGeom>
            <a:solidFill>
              <a:srgbClr val="0047FF"/>
            </a:solidFill>
            <a:ln>
              <a:noFill/>
            </a:ln>
          </p:spPr>
        </p:sp>
        <p:sp>
          <p:nvSpPr>
            <p:cNvPr id="7" name="card0.number"/>
            <p:cNvSpPr/>
            <p:nvPr/>
          </p:nvSpPr>
          <p:spPr>
            <a:xfrm>
              <a:off x="9144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8" name="card0.title"/>
            <p:cNvSpPr/>
            <p:nvPr/>
          </p:nvSpPr>
          <p:spPr>
            <a:xfrm>
              <a:off x="1314450" y="1776984"/>
              <a:ext cx="26860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Opportunity signal funnel</a:t>
              </a:r>
              <a:endParaRPr lang="en-US" sz="1400" spc="0" kern="0" b="0" i="0" dirty="0">
                <a:solidFill>
                  <a:srgbClr val="070154"/>
                </a:solidFill>
                <a:latin typeface="IBM Plex Sans"/>
                <a:ea typeface="IBM Plex Sans"/>
                <a:cs typeface="IBM Plex Sans"/>
              </a:endParaRPr>
            </a:p>
          </p:txBody>
        </p:sp>
        <p:sp>
          <p:nvSpPr>
            <p:cNvPr id="9" name="card0.body.item-0.paragraph"/>
            <p:cNvSpPr/>
            <p:nvPr/>
          </p:nvSpPr>
          <p:spPr>
            <a:xfrm>
              <a:off x="914400" y="2171700"/>
              <a:ext cx="3086100" cy="2743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CHANGE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Run one internal signal through an opportunity brief with an outcome and decision criterion.</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EVIDENCE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Signal quality, decision speed, and next-step clarity.</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PLAYBOOK</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Weekly review with Product, Engineering, and the initiative owner.</a:t>
              </a:r>
              <a:endParaRPr lang="en-US" sz="1200" spc="0" kern="0" b="0" i="0" dirty="0">
                <a:solidFill>
                  <a:srgbClr val="50658E"/>
                </a:solidFill>
                <a:latin typeface="IBM Plex Sans"/>
                <a:ea typeface="IBM Plex Sans"/>
                <a:cs typeface="IBM Plex Sans"/>
              </a:endParaRPr>
            </a:p>
          </p:txBody>
        </p:sp>
      </p:grpSp>
      <p:grpSp>
        <p:nvGrpSpPr>
          <p:cNvPr id="26" name="card1"/>
          <p:cNvGrpSpPr/>
          <p:nvPr/>
        </p:nvGrpSpPr>
        <p:grpSpPr>
          <a:xfrm>
            <a:off x="4381500" y="1600200"/>
            <a:ext cx="3429000" cy="3581400"/>
            <a:chOff x="4381500" y="1600200"/>
            <a:chExt cx="3429000" cy="3581400"/>
          </a:xfrm>
        </p:grpSpPr>
        <p:sp>
          <p:nvSpPr>
            <p:cNvPr id="10" name="card1.container"/>
            <p:cNvSpPr/>
            <p:nvPr/>
          </p:nvSpPr>
          <p:spPr>
            <a:xfrm>
              <a:off x="4381500" y="1600200"/>
              <a:ext cx="3429000" cy="3581400"/>
            </a:xfrm>
            <a:prstGeom prst="rect">
              <a:avLst/>
            </a:prstGeom>
            <a:solidFill>
              <a:srgbClr val="E8EEF8"/>
            </a:solidFill>
            <a:ln>
              <a:noFill/>
            </a:ln>
          </p:spPr>
        </p:sp>
        <p:sp>
          <p:nvSpPr>
            <p:cNvPr id="11" name="card1.edge"/>
            <p:cNvSpPr/>
            <p:nvPr/>
          </p:nvSpPr>
          <p:spPr>
            <a:xfrm>
              <a:off x="4381500" y="1600200"/>
              <a:ext cx="38100" cy="3581400"/>
            </a:xfrm>
            <a:prstGeom prst="rect">
              <a:avLst/>
            </a:prstGeom>
            <a:solidFill>
              <a:srgbClr val="0047FF"/>
            </a:solidFill>
            <a:ln>
              <a:noFill/>
            </a:ln>
          </p:spPr>
        </p:sp>
        <p:sp>
          <p:nvSpPr>
            <p:cNvPr id="12" name="card1.number"/>
            <p:cNvSpPr/>
            <p:nvPr/>
          </p:nvSpPr>
          <p:spPr>
            <a:xfrm>
              <a:off x="45720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1.title"/>
            <p:cNvSpPr/>
            <p:nvPr/>
          </p:nvSpPr>
          <p:spPr>
            <a:xfrm>
              <a:off x="4972050" y="1776984"/>
              <a:ext cx="26860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Product definition path</a:t>
              </a:r>
              <a:endParaRPr lang="en-US" sz="1400" spc="0" kern="0" b="0" i="0" dirty="0">
                <a:solidFill>
                  <a:srgbClr val="070154"/>
                </a:solidFill>
                <a:latin typeface="IBM Plex Sans"/>
                <a:ea typeface="IBM Plex Sans"/>
                <a:cs typeface="IBM Plex Sans"/>
              </a:endParaRPr>
            </a:p>
          </p:txBody>
        </p:sp>
        <p:sp>
          <p:nvSpPr>
            <p:cNvPr id="14" name="card1.body.item-0.paragraph"/>
            <p:cNvSpPr/>
            <p:nvPr/>
          </p:nvSpPr>
          <p:spPr>
            <a:xfrm>
              <a:off x="4572000" y="2171700"/>
              <a:ext cx="3086100" cy="2743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CHANGE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Carry one opportunity brief through product brief / PRD, feature brief, epic, technical design and implementation plan.</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EVIDENCE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Handoff quality, rework, design context, and decision clarity.</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PLAYBOOK</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Joint Product and Engineering review before commitment.</a:t>
              </a:r>
              <a:endParaRPr lang="en-US" sz="1200" spc="0" kern="0" b="0" i="0" dirty="0">
                <a:solidFill>
                  <a:srgbClr val="50658E"/>
                </a:solidFill>
                <a:latin typeface="IBM Plex Sans"/>
                <a:ea typeface="IBM Plex Sans"/>
                <a:cs typeface="IBM Plex Sans"/>
              </a:endParaRPr>
            </a:p>
          </p:txBody>
        </p:sp>
      </p:grpSp>
      <p:grpSp>
        <p:nvGrpSpPr>
          <p:cNvPr id="27" name="card2"/>
          <p:cNvGrpSpPr/>
          <p:nvPr/>
        </p:nvGrpSpPr>
        <p:grpSpPr>
          <a:xfrm>
            <a:off x="8039100" y="1600200"/>
            <a:ext cx="3429000" cy="3581400"/>
            <a:chOff x="8039100" y="1600200"/>
            <a:chExt cx="3429000" cy="3581400"/>
          </a:xfrm>
        </p:grpSpPr>
        <p:sp>
          <p:nvSpPr>
            <p:cNvPr id="15" name="card2.container"/>
            <p:cNvSpPr/>
            <p:nvPr/>
          </p:nvSpPr>
          <p:spPr>
            <a:xfrm>
              <a:off x="8039100" y="1600200"/>
              <a:ext cx="3429000" cy="3581400"/>
            </a:xfrm>
            <a:prstGeom prst="rect">
              <a:avLst/>
            </a:prstGeom>
            <a:solidFill>
              <a:srgbClr val="E8EEF8"/>
            </a:solidFill>
            <a:ln>
              <a:noFill/>
            </a:ln>
          </p:spPr>
        </p:sp>
        <p:sp>
          <p:nvSpPr>
            <p:cNvPr id="16" name="card2.edge"/>
            <p:cNvSpPr/>
            <p:nvPr/>
          </p:nvSpPr>
          <p:spPr>
            <a:xfrm>
              <a:off x="8039100" y="1600200"/>
              <a:ext cx="38100" cy="3581400"/>
            </a:xfrm>
            <a:prstGeom prst="rect">
              <a:avLst/>
            </a:prstGeom>
            <a:solidFill>
              <a:srgbClr val="0047FF"/>
            </a:solidFill>
            <a:ln>
              <a:noFill/>
            </a:ln>
          </p:spPr>
        </p:sp>
        <p:sp>
          <p:nvSpPr>
            <p:cNvPr id="17" name="card2.number"/>
            <p:cNvSpPr/>
            <p:nvPr/>
          </p:nvSpPr>
          <p:spPr>
            <a:xfrm>
              <a:off x="82296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8" name="card2.title"/>
            <p:cNvSpPr/>
            <p:nvPr/>
          </p:nvSpPr>
          <p:spPr>
            <a:xfrm>
              <a:off x="8629650" y="1776984"/>
              <a:ext cx="26860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Ship with proof</a:t>
              </a:r>
              <a:endParaRPr lang="en-US" sz="1400" spc="0" kern="0" b="0" i="0" dirty="0">
                <a:solidFill>
                  <a:srgbClr val="070154"/>
                </a:solidFill>
                <a:latin typeface="IBM Plex Sans"/>
                <a:ea typeface="IBM Plex Sans"/>
                <a:cs typeface="IBM Plex Sans"/>
              </a:endParaRPr>
            </a:p>
          </p:txBody>
        </p:sp>
        <p:sp>
          <p:nvSpPr>
            <p:cNvPr id="19" name="card2.body.item-0.paragraph"/>
            <p:cNvSpPr/>
            <p:nvPr/>
          </p:nvSpPr>
          <p:spPr>
            <a:xfrm>
              <a:off x="8229600" y="2171700"/>
              <a:ext cx="3086100" cy="2514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CHANGE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Define the smallest release evidence path before the next release or client-facing test.</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EVIDENCE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Validation coverage, issues found earlier, and owner clarity.</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PLAYBOOK</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Evidence review before release, followed by post-launch learning.</a:t>
              </a:r>
              <a:endParaRPr lang="en-US" sz="1200" spc="0" kern="0" b="0" i="0" dirty="0">
                <a:solidFill>
                  <a:srgbClr val="50658E"/>
                </a:solidFill>
                <a:latin typeface="IBM Plex Sans"/>
                <a:ea typeface="IBM Plex Sans"/>
                <a:cs typeface="IBM Plex Sans"/>
              </a:endParaRPr>
            </a:p>
          </p:txBody>
        </p:sp>
      </p:grpSp>
      <p:grpSp>
        <p:nvGrpSpPr>
          <p:cNvPr id="28" name="completion"/>
          <p:cNvGrpSpPr/>
          <p:nvPr/>
        </p:nvGrpSpPr>
        <p:grpSpPr>
          <a:xfrm>
            <a:off x="723900" y="5257800"/>
            <a:ext cx="10744200" cy="685800"/>
            <a:chOff x="723900" y="5257800"/>
            <a:chExt cx="10744200" cy="685800"/>
          </a:xfrm>
        </p:grpSpPr>
        <p:sp>
          <p:nvSpPr>
            <p:cNvPr id="20" name="completion.surface"/>
            <p:cNvSpPr/>
            <p:nvPr/>
          </p:nvSpPr>
          <p:spPr>
            <a:xfrm>
              <a:off x="723900" y="5257800"/>
              <a:ext cx="10744200" cy="685800"/>
            </a:xfrm>
            <a:prstGeom prst="rect">
              <a:avLst/>
            </a:prstGeom>
            <a:solidFill>
              <a:srgbClr val="E8EEF8"/>
            </a:solidFill>
            <a:ln>
              <a:noFill/>
            </a:ln>
          </p:spPr>
        </p:sp>
        <p:sp>
          <p:nvSpPr>
            <p:cNvPr id="21" name="completion.text"/>
            <p:cNvSpPr/>
            <p:nvPr/>
          </p:nvSpPr>
          <p:spPr>
            <a:xfrm>
              <a:off x="876300" y="54864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Complete the activation record after each test: change made, result or early signal, open question, and recommendation for continued use.</a:t>
              </a:r>
              <a:endParaRPr lang="en-US" sz="1200" spc="0" kern="0" b="0" i="0" dirty="0">
                <a:solidFill>
                  <a:srgbClr val="070154"/>
                </a:solidFill>
                <a:latin typeface="IBM Plex Sans"/>
                <a:ea typeface="IBM Plex Sans"/>
                <a:cs typeface="IBM Plex Sans"/>
              </a:endParaRPr>
            </a:p>
          </p:txBody>
        </p:sp>
      </p:grpSp>
      <p:grpSp>
        <p:nvGrpSpPr>
          <p:cNvPr id="29" name="authored-header"/>
          <p:cNvGrpSpPr/>
          <p:nvPr/>
        </p:nvGrpSpPr>
        <p:grpSpPr>
          <a:xfrm>
            <a:off x="723900" y="685800"/>
            <a:ext cx="9372600" cy="914400"/>
            <a:chOff x="723900" y="685800"/>
            <a:chExt cx="9372600" cy="914400"/>
          </a:xfrm>
        </p:grpSpPr>
        <p:sp>
          <p:nvSpPr>
            <p:cNvPr id="22"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bounded operating model tests</a:t>
              </a:r>
              <a:endParaRPr lang="en-US" sz="3200" spc="-64" kern="0" b="0" i="0" dirty="0">
                <a:solidFill>
                  <a:srgbClr val="070154"/>
                </a:solidFill>
                <a:latin typeface="IBM Plex Sans SemiBold"/>
                <a:ea typeface="IBM Plex Sans SemiBold"/>
                <a:cs typeface="IBM Plex Sans SemiBold"/>
              </a:endParaRPr>
            </a:p>
          </p:txBody>
        </p:sp>
      </p:grpSp>
      <p:grpSp>
        <p:nvGrpSpPr>
          <p:cNvPr id="30" name="authored-eyebrow"/>
          <p:cNvGrpSpPr/>
          <p:nvPr/>
        </p:nvGrpSpPr>
        <p:grpSpPr>
          <a:xfrm>
            <a:off x="723900" y="457200"/>
            <a:ext cx="9372600" cy="228600"/>
            <a:chOff x="723900" y="457200"/>
            <a:chExt cx="9372600" cy="228600"/>
          </a:xfrm>
        </p:grpSpPr>
        <p:sp>
          <p:nvSpPr>
            <p:cNvPr id="23"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a:t>
              </a:r>
              <a:endParaRPr lang="en-US" sz="1000" spc="80" kern="0" b="0" i="0" dirty="0">
                <a:solidFill>
                  <a:srgbClr val="0047FF"/>
                </a:solidFill>
                <a:latin typeface="IBM Plex Mono SemiBold"/>
                <a:ea typeface="IBM Plex Mono SemiBold"/>
                <a:cs typeface="IBM Plex Mono SemiBold"/>
              </a:endParaRPr>
            </a:p>
          </p:txBody>
        </p:sp>
      </p:grpSp>
      <p:grpSp>
        <p:nvGrpSpPr>
          <p:cNvPr id="31" name="client-brand"/>
          <p:cNvGrpSpPr/>
          <p:nvPr/>
        </p:nvGrpSpPr>
        <p:grpSpPr>
          <a:xfrm>
            <a:off x="10382250" y="457200"/>
            <a:ext cx="1028700" cy="457200"/>
            <a:chOff x="10382250" y="457200"/>
            <a:chExt cx="1028700" cy="457200"/>
          </a:xfrm>
        </p:grpSpPr>
        <p:pic>
          <p:nvPicPr>
            <p:cNvPr id="24"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dxc-016">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16</a:t>
            </a:fld>
            <a:endParaRPr lang="en-US" sz="700" spc="0" kern="0" b="0" i="0" dirty="0">
              <a:solidFill>
                <a:srgbClr val="070154"/>
              </a:solidFill>
              <a:latin typeface="IBM Plex Mono SemiBold"/>
              <a:ea typeface="IBM Plex Mono SemiBold"/>
              <a:cs typeface="IBM Plex Mono SemiBold"/>
            </a:endParaRPr>
          </a:p>
        </p:txBody>
      </p:sp>
      <p:grpSp>
        <p:nvGrpSpPr>
          <p:cNvPr id="11" name="register"/>
          <p:cNvGrpSpPr/>
          <p:nvPr/>
        </p:nvGrpSpPr>
        <p:grpSpPr>
          <a:xfrm>
            <a:off x="723900" y="1600200"/>
            <a:ext cx="10744200" cy="3810000"/>
            <a:chOff x="723900" y="1600200"/>
            <a:chExt cx="10744200" cy="3810000"/>
          </a:xfrm>
        </p:grpSpPr>
        <p:graphicFrame>
          <p:nvGraphicFramePr>
            <p:cNvPr id="5" name="register.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810000"/>
          </p:xfrm>
          <a:graphic>
            <a:graphicData uri="http://schemas.openxmlformats.org/drawingml/2006/table">
              <a:tbl>
                <a:tblPr/>
                <a:tblGrid>
                  <a:gridCol w="2057400"/>
                  <a:gridCol w="4343400"/>
                  <a:gridCol w="4343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BASELINE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RECONCILE AI: ERA / EFT ENROLLMENT AND KYC</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CUSTOM CLAIM SUBMISSION RULES ENGINE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Stage today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Build; MVP target November 2026.</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Discovery done; commercialization kickoff next; rough year-end MVP estimate.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Artifacts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PRD, Figma, Architecture Spec, technical stories, UAT design, active Jira.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PRD and Portfolio Governance Board deck; no Jira epic yet.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Platform / team</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Node.js / Angular / NX on AWS; lead, ~4 developers, 1 DevSecOps/QA.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Undecided: own team/Jira or Core; partner/client lane (Aspen / TeamTAG).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Delivery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Epic agent pipeline; Kanban/flow proposed; two-week promotion cadence.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Unresolved: Core Scrum/points vs new-platform epic Kanban.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Open question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scaling: epic PRs of 100–145 files; DevSecOps WIP limit 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Platform, displaced Core capacity and Engineering-informed year-end estimate.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Activation tests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Ship with proof; governed agentic 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Signal funnel; definition path; outcome-led prioritization.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2" name="qualification"/>
          <p:cNvGrpSpPr/>
          <p:nvPr/>
        </p:nvGrpSpPr>
        <p:grpSpPr>
          <a:xfrm>
            <a:off x="723900" y="5486400"/>
            <a:ext cx="10744200" cy="457200"/>
            <a:chOff x="723900" y="5486400"/>
            <a:chExt cx="10744200" cy="457200"/>
          </a:xfrm>
        </p:grpSpPr>
        <p:sp>
          <p:nvSpPr>
            <p:cNvPr id="6" name="qualification.surface"/>
            <p:cNvSpPr/>
            <p:nvPr/>
          </p:nvSpPr>
          <p:spPr>
            <a:xfrm>
              <a:off x="723900" y="5486400"/>
              <a:ext cx="10744200" cy="457200"/>
            </a:xfrm>
            <a:prstGeom prst="rect">
              <a:avLst/>
            </a:prstGeom>
            <a:solidFill>
              <a:srgbClr val="E8EEF8"/>
            </a:solidFill>
            <a:ln>
              <a:noFill/>
            </a:ln>
          </p:spPr>
        </p:sp>
        <p:sp>
          <p:nvSpPr>
            <p:cNvPr id="7" name="qualification.text"/>
            <p:cNvSpPr/>
            <p:nvPr/>
          </p:nvSpPr>
          <p:spPr>
            <a:xfrm>
              <a:off x="876300" y="56007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Recon AI tests release evidence and agentic scale; the Rules Engine tests an Engineering-informed commitment before a date is set.</a:t>
              </a:r>
              <a:endParaRPr lang="en-US" sz="1200" spc="0" kern="0" b="0" i="0" dirty="0">
                <a:solidFill>
                  <a:srgbClr val="070154"/>
                </a:solidFill>
                <a:latin typeface="IBM Plex Sans"/>
                <a:ea typeface="IBM Plex Sans"/>
                <a:cs typeface="IBM Plex Sans"/>
              </a:endParaRPr>
            </a:p>
          </p:txBody>
        </p:sp>
      </p:grpSp>
      <p:grpSp>
        <p:nvGrpSpPr>
          <p:cNvPr id="13" name="authored-header"/>
          <p:cNvGrpSpPr/>
          <p:nvPr/>
        </p:nvGrpSpPr>
        <p:grpSpPr>
          <a:xfrm>
            <a:off x="723900" y="685800"/>
            <a:ext cx="9372600" cy="914400"/>
            <a:chOff x="723900" y="685800"/>
            <a:chExt cx="9372600" cy="914400"/>
          </a:xfrm>
        </p:grpSpPr>
        <p:sp>
          <p:nvSpPr>
            <p:cNvPr id="8"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Selected initiatives: engineering baseline</a:t>
              </a:r>
              <a:endParaRPr lang="en-US" sz="3200" spc="-64" kern="0" b="0" i="0" dirty="0">
                <a:solidFill>
                  <a:srgbClr val="070154"/>
                </a:solidFill>
                <a:latin typeface="IBM Plex Sans SemiBold"/>
                <a:ea typeface="IBM Plex Sans SemiBold"/>
                <a:cs typeface="IBM Plex Sans SemiBold"/>
              </a:endParaRPr>
            </a:p>
          </p:txBody>
        </p:sp>
      </p:grpSp>
      <p:grpSp>
        <p:nvGrpSpPr>
          <p:cNvPr id="14" name="authored-eyebrow"/>
          <p:cNvGrpSpPr/>
          <p:nvPr/>
        </p:nvGrpSpPr>
        <p:grpSpPr>
          <a:xfrm>
            <a:off x="723900" y="457200"/>
            <a:ext cx="9372600" cy="228600"/>
            <a:chOff x="723900" y="457200"/>
            <a:chExt cx="9372600" cy="228600"/>
          </a:xfrm>
        </p:grpSpPr>
        <p:sp>
          <p:nvSpPr>
            <p:cNvPr id="9"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a:t>
              </a:r>
              <a:endParaRPr lang="en-US" sz="1000" spc="80" kern="0" b="0" i="0" dirty="0">
                <a:solidFill>
                  <a:srgbClr val="0047FF"/>
                </a:solidFill>
                <a:latin typeface="IBM Plex Mono SemiBold"/>
                <a:ea typeface="IBM Plex Mono SemiBold"/>
                <a:cs typeface="IBM Plex Mono SemiBold"/>
              </a:endParaRPr>
            </a:p>
          </p:txBody>
        </p:sp>
      </p:gr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dxc-017">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17</a:t>
            </a:fld>
            <a:endParaRPr lang="en-US" sz="700" spc="0" kern="0" b="0" i="0" dirty="0">
              <a:solidFill>
                <a:srgbClr val="070154"/>
              </a:solidFill>
              <a:latin typeface="IBM Plex Mono SemiBold"/>
              <a:ea typeface="IBM Plex Mono SemiBold"/>
              <a:cs typeface="IBM Plex Mono SemiBold"/>
            </a:endParaRPr>
          </a:p>
        </p:txBody>
      </p:sp>
      <p:grpSp>
        <p:nvGrpSpPr>
          <p:cNvPr id="25" name="card0"/>
          <p:cNvGrpSpPr/>
          <p:nvPr/>
        </p:nvGrpSpPr>
        <p:grpSpPr>
          <a:xfrm>
            <a:off x="4381500" y="1600200"/>
            <a:ext cx="7086600" cy="1371600"/>
            <a:chOff x="4381500" y="1600200"/>
            <a:chExt cx="7086600" cy="1371600"/>
          </a:xfrm>
        </p:grpSpPr>
        <p:sp>
          <p:nvSpPr>
            <p:cNvPr id="5" name="card0.container"/>
            <p:cNvSpPr/>
            <p:nvPr/>
          </p:nvSpPr>
          <p:spPr>
            <a:xfrm>
              <a:off x="4381500" y="1600200"/>
              <a:ext cx="7086600" cy="1371600"/>
            </a:xfrm>
            <a:prstGeom prst="rect">
              <a:avLst/>
            </a:prstGeom>
            <a:solidFill>
              <a:srgbClr val="E8EEF8"/>
            </a:solidFill>
            <a:ln>
              <a:noFill/>
            </a:ln>
          </p:spPr>
        </p:sp>
        <p:sp>
          <p:nvSpPr>
            <p:cNvPr id="6" name="card0.edge"/>
            <p:cNvSpPr/>
            <p:nvPr/>
          </p:nvSpPr>
          <p:spPr>
            <a:xfrm>
              <a:off x="4381500" y="1600200"/>
              <a:ext cx="38100" cy="1371600"/>
            </a:xfrm>
            <a:prstGeom prst="rect">
              <a:avLst/>
            </a:prstGeom>
            <a:solidFill>
              <a:srgbClr val="0047FF"/>
            </a:solidFill>
            <a:ln>
              <a:noFill/>
            </a:ln>
          </p:spPr>
        </p:sp>
        <p:sp>
          <p:nvSpPr>
            <p:cNvPr id="7" name="card0.number"/>
            <p:cNvSpPr/>
            <p:nvPr/>
          </p:nvSpPr>
          <p:spPr>
            <a:xfrm>
              <a:off x="4533900" y="17145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8" name="card0.title"/>
            <p:cNvSpPr/>
            <p:nvPr/>
          </p:nvSpPr>
          <p:spPr>
            <a:xfrm>
              <a:off x="4933950" y="1766316"/>
              <a:ext cx="64198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Validated Product and R&amp;D Practices Map</a:t>
              </a:r>
              <a:endParaRPr lang="en-US" sz="1200" spc="0" kern="0" b="0" i="0" dirty="0">
                <a:solidFill>
                  <a:srgbClr val="070154"/>
                </a:solidFill>
                <a:latin typeface="IBM Plex Sans"/>
                <a:ea typeface="IBM Plex Sans"/>
                <a:cs typeface="IBM Plex Sans"/>
              </a:endParaRPr>
            </a:p>
          </p:txBody>
        </p:sp>
        <p:sp>
          <p:nvSpPr>
            <p:cNvPr id="9" name="card0.body.item-0.paragraph"/>
            <p:cNvSpPr/>
            <p:nvPr/>
          </p:nvSpPr>
          <p:spPr>
            <a:xfrm>
              <a:off x="4533900" y="2133600"/>
              <a:ext cx="6819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maturity-based view of observed strengths, gaps, and opportunities.</a:t>
              </a:r>
              <a:endParaRPr lang="en-US" sz="1200" spc="0" kern="0" b="0" i="0" dirty="0">
                <a:solidFill>
                  <a:srgbClr val="50658E"/>
                </a:solidFill>
                <a:latin typeface="IBM Plex Sans"/>
                <a:ea typeface="IBM Plex Sans"/>
                <a:cs typeface="IBM Plex Sans"/>
              </a:endParaRPr>
            </a:p>
          </p:txBody>
        </p:sp>
      </p:grpSp>
      <p:grpSp>
        <p:nvGrpSpPr>
          <p:cNvPr id="26" name="card1"/>
          <p:cNvGrpSpPr/>
          <p:nvPr/>
        </p:nvGrpSpPr>
        <p:grpSpPr>
          <a:xfrm>
            <a:off x="4381500" y="3048000"/>
            <a:ext cx="7086600" cy="1371600"/>
            <a:chOff x="4381500" y="3048000"/>
            <a:chExt cx="7086600" cy="1371600"/>
          </a:xfrm>
        </p:grpSpPr>
        <p:sp>
          <p:nvSpPr>
            <p:cNvPr id="10" name="card1.container"/>
            <p:cNvSpPr/>
            <p:nvPr/>
          </p:nvSpPr>
          <p:spPr>
            <a:xfrm>
              <a:off x="4381500" y="3048000"/>
              <a:ext cx="7086600" cy="1371600"/>
            </a:xfrm>
            <a:prstGeom prst="rect">
              <a:avLst/>
            </a:prstGeom>
            <a:solidFill>
              <a:srgbClr val="E8EEF8"/>
            </a:solidFill>
            <a:ln>
              <a:noFill/>
            </a:ln>
          </p:spPr>
        </p:sp>
        <p:sp>
          <p:nvSpPr>
            <p:cNvPr id="11" name="card1.edge"/>
            <p:cNvSpPr/>
            <p:nvPr/>
          </p:nvSpPr>
          <p:spPr>
            <a:xfrm>
              <a:off x="4381500" y="3048000"/>
              <a:ext cx="38100" cy="1371600"/>
            </a:xfrm>
            <a:prstGeom prst="rect">
              <a:avLst/>
            </a:prstGeom>
            <a:solidFill>
              <a:srgbClr val="0047FF"/>
            </a:solidFill>
            <a:ln>
              <a:noFill/>
            </a:ln>
          </p:spPr>
        </p:sp>
        <p:sp>
          <p:nvSpPr>
            <p:cNvPr id="12" name="card1.number"/>
            <p:cNvSpPr/>
            <p:nvPr/>
          </p:nvSpPr>
          <p:spPr>
            <a:xfrm>
              <a:off x="4533900" y="31623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1.title"/>
            <p:cNvSpPr/>
            <p:nvPr/>
          </p:nvSpPr>
          <p:spPr>
            <a:xfrm>
              <a:off x="4933950" y="3214116"/>
              <a:ext cx="64198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Activation Summary</a:t>
              </a:r>
              <a:endParaRPr lang="en-US" sz="1200" spc="0" kern="0" b="0" i="0" dirty="0">
                <a:solidFill>
                  <a:srgbClr val="070154"/>
                </a:solidFill>
                <a:latin typeface="IBM Plex Sans"/>
                <a:ea typeface="IBM Plex Sans"/>
                <a:cs typeface="IBM Plex Sans"/>
              </a:endParaRPr>
            </a:p>
          </p:txBody>
        </p:sp>
        <p:sp>
          <p:nvSpPr>
            <p:cNvPr id="14" name="card1.body.item-0.paragraph"/>
            <p:cNvSpPr/>
            <p:nvPr/>
          </p:nvSpPr>
          <p:spPr>
            <a:xfrm>
              <a:off x="4533900" y="3581400"/>
              <a:ext cx="68199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record of bounded changes tested in live work, early signals, and the activation playbook.</a:t>
              </a:r>
              <a:endParaRPr lang="en-US" sz="1200" spc="0" kern="0" b="0" i="0" dirty="0">
                <a:solidFill>
                  <a:srgbClr val="50658E"/>
                </a:solidFill>
                <a:latin typeface="IBM Plex Sans"/>
                <a:ea typeface="IBM Plex Sans"/>
                <a:cs typeface="IBM Plex Sans"/>
              </a:endParaRPr>
            </a:p>
          </p:txBody>
        </p:sp>
      </p:grpSp>
      <p:grpSp>
        <p:nvGrpSpPr>
          <p:cNvPr id="27" name="card2"/>
          <p:cNvGrpSpPr/>
          <p:nvPr/>
        </p:nvGrpSpPr>
        <p:grpSpPr>
          <a:xfrm>
            <a:off x="4381500" y="4495800"/>
            <a:ext cx="7086600" cy="1371600"/>
            <a:chOff x="4381500" y="4495800"/>
            <a:chExt cx="7086600" cy="1371600"/>
          </a:xfrm>
        </p:grpSpPr>
        <p:sp>
          <p:nvSpPr>
            <p:cNvPr id="15" name="card2.container"/>
            <p:cNvSpPr/>
            <p:nvPr/>
          </p:nvSpPr>
          <p:spPr>
            <a:xfrm>
              <a:off x="4381500" y="4495800"/>
              <a:ext cx="7086600" cy="1371600"/>
            </a:xfrm>
            <a:prstGeom prst="rect">
              <a:avLst/>
            </a:prstGeom>
            <a:solidFill>
              <a:srgbClr val="070154"/>
            </a:solidFill>
            <a:ln>
              <a:noFill/>
            </a:ln>
          </p:spPr>
        </p:sp>
        <p:sp>
          <p:nvSpPr>
            <p:cNvPr id="16" name="card2.edge"/>
            <p:cNvSpPr/>
            <p:nvPr/>
          </p:nvSpPr>
          <p:spPr>
            <a:xfrm>
              <a:off x="4381500" y="4495800"/>
              <a:ext cx="38100" cy="1371600"/>
            </a:xfrm>
            <a:prstGeom prst="rect">
              <a:avLst/>
            </a:prstGeom>
            <a:solidFill>
              <a:srgbClr val="F900D3"/>
            </a:solidFill>
            <a:ln>
              <a:noFill/>
            </a:ln>
          </p:spPr>
        </p:sp>
        <p:sp>
          <p:nvSpPr>
            <p:cNvPr id="17" name="card2.number"/>
            <p:cNvSpPr/>
            <p:nvPr/>
          </p:nvSpPr>
          <p:spPr>
            <a:xfrm>
              <a:off x="4533900" y="46101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F900D3"/>
                  </a:solidFill>
                  <a:latin typeface="IBM Plex Mono SemiBold"/>
                  <a:ea typeface="IBM Plex Mono SemiBold"/>
                  <a:cs typeface="IBM Plex Mono SemiBold"/>
                </a:rPr>
                <a:t>03</a:t>
              </a:r>
              <a:endParaRPr lang="en-US" sz="1800" spc="0" kern="0" b="0" i="0" dirty="0">
                <a:solidFill>
                  <a:srgbClr val="F900D3"/>
                </a:solidFill>
                <a:latin typeface="IBM Plex Mono SemiBold"/>
                <a:ea typeface="IBM Plex Mono SemiBold"/>
                <a:cs typeface="IBM Plex Mono SemiBold"/>
              </a:endParaRPr>
            </a:p>
          </p:txBody>
        </p:sp>
        <p:sp>
          <p:nvSpPr>
            <p:cNvPr id="18" name="card2.title"/>
            <p:cNvSpPr/>
            <p:nvPr/>
          </p:nvSpPr>
          <p:spPr>
            <a:xfrm>
              <a:off x="4933950" y="4661916"/>
              <a:ext cx="64198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Prioritized Operating Model Recommendations and Activation Roadmap</a:t>
              </a:r>
              <a:endParaRPr lang="en-US" sz="1200" spc="0" kern="0" b="0" i="0" dirty="0">
                <a:solidFill>
                  <a:srgbClr val="FFFFFF"/>
                </a:solidFill>
                <a:latin typeface="IBM Plex Sans"/>
                <a:ea typeface="IBM Plex Sans"/>
                <a:cs typeface="IBM Plex Sans"/>
              </a:endParaRPr>
            </a:p>
          </p:txBody>
        </p:sp>
        <p:sp>
          <p:nvSpPr>
            <p:cNvPr id="19" name="card2.body.item-0.paragraph"/>
            <p:cNvSpPr/>
            <p:nvPr/>
          </p:nvSpPr>
          <p:spPr>
            <a:xfrm>
              <a:off x="4533900" y="5029200"/>
              <a:ext cx="68199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CED7E6"/>
                  </a:solidFill>
                  <a:latin typeface="IBM Plex Sans"/>
                  <a:ea typeface="IBM Plex Sans"/>
                  <a:cs typeface="IBM Plex Sans"/>
                </a:rPr>
                <a:t>Recommended practices, decision rights, roles, measures, feedback loops, owners, and dependencies.</a:t>
              </a:r>
              <a:endParaRPr lang="en-US" sz="1200" spc="0" kern="0" b="0" i="0" dirty="0">
                <a:solidFill>
                  <a:srgbClr val="CED7E6"/>
                </a:solidFill>
                <a:latin typeface="IBM Plex Sans"/>
                <a:ea typeface="IBM Plex Sans"/>
                <a:cs typeface="IBM Plex Sans"/>
              </a:endParaRPr>
            </a:p>
          </p:txBody>
        </p:sp>
      </p:grpSp>
      <p:grpSp>
        <p:nvGrpSpPr>
          <p:cNvPr id="28" name="working-inputs"/>
          <p:cNvGrpSpPr/>
          <p:nvPr/>
        </p:nvGrpSpPr>
        <p:grpSpPr>
          <a:xfrm>
            <a:off x="723900" y="1600200"/>
            <a:ext cx="3429000" cy="4267200"/>
            <a:chOff x="723900" y="1600200"/>
            <a:chExt cx="3429000" cy="4267200"/>
          </a:xfrm>
        </p:grpSpPr>
        <p:sp>
          <p:nvSpPr>
            <p:cNvPr id="20" name="working-inputs.surface"/>
            <p:cNvSpPr/>
            <p:nvPr/>
          </p:nvSpPr>
          <p:spPr>
            <a:xfrm>
              <a:off x="723900" y="1600200"/>
              <a:ext cx="3429000" cy="4267200"/>
            </a:xfrm>
            <a:prstGeom prst="rect">
              <a:avLst/>
            </a:prstGeom>
            <a:solidFill>
              <a:srgbClr val="E8EEF8"/>
            </a:solidFill>
            <a:ln>
              <a:noFill/>
            </a:ln>
          </p:spPr>
        </p:sp>
        <p:sp>
          <p:nvSpPr>
            <p:cNvPr id="21" name="working-inputs.text"/>
            <p:cNvSpPr/>
            <p:nvPr/>
          </p:nvSpPr>
          <p:spPr>
            <a:xfrm>
              <a:off x="876300" y="3067050"/>
              <a:ext cx="3124200" cy="13335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Working inputs already surfaced: internal signals, opportunity briefs, PRDs, feature briefs, epics, implementation plans, agentic delivery patterns, and early interview themes.</a:t>
              </a:r>
              <a:endParaRPr lang="en-US" sz="1400" spc="0" kern="0" b="0" i="0" dirty="0">
                <a:solidFill>
                  <a:srgbClr val="070154"/>
                </a:solidFill>
                <a:latin typeface="IBM Plex Sans"/>
                <a:ea typeface="IBM Plex Sans"/>
                <a:cs typeface="IBM Plex Sans"/>
              </a:endParaRPr>
            </a:p>
          </p:txBody>
        </p:sp>
      </p:grpSp>
      <p:grpSp>
        <p:nvGrpSpPr>
          <p:cNvPr id="29" name="authored-header"/>
          <p:cNvGrpSpPr/>
          <p:nvPr/>
        </p:nvGrpSpPr>
        <p:grpSpPr>
          <a:xfrm>
            <a:off x="723900" y="685800"/>
            <a:ext cx="9372600" cy="914400"/>
            <a:chOff x="723900" y="685800"/>
            <a:chExt cx="9372600" cy="914400"/>
          </a:xfrm>
        </p:grpSpPr>
        <p:sp>
          <p:nvSpPr>
            <p:cNvPr id="22"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Three deliverables, one working structure</a:t>
              </a:r>
              <a:endParaRPr lang="en-US" sz="3200" spc="-64" kern="0" b="0" i="0" dirty="0">
                <a:solidFill>
                  <a:srgbClr val="070154"/>
                </a:solidFill>
                <a:latin typeface="IBM Plex Sans SemiBold"/>
                <a:ea typeface="IBM Plex Sans SemiBold"/>
                <a:cs typeface="IBM Plex Sans SemiBold"/>
              </a:endParaRPr>
            </a:p>
          </p:txBody>
        </p:sp>
      </p:grpSp>
      <p:grpSp>
        <p:nvGrpSpPr>
          <p:cNvPr id="30" name="authored-eyebrow"/>
          <p:cNvGrpSpPr/>
          <p:nvPr/>
        </p:nvGrpSpPr>
        <p:grpSpPr>
          <a:xfrm>
            <a:off x="723900" y="457200"/>
            <a:ext cx="9372600" cy="228600"/>
            <a:chOff x="723900" y="457200"/>
            <a:chExt cx="9372600" cy="228600"/>
          </a:xfrm>
        </p:grpSpPr>
        <p:sp>
          <p:nvSpPr>
            <p:cNvPr id="23"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a:t>
              </a:r>
              <a:endParaRPr lang="en-US" sz="1000" spc="80" kern="0" b="0" i="0" dirty="0">
                <a:solidFill>
                  <a:srgbClr val="0047FF"/>
                </a:solidFill>
                <a:latin typeface="IBM Plex Mono SemiBold"/>
                <a:ea typeface="IBM Plex Mono SemiBold"/>
                <a:cs typeface="IBM Plex Mono SemiBold"/>
              </a:endParaRPr>
            </a:p>
          </p:txBody>
        </p:sp>
      </p:grpSp>
      <p:grpSp>
        <p:nvGrpSpPr>
          <p:cNvPr id="31" name="client-brand"/>
          <p:cNvGrpSpPr/>
          <p:nvPr/>
        </p:nvGrpSpPr>
        <p:grpSpPr>
          <a:xfrm>
            <a:off x="10382250" y="457200"/>
            <a:ext cx="1028700" cy="457200"/>
            <a:chOff x="10382250" y="457200"/>
            <a:chExt cx="1028700" cy="457200"/>
          </a:xfrm>
        </p:grpSpPr>
        <p:pic>
          <p:nvPicPr>
            <p:cNvPr id="24"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dxc-018">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18</a:t>
            </a:fld>
            <a:endParaRPr lang="en-US" sz="700" spc="0" kern="0" b="0" i="0" dirty="0">
              <a:solidFill>
                <a:srgbClr val="070154"/>
              </a:solidFill>
              <a:latin typeface="IBM Plex Mono SemiBold"/>
              <a:ea typeface="IBM Plex Mono SemiBold"/>
              <a:cs typeface="IBM Plex Mono SemiBold"/>
            </a:endParaRPr>
          </a:p>
        </p:txBody>
      </p:sp>
      <p:grpSp>
        <p:nvGrpSpPr>
          <p:cNvPr id="11" name="roadmap"/>
          <p:cNvGrpSpPr/>
          <p:nvPr/>
        </p:nvGrpSpPr>
        <p:grpSpPr>
          <a:xfrm>
            <a:off x="723900" y="1600200"/>
            <a:ext cx="10744200" cy="3784600"/>
            <a:chOff x="723900" y="1600200"/>
            <a:chExt cx="10744200" cy="3784600"/>
          </a:xfrm>
        </p:grpSpPr>
        <p:graphicFrame>
          <p:nvGraphicFramePr>
            <p:cNvPr id="5" name="roadmap.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784600"/>
          </p:xfrm>
          <a:graphic>
            <a:graphicData uri="http://schemas.openxmlformats.org/drawingml/2006/table">
              <a:tbl>
                <a:tblPr/>
                <a:tblGrid>
                  <a:gridCol w="2819400"/>
                  <a:gridCol w="2641600"/>
                  <a:gridCol w="2641600"/>
                  <a:gridCol w="2641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RECOMMENDATION / PILOT / 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NOW</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NEXT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FUTURE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01 Prioritize outcomes</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Rules Engine · P+E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Year-end commitment: criteria plus Engineering-informed effort and risk.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Protect support, patch and escalation capacity; show a credible 3–4 sprint 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Outcome, capacity and predictability evidence guides every pod’s portfolio decisions.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02 PM business ownership</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Reconcile AI · P</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Map decision rights; name one PM outcome and learning-loop owner.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After November MVP: review adoption, customer evidence and business results.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 owns outcomes and learning beyond the backlog on every pod.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03 Definition path</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Rules Engine · P+E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Run Opportunity, Product and Feature Briefs through the Technical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Use the templates and review decisions on the next new initiatives.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definition path across pods, aligned to Concord gates.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04 Earlier collaboration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Rules Engine · P+E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Set a pre-commitment session date and minimum cross-functional team.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Include UX, QA, Release and Operations; keep one record of open questions.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Every pod reviews before commitment, tracking wait time and rework.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05 Ship with proof</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Reconcile AI · P+R+O</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 the highest-risk client workflow before the November MVP.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the smallest release evidence path; compare issues before and after.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Post-launch results and adoption feed each pod’s next roadmap decision.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2" name="qualification"/>
          <p:cNvGrpSpPr/>
          <p:nvPr/>
        </p:nvGrpSpPr>
        <p:grpSpPr>
          <a:xfrm>
            <a:off x="723900" y="5486400"/>
            <a:ext cx="10744200" cy="457200"/>
            <a:chOff x="723900" y="5486400"/>
            <a:chExt cx="10744200" cy="457200"/>
          </a:xfrm>
        </p:grpSpPr>
        <p:sp>
          <p:nvSpPr>
            <p:cNvPr id="6" name="qualification.surface"/>
            <p:cNvSpPr/>
            <p:nvPr/>
          </p:nvSpPr>
          <p:spPr>
            <a:xfrm>
              <a:off x="723900" y="5486400"/>
              <a:ext cx="10744200" cy="457200"/>
            </a:xfrm>
            <a:prstGeom prst="rect">
              <a:avLst/>
            </a:prstGeom>
            <a:solidFill>
              <a:srgbClr val="E8EEF8"/>
            </a:solidFill>
            <a:ln>
              <a:noFill/>
            </a:ln>
          </p:spPr>
        </p:sp>
        <p:sp>
          <p:nvSpPr>
            <p:cNvPr id="7" name="qualification.text"/>
            <p:cNvSpPr/>
            <p:nvPr/>
          </p:nvSpPr>
          <p:spPr>
            <a:xfrm>
              <a:off x="876300" y="56007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Pilot → measure → extend. Owners: P Product; E Engineering; R Release/Ops; O Operations; Q Quality; D DevOps/Infrastructure; S Security.</a:t>
              </a:r>
              <a:endParaRPr lang="en-US" sz="1200" spc="0" kern="0" b="0" i="0" dirty="0">
                <a:solidFill>
                  <a:srgbClr val="070154"/>
                </a:solidFill>
                <a:latin typeface="IBM Plex Sans"/>
                <a:ea typeface="IBM Plex Sans"/>
                <a:cs typeface="IBM Plex Sans"/>
              </a:endParaRPr>
            </a:p>
          </p:txBody>
        </p:sp>
      </p:grpSp>
      <p:grpSp>
        <p:nvGrpSpPr>
          <p:cNvPr id="13" name="authored-header"/>
          <p:cNvGrpSpPr/>
          <p:nvPr/>
        </p:nvGrpSpPr>
        <p:grpSpPr>
          <a:xfrm>
            <a:off x="723900" y="685800"/>
            <a:ext cx="9372600" cy="914400"/>
            <a:chOff x="723900" y="685800"/>
            <a:chExt cx="9372600" cy="914400"/>
          </a:xfrm>
        </p:grpSpPr>
        <p:sp>
          <p:nvSpPr>
            <p:cNvPr id="8"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Activation Roadmap: product track</a:t>
              </a:r>
              <a:endParaRPr lang="en-US" sz="3200" spc="-64" kern="0" b="0" i="0" dirty="0">
                <a:solidFill>
                  <a:srgbClr val="070154"/>
                </a:solidFill>
                <a:latin typeface="IBM Plex Sans SemiBold"/>
                <a:ea typeface="IBM Plex Sans SemiBold"/>
                <a:cs typeface="IBM Plex Sans SemiBold"/>
              </a:endParaRPr>
            </a:p>
          </p:txBody>
        </p:sp>
      </p:grpSp>
      <p:grpSp>
        <p:nvGrpSpPr>
          <p:cNvPr id="14" name="authored-eyebrow"/>
          <p:cNvGrpSpPr/>
          <p:nvPr/>
        </p:nvGrpSpPr>
        <p:grpSpPr>
          <a:xfrm>
            <a:off x="723900" y="457200"/>
            <a:ext cx="9372600" cy="228600"/>
            <a:chOff x="723900" y="457200"/>
            <a:chExt cx="9372600" cy="228600"/>
          </a:xfrm>
        </p:grpSpPr>
        <p:sp>
          <p:nvSpPr>
            <p:cNvPr id="9"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a:t>
              </a:r>
              <a:endParaRPr lang="en-US" sz="1000" spc="80" kern="0" b="0" i="0" dirty="0">
                <a:solidFill>
                  <a:srgbClr val="0047FF"/>
                </a:solidFill>
                <a:latin typeface="IBM Plex Mono SemiBold"/>
                <a:ea typeface="IBM Plex Mono SemiBold"/>
                <a:cs typeface="IBM Plex Mono SemiBold"/>
              </a:endParaRPr>
            </a:p>
          </p:txBody>
        </p:sp>
      </p:gr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dxc-019">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19</a:t>
            </a:fld>
            <a:endParaRPr lang="en-US" sz="700" spc="0" kern="0" b="0" i="0" dirty="0">
              <a:solidFill>
                <a:srgbClr val="070154"/>
              </a:solidFill>
              <a:latin typeface="IBM Plex Mono SemiBold"/>
              <a:ea typeface="IBM Plex Mono SemiBold"/>
              <a:cs typeface="IBM Plex Mono SemiBold"/>
            </a:endParaRPr>
          </a:p>
        </p:txBody>
      </p:sp>
      <p:grpSp>
        <p:nvGrpSpPr>
          <p:cNvPr id="29" name="card0"/>
          <p:cNvGrpSpPr/>
          <p:nvPr/>
        </p:nvGrpSpPr>
        <p:grpSpPr>
          <a:xfrm>
            <a:off x="723900" y="1600200"/>
            <a:ext cx="3429000" cy="1981200"/>
            <a:chOff x="723900" y="1600200"/>
            <a:chExt cx="3429000" cy="1981200"/>
          </a:xfrm>
        </p:grpSpPr>
        <p:sp>
          <p:nvSpPr>
            <p:cNvPr id="5" name="card0.container"/>
            <p:cNvSpPr/>
            <p:nvPr/>
          </p:nvSpPr>
          <p:spPr>
            <a:xfrm>
              <a:off x="723900" y="1600200"/>
              <a:ext cx="3429000" cy="1981200"/>
            </a:xfrm>
            <a:prstGeom prst="rect">
              <a:avLst/>
            </a:prstGeom>
            <a:solidFill>
              <a:srgbClr val="E8EEF8"/>
            </a:solidFill>
            <a:ln>
              <a:noFill/>
            </a:ln>
          </p:spPr>
        </p:sp>
        <p:sp>
          <p:nvSpPr>
            <p:cNvPr id="6" name="card0.edge"/>
            <p:cNvSpPr/>
            <p:nvPr/>
          </p:nvSpPr>
          <p:spPr>
            <a:xfrm>
              <a:off x="723900" y="1600200"/>
              <a:ext cx="38100" cy="1981200"/>
            </a:xfrm>
            <a:prstGeom prst="rect">
              <a:avLst/>
            </a:prstGeom>
            <a:solidFill>
              <a:srgbClr val="0047FF"/>
            </a:solidFill>
            <a:ln>
              <a:noFill/>
            </a:ln>
          </p:spPr>
        </p:sp>
        <p:sp>
          <p:nvSpPr>
            <p:cNvPr id="7" name="card0.number"/>
            <p:cNvSpPr/>
            <p:nvPr/>
          </p:nvSpPr>
          <p:spPr>
            <a:xfrm>
              <a:off x="9144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8" name="card0.title"/>
            <p:cNvSpPr/>
            <p:nvPr/>
          </p:nvSpPr>
          <p:spPr>
            <a:xfrm>
              <a:off x="1314450" y="1776984"/>
              <a:ext cx="26860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PRD</a:t>
              </a:r>
              <a:endParaRPr lang="en-US" sz="1400" spc="0" kern="0" b="0" i="0" dirty="0">
                <a:solidFill>
                  <a:srgbClr val="070154"/>
                </a:solidFill>
                <a:latin typeface="IBM Plex Sans"/>
                <a:ea typeface="IBM Plex Sans"/>
                <a:cs typeface="IBM Plex Sans"/>
              </a:endParaRPr>
            </a:p>
          </p:txBody>
        </p:sp>
        <p:sp>
          <p:nvSpPr>
            <p:cNvPr id="9" name="card0.body.item-0.paragraph"/>
            <p:cNvSpPr/>
            <p:nvPr/>
          </p:nvSpPr>
          <p:spPr>
            <a:xfrm>
              <a:off x="914400" y="2171700"/>
              <a:ext cx="3086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existing PRD, with no epic yet. Product confirms scope and the success measure.</a:t>
              </a:r>
              <a:endParaRPr lang="en-US" sz="1200" spc="0" kern="0" b="0" i="0" dirty="0">
                <a:solidFill>
                  <a:srgbClr val="50658E"/>
                </a:solidFill>
                <a:latin typeface="IBM Plex Sans"/>
                <a:ea typeface="IBM Plex Sans"/>
                <a:cs typeface="IBM Plex Sans"/>
              </a:endParaRPr>
            </a:p>
          </p:txBody>
        </p:sp>
      </p:grpSp>
      <p:grpSp>
        <p:nvGrpSpPr>
          <p:cNvPr id="30" name="card1"/>
          <p:cNvGrpSpPr/>
          <p:nvPr/>
        </p:nvGrpSpPr>
        <p:grpSpPr>
          <a:xfrm>
            <a:off x="4381500" y="1600200"/>
            <a:ext cx="3429000" cy="1981200"/>
            <a:chOff x="4381500" y="1600200"/>
            <a:chExt cx="3429000" cy="1981200"/>
          </a:xfrm>
        </p:grpSpPr>
        <p:sp>
          <p:nvSpPr>
            <p:cNvPr id="10" name="card1.container"/>
            <p:cNvSpPr/>
            <p:nvPr/>
          </p:nvSpPr>
          <p:spPr>
            <a:xfrm>
              <a:off x="4381500" y="1600200"/>
              <a:ext cx="3429000" cy="1981200"/>
            </a:xfrm>
            <a:prstGeom prst="rect">
              <a:avLst/>
            </a:prstGeom>
            <a:solidFill>
              <a:srgbClr val="E8EEF8"/>
            </a:solidFill>
            <a:ln>
              <a:noFill/>
            </a:ln>
          </p:spPr>
        </p:sp>
        <p:sp>
          <p:nvSpPr>
            <p:cNvPr id="11" name="card1.edge"/>
            <p:cNvSpPr/>
            <p:nvPr/>
          </p:nvSpPr>
          <p:spPr>
            <a:xfrm>
              <a:off x="4381500" y="1600200"/>
              <a:ext cx="38100" cy="1981200"/>
            </a:xfrm>
            <a:prstGeom prst="rect">
              <a:avLst/>
            </a:prstGeom>
            <a:solidFill>
              <a:srgbClr val="0047FF"/>
            </a:solidFill>
            <a:ln>
              <a:noFill/>
            </a:ln>
          </p:spPr>
        </p:sp>
        <p:sp>
          <p:nvSpPr>
            <p:cNvPr id="12" name="card1.number"/>
            <p:cNvSpPr/>
            <p:nvPr/>
          </p:nvSpPr>
          <p:spPr>
            <a:xfrm>
              <a:off x="45720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1.title"/>
            <p:cNvSpPr/>
            <p:nvPr/>
          </p:nvSpPr>
          <p:spPr>
            <a:xfrm>
              <a:off x="4972050" y="1776984"/>
              <a:ext cx="26860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Tech spec</a:t>
              </a:r>
              <a:endParaRPr lang="en-US" sz="1400" spc="0" kern="0" b="0" i="0" dirty="0">
                <a:solidFill>
                  <a:srgbClr val="070154"/>
                </a:solidFill>
                <a:latin typeface="IBM Plex Sans"/>
                <a:ea typeface="IBM Plex Sans"/>
                <a:cs typeface="IBM Plex Sans"/>
              </a:endParaRPr>
            </a:p>
          </p:txBody>
        </p:sp>
        <p:sp>
          <p:nvSpPr>
            <p:cNvPr id="14" name="card1.body.item-0.paragraph"/>
            <p:cNvSpPr/>
            <p:nvPr/>
          </p:nvSpPr>
          <p:spPr>
            <a:xfrm>
              <a:off x="4572000" y="2171700"/>
              <a:ext cx="30861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The Architecture Design Agent drafts the spec and technical stories; the Team Lead reviews and signs.</a:t>
              </a:r>
              <a:endParaRPr lang="en-US" sz="1200" spc="0" kern="0" b="0" i="0" dirty="0">
                <a:solidFill>
                  <a:srgbClr val="50658E"/>
                </a:solidFill>
                <a:latin typeface="IBM Plex Sans"/>
                <a:ea typeface="IBM Plex Sans"/>
                <a:cs typeface="IBM Plex Sans"/>
              </a:endParaRPr>
            </a:p>
          </p:txBody>
        </p:sp>
      </p:grpSp>
      <p:grpSp>
        <p:nvGrpSpPr>
          <p:cNvPr id="31" name="card2"/>
          <p:cNvGrpSpPr/>
          <p:nvPr/>
        </p:nvGrpSpPr>
        <p:grpSpPr>
          <a:xfrm>
            <a:off x="8039100" y="1600200"/>
            <a:ext cx="3429000" cy="1981200"/>
            <a:chOff x="8039100" y="1600200"/>
            <a:chExt cx="3429000" cy="1981200"/>
          </a:xfrm>
        </p:grpSpPr>
        <p:sp>
          <p:nvSpPr>
            <p:cNvPr id="15" name="card2.container"/>
            <p:cNvSpPr/>
            <p:nvPr/>
          </p:nvSpPr>
          <p:spPr>
            <a:xfrm>
              <a:off x="8039100" y="1600200"/>
              <a:ext cx="3429000" cy="1981200"/>
            </a:xfrm>
            <a:prstGeom prst="rect">
              <a:avLst/>
            </a:prstGeom>
            <a:solidFill>
              <a:srgbClr val="E8EEF8"/>
            </a:solidFill>
            <a:ln>
              <a:noFill/>
            </a:ln>
          </p:spPr>
        </p:sp>
        <p:sp>
          <p:nvSpPr>
            <p:cNvPr id="16" name="card2.edge"/>
            <p:cNvSpPr/>
            <p:nvPr/>
          </p:nvSpPr>
          <p:spPr>
            <a:xfrm>
              <a:off x="8039100" y="1600200"/>
              <a:ext cx="38100" cy="1981200"/>
            </a:xfrm>
            <a:prstGeom prst="rect">
              <a:avLst/>
            </a:prstGeom>
            <a:solidFill>
              <a:srgbClr val="0047FF"/>
            </a:solidFill>
            <a:ln>
              <a:noFill/>
            </a:ln>
          </p:spPr>
        </p:sp>
        <p:sp>
          <p:nvSpPr>
            <p:cNvPr id="17" name="card2.number"/>
            <p:cNvSpPr/>
            <p:nvPr/>
          </p:nvSpPr>
          <p:spPr>
            <a:xfrm>
              <a:off x="82296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8" name="card2.title"/>
            <p:cNvSpPr/>
            <p:nvPr/>
          </p:nvSpPr>
          <p:spPr>
            <a:xfrm>
              <a:off x="8629650" y="1776984"/>
              <a:ext cx="26860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Release evidence</a:t>
              </a:r>
              <a:endParaRPr lang="en-US" sz="1400" spc="0" kern="0" b="0" i="0" dirty="0">
                <a:solidFill>
                  <a:srgbClr val="070154"/>
                </a:solidFill>
                <a:latin typeface="IBM Plex Sans"/>
                <a:ea typeface="IBM Plex Sans"/>
                <a:cs typeface="IBM Plex Sans"/>
              </a:endParaRPr>
            </a:p>
          </p:txBody>
        </p:sp>
        <p:sp>
          <p:nvSpPr>
            <p:cNvPr id="19" name="card2.body.item-0.paragraph"/>
            <p:cNvSpPr/>
            <p:nvPr/>
          </p:nvSpPr>
          <p:spPr>
            <a:xfrm>
              <a:off x="8229600" y="2171700"/>
              <a:ext cx="30861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 defines what the Release Agent produces: release notes, PRD reconciliation, and destinations.</a:t>
              </a:r>
              <a:endParaRPr lang="en-US" sz="1200" spc="0" kern="0" b="0" i="0" dirty="0">
                <a:solidFill>
                  <a:srgbClr val="50658E"/>
                </a:solidFill>
                <a:latin typeface="IBM Plex Sans"/>
                <a:ea typeface="IBM Plex Sans"/>
                <a:cs typeface="IBM Plex Sans"/>
              </a:endParaRPr>
            </a:p>
          </p:txBody>
        </p:sp>
      </p:grpSp>
      <p:grpSp>
        <p:nvGrpSpPr>
          <p:cNvPr id="32" name="learning-title"/>
          <p:cNvGrpSpPr/>
          <p:nvPr/>
        </p:nvGrpSpPr>
        <p:grpSpPr>
          <a:xfrm>
            <a:off x="723900" y="3810000"/>
            <a:ext cx="5257800" cy="228600"/>
            <a:chOff x="723900" y="3810000"/>
            <a:chExt cx="5257800" cy="228600"/>
          </a:xfrm>
        </p:grpSpPr>
        <p:sp>
          <p:nvSpPr>
            <p:cNvPr id="20" name="learning-title.text"/>
            <p:cNvSpPr/>
            <p:nvPr/>
          </p:nvSpPr>
          <p:spPr>
            <a:xfrm>
              <a:off x="723900" y="38100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WE LEARN</a:t>
              </a:r>
              <a:endParaRPr lang="en-US" sz="1000" spc="80" kern="0" b="0" i="0" dirty="0">
                <a:solidFill>
                  <a:srgbClr val="0047FF"/>
                </a:solidFill>
                <a:latin typeface="IBM Plex Mono SemiBold"/>
                <a:ea typeface="IBM Plex Mono SemiBold"/>
                <a:cs typeface="IBM Plex Mono SemiBold"/>
              </a:endParaRPr>
            </a:p>
          </p:txBody>
        </p:sp>
      </p:grpSp>
      <p:grpSp>
        <p:nvGrpSpPr>
          <p:cNvPr id="33" name="learning-body"/>
          <p:cNvGrpSpPr/>
          <p:nvPr/>
        </p:nvGrpSpPr>
        <p:grpSpPr>
          <a:xfrm>
            <a:off x="723900" y="4114800"/>
            <a:ext cx="5257800" cy="1143000"/>
            <a:chOff x="723900" y="4114800"/>
            <a:chExt cx="5257800" cy="1143000"/>
          </a:xfrm>
        </p:grpSpPr>
        <p:sp>
          <p:nvSpPr>
            <p:cNvPr id="21" name="learning-body.text"/>
            <p:cNvSpPr/>
            <p:nvPr/>
          </p:nvSpPr>
          <p:spPr>
            <a:xfrm>
              <a:off x="723900" y="4114800"/>
              <a:ext cx="525780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Whether the agent's template works outside Reconcile AI.</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How long PRD to signed spec takes with a human gate.</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What Product needs from release evidence to unblock the Release Agent.</a:t>
              </a:r>
              <a:endParaRPr lang="en-US" sz="1200" spc="0" kern="0" b="0" i="0" dirty="0">
                <a:solidFill>
                  <a:srgbClr val="070154"/>
                </a:solidFill>
                <a:latin typeface="IBM Plex Sans"/>
                <a:ea typeface="IBM Plex Sans"/>
                <a:cs typeface="IBM Plex Sans"/>
              </a:endParaRPr>
            </a:p>
          </p:txBody>
        </p:sp>
      </p:grpSp>
      <p:grpSp>
        <p:nvGrpSpPr>
          <p:cNvPr id="34" name="watchouts-title"/>
          <p:cNvGrpSpPr/>
          <p:nvPr/>
        </p:nvGrpSpPr>
        <p:grpSpPr>
          <a:xfrm>
            <a:off x="6210300" y="3810000"/>
            <a:ext cx="5257800" cy="228600"/>
            <a:chOff x="6210300" y="3810000"/>
            <a:chExt cx="5257800" cy="228600"/>
          </a:xfrm>
        </p:grpSpPr>
        <p:sp>
          <p:nvSpPr>
            <p:cNvPr id="22" name="watchouts-title.text"/>
            <p:cNvSpPr/>
            <p:nvPr/>
          </p:nvSpPr>
          <p:spPr>
            <a:xfrm>
              <a:off x="6210300" y="38100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WATCH-OUTS</a:t>
              </a:r>
              <a:endParaRPr lang="en-US" sz="1000" spc="80" kern="0" b="0" i="0" dirty="0">
                <a:solidFill>
                  <a:srgbClr val="0047FF"/>
                </a:solidFill>
                <a:latin typeface="IBM Plex Mono SemiBold"/>
                <a:ea typeface="IBM Plex Mono SemiBold"/>
                <a:cs typeface="IBM Plex Mono SemiBold"/>
              </a:endParaRPr>
            </a:p>
          </p:txBody>
        </p:sp>
      </p:grpSp>
      <p:grpSp>
        <p:nvGrpSpPr>
          <p:cNvPr id="35" name="watchouts-body"/>
          <p:cNvGrpSpPr/>
          <p:nvPr/>
        </p:nvGrpSpPr>
        <p:grpSpPr>
          <a:xfrm>
            <a:off x="6210300" y="4114800"/>
            <a:ext cx="5257800" cy="1143000"/>
            <a:chOff x="6210300" y="4114800"/>
            <a:chExt cx="5257800" cy="1143000"/>
          </a:xfrm>
        </p:grpSpPr>
        <p:sp>
          <p:nvSpPr>
            <p:cNvPr id="23" name="watchouts-body.text"/>
            <p:cNvSpPr/>
            <p:nvPr/>
          </p:nvSpPr>
          <p:spPr>
            <a:xfrm>
              <a:off x="6210300" y="4114800"/>
              <a:ext cx="525780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The Rules Engine platform is undecided; if it lands on Core, the template may need adjusting.</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The sanctioned AI tools and PHI rule must be in place first.</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Ways of working only: no production-system change.</a:t>
              </a:r>
              <a:endParaRPr lang="en-US" sz="1200" spc="0" kern="0" b="0" i="0" dirty="0">
                <a:solidFill>
                  <a:srgbClr val="070154"/>
                </a:solidFill>
                <a:latin typeface="IBM Plex Sans"/>
                <a:ea typeface="IBM Plex Sans"/>
                <a:cs typeface="IBM Plex Sans"/>
              </a:endParaRPr>
            </a:p>
          </p:txBody>
        </p:sp>
      </p:grpSp>
      <p:grpSp>
        <p:nvGrpSpPr>
          <p:cNvPr id="36" name="accountability"/>
          <p:cNvGrpSpPr/>
          <p:nvPr/>
        </p:nvGrpSpPr>
        <p:grpSpPr>
          <a:xfrm>
            <a:off x="723900" y="5410200"/>
            <a:ext cx="10744200" cy="533400"/>
            <a:chOff x="723900" y="5410200"/>
            <a:chExt cx="10744200" cy="533400"/>
          </a:xfrm>
        </p:grpSpPr>
        <p:sp>
          <p:nvSpPr>
            <p:cNvPr id="24" name="accountability.surface"/>
            <p:cNvSpPr/>
            <p:nvPr/>
          </p:nvSpPr>
          <p:spPr>
            <a:xfrm>
              <a:off x="723900" y="5410200"/>
              <a:ext cx="10744200" cy="533400"/>
            </a:xfrm>
            <a:prstGeom prst="rect">
              <a:avLst/>
            </a:prstGeom>
            <a:solidFill>
              <a:srgbClr val="E8EEF8"/>
            </a:solidFill>
            <a:ln>
              <a:noFill/>
            </a:ln>
          </p:spPr>
        </p:sp>
        <p:sp>
          <p:nvSpPr>
            <p:cNvPr id="25" name="accountability.text"/>
            <p:cNvSpPr/>
            <p:nvPr/>
          </p:nvSpPr>
          <p:spPr>
            <a:xfrm>
              <a:off x="876300" y="54483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Product + Engineering Team Lead  |  Buckets: Quality (tech spec) and Release (Release Agent)  |  Measure: time from PRD to signed spec, rework after review</a:t>
              </a:r>
              <a:endParaRPr lang="en-US" sz="1200" spc="0" kern="0" b="0" i="0" dirty="0">
                <a:solidFill>
                  <a:srgbClr val="070154"/>
                </a:solidFill>
                <a:latin typeface="IBM Plex Sans"/>
                <a:ea typeface="IBM Plex Sans"/>
                <a:cs typeface="IBM Plex Sans"/>
              </a:endParaRPr>
            </a:p>
          </p:txBody>
        </p:sp>
      </p:grpSp>
      <p:grpSp>
        <p:nvGrpSpPr>
          <p:cNvPr id="37" name="authored-header"/>
          <p:cNvGrpSpPr/>
          <p:nvPr/>
        </p:nvGrpSpPr>
        <p:grpSpPr>
          <a:xfrm>
            <a:off x="723900" y="685800"/>
            <a:ext cx="9372600" cy="914400"/>
            <a:chOff x="723900" y="685800"/>
            <a:chExt cx="9372600" cy="914400"/>
          </a:xfrm>
        </p:grpSpPr>
        <p:sp>
          <p:nvSpPr>
            <p:cNvPr id="26"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PRD → signed tech spec → release evidence</a:t>
              </a:r>
              <a:endParaRPr lang="en-US" sz="3200" spc="-64" kern="0" b="0" i="0" dirty="0">
                <a:solidFill>
                  <a:srgbClr val="070154"/>
                </a:solidFill>
                <a:latin typeface="IBM Plex Sans SemiBold"/>
                <a:ea typeface="IBM Plex Sans SemiBold"/>
                <a:cs typeface="IBM Plex Sans SemiBold"/>
              </a:endParaRPr>
            </a:p>
          </p:txBody>
        </p:sp>
      </p:grpSp>
      <p:grpSp>
        <p:nvGrpSpPr>
          <p:cNvPr id="38" name="authored-eyebrow"/>
          <p:cNvGrpSpPr/>
          <p:nvPr/>
        </p:nvGrpSpPr>
        <p:grpSpPr>
          <a:xfrm>
            <a:off x="723900" y="457200"/>
            <a:ext cx="9372600" cy="228600"/>
            <a:chOff x="723900" y="457200"/>
            <a:chExt cx="9372600" cy="228600"/>
          </a:xfrm>
        </p:grpSpPr>
        <p:sp>
          <p:nvSpPr>
            <p:cNvPr id="27"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 FIRST EXPERIMENT</a:t>
              </a:r>
              <a:endParaRPr lang="en-US" sz="1000" spc="80" kern="0" b="0" i="0" dirty="0">
                <a:solidFill>
                  <a:srgbClr val="0047FF"/>
                </a:solidFill>
                <a:latin typeface="IBM Plex Mono SemiBold"/>
                <a:ea typeface="IBM Plex Mono SemiBold"/>
                <a:cs typeface="IBM Plex Mono SemiBold"/>
              </a:endParaRPr>
            </a:p>
          </p:txBody>
        </p:sp>
      </p:grpSp>
      <p:grpSp>
        <p:nvGrpSpPr>
          <p:cNvPr id="39" name="client-brand"/>
          <p:cNvGrpSpPr/>
          <p:nvPr/>
        </p:nvGrpSpPr>
        <p:grpSpPr>
          <a:xfrm>
            <a:off x="10382250" y="457200"/>
            <a:ext cx="1028700" cy="457200"/>
            <a:chOff x="10382250" y="457200"/>
            <a:chExt cx="1028700" cy="457200"/>
          </a:xfrm>
        </p:grpSpPr>
        <p:pic>
          <p:nvPicPr>
            <p:cNvPr id="28"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xc-020">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20</a:t>
            </a:fld>
            <a:endParaRPr lang="en-US" sz="700" spc="0" kern="0" b="0" i="0" dirty="0">
              <a:solidFill>
                <a:srgbClr val="070154"/>
              </a:solidFill>
              <a:latin typeface="IBM Plex Mono SemiBold"/>
              <a:ea typeface="IBM Plex Mono SemiBold"/>
              <a:cs typeface="IBM Plex Mono SemiBold"/>
            </a:endParaRPr>
          </a:p>
        </p:txBody>
      </p:sp>
      <p:grpSp>
        <p:nvGrpSpPr>
          <p:cNvPr id="11" name="roadmap"/>
          <p:cNvGrpSpPr/>
          <p:nvPr/>
        </p:nvGrpSpPr>
        <p:grpSpPr>
          <a:xfrm>
            <a:off x="723900" y="1600200"/>
            <a:ext cx="10744200" cy="3784600"/>
            <a:chOff x="723900" y="1600200"/>
            <a:chExt cx="10744200" cy="3784600"/>
          </a:xfrm>
        </p:grpSpPr>
        <p:graphicFrame>
          <p:nvGraphicFramePr>
            <p:cNvPr id="5" name="roadmap.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784600"/>
          </p:xfrm>
          <a:graphic>
            <a:graphicData uri="http://schemas.openxmlformats.org/drawingml/2006/table">
              <a:tbl>
                <a:tblPr/>
                <a:tblGrid>
                  <a:gridCol w="2819400"/>
                  <a:gridCol w="2641600"/>
                  <a:gridCol w="2641600"/>
                  <a:gridCol w="2641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RECOMMENDATION / PILOT / 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NOW</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NEXT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FUTURE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E1 Release stability</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Core · E+R+Q</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15 unplanned 2026 changes; inventory credentials/certificates with owners.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patches/rollbacks; expiry alerts; same-artifact promotion; new products into CAB.</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Every pod tracks change failure, restore time and repeat causes.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E2 Test automation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Core · Q+E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Map highest-risk regression workflows and manual effort per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Automate those workflows; extend Recon patterns to Eligibility AI and Pay Connect.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Automated regression becomes a release entry criterion on every pod.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E3 Access / test data</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Recon + Rules · D+S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Log who waits for access/data, for what and how long.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Masked production-like Recon data; read-only diagnostics including offshore.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Self-service environments and access on every pod.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E4 Delivery measures</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Core + Recon · 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Baseline frequency, lead time, change failure rate and restore 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Activate Recon flow metrics; monthly delivery view includes vendor team.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Measures guide prioritization and portfolio decisions.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E5 Governed AI</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Reconcile AI · E+P</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Automate / assist / human review; sanctioned PHI tools.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Registry + Eligibility AI; light Core pilot; December rollout.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Scale only what improves speed and quality together.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2" name="qualification"/>
          <p:cNvGrpSpPr/>
          <p:nvPr/>
        </p:nvGrpSpPr>
        <p:grpSpPr>
          <a:xfrm>
            <a:off x="723900" y="5486400"/>
            <a:ext cx="10744200" cy="457200"/>
            <a:chOff x="723900" y="5486400"/>
            <a:chExt cx="10744200" cy="457200"/>
          </a:xfrm>
        </p:grpSpPr>
        <p:sp>
          <p:nvSpPr>
            <p:cNvPr id="6" name="qualification.surface"/>
            <p:cNvSpPr/>
            <p:nvPr/>
          </p:nvSpPr>
          <p:spPr>
            <a:xfrm>
              <a:off x="723900" y="5486400"/>
              <a:ext cx="10744200" cy="457200"/>
            </a:xfrm>
            <a:prstGeom prst="rect">
              <a:avLst/>
            </a:prstGeom>
            <a:solidFill>
              <a:srgbClr val="E8EEF8"/>
            </a:solidFill>
            <a:ln>
              <a:noFill/>
            </a:ln>
          </p:spPr>
        </p:sp>
        <p:sp>
          <p:nvSpPr>
            <p:cNvPr id="7" name="qualification.text"/>
            <p:cNvSpPr/>
            <p:nvPr/>
          </p:nvSpPr>
          <p:spPr>
            <a:xfrm>
              <a:off x="876300" y="56007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Pilot → measure → extend. Owners: P Product; E Engineering; R Release/Ops; O Operations; Q Quality; D DevOps/Infrastructure; S Security.</a:t>
              </a:r>
              <a:endParaRPr lang="en-US" sz="1200" spc="0" kern="0" b="0" i="0" dirty="0">
                <a:solidFill>
                  <a:srgbClr val="070154"/>
                </a:solidFill>
                <a:latin typeface="IBM Plex Sans"/>
                <a:ea typeface="IBM Plex Sans"/>
                <a:cs typeface="IBM Plex Sans"/>
              </a:endParaRPr>
            </a:p>
          </p:txBody>
        </p:sp>
      </p:grpSp>
      <p:grpSp>
        <p:nvGrpSpPr>
          <p:cNvPr id="13" name="authored-header"/>
          <p:cNvGrpSpPr/>
          <p:nvPr/>
        </p:nvGrpSpPr>
        <p:grpSpPr>
          <a:xfrm>
            <a:off x="723900" y="685800"/>
            <a:ext cx="9372600" cy="914400"/>
            <a:chOff x="723900" y="685800"/>
            <a:chExt cx="9372600" cy="914400"/>
          </a:xfrm>
        </p:grpSpPr>
        <p:sp>
          <p:nvSpPr>
            <p:cNvPr id="8"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Activation Roadmap: engineering track</a:t>
              </a:r>
              <a:endParaRPr lang="en-US" sz="3200" spc="-64" kern="0" b="0" i="0" dirty="0">
                <a:solidFill>
                  <a:srgbClr val="070154"/>
                </a:solidFill>
                <a:latin typeface="IBM Plex Sans SemiBold"/>
                <a:ea typeface="IBM Plex Sans SemiBold"/>
                <a:cs typeface="IBM Plex Sans SemiBold"/>
              </a:endParaRPr>
            </a:p>
          </p:txBody>
        </p:sp>
      </p:grpSp>
      <p:grpSp>
        <p:nvGrpSpPr>
          <p:cNvPr id="14" name="authored-eyebrow"/>
          <p:cNvGrpSpPr/>
          <p:nvPr/>
        </p:nvGrpSpPr>
        <p:grpSpPr>
          <a:xfrm>
            <a:off x="723900" y="457200"/>
            <a:ext cx="9372600" cy="228600"/>
            <a:chOff x="723900" y="457200"/>
            <a:chExt cx="9372600" cy="228600"/>
          </a:xfrm>
        </p:grpSpPr>
        <p:sp>
          <p:nvSpPr>
            <p:cNvPr id="9"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a:t>
              </a:r>
              <a:endParaRPr lang="en-US" sz="1000" spc="80" kern="0" b="0" i="0" dirty="0">
                <a:solidFill>
                  <a:srgbClr val="0047FF"/>
                </a:solidFill>
                <a:latin typeface="IBM Plex Mono SemiBold"/>
                <a:ea typeface="IBM Plex Mono SemiBold"/>
                <a:cs typeface="IBM Plex Mono SemiBold"/>
              </a:endParaRPr>
            </a:p>
          </p:txBody>
        </p:sp>
      </p:gr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dxc-021">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21</a:t>
            </a:fld>
            <a:endParaRPr lang="en-US" sz="700" spc="0" kern="0" b="0" i="0" dirty="0">
              <a:solidFill>
                <a:srgbClr val="070154"/>
              </a:solidFill>
              <a:latin typeface="IBM Plex Mono SemiBold"/>
              <a:ea typeface="IBM Plex Mono SemiBold"/>
              <a:cs typeface="IBM Plex Mono SemiBold"/>
            </a:endParaRPr>
          </a:p>
        </p:txBody>
      </p:sp>
      <p:grpSp>
        <p:nvGrpSpPr>
          <p:cNvPr id="25" name="today-panel"/>
          <p:cNvGrpSpPr/>
          <p:nvPr/>
        </p:nvGrpSpPr>
        <p:grpSpPr>
          <a:xfrm>
            <a:off x="723900" y="1600200"/>
            <a:ext cx="3429000" cy="3429000"/>
            <a:chOff x="723900" y="1600200"/>
            <a:chExt cx="3429000" cy="3429000"/>
          </a:xfrm>
        </p:grpSpPr>
        <p:sp>
          <p:nvSpPr>
            <p:cNvPr id="5" name="today-panel.container"/>
            <p:cNvSpPr/>
            <p:nvPr/>
          </p:nvSpPr>
          <p:spPr>
            <a:xfrm>
              <a:off x="723900" y="1600200"/>
              <a:ext cx="3429000" cy="3429000"/>
            </a:xfrm>
            <a:prstGeom prst="rect">
              <a:avLst/>
            </a:prstGeom>
            <a:solidFill>
              <a:srgbClr val="E8EEF8"/>
            </a:solidFill>
            <a:ln>
              <a:noFill/>
            </a:ln>
          </p:spPr>
        </p:sp>
        <p:sp>
          <p:nvSpPr>
            <p:cNvPr id="6" name="today-panel.title"/>
            <p:cNvSpPr/>
            <p:nvPr/>
          </p:nvSpPr>
          <p:spPr>
            <a:xfrm>
              <a:off x="876300" y="17526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STATUS TODAY</a:t>
              </a:r>
              <a:endParaRPr lang="en-US" sz="1400" spc="0" kern="0" b="0" i="0" dirty="0">
                <a:solidFill>
                  <a:srgbClr val="070154"/>
                </a:solidFill>
                <a:latin typeface="IBM Plex Sans"/>
                <a:ea typeface="IBM Plex Sans"/>
                <a:cs typeface="IBM Plex Sans"/>
              </a:endParaRPr>
            </a:p>
          </p:txBody>
        </p:sp>
        <p:sp>
          <p:nvSpPr>
            <p:cNvPr id="7" name="today-panel.body.item-0.paragraph"/>
            <p:cNvSpPr/>
            <p:nvPr/>
          </p:nvSpPr>
          <p:spPr>
            <a:xfrm>
              <a:off x="876300" y="2133600"/>
              <a:ext cx="3124200" cy="1371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Defects reach production: at least 3 in 2026, plus 2 rollbacks, in the Core calendar.</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Only Reconcile AI has an owned technical design step before build.</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Delivery is not measured end to end, and the vendor team is not measured on delivery.</a:t>
              </a:r>
              <a:endParaRPr lang="en-US" sz="1200" spc="0" kern="0" b="0" i="0" dirty="0">
                <a:solidFill>
                  <a:srgbClr val="50658E"/>
                </a:solidFill>
                <a:latin typeface="IBM Plex Sans"/>
                <a:ea typeface="IBM Plex Sans"/>
                <a:cs typeface="IBM Plex Sans"/>
              </a:endParaRPr>
            </a:p>
          </p:txBody>
        </p:sp>
      </p:grpSp>
      <p:grpSp>
        <p:nvGrpSpPr>
          <p:cNvPr id="26" name="horizon0"/>
          <p:cNvGrpSpPr/>
          <p:nvPr/>
        </p:nvGrpSpPr>
        <p:grpSpPr>
          <a:xfrm>
            <a:off x="4381500" y="1600200"/>
            <a:ext cx="1143000" cy="990600"/>
            <a:chOff x="4381500" y="1600200"/>
            <a:chExt cx="1143000" cy="990600"/>
          </a:xfrm>
        </p:grpSpPr>
        <p:sp>
          <p:nvSpPr>
            <p:cNvPr id="8" name="horizon0.surface"/>
            <p:cNvSpPr/>
            <p:nvPr/>
          </p:nvSpPr>
          <p:spPr>
            <a:xfrm>
              <a:off x="4381500" y="1600200"/>
              <a:ext cx="1143000" cy="990600"/>
            </a:xfrm>
            <a:prstGeom prst="rect">
              <a:avLst/>
            </a:prstGeom>
            <a:solidFill>
              <a:srgbClr val="070154"/>
            </a:solidFill>
            <a:ln>
              <a:noFill/>
            </a:ln>
          </p:spPr>
        </p:sp>
        <p:sp>
          <p:nvSpPr>
            <p:cNvPr id="9" name="horizon0.text"/>
            <p:cNvSpPr/>
            <p:nvPr/>
          </p:nvSpPr>
          <p:spPr>
            <a:xfrm>
              <a:off x="4533900" y="1638300"/>
              <a:ext cx="8382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NOW</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Rules</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Core</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Recon</a:t>
              </a:r>
              <a:endParaRPr lang="en-US" sz="1200" spc="0" kern="0" b="0" i="0" dirty="0">
                <a:solidFill>
                  <a:srgbClr val="FFFFFF"/>
                </a:solidFill>
                <a:latin typeface="IBM Plex Sans"/>
                <a:ea typeface="IBM Plex Sans"/>
                <a:cs typeface="IBM Plex Sans"/>
              </a:endParaRPr>
            </a:p>
          </p:txBody>
        </p:sp>
      </p:grpSp>
      <p:grpSp>
        <p:nvGrpSpPr>
          <p:cNvPr id="27" name="horizon-body0"/>
          <p:cNvGrpSpPr/>
          <p:nvPr/>
        </p:nvGrpSpPr>
        <p:grpSpPr>
          <a:xfrm>
            <a:off x="5676900" y="1600200"/>
            <a:ext cx="5791200" cy="990600"/>
            <a:chOff x="5676900" y="1600200"/>
            <a:chExt cx="5791200" cy="990600"/>
          </a:xfrm>
        </p:grpSpPr>
        <p:sp>
          <p:nvSpPr>
            <p:cNvPr id="10" name="horizon-body0.container"/>
            <p:cNvSpPr/>
            <p:nvPr/>
          </p:nvSpPr>
          <p:spPr>
            <a:xfrm>
              <a:off x="5676900" y="1600200"/>
              <a:ext cx="5791200" cy="990600"/>
            </a:xfrm>
            <a:prstGeom prst="rect">
              <a:avLst/>
            </a:prstGeom>
            <a:solidFill>
              <a:srgbClr val="E8EEF8"/>
            </a:solidFill>
            <a:ln>
              <a:noFill/>
            </a:ln>
          </p:spPr>
        </p:sp>
        <p:sp>
          <p:nvSpPr>
            <p:cNvPr id="11" name="horizon-body0.body.item-0.paragraph"/>
            <p:cNvSpPr/>
            <p:nvPr/>
          </p:nvSpPr>
          <p:spPr>
            <a:xfrm>
              <a:off x="5791200" y="1714500"/>
              <a:ext cx="5562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Rules Engine PRD → Architecture Design Agent spec; Team Lead reviews/signs. Baseline release frequency, lead time, change failure and restore time.</a:t>
              </a:r>
              <a:endParaRPr lang="en-US" sz="1200" spc="0" kern="0" b="0" i="0" dirty="0">
                <a:solidFill>
                  <a:srgbClr val="50658E"/>
                </a:solidFill>
                <a:latin typeface="IBM Plex Sans"/>
                <a:ea typeface="IBM Plex Sans"/>
                <a:cs typeface="IBM Plex Sans"/>
              </a:endParaRPr>
            </a:p>
          </p:txBody>
        </p:sp>
      </p:grpSp>
      <p:grpSp>
        <p:nvGrpSpPr>
          <p:cNvPr id="28" name="horizon1"/>
          <p:cNvGrpSpPr/>
          <p:nvPr/>
        </p:nvGrpSpPr>
        <p:grpSpPr>
          <a:xfrm>
            <a:off x="4381500" y="2743200"/>
            <a:ext cx="1143000" cy="990600"/>
            <a:chOff x="4381500" y="2743200"/>
            <a:chExt cx="1143000" cy="990600"/>
          </a:xfrm>
        </p:grpSpPr>
        <p:sp>
          <p:nvSpPr>
            <p:cNvPr id="12" name="horizon1.surface"/>
            <p:cNvSpPr/>
            <p:nvPr/>
          </p:nvSpPr>
          <p:spPr>
            <a:xfrm>
              <a:off x="4381500" y="2743200"/>
              <a:ext cx="1143000" cy="990600"/>
            </a:xfrm>
            <a:prstGeom prst="rect">
              <a:avLst/>
            </a:prstGeom>
            <a:solidFill>
              <a:srgbClr val="CED7E6"/>
            </a:solidFill>
            <a:ln>
              <a:noFill/>
            </a:ln>
          </p:spPr>
        </p:sp>
        <p:sp>
          <p:nvSpPr>
            <p:cNvPr id="13" name="horizon1.text"/>
            <p:cNvSpPr/>
            <p:nvPr/>
          </p:nvSpPr>
          <p:spPr>
            <a:xfrm>
              <a:off x="4533900" y="31242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NEXT</a:t>
              </a:r>
              <a:endParaRPr lang="en-US" sz="1200" spc="0" kern="0" b="0" i="0" dirty="0">
                <a:solidFill>
                  <a:srgbClr val="070154"/>
                </a:solidFill>
                <a:latin typeface="IBM Plex Sans"/>
                <a:ea typeface="IBM Plex Sans"/>
                <a:cs typeface="IBM Plex Sans"/>
              </a:endParaRPr>
            </a:p>
          </p:txBody>
        </p:sp>
      </p:grpSp>
      <p:grpSp>
        <p:nvGrpSpPr>
          <p:cNvPr id="29" name="horizon-body1"/>
          <p:cNvGrpSpPr/>
          <p:nvPr/>
        </p:nvGrpSpPr>
        <p:grpSpPr>
          <a:xfrm>
            <a:off x="5676900" y="2743200"/>
            <a:ext cx="5791200" cy="990600"/>
            <a:chOff x="5676900" y="2743200"/>
            <a:chExt cx="5791200" cy="990600"/>
          </a:xfrm>
        </p:grpSpPr>
        <p:sp>
          <p:nvSpPr>
            <p:cNvPr id="14" name="horizon-body1.container"/>
            <p:cNvSpPr/>
            <p:nvPr/>
          </p:nvSpPr>
          <p:spPr>
            <a:xfrm>
              <a:off x="5676900" y="2743200"/>
              <a:ext cx="5791200" cy="990600"/>
            </a:xfrm>
            <a:prstGeom prst="rect">
              <a:avLst/>
            </a:prstGeom>
            <a:solidFill>
              <a:srgbClr val="E8EEF8"/>
            </a:solidFill>
            <a:ln>
              <a:noFill/>
            </a:ln>
          </p:spPr>
        </p:sp>
        <p:sp>
          <p:nvSpPr>
            <p:cNvPr id="15" name="horizon-body1.body.item-0.paragraph"/>
            <p:cNvSpPr/>
            <p:nvPr/>
          </p:nvSpPr>
          <p:spPr>
            <a:xfrm>
              <a:off x="5791200" y="2857500"/>
              <a:ext cx="5562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Core tech spec template; Recon flow metrics live; monthly quality view including the vendor team.</a:t>
              </a:r>
              <a:endParaRPr lang="en-US" sz="1200" spc="0" kern="0" b="0" i="0" dirty="0">
                <a:solidFill>
                  <a:srgbClr val="50658E"/>
                </a:solidFill>
                <a:latin typeface="IBM Plex Sans"/>
                <a:ea typeface="IBM Plex Sans"/>
                <a:cs typeface="IBM Plex Sans"/>
              </a:endParaRPr>
            </a:p>
          </p:txBody>
        </p:sp>
      </p:grpSp>
      <p:grpSp>
        <p:nvGrpSpPr>
          <p:cNvPr id="30" name="horizon2"/>
          <p:cNvGrpSpPr/>
          <p:nvPr/>
        </p:nvGrpSpPr>
        <p:grpSpPr>
          <a:xfrm>
            <a:off x="4381500" y="3886200"/>
            <a:ext cx="1143000" cy="990600"/>
            <a:chOff x="4381500" y="3886200"/>
            <a:chExt cx="1143000" cy="990600"/>
          </a:xfrm>
        </p:grpSpPr>
        <p:sp>
          <p:nvSpPr>
            <p:cNvPr id="16" name="horizon2.surface"/>
            <p:cNvSpPr/>
            <p:nvPr/>
          </p:nvSpPr>
          <p:spPr>
            <a:xfrm>
              <a:off x="4381500" y="3886200"/>
              <a:ext cx="1143000" cy="990600"/>
            </a:xfrm>
            <a:prstGeom prst="rect">
              <a:avLst/>
            </a:prstGeom>
            <a:solidFill>
              <a:srgbClr val="E8EEF8"/>
            </a:solidFill>
            <a:ln>
              <a:noFill/>
            </a:ln>
          </p:spPr>
        </p:sp>
        <p:sp>
          <p:nvSpPr>
            <p:cNvPr id="17" name="horizon2.text"/>
            <p:cNvSpPr/>
            <p:nvPr/>
          </p:nvSpPr>
          <p:spPr>
            <a:xfrm>
              <a:off x="4533900" y="42672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FUTURE</a:t>
              </a:r>
              <a:endParaRPr lang="en-US" sz="1200" spc="0" kern="0" b="0" i="0" dirty="0">
                <a:solidFill>
                  <a:srgbClr val="070154"/>
                </a:solidFill>
                <a:latin typeface="IBM Plex Sans"/>
                <a:ea typeface="IBM Plex Sans"/>
                <a:cs typeface="IBM Plex Sans"/>
              </a:endParaRPr>
            </a:p>
          </p:txBody>
        </p:sp>
      </p:grpSp>
      <p:grpSp>
        <p:nvGrpSpPr>
          <p:cNvPr id="31" name="horizon-body2"/>
          <p:cNvGrpSpPr/>
          <p:nvPr/>
        </p:nvGrpSpPr>
        <p:grpSpPr>
          <a:xfrm>
            <a:off x="5676900" y="3886200"/>
            <a:ext cx="5791200" cy="990600"/>
            <a:chOff x="5676900" y="3886200"/>
            <a:chExt cx="5791200" cy="990600"/>
          </a:xfrm>
        </p:grpSpPr>
        <p:sp>
          <p:nvSpPr>
            <p:cNvPr id="18" name="horizon-body2.container"/>
            <p:cNvSpPr/>
            <p:nvPr/>
          </p:nvSpPr>
          <p:spPr>
            <a:xfrm>
              <a:off x="5676900" y="3886200"/>
              <a:ext cx="5791200" cy="990600"/>
            </a:xfrm>
            <a:prstGeom prst="rect">
              <a:avLst/>
            </a:prstGeom>
            <a:solidFill>
              <a:srgbClr val="E8EEF8"/>
            </a:solidFill>
            <a:ln>
              <a:noFill/>
            </a:ln>
          </p:spPr>
        </p:sp>
        <p:sp>
          <p:nvSpPr>
            <p:cNvPr id="19" name="horizon-body2.body.item-0.paragraph"/>
            <p:cNvSpPr/>
            <p:nvPr/>
          </p:nvSpPr>
          <p:spPr>
            <a:xfrm>
              <a:off x="5791200" y="4000500"/>
              <a:ext cx="55626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Quality measures inform prioritization and portfolio decisions.</a:t>
              </a:r>
              <a:endParaRPr lang="en-US" sz="1200" spc="0" kern="0" b="0" i="0" dirty="0">
                <a:solidFill>
                  <a:srgbClr val="50658E"/>
                </a:solidFill>
                <a:latin typeface="IBM Plex Sans"/>
                <a:ea typeface="IBM Plex Sans"/>
                <a:cs typeface="IBM Plex Sans"/>
              </a:endParaRPr>
            </a:p>
          </p:txBody>
        </p:sp>
      </p:grpSp>
      <p:grpSp>
        <p:nvGrpSpPr>
          <p:cNvPr id="32" name="agentic-and-ownership"/>
          <p:cNvGrpSpPr/>
          <p:nvPr/>
        </p:nvGrpSpPr>
        <p:grpSpPr>
          <a:xfrm>
            <a:off x="723900" y="5181600"/>
            <a:ext cx="10744200" cy="762000"/>
            <a:chOff x="723900" y="5181600"/>
            <a:chExt cx="10744200" cy="762000"/>
          </a:xfrm>
        </p:grpSpPr>
        <p:sp>
          <p:nvSpPr>
            <p:cNvPr id="20" name="agentic-and-ownership.surface"/>
            <p:cNvSpPr/>
            <p:nvPr/>
          </p:nvSpPr>
          <p:spPr>
            <a:xfrm>
              <a:off x="723900" y="5181600"/>
              <a:ext cx="10744200" cy="762000"/>
            </a:xfrm>
            <a:prstGeom prst="rect">
              <a:avLst/>
            </a:prstGeom>
            <a:solidFill>
              <a:srgbClr val="E8EEF8"/>
            </a:solidFill>
            <a:ln>
              <a:noFill/>
            </a:ln>
          </p:spPr>
        </p:sp>
        <p:sp>
          <p:nvSpPr>
            <p:cNvPr id="21" name="agentic-and-ownership.text"/>
            <p:cNvSpPr/>
            <p:nvPr/>
          </p:nvSpPr>
          <p:spPr>
            <a:xfrm>
              <a:off x="876300" y="5410200"/>
              <a:ext cx="104394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Agentic lens:  the Architecture Design Agent drafts the spec from the PRD; people review and sign before any build starts.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Owner: Engineering leadership + Product  |  Measure: change failure rate, escaped defects, and lead time</a:t>
              </a:r>
              <a:endParaRPr lang="en-US" sz="900" spc="0" kern="0" b="0" i="0" dirty="0">
                <a:solidFill>
                  <a:srgbClr val="070154"/>
                </a:solidFill>
                <a:latin typeface="IBM Plex Sans"/>
                <a:ea typeface="IBM Plex Sans"/>
                <a:cs typeface="IBM Plex Sans"/>
              </a:endParaRPr>
            </a:p>
          </p:txBody>
        </p:sp>
      </p:grpSp>
      <p:grpSp>
        <p:nvGrpSpPr>
          <p:cNvPr id="33" name="authored-header"/>
          <p:cNvGrpSpPr/>
          <p:nvPr/>
        </p:nvGrpSpPr>
        <p:grpSpPr>
          <a:xfrm>
            <a:off x="723900" y="685800"/>
            <a:ext cx="9372600" cy="914400"/>
            <a:chOff x="723900" y="685800"/>
            <a:chExt cx="9372600" cy="914400"/>
          </a:xfrm>
        </p:grpSpPr>
        <p:sp>
          <p:nvSpPr>
            <p:cNvPr id="22"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Engineering Priority: Quality</a:t>
              </a:r>
              <a:endParaRPr lang="en-US" sz="3200" spc="-64" kern="0" b="0" i="0" dirty="0">
                <a:solidFill>
                  <a:srgbClr val="070154"/>
                </a:solidFill>
                <a:latin typeface="IBM Plex Sans SemiBold"/>
                <a:ea typeface="IBM Plex Sans SemiBold"/>
                <a:cs typeface="IBM Plex Sans SemiBold"/>
              </a:endParaRPr>
            </a:p>
          </p:txBody>
        </p:sp>
      </p:grpSp>
      <p:grpSp>
        <p:nvGrpSpPr>
          <p:cNvPr id="34" name="authored-eyebrow"/>
          <p:cNvGrpSpPr/>
          <p:nvPr/>
        </p:nvGrpSpPr>
        <p:grpSpPr>
          <a:xfrm>
            <a:off x="723900" y="457200"/>
            <a:ext cx="9372600" cy="228600"/>
            <a:chOff x="723900" y="457200"/>
            <a:chExt cx="9372600" cy="228600"/>
          </a:xfrm>
        </p:grpSpPr>
        <p:sp>
          <p:nvSpPr>
            <p:cNvPr id="23"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 QUALITY</a:t>
              </a:r>
              <a:endParaRPr lang="en-US" sz="1000" spc="80" kern="0" b="0" i="0" dirty="0">
                <a:solidFill>
                  <a:srgbClr val="0047FF"/>
                </a:solidFill>
                <a:latin typeface="IBM Plex Mono SemiBold"/>
                <a:ea typeface="IBM Plex Mono SemiBold"/>
                <a:cs typeface="IBM Plex Mono SemiBold"/>
              </a:endParaRPr>
            </a:p>
          </p:txBody>
        </p:sp>
      </p:grpSp>
      <p:grpSp>
        <p:nvGrpSpPr>
          <p:cNvPr id="35" name="client-brand"/>
          <p:cNvGrpSpPr/>
          <p:nvPr/>
        </p:nvGrpSpPr>
        <p:grpSpPr>
          <a:xfrm>
            <a:off x="10382250" y="457200"/>
            <a:ext cx="1028700" cy="457200"/>
            <a:chOff x="10382250" y="457200"/>
            <a:chExt cx="1028700" cy="457200"/>
          </a:xfrm>
        </p:grpSpPr>
        <p:pic>
          <p:nvPicPr>
            <p:cNvPr id="24"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dxc-022">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22</a:t>
            </a:fld>
            <a:endParaRPr lang="en-US" sz="700" spc="0" kern="0" b="0" i="0" dirty="0">
              <a:solidFill>
                <a:srgbClr val="070154"/>
              </a:solidFill>
              <a:latin typeface="IBM Plex Mono SemiBold"/>
              <a:ea typeface="IBM Plex Mono SemiBold"/>
              <a:cs typeface="IBM Plex Mono SemiBold"/>
            </a:endParaRPr>
          </a:p>
        </p:txBody>
      </p:sp>
      <p:grpSp>
        <p:nvGrpSpPr>
          <p:cNvPr id="25" name="today-panel"/>
          <p:cNvGrpSpPr/>
          <p:nvPr/>
        </p:nvGrpSpPr>
        <p:grpSpPr>
          <a:xfrm>
            <a:off x="723900" y="1600200"/>
            <a:ext cx="3429000" cy="3429000"/>
            <a:chOff x="723900" y="1600200"/>
            <a:chExt cx="3429000" cy="3429000"/>
          </a:xfrm>
        </p:grpSpPr>
        <p:sp>
          <p:nvSpPr>
            <p:cNvPr id="5" name="today-panel.container"/>
            <p:cNvSpPr/>
            <p:nvPr/>
          </p:nvSpPr>
          <p:spPr>
            <a:xfrm>
              <a:off x="723900" y="1600200"/>
              <a:ext cx="3429000" cy="3429000"/>
            </a:xfrm>
            <a:prstGeom prst="rect">
              <a:avLst/>
            </a:prstGeom>
            <a:solidFill>
              <a:srgbClr val="E8EEF8"/>
            </a:solidFill>
            <a:ln>
              <a:noFill/>
            </a:ln>
          </p:spPr>
        </p:sp>
        <p:sp>
          <p:nvSpPr>
            <p:cNvPr id="6" name="today-panel.title"/>
            <p:cNvSpPr/>
            <p:nvPr/>
          </p:nvSpPr>
          <p:spPr>
            <a:xfrm>
              <a:off x="876300" y="17526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STATUS TODAY</a:t>
              </a:r>
              <a:endParaRPr lang="en-US" sz="1400" spc="0" kern="0" b="0" i="0" dirty="0">
                <a:solidFill>
                  <a:srgbClr val="070154"/>
                </a:solidFill>
                <a:latin typeface="IBM Plex Sans"/>
                <a:ea typeface="IBM Plex Sans"/>
                <a:cs typeface="IBM Plex Sans"/>
              </a:endParaRPr>
            </a:p>
          </p:txBody>
        </p:sp>
        <p:sp>
          <p:nvSpPr>
            <p:cNvPr id="7" name="today-panel.body.item-0.paragraph"/>
            <p:cNvSpPr/>
            <p:nvPr/>
          </p:nvSpPr>
          <p:spPr>
            <a:xfrm>
              <a:off x="876300" y="2133600"/>
              <a:ext cx="3124200" cy="2743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Core regression is manual, with limited QA capacity.</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Reconcile AI's verification agents write Jest, Playwright, and Postman tests per story.</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XConnect is ~100% automated; other pods are partially automated.</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Teams wait for access, test data, and read-only diagnostics; Recon waited months for production-like data.</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QA uses Claude to create tests and diagnose failures; access is limited to some full-time staff.</a:t>
              </a:r>
              <a:endParaRPr lang="en-US" sz="1200" spc="0" kern="0" b="0" i="0" dirty="0">
                <a:solidFill>
                  <a:srgbClr val="50658E"/>
                </a:solidFill>
                <a:latin typeface="IBM Plex Sans"/>
                <a:ea typeface="IBM Plex Sans"/>
                <a:cs typeface="IBM Plex Sans"/>
              </a:endParaRPr>
            </a:p>
          </p:txBody>
        </p:sp>
      </p:grpSp>
      <p:grpSp>
        <p:nvGrpSpPr>
          <p:cNvPr id="26" name="horizon0"/>
          <p:cNvGrpSpPr/>
          <p:nvPr/>
        </p:nvGrpSpPr>
        <p:grpSpPr>
          <a:xfrm>
            <a:off x="4381500" y="1600200"/>
            <a:ext cx="1143000" cy="990600"/>
            <a:chOff x="4381500" y="1600200"/>
            <a:chExt cx="1143000" cy="990600"/>
          </a:xfrm>
        </p:grpSpPr>
        <p:sp>
          <p:nvSpPr>
            <p:cNvPr id="8" name="horizon0.surface"/>
            <p:cNvSpPr/>
            <p:nvPr/>
          </p:nvSpPr>
          <p:spPr>
            <a:xfrm>
              <a:off x="4381500" y="1600200"/>
              <a:ext cx="1143000" cy="990600"/>
            </a:xfrm>
            <a:prstGeom prst="rect">
              <a:avLst/>
            </a:prstGeom>
            <a:solidFill>
              <a:srgbClr val="070154"/>
            </a:solidFill>
            <a:ln>
              <a:noFill/>
            </a:ln>
          </p:spPr>
        </p:sp>
        <p:sp>
          <p:nvSpPr>
            <p:cNvPr id="9" name="horizon0.text"/>
            <p:cNvSpPr/>
            <p:nvPr/>
          </p:nvSpPr>
          <p:spPr>
            <a:xfrm>
              <a:off x="4533900" y="1638300"/>
              <a:ext cx="8382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NOW</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Rules</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Core</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Recon</a:t>
              </a:r>
              <a:endParaRPr lang="en-US" sz="1200" spc="0" kern="0" b="0" i="0" dirty="0">
                <a:solidFill>
                  <a:srgbClr val="FFFFFF"/>
                </a:solidFill>
                <a:latin typeface="IBM Plex Sans"/>
                <a:ea typeface="IBM Plex Sans"/>
                <a:cs typeface="IBM Plex Sans"/>
              </a:endParaRPr>
            </a:p>
          </p:txBody>
        </p:sp>
      </p:grpSp>
      <p:grpSp>
        <p:nvGrpSpPr>
          <p:cNvPr id="27" name="horizon-body0"/>
          <p:cNvGrpSpPr/>
          <p:nvPr/>
        </p:nvGrpSpPr>
        <p:grpSpPr>
          <a:xfrm>
            <a:off x="5676900" y="1600200"/>
            <a:ext cx="5791200" cy="990600"/>
            <a:chOff x="5676900" y="1600200"/>
            <a:chExt cx="5791200" cy="990600"/>
          </a:xfrm>
        </p:grpSpPr>
        <p:sp>
          <p:nvSpPr>
            <p:cNvPr id="10" name="horizon-body0.container"/>
            <p:cNvSpPr/>
            <p:nvPr/>
          </p:nvSpPr>
          <p:spPr>
            <a:xfrm>
              <a:off x="5676900" y="1600200"/>
              <a:ext cx="5791200" cy="990600"/>
            </a:xfrm>
            <a:prstGeom prst="rect">
              <a:avLst/>
            </a:prstGeom>
            <a:solidFill>
              <a:srgbClr val="E8EEF8"/>
            </a:solidFill>
            <a:ln>
              <a:noFill/>
            </a:ln>
          </p:spPr>
        </p:sp>
        <p:sp>
          <p:nvSpPr>
            <p:cNvPr id="11" name="horizon-body0.body.item-0.paragraph"/>
            <p:cNvSpPr/>
            <p:nvPr/>
          </p:nvSpPr>
          <p:spPr>
            <a:xfrm>
              <a:off x="5791200" y="1714500"/>
              <a:ext cx="5562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Core: map highest-risk regression and manual effort, using Release root causes. Log access/data waiters, reasons and duration.</a:t>
              </a:r>
              <a:endParaRPr lang="en-US" sz="1200" spc="0" kern="0" b="0" i="0" dirty="0">
                <a:solidFill>
                  <a:srgbClr val="50658E"/>
                </a:solidFill>
                <a:latin typeface="IBM Plex Sans"/>
                <a:ea typeface="IBM Plex Sans"/>
                <a:cs typeface="IBM Plex Sans"/>
              </a:endParaRPr>
            </a:p>
          </p:txBody>
        </p:sp>
      </p:grpSp>
      <p:grpSp>
        <p:nvGrpSpPr>
          <p:cNvPr id="28" name="horizon1"/>
          <p:cNvGrpSpPr/>
          <p:nvPr/>
        </p:nvGrpSpPr>
        <p:grpSpPr>
          <a:xfrm>
            <a:off x="4381500" y="2743200"/>
            <a:ext cx="1143000" cy="990600"/>
            <a:chOff x="4381500" y="2743200"/>
            <a:chExt cx="1143000" cy="990600"/>
          </a:xfrm>
        </p:grpSpPr>
        <p:sp>
          <p:nvSpPr>
            <p:cNvPr id="12" name="horizon1.surface"/>
            <p:cNvSpPr/>
            <p:nvPr/>
          </p:nvSpPr>
          <p:spPr>
            <a:xfrm>
              <a:off x="4381500" y="2743200"/>
              <a:ext cx="1143000" cy="990600"/>
            </a:xfrm>
            <a:prstGeom prst="rect">
              <a:avLst/>
            </a:prstGeom>
            <a:solidFill>
              <a:srgbClr val="CED7E6"/>
            </a:solidFill>
            <a:ln>
              <a:noFill/>
            </a:ln>
          </p:spPr>
        </p:sp>
        <p:sp>
          <p:nvSpPr>
            <p:cNvPr id="13" name="horizon1.text"/>
            <p:cNvSpPr/>
            <p:nvPr/>
          </p:nvSpPr>
          <p:spPr>
            <a:xfrm>
              <a:off x="4533900" y="31242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NEXT</a:t>
              </a:r>
              <a:endParaRPr lang="en-US" sz="1200" spc="0" kern="0" b="0" i="0" dirty="0">
                <a:solidFill>
                  <a:srgbClr val="070154"/>
                </a:solidFill>
                <a:latin typeface="IBM Plex Sans"/>
                <a:ea typeface="IBM Plex Sans"/>
                <a:cs typeface="IBM Plex Sans"/>
              </a:endParaRPr>
            </a:p>
          </p:txBody>
        </p:sp>
      </p:grpSp>
      <p:grpSp>
        <p:nvGrpSpPr>
          <p:cNvPr id="29" name="horizon-body1"/>
          <p:cNvGrpSpPr/>
          <p:nvPr/>
        </p:nvGrpSpPr>
        <p:grpSpPr>
          <a:xfrm>
            <a:off x="5676900" y="2743200"/>
            <a:ext cx="5791200" cy="990600"/>
            <a:chOff x="5676900" y="2743200"/>
            <a:chExt cx="5791200" cy="990600"/>
          </a:xfrm>
        </p:grpSpPr>
        <p:sp>
          <p:nvSpPr>
            <p:cNvPr id="14" name="horizon-body1.container"/>
            <p:cNvSpPr/>
            <p:nvPr/>
          </p:nvSpPr>
          <p:spPr>
            <a:xfrm>
              <a:off x="5676900" y="2743200"/>
              <a:ext cx="5791200" cy="990600"/>
            </a:xfrm>
            <a:prstGeom prst="rect">
              <a:avLst/>
            </a:prstGeom>
            <a:solidFill>
              <a:srgbClr val="E8EEF8"/>
            </a:solidFill>
            <a:ln>
              <a:noFill/>
            </a:ln>
          </p:spPr>
        </p:sp>
        <p:sp>
          <p:nvSpPr>
            <p:cNvPr id="15" name="horizon-body1.body.item-0.paragraph"/>
            <p:cNvSpPr/>
            <p:nvPr/>
          </p:nvSpPr>
          <p:spPr>
            <a:xfrm>
              <a:off x="5791200" y="2857500"/>
              <a:ext cx="5562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Automate Core high-risk workflows; extend Recon test agents to Eligibility AI and Pay Connect; provide masked data and read-only diagnostics.</a:t>
              </a:r>
              <a:endParaRPr lang="en-US" sz="1200" spc="0" kern="0" b="0" i="0" dirty="0">
                <a:solidFill>
                  <a:srgbClr val="50658E"/>
                </a:solidFill>
                <a:latin typeface="IBM Plex Sans"/>
                <a:ea typeface="IBM Plex Sans"/>
                <a:cs typeface="IBM Plex Sans"/>
              </a:endParaRPr>
            </a:p>
          </p:txBody>
        </p:sp>
      </p:grpSp>
      <p:grpSp>
        <p:nvGrpSpPr>
          <p:cNvPr id="30" name="horizon2"/>
          <p:cNvGrpSpPr/>
          <p:nvPr/>
        </p:nvGrpSpPr>
        <p:grpSpPr>
          <a:xfrm>
            <a:off x="4381500" y="3886200"/>
            <a:ext cx="1143000" cy="990600"/>
            <a:chOff x="4381500" y="3886200"/>
            <a:chExt cx="1143000" cy="990600"/>
          </a:xfrm>
        </p:grpSpPr>
        <p:sp>
          <p:nvSpPr>
            <p:cNvPr id="16" name="horizon2.surface"/>
            <p:cNvSpPr/>
            <p:nvPr/>
          </p:nvSpPr>
          <p:spPr>
            <a:xfrm>
              <a:off x="4381500" y="3886200"/>
              <a:ext cx="1143000" cy="990600"/>
            </a:xfrm>
            <a:prstGeom prst="rect">
              <a:avLst/>
            </a:prstGeom>
            <a:solidFill>
              <a:srgbClr val="E8EEF8"/>
            </a:solidFill>
            <a:ln>
              <a:noFill/>
            </a:ln>
          </p:spPr>
        </p:sp>
        <p:sp>
          <p:nvSpPr>
            <p:cNvPr id="17" name="horizon2.text"/>
            <p:cNvSpPr/>
            <p:nvPr/>
          </p:nvSpPr>
          <p:spPr>
            <a:xfrm>
              <a:off x="4533900" y="42672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FUTURE</a:t>
              </a:r>
              <a:endParaRPr lang="en-US" sz="1200" spc="0" kern="0" b="0" i="0" dirty="0">
                <a:solidFill>
                  <a:srgbClr val="070154"/>
                </a:solidFill>
                <a:latin typeface="IBM Plex Sans"/>
                <a:ea typeface="IBM Plex Sans"/>
                <a:cs typeface="IBM Plex Sans"/>
              </a:endParaRPr>
            </a:p>
          </p:txBody>
        </p:sp>
      </p:grpSp>
      <p:grpSp>
        <p:nvGrpSpPr>
          <p:cNvPr id="31" name="horizon-body2"/>
          <p:cNvGrpSpPr/>
          <p:nvPr/>
        </p:nvGrpSpPr>
        <p:grpSpPr>
          <a:xfrm>
            <a:off x="5676900" y="3886200"/>
            <a:ext cx="5791200" cy="990600"/>
            <a:chOff x="5676900" y="3886200"/>
            <a:chExt cx="5791200" cy="990600"/>
          </a:xfrm>
        </p:grpSpPr>
        <p:sp>
          <p:nvSpPr>
            <p:cNvPr id="18" name="horizon-body2.container"/>
            <p:cNvSpPr/>
            <p:nvPr/>
          </p:nvSpPr>
          <p:spPr>
            <a:xfrm>
              <a:off x="5676900" y="3886200"/>
              <a:ext cx="5791200" cy="990600"/>
            </a:xfrm>
            <a:prstGeom prst="rect">
              <a:avLst/>
            </a:prstGeom>
            <a:solidFill>
              <a:srgbClr val="E8EEF8"/>
            </a:solidFill>
            <a:ln>
              <a:noFill/>
            </a:ln>
          </p:spPr>
        </p:sp>
        <p:sp>
          <p:nvSpPr>
            <p:cNvPr id="19" name="horizon-body2.body.item-0.paragraph"/>
            <p:cNvSpPr/>
            <p:nvPr/>
          </p:nvSpPr>
          <p:spPr>
            <a:xfrm>
              <a:off x="5791200" y="4000500"/>
              <a:ext cx="5562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Automated regression as a release entry criterion on every pod.</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Self-service environments and access.</a:t>
              </a:r>
              <a:endParaRPr lang="en-US" sz="1200" spc="0" kern="0" b="0" i="0" dirty="0">
                <a:solidFill>
                  <a:srgbClr val="50658E"/>
                </a:solidFill>
                <a:latin typeface="IBM Plex Sans"/>
                <a:ea typeface="IBM Plex Sans"/>
                <a:cs typeface="IBM Plex Sans"/>
              </a:endParaRPr>
            </a:p>
          </p:txBody>
        </p:sp>
      </p:grpSp>
      <p:grpSp>
        <p:nvGrpSpPr>
          <p:cNvPr id="32" name="agentic-and-ownership"/>
          <p:cNvGrpSpPr/>
          <p:nvPr/>
        </p:nvGrpSpPr>
        <p:grpSpPr>
          <a:xfrm>
            <a:off x="723900" y="5181600"/>
            <a:ext cx="10744200" cy="762000"/>
            <a:chOff x="723900" y="5181600"/>
            <a:chExt cx="10744200" cy="762000"/>
          </a:xfrm>
        </p:grpSpPr>
        <p:sp>
          <p:nvSpPr>
            <p:cNvPr id="20" name="agentic-and-ownership.surface"/>
            <p:cNvSpPr/>
            <p:nvPr/>
          </p:nvSpPr>
          <p:spPr>
            <a:xfrm>
              <a:off x="723900" y="5181600"/>
              <a:ext cx="10744200" cy="762000"/>
            </a:xfrm>
            <a:prstGeom prst="rect">
              <a:avLst/>
            </a:prstGeom>
            <a:solidFill>
              <a:srgbClr val="E8EEF8"/>
            </a:solidFill>
            <a:ln>
              <a:noFill/>
            </a:ln>
          </p:spPr>
        </p:sp>
        <p:sp>
          <p:nvSpPr>
            <p:cNvPr id="21" name="agentic-and-ownership.text"/>
            <p:cNvSpPr/>
            <p:nvPr/>
          </p:nvSpPr>
          <p:spPr>
            <a:xfrm>
              <a:off x="876300" y="5410200"/>
              <a:ext cx="104394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Agentic lens:  Recon agents write and trace tests; QA uses Claude to draft tests and diagnose failures, time-boxed and reviewed before every PR.</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Owner: Quality leadership + DevOps/Infrastructure + Security  |  Measure: automated coverage of high-risk workflows, escaped defects, wait time</a:t>
              </a:r>
              <a:endParaRPr lang="en-US" sz="900" spc="0" kern="0" b="0" i="0" dirty="0">
                <a:solidFill>
                  <a:srgbClr val="070154"/>
                </a:solidFill>
                <a:latin typeface="IBM Plex Sans"/>
                <a:ea typeface="IBM Plex Sans"/>
                <a:cs typeface="IBM Plex Sans"/>
              </a:endParaRPr>
            </a:p>
          </p:txBody>
        </p:sp>
      </p:grpSp>
      <p:grpSp>
        <p:nvGrpSpPr>
          <p:cNvPr id="33" name="authored-header"/>
          <p:cNvGrpSpPr/>
          <p:nvPr/>
        </p:nvGrpSpPr>
        <p:grpSpPr>
          <a:xfrm>
            <a:off x="723900" y="685800"/>
            <a:ext cx="9372600" cy="914400"/>
            <a:chOff x="723900" y="685800"/>
            <a:chExt cx="9372600" cy="914400"/>
          </a:xfrm>
        </p:grpSpPr>
        <p:sp>
          <p:nvSpPr>
            <p:cNvPr id="22"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Engineering Priority: Test</a:t>
              </a:r>
              <a:endParaRPr lang="en-US" sz="3200" spc="-64" kern="0" b="0" i="0" dirty="0">
                <a:solidFill>
                  <a:srgbClr val="070154"/>
                </a:solidFill>
                <a:latin typeface="IBM Plex Sans SemiBold"/>
                <a:ea typeface="IBM Plex Sans SemiBold"/>
                <a:cs typeface="IBM Plex Sans SemiBold"/>
              </a:endParaRPr>
            </a:p>
          </p:txBody>
        </p:sp>
      </p:grpSp>
      <p:grpSp>
        <p:nvGrpSpPr>
          <p:cNvPr id="34" name="authored-eyebrow"/>
          <p:cNvGrpSpPr/>
          <p:nvPr/>
        </p:nvGrpSpPr>
        <p:grpSpPr>
          <a:xfrm>
            <a:off x="723900" y="457200"/>
            <a:ext cx="9372600" cy="228600"/>
            <a:chOff x="723900" y="457200"/>
            <a:chExt cx="9372600" cy="228600"/>
          </a:xfrm>
        </p:grpSpPr>
        <p:sp>
          <p:nvSpPr>
            <p:cNvPr id="23"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 TEST</a:t>
              </a:r>
              <a:endParaRPr lang="en-US" sz="1000" spc="80" kern="0" b="0" i="0" dirty="0">
                <a:solidFill>
                  <a:srgbClr val="0047FF"/>
                </a:solidFill>
                <a:latin typeface="IBM Plex Mono SemiBold"/>
                <a:ea typeface="IBM Plex Mono SemiBold"/>
                <a:cs typeface="IBM Plex Mono SemiBold"/>
              </a:endParaRPr>
            </a:p>
          </p:txBody>
        </p:sp>
      </p:grpSp>
      <p:grpSp>
        <p:nvGrpSpPr>
          <p:cNvPr id="35" name="client-brand"/>
          <p:cNvGrpSpPr/>
          <p:nvPr/>
        </p:nvGrpSpPr>
        <p:grpSpPr>
          <a:xfrm>
            <a:off x="10382250" y="457200"/>
            <a:ext cx="1028700" cy="457200"/>
            <a:chOff x="10382250" y="457200"/>
            <a:chExt cx="1028700" cy="457200"/>
          </a:xfrm>
        </p:grpSpPr>
        <p:pic>
          <p:nvPicPr>
            <p:cNvPr id="24"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dxc-023">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23</a:t>
            </a:fld>
            <a:endParaRPr lang="en-US" sz="700" spc="0" kern="0" b="0" i="0" dirty="0">
              <a:solidFill>
                <a:srgbClr val="070154"/>
              </a:solidFill>
              <a:latin typeface="IBM Plex Mono SemiBold"/>
              <a:ea typeface="IBM Plex Mono SemiBold"/>
              <a:cs typeface="IBM Plex Mono SemiBold"/>
            </a:endParaRPr>
          </a:p>
        </p:txBody>
      </p:sp>
      <p:grpSp>
        <p:nvGrpSpPr>
          <p:cNvPr id="25" name="today-panel"/>
          <p:cNvGrpSpPr/>
          <p:nvPr/>
        </p:nvGrpSpPr>
        <p:grpSpPr>
          <a:xfrm>
            <a:off x="723900" y="1600200"/>
            <a:ext cx="3429000" cy="3429000"/>
            <a:chOff x="723900" y="1600200"/>
            <a:chExt cx="3429000" cy="3429000"/>
          </a:xfrm>
        </p:grpSpPr>
        <p:sp>
          <p:nvSpPr>
            <p:cNvPr id="5" name="today-panel.container"/>
            <p:cNvSpPr/>
            <p:nvPr/>
          </p:nvSpPr>
          <p:spPr>
            <a:xfrm>
              <a:off x="723900" y="1600200"/>
              <a:ext cx="3429000" cy="3429000"/>
            </a:xfrm>
            <a:prstGeom prst="rect">
              <a:avLst/>
            </a:prstGeom>
            <a:solidFill>
              <a:srgbClr val="E8EEF8"/>
            </a:solidFill>
            <a:ln>
              <a:noFill/>
            </a:ln>
          </p:spPr>
        </p:sp>
        <p:sp>
          <p:nvSpPr>
            <p:cNvPr id="6" name="today-panel.title"/>
            <p:cNvSpPr/>
            <p:nvPr/>
          </p:nvSpPr>
          <p:spPr>
            <a:xfrm>
              <a:off x="876300" y="17526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STATUS TODAY</a:t>
              </a:r>
              <a:endParaRPr lang="en-US" sz="1400" spc="0" kern="0" b="0" i="0" dirty="0">
                <a:solidFill>
                  <a:srgbClr val="070154"/>
                </a:solidFill>
                <a:latin typeface="IBM Plex Sans"/>
                <a:ea typeface="IBM Plex Sans"/>
                <a:cs typeface="IBM Plex Sans"/>
              </a:endParaRPr>
            </a:p>
          </p:txBody>
        </p:sp>
        <p:sp>
          <p:nvSpPr>
            <p:cNvPr id="7" name="today-panel.body.item-0.paragraph"/>
            <p:cNvSpPr/>
            <p:nvPr/>
          </p:nvSpPr>
          <p:spPr>
            <a:xfrm>
              <a:off x="876300" y="2133600"/>
              <a:ext cx="3124200" cy="2514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Core engineering reports 62 releases through September 1, 15 of them patches; in the calendar, half of 2026 release events were unplanned.</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Release-night branch merges suggest production may be rebuilt rather than promoted.</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Some new products are not yet in the CAB process.</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Credential and certificate changes ship as patches.</a:t>
              </a:r>
              <a:endParaRPr lang="en-US" sz="1200" spc="0" kern="0" b="0" i="0" dirty="0">
                <a:solidFill>
                  <a:srgbClr val="50658E"/>
                </a:solidFill>
                <a:latin typeface="IBM Plex Sans"/>
                <a:ea typeface="IBM Plex Sans"/>
                <a:cs typeface="IBM Plex Sans"/>
              </a:endParaRPr>
            </a:p>
          </p:txBody>
        </p:sp>
      </p:grpSp>
      <p:grpSp>
        <p:nvGrpSpPr>
          <p:cNvPr id="26" name="horizon0"/>
          <p:cNvGrpSpPr/>
          <p:nvPr/>
        </p:nvGrpSpPr>
        <p:grpSpPr>
          <a:xfrm>
            <a:off x="4381500" y="1600200"/>
            <a:ext cx="1143000" cy="990600"/>
            <a:chOff x="4381500" y="1600200"/>
            <a:chExt cx="1143000" cy="990600"/>
          </a:xfrm>
        </p:grpSpPr>
        <p:sp>
          <p:nvSpPr>
            <p:cNvPr id="8" name="horizon0.surface"/>
            <p:cNvSpPr/>
            <p:nvPr/>
          </p:nvSpPr>
          <p:spPr>
            <a:xfrm>
              <a:off x="4381500" y="1600200"/>
              <a:ext cx="1143000" cy="990600"/>
            </a:xfrm>
            <a:prstGeom prst="rect">
              <a:avLst/>
            </a:prstGeom>
            <a:solidFill>
              <a:srgbClr val="070154"/>
            </a:solidFill>
            <a:ln>
              <a:noFill/>
            </a:ln>
          </p:spPr>
        </p:sp>
        <p:sp>
          <p:nvSpPr>
            <p:cNvPr id="9" name="horizon0.text"/>
            <p:cNvSpPr/>
            <p:nvPr/>
          </p:nvSpPr>
          <p:spPr>
            <a:xfrm>
              <a:off x="4533900" y="1752600"/>
              <a:ext cx="8382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NOW</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Core</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Recon</a:t>
              </a:r>
              <a:endParaRPr lang="en-US" sz="1200" spc="0" kern="0" b="0" i="0" dirty="0">
                <a:solidFill>
                  <a:srgbClr val="FFFFFF"/>
                </a:solidFill>
                <a:latin typeface="IBM Plex Sans"/>
                <a:ea typeface="IBM Plex Sans"/>
                <a:cs typeface="IBM Plex Sans"/>
              </a:endParaRPr>
            </a:p>
          </p:txBody>
        </p:sp>
      </p:grpSp>
      <p:grpSp>
        <p:nvGrpSpPr>
          <p:cNvPr id="27" name="horizon-body0"/>
          <p:cNvGrpSpPr/>
          <p:nvPr/>
        </p:nvGrpSpPr>
        <p:grpSpPr>
          <a:xfrm>
            <a:off x="5676900" y="1600200"/>
            <a:ext cx="5791200" cy="990600"/>
            <a:chOff x="5676900" y="1600200"/>
            <a:chExt cx="5791200" cy="990600"/>
          </a:xfrm>
        </p:grpSpPr>
        <p:sp>
          <p:nvSpPr>
            <p:cNvPr id="10" name="horizon-body0.container"/>
            <p:cNvSpPr/>
            <p:nvPr/>
          </p:nvSpPr>
          <p:spPr>
            <a:xfrm>
              <a:off x="5676900" y="1600200"/>
              <a:ext cx="5791200" cy="990600"/>
            </a:xfrm>
            <a:prstGeom prst="rect">
              <a:avLst/>
            </a:prstGeom>
            <a:solidFill>
              <a:srgbClr val="E8EEF8"/>
            </a:solidFill>
            <a:ln>
              <a:noFill/>
            </a:ln>
          </p:spPr>
        </p:sp>
        <p:sp>
          <p:nvSpPr>
            <p:cNvPr id="11" name="horizon-body0.body.item-0.paragraph"/>
            <p:cNvSpPr/>
            <p:nvPr/>
          </p:nvSpPr>
          <p:spPr>
            <a:xfrm>
              <a:off x="5791200" y="1714500"/>
              <a:ext cx="55626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causes of 15 unplanned 2026 changes; inventory credential/certificate owners and expiry dates; Product defines Release Agent notes, PRD reconciliation and destinations.</a:t>
              </a:r>
              <a:endParaRPr lang="en-US" sz="1200" spc="0" kern="0" b="0" i="0" dirty="0">
                <a:solidFill>
                  <a:srgbClr val="50658E"/>
                </a:solidFill>
                <a:latin typeface="IBM Plex Sans"/>
                <a:ea typeface="IBM Plex Sans"/>
                <a:cs typeface="IBM Plex Sans"/>
              </a:endParaRPr>
            </a:p>
          </p:txBody>
        </p:sp>
      </p:grpSp>
      <p:grpSp>
        <p:nvGrpSpPr>
          <p:cNvPr id="28" name="horizon1"/>
          <p:cNvGrpSpPr/>
          <p:nvPr/>
        </p:nvGrpSpPr>
        <p:grpSpPr>
          <a:xfrm>
            <a:off x="4381500" y="2743200"/>
            <a:ext cx="1143000" cy="990600"/>
            <a:chOff x="4381500" y="2743200"/>
            <a:chExt cx="1143000" cy="990600"/>
          </a:xfrm>
        </p:grpSpPr>
        <p:sp>
          <p:nvSpPr>
            <p:cNvPr id="12" name="horizon1.surface"/>
            <p:cNvSpPr/>
            <p:nvPr/>
          </p:nvSpPr>
          <p:spPr>
            <a:xfrm>
              <a:off x="4381500" y="2743200"/>
              <a:ext cx="1143000" cy="990600"/>
            </a:xfrm>
            <a:prstGeom prst="rect">
              <a:avLst/>
            </a:prstGeom>
            <a:solidFill>
              <a:srgbClr val="CED7E6"/>
            </a:solidFill>
            <a:ln>
              <a:noFill/>
            </a:ln>
          </p:spPr>
        </p:sp>
        <p:sp>
          <p:nvSpPr>
            <p:cNvPr id="13" name="horizon1.text"/>
            <p:cNvSpPr/>
            <p:nvPr/>
          </p:nvSpPr>
          <p:spPr>
            <a:xfrm>
              <a:off x="4533900" y="31242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NEXT</a:t>
              </a:r>
              <a:endParaRPr lang="en-US" sz="1200" spc="0" kern="0" b="0" i="0" dirty="0">
                <a:solidFill>
                  <a:srgbClr val="070154"/>
                </a:solidFill>
                <a:latin typeface="IBM Plex Sans"/>
                <a:ea typeface="IBM Plex Sans"/>
                <a:cs typeface="IBM Plex Sans"/>
              </a:endParaRPr>
            </a:p>
          </p:txBody>
        </p:sp>
      </p:grpSp>
      <p:grpSp>
        <p:nvGrpSpPr>
          <p:cNvPr id="29" name="horizon-body1"/>
          <p:cNvGrpSpPr/>
          <p:nvPr/>
        </p:nvGrpSpPr>
        <p:grpSpPr>
          <a:xfrm>
            <a:off x="5676900" y="2743200"/>
            <a:ext cx="5791200" cy="990600"/>
            <a:chOff x="5676900" y="2743200"/>
            <a:chExt cx="5791200" cy="990600"/>
          </a:xfrm>
        </p:grpSpPr>
        <p:sp>
          <p:nvSpPr>
            <p:cNvPr id="14" name="horizon-body1.container"/>
            <p:cNvSpPr/>
            <p:nvPr/>
          </p:nvSpPr>
          <p:spPr>
            <a:xfrm>
              <a:off x="5676900" y="2743200"/>
              <a:ext cx="5791200" cy="990600"/>
            </a:xfrm>
            <a:prstGeom prst="rect">
              <a:avLst/>
            </a:prstGeom>
            <a:solidFill>
              <a:srgbClr val="E8EEF8"/>
            </a:solidFill>
            <a:ln>
              <a:noFill/>
            </a:ln>
          </p:spPr>
        </p:sp>
        <p:sp>
          <p:nvSpPr>
            <p:cNvPr id="15" name="horizon-body1.body.item-0.paragraph"/>
            <p:cNvSpPr/>
            <p:nvPr/>
          </p:nvSpPr>
          <p:spPr>
            <a:xfrm>
              <a:off x="5791200" y="2857500"/>
              <a:ext cx="5562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Promote validated artifacts; expiry alerts and patch/rollback reviews; onboard products to CAB (clarify config switches); run Recon Release Agent in staging.</a:t>
              </a:r>
              <a:endParaRPr lang="en-US" sz="1200" spc="0" kern="0" b="0" i="0" dirty="0">
                <a:solidFill>
                  <a:srgbClr val="50658E"/>
                </a:solidFill>
                <a:latin typeface="IBM Plex Sans"/>
                <a:ea typeface="IBM Plex Sans"/>
                <a:cs typeface="IBM Plex Sans"/>
              </a:endParaRPr>
            </a:p>
          </p:txBody>
        </p:sp>
      </p:grpSp>
      <p:grpSp>
        <p:nvGrpSpPr>
          <p:cNvPr id="30" name="horizon2"/>
          <p:cNvGrpSpPr/>
          <p:nvPr/>
        </p:nvGrpSpPr>
        <p:grpSpPr>
          <a:xfrm>
            <a:off x="4381500" y="3886200"/>
            <a:ext cx="1143000" cy="990600"/>
            <a:chOff x="4381500" y="3886200"/>
            <a:chExt cx="1143000" cy="990600"/>
          </a:xfrm>
        </p:grpSpPr>
        <p:sp>
          <p:nvSpPr>
            <p:cNvPr id="16" name="horizon2.surface"/>
            <p:cNvSpPr/>
            <p:nvPr/>
          </p:nvSpPr>
          <p:spPr>
            <a:xfrm>
              <a:off x="4381500" y="3886200"/>
              <a:ext cx="1143000" cy="990600"/>
            </a:xfrm>
            <a:prstGeom prst="rect">
              <a:avLst/>
            </a:prstGeom>
            <a:solidFill>
              <a:srgbClr val="E8EEF8"/>
            </a:solidFill>
            <a:ln>
              <a:noFill/>
            </a:ln>
          </p:spPr>
        </p:sp>
        <p:sp>
          <p:nvSpPr>
            <p:cNvPr id="17" name="horizon2.text"/>
            <p:cNvSpPr/>
            <p:nvPr/>
          </p:nvSpPr>
          <p:spPr>
            <a:xfrm>
              <a:off x="4533900" y="4267200"/>
              <a:ext cx="838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FUTURE</a:t>
              </a:r>
              <a:endParaRPr lang="en-US" sz="1200" spc="0" kern="0" b="0" i="0" dirty="0">
                <a:solidFill>
                  <a:srgbClr val="070154"/>
                </a:solidFill>
                <a:latin typeface="IBM Plex Sans"/>
                <a:ea typeface="IBM Plex Sans"/>
                <a:cs typeface="IBM Plex Sans"/>
              </a:endParaRPr>
            </a:p>
          </p:txBody>
        </p:sp>
      </p:grpSp>
      <p:grpSp>
        <p:nvGrpSpPr>
          <p:cNvPr id="31" name="horizon-body2"/>
          <p:cNvGrpSpPr/>
          <p:nvPr/>
        </p:nvGrpSpPr>
        <p:grpSpPr>
          <a:xfrm>
            <a:off x="5676900" y="3886200"/>
            <a:ext cx="5791200" cy="990600"/>
            <a:chOff x="5676900" y="3886200"/>
            <a:chExt cx="5791200" cy="990600"/>
          </a:xfrm>
        </p:grpSpPr>
        <p:sp>
          <p:nvSpPr>
            <p:cNvPr id="18" name="horizon-body2.container"/>
            <p:cNvSpPr/>
            <p:nvPr/>
          </p:nvSpPr>
          <p:spPr>
            <a:xfrm>
              <a:off x="5676900" y="3886200"/>
              <a:ext cx="5791200" cy="990600"/>
            </a:xfrm>
            <a:prstGeom prst="rect">
              <a:avLst/>
            </a:prstGeom>
            <a:solidFill>
              <a:srgbClr val="E8EEF8"/>
            </a:solidFill>
            <a:ln>
              <a:noFill/>
            </a:ln>
          </p:spPr>
        </p:sp>
        <p:sp>
          <p:nvSpPr>
            <p:cNvPr id="19" name="horizon-body2.body.item-0.paragraph"/>
            <p:cNvSpPr/>
            <p:nvPr/>
          </p:nvSpPr>
          <p:spPr>
            <a:xfrm>
              <a:off x="5791200" y="4000500"/>
              <a:ext cx="5562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On-demand releases for low-risk changes, gated by automated evidence.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Release Agent pattern on every pod.</a:t>
              </a:r>
              <a:endParaRPr lang="en-US" sz="1200" spc="0" kern="0" b="0" i="0" dirty="0">
                <a:solidFill>
                  <a:srgbClr val="50658E"/>
                </a:solidFill>
                <a:latin typeface="IBM Plex Sans"/>
                <a:ea typeface="IBM Plex Sans"/>
                <a:cs typeface="IBM Plex Sans"/>
              </a:endParaRPr>
            </a:p>
          </p:txBody>
        </p:sp>
      </p:grpSp>
      <p:grpSp>
        <p:nvGrpSpPr>
          <p:cNvPr id="32" name="agentic-and-ownership"/>
          <p:cNvGrpSpPr/>
          <p:nvPr/>
        </p:nvGrpSpPr>
        <p:grpSpPr>
          <a:xfrm>
            <a:off x="723900" y="5181600"/>
            <a:ext cx="10744200" cy="762000"/>
            <a:chOff x="723900" y="5181600"/>
            <a:chExt cx="10744200" cy="762000"/>
          </a:xfrm>
        </p:grpSpPr>
        <p:sp>
          <p:nvSpPr>
            <p:cNvPr id="20" name="agentic-and-ownership.surface"/>
            <p:cNvSpPr/>
            <p:nvPr/>
          </p:nvSpPr>
          <p:spPr>
            <a:xfrm>
              <a:off x="723900" y="5181600"/>
              <a:ext cx="10744200" cy="762000"/>
            </a:xfrm>
            <a:prstGeom prst="rect">
              <a:avLst/>
            </a:prstGeom>
            <a:solidFill>
              <a:srgbClr val="E8EEF8"/>
            </a:solidFill>
            <a:ln>
              <a:noFill/>
            </a:ln>
          </p:spPr>
        </p:sp>
        <p:sp>
          <p:nvSpPr>
            <p:cNvPr id="21" name="agentic-and-ownership.text"/>
            <p:cNvSpPr/>
            <p:nvPr/>
          </p:nvSpPr>
          <p:spPr>
            <a:xfrm>
              <a:off x="876300" y="5410200"/>
              <a:ext cx="104394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Agentic lens:  the Release Agent reconciles delivered work against the PRD and drafts release notes, so release evidence is produced, not assembled.</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Owner: Engineering leadership + Release/DevOps  |  Measure: share of unplanned changes, rollbacks, and repeat causes</a:t>
              </a:r>
              <a:endParaRPr lang="en-US" sz="900" spc="0" kern="0" b="0" i="0" dirty="0">
                <a:solidFill>
                  <a:srgbClr val="070154"/>
                </a:solidFill>
                <a:latin typeface="IBM Plex Sans"/>
                <a:ea typeface="IBM Plex Sans"/>
                <a:cs typeface="IBM Plex Sans"/>
              </a:endParaRPr>
            </a:p>
          </p:txBody>
        </p:sp>
      </p:grpSp>
      <p:grpSp>
        <p:nvGrpSpPr>
          <p:cNvPr id="33" name="authored-header"/>
          <p:cNvGrpSpPr/>
          <p:nvPr/>
        </p:nvGrpSpPr>
        <p:grpSpPr>
          <a:xfrm>
            <a:off x="723900" y="685800"/>
            <a:ext cx="9372600" cy="914400"/>
            <a:chOff x="723900" y="685800"/>
            <a:chExt cx="9372600" cy="914400"/>
          </a:xfrm>
        </p:grpSpPr>
        <p:sp>
          <p:nvSpPr>
            <p:cNvPr id="22"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Engineering Priority: Release</a:t>
              </a:r>
              <a:endParaRPr lang="en-US" sz="3200" spc="-64" kern="0" b="0" i="0" dirty="0">
                <a:solidFill>
                  <a:srgbClr val="070154"/>
                </a:solidFill>
                <a:latin typeface="IBM Plex Sans SemiBold"/>
                <a:ea typeface="IBM Plex Sans SemiBold"/>
                <a:cs typeface="IBM Plex Sans SemiBold"/>
              </a:endParaRPr>
            </a:p>
          </p:txBody>
        </p:sp>
      </p:grpSp>
      <p:grpSp>
        <p:nvGrpSpPr>
          <p:cNvPr id="34" name="authored-eyebrow"/>
          <p:cNvGrpSpPr/>
          <p:nvPr/>
        </p:nvGrpSpPr>
        <p:grpSpPr>
          <a:xfrm>
            <a:off x="723900" y="457200"/>
            <a:ext cx="9372600" cy="228600"/>
            <a:chOff x="723900" y="457200"/>
            <a:chExt cx="9372600" cy="228600"/>
          </a:xfrm>
        </p:grpSpPr>
        <p:sp>
          <p:nvSpPr>
            <p:cNvPr id="23"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 RELEASE</a:t>
              </a:r>
              <a:endParaRPr lang="en-US" sz="1000" spc="80" kern="0" b="0" i="0" dirty="0">
                <a:solidFill>
                  <a:srgbClr val="0047FF"/>
                </a:solidFill>
                <a:latin typeface="IBM Plex Mono SemiBold"/>
                <a:ea typeface="IBM Plex Mono SemiBold"/>
                <a:cs typeface="IBM Plex Mono SemiBold"/>
              </a:endParaRPr>
            </a:p>
          </p:txBody>
        </p:sp>
      </p:grpSp>
      <p:grpSp>
        <p:nvGrpSpPr>
          <p:cNvPr id="35" name="client-brand"/>
          <p:cNvGrpSpPr/>
          <p:nvPr/>
        </p:nvGrpSpPr>
        <p:grpSpPr>
          <a:xfrm>
            <a:off x="10382250" y="457200"/>
            <a:ext cx="1028700" cy="457200"/>
            <a:chOff x="10382250" y="457200"/>
            <a:chExt cx="1028700" cy="457200"/>
          </a:xfrm>
        </p:grpSpPr>
        <p:pic>
          <p:nvPicPr>
            <p:cNvPr id="24"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xc-024">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24</a:t>
            </a:fld>
            <a:endParaRPr lang="en-US" sz="700" spc="0" kern="0" b="0" i="0" dirty="0">
              <a:solidFill>
                <a:srgbClr val="070154"/>
              </a:solidFill>
              <a:latin typeface="IBM Plex Mono SemiBold"/>
              <a:ea typeface="IBM Plex Mono SemiBold"/>
              <a:cs typeface="IBM Plex Mono SemiBold"/>
            </a:endParaRPr>
          </a:p>
        </p:txBody>
      </p:sp>
      <p:grpSp>
        <p:nvGrpSpPr>
          <p:cNvPr id="20" name="label0"/>
          <p:cNvGrpSpPr/>
          <p:nvPr/>
        </p:nvGrpSpPr>
        <p:grpSpPr>
          <a:xfrm>
            <a:off x="723900" y="1600200"/>
            <a:ext cx="2514600" cy="1219200"/>
            <a:chOff x="723900" y="1600200"/>
            <a:chExt cx="2514600" cy="1219200"/>
          </a:xfrm>
        </p:grpSpPr>
        <p:sp>
          <p:nvSpPr>
            <p:cNvPr id="5" name="label0.surface"/>
            <p:cNvSpPr/>
            <p:nvPr/>
          </p:nvSpPr>
          <p:spPr>
            <a:xfrm>
              <a:off x="723900" y="1600200"/>
              <a:ext cx="2514600" cy="1219200"/>
            </a:xfrm>
            <a:prstGeom prst="rect">
              <a:avLst/>
            </a:prstGeom>
            <a:solidFill>
              <a:srgbClr val="070154"/>
            </a:solidFill>
            <a:ln>
              <a:noFill/>
            </a:ln>
          </p:spPr>
        </p:sp>
        <p:sp>
          <p:nvSpPr>
            <p:cNvPr id="6" name="label0.text"/>
            <p:cNvSpPr/>
            <p:nvPr/>
          </p:nvSpPr>
          <p:spPr>
            <a:xfrm>
              <a:off x="876300" y="19812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OBSERVED STRENGTHS</a:t>
              </a:r>
              <a:endParaRPr lang="en-US" sz="1200" spc="0" kern="0" b="0" i="0" dirty="0">
                <a:solidFill>
                  <a:srgbClr val="FFFFFF"/>
                </a:solidFill>
                <a:latin typeface="IBM Plex Sans"/>
                <a:ea typeface="IBM Plex Sans"/>
                <a:cs typeface="IBM Plex Sans"/>
              </a:endParaRPr>
            </a:p>
            <a:p>
              <a:pPr algn="l" indent="0" marL="0">
                <a:lnSpc>
                  <a:spcPts val="1800"/>
                </a:lnSpc>
                <a:buNone/>
              </a:pPr>
              <a:r>
                <a:rPr lang="en-US" sz="1200" spc="0" kern="0" b="0" i="0" dirty="0">
                  <a:solidFill>
                    <a:srgbClr val="FFFFFF"/>
                  </a:solidFill>
                  <a:latin typeface="IBM Plex Sans"/>
                  <a:ea typeface="IBM Plex Sans"/>
                  <a:cs typeface="IBM Plex Sans"/>
                </a:rPr>
                <a:t>Pockets worth scaling</a:t>
              </a:r>
              <a:endParaRPr lang="en-US" sz="1200" spc="0" kern="0" b="0" i="0" dirty="0">
                <a:solidFill>
                  <a:srgbClr val="FFFFFF"/>
                </a:solidFill>
                <a:latin typeface="IBM Plex Sans"/>
                <a:ea typeface="IBM Plex Sans"/>
                <a:cs typeface="IBM Plex Sans"/>
              </a:endParaRPr>
            </a:p>
          </p:txBody>
        </p:sp>
      </p:grpSp>
      <p:grpSp>
        <p:nvGrpSpPr>
          <p:cNvPr id="21" name="evidence0"/>
          <p:cNvGrpSpPr/>
          <p:nvPr/>
        </p:nvGrpSpPr>
        <p:grpSpPr>
          <a:xfrm>
            <a:off x="3467100" y="1600200"/>
            <a:ext cx="8001000" cy="1219200"/>
            <a:chOff x="3467100" y="1600200"/>
            <a:chExt cx="8001000" cy="1219200"/>
          </a:xfrm>
        </p:grpSpPr>
        <p:sp>
          <p:nvSpPr>
            <p:cNvPr id="7" name="evidence0.container"/>
            <p:cNvSpPr/>
            <p:nvPr/>
          </p:nvSpPr>
          <p:spPr>
            <a:xfrm>
              <a:off x="3467100" y="1600200"/>
              <a:ext cx="8001000" cy="1219200"/>
            </a:xfrm>
            <a:prstGeom prst="rect">
              <a:avLst/>
            </a:prstGeom>
            <a:solidFill>
              <a:srgbClr val="E8EEF8"/>
            </a:solidFill>
            <a:ln>
              <a:noFill/>
            </a:ln>
          </p:spPr>
        </p:sp>
        <p:sp>
          <p:nvSpPr>
            <p:cNvPr id="8" name="evidence0.body.item-0.paragraph"/>
            <p:cNvSpPr/>
            <p:nvPr/>
          </p:nvSpPr>
          <p:spPr>
            <a:xfrm>
              <a:off x="3619500" y="1752600"/>
              <a:ext cx="7696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Portfolio governance and commercialization gates are emerging. · Reconcile AI shows a leading agentic delivery pocket. · Engineering skills, MSPs, and a Git-based source of truth are documented.</a:t>
              </a:r>
              <a:endParaRPr lang="en-US" sz="1200" spc="0" kern="0" b="0" i="0" dirty="0">
                <a:solidFill>
                  <a:srgbClr val="50658E"/>
                </a:solidFill>
                <a:latin typeface="IBM Plex Sans"/>
                <a:ea typeface="IBM Plex Sans"/>
                <a:cs typeface="IBM Plex Sans"/>
              </a:endParaRPr>
            </a:p>
          </p:txBody>
        </p:sp>
      </p:grpSp>
      <p:grpSp>
        <p:nvGrpSpPr>
          <p:cNvPr id="22" name="label1"/>
          <p:cNvGrpSpPr/>
          <p:nvPr/>
        </p:nvGrpSpPr>
        <p:grpSpPr>
          <a:xfrm>
            <a:off x="723900" y="2971800"/>
            <a:ext cx="2514600" cy="1219200"/>
            <a:chOff x="723900" y="2971800"/>
            <a:chExt cx="2514600" cy="1219200"/>
          </a:xfrm>
        </p:grpSpPr>
        <p:sp>
          <p:nvSpPr>
            <p:cNvPr id="9" name="label1.surface"/>
            <p:cNvSpPr/>
            <p:nvPr/>
          </p:nvSpPr>
          <p:spPr>
            <a:xfrm>
              <a:off x="723900" y="2971800"/>
              <a:ext cx="2514600" cy="1219200"/>
            </a:xfrm>
            <a:prstGeom prst="rect">
              <a:avLst/>
            </a:prstGeom>
            <a:solidFill>
              <a:srgbClr val="CED7E6"/>
            </a:solidFill>
            <a:ln>
              <a:noFill/>
            </a:ln>
          </p:spPr>
        </p:sp>
        <p:sp>
          <p:nvSpPr>
            <p:cNvPr id="10" name="label1.text"/>
            <p:cNvSpPr/>
            <p:nvPr/>
          </p:nvSpPr>
          <p:spPr>
            <a:xfrm>
              <a:off x="876300" y="33528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OBSERVED GAPS</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Constraints to resolve</a:t>
              </a:r>
              <a:endParaRPr lang="en-US" sz="1200" spc="0" kern="0" b="0" i="0" dirty="0">
                <a:solidFill>
                  <a:srgbClr val="070154"/>
                </a:solidFill>
                <a:latin typeface="IBM Plex Sans"/>
                <a:ea typeface="IBM Plex Sans"/>
                <a:cs typeface="IBM Plex Sans"/>
              </a:endParaRPr>
            </a:p>
          </p:txBody>
        </p:sp>
      </p:grpSp>
      <p:grpSp>
        <p:nvGrpSpPr>
          <p:cNvPr id="23" name="evidence1"/>
          <p:cNvGrpSpPr/>
          <p:nvPr/>
        </p:nvGrpSpPr>
        <p:grpSpPr>
          <a:xfrm>
            <a:off x="3467100" y="2971800"/>
            <a:ext cx="8001000" cy="1219200"/>
            <a:chOff x="3467100" y="2971800"/>
            <a:chExt cx="8001000" cy="1219200"/>
          </a:xfrm>
        </p:grpSpPr>
        <p:sp>
          <p:nvSpPr>
            <p:cNvPr id="11" name="evidence1.container"/>
            <p:cNvSpPr/>
            <p:nvPr/>
          </p:nvSpPr>
          <p:spPr>
            <a:xfrm>
              <a:off x="3467100" y="2971800"/>
              <a:ext cx="8001000" cy="1219200"/>
            </a:xfrm>
            <a:prstGeom prst="rect">
              <a:avLst/>
            </a:prstGeom>
            <a:solidFill>
              <a:srgbClr val="E8EEF8"/>
            </a:solidFill>
            <a:ln>
              <a:noFill/>
            </a:ln>
          </p:spPr>
        </p:sp>
        <p:sp>
          <p:nvSpPr>
            <p:cNvPr id="12" name="evidence1.body.item-0.paragraph"/>
            <p:cNvSpPr/>
            <p:nvPr/>
          </p:nvSpPr>
          <p:spPr>
            <a:xfrm>
              <a:off x="3619500" y="3124200"/>
              <a:ext cx="76962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Customer commitments and late scope changes reduce predictability. · Product ownership often centers on intake, backlog, and sprint scope. · Engineering, UX, QA, Release, and Operations often join after key commitments.</a:t>
              </a:r>
              <a:endParaRPr lang="en-US" sz="1200" spc="0" kern="0" b="0" i="0" dirty="0">
                <a:solidFill>
                  <a:srgbClr val="50658E"/>
                </a:solidFill>
                <a:latin typeface="IBM Plex Sans"/>
                <a:ea typeface="IBM Plex Sans"/>
                <a:cs typeface="IBM Plex Sans"/>
              </a:endParaRPr>
            </a:p>
          </p:txBody>
        </p:sp>
      </p:grpSp>
      <p:grpSp>
        <p:nvGrpSpPr>
          <p:cNvPr id="24" name="label2"/>
          <p:cNvGrpSpPr/>
          <p:nvPr/>
        </p:nvGrpSpPr>
        <p:grpSpPr>
          <a:xfrm>
            <a:off x="723900" y="4343400"/>
            <a:ext cx="2514600" cy="1219200"/>
            <a:chOff x="723900" y="4343400"/>
            <a:chExt cx="2514600" cy="1219200"/>
          </a:xfrm>
        </p:grpSpPr>
        <p:sp>
          <p:nvSpPr>
            <p:cNvPr id="13" name="label2.surface"/>
            <p:cNvSpPr/>
            <p:nvPr/>
          </p:nvSpPr>
          <p:spPr>
            <a:xfrm>
              <a:off x="723900" y="4343400"/>
              <a:ext cx="2514600" cy="1219200"/>
            </a:xfrm>
            <a:prstGeom prst="rect">
              <a:avLst/>
            </a:prstGeom>
            <a:solidFill>
              <a:srgbClr val="E8EEF8"/>
            </a:solidFill>
            <a:ln>
              <a:noFill/>
            </a:ln>
          </p:spPr>
        </p:sp>
        <p:sp>
          <p:nvSpPr>
            <p:cNvPr id="14" name="label2.text"/>
            <p:cNvSpPr/>
            <p:nvPr/>
          </p:nvSpPr>
          <p:spPr>
            <a:xfrm>
              <a:off x="876300" y="4724400"/>
              <a:ext cx="22098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MAPPED OPPORTUNITIES</a:t>
              </a:r>
              <a:endParaRPr lang="en-US" sz="1200" spc="0" kern="0" b="0" i="0" dirty="0">
                <a:solidFill>
                  <a:srgbClr val="070154"/>
                </a:solidFill>
                <a:latin typeface="IBM Plex Sans"/>
                <a:ea typeface="IBM Plex Sans"/>
                <a:cs typeface="IBM Plex Sans"/>
              </a:endParaRPr>
            </a:p>
            <a:p>
              <a:pPr algn="l" indent="0" marL="0">
                <a:lnSpc>
                  <a:spcPts val="1800"/>
                </a:lnSpc>
                <a:buNone/>
              </a:pPr>
              <a:r>
                <a:rPr lang="en-US" sz="1200" spc="0" kern="0" b="0" i="0" dirty="0">
                  <a:solidFill>
                    <a:srgbClr val="070154"/>
                  </a:solidFill>
                  <a:latin typeface="IBM Plex Sans"/>
                  <a:ea typeface="IBM Plex Sans"/>
                  <a:cs typeface="IBM Plex Sans"/>
                </a:rPr>
                <a:t>Future-state themes</a:t>
              </a:r>
              <a:endParaRPr lang="en-US" sz="1200" spc="0" kern="0" b="0" i="0" dirty="0">
                <a:solidFill>
                  <a:srgbClr val="070154"/>
                </a:solidFill>
                <a:latin typeface="IBM Plex Sans"/>
                <a:ea typeface="IBM Plex Sans"/>
                <a:cs typeface="IBM Plex Sans"/>
              </a:endParaRPr>
            </a:p>
          </p:txBody>
        </p:sp>
      </p:grpSp>
      <p:grpSp>
        <p:nvGrpSpPr>
          <p:cNvPr id="25" name="evidence2"/>
          <p:cNvGrpSpPr/>
          <p:nvPr/>
        </p:nvGrpSpPr>
        <p:grpSpPr>
          <a:xfrm>
            <a:off x="3467100" y="4343400"/>
            <a:ext cx="8001000" cy="1219200"/>
            <a:chOff x="3467100" y="4343400"/>
            <a:chExt cx="8001000" cy="1219200"/>
          </a:xfrm>
        </p:grpSpPr>
        <p:sp>
          <p:nvSpPr>
            <p:cNvPr id="15" name="evidence2.container"/>
            <p:cNvSpPr/>
            <p:nvPr/>
          </p:nvSpPr>
          <p:spPr>
            <a:xfrm>
              <a:off x="3467100" y="4343400"/>
              <a:ext cx="8001000" cy="1219200"/>
            </a:xfrm>
            <a:prstGeom prst="rect">
              <a:avLst/>
            </a:prstGeom>
            <a:solidFill>
              <a:srgbClr val="E8EEF8"/>
            </a:solidFill>
            <a:ln>
              <a:noFill/>
            </a:ln>
          </p:spPr>
        </p:sp>
        <p:sp>
          <p:nvSpPr>
            <p:cNvPr id="16" name="evidence2.body.item-0.paragraph"/>
            <p:cNvSpPr/>
            <p:nvPr/>
          </p:nvSpPr>
          <p:spPr>
            <a:xfrm>
              <a:off x="3619500" y="4495800"/>
              <a:ext cx="7696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Outcome-led prioritization and protected capacity. · Product management as business ownership. · Earlier cross-functional collaboration. · Governed, reusable agentic delivery across the lifecycle.</a:t>
              </a:r>
              <a:endParaRPr lang="en-US" sz="1200" spc="0" kern="0" b="0" i="0" dirty="0">
                <a:solidFill>
                  <a:srgbClr val="50658E"/>
                </a:solidFill>
                <a:latin typeface="IBM Plex Sans"/>
                <a:ea typeface="IBM Plex Sans"/>
                <a:cs typeface="IBM Plex Sans"/>
              </a:endParaRPr>
            </a:p>
          </p:txBody>
        </p:sp>
      </p:grpSp>
      <p:grpSp>
        <p:nvGrpSpPr>
          <p:cNvPr id="26" name="authored-header"/>
          <p:cNvGrpSpPr/>
          <p:nvPr/>
        </p:nvGrpSpPr>
        <p:grpSpPr>
          <a:xfrm>
            <a:off x="723900" y="685800"/>
            <a:ext cx="9372600" cy="914400"/>
            <a:chOff x="723900" y="685800"/>
            <a:chExt cx="9372600" cy="914400"/>
          </a:xfrm>
        </p:grpSpPr>
        <p:sp>
          <p:nvSpPr>
            <p:cNvPr id="17"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Evidence behind the map</a:t>
              </a:r>
              <a:endParaRPr lang="en-US" sz="3200" spc="-64" kern="0" b="0" i="0" dirty="0">
                <a:solidFill>
                  <a:srgbClr val="070154"/>
                </a:solidFill>
                <a:latin typeface="IBM Plex Sans SemiBold"/>
                <a:ea typeface="IBM Plex Sans SemiBold"/>
                <a:cs typeface="IBM Plex Sans SemiBold"/>
              </a:endParaRPr>
            </a:p>
          </p:txBody>
        </p:sp>
      </p:grpSp>
      <p:grpSp>
        <p:nvGrpSpPr>
          <p:cNvPr id="27" name="authored-eyebrow"/>
          <p:cNvGrpSpPr/>
          <p:nvPr/>
        </p:nvGrpSpPr>
        <p:grpSpPr>
          <a:xfrm>
            <a:off x="723900" y="457200"/>
            <a:ext cx="9372600" cy="228600"/>
            <a:chOff x="723900" y="457200"/>
            <a:chExt cx="9372600" cy="228600"/>
          </a:xfrm>
        </p:grpSpPr>
        <p:sp>
          <p:nvSpPr>
            <p:cNvPr id="18"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OBSERVATIONS</a:t>
              </a:r>
              <a:endParaRPr lang="en-US" sz="1000" spc="80" kern="0" b="0" i="0" dirty="0">
                <a:solidFill>
                  <a:srgbClr val="0047FF"/>
                </a:solidFill>
                <a:latin typeface="IBM Plex Mono SemiBold"/>
                <a:ea typeface="IBM Plex Mono SemiBold"/>
                <a:cs typeface="IBM Plex Mono SemiBold"/>
              </a:endParaRPr>
            </a:p>
          </p:txBody>
        </p:sp>
      </p:grpSp>
      <p:grpSp>
        <p:nvGrpSpPr>
          <p:cNvPr id="28" name="client-brand"/>
          <p:cNvGrpSpPr/>
          <p:nvPr/>
        </p:nvGrpSpPr>
        <p:grpSpPr>
          <a:xfrm>
            <a:off x="10382250" y="457200"/>
            <a:ext cx="1028700" cy="457200"/>
            <a:chOff x="10382250" y="457200"/>
            <a:chExt cx="1028700" cy="457200"/>
          </a:xfrm>
        </p:grpSpPr>
        <p:pic>
          <p:nvPicPr>
            <p:cNvPr id="19"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xc-025">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25</a:t>
            </a:fld>
            <a:endParaRPr lang="en-US" sz="700" spc="0" kern="0" b="0" i="0" dirty="0">
              <a:solidFill>
                <a:srgbClr val="070154"/>
              </a:solidFill>
              <a:latin typeface="IBM Plex Mono SemiBold"/>
              <a:ea typeface="IBM Plex Mono SemiBold"/>
              <a:cs typeface="IBM Plex Mono SemiBold"/>
            </a:endParaRPr>
          </a:p>
        </p:txBody>
      </p:sp>
      <p:grpSp>
        <p:nvGrpSpPr>
          <p:cNvPr id="9" name="five-recommendations"/>
          <p:cNvGrpSpPr/>
          <p:nvPr/>
        </p:nvGrpSpPr>
        <p:grpSpPr>
          <a:xfrm>
            <a:off x="723900" y="1600200"/>
            <a:ext cx="10744200" cy="3784600"/>
            <a:chOff x="723900" y="1600200"/>
            <a:chExt cx="10744200" cy="3784600"/>
          </a:xfrm>
        </p:grpSpPr>
        <p:graphicFrame>
          <p:nvGraphicFramePr>
            <p:cNvPr id="5" name="five-recommendations.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784600"/>
          </p:xfrm>
          <a:graphic>
            <a:graphicData uri="http://schemas.openxmlformats.org/drawingml/2006/table">
              <a:tbl>
                <a:tblPr/>
                <a:tblGrid>
                  <a:gridCol w="3200400"/>
                  <a:gridCol w="6019800"/>
                  <a:gridCol w="15240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RECOMMENDATION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ACTIVATION HORIZON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Outcome-led prioritization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Set decision criteria, protect capacity, and make 3-4 sprint visibility credible before commitments are made.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Immediate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management as business ownership</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Clarify PM accountability for evidence, outcomes, roadmap, adoption, and learning beyond backlog administration.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Immediate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Opportunity brief to implementation path</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Standardize the artifact and decision path from internal signal through PRD, feature brief, epic, technical design, and implementation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Immediate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Earlier cross-functional collaboration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Bring UX, Engineering, QA, Release, and Operations into feasibility, evidence, and living documentation earlier.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Near-term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Governed agentic delivery</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reusable, human-supervised AI practices and measures from discovery through post-launch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Future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0" name="authored-header"/>
          <p:cNvGrpSpPr/>
          <p:nvPr/>
        </p:nvGrpSpPr>
        <p:grpSpPr>
          <a:xfrm>
            <a:off x="723900" y="685800"/>
            <a:ext cx="9372600" cy="914400"/>
            <a:chOff x="723900" y="685800"/>
            <a:chExt cx="9372600" cy="914400"/>
          </a:xfrm>
        </p:grpSpPr>
        <p:sp>
          <p:nvSpPr>
            <p:cNvPr id="6"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Recommendations summary: what should be done</a:t>
              </a:r>
              <a:endParaRPr lang="en-US" sz="3200" spc="-64" kern="0" b="0" i="0" dirty="0">
                <a:solidFill>
                  <a:srgbClr val="070154"/>
                </a:solidFill>
                <a:latin typeface="IBM Plex Sans SemiBold"/>
                <a:ea typeface="IBM Plex Sans SemiBold"/>
                <a:cs typeface="IBM Plex Sans SemiBold"/>
              </a:endParaRPr>
            </a:p>
          </p:txBody>
        </p:sp>
      </p:grpSp>
      <p:grpSp>
        <p:nvGrpSpPr>
          <p:cNvPr id="11" name="authored-eyebrow"/>
          <p:cNvGrpSpPr/>
          <p:nvPr/>
        </p:nvGrpSpPr>
        <p:grpSpPr>
          <a:xfrm>
            <a:off x="723900" y="457200"/>
            <a:ext cx="9372600" cy="228600"/>
            <a:chOff x="723900" y="457200"/>
            <a:chExt cx="9372600" cy="228600"/>
          </a:xfrm>
        </p:grpSpPr>
        <p:sp>
          <p:nvSpPr>
            <p:cNvPr id="7"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a:t>
              </a:r>
              <a:endParaRPr lang="en-US" sz="1000" spc="80" kern="0" b="0" i="0" dirty="0">
                <a:solidFill>
                  <a:srgbClr val="0047FF"/>
                </a:solidFill>
                <a:latin typeface="IBM Plex Mono SemiBold"/>
                <a:ea typeface="IBM Plex Mono SemiBold"/>
                <a:cs typeface="IBM Plex Mono SemiBold"/>
              </a:endParaRPr>
            </a:p>
          </p:txBody>
        </p:sp>
      </p:grpSp>
      <p:grpSp>
        <p:nvGrpSpPr>
          <p:cNvPr id="12" name="client-brand"/>
          <p:cNvGrpSpPr/>
          <p:nvPr/>
        </p:nvGrpSpPr>
        <p:grpSpPr>
          <a:xfrm>
            <a:off x="10382250" y="457200"/>
            <a:ext cx="1028700" cy="457200"/>
            <a:chOff x="10382250" y="457200"/>
            <a:chExt cx="1028700" cy="457200"/>
          </a:xfrm>
        </p:grpSpPr>
        <p:pic>
          <p:nvPicPr>
            <p:cNvPr id="8"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dxc-026">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26</a:t>
            </a:fld>
            <a:endParaRPr lang="en-US" sz="700" spc="0" kern="0" b="0" i="0" dirty="0">
              <a:solidFill>
                <a:srgbClr val="070154"/>
              </a:solidFill>
              <a:latin typeface="IBM Plex Mono SemiBold"/>
              <a:ea typeface="IBM Plex Mono SemiBold"/>
              <a:cs typeface="IBM Plex Mono SemiBold"/>
            </a:endParaRPr>
          </a:p>
        </p:txBody>
      </p:sp>
      <p:grpSp>
        <p:nvGrpSpPr>
          <p:cNvPr id="33"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Make priority and commitment decisions from evidence about outcomes, feasibility, and capacity.</a:t>
              </a:r>
              <a:endParaRPr lang="en-US" sz="1200" spc="0" kern="0" b="0" i="0" dirty="0">
                <a:solidFill>
                  <a:srgbClr val="50658E"/>
                </a:solidFill>
                <a:latin typeface="IBM Plex Sans"/>
                <a:ea typeface="IBM Plex Sans"/>
                <a:cs typeface="IBM Plex Sans"/>
              </a:endParaRPr>
            </a:p>
          </p:txBody>
        </p:sp>
      </p:grpSp>
      <p:grpSp>
        <p:nvGrpSpPr>
          <p:cNvPr id="34" name="group-left"/>
          <p:cNvGrpSpPr/>
          <p:nvPr/>
        </p:nvGrpSpPr>
        <p:grpSpPr>
          <a:xfrm>
            <a:off x="723900" y="2133600"/>
            <a:ext cx="5257800" cy="228600"/>
            <a:chOff x="723900" y="2133600"/>
            <a:chExt cx="5257800" cy="228600"/>
          </a:xfrm>
        </p:grpSpPr>
        <p:sp>
          <p:nvSpPr>
            <p:cNvPr id="6" name="group-left.text"/>
            <p:cNvSpPr/>
            <p:nvPr/>
          </p:nvSpPr>
          <p:spPr>
            <a:xfrm>
              <a:off x="723900" y="21336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35" name="group-right"/>
          <p:cNvGrpSpPr/>
          <p:nvPr/>
        </p:nvGrpSpPr>
        <p:grpSpPr>
          <a:xfrm>
            <a:off x="6210300" y="2133600"/>
            <a:ext cx="5257800" cy="228600"/>
            <a:chOff x="6210300" y="2133600"/>
            <a:chExt cx="5257800" cy="228600"/>
          </a:xfrm>
        </p:grpSpPr>
        <p:sp>
          <p:nvSpPr>
            <p:cNvPr id="7" name="group-right.text"/>
            <p:cNvSpPr/>
            <p:nvPr/>
          </p:nvSpPr>
          <p:spPr>
            <a:xfrm>
              <a:off x="6210300" y="21336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36" name="item-0-0"/>
          <p:cNvGrpSpPr/>
          <p:nvPr/>
        </p:nvGrpSpPr>
        <p:grpSpPr>
          <a:xfrm>
            <a:off x="723900" y="2438400"/>
            <a:ext cx="5257800" cy="838200"/>
            <a:chOff x="723900" y="2438400"/>
            <a:chExt cx="5257800" cy="838200"/>
          </a:xfrm>
        </p:grpSpPr>
        <p:sp>
          <p:nvSpPr>
            <p:cNvPr id="8" name="item-0-0.container"/>
            <p:cNvSpPr/>
            <p:nvPr/>
          </p:nvSpPr>
          <p:spPr>
            <a:xfrm>
              <a:off x="723900" y="2438400"/>
              <a:ext cx="5257800" cy="838200"/>
            </a:xfrm>
            <a:prstGeom prst="rect">
              <a:avLst/>
            </a:prstGeom>
            <a:solidFill>
              <a:srgbClr val="E8EEF8"/>
            </a:solidFill>
            <a:ln>
              <a:noFill/>
            </a:ln>
          </p:spPr>
        </p:sp>
        <p:sp>
          <p:nvSpPr>
            <p:cNvPr id="9" name="item-0-0.edge"/>
            <p:cNvSpPr/>
            <p:nvPr/>
          </p:nvSpPr>
          <p:spPr>
            <a:xfrm>
              <a:off x="723900" y="2438400"/>
              <a:ext cx="38100" cy="838200"/>
            </a:xfrm>
            <a:prstGeom prst="rect">
              <a:avLst/>
            </a:prstGeom>
            <a:solidFill>
              <a:srgbClr val="0047FF"/>
            </a:solidFill>
            <a:ln>
              <a:noFill/>
            </a:ln>
          </p:spPr>
        </p:sp>
        <p:sp>
          <p:nvSpPr>
            <p:cNvPr id="10" name="item-0-0.body.item-0.paragraph"/>
            <p:cNvSpPr/>
            <p:nvPr/>
          </p:nvSpPr>
          <p:spPr>
            <a:xfrm>
              <a:off x="876300" y="25527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Set explicit decision criteria for value, urgency, feasibility, and dependency before commitments are made.</a:t>
              </a:r>
              <a:endParaRPr lang="en-US" sz="1200" spc="0" kern="0" b="0" i="0" dirty="0">
                <a:solidFill>
                  <a:srgbClr val="50658E"/>
                </a:solidFill>
                <a:latin typeface="IBM Plex Sans"/>
                <a:ea typeface="IBM Plex Sans"/>
                <a:cs typeface="IBM Plex Sans"/>
              </a:endParaRPr>
            </a:p>
          </p:txBody>
        </p:sp>
      </p:grpSp>
      <p:grpSp>
        <p:nvGrpSpPr>
          <p:cNvPr id="37" name="item-0-1"/>
          <p:cNvGrpSpPr/>
          <p:nvPr/>
        </p:nvGrpSpPr>
        <p:grpSpPr>
          <a:xfrm>
            <a:off x="723900" y="3352800"/>
            <a:ext cx="5257800" cy="838200"/>
            <a:chOff x="723900" y="3352800"/>
            <a:chExt cx="5257800" cy="838200"/>
          </a:xfrm>
        </p:grpSpPr>
        <p:sp>
          <p:nvSpPr>
            <p:cNvPr id="11" name="item-0-1.container"/>
            <p:cNvSpPr/>
            <p:nvPr/>
          </p:nvSpPr>
          <p:spPr>
            <a:xfrm>
              <a:off x="723900" y="3352800"/>
              <a:ext cx="5257800" cy="838200"/>
            </a:xfrm>
            <a:prstGeom prst="rect">
              <a:avLst/>
            </a:prstGeom>
            <a:solidFill>
              <a:srgbClr val="E8EEF8"/>
            </a:solidFill>
            <a:ln>
              <a:noFill/>
            </a:ln>
          </p:spPr>
        </p:sp>
        <p:sp>
          <p:nvSpPr>
            <p:cNvPr id="12" name="item-0-1.edge"/>
            <p:cNvSpPr/>
            <p:nvPr/>
          </p:nvSpPr>
          <p:spPr>
            <a:xfrm>
              <a:off x="723900" y="3352800"/>
              <a:ext cx="38100" cy="838200"/>
            </a:xfrm>
            <a:prstGeom prst="rect">
              <a:avLst/>
            </a:prstGeom>
            <a:solidFill>
              <a:srgbClr val="0047FF"/>
            </a:solidFill>
            <a:ln>
              <a:noFill/>
            </a:ln>
          </p:spPr>
        </p:sp>
        <p:sp>
          <p:nvSpPr>
            <p:cNvPr id="13" name="item-0-1.body.item-0.paragraph"/>
            <p:cNvSpPr/>
            <p:nvPr/>
          </p:nvSpPr>
          <p:spPr>
            <a:xfrm>
              <a:off x="876300" y="34671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Protect capacity for high-value work, with an explicit allocation for support, patches, and escalations and show a credible 3-4 sprint view.</a:t>
              </a:r>
              <a:endParaRPr lang="en-US" sz="1200" spc="0" kern="0" b="0" i="0" dirty="0">
                <a:solidFill>
                  <a:srgbClr val="50658E"/>
                </a:solidFill>
                <a:latin typeface="IBM Plex Sans"/>
                <a:ea typeface="IBM Plex Sans"/>
                <a:cs typeface="IBM Plex Sans"/>
              </a:endParaRPr>
            </a:p>
          </p:txBody>
        </p:sp>
      </p:grpSp>
      <p:grpSp>
        <p:nvGrpSpPr>
          <p:cNvPr id="38" name="item-0-2"/>
          <p:cNvGrpSpPr/>
          <p:nvPr/>
        </p:nvGrpSpPr>
        <p:grpSpPr>
          <a:xfrm>
            <a:off x="723900" y="4267200"/>
            <a:ext cx="5257800" cy="838200"/>
            <a:chOff x="723900" y="4267200"/>
            <a:chExt cx="5257800" cy="838200"/>
          </a:xfrm>
        </p:grpSpPr>
        <p:sp>
          <p:nvSpPr>
            <p:cNvPr id="14" name="item-0-2.container"/>
            <p:cNvSpPr/>
            <p:nvPr/>
          </p:nvSpPr>
          <p:spPr>
            <a:xfrm>
              <a:off x="723900" y="4267200"/>
              <a:ext cx="5257800" cy="838200"/>
            </a:xfrm>
            <a:prstGeom prst="rect">
              <a:avLst/>
            </a:prstGeom>
            <a:solidFill>
              <a:srgbClr val="E8EEF8"/>
            </a:solidFill>
            <a:ln>
              <a:noFill/>
            </a:ln>
          </p:spPr>
        </p:sp>
        <p:sp>
          <p:nvSpPr>
            <p:cNvPr id="15" name="item-0-2.edge"/>
            <p:cNvSpPr/>
            <p:nvPr/>
          </p:nvSpPr>
          <p:spPr>
            <a:xfrm>
              <a:off x="723900" y="4267200"/>
              <a:ext cx="38100" cy="838200"/>
            </a:xfrm>
            <a:prstGeom prst="rect">
              <a:avLst/>
            </a:prstGeom>
            <a:solidFill>
              <a:srgbClr val="0047FF"/>
            </a:solidFill>
            <a:ln>
              <a:noFill/>
            </a:ln>
          </p:spPr>
        </p:sp>
        <p:sp>
          <p:nvSpPr>
            <p:cNvPr id="16" name="item-0-2.body.item-0.paragraph"/>
            <p:cNvSpPr/>
            <p:nvPr/>
          </p:nvSpPr>
          <p:spPr>
            <a:xfrm>
              <a:off x="876300" y="43815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Require Engineering-informed effort and risk input before customer dates become commitments.</a:t>
              </a:r>
              <a:endParaRPr lang="en-US" sz="1200" spc="0" kern="0" b="0" i="0" dirty="0">
                <a:solidFill>
                  <a:srgbClr val="50658E"/>
                </a:solidFill>
                <a:latin typeface="IBM Plex Sans"/>
                <a:ea typeface="IBM Plex Sans"/>
                <a:cs typeface="IBM Plex Sans"/>
              </a:endParaRPr>
            </a:p>
          </p:txBody>
        </p:sp>
      </p:grpSp>
      <p:grpSp>
        <p:nvGrpSpPr>
          <p:cNvPr id="39" name="item-1-0"/>
          <p:cNvGrpSpPr/>
          <p:nvPr/>
        </p:nvGrpSpPr>
        <p:grpSpPr>
          <a:xfrm>
            <a:off x="6210300" y="2438400"/>
            <a:ext cx="5257800" cy="838200"/>
            <a:chOff x="6210300" y="2438400"/>
            <a:chExt cx="5257800" cy="838200"/>
          </a:xfrm>
        </p:grpSpPr>
        <p:sp>
          <p:nvSpPr>
            <p:cNvPr id="17" name="item-1-0.container"/>
            <p:cNvSpPr/>
            <p:nvPr/>
          </p:nvSpPr>
          <p:spPr>
            <a:xfrm>
              <a:off x="6210300" y="2438400"/>
              <a:ext cx="5257800" cy="838200"/>
            </a:xfrm>
            <a:prstGeom prst="rect">
              <a:avLst/>
            </a:prstGeom>
            <a:solidFill>
              <a:srgbClr val="E8EEF8"/>
            </a:solidFill>
            <a:ln>
              <a:noFill/>
            </a:ln>
          </p:spPr>
        </p:sp>
        <p:sp>
          <p:nvSpPr>
            <p:cNvPr id="18" name="item-1-0.edge"/>
            <p:cNvSpPr/>
            <p:nvPr/>
          </p:nvSpPr>
          <p:spPr>
            <a:xfrm>
              <a:off x="6210300" y="2438400"/>
              <a:ext cx="38100" cy="838200"/>
            </a:xfrm>
            <a:prstGeom prst="rect">
              <a:avLst/>
            </a:prstGeom>
            <a:solidFill>
              <a:srgbClr val="0047FF"/>
            </a:solidFill>
            <a:ln>
              <a:noFill/>
            </a:ln>
          </p:spPr>
        </p:sp>
        <p:sp>
          <p:nvSpPr>
            <p:cNvPr id="19" name="item-1-0.body.item-0.paragraph"/>
            <p:cNvSpPr/>
            <p:nvPr/>
          </p:nvSpPr>
          <p:spPr>
            <a:xfrm>
              <a:off x="6362700" y="25527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Select one live initiative and apply the criteria to the next prioritization decision.</a:t>
              </a:r>
              <a:endParaRPr lang="en-US" sz="1200" spc="0" kern="0" b="0" i="0" dirty="0">
                <a:solidFill>
                  <a:srgbClr val="50658E"/>
                </a:solidFill>
                <a:latin typeface="IBM Plex Sans"/>
                <a:ea typeface="IBM Plex Sans"/>
                <a:cs typeface="IBM Plex Sans"/>
              </a:endParaRPr>
            </a:p>
          </p:txBody>
        </p:sp>
      </p:grpSp>
      <p:grpSp>
        <p:nvGrpSpPr>
          <p:cNvPr id="40" name="item-1-1"/>
          <p:cNvGrpSpPr/>
          <p:nvPr/>
        </p:nvGrpSpPr>
        <p:grpSpPr>
          <a:xfrm>
            <a:off x="6210300" y="3352800"/>
            <a:ext cx="5257800" cy="838200"/>
            <a:chOff x="6210300" y="3352800"/>
            <a:chExt cx="5257800" cy="838200"/>
          </a:xfrm>
        </p:grpSpPr>
        <p:sp>
          <p:nvSpPr>
            <p:cNvPr id="20" name="item-1-1.container"/>
            <p:cNvSpPr/>
            <p:nvPr/>
          </p:nvSpPr>
          <p:spPr>
            <a:xfrm>
              <a:off x="6210300" y="3352800"/>
              <a:ext cx="5257800" cy="838200"/>
            </a:xfrm>
            <a:prstGeom prst="rect">
              <a:avLst/>
            </a:prstGeom>
            <a:solidFill>
              <a:srgbClr val="E8EEF8"/>
            </a:solidFill>
            <a:ln>
              <a:noFill/>
            </a:ln>
          </p:spPr>
        </p:sp>
        <p:sp>
          <p:nvSpPr>
            <p:cNvPr id="21" name="item-1-1.edge"/>
            <p:cNvSpPr/>
            <p:nvPr/>
          </p:nvSpPr>
          <p:spPr>
            <a:xfrm>
              <a:off x="6210300" y="3352800"/>
              <a:ext cx="38100" cy="838200"/>
            </a:xfrm>
            <a:prstGeom prst="rect">
              <a:avLst/>
            </a:prstGeom>
            <a:solidFill>
              <a:srgbClr val="0047FF"/>
            </a:solidFill>
            <a:ln>
              <a:noFill/>
            </a:ln>
          </p:spPr>
        </p:sp>
        <p:sp>
          <p:nvSpPr>
            <p:cNvPr id="22" name="item-1-1.body.item-0.paragraph"/>
            <p:cNvSpPr/>
            <p:nvPr/>
          </p:nvSpPr>
          <p:spPr>
            <a:xfrm>
              <a:off x="6362700" y="34671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Compare the committed scope with evidence and capacity, then record the trade-off.</a:t>
              </a:r>
              <a:endParaRPr lang="en-US" sz="1200" spc="0" kern="0" b="0" i="0" dirty="0">
                <a:solidFill>
                  <a:srgbClr val="50658E"/>
                </a:solidFill>
                <a:latin typeface="IBM Plex Sans"/>
                <a:ea typeface="IBM Plex Sans"/>
                <a:cs typeface="IBM Plex Sans"/>
              </a:endParaRPr>
            </a:p>
          </p:txBody>
        </p:sp>
      </p:grpSp>
      <p:grpSp>
        <p:nvGrpSpPr>
          <p:cNvPr id="41" name="item-1-2"/>
          <p:cNvGrpSpPr/>
          <p:nvPr/>
        </p:nvGrpSpPr>
        <p:grpSpPr>
          <a:xfrm>
            <a:off x="6210300" y="4267200"/>
            <a:ext cx="5257800" cy="838200"/>
            <a:chOff x="6210300" y="4267200"/>
            <a:chExt cx="5257800" cy="838200"/>
          </a:xfrm>
        </p:grpSpPr>
        <p:sp>
          <p:nvSpPr>
            <p:cNvPr id="23" name="item-1-2.container"/>
            <p:cNvSpPr/>
            <p:nvPr/>
          </p:nvSpPr>
          <p:spPr>
            <a:xfrm>
              <a:off x="6210300" y="4267200"/>
              <a:ext cx="5257800" cy="838200"/>
            </a:xfrm>
            <a:prstGeom prst="rect">
              <a:avLst/>
            </a:prstGeom>
            <a:solidFill>
              <a:srgbClr val="E8EEF8"/>
            </a:solidFill>
            <a:ln>
              <a:noFill/>
            </a:ln>
          </p:spPr>
        </p:sp>
        <p:sp>
          <p:nvSpPr>
            <p:cNvPr id="24" name="item-1-2.edge"/>
            <p:cNvSpPr/>
            <p:nvPr/>
          </p:nvSpPr>
          <p:spPr>
            <a:xfrm>
              <a:off x="6210300" y="4267200"/>
              <a:ext cx="38100" cy="838200"/>
            </a:xfrm>
            <a:prstGeom prst="rect">
              <a:avLst/>
            </a:prstGeom>
            <a:solidFill>
              <a:srgbClr val="0047FF"/>
            </a:solidFill>
            <a:ln>
              <a:noFill/>
            </a:ln>
          </p:spPr>
        </p:sp>
        <p:sp>
          <p:nvSpPr>
            <p:cNvPr id="25" name="item-1-2.body.item-0.paragraph"/>
            <p:cNvSpPr/>
            <p:nvPr/>
          </p:nvSpPr>
          <p:spPr>
            <a:xfrm>
              <a:off x="6362700" y="43815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predictability, scope changes, and rework in the activation cadence, using flow data where teams have moved off story points.</a:t>
              </a:r>
              <a:endParaRPr lang="en-US" sz="1200" spc="0" kern="0" b="0" i="0" dirty="0">
                <a:solidFill>
                  <a:srgbClr val="50658E"/>
                </a:solidFill>
                <a:latin typeface="IBM Plex Sans"/>
                <a:ea typeface="IBM Plex Sans"/>
                <a:cs typeface="IBM Plex Sans"/>
              </a:endParaRPr>
            </a:p>
          </p:txBody>
        </p:sp>
      </p:grpSp>
      <p:grpSp>
        <p:nvGrpSpPr>
          <p:cNvPr id="42" name="accountability"/>
          <p:cNvGrpSpPr/>
          <p:nvPr/>
        </p:nvGrpSpPr>
        <p:grpSpPr>
          <a:xfrm>
            <a:off x="723900" y="5334000"/>
            <a:ext cx="10744200" cy="609600"/>
            <a:chOff x="723900" y="5334000"/>
            <a:chExt cx="10744200" cy="609600"/>
          </a:xfrm>
        </p:grpSpPr>
        <p:sp>
          <p:nvSpPr>
            <p:cNvPr id="26" name="accountability.surface"/>
            <p:cNvSpPr/>
            <p:nvPr/>
          </p:nvSpPr>
          <p:spPr>
            <a:xfrm>
              <a:off x="723900" y="5334000"/>
              <a:ext cx="10744200" cy="609600"/>
            </a:xfrm>
            <a:prstGeom prst="rect">
              <a:avLst/>
            </a:prstGeom>
            <a:solidFill>
              <a:srgbClr val="E8EEF8"/>
            </a:solidFill>
            <a:ln>
              <a:noFill/>
            </a:ln>
          </p:spPr>
        </p:sp>
        <p:sp>
          <p:nvSpPr>
            <p:cNvPr id="27" name="accountability.text"/>
            <p:cNvSpPr/>
            <p:nvPr/>
          </p:nvSpPr>
          <p:spPr>
            <a:xfrm>
              <a:off x="876300" y="54102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Product leadership + Engineering leadership | Dependency: roadmap, customer commitments, capacity data | Measure: commitment predictability, late scope change rate, and share of capacity spent on unplanned work</a:t>
              </a:r>
              <a:endParaRPr lang="en-US" sz="1200" spc="0" kern="0" b="0" i="0" dirty="0">
                <a:solidFill>
                  <a:srgbClr val="070154"/>
                </a:solidFill>
                <a:latin typeface="IBM Plex Sans"/>
                <a:ea typeface="IBM Plex Sans"/>
                <a:cs typeface="IBM Plex Sans"/>
              </a:endParaRPr>
            </a:p>
          </p:txBody>
        </p:sp>
      </p:grpSp>
      <p:grpSp>
        <p:nvGrpSpPr>
          <p:cNvPr id="43" name="source-icon0"/>
          <p:cNvGrpSpPr/>
          <p:nvPr/>
        </p:nvGrpSpPr>
        <p:grpSpPr>
          <a:xfrm>
            <a:off x="5676900" y="2133600"/>
            <a:ext cx="228600" cy="228600"/>
            <a:chOff x="5676900" y="2133600"/>
            <a:chExt cx="228600" cy="228600"/>
          </a:xfrm>
        </p:grpSpPr>
        <p:pic>
          <p:nvPicPr>
            <p:cNvPr id="28" name="source-icon0.image" descr="Exact original DentalXChange asset ppt/media/image34.svg; project:source-image34; canonical SHA256=ef32c66970420be9aec3ad3ec20b39dfeb48d8957c86db1c32980ce8f6a59efa">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76900" y="2133600"/>
              <a:ext cx="228600" cy="228600"/>
            </a:xfrm>
            <a:prstGeom prst="rect">
              <a:avLst/>
            </a:prstGeom>
          </p:spPr>
        </p:pic>
      </p:grpSp>
      <p:grpSp>
        <p:nvGrpSpPr>
          <p:cNvPr id="44" name="source-icon1"/>
          <p:cNvGrpSpPr/>
          <p:nvPr/>
        </p:nvGrpSpPr>
        <p:grpSpPr>
          <a:xfrm>
            <a:off x="11163300" y="2133600"/>
            <a:ext cx="228600" cy="228600"/>
            <a:chOff x="11163300" y="2133600"/>
            <a:chExt cx="228600" cy="228600"/>
          </a:xfrm>
        </p:grpSpPr>
        <p:pic>
          <p:nvPicPr>
            <p:cNvPr id="29" name="source-icon1.image" descr="Exact original DentalXChange asset ppt/media/image35.svg; project:source-image35; canonical SHA256=6394c82d241a3903635cfcf6868122aa7ae8750ed0be93149d489971d0623cd0">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63300" y="2133600"/>
              <a:ext cx="228600" cy="228600"/>
            </a:xfrm>
            <a:prstGeom prst="rect">
              <a:avLst/>
            </a:prstGeom>
          </p:spPr>
        </p:pic>
      </p:grpSp>
      <p:grpSp>
        <p:nvGrpSpPr>
          <p:cNvPr id="45" name="authored-header"/>
          <p:cNvGrpSpPr/>
          <p:nvPr/>
        </p:nvGrpSpPr>
        <p:grpSpPr>
          <a:xfrm>
            <a:off x="723900" y="685800"/>
            <a:ext cx="9372600" cy="914400"/>
            <a:chOff x="723900" y="685800"/>
            <a:chExt cx="9372600" cy="914400"/>
          </a:xfrm>
        </p:grpSpPr>
        <p:sp>
          <p:nvSpPr>
            <p:cNvPr id="30"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Outcome-led prioritization</a:t>
              </a:r>
              <a:endParaRPr lang="en-US" sz="3200" spc="-64" kern="0" b="0" i="0" dirty="0">
                <a:solidFill>
                  <a:srgbClr val="070154"/>
                </a:solidFill>
                <a:latin typeface="IBM Plex Sans SemiBold"/>
                <a:ea typeface="IBM Plex Sans SemiBold"/>
                <a:cs typeface="IBM Plex Sans SemiBold"/>
              </a:endParaRPr>
            </a:p>
          </p:txBody>
        </p:sp>
      </p:grpSp>
      <p:grpSp>
        <p:nvGrpSpPr>
          <p:cNvPr id="46" name="authored-eyebrow"/>
          <p:cNvGrpSpPr/>
          <p:nvPr/>
        </p:nvGrpSpPr>
        <p:grpSpPr>
          <a:xfrm>
            <a:off x="723900" y="457200"/>
            <a:ext cx="9372600" cy="228600"/>
            <a:chOff x="723900" y="457200"/>
            <a:chExt cx="9372600" cy="228600"/>
          </a:xfrm>
        </p:grpSpPr>
        <p:sp>
          <p:nvSpPr>
            <p:cNvPr id="31"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RECOMMENDATION 01</a:t>
              </a:r>
              <a:endParaRPr lang="en-US" sz="1000" spc="80" kern="0" b="0" i="0" dirty="0">
                <a:solidFill>
                  <a:srgbClr val="0047FF"/>
                </a:solidFill>
                <a:latin typeface="IBM Plex Mono SemiBold"/>
                <a:ea typeface="IBM Plex Mono SemiBold"/>
                <a:cs typeface="IBM Plex Mono SemiBold"/>
              </a:endParaRPr>
            </a:p>
          </p:txBody>
        </p:sp>
      </p:grpSp>
      <p:grpSp>
        <p:nvGrpSpPr>
          <p:cNvPr id="47" name="client-brand"/>
          <p:cNvGrpSpPr/>
          <p:nvPr/>
        </p:nvGrpSpPr>
        <p:grpSpPr>
          <a:xfrm>
            <a:off x="10382250" y="457200"/>
            <a:ext cx="1028700" cy="457200"/>
            <a:chOff x="10382250" y="457200"/>
            <a:chExt cx="1028700" cy="457200"/>
          </a:xfrm>
        </p:grpSpPr>
        <p:pic>
          <p:nvPicPr>
            <p:cNvPr id="32" name="client-brand.image" descr="Exact original DentalXChange asset ppt/media/image31.png; project:source-image31; canonical SHA256=51385b7813333a7f4207d77364f6a318acc4d148486d489c8a87f115754c251f">    </p:cNvPr>
            <p:cNvPicPr>
              <a:picLocks noChangeAspect="1"/>
            </p:cNvPicPr>
            <p:nvPr/>
          </p:nvPicPr>
          <p:blipFill>
            <a:blip r:embed="rId5"/>
            <a:stretch>
              <a:fillRect/>
            </a:stretch>
          </p:blipFill>
          <p:spPr>
            <a:xfrm>
              <a:off x="10382250" y="457200"/>
              <a:ext cx="1028700" cy="457200"/>
            </a:xfrm>
            <a:prstGeom prst="rect">
              <a:avLst/>
            </a:prstGeom>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dxc-027">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27</a:t>
            </a:fld>
            <a:endParaRPr lang="en-US" sz="700" spc="0" kern="0" b="0" i="0" dirty="0">
              <a:solidFill>
                <a:srgbClr val="070154"/>
              </a:solidFill>
              <a:latin typeface="IBM Plex Mono SemiBold"/>
              <a:ea typeface="IBM Plex Mono SemiBold"/>
              <a:cs typeface="IBM Plex Mono SemiBold"/>
            </a:endParaRPr>
          </a:p>
        </p:txBody>
      </p:sp>
      <p:grpSp>
        <p:nvGrpSpPr>
          <p:cNvPr id="33"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Shift Product accountability toward customer evidence, outcomes, roadmap, adoption, and learning.</a:t>
              </a:r>
              <a:endParaRPr lang="en-US" sz="1200" spc="0" kern="0" b="0" i="0" dirty="0">
                <a:solidFill>
                  <a:srgbClr val="50658E"/>
                </a:solidFill>
                <a:latin typeface="IBM Plex Sans"/>
                <a:ea typeface="IBM Plex Sans"/>
                <a:cs typeface="IBM Plex Sans"/>
              </a:endParaRPr>
            </a:p>
          </p:txBody>
        </p:sp>
      </p:grpSp>
      <p:grpSp>
        <p:nvGrpSpPr>
          <p:cNvPr id="34" name="group-left"/>
          <p:cNvGrpSpPr/>
          <p:nvPr/>
        </p:nvGrpSpPr>
        <p:grpSpPr>
          <a:xfrm>
            <a:off x="723900" y="2133600"/>
            <a:ext cx="5257800" cy="228600"/>
            <a:chOff x="723900" y="2133600"/>
            <a:chExt cx="5257800" cy="228600"/>
          </a:xfrm>
        </p:grpSpPr>
        <p:sp>
          <p:nvSpPr>
            <p:cNvPr id="6" name="group-left.text"/>
            <p:cNvSpPr/>
            <p:nvPr/>
          </p:nvSpPr>
          <p:spPr>
            <a:xfrm>
              <a:off x="723900" y="21336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35" name="group-right"/>
          <p:cNvGrpSpPr/>
          <p:nvPr/>
        </p:nvGrpSpPr>
        <p:grpSpPr>
          <a:xfrm>
            <a:off x="6210300" y="2133600"/>
            <a:ext cx="5257800" cy="228600"/>
            <a:chOff x="6210300" y="2133600"/>
            <a:chExt cx="5257800" cy="228600"/>
          </a:xfrm>
        </p:grpSpPr>
        <p:sp>
          <p:nvSpPr>
            <p:cNvPr id="7" name="group-right.text"/>
            <p:cNvSpPr/>
            <p:nvPr/>
          </p:nvSpPr>
          <p:spPr>
            <a:xfrm>
              <a:off x="6210300" y="21336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36" name="item-0-0"/>
          <p:cNvGrpSpPr/>
          <p:nvPr/>
        </p:nvGrpSpPr>
        <p:grpSpPr>
          <a:xfrm>
            <a:off x="723900" y="2438400"/>
            <a:ext cx="5257800" cy="838200"/>
            <a:chOff x="723900" y="2438400"/>
            <a:chExt cx="5257800" cy="838200"/>
          </a:xfrm>
        </p:grpSpPr>
        <p:sp>
          <p:nvSpPr>
            <p:cNvPr id="8" name="item-0-0.container"/>
            <p:cNvSpPr/>
            <p:nvPr/>
          </p:nvSpPr>
          <p:spPr>
            <a:xfrm>
              <a:off x="723900" y="2438400"/>
              <a:ext cx="5257800" cy="838200"/>
            </a:xfrm>
            <a:prstGeom prst="rect">
              <a:avLst/>
            </a:prstGeom>
            <a:solidFill>
              <a:srgbClr val="E8EEF8"/>
            </a:solidFill>
            <a:ln>
              <a:noFill/>
            </a:ln>
          </p:spPr>
        </p:sp>
        <p:sp>
          <p:nvSpPr>
            <p:cNvPr id="9" name="item-0-0.edge"/>
            <p:cNvSpPr/>
            <p:nvPr/>
          </p:nvSpPr>
          <p:spPr>
            <a:xfrm>
              <a:off x="723900" y="2438400"/>
              <a:ext cx="38100" cy="838200"/>
            </a:xfrm>
            <a:prstGeom prst="rect">
              <a:avLst/>
            </a:prstGeom>
            <a:solidFill>
              <a:srgbClr val="0047FF"/>
            </a:solidFill>
            <a:ln>
              <a:noFill/>
            </a:ln>
          </p:spPr>
        </p:sp>
        <p:sp>
          <p:nvSpPr>
            <p:cNvPr id="10" name="item-0-0.body.item-0.paragraph"/>
            <p:cNvSpPr/>
            <p:nvPr/>
          </p:nvSpPr>
          <p:spPr>
            <a:xfrm>
              <a:off x="876300" y="25527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Define what Product owns from opportunity through post-launch learning, separate from backlog administration.</a:t>
              </a:r>
              <a:endParaRPr lang="en-US" sz="1200" spc="0" kern="0" b="0" i="0" dirty="0">
                <a:solidFill>
                  <a:srgbClr val="50658E"/>
                </a:solidFill>
                <a:latin typeface="IBM Plex Sans"/>
                <a:ea typeface="IBM Plex Sans"/>
                <a:cs typeface="IBM Plex Sans"/>
              </a:endParaRPr>
            </a:p>
          </p:txBody>
        </p:sp>
      </p:grpSp>
      <p:grpSp>
        <p:nvGrpSpPr>
          <p:cNvPr id="37" name="item-0-1"/>
          <p:cNvGrpSpPr/>
          <p:nvPr/>
        </p:nvGrpSpPr>
        <p:grpSpPr>
          <a:xfrm>
            <a:off x="723900" y="3352800"/>
            <a:ext cx="5257800" cy="838200"/>
            <a:chOff x="723900" y="3352800"/>
            <a:chExt cx="5257800" cy="838200"/>
          </a:xfrm>
        </p:grpSpPr>
        <p:sp>
          <p:nvSpPr>
            <p:cNvPr id="11" name="item-0-1.container"/>
            <p:cNvSpPr/>
            <p:nvPr/>
          </p:nvSpPr>
          <p:spPr>
            <a:xfrm>
              <a:off x="723900" y="3352800"/>
              <a:ext cx="5257800" cy="838200"/>
            </a:xfrm>
            <a:prstGeom prst="rect">
              <a:avLst/>
            </a:prstGeom>
            <a:solidFill>
              <a:srgbClr val="E8EEF8"/>
            </a:solidFill>
            <a:ln>
              <a:noFill/>
            </a:ln>
          </p:spPr>
        </p:sp>
        <p:sp>
          <p:nvSpPr>
            <p:cNvPr id="12" name="item-0-1.edge"/>
            <p:cNvSpPr/>
            <p:nvPr/>
          </p:nvSpPr>
          <p:spPr>
            <a:xfrm>
              <a:off x="723900" y="3352800"/>
              <a:ext cx="38100" cy="838200"/>
            </a:xfrm>
            <a:prstGeom prst="rect">
              <a:avLst/>
            </a:prstGeom>
            <a:solidFill>
              <a:srgbClr val="0047FF"/>
            </a:solidFill>
            <a:ln>
              <a:noFill/>
            </a:ln>
          </p:spPr>
        </p:sp>
        <p:sp>
          <p:nvSpPr>
            <p:cNvPr id="13" name="item-0-1.body.item-0.paragraph"/>
            <p:cNvSpPr/>
            <p:nvPr/>
          </p:nvSpPr>
          <p:spPr>
            <a:xfrm>
              <a:off x="876300" y="34671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Clarify decision rights across Product Manager, Product Owner, Engineering Lead, Sales, and Operations.</a:t>
              </a:r>
              <a:endParaRPr lang="en-US" sz="1200" spc="0" kern="0" b="0" i="0" dirty="0">
                <a:solidFill>
                  <a:srgbClr val="50658E"/>
                </a:solidFill>
                <a:latin typeface="IBM Plex Sans"/>
                <a:ea typeface="IBM Plex Sans"/>
                <a:cs typeface="IBM Plex Sans"/>
              </a:endParaRPr>
            </a:p>
          </p:txBody>
        </p:sp>
      </p:grpSp>
      <p:grpSp>
        <p:nvGrpSpPr>
          <p:cNvPr id="38" name="item-0-2"/>
          <p:cNvGrpSpPr/>
          <p:nvPr/>
        </p:nvGrpSpPr>
        <p:grpSpPr>
          <a:xfrm>
            <a:off x="723900" y="4267200"/>
            <a:ext cx="5257800" cy="838200"/>
            <a:chOff x="723900" y="4267200"/>
            <a:chExt cx="5257800" cy="838200"/>
          </a:xfrm>
        </p:grpSpPr>
        <p:sp>
          <p:nvSpPr>
            <p:cNvPr id="14" name="item-0-2.container"/>
            <p:cNvSpPr/>
            <p:nvPr/>
          </p:nvSpPr>
          <p:spPr>
            <a:xfrm>
              <a:off x="723900" y="4267200"/>
              <a:ext cx="5257800" cy="838200"/>
            </a:xfrm>
            <a:prstGeom prst="rect">
              <a:avLst/>
            </a:prstGeom>
            <a:solidFill>
              <a:srgbClr val="E8EEF8"/>
            </a:solidFill>
            <a:ln>
              <a:noFill/>
            </a:ln>
          </p:spPr>
        </p:sp>
        <p:sp>
          <p:nvSpPr>
            <p:cNvPr id="15" name="item-0-2.edge"/>
            <p:cNvSpPr/>
            <p:nvPr/>
          </p:nvSpPr>
          <p:spPr>
            <a:xfrm>
              <a:off x="723900" y="4267200"/>
              <a:ext cx="38100" cy="838200"/>
            </a:xfrm>
            <a:prstGeom prst="rect">
              <a:avLst/>
            </a:prstGeom>
            <a:solidFill>
              <a:srgbClr val="0047FF"/>
            </a:solidFill>
            <a:ln>
              <a:noFill/>
            </a:ln>
          </p:spPr>
        </p:sp>
        <p:sp>
          <p:nvSpPr>
            <p:cNvPr id="16" name="item-0-2.body.item-0.paragraph"/>
            <p:cNvSpPr/>
            <p:nvPr/>
          </p:nvSpPr>
          <p:spPr>
            <a:xfrm>
              <a:off x="876300" y="43815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Use the opportunity brief and PRD to carry business context and decision logic into delivery.</a:t>
              </a:r>
              <a:endParaRPr lang="en-US" sz="1200" spc="0" kern="0" b="0" i="0" dirty="0">
                <a:solidFill>
                  <a:srgbClr val="50658E"/>
                </a:solidFill>
                <a:latin typeface="IBM Plex Sans"/>
                <a:ea typeface="IBM Plex Sans"/>
                <a:cs typeface="IBM Plex Sans"/>
              </a:endParaRPr>
            </a:p>
          </p:txBody>
        </p:sp>
      </p:grpSp>
      <p:grpSp>
        <p:nvGrpSpPr>
          <p:cNvPr id="39" name="item-1-0"/>
          <p:cNvGrpSpPr/>
          <p:nvPr/>
        </p:nvGrpSpPr>
        <p:grpSpPr>
          <a:xfrm>
            <a:off x="6210300" y="2438400"/>
            <a:ext cx="5257800" cy="838200"/>
            <a:chOff x="6210300" y="2438400"/>
            <a:chExt cx="5257800" cy="838200"/>
          </a:xfrm>
        </p:grpSpPr>
        <p:sp>
          <p:nvSpPr>
            <p:cNvPr id="17" name="item-1-0.container"/>
            <p:cNvSpPr/>
            <p:nvPr/>
          </p:nvSpPr>
          <p:spPr>
            <a:xfrm>
              <a:off x="6210300" y="2438400"/>
              <a:ext cx="5257800" cy="838200"/>
            </a:xfrm>
            <a:prstGeom prst="rect">
              <a:avLst/>
            </a:prstGeom>
            <a:solidFill>
              <a:srgbClr val="E8EEF8"/>
            </a:solidFill>
            <a:ln>
              <a:noFill/>
            </a:ln>
          </p:spPr>
        </p:sp>
        <p:sp>
          <p:nvSpPr>
            <p:cNvPr id="18" name="item-1-0.edge"/>
            <p:cNvSpPr/>
            <p:nvPr/>
          </p:nvSpPr>
          <p:spPr>
            <a:xfrm>
              <a:off x="6210300" y="2438400"/>
              <a:ext cx="38100" cy="838200"/>
            </a:xfrm>
            <a:prstGeom prst="rect">
              <a:avLst/>
            </a:prstGeom>
            <a:solidFill>
              <a:srgbClr val="0047FF"/>
            </a:solidFill>
            <a:ln>
              <a:noFill/>
            </a:ln>
          </p:spPr>
        </p:sp>
        <p:sp>
          <p:nvSpPr>
            <p:cNvPr id="19" name="item-1-0.body.item-0.paragraph"/>
            <p:cNvSpPr/>
            <p:nvPr/>
          </p:nvSpPr>
          <p:spPr>
            <a:xfrm>
              <a:off x="6362700" y="25527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Map current decision rights and identify one gap that slows the live initiative.</a:t>
              </a:r>
              <a:endParaRPr lang="en-US" sz="1200" spc="0" kern="0" b="0" i="0" dirty="0">
                <a:solidFill>
                  <a:srgbClr val="50658E"/>
                </a:solidFill>
                <a:latin typeface="IBM Plex Sans"/>
                <a:ea typeface="IBM Plex Sans"/>
                <a:cs typeface="IBM Plex Sans"/>
              </a:endParaRPr>
            </a:p>
          </p:txBody>
        </p:sp>
      </p:grpSp>
      <p:grpSp>
        <p:nvGrpSpPr>
          <p:cNvPr id="40" name="item-1-1"/>
          <p:cNvGrpSpPr/>
          <p:nvPr/>
        </p:nvGrpSpPr>
        <p:grpSpPr>
          <a:xfrm>
            <a:off x="6210300" y="3352800"/>
            <a:ext cx="5257800" cy="838200"/>
            <a:chOff x="6210300" y="3352800"/>
            <a:chExt cx="5257800" cy="838200"/>
          </a:xfrm>
        </p:grpSpPr>
        <p:sp>
          <p:nvSpPr>
            <p:cNvPr id="20" name="item-1-1.container"/>
            <p:cNvSpPr/>
            <p:nvPr/>
          </p:nvSpPr>
          <p:spPr>
            <a:xfrm>
              <a:off x="6210300" y="3352800"/>
              <a:ext cx="5257800" cy="838200"/>
            </a:xfrm>
            <a:prstGeom prst="rect">
              <a:avLst/>
            </a:prstGeom>
            <a:solidFill>
              <a:srgbClr val="E8EEF8"/>
            </a:solidFill>
            <a:ln>
              <a:noFill/>
            </a:ln>
          </p:spPr>
        </p:sp>
        <p:sp>
          <p:nvSpPr>
            <p:cNvPr id="21" name="item-1-1.edge"/>
            <p:cNvSpPr/>
            <p:nvPr/>
          </p:nvSpPr>
          <p:spPr>
            <a:xfrm>
              <a:off x="6210300" y="3352800"/>
              <a:ext cx="38100" cy="838200"/>
            </a:xfrm>
            <a:prstGeom prst="rect">
              <a:avLst/>
            </a:prstGeom>
            <a:solidFill>
              <a:srgbClr val="0047FF"/>
            </a:solidFill>
            <a:ln>
              <a:noFill/>
            </a:ln>
          </p:spPr>
        </p:sp>
        <p:sp>
          <p:nvSpPr>
            <p:cNvPr id="22" name="item-1-1.body.item-0.paragraph"/>
            <p:cNvSpPr/>
            <p:nvPr/>
          </p:nvSpPr>
          <p:spPr>
            <a:xfrm>
              <a:off x="6362700" y="3467100"/>
              <a:ext cx="4991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Assign a PM owner for the initiative's outcome and learning loop.</a:t>
              </a:r>
              <a:endParaRPr lang="en-US" sz="1200" spc="0" kern="0" b="0" i="0" dirty="0">
                <a:solidFill>
                  <a:srgbClr val="50658E"/>
                </a:solidFill>
                <a:latin typeface="IBM Plex Sans"/>
                <a:ea typeface="IBM Plex Sans"/>
                <a:cs typeface="IBM Plex Sans"/>
              </a:endParaRPr>
            </a:p>
          </p:txBody>
        </p:sp>
      </p:grpSp>
      <p:grpSp>
        <p:nvGrpSpPr>
          <p:cNvPr id="41" name="item-1-2"/>
          <p:cNvGrpSpPr/>
          <p:nvPr/>
        </p:nvGrpSpPr>
        <p:grpSpPr>
          <a:xfrm>
            <a:off x="6210300" y="4267200"/>
            <a:ext cx="5257800" cy="838200"/>
            <a:chOff x="6210300" y="4267200"/>
            <a:chExt cx="5257800" cy="838200"/>
          </a:xfrm>
        </p:grpSpPr>
        <p:sp>
          <p:nvSpPr>
            <p:cNvPr id="23" name="item-1-2.container"/>
            <p:cNvSpPr/>
            <p:nvPr/>
          </p:nvSpPr>
          <p:spPr>
            <a:xfrm>
              <a:off x="6210300" y="4267200"/>
              <a:ext cx="5257800" cy="838200"/>
            </a:xfrm>
            <a:prstGeom prst="rect">
              <a:avLst/>
            </a:prstGeom>
            <a:solidFill>
              <a:srgbClr val="E8EEF8"/>
            </a:solidFill>
            <a:ln>
              <a:noFill/>
            </a:ln>
          </p:spPr>
        </p:sp>
        <p:sp>
          <p:nvSpPr>
            <p:cNvPr id="24" name="item-1-2.edge"/>
            <p:cNvSpPr/>
            <p:nvPr/>
          </p:nvSpPr>
          <p:spPr>
            <a:xfrm>
              <a:off x="6210300" y="4267200"/>
              <a:ext cx="38100" cy="838200"/>
            </a:xfrm>
            <a:prstGeom prst="rect">
              <a:avLst/>
            </a:prstGeom>
            <a:solidFill>
              <a:srgbClr val="0047FF"/>
            </a:solidFill>
            <a:ln>
              <a:noFill/>
            </a:ln>
          </p:spPr>
        </p:sp>
        <p:sp>
          <p:nvSpPr>
            <p:cNvPr id="25" name="item-1-2.body.item-0.paragraph"/>
            <p:cNvSpPr/>
            <p:nvPr/>
          </p:nvSpPr>
          <p:spPr>
            <a:xfrm>
              <a:off x="6362700" y="43815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adoption, customer evidence, and business results in the same cadence as delivery progress.</a:t>
              </a:r>
              <a:endParaRPr lang="en-US" sz="1200" spc="0" kern="0" b="0" i="0" dirty="0">
                <a:solidFill>
                  <a:srgbClr val="50658E"/>
                </a:solidFill>
                <a:latin typeface="IBM Plex Sans"/>
                <a:ea typeface="IBM Plex Sans"/>
                <a:cs typeface="IBM Plex Sans"/>
              </a:endParaRPr>
            </a:p>
          </p:txBody>
        </p:sp>
      </p:grpSp>
      <p:grpSp>
        <p:nvGrpSpPr>
          <p:cNvPr id="42" name="accountability"/>
          <p:cNvGrpSpPr/>
          <p:nvPr/>
        </p:nvGrpSpPr>
        <p:grpSpPr>
          <a:xfrm>
            <a:off x="723900" y="5334000"/>
            <a:ext cx="10744200" cy="609600"/>
            <a:chOff x="723900" y="5334000"/>
            <a:chExt cx="10744200" cy="609600"/>
          </a:xfrm>
        </p:grpSpPr>
        <p:sp>
          <p:nvSpPr>
            <p:cNvPr id="26" name="accountability.surface"/>
            <p:cNvSpPr/>
            <p:nvPr/>
          </p:nvSpPr>
          <p:spPr>
            <a:xfrm>
              <a:off x="723900" y="5334000"/>
              <a:ext cx="10744200" cy="609600"/>
            </a:xfrm>
            <a:prstGeom prst="rect">
              <a:avLst/>
            </a:prstGeom>
            <a:solidFill>
              <a:srgbClr val="E8EEF8"/>
            </a:solidFill>
            <a:ln>
              <a:noFill/>
            </a:ln>
          </p:spPr>
        </p:sp>
        <p:sp>
          <p:nvSpPr>
            <p:cNvPr id="27" name="accountability.text"/>
            <p:cNvSpPr/>
            <p:nvPr/>
          </p:nvSpPr>
          <p:spPr>
            <a:xfrm>
              <a:off x="876300" y="54102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Product leadership | Dependency: role clarity, customer and usage data, outcome measures | Measure: decisions supported by evidence and post-launch learning captured</a:t>
              </a:r>
              <a:endParaRPr lang="en-US" sz="1200" spc="0" kern="0" b="0" i="0" dirty="0">
                <a:solidFill>
                  <a:srgbClr val="070154"/>
                </a:solidFill>
                <a:latin typeface="IBM Plex Sans"/>
                <a:ea typeface="IBM Plex Sans"/>
                <a:cs typeface="IBM Plex Sans"/>
              </a:endParaRPr>
            </a:p>
          </p:txBody>
        </p:sp>
      </p:grpSp>
      <p:grpSp>
        <p:nvGrpSpPr>
          <p:cNvPr id="43" name="source-icon0"/>
          <p:cNvGrpSpPr/>
          <p:nvPr/>
        </p:nvGrpSpPr>
        <p:grpSpPr>
          <a:xfrm>
            <a:off x="5676900" y="2133600"/>
            <a:ext cx="228600" cy="228600"/>
            <a:chOff x="5676900" y="2133600"/>
            <a:chExt cx="228600" cy="228600"/>
          </a:xfrm>
        </p:grpSpPr>
        <p:pic>
          <p:nvPicPr>
            <p:cNvPr id="28" name="source-icon0.image" descr="Exact original DentalXChange asset ppt/media/image34.svg; project:source-image34; canonical SHA256=ef32c66970420be9aec3ad3ec20b39dfeb48d8957c86db1c32980ce8f6a59efa">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76900" y="2133600"/>
              <a:ext cx="228600" cy="228600"/>
            </a:xfrm>
            <a:prstGeom prst="rect">
              <a:avLst/>
            </a:prstGeom>
          </p:spPr>
        </p:pic>
      </p:grpSp>
      <p:grpSp>
        <p:nvGrpSpPr>
          <p:cNvPr id="44" name="source-icon1"/>
          <p:cNvGrpSpPr/>
          <p:nvPr/>
        </p:nvGrpSpPr>
        <p:grpSpPr>
          <a:xfrm>
            <a:off x="11163300" y="2133600"/>
            <a:ext cx="228600" cy="228600"/>
            <a:chOff x="11163300" y="2133600"/>
            <a:chExt cx="228600" cy="228600"/>
          </a:xfrm>
        </p:grpSpPr>
        <p:pic>
          <p:nvPicPr>
            <p:cNvPr id="29" name="source-icon1.image" descr="Exact original DentalXChange asset ppt/media/image35.svg; project:source-image35; canonical SHA256=6394c82d241a3903635cfcf6868122aa7ae8750ed0be93149d489971d0623cd0">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63300" y="2133600"/>
              <a:ext cx="228600" cy="228600"/>
            </a:xfrm>
            <a:prstGeom prst="rect">
              <a:avLst/>
            </a:prstGeom>
          </p:spPr>
        </p:pic>
      </p:grpSp>
      <p:grpSp>
        <p:nvGrpSpPr>
          <p:cNvPr id="45" name="authored-header"/>
          <p:cNvGrpSpPr/>
          <p:nvPr/>
        </p:nvGrpSpPr>
        <p:grpSpPr>
          <a:xfrm>
            <a:off x="723900" y="685800"/>
            <a:ext cx="9372600" cy="914400"/>
            <a:chOff x="723900" y="685800"/>
            <a:chExt cx="9372600" cy="914400"/>
          </a:xfrm>
        </p:grpSpPr>
        <p:sp>
          <p:nvSpPr>
            <p:cNvPr id="30"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Product management as business ownership</a:t>
              </a:r>
              <a:endParaRPr lang="en-US" sz="3200" spc="-64" kern="0" b="0" i="0" dirty="0">
                <a:solidFill>
                  <a:srgbClr val="070154"/>
                </a:solidFill>
                <a:latin typeface="IBM Plex Sans SemiBold"/>
                <a:ea typeface="IBM Plex Sans SemiBold"/>
                <a:cs typeface="IBM Plex Sans SemiBold"/>
              </a:endParaRPr>
            </a:p>
          </p:txBody>
        </p:sp>
      </p:grpSp>
      <p:grpSp>
        <p:nvGrpSpPr>
          <p:cNvPr id="46" name="authored-eyebrow"/>
          <p:cNvGrpSpPr/>
          <p:nvPr/>
        </p:nvGrpSpPr>
        <p:grpSpPr>
          <a:xfrm>
            <a:off x="723900" y="457200"/>
            <a:ext cx="9372600" cy="228600"/>
            <a:chOff x="723900" y="457200"/>
            <a:chExt cx="9372600" cy="228600"/>
          </a:xfrm>
        </p:grpSpPr>
        <p:sp>
          <p:nvSpPr>
            <p:cNvPr id="31"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RECOMMENDATION 02</a:t>
              </a:r>
              <a:endParaRPr lang="en-US" sz="1000" spc="80" kern="0" b="0" i="0" dirty="0">
                <a:solidFill>
                  <a:srgbClr val="0047FF"/>
                </a:solidFill>
                <a:latin typeface="IBM Plex Mono SemiBold"/>
                <a:ea typeface="IBM Plex Mono SemiBold"/>
                <a:cs typeface="IBM Plex Mono SemiBold"/>
              </a:endParaRPr>
            </a:p>
          </p:txBody>
        </p:sp>
      </p:grpSp>
      <p:grpSp>
        <p:nvGrpSpPr>
          <p:cNvPr id="47" name="client-brand"/>
          <p:cNvGrpSpPr/>
          <p:nvPr/>
        </p:nvGrpSpPr>
        <p:grpSpPr>
          <a:xfrm>
            <a:off x="10382250" y="457200"/>
            <a:ext cx="1028700" cy="457200"/>
            <a:chOff x="10382250" y="457200"/>
            <a:chExt cx="1028700" cy="457200"/>
          </a:xfrm>
        </p:grpSpPr>
        <p:pic>
          <p:nvPicPr>
            <p:cNvPr id="32" name="client-brand.image" descr="Exact original DentalXChange asset ppt/media/image31.png; project:source-image31; canonical SHA256=51385b7813333a7f4207d77364f6a318acc4d148486d489c8a87f115754c251f">    </p:cNvPr>
            <p:cNvPicPr>
              <a:picLocks noChangeAspect="1"/>
            </p:cNvPicPr>
            <p:nvPr/>
          </p:nvPicPr>
          <p:blipFill>
            <a:blip r:embed="rId5"/>
            <a:stretch>
              <a:fillRect/>
            </a:stretch>
          </p:blipFill>
          <p:spPr>
            <a:xfrm>
              <a:off x="10382250" y="457200"/>
              <a:ext cx="1028700" cy="457200"/>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dxc-028">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28</a:t>
            </a:fld>
            <a:endParaRPr lang="en-US" sz="700" spc="0" kern="0" b="0" i="0" dirty="0">
              <a:solidFill>
                <a:srgbClr val="070154"/>
              </a:solidFill>
              <a:latin typeface="IBM Plex Mono SemiBold"/>
              <a:ea typeface="IBM Plex Mono SemiBold"/>
              <a:cs typeface="IBM Plex Mono SemiBold"/>
            </a:endParaRPr>
          </a:p>
        </p:txBody>
      </p:sp>
      <p:grpSp>
        <p:nvGrpSpPr>
          <p:cNvPr id="33"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Make the decision path from an internal signal to an implementation plan visible and repeatable.</a:t>
              </a:r>
              <a:endParaRPr lang="en-US" sz="1200" spc="0" kern="0" b="0" i="0" dirty="0">
                <a:solidFill>
                  <a:srgbClr val="50658E"/>
                </a:solidFill>
                <a:latin typeface="IBM Plex Sans"/>
                <a:ea typeface="IBM Plex Sans"/>
                <a:cs typeface="IBM Plex Sans"/>
              </a:endParaRPr>
            </a:p>
          </p:txBody>
        </p:sp>
      </p:grpSp>
      <p:grpSp>
        <p:nvGrpSpPr>
          <p:cNvPr id="34" name="group-left"/>
          <p:cNvGrpSpPr/>
          <p:nvPr/>
        </p:nvGrpSpPr>
        <p:grpSpPr>
          <a:xfrm>
            <a:off x="723900" y="2133600"/>
            <a:ext cx="5257800" cy="228600"/>
            <a:chOff x="723900" y="2133600"/>
            <a:chExt cx="5257800" cy="228600"/>
          </a:xfrm>
        </p:grpSpPr>
        <p:sp>
          <p:nvSpPr>
            <p:cNvPr id="6" name="group-left.text"/>
            <p:cNvSpPr/>
            <p:nvPr/>
          </p:nvSpPr>
          <p:spPr>
            <a:xfrm>
              <a:off x="723900" y="21336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35" name="group-right"/>
          <p:cNvGrpSpPr/>
          <p:nvPr/>
        </p:nvGrpSpPr>
        <p:grpSpPr>
          <a:xfrm>
            <a:off x="6210300" y="2133600"/>
            <a:ext cx="5257800" cy="228600"/>
            <a:chOff x="6210300" y="2133600"/>
            <a:chExt cx="5257800" cy="228600"/>
          </a:xfrm>
        </p:grpSpPr>
        <p:sp>
          <p:nvSpPr>
            <p:cNvPr id="7" name="group-right.text"/>
            <p:cNvSpPr/>
            <p:nvPr/>
          </p:nvSpPr>
          <p:spPr>
            <a:xfrm>
              <a:off x="6210300" y="21336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36" name="item-0-0"/>
          <p:cNvGrpSpPr/>
          <p:nvPr/>
        </p:nvGrpSpPr>
        <p:grpSpPr>
          <a:xfrm>
            <a:off x="723900" y="2438400"/>
            <a:ext cx="5257800" cy="838200"/>
            <a:chOff x="723900" y="2438400"/>
            <a:chExt cx="5257800" cy="838200"/>
          </a:xfrm>
        </p:grpSpPr>
        <p:sp>
          <p:nvSpPr>
            <p:cNvPr id="8" name="item-0-0.container"/>
            <p:cNvSpPr/>
            <p:nvPr/>
          </p:nvSpPr>
          <p:spPr>
            <a:xfrm>
              <a:off x="723900" y="2438400"/>
              <a:ext cx="5257800" cy="838200"/>
            </a:xfrm>
            <a:prstGeom prst="rect">
              <a:avLst/>
            </a:prstGeom>
            <a:solidFill>
              <a:srgbClr val="E8EEF8"/>
            </a:solidFill>
            <a:ln>
              <a:noFill/>
            </a:ln>
          </p:spPr>
        </p:sp>
        <p:sp>
          <p:nvSpPr>
            <p:cNvPr id="9" name="item-0-0.edge"/>
            <p:cNvSpPr/>
            <p:nvPr/>
          </p:nvSpPr>
          <p:spPr>
            <a:xfrm>
              <a:off x="723900" y="2438400"/>
              <a:ext cx="38100" cy="838200"/>
            </a:xfrm>
            <a:prstGeom prst="rect">
              <a:avLst/>
            </a:prstGeom>
            <a:solidFill>
              <a:srgbClr val="0047FF"/>
            </a:solidFill>
            <a:ln>
              <a:noFill/>
            </a:ln>
          </p:spPr>
        </p:sp>
        <p:sp>
          <p:nvSpPr>
            <p:cNvPr id="10" name="item-0-0.body.item-0.paragraph"/>
            <p:cNvSpPr/>
            <p:nvPr/>
          </p:nvSpPr>
          <p:spPr>
            <a:xfrm>
              <a:off x="876300" y="25527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Standardize the minimum content for an opportunity brief: problem, evidence, outcome, decision, and why now.</a:t>
              </a:r>
              <a:endParaRPr lang="en-US" sz="1200" spc="0" kern="0" b="0" i="0" dirty="0">
                <a:solidFill>
                  <a:srgbClr val="50658E"/>
                </a:solidFill>
                <a:latin typeface="IBM Plex Sans"/>
                <a:ea typeface="IBM Plex Sans"/>
                <a:cs typeface="IBM Plex Sans"/>
              </a:endParaRPr>
            </a:p>
          </p:txBody>
        </p:sp>
      </p:grpSp>
      <p:grpSp>
        <p:nvGrpSpPr>
          <p:cNvPr id="37" name="item-0-1"/>
          <p:cNvGrpSpPr/>
          <p:nvPr/>
        </p:nvGrpSpPr>
        <p:grpSpPr>
          <a:xfrm>
            <a:off x="723900" y="3352800"/>
            <a:ext cx="5257800" cy="838200"/>
            <a:chOff x="723900" y="3352800"/>
            <a:chExt cx="5257800" cy="838200"/>
          </a:xfrm>
        </p:grpSpPr>
        <p:sp>
          <p:nvSpPr>
            <p:cNvPr id="11" name="item-0-1.container"/>
            <p:cNvSpPr/>
            <p:nvPr/>
          </p:nvSpPr>
          <p:spPr>
            <a:xfrm>
              <a:off x="723900" y="3352800"/>
              <a:ext cx="5257800" cy="838200"/>
            </a:xfrm>
            <a:prstGeom prst="rect">
              <a:avLst/>
            </a:prstGeom>
            <a:solidFill>
              <a:srgbClr val="E8EEF8"/>
            </a:solidFill>
            <a:ln>
              <a:noFill/>
            </a:ln>
          </p:spPr>
        </p:sp>
        <p:sp>
          <p:nvSpPr>
            <p:cNvPr id="12" name="item-0-1.edge"/>
            <p:cNvSpPr/>
            <p:nvPr/>
          </p:nvSpPr>
          <p:spPr>
            <a:xfrm>
              <a:off x="723900" y="3352800"/>
              <a:ext cx="38100" cy="838200"/>
            </a:xfrm>
            <a:prstGeom prst="rect">
              <a:avLst/>
            </a:prstGeom>
            <a:solidFill>
              <a:srgbClr val="0047FF"/>
            </a:solidFill>
            <a:ln>
              <a:noFill/>
            </a:ln>
          </p:spPr>
        </p:sp>
        <p:sp>
          <p:nvSpPr>
            <p:cNvPr id="13" name="item-0-1.body.item-0.paragraph"/>
            <p:cNvSpPr/>
            <p:nvPr/>
          </p:nvSpPr>
          <p:spPr>
            <a:xfrm>
              <a:off x="876300" y="34671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Carry the decision logic through product brief or PRD, feature brief, epic, technical design and implementation plan.</a:t>
              </a:r>
              <a:endParaRPr lang="en-US" sz="1200" spc="0" kern="0" b="0" i="0" dirty="0">
                <a:solidFill>
                  <a:srgbClr val="50658E"/>
                </a:solidFill>
                <a:latin typeface="IBM Plex Sans"/>
                <a:ea typeface="IBM Plex Sans"/>
                <a:cs typeface="IBM Plex Sans"/>
              </a:endParaRPr>
            </a:p>
          </p:txBody>
        </p:sp>
      </p:grpSp>
      <p:grpSp>
        <p:nvGrpSpPr>
          <p:cNvPr id="38" name="item-0-2"/>
          <p:cNvGrpSpPr/>
          <p:nvPr/>
        </p:nvGrpSpPr>
        <p:grpSpPr>
          <a:xfrm>
            <a:off x="723900" y="4267200"/>
            <a:ext cx="5257800" cy="838200"/>
            <a:chOff x="723900" y="4267200"/>
            <a:chExt cx="5257800" cy="838200"/>
          </a:xfrm>
        </p:grpSpPr>
        <p:sp>
          <p:nvSpPr>
            <p:cNvPr id="14" name="item-0-2.container"/>
            <p:cNvSpPr/>
            <p:nvPr/>
          </p:nvSpPr>
          <p:spPr>
            <a:xfrm>
              <a:off x="723900" y="4267200"/>
              <a:ext cx="5257800" cy="838200"/>
            </a:xfrm>
            <a:prstGeom prst="rect">
              <a:avLst/>
            </a:prstGeom>
            <a:solidFill>
              <a:srgbClr val="E8EEF8"/>
            </a:solidFill>
            <a:ln>
              <a:noFill/>
            </a:ln>
          </p:spPr>
        </p:sp>
        <p:sp>
          <p:nvSpPr>
            <p:cNvPr id="15" name="item-0-2.edge"/>
            <p:cNvSpPr/>
            <p:nvPr/>
          </p:nvSpPr>
          <p:spPr>
            <a:xfrm>
              <a:off x="723900" y="4267200"/>
              <a:ext cx="38100" cy="838200"/>
            </a:xfrm>
            <a:prstGeom prst="rect">
              <a:avLst/>
            </a:prstGeom>
            <a:solidFill>
              <a:srgbClr val="0047FF"/>
            </a:solidFill>
            <a:ln>
              <a:noFill/>
            </a:ln>
          </p:spPr>
        </p:sp>
        <p:sp>
          <p:nvSpPr>
            <p:cNvPr id="16" name="item-0-2.body.item-0.paragraph"/>
            <p:cNvSpPr/>
            <p:nvPr/>
          </p:nvSpPr>
          <p:spPr>
            <a:xfrm>
              <a:off x="876300" y="43815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Make ownership, acceptance, design context, dependencies, and release evidence explicit before delivery scope is committed.</a:t>
              </a:r>
              <a:endParaRPr lang="en-US" sz="1200" spc="0" kern="0" b="0" i="0" dirty="0">
                <a:solidFill>
                  <a:srgbClr val="50658E"/>
                </a:solidFill>
                <a:latin typeface="IBM Plex Sans"/>
                <a:ea typeface="IBM Plex Sans"/>
                <a:cs typeface="IBM Plex Sans"/>
              </a:endParaRPr>
            </a:p>
          </p:txBody>
        </p:sp>
      </p:grpSp>
      <p:grpSp>
        <p:nvGrpSpPr>
          <p:cNvPr id="39" name="item-1-0"/>
          <p:cNvGrpSpPr/>
          <p:nvPr/>
        </p:nvGrpSpPr>
        <p:grpSpPr>
          <a:xfrm>
            <a:off x="6210300" y="2438400"/>
            <a:ext cx="5257800" cy="838200"/>
            <a:chOff x="6210300" y="2438400"/>
            <a:chExt cx="5257800" cy="838200"/>
          </a:xfrm>
        </p:grpSpPr>
        <p:sp>
          <p:nvSpPr>
            <p:cNvPr id="17" name="item-1-0.container"/>
            <p:cNvSpPr/>
            <p:nvPr/>
          </p:nvSpPr>
          <p:spPr>
            <a:xfrm>
              <a:off x="6210300" y="2438400"/>
              <a:ext cx="5257800" cy="838200"/>
            </a:xfrm>
            <a:prstGeom prst="rect">
              <a:avLst/>
            </a:prstGeom>
            <a:solidFill>
              <a:srgbClr val="E8EEF8"/>
            </a:solidFill>
            <a:ln>
              <a:noFill/>
            </a:ln>
          </p:spPr>
        </p:sp>
        <p:sp>
          <p:nvSpPr>
            <p:cNvPr id="18" name="item-1-0.edge"/>
            <p:cNvSpPr/>
            <p:nvPr/>
          </p:nvSpPr>
          <p:spPr>
            <a:xfrm>
              <a:off x="6210300" y="2438400"/>
              <a:ext cx="38100" cy="838200"/>
            </a:xfrm>
            <a:prstGeom prst="rect">
              <a:avLst/>
            </a:prstGeom>
            <a:solidFill>
              <a:srgbClr val="0047FF"/>
            </a:solidFill>
            <a:ln>
              <a:noFill/>
            </a:ln>
          </p:spPr>
        </p:sp>
        <p:sp>
          <p:nvSpPr>
            <p:cNvPr id="19" name="item-1-0.body.item-0.paragraph"/>
            <p:cNvSpPr/>
            <p:nvPr/>
          </p:nvSpPr>
          <p:spPr>
            <a:xfrm>
              <a:off x="6362700" y="25527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Select one internal signal from a live initiative and complete the opportunity brief.</a:t>
              </a:r>
              <a:endParaRPr lang="en-US" sz="1200" spc="0" kern="0" b="0" i="0" dirty="0">
                <a:solidFill>
                  <a:srgbClr val="50658E"/>
                </a:solidFill>
                <a:latin typeface="IBM Plex Sans"/>
                <a:ea typeface="IBM Plex Sans"/>
                <a:cs typeface="IBM Plex Sans"/>
              </a:endParaRPr>
            </a:p>
          </p:txBody>
        </p:sp>
      </p:grpSp>
      <p:grpSp>
        <p:nvGrpSpPr>
          <p:cNvPr id="40" name="item-1-1"/>
          <p:cNvGrpSpPr/>
          <p:nvPr/>
        </p:nvGrpSpPr>
        <p:grpSpPr>
          <a:xfrm>
            <a:off x="6210300" y="3352800"/>
            <a:ext cx="5257800" cy="838200"/>
            <a:chOff x="6210300" y="3352800"/>
            <a:chExt cx="5257800" cy="838200"/>
          </a:xfrm>
        </p:grpSpPr>
        <p:sp>
          <p:nvSpPr>
            <p:cNvPr id="20" name="item-1-1.container"/>
            <p:cNvSpPr/>
            <p:nvPr/>
          </p:nvSpPr>
          <p:spPr>
            <a:xfrm>
              <a:off x="6210300" y="3352800"/>
              <a:ext cx="5257800" cy="838200"/>
            </a:xfrm>
            <a:prstGeom prst="rect">
              <a:avLst/>
            </a:prstGeom>
            <a:solidFill>
              <a:srgbClr val="E8EEF8"/>
            </a:solidFill>
            <a:ln>
              <a:noFill/>
            </a:ln>
          </p:spPr>
        </p:sp>
        <p:sp>
          <p:nvSpPr>
            <p:cNvPr id="21" name="item-1-1.edge"/>
            <p:cNvSpPr/>
            <p:nvPr/>
          </p:nvSpPr>
          <p:spPr>
            <a:xfrm>
              <a:off x="6210300" y="3352800"/>
              <a:ext cx="38100" cy="838200"/>
            </a:xfrm>
            <a:prstGeom prst="rect">
              <a:avLst/>
            </a:prstGeom>
            <a:solidFill>
              <a:srgbClr val="0047FF"/>
            </a:solidFill>
            <a:ln>
              <a:noFill/>
            </a:ln>
          </p:spPr>
        </p:sp>
        <p:sp>
          <p:nvSpPr>
            <p:cNvPr id="22" name="item-1-1.body.item-0.paragraph"/>
            <p:cNvSpPr/>
            <p:nvPr/>
          </p:nvSpPr>
          <p:spPr>
            <a:xfrm>
              <a:off x="6362700" y="34671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the brief with Product, Engineering, UX, and the initiative sponsor before creating the PRD.</a:t>
              </a:r>
              <a:endParaRPr lang="en-US" sz="1200" spc="0" kern="0" b="0" i="0" dirty="0">
                <a:solidFill>
                  <a:srgbClr val="50658E"/>
                </a:solidFill>
                <a:latin typeface="IBM Plex Sans"/>
                <a:ea typeface="IBM Plex Sans"/>
                <a:cs typeface="IBM Plex Sans"/>
              </a:endParaRPr>
            </a:p>
          </p:txBody>
        </p:sp>
      </p:grpSp>
      <p:grpSp>
        <p:nvGrpSpPr>
          <p:cNvPr id="41" name="item-1-2"/>
          <p:cNvGrpSpPr/>
          <p:nvPr/>
        </p:nvGrpSpPr>
        <p:grpSpPr>
          <a:xfrm>
            <a:off x="6210300" y="4267200"/>
            <a:ext cx="5257800" cy="838200"/>
            <a:chOff x="6210300" y="4267200"/>
            <a:chExt cx="5257800" cy="838200"/>
          </a:xfrm>
        </p:grpSpPr>
        <p:sp>
          <p:nvSpPr>
            <p:cNvPr id="23" name="item-1-2.container"/>
            <p:cNvSpPr/>
            <p:nvPr/>
          </p:nvSpPr>
          <p:spPr>
            <a:xfrm>
              <a:off x="6210300" y="4267200"/>
              <a:ext cx="5257800" cy="838200"/>
            </a:xfrm>
            <a:prstGeom prst="rect">
              <a:avLst/>
            </a:prstGeom>
            <a:solidFill>
              <a:srgbClr val="E8EEF8"/>
            </a:solidFill>
            <a:ln>
              <a:noFill/>
            </a:ln>
          </p:spPr>
        </p:sp>
        <p:sp>
          <p:nvSpPr>
            <p:cNvPr id="24" name="item-1-2.edge"/>
            <p:cNvSpPr/>
            <p:nvPr/>
          </p:nvSpPr>
          <p:spPr>
            <a:xfrm>
              <a:off x="6210300" y="4267200"/>
              <a:ext cx="38100" cy="838200"/>
            </a:xfrm>
            <a:prstGeom prst="rect">
              <a:avLst/>
            </a:prstGeom>
            <a:solidFill>
              <a:srgbClr val="0047FF"/>
            </a:solidFill>
            <a:ln>
              <a:noFill/>
            </a:ln>
          </p:spPr>
        </p:sp>
        <p:sp>
          <p:nvSpPr>
            <p:cNvPr id="25" name="item-1-2.body.item-0.paragraph"/>
            <p:cNvSpPr/>
            <p:nvPr/>
          </p:nvSpPr>
          <p:spPr>
            <a:xfrm>
              <a:off x="6362700" y="43815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Trace the same decision through the feature brief, epic, technical design and implementation plan, then record handoff gaps and rework.</a:t>
              </a:r>
              <a:endParaRPr lang="en-US" sz="1200" spc="0" kern="0" b="0" i="0" dirty="0">
                <a:solidFill>
                  <a:srgbClr val="50658E"/>
                </a:solidFill>
                <a:latin typeface="IBM Plex Sans"/>
                <a:ea typeface="IBM Plex Sans"/>
                <a:cs typeface="IBM Plex Sans"/>
              </a:endParaRPr>
            </a:p>
          </p:txBody>
        </p:sp>
      </p:grpSp>
      <p:grpSp>
        <p:nvGrpSpPr>
          <p:cNvPr id="42" name="accountability"/>
          <p:cNvGrpSpPr/>
          <p:nvPr/>
        </p:nvGrpSpPr>
        <p:grpSpPr>
          <a:xfrm>
            <a:off x="723900" y="5334000"/>
            <a:ext cx="10744200" cy="609600"/>
            <a:chOff x="723900" y="5334000"/>
            <a:chExt cx="10744200" cy="609600"/>
          </a:xfrm>
        </p:grpSpPr>
        <p:sp>
          <p:nvSpPr>
            <p:cNvPr id="26" name="accountability.surface"/>
            <p:cNvSpPr/>
            <p:nvPr/>
          </p:nvSpPr>
          <p:spPr>
            <a:xfrm>
              <a:off x="723900" y="5334000"/>
              <a:ext cx="10744200" cy="609600"/>
            </a:xfrm>
            <a:prstGeom prst="rect">
              <a:avLst/>
            </a:prstGeom>
            <a:solidFill>
              <a:srgbClr val="E8EEF8"/>
            </a:solidFill>
            <a:ln>
              <a:noFill/>
            </a:ln>
          </p:spPr>
        </p:sp>
        <p:sp>
          <p:nvSpPr>
            <p:cNvPr id="27" name="accountability.text"/>
            <p:cNvSpPr/>
            <p:nvPr/>
          </p:nvSpPr>
          <p:spPr>
            <a:xfrm>
              <a:off x="876300" y="54102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Product + Engineering | Dependency: shared templates, architectural spec template, design context, initiative sponsor | Measure: handoff quality, rework, and decision clarity before commitment</a:t>
              </a:r>
              <a:endParaRPr lang="en-US" sz="1200" spc="0" kern="0" b="0" i="0" dirty="0">
                <a:solidFill>
                  <a:srgbClr val="070154"/>
                </a:solidFill>
                <a:latin typeface="IBM Plex Sans"/>
                <a:ea typeface="IBM Plex Sans"/>
                <a:cs typeface="IBM Plex Sans"/>
              </a:endParaRPr>
            </a:p>
          </p:txBody>
        </p:sp>
      </p:grpSp>
      <p:grpSp>
        <p:nvGrpSpPr>
          <p:cNvPr id="43" name="source-icon0"/>
          <p:cNvGrpSpPr/>
          <p:nvPr/>
        </p:nvGrpSpPr>
        <p:grpSpPr>
          <a:xfrm>
            <a:off x="5676900" y="2133600"/>
            <a:ext cx="228600" cy="228600"/>
            <a:chOff x="5676900" y="2133600"/>
            <a:chExt cx="228600" cy="228600"/>
          </a:xfrm>
        </p:grpSpPr>
        <p:pic>
          <p:nvPicPr>
            <p:cNvPr id="28" name="source-icon0.image" descr="Exact original DentalXChange asset ppt/media/image34.svg; project:source-image34; canonical SHA256=ef32c66970420be9aec3ad3ec20b39dfeb48d8957c86db1c32980ce8f6a59efa">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76900" y="2133600"/>
              <a:ext cx="228600" cy="228600"/>
            </a:xfrm>
            <a:prstGeom prst="rect">
              <a:avLst/>
            </a:prstGeom>
          </p:spPr>
        </p:pic>
      </p:grpSp>
      <p:grpSp>
        <p:nvGrpSpPr>
          <p:cNvPr id="44" name="source-icon1"/>
          <p:cNvGrpSpPr/>
          <p:nvPr/>
        </p:nvGrpSpPr>
        <p:grpSpPr>
          <a:xfrm>
            <a:off x="11163300" y="2133600"/>
            <a:ext cx="228600" cy="228600"/>
            <a:chOff x="11163300" y="2133600"/>
            <a:chExt cx="228600" cy="228600"/>
          </a:xfrm>
        </p:grpSpPr>
        <p:pic>
          <p:nvPicPr>
            <p:cNvPr id="29" name="source-icon1.image" descr="Exact original DentalXChange asset ppt/media/image35.svg; project:source-image35; canonical SHA256=6394c82d241a3903635cfcf6868122aa7ae8750ed0be93149d489971d0623cd0">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63300" y="2133600"/>
              <a:ext cx="228600" cy="228600"/>
            </a:xfrm>
            <a:prstGeom prst="rect">
              <a:avLst/>
            </a:prstGeom>
          </p:spPr>
        </p:pic>
      </p:grpSp>
      <p:grpSp>
        <p:nvGrpSpPr>
          <p:cNvPr id="45" name="authored-header"/>
          <p:cNvGrpSpPr/>
          <p:nvPr/>
        </p:nvGrpSpPr>
        <p:grpSpPr>
          <a:xfrm>
            <a:off x="723900" y="685800"/>
            <a:ext cx="9372600" cy="914400"/>
            <a:chOff x="723900" y="685800"/>
            <a:chExt cx="9372600" cy="914400"/>
          </a:xfrm>
        </p:grpSpPr>
        <p:sp>
          <p:nvSpPr>
            <p:cNvPr id="30"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Opportunity brief to implementation path</a:t>
              </a:r>
              <a:endParaRPr lang="en-US" sz="3200" spc="-64" kern="0" b="0" i="0" dirty="0">
                <a:solidFill>
                  <a:srgbClr val="070154"/>
                </a:solidFill>
                <a:latin typeface="IBM Plex Sans SemiBold"/>
                <a:ea typeface="IBM Plex Sans SemiBold"/>
                <a:cs typeface="IBM Plex Sans SemiBold"/>
              </a:endParaRPr>
            </a:p>
          </p:txBody>
        </p:sp>
      </p:grpSp>
      <p:grpSp>
        <p:nvGrpSpPr>
          <p:cNvPr id="46" name="authored-eyebrow"/>
          <p:cNvGrpSpPr/>
          <p:nvPr/>
        </p:nvGrpSpPr>
        <p:grpSpPr>
          <a:xfrm>
            <a:off x="723900" y="457200"/>
            <a:ext cx="9372600" cy="228600"/>
            <a:chOff x="723900" y="457200"/>
            <a:chExt cx="9372600" cy="228600"/>
          </a:xfrm>
        </p:grpSpPr>
        <p:sp>
          <p:nvSpPr>
            <p:cNvPr id="31"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RECOMMENDATION 03</a:t>
              </a:r>
              <a:endParaRPr lang="en-US" sz="1000" spc="80" kern="0" b="0" i="0" dirty="0">
                <a:solidFill>
                  <a:srgbClr val="0047FF"/>
                </a:solidFill>
                <a:latin typeface="IBM Plex Mono SemiBold"/>
                <a:ea typeface="IBM Plex Mono SemiBold"/>
                <a:cs typeface="IBM Plex Mono SemiBold"/>
              </a:endParaRPr>
            </a:p>
          </p:txBody>
        </p:sp>
      </p:grpSp>
      <p:grpSp>
        <p:nvGrpSpPr>
          <p:cNvPr id="47" name="client-brand"/>
          <p:cNvGrpSpPr/>
          <p:nvPr/>
        </p:nvGrpSpPr>
        <p:grpSpPr>
          <a:xfrm>
            <a:off x="10382250" y="457200"/>
            <a:ext cx="1028700" cy="457200"/>
            <a:chOff x="10382250" y="457200"/>
            <a:chExt cx="1028700" cy="457200"/>
          </a:xfrm>
        </p:grpSpPr>
        <p:pic>
          <p:nvPicPr>
            <p:cNvPr id="32" name="client-brand.image" descr="Exact original DentalXChange asset ppt/media/image31.png; project:source-image31; canonical SHA256=51385b7813333a7f4207d77364f6a318acc4d148486d489c8a87f115754c251f">    </p:cNvPr>
            <p:cNvPicPr>
              <a:picLocks noChangeAspect="1"/>
            </p:cNvPicPr>
            <p:nvPr/>
          </p:nvPicPr>
          <p:blipFill>
            <a:blip r:embed="rId5"/>
            <a:stretch>
              <a:fillRect/>
            </a:stretch>
          </p:blipFill>
          <p:spPr>
            <a:xfrm>
              <a:off x="10382250" y="457200"/>
              <a:ext cx="1028700" cy="457200"/>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dxc-029">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29</a:t>
            </a:fld>
            <a:endParaRPr lang="en-US" sz="700" spc="0" kern="0" b="0" i="0" dirty="0">
              <a:solidFill>
                <a:srgbClr val="070154"/>
              </a:solidFill>
              <a:latin typeface="IBM Plex Mono SemiBold"/>
              <a:ea typeface="IBM Plex Mono SemiBold"/>
              <a:cs typeface="IBM Plex Mono SemiBold"/>
            </a:endParaRPr>
          </a:p>
        </p:txBody>
      </p:sp>
      <p:grpSp>
        <p:nvGrpSpPr>
          <p:cNvPr id="33"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Bring the right people and evidence into feasibility work before commitments harden.</a:t>
              </a:r>
              <a:endParaRPr lang="en-US" sz="1200" spc="0" kern="0" b="0" i="0" dirty="0">
                <a:solidFill>
                  <a:srgbClr val="50658E"/>
                </a:solidFill>
                <a:latin typeface="IBM Plex Sans"/>
                <a:ea typeface="IBM Plex Sans"/>
                <a:cs typeface="IBM Plex Sans"/>
              </a:endParaRPr>
            </a:p>
          </p:txBody>
        </p:sp>
      </p:grpSp>
      <p:grpSp>
        <p:nvGrpSpPr>
          <p:cNvPr id="34" name="group-left"/>
          <p:cNvGrpSpPr/>
          <p:nvPr/>
        </p:nvGrpSpPr>
        <p:grpSpPr>
          <a:xfrm>
            <a:off x="723900" y="2133600"/>
            <a:ext cx="5257800" cy="228600"/>
            <a:chOff x="723900" y="2133600"/>
            <a:chExt cx="5257800" cy="228600"/>
          </a:xfrm>
        </p:grpSpPr>
        <p:sp>
          <p:nvSpPr>
            <p:cNvPr id="6" name="group-left.text"/>
            <p:cNvSpPr/>
            <p:nvPr/>
          </p:nvSpPr>
          <p:spPr>
            <a:xfrm>
              <a:off x="723900" y="21336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35" name="group-right"/>
          <p:cNvGrpSpPr/>
          <p:nvPr/>
        </p:nvGrpSpPr>
        <p:grpSpPr>
          <a:xfrm>
            <a:off x="6210300" y="2133600"/>
            <a:ext cx="5257800" cy="228600"/>
            <a:chOff x="6210300" y="2133600"/>
            <a:chExt cx="5257800" cy="228600"/>
          </a:xfrm>
        </p:grpSpPr>
        <p:sp>
          <p:nvSpPr>
            <p:cNvPr id="7" name="group-right.text"/>
            <p:cNvSpPr/>
            <p:nvPr/>
          </p:nvSpPr>
          <p:spPr>
            <a:xfrm>
              <a:off x="6210300" y="21336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36" name="item-0-0"/>
          <p:cNvGrpSpPr/>
          <p:nvPr/>
        </p:nvGrpSpPr>
        <p:grpSpPr>
          <a:xfrm>
            <a:off x="723900" y="2438400"/>
            <a:ext cx="5257800" cy="838200"/>
            <a:chOff x="723900" y="2438400"/>
            <a:chExt cx="5257800" cy="838200"/>
          </a:xfrm>
        </p:grpSpPr>
        <p:sp>
          <p:nvSpPr>
            <p:cNvPr id="8" name="item-0-0.container"/>
            <p:cNvSpPr/>
            <p:nvPr/>
          </p:nvSpPr>
          <p:spPr>
            <a:xfrm>
              <a:off x="723900" y="2438400"/>
              <a:ext cx="5257800" cy="838200"/>
            </a:xfrm>
            <a:prstGeom prst="rect">
              <a:avLst/>
            </a:prstGeom>
            <a:solidFill>
              <a:srgbClr val="E8EEF8"/>
            </a:solidFill>
            <a:ln>
              <a:noFill/>
            </a:ln>
          </p:spPr>
        </p:sp>
        <p:sp>
          <p:nvSpPr>
            <p:cNvPr id="9" name="item-0-0.edge"/>
            <p:cNvSpPr/>
            <p:nvPr/>
          </p:nvSpPr>
          <p:spPr>
            <a:xfrm>
              <a:off x="723900" y="2438400"/>
              <a:ext cx="38100" cy="838200"/>
            </a:xfrm>
            <a:prstGeom prst="rect">
              <a:avLst/>
            </a:prstGeom>
            <a:solidFill>
              <a:srgbClr val="0047FF"/>
            </a:solidFill>
            <a:ln>
              <a:noFill/>
            </a:ln>
          </p:spPr>
        </p:sp>
        <p:sp>
          <p:nvSpPr>
            <p:cNvPr id="10" name="item-0-0.body.item-0.paragraph"/>
            <p:cNvSpPr/>
            <p:nvPr/>
          </p:nvSpPr>
          <p:spPr>
            <a:xfrm>
              <a:off x="876300" y="25527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Define the minimum cross-functional team and artifact set required before a commitment is ready.</a:t>
              </a:r>
              <a:endParaRPr lang="en-US" sz="1200" spc="0" kern="0" b="0" i="0" dirty="0">
                <a:solidFill>
                  <a:srgbClr val="50658E"/>
                </a:solidFill>
                <a:latin typeface="IBM Plex Sans"/>
                <a:ea typeface="IBM Plex Sans"/>
                <a:cs typeface="IBM Plex Sans"/>
              </a:endParaRPr>
            </a:p>
          </p:txBody>
        </p:sp>
      </p:grpSp>
      <p:grpSp>
        <p:nvGrpSpPr>
          <p:cNvPr id="37" name="item-0-1"/>
          <p:cNvGrpSpPr/>
          <p:nvPr/>
        </p:nvGrpSpPr>
        <p:grpSpPr>
          <a:xfrm>
            <a:off x="723900" y="3352800"/>
            <a:ext cx="5257800" cy="838200"/>
            <a:chOff x="723900" y="3352800"/>
            <a:chExt cx="5257800" cy="838200"/>
          </a:xfrm>
        </p:grpSpPr>
        <p:sp>
          <p:nvSpPr>
            <p:cNvPr id="11" name="item-0-1.container"/>
            <p:cNvSpPr/>
            <p:nvPr/>
          </p:nvSpPr>
          <p:spPr>
            <a:xfrm>
              <a:off x="723900" y="3352800"/>
              <a:ext cx="5257800" cy="838200"/>
            </a:xfrm>
            <a:prstGeom prst="rect">
              <a:avLst/>
            </a:prstGeom>
            <a:solidFill>
              <a:srgbClr val="E8EEF8"/>
            </a:solidFill>
            <a:ln>
              <a:noFill/>
            </a:ln>
          </p:spPr>
        </p:sp>
        <p:sp>
          <p:nvSpPr>
            <p:cNvPr id="12" name="item-0-1.edge"/>
            <p:cNvSpPr/>
            <p:nvPr/>
          </p:nvSpPr>
          <p:spPr>
            <a:xfrm>
              <a:off x="723900" y="3352800"/>
              <a:ext cx="38100" cy="838200"/>
            </a:xfrm>
            <a:prstGeom prst="rect">
              <a:avLst/>
            </a:prstGeom>
            <a:solidFill>
              <a:srgbClr val="0047FF"/>
            </a:solidFill>
            <a:ln>
              <a:noFill/>
            </a:ln>
          </p:spPr>
        </p:sp>
        <p:sp>
          <p:nvSpPr>
            <p:cNvPr id="13" name="item-0-1.body.item-0.paragraph"/>
            <p:cNvSpPr/>
            <p:nvPr/>
          </p:nvSpPr>
          <p:spPr>
            <a:xfrm>
              <a:off x="876300" y="34671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Include Product, UX, Engineering, QA, Release, and Operations in early feasibility and evidence work.</a:t>
              </a:r>
              <a:endParaRPr lang="en-US" sz="1200" spc="0" kern="0" b="0" i="0" dirty="0">
                <a:solidFill>
                  <a:srgbClr val="50658E"/>
                </a:solidFill>
                <a:latin typeface="IBM Plex Sans"/>
                <a:ea typeface="IBM Plex Sans"/>
                <a:cs typeface="IBM Plex Sans"/>
              </a:endParaRPr>
            </a:p>
          </p:txBody>
        </p:sp>
      </p:grpSp>
      <p:grpSp>
        <p:nvGrpSpPr>
          <p:cNvPr id="38" name="item-0-2"/>
          <p:cNvGrpSpPr/>
          <p:nvPr/>
        </p:nvGrpSpPr>
        <p:grpSpPr>
          <a:xfrm>
            <a:off x="723900" y="4267200"/>
            <a:ext cx="5257800" cy="838200"/>
            <a:chOff x="723900" y="4267200"/>
            <a:chExt cx="5257800" cy="838200"/>
          </a:xfrm>
        </p:grpSpPr>
        <p:sp>
          <p:nvSpPr>
            <p:cNvPr id="14" name="item-0-2.container"/>
            <p:cNvSpPr/>
            <p:nvPr/>
          </p:nvSpPr>
          <p:spPr>
            <a:xfrm>
              <a:off x="723900" y="4267200"/>
              <a:ext cx="5257800" cy="838200"/>
            </a:xfrm>
            <a:prstGeom prst="rect">
              <a:avLst/>
            </a:prstGeom>
            <a:solidFill>
              <a:srgbClr val="E8EEF8"/>
            </a:solidFill>
            <a:ln>
              <a:noFill/>
            </a:ln>
          </p:spPr>
        </p:sp>
        <p:sp>
          <p:nvSpPr>
            <p:cNvPr id="15" name="item-0-2.edge"/>
            <p:cNvSpPr/>
            <p:nvPr/>
          </p:nvSpPr>
          <p:spPr>
            <a:xfrm>
              <a:off x="723900" y="4267200"/>
              <a:ext cx="38100" cy="838200"/>
            </a:xfrm>
            <a:prstGeom prst="rect">
              <a:avLst/>
            </a:prstGeom>
            <a:solidFill>
              <a:srgbClr val="0047FF"/>
            </a:solidFill>
            <a:ln>
              <a:noFill/>
            </a:ln>
          </p:spPr>
        </p:sp>
        <p:sp>
          <p:nvSpPr>
            <p:cNvPr id="16" name="item-0-2.body.item-0.paragraph"/>
            <p:cNvSpPr/>
            <p:nvPr/>
          </p:nvSpPr>
          <p:spPr>
            <a:xfrm>
              <a:off x="876300" y="43815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Maintain living documentation in a source of truth that supports handoffs and reuse.</a:t>
              </a:r>
              <a:endParaRPr lang="en-US" sz="1200" spc="0" kern="0" b="0" i="0" dirty="0">
                <a:solidFill>
                  <a:srgbClr val="50658E"/>
                </a:solidFill>
                <a:latin typeface="IBM Plex Sans"/>
                <a:ea typeface="IBM Plex Sans"/>
                <a:cs typeface="IBM Plex Sans"/>
              </a:endParaRPr>
            </a:p>
          </p:txBody>
        </p:sp>
      </p:grpSp>
      <p:grpSp>
        <p:nvGrpSpPr>
          <p:cNvPr id="39" name="item-1-0"/>
          <p:cNvGrpSpPr/>
          <p:nvPr/>
        </p:nvGrpSpPr>
        <p:grpSpPr>
          <a:xfrm>
            <a:off x="6210300" y="2438400"/>
            <a:ext cx="5257800" cy="838200"/>
            <a:chOff x="6210300" y="2438400"/>
            <a:chExt cx="5257800" cy="838200"/>
          </a:xfrm>
        </p:grpSpPr>
        <p:sp>
          <p:nvSpPr>
            <p:cNvPr id="17" name="item-1-0.container"/>
            <p:cNvSpPr/>
            <p:nvPr/>
          </p:nvSpPr>
          <p:spPr>
            <a:xfrm>
              <a:off x="6210300" y="2438400"/>
              <a:ext cx="5257800" cy="838200"/>
            </a:xfrm>
            <a:prstGeom prst="rect">
              <a:avLst/>
            </a:prstGeom>
            <a:solidFill>
              <a:srgbClr val="E8EEF8"/>
            </a:solidFill>
            <a:ln>
              <a:noFill/>
            </a:ln>
          </p:spPr>
        </p:sp>
        <p:sp>
          <p:nvSpPr>
            <p:cNvPr id="18" name="item-1-0.edge"/>
            <p:cNvSpPr/>
            <p:nvPr/>
          </p:nvSpPr>
          <p:spPr>
            <a:xfrm>
              <a:off x="6210300" y="2438400"/>
              <a:ext cx="38100" cy="838200"/>
            </a:xfrm>
            <a:prstGeom prst="rect">
              <a:avLst/>
            </a:prstGeom>
            <a:solidFill>
              <a:srgbClr val="0047FF"/>
            </a:solidFill>
            <a:ln>
              <a:noFill/>
            </a:ln>
          </p:spPr>
        </p:sp>
        <p:sp>
          <p:nvSpPr>
            <p:cNvPr id="19" name="item-1-0.body.item-0.paragraph"/>
            <p:cNvSpPr/>
            <p:nvPr/>
          </p:nvSpPr>
          <p:spPr>
            <a:xfrm>
              <a:off x="6362700" y="2552700"/>
              <a:ext cx="49911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Choose one initiative and run a pre-commitment working session.</a:t>
              </a:r>
              <a:endParaRPr lang="en-US" sz="1200" spc="0" kern="0" b="0" i="0" dirty="0">
                <a:solidFill>
                  <a:srgbClr val="50658E"/>
                </a:solidFill>
                <a:latin typeface="IBM Plex Sans"/>
                <a:ea typeface="IBM Plex Sans"/>
                <a:cs typeface="IBM Plex Sans"/>
              </a:endParaRPr>
            </a:p>
          </p:txBody>
        </p:sp>
      </p:grpSp>
      <p:grpSp>
        <p:nvGrpSpPr>
          <p:cNvPr id="40" name="item-1-1"/>
          <p:cNvGrpSpPr/>
          <p:nvPr/>
        </p:nvGrpSpPr>
        <p:grpSpPr>
          <a:xfrm>
            <a:off x="6210300" y="3352800"/>
            <a:ext cx="5257800" cy="838200"/>
            <a:chOff x="6210300" y="3352800"/>
            <a:chExt cx="5257800" cy="838200"/>
          </a:xfrm>
        </p:grpSpPr>
        <p:sp>
          <p:nvSpPr>
            <p:cNvPr id="20" name="item-1-1.container"/>
            <p:cNvSpPr/>
            <p:nvPr/>
          </p:nvSpPr>
          <p:spPr>
            <a:xfrm>
              <a:off x="6210300" y="3352800"/>
              <a:ext cx="5257800" cy="838200"/>
            </a:xfrm>
            <a:prstGeom prst="rect">
              <a:avLst/>
            </a:prstGeom>
            <a:solidFill>
              <a:srgbClr val="E8EEF8"/>
            </a:solidFill>
            <a:ln>
              <a:noFill/>
            </a:ln>
          </p:spPr>
        </p:sp>
        <p:sp>
          <p:nvSpPr>
            <p:cNvPr id="21" name="item-1-1.edge"/>
            <p:cNvSpPr/>
            <p:nvPr/>
          </p:nvSpPr>
          <p:spPr>
            <a:xfrm>
              <a:off x="6210300" y="3352800"/>
              <a:ext cx="38100" cy="838200"/>
            </a:xfrm>
            <a:prstGeom prst="rect">
              <a:avLst/>
            </a:prstGeom>
            <a:solidFill>
              <a:srgbClr val="0047FF"/>
            </a:solidFill>
            <a:ln>
              <a:noFill/>
            </a:ln>
          </p:spPr>
        </p:sp>
        <p:sp>
          <p:nvSpPr>
            <p:cNvPr id="22" name="item-1-1.body.item-0.paragraph"/>
            <p:cNvSpPr/>
            <p:nvPr/>
          </p:nvSpPr>
          <p:spPr>
            <a:xfrm>
              <a:off x="6362700" y="34671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Capture the open feasibility, design, release, and operational questions in one shared record.</a:t>
              </a:r>
              <a:endParaRPr lang="en-US" sz="1200" spc="0" kern="0" b="0" i="0" dirty="0">
                <a:solidFill>
                  <a:srgbClr val="50658E"/>
                </a:solidFill>
                <a:latin typeface="IBM Plex Sans"/>
                <a:ea typeface="IBM Plex Sans"/>
                <a:cs typeface="IBM Plex Sans"/>
              </a:endParaRPr>
            </a:p>
          </p:txBody>
        </p:sp>
      </p:grpSp>
      <p:grpSp>
        <p:nvGrpSpPr>
          <p:cNvPr id="41" name="item-1-2"/>
          <p:cNvGrpSpPr/>
          <p:nvPr/>
        </p:nvGrpSpPr>
        <p:grpSpPr>
          <a:xfrm>
            <a:off x="6210300" y="4267200"/>
            <a:ext cx="5257800" cy="838200"/>
            <a:chOff x="6210300" y="4267200"/>
            <a:chExt cx="5257800" cy="838200"/>
          </a:xfrm>
        </p:grpSpPr>
        <p:sp>
          <p:nvSpPr>
            <p:cNvPr id="23" name="item-1-2.container"/>
            <p:cNvSpPr/>
            <p:nvPr/>
          </p:nvSpPr>
          <p:spPr>
            <a:xfrm>
              <a:off x="6210300" y="4267200"/>
              <a:ext cx="5257800" cy="838200"/>
            </a:xfrm>
            <a:prstGeom prst="rect">
              <a:avLst/>
            </a:prstGeom>
            <a:solidFill>
              <a:srgbClr val="E8EEF8"/>
            </a:solidFill>
            <a:ln>
              <a:noFill/>
            </a:ln>
          </p:spPr>
        </p:sp>
        <p:sp>
          <p:nvSpPr>
            <p:cNvPr id="24" name="item-1-2.edge"/>
            <p:cNvSpPr/>
            <p:nvPr/>
          </p:nvSpPr>
          <p:spPr>
            <a:xfrm>
              <a:off x="6210300" y="4267200"/>
              <a:ext cx="38100" cy="838200"/>
            </a:xfrm>
            <a:prstGeom prst="rect">
              <a:avLst/>
            </a:prstGeom>
            <a:solidFill>
              <a:srgbClr val="0047FF"/>
            </a:solidFill>
            <a:ln>
              <a:noFill/>
            </a:ln>
          </p:spPr>
        </p:sp>
        <p:sp>
          <p:nvSpPr>
            <p:cNvPr id="25" name="item-1-2.body.item-0.paragraph"/>
            <p:cNvSpPr/>
            <p:nvPr/>
          </p:nvSpPr>
          <p:spPr>
            <a:xfrm>
              <a:off x="6362700" y="43815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Measure wait time, rework, and late discovery of issues before and after the test.</a:t>
              </a:r>
              <a:endParaRPr lang="en-US" sz="1200" spc="0" kern="0" b="0" i="0" dirty="0">
                <a:solidFill>
                  <a:srgbClr val="50658E"/>
                </a:solidFill>
                <a:latin typeface="IBM Plex Sans"/>
                <a:ea typeface="IBM Plex Sans"/>
                <a:cs typeface="IBM Plex Sans"/>
              </a:endParaRPr>
            </a:p>
          </p:txBody>
        </p:sp>
      </p:grpSp>
      <p:grpSp>
        <p:nvGrpSpPr>
          <p:cNvPr id="42" name="accountability"/>
          <p:cNvGrpSpPr/>
          <p:nvPr/>
        </p:nvGrpSpPr>
        <p:grpSpPr>
          <a:xfrm>
            <a:off x="723900" y="5334000"/>
            <a:ext cx="10744200" cy="609600"/>
            <a:chOff x="723900" y="5334000"/>
            <a:chExt cx="10744200" cy="609600"/>
          </a:xfrm>
        </p:grpSpPr>
        <p:sp>
          <p:nvSpPr>
            <p:cNvPr id="26" name="accountability.surface"/>
            <p:cNvSpPr/>
            <p:nvPr/>
          </p:nvSpPr>
          <p:spPr>
            <a:xfrm>
              <a:off x="723900" y="5334000"/>
              <a:ext cx="10744200" cy="609600"/>
            </a:xfrm>
            <a:prstGeom prst="rect">
              <a:avLst/>
            </a:prstGeom>
            <a:solidFill>
              <a:srgbClr val="E8EEF8"/>
            </a:solidFill>
            <a:ln>
              <a:noFill/>
            </a:ln>
          </p:spPr>
        </p:sp>
        <p:sp>
          <p:nvSpPr>
            <p:cNvPr id="27" name="accountability.text"/>
            <p:cNvSpPr/>
            <p:nvPr/>
          </p:nvSpPr>
          <p:spPr>
            <a:xfrm>
              <a:off x="876300" y="54102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Product + Engineering | Dependency: stakeholder access, cadence, Figma and design context | Measure: rework, wait time, and issues found before commitment</a:t>
              </a:r>
              <a:endParaRPr lang="en-US" sz="1200" spc="0" kern="0" b="0" i="0" dirty="0">
                <a:solidFill>
                  <a:srgbClr val="070154"/>
                </a:solidFill>
                <a:latin typeface="IBM Plex Sans"/>
                <a:ea typeface="IBM Plex Sans"/>
                <a:cs typeface="IBM Plex Sans"/>
              </a:endParaRPr>
            </a:p>
          </p:txBody>
        </p:sp>
      </p:grpSp>
      <p:grpSp>
        <p:nvGrpSpPr>
          <p:cNvPr id="43" name="source-icon0"/>
          <p:cNvGrpSpPr/>
          <p:nvPr/>
        </p:nvGrpSpPr>
        <p:grpSpPr>
          <a:xfrm>
            <a:off x="5676900" y="2133600"/>
            <a:ext cx="228600" cy="228600"/>
            <a:chOff x="5676900" y="2133600"/>
            <a:chExt cx="228600" cy="228600"/>
          </a:xfrm>
        </p:grpSpPr>
        <p:pic>
          <p:nvPicPr>
            <p:cNvPr id="28" name="source-icon0.image" descr="Exact original DentalXChange asset ppt/media/image34.svg; project:source-image34; canonical SHA256=ef32c66970420be9aec3ad3ec20b39dfeb48d8957c86db1c32980ce8f6a59efa">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76900" y="2133600"/>
              <a:ext cx="228600" cy="228600"/>
            </a:xfrm>
            <a:prstGeom prst="rect">
              <a:avLst/>
            </a:prstGeom>
          </p:spPr>
        </p:pic>
      </p:grpSp>
      <p:grpSp>
        <p:nvGrpSpPr>
          <p:cNvPr id="44" name="source-icon1"/>
          <p:cNvGrpSpPr/>
          <p:nvPr/>
        </p:nvGrpSpPr>
        <p:grpSpPr>
          <a:xfrm>
            <a:off x="11163300" y="2133600"/>
            <a:ext cx="228600" cy="228600"/>
            <a:chOff x="11163300" y="2133600"/>
            <a:chExt cx="228600" cy="228600"/>
          </a:xfrm>
        </p:grpSpPr>
        <p:pic>
          <p:nvPicPr>
            <p:cNvPr id="29" name="source-icon1.image" descr="Exact original DentalXChange asset ppt/media/image35.svg; project:source-image35; canonical SHA256=6394c82d241a3903635cfcf6868122aa7ae8750ed0be93149d489971d0623cd0">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63300" y="2133600"/>
              <a:ext cx="228600" cy="228600"/>
            </a:xfrm>
            <a:prstGeom prst="rect">
              <a:avLst/>
            </a:prstGeom>
          </p:spPr>
        </p:pic>
      </p:grpSp>
      <p:grpSp>
        <p:nvGrpSpPr>
          <p:cNvPr id="45" name="authored-header"/>
          <p:cNvGrpSpPr/>
          <p:nvPr/>
        </p:nvGrpSpPr>
        <p:grpSpPr>
          <a:xfrm>
            <a:off x="723900" y="685800"/>
            <a:ext cx="9372600" cy="914400"/>
            <a:chOff x="723900" y="685800"/>
            <a:chExt cx="9372600" cy="914400"/>
          </a:xfrm>
        </p:grpSpPr>
        <p:sp>
          <p:nvSpPr>
            <p:cNvPr id="30"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Earlier cross-functional collaboration</a:t>
              </a:r>
              <a:endParaRPr lang="en-US" sz="3200" spc="-64" kern="0" b="0" i="0" dirty="0">
                <a:solidFill>
                  <a:srgbClr val="070154"/>
                </a:solidFill>
                <a:latin typeface="IBM Plex Sans SemiBold"/>
                <a:ea typeface="IBM Plex Sans SemiBold"/>
                <a:cs typeface="IBM Plex Sans SemiBold"/>
              </a:endParaRPr>
            </a:p>
          </p:txBody>
        </p:sp>
      </p:grpSp>
      <p:grpSp>
        <p:nvGrpSpPr>
          <p:cNvPr id="46" name="authored-eyebrow"/>
          <p:cNvGrpSpPr/>
          <p:nvPr/>
        </p:nvGrpSpPr>
        <p:grpSpPr>
          <a:xfrm>
            <a:off x="723900" y="457200"/>
            <a:ext cx="9372600" cy="228600"/>
            <a:chOff x="723900" y="457200"/>
            <a:chExt cx="9372600" cy="228600"/>
          </a:xfrm>
        </p:grpSpPr>
        <p:sp>
          <p:nvSpPr>
            <p:cNvPr id="31"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RECOMMENDATION 04</a:t>
              </a:r>
              <a:endParaRPr lang="en-US" sz="1000" spc="80" kern="0" b="0" i="0" dirty="0">
                <a:solidFill>
                  <a:srgbClr val="0047FF"/>
                </a:solidFill>
                <a:latin typeface="IBM Plex Mono SemiBold"/>
                <a:ea typeface="IBM Plex Mono SemiBold"/>
                <a:cs typeface="IBM Plex Mono SemiBold"/>
              </a:endParaRPr>
            </a:p>
          </p:txBody>
        </p:sp>
      </p:grpSp>
      <p:grpSp>
        <p:nvGrpSpPr>
          <p:cNvPr id="47" name="client-brand"/>
          <p:cNvGrpSpPr/>
          <p:nvPr/>
        </p:nvGrpSpPr>
        <p:grpSpPr>
          <a:xfrm>
            <a:off x="10382250" y="457200"/>
            <a:ext cx="1028700" cy="457200"/>
            <a:chOff x="10382250" y="457200"/>
            <a:chExt cx="1028700" cy="457200"/>
          </a:xfrm>
        </p:grpSpPr>
        <p:pic>
          <p:nvPicPr>
            <p:cNvPr id="32" name="client-brand.image" descr="Exact original DentalXChange asset ppt/media/image31.png; project:source-image31; canonical SHA256=51385b7813333a7f4207d77364f6a318acc4d148486d489c8a87f115754c251f">    </p:cNvPr>
            <p:cNvPicPr>
              <a:picLocks noChangeAspect="1"/>
            </p:cNvPicPr>
            <p:nvPr/>
          </p:nvPicPr>
          <p:blipFill>
            <a:blip r:embed="rId5"/>
            <a:stretch>
              <a:fillRect/>
            </a:stretch>
          </p:blipFill>
          <p:spPr>
            <a:xfrm>
              <a:off x="10382250" y="457200"/>
              <a:ext cx="1028700" cy="457200"/>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xc-030">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30</a:t>
            </a:fld>
            <a:endParaRPr lang="en-US" sz="700" spc="0" kern="0" b="0" i="0" dirty="0">
              <a:solidFill>
                <a:srgbClr val="070154"/>
              </a:solidFill>
              <a:latin typeface="IBM Plex Mono SemiBold"/>
              <a:ea typeface="IBM Plex Mono SemiBold"/>
              <a:cs typeface="IBM Plex Mono SemiBold"/>
            </a:endParaRPr>
          </a:p>
        </p:txBody>
      </p:sp>
      <p:grpSp>
        <p:nvGrpSpPr>
          <p:cNvPr id="33"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Move from release coordination to evidence that a product works in a realistic client environment.</a:t>
              </a:r>
              <a:endParaRPr lang="en-US" sz="1200" spc="0" kern="0" b="0" i="0" dirty="0">
                <a:solidFill>
                  <a:srgbClr val="50658E"/>
                </a:solidFill>
                <a:latin typeface="IBM Plex Sans"/>
                <a:ea typeface="IBM Plex Sans"/>
                <a:cs typeface="IBM Plex Sans"/>
              </a:endParaRPr>
            </a:p>
          </p:txBody>
        </p:sp>
      </p:grpSp>
      <p:grpSp>
        <p:nvGrpSpPr>
          <p:cNvPr id="34" name="group-left"/>
          <p:cNvGrpSpPr/>
          <p:nvPr/>
        </p:nvGrpSpPr>
        <p:grpSpPr>
          <a:xfrm>
            <a:off x="723900" y="2133600"/>
            <a:ext cx="5257800" cy="228600"/>
            <a:chOff x="723900" y="2133600"/>
            <a:chExt cx="5257800" cy="228600"/>
          </a:xfrm>
        </p:grpSpPr>
        <p:sp>
          <p:nvSpPr>
            <p:cNvPr id="6" name="group-left.text"/>
            <p:cNvSpPr/>
            <p:nvPr/>
          </p:nvSpPr>
          <p:spPr>
            <a:xfrm>
              <a:off x="723900" y="21336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35" name="group-right"/>
          <p:cNvGrpSpPr/>
          <p:nvPr/>
        </p:nvGrpSpPr>
        <p:grpSpPr>
          <a:xfrm>
            <a:off x="6210300" y="2133600"/>
            <a:ext cx="5257800" cy="228600"/>
            <a:chOff x="6210300" y="2133600"/>
            <a:chExt cx="5257800" cy="228600"/>
          </a:xfrm>
        </p:grpSpPr>
        <p:sp>
          <p:nvSpPr>
            <p:cNvPr id="7" name="group-right.text"/>
            <p:cNvSpPr/>
            <p:nvPr/>
          </p:nvSpPr>
          <p:spPr>
            <a:xfrm>
              <a:off x="6210300" y="2133600"/>
              <a:ext cx="52578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36" name="item-0-0"/>
          <p:cNvGrpSpPr/>
          <p:nvPr/>
        </p:nvGrpSpPr>
        <p:grpSpPr>
          <a:xfrm>
            <a:off x="723900" y="2438400"/>
            <a:ext cx="5257800" cy="838200"/>
            <a:chOff x="723900" y="2438400"/>
            <a:chExt cx="5257800" cy="838200"/>
          </a:xfrm>
        </p:grpSpPr>
        <p:sp>
          <p:nvSpPr>
            <p:cNvPr id="8" name="item-0-0.container"/>
            <p:cNvSpPr/>
            <p:nvPr/>
          </p:nvSpPr>
          <p:spPr>
            <a:xfrm>
              <a:off x="723900" y="2438400"/>
              <a:ext cx="5257800" cy="838200"/>
            </a:xfrm>
            <a:prstGeom prst="rect">
              <a:avLst/>
            </a:prstGeom>
            <a:solidFill>
              <a:srgbClr val="E8EEF8"/>
            </a:solidFill>
            <a:ln>
              <a:noFill/>
            </a:ln>
          </p:spPr>
        </p:sp>
        <p:sp>
          <p:nvSpPr>
            <p:cNvPr id="9" name="item-0-0.edge"/>
            <p:cNvSpPr/>
            <p:nvPr/>
          </p:nvSpPr>
          <p:spPr>
            <a:xfrm>
              <a:off x="723900" y="2438400"/>
              <a:ext cx="38100" cy="838200"/>
            </a:xfrm>
            <a:prstGeom prst="rect">
              <a:avLst/>
            </a:prstGeom>
            <a:solidFill>
              <a:srgbClr val="0047FF"/>
            </a:solidFill>
            <a:ln>
              <a:noFill/>
            </a:ln>
          </p:spPr>
        </p:sp>
        <p:sp>
          <p:nvSpPr>
            <p:cNvPr id="10" name="item-0-0.body.item-0.paragraph"/>
            <p:cNvSpPr/>
            <p:nvPr/>
          </p:nvSpPr>
          <p:spPr>
            <a:xfrm>
              <a:off x="876300" y="25527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Define the smallest release evidence path for each selected initiative, including workflow, data, owner, and decision threshold.</a:t>
              </a:r>
              <a:endParaRPr lang="en-US" sz="1200" spc="0" kern="0" b="0" i="0" dirty="0">
                <a:solidFill>
                  <a:srgbClr val="50658E"/>
                </a:solidFill>
                <a:latin typeface="IBM Plex Sans"/>
                <a:ea typeface="IBM Plex Sans"/>
                <a:cs typeface="IBM Plex Sans"/>
              </a:endParaRPr>
            </a:p>
          </p:txBody>
        </p:sp>
      </p:grpSp>
      <p:grpSp>
        <p:nvGrpSpPr>
          <p:cNvPr id="37" name="item-0-1"/>
          <p:cNvGrpSpPr/>
          <p:nvPr/>
        </p:nvGrpSpPr>
        <p:grpSpPr>
          <a:xfrm>
            <a:off x="723900" y="3352800"/>
            <a:ext cx="5257800" cy="838200"/>
            <a:chOff x="723900" y="3352800"/>
            <a:chExt cx="5257800" cy="838200"/>
          </a:xfrm>
        </p:grpSpPr>
        <p:sp>
          <p:nvSpPr>
            <p:cNvPr id="11" name="item-0-1.container"/>
            <p:cNvSpPr/>
            <p:nvPr/>
          </p:nvSpPr>
          <p:spPr>
            <a:xfrm>
              <a:off x="723900" y="3352800"/>
              <a:ext cx="5257800" cy="838200"/>
            </a:xfrm>
            <a:prstGeom prst="rect">
              <a:avLst/>
            </a:prstGeom>
            <a:solidFill>
              <a:srgbClr val="E8EEF8"/>
            </a:solidFill>
            <a:ln>
              <a:noFill/>
            </a:ln>
          </p:spPr>
        </p:sp>
        <p:sp>
          <p:nvSpPr>
            <p:cNvPr id="12" name="item-0-1.edge"/>
            <p:cNvSpPr/>
            <p:nvPr/>
          </p:nvSpPr>
          <p:spPr>
            <a:xfrm>
              <a:off x="723900" y="3352800"/>
              <a:ext cx="38100" cy="838200"/>
            </a:xfrm>
            <a:prstGeom prst="rect">
              <a:avLst/>
            </a:prstGeom>
            <a:solidFill>
              <a:srgbClr val="0047FF"/>
            </a:solidFill>
            <a:ln>
              <a:noFill/>
            </a:ln>
          </p:spPr>
        </p:sp>
        <p:sp>
          <p:nvSpPr>
            <p:cNvPr id="13" name="item-0-1.body.item-0.paragraph"/>
            <p:cNvSpPr/>
            <p:nvPr/>
          </p:nvSpPr>
          <p:spPr>
            <a:xfrm>
              <a:off x="876300" y="34671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Create realistic partner-system or client-facing validation where current test data and environments are not representative.</a:t>
              </a:r>
              <a:endParaRPr lang="en-US" sz="1200" spc="0" kern="0" b="0" i="0" dirty="0">
                <a:solidFill>
                  <a:srgbClr val="50658E"/>
                </a:solidFill>
                <a:latin typeface="IBM Plex Sans"/>
                <a:ea typeface="IBM Plex Sans"/>
                <a:cs typeface="IBM Plex Sans"/>
              </a:endParaRPr>
            </a:p>
          </p:txBody>
        </p:sp>
      </p:grpSp>
      <p:grpSp>
        <p:nvGrpSpPr>
          <p:cNvPr id="38" name="item-0-2"/>
          <p:cNvGrpSpPr/>
          <p:nvPr/>
        </p:nvGrpSpPr>
        <p:grpSpPr>
          <a:xfrm>
            <a:off x="723900" y="4267200"/>
            <a:ext cx="5257800" cy="838200"/>
            <a:chOff x="723900" y="4267200"/>
            <a:chExt cx="5257800" cy="838200"/>
          </a:xfrm>
        </p:grpSpPr>
        <p:sp>
          <p:nvSpPr>
            <p:cNvPr id="14" name="item-0-2.container"/>
            <p:cNvSpPr/>
            <p:nvPr/>
          </p:nvSpPr>
          <p:spPr>
            <a:xfrm>
              <a:off x="723900" y="4267200"/>
              <a:ext cx="5257800" cy="838200"/>
            </a:xfrm>
            <a:prstGeom prst="rect">
              <a:avLst/>
            </a:prstGeom>
            <a:solidFill>
              <a:srgbClr val="E8EEF8"/>
            </a:solidFill>
            <a:ln>
              <a:noFill/>
            </a:ln>
          </p:spPr>
        </p:sp>
        <p:sp>
          <p:nvSpPr>
            <p:cNvPr id="15" name="item-0-2.edge"/>
            <p:cNvSpPr/>
            <p:nvPr/>
          </p:nvSpPr>
          <p:spPr>
            <a:xfrm>
              <a:off x="723900" y="4267200"/>
              <a:ext cx="38100" cy="838200"/>
            </a:xfrm>
            <a:prstGeom prst="rect">
              <a:avLst/>
            </a:prstGeom>
            <a:solidFill>
              <a:srgbClr val="0047FF"/>
            </a:solidFill>
            <a:ln>
              <a:noFill/>
            </a:ln>
          </p:spPr>
        </p:sp>
        <p:sp>
          <p:nvSpPr>
            <p:cNvPr id="16" name="item-0-2.body.item-0.paragraph"/>
            <p:cNvSpPr/>
            <p:nvPr/>
          </p:nvSpPr>
          <p:spPr>
            <a:xfrm>
              <a:off x="876300" y="43815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Carry post-launch results, issues, and adoption signals back into the next roadmap and prioritization decision.</a:t>
              </a:r>
              <a:endParaRPr lang="en-US" sz="1200" spc="0" kern="0" b="0" i="0" dirty="0">
                <a:solidFill>
                  <a:srgbClr val="50658E"/>
                </a:solidFill>
                <a:latin typeface="IBM Plex Sans"/>
                <a:ea typeface="IBM Plex Sans"/>
                <a:cs typeface="IBM Plex Sans"/>
              </a:endParaRPr>
            </a:p>
          </p:txBody>
        </p:sp>
      </p:grpSp>
      <p:grpSp>
        <p:nvGrpSpPr>
          <p:cNvPr id="39" name="item-1-0"/>
          <p:cNvGrpSpPr/>
          <p:nvPr/>
        </p:nvGrpSpPr>
        <p:grpSpPr>
          <a:xfrm>
            <a:off x="6210300" y="2438400"/>
            <a:ext cx="5257800" cy="838200"/>
            <a:chOff x="6210300" y="2438400"/>
            <a:chExt cx="5257800" cy="838200"/>
          </a:xfrm>
        </p:grpSpPr>
        <p:sp>
          <p:nvSpPr>
            <p:cNvPr id="17" name="item-1-0.container"/>
            <p:cNvSpPr/>
            <p:nvPr/>
          </p:nvSpPr>
          <p:spPr>
            <a:xfrm>
              <a:off x="6210300" y="2438400"/>
              <a:ext cx="5257800" cy="838200"/>
            </a:xfrm>
            <a:prstGeom prst="rect">
              <a:avLst/>
            </a:prstGeom>
            <a:solidFill>
              <a:srgbClr val="E8EEF8"/>
            </a:solidFill>
            <a:ln>
              <a:noFill/>
            </a:ln>
          </p:spPr>
        </p:sp>
        <p:sp>
          <p:nvSpPr>
            <p:cNvPr id="18" name="item-1-0.edge"/>
            <p:cNvSpPr/>
            <p:nvPr/>
          </p:nvSpPr>
          <p:spPr>
            <a:xfrm>
              <a:off x="6210300" y="2438400"/>
              <a:ext cx="38100" cy="838200"/>
            </a:xfrm>
            <a:prstGeom prst="rect">
              <a:avLst/>
            </a:prstGeom>
            <a:solidFill>
              <a:srgbClr val="0047FF"/>
            </a:solidFill>
            <a:ln>
              <a:noFill/>
            </a:ln>
          </p:spPr>
        </p:sp>
        <p:sp>
          <p:nvSpPr>
            <p:cNvPr id="19" name="item-1-0.body.item-0.paragraph"/>
            <p:cNvSpPr/>
            <p:nvPr/>
          </p:nvSpPr>
          <p:spPr>
            <a:xfrm>
              <a:off x="6362700" y="25527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Use the Reconcile AI release path as the first test and identify the highest-risk client workflow.</a:t>
              </a:r>
              <a:endParaRPr lang="en-US" sz="1200" spc="0" kern="0" b="0" i="0" dirty="0">
                <a:solidFill>
                  <a:srgbClr val="50658E"/>
                </a:solidFill>
                <a:latin typeface="IBM Plex Sans"/>
                <a:ea typeface="IBM Plex Sans"/>
                <a:cs typeface="IBM Plex Sans"/>
              </a:endParaRPr>
            </a:p>
          </p:txBody>
        </p:sp>
      </p:grpSp>
      <p:grpSp>
        <p:nvGrpSpPr>
          <p:cNvPr id="40" name="item-1-1"/>
          <p:cNvGrpSpPr/>
          <p:nvPr/>
        </p:nvGrpSpPr>
        <p:grpSpPr>
          <a:xfrm>
            <a:off x="6210300" y="3352800"/>
            <a:ext cx="5257800" cy="838200"/>
            <a:chOff x="6210300" y="3352800"/>
            <a:chExt cx="5257800" cy="838200"/>
          </a:xfrm>
        </p:grpSpPr>
        <p:sp>
          <p:nvSpPr>
            <p:cNvPr id="20" name="item-1-1.container"/>
            <p:cNvSpPr/>
            <p:nvPr/>
          </p:nvSpPr>
          <p:spPr>
            <a:xfrm>
              <a:off x="6210300" y="3352800"/>
              <a:ext cx="5257800" cy="838200"/>
            </a:xfrm>
            <a:prstGeom prst="rect">
              <a:avLst/>
            </a:prstGeom>
            <a:solidFill>
              <a:srgbClr val="E8EEF8"/>
            </a:solidFill>
            <a:ln>
              <a:noFill/>
            </a:ln>
          </p:spPr>
        </p:sp>
        <p:sp>
          <p:nvSpPr>
            <p:cNvPr id="21" name="item-1-1.edge"/>
            <p:cNvSpPr/>
            <p:nvPr/>
          </p:nvSpPr>
          <p:spPr>
            <a:xfrm>
              <a:off x="6210300" y="3352800"/>
              <a:ext cx="38100" cy="838200"/>
            </a:xfrm>
            <a:prstGeom prst="rect">
              <a:avLst/>
            </a:prstGeom>
            <a:solidFill>
              <a:srgbClr val="0047FF"/>
            </a:solidFill>
            <a:ln>
              <a:noFill/>
            </a:ln>
          </p:spPr>
        </p:sp>
        <p:sp>
          <p:nvSpPr>
            <p:cNvPr id="22" name="item-1-1.body.item-0.paragraph"/>
            <p:cNvSpPr/>
            <p:nvPr/>
          </p:nvSpPr>
          <p:spPr>
            <a:xfrm>
              <a:off x="6362700" y="34671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Complete an evidence review before release with Product, Engineering, Release, Operations, and the initiative owner.</a:t>
              </a:r>
              <a:endParaRPr lang="en-US" sz="1200" spc="0" kern="0" b="0" i="0" dirty="0">
                <a:solidFill>
                  <a:srgbClr val="50658E"/>
                </a:solidFill>
                <a:latin typeface="IBM Plex Sans"/>
                <a:ea typeface="IBM Plex Sans"/>
                <a:cs typeface="IBM Plex Sans"/>
              </a:endParaRPr>
            </a:p>
          </p:txBody>
        </p:sp>
      </p:grpSp>
      <p:grpSp>
        <p:nvGrpSpPr>
          <p:cNvPr id="41" name="item-1-2"/>
          <p:cNvGrpSpPr/>
          <p:nvPr/>
        </p:nvGrpSpPr>
        <p:grpSpPr>
          <a:xfrm>
            <a:off x="6210300" y="4267200"/>
            <a:ext cx="5257800" cy="838200"/>
            <a:chOff x="6210300" y="4267200"/>
            <a:chExt cx="5257800" cy="838200"/>
          </a:xfrm>
        </p:grpSpPr>
        <p:sp>
          <p:nvSpPr>
            <p:cNvPr id="23" name="item-1-2.container"/>
            <p:cNvSpPr/>
            <p:nvPr/>
          </p:nvSpPr>
          <p:spPr>
            <a:xfrm>
              <a:off x="6210300" y="4267200"/>
              <a:ext cx="5257800" cy="838200"/>
            </a:xfrm>
            <a:prstGeom prst="rect">
              <a:avLst/>
            </a:prstGeom>
            <a:solidFill>
              <a:srgbClr val="E8EEF8"/>
            </a:solidFill>
            <a:ln>
              <a:noFill/>
            </a:ln>
          </p:spPr>
        </p:sp>
        <p:sp>
          <p:nvSpPr>
            <p:cNvPr id="24" name="item-1-2.edge"/>
            <p:cNvSpPr/>
            <p:nvPr/>
          </p:nvSpPr>
          <p:spPr>
            <a:xfrm>
              <a:off x="6210300" y="4267200"/>
              <a:ext cx="38100" cy="838200"/>
            </a:xfrm>
            <a:prstGeom prst="rect">
              <a:avLst/>
            </a:prstGeom>
            <a:solidFill>
              <a:srgbClr val="0047FF"/>
            </a:solidFill>
            <a:ln>
              <a:noFill/>
            </a:ln>
          </p:spPr>
        </p:sp>
        <p:sp>
          <p:nvSpPr>
            <p:cNvPr id="25" name="item-1-2.body.item-0.paragraph"/>
            <p:cNvSpPr/>
            <p:nvPr/>
          </p:nvSpPr>
          <p:spPr>
            <a:xfrm>
              <a:off x="6362700" y="4381500"/>
              <a:ext cx="49911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Compare issues found before versus after release, then update the checklist and roadmap based on what the evidence shows.</a:t>
              </a:r>
              <a:endParaRPr lang="en-US" sz="1200" spc="0" kern="0" b="0" i="0" dirty="0">
                <a:solidFill>
                  <a:srgbClr val="50658E"/>
                </a:solidFill>
                <a:latin typeface="IBM Plex Sans"/>
                <a:ea typeface="IBM Plex Sans"/>
                <a:cs typeface="IBM Plex Sans"/>
              </a:endParaRPr>
            </a:p>
          </p:txBody>
        </p:sp>
      </p:grpSp>
      <p:grpSp>
        <p:nvGrpSpPr>
          <p:cNvPr id="42" name="accountability"/>
          <p:cNvGrpSpPr/>
          <p:nvPr/>
        </p:nvGrpSpPr>
        <p:grpSpPr>
          <a:xfrm>
            <a:off x="723900" y="5334000"/>
            <a:ext cx="10744200" cy="609600"/>
            <a:chOff x="723900" y="5334000"/>
            <a:chExt cx="10744200" cy="609600"/>
          </a:xfrm>
        </p:grpSpPr>
        <p:sp>
          <p:nvSpPr>
            <p:cNvPr id="26" name="accountability.surface"/>
            <p:cNvSpPr/>
            <p:nvPr/>
          </p:nvSpPr>
          <p:spPr>
            <a:xfrm>
              <a:off x="723900" y="5334000"/>
              <a:ext cx="10744200" cy="609600"/>
            </a:xfrm>
            <a:prstGeom prst="rect">
              <a:avLst/>
            </a:prstGeom>
            <a:solidFill>
              <a:srgbClr val="E8EEF8"/>
            </a:solidFill>
            <a:ln>
              <a:noFill/>
            </a:ln>
          </p:spPr>
        </p:sp>
        <p:sp>
          <p:nvSpPr>
            <p:cNvPr id="27" name="accountability.text"/>
            <p:cNvSpPr/>
            <p:nvPr/>
          </p:nvSpPr>
          <p:spPr>
            <a:xfrm>
              <a:off x="876300" y="54102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Product + Release + Operations | Dependency: realistic test data, partner environments, enablement | Measure: validation coverage, post-release defects, and time to feedback</a:t>
              </a:r>
              <a:endParaRPr lang="en-US" sz="1200" spc="0" kern="0" b="0" i="0" dirty="0">
                <a:solidFill>
                  <a:srgbClr val="070154"/>
                </a:solidFill>
                <a:latin typeface="IBM Plex Sans"/>
                <a:ea typeface="IBM Plex Sans"/>
                <a:cs typeface="IBM Plex Sans"/>
              </a:endParaRPr>
            </a:p>
          </p:txBody>
        </p:sp>
      </p:grpSp>
      <p:grpSp>
        <p:nvGrpSpPr>
          <p:cNvPr id="43" name="source-icon0"/>
          <p:cNvGrpSpPr/>
          <p:nvPr/>
        </p:nvGrpSpPr>
        <p:grpSpPr>
          <a:xfrm>
            <a:off x="5676900" y="2133600"/>
            <a:ext cx="228600" cy="228600"/>
            <a:chOff x="5676900" y="2133600"/>
            <a:chExt cx="228600" cy="228600"/>
          </a:xfrm>
        </p:grpSpPr>
        <p:pic>
          <p:nvPicPr>
            <p:cNvPr id="28" name="source-icon0.image" descr="Exact original DentalXChange asset ppt/media/image34.svg; project:source-image34; canonical SHA256=ef32c66970420be9aec3ad3ec20b39dfeb48d8957c86db1c32980ce8f6a59efa">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76900" y="2133600"/>
              <a:ext cx="228600" cy="228600"/>
            </a:xfrm>
            <a:prstGeom prst="rect">
              <a:avLst/>
            </a:prstGeom>
          </p:spPr>
        </p:pic>
      </p:grpSp>
      <p:grpSp>
        <p:nvGrpSpPr>
          <p:cNvPr id="44" name="source-icon1"/>
          <p:cNvGrpSpPr/>
          <p:nvPr/>
        </p:nvGrpSpPr>
        <p:grpSpPr>
          <a:xfrm>
            <a:off x="11163300" y="2133600"/>
            <a:ext cx="228600" cy="228600"/>
            <a:chOff x="11163300" y="2133600"/>
            <a:chExt cx="228600" cy="228600"/>
          </a:xfrm>
        </p:grpSpPr>
        <p:pic>
          <p:nvPicPr>
            <p:cNvPr id="29" name="source-icon1.image" descr="Exact original DentalXChange asset ppt/media/image35.svg; project:source-image35; canonical SHA256=6394c82d241a3903635cfcf6868122aa7ae8750ed0be93149d489971d0623cd0">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63300" y="2133600"/>
              <a:ext cx="228600" cy="228600"/>
            </a:xfrm>
            <a:prstGeom prst="rect">
              <a:avLst/>
            </a:prstGeom>
          </p:spPr>
        </p:pic>
      </p:grpSp>
      <p:grpSp>
        <p:nvGrpSpPr>
          <p:cNvPr id="45" name="authored-header"/>
          <p:cNvGrpSpPr/>
          <p:nvPr/>
        </p:nvGrpSpPr>
        <p:grpSpPr>
          <a:xfrm>
            <a:off x="723900" y="685800"/>
            <a:ext cx="9372600" cy="914400"/>
            <a:chOff x="723900" y="685800"/>
            <a:chExt cx="9372600" cy="914400"/>
          </a:xfrm>
        </p:grpSpPr>
        <p:sp>
          <p:nvSpPr>
            <p:cNvPr id="30"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Ship with proof feedback loop</a:t>
              </a:r>
              <a:endParaRPr lang="en-US" sz="3200" spc="-64" kern="0" b="0" i="0" dirty="0">
                <a:solidFill>
                  <a:srgbClr val="070154"/>
                </a:solidFill>
                <a:latin typeface="IBM Plex Sans SemiBold"/>
                <a:ea typeface="IBM Plex Sans SemiBold"/>
                <a:cs typeface="IBM Plex Sans SemiBold"/>
              </a:endParaRPr>
            </a:p>
          </p:txBody>
        </p:sp>
      </p:grpSp>
      <p:grpSp>
        <p:nvGrpSpPr>
          <p:cNvPr id="46" name="authored-eyebrow"/>
          <p:cNvGrpSpPr/>
          <p:nvPr/>
        </p:nvGrpSpPr>
        <p:grpSpPr>
          <a:xfrm>
            <a:off x="723900" y="457200"/>
            <a:ext cx="9372600" cy="228600"/>
            <a:chOff x="723900" y="457200"/>
            <a:chExt cx="9372600" cy="228600"/>
          </a:xfrm>
        </p:grpSpPr>
        <p:sp>
          <p:nvSpPr>
            <p:cNvPr id="31"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RECOMMENDATION 05</a:t>
              </a:r>
              <a:endParaRPr lang="en-US" sz="1000" spc="80" kern="0" b="0" i="0" dirty="0">
                <a:solidFill>
                  <a:srgbClr val="0047FF"/>
                </a:solidFill>
                <a:latin typeface="IBM Plex Mono SemiBold"/>
                <a:ea typeface="IBM Plex Mono SemiBold"/>
                <a:cs typeface="IBM Plex Mono SemiBold"/>
              </a:endParaRPr>
            </a:p>
          </p:txBody>
        </p:sp>
      </p:grpSp>
      <p:grpSp>
        <p:nvGrpSpPr>
          <p:cNvPr id="47" name="client-brand"/>
          <p:cNvGrpSpPr/>
          <p:nvPr/>
        </p:nvGrpSpPr>
        <p:grpSpPr>
          <a:xfrm>
            <a:off x="10382250" y="457200"/>
            <a:ext cx="1028700" cy="457200"/>
            <a:chOff x="10382250" y="457200"/>
            <a:chExt cx="1028700" cy="457200"/>
          </a:xfrm>
        </p:grpSpPr>
        <p:pic>
          <p:nvPicPr>
            <p:cNvPr id="32" name="client-brand.image" descr="Exact original DentalXChange asset ppt/media/image31.png; project:source-image31; canonical SHA256=51385b7813333a7f4207d77364f6a318acc4d148486d489c8a87f115754c251f">    </p:cNvPr>
            <p:cNvPicPr>
              <a:picLocks noChangeAspect="1"/>
            </p:cNvPicPr>
            <p:nvPr/>
          </p:nvPicPr>
          <p:blipFill>
            <a:blip r:embed="rId5"/>
            <a:stretch>
              <a:fillRect/>
            </a:stretch>
          </p:blipFill>
          <p:spPr>
            <a:xfrm>
              <a:off x="10382250" y="457200"/>
              <a:ext cx="1028700" cy="457200"/>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dxc-031">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31</a:t>
            </a:fld>
            <a:endParaRPr lang="en-US" sz="700" spc="0" kern="0" b="0" i="0" dirty="0">
              <a:solidFill>
                <a:srgbClr val="070154"/>
              </a:solidFill>
              <a:latin typeface="IBM Plex Mono SemiBold"/>
              <a:ea typeface="IBM Plex Mono SemiBold"/>
              <a:cs typeface="IBM Plex Mono SemiBold"/>
            </a:endParaRPr>
          </a:p>
        </p:txBody>
      </p:sp>
      <p:grpSp>
        <p:nvGrpSpPr>
          <p:cNvPr id="33"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Extend the Reconcile AI pocket into reusable, human-supervised practices across the PDLC.</a:t>
              </a:r>
              <a:endParaRPr lang="en-US" sz="1200" spc="0" kern="0" b="0" i="0" dirty="0">
                <a:solidFill>
                  <a:srgbClr val="50658E"/>
                </a:solidFill>
                <a:latin typeface="IBM Plex Sans"/>
                <a:ea typeface="IBM Plex Sans"/>
                <a:cs typeface="IBM Plex Sans"/>
              </a:endParaRPr>
            </a:p>
          </p:txBody>
        </p:sp>
      </p:grpSp>
      <p:grpSp>
        <p:nvGrpSpPr>
          <p:cNvPr id="34" name="group-left"/>
          <p:cNvGrpSpPr/>
          <p:nvPr/>
        </p:nvGrpSpPr>
        <p:grpSpPr>
          <a:xfrm>
            <a:off x="723900" y="2057400"/>
            <a:ext cx="10744200" cy="228600"/>
            <a:chOff x="723900" y="2057400"/>
            <a:chExt cx="10744200" cy="228600"/>
          </a:xfrm>
        </p:grpSpPr>
        <p:sp>
          <p:nvSpPr>
            <p:cNvPr id="6" name="group-left.text"/>
            <p:cNvSpPr/>
            <p:nvPr/>
          </p:nvSpPr>
          <p:spPr>
            <a:xfrm>
              <a:off x="723900" y="2057400"/>
              <a:ext cx="107442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35" name="group-right"/>
          <p:cNvGrpSpPr/>
          <p:nvPr/>
        </p:nvGrpSpPr>
        <p:grpSpPr>
          <a:xfrm>
            <a:off x="723900" y="3657600"/>
            <a:ext cx="10744200" cy="228600"/>
            <a:chOff x="723900" y="3657600"/>
            <a:chExt cx="10744200" cy="228600"/>
          </a:xfrm>
        </p:grpSpPr>
        <p:sp>
          <p:nvSpPr>
            <p:cNvPr id="7" name="group-right.text"/>
            <p:cNvSpPr/>
            <p:nvPr/>
          </p:nvSpPr>
          <p:spPr>
            <a:xfrm>
              <a:off x="723900" y="3657600"/>
              <a:ext cx="107442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36" name="item-0-0"/>
          <p:cNvGrpSpPr/>
          <p:nvPr/>
        </p:nvGrpSpPr>
        <p:grpSpPr>
          <a:xfrm>
            <a:off x="723900" y="2362200"/>
            <a:ext cx="3429000" cy="1219200"/>
            <a:chOff x="723900" y="2362200"/>
            <a:chExt cx="3429000" cy="1219200"/>
          </a:xfrm>
        </p:grpSpPr>
        <p:sp>
          <p:nvSpPr>
            <p:cNvPr id="8" name="item-0-0.container"/>
            <p:cNvSpPr/>
            <p:nvPr/>
          </p:nvSpPr>
          <p:spPr>
            <a:xfrm>
              <a:off x="723900" y="2362200"/>
              <a:ext cx="3429000" cy="1219200"/>
            </a:xfrm>
            <a:prstGeom prst="rect">
              <a:avLst/>
            </a:prstGeom>
            <a:solidFill>
              <a:srgbClr val="E8EEF8"/>
            </a:solidFill>
            <a:ln>
              <a:noFill/>
            </a:ln>
          </p:spPr>
        </p:sp>
        <p:sp>
          <p:nvSpPr>
            <p:cNvPr id="9" name="item-0-0.edge"/>
            <p:cNvSpPr/>
            <p:nvPr/>
          </p:nvSpPr>
          <p:spPr>
            <a:xfrm>
              <a:off x="723900" y="2362200"/>
              <a:ext cx="38100" cy="1219200"/>
            </a:xfrm>
            <a:prstGeom prst="rect">
              <a:avLst/>
            </a:prstGeom>
            <a:solidFill>
              <a:srgbClr val="0047FF"/>
            </a:solidFill>
            <a:ln>
              <a:noFill/>
            </a:ln>
          </p:spPr>
        </p:sp>
        <p:sp>
          <p:nvSpPr>
            <p:cNvPr id="10" name="item-0-0.body.item-0.paragraph"/>
            <p:cNvSpPr/>
            <p:nvPr/>
          </p:nvSpPr>
          <p:spPr>
            <a:xfrm>
              <a:off x="876300" y="2476500"/>
              <a:ext cx="31623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Classify lifecycle tasks that are safe to automate, require assistance, or require mandatory human review, and name the sanctioned tools for PHI-bearing work.</a:t>
              </a:r>
              <a:endParaRPr lang="en-US" sz="1200" spc="0" kern="0" b="0" i="0" dirty="0">
                <a:solidFill>
                  <a:srgbClr val="50658E"/>
                </a:solidFill>
                <a:latin typeface="IBM Plex Sans"/>
                <a:ea typeface="IBM Plex Sans"/>
                <a:cs typeface="IBM Plex Sans"/>
              </a:endParaRPr>
            </a:p>
          </p:txBody>
        </p:sp>
      </p:grpSp>
      <p:grpSp>
        <p:nvGrpSpPr>
          <p:cNvPr id="37" name="item-0-1"/>
          <p:cNvGrpSpPr/>
          <p:nvPr/>
        </p:nvGrpSpPr>
        <p:grpSpPr>
          <a:xfrm>
            <a:off x="4381500" y="2362200"/>
            <a:ext cx="3429000" cy="1219200"/>
            <a:chOff x="4381500" y="2362200"/>
            <a:chExt cx="3429000" cy="1219200"/>
          </a:xfrm>
        </p:grpSpPr>
        <p:sp>
          <p:nvSpPr>
            <p:cNvPr id="11" name="item-0-1.container"/>
            <p:cNvSpPr/>
            <p:nvPr/>
          </p:nvSpPr>
          <p:spPr>
            <a:xfrm>
              <a:off x="4381500" y="2362200"/>
              <a:ext cx="3429000" cy="1219200"/>
            </a:xfrm>
            <a:prstGeom prst="rect">
              <a:avLst/>
            </a:prstGeom>
            <a:solidFill>
              <a:srgbClr val="E8EEF8"/>
            </a:solidFill>
            <a:ln>
              <a:noFill/>
            </a:ln>
          </p:spPr>
        </p:sp>
        <p:sp>
          <p:nvSpPr>
            <p:cNvPr id="12" name="item-0-1.edge"/>
            <p:cNvSpPr/>
            <p:nvPr/>
          </p:nvSpPr>
          <p:spPr>
            <a:xfrm>
              <a:off x="4381500" y="2362200"/>
              <a:ext cx="38100" cy="1219200"/>
            </a:xfrm>
            <a:prstGeom prst="rect">
              <a:avLst/>
            </a:prstGeom>
            <a:solidFill>
              <a:srgbClr val="0047FF"/>
            </a:solidFill>
            <a:ln>
              <a:noFill/>
            </a:ln>
          </p:spPr>
        </p:sp>
        <p:sp>
          <p:nvSpPr>
            <p:cNvPr id="13" name="item-0-1.body.item-0.paragraph"/>
            <p:cNvSpPr/>
            <p:nvPr/>
          </p:nvSpPr>
          <p:spPr>
            <a:xfrm>
              <a:off x="4533900" y="24765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Create reusable skills, prompts, documentation, and versioning that teams can discover and reuse.</a:t>
              </a:r>
              <a:endParaRPr lang="en-US" sz="1200" spc="0" kern="0" b="0" i="0" dirty="0">
                <a:solidFill>
                  <a:srgbClr val="50658E"/>
                </a:solidFill>
                <a:latin typeface="IBM Plex Sans"/>
                <a:ea typeface="IBM Plex Sans"/>
                <a:cs typeface="IBM Plex Sans"/>
              </a:endParaRPr>
            </a:p>
          </p:txBody>
        </p:sp>
      </p:grpSp>
      <p:grpSp>
        <p:nvGrpSpPr>
          <p:cNvPr id="38" name="item-0-2"/>
          <p:cNvGrpSpPr/>
          <p:nvPr/>
        </p:nvGrpSpPr>
        <p:grpSpPr>
          <a:xfrm>
            <a:off x="8039100" y="2362200"/>
            <a:ext cx="3429000" cy="1219200"/>
            <a:chOff x="8039100" y="2362200"/>
            <a:chExt cx="3429000" cy="1219200"/>
          </a:xfrm>
        </p:grpSpPr>
        <p:sp>
          <p:nvSpPr>
            <p:cNvPr id="14" name="item-0-2.container"/>
            <p:cNvSpPr/>
            <p:nvPr/>
          </p:nvSpPr>
          <p:spPr>
            <a:xfrm>
              <a:off x="8039100" y="2362200"/>
              <a:ext cx="3429000" cy="1219200"/>
            </a:xfrm>
            <a:prstGeom prst="rect">
              <a:avLst/>
            </a:prstGeom>
            <a:solidFill>
              <a:srgbClr val="E8EEF8"/>
            </a:solidFill>
            <a:ln>
              <a:noFill/>
            </a:ln>
          </p:spPr>
        </p:sp>
        <p:sp>
          <p:nvSpPr>
            <p:cNvPr id="15" name="item-0-2.edge"/>
            <p:cNvSpPr/>
            <p:nvPr/>
          </p:nvSpPr>
          <p:spPr>
            <a:xfrm>
              <a:off x="8039100" y="2362200"/>
              <a:ext cx="38100" cy="1219200"/>
            </a:xfrm>
            <a:prstGeom prst="rect">
              <a:avLst/>
            </a:prstGeom>
            <a:solidFill>
              <a:srgbClr val="0047FF"/>
            </a:solidFill>
            <a:ln>
              <a:noFill/>
            </a:ln>
          </p:spPr>
        </p:sp>
        <p:sp>
          <p:nvSpPr>
            <p:cNvPr id="16" name="item-0-2.body.item-0.paragraph"/>
            <p:cNvSpPr/>
            <p:nvPr/>
          </p:nvSpPr>
          <p:spPr>
            <a:xfrm>
              <a:off x="8191500" y="24765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Track speed and quality together through cycle time, defects, rework, cost, and review evidence.</a:t>
              </a:r>
              <a:endParaRPr lang="en-US" sz="1200" spc="0" kern="0" b="0" i="0" dirty="0">
                <a:solidFill>
                  <a:srgbClr val="50658E"/>
                </a:solidFill>
                <a:latin typeface="IBM Plex Sans"/>
                <a:ea typeface="IBM Plex Sans"/>
                <a:cs typeface="IBM Plex Sans"/>
              </a:endParaRPr>
            </a:p>
          </p:txBody>
        </p:sp>
      </p:grpSp>
      <p:grpSp>
        <p:nvGrpSpPr>
          <p:cNvPr id="39" name="item-1-0"/>
          <p:cNvGrpSpPr/>
          <p:nvPr/>
        </p:nvGrpSpPr>
        <p:grpSpPr>
          <a:xfrm>
            <a:off x="723900" y="3962400"/>
            <a:ext cx="3429000" cy="1219200"/>
            <a:chOff x="723900" y="3962400"/>
            <a:chExt cx="3429000" cy="1219200"/>
          </a:xfrm>
        </p:grpSpPr>
        <p:sp>
          <p:nvSpPr>
            <p:cNvPr id="17" name="item-1-0.container"/>
            <p:cNvSpPr/>
            <p:nvPr/>
          </p:nvSpPr>
          <p:spPr>
            <a:xfrm>
              <a:off x="723900" y="3962400"/>
              <a:ext cx="3429000" cy="1219200"/>
            </a:xfrm>
            <a:prstGeom prst="rect">
              <a:avLst/>
            </a:prstGeom>
            <a:solidFill>
              <a:srgbClr val="E8EEF8"/>
            </a:solidFill>
            <a:ln>
              <a:noFill/>
            </a:ln>
          </p:spPr>
        </p:sp>
        <p:sp>
          <p:nvSpPr>
            <p:cNvPr id="18" name="item-1-0.edge"/>
            <p:cNvSpPr/>
            <p:nvPr/>
          </p:nvSpPr>
          <p:spPr>
            <a:xfrm>
              <a:off x="723900" y="3962400"/>
              <a:ext cx="38100" cy="1219200"/>
            </a:xfrm>
            <a:prstGeom prst="rect">
              <a:avLst/>
            </a:prstGeom>
            <a:solidFill>
              <a:srgbClr val="0047FF"/>
            </a:solidFill>
            <a:ln>
              <a:noFill/>
            </a:ln>
          </p:spPr>
        </p:sp>
        <p:sp>
          <p:nvSpPr>
            <p:cNvPr id="19" name="item-1-0.body.item-0.paragraph"/>
            <p:cNvSpPr/>
            <p:nvPr/>
          </p:nvSpPr>
          <p:spPr>
            <a:xfrm>
              <a:off x="876300" y="40767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Now (Reconcile AI): classify pipeline steps as automate, assist, or human review, and name the sanctioned tools for PHI-bearing work.</a:t>
              </a:r>
              <a:endParaRPr lang="en-US" sz="1200" spc="0" kern="0" b="0" i="0" dirty="0">
                <a:solidFill>
                  <a:srgbClr val="50658E"/>
                </a:solidFill>
                <a:latin typeface="IBM Plex Sans"/>
                <a:ea typeface="IBM Plex Sans"/>
                <a:cs typeface="IBM Plex Sans"/>
              </a:endParaRPr>
            </a:p>
          </p:txBody>
        </p:sp>
      </p:grpSp>
      <p:grpSp>
        <p:nvGrpSpPr>
          <p:cNvPr id="40" name="item-1-1"/>
          <p:cNvGrpSpPr/>
          <p:nvPr/>
        </p:nvGrpSpPr>
        <p:grpSpPr>
          <a:xfrm>
            <a:off x="4381500" y="3962400"/>
            <a:ext cx="3429000" cy="1219200"/>
            <a:chOff x="4381500" y="3962400"/>
            <a:chExt cx="3429000" cy="1219200"/>
          </a:xfrm>
        </p:grpSpPr>
        <p:sp>
          <p:nvSpPr>
            <p:cNvPr id="20" name="item-1-1.container"/>
            <p:cNvSpPr/>
            <p:nvPr/>
          </p:nvSpPr>
          <p:spPr>
            <a:xfrm>
              <a:off x="4381500" y="3962400"/>
              <a:ext cx="3429000" cy="1219200"/>
            </a:xfrm>
            <a:prstGeom prst="rect">
              <a:avLst/>
            </a:prstGeom>
            <a:solidFill>
              <a:srgbClr val="E8EEF8"/>
            </a:solidFill>
            <a:ln>
              <a:noFill/>
            </a:ln>
          </p:spPr>
        </p:sp>
        <p:sp>
          <p:nvSpPr>
            <p:cNvPr id="21" name="item-1-1.edge"/>
            <p:cNvSpPr/>
            <p:nvPr/>
          </p:nvSpPr>
          <p:spPr>
            <a:xfrm>
              <a:off x="4381500" y="3962400"/>
              <a:ext cx="38100" cy="1219200"/>
            </a:xfrm>
            <a:prstGeom prst="rect">
              <a:avLst/>
            </a:prstGeom>
            <a:solidFill>
              <a:srgbClr val="0047FF"/>
            </a:solidFill>
            <a:ln>
              <a:noFill/>
            </a:ln>
          </p:spPr>
        </p:sp>
        <p:sp>
          <p:nvSpPr>
            <p:cNvPr id="22" name="item-1-1.body.item-0.paragraph"/>
            <p:cNvSpPr/>
            <p:nvPr/>
          </p:nvSpPr>
          <p:spPr>
            <a:xfrm>
              <a:off x="4533900" y="4076700"/>
              <a:ext cx="31623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Next: extend to Eligibility AI with a shared agent registry, and pilot a light, human-gated pattern on Core, ahead of the December rollout.</a:t>
              </a:r>
              <a:endParaRPr lang="en-US" sz="1200" spc="0" kern="0" b="0" i="0" dirty="0">
                <a:solidFill>
                  <a:srgbClr val="50658E"/>
                </a:solidFill>
                <a:latin typeface="IBM Plex Sans"/>
                <a:ea typeface="IBM Plex Sans"/>
                <a:cs typeface="IBM Plex Sans"/>
              </a:endParaRPr>
            </a:p>
          </p:txBody>
        </p:sp>
      </p:grpSp>
      <p:grpSp>
        <p:nvGrpSpPr>
          <p:cNvPr id="41" name="item-1-2"/>
          <p:cNvGrpSpPr/>
          <p:nvPr/>
        </p:nvGrpSpPr>
        <p:grpSpPr>
          <a:xfrm>
            <a:off x="8039100" y="3962400"/>
            <a:ext cx="3429000" cy="1219200"/>
            <a:chOff x="8039100" y="3962400"/>
            <a:chExt cx="3429000" cy="1219200"/>
          </a:xfrm>
        </p:grpSpPr>
        <p:sp>
          <p:nvSpPr>
            <p:cNvPr id="23" name="item-1-2.container"/>
            <p:cNvSpPr/>
            <p:nvPr/>
          </p:nvSpPr>
          <p:spPr>
            <a:xfrm>
              <a:off x="8039100" y="3962400"/>
              <a:ext cx="3429000" cy="1219200"/>
            </a:xfrm>
            <a:prstGeom prst="rect">
              <a:avLst/>
            </a:prstGeom>
            <a:solidFill>
              <a:srgbClr val="E8EEF8"/>
            </a:solidFill>
            <a:ln>
              <a:noFill/>
            </a:ln>
          </p:spPr>
        </p:sp>
        <p:sp>
          <p:nvSpPr>
            <p:cNvPr id="24" name="item-1-2.edge"/>
            <p:cNvSpPr/>
            <p:nvPr/>
          </p:nvSpPr>
          <p:spPr>
            <a:xfrm>
              <a:off x="8039100" y="3962400"/>
              <a:ext cx="38100" cy="1219200"/>
            </a:xfrm>
            <a:prstGeom prst="rect">
              <a:avLst/>
            </a:prstGeom>
            <a:solidFill>
              <a:srgbClr val="0047FF"/>
            </a:solidFill>
            <a:ln>
              <a:noFill/>
            </a:ln>
          </p:spPr>
        </p:sp>
        <p:sp>
          <p:nvSpPr>
            <p:cNvPr id="25" name="item-1-2.body.item-0.paragraph"/>
            <p:cNvSpPr/>
            <p:nvPr/>
          </p:nvSpPr>
          <p:spPr>
            <a:xfrm>
              <a:off x="8191500" y="4076700"/>
              <a:ext cx="3162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Future: scale only the patterns that improve speed and quality together.</a:t>
              </a:r>
              <a:endParaRPr lang="en-US" sz="1200" spc="0" kern="0" b="0" i="0" dirty="0">
                <a:solidFill>
                  <a:srgbClr val="50658E"/>
                </a:solidFill>
                <a:latin typeface="IBM Plex Sans"/>
                <a:ea typeface="IBM Plex Sans"/>
                <a:cs typeface="IBM Plex Sans"/>
              </a:endParaRPr>
            </a:p>
          </p:txBody>
        </p:sp>
      </p:grpSp>
      <p:grpSp>
        <p:nvGrpSpPr>
          <p:cNvPr id="42" name="accountability"/>
          <p:cNvGrpSpPr/>
          <p:nvPr/>
        </p:nvGrpSpPr>
        <p:grpSpPr>
          <a:xfrm>
            <a:off x="723900" y="5334000"/>
            <a:ext cx="10744200" cy="609600"/>
            <a:chOff x="723900" y="5334000"/>
            <a:chExt cx="10744200" cy="609600"/>
          </a:xfrm>
        </p:grpSpPr>
        <p:sp>
          <p:nvSpPr>
            <p:cNvPr id="26" name="accountability.surface"/>
            <p:cNvSpPr/>
            <p:nvPr/>
          </p:nvSpPr>
          <p:spPr>
            <a:xfrm>
              <a:off x="723900" y="5334000"/>
              <a:ext cx="10744200" cy="609600"/>
            </a:xfrm>
            <a:prstGeom prst="rect">
              <a:avLst/>
            </a:prstGeom>
            <a:solidFill>
              <a:srgbClr val="E8EEF8"/>
            </a:solidFill>
            <a:ln>
              <a:noFill/>
            </a:ln>
          </p:spPr>
        </p:sp>
        <p:sp>
          <p:nvSpPr>
            <p:cNvPr id="27" name="accountability.text"/>
            <p:cNvSpPr/>
            <p:nvPr/>
          </p:nvSpPr>
          <p:spPr>
            <a:xfrm>
              <a:off x="876300" y="54102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Engineering + Product | Dependency: model access, agent registry, developer hardware, design context, cost, security, governance | Measure: cycle time, defects, rework, cost, and reuse</a:t>
              </a:r>
              <a:endParaRPr lang="en-US" sz="1200" spc="0" kern="0" b="0" i="0" dirty="0">
                <a:solidFill>
                  <a:srgbClr val="070154"/>
                </a:solidFill>
                <a:latin typeface="IBM Plex Sans"/>
                <a:ea typeface="IBM Plex Sans"/>
                <a:cs typeface="IBM Plex Sans"/>
              </a:endParaRPr>
            </a:p>
          </p:txBody>
        </p:sp>
      </p:grpSp>
      <p:grpSp>
        <p:nvGrpSpPr>
          <p:cNvPr id="43" name="source-icon0"/>
          <p:cNvGrpSpPr/>
          <p:nvPr/>
        </p:nvGrpSpPr>
        <p:grpSpPr>
          <a:xfrm>
            <a:off x="11010900" y="2057400"/>
            <a:ext cx="228600" cy="228600"/>
            <a:chOff x="11010900" y="2057400"/>
            <a:chExt cx="228600" cy="228600"/>
          </a:xfrm>
        </p:grpSpPr>
        <p:pic>
          <p:nvPicPr>
            <p:cNvPr id="28" name="source-icon0.image" descr="Exact original DentalXChange asset ppt/media/image34.svg; project:source-image34; canonical SHA256=ef32c66970420be9aec3ad3ec20b39dfeb48d8957c86db1c32980ce8f6a59efa">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10900" y="2057400"/>
              <a:ext cx="228600" cy="228600"/>
            </a:xfrm>
            <a:prstGeom prst="rect">
              <a:avLst/>
            </a:prstGeom>
          </p:spPr>
        </p:pic>
      </p:grpSp>
      <p:grpSp>
        <p:nvGrpSpPr>
          <p:cNvPr id="44" name="source-icon1"/>
          <p:cNvGrpSpPr/>
          <p:nvPr/>
        </p:nvGrpSpPr>
        <p:grpSpPr>
          <a:xfrm>
            <a:off x="11010900" y="3657600"/>
            <a:ext cx="228600" cy="228600"/>
            <a:chOff x="11010900" y="3657600"/>
            <a:chExt cx="228600" cy="228600"/>
          </a:xfrm>
        </p:grpSpPr>
        <p:pic>
          <p:nvPicPr>
            <p:cNvPr id="29" name="source-icon1.image" descr="Exact original DentalXChange asset ppt/media/image35.svg; project:source-image35; canonical SHA256=6394c82d241a3903635cfcf6868122aa7ae8750ed0be93149d489971d0623cd0">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10900" y="3657600"/>
              <a:ext cx="228600" cy="228600"/>
            </a:xfrm>
            <a:prstGeom prst="rect">
              <a:avLst/>
            </a:prstGeom>
          </p:spPr>
        </p:pic>
      </p:grpSp>
      <p:grpSp>
        <p:nvGrpSpPr>
          <p:cNvPr id="45" name="authored-header"/>
          <p:cNvGrpSpPr/>
          <p:nvPr/>
        </p:nvGrpSpPr>
        <p:grpSpPr>
          <a:xfrm>
            <a:off x="723900" y="685800"/>
            <a:ext cx="9372600" cy="914400"/>
            <a:chOff x="723900" y="685800"/>
            <a:chExt cx="9372600" cy="914400"/>
          </a:xfrm>
        </p:grpSpPr>
        <p:sp>
          <p:nvSpPr>
            <p:cNvPr id="30"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Governed agentic delivery throughout the lifecycle</a:t>
              </a:r>
              <a:endParaRPr lang="en-US" sz="3200" spc="-64" kern="0" b="0" i="0" dirty="0">
                <a:solidFill>
                  <a:srgbClr val="070154"/>
                </a:solidFill>
                <a:latin typeface="IBM Plex Sans SemiBold"/>
                <a:ea typeface="IBM Plex Sans SemiBold"/>
                <a:cs typeface="IBM Plex Sans SemiBold"/>
              </a:endParaRPr>
            </a:p>
          </p:txBody>
        </p:sp>
      </p:grpSp>
      <p:grpSp>
        <p:nvGrpSpPr>
          <p:cNvPr id="46" name="authored-eyebrow"/>
          <p:cNvGrpSpPr/>
          <p:nvPr/>
        </p:nvGrpSpPr>
        <p:grpSpPr>
          <a:xfrm>
            <a:off x="723900" y="457200"/>
            <a:ext cx="9372600" cy="228600"/>
            <a:chOff x="723900" y="457200"/>
            <a:chExt cx="9372600" cy="228600"/>
          </a:xfrm>
        </p:grpSpPr>
        <p:sp>
          <p:nvSpPr>
            <p:cNvPr id="31"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E5</a:t>
              </a:r>
              <a:endParaRPr lang="en-US" sz="1000" spc="80" kern="0" b="0" i="0" dirty="0">
                <a:solidFill>
                  <a:srgbClr val="0047FF"/>
                </a:solidFill>
                <a:latin typeface="IBM Plex Mono SemiBold"/>
                <a:ea typeface="IBM Plex Mono SemiBold"/>
                <a:cs typeface="IBM Plex Mono SemiBold"/>
              </a:endParaRPr>
            </a:p>
          </p:txBody>
        </p:sp>
      </p:grpSp>
      <p:grpSp>
        <p:nvGrpSpPr>
          <p:cNvPr id="47" name="client-brand"/>
          <p:cNvGrpSpPr/>
          <p:nvPr/>
        </p:nvGrpSpPr>
        <p:grpSpPr>
          <a:xfrm>
            <a:off x="10382250" y="457200"/>
            <a:ext cx="1028700" cy="457200"/>
            <a:chOff x="10382250" y="457200"/>
            <a:chExt cx="1028700" cy="457200"/>
          </a:xfrm>
        </p:grpSpPr>
        <p:pic>
          <p:nvPicPr>
            <p:cNvPr id="32" name="client-brand.image" descr="Exact original DentalXChange asset ppt/media/image31.png; project:source-image31; canonical SHA256=51385b7813333a7f4207d77364f6a318acc4d148486d489c8a87f115754c251f">    </p:cNvPr>
            <p:cNvPicPr>
              <a:picLocks noChangeAspect="1"/>
            </p:cNvPicPr>
            <p:nvPr/>
          </p:nvPicPr>
          <p:blipFill>
            <a:blip r:embed="rId5"/>
            <a:stretch>
              <a:fillRect/>
            </a:stretch>
          </p:blipFill>
          <p:spPr>
            <a:xfrm>
              <a:off x="10382250" y="457200"/>
              <a:ext cx="1028700" cy="457200"/>
            </a:xfrm>
            <a:prstGeom prst="rect">
              <a:avLst/>
            </a:prstGeom>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xc-032">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32</a:t>
            </a:fld>
            <a:endParaRPr lang="en-US" sz="700" spc="0" kern="0" b="0" i="0" dirty="0">
              <a:solidFill>
                <a:srgbClr val="070154"/>
              </a:solidFill>
              <a:latin typeface="IBM Plex Mono SemiBold"/>
              <a:ea typeface="IBM Plex Mono SemiBold"/>
              <a:cs typeface="IBM Plex Mono SemiBold"/>
            </a:endParaRPr>
          </a:p>
        </p:txBody>
      </p:sp>
      <p:grpSp>
        <p:nvGrpSpPr>
          <p:cNvPr id="11" name="register"/>
          <p:cNvGrpSpPr/>
          <p:nvPr/>
        </p:nvGrpSpPr>
        <p:grpSpPr>
          <a:xfrm>
            <a:off x="723900" y="1600200"/>
            <a:ext cx="10744200" cy="3810000"/>
            <a:chOff x="723900" y="1600200"/>
            <a:chExt cx="10744200" cy="3810000"/>
          </a:xfrm>
        </p:grpSpPr>
        <p:graphicFrame>
          <p:nvGraphicFramePr>
            <p:cNvPr id="5" name="register.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810000"/>
          </p:xfrm>
          <a:graphic>
            <a:graphicData uri="http://schemas.openxmlformats.org/drawingml/2006/table">
              <a:tbl>
                <a:tblPr/>
                <a:tblGrid>
                  <a:gridCol w="990600"/>
                  <a:gridCol w="2286000"/>
                  <a:gridCol w="2895600"/>
                  <a:gridCol w="1447800"/>
                  <a:gridCol w="1524000"/>
                  <a:gridCol w="1600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TIMING</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RECOMMENDATION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FIRST ACTION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PROPOSED 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DEPENDENCY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INITIAL MEASURE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Immediate</a:t>
                        </a:r>
                        <a:endParaRPr lang="en-US" sz="1200" spc="0" kern="0" b="0" i="0" dirty="0">
                          <a:solidFill>
                            <a:srgbClr val="070154"/>
                          </a:solidFill>
                          <a:latin typeface="IBM Plex Sans SemiBold"/>
                          <a:ea typeface="IBM Plex Sans SemiBold"/>
                          <a:cs typeface="IBM Plex Sans SemiBold"/>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Prioritize outcomes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Apply criteria to the next live priority decision.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Decision criteria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Predictability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Immediate</a:t>
                        </a:r>
                        <a:endParaRPr lang="en-US" sz="1200" spc="0" kern="0" b="0" i="0" dirty="0">
                          <a:solidFill>
                            <a:srgbClr val="070154"/>
                          </a:solidFill>
                          <a:latin typeface="IBM Plex Sans SemiBold"/>
                          <a:ea typeface="IBM Plex Sans SemiBold"/>
                          <a:cs typeface="IBM Plex Sans SemiBold"/>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 business ownership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 PM outcome owner; map decision rights.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Role clarity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Outcome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Immediate</a:t>
                        </a:r>
                        <a:endParaRPr lang="en-US" sz="1200" spc="0" kern="0" b="0" i="0" dirty="0">
                          <a:solidFill>
                            <a:srgbClr val="070154"/>
                          </a:solidFill>
                          <a:latin typeface="IBM Plex Sans SemiBold"/>
                          <a:ea typeface="IBM Plex Sans SemiBold"/>
                          <a:cs typeface="IBM Plex Sans SemiBold"/>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Definition path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Run signal → opportunity → PRD → feature/epic → design →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Shared artifacts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Handoff quality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Near-term</a:t>
                        </a:r>
                        <a:endParaRPr lang="en-US" sz="1200" spc="0" kern="0" b="0" i="0" dirty="0">
                          <a:solidFill>
                            <a:srgbClr val="070154"/>
                          </a:solidFill>
                          <a:latin typeface="IBM Plex Sans SemiBold"/>
                          <a:ea typeface="IBM Plex Sans SemiBold"/>
                          <a:cs typeface="IBM Plex Sans SemiBold"/>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Earlier collaboration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Hold a minimum-team feasibility review before commitment.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Cadence and access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Rework and wait 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Near-term</a:t>
                        </a:r>
                        <a:endParaRPr lang="en-US" sz="1200" spc="0" kern="0" b="0" i="0" dirty="0">
                          <a:solidFill>
                            <a:srgbClr val="070154"/>
                          </a:solidFill>
                          <a:latin typeface="IBM Plex Sans SemiBold"/>
                          <a:ea typeface="IBM Plex Sans SemiBold"/>
                          <a:cs typeface="IBM Plex Sans SemiBold"/>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Ship with proof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next test’s release evidence and post-launch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Validation coverage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575733">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Future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Governed agentic delivery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Test human-supervised AI outside the current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Eng + 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Guardrails and skills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Cycle time, defects, cost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2" name="qualification"/>
          <p:cNvGrpSpPr/>
          <p:nvPr/>
        </p:nvGrpSpPr>
        <p:grpSpPr>
          <a:xfrm>
            <a:off x="723900" y="5486400"/>
            <a:ext cx="10744200" cy="457200"/>
            <a:chOff x="723900" y="5486400"/>
            <a:chExt cx="10744200" cy="457200"/>
          </a:xfrm>
        </p:grpSpPr>
        <p:sp>
          <p:nvSpPr>
            <p:cNvPr id="6" name="qualification.surface"/>
            <p:cNvSpPr/>
            <p:nvPr/>
          </p:nvSpPr>
          <p:spPr>
            <a:xfrm>
              <a:off x="723900" y="5486400"/>
              <a:ext cx="10744200" cy="457200"/>
            </a:xfrm>
            <a:prstGeom prst="rect">
              <a:avLst/>
            </a:prstGeom>
            <a:solidFill>
              <a:srgbClr val="E8EEF8"/>
            </a:solidFill>
            <a:ln>
              <a:noFill/>
            </a:ln>
          </p:spPr>
        </p:sp>
        <p:sp>
          <p:nvSpPr>
            <p:cNvPr id="7" name="qualification.text"/>
            <p:cNvSpPr/>
            <p:nvPr/>
          </p:nvSpPr>
          <p:spPr>
            <a:xfrm>
              <a:off x="876300" y="56007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Use the roadmap after each quick-win test to update timing, owners, dependencies, measures, and the Phase 2 enablement need.</a:t>
              </a:r>
              <a:endParaRPr lang="en-US" sz="1200" spc="0" kern="0" b="0" i="0" dirty="0">
                <a:solidFill>
                  <a:srgbClr val="070154"/>
                </a:solidFill>
                <a:latin typeface="IBM Plex Sans"/>
                <a:ea typeface="IBM Plex Sans"/>
                <a:cs typeface="IBM Plex Sans"/>
              </a:endParaRPr>
            </a:p>
          </p:txBody>
        </p:sp>
      </p:grpSp>
      <p:grpSp>
        <p:nvGrpSpPr>
          <p:cNvPr id="13" name="authored-header"/>
          <p:cNvGrpSpPr/>
          <p:nvPr/>
        </p:nvGrpSpPr>
        <p:grpSpPr>
          <a:xfrm>
            <a:off x="723900" y="685800"/>
            <a:ext cx="9372600" cy="914400"/>
            <a:chOff x="723900" y="685800"/>
            <a:chExt cx="9372600" cy="914400"/>
          </a:xfrm>
        </p:grpSpPr>
        <p:sp>
          <p:nvSpPr>
            <p:cNvPr id="8"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Activation Roadmap</a:t>
              </a:r>
              <a:endParaRPr lang="en-US" sz="3200" spc="-64" kern="0" b="0" i="0" dirty="0">
                <a:solidFill>
                  <a:srgbClr val="070154"/>
                </a:solidFill>
                <a:latin typeface="IBM Plex Sans SemiBold"/>
                <a:ea typeface="IBM Plex Sans SemiBold"/>
                <a:cs typeface="IBM Plex Sans SemiBold"/>
              </a:endParaRPr>
            </a:p>
          </p:txBody>
        </p:sp>
      </p:grpSp>
      <p:grpSp>
        <p:nvGrpSpPr>
          <p:cNvPr id="14" name="authored-eyebrow"/>
          <p:cNvGrpSpPr/>
          <p:nvPr/>
        </p:nvGrpSpPr>
        <p:grpSpPr>
          <a:xfrm>
            <a:off x="723900" y="457200"/>
            <a:ext cx="9372600" cy="228600"/>
            <a:chOff x="723900" y="457200"/>
            <a:chExt cx="9372600" cy="228600"/>
          </a:xfrm>
        </p:grpSpPr>
        <p:sp>
          <p:nvSpPr>
            <p:cNvPr id="9"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a:t>
              </a:r>
              <a:endParaRPr lang="en-US" sz="1000" spc="80" kern="0" b="0" i="0" dirty="0">
                <a:solidFill>
                  <a:srgbClr val="0047FF"/>
                </a:solidFill>
                <a:latin typeface="IBM Plex Mono SemiBold"/>
                <a:ea typeface="IBM Plex Mono SemiBold"/>
                <a:cs typeface="IBM Plex Mono SemiBold"/>
              </a:endParaRPr>
            </a:p>
          </p:txBody>
        </p:sp>
      </p:gr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xc-033">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33</a:t>
            </a:fld>
            <a:endParaRPr lang="en-US" sz="700" spc="0" kern="0" b="0" i="0" dirty="0">
              <a:solidFill>
                <a:srgbClr val="FFFFFF"/>
              </a:solidFill>
              <a:latin typeface="IBM Plex Mono SemiBold"/>
              <a:ea typeface="IBM Plex Mono SemiBold"/>
              <a:cs typeface="IBM Plex Mono SemiBold"/>
            </a:endParaRPr>
          </a:p>
        </p:txBody>
      </p:sp>
      <p:grpSp>
        <p:nvGrpSpPr>
          <p:cNvPr id="13" name="context"/>
          <p:cNvGrpSpPr/>
          <p:nvPr/>
        </p:nvGrpSpPr>
        <p:grpSpPr>
          <a:xfrm>
            <a:off x="723900" y="1143000"/>
            <a:ext cx="6172200" cy="457200"/>
            <a:chOff x="723900" y="1143000"/>
            <a:chExt cx="6172200" cy="457200"/>
          </a:xfrm>
        </p:grpSpPr>
        <p:sp>
          <p:nvSpPr>
            <p:cNvPr id="5" name="context.text"/>
            <p:cNvSpPr/>
            <p:nvPr/>
          </p:nvSpPr>
          <p:spPr>
            <a:xfrm>
              <a:off x="723900" y="1143000"/>
              <a:ext cx="6172200" cy="4572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FFFFFF"/>
                  </a:solidFill>
                  <a:latin typeface="IBM Plex Mono SemiBold"/>
                  <a:ea typeface="IBM Plex Mono SemiBold"/>
                  <a:cs typeface="IBM Plex Mono SemiBold"/>
                </a:rPr>
                <a:t>DELIVERABLE 02</a:t>
              </a:r>
              <a:endParaRPr lang="en-US" sz="1000" spc="80" kern="0" b="0" i="0" dirty="0">
                <a:solidFill>
                  <a:srgbClr val="FFFFFF"/>
                </a:solidFill>
                <a:latin typeface="IBM Plex Mono SemiBold"/>
                <a:ea typeface="IBM Plex Mono SemiBold"/>
                <a:cs typeface="IBM Plex Mono SemiBold"/>
              </a:endParaRPr>
            </a:p>
          </p:txBody>
        </p:sp>
      </p:grpSp>
      <p:grpSp>
        <p:nvGrpSpPr>
          <p:cNvPr id="14" name="section-title"/>
          <p:cNvGrpSpPr/>
          <p:nvPr/>
        </p:nvGrpSpPr>
        <p:grpSpPr>
          <a:xfrm>
            <a:off x="723900" y="2209800"/>
            <a:ext cx="6858000" cy="1828800"/>
            <a:chOff x="723900" y="2209800"/>
            <a:chExt cx="6858000" cy="1828800"/>
          </a:xfrm>
        </p:grpSpPr>
        <p:sp>
          <p:nvSpPr>
            <p:cNvPr id="6" name="section-title.text"/>
            <p:cNvSpPr/>
            <p:nvPr/>
          </p:nvSpPr>
          <p:spPr>
            <a:xfrm>
              <a:off x="723900" y="2209800"/>
              <a:ext cx="6858000" cy="18288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Implementation Templates</a:t>
              </a:r>
              <a:endParaRPr lang="en-US" sz="5400" spc="-135" kern="0" b="0" i="0" dirty="0">
                <a:solidFill>
                  <a:srgbClr val="FFFFFF"/>
                </a:solidFill>
                <a:latin typeface="IBM Plex Sans SemiBold"/>
                <a:ea typeface="IBM Plex Sans SemiBold"/>
                <a:cs typeface="IBM Plex Sans SemiBold"/>
              </a:endParaRPr>
            </a:p>
          </p:txBody>
        </p:sp>
      </p:grpSp>
      <p:grpSp>
        <p:nvGrpSpPr>
          <p:cNvPr id="15" name="subtitle"/>
          <p:cNvGrpSpPr/>
          <p:nvPr/>
        </p:nvGrpSpPr>
        <p:grpSpPr>
          <a:xfrm>
            <a:off x="723900" y="4191000"/>
            <a:ext cx="8686800" cy="762000"/>
            <a:chOff x="723900" y="4191000"/>
            <a:chExt cx="8686800" cy="762000"/>
          </a:xfrm>
        </p:grpSpPr>
        <p:sp>
          <p:nvSpPr>
            <p:cNvPr id="7" name="subtitle.text"/>
            <p:cNvSpPr/>
            <p:nvPr/>
          </p:nvSpPr>
          <p:spPr>
            <a:xfrm>
              <a:off x="723900" y="4191000"/>
              <a:ext cx="8686800" cy="7620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FFFFFF"/>
                  </a:solidFill>
                  <a:latin typeface="IBM Plex Sans"/>
                  <a:ea typeface="IBM Plex Sans"/>
                  <a:cs typeface="IBM Plex Sans"/>
                </a:rPr>
                <a:t>The briefs and plans that are included as part of the R&amp;D Operating Model project, when to use them, and the different ways of contributing.</a:t>
              </a:r>
              <a:endParaRPr lang="en-US" sz="1400" spc="0" kern="0" b="0" i="0" dirty="0">
                <a:solidFill>
                  <a:srgbClr val="FFFFFF"/>
                </a:solidFill>
                <a:latin typeface="IBM Plex Sans"/>
                <a:ea typeface="IBM Plex Sans"/>
                <a:cs typeface="IBM Plex Sans"/>
              </a:endParaRPr>
            </a:p>
          </p:txBody>
        </p:sp>
      </p:grpSp>
      <p:grpSp>
        <p:nvGrpSpPr>
          <p:cNvPr id="16" name="tab0"/>
          <p:cNvGrpSpPr/>
          <p:nvPr/>
        </p:nvGrpSpPr>
        <p:grpSpPr>
          <a:xfrm>
            <a:off x="723900" y="5257800"/>
            <a:ext cx="3429000" cy="304800"/>
            <a:chOff x="723900" y="5257800"/>
            <a:chExt cx="3429000" cy="304800"/>
          </a:xfrm>
        </p:grpSpPr>
        <p:sp>
          <p:nvSpPr>
            <p:cNvPr id="8" name="tab0.text"/>
            <p:cNvSpPr/>
            <p:nvPr/>
          </p:nvSpPr>
          <p:spPr>
            <a:xfrm>
              <a:off x="7239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Executive Summary</a:t>
              </a:r>
              <a:endParaRPr lang="en-US" sz="1200" spc="0" kern="0" b="0" i="0" dirty="0">
                <a:solidFill>
                  <a:srgbClr val="FFFFFF"/>
                </a:solidFill>
                <a:latin typeface="IBM Plex Sans"/>
                <a:ea typeface="IBM Plex Sans"/>
                <a:cs typeface="IBM Plex Sans"/>
              </a:endParaRPr>
            </a:p>
          </p:txBody>
        </p:sp>
      </p:grpSp>
      <p:grpSp>
        <p:nvGrpSpPr>
          <p:cNvPr id="17" name="tab1"/>
          <p:cNvGrpSpPr/>
          <p:nvPr/>
        </p:nvGrpSpPr>
        <p:grpSpPr>
          <a:xfrm>
            <a:off x="4381500" y="5257800"/>
            <a:ext cx="3429000" cy="304800"/>
            <a:chOff x="4381500" y="5257800"/>
            <a:chExt cx="3429000" cy="304800"/>
          </a:xfrm>
        </p:grpSpPr>
        <p:sp>
          <p:nvSpPr>
            <p:cNvPr id="9" name="tab1.text"/>
            <p:cNvSpPr/>
            <p:nvPr/>
          </p:nvSpPr>
          <p:spPr>
            <a:xfrm>
              <a:off x="43815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Deliverables</a:t>
              </a:r>
              <a:endParaRPr lang="en-US" sz="1200" spc="0" kern="0" b="0" i="0" dirty="0">
                <a:solidFill>
                  <a:srgbClr val="FFFFFF"/>
                </a:solidFill>
                <a:latin typeface="IBM Plex Sans"/>
                <a:ea typeface="IBM Plex Sans"/>
                <a:cs typeface="IBM Plex Sans"/>
              </a:endParaRPr>
            </a:p>
          </p:txBody>
        </p:sp>
      </p:grpSp>
      <p:grpSp>
        <p:nvGrpSpPr>
          <p:cNvPr id="18" name="tab2"/>
          <p:cNvGrpSpPr/>
          <p:nvPr/>
        </p:nvGrpSpPr>
        <p:grpSpPr>
          <a:xfrm>
            <a:off x="8039100" y="5257800"/>
            <a:ext cx="3429000" cy="304800"/>
            <a:chOff x="8039100" y="5257800"/>
            <a:chExt cx="3429000" cy="304800"/>
          </a:xfrm>
        </p:grpSpPr>
        <p:sp>
          <p:nvSpPr>
            <p:cNvPr id="10" name="tab2.text"/>
            <p:cNvSpPr/>
            <p:nvPr/>
          </p:nvSpPr>
          <p:spPr>
            <a:xfrm>
              <a:off x="80391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Recommended Next Phase</a:t>
              </a:r>
              <a:endParaRPr lang="en-US" sz="1200" spc="0" kern="0" b="0" i="0" dirty="0">
                <a:solidFill>
                  <a:srgbClr val="FFFFFF"/>
                </a:solidFill>
                <a:latin typeface="IBM Plex Sans"/>
                <a:ea typeface="IBM Plex Sans"/>
                <a:cs typeface="IBM Plex Sans"/>
              </a:endParaRPr>
            </a:p>
          </p:txBody>
        </p:sp>
      </p:grpSp>
      <p:sp>
        <p:nvSpPr>
          <p:cNvPr id="11" name="active"/>
          <p:cNvSpPr/>
          <p:nvPr/>
        </p:nvSpPr>
        <p:spPr>
          <a:xfrm>
            <a:off x="4381500" y="5715000"/>
            <a:ext cx="685800" cy="9525"/>
          </a:xfrm>
          <a:prstGeom prst="rect">
            <a:avLst/>
          </a:prstGeom>
          <a:solidFill>
            <a:srgbClr val="50658E"/>
          </a:solidFill>
          <a:ln>
            <a:noFill/>
          </a:ln>
        </p:spPr>
      </p:sp>
      <p:grpSp>
        <p:nvGrpSpPr>
          <p:cNvPr id="19" name="client-brand"/>
          <p:cNvGrpSpPr/>
          <p:nvPr/>
        </p:nvGrpSpPr>
        <p:grpSpPr>
          <a:xfrm>
            <a:off x="10382250" y="457200"/>
            <a:ext cx="1028700" cy="457200"/>
            <a:chOff x="10382250" y="457200"/>
            <a:chExt cx="1028700" cy="457200"/>
          </a:xfrm>
        </p:grpSpPr>
        <p:pic>
          <p:nvPicPr>
            <p:cNvPr id="12"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dxc-034">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34</a:t>
            </a:fld>
            <a:endParaRPr lang="en-US" sz="700" spc="0" kern="0" b="0" i="0" dirty="0">
              <a:solidFill>
                <a:srgbClr val="070154"/>
              </a:solidFill>
              <a:latin typeface="IBM Plex Mono SemiBold"/>
              <a:ea typeface="IBM Plex Mono SemiBold"/>
              <a:cs typeface="IBM Plex Mono SemiBold"/>
            </a:endParaRPr>
          </a:p>
        </p:txBody>
      </p:sp>
      <p:grpSp>
        <p:nvGrpSpPr>
          <p:cNvPr id="40" name="artifact0"/>
          <p:cNvGrpSpPr/>
          <p:nvPr/>
        </p:nvGrpSpPr>
        <p:grpSpPr>
          <a:xfrm>
            <a:off x="723900" y="1600200"/>
            <a:ext cx="3429000" cy="1828800"/>
            <a:chOff x="723900" y="1600200"/>
            <a:chExt cx="3429000" cy="1828800"/>
          </a:xfrm>
        </p:grpSpPr>
        <p:sp>
          <p:nvSpPr>
            <p:cNvPr id="5" name="artifact0.container"/>
            <p:cNvSpPr/>
            <p:nvPr/>
          </p:nvSpPr>
          <p:spPr>
            <a:xfrm>
              <a:off x="723900" y="1600200"/>
              <a:ext cx="3429000" cy="1828800"/>
            </a:xfrm>
            <a:prstGeom prst="rect">
              <a:avLst/>
            </a:prstGeom>
            <a:solidFill>
              <a:srgbClr val="E8EEF8"/>
            </a:solidFill>
            <a:ln>
              <a:noFill/>
            </a:ln>
          </p:spPr>
        </p:sp>
        <p:sp>
          <p:nvSpPr>
            <p:cNvPr id="6" name="artifact0.edge"/>
            <p:cNvSpPr/>
            <p:nvPr/>
          </p:nvSpPr>
          <p:spPr>
            <a:xfrm>
              <a:off x="723900" y="1600200"/>
              <a:ext cx="38100" cy="1828800"/>
            </a:xfrm>
            <a:prstGeom prst="rect">
              <a:avLst/>
            </a:prstGeom>
            <a:solidFill>
              <a:srgbClr val="0047FF"/>
            </a:solidFill>
            <a:ln>
              <a:noFill/>
            </a:ln>
          </p:spPr>
        </p:sp>
        <p:sp>
          <p:nvSpPr>
            <p:cNvPr id="7" name="artifact0.number"/>
            <p:cNvSpPr/>
            <p:nvPr/>
          </p:nvSpPr>
          <p:spPr>
            <a:xfrm>
              <a:off x="876300" y="17145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8" name="artifact0.title"/>
            <p:cNvSpPr/>
            <p:nvPr/>
          </p:nvSpPr>
          <p:spPr>
            <a:xfrm>
              <a:off x="1276350" y="1766316"/>
              <a:ext cx="27622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Opportunity Brief</a:t>
              </a:r>
              <a:endParaRPr lang="en-US" sz="1200" spc="0" kern="0" b="0" i="0" dirty="0">
                <a:solidFill>
                  <a:srgbClr val="070154"/>
                </a:solidFill>
                <a:latin typeface="IBM Plex Sans"/>
                <a:ea typeface="IBM Plex Sans"/>
                <a:cs typeface="IBM Plex Sans"/>
              </a:endParaRPr>
            </a:p>
          </p:txBody>
        </p:sp>
        <p:sp>
          <p:nvSpPr>
            <p:cNvPr id="9" name="artifact0.body.item-0.paragraph"/>
            <p:cNvSpPr/>
            <p:nvPr/>
          </p:nvSpPr>
          <p:spPr>
            <a:xfrm>
              <a:off x="876300" y="2133600"/>
              <a:ext cx="31623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Identify · Steps 01–02. Evidence-backed problem before choosing a solution. Owner: PM. Senior leader decides if worth defining. Pilot: Rules Engine, rebuilt from PGB deck.</a:t>
              </a:r>
              <a:endParaRPr lang="en-US" sz="1200" spc="0" kern="0" b="0" i="0" dirty="0">
                <a:solidFill>
                  <a:srgbClr val="50658E"/>
                </a:solidFill>
                <a:latin typeface="IBM Plex Sans"/>
                <a:ea typeface="IBM Plex Sans"/>
                <a:cs typeface="IBM Plex Sans"/>
              </a:endParaRPr>
            </a:p>
          </p:txBody>
        </p:sp>
      </p:grpSp>
      <p:grpSp>
        <p:nvGrpSpPr>
          <p:cNvPr id="41" name="artifact1"/>
          <p:cNvGrpSpPr/>
          <p:nvPr/>
        </p:nvGrpSpPr>
        <p:grpSpPr>
          <a:xfrm>
            <a:off x="4381500" y="1600200"/>
            <a:ext cx="3429000" cy="1828800"/>
            <a:chOff x="4381500" y="1600200"/>
            <a:chExt cx="3429000" cy="1828800"/>
          </a:xfrm>
        </p:grpSpPr>
        <p:sp>
          <p:nvSpPr>
            <p:cNvPr id="10" name="artifact1.container"/>
            <p:cNvSpPr/>
            <p:nvPr/>
          </p:nvSpPr>
          <p:spPr>
            <a:xfrm>
              <a:off x="4381500" y="1600200"/>
              <a:ext cx="3429000" cy="1828800"/>
            </a:xfrm>
            <a:prstGeom prst="rect">
              <a:avLst/>
            </a:prstGeom>
            <a:solidFill>
              <a:srgbClr val="E8EEF8"/>
            </a:solidFill>
            <a:ln>
              <a:noFill/>
            </a:ln>
          </p:spPr>
        </p:sp>
        <p:sp>
          <p:nvSpPr>
            <p:cNvPr id="11" name="artifact1.edge"/>
            <p:cNvSpPr/>
            <p:nvPr/>
          </p:nvSpPr>
          <p:spPr>
            <a:xfrm>
              <a:off x="4381500" y="1600200"/>
              <a:ext cx="38100" cy="1828800"/>
            </a:xfrm>
            <a:prstGeom prst="rect">
              <a:avLst/>
            </a:prstGeom>
            <a:solidFill>
              <a:srgbClr val="0047FF"/>
            </a:solidFill>
            <a:ln>
              <a:noFill/>
            </a:ln>
          </p:spPr>
        </p:sp>
        <p:sp>
          <p:nvSpPr>
            <p:cNvPr id="12" name="artifact1.number"/>
            <p:cNvSpPr/>
            <p:nvPr/>
          </p:nvSpPr>
          <p:spPr>
            <a:xfrm>
              <a:off x="4533900" y="17145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artifact1.title"/>
            <p:cNvSpPr/>
            <p:nvPr/>
          </p:nvSpPr>
          <p:spPr>
            <a:xfrm>
              <a:off x="4933950" y="1766316"/>
              <a:ext cx="27622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Brief</a:t>
              </a:r>
              <a:endParaRPr lang="en-US" sz="1200" spc="0" kern="0" b="0" i="0" dirty="0">
                <a:solidFill>
                  <a:srgbClr val="070154"/>
                </a:solidFill>
                <a:latin typeface="IBM Plex Sans"/>
                <a:ea typeface="IBM Plex Sans"/>
                <a:cs typeface="IBM Plex Sans"/>
              </a:endParaRPr>
            </a:p>
          </p:txBody>
        </p:sp>
        <p:sp>
          <p:nvSpPr>
            <p:cNvPr id="14" name="artifact1.body.item-0.paragraph"/>
            <p:cNvSpPr/>
            <p:nvPr/>
          </p:nvSpPr>
          <p:spPr>
            <a:xfrm>
              <a:off x="4533900" y="2133600"/>
              <a:ext cx="31623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Define · Step 03 (PRD). Direction, outcome, experience, scope and measures. Owner: PM. Senior leader approves direction/measures. Pilot: Rules Engine vs existing PRD.</a:t>
              </a:r>
              <a:endParaRPr lang="en-US" sz="1200" spc="0" kern="0" b="0" i="0" dirty="0">
                <a:solidFill>
                  <a:srgbClr val="50658E"/>
                </a:solidFill>
                <a:latin typeface="IBM Plex Sans"/>
                <a:ea typeface="IBM Plex Sans"/>
                <a:cs typeface="IBM Plex Sans"/>
              </a:endParaRPr>
            </a:p>
          </p:txBody>
        </p:sp>
      </p:grpSp>
      <p:grpSp>
        <p:nvGrpSpPr>
          <p:cNvPr id="42" name="artifact2"/>
          <p:cNvGrpSpPr/>
          <p:nvPr/>
        </p:nvGrpSpPr>
        <p:grpSpPr>
          <a:xfrm>
            <a:off x="8039100" y="1600200"/>
            <a:ext cx="3429000" cy="1828800"/>
            <a:chOff x="8039100" y="1600200"/>
            <a:chExt cx="3429000" cy="1828800"/>
          </a:xfrm>
        </p:grpSpPr>
        <p:sp>
          <p:nvSpPr>
            <p:cNvPr id="15" name="artifact2.container"/>
            <p:cNvSpPr/>
            <p:nvPr/>
          </p:nvSpPr>
          <p:spPr>
            <a:xfrm>
              <a:off x="8039100" y="1600200"/>
              <a:ext cx="3429000" cy="1828800"/>
            </a:xfrm>
            <a:prstGeom prst="rect">
              <a:avLst/>
            </a:prstGeom>
            <a:solidFill>
              <a:srgbClr val="E8EEF8"/>
            </a:solidFill>
            <a:ln>
              <a:noFill/>
            </a:ln>
          </p:spPr>
        </p:sp>
        <p:sp>
          <p:nvSpPr>
            <p:cNvPr id="16" name="artifact2.edge"/>
            <p:cNvSpPr/>
            <p:nvPr/>
          </p:nvSpPr>
          <p:spPr>
            <a:xfrm>
              <a:off x="8039100" y="1600200"/>
              <a:ext cx="38100" cy="1828800"/>
            </a:xfrm>
            <a:prstGeom prst="rect">
              <a:avLst/>
            </a:prstGeom>
            <a:solidFill>
              <a:srgbClr val="0047FF"/>
            </a:solidFill>
            <a:ln>
              <a:noFill/>
            </a:ln>
          </p:spPr>
        </p:sp>
        <p:sp>
          <p:nvSpPr>
            <p:cNvPr id="17" name="artifact2.number"/>
            <p:cNvSpPr/>
            <p:nvPr/>
          </p:nvSpPr>
          <p:spPr>
            <a:xfrm>
              <a:off x="8191500" y="17145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8" name="artifact2.title"/>
            <p:cNvSpPr/>
            <p:nvPr/>
          </p:nvSpPr>
          <p:spPr>
            <a:xfrm>
              <a:off x="8591550" y="1766316"/>
              <a:ext cx="27622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Feature Brief</a:t>
              </a:r>
              <a:endParaRPr lang="en-US" sz="1200" spc="0" kern="0" b="0" i="0" dirty="0">
                <a:solidFill>
                  <a:srgbClr val="070154"/>
                </a:solidFill>
                <a:latin typeface="IBM Plex Sans"/>
                <a:ea typeface="IBM Plex Sans"/>
                <a:cs typeface="IBM Plex Sans"/>
              </a:endParaRPr>
            </a:p>
          </p:txBody>
        </p:sp>
        <p:sp>
          <p:nvSpPr>
            <p:cNvPr id="19" name="artifact2.body.item-0.paragraph"/>
            <p:cNvSpPr/>
            <p:nvPr/>
          </p:nvSpPr>
          <p:spPr>
            <a:xfrm>
              <a:off x="8191500" y="2133600"/>
              <a:ext cx="31623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Define → Build · Step 04. Stories, rules, acceptance, tracking. Owner: PM + Eng lead. Product / Eng / QA or Design approve build readiness. Pilot: Rules Engine first epic.</a:t>
              </a:r>
              <a:endParaRPr lang="en-US" sz="1200" spc="0" kern="0" b="0" i="0" dirty="0">
                <a:solidFill>
                  <a:srgbClr val="50658E"/>
                </a:solidFill>
                <a:latin typeface="IBM Plex Sans"/>
                <a:ea typeface="IBM Plex Sans"/>
                <a:cs typeface="IBM Plex Sans"/>
              </a:endParaRPr>
            </a:p>
          </p:txBody>
        </p:sp>
      </p:grpSp>
      <p:grpSp>
        <p:nvGrpSpPr>
          <p:cNvPr id="43" name="artifact3"/>
          <p:cNvGrpSpPr/>
          <p:nvPr/>
        </p:nvGrpSpPr>
        <p:grpSpPr>
          <a:xfrm>
            <a:off x="723900" y="3505200"/>
            <a:ext cx="3429000" cy="1828800"/>
            <a:chOff x="723900" y="3505200"/>
            <a:chExt cx="3429000" cy="1828800"/>
          </a:xfrm>
        </p:grpSpPr>
        <p:sp>
          <p:nvSpPr>
            <p:cNvPr id="20" name="artifact3.container"/>
            <p:cNvSpPr/>
            <p:nvPr/>
          </p:nvSpPr>
          <p:spPr>
            <a:xfrm>
              <a:off x="723900" y="3505200"/>
              <a:ext cx="3429000" cy="1828800"/>
            </a:xfrm>
            <a:prstGeom prst="rect">
              <a:avLst/>
            </a:prstGeom>
            <a:solidFill>
              <a:srgbClr val="E8EEF8"/>
            </a:solidFill>
            <a:ln>
              <a:noFill/>
            </a:ln>
          </p:spPr>
        </p:sp>
        <p:sp>
          <p:nvSpPr>
            <p:cNvPr id="21" name="artifact3.edge"/>
            <p:cNvSpPr/>
            <p:nvPr/>
          </p:nvSpPr>
          <p:spPr>
            <a:xfrm>
              <a:off x="723900" y="3505200"/>
              <a:ext cx="38100" cy="1828800"/>
            </a:xfrm>
            <a:prstGeom prst="rect">
              <a:avLst/>
            </a:prstGeom>
            <a:solidFill>
              <a:srgbClr val="0047FF"/>
            </a:solidFill>
            <a:ln>
              <a:noFill/>
            </a:ln>
          </p:spPr>
        </p:sp>
        <p:sp>
          <p:nvSpPr>
            <p:cNvPr id="22" name="artifact3.number"/>
            <p:cNvSpPr/>
            <p:nvPr/>
          </p:nvSpPr>
          <p:spPr>
            <a:xfrm>
              <a:off x="876300" y="36195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04</a:t>
              </a:r>
              <a:endParaRPr lang="en-US" sz="1800" spc="0" kern="0" b="0" i="0" dirty="0">
                <a:solidFill>
                  <a:srgbClr val="0047FF"/>
                </a:solidFill>
                <a:latin typeface="IBM Plex Mono SemiBold"/>
                <a:ea typeface="IBM Plex Mono SemiBold"/>
                <a:cs typeface="IBM Plex Mono SemiBold"/>
              </a:endParaRPr>
            </a:p>
          </p:txBody>
        </p:sp>
        <p:sp>
          <p:nvSpPr>
            <p:cNvPr id="23" name="artifact3.title"/>
            <p:cNvSpPr/>
            <p:nvPr/>
          </p:nvSpPr>
          <p:spPr>
            <a:xfrm>
              <a:off x="1276350" y="3671316"/>
              <a:ext cx="27622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Technical Implementation Plan</a:t>
              </a:r>
              <a:endParaRPr lang="en-US" sz="1200" spc="0" kern="0" b="0" i="0" dirty="0">
                <a:solidFill>
                  <a:srgbClr val="070154"/>
                </a:solidFill>
                <a:latin typeface="IBM Plex Sans"/>
                <a:ea typeface="IBM Plex Sans"/>
                <a:cs typeface="IBM Plex Sans"/>
              </a:endParaRPr>
            </a:p>
          </p:txBody>
        </p:sp>
        <p:sp>
          <p:nvSpPr>
            <p:cNvPr id="24" name="artifact3.body.item-0.paragraph"/>
            <p:cNvSpPr/>
            <p:nvPr/>
          </p:nvSpPr>
          <p:spPr>
            <a:xfrm>
              <a:off x="876300" y="4038600"/>
              <a:ext cx="31623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Build · Steps 05–06. Architecture, data, environments, rollback, reviewed AI. Owner: Eng lead. Eng + reviewers approve execution. Pilot: Rules Engine agent-drafted tech spec.</a:t>
              </a:r>
              <a:endParaRPr lang="en-US" sz="1200" spc="0" kern="0" b="0" i="0" dirty="0">
                <a:solidFill>
                  <a:srgbClr val="50658E"/>
                </a:solidFill>
                <a:latin typeface="IBM Plex Sans"/>
                <a:ea typeface="IBM Plex Sans"/>
                <a:cs typeface="IBM Plex Sans"/>
              </a:endParaRPr>
            </a:p>
          </p:txBody>
        </p:sp>
      </p:grpSp>
      <p:grpSp>
        <p:nvGrpSpPr>
          <p:cNvPr id="44" name="artifact4"/>
          <p:cNvGrpSpPr/>
          <p:nvPr/>
        </p:nvGrpSpPr>
        <p:grpSpPr>
          <a:xfrm>
            <a:off x="4381500" y="3505200"/>
            <a:ext cx="3429000" cy="1828800"/>
            <a:chOff x="4381500" y="3505200"/>
            <a:chExt cx="3429000" cy="1828800"/>
          </a:xfrm>
        </p:grpSpPr>
        <p:sp>
          <p:nvSpPr>
            <p:cNvPr id="25" name="artifact4.container"/>
            <p:cNvSpPr/>
            <p:nvPr/>
          </p:nvSpPr>
          <p:spPr>
            <a:xfrm>
              <a:off x="4381500" y="3505200"/>
              <a:ext cx="3429000" cy="1828800"/>
            </a:xfrm>
            <a:prstGeom prst="rect">
              <a:avLst/>
            </a:prstGeom>
            <a:solidFill>
              <a:srgbClr val="E8EEF8"/>
            </a:solidFill>
            <a:ln>
              <a:noFill/>
            </a:ln>
          </p:spPr>
        </p:sp>
        <p:sp>
          <p:nvSpPr>
            <p:cNvPr id="26" name="artifact4.edge"/>
            <p:cNvSpPr/>
            <p:nvPr/>
          </p:nvSpPr>
          <p:spPr>
            <a:xfrm>
              <a:off x="4381500" y="3505200"/>
              <a:ext cx="38100" cy="1828800"/>
            </a:xfrm>
            <a:prstGeom prst="rect">
              <a:avLst/>
            </a:prstGeom>
            <a:solidFill>
              <a:srgbClr val="0047FF"/>
            </a:solidFill>
            <a:ln>
              <a:noFill/>
            </a:ln>
          </p:spPr>
        </p:sp>
        <p:sp>
          <p:nvSpPr>
            <p:cNvPr id="27" name="artifact4.number"/>
            <p:cNvSpPr/>
            <p:nvPr/>
          </p:nvSpPr>
          <p:spPr>
            <a:xfrm>
              <a:off x="4533900" y="36195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05</a:t>
              </a:r>
              <a:endParaRPr lang="en-US" sz="1800" spc="0" kern="0" b="0" i="0" dirty="0">
                <a:solidFill>
                  <a:srgbClr val="0047FF"/>
                </a:solidFill>
                <a:latin typeface="IBM Plex Mono SemiBold"/>
                <a:ea typeface="IBM Plex Mono SemiBold"/>
                <a:cs typeface="IBM Plex Mono SemiBold"/>
              </a:endParaRPr>
            </a:p>
          </p:txBody>
        </p:sp>
        <p:sp>
          <p:nvSpPr>
            <p:cNvPr id="28" name="artifact4.title"/>
            <p:cNvSpPr/>
            <p:nvPr/>
          </p:nvSpPr>
          <p:spPr>
            <a:xfrm>
              <a:off x="4933950" y="3671316"/>
              <a:ext cx="27622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Testing, QA, and UAT Plan</a:t>
              </a:r>
              <a:endParaRPr lang="en-US" sz="1200" spc="0" kern="0" b="0" i="0" dirty="0">
                <a:solidFill>
                  <a:srgbClr val="070154"/>
                </a:solidFill>
                <a:latin typeface="IBM Plex Sans"/>
                <a:ea typeface="IBM Plex Sans"/>
                <a:cs typeface="IBM Plex Sans"/>
              </a:endParaRPr>
            </a:p>
          </p:txBody>
        </p:sp>
        <p:sp>
          <p:nvSpPr>
            <p:cNvPr id="29" name="artifact4.body.item-0.paragraph"/>
            <p:cNvSpPr/>
            <p:nvPr/>
          </p:nvSpPr>
          <p:spPr>
            <a:xfrm>
              <a:off x="4533900" y="4038600"/>
              <a:ext cx="316230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Define → Release · Parallel. Test coverage, data, uncertainty and acceptance. Owner: QA / Eng test lead; Product owns UAT. Decision: release readiness. Pilot: Recon, before November MVP.</a:t>
              </a:r>
              <a:endParaRPr lang="en-US" sz="1200" spc="0" kern="0" b="0" i="0" dirty="0">
                <a:solidFill>
                  <a:srgbClr val="50658E"/>
                </a:solidFill>
                <a:latin typeface="IBM Plex Sans"/>
                <a:ea typeface="IBM Plex Sans"/>
                <a:cs typeface="IBM Plex Sans"/>
              </a:endParaRPr>
            </a:p>
          </p:txBody>
        </p:sp>
      </p:grpSp>
      <p:grpSp>
        <p:nvGrpSpPr>
          <p:cNvPr id="45" name="artifact5"/>
          <p:cNvGrpSpPr/>
          <p:nvPr/>
        </p:nvGrpSpPr>
        <p:grpSpPr>
          <a:xfrm>
            <a:off x="8039100" y="3505200"/>
            <a:ext cx="3429000" cy="1828800"/>
            <a:chOff x="8039100" y="3505200"/>
            <a:chExt cx="3429000" cy="1828800"/>
          </a:xfrm>
        </p:grpSpPr>
        <p:sp>
          <p:nvSpPr>
            <p:cNvPr id="30" name="artifact5.container"/>
            <p:cNvSpPr/>
            <p:nvPr/>
          </p:nvSpPr>
          <p:spPr>
            <a:xfrm>
              <a:off x="8039100" y="3505200"/>
              <a:ext cx="3429000" cy="1828800"/>
            </a:xfrm>
            <a:prstGeom prst="rect">
              <a:avLst/>
            </a:prstGeom>
            <a:solidFill>
              <a:srgbClr val="E8EEF8"/>
            </a:solidFill>
            <a:ln>
              <a:noFill/>
            </a:ln>
          </p:spPr>
        </p:sp>
        <p:sp>
          <p:nvSpPr>
            <p:cNvPr id="31" name="artifact5.edge"/>
            <p:cNvSpPr/>
            <p:nvPr/>
          </p:nvSpPr>
          <p:spPr>
            <a:xfrm>
              <a:off x="8039100" y="3505200"/>
              <a:ext cx="38100" cy="1828800"/>
            </a:xfrm>
            <a:prstGeom prst="rect">
              <a:avLst/>
            </a:prstGeom>
            <a:solidFill>
              <a:srgbClr val="0047FF"/>
            </a:solidFill>
            <a:ln>
              <a:noFill/>
            </a:ln>
          </p:spPr>
        </p:sp>
        <p:sp>
          <p:nvSpPr>
            <p:cNvPr id="32" name="artifact5.number"/>
            <p:cNvSpPr/>
            <p:nvPr/>
          </p:nvSpPr>
          <p:spPr>
            <a:xfrm>
              <a:off x="8191500" y="36195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06</a:t>
              </a:r>
              <a:endParaRPr lang="en-US" sz="1800" spc="0" kern="0" b="0" i="0" dirty="0">
                <a:solidFill>
                  <a:srgbClr val="0047FF"/>
                </a:solidFill>
                <a:latin typeface="IBM Plex Mono SemiBold"/>
                <a:ea typeface="IBM Plex Mono SemiBold"/>
                <a:cs typeface="IBM Plex Mono SemiBold"/>
              </a:endParaRPr>
            </a:p>
          </p:txBody>
        </p:sp>
        <p:sp>
          <p:nvSpPr>
            <p:cNvPr id="33" name="artifact5.title"/>
            <p:cNvSpPr/>
            <p:nvPr/>
          </p:nvSpPr>
          <p:spPr>
            <a:xfrm>
              <a:off x="8591550" y="3671316"/>
              <a:ext cx="276225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Initial Release and GTM Plan</a:t>
              </a:r>
              <a:endParaRPr lang="en-US" sz="1200" spc="0" kern="0" b="0" i="0" dirty="0">
                <a:solidFill>
                  <a:srgbClr val="070154"/>
                </a:solidFill>
                <a:latin typeface="IBM Plex Sans"/>
                <a:ea typeface="IBM Plex Sans"/>
                <a:cs typeface="IBM Plex Sans"/>
              </a:endParaRPr>
            </a:p>
          </p:txBody>
        </p:sp>
        <p:sp>
          <p:nvSpPr>
            <p:cNvPr id="34" name="artifact5.body.item-0.paragraph"/>
            <p:cNvSpPr/>
            <p:nvPr/>
          </p:nvSpPr>
          <p:spPr>
            <a:xfrm>
              <a:off x="8191500" y="4038600"/>
              <a:ext cx="316230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Define → Optimize · Parallel. First release, audience, functional readiness, expansion. Owner: PM + functional leads. Named decision-maker: Go / Revise / Hold / Stop. Pilot: Recon first release.</a:t>
              </a:r>
              <a:endParaRPr lang="en-US" sz="1200" spc="0" kern="0" b="0" i="0" dirty="0">
                <a:solidFill>
                  <a:srgbClr val="50658E"/>
                </a:solidFill>
                <a:latin typeface="IBM Plex Sans"/>
                <a:ea typeface="IBM Plex Sans"/>
                <a:cs typeface="IBM Plex Sans"/>
              </a:endParaRPr>
            </a:p>
          </p:txBody>
        </p:sp>
      </p:grpSp>
      <p:grpSp>
        <p:nvGrpSpPr>
          <p:cNvPr id="46" name="linkage"/>
          <p:cNvGrpSpPr/>
          <p:nvPr/>
        </p:nvGrpSpPr>
        <p:grpSpPr>
          <a:xfrm>
            <a:off x="723900" y="5486400"/>
            <a:ext cx="10744200" cy="457200"/>
            <a:chOff x="723900" y="5486400"/>
            <a:chExt cx="10744200" cy="457200"/>
          </a:xfrm>
        </p:grpSpPr>
        <p:sp>
          <p:nvSpPr>
            <p:cNvPr id="35" name="linkage.surface"/>
            <p:cNvSpPr/>
            <p:nvPr/>
          </p:nvSpPr>
          <p:spPr>
            <a:xfrm>
              <a:off x="723900" y="5486400"/>
              <a:ext cx="10744200" cy="457200"/>
            </a:xfrm>
            <a:prstGeom prst="rect">
              <a:avLst/>
            </a:prstGeom>
            <a:solidFill>
              <a:srgbClr val="E8EEF8"/>
            </a:solidFill>
            <a:ln>
              <a:noFill/>
            </a:ln>
          </p:spPr>
        </p:sp>
        <p:sp>
          <p:nvSpPr>
            <p:cNvPr id="36" name="linkage.text"/>
            <p:cNvSpPr/>
            <p:nvPr/>
          </p:nvSpPr>
          <p:spPr>
            <a:xfrm>
              <a:off x="876300" y="54864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Linked by readable IDs:  OPPORTUNITY → PRODUCT → FEATURE → ACCEPTANCE → TEST → METRIC   ·   Proposed working templates and pilots, to validate with DXC.</a:t>
              </a:r>
              <a:endParaRPr lang="en-US" sz="1200" spc="0" kern="0" b="0" i="0" dirty="0">
                <a:solidFill>
                  <a:srgbClr val="070154"/>
                </a:solidFill>
                <a:latin typeface="IBM Plex Sans"/>
                <a:ea typeface="IBM Plex Sans"/>
                <a:cs typeface="IBM Plex Sans"/>
              </a:endParaRPr>
            </a:p>
          </p:txBody>
        </p:sp>
      </p:grpSp>
      <p:grpSp>
        <p:nvGrpSpPr>
          <p:cNvPr id="47" name="authored-header"/>
          <p:cNvGrpSpPr/>
          <p:nvPr/>
        </p:nvGrpSpPr>
        <p:grpSpPr>
          <a:xfrm>
            <a:off x="723900" y="685800"/>
            <a:ext cx="9372600" cy="914400"/>
            <a:chOff x="723900" y="685800"/>
            <a:chExt cx="9372600" cy="914400"/>
          </a:xfrm>
        </p:grpSpPr>
        <p:sp>
          <p:nvSpPr>
            <p:cNvPr id="37"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Six artifacts turn definition into decisions</a:t>
              </a:r>
              <a:endParaRPr lang="en-US" sz="3200" spc="-64" kern="0" b="0" i="0" dirty="0">
                <a:solidFill>
                  <a:srgbClr val="070154"/>
                </a:solidFill>
                <a:latin typeface="IBM Plex Sans SemiBold"/>
                <a:ea typeface="IBM Plex Sans SemiBold"/>
                <a:cs typeface="IBM Plex Sans SemiBold"/>
              </a:endParaRPr>
            </a:p>
          </p:txBody>
        </p:sp>
      </p:grpSp>
      <p:grpSp>
        <p:nvGrpSpPr>
          <p:cNvPr id="48" name="authored-eyebrow"/>
          <p:cNvGrpSpPr/>
          <p:nvPr/>
        </p:nvGrpSpPr>
        <p:grpSpPr>
          <a:xfrm>
            <a:off x="723900" y="457200"/>
            <a:ext cx="9372600" cy="228600"/>
            <a:chOff x="723900" y="457200"/>
            <a:chExt cx="9372600" cy="228600"/>
          </a:xfrm>
        </p:grpSpPr>
        <p:sp>
          <p:nvSpPr>
            <p:cNvPr id="38"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IMPLEMENTATION TEMPLATES</a:t>
              </a:r>
              <a:endParaRPr lang="en-US" sz="1000" spc="80" kern="0" b="0" i="0" dirty="0">
                <a:solidFill>
                  <a:srgbClr val="0047FF"/>
                </a:solidFill>
                <a:latin typeface="IBM Plex Mono SemiBold"/>
                <a:ea typeface="IBM Plex Mono SemiBold"/>
                <a:cs typeface="IBM Plex Mono SemiBold"/>
              </a:endParaRPr>
            </a:p>
          </p:txBody>
        </p:sp>
      </p:grpSp>
      <p:grpSp>
        <p:nvGrpSpPr>
          <p:cNvPr id="49" name="client-brand"/>
          <p:cNvGrpSpPr/>
          <p:nvPr/>
        </p:nvGrpSpPr>
        <p:grpSpPr>
          <a:xfrm>
            <a:off x="10382250" y="457200"/>
            <a:ext cx="1028700" cy="457200"/>
            <a:chOff x="10382250" y="457200"/>
            <a:chExt cx="1028700" cy="457200"/>
          </a:xfrm>
        </p:grpSpPr>
        <p:pic>
          <p:nvPicPr>
            <p:cNvPr id="39"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dxc-035">
    <p:spTree>
      <p:nvGrpSpPr>
        <p:cNvPr id="1" name=""/>
        <p:cNvGrpSpPr/>
        <p:nvPr/>
      </p:nvGrpSpPr>
      <p:grpSpPr>
        <a:xfrm>
          <a:off x="0" y="0"/>
          <a:ext cx="0" cy="0"/>
          <a:chOff x="0" y="0"/>
          <a:chExt cx="0" cy="0"/>
        </a:xfrm>
      </p:grpSpPr>
      <p:sp>
        <p:nvSpPr>
          <p:cNvPr id="4" name="wm.page"/>
          <p:cNvSpPr/>
          <p:nvPr/>
        </p:nvSpPr>
        <p:spPr>
          <a:xfrm>
            <a:off x="11163300" y="6410325"/>
            <a:ext cx="304800" cy="13335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35</a:t>
            </a:fld>
            <a:endParaRPr lang="en-US" sz="700" spc="0" kern="0" b="0" i="0" dirty="0">
              <a:solidFill>
                <a:srgbClr val="070154"/>
              </a:solidFill>
              <a:latin typeface="IBM Plex Mono SemiBold"/>
              <a:ea typeface="IBM Plex Mono SemiBold"/>
              <a:cs typeface="IBM Plex Mono SemiBold"/>
            </a:endParaRPr>
          </a:p>
        </p:txBody>
      </p:sp>
      <p:grpSp>
        <p:nvGrpSpPr>
          <p:cNvPr id="65" name="heading"/>
          <p:cNvGrpSpPr/>
          <p:nvPr/>
        </p:nvGrpSpPr>
        <p:grpSpPr>
          <a:xfrm>
            <a:off x="723900" y="457200"/>
            <a:ext cx="9372600" cy="609600"/>
            <a:chOff x="723900" y="457200"/>
            <a:chExt cx="9372600" cy="609600"/>
          </a:xfrm>
        </p:grpSpPr>
        <p:sp>
          <p:nvSpPr>
            <p:cNvPr id="5" name="heading.text"/>
            <p:cNvSpPr/>
            <p:nvPr/>
          </p:nvSpPr>
          <p:spPr>
            <a:xfrm>
              <a:off x="723900" y="457200"/>
              <a:ext cx="9372600" cy="6096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Artifacts link stages to review decisions</a:t>
              </a:r>
              <a:endParaRPr lang="en-US" sz="2400" spc="-36" kern="0" b="0" i="0" dirty="0">
                <a:solidFill>
                  <a:srgbClr val="070154"/>
                </a:solidFill>
                <a:latin typeface="IBM Plex Sans SemiBold"/>
                <a:ea typeface="IBM Plex Sans SemiBold"/>
                <a:cs typeface="IBM Plex Sans SemiBold"/>
              </a:endParaRPr>
            </a:p>
          </p:txBody>
        </p:sp>
      </p:grpSp>
      <p:grpSp>
        <p:nvGrpSpPr>
          <p:cNvPr id="66" name="subtitle"/>
          <p:cNvGrpSpPr/>
          <p:nvPr/>
        </p:nvGrpSpPr>
        <p:grpSpPr>
          <a:xfrm>
            <a:off x="723900" y="1143000"/>
            <a:ext cx="10744200" cy="381000"/>
            <a:chOff x="723900" y="1143000"/>
            <a:chExt cx="10744200" cy="381000"/>
          </a:xfrm>
        </p:grpSpPr>
        <p:sp>
          <p:nvSpPr>
            <p:cNvPr id="6" name="subtitle.text"/>
            <p:cNvSpPr/>
            <p:nvPr/>
          </p:nvSpPr>
          <p:spPr>
            <a:xfrm>
              <a:off x="723900" y="11430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Testing and release plans start in Define. Each bar names a review decision. Navy bars form the sequential chain; gray bars run in parallel.</a:t>
              </a:r>
              <a:endParaRPr lang="en-US" sz="1200" spc="0" kern="0" b="0" i="0" dirty="0">
                <a:solidFill>
                  <a:srgbClr val="50658E"/>
                </a:solidFill>
                <a:latin typeface="IBM Plex Sans"/>
                <a:ea typeface="IBM Plex Sans"/>
                <a:cs typeface="IBM Plex Sans"/>
              </a:endParaRPr>
            </a:p>
          </p:txBody>
        </p:sp>
      </p:grpSp>
      <p:grpSp>
        <p:nvGrpSpPr>
          <p:cNvPr id="67" name="stage-label"/>
          <p:cNvGrpSpPr/>
          <p:nvPr/>
        </p:nvGrpSpPr>
        <p:grpSpPr>
          <a:xfrm>
            <a:off x="723900" y="1600200"/>
            <a:ext cx="1752600" cy="381000"/>
            <a:chOff x="723900" y="1600200"/>
            <a:chExt cx="1752600" cy="381000"/>
          </a:xfrm>
        </p:grpSpPr>
        <p:sp>
          <p:nvSpPr>
            <p:cNvPr id="7" name="stage-label.surface"/>
            <p:cNvSpPr/>
            <p:nvPr/>
          </p:nvSpPr>
          <p:spPr>
            <a:xfrm>
              <a:off x="723900" y="1600200"/>
              <a:ext cx="1752600" cy="381000"/>
            </a:xfrm>
            <a:prstGeom prst="rect">
              <a:avLst/>
            </a:prstGeom>
            <a:solidFill>
              <a:srgbClr val="070154"/>
            </a:solidFill>
            <a:ln>
              <a:noFill/>
            </a:ln>
          </p:spPr>
        </p:sp>
        <p:sp>
          <p:nvSpPr>
            <p:cNvPr id="8" name="stage-label.text"/>
            <p:cNvSpPr/>
            <p:nvPr/>
          </p:nvSpPr>
          <p:spPr>
            <a:xfrm>
              <a:off x="876300" y="1676400"/>
              <a:ext cx="1447800" cy="2286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FFFFFF"/>
                  </a:solidFill>
                  <a:latin typeface="IBM Plex Sans"/>
                  <a:ea typeface="IBM Plex Sans"/>
                  <a:cs typeface="IBM Plex Sans"/>
                </a:rPr>
                <a:t>PDLC stage</a:t>
              </a:r>
              <a:endParaRPr lang="en-US" sz="1200" spc="0" kern="0" b="0" i="0" dirty="0">
                <a:solidFill>
                  <a:srgbClr val="FFFFFF"/>
                </a:solidFill>
                <a:latin typeface="IBM Plex Sans"/>
                <a:ea typeface="IBM Plex Sans"/>
                <a:cs typeface="IBM Plex Sans"/>
              </a:endParaRPr>
            </a:p>
          </p:txBody>
        </p:sp>
      </p:grpSp>
      <p:grpSp>
        <p:nvGrpSpPr>
          <p:cNvPr id="68" name="phase0"/>
          <p:cNvGrpSpPr/>
          <p:nvPr/>
        </p:nvGrpSpPr>
        <p:grpSpPr>
          <a:xfrm>
            <a:off x="2552700" y="1600200"/>
            <a:ext cx="1447800" cy="381000"/>
            <a:chOff x="2552700" y="1600200"/>
            <a:chExt cx="1447800" cy="381000"/>
          </a:xfrm>
        </p:grpSpPr>
        <p:sp>
          <p:nvSpPr>
            <p:cNvPr id="9" name="phase0.surface"/>
            <p:cNvSpPr/>
            <p:nvPr/>
          </p:nvSpPr>
          <p:spPr>
            <a:xfrm>
              <a:off x="2552700" y="1600200"/>
              <a:ext cx="1447800" cy="381000"/>
            </a:xfrm>
            <a:custGeom>
              <a:avLst/>
              <a:gdLst/>
              <a:ahLst/>
              <a:cxnLst/>
              <a:rect l="l" t="t" r="r" b="b"/>
              <a:pathLst>
                <a:path w="1447800" h="381000">
                  <a:moveTo>
                    <a:pt x="0" y="0"/>
                  </a:moveTo>
                  <a:lnTo>
                    <a:pt x="1320800" y="0"/>
                  </a:lnTo>
                  <a:lnTo>
                    <a:pt x="1447800" y="190500"/>
                  </a:lnTo>
                  <a:lnTo>
                    <a:pt x="1320800" y="381000"/>
                  </a:lnTo>
                  <a:lnTo>
                    <a:pt x="0" y="381000"/>
                  </a:lnTo>
                  <a:close/>
                </a:path>
              </a:pathLst>
            </a:custGeom>
            <a:solidFill>
              <a:srgbClr val="070154"/>
            </a:solidFill>
            <a:ln>
              <a:noFill/>
            </a:ln>
          </p:spPr>
        </p:sp>
        <p:sp>
          <p:nvSpPr>
            <p:cNvPr id="10" name="phase0.text"/>
            <p:cNvSpPr/>
            <p:nvPr/>
          </p:nvSpPr>
          <p:spPr>
            <a:xfrm>
              <a:off x="2705100" y="1657350"/>
              <a:ext cx="1092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Identify</a:t>
              </a:r>
              <a:endParaRPr lang="en-US" sz="1400" spc="0" kern="0" b="0" i="0" dirty="0">
                <a:solidFill>
                  <a:srgbClr val="FFFFFF"/>
                </a:solidFill>
                <a:latin typeface="IBM Plex Sans"/>
                <a:ea typeface="IBM Plex Sans"/>
                <a:cs typeface="IBM Plex Sans"/>
              </a:endParaRPr>
            </a:p>
          </p:txBody>
        </p:sp>
      </p:grpSp>
      <p:grpSp>
        <p:nvGrpSpPr>
          <p:cNvPr id="69" name="gate0"/>
          <p:cNvGrpSpPr/>
          <p:nvPr/>
        </p:nvGrpSpPr>
        <p:grpSpPr>
          <a:xfrm>
            <a:off x="2552700" y="2057400"/>
            <a:ext cx="1447800" cy="381000"/>
            <a:chOff x="2552700" y="2057400"/>
            <a:chExt cx="1447800" cy="381000"/>
          </a:xfrm>
        </p:grpSpPr>
        <p:sp>
          <p:nvSpPr>
            <p:cNvPr id="11" name="gate0.text"/>
            <p:cNvSpPr/>
            <p:nvPr/>
          </p:nvSpPr>
          <p:spPr>
            <a:xfrm>
              <a:off x="25527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Concept &amp; Strategy · G0</a:t>
              </a:r>
              <a:endParaRPr lang="en-US" sz="900" spc="0" kern="0" b="0" i="0" dirty="0">
                <a:solidFill>
                  <a:srgbClr val="50658E"/>
                </a:solidFill>
                <a:latin typeface="IBM Plex Sans"/>
                <a:ea typeface="IBM Plex Sans"/>
                <a:cs typeface="IBM Plex Sans"/>
              </a:endParaRPr>
            </a:p>
          </p:txBody>
        </p:sp>
      </p:grpSp>
      <p:grpSp>
        <p:nvGrpSpPr>
          <p:cNvPr id="70" name="practice0"/>
          <p:cNvGrpSpPr/>
          <p:nvPr/>
        </p:nvGrpSpPr>
        <p:grpSpPr>
          <a:xfrm>
            <a:off x="2552700" y="2438400"/>
            <a:ext cx="1447800" cy="342900"/>
            <a:chOff x="2552700" y="2438400"/>
            <a:chExt cx="1447800" cy="342900"/>
          </a:xfrm>
        </p:grpSpPr>
        <p:sp>
          <p:nvSpPr>
            <p:cNvPr id="12" name="practice0.text"/>
            <p:cNvSpPr/>
            <p:nvPr/>
          </p:nvSpPr>
          <p:spPr>
            <a:xfrm>
              <a:off x="25527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Opportunity + Prioritization</a:t>
              </a:r>
              <a:endParaRPr lang="en-US" sz="900" spc="0" kern="0" b="0" i="0" dirty="0">
                <a:solidFill>
                  <a:srgbClr val="070154"/>
                </a:solidFill>
                <a:latin typeface="IBM Plex Sans"/>
                <a:ea typeface="IBM Plex Sans"/>
                <a:cs typeface="IBM Plex Sans"/>
              </a:endParaRPr>
            </a:p>
          </p:txBody>
        </p:sp>
      </p:grpSp>
      <p:grpSp>
        <p:nvGrpSpPr>
          <p:cNvPr id="71" name="phase1"/>
          <p:cNvGrpSpPr/>
          <p:nvPr/>
        </p:nvGrpSpPr>
        <p:grpSpPr>
          <a:xfrm>
            <a:off x="4038600" y="1600200"/>
            <a:ext cx="1447800" cy="381000"/>
            <a:chOff x="4038600" y="1600200"/>
            <a:chExt cx="1447800" cy="381000"/>
          </a:xfrm>
        </p:grpSpPr>
        <p:sp>
          <p:nvSpPr>
            <p:cNvPr id="13" name="phase1.surface"/>
            <p:cNvSpPr/>
            <p:nvPr/>
          </p:nvSpPr>
          <p:spPr>
            <a:xfrm>
              <a:off x="4038600" y="1600200"/>
              <a:ext cx="1447800" cy="381000"/>
            </a:xfrm>
            <a:custGeom>
              <a:avLst/>
              <a:gdLst/>
              <a:ahLst/>
              <a:cxnLst/>
              <a:rect l="l" t="t" r="r" b="b"/>
              <a:pathLst>
                <a:path w="1447800" h="381000">
                  <a:moveTo>
                    <a:pt x="0" y="0"/>
                  </a:moveTo>
                  <a:lnTo>
                    <a:pt x="1320800" y="0"/>
                  </a:lnTo>
                  <a:lnTo>
                    <a:pt x="1447800" y="190500"/>
                  </a:lnTo>
                  <a:lnTo>
                    <a:pt x="1320800" y="381000"/>
                  </a:lnTo>
                  <a:lnTo>
                    <a:pt x="0" y="381000"/>
                  </a:lnTo>
                  <a:lnTo>
                    <a:pt x="127000" y="190500"/>
                  </a:lnTo>
                  <a:close/>
                </a:path>
              </a:pathLst>
            </a:custGeom>
            <a:solidFill>
              <a:srgbClr val="070154"/>
            </a:solidFill>
            <a:ln>
              <a:noFill/>
            </a:ln>
          </p:spPr>
        </p:sp>
        <p:sp>
          <p:nvSpPr>
            <p:cNvPr id="14" name="phase1.text"/>
            <p:cNvSpPr/>
            <p:nvPr/>
          </p:nvSpPr>
          <p:spPr>
            <a:xfrm>
              <a:off x="4318000" y="1657350"/>
              <a:ext cx="965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Define</a:t>
              </a:r>
              <a:endParaRPr lang="en-US" sz="1400" spc="0" kern="0" b="0" i="0" dirty="0">
                <a:solidFill>
                  <a:srgbClr val="FFFFFF"/>
                </a:solidFill>
                <a:latin typeface="IBM Plex Sans"/>
                <a:ea typeface="IBM Plex Sans"/>
                <a:cs typeface="IBM Plex Sans"/>
              </a:endParaRPr>
            </a:p>
          </p:txBody>
        </p:sp>
      </p:grpSp>
      <p:grpSp>
        <p:nvGrpSpPr>
          <p:cNvPr id="72" name="gate1"/>
          <p:cNvGrpSpPr/>
          <p:nvPr/>
        </p:nvGrpSpPr>
        <p:grpSpPr>
          <a:xfrm>
            <a:off x="4038600" y="2057400"/>
            <a:ext cx="1447800" cy="381000"/>
            <a:chOff x="4038600" y="2057400"/>
            <a:chExt cx="1447800" cy="381000"/>
          </a:xfrm>
        </p:grpSpPr>
        <p:sp>
          <p:nvSpPr>
            <p:cNvPr id="15" name="gate1.text"/>
            <p:cNvSpPr/>
            <p:nvPr/>
          </p:nvSpPr>
          <p:spPr>
            <a:xfrm>
              <a:off x="40386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Design &amp; Viability · G1, G2</a:t>
              </a:r>
              <a:endParaRPr lang="en-US" sz="900" spc="0" kern="0" b="0" i="0" dirty="0">
                <a:solidFill>
                  <a:srgbClr val="50658E"/>
                </a:solidFill>
                <a:latin typeface="IBM Plex Sans"/>
                <a:ea typeface="IBM Plex Sans"/>
                <a:cs typeface="IBM Plex Sans"/>
              </a:endParaRPr>
            </a:p>
          </p:txBody>
        </p:sp>
      </p:grpSp>
      <p:grpSp>
        <p:nvGrpSpPr>
          <p:cNvPr id="73" name="practice1"/>
          <p:cNvGrpSpPr/>
          <p:nvPr/>
        </p:nvGrpSpPr>
        <p:grpSpPr>
          <a:xfrm>
            <a:off x="4038600" y="2438400"/>
            <a:ext cx="1447800" cy="342900"/>
            <a:chOff x="4038600" y="2438400"/>
            <a:chExt cx="1447800" cy="342900"/>
          </a:xfrm>
        </p:grpSpPr>
        <p:sp>
          <p:nvSpPr>
            <p:cNvPr id="16" name="practice1.text"/>
            <p:cNvSpPr/>
            <p:nvPr/>
          </p:nvSpPr>
          <p:spPr>
            <a:xfrm>
              <a:off x="40386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Definition</a:t>
              </a:r>
              <a:endParaRPr lang="en-US" sz="900" spc="0" kern="0" b="0" i="0" dirty="0">
                <a:solidFill>
                  <a:srgbClr val="070154"/>
                </a:solidFill>
                <a:latin typeface="IBM Plex Sans"/>
                <a:ea typeface="IBM Plex Sans"/>
                <a:cs typeface="IBM Plex Sans"/>
              </a:endParaRPr>
            </a:p>
          </p:txBody>
        </p:sp>
      </p:grpSp>
      <p:grpSp>
        <p:nvGrpSpPr>
          <p:cNvPr id="74" name="phase2"/>
          <p:cNvGrpSpPr/>
          <p:nvPr/>
        </p:nvGrpSpPr>
        <p:grpSpPr>
          <a:xfrm>
            <a:off x="5524500" y="1600200"/>
            <a:ext cx="1447800" cy="381000"/>
            <a:chOff x="5524500" y="1600200"/>
            <a:chExt cx="1447800" cy="381000"/>
          </a:xfrm>
        </p:grpSpPr>
        <p:sp>
          <p:nvSpPr>
            <p:cNvPr id="17" name="phase2.surface"/>
            <p:cNvSpPr/>
            <p:nvPr/>
          </p:nvSpPr>
          <p:spPr>
            <a:xfrm>
              <a:off x="5524500" y="1600200"/>
              <a:ext cx="1447800" cy="381000"/>
            </a:xfrm>
            <a:custGeom>
              <a:avLst/>
              <a:gdLst/>
              <a:ahLst/>
              <a:cxnLst/>
              <a:rect l="l" t="t" r="r" b="b"/>
              <a:pathLst>
                <a:path w="1447800" h="381000">
                  <a:moveTo>
                    <a:pt x="0" y="0"/>
                  </a:moveTo>
                  <a:lnTo>
                    <a:pt x="1320800" y="0"/>
                  </a:lnTo>
                  <a:lnTo>
                    <a:pt x="1447800" y="190500"/>
                  </a:lnTo>
                  <a:lnTo>
                    <a:pt x="1320800" y="381000"/>
                  </a:lnTo>
                  <a:lnTo>
                    <a:pt x="0" y="381000"/>
                  </a:lnTo>
                  <a:lnTo>
                    <a:pt x="127000" y="190500"/>
                  </a:lnTo>
                  <a:close/>
                </a:path>
              </a:pathLst>
            </a:custGeom>
            <a:solidFill>
              <a:srgbClr val="070154"/>
            </a:solidFill>
            <a:ln>
              <a:noFill/>
            </a:ln>
          </p:spPr>
        </p:sp>
        <p:sp>
          <p:nvSpPr>
            <p:cNvPr id="18" name="phase2.text"/>
            <p:cNvSpPr/>
            <p:nvPr/>
          </p:nvSpPr>
          <p:spPr>
            <a:xfrm>
              <a:off x="5803900" y="1657350"/>
              <a:ext cx="965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Build</a:t>
              </a:r>
              <a:endParaRPr lang="en-US" sz="1400" spc="0" kern="0" b="0" i="0" dirty="0">
                <a:solidFill>
                  <a:srgbClr val="FFFFFF"/>
                </a:solidFill>
                <a:latin typeface="IBM Plex Sans"/>
                <a:ea typeface="IBM Plex Sans"/>
                <a:cs typeface="IBM Plex Sans"/>
              </a:endParaRPr>
            </a:p>
          </p:txBody>
        </p:sp>
      </p:grpSp>
      <p:grpSp>
        <p:nvGrpSpPr>
          <p:cNvPr id="75" name="gate2"/>
          <p:cNvGrpSpPr/>
          <p:nvPr/>
        </p:nvGrpSpPr>
        <p:grpSpPr>
          <a:xfrm>
            <a:off x="5524500" y="2057400"/>
            <a:ext cx="1447800" cy="381000"/>
            <a:chOff x="5524500" y="2057400"/>
            <a:chExt cx="1447800" cy="381000"/>
          </a:xfrm>
        </p:grpSpPr>
        <p:sp>
          <p:nvSpPr>
            <p:cNvPr id="19" name="gate2.text"/>
            <p:cNvSpPr/>
            <p:nvPr/>
          </p:nvSpPr>
          <p:spPr>
            <a:xfrm>
              <a:off x="55245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Build · G4</a:t>
              </a:r>
              <a:endParaRPr lang="en-US" sz="900" spc="0" kern="0" b="0" i="0" dirty="0">
                <a:solidFill>
                  <a:srgbClr val="50658E"/>
                </a:solidFill>
                <a:latin typeface="IBM Plex Sans"/>
                <a:ea typeface="IBM Plex Sans"/>
                <a:cs typeface="IBM Plex Sans"/>
              </a:endParaRPr>
            </a:p>
          </p:txBody>
        </p:sp>
      </p:grpSp>
      <p:grpSp>
        <p:nvGrpSpPr>
          <p:cNvPr id="76" name="practice2"/>
          <p:cNvGrpSpPr/>
          <p:nvPr/>
        </p:nvGrpSpPr>
        <p:grpSpPr>
          <a:xfrm>
            <a:off x="5524500" y="2438400"/>
            <a:ext cx="1447800" cy="342900"/>
            <a:chOff x="5524500" y="2438400"/>
            <a:chExt cx="1447800" cy="342900"/>
          </a:xfrm>
        </p:grpSpPr>
        <p:sp>
          <p:nvSpPr>
            <p:cNvPr id="20" name="practice2.text"/>
            <p:cNvSpPr/>
            <p:nvPr/>
          </p:nvSpPr>
          <p:spPr>
            <a:xfrm>
              <a:off x="55245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Build</a:t>
              </a:r>
              <a:endParaRPr lang="en-US" sz="900" spc="0" kern="0" b="0" i="0" dirty="0">
                <a:solidFill>
                  <a:srgbClr val="070154"/>
                </a:solidFill>
                <a:latin typeface="IBM Plex Sans"/>
                <a:ea typeface="IBM Plex Sans"/>
                <a:cs typeface="IBM Plex Sans"/>
              </a:endParaRPr>
            </a:p>
          </p:txBody>
        </p:sp>
      </p:grpSp>
      <p:grpSp>
        <p:nvGrpSpPr>
          <p:cNvPr id="77" name="phase3"/>
          <p:cNvGrpSpPr/>
          <p:nvPr/>
        </p:nvGrpSpPr>
        <p:grpSpPr>
          <a:xfrm>
            <a:off x="7010400" y="1600200"/>
            <a:ext cx="1447800" cy="381000"/>
            <a:chOff x="7010400" y="1600200"/>
            <a:chExt cx="1447800" cy="381000"/>
          </a:xfrm>
        </p:grpSpPr>
        <p:sp>
          <p:nvSpPr>
            <p:cNvPr id="21" name="phase3.surface"/>
            <p:cNvSpPr/>
            <p:nvPr/>
          </p:nvSpPr>
          <p:spPr>
            <a:xfrm>
              <a:off x="7010400" y="1600200"/>
              <a:ext cx="1447800" cy="381000"/>
            </a:xfrm>
            <a:custGeom>
              <a:avLst/>
              <a:gdLst/>
              <a:ahLst/>
              <a:cxnLst/>
              <a:rect l="l" t="t" r="r" b="b"/>
              <a:pathLst>
                <a:path w="1447800" h="381000">
                  <a:moveTo>
                    <a:pt x="0" y="0"/>
                  </a:moveTo>
                  <a:lnTo>
                    <a:pt x="1320800" y="0"/>
                  </a:lnTo>
                  <a:lnTo>
                    <a:pt x="1447800" y="190500"/>
                  </a:lnTo>
                  <a:lnTo>
                    <a:pt x="1320800" y="381000"/>
                  </a:lnTo>
                  <a:lnTo>
                    <a:pt x="0" y="381000"/>
                  </a:lnTo>
                  <a:lnTo>
                    <a:pt x="127000" y="190500"/>
                  </a:lnTo>
                  <a:close/>
                </a:path>
              </a:pathLst>
            </a:custGeom>
            <a:solidFill>
              <a:srgbClr val="070154"/>
            </a:solidFill>
            <a:ln>
              <a:noFill/>
            </a:ln>
          </p:spPr>
        </p:sp>
        <p:sp>
          <p:nvSpPr>
            <p:cNvPr id="22" name="phase3.text"/>
            <p:cNvSpPr/>
            <p:nvPr/>
          </p:nvSpPr>
          <p:spPr>
            <a:xfrm>
              <a:off x="7289800" y="1657350"/>
              <a:ext cx="965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Release</a:t>
              </a:r>
              <a:endParaRPr lang="en-US" sz="1400" spc="0" kern="0" b="0" i="0" dirty="0">
                <a:solidFill>
                  <a:srgbClr val="FFFFFF"/>
                </a:solidFill>
                <a:latin typeface="IBM Plex Sans"/>
                <a:ea typeface="IBM Plex Sans"/>
                <a:cs typeface="IBM Plex Sans"/>
              </a:endParaRPr>
            </a:p>
          </p:txBody>
        </p:sp>
      </p:grpSp>
      <p:grpSp>
        <p:nvGrpSpPr>
          <p:cNvPr id="78" name="gate3"/>
          <p:cNvGrpSpPr/>
          <p:nvPr/>
        </p:nvGrpSpPr>
        <p:grpSpPr>
          <a:xfrm>
            <a:off x="7010400" y="2057400"/>
            <a:ext cx="1447800" cy="381000"/>
            <a:chOff x="7010400" y="2057400"/>
            <a:chExt cx="1447800" cy="381000"/>
          </a:xfrm>
        </p:grpSpPr>
        <p:sp>
          <p:nvSpPr>
            <p:cNvPr id="23" name="gate3.text"/>
            <p:cNvSpPr/>
            <p:nvPr/>
          </p:nvSpPr>
          <p:spPr>
            <a:xfrm>
              <a:off x="70104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Beta / Pilot</a:t>
              </a:r>
              <a:endParaRPr lang="en-US" sz="900" spc="0" kern="0" b="0" i="0" dirty="0">
                <a:solidFill>
                  <a:srgbClr val="50658E"/>
                </a:solidFill>
                <a:latin typeface="IBM Plex Sans"/>
                <a:ea typeface="IBM Plex Sans"/>
                <a:cs typeface="IBM Plex Sans"/>
              </a:endParaRPr>
            </a:p>
          </p:txBody>
        </p:sp>
      </p:grpSp>
      <p:grpSp>
        <p:nvGrpSpPr>
          <p:cNvPr id="79" name="practice3"/>
          <p:cNvGrpSpPr/>
          <p:nvPr/>
        </p:nvGrpSpPr>
        <p:grpSpPr>
          <a:xfrm>
            <a:off x="7010400" y="2438400"/>
            <a:ext cx="1447800" cy="342900"/>
            <a:chOff x="7010400" y="2438400"/>
            <a:chExt cx="1447800" cy="342900"/>
          </a:xfrm>
        </p:grpSpPr>
        <p:sp>
          <p:nvSpPr>
            <p:cNvPr id="24" name="practice3.text"/>
            <p:cNvSpPr/>
            <p:nvPr/>
          </p:nvSpPr>
          <p:spPr>
            <a:xfrm>
              <a:off x="70104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Release</a:t>
              </a:r>
              <a:endParaRPr lang="en-US" sz="900" spc="0" kern="0" b="0" i="0" dirty="0">
                <a:solidFill>
                  <a:srgbClr val="070154"/>
                </a:solidFill>
                <a:latin typeface="IBM Plex Sans"/>
                <a:ea typeface="IBM Plex Sans"/>
                <a:cs typeface="IBM Plex Sans"/>
              </a:endParaRPr>
            </a:p>
          </p:txBody>
        </p:sp>
      </p:grpSp>
      <p:grpSp>
        <p:nvGrpSpPr>
          <p:cNvPr id="80" name="phase4"/>
          <p:cNvGrpSpPr/>
          <p:nvPr/>
        </p:nvGrpSpPr>
        <p:grpSpPr>
          <a:xfrm>
            <a:off x="8496300" y="1600200"/>
            <a:ext cx="1447800" cy="381000"/>
            <a:chOff x="8496300" y="1600200"/>
            <a:chExt cx="1447800" cy="381000"/>
          </a:xfrm>
        </p:grpSpPr>
        <p:sp>
          <p:nvSpPr>
            <p:cNvPr id="25" name="phase4.surface"/>
            <p:cNvSpPr/>
            <p:nvPr/>
          </p:nvSpPr>
          <p:spPr>
            <a:xfrm>
              <a:off x="8496300" y="1600200"/>
              <a:ext cx="1447800" cy="381000"/>
            </a:xfrm>
            <a:custGeom>
              <a:avLst/>
              <a:gdLst/>
              <a:ahLst/>
              <a:cxnLst/>
              <a:rect l="l" t="t" r="r" b="b"/>
              <a:pathLst>
                <a:path w="1447800" h="381000">
                  <a:moveTo>
                    <a:pt x="0" y="0"/>
                  </a:moveTo>
                  <a:lnTo>
                    <a:pt x="1320800" y="0"/>
                  </a:lnTo>
                  <a:lnTo>
                    <a:pt x="1447800" y="190500"/>
                  </a:lnTo>
                  <a:lnTo>
                    <a:pt x="1320800" y="381000"/>
                  </a:lnTo>
                  <a:lnTo>
                    <a:pt x="0" y="381000"/>
                  </a:lnTo>
                  <a:lnTo>
                    <a:pt x="127000" y="190500"/>
                  </a:lnTo>
                  <a:close/>
                </a:path>
              </a:pathLst>
            </a:custGeom>
            <a:solidFill>
              <a:srgbClr val="070154"/>
            </a:solidFill>
            <a:ln>
              <a:noFill/>
            </a:ln>
          </p:spPr>
        </p:sp>
        <p:sp>
          <p:nvSpPr>
            <p:cNvPr id="26" name="phase4.text"/>
            <p:cNvSpPr/>
            <p:nvPr/>
          </p:nvSpPr>
          <p:spPr>
            <a:xfrm>
              <a:off x="8775700" y="1657350"/>
              <a:ext cx="965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GTM</a:t>
              </a:r>
              <a:endParaRPr lang="en-US" sz="1400" spc="0" kern="0" b="0" i="0" dirty="0">
                <a:solidFill>
                  <a:srgbClr val="FFFFFF"/>
                </a:solidFill>
                <a:latin typeface="IBM Plex Sans"/>
                <a:ea typeface="IBM Plex Sans"/>
                <a:cs typeface="IBM Plex Sans"/>
              </a:endParaRPr>
            </a:p>
          </p:txBody>
        </p:sp>
      </p:grpSp>
      <p:grpSp>
        <p:nvGrpSpPr>
          <p:cNvPr id="81" name="gate4"/>
          <p:cNvGrpSpPr/>
          <p:nvPr/>
        </p:nvGrpSpPr>
        <p:grpSpPr>
          <a:xfrm>
            <a:off x="8496300" y="2057400"/>
            <a:ext cx="1447800" cy="381000"/>
            <a:chOff x="8496300" y="2057400"/>
            <a:chExt cx="1447800" cy="381000"/>
          </a:xfrm>
        </p:grpSpPr>
        <p:sp>
          <p:nvSpPr>
            <p:cNvPr id="27" name="gate4.text"/>
            <p:cNvSpPr/>
            <p:nvPr/>
          </p:nvSpPr>
          <p:spPr>
            <a:xfrm>
              <a:off x="84963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Launch · G5</a:t>
              </a:r>
              <a:endParaRPr lang="en-US" sz="900" spc="0" kern="0" b="0" i="0" dirty="0">
                <a:solidFill>
                  <a:srgbClr val="50658E"/>
                </a:solidFill>
                <a:latin typeface="IBM Plex Sans"/>
                <a:ea typeface="IBM Plex Sans"/>
                <a:cs typeface="IBM Plex Sans"/>
              </a:endParaRPr>
            </a:p>
          </p:txBody>
        </p:sp>
      </p:grpSp>
      <p:grpSp>
        <p:nvGrpSpPr>
          <p:cNvPr id="82" name="practice4"/>
          <p:cNvGrpSpPr/>
          <p:nvPr/>
        </p:nvGrpSpPr>
        <p:grpSpPr>
          <a:xfrm>
            <a:off x="8496300" y="2438400"/>
            <a:ext cx="1447800" cy="342900"/>
            <a:chOff x="8496300" y="2438400"/>
            <a:chExt cx="1447800" cy="342900"/>
          </a:xfrm>
        </p:grpSpPr>
        <p:sp>
          <p:nvSpPr>
            <p:cNvPr id="28" name="practice4.text"/>
            <p:cNvSpPr/>
            <p:nvPr/>
          </p:nvSpPr>
          <p:spPr>
            <a:xfrm>
              <a:off x="84963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GTM</a:t>
              </a:r>
              <a:endParaRPr lang="en-US" sz="900" spc="0" kern="0" b="0" i="0" dirty="0">
                <a:solidFill>
                  <a:srgbClr val="070154"/>
                </a:solidFill>
                <a:latin typeface="IBM Plex Sans"/>
                <a:ea typeface="IBM Plex Sans"/>
                <a:cs typeface="IBM Plex Sans"/>
              </a:endParaRPr>
            </a:p>
          </p:txBody>
        </p:sp>
      </p:grpSp>
      <p:grpSp>
        <p:nvGrpSpPr>
          <p:cNvPr id="83" name="phase5"/>
          <p:cNvGrpSpPr/>
          <p:nvPr/>
        </p:nvGrpSpPr>
        <p:grpSpPr>
          <a:xfrm>
            <a:off x="9982200" y="1600200"/>
            <a:ext cx="1447800" cy="381000"/>
            <a:chOff x="9982200" y="1600200"/>
            <a:chExt cx="1447800" cy="381000"/>
          </a:xfrm>
        </p:grpSpPr>
        <p:sp>
          <p:nvSpPr>
            <p:cNvPr id="29" name="phase5.surface"/>
            <p:cNvSpPr/>
            <p:nvPr/>
          </p:nvSpPr>
          <p:spPr>
            <a:xfrm>
              <a:off x="9982200" y="1600200"/>
              <a:ext cx="1447800" cy="381000"/>
            </a:xfrm>
            <a:custGeom>
              <a:avLst/>
              <a:gdLst/>
              <a:ahLst/>
              <a:cxnLst/>
              <a:rect l="l" t="t" r="r" b="b"/>
              <a:pathLst>
                <a:path w="1447800" h="381000">
                  <a:moveTo>
                    <a:pt x="0" y="0"/>
                  </a:moveTo>
                  <a:lnTo>
                    <a:pt x="1320800" y="0"/>
                  </a:lnTo>
                  <a:lnTo>
                    <a:pt x="1447800" y="190500"/>
                  </a:lnTo>
                  <a:lnTo>
                    <a:pt x="1320800" y="381000"/>
                  </a:lnTo>
                  <a:lnTo>
                    <a:pt x="0" y="381000"/>
                  </a:lnTo>
                  <a:lnTo>
                    <a:pt x="127000" y="190500"/>
                  </a:lnTo>
                  <a:close/>
                </a:path>
              </a:pathLst>
            </a:custGeom>
            <a:solidFill>
              <a:srgbClr val="070154"/>
            </a:solidFill>
            <a:ln>
              <a:noFill/>
            </a:ln>
          </p:spPr>
        </p:sp>
        <p:sp>
          <p:nvSpPr>
            <p:cNvPr id="30" name="phase5.text"/>
            <p:cNvSpPr/>
            <p:nvPr/>
          </p:nvSpPr>
          <p:spPr>
            <a:xfrm>
              <a:off x="10261600" y="1657350"/>
              <a:ext cx="965200" cy="266700"/>
            </a:xfrm>
            <a:prstGeom prst="rect">
              <a:avLst/>
            </a:prstGeom>
            <a:noFill/>
            <a:ln/>
          </p:spPr>
          <p:txBody>
            <a:bodyPr wrap="square" lIns="0" tIns="0" rIns="0" bIns="0" rtlCol="0" anchor="t"/>
            <a:lstStyle/>
            <a:p>
              <a:pPr algn="ctr" indent="0" marL="0">
                <a:lnSpc>
                  <a:spcPts val="2100"/>
                </a:lnSpc>
                <a:buNone/>
              </a:pPr>
              <a:r>
                <a:rPr lang="en-US" sz="1400" spc="0" kern="0" b="0" i="0" dirty="0">
                  <a:solidFill>
                    <a:srgbClr val="FFFFFF"/>
                  </a:solidFill>
                  <a:latin typeface="IBM Plex Sans"/>
                  <a:ea typeface="IBM Plex Sans"/>
                  <a:cs typeface="IBM Plex Sans"/>
                </a:rPr>
                <a:t>Optimize</a:t>
              </a:r>
              <a:endParaRPr lang="en-US" sz="1400" spc="0" kern="0" b="0" i="0" dirty="0">
                <a:solidFill>
                  <a:srgbClr val="FFFFFF"/>
                </a:solidFill>
                <a:latin typeface="IBM Plex Sans"/>
                <a:ea typeface="IBM Plex Sans"/>
                <a:cs typeface="IBM Plex Sans"/>
              </a:endParaRPr>
            </a:p>
          </p:txBody>
        </p:sp>
      </p:grpSp>
      <p:grpSp>
        <p:nvGrpSpPr>
          <p:cNvPr id="84" name="gate5"/>
          <p:cNvGrpSpPr/>
          <p:nvPr/>
        </p:nvGrpSpPr>
        <p:grpSpPr>
          <a:xfrm>
            <a:off x="9982200" y="2057400"/>
            <a:ext cx="1447800" cy="381000"/>
            <a:chOff x="9982200" y="2057400"/>
            <a:chExt cx="1447800" cy="381000"/>
          </a:xfrm>
        </p:grpSpPr>
        <p:sp>
          <p:nvSpPr>
            <p:cNvPr id="31" name="gate5.text"/>
            <p:cNvSpPr/>
            <p:nvPr/>
          </p:nvSpPr>
          <p:spPr>
            <a:xfrm>
              <a:off x="9982200" y="2057400"/>
              <a:ext cx="14478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Post-launch review · G6</a:t>
              </a:r>
              <a:endParaRPr lang="en-US" sz="900" spc="0" kern="0" b="0" i="0" dirty="0">
                <a:solidFill>
                  <a:srgbClr val="50658E"/>
                </a:solidFill>
                <a:latin typeface="IBM Plex Sans"/>
                <a:ea typeface="IBM Plex Sans"/>
                <a:cs typeface="IBM Plex Sans"/>
              </a:endParaRPr>
            </a:p>
          </p:txBody>
        </p:sp>
      </p:grpSp>
      <p:grpSp>
        <p:nvGrpSpPr>
          <p:cNvPr id="85" name="practice5"/>
          <p:cNvGrpSpPr/>
          <p:nvPr/>
        </p:nvGrpSpPr>
        <p:grpSpPr>
          <a:xfrm>
            <a:off x="9982200" y="2438400"/>
            <a:ext cx="1447800" cy="342900"/>
            <a:chOff x="9982200" y="2438400"/>
            <a:chExt cx="1447800" cy="342900"/>
          </a:xfrm>
        </p:grpSpPr>
        <p:sp>
          <p:nvSpPr>
            <p:cNvPr id="32" name="practice5.text"/>
            <p:cNvSpPr/>
            <p:nvPr/>
          </p:nvSpPr>
          <p:spPr>
            <a:xfrm>
              <a:off x="9982200" y="2438400"/>
              <a:ext cx="14478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Measurement and feedback</a:t>
              </a:r>
              <a:endParaRPr lang="en-US" sz="900" spc="0" kern="0" b="0" i="0" dirty="0">
                <a:solidFill>
                  <a:srgbClr val="070154"/>
                </a:solidFill>
                <a:latin typeface="IBM Plex Sans"/>
                <a:ea typeface="IBM Plex Sans"/>
                <a:cs typeface="IBM Plex Sans"/>
              </a:endParaRPr>
            </a:p>
          </p:txBody>
        </p:sp>
      </p:grpSp>
      <p:grpSp>
        <p:nvGrpSpPr>
          <p:cNvPr id="86" name="gate-label"/>
          <p:cNvGrpSpPr/>
          <p:nvPr/>
        </p:nvGrpSpPr>
        <p:grpSpPr>
          <a:xfrm>
            <a:off x="723900" y="2057400"/>
            <a:ext cx="1752600" cy="381000"/>
            <a:chOff x="723900" y="2057400"/>
            <a:chExt cx="1752600" cy="381000"/>
          </a:xfrm>
        </p:grpSpPr>
        <p:sp>
          <p:nvSpPr>
            <p:cNvPr id="33" name="gate-label.text"/>
            <p:cNvSpPr/>
            <p:nvPr/>
          </p:nvSpPr>
          <p:spPr>
            <a:xfrm>
              <a:off x="723900" y="2057400"/>
              <a:ext cx="1752600" cy="381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50658E"/>
                  </a:solidFill>
                  <a:latin typeface="IBM Plex Sans"/>
                  <a:ea typeface="IBM Plex Sans"/>
                  <a:cs typeface="IBM Plex Sans"/>
                </a:rPr>
                <a:t>DXC Concord gates</a:t>
              </a:r>
              <a:endParaRPr lang="en-US" sz="900" spc="0" kern="0" b="0" i="0" dirty="0">
                <a:solidFill>
                  <a:srgbClr val="50658E"/>
                </a:solidFill>
                <a:latin typeface="IBM Plex Sans"/>
                <a:ea typeface="IBM Plex Sans"/>
                <a:cs typeface="IBM Plex Sans"/>
              </a:endParaRPr>
            </a:p>
          </p:txBody>
        </p:sp>
      </p:grpSp>
      <p:grpSp>
        <p:nvGrpSpPr>
          <p:cNvPr id="87" name="practice-label"/>
          <p:cNvGrpSpPr/>
          <p:nvPr/>
        </p:nvGrpSpPr>
        <p:grpSpPr>
          <a:xfrm>
            <a:off x="723900" y="2438400"/>
            <a:ext cx="1752600" cy="342900"/>
            <a:chOff x="723900" y="2438400"/>
            <a:chExt cx="1752600" cy="342900"/>
          </a:xfrm>
        </p:grpSpPr>
        <p:sp>
          <p:nvSpPr>
            <p:cNvPr id="34" name="practice-label.text"/>
            <p:cNvSpPr/>
            <p:nvPr/>
          </p:nvSpPr>
          <p:spPr>
            <a:xfrm>
              <a:off x="723900" y="2438400"/>
              <a:ext cx="1752600" cy="342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Practices Map</a:t>
              </a:r>
              <a:endParaRPr lang="en-US" sz="900" spc="0" kern="0" b="0" i="0" dirty="0">
                <a:solidFill>
                  <a:srgbClr val="070154"/>
                </a:solidFill>
                <a:latin typeface="IBM Plex Sans"/>
                <a:ea typeface="IBM Plex Sans"/>
                <a:cs typeface="IBM Plex Sans"/>
              </a:endParaRPr>
            </a:p>
          </p:txBody>
        </p:sp>
      </p:grpSp>
      <p:grpSp>
        <p:nvGrpSpPr>
          <p:cNvPr id="88" name="artifact0"/>
          <p:cNvGrpSpPr/>
          <p:nvPr/>
        </p:nvGrpSpPr>
        <p:grpSpPr>
          <a:xfrm>
            <a:off x="723900" y="2857500"/>
            <a:ext cx="1752600" cy="342900"/>
            <a:chOff x="723900" y="2857500"/>
            <a:chExt cx="1752600" cy="342900"/>
          </a:xfrm>
        </p:grpSpPr>
        <p:sp>
          <p:nvSpPr>
            <p:cNvPr id="35" name="artifact0.surface"/>
            <p:cNvSpPr/>
            <p:nvPr/>
          </p:nvSpPr>
          <p:spPr>
            <a:xfrm>
              <a:off x="723900" y="2857500"/>
              <a:ext cx="1752600" cy="342900"/>
            </a:xfrm>
            <a:prstGeom prst="rect">
              <a:avLst/>
            </a:prstGeom>
            <a:solidFill>
              <a:srgbClr val="E8EEF8"/>
            </a:solidFill>
            <a:ln>
              <a:noFill/>
            </a:ln>
          </p:spPr>
        </p:sp>
        <p:sp>
          <p:nvSpPr>
            <p:cNvPr id="36" name="artifact0.text"/>
            <p:cNvSpPr/>
            <p:nvPr/>
          </p:nvSpPr>
          <p:spPr>
            <a:xfrm>
              <a:off x="876300" y="2952750"/>
              <a:ext cx="1447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01 Opportunity Brief</a:t>
              </a:r>
              <a:endParaRPr lang="en-US" sz="900" spc="0" kern="0" b="0" i="0" dirty="0">
                <a:solidFill>
                  <a:srgbClr val="070154"/>
                </a:solidFill>
                <a:latin typeface="IBM Plex Sans"/>
                <a:ea typeface="IBM Plex Sans"/>
                <a:cs typeface="IBM Plex Sans"/>
              </a:endParaRPr>
            </a:p>
          </p:txBody>
        </p:sp>
      </p:grpSp>
      <p:grpSp>
        <p:nvGrpSpPr>
          <p:cNvPr id="89" name="review0"/>
          <p:cNvGrpSpPr/>
          <p:nvPr/>
        </p:nvGrpSpPr>
        <p:grpSpPr>
          <a:xfrm>
            <a:off x="2552700" y="2857500"/>
            <a:ext cx="1447800" cy="342900"/>
            <a:chOff x="2552700" y="2857500"/>
            <a:chExt cx="1447800" cy="342900"/>
          </a:xfrm>
        </p:grpSpPr>
        <p:sp>
          <p:nvSpPr>
            <p:cNvPr id="37" name="review0.surface"/>
            <p:cNvSpPr/>
            <p:nvPr/>
          </p:nvSpPr>
          <p:spPr>
            <a:xfrm>
              <a:off x="2552700" y="2857500"/>
              <a:ext cx="1447800" cy="342900"/>
            </a:xfrm>
            <a:prstGeom prst="rect">
              <a:avLst/>
            </a:prstGeom>
            <a:solidFill>
              <a:srgbClr val="070154"/>
            </a:solidFill>
            <a:ln>
              <a:noFill/>
            </a:ln>
          </p:spPr>
        </p:sp>
        <p:sp>
          <p:nvSpPr>
            <p:cNvPr id="38" name="review0.text"/>
            <p:cNvSpPr/>
            <p:nvPr/>
          </p:nvSpPr>
          <p:spPr>
            <a:xfrm>
              <a:off x="2705100" y="2876550"/>
              <a:ext cx="1143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   Senior leader: worth defining?</a:t>
              </a:r>
              <a:endParaRPr lang="en-US" sz="900" spc="0" kern="0" b="0" i="0" dirty="0">
                <a:solidFill>
                  <a:srgbClr val="FFFFFF"/>
                </a:solidFill>
                <a:latin typeface="IBM Plex Sans"/>
                <a:ea typeface="IBM Plex Sans"/>
                <a:cs typeface="IBM Plex Sans"/>
              </a:endParaRPr>
            </a:p>
          </p:txBody>
        </p:sp>
      </p:grpSp>
      <p:grpSp>
        <p:nvGrpSpPr>
          <p:cNvPr id="90" name="artifact1"/>
          <p:cNvGrpSpPr/>
          <p:nvPr/>
        </p:nvGrpSpPr>
        <p:grpSpPr>
          <a:xfrm>
            <a:off x="723900" y="3238500"/>
            <a:ext cx="1752600" cy="342900"/>
            <a:chOff x="723900" y="3238500"/>
            <a:chExt cx="1752600" cy="342900"/>
          </a:xfrm>
        </p:grpSpPr>
        <p:sp>
          <p:nvSpPr>
            <p:cNvPr id="39" name="artifact1.surface"/>
            <p:cNvSpPr/>
            <p:nvPr/>
          </p:nvSpPr>
          <p:spPr>
            <a:xfrm>
              <a:off x="723900" y="3238500"/>
              <a:ext cx="1752600" cy="342900"/>
            </a:xfrm>
            <a:prstGeom prst="rect">
              <a:avLst/>
            </a:prstGeom>
            <a:solidFill>
              <a:srgbClr val="E8EEF8"/>
            </a:solidFill>
            <a:ln>
              <a:noFill/>
            </a:ln>
          </p:spPr>
        </p:sp>
        <p:sp>
          <p:nvSpPr>
            <p:cNvPr id="40" name="artifact1.text"/>
            <p:cNvSpPr/>
            <p:nvPr/>
          </p:nvSpPr>
          <p:spPr>
            <a:xfrm>
              <a:off x="876300" y="3333750"/>
              <a:ext cx="1447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02 Product Brief</a:t>
              </a:r>
              <a:endParaRPr lang="en-US" sz="900" spc="0" kern="0" b="0" i="0" dirty="0">
                <a:solidFill>
                  <a:srgbClr val="070154"/>
                </a:solidFill>
                <a:latin typeface="IBM Plex Sans"/>
                <a:ea typeface="IBM Plex Sans"/>
                <a:cs typeface="IBM Plex Sans"/>
              </a:endParaRPr>
            </a:p>
          </p:txBody>
        </p:sp>
      </p:grpSp>
      <p:grpSp>
        <p:nvGrpSpPr>
          <p:cNvPr id="91" name="review1"/>
          <p:cNvGrpSpPr/>
          <p:nvPr/>
        </p:nvGrpSpPr>
        <p:grpSpPr>
          <a:xfrm>
            <a:off x="4038600" y="3238500"/>
            <a:ext cx="1447800" cy="342900"/>
            <a:chOff x="4038600" y="3238500"/>
            <a:chExt cx="1447800" cy="342900"/>
          </a:xfrm>
        </p:grpSpPr>
        <p:sp>
          <p:nvSpPr>
            <p:cNvPr id="41" name="review1.surface"/>
            <p:cNvSpPr/>
            <p:nvPr/>
          </p:nvSpPr>
          <p:spPr>
            <a:xfrm>
              <a:off x="4038600" y="3238500"/>
              <a:ext cx="1447800" cy="342900"/>
            </a:xfrm>
            <a:prstGeom prst="rect">
              <a:avLst/>
            </a:prstGeom>
            <a:solidFill>
              <a:srgbClr val="070154"/>
            </a:solidFill>
            <a:ln>
              <a:noFill/>
            </a:ln>
          </p:spPr>
        </p:sp>
        <p:sp>
          <p:nvSpPr>
            <p:cNvPr id="42" name="review1.text"/>
            <p:cNvSpPr/>
            <p:nvPr/>
          </p:nvSpPr>
          <p:spPr>
            <a:xfrm>
              <a:off x="4191000" y="3257550"/>
              <a:ext cx="1143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   Senior leader approves direction</a:t>
              </a:r>
              <a:endParaRPr lang="en-US" sz="900" spc="0" kern="0" b="0" i="0" dirty="0">
                <a:solidFill>
                  <a:srgbClr val="FFFFFF"/>
                </a:solidFill>
                <a:latin typeface="IBM Plex Sans"/>
                <a:ea typeface="IBM Plex Sans"/>
                <a:cs typeface="IBM Plex Sans"/>
              </a:endParaRPr>
            </a:p>
          </p:txBody>
        </p:sp>
      </p:grpSp>
      <p:grpSp>
        <p:nvGrpSpPr>
          <p:cNvPr id="92" name="artifact2"/>
          <p:cNvGrpSpPr/>
          <p:nvPr/>
        </p:nvGrpSpPr>
        <p:grpSpPr>
          <a:xfrm>
            <a:off x="723900" y="3619500"/>
            <a:ext cx="1752600" cy="342900"/>
            <a:chOff x="723900" y="3619500"/>
            <a:chExt cx="1752600" cy="342900"/>
          </a:xfrm>
        </p:grpSpPr>
        <p:sp>
          <p:nvSpPr>
            <p:cNvPr id="43" name="artifact2.surface"/>
            <p:cNvSpPr/>
            <p:nvPr/>
          </p:nvSpPr>
          <p:spPr>
            <a:xfrm>
              <a:off x="723900" y="3619500"/>
              <a:ext cx="1752600" cy="342900"/>
            </a:xfrm>
            <a:prstGeom prst="rect">
              <a:avLst/>
            </a:prstGeom>
            <a:solidFill>
              <a:srgbClr val="E8EEF8"/>
            </a:solidFill>
            <a:ln>
              <a:noFill/>
            </a:ln>
          </p:spPr>
        </p:sp>
        <p:sp>
          <p:nvSpPr>
            <p:cNvPr id="44" name="artifact2.text"/>
            <p:cNvSpPr/>
            <p:nvPr/>
          </p:nvSpPr>
          <p:spPr>
            <a:xfrm>
              <a:off x="876300" y="3714750"/>
              <a:ext cx="14478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03 Feature Brief</a:t>
              </a:r>
              <a:endParaRPr lang="en-US" sz="900" spc="0" kern="0" b="0" i="0" dirty="0">
                <a:solidFill>
                  <a:srgbClr val="070154"/>
                </a:solidFill>
                <a:latin typeface="IBM Plex Sans"/>
                <a:ea typeface="IBM Plex Sans"/>
                <a:cs typeface="IBM Plex Sans"/>
              </a:endParaRPr>
            </a:p>
          </p:txBody>
        </p:sp>
      </p:grpSp>
      <p:grpSp>
        <p:nvGrpSpPr>
          <p:cNvPr id="93" name="review2"/>
          <p:cNvGrpSpPr/>
          <p:nvPr/>
        </p:nvGrpSpPr>
        <p:grpSpPr>
          <a:xfrm>
            <a:off x="4038600" y="3619500"/>
            <a:ext cx="2933700" cy="342900"/>
            <a:chOff x="4038600" y="3619500"/>
            <a:chExt cx="2933700" cy="342900"/>
          </a:xfrm>
        </p:grpSpPr>
        <p:sp>
          <p:nvSpPr>
            <p:cNvPr id="45" name="review2.surface"/>
            <p:cNvSpPr/>
            <p:nvPr/>
          </p:nvSpPr>
          <p:spPr>
            <a:xfrm>
              <a:off x="4038600" y="3619500"/>
              <a:ext cx="2933700" cy="342900"/>
            </a:xfrm>
            <a:prstGeom prst="rect">
              <a:avLst/>
            </a:prstGeom>
            <a:solidFill>
              <a:srgbClr val="070154"/>
            </a:solidFill>
            <a:ln>
              <a:noFill/>
            </a:ln>
          </p:spPr>
        </p:sp>
        <p:sp>
          <p:nvSpPr>
            <p:cNvPr id="46" name="review2.text"/>
            <p:cNvSpPr/>
            <p:nvPr/>
          </p:nvSpPr>
          <p:spPr>
            <a:xfrm>
              <a:off x="4191000" y="3638550"/>
              <a:ext cx="26289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   Product, Engineering, and QA or Design: ready to build</a:t>
              </a:r>
              <a:endParaRPr lang="en-US" sz="900" spc="0" kern="0" b="0" i="0" dirty="0">
                <a:solidFill>
                  <a:srgbClr val="FFFFFF"/>
                </a:solidFill>
                <a:latin typeface="IBM Plex Sans"/>
                <a:ea typeface="IBM Plex Sans"/>
                <a:cs typeface="IBM Plex Sans"/>
              </a:endParaRPr>
            </a:p>
          </p:txBody>
        </p:sp>
      </p:grpSp>
      <p:grpSp>
        <p:nvGrpSpPr>
          <p:cNvPr id="94" name="artifact3"/>
          <p:cNvGrpSpPr/>
          <p:nvPr/>
        </p:nvGrpSpPr>
        <p:grpSpPr>
          <a:xfrm>
            <a:off x="723900" y="4000500"/>
            <a:ext cx="1752600" cy="342900"/>
            <a:chOff x="723900" y="4000500"/>
            <a:chExt cx="1752600" cy="342900"/>
          </a:xfrm>
        </p:grpSpPr>
        <p:sp>
          <p:nvSpPr>
            <p:cNvPr id="47" name="artifact3.surface"/>
            <p:cNvSpPr/>
            <p:nvPr/>
          </p:nvSpPr>
          <p:spPr>
            <a:xfrm>
              <a:off x="723900" y="4000500"/>
              <a:ext cx="1752600" cy="342900"/>
            </a:xfrm>
            <a:prstGeom prst="rect">
              <a:avLst/>
            </a:prstGeom>
            <a:solidFill>
              <a:srgbClr val="E8EEF8"/>
            </a:solidFill>
            <a:ln>
              <a:noFill/>
            </a:ln>
          </p:spPr>
        </p:sp>
        <p:sp>
          <p:nvSpPr>
            <p:cNvPr id="48" name="artifact3.text"/>
            <p:cNvSpPr/>
            <p:nvPr/>
          </p:nvSpPr>
          <p:spPr>
            <a:xfrm>
              <a:off x="876300" y="4019550"/>
              <a:ext cx="1447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04 Technical Implementation Plan</a:t>
              </a:r>
              <a:endParaRPr lang="en-US" sz="900" spc="0" kern="0" b="0" i="0" dirty="0">
                <a:solidFill>
                  <a:srgbClr val="070154"/>
                </a:solidFill>
                <a:latin typeface="IBM Plex Sans"/>
                <a:ea typeface="IBM Plex Sans"/>
                <a:cs typeface="IBM Plex Sans"/>
              </a:endParaRPr>
            </a:p>
          </p:txBody>
        </p:sp>
      </p:grpSp>
      <p:grpSp>
        <p:nvGrpSpPr>
          <p:cNvPr id="95" name="review3"/>
          <p:cNvGrpSpPr/>
          <p:nvPr/>
        </p:nvGrpSpPr>
        <p:grpSpPr>
          <a:xfrm>
            <a:off x="5524500" y="4000500"/>
            <a:ext cx="1447800" cy="342900"/>
            <a:chOff x="5524500" y="4000500"/>
            <a:chExt cx="1447800" cy="342900"/>
          </a:xfrm>
        </p:grpSpPr>
        <p:sp>
          <p:nvSpPr>
            <p:cNvPr id="49" name="review3.surface"/>
            <p:cNvSpPr/>
            <p:nvPr/>
          </p:nvSpPr>
          <p:spPr>
            <a:xfrm>
              <a:off x="5524500" y="4000500"/>
              <a:ext cx="1447800" cy="342900"/>
            </a:xfrm>
            <a:prstGeom prst="rect">
              <a:avLst/>
            </a:prstGeom>
            <a:solidFill>
              <a:srgbClr val="070154"/>
            </a:solidFill>
            <a:ln>
              <a:noFill/>
            </a:ln>
          </p:spPr>
        </p:sp>
        <p:sp>
          <p:nvSpPr>
            <p:cNvPr id="50" name="review3.text"/>
            <p:cNvSpPr/>
            <p:nvPr/>
          </p:nvSpPr>
          <p:spPr>
            <a:xfrm>
              <a:off x="5676900" y="4019550"/>
              <a:ext cx="11430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Eng + reviewers</a:t>
              </a:r>
              <a:endParaRPr lang="en-US" sz="900" spc="0" kern="0" b="0" i="0" dirty="0">
                <a:solidFill>
                  <a:srgbClr val="FFFFFF"/>
                </a:solidFill>
                <a:latin typeface="IBM Plex Sans"/>
                <a:ea typeface="IBM Plex Sans"/>
                <a:cs typeface="IBM Plex Sans"/>
              </a:endParaRPr>
            </a:p>
            <a:p>
              <a:pPr algn="l" indent="0" marL="0">
                <a:lnSpc>
                  <a:spcPts val="1200"/>
                </a:lnSpc>
                <a:buNone/>
              </a:pPr>
              <a:r>
                <a:rPr lang="en-US" sz="900" spc="0" kern="0" b="0" i="0" dirty="0">
                  <a:solidFill>
                    <a:srgbClr val="FFFFFF"/>
                  </a:solidFill>
                  <a:latin typeface="IBM Plex Sans"/>
                  <a:ea typeface="IBM Plex Sans"/>
                  <a:cs typeface="IBM Plex Sans"/>
                </a:rPr>
                <a:t>Ready to execute</a:t>
              </a:r>
              <a:endParaRPr lang="en-US" sz="900" spc="0" kern="0" b="0" i="0" dirty="0">
                <a:solidFill>
                  <a:srgbClr val="FFFFFF"/>
                </a:solidFill>
                <a:latin typeface="IBM Plex Sans"/>
                <a:ea typeface="IBM Plex Sans"/>
                <a:cs typeface="IBM Plex Sans"/>
              </a:endParaRPr>
            </a:p>
          </p:txBody>
        </p:sp>
      </p:grpSp>
      <p:grpSp>
        <p:nvGrpSpPr>
          <p:cNvPr id="96" name="artifact4"/>
          <p:cNvGrpSpPr/>
          <p:nvPr/>
        </p:nvGrpSpPr>
        <p:grpSpPr>
          <a:xfrm>
            <a:off x="723900" y="4381500"/>
            <a:ext cx="1752600" cy="342900"/>
            <a:chOff x="723900" y="4381500"/>
            <a:chExt cx="1752600" cy="342900"/>
          </a:xfrm>
        </p:grpSpPr>
        <p:sp>
          <p:nvSpPr>
            <p:cNvPr id="51" name="artifact4.surface"/>
            <p:cNvSpPr/>
            <p:nvPr/>
          </p:nvSpPr>
          <p:spPr>
            <a:xfrm>
              <a:off x="723900" y="4381500"/>
              <a:ext cx="1752600" cy="342900"/>
            </a:xfrm>
            <a:prstGeom prst="rect">
              <a:avLst/>
            </a:prstGeom>
            <a:solidFill>
              <a:srgbClr val="E8EEF8"/>
            </a:solidFill>
            <a:ln>
              <a:noFill/>
            </a:ln>
          </p:spPr>
        </p:sp>
        <p:sp>
          <p:nvSpPr>
            <p:cNvPr id="52" name="artifact4.text"/>
            <p:cNvSpPr/>
            <p:nvPr/>
          </p:nvSpPr>
          <p:spPr>
            <a:xfrm>
              <a:off x="876300" y="4400550"/>
              <a:ext cx="1447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05 Testing, QA, and UAT Plan</a:t>
              </a:r>
              <a:endParaRPr lang="en-US" sz="900" spc="0" kern="0" b="0" i="0" dirty="0">
                <a:solidFill>
                  <a:srgbClr val="070154"/>
                </a:solidFill>
                <a:latin typeface="IBM Plex Sans"/>
                <a:ea typeface="IBM Plex Sans"/>
                <a:cs typeface="IBM Plex Sans"/>
              </a:endParaRPr>
            </a:p>
          </p:txBody>
        </p:sp>
      </p:grpSp>
      <p:grpSp>
        <p:nvGrpSpPr>
          <p:cNvPr id="97" name="review4"/>
          <p:cNvGrpSpPr/>
          <p:nvPr/>
        </p:nvGrpSpPr>
        <p:grpSpPr>
          <a:xfrm>
            <a:off x="4038600" y="4381500"/>
            <a:ext cx="4419600" cy="342900"/>
            <a:chOff x="4038600" y="4381500"/>
            <a:chExt cx="4419600" cy="342900"/>
          </a:xfrm>
        </p:grpSpPr>
        <p:sp>
          <p:nvSpPr>
            <p:cNvPr id="53" name="review4.surface"/>
            <p:cNvSpPr/>
            <p:nvPr/>
          </p:nvSpPr>
          <p:spPr>
            <a:xfrm>
              <a:off x="4038600" y="4381500"/>
              <a:ext cx="4419600" cy="342900"/>
            </a:xfrm>
            <a:prstGeom prst="rect">
              <a:avLst/>
            </a:prstGeom>
            <a:solidFill>
              <a:srgbClr val="CED7E6"/>
            </a:solidFill>
            <a:ln>
              <a:noFill/>
            </a:ln>
          </p:spPr>
        </p:sp>
        <p:sp>
          <p:nvSpPr>
            <p:cNvPr id="54" name="review4.text"/>
            <p:cNvSpPr/>
            <p:nvPr/>
          </p:nvSpPr>
          <p:spPr>
            <a:xfrm>
              <a:off x="4191000" y="4400550"/>
              <a:ext cx="4114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Define → Release · Test evidence supports release readiness; Product accepts UAT</a:t>
              </a:r>
              <a:endParaRPr lang="en-US" sz="900" spc="0" kern="0" b="0" i="0" dirty="0">
                <a:solidFill>
                  <a:srgbClr val="070154"/>
                </a:solidFill>
                <a:latin typeface="IBM Plex Sans"/>
                <a:ea typeface="IBM Plex Sans"/>
                <a:cs typeface="IBM Plex Sans"/>
              </a:endParaRPr>
            </a:p>
          </p:txBody>
        </p:sp>
      </p:grpSp>
      <p:grpSp>
        <p:nvGrpSpPr>
          <p:cNvPr id="98" name="artifact5"/>
          <p:cNvGrpSpPr/>
          <p:nvPr/>
        </p:nvGrpSpPr>
        <p:grpSpPr>
          <a:xfrm>
            <a:off x="723900" y="4762500"/>
            <a:ext cx="1752600" cy="342900"/>
            <a:chOff x="723900" y="4762500"/>
            <a:chExt cx="1752600" cy="342900"/>
          </a:xfrm>
        </p:grpSpPr>
        <p:sp>
          <p:nvSpPr>
            <p:cNvPr id="55" name="artifact5.surface"/>
            <p:cNvSpPr/>
            <p:nvPr/>
          </p:nvSpPr>
          <p:spPr>
            <a:xfrm>
              <a:off x="723900" y="4762500"/>
              <a:ext cx="1752600" cy="342900"/>
            </a:xfrm>
            <a:prstGeom prst="rect">
              <a:avLst/>
            </a:prstGeom>
            <a:solidFill>
              <a:srgbClr val="E8EEF8"/>
            </a:solidFill>
            <a:ln>
              <a:noFill/>
            </a:ln>
          </p:spPr>
        </p:sp>
        <p:sp>
          <p:nvSpPr>
            <p:cNvPr id="56" name="artifact5.text"/>
            <p:cNvSpPr/>
            <p:nvPr/>
          </p:nvSpPr>
          <p:spPr>
            <a:xfrm>
              <a:off x="876300" y="4781550"/>
              <a:ext cx="14478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06 Initial Release and GTM Plan</a:t>
              </a:r>
              <a:endParaRPr lang="en-US" sz="900" spc="0" kern="0" b="0" i="0" dirty="0">
                <a:solidFill>
                  <a:srgbClr val="070154"/>
                </a:solidFill>
                <a:latin typeface="IBM Plex Sans"/>
                <a:ea typeface="IBM Plex Sans"/>
                <a:cs typeface="IBM Plex Sans"/>
              </a:endParaRPr>
            </a:p>
          </p:txBody>
        </p:sp>
      </p:grpSp>
      <p:grpSp>
        <p:nvGrpSpPr>
          <p:cNvPr id="99" name="review5"/>
          <p:cNvGrpSpPr/>
          <p:nvPr/>
        </p:nvGrpSpPr>
        <p:grpSpPr>
          <a:xfrm>
            <a:off x="4038600" y="4762500"/>
            <a:ext cx="7391400" cy="342900"/>
            <a:chOff x="4038600" y="4762500"/>
            <a:chExt cx="7391400" cy="342900"/>
          </a:xfrm>
        </p:grpSpPr>
        <p:sp>
          <p:nvSpPr>
            <p:cNvPr id="57" name="review5.surface"/>
            <p:cNvSpPr/>
            <p:nvPr/>
          </p:nvSpPr>
          <p:spPr>
            <a:xfrm>
              <a:off x="4038600" y="4762500"/>
              <a:ext cx="7391400" cy="342900"/>
            </a:xfrm>
            <a:prstGeom prst="rect">
              <a:avLst/>
            </a:prstGeom>
            <a:solidFill>
              <a:srgbClr val="CED7E6"/>
            </a:solidFill>
            <a:ln>
              <a:noFill/>
            </a:ln>
          </p:spPr>
        </p:sp>
        <p:sp>
          <p:nvSpPr>
            <p:cNvPr id="58" name="review5.text"/>
            <p:cNvSpPr/>
            <p:nvPr/>
          </p:nvSpPr>
          <p:spPr>
            <a:xfrm>
              <a:off x="4191000" y="4857750"/>
              <a:ext cx="70866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Starts in Define  ·     Go, Revise, Hold, or Stop per phase; expansion is a new decision in Optimize</a:t>
              </a:r>
              <a:endParaRPr lang="en-US" sz="900" spc="0" kern="0" b="0" i="0" dirty="0">
                <a:solidFill>
                  <a:srgbClr val="070154"/>
                </a:solidFill>
                <a:latin typeface="IBM Plex Sans"/>
                <a:ea typeface="IBM Plex Sans"/>
                <a:cs typeface="IBM Plex Sans"/>
              </a:endParaRPr>
            </a:p>
          </p:txBody>
        </p:sp>
      </p:grpSp>
      <p:grpSp>
        <p:nvGrpSpPr>
          <p:cNvPr id="100" name="ai-label"/>
          <p:cNvGrpSpPr/>
          <p:nvPr/>
        </p:nvGrpSpPr>
        <p:grpSpPr>
          <a:xfrm>
            <a:off x="723900" y="5105400"/>
            <a:ext cx="1752600" cy="533400"/>
            <a:chOff x="723900" y="5105400"/>
            <a:chExt cx="1752600" cy="533400"/>
          </a:xfrm>
        </p:grpSpPr>
        <p:sp>
          <p:nvSpPr>
            <p:cNvPr id="59" name="ai-label.text"/>
            <p:cNvSpPr/>
            <p:nvPr/>
          </p:nvSpPr>
          <p:spPr>
            <a:xfrm>
              <a:off x="723900" y="5105400"/>
              <a:ext cx="17526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047FF"/>
                  </a:solidFill>
                  <a:latin typeface="IBM Plex Sans"/>
                  <a:ea typeface="IBM Plex Sans"/>
                  <a:cs typeface="IBM Plex Sans"/>
                </a:rPr>
                <a:t>AI assistance today</a:t>
              </a:r>
              <a:endParaRPr lang="en-US" sz="900" spc="0" kern="0" b="0" i="0" dirty="0">
                <a:solidFill>
                  <a:srgbClr val="0047FF"/>
                </a:solidFill>
                <a:latin typeface="IBM Plex Sans"/>
                <a:ea typeface="IBM Plex Sans"/>
                <a:cs typeface="IBM Plex Sans"/>
              </a:endParaRPr>
            </a:p>
            <a:p>
              <a:pPr algn="l" indent="0" marL="0">
                <a:lnSpc>
                  <a:spcPts val="1200"/>
                </a:lnSpc>
                <a:buNone/>
              </a:pPr>
              <a:r>
                <a:rPr lang="en-US" sz="900" spc="0" kern="0" b="0" i="0" dirty="0">
                  <a:solidFill>
                    <a:srgbClr val="0047FF"/>
                  </a:solidFill>
                  <a:latin typeface="IBM Plex Sans"/>
                  <a:ea typeface="IBM Plex Sans"/>
                  <a:cs typeface="IBM Plex Sans"/>
                </a:rPr>
                <a:t>Human review required</a:t>
              </a:r>
              <a:endParaRPr lang="en-US" sz="900" spc="0" kern="0" b="0" i="0" dirty="0">
                <a:solidFill>
                  <a:srgbClr val="0047FF"/>
                </a:solidFill>
                <a:latin typeface="IBM Plex Sans"/>
                <a:ea typeface="IBM Plex Sans"/>
                <a:cs typeface="IBM Plex Sans"/>
              </a:endParaRPr>
            </a:p>
          </p:txBody>
        </p:sp>
      </p:grpSp>
      <p:grpSp>
        <p:nvGrpSpPr>
          <p:cNvPr id="101" name="ai-build"/>
          <p:cNvGrpSpPr/>
          <p:nvPr/>
        </p:nvGrpSpPr>
        <p:grpSpPr>
          <a:xfrm>
            <a:off x="5524500" y="5105400"/>
            <a:ext cx="1447800" cy="533400"/>
            <a:chOff x="5524500" y="5105400"/>
            <a:chExt cx="1447800" cy="533400"/>
          </a:xfrm>
        </p:grpSpPr>
        <p:sp>
          <p:nvSpPr>
            <p:cNvPr id="60" name="ai-build.text"/>
            <p:cNvSpPr/>
            <p:nvPr/>
          </p:nvSpPr>
          <p:spPr>
            <a:xfrm>
              <a:off x="5524500" y="5105400"/>
              <a:ext cx="14478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Recon agents: spec/story/tests. QA: Claude tests/diagnosis.</a:t>
              </a:r>
              <a:endParaRPr lang="en-US" sz="900" spc="0" kern="0" b="0" i="0" dirty="0">
                <a:solidFill>
                  <a:srgbClr val="070154"/>
                </a:solidFill>
                <a:latin typeface="IBM Plex Sans"/>
                <a:ea typeface="IBM Plex Sans"/>
                <a:cs typeface="IBM Plex Sans"/>
              </a:endParaRPr>
            </a:p>
          </p:txBody>
        </p:sp>
      </p:grpSp>
      <p:grpSp>
        <p:nvGrpSpPr>
          <p:cNvPr id="102" name="ai-release"/>
          <p:cNvGrpSpPr/>
          <p:nvPr/>
        </p:nvGrpSpPr>
        <p:grpSpPr>
          <a:xfrm>
            <a:off x="7010400" y="5105400"/>
            <a:ext cx="1447800" cy="533400"/>
            <a:chOff x="7010400" y="5105400"/>
            <a:chExt cx="1447800" cy="533400"/>
          </a:xfrm>
        </p:grpSpPr>
        <p:sp>
          <p:nvSpPr>
            <p:cNvPr id="61" name="ai-release.text"/>
            <p:cNvSpPr/>
            <p:nvPr/>
          </p:nvSpPr>
          <p:spPr>
            <a:xfrm>
              <a:off x="7010400" y="5105400"/>
              <a:ext cx="14478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Report: test → spec.</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Release Agent paused;</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drafts release notes.</a:t>
              </a:r>
              <a:endParaRPr lang="en-US" sz="900" spc="0" kern="0" b="0" i="0" dirty="0">
                <a:solidFill>
                  <a:srgbClr val="070154"/>
                </a:solidFill>
                <a:latin typeface="IBM Plex Sans"/>
                <a:ea typeface="IBM Plex Sans"/>
                <a:cs typeface="IBM Plex Sans"/>
              </a:endParaRPr>
            </a:p>
          </p:txBody>
        </p:sp>
      </p:grpSp>
      <p:grpSp>
        <p:nvGrpSpPr>
          <p:cNvPr id="103" name="rules"/>
          <p:cNvGrpSpPr/>
          <p:nvPr/>
        </p:nvGrpSpPr>
        <p:grpSpPr>
          <a:xfrm>
            <a:off x="723900" y="5715000"/>
            <a:ext cx="10744200" cy="457200"/>
            <a:chOff x="723900" y="5715000"/>
            <a:chExt cx="10744200" cy="457200"/>
          </a:xfrm>
        </p:grpSpPr>
        <p:sp>
          <p:nvSpPr>
            <p:cNvPr id="62" name="rules.surface"/>
            <p:cNvSpPr/>
            <p:nvPr/>
          </p:nvSpPr>
          <p:spPr>
            <a:xfrm>
              <a:off x="723900" y="5715000"/>
              <a:ext cx="10744200" cy="457200"/>
            </a:xfrm>
            <a:prstGeom prst="rect">
              <a:avLst/>
            </a:prstGeom>
            <a:solidFill>
              <a:srgbClr val="E8EEF8"/>
            </a:solidFill>
            <a:ln>
              <a:noFill/>
            </a:ln>
          </p:spPr>
        </p:sp>
        <p:sp>
          <p:nvSpPr>
            <p:cNvPr id="63" name="rules.text"/>
            <p:cNvSpPr/>
            <p:nvPr/>
          </p:nvSpPr>
          <p:spPr>
            <a:xfrm>
              <a:off x="876300" y="5867400"/>
              <a:ext cx="104394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Reviews end in Approve, Revise, Hold or Stop. Link Jira, design and tests. Unknowns retain an owner/date. Product + Engineering agree before customer, scope or date commitments.</a:t>
              </a:r>
              <a:endParaRPr lang="en-US" sz="900" spc="0" kern="0" b="0" i="0" dirty="0">
                <a:solidFill>
                  <a:srgbClr val="070154"/>
                </a:solidFill>
                <a:latin typeface="IBM Plex Sans"/>
                <a:ea typeface="IBM Plex Sans"/>
                <a:cs typeface="IBM Plex Sans"/>
              </a:endParaRPr>
            </a:p>
          </p:txBody>
        </p:sp>
      </p:grpSp>
      <p:grpSp>
        <p:nvGrpSpPr>
          <p:cNvPr id="104" name="client-brand"/>
          <p:cNvGrpSpPr/>
          <p:nvPr/>
        </p:nvGrpSpPr>
        <p:grpSpPr>
          <a:xfrm>
            <a:off x="10382250" y="457200"/>
            <a:ext cx="1028700" cy="457200"/>
            <a:chOff x="10382250" y="457200"/>
            <a:chExt cx="1028700" cy="457200"/>
          </a:xfrm>
        </p:grpSpPr>
        <p:pic>
          <p:nvPicPr>
            <p:cNvPr id="64"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dxc-036">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36</a:t>
            </a:fld>
            <a:endParaRPr lang="en-US" sz="700" spc="0" kern="0" b="0" i="0" dirty="0">
              <a:solidFill>
                <a:srgbClr val="070154"/>
              </a:solidFill>
              <a:latin typeface="IBM Plex Mono SemiBold"/>
              <a:ea typeface="IBM Plex Mono SemiBold"/>
              <a:cs typeface="IBM Plex Mono SemiBold"/>
            </a:endParaRPr>
          </a:p>
        </p:txBody>
      </p:sp>
      <p:grpSp>
        <p:nvGrpSpPr>
          <p:cNvPr id="12" name="ownership"/>
          <p:cNvGrpSpPr/>
          <p:nvPr/>
        </p:nvGrpSpPr>
        <p:grpSpPr>
          <a:xfrm>
            <a:off x="723900" y="2057400"/>
            <a:ext cx="10744200" cy="3213100"/>
            <a:chOff x="723900" y="2057400"/>
            <a:chExt cx="10744200" cy="3213100"/>
          </a:xfrm>
        </p:grpSpPr>
        <p:graphicFrame>
          <p:nvGraphicFramePr>
            <p:cNvPr id="5" name="ownership.native"/>
            <p:cNvGraphicFramePr>
              <a:graphicFrameLocks noGrp="1"/>
            </p:cNvGraphicFramePr>
            <p:nvPr>
              <p:extLst>
                <p:ext uri="{D42A27DB-BD31-4B8C-83A1-F6EECF244321}">
                  <p14:modId xmlns:p14="http://schemas.microsoft.com/office/powerpoint/2010/main" val="1579011935"/>
                </p:ext>
              </p:extLst>
            </p:nvPr>
          </p:nvGraphicFramePr>
          <p:xfrm>
            <a:off x="723900" y="2057400"/>
            <a:ext cx="10744200" cy="3213100"/>
          </p:xfrm>
          <a:graphic>
            <a:graphicData uri="http://schemas.openxmlformats.org/drawingml/2006/table">
              <a:tbl>
                <a:tblPr/>
                <a:tblGrid>
                  <a:gridCol w="2971800"/>
                  <a:gridCol w="1295400"/>
                  <a:gridCol w="1295400"/>
                  <a:gridCol w="1295400"/>
                  <a:gridCol w="1295400"/>
                  <a:gridCol w="1295400"/>
                  <a:gridCol w="1295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ROLE / STAKEHOLDER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OPPORTUNITY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PRODUCT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FEATURE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TECHNICAL PLAN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QA / UAT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RELEASE / GTM</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Manager / Product Lead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Business / Initiative Sponsor</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Owner / Delivery Lead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UX / Design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Engineering Lead / Architect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QA / UAT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Release / Operations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Sales / Customer Success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Leadership</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3" name="legend"/>
          <p:cNvGrpSpPr/>
          <p:nvPr/>
        </p:nvGrpSpPr>
        <p:grpSpPr>
          <a:xfrm>
            <a:off x="723900" y="1600200"/>
            <a:ext cx="10744200" cy="304800"/>
            <a:chOff x="723900" y="1600200"/>
            <a:chExt cx="10744200" cy="304800"/>
          </a:xfrm>
        </p:grpSpPr>
        <p:sp>
          <p:nvSpPr>
            <p:cNvPr id="6" name="legend.text"/>
            <p:cNvSpPr/>
            <p:nvPr/>
          </p:nvSpPr>
          <p:spPr>
            <a:xfrm>
              <a:off x="723900" y="1600200"/>
              <a:ext cx="107442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L · Lead   C · Contribute   A · Approve</a:t>
              </a:r>
              <a:endParaRPr lang="en-US" sz="1200" spc="0" kern="0" b="0" i="0" dirty="0">
                <a:solidFill>
                  <a:srgbClr val="0047FF"/>
                </a:solidFill>
                <a:latin typeface="IBM Plex Sans"/>
                <a:ea typeface="IBM Plex Sans"/>
                <a:cs typeface="IBM Plex Sans"/>
              </a:endParaRPr>
            </a:p>
          </p:txBody>
        </p:sp>
      </p:grpSp>
      <p:grpSp>
        <p:nvGrpSpPr>
          <p:cNvPr id="14" name="readiness"/>
          <p:cNvGrpSpPr/>
          <p:nvPr/>
        </p:nvGrpSpPr>
        <p:grpSpPr>
          <a:xfrm>
            <a:off x="723900" y="5410200"/>
            <a:ext cx="10744200" cy="533400"/>
            <a:chOff x="723900" y="5410200"/>
            <a:chExt cx="10744200" cy="533400"/>
          </a:xfrm>
        </p:grpSpPr>
        <p:sp>
          <p:nvSpPr>
            <p:cNvPr id="7" name="readiness.surface"/>
            <p:cNvSpPr/>
            <p:nvPr/>
          </p:nvSpPr>
          <p:spPr>
            <a:xfrm>
              <a:off x="723900" y="5410200"/>
              <a:ext cx="10744200" cy="533400"/>
            </a:xfrm>
            <a:prstGeom prst="rect">
              <a:avLst/>
            </a:prstGeom>
            <a:solidFill>
              <a:srgbClr val="E8EEF8"/>
            </a:solidFill>
            <a:ln>
              <a:noFill/>
            </a:ln>
          </p:spPr>
        </p:sp>
        <p:sp>
          <p:nvSpPr>
            <p:cNvPr id="8" name="readiness.text"/>
            <p:cNvSpPr/>
            <p:nvPr/>
          </p:nvSpPr>
          <p:spPr>
            <a:xfrm>
              <a:off x="876300" y="54483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Lead coordinates the artifact; contributors shape it; approvers decide readiness. Use these templates as decision points in the work, not documents completed after the fact.</a:t>
              </a:r>
              <a:endParaRPr lang="en-US" sz="1200" spc="0" kern="0" b="0" i="0" dirty="0">
                <a:solidFill>
                  <a:srgbClr val="070154"/>
                </a:solidFill>
                <a:latin typeface="IBM Plex Sans"/>
                <a:ea typeface="IBM Plex Sans"/>
                <a:cs typeface="IBM Plex Sans"/>
              </a:endParaRPr>
            </a:p>
          </p:txBody>
        </p:sp>
      </p:grpSp>
      <p:grpSp>
        <p:nvGrpSpPr>
          <p:cNvPr id="15" name="authored-header"/>
          <p:cNvGrpSpPr/>
          <p:nvPr/>
        </p:nvGrpSpPr>
        <p:grpSpPr>
          <a:xfrm>
            <a:off x="723900" y="685800"/>
            <a:ext cx="9372600" cy="914400"/>
            <a:chOff x="723900" y="685800"/>
            <a:chExt cx="9372600" cy="914400"/>
          </a:xfrm>
        </p:grpSpPr>
        <p:sp>
          <p:nvSpPr>
            <p:cNvPr id="9"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Artifact ownership matrix</a:t>
              </a:r>
              <a:endParaRPr lang="en-US" sz="3200" spc="-64" kern="0" b="0" i="0" dirty="0">
                <a:solidFill>
                  <a:srgbClr val="070154"/>
                </a:solidFill>
                <a:latin typeface="IBM Plex Sans SemiBold"/>
                <a:ea typeface="IBM Plex Sans SemiBold"/>
                <a:cs typeface="IBM Plex Sans SemiBold"/>
              </a:endParaRPr>
            </a:p>
          </p:txBody>
        </p:sp>
      </p:grpSp>
      <p:grpSp>
        <p:nvGrpSpPr>
          <p:cNvPr id="16" name="authored-eyebrow"/>
          <p:cNvGrpSpPr/>
          <p:nvPr/>
        </p:nvGrpSpPr>
        <p:grpSpPr>
          <a:xfrm>
            <a:off x="723900" y="457200"/>
            <a:ext cx="9372600" cy="228600"/>
            <a:chOff x="723900" y="457200"/>
            <a:chExt cx="9372600" cy="228600"/>
          </a:xfrm>
        </p:grpSpPr>
        <p:sp>
          <p:nvSpPr>
            <p:cNvPr id="10"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RECOMMENDED ROLE MODEL</a:t>
              </a:r>
              <a:endParaRPr lang="en-US" sz="1000" spc="80" kern="0" b="0" i="0" dirty="0">
                <a:solidFill>
                  <a:srgbClr val="0047FF"/>
                </a:solidFill>
                <a:latin typeface="IBM Plex Mono SemiBold"/>
                <a:ea typeface="IBM Plex Mono SemiBold"/>
                <a:cs typeface="IBM Plex Mono SemiBold"/>
              </a:endParaRPr>
            </a:p>
          </p:txBody>
        </p:sp>
      </p:grpSp>
      <p:grpSp>
        <p:nvGrpSpPr>
          <p:cNvPr id="17" name="client-brand"/>
          <p:cNvGrpSpPr/>
          <p:nvPr/>
        </p:nvGrpSpPr>
        <p:grpSpPr>
          <a:xfrm>
            <a:off x="10382250" y="457200"/>
            <a:ext cx="1028700" cy="457200"/>
            <a:chOff x="10382250" y="457200"/>
            <a:chExt cx="1028700" cy="457200"/>
          </a:xfrm>
        </p:grpSpPr>
        <p:pic>
          <p:nvPicPr>
            <p:cNvPr id="11"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dxc-037">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FFFFFF"/>
                </a:solidFill>
                <a:latin typeface="IBM Plex Mono SemiBold"/>
                <a:ea typeface="IBM Plex Mono SemiBold"/>
                <a:cs typeface="IBM Plex Mono SemiBold"/>
              </a:rPr>
              <a:t>37</a:t>
            </a:fld>
            <a:endParaRPr lang="en-US" sz="700" spc="0" kern="0" b="0" i="0" dirty="0">
              <a:solidFill>
                <a:srgbClr val="FFFFFF"/>
              </a:solidFill>
              <a:latin typeface="IBM Plex Mono SemiBold"/>
              <a:ea typeface="IBM Plex Mono SemiBold"/>
              <a:cs typeface="IBM Plex Mono SemiBold"/>
            </a:endParaRPr>
          </a:p>
        </p:txBody>
      </p:sp>
      <p:grpSp>
        <p:nvGrpSpPr>
          <p:cNvPr id="11" name="section-title"/>
          <p:cNvGrpSpPr/>
          <p:nvPr/>
        </p:nvGrpSpPr>
        <p:grpSpPr>
          <a:xfrm>
            <a:off x="723900" y="2209800"/>
            <a:ext cx="6858000" cy="1828800"/>
            <a:chOff x="723900" y="2209800"/>
            <a:chExt cx="6858000" cy="1828800"/>
          </a:xfrm>
        </p:grpSpPr>
        <p:sp>
          <p:nvSpPr>
            <p:cNvPr id="5" name="section-title.text"/>
            <p:cNvSpPr/>
            <p:nvPr/>
          </p:nvSpPr>
          <p:spPr>
            <a:xfrm>
              <a:off x="723900" y="2209800"/>
              <a:ext cx="6858000" cy="1828800"/>
            </a:xfrm>
            <a:prstGeom prst="rect">
              <a:avLst/>
            </a:prstGeom>
            <a:noFill/>
            <a:ln/>
          </p:spPr>
          <p:txBody>
            <a:bodyPr wrap="square" lIns="0" tIns="0" rIns="0" bIns="0" rtlCol="0" anchor="t"/>
            <a:lstStyle/>
            <a:p>
              <a:pPr algn="l" indent="0" marL="0">
                <a:lnSpc>
                  <a:spcPts val="6000"/>
                </a:lnSpc>
                <a:buNone/>
              </a:pPr>
              <a:r>
                <a:rPr lang="en-US" sz="5400" spc="-135" kern="0" b="0" i="0" dirty="0">
                  <a:solidFill>
                    <a:srgbClr val="FFFFFF"/>
                  </a:solidFill>
                  <a:latin typeface="IBM Plex Sans SemiBold"/>
                  <a:ea typeface="IBM Plex Sans SemiBold"/>
                  <a:cs typeface="IBM Plex Sans SemiBold"/>
                </a:rPr>
                <a:t>Recommended Next Phase</a:t>
              </a:r>
              <a:endParaRPr lang="en-US" sz="5400" spc="-135" kern="0" b="0" i="0" dirty="0">
                <a:solidFill>
                  <a:srgbClr val="FFFFFF"/>
                </a:solidFill>
                <a:latin typeface="IBM Plex Sans SemiBold"/>
                <a:ea typeface="IBM Plex Sans SemiBold"/>
                <a:cs typeface="IBM Plex Sans SemiBold"/>
              </a:endParaRPr>
            </a:p>
          </p:txBody>
        </p:sp>
      </p:grpSp>
      <p:grpSp>
        <p:nvGrpSpPr>
          <p:cNvPr id="12" name="tab0"/>
          <p:cNvGrpSpPr/>
          <p:nvPr/>
        </p:nvGrpSpPr>
        <p:grpSpPr>
          <a:xfrm>
            <a:off x="723900" y="5257800"/>
            <a:ext cx="3429000" cy="304800"/>
            <a:chOff x="723900" y="5257800"/>
            <a:chExt cx="3429000" cy="304800"/>
          </a:xfrm>
        </p:grpSpPr>
        <p:sp>
          <p:nvSpPr>
            <p:cNvPr id="6" name="tab0.text"/>
            <p:cNvSpPr/>
            <p:nvPr/>
          </p:nvSpPr>
          <p:spPr>
            <a:xfrm>
              <a:off x="7239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Executive Summary</a:t>
              </a:r>
              <a:endParaRPr lang="en-US" sz="1200" spc="0" kern="0" b="0" i="0" dirty="0">
                <a:solidFill>
                  <a:srgbClr val="FFFFFF"/>
                </a:solidFill>
                <a:latin typeface="IBM Plex Sans"/>
                <a:ea typeface="IBM Plex Sans"/>
                <a:cs typeface="IBM Plex Sans"/>
              </a:endParaRPr>
            </a:p>
          </p:txBody>
        </p:sp>
      </p:grpSp>
      <p:grpSp>
        <p:nvGrpSpPr>
          <p:cNvPr id="13" name="tab1"/>
          <p:cNvGrpSpPr/>
          <p:nvPr/>
        </p:nvGrpSpPr>
        <p:grpSpPr>
          <a:xfrm>
            <a:off x="4381500" y="5257800"/>
            <a:ext cx="3429000" cy="304800"/>
            <a:chOff x="4381500" y="5257800"/>
            <a:chExt cx="3429000" cy="304800"/>
          </a:xfrm>
        </p:grpSpPr>
        <p:sp>
          <p:nvSpPr>
            <p:cNvPr id="7" name="tab1.text"/>
            <p:cNvSpPr/>
            <p:nvPr/>
          </p:nvSpPr>
          <p:spPr>
            <a:xfrm>
              <a:off x="43815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Deliverables</a:t>
              </a:r>
              <a:endParaRPr lang="en-US" sz="1200" spc="0" kern="0" b="0" i="0" dirty="0">
                <a:solidFill>
                  <a:srgbClr val="FFFFFF"/>
                </a:solidFill>
                <a:latin typeface="IBM Plex Sans"/>
                <a:ea typeface="IBM Plex Sans"/>
                <a:cs typeface="IBM Plex Sans"/>
              </a:endParaRPr>
            </a:p>
          </p:txBody>
        </p:sp>
      </p:grpSp>
      <p:grpSp>
        <p:nvGrpSpPr>
          <p:cNvPr id="14" name="tab2"/>
          <p:cNvGrpSpPr/>
          <p:nvPr/>
        </p:nvGrpSpPr>
        <p:grpSpPr>
          <a:xfrm>
            <a:off x="8039100" y="5257800"/>
            <a:ext cx="3429000" cy="304800"/>
            <a:chOff x="8039100" y="5257800"/>
            <a:chExt cx="3429000" cy="304800"/>
          </a:xfrm>
        </p:grpSpPr>
        <p:sp>
          <p:nvSpPr>
            <p:cNvPr id="8" name="tab2.text"/>
            <p:cNvSpPr/>
            <p:nvPr/>
          </p:nvSpPr>
          <p:spPr>
            <a:xfrm>
              <a:off x="8039100" y="5257800"/>
              <a:ext cx="34290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Recommended Next Phase</a:t>
              </a:r>
              <a:endParaRPr lang="en-US" sz="1200" spc="0" kern="0" b="0" i="0" dirty="0">
                <a:solidFill>
                  <a:srgbClr val="FFFFFF"/>
                </a:solidFill>
                <a:latin typeface="IBM Plex Sans"/>
                <a:ea typeface="IBM Plex Sans"/>
                <a:cs typeface="IBM Plex Sans"/>
              </a:endParaRPr>
            </a:p>
          </p:txBody>
        </p:sp>
      </p:grpSp>
      <p:sp>
        <p:nvSpPr>
          <p:cNvPr id="9" name="active"/>
          <p:cNvSpPr/>
          <p:nvPr/>
        </p:nvSpPr>
        <p:spPr>
          <a:xfrm>
            <a:off x="8039100" y="5715000"/>
            <a:ext cx="685800" cy="9525"/>
          </a:xfrm>
          <a:prstGeom prst="rect">
            <a:avLst/>
          </a:prstGeom>
          <a:solidFill>
            <a:srgbClr val="50658E"/>
          </a:solidFill>
          <a:ln>
            <a:noFill/>
          </a:ln>
        </p:spPr>
      </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dxc-038">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38</a:t>
            </a:fld>
            <a:endParaRPr lang="en-US" sz="700" spc="0" kern="0" b="0" i="0" dirty="0">
              <a:solidFill>
                <a:srgbClr val="070154"/>
              </a:solidFill>
              <a:latin typeface="IBM Plex Mono SemiBold"/>
              <a:ea typeface="IBM Plex Mono SemiBold"/>
              <a:cs typeface="IBM Plex Mono SemiBold"/>
            </a:endParaRPr>
          </a:p>
        </p:txBody>
      </p:sp>
      <p:grpSp>
        <p:nvGrpSpPr>
          <p:cNvPr id="27" name="outcome"/>
          <p:cNvGrpSpPr/>
          <p:nvPr/>
        </p:nvGrpSpPr>
        <p:grpSpPr>
          <a:xfrm>
            <a:off x="723900" y="1600200"/>
            <a:ext cx="7086600" cy="685800"/>
            <a:chOff x="723900" y="1600200"/>
            <a:chExt cx="7086600" cy="685800"/>
          </a:xfrm>
        </p:grpSpPr>
        <p:sp>
          <p:nvSpPr>
            <p:cNvPr id="5" name="outcome.surface"/>
            <p:cNvSpPr/>
            <p:nvPr/>
          </p:nvSpPr>
          <p:spPr>
            <a:xfrm>
              <a:off x="723900" y="1600200"/>
              <a:ext cx="7086600" cy="685800"/>
            </a:xfrm>
            <a:prstGeom prst="rect">
              <a:avLst/>
            </a:prstGeom>
            <a:solidFill>
              <a:srgbClr val="070154"/>
            </a:solidFill>
            <a:ln>
              <a:noFill/>
            </a:ln>
          </p:spPr>
        </p:sp>
        <p:sp>
          <p:nvSpPr>
            <p:cNvPr id="6" name="outcome.text"/>
            <p:cNvSpPr/>
            <p:nvPr/>
          </p:nvSpPr>
          <p:spPr>
            <a:xfrm>
              <a:off x="876300" y="1828800"/>
              <a:ext cx="678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Clear product strategy and an executable six-month roadmap</a:t>
              </a:r>
              <a:endParaRPr lang="en-US" sz="1200" spc="0" kern="0" b="0" i="0" dirty="0">
                <a:solidFill>
                  <a:srgbClr val="FFFFFF"/>
                </a:solidFill>
                <a:latin typeface="IBM Plex Sans"/>
                <a:ea typeface="IBM Plex Sans"/>
                <a:cs typeface="IBM Plex Sans"/>
              </a:endParaRPr>
            </a:p>
          </p:txBody>
        </p:sp>
      </p:grpSp>
      <p:grpSp>
        <p:nvGrpSpPr>
          <p:cNvPr id="28" name="activity0"/>
          <p:cNvGrpSpPr/>
          <p:nvPr/>
        </p:nvGrpSpPr>
        <p:grpSpPr>
          <a:xfrm>
            <a:off x="723900" y="2514600"/>
            <a:ext cx="3429000" cy="1219200"/>
            <a:chOff x="723900" y="2514600"/>
            <a:chExt cx="3429000" cy="1219200"/>
          </a:xfrm>
        </p:grpSpPr>
        <p:sp>
          <p:nvSpPr>
            <p:cNvPr id="7" name="activity0.container"/>
            <p:cNvSpPr/>
            <p:nvPr/>
          </p:nvSpPr>
          <p:spPr>
            <a:xfrm>
              <a:off x="723900" y="2514600"/>
              <a:ext cx="3429000" cy="1219200"/>
            </a:xfrm>
            <a:prstGeom prst="rect">
              <a:avLst/>
            </a:prstGeom>
            <a:solidFill>
              <a:srgbClr val="E8EEF8"/>
            </a:solidFill>
            <a:ln>
              <a:noFill/>
            </a:ln>
          </p:spPr>
        </p:sp>
        <p:sp>
          <p:nvSpPr>
            <p:cNvPr id="8" name="activity0.title"/>
            <p:cNvSpPr/>
            <p:nvPr/>
          </p:nvSpPr>
          <p:spPr>
            <a:xfrm>
              <a:off x="876300" y="26670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the evidence base</a:t>
              </a:r>
              <a:endParaRPr lang="en-US" sz="1200" spc="0" kern="0" b="0" i="0" dirty="0">
                <a:solidFill>
                  <a:srgbClr val="070154"/>
                </a:solidFill>
                <a:latin typeface="IBM Plex Sans"/>
                <a:ea typeface="IBM Plex Sans"/>
                <a:cs typeface="IBM Plex Sans"/>
              </a:endParaRPr>
            </a:p>
          </p:txBody>
        </p:sp>
        <p:sp>
          <p:nvSpPr>
            <p:cNvPr id="9" name="activity0.body.item-0.paragraph"/>
            <p:cNvSpPr/>
            <p:nvPr/>
          </p:nvSpPr>
          <p:spPr>
            <a:xfrm>
              <a:off x="876300" y="30099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customer needs, product performance, and business priorities.</a:t>
              </a:r>
              <a:endParaRPr lang="en-US" sz="1200" spc="0" kern="0" b="0" i="0" dirty="0">
                <a:solidFill>
                  <a:srgbClr val="50658E"/>
                </a:solidFill>
                <a:latin typeface="IBM Plex Sans"/>
                <a:ea typeface="IBM Plex Sans"/>
                <a:cs typeface="IBM Plex Sans"/>
              </a:endParaRPr>
            </a:p>
          </p:txBody>
        </p:sp>
      </p:grpSp>
      <p:grpSp>
        <p:nvGrpSpPr>
          <p:cNvPr id="29" name="activity1"/>
          <p:cNvGrpSpPr/>
          <p:nvPr/>
        </p:nvGrpSpPr>
        <p:grpSpPr>
          <a:xfrm>
            <a:off x="4381500" y="2514600"/>
            <a:ext cx="3429000" cy="1219200"/>
            <a:chOff x="4381500" y="2514600"/>
            <a:chExt cx="3429000" cy="1219200"/>
          </a:xfrm>
        </p:grpSpPr>
        <p:sp>
          <p:nvSpPr>
            <p:cNvPr id="10" name="activity1.container"/>
            <p:cNvSpPr/>
            <p:nvPr/>
          </p:nvSpPr>
          <p:spPr>
            <a:xfrm>
              <a:off x="4381500" y="2514600"/>
              <a:ext cx="3429000" cy="1219200"/>
            </a:xfrm>
            <a:prstGeom prst="rect">
              <a:avLst/>
            </a:prstGeom>
            <a:solidFill>
              <a:srgbClr val="E8EEF8"/>
            </a:solidFill>
            <a:ln>
              <a:noFill/>
            </a:ln>
          </p:spPr>
        </p:sp>
        <p:sp>
          <p:nvSpPr>
            <p:cNvPr id="11" name="activity1.title"/>
            <p:cNvSpPr/>
            <p:nvPr/>
          </p:nvSpPr>
          <p:spPr>
            <a:xfrm>
              <a:off x="4533900" y="26670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Align on product strategy</a:t>
              </a:r>
              <a:endParaRPr lang="en-US" sz="1200" spc="0" kern="0" b="0" i="0" dirty="0">
                <a:solidFill>
                  <a:srgbClr val="070154"/>
                </a:solidFill>
                <a:latin typeface="IBM Plex Sans"/>
                <a:ea typeface="IBM Plex Sans"/>
                <a:cs typeface="IBM Plex Sans"/>
              </a:endParaRPr>
            </a:p>
          </p:txBody>
        </p:sp>
        <p:sp>
          <p:nvSpPr>
            <p:cNvPr id="12" name="activity1.body.item-0.paragraph"/>
            <p:cNvSpPr/>
            <p:nvPr/>
          </p:nvSpPr>
          <p:spPr>
            <a:xfrm>
              <a:off x="4533900" y="30099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Prepare and facilitate a focused strategy workshop with product leaders.</a:t>
              </a:r>
              <a:endParaRPr lang="en-US" sz="1200" spc="0" kern="0" b="0" i="0" dirty="0">
                <a:solidFill>
                  <a:srgbClr val="50658E"/>
                </a:solidFill>
                <a:latin typeface="IBM Plex Sans"/>
                <a:ea typeface="IBM Plex Sans"/>
                <a:cs typeface="IBM Plex Sans"/>
              </a:endParaRPr>
            </a:p>
          </p:txBody>
        </p:sp>
      </p:grpSp>
      <p:grpSp>
        <p:nvGrpSpPr>
          <p:cNvPr id="30" name="activity2"/>
          <p:cNvGrpSpPr/>
          <p:nvPr/>
        </p:nvGrpSpPr>
        <p:grpSpPr>
          <a:xfrm>
            <a:off x="723900" y="3886200"/>
            <a:ext cx="3429000" cy="1219200"/>
            <a:chOff x="723900" y="3886200"/>
            <a:chExt cx="3429000" cy="1219200"/>
          </a:xfrm>
        </p:grpSpPr>
        <p:sp>
          <p:nvSpPr>
            <p:cNvPr id="13" name="activity2.container"/>
            <p:cNvSpPr/>
            <p:nvPr/>
          </p:nvSpPr>
          <p:spPr>
            <a:xfrm>
              <a:off x="723900" y="3886200"/>
              <a:ext cx="3429000" cy="1219200"/>
            </a:xfrm>
            <a:prstGeom prst="rect">
              <a:avLst/>
            </a:prstGeom>
            <a:solidFill>
              <a:srgbClr val="E8EEF8"/>
            </a:solidFill>
            <a:ln>
              <a:noFill/>
            </a:ln>
          </p:spPr>
        </p:sp>
        <p:sp>
          <p:nvSpPr>
            <p:cNvPr id="14" name="activity2.title"/>
            <p:cNvSpPr/>
            <p:nvPr/>
          </p:nvSpPr>
          <p:spPr>
            <a:xfrm>
              <a:off x="876300" y="40386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 priorities and success measures</a:t>
              </a:r>
              <a:endParaRPr lang="en-US" sz="1200" spc="0" kern="0" b="0" i="0" dirty="0">
                <a:solidFill>
                  <a:srgbClr val="070154"/>
                </a:solidFill>
                <a:latin typeface="IBM Plex Sans"/>
                <a:ea typeface="IBM Plex Sans"/>
                <a:cs typeface="IBM Plex Sans"/>
              </a:endParaRPr>
            </a:p>
          </p:txBody>
        </p:sp>
        <p:sp>
          <p:nvSpPr>
            <p:cNvPr id="15" name="activity2.body.item-0.paragraph"/>
            <p:cNvSpPr/>
            <p:nvPr/>
          </p:nvSpPr>
          <p:spPr>
            <a:xfrm>
              <a:off x="876300" y="43815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Set product-area direction, measurable outcomes, and roadmap trade-offs.</a:t>
              </a:r>
              <a:endParaRPr lang="en-US" sz="1200" spc="0" kern="0" b="0" i="0" dirty="0">
                <a:solidFill>
                  <a:srgbClr val="50658E"/>
                </a:solidFill>
                <a:latin typeface="IBM Plex Sans"/>
                <a:ea typeface="IBM Plex Sans"/>
                <a:cs typeface="IBM Plex Sans"/>
              </a:endParaRPr>
            </a:p>
          </p:txBody>
        </p:sp>
      </p:grpSp>
      <p:grpSp>
        <p:nvGrpSpPr>
          <p:cNvPr id="31" name="activity3"/>
          <p:cNvGrpSpPr/>
          <p:nvPr/>
        </p:nvGrpSpPr>
        <p:grpSpPr>
          <a:xfrm>
            <a:off x="4381500" y="3886200"/>
            <a:ext cx="3429000" cy="1219200"/>
            <a:chOff x="4381500" y="3886200"/>
            <a:chExt cx="3429000" cy="1219200"/>
          </a:xfrm>
        </p:grpSpPr>
        <p:sp>
          <p:nvSpPr>
            <p:cNvPr id="16" name="activity3.container"/>
            <p:cNvSpPr/>
            <p:nvPr/>
          </p:nvSpPr>
          <p:spPr>
            <a:xfrm>
              <a:off x="4381500" y="3886200"/>
              <a:ext cx="3429000" cy="1219200"/>
            </a:xfrm>
            <a:prstGeom prst="rect">
              <a:avLst/>
            </a:prstGeom>
            <a:solidFill>
              <a:srgbClr val="E8EEF8"/>
            </a:solidFill>
            <a:ln>
              <a:noFill/>
            </a:ln>
          </p:spPr>
        </p:sp>
        <p:sp>
          <p:nvSpPr>
            <p:cNvPr id="17" name="activity3.title"/>
            <p:cNvSpPr/>
            <p:nvPr/>
          </p:nvSpPr>
          <p:spPr>
            <a:xfrm>
              <a:off x="4533900" y="40386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Make the roadmap actionable</a:t>
              </a:r>
              <a:endParaRPr lang="en-US" sz="1200" spc="0" kern="0" b="0" i="0" dirty="0">
                <a:solidFill>
                  <a:srgbClr val="070154"/>
                </a:solidFill>
                <a:latin typeface="IBM Plex Sans"/>
                <a:ea typeface="IBM Plex Sans"/>
                <a:cs typeface="IBM Plex Sans"/>
              </a:endParaRPr>
            </a:p>
          </p:txBody>
        </p:sp>
        <p:sp>
          <p:nvSpPr>
            <p:cNvPr id="18" name="activity3.body.item-0.paragraph"/>
            <p:cNvSpPr/>
            <p:nvPr/>
          </p:nvSpPr>
          <p:spPr>
            <a:xfrm>
              <a:off x="4533900" y="43815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Complete product briefs, ownership, and roadmap for the next six months.</a:t>
              </a:r>
              <a:endParaRPr lang="en-US" sz="1200" spc="0" kern="0" b="0" i="0" dirty="0">
                <a:solidFill>
                  <a:srgbClr val="50658E"/>
                </a:solidFill>
                <a:latin typeface="IBM Plex Sans"/>
                <a:ea typeface="IBM Plex Sans"/>
                <a:cs typeface="IBM Plex Sans"/>
              </a:endParaRPr>
            </a:p>
          </p:txBody>
        </p:sp>
      </p:grpSp>
      <p:grpSp>
        <p:nvGrpSpPr>
          <p:cNvPr id="32" name="right-panel"/>
          <p:cNvGrpSpPr/>
          <p:nvPr/>
        </p:nvGrpSpPr>
        <p:grpSpPr>
          <a:xfrm>
            <a:off x="8039100" y="1600200"/>
            <a:ext cx="3429000" cy="4343400"/>
            <a:chOff x="8039100" y="1600200"/>
            <a:chExt cx="3429000" cy="4343400"/>
          </a:xfrm>
        </p:grpSpPr>
        <p:sp>
          <p:nvSpPr>
            <p:cNvPr id="19" name="right-panel.container"/>
            <p:cNvSpPr/>
            <p:nvPr/>
          </p:nvSpPr>
          <p:spPr>
            <a:xfrm>
              <a:off x="8039100" y="1600200"/>
              <a:ext cx="3429000" cy="4343400"/>
            </a:xfrm>
            <a:prstGeom prst="rect">
              <a:avLst/>
            </a:prstGeom>
            <a:solidFill>
              <a:srgbClr val="E8EEF8"/>
            </a:solidFill>
            <a:ln>
              <a:noFill/>
            </a:ln>
          </p:spPr>
        </p:sp>
        <p:sp>
          <p:nvSpPr>
            <p:cNvPr id="20" name="right-panel.title"/>
            <p:cNvSpPr/>
            <p:nvPr/>
          </p:nvSpPr>
          <p:spPr>
            <a:xfrm>
              <a:off x="8191500" y="17526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4-week spike</a:t>
              </a:r>
              <a:endParaRPr lang="en-US" sz="1400" spc="0" kern="0" b="0" i="0" dirty="0">
                <a:solidFill>
                  <a:srgbClr val="070154"/>
                </a:solidFill>
                <a:latin typeface="IBM Plex Sans"/>
                <a:ea typeface="IBM Plex Sans"/>
                <a:cs typeface="IBM Plex Sans"/>
              </a:endParaRPr>
            </a:p>
          </p:txBody>
        </p:sp>
        <p:sp>
          <p:nvSpPr>
            <p:cNvPr id="21" name="right-panel.body.item-0.paragraph"/>
            <p:cNvSpPr/>
            <p:nvPr/>
          </p:nvSpPr>
          <p:spPr>
            <a:xfrm>
              <a:off x="8191500" y="2133600"/>
              <a:ext cx="312420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Executive Product Strategist · Part time · Sameer Karim</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Senior Product Strategist · Full time · Mzati Kapalamula</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Product direction and a six-month roadmap.</a:t>
              </a:r>
              <a:endParaRPr lang="en-US" sz="1200" spc="0" kern="0" b="0" i="0" dirty="0">
                <a:solidFill>
                  <a:srgbClr val="50658E"/>
                </a:solidFill>
                <a:latin typeface="IBM Plex Sans"/>
                <a:ea typeface="IBM Plex Sans"/>
                <a:cs typeface="IBM Plex Sans"/>
              </a:endParaRPr>
            </a:p>
          </p:txBody>
        </p:sp>
      </p:grpSp>
      <p:grpSp>
        <p:nvGrpSpPr>
          <p:cNvPr id="33" name="duration-note"/>
          <p:cNvGrpSpPr/>
          <p:nvPr/>
        </p:nvGrpSpPr>
        <p:grpSpPr>
          <a:xfrm>
            <a:off x="723900" y="5486400"/>
            <a:ext cx="10744200" cy="457200"/>
            <a:chOff x="723900" y="5486400"/>
            <a:chExt cx="10744200" cy="457200"/>
          </a:xfrm>
        </p:grpSpPr>
        <p:sp>
          <p:nvSpPr>
            <p:cNvPr id="22" name="duration-note.surface"/>
            <p:cNvSpPr/>
            <p:nvPr/>
          </p:nvSpPr>
          <p:spPr>
            <a:xfrm>
              <a:off x="723900" y="5486400"/>
              <a:ext cx="10744200" cy="457200"/>
            </a:xfrm>
            <a:prstGeom prst="rect">
              <a:avLst/>
            </a:prstGeom>
            <a:solidFill>
              <a:srgbClr val="E8EEF8"/>
            </a:solidFill>
            <a:ln>
              <a:noFill/>
            </a:ln>
          </p:spPr>
        </p:sp>
        <p:sp>
          <p:nvSpPr>
            <p:cNvPr id="23" name="duration-note.text"/>
            <p:cNvSpPr/>
            <p:nvPr/>
          </p:nvSpPr>
          <p:spPr>
            <a:xfrm>
              <a:off x="876300" y="56007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direction, priorities, and a practical path to execution</a:t>
              </a:r>
              <a:endParaRPr lang="en-US" sz="1200" spc="0" kern="0" b="0" i="0" dirty="0">
                <a:solidFill>
                  <a:srgbClr val="070154"/>
                </a:solidFill>
                <a:latin typeface="IBM Plex Sans"/>
                <a:ea typeface="IBM Plex Sans"/>
                <a:cs typeface="IBM Plex Sans"/>
              </a:endParaRPr>
            </a:p>
          </p:txBody>
        </p:sp>
      </p:grpSp>
      <p:grpSp>
        <p:nvGrpSpPr>
          <p:cNvPr id="34" name="authored-header"/>
          <p:cNvGrpSpPr/>
          <p:nvPr/>
        </p:nvGrpSpPr>
        <p:grpSpPr>
          <a:xfrm>
            <a:off x="723900" y="685800"/>
            <a:ext cx="9372600" cy="914400"/>
            <a:chOff x="723900" y="685800"/>
            <a:chExt cx="9372600" cy="914400"/>
          </a:xfrm>
        </p:grpSpPr>
        <p:sp>
          <p:nvSpPr>
            <p:cNvPr id="24"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Product strategy spike</a:t>
              </a:r>
              <a:endParaRPr lang="en-US" sz="3200" spc="-64" kern="0" b="0" i="0" dirty="0">
                <a:solidFill>
                  <a:srgbClr val="070154"/>
                </a:solidFill>
                <a:latin typeface="IBM Plex Sans SemiBold"/>
                <a:ea typeface="IBM Plex Sans SemiBold"/>
                <a:cs typeface="IBM Plex Sans SemiBold"/>
              </a:endParaRPr>
            </a:p>
          </p:txBody>
        </p:sp>
      </p:grpSp>
      <p:grpSp>
        <p:nvGrpSpPr>
          <p:cNvPr id="35" name="authored-eyebrow"/>
          <p:cNvGrpSpPr/>
          <p:nvPr/>
        </p:nvGrpSpPr>
        <p:grpSpPr>
          <a:xfrm>
            <a:off x="723900" y="457200"/>
            <a:ext cx="9372600" cy="228600"/>
            <a:chOff x="723900" y="457200"/>
            <a:chExt cx="9372600" cy="228600"/>
          </a:xfrm>
        </p:grpSpPr>
        <p:sp>
          <p:nvSpPr>
            <p:cNvPr id="25"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STRATEGY</a:t>
              </a:r>
              <a:endParaRPr lang="en-US" sz="1000" spc="80" kern="0" b="0" i="0" dirty="0">
                <a:solidFill>
                  <a:srgbClr val="0047FF"/>
                </a:solidFill>
                <a:latin typeface="IBM Plex Mono SemiBold"/>
                <a:ea typeface="IBM Plex Mono SemiBold"/>
                <a:cs typeface="IBM Plex Mono SemiBold"/>
              </a:endParaRPr>
            </a:p>
          </p:txBody>
        </p:sp>
      </p:grpSp>
      <p:grpSp>
        <p:nvGrpSpPr>
          <p:cNvPr id="36" name="client-brand"/>
          <p:cNvGrpSpPr/>
          <p:nvPr/>
        </p:nvGrpSpPr>
        <p:grpSpPr>
          <a:xfrm>
            <a:off x="10382250" y="457200"/>
            <a:ext cx="1028700" cy="457200"/>
            <a:chOff x="10382250" y="457200"/>
            <a:chExt cx="1028700" cy="457200"/>
          </a:xfrm>
        </p:grpSpPr>
        <p:pic>
          <p:nvPicPr>
            <p:cNvPr id="26"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dxc-039">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39</a:t>
            </a:fld>
            <a:endParaRPr lang="en-US" sz="700" spc="0" kern="0" b="0" i="0" dirty="0">
              <a:solidFill>
                <a:srgbClr val="070154"/>
              </a:solidFill>
              <a:latin typeface="IBM Plex Mono SemiBold"/>
              <a:ea typeface="IBM Plex Mono SemiBold"/>
              <a:cs typeface="IBM Plex Mono SemiBold"/>
            </a:endParaRPr>
          </a:p>
        </p:txBody>
      </p:sp>
      <p:grpSp>
        <p:nvGrpSpPr>
          <p:cNvPr id="26" name="outcome"/>
          <p:cNvGrpSpPr/>
          <p:nvPr/>
        </p:nvGrpSpPr>
        <p:grpSpPr>
          <a:xfrm>
            <a:off x="723900" y="1600200"/>
            <a:ext cx="7086600" cy="685800"/>
            <a:chOff x="723900" y="1600200"/>
            <a:chExt cx="7086600" cy="685800"/>
          </a:xfrm>
        </p:grpSpPr>
        <p:sp>
          <p:nvSpPr>
            <p:cNvPr id="5" name="outcome.surface"/>
            <p:cNvSpPr/>
            <p:nvPr/>
          </p:nvSpPr>
          <p:spPr>
            <a:xfrm>
              <a:off x="723900" y="1600200"/>
              <a:ext cx="7086600" cy="685800"/>
            </a:xfrm>
            <a:prstGeom prst="rect">
              <a:avLst/>
            </a:prstGeom>
            <a:solidFill>
              <a:srgbClr val="070154"/>
            </a:solidFill>
            <a:ln>
              <a:noFill/>
            </a:ln>
          </p:spPr>
        </p:sp>
        <p:sp>
          <p:nvSpPr>
            <p:cNvPr id="6" name="outcome.text"/>
            <p:cNvSpPr/>
            <p:nvPr/>
          </p:nvSpPr>
          <p:spPr>
            <a:xfrm>
              <a:off x="876300" y="1828800"/>
              <a:ext cx="678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Reusable practices tested on a Core rules-engine pilot</a:t>
              </a:r>
              <a:endParaRPr lang="en-US" sz="1200" spc="0" kern="0" b="0" i="0" dirty="0">
                <a:solidFill>
                  <a:srgbClr val="FFFFFF"/>
                </a:solidFill>
                <a:latin typeface="IBM Plex Sans"/>
                <a:ea typeface="IBM Plex Sans"/>
                <a:cs typeface="IBM Plex Sans"/>
              </a:endParaRPr>
            </a:p>
          </p:txBody>
        </p:sp>
      </p:grpSp>
      <p:grpSp>
        <p:nvGrpSpPr>
          <p:cNvPr id="27" name="activity0"/>
          <p:cNvGrpSpPr/>
          <p:nvPr/>
        </p:nvGrpSpPr>
        <p:grpSpPr>
          <a:xfrm>
            <a:off x="723900" y="2514600"/>
            <a:ext cx="3429000" cy="1219200"/>
            <a:chOff x="723900" y="2514600"/>
            <a:chExt cx="3429000" cy="1219200"/>
          </a:xfrm>
        </p:grpSpPr>
        <p:sp>
          <p:nvSpPr>
            <p:cNvPr id="7" name="activity0.container"/>
            <p:cNvSpPr/>
            <p:nvPr/>
          </p:nvSpPr>
          <p:spPr>
            <a:xfrm>
              <a:off x="723900" y="2514600"/>
              <a:ext cx="3429000" cy="1219200"/>
            </a:xfrm>
            <a:prstGeom prst="rect">
              <a:avLst/>
            </a:prstGeom>
            <a:solidFill>
              <a:srgbClr val="E8EEF8"/>
            </a:solidFill>
            <a:ln>
              <a:noFill/>
            </a:ln>
          </p:spPr>
        </p:sp>
        <p:sp>
          <p:nvSpPr>
            <p:cNvPr id="8" name="activity0.title"/>
            <p:cNvSpPr/>
            <p:nvPr/>
          </p:nvSpPr>
          <p:spPr>
            <a:xfrm>
              <a:off x="876300" y="26670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Assess and refine</a:t>
              </a:r>
              <a:endParaRPr lang="en-US" sz="1200" spc="0" kern="0" b="0" i="0" dirty="0">
                <a:solidFill>
                  <a:srgbClr val="070154"/>
                </a:solidFill>
                <a:latin typeface="IBM Plex Sans"/>
                <a:ea typeface="IBM Plex Sans"/>
                <a:cs typeface="IBM Plex Sans"/>
              </a:endParaRPr>
            </a:p>
          </p:txBody>
        </p:sp>
        <p:sp>
          <p:nvSpPr>
            <p:cNvPr id="9" name="activity0.body.item-0.paragraph"/>
            <p:cNvSpPr/>
            <p:nvPr/>
          </p:nvSpPr>
          <p:spPr>
            <a:xfrm>
              <a:off x="876300" y="30099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Weeks 1–3: refine Recon’s AI library and Core specification workflows.</a:t>
              </a:r>
              <a:endParaRPr lang="en-US" sz="1200" spc="0" kern="0" b="0" i="0" dirty="0">
                <a:solidFill>
                  <a:srgbClr val="50658E"/>
                </a:solidFill>
                <a:latin typeface="IBM Plex Sans"/>
                <a:ea typeface="IBM Plex Sans"/>
                <a:cs typeface="IBM Plex Sans"/>
              </a:endParaRPr>
            </a:p>
          </p:txBody>
        </p:sp>
      </p:grpSp>
      <p:grpSp>
        <p:nvGrpSpPr>
          <p:cNvPr id="28" name="activity1"/>
          <p:cNvGrpSpPr/>
          <p:nvPr/>
        </p:nvGrpSpPr>
        <p:grpSpPr>
          <a:xfrm>
            <a:off x="4381500" y="2514600"/>
            <a:ext cx="3429000" cy="1219200"/>
            <a:chOff x="4381500" y="2514600"/>
            <a:chExt cx="3429000" cy="1219200"/>
          </a:xfrm>
        </p:grpSpPr>
        <p:sp>
          <p:nvSpPr>
            <p:cNvPr id="10" name="activity1.container"/>
            <p:cNvSpPr/>
            <p:nvPr/>
          </p:nvSpPr>
          <p:spPr>
            <a:xfrm>
              <a:off x="4381500" y="2514600"/>
              <a:ext cx="3429000" cy="1219200"/>
            </a:xfrm>
            <a:prstGeom prst="rect">
              <a:avLst/>
            </a:prstGeom>
            <a:solidFill>
              <a:srgbClr val="E8EEF8"/>
            </a:solidFill>
            <a:ln>
              <a:noFill/>
            </a:ln>
          </p:spPr>
        </p:sp>
        <p:sp>
          <p:nvSpPr>
            <p:cNvPr id="11" name="activity1.title"/>
            <p:cNvSpPr/>
            <p:nvPr/>
          </p:nvSpPr>
          <p:spPr>
            <a:xfrm>
              <a:off x="4533900" y="26670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Run a hands-on workshop</a:t>
              </a:r>
              <a:endParaRPr lang="en-US" sz="1200" spc="0" kern="0" b="0" i="0" dirty="0">
                <a:solidFill>
                  <a:srgbClr val="070154"/>
                </a:solidFill>
                <a:latin typeface="IBM Plex Sans"/>
                <a:ea typeface="IBM Plex Sans"/>
                <a:cs typeface="IBM Plex Sans"/>
              </a:endParaRPr>
            </a:p>
          </p:txBody>
        </p:sp>
        <p:sp>
          <p:nvSpPr>
            <p:cNvPr id="12" name="activity1.body.item-0.paragraph"/>
            <p:cNvSpPr/>
            <p:nvPr/>
          </p:nvSpPr>
          <p:spPr>
            <a:xfrm>
              <a:off x="4533900" y="30099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Week 4: apply refined AI practices to real Core epics with the team.</a:t>
              </a:r>
              <a:endParaRPr lang="en-US" sz="1200" spc="0" kern="0" b="0" i="0" dirty="0">
                <a:solidFill>
                  <a:srgbClr val="50658E"/>
                </a:solidFill>
                <a:latin typeface="IBM Plex Sans"/>
                <a:ea typeface="IBM Plex Sans"/>
                <a:cs typeface="IBM Plex Sans"/>
              </a:endParaRPr>
            </a:p>
          </p:txBody>
        </p:sp>
      </p:grpSp>
      <p:grpSp>
        <p:nvGrpSpPr>
          <p:cNvPr id="29" name="activity2"/>
          <p:cNvGrpSpPr/>
          <p:nvPr/>
        </p:nvGrpSpPr>
        <p:grpSpPr>
          <a:xfrm>
            <a:off x="723900" y="3886200"/>
            <a:ext cx="3429000" cy="1219200"/>
            <a:chOff x="723900" y="3886200"/>
            <a:chExt cx="3429000" cy="1219200"/>
          </a:xfrm>
        </p:grpSpPr>
        <p:sp>
          <p:nvSpPr>
            <p:cNvPr id="13" name="activity2.container"/>
            <p:cNvSpPr/>
            <p:nvPr/>
          </p:nvSpPr>
          <p:spPr>
            <a:xfrm>
              <a:off x="723900" y="3886200"/>
              <a:ext cx="3429000" cy="1219200"/>
            </a:xfrm>
            <a:prstGeom prst="rect">
              <a:avLst/>
            </a:prstGeom>
            <a:solidFill>
              <a:srgbClr val="E8EEF8"/>
            </a:solidFill>
            <a:ln>
              <a:noFill/>
            </a:ln>
          </p:spPr>
        </p:sp>
        <p:sp>
          <p:nvSpPr>
            <p:cNvPr id="14" name="activity2.title"/>
            <p:cNvSpPr/>
            <p:nvPr/>
          </p:nvSpPr>
          <p:spPr>
            <a:xfrm>
              <a:off x="876300" y="40386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Coach adoption</a:t>
              </a:r>
              <a:endParaRPr lang="en-US" sz="1200" spc="0" kern="0" b="0" i="0" dirty="0">
                <a:solidFill>
                  <a:srgbClr val="070154"/>
                </a:solidFill>
                <a:latin typeface="IBM Plex Sans"/>
                <a:ea typeface="IBM Plex Sans"/>
                <a:cs typeface="IBM Plex Sans"/>
              </a:endParaRPr>
            </a:p>
          </p:txBody>
        </p:sp>
        <p:sp>
          <p:nvSpPr>
            <p:cNvPr id="15" name="activity2.body.item-0.paragraph"/>
            <p:cNvSpPr/>
            <p:nvPr/>
          </p:nvSpPr>
          <p:spPr>
            <a:xfrm>
              <a:off x="876300" y="43815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Weeks 5–6: test library reuse with Core teams and plan rollout.</a:t>
              </a:r>
              <a:endParaRPr lang="en-US" sz="1200" spc="0" kern="0" b="0" i="0" dirty="0">
                <a:solidFill>
                  <a:srgbClr val="50658E"/>
                </a:solidFill>
                <a:latin typeface="IBM Plex Sans"/>
                <a:ea typeface="IBM Plex Sans"/>
                <a:cs typeface="IBM Plex Sans"/>
              </a:endParaRPr>
            </a:p>
          </p:txBody>
        </p:sp>
      </p:grpSp>
      <p:grpSp>
        <p:nvGrpSpPr>
          <p:cNvPr id="30" name="activity3"/>
          <p:cNvGrpSpPr/>
          <p:nvPr/>
        </p:nvGrpSpPr>
        <p:grpSpPr>
          <a:xfrm>
            <a:off x="4381500" y="3886200"/>
            <a:ext cx="3429000" cy="1219200"/>
            <a:chOff x="4381500" y="3886200"/>
            <a:chExt cx="3429000" cy="1219200"/>
          </a:xfrm>
        </p:grpSpPr>
        <p:sp>
          <p:nvSpPr>
            <p:cNvPr id="16" name="activity3.container"/>
            <p:cNvSpPr/>
            <p:nvPr/>
          </p:nvSpPr>
          <p:spPr>
            <a:xfrm>
              <a:off x="4381500" y="3886200"/>
              <a:ext cx="3429000" cy="1219200"/>
            </a:xfrm>
            <a:prstGeom prst="rect">
              <a:avLst/>
            </a:prstGeom>
            <a:solidFill>
              <a:srgbClr val="E8EEF8"/>
            </a:solidFill>
            <a:ln>
              <a:noFill/>
            </a:ln>
          </p:spPr>
        </p:sp>
        <p:sp>
          <p:nvSpPr>
            <p:cNvPr id="17" name="activity3.title"/>
            <p:cNvSpPr/>
            <p:nvPr/>
          </p:nvSpPr>
          <p:spPr>
            <a:xfrm>
              <a:off x="4533900" y="40386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Decide the next gate</a:t>
              </a:r>
              <a:endParaRPr lang="en-US" sz="1200" spc="0" kern="0" b="0" i="0" dirty="0">
                <a:solidFill>
                  <a:srgbClr val="070154"/>
                </a:solidFill>
                <a:latin typeface="IBM Plex Sans"/>
                <a:ea typeface="IBM Plex Sans"/>
                <a:cs typeface="IBM Plex Sans"/>
              </a:endParaRPr>
            </a:p>
          </p:txBody>
        </p:sp>
        <p:sp>
          <p:nvSpPr>
            <p:cNvPr id="18" name="activity3.body.item-0.paragraph"/>
            <p:cNvSpPr/>
            <p:nvPr/>
          </p:nvSpPr>
          <p:spPr>
            <a:xfrm>
              <a:off x="4533900" y="43815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pilot specifications and access before any build extension.</a:t>
              </a:r>
              <a:endParaRPr lang="en-US" sz="1200" spc="0" kern="0" b="0" i="0" dirty="0">
                <a:solidFill>
                  <a:srgbClr val="50658E"/>
                </a:solidFill>
                <a:latin typeface="IBM Plex Sans"/>
                <a:ea typeface="IBM Plex Sans"/>
                <a:cs typeface="IBM Plex Sans"/>
              </a:endParaRPr>
            </a:p>
          </p:txBody>
        </p:sp>
      </p:grpSp>
      <p:grpSp>
        <p:nvGrpSpPr>
          <p:cNvPr id="31" name="right-panel"/>
          <p:cNvGrpSpPr/>
          <p:nvPr/>
        </p:nvGrpSpPr>
        <p:grpSpPr>
          <a:xfrm>
            <a:off x="8039100" y="1600200"/>
            <a:ext cx="3429000" cy="4343400"/>
            <a:chOff x="8039100" y="1600200"/>
            <a:chExt cx="3429000" cy="4343400"/>
          </a:xfrm>
        </p:grpSpPr>
        <p:sp>
          <p:nvSpPr>
            <p:cNvPr id="19" name="right-panel.container"/>
            <p:cNvSpPr/>
            <p:nvPr/>
          </p:nvSpPr>
          <p:spPr>
            <a:xfrm>
              <a:off x="8039100" y="1600200"/>
              <a:ext cx="3429000" cy="4343400"/>
            </a:xfrm>
            <a:prstGeom prst="rect">
              <a:avLst/>
            </a:prstGeom>
            <a:solidFill>
              <a:srgbClr val="E8EEF8"/>
            </a:solidFill>
            <a:ln>
              <a:noFill/>
            </a:ln>
          </p:spPr>
        </p:sp>
        <p:sp>
          <p:nvSpPr>
            <p:cNvPr id="20" name="right-panel.title"/>
            <p:cNvSpPr/>
            <p:nvPr/>
          </p:nvSpPr>
          <p:spPr>
            <a:xfrm>
              <a:off x="8191500" y="17526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6-week activation</a:t>
              </a:r>
              <a:endParaRPr lang="en-US" sz="1400" spc="0" kern="0" b="0" i="0" dirty="0">
                <a:solidFill>
                  <a:srgbClr val="070154"/>
                </a:solidFill>
                <a:latin typeface="IBM Plex Sans"/>
                <a:ea typeface="IBM Plex Sans"/>
                <a:cs typeface="IBM Plex Sans"/>
              </a:endParaRPr>
            </a:p>
          </p:txBody>
        </p:sp>
        <p:sp>
          <p:nvSpPr>
            <p:cNvPr id="21" name="right-panel.body.item-0.paragraph"/>
            <p:cNvSpPr/>
            <p:nvPr/>
          </p:nvSpPr>
          <p:spPr>
            <a:xfrm>
              <a:off x="8191500" y="2133600"/>
              <a:ext cx="3124200" cy="3429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Executive Engineering Leader · Part time · leader to confirm</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Senior Architect · Full time · Gerardo Arroyo</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A refined, process-oriented skill library</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A process map for core SDLC process enhancements</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Integration of SDLC enhancements with ongoing metrics and measurement systems, aligned with product-side metrics</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Delivery of a three-day training workshop for select members of the Dental Exchange engineering team</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Hands-on engineering coaching</a:t>
              </a:r>
              <a:endParaRPr lang="en-US" sz="1200" spc="0" kern="0" b="0" i="0" dirty="0">
                <a:solidFill>
                  <a:srgbClr val="50658E"/>
                </a:solidFill>
                <a:latin typeface="IBM Plex Sans"/>
                <a:ea typeface="IBM Plex Sans"/>
                <a:cs typeface="IBM Plex Sans"/>
              </a:endParaRPr>
            </a:p>
          </p:txBody>
        </p:sp>
      </p:grpSp>
      <p:grpSp>
        <p:nvGrpSpPr>
          <p:cNvPr id="32" name="duration-note"/>
          <p:cNvGrpSpPr/>
          <p:nvPr/>
        </p:nvGrpSpPr>
        <p:grpSpPr>
          <a:xfrm>
            <a:off x="723900" y="5486400"/>
            <a:ext cx="7086600" cy="457200"/>
            <a:chOff x="723900" y="5486400"/>
            <a:chExt cx="7086600" cy="457200"/>
          </a:xfrm>
        </p:grpSpPr>
        <p:sp>
          <p:nvSpPr>
            <p:cNvPr id="22" name="duration-note.text"/>
            <p:cNvSpPr/>
            <p:nvPr/>
          </p:nvSpPr>
          <p:spPr>
            <a:xfrm>
              <a:off x="723900" y="5486400"/>
              <a:ext cx="708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Six weeks to pilot and scale reusable AI engineering practices.</a:t>
              </a:r>
              <a:endParaRPr lang="en-US" sz="1200" spc="0" kern="0" b="0" i="0" dirty="0">
                <a:solidFill>
                  <a:srgbClr val="50658E"/>
                </a:solidFill>
                <a:latin typeface="IBM Plex Sans"/>
                <a:ea typeface="IBM Plex Sans"/>
                <a:cs typeface="IBM Plex Sans"/>
              </a:endParaRPr>
            </a:p>
          </p:txBody>
        </p:sp>
      </p:grpSp>
      <p:grpSp>
        <p:nvGrpSpPr>
          <p:cNvPr id="33" name="authored-header"/>
          <p:cNvGrpSpPr/>
          <p:nvPr/>
        </p:nvGrpSpPr>
        <p:grpSpPr>
          <a:xfrm>
            <a:off x="723900" y="685800"/>
            <a:ext cx="9372600" cy="914400"/>
            <a:chOff x="723900" y="685800"/>
            <a:chExt cx="9372600" cy="914400"/>
          </a:xfrm>
        </p:grpSpPr>
        <p:sp>
          <p:nvSpPr>
            <p:cNvPr id="23"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Scale Reconcile AI engineering across Core</a:t>
              </a:r>
              <a:endParaRPr lang="en-US" sz="3200" spc="-64" kern="0" b="0" i="0" dirty="0">
                <a:solidFill>
                  <a:srgbClr val="070154"/>
                </a:solidFill>
                <a:latin typeface="IBM Plex Sans SemiBold"/>
                <a:ea typeface="IBM Plex Sans SemiBold"/>
                <a:cs typeface="IBM Plex Sans SemiBold"/>
              </a:endParaRPr>
            </a:p>
          </p:txBody>
        </p:sp>
      </p:grpSp>
      <p:grpSp>
        <p:nvGrpSpPr>
          <p:cNvPr id="34" name="authored-eyebrow"/>
          <p:cNvGrpSpPr/>
          <p:nvPr/>
        </p:nvGrpSpPr>
        <p:grpSpPr>
          <a:xfrm>
            <a:off x="723900" y="457200"/>
            <a:ext cx="9372600" cy="228600"/>
            <a:chOff x="723900" y="457200"/>
            <a:chExt cx="9372600" cy="228600"/>
          </a:xfrm>
        </p:grpSpPr>
        <p:sp>
          <p:nvSpPr>
            <p:cNvPr id="24"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ENABLEMENT</a:t>
              </a:r>
              <a:endParaRPr lang="en-US" sz="1000" spc="80" kern="0" b="0" i="0" dirty="0">
                <a:solidFill>
                  <a:srgbClr val="0047FF"/>
                </a:solidFill>
                <a:latin typeface="IBM Plex Mono SemiBold"/>
                <a:ea typeface="IBM Plex Mono SemiBold"/>
                <a:cs typeface="IBM Plex Mono SemiBold"/>
              </a:endParaRPr>
            </a:p>
          </p:txBody>
        </p:sp>
      </p:grpSp>
      <p:grpSp>
        <p:nvGrpSpPr>
          <p:cNvPr id="35" name="client-brand"/>
          <p:cNvGrpSpPr/>
          <p:nvPr/>
        </p:nvGrpSpPr>
        <p:grpSpPr>
          <a:xfrm>
            <a:off x="10382250" y="457200"/>
            <a:ext cx="1028700" cy="457200"/>
            <a:chOff x="10382250" y="457200"/>
            <a:chExt cx="1028700" cy="457200"/>
          </a:xfrm>
        </p:grpSpPr>
        <p:pic>
          <p:nvPicPr>
            <p:cNvPr id="25"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dxc-040">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40</a:t>
            </a:fld>
            <a:endParaRPr lang="en-US" sz="700" spc="0" kern="0" b="0" i="0" dirty="0">
              <a:solidFill>
                <a:srgbClr val="070154"/>
              </a:solidFill>
              <a:latin typeface="IBM Plex Mono SemiBold"/>
              <a:ea typeface="IBM Plex Mono SemiBold"/>
              <a:cs typeface="IBM Plex Mono SemiBold"/>
            </a:endParaRPr>
          </a:p>
        </p:txBody>
      </p:sp>
      <p:grpSp>
        <p:nvGrpSpPr>
          <p:cNvPr id="26" name="outcome"/>
          <p:cNvGrpSpPr/>
          <p:nvPr/>
        </p:nvGrpSpPr>
        <p:grpSpPr>
          <a:xfrm>
            <a:off x="723900" y="1600200"/>
            <a:ext cx="7086600" cy="685800"/>
            <a:chOff x="723900" y="1600200"/>
            <a:chExt cx="7086600" cy="685800"/>
          </a:xfrm>
        </p:grpSpPr>
        <p:sp>
          <p:nvSpPr>
            <p:cNvPr id="5" name="outcome.surface"/>
            <p:cNvSpPr/>
            <p:nvPr/>
          </p:nvSpPr>
          <p:spPr>
            <a:xfrm>
              <a:off x="723900" y="1600200"/>
              <a:ext cx="7086600" cy="685800"/>
            </a:xfrm>
            <a:prstGeom prst="rect">
              <a:avLst/>
            </a:prstGeom>
            <a:solidFill>
              <a:srgbClr val="070154"/>
            </a:solidFill>
            <a:ln>
              <a:noFill/>
            </a:ln>
          </p:spPr>
        </p:sp>
        <p:sp>
          <p:nvSpPr>
            <p:cNvPr id="6" name="outcome.text"/>
            <p:cNvSpPr/>
            <p:nvPr/>
          </p:nvSpPr>
          <p:spPr>
            <a:xfrm>
              <a:off x="876300" y="1828800"/>
              <a:ext cx="678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More reliable release gates and critical-path test coverage</a:t>
              </a:r>
              <a:endParaRPr lang="en-US" sz="1200" spc="0" kern="0" b="0" i="0" dirty="0">
                <a:solidFill>
                  <a:srgbClr val="FFFFFF"/>
                </a:solidFill>
                <a:latin typeface="IBM Plex Sans"/>
                <a:ea typeface="IBM Plex Sans"/>
                <a:cs typeface="IBM Plex Sans"/>
              </a:endParaRPr>
            </a:p>
          </p:txBody>
        </p:sp>
      </p:grpSp>
      <p:grpSp>
        <p:nvGrpSpPr>
          <p:cNvPr id="27" name="activity0"/>
          <p:cNvGrpSpPr/>
          <p:nvPr/>
        </p:nvGrpSpPr>
        <p:grpSpPr>
          <a:xfrm>
            <a:off x="723900" y="2514600"/>
            <a:ext cx="3429000" cy="1219200"/>
            <a:chOff x="723900" y="2514600"/>
            <a:chExt cx="3429000" cy="1219200"/>
          </a:xfrm>
        </p:grpSpPr>
        <p:sp>
          <p:nvSpPr>
            <p:cNvPr id="7" name="activity0.container"/>
            <p:cNvSpPr/>
            <p:nvPr/>
          </p:nvSpPr>
          <p:spPr>
            <a:xfrm>
              <a:off x="723900" y="2514600"/>
              <a:ext cx="3429000" cy="1219200"/>
            </a:xfrm>
            <a:prstGeom prst="rect">
              <a:avLst/>
            </a:prstGeom>
            <a:solidFill>
              <a:srgbClr val="E8EEF8"/>
            </a:solidFill>
            <a:ln>
              <a:noFill/>
            </a:ln>
          </p:spPr>
        </p:sp>
        <p:sp>
          <p:nvSpPr>
            <p:cNvPr id="8" name="activity0.title"/>
            <p:cNvSpPr/>
            <p:nvPr/>
          </p:nvSpPr>
          <p:spPr>
            <a:xfrm>
              <a:off x="876300" y="26670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Prioritize critical paths</a:t>
              </a:r>
              <a:endParaRPr lang="en-US" sz="1200" spc="0" kern="0" b="0" i="0" dirty="0">
                <a:solidFill>
                  <a:srgbClr val="070154"/>
                </a:solidFill>
                <a:latin typeface="IBM Plex Sans"/>
                <a:ea typeface="IBM Plex Sans"/>
                <a:cs typeface="IBM Plex Sans"/>
              </a:endParaRPr>
            </a:p>
          </p:txBody>
        </p:sp>
        <p:sp>
          <p:nvSpPr>
            <p:cNvPr id="9" name="activity0.body.item-0.paragraph"/>
            <p:cNvSpPr/>
            <p:nvPr/>
          </p:nvSpPr>
          <p:spPr>
            <a:xfrm>
              <a:off x="876300" y="30099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Weeks 1–2: confirm journeys, coverage gaps and release gates with Product.</a:t>
              </a:r>
              <a:endParaRPr lang="en-US" sz="1200" spc="0" kern="0" b="0" i="0" dirty="0">
                <a:solidFill>
                  <a:srgbClr val="50658E"/>
                </a:solidFill>
                <a:latin typeface="IBM Plex Sans"/>
                <a:ea typeface="IBM Plex Sans"/>
                <a:cs typeface="IBM Plex Sans"/>
              </a:endParaRPr>
            </a:p>
          </p:txBody>
        </p:sp>
      </p:grpSp>
      <p:grpSp>
        <p:nvGrpSpPr>
          <p:cNvPr id="28" name="activity1"/>
          <p:cNvGrpSpPr/>
          <p:nvPr/>
        </p:nvGrpSpPr>
        <p:grpSpPr>
          <a:xfrm>
            <a:off x="4381500" y="2514600"/>
            <a:ext cx="3429000" cy="1219200"/>
            <a:chOff x="4381500" y="2514600"/>
            <a:chExt cx="3429000" cy="1219200"/>
          </a:xfrm>
        </p:grpSpPr>
        <p:sp>
          <p:nvSpPr>
            <p:cNvPr id="10" name="activity1.container"/>
            <p:cNvSpPr/>
            <p:nvPr/>
          </p:nvSpPr>
          <p:spPr>
            <a:xfrm>
              <a:off x="4381500" y="2514600"/>
              <a:ext cx="3429000" cy="1219200"/>
            </a:xfrm>
            <a:prstGeom prst="rect">
              <a:avLst/>
            </a:prstGeom>
            <a:solidFill>
              <a:srgbClr val="E8EEF8"/>
            </a:solidFill>
            <a:ln>
              <a:noFill/>
            </a:ln>
          </p:spPr>
        </p:sp>
        <p:sp>
          <p:nvSpPr>
            <p:cNvPr id="11" name="activity1.title"/>
            <p:cNvSpPr/>
            <p:nvPr/>
          </p:nvSpPr>
          <p:spPr>
            <a:xfrm>
              <a:off x="4533900" y="26670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Expand automated testing</a:t>
              </a:r>
              <a:endParaRPr lang="en-US" sz="1200" spc="0" kern="0" b="0" i="0" dirty="0">
                <a:solidFill>
                  <a:srgbClr val="070154"/>
                </a:solidFill>
                <a:latin typeface="IBM Plex Sans"/>
                <a:ea typeface="IBM Plex Sans"/>
                <a:cs typeface="IBM Plex Sans"/>
              </a:endParaRPr>
            </a:p>
          </p:txBody>
        </p:sp>
        <p:sp>
          <p:nvSpPr>
            <p:cNvPr id="12" name="activity1.body.item-0.paragraph"/>
            <p:cNvSpPr/>
            <p:nvPr/>
          </p:nvSpPr>
          <p:spPr>
            <a:xfrm>
              <a:off x="4533900" y="30099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Weeks 3–4: strengthen Playwright coverage and reusable AI test workflows.</a:t>
              </a:r>
              <a:endParaRPr lang="en-US" sz="1200" spc="0" kern="0" b="0" i="0" dirty="0">
                <a:solidFill>
                  <a:srgbClr val="50658E"/>
                </a:solidFill>
                <a:latin typeface="IBM Plex Sans"/>
                <a:ea typeface="IBM Plex Sans"/>
                <a:cs typeface="IBM Plex Sans"/>
              </a:endParaRPr>
            </a:p>
          </p:txBody>
        </p:sp>
      </p:grpSp>
      <p:grpSp>
        <p:nvGrpSpPr>
          <p:cNvPr id="29" name="activity2"/>
          <p:cNvGrpSpPr/>
          <p:nvPr/>
        </p:nvGrpSpPr>
        <p:grpSpPr>
          <a:xfrm>
            <a:off x="723900" y="3886200"/>
            <a:ext cx="3429000" cy="1219200"/>
            <a:chOff x="723900" y="3886200"/>
            <a:chExt cx="3429000" cy="1219200"/>
          </a:xfrm>
        </p:grpSpPr>
        <p:sp>
          <p:nvSpPr>
            <p:cNvPr id="13" name="activity2.container"/>
            <p:cNvSpPr/>
            <p:nvPr/>
          </p:nvSpPr>
          <p:spPr>
            <a:xfrm>
              <a:off x="723900" y="3886200"/>
              <a:ext cx="3429000" cy="1219200"/>
            </a:xfrm>
            <a:prstGeom prst="rect">
              <a:avLst/>
            </a:prstGeom>
            <a:solidFill>
              <a:srgbClr val="E8EEF8"/>
            </a:solidFill>
            <a:ln>
              <a:noFill/>
            </a:ln>
          </p:spPr>
        </p:sp>
        <p:sp>
          <p:nvSpPr>
            <p:cNvPr id="14" name="activity2.title"/>
            <p:cNvSpPr/>
            <p:nvPr/>
          </p:nvSpPr>
          <p:spPr>
            <a:xfrm>
              <a:off x="876300" y="40386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Validate release controls</a:t>
              </a:r>
              <a:endParaRPr lang="en-US" sz="1200" spc="0" kern="0" b="0" i="0" dirty="0">
                <a:solidFill>
                  <a:srgbClr val="070154"/>
                </a:solidFill>
                <a:latin typeface="IBM Plex Sans"/>
                <a:ea typeface="IBM Plex Sans"/>
                <a:cs typeface="IBM Plex Sans"/>
              </a:endParaRPr>
            </a:p>
          </p:txBody>
        </p:sp>
        <p:sp>
          <p:nvSpPr>
            <p:cNvPr id="15" name="activity2.body.item-0.paragraph"/>
            <p:cNvSpPr/>
            <p:nvPr/>
          </p:nvSpPr>
          <p:spPr>
            <a:xfrm>
              <a:off x="876300" y="43815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Weeks 5–6: exercise priority tests and release checks in staging.</a:t>
              </a:r>
              <a:endParaRPr lang="en-US" sz="1200" spc="0" kern="0" b="0" i="0" dirty="0">
                <a:solidFill>
                  <a:srgbClr val="50658E"/>
                </a:solidFill>
                <a:latin typeface="IBM Plex Sans"/>
                <a:ea typeface="IBM Plex Sans"/>
                <a:cs typeface="IBM Plex Sans"/>
              </a:endParaRPr>
            </a:p>
          </p:txBody>
        </p:sp>
      </p:grpSp>
      <p:grpSp>
        <p:nvGrpSpPr>
          <p:cNvPr id="30" name="activity3"/>
          <p:cNvGrpSpPr/>
          <p:nvPr/>
        </p:nvGrpSpPr>
        <p:grpSpPr>
          <a:xfrm>
            <a:off x="4381500" y="3886200"/>
            <a:ext cx="3429000" cy="1219200"/>
            <a:chOff x="4381500" y="3886200"/>
            <a:chExt cx="3429000" cy="1219200"/>
          </a:xfrm>
        </p:grpSpPr>
        <p:sp>
          <p:nvSpPr>
            <p:cNvPr id="16" name="activity3.container"/>
            <p:cNvSpPr/>
            <p:nvPr/>
          </p:nvSpPr>
          <p:spPr>
            <a:xfrm>
              <a:off x="4381500" y="3886200"/>
              <a:ext cx="3429000" cy="1219200"/>
            </a:xfrm>
            <a:prstGeom prst="rect">
              <a:avLst/>
            </a:prstGeom>
            <a:solidFill>
              <a:srgbClr val="E8EEF8"/>
            </a:solidFill>
            <a:ln>
              <a:noFill/>
            </a:ln>
          </p:spPr>
        </p:sp>
        <p:sp>
          <p:nvSpPr>
            <p:cNvPr id="17" name="activity3.title"/>
            <p:cNvSpPr/>
            <p:nvPr/>
          </p:nvSpPr>
          <p:spPr>
            <a:xfrm>
              <a:off x="4533900" y="40386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Coach and transfer ownership</a:t>
              </a:r>
              <a:endParaRPr lang="en-US" sz="1200" spc="0" kern="0" b="0" i="0" dirty="0">
                <a:solidFill>
                  <a:srgbClr val="070154"/>
                </a:solidFill>
                <a:latin typeface="IBM Plex Sans"/>
                <a:ea typeface="IBM Plex Sans"/>
                <a:cs typeface="IBM Plex Sans"/>
              </a:endParaRPr>
            </a:p>
          </p:txBody>
        </p:sp>
        <p:sp>
          <p:nvSpPr>
            <p:cNvPr id="18" name="activity3.body.item-0.paragraph"/>
            <p:cNvSpPr/>
            <p:nvPr/>
          </p:nvSpPr>
          <p:spPr>
            <a:xfrm>
              <a:off x="4533900" y="43815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Assign test owners and scope remaining pipeline and environment improvements.</a:t>
              </a:r>
              <a:endParaRPr lang="en-US" sz="1200" spc="0" kern="0" b="0" i="0" dirty="0">
                <a:solidFill>
                  <a:srgbClr val="50658E"/>
                </a:solidFill>
                <a:latin typeface="IBM Plex Sans"/>
                <a:ea typeface="IBM Plex Sans"/>
                <a:cs typeface="IBM Plex Sans"/>
              </a:endParaRPr>
            </a:p>
          </p:txBody>
        </p:sp>
      </p:grpSp>
      <p:grpSp>
        <p:nvGrpSpPr>
          <p:cNvPr id="31" name="right-panel"/>
          <p:cNvGrpSpPr/>
          <p:nvPr/>
        </p:nvGrpSpPr>
        <p:grpSpPr>
          <a:xfrm>
            <a:off x="8039100" y="1600200"/>
            <a:ext cx="3429000" cy="4343400"/>
            <a:chOff x="8039100" y="1600200"/>
            <a:chExt cx="3429000" cy="4343400"/>
          </a:xfrm>
        </p:grpSpPr>
        <p:sp>
          <p:nvSpPr>
            <p:cNvPr id="19" name="right-panel.container"/>
            <p:cNvSpPr/>
            <p:nvPr/>
          </p:nvSpPr>
          <p:spPr>
            <a:xfrm>
              <a:off x="8039100" y="1600200"/>
              <a:ext cx="3429000" cy="4343400"/>
            </a:xfrm>
            <a:prstGeom prst="rect">
              <a:avLst/>
            </a:prstGeom>
            <a:solidFill>
              <a:srgbClr val="E8EEF8"/>
            </a:solidFill>
            <a:ln>
              <a:noFill/>
            </a:ln>
          </p:spPr>
        </p:sp>
        <p:sp>
          <p:nvSpPr>
            <p:cNvPr id="20" name="right-panel.title"/>
            <p:cNvSpPr/>
            <p:nvPr/>
          </p:nvSpPr>
          <p:spPr>
            <a:xfrm>
              <a:off x="8191500" y="17526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6-week activation</a:t>
              </a:r>
              <a:endParaRPr lang="en-US" sz="1400" spc="0" kern="0" b="0" i="0" dirty="0">
                <a:solidFill>
                  <a:srgbClr val="070154"/>
                </a:solidFill>
                <a:latin typeface="IBM Plex Sans"/>
                <a:ea typeface="IBM Plex Sans"/>
                <a:cs typeface="IBM Plex Sans"/>
              </a:endParaRPr>
            </a:p>
          </p:txBody>
        </p:sp>
        <p:sp>
          <p:nvSpPr>
            <p:cNvPr id="21" name="right-panel.body.item-0.paragraph"/>
            <p:cNvSpPr/>
            <p:nvPr/>
          </p:nvSpPr>
          <p:spPr>
            <a:xfrm>
              <a:off x="8191500" y="2133600"/>
              <a:ext cx="3124200" cy="3200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TEAM</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Executive Engineering Leader · part time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QE Architect · full time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QE Senior Engineer · full time</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DELIVERABLES</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Testing assessment and focus areas</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Environment / release control recommendations</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One sprint of added end-to-end testing capacity</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Agentic skills for faster test creation</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Intellio Evolve evidence database and critical-user-journey inventory</a:t>
              </a:r>
              <a:endParaRPr lang="en-US" sz="1200" spc="0" kern="0" b="0" i="0" dirty="0">
                <a:solidFill>
                  <a:srgbClr val="50658E"/>
                </a:solidFill>
                <a:latin typeface="IBM Plex Sans"/>
                <a:ea typeface="IBM Plex Sans"/>
                <a:cs typeface="IBM Plex Sans"/>
              </a:endParaRPr>
            </a:p>
          </p:txBody>
        </p:sp>
      </p:grpSp>
      <p:grpSp>
        <p:nvGrpSpPr>
          <p:cNvPr id="32" name="duration-note"/>
          <p:cNvGrpSpPr/>
          <p:nvPr/>
        </p:nvGrpSpPr>
        <p:grpSpPr>
          <a:xfrm>
            <a:off x="723900" y="5486400"/>
            <a:ext cx="7086600" cy="457200"/>
            <a:chOff x="723900" y="5486400"/>
            <a:chExt cx="7086600" cy="457200"/>
          </a:xfrm>
        </p:grpSpPr>
        <p:sp>
          <p:nvSpPr>
            <p:cNvPr id="22" name="duration-note.text"/>
            <p:cNvSpPr/>
            <p:nvPr/>
          </p:nvSpPr>
          <p:spPr>
            <a:xfrm>
              <a:off x="723900" y="5486400"/>
              <a:ext cx="70866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Six weeks to improve critical-path coverage and release confidence.</a:t>
              </a:r>
              <a:endParaRPr lang="en-US" sz="1200" spc="0" kern="0" b="0" i="0" dirty="0">
                <a:solidFill>
                  <a:srgbClr val="50658E"/>
                </a:solidFill>
                <a:latin typeface="IBM Plex Sans"/>
                <a:ea typeface="IBM Plex Sans"/>
                <a:cs typeface="IBM Plex Sans"/>
              </a:endParaRPr>
            </a:p>
          </p:txBody>
        </p:sp>
      </p:grpSp>
      <p:grpSp>
        <p:nvGrpSpPr>
          <p:cNvPr id="33" name="authored-header"/>
          <p:cNvGrpSpPr/>
          <p:nvPr/>
        </p:nvGrpSpPr>
        <p:grpSpPr>
          <a:xfrm>
            <a:off x="723900" y="685800"/>
            <a:ext cx="9372600" cy="914400"/>
            <a:chOff x="723900" y="685800"/>
            <a:chExt cx="9372600" cy="914400"/>
          </a:xfrm>
        </p:grpSpPr>
        <p:sp>
          <p:nvSpPr>
            <p:cNvPr id="23"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Strengthen Core testing and release controls</a:t>
              </a:r>
              <a:endParaRPr lang="en-US" sz="3200" spc="-64" kern="0" b="0" i="0" dirty="0">
                <a:solidFill>
                  <a:srgbClr val="070154"/>
                </a:solidFill>
                <a:latin typeface="IBM Plex Sans SemiBold"/>
                <a:ea typeface="IBM Plex Sans SemiBold"/>
                <a:cs typeface="IBM Plex Sans SemiBold"/>
              </a:endParaRPr>
            </a:p>
          </p:txBody>
        </p:sp>
      </p:grpSp>
      <p:grpSp>
        <p:nvGrpSpPr>
          <p:cNvPr id="34" name="authored-eyebrow"/>
          <p:cNvGrpSpPr/>
          <p:nvPr/>
        </p:nvGrpSpPr>
        <p:grpSpPr>
          <a:xfrm>
            <a:off x="723900" y="457200"/>
            <a:ext cx="9372600" cy="228600"/>
            <a:chOff x="723900" y="457200"/>
            <a:chExt cx="9372600" cy="228600"/>
          </a:xfrm>
        </p:grpSpPr>
        <p:sp>
          <p:nvSpPr>
            <p:cNvPr id="24"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ENABLEMENT</a:t>
              </a:r>
              <a:endParaRPr lang="en-US" sz="1000" spc="80" kern="0" b="0" i="0" dirty="0">
                <a:solidFill>
                  <a:srgbClr val="0047FF"/>
                </a:solidFill>
                <a:latin typeface="IBM Plex Mono SemiBold"/>
                <a:ea typeface="IBM Plex Mono SemiBold"/>
                <a:cs typeface="IBM Plex Mono SemiBold"/>
              </a:endParaRPr>
            </a:p>
          </p:txBody>
        </p:sp>
      </p:grpSp>
      <p:grpSp>
        <p:nvGrpSpPr>
          <p:cNvPr id="35" name="client-brand"/>
          <p:cNvGrpSpPr/>
          <p:nvPr/>
        </p:nvGrpSpPr>
        <p:grpSpPr>
          <a:xfrm>
            <a:off x="10382250" y="457200"/>
            <a:ext cx="1028700" cy="457200"/>
            <a:chOff x="10382250" y="457200"/>
            <a:chExt cx="1028700" cy="457200"/>
          </a:xfrm>
        </p:grpSpPr>
        <p:pic>
          <p:nvPicPr>
            <p:cNvPr id="25"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dxc-041">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41</a:t>
            </a:fld>
            <a:endParaRPr lang="en-US" sz="700" spc="0" kern="0" b="0" i="0" dirty="0">
              <a:solidFill>
                <a:srgbClr val="070154"/>
              </a:solidFill>
              <a:latin typeface="IBM Plex Mono SemiBold"/>
              <a:ea typeface="IBM Plex Mono SemiBold"/>
              <a:cs typeface="IBM Plex Mono SemiBold"/>
            </a:endParaRPr>
          </a:p>
        </p:txBody>
      </p:sp>
      <p:grpSp>
        <p:nvGrpSpPr>
          <p:cNvPr id="25" name="card0"/>
          <p:cNvGrpSpPr/>
          <p:nvPr/>
        </p:nvGrpSpPr>
        <p:grpSpPr>
          <a:xfrm>
            <a:off x="723900" y="1600200"/>
            <a:ext cx="3429000" cy="3200400"/>
            <a:chOff x="723900" y="1600200"/>
            <a:chExt cx="3429000" cy="3200400"/>
          </a:xfrm>
        </p:grpSpPr>
        <p:sp>
          <p:nvSpPr>
            <p:cNvPr id="5" name="card0.container"/>
            <p:cNvSpPr/>
            <p:nvPr/>
          </p:nvSpPr>
          <p:spPr>
            <a:xfrm>
              <a:off x="723900" y="1600200"/>
              <a:ext cx="3429000" cy="3200400"/>
            </a:xfrm>
            <a:prstGeom prst="rect">
              <a:avLst/>
            </a:prstGeom>
            <a:solidFill>
              <a:srgbClr val="E8EEF8"/>
            </a:solidFill>
            <a:ln>
              <a:noFill/>
            </a:ln>
          </p:spPr>
        </p:sp>
        <p:sp>
          <p:nvSpPr>
            <p:cNvPr id="6" name="card0.edge"/>
            <p:cNvSpPr/>
            <p:nvPr/>
          </p:nvSpPr>
          <p:spPr>
            <a:xfrm>
              <a:off x="723900" y="1600200"/>
              <a:ext cx="38100" cy="3200400"/>
            </a:xfrm>
            <a:prstGeom prst="rect">
              <a:avLst/>
            </a:prstGeom>
            <a:solidFill>
              <a:srgbClr val="0047FF"/>
            </a:solidFill>
            <a:ln>
              <a:noFill/>
            </a:ln>
          </p:spPr>
        </p:sp>
        <p:sp>
          <p:nvSpPr>
            <p:cNvPr id="7" name="card0.number"/>
            <p:cNvSpPr/>
            <p:nvPr/>
          </p:nvSpPr>
          <p:spPr>
            <a:xfrm>
              <a:off x="9144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01</a:t>
              </a:r>
              <a:endParaRPr lang="en-US" sz="1800" spc="0" kern="0" b="0" i="0" dirty="0">
                <a:solidFill>
                  <a:srgbClr val="0047FF"/>
                </a:solidFill>
                <a:latin typeface="IBM Plex Mono SemiBold"/>
                <a:ea typeface="IBM Plex Mono SemiBold"/>
                <a:cs typeface="IBM Plex Mono SemiBold"/>
              </a:endParaRPr>
            </a:p>
          </p:txBody>
        </p:sp>
        <p:sp>
          <p:nvSpPr>
            <p:cNvPr id="8" name="card0.title"/>
            <p:cNvSpPr/>
            <p:nvPr/>
          </p:nvSpPr>
          <p:spPr>
            <a:xfrm>
              <a:off x="1314450" y="1776984"/>
              <a:ext cx="26860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Product strategy spike</a:t>
              </a:r>
              <a:endParaRPr lang="en-US" sz="1400" spc="0" kern="0" b="0" i="0" dirty="0">
                <a:solidFill>
                  <a:srgbClr val="070154"/>
                </a:solidFill>
                <a:latin typeface="IBM Plex Sans"/>
                <a:ea typeface="IBM Plex Sans"/>
                <a:cs typeface="IBM Plex Sans"/>
              </a:endParaRPr>
            </a:p>
          </p:txBody>
        </p:sp>
        <p:sp>
          <p:nvSpPr>
            <p:cNvPr id="9" name="card0.body.item-0.paragraph"/>
            <p:cNvSpPr/>
            <p:nvPr/>
          </p:nvSpPr>
          <p:spPr>
            <a:xfrm>
              <a:off x="914400" y="2171700"/>
              <a:ext cx="3086100" cy="1371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4 weeks</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Sameer Karim · Executive Product Strategy (part time)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Mzati Kapalamula · Senior Product Strategist (full time)</a:t>
              </a:r>
              <a:endParaRPr lang="en-US" sz="1200" spc="0" kern="0" b="0" i="0" dirty="0">
                <a:solidFill>
                  <a:srgbClr val="50658E"/>
                </a:solidFill>
                <a:latin typeface="IBM Plex Sans"/>
                <a:ea typeface="IBM Plex Sans"/>
                <a:cs typeface="IBM Plex Sans"/>
              </a:endParaRPr>
            </a:p>
          </p:txBody>
        </p:sp>
      </p:grpSp>
      <p:grpSp>
        <p:nvGrpSpPr>
          <p:cNvPr id="26" name="card1"/>
          <p:cNvGrpSpPr/>
          <p:nvPr/>
        </p:nvGrpSpPr>
        <p:grpSpPr>
          <a:xfrm>
            <a:off x="4381500" y="1600200"/>
            <a:ext cx="3429000" cy="3200400"/>
            <a:chOff x="4381500" y="1600200"/>
            <a:chExt cx="3429000" cy="3200400"/>
          </a:xfrm>
        </p:grpSpPr>
        <p:sp>
          <p:nvSpPr>
            <p:cNvPr id="10" name="card1.container"/>
            <p:cNvSpPr/>
            <p:nvPr/>
          </p:nvSpPr>
          <p:spPr>
            <a:xfrm>
              <a:off x="4381500" y="1600200"/>
              <a:ext cx="3429000" cy="3200400"/>
            </a:xfrm>
            <a:prstGeom prst="rect">
              <a:avLst/>
            </a:prstGeom>
            <a:solidFill>
              <a:srgbClr val="E8EEF8"/>
            </a:solidFill>
            <a:ln>
              <a:noFill/>
            </a:ln>
          </p:spPr>
        </p:sp>
        <p:sp>
          <p:nvSpPr>
            <p:cNvPr id="11" name="card1.edge"/>
            <p:cNvSpPr/>
            <p:nvPr/>
          </p:nvSpPr>
          <p:spPr>
            <a:xfrm>
              <a:off x="4381500" y="1600200"/>
              <a:ext cx="38100" cy="3200400"/>
            </a:xfrm>
            <a:prstGeom prst="rect">
              <a:avLst/>
            </a:prstGeom>
            <a:solidFill>
              <a:srgbClr val="0047FF"/>
            </a:solidFill>
            <a:ln>
              <a:noFill/>
            </a:ln>
          </p:spPr>
        </p:sp>
        <p:sp>
          <p:nvSpPr>
            <p:cNvPr id="12" name="card1.number"/>
            <p:cNvSpPr/>
            <p:nvPr/>
          </p:nvSpPr>
          <p:spPr>
            <a:xfrm>
              <a:off x="45720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02</a:t>
              </a:r>
              <a:endParaRPr lang="en-US" sz="1800" spc="0" kern="0" b="0" i="0" dirty="0">
                <a:solidFill>
                  <a:srgbClr val="0047FF"/>
                </a:solidFill>
                <a:latin typeface="IBM Plex Mono SemiBold"/>
                <a:ea typeface="IBM Plex Mono SemiBold"/>
                <a:cs typeface="IBM Plex Mono SemiBold"/>
              </a:endParaRPr>
            </a:p>
          </p:txBody>
        </p:sp>
        <p:sp>
          <p:nvSpPr>
            <p:cNvPr id="13" name="card1.title"/>
            <p:cNvSpPr/>
            <p:nvPr/>
          </p:nvSpPr>
          <p:spPr>
            <a:xfrm>
              <a:off x="4972050" y="1776984"/>
              <a:ext cx="268605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Reconcile AI engineering across Core</a:t>
              </a:r>
              <a:endParaRPr lang="en-US" sz="1400" spc="0" kern="0" b="0" i="0" dirty="0">
                <a:solidFill>
                  <a:srgbClr val="070154"/>
                </a:solidFill>
                <a:latin typeface="IBM Plex Sans"/>
                <a:ea typeface="IBM Plex Sans"/>
                <a:cs typeface="IBM Plex Sans"/>
              </a:endParaRPr>
            </a:p>
          </p:txBody>
        </p:sp>
        <p:sp>
          <p:nvSpPr>
            <p:cNvPr id="14" name="card1.body.item-0.paragraph"/>
            <p:cNvSpPr/>
            <p:nvPr/>
          </p:nvSpPr>
          <p:spPr>
            <a:xfrm>
              <a:off x="4572000" y="2424684"/>
              <a:ext cx="3086100" cy="1143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6 weeks</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Ri Scott· Executive Engineering Leader (part time)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Gerardo Arroyo · Senior Architect · full time</a:t>
              </a:r>
              <a:endParaRPr lang="en-US" sz="1200" spc="0" kern="0" b="0" i="0" dirty="0">
                <a:solidFill>
                  <a:srgbClr val="50658E"/>
                </a:solidFill>
                <a:latin typeface="IBM Plex Sans"/>
                <a:ea typeface="IBM Plex Sans"/>
                <a:cs typeface="IBM Plex Sans"/>
              </a:endParaRPr>
            </a:p>
          </p:txBody>
        </p:sp>
      </p:grpSp>
      <p:grpSp>
        <p:nvGrpSpPr>
          <p:cNvPr id="27" name="card2"/>
          <p:cNvGrpSpPr/>
          <p:nvPr/>
        </p:nvGrpSpPr>
        <p:grpSpPr>
          <a:xfrm>
            <a:off x="8039100" y="1600200"/>
            <a:ext cx="3429000" cy="3200400"/>
            <a:chOff x="8039100" y="1600200"/>
            <a:chExt cx="3429000" cy="3200400"/>
          </a:xfrm>
        </p:grpSpPr>
        <p:sp>
          <p:nvSpPr>
            <p:cNvPr id="15" name="card2.container"/>
            <p:cNvSpPr/>
            <p:nvPr/>
          </p:nvSpPr>
          <p:spPr>
            <a:xfrm>
              <a:off x="8039100" y="1600200"/>
              <a:ext cx="3429000" cy="3200400"/>
            </a:xfrm>
            <a:prstGeom prst="rect">
              <a:avLst/>
            </a:prstGeom>
            <a:solidFill>
              <a:srgbClr val="E8EEF8"/>
            </a:solidFill>
            <a:ln>
              <a:noFill/>
            </a:ln>
          </p:spPr>
        </p:sp>
        <p:sp>
          <p:nvSpPr>
            <p:cNvPr id="16" name="card2.edge"/>
            <p:cNvSpPr/>
            <p:nvPr/>
          </p:nvSpPr>
          <p:spPr>
            <a:xfrm>
              <a:off x="8039100" y="1600200"/>
              <a:ext cx="38100" cy="3200400"/>
            </a:xfrm>
            <a:prstGeom prst="rect">
              <a:avLst/>
            </a:prstGeom>
            <a:solidFill>
              <a:srgbClr val="0047FF"/>
            </a:solidFill>
            <a:ln>
              <a:noFill/>
            </a:ln>
          </p:spPr>
        </p:sp>
        <p:sp>
          <p:nvSpPr>
            <p:cNvPr id="17" name="card2.number"/>
            <p:cNvSpPr/>
            <p:nvPr/>
          </p:nvSpPr>
          <p:spPr>
            <a:xfrm>
              <a:off x="8229600" y="1752600"/>
              <a:ext cx="285750" cy="304800"/>
            </a:xfrm>
            <a:prstGeom prst="rect">
              <a:avLst/>
            </a:prstGeom>
            <a:noFill/>
            <a:ln/>
          </p:spPr>
          <p:txBody>
            <a:bodyPr wrap="square" lIns="0" tIns="0" rIns="0" bIns="0" rtlCol="0" anchor="t"/>
            <a:lstStyle/>
            <a:p>
              <a:pPr algn="l" indent="0" marL="0">
                <a:lnSpc>
                  <a:spcPts val="2400"/>
                </a:lnSpc>
                <a:buNone/>
              </a:pPr>
              <a:r>
                <a:rPr lang="en-US" sz="1800" spc="0" kern="0" b="0" i="0" dirty="0">
                  <a:solidFill>
                    <a:srgbClr val="0047FF"/>
                  </a:solidFill>
                  <a:latin typeface="IBM Plex Mono SemiBold"/>
                  <a:ea typeface="IBM Plex Mono SemiBold"/>
                  <a:cs typeface="IBM Plex Mono SemiBold"/>
                </a:rPr>
                <a:t>03</a:t>
              </a:r>
              <a:endParaRPr lang="en-US" sz="1800" spc="0" kern="0" b="0" i="0" dirty="0">
                <a:solidFill>
                  <a:srgbClr val="0047FF"/>
                </a:solidFill>
                <a:latin typeface="IBM Plex Mono SemiBold"/>
                <a:ea typeface="IBM Plex Mono SemiBold"/>
                <a:cs typeface="IBM Plex Mono SemiBold"/>
              </a:endParaRPr>
            </a:p>
          </p:txBody>
        </p:sp>
        <p:sp>
          <p:nvSpPr>
            <p:cNvPr id="18" name="card2.title"/>
            <p:cNvSpPr/>
            <p:nvPr/>
          </p:nvSpPr>
          <p:spPr>
            <a:xfrm>
              <a:off x="8629650" y="1776984"/>
              <a:ext cx="268605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Testing &amp; release controls</a:t>
              </a:r>
              <a:endParaRPr lang="en-US" sz="1400" spc="0" kern="0" b="0" i="0" dirty="0">
                <a:solidFill>
                  <a:srgbClr val="070154"/>
                </a:solidFill>
                <a:latin typeface="IBM Plex Sans"/>
                <a:ea typeface="IBM Plex Sans"/>
                <a:cs typeface="IBM Plex Sans"/>
              </a:endParaRPr>
            </a:p>
          </p:txBody>
        </p:sp>
        <p:sp>
          <p:nvSpPr>
            <p:cNvPr id="19" name="card2.body.item-0.paragraph"/>
            <p:cNvSpPr/>
            <p:nvPr/>
          </p:nvSpPr>
          <p:spPr>
            <a:xfrm>
              <a:off x="8229600" y="2171700"/>
              <a:ext cx="308610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6 weeks</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Ri Scott · Executive Engineering Leader (part time)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Quality Engineering Architect · full time</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Quality Engineering Senior Engineer · full time</a:t>
              </a:r>
              <a:endParaRPr lang="en-US" sz="1200" spc="0" kern="0" b="0" i="0" dirty="0">
                <a:solidFill>
                  <a:srgbClr val="50658E"/>
                </a:solidFill>
                <a:latin typeface="IBM Plex Sans"/>
                <a:ea typeface="IBM Plex Sans"/>
                <a:cs typeface="IBM Plex Sans"/>
              </a:endParaRPr>
            </a:p>
          </p:txBody>
        </p:sp>
      </p:grpSp>
      <p:grpSp>
        <p:nvGrpSpPr>
          <p:cNvPr id="28" name="combined-investment"/>
          <p:cNvGrpSpPr/>
          <p:nvPr/>
        </p:nvGrpSpPr>
        <p:grpSpPr>
          <a:xfrm>
            <a:off x="723900" y="5105400"/>
            <a:ext cx="10744200" cy="838200"/>
            <a:chOff x="723900" y="5105400"/>
            <a:chExt cx="10744200" cy="838200"/>
          </a:xfrm>
        </p:grpSpPr>
        <p:sp>
          <p:nvSpPr>
            <p:cNvPr id="20" name="combined-investment.surface"/>
            <p:cNvSpPr/>
            <p:nvPr/>
          </p:nvSpPr>
          <p:spPr>
            <a:xfrm>
              <a:off x="723900" y="5105400"/>
              <a:ext cx="10744200" cy="838200"/>
            </a:xfrm>
            <a:prstGeom prst="rect">
              <a:avLst/>
            </a:prstGeom>
            <a:solidFill>
              <a:srgbClr val="E8EEF8"/>
            </a:solidFill>
            <a:ln>
              <a:noFill/>
            </a:ln>
          </p:spPr>
        </p:sp>
        <p:sp>
          <p:nvSpPr>
            <p:cNvPr id="21" name="combined-investment.text"/>
            <p:cNvSpPr/>
            <p:nvPr/>
          </p:nvSpPr>
          <p:spPr>
            <a:xfrm>
              <a:off x="876300" y="54102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ALL THREE WORKSTREAMS: Total fees $370,000  −  Phase 1 credit $25,000  =  Total investment $345,000</a:t>
              </a:r>
              <a:endParaRPr lang="en-US" sz="1200" spc="0" kern="0" b="0" i="0" dirty="0">
                <a:solidFill>
                  <a:srgbClr val="070154"/>
                </a:solidFill>
                <a:latin typeface="IBM Plex Sans"/>
                <a:ea typeface="IBM Plex Sans"/>
                <a:cs typeface="IBM Plex Sans"/>
              </a:endParaRPr>
            </a:p>
          </p:txBody>
        </p:sp>
      </p:grpSp>
      <p:grpSp>
        <p:nvGrpSpPr>
          <p:cNvPr id="29" name="authored-header"/>
          <p:cNvGrpSpPr/>
          <p:nvPr/>
        </p:nvGrpSpPr>
        <p:grpSpPr>
          <a:xfrm>
            <a:off x="723900" y="685800"/>
            <a:ext cx="9372600" cy="914400"/>
            <a:chOff x="723900" y="685800"/>
            <a:chExt cx="9372600" cy="914400"/>
          </a:xfrm>
        </p:grpSpPr>
        <p:sp>
          <p:nvSpPr>
            <p:cNvPr id="22"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Parallel workstreams, combined investment</a:t>
              </a:r>
              <a:endParaRPr lang="en-US" sz="3200" spc="-64" kern="0" b="0" i="0" dirty="0">
                <a:solidFill>
                  <a:srgbClr val="070154"/>
                </a:solidFill>
                <a:latin typeface="IBM Plex Sans SemiBold"/>
                <a:ea typeface="IBM Plex Sans SemiBold"/>
                <a:cs typeface="IBM Plex Sans SemiBold"/>
              </a:endParaRPr>
            </a:p>
          </p:txBody>
        </p:sp>
      </p:grpSp>
      <p:grpSp>
        <p:nvGrpSpPr>
          <p:cNvPr id="30" name="authored-eyebrow"/>
          <p:cNvGrpSpPr/>
          <p:nvPr/>
        </p:nvGrpSpPr>
        <p:grpSpPr>
          <a:xfrm>
            <a:off x="723900" y="457200"/>
            <a:ext cx="9372600" cy="228600"/>
            <a:chOff x="723900" y="457200"/>
            <a:chExt cx="9372600" cy="228600"/>
          </a:xfrm>
        </p:grpSpPr>
        <p:sp>
          <p:nvSpPr>
            <p:cNvPr id="23"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RECOMMENDED NEXT PHASE</a:t>
              </a:r>
              <a:endParaRPr lang="en-US" sz="1000" spc="80" kern="0" b="0" i="0" dirty="0">
                <a:solidFill>
                  <a:srgbClr val="0047FF"/>
                </a:solidFill>
                <a:latin typeface="IBM Plex Mono SemiBold"/>
                <a:ea typeface="IBM Plex Mono SemiBold"/>
                <a:cs typeface="IBM Plex Mono SemiBold"/>
              </a:endParaRPr>
            </a:p>
          </p:txBody>
        </p:sp>
      </p:grpSp>
      <p:grpSp>
        <p:nvGrpSpPr>
          <p:cNvPr id="31" name="client-brand"/>
          <p:cNvGrpSpPr/>
          <p:nvPr/>
        </p:nvGrpSpPr>
        <p:grpSpPr>
          <a:xfrm>
            <a:off x="10382250" y="457200"/>
            <a:ext cx="1028700" cy="457200"/>
            <a:chOff x="10382250" y="457200"/>
            <a:chExt cx="1028700" cy="457200"/>
          </a:xfrm>
        </p:grpSpPr>
        <p:pic>
          <p:nvPicPr>
            <p:cNvPr id="24"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name="dxc-042">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42</a:t>
            </a:fld>
            <a:endParaRPr lang="en-US" sz="700" spc="0" kern="0" b="0" i="0" dirty="0">
              <a:solidFill>
                <a:srgbClr val="070154"/>
              </a:solidFill>
              <a:latin typeface="IBM Plex Mono SemiBold"/>
              <a:ea typeface="IBM Plex Mono SemiBold"/>
              <a:cs typeface="IBM Plex Mono SemiBold"/>
            </a:endParaRPr>
          </a:p>
        </p:txBody>
      </p:sp>
      <p:grpSp>
        <p:nvGrpSpPr>
          <p:cNvPr id="11" name="register"/>
          <p:cNvGrpSpPr/>
          <p:nvPr/>
        </p:nvGrpSpPr>
        <p:grpSpPr>
          <a:xfrm>
            <a:off x="723900" y="1600200"/>
            <a:ext cx="10744200" cy="4013200"/>
            <a:chOff x="723900" y="1600200"/>
            <a:chExt cx="10744200" cy="4013200"/>
          </a:xfrm>
        </p:grpSpPr>
        <p:graphicFrame>
          <p:nvGraphicFramePr>
            <p:cNvPr id="5" name="register.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1905000"/>
                  <a:gridCol w="2286000"/>
                  <a:gridCol w="6553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PRODUCT TRACK</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ENGINEERING TRACK</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914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What we saw</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be completed by the product team]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Two platforms at very different maturity: Reconcile AI leads on technical design, AI-assisted build, and test automation, while Core relies on manual regression. Half of 2026 Core production changes were unplanned, and delivery is not measured end to end.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What we recommend now</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be completed by the product team]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Five engineering recommendations, each starting with one pilot: a root-cause review of unplanned changes (E1), a map of Core's highest-risk regression (E2), wait times for access and test data (E3), a delivery baseline (E4), and sanctioned tools for agentic work (E5).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How it rolls out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be completed by the product team]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One pilot pod per recommendation: Core for release stability and quality, Reconcile AI and the Rules Engine for environments and data, Reconcile AI for agentic delivery. What works extends to Eligibility AI, Pay Connect, and the other pods, with a light, human-gated version for Core.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9144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What we need from leadership</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be completed by the product team]</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An owner for each of E1–E5, agreement on the pilot pods, the sanctioned AI tools and PHI rule before the December AIDLC rollout, and access to release and Jira data to build the baseline.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2" name="qualification"/>
          <p:cNvGrpSpPr/>
          <p:nvPr/>
        </p:nvGrpSpPr>
        <p:grpSpPr>
          <a:xfrm>
            <a:off x="723900" y="5638800"/>
            <a:ext cx="10744200" cy="304800"/>
            <a:chOff x="723900" y="5638800"/>
            <a:chExt cx="10744200" cy="304800"/>
          </a:xfrm>
        </p:grpSpPr>
        <p:sp>
          <p:nvSpPr>
            <p:cNvPr id="6" name="qualification.surface"/>
            <p:cNvSpPr/>
            <p:nvPr/>
          </p:nvSpPr>
          <p:spPr>
            <a:xfrm>
              <a:off x="723900" y="5638800"/>
              <a:ext cx="10744200" cy="304800"/>
            </a:xfrm>
            <a:prstGeom prst="rect">
              <a:avLst/>
            </a:prstGeom>
            <a:solidFill>
              <a:srgbClr val="E8EEF8"/>
            </a:solidFill>
            <a:ln>
              <a:noFill/>
            </a:ln>
          </p:spPr>
        </p:sp>
        <p:sp>
          <p:nvSpPr>
            <p:cNvPr id="7" name="qualification.text"/>
            <p:cNvSpPr/>
            <p:nvPr/>
          </p:nvSpPr>
          <p:spPr>
            <a:xfrm>
              <a:off x="876300" y="5715000"/>
              <a:ext cx="104394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Both tracks use the same horizons: Now (readout and first 30 days), Next (1–3 months), and Future (3–6+ months).</a:t>
              </a:r>
              <a:endParaRPr lang="en-US" sz="900" spc="0" kern="0" b="0" i="0" dirty="0">
                <a:solidFill>
                  <a:srgbClr val="070154"/>
                </a:solidFill>
                <a:latin typeface="IBM Plex Sans"/>
                <a:ea typeface="IBM Plex Sans"/>
                <a:cs typeface="IBM Plex Sans"/>
              </a:endParaRPr>
            </a:p>
          </p:txBody>
        </p:sp>
      </p:grpSp>
      <p:grpSp>
        <p:nvGrpSpPr>
          <p:cNvPr id="13" name="authored-header"/>
          <p:cNvGrpSpPr/>
          <p:nvPr/>
        </p:nvGrpSpPr>
        <p:grpSpPr>
          <a:xfrm>
            <a:off x="723900" y="685800"/>
            <a:ext cx="9372600" cy="914400"/>
            <a:chOff x="723900" y="685800"/>
            <a:chExt cx="9372600" cy="914400"/>
          </a:xfrm>
        </p:grpSpPr>
        <p:sp>
          <p:nvSpPr>
            <p:cNvPr id="8"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Executive summary</a:t>
              </a:r>
              <a:endParaRPr lang="en-US" sz="3200" spc="-64" kern="0" b="0" i="0" dirty="0">
                <a:solidFill>
                  <a:srgbClr val="070154"/>
                </a:solidFill>
                <a:latin typeface="IBM Plex Sans SemiBold"/>
                <a:ea typeface="IBM Plex Sans SemiBold"/>
                <a:cs typeface="IBM Plex Sans SemiBold"/>
              </a:endParaRPr>
            </a:p>
          </p:txBody>
        </p:sp>
      </p:grpSp>
      <p:grpSp>
        <p:nvGrpSpPr>
          <p:cNvPr id="14" name="authored-eyebrow"/>
          <p:cNvGrpSpPr/>
          <p:nvPr/>
        </p:nvGrpSpPr>
        <p:grpSpPr>
          <a:xfrm>
            <a:off x="723900" y="457200"/>
            <a:ext cx="9372600" cy="228600"/>
            <a:chOff x="723900" y="457200"/>
            <a:chExt cx="9372600" cy="228600"/>
          </a:xfrm>
        </p:grpSpPr>
        <p:sp>
          <p:nvSpPr>
            <p:cNvPr id="9"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WORKING DRAFT</a:t>
              </a:r>
              <a:endParaRPr lang="en-US" sz="1000" spc="80" kern="0" b="0" i="0" dirty="0">
                <a:solidFill>
                  <a:srgbClr val="0047FF"/>
                </a:solidFill>
                <a:latin typeface="IBM Plex Mono SemiBold"/>
                <a:ea typeface="IBM Plex Mono SemiBold"/>
                <a:cs typeface="IBM Plex Mono SemiBold"/>
              </a:endParaRPr>
            </a:p>
          </p:txBody>
        </p:sp>
      </p:gr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dxc-043">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43</a:t>
            </a:fld>
            <a:endParaRPr lang="en-US" sz="700" spc="0" kern="0" b="0" i="0" dirty="0">
              <a:solidFill>
                <a:srgbClr val="070154"/>
              </a:solidFill>
              <a:latin typeface="IBM Plex Mono SemiBold"/>
              <a:ea typeface="IBM Plex Mono SemiBold"/>
              <a:cs typeface="IBM Plex Mono SemiBold"/>
            </a:endParaRPr>
          </a:p>
        </p:txBody>
      </p:sp>
      <p:grpSp>
        <p:nvGrpSpPr>
          <p:cNvPr id="150" name="rating-0-0"/>
          <p:cNvGrpSpPr/>
          <p:nvPr/>
        </p:nvGrpSpPr>
        <p:grpSpPr>
          <a:xfrm>
            <a:off x="723900" y="1600200"/>
            <a:ext cx="2730500" cy="381000"/>
            <a:chOff x="723900" y="1600200"/>
            <a:chExt cx="2730500" cy="381000"/>
          </a:xfrm>
        </p:grpSpPr>
        <p:sp>
          <p:nvSpPr>
            <p:cNvPr id="5" name="rating-0-0.surface"/>
            <p:cNvSpPr/>
            <p:nvPr/>
          </p:nvSpPr>
          <p:spPr>
            <a:xfrm>
              <a:off x="723900" y="1600200"/>
              <a:ext cx="2730500" cy="381000"/>
            </a:xfrm>
            <a:prstGeom prst="rect">
              <a:avLst/>
            </a:prstGeom>
            <a:solidFill>
              <a:srgbClr val="070154"/>
            </a:solidFill>
            <a:ln>
              <a:noFill/>
            </a:ln>
          </p:spPr>
        </p:sp>
        <p:sp>
          <p:nvSpPr>
            <p:cNvPr id="6" name="rating-0-0.text"/>
            <p:cNvSpPr/>
            <p:nvPr/>
          </p:nvSpPr>
          <p:spPr>
            <a:xfrm>
              <a:off x="876300" y="17145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Practice area</a:t>
              </a:r>
              <a:endParaRPr lang="en-US" sz="900" spc="0" kern="0" b="0" i="0" dirty="0">
                <a:solidFill>
                  <a:srgbClr val="FFFFFF"/>
                </a:solidFill>
                <a:latin typeface="IBM Plex Sans"/>
                <a:ea typeface="IBM Plex Sans"/>
                <a:cs typeface="IBM Plex Sans"/>
              </a:endParaRPr>
            </a:p>
          </p:txBody>
        </p:sp>
      </p:grpSp>
      <p:grpSp>
        <p:nvGrpSpPr>
          <p:cNvPr id="151" name="rating-0-1"/>
          <p:cNvGrpSpPr/>
          <p:nvPr/>
        </p:nvGrpSpPr>
        <p:grpSpPr>
          <a:xfrm>
            <a:off x="3467100" y="1600200"/>
            <a:ext cx="1320800" cy="381000"/>
            <a:chOff x="3467100" y="1600200"/>
            <a:chExt cx="1320800" cy="381000"/>
          </a:xfrm>
        </p:grpSpPr>
        <p:sp>
          <p:nvSpPr>
            <p:cNvPr id="7" name="rating-0-1.surface"/>
            <p:cNvSpPr/>
            <p:nvPr/>
          </p:nvSpPr>
          <p:spPr>
            <a:xfrm>
              <a:off x="3467100" y="1600200"/>
              <a:ext cx="1320800" cy="381000"/>
            </a:xfrm>
            <a:prstGeom prst="rect">
              <a:avLst/>
            </a:prstGeom>
            <a:solidFill>
              <a:srgbClr val="070154"/>
            </a:solidFill>
            <a:ln>
              <a:noFill/>
            </a:ln>
          </p:spPr>
        </p:sp>
        <p:sp>
          <p:nvSpPr>
            <p:cNvPr id="8" name="rating-0-1.text"/>
            <p:cNvSpPr/>
            <p:nvPr/>
          </p:nvSpPr>
          <p:spPr>
            <a:xfrm>
              <a:off x="36195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Identify</a:t>
              </a:r>
              <a:endParaRPr lang="en-US" sz="900" spc="0" kern="0" b="0" i="0" dirty="0">
                <a:solidFill>
                  <a:srgbClr val="FFFFFF"/>
                </a:solidFill>
                <a:latin typeface="IBM Plex Sans"/>
                <a:ea typeface="IBM Plex Sans"/>
                <a:cs typeface="IBM Plex Sans"/>
              </a:endParaRPr>
            </a:p>
          </p:txBody>
        </p:sp>
      </p:grpSp>
      <p:grpSp>
        <p:nvGrpSpPr>
          <p:cNvPr id="152" name="rating-0-2"/>
          <p:cNvGrpSpPr/>
          <p:nvPr/>
        </p:nvGrpSpPr>
        <p:grpSpPr>
          <a:xfrm>
            <a:off x="4800600" y="1600200"/>
            <a:ext cx="1320800" cy="381000"/>
            <a:chOff x="4800600" y="1600200"/>
            <a:chExt cx="1320800" cy="381000"/>
          </a:xfrm>
        </p:grpSpPr>
        <p:sp>
          <p:nvSpPr>
            <p:cNvPr id="9" name="rating-0-2.surface"/>
            <p:cNvSpPr/>
            <p:nvPr/>
          </p:nvSpPr>
          <p:spPr>
            <a:xfrm>
              <a:off x="4800600" y="1600200"/>
              <a:ext cx="1320800" cy="381000"/>
            </a:xfrm>
            <a:prstGeom prst="rect">
              <a:avLst/>
            </a:prstGeom>
            <a:solidFill>
              <a:srgbClr val="070154"/>
            </a:solidFill>
            <a:ln>
              <a:noFill/>
            </a:ln>
          </p:spPr>
        </p:sp>
        <p:sp>
          <p:nvSpPr>
            <p:cNvPr id="10" name="rating-0-2.text"/>
            <p:cNvSpPr/>
            <p:nvPr/>
          </p:nvSpPr>
          <p:spPr>
            <a:xfrm>
              <a:off x="49530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Prioritization</a:t>
              </a:r>
              <a:endParaRPr lang="en-US" sz="900" spc="0" kern="0" b="0" i="0" dirty="0">
                <a:solidFill>
                  <a:srgbClr val="FFFFFF"/>
                </a:solidFill>
                <a:latin typeface="IBM Plex Sans"/>
                <a:ea typeface="IBM Plex Sans"/>
                <a:cs typeface="IBM Plex Sans"/>
              </a:endParaRPr>
            </a:p>
          </p:txBody>
        </p:sp>
      </p:grpSp>
      <p:grpSp>
        <p:nvGrpSpPr>
          <p:cNvPr id="153" name="rating-0-3"/>
          <p:cNvGrpSpPr/>
          <p:nvPr/>
        </p:nvGrpSpPr>
        <p:grpSpPr>
          <a:xfrm>
            <a:off x="6134100" y="1600200"/>
            <a:ext cx="1320800" cy="381000"/>
            <a:chOff x="6134100" y="1600200"/>
            <a:chExt cx="1320800" cy="381000"/>
          </a:xfrm>
        </p:grpSpPr>
        <p:sp>
          <p:nvSpPr>
            <p:cNvPr id="11" name="rating-0-3.surface"/>
            <p:cNvSpPr/>
            <p:nvPr/>
          </p:nvSpPr>
          <p:spPr>
            <a:xfrm>
              <a:off x="6134100" y="1600200"/>
              <a:ext cx="1320800" cy="381000"/>
            </a:xfrm>
            <a:prstGeom prst="rect">
              <a:avLst/>
            </a:prstGeom>
            <a:solidFill>
              <a:srgbClr val="070154"/>
            </a:solidFill>
            <a:ln>
              <a:noFill/>
            </a:ln>
          </p:spPr>
        </p:sp>
        <p:sp>
          <p:nvSpPr>
            <p:cNvPr id="12" name="rating-0-3.text"/>
            <p:cNvSpPr/>
            <p:nvPr/>
          </p:nvSpPr>
          <p:spPr>
            <a:xfrm>
              <a:off x="62865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Definition</a:t>
              </a:r>
              <a:endParaRPr lang="en-US" sz="900" spc="0" kern="0" b="0" i="0" dirty="0">
                <a:solidFill>
                  <a:srgbClr val="FFFFFF"/>
                </a:solidFill>
                <a:latin typeface="IBM Plex Sans"/>
                <a:ea typeface="IBM Plex Sans"/>
                <a:cs typeface="IBM Plex Sans"/>
              </a:endParaRPr>
            </a:p>
          </p:txBody>
        </p:sp>
      </p:grpSp>
      <p:grpSp>
        <p:nvGrpSpPr>
          <p:cNvPr id="154" name="rating-0-4"/>
          <p:cNvGrpSpPr/>
          <p:nvPr/>
        </p:nvGrpSpPr>
        <p:grpSpPr>
          <a:xfrm>
            <a:off x="7467600" y="1600200"/>
            <a:ext cx="1320800" cy="381000"/>
            <a:chOff x="7467600" y="1600200"/>
            <a:chExt cx="1320800" cy="381000"/>
          </a:xfrm>
        </p:grpSpPr>
        <p:sp>
          <p:nvSpPr>
            <p:cNvPr id="13" name="rating-0-4.surface"/>
            <p:cNvSpPr/>
            <p:nvPr/>
          </p:nvSpPr>
          <p:spPr>
            <a:xfrm>
              <a:off x="7467600" y="1600200"/>
              <a:ext cx="1320800" cy="381000"/>
            </a:xfrm>
            <a:prstGeom prst="rect">
              <a:avLst/>
            </a:prstGeom>
            <a:solidFill>
              <a:srgbClr val="070154"/>
            </a:solidFill>
            <a:ln>
              <a:noFill/>
            </a:ln>
          </p:spPr>
        </p:sp>
        <p:sp>
          <p:nvSpPr>
            <p:cNvPr id="14" name="rating-0-4.text"/>
            <p:cNvSpPr/>
            <p:nvPr/>
          </p:nvSpPr>
          <p:spPr>
            <a:xfrm>
              <a:off x="76200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Build</a:t>
              </a:r>
              <a:endParaRPr lang="en-US" sz="900" spc="0" kern="0" b="0" i="0" dirty="0">
                <a:solidFill>
                  <a:srgbClr val="FFFFFF"/>
                </a:solidFill>
                <a:latin typeface="IBM Plex Sans"/>
                <a:ea typeface="IBM Plex Sans"/>
                <a:cs typeface="IBM Plex Sans"/>
              </a:endParaRPr>
            </a:p>
          </p:txBody>
        </p:sp>
      </p:grpSp>
      <p:grpSp>
        <p:nvGrpSpPr>
          <p:cNvPr id="155" name="rating-0-5"/>
          <p:cNvGrpSpPr/>
          <p:nvPr/>
        </p:nvGrpSpPr>
        <p:grpSpPr>
          <a:xfrm>
            <a:off x="8801100" y="1600200"/>
            <a:ext cx="1320800" cy="381000"/>
            <a:chOff x="8801100" y="1600200"/>
            <a:chExt cx="1320800" cy="381000"/>
          </a:xfrm>
        </p:grpSpPr>
        <p:sp>
          <p:nvSpPr>
            <p:cNvPr id="15" name="rating-0-5.surface"/>
            <p:cNvSpPr/>
            <p:nvPr/>
          </p:nvSpPr>
          <p:spPr>
            <a:xfrm>
              <a:off x="8801100" y="1600200"/>
              <a:ext cx="1320800" cy="381000"/>
            </a:xfrm>
            <a:prstGeom prst="rect">
              <a:avLst/>
            </a:prstGeom>
            <a:solidFill>
              <a:srgbClr val="070154"/>
            </a:solidFill>
            <a:ln>
              <a:noFill/>
            </a:ln>
          </p:spPr>
        </p:sp>
        <p:sp>
          <p:nvSpPr>
            <p:cNvPr id="16" name="rating-0-5.text"/>
            <p:cNvSpPr/>
            <p:nvPr/>
          </p:nvSpPr>
          <p:spPr>
            <a:xfrm>
              <a:off x="89535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Release</a:t>
              </a:r>
              <a:endParaRPr lang="en-US" sz="900" spc="0" kern="0" b="0" i="0" dirty="0">
                <a:solidFill>
                  <a:srgbClr val="FFFFFF"/>
                </a:solidFill>
                <a:latin typeface="IBM Plex Sans"/>
                <a:ea typeface="IBM Plex Sans"/>
                <a:cs typeface="IBM Plex Sans"/>
              </a:endParaRPr>
            </a:p>
          </p:txBody>
        </p:sp>
      </p:grpSp>
      <p:grpSp>
        <p:nvGrpSpPr>
          <p:cNvPr id="156" name="rating-0-6"/>
          <p:cNvGrpSpPr/>
          <p:nvPr/>
        </p:nvGrpSpPr>
        <p:grpSpPr>
          <a:xfrm>
            <a:off x="10134600" y="1600200"/>
            <a:ext cx="1320800" cy="381000"/>
            <a:chOff x="10134600" y="1600200"/>
            <a:chExt cx="1320800" cy="381000"/>
          </a:xfrm>
        </p:grpSpPr>
        <p:sp>
          <p:nvSpPr>
            <p:cNvPr id="17" name="rating-0-6.surface"/>
            <p:cNvSpPr/>
            <p:nvPr/>
          </p:nvSpPr>
          <p:spPr>
            <a:xfrm>
              <a:off x="10134600" y="1600200"/>
              <a:ext cx="1320800" cy="381000"/>
            </a:xfrm>
            <a:prstGeom prst="rect">
              <a:avLst/>
            </a:prstGeom>
            <a:solidFill>
              <a:srgbClr val="070154"/>
            </a:solidFill>
            <a:ln>
              <a:noFill/>
            </a:ln>
          </p:spPr>
        </p:sp>
        <p:sp>
          <p:nvSpPr>
            <p:cNvPr id="18" name="rating-0-6.text"/>
            <p:cNvSpPr/>
            <p:nvPr/>
          </p:nvSpPr>
          <p:spPr>
            <a:xfrm>
              <a:off x="10287000" y="17145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GTM</a:t>
              </a:r>
              <a:endParaRPr lang="en-US" sz="900" spc="0" kern="0" b="0" i="0" dirty="0">
                <a:solidFill>
                  <a:srgbClr val="FFFFFF"/>
                </a:solidFill>
                <a:latin typeface="IBM Plex Sans"/>
                <a:ea typeface="IBM Plex Sans"/>
                <a:cs typeface="IBM Plex Sans"/>
              </a:endParaRPr>
            </a:p>
          </p:txBody>
        </p:sp>
      </p:grpSp>
      <p:grpSp>
        <p:nvGrpSpPr>
          <p:cNvPr id="157" name="rating-1-0"/>
          <p:cNvGrpSpPr/>
          <p:nvPr/>
        </p:nvGrpSpPr>
        <p:grpSpPr>
          <a:xfrm>
            <a:off x="723900" y="1981200"/>
            <a:ext cx="2730500" cy="355600"/>
            <a:chOff x="723900" y="1981200"/>
            <a:chExt cx="2730500" cy="355600"/>
          </a:xfrm>
        </p:grpSpPr>
        <p:sp>
          <p:nvSpPr>
            <p:cNvPr id="19" name="rating-1-0.surface"/>
            <p:cNvSpPr/>
            <p:nvPr/>
          </p:nvSpPr>
          <p:spPr>
            <a:xfrm>
              <a:off x="723900" y="1981200"/>
              <a:ext cx="2730500" cy="355600"/>
            </a:xfrm>
            <a:prstGeom prst="rect">
              <a:avLst/>
            </a:prstGeom>
            <a:solidFill>
              <a:srgbClr val="E8EEF8"/>
            </a:solidFill>
            <a:ln>
              <a:noFill/>
            </a:ln>
          </p:spPr>
        </p:sp>
        <p:sp>
          <p:nvSpPr>
            <p:cNvPr id="20" name="rating-1-0.text"/>
            <p:cNvSpPr/>
            <p:nvPr/>
          </p:nvSpPr>
          <p:spPr>
            <a:xfrm>
              <a:off x="876300" y="20828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Customer evidence</a:t>
              </a:r>
              <a:endParaRPr lang="en-US" sz="900" spc="0" kern="0" b="0" i="0" dirty="0">
                <a:solidFill>
                  <a:srgbClr val="070154"/>
                </a:solidFill>
                <a:latin typeface="IBM Plex Sans"/>
                <a:ea typeface="IBM Plex Sans"/>
                <a:cs typeface="IBM Plex Sans"/>
              </a:endParaRPr>
            </a:p>
          </p:txBody>
        </p:sp>
      </p:grpSp>
      <p:grpSp>
        <p:nvGrpSpPr>
          <p:cNvPr id="158" name="rating-1-1"/>
          <p:cNvGrpSpPr/>
          <p:nvPr/>
        </p:nvGrpSpPr>
        <p:grpSpPr>
          <a:xfrm>
            <a:off x="3467100" y="1981200"/>
            <a:ext cx="1320800" cy="355600"/>
            <a:chOff x="3467100" y="1981200"/>
            <a:chExt cx="1320800" cy="355600"/>
          </a:xfrm>
        </p:grpSpPr>
        <p:sp>
          <p:nvSpPr>
            <p:cNvPr id="21" name="rating-1-1.surface"/>
            <p:cNvSpPr/>
            <p:nvPr/>
          </p:nvSpPr>
          <p:spPr>
            <a:xfrm>
              <a:off x="3467100" y="1981200"/>
              <a:ext cx="1320800" cy="355600"/>
            </a:xfrm>
            <a:prstGeom prst="rect">
              <a:avLst/>
            </a:prstGeom>
            <a:solidFill>
              <a:srgbClr val="E8EEF8"/>
            </a:solidFill>
            <a:ln>
              <a:noFill/>
            </a:ln>
          </p:spPr>
        </p:sp>
        <p:sp>
          <p:nvSpPr>
            <p:cNvPr id="22" name="rating-1-1.text"/>
            <p:cNvSpPr/>
            <p:nvPr/>
          </p:nvSpPr>
          <p:spPr>
            <a:xfrm>
              <a:off x="36195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Emerging</a:t>
              </a:r>
              <a:endParaRPr lang="en-US" sz="900" spc="0" kern="0" b="0" i="0" dirty="0">
                <a:solidFill>
                  <a:srgbClr val="070154"/>
                </a:solidFill>
                <a:latin typeface="IBM Plex Sans"/>
                <a:ea typeface="IBM Plex Sans"/>
                <a:cs typeface="IBM Plex Sans"/>
              </a:endParaRPr>
            </a:p>
          </p:txBody>
        </p:sp>
      </p:grpSp>
      <p:grpSp>
        <p:nvGrpSpPr>
          <p:cNvPr id="159" name="rating-1-2"/>
          <p:cNvGrpSpPr/>
          <p:nvPr/>
        </p:nvGrpSpPr>
        <p:grpSpPr>
          <a:xfrm>
            <a:off x="4800600" y="1981200"/>
            <a:ext cx="1320800" cy="355600"/>
            <a:chOff x="4800600" y="1981200"/>
            <a:chExt cx="1320800" cy="355600"/>
          </a:xfrm>
        </p:grpSpPr>
        <p:sp>
          <p:nvSpPr>
            <p:cNvPr id="23" name="rating-1-2.surface"/>
            <p:cNvSpPr/>
            <p:nvPr/>
          </p:nvSpPr>
          <p:spPr>
            <a:xfrm>
              <a:off x="4800600" y="1981200"/>
              <a:ext cx="1320800" cy="355600"/>
            </a:xfrm>
            <a:prstGeom prst="rect">
              <a:avLst/>
            </a:prstGeom>
            <a:solidFill>
              <a:srgbClr val="FFFFFF"/>
            </a:solidFill>
            <a:ln>
              <a:noFill/>
            </a:ln>
          </p:spPr>
        </p:sp>
        <p:sp>
          <p:nvSpPr>
            <p:cNvPr id="24" name="rating-1-2.text"/>
            <p:cNvSpPr/>
            <p:nvPr/>
          </p:nvSpPr>
          <p:spPr>
            <a:xfrm>
              <a:off x="49530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160" name="rating-1-3"/>
          <p:cNvGrpSpPr/>
          <p:nvPr/>
        </p:nvGrpSpPr>
        <p:grpSpPr>
          <a:xfrm>
            <a:off x="6134100" y="1981200"/>
            <a:ext cx="1320800" cy="355600"/>
            <a:chOff x="6134100" y="1981200"/>
            <a:chExt cx="1320800" cy="355600"/>
          </a:xfrm>
        </p:grpSpPr>
        <p:sp>
          <p:nvSpPr>
            <p:cNvPr id="25" name="rating-1-3.surface"/>
            <p:cNvSpPr/>
            <p:nvPr/>
          </p:nvSpPr>
          <p:spPr>
            <a:xfrm>
              <a:off x="6134100" y="1981200"/>
              <a:ext cx="1320800" cy="355600"/>
            </a:xfrm>
            <a:prstGeom prst="rect">
              <a:avLst/>
            </a:prstGeom>
            <a:solidFill>
              <a:srgbClr val="FFFFFF"/>
            </a:solidFill>
            <a:ln>
              <a:noFill/>
            </a:ln>
          </p:spPr>
        </p:sp>
        <p:sp>
          <p:nvSpPr>
            <p:cNvPr id="26" name="rating-1-3.text"/>
            <p:cNvSpPr/>
            <p:nvPr/>
          </p:nvSpPr>
          <p:spPr>
            <a:xfrm>
              <a:off x="62865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1" name="rating-1-4"/>
          <p:cNvGrpSpPr/>
          <p:nvPr/>
        </p:nvGrpSpPr>
        <p:grpSpPr>
          <a:xfrm>
            <a:off x="7467600" y="1981200"/>
            <a:ext cx="1320800" cy="355600"/>
            <a:chOff x="7467600" y="1981200"/>
            <a:chExt cx="1320800" cy="355600"/>
          </a:xfrm>
        </p:grpSpPr>
        <p:sp>
          <p:nvSpPr>
            <p:cNvPr id="27" name="rating-1-4.surface"/>
            <p:cNvSpPr/>
            <p:nvPr/>
          </p:nvSpPr>
          <p:spPr>
            <a:xfrm>
              <a:off x="7467600" y="1981200"/>
              <a:ext cx="1320800" cy="355600"/>
            </a:xfrm>
            <a:prstGeom prst="rect">
              <a:avLst/>
            </a:prstGeom>
            <a:solidFill>
              <a:srgbClr val="FFFFFF"/>
            </a:solidFill>
            <a:ln>
              <a:noFill/>
            </a:ln>
          </p:spPr>
        </p:sp>
        <p:sp>
          <p:nvSpPr>
            <p:cNvPr id="28" name="rating-1-4.text"/>
            <p:cNvSpPr/>
            <p:nvPr/>
          </p:nvSpPr>
          <p:spPr>
            <a:xfrm>
              <a:off x="76200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2" name="rating-1-5"/>
          <p:cNvGrpSpPr/>
          <p:nvPr/>
        </p:nvGrpSpPr>
        <p:grpSpPr>
          <a:xfrm>
            <a:off x="8801100" y="1981200"/>
            <a:ext cx="1320800" cy="355600"/>
            <a:chOff x="8801100" y="1981200"/>
            <a:chExt cx="1320800" cy="355600"/>
          </a:xfrm>
        </p:grpSpPr>
        <p:sp>
          <p:nvSpPr>
            <p:cNvPr id="29" name="rating-1-5.surface"/>
            <p:cNvSpPr/>
            <p:nvPr/>
          </p:nvSpPr>
          <p:spPr>
            <a:xfrm>
              <a:off x="8801100" y="1981200"/>
              <a:ext cx="1320800" cy="355600"/>
            </a:xfrm>
            <a:prstGeom prst="rect">
              <a:avLst/>
            </a:prstGeom>
            <a:solidFill>
              <a:srgbClr val="FFFFFF"/>
            </a:solidFill>
            <a:ln>
              <a:noFill/>
            </a:ln>
          </p:spPr>
        </p:sp>
        <p:sp>
          <p:nvSpPr>
            <p:cNvPr id="30" name="rating-1-5.text"/>
            <p:cNvSpPr/>
            <p:nvPr/>
          </p:nvSpPr>
          <p:spPr>
            <a:xfrm>
              <a:off x="89535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3" name="rating-1-6"/>
          <p:cNvGrpSpPr/>
          <p:nvPr/>
        </p:nvGrpSpPr>
        <p:grpSpPr>
          <a:xfrm>
            <a:off x="10134600" y="1981200"/>
            <a:ext cx="1320800" cy="355600"/>
            <a:chOff x="10134600" y="1981200"/>
            <a:chExt cx="1320800" cy="355600"/>
          </a:xfrm>
        </p:grpSpPr>
        <p:sp>
          <p:nvSpPr>
            <p:cNvPr id="31" name="rating-1-6.surface"/>
            <p:cNvSpPr/>
            <p:nvPr/>
          </p:nvSpPr>
          <p:spPr>
            <a:xfrm>
              <a:off x="10134600" y="1981200"/>
              <a:ext cx="1320800" cy="355600"/>
            </a:xfrm>
            <a:prstGeom prst="rect">
              <a:avLst/>
            </a:prstGeom>
            <a:solidFill>
              <a:srgbClr val="FFFFFF"/>
            </a:solidFill>
            <a:ln>
              <a:noFill/>
            </a:ln>
          </p:spPr>
        </p:sp>
        <p:sp>
          <p:nvSpPr>
            <p:cNvPr id="32" name="rating-1-6.text"/>
            <p:cNvSpPr/>
            <p:nvPr/>
          </p:nvSpPr>
          <p:spPr>
            <a:xfrm>
              <a:off x="10287000" y="2082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4" name="rating-2-0"/>
          <p:cNvGrpSpPr/>
          <p:nvPr/>
        </p:nvGrpSpPr>
        <p:grpSpPr>
          <a:xfrm>
            <a:off x="723900" y="2336800"/>
            <a:ext cx="2730500" cy="355600"/>
            <a:chOff x="723900" y="2336800"/>
            <a:chExt cx="2730500" cy="355600"/>
          </a:xfrm>
        </p:grpSpPr>
        <p:sp>
          <p:nvSpPr>
            <p:cNvPr id="33" name="rating-2-0.surface"/>
            <p:cNvSpPr/>
            <p:nvPr/>
          </p:nvSpPr>
          <p:spPr>
            <a:xfrm>
              <a:off x="723900" y="2336800"/>
              <a:ext cx="2730500" cy="355600"/>
            </a:xfrm>
            <a:prstGeom prst="rect">
              <a:avLst/>
            </a:prstGeom>
            <a:solidFill>
              <a:srgbClr val="E8EEF8"/>
            </a:solidFill>
            <a:ln>
              <a:noFill/>
            </a:ln>
          </p:spPr>
        </p:sp>
        <p:sp>
          <p:nvSpPr>
            <p:cNvPr id="34" name="rating-2-0.text"/>
            <p:cNvSpPr/>
            <p:nvPr/>
          </p:nvSpPr>
          <p:spPr>
            <a:xfrm>
              <a:off x="876300" y="24384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Roadmap and prioritization</a:t>
              </a:r>
              <a:endParaRPr lang="en-US" sz="900" spc="0" kern="0" b="0" i="0" dirty="0">
                <a:solidFill>
                  <a:srgbClr val="070154"/>
                </a:solidFill>
                <a:latin typeface="IBM Plex Sans"/>
                <a:ea typeface="IBM Plex Sans"/>
                <a:cs typeface="IBM Plex Sans"/>
              </a:endParaRPr>
            </a:p>
          </p:txBody>
        </p:sp>
      </p:grpSp>
      <p:grpSp>
        <p:nvGrpSpPr>
          <p:cNvPr id="165" name="rating-2-1"/>
          <p:cNvGrpSpPr/>
          <p:nvPr/>
        </p:nvGrpSpPr>
        <p:grpSpPr>
          <a:xfrm>
            <a:off x="3467100" y="2336800"/>
            <a:ext cx="1320800" cy="355600"/>
            <a:chOff x="3467100" y="2336800"/>
            <a:chExt cx="1320800" cy="355600"/>
          </a:xfrm>
        </p:grpSpPr>
        <p:sp>
          <p:nvSpPr>
            <p:cNvPr id="35" name="rating-2-1.surface"/>
            <p:cNvSpPr/>
            <p:nvPr/>
          </p:nvSpPr>
          <p:spPr>
            <a:xfrm>
              <a:off x="3467100" y="2336800"/>
              <a:ext cx="1320800" cy="355600"/>
            </a:xfrm>
            <a:prstGeom prst="rect">
              <a:avLst/>
            </a:prstGeom>
            <a:solidFill>
              <a:srgbClr val="FFFFFF"/>
            </a:solidFill>
            <a:ln>
              <a:noFill/>
            </a:ln>
          </p:spPr>
        </p:sp>
        <p:sp>
          <p:nvSpPr>
            <p:cNvPr id="36" name="rating-2-1.text"/>
            <p:cNvSpPr/>
            <p:nvPr/>
          </p:nvSpPr>
          <p:spPr>
            <a:xfrm>
              <a:off x="36195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166" name="rating-2-2"/>
          <p:cNvGrpSpPr/>
          <p:nvPr/>
        </p:nvGrpSpPr>
        <p:grpSpPr>
          <a:xfrm>
            <a:off x="4800600" y="2336800"/>
            <a:ext cx="1320800" cy="355600"/>
            <a:chOff x="4800600" y="2336800"/>
            <a:chExt cx="1320800" cy="355600"/>
          </a:xfrm>
        </p:grpSpPr>
        <p:sp>
          <p:nvSpPr>
            <p:cNvPr id="37" name="rating-2-2.surface"/>
            <p:cNvSpPr/>
            <p:nvPr/>
          </p:nvSpPr>
          <p:spPr>
            <a:xfrm>
              <a:off x="4800600" y="2336800"/>
              <a:ext cx="1320800" cy="355600"/>
            </a:xfrm>
            <a:prstGeom prst="rect">
              <a:avLst/>
            </a:prstGeom>
            <a:solidFill>
              <a:srgbClr val="FFFFFF"/>
            </a:solidFill>
            <a:ln>
              <a:noFill/>
            </a:ln>
          </p:spPr>
        </p:sp>
        <p:sp>
          <p:nvSpPr>
            <p:cNvPr id="38" name="rating-2-2.text"/>
            <p:cNvSpPr/>
            <p:nvPr/>
          </p:nvSpPr>
          <p:spPr>
            <a:xfrm>
              <a:off x="49530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167" name="rating-2-3"/>
          <p:cNvGrpSpPr/>
          <p:nvPr/>
        </p:nvGrpSpPr>
        <p:grpSpPr>
          <a:xfrm>
            <a:off x="6134100" y="2336800"/>
            <a:ext cx="1320800" cy="355600"/>
            <a:chOff x="6134100" y="2336800"/>
            <a:chExt cx="1320800" cy="355600"/>
          </a:xfrm>
        </p:grpSpPr>
        <p:sp>
          <p:nvSpPr>
            <p:cNvPr id="39" name="rating-2-3.surface"/>
            <p:cNvSpPr/>
            <p:nvPr/>
          </p:nvSpPr>
          <p:spPr>
            <a:xfrm>
              <a:off x="6134100" y="2336800"/>
              <a:ext cx="1320800" cy="355600"/>
            </a:xfrm>
            <a:prstGeom prst="rect">
              <a:avLst/>
            </a:prstGeom>
            <a:solidFill>
              <a:srgbClr val="FFFFFF"/>
            </a:solidFill>
            <a:ln>
              <a:noFill/>
            </a:ln>
          </p:spPr>
        </p:sp>
        <p:sp>
          <p:nvSpPr>
            <p:cNvPr id="40" name="rating-2-3.text"/>
            <p:cNvSpPr/>
            <p:nvPr/>
          </p:nvSpPr>
          <p:spPr>
            <a:xfrm>
              <a:off x="62865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8" name="rating-2-4"/>
          <p:cNvGrpSpPr/>
          <p:nvPr/>
        </p:nvGrpSpPr>
        <p:grpSpPr>
          <a:xfrm>
            <a:off x="7467600" y="2336800"/>
            <a:ext cx="1320800" cy="355600"/>
            <a:chOff x="7467600" y="2336800"/>
            <a:chExt cx="1320800" cy="355600"/>
          </a:xfrm>
        </p:grpSpPr>
        <p:sp>
          <p:nvSpPr>
            <p:cNvPr id="41" name="rating-2-4.surface"/>
            <p:cNvSpPr/>
            <p:nvPr/>
          </p:nvSpPr>
          <p:spPr>
            <a:xfrm>
              <a:off x="7467600" y="2336800"/>
              <a:ext cx="1320800" cy="355600"/>
            </a:xfrm>
            <a:prstGeom prst="rect">
              <a:avLst/>
            </a:prstGeom>
            <a:solidFill>
              <a:srgbClr val="FFFFFF"/>
            </a:solidFill>
            <a:ln>
              <a:noFill/>
            </a:ln>
          </p:spPr>
        </p:sp>
        <p:sp>
          <p:nvSpPr>
            <p:cNvPr id="42" name="rating-2-4.text"/>
            <p:cNvSpPr/>
            <p:nvPr/>
          </p:nvSpPr>
          <p:spPr>
            <a:xfrm>
              <a:off x="76200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69" name="rating-2-5"/>
          <p:cNvGrpSpPr/>
          <p:nvPr/>
        </p:nvGrpSpPr>
        <p:grpSpPr>
          <a:xfrm>
            <a:off x="8801100" y="2336800"/>
            <a:ext cx="1320800" cy="355600"/>
            <a:chOff x="8801100" y="2336800"/>
            <a:chExt cx="1320800" cy="355600"/>
          </a:xfrm>
        </p:grpSpPr>
        <p:sp>
          <p:nvSpPr>
            <p:cNvPr id="43" name="rating-2-5.surface"/>
            <p:cNvSpPr/>
            <p:nvPr/>
          </p:nvSpPr>
          <p:spPr>
            <a:xfrm>
              <a:off x="8801100" y="2336800"/>
              <a:ext cx="1320800" cy="355600"/>
            </a:xfrm>
            <a:prstGeom prst="rect">
              <a:avLst/>
            </a:prstGeom>
            <a:solidFill>
              <a:srgbClr val="FFFFFF"/>
            </a:solidFill>
            <a:ln>
              <a:noFill/>
            </a:ln>
          </p:spPr>
        </p:sp>
        <p:sp>
          <p:nvSpPr>
            <p:cNvPr id="44" name="rating-2-5.text"/>
            <p:cNvSpPr/>
            <p:nvPr/>
          </p:nvSpPr>
          <p:spPr>
            <a:xfrm>
              <a:off x="89535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0" name="rating-2-6"/>
          <p:cNvGrpSpPr/>
          <p:nvPr/>
        </p:nvGrpSpPr>
        <p:grpSpPr>
          <a:xfrm>
            <a:off x="10134600" y="2336800"/>
            <a:ext cx="1320800" cy="355600"/>
            <a:chOff x="10134600" y="2336800"/>
            <a:chExt cx="1320800" cy="355600"/>
          </a:xfrm>
        </p:grpSpPr>
        <p:sp>
          <p:nvSpPr>
            <p:cNvPr id="45" name="rating-2-6.surface"/>
            <p:cNvSpPr/>
            <p:nvPr/>
          </p:nvSpPr>
          <p:spPr>
            <a:xfrm>
              <a:off x="10134600" y="2336800"/>
              <a:ext cx="1320800" cy="355600"/>
            </a:xfrm>
            <a:prstGeom prst="rect">
              <a:avLst/>
            </a:prstGeom>
            <a:solidFill>
              <a:srgbClr val="FFFFFF"/>
            </a:solidFill>
            <a:ln>
              <a:noFill/>
            </a:ln>
          </p:spPr>
        </p:sp>
        <p:sp>
          <p:nvSpPr>
            <p:cNvPr id="46" name="rating-2-6.text"/>
            <p:cNvSpPr/>
            <p:nvPr/>
          </p:nvSpPr>
          <p:spPr>
            <a:xfrm>
              <a:off x="10287000" y="2438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1" name="rating-3-0"/>
          <p:cNvGrpSpPr/>
          <p:nvPr/>
        </p:nvGrpSpPr>
        <p:grpSpPr>
          <a:xfrm>
            <a:off x="723900" y="2692400"/>
            <a:ext cx="2730500" cy="355600"/>
            <a:chOff x="723900" y="2692400"/>
            <a:chExt cx="2730500" cy="355600"/>
          </a:xfrm>
        </p:grpSpPr>
        <p:sp>
          <p:nvSpPr>
            <p:cNvPr id="47" name="rating-3-0.surface"/>
            <p:cNvSpPr/>
            <p:nvPr/>
          </p:nvSpPr>
          <p:spPr>
            <a:xfrm>
              <a:off x="723900" y="2692400"/>
              <a:ext cx="2730500" cy="355600"/>
            </a:xfrm>
            <a:prstGeom prst="rect">
              <a:avLst/>
            </a:prstGeom>
            <a:solidFill>
              <a:srgbClr val="E8EEF8"/>
            </a:solidFill>
            <a:ln>
              <a:noFill/>
            </a:ln>
          </p:spPr>
        </p:sp>
        <p:sp>
          <p:nvSpPr>
            <p:cNvPr id="48" name="rating-3-0.text"/>
            <p:cNvSpPr/>
            <p:nvPr/>
          </p:nvSpPr>
          <p:spPr>
            <a:xfrm>
              <a:off x="876300" y="27940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Ownership and decisions</a:t>
              </a:r>
              <a:endParaRPr lang="en-US" sz="900" spc="0" kern="0" b="0" i="0" dirty="0">
                <a:solidFill>
                  <a:srgbClr val="070154"/>
                </a:solidFill>
                <a:latin typeface="IBM Plex Sans"/>
                <a:ea typeface="IBM Plex Sans"/>
                <a:cs typeface="IBM Plex Sans"/>
              </a:endParaRPr>
            </a:p>
          </p:txBody>
        </p:sp>
      </p:grpSp>
      <p:grpSp>
        <p:nvGrpSpPr>
          <p:cNvPr id="172" name="rating-3-1"/>
          <p:cNvGrpSpPr/>
          <p:nvPr/>
        </p:nvGrpSpPr>
        <p:grpSpPr>
          <a:xfrm>
            <a:off x="3467100" y="2692400"/>
            <a:ext cx="1320800" cy="355600"/>
            <a:chOff x="3467100" y="2692400"/>
            <a:chExt cx="1320800" cy="355600"/>
          </a:xfrm>
        </p:grpSpPr>
        <p:sp>
          <p:nvSpPr>
            <p:cNvPr id="49" name="rating-3-1.surface"/>
            <p:cNvSpPr/>
            <p:nvPr/>
          </p:nvSpPr>
          <p:spPr>
            <a:xfrm>
              <a:off x="3467100" y="2692400"/>
              <a:ext cx="1320800" cy="355600"/>
            </a:xfrm>
            <a:prstGeom prst="rect">
              <a:avLst/>
            </a:prstGeom>
            <a:solidFill>
              <a:srgbClr val="FFFFFF"/>
            </a:solidFill>
            <a:ln>
              <a:noFill/>
            </a:ln>
          </p:spPr>
        </p:sp>
        <p:sp>
          <p:nvSpPr>
            <p:cNvPr id="50" name="rating-3-1.text"/>
            <p:cNvSpPr/>
            <p:nvPr/>
          </p:nvSpPr>
          <p:spPr>
            <a:xfrm>
              <a:off x="36195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3" name="rating-3-2"/>
          <p:cNvGrpSpPr/>
          <p:nvPr/>
        </p:nvGrpSpPr>
        <p:grpSpPr>
          <a:xfrm>
            <a:off x="4800600" y="2692400"/>
            <a:ext cx="1320800" cy="355600"/>
            <a:chOff x="4800600" y="2692400"/>
            <a:chExt cx="1320800" cy="355600"/>
          </a:xfrm>
        </p:grpSpPr>
        <p:sp>
          <p:nvSpPr>
            <p:cNvPr id="51" name="rating-3-2.surface"/>
            <p:cNvSpPr/>
            <p:nvPr/>
          </p:nvSpPr>
          <p:spPr>
            <a:xfrm>
              <a:off x="4800600" y="2692400"/>
              <a:ext cx="1320800" cy="355600"/>
            </a:xfrm>
            <a:prstGeom prst="rect">
              <a:avLst/>
            </a:prstGeom>
            <a:solidFill>
              <a:srgbClr val="FFFFFF"/>
            </a:solidFill>
            <a:ln>
              <a:noFill/>
            </a:ln>
          </p:spPr>
        </p:sp>
        <p:sp>
          <p:nvSpPr>
            <p:cNvPr id="52" name="rating-3-2.text"/>
            <p:cNvSpPr/>
            <p:nvPr/>
          </p:nvSpPr>
          <p:spPr>
            <a:xfrm>
              <a:off x="49530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174" name="rating-3-3"/>
          <p:cNvGrpSpPr/>
          <p:nvPr/>
        </p:nvGrpSpPr>
        <p:grpSpPr>
          <a:xfrm>
            <a:off x="6134100" y="2692400"/>
            <a:ext cx="1320800" cy="355600"/>
            <a:chOff x="6134100" y="2692400"/>
            <a:chExt cx="1320800" cy="355600"/>
          </a:xfrm>
        </p:grpSpPr>
        <p:sp>
          <p:nvSpPr>
            <p:cNvPr id="53" name="rating-3-3.surface"/>
            <p:cNvSpPr/>
            <p:nvPr/>
          </p:nvSpPr>
          <p:spPr>
            <a:xfrm>
              <a:off x="6134100" y="2692400"/>
              <a:ext cx="1320800" cy="355600"/>
            </a:xfrm>
            <a:prstGeom prst="rect">
              <a:avLst/>
            </a:prstGeom>
            <a:solidFill>
              <a:srgbClr val="FFFFFF"/>
            </a:solidFill>
            <a:ln>
              <a:noFill/>
            </a:ln>
          </p:spPr>
        </p:sp>
        <p:sp>
          <p:nvSpPr>
            <p:cNvPr id="54" name="rating-3-3.text"/>
            <p:cNvSpPr/>
            <p:nvPr/>
          </p:nvSpPr>
          <p:spPr>
            <a:xfrm>
              <a:off x="62865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175" name="rating-3-4"/>
          <p:cNvGrpSpPr/>
          <p:nvPr/>
        </p:nvGrpSpPr>
        <p:grpSpPr>
          <a:xfrm>
            <a:off x="7467600" y="2692400"/>
            <a:ext cx="1320800" cy="355600"/>
            <a:chOff x="7467600" y="2692400"/>
            <a:chExt cx="1320800" cy="355600"/>
          </a:xfrm>
        </p:grpSpPr>
        <p:sp>
          <p:nvSpPr>
            <p:cNvPr id="55" name="rating-3-4.surface"/>
            <p:cNvSpPr/>
            <p:nvPr/>
          </p:nvSpPr>
          <p:spPr>
            <a:xfrm>
              <a:off x="7467600" y="2692400"/>
              <a:ext cx="1320800" cy="355600"/>
            </a:xfrm>
            <a:prstGeom prst="rect">
              <a:avLst/>
            </a:prstGeom>
            <a:solidFill>
              <a:srgbClr val="FFFFFF"/>
            </a:solidFill>
            <a:ln>
              <a:noFill/>
            </a:ln>
          </p:spPr>
        </p:sp>
        <p:sp>
          <p:nvSpPr>
            <p:cNvPr id="56" name="rating-3-4.text"/>
            <p:cNvSpPr/>
            <p:nvPr/>
          </p:nvSpPr>
          <p:spPr>
            <a:xfrm>
              <a:off x="76200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6" name="rating-3-5"/>
          <p:cNvGrpSpPr/>
          <p:nvPr/>
        </p:nvGrpSpPr>
        <p:grpSpPr>
          <a:xfrm>
            <a:off x="8801100" y="2692400"/>
            <a:ext cx="1320800" cy="355600"/>
            <a:chOff x="8801100" y="2692400"/>
            <a:chExt cx="1320800" cy="355600"/>
          </a:xfrm>
        </p:grpSpPr>
        <p:sp>
          <p:nvSpPr>
            <p:cNvPr id="57" name="rating-3-5.surface"/>
            <p:cNvSpPr/>
            <p:nvPr/>
          </p:nvSpPr>
          <p:spPr>
            <a:xfrm>
              <a:off x="8801100" y="2692400"/>
              <a:ext cx="1320800" cy="355600"/>
            </a:xfrm>
            <a:prstGeom prst="rect">
              <a:avLst/>
            </a:prstGeom>
            <a:solidFill>
              <a:srgbClr val="FFFFFF"/>
            </a:solidFill>
            <a:ln>
              <a:noFill/>
            </a:ln>
          </p:spPr>
        </p:sp>
        <p:sp>
          <p:nvSpPr>
            <p:cNvPr id="58" name="rating-3-5.text"/>
            <p:cNvSpPr/>
            <p:nvPr/>
          </p:nvSpPr>
          <p:spPr>
            <a:xfrm>
              <a:off x="89535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7" name="rating-3-6"/>
          <p:cNvGrpSpPr/>
          <p:nvPr/>
        </p:nvGrpSpPr>
        <p:grpSpPr>
          <a:xfrm>
            <a:off x="10134600" y="2692400"/>
            <a:ext cx="1320800" cy="355600"/>
            <a:chOff x="10134600" y="2692400"/>
            <a:chExt cx="1320800" cy="355600"/>
          </a:xfrm>
        </p:grpSpPr>
        <p:sp>
          <p:nvSpPr>
            <p:cNvPr id="59" name="rating-3-6.surface"/>
            <p:cNvSpPr/>
            <p:nvPr/>
          </p:nvSpPr>
          <p:spPr>
            <a:xfrm>
              <a:off x="10134600" y="2692400"/>
              <a:ext cx="1320800" cy="355600"/>
            </a:xfrm>
            <a:prstGeom prst="rect">
              <a:avLst/>
            </a:prstGeom>
            <a:solidFill>
              <a:srgbClr val="FFFFFF"/>
            </a:solidFill>
            <a:ln>
              <a:noFill/>
            </a:ln>
          </p:spPr>
        </p:sp>
        <p:sp>
          <p:nvSpPr>
            <p:cNvPr id="60" name="rating-3-6.text"/>
            <p:cNvSpPr/>
            <p:nvPr/>
          </p:nvSpPr>
          <p:spPr>
            <a:xfrm>
              <a:off x="10287000" y="2794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78" name="rating-4-0"/>
          <p:cNvGrpSpPr/>
          <p:nvPr/>
        </p:nvGrpSpPr>
        <p:grpSpPr>
          <a:xfrm>
            <a:off x="723900" y="3048000"/>
            <a:ext cx="2730500" cy="355600"/>
            <a:chOff x="723900" y="3048000"/>
            <a:chExt cx="2730500" cy="355600"/>
          </a:xfrm>
        </p:grpSpPr>
        <p:sp>
          <p:nvSpPr>
            <p:cNvPr id="61" name="rating-4-0.surface"/>
            <p:cNvSpPr/>
            <p:nvPr/>
          </p:nvSpPr>
          <p:spPr>
            <a:xfrm>
              <a:off x="723900" y="3048000"/>
              <a:ext cx="2730500" cy="355600"/>
            </a:xfrm>
            <a:prstGeom prst="rect">
              <a:avLst/>
            </a:prstGeom>
            <a:solidFill>
              <a:srgbClr val="E8EEF8"/>
            </a:solidFill>
            <a:ln>
              <a:noFill/>
            </a:ln>
          </p:spPr>
        </p:sp>
        <p:sp>
          <p:nvSpPr>
            <p:cNvPr id="62" name="rating-4-0.text"/>
            <p:cNvSpPr/>
            <p:nvPr/>
          </p:nvSpPr>
          <p:spPr>
            <a:xfrm>
              <a:off x="876300" y="31496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Product definition and design</a:t>
              </a:r>
              <a:endParaRPr lang="en-US" sz="900" spc="0" kern="0" b="0" i="0" dirty="0">
                <a:solidFill>
                  <a:srgbClr val="070154"/>
                </a:solidFill>
                <a:latin typeface="IBM Plex Sans"/>
                <a:ea typeface="IBM Plex Sans"/>
                <a:cs typeface="IBM Plex Sans"/>
              </a:endParaRPr>
            </a:p>
          </p:txBody>
        </p:sp>
      </p:grpSp>
      <p:grpSp>
        <p:nvGrpSpPr>
          <p:cNvPr id="179" name="rating-4-1"/>
          <p:cNvGrpSpPr/>
          <p:nvPr/>
        </p:nvGrpSpPr>
        <p:grpSpPr>
          <a:xfrm>
            <a:off x="3467100" y="3048000"/>
            <a:ext cx="1320800" cy="355600"/>
            <a:chOff x="3467100" y="3048000"/>
            <a:chExt cx="1320800" cy="355600"/>
          </a:xfrm>
        </p:grpSpPr>
        <p:sp>
          <p:nvSpPr>
            <p:cNvPr id="63" name="rating-4-1.surface"/>
            <p:cNvSpPr/>
            <p:nvPr/>
          </p:nvSpPr>
          <p:spPr>
            <a:xfrm>
              <a:off x="3467100" y="3048000"/>
              <a:ext cx="1320800" cy="355600"/>
            </a:xfrm>
            <a:prstGeom prst="rect">
              <a:avLst/>
            </a:prstGeom>
            <a:solidFill>
              <a:srgbClr val="FFFFFF"/>
            </a:solidFill>
            <a:ln>
              <a:noFill/>
            </a:ln>
          </p:spPr>
        </p:sp>
        <p:sp>
          <p:nvSpPr>
            <p:cNvPr id="64" name="rating-4-1.text"/>
            <p:cNvSpPr/>
            <p:nvPr/>
          </p:nvSpPr>
          <p:spPr>
            <a:xfrm>
              <a:off x="36195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0" name="rating-4-2"/>
          <p:cNvGrpSpPr/>
          <p:nvPr/>
        </p:nvGrpSpPr>
        <p:grpSpPr>
          <a:xfrm>
            <a:off x="4800600" y="3048000"/>
            <a:ext cx="1320800" cy="355600"/>
            <a:chOff x="4800600" y="3048000"/>
            <a:chExt cx="1320800" cy="355600"/>
          </a:xfrm>
        </p:grpSpPr>
        <p:sp>
          <p:nvSpPr>
            <p:cNvPr id="65" name="rating-4-2.surface"/>
            <p:cNvSpPr/>
            <p:nvPr/>
          </p:nvSpPr>
          <p:spPr>
            <a:xfrm>
              <a:off x="4800600" y="3048000"/>
              <a:ext cx="1320800" cy="355600"/>
            </a:xfrm>
            <a:prstGeom prst="rect">
              <a:avLst/>
            </a:prstGeom>
            <a:solidFill>
              <a:srgbClr val="FFFFFF"/>
            </a:solidFill>
            <a:ln>
              <a:noFill/>
            </a:ln>
          </p:spPr>
        </p:sp>
        <p:sp>
          <p:nvSpPr>
            <p:cNvPr id="66" name="rating-4-2.text"/>
            <p:cNvSpPr/>
            <p:nvPr/>
          </p:nvSpPr>
          <p:spPr>
            <a:xfrm>
              <a:off x="49530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1" name="rating-4-3"/>
          <p:cNvGrpSpPr/>
          <p:nvPr/>
        </p:nvGrpSpPr>
        <p:grpSpPr>
          <a:xfrm>
            <a:off x="6134100" y="3048000"/>
            <a:ext cx="1320800" cy="355600"/>
            <a:chOff x="6134100" y="3048000"/>
            <a:chExt cx="1320800" cy="355600"/>
          </a:xfrm>
        </p:grpSpPr>
        <p:sp>
          <p:nvSpPr>
            <p:cNvPr id="67" name="rating-4-3.surface"/>
            <p:cNvSpPr/>
            <p:nvPr/>
          </p:nvSpPr>
          <p:spPr>
            <a:xfrm>
              <a:off x="6134100" y="3048000"/>
              <a:ext cx="1320800" cy="355600"/>
            </a:xfrm>
            <a:prstGeom prst="rect">
              <a:avLst/>
            </a:prstGeom>
            <a:solidFill>
              <a:srgbClr val="FFFFFF"/>
            </a:solidFill>
            <a:ln>
              <a:noFill/>
            </a:ln>
          </p:spPr>
        </p:sp>
        <p:sp>
          <p:nvSpPr>
            <p:cNvPr id="68" name="rating-4-3.text"/>
            <p:cNvSpPr/>
            <p:nvPr/>
          </p:nvSpPr>
          <p:spPr>
            <a:xfrm>
              <a:off x="62865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182" name="rating-4-4"/>
          <p:cNvGrpSpPr/>
          <p:nvPr/>
        </p:nvGrpSpPr>
        <p:grpSpPr>
          <a:xfrm>
            <a:off x="7467600" y="3048000"/>
            <a:ext cx="1320800" cy="355600"/>
            <a:chOff x="7467600" y="3048000"/>
            <a:chExt cx="1320800" cy="355600"/>
          </a:xfrm>
        </p:grpSpPr>
        <p:sp>
          <p:nvSpPr>
            <p:cNvPr id="69" name="rating-4-4.surface"/>
            <p:cNvSpPr/>
            <p:nvPr/>
          </p:nvSpPr>
          <p:spPr>
            <a:xfrm>
              <a:off x="7467600" y="3048000"/>
              <a:ext cx="1320800" cy="355600"/>
            </a:xfrm>
            <a:prstGeom prst="rect">
              <a:avLst/>
            </a:prstGeom>
            <a:solidFill>
              <a:srgbClr val="FFFFFF"/>
            </a:solidFill>
            <a:ln>
              <a:noFill/>
            </a:ln>
          </p:spPr>
        </p:sp>
        <p:sp>
          <p:nvSpPr>
            <p:cNvPr id="70" name="rating-4-4.text"/>
            <p:cNvSpPr/>
            <p:nvPr/>
          </p:nvSpPr>
          <p:spPr>
            <a:xfrm>
              <a:off x="76200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183" name="rating-4-5"/>
          <p:cNvGrpSpPr/>
          <p:nvPr/>
        </p:nvGrpSpPr>
        <p:grpSpPr>
          <a:xfrm>
            <a:off x="8801100" y="3048000"/>
            <a:ext cx="1320800" cy="355600"/>
            <a:chOff x="8801100" y="3048000"/>
            <a:chExt cx="1320800" cy="355600"/>
          </a:xfrm>
        </p:grpSpPr>
        <p:sp>
          <p:nvSpPr>
            <p:cNvPr id="71" name="rating-4-5.surface"/>
            <p:cNvSpPr/>
            <p:nvPr/>
          </p:nvSpPr>
          <p:spPr>
            <a:xfrm>
              <a:off x="8801100" y="3048000"/>
              <a:ext cx="1320800" cy="355600"/>
            </a:xfrm>
            <a:prstGeom prst="rect">
              <a:avLst/>
            </a:prstGeom>
            <a:solidFill>
              <a:srgbClr val="FFFFFF"/>
            </a:solidFill>
            <a:ln>
              <a:noFill/>
            </a:ln>
          </p:spPr>
        </p:sp>
        <p:sp>
          <p:nvSpPr>
            <p:cNvPr id="72" name="rating-4-5.text"/>
            <p:cNvSpPr/>
            <p:nvPr/>
          </p:nvSpPr>
          <p:spPr>
            <a:xfrm>
              <a:off x="89535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4" name="rating-4-6"/>
          <p:cNvGrpSpPr/>
          <p:nvPr/>
        </p:nvGrpSpPr>
        <p:grpSpPr>
          <a:xfrm>
            <a:off x="10134600" y="3048000"/>
            <a:ext cx="1320800" cy="355600"/>
            <a:chOff x="10134600" y="3048000"/>
            <a:chExt cx="1320800" cy="355600"/>
          </a:xfrm>
        </p:grpSpPr>
        <p:sp>
          <p:nvSpPr>
            <p:cNvPr id="73" name="rating-4-6.surface"/>
            <p:cNvSpPr/>
            <p:nvPr/>
          </p:nvSpPr>
          <p:spPr>
            <a:xfrm>
              <a:off x="10134600" y="3048000"/>
              <a:ext cx="1320800" cy="355600"/>
            </a:xfrm>
            <a:prstGeom prst="rect">
              <a:avLst/>
            </a:prstGeom>
            <a:solidFill>
              <a:srgbClr val="FFFFFF"/>
            </a:solidFill>
            <a:ln>
              <a:noFill/>
            </a:ln>
          </p:spPr>
        </p:sp>
        <p:sp>
          <p:nvSpPr>
            <p:cNvPr id="74" name="rating-4-6.text"/>
            <p:cNvSpPr/>
            <p:nvPr/>
          </p:nvSpPr>
          <p:spPr>
            <a:xfrm>
              <a:off x="10287000" y="3149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5" name="rating-5-0"/>
          <p:cNvGrpSpPr/>
          <p:nvPr/>
        </p:nvGrpSpPr>
        <p:grpSpPr>
          <a:xfrm>
            <a:off x="723900" y="3403600"/>
            <a:ext cx="2730500" cy="355600"/>
            <a:chOff x="723900" y="3403600"/>
            <a:chExt cx="2730500" cy="355600"/>
          </a:xfrm>
        </p:grpSpPr>
        <p:sp>
          <p:nvSpPr>
            <p:cNvPr id="75" name="rating-5-0.surface"/>
            <p:cNvSpPr/>
            <p:nvPr/>
          </p:nvSpPr>
          <p:spPr>
            <a:xfrm>
              <a:off x="723900" y="3403600"/>
              <a:ext cx="2730500" cy="355600"/>
            </a:xfrm>
            <a:prstGeom prst="rect">
              <a:avLst/>
            </a:prstGeom>
            <a:solidFill>
              <a:srgbClr val="E8EEF8"/>
            </a:solidFill>
            <a:ln>
              <a:noFill/>
            </a:ln>
          </p:spPr>
        </p:sp>
        <p:sp>
          <p:nvSpPr>
            <p:cNvPr id="76" name="rating-5-0.text"/>
            <p:cNvSpPr/>
            <p:nvPr/>
          </p:nvSpPr>
          <p:spPr>
            <a:xfrm>
              <a:off x="876300" y="35052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Product and Engineering delivery</a:t>
              </a:r>
              <a:endParaRPr lang="en-US" sz="900" spc="0" kern="0" b="0" i="0" dirty="0">
                <a:solidFill>
                  <a:srgbClr val="070154"/>
                </a:solidFill>
                <a:latin typeface="IBM Plex Sans"/>
                <a:ea typeface="IBM Plex Sans"/>
                <a:cs typeface="IBM Plex Sans"/>
              </a:endParaRPr>
            </a:p>
          </p:txBody>
        </p:sp>
      </p:grpSp>
      <p:grpSp>
        <p:nvGrpSpPr>
          <p:cNvPr id="186" name="rating-5-1"/>
          <p:cNvGrpSpPr/>
          <p:nvPr/>
        </p:nvGrpSpPr>
        <p:grpSpPr>
          <a:xfrm>
            <a:off x="3467100" y="3403600"/>
            <a:ext cx="1320800" cy="355600"/>
            <a:chOff x="3467100" y="3403600"/>
            <a:chExt cx="1320800" cy="355600"/>
          </a:xfrm>
        </p:grpSpPr>
        <p:sp>
          <p:nvSpPr>
            <p:cNvPr id="77" name="rating-5-1.surface"/>
            <p:cNvSpPr/>
            <p:nvPr/>
          </p:nvSpPr>
          <p:spPr>
            <a:xfrm>
              <a:off x="3467100" y="3403600"/>
              <a:ext cx="1320800" cy="355600"/>
            </a:xfrm>
            <a:prstGeom prst="rect">
              <a:avLst/>
            </a:prstGeom>
            <a:solidFill>
              <a:srgbClr val="FFFFFF"/>
            </a:solidFill>
            <a:ln>
              <a:noFill/>
            </a:ln>
          </p:spPr>
        </p:sp>
        <p:sp>
          <p:nvSpPr>
            <p:cNvPr id="78" name="rating-5-1.text"/>
            <p:cNvSpPr/>
            <p:nvPr/>
          </p:nvSpPr>
          <p:spPr>
            <a:xfrm>
              <a:off x="36195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7" name="rating-5-2"/>
          <p:cNvGrpSpPr/>
          <p:nvPr/>
        </p:nvGrpSpPr>
        <p:grpSpPr>
          <a:xfrm>
            <a:off x="4800600" y="3403600"/>
            <a:ext cx="1320800" cy="355600"/>
            <a:chOff x="4800600" y="3403600"/>
            <a:chExt cx="1320800" cy="355600"/>
          </a:xfrm>
        </p:grpSpPr>
        <p:sp>
          <p:nvSpPr>
            <p:cNvPr id="79" name="rating-5-2.surface"/>
            <p:cNvSpPr/>
            <p:nvPr/>
          </p:nvSpPr>
          <p:spPr>
            <a:xfrm>
              <a:off x="4800600" y="3403600"/>
              <a:ext cx="1320800" cy="355600"/>
            </a:xfrm>
            <a:prstGeom prst="rect">
              <a:avLst/>
            </a:prstGeom>
            <a:solidFill>
              <a:srgbClr val="FFFFFF"/>
            </a:solidFill>
            <a:ln>
              <a:noFill/>
            </a:ln>
          </p:spPr>
        </p:sp>
        <p:sp>
          <p:nvSpPr>
            <p:cNvPr id="80" name="rating-5-2.text"/>
            <p:cNvSpPr/>
            <p:nvPr/>
          </p:nvSpPr>
          <p:spPr>
            <a:xfrm>
              <a:off x="49530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8" name="rating-5-3"/>
          <p:cNvGrpSpPr/>
          <p:nvPr/>
        </p:nvGrpSpPr>
        <p:grpSpPr>
          <a:xfrm>
            <a:off x="6134100" y="3403600"/>
            <a:ext cx="1320800" cy="355600"/>
            <a:chOff x="6134100" y="3403600"/>
            <a:chExt cx="1320800" cy="355600"/>
          </a:xfrm>
        </p:grpSpPr>
        <p:sp>
          <p:nvSpPr>
            <p:cNvPr id="81" name="rating-5-3.surface"/>
            <p:cNvSpPr/>
            <p:nvPr/>
          </p:nvSpPr>
          <p:spPr>
            <a:xfrm>
              <a:off x="6134100" y="3403600"/>
              <a:ext cx="1320800" cy="355600"/>
            </a:xfrm>
            <a:prstGeom prst="rect">
              <a:avLst/>
            </a:prstGeom>
            <a:solidFill>
              <a:srgbClr val="FFFFFF"/>
            </a:solidFill>
            <a:ln>
              <a:noFill/>
            </a:ln>
          </p:spPr>
        </p:sp>
        <p:sp>
          <p:nvSpPr>
            <p:cNvPr id="82" name="rating-5-3.text"/>
            <p:cNvSpPr/>
            <p:nvPr/>
          </p:nvSpPr>
          <p:spPr>
            <a:xfrm>
              <a:off x="62865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89" name="rating-5-4"/>
          <p:cNvGrpSpPr/>
          <p:nvPr/>
        </p:nvGrpSpPr>
        <p:grpSpPr>
          <a:xfrm>
            <a:off x="7467600" y="3403600"/>
            <a:ext cx="1320800" cy="355600"/>
            <a:chOff x="7467600" y="3403600"/>
            <a:chExt cx="1320800" cy="355600"/>
          </a:xfrm>
        </p:grpSpPr>
        <p:sp>
          <p:nvSpPr>
            <p:cNvPr id="83" name="rating-5-4.surface"/>
            <p:cNvSpPr/>
            <p:nvPr/>
          </p:nvSpPr>
          <p:spPr>
            <a:xfrm>
              <a:off x="7467600" y="3403600"/>
              <a:ext cx="1320800" cy="355600"/>
            </a:xfrm>
            <a:prstGeom prst="rect">
              <a:avLst/>
            </a:prstGeom>
            <a:solidFill>
              <a:srgbClr val="CED7E6"/>
            </a:solidFill>
            <a:ln>
              <a:noFill/>
            </a:ln>
          </p:spPr>
        </p:sp>
        <p:sp>
          <p:nvSpPr>
            <p:cNvPr id="84" name="rating-5-4.text"/>
            <p:cNvSpPr/>
            <p:nvPr/>
          </p:nvSpPr>
          <p:spPr>
            <a:xfrm>
              <a:off x="76200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Variable / pocket</a:t>
              </a:r>
              <a:endParaRPr lang="en-US" sz="900" spc="0" kern="0" b="0" i="0" dirty="0">
                <a:solidFill>
                  <a:srgbClr val="070154"/>
                </a:solidFill>
                <a:latin typeface="IBM Plex Sans"/>
                <a:ea typeface="IBM Plex Sans"/>
                <a:cs typeface="IBM Plex Sans"/>
              </a:endParaRPr>
            </a:p>
          </p:txBody>
        </p:sp>
      </p:grpSp>
      <p:grpSp>
        <p:nvGrpSpPr>
          <p:cNvPr id="190" name="rating-5-5"/>
          <p:cNvGrpSpPr/>
          <p:nvPr/>
        </p:nvGrpSpPr>
        <p:grpSpPr>
          <a:xfrm>
            <a:off x="8801100" y="3403600"/>
            <a:ext cx="1320800" cy="355600"/>
            <a:chOff x="8801100" y="3403600"/>
            <a:chExt cx="1320800" cy="355600"/>
          </a:xfrm>
        </p:grpSpPr>
        <p:sp>
          <p:nvSpPr>
            <p:cNvPr id="85" name="rating-5-5.surface"/>
            <p:cNvSpPr/>
            <p:nvPr/>
          </p:nvSpPr>
          <p:spPr>
            <a:xfrm>
              <a:off x="8801100" y="3403600"/>
              <a:ext cx="1320800" cy="355600"/>
            </a:xfrm>
            <a:prstGeom prst="rect">
              <a:avLst/>
            </a:prstGeom>
            <a:solidFill>
              <a:srgbClr val="FFFFFF"/>
            </a:solidFill>
            <a:ln>
              <a:noFill/>
            </a:ln>
          </p:spPr>
        </p:sp>
        <p:sp>
          <p:nvSpPr>
            <p:cNvPr id="86" name="rating-5-5.text"/>
            <p:cNvSpPr/>
            <p:nvPr/>
          </p:nvSpPr>
          <p:spPr>
            <a:xfrm>
              <a:off x="89535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1" name="rating-5-6"/>
          <p:cNvGrpSpPr/>
          <p:nvPr/>
        </p:nvGrpSpPr>
        <p:grpSpPr>
          <a:xfrm>
            <a:off x="10134600" y="3403600"/>
            <a:ext cx="1320800" cy="355600"/>
            <a:chOff x="10134600" y="3403600"/>
            <a:chExt cx="1320800" cy="355600"/>
          </a:xfrm>
        </p:grpSpPr>
        <p:sp>
          <p:nvSpPr>
            <p:cNvPr id="87" name="rating-5-6.surface"/>
            <p:cNvSpPr/>
            <p:nvPr/>
          </p:nvSpPr>
          <p:spPr>
            <a:xfrm>
              <a:off x="10134600" y="3403600"/>
              <a:ext cx="1320800" cy="355600"/>
            </a:xfrm>
            <a:prstGeom prst="rect">
              <a:avLst/>
            </a:prstGeom>
            <a:solidFill>
              <a:srgbClr val="FFFFFF"/>
            </a:solidFill>
            <a:ln>
              <a:noFill/>
            </a:ln>
          </p:spPr>
        </p:sp>
        <p:sp>
          <p:nvSpPr>
            <p:cNvPr id="88" name="rating-5-6.text"/>
            <p:cNvSpPr/>
            <p:nvPr/>
          </p:nvSpPr>
          <p:spPr>
            <a:xfrm>
              <a:off x="10287000" y="35052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2" name="rating-6-0"/>
          <p:cNvGrpSpPr/>
          <p:nvPr/>
        </p:nvGrpSpPr>
        <p:grpSpPr>
          <a:xfrm>
            <a:off x="723900" y="3759200"/>
            <a:ext cx="2730500" cy="355600"/>
            <a:chOff x="723900" y="3759200"/>
            <a:chExt cx="2730500" cy="355600"/>
          </a:xfrm>
        </p:grpSpPr>
        <p:sp>
          <p:nvSpPr>
            <p:cNvPr id="89" name="rating-6-0.surface"/>
            <p:cNvSpPr/>
            <p:nvPr/>
          </p:nvSpPr>
          <p:spPr>
            <a:xfrm>
              <a:off x="723900" y="3759200"/>
              <a:ext cx="2730500" cy="355600"/>
            </a:xfrm>
            <a:prstGeom prst="rect">
              <a:avLst/>
            </a:prstGeom>
            <a:solidFill>
              <a:srgbClr val="E8EEF8"/>
            </a:solidFill>
            <a:ln>
              <a:noFill/>
            </a:ln>
          </p:spPr>
        </p:sp>
        <p:sp>
          <p:nvSpPr>
            <p:cNvPr id="90" name="rating-6-0.text"/>
            <p:cNvSpPr/>
            <p:nvPr/>
          </p:nvSpPr>
          <p:spPr>
            <a:xfrm>
              <a:off x="876300" y="38608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Release validation</a:t>
              </a:r>
              <a:endParaRPr lang="en-US" sz="900" spc="0" kern="0" b="0" i="0" dirty="0">
                <a:solidFill>
                  <a:srgbClr val="070154"/>
                </a:solidFill>
                <a:latin typeface="IBM Plex Sans"/>
                <a:ea typeface="IBM Plex Sans"/>
                <a:cs typeface="IBM Plex Sans"/>
              </a:endParaRPr>
            </a:p>
          </p:txBody>
        </p:sp>
      </p:grpSp>
      <p:grpSp>
        <p:nvGrpSpPr>
          <p:cNvPr id="193" name="rating-6-1"/>
          <p:cNvGrpSpPr/>
          <p:nvPr/>
        </p:nvGrpSpPr>
        <p:grpSpPr>
          <a:xfrm>
            <a:off x="3467100" y="3759200"/>
            <a:ext cx="1320800" cy="355600"/>
            <a:chOff x="3467100" y="3759200"/>
            <a:chExt cx="1320800" cy="355600"/>
          </a:xfrm>
        </p:grpSpPr>
        <p:sp>
          <p:nvSpPr>
            <p:cNvPr id="91" name="rating-6-1.surface"/>
            <p:cNvSpPr/>
            <p:nvPr/>
          </p:nvSpPr>
          <p:spPr>
            <a:xfrm>
              <a:off x="3467100" y="3759200"/>
              <a:ext cx="1320800" cy="355600"/>
            </a:xfrm>
            <a:prstGeom prst="rect">
              <a:avLst/>
            </a:prstGeom>
            <a:solidFill>
              <a:srgbClr val="FFFFFF"/>
            </a:solidFill>
            <a:ln>
              <a:noFill/>
            </a:ln>
          </p:spPr>
        </p:sp>
        <p:sp>
          <p:nvSpPr>
            <p:cNvPr id="92" name="rating-6-1.text"/>
            <p:cNvSpPr/>
            <p:nvPr/>
          </p:nvSpPr>
          <p:spPr>
            <a:xfrm>
              <a:off x="36195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4" name="rating-6-2"/>
          <p:cNvGrpSpPr/>
          <p:nvPr/>
        </p:nvGrpSpPr>
        <p:grpSpPr>
          <a:xfrm>
            <a:off x="4800600" y="3759200"/>
            <a:ext cx="1320800" cy="355600"/>
            <a:chOff x="4800600" y="3759200"/>
            <a:chExt cx="1320800" cy="355600"/>
          </a:xfrm>
        </p:grpSpPr>
        <p:sp>
          <p:nvSpPr>
            <p:cNvPr id="93" name="rating-6-2.surface"/>
            <p:cNvSpPr/>
            <p:nvPr/>
          </p:nvSpPr>
          <p:spPr>
            <a:xfrm>
              <a:off x="4800600" y="3759200"/>
              <a:ext cx="1320800" cy="355600"/>
            </a:xfrm>
            <a:prstGeom prst="rect">
              <a:avLst/>
            </a:prstGeom>
            <a:solidFill>
              <a:srgbClr val="FFFFFF"/>
            </a:solidFill>
            <a:ln>
              <a:noFill/>
            </a:ln>
          </p:spPr>
        </p:sp>
        <p:sp>
          <p:nvSpPr>
            <p:cNvPr id="94" name="rating-6-2.text"/>
            <p:cNvSpPr/>
            <p:nvPr/>
          </p:nvSpPr>
          <p:spPr>
            <a:xfrm>
              <a:off x="49530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5" name="rating-6-3"/>
          <p:cNvGrpSpPr/>
          <p:nvPr/>
        </p:nvGrpSpPr>
        <p:grpSpPr>
          <a:xfrm>
            <a:off x="6134100" y="3759200"/>
            <a:ext cx="1320800" cy="355600"/>
            <a:chOff x="6134100" y="3759200"/>
            <a:chExt cx="1320800" cy="355600"/>
          </a:xfrm>
        </p:grpSpPr>
        <p:sp>
          <p:nvSpPr>
            <p:cNvPr id="95" name="rating-6-3.surface"/>
            <p:cNvSpPr/>
            <p:nvPr/>
          </p:nvSpPr>
          <p:spPr>
            <a:xfrm>
              <a:off x="6134100" y="3759200"/>
              <a:ext cx="1320800" cy="355600"/>
            </a:xfrm>
            <a:prstGeom prst="rect">
              <a:avLst/>
            </a:prstGeom>
            <a:solidFill>
              <a:srgbClr val="FFFFFF"/>
            </a:solidFill>
            <a:ln>
              <a:noFill/>
            </a:ln>
          </p:spPr>
        </p:sp>
        <p:sp>
          <p:nvSpPr>
            <p:cNvPr id="96" name="rating-6-3.text"/>
            <p:cNvSpPr/>
            <p:nvPr/>
          </p:nvSpPr>
          <p:spPr>
            <a:xfrm>
              <a:off x="62865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6" name="rating-6-4"/>
          <p:cNvGrpSpPr/>
          <p:nvPr/>
        </p:nvGrpSpPr>
        <p:grpSpPr>
          <a:xfrm>
            <a:off x="7467600" y="3759200"/>
            <a:ext cx="1320800" cy="355600"/>
            <a:chOff x="7467600" y="3759200"/>
            <a:chExt cx="1320800" cy="355600"/>
          </a:xfrm>
        </p:grpSpPr>
        <p:sp>
          <p:nvSpPr>
            <p:cNvPr id="97" name="rating-6-4.surface"/>
            <p:cNvSpPr/>
            <p:nvPr/>
          </p:nvSpPr>
          <p:spPr>
            <a:xfrm>
              <a:off x="7467600" y="3759200"/>
              <a:ext cx="1320800" cy="355600"/>
            </a:xfrm>
            <a:prstGeom prst="rect">
              <a:avLst/>
            </a:prstGeom>
            <a:solidFill>
              <a:srgbClr val="FFFFFF"/>
            </a:solidFill>
            <a:ln>
              <a:noFill/>
            </a:ln>
          </p:spPr>
        </p:sp>
        <p:sp>
          <p:nvSpPr>
            <p:cNvPr id="98" name="rating-6-4.text"/>
            <p:cNvSpPr/>
            <p:nvPr/>
          </p:nvSpPr>
          <p:spPr>
            <a:xfrm>
              <a:off x="76200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7" name="rating-6-5"/>
          <p:cNvGrpSpPr/>
          <p:nvPr/>
        </p:nvGrpSpPr>
        <p:grpSpPr>
          <a:xfrm>
            <a:off x="8801100" y="3759200"/>
            <a:ext cx="1320800" cy="355600"/>
            <a:chOff x="8801100" y="3759200"/>
            <a:chExt cx="1320800" cy="355600"/>
          </a:xfrm>
        </p:grpSpPr>
        <p:sp>
          <p:nvSpPr>
            <p:cNvPr id="99" name="rating-6-5.surface"/>
            <p:cNvSpPr/>
            <p:nvPr/>
          </p:nvSpPr>
          <p:spPr>
            <a:xfrm>
              <a:off x="8801100" y="3759200"/>
              <a:ext cx="1320800" cy="355600"/>
            </a:xfrm>
            <a:prstGeom prst="rect">
              <a:avLst/>
            </a:prstGeom>
            <a:solidFill>
              <a:srgbClr val="E8EEF8"/>
            </a:solidFill>
            <a:ln>
              <a:noFill/>
            </a:ln>
          </p:spPr>
        </p:sp>
        <p:sp>
          <p:nvSpPr>
            <p:cNvPr id="100" name="rating-6-5.text"/>
            <p:cNvSpPr/>
            <p:nvPr/>
          </p:nvSpPr>
          <p:spPr>
            <a:xfrm>
              <a:off x="89535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Emerging</a:t>
              </a:r>
              <a:endParaRPr lang="en-US" sz="900" spc="0" kern="0" b="0" i="0" dirty="0">
                <a:solidFill>
                  <a:srgbClr val="070154"/>
                </a:solidFill>
                <a:latin typeface="IBM Plex Sans"/>
                <a:ea typeface="IBM Plex Sans"/>
                <a:cs typeface="IBM Plex Sans"/>
              </a:endParaRPr>
            </a:p>
          </p:txBody>
        </p:sp>
      </p:grpSp>
      <p:grpSp>
        <p:nvGrpSpPr>
          <p:cNvPr id="198" name="rating-6-6"/>
          <p:cNvGrpSpPr/>
          <p:nvPr/>
        </p:nvGrpSpPr>
        <p:grpSpPr>
          <a:xfrm>
            <a:off x="10134600" y="3759200"/>
            <a:ext cx="1320800" cy="355600"/>
            <a:chOff x="10134600" y="3759200"/>
            <a:chExt cx="1320800" cy="355600"/>
          </a:xfrm>
        </p:grpSpPr>
        <p:sp>
          <p:nvSpPr>
            <p:cNvPr id="101" name="rating-6-6.surface"/>
            <p:cNvSpPr/>
            <p:nvPr/>
          </p:nvSpPr>
          <p:spPr>
            <a:xfrm>
              <a:off x="10134600" y="3759200"/>
              <a:ext cx="1320800" cy="355600"/>
            </a:xfrm>
            <a:prstGeom prst="rect">
              <a:avLst/>
            </a:prstGeom>
            <a:solidFill>
              <a:srgbClr val="FFFFFF"/>
            </a:solidFill>
            <a:ln>
              <a:noFill/>
            </a:ln>
          </p:spPr>
        </p:sp>
        <p:sp>
          <p:nvSpPr>
            <p:cNvPr id="102" name="rating-6-6.text"/>
            <p:cNvSpPr/>
            <p:nvPr/>
          </p:nvSpPr>
          <p:spPr>
            <a:xfrm>
              <a:off x="10287000" y="38608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199" name="rating-7-0"/>
          <p:cNvGrpSpPr/>
          <p:nvPr/>
        </p:nvGrpSpPr>
        <p:grpSpPr>
          <a:xfrm>
            <a:off x="723900" y="4114800"/>
            <a:ext cx="2730500" cy="355600"/>
            <a:chOff x="723900" y="4114800"/>
            <a:chExt cx="2730500" cy="355600"/>
          </a:xfrm>
        </p:grpSpPr>
        <p:sp>
          <p:nvSpPr>
            <p:cNvPr id="103" name="rating-7-0.surface"/>
            <p:cNvSpPr/>
            <p:nvPr/>
          </p:nvSpPr>
          <p:spPr>
            <a:xfrm>
              <a:off x="723900" y="4114800"/>
              <a:ext cx="2730500" cy="355600"/>
            </a:xfrm>
            <a:prstGeom prst="rect">
              <a:avLst/>
            </a:prstGeom>
            <a:solidFill>
              <a:srgbClr val="E8EEF8"/>
            </a:solidFill>
            <a:ln>
              <a:noFill/>
            </a:ln>
          </p:spPr>
        </p:sp>
        <p:sp>
          <p:nvSpPr>
            <p:cNvPr id="104" name="rating-7-0.text"/>
            <p:cNvSpPr/>
            <p:nvPr/>
          </p:nvSpPr>
          <p:spPr>
            <a:xfrm>
              <a:off x="876300" y="42164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Commercialization and enablement</a:t>
              </a:r>
              <a:endParaRPr lang="en-US" sz="900" spc="0" kern="0" b="0" i="0" dirty="0">
                <a:solidFill>
                  <a:srgbClr val="070154"/>
                </a:solidFill>
                <a:latin typeface="IBM Plex Sans"/>
                <a:ea typeface="IBM Plex Sans"/>
                <a:cs typeface="IBM Plex Sans"/>
              </a:endParaRPr>
            </a:p>
          </p:txBody>
        </p:sp>
      </p:grpSp>
      <p:grpSp>
        <p:nvGrpSpPr>
          <p:cNvPr id="200" name="rating-7-1"/>
          <p:cNvGrpSpPr/>
          <p:nvPr/>
        </p:nvGrpSpPr>
        <p:grpSpPr>
          <a:xfrm>
            <a:off x="3467100" y="4114800"/>
            <a:ext cx="1320800" cy="355600"/>
            <a:chOff x="3467100" y="4114800"/>
            <a:chExt cx="1320800" cy="355600"/>
          </a:xfrm>
        </p:grpSpPr>
        <p:sp>
          <p:nvSpPr>
            <p:cNvPr id="105" name="rating-7-1.surface"/>
            <p:cNvSpPr/>
            <p:nvPr/>
          </p:nvSpPr>
          <p:spPr>
            <a:xfrm>
              <a:off x="3467100" y="4114800"/>
              <a:ext cx="1320800" cy="355600"/>
            </a:xfrm>
            <a:prstGeom prst="rect">
              <a:avLst/>
            </a:prstGeom>
            <a:solidFill>
              <a:srgbClr val="FFFFFF"/>
            </a:solidFill>
            <a:ln>
              <a:noFill/>
            </a:ln>
          </p:spPr>
        </p:sp>
        <p:sp>
          <p:nvSpPr>
            <p:cNvPr id="106" name="rating-7-1.text"/>
            <p:cNvSpPr/>
            <p:nvPr/>
          </p:nvSpPr>
          <p:spPr>
            <a:xfrm>
              <a:off x="36195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01" name="rating-7-2"/>
          <p:cNvGrpSpPr/>
          <p:nvPr/>
        </p:nvGrpSpPr>
        <p:grpSpPr>
          <a:xfrm>
            <a:off x="4800600" y="4114800"/>
            <a:ext cx="1320800" cy="355600"/>
            <a:chOff x="4800600" y="4114800"/>
            <a:chExt cx="1320800" cy="355600"/>
          </a:xfrm>
        </p:grpSpPr>
        <p:sp>
          <p:nvSpPr>
            <p:cNvPr id="107" name="rating-7-2.surface"/>
            <p:cNvSpPr/>
            <p:nvPr/>
          </p:nvSpPr>
          <p:spPr>
            <a:xfrm>
              <a:off x="4800600" y="4114800"/>
              <a:ext cx="1320800" cy="355600"/>
            </a:xfrm>
            <a:prstGeom prst="rect">
              <a:avLst/>
            </a:prstGeom>
            <a:solidFill>
              <a:srgbClr val="FFFFFF"/>
            </a:solidFill>
            <a:ln>
              <a:noFill/>
            </a:ln>
          </p:spPr>
        </p:sp>
        <p:sp>
          <p:nvSpPr>
            <p:cNvPr id="108" name="rating-7-2.text"/>
            <p:cNvSpPr/>
            <p:nvPr/>
          </p:nvSpPr>
          <p:spPr>
            <a:xfrm>
              <a:off x="49530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02" name="rating-7-3"/>
          <p:cNvGrpSpPr/>
          <p:nvPr/>
        </p:nvGrpSpPr>
        <p:grpSpPr>
          <a:xfrm>
            <a:off x="6134100" y="4114800"/>
            <a:ext cx="1320800" cy="355600"/>
            <a:chOff x="6134100" y="4114800"/>
            <a:chExt cx="1320800" cy="355600"/>
          </a:xfrm>
        </p:grpSpPr>
        <p:sp>
          <p:nvSpPr>
            <p:cNvPr id="109" name="rating-7-3.surface"/>
            <p:cNvSpPr/>
            <p:nvPr/>
          </p:nvSpPr>
          <p:spPr>
            <a:xfrm>
              <a:off x="6134100" y="4114800"/>
              <a:ext cx="1320800" cy="355600"/>
            </a:xfrm>
            <a:prstGeom prst="rect">
              <a:avLst/>
            </a:prstGeom>
            <a:solidFill>
              <a:srgbClr val="FFFFFF"/>
            </a:solidFill>
            <a:ln>
              <a:noFill/>
            </a:ln>
          </p:spPr>
        </p:sp>
        <p:sp>
          <p:nvSpPr>
            <p:cNvPr id="110" name="rating-7-3.text"/>
            <p:cNvSpPr/>
            <p:nvPr/>
          </p:nvSpPr>
          <p:spPr>
            <a:xfrm>
              <a:off x="62865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03" name="rating-7-4"/>
          <p:cNvGrpSpPr/>
          <p:nvPr/>
        </p:nvGrpSpPr>
        <p:grpSpPr>
          <a:xfrm>
            <a:off x="7467600" y="4114800"/>
            <a:ext cx="1320800" cy="355600"/>
            <a:chOff x="7467600" y="4114800"/>
            <a:chExt cx="1320800" cy="355600"/>
          </a:xfrm>
        </p:grpSpPr>
        <p:sp>
          <p:nvSpPr>
            <p:cNvPr id="111" name="rating-7-4.surface"/>
            <p:cNvSpPr/>
            <p:nvPr/>
          </p:nvSpPr>
          <p:spPr>
            <a:xfrm>
              <a:off x="7467600" y="4114800"/>
              <a:ext cx="1320800" cy="355600"/>
            </a:xfrm>
            <a:prstGeom prst="rect">
              <a:avLst/>
            </a:prstGeom>
            <a:solidFill>
              <a:srgbClr val="FFFFFF"/>
            </a:solidFill>
            <a:ln>
              <a:noFill/>
            </a:ln>
          </p:spPr>
        </p:sp>
        <p:sp>
          <p:nvSpPr>
            <p:cNvPr id="112" name="rating-7-4.text"/>
            <p:cNvSpPr/>
            <p:nvPr/>
          </p:nvSpPr>
          <p:spPr>
            <a:xfrm>
              <a:off x="76200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04" name="rating-7-5"/>
          <p:cNvGrpSpPr/>
          <p:nvPr/>
        </p:nvGrpSpPr>
        <p:grpSpPr>
          <a:xfrm>
            <a:off x="8801100" y="4114800"/>
            <a:ext cx="1320800" cy="355600"/>
            <a:chOff x="8801100" y="4114800"/>
            <a:chExt cx="1320800" cy="355600"/>
          </a:xfrm>
        </p:grpSpPr>
        <p:sp>
          <p:nvSpPr>
            <p:cNvPr id="113" name="rating-7-5.surface"/>
            <p:cNvSpPr/>
            <p:nvPr/>
          </p:nvSpPr>
          <p:spPr>
            <a:xfrm>
              <a:off x="8801100" y="4114800"/>
              <a:ext cx="1320800" cy="355600"/>
            </a:xfrm>
            <a:prstGeom prst="rect">
              <a:avLst/>
            </a:prstGeom>
            <a:solidFill>
              <a:srgbClr val="FFFFFF"/>
            </a:solidFill>
            <a:ln>
              <a:noFill/>
            </a:ln>
          </p:spPr>
        </p:sp>
        <p:sp>
          <p:nvSpPr>
            <p:cNvPr id="114" name="rating-7-5.text"/>
            <p:cNvSpPr/>
            <p:nvPr/>
          </p:nvSpPr>
          <p:spPr>
            <a:xfrm>
              <a:off x="89535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205" name="rating-7-6"/>
          <p:cNvGrpSpPr/>
          <p:nvPr/>
        </p:nvGrpSpPr>
        <p:grpSpPr>
          <a:xfrm>
            <a:off x="10134600" y="4114800"/>
            <a:ext cx="1320800" cy="355600"/>
            <a:chOff x="10134600" y="4114800"/>
            <a:chExt cx="1320800" cy="355600"/>
          </a:xfrm>
        </p:grpSpPr>
        <p:sp>
          <p:nvSpPr>
            <p:cNvPr id="115" name="rating-7-6.surface"/>
            <p:cNvSpPr/>
            <p:nvPr/>
          </p:nvSpPr>
          <p:spPr>
            <a:xfrm>
              <a:off x="10134600" y="4114800"/>
              <a:ext cx="1320800" cy="355600"/>
            </a:xfrm>
            <a:prstGeom prst="rect">
              <a:avLst/>
            </a:prstGeom>
            <a:solidFill>
              <a:srgbClr val="FFFFFF"/>
            </a:solidFill>
            <a:ln>
              <a:noFill/>
            </a:ln>
          </p:spPr>
        </p:sp>
        <p:sp>
          <p:nvSpPr>
            <p:cNvPr id="116" name="rating-7-6.text"/>
            <p:cNvSpPr/>
            <p:nvPr/>
          </p:nvSpPr>
          <p:spPr>
            <a:xfrm>
              <a:off x="10287000" y="42164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206" name="rating-8-0"/>
          <p:cNvGrpSpPr/>
          <p:nvPr/>
        </p:nvGrpSpPr>
        <p:grpSpPr>
          <a:xfrm>
            <a:off x="723900" y="4470400"/>
            <a:ext cx="2730500" cy="355600"/>
            <a:chOff x="723900" y="4470400"/>
            <a:chExt cx="2730500" cy="355600"/>
          </a:xfrm>
        </p:grpSpPr>
        <p:sp>
          <p:nvSpPr>
            <p:cNvPr id="117" name="rating-8-0.surface"/>
            <p:cNvSpPr/>
            <p:nvPr/>
          </p:nvSpPr>
          <p:spPr>
            <a:xfrm>
              <a:off x="723900" y="4470400"/>
              <a:ext cx="2730500" cy="355600"/>
            </a:xfrm>
            <a:prstGeom prst="rect">
              <a:avLst/>
            </a:prstGeom>
            <a:solidFill>
              <a:srgbClr val="E8EEF8"/>
            </a:solidFill>
            <a:ln>
              <a:noFill/>
            </a:ln>
          </p:spPr>
        </p:sp>
        <p:sp>
          <p:nvSpPr>
            <p:cNvPr id="118" name="rating-8-0.text"/>
            <p:cNvSpPr/>
            <p:nvPr/>
          </p:nvSpPr>
          <p:spPr>
            <a:xfrm>
              <a:off x="876300" y="45720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Measurement and feedback</a:t>
              </a:r>
              <a:endParaRPr lang="en-US" sz="900" spc="0" kern="0" b="0" i="0" dirty="0">
                <a:solidFill>
                  <a:srgbClr val="070154"/>
                </a:solidFill>
                <a:latin typeface="IBM Plex Sans"/>
                <a:ea typeface="IBM Plex Sans"/>
                <a:cs typeface="IBM Plex Sans"/>
              </a:endParaRPr>
            </a:p>
          </p:txBody>
        </p:sp>
      </p:grpSp>
      <p:grpSp>
        <p:nvGrpSpPr>
          <p:cNvPr id="207" name="rating-8-1"/>
          <p:cNvGrpSpPr/>
          <p:nvPr/>
        </p:nvGrpSpPr>
        <p:grpSpPr>
          <a:xfrm>
            <a:off x="3467100" y="4470400"/>
            <a:ext cx="1320800" cy="355600"/>
            <a:chOff x="3467100" y="4470400"/>
            <a:chExt cx="1320800" cy="355600"/>
          </a:xfrm>
        </p:grpSpPr>
        <p:sp>
          <p:nvSpPr>
            <p:cNvPr id="119" name="rating-8-1.surface"/>
            <p:cNvSpPr/>
            <p:nvPr/>
          </p:nvSpPr>
          <p:spPr>
            <a:xfrm>
              <a:off x="3467100" y="4470400"/>
              <a:ext cx="1320800" cy="355600"/>
            </a:xfrm>
            <a:prstGeom prst="rect">
              <a:avLst/>
            </a:prstGeom>
            <a:solidFill>
              <a:srgbClr val="FFFFFF"/>
            </a:solidFill>
            <a:ln>
              <a:noFill/>
            </a:ln>
          </p:spPr>
        </p:sp>
        <p:sp>
          <p:nvSpPr>
            <p:cNvPr id="120" name="rating-8-1.text"/>
            <p:cNvSpPr/>
            <p:nvPr/>
          </p:nvSpPr>
          <p:spPr>
            <a:xfrm>
              <a:off x="36195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08" name="rating-8-2"/>
          <p:cNvGrpSpPr/>
          <p:nvPr/>
        </p:nvGrpSpPr>
        <p:grpSpPr>
          <a:xfrm>
            <a:off x="4800600" y="4470400"/>
            <a:ext cx="1320800" cy="355600"/>
            <a:chOff x="4800600" y="4470400"/>
            <a:chExt cx="1320800" cy="355600"/>
          </a:xfrm>
        </p:grpSpPr>
        <p:sp>
          <p:nvSpPr>
            <p:cNvPr id="121" name="rating-8-2.surface"/>
            <p:cNvSpPr/>
            <p:nvPr/>
          </p:nvSpPr>
          <p:spPr>
            <a:xfrm>
              <a:off x="4800600" y="4470400"/>
              <a:ext cx="1320800" cy="355600"/>
            </a:xfrm>
            <a:prstGeom prst="rect">
              <a:avLst/>
            </a:prstGeom>
            <a:solidFill>
              <a:srgbClr val="FFFFFF"/>
            </a:solidFill>
            <a:ln>
              <a:noFill/>
            </a:ln>
          </p:spPr>
        </p:sp>
        <p:sp>
          <p:nvSpPr>
            <p:cNvPr id="122" name="rating-8-2.text"/>
            <p:cNvSpPr/>
            <p:nvPr/>
          </p:nvSpPr>
          <p:spPr>
            <a:xfrm>
              <a:off x="49530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09" name="rating-8-3"/>
          <p:cNvGrpSpPr/>
          <p:nvPr/>
        </p:nvGrpSpPr>
        <p:grpSpPr>
          <a:xfrm>
            <a:off x="6134100" y="4470400"/>
            <a:ext cx="1320800" cy="355600"/>
            <a:chOff x="6134100" y="4470400"/>
            <a:chExt cx="1320800" cy="355600"/>
          </a:xfrm>
        </p:grpSpPr>
        <p:sp>
          <p:nvSpPr>
            <p:cNvPr id="123" name="rating-8-3.surface"/>
            <p:cNvSpPr/>
            <p:nvPr/>
          </p:nvSpPr>
          <p:spPr>
            <a:xfrm>
              <a:off x="6134100" y="4470400"/>
              <a:ext cx="1320800" cy="355600"/>
            </a:xfrm>
            <a:prstGeom prst="rect">
              <a:avLst/>
            </a:prstGeom>
            <a:solidFill>
              <a:srgbClr val="FFFFFF"/>
            </a:solidFill>
            <a:ln>
              <a:noFill/>
            </a:ln>
          </p:spPr>
        </p:sp>
        <p:sp>
          <p:nvSpPr>
            <p:cNvPr id="124" name="rating-8-3.text"/>
            <p:cNvSpPr/>
            <p:nvPr/>
          </p:nvSpPr>
          <p:spPr>
            <a:xfrm>
              <a:off x="62865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10" name="rating-8-4"/>
          <p:cNvGrpSpPr/>
          <p:nvPr/>
        </p:nvGrpSpPr>
        <p:grpSpPr>
          <a:xfrm>
            <a:off x="7467600" y="4470400"/>
            <a:ext cx="1320800" cy="355600"/>
            <a:chOff x="7467600" y="4470400"/>
            <a:chExt cx="1320800" cy="355600"/>
          </a:xfrm>
        </p:grpSpPr>
        <p:sp>
          <p:nvSpPr>
            <p:cNvPr id="125" name="rating-8-4.surface"/>
            <p:cNvSpPr/>
            <p:nvPr/>
          </p:nvSpPr>
          <p:spPr>
            <a:xfrm>
              <a:off x="7467600" y="4470400"/>
              <a:ext cx="1320800" cy="355600"/>
            </a:xfrm>
            <a:prstGeom prst="rect">
              <a:avLst/>
            </a:prstGeom>
            <a:solidFill>
              <a:srgbClr val="FFFFFF"/>
            </a:solidFill>
            <a:ln>
              <a:noFill/>
            </a:ln>
          </p:spPr>
        </p:sp>
        <p:sp>
          <p:nvSpPr>
            <p:cNvPr id="126" name="rating-8-4.text"/>
            <p:cNvSpPr/>
            <p:nvPr/>
          </p:nvSpPr>
          <p:spPr>
            <a:xfrm>
              <a:off x="76200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11" name="rating-8-5"/>
          <p:cNvGrpSpPr/>
          <p:nvPr/>
        </p:nvGrpSpPr>
        <p:grpSpPr>
          <a:xfrm>
            <a:off x="8801100" y="4470400"/>
            <a:ext cx="1320800" cy="355600"/>
            <a:chOff x="8801100" y="4470400"/>
            <a:chExt cx="1320800" cy="355600"/>
          </a:xfrm>
        </p:grpSpPr>
        <p:sp>
          <p:nvSpPr>
            <p:cNvPr id="127" name="rating-8-5.surface"/>
            <p:cNvSpPr/>
            <p:nvPr/>
          </p:nvSpPr>
          <p:spPr>
            <a:xfrm>
              <a:off x="8801100" y="4470400"/>
              <a:ext cx="1320800" cy="355600"/>
            </a:xfrm>
            <a:prstGeom prst="rect">
              <a:avLst/>
            </a:prstGeom>
            <a:solidFill>
              <a:srgbClr val="FFFFFF"/>
            </a:solidFill>
            <a:ln>
              <a:noFill/>
            </a:ln>
          </p:spPr>
        </p:sp>
        <p:sp>
          <p:nvSpPr>
            <p:cNvPr id="128" name="rating-8-5.text"/>
            <p:cNvSpPr/>
            <p:nvPr/>
          </p:nvSpPr>
          <p:spPr>
            <a:xfrm>
              <a:off x="89535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12" name="rating-8-6"/>
          <p:cNvGrpSpPr/>
          <p:nvPr/>
        </p:nvGrpSpPr>
        <p:grpSpPr>
          <a:xfrm>
            <a:off x="10134600" y="4470400"/>
            <a:ext cx="1320800" cy="355600"/>
            <a:chOff x="10134600" y="4470400"/>
            <a:chExt cx="1320800" cy="355600"/>
          </a:xfrm>
        </p:grpSpPr>
        <p:sp>
          <p:nvSpPr>
            <p:cNvPr id="129" name="rating-8-6.surface"/>
            <p:cNvSpPr/>
            <p:nvPr/>
          </p:nvSpPr>
          <p:spPr>
            <a:xfrm>
              <a:off x="10134600" y="4470400"/>
              <a:ext cx="1320800" cy="355600"/>
            </a:xfrm>
            <a:prstGeom prst="rect">
              <a:avLst/>
            </a:prstGeom>
            <a:solidFill>
              <a:srgbClr val="FFFFFF"/>
            </a:solidFill>
            <a:ln>
              <a:noFill/>
            </a:ln>
          </p:spPr>
        </p:sp>
        <p:sp>
          <p:nvSpPr>
            <p:cNvPr id="130" name="rating-8-6.text"/>
            <p:cNvSpPr/>
            <p:nvPr/>
          </p:nvSpPr>
          <p:spPr>
            <a:xfrm>
              <a:off x="10287000" y="45720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213" name="rating-9-0"/>
          <p:cNvGrpSpPr/>
          <p:nvPr/>
        </p:nvGrpSpPr>
        <p:grpSpPr>
          <a:xfrm>
            <a:off x="723900" y="4826000"/>
            <a:ext cx="2730500" cy="355600"/>
            <a:chOff x="723900" y="4826000"/>
            <a:chExt cx="2730500" cy="355600"/>
          </a:xfrm>
        </p:grpSpPr>
        <p:sp>
          <p:nvSpPr>
            <p:cNvPr id="131" name="rating-9-0.surface"/>
            <p:cNvSpPr/>
            <p:nvPr/>
          </p:nvSpPr>
          <p:spPr>
            <a:xfrm>
              <a:off x="723900" y="4826000"/>
              <a:ext cx="2730500" cy="355600"/>
            </a:xfrm>
            <a:prstGeom prst="rect">
              <a:avLst/>
            </a:prstGeom>
            <a:solidFill>
              <a:srgbClr val="E8EEF8"/>
            </a:solidFill>
            <a:ln>
              <a:noFill/>
            </a:ln>
          </p:spPr>
        </p:sp>
        <p:sp>
          <p:nvSpPr>
            <p:cNvPr id="132" name="rating-9-0.text"/>
            <p:cNvSpPr/>
            <p:nvPr/>
          </p:nvSpPr>
          <p:spPr>
            <a:xfrm>
              <a:off x="876300" y="4927600"/>
              <a:ext cx="24257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AI-enabled delivery</a:t>
              </a:r>
              <a:endParaRPr lang="en-US" sz="900" spc="0" kern="0" b="0" i="0" dirty="0">
                <a:solidFill>
                  <a:srgbClr val="070154"/>
                </a:solidFill>
                <a:latin typeface="IBM Plex Sans"/>
                <a:ea typeface="IBM Plex Sans"/>
                <a:cs typeface="IBM Plex Sans"/>
              </a:endParaRPr>
            </a:p>
          </p:txBody>
        </p:sp>
      </p:grpSp>
      <p:grpSp>
        <p:nvGrpSpPr>
          <p:cNvPr id="214" name="rating-9-1"/>
          <p:cNvGrpSpPr/>
          <p:nvPr/>
        </p:nvGrpSpPr>
        <p:grpSpPr>
          <a:xfrm>
            <a:off x="3467100" y="4826000"/>
            <a:ext cx="1320800" cy="355600"/>
            <a:chOff x="3467100" y="4826000"/>
            <a:chExt cx="1320800" cy="355600"/>
          </a:xfrm>
        </p:grpSpPr>
        <p:sp>
          <p:nvSpPr>
            <p:cNvPr id="133" name="rating-9-1.surface"/>
            <p:cNvSpPr/>
            <p:nvPr/>
          </p:nvSpPr>
          <p:spPr>
            <a:xfrm>
              <a:off x="3467100" y="4826000"/>
              <a:ext cx="1320800" cy="355600"/>
            </a:xfrm>
            <a:prstGeom prst="rect">
              <a:avLst/>
            </a:prstGeom>
            <a:solidFill>
              <a:srgbClr val="E8EEF8"/>
            </a:solidFill>
            <a:ln>
              <a:noFill/>
            </a:ln>
          </p:spPr>
        </p:sp>
        <p:sp>
          <p:nvSpPr>
            <p:cNvPr id="134" name="rating-9-1.text"/>
            <p:cNvSpPr/>
            <p:nvPr/>
          </p:nvSpPr>
          <p:spPr>
            <a:xfrm>
              <a:off x="36195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Emerging</a:t>
              </a:r>
              <a:endParaRPr lang="en-US" sz="900" spc="0" kern="0" b="0" i="0" dirty="0">
                <a:solidFill>
                  <a:srgbClr val="070154"/>
                </a:solidFill>
                <a:latin typeface="IBM Plex Sans"/>
                <a:ea typeface="IBM Plex Sans"/>
                <a:cs typeface="IBM Plex Sans"/>
              </a:endParaRPr>
            </a:p>
          </p:txBody>
        </p:sp>
      </p:grpSp>
      <p:grpSp>
        <p:nvGrpSpPr>
          <p:cNvPr id="215" name="rating-9-2"/>
          <p:cNvGrpSpPr/>
          <p:nvPr/>
        </p:nvGrpSpPr>
        <p:grpSpPr>
          <a:xfrm>
            <a:off x="4800600" y="4826000"/>
            <a:ext cx="1320800" cy="355600"/>
            <a:chOff x="4800600" y="4826000"/>
            <a:chExt cx="1320800" cy="355600"/>
          </a:xfrm>
        </p:grpSpPr>
        <p:sp>
          <p:nvSpPr>
            <p:cNvPr id="135" name="rating-9-2.surface"/>
            <p:cNvSpPr/>
            <p:nvPr/>
          </p:nvSpPr>
          <p:spPr>
            <a:xfrm>
              <a:off x="4800600" y="4826000"/>
              <a:ext cx="1320800" cy="355600"/>
            </a:xfrm>
            <a:prstGeom prst="rect">
              <a:avLst/>
            </a:prstGeom>
            <a:solidFill>
              <a:srgbClr val="FFFFFF"/>
            </a:solidFill>
            <a:ln>
              <a:noFill/>
            </a:ln>
          </p:spPr>
        </p:sp>
        <p:sp>
          <p:nvSpPr>
            <p:cNvPr id="136" name="rating-9-2.text"/>
            <p:cNvSpPr/>
            <p:nvPr/>
          </p:nvSpPr>
          <p:spPr>
            <a:xfrm>
              <a:off x="49530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16" name="rating-9-3"/>
          <p:cNvGrpSpPr/>
          <p:nvPr/>
        </p:nvGrpSpPr>
        <p:grpSpPr>
          <a:xfrm>
            <a:off x="6134100" y="4826000"/>
            <a:ext cx="1320800" cy="355600"/>
            <a:chOff x="6134100" y="4826000"/>
            <a:chExt cx="1320800" cy="355600"/>
          </a:xfrm>
        </p:grpSpPr>
        <p:sp>
          <p:nvSpPr>
            <p:cNvPr id="137" name="rating-9-3.surface"/>
            <p:cNvSpPr/>
            <p:nvPr/>
          </p:nvSpPr>
          <p:spPr>
            <a:xfrm>
              <a:off x="6134100" y="4826000"/>
              <a:ext cx="1320800" cy="355600"/>
            </a:xfrm>
            <a:prstGeom prst="rect">
              <a:avLst/>
            </a:prstGeom>
            <a:solidFill>
              <a:srgbClr val="FFFFFF"/>
            </a:solidFill>
            <a:ln>
              <a:noFill/>
            </a:ln>
          </p:spPr>
        </p:sp>
        <p:sp>
          <p:nvSpPr>
            <p:cNvPr id="138" name="rating-9-3.text"/>
            <p:cNvSpPr/>
            <p:nvPr/>
          </p:nvSpPr>
          <p:spPr>
            <a:xfrm>
              <a:off x="62865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217" name="rating-9-4"/>
          <p:cNvGrpSpPr/>
          <p:nvPr/>
        </p:nvGrpSpPr>
        <p:grpSpPr>
          <a:xfrm>
            <a:off x="7467600" y="4826000"/>
            <a:ext cx="1320800" cy="355600"/>
            <a:chOff x="7467600" y="4826000"/>
            <a:chExt cx="1320800" cy="355600"/>
          </a:xfrm>
        </p:grpSpPr>
        <p:sp>
          <p:nvSpPr>
            <p:cNvPr id="139" name="rating-9-4.surface"/>
            <p:cNvSpPr/>
            <p:nvPr/>
          </p:nvSpPr>
          <p:spPr>
            <a:xfrm>
              <a:off x="7467600" y="4826000"/>
              <a:ext cx="1320800" cy="355600"/>
            </a:xfrm>
            <a:prstGeom prst="rect">
              <a:avLst/>
            </a:prstGeom>
            <a:solidFill>
              <a:srgbClr val="070154"/>
            </a:solidFill>
            <a:ln>
              <a:noFill/>
            </a:ln>
          </p:spPr>
        </p:sp>
        <p:sp>
          <p:nvSpPr>
            <p:cNvPr id="140" name="rating-9-4.text"/>
            <p:cNvSpPr/>
            <p:nvPr/>
          </p:nvSpPr>
          <p:spPr>
            <a:xfrm>
              <a:off x="76200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Leading pocket</a:t>
              </a:r>
              <a:endParaRPr lang="en-US" sz="900" spc="0" kern="0" b="0" i="0" dirty="0">
                <a:solidFill>
                  <a:srgbClr val="FFFFFF"/>
                </a:solidFill>
                <a:latin typeface="IBM Plex Sans"/>
                <a:ea typeface="IBM Plex Sans"/>
                <a:cs typeface="IBM Plex Sans"/>
              </a:endParaRPr>
            </a:p>
          </p:txBody>
        </p:sp>
      </p:grpSp>
      <p:grpSp>
        <p:nvGrpSpPr>
          <p:cNvPr id="218" name="rating-9-5"/>
          <p:cNvGrpSpPr/>
          <p:nvPr/>
        </p:nvGrpSpPr>
        <p:grpSpPr>
          <a:xfrm>
            <a:off x="8801100" y="4826000"/>
            <a:ext cx="1320800" cy="355600"/>
            <a:chOff x="8801100" y="4826000"/>
            <a:chExt cx="1320800" cy="355600"/>
          </a:xfrm>
        </p:grpSpPr>
        <p:sp>
          <p:nvSpPr>
            <p:cNvPr id="141" name="rating-9-5.surface"/>
            <p:cNvSpPr/>
            <p:nvPr/>
          </p:nvSpPr>
          <p:spPr>
            <a:xfrm>
              <a:off x="8801100" y="4826000"/>
              <a:ext cx="1320800" cy="355600"/>
            </a:xfrm>
            <a:prstGeom prst="rect">
              <a:avLst/>
            </a:prstGeom>
            <a:solidFill>
              <a:srgbClr val="FFFFFF"/>
            </a:solidFill>
            <a:ln>
              <a:noFill/>
            </a:ln>
          </p:spPr>
        </p:sp>
        <p:sp>
          <p:nvSpPr>
            <p:cNvPr id="142" name="rating-9-5.text"/>
            <p:cNvSpPr/>
            <p:nvPr/>
          </p:nvSpPr>
          <p:spPr>
            <a:xfrm>
              <a:off x="89535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Developing</a:t>
              </a:r>
              <a:endParaRPr lang="en-US" sz="900" spc="0" kern="0" b="0" i="0" dirty="0">
                <a:solidFill>
                  <a:srgbClr val="070154"/>
                </a:solidFill>
                <a:latin typeface="IBM Plex Sans"/>
                <a:ea typeface="IBM Plex Sans"/>
                <a:cs typeface="IBM Plex Sans"/>
              </a:endParaRPr>
            </a:p>
          </p:txBody>
        </p:sp>
      </p:grpSp>
      <p:grpSp>
        <p:nvGrpSpPr>
          <p:cNvPr id="219" name="rating-9-6"/>
          <p:cNvGrpSpPr/>
          <p:nvPr/>
        </p:nvGrpSpPr>
        <p:grpSpPr>
          <a:xfrm>
            <a:off x="10134600" y="4826000"/>
            <a:ext cx="1320800" cy="355600"/>
            <a:chOff x="10134600" y="4826000"/>
            <a:chExt cx="1320800" cy="355600"/>
          </a:xfrm>
        </p:grpSpPr>
        <p:sp>
          <p:nvSpPr>
            <p:cNvPr id="143" name="rating-9-6.surface"/>
            <p:cNvSpPr/>
            <p:nvPr/>
          </p:nvSpPr>
          <p:spPr>
            <a:xfrm>
              <a:off x="10134600" y="4826000"/>
              <a:ext cx="1320800" cy="355600"/>
            </a:xfrm>
            <a:prstGeom prst="rect">
              <a:avLst/>
            </a:prstGeom>
            <a:solidFill>
              <a:srgbClr val="FFFFFF"/>
            </a:solidFill>
            <a:ln>
              <a:noFill/>
            </a:ln>
          </p:spPr>
        </p:sp>
        <p:sp>
          <p:nvSpPr>
            <p:cNvPr id="144" name="rating-9-6.text"/>
            <p:cNvSpPr/>
            <p:nvPr/>
          </p:nvSpPr>
          <p:spPr>
            <a:xfrm>
              <a:off x="10287000" y="4927600"/>
              <a:ext cx="1016000" cy="15240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070154"/>
                  </a:solidFill>
                  <a:latin typeface="IBM Plex Sans"/>
                  <a:ea typeface="IBM Plex Sans"/>
                  <a:cs typeface="IBM Plex Sans"/>
                </a:rPr>
                <a:t>-</a:t>
              </a:r>
              <a:endParaRPr lang="en-US" sz="900" spc="0" kern="0" b="0" i="0" dirty="0">
                <a:solidFill>
                  <a:srgbClr val="070154"/>
                </a:solidFill>
                <a:latin typeface="IBM Plex Sans"/>
                <a:ea typeface="IBM Plex Sans"/>
                <a:cs typeface="IBM Plex Sans"/>
              </a:endParaRPr>
            </a:p>
          </p:txBody>
        </p:sp>
      </p:grpSp>
      <p:grpSp>
        <p:nvGrpSpPr>
          <p:cNvPr id="220" name="qualification"/>
          <p:cNvGrpSpPr/>
          <p:nvPr/>
        </p:nvGrpSpPr>
        <p:grpSpPr>
          <a:xfrm>
            <a:off x="723900" y="5410200"/>
            <a:ext cx="10744200" cy="533400"/>
            <a:chOff x="723900" y="5410200"/>
            <a:chExt cx="10744200" cy="533400"/>
          </a:xfrm>
        </p:grpSpPr>
        <p:sp>
          <p:nvSpPr>
            <p:cNvPr id="145" name="qualification.surface"/>
            <p:cNvSpPr/>
            <p:nvPr/>
          </p:nvSpPr>
          <p:spPr>
            <a:xfrm>
              <a:off x="723900" y="5410200"/>
              <a:ext cx="10744200" cy="533400"/>
            </a:xfrm>
            <a:prstGeom prst="rect">
              <a:avLst/>
            </a:prstGeom>
            <a:solidFill>
              <a:srgbClr val="E8EEF8"/>
            </a:solidFill>
            <a:ln>
              <a:noFill/>
            </a:ln>
          </p:spPr>
        </p:sp>
        <p:sp>
          <p:nvSpPr>
            <p:cNvPr id="146" name="qualification.text"/>
            <p:cNvSpPr/>
            <p:nvPr/>
          </p:nvSpPr>
          <p:spPr>
            <a:xfrm>
              <a:off x="876300" y="55626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Ratings are working hypotheses based on limited conversations and observations with DXC team.</a:t>
              </a:r>
              <a:endParaRPr lang="en-US" sz="1200" spc="0" kern="0" b="0" i="0" dirty="0">
                <a:solidFill>
                  <a:srgbClr val="070154"/>
                </a:solidFill>
                <a:latin typeface="IBM Plex Sans"/>
                <a:ea typeface="IBM Plex Sans"/>
                <a:cs typeface="IBM Plex Sans"/>
              </a:endParaRPr>
            </a:p>
          </p:txBody>
        </p:sp>
      </p:grpSp>
      <p:grpSp>
        <p:nvGrpSpPr>
          <p:cNvPr id="221" name="authored-header"/>
          <p:cNvGrpSpPr/>
          <p:nvPr/>
        </p:nvGrpSpPr>
        <p:grpSpPr>
          <a:xfrm>
            <a:off x="723900" y="685800"/>
            <a:ext cx="9372600" cy="914400"/>
            <a:chOff x="723900" y="685800"/>
            <a:chExt cx="9372600" cy="914400"/>
          </a:xfrm>
        </p:grpSpPr>
        <p:sp>
          <p:nvSpPr>
            <p:cNvPr id="147"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Practices Map · working ratings</a:t>
              </a:r>
              <a:endParaRPr lang="en-US" sz="3200" spc="-64" kern="0" b="0" i="0" dirty="0">
                <a:solidFill>
                  <a:srgbClr val="070154"/>
                </a:solidFill>
                <a:latin typeface="IBM Plex Sans SemiBold"/>
                <a:ea typeface="IBM Plex Sans SemiBold"/>
                <a:cs typeface="IBM Plex Sans SemiBold"/>
              </a:endParaRPr>
            </a:p>
          </p:txBody>
        </p:sp>
      </p:grpSp>
      <p:grpSp>
        <p:nvGrpSpPr>
          <p:cNvPr id="222" name="authored-eyebrow"/>
          <p:cNvGrpSpPr/>
          <p:nvPr/>
        </p:nvGrpSpPr>
        <p:grpSpPr>
          <a:xfrm>
            <a:off x="723900" y="457200"/>
            <a:ext cx="9372600" cy="228600"/>
            <a:chOff x="723900" y="457200"/>
            <a:chExt cx="9372600" cy="228600"/>
          </a:xfrm>
        </p:grpSpPr>
        <p:sp>
          <p:nvSpPr>
            <p:cNvPr id="148"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01</a:t>
              </a:r>
              <a:endParaRPr lang="en-US" sz="1000" spc="80" kern="0" b="0" i="0" dirty="0">
                <a:solidFill>
                  <a:srgbClr val="0047FF"/>
                </a:solidFill>
                <a:latin typeface="IBM Plex Mono SemiBold"/>
                <a:ea typeface="IBM Plex Mono SemiBold"/>
                <a:cs typeface="IBM Plex Mono SemiBold"/>
              </a:endParaRPr>
            </a:p>
          </p:txBody>
        </p:sp>
      </p:grpSp>
      <p:grpSp>
        <p:nvGrpSpPr>
          <p:cNvPr id="223" name="client-brand"/>
          <p:cNvGrpSpPr/>
          <p:nvPr/>
        </p:nvGrpSpPr>
        <p:grpSpPr>
          <a:xfrm>
            <a:off x="10382250" y="457200"/>
            <a:ext cx="1028700" cy="457200"/>
            <a:chOff x="10382250" y="457200"/>
            <a:chExt cx="1028700" cy="457200"/>
          </a:xfrm>
        </p:grpSpPr>
        <p:pic>
          <p:nvPicPr>
            <p:cNvPr id="149"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name="dxc-044">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44</a:t>
            </a:fld>
            <a:endParaRPr lang="en-US" sz="700" spc="0" kern="0" b="0" i="0" dirty="0">
              <a:solidFill>
                <a:srgbClr val="070154"/>
              </a:solidFill>
              <a:latin typeface="IBM Plex Mono SemiBold"/>
              <a:ea typeface="IBM Plex Mono SemiBold"/>
              <a:cs typeface="IBM Plex Mono SemiBold"/>
            </a:endParaRPr>
          </a:p>
        </p:txBody>
      </p:sp>
      <p:grpSp>
        <p:nvGrpSpPr>
          <p:cNvPr id="11" name="platform-evidence"/>
          <p:cNvGrpSpPr/>
          <p:nvPr/>
        </p:nvGrpSpPr>
        <p:grpSpPr>
          <a:xfrm>
            <a:off x="723900" y="1600200"/>
            <a:ext cx="10744200" cy="4013200"/>
            <a:chOff x="723900" y="1600200"/>
            <a:chExt cx="10744200" cy="4013200"/>
          </a:xfrm>
        </p:grpSpPr>
        <p:graphicFrame>
          <p:nvGraphicFramePr>
            <p:cNvPr id="5" name="platform-evidence.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4013200"/>
          </p:xfrm>
          <a:graphic>
            <a:graphicData uri="http://schemas.openxmlformats.org/drawingml/2006/table">
              <a:tbl>
                <a:tblPr/>
                <a:tblGrid>
                  <a:gridCol w="1828800"/>
                  <a:gridCol w="1066800"/>
                  <a:gridCol w="1143000"/>
                  <a:gridCol w="990600"/>
                  <a:gridCol w="4876800"/>
                  <a:gridCol w="838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PRACTICE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CORE JAVA</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RECONCILE AI</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OTHER PODS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EVIDENCE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Technical design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 design owner before build; Core knowledge concentrated. Recon spec: Team Lead signs.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 03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AI-assisted build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Variable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Copilot since Jan 2026, human gates; Recon epic agents; others mainly unit tests.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E5</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Test automation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Leading pocket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Variable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manual, limited QA. Recon: Jest / Playwright / Postman. XConnect ~100%; others partial.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E2</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Release promotion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Release-night merges suggest rebuild vs promotion (confirm); some products outside CAB.</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Access / test data</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Survey: access/data delays, no read-only DB diagnostics. Recon data wait: months.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E3</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Operability / run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Developing</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To validate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Half 2026 Core changes outside cadence: defects, rollbacks, credential/certificate fixes.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E1</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Delivery measures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~65 points/sprint. Recon flow measures proposed, not live. No DORA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4572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Knowledge sharing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Emerging</a:t>
                        </a:r>
                        <a:endParaRPr lang="en-US" sz="1200" spc="0" kern="0" b="0" i="0" dirty="0">
                          <a:solidFill>
                            <a:srgbClr val="070154"/>
                          </a:solidFill>
                          <a:latin typeface="IBM Plex Sans"/>
                          <a:ea typeface="IBM Plex Sans"/>
                          <a:cs typeface="IBM Plex Sans"/>
                        </a:endParaRPr>
                      </a:p>
                    </a:txBody>
                    <a:tcPr marL="76200" marR="762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Senior-person dependency; thin onboarding. New onshore leads being added.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Rec 04</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2" name="evidence-source"/>
          <p:cNvGrpSpPr/>
          <p:nvPr/>
        </p:nvGrpSpPr>
        <p:grpSpPr>
          <a:xfrm>
            <a:off x="723900" y="5638800"/>
            <a:ext cx="10744200" cy="304800"/>
            <a:chOff x="723900" y="5638800"/>
            <a:chExt cx="10744200" cy="304800"/>
          </a:xfrm>
        </p:grpSpPr>
        <p:sp>
          <p:nvSpPr>
            <p:cNvPr id="6" name="evidence-source.surface"/>
            <p:cNvSpPr/>
            <p:nvPr/>
          </p:nvSpPr>
          <p:spPr>
            <a:xfrm>
              <a:off x="723900" y="5638800"/>
              <a:ext cx="10744200" cy="304800"/>
            </a:xfrm>
            <a:prstGeom prst="rect">
              <a:avLst/>
            </a:prstGeom>
            <a:solidFill>
              <a:srgbClr val="E8EEF8"/>
            </a:solidFill>
            <a:ln>
              <a:noFill/>
            </a:ln>
          </p:spPr>
        </p:sp>
        <p:sp>
          <p:nvSpPr>
            <p:cNvPr id="7" name="evidence-source.text"/>
            <p:cNvSpPr/>
            <p:nvPr/>
          </p:nvSpPr>
          <p:spPr>
            <a:xfrm>
              <a:off x="876300" y="5715000"/>
              <a:ext cx="10439400" cy="152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Working hypotheses to validate with Engineering. Sources: working sessions; engineering survey n=44; 2024–2026 release calendar.</a:t>
              </a:r>
              <a:endParaRPr lang="en-US" sz="900" spc="0" kern="0" b="0" i="0" dirty="0">
                <a:solidFill>
                  <a:srgbClr val="070154"/>
                </a:solidFill>
                <a:latin typeface="IBM Plex Sans"/>
                <a:ea typeface="IBM Plex Sans"/>
                <a:cs typeface="IBM Plex Sans"/>
              </a:endParaRPr>
            </a:p>
          </p:txBody>
        </p:sp>
      </p:grpSp>
      <p:grpSp>
        <p:nvGrpSpPr>
          <p:cNvPr id="13" name="authored-header"/>
          <p:cNvGrpSpPr/>
          <p:nvPr/>
        </p:nvGrpSpPr>
        <p:grpSpPr>
          <a:xfrm>
            <a:off x="723900" y="685800"/>
            <a:ext cx="9372600" cy="914400"/>
            <a:chOff x="723900" y="685800"/>
            <a:chExt cx="9372600" cy="914400"/>
          </a:xfrm>
        </p:grpSpPr>
        <p:sp>
          <p:nvSpPr>
            <p:cNvPr id="8"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Engineering practices by platform</a:t>
              </a:r>
              <a:endParaRPr lang="en-US" sz="3200" spc="-64" kern="0" b="0" i="0" dirty="0">
                <a:solidFill>
                  <a:srgbClr val="070154"/>
                </a:solidFill>
                <a:latin typeface="IBM Plex Sans SemiBold"/>
                <a:ea typeface="IBM Plex Sans SemiBold"/>
                <a:cs typeface="IBM Plex Sans SemiBold"/>
              </a:endParaRPr>
            </a:p>
          </p:txBody>
        </p:sp>
      </p:grpSp>
      <p:grpSp>
        <p:nvGrpSpPr>
          <p:cNvPr id="14" name="authored-eyebrow"/>
          <p:cNvGrpSpPr/>
          <p:nvPr/>
        </p:nvGrpSpPr>
        <p:grpSpPr>
          <a:xfrm>
            <a:off x="723900" y="457200"/>
            <a:ext cx="9372600" cy="228600"/>
            <a:chOff x="723900" y="457200"/>
            <a:chExt cx="9372600" cy="228600"/>
          </a:xfrm>
        </p:grpSpPr>
        <p:sp>
          <p:nvSpPr>
            <p:cNvPr id="9"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01</a:t>
              </a:r>
              <a:endParaRPr lang="en-US" sz="1000" spc="80" kern="0" b="0" i="0" dirty="0">
                <a:solidFill>
                  <a:srgbClr val="0047FF"/>
                </a:solidFill>
                <a:latin typeface="IBM Plex Mono SemiBold"/>
                <a:ea typeface="IBM Plex Mono SemiBold"/>
                <a:cs typeface="IBM Plex Mono SemiBold"/>
              </a:endParaRPr>
            </a:p>
          </p:txBody>
        </p:sp>
      </p:gr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name="dxc-045">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45</a:t>
            </a:fld>
            <a:endParaRPr lang="en-US" sz="700" spc="0" kern="0" b="0" i="0" dirty="0">
              <a:solidFill>
                <a:srgbClr val="070154"/>
              </a:solidFill>
              <a:latin typeface="IBM Plex Mono SemiBold"/>
              <a:ea typeface="IBM Plex Mono SemiBold"/>
              <a:cs typeface="IBM Plex Mono SemiBold"/>
            </a:endParaRPr>
          </a:p>
        </p:txBody>
      </p:sp>
      <p:grpSp>
        <p:nvGrpSpPr>
          <p:cNvPr id="27" name="release-health"/>
          <p:cNvGrpSpPr/>
          <p:nvPr/>
        </p:nvGrpSpPr>
        <p:grpSpPr>
          <a:xfrm>
            <a:off x="723900" y="1600200"/>
            <a:ext cx="7086600" cy="3733800"/>
            <a:chOff x="723900" y="1600200"/>
            <a:chExt cx="7086600" cy="3733800"/>
          </a:xfrm>
        </p:grpSpPr>
        <p:graphicFrame>
          <p:nvGraphicFramePr>
            <p:cNvPr id="5" name="release-health.native" descr=""/>
            <p:cNvGraphicFramePr/>
            <p:nvPr/>
          </p:nvGraphicFramePr>
          <p:xfrm>
            <a:off x="723900" y="1714500"/>
            <a:ext cx="7086600" cy="3619500"/>
          </p:xfrm>
          <a:graphic xmlns:a="http://schemas.openxmlformats.org/drawingml/2006/main">
            <a:graphicData uri="http://schemas.openxmlformats.org/drawingml/2006/chart">
              <c:chart xmlns:c="http://schemas.openxmlformats.org/drawingml/2006/chart" r:id="rId1"/>
            </a:graphicData>
          </a:graphic>
        </p:graphicFrame>
        <p:sp>
          <p:nvSpPr>
            <p:cNvPr id="6" name="release-health.total-1"/>
            <p:cNvSpPr/>
            <p:nvPr/>
          </p:nvSpPr>
          <p:spPr>
            <a:xfrm>
              <a:off x="723900" y="3095837"/>
              <a:ext cx="1955800" cy="152400"/>
            </a:xfrm>
            <a:prstGeom prst="rect">
              <a:avLst/>
            </a:prstGeom>
            <a:noFill/>
            <a:ln/>
          </p:spPr>
          <p:txBody>
            <a:bodyPr wrap="square" lIns="0" tIns="0" rIns="0" bIns="0" rtlCol="0" anchor="t"/>
            <a:lstStyle/>
            <a:p>
              <a:pPr algn="ctr" indent="0" marL="0">
                <a:lnSpc>
                  <a:spcPts val="1200"/>
                </a:lnSpc>
                <a:buNone/>
              </a:pPr>
              <a:r>
                <a:rPr lang="en-US" sz="1000" spc="0" kern="0" b="0" i="0" dirty="0">
                  <a:solidFill>
                    <a:srgbClr val="070154"/>
                  </a:solidFill>
                  <a:latin typeface="IBM Plex Mono SemiBold"/>
                  <a:ea typeface="IBM Plex Mono SemiBold"/>
                  <a:cs typeface="IBM Plex Mono SemiBold"/>
                </a:rPr>
                <a:t>17</a:t>
              </a:r>
              <a:endParaRPr lang="en-US" sz="1000" spc="0" kern="0" b="0" i="0" dirty="0">
                <a:solidFill>
                  <a:srgbClr val="070154"/>
                </a:solidFill>
                <a:latin typeface="IBM Plex Mono SemiBold"/>
                <a:ea typeface="IBM Plex Mono SemiBold"/>
                <a:cs typeface="IBM Plex Mono SemiBold"/>
              </a:endParaRPr>
            </a:p>
          </p:txBody>
        </p:sp>
        <p:sp>
          <p:nvSpPr>
            <p:cNvPr id="7" name="release-health.total-2"/>
            <p:cNvSpPr/>
            <p:nvPr/>
          </p:nvSpPr>
          <p:spPr>
            <a:xfrm>
              <a:off x="2679700" y="2458297"/>
              <a:ext cx="1955800" cy="152400"/>
            </a:xfrm>
            <a:prstGeom prst="rect">
              <a:avLst/>
            </a:prstGeom>
            <a:noFill/>
            <a:ln/>
          </p:spPr>
          <p:txBody>
            <a:bodyPr wrap="square" lIns="0" tIns="0" rIns="0" bIns="0" rtlCol="0" anchor="t"/>
            <a:lstStyle/>
            <a:p>
              <a:pPr algn="ctr" indent="0" marL="0">
                <a:lnSpc>
                  <a:spcPts val="1200"/>
                </a:lnSpc>
                <a:buNone/>
              </a:pPr>
              <a:r>
                <a:rPr lang="en-US" sz="1000" spc="0" kern="0" b="0" i="0" dirty="0">
                  <a:solidFill>
                    <a:srgbClr val="070154"/>
                  </a:solidFill>
                  <a:latin typeface="IBM Plex Mono SemiBold"/>
                  <a:ea typeface="IBM Plex Mono SemiBold"/>
                  <a:cs typeface="IBM Plex Mono SemiBold"/>
                </a:rPr>
                <a:t>23</a:t>
              </a:r>
              <a:endParaRPr lang="en-US" sz="1000" spc="0" kern="0" b="0" i="0" dirty="0">
                <a:solidFill>
                  <a:srgbClr val="070154"/>
                </a:solidFill>
                <a:latin typeface="IBM Plex Mono SemiBold"/>
                <a:ea typeface="IBM Plex Mono SemiBold"/>
                <a:cs typeface="IBM Plex Mono SemiBold"/>
              </a:endParaRPr>
            </a:p>
          </p:txBody>
        </p:sp>
        <p:sp>
          <p:nvSpPr>
            <p:cNvPr id="8" name="release-health.total-3"/>
            <p:cNvSpPr/>
            <p:nvPr/>
          </p:nvSpPr>
          <p:spPr>
            <a:xfrm>
              <a:off x="4635500" y="1714500"/>
              <a:ext cx="1955800" cy="152400"/>
            </a:xfrm>
            <a:prstGeom prst="rect">
              <a:avLst/>
            </a:prstGeom>
            <a:noFill/>
            <a:ln/>
          </p:spPr>
          <p:txBody>
            <a:bodyPr wrap="square" lIns="0" tIns="0" rIns="0" bIns="0" rtlCol="0" anchor="t"/>
            <a:lstStyle/>
            <a:p>
              <a:pPr algn="ctr" indent="0" marL="0">
                <a:lnSpc>
                  <a:spcPts val="1200"/>
                </a:lnSpc>
                <a:buNone/>
              </a:pPr>
              <a:r>
                <a:rPr lang="en-US" sz="1000" spc="0" kern="0" b="0" i="0" dirty="0">
                  <a:solidFill>
                    <a:srgbClr val="070154"/>
                  </a:solidFill>
                  <a:latin typeface="IBM Plex Mono SemiBold"/>
                  <a:ea typeface="IBM Plex Mono SemiBold"/>
                  <a:cs typeface="IBM Plex Mono SemiBold"/>
                </a:rPr>
                <a:t>30</a:t>
              </a:r>
              <a:endParaRPr lang="en-US" sz="1000" spc="0" kern="0" b="0" i="0" dirty="0">
                <a:solidFill>
                  <a:srgbClr val="070154"/>
                </a:solidFill>
                <a:latin typeface="IBM Plex Mono SemiBold"/>
                <a:ea typeface="IBM Plex Mono SemiBold"/>
                <a:cs typeface="IBM Plex Mono SemiBold"/>
              </a:endParaRPr>
            </a:p>
          </p:txBody>
        </p:sp>
        <p:sp>
          <p:nvSpPr>
            <p:cNvPr id="9" name="release-health.series-label-1"/>
            <p:cNvSpPr/>
            <p:nvPr/>
          </p:nvSpPr>
          <p:spPr>
            <a:xfrm>
              <a:off x="6553200" y="4194175"/>
              <a:ext cx="1257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Standard release</a:t>
              </a:r>
              <a:endParaRPr lang="en-US" sz="1200" spc="0" kern="0" b="0" i="0" dirty="0">
                <a:solidFill>
                  <a:srgbClr val="070154"/>
                </a:solidFill>
                <a:latin typeface="IBM Plex Sans"/>
                <a:ea typeface="IBM Plex Sans"/>
                <a:cs typeface="IBM Plex Sans"/>
              </a:endParaRPr>
            </a:p>
          </p:txBody>
        </p:sp>
        <p:sp>
          <p:nvSpPr>
            <p:cNvPr id="10" name="release-health.series-label-2"/>
            <p:cNvSpPr/>
            <p:nvPr/>
          </p:nvSpPr>
          <p:spPr>
            <a:xfrm>
              <a:off x="6553200" y="2812838"/>
              <a:ext cx="1257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Patch</a:t>
              </a:r>
              <a:endParaRPr lang="en-US" sz="1200" spc="0" kern="0" b="0" i="0" dirty="0">
                <a:solidFill>
                  <a:srgbClr val="070154"/>
                </a:solidFill>
                <a:latin typeface="IBM Plex Sans"/>
                <a:ea typeface="IBM Plex Sans"/>
                <a:cs typeface="IBM Plex Sans"/>
              </a:endParaRPr>
            </a:p>
          </p:txBody>
        </p:sp>
        <p:sp>
          <p:nvSpPr>
            <p:cNvPr id="11" name="release-health.series-label-3"/>
            <p:cNvSpPr/>
            <p:nvPr/>
          </p:nvSpPr>
          <p:spPr>
            <a:xfrm>
              <a:off x="6553200" y="2122170"/>
              <a:ext cx="1257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Off-version release</a:t>
              </a:r>
              <a:endParaRPr lang="en-US" sz="1200" spc="0" kern="0" b="0" i="0" dirty="0">
                <a:solidFill>
                  <a:srgbClr val="070154"/>
                </a:solidFill>
                <a:latin typeface="IBM Plex Sans"/>
                <a:ea typeface="IBM Plex Sans"/>
                <a:cs typeface="IBM Plex Sans"/>
              </a:endParaRPr>
            </a:p>
          </p:txBody>
        </p:sp>
        <p:sp>
          <p:nvSpPr>
            <p:cNvPr id="12" name="release-health.series-label-4"/>
            <p:cNvSpPr/>
            <p:nvPr/>
          </p:nvSpPr>
          <p:spPr>
            <a:xfrm>
              <a:off x="6553200" y="1909657"/>
              <a:ext cx="12573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Rollback</a:t>
              </a:r>
              <a:endParaRPr lang="en-US" sz="1200" spc="0" kern="0" b="0" i="0" dirty="0">
                <a:solidFill>
                  <a:srgbClr val="070154"/>
                </a:solidFill>
                <a:latin typeface="IBM Plex Sans"/>
                <a:ea typeface="IBM Plex Sans"/>
                <a:cs typeface="IBM Plex Sans"/>
              </a:endParaRPr>
            </a:p>
          </p:txBody>
        </p:sp>
      </p:grpSp>
      <p:grpSp>
        <p:nvGrpSpPr>
          <p:cNvPr id="28" name="fact0"/>
          <p:cNvGrpSpPr/>
          <p:nvPr/>
        </p:nvGrpSpPr>
        <p:grpSpPr>
          <a:xfrm>
            <a:off x="8039100" y="1600200"/>
            <a:ext cx="3429000" cy="1143000"/>
            <a:chOff x="8039100" y="1600200"/>
            <a:chExt cx="3429000" cy="1143000"/>
          </a:xfrm>
        </p:grpSpPr>
        <p:sp>
          <p:nvSpPr>
            <p:cNvPr id="13" name="fact0.container"/>
            <p:cNvSpPr/>
            <p:nvPr/>
          </p:nvSpPr>
          <p:spPr>
            <a:xfrm>
              <a:off x="8039100" y="1600200"/>
              <a:ext cx="3429000" cy="1143000"/>
            </a:xfrm>
            <a:prstGeom prst="rect">
              <a:avLst/>
            </a:prstGeom>
            <a:solidFill>
              <a:srgbClr val="E8EEF8"/>
            </a:solidFill>
            <a:ln>
              <a:noFill/>
            </a:ln>
          </p:spPr>
        </p:sp>
      </p:grpSp>
      <p:grpSp>
        <p:nvGrpSpPr>
          <p:cNvPr id="29" name="fact1"/>
          <p:cNvGrpSpPr/>
          <p:nvPr/>
        </p:nvGrpSpPr>
        <p:grpSpPr>
          <a:xfrm>
            <a:off x="8039100" y="2819400"/>
            <a:ext cx="3429000" cy="1143000"/>
            <a:chOff x="8039100" y="2819400"/>
            <a:chExt cx="3429000" cy="1143000"/>
          </a:xfrm>
        </p:grpSpPr>
        <p:sp>
          <p:nvSpPr>
            <p:cNvPr id="14" name="fact1.container"/>
            <p:cNvSpPr/>
            <p:nvPr/>
          </p:nvSpPr>
          <p:spPr>
            <a:xfrm>
              <a:off x="8039100" y="2819400"/>
              <a:ext cx="3429000" cy="1143000"/>
            </a:xfrm>
            <a:prstGeom prst="rect">
              <a:avLst/>
            </a:prstGeom>
            <a:solidFill>
              <a:srgbClr val="E8EEF8"/>
            </a:solidFill>
            <a:ln>
              <a:noFill/>
            </a:ln>
          </p:spPr>
        </p:sp>
      </p:grpSp>
      <p:grpSp>
        <p:nvGrpSpPr>
          <p:cNvPr id="30" name="fact2"/>
          <p:cNvGrpSpPr/>
          <p:nvPr/>
        </p:nvGrpSpPr>
        <p:grpSpPr>
          <a:xfrm>
            <a:off x="8039100" y="4038600"/>
            <a:ext cx="3429000" cy="1143000"/>
            <a:chOff x="8039100" y="4038600"/>
            <a:chExt cx="3429000" cy="1143000"/>
          </a:xfrm>
        </p:grpSpPr>
        <p:sp>
          <p:nvSpPr>
            <p:cNvPr id="15" name="fact2.container"/>
            <p:cNvSpPr/>
            <p:nvPr/>
          </p:nvSpPr>
          <p:spPr>
            <a:xfrm>
              <a:off x="8039100" y="4038600"/>
              <a:ext cx="3429000" cy="1143000"/>
            </a:xfrm>
            <a:prstGeom prst="rect">
              <a:avLst/>
            </a:prstGeom>
            <a:solidFill>
              <a:srgbClr val="E8EEF8"/>
            </a:solidFill>
            <a:ln>
              <a:noFill/>
            </a:ln>
          </p:spPr>
        </p:sp>
      </p:grpSp>
      <p:grpSp>
        <p:nvGrpSpPr>
          <p:cNvPr id="31" name="source-and-caveat"/>
          <p:cNvGrpSpPr/>
          <p:nvPr/>
        </p:nvGrpSpPr>
        <p:grpSpPr>
          <a:xfrm>
            <a:off x="723900" y="5334000"/>
            <a:ext cx="10744200" cy="609600"/>
            <a:chOff x="723900" y="5334000"/>
            <a:chExt cx="10744200" cy="609600"/>
          </a:xfrm>
        </p:grpSpPr>
        <p:sp>
          <p:nvSpPr>
            <p:cNvPr id="16" name="source-and-caveat.surface"/>
            <p:cNvSpPr/>
            <p:nvPr/>
          </p:nvSpPr>
          <p:spPr>
            <a:xfrm>
              <a:off x="723900" y="5334000"/>
              <a:ext cx="10744200" cy="609600"/>
            </a:xfrm>
            <a:prstGeom prst="rect">
              <a:avLst/>
            </a:prstGeom>
            <a:solidFill>
              <a:srgbClr val="E8EEF8"/>
            </a:solidFill>
            <a:ln>
              <a:noFill/>
            </a:ln>
          </p:spPr>
        </p:sp>
        <p:sp>
          <p:nvSpPr>
            <p:cNvPr id="17" name="source-and-caveat.text"/>
            <p:cNvSpPr/>
            <p:nvPr/>
          </p:nvSpPr>
          <p:spPr>
            <a:xfrm>
              <a:off x="876300" y="5486400"/>
              <a:ext cx="104394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Half of 2026 changes were unplanned: defects, rollbacks, and credential or certificate fixes. Each merits a root-cause review (E1).</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Source: DXC Production Release Calendar, Jan 2024 – Sep 2026; Core applications only; 2024–25 did not label patches.</a:t>
              </a:r>
              <a:endParaRPr lang="en-US" sz="900" spc="0" kern="0" b="0" i="0" dirty="0">
                <a:solidFill>
                  <a:srgbClr val="070154"/>
                </a:solidFill>
                <a:latin typeface="IBM Plex Sans"/>
                <a:ea typeface="IBM Plex Sans"/>
                <a:cs typeface="IBM Plex Sans"/>
              </a:endParaRPr>
            </a:p>
          </p:txBody>
        </p:sp>
      </p:grpSp>
      <p:grpSp>
        <p:nvGrpSpPr>
          <p:cNvPr id="32" name="fact-number-0"/>
          <p:cNvGrpSpPr/>
          <p:nvPr/>
        </p:nvGrpSpPr>
        <p:grpSpPr>
          <a:xfrm>
            <a:off x="8191500" y="1714500"/>
            <a:ext cx="3124200" cy="304800"/>
            <a:chOff x="8191500" y="1714500"/>
            <a:chExt cx="3124200" cy="304800"/>
          </a:xfrm>
        </p:grpSpPr>
        <p:sp>
          <p:nvSpPr>
            <p:cNvPr id="18" name="fact-number-0.text"/>
            <p:cNvSpPr/>
            <p:nvPr/>
          </p:nvSpPr>
          <p:spPr>
            <a:xfrm>
              <a:off x="8191500" y="17145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50%</a:t>
              </a:r>
              <a:endParaRPr lang="en-US" sz="1800" spc="-18" kern="0" b="0" i="0" dirty="0">
                <a:solidFill>
                  <a:srgbClr val="0047FF"/>
                </a:solidFill>
                <a:latin typeface="IBM Plex Sans SemiBold"/>
                <a:ea typeface="IBM Plex Sans SemiBold"/>
                <a:cs typeface="IBM Plex Sans SemiBold"/>
              </a:endParaRPr>
            </a:p>
          </p:txBody>
        </p:sp>
      </p:grpSp>
      <p:grpSp>
        <p:nvGrpSpPr>
          <p:cNvPr id="33" name="fact-copy-0"/>
          <p:cNvGrpSpPr/>
          <p:nvPr/>
        </p:nvGrpSpPr>
        <p:grpSpPr>
          <a:xfrm>
            <a:off x="8191500" y="2133600"/>
            <a:ext cx="3124200" cy="533400"/>
            <a:chOff x="8191500" y="2133600"/>
            <a:chExt cx="3124200" cy="533400"/>
          </a:xfrm>
        </p:grpSpPr>
        <p:sp>
          <p:nvSpPr>
            <p:cNvPr id="19" name="fact-copy-0.text"/>
            <p:cNvSpPr/>
            <p:nvPr/>
          </p:nvSpPr>
          <p:spPr>
            <a:xfrm>
              <a:off x="8191500" y="2133600"/>
              <a:ext cx="31242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15 of 30 off cadence: 11 patches, 2 off-version, 2 rollbacks.</a:t>
              </a:r>
              <a:endParaRPr lang="en-US" sz="900" spc="0" kern="0" b="0" i="0" dirty="0">
                <a:solidFill>
                  <a:srgbClr val="070154"/>
                </a:solidFill>
                <a:latin typeface="IBM Plex Sans"/>
                <a:ea typeface="IBM Plex Sans"/>
                <a:cs typeface="IBM Plex Sans"/>
              </a:endParaRPr>
            </a:p>
          </p:txBody>
        </p:sp>
      </p:grpSp>
      <p:grpSp>
        <p:nvGrpSpPr>
          <p:cNvPr id="34" name="fact-number-1"/>
          <p:cNvGrpSpPr/>
          <p:nvPr/>
        </p:nvGrpSpPr>
        <p:grpSpPr>
          <a:xfrm>
            <a:off x="8191500" y="2933700"/>
            <a:ext cx="3124200" cy="304800"/>
            <a:chOff x="8191500" y="2933700"/>
            <a:chExt cx="3124200" cy="304800"/>
          </a:xfrm>
        </p:grpSpPr>
        <p:sp>
          <p:nvSpPr>
            <p:cNvPr id="20" name="fact-number-1.text"/>
            <p:cNvSpPr/>
            <p:nvPr/>
          </p:nvSpPr>
          <p:spPr>
            <a:xfrm>
              <a:off x="8191500" y="29337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5 of 11</a:t>
              </a:r>
              <a:endParaRPr lang="en-US" sz="1800" spc="-18" kern="0" b="0" i="0" dirty="0">
                <a:solidFill>
                  <a:srgbClr val="0047FF"/>
                </a:solidFill>
                <a:latin typeface="IBM Plex Sans SemiBold"/>
                <a:ea typeface="IBM Plex Sans SemiBold"/>
                <a:cs typeface="IBM Plex Sans SemiBold"/>
              </a:endParaRPr>
            </a:p>
          </p:txBody>
        </p:sp>
      </p:grpSp>
      <p:grpSp>
        <p:nvGrpSpPr>
          <p:cNvPr id="35" name="fact-copy-1"/>
          <p:cNvGrpSpPr/>
          <p:nvPr/>
        </p:nvGrpSpPr>
        <p:grpSpPr>
          <a:xfrm>
            <a:off x="8191500" y="3352800"/>
            <a:ext cx="3124200" cy="533400"/>
            <a:chOff x="8191500" y="3352800"/>
            <a:chExt cx="3124200" cy="533400"/>
          </a:xfrm>
        </p:grpSpPr>
        <p:sp>
          <p:nvSpPr>
            <p:cNvPr id="21" name="fact-copy-1.text"/>
            <p:cNvSpPr/>
            <p:nvPr/>
          </p:nvSpPr>
          <p:spPr>
            <a:xfrm>
              <a:off x="8191500" y="3352800"/>
              <a:ext cx="31242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Patches: credentials/certificates; two expired Salesforce passwords blocked client workflows.</a:t>
              </a:r>
              <a:endParaRPr lang="en-US" sz="900" spc="0" kern="0" b="0" i="0" dirty="0">
                <a:solidFill>
                  <a:srgbClr val="070154"/>
                </a:solidFill>
                <a:latin typeface="IBM Plex Sans"/>
                <a:ea typeface="IBM Plex Sans"/>
                <a:cs typeface="IBM Plex Sans"/>
              </a:endParaRPr>
            </a:p>
          </p:txBody>
        </p:sp>
      </p:grpSp>
      <p:grpSp>
        <p:nvGrpSpPr>
          <p:cNvPr id="36" name="fact-number-2"/>
          <p:cNvGrpSpPr/>
          <p:nvPr/>
        </p:nvGrpSpPr>
        <p:grpSpPr>
          <a:xfrm>
            <a:off x="8191500" y="4152900"/>
            <a:ext cx="3124200" cy="304800"/>
            <a:chOff x="8191500" y="4152900"/>
            <a:chExt cx="3124200" cy="304800"/>
          </a:xfrm>
        </p:grpSpPr>
        <p:sp>
          <p:nvSpPr>
            <p:cNvPr id="22" name="fact-number-2.text"/>
            <p:cNvSpPr/>
            <p:nvPr/>
          </p:nvSpPr>
          <p:spPr>
            <a:xfrm>
              <a:off x="8191500" y="4152900"/>
              <a:ext cx="31242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047FF"/>
                  </a:solidFill>
                  <a:latin typeface="IBM Plex Sans SemiBold"/>
                  <a:ea typeface="IBM Plex Sans SemiBold"/>
                  <a:cs typeface="IBM Plex Sans SemiBold"/>
                </a:rPr>
                <a:t>2</a:t>
              </a:r>
              <a:endParaRPr lang="en-US" sz="1800" spc="-18" kern="0" b="0" i="0" dirty="0">
                <a:solidFill>
                  <a:srgbClr val="0047FF"/>
                </a:solidFill>
                <a:latin typeface="IBM Plex Sans SemiBold"/>
                <a:ea typeface="IBM Plex Sans SemiBold"/>
                <a:cs typeface="IBM Plex Sans SemiBold"/>
              </a:endParaRPr>
            </a:p>
          </p:txBody>
        </p:sp>
      </p:grpSp>
      <p:grpSp>
        <p:nvGrpSpPr>
          <p:cNvPr id="37" name="fact-copy-2"/>
          <p:cNvGrpSpPr/>
          <p:nvPr/>
        </p:nvGrpSpPr>
        <p:grpSpPr>
          <a:xfrm>
            <a:off x="8191500" y="4572000"/>
            <a:ext cx="3124200" cy="533400"/>
            <a:chOff x="8191500" y="4572000"/>
            <a:chExt cx="3124200" cy="533400"/>
          </a:xfrm>
        </p:grpSpPr>
        <p:sp>
          <p:nvSpPr>
            <p:cNvPr id="23" name="fact-copy-2.text"/>
            <p:cNvSpPr/>
            <p:nvPr/>
          </p:nvSpPr>
          <p:spPr>
            <a:xfrm>
              <a:off x="8191500" y="4572000"/>
              <a:ext cx="3124200" cy="5334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DEA (Jan), DCQ (Aug); also a held DCQ item after failed January checkout.</a:t>
              </a:r>
              <a:endParaRPr lang="en-US" sz="900" spc="0" kern="0" b="0" i="0" dirty="0">
                <a:solidFill>
                  <a:srgbClr val="070154"/>
                </a:solidFill>
                <a:latin typeface="IBM Plex Sans"/>
                <a:ea typeface="IBM Plex Sans"/>
                <a:cs typeface="IBM Plex Sans"/>
              </a:endParaRPr>
            </a:p>
          </p:txBody>
        </p:sp>
      </p:grpSp>
      <p:grpSp>
        <p:nvGrpSpPr>
          <p:cNvPr id="38" name="authored-header"/>
          <p:cNvGrpSpPr/>
          <p:nvPr/>
        </p:nvGrpSpPr>
        <p:grpSpPr>
          <a:xfrm>
            <a:off x="723900" y="685800"/>
            <a:ext cx="9372600" cy="914400"/>
            <a:chOff x="723900" y="685800"/>
            <a:chExt cx="9372600" cy="914400"/>
          </a:xfrm>
        </p:grpSpPr>
        <p:sp>
          <p:nvSpPr>
            <p:cNvPr id="24"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Release health baseline, 2024–2026</a:t>
              </a:r>
              <a:endParaRPr lang="en-US" sz="3200" spc="-64" kern="0" b="0" i="0" dirty="0">
                <a:solidFill>
                  <a:srgbClr val="070154"/>
                </a:solidFill>
                <a:latin typeface="IBM Plex Sans SemiBold"/>
                <a:ea typeface="IBM Plex Sans SemiBold"/>
                <a:cs typeface="IBM Plex Sans SemiBold"/>
              </a:endParaRPr>
            </a:p>
          </p:txBody>
        </p:sp>
      </p:grpSp>
      <p:grpSp>
        <p:nvGrpSpPr>
          <p:cNvPr id="39" name="authored-eyebrow"/>
          <p:cNvGrpSpPr/>
          <p:nvPr/>
        </p:nvGrpSpPr>
        <p:grpSpPr>
          <a:xfrm>
            <a:off x="723900" y="457200"/>
            <a:ext cx="9372600" cy="228600"/>
            <a:chOff x="723900" y="457200"/>
            <a:chExt cx="9372600" cy="228600"/>
          </a:xfrm>
        </p:grpSpPr>
        <p:sp>
          <p:nvSpPr>
            <p:cNvPr id="25"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01</a:t>
              </a:r>
              <a:endParaRPr lang="en-US" sz="1000" spc="80" kern="0" b="0" i="0" dirty="0">
                <a:solidFill>
                  <a:srgbClr val="0047FF"/>
                </a:solidFill>
                <a:latin typeface="IBM Plex Mono SemiBold"/>
                <a:ea typeface="IBM Plex Mono SemiBold"/>
                <a:cs typeface="IBM Plex Mono SemiBold"/>
              </a:endParaRPr>
            </a:p>
          </p:txBody>
        </p:sp>
      </p:grpSp>
      <p:grpSp>
        <p:nvGrpSpPr>
          <p:cNvPr id="40" name="client-brand"/>
          <p:cNvGrpSpPr/>
          <p:nvPr/>
        </p:nvGrpSpPr>
        <p:grpSpPr>
          <a:xfrm>
            <a:off x="10382250" y="457200"/>
            <a:ext cx="1028700" cy="457200"/>
            <a:chOff x="10382250" y="457200"/>
            <a:chExt cx="1028700" cy="457200"/>
          </a:xfrm>
        </p:grpSpPr>
        <p:pic>
          <p:nvPicPr>
            <p:cNvPr id="26" name="client-brand.image" descr="Exact original DentalXChange asset ppt/media/image31.png; project:source-image31; canonical SHA256=51385b7813333a7f4207d77364f6a318acc4d148486d489c8a87f115754c251f">    </p:cNvPr>
            <p:cNvPicPr>
              <a:picLocks noChangeAspect="1"/>
            </p:cNvPicPr>
            <p:nvPr/>
          </p:nvPicPr>
          <p:blipFill>
            <a:blip r:embed="rId2"/>
            <a:stretch>
              <a:fillRect/>
            </a:stretch>
          </p:blipFill>
          <p:spPr>
            <a:xfrm>
              <a:off x="10382250" y="457200"/>
              <a:ext cx="1028700" cy="457200"/>
            </a:xfrm>
            <a:prstGeom prst="rect">
              <a:avLst/>
            </a:prstGeom>
          </p:spPr>
        </p:pic>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name="dxc-046">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46</a:t>
            </a:fld>
            <a:endParaRPr lang="en-US" sz="700" spc="0" kern="0" b="0" i="0" dirty="0">
              <a:solidFill>
                <a:srgbClr val="070154"/>
              </a:solidFill>
              <a:latin typeface="IBM Plex Mono SemiBold"/>
              <a:ea typeface="IBM Plex Mono SemiBold"/>
              <a:cs typeface="IBM Plex Mono SemiBold"/>
            </a:endParaRPr>
          </a:p>
        </p:txBody>
      </p:sp>
      <p:grpSp>
        <p:nvGrpSpPr>
          <p:cNvPr id="11" name="register"/>
          <p:cNvGrpSpPr/>
          <p:nvPr/>
        </p:nvGrpSpPr>
        <p:grpSpPr>
          <a:xfrm>
            <a:off x="723900" y="1600200"/>
            <a:ext cx="10744200" cy="3810000"/>
            <a:chOff x="723900" y="1600200"/>
            <a:chExt cx="10744200" cy="3810000"/>
          </a:xfrm>
        </p:grpSpPr>
        <p:graphicFrame>
          <p:nvGraphicFramePr>
            <p:cNvPr id="5" name="register.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810000"/>
          </p:xfrm>
          <a:graphic>
            <a:graphicData uri="http://schemas.openxmlformats.org/drawingml/2006/table">
              <a:tbl>
                <a:tblPr/>
                <a:tblGrid>
                  <a:gridCol w="3429000"/>
                  <a:gridCol w="7315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ACTIVATION RECORD</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WORKING INPUT TO COMPLETE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9088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Selected initiative and baseline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Add initiative, participants, cadence, and artifact set.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9088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Methodology or process change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 the change in the way work flows, including opportunity brief, product brief / PRD, feature brief, epic, technical design or implementation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9088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Practice, role, decision, meeting, artifact, or measure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 what changed, who changed it, and what artifact or decision point made the change visible.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9088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Observed result or early signal</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Add evidence, open questions, risks, and what changed in the work.</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9088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Recommended activation playbook</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Describe the repeatable cadence, owner, evidence, guardrail, and decision needed to continue.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2" name="qualification"/>
          <p:cNvGrpSpPr/>
          <p:nvPr/>
        </p:nvGrpSpPr>
        <p:grpSpPr>
          <a:xfrm>
            <a:off x="723900" y="5486400"/>
            <a:ext cx="10744200" cy="457200"/>
            <a:chOff x="723900" y="5486400"/>
            <a:chExt cx="10744200" cy="457200"/>
          </a:xfrm>
        </p:grpSpPr>
        <p:sp>
          <p:nvSpPr>
            <p:cNvPr id="6" name="qualification.surface"/>
            <p:cNvSpPr/>
            <p:nvPr/>
          </p:nvSpPr>
          <p:spPr>
            <a:xfrm>
              <a:off x="723900" y="5486400"/>
              <a:ext cx="10744200" cy="457200"/>
            </a:xfrm>
            <a:prstGeom prst="rect">
              <a:avLst/>
            </a:prstGeom>
            <a:solidFill>
              <a:srgbClr val="E8EEF8"/>
            </a:solidFill>
            <a:ln>
              <a:noFill/>
            </a:ln>
          </p:spPr>
        </p:sp>
        <p:sp>
          <p:nvSpPr>
            <p:cNvPr id="7" name="qualification.text"/>
            <p:cNvSpPr/>
            <p:nvPr/>
          </p:nvSpPr>
          <p:spPr>
            <a:xfrm>
              <a:off x="876300" y="5562600"/>
              <a:ext cx="104394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Bounded activation stays within ways of working. It does not include production-system change, software development, or broad implementation. The first working test to capture: carry one internal signal through opportunity brief, PRD, feature brief, epic, technical design, and implementation plan.</a:t>
              </a:r>
              <a:endParaRPr lang="en-US" sz="900" spc="0" kern="0" b="0" i="0" dirty="0">
                <a:solidFill>
                  <a:srgbClr val="070154"/>
                </a:solidFill>
                <a:latin typeface="IBM Plex Sans"/>
                <a:ea typeface="IBM Plex Sans"/>
                <a:cs typeface="IBM Plex Sans"/>
              </a:endParaRPr>
            </a:p>
          </p:txBody>
        </p:sp>
      </p:grpSp>
      <p:grpSp>
        <p:nvGrpSpPr>
          <p:cNvPr id="13" name="authored-header"/>
          <p:cNvGrpSpPr/>
          <p:nvPr/>
        </p:nvGrpSpPr>
        <p:grpSpPr>
          <a:xfrm>
            <a:off x="723900" y="685800"/>
            <a:ext cx="9372600" cy="914400"/>
            <a:chOff x="723900" y="685800"/>
            <a:chExt cx="9372600" cy="914400"/>
          </a:xfrm>
        </p:grpSpPr>
        <p:sp>
          <p:nvSpPr>
            <p:cNvPr id="8"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Capture each bounded activation</a:t>
              </a:r>
              <a:endParaRPr lang="en-US" sz="3200" spc="-64" kern="0" b="0" i="0" dirty="0">
                <a:solidFill>
                  <a:srgbClr val="070154"/>
                </a:solidFill>
                <a:latin typeface="IBM Plex Sans SemiBold"/>
                <a:ea typeface="IBM Plex Sans SemiBold"/>
                <a:cs typeface="IBM Plex Sans SemiBold"/>
              </a:endParaRPr>
            </a:p>
          </p:txBody>
        </p:sp>
      </p:grpSp>
      <p:grpSp>
        <p:nvGrpSpPr>
          <p:cNvPr id="14" name="authored-eyebrow"/>
          <p:cNvGrpSpPr/>
          <p:nvPr/>
        </p:nvGrpSpPr>
        <p:grpSpPr>
          <a:xfrm>
            <a:off x="723900" y="457200"/>
            <a:ext cx="9372600" cy="228600"/>
            <a:chOff x="723900" y="457200"/>
            <a:chExt cx="9372600" cy="228600"/>
          </a:xfrm>
        </p:grpSpPr>
        <p:sp>
          <p:nvSpPr>
            <p:cNvPr id="9"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a:t>
              </a:r>
              <a:endParaRPr lang="en-US" sz="1000" spc="80" kern="0" b="0" i="0" dirty="0">
                <a:solidFill>
                  <a:srgbClr val="0047FF"/>
                </a:solidFill>
                <a:latin typeface="IBM Plex Mono SemiBold"/>
                <a:ea typeface="IBM Plex Mono SemiBold"/>
                <a:cs typeface="IBM Plex Mono SemiBold"/>
              </a:endParaRPr>
            </a:p>
          </p:txBody>
        </p:sp>
      </p:gr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name="dxc-047">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47</a:t>
            </a:fld>
            <a:endParaRPr lang="en-US" sz="700" spc="0" kern="0" b="0" i="0" dirty="0">
              <a:solidFill>
                <a:srgbClr val="070154"/>
              </a:solidFill>
              <a:latin typeface="IBM Plex Mono SemiBold"/>
              <a:ea typeface="IBM Plex Mono SemiBold"/>
              <a:cs typeface="IBM Plex Mono SemiBold"/>
            </a:endParaRPr>
          </a:p>
        </p:txBody>
      </p:sp>
      <p:grpSp>
        <p:nvGrpSpPr>
          <p:cNvPr id="37"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 working definition path to test in one selected live initiative.</a:t>
              </a:r>
              <a:endParaRPr lang="en-US" sz="1200" spc="0" kern="0" b="0" i="0" dirty="0">
                <a:solidFill>
                  <a:srgbClr val="50658E"/>
                </a:solidFill>
                <a:latin typeface="IBM Plex Sans"/>
                <a:ea typeface="IBM Plex Sans"/>
                <a:cs typeface="IBM Plex Sans"/>
              </a:endParaRPr>
            </a:p>
          </p:txBody>
        </p:sp>
      </p:grpSp>
      <p:grpSp>
        <p:nvGrpSpPr>
          <p:cNvPr id="38" name="sequence"/>
          <p:cNvGrpSpPr/>
          <p:nvPr/>
        </p:nvGrpSpPr>
        <p:grpSpPr>
          <a:xfrm>
            <a:off x="723900" y="2171700"/>
            <a:ext cx="10515600" cy="800100"/>
            <a:chOff x="723900" y="2171700"/>
            <a:chExt cx="10515600" cy="800100"/>
          </a:xfrm>
        </p:grpSpPr>
        <p:sp>
          <p:nvSpPr>
            <p:cNvPr id="6" name="sequence.base"/>
            <p:cNvSpPr/>
            <p:nvPr/>
          </p:nvSpPr>
          <p:spPr>
            <a:xfrm>
              <a:off x="800100" y="2247900"/>
              <a:ext cx="8595360" cy="0"/>
            </a:xfrm>
            <a:custGeom>
              <a:avLst/>
              <a:gdLst/>
              <a:ahLst/>
              <a:cxnLst/>
              <a:rect l="l" t="t" r="r" b="b"/>
              <a:pathLst>
                <a:path w="8595360">
                  <a:moveTo>
                    <a:pt x="0" y="0"/>
                  </a:moveTo>
                  <a:lnTo>
                    <a:pt x="8595360" y="0"/>
                  </a:lnTo>
                </a:path>
              </a:pathLst>
            </a:custGeom>
            <a:ln w="25400">
              <a:solidFill>
                <a:srgbClr val="CED7E6"/>
              </a:solidFill>
              <a:prstDash val="solid"/>
            </a:ln>
          </p:spPr>
        </p:sp>
        <p:sp>
          <p:nvSpPr>
            <p:cNvPr id="7" name="sequence.steps.item-0.marker"/>
            <p:cNvSpPr/>
            <p:nvPr/>
          </p:nvSpPr>
          <p:spPr>
            <a:xfrm>
              <a:off x="723900" y="2171700"/>
              <a:ext cx="152400" cy="152400"/>
            </a:xfrm>
            <a:prstGeom prst="rect">
              <a:avLst/>
            </a:prstGeom>
            <a:solidFill>
              <a:srgbClr val="FFFFFF"/>
            </a:solidFill>
            <a:ln w="12700">
              <a:solidFill>
                <a:srgbClr val="070154"/>
              </a:solidFill>
              <a:prstDash val="solid"/>
            </a:ln>
          </p:spPr>
        </p:sp>
        <p:sp>
          <p:nvSpPr>
            <p:cNvPr id="8" name="sequence.steps.item-0.part-0"/>
            <p:cNvSpPr/>
            <p:nvPr/>
          </p:nvSpPr>
          <p:spPr>
            <a:xfrm>
              <a:off x="723900" y="2514600"/>
              <a:ext cx="192024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01</a:t>
              </a:r>
              <a:endParaRPr lang="en-US" sz="900" spc="54" kern="0" b="0" i="0" dirty="0">
                <a:solidFill>
                  <a:srgbClr val="0047FF"/>
                </a:solidFill>
                <a:latin typeface="IBM Plex Mono Medium"/>
                <a:ea typeface="IBM Plex Mono Medium"/>
                <a:cs typeface="IBM Plex Mono Medium"/>
              </a:endParaRPr>
            </a:p>
          </p:txBody>
        </p:sp>
        <p:sp>
          <p:nvSpPr>
            <p:cNvPr id="9" name="sequence.steps.item-0.part-1"/>
            <p:cNvSpPr/>
            <p:nvPr/>
          </p:nvSpPr>
          <p:spPr>
            <a:xfrm>
              <a:off x="723900" y="2705100"/>
              <a:ext cx="192024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Signal</a:t>
              </a:r>
              <a:endParaRPr lang="en-US" sz="1400" spc="0" kern="0" b="0" i="0" dirty="0">
                <a:solidFill>
                  <a:srgbClr val="070154"/>
                </a:solidFill>
                <a:latin typeface="IBM Plex Sans SemiBold"/>
                <a:ea typeface="IBM Plex Sans SemiBold"/>
                <a:cs typeface="IBM Plex Sans SemiBold"/>
              </a:endParaRPr>
            </a:p>
          </p:txBody>
        </p:sp>
        <p:sp>
          <p:nvSpPr>
            <p:cNvPr id="10" name="sequence.steps.item-1.marker"/>
            <p:cNvSpPr/>
            <p:nvPr/>
          </p:nvSpPr>
          <p:spPr>
            <a:xfrm>
              <a:off x="2872740" y="2171700"/>
              <a:ext cx="152400" cy="152400"/>
            </a:xfrm>
            <a:prstGeom prst="rect">
              <a:avLst/>
            </a:prstGeom>
            <a:solidFill>
              <a:srgbClr val="FFFFFF"/>
            </a:solidFill>
            <a:ln w="12700">
              <a:solidFill>
                <a:srgbClr val="070154"/>
              </a:solidFill>
              <a:prstDash val="solid"/>
            </a:ln>
          </p:spPr>
        </p:sp>
        <p:sp>
          <p:nvSpPr>
            <p:cNvPr id="11" name="sequence.steps.item-1.part-0"/>
            <p:cNvSpPr/>
            <p:nvPr/>
          </p:nvSpPr>
          <p:spPr>
            <a:xfrm>
              <a:off x="2872740" y="2514600"/>
              <a:ext cx="192024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02</a:t>
              </a:r>
              <a:endParaRPr lang="en-US" sz="900" spc="54" kern="0" b="0" i="0" dirty="0">
                <a:solidFill>
                  <a:srgbClr val="0047FF"/>
                </a:solidFill>
                <a:latin typeface="IBM Plex Mono Medium"/>
                <a:ea typeface="IBM Plex Mono Medium"/>
                <a:cs typeface="IBM Plex Mono Medium"/>
              </a:endParaRPr>
            </a:p>
          </p:txBody>
        </p:sp>
        <p:sp>
          <p:nvSpPr>
            <p:cNvPr id="12" name="sequence.steps.item-1.part-1"/>
            <p:cNvSpPr/>
            <p:nvPr/>
          </p:nvSpPr>
          <p:spPr>
            <a:xfrm>
              <a:off x="2872740" y="2705100"/>
              <a:ext cx="192024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Opportunity</a:t>
              </a:r>
              <a:endParaRPr lang="en-US" sz="1400" spc="0" kern="0" b="0" i="0" dirty="0">
                <a:solidFill>
                  <a:srgbClr val="070154"/>
                </a:solidFill>
                <a:latin typeface="IBM Plex Sans SemiBold"/>
                <a:ea typeface="IBM Plex Sans SemiBold"/>
                <a:cs typeface="IBM Plex Sans SemiBold"/>
              </a:endParaRPr>
            </a:p>
          </p:txBody>
        </p:sp>
        <p:sp>
          <p:nvSpPr>
            <p:cNvPr id="13" name="sequence.steps.item-2.marker"/>
            <p:cNvSpPr/>
            <p:nvPr/>
          </p:nvSpPr>
          <p:spPr>
            <a:xfrm>
              <a:off x="5021580" y="2171700"/>
              <a:ext cx="152400" cy="152400"/>
            </a:xfrm>
            <a:prstGeom prst="rect">
              <a:avLst/>
            </a:prstGeom>
            <a:solidFill>
              <a:srgbClr val="FFFFFF"/>
            </a:solidFill>
            <a:ln w="12700">
              <a:solidFill>
                <a:srgbClr val="070154"/>
              </a:solidFill>
              <a:prstDash val="solid"/>
            </a:ln>
          </p:spPr>
        </p:sp>
        <p:sp>
          <p:nvSpPr>
            <p:cNvPr id="14" name="sequence.steps.item-2.part-0"/>
            <p:cNvSpPr/>
            <p:nvPr/>
          </p:nvSpPr>
          <p:spPr>
            <a:xfrm>
              <a:off x="5021580" y="2514600"/>
              <a:ext cx="192024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03</a:t>
              </a:r>
              <a:endParaRPr lang="en-US" sz="900" spc="54" kern="0" b="0" i="0" dirty="0">
                <a:solidFill>
                  <a:srgbClr val="0047FF"/>
                </a:solidFill>
                <a:latin typeface="IBM Plex Mono Medium"/>
                <a:ea typeface="IBM Plex Mono Medium"/>
                <a:cs typeface="IBM Plex Mono Medium"/>
              </a:endParaRPr>
            </a:p>
          </p:txBody>
        </p:sp>
        <p:sp>
          <p:nvSpPr>
            <p:cNvPr id="15" name="sequence.steps.item-2.part-1"/>
            <p:cNvSpPr/>
            <p:nvPr/>
          </p:nvSpPr>
          <p:spPr>
            <a:xfrm>
              <a:off x="5021580" y="2705100"/>
              <a:ext cx="192024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Product / PRD</a:t>
              </a:r>
              <a:endParaRPr lang="en-US" sz="1400" spc="0" kern="0" b="0" i="0" dirty="0">
                <a:solidFill>
                  <a:srgbClr val="070154"/>
                </a:solidFill>
                <a:latin typeface="IBM Plex Sans SemiBold"/>
                <a:ea typeface="IBM Plex Sans SemiBold"/>
                <a:cs typeface="IBM Plex Sans SemiBold"/>
              </a:endParaRPr>
            </a:p>
          </p:txBody>
        </p:sp>
        <p:sp>
          <p:nvSpPr>
            <p:cNvPr id="16" name="sequence.steps.item-3.marker"/>
            <p:cNvSpPr/>
            <p:nvPr/>
          </p:nvSpPr>
          <p:spPr>
            <a:xfrm>
              <a:off x="7170420" y="2171700"/>
              <a:ext cx="152400" cy="152400"/>
            </a:xfrm>
            <a:prstGeom prst="rect">
              <a:avLst/>
            </a:prstGeom>
            <a:solidFill>
              <a:srgbClr val="FFFFFF"/>
            </a:solidFill>
            <a:ln w="12700">
              <a:solidFill>
                <a:srgbClr val="070154"/>
              </a:solidFill>
              <a:prstDash val="solid"/>
            </a:ln>
          </p:spPr>
        </p:sp>
        <p:sp>
          <p:nvSpPr>
            <p:cNvPr id="17" name="sequence.steps.item-3.part-0"/>
            <p:cNvSpPr/>
            <p:nvPr/>
          </p:nvSpPr>
          <p:spPr>
            <a:xfrm>
              <a:off x="7170420" y="2514600"/>
              <a:ext cx="192024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04</a:t>
              </a:r>
              <a:endParaRPr lang="en-US" sz="900" spc="54" kern="0" b="0" i="0" dirty="0">
                <a:solidFill>
                  <a:srgbClr val="0047FF"/>
                </a:solidFill>
                <a:latin typeface="IBM Plex Mono Medium"/>
                <a:ea typeface="IBM Plex Mono Medium"/>
                <a:cs typeface="IBM Plex Mono Medium"/>
              </a:endParaRPr>
            </a:p>
          </p:txBody>
        </p:sp>
        <p:sp>
          <p:nvSpPr>
            <p:cNvPr id="18" name="sequence.steps.item-3.part-1"/>
            <p:cNvSpPr/>
            <p:nvPr/>
          </p:nvSpPr>
          <p:spPr>
            <a:xfrm>
              <a:off x="7170420" y="2705100"/>
              <a:ext cx="192024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Feature / epic</a:t>
              </a:r>
              <a:endParaRPr lang="en-US" sz="1400" spc="0" kern="0" b="0" i="0" dirty="0">
                <a:solidFill>
                  <a:srgbClr val="070154"/>
                </a:solidFill>
                <a:latin typeface="IBM Plex Sans SemiBold"/>
                <a:ea typeface="IBM Plex Sans SemiBold"/>
                <a:cs typeface="IBM Plex Sans SemiBold"/>
              </a:endParaRPr>
            </a:p>
          </p:txBody>
        </p:sp>
        <p:sp>
          <p:nvSpPr>
            <p:cNvPr id="19" name="sequence.steps.item-4.marker"/>
            <p:cNvSpPr/>
            <p:nvPr/>
          </p:nvSpPr>
          <p:spPr>
            <a:xfrm>
              <a:off x="9319260" y="2171700"/>
              <a:ext cx="152400" cy="152400"/>
            </a:xfrm>
            <a:prstGeom prst="rect">
              <a:avLst/>
            </a:prstGeom>
            <a:solidFill>
              <a:srgbClr val="FFFFFF"/>
            </a:solidFill>
            <a:ln w="12700">
              <a:solidFill>
                <a:srgbClr val="070154"/>
              </a:solidFill>
              <a:prstDash val="solid"/>
            </a:ln>
          </p:spPr>
        </p:sp>
        <p:sp>
          <p:nvSpPr>
            <p:cNvPr id="20" name="sequence.steps.item-4.part-0"/>
            <p:cNvSpPr/>
            <p:nvPr/>
          </p:nvSpPr>
          <p:spPr>
            <a:xfrm>
              <a:off x="9319260" y="2514600"/>
              <a:ext cx="192024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05</a:t>
              </a:r>
              <a:endParaRPr lang="en-US" sz="900" spc="54" kern="0" b="0" i="0" dirty="0">
                <a:solidFill>
                  <a:srgbClr val="0047FF"/>
                </a:solidFill>
                <a:latin typeface="IBM Plex Mono Medium"/>
                <a:ea typeface="IBM Plex Mono Medium"/>
                <a:cs typeface="IBM Plex Mono Medium"/>
              </a:endParaRPr>
            </a:p>
          </p:txBody>
        </p:sp>
        <p:sp>
          <p:nvSpPr>
            <p:cNvPr id="21" name="sequence.steps.item-4.part-1"/>
            <p:cNvSpPr/>
            <p:nvPr/>
          </p:nvSpPr>
          <p:spPr>
            <a:xfrm>
              <a:off x="9319260" y="2705100"/>
              <a:ext cx="192024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SemiBold"/>
                  <a:ea typeface="IBM Plex Sans SemiBold"/>
                  <a:cs typeface="IBM Plex Sans SemiBold"/>
                </a:rPr>
                <a:t>Plan</a:t>
              </a:r>
              <a:endParaRPr lang="en-US" sz="1400" spc="0" kern="0" b="0" i="0" dirty="0">
                <a:solidFill>
                  <a:srgbClr val="070154"/>
                </a:solidFill>
                <a:latin typeface="IBM Plex Sans SemiBold"/>
                <a:ea typeface="IBM Plex Sans SemiBold"/>
                <a:cs typeface="IBM Plex Sans SemiBold"/>
              </a:endParaRPr>
            </a:p>
          </p:txBody>
        </p:sp>
      </p:grpSp>
      <p:sp>
        <p:nvSpPr>
          <p:cNvPr id="22" name="detail-rule0"/>
          <p:cNvSpPr/>
          <p:nvPr/>
        </p:nvSpPr>
        <p:spPr>
          <a:xfrm>
            <a:off x="723900" y="3200400"/>
            <a:ext cx="2057400" cy="9525"/>
          </a:xfrm>
          <a:prstGeom prst="rect">
            <a:avLst/>
          </a:prstGeom>
          <a:solidFill>
            <a:srgbClr val="CED7E6"/>
          </a:solidFill>
          <a:ln>
            <a:noFill/>
          </a:ln>
        </p:spPr>
      </p:sp>
      <p:grpSp>
        <p:nvGrpSpPr>
          <p:cNvPr id="39" name="detail0"/>
          <p:cNvGrpSpPr/>
          <p:nvPr/>
        </p:nvGrpSpPr>
        <p:grpSpPr>
          <a:xfrm>
            <a:off x="723900" y="3429000"/>
            <a:ext cx="2026920" cy="1600200"/>
            <a:chOff x="723900" y="3429000"/>
            <a:chExt cx="2026920" cy="1600200"/>
          </a:xfrm>
        </p:grpSpPr>
        <p:sp>
          <p:nvSpPr>
            <p:cNvPr id="23" name="detail0.text"/>
            <p:cNvSpPr/>
            <p:nvPr/>
          </p:nvSpPr>
          <p:spPr>
            <a:xfrm>
              <a:off x="723900" y="3429000"/>
              <a:ext cx="202692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Customer, support, operations, research, or engineering evidence.</a:t>
              </a:r>
              <a:endParaRPr lang="en-US" sz="1200" spc="0" kern="0" b="0" i="0" dirty="0">
                <a:solidFill>
                  <a:srgbClr val="070154"/>
                </a:solidFill>
                <a:latin typeface="IBM Plex Sans"/>
                <a:ea typeface="IBM Plex Sans"/>
                <a:cs typeface="IBM Plex Sans"/>
              </a:endParaRPr>
            </a:p>
          </p:txBody>
        </p:sp>
      </p:grpSp>
      <p:sp>
        <p:nvSpPr>
          <p:cNvPr id="24" name="detail-rule1"/>
          <p:cNvSpPr/>
          <p:nvPr/>
        </p:nvSpPr>
        <p:spPr>
          <a:xfrm>
            <a:off x="3009900" y="3200400"/>
            <a:ext cx="2057400" cy="9525"/>
          </a:xfrm>
          <a:prstGeom prst="rect">
            <a:avLst/>
          </a:prstGeom>
          <a:solidFill>
            <a:srgbClr val="CED7E6"/>
          </a:solidFill>
          <a:ln>
            <a:noFill/>
          </a:ln>
        </p:spPr>
      </p:sp>
      <p:grpSp>
        <p:nvGrpSpPr>
          <p:cNvPr id="40" name="detail1"/>
          <p:cNvGrpSpPr/>
          <p:nvPr/>
        </p:nvGrpSpPr>
        <p:grpSpPr>
          <a:xfrm>
            <a:off x="2903220" y="3429000"/>
            <a:ext cx="2026920" cy="1600200"/>
            <a:chOff x="2903220" y="3429000"/>
            <a:chExt cx="2026920" cy="1600200"/>
          </a:xfrm>
        </p:grpSpPr>
        <p:sp>
          <p:nvSpPr>
            <p:cNvPr id="25" name="detail1.text"/>
            <p:cNvSpPr/>
            <p:nvPr/>
          </p:nvSpPr>
          <p:spPr>
            <a:xfrm>
              <a:off x="2903220" y="3429000"/>
              <a:ext cx="202692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Problem, evidence, outcome, decision, and why now.</a:t>
              </a:r>
              <a:endParaRPr lang="en-US" sz="1200" spc="0" kern="0" b="0" i="0" dirty="0">
                <a:solidFill>
                  <a:srgbClr val="070154"/>
                </a:solidFill>
                <a:latin typeface="IBM Plex Sans"/>
                <a:ea typeface="IBM Plex Sans"/>
                <a:cs typeface="IBM Plex Sans"/>
              </a:endParaRPr>
            </a:p>
          </p:txBody>
        </p:sp>
      </p:grpSp>
      <p:sp>
        <p:nvSpPr>
          <p:cNvPr id="26" name="detail-rule2"/>
          <p:cNvSpPr/>
          <p:nvPr/>
        </p:nvSpPr>
        <p:spPr>
          <a:xfrm>
            <a:off x="5067300" y="3200400"/>
            <a:ext cx="2057400" cy="9525"/>
          </a:xfrm>
          <a:prstGeom prst="rect">
            <a:avLst/>
          </a:prstGeom>
          <a:solidFill>
            <a:srgbClr val="CED7E6"/>
          </a:solidFill>
          <a:ln>
            <a:noFill/>
          </a:ln>
        </p:spPr>
      </p:sp>
      <p:grpSp>
        <p:nvGrpSpPr>
          <p:cNvPr id="41" name="detail2"/>
          <p:cNvGrpSpPr/>
          <p:nvPr/>
        </p:nvGrpSpPr>
        <p:grpSpPr>
          <a:xfrm>
            <a:off x="5082540" y="3429000"/>
            <a:ext cx="2026920" cy="1600200"/>
            <a:chOff x="5082540" y="3429000"/>
            <a:chExt cx="2026920" cy="1600200"/>
          </a:xfrm>
        </p:grpSpPr>
        <p:sp>
          <p:nvSpPr>
            <p:cNvPr id="27" name="detail2.text"/>
            <p:cNvSpPr/>
            <p:nvPr/>
          </p:nvSpPr>
          <p:spPr>
            <a:xfrm>
              <a:off x="5082540" y="3429000"/>
              <a:ext cx="202692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User need, success measure, scope, and design context.</a:t>
              </a:r>
              <a:endParaRPr lang="en-US" sz="1200" spc="0" kern="0" b="0" i="0" dirty="0">
                <a:solidFill>
                  <a:srgbClr val="070154"/>
                </a:solidFill>
                <a:latin typeface="IBM Plex Sans"/>
                <a:ea typeface="IBM Plex Sans"/>
                <a:cs typeface="IBM Plex Sans"/>
              </a:endParaRPr>
            </a:p>
          </p:txBody>
        </p:sp>
      </p:grpSp>
      <p:sp>
        <p:nvSpPr>
          <p:cNvPr id="28" name="detail-rule3"/>
          <p:cNvSpPr/>
          <p:nvPr/>
        </p:nvSpPr>
        <p:spPr>
          <a:xfrm>
            <a:off x="7353300" y="3200400"/>
            <a:ext cx="2057400" cy="9525"/>
          </a:xfrm>
          <a:prstGeom prst="rect">
            <a:avLst/>
          </a:prstGeom>
          <a:solidFill>
            <a:srgbClr val="CED7E6"/>
          </a:solidFill>
          <a:ln>
            <a:noFill/>
          </a:ln>
        </p:spPr>
      </p:sp>
      <p:grpSp>
        <p:nvGrpSpPr>
          <p:cNvPr id="42" name="detail3"/>
          <p:cNvGrpSpPr/>
          <p:nvPr/>
        </p:nvGrpSpPr>
        <p:grpSpPr>
          <a:xfrm>
            <a:off x="7261860" y="3429000"/>
            <a:ext cx="2026920" cy="1600200"/>
            <a:chOff x="7261860" y="3429000"/>
            <a:chExt cx="2026920" cy="1600200"/>
          </a:xfrm>
        </p:grpSpPr>
        <p:sp>
          <p:nvSpPr>
            <p:cNvPr id="29" name="detail3.text"/>
            <p:cNvSpPr/>
            <p:nvPr/>
          </p:nvSpPr>
          <p:spPr>
            <a:xfrm>
              <a:off x="7261860" y="3429000"/>
              <a:ext cx="202692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Decomposition, acceptance, ownership, and dependencies.</a:t>
              </a:r>
              <a:endParaRPr lang="en-US" sz="1200" spc="0" kern="0" b="0" i="0" dirty="0">
                <a:solidFill>
                  <a:srgbClr val="070154"/>
                </a:solidFill>
                <a:latin typeface="IBM Plex Sans"/>
                <a:ea typeface="IBM Plex Sans"/>
                <a:cs typeface="IBM Plex Sans"/>
              </a:endParaRPr>
            </a:p>
          </p:txBody>
        </p:sp>
      </p:grpSp>
      <p:sp>
        <p:nvSpPr>
          <p:cNvPr id="30" name="detail-rule4"/>
          <p:cNvSpPr/>
          <p:nvPr/>
        </p:nvSpPr>
        <p:spPr>
          <a:xfrm>
            <a:off x="9410700" y="3200400"/>
            <a:ext cx="2057400" cy="9525"/>
          </a:xfrm>
          <a:prstGeom prst="rect">
            <a:avLst/>
          </a:prstGeom>
          <a:solidFill>
            <a:srgbClr val="CED7E6"/>
          </a:solidFill>
          <a:ln>
            <a:noFill/>
          </a:ln>
        </p:spPr>
      </p:sp>
      <p:grpSp>
        <p:nvGrpSpPr>
          <p:cNvPr id="43" name="detail4"/>
          <p:cNvGrpSpPr/>
          <p:nvPr/>
        </p:nvGrpSpPr>
        <p:grpSpPr>
          <a:xfrm>
            <a:off x="9441180" y="3429000"/>
            <a:ext cx="2026920" cy="1600200"/>
            <a:chOff x="9441180" y="3429000"/>
            <a:chExt cx="2026920" cy="1600200"/>
          </a:xfrm>
        </p:grpSpPr>
        <p:sp>
          <p:nvSpPr>
            <p:cNvPr id="31" name="detail4.text"/>
            <p:cNvSpPr/>
            <p:nvPr/>
          </p:nvSpPr>
          <p:spPr>
            <a:xfrm>
              <a:off x="9441180" y="3429000"/>
              <a:ext cx="2026920" cy="1600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Sequence, validation, release evidence, and feedback.</a:t>
              </a:r>
              <a:endParaRPr lang="en-US" sz="1200" spc="0" kern="0" b="0" i="0" dirty="0">
                <a:solidFill>
                  <a:srgbClr val="070154"/>
                </a:solidFill>
                <a:latin typeface="IBM Plex Sans"/>
                <a:ea typeface="IBM Plex Sans"/>
                <a:cs typeface="IBM Plex Sans"/>
              </a:endParaRPr>
            </a:p>
          </p:txBody>
        </p:sp>
      </p:grpSp>
      <p:grpSp>
        <p:nvGrpSpPr>
          <p:cNvPr id="44" name="test-intent"/>
          <p:cNvGrpSpPr/>
          <p:nvPr/>
        </p:nvGrpSpPr>
        <p:grpSpPr>
          <a:xfrm>
            <a:off x="723900" y="5257800"/>
            <a:ext cx="10744200" cy="685800"/>
            <a:chOff x="723900" y="5257800"/>
            <a:chExt cx="10744200" cy="685800"/>
          </a:xfrm>
        </p:grpSpPr>
        <p:sp>
          <p:nvSpPr>
            <p:cNvPr id="32" name="test-intent.surface"/>
            <p:cNvSpPr/>
            <p:nvPr/>
          </p:nvSpPr>
          <p:spPr>
            <a:xfrm>
              <a:off x="723900" y="5257800"/>
              <a:ext cx="10744200" cy="685800"/>
            </a:xfrm>
            <a:prstGeom prst="rect">
              <a:avLst/>
            </a:prstGeom>
            <a:solidFill>
              <a:srgbClr val="E8EEF8"/>
            </a:solidFill>
            <a:ln>
              <a:noFill/>
            </a:ln>
          </p:spPr>
        </p:sp>
        <p:sp>
          <p:nvSpPr>
            <p:cNvPr id="33" name="test-intent.text"/>
            <p:cNvSpPr/>
            <p:nvPr/>
          </p:nvSpPr>
          <p:spPr>
            <a:xfrm>
              <a:off x="876300" y="54864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Test intent: make decision logic, feasibility, design context, and evidence visible before the team commits to delivery scope.</a:t>
              </a:r>
              <a:endParaRPr lang="en-US" sz="1200" spc="0" kern="0" b="0" i="0" dirty="0">
                <a:solidFill>
                  <a:srgbClr val="070154"/>
                </a:solidFill>
                <a:latin typeface="IBM Plex Sans"/>
                <a:ea typeface="IBM Plex Sans"/>
                <a:cs typeface="IBM Plex Sans"/>
              </a:endParaRPr>
            </a:p>
          </p:txBody>
        </p:sp>
      </p:grpSp>
      <p:grpSp>
        <p:nvGrpSpPr>
          <p:cNvPr id="45" name="authored-header"/>
          <p:cNvGrpSpPr/>
          <p:nvPr/>
        </p:nvGrpSpPr>
        <p:grpSpPr>
          <a:xfrm>
            <a:off x="723900" y="685800"/>
            <a:ext cx="9372600" cy="914400"/>
            <a:chOff x="723900" y="685800"/>
            <a:chExt cx="9372600" cy="914400"/>
          </a:xfrm>
        </p:grpSpPr>
        <p:sp>
          <p:nvSpPr>
            <p:cNvPr id="34"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From signal to implementation plan</a:t>
              </a:r>
              <a:endParaRPr lang="en-US" sz="3200" spc="-64" kern="0" b="0" i="0" dirty="0">
                <a:solidFill>
                  <a:srgbClr val="070154"/>
                </a:solidFill>
                <a:latin typeface="IBM Plex Sans SemiBold"/>
                <a:ea typeface="IBM Plex Sans SemiBold"/>
                <a:cs typeface="IBM Plex Sans SemiBold"/>
              </a:endParaRPr>
            </a:p>
          </p:txBody>
        </p:sp>
      </p:grpSp>
      <p:grpSp>
        <p:nvGrpSpPr>
          <p:cNvPr id="46" name="authored-eyebrow"/>
          <p:cNvGrpSpPr/>
          <p:nvPr/>
        </p:nvGrpSpPr>
        <p:grpSpPr>
          <a:xfrm>
            <a:off x="723900" y="457200"/>
            <a:ext cx="9372600" cy="228600"/>
            <a:chOff x="723900" y="457200"/>
            <a:chExt cx="9372600" cy="228600"/>
          </a:xfrm>
        </p:grpSpPr>
        <p:sp>
          <p:nvSpPr>
            <p:cNvPr id="35"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02</a:t>
              </a:r>
              <a:endParaRPr lang="en-US" sz="1000" spc="80" kern="0" b="0" i="0" dirty="0">
                <a:solidFill>
                  <a:srgbClr val="0047FF"/>
                </a:solidFill>
                <a:latin typeface="IBM Plex Mono SemiBold"/>
                <a:ea typeface="IBM Plex Mono SemiBold"/>
                <a:cs typeface="IBM Plex Mono SemiBold"/>
              </a:endParaRPr>
            </a:p>
          </p:txBody>
        </p:sp>
      </p:grpSp>
      <p:grpSp>
        <p:nvGrpSpPr>
          <p:cNvPr id="47" name="client-brand"/>
          <p:cNvGrpSpPr/>
          <p:nvPr/>
        </p:nvGrpSpPr>
        <p:grpSpPr>
          <a:xfrm>
            <a:off x="10382250" y="457200"/>
            <a:ext cx="1028700" cy="457200"/>
            <a:chOff x="10382250" y="457200"/>
            <a:chExt cx="1028700" cy="457200"/>
          </a:xfrm>
        </p:grpSpPr>
        <p:pic>
          <p:nvPicPr>
            <p:cNvPr id="36"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name="dxc-048">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48</a:t>
            </a:fld>
            <a:endParaRPr lang="en-US" sz="700" spc="0" kern="0" b="0" i="0" dirty="0">
              <a:solidFill>
                <a:srgbClr val="070154"/>
              </a:solidFill>
              <a:latin typeface="IBM Plex Mono SemiBold"/>
              <a:ea typeface="IBM Plex Mono SemiBold"/>
              <a:cs typeface="IBM Plex Mono SemiBold"/>
            </a:endParaRPr>
          </a:p>
        </p:txBody>
      </p:sp>
      <p:grpSp>
        <p:nvGrpSpPr>
          <p:cNvPr id="11" name="register"/>
          <p:cNvGrpSpPr/>
          <p:nvPr/>
        </p:nvGrpSpPr>
        <p:grpSpPr>
          <a:xfrm>
            <a:off x="723900" y="1600200"/>
            <a:ext cx="10744200" cy="3810000"/>
            <a:chOff x="723900" y="1600200"/>
            <a:chExt cx="10744200" cy="3810000"/>
          </a:xfrm>
        </p:grpSpPr>
        <p:graphicFrame>
          <p:nvGraphicFramePr>
            <p:cNvPr id="5" name="register.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810000"/>
          </p:xfrm>
          <a:graphic>
            <a:graphicData uri="http://schemas.openxmlformats.org/drawingml/2006/table">
              <a:tbl>
                <a:tblPr/>
                <a:tblGrid>
                  <a:gridCol w="990600"/>
                  <a:gridCol w="2971800"/>
                  <a:gridCol w="5334000"/>
                  <a:gridCol w="14478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TRACK</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RECOMMENDATION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WHAT SHOULD BE DONE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STARTS</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4544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01 Prioritize outcomes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Criteria + protected capacity + credible 3–4 sprint 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4544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02 PM business ownership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 owns evidence, outcomes, adoption and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4544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03 Definition path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Signal → PRD → epic → technical design →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4544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04 Earlier collaboration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UX, Eng, QA, Release and Ops join early feasibility.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Next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4544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05 Ship with proof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Minimum release proof feeds post-launch roadmap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Next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4544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Eng</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E1 Release stability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Root causes + credential/certificate lifecycle.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 · 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4544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E2 Test automation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Automate high-risk regression; reuse Recon patterns.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 · 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4544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E3 Access / test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Remove access waits; provide realistic masked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 · R/RE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4544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E4 Delivery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Release/flow measures across platforms, incl. vendors.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 · C/R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4544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E5 Governed AI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Supervised AI + sanctioned tools before December rollout.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Now · 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2" name="qualification"/>
          <p:cNvGrpSpPr/>
          <p:nvPr/>
        </p:nvGrpSpPr>
        <p:grpSpPr>
          <a:xfrm>
            <a:off x="723900" y="5486400"/>
            <a:ext cx="10744200" cy="457200"/>
            <a:chOff x="723900" y="5486400"/>
            <a:chExt cx="10744200" cy="457200"/>
          </a:xfrm>
        </p:grpSpPr>
        <p:sp>
          <p:nvSpPr>
            <p:cNvPr id="6" name="qualification.surface"/>
            <p:cNvSpPr/>
            <p:nvPr/>
          </p:nvSpPr>
          <p:spPr>
            <a:xfrm>
              <a:off x="723900" y="5486400"/>
              <a:ext cx="10744200" cy="457200"/>
            </a:xfrm>
            <a:prstGeom prst="rect">
              <a:avLst/>
            </a:prstGeom>
            <a:solidFill>
              <a:srgbClr val="E8EEF8"/>
            </a:solidFill>
            <a:ln>
              <a:noFill/>
            </a:ln>
          </p:spPr>
        </p:sp>
        <p:sp>
          <p:nvSpPr>
            <p:cNvPr id="7" name="qualification.text"/>
            <p:cNvSpPr/>
            <p:nvPr/>
          </p:nvSpPr>
          <p:spPr>
            <a:xfrm>
              <a:off x="876300" y="56007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Eng Engineering; C Core; R Reconcile AI; RE Rules Engine. Product recommendations precede Engineering; both tracks roll up in the two roadmaps.</a:t>
              </a:r>
              <a:endParaRPr lang="en-US" sz="1200" spc="0" kern="0" b="0" i="0" dirty="0">
                <a:solidFill>
                  <a:srgbClr val="070154"/>
                </a:solidFill>
                <a:latin typeface="IBM Plex Sans"/>
                <a:ea typeface="IBM Plex Sans"/>
                <a:cs typeface="IBM Plex Sans"/>
              </a:endParaRPr>
            </a:p>
          </p:txBody>
        </p:sp>
      </p:grpSp>
      <p:grpSp>
        <p:nvGrpSpPr>
          <p:cNvPr id="13" name="authored-header"/>
          <p:cNvGrpSpPr/>
          <p:nvPr/>
        </p:nvGrpSpPr>
        <p:grpSpPr>
          <a:xfrm>
            <a:off x="723900" y="685800"/>
            <a:ext cx="9372600" cy="914400"/>
            <a:chOff x="723900" y="685800"/>
            <a:chExt cx="9372600" cy="914400"/>
          </a:xfrm>
        </p:grpSpPr>
        <p:sp>
          <p:nvSpPr>
            <p:cNvPr id="8"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Recommendations summary: what should be done</a:t>
              </a:r>
              <a:endParaRPr lang="en-US" sz="3200" spc="-64" kern="0" b="0" i="0" dirty="0">
                <a:solidFill>
                  <a:srgbClr val="070154"/>
                </a:solidFill>
                <a:latin typeface="IBM Plex Sans SemiBold"/>
                <a:ea typeface="IBM Plex Sans SemiBold"/>
                <a:cs typeface="IBM Plex Sans SemiBold"/>
              </a:endParaRPr>
            </a:p>
          </p:txBody>
        </p:sp>
      </p:grpSp>
      <p:grpSp>
        <p:nvGrpSpPr>
          <p:cNvPr id="14" name="authored-eyebrow"/>
          <p:cNvGrpSpPr/>
          <p:nvPr/>
        </p:nvGrpSpPr>
        <p:grpSpPr>
          <a:xfrm>
            <a:off x="723900" y="457200"/>
            <a:ext cx="9372600" cy="228600"/>
            <a:chOff x="723900" y="457200"/>
            <a:chExt cx="9372600" cy="228600"/>
          </a:xfrm>
        </p:grpSpPr>
        <p:sp>
          <p:nvSpPr>
            <p:cNvPr id="9"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a:t>
              </a:r>
              <a:endParaRPr lang="en-US" sz="1000" spc="80" kern="0" b="0" i="0" dirty="0">
                <a:solidFill>
                  <a:srgbClr val="0047FF"/>
                </a:solidFill>
                <a:latin typeface="IBM Plex Mono SemiBold"/>
                <a:ea typeface="IBM Plex Mono SemiBold"/>
                <a:cs typeface="IBM Plex Mono SemiBold"/>
              </a:endParaRPr>
            </a:p>
          </p:txBody>
        </p:sp>
      </p:gr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name="dxc-049">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49</a:t>
            </a:fld>
            <a:endParaRPr lang="en-US" sz="700" spc="0" kern="0" b="0" i="0" dirty="0">
              <a:solidFill>
                <a:srgbClr val="070154"/>
              </a:solidFill>
              <a:latin typeface="IBM Plex Mono SemiBold"/>
              <a:ea typeface="IBM Plex Mono SemiBold"/>
              <a:cs typeface="IBM Plex Mono SemiBold"/>
            </a:endParaRPr>
          </a:p>
        </p:txBody>
      </p:sp>
      <p:grpSp>
        <p:nvGrpSpPr>
          <p:cNvPr id="33"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Learn from what reaches production and stop repeat causes, starting with Core.</a:t>
              </a:r>
              <a:endParaRPr lang="en-US" sz="1200" spc="0" kern="0" b="0" i="0" dirty="0">
                <a:solidFill>
                  <a:srgbClr val="50658E"/>
                </a:solidFill>
                <a:latin typeface="IBM Plex Sans"/>
                <a:ea typeface="IBM Plex Sans"/>
                <a:cs typeface="IBM Plex Sans"/>
              </a:endParaRPr>
            </a:p>
          </p:txBody>
        </p:sp>
      </p:grpSp>
      <p:grpSp>
        <p:nvGrpSpPr>
          <p:cNvPr id="34" name="group-left"/>
          <p:cNvGrpSpPr/>
          <p:nvPr/>
        </p:nvGrpSpPr>
        <p:grpSpPr>
          <a:xfrm>
            <a:off x="723900" y="2057400"/>
            <a:ext cx="10744200" cy="228600"/>
            <a:chOff x="723900" y="2057400"/>
            <a:chExt cx="10744200" cy="228600"/>
          </a:xfrm>
        </p:grpSpPr>
        <p:sp>
          <p:nvSpPr>
            <p:cNvPr id="6" name="group-left.text"/>
            <p:cNvSpPr/>
            <p:nvPr/>
          </p:nvSpPr>
          <p:spPr>
            <a:xfrm>
              <a:off x="723900" y="2057400"/>
              <a:ext cx="107442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35" name="group-right"/>
          <p:cNvGrpSpPr/>
          <p:nvPr/>
        </p:nvGrpSpPr>
        <p:grpSpPr>
          <a:xfrm>
            <a:off x="723900" y="3657600"/>
            <a:ext cx="10744200" cy="228600"/>
            <a:chOff x="723900" y="3657600"/>
            <a:chExt cx="10744200" cy="228600"/>
          </a:xfrm>
        </p:grpSpPr>
        <p:sp>
          <p:nvSpPr>
            <p:cNvPr id="7" name="group-right.text"/>
            <p:cNvSpPr/>
            <p:nvPr/>
          </p:nvSpPr>
          <p:spPr>
            <a:xfrm>
              <a:off x="723900" y="3657600"/>
              <a:ext cx="107442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36" name="item-0-0"/>
          <p:cNvGrpSpPr/>
          <p:nvPr/>
        </p:nvGrpSpPr>
        <p:grpSpPr>
          <a:xfrm>
            <a:off x="723900" y="2362200"/>
            <a:ext cx="3429000" cy="1219200"/>
            <a:chOff x="723900" y="2362200"/>
            <a:chExt cx="3429000" cy="1219200"/>
          </a:xfrm>
        </p:grpSpPr>
        <p:sp>
          <p:nvSpPr>
            <p:cNvPr id="8" name="item-0-0.container"/>
            <p:cNvSpPr/>
            <p:nvPr/>
          </p:nvSpPr>
          <p:spPr>
            <a:xfrm>
              <a:off x="723900" y="2362200"/>
              <a:ext cx="3429000" cy="1219200"/>
            </a:xfrm>
            <a:prstGeom prst="rect">
              <a:avLst/>
            </a:prstGeom>
            <a:solidFill>
              <a:srgbClr val="E8EEF8"/>
            </a:solidFill>
            <a:ln>
              <a:noFill/>
            </a:ln>
          </p:spPr>
        </p:sp>
        <p:sp>
          <p:nvSpPr>
            <p:cNvPr id="9" name="item-0-0.edge"/>
            <p:cNvSpPr/>
            <p:nvPr/>
          </p:nvSpPr>
          <p:spPr>
            <a:xfrm>
              <a:off x="723900" y="2362200"/>
              <a:ext cx="38100" cy="1219200"/>
            </a:xfrm>
            <a:prstGeom prst="rect">
              <a:avLst/>
            </a:prstGeom>
            <a:solidFill>
              <a:srgbClr val="0047FF"/>
            </a:solidFill>
            <a:ln>
              <a:noFill/>
            </a:ln>
          </p:spPr>
        </p:sp>
        <p:sp>
          <p:nvSpPr>
            <p:cNvPr id="10" name="item-0-0.body.item-0.paragraph"/>
            <p:cNvSpPr/>
            <p:nvPr/>
          </p:nvSpPr>
          <p:spPr>
            <a:xfrm>
              <a:off x="876300" y="24765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the root cause of every unplanned production change: patches, rollbacks, and off-version releases.</a:t>
              </a:r>
              <a:endParaRPr lang="en-US" sz="1200" spc="0" kern="0" b="0" i="0" dirty="0">
                <a:solidFill>
                  <a:srgbClr val="50658E"/>
                </a:solidFill>
                <a:latin typeface="IBM Plex Sans"/>
                <a:ea typeface="IBM Plex Sans"/>
                <a:cs typeface="IBM Plex Sans"/>
              </a:endParaRPr>
            </a:p>
          </p:txBody>
        </p:sp>
      </p:grpSp>
      <p:grpSp>
        <p:nvGrpSpPr>
          <p:cNvPr id="37" name="item-0-1"/>
          <p:cNvGrpSpPr/>
          <p:nvPr/>
        </p:nvGrpSpPr>
        <p:grpSpPr>
          <a:xfrm>
            <a:off x="4381500" y="2362200"/>
            <a:ext cx="3429000" cy="1219200"/>
            <a:chOff x="4381500" y="2362200"/>
            <a:chExt cx="3429000" cy="1219200"/>
          </a:xfrm>
        </p:grpSpPr>
        <p:sp>
          <p:nvSpPr>
            <p:cNvPr id="11" name="item-0-1.container"/>
            <p:cNvSpPr/>
            <p:nvPr/>
          </p:nvSpPr>
          <p:spPr>
            <a:xfrm>
              <a:off x="4381500" y="2362200"/>
              <a:ext cx="3429000" cy="1219200"/>
            </a:xfrm>
            <a:prstGeom prst="rect">
              <a:avLst/>
            </a:prstGeom>
            <a:solidFill>
              <a:srgbClr val="E8EEF8"/>
            </a:solidFill>
            <a:ln>
              <a:noFill/>
            </a:ln>
          </p:spPr>
        </p:sp>
        <p:sp>
          <p:nvSpPr>
            <p:cNvPr id="12" name="item-0-1.edge"/>
            <p:cNvSpPr/>
            <p:nvPr/>
          </p:nvSpPr>
          <p:spPr>
            <a:xfrm>
              <a:off x="4381500" y="2362200"/>
              <a:ext cx="38100" cy="1219200"/>
            </a:xfrm>
            <a:prstGeom prst="rect">
              <a:avLst/>
            </a:prstGeom>
            <a:solidFill>
              <a:srgbClr val="0047FF"/>
            </a:solidFill>
            <a:ln>
              <a:noFill/>
            </a:ln>
          </p:spPr>
        </p:sp>
        <p:sp>
          <p:nvSpPr>
            <p:cNvPr id="13" name="item-0-1.body.item-0.paragraph"/>
            <p:cNvSpPr/>
            <p:nvPr/>
          </p:nvSpPr>
          <p:spPr>
            <a:xfrm>
              <a:off x="4533900" y="24765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Manage credentials and certificates as a lifecycle, with expiry dates, owners, and alerts.</a:t>
              </a:r>
              <a:endParaRPr lang="en-US" sz="1200" spc="0" kern="0" b="0" i="0" dirty="0">
                <a:solidFill>
                  <a:srgbClr val="50658E"/>
                </a:solidFill>
                <a:latin typeface="IBM Plex Sans"/>
                <a:ea typeface="IBM Plex Sans"/>
                <a:cs typeface="IBM Plex Sans"/>
              </a:endParaRPr>
            </a:p>
          </p:txBody>
        </p:sp>
      </p:grpSp>
      <p:grpSp>
        <p:nvGrpSpPr>
          <p:cNvPr id="38" name="item-0-2"/>
          <p:cNvGrpSpPr/>
          <p:nvPr/>
        </p:nvGrpSpPr>
        <p:grpSpPr>
          <a:xfrm>
            <a:off x="8039100" y="2362200"/>
            <a:ext cx="3429000" cy="1219200"/>
            <a:chOff x="8039100" y="2362200"/>
            <a:chExt cx="3429000" cy="1219200"/>
          </a:xfrm>
        </p:grpSpPr>
        <p:sp>
          <p:nvSpPr>
            <p:cNvPr id="14" name="item-0-2.container"/>
            <p:cNvSpPr/>
            <p:nvPr/>
          </p:nvSpPr>
          <p:spPr>
            <a:xfrm>
              <a:off x="8039100" y="2362200"/>
              <a:ext cx="3429000" cy="1219200"/>
            </a:xfrm>
            <a:prstGeom prst="rect">
              <a:avLst/>
            </a:prstGeom>
            <a:solidFill>
              <a:srgbClr val="E8EEF8"/>
            </a:solidFill>
            <a:ln>
              <a:noFill/>
            </a:ln>
          </p:spPr>
        </p:sp>
        <p:sp>
          <p:nvSpPr>
            <p:cNvPr id="15" name="item-0-2.edge"/>
            <p:cNvSpPr/>
            <p:nvPr/>
          </p:nvSpPr>
          <p:spPr>
            <a:xfrm>
              <a:off x="8039100" y="2362200"/>
              <a:ext cx="38100" cy="1219200"/>
            </a:xfrm>
            <a:prstGeom prst="rect">
              <a:avLst/>
            </a:prstGeom>
            <a:solidFill>
              <a:srgbClr val="0047FF"/>
            </a:solidFill>
            <a:ln>
              <a:noFill/>
            </a:ln>
          </p:spPr>
        </p:sp>
        <p:sp>
          <p:nvSpPr>
            <p:cNvPr id="16" name="item-0-2.body.item-0.paragraph"/>
            <p:cNvSpPr/>
            <p:nvPr/>
          </p:nvSpPr>
          <p:spPr>
            <a:xfrm>
              <a:off x="8191500" y="2476500"/>
              <a:ext cx="3162300" cy="9144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Make releases repeatable: promote the same validated artifact, onboard new products to CAB, and clarify how the release rule applies to code behind a configuration switch.</a:t>
              </a:r>
              <a:endParaRPr lang="en-US" sz="1200" spc="0" kern="0" b="0" i="0" dirty="0">
                <a:solidFill>
                  <a:srgbClr val="50658E"/>
                </a:solidFill>
                <a:latin typeface="IBM Plex Sans"/>
                <a:ea typeface="IBM Plex Sans"/>
                <a:cs typeface="IBM Plex Sans"/>
              </a:endParaRPr>
            </a:p>
          </p:txBody>
        </p:sp>
      </p:grpSp>
      <p:grpSp>
        <p:nvGrpSpPr>
          <p:cNvPr id="39" name="item-1-0"/>
          <p:cNvGrpSpPr/>
          <p:nvPr/>
        </p:nvGrpSpPr>
        <p:grpSpPr>
          <a:xfrm>
            <a:off x="723900" y="3962400"/>
            <a:ext cx="3429000" cy="1219200"/>
            <a:chOff x="723900" y="3962400"/>
            <a:chExt cx="3429000" cy="1219200"/>
          </a:xfrm>
        </p:grpSpPr>
        <p:sp>
          <p:nvSpPr>
            <p:cNvPr id="17" name="item-1-0.container"/>
            <p:cNvSpPr/>
            <p:nvPr/>
          </p:nvSpPr>
          <p:spPr>
            <a:xfrm>
              <a:off x="723900" y="3962400"/>
              <a:ext cx="3429000" cy="1219200"/>
            </a:xfrm>
            <a:prstGeom prst="rect">
              <a:avLst/>
            </a:prstGeom>
            <a:solidFill>
              <a:srgbClr val="E8EEF8"/>
            </a:solidFill>
            <a:ln>
              <a:noFill/>
            </a:ln>
          </p:spPr>
        </p:sp>
        <p:sp>
          <p:nvSpPr>
            <p:cNvPr id="18" name="item-1-0.edge"/>
            <p:cNvSpPr/>
            <p:nvPr/>
          </p:nvSpPr>
          <p:spPr>
            <a:xfrm>
              <a:off x="723900" y="3962400"/>
              <a:ext cx="38100" cy="1219200"/>
            </a:xfrm>
            <a:prstGeom prst="rect">
              <a:avLst/>
            </a:prstGeom>
            <a:solidFill>
              <a:srgbClr val="0047FF"/>
            </a:solidFill>
            <a:ln>
              <a:noFill/>
            </a:ln>
          </p:spPr>
        </p:sp>
        <p:sp>
          <p:nvSpPr>
            <p:cNvPr id="19" name="item-1-0.body.item-0.paragraph"/>
            <p:cNvSpPr/>
            <p:nvPr/>
          </p:nvSpPr>
          <p:spPr>
            <a:xfrm>
              <a:off x="876300" y="40767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Now (Core): classify the 15 unplanned 2026 changes by cause and build the credential and certificate inventory.</a:t>
              </a:r>
              <a:endParaRPr lang="en-US" sz="1200" spc="0" kern="0" b="0" i="0" dirty="0">
                <a:solidFill>
                  <a:srgbClr val="50658E"/>
                </a:solidFill>
                <a:latin typeface="IBM Plex Sans"/>
                <a:ea typeface="IBM Plex Sans"/>
                <a:cs typeface="IBM Plex Sans"/>
              </a:endParaRPr>
            </a:p>
          </p:txBody>
        </p:sp>
      </p:grpSp>
      <p:grpSp>
        <p:nvGrpSpPr>
          <p:cNvPr id="40" name="item-1-1"/>
          <p:cNvGrpSpPr/>
          <p:nvPr/>
        </p:nvGrpSpPr>
        <p:grpSpPr>
          <a:xfrm>
            <a:off x="4381500" y="3962400"/>
            <a:ext cx="3429000" cy="1219200"/>
            <a:chOff x="4381500" y="3962400"/>
            <a:chExt cx="3429000" cy="1219200"/>
          </a:xfrm>
        </p:grpSpPr>
        <p:sp>
          <p:nvSpPr>
            <p:cNvPr id="20" name="item-1-1.container"/>
            <p:cNvSpPr/>
            <p:nvPr/>
          </p:nvSpPr>
          <p:spPr>
            <a:xfrm>
              <a:off x="4381500" y="3962400"/>
              <a:ext cx="3429000" cy="1219200"/>
            </a:xfrm>
            <a:prstGeom prst="rect">
              <a:avLst/>
            </a:prstGeom>
            <a:solidFill>
              <a:srgbClr val="E8EEF8"/>
            </a:solidFill>
            <a:ln>
              <a:noFill/>
            </a:ln>
          </p:spPr>
        </p:sp>
        <p:sp>
          <p:nvSpPr>
            <p:cNvPr id="21" name="item-1-1.edge"/>
            <p:cNvSpPr/>
            <p:nvPr/>
          </p:nvSpPr>
          <p:spPr>
            <a:xfrm>
              <a:off x="4381500" y="3962400"/>
              <a:ext cx="38100" cy="1219200"/>
            </a:xfrm>
            <a:prstGeom prst="rect">
              <a:avLst/>
            </a:prstGeom>
            <a:solidFill>
              <a:srgbClr val="0047FF"/>
            </a:solidFill>
            <a:ln>
              <a:noFill/>
            </a:ln>
          </p:spPr>
        </p:sp>
        <p:sp>
          <p:nvSpPr>
            <p:cNvPr id="22" name="item-1-1.body.item-0.paragraph"/>
            <p:cNvSpPr/>
            <p:nvPr/>
          </p:nvSpPr>
          <p:spPr>
            <a:xfrm>
              <a:off x="4533900" y="40767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Next: a standard review after every patch or rollback, expiry alerts, and same-artifact promotion.</a:t>
              </a:r>
              <a:endParaRPr lang="en-US" sz="1200" spc="0" kern="0" b="0" i="0" dirty="0">
                <a:solidFill>
                  <a:srgbClr val="50658E"/>
                </a:solidFill>
                <a:latin typeface="IBM Plex Sans"/>
                <a:ea typeface="IBM Plex Sans"/>
                <a:cs typeface="IBM Plex Sans"/>
              </a:endParaRPr>
            </a:p>
          </p:txBody>
        </p:sp>
      </p:grpSp>
      <p:grpSp>
        <p:nvGrpSpPr>
          <p:cNvPr id="41" name="item-1-2"/>
          <p:cNvGrpSpPr/>
          <p:nvPr/>
        </p:nvGrpSpPr>
        <p:grpSpPr>
          <a:xfrm>
            <a:off x="8039100" y="3962400"/>
            <a:ext cx="3429000" cy="1219200"/>
            <a:chOff x="8039100" y="3962400"/>
            <a:chExt cx="3429000" cy="1219200"/>
          </a:xfrm>
        </p:grpSpPr>
        <p:sp>
          <p:nvSpPr>
            <p:cNvPr id="23" name="item-1-2.container"/>
            <p:cNvSpPr/>
            <p:nvPr/>
          </p:nvSpPr>
          <p:spPr>
            <a:xfrm>
              <a:off x="8039100" y="3962400"/>
              <a:ext cx="3429000" cy="1219200"/>
            </a:xfrm>
            <a:prstGeom prst="rect">
              <a:avLst/>
            </a:prstGeom>
            <a:solidFill>
              <a:srgbClr val="E8EEF8"/>
            </a:solidFill>
            <a:ln>
              <a:noFill/>
            </a:ln>
          </p:spPr>
        </p:sp>
        <p:sp>
          <p:nvSpPr>
            <p:cNvPr id="24" name="item-1-2.edge"/>
            <p:cNvSpPr/>
            <p:nvPr/>
          </p:nvSpPr>
          <p:spPr>
            <a:xfrm>
              <a:off x="8039100" y="3962400"/>
              <a:ext cx="38100" cy="1219200"/>
            </a:xfrm>
            <a:prstGeom prst="rect">
              <a:avLst/>
            </a:prstGeom>
            <a:solidFill>
              <a:srgbClr val="0047FF"/>
            </a:solidFill>
            <a:ln>
              <a:noFill/>
            </a:ln>
          </p:spPr>
        </p:sp>
        <p:sp>
          <p:nvSpPr>
            <p:cNvPr id="25" name="item-1-2.body.item-0.paragraph"/>
            <p:cNvSpPr/>
            <p:nvPr/>
          </p:nvSpPr>
          <p:spPr>
            <a:xfrm>
              <a:off x="8191500" y="4076700"/>
              <a:ext cx="3162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Future: change failure rate, time to restore, and repeat causes tracked on every pod.</a:t>
              </a:r>
              <a:endParaRPr lang="en-US" sz="1200" spc="0" kern="0" b="0" i="0" dirty="0">
                <a:solidFill>
                  <a:srgbClr val="50658E"/>
                </a:solidFill>
                <a:latin typeface="IBM Plex Sans"/>
                <a:ea typeface="IBM Plex Sans"/>
                <a:cs typeface="IBM Plex Sans"/>
              </a:endParaRPr>
            </a:p>
          </p:txBody>
        </p:sp>
      </p:grpSp>
      <p:grpSp>
        <p:nvGrpSpPr>
          <p:cNvPr id="42" name="accountability"/>
          <p:cNvGrpSpPr/>
          <p:nvPr/>
        </p:nvGrpSpPr>
        <p:grpSpPr>
          <a:xfrm>
            <a:off x="723900" y="5334000"/>
            <a:ext cx="10744200" cy="609600"/>
            <a:chOff x="723900" y="5334000"/>
            <a:chExt cx="10744200" cy="609600"/>
          </a:xfrm>
        </p:grpSpPr>
        <p:sp>
          <p:nvSpPr>
            <p:cNvPr id="26" name="accountability.surface"/>
            <p:cNvSpPr/>
            <p:nvPr/>
          </p:nvSpPr>
          <p:spPr>
            <a:xfrm>
              <a:off x="723900" y="5334000"/>
              <a:ext cx="10744200" cy="609600"/>
            </a:xfrm>
            <a:prstGeom prst="rect">
              <a:avLst/>
            </a:prstGeom>
            <a:solidFill>
              <a:srgbClr val="E8EEF8"/>
            </a:solidFill>
            <a:ln>
              <a:noFill/>
            </a:ln>
          </p:spPr>
        </p:sp>
        <p:sp>
          <p:nvSpPr>
            <p:cNvPr id="27" name="accountability.text"/>
            <p:cNvSpPr/>
            <p:nvPr/>
          </p:nvSpPr>
          <p:spPr>
            <a:xfrm>
              <a:off x="876300" y="54102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Engineering leadership + Release/DevOps + Quality | Dependency: release calendar, Jira, CAB records | Measure: share of unplanned changes, change failure rate, and repeat causes</a:t>
              </a:r>
              <a:endParaRPr lang="en-US" sz="1200" spc="0" kern="0" b="0" i="0" dirty="0">
                <a:solidFill>
                  <a:srgbClr val="070154"/>
                </a:solidFill>
                <a:latin typeface="IBM Plex Sans"/>
                <a:ea typeface="IBM Plex Sans"/>
                <a:cs typeface="IBM Plex Sans"/>
              </a:endParaRPr>
            </a:p>
          </p:txBody>
        </p:sp>
      </p:grpSp>
      <p:grpSp>
        <p:nvGrpSpPr>
          <p:cNvPr id="43" name="source-icon0"/>
          <p:cNvGrpSpPr/>
          <p:nvPr/>
        </p:nvGrpSpPr>
        <p:grpSpPr>
          <a:xfrm>
            <a:off x="11010900" y="2057400"/>
            <a:ext cx="228600" cy="228600"/>
            <a:chOff x="11010900" y="2057400"/>
            <a:chExt cx="228600" cy="228600"/>
          </a:xfrm>
        </p:grpSpPr>
        <p:pic>
          <p:nvPicPr>
            <p:cNvPr id="28" name="source-icon0.image" descr="Exact original DentalXChange asset ppt/media/image34.svg; project:source-image34; canonical SHA256=ef32c66970420be9aec3ad3ec20b39dfeb48d8957c86db1c32980ce8f6a59efa">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10900" y="2057400"/>
              <a:ext cx="228600" cy="228600"/>
            </a:xfrm>
            <a:prstGeom prst="rect">
              <a:avLst/>
            </a:prstGeom>
          </p:spPr>
        </p:pic>
      </p:grpSp>
      <p:grpSp>
        <p:nvGrpSpPr>
          <p:cNvPr id="44" name="source-icon1"/>
          <p:cNvGrpSpPr/>
          <p:nvPr/>
        </p:nvGrpSpPr>
        <p:grpSpPr>
          <a:xfrm>
            <a:off x="11010900" y="3657600"/>
            <a:ext cx="228600" cy="228600"/>
            <a:chOff x="11010900" y="3657600"/>
            <a:chExt cx="228600" cy="228600"/>
          </a:xfrm>
        </p:grpSpPr>
        <p:pic>
          <p:nvPicPr>
            <p:cNvPr id="29" name="source-icon1.image" descr="Exact original DentalXChange asset ppt/media/image35.svg; project:source-image35; canonical SHA256=6394c82d241a3903635cfcf6868122aa7ae8750ed0be93149d489971d0623cd0">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10900" y="3657600"/>
              <a:ext cx="228600" cy="228600"/>
            </a:xfrm>
            <a:prstGeom prst="rect">
              <a:avLst/>
            </a:prstGeom>
          </p:spPr>
        </p:pic>
      </p:grpSp>
      <p:grpSp>
        <p:nvGrpSpPr>
          <p:cNvPr id="45" name="authored-header"/>
          <p:cNvGrpSpPr/>
          <p:nvPr/>
        </p:nvGrpSpPr>
        <p:grpSpPr>
          <a:xfrm>
            <a:off x="723900" y="685800"/>
            <a:ext cx="9372600" cy="914400"/>
            <a:chOff x="723900" y="685800"/>
            <a:chExt cx="9372600" cy="914400"/>
          </a:xfrm>
        </p:grpSpPr>
        <p:sp>
          <p:nvSpPr>
            <p:cNvPr id="30"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Release stability and production quality</a:t>
              </a:r>
              <a:endParaRPr lang="en-US" sz="3200" spc="-64" kern="0" b="0" i="0" dirty="0">
                <a:solidFill>
                  <a:srgbClr val="070154"/>
                </a:solidFill>
                <a:latin typeface="IBM Plex Sans SemiBold"/>
                <a:ea typeface="IBM Plex Sans SemiBold"/>
                <a:cs typeface="IBM Plex Sans SemiBold"/>
              </a:endParaRPr>
            </a:p>
          </p:txBody>
        </p:sp>
      </p:grpSp>
      <p:grpSp>
        <p:nvGrpSpPr>
          <p:cNvPr id="46" name="authored-eyebrow"/>
          <p:cNvGrpSpPr/>
          <p:nvPr/>
        </p:nvGrpSpPr>
        <p:grpSpPr>
          <a:xfrm>
            <a:off x="723900" y="457200"/>
            <a:ext cx="9372600" cy="228600"/>
            <a:chOff x="723900" y="457200"/>
            <a:chExt cx="9372600" cy="228600"/>
          </a:xfrm>
        </p:grpSpPr>
        <p:sp>
          <p:nvSpPr>
            <p:cNvPr id="31"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E1</a:t>
              </a:r>
              <a:endParaRPr lang="en-US" sz="1000" spc="80" kern="0" b="0" i="0" dirty="0">
                <a:solidFill>
                  <a:srgbClr val="0047FF"/>
                </a:solidFill>
                <a:latin typeface="IBM Plex Mono SemiBold"/>
                <a:ea typeface="IBM Plex Mono SemiBold"/>
                <a:cs typeface="IBM Plex Mono SemiBold"/>
              </a:endParaRPr>
            </a:p>
          </p:txBody>
        </p:sp>
      </p:grpSp>
      <p:grpSp>
        <p:nvGrpSpPr>
          <p:cNvPr id="47" name="client-brand"/>
          <p:cNvGrpSpPr/>
          <p:nvPr/>
        </p:nvGrpSpPr>
        <p:grpSpPr>
          <a:xfrm>
            <a:off x="10382250" y="457200"/>
            <a:ext cx="1028700" cy="457200"/>
            <a:chOff x="10382250" y="457200"/>
            <a:chExt cx="1028700" cy="457200"/>
          </a:xfrm>
        </p:grpSpPr>
        <p:pic>
          <p:nvPicPr>
            <p:cNvPr id="32" name="client-brand.image" descr="Exact original DentalXChange asset ppt/media/image31.png; project:source-image31; canonical SHA256=51385b7813333a7f4207d77364f6a318acc4d148486d489c8a87f115754c251f">    </p:cNvPr>
            <p:cNvPicPr>
              <a:picLocks noChangeAspect="1"/>
            </p:cNvPicPr>
            <p:nvPr/>
          </p:nvPicPr>
          <p:blipFill>
            <a:blip r:embed="rId5"/>
            <a:stretch>
              <a:fillRect/>
            </a:stretch>
          </p:blipFill>
          <p:spPr>
            <a:xfrm>
              <a:off x="10382250" y="457200"/>
              <a:ext cx="1028700" cy="457200"/>
            </a:xfrm>
            <a:prstGeom prst="rect">
              <a:avLst/>
            </a:prstGeom>
          </p:spPr>
        </p:pic>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name="dxc-050">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50</a:t>
            </a:fld>
            <a:endParaRPr lang="en-US" sz="700" spc="0" kern="0" b="0" i="0" dirty="0">
              <a:solidFill>
                <a:srgbClr val="070154"/>
              </a:solidFill>
              <a:latin typeface="IBM Plex Mono SemiBold"/>
              <a:ea typeface="IBM Plex Mono SemiBold"/>
              <a:cs typeface="IBM Plex Mono SemiBold"/>
            </a:endParaRPr>
          </a:p>
        </p:txBody>
      </p:sp>
      <p:grpSp>
        <p:nvGrpSpPr>
          <p:cNvPr id="33"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Move quality earlier so fewer defects reach production, starting where regression is manual.</a:t>
              </a:r>
              <a:endParaRPr lang="en-US" sz="1200" spc="0" kern="0" b="0" i="0" dirty="0">
                <a:solidFill>
                  <a:srgbClr val="50658E"/>
                </a:solidFill>
                <a:latin typeface="IBM Plex Sans"/>
                <a:ea typeface="IBM Plex Sans"/>
                <a:cs typeface="IBM Plex Sans"/>
              </a:endParaRPr>
            </a:p>
          </p:txBody>
        </p:sp>
      </p:grpSp>
      <p:grpSp>
        <p:nvGrpSpPr>
          <p:cNvPr id="34" name="group-left"/>
          <p:cNvGrpSpPr/>
          <p:nvPr/>
        </p:nvGrpSpPr>
        <p:grpSpPr>
          <a:xfrm>
            <a:off x="723900" y="2057400"/>
            <a:ext cx="10744200" cy="228600"/>
            <a:chOff x="723900" y="2057400"/>
            <a:chExt cx="10744200" cy="228600"/>
          </a:xfrm>
        </p:grpSpPr>
        <p:sp>
          <p:nvSpPr>
            <p:cNvPr id="6" name="group-left.text"/>
            <p:cNvSpPr/>
            <p:nvPr/>
          </p:nvSpPr>
          <p:spPr>
            <a:xfrm>
              <a:off x="723900" y="2057400"/>
              <a:ext cx="107442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35" name="group-right"/>
          <p:cNvGrpSpPr/>
          <p:nvPr/>
        </p:nvGrpSpPr>
        <p:grpSpPr>
          <a:xfrm>
            <a:off x="723900" y="3657600"/>
            <a:ext cx="10744200" cy="228600"/>
            <a:chOff x="723900" y="3657600"/>
            <a:chExt cx="10744200" cy="228600"/>
          </a:xfrm>
        </p:grpSpPr>
        <p:sp>
          <p:nvSpPr>
            <p:cNvPr id="7" name="group-right.text"/>
            <p:cNvSpPr/>
            <p:nvPr/>
          </p:nvSpPr>
          <p:spPr>
            <a:xfrm>
              <a:off x="723900" y="3657600"/>
              <a:ext cx="107442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36" name="item-0-0"/>
          <p:cNvGrpSpPr/>
          <p:nvPr/>
        </p:nvGrpSpPr>
        <p:grpSpPr>
          <a:xfrm>
            <a:off x="723900" y="2362200"/>
            <a:ext cx="3429000" cy="1219200"/>
            <a:chOff x="723900" y="2362200"/>
            <a:chExt cx="3429000" cy="1219200"/>
          </a:xfrm>
        </p:grpSpPr>
        <p:sp>
          <p:nvSpPr>
            <p:cNvPr id="8" name="item-0-0.container"/>
            <p:cNvSpPr/>
            <p:nvPr/>
          </p:nvSpPr>
          <p:spPr>
            <a:xfrm>
              <a:off x="723900" y="2362200"/>
              <a:ext cx="3429000" cy="1219200"/>
            </a:xfrm>
            <a:prstGeom prst="rect">
              <a:avLst/>
            </a:prstGeom>
            <a:solidFill>
              <a:srgbClr val="E8EEF8"/>
            </a:solidFill>
            <a:ln>
              <a:noFill/>
            </a:ln>
          </p:spPr>
        </p:sp>
        <p:sp>
          <p:nvSpPr>
            <p:cNvPr id="9" name="item-0-0.edge"/>
            <p:cNvSpPr/>
            <p:nvPr/>
          </p:nvSpPr>
          <p:spPr>
            <a:xfrm>
              <a:off x="723900" y="2362200"/>
              <a:ext cx="38100" cy="1219200"/>
            </a:xfrm>
            <a:prstGeom prst="rect">
              <a:avLst/>
            </a:prstGeom>
            <a:solidFill>
              <a:srgbClr val="0047FF"/>
            </a:solidFill>
            <a:ln>
              <a:noFill/>
            </a:ln>
          </p:spPr>
        </p:sp>
        <p:sp>
          <p:nvSpPr>
            <p:cNvPr id="10" name="item-0-0.body.item-0.paragraph"/>
            <p:cNvSpPr/>
            <p:nvPr/>
          </p:nvSpPr>
          <p:spPr>
            <a:xfrm>
              <a:off x="876300" y="24765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Target automation by risk, starting with the workflows behind the highest-impact defects and rollbacks.</a:t>
              </a:r>
              <a:endParaRPr lang="en-US" sz="1200" spc="0" kern="0" b="0" i="0" dirty="0">
                <a:solidFill>
                  <a:srgbClr val="50658E"/>
                </a:solidFill>
                <a:latin typeface="IBM Plex Sans"/>
                <a:ea typeface="IBM Plex Sans"/>
                <a:cs typeface="IBM Plex Sans"/>
              </a:endParaRPr>
            </a:p>
          </p:txBody>
        </p:sp>
      </p:grpSp>
      <p:grpSp>
        <p:nvGrpSpPr>
          <p:cNvPr id="37" name="item-0-1"/>
          <p:cNvGrpSpPr/>
          <p:nvPr/>
        </p:nvGrpSpPr>
        <p:grpSpPr>
          <a:xfrm>
            <a:off x="4381500" y="2362200"/>
            <a:ext cx="3429000" cy="1219200"/>
            <a:chOff x="4381500" y="2362200"/>
            <a:chExt cx="3429000" cy="1219200"/>
          </a:xfrm>
        </p:grpSpPr>
        <p:sp>
          <p:nvSpPr>
            <p:cNvPr id="11" name="item-0-1.container"/>
            <p:cNvSpPr/>
            <p:nvPr/>
          </p:nvSpPr>
          <p:spPr>
            <a:xfrm>
              <a:off x="4381500" y="2362200"/>
              <a:ext cx="3429000" cy="1219200"/>
            </a:xfrm>
            <a:prstGeom prst="rect">
              <a:avLst/>
            </a:prstGeom>
            <a:solidFill>
              <a:srgbClr val="E8EEF8"/>
            </a:solidFill>
            <a:ln>
              <a:noFill/>
            </a:ln>
          </p:spPr>
        </p:sp>
        <p:sp>
          <p:nvSpPr>
            <p:cNvPr id="12" name="item-0-1.edge"/>
            <p:cNvSpPr/>
            <p:nvPr/>
          </p:nvSpPr>
          <p:spPr>
            <a:xfrm>
              <a:off x="4381500" y="2362200"/>
              <a:ext cx="38100" cy="1219200"/>
            </a:xfrm>
            <a:prstGeom prst="rect">
              <a:avLst/>
            </a:prstGeom>
            <a:solidFill>
              <a:srgbClr val="0047FF"/>
            </a:solidFill>
            <a:ln>
              <a:noFill/>
            </a:ln>
          </p:spPr>
        </p:sp>
        <p:sp>
          <p:nvSpPr>
            <p:cNvPr id="13" name="item-0-1.body.item-0.paragraph"/>
            <p:cNvSpPr/>
            <p:nvPr/>
          </p:nvSpPr>
          <p:spPr>
            <a:xfrm>
              <a:off x="4533900" y="24765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Reuse the test-generation patterns already working in Reconcile AI where the stack allows.</a:t>
              </a:r>
              <a:endParaRPr lang="en-US" sz="1200" spc="0" kern="0" b="0" i="0" dirty="0">
                <a:solidFill>
                  <a:srgbClr val="50658E"/>
                </a:solidFill>
                <a:latin typeface="IBM Plex Sans"/>
                <a:ea typeface="IBM Plex Sans"/>
                <a:cs typeface="IBM Plex Sans"/>
              </a:endParaRPr>
            </a:p>
          </p:txBody>
        </p:sp>
      </p:grpSp>
      <p:grpSp>
        <p:nvGrpSpPr>
          <p:cNvPr id="38" name="item-0-2"/>
          <p:cNvGrpSpPr/>
          <p:nvPr/>
        </p:nvGrpSpPr>
        <p:grpSpPr>
          <a:xfrm>
            <a:off x="8039100" y="2362200"/>
            <a:ext cx="3429000" cy="1219200"/>
            <a:chOff x="8039100" y="2362200"/>
            <a:chExt cx="3429000" cy="1219200"/>
          </a:xfrm>
        </p:grpSpPr>
        <p:sp>
          <p:nvSpPr>
            <p:cNvPr id="14" name="item-0-2.container"/>
            <p:cNvSpPr/>
            <p:nvPr/>
          </p:nvSpPr>
          <p:spPr>
            <a:xfrm>
              <a:off x="8039100" y="2362200"/>
              <a:ext cx="3429000" cy="1219200"/>
            </a:xfrm>
            <a:prstGeom prst="rect">
              <a:avLst/>
            </a:prstGeom>
            <a:solidFill>
              <a:srgbClr val="E8EEF8"/>
            </a:solidFill>
            <a:ln>
              <a:noFill/>
            </a:ln>
          </p:spPr>
        </p:sp>
        <p:sp>
          <p:nvSpPr>
            <p:cNvPr id="15" name="item-0-2.edge"/>
            <p:cNvSpPr/>
            <p:nvPr/>
          </p:nvSpPr>
          <p:spPr>
            <a:xfrm>
              <a:off x="8039100" y="2362200"/>
              <a:ext cx="38100" cy="1219200"/>
            </a:xfrm>
            <a:prstGeom prst="rect">
              <a:avLst/>
            </a:prstGeom>
            <a:solidFill>
              <a:srgbClr val="0047FF"/>
            </a:solidFill>
            <a:ln>
              <a:noFill/>
            </a:ln>
          </p:spPr>
        </p:sp>
        <p:sp>
          <p:nvSpPr>
            <p:cNvPr id="16" name="item-0-2.body.item-0.paragraph"/>
            <p:cNvSpPr/>
            <p:nvPr/>
          </p:nvSpPr>
          <p:spPr>
            <a:xfrm>
              <a:off x="8191500" y="2476500"/>
              <a:ext cx="3162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Make automated regression evidence part of the release decision.</a:t>
              </a:r>
              <a:endParaRPr lang="en-US" sz="1200" spc="0" kern="0" b="0" i="0" dirty="0">
                <a:solidFill>
                  <a:srgbClr val="50658E"/>
                </a:solidFill>
                <a:latin typeface="IBM Plex Sans"/>
                <a:ea typeface="IBM Plex Sans"/>
                <a:cs typeface="IBM Plex Sans"/>
              </a:endParaRPr>
            </a:p>
          </p:txBody>
        </p:sp>
      </p:grpSp>
      <p:grpSp>
        <p:nvGrpSpPr>
          <p:cNvPr id="39" name="item-1-0"/>
          <p:cNvGrpSpPr/>
          <p:nvPr/>
        </p:nvGrpSpPr>
        <p:grpSpPr>
          <a:xfrm>
            <a:off x="723900" y="3962400"/>
            <a:ext cx="3429000" cy="1219200"/>
            <a:chOff x="723900" y="3962400"/>
            <a:chExt cx="3429000" cy="1219200"/>
          </a:xfrm>
        </p:grpSpPr>
        <p:sp>
          <p:nvSpPr>
            <p:cNvPr id="17" name="item-1-0.container"/>
            <p:cNvSpPr/>
            <p:nvPr/>
          </p:nvSpPr>
          <p:spPr>
            <a:xfrm>
              <a:off x="723900" y="3962400"/>
              <a:ext cx="3429000" cy="1219200"/>
            </a:xfrm>
            <a:prstGeom prst="rect">
              <a:avLst/>
            </a:prstGeom>
            <a:solidFill>
              <a:srgbClr val="E8EEF8"/>
            </a:solidFill>
            <a:ln>
              <a:noFill/>
            </a:ln>
          </p:spPr>
        </p:sp>
        <p:sp>
          <p:nvSpPr>
            <p:cNvPr id="18" name="item-1-0.edge"/>
            <p:cNvSpPr/>
            <p:nvPr/>
          </p:nvSpPr>
          <p:spPr>
            <a:xfrm>
              <a:off x="723900" y="3962400"/>
              <a:ext cx="38100" cy="1219200"/>
            </a:xfrm>
            <a:prstGeom prst="rect">
              <a:avLst/>
            </a:prstGeom>
            <a:solidFill>
              <a:srgbClr val="0047FF"/>
            </a:solidFill>
            <a:ln>
              <a:noFill/>
            </a:ln>
          </p:spPr>
        </p:sp>
        <p:sp>
          <p:nvSpPr>
            <p:cNvPr id="19" name="item-1-0.body.item-0.paragraph"/>
            <p:cNvSpPr/>
            <p:nvPr/>
          </p:nvSpPr>
          <p:spPr>
            <a:xfrm>
              <a:off x="876300" y="40767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Now (Core): map the highest-risk regression workflows and the manual effort each release consumes, using E1's root-cause categories.</a:t>
              </a:r>
              <a:endParaRPr lang="en-US" sz="1200" spc="0" kern="0" b="0" i="0" dirty="0">
                <a:solidFill>
                  <a:srgbClr val="50658E"/>
                </a:solidFill>
                <a:latin typeface="IBM Plex Sans"/>
                <a:ea typeface="IBM Plex Sans"/>
                <a:cs typeface="IBM Plex Sans"/>
              </a:endParaRPr>
            </a:p>
          </p:txBody>
        </p:sp>
      </p:grpSp>
      <p:grpSp>
        <p:nvGrpSpPr>
          <p:cNvPr id="40" name="item-1-1"/>
          <p:cNvGrpSpPr/>
          <p:nvPr/>
        </p:nvGrpSpPr>
        <p:grpSpPr>
          <a:xfrm>
            <a:off x="4381500" y="3962400"/>
            <a:ext cx="3429000" cy="1219200"/>
            <a:chOff x="4381500" y="3962400"/>
            <a:chExt cx="3429000" cy="1219200"/>
          </a:xfrm>
        </p:grpSpPr>
        <p:sp>
          <p:nvSpPr>
            <p:cNvPr id="20" name="item-1-1.container"/>
            <p:cNvSpPr/>
            <p:nvPr/>
          </p:nvSpPr>
          <p:spPr>
            <a:xfrm>
              <a:off x="4381500" y="3962400"/>
              <a:ext cx="3429000" cy="1219200"/>
            </a:xfrm>
            <a:prstGeom prst="rect">
              <a:avLst/>
            </a:prstGeom>
            <a:solidFill>
              <a:srgbClr val="E8EEF8"/>
            </a:solidFill>
            <a:ln>
              <a:noFill/>
            </a:ln>
          </p:spPr>
        </p:sp>
        <p:sp>
          <p:nvSpPr>
            <p:cNvPr id="21" name="item-1-1.edge"/>
            <p:cNvSpPr/>
            <p:nvPr/>
          </p:nvSpPr>
          <p:spPr>
            <a:xfrm>
              <a:off x="4381500" y="3962400"/>
              <a:ext cx="38100" cy="1219200"/>
            </a:xfrm>
            <a:prstGeom prst="rect">
              <a:avLst/>
            </a:prstGeom>
            <a:solidFill>
              <a:srgbClr val="0047FF"/>
            </a:solidFill>
            <a:ln>
              <a:noFill/>
            </a:ln>
          </p:spPr>
        </p:sp>
        <p:sp>
          <p:nvSpPr>
            <p:cNvPr id="22" name="item-1-1.body.item-0.paragraph"/>
            <p:cNvSpPr/>
            <p:nvPr/>
          </p:nvSpPr>
          <p:spPr>
            <a:xfrm>
              <a:off x="4533900" y="40767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Next: automate those workflows in Core and extend Recon's test patterns to Eligibility AI and Pay Connect.</a:t>
              </a:r>
              <a:endParaRPr lang="en-US" sz="1200" spc="0" kern="0" b="0" i="0" dirty="0">
                <a:solidFill>
                  <a:srgbClr val="50658E"/>
                </a:solidFill>
                <a:latin typeface="IBM Plex Sans"/>
                <a:ea typeface="IBM Plex Sans"/>
                <a:cs typeface="IBM Plex Sans"/>
              </a:endParaRPr>
            </a:p>
          </p:txBody>
        </p:sp>
      </p:grpSp>
      <p:grpSp>
        <p:nvGrpSpPr>
          <p:cNvPr id="41" name="item-1-2"/>
          <p:cNvGrpSpPr/>
          <p:nvPr/>
        </p:nvGrpSpPr>
        <p:grpSpPr>
          <a:xfrm>
            <a:off x="8039100" y="3962400"/>
            <a:ext cx="3429000" cy="1219200"/>
            <a:chOff x="8039100" y="3962400"/>
            <a:chExt cx="3429000" cy="1219200"/>
          </a:xfrm>
        </p:grpSpPr>
        <p:sp>
          <p:nvSpPr>
            <p:cNvPr id="23" name="item-1-2.container"/>
            <p:cNvSpPr/>
            <p:nvPr/>
          </p:nvSpPr>
          <p:spPr>
            <a:xfrm>
              <a:off x="8039100" y="3962400"/>
              <a:ext cx="3429000" cy="1219200"/>
            </a:xfrm>
            <a:prstGeom prst="rect">
              <a:avLst/>
            </a:prstGeom>
            <a:solidFill>
              <a:srgbClr val="E8EEF8"/>
            </a:solidFill>
            <a:ln>
              <a:noFill/>
            </a:ln>
          </p:spPr>
        </p:sp>
        <p:sp>
          <p:nvSpPr>
            <p:cNvPr id="24" name="item-1-2.edge"/>
            <p:cNvSpPr/>
            <p:nvPr/>
          </p:nvSpPr>
          <p:spPr>
            <a:xfrm>
              <a:off x="8039100" y="3962400"/>
              <a:ext cx="38100" cy="1219200"/>
            </a:xfrm>
            <a:prstGeom prst="rect">
              <a:avLst/>
            </a:prstGeom>
            <a:solidFill>
              <a:srgbClr val="0047FF"/>
            </a:solidFill>
            <a:ln>
              <a:noFill/>
            </a:ln>
          </p:spPr>
        </p:sp>
        <p:sp>
          <p:nvSpPr>
            <p:cNvPr id="25" name="item-1-2.body.item-0.paragraph"/>
            <p:cNvSpPr/>
            <p:nvPr/>
          </p:nvSpPr>
          <p:spPr>
            <a:xfrm>
              <a:off x="8191500" y="4076700"/>
              <a:ext cx="3162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Future: automated regression becomes a release entry criterion on every pod.</a:t>
              </a:r>
              <a:endParaRPr lang="en-US" sz="1200" spc="0" kern="0" b="0" i="0" dirty="0">
                <a:solidFill>
                  <a:srgbClr val="50658E"/>
                </a:solidFill>
                <a:latin typeface="IBM Plex Sans"/>
                <a:ea typeface="IBM Plex Sans"/>
                <a:cs typeface="IBM Plex Sans"/>
              </a:endParaRPr>
            </a:p>
          </p:txBody>
        </p:sp>
      </p:grpSp>
      <p:grpSp>
        <p:nvGrpSpPr>
          <p:cNvPr id="42" name="accountability"/>
          <p:cNvGrpSpPr/>
          <p:nvPr/>
        </p:nvGrpSpPr>
        <p:grpSpPr>
          <a:xfrm>
            <a:off x="723900" y="5334000"/>
            <a:ext cx="10744200" cy="609600"/>
            <a:chOff x="723900" y="5334000"/>
            <a:chExt cx="10744200" cy="609600"/>
          </a:xfrm>
        </p:grpSpPr>
        <p:sp>
          <p:nvSpPr>
            <p:cNvPr id="26" name="accountability.surface"/>
            <p:cNvSpPr/>
            <p:nvPr/>
          </p:nvSpPr>
          <p:spPr>
            <a:xfrm>
              <a:off x="723900" y="5334000"/>
              <a:ext cx="10744200" cy="609600"/>
            </a:xfrm>
            <a:prstGeom prst="rect">
              <a:avLst/>
            </a:prstGeom>
            <a:solidFill>
              <a:srgbClr val="E8EEF8"/>
            </a:solidFill>
            <a:ln>
              <a:noFill/>
            </a:ln>
          </p:spPr>
        </p:sp>
        <p:sp>
          <p:nvSpPr>
            <p:cNvPr id="27" name="accountability.text"/>
            <p:cNvSpPr/>
            <p:nvPr/>
          </p:nvSpPr>
          <p:spPr>
            <a:xfrm>
              <a:off x="876300" y="54102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Quality leadership + Engineering leads | Dependency: E1 root-cause data, QA capacity, test environments | Measure: automated coverage of high-risk workflows, escaped defects, and regression effort per release</a:t>
              </a:r>
              <a:endParaRPr lang="en-US" sz="1200" spc="0" kern="0" b="0" i="0" dirty="0">
                <a:solidFill>
                  <a:srgbClr val="070154"/>
                </a:solidFill>
                <a:latin typeface="IBM Plex Sans"/>
                <a:ea typeface="IBM Plex Sans"/>
                <a:cs typeface="IBM Plex Sans"/>
              </a:endParaRPr>
            </a:p>
          </p:txBody>
        </p:sp>
      </p:grpSp>
      <p:grpSp>
        <p:nvGrpSpPr>
          <p:cNvPr id="43" name="source-icon0"/>
          <p:cNvGrpSpPr/>
          <p:nvPr/>
        </p:nvGrpSpPr>
        <p:grpSpPr>
          <a:xfrm>
            <a:off x="11010900" y="2057400"/>
            <a:ext cx="228600" cy="228600"/>
            <a:chOff x="11010900" y="2057400"/>
            <a:chExt cx="228600" cy="228600"/>
          </a:xfrm>
        </p:grpSpPr>
        <p:pic>
          <p:nvPicPr>
            <p:cNvPr id="28" name="source-icon0.image" descr="Exact original DentalXChange asset ppt/media/image34.svg; project:source-image34; canonical SHA256=ef32c66970420be9aec3ad3ec20b39dfeb48d8957c86db1c32980ce8f6a59efa">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10900" y="2057400"/>
              <a:ext cx="228600" cy="228600"/>
            </a:xfrm>
            <a:prstGeom prst="rect">
              <a:avLst/>
            </a:prstGeom>
          </p:spPr>
        </p:pic>
      </p:grpSp>
      <p:grpSp>
        <p:nvGrpSpPr>
          <p:cNvPr id="44" name="source-icon1"/>
          <p:cNvGrpSpPr/>
          <p:nvPr/>
        </p:nvGrpSpPr>
        <p:grpSpPr>
          <a:xfrm>
            <a:off x="11010900" y="3657600"/>
            <a:ext cx="228600" cy="228600"/>
            <a:chOff x="11010900" y="3657600"/>
            <a:chExt cx="228600" cy="228600"/>
          </a:xfrm>
        </p:grpSpPr>
        <p:pic>
          <p:nvPicPr>
            <p:cNvPr id="29" name="source-icon1.image" descr="Exact original DentalXChange asset ppt/media/image35.svg; project:source-image35; canonical SHA256=6394c82d241a3903635cfcf6868122aa7ae8750ed0be93149d489971d0623cd0">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10900" y="3657600"/>
              <a:ext cx="228600" cy="228600"/>
            </a:xfrm>
            <a:prstGeom prst="rect">
              <a:avLst/>
            </a:prstGeom>
          </p:spPr>
        </p:pic>
      </p:grpSp>
      <p:grpSp>
        <p:nvGrpSpPr>
          <p:cNvPr id="45" name="authored-header"/>
          <p:cNvGrpSpPr/>
          <p:nvPr/>
        </p:nvGrpSpPr>
        <p:grpSpPr>
          <a:xfrm>
            <a:off x="723900" y="685800"/>
            <a:ext cx="9372600" cy="914400"/>
            <a:chOff x="723900" y="685800"/>
            <a:chExt cx="9372600" cy="914400"/>
          </a:xfrm>
        </p:grpSpPr>
        <p:sp>
          <p:nvSpPr>
            <p:cNvPr id="30"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Quality and test automation</a:t>
              </a:r>
              <a:endParaRPr lang="en-US" sz="3200" spc="-64" kern="0" b="0" i="0" dirty="0">
                <a:solidFill>
                  <a:srgbClr val="070154"/>
                </a:solidFill>
                <a:latin typeface="IBM Plex Sans SemiBold"/>
                <a:ea typeface="IBM Plex Sans SemiBold"/>
                <a:cs typeface="IBM Plex Sans SemiBold"/>
              </a:endParaRPr>
            </a:p>
          </p:txBody>
        </p:sp>
      </p:grpSp>
      <p:grpSp>
        <p:nvGrpSpPr>
          <p:cNvPr id="46" name="authored-eyebrow"/>
          <p:cNvGrpSpPr/>
          <p:nvPr/>
        </p:nvGrpSpPr>
        <p:grpSpPr>
          <a:xfrm>
            <a:off x="723900" y="457200"/>
            <a:ext cx="9372600" cy="228600"/>
            <a:chOff x="723900" y="457200"/>
            <a:chExt cx="9372600" cy="228600"/>
          </a:xfrm>
        </p:grpSpPr>
        <p:sp>
          <p:nvSpPr>
            <p:cNvPr id="31"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E2</a:t>
              </a:r>
              <a:endParaRPr lang="en-US" sz="1000" spc="80" kern="0" b="0" i="0" dirty="0">
                <a:solidFill>
                  <a:srgbClr val="0047FF"/>
                </a:solidFill>
                <a:latin typeface="IBM Plex Mono SemiBold"/>
                <a:ea typeface="IBM Plex Mono SemiBold"/>
                <a:cs typeface="IBM Plex Mono SemiBold"/>
              </a:endParaRPr>
            </a:p>
          </p:txBody>
        </p:sp>
      </p:grpSp>
      <p:grpSp>
        <p:nvGrpSpPr>
          <p:cNvPr id="47" name="client-brand"/>
          <p:cNvGrpSpPr/>
          <p:nvPr/>
        </p:nvGrpSpPr>
        <p:grpSpPr>
          <a:xfrm>
            <a:off x="10382250" y="457200"/>
            <a:ext cx="1028700" cy="457200"/>
            <a:chOff x="10382250" y="457200"/>
            <a:chExt cx="1028700" cy="457200"/>
          </a:xfrm>
        </p:grpSpPr>
        <p:pic>
          <p:nvPicPr>
            <p:cNvPr id="32" name="client-brand.image" descr="Exact original DentalXChange asset ppt/media/image31.png; project:source-image31; canonical SHA256=51385b7813333a7f4207d77364f6a318acc4d148486d489c8a87f115754c251f">    </p:cNvPr>
            <p:cNvPicPr>
              <a:picLocks noChangeAspect="1"/>
            </p:cNvPicPr>
            <p:nvPr/>
          </p:nvPicPr>
          <p:blipFill>
            <a:blip r:embed="rId5"/>
            <a:stretch>
              <a:fillRect/>
            </a:stretch>
          </p:blipFill>
          <p:spPr>
            <a:xfrm>
              <a:off x="10382250" y="457200"/>
              <a:ext cx="1028700" cy="457200"/>
            </a:xfrm>
            <a:prstGeom prst="rect">
              <a:avLst/>
            </a:prstGeom>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name="dxc-051">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51</a:t>
            </a:fld>
            <a:endParaRPr lang="en-US" sz="700" spc="0" kern="0" b="0" i="0" dirty="0">
              <a:solidFill>
                <a:srgbClr val="070154"/>
              </a:solidFill>
              <a:latin typeface="IBM Plex Mono SemiBold"/>
              <a:ea typeface="IBM Plex Mono SemiBold"/>
              <a:cs typeface="IBM Plex Mono SemiBold"/>
            </a:endParaRPr>
          </a:p>
        </p:txBody>
      </p:sp>
      <p:grpSp>
        <p:nvGrpSpPr>
          <p:cNvPr id="33"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Remove the waits for access and realistic data that slow both build and validation.</a:t>
              </a:r>
              <a:endParaRPr lang="en-US" sz="1200" spc="0" kern="0" b="0" i="0" dirty="0">
                <a:solidFill>
                  <a:srgbClr val="50658E"/>
                </a:solidFill>
                <a:latin typeface="IBM Plex Sans"/>
                <a:ea typeface="IBM Plex Sans"/>
                <a:cs typeface="IBM Plex Sans"/>
              </a:endParaRPr>
            </a:p>
          </p:txBody>
        </p:sp>
      </p:grpSp>
      <p:grpSp>
        <p:nvGrpSpPr>
          <p:cNvPr id="34" name="group-left"/>
          <p:cNvGrpSpPr/>
          <p:nvPr/>
        </p:nvGrpSpPr>
        <p:grpSpPr>
          <a:xfrm>
            <a:off x="723900" y="2057400"/>
            <a:ext cx="10744200" cy="228600"/>
            <a:chOff x="723900" y="2057400"/>
            <a:chExt cx="10744200" cy="228600"/>
          </a:xfrm>
        </p:grpSpPr>
        <p:sp>
          <p:nvSpPr>
            <p:cNvPr id="6" name="group-left.text"/>
            <p:cNvSpPr/>
            <p:nvPr/>
          </p:nvSpPr>
          <p:spPr>
            <a:xfrm>
              <a:off x="723900" y="2057400"/>
              <a:ext cx="107442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35" name="group-right"/>
          <p:cNvGrpSpPr/>
          <p:nvPr/>
        </p:nvGrpSpPr>
        <p:grpSpPr>
          <a:xfrm>
            <a:off x="723900" y="3657600"/>
            <a:ext cx="10744200" cy="228600"/>
            <a:chOff x="723900" y="3657600"/>
            <a:chExt cx="10744200" cy="228600"/>
          </a:xfrm>
        </p:grpSpPr>
        <p:sp>
          <p:nvSpPr>
            <p:cNvPr id="7" name="group-right.text"/>
            <p:cNvSpPr/>
            <p:nvPr/>
          </p:nvSpPr>
          <p:spPr>
            <a:xfrm>
              <a:off x="723900" y="3657600"/>
              <a:ext cx="107442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36" name="item-0-0"/>
          <p:cNvGrpSpPr/>
          <p:nvPr/>
        </p:nvGrpSpPr>
        <p:grpSpPr>
          <a:xfrm>
            <a:off x="723900" y="2362200"/>
            <a:ext cx="3429000" cy="1219200"/>
            <a:chOff x="723900" y="2362200"/>
            <a:chExt cx="3429000" cy="1219200"/>
          </a:xfrm>
        </p:grpSpPr>
        <p:sp>
          <p:nvSpPr>
            <p:cNvPr id="8" name="item-0-0.container"/>
            <p:cNvSpPr/>
            <p:nvPr/>
          </p:nvSpPr>
          <p:spPr>
            <a:xfrm>
              <a:off x="723900" y="2362200"/>
              <a:ext cx="3429000" cy="1219200"/>
            </a:xfrm>
            <a:prstGeom prst="rect">
              <a:avLst/>
            </a:prstGeom>
            <a:solidFill>
              <a:srgbClr val="E8EEF8"/>
            </a:solidFill>
            <a:ln>
              <a:noFill/>
            </a:ln>
          </p:spPr>
        </p:sp>
        <p:sp>
          <p:nvSpPr>
            <p:cNvPr id="9" name="item-0-0.edge"/>
            <p:cNvSpPr/>
            <p:nvPr/>
          </p:nvSpPr>
          <p:spPr>
            <a:xfrm>
              <a:off x="723900" y="2362200"/>
              <a:ext cx="38100" cy="1219200"/>
            </a:xfrm>
            <a:prstGeom prst="rect">
              <a:avLst/>
            </a:prstGeom>
            <a:solidFill>
              <a:srgbClr val="0047FF"/>
            </a:solidFill>
            <a:ln>
              <a:noFill/>
            </a:ln>
          </p:spPr>
        </p:sp>
        <p:sp>
          <p:nvSpPr>
            <p:cNvPr id="10" name="item-0-0.body.item-0.paragraph"/>
            <p:cNvSpPr/>
            <p:nvPr/>
          </p:nvSpPr>
          <p:spPr>
            <a:xfrm>
              <a:off x="876300" y="2476500"/>
              <a:ext cx="3162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Make access and test-data wait times visible, by team and by type of request.</a:t>
              </a:r>
              <a:endParaRPr lang="en-US" sz="1200" spc="0" kern="0" b="0" i="0" dirty="0">
                <a:solidFill>
                  <a:srgbClr val="50658E"/>
                </a:solidFill>
                <a:latin typeface="IBM Plex Sans"/>
                <a:ea typeface="IBM Plex Sans"/>
                <a:cs typeface="IBM Plex Sans"/>
              </a:endParaRPr>
            </a:p>
          </p:txBody>
        </p:sp>
      </p:grpSp>
      <p:grpSp>
        <p:nvGrpSpPr>
          <p:cNvPr id="37" name="item-0-1"/>
          <p:cNvGrpSpPr/>
          <p:nvPr/>
        </p:nvGrpSpPr>
        <p:grpSpPr>
          <a:xfrm>
            <a:off x="4381500" y="2362200"/>
            <a:ext cx="3429000" cy="1219200"/>
            <a:chOff x="4381500" y="2362200"/>
            <a:chExt cx="3429000" cy="1219200"/>
          </a:xfrm>
        </p:grpSpPr>
        <p:sp>
          <p:nvSpPr>
            <p:cNvPr id="11" name="item-0-1.container"/>
            <p:cNvSpPr/>
            <p:nvPr/>
          </p:nvSpPr>
          <p:spPr>
            <a:xfrm>
              <a:off x="4381500" y="2362200"/>
              <a:ext cx="3429000" cy="1219200"/>
            </a:xfrm>
            <a:prstGeom prst="rect">
              <a:avLst/>
            </a:prstGeom>
            <a:solidFill>
              <a:srgbClr val="E8EEF8"/>
            </a:solidFill>
            <a:ln>
              <a:noFill/>
            </a:ln>
          </p:spPr>
        </p:sp>
        <p:sp>
          <p:nvSpPr>
            <p:cNvPr id="12" name="item-0-1.edge"/>
            <p:cNvSpPr/>
            <p:nvPr/>
          </p:nvSpPr>
          <p:spPr>
            <a:xfrm>
              <a:off x="4381500" y="2362200"/>
              <a:ext cx="38100" cy="1219200"/>
            </a:xfrm>
            <a:prstGeom prst="rect">
              <a:avLst/>
            </a:prstGeom>
            <a:solidFill>
              <a:srgbClr val="0047FF"/>
            </a:solidFill>
            <a:ln>
              <a:noFill/>
            </a:ln>
          </p:spPr>
        </p:sp>
        <p:sp>
          <p:nvSpPr>
            <p:cNvPr id="13" name="item-0-1.body.item-0.paragraph"/>
            <p:cNvSpPr/>
            <p:nvPr/>
          </p:nvSpPr>
          <p:spPr>
            <a:xfrm>
              <a:off x="4533900" y="24765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Provide masked, production-like test data on a refresh cadence, within HIPAA and PHI rules.</a:t>
              </a:r>
              <a:endParaRPr lang="en-US" sz="1200" spc="0" kern="0" b="0" i="0" dirty="0">
                <a:solidFill>
                  <a:srgbClr val="50658E"/>
                </a:solidFill>
                <a:latin typeface="IBM Plex Sans"/>
                <a:ea typeface="IBM Plex Sans"/>
                <a:cs typeface="IBM Plex Sans"/>
              </a:endParaRPr>
            </a:p>
          </p:txBody>
        </p:sp>
      </p:grpSp>
      <p:grpSp>
        <p:nvGrpSpPr>
          <p:cNvPr id="38" name="item-0-2"/>
          <p:cNvGrpSpPr/>
          <p:nvPr/>
        </p:nvGrpSpPr>
        <p:grpSpPr>
          <a:xfrm>
            <a:off x="8039100" y="2362200"/>
            <a:ext cx="3429000" cy="1219200"/>
            <a:chOff x="8039100" y="2362200"/>
            <a:chExt cx="3429000" cy="1219200"/>
          </a:xfrm>
        </p:grpSpPr>
        <p:sp>
          <p:nvSpPr>
            <p:cNvPr id="14" name="item-0-2.container"/>
            <p:cNvSpPr/>
            <p:nvPr/>
          </p:nvSpPr>
          <p:spPr>
            <a:xfrm>
              <a:off x="8039100" y="2362200"/>
              <a:ext cx="3429000" cy="1219200"/>
            </a:xfrm>
            <a:prstGeom prst="rect">
              <a:avLst/>
            </a:prstGeom>
            <a:solidFill>
              <a:srgbClr val="E8EEF8"/>
            </a:solidFill>
            <a:ln>
              <a:noFill/>
            </a:ln>
          </p:spPr>
        </p:sp>
        <p:sp>
          <p:nvSpPr>
            <p:cNvPr id="15" name="item-0-2.edge"/>
            <p:cNvSpPr/>
            <p:nvPr/>
          </p:nvSpPr>
          <p:spPr>
            <a:xfrm>
              <a:off x="8039100" y="2362200"/>
              <a:ext cx="38100" cy="1219200"/>
            </a:xfrm>
            <a:prstGeom prst="rect">
              <a:avLst/>
            </a:prstGeom>
            <a:solidFill>
              <a:srgbClr val="0047FF"/>
            </a:solidFill>
            <a:ln>
              <a:noFill/>
            </a:ln>
          </p:spPr>
        </p:sp>
        <p:sp>
          <p:nvSpPr>
            <p:cNvPr id="16" name="item-0-2.body.item-0.paragraph"/>
            <p:cNvSpPr/>
            <p:nvPr/>
          </p:nvSpPr>
          <p:spPr>
            <a:xfrm>
              <a:off x="8191500" y="2476500"/>
              <a:ext cx="3162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Give engineers, including offshore teams, approved read-only access for diagnostics.</a:t>
              </a:r>
              <a:endParaRPr lang="en-US" sz="1200" spc="0" kern="0" b="0" i="0" dirty="0">
                <a:solidFill>
                  <a:srgbClr val="50658E"/>
                </a:solidFill>
                <a:latin typeface="IBM Plex Sans"/>
                <a:ea typeface="IBM Plex Sans"/>
                <a:cs typeface="IBM Plex Sans"/>
              </a:endParaRPr>
            </a:p>
          </p:txBody>
        </p:sp>
      </p:grpSp>
      <p:grpSp>
        <p:nvGrpSpPr>
          <p:cNvPr id="39" name="item-1-0"/>
          <p:cNvGrpSpPr/>
          <p:nvPr/>
        </p:nvGrpSpPr>
        <p:grpSpPr>
          <a:xfrm>
            <a:off x="723900" y="3962400"/>
            <a:ext cx="3429000" cy="1219200"/>
            <a:chOff x="723900" y="3962400"/>
            <a:chExt cx="3429000" cy="1219200"/>
          </a:xfrm>
        </p:grpSpPr>
        <p:sp>
          <p:nvSpPr>
            <p:cNvPr id="17" name="item-1-0.container"/>
            <p:cNvSpPr/>
            <p:nvPr/>
          </p:nvSpPr>
          <p:spPr>
            <a:xfrm>
              <a:off x="723900" y="3962400"/>
              <a:ext cx="3429000" cy="1219200"/>
            </a:xfrm>
            <a:prstGeom prst="rect">
              <a:avLst/>
            </a:prstGeom>
            <a:solidFill>
              <a:srgbClr val="E8EEF8"/>
            </a:solidFill>
            <a:ln>
              <a:noFill/>
            </a:ln>
          </p:spPr>
        </p:sp>
        <p:sp>
          <p:nvSpPr>
            <p:cNvPr id="18" name="item-1-0.edge"/>
            <p:cNvSpPr/>
            <p:nvPr/>
          </p:nvSpPr>
          <p:spPr>
            <a:xfrm>
              <a:off x="723900" y="3962400"/>
              <a:ext cx="38100" cy="1219200"/>
            </a:xfrm>
            <a:prstGeom prst="rect">
              <a:avLst/>
            </a:prstGeom>
            <a:solidFill>
              <a:srgbClr val="0047FF"/>
            </a:solidFill>
            <a:ln>
              <a:noFill/>
            </a:ln>
          </p:spPr>
        </p:sp>
        <p:sp>
          <p:nvSpPr>
            <p:cNvPr id="19" name="item-1-0.body.item-0.paragraph"/>
            <p:cNvSpPr/>
            <p:nvPr/>
          </p:nvSpPr>
          <p:spPr>
            <a:xfrm>
              <a:off x="876300" y="40767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Now (Reconcile AI and Rules Engine): log who waits for access and test data, for what, and for how long.</a:t>
              </a:r>
              <a:endParaRPr lang="en-US" sz="1200" spc="0" kern="0" b="0" i="0" dirty="0">
                <a:solidFill>
                  <a:srgbClr val="50658E"/>
                </a:solidFill>
                <a:latin typeface="IBM Plex Sans"/>
                <a:ea typeface="IBM Plex Sans"/>
                <a:cs typeface="IBM Plex Sans"/>
              </a:endParaRPr>
            </a:p>
          </p:txBody>
        </p:sp>
      </p:grpSp>
      <p:grpSp>
        <p:nvGrpSpPr>
          <p:cNvPr id="40" name="item-1-1"/>
          <p:cNvGrpSpPr/>
          <p:nvPr/>
        </p:nvGrpSpPr>
        <p:grpSpPr>
          <a:xfrm>
            <a:off x="4381500" y="3962400"/>
            <a:ext cx="3429000" cy="1219200"/>
            <a:chOff x="4381500" y="3962400"/>
            <a:chExt cx="3429000" cy="1219200"/>
          </a:xfrm>
        </p:grpSpPr>
        <p:sp>
          <p:nvSpPr>
            <p:cNvPr id="20" name="item-1-1.container"/>
            <p:cNvSpPr/>
            <p:nvPr/>
          </p:nvSpPr>
          <p:spPr>
            <a:xfrm>
              <a:off x="4381500" y="3962400"/>
              <a:ext cx="3429000" cy="1219200"/>
            </a:xfrm>
            <a:prstGeom prst="rect">
              <a:avLst/>
            </a:prstGeom>
            <a:solidFill>
              <a:srgbClr val="E8EEF8"/>
            </a:solidFill>
            <a:ln>
              <a:noFill/>
            </a:ln>
          </p:spPr>
        </p:sp>
        <p:sp>
          <p:nvSpPr>
            <p:cNvPr id="21" name="item-1-1.edge"/>
            <p:cNvSpPr/>
            <p:nvPr/>
          </p:nvSpPr>
          <p:spPr>
            <a:xfrm>
              <a:off x="4381500" y="3962400"/>
              <a:ext cx="38100" cy="1219200"/>
            </a:xfrm>
            <a:prstGeom prst="rect">
              <a:avLst/>
            </a:prstGeom>
            <a:solidFill>
              <a:srgbClr val="0047FF"/>
            </a:solidFill>
            <a:ln>
              <a:noFill/>
            </a:ln>
          </p:spPr>
        </p:sp>
        <p:sp>
          <p:nvSpPr>
            <p:cNvPr id="22" name="item-1-1.body.item-0.paragraph"/>
            <p:cNvSpPr/>
            <p:nvPr/>
          </p:nvSpPr>
          <p:spPr>
            <a:xfrm>
              <a:off x="4533900" y="4076700"/>
              <a:ext cx="3162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Next: masked, production-like data for Recon and a read-only diagnostic access path.</a:t>
              </a:r>
              <a:endParaRPr lang="en-US" sz="1200" spc="0" kern="0" b="0" i="0" dirty="0">
                <a:solidFill>
                  <a:srgbClr val="50658E"/>
                </a:solidFill>
                <a:latin typeface="IBM Plex Sans"/>
                <a:ea typeface="IBM Plex Sans"/>
                <a:cs typeface="IBM Plex Sans"/>
              </a:endParaRPr>
            </a:p>
          </p:txBody>
        </p:sp>
      </p:grpSp>
      <p:grpSp>
        <p:nvGrpSpPr>
          <p:cNvPr id="41" name="item-1-2"/>
          <p:cNvGrpSpPr/>
          <p:nvPr/>
        </p:nvGrpSpPr>
        <p:grpSpPr>
          <a:xfrm>
            <a:off x="8039100" y="3962400"/>
            <a:ext cx="3429000" cy="1219200"/>
            <a:chOff x="8039100" y="3962400"/>
            <a:chExt cx="3429000" cy="1219200"/>
          </a:xfrm>
        </p:grpSpPr>
        <p:sp>
          <p:nvSpPr>
            <p:cNvPr id="23" name="item-1-2.container"/>
            <p:cNvSpPr/>
            <p:nvPr/>
          </p:nvSpPr>
          <p:spPr>
            <a:xfrm>
              <a:off x="8039100" y="3962400"/>
              <a:ext cx="3429000" cy="1219200"/>
            </a:xfrm>
            <a:prstGeom prst="rect">
              <a:avLst/>
            </a:prstGeom>
            <a:solidFill>
              <a:srgbClr val="E8EEF8"/>
            </a:solidFill>
            <a:ln>
              <a:noFill/>
            </a:ln>
          </p:spPr>
        </p:sp>
        <p:sp>
          <p:nvSpPr>
            <p:cNvPr id="24" name="item-1-2.edge"/>
            <p:cNvSpPr/>
            <p:nvPr/>
          </p:nvSpPr>
          <p:spPr>
            <a:xfrm>
              <a:off x="8039100" y="3962400"/>
              <a:ext cx="38100" cy="1219200"/>
            </a:xfrm>
            <a:prstGeom prst="rect">
              <a:avLst/>
            </a:prstGeom>
            <a:solidFill>
              <a:srgbClr val="0047FF"/>
            </a:solidFill>
            <a:ln>
              <a:noFill/>
            </a:ln>
          </p:spPr>
        </p:sp>
        <p:sp>
          <p:nvSpPr>
            <p:cNvPr id="25" name="item-1-2.body.item-0.paragraph"/>
            <p:cNvSpPr/>
            <p:nvPr/>
          </p:nvSpPr>
          <p:spPr>
            <a:xfrm>
              <a:off x="8191500" y="4076700"/>
              <a:ext cx="3162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Future: self-service environments and access provisioning on every pod.</a:t>
              </a:r>
              <a:endParaRPr lang="en-US" sz="1200" spc="0" kern="0" b="0" i="0" dirty="0">
                <a:solidFill>
                  <a:srgbClr val="50658E"/>
                </a:solidFill>
                <a:latin typeface="IBM Plex Sans"/>
                <a:ea typeface="IBM Plex Sans"/>
                <a:cs typeface="IBM Plex Sans"/>
              </a:endParaRPr>
            </a:p>
          </p:txBody>
        </p:sp>
      </p:grpSp>
      <p:grpSp>
        <p:nvGrpSpPr>
          <p:cNvPr id="42" name="accountability"/>
          <p:cNvGrpSpPr/>
          <p:nvPr/>
        </p:nvGrpSpPr>
        <p:grpSpPr>
          <a:xfrm>
            <a:off x="723900" y="5334000"/>
            <a:ext cx="10744200" cy="609600"/>
            <a:chOff x="723900" y="5334000"/>
            <a:chExt cx="10744200" cy="609600"/>
          </a:xfrm>
        </p:grpSpPr>
        <p:sp>
          <p:nvSpPr>
            <p:cNvPr id="26" name="accountability.surface"/>
            <p:cNvSpPr/>
            <p:nvPr/>
          </p:nvSpPr>
          <p:spPr>
            <a:xfrm>
              <a:off x="723900" y="5334000"/>
              <a:ext cx="10744200" cy="609600"/>
            </a:xfrm>
            <a:prstGeom prst="rect">
              <a:avLst/>
            </a:prstGeom>
            <a:solidFill>
              <a:srgbClr val="E8EEF8"/>
            </a:solidFill>
            <a:ln>
              <a:noFill/>
            </a:ln>
          </p:spPr>
        </p:sp>
        <p:sp>
          <p:nvSpPr>
            <p:cNvPr id="27" name="accountability.text"/>
            <p:cNvSpPr/>
            <p:nvPr/>
          </p:nvSpPr>
          <p:spPr>
            <a:xfrm>
              <a:off x="876300" y="54102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DevOps/Infrastructure + Security | Dependency: data masking approach, security review, environment capacity | Measure: wait time for access and test data</a:t>
              </a:r>
              <a:endParaRPr lang="en-US" sz="1200" spc="0" kern="0" b="0" i="0" dirty="0">
                <a:solidFill>
                  <a:srgbClr val="070154"/>
                </a:solidFill>
                <a:latin typeface="IBM Plex Sans"/>
                <a:ea typeface="IBM Plex Sans"/>
                <a:cs typeface="IBM Plex Sans"/>
              </a:endParaRPr>
            </a:p>
          </p:txBody>
        </p:sp>
      </p:grpSp>
      <p:grpSp>
        <p:nvGrpSpPr>
          <p:cNvPr id="43" name="source-icon0"/>
          <p:cNvGrpSpPr/>
          <p:nvPr/>
        </p:nvGrpSpPr>
        <p:grpSpPr>
          <a:xfrm>
            <a:off x="11010900" y="2057400"/>
            <a:ext cx="228600" cy="228600"/>
            <a:chOff x="11010900" y="2057400"/>
            <a:chExt cx="228600" cy="228600"/>
          </a:xfrm>
        </p:grpSpPr>
        <p:pic>
          <p:nvPicPr>
            <p:cNvPr id="28" name="source-icon0.image" descr="Exact original DentalXChange asset ppt/media/image34.svg; project:source-image34; canonical SHA256=ef32c66970420be9aec3ad3ec20b39dfeb48d8957c86db1c32980ce8f6a59efa">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10900" y="2057400"/>
              <a:ext cx="228600" cy="228600"/>
            </a:xfrm>
            <a:prstGeom prst="rect">
              <a:avLst/>
            </a:prstGeom>
          </p:spPr>
        </p:pic>
      </p:grpSp>
      <p:grpSp>
        <p:nvGrpSpPr>
          <p:cNvPr id="44" name="source-icon1"/>
          <p:cNvGrpSpPr/>
          <p:nvPr/>
        </p:nvGrpSpPr>
        <p:grpSpPr>
          <a:xfrm>
            <a:off x="11010900" y="3657600"/>
            <a:ext cx="228600" cy="228600"/>
            <a:chOff x="11010900" y="3657600"/>
            <a:chExt cx="228600" cy="228600"/>
          </a:xfrm>
        </p:grpSpPr>
        <p:pic>
          <p:nvPicPr>
            <p:cNvPr id="29" name="source-icon1.image" descr="Exact original DentalXChange asset ppt/media/image35.svg; project:source-image35; canonical SHA256=6394c82d241a3903635cfcf6868122aa7ae8750ed0be93149d489971d0623cd0">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10900" y="3657600"/>
              <a:ext cx="228600" cy="228600"/>
            </a:xfrm>
            <a:prstGeom prst="rect">
              <a:avLst/>
            </a:prstGeom>
          </p:spPr>
        </p:pic>
      </p:grpSp>
      <p:grpSp>
        <p:nvGrpSpPr>
          <p:cNvPr id="45" name="authored-header"/>
          <p:cNvGrpSpPr/>
          <p:nvPr/>
        </p:nvGrpSpPr>
        <p:grpSpPr>
          <a:xfrm>
            <a:off x="723900" y="685800"/>
            <a:ext cx="9372600" cy="914400"/>
            <a:chOff x="723900" y="685800"/>
            <a:chExt cx="9372600" cy="914400"/>
          </a:xfrm>
        </p:grpSpPr>
        <p:sp>
          <p:nvSpPr>
            <p:cNvPr id="30"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Environments, access, and test data</a:t>
              </a:r>
              <a:endParaRPr lang="en-US" sz="3200" spc="-64" kern="0" b="0" i="0" dirty="0">
                <a:solidFill>
                  <a:srgbClr val="070154"/>
                </a:solidFill>
                <a:latin typeface="IBM Plex Sans SemiBold"/>
                <a:ea typeface="IBM Plex Sans SemiBold"/>
                <a:cs typeface="IBM Plex Sans SemiBold"/>
              </a:endParaRPr>
            </a:p>
          </p:txBody>
        </p:sp>
      </p:grpSp>
      <p:grpSp>
        <p:nvGrpSpPr>
          <p:cNvPr id="46" name="authored-eyebrow"/>
          <p:cNvGrpSpPr/>
          <p:nvPr/>
        </p:nvGrpSpPr>
        <p:grpSpPr>
          <a:xfrm>
            <a:off x="723900" y="457200"/>
            <a:ext cx="9372600" cy="228600"/>
            <a:chOff x="723900" y="457200"/>
            <a:chExt cx="9372600" cy="228600"/>
          </a:xfrm>
        </p:grpSpPr>
        <p:sp>
          <p:nvSpPr>
            <p:cNvPr id="31"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E3</a:t>
              </a:r>
              <a:endParaRPr lang="en-US" sz="1000" spc="80" kern="0" b="0" i="0" dirty="0">
                <a:solidFill>
                  <a:srgbClr val="0047FF"/>
                </a:solidFill>
                <a:latin typeface="IBM Plex Mono SemiBold"/>
                <a:ea typeface="IBM Plex Mono SemiBold"/>
                <a:cs typeface="IBM Plex Mono SemiBold"/>
              </a:endParaRPr>
            </a:p>
          </p:txBody>
        </p:sp>
      </p:grpSp>
      <p:grpSp>
        <p:nvGrpSpPr>
          <p:cNvPr id="47" name="client-brand"/>
          <p:cNvGrpSpPr/>
          <p:nvPr/>
        </p:nvGrpSpPr>
        <p:grpSpPr>
          <a:xfrm>
            <a:off x="10382250" y="457200"/>
            <a:ext cx="1028700" cy="457200"/>
            <a:chOff x="10382250" y="457200"/>
            <a:chExt cx="1028700" cy="457200"/>
          </a:xfrm>
        </p:grpSpPr>
        <p:pic>
          <p:nvPicPr>
            <p:cNvPr id="32" name="client-brand.image" descr="Exact original DentalXChange asset ppt/media/image31.png; project:source-image31; canonical SHA256=51385b7813333a7f4207d77364f6a318acc4d148486d489c8a87f115754c251f">    </p:cNvPr>
            <p:cNvPicPr>
              <a:picLocks noChangeAspect="1"/>
            </p:cNvPicPr>
            <p:nvPr/>
          </p:nvPicPr>
          <p:blipFill>
            <a:blip r:embed="rId5"/>
            <a:stretch>
              <a:fillRect/>
            </a:stretch>
          </p:blipFill>
          <p:spPr>
            <a:xfrm>
              <a:off x="10382250" y="457200"/>
              <a:ext cx="1028700" cy="457200"/>
            </a:xfrm>
            <a:prstGeom prst="rect">
              <a:avLst/>
            </a:prstGeom>
          </p:spPr>
        </p:pic>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name="dxc-052">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52</a:t>
            </a:fld>
            <a:endParaRPr lang="en-US" sz="700" spc="0" kern="0" b="0" i="0" dirty="0">
              <a:solidFill>
                <a:srgbClr val="070154"/>
              </a:solidFill>
              <a:latin typeface="IBM Plex Mono SemiBold"/>
              <a:ea typeface="IBM Plex Mono SemiBold"/>
              <a:cs typeface="IBM Plex Mono SemiBold"/>
            </a:endParaRPr>
          </a:p>
        </p:txBody>
      </p:sp>
      <p:grpSp>
        <p:nvGrpSpPr>
          <p:cNvPr id="33" name="subtitle"/>
          <p:cNvGrpSpPr/>
          <p:nvPr/>
        </p:nvGrpSpPr>
        <p:grpSpPr>
          <a:xfrm>
            <a:off x="723900" y="1600200"/>
            <a:ext cx="10744200" cy="381000"/>
            <a:chOff x="723900" y="1600200"/>
            <a:chExt cx="10744200" cy="381000"/>
          </a:xfrm>
        </p:grpSpPr>
        <p:sp>
          <p:nvSpPr>
            <p:cNvPr id="5" name="subtitle.text"/>
            <p:cNvSpPr/>
            <p:nvPr/>
          </p:nvSpPr>
          <p:spPr>
            <a:xfrm>
              <a:off x="723900" y="1600200"/>
              <a:ext cx="10744200" cy="381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See how work moves from commit to production, across internal and vendor teams.</a:t>
              </a:r>
              <a:endParaRPr lang="en-US" sz="1200" spc="0" kern="0" b="0" i="0" dirty="0">
                <a:solidFill>
                  <a:srgbClr val="50658E"/>
                </a:solidFill>
                <a:latin typeface="IBM Plex Sans"/>
                <a:ea typeface="IBM Plex Sans"/>
                <a:cs typeface="IBM Plex Sans"/>
              </a:endParaRPr>
            </a:p>
          </p:txBody>
        </p:sp>
      </p:grpSp>
      <p:grpSp>
        <p:nvGrpSpPr>
          <p:cNvPr id="34" name="group-left"/>
          <p:cNvGrpSpPr/>
          <p:nvPr/>
        </p:nvGrpSpPr>
        <p:grpSpPr>
          <a:xfrm>
            <a:off x="723900" y="2057400"/>
            <a:ext cx="10744200" cy="228600"/>
            <a:chOff x="723900" y="2057400"/>
            <a:chExt cx="10744200" cy="228600"/>
          </a:xfrm>
        </p:grpSpPr>
        <p:sp>
          <p:nvSpPr>
            <p:cNvPr id="6" name="group-left.text"/>
            <p:cNvSpPr/>
            <p:nvPr/>
          </p:nvSpPr>
          <p:spPr>
            <a:xfrm>
              <a:off x="723900" y="2057400"/>
              <a:ext cx="107442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WHAT SHOULD BE DONE</a:t>
              </a:r>
              <a:endParaRPr lang="en-US" sz="1000" spc="80" kern="0" b="0" i="0" dirty="0">
                <a:solidFill>
                  <a:srgbClr val="0047FF"/>
                </a:solidFill>
                <a:latin typeface="IBM Plex Mono SemiBold"/>
                <a:ea typeface="IBM Plex Mono SemiBold"/>
                <a:cs typeface="IBM Plex Mono SemiBold"/>
              </a:endParaRPr>
            </a:p>
          </p:txBody>
        </p:sp>
      </p:grpSp>
      <p:grpSp>
        <p:nvGrpSpPr>
          <p:cNvPr id="35" name="group-right"/>
          <p:cNvGrpSpPr/>
          <p:nvPr/>
        </p:nvGrpSpPr>
        <p:grpSpPr>
          <a:xfrm>
            <a:off x="723900" y="3657600"/>
            <a:ext cx="10744200" cy="228600"/>
            <a:chOff x="723900" y="3657600"/>
            <a:chExt cx="10744200" cy="228600"/>
          </a:xfrm>
        </p:grpSpPr>
        <p:sp>
          <p:nvSpPr>
            <p:cNvPr id="7" name="group-right.text"/>
            <p:cNvSpPr/>
            <p:nvPr/>
          </p:nvSpPr>
          <p:spPr>
            <a:xfrm>
              <a:off x="723900" y="3657600"/>
              <a:ext cx="107442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HOW TO ACTIVATE IT</a:t>
              </a:r>
              <a:endParaRPr lang="en-US" sz="1000" spc="80" kern="0" b="0" i="0" dirty="0">
                <a:solidFill>
                  <a:srgbClr val="0047FF"/>
                </a:solidFill>
                <a:latin typeface="IBM Plex Mono SemiBold"/>
                <a:ea typeface="IBM Plex Mono SemiBold"/>
                <a:cs typeface="IBM Plex Mono SemiBold"/>
              </a:endParaRPr>
            </a:p>
          </p:txBody>
        </p:sp>
      </p:grpSp>
      <p:grpSp>
        <p:nvGrpSpPr>
          <p:cNvPr id="36" name="item-0-0"/>
          <p:cNvGrpSpPr/>
          <p:nvPr/>
        </p:nvGrpSpPr>
        <p:grpSpPr>
          <a:xfrm>
            <a:off x="723900" y="2362200"/>
            <a:ext cx="3429000" cy="1219200"/>
            <a:chOff x="723900" y="2362200"/>
            <a:chExt cx="3429000" cy="1219200"/>
          </a:xfrm>
        </p:grpSpPr>
        <p:sp>
          <p:nvSpPr>
            <p:cNvPr id="8" name="item-0-0.container"/>
            <p:cNvSpPr/>
            <p:nvPr/>
          </p:nvSpPr>
          <p:spPr>
            <a:xfrm>
              <a:off x="723900" y="2362200"/>
              <a:ext cx="3429000" cy="1219200"/>
            </a:xfrm>
            <a:prstGeom prst="rect">
              <a:avLst/>
            </a:prstGeom>
            <a:solidFill>
              <a:srgbClr val="E8EEF8"/>
            </a:solidFill>
            <a:ln>
              <a:noFill/>
            </a:ln>
          </p:spPr>
        </p:sp>
        <p:sp>
          <p:nvSpPr>
            <p:cNvPr id="9" name="item-0-0.edge"/>
            <p:cNvSpPr/>
            <p:nvPr/>
          </p:nvSpPr>
          <p:spPr>
            <a:xfrm>
              <a:off x="723900" y="2362200"/>
              <a:ext cx="38100" cy="1219200"/>
            </a:xfrm>
            <a:prstGeom prst="rect">
              <a:avLst/>
            </a:prstGeom>
            <a:solidFill>
              <a:srgbClr val="0047FF"/>
            </a:solidFill>
            <a:ln>
              <a:noFill/>
            </a:ln>
          </p:spPr>
        </p:sp>
        <p:sp>
          <p:nvSpPr>
            <p:cNvPr id="10" name="item-0-0.body.item-0.paragraph"/>
            <p:cNvSpPr/>
            <p:nvPr/>
          </p:nvSpPr>
          <p:spPr>
            <a:xfrm>
              <a:off x="876300" y="24765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Agree a small set of release and flow measures that every platform reports the same way.</a:t>
              </a:r>
              <a:endParaRPr lang="en-US" sz="1200" spc="0" kern="0" b="0" i="0" dirty="0">
                <a:solidFill>
                  <a:srgbClr val="50658E"/>
                </a:solidFill>
                <a:latin typeface="IBM Plex Sans"/>
                <a:ea typeface="IBM Plex Sans"/>
                <a:cs typeface="IBM Plex Sans"/>
              </a:endParaRPr>
            </a:p>
          </p:txBody>
        </p:sp>
      </p:grpSp>
      <p:grpSp>
        <p:nvGrpSpPr>
          <p:cNvPr id="37" name="item-0-1"/>
          <p:cNvGrpSpPr/>
          <p:nvPr/>
        </p:nvGrpSpPr>
        <p:grpSpPr>
          <a:xfrm>
            <a:off x="4381500" y="2362200"/>
            <a:ext cx="3429000" cy="1219200"/>
            <a:chOff x="4381500" y="2362200"/>
            <a:chExt cx="3429000" cy="1219200"/>
          </a:xfrm>
        </p:grpSpPr>
        <p:sp>
          <p:nvSpPr>
            <p:cNvPr id="11" name="item-0-1.container"/>
            <p:cNvSpPr/>
            <p:nvPr/>
          </p:nvSpPr>
          <p:spPr>
            <a:xfrm>
              <a:off x="4381500" y="2362200"/>
              <a:ext cx="3429000" cy="1219200"/>
            </a:xfrm>
            <a:prstGeom prst="rect">
              <a:avLst/>
            </a:prstGeom>
            <a:solidFill>
              <a:srgbClr val="E8EEF8"/>
            </a:solidFill>
            <a:ln>
              <a:noFill/>
            </a:ln>
          </p:spPr>
        </p:sp>
        <p:sp>
          <p:nvSpPr>
            <p:cNvPr id="12" name="item-0-1.edge"/>
            <p:cNvSpPr/>
            <p:nvPr/>
          </p:nvSpPr>
          <p:spPr>
            <a:xfrm>
              <a:off x="4381500" y="2362200"/>
              <a:ext cx="38100" cy="1219200"/>
            </a:xfrm>
            <a:prstGeom prst="rect">
              <a:avLst/>
            </a:prstGeom>
            <a:solidFill>
              <a:srgbClr val="0047FF"/>
            </a:solidFill>
            <a:ln>
              <a:noFill/>
            </a:ln>
          </p:spPr>
        </p:sp>
        <p:sp>
          <p:nvSpPr>
            <p:cNvPr id="13" name="item-0-1.body.item-0.paragraph"/>
            <p:cNvSpPr/>
            <p:nvPr/>
          </p:nvSpPr>
          <p:spPr>
            <a:xfrm>
              <a:off x="4533900" y="2476500"/>
              <a:ext cx="3162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Build them from data that already exists: the release calendar and Jira.</a:t>
              </a:r>
              <a:endParaRPr lang="en-US" sz="1200" spc="0" kern="0" b="0" i="0" dirty="0">
                <a:solidFill>
                  <a:srgbClr val="50658E"/>
                </a:solidFill>
                <a:latin typeface="IBM Plex Sans"/>
                <a:ea typeface="IBM Plex Sans"/>
                <a:cs typeface="IBM Plex Sans"/>
              </a:endParaRPr>
            </a:p>
          </p:txBody>
        </p:sp>
      </p:grpSp>
      <p:grpSp>
        <p:nvGrpSpPr>
          <p:cNvPr id="38" name="item-0-2"/>
          <p:cNvGrpSpPr/>
          <p:nvPr/>
        </p:nvGrpSpPr>
        <p:grpSpPr>
          <a:xfrm>
            <a:off x="8039100" y="2362200"/>
            <a:ext cx="3429000" cy="1219200"/>
            <a:chOff x="8039100" y="2362200"/>
            <a:chExt cx="3429000" cy="1219200"/>
          </a:xfrm>
        </p:grpSpPr>
        <p:sp>
          <p:nvSpPr>
            <p:cNvPr id="14" name="item-0-2.container"/>
            <p:cNvSpPr/>
            <p:nvPr/>
          </p:nvSpPr>
          <p:spPr>
            <a:xfrm>
              <a:off x="8039100" y="2362200"/>
              <a:ext cx="3429000" cy="1219200"/>
            </a:xfrm>
            <a:prstGeom prst="rect">
              <a:avLst/>
            </a:prstGeom>
            <a:solidFill>
              <a:srgbClr val="E8EEF8"/>
            </a:solidFill>
            <a:ln>
              <a:noFill/>
            </a:ln>
          </p:spPr>
        </p:sp>
        <p:sp>
          <p:nvSpPr>
            <p:cNvPr id="15" name="item-0-2.edge"/>
            <p:cNvSpPr/>
            <p:nvPr/>
          </p:nvSpPr>
          <p:spPr>
            <a:xfrm>
              <a:off x="8039100" y="2362200"/>
              <a:ext cx="38100" cy="1219200"/>
            </a:xfrm>
            <a:prstGeom prst="rect">
              <a:avLst/>
            </a:prstGeom>
            <a:solidFill>
              <a:srgbClr val="0047FF"/>
            </a:solidFill>
            <a:ln>
              <a:noFill/>
            </a:ln>
          </p:spPr>
        </p:sp>
        <p:sp>
          <p:nvSpPr>
            <p:cNvPr id="16" name="item-0-2.body.item-0.paragraph"/>
            <p:cNvSpPr/>
            <p:nvPr/>
          </p:nvSpPr>
          <p:spPr>
            <a:xfrm>
              <a:off x="8191500" y="24765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Include the offshore vendor team in the same view, measured on delivery rather than headcount.</a:t>
              </a:r>
              <a:endParaRPr lang="en-US" sz="1200" spc="0" kern="0" b="0" i="0" dirty="0">
                <a:solidFill>
                  <a:srgbClr val="50658E"/>
                </a:solidFill>
                <a:latin typeface="IBM Plex Sans"/>
                <a:ea typeface="IBM Plex Sans"/>
                <a:cs typeface="IBM Plex Sans"/>
              </a:endParaRPr>
            </a:p>
          </p:txBody>
        </p:sp>
      </p:grpSp>
      <p:grpSp>
        <p:nvGrpSpPr>
          <p:cNvPr id="39" name="item-1-0"/>
          <p:cNvGrpSpPr/>
          <p:nvPr/>
        </p:nvGrpSpPr>
        <p:grpSpPr>
          <a:xfrm>
            <a:off x="723900" y="3962400"/>
            <a:ext cx="3429000" cy="1219200"/>
            <a:chOff x="723900" y="3962400"/>
            <a:chExt cx="3429000" cy="1219200"/>
          </a:xfrm>
        </p:grpSpPr>
        <p:sp>
          <p:nvSpPr>
            <p:cNvPr id="17" name="item-1-0.container"/>
            <p:cNvSpPr/>
            <p:nvPr/>
          </p:nvSpPr>
          <p:spPr>
            <a:xfrm>
              <a:off x="723900" y="3962400"/>
              <a:ext cx="3429000" cy="1219200"/>
            </a:xfrm>
            <a:prstGeom prst="rect">
              <a:avLst/>
            </a:prstGeom>
            <a:solidFill>
              <a:srgbClr val="E8EEF8"/>
            </a:solidFill>
            <a:ln>
              <a:noFill/>
            </a:ln>
          </p:spPr>
        </p:sp>
        <p:sp>
          <p:nvSpPr>
            <p:cNvPr id="18" name="item-1-0.edge"/>
            <p:cNvSpPr/>
            <p:nvPr/>
          </p:nvSpPr>
          <p:spPr>
            <a:xfrm>
              <a:off x="723900" y="3962400"/>
              <a:ext cx="38100" cy="1219200"/>
            </a:xfrm>
            <a:prstGeom prst="rect">
              <a:avLst/>
            </a:prstGeom>
            <a:solidFill>
              <a:srgbClr val="0047FF"/>
            </a:solidFill>
            <a:ln>
              <a:noFill/>
            </a:ln>
          </p:spPr>
        </p:sp>
        <p:sp>
          <p:nvSpPr>
            <p:cNvPr id="19" name="item-1-0.body.item-0.paragraph"/>
            <p:cNvSpPr/>
            <p:nvPr/>
          </p:nvSpPr>
          <p:spPr>
            <a:xfrm>
              <a:off x="876300" y="4076700"/>
              <a:ext cx="3162300" cy="685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Now (Core and Reconcile AI): baseline release frequency, lead time, change failure rate, and time to restore.</a:t>
              </a:r>
              <a:endParaRPr lang="en-US" sz="1200" spc="0" kern="0" b="0" i="0" dirty="0">
                <a:solidFill>
                  <a:srgbClr val="50658E"/>
                </a:solidFill>
                <a:latin typeface="IBM Plex Sans"/>
                <a:ea typeface="IBM Plex Sans"/>
                <a:cs typeface="IBM Plex Sans"/>
              </a:endParaRPr>
            </a:p>
          </p:txBody>
        </p:sp>
      </p:grpSp>
      <p:grpSp>
        <p:nvGrpSpPr>
          <p:cNvPr id="40" name="item-1-1"/>
          <p:cNvGrpSpPr/>
          <p:nvPr/>
        </p:nvGrpSpPr>
        <p:grpSpPr>
          <a:xfrm>
            <a:off x="4381500" y="3962400"/>
            <a:ext cx="3429000" cy="1219200"/>
            <a:chOff x="4381500" y="3962400"/>
            <a:chExt cx="3429000" cy="1219200"/>
          </a:xfrm>
        </p:grpSpPr>
        <p:sp>
          <p:nvSpPr>
            <p:cNvPr id="20" name="item-1-1.container"/>
            <p:cNvSpPr/>
            <p:nvPr/>
          </p:nvSpPr>
          <p:spPr>
            <a:xfrm>
              <a:off x="4381500" y="3962400"/>
              <a:ext cx="3429000" cy="1219200"/>
            </a:xfrm>
            <a:prstGeom prst="rect">
              <a:avLst/>
            </a:prstGeom>
            <a:solidFill>
              <a:srgbClr val="E8EEF8"/>
            </a:solidFill>
            <a:ln>
              <a:noFill/>
            </a:ln>
          </p:spPr>
        </p:sp>
        <p:sp>
          <p:nvSpPr>
            <p:cNvPr id="21" name="item-1-1.edge"/>
            <p:cNvSpPr/>
            <p:nvPr/>
          </p:nvSpPr>
          <p:spPr>
            <a:xfrm>
              <a:off x="4381500" y="3962400"/>
              <a:ext cx="38100" cy="1219200"/>
            </a:xfrm>
            <a:prstGeom prst="rect">
              <a:avLst/>
            </a:prstGeom>
            <a:solidFill>
              <a:srgbClr val="0047FF"/>
            </a:solidFill>
            <a:ln>
              <a:noFill/>
            </a:ln>
          </p:spPr>
        </p:sp>
        <p:sp>
          <p:nvSpPr>
            <p:cNvPr id="22" name="item-1-1.body.item-0.paragraph"/>
            <p:cNvSpPr/>
            <p:nvPr/>
          </p:nvSpPr>
          <p:spPr>
            <a:xfrm>
              <a:off x="4533900" y="4076700"/>
              <a:ext cx="3162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Next: turn on Recon's proposed flow metrics and publish one monthly delivery view.</a:t>
              </a:r>
              <a:endParaRPr lang="en-US" sz="1200" spc="0" kern="0" b="0" i="0" dirty="0">
                <a:solidFill>
                  <a:srgbClr val="50658E"/>
                </a:solidFill>
                <a:latin typeface="IBM Plex Sans"/>
                <a:ea typeface="IBM Plex Sans"/>
                <a:cs typeface="IBM Plex Sans"/>
              </a:endParaRPr>
            </a:p>
          </p:txBody>
        </p:sp>
      </p:grpSp>
      <p:grpSp>
        <p:nvGrpSpPr>
          <p:cNvPr id="41" name="item-1-2"/>
          <p:cNvGrpSpPr/>
          <p:nvPr/>
        </p:nvGrpSpPr>
        <p:grpSpPr>
          <a:xfrm>
            <a:off x="8039100" y="3962400"/>
            <a:ext cx="3429000" cy="1219200"/>
            <a:chOff x="8039100" y="3962400"/>
            <a:chExt cx="3429000" cy="1219200"/>
          </a:xfrm>
        </p:grpSpPr>
        <p:sp>
          <p:nvSpPr>
            <p:cNvPr id="23" name="item-1-2.container"/>
            <p:cNvSpPr/>
            <p:nvPr/>
          </p:nvSpPr>
          <p:spPr>
            <a:xfrm>
              <a:off x="8039100" y="3962400"/>
              <a:ext cx="3429000" cy="1219200"/>
            </a:xfrm>
            <a:prstGeom prst="rect">
              <a:avLst/>
            </a:prstGeom>
            <a:solidFill>
              <a:srgbClr val="E8EEF8"/>
            </a:solidFill>
            <a:ln>
              <a:noFill/>
            </a:ln>
          </p:spPr>
        </p:sp>
        <p:sp>
          <p:nvSpPr>
            <p:cNvPr id="24" name="item-1-2.edge"/>
            <p:cNvSpPr/>
            <p:nvPr/>
          </p:nvSpPr>
          <p:spPr>
            <a:xfrm>
              <a:off x="8039100" y="3962400"/>
              <a:ext cx="38100" cy="1219200"/>
            </a:xfrm>
            <a:prstGeom prst="rect">
              <a:avLst/>
            </a:prstGeom>
            <a:solidFill>
              <a:srgbClr val="0047FF"/>
            </a:solidFill>
            <a:ln>
              <a:noFill/>
            </a:ln>
          </p:spPr>
        </p:sp>
        <p:sp>
          <p:nvSpPr>
            <p:cNvPr id="25" name="item-1-2.body.item-0.paragraph"/>
            <p:cNvSpPr/>
            <p:nvPr/>
          </p:nvSpPr>
          <p:spPr>
            <a:xfrm>
              <a:off x="8191500" y="4076700"/>
              <a:ext cx="31623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Future: the measures inform prioritization and portfolio decisions.</a:t>
              </a:r>
              <a:endParaRPr lang="en-US" sz="1200" spc="0" kern="0" b="0" i="0" dirty="0">
                <a:solidFill>
                  <a:srgbClr val="50658E"/>
                </a:solidFill>
                <a:latin typeface="IBM Plex Sans"/>
                <a:ea typeface="IBM Plex Sans"/>
                <a:cs typeface="IBM Plex Sans"/>
              </a:endParaRPr>
            </a:p>
          </p:txBody>
        </p:sp>
      </p:grpSp>
      <p:grpSp>
        <p:nvGrpSpPr>
          <p:cNvPr id="42" name="accountability"/>
          <p:cNvGrpSpPr/>
          <p:nvPr/>
        </p:nvGrpSpPr>
        <p:grpSpPr>
          <a:xfrm>
            <a:off x="723900" y="5334000"/>
            <a:ext cx="10744200" cy="609600"/>
            <a:chOff x="723900" y="5334000"/>
            <a:chExt cx="10744200" cy="609600"/>
          </a:xfrm>
        </p:grpSpPr>
        <p:sp>
          <p:nvSpPr>
            <p:cNvPr id="26" name="accountability.surface"/>
            <p:cNvSpPr/>
            <p:nvPr/>
          </p:nvSpPr>
          <p:spPr>
            <a:xfrm>
              <a:off x="723900" y="5334000"/>
              <a:ext cx="10744200" cy="609600"/>
            </a:xfrm>
            <a:prstGeom prst="rect">
              <a:avLst/>
            </a:prstGeom>
            <a:solidFill>
              <a:srgbClr val="E8EEF8"/>
            </a:solidFill>
            <a:ln>
              <a:noFill/>
            </a:ln>
          </p:spPr>
        </p:sp>
        <p:sp>
          <p:nvSpPr>
            <p:cNvPr id="27" name="accountability.text"/>
            <p:cNvSpPr/>
            <p:nvPr/>
          </p:nvSpPr>
          <p:spPr>
            <a:xfrm>
              <a:off x="876300" y="54102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Owner: Engineering leadership | Dependency: Jira hygiene, release calendar, data access | Measure: teams with live measures, and the trend in lead time and change failure rate</a:t>
              </a:r>
              <a:endParaRPr lang="en-US" sz="1200" spc="0" kern="0" b="0" i="0" dirty="0">
                <a:solidFill>
                  <a:srgbClr val="070154"/>
                </a:solidFill>
                <a:latin typeface="IBM Plex Sans"/>
                <a:ea typeface="IBM Plex Sans"/>
                <a:cs typeface="IBM Plex Sans"/>
              </a:endParaRPr>
            </a:p>
          </p:txBody>
        </p:sp>
      </p:grpSp>
      <p:grpSp>
        <p:nvGrpSpPr>
          <p:cNvPr id="43" name="source-icon0"/>
          <p:cNvGrpSpPr/>
          <p:nvPr/>
        </p:nvGrpSpPr>
        <p:grpSpPr>
          <a:xfrm>
            <a:off x="11010900" y="2057400"/>
            <a:ext cx="228600" cy="228600"/>
            <a:chOff x="11010900" y="2057400"/>
            <a:chExt cx="228600" cy="228600"/>
          </a:xfrm>
        </p:grpSpPr>
        <p:pic>
          <p:nvPicPr>
            <p:cNvPr id="28" name="source-icon0.image" descr="Exact original DentalXChange asset ppt/media/image34.svg; project:source-image34; canonical SHA256=ef32c66970420be9aec3ad3ec20b39dfeb48d8957c86db1c32980ce8f6a59efa">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10900" y="2057400"/>
              <a:ext cx="228600" cy="228600"/>
            </a:xfrm>
            <a:prstGeom prst="rect">
              <a:avLst/>
            </a:prstGeom>
          </p:spPr>
        </p:pic>
      </p:grpSp>
      <p:grpSp>
        <p:nvGrpSpPr>
          <p:cNvPr id="44" name="source-icon1"/>
          <p:cNvGrpSpPr/>
          <p:nvPr/>
        </p:nvGrpSpPr>
        <p:grpSpPr>
          <a:xfrm>
            <a:off x="11010900" y="3657600"/>
            <a:ext cx="228600" cy="228600"/>
            <a:chOff x="11010900" y="3657600"/>
            <a:chExt cx="228600" cy="228600"/>
          </a:xfrm>
        </p:grpSpPr>
        <p:pic>
          <p:nvPicPr>
            <p:cNvPr id="29" name="source-icon1.image" descr="Exact original DentalXChange asset ppt/media/image35.svg; project:source-image35; canonical SHA256=6394c82d241a3903635cfcf6868122aa7ae8750ed0be93149d489971d0623cd0">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10900" y="3657600"/>
              <a:ext cx="228600" cy="228600"/>
            </a:xfrm>
            <a:prstGeom prst="rect">
              <a:avLst/>
            </a:prstGeom>
          </p:spPr>
        </p:pic>
      </p:grpSp>
      <p:grpSp>
        <p:nvGrpSpPr>
          <p:cNvPr id="45" name="authored-header"/>
          <p:cNvGrpSpPr/>
          <p:nvPr/>
        </p:nvGrpSpPr>
        <p:grpSpPr>
          <a:xfrm>
            <a:off x="723900" y="685800"/>
            <a:ext cx="9372600" cy="914400"/>
            <a:chOff x="723900" y="685800"/>
            <a:chExt cx="9372600" cy="914400"/>
          </a:xfrm>
        </p:grpSpPr>
        <p:sp>
          <p:nvSpPr>
            <p:cNvPr id="30"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Delivery measurement</a:t>
              </a:r>
              <a:endParaRPr lang="en-US" sz="3200" spc="-64" kern="0" b="0" i="0" dirty="0">
                <a:solidFill>
                  <a:srgbClr val="070154"/>
                </a:solidFill>
                <a:latin typeface="IBM Plex Sans SemiBold"/>
                <a:ea typeface="IBM Plex Sans SemiBold"/>
                <a:cs typeface="IBM Plex Sans SemiBold"/>
              </a:endParaRPr>
            </a:p>
          </p:txBody>
        </p:sp>
      </p:grpSp>
      <p:grpSp>
        <p:nvGrpSpPr>
          <p:cNvPr id="46" name="authored-eyebrow"/>
          <p:cNvGrpSpPr/>
          <p:nvPr/>
        </p:nvGrpSpPr>
        <p:grpSpPr>
          <a:xfrm>
            <a:off x="723900" y="457200"/>
            <a:ext cx="9372600" cy="228600"/>
            <a:chOff x="723900" y="457200"/>
            <a:chExt cx="9372600" cy="228600"/>
          </a:xfrm>
        </p:grpSpPr>
        <p:sp>
          <p:nvSpPr>
            <p:cNvPr id="31"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ENGINEERING E4</a:t>
              </a:r>
              <a:endParaRPr lang="en-US" sz="1000" spc="80" kern="0" b="0" i="0" dirty="0">
                <a:solidFill>
                  <a:srgbClr val="0047FF"/>
                </a:solidFill>
                <a:latin typeface="IBM Plex Mono SemiBold"/>
                <a:ea typeface="IBM Plex Mono SemiBold"/>
                <a:cs typeface="IBM Plex Mono SemiBold"/>
              </a:endParaRPr>
            </a:p>
          </p:txBody>
        </p:sp>
      </p:grpSp>
      <p:grpSp>
        <p:nvGrpSpPr>
          <p:cNvPr id="47" name="client-brand"/>
          <p:cNvGrpSpPr/>
          <p:nvPr/>
        </p:nvGrpSpPr>
        <p:grpSpPr>
          <a:xfrm>
            <a:off x="10382250" y="457200"/>
            <a:ext cx="1028700" cy="457200"/>
            <a:chOff x="10382250" y="457200"/>
            <a:chExt cx="1028700" cy="457200"/>
          </a:xfrm>
        </p:grpSpPr>
        <p:pic>
          <p:nvPicPr>
            <p:cNvPr id="32" name="client-brand.image" descr="Exact original DentalXChange asset ppt/media/image31.png; project:source-image31; canonical SHA256=51385b7813333a7f4207d77364f6a318acc4d148486d489c8a87f115754c251f">    </p:cNvPr>
            <p:cNvPicPr>
              <a:picLocks noChangeAspect="1"/>
            </p:cNvPicPr>
            <p:nvPr/>
          </p:nvPicPr>
          <p:blipFill>
            <a:blip r:embed="rId5"/>
            <a:stretch>
              <a:fillRect/>
            </a:stretch>
          </p:blipFill>
          <p:spPr>
            <a:xfrm>
              <a:off x="10382250" y="457200"/>
              <a:ext cx="1028700" cy="457200"/>
            </a:xfrm>
            <a:prstGeom prst="rect">
              <a:avLst/>
            </a:prstGeom>
          </p:spPr>
        </p:pic>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name="dxc-053">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53</a:t>
            </a:fld>
            <a:endParaRPr lang="en-US" sz="700" spc="0" kern="0" b="0" i="0" dirty="0">
              <a:solidFill>
                <a:srgbClr val="070154"/>
              </a:solidFill>
              <a:latin typeface="IBM Plex Mono SemiBold"/>
              <a:ea typeface="IBM Plex Mono SemiBold"/>
              <a:cs typeface="IBM Plex Mono SemiBold"/>
            </a:endParaRPr>
          </a:p>
        </p:txBody>
      </p:sp>
      <p:grpSp>
        <p:nvGrpSpPr>
          <p:cNvPr id="11" name="register"/>
          <p:cNvGrpSpPr/>
          <p:nvPr/>
        </p:nvGrpSpPr>
        <p:grpSpPr>
          <a:xfrm>
            <a:off x="723900" y="1600200"/>
            <a:ext cx="10744200" cy="3810000"/>
            <a:chOff x="723900" y="1600200"/>
            <a:chExt cx="10744200" cy="3810000"/>
          </a:xfrm>
        </p:grpSpPr>
        <p:graphicFrame>
          <p:nvGraphicFramePr>
            <p:cNvPr id="5" name="register.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810000"/>
          </p:xfrm>
          <a:graphic>
            <a:graphicData uri="http://schemas.openxmlformats.org/drawingml/2006/table">
              <a:tbl>
                <a:tblPr/>
                <a:tblGrid>
                  <a:gridCol w="990600"/>
                  <a:gridCol w="2286000"/>
                  <a:gridCol w="2895600"/>
                  <a:gridCol w="1447800"/>
                  <a:gridCol w="1524000"/>
                  <a:gridCol w="16002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TIMING</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RECOMMENDATION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FIRST ACTION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PROPOSED 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DEPENDENCY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INITIAL MEASURE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9088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Now</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Prioritize outcomes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Apply criteria to the next live priority decision.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Decision criteria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Predictability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9088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Now</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PM business ownership</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Name PM outcome owner; map decision rights.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Role clarity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Outcome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9088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Now</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Definition path</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Run signal → opportunity → PRD → feature/epic → design → plan.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Shared artifacts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Handoff quality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9088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Next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Earlier collaboration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Hold a minimum-team feasibility review before commitment.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Eng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Cadence and access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Rework and wait time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9088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Next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Ship with proof</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Define next test’s release evidence and post-launch learning.</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Product + Release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Validation coverage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2" name="qualification"/>
          <p:cNvGrpSpPr/>
          <p:nvPr/>
        </p:nvGrpSpPr>
        <p:grpSpPr>
          <a:xfrm>
            <a:off x="723900" y="5486400"/>
            <a:ext cx="10744200" cy="457200"/>
            <a:chOff x="723900" y="5486400"/>
            <a:chExt cx="10744200" cy="457200"/>
          </a:xfrm>
        </p:grpSpPr>
        <p:sp>
          <p:nvSpPr>
            <p:cNvPr id="6" name="qualification.surface"/>
            <p:cNvSpPr/>
            <p:nvPr/>
          </p:nvSpPr>
          <p:spPr>
            <a:xfrm>
              <a:off x="723900" y="5486400"/>
              <a:ext cx="10744200" cy="457200"/>
            </a:xfrm>
            <a:prstGeom prst="rect">
              <a:avLst/>
            </a:prstGeom>
            <a:solidFill>
              <a:srgbClr val="E8EEF8"/>
            </a:solidFill>
            <a:ln>
              <a:noFill/>
            </a:ln>
          </p:spPr>
        </p:sp>
        <p:sp>
          <p:nvSpPr>
            <p:cNvPr id="7" name="qualification.text"/>
            <p:cNvSpPr/>
            <p:nvPr/>
          </p:nvSpPr>
          <p:spPr>
            <a:xfrm>
              <a:off x="876300" y="56007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Use the roadmap after each quick-win test to update timing, owners, dependencies, measures, and the Phase 2 enablement need.</a:t>
              </a:r>
              <a:endParaRPr lang="en-US" sz="1200" spc="0" kern="0" b="0" i="0" dirty="0">
                <a:solidFill>
                  <a:srgbClr val="070154"/>
                </a:solidFill>
                <a:latin typeface="IBM Plex Sans"/>
                <a:ea typeface="IBM Plex Sans"/>
                <a:cs typeface="IBM Plex Sans"/>
              </a:endParaRPr>
            </a:p>
          </p:txBody>
        </p:sp>
      </p:grpSp>
      <p:grpSp>
        <p:nvGrpSpPr>
          <p:cNvPr id="13" name="authored-header"/>
          <p:cNvGrpSpPr/>
          <p:nvPr/>
        </p:nvGrpSpPr>
        <p:grpSpPr>
          <a:xfrm>
            <a:off x="723900" y="685800"/>
            <a:ext cx="9372600" cy="914400"/>
            <a:chOff x="723900" y="685800"/>
            <a:chExt cx="9372600" cy="914400"/>
          </a:xfrm>
        </p:grpSpPr>
        <p:sp>
          <p:nvSpPr>
            <p:cNvPr id="8"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Activation Roadmap: product track</a:t>
              </a:r>
              <a:endParaRPr lang="en-US" sz="3200" spc="-64" kern="0" b="0" i="0" dirty="0">
                <a:solidFill>
                  <a:srgbClr val="070154"/>
                </a:solidFill>
                <a:latin typeface="IBM Plex Sans SemiBold"/>
                <a:ea typeface="IBM Plex Sans SemiBold"/>
                <a:cs typeface="IBM Plex Sans SemiBold"/>
              </a:endParaRPr>
            </a:p>
          </p:txBody>
        </p:sp>
      </p:grpSp>
      <p:grpSp>
        <p:nvGrpSpPr>
          <p:cNvPr id="14" name="authored-eyebrow"/>
          <p:cNvGrpSpPr/>
          <p:nvPr/>
        </p:nvGrpSpPr>
        <p:grpSpPr>
          <a:xfrm>
            <a:off x="723900" y="457200"/>
            <a:ext cx="9372600" cy="228600"/>
            <a:chOff x="723900" y="457200"/>
            <a:chExt cx="9372600" cy="228600"/>
          </a:xfrm>
        </p:grpSpPr>
        <p:sp>
          <p:nvSpPr>
            <p:cNvPr id="9"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a:t>
              </a:r>
              <a:endParaRPr lang="en-US" sz="1000" spc="80" kern="0" b="0" i="0" dirty="0">
                <a:solidFill>
                  <a:srgbClr val="0047FF"/>
                </a:solidFill>
                <a:latin typeface="IBM Plex Mono SemiBold"/>
                <a:ea typeface="IBM Plex Mono SemiBold"/>
                <a:cs typeface="IBM Plex Mono SemiBold"/>
              </a:endParaRPr>
            </a:p>
          </p:txBody>
        </p:sp>
      </p:gr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name="dxc-054">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54</a:t>
            </a:fld>
            <a:endParaRPr lang="en-US" sz="700" spc="0" kern="0" b="0" i="0" dirty="0">
              <a:solidFill>
                <a:srgbClr val="070154"/>
              </a:solidFill>
              <a:latin typeface="IBM Plex Mono SemiBold"/>
              <a:ea typeface="IBM Plex Mono SemiBold"/>
              <a:cs typeface="IBM Plex Mono SemiBold"/>
            </a:endParaRPr>
          </a:p>
        </p:txBody>
      </p:sp>
      <p:grpSp>
        <p:nvGrpSpPr>
          <p:cNvPr id="12" name="ownership"/>
          <p:cNvGrpSpPr/>
          <p:nvPr/>
        </p:nvGrpSpPr>
        <p:grpSpPr>
          <a:xfrm>
            <a:off x="723900" y="2057400"/>
            <a:ext cx="10744200" cy="3213100"/>
            <a:chOff x="723900" y="2057400"/>
            <a:chExt cx="10744200" cy="3213100"/>
          </a:xfrm>
        </p:grpSpPr>
        <p:graphicFrame>
          <p:nvGraphicFramePr>
            <p:cNvPr id="5" name="ownership.native"/>
            <p:cNvGraphicFramePr>
              <a:graphicFrameLocks noGrp="1"/>
            </p:cNvGraphicFramePr>
            <p:nvPr>
              <p:extLst>
                <p:ext uri="{D42A27DB-BD31-4B8C-83A1-F6EECF244321}">
                  <p14:modId xmlns:p14="http://schemas.microsoft.com/office/powerpoint/2010/main" val="1579011935"/>
                </p:ext>
              </p:extLst>
            </p:nvPr>
          </p:nvGraphicFramePr>
          <p:xfrm>
            <a:off x="723900" y="2057400"/>
            <a:ext cx="10744200" cy="3213100"/>
          </p:xfrm>
          <a:graphic>
            <a:graphicData uri="http://schemas.openxmlformats.org/drawingml/2006/table">
              <a:tbl>
                <a:tblPr/>
                <a:tblGrid>
                  <a:gridCol w="2971800"/>
                  <a:gridCol w="1295400"/>
                  <a:gridCol w="1295400"/>
                  <a:gridCol w="1295400"/>
                  <a:gridCol w="1295400"/>
                  <a:gridCol w="1295400"/>
                  <a:gridCol w="12954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ROLE / STAKEHOLDER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OPPORTUNITY</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PRODUCT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FEATURE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TECHNICAL PLAN</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QA / UAT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RELEASE / GTM</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Manager / Product Lead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Business / Initiative Sponsor</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Product Owner / Delivery Lead</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UX / Design</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Engineering Lead / Architect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QA / UAT</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L</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Release / Operations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Sales / Customer Success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3175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Leadership</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I</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3" name="legend"/>
          <p:cNvGrpSpPr/>
          <p:nvPr/>
        </p:nvGrpSpPr>
        <p:grpSpPr>
          <a:xfrm>
            <a:off x="723900" y="1600200"/>
            <a:ext cx="10744200" cy="304800"/>
            <a:chOff x="723900" y="1600200"/>
            <a:chExt cx="10744200" cy="304800"/>
          </a:xfrm>
        </p:grpSpPr>
        <p:sp>
          <p:nvSpPr>
            <p:cNvPr id="6" name="legend.text"/>
            <p:cNvSpPr/>
            <p:nvPr/>
          </p:nvSpPr>
          <p:spPr>
            <a:xfrm>
              <a:off x="723900" y="1600200"/>
              <a:ext cx="10744200" cy="304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047FF"/>
                  </a:solidFill>
                  <a:latin typeface="IBM Plex Sans"/>
                  <a:ea typeface="IBM Plex Sans"/>
                  <a:cs typeface="IBM Plex Sans"/>
                </a:rPr>
                <a:t>L · Lead   C · Contribute   I · Inform   A · Approve</a:t>
              </a:r>
              <a:endParaRPr lang="en-US" sz="1200" spc="0" kern="0" b="0" i="0" dirty="0">
                <a:solidFill>
                  <a:srgbClr val="0047FF"/>
                </a:solidFill>
                <a:latin typeface="IBM Plex Sans"/>
                <a:ea typeface="IBM Plex Sans"/>
                <a:cs typeface="IBM Plex Sans"/>
              </a:endParaRPr>
            </a:p>
          </p:txBody>
        </p:sp>
      </p:grpSp>
      <p:grpSp>
        <p:nvGrpSpPr>
          <p:cNvPr id="14" name="readiness"/>
          <p:cNvGrpSpPr/>
          <p:nvPr/>
        </p:nvGrpSpPr>
        <p:grpSpPr>
          <a:xfrm>
            <a:off x="723900" y="5410200"/>
            <a:ext cx="10744200" cy="533400"/>
            <a:chOff x="723900" y="5410200"/>
            <a:chExt cx="10744200" cy="533400"/>
          </a:xfrm>
        </p:grpSpPr>
        <p:sp>
          <p:nvSpPr>
            <p:cNvPr id="7" name="readiness.surface"/>
            <p:cNvSpPr/>
            <p:nvPr/>
          </p:nvSpPr>
          <p:spPr>
            <a:xfrm>
              <a:off x="723900" y="5410200"/>
              <a:ext cx="10744200" cy="533400"/>
            </a:xfrm>
            <a:prstGeom prst="rect">
              <a:avLst/>
            </a:prstGeom>
            <a:solidFill>
              <a:srgbClr val="E8EEF8"/>
            </a:solidFill>
            <a:ln>
              <a:noFill/>
            </a:ln>
          </p:spPr>
        </p:sp>
        <p:sp>
          <p:nvSpPr>
            <p:cNvPr id="8" name="readiness.text"/>
            <p:cNvSpPr/>
            <p:nvPr/>
          </p:nvSpPr>
          <p:spPr>
            <a:xfrm>
              <a:off x="876300" y="5448300"/>
              <a:ext cx="104394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 marks the stage-gate approver(s). Multiple approvals are intentional where Product, Engineering, QA, or Release share a readiness decision. The lead owns the handoff to the next artifact.</a:t>
              </a:r>
              <a:endParaRPr lang="en-US" sz="1200" spc="0" kern="0" b="0" i="0" dirty="0">
                <a:solidFill>
                  <a:srgbClr val="070154"/>
                </a:solidFill>
                <a:latin typeface="IBM Plex Sans"/>
                <a:ea typeface="IBM Plex Sans"/>
                <a:cs typeface="IBM Plex Sans"/>
              </a:endParaRPr>
            </a:p>
          </p:txBody>
        </p:sp>
      </p:grpSp>
      <p:grpSp>
        <p:nvGrpSpPr>
          <p:cNvPr id="15" name="authored-header"/>
          <p:cNvGrpSpPr/>
          <p:nvPr/>
        </p:nvGrpSpPr>
        <p:grpSpPr>
          <a:xfrm>
            <a:off x="723900" y="685800"/>
            <a:ext cx="9372600" cy="914400"/>
            <a:chOff x="723900" y="685800"/>
            <a:chExt cx="9372600" cy="914400"/>
          </a:xfrm>
        </p:grpSpPr>
        <p:sp>
          <p:nvSpPr>
            <p:cNvPr id="9"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Artifact ownership matrix</a:t>
              </a:r>
              <a:endParaRPr lang="en-US" sz="3200" spc="-64" kern="0" b="0" i="0" dirty="0">
                <a:solidFill>
                  <a:srgbClr val="070154"/>
                </a:solidFill>
                <a:latin typeface="IBM Plex Sans SemiBold"/>
                <a:ea typeface="IBM Plex Sans SemiBold"/>
                <a:cs typeface="IBM Plex Sans SemiBold"/>
              </a:endParaRPr>
            </a:p>
          </p:txBody>
        </p:sp>
      </p:grpSp>
      <p:grpSp>
        <p:nvGrpSpPr>
          <p:cNvPr id="16" name="authored-eyebrow"/>
          <p:cNvGrpSpPr/>
          <p:nvPr/>
        </p:nvGrpSpPr>
        <p:grpSpPr>
          <a:xfrm>
            <a:off x="723900" y="457200"/>
            <a:ext cx="9372600" cy="228600"/>
            <a:chOff x="723900" y="457200"/>
            <a:chExt cx="9372600" cy="228600"/>
          </a:xfrm>
        </p:grpSpPr>
        <p:sp>
          <p:nvSpPr>
            <p:cNvPr id="10"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RECOMMENDED ROLE MODEL</a:t>
              </a:r>
              <a:endParaRPr lang="en-US" sz="1000" spc="80" kern="0" b="0" i="0" dirty="0">
                <a:solidFill>
                  <a:srgbClr val="0047FF"/>
                </a:solidFill>
                <a:latin typeface="IBM Plex Mono SemiBold"/>
                <a:ea typeface="IBM Plex Mono SemiBold"/>
                <a:cs typeface="IBM Plex Mono SemiBold"/>
              </a:endParaRPr>
            </a:p>
          </p:txBody>
        </p:sp>
      </p:grpSp>
      <p:grpSp>
        <p:nvGrpSpPr>
          <p:cNvPr id="17" name="client-brand"/>
          <p:cNvGrpSpPr/>
          <p:nvPr/>
        </p:nvGrpSpPr>
        <p:grpSpPr>
          <a:xfrm>
            <a:off x="10382250" y="457200"/>
            <a:ext cx="1028700" cy="457200"/>
            <a:chOff x="10382250" y="457200"/>
            <a:chExt cx="1028700" cy="457200"/>
          </a:xfrm>
        </p:grpSpPr>
        <p:pic>
          <p:nvPicPr>
            <p:cNvPr id="11"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name="dxc-055">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55</a:t>
            </a:fld>
            <a:endParaRPr lang="en-US" sz="700" spc="0" kern="0" b="0" i="0" dirty="0">
              <a:solidFill>
                <a:srgbClr val="070154"/>
              </a:solidFill>
              <a:latin typeface="IBM Plex Mono SemiBold"/>
              <a:ea typeface="IBM Plex Mono SemiBold"/>
              <a:cs typeface="IBM Plex Mono SemiBold"/>
            </a:endParaRPr>
          </a:p>
        </p:txBody>
      </p:sp>
      <p:grpSp>
        <p:nvGrpSpPr>
          <p:cNvPr id="23" name="business"/>
          <p:cNvGrpSpPr/>
          <p:nvPr/>
        </p:nvGrpSpPr>
        <p:grpSpPr>
          <a:xfrm>
            <a:off x="723900" y="1600200"/>
            <a:ext cx="3429000" cy="4038600"/>
            <a:chOff x="723900" y="1600200"/>
            <a:chExt cx="3429000" cy="4038600"/>
          </a:xfrm>
        </p:grpSpPr>
        <p:sp>
          <p:nvSpPr>
            <p:cNvPr id="5" name="business.container"/>
            <p:cNvSpPr/>
            <p:nvPr/>
          </p:nvSpPr>
          <p:spPr>
            <a:xfrm>
              <a:off x="723900" y="1600200"/>
              <a:ext cx="3429000" cy="4038600"/>
            </a:xfrm>
            <a:prstGeom prst="rect">
              <a:avLst/>
            </a:prstGeom>
            <a:solidFill>
              <a:srgbClr val="E8EEF8"/>
            </a:solidFill>
            <a:ln>
              <a:noFill/>
            </a:ln>
          </p:spPr>
        </p:sp>
        <p:sp>
          <p:nvSpPr>
            <p:cNvPr id="6" name="business.title"/>
            <p:cNvSpPr/>
            <p:nvPr/>
          </p:nvSpPr>
          <p:spPr>
            <a:xfrm>
              <a:off x="876300" y="17526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BUSINESS NEED</a:t>
              </a:r>
              <a:endParaRPr lang="en-US" sz="1400" spc="0" kern="0" b="0" i="0" dirty="0">
                <a:solidFill>
                  <a:srgbClr val="070154"/>
                </a:solidFill>
                <a:latin typeface="IBM Plex Sans"/>
                <a:ea typeface="IBM Plex Sans"/>
                <a:cs typeface="IBM Plex Sans"/>
              </a:endParaRPr>
            </a:p>
          </p:txBody>
        </p:sp>
        <p:sp>
          <p:nvSpPr>
            <p:cNvPr id="7" name="business.body.item-0.paragraph"/>
            <p:cNvSpPr/>
            <p:nvPr/>
          </p:nvSpPr>
          <p:spPr>
            <a:xfrm>
              <a:off x="876300" y="2133600"/>
              <a:ext cx="3124200" cy="18288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DentalXChange is growing and maturing its SaaS business model. Leadership wants to identify meaningful opportunities quickly, then activate changes through live work.</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The value is a faster, more consistent delivery system that can keep pace with growth.</a:t>
              </a:r>
              <a:endParaRPr lang="en-US" sz="1200" spc="0" kern="0" b="0" i="0" dirty="0">
                <a:solidFill>
                  <a:srgbClr val="50658E"/>
                </a:solidFill>
                <a:latin typeface="IBM Plex Sans"/>
                <a:ea typeface="IBM Plex Sans"/>
                <a:cs typeface="IBM Plex Sans"/>
              </a:endParaRPr>
            </a:p>
          </p:txBody>
        </p:sp>
      </p:grpSp>
      <p:grpSp>
        <p:nvGrpSpPr>
          <p:cNvPr id="24" name="limit0"/>
          <p:cNvGrpSpPr/>
          <p:nvPr/>
        </p:nvGrpSpPr>
        <p:grpSpPr>
          <a:xfrm>
            <a:off x="4381500" y="1600200"/>
            <a:ext cx="3429000" cy="1905000"/>
            <a:chOff x="4381500" y="1600200"/>
            <a:chExt cx="3429000" cy="1905000"/>
          </a:xfrm>
        </p:grpSpPr>
        <p:sp>
          <p:nvSpPr>
            <p:cNvPr id="8" name="limit0.container"/>
            <p:cNvSpPr/>
            <p:nvPr/>
          </p:nvSpPr>
          <p:spPr>
            <a:xfrm>
              <a:off x="4381500" y="1600200"/>
              <a:ext cx="3429000" cy="1905000"/>
            </a:xfrm>
            <a:prstGeom prst="rect">
              <a:avLst/>
            </a:prstGeom>
            <a:solidFill>
              <a:srgbClr val="E8EEF8"/>
            </a:solidFill>
            <a:ln>
              <a:noFill/>
            </a:ln>
          </p:spPr>
        </p:sp>
        <p:sp>
          <p:nvSpPr>
            <p:cNvPr id="9" name="limit0.title"/>
            <p:cNvSpPr/>
            <p:nvPr/>
          </p:nvSpPr>
          <p:spPr>
            <a:xfrm>
              <a:off x="4610100" y="1828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Up to two</a:t>
              </a:r>
              <a:endParaRPr lang="en-US" sz="1800" spc="-18" kern="0" b="0" i="0" dirty="0">
                <a:solidFill>
                  <a:srgbClr val="070154"/>
                </a:solidFill>
                <a:latin typeface="IBM Plex Sans SemiBold"/>
                <a:ea typeface="IBM Plex Sans SemiBold"/>
                <a:cs typeface="IBM Plex Sans SemiBold"/>
              </a:endParaRPr>
            </a:p>
          </p:txBody>
        </p:sp>
        <p:sp>
          <p:nvSpPr>
            <p:cNvPr id="10" name="limit0.body.item-0.paragraph"/>
            <p:cNvSpPr/>
            <p:nvPr/>
          </p:nvSpPr>
          <p:spPr>
            <a:xfrm>
              <a:off x="4610100" y="2247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live initiatives</a:t>
              </a:r>
              <a:endParaRPr lang="en-US" sz="1200" spc="0" kern="0" b="0" i="0" dirty="0">
                <a:solidFill>
                  <a:srgbClr val="50658E"/>
                </a:solidFill>
                <a:latin typeface="IBM Plex Sans"/>
                <a:ea typeface="IBM Plex Sans"/>
                <a:cs typeface="IBM Plex Sans"/>
              </a:endParaRPr>
            </a:p>
          </p:txBody>
        </p:sp>
      </p:grpSp>
      <p:grpSp>
        <p:nvGrpSpPr>
          <p:cNvPr id="25" name="limit1"/>
          <p:cNvGrpSpPr/>
          <p:nvPr/>
        </p:nvGrpSpPr>
        <p:grpSpPr>
          <a:xfrm>
            <a:off x="8039100" y="1600200"/>
            <a:ext cx="3429000" cy="1905000"/>
            <a:chOff x="8039100" y="1600200"/>
            <a:chExt cx="3429000" cy="1905000"/>
          </a:xfrm>
        </p:grpSpPr>
        <p:sp>
          <p:nvSpPr>
            <p:cNvPr id="11" name="limit1.container"/>
            <p:cNvSpPr/>
            <p:nvPr/>
          </p:nvSpPr>
          <p:spPr>
            <a:xfrm>
              <a:off x="8039100" y="1600200"/>
              <a:ext cx="3429000" cy="1905000"/>
            </a:xfrm>
            <a:prstGeom prst="rect">
              <a:avLst/>
            </a:prstGeom>
            <a:solidFill>
              <a:srgbClr val="E8EEF8"/>
            </a:solidFill>
            <a:ln>
              <a:noFill/>
            </a:ln>
          </p:spPr>
        </p:sp>
        <p:sp>
          <p:nvSpPr>
            <p:cNvPr id="12" name="limit1.title"/>
            <p:cNvSpPr/>
            <p:nvPr/>
          </p:nvSpPr>
          <p:spPr>
            <a:xfrm>
              <a:off x="8267700" y="18288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Up to three</a:t>
              </a:r>
              <a:endParaRPr lang="en-US" sz="1800" spc="-18" kern="0" b="0" i="0" dirty="0">
                <a:solidFill>
                  <a:srgbClr val="070154"/>
                </a:solidFill>
                <a:latin typeface="IBM Plex Sans SemiBold"/>
                <a:ea typeface="IBM Plex Sans SemiBold"/>
                <a:cs typeface="IBM Plex Sans SemiBold"/>
              </a:endParaRPr>
            </a:p>
          </p:txBody>
        </p:sp>
        <p:sp>
          <p:nvSpPr>
            <p:cNvPr id="13" name="limit1.body.item-0.paragraph"/>
            <p:cNvSpPr/>
            <p:nvPr/>
          </p:nvSpPr>
          <p:spPr>
            <a:xfrm>
              <a:off x="8267700" y="22479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bounded quick wins</a:t>
              </a:r>
              <a:endParaRPr lang="en-US" sz="1200" spc="0" kern="0" b="0" i="0" dirty="0">
                <a:solidFill>
                  <a:srgbClr val="50658E"/>
                </a:solidFill>
                <a:latin typeface="IBM Plex Sans"/>
                <a:ea typeface="IBM Plex Sans"/>
                <a:cs typeface="IBM Plex Sans"/>
              </a:endParaRPr>
            </a:p>
          </p:txBody>
        </p:sp>
      </p:grpSp>
      <p:grpSp>
        <p:nvGrpSpPr>
          <p:cNvPr id="26" name="limit2"/>
          <p:cNvGrpSpPr/>
          <p:nvPr/>
        </p:nvGrpSpPr>
        <p:grpSpPr>
          <a:xfrm>
            <a:off x="4381500" y="3657600"/>
            <a:ext cx="3429000" cy="1905000"/>
            <a:chOff x="4381500" y="3657600"/>
            <a:chExt cx="3429000" cy="1905000"/>
          </a:xfrm>
        </p:grpSpPr>
        <p:sp>
          <p:nvSpPr>
            <p:cNvPr id="14" name="limit2.container"/>
            <p:cNvSpPr/>
            <p:nvPr/>
          </p:nvSpPr>
          <p:spPr>
            <a:xfrm>
              <a:off x="4381500" y="3657600"/>
              <a:ext cx="3429000" cy="1905000"/>
            </a:xfrm>
            <a:prstGeom prst="rect">
              <a:avLst/>
            </a:prstGeom>
            <a:solidFill>
              <a:srgbClr val="E8EEF8"/>
            </a:solidFill>
            <a:ln>
              <a:noFill/>
            </a:ln>
          </p:spPr>
        </p:sp>
        <p:sp>
          <p:nvSpPr>
            <p:cNvPr id="15" name="limit2.title"/>
            <p:cNvSpPr/>
            <p:nvPr/>
          </p:nvSpPr>
          <p:spPr>
            <a:xfrm>
              <a:off x="4610100" y="38862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Three weeks</a:t>
              </a:r>
              <a:endParaRPr lang="en-US" sz="1800" spc="-18" kern="0" b="0" i="0" dirty="0">
                <a:solidFill>
                  <a:srgbClr val="070154"/>
                </a:solidFill>
                <a:latin typeface="IBM Plex Sans SemiBold"/>
                <a:ea typeface="IBM Plex Sans SemiBold"/>
                <a:cs typeface="IBM Plex Sans SemiBold"/>
              </a:endParaRPr>
            </a:p>
          </p:txBody>
        </p:sp>
        <p:sp>
          <p:nvSpPr>
            <p:cNvPr id="16" name="limit2.body.item-0.paragraph"/>
            <p:cNvSpPr/>
            <p:nvPr/>
          </p:nvSpPr>
          <p:spPr>
            <a:xfrm>
              <a:off x="4610100" y="4305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from launch to executive readout</a:t>
              </a:r>
              <a:endParaRPr lang="en-US" sz="1200" spc="0" kern="0" b="0" i="0" dirty="0">
                <a:solidFill>
                  <a:srgbClr val="50658E"/>
                </a:solidFill>
                <a:latin typeface="IBM Plex Sans"/>
                <a:ea typeface="IBM Plex Sans"/>
                <a:cs typeface="IBM Plex Sans"/>
              </a:endParaRPr>
            </a:p>
          </p:txBody>
        </p:sp>
      </p:grpSp>
      <p:grpSp>
        <p:nvGrpSpPr>
          <p:cNvPr id="27" name="limit3"/>
          <p:cNvGrpSpPr/>
          <p:nvPr/>
        </p:nvGrpSpPr>
        <p:grpSpPr>
          <a:xfrm>
            <a:off x="8039100" y="3657600"/>
            <a:ext cx="3429000" cy="1905000"/>
            <a:chOff x="8039100" y="3657600"/>
            <a:chExt cx="3429000" cy="1905000"/>
          </a:xfrm>
        </p:grpSpPr>
        <p:sp>
          <p:nvSpPr>
            <p:cNvPr id="17" name="limit3.container"/>
            <p:cNvSpPr/>
            <p:nvPr/>
          </p:nvSpPr>
          <p:spPr>
            <a:xfrm>
              <a:off x="8039100" y="3657600"/>
              <a:ext cx="3429000" cy="1905000"/>
            </a:xfrm>
            <a:prstGeom prst="rect">
              <a:avLst/>
            </a:prstGeom>
            <a:solidFill>
              <a:srgbClr val="E8EEF8"/>
            </a:solidFill>
            <a:ln>
              <a:noFill/>
            </a:ln>
          </p:spPr>
        </p:sp>
        <p:sp>
          <p:nvSpPr>
            <p:cNvPr id="18" name="limit3.title"/>
            <p:cNvSpPr/>
            <p:nvPr/>
          </p:nvSpPr>
          <p:spPr>
            <a:xfrm>
              <a:off x="8267700" y="3886200"/>
              <a:ext cx="2971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No</a:t>
              </a:r>
              <a:endParaRPr lang="en-US" sz="1800" spc="-18" kern="0" b="0" i="0" dirty="0">
                <a:solidFill>
                  <a:srgbClr val="070154"/>
                </a:solidFill>
                <a:latin typeface="IBM Plex Sans SemiBold"/>
                <a:ea typeface="IBM Plex Sans SemiBold"/>
                <a:cs typeface="IBM Plex Sans SemiBold"/>
              </a:endParaRPr>
            </a:p>
          </p:txBody>
        </p:sp>
        <p:sp>
          <p:nvSpPr>
            <p:cNvPr id="19" name="limit3.body.item-0.paragraph"/>
            <p:cNvSpPr/>
            <p:nvPr/>
          </p:nvSpPr>
          <p:spPr>
            <a:xfrm>
              <a:off x="8267700" y="4305300"/>
              <a:ext cx="297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production-system change</a:t>
              </a:r>
              <a:endParaRPr lang="en-US" sz="1200" spc="0" kern="0" b="0" i="0" dirty="0">
                <a:solidFill>
                  <a:srgbClr val="50658E"/>
                </a:solidFill>
                <a:latin typeface="IBM Plex Sans"/>
                <a:ea typeface="IBM Plex Sans"/>
                <a:cs typeface="IBM Plex Sans"/>
              </a:endParaRPr>
            </a:p>
          </p:txBody>
        </p:sp>
      </p:grpSp>
      <p:grpSp>
        <p:nvGrpSpPr>
          <p:cNvPr id="28" name="authored-header"/>
          <p:cNvGrpSpPr/>
          <p:nvPr/>
        </p:nvGrpSpPr>
        <p:grpSpPr>
          <a:xfrm>
            <a:off x="723900" y="685800"/>
            <a:ext cx="9372600" cy="914400"/>
            <a:chOff x="723900" y="685800"/>
            <a:chExt cx="9372600" cy="914400"/>
          </a:xfrm>
        </p:grpSpPr>
        <p:sp>
          <p:nvSpPr>
            <p:cNvPr id="20"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Why this work matters</a:t>
              </a:r>
              <a:endParaRPr lang="en-US" sz="3200" spc="-64" kern="0" b="0" i="0" dirty="0">
                <a:solidFill>
                  <a:srgbClr val="070154"/>
                </a:solidFill>
                <a:latin typeface="IBM Plex Sans SemiBold"/>
                <a:ea typeface="IBM Plex Sans SemiBold"/>
                <a:cs typeface="IBM Plex Sans SemiBold"/>
              </a:endParaRPr>
            </a:p>
          </p:txBody>
        </p:sp>
      </p:grpSp>
      <p:grpSp>
        <p:nvGrpSpPr>
          <p:cNvPr id="29" name="authored-eyebrow"/>
          <p:cNvGrpSpPr/>
          <p:nvPr/>
        </p:nvGrpSpPr>
        <p:grpSpPr>
          <a:xfrm>
            <a:off x="723900" y="457200"/>
            <a:ext cx="9372600" cy="228600"/>
            <a:chOff x="723900" y="457200"/>
            <a:chExt cx="9372600" cy="228600"/>
          </a:xfrm>
        </p:grpSpPr>
        <p:sp>
          <p:nvSpPr>
            <p:cNvPr id="21"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BUSINESS NEED</a:t>
              </a:r>
              <a:endParaRPr lang="en-US" sz="1000" spc="80" kern="0" b="0" i="0" dirty="0">
                <a:solidFill>
                  <a:srgbClr val="0047FF"/>
                </a:solidFill>
                <a:latin typeface="IBM Plex Mono SemiBold"/>
                <a:ea typeface="IBM Plex Mono SemiBold"/>
                <a:cs typeface="IBM Plex Mono SemiBold"/>
              </a:endParaRPr>
            </a:p>
          </p:txBody>
        </p:sp>
      </p:grpSp>
      <p:grpSp>
        <p:nvGrpSpPr>
          <p:cNvPr id="30" name="client-brand"/>
          <p:cNvGrpSpPr/>
          <p:nvPr/>
        </p:nvGrpSpPr>
        <p:grpSpPr>
          <a:xfrm>
            <a:off x="10382250" y="457200"/>
            <a:ext cx="1028700" cy="457200"/>
            <a:chOff x="10382250" y="457200"/>
            <a:chExt cx="1028700" cy="457200"/>
          </a:xfrm>
        </p:grpSpPr>
        <p:pic>
          <p:nvPicPr>
            <p:cNvPr id="22"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name="dxc-056">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56</a:t>
            </a:fld>
            <a:endParaRPr lang="en-US" sz="700" spc="0" kern="0" b="0" i="0" dirty="0">
              <a:solidFill>
                <a:srgbClr val="070154"/>
              </a:solidFill>
              <a:latin typeface="IBM Plex Mono SemiBold"/>
              <a:ea typeface="IBM Plex Mono SemiBold"/>
              <a:cs typeface="IBM Plex Mono SemiBold"/>
            </a:endParaRPr>
          </a:p>
        </p:txBody>
      </p:sp>
      <p:grpSp>
        <p:nvGrpSpPr>
          <p:cNvPr id="11" name="roadmap"/>
          <p:cNvGrpSpPr/>
          <p:nvPr/>
        </p:nvGrpSpPr>
        <p:grpSpPr>
          <a:xfrm>
            <a:off x="723900" y="1600200"/>
            <a:ext cx="10744200" cy="3784600"/>
            <a:chOff x="723900" y="1600200"/>
            <a:chExt cx="10744200" cy="3784600"/>
          </a:xfrm>
        </p:grpSpPr>
        <p:graphicFrame>
          <p:nvGraphicFramePr>
            <p:cNvPr id="5" name="roadmap.native"/>
            <p:cNvGraphicFramePr>
              <a:graphicFrameLocks noGrp="1"/>
            </p:cNvGraphicFramePr>
            <p:nvPr>
              <p:extLst>
                <p:ext uri="{D42A27DB-BD31-4B8C-83A1-F6EECF244321}">
                  <p14:modId xmlns:p14="http://schemas.microsoft.com/office/powerpoint/2010/main" val="1579011935"/>
                </p:ext>
              </p:extLst>
            </p:nvPr>
          </p:nvGraphicFramePr>
          <p:xfrm>
            <a:off x="723900" y="1600200"/>
            <a:ext cx="10744200" cy="3784600"/>
          </p:xfrm>
          <a:graphic>
            <a:graphicData uri="http://schemas.openxmlformats.org/drawingml/2006/table">
              <a:tbl>
                <a:tblPr/>
                <a:tblGrid>
                  <a:gridCol w="2819400"/>
                  <a:gridCol w="2641600"/>
                  <a:gridCol w="2641600"/>
                  <a:gridCol w="2641600"/>
                </a:tblGrid>
                <a:tr h="355600">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RECOMMENDATION / PILOT / OWNER</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NOW</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NEXT</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c>
                    <a:txBody>
                      <a:bodyPr wrap="square" anchor="ctr" lIns="0" rIns="0" tIns="0" bIns="0">
                        <a:noAutofit/>
                      </a:bodyPr>
                      <a:lstStyle/>
                      <a:p>
                        <a:pPr algn="l" marL="0" indent="0">
                          <a:lnSpc>
                            <a:spcPts val="1200"/>
                          </a:lnSpc>
                          <a:spcBef>
                            <a:spcPts val="0"/>
                          </a:spcBef>
                          <a:spcAft>
                            <a:spcPts val="0"/>
                          </a:spcAft>
                          <a:buNone/>
                          <a:defRPr lang="en-US" sz="900" spc="54" kern="0" b="0" i="0" dirty="0">
                            <a:solidFill>
                              <a:srgbClr val="FFFFFF"/>
                            </a:solidFill>
                            <a:latin typeface="IBM Plex Mono SemiBold"/>
                            <a:ea typeface="IBM Plex Mono SemiBold"/>
                            <a:cs typeface="IBM Plex Mono SemiBold"/>
                          </a:defRPr>
                        </a:pPr>
                        <a:r>
                          <a:rPr lang="en-US" sz="900" spc="54" kern="0" b="0" i="0" dirty="0">
                            <a:solidFill>
                              <a:srgbClr val="FFFFFF"/>
                            </a:solidFill>
                            <a:latin typeface="IBM Plex Mono SemiBold"/>
                            <a:ea typeface="IBM Plex Mono SemiBold"/>
                            <a:cs typeface="IBM Plex Mono SemiBold"/>
                          </a:rPr>
                          <a:t xml:space="preserve">FUTURE</a:t>
                        </a:r>
                        <a:endParaRPr lang="en-US" sz="900" spc="54" kern="0" b="0" i="0" dirty="0">
                          <a:solidFill>
                            <a:srgbClr val="FFFFFF"/>
                          </a:solidFill>
                          <a:latin typeface="IBM Plex Mono SemiBold"/>
                          <a:ea typeface="IBM Plex Mono SemiBold"/>
                          <a:cs typeface="IBM Plex Mono SemiBold"/>
                        </a:endParaRPr>
                      </a:p>
                    </a:txBody>
                    <a:tcPr marL="152400" marR="152400" marT="0" marB="0" anchor="ctr">
                      <a:lnL w="0" cap="flat" cmpd="sng" algn="ctr">
                        <a:noFill/>
                      </a:lnL>
                      <a:lnR w="0" cap="flat" cmpd="sng" algn="ctr">
                        <a:noFill/>
                      </a:lnR>
                      <a:lnT w="0" cap="flat" cmpd="sng" algn="ctr">
                        <a:noFill/>
                      </a:lnT>
                      <a:lnB w="0" cap="flat" cmpd="sng" algn="ctr">
                        <a:noFill/>
                      </a:lnB>
                      <a:solidFill>
                        <a:srgbClr val="070154"/>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Release</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Core + Recon · E+R</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Review unplanned changes; credential inventory; define Release Agent outputs.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Same artifact; expiry alerts; patch/rollback reviews; Recon Release Agent live.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On-demand low-risk release; Release Agent pattern on every pod.</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Test</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Core + Recon + Rules</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Q+D+S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Map Core high-risk regression; log access/data waits.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Automate high-risk paths; agents in Eligibility AI / Pay Connect; masked data.</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Regression as release entry criterion; self-service environments.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Quality</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Rules + Core + Recon</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E+P</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Rules PRD → agent tech spec; baseline four delivery measures.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Core tech spec template; Recon flow metrics; monthly quality view.</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Quality measures guide prioritization and portfolio decisions.</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AI guardrail</a:t>
                        </a:r>
                        <a:endParaRPr lang="en-US" sz="1200" spc="0" kern="0" b="0" i="0" dirty="0">
                          <a:solidFill>
                            <a:srgbClr val="070154"/>
                          </a:solidFill>
                          <a:latin typeface="IBM Plex Sans SemiBold"/>
                          <a:ea typeface="IBM Plex Sans SemiBold"/>
                          <a:cs typeface="IBM Plex Sans SemiBold"/>
                        </a:endParaRPr>
                      </a:p>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All pods · E+P+S</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Approve PHI rule/tools; staff + contractor access before December rollout.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Govern December AIDLC rollout; shared agent registry.</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Scale what improves speed and quality together.</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r h="685800">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SemiBold"/>
                            <a:ea typeface="IBM Plex Sans SemiBold"/>
                            <a:cs typeface="IBM Plex Sans SemiBold"/>
                          </a:defRPr>
                        </a:pPr>
                        <a:r>
                          <a:rPr lang="en-US" sz="1200" spc="0" kern="0" b="0" i="0" dirty="0">
                            <a:solidFill>
                              <a:srgbClr val="070154"/>
                            </a:solidFill>
                            <a:latin typeface="IBM Plex Sans SemiBold"/>
                            <a:ea typeface="IBM Plex Sans SemiBold"/>
                            <a:cs typeface="IBM Plex Sans SemiBold"/>
                          </a:rPr>
                          <a:t xml:space="preserve">Rollout sequence</a:t>
                        </a:r>
                        <a:endParaRPr lang="en-US" sz="1200" spc="0" kern="0" b="0" i="0" dirty="0">
                          <a:solidFill>
                            <a:srgbClr val="070154"/>
                          </a:solidFill>
                          <a:latin typeface="IBM Plex Sans SemiBold"/>
                          <a:ea typeface="IBM Plex Sans SemiBold"/>
                          <a:cs typeface="IBM Plex Sans SemiBold"/>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Pilot Core, Reconcile AI and Rules Engine.</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Extend to Eligibility AI and Pay Connect.</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c>
                    <a:txBody>
                      <a:bodyPr wrap="square" anchor="ctr" lIns="0" rIns="0" tIns="0" bIns="0">
                        <a:noAutofit/>
                      </a:bodyPr>
                      <a:lstStyle/>
                      <a:p>
                        <a:pPr algn="l" marL="0" indent="0">
                          <a:lnSpc>
                            <a:spcPts val="1800"/>
                          </a:lnSpc>
                          <a:spcBef>
                            <a:spcPts val="0"/>
                          </a:spcBef>
                          <a:spcAft>
                            <a:spcPts val="0"/>
                          </a:spcAft>
                          <a:buNone/>
                          <a:defRPr lang="en-US" sz="1200" spc="0" kern="0" b="0" i="0" dirty="0">
                            <a:solidFill>
                              <a:srgbClr val="070154"/>
                            </a:solidFill>
                            <a:latin typeface="IBM Plex Sans"/>
                            <a:ea typeface="IBM Plex Sans"/>
                            <a:cs typeface="IBM Plex Sans"/>
                          </a:defRPr>
                        </a:pPr>
                        <a:r>
                          <a:rPr lang="en-US" sz="1200" spc="0" kern="0" b="0" i="0" dirty="0">
                            <a:solidFill>
                              <a:srgbClr val="070154"/>
                            </a:solidFill>
                            <a:latin typeface="IBM Plex Sans"/>
                            <a:ea typeface="IBM Plex Sans"/>
                            <a:cs typeface="IBM Plex Sans"/>
                          </a:rPr>
                          <a:t xml:space="preserve">Other pods; Core uses a light, human-gated AI version.</a:t>
                        </a:r>
                        <a:endParaRPr lang="en-US" sz="1200" spc="0" kern="0" b="0" i="0" dirty="0">
                          <a:solidFill>
                            <a:srgbClr val="070154"/>
                          </a:solidFill>
                          <a:latin typeface="IBM Plex Sans"/>
                          <a:ea typeface="IBM Plex Sans"/>
                          <a:cs typeface="IBM Plex Sans"/>
                        </a:endParaRPr>
                      </a:p>
                    </a:txBody>
                    <a:tcPr marL="152400" marR="152400" marT="0" marB="0" anchor="ctr">
                      <a:lnL w="0" cap="flat" cmpd="sng" algn="ctr">
                        <a:noFill/>
                      </a:lnL>
                      <a:lnR w="0" cap="flat" cmpd="sng" algn="ctr">
                        <a:noFill/>
                      </a:lnR>
                      <a:lnT w="0" cap="flat" cmpd="sng" algn="ctr">
                        <a:noFill/>
                      </a:lnT>
                      <a:lnB w="9525" cap="flat" cmpd="sng" algn="ctr">
                        <a:solidFill>
                          <a:srgbClr val="CED7E6"/>
                        </a:solidFill>
                        <a:prstDash val="solid"/>
                        <a:round/>
                        <a:headEnd type="none" w="med" len="med"/>
                        <a:tailEnd type="none" w="med" len="med"/>
                      </a:lnB>
                      <a:solidFill>
                        <a:srgbClr val="FFFFFF"/>
                      </a:solidFill>
                    </a:tcPr>
                  </a:tc>
                </a:tr>
              </a:tbl>
            </a:graphicData>
          </a:graphic>
        </p:graphicFrame>
      </p:grpSp>
      <p:grpSp>
        <p:nvGrpSpPr>
          <p:cNvPr id="12" name="qualification"/>
          <p:cNvGrpSpPr/>
          <p:nvPr/>
        </p:nvGrpSpPr>
        <p:grpSpPr>
          <a:xfrm>
            <a:off x="723900" y="5486400"/>
            <a:ext cx="10744200" cy="457200"/>
            <a:chOff x="723900" y="5486400"/>
            <a:chExt cx="10744200" cy="457200"/>
          </a:xfrm>
        </p:grpSpPr>
        <p:sp>
          <p:nvSpPr>
            <p:cNvPr id="6" name="qualification.surface"/>
            <p:cNvSpPr/>
            <p:nvPr/>
          </p:nvSpPr>
          <p:spPr>
            <a:xfrm>
              <a:off x="723900" y="5486400"/>
              <a:ext cx="10744200" cy="457200"/>
            </a:xfrm>
            <a:prstGeom prst="rect">
              <a:avLst/>
            </a:prstGeom>
            <a:solidFill>
              <a:srgbClr val="E8EEF8"/>
            </a:solidFill>
            <a:ln>
              <a:noFill/>
            </a:ln>
          </p:spPr>
        </p:sp>
        <p:sp>
          <p:nvSpPr>
            <p:cNvPr id="7" name="qualification.text"/>
            <p:cNvSpPr/>
            <p:nvPr/>
          </p:nvSpPr>
          <p:spPr>
            <a:xfrm>
              <a:off x="876300" y="56007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Pilot → measure → extend. Owners: P Product; E Engineering; R Release/Ops; O Operations; Q Quality; D DevOps/Infrastructure; S Security.</a:t>
              </a:r>
              <a:endParaRPr lang="en-US" sz="1200" spc="0" kern="0" b="0" i="0" dirty="0">
                <a:solidFill>
                  <a:srgbClr val="070154"/>
                </a:solidFill>
                <a:latin typeface="IBM Plex Sans"/>
                <a:ea typeface="IBM Plex Sans"/>
                <a:cs typeface="IBM Plex Sans"/>
              </a:endParaRPr>
            </a:p>
          </p:txBody>
        </p:sp>
      </p:grpSp>
      <p:grpSp>
        <p:nvGrpSpPr>
          <p:cNvPr id="13" name="authored-header"/>
          <p:cNvGrpSpPr/>
          <p:nvPr/>
        </p:nvGrpSpPr>
        <p:grpSpPr>
          <a:xfrm>
            <a:off x="723900" y="685800"/>
            <a:ext cx="9372600" cy="914400"/>
            <a:chOff x="723900" y="685800"/>
            <a:chExt cx="9372600" cy="914400"/>
          </a:xfrm>
        </p:grpSpPr>
        <p:sp>
          <p:nvSpPr>
            <p:cNvPr id="8"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Activation Roadmap: engineering priorities</a:t>
              </a:r>
              <a:endParaRPr lang="en-US" sz="3200" spc="-64" kern="0" b="0" i="0" dirty="0">
                <a:solidFill>
                  <a:srgbClr val="070154"/>
                </a:solidFill>
                <a:latin typeface="IBM Plex Sans SemiBold"/>
                <a:ea typeface="IBM Plex Sans SemiBold"/>
                <a:cs typeface="IBM Plex Sans SemiBold"/>
              </a:endParaRPr>
            </a:p>
          </p:txBody>
        </p:sp>
      </p:grpSp>
      <p:grpSp>
        <p:nvGrpSpPr>
          <p:cNvPr id="14" name="authored-eyebrow"/>
          <p:cNvGrpSpPr/>
          <p:nvPr/>
        </p:nvGrpSpPr>
        <p:grpSpPr>
          <a:xfrm>
            <a:off x="723900" y="457200"/>
            <a:ext cx="9372600" cy="228600"/>
            <a:chOff x="723900" y="457200"/>
            <a:chExt cx="9372600" cy="228600"/>
          </a:xfrm>
        </p:grpSpPr>
        <p:sp>
          <p:nvSpPr>
            <p:cNvPr id="9"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DELIVERABLE 03</a:t>
              </a:r>
              <a:endParaRPr lang="en-US" sz="1000" spc="80" kern="0" b="0" i="0" dirty="0">
                <a:solidFill>
                  <a:srgbClr val="0047FF"/>
                </a:solidFill>
                <a:latin typeface="IBM Plex Mono SemiBold"/>
                <a:ea typeface="IBM Plex Mono SemiBold"/>
                <a:cs typeface="IBM Plex Mono SemiBold"/>
              </a:endParaRPr>
            </a:p>
          </p:txBody>
        </p:sp>
      </p:grpSp>
      <p:grpSp>
        <p:nvGrpSpPr>
          <p:cNvPr id="15" name="client-brand"/>
          <p:cNvGrpSpPr/>
          <p:nvPr/>
        </p:nvGrpSpPr>
        <p:grpSpPr>
          <a:xfrm>
            <a:off x="10382250" y="457200"/>
            <a:ext cx="1028700" cy="457200"/>
            <a:chOff x="10382250" y="457200"/>
            <a:chExt cx="1028700" cy="457200"/>
          </a:xfrm>
        </p:grpSpPr>
        <p:pic>
          <p:nvPicPr>
            <p:cNvPr id="10"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dxc-057">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57</a:t>
            </a:fld>
            <a:endParaRPr lang="en-US" sz="700" spc="0" kern="0" b="0" i="0" dirty="0">
              <a:solidFill>
                <a:srgbClr val="070154"/>
              </a:solidFill>
              <a:latin typeface="IBM Plex Mono SemiBold"/>
              <a:ea typeface="IBM Plex Mono SemiBold"/>
              <a:cs typeface="IBM Plex Mono SemiBold"/>
            </a:endParaRPr>
          </a:p>
        </p:txBody>
      </p:sp>
      <p:grpSp>
        <p:nvGrpSpPr>
          <p:cNvPr id="27" name="outcome"/>
          <p:cNvGrpSpPr/>
          <p:nvPr/>
        </p:nvGrpSpPr>
        <p:grpSpPr>
          <a:xfrm>
            <a:off x="723900" y="1600200"/>
            <a:ext cx="7086600" cy="685800"/>
            <a:chOff x="723900" y="1600200"/>
            <a:chExt cx="7086600" cy="685800"/>
          </a:xfrm>
        </p:grpSpPr>
        <p:sp>
          <p:nvSpPr>
            <p:cNvPr id="5" name="outcome.surface"/>
            <p:cNvSpPr/>
            <p:nvPr/>
          </p:nvSpPr>
          <p:spPr>
            <a:xfrm>
              <a:off x="723900" y="1600200"/>
              <a:ext cx="7086600" cy="685800"/>
            </a:xfrm>
            <a:prstGeom prst="rect">
              <a:avLst/>
            </a:prstGeom>
            <a:solidFill>
              <a:srgbClr val="070154"/>
            </a:solidFill>
            <a:ln>
              <a:noFill/>
            </a:ln>
          </p:spPr>
        </p:sp>
        <p:sp>
          <p:nvSpPr>
            <p:cNvPr id="6" name="outcome.text"/>
            <p:cNvSpPr/>
            <p:nvPr/>
          </p:nvSpPr>
          <p:spPr>
            <a:xfrm>
              <a:off x="876300" y="1828800"/>
              <a:ext cx="67818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Clear product direction and an executable six-month roadmap</a:t>
              </a:r>
              <a:endParaRPr lang="en-US" sz="1200" spc="0" kern="0" b="0" i="0" dirty="0">
                <a:solidFill>
                  <a:srgbClr val="FFFFFF"/>
                </a:solidFill>
                <a:latin typeface="IBM Plex Sans"/>
                <a:ea typeface="IBM Plex Sans"/>
                <a:cs typeface="IBM Plex Sans"/>
              </a:endParaRPr>
            </a:p>
          </p:txBody>
        </p:sp>
      </p:grpSp>
      <p:grpSp>
        <p:nvGrpSpPr>
          <p:cNvPr id="28" name="activity0"/>
          <p:cNvGrpSpPr/>
          <p:nvPr/>
        </p:nvGrpSpPr>
        <p:grpSpPr>
          <a:xfrm>
            <a:off x="723900" y="2514600"/>
            <a:ext cx="3429000" cy="1219200"/>
            <a:chOff x="723900" y="2514600"/>
            <a:chExt cx="3429000" cy="1219200"/>
          </a:xfrm>
        </p:grpSpPr>
        <p:sp>
          <p:nvSpPr>
            <p:cNvPr id="7" name="activity0.container"/>
            <p:cNvSpPr/>
            <p:nvPr/>
          </p:nvSpPr>
          <p:spPr>
            <a:xfrm>
              <a:off x="723900" y="2514600"/>
              <a:ext cx="3429000" cy="1219200"/>
            </a:xfrm>
            <a:prstGeom prst="rect">
              <a:avLst/>
            </a:prstGeom>
            <a:solidFill>
              <a:srgbClr val="E8EEF8"/>
            </a:solidFill>
            <a:ln>
              <a:noFill/>
            </a:ln>
          </p:spPr>
        </p:sp>
        <p:sp>
          <p:nvSpPr>
            <p:cNvPr id="8" name="activity0.title"/>
            <p:cNvSpPr/>
            <p:nvPr/>
          </p:nvSpPr>
          <p:spPr>
            <a:xfrm>
              <a:off x="876300" y="26670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Build the evidence base</a:t>
              </a:r>
              <a:endParaRPr lang="en-US" sz="1200" spc="0" kern="0" b="0" i="0" dirty="0">
                <a:solidFill>
                  <a:srgbClr val="070154"/>
                </a:solidFill>
                <a:latin typeface="IBM Plex Sans"/>
                <a:ea typeface="IBM Plex Sans"/>
                <a:cs typeface="IBM Plex Sans"/>
              </a:endParaRPr>
            </a:p>
          </p:txBody>
        </p:sp>
        <p:sp>
          <p:nvSpPr>
            <p:cNvPr id="9" name="activity0.body.item-0.paragraph"/>
            <p:cNvSpPr/>
            <p:nvPr/>
          </p:nvSpPr>
          <p:spPr>
            <a:xfrm>
              <a:off x="876300" y="30099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Review customer needs, product performance, and business priorities.</a:t>
              </a:r>
              <a:endParaRPr lang="en-US" sz="1200" spc="0" kern="0" b="0" i="0" dirty="0">
                <a:solidFill>
                  <a:srgbClr val="50658E"/>
                </a:solidFill>
                <a:latin typeface="IBM Plex Sans"/>
                <a:ea typeface="IBM Plex Sans"/>
                <a:cs typeface="IBM Plex Sans"/>
              </a:endParaRPr>
            </a:p>
          </p:txBody>
        </p:sp>
      </p:grpSp>
      <p:grpSp>
        <p:nvGrpSpPr>
          <p:cNvPr id="29" name="activity1"/>
          <p:cNvGrpSpPr/>
          <p:nvPr/>
        </p:nvGrpSpPr>
        <p:grpSpPr>
          <a:xfrm>
            <a:off x="4381500" y="2514600"/>
            <a:ext cx="3429000" cy="1219200"/>
            <a:chOff x="4381500" y="2514600"/>
            <a:chExt cx="3429000" cy="1219200"/>
          </a:xfrm>
        </p:grpSpPr>
        <p:sp>
          <p:nvSpPr>
            <p:cNvPr id="10" name="activity1.container"/>
            <p:cNvSpPr/>
            <p:nvPr/>
          </p:nvSpPr>
          <p:spPr>
            <a:xfrm>
              <a:off x="4381500" y="2514600"/>
              <a:ext cx="3429000" cy="1219200"/>
            </a:xfrm>
            <a:prstGeom prst="rect">
              <a:avLst/>
            </a:prstGeom>
            <a:solidFill>
              <a:srgbClr val="E8EEF8"/>
            </a:solidFill>
            <a:ln>
              <a:noFill/>
            </a:ln>
          </p:spPr>
        </p:sp>
        <p:sp>
          <p:nvSpPr>
            <p:cNvPr id="11" name="activity1.title"/>
            <p:cNvSpPr/>
            <p:nvPr/>
          </p:nvSpPr>
          <p:spPr>
            <a:xfrm>
              <a:off x="4533900" y="26670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Align on product strategy</a:t>
              </a:r>
              <a:endParaRPr lang="en-US" sz="1200" spc="0" kern="0" b="0" i="0" dirty="0">
                <a:solidFill>
                  <a:srgbClr val="070154"/>
                </a:solidFill>
                <a:latin typeface="IBM Plex Sans"/>
                <a:ea typeface="IBM Plex Sans"/>
                <a:cs typeface="IBM Plex Sans"/>
              </a:endParaRPr>
            </a:p>
          </p:txBody>
        </p:sp>
        <p:sp>
          <p:nvSpPr>
            <p:cNvPr id="12" name="activity1.body.item-0.paragraph"/>
            <p:cNvSpPr/>
            <p:nvPr/>
          </p:nvSpPr>
          <p:spPr>
            <a:xfrm>
              <a:off x="4533900" y="30099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Prepare and facilitate a focused strategy workshop with product leaders.</a:t>
              </a:r>
              <a:endParaRPr lang="en-US" sz="1200" spc="0" kern="0" b="0" i="0" dirty="0">
                <a:solidFill>
                  <a:srgbClr val="50658E"/>
                </a:solidFill>
                <a:latin typeface="IBM Plex Sans"/>
                <a:ea typeface="IBM Plex Sans"/>
                <a:cs typeface="IBM Plex Sans"/>
              </a:endParaRPr>
            </a:p>
          </p:txBody>
        </p:sp>
      </p:grpSp>
      <p:grpSp>
        <p:nvGrpSpPr>
          <p:cNvPr id="30" name="activity2"/>
          <p:cNvGrpSpPr/>
          <p:nvPr/>
        </p:nvGrpSpPr>
        <p:grpSpPr>
          <a:xfrm>
            <a:off x="723900" y="3886200"/>
            <a:ext cx="3429000" cy="1219200"/>
            <a:chOff x="723900" y="3886200"/>
            <a:chExt cx="3429000" cy="1219200"/>
          </a:xfrm>
        </p:grpSpPr>
        <p:sp>
          <p:nvSpPr>
            <p:cNvPr id="13" name="activity2.container"/>
            <p:cNvSpPr/>
            <p:nvPr/>
          </p:nvSpPr>
          <p:spPr>
            <a:xfrm>
              <a:off x="723900" y="3886200"/>
              <a:ext cx="3429000" cy="1219200"/>
            </a:xfrm>
            <a:prstGeom prst="rect">
              <a:avLst/>
            </a:prstGeom>
            <a:solidFill>
              <a:srgbClr val="E8EEF8"/>
            </a:solidFill>
            <a:ln>
              <a:noFill/>
            </a:ln>
          </p:spPr>
        </p:sp>
        <p:sp>
          <p:nvSpPr>
            <p:cNvPr id="14" name="activity2.title"/>
            <p:cNvSpPr/>
            <p:nvPr/>
          </p:nvSpPr>
          <p:spPr>
            <a:xfrm>
              <a:off x="876300" y="40386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Define priorities and success measures</a:t>
              </a:r>
              <a:endParaRPr lang="en-US" sz="1200" spc="0" kern="0" b="0" i="0" dirty="0">
                <a:solidFill>
                  <a:srgbClr val="070154"/>
                </a:solidFill>
                <a:latin typeface="IBM Plex Sans"/>
                <a:ea typeface="IBM Plex Sans"/>
                <a:cs typeface="IBM Plex Sans"/>
              </a:endParaRPr>
            </a:p>
          </p:txBody>
        </p:sp>
        <p:sp>
          <p:nvSpPr>
            <p:cNvPr id="15" name="activity2.body.item-0.paragraph"/>
            <p:cNvSpPr/>
            <p:nvPr/>
          </p:nvSpPr>
          <p:spPr>
            <a:xfrm>
              <a:off x="876300" y="43815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Set product-area direction, measurable outcomes, and roadmap trade-offs.</a:t>
              </a:r>
              <a:endParaRPr lang="en-US" sz="1200" spc="0" kern="0" b="0" i="0" dirty="0">
                <a:solidFill>
                  <a:srgbClr val="50658E"/>
                </a:solidFill>
                <a:latin typeface="IBM Plex Sans"/>
                <a:ea typeface="IBM Plex Sans"/>
                <a:cs typeface="IBM Plex Sans"/>
              </a:endParaRPr>
            </a:p>
          </p:txBody>
        </p:sp>
      </p:grpSp>
      <p:grpSp>
        <p:nvGrpSpPr>
          <p:cNvPr id="31" name="activity3"/>
          <p:cNvGrpSpPr/>
          <p:nvPr/>
        </p:nvGrpSpPr>
        <p:grpSpPr>
          <a:xfrm>
            <a:off x="4381500" y="3886200"/>
            <a:ext cx="3429000" cy="1219200"/>
            <a:chOff x="4381500" y="3886200"/>
            <a:chExt cx="3429000" cy="1219200"/>
          </a:xfrm>
        </p:grpSpPr>
        <p:sp>
          <p:nvSpPr>
            <p:cNvPr id="16" name="activity3.container"/>
            <p:cNvSpPr/>
            <p:nvPr/>
          </p:nvSpPr>
          <p:spPr>
            <a:xfrm>
              <a:off x="4381500" y="3886200"/>
              <a:ext cx="3429000" cy="1219200"/>
            </a:xfrm>
            <a:prstGeom prst="rect">
              <a:avLst/>
            </a:prstGeom>
            <a:solidFill>
              <a:srgbClr val="E8EEF8"/>
            </a:solidFill>
            <a:ln>
              <a:noFill/>
            </a:ln>
          </p:spPr>
        </p:sp>
        <p:sp>
          <p:nvSpPr>
            <p:cNvPr id="17" name="activity3.title"/>
            <p:cNvSpPr/>
            <p:nvPr/>
          </p:nvSpPr>
          <p:spPr>
            <a:xfrm>
              <a:off x="4533900" y="4038600"/>
              <a:ext cx="31242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Make the roadmap actionable</a:t>
              </a:r>
              <a:endParaRPr lang="en-US" sz="1200" spc="0" kern="0" b="0" i="0" dirty="0">
                <a:solidFill>
                  <a:srgbClr val="070154"/>
                </a:solidFill>
                <a:latin typeface="IBM Plex Sans"/>
                <a:ea typeface="IBM Plex Sans"/>
                <a:cs typeface="IBM Plex Sans"/>
              </a:endParaRPr>
            </a:p>
          </p:txBody>
        </p:sp>
        <p:sp>
          <p:nvSpPr>
            <p:cNvPr id="18" name="activity3.body.item-0.paragraph"/>
            <p:cNvSpPr/>
            <p:nvPr/>
          </p:nvSpPr>
          <p:spPr>
            <a:xfrm>
              <a:off x="4533900" y="4381500"/>
              <a:ext cx="3124200" cy="4572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Complete product briefs, ownership, and handoffs for the next six months.</a:t>
              </a:r>
              <a:endParaRPr lang="en-US" sz="1200" spc="0" kern="0" b="0" i="0" dirty="0">
                <a:solidFill>
                  <a:srgbClr val="50658E"/>
                </a:solidFill>
                <a:latin typeface="IBM Plex Sans"/>
                <a:ea typeface="IBM Plex Sans"/>
                <a:cs typeface="IBM Plex Sans"/>
              </a:endParaRPr>
            </a:p>
          </p:txBody>
        </p:sp>
      </p:grpSp>
      <p:grpSp>
        <p:nvGrpSpPr>
          <p:cNvPr id="32" name="right-panel"/>
          <p:cNvGrpSpPr/>
          <p:nvPr/>
        </p:nvGrpSpPr>
        <p:grpSpPr>
          <a:xfrm>
            <a:off x="8039100" y="1600200"/>
            <a:ext cx="3429000" cy="4343400"/>
            <a:chOff x="8039100" y="1600200"/>
            <a:chExt cx="3429000" cy="4343400"/>
          </a:xfrm>
        </p:grpSpPr>
        <p:sp>
          <p:nvSpPr>
            <p:cNvPr id="19" name="right-panel.container"/>
            <p:cNvSpPr/>
            <p:nvPr/>
          </p:nvSpPr>
          <p:spPr>
            <a:xfrm>
              <a:off x="8039100" y="1600200"/>
              <a:ext cx="3429000" cy="4343400"/>
            </a:xfrm>
            <a:prstGeom prst="rect">
              <a:avLst/>
            </a:prstGeom>
            <a:solidFill>
              <a:srgbClr val="E8EEF8"/>
            </a:solidFill>
            <a:ln>
              <a:noFill/>
            </a:ln>
          </p:spPr>
        </p:sp>
        <p:sp>
          <p:nvSpPr>
            <p:cNvPr id="20" name="right-panel.title"/>
            <p:cNvSpPr/>
            <p:nvPr/>
          </p:nvSpPr>
          <p:spPr>
            <a:xfrm>
              <a:off x="8191500" y="1752600"/>
              <a:ext cx="3124200" cy="2667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4-week spike</a:t>
              </a:r>
              <a:endParaRPr lang="en-US" sz="1400" spc="0" kern="0" b="0" i="0" dirty="0">
                <a:solidFill>
                  <a:srgbClr val="070154"/>
                </a:solidFill>
                <a:latin typeface="IBM Plex Sans"/>
                <a:ea typeface="IBM Plex Sans"/>
                <a:cs typeface="IBM Plex Sans"/>
              </a:endParaRPr>
            </a:p>
          </p:txBody>
        </p:sp>
        <p:sp>
          <p:nvSpPr>
            <p:cNvPr id="21" name="right-panel.body.item-0.paragraph"/>
            <p:cNvSpPr/>
            <p:nvPr/>
          </p:nvSpPr>
          <p:spPr>
            <a:xfrm>
              <a:off x="8191500" y="2133600"/>
              <a:ext cx="3124200" cy="2286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50658E"/>
                  </a:solidFill>
                  <a:latin typeface="IBM Plex Sans"/>
                  <a:ea typeface="IBM Plex Sans"/>
                  <a:cs typeface="IBM Plex Sans"/>
                </a:rPr>
                <a:t>Executive Product Strategy · Part time · Sameer Karim</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Senior Product Strategist · Full time · Mzati Kapalamula</a:t>
              </a:r>
              <a:endParaRPr lang="en-US" sz="1200" spc="0" kern="0" b="0" i="0" dirty="0">
                <a:solidFill>
                  <a:srgbClr val="50658E"/>
                </a:solidFill>
                <a:latin typeface="IBM Plex Sans"/>
                <a:ea typeface="IBM Plex Sans"/>
                <a:cs typeface="IBM Plex Sans"/>
              </a:endParaRPr>
            </a:p>
            <a:p>
              <a:pPr algn="l" indent="0" marL="0">
                <a:lnSpc>
                  <a:spcPts val="1800"/>
                </a:lnSpc>
                <a:buNone/>
              </a:pP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INVESTMENT · ALL 3 WORKSTREAMS</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Total fees $370,000</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Credit memo ($25,000)</a:t>
              </a:r>
              <a:endParaRPr lang="en-US" sz="1200" spc="0" kern="0" b="0" i="0" dirty="0">
                <a:solidFill>
                  <a:srgbClr val="50658E"/>
                </a:solidFill>
                <a:latin typeface="IBM Plex Sans"/>
                <a:ea typeface="IBM Plex Sans"/>
                <a:cs typeface="IBM Plex Sans"/>
              </a:endParaRPr>
            </a:p>
            <a:p>
              <a:pPr algn="l" indent="0" marL="0">
                <a:lnSpc>
                  <a:spcPts val="1800"/>
                </a:lnSpc>
                <a:buNone/>
              </a:pPr>
              <a:r>
                <a:rPr lang="en-US" sz="1200" spc="0" kern="0" b="0" i="0" dirty="0">
                  <a:solidFill>
                    <a:srgbClr val="50658E"/>
                  </a:solidFill>
                  <a:latin typeface="IBM Plex Sans"/>
                  <a:ea typeface="IBM Plex Sans"/>
                  <a:cs typeface="IBM Plex Sans"/>
                </a:rPr>
                <a:t>Total investment $345,000</a:t>
              </a:r>
              <a:endParaRPr lang="en-US" sz="1200" spc="0" kern="0" b="0" i="0" dirty="0">
                <a:solidFill>
                  <a:srgbClr val="50658E"/>
                </a:solidFill>
                <a:latin typeface="IBM Plex Sans"/>
                <a:ea typeface="IBM Plex Sans"/>
                <a:cs typeface="IBM Plex Sans"/>
              </a:endParaRPr>
            </a:p>
          </p:txBody>
        </p:sp>
      </p:grpSp>
      <p:grpSp>
        <p:nvGrpSpPr>
          <p:cNvPr id="33" name="duration-note"/>
          <p:cNvGrpSpPr/>
          <p:nvPr/>
        </p:nvGrpSpPr>
        <p:grpSpPr>
          <a:xfrm>
            <a:off x="723900" y="5486400"/>
            <a:ext cx="10744200" cy="457200"/>
            <a:chOff x="723900" y="5486400"/>
            <a:chExt cx="10744200" cy="457200"/>
          </a:xfrm>
        </p:grpSpPr>
        <p:sp>
          <p:nvSpPr>
            <p:cNvPr id="22" name="duration-note.surface"/>
            <p:cNvSpPr/>
            <p:nvPr/>
          </p:nvSpPr>
          <p:spPr>
            <a:xfrm>
              <a:off x="723900" y="5486400"/>
              <a:ext cx="10744200" cy="457200"/>
            </a:xfrm>
            <a:prstGeom prst="rect">
              <a:avLst/>
            </a:prstGeom>
            <a:solidFill>
              <a:srgbClr val="E8EEF8"/>
            </a:solidFill>
            <a:ln>
              <a:noFill/>
            </a:ln>
          </p:spPr>
        </p:sp>
        <p:sp>
          <p:nvSpPr>
            <p:cNvPr id="23" name="duration-note.text"/>
            <p:cNvSpPr/>
            <p:nvPr/>
          </p:nvSpPr>
          <p:spPr>
            <a:xfrm>
              <a:off x="876300" y="5600700"/>
              <a:ext cx="10439400" cy="228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Product direction, priorities, and a practical path to execution</a:t>
              </a:r>
              <a:endParaRPr lang="en-US" sz="1200" spc="0" kern="0" b="0" i="0" dirty="0">
                <a:solidFill>
                  <a:srgbClr val="070154"/>
                </a:solidFill>
                <a:latin typeface="IBM Plex Sans"/>
                <a:ea typeface="IBM Plex Sans"/>
                <a:cs typeface="IBM Plex Sans"/>
              </a:endParaRPr>
            </a:p>
          </p:txBody>
        </p:sp>
      </p:grpSp>
      <p:grpSp>
        <p:nvGrpSpPr>
          <p:cNvPr id="34" name="authored-header"/>
          <p:cNvGrpSpPr/>
          <p:nvPr/>
        </p:nvGrpSpPr>
        <p:grpSpPr>
          <a:xfrm>
            <a:off x="723900" y="685800"/>
            <a:ext cx="9372600" cy="914400"/>
            <a:chOff x="723900" y="685800"/>
            <a:chExt cx="9372600" cy="914400"/>
          </a:xfrm>
        </p:grpSpPr>
        <p:sp>
          <p:nvSpPr>
            <p:cNvPr id="24" name="authored-header.text"/>
            <p:cNvSpPr/>
            <p:nvPr/>
          </p:nvSpPr>
          <p:spPr>
            <a:xfrm>
              <a:off x="723900" y="685800"/>
              <a:ext cx="9372600" cy="9144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Product strategy spike</a:t>
              </a:r>
              <a:endParaRPr lang="en-US" sz="3200" spc="-64" kern="0" b="0" i="0" dirty="0">
                <a:solidFill>
                  <a:srgbClr val="070154"/>
                </a:solidFill>
                <a:latin typeface="IBM Plex Sans SemiBold"/>
                <a:ea typeface="IBM Plex Sans SemiBold"/>
                <a:cs typeface="IBM Plex Sans SemiBold"/>
              </a:endParaRPr>
            </a:p>
          </p:txBody>
        </p:sp>
      </p:grpSp>
      <p:grpSp>
        <p:nvGrpSpPr>
          <p:cNvPr id="35" name="authored-eyebrow"/>
          <p:cNvGrpSpPr/>
          <p:nvPr/>
        </p:nvGrpSpPr>
        <p:grpSpPr>
          <a:xfrm>
            <a:off x="723900" y="457200"/>
            <a:ext cx="9372600" cy="228600"/>
            <a:chOff x="723900" y="457200"/>
            <a:chExt cx="9372600" cy="228600"/>
          </a:xfrm>
        </p:grpSpPr>
        <p:sp>
          <p:nvSpPr>
            <p:cNvPr id="25" name="authored-eyebrow.text"/>
            <p:cNvSpPr/>
            <p:nvPr/>
          </p:nvSpPr>
          <p:spPr>
            <a:xfrm>
              <a:off x="723900" y="457200"/>
              <a:ext cx="9372600" cy="2286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PRODUCT STRATEGY</a:t>
              </a:r>
              <a:endParaRPr lang="en-US" sz="1000" spc="80" kern="0" b="0" i="0" dirty="0">
                <a:solidFill>
                  <a:srgbClr val="0047FF"/>
                </a:solidFill>
                <a:latin typeface="IBM Plex Mono SemiBold"/>
                <a:ea typeface="IBM Plex Mono SemiBold"/>
                <a:cs typeface="IBM Plex Mono SemiBold"/>
              </a:endParaRPr>
            </a:p>
          </p:txBody>
        </p:sp>
      </p:grpSp>
      <p:grpSp>
        <p:nvGrpSpPr>
          <p:cNvPr id="36" name="client-brand"/>
          <p:cNvGrpSpPr/>
          <p:nvPr/>
        </p:nvGrpSpPr>
        <p:grpSpPr>
          <a:xfrm>
            <a:off x="10382250" y="457200"/>
            <a:ext cx="1028700" cy="457200"/>
            <a:chOff x="10382250" y="457200"/>
            <a:chExt cx="1028700" cy="457200"/>
          </a:xfrm>
        </p:grpSpPr>
        <p:pic>
          <p:nvPicPr>
            <p:cNvPr id="26" name="client-brand.image" descr="Exact original DentalXChange asset ppt/media/image31.png; project:source-image31; canonical SHA256=51385b7813333a7f4207d77364f6a318acc4d148486d489c8a87f115754c251f">    </p:cNvPr>
            <p:cNvPicPr>
              <a:picLocks noChangeAspect="1"/>
            </p:cNvPicPr>
            <p:nvPr/>
          </p:nvPicPr>
          <p:blipFill>
            <a:blip r:embed="rId1"/>
            <a:stretch>
              <a:fillRect/>
            </a:stretch>
          </p:blipFill>
          <p:spPr>
            <a:xfrm>
              <a:off x="10382250" y="457200"/>
              <a:ext cx="1028700" cy="457200"/>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15</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DentalXChange Product and R&amp;D Operating Model</dc:title>
  <dc:subject>PptxGenJS Presentation</dc:subject>
  <dc:creator>West Monroe</dc:creator>
  <cp:lastModifiedBy>West Monroe</cp:lastModifiedBy>
  <cp:revision>1</cp:revision>
  <dcterms:created xsi:type="dcterms:W3CDTF">2000-01-01T00:00:00Z</dcterms:created>
  <dcterms:modified xsi:type="dcterms:W3CDTF">2000-01-01T00:00:00Z</dcterms:modified>
</cp:coreProperties>
</file>