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3_3166D99E.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29E_F4A18CE3.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26_6794696D.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43_3BD73A13.xml" ContentType="application/vnd.ms-powerpoint.comments+xml"/>
  <Override PartName="/ppt/notesSlides/notesSlide19.xml" ContentType="application/vnd.openxmlformats-officedocument.presentationml.notesSlide+xml"/>
  <Override PartName="/ppt/comments/modernComment_13C_85FA98B.xml" ContentType="application/vnd.ms-powerpoint.comments+xml"/>
  <Override PartName="/ppt/notesSlides/notesSlide20.xml" ContentType="application/vnd.openxmlformats-officedocument.presentationml.notesSlide+xml"/>
  <Override PartName="/ppt/comments/modernComment_12E_5379C3DF.xml" ContentType="application/vnd.ms-powerpoint.comments+xml"/>
  <Override PartName="/ppt/notesSlides/notesSlide21.xml" ContentType="application/vnd.openxmlformats-officedocument.presentationml.notesSlide+xml"/>
  <Override PartName="/ppt/comments/modernComment_13F_11354A5C.xml" ContentType="application/vnd.ms-powerpoint.comments+xml"/>
  <Override PartName="/ppt/notesSlides/notesSlide22.xml" ContentType="application/vnd.openxmlformats-officedocument.presentationml.notesSlide+xml"/>
  <Override PartName="/ppt/comments/modernComment_13E_B1AB5E6C.xml" ContentType="application/vnd.ms-powerpoint.comments+xml"/>
  <Override PartName="/ppt/notesSlides/notesSlide23.xml" ContentType="application/vnd.openxmlformats-officedocument.presentationml.notesSlide+xml"/>
  <Override PartName="/ppt/comments/modernComment_13D_9E3B556B.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modernComment_10B_5DB33DBA.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omments/modernComment_120_9472878C.xml" ContentType="application/vnd.ms-powerpoint.comments+xml"/>
  <Override PartName="/ppt/notesSlides/notesSlide32.xml" ContentType="application/vnd.openxmlformats-officedocument.presentationml.notesSlide+xml"/>
  <Override PartName="/ppt/comments/modernComment_110_4A1F9261.xml" ContentType="application/vnd.ms-powerpoint.comment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omments/modernComment_13A_FCED75A2.xml" ContentType="application/vnd.ms-powerpoint.comments+xml"/>
  <Override PartName="/ppt/notesSlides/notesSlide35.xml" ContentType="application/vnd.openxmlformats-officedocument.presentationml.notesSlide+xml"/>
  <Override PartName="/ppt/comments/modernComment_142_C43A6AE9.xml" ContentType="application/vnd.ms-powerpoint.comments+xml"/>
  <Override PartName="/ppt/notesSlides/notesSlide36.xml" ContentType="application/vnd.openxmlformats-officedocument.presentationml.notesSlide+xml"/>
  <Override PartName="/ppt/comments/modernComment_136_40FC397.xml" ContentType="application/vnd.ms-powerpoint.comment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1.xml" ContentType="application/vnd.openxmlformats-officedocument.drawingml.chart+xml"/>
  <Override PartName="/ppt/notesSlides/notesSlide46.xml" ContentType="application/vnd.openxmlformats-officedocument.presentationml.notesSlide+xml"/>
  <Override PartName="/ppt/comments/modernComment_107_121E4FE4.xml" ContentType="application/vnd.ms-powerpoint.comment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omments/modernComment_133_7AD186E9.xml" ContentType="application/vnd.ms-powerpoint.comment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omments/modernComment_140_B6055E57.xml" ContentType="application/vnd.ms-powerpoint.comments+xml"/>
  <Override PartName="/ppt/notesSlides/notesSlide5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62"/>
  </p:notesMasterIdLst>
  <p:sldIdLst>
    <p:sldId id="256" r:id="rId5"/>
    <p:sldId id="667" r:id="rId6"/>
    <p:sldId id="315" r:id="rId7"/>
    <p:sldId id="304" r:id="rId8"/>
    <p:sldId id="259" r:id="rId9"/>
    <p:sldId id="345" r:id="rId10"/>
    <p:sldId id="670" r:id="rId11"/>
    <p:sldId id="332" r:id="rId12"/>
    <p:sldId id="327" r:id="rId13"/>
    <p:sldId id="282" r:id="rId14"/>
    <p:sldId id="326" r:id="rId15"/>
    <p:sldId id="294" r:id="rId16"/>
    <p:sldId id="346" r:id="rId17"/>
    <p:sldId id="295" r:id="rId18"/>
    <p:sldId id="265" r:id="rId19"/>
    <p:sldId id="292" r:id="rId20"/>
    <p:sldId id="347" r:id="rId21"/>
    <p:sldId id="323" r:id="rId22"/>
    <p:sldId id="316" r:id="rId23"/>
    <p:sldId id="302" r:id="rId24"/>
    <p:sldId id="319" r:id="rId25"/>
    <p:sldId id="318" r:id="rId26"/>
    <p:sldId id="317" r:id="rId27"/>
    <p:sldId id="283" r:id="rId28"/>
    <p:sldId id="267" r:id="rId29"/>
    <p:sldId id="274" r:id="rId30"/>
    <p:sldId id="276" r:id="rId31"/>
    <p:sldId id="287" r:id="rId32"/>
    <p:sldId id="278" r:id="rId33"/>
    <p:sldId id="306" r:id="rId34"/>
    <p:sldId id="288" r:id="rId35"/>
    <p:sldId id="272" r:id="rId36"/>
    <p:sldId id="311" r:id="rId37"/>
    <p:sldId id="314" r:id="rId38"/>
    <p:sldId id="322" r:id="rId39"/>
    <p:sldId id="310" r:id="rId40"/>
    <p:sldId id="348" r:id="rId41"/>
    <p:sldId id="340" r:id="rId42"/>
    <p:sldId id="668" r:id="rId43"/>
    <p:sldId id="669" r:id="rId44"/>
    <p:sldId id="341" r:id="rId45"/>
    <p:sldId id="296" r:id="rId46"/>
    <p:sldId id="286" r:id="rId47"/>
    <p:sldId id="297" r:id="rId48"/>
    <p:sldId id="303" r:id="rId49"/>
    <p:sldId id="263" r:id="rId50"/>
    <p:sldId id="284" r:id="rId51"/>
    <p:sldId id="305" r:id="rId52"/>
    <p:sldId id="298" r:id="rId53"/>
    <p:sldId id="299" r:id="rId54"/>
    <p:sldId id="300" r:id="rId55"/>
    <p:sldId id="301" r:id="rId56"/>
    <p:sldId id="307" r:id="rId57"/>
    <p:sldId id="321" r:id="rId58"/>
    <p:sldId id="257" r:id="rId59"/>
    <p:sldId id="320" r:id="rId60"/>
    <p:sldId id="331"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316C4AD-AAB6-1E4A-AF4B-0226BEF7CC03}">
          <p14:sldIdLst>
            <p14:sldId id="256"/>
            <p14:sldId id="667"/>
            <p14:sldId id="315"/>
            <p14:sldId id="304"/>
          </p14:sldIdLst>
        </p14:section>
        <p14:section name="Executive Summary" id="{BFF74B93-E984-F24C-BAAF-CF488E3B5F4B}">
          <p14:sldIdLst>
            <p14:sldId id="259"/>
            <p14:sldId id="345"/>
            <p14:sldId id="670"/>
            <p14:sldId id="332"/>
          </p14:sldIdLst>
        </p14:section>
        <p14:section name="Deliverables" id="{4BC8D54B-858F-AF44-9C09-8E444A1CA937}">
          <p14:sldIdLst>
            <p14:sldId id="327"/>
          </p14:sldIdLst>
        </p14:section>
        <p14:section name="Practices map" id="{86C5F6B6-BA30-484D-8D5B-49C3E8859218}">
          <p14:sldIdLst>
            <p14:sldId id="282"/>
            <p14:sldId id="326"/>
            <p14:sldId id="294"/>
          </p14:sldIdLst>
        </p14:section>
        <p14:section name="Activation summary" id="{4B5FA3C8-41AA-8140-AEF6-A5504DCFF45D}">
          <p14:sldIdLst>
            <p14:sldId id="346"/>
            <p14:sldId id="295"/>
            <p14:sldId id="265"/>
            <p14:sldId id="292"/>
          </p14:sldIdLst>
        </p14:section>
        <p14:section name="Activation roadmap" id="{6B9EEFA3-B0EE-6847-A1FB-0170F7C3AB20}">
          <p14:sldIdLst>
            <p14:sldId id="347"/>
            <p14:sldId id="323"/>
            <p14:sldId id="316"/>
            <p14:sldId id="302"/>
            <p14:sldId id="319"/>
            <p14:sldId id="318"/>
            <p14:sldId id="317"/>
            <p14:sldId id="283"/>
            <p14:sldId id="267"/>
            <p14:sldId id="274"/>
            <p14:sldId id="276"/>
            <p14:sldId id="287"/>
            <p14:sldId id="278"/>
            <p14:sldId id="306"/>
            <p14:sldId id="288"/>
            <p14:sldId id="272"/>
            <p14:sldId id="311"/>
            <p14:sldId id="314"/>
            <p14:sldId id="322"/>
            <p14:sldId id="310"/>
            <p14:sldId id="348"/>
            <p14:sldId id="340"/>
            <p14:sldId id="668"/>
            <p14:sldId id="669"/>
            <p14:sldId id="341"/>
          </p14:sldIdLst>
        </p14:section>
        <p14:section name="Graveyard" id="{8053114B-8BA2-F145-AD74-1EEE94E2779B}">
          <p14:sldIdLst>
            <p14:sldId id="296"/>
            <p14:sldId id="286"/>
            <p14:sldId id="297"/>
            <p14:sldId id="303"/>
            <p14:sldId id="263"/>
            <p14:sldId id="284"/>
            <p14:sldId id="305"/>
            <p14:sldId id="298"/>
            <p14:sldId id="299"/>
            <p14:sldId id="300"/>
            <p14:sldId id="301"/>
            <p14:sldId id="307"/>
            <p14:sldId id="321"/>
            <p14:sldId id="257"/>
            <p14:sldId id="320"/>
            <p14:sldId id="331"/>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5E7A012-4DE3-BD7D-683E-6DBA83D26AFF}" name="Ri Scott" initials="RS" userId="S::rscott@westmonroepartners.com::1913be8a-4603-46d8-b612-bfc881c3abfb" providerId="AD"/>
  <p188:author id="{6BCFFFA3-632A-0650-139C-853EA209CC34}" name="Anthony Salerno" initials="AS" userId="S::asalerno@westmonroepartners.com::d1b4cfc1-2afc-4247-a96a-a247d4d9def5" providerId="AD"/>
  <p188:author id="{91CEAAE8-0363-BC96-FF8A-DB87E053E59F}" name="Sameer Karim" initials="SK" userId="S::skarim@westmonroepartners.com::9cab37b7-2936-4623-a6a1-1caa11eed363" providerId="AD"/>
  <p188:author id="{A4955AF2-D546-83B0-A1A9-47C685039754}" name="Gerardo Arroyo" initials="" userId="S::garroyo@westmonroepartners.com::29bef0c0-363c-4268-bff3-0d97d45984e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50658E"/>
    <a:srgbClr val="FDE0DC"/>
    <a:srgbClr val="004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9" dt="2026-10-02T13:46:44.074"/>
    <p1510:client id="{1884B3A2-F580-CA7E-1167-2A1ABA708442}" v="1" dt="2026-10-02T17:54:20.141"/>
    <p1510:client id="{6300F808-CFA9-3342-9EE8-69F43F51DC98}" v="703" dt="2026-10-02T17:39:53.275"/>
    <p1510:client id="{6B542629-A5E4-7842-B7E6-1762C931D5D6}" v="2" dt="2026-10-02T17:26:34.978"/>
    <p1510:client id="{88D9DEE5-70A0-D04F-BBA0-31B3991DFF6E}" v="1179" dt="2026-10-02T16:41:01.800"/>
    <p1510:client id="{F4EB36EC-32E4-EE4A-933C-95603214D0D4}" v="442" dt="2026-10-02T15:28:58.417"/>
  </p1510:revLst>
</p1510:revInfo>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69"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 Scott" userId="1913be8a-4603-46d8-b612-bfc881c3abfb" providerId="ADAL" clId="{B93A5389-13E6-5166-ABDF-36725E1A5C9F}"/>
    <pc:docChg chg="custSel addSld delSld modSld modSection">
      <pc:chgData name="Ri Scott" userId="1913be8a-4603-46d8-b612-bfc881c3abfb" providerId="ADAL" clId="{B93A5389-13E6-5166-ABDF-36725E1A5C9F}" dt="2026-10-02T15:28:58.417" v="414"/>
      <pc:docMkLst>
        <pc:docMk/>
      </pc:docMkLst>
      <pc:sldChg chg="modSp mod">
        <pc:chgData name="Ri Scott" userId="1913be8a-4603-46d8-b612-bfc881c3abfb" providerId="ADAL" clId="{B93A5389-13E6-5166-ABDF-36725E1A5C9F}" dt="2026-10-02T15:28:58.417" v="414"/>
        <pc:sldMkLst>
          <pc:docMk/>
          <pc:sldMk cId="2138949363" sldId="341"/>
        </pc:sldMkLst>
        <pc:spChg chg="mod">
          <ac:chgData name="Ri Scott" userId="1913be8a-4603-46d8-b612-bfc881c3abfb" providerId="ADAL" clId="{B93A5389-13E6-5166-ABDF-36725E1A5C9F}" dt="2026-10-02T15:28:51.533" v="413" actId="20577"/>
          <ac:spMkLst>
            <pc:docMk/>
            <pc:sldMk cId="2138949363" sldId="341"/>
            <ac:spMk id="80" creationId="{00000000-0000-0000-0000-000000000000}"/>
          </ac:spMkLst>
        </pc:spChg>
        <pc:spChg chg="mod">
          <ac:chgData name="Ri Scott" userId="1913be8a-4603-46d8-b612-bfc881c3abfb" providerId="ADAL" clId="{B93A5389-13E6-5166-ABDF-36725E1A5C9F}" dt="2026-10-02T15:28:58.417" v="414"/>
          <ac:spMkLst>
            <pc:docMk/>
            <pc:sldMk cId="2138949363" sldId="341"/>
            <ac:spMk id="86" creationId="{00000000-0000-0000-0000-000000000000}"/>
          </ac:spMkLst>
        </pc:spChg>
      </pc:sldChg>
      <pc:sldChg chg="del">
        <pc:chgData name="Ri Scott" userId="1913be8a-4603-46d8-b612-bfc881c3abfb" providerId="ADAL" clId="{B93A5389-13E6-5166-ABDF-36725E1A5C9F}" dt="2026-10-02T15:23:12.458" v="1"/>
        <pc:sldMkLst>
          <pc:docMk/>
          <pc:sldMk cId="3836366406" sldId="342"/>
        </pc:sldMkLst>
      </pc:sldChg>
      <pc:sldChg chg="del">
        <pc:chgData name="Ri Scott" userId="1913be8a-4603-46d8-b612-bfc881c3abfb" providerId="ADAL" clId="{B93A5389-13E6-5166-ABDF-36725E1A5C9F}" dt="2026-10-02T15:23:33.568" v="3"/>
        <pc:sldMkLst>
          <pc:docMk/>
          <pc:sldMk cId="4124883295" sldId="343"/>
        </pc:sldMkLst>
      </pc:sldChg>
      <pc:sldChg chg="modSp add mod">
        <pc:chgData name="Ri Scott" userId="1913be8a-4603-46d8-b612-bfc881c3abfb" providerId="ADAL" clId="{B93A5389-13E6-5166-ABDF-36725E1A5C9F}" dt="2026-10-02T15:23:45.161" v="20"/>
        <pc:sldMkLst>
          <pc:docMk/>
          <pc:sldMk cId="530547573" sldId="668"/>
        </pc:sldMkLst>
        <pc:spChg chg="mod">
          <ac:chgData name="Ri Scott" userId="1913be8a-4603-46d8-b612-bfc881c3abfb" providerId="ADAL" clId="{B93A5389-13E6-5166-ABDF-36725E1A5C9F}" dt="2026-10-02T15:23:45.159" v="6"/>
          <ac:spMkLst>
            <pc:docMk/>
            <pc:sldMk cId="530547573" sldId="668"/>
            <ac:spMk id="56" creationId="{00000000-0000-0000-0000-000000000000}"/>
          </ac:spMkLst>
        </pc:spChg>
        <pc:spChg chg="mod">
          <ac:chgData name="Ri Scott" userId="1913be8a-4603-46d8-b612-bfc881c3abfb" providerId="ADAL" clId="{B93A5389-13E6-5166-ABDF-36725E1A5C9F}" dt="2026-10-02T15:23:45.159" v="9"/>
          <ac:spMkLst>
            <pc:docMk/>
            <pc:sldMk cId="530547573" sldId="668"/>
            <ac:spMk id="57" creationId="{00000000-0000-0000-0000-000000000000}"/>
          </ac:spMkLst>
        </pc:spChg>
        <pc:spChg chg="mod">
          <ac:chgData name="Ri Scott" userId="1913be8a-4603-46d8-b612-bfc881c3abfb" providerId="ADAL" clId="{B93A5389-13E6-5166-ABDF-36725E1A5C9F}" dt="2026-10-02T15:23:45.160" v="12"/>
          <ac:spMkLst>
            <pc:docMk/>
            <pc:sldMk cId="530547573" sldId="668"/>
            <ac:spMk id="58" creationId="{00000000-0000-0000-0000-000000000000}"/>
          </ac:spMkLst>
        </pc:spChg>
        <pc:spChg chg="mod">
          <ac:chgData name="Ri Scott" userId="1913be8a-4603-46d8-b612-bfc881c3abfb" providerId="ADAL" clId="{B93A5389-13E6-5166-ABDF-36725E1A5C9F}" dt="2026-10-02T15:23:45.160" v="15"/>
          <ac:spMkLst>
            <pc:docMk/>
            <pc:sldMk cId="530547573" sldId="668"/>
            <ac:spMk id="59" creationId="{00000000-0000-0000-0000-000000000000}"/>
          </ac:spMkLst>
        </pc:spChg>
        <pc:spChg chg="mod">
          <ac:chgData name="Ri Scott" userId="1913be8a-4603-46d8-b612-bfc881c3abfb" providerId="ADAL" clId="{B93A5389-13E6-5166-ABDF-36725E1A5C9F}" dt="2026-10-02T15:23:45.161" v="18"/>
          <ac:spMkLst>
            <pc:docMk/>
            <pc:sldMk cId="530547573" sldId="668"/>
            <ac:spMk id="60" creationId="{00000000-0000-0000-0000-000000000000}"/>
          </ac:spMkLst>
        </pc:spChg>
        <pc:spChg chg="mod">
          <ac:chgData name="Ri Scott" userId="1913be8a-4603-46d8-b612-bfc881c3abfb" providerId="ADAL" clId="{B93A5389-13E6-5166-ABDF-36725E1A5C9F}" dt="2026-10-02T15:23:45.161" v="20"/>
          <ac:spMkLst>
            <pc:docMk/>
            <pc:sldMk cId="530547573" sldId="668"/>
            <ac:spMk id="62" creationId="{00000000-0000-0000-0000-000000000000}"/>
          </ac:spMkLst>
        </pc:spChg>
      </pc:sldChg>
      <pc:sldChg chg="modSp add mod">
        <pc:chgData name="Ri Scott" userId="1913be8a-4603-46d8-b612-bfc881c3abfb" providerId="ADAL" clId="{B93A5389-13E6-5166-ABDF-36725E1A5C9F}" dt="2026-10-02T15:27:01.865" v="333" actId="20577"/>
        <pc:sldMkLst>
          <pc:docMk/>
          <pc:sldMk cId="1445468839" sldId="669"/>
        </pc:sldMkLst>
        <pc:spChg chg="mod">
          <ac:chgData name="Ri Scott" userId="1913be8a-4603-46d8-b612-bfc881c3abfb" providerId="ADAL" clId="{B93A5389-13E6-5166-ABDF-36725E1A5C9F}" dt="2026-10-02T15:23:45.164" v="23"/>
          <ac:spMkLst>
            <pc:docMk/>
            <pc:sldMk cId="1445468839" sldId="669"/>
            <ac:spMk id="56" creationId="{00000000-0000-0000-0000-000000000000}"/>
          </ac:spMkLst>
        </pc:spChg>
        <pc:spChg chg="mod">
          <ac:chgData name="Ri Scott" userId="1913be8a-4603-46d8-b612-bfc881c3abfb" providerId="ADAL" clId="{B93A5389-13E6-5166-ABDF-36725E1A5C9F}" dt="2026-10-02T15:23:45.164" v="26"/>
          <ac:spMkLst>
            <pc:docMk/>
            <pc:sldMk cId="1445468839" sldId="669"/>
            <ac:spMk id="57" creationId="{00000000-0000-0000-0000-000000000000}"/>
          </ac:spMkLst>
        </pc:spChg>
        <pc:spChg chg="mod">
          <ac:chgData name="Ri Scott" userId="1913be8a-4603-46d8-b612-bfc881c3abfb" providerId="ADAL" clId="{B93A5389-13E6-5166-ABDF-36725E1A5C9F}" dt="2026-10-02T15:23:45.167" v="41"/>
          <ac:spMkLst>
            <pc:docMk/>
            <pc:sldMk cId="1445468839" sldId="669"/>
            <ac:spMk id="60" creationId="{00000000-0000-0000-0000-000000000000}"/>
          </ac:spMkLst>
        </pc:spChg>
        <pc:spChg chg="mod">
          <ac:chgData name="Ri Scott" userId="1913be8a-4603-46d8-b612-bfc881c3abfb" providerId="ADAL" clId="{B93A5389-13E6-5166-ABDF-36725E1A5C9F}" dt="2026-10-02T15:23:45.165" v="29"/>
          <ac:spMkLst>
            <pc:docMk/>
            <pc:sldMk cId="1445468839" sldId="669"/>
            <ac:spMk id="62" creationId="{00000000-0000-0000-0000-000000000000}"/>
          </ac:spMkLst>
        </pc:spChg>
        <pc:spChg chg="mod">
          <ac:chgData name="Ri Scott" userId="1913be8a-4603-46d8-b612-bfc881c3abfb" providerId="ADAL" clId="{B93A5389-13E6-5166-ABDF-36725E1A5C9F}" dt="2026-10-02T15:23:45.165" v="32"/>
          <ac:spMkLst>
            <pc:docMk/>
            <pc:sldMk cId="1445468839" sldId="669"/>
            <ac:spMk id="63" creationId="{00000000-0000-0000-0000-000000000000}"/>
          </ac:spMkLst>
        </pc:spChg>
        <pc:spChg chg="mod">
          <ac:chgData name="Ri Scott" userId="1913be8a-4603-46d8-b612-bfc881c3abfb" providerId="ADAL" clId="{B93A5389-13E6-5166-ABDF-36725E1A5C9F}" dt="2026-10-02T15:23:45.166" v="35"/>
          <ac:spMkLst>
            <pc:docMk/>
            <pc:sldMk cId="1445468839" sldId="669"/>
            <ac:spMk id="64" creationId="{00000000-0000-0000-0000-000000000000}"/>
          </ac:spMkLst>
        </pc:spChg>
        <pc:spChg chg="mod">
          <ac:chgData name="Ri Scott" userId="1913be8a-4603-46d8-b612-bfc881c3abfb" providerId="ADAL" clId="{B93A5389-13E6-5166-ABDF-36725E1A5C9F}" dt="2026-10-02T15:23:45.166" v="38"/>
          <ac:spMkLst>
            <pc:docMk/>
            <pc:sldMk cId="1445468839" sldId="669"/>
            <ac:spMk id="65" creationId="{00000000-0000-0000-0000-000000000000}"/>
          </ac:spMkLst>
        </pc:spChg>
        <pc:spChg chg="mod">
          <ac:chgData name="Ri Scott" userId="1913be8a-4603-46d8-b612-bfc881c3abfb" providerId="ADAL" clId="{B93A5389-13E6-5166-ABDF-36725E1A5C9F}" dt="2026-10-02T15:27:01.865" v="333" actId="20577"/>
          <ac:spMkLst>
            <pc:docMk/>
            <pc:sldMk cId="1445468839" sldId="669"/>
            <ac:spMk id="66" creationId="{00000000-0000-0000-0000-000000000000}"/>
          </ac:spMkLst>
        </pc:spChg>
      </pc:sldChg>
    </pc:docChg>
  </pc:docChgLst>
  <pc:docChgLst>
    <pc:chgData name="Anthony Salerno" userId="d1b4cfc1-2afc-4247-a96a-a247d4d9def5" providerId="ADAL" clId="{55B219D2-6310-539E-9AF9-3E5B2F3B5E1A}"/>
    <pc:docChg chg="custSel addSld modSld">
      <pc:chgData name="Anthony Salerno" userId="d1b4cfc1-2afc-4247-a96a-a247d4d9def5" providerId="ADAL" clId="{55B219D2-6310-539E-9AF9-3E5B2F3B5E1A}" dt="2026-10-02T17:39:11.692" v="577" actId="255"/>
      <pc:docMkLst>
        <pc:docMk/>
      </pc:docMkLst>
      <pc:sldChg chg="addSp delSp modSp add mod">
        <pc:chgData name="Anthony Salerno" userId="d1b4cfc1-2afc-4247-a96a-a247d4d9def5" providerId="ADAL" clId="{55B219D2-6310-539E-9AF9-3E5B2F3B5E1A}" dt="2026-10-02T17:39:11.692" v="577" actId="255"/>
        <pc:sldMkLst>
          <pc:docMk/>
          <pc:sldMk cId="4104228067" sldId="670"/>
        </pc:sldMkLst>
        <pc:spChg chg="mod">
          <ac:chgData name="Anthony Salerno" userId="d1b4cfc1-2afc-4247-a96a-a247d4d9def5" providerId="ADAL" clId="{55B219D2-6310-539E-9AF9-3E5B2F3B5E1A}" dt="2026-10-02T17:33:01.442" v="441" actId="20577"/>
          <ac:spMkLst>
            <pc:docMk/>
            <pc:sldMk cId="4104228067" sldId="670"/>
            <ac:spMk id="2" creationId="{B6B6156B-E8DF-8F0A-40C0-0407F8535EFD}"/>
          </ac:spMkLst>
        </pc:spChg>
        <pc:spChg chg="del">
          <ac:chgData name="Anthony Salerno" userId="d1b4cfc1-2afc-4247-a96a-a247d4d9def5" providerId="ADAL" clId="{55B219D2-6310-539E-9AF9-3E5B2F3B5E1A}" dt="2026-10-02T17:26:58.632" v="20" actId="478"/>
          <ac:spMkLst>
            <pc:docMk/>
            <pc:sldMk cId="4104228067" sldId="670"/>
            <ac:spMk id="3" creationId="{E07E1634-0964-D121-90A8-FAF29A2A9A15}"/>
          </ac:spMkLst>
        </pc:spChg>
        <pc:spChg chg="del">
          <ac:chgData name="Anthony Salerno" userId="d1b4cfc1-2afc-4247-a96a-a247d4d9def5" providerId="ADAL" clId="{55B219D2-6310-539E-9AF9-3E5B2F3B5E1A}" dt="2026-10-02T17:26:56.671" v="19" actId="478"/>
          <ac:spMkLst>
            <pc:docMk/>
            <pc:sldMk cId="4104228067" sldId="670"/>
            <ac:spMk id="9" creationId="{076AA8D8-842E-FE83-C38C-61C7B1A2EF18}"/>
          </ac:spMkLst>
        </pc:spChg>
        <pc:spChg chg="del">
          <ac:chgData name="Anthony Salerno" userId="d1b4cfc1-2afc-4247-a96a-a247d4d9def5" providerId="ADAL" clId="{55B219D2-6310-539E-9AF9-3E5B2F3B5E1A}" dt="2026-10-02T17:26:56.671" v="19" actId="478"/>
          <ac:spMkLst>
            <pc:docMk/>
            <pc:sldMk cId="4104228067" sldId="670"/>
            <ac:spMk id="10" creationId="{7076F368-93C6-689B-AED2-A8D1E3B1C646}"/>
          </ac:spMkLst>
        </pc:spChg>
        <pc:spChg chg="del">
          <ac:chgData name="Anthony Salerno" userId="d1b4cfc1-2afc-4247-a96a-a247d4d9def5" providerId="ADAL" clId="{55B219D2-6310-539E-9AF9-3E5B2F3B5E1A}" dt="2026-10-02T17:26:56.671" v="19" actId="478"/>
          <ac:spMkLst>
            <pc:docMk/>
            <pc:sldMk cId="4104228067" sldId="670"/>
            <ac:spMk id="12" creationId="{BF73D635-2E5D-1E1D-017D-5A3FD8E69748}"/>
          </ac:spMkLst>
        </pc:spChg>
        <pc:spChg chg="del">
          <ac:chgData name="Anthony Salerno" userId="d1b4cfc1-2afc-4247-a96a-a247d4d9def5" providerId="ADAL" clId="{55B219D2-6310-539E-9AF9-3E5B2F3B5E1A}" dt="2026-10-02T17:26:56.671" v="19" actId="478"/>
          <ac:spMkLst>
            <pc:docMk/>
            <pc:sldMk cId="4104228067" sldId="670"/>
            <ac:spMk id="13" creationId="{A57FE56D-FFF5-4793-5F4D-F6A26E61FBB1}"/>
          </ac:spMkLst>
        </pc:spChg>
        <pc:spChg chg="del">
          <ac:chgData name="Anthony Salerno" userId="d1b4cfc1-2afc-4247-a96a-a247d4d9def5" providerId="ADAL" clId="{55B219D2-6310-539E-9AF9-3E5B2F3B5E1A}" dt="2026-10-02T17:26:56.671" v="19" actId="478"/>
          <ac:spMkLst>
            <pc:docMk/>
            <pc:sldMk cId="4104228067" sldId="670"/>
            <ac:spMk id="17" creationId="{48A4469B-D34B-F44C-86C8-F58698659DC3}"/>
          </ac:spMkLst>
        </pc:spChg>
        <pc:spChg chg="del">
          <ac:chgData name="Anthony Salerno" userId="d1b4cfc1-2afc-4247-a96a-a247d4d9def5" providerId="ADAL" clId="{55B219D2-6310-539E-9AF9-3E5B2F3B5E1A}" dt="2026-10-02T17:26:56.671" v="19" actId="478"/>
          <ac:spMkLst>
            <pc:docMk/>
            <pc:sldMk cId="4104228067" sldId="670"/>
            <ac:spMk id="21" creationId="{1559A2B6-2989-4463-889F-C60BA3D5F2D3}"/>
          </ac:spMkLst>
        </pc:spChg>
        <pc:spChg chg="del">
          <ac:chgData name="Anthony Salerno" userId="d1b4cfc1-2afc-4247-a96a-a247d4d9def5" providerId="ADAL" clId="{55B219D2-6310-539E-9AF9-3E5B2F3B5E1A}" dt="2026-10-02T17:26:56.671" v="19" actId="478"/>
          <ac:spMkLst>
            <pc:docMk/>
            <pc:sldMk cId="4104228067" sldId="670"/>
            <ac:spMk id="23" creationId="{F3448EF9-5AF7-A970-ADBB-DAFD84621927}"/>
          </ac:spMkLst>
        </pc:spChg>
        <pc:spChg chg="del">
          <ac:chgData name="Anthony Salerno" userId="d1b4cfc1-2afc-4247-a96a-a247d4d9def5" providerId="ADAL" clId="{55B219D2-6310-539E-9AF9-3E5B2F3B5E1A}" dt="2026-10-02T17:26:56.671" v="19" actId="478"/>
          <ac:spMkLst>
            <pc:docMk/>
            <pc:sldMk cId="4104228067" sldId="670"/>
            <ac:spMk id="24" creationId="{670887D7-7655-24E3-E1BE-F9A3CF7662B7}"/>
          </ac:spMkLst>
        </pc:spChg>
        <pc:spChg chg="del">
          <ac:chgData name="Anthony Salerno" userId="d1b4cfc1-2afc-4247-a96a-a247d4d9def5" providerId="ADAL" clId="{55B219D2-6310-539E-9AF9-3E5B2F3B5E1A}" dt="2026-10-02T17:27:01.963" v="21" actId="478"/>
          <ac:spMkLst>
            <pc:docMk/>
            <pc:sldMk cId="4104228067" sldId="670"/>
            <ac:spMk id="31" creationId="{F5D5B218-3DF5-4803-A66A-6F768EA828B5}"/>
          </ac:spMkLst>
        </pc:spChg>
        <pc:spChg chg="del">
          <ac:chgData name="Anthony Salerno" userId="d1b4cfc1-2afc-4247-a96a-a247d4d9def5" providerId="ADAL" clId="{55B219D2-6310-539E-9AF9-3E5B2F3B5E1A}" dt="2026-10-02T17:26:56.671" v="19" actId="478"/>
          <ac:spMkLst>
            <pc:docMk/>
            <pc:sldMk cId="4104228067" sldId="670"/>
            <ac:spMk id="36" creationId="{41A93532-8A27-B2AD-F4C1-8DEDF4D92C65}"/>
          </ac:spMkLst>
        </pc:spChg>
        <pc:spChg chg="add mod">
          <ac:chgData name="Anthony Salerno" userId="d1b4cfc1-2afc-4247-a96a-a247d4d9def5" providerId="ADAL" clId="{55B219D2-6310-539E-9AF9-3E5B2F3B5E1A}" dt="2026-10-02T17:36:31.446" v="575" actId="1076"/>
          <ac:spMkLst>
            <pc:docMk/>
            <pc:sldMk cId="4104228067" sldId="670"/>
            <ac:spMk id="39" creationId="{E40989CD-0BB2-2E17-66C9-94E040D7E170}"/>
          </ac:spMkLst>
        </pc:spChg>
        <pc:spChg chg="mod">
          <ac:chgData name="Anthony Salerno" userId="d1b4cfc1-2afc-4247-a96a-a247d4d9def5" providerId="ADAL" clId="{55B219D2-6310-539E-9AF9-3E5B2F3B5E1A}" dt="2026-10-02T17:26:51.171" v="18" actId="20577"/>
          <ac:spMkLst>
            <pc:docMk/>
            <pc:sldMk cId="4104228067" sldId="670"/>
            <ac:spMk id="40" creationId="{FA1B91E6-AD18-96E4-C57B-79852B7EFD24}"/>
          </ac:spMkLst>
        </pc:spChg>
        <pc:spChg chg="del">
          <ac:chgData name="Anthony Salerno" userId="d1b4cfc1-2afc-4247-a96a-a247d4d9def5" providerId="ADAL" clId="{55B219D2-6310-539E-9AF9-3E5B2F3B5E1A}" dt="2026-10-02T17:26:56.671" v="19" actId="478"/>
          <ac:spMkLst>
            <pc:docMk/>
            <pc:sldMk cId="4104228067" sldId="670"/>
            <ac:spMk id="43" creationId="{C06FD4F7-CDB2-D791-4FAC-BAA03479D8FE}"/>
          </ac:spMkLst>
        </pc:spChg>
        <pc:graphicFrameChg chg="add mod modGraphic">
          <ac:chgData name="Anthony Salerno" userId="d1b4cfc1-2afc-4247-a96a-a247d4d9def5" providerId="ADAL" clId="{55B219D2-6310-539E-9AF9-3E5B2F3B5E1A}" dt="2026-10-02T17:39:11.692" v="577" actId="255"/>
          <ac:graphicFrameMkLst>
            <pc:docMk/>
            <pc:sldMk cId="4104228067" sldId="670"/>
            <ac:graphicFrameMk id="6" creationId="{1057F89D-A2BC-CC91-9285-2F24B56DAF3D}"/>
          </ac:graphicFrameMkLst>
        </pc:graphicFrameChg>
        <pc:picChg chg="add mod">
          <ac:chgData name="Anthony Salerno" userId="d1b4cfc1-2afc-4247-a96a-a247d4d9def5" providerId="ADAL" clId="{55B219D2-6310-539E-9AF9-3E5B2F3B5E1A}" dt="2026-10-02T17:36:31.446" v="575" actId="1076"/>
          <ac:picMkLst>
            <pc:docMk/>
            <pc:sldMk cId="4104228067" sldId="670"/>
            <ac:picMk id="38" creationId="{79EB1C54-0284-ED93-BC4E-2ED380409922}"/>
          </ac:picMkLst>
        </pc:picChg>
      </pc:sldChg>
    </pc:docChg>
  </pc:docChgLst>
  <pc:docChgLst>
    <pc:chgData name="Sameer Karim" userId="9cab37b7-2936-4623-a6a1-1caa11eed363" providerId="ADAL" clId="{E1631746-D0BF-5977-9021-6FE3BE8647E8}"/>
    <pc:docChg chg="custSel addSld modSld sldOrd modSection">
      <pc:chgData name="Sameer Karim" userId="9cab37b7-2936-4623-a6a1-1caa11eed363" providerId="ADAL" clId="{E1631746-D0BF-5977-9021-6FE3BE8647E8}" dt="2026-10-02T16:41:01.800" v="251" actId="20578"/>
      <pc:docMkLst>
        <pc:docMk/>
      </pc:docMkLst>
      <pc:sldChg chg="addSp modSp mod">
        <pc:chgData name="Sameer Karim" userId="9cab37b7-2936-4623-a6a1-1caa11eed363" providerId="ADAL" clId="{E1631746-D0BF-5977-9021-6FE3BE8647E8}" dt="2026-10-01T15:06:41.939" v="106" actId="20577"/>
        <pc:sldMkLst>
          <pc:docMk/>
          <pc:sldMk cId="1737779565" sldId="294"/>
        </pc:sldMkLst>
        <pc:spChg chg="add mod">
          <ac:chgData name="Sameer Karim" userId="9cab37b7-2936-4623-a6a1-1caa11eed363" providerId="ADAL" clId="{E1631746-D0BF-5977-9021-6FE3BE8647E8}" dt="2026-10-01T15:06:41.939" v="106" actId="20577"/>
          <ac:spMkLst>
            <pc:docMk/>
            <pc:sldMk cId="1737779565" sldId="294"/>
            <ac:spMk id="5" creationId="{BB8D1401-84F0-6125-16EF-FFA6F1CA1232}"/>
          </ac:spMkLst>
        </pc:spChg>
      </pc:sldChg>
      <pc:sldChg chg="addSp modSp mod">
        <pc:chgData name="Sameer Karim" userId="9cab37b7-2936-4623-a6a1-1caa11eed363" providerId="ADAL" clId="{E1631746-D0BF-5977-9021-6FE3BE8647E8}" dt="2026-10-01T15:07:26.599" v="142" actId="20577"/>
        <pc:sldMkLst>
          <pc:docMk/>
          <pc:sldMk cId="1400488927" sldId="302"/>
        </pc:sldMkLst>
        <pc:spChg chg="add mod">
          <ac:chgData name="Sameer Karim" userId="9cab37b7-2936-4623-a6a1-1caa11eed363" providerId="ADAL" clId="{E1631746-D0BF-5977-9021-6FE3BE8647E8}" dt="2026-10-01T15:07:26.599" v="142" actId="20577"/>
          <ac:spMkLst>
            <pc:docMk/>
            <pc:sldMk cId="1400488927" sldId="302"/>
            <ac:spMk id="5" creationId="{C53FEEF5-E90E-E642-840D-E4A6550230B5}"/>
          </ac:spMkLst>
        </pc:spChg>
      </pc:sldChg>
      <pc:sldChg chg="addSp modSp mod">
        <pc:chgData name="Sameer Karim" userId="9cab37b7-2936-4623-a6a1-1caa11eed363" providerId="ADAL" clId="{E1631746-D0BF-5977-9021-6FE3BE8647E8}" dt="2026-10-01T15:08:03.841" v="249" actId="404"/>
        <pc:sldMkLst>
          <pc:docMk/>
          <pc:sldMk cId="68141975" sldId="310"/>
        </pc:sldMkLst>
        <pc:spChg chg="add mod">
          <ac:chgData name="Sameer Karim" userId="9cab37b7-2936-4623-a6a1-1caa11eed363" providerId="ADAL" clId="{E1631746-D0BF-5977-9021-6FE3BE8647E8}" dt="2026-09-30T21:08:23.778" v="31" actId="207"/>
          <ac:spMkLst>
            <pc:docMk/>
            <pc:sldMk cId="68141975" sldId="310"/>
            <ac:spMk id="3" creationId="{907B6988-E3C3-1E1E-967B-1A8C66D2A672}"/>
          </ac:spMkLst>
        </pc:spChg>
        <pc:spChg chg="add mod">
          <ac:chgData name="Sameer Karim" userId="9cab37b7-2936-4623-a6a1-1caa11eed363" providerId="ADAL" clId="{E1631746-D0BF-5977-9021-6FE3BE8647E8}" dt="2026-10-01T15:08:03.841" v="249" actId="404"/>
          <ac:spMkLst>
            <pc:docMk/>
            <pc:sldMk cId="68141975" sldId="310"/>
            <ac:spMk id="15" creationId="{24CBE7E7-03A4-B28A-C50C-F27E684B69BA}"/>
          </ac:spMkLst>
        </pc:spChg>
      </pc:sldChg>
      <pc:sldChg chg="addSp modSp mod">
        <pc:chgData name="Sameer Karim" userId="9cab37b7-2936-4623-a6a1-1caa11eed363" providerId="ADAL" clId="{E1631746-D0BF-5977-9021-6FE3BE8647E8}" dt="2026-09-30T21:12:21.510" v="53" actId="207"/>
        <pc:sldMkLst>
          <pc:docMk/>
          <pc:sldMk cId="4243420578" sldId="314"/>
        </pc:sldMkLst>
        <pc:spChg chg="add mod">
          <ac:chgData name="Sameer Karim" userId="9cab37b7-2936-4623-a6a1-1caa11eed363" providerId="ADAL" clId="{E1631746-D0BF-5977-9021-6FE3BE8647E8}" dt="2026-09-30T21:12:21.510" v="53" actId="207"/>
          <ac:spMkLst>
            <pc:docMk/>
            <pc:sldMk cId="4243420578" sldId="314"/>
            <ac:spMk id="4" creationId="{C9C53CB4-8C8A-C14E-648E-C7D53E1E6346}"/>
          </ac:spMkLst>
        </pc:spChg>
      </pc:sldChg>
      <pc:sldChg chg="addSp modSp ord">
        <pc:chgData name="Sameer Karim" userId="9cab37b7-2936-4623-a6a1-1caa11eed363" providerId="ADAL" clId="{E1631746-D0BF-5977-9021-6FE3BE8647E8}" dt="2026-10-01T16:54:11.342" v="251" actId="20578"/>
        <pc:sldMkLst>
          <pc:docMk/>
          <pc:sldMk cId="2561000819" sldId="315"/>
        </pc:sldMkLst>
        <pc:spChg chg="add mod">
          <ac:chgData name="Sameer Karim" userId="9cab37b7-2936-4623-a6a1-1caa11eed363" providerId="ADAL" clId="{E1631746-D0BF-5977-9021-6FE3BE8647E8}" dt="2026-09-30T21:12:26.629" v="54"/>
          <ac:spMkLst>
            <pc:docMk/>
            <pc:sldMk cId="2561000819" sldId="315"/>
            <ac:spMk id="4" creationId="{174C13F3-0FBC-4B6E-2A40-80E721C0ECFC}"/>
          </ac:spMkLst>
        </pc:spChg>
      </pc:sldChg>
      <pc:sldChg chg="add">
        <pc:chgData name="Sameer Karim" userId="9cab37b7-2936-4623-a6a1-1caa11eed363" providerId="ADAL" clId="{E1631746-D0BF-5977-9021-6FE3BE8647E8}" dt="2026-10-01T16:53:56.364" v="250" actId="2890"/>
        <pc:sldMkLst>
          <pc:docMk/>
          <pc:sldMk cId="3292162793" sldId="322"/>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2F_B0A7515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100" b="1">
                <a:solidFill>
                  <a:srgbClr val="070154"/>
                </a:solidFill>
                <a:latin typeface="Arial"/>
              </a:rPr>
              <a:t>Production changes by year and type</a:t>
            </a:r>
          </a:p>
        </c:rich>
      </c:tx>
      <c:overlay val="0"/>
    </c:title>
    <c:autoTitleDeleted val="0"/>
    <c:plotArea>
      <c:layout/>
      <c:barChart>
        <c:barDir val="col"/>
        <c:grouping val="stacked"/>
        <c:varyColors val="1"/>
        <c:ser>
          <c:idx val="0"/>
          <c:order val="0"/>
          <c:tx>
            <c:strRef>
              <c:f>Sheet1!$B$1</c:f>
              <c:strCache>
                <c:ptCount val="1"/>
                <c:pt idx="0">
                  <c:v>Standard release</c:v>
                </c:pt>
              </c:strCache>
            </c:strRef>
          </c:tx>
          <c:spPr>
            <a:solidFill>
              <a:srgbClr val="070154"/>
            </a:solidFill>
            <a:ln>
              <a:noFill/>
            </a:ln>
          </c:spPr>
          <c:invertIfNegative val="1"/>
          <c:dLbls>
            <c:dLbl>
              <c:idx val="0"/>
              <c:spPr/>
              <c:txPr>
                <a:bodyPr/>
                <a:lstStyle/>
                <a:p>
                  <a:pPr>
                    <a:defRPr sz="900" b="1">
                      <a:solidFill>
                        <a:srgbClr val="FFFFFF"/>
                      </a:solidFill>
                      <a:latin typeface="Aria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909-374A-8C7F-6FD51016AC84}"/>
                </c:ext>
              </c:extLst>
            </c:dLbl>
            <c:dLbl>
              <c:idx val="1"/>
              <c:spPr/>
              <c:txPr>
                <a:bodyPr/>
                <a:lstStyle/>
                <a:p>
                  <a:pPr>
                    <a:defRPr sz="900" b="1">
                      <a:solidFill>
                        <a:srgbClr val="FFFFFF"/>
                      </a:solidFill>
                      <a:latin typeface="Aria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909-374A-8C7F-6FD51016AC84}"/>
                </c:ext>
              </c:extLst>
            </c:dLbl>
            <c:dLbl>
              <c:idx val="2"/>
              <c:spPr/>
              <c:txPr>
                <a:bodyPr/>
                <a:lstStyle/>
                <a:p>
                  <a:pPr>
                    <a:defRPr sz="900" b="1">
                      <a:solidFill>
                        <a:srgbClr val="FFFFFF"/>
                      </a:solidFill>
                      <a:latin typeface="Aria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909-374A-8C7F-6FD51016AC8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2024</c:v>
                </c:pt>
                <c:pt idx="1">
                  <c:v>2025</c:v>
                </c:pt>
                <c:pt idx="2">
                  <c:v>2026 (to Sep 1)</c:v>
                </c:pt>
              </c:strCache>
            </c:strRef>
          </c:cat>
          <c:val>
            <c:numRef>
              <c:f>Sheet1!$B$2:$B$4</c:f>
              <c:numCache>
                <c:formatCode>General</c:formatCode>
                <c:ptCount val="3"/>
                <c:pt idx="0">
                  <c:v>17</c:v>
                </c:pt>
                <c:pt idx="1">
                  <c:v>23</c:v>
                </c:pt>
                <c:pt idx="2">
                  <c:v>15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4909-374A-8C7F-6FD51016AC84}"/>
            </c:ext>
          </c:extLst>
        </c:ser>
        <c:ser>
          <c:idx val="1"/>
          <c:order val="1"/>
          <c:tx>
            <c:strRef>
              <c:f>Sheet1!$C$1</c:f>
              <c:strCache>
                <c:ptCount val="1"/>
                <c:pt idx="0">
                  <c:v>Patch</c:v>
                </c:pt>
              </c:strCache>
            </c:strRef>
          </c:tx>
          <c:spPr>
            <a:solidFill>
              <a:srgbClr val="0047FF"/>
            </a:solidFill>
            <a:ln>
              <a:noFill/>
            </a:ln>
          </c:spPr>
          <c:invertIfNegative val="1"/>
          <c:dLbls>
            <c:dLbl>
              <c:idx val="2"/>
              <c:spPr/>
              <c:txPr>
                <a:bodyPr/>
                <a:lstStyle/>
                <a:p>
                  <a:pPr>
                    <a:defRPr sz="900" b="1">
                      <a:solidFill>
                        <a:srgbClr val="FFFFFF"/>
                      </a:solidFill>
                      <a:latin typeface="Aria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909-374A-8C7F-6FD51016AC8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2024</c:v>
                </c:pt>
                <c:pt idx="1">
                  <c:v>2025</c:v>
                </c:pt>
                <c:pt idx="2">
                  <c:v>2026 (to Sep 1)</c:v>
                </c:pt>
              </c:strCache>
            </c:strRef>
          </c:cat>
          <c:val>
            <c:numRef>
              <c:f>Sheet1!$C$2:$C$4</c:f>
              <c:numCache>
                <c:formatCode>General</c:formatCode>
                <c:ptCount val="3"/>
                <c:pt idx="0">
                  <c:v>0</c:v>
                </c:pt>
                <c:pt idx="1">
                  <c:v>0</c:v>
                </c:pt>
                <c:pt idx="2">
                  <c:v>11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4909-374A-8C7F-6FD51016AC84}"/>
            </c:ext>
          </c:extLst>
        </c:ser>
        <c:ser>
          <c:idx val="2"/>
          <c:order val="2"/>
          <c:tx>
            <c:strRef>
              <c:f>Sheet1!$D$1</c:f>
              <c:strCache>
                <c:ptCount val="1"/>
                <c:pt idx="0">
                  <c:v>Off-version release</c:v>
                </c:pt>
              </c:strCache>
            </c:strRef>
          </c:tx>
          <c:spPr>
            <a:solidFill>
              <a:srgbClr val="00A3FF"/>
            </a:solidFill>
            <a:ln>
              <a:noFill/>
            </a:ln>
          </c:spPr>
          <c:invertIfNegative val="1"/>
          <c:dLbls>
            <c:dLbl>
              <c:idx val="2"/>
              <c:spPr/>
              <c:txPr>
                <a:bodyPr/>
                <a:lstStyle/>
                <a:p>
                  <a:pPr>
                    <a:defRPr sz="900" b="1">
                      <a:solidFill>
                        <a:srgbClr val="FFFFFF"/>
                      </a:solidFill>
                      <a:latin typeface="Aria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909-374A-8C7F-6FD51016AC8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2024</c:v>
                </c:pt>
                <c:pt idx="1">
                  <c:v>2025</c:v>
                </c:pt>
                <c:pt idx="2">
                  <c:v>2026 (to Sep 1)</c:v>
                </c:pt>
              </c:strCache>
            </c:strRef>
          </c:cat>
          <c:val>
            <c:numRef>
              <c:f>Sheet1!$D$2:$D$4</c:f>
              <c:numCache>
                <c:formatCode>General</c:formatCode>
                <c:ptCount val="3"/>
                <c:pt idx="0">
                  <c:v>0</c:v>
                </c:pt>
                <c:pt idx="1">
                  <c:v>0</c:v>
                </c:pt>
                <c:pt idx="2">
                  <c:v>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4909-374A-8C7F-6FD51016AC84}"/>
            </c:ext>
          </c:extLst>
        </c:ser>
        <c:ser>
          <c:idx val="3"/>
          <c:order val="3"/>
          <c:tx>
            <c:strRef>
              <c:f>Sheet1!$E$1</c:f>
              <c:strCache>
                <c:ptCount val="1"/>
                <c:pt idx="0">
                  <c:v>Rollback</c:v>
                </c:pt>
              </c:strCache>
            </c:strRef>
          </c:tx>
          <c:spPr>
            <a:solidFill>
              <a:srgbClr val="F900D3"/>
            </a:solidFill>
            <a:ln>
              <a:noFill/>
            </a:ln>
          </c:spPr>
          <c:invertIfNegative val="1"/>
          <c:dLbls>
            <c:dLbl>
              <c:idx val="2"/>
              <c:spPr/>
              <c:txPr>
                <a:bodyPr/>
                <a:lstStyle/>
                <a:p>
                  <a:pPr>
                    <a:defRPr sz="900" b="1">
                      <a:solidFill>
                        <a:srgbClr val="FFFFFF"/>
                      </a:solidFill>
                      <a:latin typeface="Aria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909-374A-8C7F-6FD51016AC8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2024</c:v>
                </c:pt>
                <c:pt idx="1">
                  <c:v>2025</c:v>
                </c:pt>
                <c:pt idx="2">
                  <c:v>2026 (to Sep 1)</c:v>
                </c:pt>
              </c:strCache>
            </c:strRef>
          </c:cat>
          <c:val>
            <c:numRef>
              <c:f>Sheet1!$E$2:$E$4</c:f>
              <c:numCache>
                <c:formatCode>General</c:formatCode>
                <c:ptCount val="3"/>
                <c:pt idx="0">
                  <c:v>0</c:v>
                </c:pt>
                <c:pt idx="1">
                  <c:v>0</c:v>
                </c:pt>
                <c:pt idx="2">
                  <c:v>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9-4909-374A-8C7F-6FD51016AC84}"/>
            </c:ext>
          </c:extLst>
        </c:ser>
        <c:dLbls>
          <c:showLegendKey val="0"/>
          <c:showVal val="0"/>
          <c:showCatName val="0"/>
          <c:showSerName val="0"/>
          <c:showPercent val="0"/>
          <c:showBubbleSize val="0"/>
        </c:dLbls>
        <c:gapWidth val="7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ED7E6"/>
            </a:solidFill>
          </a:ln>
        </c:spPr>
        <c:txPr>
          <a:bodyPr/>
          <a:lstStyle/>
          <a:p>
            <a:pPr>
              <a:defRPr sz="900">
                <a:solidFill>
                  <a:srgbClr val="50658E"/>
                </a:solidFill>
                <a:latin typeface="Arial"/>
              </a:defRPr>
            </a:pPr>
            <a:endParaRPr lang="en-US"/>
          </a:p>
        </c:txPr>
        <c:crossAx val="-2113994440"/>
        <c:crosses val="autoZero"/>
        <c:auto val="1"/>
        <c:lblAlgn val="ctr"/>
        <c:lblOffset val="100"/>
        <c:noMultiLvlLbl val="0"/>
      </c:catAx>
      <c:valAx>
        <c:axId val="-2113994440"/>
        <c:scaling>
          <c:orientation val="minMax"/>
          <c:max val="35"/>
        </c:scaling>
        <c:delete val="0"/>
        <c:axPos val="l"/>
        <c:majorGridlines>
          <c:spPr>
            <a:ln>
              <a:solidFill>
                <a:srgbClr val="E8EEF8"/>
              </a:solidFill>
            </a:ln>
          </c:spPr>
        </c:majorGridlines>
        <c:numFmt formatCode="General" sourceLinked="1"/>
        <c:majorTickMark val="out"/>
        <c:minorTickMark val="none"/>
        <c:tickLblPos val="nextTo"/>
        <c:spPr>
          <a:ln>
            <a:noFill/>
          </a:ln>
        </c:spPr>
        <c:txPr>
          <a:bodyPr/>
          <a:lstStyle/>
          <a:p>
            <a:pPr>
              <a:defRPr sz="900">
                <a:solidFill>
                  <a:srgbClr val="50658E"/>
                </a:solidFill>
                <a:latin typeface="Arial"/>
              </a:defRPr>
            </a:pPr>
            <a:endParaRPr lang="en-US"/>
          </a:p>
        </c:txPr>
        <c:crossAx val="-2068027336"/>
        <c:crosses val="autoZero"/>
        <c:crossBetween val="between"/>
      </c:valAx>
    </c:plotArea>
    <c:legend>
      <c:legendPos val="b"/>
      <c:overlay val="0"/>
      <c:txPr>
        <a:bodyPr/>
        <a:lstStyle/>
        <a:p>
          <a:pPr>
            <a:defRPr sz="900">
              <a:solidFill>
                <a:srgbClr val="50658E"/>
              </a:solidFill>
              <a:latin typeface="Arial"/>
            </a:defRPr>
          </a:pPr>
          <a:endParaRPr lang="en-US"/>
        </a:p>
      </c:txPr>
    </c:legend>
    <c:plotVisOnly val="1"/>
    <c:dispBlanksAs val="gap"/>
    <c:showDLblsOverMax val="1"/>
  </c:chart>
  <c:spPr>
    <a:solidFill>
      <a:srgbClr val="FFFFFF"/>
    </a:solidFill>
    <a:ln>
      <a:noFill/>
    </a:ln>
  </c:spPr>
  <c:txPr>
    <a:bodyPr/>
    <a:lstStyle/>
    <a:p>
      <a:pPr>
        <a:defRPr sz="1800"/>
      </a:pPr>
      <a:endParaRPr lang="en-US"/>
    </a:p>
  </c:txPr>
  <c:externalData r:id="rId1">
    <c:autoUpdate val="0"/>
  </c:externalData>
</c:chartSpace>
</file>

<file path=ppt/comments/modernComment_10B_5DB33DBA.xml><?xml version="1.0" encoding="utf-8"?>
<p188:cmLst xmlns:a="http://schemas.openxmlformats.org/drawingml/2006/main" xmlns:r="http://schemas.openxmlformats.org/officeDocument/2006/relationships" xmlns:p188="http://schemas.microsoft.com/office/powerpoint/2018/8/main">
  <p188:cm id="{D4E7246E-37FF-1247-ABA9-188CD0E3606E}" authorId="{B5E7A012-4DE3-BD7D-683E-6DBA83D26AFF}" created="2026-09-24T23:13:13.707" startDate="2026-09-24T23:13:13.712" dueDate="2026-09-24T23:13:13.712" assignedTo="{A4955AF2-D546-83B0-A1A9-47C685039754}" title="@Gerardo Arroyo -&gt; how would we break this out? Can we align some of the recommendations to the engineering practices map on slide 5? I'd love to see more detail/specifics. How can we break pieces of this down and make it &quot;Immediate&quot;?">
    <ac:txMkLst xmlns:ac="http://schemas.microsoft.com/office/drawing/2013/main/command">
      <pc:docMk xmlns:pc="http://schemas.microsoft.com/office/powerpoint/2013/main/command"/>
      <pc:sldMk xmlns:pc="http://schemas.microsoft.com/office/powerpoint/2013/main/command" cId="1572027834" sldId="267"/>
      <ac:graphicFrameMk id="12" creationId="{00000000-0000-0000-0000-000000000000}"/>
      <ac:tblMk/>
      <ac:tcMk rowId="10005" colId="20000"/>
      <ac:txMk cp="0" len="25">
        <ac:context len="26" hash="288444678"/>
      </ac:txMk>
    </ac:txMkLst>
    <p188:pos x="1823224" y="3231995"/>
    <p188:txBody>
      <a:bodyPr/>
      <a:lstStyle/>
      <a:p>
        <a:r>
          <a:rPr lang="en-US"/>
          <a:t>[@Gerardo Arroyo] -&gt; how would we break this out? Can we align some of the recommendations to the engineering practices map on slide 5? I'd love to see more detail/specifics. How can we break pieces of this down and make it "Immediate"?</a:t>
        </a:r>
      </a:p>
    </p188:txBody>
    <p188:extLst>
      <p:ext xmlns:p="http://schemas.openxmlformats.org/presentationml/2006/main" uri="{5BB2D875-25FF-4072-B9AC-8F64D62656EB}">
        <p228:taskDetails xmlns:p228="http://schemas.microsoft.com/office/powerpoint/2022/08/main">
          <p228:history>
            <p228:event time="2026-09-24T23:13:13.707" id="{7F178E92-9C30-7B45-8A06-5C4DB62D4BB5}">
              <p228:atrbtn authorId="{B5E7A012-4DE3-BD7D-683E-6DBA83D26AFF}"/>
              <p228:anchr>
                <p228:comment id="{D4E7246E-37FF-1247-ABA9-188CD0E3606E}"/>
              </p228:anchr>
              <p228:add/>
            </p228:event>
            <p228:event time="2026-09-24T23:13:13.707" id="{F7E8DFC5-0949-504B-B797-37F423A66A54}">
              <p228:atrbtn authorId="{B5E7A012-4DE3-BD7D-683E-6DBA83D26AFF}"/>
              <p228:anchr>
                <p228:comment id="{D4E7246E-37FF-1247-ABA9-188CD0E3606E}"/>
              </p228:anchr>
              <p228:asgn authorId="{A4955AF2-D546-83B0-A1A9-47C685039754}"/>
            </p228:event>
            <p228:event time="2026-09-24T23:13:13.707" id="{4E15D36B-1F35-4941-97EA-BFCFEA600F9B}">
              <p228:atrbtn authorId="{B5E7A012-4DE3-BD7D-683E-6DBA83D26AFF}"/>
              <p228:anchr>
                <p228:comment id="{D4E7246E-37FF-1247-ABA9-188CD0E3606E}"/>
              </p228:anchr>
              <p228:title val="@Gerardo Arroyo -&gt; how would we break this out? Can we align some of the recommendations to the engineering practices map on slide 5? I'd love to see more detail/specifics. How can we break pieces of this down and make it &quot;Immediate&quot;?"/>
            </p228:event>
            <p228:event time="2026-09-24T23:13:13.707" id="{AC6A2FD7-A3DA-3B4E-909D-57D53EFE88D3}">
              <p228:atrbtn authorId="{B5E7A012-4DE3-BD7D-683E-6DBA83D26AFF}"/>
              <p228:anchr>
                <p228:comment id="{D4E7246E-37FF-1247-ABA9-188CD0E3606E}"/>
              </p228:anchr>
              <p228:date stDt="2026-09-24T23:13:13.712" endDt="2026-09-24T23:13:13.712"/>
            </p228:event>
          </p228:history>
        </p228:taskDetails>
      </p:ext>
    </p188:extLst>
  </p188:cm>
</p188:cmLst>
</file>

<file path=ppt/comments/modernComment_12E_5379C3DF.xml><?xml version="1.0" encoding="utf-8"?>
<p188:cmLst xmlns:a="http://schemas.openxmlformats.org/drawingml/2006/main" xmlns:r="http://schemas.openxmlformats.org/officeDocument/2006/relationships" xmlns:p188="http://schemas.microsoft.com/office/powerpoint/2018/8/main">
  <p188:cm id="{D993CBFB-3C22-4A8D-A14F-15EEF1BE5DBA}" authorId="{A4955AF2-D546-83B0-A1A9-47C685039754}" created="2026-10-02T13:40:05.351">
    <pc:sldMkLst xmlns:pc="http://schemas.microsoft.com/office/powerpoint/2013/main/command">
      <pc:docMk/>
      <pc:sldMk cId="1400488927" sldId="302"/>
    </pc:sldMkLst>
    <p188:txBody>
      <a:bodyPr/>
      <a:lstStyle/>
      <a:p>
        <a:r>
          <a:rPr lang="en-US"/>
          <a:t>[@Sameer Karim] please review it.</a:t>
        </a:r>
      </a:p>
    </p188:txBody>
  </p188:cm>
</p188:cmLst>
</file>

<file path=ppt/comments/modernComment_13A_FCED75A2.xml><?xml version="1.0" encoding="utf-8"?>
<p188:cmLst xmlns:a="http://schemas.openxmlformats.org/drawingml/2006/main" xmlns:r="http://schemas.openxmlformats.org/officeDocument/2006/relationships" xmlns:p188="http://schemas.microsoft.com/office/powerpoint/2018/8/main">
  <p188:cm id="{ED865842-EA91-4680-BDA1-96EAB32C0F1F}" authorId="{A4955AF2-D546-83B0-A1A9-47C685039754}" created="2026-10-02T13:40:24.508">
    <pc:sldMkLst xmlns:pc="http://schemas.microsoft.com/office/powerpoint/2013/main/command">
      <pc:docMk/>
      <pc:sldMk cId="4243420578" sldId="314"/>
    </pc:sldMkLst>
    <p188:txBody>
      <a:bodyPr/>
      <a:lstStyle/>
      <a:p>
        <a:r>
          <a:rPr lang="en-US"/>
          <a:t>[@Sameer Karim] please review it.</a:t>
        </a:r>
      </a:p>
    </p188:txBody>
  </p188:cm>
</p188:cmLst>
</file>

<file path=ppt/comments/modernComment_13C_85FA98B.xml><?xml version="1.0" encoding="utf-8"?>
<p188:cmLst xmlns:a="http://schemas.openxmlformats.org/drawingml/2006/main" xmlns:r="http://schemas.openxmlformats.org/officeDocument/2006/relationships" xmlns:p188="http://schemas.microsoft.com/office/powerpoint/2018/8/main">
  <p188:cm id="{EC67E9FE-1944-4D15-B12D-14880AF6CDBF}" authorId="{A4955AF2-D546-83B0-A1A9-47C685039754}" created="2026-10-01T16:24:52.014">
    <pc:sldMkLst xmlns:pc="http://schemas.microsoft.com/office/powerpoint/2013/main/command">
      <pc:docMk/>
      <pc:sldMk cId="140487051" sldId="316"/>
    </pc:sldMkLst>
    <p188:txBody>
      <a:bodyPr/>
      <a:lstStyle/>
      <a:p>
        <a:r>
          <a:rPr lang="en-US"/>
          <a:t>[@Sameer Karim] for you review</a:t>
        </a:r>
      </a:p>
    </p188:txBody>
  </p188:cm>
</p188:cmLst>
</file>

<file path=ppt/comments/modernComment_13D_9E3B556B.xml><?xml version="1.0" encoding="utf-8"?>
<p188:cmLst xmlns:a="http://schemas.openxmlformats.org/drawingml/2006/main" xmlns:r="http://schemas.openxmlformats.org/officeDocument/2006/relationships" xmlns:p188="http://schemas.microsoft.com/office/powerpoint/2018/8/main">
  <p188:cm id="{CAB031B0-DA82-4ED9-A58A-BAD470D02946}" authorId="{A4955AF2-D546-83B0-A1A9-47C685039754}" created="2026-10-01T16:24:55.639">
    <pc:sldMkLst xmlns:pc="http://schemas.microsoft.com/office/powerpoint/2013/main/command">
      <pc:docMk/>
      <pc:sldMk cId="2654688619" sldId="317"/>
    </pc:sldMkLst>
    <p188:txBody>
      <a:bodyPr/>
      <a:lstStyle/>
      <a:p>
        <a:r>
          <a:rPr lang="en-US"/>
          <a:t>[@Sameer Karim] for you review</a:t>
        </a:r>
      </a:p>
    </p188:txBody>
  </p188:cm>
</p188:cmLst>
</file>

<file path=ppt/comments/modernComment_13E_B1AB5E6C.xml><?xml version="1.0" encoding="utf-8"?>
<p188:cmLst xmlns:a="http://schemas.openxmlformats.org/drawingml/2006/main" xmlns:r="http://schemas.openxmlformats.org/officeDocument/2006/relationships" xmlns:p188="http://schemas.microsoft.com/office/powerpoint/2018/8/main">
  <p188:cm id="{D4037696-83AC-4652-A5F1-779217B6C6D7}" authorId="{A4955AF2-D546-83B0-A1A9-47C685039754}" created="2026-10-01T16:24:59.327">
    <pc:sldMkLst xmlns:pc="http://schemas.microsoft.com/office/powerpoint/2013/main/command">
      <pc:docMk/>
      <pc:sldMk cId="2980798060" sldId="318"/>
    </pc:sldMkLst>
    <p188:txBody>
      <a:bodyPr/>
      <a:lstStyle/>
      <a:p>
        <a:r>
          <a:rPr lang="en-US"/>
          <a:t>[@Sameer Karim] for you review</a:t>
        </a:r>
      </a:p>
    </p188:txBody>
  </p188:cm>
</p188:cmLst>
</file>

<file path=ppt/comments/modernComment_13F_11354A5C.xml><?xml version="1.0" encoding="utf-8"?>
<p188:cmLst xmlns:a="http://schemas.openxmlformats.org/drawingml/2006/main" xmlns:r="http://schemas.openxmlformats.org/officeDocument/2006/relationships" xmlns:p188="http://schemas.microsoft.com/office/powerpoint/2018/8/main">
  <p188:cm id="{A9A4B851-4253-4041-9F44-E629EB76DB30}" authorId="{A4955AF2-D546-83B0-A1A9-47C685039754}" created="2026-10-01T16:25:03.452">
    <pc:sldMkLst xmlns:pc="http://schemas.microsoft.com/office/powerpoint/2013/main/command">
      <pc:docMk/>
      <pc:sldMk cId="288705116" sldId="319"/>
    </pc:sldMkLst>
    <p188:txBody>
      <a:bodyPr/>
      <a:lstStyle/>
      <a:p>
        <a:r>
          <a:rPr lang="en-US"/>
          <a:t>[@Sameer Karim] for you review</a:t>
        </a:r>
      </a:p>
    </p188:txBody>
  </p188:cm>
</p188:cmLst>
</file>

<file path=ppt/comments/modernComment_29E_F4A18CE3.xml><?xml version="1.0" encoding="utf-8"?>
<p188:cmLst xmlns:a="http://schemas.openxmlformats.org/drawingml/2006/main" xmlns:r="http://schemas.openxmlformats.org/officeDocument/2006/relationships" xmlns:p188="http://schemas.microsoft.com/office/powerpoint/2018/8/main">
  <p188:cm id="{6062847A-1F04-BC4F-98DC-74EE37134DA1}" authorId="{6BCFFFA3-632A-0650-139C-853EA209CC34}" created="2026-10-02T17:39:53.214">
    <ac:deMkLst xmlns:ac="http://schemas.microsoft.com/office/drawing/2013/main/command">
      <pc:docMk xmlns:pc="http://schemas.microsoft.com/office/powerpoint/2013/main/command"/>
      <pc:sldMk xmlns:pc="http://schemas.microsoft.com/office/powerpoint/2013/main/command" cId="4104228067" sldId="670"/>
      <ac:graphicFrameMk id="6" creationId="{1057F89D-A2BC-CC91-9285-2F24B56DAF3D}"/>
    </ac:deMkLst>
    <p188:replyLst>
      <p188:reply id="{CE440DDC-3276-407E-AD17-BD3323D07ED7}" authorId="{A4955AF2-D546-83B0-A1A9-47C685039754}" created="2026-10-02T17:54:20.141">
        <p188:txBody>
          <a:bodyPr/>
          <a:lstStyle/>
          <a:p>
            <a:r>
              <a:rPr lang="en-US"/>
              <a:t>From my side, everything is there</a:t>
            </a:r>
          </a:p>
        </p188:txBody>
      </p188:reply>
    </p188:replyLst>
    <p188:txBody>
      <a:bodyPr/>
      <a:lstStyle/>
      <a:p>
        <a:r>
          <a:rPr lang="en-US"/>
          <a:t>[@Ri Scott] [@Sameer Karim] [@Gerardo Arroyo] - let me know if I am missing anyone, or there's anyone on here we didn't actually meet with.</a:t>
        </a:r>
      </a:p>
    </p188:txBody>
  </p188:cm>
</p188:cmLst>
</file>

<file path=ppt/comments/modernComment_103_3166D99E.xml><?xml version="1.0" encoding="utf-8"?>
<p188:cmLst xmlns:a="http://schemas.openxmlformats.org/drawingml/2006/main" xmlns:r="http://schemas.openxmlformats.org/officeDocument/2006/relationships" xmlns:p188="http://schemas.microsoft.com/office/powerpoint/2018/8/main">
  <p188:cm id="{CCB2E2AB-AD6F-3844-A250-846D034C9F3C}" authorId="{B5E7A012-4DE3-BD7D-683E-6DBA83D26AFF}" status="resolved" created="2026-09-24T23:28:53.181" complete="100000">
    <pc:sldMkLst xmlns:pc="http://schemas.microsoft.com/office/powerpoint/2013/main/command">
      <pc:docMk/>
      <pc:sldMk cId="828823966" sldId="259"/>
    </pc:sldMkLst>
    <p188:txBody>
      <a:bodyPr/>
      <a:lstStyle/>
      <a:p>
        <a:r>
          <a:rPr lang="en-US"/>
          <a:t>[@Anthony Salerno] and [@Gerardo Arroyo] I think we need some sort of "executive summary" of our findings/activation recommendations up front. We spent a LOT of slides reading out things Bob/Navin will think are "already known" before we get to the "so, what do we do now" piece .</a:t>
        </a:r>
      </a:p>
    </p188:txBody>
    <p188:extLst>
      <p:ext xmlns:p="http://schemas.openxmlformats.org/presentationml/2006/main" uri="{57CB4572-C831-44C2-8A1C-0ADB6CCDFE69}">
        <p223:reactions xmlns:p223="http://schemas.microsoft.com/office/powerpoint/2022/03/main">
          <p223:rxn type="👍">
            <p223:instance time="2026-09-28T14:08:49.619" authorId="{6BCFFFA3-632A-0650-139C-853EA209CC34}"/>
          </p223:rxn>
        </p223:reactions>
      </p:ext>
    </p188:extLst>
  </p188:cm>
</p188:cmLst>
</file>

<file path=ppt/comments/modernComment_107_121E4FE4.xml><?xml version="1.0" encoding="utf-8"?>
<p188:cmLst xmlns:a="http://schemas.openxmlformats.org/drawingml/2006/main" xmlns:r="http://schemas.openxmlformats.org/officeDocument/2006/relationships" xmlns:p188="http://schemas.microsoft.com/office/powerpoint/2018/8/main">
  <p188:cm id="{67A796EF-82EE-8645-B201-86741AF5A588}" authorId="{B5E7A012-4DE3-BD7D-683E-6DBA83D26AFF}" created="2026-09-24T23:27:33.059" startDate="2026-09-24T23:27:33.059" dueDate="2026-09-24T23:27:33.059" assignedTo="{6BCFFFA3-632A-0650-139C-853EA209CC34}" title="@Anthony Salerno what is the role of this slide in the material?">
    <ac:deMkLst xmlns:ac="http://schemas.microsoft.com/office/drawing/2013/main/command">
      <pc:docMk xmlns:pc="http://schemas.microsoft.com/office/powerpoint/2013/main/command"/>
      <pc:sldMk xmlns:pc="http://schemas.microsoft.com/office/powerpoint/2013/main/command" cId="303976420" sldId="263"/>
      <ac:spMk id="2" creationId="{9FE4DAA1-A3E8-4C5F-A829-DF9BAADF1DC4}"/>
    </ac:deMkLst>
    <p188:txBody>
      <a:bodyPr/>
      <a:lstStyle/>
      <a:p>
        <a:r>
          <a:rPr lang="en-US"/>
          <a:t>[@Anthony Salerno] what is the role of this slide in the material?</a:t>
        </a:r>
      </a:p>
    </p188:txBody>
    <p188:extLst>
      <p:ext xmlns:p="http://schemas.openxmlformats.org/presentationml/2006/main" uri="{5BB2D875-25FF-4072-B9AC-8F64D62656EB}">
        <p228:taskDetails xmlns:p228="http://schemas.microsoft.com/office/powerpoint/2022/08/main">
          <p228:history>
            <p228:event time="2026-09-24T23:27:33.059" id="{837BF82F-CCE3-C045-A2E3-F00137B36F4D}">
              <p228:atrbtn authorId="{B5E7A012-4DE3-BD7D-683E-6DBA83D26AFF}"/>
              <p228:anchr>
                <p228:comment id="{67A796EF-82EE-8645-B201-86741AF5A588}"/>
              </p228:anchr>
              <p228:add/>
            </p228:event>
            <p228:event time="2026-09-24T23:27:33.059" id="{036BD199-9C6C-4142-9146-C4CBAB4A7406}">
              <p228:atrbtn authorId="{B5E7A012-4DE3-BD7D-683E-6DBA83D26AFF}"/>
              <p228:anchr>
                <p228:comment id="{67A796EF-82EE-8645-B201-86741AF5A588}"/>
              </p228:anchr>
              <p228:asgn authorId="{6BCFFFA3-632A-0650-139C-853EA209CC34}"/>
            </p228:event>
            <p228:event time="2026-09-24T23:27:33.059" id="{635EB9DB-C207-AD4C-9550-E124FA1E2B66}">
              <p228:atrbtn authorId="{B5E7A012-4DE3-BD7D-683E-6DBA83D26AFF}"/>
              <p228:anchr>
                <p228:comment id="{67A796EF-82EE-8645-B201-86741AF5A588}"/>
              </p228:anchr>
              <p228:title val="@Anthony Salerno what is the role of this slide in the material?"/>
            </p228:event>
            <p228:event time="2026-09-24T23:27:33.059" id="{8742BE22-58FC-334B-ABC4-62789F1F85F2}">
              <p228:atrbtn authorId="{B5E7A012-4DE3-BD7D-683E-6DBA83D26AFF}"/>
              <p228:anchr>
                <p228:comment id="{67A796EF-82EE-8645-B201-86741AF5A588}"/>
              </p228:anchr>
              <p228:date stDt="2026-09-24T23:27:33.059" endDt="2026-09-24T23:27:33.059"/>
            </p228:event>
          </p228:history>
        </p228:taskDetails>
      </p:ext>
    </p188:extLst>
  </p188:cm>
</p188:cmLst>
</file>

<file path=ppt/comments/modernComment_110_4A1F9261.xml><?xml version="1.0" encoding="utf-8"?>
<p188:cmLst xmlns:a="http://schemas.openxmlformats.org/drawingml/2006/main" xmlns:r="http://schemas.openxmlformats.org/officeDocument/2006/relationships" xmlns:p188="http://schemas.microsoft.com/office/powerpoint/2018/8/main">
  <p188:cm id="{73E3BB2C-D59B-401F-83B1-A3D115CC305C}" authorId="{6BCFFFA3-632A-0650-139C-853EA209CC34}" created="2026-09-23T17:20:40.081">
    <pc:sldMkLst xmlns:pc="http://schemas.microsoft.com/office/powerpoint/2013/main/command">
      <pc:docMk/>
      <pc:sldMk cId="1243583073" sldId="272"/>
    </pc:sldMkLst>
    <p188:replyLst>
      <p188:reply id="{7F11EFBA-D7E6-174E-8B1C-36B20BC02FB0}" authorId="{6BCFFFA3-632A-0650-139C-853EA209CC34}" created="2026-09-23T17:21:58.183">
        <p188:txBody>
          <a:bodyPr/>
          <a:lstStyle/>
          <a:p>
            <a:r>
              <a:rPr lang="en-US"/>
              <a:t>Just added ship with proof, but we need to update the design</a:t>
            </a:r>
          </a:p>
        </p188:txBody>
      </p188:reply>
      <p188:reply id="{ECD9F4F5-E46A-EB4B-A5DC-0C359F07223A}" authorId="{6BCFFFA3-632A-0650-139C-853EA209CC34}" created="2026-09-23T22:29:14.113">
        <p188:txBody>
          <a:bodyPr/>
          <a:lstStyle/>
          <a:p>
            <a:r>
              <a:rPr lang="en-US"/>
              <a:t>Updated designs - now all 6 are in here</a:t>
            </a:r>
          </a:p>
        </p188:txBody>
      </p188:reply>
    </p188:replyLst>
    <p188:txBody>
      <a:bodyPr/>
      <a:lstStyle/>
      <a:p>
        <a:r>
          <a:rPr lang="en-US"/>
          <a:t>[@Sameer Karim] in the slides above, we are missing ship with proof and also opportunity brief.</a:t>
        </a:r>
      </a:p>
    </p188:txBody>
  </p188:cm>
  <p188:cm id="{B6F614A1-4C8F-E34C-BBE0-58331893BEE6}" authorId="{6BCFFFA3-632A-0650-139C-853EA209CC34}" created="2026-09-24T16:44:53.656">
    <pc:sldMkLst xmlns:pc="http://schemas.microsoft.com/office/powerpoint/2013/main/command">
      <pc:docMk/>
      <pc:sldMk cId="1243583073" sldId="272"/>
    </pc:sldMkLst>
    <p188:txBody>
      <a:bodyPr/>
      <a:lstStyle/>
      <a:p>
        <a:r>
          <a:rPr lang="en-US"/>
          <a:t>Layer in the teams/products as a column</a:t>
        </a:r>
      </a:p>
    </p188:txBody>
  </p188:cm>
</p188:cmLst>
</file>

<file path=ppt/comments/modernComment_120_9472878C.xml><?xml version="1.0" encoding="utf-8"?>
<p188:cmLst xmlns:a="http://schemas.openxmlformats.org/drawingml/2006/main" xmlns:r="http://schemas.openxmlformats.org/officeDocument/2006/relationships" xmlns:p188="http://schemas.microsoft.com/office/powerpoint/2018/8/main">
  <p188:cm id="{8A805CC5-5671-3C4F-8F3B-35431DB77928}" authorId="{B5E7A012-4DE3-BD7D-683E-6DBA83D26AFF}" created="2026-09-24T23:36:15.274">
    <ac:deMkLst xmlns:ac="http://schemas.microsoft.com/office/drawing/2013/main/command">
      <pc:docMk xmlns:pc="http://schemas.microsoft.com/office/powerpoint/2013/main/command"/>
      <pc:sldMk xmlns:pc="http://schemas.microsoft.com/office/powerpoint/2013/main/command" cId="2490533772" sldId="288"/>
      <ac:spMk id="2" creationId="{81FB4968-7FCA-19F8-F568-CED95D4AF13E}"/>
    </ac:deMkLst>
    <p188:txBody>
      <a:bodyPr/>
      <a:lstStyle/>
      <a:p>
        <a:r>
          <a:rPr lang="en-US"/>
          <a:t>This slide is too high level to be useful, IMO. Can we break this out more aligned to specific steps in the SDLC? For example, are there places in the build phase or in the test phase? I see on Slide 6 that there are some issues specifically around poor practices around credential / secret management in the release process. Could we make a "here's how we recommend experimenting with fixes on that to reduce cycle time scrambling with deployment credential fixes"?</a:t>
        </a:r>
      </a:p>
    </p188:txBody>
  </p188:cm>
</p188:cmLst>
</file>

<file path=ppt/comments/modernComment_126_6794696D.xml><?xml version="1.0" encoding="utf-8"?>
<p188:cmLst xmlns:a="http://schemas.openxmlformats.org/drawingml/2006/main" xmlns:r="http://schemas.openxmlformats.org/officeDocument/2006/relationships" xmlns:p188="http://schemas.microsoft.com/office/powerpoint/2018/8/main">
  <p188:cm id="{A0ED2B31-877C-3B4A-986F-B760EDBB0828}" authorId="{B5E7A012-4DE3-BD7D-683E-6DBA83D26AFF}" created="2026-09-24T23:11:38.569" startDate="2026-09-24T23:11:38.569" dueDate="2026-09-24T23:11:38.569" assignedTo="{A4955AF2-D546-83B0-A1A9-47C685039754}" title="@Gerardo Arroyo - this is good. Can we get more proscriptive about how we would take this and expand this into experiments/opportunities on the same time frame as the &quot;Now / Next / Future&quot; that we have elsewhere in the deck?">
    <pc:sldMkLst xmlns:pc="http://schemas.microsoft.com/office/powerpoint/2013/main/command">
      <pc:docMk/>
      <pc:sldMk cId="1737779565" sldId="294"/>
    </pc:sldMkLst>
    <p188:txBody>
      <a:bodyPr/>
      <a:lstStyle/>
      <a:p>
        <a:r>
          <a:rPr lang="en-US"/>
          <a:t>[@Gerardo Arroyo] - this is good. Can we get more proscriptive about how we would take this and expand this into experiments/opportunities on the same time frame as the "Now / Next / Future" that we have elsewhere in the deck?</a:t>
        </a:r>
      </a:p>
    </p188:txBody>
    <p188:extLst>
      <p:ext xmlns:p="http://schemas.openxmlformats.org/presentationml/2006/main" uri="{5BB2D875-25FF-4072-B9AC-8F64D62656EB}">
        <p228:taskDetails xmlns:p228="http://schemas.microsoft.com/office/powerpoint/2022/08/main">
          <p228:history>
            <p228:event time="2026-09-24T23:11:38.569" id="{481CC218-DF42-F343-B7D8-D1191DD52684}">
              <p228:atrbtn authorId="{B5E7A012-4DE3-BD7D-683E-6DBA83D26AFF}"/>
              <p228:anchr>
                <p228:comment id="{A0ED2B31-877C-3B4A-986F-B760EDBB0828}"/>
              </p228:anchr>
              <p228:add/>
            </p228:event>
            <p228:event time="2026-09-24T23:11:38.569" id="{E77845B1-5FDD-4E42-A523-17D5F83ED840}">
              <p228:atrbtn authorId="{B5E7A012-4DE3-BD7D-683E-6DBA83D26AFF}"/>
              <p228:anchr>
                <p228:comment id="{A0ED2B31-877C-3B4A-986F-B760EDBB0828}"/>
              </p228:anchr>
              <p228:asgn authorId="{A4955AF2-D546-83B0-A1A9-47C685039754}"/>
            </p228:event>
            <p228:event time="2026-09-24T23:11:38.569" id="{1326E24C-AEAF-134A-BFFE-043AA56FD058}">
              <p228:atrbtn authorId="{B5E7A012-4DE3-BD7D-683E-6DBA83D26AFF}"/>
              <p228:anchr>
                <p228:comment id="{A0ED2B31-877C-3B4A-986F-B760EDBB0828}"/>
              </p228:anchr>
              <p228:title val="@Gerardo Arroyo - this is good. Can we get more proscriptive about how we would take this and expand this into experiments/opportunities on the same time frame as the &quot;Now / Next / Future&quot; that we have elsewhere in the deck?"/>
            </p228:event>
            <p228:event time="2026-09-24T23:11:38.569" id="{28F929E4-0F85-FD4F-8B7D-252F1E14ECA1}">
              <p228:atrbtn authorId="{B5E7A012-4DE3-BD7D-683E-6DBA83D26AFF}"/>
              <p228:anchr>
                <p228:comment id="{A0ED2B31-877C-3B4A-986F-B760EDBB0828}"/>
              </p228:anchr>
              <p228:date stDt="2026-09-24T23:11:38.569" endDt="2026-09-24T23:11:38.569"/>
            </p228:event>
          </p228:history>
        </p228:taskDetails>
      </p:ext>
    </p188:extLst>
  </p188:cm>
  <p188:cm id="{E9F71BDC-7A61-43CA-B4AB-C9596FE86C56}" authorId="{A4955AF2-D546-83B0-A1A9-47C685039754}" created="2026-10-01T16:23:11.608">
    <ac:deMkLst xmlns:ac="http://schemas.microsoft.com/office/drawing/2013/main/command">
      <pc:docMk xmlns:pc="http://schemas.microsoft.com/office/powerpoint/2013/main/command"/>
      <pc:sldMk xmlns:pc="http://schemas.microsoft.com/office/powerpoint/2013/main/command" cId="1737779565" sldId="294"/>
      <ac:spMk id="5" creationId="{BB8D1401-84F0-6125-16EF-FFA6F1CA1232}"/>
    </ac:deMkLst>
    <p188:txBody>
      <a:bodyPr/>
      <a:lstStyle/>
      <a:p>
        <a:r>
          <a:rPr lang="en-US"/>
          <a:t>[@Sameer Karim] I add the slides 8-12</a:t>
        </a:r>
      </a:p>
    </p188:txBody>
  </p188:cm>
</p188:cmLst>
</file>

<file path=ppt/comments/modernComment_133_7AD186E9.xml><?xml version="1.0" encoding="utf-8"?>
<p188:cmLst xmlns:a="http://schemas.openxmlformats.org/drawingml/2006/main" xmlns:r="http://schemas.openxmlformats.org/officeDocument/2006/relationships" xmlns:p188="http://schemas.microsoft.com/office/powerpoint/2018/8/main">
  <p188:cm id="{73E3BB2C-D59B-401F-83B1-A3D115CC305C}" authorId="{6BCFFFA3-632A-0650-139C-853EA209CC34}" created="2026-09-23T17:20:40.081">
    <pc:sldMkLst xmlns:pc="http://schemas.microsoft.com/office/powerpoint/2013/main/command">
      <pc:docMk/>
      <pc:sldMk cId="1243583073" sldId="272"/>
    </pc:sldMkLst>
    <p188:replyLst>
      <p188:reply id="{7F11EFBA-D7E6-174E-8B1C-36B20BC02FB0}" authorId="{6BCFFFA3-632A-0650-139C-853EA209CC34}" created="2026-09-23T17:21:58.183">
        <p188:txBody>
          <a:bodyPr/>
          <a:lstStyle/>
          <a:p>
            <a:r>
              <a:rPr lang="en-US"/>
              <a:t>Just added ship with proof, but we need to update the design</a:t>
            </a:r>
          </a:p>
        </p188:txBody>
      </p188:reply>
      <p188:reply id="{ECD9F4F5-E46A-EB4B-A5DC-0C359F07223A}" authorId="{6BCFFFA3-632A-0650-139C-853EA209CC34}" created="2026-09-23T22:29:14.113">
        <p188:txBody>
          <a:bodyPr/>
          <a:lstStyle/>
          <a:p>
            <a:r>
              <a:rPr lang="en-US"/>
              <a:t>Updated designs - now all 6 are in here</a:t>
            </a:r>
          </a:p>
        </p188:txBody>
      </p188:reply>
    </p188:replyLst>
    <p188:txBody>
      <a:bodyPr/>
      <a:lstStyle/>
      <a:p>
        <a:r>
          <a:rPr lang="en-US"/>
          <a:t>[@Sameer Karim] in the slides above, we are missing ship with proof and also opportunity brief.</a:t>
        </a:r>
      </a:p>
    </p188:txBody>
  </p188:cm>
  <p188:cm id="{B6F614A1-4C8F-E34C-BBE0-58331893BEE6}" authorId="{6BCFFFA3-632A-0650-139C-853EA209CC34}" created="2026-09-24T16:44:53.656">
    <pc:sldMkLst xmlns:pc="http://schemas.microsoft.com/office/powerpoint/2013/main/command">
      <pc:docMk/>
      <pc:sldMk cId="1243583073" sldId="272"/>
    </pc:sldMkLst>
    <p188:txBody>
      <a:bodyPr/>
      <a:lstStyle/>
      <a:p>
        <a:r>
          <a:rPr lang="en-US"/>
          <a:t>Layer in the teams/products as a column</a:t>
        </a:r>
      </a:p>
    </p188:txBody>
  </p188:cm>
</p188:cmLst>
</file>

<file path=ppt/comments/modernComment_136_40FC397.xml><?xml version="1.0" encoding="utf-8"?>
<p188:cmLst xmlns:a="http://schemas.openxmlformats.org/drawingml/2006/main" xmlns:r="http://schemas.openxmlformats.org/officeDocument/2006/relationships" xmlns:p188="http://schemas.microsoft.com/office/powerpoint/2018/8/main">
  <p188:cm id="{BDC7CB48-A567-4859-B8A6-D3FDD8FC90AC}" authorId="{A4955AF2-D546-83B0-A1A9-47C685039754}" created="2026-10-01T16:18:20.843">
    <pc:sldMkLst xmlns:pc="http://schemas.microsoft.com/office/powerpoint/2013/main/command">
      <pc:docMk/>
      <pc:sldMk cId="68141975" sldId="310"/>
    </pc:sldMkLst>
    <p188:txBody>
      <a:bodyPr/>
      <a:lstStyle/>
      <a:p>
        <a:r>
          <a:rPr lang="en-US"/>
          <a:t>[@Sameer Karim] merge done. (The original  is at the graveyard)</a:t>
        </a:r>
      </a:p>
    </p188:txBody>
  </p188:cm>
</p188:cmLst>
</file>

<file path=ppt/comments/modernComment_140_B6055E57.xml><?xml version="1.0" encoding="utf-8"?>
<p188:cmLst xmlns:a="http://schemas.openxmlformats.org/drawingml/2006/main" xmlns:r="http://schemas.openxmlformats.org/officeDocument/2006/relationships" xmlns:p188="http://schemas.microsoft.com/office/powerpoint/2018/8/main">
  <p188:cm id="{A9DB5CE6-C7BB-4CC2-9741-0F00E6259588}" authorId="{A4955AF2-D546-83B0-A1A9-47C685039754}" created="2026-10-01T16:25:07.999">
    <pc:sldMkLst xmlns:pc="http://schemas.microsoft.com/office/powerpoint/2013/main/command">
      <pc:docMk/>
      <pc:sldMk cId="3053805143" sldId="320"/>
    </pc:sldMkLst>
    <p188:txBody>
      <a:bodyPr/>
      <a:lstStyle/>
      <a:p>
        <a:r>
          <a:rPr lang="en-US"/>
          <a:t>[@Sameer Karim] for you review</a:t>
        </a:r>
      </a:p>
    </p188:txBody>
  </p188:cm>
</p188:cmLst>
</file>

<file path=ppt/comments/modernComment_142_C43A6AE9.xml><?xml version="1.0" encoding="utf-8"?>
<p188:cmLst xmlns:a="http://schemas.openxmlformats.org/drawingml/2006/main" xmlns:r="http://schemas.openxmlformats.org/officeDocument/2006/relationships" xmlns:p188="http://schemas.microsoft.com/office/powerpoint/2018/8/main">
  <p188:cm id="{11914B01-A1D5-4414-B51F-B8FBBED0A9E6}" authorId="{A4955AF2-D546-83B0-A1A9-47C685039754}" created="2026-10-02T13:40:30.649">
    <pc:sldMkLst xmlns:pc="http://schemas.microsoft.com/office/powerpoint/2013/main/command">
      <pc:docMk/>
      <pc:sldMk cId="3292162793" sldId="322"/>
    </pc:sldMkLst>
    <p188:txBody>
      <a:bodyPr/>
      <a:lstStyle/>
      <a:p>
        <a:r>
          <a:rPr lang="en-US"/>
          <a:t>[@Sameer Karim] please review it.</a:t>
        </a:r>
      </a:p>
    </p188:txBody>
  </p188:cm>
</p188:cmLst>
</file>

<file path=ppt/comments/modernComment_143_3BD73A13.xml><?xml version="1.0" encoding="utf-8"?>
<p188:cmLst xmlns:a="http://schemas.openxmlformats.org/drawingml/2006/main" xmlns:r="http://schemas.openxmlformats.org/officeDocument/2006/relationships" xmlns:p188="http://schemas.microsoft.com/office/powerpoint/2018/8/main">
  <p188:cm id="{7FD59A15-AD6D-40E6-964E-C178D53B5AE8}" authorId="{A4955AF2-D546-83B0-A1A9-47C685039754}" created="2026-10-02T13:39:47.148">
    <pc:sldMkLst xmlns:pc="http://schemas.microsoft.com/office/powerpoint/2013/main/command">
      <pc:docMk/>
      <pc:sldMk cId="1003960851" sldId="323"/>
    </pc:sldMkLst>
    <p188:txBody>
      <a:bodyPr/>
      <a:lstStyle/>
      <a:p>
        <a:r>
          <a:rPr lang="en-US"/>
          <a:t>[@Sameer Karim] please review it.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3BCCA8E-E054-4945-93F6-8F3E2A7D5A26}" type="slidenum">
              <a:rPr lang="en-US" smtClean="0"/>
              <a:pPr/>
              <a:t>2</a:t>
            </a:fld>
            <a:endParaRPr lang="en-US"/>
          </a:p>
        </p:txBody>
      </p:sp>
    </p:spTree>
    <p:extLst>
      <p:ext uri="{BB962C8B-B14F-4D97-AF65-F5344CB8AC3E}">
        <p14:creationId xmlns:p14="http://schemas.microsoft.com/office/powerpoint/2010/main" val="1571354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pdlc_stage field and review decision record of each template, and the Commercialization Framework (the Concord). Concord mapping: Identify = Concept &amp; Strategy (G0); Define = Design &amp; Viability (G1 funds the build, G2 commits capacity on the solution design brief and delivery plan); Build = Build (G4 Commercial Readiness sign-off); Release = Beta and, where needed, Pilot; Go-to-Market = Launch (G5); Optimize = post-launch review (G6). G3 certification is conditional and runs in parallel when new payers or partners are involved. Implication: G2 commits capacity on the solution design brief and delivery plan, which is the content of the Technical Implementation Plan. The plan should therefore start before the capacity commitment, at the end of Define, even though the template places it in Build. Practices Map row: Prioritization sits inside the Opportunity Brief review decision, and Optimize corresponds to the Measurement and feedback row. Decision-makers follow the templates; the ownership matrix on the next slide still needs to be aligned for the Feature Brief, Technical Implementation Plan, and Testing plan approvers. AI row: agents documented in the Reconcile AI Agentic Spec-Driven Delivery document (the Release Agent is deferred until Product defines its outputs); none are documented yet for Identify, Define, Go-to-Market, or Optimize. The Technical Implementation Plan's section 6 requires named human review for any AI-assisted work.</a:t>
            </a:r>
          </a:p>
          <a:p>
            <a:endParaRPr/>
          </a:p>
          <a:p>
            <a:r>
              <a:t>Working rules come from the README's evidence and decision rules; the step-by-step usage instructions stay in the README itself.</a:t>
            </a:r>
          </a:p>
          <a:p>
            <a:endParaRPr/>
          </a:p>
          <a:p>
            <a:r>
              <a:t>The Build cell also reflects the QA working session: QA uses Claude to create tests and diagnose failures, with access currently limited to some full-time staff.</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SOW Deliverable 3. The roadmap should sequence recommendations by value, urgency, feasibility, and dependency, with proposed owners and initial measures.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1D120-938C-949B-A996-EA649FE23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AD3759-12D3-194C-9DCE-A15D4B713F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54A198-5AC2-38B7-80BC-37B184DD2B3C}"/>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77AC20B7-E944-9FA9-20BE-6452B13915D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01145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076D7-0808-A41E-3B6D-D3907C3179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C4B4CE-EBD5-28E9-780B-7A2E13050F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3CBBFB8-F61D-9EE2-91B3-C8840B0F0C69}"/>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D93DBB27-1BBF-AF77-E498-79E41573908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0693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EC6A6-F568-9637-91AA-E5D62F20B0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BFBFF-DF0E-40FF-700A-2C36033841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1CC8AD-228D-C50C-EA38-A84E1FEDA1D9}"/>
              </a:ext>
            </a:extLst>
          </p:cNvPr>
          <p:cNvSpPr>
            <a:spLocks noGrp="1"/>
          </p:cNvSpPr>
          <p:nvPr>
            <p:ph type="body" idx="1"/>
          </p:nvPr>
        </p:nvSpPr>
        <p:spPr/>
        <p:txBody>
          <a:bodyPr/>
          <a:lstStyle/>
          <a:p>
            <a:endParaRPr lang="en-US">
              <a:solidFill>
                <a:srgbClr val="000000"/>
              </a:solidFill>
            </a:endParaRPr>
          </a:p>
        </p:txBody>
      </p:sp>
      <p:sp>
        <p:nvSpPr>
          <p:cNvPr id="4" name="Slide Number Placeholder 3">
            <a:extLst>
              <a:ext uri="{FF2B5EF4-FFF2-40B4-BE49-F238E27FC236}">
                <a16:creationId xmlns:a16="http://schemas.microsoft.com/office/drawing/2014/main" id="{41B85C19-6AA1-CF63-799F-E5EE6EABF1B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895122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5FE62-E6CA-D484-280D-909A02F63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8A43F-D250-17E6-D197-28AD300596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34BD0C9-1F04-8E30-3905-4D1481B02BD2}"/>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5ECC53BB-7702-1BAB-714B-7F8A5A1788D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44205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343F8-853D-F930-F4AF-43DCAC33C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EFEDD-B447-388F-CA0E-4F964F021C2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9BD13AA-7E61-85FC-9DC8-5864D7C4922D}"/>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DB220EDB-1DE9-970A-0312-2EF3C5C0C11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53211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B07F3-C7E1-58CC-67CB-CA2533D1F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75630-F3AE-A3FD-80C7-DCF7C13EEF3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4954AD-D60C-38D3-3D4E-9F35A1805EC9}"/>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C03890F4-51ED-CEEB-BED7-C59A3BEEBD0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507141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2B8FE-B083-E71A-8ECA-4A100E02DC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F43AAC-92A9-0173-07C3-8EED2254068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3EBAB01-A6AC-7F9D-1FAE-512C163463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BEDE9C-EF1B-B986-0216-70E10AE3ECE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069659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E8388-4CDB-ECE8-AF2D-784B14647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EBE95-DF7F-0209-BE8B-445E74D9210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3975CF9-2084-3180-D983-CD7C628604AB}"/>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3B1466AF-4D2D-9948-EF3E-5A5D66B7895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856072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1512B-5441-7390-E36F-81E918D75C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2F4D87-FDD1-574D-0707-E5932DBA06A2}"/>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EEFBE944-02F2-61B0-DC1C-FBE0DC36B304}"/>
              </a:ext>
            </a:extLst>
          </p:cNvPr>
          <p:cNvSpPr>
            <a:spLocks noGrp="1"/>
          </p:cNvSpPr>
          <p:nvPr>
            <p:ph type="body" sz="quarter" idx="3"/>
          </p:nvPr>
        </p:nvSpPr>
        <p:spPr/>
        <p:txBody>
          <a:bodyPr/>
          <a:lstStyle/>
          <a:p>
            <a:endParaRPr/>
          </a:p>
        </p:txBody>
      </p:sp>
      <p:sp>
        <p:nvSpPr>
          <p:cNvPr id="4" name="Slide Number Placeholder 3">
            <a:extLst>
              <a:ext uri="{FF2B5EF4-FFF2-40B4-BE49-F238E27FC236}">
                <a16:creationId xmlns:a16="http://schemas.microsoft.com/office/drawing/2014/main" id="{BF464100-CA5C-A64C-A529-4701557EAFF9}"/>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8959876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ABD7D-2A3B-D017-6B98-C3D6D5D57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33490F-309B-58DE-3467-D518FCCD17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BB5E41F-B7EC-9F04-8EA8-B349B07C72DA}"/>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49E0773D-8A34-EC23-783A-BF75836759D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937787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Executive summary, engineering track. The product column is left for the product team. The engineering column summarizes the engineering practices map, the release health baseline, and recommendations E1–E5. Horizons: Now = readout decisions plus the first 30 days; Next = 1–3 months; Future = 3–6 months and beyond.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Source: SOW Deliverable 1, current Practices Map working deliverable, discovery synthesis, daily stand-up transcript, and Miro lifecycle themes. Ratings are placeholders for validation and should be updated by the team.</a:t>
            </a:r>
          </a:p>
          <a:p>
            <a:endParaRPr lang="en-US">
              <a:solidFill>
                <a:srgbClr val="000000"/>
              </a:solidFil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Engineering practices by platform. Ratings are working hypotheses built from working sessions with Reconcile AI engineering leadership, new-platform engineering leadership, Core engineering leadership, and release management, plus the engineering survey (n=44, March 2026) and the release calendar. 'To validate' means we have no evidence yet, not a low score. XConnect automation is ~100% in both the working session and the value chain deck; a ~70% figure is attributed to different products in different sources, so it is left off the slide. Release promotion: builds are tracked by ID through the in-house build system, confirmed by build numbers in the release calendar. Release management described merging the staging branch to production on release night, which suggests a rebuild; the Monday UAT / Thursday production cadence matches the Core releases in the calendar. Whether the staging-validated build is the one promoted to production is unconfirmed. The 'Addressed by' column links each practice to the recommendation that acts on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Release health baseline. Counts come from the consolidated release calendar: 2024–2025 from 'New builds' release emails, 2026 from the Deployments Team channel. The calendar lists Core applications (CHS, DCI, DCQ, CUSTCARE, REG, CRED, PNT, DWS, DEA and others); new-platform releases are not included. 2024–2025 emails did not label patches separately, so zeros for those years reflect recording, not absence. Credential and certificate patches: Salesforce client password expirations on 05/30 and 08/28 (the second followed by the 09/01 restoration of outbound Salesforce calls); BMA (04/07), DIL (05/11), and SSO (08/20) certificates applied as patches, where the calendar does not say whether they had expired. Defects that reached production: an ambiguous column name in DCI (03/23), a slow Custcare credentialing search (05/15), and a file-delivery failure for MET (07/15). Rollbacks: DEA (01/23) and DCQ (08/28). Two March patches (03/26 and 03/27) have no recorded cause.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Source: SOW Deliverable 2 and daily stand-up transcript. The opportunity-to-implementation path is an emerging theme identified in team discussion and is included as a working example, not a final prescribed process.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Source: Daily stand-up transcript and client-provided themes. The signal-to-implementation path is a working hypothesis for bounded activation, intended to connect discovery, definition, delivery, release, and post-launch learning.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Source: SOW Deliverable 3, early interview themes, daily stand-up transcript, and current working deliverable. This is the summary view; detailed action definitions follow.</a:t>
            </a:r>
          </a:p>
          <a:p>
            <a:endParaRPr/>
          </a:p>
          <a:p>
            <a:r>
              <a:t>Two tracks: product recommendations 01–05 and engineering recommendations E1–E5. Governed agentic delivery (formerly recommendation 06) is now E5. 'Starts' shows the first horizon and, for engineering, the pilot pod.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E1 sources: 2024–2026 release calendar (Core applications), release management and Core engineering working sessions (CAB process, configuration switches), and the readout finding on quality. The 15 unplanned 2026 changes are 11 patches, 2 off-version releases, and 2 rollbacks; see the notes on the release health baseline for the breakdown by cause.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E2 sources: Core engineering working session (manual regression, limited QA capacity), new-platform engineering working session (automation levels by pod), the Agentic Spec-Driven Delivery document (Reconcile AI test agents), and the readout (testing is uneven; some defects reach customers). Engineering survey: rework cited by 16 of 44 respondents as slowing delivery.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E3 sources: engineering survey free text (access delays, late test data, no read-only database access for troubleshooting), product survey (Reconcile AI waited months for production-like data), Core engineering working session (offshore access to production data), and the readout (HIPAA and PII approval constraints).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E4 sources: readout findings (PDLC and SDLC not measured; the outside workforce is not measured on delivery), Reconcile AI engineering working session (flow metrics proposed, not yet running), Core engineering working session (story-point planning), and the release calendar and Jira as existing data.</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Source: SOW Deliverable 3, Decide and Activate methodology, early interview themes, daily stand-up transcript, and current working deliverable. This roadmap is intended to be refined as live initiative evidence accumulates.</a:t>
            </a:r>
          </a:p>
          <a:p>
            <a:endParaRPr/>
          </a:p>
          <a:p>
            <a:r>
              <a:t>Governed agentic delivery moved to the engineering track as E5; see the engineering roadmap on the next page.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13BA4-0850-3782-DD19-048D42242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03C7D-E2FE-9CE0-2E04-7A95B0EDCD2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A53D46D-4D00-EE02-2E54-6A9111C00807}"/>
              </a:ext>
            </a:extLst>
          </p:cNvPr>
          <p:cNvSpPr>
            <a:spLocks noGrp="1"/>
          </p:cNvSpPr>
          <p:nvPr>
            <p:ph type="body" idx="1"/>
          </p:nvPr>
        </p:nvSpPr>
        <p:spPr/>
        <p:txBody>
          <a:bodyPr/>
          <a:lstStyle/>
          <a:p>
            <a:r>
              <a:t>This slide uses a recommended role model rather than RACI or RAPID: L = Lead, C = Contribute, I = Inform, A = Approve. The mappings are a starting point based on the six artifacts named by the user and the Product / Engineering operating model in the supplied DentalXChange source deck. Validate role names and approval gates with DXC leadership before operationalizing the templates.</a:t>
            </a:r>
          </a:p>
        </p:txBody>
      </p:sp>
      <p:sp>
        <p:nvSpPr>
          <p:cNvPr id="4" name="Slide Number Placeholder 3">
            <a:extLst>
              <a:ext uri="{FF2B5EF4-FFF2-40B4-BE49-F238E27FC236}">
                <a16:creationId xmlns:a16="http://schemas.microsoft.com/office/drawing/2014/main" id="{5EF5C928-49F7-CBAB-23A9-13DE586FB94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150525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Source: SOW pages 1-3. The SOW frames the work around up to two live initiatives, up to three bounded quick wins, a three-week project, and no production-system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Engineering roadmap. Three buckets, each starting in its pilot pods, plus an AI guardrail that applies to all of them. Rollout sequence: pilots now in Core, Reconcile AI, and the Rules Engine; Eligibility AI and Pay Connect next; the other pods later, with a light, human-gated AI version for Core.</a:t>
            </a:r>
          </a:p>
          <a:p>
            <a:endParaRPr/>
          </a:p>
          <a:p>
            <a:r>
              <a:t>AI guardrail: the QA working session confirmed that sanctioned tool access is limited to some full-time staff and not yet available to contractors.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This slide uses a recommended role model rather than RACI or RAPID: L = Lead, C = Contribute, I = Inform, A = Approve. The mappings are a starting point based on the six artifacts named by the user and the Product / Engineering operating model in the supplied DentalXChange source deck. Validate role names and approval gates with DXC leadership before operationalizing the templates.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jpe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7.jpe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9.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6.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1_one_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hidden="1">
            <a:extLst>
              <a:ext uri="{FF2B5EF4-FFF2-40B4-BE49-F238E27FC236}">
                <a16:creationId xmlns:a16="http://schemas.microsoft.com/office/drawing/2014/main" id="{7EFE2CDD-AD51-E6E6-9801-DCCED248B4B9}"/>
              </a:ext>
            </a:extLst>
          </p:cNvPr>
          <p:cNvSpPr>
            <a:spLocks noGrp="1"/>
          </p:cNvSpPr>
          <p:nvPr>
            <p:ph type="body" idx="23" hasCustomPrompt="1"/>
          </p:nvPr>
        </p:nvSpPr>
        <p:spPr>
          <a:xfrm>
            <a:off x="0" y="3240042"/>
            <a:ext cx="1739348" cy="586696"/>
          </a:xfrm>
          <a:prstGeom prst="rect">
            <a:avLst/>
          </a:prstGeom>
          <a:blipFill>
            <a:blip r:embed="rId3"/>
            <a:stretch>
              <a:fillRect/>
            </a:stretch>
          </a:blipFill>
        </p:spPr>
        <p:txBody>
          <a:bodyPr/>
          <a:lstStyle>
            <a:lvl1pPr>
              <a:buNone/>
              <a:defRPr sz="2800" b="0" i="0"/>
            </a:lvl1pPr>
          </a:lstStyle>
          <a:p>
            <a:pPr lvl="0">
              <a:buNone/>
            </a:pPr>
            <a:r>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idx="19" hasCustomPrompt="1"/>
          </p:nvPr>
        </p:nvSpPr>
        <p:spPr>
          <a:xfrm>
            <a:off x="465137" y="4076700"/>
            <a:ext cx="5106989" cy="1943100"/>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idx="21"/>
          </p:nvPr>
        </p:nvSpPr>
        <p:spPr>
          <a:xfrm>
            <a:off x="465137" y="6400800"/>
            <a:ext cx="3602038" cy="166688"/>
          </a:xfrm>
          <a:prstGeom prst="rect">
            <a:avLst/>
          </a:prstGeom>
        </p:spPr>
        <p:txBody>
          <a:bodyPr lIns="0" tIns="0" rIns="0" bIns="0" anchor="b"/>
          <a:lstStyle>
            <a:lvl1pPr>
              <a:buNone/>
              <a:defRPr sz="1000" b="0" i="0" cap="all" baseline="0">
                <a:solidFill>
                  <a:schemeClr val="tx1"/>
                </a:solidFill>
                <a:latin typeface="+mn-lt"/>
                <a:ea typeface="+mn-lt"/>
                <a:cs typeface="+mn-lt"/>
              </a:defRPr>
            </a:lvl1pPr>
            <a:lvl2pPr>
              <a:buNone/>
              <a:defRPr sz="1000" b="0" i="0">
                <a:solidFill>
                  <a:schemeClr val="tx1"/>
                </a:solidFill>
                <a:latin typeface="+mj-lt"/>
                <a:ea typeface="+mj-lt"/>
                <a:cs typeface="+mj-lt"/>
              </a:defRPr>
            </a:lvl2pPr>
            <a:lvl3pPr>
              <a:buNone/>
              <a:defRPr sz="1000" b="0" i="0">
                <a:solidFill>
                  <a:schemeClr val="tx1"/>
                </a:solidFill>
                <a:latin typeface="+mj-lt"/>
                <a:ea typeface="+mj-lt"/>
                <a:cs typeface="+mj-lt"/>
              </a:defRPr>
            </a:lvl3pPr>
            <a:lvl4pPr>
              <a:buNone/>
              <a:defRPr sz="1000" b="0" i="0">
                <a:solidFill>
                  <a:schemeClr val="tx1"/>
                </a:solidFill>
                <a:latin typeface="+mj-lt"/>
                <a:ea typeface="+mj-lt"/>
                <a:cs typeface="+mj-lt"/>
              </a:defRPr>
            </a:lvl4pPr>
            <a:lvl5pPr>
              <a:buNone/>
              <a:defRPr sz="1000" b="0" i="0">
                <a:solidFill>
                  <a:schemeClr val="tx1"/>
                </a:solidFill>
                <a:latin typeface="+mj-lt"/>
                <a:ea typeface="+mj-lt"/>
                <a:cs typeface="+mj-lt"/>
              </a:defRPr>
            </a:lvl5pPr>
            <a:lvl6pPr>
              <a:buNone/>
              <a:defRPr sz="1000" b="0" i="0">
                <a:solidFill>
                  <a:schemeClr val="tx1"/>
                </a:solidFill>
                <a:latin typeface="+mj-lt"/>
                <a:ea typeface="+mj-lt"/>
                <a:cs typeface="+mj-lt"/>
              </a:defRPr>
            </a:lvl6pPr>
            <a:lvl7pPr>
              <a:buNone/>
              <a:defRPr sz="1000" b="0" i="0">
                <a:solidFill>
                  <a:schemeClr val="tx1"/>
                </a:solidFill>
                <a:latin typeface="+mj-lt"/>
                <a:ea typeface="+mj-lt"/>
                <a:cs typeface="+mj-lt"/>
              </a:defRPr>
            </a:lvl7pPr>
            <a:lvl8pPr>
              <a:buNone/>
              <a:defRPr sz="1000" b="0" i="0">
                <a:solidFill>
                  <a:schemeClr val="tx1"/>
                </a:solidFill>
                <a:latin typeface="+mj-lt"/>
                <a:ea typeface="+mj-lt"/>
                <a:cs typeface="+mj-lt"/>
              </a:defRPr>
            </a:lvl8pPr>
            <a:lvl9pPr marL="0">
              <a:buNone/>
              <a:defRPr sz="1000" b="0" i="0">
                <a:solidFill>
                  <a:schemeClr val="tx1"/>
                </a:solidFill>
                <a:latin typeface="+mj-lt"/>
                <a:ea typeface="+mj-lt"/>
                <a:cs typeface="+mj-lt"/>
              </a:defRPr>
            </a:lvl9pPr>
          </a:lstStyle>
          <a:p>
            <a:pPr indent="-3200400">
              <a:buNone/>
            </a:pPr>
            <a:endParaRPr/>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lstStyle>
            <a:lvl1pPr>
              <a:buNone/>
              <a:defRPr sz="3200" b="1">
                <a:solidFill>
                  <a:schemeClr val="tx1"/>
                </a:solidFill>
              </a:defRPr>
            </a:lvl1pPr>
          </a:lstStyle>
          <a:p>
            <a:r>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idx="22"/>
          </p:nvPr>
        </p:nvSpPr>
        <p:spPr>
          <a:xfrm>
            <a:off x="6533804" y="850900"/>
            <a:ext cx="5658196" cy="5716588"/>
          </a:xfrm>
          <a:prstGeom prst="rect">
            <a:avLst/>
          </a:prstGeom>
          <a:solidFill>
            <a:schemeClr val="accent2">
              <a:lumMod val="40000"/>
              <a:lumOff val="60000"/>
            </a:schemeClr>
          </a:solidFill>
        </p:spPr>
        <p:txBody>
          <a:bodyPr tIns="2377440"/>
          <a:lstStyle>
            <a:lvl1pPr algn="ctr">
              <a:buNone/>
              <a:defRPr b="0" i="0"/>
            </a:lvl1pPr>
          </a:lstStyle>
          <a:p>
            <a:r>
              <a:t>Click icon to add picture</a:t>
            </a:r>
          </a:p>
        </p:txBody>
      </p:sp>
      <p:pic>
        <p:nvPicPr>
          <p:cNvPr id="19" name="Picture 7"/>
          <p:cNvPicPr>
            <a:picLocks noChangeAspect="1"/>
          </p:cNvPicPr>
          <p:nvPr/>
        </p:nvPicPr>
        <p:blipFill>
          <a:blip r:embed="rId4"/>
          <a:stretch>
            <a:fillRect/>
          </a:stretch>
        </p:blipFill>
        <p:spPr>
          <a:xfrm>
            <a:off x="460376" y="350432"/>
            <a:ext cx="2330449" cy="4877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2_two_image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EFE2CDD-AD51-E6E6-9801-DCCED248B4B9}"/>
              </a:ext>
            </a:extLst>
          </p:cNvPr>
          <p:cNvSpPr>
            <a:spLocks noGrp="1"/>
          </p:cNvSpPr>
          <p:nvPr>
            <p:ph type="body" idx="23" hasCustomPrompt="1"/>
          </p:nvPr>
        </p:nvSpPr>
        <p:spPr>
          <a:xfrm>
            <a:off x="0" y="3240042"/>
            <a:ext cx="1739348" cy="586696"/>
          </a:xfrm>
          <a:prstGeom prst="rect">
            <a:avLst/>
          </a:prstGeom>
          <a:blipFill>
            <a:blip r:embed="rId3"/>
            <a:stretch>
              <a:fillRect/>
            </a:stretch>
          </a:blipFill>
        </p:spPr>
        <p:txBody>
          <a:bodyPr/>
          <a:lstStyle>
            <a:lvl1pPr>
              <a:buNone/>
              <a:defRPr sz="2800" b="0" i="0"/>
            </a:lvl1pPr>
          </a:lstStyle>
          <a:p>
            <a:pPr lvl="0">
              <a:buNone/>
            </a:pPr>
            <a:r>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idx="19" hasCustomPrompt="1"/>
          </p:nvPr>
        </p:nvSpPr>
        <p:spPr>
          <a:xfrm>
            <a:off x="465137" y="4076700"/>
            <a:ext cx="5106989" cy="1943100"/>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lstStyle>
            <a:lvl1pPr>
              <a:buNone/>
              <a:defRPr sz="3200" b="1">
                <a:solidFill>
                  <a:schemeClr val="tx1"/>
                </a:solidFill>
              </a:defRPr>
            </a:lvl1pPr>
          </a:lstStyle>
          <a:p>
            <a:r>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idx="22" hasCustomPrompt="1"/>
          </p:nvPr>
        </p:nvSpPr>
        <p:spPr>
          <a:xfrm>
            <a:off x="6520070" y="850900"/>
            <a:ext cx="5671929" cy="5716588"/>
          </a:xfrm>
          <a:prstGeom prst="rect">
            <a:avLst/>
          </a:prstGeom>
          <a:solidFill>
            <a:schemeClr val="accent2">
              <a:lumMod val="40000"/>
              <a:lumOff val="60000"/>
            </a:schemeClr>
          </a:solidFill>
        </p:spPr>
        <p:txBody>
          <a:bodyPr tIns="2377440"/>
          <a:lstStyle>
            <a:lvl1pPr marL="0" marR="0" indent="0" algn="ctr" defTabSz="914400">
              <a:lnSpc>
                <a:spcPct val="100000"/>
              </a:lnSpc>
              <a:spcBef>
                <a:spcPts val="0"/>
              </a:spcBef>
              <a:spcAft>
                <a:spcPts val="1600"/>
              </a:spcAft>
              <a:buClrTx/>
              <a:buSzTx/>
              <a:buFont typeface="Arial"/>
              <a:buNone/>
              <a:defRPr b="0" i="0"/>
            </a:lvl1pPr>
          </a:lstStyle>
          <a:p>
            <a:r>
              <a:t>Industry/Functional image</a:t>
            </a:r>
          </a:p>
        </p:txBody>
      </p:sp>
      <p:pic>
        <p:nvPicPr>
          <p:cNvPr id="18" name="Picture 7"/>
          <p:cNvPicPr>
            <a:picLocks noChangeAspect="1"/>
          </p:cNvPicPr>
          <p:nvPr/>
        </p:nvPicPr>
        <p:blipFill>
          <a:blip r:embed="rId4"/>
          <a:stretch>
            <a:fillRect/>
          </a:stretch>
        </p:blipFill>
        <p:spPr>
          <a:xfrm>
            <a:off x="460376" y="350432"/>
            <a:ext cx="2330449" cy="487768"/>
          </a:xfrm>
          <a:prstGeom prst="rect">
            <a:avLst/>
          </a:prstGeom>
        </p:spPr>
      </p:pic>
      <p:sp>
        <p:nvSpPr>
          <p:cNvPr id="3" name="Picture Placeholder 4">
            <a:extLst>
              <a:ext uri="{FF2B5EF4-FFF2-40B4-BE49-F238E27FC236}">
                <a16:creationId xmlns:a16="http://schemas.microsoft.com/office/drawing/2014/main" id="{F99506F5-C36B-BDCD-CE02-3F42CD24047A}"/>
              </a:ext>
            </a:extLst>
          </p:cNvPr>
          <p:cNvSpPr>
            <a:spLocks noGrp="1"/>
          </p:cNvSpPr>
          <p:nvPr>
            <p:ph type="pic" idx="24" hasCustomPrompt="1"/>
          </p:nvPr>
        </p:nvSpPr>
        <p:spPr>
          <a:xfrm>
            <a:off x="5659161" y="2385392"/>
            <a:ext cx="2471048" cy="2445026"/>
          </a:xfrm>
          <a:prstGeom prst="rect">
            <a:avLst/>
          </a:prstGeom>
          <a:solidFill>
            <a:schemeClr val="accent2">
              <a:lumMod val="60000"/>
              <a:lumOff val="40000"/>
            </a:schemeClr>
          </a:solidFill>
        </p:spPr>
        <p:txBody>
          <a:bodyPr tIns="731520"/>
          <a:lstStyle>
            <a:lvl1pPr algn="ctr">
              <a:buNone/>
              <a:defRPr b="0" i="0"/>
            </a:lvl1pPr>
          </a:lstStyle>
          <a:p>
            <a:r>
              <a:t>Abstract image</a:t>
            </a:r>
          </a:p>
        </p:txBody>
      </p:sp>
      <p:sp>
        <p:nvSpPr>
          <p:cNvPr id="4" name="Text Placeholder 9">
            <a:extLst>
              <a:ext uri="{FF2B5EF4-FFF2-40B4-BE49-F238E27FC236}">
                <a16:creationId xmlns:a16="http://schemas.microsoft.com/office/drawing/2014/main" id="{845B44C6-F3CB-894B-D0B3-F4A1C0020735}"/>
              </a:ext>
            </a:extLst>
          </p:cNvPr>
          <p:cNvSpPr>
            <a:spLocks noGrp="1"/>
          </p:cNvSpPr>
          <p:nvPr>
            <p:ph type="body" idx="25" hasCustomPrompt="1"/>
          </p:nvPr>
        </p:nvSpPr>
        <p:spPr>
          <a:xfrm rot="10800000" flipH="1">
            <a:off x="5824330" y="1413507"/>
            <a:ext cx="1461053" cy="1419143"/>
          </a:xfrm>
          <a:prstGeom prst="rect">
            <a:avLst/>
          </a:prstGeom>
          <a:blipFill>
            <a:blip r:embed="rId5"/>
            <a:stretch>
              <a:fillRect/>
            </a:stretch>
          </a:blipFill>
        </p:spPr>
        <p:txBody>
          <a:bodyPr/>
          <a:lstStyle>
            <a:lvl1pPr>
              <a:buNone/>
              <a:defRPr sz="2800" b="0" i="0"/>
            </a:lvl1pPr>
          </a:lstStyle>
          <a:p>
            <a:pPr lvl="0">
              <a:buNone/>
            </a:pPr>
            <a:r>
              <a:t> </a:t>
            </a:r>
          </a:p>
        </p:txBody>
      </p:sp>
      <p:sp>
        <p:nvSpPr>
          <p:cNvPr id="6" name="Date Placeholder 6">
            <a:extLst>
              <a:ext uri="{FF2B5EF4-FFF2-40B4-BE49-F238E27FC236}">
                <a16:creationId xmlns:a16="http://schemas.microsoft.com/office/drawing/2014/main" id="{C837860D-6193-C889-B5AE-2132DFF5FA2A}"/>
              </a:ext>
            </a:extLst>
          </p:cNvPr>
          <p:cNvSpPr>
            <a:spLocks noGrp="1"/>
          </p:cNvSpPr>
          <p:nvPr>
            <p:ph type="dt" idx="21"/>
          </p:nvPr>
        </p:nvSpPr>
        <p:spPr>
          <a:xfrm>
            <a:off x="465137" y="6400800"/>
            <a:ext cx="3602038" cy="166688"/>
          </a:xfrm>
          <a:prstGeom prst="rect">
            <a:avLst/>
          </a:prstGeom>
        </p:spPr>
        <p:txBody>
          <a:bodyPr lIns="0" tIns="0" rIns="0" bIns="0" anchor="b"/>
          <a:lstStyle>
            <a:lvl1pPr>
              <a:buNone/>
              <a:defRPr sz="1000" b="0" i="0" cap="all" baseline="0">
                <a:solidFill>
                  <a:schemeClr val="tx1"/>
                </a:solidFill>
                <a:latin typeface="+mn-lt"/>
                <a:ea typeface="+mn-lt"/>
                <a:cs typeface="+mn-lt"/>
              </a:defRPr>
            </a:lvl1pPr>
            <a:lvl2pPr>
              <a:buNone/>
              <a:defRPr sz="1000" b="0" i="0">
                <a:solidFill>
                  <a:schemeClr val="tx1"/>
                </a:solidFill>
                <a:latin typeface="+mj-lt"/>
                <a:ea typeface="+mj-lt"/>
                <a:cs typeface="+mj-lt"/>
              </a:defRPr>
            </a:lvl2pPr>
            <a:lvl3pPr>
              <a:buNone/>
              <a:defRPr sz="1000" b="0" i="0">
                <a:solidFill>
                  <a:schemeClr val="tx1"/>
                </a:solidFill>
                <a:latin typeface="+mj-lt"/>
                <a:ea typeface="+mj-lt"/>
                <a:cs typeface="+mj-lt"/>
              </a:defRPr>
            </a:lvl3pPr>
            <a:lvl4pPr>
              <a:buNone/>
              <a:defRPr sz="1000" b="0" i="0">
                <a:solidFill>
                  <a:schemeClr val="tx1"/>
                </a:solidFill>
                <a:latin typeface="+mj-lt"/>
                <a:ea typeface="+mj-lt"/>
                <a:cs typeface="+mj-lt"/>
              </a:defRPr>
            </a:lvl4pPr>
            <a:lvl5pPr>
              <a:buNone/>
              <a:defRPr sz="1000" b="0" i="0">
                <a:solidFill>
                  <a:schemeClr val="tx1"/>
                </a:solidFill>
                <a:latin typeface="+mj-lt"/>
                <a:ea typeface="+mj-lt"/>
                <a:cs typeface="+mj-lt"/>
              </a:defRPr>
            </a:lvl5pPr>
            <a:lvl6pPr>
              <a:buNone/>
              <a:defRPr sz="1000" b="0" i="0">
                <a:solidFill>
                  <a:schemeClr val="tx1"/>
                </a:solidFill>
                <a:latin typeface="+mj-lt"/>
                <a:ea typeface="+mj-lt"/>
                <a:cs typeface="+mj-lt"/>
              </a:defRPr>
            </a:lvl6pPr>
            <a:lvl7pPr>
              <a:buNone/>
              <a:defRPr sz="1000" b="0" i="0">
                <a:solidFill>
                  <a:schemeClr val="tx1"/>
                </a:solidFill>
                <a:latin typeface="+mj-lt"/>
                <a:ea typeface="+mj-lt"/>
                <a:cs typeface="+mj-lt"/>
              </a:defRPr>
            </a:lvl7pPr>
            <a:lvl8pPr>
              <a:buNone/>
              <a:defRPr sz="1000" b="0" i="0">
                <a:solidFill>
                  <a:schemeClr val="tx1"/>
                </a:solidFill>
                <a:latin typeface="+mj-lt"/>
                <a:ea typeface="+mj-lt"/>
                <a:cs typeface="+mj-lt"/>
              </a:defRPr>
            </a:lvl8pPr>
            <a:lvl9pPr marL="0">
              <a:buNone/>
              <a:defRPr sz="1000" b="0" i="0">
                <a:solidFill>
                  <a:schemeClr val="tx1"/>
                </a:solidFill>
                <a:latin typeface="+mj-lt"/>
                <a:ea typeface="+mj-lt"/>
                <a:cs typeface="+mj-lt"/>
              </a:defRPr>
            </a:lvl9pPr>
          </a:lstStyle>
          <a:p>
            <a:pPr indent="-3200400">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3_one_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097141F5-A733-1943-A651-93DADBFA66B0}"/>
              </a:ext>
            </a:extLst>
          </p:cNvPr>
          <p:cNvSpPr>
            <a:spLocks noGrp="1"/>
          </p:cNvSpPr>
          <p:nvPr>
            <p:ph type="body" idx="19" hasCustomPrompt="1"/>
          </p:nvPr>
        </p:nvSpPr>
        <p:spPr>
          <a:xfrm>
            <a:off x="465137" y="4076700"/>
            <a:ext cx="4884945" cy="1943100"/>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idx="21"/>
          </p:nvPr>
        </p:nvSpPr>
        <p:spPr>
          <a:xfrm>
            <a:off x="465137" y="6400800"/>
            <a:ext cx="3602038" cy="166688"/>
          </a:xfrm>
          <a:prstGeom prst="rect">
            <a:avLst/>
          </a:prstGeom>
        </p:spPr>
        <p:txBody>
          <a:bodyPr lIns="0" tIns="0" rIns="0" bIns="0" anchor="b"/>
          <a:lstStyle>
            <a:lvl1pPr>
              <a:buNone/>
              <a:defRPr sz="1000" b="0" i="0" cap="all" baseline="0">
                <a:solidFill>
                  <a:schemeClr val="bg1"/>
                </a:solidFill>
                <a:latin typeface="+mn-lt"/>
                <a:ea typeface="+mn-lt"/>
                <a:cs typeface="+mn-lt"/>
              </a:defRPr>
            </a:lvl1pPr>
            <a:lvl2pPr>
              <a:buNone/>
              <a:defRPr sz="1000" b="0" i="0">
                <a:solidFill>
                  <a:schemeClr val="bg1"/>
                </a:solidFill>
                <a:latin typeface="+mj-lt"/>
                <a:ea typeface="+mj-lt"/>
                <a:cs typeface="+mj-lt"/>
              </a:defRPr>
            </a:lvl2pPr>
            <a:lvl3pPr>
              <a:buNone/>
              <a:defRPr sz="1000" b="0" i="0">
                <a:solidFill>
                  <a:schemeClr val="bg1"/>
                </a:solidFill>
                <a:latin typeface="+mj-lt"/>
                <a:ea typeface="+mj-lt"/>
                <a:cs typeface="+mj-lt"/>
              </a:defRPr>
            </a:lvl3pPr>
            <a:lvl4pPr>
              <a:buNone/>
              <a:defRPr sz="1000" b="0" i="0">
                <a:solidFill>
                  <a:schemeClr val="bg1"/>
                </a:solidFill>
                <a:latin typeface="+mj-lt"/>
                <a:ea typeface="+mj-lt"/>
                <a:cs typeface="+mj-lt"/>
              </a:defRPr>
            </a:lvl4pPr>
            <a:lvl5pPr>
              <a:buNone/>
              <a:defRPr sz="1000" b="0" i="0">
                <a:solidFill>
                  <a:schemeClr val="bg1"/>
                </a:solidFill>
                <a:latin typeface="+mj-lt"/>
                <a:ea typeface="+mj-lt"/>
                <a:cs typeface="+mj-lt"/>
              </a:defRPr>
            </a:lvl5pPr>
            <a:lvl6pPr>
              <a:buNone/>
              <a:defRPr sz="1000" b="0" i="0">
                <a:solidFill>
                  <a:schemeClr val="bg1"/>
                </a:solidFill>
                <a:latin typeface="+mj-lt"/>
                <a:ea typeface="+mj-lt"/>
                <a:cs typeface="+mj-lt"/>
              </a:defRPr>
            </a:lvl6pPr>
            <a:lvl7pPr>
              <a:buNone/>
              <a:defRPr sz="1000" b="0" i="0">
                <a:solidFill>
                  <a:schemeClr val="bg1"/>
                </a:solidFill>
                <a:latin typeface="+mj-lt"/>
                <a:ea typeface="+mj-lt"/>
                <a:cs typeface="+mj-lt"/>
              </a:defRPr>
            </a:lvl7pPr>
            <a:lvl8pPr>
              <a:buNone/>
              <a:defRPr sz="1000" b="0" i="0">
                <a:solidFill>
                  <a:schemeClr val="bg1"/>
                </a:solidFill>
                <a:latin typeface="+mj-lt"/>
                <a:ea typeface="+mj-lt"/>
                <a:cs typeface="+mj-lt"/>
              </a:defRPr>
            </a:lvl8pPr>
            <a:lvl9pPr marL="0">
              <a:buNone/>
              <a:defRPr sz="1000" b="0" i="0">
                <a:solidFill>
                  <a:schemeClr val="bg1"/>
                </a:solidFill>
                <a:latin typeface="+mj-lt"/>
                <a:ea typeface="+mj-lt"/>
                <a:cs typeface="+mj-lt"/>
              </a:defRPr>
            </a:lvl9pPr>
          </a:lstStyle>
          <a:p>
            <a:pPr indent="-3200400">
              <a:buNone/>
            </a:pPr>
            <a:endParaRPr/>
          </a:p>
        </p:txBody>
      </p:sp>
      <p:sp>
        <p:nvSpPr>
          <p:cNvPr id="2" name="Title 1">
            <a:extLst>
              <a:ext uri="{FF2B5EF4-FFF2-40B4-BE49-F238E27FC236}">
                <a16:creationId xmlns:a16="http://schemas.microsoft.com/office/drawing/2014/main" id="{196F23F1-5869-8449-565A-421EC2586840}"/>
              </a:ext>
            </a:extLst>
          </p:cNvPr>
          <p:cNvSpPr>
            <a:spLocks noGrp="1"/>
          </p:cNvSpPr>
          <p:nvPr>
            <p:ph type="title"/>
          </p:nvPr>
        </p:nvSpPr>
        <p:spPr>
          <a:xfrm>
            <a:off x="460376" y="1412875"/>
            <a:ext cx="4889499" cy="2333625"/>
          </a:xfrm>
          <a:prstGeom prst="rect">
            <a:avLst/>
          </a:prstGeom>
        </p:spPr>
        <p:txBody>
          <a:bodyPr anchor="b"/>
          <a:lstStyle>
            <a:lvl1pPr>
              <a:buNone/>
              <a:defRPr sz="3200" b="1">
                <a:solidFill>
                  <a:schemeClr val="bg1"/>
                </a:solidFill>
              </a:defRPr>
            </a:lvl1pPr>
          </a:lstStyle>
          <a:p>
            <a:r>
              <a:t>Click to edit Master title style</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idx="22"/>
          </p:nvPr>
        </p:nvSpPr>
        <p:spPr>
          <a:xfrm>
            <a:off x="5572126" y="1152939"/>
            <a:ext cx="4317309" cy="4343400"/>
          </a:xfrm>
          <a:prstGeom prst="rect">
            <a:avLst/>
          </a:prstGeom>
          <a:solidFill>
            <a:schemeClr val="accent2">
              <a:lumMod val="40000"/>
              <a:lumOff val="60000"/>
            </a:schemeClr>
          </a:solidFill>
        </p:spPr>
        <p:txBody>
          <a:bodyPr tIns="1737360"/>
          <a:lstStyle>
            <a:lvl1pPr algn="ctr">
              <a:buNone/>
              <a:defRPr b="0" i="0"/>
            </a:lvl1pPr>
          </a:lstStyle>
          <a:p>
            <a:r>
              <a:t>Click icon to add picture</a:t>
            </a:r>
          </a:p>
        </p:txBody>
      </p:sp>
      <p:pic>
        <p:nvPicPr>
          <p:cNvPr id="18" name="Picture 7"/>
          <p:cNvPicPr>
            <a:picLocks noChangeAspect="1"/>
          </p:cNvPicPr>
          <p:nvPr/>
        </p:nvPicPr>
        <p:blipFill>
          <a:blip r:embed="rId3"/>
          <a:srcRect/>
          <a:stretch/>
        </p:blipFill>
        <p:spPr>
          <a:xfrm>
            <a:off x="460377" y="350432"/>
            <a:ext cx="2330447" cy="48776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_4_two_image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048FDED8-DCD9-3558-37D8-CCBB536FED5D}"/>
              </a:ext>
            </a:extLst>
          </p:cNvPr>
          <p:cNvSpPr>
            <a:spLocks noGrp="1"/>
          </p:cNvSpPr>
          <p:nvPr>
            <p:ph type="pic" idx="22" hasCustomPrompt="1"/>
          </p:nvPr>
        </p:nvSpPr>
        <p:spPr>
          <a:xfrm>
            <a:off x="5572127" y="1152939"/>
            <a:ext cx="4317308" cy="4343400"/>
          </a:xfrm>
          <a:prstGeom prst="rect">
            <a:avLst/>
          </a:prstGeom>
          <a:solidFill>
            <a:schemeClr val="accent2">
              <a:lumMod val="40000"/>
              <a:lumOff val="60000"/>
            </a:schemeClr>
          </a:solidFill>
        </p:spPr>
        <p:txBody>
          <a:bodyPr tIns="1737360"/>
          <a:lstStyle>
            <a:lvl1pPr algn="ctr">
              <a:buNone/>
              <a:defRPr b="0" i="0"/>
            </a:lvl1pPr>
          </a:lstStyle>
          <a:p>
            <a:pPr marL="0" marR="0" lvl="0" indent="0" algn="ctr" defTabSz="914400">
              <a:lnSpc>
                <a:spcPct val="100000"/>
              </a:lnSpc>
              <a:spcBef>
                <a:spcPts val="0"/>
              </a:spcBef>
              <a:spcAft>
                <a:spcPts val="1600"/>
              </a:spcAft>
              <a:buClrTx/>
              <a:buSzTx/>
              <a:buFont typeface="Arial"/>
              <a:buNone/>
            </a:pPr>
            <a:r>
              <a:t>Industry/Functional image</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idx="19" hasCustomPrompt="1"/>
          </p:nvPr>
        </p:nvSpPr>
        <p:spPr>
          <a:xfrm>
            <a:off x="465137" y="4076700"/>
            <a:ext cx="4885430" cy="1943100"/>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3" name="Picture Placeholder 4">
            <a:extLst>
              <a:ext uri="{FF2B5EF4-FFF2-40B4-BE49-F238E27FC236}">
                <a16:creationId xmlns:a16="http://schemas.microsoft.com/office/drawing/2014/main" id="{F99506F5-C36B-BDCD-CE02-3F42CD24047A}"/>
              </a:ext>
            </a:extLst>
          </p:cNvPr>
          <p:cNvSpPr>
            <a:spLocks noGrp="1"/>
          </p:cNvSpPr>
          <p:nvPr>
            <p:ph type="pic" idx="24" hasCustomPrompt="1"/>
          </p:nvPr>
        </p:nvSpPr>
        <p:spPr>
          <a:xfrm>
            <a:off x="10110995" y="2574234"/>
            <a:ext cx="1788490" cy="1779793"/>
          </a:xfrm>
          <a:prstGeom prst="rect">
            <a:avLst/>
          </a:prstGeom>
          <a:solidFill>
            <a:schemeClr val="accent2">
              <a:lumMod val="60000"/>
              <a:lumOff val="40000"/>
            </a:schemeClr>
          </a:solidFill>
        </p:spPr>
        <p:txBody>
          <a:bodyPr tIns="457200"/>
          <a:lstStyle>
            <a:lvl1pPr algn="ctr">
              <a:buNone/>
              <a:defRPr b="0" i="0"/>
            </a:lvl1pPr>
          </a:lstStyle>
          <a:p>
            <a:r>
              <a:t>Abstract image</a:t>
            </a:r>
          </a:p>
        </p:txBody>
      </p:sp>
      <p:pic>
        <p:nvPicPr>
          <p:cNvPr id="20" name="Picture 5"/>
          <p:cNvPicPr>
            <a:picLocks noChangeAspect="1"/>
          </p:cNvPicPr>
          <p:nvPr/>
        </p:nvPicPr>
        <p:blipFill>
          <a:blip r:embed="rId3"/>
          <a:srcRect/>
          <a:stretch/>
        </p:blipFill>
        <p:spPr>
          <a:xfrm>
            <a:off x="460377" y="350432"/>
            <a:ext cx="2330447" cy="487768"/>
          </a:xfrm>
          <a:prstGeom prst="rect">
            <a:avLst/>
          </a:prstGeom>
        </p:spPr>
      </p:pic>
      <p:sp>
        <p:nvSpPr>
          <p:cNvPr id="9" name="Date Placeholder 6">
            <a:extLst>
              <a:ext uri="{FF2B5EF4-FFF2-40B4-BE49-F238E27FC236}">
                <a16:creationId xmlns:a16="http://schemas.microsoft.com/office/drawing/2014/main" id="{A0C19E44-9FDD-32D2-CA44-9C517501348A}"/>
              </a:ext>
            </a:extLst>
          </p:cNvPr>
          <p:cNvSpPr>
            <a:spLocks noGrp="1"/>
          </p:cNvSpPr>
          <p:nvPr>
            <p:ph type="dt" idx="21"/>
          </p:nvPr>
        </p:nvSpPr>
        <p:spPr>
          <a:xfrm>
            <a:off x="465137" y="6400800"/>
            <a:ext cx="3602038" cy="166688"/>
          </a:xfrm>
          <a:prstGeom prst="rect">
            <a:avLst/>
          </a:prstGeom>
        </p:spPr>
        <p:txBody>
          <a:bodyPr lIns="0" tIns="0" rIns="0" bIns="0" anchor="b"/>
          <a:lstStyle>
            <a:lvl1pPr>
              <a:buNone/>
              <a:defRPr sz="1000" b="0" i="0" cap="all" baseline="0">
                <a:solidFill>
                  <a:schemeClr val="bg1"/>
                </a:solidFill>
                <a:latin typeface="+mn-lt"/>
                <a:ea typeface="+mn-lt"/>
                <a:cs typeface="+mn-lt"/>
              </a:defRPr>
            </a:lvl1pPr>
            <a:lvl2pPr>
              <a:buNone/>
              <a:defRPr sz="1000" b="0" i="0">
                <a:solidFill>
                  <a:schemeClr val="bg1"/>
                </a:solidFill>
                <a:latin typeface="+mj-lt"/>
                <a:ea typeface="+mj-lt"/>
                <a:cs typeface="+mj-lt"/>
              </a:defRPr>
            </a:lvl2pPr>
            <a:lvl3pPr>
              <a:buNone/>
              <a:defRPr sz="1000" b="0" i="0">
                <a:solidFill>
                  <a:schemeClr val="bg1"/>
                </a:solidFill>
                <a:latin typeface="+mj-lt"/>
                <a:ea typeface="+mj-lt"/>
                <a:cs typeface="+mj-lt"/>
              </a:defRPr>
            </a:lvl3pPr>
            <a:lvl4pPr>
              <a:buNone/>
              <a:defRPr sz="1000" b="0" i="0">
                <a:solidFill>
                  <a:schemeClr val="bg1"/>
                </a:solidFill>
                <a:latin typeface="+mj-lt"/>
                <a:ea typeface="+mj-lt"/>
                <a:cs typeface="+mj-lt"/>
              </a:defRPr>
            </a:lvl4pPr>
            <a:lvl5pPr>
              <a:buNone/>
              <a:defRPr sz="1000" b="0" i="0">
                <a:solidFill>
                  <a:schemeClr val="bg1"/>
                </a:solidFill>
                <a:latin typeface="+mj-lt"/>
                <a:ea typeface="+mj-lt"/>
                <a:cs typeface="+mj-lt"/>
              </a:defRPr>
            </a:lvl5pPr>
            <a:lvl6pPr>
              <a:buNone/>
              <a:defRPr sz="1000" b="0" i="0">
                <a:solidFill>
                  <a:schemeClr val="bg1"/>
                </a:solidFill>
                <a:latin typeface="+mj-lt"/>
                <a:ea typeface="+mj-lt"/>
                <a:cs typeface="+mj-lt"/>
              </a:defRPr>
            </a:lvl6pPr>
            <a:lvl7pPr>
              <a:buNone/>
              <a:defRPr sz="1000" b="0" i="0">
                <a:solidFill>
                  <a:schemeClr val="bg1"/>
                </a:solidFill>
                <a:latin typeface="+mj-lt"/>
                <a:ea typeface="+mj-lt"/>
                <a:cs typeface="+mj-lt"/>
              </a:defRPr>
            </a:lvl7pPr>
            <a:lvl8pPr>
              <a:buNone/>
              <a:defRPr sz="1000" b="0" i="0">
                <a:solidFill>
                  <a:schemeClr val="bg1"/>
                </a:solidFill>
                <a:latin typeface="+mj-lt"/>
                <a:ea typeface="+mj-lt"/>
                <a:cs typeface="+mj-lt"/>
              </a:defRPr>
            </a:lvl8pPr>
            <a:lvl9pPr marL="0">
              <a:buNone/>
              <a:defRPr sz="1000" b="0" i="0">
                <a:solidFill>
                  <a:schemeClr val="bg1"/>
                </a:solidFill>
                <a:latin typeface="+mj-lt"/>
                <a:ea typeface="+mj-lt"/>
                <a:cs typeface="+mj-lt"/>
              </a:defRPr>
            </a:lvl9pPr>
          </a:lstStyle>
          <a:p>
            <a:pPr indent="-3200400">
              <a:buNone/>
            </a:pPr>
            <a:endParaRPr/>
          </a:p>
        </p:txBody>
      </p:sp>
      <p:sp>
        <p:nvSpPr>
          <p:cNvPr id="11" name="Title 1">
            <a:extLst>
              <a:ext uri="{FF2B5EF4-FFF2-40B4-BE49-F238E27FC236}">
                <a16:creationId xmlns:a16="http://schemas.microsoft.com/office/drawing/2014/main" id="{9244323D-D055-BCD3-DE22-B0A344D2BF9E}"/>
              </a:ext>
            </a:extLst>
          </p:cNvPr>
          <p:cNvSpPr>
            <a:spLocks noGrp="1"/>
          </p:cNvSpPr>
          <p:nvPr>
            <p:ph type="title"/>
          </p:nvPr>
        </p:nvSpPr>
        <p:spPr>
          <a:xfrm>
            <a:off x="460376" y="1412875"/>
            <a:ext cx="4889985" cy="2333625"/>
          </a:xfrm>
          <a:prstGeom prst="rect">
            <a:avLst/>
          </a:prstGeom>
        </p:spPr>
        <p:txBody>
          <a:bodyPr anchor="b"/>
          <a:lstStyle>
            <a:lvl1pPr>
              <a:buNone/>
              <a:defRPr sz="3200" b="1">
                <a:solidFill>
                  <a:schemeClr val="bg1"/>
                </a:solidFill>
              </a:defRPr>
            </a:lvl1pPr>
          </a:lstStyle>
          <a:p>
            <a:r>
              <a:t>Click to edit Master title style</a:t>
            </a:r>
          </a:p>
        </p:txBody>
      </p:sp>
      <p:sp>
        <p:nvSpPr>
          <p:cNvPr id="15" name="Text Placeholder 14">
            <a:extLst>
              <a:ext uri="{FF2B5EF4-FFF2-40B4-BE49-F238E27FC236}">
                <a16:creationId xmlns:a16="http://schemas.microsoft.com/office/drawing/2014/main" id="{963EF1FF-C264-2760-38A0-BB33456CC32B}"/>
              </a:ext>
            </a:extLst>
          </p:cNvPr>
          <p:cNvSpPr>
            <a:spLocks noGrp="1"/>
          </p:cNvSpPr>
          <p:nvPr>
            <p:ph type="body" idx="25" hasCustomPrompt="1"/>
          </p:nvPr>
        </p:nvSpPr>
        <p:spPr>
          <a:xfrm flipH="1">
            <a:off x="9484277" y="3825875"/>
            <a:ext cx="1488523" cy="1463067"/>
          </a:xfrm>
          <a:prstGeom prst="rect">
            <a:avLst/>
          </a:prstGeom>
          <a:blipFill>
            <a:blip r:embed="rId4"/>
            <a:stretch>
              <a:fillRect/>
            </a:stretch>
          </a:blipFill>
        </p:spPr>
        <p:txBody>
          <a:bodyPr/>
          <a:lstStyle>
            <a:lvl1pPr>
              <a:buNone/>
              <a:defRPr b="0" i="0"/>
            </a:lvl1pPr>
          </a:lstStyle>
          <a:p>
            <a:pPr lvl="0">
              <a:buNone/>
            </a:pPr>
            <a:r>
              <a:t>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972B6A5-01FD-899A-FA5B-50AED31DFBE5}"/>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idx="11"/>
          </p:nvPr>
        </p:nvSpPr>
        <p:spPr/>
        <p:txBody>
          <a:bodyPr/>
          <a:lstStyle>
            <a:lvl1pPr>
              <a:buNone/>
              <a:defRPr b="0" i="0"/>
            </a:lvl1pPr>
          </a:lstStyle>
          <a:p>
            <a:fld id="{63DCA5C9-2E11-4C67-86EB-AE1DE127DC64}" type="slidenum">
              <a:rPr/>
              <a:t>‹#›</a:t>
            </a:fld>
            <a:endParaRPr/>
          </a:p>
        </p:txBody>
      </p:sp>
      <p:pic>
        <p:nvPicPr>
          <p:cNvPr id="17" name="Picture 1"/>
          <p:cNvPicPr>
            <a:picLocks noChangeAspect="1"/>
          </p:cNvPicPr>
          <p:nvPr/>
        </p:nvPicPr>
        <p:blipFill>
          <a:blip r:embed="rId3"/>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idx="22"/>
          </p:nvPr>
        </p:nvSpPr>
        <p:spPr>
          <a:xfrm>
            <a:off x="6248400" y="1508125"/>
            <a:ext cx="4470400" cy="4473575"/>
          </a:xfrm>
          <a:prstGeom prst="rect">
            <a:avLst/>
          </a:prstGeom>
          <a:solidFill>
            <a:schemeClr val="accent2">
              <a:lumMod val="40000"/>
              <a:lumOff val="60000"/>
            </a:schemeClr>
          </a:solidFill>
        </p:spPr>
        <p:txBody>
          <a:bodyPr tIns="1737360"/>
          <a:lstStyle>
            <a:lvl1pPr algn="ctr">
              <a:buNone/>
              <a:defRPr b="0" i="0"/>
            </a:lvl1pPr>
          </a:lstStyle>
          <a:p>
            <a:r>
              <a:t>Click icon to add picture</a:t>
            </a:r>
          </a:p>
        </p:txBody>
      </p:sp>
      <p:sp>
        <p:nvSpPr>
          <p:cNvPr id="5" name="Text Placeholder 3">
            <a:extLst>
              <a:ext uri="{FF2B5EF4-FFF2-40B4-BE49-F238E27FC236}">
                <a16:creationId xmlns:a16="http://schemas.microsoft.com/office/drawing/2014/main" id="{25FBCF55-BB8C-ECD8-868D-78FE6035F732}"/>
              </a:ext>
            </a:extLst>
          </p:cNvPr>
          <p:cNvSpPr>
            <a:spLocks noGrp="1"/>
          </p:cNvSpPr>
          <p:nvPr>
            <p:ph type="body" idx="34" hasCustomPrompt="1"/>
          </p:nvPr>
        </p:nvSpPr>
        <p:spPr>
          <a:xfrm>
            <a:off x="460375" y="1508125"/>
            <a:ext cx="789691" cy="4511674"/>
          </a:xfrm>
          <a:prstGeom prst="rect">
            <a:avLst/>
          </a:prstGeom>
          <a:ln>
            <a:noFill/>
          </a:ln>
        </p:spPr>
        <p:txBody>
          <a:bodyPr tIns="0" anchor="ctr"/>
          <a:lstStyle>
            <a:lvl1pPr>
              <a:lnSpc>
                <a:spcPct val="100000"/>
              </a:lnSpc>
              <a:spcBef>
                <a:spcPts val="0"/>
              </a:spcBef>
              <a:spcAft>
                <a:spcPts val="700"/>
              </a:spcAft>
              <a:buNone/>
              <a:defRPr sz="3600" b="1" i="0">
                <a:ln w="12700">
                  <a:noFill/>
                </a:ln>
                <a:solidFill>
                  <a:schemeClr val="accent1"/>
                </a:solidFill>
                <a:latin typeface="+mn-lt"/>
                <a:ea typeface="+mn-lt"/>
                <a:cs typeface="+mn-lt"/>
              </a:defRPr>
            </a:lvl1pPr>
            <a:lvl2pPr>
              <a:lnSpc>
                <a:spcPct val="100000"/>
              </a:lnSpc>
              <a:spcBef>
                <a:spcPts val="0"/>
              </a:spcBef>
              <a:spcAft>
                <a:spcPts val="700"/>
              </a:spcAft>
              <a:buNone/>
              <a:defRPr sz="3600" b="1" i="0" spc="0">
                <a:ln w="12700">
                  <a:noFill/>
                </a:ln>
                <a:solidFill>
                  <a:schemeClr val="accent1"/>
                </a:solidFill>
                <a:latin typeface="+mn-lt"/>
                <a:ea typeface="+mn-lt"/>
                <a:cs typeface="+mn-lt"/>
              </a:defRPr>
            </a:lvl2pPr>
            <a:lvl3pPr>
              <a:lnSpc>
                <a:spcPct val="100000"/>
              </a:lnSpc>
              <a:spcBef>
                <a:spcPts val="0"/>
              </a:spcBef>
              <a:spcAft>
                <a:spcPts val="700"/>
              </a:spcAft>
              <a:buNone/>
              <a:defRPr sz="3600" b="1" i="0">
                <a:ln w="12700">
                  <a:noFill/>
                </a:ln>
                <a:solidFill>
                  <a:schemeClr val="accent1"/>
                </a:solidFill>
                <a:latin typeface="+mn-lt"/>
                <a:ea typeface="+mn-lt"/>
                <a:cs typeface="+mn-lt"/>
              </a:defRPr>
            </a:lvl3pPr>
            <a:lvl4pPr marL="0">
              <a:lnSpc>
                <a:spcPct val="100000"/>
              </a:lnSpc>
              <a:spcBef>
                <a:spcPts val="0"/>
              </a:spcBef>
              <a:spcAft>
                <a:spcPts val="700"/>
              </a:spcAft>
              <a:buNone/>
              <a:defRPr sz="3600" b="1" i="0">
                <a:ln w="12700">
                  <a:noFill/>
                </a:ln>
                <a:solidFill>
                  <a:schemeClr val="accent1"/>
                </a:solidFill>
                <a:latin typeface="+mn-lt"/>
                <a:ea typeface="+mn-lt"/>
                <a:cs typeface="+mn-lt"/>
              </a:defRPr>
            </a:lvl4pPr>
            <a:lvl5pPr marL="0">
              <a:lnSpc>
                <a:spcPct val="100000"/>
              </a:lnSpc>
              <a:spcBef>
                <a:spcPts val="0"/>
              </a:spcBef>
              <a:spcAft>
                <a:spcPts val="700"/>
              </a:spcAft>
              <a:buNone/>
              <a:defRPr sz="3600" b="1" i="0">
                <a:ln w="12700">
                  <a:noFill/>
                </a:ln>
                <a:solidFill>
                  <a:schemeClr val="accent1"/>
                </a:solidFill>
                <a:latin typeface="+mn-lt"/>
                <a:ea typeface="+mn-lt"/>
                <a:cs typeface="+mn-lt"/>
              </a:defRPr>
            </a:lvl5pPr>
            <a:lvl6pPr>
              <a:lnSpc>
                <a:spcPct val="100000"/>
              </a:lnSpc>
              <a:spcAft>
                <a:spcPts val="700"/>
              </a:spcAft>
              <a:buNone/>
              <a:defRPr sz="3600" b="1">
                <a:ln w="12700">
                  <a:noFill/>
                </a:ln>
                <a:solidFill>
                  <a:schemeClr val="accent1"/>
                </a:solidFill>
                <a:latin typeface="+mn-lt"/>
                <a:ea typeface="+mn-lt"/>
                <a:cs typeface="+mn-lt"/>
              </a:defRPr>
            </a:lvl6pPr>
            <a:lvl7pPr marL="0">
              <a:lnSpc>
                <a:spcPct val="100000"/>
              </a:lnSpc>
              <a:spcAft>
                <a:spcPts val="700"/>
              </a:spcAft>
              <a:buNone/>
              <a:defRPr sz="3600" b="1">
                <a:ln w="12700">
                  <a:noFill/>
                </a:ln>
                <a:solidFill>
                  <a:schemeClr val="accent1"/>
                </a:solidFill>
                <a:latin typeface="+mn-lt"/>
                <a:ea typeface="+mn-lt"/>
                <a:cs typeface="+mn-lt"/>
              </a:defRPr>
            </a:lvl7pPr>
            <a:lvl8pPr marL="0">
              <a:lnSpc>
                <a:spcPct val="100000"/>
              </a:lnSpc>
              <a:spcAft>
                <a:spcPts val="700"/>
              </a:spcAft>
              <a:buNone/>
              <a:defRPr sz="3600" b="1">
                <a:ln w="12700">
                  <a:noFill/>
                </a:ln>
                <a:solidFill>
                  <a:schemeClr val="accent1"/>
                </a:solidFill>
                <a:latin typeface="+mn-lt"/>
                <a:ea typeface="+mn-lt"/>
                <a:cs typeface="+mn-lt"/>
              </a:defRPr>
            </a:lvl8pPr>
            <a:lvl9pPr>
              <a:lnSpc>
                <a:spcPct val="100000"/>
              </a:lnSpc>
              <a:spcAft>
                <a:spcPts val="700"/>
              </a:spcAft>
              <a:buNone/>
              <a:defRPr sz="3600" b="1">
                <a:ln w="12700">
                  <a:noFill/>
                </a:ln>
                <a:solidFill>
                  <a:schemeClr val="accent1"/>
                </a:solidFill>
                <a:latin typeface="+mn-lt"/>
                <a:ea typeface="+mn-lt"/>
                <a:cs typeface="+mn-lt"/>
              </a:defRPr>
            </a:lvl9pPr>
          </a:lstStyle>
          <a:p>
            <a:pPr lvl="0">
              <a:buNone/>
            </a:pPr>
            <a:r>
              <a:t>01</a:t>
            </a:r>
          </a:p>
          <a:p>
            <a:pPr lvl="0">
              <a:buNone/>
            </a:pPr>
            <a:r>
              <a:t>02</a:t>
            </a:r>
          </a:p>
          <a:p>
            <a:pPr lvl="0">
              <a:buNone/>
            </a:pPr>
            <a:r>
              <a:t>03</a:t>
            </a:r>
          </a:p>
          <a:p>
            <a:pPr lvl="0">
              <a:buNone/>
            </a:pPr>
            <a:r>
              <a:t>04</a:t>
            </a:r>
          </a:p>
          <a:p>
            <a:pPr lvl="0">
              <a:buNone/>
            </a:pPr>
            <a:r>
              <a:t>05</a:t>
            </a:r>
          </a:p>
          <a:p>
            <a:pPr lvl="0">
              <a:buNone/>
            </a:pPr>
            <a:r>
              <a:t>06</a:t>
            </a:r>
          </a:p>
          <a:p>
            <a:pPr lvl="0">
              <a:buNone/>
            </a:pPr>
            <a:r>
              <a:t>07</a:t>
            </a:r>
          </a:p>
        </p:txBody>
      </p:sp>
      <p:sp>
        <p:nvSpPr>
          <p:cNvPr id="3" name="Rectangle 2">
            <a:extLst>
              <a:ext uri="{FF2B5EF4-FFF2-40B4-BE49-F238E27FC236}">
                <a16:creationId xmlns:a16="http://schemas.microsoft.com/office/drawing/2014/main" id="{F9D3A198-41C5-A389-D58D-6067B66B5EE8}"/>
              </a:ext>
            </a:extLst>
          </p:cNvPr>
          <p:cNvSpPr>
            <a:spLocks noGrp="1"/>
          </p:cNvSpPr>
          <p:nvPr/>
        </p:nvSpPr>
        <p:spPr>
          <a:xfrm>
            <a:off x="300446" y="966651"/>
            <a:ext cx="2050868" cy="195943"/>
          </a:xfrm>
          <a:prstGeom prst="rect">
            <a:avLst/>
          </a:prstGeom>
          <a:solidFill>
            <a:schemeClr val="bg1"/>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7" name="Title 2">
            <a:extLst>
              <a:ext uri="{FF2B5EF4-FFF2-40B4-BE49-F238E27FC236}">
                <a16:creationId xmlns:a16="http://schemas.microsoft.com/office/drawing/2014/main" id="{92DD1241-B542-4023-F74B-C762BE058065}"/>
              </a:ext>
            </a:extLst>
          </p:cNvPr>
          <p:cNvSpPr>
            <a:spLocks noGrp="1"/>
          </p:cNvSpPr>
          <p:nvPr>
            <p:ph type="title" hasCustomPrompt="1"/>
          </p:nvPr>
        </p:nvSpPr>
        <p:spPr>
          <a:xfrm>
            <a:off x="460372" y="556953"/>
            <a:ext cx="11268077" cy="855922"/>
          </a:xfrm>
          <a:prstGeom prst="rect">
            <a:avLst/>
          </a:prstGeom>
        </p:spPr>
        <p:txBody>
          <a:bodyPr/>
          <a:lstStyle>
            <a:lvl1pPr>
              <a:buNone/>
              <a:defRPr sz="2200"/>
            </a:lvl1pPr>
          </a:lstStyle>
          <a:p>
            <a:r>
              <a:t>Click to edit Agenda/Contents Title</a:t>
            </a:r>
          </a:p>
        </p:txBody>
      </p:sp>
      <p:sp>
        <p:nvSpPr>
          <p:cNvPr id="13" name="Content Placeholder 7">
            <a:extLst>
              <a:ext uri="{FF2B5EF4-FFF2-40B4-BE49-F238E27FC236}">
                <a16:creationId xmlns:a16="http://schemas.microsoft.com/office/drawing/2014/main" id="{2EBB998A-4A7F-95A1-ABAB-78ABF3E6EAAD}"/>
              </a:ext>
            </a:extLst>
          </p:cNvPr>
          <p:cNvSpPr>
            <a:spLocks noGrp="1"/>
          </p:cNvSpPr>
          <p:nvPr>
            <p:ph idx="20" hasCustomPrompt="1"/>
          </p:nvPr>
        </p:nvSpPr>
        <p:spPr>
          <a:xfrm>
            <a:off x="1250065" y="1508125"/>
            <a:ext cx="4174689" cy="4511673"/>
          </a:xfrm>
          <a:prstGeom prst="rect">
            <a:avLst/>
          </a:prstGeom>
        </p:spPr>
        <p:txBody>
          <a:bodyPr anchor="ctr"/>
          <a:lstStyle>
            <a:lvl1pPr>
              <a:spcAft>
                <a:spcPts val="2900"/>
              </a:spcAft>
              <a:buNone/>
              <a:defRPr sz="1800" b="1" i="0"/>
            </a:lvl1pPr>
            <a:lvl2pPr marL="295275" indent="-285750">
              <a:spcAft>
                <a:spcPts val="2900"/>
              </a:spcAft>
              <a:buFont typeface="Arial"/>
              <a:buChar char="•"/>
              <a:defRPr sz="1800" b="1" i="0"/>
            </a:lvl2pPr>
            <a:lvl3pPr marL="635000" indent="-287338">
              <a:spcAft>
                <a:spcPts val="2900"/>
              </a:spcAft>
              <a:buNone/>
              <a:defRPr sz="1800" b="1" i="0"/>
            </a:lvl3pPr>
            <a:lvl4pPr marL="971550" indent="-285750">
              <a:spcAft>
                <a:spcPts val="2900"/>
              </a:spcAft>
              <a:buNone/>
              <a:defRPr sz="1800" b="1" i="0"/>
            </a:lvl4pPr>
            <a:lvl5pPr marL="1320800" indent="-287338">
              <a:spcAft>
                <a:spcPts val="2900"/>
              </a:spcAft>
              <a:buNone/>
              <a:defRPr sz="1800" b="1" i="0"/>
            </a:lvl5pPr>
            <a:lvl6pPr marL="1658938" indent="-287338">
              <a:spcAft>
                <a:spcPts val="2900"/>
              </a:spcAft>
              <a:buNone/>
              <a:defRPr sz="1800" b="1"/>
            </a:lvl6pPr>
            <a:lvl7pPr marL="2006600" indent="-287338">
              <a:spcAft>
                <a:spcPts val="2900"/>
              </a:spcAft>
              <a:buNone/>
              <a:defRPr sz="1800" b="1"/>
            </a:lvl7pPr>
            <a:lvl8pPr marL="2344738" indent="-266700">
              <a:buNone/>
              <a:defRPr/>
            </a:lvl8pPr>
            <a:lvl9pPr marL="2692400" indent="-285750">
              <a:buNone/>
              <a:defRPr/>
            </a:lvl9pPr>
          </a:lstStyle>
          <a:p>
            <a:pPr lvl="0">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p:txBody>
      </p:sp>
      <p:sp>
        <p:nvSpPr>
          <p:cNvPr id="8" name="Text Placeholder 9">
            <a:extLst>
              <a:ext uri="{FF2B5EF4-FFF2-40B4-BE49-F238E27FC236}">
                <a16:creationId xmlns:a16="http://schemas.microsoft.com/office/drawing/2014/main" id="{CD71F599-75FF-0AEF-010B-B70DBAA7A833}"/>
              </a:ext>
            </a:extLst>
          </p:cNvPr>
          <p:cNvSpPr>
            <a:spLocks noGrp="1"/>
          </p:cNvSpPr>
          <p:nvPr>
            <p:ph type="body" idx="26" hasCustomPrompt="1"/>
          </p:nvPr>
        </p:nvSpPr>
        <p:spPr>
          <a:xfrm flipH="1" flipV="1">
            <a:off x="364794" y="855203"/>
            <a:ext cx="1381456" cy="192234"/>
          </a:xfrm>
          <a:prstGeom prst="rect">
            <a:avLst/>
          </a:prstGeom>
          <a:blipFill rotWithShape="0">
            <a:blip r:embed="rId4"/>
            <a:srcRect/>
            <a:stretch>
              <a:fillRect t="-317465" b="-325807"/>
            </a:stretch>
          </a:blipFill>
        </p:spPr>
        <p:txBody>
          <a:bodyPr/>
          <a:lstStyle>
            <a:lvl1pPr>
              <a:buNone/>
              <a:defRPr sz="2800" b="0" i="0"/>
            </a:lvl1pPr>
          </a:lstStyle>
          <a:p>
            <a:pPr lvl="0">
              <a:buNone/>
            </a:pPr>
            <a:r>
              <a:t>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_2">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4836E44-27EF-D8DB-2ACB-DE3980E63D82}"/>
              </a:ext>
            </a:extLst>
          </p:cNvPr>
          <p:cNvSpPr>
            <a:spLocks noGrp="1"/>
          </p:cNvSpPr>
          <p:nvPr/>
        </p:nvSpPr>
        <p:spPr>
          <a:xfrm>
            <a:off x="300446" y="966651"/>
            <a:ext cx="2050868" cy="195943"/>
          </a:xfrm>
          <a:prstGeom prst="rect">
            <a:avLst/>
          </a:prstGeom>
          <a:solidFill>
            <a:schemeClr val="bg1"/>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7" name="Rectangle 6">
            <a:extLst>
              <a:ext uri="{FF2B5EF4-FFF2-40B4-BE49-F238E27FC236}">
                <a16:creationId xmlns:a16="http://schemas.microsoft.com/office/drawing/2014/main" id="{2FBA661D-36AF-0575-B525-6804A0045D53}"/>
              </a:ext>
            </a:extLst>
          </p:cNvPr>
          <p:cNvSpPr>
            <a:spLocks noGrp="1"/>
          </p:cNvSpPr>
          <p:nvPr/>
        </p:nvSpPr>
        <p:spPr>
          <a:xfrm>
            <a:off x="0" y="0"/>
            <a:ext cx="3935767" cy="6858000"/>
          </a:xfrm>
          <a:prstGeom prst="rect">
            <a:avLst/>
          </a:prstGeom>
          <a:solidFill>
            <a:schemeClr val="tx1"/>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4" name="Footer Placeholder 3">
            <a:extLst>
              <a:ext uri="{FF2B5EF4-FFF2-40B4-BE49-F238E27FC236}">
                <a16:creationId xmlns:a16="http://schemas.microsoft.com/office/drawing/2014/main" id="{F972B6A5-01FD-899A-FA5B-50AED31DFBE5}"/>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idx="11"/>
          </p:nvPr>
        </p:nvSpPr>
        <p:spPr/>
        <p:txBody>
          <a:bodyPr/>
          <a:lstStyle>
            <a:lvl1pPr>
              <a:buNone/>
              <a:defRPr b="0" i="0"/>
            </a:lvl1pPr>
          </a:lstStyle>
          <a:p>
            <a:fld id="{63DCA5C9-2E11-4C67-86EB-AE1DE127DC64}" type="slidenum">
              <a:rPr/>
              <a:t>‹#›</a:t>
            </a:fld>
            <a:endParaRPr/>
          </a:p>
        </p:txBody>
      </p:sp>
      <p:pic>
        <p:nvPicPr>
          <p:cNvPr id="21" name="Picture 1"/>
          <p:cNvPicPr>
            <a:picLocks noChangeAspect="1"/>
          </p:cNvPicPr>
          <p:nvPr/>
        </p:nvPicPr>
        <p:blipFill>
          <a:blip r:embed="rId2"/>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idx="22"/>
          </p:nvPr>
        </p:nvSpPr>
        <p:spPr>
          <a:xfrm>
            <a:off x="610669" y="1508125"/>
            <a:ext cx="3913550" cy="3916330"/>
          </a:xfrm>
          <a:prstGeom prst="rect">
            <a:avLst/>
          </a:prstGeom>
          <a:solidFill>
            <a:schemeClr val="accent2">
              <a:lumMod val="40000"/>
              <a:lumOff val="60000"/>
            </a:schemeClr>
          </a:solidFill>
        </p:spPr>
        <p:txBody>
          <a:bodyPr tIns="1737360"/>
          <a:lstStyle>
            <a:lvl1pPr algn="ctr">
              <a:buNone/>
              <a:defRPr b="0" i="0"/>
            </a:lvl1pPr>
          </a:lstStyle>
          <a:p>
            <a:r>
              <a:t>Click icon to add picture</a:t>
            </a:r>
          </a:p>
        </p:txBody>
      </p:sp>
      <p:sp>
        <p:nvSpPr>
          <p:cNvPr id="13" name="Title 2">
            <a:extLst>
              <a:ext uri="{FF2B5EF4-FFF2-40B4-BE49-F238E27FC236}">
                <a16:creationId xmlns:a16="http://schemas.microsoft.com/office/drawing/2014/main" id="{439BE691-B1BB-8E34-2EA4-D0406BCBF408}"/>
              </a:ext>
            </a:extLst>
          </p:cNvPr>
          <p:cNvSpPr>
            <a:spLocks noGrp="1"/>
          </p:cNvSpPr>
          <p:nvPr>
            <p:ph type="title" hasCustomPrompt="1"/>
          </p:nvPr>
        </p:nvSpPr>
        <p:spPr>
          <a:xfrm>
            <a:off x="5168648" y="556953"/>
            <a:ext cx="6559800" cy="855922"/>
          </a:xfrm>
          <a:prstGeom prst="rect">
            <a:avLst/>
          </a:prstGeom>
        </p:spPr>
        <p:txBody>
          <a:bodyPr/>
          <a:lstStyle>
            <a:lvl1pPr>
              <a:buNone/>
              <a:defRPr sz="2200"/>
            </a:lvl1pPr>
          </a:lstStyle>
          <a:p>
            <a:r>
              <a:t>Click to edit Agenda/Contents Title</a:t>
            </a:r>
          </a:p>
        </p:txBody>
      </p:sp>
      <p:sp>
        <p:nvSpPr>
          <p:cNvPr id="14" name="Content Placeholder 7">
            <a:extLst>
              <a:ext uri="{FF2B5EF4-FFF2-40B4-BE49-F238E27FC236}">
                <a16:creationId xmlns:a16="http://schemas.microsoft.com/office/drawing/2014/main" id="{501FEA8E-002C-6C24-1D7D-8DE43490479E}"/>
              </a:ext>
            </a:extLst>
          </p:cNvPr>
          <p:cNvSpPr>
            <a:spLocks noGrp="1"/>
          </p:cNvSpPr>
          <p:nvPr>
            <p:ph idx="20" hasCustomPrompt="1"/>
          </p:nvPr>
        </p:nvSpPr>
        <p:spPr>
          <a:xfrm>
            <a:off x="5168649" y="1508125"/>
            <a:ext cx="6559800" cy="4511673"/>
          </a:xfrm>
          <a:prstGeom prst="rect">
            <a:avLst/>
          </a:prstGeom>
        </p:spPr>
        <p:txBody>
          <a:bodyPr anchor="t"/>
          <a:lstStyle>
            <a:lvl1pPr>
              <a:spcAft>
                <a:spcPts val="1200"/>
              </a:spcAft>
              <a:buNone/>
              <a:defRPr sz="1800" b="1" i="0"/>
            </a:lvl1pPr>
            <a:lvl2pPr marL="295275" indent="-285750">
              <a:spcAft>
                <a:spcPts val="1200"/>
              </a:spcAft>
              <a:buFont typeface="Arial"/>
              <a:buChar char="•"/>
              <a:defRPr sz="1800" b="1" i="0"/>
            </a:lvl2pPr>
            <a:lvl3pPr marL="635000" indent="-287338">
              <a:spcAft>
                <a:spcPts val="1200"/>
              </a:spcAft>
              <a:buNone/>
              <a:defRPr sz="1800" b="1" i="0"/>
            </a:lvl3pPr>
            <a:lvl4pPr marL="971550" indent="-285750">
              <a:spcAft>
                <a:spcPts val="1200"/>
              </a:spcAft>
              <a:buNone/>
              <a:defRPr sz="1800" b="1" i="0"/>
            </a:lvl4pPr>
            <a:lvl5pPr marL="1320800" indent="-287338">
              <a:spcAft>
                <a:spcPts val="1200"/>
              </a:spcAft>
              <a:buNone/>
              <a:defRPr sz="1800" b="1" i="0"/>
            </a:lvl5pPr>
            <a:lvl6pPr marL="1658938" indent="-287338">
              <a:spcAft>
                <a:spcPts val="1200"/>
              </a:spcAft>
              <a:buNone/>
              <a:defRPr sz="1800" b="1"/>
            </a:lvl6pPr>
            <a:lvl7pPr marL="2006600" indent="-287338">
              <a:spcAft>
                <a:spcPts val="1200"/>
              </a:spcAft>
              <a:buNone/>
              <a:defRPr sz="1800" b="1"/>
            </a:lvl7pPr>
            <a:lvl8pPr marL="2344738" indent="-266700">
              <a:buNone/>
              <a:defRPr/>
            </a:lvl8pPr>
            <a:lvl9pPr marL="2692400" indent="-285750">
              <a:buNone/>
              <a:defRPr/>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a:p>
            <a:pPr lvl="5">
              <a:buNone/>
            </a:pPr>
            <a:r>
              <a:t>Sixth Level</a:t>
            </a:r>
          </a:p>
          <a:p>
            <a:pPr lvl="6">
              <a:buNone/>
            </a:pPr>
            <a:r>
              <a:t>Seventh Level</a:t>
            </a:r>
          </a:p>
        </p:txBody>
      </p:sp>
      <p:sp>
        <p:nvSpPr>
          <p:cNvPr id="5" name="Text Placeholder 9">
            <a:extLst>
              <a:ext uri="{FF2B5EF4-FFF2-40B4-BE49-F238E27FC236}">
                <a16:creationId xmlns:a16="http://schemas.microsoft.com/office/drawing/2014/main" id="{5AC43BAF-6C08-503E-AB09-63A6DE719E03}"/>
              </a:ext>
            </a:extLst>
          </p:cNvPr>
          <p:cNvSpPr>
            <a:spLocks noGrp="1"/>
          </p:cNvSpPr>
          <p:nvPr>
            <p:ph type="body" idx="26" hasCustomPrompt="1"/>
          </p:nvPr>
        </p:nvSpPr>
        <p:spPr>
          <a:xfrm flipH="1" flipV="1">
            <a:off x="5020644" y="857796"/>
            <a:ext cx="1381456" cy="192234"/>
          </a:xfrm>
          <a:prstGeom prst="rect">
            <a:avLst/>
          </a:prstGeom>
          <a:blipFill rotWithShape="0">
            <a:blip r:embed="rId3"/>
            <a:srcRect/>
            <a:stretch>
              <a:fillRect t="-317465" b="-325807"/>
            </a:stretch>
          </a:blipFill>
        </p:spPr>
        <p:txBody>
          <a:bodyPr/>
          <a:lstStyle>
            <a:lvl1pPr>
              <a:buNone/>
              <a:defRPr sz="2800" b="0" i="0"/>
            </a:lvl1pPr>
          </a:lstStyle>
          <a:p>
            <a:pPr lvl="0">
              <a:buNone/>
            </a:pPr>
            <a:r>
              <a:t> </a:t>
            </a:r>
          </a:p>
        </p:txBody>
      </p:sp>
      <p:pic>
        <p:nvPicPr>
          <p:cNvPr id="26" name="Picture 7"/>
          <p:cNvPicPr>
            <a:picLocks noChangeAspect="1"/>
          </p:cNvPicPr>
          <p:nvPr/>
        </p:nvPicPr>
        <p:blipFill>
          <a:blip r:embed="rId4"/>
          <a:srcRect/>
          <a:stretch/>
        </p:blipFill>
        <p:spPr>
          <a:xfrm>
            <a:off x="460378" y="6325375"/>
            <a:ext cx="1457322" cy="305021"/>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1co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F281B9B0-919B-7605-4D45-9E1F54B94E3A}"/>
              </a:ext>
            </a:extLst>
          </p:cNvPr>
          <p:cNvSpPr>
            <a:spLocks noGrp="1"/>
          </p:cNvSpPr>
          <p:nvPr>
            <p:ph idx="1" hasCustomPrompt="1"/>
          </p:nvPr>
        </p:nvSpPr>
        <p:spPr>
          <a:xfrm>
            <a:off x="460372" y="1770063"/>
            <a:ext cx="11268074" cy="4249738"/>
          </a:xfrm>
          <a:prstGeom prst="rect">
            <a:avLst/>
          </a:prstGeom>
        </p:spPr>
        <p:txBody>
          <a:bodyPr vert="horz" lIns="0" tIns="0" rIns="0" bIns="0">
            <a:noAutofit/>
          </a:bodyPr>
          <a:lstStyle>
            <a:lvl1pPr>
              <a:spcAft>
                <a:spcPts val="600"/>
              </a:spcAft>
              <a:buNone/>
              <a:defRPr/>
            </a:lvl1pPr>
            <a:lvl2pPr marL="295275" indent="-295275">
              <a:spcAft>
                <a:spcPts val="600"/>
              </a:spcAft>
              <a:buNone/>
              <a:defRPr/>
            </a:lvl2pPr>
            <a:lvl3pPr>
              <a:spcAft>
                <a:spcPts val="600"/>
              </a:spcAft>
              <a:buNone/>
              <a:defRPr/>
            </a:lvl3pPr>
            <a:lvl4pPr>
              <a:spcAft>
                <a:spcPts val="600"/>
              </a:spcAft>
              <a:buNone/>
              <a:defRPr/>
            </a:lvl4pPr>
            <a:lvl5pPr>
              <a:spcAft>
                <a:spcPts val="600"/>
              </a:spcAft>
              <a:buNone/>
              <a:defRPr/>
            </a:lvl5pPr>
            <a:lvl6pPr>
              <a:spcAft>
                <a:spcPts val="600"/>
              </a:spcAft>
              <a:buNone/>
              <a:defRPr/>
            </a:lvl6pPr>
            <a:lvl7pPr>
              <a:spcAft>
                <a:spcPts val="600"/>
              </a:spcAft>
              <a:buNone/>
              <a:defRPr/>
            </a:lvl7pPr>
            <a:lvl8pPr>
              <a:spcAft>
                <a:spcPts val="600"/>
              </a:spcAft>
              <a:buNone/>
              <a:defRPr/>
            </a:lvl8pPr>
            <a:lvl9pPr>
              <a:spcAft>
                <a:spcPts val="600"/>
              </a:spcAft>
              <a:buNone/>
              <a:defRPr/>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a:p>
            <a:pPr lvl="5">
              <a:buNone/>
            </a:pPr>
            <a:r>
              <a:t>Sixth level</a:t>
            </a:r>
          </a:p>
          <a:p>
            <a:pPr lvl="6">
              <a:buNone/>
            </a:pPr>
            <a:r>
              <a:t>Seventh level</a:t>
            </a:r>
          </a:p>
          <a:p>
            <a:pPr lvl="7">
              <a:buNone/>
            </a:pPr>
            <a:r>
              <a:t>Eighth level</a:t>
            </a:r>
          </a:p>
          <a:p>
            <a:pPr lvl="8">
              <a:buNone/>
            </a:pPr>
            <a:r>
              <a:t>Ninth level</a:t>
            </a:r>
          </a:p>
        </p:txBody>
      </p:sp>
      <p:sp>
        <p:nvSpPr>
          <p:cNvPr id="11" name="Footer Placeholder 10">
            <a:extLst>
              <a:ext uri="{FF2B5EF4-FFF2-40B4-BE49-F238E27FC236}">
                <a16:creationId xmlns:a16="http://schemas.microsoft.com/office/drawing/2014/main" id="{F263E73F-DEF9-130F-B071-D10FB1CB5161}"/>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12" name="Slide Number Placeholder 11">
            <a:extLst>
              <a:ext uri="{FF2B5EF4-FFF2-40B4-BE49-F238E27FC236}">
                <a16:creationId xmlns:a16="http://schemas.microsoft.com/office/drawing/2014/main" id="{72307C66-749A-F18A-899A-DCE7C0FC87C7}"/>
              </a:ext>
            </a:extLst>
          </p:cNvPr>
          <p:cNvSpPr>
            <a:spLocks noGrp="1"/>
          </p:cNvSpPr>
          <p:nvPr>
            <p:ph type="sldNum" idx="11"/>
          </p:nvPr>
        </p:nvSpPr>
        <p:spPr/>
        <p:txBody>
          <a:bodyPr/>
          <a:lstStyle>
            <a:lvl1pPr>
              <a:buNone/>
              <a:defRPr b="0" i="0"/>
            </a:lvl1pPr>
          </a:lstStyle>
          <a:p>
            <a:fld id="{63DCA5C9-2E11-4C67-86EB-AE1DE127DC64}" type="slidenum">
              <a:rPr/>
              <a:t>‹#›</a:t>
            </a:fld>
            <a:endParaRPr/>
          </a:p>
        </p:txBody>
      </p:sp>
      <p:sp>
        <p:nvSpPr>
          <p:cNvPr id="3" name="Title 2">
            <a:extLst>
              <a:ext uri="{FF2B5EF4-FFF2-40B4-BE49-F238E27FC236}">
                <a16:creationId xmlns:a16="http://schemas.microsoft.com/office/drawing/2014/main" id="{039D28D3-7724-CABE-5E01-C686E737731A}"/>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18" name="Picture 4"/>
          <p:cNvPicPr>
            <a:picLocks noChangeAspect="1"/>
          </p:cNvPicPr>
          <p:nvPr/>
        </p:nvPicPr>
        <p:blipFill>
          <a:blip r:embed="rId3"/>
          <a:stretch>
            <a:fillRect/>
          </a:stretch>
        </p:blipFill>
        <p:spPr>
          <a:xfrm>
            <a:off x="460377" y="6325375"/>
            <a:ext cx="1457324" cy="305021"/>
          </a:xfrm>
          <a:prstGeom prst="rect">
            <a:avLst/>
          </a:prstGeom>
        </p:spPr>
      </p:pic>
      <p:sp>
        <p:nvSpPr>
          <p:cNvPr id="6" name="Text Placeholder 15">
            <a:extLst>
              <a:ext uri="{FF2B5EF4-FFF2-40B4-BE49-F238E27FC236}">
                <a16:creationId xmlns:a16="http://schemas.microsoft.com/office/drawing/2014/main" id="{BF08CDCA-7295-067B-E037-76ACEB96299C}"/>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2co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7AC6684-4917-893D-7978-45194F506A94}"/>
              </a:ext>
            </a:extLst>
          </p:cNvPr>
          <p:cNvSpPr>
            <a:spLocks noGrp="1"/>
          </p:cNvSpPr>
          <p:nvPr>
            <p:ph type="ftr" idx="22"/>
          </p:nvPr>
        </p:nvSpPr>
        <p:spPr/>
        <p:txBody>
          <a:bodyPr/>
          <a:lstStyle>
            <a:lvl1pPr>
              <a:buNone/>
              <a:defRPr b="0" i="0"/>
            </a:lvl1pPr>
          </a:lstStyle>
          <a:p>
            <a:r>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B3050605-C097-CBBB-F6AE-D408F5C6B153}"/>
              </a:ext>
            </a:extLst>
          </p:cNvPr>
          <p:cNvSpPr>
            <a:spLocks noGrp="1"/>
          </p:cNvSpPr>
          <p:nvPr>
            <p:ph type="sldNum" idx="23"/>
          </p:nvPr>
        </p:nvSpPr>
        <p:spPr/>
        <p:txBody>
          <a:bodyPr/>
          <a:lstStyle>
            <a:lvl1pPr>
              <a:buNone/>
              <a:defRPr b="0" i="0"/>
            </a:lvl1pPr>
          </a:lstStyle>
          <a:p>
            <a:fld id="{63DCA5C9-2E11-4C67-86EB-AE1DE127DC64}" type="slidenum">
              <a:rPr/>
              <a:t>‹#›</a:t>
            </a:fld>
            <a:endParaRPr/>
          </a:p>
        </p:txBody>
      </p:sp>
      <p:sp>
        <p:nvSpPr>
          <p:cNvPr id="4" name="Title 3">
            <a:extLst>
              <a:ext uri="{FF2B5EF4-FFF2-40B4-BE49-F238E27FC236}">
                <a16:creationId xmlns:a16="http://schemas.microsoft.com/office/drawing/2014/main" id="{987FB2C3-7DEF-A787-97F3-478F892A584F}"/>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42" name="Picture 6"/>
          <p:cNvPicPr>
            <a:picLocks noChangeAspect="1"/>
          </p:cNvPicPr>
          <p:nvPr/>
        </p:nvPicPr>
        <p:blipFill>
          <a:blip r:embed="rId3"/>
          <a:stretch>
            <a:fillRect/>
          </a:stretch>
        </p:blipFill>
        <p:spPr>
          <a:xfrm>
            <a:off x="460377" y="6325375"/>
            <a:ext cx="1457324" cy="305021"/>
          </a:xfrm>
          <a:prstGeom prst="rect">
            <a:avLst/>
          </a:prstGeom>
        </p:spPr>
      </p:pic>
      <p:sp>
        <p:nvSpPr>
          <p:cNvPr id="9" name="Content Placeholder 7">
            <a:extLst>
              <a:ext uri="{FF2B5EF4-FFF2-40B4-BE49-F238E27FC236}">
                <a16:creationId xmlns:a16="http://schemas.microsoft.com/office/drawing/2014/main" id="{7EC1626D-C51D-F91B-9E51-AEACBDEBE7B9}"/>
              </a:ext>
            </a:extLst>
          </p:cNvPr>
          <p:cNvSpPr>
            <a:spLocks noGrp="1"/>
          </p:cNvSpPr>
          <p:nvPr>
            <p:ph idx="20"/>
          </p:nvPr>
        </p:nvSpPr>
        <p:spPr>
          <a:xfrm>
            <a:off x="460375" y="1770063"/>
            <a:ext cx="5521325"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Content Placeholder 7">
            <a:extLst>
              <a:ext uri="{FF2B5EF4-FFF2-40B4-BE49-F238E27FC236}">
                <a16:creationId xmlns:a16="http://schemas.microsoft.com/office/drawing/2014/main" id="{800F75C6-D0DF-371B-63BB-406F6DC95786}"/>
              </a:ext>
            </a:extLst>
          </p:cNvPr>
          <p:cNvSpPr>
            <a:spLocks noGrp="1"/>
          </p:cNvSpPr>
          <p:nvPr>
            <p:ph idx="24"/>
          </p:nvPr>
        </p:nvSpPr>
        <p:spPr>
          <a:xfrm>
            <a:off x="6210300" y="1770063"/>
            <a:ext cx="5518150"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7" name="Text Placeholder 15">
            <a:extLst>
              <a:ext uri="{FF2B5EF4-FFF2-40B4-BE49-F238E27FC236}">
                <a16:creationId xmlns:a16="http://schemas.microsoft.com/office/drawing/2014/main" id="{40D1E5F1-9491-BB3D-DC45-8C7C55783F5A}"/>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3co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idx="15"/>
          </p:nvPr>
        </p:nvSpPr>
        <p:spPr/>
        <p:txBody>
          <a:bodyPr/>
          <a:lstStyle>
            <a:lvl1pPr>
              <a:buNone/>
              <a:defRPr b="0" i="0"/>
            </a:lvl1pPr>
          </a:lstStyle>
          <a:p>
            <a:r>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idx="16"/>
          </p:nvPr>
        </p:nvSpPr>
        <p:spPr/>
        <p:txBody>
          <a:bodyPr/>
          <a:lstStyle>
            <a:lvl1pPr>
              <a:buNone/>
              <a:defRPr b="0" i="0"/>
            </a:lvl1pPr>
          </a:lstStyle>
          <a:p>
            <a:fld id="{63DCA5C9-2E11-4C67-86EB-AE1DE127DC64}" type="slidenum">
              <a:rPr/>
              <a:t>‹#›</a:t>
            </a:fld>
            <a:endParaRPr/>
          </a:p>
        </p:txBody>
      </p:sp>
      <p:pic>
        <p:nvPicPr>
          <p:cNvPr id="42" name="Picture 7"/>
          <p:cNvPicPr>
            <a:picLocks noChangeAspect="1"/>
          </p:cNvPicPr>
          <p:nvPr/>
        </p:nvPicPr>
        <p:blipFill>
          <a:blip r:embed="rId3"/>
          <a:stretch>
            <a:fillRect/>
          </a:stretch>
        </p:blipFill>
        <p:spPr>
          <a:xfrm>
            <a:off x="460377" y="6325375"/>
            <a:ext cx="1457324" cy="305021"/>
          </a:xfrm>
          <a:prstGeom prst="rect">
            <a:avLst/>
          </a:prstGeom>
        </p:spPr>
      </p:pic>
      <p:sp>
        <p:nvSpPr>
          <p:cNvPr id="10" name="Content Placeholder 7">
            <a:extLst>
              <a:ext uri="{FF2B5EF4-FFF2-40B4-BE49-F238E27FC236}">
                <a16:creationId xmlns:a16="http://schemas.microsoft.com/office/drawing/2014/main" id="{0056E07F-5641-0AC8-7606-9184F560AECF}"/>
              </a:ext>
            </a:extLst>
          </p:cNvPr>
          <p:cNvSpPr>
            <a:spLocks noGrp="1"/>
          </p:cNvSpPr>
          <p:nvPr>
            <p:ph idx="20"/>
          </p:nvPr>
        </p:nvSpPr>
        <p:spPr>
          <a:xfrm>
            <a:off x="460375" y="1770063"/>
            <a:ext cx="3606800"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1" name="Title 10">
            <a:extLst>
              <a:ext uri="{FF2B5EF4-FFF2-40B4-BE49-F238E27FC236}">
                <a16:creationId xmlns:a16="http://schemas.microsoft.com/office/drawing/2014/main" id="{D82477B9-0A32-B6C4-2F46-122799F3984B}"/>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sp>
        <p:nvSpPr>
          <p:cNvPr id="12" name="Content Placeholder 7">
            <a:extLst>
              <a:ext uri="{FF2B5EF4-FFF2-40B4-BE49-F238E27FC236}">
                <a16:creationId xmlns:a16="http://schemas.microsoft.com/office/drawing/2014/main" id="{2951039B-3D00-6FDA-3076-5C33B65A3ABD}"/>
              </a:ext>
            </a:extLst>
          </p:cNvPr>
          <p:cNvSpPr>
            <a:spLocks noGrp="1"/>
          </p:cNvSpPr>
          <p:nvPr>
            <p:ph idx="21"/>
          </p:nvPr>
        </p:nvSpPr>
        <p:spPr>
          <a:xfrm>
            <a:off x="8124827" y="1770063"/>
            <a:ext cx="3606800"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Content Placeholder 7">
            <a:extLst>
              <a:ext uri="{FF2B5EF4-FFF2-40B4-BE49-F238E27FC236}">
                <a16:creationId xmlns:a16="http://schemas.microsoft.com/office/drawing/2014/main" id="{7FE16D19-354D-731F-F73E-FA767DF68429}"/>
              </a:ext>
            </a:extLst>
          </p:cNvPr>
          <p:cNvSpPr>
            <a:spLocks noGrp="1"/>
          </p:cNvSpPr>
          <p:nvPr>
            <p:ph idx="22"/>
          </p:nvPr>
        </p:nvSpPr>
        <p:spPr>
          <a:xfrm>
            <a:off x="4321019" y="1770063"/>
            <a:ext cx="3606800"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8" name="Text Placeholder 15">
            <a:extLst>
              <a:ext uri="{FF2B5EF4-FFF2-40B4-BE49-F238E27FC236}">
                <a16:creationId xmlns:a16="http://schemas.microsoft.com/office/drawing/2014/main" id="{3FEF5C62-2517-1AC3-C2A2-6FB57854A32F}"/>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3col_caption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idx="15"/>
          </p:nvPr>
        </p:nvSpPr>
        <p:spPr/>
        <p:txBody>
          <a:bodyPr/>
          <a:lstStyle>
            <a:lvl1pPr>
              <a:buNone/>
              <a:defRPr b="0" i="0"/>
            </a:lvl1pPr>
          </a:lstStyle>
          <a:p>
            <a:r>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idx="16"/>
          </p:nvPr>
        </p:nvSpPr>
        <p:spPr/>
        <p:txBody>
          <a:bodyPr/>
          <a:lstStyle>
            <a:lvl1pPr>
              <a:buNone/>
              <a:defRPr b="0" i="0"/>
            </a:lvl1pPr>
          </a:lstStyle>
          <a:p>
            <a:fld id="{63DCA5C9-2E11-4C67-86EB-AE1DE127DC64}" type="slidenum">
              <a:rPr/>
              <a:t>‹#›</a:t>
            </a:fld>
            <a:endParaRPr/>
          </a:p>
        </p:txBody>
      </p:sp>
      <p:sp>
        <p:nvSpPr>
          <p:cNvPr id="8" name="Text Placeholder 7">
            <a:extLst>
              <a:ext uri="{FF2B5EF4-FFF2-40B4-BE49-F238E27FC236}">
                <a16:creationId xmlns:a16="http://schemas.microsoft.com/office/drawing/2014/main" id="{F3286076-E0DB-E4CC-E8A2-BEEF556EB4A1}"/>
              </a:ext>
            </a:extLst>
          </p:cNvPr>
          <p:cNvSpPr>
            <a:spLocks noGrp="1"/>
          </p:cNvSpPr>
          <p:nvPr>
            <p:ph type="body" idx="19"/>
          </p:nvPr>
        </p:nvSpPr>
        <p:spPr>
          <a:xfrm>
            <a:off x="460375" y="4356447"/>
            <a:ext cx="3606800" cy="1663354"/>
          </a:xfrm>
          <a:prstGeom prst="rect">
            <a:avLst/>
          </a:prstGeom>
        </p:spPr>
        <p:txBody>
          <a:bodyPr/>
          <a:lstStyle>
            <a:lvl1pPr>
              <a:buNone/>
              <a:defRPr b="0" i="0"/>
            </a:lvl1pPr>
            <a:lvl2pPr>
              <a:buNone/>
              <a:defRPr b="0" i="0"/>
            </a:lvl2pPr>
          </a:lstStyle>
          <a:p>
            <a:pPr lvl="0">
              <a:buNone/>
            </a:pPr>
            <a:r>
              <a:t>Click to edit Master text styles</a:t>
            </a:r>
          </a:p>
          <a:p>
            <a:pPr lvl="1">
              <a:buNone/>
            </a:pPr>
            <a:r>
              <a:t>Second level</a:t>
            </a:r>
          </a:p>
        </p:txBody>
      </p:sp>
      <p:sp>
        <p:nvSpPr>
          <p:cNvPr id="10" name="Picture Placeholder 9">
            <a:extLst>
              <a:ext uri="{FF2B5EF4-FFF2-40B4-BE49-F238E27FC236}">
                <a16:creationId xmlns:a16="http://schemas.microsoft.com/office/drawing/2014/main" id="{9180B2BC-2194-6BE9-E9A2-C04BB80C88E8}"/>
              </a:ext>
            </a:extLst>
          </p:cNvPr>
          <p:cNvSpPr>
            <a:spLocks noGrp="1"/>
          </p:cNvSpPr>
          <p:nvPr>
            <p:ph type="pic" idx="20"/>
          </p:nvPr>
        </p:nvSpPr>
        <p:spPr>
          <a:xfrm>
            <a:off x="460375" y="1771911"/>
            <a:ext cx="3606800" cy="2375659"/>
          </a:xfrm>
          <a:prstGeom prst="rect">
            <a:avLst/>
          </a:prstGeom>
          <a:solidFill>
            <a:schemeClr val="accent2">
              <a:lumMod val="40000"/>
              <a:lumOff val="60000"/>
            </a:schemeClr>
          </a:solidFill>
        </p:spPr>
        <p:txBody>
          <a:bodyPr tIns="640080"/>
          <a:lstStyle>
            <a:lvl1pPr algn="ctr">
              <a:buNone/>
              <a:defRPr b="0" i="0"/>
            </a:lvl1pPr>
          </a:lstStyle>
          <a:p>
            <a:r>
              <a:t>Click icon to add picture</a:t>
            </a:r>
          </a:p>
        </p:txBody>
      </p:sp>
      <p:sp>
        <p:nvSpPr>
          <p:cNvPr id="11" name="Text Placeholder 7">
            <a:extLst>
              <a:ext uri="{FF2B5EF4-FFF2-40B4-BE49-F238E27FC236}">
                <a16:creationId xmlns:a16="http://schemas.microsoft.com/office/drawing/2014/main" id="{94FC2909-4B91-2381-4FE8-6075BBEADFCA}"/>
              </a:ext>
            </a:extLst>
          </p:cNvPr>
          <p:cNvSpPr>
            <a:spLocks noGrp="1"/>
          </p:cNvSpPr>
          <p:nvPr>
            <p:ph type="body" idx="21"/>
          </p:nvPr>
        </p:nvSpPr>
        <p:spPr>
          <a:xfrm>
            <a:off x="4298950" y="4356447"/>
            <a:ext cx="3606800" cy="1663354"/>
          </a:xfrm>
          <a:prstGeom prst="rect">
            <a:avLst/>
          </a:prstGeom>
        </p:spPr>
        <p:txBody>
          <a:bodyPr/>
          <a:lstStyle>
            <a:lvl1pPr>
              <a:buNone/>
              <a:defRPr b="0" i="0"/>
            </a:lvl1pPr>
            <a:lvl2pPr>
              <a:buNone/>
              <a:defRPr b="0" i="0"/>
            </a:lvl2pPr>
          </a:lstStyle>
          <a:p>
            <a:pPr lvl="0">
              <a:buNone/>
            </a:pPr>
            <a:r>
              <a:t>Click to edit Master text styles</a:t>
            </a:r>
          </a:p>
          <a:p>
            <a:pPr lvl="1">
              <a:buNone/>
            </a:pPr>
            <a:r>
              <a:t>Second level</a:t>
            </a:r>
          </a:p>
        </p:txBody>
      </p:sp>
      <p:sp>
        <p:nvSpPr>
          <p:cNvPr id="12" name="Picture Placeholder 9">
            <a:extLst>
              <a:ext uri="{FF2B5EF4-FFF2-40B4-BE49-F238E27FC236}">
                <a16:creationId xmlns:a16="http://schemas.microsoft.com/office/drawing/2014/main" id="{44FEA637-5129-BC73-5672-885823C9D06D}"/>
              </a:ext>
            </a:extLst>
          </p:cNvPr>
          <p:cNvSpPr>
            <a:spLocks noGrp="1"/>
          </p:cNvSpPr>
          <p:nvPr>
            <p:ph type="pic" idx="22"/>
          </p:nvPr>
        </p:nvSpPr>
        <p:spPr>
          <a:xfrm>
            <a:off x="4298950" y="1771911"/>
            <a:ext cx="3606800" cy="2375659"/>
          </a:xfrm>
          <a:prstGeom prst="rect">
            <a:avLst/>
          </a:prstGeom>
          <a:solidFill>
            <a:schemeClr val="accent2">
              <a:lumMod val="40000"/>
              <a:lumOff val="60000"/>
            </a:schemeClr>
          </a:solidFill>
        </p:spPr>
        <p:txBody>
          <a:bodyPr tIns="640080"/>
          <a:lstStyle>
            <a:lvl1pPr algn="ctr">
              <a:buNone/>
              <a:defRPr b="0" i="0"/>
            </a:lvl1pPr>
          </a:lstStyle>
          <a:p>
            <a:r>
              <a:t>Click icon to add picture</a:t>
            </a:r>
          </a:p>
        </p:txBody>
      </p:sp>
      <p:sp>
        <p:nvSpPr>
          <p:cNvPr id="13" name="Text Placeholder 7">
            <a:extLst>
              <a:ext uri="{FF2B5EF4-FFF2-40B4-BE49-F238E27FC236}">
                <a16:creationId xmlns:a16="http://schemas.microsoft.com/office/drawing/2014/main" id="{8F7C1D54-4D08-B846-D72D-58481B1CA9AA}"/>
              </a:ext>
            </a:extLst>
          </p:cNvPr>
          <p:cNvSpPr>
            <a:spLocks noGrp="1"/>
          </p:cNvSpPr>
          <p:nvPr>
            <p:ph type="body" idx="23"/>
          </p:nvPr>
        </p:nvSpPr>
        <p:spPr>
          <a:xfrm>
            <a:off x="8121650" y="4356447"/>
            <a:ext cx="3606800" cy="1663354"/>
          </a:xfrm>
          <a:prstGeom prst="rect">
            <a:avLst/>
          </a:prstGeom>
        </p:spPr>
        <p:txBody>
          <a:bodyPr/>
          <a:lstStyle>
            <a:lvl1pPr>
              <a:buNone/>
              <a:defRPr b="0" i="0"/>
            </a:lvl1pPr>
            <a:lvl2pPr>
              <a:buNone/>
              <a:defRPr b="0" i="0"/>
            </a:lvl2pPr>
          </a:lstStyle>
          <a:p>
            <a:pPr lvl="0">
              <a:buNone/>
            </a:pPr>
            <a:r>
              <a:t>Click to edit Master text styles</a:t>
            </a:r>
          </a:p>
          <a:p>
            <a:pPr lvl="1">
              <a:buNone/>
            </a:pPr>
            <a:r>
              <a:t>Second level</a:t>
            </a:r>
          </a:p>
        </p:txBody>
      </p:sp>
      <p:sp>
        <p:nvSpPr>
          <p:cNvPr id="14" name="Picture Placeholder 9">
            <a:extLst>
              <a:ext uri="{FF2B5EF4-FFF2-40B4-BE49-F238E27FC236}">
                <a16:creationId xmlns:a16="http://schemas.microsoft.com/office/drawing/2014/main" id="{AF8A9ABB-83F4-8553-6F94-7B3490556A79}"/>
              </a:ext>
            </a:extLst>
          </p:cNvPr>
          <p:cNvSpPr>
            <a:spLocks noGrp="1"/>
          </p:cNvSpPr>
          <p:nvPr>
            <p:ph type="pic" idx="24"/>
          </p:nvPr>
        </p:nvSpPr>
        <p:spPr>
          <a:xfrm>
            <a:off x="8121650" y="1771911"/>
            <a:ext cx="3606800" cy="2375659"/>
          </a:xfrm>
          <a:prstGeom prst="rect">
            <a:avLst/>
          </a:prstGeom>
          <a:solidFill>
            <a:schemeClr val="accent2">
              <a:lumMod val="40000"/>
              <a:lumOff val="60000"/>
            </a:schemeClr>
          </a:solidFill>
        </p:spPr>
        <p:txBody>
          <a:bodyPr tIns="640080"/>
          <a:lstStyle>
            <a:lvl1pPr algn="ctr">
              <a:buNone/>
              <a:defRPr b="0" i="0"/>
            </a:lvl1pPr>
          </a:lstStyle>
          <a:p>
            <a:r>
              <a:t>Click icon to add picture</a:t>
            </a:r>
          </a:p>
        </p:txBody>
      </p:sp>
      <p:sp>
        <p:nvSpPr>
          <p:cNvPr id="2" name="Title 1">
            <a:extLst>
              <a:ext uri="{FF2B5EF4-FFF2-40B4-BE49-F238E27FC236}">
                <a16:creationId xmlns:a16="http://schemas.microsoft.com/office/drawing/2014/main" id="{37073C04-F7C8-4626-A414-BE74337C9F01}"/>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52" name="Picture 3"/>
          <p:cNvPicPr>
            <a:picLocks noChangeAspect="1"/>
          </p:cNvPicPr>
          <p:nvPr/>
        </p:nvPicPr>
        <p:blipFill>
          <a:blip r:embed="rId3"/>
          <a:stretch>
            <a:fillRect/>
          </a:stretch>
        </p:blipFill>
        <p:spPr>
          <a:xfrm>
            <a:off x="460377" y="6325375"/>
            <a:ext cx="1457324" cy="305021"/>
          </a:xfrm>
          <a:prstGeom prst="rect">
            <a:avLst/>
          </a:prstGeom>
        </p:spPr>
      </p:pic>
      <p:sp>
        <p:nvSpPr>
          <p:cNvPr id="41" name="Text Placeholder 15">
            <a:extLst>
              <a:ext uri="{FF2B5EF4-FFF2-40B4-BE49-F238E27FC236}">
                <a16:creationId xmlns:a16="http://schemas.microsoft.com/office/drawing/2014/main" id="{23AC8427-599A-D3E6-AA33-38751B2C8D83}"/>
              </a:ext>
            </a:extLst>
          </p:cNvPr>
          <p:cNvSpPr>
            <a:spLocks noGrp="1"/>
          </p:cNvSpPr>
          <p:nvPr>
            <p:ph type="body" idx="25"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_ful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idx="10"/>
          </p:nvPr>
        </p:nvSpPr>
        <p:spPr>
          <a:xfrm>
            <a:off x="0" y="1"/>
            <a:ext cx="12191999" cy="6132512"/>
          </a:xfrm>
          <a:prstGeom prst="rect">
            <a:avLst/>
          </a:prstGeom>
          <a:solidFill>
            <a:schemeClr val="accent2">
              <a:lumMod val="40000"/>
              <a:lumOff val="60000"/>
            </a:schemeClr>
          </a:solidFill>
        </p:spPr>
        <p:txBody>
          <a:bodyPr tIns="2560320" rIns="0"/>
          <a:lstStyle>
            <a:lvl1pPr algn="ctr">
              <a:buNone/>
              <a:defRPr b="0" i="0">
                <a:solidFill>
                  <a:schemeClr val="tx1"/>
                </a:solidFill>
              </a:defRPr>
            </a:lvl1pPr>
          </a:lstStyle>
          <a:p>
            <a:r>
              <a:t>Click icon to add picture</a:t>
            </a:r>
          </a:p>
        </p:txBody>
      </p:sp>
      <p:sp>
        <p:nvSpPr>
          <p:cNvPr id="5" name="Footer Placeholder 4">
            <a:extLst>
              <a:ext uri="{FF2B5EF4-FFF2-40B4-BE49-F238E27FC236}">
                <a16:creationId xmlns:a16="http://schemas.microsoft.com/office/drawing/2014/main" id="{D4389C8F-D452-9AD4-4144-B49736DC8CEB}"/>
              </a:ext>
            </a:extLst>
          </p:cNvPr>
          <p:cNvSpPr>
            <a:spLocks noGrp="1"/>
          </p:cNvSpPr>
          <p:nvPr>
            <p:ph type="ftr" idx="11"/>
          </p:nvPr>
        </p:nvSpPr>
        <p:spPr/>
        <p:txBody>
          <a:bodyPr/>
          <a:lstStyle>
            <a:lvl1pPr>
              <a:buNone/>
              <a:defRPr b="0" i="0"/>
            </a:lvl1pPr>
          </a:lstStyle>
          <a:p>
            <a:r>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17A657E4-04D6-B96F-C916-7934FB6812BD}"/>
              </a:ext>
            </a:extLst>
          </p:cNvPr>
          <p:cNvSpPr>
            <a:spLocks noGrp="1"/>
          </p:cNvSpPr>
          <p:nvPr>
            <p:ph type="sldNum" idx="12"/>
          </p:nvPr>
        </p:nvSpPr>
        <p:spPr/>
        <p:txBody>
          <a:bodyPr/>
          <a:lstStyle>
            <a:lvl1pPr>
              <a:buNone/>
              <a:defRPr b="0" i="0"/>
            </a:lvl1pPr>
          </a:lstStyle>
          <a:p>
            <a:fld id="{63DCA5C9-2E11-4C67-86EB-AE1DE127DC64}" type="slidenum">
              <a:rPr/>
              <a:t>‹#›</a:t>
            </a:fld>
            <a:endParaRPr/>
          </a:p>
        </p:txBody>
      </p:sp>
      <p:pic>
        <p:nvPicPr>
          <p:cNvPr id="16" name="Picture 1"/>
          <p:cNvPicPr>
            <a:picLocks noChangeAspect="1"/>
          </p:cNvPicPr>
          <p:nvPr/>
        </p:nvPicPr>
        <p:blipFill>
          <a:blip r:embed="rId3"/>
          <a:stretch>
            <a:fillRect/>
          </a:stretch>
        </p:blipFill>
        <p:spPr>
          <a:xfrm>
            <a:off x="460377" y="6325375"/>
            <a:ext cx="1457324" cy="305021"/>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_full_headlin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idx="10"/>
          </p:nvPr>
        </p:nvSpPr>
        <p:spPr>
          <a:xfrm>
            <a:off x="460375" y="1770063"/>
            <a:ext cx="11268076" cy="4249737"/>
          </a:xfrm>
          <a:prstGeom prst="rect">
            <a:avLst/>
          </a:prstGeom>
          <a:solidFill>
            <a:schemeClr val="accent2">
              <a:lumMod val="40000"/>
              <a:lumOff val="60000"/>
            </a:schemeClr>
          </a:solidFill>
        </p:spPr>
        <p:txBody>
          <a:bodyPr tIns="2468880" rIns="0"/>
          <a:lstStyle>
            <a:lvl1pPr algn="ctr">
              <a:buNone/>
              <a:defRPr b="0" i="0">
                <a:solidFill>
                  <a:schemeClr val="tx1"/>
                </a:solidFill>
              </a:defRPr>
            </a:lvl1pPr>
          </a:lstStyle>
          <a:p>
            <a:r>
              <a:t>Click icon to add picture</a:t>
            </a:r>
          </a:p>
        </p:txBody>
      </p:sp>
      <p:sp>
        <p:nvSpPr>
          <p:cNvPr id="6" name="Footer Placeholder 5">
            <a:extLst>
              <a:ext uri="{FF2B5EF4-FFF2-40B4-BE49-F238E27FC236}">
                <a16:creationId xmlns:a16="http://schemas.microsoft.com/office/drawing/2014/main" id="{D4479B74-17F1-EBC9-69EE-229D47AE65AC}"/>
              </a:ext>
            </a:extLst>
          </p:cNvPr>
          <p:cNvSpPr>
            <a:spLocks noGrp="1"/>
          </p:cNvSpPr>
          <p:nvPr>
            <p:ph type="ftr" idx="16"/>
          </p:nvPr>
        </p:nvSpPr>
        <p:spPr/>
        <p:txBody>
          <a:bodyPr/>
          <a:lstStyle>
            <a:lvl1pPr>
              <a:buNone/>
              <a:defRPr b="0" i="0"/>
            </a:lvl1pPr>
          </a:lstStyle>
          <a:p>
            <a:r>
              <a:t>© 2026 West Monroe Partners | Reproduction and/or distribution without West Monroe Partners’ prior consent is prohibited.</a:t>
            </a:r>
          </a:p>
        </p:txBody>
      </p:sp>
      <p:sp>
        <p:nvSpPr>
          <p:cNvPr id="7" name="Slide Number Placeholder 6">
            <a:extLst>
              <a:ext uri="{FF2B5EF4-FFF2-40B4-BE49-F238E27FC236}">
                <a16:creationId xmlns:a16="http://schemas.microsoft.com/office/drawing/2014/main" id="{7B5A2861-0858-0FB8-8FC6-453F5A493617}"/>
              </a:ext>
            </a:extLst>
          </p:cNvPr>
          <p:cNvSpPr>
            <a:spLocks noGrp="1"/>
          </p:cNvSpPr>
          <p:nvPr>
            <p:ph type="sldNum" idx="17"/>
          </p:nvPr>
        </p:nvSpPr>
        <p:spPr/>
        <p:txBody>
          <a:bodyPr/>
          <a:lstStyle>
            <a:lvl1pPr>
              <a:buNone/>
              <a:defRPr b="0" i="0"/>
            </a:lvl1pPr>
          </a:lstStyle>
          <a:p>
            <a:fld id="{63DCA5C9-2E11-4C67-86EB-AE1DE127DC64}" type="slidenum">
              <a:rPr/>
              <a:t>‹#›</a:t>
            </a:fld>
            <a:endParaRPr/>
          </a:p>
        </p:txBody>
      </p:sp>
      <p:sp>
        <p:nvSpPr>
          <p:cNvPr id="2" name="Title 1">
            <a:extLst>
              <a:ext uri="{FF2B5EF4-FFF2-40B4-BE49-F238E27FC236}">
                <a16:creationId xmlns:a16="http://schemas.microsoft.com/office/drawing/2014/main" id="{7AAE4AD5-D1B4-C05A-51DA-AA8783158CDF}"/>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17" name="Picture 2"/>
          <p:cNvPicPr>
            <a:picLocks noChangeAspect="1"/>
          </p:cNvPicPr>
          <p:nvPr/>
        </p:nvPicPr>
        <p:blipFill>
          <a:blip r:embed="rId3"/>
          <a:stretch>
            <a:fillRect/>
          </a:stretch>
        </p:blipFill>
        <p:spPr>
          <a:xfrm>
            <a:off x="460377" y="6325375"/>
            <a:ext cx="1457324" cy="305021"/>
          </a:xfrm>
          <a:prstGeom prst="rect">
            <a:avLst/>
          </a:prstGeom>
        </p:spPr>
      </p:pic>
      <p:sp>
        <p:nvSpPr>
          <p:cNvPr id="4" name="Text Placeholder 15">
            <a:extLst>
              <a:ext uri="{FF2B5EF4-FFF2-40B4-BE49-F238E27FC236}">
                <a16:creationId xmlns:a16="http://schemas.microsoft.com/office/drawing/2014/main" id="{831A1A2D-C89C-6D53-136D-138D70CAF518}"/>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rPr/>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_footer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rPr/>
              <a:t>‹#›</a:t>
            </a:fld>
            <a:endParaRPr/>
          </a:p>
        </p:txBody>
      </p:sp>
      <p:pic>
        <p:nvPicPr>
          <p:cNvPr id="8" name="Picture 1"/>
          <p:cNvPicPr>
            <a:picLocks noChangeAspect="1"/>
          </p:cNvPicPr>
          <p:nvPr/>
        </p:nvPicPr>
        <p:blipFill>
          <a:blip r:embed="rId3"/>
          <a:stretch>
            <a:fillRect/>
          </a:stretch>
        </p:blipFill>
        <p:spPr>
          <a:xfrm>
            <a:off x="460377" y="6325375"/>
            <a:ext cx="1457324" cy="305021"/>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_footer2">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rPr/>
              <a:t>‹#›</a:t>
            </a:fld>
            <a:endParaRPr/>
          </a:p>
        </p:txBody>
      </p:sp>
      <p:pic>
        <p:nvPicPr>
          <p:cNvPr id="8" name="Picture 1"/>
          <p:cNvPicPr>
            <a:picLocks noChangeAspect="1"/>
          </p:cNvPicPr>
          <p:nvPr/>
        </p:nvPicPr>
        <p:blipFill>
          <a:blip r:embed="rId2"/>
          <a:stretch>
            <a:fillRect/>
          </a:stretch>
        </p:blipFill>
        <p:spPr>
          <a:xfrm>
            <a:off x="460377" y="6325375"/>
            <a:ext cx="1457324" cy="305021"/>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video">
    <p:bg>
      <p:bgPr>
        <a:solidFill>
          <a:srgbClr val="000000"/>
        </a:solidFill>
        <a:effectLst/>
      </p:bgPr>
    </p:bg>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67D2A3DE-7ED2-471F-9BD6-3D83A693AAC6}"/>
              </a:ext>
            </a:extLst>
          </p:cNvPr>
          <p:cNvSpPr>
            <a:spLocks noGrp="1"/>
          </p:cNvSpPr>
          <p:nvPr>
            <p:ph type="media" idx="10" hasCustomPrompt="1"/>
          </p:nvPr>
        </p:nvSpPr>
        <p:spPr>
          <a:xfrm>
            <a:off x="0" y="0"/>
            <a:ext cx="12192000" cy="6858000"/>
          </a:xfrm>
          <a:prstGeom prst="rect">
            <a:avLst/>
          </a:prstGeom>
          <a:solidFill>
            <a:srgbClr val="000000"/>
          </a:solidFill>
        </p:spPr>
        <p:txBody>
          <a:bodyPr tIns="731520" anchor="ctr"/>
          <a:lstStyle>
            <a:lvl1pPr algn="ctr">
              <a:buNone/>
              <a:defRPr sz="2000" b="0" i="0">
                <a:solidFill>
                  <a:schemeClr val="bg1"/>
                </a:solidFill>
              </a:defRPr>
            </a:lvl1pPr>
          </a:lstStyle>
          <a:p>
            <a:r>
              <a:t>Click icon to add video</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9">
            <a:extLst>
              <a:ext uri="{FF2B5EF4-FFF2-40B4-BE49-F238E27FC236}">
                <a16:creationId xmlns:a16="http://schemas.microsoft.com/office/drawing/2014/main" id="{E3D8E744-7A24-AE07-4B72-9BE3D3C4E03D}"/>
              </a:ext>
            </a:extLst>
          </p:cNvPr>
          <p:cNvSpPr>
            <a:spLocks noGrp="1"/>
          </p:cNvSpPr>
          <p:nvPr>
            <p:ph type="body" idx="23" hasCustomPrompt="1"/>
          </p:nvPr>
        </p:nvSpPr>
        <p:spPr>
          <a:xfrm>
            <a:off x="711749" y="3465467"/>
            <a:ext cx="1381456" cy="586696"/>
          </a:xfrm>
          <a:prstGeom prst="rect">
            <a:avLst/>
          </a:prstGeom>
          <a:blipFill>
            <a:blip r:embed="rId3"/>
            <a:stretch>
              <a:fillRect/>
            </a:stretch>
          </a:blipFill>
        </p:spPr>
        <p:txBody>
          <a:bodyPr/>
          <a:lstStyle>
            <a:lvl1pPr>
              <a:buNone/>
              <a:defRPr sz="2800" b="0" i="0"/>
            </a:lvl1pPr>
          </a:lstStyle>
          <a:p>
            <a:pPr lvl="0">
              <a:buNone/>
            </a:pPr>
            <a:r>
              <a:t> </a:t>
            </a:r>
          </a:p>
        </p:txBody>
      </p:sp>
      <p:pic>
        <p:nvPicPr>
          <p:cNvPr id="13" name="Picture 6"/>
          <p:cNvPicPr>
            <a:picLocks noChangeAspect="1"/>
          </p:cNvPicPr>
          <p:nvPr/>
        </p:nvPicPr>
        <p:blipFill>
          <a:blip r:embed="rId4"/>
          <a:stretch>
            <a:fillRect/>
          </a:stretch>
        </p:blipFill>
        <p:spPr>
          <a:xfrm>
            <a:off x="91227" y="2216888"/>
            <a:ext cx="1421661" cy="1421661"/>
          </a:xfrm>
          <a:prstGeom prst="rect">
            <a:avLst/>
          </a:prstGeom>
        </p:spPr>
      </p:pic>
      <p:pic>
        <p:nvPicPr>
          <p:cNvPr id="14" name="Picture 1"/>
          <p:cNvPicPr>
            <a:picLocks noChangeAspect="1"/>
          </p:cNvPicPr>
          <p:nvPr/>
        </p:nvPicPr>
        <p:blipFill>
          <a:blip r:embed="rId5"/>
          <a:stretch>
            <a:fillRect/>
          </a:stretch>
        </p:blipFill>
        <p:spPr>
          <a:xfrm>
            <a:off x="460376" y="6021389"/>
            <a:ext cx="2330449" cy="487768"/>
          </a:xfrm>
          <a:prstGeom prst="rect">
            <a:avLst/>
          </a:prstGeom>
        </p:spPr>
      </p:pic>
      <p:sp>
        <p:nvSpPr>
          <p:cNvPr id="3" name="Title 2">
            <a:extLst>
              <a:ext uri="{FF2B5EF4-FFF2-40B4-BE49-F238E27FC236}">
                <a16:creationId xmlns:a16="http://schemas.microsoft.com/office/drawing/2014/main" id="{E370F854-6EFF-21FF-B3FC-87FF997AA62F}"/>
              </a:ext>
            </a:extLst>
          </p:cNvPr>
          <p:cNvSpPr>
            <a:spLocks noGrp="1"/>
          </p:cNvSpPr>
          <p:nvPr>
            <p:ph type="title" hasCustomPrompt="1"/>
          </p:nvPr>
        </p:nvSpPr>
        <p:spPr>
          <a:xfrm>
            <a:off x="800717" y="2995922"/>
            <a:ext cx="5815983" cy="3023877"/>
          </a:xfrm>
          <a:prstGeom prst="rect">
            <a:avLst/>
          </a:prstGeom>
        </p:spPr>
        <p:txBody>
          <a:bodyPr lIns="0" anchor="t"/>
          <a:lstStyle>
            <a:lvl1pPr>
              <a:buNone/>
              <a:defRPr sz="3200">
                <a:solidFill>
                  <a:schemeClr val="tx1"/>
                </a:solidFill>
              </a:defRPr>
            </a:lvl1pPr>
          </a:lstStyle>
          <a:p>
            <a:r>
              <a:t>Closing statement goes here adjust highlight on text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Graphic 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idx="19" hasCustomPrompt="1"/>
          </p:nvPr>
        </p:nvSpPr>
        <p:spPr>
          <a:xfrm>
            <a:off x="465137" y="4759568"/>
            <a:ext cx="4884945" cy="1260231"/>
          </a:xfrm>
          <a:prstGeom prst="rect">
            <a:avLst/>
          </a:prstGeom>
        </p:spPr>
        <p:txBody>
          <a:bodyPr tIns="91440" rIns="0" bIns="0" anchor="t"/>
          <a:lstStyle>
            <a:lvl1pPr>
              <a:spcAft>
                <a:spcPts val="0"/>
              </a:spcAft>
              <a:buFontTx/>
              <a:buNone/>
              <a:defRPr sz="16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lstStyle>
            <a:lvl1pPr>
              <a:buNone/>
              <a:defRPr sz="3200" b="1">
                <a:solidFill>
                  <a:schemeClr val="bg1"/>
                </a:solidFill>
              </a:defRPr>
            </a:lvl1pPr>
          </a:lstStyle>
          <a:p>
            <a:r>
              <a:t>Divider title goes up to three lines lorem ipsum dolor tatem voluptis</a:t>
            </a:r>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idx="22" hasCustomPrompt="1"/>
          </p:nvPr>
        </p:nvSpPr>
        <p:spPr>
          <a:xfrm>
            <a:off x="6210300" y="1959429"/>
            <a:ext cx="2926896" cy="2944585"/>
          </a:xfrm>
          <a:prstGeom prst="rect">
            <a:avLst/>
          </a:prstGeom>
          <a:noFill/>
        </p:spPr>
        <p:txBody>
          <a:bodyPr tIns="1737360"/>
          <a:lstStyle>
            <a:lvl1pPr algn="ctr">
              <a:buNone/>
              <a:defRPr b="0" i="0"/>
            </a:lvl1pPr>
          </a:lstStyle>
          <a:p>
            <a:r>
              <a:t>Delete image </a:t>
            </a:r>
            <a:br>
              <a:rPr/>
            </a:br>
            <a:r>
              <a:t>placeholder </a:t>
            </a:r>
            <a:br>
              <a:rPr/>
            </a:br>
            <a:r>
              <a:t>if not needed</a:t>
            </a:r>
          </a:p>
        </p:txBody>
      </p:sp>
      <p:pic>
        <p:nvPicPr>
          <p:cNvPr id="19" name="Picture 7"/>
          <p:cNvPicPr>
            <a:picLocks noChangeAspect="1"/>
          </p:cNvPicPr>
          <p:nvPr/>
        </p:nvPicPr>
        <p:blipFill>
          <a:blip r:embed="rId4"/>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p>
            <a:fld id="{63DCA5C9-2E11-4C67-86EB-AE1DE127DC64}" type="slidenum">
              <a:rPr/>
              <a:t>‹#›</a:t>
            </a:fld>
            <a:endParaRPr/>
          </a:p>
        </p:txBody>
      </p:sp>
      <p:sp>
        <p:nvSpPr>
          <p:cNvPr id="11" name="Rectangle 10">
            <a:extLst>
              <a:ext uri="{FF2B5EF4-FFF2-40B4-BE49-F238E27FC236}">
                <a16:creationId xmlns:a16="http://schemas.microsoft.com/office/drawing/2014/main" id="{42C7BC3E-22B9-A296-42F7-5B7D706CE6B8}"/>
              </a:ext>
            </a:extLst>
          </p:cNvPr>
          <p:cNvSpPr>
            <a:spLocks noGrp="1"/>
          </p:cNvSpPr>
          <p:nvPr/>
        </p:nvSpPr>
        <p:spPr>
          <a:xfrm>
            <a:off x="296562" y="2533135"/>
            <a:ext cx="1621139" cy="197708"/>
          </a:xfrm>
          <a:prstGeom prst="rect">
            <a:avLst/>
          </a:prstGeom>
          <a:solidFill>
            <a:schemeClr val="tx1"/>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6" name="Text Placeholder 15">
            <a:extLst>
              <a:ext uri="{FF2B5EF4-FFF2-40B4-BE49-F238E27FC236}">
                <a16:creationId xmlns:a16="http://schemas.microsoft.com/office/drawing/2014/main" id="{4B4ADB86-DEB5-499D-FF21-A738C7D1D5AC}"/>
              </a:ext>
            </a:extLst>
          </p:cNvPr>
          <p:cNvSpPr>
            <a:spLocks noGrp="1"/>
          </p:cNvSpPr>
          <p:nvPr>
            <p:ph type="body" idx="23" hasCustomPrompt="1"/>
          </p:nvPr>
        </p:nvSpPr>
        <p:spPr>
          <a:xfrm>
            <a:off x="465137" y="1412875"/>
            <a:ext cx="4884738" cy="1219200"/>
          </a:xfrm>
          <a:prstGeom prst="rect">
            <a:avLst/>
          </a:prstGeom>
        </p:spPr>
        <p:txBody>
          <a:bodyPr tIns="0" rIns="0" bIns="0" anchor="b"/>
          <a:lstStyle>
            <a:lvl1pPr>
              <a:spcAft>
                <a:spcPts val="0"/>
              </a:spcAft>
              <a:buFontTx/>
              <a:buNone/>
              <a:defRPr sz="7200" b="1" i="0" cap="none" baseline="0">
                <a:solidFill>
                  <a:schemeClr val="bg1"/>
                </a:solidFill>
                <a:latin typeface="+mn-lt"/>
                <a:ea typeface="+mn-lt"/>
                <a:cs typeface="+mn-lt"/>
              </a:defRPr>
            </a:lvl1pPr>
            <a:lvl2pPr>
              <a:spcAft>
                <a:spcPts val="0"/>
              </a:spcAft>
              <a:buFontTx/>
              <a:buNone/>
              <a:defRPr sz="7200" b="1" i="0" cap="none" baseline="0">
                <a:solidFill>
                  <a:schemeClr val="bg1"/>
                </a:solidFill>
                <a:latin typeface="+mj-lt"/>
                <a:ea typeface="+mj-lt"/>
                <a:cs typeface="+mj-lt"/>
              </a:defRPr>
            </a:lvl2pPr>
            <a:lvl3pPr marL="0" indent="0">
              <a:spcAft>
                <a:spcPts val="0"/>
              </a:spcAft>
              <a:buFontTx/>
              <a:buNone/>
              <a:defRPr sz="7200" b="1" i="0" cap="none" baseline="0">
                <a:solidFill>
                  <a:schemeClr val="bg1"/>
                </a:solidFill>
                <a:latin typeface="+mj-lt"/>
                <a:ea typeface="+mj-lt"/>
                <a:cs typeface="+mj-lt"/>
              </a:defRPr>
            </a:lvl3pPr>
            <a:lvl4pPr marL="0" indent="0">
              <a:spcAft>
                <a:spcPts val="0"/>
              </a:spcAft>
              <a:buFontTx/>
              <a:buNone/>
              <a:defRPr sz="7200" b="1" i="0" cap="none" baseline="0">
                <a:solidFill>
                  <a:schemeClr val="bg1"/>
                </a:solidFill>
                <a:latin typeface="+mj-lt"/>
                <a:ea typeface="+mj-lt"/>
                <a:cs typeface="+mj-lt"/>
              </a:defRPr>
            </a:lvl4pPr>
            <a:lvl5pPr marL="0" indent="0">
              <a:spcAft>
                <a:spcPts val="0"/>
              </a:spcAft>
              <a:buFontTx/>
              <a:buNone/>
              <a:defRPr sz="7200" b="1" i="0" cap="none" baseline="0">
                <a:solidFill>
                  <a:schemeClr val="bg1"/>
                </a:solidFill>
                <a:latin typeface="+mn-lt"/>
                <a:ea typeface="+mn-lt"/>
                <a:cs typeface="+mn-lt"/>
              </a:defRPr>
            </a:lvl5pPr>
            <a:lvl6pPr marL="0" indent="0">
              <a:spcAft>
                <a:spcPts val="0"/>
              </a:spcAft>
              <a:buFontTx/>
              <a:buNone/>
              <a:defRPr sz="7200" b="1" i="0" cap="none" baseline="0">
                <a:solidFill>
                  <a:schemeClr val="bg1"/>
                </a:solidFill>
                <a:latin typeface="+mn-lt"/>
                <a:ea typeface="+mn-lt"/>
                <a:cs typeface="+mn-lt"/>
              </a:defRPr>
            </a:lvl6pPr>
            <a:lvl7pPr marL="0" indent="0">
              <a:spcAft>
                <a:spcPts val="0"/>
              </a:spcAft>
              <a:buFontTx/>
              <a:buNone/>
              <a:defRPr sz="7200" b="1" i="0" cap="none" baseline="0">
                <a:solidFill>
                  <a:schemeClr val="bg1"/>
                </a:solidFill>
                <a:latin typeface="+mn-lt"/>
                <a:ea typeface="+mn-lt"/>
                <a:cs typeface="+mn-lt"/>
              </a:defRPr>
            </a:lvl7pPr>
            <a:lvl8pPr marL="0" indent="0">
              <a:spcAft>
                <a:spcPts val="0"/>
              </a:spcAft>
              <a:buFontTx/>
              <a:buNone/>
              <a:defRPr sz="7200" b="1" i="0" cap="none" baseline="0">
                <a:solidFill>
                  <a:schemeClr val="bg1"/>
                </a:solidFill>
                <a:latin typeface="+mn-lt"/>
                <a:ea typeface="+mn-lt"/>
                <a:cs typeface="+mn-lt"/>
              </a:defRPr>
            </a:lvl8pPr>
            <a:lvl9pPr marL="0" indent="0">
              <a:spcAft>
                <a:spcPts val="0"/>
              </a:spcAft>
              <a:buFontTx/>
              <a:buNone/>
              <a:defRPr sz="7200" b="1" i="0" cap="none" baseline="0">
                <a:solidFill>
                  <a:schemeClr val="bg1"/>
                </a:solidFill>
                <a:latin typeface="+mn-lt"/>
                <a:ea typeface="+mn-lt"/>
                <a:cs typeface="+mn-lt"/>
              </a:defRPr>
            </a:lvl9pPr>
          </a:lstStyle>
          <a:p>
            <a:pPr lvl="0">
              <a:buNone/>
            </a:pPr>
            <a:r>
              <a:t>00</a:t>
            </a:r>
          </a:p>
        </p:txBody>
      </p:sp>
      <p:sp>
        <p:nvSpPr>
          <p:cNvPr id="12" name="Text Placeholder 9">
            <a:extLst>
              <a:ext uri="{FF2B5EF4-FFF2-40B4-BE49-F238E27FC236}">
                <a16:creationId xmlns:a16="http://schemas.microsoft.com/office/drawing/2014/main" id="{703A3625-ACCF-543A-C450-5CA908828445}"/>
              </a:ext>
            </a:extLst>
          </p:cNvPr>
          <p:cNvSpPr>
            <a:spLocks noGrp="1"/>
          </p:cNvSpPr>
          <p:nvPr>
            <p:ph type="body" idx="26" hasCustomPrompt="1"/>
          </p:nvPr>
        </p:nvSpPr>
        <p:spPr>
          <a:xfrm flipH="1" flipV="1">
            <a:off x="364794" y="2519917"/>
            <a:ext cx="1381456" cy="192234"/>
          </a:xfrm>
          <a:prstGeom prst="rect">
            <a:avLst/>
          </a:prstGeom>
          <a:blipFill rotWithShape="0">
            <a:blip r:embed="rId5"/>
            <a:srcRect/>
            <a:stretch>
              <a:fillRect t="20350"/>
            </a:stretch>
          </a:blipFill>
        </p:spPr>
        <p:txBody>
          <a:bodyPr/>
          <a:lstStyle>
            <a:lvl1pPr>
              <a:buNone/>
              <a:defRPr sz="2800" b="0" i="0"/>
            </a:lvl1pPr>
          </a:lstStyle>
          <a:p>
            <a:pPr lvl="0">
              <a:buNone/>
            </a:pPr>
            <a:r>
              <a:t> </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Graphic 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idx="19" hasCustomPrompt="1"/>
          </p:nvPr>
        </p:nvSpPr>
        <p:spPr>
          <a:xfrm>
            <a:off x="465137" y="4759568"/>
            <a:ext cx="4884945" cy="1260231"/>
          </a:xfrm>
          <a:prstGeom prst="rect">
            <a:avLst/>
          </a:prstGeom>
        </p:spPr>
        <p:txBody>
          <a:bodyPr tIns="91440" rIns="0" bIns="0" anchor="t"/>
          <a:lstStyle>
            <a:lvl1pPr>
              <a:spcAft>
                <a:spcPts val="0"/>
              </a:spcAft>
              <a:buFontTx/>
              <a:buNone/>
              <a:defRPr sz="1500" b="1" i="0" cap="none" baseline="0">
                <a:solidFill>
                  <a:schemeClr val="bg1"/>
                </a:solidFill>
                <a:latin typeface="+mn-lt"/>
                <a:ea typeface="+mn-lt"/>
                <a:cs typeface="+mn-lt"/>
              </a:defRPr>
            </a:lvl1pPr>
            <a:lvl2pPr>
              <a:spcAft>
                <a:spcPts val="0"/>
              </a:spcAft>
              <a:buFontTx/>
              <a:buNone/>
              <a:defRPr sz="1600" b="1" i="0" cap="none" baseline="0">
                <a:solidFill>
                  <a:schemeClr val="bg1"/>
                </a:solidFill>
                <a:latin typeface="+mj-lt"/>
                <a:ea typeface="+mj-lt"/>
                <a:cs typeface="+mj-lt"/>
              </a:defRPr>
            </a:lvl2pPr>
            <a:lvl3pPr marL="0" indent="0">
              <a:spcAft>
                <a:spcPts val="0"/>
              </a:spcAft>
              <a:buFontTx/>
              <a:buNone/>
              <a:defRPr sz="1600" b="1" i="0" cap="none" baseline="0">
                <a:solidFill>
                  <a:schemeClr val="bg1"/>
                </a:solidFill>
                <a:latin typeface="+mj-lt"/>
                <a:ea typeface="+mj-lt"/>
                <a:cs typeface="+mj-lt"/>
              </a:defRPr>
            </a:lvl3pPr>
            <a:lvl4pPr marL="0" indent="0">
              <a:spcAft>
                <a:spcPts val="0"/>
              </a:spcAft>
              <a:buFontTx/>
              <a:buNone/>
              <a:defRPr sz="1600" b="1" i="0" cap="none" baseline="0">
                <a:solidFill>
                  <a:schemeClr val="bg1"/>
                </a:solidFill>
                <a:latin typeface="+mj-lt"/>
                <a:ea typeface="+mj-lt"/>
                <a:cs typeface="+mj-lt"/>
              </a:defRPr>
            </a:lvl4pPr>
            <a:lvl5pPr marL="0" indent="0">
              <a:spcAft>
                <a:spcPts val="0"/>
              </a:spcAft>
              <a:buFontTx/>
              <a:buNone/>
              <a:defRPr sz="1600" b="1" i="0" cap="none" baseline="0">
                <a:solidFill>
                  <a:schemeClr val="bg1"/>
                </a:solidFill>
                <a:latin typeface="+mn-lt"/>
                <a:ea typeface="+mn-lt"/>
                <a:cs typeface="+mn-lt"/>
              </a:defRPr>
            </a:lvl5pPr>
            <a:lvl6pPr marL="0" indent="0">
              <a:spcAft>
                <a:spcPts val="0"/>
              </a:spcAft>
              <a:buFontTx/>
              <a:buNone/>
              <a:defRPr sz="1600" b="1" i="0" cap="none" baseline="0">
                <a:solidFill>
                  <a:schemeClr val="bg1"/>
                </a:solidFill>
                <a:latin typeface="+mn-lt"/>
                <a:ea typeface="+mn-lt"/>
                <a:cs typeface="+mn-lt"/>
              </a:defRPr>
            </a:lvl6pPr>
            <a:lvl7pPr marL="0" indent="0">
              <a:spcAft>
                <a:spcPts val="0"/>
              </a:spcAft>
              <a:buFontTx/>
              <a:buNone/>
              <a:defRPr sz="1600" b="1" i="0" cap="none" baseline="0">
                <a:solidFill>
                  <a:schemeClr val="bg1"/>
                </a:solidFill>
                <a:latin typeface="+mn-lt"/>
                <a:ea typeface="+mn-lt"/>
                <a:cs typeface="+mn-lt"/>
              </a:defRPr>
            </a:lvl7pPr>
            <a:lvl8pPr marL="0" indent="0">
              <a:spcAft>
                <a:spcPts val="0"/>
              </a:spcAft>
              <a:buFontTx/>
              <a:buNone/>
              <a:defRPr sz="1600" b="1" i="0" cap="none" baseline="0">
                <a:solidFill>
                  <a:schemeClr val="bg1"/>
                </a:solidFill>
                <a:latin typeface="+mn-lt"/>
                <a:ea typeface="+mn-lt"/>
                <a:cs typeface="+mn-lt"/>
              </a:defRPr>
            </a:lvl8pPr>
            <a:lvl9pPr marL="0" indent="0">
              <a:spcAft>
                <a:spcPts val="0"/>
              </a:spcAft>
              <a:buFontTx/>
              <a:buNone/>
              <a:defRPr sz="1600" b="1" i="0" cap="none" baseline="0">
                <a:solidFill>
                  <a:schemeClr val="bg1"/>
                </a:solidFill>
                <a:latin typeface="+mn-lt"/>
                <a:ea typeface="+mn-lt"/>
                <a:cs typeface="+mn-lt"/>
              </a:defRPr>
            </a:lvl9pPr>
          </a:lstStyle>
          <a:p>
            <a:pPr lvl="0">
              <a:buNone/>
            </a:pPr>
            <a:r>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lstStyle>
            <a:lvl1pPr>
              <a:buNone/>
              <a:defRPr sz="3200" b="1">
                <a:solidFill>
                  <a:schemeClr val="bg1"/>
                </a:solidFill>
              </a:defRPr>
            </a:lvl1pPr>
          </a:lstStyle>
          <a:p>
            <a:r>
              <a:t>Divider title goes up to three lines lorem ipsum dolor tatem voluptis</a:t>
            </a:r>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idx="22" hasCustomPrompt="1"/>
          </p:nvPr>
        </p:nvSpPr>
        <p:spPr>
          <a:xfrm>
            <a:off x="6210300" y="1959429"/>
            <a:ext cx="2926896" cy="2944585"/>
          </a:xfrm>
          <a:prstGeom prst="rect">
            <a:avLst/>
          </a:prstGeom>
          <a:noFill/>
        </p:spPr>
        <p:txBody>
          <a:bodyPr tIns="1737360"/>
          <a:lstStyle>
            <a:lvl1pPr algn="ctr">
              <a:buNone/>
              <a:defRPr b="0" i="0"/>
            </a:lvl1pPr>
          </a:lstStyle>
          <a:p>
            <a:r>
              <a:t>Delete image </a:t>
            </a:r>
            <a:br>
              <a:rPr/>
            </a:br>
            <a:r>
              <a:t>placeholder </a:t>
            </a:r>
            <a:br>
              <a:rPr/>
            </a:br>
            <a:r>
              <a:t>if not needed</a:t>
            </a:r>
          </a:p>
        </p:txBody>
      </p:sp>
      <p:pic>
        <p:nvPicPr>
          <p:cNvPr id="18" name="Picture 7"/>
          <p:cNvPicPr>
            <a:picLocks noChangeAspect="1"/>
          </p:cNvPicPr>
          <p:nvPr/>
        </p:nvPicPr>
        <p:blipFill>
          <a:blip r:embed="rId4"/>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p>
            <a:fld id="{63DCA5C9-2E11-4C67-86EB-AE1DE127DC64}" type="slidenum">
              <a:rPr/>
              <a:t>‹#›</a:t>
            </a:fld>
            <a:endParaRPr/>
          </a:p>
        </p:txBody>
      </p:sp>
      <p:sp>
        <p:nvSpPr>
          <p:cNvPr id="6" name="Rectangle 5">
            <a:extLst>
              <a:ext uri="{FF2B5EF4-FFF2-40B4-BE49-F238E27FC236}">
                <a16:creationId xmlns:a16="http://schemas.microsoft.com/office/drawing/2014/main" id="{D6255CA2-1EF0-D45E-0F8C-D8FFCF0F48BF}"/>
              </a:ext>
            </a:extLst>
          </p:cNvPr>
          <p:cNvSpPr>
            <a:spLocks noGrp="1"/>
          </p:cNvSpPr>
          <p:nvPr/>
        </p:nvSpPr>
        <p:spPr>
          <a:xfrm>
            <a:off x="296562" y="2533135"/>
            <a:ext cx="1621139" cy="197708"/>
          </a:xfrm>
          <a:prstGeom prst="rect">
            <a:avLst/>
          </a:prstGeom>
          <a:solidFill>
            <a:schemeClr val="tx2"/>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idx="23" hasCustomPrompt="1"/>
          </p:nvPr>
        </p:nvSpPr>
        <p:spPr>
          <a:xfrm>
            <a:off x="465137" y="1412875"/>
            <a:ext cx="4884738" cy="1219200"/>
          </a:xfrm>
          <a:prstGeom prst="rect">
            <a:avLst/>
          </a:prstGeom>
        </p:spPr>
        <p:txBody>
          <a:bodyPr tIns="0" rIns="0" bIns="0" anchor="b"/>
          <a:lstStyle>
            <a:lvl1pPr>
              <a:spcAft>
                <a:spcPts val="0"/>
              </a:spcAft>
              <a:buFontTx/>
              <a:buNone/>
              <a:defRPr sz="7200" b="1" i="0" cap="none" baseline="0">
                <a:solidFill>
                  <a:schemeClr val="bg1"/>
                </a:solidFill>
                <a:latin typeface="+mn-lt"/>
                <a:ea typeface="+mn-lt"/>
                <a:cs typeface="+mn-lt"/>
              </a:defRPr>
            </a:lvl1pPr>
            <a:lvl2pPr>
              <a:spcAft>
                <a:spcPts val="0"/>
              </a:spcAft>
              <a:buFontTx/>
              <a:buNone/>
              <a:defRPr sz="7200" b="1" i="0" cap="none" baseline="0">
                <a:solidFill>
                  <a:schemeClr val="bg1"/>
                </a:solidFill>
                <a:latin typeface="+mj-lt"/>
                <a:ea typeface="+mj-lt"/>
                <a:cs typeface="+mj-lt"/>
              </a:defRPr>
            </a:lvl2pPr>
            <a:lvl3pPr marL="0" indent="0">
              <a:spcAft>
                <a:spcPts val="0"/>
              </a:spcAft>
              <a:buFontTx/>
              <a:buNone/>
              <a:defRPr sz="7200" b="1" i="0" cap="none" baseline="0">
                <a:solidFill>
                  <a:schemeClr val="bg1"/>
                </a:solidFill>
                <a:latin typeface="+mj-lt"/>
                <a:ea typeface="+mj-lt"/>
                <a:cs typeface="+mj-lt"/>
              </a:defRPr>
            </a:lvl3pPr>
            <a:lvl4pPr marL="0" indent="0">
              <a:spcAft>
                <a:spcPts val="0"/>
              </a:spcAft>
              <a:buFontTx/>
              <a:buNone/>
              <a:defRPr sz="7200" b="1" i="0" cap="none" baseline="0">
                <a:solidFill>
                  <a:schemeClr val="bg1"/>
                </a:solidFill>
                <a:latin typeface="+mj-lt"/>
                <a:ea typeface="+mj-lt"/>
                <a:cs typeface="+mj-lt"/>
              </a:defRPr>
            </a:lvl4pPr>
            <a:lvl5pPr marL="0" indent="0">
              <a:spcAft>
                <a:spcPts val="0"/>
              </a:spcAft>
              <a:buFontTx/>
              <a:buNone/>
              <a:defRPr sz="7200" b="1" i="0" cap="none" baseline="0">
                <a:solidFill>
                  <a:schemeClr val="bg1"/>
                </a:solidFill>
                <a:latin typeface="+mn-lt"/>
                <a:ea typeface="+mn-lt"/>
                <a:cs typeface="+mn-lt"/>
              </a:defRPr>
            </a:lvl5pPr>
            <a:lvl6pPr marL="0" indent="0">
              <a:spcAft>
                <a:spcPts val="0"/>
              </a:spcAft>
              <a:buFontTx/>
              <a:buNone/>
              <a:defRPr sz="7200" b="1" i="0" cap="none" baseline="0">
                <a:solidFill>
                  <a:schemeClr val="bg1"/>
                </a:solidFill>
                <a:latin typeface="+mn-lt"/>
                <a:ea typeface="+mn-lt"/>
                <a:cs typeface="+mn-lt"/>
              </a:defRPr>
            </a:lvl6pPr>
            <a:lvl7pPr marL="0" indent="0">
              <a:spcAft>
                <a:spcPts val="0"/>
              </a:spcAft>
              <a:buFontTx/>
              <a:buNone/>
              <a:defRPr sz="7200" b="1" i="0" cap="none" baseline="0">
                <a:solidFill>
                  <a:schemeClr val="bg1"/>
                </a:solidFill>
                <a:latin typeface="+mn-lt"/>
                <a:ea typeface="+mn-lt"/>
                <a:cs typeface="+mn-lt"/>
              </a:defRPr>
            </a:lvl7pPr>
            <a:lvl8pPr marL="0" indent="0">
              <a:spcAft>
                <a:spcPts val="0"/>
              </a:spcAft>
              <a:buFontTx/>
              <a:buNone/>
              <a:defRPr sz="7200" b="1" i="0" cap="none" baseline="0">
                <a:solidFill>
                  <a:schemeClr val="bg1"/>
                </a:solidFill>
                <a:latin typeface="+mn-lt"/>
                <a:ea typeface="+mn-lt"/>
                <a:cs typeface="+mn-lt"/>
              </a:defRPr>
            </a:lvl8pPr>
            <a:lvl9pPr marL="0" indent="0">
              <a:spcAft>
                <a:spcPts val="0"/>
              </a:spcAft>
              <a:buFontTx/>
              <a:buNone/>
              <a:defRPr sz="7200" b="1" i="0" cap="none" baseline="0">
                <a:solidFill>
                  <a:schemeClr val="bg1"/>
                </a:solidFill>
                <a:latin typeface="+mn-lt"/>
                <a:ea typeface="+mn-lt"/>
                <a:cs typeface="+mn-lt"/>
              </a:defRPr>
            </a:lvl9pPr>
          </a:lstStyle>
          <a:p>
            <a:pPr lvl="0">
              <a:buNone/>
            </a:pPr>
            <a:r>
              <a:t>00</a:t>
            </a:r>
          </a:p>
        </p:txBody>
      </p:sp>
      <p:sp>
        <p:nvSpPr>
          <p:cNvPr id="11" name="Text Placeholder 9">
            <a:extLst>
              <a:ext uri="{FF2B5EF4-FFF2-40B4-BE49-F238E27FC236}">
                <a16:creationId xmlns:a16="http://schemas.microsoft.com/office/drawing/2014/main" id="{71F24330-E4EB-5F2D-3E9D-837E687DE41B}"/>
              </a:ext>
            </a:extLst>
          </p:cNvPr>
          <p:cNvSpPr>
            <a:spLocks noGrp="1"/>
          </p:cNvSpPr>
          <p:nvPr>
            <p:ph type="body" idx="26" hasCustomPrompt="1"/>
          </p:nvPr>
        </p:nvSpPr>
        <p:spPr>
          <a:xfrm flipH="1" flipV="1">
            <a:off x="364794" y="2519917"/>
            <a:ext cx="1381456" cy="192234"/>
          </a:xfrm>
          <a:prstGeom prst="rect">
            <a:avLst/>
          </a:prstGeom>
          <a:blipFill rotWithShape="0">
            <a:blip r:embed="rId5"/>
            <a:srcRect/>
            <a:stretch>
              <a:fillRect t="20350"/>
            </a:stretch>
          </a:blipFill>
        </p:spPr>
        <p:txBody>
          <a:bodyPr/>
          <a:lstStyle>
            <a:lvl1pPr>
              <a:buNone/>
              <a:defRPr sz="2800" b="0" i="0"/>
            </a:lvl1pPr>
          </a:lstStyle>
          <a:p>
            <a:pPr lvl="0">
              <a:buNone/>
            </a:pPr>
            <a:r>
              <a:t> </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AFAE7868-93D0-7991-9DCD-38EE119B8992}"/>
              </a:ext>
            </a:extLst>
          </p:cNvPr>
          <p:cNvSpPr>
            <a:spLocks noGrp="1"/>
          </p:cNvSpPr>
          <p:nvPr>
            <p:ph type="pic" idx="22" hasCustomPrompt="1"/>
          </p:nvPr>
        </p:nvSpPr>
        <p:spPr>
          <a:xfrm>
            <a:off x="6210300" y="1959429"/>
            <a:ext cx="2926896" cy="2944585"/>
          </a:xfrm>
          <a:prstGeom prst="rect">
            <a:avLst/>
          </a:prstGeom>
          <a:noFill/>
        </p:spPr>
        <p:txBody>
          <a:bodyPr tIns="1737360"/>
          <a:lstStyle>
            <a:lvl1pPr algn="ctr">
              <a:buNone/>
              <a:defRPr b="0" i="0"/>
            </a:lvl1pPr>
          </a:lstStyle>
          <a:p>
            <a:r>
              <a:t>Delete image </a:t>
            </a:r>
            <a:br>
              <a:rPr/>
            </a:br>
            <a:r>
              <a:t>placeholder </a:t>
            </a:r>
            <a:br>
              <a:rPr/>
            </a:br>
            <a:r>
              <a:t>if not needed</a:t>
            </a:r>
          </a:p>
        </p:txBody>
      </p:sp>
      <p:pic>
        <p:nvPicPr>
          <p:cNvPr id="17" name="Picture 7"/>
          <p:cNvPicPr>
            <a:picLocks noChangeAspect="1"/>
          </p:cNvPicPr>
          <p:nvPr/>
        </p:nvPicPr>
        <p:blipFill>
          <a:blip r:embed="rId3"/>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p>
            <a:fld id="{63DCA5C9-2E11-4C67-86EB-AE1DE127DC64}" type="slidenum">
              <a:rPr/>
              <a:t>‹#›</a:t>
            </a:fld>
            <a:endParaRPr/>
          </a:p>
        </p:txBody>
      </p:sp>
      <p:pic>
        <p:nvPicPr>
          <p:cNvPr id="20" name="Graphic 5"/>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0375" y="2056147"/>
            <a:ext cx="1135813" cy="1135813"/>
          </a:xfrm>
          <a:prstGeom prst="rect">
            <a:avLst/>
          </a:prstGeom>
        </p:spPr>
      </p:pic>
      <p:sp>
        <p:nvSpPr>
          <p:cNvPr id="11" name="Text Placeholder 15">
            <a:extLst>
              <a:ext uri="{FF2B5EF4-FFF2-40B4-BE49-F238E27FC236}">
                <a16:creationId xmlns:a16="http://schemas.microsoft.com/office/drawing/2014/main" id="{538F5BB5-9720-46B1-5D3D-A302578A8824}"/>
              </a:ext>
            </a:extLst>
          </p:cNvPr>
          <p:cNvSpPr>
            <a:spLocks noGrp="1"/>
          </p:cNvSpPr>
          <p:nvPr>
            <p:ph type="body" idx="19" hasCustomPrompt="1"/>
          </p:nvPr>
        </p:nvSpPr>
        <p:spPr>
          <a:xfrm>
            <a:off x="465137" y="4759568"/>
            <a:ext cx="4884945" cy="1260231"/>
          </a:xfrm>
          <a:prstGeom prst="rect">
            <a:avLst/>
          </a:prstGeom>
        </p:spPr>
        <p:txBody>
          <a:bodyPr tIns="91440" rIns="0" bIns="0" anchor="t"/>
          <a:lstStyle>
            <a:lvl1pPr>
              <a:spcAft>
                <a:spcPts val="0"/>
              </a:spcAft>
              <a:buFontTx/>
              <a:buNone/>
              <a:defRPr sz="1500" b="1" i="0" cap="none" baseline="0">
                <a:solidFill>
                  <a:schemeClr val="tx1"/>
                </a:solidFill>
                <a:latin typeface="+mn-lt"/>
                <a:ea typeface="+mn-lt"/>
                <a:cs typeface="+mn-lt"/>
              </a:defRPr>
            </a:lvl1pPr>
            <a:lvl2pPr>
              <a:spcAft>
                <a:spcPts val="0"/>
              </a:spcAft>
              <a:buFontTx/>
              <a:buNone/>
              <a:defRPr sz="1600" b="1" i="0" cap="none" baseline="0">
                <a:solidFill>
                  <a:schemeClr val="tx1"/>
                </a:solidFill>
                <a:latin typeface="+mj-lt"/>
                <a:ea typeface="+mj-lt"/>
                <a:cs typeface="+mj-lt"/>
              </a:defRPr>
            </a:lvl2pPr>
            <a:lvl3pPr marL="0" indent="0">
              <a:spcAft>
                <a:spcPts val="0"/>
              </a:spcAft>
              <a:buFontTx/>
              <a:buNone/>
              <a:defRPr sz="1600" b="1" i="0" cap="none" baseline="0">
                <a:solidFill>
                  <a:schemeClr val="tx1"/>
                </a:solidFill>
                <a:latin typeface="+mj-lt"/>
                <a:ea typeface="+mj-lt"/>
                <a:cs typeface="+mj-lt"/>
              </a:defRPr>
            </a:lvl3pPr>
            <a:lvl4pPr marL="0" indent="0">
              <a:spcAft>
                <a:spcPts val="0"/>
              </a:spcAft>
              <a:buFontTx/>
              <a:buNone/>
              <a:defRPr sz="1600" b="1" i="0" cap="none" baseline="0">
                <a:solidFill>
                  <a:schemeClr val="tx1"/>
                </a:solidFill>
                <a:latin typeface="+mj-lt"/>
                <a:ea typeface="+mj-lt"/>
                <a:cs typeface="+mj-lt"/>
              </a:defRPr>
            </a:lvl4pPr>
            <a:lvl5pPr marL="0" indent="0">
              <a:spcAft>
                <a:spcPts val="0"/>
              </a:spcAft>
              <a:buFontTx/>
              <a:buNone/>
              <a:defRPr sz="1600" b="1" i="0" cap="none" baseline="0">
                <a:solidFill>
                  <a:schemeClr val="tx1"/>
                </a:solidFill>
                <a:latin typeface="+mn-lt"/>
                <a:ea typeface="+mn-lt"/>
                <a:cs typeface="+mn-lt"/>
              </a:defRPr>
            </a:lvl5pPr>
            <a:lvl6pPr marL="0" indent="0">
              <a:spcAft>
                <a:spcPts val="0"/>
              </a:spcAft>
              <a:buFontTx/>
              <a:buNone/>
              <a:defRPr sz="1600" b="1" i="0" cap="none" baseline="0">
                <a:solidFill>
                  <a:schemeClr val="tx1"/>
                </a:solidFill>
                <a:latin typeface="+mn-lt"/>
                <a:ea typeface="+mn-lt"/>
                <a:cs typeface="+mn-lt"/>
              </a:defRPr>
            </a:lvl6pPr>
            <a:lvl7pPr marL="0" indent="0">
              <a:spcAft>
                <a:spcPts val="0"/>
              </a:spcAft>
              <a:buFontTx/>
              <a:buNone/>
              <a:defRPr sz="1600" b="1" i="0" cap="none" baseline="0">
                <a:solidFill>
                  <a:schemeClr val="tx1"/>
                </a:solidFill>
                <a:latin typeface="+mn-lt"/>
                <a:ea typeface="+mn-lt"/>
                <a:cs typeface="+mn-lt"/>
              </a:defRPr>
            </a:lvl7pPr>
            <a:lvl8pPr marL="0" indent="0">
              <a:spcAft>
                <a:spcPts val="0"/>
              </a:spcAft>
              <a:buFontTx/>
              <a:buNone/>
              <a:defRPr sz="1600" b="1" i="0" cap="none" baseline="0">
                <a:solidFill>
                  <a:schemeClr val="tx1"/>
                </a:solidFill>
                <a:latin typeface="+mn-lt"/>
                <a:ea typeface="+mn-lt"/>
                <a:cs typeface="+mn-lt"/>
              </a:defRPr>
            </a:lvl8pPr>
            <a:lvl9pPr marL="0" indent="0">
              <a:spcAft>
                <a:spcPts val="0"/>
              </a:spcAft>
              <a:buFontTx/>
              <a:buNone/>
              <a:defRPr sz="1600" b="1" i="0" cap="none" baseline="0">
                <a:solidFill>
                  <a:schemeClr val="tx1"/>
                </a:solidFill>
                <a:latin typeface="+mn-lt"/>
                <a:ea typeface="+mn-lt"/>
                <a:cs typeface="+mn-lt"/>
              </a:defRPr>
            </a:lvl9pPr>
          </a:lstStyle>
          <a:p>
            <a:pPr lvl="0">
              <a:buNone/>
            </a:pPr>
            <a:r>
              <a:t>Subtitle</a:t>
            </a:r>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460376" y="2860430"/>
            <a:ext cx="4889499" cy="1582615"/>
          </a:xfrm>
          <a:prstGeom prst="rect">
            <a:avLst/>
          </a:prstGeom>
        </p:spPr>
        <p:txBody>
          <a:bodyPr anchor="b"/>
          <a:lstStyle>
            <a:lvl1pPr>
              <a:buNone/>
              <a:defRPr sz="3200" b="1">
                <a:solidFill>
                  <a:schemeClr val="tx1"/>
                </a:solidFill>
              </a:defRPr>
            </a:lvl1pPr>
          </a:lstStyle>
          <a:p>
            <a:r>
              <a:t>Divider title goes up to three lines lorem ipsum dolor tatem voluptis</a:t>
            </a:r>
          </a:p>
        </p:txBody>
      </p:sp>
      <p:sp>
        <p:nvSpPr>
          <p:cNvPr id="2" name="Rectangle 1">
            <a:extLst>
              <a:ext uri="{FF2B5EF4-FFF2-40B4-BE49-F238E27FC236}">
                <a16:creationId xmlns:a16="http://schemas.microsoft.com/office/drawing/2014/main" id="{0C051312-AC51-CC64-7366-205949959795}"/>
              </a:ext>
            </a:extLst>
          </p:cNvPr>
          <p:cNvSpPr>
            <a:spLocks noGrp="1"/>
          </p:cNvSpPr>
          <p:nvPr/>
        </p:nvSpPr>
        <p:spPr>
          <a:xfrm>
            <a:off x="296562" y="2533135"/>
            <a:ext cx="1621139" cy="197708"/>
          </a:xfrm>
          <a:prstGeom prst="rect">
            <a:avLst/>
          </a:prstGeom>
          <a:solidFill>
            <a:schemeClr val="accent3"/>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13" name="Text Placeholder 15">
            <a:extLst>
              <a:ext uri="{FF2B5EF4-FFF2-40B4-BE49-F238E27FC236}">
                <a16:creationId xmlns:a16="http://schemas.microsoft.com/office/drawing/2014/main" id="{734E4BC5-1B66-30E6-F254-0A105D850529}"/>
              </a:ext>
            </a:extLst>
          </p:cNvPr>
          <p:cNvSpPr>
            <a:spLocks noGrp="1"/>
          </p:cNvSpPr>
          <p:nvPr>
            <p:ph type="body" idx="23" hasCustomPrompt="1"/>
          </p:nvPr>
        </p:nvSpPr>
        <p:spPr>
          <a:xfrm>
            <a:off x="465137" y="1412875"/>
            <a:ext cx="4884738" cy="1219200"/>
          </a:xfrm>
          <a:prstGeom prst="rect">
            <a:avLst/>
          </a:prstGeom>
        </p:spPr>
        <p:txBody>
          <a:bodyPr tIns="0" rIns="0" bIns="0" anchor="b"/>
          <a:lstStyle>
            <a:lvl1pPr>
              <a:spcAft>
                <a:spcPts val="0"/>
              </a:spcAft>
              <a:buFontTx/>
              <a:buNone/>
              <a:defRPr sz="7200" b="1" i="0" cap="none" baseline="0">
                <a:solidFill>
                  <a:schemeClr val="tx1"/>
                </a:solidFill>
                <a:latin typeface="+mn-lt"/>
                <a:ea typeface="+mn-lt"/>
                <a:cs typeface="+mn-lt"/>
              </a:defRPr>
            </a:lvl1pPr>
            <a:lvl2pPr>
              <a:spcAft>
                <a:spcPts val="0"/>
              </a:spcAft>
              <a:buFontTx/>
              <a:buNone/>
              <a:defRPr sz="7200" b="1" i="0" cap="none" baseline="0">
                <a:solidFill>
                  <a:schemeClr val="tx1"/>
                </a:solidFill>
                <a:latin typeface="+mj-lt"/>
                <a:ea typeface="+mj-lt"/>
                <a:cs typeface="+mj-lt"/>
              </a:defRPr>
            </a:lvl2pPr>
            <a:lvl3pPr marL="0" indent="0">
              <a:spcAft>
                <a:spcPts val="0"/>
              </a:spcAft>
              <a:buFontTx/>
              <a:buNone/>
              <a:defRPr sz="7200" b="1" i="0" cap="none" baseline="0">
                <a:solidFill>
                  <a:schemeClr val="tx1"/>
                </a:solidFill>
                <a:latin typeface="+mj-lt"/>
                <a:ea typeface="+mj-lt"/>
                <a:cs typeface="+mj-lt"/>
              </a:defRPr>
            </a:lvl3pPr>
            <a:lvl4pPr marL="0" indent="0">
              <a:spcAft>
                <a:spcPts val="0"/>
              </a:spcAft>
              <a:buFontTx/>
              <a:buNone/>
              <a:defRPr sz="7200" b="1" i="0" cap="none" baseline="0">
                <a:solidFill>
                  <a:schemeClr val="tx1"/>
                </a:solidFill>
                <a:latin typeface="+mj-lt"/>
                <a:ea typeface="+mj-lt"/>
                <a:cs typeface="+mj-lt"/>
              </a:defRPr>
            </a:lvl4pPr>
            <a:lvl5pPr marL="0" indent="0">
              <a:spcAft>
                <a:spcPts val="0"/>
              </a:spcAft>
              <a:buFontTx/>
              <a:buNone/>
              <a:defRPr sz="7200" b="1" i="0" cap="none" baseline="0">
                <a:solidFill>
                  <a:schemeClr val="tx1"/>
                </a:solidFill>
                <a:latin typeface="+mn-lt"/>
                <a:ea typeface="+mn-lt"/>
                <a:cs typeface="+mn-lt"/>
              </a:defRPr>
            </a:lvl5pPr>
            <a:lvl6pPr marL="0" indent="0">
              <a:spcAft>
                <a:spcPts val="0"/>
              </a:spcAft>
              <a:buFontTx/>
              <a:buNone/>
              <a:defRPr sz="7200" b="1" i="0" cap="none" baseline="0">
                <a:solidFill>
                  <a:schemeClr val="tx1"/>
                </a:solidFill>
                <a:latin typeface="+mn-lt"/>
                <a:ea typeface="+mn-lt"/>
                <a:cs typeface="+mn-lt"/>
              </a:defRPr>
            </a:lvl6pPr>
            <a:lvl7pPr marL="0" indent="0">
              <a:spcAft>
                <a:spcPts val="0"/>
              </a:spcAft>
              <a:buFontTx/>
              <a:buNone/>
              <a:defRPr sz="7200" b="1" i="0" cap="none" baseline="0">
                <a:solidFill>
                  <a:schemeClr val="tx1"/>
                </a:solidFill>
                <a:latin typeface="+mn-lt"/>
                <a:ea typeface="+mn-lt"/>
                <a:cs typeface="+mn-lt"/>
              </a:defRPr>
            </a:lvl7pPr>
            <a:lvl8pPr marL="0" indent="0">
              <a:spcAft>
                <a:spcPts val="0"/>
              </a:spcAft>
              <a:buFontTx/>
              <a:buNone/>
              <a:defRPr sz="7200" b="1" i="0" cap="none" baseline="0">
                <a:solidFill>
                  <a:schemeClr val="tx1"/>
                </a:solidFill>
                <a:latin typeface="+mn-lt"/>
                <a:ea typeface="+mn-lt"/>
                <a:cs typeface="+mn-lt"/>
              </a:defRPr>
            </a:lvl8pPr>
            <a:lvl9pPr marL="0" indent="0">
              <a:spcAft>
                <a:spcPts val="0"/>
              </a:spcAft>
              <a:buFontTx/>
              <a:buNone/>
              <a:defRPr sz="7200" b="1" i="0" cap="none" baseline="0">
                <a:solidFill>
                  <a:schemeClr val="tx1"/>
                </a:solidFill>
                <a:latin typeface="+mn-lt"/>
                <a:ea typeface="+mn-lt"/>
                <a:cs typeface="+mn-lt"/>
              </a:defRPr>
            </a:lvl9pPr>
          </a:lstStyle>
          <a:p>
            <a:pPr lvl="0">
              <a:buNone/>
            </a:pPr>
            <a:r>
              <a:t>00</a:t>
            </a:r>
          </a:p>
        </p:txBody>
      </p:sp>
      <p:sp>
        <p:nvSpPr>
          <p:cNvPr id="3" name="Text Placeholder 9">
            <a:extLst>
              <a:ext uri="{FF2B5EF4-FFF2-40B4-BE49-F238E27FC236}">
                <a16:creationId xmlns:a16="http://schemas.microsoft.com/office/drawing/2014/main" id="{E8FD128D-692A-2AB6-3921-483D465C6837}"/>
              </a:ext>
            </a:extLst>
          </p:cNvPr>
          <p:cNvSpPr>
            <a:spLocks noGrp="1"/>
          </p:cNvSpPr>
          <p:nvPr>
            <p:ph type="body" idx="26" hasCustomPrompt="1"/>
          </p:nvPr>
        </p:nvSpPr>
        <p:spPr>
          <a:xfrm flipH="1" flipV="1">
            <a:off x="364794" y="2519917"/>
            <a:ext cx="1381456" cy="192234"/>
          </a:xfrm>
          <a:prstGeom prst="rect">
            <a:avLst/>
          </a:prstGeom>
          <a:blipFill rotWithShape="0">
            <a:blip r:embed="rId5"/>
            <a:srcRect/>
            <a:stretch>
              <a:fillRect t="-317465" b="-325807"/>
            </a:stretch>
          </a:blipFill>
        </p:spPr>
        <p:txBody>
          <a:bodyPr/>
          <a:lstStyle>
            <a:lvl1pPr>
              <a:buNone/>
              <a:defRPr sz="2800" b="0" i="0"/>
            </a:lvl1pPr>
          </a:lstStyle>
          <a:p>
            <a:pPr lvl="0">
              <a:buNone/>
            </a:pPr>
            <a:r>
              <a:t> </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tx1"/>
        </a:solidFill>
        <a:effectLst/>
      </p:bgPr>
    </p:bg>
    <p:spTree>
      <p:nvGrpSpPr>
        <p:cNvPr id="1" name=""/>
        <p:cNvGrpSpPr/>
        <p:nvPr/>
      </p:nvGrpSpPr>
      <p:grpSpPr>
        <a:xfrm>
          <a:off x="0" y="0"/>
          <a:ext cx="0" cy="0"/>
          <a:chOff x="0" y="0"/>
          <a:chExt cx="0" cy="0"/>
        </a:xfrm>
      </p:grpSpPr>
      <p:pic>
        <p:nvPicPr>
          <p:cNvPr id="13" name="Graphic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idx="19" hasCustomPrompt="1"/>
          </p:nvPr>
        </p:nvSpPr>
        <p:spPr>
          <a:xfrm>
            <a:off x="465137" y="4759568"/>
            <a:ext cx="4884945" cy="1260231"/>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lstStyle>
            <a:lvl1pPr>
              <a:buNone/>
              <a:defRPr sz="3200" b="1">
                <a:solidFill>
                  <a:schemeClr val="bg1"/>
                </a:solidFill>
              </a:defRPr>
            </a:lvl1pPr>
          </a:lstStyle>
          <a:p>
            <a:r>
              <a:t>Divider title goes up to three lines lorem ipsum dolor tatem voluptis</a:t>
            </a:r>
          </a:p>
        </p:txBody>
      </p:sp>
      <p:pic>
        <p:nvPicPr>
          <p:cNvPr id="16" name="Picture 7"/>
          <p:cNvPicPr>
            <a:picLocks noChangeAspect="1"/>
          </p:cNvPicPr>
          <p:nvPr/>
        </p:nvPicPr>
        <p:blipFill>
          <a:blip r:embed="rId3"/>
          <a:srcRect/>
          <a:stretch/>
        </p:blipFill>
        <p:spPr>
          <a:xfrm>
            <a:off x="460378" y="6325375"/>
            <a:ext cx="1457322"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r>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95CBE2C9-5A5E-773A-E96D-1C621C1DE593}"/>
              </a:ext>
            </a:extLst>
          </p:cNvPr>
          <p:cNvSpPr>
            <a:spLocks noGrp="1"/>
          </p:cNvSpPr>
          <p:nvPr/>
        </p:nvSpPr>
        <p:spPr>
          <a:xfrm>
            <a:off x="296562" y="2533135"/>
            <a:ext cx="1621139" cy="197708"/>
          </a:xfrm>
          <a:prstGeom prst="rect">
            <a:avLst/>
          </a:prstGeom>
          <a:solidFill>
            <a:schemeClr val="tx1"/>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fld id="{63DCA5C9-2E11-4C67-86EB-AE1DE127DC64}" type="slidenum">
              <a:rPr/>
              <a:t>‹#›</a:t>
            </a:fld>
            <a:endParaRPr/>
          </a:p>
        </p:txBody>
      </p:sp>
      <p:sp>
        <p:nvSpPr>
          <p:cNvPr id="6" name="Text Placeholder 9">
            <a:extLst>
              <a:ext uri="{FF2B5EF4-FFF2-40B4-BE49-F238E27FC236}">
                <a16:creationId xmlns:a16="http://schemas.microsoft.com/office/drawing/2014/main" id="{EF039B7C-D581-90C0-FE95-E79986FE71E8}"/>
              </a:ext>
            </a:extLst>
          </p:cNvPr>
          <p:cNvSpPr>
            <a:spLocks noGrp="1"/>
          </p:cNvSpPr>
          <p:nvPr>
            <p:ph type="body" idx="26" hasCustomPrompt="1"/>
          </p:nvPr>
        </p:nvSpPr>
        <p:spPr>
          <a:xfrm flipH="1" flipV="1">
            <a:off x="364794" y="2519917"/>
            <a:ext cx="1381456" cy="192234"/>
          </a:xfrm>
          <a:prstGeom prst="rect">
            <a:avLst/>
          </a:prstGeom>
          <a:blipFill rotWithShape="0">
            <a:blip r:embed="rId4"/>
            <a:srcRect/>
            <a:stretch>
              <a:fillRect t="20350"/>
            </a:stretch>
          </a:blipFill>
        </p:spPr>
        <p:txBody>
          <a:bodyPr/>
          <a:lstStyle>
            <a:lvl1pPr>
              <a:buNone/>
              <a:defRPr sz="2800" b="0" i="0"/>
            </a:lvl1pPr>
          </a:lstStyle>
          <a:p>
            <a:pPr lvl="0">
              <a:buNone/>
            </a:pPr>
            <a:r>
              <a:t> </a:t>
            </a: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idx="23" hasCustomPrompt="1"/>
          </p:nvPr>
        </p:nvSpPr>
        <p:spPr>
          <a:xfrm>
            <a:off x="465137" y="1412875"/>
            <a:ext cx="7434263" cy="1219200"/>
          </a:xfrm>
          <a:prstGeom prst="rect">
            <a:avLst/>
          </a:prstGeom>
        </p:spPr>
        <p:txBody>
          <a:bodyPr tIns="0" rIns="0" bIns="0" anchor="b"/>
          <a:lstStyle>
            <a:lvl1pPr>
              <a:spcAft>
                <a:spcPts val="0"/>
              </a:spcAft>
              <a:buFontTx/>
              <a:buNone/>
              <a:defRPr sz="7200" b="1" i="0" cap="none" baseline="0">
                <a:solidFill>
                  <a:schemeClr val="bg1"/>
                </a:solidFill>
                <a:latin typeface="+mn-lt"/>
                <a:ea typeface="+mn-lt"/>
                <a:cs typeface="+mn-lt"/>
              </a:defRPr>
            </a:lvl1pPr>
            <a:lvl2pPr>
              <a:spcAft>
                <a:spcPts val="0"/>
              </a:spcAft>
              <a:buFontTx/>
              <a:buNone/>
              <a:defRPr sz="7200" b="1" i="0" cap="none" baseline="0">
                <a:solidFill>
                  <a:schemeClr val="bg1"/>
                </a:solidFill>
                <a:latin typeface="+mj-lt"/>
                <a:ea typeface="+mj-lt"/>
                <a:cs typeface="+mj-lt"/>
              </a:defRPr>
            </a:lvl2pPr>
            <a:lvl3pPr marL="0" indent="0">
              <a:spcAft>
                <a:spcPts val="0"/>
              </a:spcAft>
              <a:buFontTx/>
              <a:buNone/>
              <a:defRPr sz="7200" b="1" i="0" cap="none" baseline="0">
                <a:solidFill>
                  <a:schemeClr val="bg1"/>
                </a:solidFill>
                <a:latin typeface="+mj-lt"/>
                <a:ea typeface="+mj-lt"/>
                <a:cs typeface="+mj-lt"/>
              </a:defRPr>
            </a:lvl3pPr>
            <a:lvl4pPr marL="0" indent="0">
              <a:spcAft>
                <a:spcPts val="0"/>
              </a:spcAft>
              <a:buFontTx/>
              <a:buNone/>
              <a:defRPr sz="7200" b="1" i="0" cap="none" baseline="0">
                <a:solidFill>
                  <a:schemeClr val="bg1"/>
                </a:solidFill>
                <a:latin typeface="+mj-lt"/>
                <a:ea typeface="+mj-lt"/>
                <a:cs typeface="+mj-lt"/>
              </a:defRPr>
            </a:lvl4pPr>
            <a:lvl5pPr marL="0" indent="0">
              <a:spcAft>
                <a:spcPts val="0"/>
              </a:spcAft>
              <a:buFontTx/>
              <a:buNone/>
              <a:defRPr sz="7200" b="1" i="0" cap="none" baseline="0">
                <a:solidFill>
                  <a:schemeClr val="bg1"/>
                </a:solidFill>
                <a:latin typeface="+mn-lt"/>
                <a:ea typeface="+mn-lt"/>
                <a:cs typeface="+mn-lt"/>
              </a:defRPr>
            </a:lvl5pPr>
            <a:lvl6pPr marL="0" indent="0">
              <a:spcAft>
                <a:spcPts val="0"/>
              </a:spcAft>
              <a:buFontTx/>
              <a:buNone/>
              <a:defRPr sz="7200" b="1" i="0" cap="none" baseline="0">
                <a:solidFill>
                  <a:schemeClr val="bg1"/>
                </a:solidFill>
                <a:latin typeface="+mn-lt"/>
                <a:ea typeface="+mn-lt"/>
                <a:cs typeface="+mn-lt"/>
              </a:defRPr>
            </a:lvl6pPr>
            <a:lvl7pPr marL="0" indent="0">
              <a:spcAft>
                <a:spcPts val="0"/>
              </a:spcAft>
              <a:buFontTx/>
              <a:buNone/>
              <a:defRPr sz="7200" b="1" i="0" cap="none" baseline="0">
                <a:solidFill>
                  <a:schemeClr val="bg1"/>
                </a:solidFill>
                <a:latin typeface="+mn-lt"/>
                <a:ea typeface="+mn-lt"/>
                <a:cs typeface="+mn-lt"/>
              </a:defRPr>
            </a:lvl7pPr>
            <a:lvl8pPr marL="0" indent="0">
              <a:spcAft>
                <a:spcPts val="0"/>
              </a:spcAft>
              <a:buFontTx/>
              <a:buNone/>
              <a:defRPr sz="7200" b="1" i="0" cap="none" baseline="0">
                <a:solidFill>
                  <a:schemeClr val="bg1"/>
                </a:solidFill>
                <a:latin typeface="+mn-lt"/>
                <a:ea typeface="+mn-lt"/>
                <a:cs typeface="+mn-lt"/>
              </a:defRPr>
            </a:lvl8pPr>
            <a:lvl9pPr marL="0" indent="0">
              <a:spcAft>
                <a:spcPts val="0"/>
              </a:spcAft>
              <a:buFontTx/>
              <a:buNone/>
              <a:defRPr sz="7200" b="1" i="0" cap="none" baseline="0">
                <a:solidFill>
                  <a:schemeClr val="bg1"/>
                </a:solidFill>
                <a:latin typeface="+mn-lt"/>
                <a:ea typeface="+mn-lt"/>
                <a:cs typeface="+mn-lt"/>
              </a:defRPr>
            </a:lvl9pPr>
          </a:lstStyle>
          <a:p>
            <a:pPr lvl="0">
              <a:buNone/>
            </a:pPr>
            <a:r>
              <a:t>00</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tx2"/>
        </a:solidFill>
        <a:effectLst/>
      </p:bgPr>
    </p:bg>
    <p:spTree>
      <p:nvGrpSpPr>
        <p:cNvPr id="1" name=""/>
        <p:cNvGrpSpPr/>
        <p:nvPr/>
      </p:nvGrpSpPr>
      <p:grpSpPr>
        <a:xfrm>
          <a:off x="0" y="0"/>
          <a:ext cx="0" cy="0"/>
          <a:chOff x="0" y="0"/>
          <a:chExt cx="0" cy="0"/>
        </a:xfrm>
      </p:grpSpPr>
      <p:pic>
        <p:nvPicPr>
          <p:cNvPr id="21" name="Picture 5"/>
          <p:cNvPicPr>
            <a:picLocks noChangeAspect="1"/>
          </p:cNvPicPr>
          <p:nvPr/>
        </p:nvPicPr>
        <p:blipFill>
          <a:blip r:embed="rId2"/>
          <a:srcRect/>
          <a:stretch/>
        </p:blipFill>
        <p:spPr>
          <a:xfrm>
            <a:off x="460378" y="6325375"/>
            <a:ext cx="1457322" cy="305021"/>
          </a:xfrm>
          <a:prstGeom prst="rect">
            <a:avLst/>
          </a:prstGeom>
        </p:spPr>
      </p:pic>
      <p:pic>
        <p:nvPicPr>
          <p:cNvPr id="22" name="Graphic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14" name="Text Placeholder 15">
            <a:extLst>
              <a:ext uri="{FF2B5EF4-FFF2-40B4-BE49-F238E27FC236}">
                <a16:creationId xmlns:a16="http://schemas.microsoft.com/office/drawing/2014/main" id="{91349BA5-E5D7-8838-7AD9-8CD40C540304}"/>
              </a:ext>
            </a:extLst>
          </p:cNvPr>
          <p:cNvSpPr>
            <a:spLocks noGrp="1"/>
          </p:cNvSpPr>
          <p:nvPr>
            <p:ph type="body" idx="19" hasCustomPrompt="1"/>
          </p:nvPr>
        </p:nvSpPr>
        <p:spPr>
          <a:xfrm>
            <a:off x="465137" y="4759568"/>
            <a:ext cx="4884945" cy="1260231"/>
          </a:xfrm>
          <a:prstGeom prst="rect">
            <a:avLst/>
          </a:prstGeom>
        </p:spPr>
        <p:txBody>
          <a:bodyPr tIns="91440" rIns="0" bIns="0" anchor="t"/>
          <a:lstStyle>
            <a:lvl1pPr>
              <a:spcAft>
                <a:spcPts val="0"/>
              </a:spcAft>
              <a:buFontTx/>
              <a:buNone/>
              <a:defRPr sz="1500" b="1" i="0" cap="none" baseline="0">
                <a:solidFill>
                  <a:schemeClr val="bg1"/>
                </a:solidFill>
                <a:latin typeface="+mn-lt"/>
                <a:ea typeface="+mn-lt"/>
                <a:cs typeface="+mn-lt"/>
              </a:defRPr>
            </a:lvl1pPr>
            <a:lvl2pPr>
              <a:spcAft>
                <a:spcPts val="0"/>
              </a:spcAft>
              <a:buFontTx/>
              <a:buNone/>
              <a:defRPr sz="1600" b="1" i="0" cap="none" baseline="0">
                <a:solidFill>
                  <a:schemeClr val="bg1"/>
                </a:solidFill>
                <a:latin typeface="+mj-lt"/>
                <a:ea typeface="+mj-lt"/>
                <a:cs typeface="+mj-lt"/>
              </a:defRPr>
            </a:lvl2pPr>
            <a:lvl3pPr marL="0" indent="0">
              <a:spcAft>
                <a:spcPts val="0"/>
              </a:spcAft>
              <a:buFontTx/>
              <a:buNone/>
              <a:defRPr sz="1600" b="1" i="0" cap="none" baseline="0">
                <a:solidFill>
                  <a:schemeClr val="bg1"/>
                </a:solidFill>
                <a:latin typeface="+mj-lt"/>
                <a:ea typeface="+mj-lt"/>
                <a:cs typeface="+mj-lt"/>
              </a:defRPr>
            </a:lvl3pPr>
            <a:lvl4pPr marL="0" indent="0">
              <a:spcAft>
                <a:spcPts val="0"/>
              </a:spcAft>
              <a:buFontTx/>
              <a:buNone/>
              <a:defRPr sz="1600" b="1" i="0" cap="none" baseline="0">
                <a:solidFill>
                  <a:schemeClr val="bg1"/>
                </a:solidFill>
                <a:latin typeface="+mj-lt"/>
                <a:ea typeface="+mj-lt"/>
                <a:cs typeface="+mj-lt"/>
              </a:defRPr>
            </a:lvl4pPr>
            <a:lvl5pPr marL="0" indent="0">
              <a:spcAft>
                <a:spcPts val="0"/>
              </a:spcAft>
              <a:buFontTx/>
              <a:buNone/>
              <a:defRPr sz="1600" b="1" i="0" cap="none" baseline="0">
                <a:solidFill>
                  <a:schemeClr val="bg1"/>
                </a:solidFill>
                <a:latin typeface="+mn-lt"/>
                <a:ea typeface="+mn-lt"/>
                <a:cs typeface="+mn-lt"/>
              </a:defRPr>
            </a:lvl5pPr>
            <a:lvl6pPr marL="0" indent="0">
              <a:spcAft>
                <a:spcPts val="0"/>
              </a:spcAft>
              <a:buFontTx/>
              <a:buNone/>
              <a:defRPr sz="1600" b="1" i="0" cap="none" baseline="0">
                <a:solidFill>
                  <a:schemeClr val="bg1"/>
                </a:solidFill>
                <a:latin typeface="+mn-lt"/>
                <a:ea typeface="+mn-lt"/>
                <a:cs typeface="+mn-lt"/>
              </a:defRPr>
            </a:lvl6pPr>
            <a:lvl7pPr marL="0" indent="0">
              <a:spcAft>
                <a:spcPts val="0"/>
              </a:spcAft>
              <a:buFontTx/>
              <a:buNone/>
              <a:defRPr sz="1600" b="1" i="0" cap="none" baseline="0">
                <a:solidFill>
                  <a:schemeClr val="bg1"/>
                </a:solidFill>
                <a:latin typeface="+mn-lt"/>
                <a:ea typeface="+mn-lt"/>
                <a:cs typeface="+mn-lt"/>
              </a:defRPr>
            </a:lvl7pPr>
            <a:lvl8pPr marL="0" indent="0">
              <a:spcAft>
                <a:spcPts val="0"/>
              </a:spcAft>
              <a:buFontTx/>
              <a:buNone/>
              <a:defRPr sz="1600" b="1" i="0" cap="none" baseline="0">
                <a:solidFill>
                  <a:schemeClr val="bg1"/>
                </a:solidFill>
                <a:latin typeface="+mn-lt"/>
                <a:ea typeface="+mn-lt"/>
                <a:cs typeface="+mn-lt"/>
              </a:defRPr>
            </a:lvl8pPr>
            <a:lvl9pPr marL="0" indent="0">
              <a:spcAft>
                <a:spcPts val="0"/>
              </a:spcAft>
              <a:buFontTx/>
              <a:buNone/>
              <a:defRPr sz="1600" b="1" i="0" cap="none" baseline="0">
                <a:solidFill>
                  <a:schemeClr val="bg1"/>
                </a:solidFill>
                <a:latin typeface="+mn-lt"/>
                <a:ea typeface="+mn-lt"/>
                <a:cs typeface="+mn-lt"/>
              </a:defRPr>
            </a:lvl9pPr>
          </a:lstStyle>
          <a:p>
            <a:pPr lvl="0">
              <a:buNone/>
            </a:pPr>
            <a:r>
              <a:t>Subhead</a:t>
            </a:r>
          </a:p>
        </p:txBody>
      </p:sp>
      <p:sp>
        <p:nvSpPr>
          <p:cNvPr id="15" name="Title 1">
            <a:extLst>
              <a:ext uri="{FF2B5EF4-FFF2-40B4-BE49-F238E27FC236}">
                <a16:creationId xmlns:a16="http://schemas.microsoft.com/office/drawing/2014/main" id="{08D77ED4-A2DF-F309-9245-4D540E2DBEC0}"/>
              </a:ext>
            </a:extLst>
          </p:cNvPr>
          <p:cNvSpPr>
            <a:spLocks noGrp="1"/>
          </p:cNvSpPr>
          <p:nvPr>
            <p:ph type="title" hasCustomPrompt="1"/>
          </p:nvPr>
        </p:nvSpPr>
        <p:spPr>
          <a:xfrm>
            <a:off x="460376" y="2860430"/>
            <a:ext cx="7439024" cy="1582615"/>
          </a:xfrm>
          <a:prstGeom prst="rect">
            <a:avLst/>
          </a:prstGeom>
        </p:spPr>
        <p:txBody>
          <a:bodyPr anchor="b"/>
          <a:lstStyle>
            <a:lvl1pPr>
              <a:buNone/>
              <a:defRPr sz="3200" b="1">
                <a:solidFill>
                  <a:schemeClr val="bg1"/>
                </a:solidFill>
              </a:defRPr>
            </a:lvl1pPr>
          </a:lstStyle>
          <a:p>
            <a:r>
              <a:t>Divider title goes up to three lines lorem ipsum dolor tatem voluptis</a:t>
            </a:r>
          </a:p>
        </p:txBody>
      </p:sp>
      <p:sp>
        <p:nvSpPr>
          <p:cNvPr id="17" name="Footer Placeholder 8">
            <a:extLst>
              <a:ext uri="{FF2B5EF4-FFF2-40B4-BE49-F238E27FC236}">
                <a16:creationId xmlns:a16="http://schemas.microsoft.com/office/drawing/2014/main" id="{0AE61501-EDB9-8CAF-0EF0-22A64141B31D}"/>
              </a:ext>
            </a:extLst>
          </p:cNvPr>
          <p:cNvSpPr>
            <a:spLocks noGrp="1"/>
          </p:cNvSpPr>
          <p:nvPr>
            <p:ph type="ftr" idx="24"/>
          </p:nvPr>
        </p:nvSpPr>
        <p:spPr>
          <a:xfrm>
            <a:off x="4321019" y="6400798"/>
            <a:ext cx="7102834" cy="167949"/>
          </a:xfrm>
        </p:spPr>
        <p:txBody>
          <a:bodyPr/>
          <a:lstStyle>
            <a:lvl1pPr>
              <a:buNone/>
              <a:defRPr b="0" i="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r>
              <a:t>© 2026 West Monroe Partners | Reproduction and/or distribution without West Monroe Partners’ prior consent is prohibited.</a:t>
            </a:r>
          </a:p>
        </p:txBody>
      </p:sp>
      <p:sp>
        <p:nvSpPr>
          <p:cNvPr id="2" name="Rectangle 1">
            <a:extLst>
              <a:ext uri="{FF2B5EF4-FFF2-40B4-BE49-F238E27FC236}">
                <a16:creationId xmlns:a16="http://schemas.microsoft.com/office/drawing/2014/main" id="{B549349A-74DC-0FF5-41EC-9D501D64B9B5}"/>
              </a:ext>
            </a:extLst>
          </p:cNvPr>
          <p:cNvSpPr>
            <a:spLocks noGrp="1"/>
          </p:cNvSpPr>
          <p:nvPr/>
        </p:nvSpPr>
        <p:spPr>
          <a:xfrm>
            <a:off x="296562" y="2533135"/>
            <a:ext cx="1621139" cy="197708"/>
          </a:xfrm>
          <a:prstGeom prst="rect">
            <a:avLst/>
          </a:prstGeom>
          <a:solidFill>
            <a:schemeClr val="tx2"/>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18" name="Slide Number Placeholder 9">
            <a:extLst>
              <a:ext uri="{FF2B5EF4-FFF2-40B4-BE49-F238E27FC236}">
                <a16:creationId xmlns:a16="http://schemas.microsoft.com/office/drawing/2014/main" id="{8D3971E5-0157-0707-6BDF-E2F60F632232}"/>
              </a:ext>
            </a:extLst>
          </p:cNvPr>
          <p:cNvSpPr>
            <a:spLocks noGrp="1"/>
          </p:cNvSpPr>
          <p:nvPr>
            <p:ph type="sldNum" idx="25"/>
          </p:nvPr>
        </p:nvSpPr>
        <p:spPr>
          <a:xfrm>
            <a:off x="11509578" y="6400799"/>
            <a:ext cx="218871" cy="167949"/>
          </a:xfrm>
        </p:spPr>
        <p:txBody>
          <a:bodyPr/>
          <a:lstStyle>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fld id="{63DCA5C9-2E11-4C67-86EB-AE1DE127DC64}" type="slidenum">
              <a:rPr/>
              <a:t>‹#›</a:t>
            </a:fld>
            <a:endParaRPr/>
          </a:p>
        </p:txBody>
      </p:sp>
      <p:sp>
        <p:nvSpPr>
          <p:cNvPr id="16" name="Text Placeholder 15">
            <a:extLst>
              <a:ext uri="{FF2B5EF4-FFF2-40B4-BE49-F238E27FC236}">
                <a16:creationId xmlns:a16="http://schemas.microsoft.com/office/drawing/2014/main" id="{AD2D5AC6-08C3-1A7C-4E2C-A1DF593E06DA}"/>
              </a:ext>
            </a:extLst>
          </p:cNvPr>
          <p:cNvSpPr>
            <a:spLocks noGrp="1"/>
          </p:cNvSpPr>
          <p:nvPr>
            <p:ph type="body" idx="23" hasCustomPrompt="1"/>
          </p:nvPr>
        </p:nvSpPr>
        <p:spPr>
          <a:xfrm>
            <a:off x="465137" y="1412875"/>
            <a:ext cx="7434263" cy="1219200"/>
          </a:xfrm>
          <a:prstGeom prst="rect">
            <a:avLst/>
          </a:prstGeom>
        </p:spPr>
        <p:txBody>
          <a:bodyPr tIns="0" rIns="0" bIns="0" anchor="b"/>
          <a:lstStyle>
            <a:lvl1pPr>
              <a:spcAft>
                <a:spcPts val="0"/>
              </a:spcAft>
              <a:buFontTx/>
              <a:buNone/>
              <a:defRPr sz="7200" b="1" i="0" cap="none" baseline="0">
                <a:solidFill>
                  <a:schemeClr val="bg1"/>
                </a:solidFill>
                <a:latin typeface="+mn-lt"/>
                <a:ea typeface="+mn-lt"/>
                <a:cs typeface="+mn-lt"/>
              </a:defRPr>
            </a:lvl1pPr>
            <a:lvl2pPr>
              <a:spcAft>
                <a:spcPts val="0"/>
              </a:spcAft>
              <a:buFontTx/>
              <a:buNone/>
              <a:defRPr sz="7200" b="1" i="0" cap="none" baseline="0">
                <a:solidFill>
                  <a:schemeClr val="bg1"/>
                </a:solidFill>
                <a:latin typeface="+mj-lt"/>
                <a:ea typeface="+mj-lt"/>
                <a:cs typeface="+mj-lt"/>
              </a:defRPr>
            </a:lvl2pPr>
            <a:lvl3pPr marL="0" indent="0">
              <a:spcAft>
                <a:spcPts val="0"/>
              </a:spcAft>
              <a:buFontTx/>
              <a:buNone/>
              <a:defRPr sz="7200" b="1" i="0" cap="none" baseline="0">
                <a:solidFill>
                  <a:schemeClr val="bg1"/>
                </a:solidFill>
                <a:latin typeface="+mj-lt"/>
                <a:ea typeface="+mj-lt"/>
                <a:cs typeface="+mj-lt"/>
              </a:defRPr>
            </a:lvl3pPr>
            <a:lvl4pPr marL="0" indent="0">
              <a:spcAft>
                <a:spcPts val="0"/>
              </a:spcAft>
              <a:buFontTx/>
              <a:buNone/>
              <a:defRPr sz="7200" b="1" i="0" cap="none" baseline="0">
                <a:solidFill>
                  <a:schemeClr val="bg1"/>
                </a:solidFill>
                <a:latin typeface="+mj-lt"/>
                <a:ea typeface="+mj-lt"/>
                <a:cs typeface="+mj-lt"/>
              </a:defRPr>
            </a:lvl4pPr>
            <a:lvl5pPr marL="0" indent="0">
              <a:spcAft>
                <a:spcPts val="0"/>
              </a:spcAft>
              <a:buFontTx/>
              <a:buNone/>
              <a:defRPr sz="7200" b="1" i="0" cap="none" baseline="0">
                <a:solidFill>
                  <a:schemeClr val="bg1"/>
                </a:solidFill>
                <a:latin typeface="+mn-lt"/>
                <a:ea typeface="+mn-lt"/>
                <a:cs typeface="+mn-lt"/>
              </a:defRPr>
            </a:lvl5pPr>
            <a:lvl6pPr marL="0" indent="0">
              <a:spcAft>
                <a:spcPts val="0"/>
              </a:spcAft>
              <a:buFontTx/>
              <a:buNone/>
              <a:defRPr sz="7200" b="1" i="0" cap="none" baseline="0">
                <a:solidFill>
                  <a:schemeClr val="bg1"/>
                </a:solidFill>
                <a:latin typeface="+mn-lt"/>
                <a:ea typeface="+mn-lt"/>
                <a:cs typeface="+mn-lt"/>
              </a:defRPr>
            </a:lvl6pPr>
            <a:lvl7pPr marL="0" indent="0">
              <a:spcAft>
                <a:spcPts val="0"/>
              </a:spcAft>
              <a:buFontTx/>
              <a:buNone/>
              <a:defRPr sz="7200" b="1" i="0" cap="none" baseline="0">
                <a:solidFill>
                  <a:schemeClr val="bg1"/>
                </a:solidFill>
                <a:latin typeface="+mn-lt"/>
                <a:ea typeface="+mn-lt"/>
                <a:cs typeface="+mn-lt"/>
              </a:defRPr>
            </a:lvl7pPr>
            <a:lvl8pPr marL="0" indent="0">
              <a:spcAft>
                <a:spcPts val="0"/>
              </a:spcAft>
              <a:buFontTx/>
              <a:buNone/>
              <a:defRPr sz="7200" b="1" i="0" cap="none" baseline="0">
                <a:solidFill>
                  <a:schemeClr val="bg1"/>
                </a:solidFill>
                <a:latin typeface="+mn-lt"/>
                <a:ea typeface="+mn-lt"/>
                <a:cs typeface="+mn-lt"/>
              </a:defRPr>
            </a:lvl8pPr>
            <a:lvl9pPr marL="0" indent="0">
              <a:spcAft>
                <a:spcPts val="0"/>
              </a:spcAft>
              <a:buFontTx/>
              <a:buNone/>
              <a:defRPr sz="7200" b="1" i="0" cap="none" baseline="0">
                <a:solidFill>
                  <a:schemeClr val="bg1"/>
                </a:solidFill>
                <a:latin typeface="+mn-lt"/>
                <a:ea typeface="+mn-lt"/>
                <a:cs typeface="+mn-lt"/>
              </a:defRPr>
            </a:lvl9pPr>
          </a:lstStyle>
          <a:p>
            <a:pPr lvl="0">
              <a:buNone/>
            </a:pPr>
            <a:r>
              <a:t>00</a:t>
            </a:r>
          </a:p>
        </p:txBody>
      </p:sp>
      <p:sp>
        <p:nvSpPr>
          <p:cNvPr id="3" name="Text Placeholder 9">
            <a:extLst>
              <a:ext uri="{FF2B5EF4-FFF2-40B4-BE49-F238E27FC236}">
                <a16:creationId xmlns:a16="http://schemas.microsoft.com/office/drawing/2014/main" id="{8F05334E-78D6-1BA6-A09B-6F37EB4BC5FC}"/>
              </a:ext>
            </a:extLst>
          </p:cNvPr>
          <p:cNvSpPr>
            <a:spLocks noGrp="1"/>
          </p:cNvSpPr>
          <p:nvPr>
            <p:ph type="body" idx="26" hasCustomPrompt="1"/>
          </p:nvPr>
        </p:nvSpPr>
        <p:spPr>
          <a:xfrm flipH="1" flipV="1">
            <a:off x="364794" y="2519917"/>
            <a:ext cx="1381456" cy="192234"/>
          </a:xfrm>
          <a:prstGeom prst="rect">
            <a:avLst/>
          </a:prstGeom>
          <a:blipFill rotWithShape="0">
            <a:blip r:embed="rId4"/>
            <a:srcRect/>
            <a:stretch>
              <a:fillRect t="20350"/>
            </a:stretch>
          </a:blipFill>
        </p:spPr>
        <p:txBody>
          <a:bodyPr/>
          <a:lstStyle>
            <a:lvl1pPr>
              <a:buNone/>
              <a:defRPr sz="2800" b="0" i="0"/>
            </a:lvl1pPr>
          </a:lstStyle>
          <a:p>
            <a:pPr lvl="0">
              <a:buNone/>
            </a:pPr>
            <a:r>
              <a:t> </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3"/>
        </a:solidFill>
        <a:effectLst/>
      </p:bgPr>
    </p:bg>
    <p:spTree>
      <p:nvGrpSpPr>
        <p:cNvPr id="1" name=""/>
        <p:cNvGrpSpPr/>
        <p:nvPr/>
      </p:nvGrpSpPr>
      <p:grpSpPr>
        <a:xfrm>
          <a:off x="0" y="0"/>
          <a:ext cx="0" cy="0"/>
          <a:chOff x="0" y="0"/>
          <a:chExt cx="0" cy="0"/>
        </a:xfrm>
      </p:grpSpPr>
      <p:pic>
        <p:nvPicPr>
          <p:cNvPr id="16" name="Graphic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idx="19" hasCustomPrompt="1"/>
          </p:nvPr>
        </p:nvSpPr>
        <p:spPr>
          <a:xfrm>
            <a:off x="465137" y="4759568"/>
            <a:ext cx="4884945" cy="1260231"/>
          </a:xfrm>
          <a:prstGeom prst="rect">
            <a:avLst/>
          </a:prstGeom>
        </p:spPr>
        <p:txBody>
          <a:bodyPr tIns="91440" rIns="0" bIns="0" anchor="t"/>
          <a:lstStyle>
            <a:lvl1pPr>
              <a:spcAft>
                <a:spcPts val="0"/>
              </a:spcAft>
              <a:buFontTx/>
              <a:buNone/>
              <a:defRPr sz="1500" b="1" i="0" cap="none" baseline="0">
                <a:solidFill>
                  <a:schemeClr val="tx1"/>
                </a:solidFill>
                <a:latin typeface="+mn-lt"/>
                <a:ea typeface="+mn-lt"/>
                <a:cs typeface="+mn-lt"/>
              </a:defRPr>
            </a:lvl1pPr>
            <a:lvl2pPr>
              <a:spcAft>
                <a:spcPts val="0"/>
              </a:spcAft>
              <a:buFontTx/>
              <a:buNone/>
              <a:defRPr sz="1600" b="1" i="0" cap="none" baseline="0">
                <a:solidFill>
                  <a:schemeClr val="tx1"/>
                </a:solidFill>
                <a:latin typeface="+mj-lt"/>
                <a:ea typeface="+mj-lt"/>
                <a:cs typeface="+mj-lt"/>
              </a:defRPr>
            </a:lvl2pPr>
            <a:lvl3pPr marL="0" indent="0">
              <a:spcAft>
                <a:spcPts val="0"/>
              </a:spcAft>
              <a:buFontTx/>
              <a:buNone/>
              <a:defRPr sz="1600" b="1" i="0" cap="none" baseline="0">
                <a:solidFill>
                  <a:schemeClr val="tx1"/>
                </a:solidFill>
                <a:latin typeface="+mj-lt"/>
                <a:ea typeface="+mj-lt"/>
                <a:cs typeface="+mj-lt"/>
              </a:defRPr>
            </a:lvl3pPr>
            <a:lvl4pPr marL="0" indent="0">
              <a:spcAft>
                <a:spcPts val="0"/>
              </a:spcAft>
              <a:buFontTx/>
              <a:buNone/>
              <a:defRPr sz="1600" b="1" i="0" cap="none" baseline="0">
                <a:solidFill>
                  <a:schemeClr val="tx1"/>
                </a:solidFill>
                <a:latin typeface="+mj-lt"/>
                <a:ea typeface="+mj-lt"/>
                <a:cs typeface="+mj-lt"/>
              </a:defRPr>
            </a:lvl4pPr>
            <a:lvl5pPr marL="0" indent="0">
              <a:spcAft>
                <a:spcPts val="0"/>
              </a:spcAft>
              <a:buFontTx/>
              <a:buNone/>
              <a:defRPr sz="1600" b="1" i="0" cap="none" baseline="0">
                <a:solidFill>
                  <a:schemeClr val="tx1"/>
                </a:solidFill>
                <a:latin typeface="+mn-lt"/>
                <a:ea typeface="+mn-lt"/>
                <a:cs typeface="+mn-lt"/>
              </a:defRPr>
            </a:lvl5pPr>
            <a:lvl6pPr marL="0" indent="0">
              <a:spcAft>
                <a:spcPts val="0"/>
              </a:spcAft>
              <a:buFontTx/>
              <a:buNone/>
              <a:defRPr sz="1600" b="1" i="0" cap="none" baseline="0">
                <a:solidFill>
                  <a:schemeClr val="tx1"/>
                </a:solidFill>
                <a:latin typeface="+mn-lt"/>
                <a:ea typeface="+mn-lt"/>
                <a:cs typeface="+mn-lt"/>
              </a:defRPr>
            </a:lvl6pPr>
            <a:lvl7pPr marL="0" indent="0">
              <a:spcAft>
                <a:spcPts val="0"/>
              </a:spcAft>
              <a:buFontTx/>
              <a:buNone/>
              <a:defRPr sz="1600" b="1" i="0" cap="none" baseline="0">
                <a:solidFill>
                  <a:schemeClr val="tx1"/>
                </a:solidFill>
                <a:latin typeface="+mn-lt"/>
                <a:ea typeface="+mn-lt"/>
                <a:cs typeface="+mn-lt"/>
              </a:defRPr>
            </a:lvl7pPr>
            <a:lvl8pPr marL="0" indent="0">
              <a:spcAft>
                <a:spcPts val="0"/>
              </a:spcAft>
              <a:buFontTx/>
              <a:buNone/>
              <a:defRPr sz="1600" b="1" i="0" cap="none" baseline="0">
                <a:solidFill>
                  <a:schemeClr val="tx1"/>
                </a:solidFill>
                <a:latin typeface="+mn-lt"/>
                <a:ea typeface="+mn-lt"/>
                <a:cs typeface="+mn-lt"/>
              </a:defRPr>
            </a:lvl8pPr>
            <a:lvl9pPr marL="0" indent="0">
              <a:spcAft>
                <a:spcPts val="0"/>
              </a:spcAft>
              <a:buFontTx/>
              <a:buNone/>
              <a:defRPr sz="1600" b="1" i="0" cap="none" baseline="0">
                <a:solidFill>
                  <a:schemeClr val="tx1"/>
                </a:solidFill>
                <a:latin typeface="+mn-lt"/>
                <a:ea typeface="+mn-lt"/>
                <a:cs typeface="+mn-lt"/>
              </a:defRPr>
            </a:lvl9pPr>
          </a:lstStyle>
          <a:p>
            <a:pPr lvl="0">
              <a:buNone/>
            </a:pPr>
            <a:r>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lstStyle>
            <a:lvl1pPr>
              <a:buNone/>
              <a:defRPr sz="3200" b="1">
                <a:solidFill>
                  <a:schemeClr val="tx1"/>
                </a:solidFill>
              </a:defRPr>
            </a:lvl1pPr>
          </a:lstStyle>
          <a:p>
            <a:r>
              <a:t>Divider title goes up to three lines lorem ipsum dolor tatem voluptis</a:t>
            </a:r>
          </a:p>
        </p:txBody>
      </p:sp>
      <p:pic>
        <p:nvPicPr>
          <p:cNvPr id="19" name="Picture 7"/>
          <p:cNvPicPr>
            <a:picLocks noChangeAspect="1"/>
          </p:cNvPicPr>
          <p:nvPr/>
        </p:nvPicPr>
        <p:blipFill>
          <a:blip r:embed="rId3"/>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4026A7AA-BD38-4791-4316-8DF767838FF4}"/>
              </a:ext>
            </a:extLst>
          </p:cNvPr>
          <p:cNvSpPr>
            <a:spLocks noGrp="1"/>
          </p:cNvSpPr>
          <p:nvPr/>
        </p:nvSpPr>
        <p:spPr>
          <a:xfrm>
            <a:off x="296562" y="2533135"/>
            <a:ext cx="1621139" cy="197708"/>
          </a:xfrm>
          <a:prstGeom prst="rect">
            <a:avLst/>
          </a:prstGeom>
          <a:solidFill>
            <a:schemeClr val="accent3"/>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p>
            <a:fld id="{63DCA5C9-2E11-4C67-86EB-AE1DE127DC64}" type="slidenum">
              <a:rPr/>
              <a:t>‹#›</a:t>
            </a:fld>
            <a:endParaRP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idx="23" hasCustomPrompt="1"/>
          </p:nvPr>
        </p:nvSpPr>
        <p:spPr>
          <a:xfrm>
            <a:off x="465137" y="1412875"/>
            <a:ext cx="7434263" cy="1219200"/>
          </a:xfrm>
          <a:prstGeom prst="rect">
            <a:avLst/>
          </a:prstGeom>
        </p:spPr>
        <p:txBody>
          <a:bodyPr tIns="0" rIns="0" bIns="0" anchor="b"/>
          <a:lstStyle>
            <a:lvl1pPr>
              <a:spcAft>
                <a:spcPts val="0"/>
              </a:spcAft>
              <a:buFontTx/>
              <a:buNone/>
              <a:defRPr sz="7200" b="1" i="0" cap="none" baseline="0">
                <a:solidFill>
                  <a:schemeClr val="tx1"/>
                </a:solidFill>
                <a:latin typeface="+mn-lt"/>
                <a:ea typeface="+mn-lt"/>
                <a:cs typeface="+mn-lt"/>
              </a:defRPr>
            </a:lvl1pPr>
            <a:lvl2pPr>
              <a:spcAft>
                <a:spcPts val="0"/>
              </a:spcAft>
              <a:buFontTx/>
              <a:buNone/>
              <a:defRPr sz="7200" b="1" i="0" cap="none" baseline="0">
                <a:solidFill>
                  <a:schemeClr val="tx1"/>
                </a:solidFill>
                <a:latin typeface="+mj-lt"/>
                <a:ea typeface="+mj-lt"/>
                <a:cs typeface="+mj-lt"/>
              </a:defRPr>
            </a:lvl2pPr>
            <a:lvl3pPr marL="0" indent="0">
              <a:spcAft>
                <a:spcPts val="0"/>
              </a:spcAft>
              <a:buFontTx/>
              <a:buNone/>
              <a:defRPr sz="7200" b="1" i="0" cap="none" baseline="0">
                <a:solidFill>
                  <a:schemeClr val="tx1"/>
                </a:solidFill>
                <a:latin typeface="+mj-lt"/>
                <a:ea typeface="+mj-lt"/>
                <a:cs typeface="+mj-lt"/>
              </a:defRPr>
            </a:lvl3pPr>
            <a:lvl4pPr marL="0" indent="0">
              <a:spcAft>
                <a:spcPts val="0"/>
              </a:spcAft>
              <a:buFontTx/>
              <a:buNone/>
              <a:defRPr sz="7200" b="1" i="0" cap="none" baseline="0">
                <a:solidFill>
                  <a:schemeClr val="tx1"/>
                </a:solidFill>
                <a:latin typeface="+mj-lt"/>
                <a:ea typeface="+mj-lt"/>
                <a:cs typeface="+mj-lt"/>
              </a:defRPr>
            </a:lvl4pPr>
            <a:lvl5pPr marL="0" indent="0">
              <a:spcAft>
                <a:spcPts val="0"/>
              </a:spcAft>
              <a:buFontTx/>
              <a:buNone/>
              <a:defRPr sz="7200" b="1" i="0" cap="none" baseline="0">
                <a:solidFill>
                  <a:schemeClr val="tx1"/>
                </a:solidFill>
                <a:latin typeface="+mn-lt"/>
                <a:ea typeface="+mn-lt"/>
                <a:cs typeface="+mn-lt"/>
              </a:defRPr>
            </a:lvl5pPr>
            <a:lvl6pPr marL="0" indent="0">
              <a:spcAft>
                <a:spcPts val="0"/>
              </a:spcAft>
              <a:buFontTx/>
              <a:buNone/>
              <a:defRPr sz="7200" b="1" i="0" cap="none" baseline="0">
                <a:solidFill>
                  <a:schemeClr val="tx1"/>
                </a:solidFill>
                <a:latin typeface="+mn-lt"/>
                <a:ea typeface="+mn-lt"/>
                <a:cs typeface="+mn-lt"/>
              </a:defRPr>
            </a:lvl6pPr>
            <a:lvl7pPr marL="0" indent="0">
              <a:spcAft>
                <a:spcPts val="0"/>
              </a:spcAft>
              <a:buFontTx/>
              <a:buNone/>
              <a:defRPr sz="7200" b="1" i="0" cap="none" baseline="0">
                <a:solidFill>
                  <a:schemeClr val="tx1"/>
                </a:solidFill>
                <a:latin typeface="+mn-lt"/>
                <a:ea typeface="+mn-lt"/>
                <a:cs typeface="+mn-lt"/>
              </a:defRPr>
            </a:lvl7pPr>
            <a:lvl8pPr marL="0" indent="0">
              <a:spcAft>
                <a:spcPts val="0"/>
              </a:spcAft>
              <a:buFontTx/>
              <a:buNone/>
              <a:defRPr sz="7200" b="1" i="0" cap="none" baseline="0">
                <a:solidFill>
                  <a:schemeClr val="tx1"/>
                </a:solidFill>
                <a:latin typeface="+mn-lt"/>
                <a:ea typeface="+mn-lt"/>
                <a:cs typeface="+mn-lt"/>
              </a:defRPr>
            </a:lvl8pPr>
            <a:lvl9pPr marL="0" indent="0">
              <a:spcAft>
                <a:spcPts val="0"/>
              </a:spcAft>
              <a:buFontTx/>
              <a:buNone/>
              <a:defRPr sz="7200" b="1" i="0" cap="none" baseline="0">
                <a:solidFill>
                  <a:schemeClr val="tx1"/>
                </a:solidFill>
                <a:latin typeface="+mn-lt"/>
                <a:ea typeface="+mn-lt"/>
                <a:cs typeface="+mn-lt"/>
              </a:defRPr>
            </a:lvl9pPr>
          </a:lstStyle>
          <a:p>
            <a:pPr lvl="0">
              <a:buNone/>
            </a:pPr>
            <a:r>
              <a:t>00</a:t>
            </a:r>
          </a:p>
        </p:txBody>
      </p:sp>
      <p:sp>
        <p:nvSpPr>
          <p:cNvPr id="13" name="Text Placeholder 9">
            <a:extLst>
              <a:ext uri="{FF2B5EF4-FFF2-40B4-BE49-F238E27FC236}">
                <a16:creationId xmlns:a16="http://schemas.microsoft.com/office/drawing/2014/main" id="{3B3FA78F-7164-1F04-B57D-BA7C3FDD53DC}"/>
              </a:ext>
            </a:extLst>
          </p:cNvPr>
          <p:cNvSpPr>
            <a:spLocks noGrp="1"/>
          </p:cNvSpPr>
          <p:nvPr>
            <p:ph type="body" idx="26" hasCustomPrompt="1"/>
          </p:nvPr>
        </p:nvSpPr>
        <p:spPr>
          <a:xfrm flipH="1" flipV="1">
            <a:off x="364794" y="2519917"/>
            <a:ext cx="1381456" cy="192234"/>
          </a:xfrm>
          <a:prstGeom prst="rect">
            <a:avLst/>
          </a:prstGeom>
          <a:blipFill rotWithShape="0">
            <a:blip r:embed="rId4"/>
            <a:srcRect/>
            <a:stretch>
              <a:fillRect t="-317465" b="-325807"/>
            </a:stretch>
          </a:blipFill>
        </p:spPr>
        <p:txBody>
          <a:bodyPr/>
          <a:lstStyle>
            <a:lvl1pPr>
              <a:buNone/>
              <a:defRPr sz="2800" b="0" i="0"/>
            </a:lvl1pPr>
          </a:lstStyle>
          <a:p>
            <a:pPr lvl="0">
              <a:buNone/>
            </a:pPr>
            <a:r>
              <a:t> </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ey_message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rPr/>
              <a:t>‹#›</a:t>
            </a:fld>
            <a:endParaRPr/>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idx="10" hasCustomPrompt="1"/>
          </p:nvPr>
        </p:nvSpPr>
        <p:spPr>
          <a:xfrm>
            <a:off x="460375" y="3550629"/>
            <a:ext cx="2190750" cy="2210410"/>
          </a:xfrm>
          <a:prstGeom prst="rect">
            <a:avLst/>
          </a:prstGeom>
          <a:solidFill>
            <a:schemeClr val="accent2">
              <a:lumMod val="40000"/>
              <a:lumOff val="60000"/>
            </a:schemeClr>
          </a:solidFill>
        </p:spPr>
        <p:txBody>
          <a:bodyPr tIns="640080"/>
          <a:lstStyle>
            <a:lvl1pPr algn="ctr">
              <a:buNone/>
              <a:defRPr b="0" i="0"/>
            </a:lvl1pPr>
          </a:lstStyle>
          <a:p>
            <a:r>
              <a:t>Picture</a:t>
            </a:r>
          </a:p>
        </p:txBody>
      </p:sp>
      <p:pic>
        <p:nvPicPr>
          <p:cNvPr id="15" name="Picture 2"/>
          <p:cNvPicPr>
            <a:picLocks noChangeAspect="1"/>
          </p:cNvPicPr>
          <p:nvPr/>
        </p:nvPicPr>
        <p:blipFill>
          <a:blip r:embed="rId3"/>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1655763"/>
            <a:ext cx="4889503" cy="1727489"/>
          </a:xfrm>
          <a:prstGeom prst="rect">
            <a:avLst/>
          </a:prstGeom>
        </p:spPr>
        <p:txBody>
          <a:bodyPr tIns="45720" anchor="t"/>
          <a:lstStyle>
            <a:lvl1pPr>
              <a:buNone/>
              <a:defRPr sz="2200">
                <a:solidFill>
                  <a:schemeClr val="tx1"/>
                </a:solidFill>
              </a:defRPr>
            </a:lvl1pPr>
          </a:lstStyle>
          <a:p>
            <a:r>
              <a:t>Key message up to four lines</a:t>
            </a:r>
          </a:p>
        </p:txBody>
      </p:sp>
      <p:sp>
        <p:nvSpPr>
          <p:cNvPr id="6" name="Text Placeholder 10">
            <a:extLst>
              <a:ext uri="{FF2B5EF4-FFF2-40B4-BE49-F238E27FC236}">
                <a16:creationId xmlns:a16="http://schemas.microsoft.com/office/drawing/2014/main" id="{0BC4C2C2-2752-910D-3A89-477FA608D615}"/>
              </a:ext>
            </a:extLst>
          </p:cNvPr>
          <p:cNvSpPr>
            <a:spLocks noGrp="1"/>
          </p:cNvSpPr>
          <p:nvPr>
            <p:ph type="body" idx="27"/>
          </p:nvPr>
        </p:nvSpPr>
        <p:spPr>
          <a:xfrm>
            <a:off x="5572125" y="1770063"/>
            <a:ext cx="6156324" cy="4249737"/>
          </a:xfrm>
          <a:prstGeom prst="rect">
            <a:avLst/>
          </a:prstGeom>
        </p:spPr>
        <p:txBody>
          <a:bodyPr tIns="0"/>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ext Placeholder 15">
            <a:extLst>
              <a:ext uri="{FF2B5EF4-FFF2-40B4-BE49-F238E27FC236}">
                <a16:creationId xmlns:a16="http://schemas.microsoft.com/office/drawing/2014/main" id="{66D47BD9-9D76-91EC-BFB6-6A3B1BD0C1DF}"/>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_message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rPr/>
              <a:t>‹#›</a:t>
            </a:fld>
            <a:endParaRPr/>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buNone/>
              <a:defRPr b="0" i="0"/>
            </a:lvl1pPr>
          </a:lstStyle>
          <a:p>
            <a:r>
              <a:t>Picture</a:t>
            </a:r>
          </a:p>
        </p:txBody>
      </p:sp>
      <p:pic>
        <p:nvPicPr>
          <p:cNvPr id="16" name="Picture 2"/>
          <p:cNvPicPr>
            <a:picLocks noChangeAspect="1"/>
          </p:cNvPicPr>
          <p:nvPr/>
        </p:nvPicPr>
        <p:blipFill>
          <a:blip r:embed="rId3"/>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lstStyle>
            <a:lvl1pPr>
              <a:buNone/>
              <a:defRPr sz="2200">
                <a:solidFill>
                  <a:schemeClr val="bg1"/>
                </a:solidFill>
              </a:defRPr>
            </a:lvl1pPr>
          </a:lstStyle>
          <a:p>
            <a:r>
              <a:t>Key message up to four lines long lorem ipsum dolor sit amet</a:t>
            </a:r>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idx="27"/>
          </p:nvPr>
        </p:nvSpPr>
        <p:spPr>
          <a:xfrm>
            <a:off x="5572125" y="1770063"/>
            <a:ext cx="6156324" cy="4249737"/>
          </a:xfrm>
          <a:prstGeom prst="rect">
            <a:avLst/>
          </a:prstGeom>
        </p:spPr>
        <p:txBody>
          <a:bodyPr tIns="0"/>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ext Placeholder 15">
            <a:extLst>
              <a:ext uri="{FF2B5EF4-FFF2-40B4-BE49-F238E27FC236}">
                <a16:creationId xmlns:a16="http://schemas.microsoft.com/office/drawing/2014/main" id="{5B72D3CC-6F75-2997-9493-09F5DEB0EBDD}"/>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_message_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rPr/>
              <a:t>‹#›</a:t>
            </a:fld>
            <a:endParaRPr/>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buNone/>
              <a:defRPr b="0" i="0"/>
            </a:lvl1pPr>
          </a:lstStyle>
          <a:p>
            <a:r>
              <a:t>Picture</a:t>
            </a:r>
          </a:p>
        </p:txBody>
      </p:sp>
      <p:pic>
        <p:nvPicPr>
          <p:cNvPr id="16" name="Picture 2"/>
          <p:cNvPicPr>
            <a:picLocks noChangeAspect="1"/>
          </p:cNvPicPr>
          <p:nvPr/>
        </p:nvPicPr>
        <p:blipFill>
          <a:blip r:embed="rId3"/>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lstStyle>
            <a:lvl1pPr>
              <a:buNone/>
              <a:defRPr sz="2200">
                <a:solidFill>
                  <a:schemeClr val="bg1"/>
                </a:solidFill>
              </a:defRPr>
            </a:lvl1pPr>
          </a:lstStyle>
          <a:p>
            <a:r>
              <a:t>Key message up to four lines long lorem ipsum dolor sit amet</a:t>
            </a:r>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idx="27"/>
          </p:nvPr>
        </p:nvSpPr>
        <p:spPr>
          <a:xfrm>
            <a:off x="5572125" y="1770063"/>
            <a:ext cx="6156324" cy="4249737"/>
          </a:xfrm>
          <a:prstGeom prst="rect">
            <a:avLst/>
          </a:prstGeom>
        </p:spPr>
        <p:txBody>
          <a:bodyPr tIns="0"/>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ext Placeholder 15">
            <a:extLst>
              <a:ext uri="{FF2B5EF4-FFF2-40B4-BE49-F238E27FC236}">
                <a16:creationId xmlns:a16="http://schemas.microsoft.com/office/drawing/2014/main" id="{C85F9C23-4103-DAA2-9E40-C6DA8F9717CC}"/>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ur_team">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rPr/>
              <a:t>‹#›</a:t>
            </a:fld>
            <a:endParaRPr/>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idx="10" hasCustomPrompt="1"/>
          </p:nvPr>
        </p:nvSpPr>
        <p:spPr>
          <a:xfrm>
            <a:off x="460375" y="14170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pic>
        <p:nvPicPr>
          <p:cNvPr id="45" name="Picture 2"/>
          <p:cNvPicPr>
            <a:picLocks noChangeAspect="1"/>
          </p:cNvPicPr>
          <p:nvPr/>
        </p:nvPicPr>
        <p:blipFill>
          <a:blip r:embed="rId3"/>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idx="27" hasCustomPrompt="1"/>
          </p:nvPr>
        </p:nvSpPr>
        <p:spPr>
          <a:xfrm>
            <a:off x="460376" y="28050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5" name="TextBox 4">
            <a:extLst>
              <a:ext uri="{FF2B5EF4-FFF2-40B4-BE49-F238E27FC236}">
                <a16:creationId xmlns:a16="http://schemas.microsoft.com/office/drawing/2014/main" id="{055DE255-BAC4-98A8-8AB1-993F10F0E0B4}"/>
              </a:ext>
            </a:extLst>
          </p:cNvPr>
          <p:cNvSpPr>
            <a:spLocks noGrp="1"/>
          </p:cNvSpPr>
          <p:nvPr/>
        </p:nvSpPr>
        <p:spPr>
          <a:xfrm>
            <a:off x="460377" y="549275"/>
            <a:ext cx="2333625" cy="449296"/>
          </a:xfrm>
          <a:prstGeom prst="rect">
            <a:avLst/>
          </a:prstGeom>
          <a:noFill/>
        </p:spPr>
        <p:txBody>
          <a:bodyPr wrap="square" lIns="0" tIns="0" rIns="0" bIns="0" anchor="b">
            <a:normAutofit/>
          </a:bodyPr>
          <a:lstStyle/>
          <a:p>
            <a:pPr marL="0" lvl="0" indent="-3657600" algn="l">
              <a:spcAft>
                <a:spcPts val="600"/>
              </a:spcAft>
              <a:buNone/>
            </a:pPr>
            <a:r>
              <a:rPr sz="2800" b="1" i="0">
                <a:solidFill>
                  <a:schemeClr val="tx1"/>
                </a:solidFill>
                <a:latin typeface="+mn-lt"/>
                <a:ea typeface="+mn-lt"/>
                <a:cs typeface="+mn-lt"/>
              </a:rPr>
              <a:t>OUR TEAM</a:t>
            </a:r>
          </a:p>
        </p:txBody>
      </p:sp>
      <p:sp>
        <p:nvSpPr>
          <p:cNvPr id="6" name="Picture Placeholder 7">
            <a:extLst>
              <a:ext uri="{FF2B5EF4-FFF2-40B4-BE49-F238E27FC236}">
                <a16:creationId xmlns:a16="http://schemas.microsoft.com/office/drawing/2014/main" id="{753585D2-035A-9C52-F792-68204444001D}"/>
              </a:ext>
            </a:extLst>
          </p:cNvPr>
          <p:cNvSpPr>
            <a:spLocks noGrp="1"/>
          </p:cNvSpPr>
          <p:nvPr>
            <p:ph type="pic" idx="28" hasCustomPrompt="1"/>
          </p:nvPr>
        </p:nvSpPr>
        <p:spPr>
          <a:xfrm>
            <a:off x="2955924" y="14170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16" name="Picture Placeholder 7">
            <a:extLst>
              <a:ext uri="{FF2B5EF4-FFF2-40B4-BE49-F238E27FC236}">
                <a16:creationId xmlns:a16="http://schemas.microsoft.com/office/drawing/2014/main" id="{EC6EA86D-3D54-3C8B-9084-66965F19A952}"/>
              </a:ext>
            </a:extLst>
          </p:cNvPr>
          <p:cNvSpPr>
            <a:spLocks noGrp="1"/>
          </p:cNvSpPr>
          <p:nvPr>
            <p:ph type="pic" idx="30" hasCustomPrompt="1"/>
          </p:nvPr>
        </p:nvSpPr>
        <p:spPr>
          <a:xfrm>
            <a:off x="5457824" y="14170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18" name="Picture Placeholder 7">
            <a:extLst>
              <a:ext uri="{FF2B5EF4-FFF2-40B4-BE49-F238E27FC236}">
                <a16:creationId xmlns:a16="http://schemas.microsoft.com/office/drawing/2014/main" id="{2B0C0247-3C2B-13E0-7861-209542696FE7}"/>
              </a:ext>
            </a:extLst>
          </p:cNvPr>
          <p:cNvSpPr>
            <a:spLocks noGrp="1"/>
          </p:cNvSpPr>
          <p:nvPr>
            <p:ph type="pic" idx="32" hasCustomPrompt="1"/>
          </p:nvPr>
        </p:nvSpPr>
        <p:spPr>
          <a:xfrm>
            <a:off x="7959724" y="14170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20" name="Picture Placeholder 7">
            <a:extLst>
              <a:ext uri="{FF2B5EF4-FFF2-40B4-BE49-F238E27FC236}">
                <a16:creationId xmlns:a16="http://schemas.microsoft.com/office/drawing/2014/main" id="{702162B6-132E-1D51-55BE-F91BCE8149C2}"/>
              </a:ext>
            </a:extLst>
          </p:cNvPr>
          <p:cNvSpPr>
            <a:spLocks noGrp="1"/>
          </p:cNvSpPr>
          <p:nvPr>
            <p:ph type="pic" idx="34" hasCustomPrompt="1"/>
          </p:nvPr>
        </p:nvSpPr>
        <p:spPr>
          <a:xfrm>
            <a:off x="10461624" y="14170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22" name="Picture Placeholder 7">
            <a:extLst>
              <a:ext uri="{FF2B5EF4-FFF2-40B4-BE49-F238E27FC236}">
                <a16:creationId xmlns:a16="http://schemas.microsoft.com/office/drawing/2014/main" id="{E4EC5019-E69A-00D2-92D7-8C5DC80BE9C4}"/>
              </a:ext>
            </a:extLst>
          </p:cNvPr>
          <p:cNvSpPr>
            <a:spLocks noGrp="1"/>
          </p:cNvSpPr>
          <p:nvPr>
            <p:ph type="pic" idx="36" hasCustomPrompt="1"/>
          </p:nvPr>
        </p:nvSpPr>
        <p:spPr>
          <a:xfrm>
            <a:off x="460375" y="37284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24" name="Picture Placeholder 7">
            <a:extLst>
              <a:ext uri="{FF2B5EF4-FFF2-40B4-BE49-F238E27FC236}">
                <a16:creationId xmlns:a16="http://schemas.microsoft.com/office/drawing/2014/main" id="{52C7A6A6-5C73-77A5-2E6E-E7F3F7A014F3}"/>
              </a:ext>
            </a:extLst>
          </p:cNvPr>
          <p:cNvSpPr>
            <a:spLocks noGrp="1"/>
          </p:cNvSpPr>
          <p:nvPr>
            <p:ph type="pic" idx="38" hasCustomPrompt="1"/>
          </p:nvPr>
        </p:nvSpPr>
        <p:spPr>
          <a:xfrm>
            <a:off x="2955924" y="37284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26" name="Picture Placeholder 7">
            <a:extLst>
              <a:ext uri="{FF2B5EF4-FFF2-40B4-BE49-F238E27FC236}">
                <a16:creationId xmlns:a16="http://schemas.microsoft.com/office/drawing/2014/main" id="{DDEF697F-461D-FA88-976C-A0BFC93DC4A6}"/>
              </a:ext>
            </a:extLst>
          </p:cNvPr>
          <p:cNvSpPr>
            <a:spLocks noGrp="1"/>
          </p:cNvSpPr>
          <p:nvPr>
            <p:ph type="pic" idx="40" hasCustomPrompt="1"/>
          </p:nvPr>
        </p:nvSpPr>
        <p:spPr>
          <a:xfrm>
            <a:off x="5457824" y="37284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28" name="Picture Placeholder 7">
            <a:extLst>
              <a:ext uri="{FF2B5EF4-FFF2-40B4-BE49-F238E27FC236}">
                <a16:creationId xmlns:a16="http://schemas.microsoft.com/office/drawing/2014/main" id="{8753D85C-855C-CBB1-203A-B69A0492213A}"/>
              </a:ext>
            </a:extLst>
          </p:cNvPr>
          <p:cNvSpPr>
            <a:spLocks noGrp="1"/>
          </p:cNvSpPr>
          <p:nvPr>
            <p:ph type="pic" idx="42" hasCustomPrompt="1"/>
          </p:nvPr>
        </p:nvSpPr>
        <p:spPr>
          <a:xfrm>
            <a:off x="7959724" y="37284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30" name="Picture Placeholder 7">
            <a:extLst>
              <a:ext uri="{FF2B5EF4-FFF2-40B4-BE49-F238E27FC236}">
                <a16:creationId xmlns:a16="http://schemas.microsoft.com/office/drawing/2014/main" id="{3B1EC1D9-EBE8-118C-7EBD-1188B4CE3126}"/>
              </a:ext>
            </a:extLst>
          </p:cNvPr>
          <p:cNvSpPr>
            <a:spLocks noGrp="1"/>
          </p:cNvSpPr>
          <p:nvPr>
            <p:ph type="pic" idx="44" hasCustomPrompt="1"/>
          </p:nvPr>
        </p:nvSpPr>
        <p:spPr>
          <a:xfrm>
            <a:off x="10461624" y="37284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32" name="Text Placeholder 10">
            <a:extLst>
              <a:ext uri="{FF2B5EF4-FFF2-40B4-BE49-F238E27FC236}">
                <a16:creationId xmlns:a16="http://schemas.microsoft.com/office/drawing/2014/main" id="{40F17B41-3514-4548-9F64-BD0783E5043C}"/>
              </a:ext>
            </a:extLst>
          </p:cNvPr>
          <p:cNvSpPr>
            <a:spLocks noGrp="1"/>
          </p:cNvSpPr>
          <p:nvPr>
            <p:ph type="body" idx="45" hasCustomPrompt="1"/>
          </p:nvPr>
        </p:nvSpPr>
        <p:spPr>
          <a:xfrm>
            <a:off x="460376" y="51164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3" name="Text Placeholder 10">
            <a:extLst>
              <a:ext uri="{FF2B5EF4-FFF2-40B4-BE49-F238E27FC236}">
                <a16:creationId xmlns:a16="http://schemas.microsoft.com/office/drawing/2014/main" id="{EB42D664-ABD7-6992-836F-019D706B3316}"/>
              </a:ext>
            </a:extLst>
          </p:cNvPr>
          <p:cNvSpPr>
            <a:spLocks noGrp="1"/>
          </p:cNvSpPr>
          <p:nvPr>
            <p:ph type="body" idx="46" hasCustomPrompt="1"/>
          </p:nvPr>
        </p:nvSpPr>
        <p:spPr>
          <a:xfrm>
            <a:off x="2955924" y="28050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4" name="Text Placeholder 10">
            <a:extLst>
              <a:ext uri="{FF2B5EF4-FFF2-40B4-BE49-F238E27FC236}">
                <a16:creationId xmlns:a16="http://schemas.microsoft.com/office/drawing/2014/main" id="{57753F74-4729-CECF-7D00-79DE09C36AE2}"/>
              </a:ext>
            </a:extLst>
          </p:cNvPr>
          <p:cNvSpPr>
            <a:spLocks noGrp="1"/>
          </p:cNvSpPr>
          <p:nvPr>
            <p:ph type="body" idx="47" hasCustomPrompt="1"/>
          </p:nvPr>
        </p:nvSpPr>
        <p:spPr>
          <a:xfrm>
            <a:off x="2955924" y="51164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5" name="Text Placeholder 10">
            <a:extLst>
              <a:ext uri="{FF2B5EF4-FFF2-40B4-BE49-F238E27FC236}">
                <a16:creationId xmlns:a16="http://schemas.microsoft.com/office/drawing/2014/main" id="{D963EBFA-BDB3-6ABA-B662-D773E665EF7D}"/>
              </a:ext>
            </a:extLst>
          </p:cNvPr>
          <p:cNvSpPr>
            <a:spLocks noGrp="1"/>
          </p:cNvSpPr>
          <p:nvPr>
            <p:ph type="body" idx="48" hasCustomPrompt="1"/>
          </p:nvPr>
        </p:nvSpPr>
        <p:spPr>
          <a:xfrm>
            <a:off x="5457824" y="28050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6" name="Text Placeholder 10">
            <a:extLst>
              <a:ext uri="{FF2B5EF4-FFF2-40B4-BE49-F238E27FC236}">
                <a16:creationId xmlns:a16="http://schemas.microsoft.com/office/drawing/2014/main" id="{5C9260E7-C77B-2BE4-996E-B01E4A70536E}"/>
              </a:ext>
            </a:extLst>
          </p:cNvPr>
          <p:cNvSpPr>
            <a:spLocks noGrp="1"/>
          </p:cNvSpPr>
          <p:nvPr>
            <p:ph type="body" idx="49" hasCustomPrompt="1"/>
          </p:nvPr>
        </p:nvSpPr>
        <p:spPr>
          <a:xfrm>
            <a:off x="5457824" y="51164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7" name="Text Placeholder 10">
            <a:extLst>
              <a:ext uri="{FF2B5EF4-FFF2-40B4-BE49-F238E27FC236}">
                <a16:creationId xmlns:a16="http://schemas.microsoft.com/office/drawing/2014/main" id="{4C415A5E-F122-67EA-DB56-8D538C16EC93}"/>
              </a:ext>
            </a:extLst>
          </p:cNvPr>
          <p:cNvSpPr>
            <a:spLocks noGrp="1"/>
          </p:cNvSpPr>
          <p:nvPr>
            <p:ph type="body" idx="50" hasCustomPrompt="1"/>
          </p:nvPr>
        </p:nvSpPr>
        <p:spPr>
          <a:xfrm>
            <a:off x="7959724" y="28050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8" name="Text Placeholder 10">
            <a:extLst>
              <a:ext uri="{FF2B5EF4-FFF2-40B4-BE49-F238E27FC236}">
                <a16:creationId xmlns:a16="http://schemas.microsoft.com/office/drawing/2014/main" id="{197FC507-64A7-6845-D924-3EA93ED3F213}"/>
              </a:ext>
            </a:extLst>
          </p:cNvPr>
          <p:cNvSpPr>
            <a:spLocks noGrp="1"/>
          </p:cNvSpPr>
          <p:nvPr>
            <p:ph type="body" idx="51" hasCustomPrompt="1"/>
          </p:nvPr>
        </p:nvSpPr>
        <p:spPr>
          <a:xfrm>
            <a:off x="7959724" y="51164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9" name="Text Placeholder 10">
            <a:extLst>
              <a:ext uri="{FF2B5EF4-FFF2-40B4-BE49-F238E27FC236}">
                <a16:creationId xmlns:a16="http://schemas.microsoft.com/office/drawing/2014/main" id="{A6263E65-C2F3-E85E-175C-3F8D04FD039A}"/>
              </a:ext>
            </a:extLst>
          </p:cNvPr>
          <p:cNvSpPr>
            <a:spLocks noGrp="1"/>
          </p:cNvSpPr>
          <p:nvPr>
            <p:ph type="body" idx="52" hasCustomPrompt="1"/>
          </p:nvPr>
        </p:nvSpPr>
        <p:spPr>
          <a:xfrm>
            <a:off x="10461624" y="2805026"/>
            <a:ext cx="1730376"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40" name="Text Placeholder 10">
            <a:extLst>
              <a:ext uri="{FF2B5EF4-FFF2-40B4-BE49-F238E27FC236}">
                <a16:creationId xmlns:a16="http://schemas.microsoft.com/office/drawing/2014/main" id="{EACCA106-5A32-14F5-6436-3A8FA32128EB}"/>
              </a:ext>
            </a:extLst>
          </p:cNvPr>
          <p:cNvSpPr>
            <a:spLocks noGrp="1"/>
          </p:cNvSpPr>
          <p:nvPr>
            <p:ph type="body" idx="53" hasCustomPrompt="1"/>
          </p:nvPr>
        </p:nvSpPr>
        <p:spPr>
          <a:xfrm>
            <a:off x="10461624" y="5116426"/>
            <a:ext cx="1730376"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2" name="Text Placeholder 15">
            <a:extLst>
              <a:ext uri="{FF2B5EF4-FFF2-40B4-BE49-F238E27FC236}">
                <a16:creationId xmlns:a16="http://schemas.microsoft.com/office/drawing/2014/main" id="{51E2F942-8396-45B5-EC6D-8AFC76FA1201}"/>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io">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rPr/>
              <a:t>‹#›</a:t>
            </a:fld>
            <a:endParaRPr/>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idx="10" hasCustomPrompt="1"/>
          </p:nvPr>
        </p:nvSpPr>
        <p:spPr>
          <a:xfrm>
            <a:off x="460375" y="1424072"/>
            <a:ext cx="1600199" cy="1589663"/>
          </a:xfrm>
          <a:prstGeom prst="rect">
            <a:avLst/>
          </a:prstGeom>
          <a:solidFill>
            <a:schemeClr val="accent2">
              <a:lumMod val="40000"/>
              <a:lumOff val="60000"/>
            </a:schemeClr>
          </a:solidFill>
        </p:spPr>
        <p:txBody>
          <a:bodyPr tIns="457200"/>
          <a:lstStyle>
            <a:lvl1pPr algn="ctr">
              <a:buNone/>
              <a:defRPr sz="1000" b="0" i="0"/>
            </a:lvl1pPr>
          </a:lstStyle>
          <a:p>
            <a:r>
              <a:t>Headshot</a:t>
            </a:r>
          </a:p>
        </p:txBody>
      </p:sp>
      <p:pic>
        <p:nvPicPr>
          <p:cNvPr id="20" name="Picture 2"/>
          <p:cNvPicPr>
            <a:picLocks noChangeAspect="1"/>
          </p:cNvPicPr>
          <p:nvPr/>
        </p:nvPicPr>
        <p:blipFill>
          <a:blip r:embed="rId3"/>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idx="27" hasCustomPrompt="1"/>
          </p:nvPr>
        </p:nvSpPr>
        <p:spPr>
          <a:xfrm>
            <a:off x="460376" y="3077336"/>
            <a:ext cx="1600199" cy="955574"/>
          </a:xfrm>
          <a:prstGeom prst="rect">
            <a:avLst/>
          </a:prstGeom>
        </p:spPr>
        <p:txBody>
          <a:bodyPr tIns="0"/>
          <a:lstStyle>
            <a:lvl1pPr>
              <a:spcAft>
                <a:spcPts val="0"/>
              </a:spcAft>
              <a:buNone/>
              <a:defRPr sz="1600" b="1" i="0">
                <a:solidFill>
                  <a:schemeClr val="tx1"/>
                </a:solidFill>
              </a:defRPr>
            </a:lvl1pPr>
            <a:lvl2pPr>
              <a:buNone/>
              <a:defRPr sz="16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stStyle>
          <a:p>
            <a:pPr lvl="0">
              <a:buNone/>
            </a:pPr>
            <a:r>
              <a:t>Name Lastname</a:t>
            </a:r>
          </a:p>
          <a:p>
            <a:pPr lvl="0">
              <a:buNone/>
            </a:pPr>
            <a:r>
              <a:t>Title</a:t>
            </a:r>
          </a:p>
        </p:txBody>
      </p:sp>
      <p:sp>
        <p:nvSpPr>
          <p:cNvPr id="5" name="TextBox 4">
            <a:extLst>
              <a:ext uri="{FF2B5EF4-FFF2-40B4-BE49-F238E27FC236}">
                <a16:creationId xmlns:a16="http://schemas.microsoft.com/office/drawing/2014/main" id="{055DE255-BAC4-98A8-8AB1-993F10F0E0B4}"/>
              </a:ext>
            </a:extLst>
          </p:cNvPr>
          <p:cNvSpPr>
            <a:spLocks noGrp="1"/>
          </p:cNvSpPr>
          <p:nvPr/>
        </p:nvSpPr>
        <p:spPr>
          <a:xfrm>
            <a:off x="460377" y="549275"/>
            <a:ext cx="2333625" cy="449296"/>
          </a:xfrm>
          <a:prstGeom prst="rect">
            <a:avLst/>
          </a:prstGeom>
          <a:noFill/>
        </p:spPr>
        <p:txBody>
          <a:bodyPr wrap="square" lIns="0" tIns="0" rIns="0" bIns="0" anchor="b">
            <a:normAutofit/>
          </a:bodyPr>
          <a:lstStyle/>
          <a:p>
            <a:pPr marL="0" lvl="0" indent="-3657600" algn="l">
              <a:spcAft>
                <a:spcPts val="600"/>
              </a:spcAft>
              <a:buNone/>
            </a:pPr>
            <a:r>
              <a:rPr sz="2800" b="1" i="0">
                <a:solidFill>
                  <a:schemeClr val="tx1"/>
                </a:solidFill>
                <a:latin typeface="+mn-lt"/>
                <a:ea typeface="+mn-lt"/>
                <a:cs typeface="+mn-lt"/>
              </a:rPr>
              <a:t>BIO</a:t>
            </a:r>
          </a:p>
        </p:txBody>
      </p:sp>
      <p:sp>
        <p:nvSpPr>
          <p:cNvPr id="4" name="TextBox 3">
            <a:extLst>
              <a:ext uri="{FF2B5EF4-FFF2-40B4-BE49-F238E27FC236}">
                <a16:creationId xmlns:a16="http://schemas.microsoft.com/office/drawing/2014/main" id="{C5F7974B-9D4B-FA7C-DB5D-C7B4A4D2A99D}"/>
              </a:ext>
            </a:extLst>
          </p:cNvPr>
          <p:cNvSpPr>
            <a:spLocks noGrp="1"/>
          </p:cNvSpPr>
          <p:nvPr/>
        </p:nvSpPr>
        <p:spPr>
          <a:xfrm>
            <a:off x="7315200" y="-1397000"/>
            <a:ext cx="0" cy="0"/>
          </a:xfrm>
          <a:prstGeom prst="rect">
            <a:avLst/>
          </a:prstGeom>
          <a:noFill/>
        </p:spPr>
        <p:txBody>
          <a:bodyPr wrap="none" lIns="0" tIns="0" rIns="0" bIns="0">
            <a:normAutofit fontScale="25000" lnSpcReduction="20000"/>
          </a:bodyPr>
          <a:lstStyle/>
          <a:p>
            <a:pPr marL="0" indent="-3657600" algn="l">
              <a:spcAft>
                <a:spcPts val="600"/>
              </a:spcAft>
              <a:buNone/>
            </a:pPr>
            <a:endParaRPr sz="1600" b="0" i="0">
              <a:solidFill>
                <a:schemeClr val="bg1"/>
              </a:solidFill>
              <a:latin typeface="+mn-lt"/>
              <a:ea typeface="+mn-lt"/>
              <a:cs typeface="+mn-lt"/>
            </a:endParaRPr>
          </a:p>
        </p:txBody>
      </p:sp>
      <p:sp>
        <p:nvSpPr>
          <p:cNvPr id="13" name="Text Placeholder 12">
            <a:extLst>
              <a:ext uri="{FF2B5EF4-FFF2-40B4-BE49-F238E27FC236}">
                <a16:creationId xmlns:a16="http://schemas.microsoft.com/office/drawing/2014/main" id="{C83773E0-B2A9-5900-EA67-04A744D0B7D9}"/>
              </a:ext>
            </a:extLst>
          </p:cNvPr>
          <p:cNvSpPr>
            <a:spLocks noGrp="1"/>
          </p:cNvSpPr>
          <p:nvPr>
            <p:ph type="body" idx="28"/>
          </p:nvPr>
        </p:nvSpPr>
        <p:spPr>
          <a:xfrm>
            <a:off x="2268071" y="1412875"/>
            <a:ext cx="5631329" cy="4606925"/>
          </a:xfrm>
          <a:prstGeom prst="rect">
            <a:avLst/>
          </a:prstGeom>
        </p:spPr>
        <p:txBody>
          <a:bodyPr/>
          <a:lstStyle>
            <a:lvl1pPr>
              <a:buNone/>
              <a:defRPr sz="1400" b="0" i="0"/>
            </a:lvl1pPr>
            <a:lvl2pPr>
              <a:buNone/>
              <a:defRPr sz="1400" b="0" i="0"/>
            </a:lvl2pPr>
            <a:lvl3pPr>
              <a:buNone/>
              <a:defRPr sz="1400" b="0" i="0"/>
            </a:lvl3pPr>
            <a:lvl4pPr>
              <a:buNone/>
              <a:defRPr sz="1400" b="0" i="0"/>
            </a:lvl4pPr>
            <a:lvl5pPr>
              <a:buNone/>
              <a:defRPr sz="1400"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4" name="Text Placeholder 12">
            <a:extLst>
              <a:ext uri="{FF2B5EF4-FFF2-40B4-BE49-F238E27FC236}">
                <a16:creationId xmlns:a16="http://schemas.microsoft.com/office/drawing/2014/main" id="{F12F582F-DFC3-8EA9-41A3-9E5797F985A9}"/>
              </a:ext>
            </a:extLst>
          </p:cNvPr>
          <p:cNvSpPr>
            <a:spLocks noGrp="1"/>
          </p:cNvSpPr>
          <p:nvPr>
            <p:ph type="body" idx="29" hasCustomPrompt="1"/>
          </p:nvPr>
        </p:nvSpPr>
        <p:spPr>
          <a:xfrm>
            <a:off x="8076579" y="1347340"/>
            <a:ext cx="3459790" cy="2272161"/>
          </a:xfrm>
          <a:prstGeom prst="rect">
            <a:avLst/>
          </a:prstGeom>
          <a:solidFill>
            <a:schemeClr val="accent4"/>
          </a:solidFill>
        </p:spPr>
        <p:txBody>
          <a:bodyPr lIns="182880" tIns="182880" rIns="182880" bIns="182880"/>
          <a:lstStyle>
            <a:lvl1pPr>
              <a:buNone/>
              <a:defRPr sz="1400" b="1" i="0" u="sng">
                <a:solidFill>
                  <a:schemeClr val="accent2"/>
                </a:solidFill>
              </a:defRPr>
            </a:lvl1pPr>
            <a:lvl2pPr marL="228600" indent="-228600">
              <a:buClr>
                <a:schemeClr val="tx1"/>
              </a:buClr>
              <a:buFont typeface="Arial"/>
              <a:buChar char="•"/>
              <a:defRPr sz="1400" b="0" i="0">
                <a:solidFill>
                  <a:schemeClr val="tx1"/>
                </a:solidFill>
              </a:defRPr>
            </a:lvl2pPr>
            <a:lvl3pPr marL="457200">
              <a:buNone/>
              <a:defRPr/>
            </a:lvl3pPr>
            <a:lvl4pPr marL="685800">
              <a:buNone/>
              <a:defRPr sz="1400"/>
            </a:lvl4pPr>
            <a:lvl5pPr marL="914400">
              <a:buNone/>
              <a:defRPr/>
            </a:lvl5pPr>
          </a:lstStyle>
          <a:p>
            <a:pPr lvl="0">
              <a:buNone/>
            </a:pPr>
            <a:r>
              <a:t>Industries served</a:t>
            </a:r>
          </a:p>
          <a:p>
            <a:pPr lvl="1">
              <a:buNone/>
            </a:pPr>
            <a:r>
              <a:t>Bullet</a:t>
            </a:r>
          </a:p>
        </p:txBody>
      </p:sp>
      <p:sp>
        <p:nvSpPr>
          <p:cNvPr id="15" name="Text Placeholder 12">
            <a:extLst>
              <a:ext uri="{FF2B5EF4-FFF2-40B4-BE49-F238E27FC236}">
                <a16:creationId xmlns:a16="http://schemas.microsoft.com/office/drawing/2014/main" id="{90DCED2C-4702-3E26-08C4-BE0F781E7BCE}"/>
              </a:ext>
            </a:extLst>
          </p:cNvPr>
          <p:cNvSpPr>
            <a:spLocks noGrp="1"/>
          </p:cNvSpPr>
          <p:nvPr>
            <p:ph type="body" idx="30" hasCustomPrompt="1"/>
          </p:nvPr>
        </p:nvSpPr>
        <p:spPr>
          <a:xfrm>
            <a:off x="8076579" y="3743441"/>
            <a:ext cx="3459790" cy="2272161"/>
          </a:xfrm>
          <a:prstGeom prst="rect">
            <a:avLst/>
          </a:prstGeom>
          <a:solidFill>
            <a:schemeClr val="accent4"/>
          </a:solidFill>
        </p:spPr>
        <p:txBody>
          <a:bodyPr lIns="182880" tIns="182880" rIns="182880" bIns="182880"/>
          <a:lstStyle>
            <a:lvl1pPr>
              <a:buNone/>
              <a:defRPr sz="1400" b="1" i="0" u="sng">
                <a:solidFill>
                  <a:schemeClr val="accent2"/>
                </a:solidFill>
              </a:defRPr>
            </a:lvl1pPr>
            <a:lvl2pPr marL="228600" indent="-228600">
              <a:buClr>
                <a:schemeClr val="tx1"/>
              </a:buClr>
              <a:buFont typeface="Arial"/>
              <a:buChar char="•"/>
              <a:defRPr sz="1400" b="0" i="0">
                <a:solidFill>
                  <a:schemeClr val="tx1"/>
                </a:solidFill>
              </a:defRPr>
            </a:lvl2pPr>
            <a:lvl3pPr marL="457200">
              <a:buNone/>
              <a:defRPr/>
            </a:lvl3pPr>
            <a:lvl4pPr marL="685800">
              <a:buNone/>
              <a:defRPr sz="1400"/>
            </a:lvl4pPr>
            <a:lvl5pPr marL="914400">
              <a:buNone/>
              <a:defRPr/>
            </a:lvl5pPr>
          </a:lstStyle>
          <a:p>
            <a:pPr lvl="0">
              <a:buNone/>
            </a:pPr>
            <a:r>
              <a:t>Skills &amp; Specialties</a:t>
            </a:r>
          </a:p>
          <a:p>
            <a:pPr lvl="1">
              <a:buNone/>
            </a:pPr>
            <a:r>
              <a:t>Bullet</a:t>
            </a:r>
          </a:p>
        </p:txBody>
      </p:sp>
      <p:sp>
        <p:nvSpPr>
          <p:cNvPr id="2" name="Text Placeholder 15">
            <a:extLst>
              <a:ext uri="{FF2B5EF4-FFF2-40B4-BE49-F238E27FC236}">
                <a16:creationId xmlns:a16="http://schemas.microsoft.com/office/drawing/2014/main" id="{8BBB8F65-14F9-B931-3059-9EFE5E3B97E1}"/>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se_stud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idx="33" hasCustomPrompt="1"/>
          </p:nvPr>
        </p:nvSpPr>
        <p:spPr>
          <a:xfrm>
            <a:off x="4298950" y="831591"/>
            <a:ext cx="3602038" cy="1436596"/>
          </a:xfrm>
          <a:prstGeom prst="rect">
            <a:avLst/>
          </a:prstGeom>
          <a:solidFill>
            <a:schemeClr val="accent4"/>
          </a:solidFill>
        </p:spPr>
        <p:txBody>
          <a:bodyPr lIns="0" tIns="0" rIns="0" bIns="0" anchor="t"/>
          <a:lstStyle>
            <a:lvl1pPr>
              <a:spcAft>
                <a:spcPts val="0"/>
              </a:spcAft>
              <a:buFontTx/>
              <a:buNone/>
              <a:defRPr sz="1200" b="0" i="0" cap="none" baseline="0">
                <a:solidFill>
                  <a:schemeClr val="bg1"/>
                </a:solidFill>
                <a:latin typeface="+mn-lt"/>
                <a:ea typeface="+mn-lt"/>
                <a:cs typeface="+mn-lt"/>
              </a:defRPr>
            </a:lvl1pPr>
            <a:lvl2pPr>
              <a:spcAft>
                <a:spcPts val="0"/>
              </a:spcAft>
              <a:buFontTx/>
              <a:buNone/>
              <a:defRPr sz="1200" b="0" i="0" cap="none" baseline="0">
                <a:solidFill>
                  <a:schemeClr val="bg1"/>
                </a:solidFill>
                <a:latin typeface="+mn-lt"/>
                <a:ea typeface="+mn-lt"/>
                <a:cs typeface="+mn-lt"/>
              </a:defRPr>
            </a:lvl2pPr>
            <a:lvl3pPr marL="0" indent="0">
              <a:spcAft>
                <a:spcPts val="0"/>
              </a:spcAft>
              <a:buFontTx/>
              <a:buNone/>
              <a:defRPr sz="1200" b="0" i="0" cap="none" baseline="0">
                <a:solidFill>
                  <a:schemeClr val="bg1"/>
                </a:solidFill>
                <a:latin typeface="+mn-lt"/>
                <a:ea typeface="+mn-lt"/>
                <a:cs typeface="+mn-lt"/>
              </a:defRPr>
            </a:lvl3pPr>
            <a:lvl4pPr marL="0" indent="0">
              <a:spcAft>
                <a:spcPts val="0"/>
              </a:spcAft>
              <a:buFontTx/>
              <a:buNone/>
              <a:defRPr sz="1200" b="0" i="0" cap="none" baseline="0">
                <a:solidFill>
                  <a:schemeClr val="bg1"/>
                </a:solidFill>
                <a:latin typeface="+mn-lt"/>
                <a:ea typeface="+mn-lt"/>
                <a:cs typeface="+mn-lt"/>
              </a:defRPr>
            </a:lvl4pPr>
            <a:lvl5pPr marL="0" indent="0">
              <a:spcAft>
                <a:spcPts val="0"/>
              </a:spcAft>
              <a:buFontTx/>
              <a:buNone/>
              <a:defRPr sz="1200" b="0" i="0" cap="none" baseline="0">
                <a:solidFill>
                  <a:schemeClr val="bg1"/>
                </a:solidFill>
                <a:latin typeface="+mn-lt"/>
                <a:ea typeface="+mn-lt"/>
                <a:cs typeface="+mn-lt"/>
              </a:defRPr>
            </a:lvl5pPr>
            <a:lvl6pPr marL="0" indent="0">
              <a:spcAft>
                <a:spcPts val="0"/>
              </a:spcAft>
              <a:buFontTx/>
              <a:buNone/>
              <a:defRPr sz="1200" b="0" i="0" cap="none" baseline="0">
                <a:solidFill>
                  <a:schemeClr val="bg1"/>
                </a:solidFill>
                <a:latin typeface="+mn-lt"/>
                <a:ea typeface="+mn-lt"/>
                <a:cs typeface="+mn-lt"/>
              </a:defRPr>
            </a:lvl6pPr>
            <a:lvl7pPr marL="0" indent="0">
              <a:spcAft>
                <a:spcPts val="0"/>
              </a:spcAft>
              <a:buFontTx/>
              <a:buNone/>
              <a:defRPr sz="1200" b="0" i="0" cap="none" baseline="0">
                <a:solidFill>
                  <a:schemeClr val="bg1"/>
                </a:solidFill>
                <a:latin typeface="+mn-lt"/>
                <a:ea typeface="+mn-lt"/>
                <a:cs typeface="+mn-lt"/>
              </a:defRPr>
            </a:lvl7pPr>
            <a:lvl8pPr marL="0" indent="0">
              <a:spcAft>
                <a:spcPts val="0"/>
              </a:spcAft>
              <a:buFontTx/>
              <a:buNone/>
              <a:defRPr sz="1200" b="0" i="0" cap="none" baseline="0">
                <a:solidFill>
                  <a:schemeClr val="bg1"/>
                </a:solidFill>
                <a:latin typeface="+mn-lt"/>
                <a:ea typeface="+mn-lt"/>
                <a:cs typeface="+mn-lt"/>
              </a:defRPr>
            </a:lvl8pPr>
            <a:lvl9pPr marL="0" indent="0">
              <a:spcAft>
                <a:spcPts val="0"/>
              </a:spcAft>
              <a:buFontTx/>
              <a:buNone/>
              <a:defRPr sz="1200" b="0" i="0" cap="none" baseline="0">
                <a:solidFill>
                  <a:schemeClr val="bg1"/>
                </a:solidFill>
                <a:latin typeface="+mn-lt"/>
                <a:ea typeface="+mn-lt"/>
                <a:cs typeface="+mn-lt"/>
              </a:defRPr>
            </a:lvl9pPr>
          </a:lstStyle>
          <a:p>
            <a:pPr lvl="0">
              <a:buNone/>
            </a:pPr>
            <a:r>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rPr/>
              <a:t>‹#›</a:t>
            </a:fld>
            <a:endParaRPr/>
          </a:p>
        </p:txBody>
      </p:sp>
      <p:pic>
        <p:nvPicPr>
          <p:cNvPr id="38" name="Picture 2"/>
          <p:cNvPicPr>
            <a:picLocks noChangeAspect="1"/>
          </p:cNvPicPr>
          <p:nvPr/>
        </p:nvPicPr>
        <p:blipFill>
          <a:blip r:embed="rId3"/>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idx="28"/>
          </p:nvPr>
        </p:nvSpPr>
        <p:spPr>
          <a:xfrm>
            <a:off x="460375" y="2202611"/>
            <a:ext cx="3606800" cy="3817189"/>
          </a:xfrm>
          <a:prstGeom prst="rect">
            <a:avLst/>
          </a:prstGeom>
        </p:spPr>
        <p:txBody>
          <a:bodyPr tIns="91440"/>
          <a:lstStyle>
            <a:lvl1pPr>
              <a:buNone/>
              <a:defRPr sz="1200" b="0" i="0"/>
            </a:lvl1pPr>
            <a:lvl2pPr marL="285750" indent="-276225">
              <a:buNone/>
              <a:defRPr sz="1200" b="0" i="0"/>
            </a:lvl2pPr>
            <a:lvl3pPr marL="628650" indent="-285750">
              <a:buNone/>
              <a:defRPr sz="1200" b="0" i="0"/>
            </a:lvl3pPr>
            <a:lvl4pPr marL="973138" indent="-276225">
              <a:buFont typeface="Arial"/>
              <a:buChar char="•"/>
              <a:defRPr sz="1200" b="0" i="0"/>
            </a:lvl4pPr>
            <a:lvl5pPr marL="1317625" indent="-287338">
              <a:buNone/>
              <a:defRPr sz="1200" b="0" i="0"/>
            </a:lvl5pPr>
            <a:lvl6pPr marL="182880" indent="-182880">
              <a:buAutoNum type="arabicPeriod"/>
              <a:defRPr sz="1200"/>
            </a:lvl6pPr>
            <a:lvl7pPr marL="365760" indent="-182880">
              <a:buAutoNum type="arabicPeriod"/>
              <a:defRPr sz="1200"/>
            </a:lvl7pPr>
            <a:lvl8pPr marL="548640" indent="-182880">
              <a:buNone/>
              <a:defRPr sz="1200"/>
            </a:lvl8pPr>
            <a:lvl9pPr>
              <a:buNone/>
              <a:defRPr sz="1400" b="1"/>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idx="19" hasCustomPrompt="1"/>
          </p:nvPr>
        </p:nvSpPr>
        <p:spPr>
          <a:xfrm>
            <a:off x="465138" y="556953"/>
            <a:ext cx="3602038" cy="556953"/>
          </a:xfrm>
          <a:prstGeom prst="rect">
            <a:avLst/>
          </a:prstGeom>
        </p:spPr>
        <p:txBody>
          <a:bodyPr tIns="228600" rIns="0" bIns="0" anchor="t"/>
          <a:lstStyle>
            <a:lvl1pPr>
              <a:spcAft>
                <a:spcPts val="0"/>
              </a:spcAft>
              <a:buFontTx/>
              <a:buNone/>
              <a:defRPr sz="1500" b="1" i="0" cap="all" baseline="0">
                <a:solidFill>
                  <a:schemeClr val="accent1"/>
                </a:solidFill>
                <a:latin typeface="+mn-lt"/>
                <a:ea typeface="+mn-lt"/>
                <a:cs typeface="+mn-lt"/>
              </a:defRPr>
            </a:lvl1pPr>
            <a:lvl2pPr>
              <a:spcAft>
                <a:spcPts val="0"/>
              </a:spcAft>
              <a:buFontTx/>
              <a:buNone/>
              <a:defRPr sz="1600" b="1" i="0" cap="all"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a:prstGeom prst="rect">
            <a:avLst/>
          </a:prstGeom>
        </p:spPr>
        <p:txBody>
          <a:bodyPr tIns="45720"/>
          <a:lstStyle>
            <a:lvl1pPr>
              <a:buNone/>
              <a:defRPr sz="2200">
                <a:solidFill>
                  <a:schemeClr val="tx1"/>
                </a:solidFill>
              </a:defRPr>
            </a:lvl1pPr>
          </a:lstStyle>
          <a:p>
            <a:r>
              <a:t>Click to edit Master title style</a:t>
            </a:r>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buNone/>
              <a:defRPr b="0" i="0"/>
            </a:lvl1pPr>
          </a:lstStyle>
          <a:p>
            <a:r>
              <a:t>Relevant image or </a:t>
            </a:r>
            <a:br>
              <a:rPr/>
            </a:br>
            <a:r>
              <a:t>product prototype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idx="23" hasCustomPrompt="1"/>
          </p:nvPr>
        </p:nvSpPr>
        <p:spPr>
          <a:xfrm>
            <a:off x="4516834" y="1014960"/>
            <a:ext cx="1372790" cy="510741"/>
          </a:xfrm>
          <a:prstGeom prst="rect">
            <a:avLst/>
          </a:prstGeom>
        </p:spPr>
        <p:txBody>
          <a:bodyPr tIns="0" rIns="0" bIns="0" anchor="t"/>
          <a:lstStyle>
            <a:lvl1pPr>
              <a:spcAft>
                <a:spcPts val="0"/>
              </a:spcAft>
              <a:buFontTx/>
              <a:buNone/>
              <a:defRPr sz="3600" b="1" i="0" cap="none" baseline="0">
                <a:solidFill>
                  <a:schemeClr val="tx1"/>
                </a:solidFill>
                <a:latin typeface="+mn-lt"/>
                <a:ea typeface="+mn-lt"/>
                <a:cs typeface="+mn-lt"/>
              </a:defRPr>
            </a:lvl1pPr>
            <a:lvl2pPr>
              <a:spcAft>
                <a:spcPts val="0"/>
              </a:spcAft>
              <a:buFontTx/>
              <a:buNone/>
              <a:defRPr sz="3600" b="1" i="0" cap="none" baseline="0">
                <a:solidFill>
                  <a:schemeClr val="tx1"/>
                </a:solidFill>
                <a:latin typeface="+mj-lt"/>
                <a:ea typeface="+mj-lt"/>
                <a:cs typeface="+mj-lt"/>
              </a:defRPr>
            </a:lvl2pPr>
            <a:lvl3pPr marL="0" indent="0">
              <a:spcAft>
                <a:spcPts val="0"/>
              </a:spcAft>
              <a:buFontTx/>
              <a:buNone/>
              <a:defRPr sz="3600" b="1" i="0" cap="none" baseline="0">
                <a:solidFill>
                  <a:schemeClr val="tx1"/>
                </a:solidFill>
                <a:latin typeface="+mj-lt"/>
                <a:ea typeface="+mj-lt"/>
                <a:cs typeface="+mj-lt"/>
              </a:defRPr>
            </a:lvl3pPr>
            <a:lvl4pPr marL="0" indent="0">
              <a:spcAft>
                <a:spcPts val="0"/>
              </a:spcAft>
              <a:buFontTx/>
              <a:buNone/>
              <a:defRPr sz="3600" b="1" i="0" cap="none" baseline="0">
                <a:solidFill>
                  <a:schemeClr val="tx1"/>
                </a:solidFill>
                <a:latin typeface="+mj-lt"/>
                <a:ea typeface="+mj-lt"/>
                <a:cs typeface="+mj-lt"/>
              </a:defRPr>
            </a:lvl4pPr>
            <a:lvl5pPr marL="0" indent="0">
              <a:spcAft>
                <a:spcPts val="0"/>
              </a:spcAft>
              <a:buFontTx/>
              <a:buNone/>
              <a:defRPr sz="3600" b="1" i="0" cap="none" baseline="0">
                <a:solidFill>
                  <a:schemeClr val="tx1"/>
                </a:solidFill>
                <a:latin typeface="+mn-lt"/>
                <a:ea typeface="+mn-lt"/>
                <a:cs typeface="+mn-lt"/>
              </a:defRPr>
            </a:lvl5pPr>
            <a:lvl6pPr marL="0" indent="0">
              <a:spcAft>
                <a:spcPts val="0"/>
              </a:spcAft>
              <a:buFontTx/>
              <a:buNone/>
              <a:defRPr sz="3600" b="1" i="0" cap="none" baseline="0">
                <a:solidFill>
                  <a:schemeClr val="tx1"/>
                </a:solidFill>
                <a:latin typeface="+mn-lt"/>
                <a:ea typeface="+mn-lt"/>
                <a:cs typeface="+mn-lt"/>
              </a:defRPr>
            </a:lvl6pPr>
            <a:lvl7pPr marL="0" indent="0">
              <a:spcAft>
                <a:spcPts val="0"/>
              </a:spcAft>
              <a:buFontTx/>
              <a:buNone/>
              <a:defRPr sz="3600" b="1" i="0" cap="none" baseline="0">
                <a:solidFill>
                  <a:schemeClr val="tx1"/>
                </a:solidFill>
                <a:latin typeface="+mn-lt"/>
                <a:ea typeface="+mn-lt"/>
                <a:cs typeface="+mn-lt"/>
              </a:defRPr>
            </a:lvl7pPr>
            <a:lvl8pPr marL="0" indent="0">
              <a:spcAft>
                <a:spcPts val="0"/>
              </a:spcAft>
              <a:buFontTx/>
              <a:buNone/>
              <a:defRPr sz="3600" b="1" i="0" cap="none" baseline="0">
                <a:solidFill>
                  <a:schemeClr val="tx1"/>
                </a:solidFill>
                <a:latin typeface="+mn-lt"/>
                <a:ea typeface="+mn-lt"/>
                <a:cs typeface="+mn-lt"/>
              </a:defRPr>
            </a:lvl8pPr>
            <a:lvl9pPr marL="0" indent="0">
              <a:spcAft>
                <a:spcPts val="0"/>
              </a:spcAft>
              <a:buFontTx/>
              <a:buNone/>
              <a:defRPr sz="3600" b="1" i="0" cap="none" baseline="0">
                <a:solidFill>
                  <a:schemeClr val="tx1"/>
                </a:solidFill>
                <a:latin typeface="+mn-lt"/>
                <a:ea typeface="+mn-lt"/>
                <a:cs typeface="+mn-lt"/>
              </a:defRPr>
            </a:lvl9pPr>
          </a:lstStyle>
          <a:p>
            <a:pPr lvl="0">
              <a:buNone/>
            </a:pPr>
            <a:r>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idx="31" hasCustomPrompt="1"/>
          </p:nvPr>
        </p:nvSpPr>
        <p:spPr>
          <a:xfrm>
            <a:off x="4516834" y="1525702"/>
            <a:ext cx="1372791" cy="556953"/>
          </a:xfrm>
          <a:prstGeom prst="rect">
            <a:avLst/>
          </a:prstGeom>
        </p:spPr>
        <p:txBody>
          <a:bodyPr tIns="0" rIns="0" bIns="0" anchor="t"/>
          <a:lstStyle>
            <a:lvl1pPr>
              <a:spcAft>
                <a:spcPts val="0"/>
              </a:spcAft>
              <a:buFontTx/>
              <a:buNone/>
              <a:defRPr sz="1500" b="1" i="0" cap="none" baseline="0">
                <a:solidFill>
                  <a:schemeClr val="tx1"/>
                </a:solidFill>
                <a:latin typeface="+mn-lt"/>
                <a:ea typeface="+mn-lt"/>
                <a:cs typeface="+mn-lt"/>
              </a:defRPr>
            </a:lvl1pPr>
            <a:lvl2pPr>
              <a:spcAft>
                <a:spcPts val="0"/>
              </a:spcAft>
              <a:buFontTx/>
              <a:buNone/>
              <a:defRPr sz="1400" b="1" i="0" cap="none" baseline="0">
                <a:solidFill>
                  <a:schemeClr val="tx1"/>
                </a:solidFill>
                <a:latin typeface="+mj-lt"/>
                <a:ea typeface="+mj-lt"/>
                <a:cs typeface="+mj-lt"/>
              </a:defRPr>
            </a:lvl2pPr>
            <a:lvl3pPr marL="0" indent="0">
              <a:spcAft>
                <a:spcPts val="0"/>
              </a:spcAft>
              <a:buFontTx/>
              <a:buNone/>
              <a:defRPr sz="1400" b="1" i="0" cap="none" baseline="0">
                <a:solidFill>
                  <a:schemeClr val="tx1"/>
                </a:solidFill>
                <a:latin typeface="+mj-lt"/>
                <a:ea typeface="+mj-lt"/>
                <a:cs typeface="+mj-lt"/>
              </a:defRPr>
            </a:lvl3pPr>
            <a:lvl4pPr marL="0" indent="0">
              <a:spcAft>
                <a:spcPts val="0"/>
              </a:spcAft>
              <a:buFontTx/>
              <a:buNone/>
              <a:defRPr sz="1400" b="1" i="0" cap="none" baseline="0">
                <a:solidFill>
                  <a:schemeClr val="tx1"/>
                </a:solidFill>
                <a:latin typeface="+mj-lt"/>
                <a:ea typeface="+mj-lt"/>
                <a:cs typeface="+mj-lt"/>
              </a:defRPr>
            </a:lvl4pPr>
            <a:lvl5pPr marL="0" indent="0">
              <a:spcAft>
                <a:spcPts val="0"/>
              </a:spcAft>
              <a:buFontTx/>
              <a:buNone/>
              <a:defRPr sz="1400" b="1" i="0" cap="none" baseline="0">
                <a:solidFill>
                  <a:schemeClr val="tx1"/>
                </a:solidFill>
                <a:latin typeface="+mn-lt"/>
                <a:ea typeface="+mn-lt"/>
                <a:cs typeface="+mn-lt"/>
              </a:defRPr>
            </a:lvl5pPr>
            <a:lvl6pPr marL="0" indent="0">
              <a:spcAft>
                <a:spcPts val="0"/>
              </a:spcAft>
              <a:buFontTx/>
              <a:buNone/>
              <a:defRPr sz="1400" b="1" i="0" cap="none" baseline="0">
                <a:solidFill>
                  <a:schemeClr val="tx1"/>
                </a:solidFill>
                <a:latin typeface="+mn-lt"/>
                <a:ea typeface="+mn-lt"/>
                <a:cs typeface="+mn-lt"/>
              </a:defRPr>
            </a:lvl6pPr>
            <a:lvl7pPr marL="0" indent="0">
              <a:spcAft>
                <a:spcPts val="0"/>
              </a:spcAft>
              <a:buFontTx/>
              <a:buNone/>
              <a:defRPr sz="1400" b="1" i="0" cap="none" baseline="0">
                <a:solidFill>
                  <a:schemeClr val="tx1"/>
                </a:solidFill>
                <a:latin typeface="+mn-lt"/>
                <a:ea typeface="+mn-lt"/>
                <a:cs typeface="+mn-lt"/>
              </a:defRPr>
            </a:lvl7pPr>
            <a:lvl8pPr marL="0" indent="0">
              <a:spcAft>
                <a:spcPts val="0"/>
              </a:spcAft>
              <a:buFontTx/>
              <a:buNone/>
              <a:defRPr sz="1400" b="1" i="0" cap="none" baseline="0">
                <a:solidFill>
                  <a:schemeClr val="tx1"/>
                </a:solidFill>
                <a:latin typeface="+mn-lt"/>
                <a:ea typeface="+mn-lt"/>
                <a:cs typeface="+mn-lt"/>
              </a:defRPr>
            </a:lvl8pPr>
            <a:lvl9pPr marL="0" indent="0">
              <a:spcAft>
                <a:spcPts val="0"/>
              </a:spcAft>
              <a:buFontTx/>
              <a:buNone/>
              <a:defRPr sz="1400" b="1" i="0" cap="none" baseline="0">
                <a:solidFill>
                  <a:schemeClr val="tx1"/>
                </a:solidFill>
                <a:latin typeface="+mn-lt"/>
                <a:ea typeface="+mn-lt"/>
                <a:cs typeface="+mn-lt"/>
              </a:defRPr>
            </a:lvl9pPr>
          </a:lstStyle>
          <a:p>
            <a:pPr lvl="0">
              <a:buNone/>
            </a:pPr>
            <a:r>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idx="32" hasCustomPrompt="1"/>
          </p:nvPr>
        </p:nvSpPr>
        <p:spPr>
          <a:xfrm>
            <a:off x="5981700" y="1014838"/>
            <a:ext cx="1786952" cy="1067817"/>
          </a:xfrm>
          <a:prstGeom prst="rect">
            <a:avLst/>
          </a:prstGeom>
        </p:spPr>
        <p:txBody>
          <a:bodyPr lIns="45720" tIns="137160" rIns="0" bIns="0" anchor="t"/>
          <a:lstStyle>
            <a:lvl1pPr>
              <a:spcAft>
                <a:spcPts val="0"/>
              </a:spcAft>
              <a:buFontTx/>
              <a:buNone/>
              <a:defRPr sz="1200" b="0" i="0" cap="none" baseline="0">
                <a:solidFill>
                  <a:schemeClr val="tx1"/>
                </a:solidFill>
                <a:latin typeface="+mn-lt"/>
                <a:ea typeface="+mn-lt"/>
                <a:cs typeface="+mn-lt"/>
              </a:defRPr>
            </a:lvl1pPr>
            <a:lvl2pPr>
              <a:spcAft>
                <a:spcPts val="0"/>
              </a:spcAft>
              <a:buFontTx/>
              <a:buNone/>
              <a:defRPr sz="1200" b="0" i="0" cap="none" baseline="0">
                <a:solidFill>
                  <a:schemeClr val="tx1"/>
                </a:solidFill>
                <a:latin typeface="+mn-lt"/>
                <a:ea typeface="+mn-lt"/>
                <a:cs typeface="+mn-lt"/>
              </a:defRPr>
            </a:lvl2pPr>
            <a:lvl3pPr marL="0" indent="0">
              <a:spcAft>
                <a:spcPts val="0"/>
              </a:spcAft>
              <a:buFontTx/>
              <a:buNone/>
              <a:defRPr sz="1200" b="0" i="0" cap="none" baseline="0">
                <a:solidFill>
                  <a:schemeClr val="tx1"/>
                </a:solidFill>
                <a:latin typeface="+mn-lt"/>
                <a:ea typeface="+mn-lt"/>
                <a:cs typeface="+mn-lt"/>
              </a:defRPr>
            </a:lvl3pPr>
            <a:lvl4pPr marL="0" indent="0">
              <a:spcAft>
                <a:spcPts val="0"/>
              </a:spcAft>
              <a:buFontTx/>
              <a:buNone/>
              <a:defRPr sz="1200" b="0" i="0" cap="none" baseline="0">
                <a:solidFill>
                  <a:schemeClr val="tx1"/>
                </a:solidFill>
                <a:latin typeface="+mn-lt"/>
                <a:ea typeface="+mn-lt"/>
                <a:cs typeface="+mn-lt"/>
              </a:defRPr>
            </a:lvl4pPr>
            <a:lvl5pPr marL="0" indent="0">
              <a:spcAft>
                <a:spcPts val="0"/>
              </a:spcAft>
              <a:buFontTx/>
              <a:buNone/>
              <a:defRPr sz="1200" b="0" i="0" cap="none" baseline="0">
                <a:solidFill>
                  <a:schemeClr val="tx1"/>
                </a:solidFill>
                <a:latin typeface="+mn-lt"/>
                <a:ea typeface="+mn-lt"/>
                <a:cs typeface="+mn-lt"/>
              </a:defRPr>
            </a:lvl5pPr>
            <a:lvl6pPr marL="0" indent="0">
              <a:spcAft>
                <a:spcPts val="0"/>
              </a:spcAft>
              <a:buFontTx/>
              <a:buNone/>
              <a:defRPr sz="1200" b="0" i="0" cap="none" baseline="0">
                <a:solidFill>
                  <a:schemeClr val="tx1"/>
                </a:solidFill>
                <a:latin typeface="+mn-lt"/>
                <a:ea typeface="+mn-lt"/>
                <a:cs typeface="+mn-lt"/>
              </a:defRPr>
            </a:lvl6pPr>
            <a:lvl7pPr marL="0" indent="0">
              <a:spcAft>
                <a:spcPts val="0"/>
              </a:spcAft>
              <a:buFontTx/>
              <a:buNone/>
              <a:defRPr sz="1200" b="0" i="0" cap="none" baseline="0">
                <a:solidFill>
                  <a:schemeClr val="tx1"/>
                </a:solidFill>
                <a:latin typeface="+mn-lt"/>
                <a:ea typeface="+mn-lt"/>
                <a:cs typeface="+mn-lt"/>
              </a:defRPr>
            </a:lvl7pPr>
            <a:lvl8pPr marL="0" indent="0">
              <a:spcAft>
                <a:spcPts val="0"/>
              </a:spcAft>
              <a:buFontTx/>
              <a:buNone/>
              <a:defRPr sz="1200" b="0" i="0" cap="none" baseline="0">
                <a:solidFill>
                  <a:schemeClr val="tx1"/>
                </a:solidFill>
                <a:latin typeface="+mn-lt"/>
                <a:ea typeface="+mn-lt"/>
                <a:cs typeface="+mn-lt"/>
              </a:defRPr>
            </a:lvl8pPr>
            <a:lvl9pPr marL="0" indent="0">
              <a:spcAft>
                <a:spcPts val="0"/>
              </a:spcAft>
              <a:buFontTx/>
              <a:buNone/>
              <a:defRPr sz="1200" b="0" i="0" cap="none" baseline="0">
                <a:solidFill>
                  <a:schemeClr val="tx1"/>
                </a:solidFill>
                <a:latin typeface="+mn-lt"/>
                <a:ea typeface="+mn-lt"/>
                <a:cs typeface="+mn-lt"/>
              </a:defRPr>
            </a:lvl9pPr>
          </a:lstStyle>
          <a:p>
            <a:pPr lvl="0">
              <a:buNone/>
            </a:pPr>
            <a:r>
              <a:t>Lorem ipsum dolor sit amet</a:t>
            </a:r>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idx="38" hasCustomPrompt="1"/>
          </p:nvPr>
        </p:nvSpPr>
        <p:spPr>
          <a:xfrm>
            <a:off x="4300536" y="4419803"/>
            <a:ext cx="803275" cy="269761"/>
          </a:xfrm>
          <a:prstGeom prst="rect">
            <a:avLst/>
          </a:prstGeom>
          <a:blipFill>
            <a:blip>
              <a:extLst>
                <a:ext uri="{96DAC541-7B7A-43D3-8B79-37D633B846F1}">
                  <asvg:svgBlip xmlns:asvg="http://schemas.microsoft.com/office/drawing/2016/SVG/main" r:embed="rId4"/>
                </a:ext>
              </a:extLst>
            </a:blip>
            <a:stretch>
              <a:fillRect/>
            </a:stretch>
          </a:blipFill>
        </p:spPr>
        <p:txBody>
          <a:bodyPr/>
          <a:lstStyle>
            <a:lvl1pPr>
              <a:buNone/>
              <a:defRPr b="0" i="0"/>
            </a:lvl1pPr>
          </a:lstStyle>
          <a:p>
            <a:pPr lvl="0">
              <a:buNone/>
            </a:pPr>
            <a:r>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idx="39" hasCustomPrompt="1"/>
          </p:nvPr>
        </p:nvSpPr>
        <p:spPr>
          <a:xfrm>
            <a:off x="4298950" y="4800601"/>
            <a:ext cx="3600450" cy="1219458"/>
          </a:xfrm>
          <a:prstGeom prst="rect">
            <a:avLst/>
          </a:prstGeom>
        </p:spPr>
        <p:txBody>
          <a:bodyPr tIns="0" rIns="0" bIns="0" anchor="t"/>
          <a:lstStyle>
            <a:lvl1pPr>
              <a:spcAft>
                <a:spcPts val="1000"/>
              </a:spcAft>
              <a:buFontTx/>
              <a:buNone/>
              <a:defRPr sz="1500" b="1" i="0" cap="none" baseline="0">
                <a:solidFill>
                  <a:schemeClr val="tx1"/>
                </a:solidFill>
                <a:latin typeface="+mn-lt"/>
                <a:ea typeface="+mn-lt"/>
                <a:cs typeface="+mn-lt"/>
              </a:defRPr>
            </a:lvl1pPr>
            <a:lvl2pPr>
              <a:spcAft>
                <a:spcPts val="0"/>
              </a:spcAft>
              <a:buFontTx/>
              <a:buNone/>
              <a:defRPr sz="1200" b="0" i="0" cap="none" baseline="0">
                <a:solidFill>
                  <a:schemeClr val="tx1"/>
                </a:solidFill>
                <a:latin typeface="+mj-lt"/>
                <a:ea typeface="+mj-lt"/>
                <a:cs typeface="+mj-lt"/>
              </a:defRPr>
            </a:lvl2pPr>
            <a:lvl3pPr marL="0" indent="0">
              <a:spcAft>
                <a:spcPts val="0"/>
              </a:spcAft>
              <a:buFontTx/>
              <a:buNone/>
              <a:defRPr sz="1200" b="0" i="0" cap="none" baseline="0">
                <a:solidFill>
                  <a:schemeClr val="tx1"/>
                </a:solidFill>
                <a:latin typeface="+mj-lt"/>
                <a:ea typeface="+mj-lt"/>
                <a:cs typeface="+mj-lt"/>
              </a:defRPr>
            </a:lvl3pPr>
            <a:lvl4pPr marL="0" indent="0">
              <a:spcAft>
                <a:spcPts val="0"/>
              </a:spcAft>
              <a:buFontTx/>
              <a:buNone/>
              <a:defRPr sz="1200" b="0" i="0" cap="none" baseline="0">
                <a:solidFill>
                  <a:schemeClr val="tx1"/>
                </a:solidFill>
                <a:latin typeface="+mj-lt"/>
                <a:ea typeface="+mj-lt"/>
                <a:cs typeface="+mj-lt"/>
              </a:defRPr>
            </a:lvl4pPr>
            <a:lvl5pPr marL="0" indent="0">
              <a:spcAft>
                <a:spcPts val="0"/>
              </a:spcAft>
              <a:buFontTx/>
              <a:buNone/>
              <a:defRPr sz="1200" b="0" i="0" cap="none" baseline="0">
                <a:solidFill>
                  <a:schemeClr val="tx1"/>
                </a:solidFill>
                <a:latin typeface="+mn-lt"/>
                <a:ea typeface="+mn-lt"/>
                <a:cs typeface="+mn-lt"/>
              </a:defRPr>
            </a:lvl5pPr>
            <a:lvl6pPr marL="0" indent="0">
              <a:spcAft>
                <a:spcPts val="0"/>
              </a:spcAft>
              <a:buFontTx/>
              <a:buNone/>
              <a:defRPr sz="1200" b="0" i="0" cap="none" baseline="0">
                <a:solidFill>
                  <a:schemeClr val="tx1"/>
                </a:solidFill>
                <a:latin typeface="+mn-lt"/>
                <a:ea typeface="+mn-lt"/>
                <a:cs typeface="+mn-lt"/>
              </a:defRPr>
            </a:lvl6pPr>
            <a:lvl7pPr marL="0" indent="0">
              <a:spcAft>
                <a:spcPts val="0"/>
              </a:spcAft>
              <a:buFontTx/>
              <a:buNone/>
              <a:defRPr sz="1200" b="0" i="0" cap="none" baseline="0">
                <a:solidFill>
                  <a:schemeClr val="tx1"/>
                </a:solidFill>
                <a:latin typeface="+mn-lt"/>
                <a:ea typeface="+mn-lt"/>
                <a:cs typeface="+mn-lt"/>
              </a:defRPr>
            </a:lvl7pPr>
            <a:lvl8pPr marL="0" indent="0">
              <a:spcAft>
                <a:spcPts val="0"/>
              </a:spcAft>
              <a:buFontTx/>
              <a:buNone/>
              <a:defRPr sz="1200" b="0" i="0" cap="none" baseline="0">
                <a:solidFill>
                  <a:schemeClr val="tx1"/>
                </a:solidFill>
                <a:latin typeface="+mn-lt"/>
                <a:ea typeface="+mn-lt"/>
                <a:cs typeface="+mn-lt"/>
              </a:defRPr>
            </a:lvl8pPr>
            <a:lvl9pPr marL="0" indent="0">
              <a:spcAft>
                <a:spcPts val="0"/>
              </a:spcAft>
              <a:buFontTx/>
              <a:buNone/>
              <a:defRPr sz="1200" b="0" i="0" cap="none" baseline="0">
                <a:solidFill>
                  <a:schemeClr val="tx1"/>
                </a:solidFill>
                <a:latin typeface="+mn-lt"/>
                <a:ea typeface="+mn-lt"/>
                <a:cs typeface="+mn-lt"/>
              </a:defRPr>
            </a:lvl9pPr>
          </a:lstStyle>
          <a:p>
            <a:pPr lvl="0">
              <a:buNone/>
            </a:pPr>
            <a:r>
              <a:t>Testimonial or project highlight goes here lorem ipsum dolor. Lorem amet repudicae nihitatis et magnam.</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idx="40" hasCustomPrompt="1"/>
          </p:nvPr>
        </p:nvSpPr>
        <p:spPr>
          <a:xfrm>
            <a:off x="4298950" y="2506012"/>
            <a:ext cx="3602038" cy="1436596"/>
          </a:xfrm>
          <a:prstGeom prst="rect">
            <a:avLst/>
          </a:prstGeom>
          <a:solidFill>
            <a:schemeClr val="accent4"/>
          </a:solidFill>
        </p:spPr>
        <p:txBody>
          <a:bodyPr lIns="0" tIns="0" rIns="0" bIns="0" anchor="t"/>
          <a:lstStyle>
            <a:lvl1pPr>
              <a:spcAft>
                <a:spcPts val="0"/>
              </a:spcAft>
              <a:buFontTx/>
              <a:buNone/>
              <a:defRPr sz="1200" b="0" i="0" cap="none" baseline="0">
                <a:solidFill>
                  <a:schemeClr val="bg1"/>
                </a:solidFill>
                <a:latin typeface="+mn-lt"/>
                <a:ea typeface="+mn-lt"/>
                <a:cs typeface="+mn-lt"/>
              </a:defRPr>
            </a:lvl1pPr>
            <a:lvl2pPr>
              <a:spcAft>
                <a:spcPts val="0"/>
              </a:spcAft>
              <a:buFontTx/>
              <a:buNone/>
              <a:defRPr sz="1200" b="0" i="0" cap="none" baseline="0">
                <a:solidFill>
                  <a:schemeClr val="bg1"/>
                </a:solidFill>
                <a:latin typeface="+mn-lt"/>
                <a:ea typeface="+mn-lt"/>
                <a:cs typeface="+mn-lt"/>
              </a:defRPr>
            </a:lvl2pPr>
            <a:lvl3pPr marL="0" indent="0">
              <a:spcAft>
                <a:spcPts val="0"/>
              </a:spcAft>
              <a:buFontTx/>
              <a:buNone/>
              <a:defRPr sz="1200" b="0" i="0" cap="none" baseline="0">
                <a:solidFill>
                  <a:schemeClr val="bg1"/>
                </a:solidFill>
                <a:latin typeface="+mn-lt"/>
                <a:ea typeface="+mn-lt"/>
                <a:cs typeface="+mn-lt"/>
              </a:defRPr>
            </a:lvl3pPr>
            <a:lvl4pPr marL="0" indent="0">
              <a:spcAft>
                <a:spcPts val="0"/>
              </a:spcAft>
              <a:buFontTx/>
              <a:buNone/>
              <a:defRPr sz="1200" b="0" i="0" cap="none" baseline="0">
                <a:solidFill>
                  <a:schemeClr val="bg1"/>
                </a:solidFill>
                <a:latin typeface="+mn-lt"/>
                <a:ea typeface="+mn-lt"/>
                <a:cs typeface="+mn-lt"/>
              </a:defRPr>
            </a:lvl4pPr>
            <a:lvl5pPr marL="0" indent="0">
              <a:spcAft>
                <a:spcPts val="0"/>
              </a:spcAft>
              <a:buFontTx/>
              <a:buNone/>
              <a:defRPr sz="1200" b="0" i="0" cap="none" baseline="0">
                <a:solidFill>
                  <a:schemeClr val="bg1"/>
                </a:solidFill>
                <a:latin typeface="+mn-lt"/>
                <a:ea typeface="+mn-lt"/>
                <a:cs typeface="+mn-lt"/>
              </a:defRPr>
            </a:lvl5pPr>
            <a:lvl6pPr marL="0" indent="0">
              <a:spcAft>
                <a:spcPts val="0"/>
              </a:spcAft>
              <a:buFontTx/>
              <a:buNone/>
              <a:defRPr sz="1200" b="0" i="0" cap="none" baseline="0">
                <a:solidFill>
                  <a:schemeClr val="bg1"/>
                </a:solidFill>
                <a:latin typeface="+mn-lt"/>
                <a:ea typeface="+mn-lt"/>
                <a:cs typeface="+mn-lt"/>
              </a:defRPr>
            </a:lvl6pPr>
            <a:lvl7pPr marL="0" indent="0">
              <a:spcAft>
                <a:spcPts val="0"/>
              </a:spcAft>
              <a:buFontTx/>
              <a:buNone/>
              <a:defRPr sz="1200" b="0" i="0" cap="none" baseline="0">
                <a:solidFill>
                  <a:schemeClr val="bg1"/>
                </a:solidFill>
                <a:latin typeface="+mn-lt"/>
                <a:ea typeface="+mn-lt"/>
                <a:cs typeface="+mn-lt"/>
              </a:defRPr>
            </a:lvl7pPr>
            <a:lvl8pPr marL="0" indent="0">
              <a:spcAft>
                <a:spcPts val="0"/>
              </a:spcAft>
              <a:buFontTx/>
              <a:buNone/>
              <a:defRPr sz="1200" b="0" i="0" cap="none" baseline="0">
                <a:solidFill>
                  <a:schemeClr val="bg1"/>
                </a:solidFill>
                <a:latin typeface="+mn-lt"/>
                <a:ea typeface="+mn-lt"/>
                <a:cs typeface="+mn-lt"/>
              </a:defRPr>
            </a:lvl8pPr>
            <a:lvl9pPr marL="0" indent="0">
              <a:spcAft>
                <a:spcPts val="0"/>
              </a:spcAft>
              <a:buFontTx/>
              <a:buNone/>
              <a:defRPr sz="1200" b="0" i="0" cap="none" baseline="0">
                <a:solidFill>
                  <a:schemeClr val="bg1"/>
                </a:solidFill>
                <a:latin typeface="+mn-lt"/>
                <a:ea typeface="+mn-lt"/>
                <a:cs typeface="+mn-lt"/>
              </a:defRPr>
            </a:lvl9pPr>
          </a:lstStyle>
          <a:p>
            <a:pPr lvl="0">
              <a:buNone/>
            </a:pPr>
            <a:r>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idx="41" hasCustomPrompt="1"/>
          </p:nvPr>
        </p:nvSpPr>
        <p:spPr>
          <a:xfrm>
            <a:off x="4516834" y="2689381"/>
            <a:ext cx="1372790" cy="510741"/>
          </a:xfrm>
          <a:prstGeom prst="rect">
            <a:avLst/>
          </a:prstGeom>
        </p:spPr>
        <p:txBody>
          <a:bodyPr tIns="0" rIns="0" bIns="0" anchor="t"/>
          <a:lstStyle>
            <a:lvl1pPr>
              <a:spcAft>
                <a:spcPts val="0"/>
              </a:spcAft>
              <a:buFontTx/>
              <a:buNone/>
              <a:defRPr sz="3600" b="1" i="0" cap="none" baseline="0">
                <a:solidFill>
                  <a:schemeClr val="tx1"/>
                </a:solidFill>
                <a:latin typeface="+mn-lt"/>
                <a:ea typeface="+mn-lt"/>
                <a:cs typeface="+mn-lt"/>
              </a:defRPr>
            </a:lvl1pPr>
            <a:lvl2pPr>
              <a:spcAft>
                <a:spcPts val="0"/>
              </a:spcAft>
              <a:buFontTx/>
              <a:buNone/>
              <a:defRPr sz="3600" b="1" i="0" cap="none" baseline="0">
                <a:solidFill>
                  <a:schemeClr val="tx1"/>
                </a:solidFill>
                <a:latin typeface="+mj-lt"/>
                <a:ea typeface="+mj-lt"/>
                <a:cs typeface="+mj-lt"/>
              </a:defRPr>
            </a:lvl2pPr>
            <a:lvl3pPr marL="0" indent="0">
              <a:spcAft>
                <a:spcPts val="0"/>
              </a:spcAft>
              <a:buFontTx/>
              <a:buNone/>
              <a:defRPr sz="3600" b="1" i="0" cap="none" baseline="0">
                <a:solidFill>
                  <a:schemeClr val="tx1"/>
                </a:solidFill>
                <a:latin typeface="+mj-lt"/>
                <a:ea typeface="+mj-lt"/>
                <a:cs typeface="+mj-lt"/>
              </a:defRPr>
            </a:lvl3pPr>
            <a:lvl4pPr marL="0" indent="0">
              <a:spcAft>
                <a:spcPts val="0"/>
              </a:spcAft>
              <a:buFontTx/>
              <a:buNone/>
              <a:defRPr sz="3600" b="1" i="0" cap="none" baseline="0">
                <a:solidFill>
                  <a:schemeClr val="tx1"/>
                </a:solidFill>
                <a:latin typeface="+mj-lt"/>
                <a:ea typeface="+mj-lt"/>
                <a:cs typeface="+mj-lt"/>
              </a:defRPr>
            </a:lvl4pPr>
            <a:lvl5pPr marL="0" indent="0">
              <a:spcAft>
                <a:spcPts val="0"/>
              </a:spcAft>
              <a:buFontTx/>
              <a:buNone/>
              <a:defRPr sz="3600" b="1" i="0" cap="none" baseline="0">
                <a:solidFill>
                  <a:schemeClr val="tx1"/>
                </a:solidFill>
                <a:latin typeface="+mn-lt"/>
                <a:ea typeface="+mn-lt"/>
                <a:cs typeface="+mn-lt"/>
              </a:defRPr>
            </a:lvl5pPr>
            <a:lvl6pPr marL="0" indent="0">
              <a:spcAft>
                <a:spcPts val="0"/>
              </a:spcAft>
              <a:buFontTx/>
              <a:buNone/>
              <a:defRPr sz="3600" b="1" i="0" cap="none" baseline="0">
                <a:solidFill>
                  <a:schemeClr val="tx1"/>
                </a:solidFill>
                <a:latin typeface="+mn-lt"/>
                <a:ea typeface="+mn-lt"/>
                <a:cs typeface="+mn-lt"/>
              </a:defRPr>
            </a:lvl6pPr>
            <a:lvl7pPr marL="0" indent="0">
              <a:spcAft>
                <a:spcPts val="0"/>
              </a:spcAft>
              <a:buFontTx/>
              <a:buNone/>
              <a:defRPr sz="3600" b="1" i="0" cap="none" baseline="0">
                <a:solidFill>
                  <a:schemeClr val="tx1"/>
                </a:solidFill>
                <a:latin typeface="+mn-lt"/>
                <a:ea typeface="+mn-lt"/>
                <a:cs typeface="+mn-lt"/>
              </a:defRPr>
            </a:lvl7pPr>
            <a:lvl8pPr marL="0" indent="0">
              <a:spcAft>
                <a:spcPts val="0"/>
              </a:spcAft>
              <a:buFontTx/>
              <a:buNone/>
              <a:defRPr sz="3600" b="1" i="0" cap="none" baseline="0">
                <a:solidFill>
                  <a:schemeClr val="tx1"/>
                </a:solidFill>
                <a:latin typeface="+mn-lt"/>
                <a:ea typeface="+mn-lt"/>
                <a:cs typeface="+mn-lt"/>
              </a:defRPr>
            </a:lvl8pPr>
            <a:lvl9pPr marL="0" indent="0">
              <a:spcAft>
                <a:spcPts val="0"/>
              </a:spcAft>
              <a:buFontTx/>
              <a:buNone/>
              <a:defRPr sz="3600" b="1" i="0" cap="none" baseline="0">
                <a:solidFill>
                  <a:schemeClr val="tx1"/>
                </a:solidFill>
                <a:latin typeface="+mn-lt"/>
                <a:ea typeface="+mn-lt"/>
                <a:cs typeface="+mn-lt"/>
              </a:defRPr>
            </a:lvl9pPr>
          </a:lstStyle>
          <a:p>
            <a:pPr lvl="0">
              <a:buNone/>
            </a:pPr>
            <a:r>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idx="42" hasCustomPrompt="1"/>
          </p:nvPr>
        </p:nvSpPr>
        <p:spPr>
          <a:xfrm>
            <a:off x="4516834" y="3200123"/>
            <a:ext cx="1372791" cy="556953"/>
          </a:xfrm>
          <a:prstGeom prst="rect">
            <a:avLst/>
          </a:prstGeom>
        </p:spPr>
        <p:txBody>
          <a:bodyPr tIns="0" rIns="0" bIns="0" anchor="t"/>
          <a:lstStyle>
            <a:lvl1pPr>
              <a:spcAft>
                <a:spcPts val="0"/>
              </a:spcAft>
              <a:buFontTx/>
              <a:buNone/>
              <a:defRPr sz="1500" b="1" i="0" cap="none" baseline="0">
                <a:solidFill>
                  <a:schemeClr val="tx1"/>
                </a:solidFill>
                <a:latin typeface="+mn-lt"/>
                <a:ea typeface="+mn-lt"/>
                <a:cs typeface="+mn-lt"/>
              </a:defRPr>
            </a:lvl1pPr>
            <a:lvl2pPr>
              <a:spcAft>
                <a:spcPts val="0"/>
              </a:spcAft>
              <a:buFontTx/>
              <a:buNone/>
              <a:defRPr sz="1400" b="1" i="0" cap="none" baseline="0">
                <a:solidFill>
                  <a:schemeClr val="tx1"/>
                </a:solidFill>
                <a:latin typeface="+mj-lt"/>
                <a:ea typeface="+mj-lt"/>
                <a:cs typeface="+mj-lt"/>
              </a:defRPr>
            </a:lvl2pPr>
            <a:lvl3pPr marL="0" indent="0">
              <a:spcAft>
                <a:spcPts val="0"/>
              </a:spcAft>
              <a:buFontTx/>
              <a:buNone/>
              <a:defRPr sz="1400" b="1" i="0" cap="none" baseline="0">
                <a:solidFill>
                  <a:schemeClr val="tx1"/>
                </a:solidFill>
                <a:latin typeface="+mj-lt"/>
                <a:ea typeface="+mj-lt"/>
                <a:cs typeface="+mj-lt"/>
              </a:defRPr>
            </a:lvl3pPr>
            <a:lvl4pPr marL="0" indent="0">
              <a:spcAft>
                <a:spcPts val="0"/>
              </a:spcAft>
              <a:buFontTx/>
              <a:buNone/>
              <a:defRPr sz="1400" b="1" i="0" cap="none" baseline="0">
                <a:solidFill>
                  <a:schemeClr val="tx1"/>
                </a:solidFill>
                <a:latin typeface="+mj-lt"/>
                <a:ea typeface="+mj-lt"/>
                <a:cs typeface="+mj-lt"/>
              </a:defRPr>
            </a:lvl4pPr>
            <a:lvl5pPr marL="0" indent="0">
              <a:spcAft>
                <a:spcPts val="0"/>
              </a:spcAft>
              <a:buFontTx/>
              <a:buNone/>
              <a:defRPr sz="1400" b="1" i="0" cap="none" baseline="0">
                <a:solidFill>
                  <a:schemeClr val="tx1"/>
                </a:solidFill>
                <a:latin typeface="+mn-lt"/>
                <a:ea typeface="+mn-lt"/>
                <a:cs typeface="+mn-lt"/>
              </a:defRPr>
            </a:lvl5pPr>
            <a:lvl6pPr marL="0" indent="0">
              <a:spcAft>
                <a:spcPts val="0"/>
              </a:spcAft>
              <a:buFontTx/>
              <a:buNone/>
              <a:defRPr sz="1400" b="1" i="0" cap="none" baseline="0">
                <a:solidFill>
                  <a:schemeClr val="tx1"/>
                </a:solidFill>
                <a:latin typeface="+mn-lt"/>
                <a:ea typeface="+mn-lt"/>
                <a:cs typeface="+mn-lt"/>
              </a:defRPr>
            </a:lvl6pPr>
            <a:lvl7pPr marL="0" indent="0">
              <a:spcAft>
                <a:spcPts val="0"/>
              </a:spcAft>
              <a:buFontTx/>
              <a:buNone/>
              <a:defRPr sz="1400" b="1" i="0" cap="none" baseline="0">
                <a:solidFill>
                  <a:schemeClr val="tx1"/>
                </a:solidFill>
                <a:latin typeface="+mn-lt"/>
                <a:ea typeface="+mn-lt"/>
                <a:cs typeface="+mn-lt"/>
              </a:defRPr>
            </a:lvl7pPr>
            <a:lvl8pPr marL="0" indent="0">
              <a:spcAft>
                <a:spcPts val="0"/>
              </a:spcAft>
              <a:buFontTx/>
              <a:buNone/>
              <a:defRPr sz="1400" b="1" i="0" cap="none" baseline="0">
                <a:solidFill>
                  <a:schemeClr val="tx1"/>
                </a:solidFill>
                <a:latin typeface="+mn-lt"/>
                <a:ea typeface="+mn-lt"/>
                <a:cs typeface="+mn-lt"/>
              </a:defRPr>
            </a:lvl8pPr>
            <a:lvl9pPr marL="0" indent="0">
              <a:spcAft>
                <a:spcPts val="0"/>
              </a:spcAft>
              <a:buFontTx/>
              <a:buNone/>
              <a:defRPr sz="1400" b="1" i="0" cap="none" baseline="0">
                <a:solidFill>
                  <a:schemeClr val="tx1"/>
                </a:solidFill>
                <a:latin typeface="+mn-lt"/>
                <a:ea typeface="+mn-lt"/>
                <a:cs typeface="+mn-lt"/>
              </a:defRPr>
            </a:lvl9pPr>
          </a:lstStyle>
          <a:p>
            <a:pPr lvl="0">
              <a:buNone/>
            </a:pPr>
            <a:r>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idx="43" hasCustomPrompt="1"/>
          </p:nvPr>
        </p:nvSpPr>
        <p:spPr>
          <a:xfrm>
            <a:off x="5981700" y="2689259"/>
            <a:ext cx="1786952" cy="1067817"/>
          </a:xfrm>
          <a:prstGeom prst="rect">
            <a:avLst/>
          </a:prstGeom>
        </p:spPr>
        <p:txBody>
          <a:bodyPr lIns="45720" tIns="137160" rIns="0" bIns="0" anchor="t"/>
          <a:lstStyle>
            <a:lvl1pPr>
              <a:spcAft>
                <a:spcPts val="0"/>
              </a:spcAft>
              <a:buFontTx/>
              <a:buNone/>
              <a:defRPr sz="1200" b="0" i="0" cap="none" baseline="0">
                <a:solidFill>
                  <a:schemeClr val="tx1"/>
                </a:solidFill>
                <a:latin typeface="+mn-lt"/>
                <a:ea typeface="+mn-lt"/>
                <a:cs typeface="+mn-lt"/>
              </a:defRPr>
            </a:lvl1pPr>
            <a:lvl2pPr>
              <a:spcAft>
                <a:spcPts val="0"/>
              </a:spcAft>
              <a:buFontTx/>
              <a:buNone/>
              <a:defRPr sz="1200" b="0" i="0" cap="none" baseline="0">
                <a:solidFill>
                  <a:schemeClr val="tx1"/>
                </a:solidFill>
                <a:latin typeface="+mn-lt"/>
                <a:ea typeface="+mn-lt"/>
                <a:cs typeface="+mn-lt"/>
              </a:defRPr>
            </a:lvl2pPr>
            <a:lvl3pPr marL="0" indent="0">
              <a:spcAft>
                <a:spcPts val="0"/>
              </a:spcAft>
              <a:buFontTx/>
              <a:buNone/>
              <a:defRPr sz="1200" b="0" i="0" cap="none" baseline="0">
                <a:solidFill>
                  <a:schemeClr val="tx1"/>
                </a:solidFill>
                <a:latin typeface="+mn-lt"/>
                <a:ea typeface="+mn-lt"/>
                <a:cs typeface="+mn-lt"/>
              </a:defRPr>
            </a:lvl3pPr>
            <a:lvl4pPr marL="0" indent="0">
              <a:spcAft>
                <a:spcPts val="0"/>
              </a:spcAft>
              <a:buFontTx/>
              <a:buNone/>
              <a:defRPr sz="1200" b="0" i="0" cap="none" baseline="0">
                <a:solidFill>
                  <a:schemeClr val="tx1"/>
                </a:solidFill>
                <a:latin typeface="+mn-lt"/>
                <a:ea typeface="+mn-lt"/>
                <a:cs typeface="+mn-lt"/>
              </a:defRPr>
            </a:lvl4pPr>
            <a:lvl5pPr marL="0" indent="0">
              <a:spcAft>
                <a:spcPts val="0"/>
              </a:spcAft>
              <a:buFontTx/>
              <a:buNone/>
              <a:defRPr sz="1200" b="0" i="0" cap="none" baseline="0">
                <a:solidFill>
                  <a:schemeClr val="tx1"/>
                </a:solidFill>
                <a:latin typeface="+mn-lt"/>
                <a:ea typeface="+mn-lt"/>
                <a:cs typeface="+mn-lt"/>
              </a:defRPr>
            </a:lvl5pPr>
            <a:lvl6pPr marL="0" indent="0">
              <a:spcAft>
                <a:spcPts val="0"/>
              </a:spcAft>
              <a:buFontTx/>
              <a:buNone/>
              <a:defRPr sz="1200" b="0" i="0" cap="none" baseline="0">
                <a:solidFill>
                  <a:schemeClr val="tx1"/>
                </a:solidFill>
                <a:latin typeface="+mn-lt"/>
                <a:ea typeface="+mn-lt"/>
                <a:cs typeface="+mn-lt"/>
              </a:defRPr>
            </a:lvl6pPr>
            <a:lvl7pPr marL="0" indent="0">
              <a:spcAft>
                <a:spcPts val="0"/>
              </a:spcAft>
              <a:buFontTx/>
              <a:buNone/>
              <a:defRPr sz="1200" b="0" i="0" cap="none" baseline="0">
                <a:solidFill>
                  <a:schemeClr val="tx1"/>
                </a:solidFill>
                <a:latin typeface="+mn-lt"/>
                <a:ea typeface="+mn-lt"/>
                <a:cs typeface="+mn-lt"/>
              </a:defRPr>
            </a:lvl7pPr>
            <a:lvl8pPr marL="0" indent="0">
              <a:spcAft>
                <a:spcPts val="0"/>
              </a:spcAft>
              <a:buFontTx/>
              <a:buNone/>
              <a:defRPr sz="1200" b="0" i="0" cap="none" baseline="0">
                <a:solidFill>
                  <a:schemeClr val="tx1"/>
                </a:solidFill>
                <a:latin typeface="+mn-lt"/>
                <a:ea typeface="+mn-lt"/>
                <a:cs typeface="+mn-lt"/>
              </a:defRPr>
            </a:lvl8pPr>
            <a:lvl9pPr marL="0" indent="0">
              <a:spcAft>
                <a:spcPts val="0"/>
              </a:spcAft>
              <a:buFontTx/>
              <a:buNone/>
              <a:defRPr sz="1200" b="0" i="0" cap="none" baseline="0">
                <a:solidFill>
                  <a:schemeClr val="tx1"/>
                </a:solidFill>
                <a:latin typeface="+mn-lt"/>
                <a:ea typeface="+mn-lt"/>
                <a:cs typeface="+mn-lt"/>
              </a:defRPr>
            </a:lvl9pPr>
          </a:lstStyle>
          <a:p>
            <a:pPr lvl="0">
              <a:buNone/>
            </a:pPr>
            <a:r>
              <a:t>Lorem ipsum dolor sit amet</a:t>
            </a:r>
          </a:p>
        </p:txBody>
      </p:sp>
      <p:sp>
        <p:nvSpPr>
          <p:cNvPr id="2" name="Text Placeholder 15">
            <a:extLst>
              <a:ext uri="{FF2B5EF4-FFF2-40B4-BE49-F238E27FC236}">
                <a16:creationId xmlns:a16="http://schemas.microsoft.com/office/drawing/2014/main" id="{AD00B111-831B-7B8E-4399-AF47F1033036}"/>
              </a:ext>
            </a:extLst>
          </p:cNvPr>
          <p:cNvSpPr>
            <a:spLocks noGrp="1"/>
          </p:cNvSpPr>
          <p:nvPr>
            <p:ph type="body" idx="44"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7"/>
          <p:cNvPicPr>
            <a:picLocks noChangeAspect="1"/>
          </p:cNvPicPr>
          <p:nvPr/>
        </p:nvPicPr>
        <p:blipFill>
          <a:blip r:embed="rId3"/>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p>
            <a:fld id="{63DCA5C9-2E11-4C67-86EB-AE1DE127DC64}" type="slidenum">
              <a:rPr/>
              <a:t>‹#›</a:t>
            </a:fld>
            <a:endParaRPr/>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6210300" y="1092531"/>
            <a:ext cx="5518150" cy="4678878"/>
          </a:xfrm>
          <a:prstGeom prst="rect">
            <a:avLst/>
          </a:prstGeom>
        </p:spPr>
        <p:txBody>
          <a:bodyPr anchor="ctr"/>
          <a:lstStyle>
            <a:lvl1pPr>
              <a:buNone/>
              <a:defRPr sz="2800" b="1">
                <a:solidFill>
                  <a:schemeClr val="tx1"/>
                </a:solidFill>
              </a:defRPr>
            </a:lvl1pPr>
          </a:lstStyle>
          <a:p>
            <a:r>
              <a:t>Statement lorem ipsum dolor sit amet, consectetur elit, sed do eiusmod tempor amet</a:t>
            </a:r>
          </a:p>
        </p:txBody>
      </p:sp>
      <p:sp>
        <p:nvSpPr>
          <p:cNvPr id="2" name="Picture Placeholder 7">
            <a:extLst>
              <a:ext uri="{FF2B5EF4-FFF2-40B4-BE49-F238E27FC236}">
                <a16:creationId xmlns:a16="http://schemas.microsoft.com/office/drawing/2014/main" id="{83BAC274-EB05-8089-8DCA-82CC218E7B7D}"/>
              </a:ext>
            </a:extLst>
          </p:cNvPr>
          <p:cNvSpPr>
            <a:spLocks noGrp="1"/>
          </p:cNvSpPr>
          <p:nvPr>
            <p:ph type="pic"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buNone/>
              <a:defRPr b="0" i="0"/>
            </a:lvl1pPr>
          </a:lstStyle>
          <a:p>
            <a:r>
              <a:t>Picture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tatement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7"/>
          <p:cNvPicPr>
            <a:picLocks noChangeAspect="1"/>
          </p:cNvPicPr>
          <p:nvPr/>
        </p:nvPicPr>
        <p:blipFill>
          <a:blip r:embed="rId3"/>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678C184-31FA-D189-F5F1-A649E85A2BA7}"/>
              </a:ext>
            </a:extLst>
          </p:cNvPr>
          <p:cNvSpPr>
            <a:spLocks noGrp="1"/>
          </p:cNvSpPr>
          <p:nvPr>
            <p:ph type="title" hasCustomPrompt="1"/>
          </p:nvPr>
        </p:nvSpPr>
        <p:spPr>
          <a:xfrm>
            <a:off x="6210300" y="1092531"/>
            <a:ext cx="5518150" cy="4678878"/>
          </a:xfrm>
          <a:prstGeom prst="rect">
            <a:avLst/>
          </a:prstGeom>
        </p:spPr>
        <p:txBody>
          <a:bodyPr anchor="ctr"/>
          <a:lstStyle>
            <a:lvl1pPr>
              <a:buNone/>
              <a:defRPr sz="2800" b="1">
                <a:solidFill>
                  <a:schemeClr val="bg1"/>
                </a:solidFill>
              </a:defRPr>
            </a:lvl1pPr>
          </a:lstStyle>
          <a:p>
            <a:r>
              <a:t>Statement lorem ipsum dolor sit amet, consectetur elit, sed do eiusmod tempor amet</a:t>
            </a:r>
          </a:p>
        </p:txBody>
      </p:sp>
      <p:sp>
        <p:nvSpPr>
          <p:cNvPr id="11" name="Picture Placeholder 7">
            <a:extLst>
              <a:ext uri="{FF2B5EF4-FFF2-40B4-BE49-F238E27FC236}">
                <a16:creationId xmlns:a16="http://schemas.microsoft.com/office/drawing/2014/main" id="{0A7DEA8A-BFCC-0AC5-D777-EE87427CC9B6}"/>
              </a:ext>
            </a:extLst>
          </p:cNvPr>
          <p:cNvSpPr>
            <a:spLocks noGrp="1"/>
          </p:cNvSpPr>
          <p:nvPr>
            <p:ph type="pic"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buNone/>
              <a:defRPr b="0" i="0"/>
            </a:lvl1pPr>
          </a:lstStyle>
          <a:p>
            <a:r>
              <a:t>Picture</a:t>
            </a:r>
          </a:p>
        </p:txBody>
      </p:sp>
      <p:sp>
        <p:nvSpPr>
          <p:cNvPr id="12" name="Footer Placeholder 8">
            <a:extLst>
              <a:ext uri="{FF2B5EF4-FFF2-40B4-BE49-F238E27FC236}">
                <a16:creationId xmlns:a16="http://schemas.microsoft.com/office/drawing/2014/main" id="{8657527A-CAEB-FEAB-3416-F225B5A68F7F}"/>
              </a:ext>
            </a:extLst>
          </p:cNvPr>
          <p:cNvSpPr>
            <a:spLocks noGrp="1"/>
          </p:cNvSpPr>
          <p:nvPr>
            <p:ph type="ftr" idx="24"/>
          </p:nvPr>
        </p:nvSpPr>
        <p:spPr>
          <a:xfrm>
            <a:off x="4321019" y="6400798"/>
            <a:ext cx="7102834" cy="167949"/>
          </a:xfrm>
        </p:spPr>
        <p:txBody>
          <a:bodyPr/>
          <a:lstStyle>
            <a:lvl1pPr>
              <a:buNone/>
              <a:defRPr b="0" i="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r>
              <a:t>© 2026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6129BC8C-D508-35AC-1FA3-37F936E3752F}"/>
              </a:ext>
            </a:extLst>
          </p:cNvPr>
          <p:cNvSpPr>
            <a:spLocks noGrp="1"/>
          </p:cNvSpPr>
          <p:nvPr>
            <p:ph type="sldNum" idx="25"/>
          </p:nvPr>
        </p:nvSpPr>
        <p:spPr>
          <a:xfrm>
            <a:off x="11509578" y="6400799"/>
            <a:ext cx="218871" cy="167949"/>
          </a:xfrm>
        </p:spPr>
        <p:txBody>
          <a:bodyPr/>
          <a:lstStyle>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fld id="{63DCA5C9-2E11-4C67-86EB-AE1DE127DC64}" type="slidenum">
              <a:rPr/>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tatement_3">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7"/>
          <p:cNvPicPr>
            <a:picLocks noChangeAspect="1"/>
          </p:cNvPicPr>
          <p:nvPr/>
        </p:nvPicPr>
        <p:blipFill>
          <a:blip r:embed="rId3"/>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A099A38-A8A2-7263-BB25-EE5337AAA98C}"/>
              </a:ext>
            </a:extLst>
          </p:cNvPr>
          <p:cNvSpPr>
            <a:spLocks noGrp="1"/>
          </p:cNvSpPr>
          <p:nvPr>
            <p:ph type="title" hasCustomPrompt="1"/>
          </p:nvPr>
        </p:nvSpPr>
        <p:spPr>
          <a:xfrm>
            <a:off x="6210300" y="1092531"/>
            <a:ext cx="5518150" cy="4678878"/>
          </a:xfrm>
          <a:prstGeom prst="rect">
            <a:avLst/>
          </a:prstGeom>
        </p:spPr>
        <p:txBody>
          <a:bodyPr anchor="ctr"/>
          <a:lstStyle>
            <a:lvl1pPr>
              <a:buNone/>
              <a:defRPr sz="2800" b="1">
                <a:solidFill>
                  <a:schemeClr val="bg1"/>
                </a:solidFill>
              </a:defRPr>
            </a:lvl1pPr>
          </a:lstStyle>
          <a:p>
            <a:r>
              <a:t>Statement lorem ipsum dolor sit amet, consectetur elit, sed do eiusmod tempor amet</a:t>
            </a:r>
          </a:p>
        </p:txBody>
      </p:sp>
      <p:sp>
        <p:nvSpPr>
          <p:cNvPr id="11" name="Picture Placeholder 7">
            <a:extLst>
              <a:ext uri="{FF2B5EF4-FFF2-40B4-BE49-F238E27FC236}">
                <a16:creationId xmlns:a16="http://schemas.microsoft.com/office/drawing/2014/main" id="{4262223A-9D73-96F4-3DE6-CDEEF4F5878B}"/>
              </a:ext>
            </a:extLst>
          </p:cNvPr>
          <p:cNvSpPr>
            <a:spLocks noGrp="1"/>
          </p:cNvSpPr>
          <p:nvPr>
            <p:ph type="pic"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buNone/>
              <a:defRPr b="0" i="0"/>
            </a:lvl1pPr>
          </a:lstStyle>
          <a:p>
            <a:r>
              <a:t>Picture</a:t>
            </a:r>
          </a:p>
        </p:txBody>
      </p:sp>
      <p:sp>
        <p:nvSpPr>
          <p:cNvPr id="12" name="Footer Placeholder 8">
            <a:extLst>
              <a:ext uri="{FF2B5EF4-FFF2-40B4-BE49-F238E27FC236}">
                <a16:creationId xmlns:a16="http://schemas.microsoft.com/office/drawing/2014/main" id="{8E270589-B840-8D56-E32B-99AA9C396E34}"/>
              </a:ext>
            </a:extLst>
          </p:cNvPr>
          <p:cNvSpPr>
            <a:spLocks noGrp="1"/>
          </p:cNvSpPr>
          <p:nvPr>
            <p:ph type="ftr" idx="24"/>
          </p:nvPr>
        </p:nvSpPr>
        <p:spPr>
          <a:xfrm>
            <a:off x="4321019" y="6400798"/>
            <a:ext cx="7102834" cy="167949"/>
          </a:xfrm>
        </p:spPr>
        <p:txBody>
          <a:bodyPr/>
          <a:lstStyle>
            <a:lvl1pPr>
              <a:buNone/>
              <a:defRPr b="0" i="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r>
              <a:t>© 2026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0F30AAAB-5875-7313-E3C5-DDE3A87DE7E4}"/>
              </a:ext>
            </a:extLst>
          </p:cNvPr>
          <p:cNvSpPr>
            <a:spLocks noGrp="1"/>
          </p:cNvSpPr>
          <p:nvPr>
            <p:ph type="sldNum" idx="25"/>
          </p:nvPr>
        </p:nvSpPr>
        <p:spPr>
          <a:xfrm>
            <a:off x="11509578" y="6400799"/>
            <a:ext cx="218871" cy="167949"/>
          </a:xfrm>
        </p:spPr>
        <p:txBody>
          <a:bodyPr/>
          <a:lstStyle>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fld id="{63DCA5C9-2E11-4C67-86EB-AE1DE127DC64}" type="slidenum">
              <a:rPr/>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tatement_4_two_image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ext Placeholder 9">
            <a:extLst>
              <a:ext uri="{FF2B5EF4-FFF2-40B4-BE49-F238E27FC236}">
                <a16:creationId xmlns:a16="http://schemas.microsoft.com/office/drawing/2014/main" id="{567773C6-F57B-6E9F-F954-058B210A9903}"/>
              </a:ext>
            </a:extLst>
          </p:cNvPr>
          <p:cNvSpPr>
            <a:spLocks noGrp="1"/>
          </p:cNvSpPr>
          <p:nvPr>
            <p:ph type="body" idx="23" hasCustomPrompt="1"/>
          </p:nvPr>
        </p:nvSpPr>
        <p:spPr>
          <a:xfrm>
            <a:off x="0" y="3240042"/>
            <a:ext cx="3441700" cy="586696"/>
          </a:xfrm>
          <a:prstGeom prst="rect">
            <a:avLst/>
          </a:prstGeom>
          <a:blipFill>
            <a:blip r:embed="rId3"/>
            <a:stretch>
              <a:fillRect/>
            </a:stretch>
          </a:blipFill>
        </p:spPr>
        <p:txBody>
          <a:bodyPr/>
          <a:lstStyle>
            <a:lvl1pPr>
              <a:buNone/>
              <a:defRPr sz="2800" b="0" i="0"/>
            </a:lvl1pPr>
          </a:lstStyle>
          <a:p>
            <a:pPr lvl="0">
              <a:buNone/>
            </a:pPr>
            <a:r>
              <a:t> </a:t>
            </a:r>
          </a:p>
        </p:txBody>
      </p:sp>
      <p:pic>
        <p:nvPicPr>
          <p:cNvPr id="20" name="Picture 7"/>
          <p:cNvPicPr>
            <a:picLocks noChangeAspect="1"/>
          </p:cNvPicPr>
          <p:nvPr/>
        </p:nvPicPr>
        <p:blipFill>
          <a:blip r:embed="rId4"/>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p>
            <a:fld id="{63DCA5C9-2E11-4C67-86EB-AE1DE127DC64}" type="slidenum">
              <a:rPr/>
              <a:t>‹#›</a:t>
            </a:fld>
            <a:endParaRPr/>
          </a:p>
        </p:txBody>
      </p:sp>
      <p:sp>
        <p:nvSpPr>
          <p:cNvPr id="14" name="Title 1">
            <a:extLst>
              <a:ext uri="{FF2B5EF4-FFF2-40B4-BE49-F238E27FC236}">
                <a16:creationId xmlns:a16="http://schemas.microsoft.com/office/drawing/2014/main" id="{561928D6-AF33-2FC3-7DA3-712B90A8FF99}"/>
              </a:ext>
            </a:extLst>
          </p:cNvPr>
          <p:cNvSpPr>
            <a:spLocks noGrp="1"/>
          </p:cNvSpPr>
          <p:nvPr>
            <p:ph type="title" hasCustomPrompt="1"/>
          </p:nvPr>
        </p:nvSpPr>
        <p:spPr>
          <a:xfrm>
            <a:off x="460377" y="1770064"/>
            <a:ext cx="6156323" cy="1962936"/>
          </a:xfrm>
          <a:prstGeom prst="rect">
            <a:avLst/>
          </a:prstGeom>
        </p:spPr>
        <p:txBody>
          <a:bodyPr anchor="b"/>
          <a:lstStyle>
            <a:lvl1pPr>
              <a:buNone/>
              <a:defRPr sz="2800" b="1">
                <a:solidFill>
                  <a:schemeClr val="tx1"/>
                </a:solidFill>
              </a:defRPr>
            </a:lvl1pPr>
          </a:lstStyle>
          <a:p>
            <a:r>
              <a:t>Statement lorem ipsum dolor sit amet, consectetur adipiscing elit, sed do eiusmod tempor amet adjust highlight et dolore. </a:t>
            </a:r>
          </a:p>
        </p:txBody>
      </p:sp>
      <p:sp>
        <p:nvSpPr>
          <p:cNvPr id="15" name="Picture Placeholder 7">
            <a:extLst>
              <a:ext uri="{FF2B5EF4-FFF2-40B4-BE49-F238E27FC236}">
                <a16:creationId xmlns:a16="http://schemas.microsoft.com/office/drawing/2014/main" id="{2B7400D2-037A-9FDF-16A4-0FD79008EAA7}"/>
              </a:ext>
            </a:extLst>
          </p:cNvPr>
          <p:cNvSpPr>
            <a:spLocks noGrp="1"/>
          </p:cNvSpPr>
          <p:nvPr>
            <p:ph type="pic" idx="10" hasCustomPrompt="1"/>
          </p:nvPr>
        </p:nvSpPr>
        <p:spPr>
          <a:xfrm>
            <a:off x="7805583" y="1143000"/>
            <a:ext cx="2566219" cy="2569906"/>
          </a:xfrm>
          <a:prstGeom prst="rect">
            <a:avLst/>
          </a:prstGeom>
          <a:solidFill>
            <a:schemeClr val="accent2">
              <a:lumMod val="40000"/>
              <a:lumOff val="60000"/>
            </a:schemeClr>
          </a:solidFill>
        </p:spPr>
        <p:txBody>
          <a:bodyPr tIns="822960"/>
          <a:lstStyle>
            <a:lvl1pPr algn="ctr">
              <a:buNone/>
              <a:defRPr b="0" i="0"/>
            </a:lvl1pPr>
          </a:lstStyle>
          <a:p>
            <a:r>
              <a:t>Picture</a:t>
            </a:r>
          </a:p>
        </p:txBody>
      </p:sp>
      <p:sp>
        <p:nvSpPr>
          <p:cNvPr id="16" name="Picture Placeholder 7">
            <a:extLst>
              <a:ext uri="{FF2B5EF4-FFF2-40B4-BE49-F238E27FC236}">
                <a16:creationId xmlns:a16="http://schemas.microsoft.com/office/drawing/2014/main" id="{2351EC89-08D0-926B-7E0B-EF30F37058AA}"/>
              </a:ext>
            </a:extLst>
          </p:cNvPr>
          <p:cNvSpPr>
            <a:spLocks noGrp="1"/>
          </p:cNvSpPr>
          <p:nvPr>
            <p:ph type="pic" idx="26" hasCustomPrompt="1"/>
          </p:nvPr>
        </p:nvSpPr>
        <p:spPr>
          <a:xfrm>
            <a:off x="8465574" y="3900948"/>
            <a:ext cx="1906228" cy="1902542"/>
          </a:xfrm>
          <a:prstGeom prst="rect">
            <a:avLst/>
          </a:prstGeom>
          <a:solidFill>
            <a:schemeClr val="accent2">
              <a:lumMod val="40000"/>
              <a:lumOff val="60000"/>
            </a:schemeClr>
          </a:solidFill>
        </p:spPr>
        <p:txBody>
          <a:bodyPr tIns="548640"/>
          <a:lstStyle>
            <a:lvl1pPr algn="ctr">
              <a:buNone/>
              <a:defRPr b="0" i="0"/>
            </a:lvl1pPr>
          </a:lstStyle>
          <a:p>
            <a:r>
              <a:t>Picture</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412534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F6E430-C704-4347-B9B2-A316866DAB3C}"/>
              </a:ext>
            </a:extLst>
          </p:cNvPr>
          <p:cNvSpPr>
            <a:spLocks noGrp="1"/>
          </p:cNvSpPr>
          <p:nvPr>
            <p:ph type="title"/>
          </p:nvPr>
        </p:nvSpPr>
        <p:spPr>
          <a:xfrm>
            <a:off x="460372" y="556953"/>
            <a:ext cx="11268077" cy="855922"/>
          </a:xfrm>
          <a:prstGeom prst="rect">
            <a:avLst/>
          </a:prstGeom>
        </p:spPr>
        <p:txBody>
          <a:bodyPr vert="horz" lIns="0" tIns="0" rIns="0" bIns="0" anchor="t">
            <a:noAutofit/>
          </a:bodyPr>
          <a:lstStyle/>
          <a:p>
            <a:r>
              <a:t>Click to edit Master title style</a:t>
            </a:r>
          </a:p>
        </p:txBody>
      </p:sp>
      <p:sp>
        <p:nvSpPr>
          <p:cNvPr id="5" name="Footer Placeholder 4">
            <a:extLst>
              <a:ext uri="{FF2B5EF4-FFF2-40B4-BE49-F238E27FC236}">
                <a16:creationId xmlns:a16="http://schemas.microsoft.com/office/drawing/2014/main" id="{AD3E1188-1FD1-4224-934E-272968053E35}"/>
              </a:ext>
            </a:extLst>
          </p:cNvPr>
          <p:cNvSpPr>
            <a:spLocks noGrp="1"/>
          </p:cNvSpPr>
          <p:nvPr>
            <p:ph type="ftr" idx="3"/>
          </p:nvPr>
        </p:nvSpPr>
        <p:spPr>
          <a:xfrm>
            <a:off x="4321019" y="6400798"/>
            <a:ext cx="7102834" cy="167949"/>
          </a:xfrm>
          <a:prstGeom prst="rect">
            <a:avLst/>
          </a:prstGeom>
        </p:spPr>
        <p:txBody>
          <a:bodyPr vert="horz" lIns="0" tIns="0" rIns="0" bIns="0" anchor="ctr"/>
          <a:lstStyle>
            <a:lvl1pPr marL="0" indent="9525" algn="r">
              <a:buNone/>
              <a:defRPr sz="900" b="0" i="0" cap="none" baseline="0">
                <a:solidFill>
                  <a:schemeClr val="tx1"/>
                </a:solidFill>
                <a:latin typeface="+mn-lt"/>
                <a:ea typeface="+mn-lt"/>
                <a:cs typeface="+mn-lt"/>
              </a:defRPr>
            </a:lvl1pPr>
            <a:lvl2pPr marL="0" indent="9525" algn="r">
              <a:buNone/>
              <a:defRPr sz="900" b="0" i="0" cap="none" baseline="0">
                <a:solidFill>
                  <a:schemeClr val="tx1"/>
                </a:solidFill>
                <a:latin typeface="+mn-lt"/>
                <a:ea typeface="+mn-lt"/>
                <a:cs typeface="+mn-lt"/>
              </a:defRPr>
            </a:lvl2pPr>
            <a:lvl3pPr marL="0" indent="9525" algn="r">
              <a:buNone/>
              <a:defRPr sz="900" b="0" i="0" cap="none" baseline="0">
                <a:solidFill>
                  <a:schemeClr val="tx1"/>
                </a:solidFill>
                <a:latin typeface="+mn-lt"/>
                <a:ea typeface="+mn-lt"/>
                <a:cs typeface="+mn-lt"/>
              </a:defRPr>
            </a:lvl3pPr>
            <a:lvl4pPr marL="0" indent="9525" algn="r">
              <a:buNone/>
              <a:defRPr sz="900" b="0" i="0" cap="none" baseline="0">
                <a:solidFill>
                  <a:schemeClr val="tx1"/>
                </a:solidFill>
                <a:latin typeface="+mn-lt"/>
                <a:ea typeface="+mn-lt"/>
                <a:cs typeface="+mn-lt"/>
              </a:defRPr>
            </a:lvl4pPr>
            <a:lvl5pPr marL="0" indent="9525" algn="r">
              <a:buNone/>
              <a:defRPr sz="900" b="0" i="0" cap="none" baseline="0">
                <a:solidFill>
                  <a:schemeClr val="tx1"/>
                </a:solidFill>
                <a:latin typeface="+mn-lt"/>
                <a:ea typeface="+mn-lt"/>
                <a:cs typeface="+mn-lt"/>
              </a:defRPr>
            </a:lvl5pPr>
            <a:lvl6pPr marL="0" indent="9525" algn="r">
              <a:buNone/>
              <a:defRPr sz="900" b="0" i="0" cap="none" baseline="0">
                <a:solidFill>
                  <a:schemeClr val="tx1"/>
                </a:solidFill>
                <a:latin typeface="+mn-lt"/>
                <a:ea typeface="+mn-lt"/>
                <a:cs typeface="+mn-lt"/>
              </a:defRPr>
            </a:lvl6pPr>
            <a:lvl7pPr marL="0" indent="9525" algn="r">
              <a:buNone/>
              <a:defRPr sz="900" b="0" i="0" cap="none" baseline="0">
                <a:solidFill>
                  <a:schemeClr val="tx1"/>
                </a:solidFill>
                <a:latin typeface="+mn-lt"/>
                <a:ea typeface="+mn-lt"/>
                <a:cs typeface="+mn-lt"/>
              </a:defRPr>
            </a:lvl7pPr>
            <a:lvl8pPr marL="0" indent="9525" algn="r">
              <a:buNone/>
              <a:defRPr sz="900" b="0" i="0" cap="none" baseline="0">
                <a:solidFill>
                  <a:schemeClr val="tx1"/>
                </a:solidFill>
                <a:latin typeface="+mn-lt"/>
                <a:ea typeface="+mn-lt"/>
                <a:cs typeface="+mn-lt"/>
              </a:defRPr>
            </a:lvl8pPr>
            <a:lvl9pPr marL="0" indent="9525" algn="r">
              <a:buNone/>
              <a:defRPr sz="900" b="0" i="0" cap="none" baseline="0">
                <a:solidFill>
                  <a:schemeClr val="tx1"/>
                </a:solidFill>
                <a:latin typeface="+mn-lt"/>
                <a:ea typeface="+mn-lt"/>
                <a:cs typeface="+mn-lt"/>
              </a:defRPr>
            </a:lvl9pPr>
          </a:lstStyle>
          <a:p>
            <a:r>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700D9174-BB97-4E1D-B1F8-F7809EED8223}"/>
              </a:ext>
            </a:extLst>
          </p:cNvPr>
          <p:cNvSpPr>
            <a:spLocks noGrp="1"/>
          </p:cNvSpPr>
          <p:nvPr>
            <p:ph type="sldNum" idx="4"/>
          </p:nvPr>
        </p:nvSpPr>
        <p:spPr>
          <a:xfrm>
            <a:off x="11509578" y="6400799"/>
            <a:ext cx="218871" cy="167949"/>
          </a:xfrm>
          <a:prstGeom prst="rect">
            <a:avLst/>
          </a:prstGeom>
        </p:spPr>
        <p:txBody>
          <a:bodyPr vert="horz" lIns="0" tIns="0" rIns="0" bIns="0" anchor="ctr"/>
          <a:lstStyle>
            <a:lvl1pPr algn="r">
              <a:buNone/>
              <a:defRPr sz="900" b="0" i="0">
                <a:solidFill>
                  <a:schemeClr val="tx1"/>
                </a:solidFill>
                <a:latin typeface="+mn-lt"/>
                <a:ea typeface="+mn-lt"/>
                <a:cs typeface="+mn-lt"/>
              </a:defRPr>
            </a:lvl1pPr>
            <a:lvl2pPr marL="0" algn="r">
              <a:buNone/>
              <a:defRPr sz="900" b="0" i="0">
                <a:solidFill>
                  <a:schemeClr val="tx1"/>
                </a:solidFill>
                <a:latin typeface="+mn-lt"/>
                <a:ea typeface="+mn-lt"/>
                <a:cs typeface="+mn-lt"/>
              </a:defRPr>
            </a:lvl2pPr>
            <a:lvl3pPr marL="0" algn="r">
              <a:buNone/>
              <a:defRPr sz="900" b="0" i="0">
                <a:solidFill>
                  <a:schemeClr val="tx1"/>
                </a:solidFill>
                <a:latin typeface="+mn-lt"/>
                <a:ea typeface="+mn-lt"/>
                <a:cs typeface="+mn-lt"/>
              </a:defRPr>
            </a:lvl3pPr>
            <a:lvl4pPr marL="0" algn="r">
              <a:buNone/>
              <a:defRPr sz="900" b="0" i="0">
                <a:solidFill>
                  <a:schemeClr val="tx1"/>
                </a:solidFill>
                <a:latin typeface="+mn-lt"/>
                <a:ea typeface="+mn-lt"/>
                <a:cs typeface="+mn-lt"/>
              </a:defRPr>
            </a:lvl4pPr>
            <a:lvl5pPr marL="0" algn="r">
              <a:buNone/>
              <a:defRPr sz="900" b="0" i="0">
                <a:solidFill>
                  <a:schemeClr val="tx1"/>
                </a:solidFill>
                <a:latin typeface="+mn-lt"/>
                <a:ea typeface="+mn-lt"/>
                <a:cs typeface="+mn-lt"/>
              </a:defRPr>
            </a:lvl5pPr>
            <a:lvl6pPr marL="0" algn="r">
              <a:buNone/>
              <a:defRPr sz="900" b="0" i="0">
                <a:solidFill>
                  <a:schemeClr val="tx1"/>
                </a:solidFill>
                <a:latin typeface="+mn-lt"/>
                <a:ea typeface="+mn-lt"/>
                <a:cs typeface="+mn-lt"/>
              </a:defRPr>
            </a:lvl6pPr>
            <a:lvl7pPr marL="0" algn="r">
              <a:buNone/>
              <a:defRPr sz="900" b="0" i="0">
                <a:solidFill>
                  <a:schemeClr val="tx1"/>
                </a:solidFill>
                <a:latin typeface="+mn-lt"/>
                <a:ea typeface="+mn-lt"/>
                <a:cs typeface="+mn-lt"/>
              </a:defRPr>
            </a:lvl7pPr>
            <a:lvl8pPr marL="0" algn="r">
              <a:buNone/>
              <a:defRPr sz="900" b="0" i="0">
                <a:solidFill>
                  <a:schemeClr val="tx1"/>
                </a:solidFill>
                <a:latin typeface="+mn-lt"/>
                <a:ea typeface="+mn-lt"/>
                <a:cs typeface="+mn-lt"/>
              </a:defRPr>
            </a:lvl8pPr>
            <a:lvl9pPr marL="0" algn="r">
              <a:buNone/>
              <a:defRPr sz="900" b="0" i="0">
                <a:solidFill>
                  <a:schemeClr val="tx1"/>
                </a:solidFill>
                <a:latin typeface="+mn-lt"/>
                <a:ea typeface="+mn-lt"/>
                <a:cs typeface="+mn-lt"/>
              </a:defRPr>
            </a:lvl9pPr>
          </a:lstStyle>
          <a:p>
            <a:fld id="{63DCA5C9-2E11-4C67-86EB-AE1DE127DC64}" type="slidenum">
              <a:rPr/>
              <a:t>‹#›</a:t>
            </a:fld>
            <a:endParaRPr/>
          </a:p>
        </p:txBody>
      </p:sp>
      <p:sp>
        <p:nvSpPr>
          <p:cNvPr id="8" name="Text Placeholder 7">
            <a:extLst>
              <a:ext uri="{FF2B5EF4-FFF2-40B4-BE49-F238E27FC236}">
                <a16:creationId xmlns:a16="http://schemas.microsoft.com/office/drawing/2014/main" id="{1F3744DC-99FB-677C-5F62-49846C2E80F3}"/>
              </a:ext>
            </a:extLst>
          </p:cNvPr>
          <p:cNvSpPr>
            <a:spLocks noGrp="1"/>
          </p:cNvSpPr>
          <p:nvPr>
            <p:ph type="body" idx="1"/>
          </p:nvPr>
        </p:nvSpPr>
        <p:spPr>
          <a:xfrm>
            <a:off x="460372" y="1773936"/>
            <a:ext cx="11268076" cy="4351338"/>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hdr="0" dt="0"/>
  <p:txStyles>
    <p:titleStyle>
      <a:lvl1pPr algn="l" defTabSz="914400">
        <a:lnSpc>
          <a:spcPct val="100000"/>
        </a:lnSpc>
        <a:spcBef>
          <a:spcPct val="0"/>
        </a:spcBef>
        <a:buNone/>
        <a:defRPr sz="2200" b="1" i="0" kern="1200">
          <a:solidFill>
            <a:schemeClr val="tx1"/>
          </a:solidFill>
          <a:latin typeface="+mj-lt"/>
          <a:ea typeface="+mj-lt"/>
          <a:cs typeface="+mj-lt"/>
        </a:defRPr>
      </a:lvl1pPr>
    </p:titleStyle>
    <p:bodyStyle>
      <a:lvl1pPr marL="0" indent="0" algn="l" defTabSz="914400">
        <a:lnSpc>
          <a:spcPct val="100000"/>
        </a:lnSpc>
        <a:spcBef>
          <a:spcPts val="0"/>
        </a:spcBef>
        <a:spcAft>
          <a:spcPts val="600"/>
        </a:spcAft>
        <a:buFont typeface="Arial"/>
        <a:buNone/>
        <a:defRPr sz="1500" kern="1200">
          <a:solidFill>
            <a:schemeClr val="tx1"/>
          </a:solidFill>
          <a:latin typeface="+mn-lt"/>
          <a:ea typeface="+mn-lt"/>
          <a:cs typeface="+mn-lt"/>
        </a:defRPr>
      </a:lvl1pPr>
      <a:lvl2pPr marL="292608"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2pPr>
      <a:lvl3pPr marL="566928"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3pPr>
      <a:lvl4pPr marL="914400"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4pPr>
      <a:lvl5pPr marL="1261872"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5pPr>
      <a:lvl6pPr marL="1600200" indent="-283464" algn="l" defTabSz="914400">
        <a:lnSpc>
          <a:spcPct val="100000"/>
        </a:lnSpc>
        <a:spcBef>
          <a:spcPts val="0"/>
        </a:spcBef>
        <a:spcAft>
          <a:spcPts val="400"/>
        </a:spcAft>
        <a:buFont typeface="Arial"/>
        <a:buChar char="•"/>
        <a:defRPr sz="1500" kern="1200">
          <a:solidFill>
            <a:schemeClr val="tx1"/>
          </a:solidFill>
          <a:latin typeface="+mn-lt"/>
          <a:ea typeface="+mn-lt"/>
          <a:cs typeface="+mn-lt"/>
        </a:defRPr>
      </a:lvl6pPr>
      <a:lvl7pPr marL="1938528"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7pPr>
      <a:lvl8pPr marL="2286000"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8pPr>
      <a:lvl9pPr marL="2633472"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9pPr>
    </p:bodyStyle>
    <p:otherStyle>
      <a:lvl1pPr marL="0" algn="l" defTabSz="914400">
        <a:buNone/>
        <a:defRPr sz="1400" kern="1200">
          <a:solidFill>
            <a:schemeClr val="tx1"/>
          </a:solidFill>
          <a:latin typeface="+mn-lt"/>
          <a:ea typeface="+mn-lt"/>
          <a:cs typeface="+mn-lt"/>
        </a:defRPr>
      </a:lvl1pPr>
      <a:lvl2pPr marL="457200" algn="l" defTabSz="914400">
        <a:buNone/>
        <a:defRPr sz="1400" kern="1200">
          <a:solidFill>
            <a:schemeClr val="tx1"/>
          </a:solidFill>
          <a:latin typeface="+mn-lt"/>
          <a:ea typeface="+mn-lt"/>
          <a:cs typeface="+mn-lt"/>
        </a:defRPr>
      </a:lvl2pPr>
      <a:lvl3pPr marL="914400" algn="l" defTabSz="914400">
        <a:buNone/>
        <a:defRPr sz="1400" kern="1200">
          <a:solidFill>
            <a:schemeClr val="tx1"/>
          </a:solidFill>
          <a:latin typeface="+mn-lt"/>
          <a:ea typeface="+mn-lt"/>
          <a:cs typeface="+mn-lt"/>
        </a:defRPr>
      </a:lvl3pPr>
      <a:lvl4pPr marL="1371600" algn="l" defTabSz="914400">
        <a:buNone/>
        <a:defRPr sz="1400" kern="1200">
          <a:solidFill>
            <a:schemeClr val="tx1"/>
          </a:solidFill>
          <a:latin typeface="+mn-lt"/>
          <a:ea typeface="+mn-lt"/>
          <a:cs typeface="+mn-lt"/>
        </a:defRPr>
      </a:lvl4pPr>
      <a:lvl5pPr marL="1828800" algn="l" defTabSz="914400">
        <a:buNone/>
        <a:defRPr sz="1400" kern="1200">
          <a:solidFill>
            <a:schemeClr val="tx1"/>
          </a:solidFill>
          <a:latin typeface="+mn-lt"/>
          <a:ea typeface="+mn-lt"/>
          <a:cs typeface="+mn-lt"/>
        </a:defRPr>
      </a:lvl5pPr>
      <a:lvl6pPr marL="2286000" algn="l" defTabSz="914400">
        <a:buNone/>
        <a:defRPr sz="1400" kern="1200">
          <a:solidFill>
            <a:schemeClr val="tx1"/>
          </a:solidFill>
          <a:latin typeface="+mn-lt"/>
          <a:ea typeface="+mn-lt"/>
          <a:cs typeface="+mn-lt"/>
        </a:defRPr>
      </a:lvl6pPr>
      <a:lvl7pPr marL="2743200" algn="l" defTabSz="914400">
        <a:buNone/>
        <a:defRPr sz="1400" kern="1200">
          <a:solidFill>
            <a:schemeClr val="tx1"/>
          </a:solidFill>
          <a:latin typeface="+mn-lt"/>
          <a:ea typeface="+mn-lt"/>
          <a:cs typeface="+mn-lt"/>
        </a:defRPr>
      </a:lvl7pPr>
      <a:lvl8pPr marL="3200400" algn="l" defTabSz="914400">
        <a:buNone/>
        <a:defRPr sz="1400" kern="1200">
          <a:solidFill>
            <a:schemeClr val="tx1"/>
          </a:solidFill>
          <a:latin typeface="+mn-lt"/>
          <a:ea typeface="+mn-lt"/>
          <a:cs typeface="+mn-lt"/>
        </a:defRPr>
      </a:lvl8pPr>
      <a:lvl9pPr marL="3657600" algn="l" defTabSz="914400">
        <a:buNone/>
        <a:defRPr sz="1400" kern="1200">
          <a:solidFill>
            <a:schemeClr val="tx1"/>
          </a:solidFill>
          <a:latin typeface="+mn-lt"/>
          <a:ea typeface="+mn-lt"/>
          <a:cs typeface="+mn-lt"/>
        </a:defRPr>
      </a:lvl9pPr>
    </p:otherStyle>
  </p:txStyles>
  <p:extLst>
    <p:ext uri="{27BBF7A9-308A-43DC-89C8-2F10F3537804}">
      <p15:sldGuideLst xmlns:p15="http://schemas.microsoft.com/office/powerpoint/2012/main">
        <p15:guide id="25" orient="horz" pos="346" userDrawn="1">
          <p15:clr>
            <a:srgbClr val="F26B43"/>
          </p15:clr>
        </p15:guide>
        <p15:guide id="31" orient="horz" pos="4137" userDrawn="1">
          <p15:clr>
            <a:srgbClr val="F26B43"/>
          </p15:clr>
        </p15:guide>
        <p15:guide id="32" orient="horz" pos="4032" userDrawn="1">
          <p15:clr>
            <a:srgbClr val="F26B43"/>
          </p15:clr>
        </p15:guide>
        <p15:guide id="49" orient="horz" pos="890" userDrawn="1">
          <p15:clr>
            <a:srgbClr val="F26B43"/>
          </p15:clr>
        </p15:guide>
        <p15:guide id="50" orient="horz" pos="1115" userDrawn="1">
          <p15:clr>
            <a:srgbClr val="F26B43"/>
          </p15:clr>
        </p15:guide>
        <p15:guide id="51" pos="288" userDrawn="1">
          <p15:clr>
            <a:srgbClr val="F26B43"/>
          </p15:clr>
        </p15:guide>
        <p15:guide id="64" orient="horz" pos="3792" userDrawn="1">
          <p15:clr>
            <a:srgbClr val="F26B43"/>
          </p15:clr>
        </p15:guide>
        <p15:guide id="65" orient="horz" pos="3863" userDrawn="1">
          <p15:clr>
            <a:srgbClr val="F26B43"/>
          </p15:clr>
        </p15:guide>
        <p15:guide id="66" pos="739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3_3166D99E.xml"/><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microsoft.com/office/2018/10/relationships/comments" Target="../comments/modernComment_29E_F4A18CE3.xml"/><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33.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26_6794696D.xml"/><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43_3BD73A13.xml"/><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13C_85FA98B.xml"/><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microsoft.com/office/2018/10/relationships/comments" Target="../comments/modernComment_12E_5379C3DF.xml"/><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3F_11354A5C.xml"/><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13E_B1AB5E6C.xml"/><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3D_9E3B556B.xml"/><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10B_5DB33DBA.xml"/><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3.xml"/><Relationship Id="rId5" Type="http://schemas.openxmlformats.org/officeDocument/2006/relationships/image" Target="../media/image35.svg"/><Relationship Id="rId4" Type="http://schemas.openxmlformats.org/officeDocument/2006/relationships/image" Target="../media/image34.sv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3.xml"/><Relationship Id="rId5" Type="http://schemas.openxmlformats.org/officeDocument/2006/relationships/image" Target="../media/image35.svg"/><Relationship Id="rId4" Type="http://schemas.openxmlformats.org/officeDocument/2006/relationships/image" Target="../media/image34.sv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35.svg"/><Relationship Id="rId4" Type="http://schemas.openxmlformats.org/officeDocument/2006/relationships/image" Target="../media/image34.sv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3.xml"/><Relationship Id="rId5" Type="http://schemas.openxmlformats.org/officeDocument/2006/relationships/image" Target="../media/image35.svg"/><Relationship Id="rId4" Type="http://schemas.openxmlformats.org/officeDocument/2006/relationships/image" Target="../media/image34.sv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13.xml"/><Relationship Id="rId5" Type="http://schemas.openxmlformats.org/officeDocument/2006/relationships/image" Target="../media/image35.svg"/><Relationship Id="rId4" Type="http://schemas.openxmlformats.org/officeDocument/2006/relationships/image" Target="../media/image34.svg"/></Relationships>
</file>

<file path=ppt/slides/_rels/slide31.xml.rels><?xml version="1.0" encoding="UTF-8" standalone="yes"?>
<Relationships xmlns="http://schemas.openxmlformats.org/package/2006/relationships"><Relationship Id="rId3" Type="http://schemas.microsoft.com/office/2018/10/relationships/comments" Target="../comments/modernComment_120_9472878C.xml"/><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microsoft.com/office/2018/10/relationships/comments" Target="../comments/modernComment_110_4A1F9261.xml"/><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microsoft.com/office/2018/10/relationships/comments" Target="../comments/modernComment_13A_FCED75A2.xml"/><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microsoft.com/office/2018/10/relationships/comments" Target="../comments/modernComment_142_C43A6AE9.xml"/><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microsoft.com/office/2018/10/relationships/comments" Target="../comments/modernComment_136_40FC397.xml"/><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9.xml"/><Relationship Id="rId4" Type="http://schemas.openxmlformats.org/officeDocument/2006/relationships/chart" Target="../charts/chart1.xml"/></Relationships>
</file>

<file path=ppt/slides/_rels/slide46.xml.rels><?xml version="1.0" encoding="UTF-8" standalone="yes"?>
<Relationships xmlns="http://schemas.openxmlformats.org/package/2006/relationships"><Relationship Id="rId3" Type="http://schemas.microsoft.com/office/2018/10/relationships/comments" Target="../comments/modernComment_107_121E4FE4.xml"/><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9.xml"/><Relationship Id="rId1" Type="http://schemas.openxmlformats.org/officeDocument/2006/relationships/slideLayout" Target="../slideLayouts/slideLayout13.xml"/><Relationship Id="rId5" Type="http://schemas.openxmlformats.org/officeDocument/2006/relationships/image" Target="../media/image35.svg"/><Relationship Id="rId4" Type="http://schemas.openxmlformats.org/officeDocument/2006/relationships/image" Target="../media/image34.svg"/></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13.xml"/><Relationship Id="rId5" Type="http://schemas.openxmlformats.org/officeDocument/2006/relationships/image" Target="../media/image35.svg"/><Relationship Id="rId4" Type="http://schemas.openxmlformats.org/officeDocument/2006/relationships/image" Target="../media/image34.svg"/></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1.xml"/><Relationship Id="rId1" Type="http://schemas.openxmlformats.org/officeDocument/2006/relationships/slideLayout" Target="../slideLayouts/slideLayout13.xml"/><Relationship Id="rId5" Type="http://schemas.openxmlformats.org/officeDocument/2006/relationships/image" Target="../media/image35.svg"/><Relationship Id="rId4" Type="http://schemas.openxmlformats.org/officeDocument/2006/relationships/image" Target="../media/image34.svg"/></Relationships>
</file>

<file path=ppt/slides/_rels/slide5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2.xml"/><Relationship Id="rId1" Type="http://schemas.openxmlformats.org/officeDocument/2006/relationships/slideLayout" Target="../slideLayouts/slideLayout13.xml"/><Relationship Id="rId5" Type="http://schemas.openxmlformats.org/officeDocument/2006/relationships/image" Target="../media/image35.svg"/><Relationship Id="rId4" Type="http://schemas.openxmlformats.org/officeDocument/2006/relationships/image" Target="../media/image34.svg"/></Relationships>
</file>

<file path=ppt/slides/_rels/slide53.xml.rels><?xml version="1.0" encoding="UTF-8" standalone="yes"?>
<Relationships xmlns="http://schemas.openxmlformats.org/package/2006/relationships"><Relationship Id="rId3" Type="http://schemas.microsoft.com/office/2018/10/relationships/comments" Target="../comments/modernComment_133_7AD186E9.xml"/><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4.xml"/><Relationship Id="rId1" Type="http://schemas.openxmlformats.org/officeDocument/2006/relationships/slideLayout" Target="../slideLayouts/slideLayout34.xml"/><Relationship Id="rId4" Type="http://schemas.openxmlformats.org/officeDocument/2006/relationships/image" Target="../media/image36.svg"/></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microsoft.com/office/2018/10/relationships/comments" Target="../comments/modernComment_140_B6055E57.xml"/><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2AB537DE-4188-4683-A18A-E8EF051A1A7E}"/>
              </a:ext>
            </a:extLst>
          </p:cNvPr>
          <p:cNvSpPr>
            <a:spLocks noGrp="1"/>
          </p:cNvSpPr>
          <p:nvPr/>
        </p:nvSpPr>
        <p:spPr>
          <a:xfrm>
            <a:off x="457200" y="2038350"/>
            <a:ext cx="4857750" cy="1066800"/>
          </a:xfrm>
          <a:prstGeom prst="rect">
            <a:avLst/>
          </a:prstGeom>
          <a:noFill/>
          <a:ln w="0">
            <a:noFill/>
          </a:ln>
        </p:spPr>
        <p:txBody>
          <a:bodyPr anchor="t">
            <a:normAutofit/>
          </a:bodyPr>
          <a:lstStyle/>
          <a:p>
            <a:pPr>
              <a:lnSpc>
                <a:spcPct val="94000"/>
              </a:lnSpc>
              <a:buNone/>
              <a:defRPr sz="3000" b="1" i="0">
                <a:solidFill>
                  <a:srgbClr val="070154"/>
                </a:solidFill>
                <a:latin typeface="Arial"/>
                <a:ea typeface="Arial"/>
                <a:cs typeface="Arial"/>
              </a:defRPr>
            </a:pPr>
            <a:r>
              <a:rPr sz="3000" b="1" i="0">
                <a:solidFill>
                  <a:srgbClr val="070154"/>
                </a:solidFill>
                <a:latin typeface="Arial"/>
                <a:ea typeface="Arial"/>
                <a:cs typeface="Arial"/>
              </a:rPr>
              <a:t>Product and R&amp;D</a:t>
            </a:r>
          </a:p>
          <a:p>
            <a:pPr>
              <a:lnSpc>
                <a:spcPct val="94000"/>
              </a:lnSpc>
              <a:buNone/>
              <a:defRPr sz="3000" b="1" i="0">
                <a:solidFill>
                  <a:srgbClr val="070154"/>
                </a:solidFill>
                <a:latin typeface="Arial"/>
                <a:ea typeface="Arial"/>
                <a:cs typeface="Arial"/>
              </a:defRPr>
            </a:pPr>
            <a:r>
              <a:rPr sz="3000" b="1" i="0">
                <a:solidFill>
                  <a:srgbClr val="070154"/>
                </a:solidFill>
                <a:latin typeface="Arial"/>
                <a:ea typeface="Arial"/>
                <a:cs typeface="Arial"/>
              </a:rPr>
              <a:t>Operating Model</a:t>
            </a:r>
          </a:p>
        </p:txBody>
      </p:sp>
      <p:sp>
        <p:nvSpPr>
          <p:cNvPr id="3" name="Rectangle 2">
            <a:extLst>
              <a:ext uri="{FF2B5EF4-FFF2-40B4-BE49-F238E27FC236}">
                <a16:creationId xmlns:a16="http://schemas.microsoft.com/office/drawing/2014/main" id="{16FD8E26-7E96-4194-9E3B-7366D0598797}"/>
              </a:ext>
            </a:extLst>
          </p:cNvPr>
          <p:cNvSpPr>
            <a:spLocks noGrp="1"/>
          </p:cNvSpPr>
          <p:nvPr/>
        </p:nvSpPr>
        <p:spPr>
          <a:xfrm>
            <a:off x="457200" y="3333750"/>
            <a:ext cx="1143000" cy="66675"/>
          </a:xfrm>
          <a:prstGeom prst="rect">
            <a:avLst/>
          </a:prstGeom>
          <a:solidFill>
            <a:srgbClr val="0047FF"/>
          </a:solidFill>
          <a:ln w="0">
            <a:noFill/>
          </a:ln>
        </p:spPr>
        <p:txBody>
          <a:bodyPr/>
          <a:lstStyle/>
          <a:p>
            <a:endParaRPr lang="en-US"/>
          </a:p>
        </p:txBody>
      </p:sp>
      <p:sp>
        <p:nvSpPr>
          <p:cNvPr id="4" name="Rectangle 3">
            <a:extLst>
              <a:ext uri="{FF2B5EF4-FFF2-40B4-BE49-F238E27FC236}">
                <a16:creationId xmlns:a16="http://schemas.microsoft.com/office/drawing/2014/main" id="{0ECC50DB-9005-4D0C-80D3-68A21AF6BDF7}"/>
              </a:ext>
            </a:extLst>
          </p:cNvPr>
          <p:cNvSpPr>
            <a:spLocks noGrp="1"/>
          </p:cNvSpPr>
          <p:nvPr/>
        </p:nvSpPr>
        <p:spPr>
          <a:xfrm>
            <a:off x="457200" y="3619500"/>
            <a:ext cx="5143500" cy="400050"/>
          </a:xfrm>
          <a:prstGeom prst="rect">
            <a:avLst/>
          </a:prstGeom>
          <a:noFill/>
          <a:ln w="0">
            <a:noFill/>
          </a:ln>
        </p:spPr>
        <p:txBody>
          <a:bodyPr anchor="t">
            <a:normAutofit/>
          </a:bodyPr>
          <a:lstStyle/>
          <a:p>
            <a:pPr>
              <a:lnSpc>
                <a:spcPct val="108000"/>
              </a:lnSpc>
              <a:buNone/>
              <a:defRPr sz="1800" b="1" i="0">
                <a:solidFill>
                  <a:srgbClr val="0047FF"/>
                </a:solidFill>
                <a:latin typeface="Arial"/>
                <a:ea typeface="Arial"/>
                <a:cs typeface="Arial"/>
              </a:defRPr>
            </a:pPr>
            <a:r>
              <a:rPr sz="1800" b="1" i="0">
                <a:solidFill>
                  <a:srgbClr val="0047FF"/>
                </a:solidFill>
                <a:latin typeface="Arial"/>
                <a:ea typeface="Arial"/>
                <a:cs typeface="Arial"/>
              </a:rPr>
              <a:t>Validate, improve, and activate</a:t>
            </a:r>
          </a:p>
        </p:txBody>
      </p:sp>
      <p:sp>
        <p:nvSpPr>
          <p:cNvPr id="5" name="Rectangle 4">
            <a:extLst>
              <a:ext uri="{FF2B5EF4-FFF2-40B4-BE49-F238E27FC236}">
                <a16:creationId xmlns:a16="http://schemas.microsoft.com/office/drawing/2014/main" id="{D15B196C-8243-4CAC-855B-9EC2F1CDA961}"/>
              </a:ext>
            </a:extLst>
          </p:cNvPr>
          <p:cNvSpPr>
            <a:spLocks noGrp="1"/>
          </p:cNvSpPr>
          <p:nvPr/>
        </p:nvSpPr>
        <p:spPr>
          <a:xfrm>
            <a:off x="457200" y="4171950"/>
            <a:ext cx="4953000" cy="285750"/>
          </a:xfrm>
          <a:prstGeom prst="rect">
            <a:avLst/>
          </a:prstGeom>
          <a:noFill/>
          <a:ln w="0">
            <a:noFill/>
          </a:ln>
        </p:spPr>
        <p:txBody>
          <a:bodyPr anchor="t">
            <a:normAutofit fontScale="94949" lnSpcReduction="10000"/>
          </a:bodyPr>
          <a:lstStyle/>
          <a:p>
            <a:pPr>
              <a:lnSpc>
                <a:spcPct val="108000"/>
              </a:lnSpc>
              <a:buNone/>
              <a:defRPr sz="1350" b="0" i="0">
                <a:solidFill>
                  <a:srgbClr val="50658E"/>
                </a:solidFill>
                <a:latin typeface="Arial"/>
                <a:ea typeface="Arial"/>
                <a:cs typeface="Arial"/>
              </a:defRPr>
            </a:pPr>
            <a:r>
              <a:rPr lang="en-US" sz="1350" b="0" i="0">
                <a:solidFill>
                  <a:srgbClr val="50658E"/>
                </a:solidFill>
                <a:latin typeface="Arial"/>
                <a:ea typeface="Arial"/>
                <a:cs typeface="Arial"/>
              </a:rPr>
              <a:t>Phase 1 Final Deliverable</a:t>
            </a:r>
            <a:endParaRPr sz="1350" b="0" i="0">
              <a:solidFill>
                <a:srgbClr val="50658E"/>
              </a:solidFill>
              <a:latin typeface="Arial"/>
              <a:ea typeface="Arial"/>
              <a:cs typeface="Arial"/>
            </a:endParaRPr>
          </a:p>
        </p:txBody>
      </p:sp>
      <p:sp>
        <p:nvSpPr>
          <p:cNvPr id="7" name="Rectangle 6">
            <a:extLst>
              <a:ext uri="{FF2B5EF4-FFF2-40B4-BE49-F238E27FC236}">
                <a16:creationId xmlns:a16="http://schemas.microsoft.com/office/drawing/2014/main" id="{FEB6F825-51CA-4A24-A107-18187EFAC36E}"/>
              </a:ext>
            </a:extLst>
          </p:cNvPr>
          <p:cNvSpPr>
            <a:spLocks noGrp="1"/>
          </p:cNvSpPr>
          <p:nvPr/>
        </p:nvSpPr>
        <p:spPr>
          <a:xfrm>
            <a:off x="457200" y="5905500"/>
            <a:ext cx="1619250" cy="190500"/>
          </a:xfrm>
          <a:prstGeom prst="rect">
            <a:avLst/>
          </a:prstGeom>
          <a:noFill/>
          <a:ln w="0">
            <a:noFill/>
          </a:ln>
        </p:spPr>
        <p:txBody>
          <a:bodyPr anchor="t">
            <a:noAutofit/>
          </a:bodyPr>
          <a:lstStyle/>
          <a:p>
            <a:pPr>
              <a:lnSpc>
                <a:spcPct val="108000"/>
              </a:lnSpc>
              <a:buNone/>
              <a:defRPr sz="900" b="1" i="0">
                <a:solidFill>
                  <a:srgbClr val="0047FF"/>
                </a:solidFill>
                <a:latin typeface="Arial"/>
                <a:ea typeface="Arial"/>
                <a:cs typeface="Arial"/>
              </a:defRPr>
            </a:pPr>
            <a:r>
              <a:rPr lang="en-US" sz="1100" b="1" i="0">
                <a:solidFill>
                  <a:srgbClr val="0047FF"/>
                </a:solidFill>
                <a:latin typeface="Arial"/>
                <a:ea typeface="Arial"/>
                <a:cs typeface="Arial"/>
              </a:rPr>
              <a:t>October</a:t>
            </a:r>
            <a:r>
              <a:rPr sz="1100" b="1" i="0">
                <a:solidFill>
                  <a:srgbClr val="0047FF"/>
                </a:solidFill>
                <a:latin typeface="Arial"/>
                <a:ea typeface="Arial"/>
                <a:cs typeface="Arial"/>
              </a:rPr>
              <a:t> 2026</a:t>
            </a:r>
          </a:p>
        </p:txBody>
      </p:sp>
    </p:spTree>
    <p:extLst>
      <p:ext uri="{BB962C8B-B14F-4D97-AF65-F5344CB8AC3E}">
        <p14:creationId xmlns:p14="http://schemas.microsoft.com/office/powerpoint/2010/main" val="13042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600F88-6336-DEA7-8FE9-31CA82A742AB}"/>
              </a:ext>
            </a:extLst>
          </p:cNvPr>
          <p:cNvSpPr>
            <a:spLocks noGrp="1"/>
          </p:cNvSpPr>
          <p:nvPr>
            <p:ph type="ftr" sz="quarter" idx="10"/>
          </p:nvPr>
        </p:nvSpPr>
        <p:spPr/>
        <p:txBody>
          <a:bodyPr/>
          <a:lstStyle/>
          <a:p>
            <a:r>
              <a:rPr lang="en-US" noProof="0"/>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F64A276B-04E7-6F59-BB9C-B75B32CD26A1}"/>
              </a:ext>
            </a:extLst>
          </p:cNvPr>
          <p:cNvSpPr>
            <a:spLocks noGrp="1"/>
          </p:cNvSpPr>
          <p:nvPr>
            <p:ph type="sldNum" sz="quarter" idx="11"/>
          </p:nvPr>
        </p:nvSpPr>
        <p:spPr/>
        <p:txBody>
          <a:bodyPr/>
          <a:lstStyle/>
          <a:p>
            <a:fld id="{63DCA5C9-2E11-4C67-86EB-AE1DE127DC64}" type="slidenum">
              <a:rPr lang="en-US" noProof="0" smtClean="0"/>
              <a:pPr/>
              <a:t>2</a:t>
            </a:fld>
            <a:endParaRPr lang="en-US" noProof="0"/>
          </a:p>
        </p:txBody>
      </p:sp>
      <p:pic>
        <p:nvPicPr>
          <p:cNvPr id="30" name="Picture Placeholder 15">
            <a:extLst>
              <a:ext uri="{FF2B5EF4-FFF2-40B4-BE49-F238E27FC236}">
                <a16:creationId xmlns:a16="http://schemas.microsoft.com/office/drawing/2014/main" id="{39618672-F132-6A61-0F8C-110AD4E5D79B}"/>
              </a:ext>
            </a:extLst>
          </p:cNvPr>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l="176" r="176"/>
          <a:stretch/>
        </p:blipFill>
        <p:spPr/>
      </p:pic>
      <p:sp>
        <p:nvSpPr>
          <p:cNvPr id="6" name="Text Placeholder 5">
            <a:extLst>
              <a:ext uri="{FF2B5EF4-FFF2-40B4-BE49-F238E27FC236}">
                <a16:creationId xmlns:a16="http://schemas.microsoft.com/office/drawing/2014/main" id="{4D98146E-C2A5-30B4-36DE-B00F022BC063}"/>
              </a:ext>
            </a:extLst>
          </p:cNvPr>
          <p:cNvSpPr>
            <a:spLocks noGrp="1"/>
          </p:cNvSpPr>
          <p:nvPr>
            <p:ph type="body" sz="quarter" idx="34"/>
          </p:nvPr>
        </p:nvSpPr>
        <p:spPr/>
        <p:txBody>
          <a:bodyPr/>
          <a:lstStyle/>
          <a:p>
            <a:r>
              <a:rPr lang="en-US" noProof="0"/>
              <a:t>01</a:t>
            </a:r>
          </a:p>
          <a:p>
            <a:r>
              <a:rPr lang="en-US" noProof="0"/>
              <a:t>02</a:t>
            </a:r>
          </a:p>
          <a:p>
            <a:r>
              <a:rPr lang="en-US" noProof="0"/>
              <a:t>03</a:t>
            </a:r>
          </a:p>
          <a:p>
            <a:endParaRPr lang="en-US" noProof="0"/>
          </a:p>
        </p:txBody>
      </p:sp>
      <p:sp>
        <p:nvSpPr>
          <p:cNvPr id="5" name="Title 4">
            <a:extLst>
              <a:ext uri="{FF2B5EF4-FFF2-40B4-BE49-F238E27FC236}">
                <a16:creationId xmlns:a16="http://schemas.microsoft.com/office/drawing/2014/main" id="{FE872792-8A79-B2B3-DF03-3D0C28A1B0A9}"/>
              </a:ext>
            </a:extLst>
          </p:cNvPr>
          <p:cNvSpPr>
            <a:spLocks noGrp="1"/>
          </p:cNvSpPr>
          <p:nvPr>
            <p:ph type="title"/>
          </p:nvPr>
        </p:nvSpPr>
        <p:spPr/>
        <p:txBody>
          <a:bodyPr/>
          <a:lstStyle/>
          <a:p>
            <a:r>
              <a:rPr lang="en-US" noProof="0"/>
              <a:t>Agenda</a:t>
            </a:r>
          </a:p>
        </p:txBody>
      </p:sp>
      <p:sp>
        <p:nvSpPr>
          <p:cNvPr id="7" name="Content Placeholder 6">
            <a:extLst>
              <a:ext uri="{FF2B5EF4-FFF2-40B4-BE49-F238E27FC236}">
                <a16:creationId xmlns:a16="http://schemas.microsoft.com/office/drawing/2014/main" id="{C1F2B901-498E-B3C4-BD55-0E6D42F6D945}"/>
              </a:ext>
            </a:extLst>
          </p:cNvPr>
          <p:cNvSpPr>
            <a:spLocks noGrp="1"/>
          </p:cNvSpPr>
          <p:nvPr>
            <p:ph sz="quarter" idx="20"/>
          </p:nvPr>
        </p:nvSpPr>
        <p:spPr/>
        <p:txBody>
          <a:bodyPr/>
          <a:lstStyle/>
          <a:p>
            <a:r>
              <a:rPr lang="en-US" noProof="0"/>
              <a:t>Executive Summary</a:t>
            </a:r>
          </a:p>
          <a:p>
            <a:r>
              <a:rPr lang="en-US" noProof="0"/>
              <a:t>Deliverables</a:t>
            </a:r>
          </a:p>
          <a:p>
            <a:r>
              <a:rPr lang="en-US" noProof="0"/>
              <a:t>Recommended Next Phase</a:t>
            </a:r>
          </a:p>
          <a:p>
            <a:endParaRPr lang="en-US" noProof="0"/>
          </a:p>
        </p:txBody>
      </p:sp>
      <p:sp>
        <p:nvSpPr>
          <p:cNvPr id="10" name="Text Placeholder 9">
            <a:extLst>
              <a:ext uri="{FF2B5EF4-FFF2-40B4-BE49-F238E27FC236}">
                <a16:creationId xmlns:a16="http://schemas.microsoft.com/office/drawing/2014/main" id="{D50D6906-D8E8-9250-7D53-39C659676AA7}"/>
              </a:ext>
            </a:extLst>
          </p:cNvPr>
          <p:cNvSpPr>
            <a:spLocks noGrp="1"/>
          </p:cNvSpPr>
          <p:nvPr>
            <p:ph type="body" sz="quarter" idx="26"/>
          </p:nvPr>
        </p:nvSpPr>
        <p:spPr>
          <a:xfrm flipH="1" flipV="1">
            <a:off x="400419" y="855203"/>
            <a:ext cx="1167123" cy="130449"/>
          </a:xfrm>
        </p:spPr>
        <p:txBody>
          <a:bodyPr>
            <a:normAutofit fontScale="32500" lnSpcReduction="20000"/>
          </a:bodyPr>
          <a:lstStyle/>
          <a:p>
            <a:endParaRPr lang="en-US" noProof="0"/>
          </a:p>
        </p:txBody>
      </p:sp>
    </p:spTree>
    <p:extLst>
      <p:ext uri="{BB962C8B-B14F-4D97-AF65-F5344CB8AC3E}">
        <p14:creationId xmlns:p14="http://schemas.microsoft.com/office/powerpoint/2010/main" val="1907048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5C5C-B427-BBAC-50D6-A83F034B37C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7D183E-027E-74E6-381D-07E2F45A1FD0}"/>
              </a:ext>
            </a:extLst>
          </p:cNvPr>
          <p:cNvSpPr>
            <a:spLocks noGrp="1"/>
          </p:cNvSpPr>
          <p:nvPr>
            <p:ph type="ftr" idx="10"/>
          </p:nvPr>
        </p:nvSpPr>
        <p:spPr/>
        <p:txBody>
          <a:bodyPr/>
          <a:lstStyle/>
          <a:p>
            <a:r>
              <a:rPr lang="en-US"/>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A0995D31-D885-A753-CB64-863E1D94AA70}"/>
              </a:ext>
            </a:extLst>
          </p:cNvPr>
          <p:cNvSpPr>
            <a:spLocks noGrp="1"/>
          </p:cNvSpPr>
          <p:nvPr>
            <p:ph type="sldNum" idx="11"/>
          </p:nvPr>
        </p:nvSpPr>
        <p:spPr/>
        <p:txBody>
          <a:bodyPr/>
          <a:lstStyle/>
          <a:p>
            <a:fld id="{63DCA5C9-2E11-4C67-86EB-AE1DE127DC64}" type="slidenum">
              <a:rPr lang="en-US" smtClean="0"/>
              <a:t>3</a:t>
            </a:fld>
            <a:endParaRPr lang="en-US"/>
          </a:p>
        </p:txBody>
      </p:sp>
      <p:pic>
        <p:nvPicPr>
          <p:cNvPr id="90" name="Picture 6"/>
          <p:cNvPicPr>
            <a:picLocks noChangeAspect="1"/>
          </p:cNvPicPr>
          <p:nvPr/>
        </p:nvPicPr>
        <p:blipFill>
          <a:blip r:embed="rId3"/>
          <a:stretch/>
        </p:blipFill>
        <p:spPr>
          <a:xfrm>
            <a:off x="10608469" y="171450"/>
            <a:ext cx="1071563" cy="476250"/>
          </a:xfrm>
          <a:prstGeom prst="rect">
            <a:avLst/>
          </a:prstGeom>
        </p:spPr>
      </p:pic>
      <p:sp>
        <p:nvSpPr>
          <p:cNvPr id="91" name="Rectangle 1">
            <a:extLst>
              <a:ext uri="{FF2B5EF4-FFF2-40B4-BE49-F238E27FC236}">
                <a16:creationId xmlns:a16="http://schemas.microsoft.com/office/drawing/2014/main" id="{7A41A9B1-B9E2-4E11-AC4E-00E1960D181D}"/>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Implementation templates: when and how to use them</a:t>
            </a:r>
          </a:p>
        </p:txBody>
      </p:sp>
      <p:sp>
        <p:nvSpPr>
          <p:cNvPr id="92" name="Rectangle 2">
            <a:extLst>
              <a:ext uri="{FF2B5EF4-FFF2-40B4-BE49-F238E27FC236}">
                <a16:creationId xmlns:a16="http://schemas.microsoft.com/office/drawing/2014/main" id="{E4BA3EFF-737E-42A8-A997-95354A026770}"/>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b="0" i="0">
                <a:solidFill>
                  <a:srgbClr val="50658E"/>
                </a:solidFill>
                <a:latin typeface="Arial"/>
                <a:ea typeface="Arial"/>
                <a:cs typeface="Arial"/>
              </a:rPr>
              <a:t>Each template opens at a lifecycle stage and closes with a named decision. Testing and release planning start early and run in parallel.</a:t>
            </a:r>
          </a:p>
        </p:txBody>
      </p:sp>
      <p:sp>
        <p:nvSpPr>
          <p:cNvPr id="93" name="Rectangle 3">
            <a:extLst>
              <a:ext uri="{FF2B5EF4-FFF2-40B4-BE49-F238E27FC236}">
                <a16:creationId xmlns:a16="http://schemas.microsoft.com/office/drawing/2014/main" id="{92789E09-0421-4E0B-A3F8-DA08C49950D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IMPLEMENTATION TEMPLATES</a:t>
            </a:r>
          </a:p>
        </p:txBody>
      </p:sp>
      <p:sp>
        <p:nvSpPr>
          <p:cNvPr id="100" name="Legend"/>
          <p:cNvSpPr/>
          <p:nvPr/>
        </p:nvSpPr>
        <p:spPr>
          <a:xfrm>
            <a:off x="6200000" y="1430000"/>
            <a:ext cx="5534800" cy="200000"/>
          </a:xfrm>
          <a:prstGeom prst="rect">
            <a:avLst/>
          </a:prstGeom>
          <a:noFill/>
          <a:ln w="0">
            <a:noFill/>
          </a:ln>
        </p:spPr>
        <p:txBody>
          <a:bodyPr wrap="square" lIns="0" tIns="0" rIns="0" bIns="0" anchor="t">
            <a:noAutofit/>
          </a:bodyPr>
          <a:lstStyle/>
          <a:p>
            <a:pPr algn="r">
              <a:lnSpc>
                <a:spcPct val="108000"/>
              </a:lnSpc>
              <a:buNone/>
            </a:pPr>
            <a:r>
              <a:rPr lang="en-US" sz="900" b="1" i="0">
                <a:solidFill>
                  <a:srgbClr val="070154"/>
                </a:solidFill>
                <a:latin typeface="Arial"/>
                <a:ea typeface="Arial"/>
                <a:cs typeface="Arial"/>
              </a:rPr>
              <a:t>◆ </a:t>
            </a:r>
            <a:r>
              <a:rPr lang="en-US" sz="850" b="0" i="0">
                <a:solidFill>
                  <a:srgbClr val="50658E"/>
                </a:solidFill>
                <a:latin typeface="Arial"/>
                <a:ea typeface="Arial"/>
                <a:cs typeface="Arial"/>
              </a:rPr>
              <a:t>Review decision   </a:t>
            </a:r>
            <a:r>
              <a:rPr lang="en-US" sz="1000" b="1" i="0">
                <a:solidFill>
                  <a:srgbClr val="070154"/>
                </a:solidFill>
                <a:latin typeface="Arial"/>
                <a:ea typeface="Arial"/>
                <a:cs typeface="Arial"/>
              </a:rPr>
              <a:t>■ </a:t>
            </a:r>
            <a:r>
              <a:rPr lang="en-US" sz="850" b="0" i="0">
                <a:solidFill>
                  <a:srgbClr val="50658E"/>
                </a:solidFill>
                <a:latin typeface="Arial"/>
                <a:ea typeface="Arial"/>
                <a:cs typeface="Arial"/>
              </a:rPr>
              <a:t>Sequential chain   </a:t>
            </a:r>
            <a:r>
              <a:rPr lang="en-US" sz="1000" b="1" i="0">
                <a:solidFill>
                  <a:srgbClr val="0047FF"/>
                </a:solidFill>
                <a:latin typeface="Arial"/>
                <a:ea typeface="Arial"/>
                <a:cs typeface="Arial"/>
              </a:rPr>
              <a:t>■ </a:t>
            </a:r>
            <a:r>
              <a:rPr lang="en-US" sz="850" b="0" i="0">
                <a:solidFill>
                  <a:srgbClr val="50658E"/>
                </a:solidFill>
                <a:latin typeface="Arial"/>
                <a:ea typeface="Arial"/>
                <a:cs typeface="Arial"/>
              </a:rPr>
              <a:t>Runs in parallel</a:t>
            </a:r>
          </a:p>
        </p:txBody>
      </p:sp>
      <p:sp>
        <p:nvSpPr>
          <p:cNvPr id="101" name="Axis Label"/>
          <p:cNvSpPr/>
          <p:nvPr/>
        </p:nvSpPr>
        <p:spPr>
          <a:xfrm>
            <a:off x="457200" y="1752600"/>
            <a:ext cx="1850000" cy="280000"/>
          </a:xfrm>
          <a:prstGeom prst="rect">
            <a:avLst/>
          </a:prstGeom>
          <a:solidFill>
            <a:srgbClr val="070154"/>
          </a:solidFill>
          <a:ln w="0">
            <a:noFill/>
          </a:ln>
        </p:spPr>
        <p:txBody>
          <a:bodyPr wrap="square" anchor="ctr">
            <a:noAutofit/>
          </a:bodyPr>
          <a:lstStyle/>
          <a:p>
            <a:pPr>
              <a:lnSpc>
                <a:spcPct val="108000"/>
              </a:lnSpc>
              <a:buNone/>
            </a:pPr>
            <a:r>
              <a:rPr lang="en-US" sz="950" b="1" i="0">
                <a:solidFill>
                  <a:srgbClr val="FFFFFF"/>
                </a:solidFill>
                <a:latin typeface="Arial"/>
                <a:ea typeface="Arial"/>
                <a:cs typeface="Arial"/>
              </a:rPr>
              <a:t>PDLC stage</a:t>
            </a:r>
          </a:p>
        </p:txBody>
      </p:sp>
      <p:sp>
        <p:nvSpPr>
          <p:cNvPr id="102" name="Stage Identify"/>
          <p:cNvSpPr/>
          <p:nvPr/>
        </p:nvSpPr>
        <p:spPr>
          <a:xfrm>
            <a:off x="2372200"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Identify</a:t>
            </a:r>
          </a:p>
        </p:txBody>
      </p:sp>
      <p:sp>
        <p:nvSpPr>
          <p:cNvPr id="103" name="Stage Define"/>
          <p:cNvSpPr/>
          <p:nvPr/>
        </p:nvSpPr>
        <p:spPr>
          <a:xfrm>
            <a:off x="3935133"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Define</a:t>
            </a:r>
          </a:p>
        </p:txBody>
      </p:sp>
      <p:sp>
        <p:nvSpPr>
          <p:cNvPr id="104" name="Stage Build"/>
          <p:cNvSpPr/>
          <p:nvPr/>
        </p:nvSpPr>
        <p:spPr>
          <a:xfrm>
            <a:off x="5498066"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Build</a:t>
            </a:r>
          </a:p>
        </p:txBody>
      </p:sp>
      <p:sp>
        <p:nvSpPr>
          <p:cNvPr id="105" name="Stage Release"/>
          <p:cNvSpPr/>
          <p:nvPr/>
        </p:nvSpPr>
        <p:spPr>
          <a:xfrm>
            <a:off x="7060999"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Release</a:t>
            </a:r>
          </a:p>
        </p:txBody>
      </p:sp>
      <p:sp>
        <p:nvSpPr>
          <p:cNvPr id="106" name="Stage Go-to-Market"/>
          <p:cNvSpPr/>
          <p:nvPr/>
        </p:nvSpPr>
        <p:spPr>
          <a:xfrm>
            <a:off x="8623932"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Go-to-Market</a:t>
            </a:r>
          </a:p>
        </p:txBody>
      </p:sp>
      <p:sp>
        <p:nvSpPr>
          <p:cNvPr id="107" name="Stage Optimize"/>
          <p:cNvSpPr/>
          <p:nvPr/>
        </p:nvSpPr>
        <p:spPr>
          <a:xfrm>
            <a:off x="10186865"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Optimize</a:t>
            </a:r>
          </a:p>
        </p:txBody>
      </p:sp>
      <p:sp>
        <p:nvSpPr>
          <p:cNvPr id="108" name="Concord Label"/>
          <p:cNvSpPr/>
          <p:nvPr/>
        </p:nvSpPr>
        <p:spPr>
          <a:xfrm>
            <a:off x="457200" y="2052600"/>
            <a:ext cx="1850000" cy="220000"/>
          </a:xfrm>
          <a:prstGeom prst="rect">
            <a:avLst/>
          </a:prstGeom>
          <a:noFill/>
          <a:ln w="0">
            <a:noFill/>
          </a:ln>
        </p:spPr>
        <p:txBody>
          <a:bodyPr wrap="square" anchor="ctr">
            <a:noAutofit/>
          </a:bodyPr>
          <a:lstStyle/>
          <a:p>
            <a:pPr>
              <a:lnSpc>
                <a:spcPct val="108000"/>
              </a:lnSpc>
              <a:buNone/>
            </a:pPr>
            <a:r>
              <a:rPr lang="en-US" sz="750" b="1" i="0">
                <a:solidFill>
                  <a:srgbClr val="0047FF"/>
                </a:solidFill>
                <a:latin typeface="Arial"/>
                <a:ea typeface="Arial"/>
                <a:cs typeface="Arial"/>
              </a:rPr>
              <a:t>DXC Concord gates</a:t>
            </a:r>
          </a:p>
        </p:txBody>
      </p:sp>
      <p:sp>
        <p:nvSpPr>
          <p:cNvPr id="109" name="Concord 0"/>
          <p:cNvSpPr/>
          <p:nvPr/>
        </p:nvSpPr>
        <p:spPr>
          <a:xfrm>
            <a:off x="2372200" y="2052600"/>
            <a:ext cx="1532933" cy="220000"/>
          </a:xfrm>
          <a:prstGeom prst="rect">
            <a:avLst/>
          </a:prstGeom>
          <a:solidFill>
            <a:srgbClr val="E8EEF8"/>
          </a:solidFill>
          <a:ln w="0">
            <a:noFill/>
          </a:ln>
        </p:spPr>
        <p:txBody>
          <a:bodyPr wrap="square" lIns="0" tIns="0" rIns="0" bIns="0" anchor="ctr">
            <a:noAutofit/>
          </a:bodyPr>
          <a:lstStyle/>
          <a:p>
            <a:pPr algn="ctr">
              <a:lnSpc>
                <a:spcPct val="108000"/>
              </a:lnSpc>
              <a:buNone/>
            </a:pPr>
            <a:r>
              <a:rPr lang="en-US" sz="750" b="1" i="0">
                <a:solidFill>
                  <a:srgbClr val="0047FF"/>
                </a:solidFill>
                <a:latin typeface="Arial"/>
                <a:ea typeface="Arial"/>
                <a:cs typeface="Arial"/>
              </a:rPr>
              <a:t>Concept &amp; Strategy · G0</a:t>
            </a:r>
          </a:p>
        </p:txBody>
      </p:sp>
      <p:sp>
        <p:nvSpPr>
          <p:cNvPr id="110" name="Concord 1"/>
          <p:cNvSpPr/>
          <p:nvPr/>
        </p:nvSpPr>
        <p:spPr>
          <a:xfrm>
            <a:off x="3935133" y="2052600"/>
            <a:ext cx="1532933" cy="220000"/>
          </a:xfrm>
          <a:prstGeom prst="rect">
            <a:avLst/>
          </a:prstGeom>
          <a:solidFill>
            <a:srgbClr val="E8EEF8"/>
          </a:solidFill>
          <a:ln w="0">
            <a:noFill/>
          </a:ln>
        </p:spPr>
        <p:txBody>
          <a:bodyPr wrap="square" lIns="0" tIns="0" rIns="0" bIns="0" anchor="ctr">
            <a:noAutofit/>
          </a:bodyPr>
          <a:lstStyle/>
          <a:p>
            <a:pPr algn="ctr">
              <a:lnSpc>
                <a:spcPct val="108000"/>
              </a:lnSpc>
              <a:buNone/>
            </a:pPr>
            <a:r>
              <a:rPr lang="en-US" sz="750" b="1" i="0">
                <a:solidFill>
                  <a:srgbClr val="0047FF"/>
                </a:solidFill>
                <a:latin typeface="Arial"/>
                <a:ea typeface="Arial"/>
                <a:cs typeface="Arial"/>
              </a:rPr>
              <a:t>Design &amp; Viability · G1, G2</a:t>
            </a:r>
          </a:p>
        </p:txBody>
      </p:sp>
      <p:sp>
        <p:nvSpPr>
          <p:cNvPr id="111" name="Concord 2"/>
          <p:cNvSpPr/>
          <p:nvPr/>
        </p:nvSpPr>
        <p:spPr>
          <a:xfrm>
            <a:off x="5498066" y="2052600"/>
            <a:ext cx="1532933" cy="220000"/>
          </a:xfrm>
          <a:prstGeom prst="rect">
            <a:avLst/>
          </a:prstGeom>
          <a:solidFill>
            <a:srgbClr val="E8EEF8"/>
          </a:solidFill>
          <a:ln w="0">
            <a:noFill/>
          </a:ln>
        </p:spPr>
        <p:txBody>
          <a:bodyPr wrap="square" lIns="0" tIns="0" rIns="0" bIns="0" anchor="ctr">
            <a:noAutofit/>
          </a:bodyPr>
          <a:lstStyle/>
          <a:p>
            <a:pPr algn="ctr">
              <a:lnSpc>
                <a:spcPct val="108000"/>
              </a:lnSpc>
              <a:buNone/>
            </a:pPr>
            <a:r>
              <a:rPr lang="en-US" sz="750" b="1" i="0">
                <a:solidFill>
                  <a:srgbClr val="0047FF"/>
                </a:solidFill>
                <a:latin typeface="Arial"/>
                <a:ea typeface="Arial"/>
                <a:cs typeface="Arial"/>
              </a:rPr>
              <a:t>Build · G4</a:t>
            </a:r>
          </a:p>
        </p:txBody>
      </p:sp>
      <p:sp>
        <p:nvSpPr>
          <p:cNvPr id="112" name="Concord 3"/>
          <p:cNvSpPr/>
          <p:nvPr/>
        </p:nvSpPr>
        <p:spPr>
          <a:xfrm>
            <a:off x="7060999" y="2052600"/>
            <a:ext cx="1532933" cy="220000"/>
          </a:xfrm>
          <a:prstGeom prst="rect">
            <a:avLst/>
          </a:prstGeom>
          <a:solidFill>
            <a:srgbClr val="E8EEF8"/>
          </a:solidFill>
          <a:ln w="0">
            <a:noFill/>
          </a:ln>
        </p:spPr>
        <p:txBody>
          <a:bodyPr wrap="square" lIns="0" tIns="0" rIns="0" bIns="0" anchor="ctr">
            <a:noAutofit/>
          </a:bodyPr>
          <a:lstStyle/>
          <a:p>
            <a:pPr algn="ctr">
              <a:lnSpc>
                <a:spcPct val="108000"/>
              </a:lnSpc>
              <a:buNone/>
            </a:pPr>
            <a:r>
              <a:rPr lang="en-US" sz="750" b="1" i="0">
                <a:solidFill>
                  <a:srgbClr val="0047FF"/>
                </a:solidFill>
                <a:latin typeface="Arial"/>
                <a:ea typeface="Arial"/>
                <a:cs typeface="Arial"/>
              </a:rPr>
              <a:t>Beta / Pilot</a:t>
            </a:r>
          </a:p>
        </p:txBody>
      </p:sp>
      <p:sp>
        <p:nvSpPr>
          <p:cNvPr id="113" name="Concord 4"/>
          <p:cNvSpPr/>
          <p:nvPr/>
        </p:nvSpPr>
        <p:spPr>
          <a:xfrm>
            <a:off x="8623932" y="2052600"/>
            <a:ext cx="1532933" cy="220000"/>
          </a:xfrm>
          <a:prstGeom prst="rect">
            <a:avLst/>
          </a:prstGeom>
          <a:solidFill>
            <a:srgbClr val="E8EEF8"/>
          </a:solidFill>
          <a:ln w="0">
            <a:noFill/>
          </a:ln>
        </p:spPr>
        <p:txBody>
          <a:bodyPr wrap="square" lIns="0" tIns="0" rIns="0" bIns="0" anchor="ctr">
            <a:noAutofit/>
          </a:bodyPr>
          <a:lstStyle/>
          <a:p>
            <a:pPr algn="ctr">
              <a:lnSpc>
                <a:spcPct val="108000"/>
              </a:lnSpc>
              <a:buNone/>
            </a:pPr>
            <a:r>
              <a:rPr lang="en-US" sz="750" b="1" i="0">
                <a:solidFill>
                  <a:srgbClr val="0047FF"/>
                </a:solidFill>
                <a:latin typeface="Arial"/>
                <a:ea typeface="Arial"/>
                <a:cs typeface="Arial"/>
              </a:rPr>
              <a:t>Launch · G5</a:t>
            </a:r>
          </a:p>
        </p:txBody>
      </p:sp>
      <p:sp>
        <p:nvSpPr>
          <p:cNvPr id="114" name="Concord 5"/>
          <p:cNvSpPr/>
          <p:nvPr/>
        </p:nvSpPr>
        <p:spPr>
          <a:xfrm>
            <a:off x="10186865" y="2052600"/>
            <a:ext cx="1532933" cy="220000"/>
          </a:xfrm>
          <a:prstGeom prst="rect">
            <a:avLst/>
          </a:prstGeom>
          <a:solidFill>
            <a:srgbClr val="E8EEF8"/>
          </a:solidFill>
          <a:ln w="0">
            <a:noFill/>
          </a:ln>
        </p:spPr>
        <p:txBody>
          <a:bodyPr wrap="square" lIns="0" tIns="0" rIns="0" bIns="0" anchor="ctr">
            <a:noAutofit/>
          </a:bodyPr>
          <a:lstStyle/>
          <a:p>
            <a:pPr algn="ctr">
              <a:lnSpc>
                <a:spcPct val="108000"/>
              </a:lnSpc>
              <a:buNone/>
            </a:pPr>
            <a:r>
              <a:rPr lang="en-US" sz="750" b="1" i="0">
                <a:solidFill>
                  <a:srgbClr val="0047FF"/>
                </a:solidFill>
                <a:latin typeface="Arial"/>
                <a:ea typeface="Arial"/>
                <a:cs typeface="Arial"/>
              </a:rPr>
              <a:t>Post-launch review · G6</a:t>
            </a:r>
          </a:p>
        </p:txBody>
      </p:sp>
      <p:sp>
        <p:nvSpPr>
          <p:cNvPr id="115" name="Equiv Label"/>
          <p:cNvSpPr/>
          <p:nvPr/>
        </p:nvSpPr>
        <p:spPr>
          <a:xfrm>
            <a:off x="457200" y="2292600"/>
            <a:ext cx="1850000" cy="220000"/>
          </a:xfrm>
          <a:prstGeom prst="rect">
            <a:avLst/>
          </a:prstGeom>
          <a:noFill/>
          <a:ln w="0">
            <a:noFill/>
          </a:ln>
        </p:spPr>
        <p:txBody>
          <a:bodyPr wrap="square" anchor="ctr">
            <a:noAutofit/>
          </a:bodyPr>
          <a:lstStyle/>
          <a:p>
            <a:pPr>
              <a:lnSpc>
                <a:spcPct val="108000"/>
              </a:lnSpc>
              <a:buNone/>
            </a:pPr>
            <a:r>
              <a:rPr lang="en-US" sz="750" b="0" i="0">
                <a:solidFill>
                  <a:srgbClr val="50658E"/>
                </a:solidFill>
                <a:latin typeface="Arial"/>
                <a:ea typeface="Arial"/>
                <a:cs typeface="Arial"/>
              </a:rPr>
              <a:t>Practices Map</a:t>
            </a:r>
          </a:p>
        </p:txBody>
      </p:sp>
      <p:sp>
        <p:nvSpPr>
          <p:cNvPr id="116" name="Equiv 0"/>
          <p:cNvSpPr/>
          <p:nvPr/>
        </p:nvSpPr>
        <p:spPr>
          <a:xfrm>
            <a:off x="2372200" y="2292600"/>
            <a:ext cx="1532933" cy="220000"/>
          </a:xfrm>
          <a:prstGeom prst="rect">
            <a:avLst/>
          </a:prstGeom>
          <a:noFill/>
          <a:ln w="0">
            <a:noFill/>
          </a:ln>
        </p:spPr>
        <p:txBody>
          <a:bodyPr wrap="square" lIns="0" tIns="0" rIns="0" bIns="0" anchor="ctr">
            <a:noAutofit/>
          </a:bodyPr>
          <a:lstStyle/>
          <a:p>
            <a:pPr algn="ctr">
              <a:lnSpc>
                <a:spcPct val="108000"/>
              </a:lnSpc>
              <a:buNone/>
            </a:pPr>
            <a:r>
              <a:rPr lang="en-US" sz="750" b="0" i="0">
                <a:solidFill>
                  <a:srgbClr val="50658E"/>
                </a:solidFill>
                <a:latin typeface="Arial"/>
                <a:ea typeface="Arial"/>
                <a:cs typeface="Arial"/>
              </a:rPr>
              <a:t>Opportunity + Prioritization</a:t>
            </a:r>
          </a:p>
        </p:txBody>
      </p:sp>
      <p:sp>
        <p:nvSpPr>
          <p:cNvPr id="117" name="Equiv 1"/>
          <p:cNvSpPr/>
          <p:nvPr/>
        </p:nvSpPr>
        <p:spPr>
          <a:xfrm>
            <a:off x="3935133" y="2292600"/>
            <a:ext cx="1532933" cy="220000"/>
          </a:xfrm>
          <a:prstGeom prst="rect">
            <a:avLst/>
          </a:prstGeom>
          <a:noFill/>
          <a:ln w="0">
            <a:noFill/>
          </a:ln>
        </p:spPr>
        <p:txBody>
          <a:bodyPr wrap="square" lIns="0" tIns="0" rIns="0" bIns="0" anchor="ctr">
            <a:noAutofit/>
          </a:bodyPr>
          <a:lstStyle/>
          <a:p>
            <a:pPr algn="ctr">
              <a:lnSpc>
                <a:spcPct val="108000"/>
              </a:lnSpc>
              <a:buNone/>
            </a:pPr>
            <a:r>
              <a:rPr lang="en-US" sz="750" b="0" i="0">
                <a:solidFill>
                  <a:srgbClr val="50658E"/>
                </a:solidFill>
                <a:latin typeface="Arial"/>
                <a:ea typeface="Arial"/>
                <a:cs typeface="Arial"/>
              </a:rPr>
              <a:t>Definition</a:t>
            </a:r>
          </a:p>
        </p:txBody>
      </p:sp>
      <p:sp>
        <p:nvSpPr>
          <p:cNvPr id="118" name="Equiv 2"/>
          <p:cNvSpPr/>
          <p:nvPr/>
        </p:nvSpPr>
        <p:spPr>
          <a:xfrm>
            <a:off x="5498066" y="2292600"/>
            <a:ext cx="1532933" cy="220000"/>
          </a:xfrm>
          <a:prstGeom prst="rect">
            <a:avLst/>
          </a:prstGeom>
          <a:noFill/>
          <a:ln w="0">
            <a:noFill/>
          </a:ln>
        </p:spPr>
        <p:txBody>
          <a:bodyPr wrap="square" lIns="0" tIns="0" rIns="0" bIns="0" anchor="ctr">
            <a:noAutofit/>
          </a:bodyPr>
          <a:lstStyle/>
          <a:p>
            <a:pPr algn="ctr">
              <a:lnSpc>
                <a:spcPct val="108000"/>
              </a:lnSpc>
              <a:buNone/>
            </a:pPr>
            <a:r>
              <a:rPr lang="en-US" sz="750" b="0" i="0">
                <a:solidFill>
                  <a:srgbClr val="50658E"/>
                </a:solidFill>
                <a:latin typeface="Arial"/>
                <a:ea typeface="Arial"/>
                <a:cs typeface="Arial"/>
              </a:rPr>
              <a:t>Build</a:t>
            </a:r>
          </a:p>
        </p:txBody>
      </p:sp>
      <p:sp>
        <p:nvSpPr>
          <p:cNvPr id="119" name="Equiv 3"/>
          <p:cNvSpPr/>
          <p:nvPr/>
        </p:nvSpPr>
        <p:spPr>
          <a:xfrm>
            <a:off x="7060999" y="2292600"/>
            <a:ext cx="1532933" cy="220000"/>
          </a:xfrm>
          <a:prstGeom prst="rect">
            <a:avLst/>
          </a:prstGeom>
          <a:noFill/>
          <a:ln w="0">
            <a:noFill/>
          </a:ln>
        </p:spPr>
        <p:txBody>
          <a:bodyPr wrap="square" lIns="0" tIns="0" rIns="0" bIns="0" anchor="ctr">
            <a:noAutofit/>
          </a:bodyPr>
          <a:lstStyle/>
          <a:p>
            <a:pPr algn="ctr">
              <a:lnSpc>
                <a:spcPct val="108000"/>
              </a:lnSpc>
              <a:buNone/>
            </a:pPr>
            <a:r>
              <a:rPr lang="en-US" sz="750" b="0" i="0">
                <a:solidFill>
                  <a:srgbClr val="50658E"/>
                </a:solidFill>
                <a:latin typeface="Arial"/>
                <a:ea typeface="Arial"/>
                <a:cs typeface="Arial"/>
              </a:rPr>
              <a:t>Release</a:t>
            </a:r>
          </a:p>
        </p:txBody>
      </p:sp>
      <p:sp>
        <p:nvSpPr>
          <p:cNvPr id="120" name="Equiv 4"/>
          <p:cNvSpPr/>
          <p:nvPr/>
        </p:nvSpPr>
        <p:spPr>
          <a:xfrm>
            <a:off x="8623932" y="2292600"/>
            <a:ext cx="1532933" cy="220000"/>
          </a:xfrm>
          <a:prstGeom prst="rect">
            <a:avLst/>
          </a:prstGeom>
          <a:noFill/>
          <a:ln w="0">
            <a:noFill/>
          </a:ln>
        </p:spPr>
        <p:txBody>
          <a:bodyPr wrap="square" lIns="0" tIns="0" rIns="0" bIns="0" anchor="ctr">
            <a:noAutofit/>
          </a:bodyPr>
          <a:lstStyle/>
          <a:p>
            <a:pPr algn="ctr">
              <a:lnSpc>
                <a:spcPct val="108000"/>
              </a:lnSpc>
              <a:buNone/>
            </a:pPr>
            <a:r>
              <a:rPr lang="en-US" sz="750" b="0" i="0">
                <a:solidFill>
                  <a:srgbClr val="50658E"/>
                </a:solidFill>
                <a:latin typeface="Arial"/>
                <a:ea typeface="Arial"/>
                <a:cs typeface="Arial"/>
              </a:rPr>
              <a:t>GTM</a:t>
            </a:r>
          </a:p>
        </p:txBody>
      </p:sp>
      <p:sp>
        <p:nvSpPr>
          <p:cNvPr id="121" name="Equiv 5"/>
          <p:cNvSpPr/>
          <p:nvPr/>
        </p:nvSpPr>
        <p:spPr>
          <a:xfrm>
            <a:off x="10186865" y="2292600"/>
            <a:ext cx="1532933" cy="220000"/>
          </a:xfrm>
          <a:prstGeom prst="rect">
            <a:avLst/>
          </a:prstGeom>
          <a:noFill/>
          <a:ln w="0">
            <a:noFill/>
          </a:ln>
        </p:spPr>
        <p:txBody>
          <a:bodyPr wrap="square" lIns="0" tIns="0" rIns="0" bIns="0" anchor="ctr">
            <a:noAutofit/>
          </a:bodyPr>
          <a:lstStyle/>
          <a:p>
            <a:pPr algn="ctr">
              <a:lnSpc>
                <a:spcPct val="108000"/>
              </a:lnSpc>
              <a:buNone/>
            </a:pPr>
            <a:r>
              <a:rPr lang="en-US" sz="750" b="0" i="0">
                <a:solidFill>
                  <a:srgbClr val="50658E"/>
                </a:solidFill>
                <a:latin typeface="Arial"/>
                <a:ea typeface="Arial"/>
                <a:cs typeface="Arial"/>
              </a:rPr>
              <a:t>Measurement and feedback</a:t>
            </a:r>
          </a:p>
        </p:txBody>
      </p:sp>
      <p:sp>
        <p:nvSpPr>
          <p:cNvPr id="122" name="Guide 0"/>
          <p:cNvSpPr/>
          <p:nvPr/>
        </p:nvSpPr>
        <p:spPr>
          <a:xfrm>
            <a:off x="2352438" y="2532600"/>
            <a:ext cx="9525" cy="2780000"/>
          </a:xfrm>
          <a:prstGeom prst="rect">
            <a:avLst/>
          </a:prstGeom>
          <a:solidFill>
            <a:srgbClr val="CED7E6"/>
          </a:solidFill>
          <a:ln w="0">
            <a:noFill/>
          </a:ln>
        </p:spPr>
        <p:txBody>
          <a:bodyPr wrap="square" anchor="t">
            <a:noAutofit/>
          </a:bodyPr>
          <a:lstStyle/>
          <a:p>
            <a:endParaRPr lang="en-US"/>
          </a:p>
        </p:txBody>
      </p:sp>
      <p:sp>
        <p:nvSpPr>
          <p:cNvPr id="123" name="Guide 1"/>
          <p:cNvSpPr/>
          <p:nvPr/>
        </p:nvSpPr>
        <p:spPr>
          <a:xfrm>
            <a:off x="3915371" y="2532600"/>
            <a:ext cx="9525" cy="2780000"/>
          </a:xfrm>
          <a:prstGeom prst="rect">
            <a:avLst/>
          </a:prstGeom>
          <a:solidFill>
            <a:srgbClr val="CED7E6"/>
          </a:solidFill>
          <a:ln w="0">
            <a:noFill/>
          </a:ln>
        </p:spPr>
        <p:txBody>
          <a:bodyPr wrap="square" anchor="t">
            <a:noAutofit/>
          </a:bodyPr>
          <a:lstStyle/>
          <a:p>
            <a:endParaRPr lang="en-US"/>
          </a:p>
        </p:txBody>
      </p:sp>
      <p:sp>
        <p:nvSpPr>
          <p:cNvPr id="124" name="Guide 2"/>
          <p:cNvSpPr/>
          <p:nvPr/>
        </p:nvSpPr>
        <p:spPr>
          <a:xfrm>
            <a:off x="5478304" y="2532600"/>
            <a:ext cx="9525" cy="2780000"/>
          </a:xfrm>
          <a:prstGeom prst="rect">
            <a:avLst/>
          </a:prstGeom>
          <a:solidFill>
            <a:srgbClr val="CED7E6"/>
          </a:solidFill>
          <a:ln w="0">
            <a:noFill/>
          </a:ln>
        </p:spPr>
        <p:txBody>
          <a:bodyPr wrap="square" anchor="t">
            <a:noAutofit/>
          </a:bodyPr>
          <a:lstStyle/>
          <a:p>
            <a:endParaRPr lang="en-US"/>
          </a:p>
        </p:txBody>
      </p:sp>
      <p:sp>
        <p:nvSpPr>
          <p:cNvPr id="125" name="Guide 3"/>
          <p:cNvSpPr/>
          <p:nvPr/>
        </p:nvSpPr>
        <p:spPr>
          <a:xfrm>
            <a:off x="7041237" y="2532600"/>
            <a:ext cx="9525" cy="2780000"/>
          </a:xfrm>
          <a:prstGeom prst="rect">
            <a:avLst/>
          </a:prstGeom>
          <a:solidFill>
            <a:srgbClr val="CED7E6"/>
          </a:solidFill>
          <a:ln w="0">
            <a:noFill/>
          </a:ln>
        </p:spPr>
        <p:txBody>
          <a:bodyPr wrap="square" anchor="t">
            <a:noAutofit/>
          </a:bodyPr>
          <a:lstStyle/>
          <a:p>
            <a:endParaRPr lang="en-US"/>
          </a:p>
        </p:txBody>
      </p:sp>
      <p:sp>
        <p:nvSpPr>
          <p:cNvPr id="126" name="Guide 4"/>
          <p:cNvSpPr/>
          <p:nvPr/>
        </p:nvSpPr>
        <p:spPr>
          <a:xfrm>
            <a:off x="8604170" y="2532600"/>
            <a:ext cx="9525" cy="2780000"/>
          </a:xfrm>
          <a:prstGeom prst="rect">
            <a:avLst/>
          </a:prstGeom>
          <a:solidFill>
            <a:srgbClr val="CED7E6"/>
          </a:solidFill>
          <a:ln w="0">
            <a:noFill/>
          </a:ln>
        </p:spPr>
        <p:txBody>
          <a:bodyPr wrap="square" anchor="t">
            <a:noAutofit/>
          </a:bodyPr>
          <a:lstStyle/>
          <a:p>
            <a:endParaRPr lang="en-US"/>
          </a:p>
        </p:txBody>
      </p:sp>
      <p:sp>
        <p:nvSpPr>
          <p:cNvPr id="127" name="Guide 5"/>
          <p:cNvSpPr/>
          <p:nvPr/>
        </p:nvSpPr>
        <p:spPr>
          <a:xfrm>
            <a:off x="10167103" y="2532600"/>
            <a:ext cx="9525" cy="2780000"/>
          </a:xfrm>
          <a:prstGeom prst="rect">
            <a:avLst/>
          </a:prstGeom>
          <a:solidFill>
            <a:srgbClr val="CED7E6"/>
          </a:solidFill>
          <a:ln w="0">
            <a:noFill/>
          </a:ln>
        </p:spPr>
        <p:txBody>
          <a:bodyPr wrap="square" anchor="t">
            <a:noAutofit/>
          </a:bodyPr>
          <a:lstStyle/>
          <a:p>
            <a:endParaRPr lang="en-US"/>
          </a:p>
        </p:txBody>
      </p:sp>
      <p:sp>
        <p:nvSpPr>
          <p:cNvPr id="128" name="Guide 6"/>
          <p:cNvSpPr/>
          <p:nvPr/>
        </p:nvSpPr>
        <p:spPr>
          <a:xfrm>
            <a:off x="11730036" y="2532600"/>
            <a:ext cx="9525" cy="2780000"/>
          </a:xfrm>
          <a:prstGeom prst="rect">
            <a:avLst/>
          </a:prstGeom>
          <a:solidFill>
            <a:srgbClr val="CED7E6"/>
          </a:solidFill>
          <a:ln w="0">
            <a:noFill/>
          </a:ln>
        </p:spPr>
        <p:txBody>
          <a:bodyPr wrap="square" anchor="t">
            <a:noAutofit/>
          </a:bodyPr>
          <a:lstStyle/>
          <a:p>
            <a:endParaRPr lang="en-US"/>
          </a:p>
        </p:txBody>
      </p:sp>
      <p:sp>
        <p:nvSpPr>
          <p:cNvPr id="129" name="Lane Label 0"/>
          <p:cNvSpPr/>
          <p:nvPr/>
        </p:nvSpPr>
        <p:spPr>
          <a:xfrm>
            <a:off x="457200" y="2552600"/>
            <a:ext cx="1850000" cy="32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70154"/>
                </a:solidFill>
                <a:latin typeface="Arial"/>
                <a:ea typeface="Arial"/>
                <a:cs typeface="Arial"/>
              </a:rPr>
              <a:t>01 Opportunity Brief</a:t>
            </a:r>
          </a:p>
        </p:txBody>
      </p:sp>
      <p:sp>
        <p:nvSpPr>
          <p:cNvPr id="130" name="Lane Bar 0"/>
          <p:cNvSpPr/>
          <p:nvPr/>
        </p:nvSpPr>
        <p:spPr>
          <a:xfrm>
            <a:off x="2382200" y="2562600"/>
            <a:ext cx="1512933" cy="300000"/>
          </a:xfrm>
          <a:prstGeom prst="rect">
            <a:avLst/>
          </a:prstGeom>
          <a:solidFill>
            <a:srgbClr val="070154"/>
          </a:solidFill>
          <a:ln w="0">
            <a:noFill/>
          </a:ln>
        </p:spPr>
        <p:txBody>
          <a:bodyPr wrap="square" lIns="60000" tIns="60000" rIns="60000" bIns="60000" anchor="ctr">
            <a:noAutofit/>
          </a:bodyPr>
          <a:lstStyle/>
          <a:p>
            <a:pPr>
              <a:lnSpc>
                <a:spcPct val="108000"/>
              </a:lnSpc>
              <a:buNone/>
            </a:pPr>
            <a:r>
              <a:rPr lang="en-US" sz="800" b="1" i="0">
                <a:solidFill>
                  <a:srgbClr val="FFFFFF"/>
                </a:solidFill>
                <a:latin typeface="Arial"/>
                <a:ea typeface="Arial"/>
                <a:cs typeface="Arial"/>
              </a:rPr>
              <a:t>◆ Senior leader: worth defining?</a:t>
            </a:r>
          </a:p>
        </p:txBody>
      </p:sp>
      <p:sp>
        <p:nvSpPr>
          <p:cNvPr id="131" name="Lane Label 1"/>
          <p:cNvSpPr/>
          <p:nvPr/>
        </p:nvSpPr>
        <p:spPr>
          <a:xfrm>
            <a:off x="457200" y="2912600"/>
            <a:ext cx="1850000" cy="32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70154"/>
                </a:solidFill>
                <a:latin typeface="Arial"/>
                <a:ea typeface="Arial"/>
                <a:cs typeface="Arial"/>
              </a:rPr>
              <a:t>02 Product Brief</a:t>
            </a:r>
          </a:p>
        </p:txBody>
      </p:sp>
      <p:sp>
        <p:nvSpPr>
          <p:cNvPr id="132" name="Lane Bar 1"/>
          <p:cNvSpPr/>
          <p:nvPr/>
        </p:nvSpPr>
        <p:spPr>
          <a:xfrm>
            <a:off x="3945133" y="2922600"/>
            <a:ext cx="1512933" cy="300000"/>
          </a:xfrm>
          <a:prstGeom prst="rect">
            <a:avLst/>
          </a:prstGeom>
          <a:solidFill>
            <a:srgbClr val="070154"/>
          </a:solidFill>
          <a:ln w="0">
            <a:noFill/>
          </a:ln>
        </p:spPr>
        <p:txBody>
          <a:bodyPr wrap="square" lIns="60000" tIns="60000" rIns="60000" bIns="60000" anchor="ctr">
            <a:noAutofit/>
          </a:bodyPr>
          <a:lstStyle/>
          <a:p>
            <a:pPr>
              <a:lnSpc>
                <a:spcPct val="108000"/>
              </a:lnSpc>
              <a:buNone/>
            </a:pPr>
            <a:r>
              <a:rPr lang="en-US" sz="800" b="1" i="0">
                <a:solidFill>
                  <a:srgbClr val="FFFFFF"/>
                </a:solidFill>
                <a:latin typeface="Arial"/>
                <a:ea typeface="Arial"/>
                <a:cs typeface="Arial"/>
              </a:rPr>
              <a:t>◆ Senior leader approves direction</a:t>
            </a:r>
          </a:p>
        </p:txBody>
      </p:sp>
      <p:sp>
        <p:nvSpPr>
          <p:cNvPr id="133" name="Lane Label 2"/>
          <p:cNvSpPr/>
          <p:nvPr/>
        </p:nvSpPr>
        <p:spPr>
          <a:xfrm>
            <a:off x="457200" y="3272600"/>
            <a:ext cx="1850000" cy="32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70154"/>
                </a:solidFill>
                <a:latin typeface="Arial"/>
                <a:ea typeface="Arial"/>
                <a:cs typeface="Arial"/>
              </a:rPr>
              <a:t>03 Feature Brief</a:t>
            </a:r>
          </a:p>
        </p:txBody>
      </p:sp>
      <p:sp>
        <p:nvSpPr>
          <p:cNvPr id="134" name="Lane Bar 2"/>
          <p:cNvSpPr/>
          <p:nvPr/>
        </p:nvSpPr>
        <p:spPr>
          <a:xfrm>
            <a:off x="3945133" y="3282600"/>
            <a:ext cx="3075866" cy="300000"/>
          </a:xfrm>
          <a:prstGeom prst="rect">
            <a:avLst/>
          </a:prstGeom>
          <a:solidFill>
            <a:srgbClr val="070154"/>
          </a:solidFill>
          <a:ln w="0">
            <a:noFill/>
          </a:ln>
        </p:spPr>
        <p:txBody>
          <a:bodyPr wrap="square" lIns="60000" tIns="60000" rIns="60000" bIns="60000" anchor="ctr">
            <a:noAutofit/>
          </a:bodyPr>
          <a:lstStyle/>
          <a:p>
            <a:pPr>
              <a:lnSpc>
                <a:spcPct val="108000"/>
              </a:lnSpc>
              <a:buNone/>
            </a:pPr>
            <a:r>
              <a:rPr lang="en-US" sz="800" b="1" i="0">
                <a:solidFill>
                  <a:srgbClr val="FFFFFF"/>
                </a:solidFill>
                <a:latin typeface="Arial"/>
                <a:ea typeface="Arial"/>
                <a:cs typeface="Arial"/>
              </a:rPr>
              <a:t>◆ Product, Engineering, and QA or Design: ready to build</a:t>
            </a:r>
          </a:p>
        </p:txBody>
      </p:sp>
      <p:sp>
        <p:nvSpPr>
          <p:cNvPr id="135" name="Lane Label 3"/>
          <p:cNvSpPr/>
          <p:nvPr/>
        </p:nvSpPr>
        <p:spPr>
          <a:xfrm>
            <a:off x="457200" y="3632600"/>
            <a:ext cx="1850000" cy="32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70154"/>
                </a:solidFill>
                <a:latin typeface="Arial"/>
                <a:ea typeface="Arial"/>
                <a:cs typeface="Arial"/>
              </a:rPr>
              <a:t>04 Technical Implementation Plan</a:t>
            </a:r>
          </a:p>
        </p:txBody>
      </p:sp>
      <p:sp>
        <p:nvSpPr>
          <p:cNvPr id="136" name="Lane Bar 3"/>
          <p:cNvSpPr/>
          <p:nvPr/>
        </p:nvSpPr>
        <p:spPr>
          <a:xfrm>
            <a:off x="5508066" y="3642600"/>
            <a:ext cx="1512933" cy="300000"/>
          </a:xfrm>
          <a:prstGeom prst="rect">
            <a:avLst/>
          </a:prstGeom>
          <a:solidFill>
            <a:srgbClr val="070154"/>
          </a:solidFill>
          <a:ln w="0">
            <a:noFill/>
          </a:ln>
        </p:spPr>
        <p:txBody>
          <a:bodyPr wrap="square" lIns="60000" tIns="60000" rIns="60000" bIns="60000" anchor="ctr">
            <a:noAutofit/>
          </a:bodyPr>
          <a:lstStyle/>
          <a:p>
            <a:pPr>
              <a:lnSpc>
                <a:spcPct val="108000"/>
              </a:lnSpc>
              <a:buNone/>
            </a:pPr>
            <a:r>
              <a:rPr lang="en-US" sz="800" b="1" i="0">
                <a:solidFill>
                  <a:srgbClr val="FFFFFF"/>
                </a:solidFill>
                <a:latin typeface="Arial"/>
                <a:ea typeface="Arial"/>
                <a:cs typeface="Arial"/>
              </a:rPr>
              <a:t>◆ Engineering + reviewers: ready to execute</a:t>
            </a:r>
          </a:p>
        </p:txBody>
      </p:sp>
      <p:sp>
        <p:nvSpPr>
          <p:cNvPr id="137" name="Lane Label 4"/>
          <p:cNvSpPr/>
          <p:nvPr/>
        </p:nvSpPr>
        <p:spPr>
          <a:xfrm>
            <a:off x="457200" y="3992600"/>
            <a:ext cx="1850000" cy="32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70154"/>
                </a:solidFill>
                <a:latin typeface="Arial"/>
                <a:ea typeface="Arial"/>
                <a:cs typeface="Arial"/>
              </a:rPr>
              <a:t>05 Testing, QA, and UAT Plan</a:t>
            </a:r>
          </a:p>
        </p:txBody>
      </p:sp>
      <p:sp>
        <p:nvSpPr>
          <p:cNvPr id="138" name="Lane Bar 4"/>
          <p:cNvSpPr/>
          <p:nvPr/>
        </p:nvSpPr>
        <p:spPr>
          <a:xfrm>
            <a:off x="3945133" y="4002600"/>
            <a:ext cx="4638799" cy="300000"/>
          </a:xfrm>
          <a:prstGeom prst="rect">
            <a:avLst/>
          </a:prstGeom>
          <a:solidFill>
            <a:srgbClr val="0047FF"/>
          </a:solidFill>
          <a:ln w="0">
            <a:noFill/>
          </a:ln>
        </p:spPr>
        <p:txBody>
          <a:bodyPr wrap="square" lIns="60000" tIns="60000" rIns="60000" bIns="60000" anchor="ctr">
            <a:noAutofit/>
          </a:bodyPr>
          <a:lstStyle/>
          <a:p>
            <a:pPr>
              <a:lnSpc>
                <a:spcPct val="108000"/>
              </a:lnSpc>
              <a:buNone/>
            </a:pPr>
            <a:r>
              <a:rPr lang="en-US" sz="800" b="1" i="0">
                <a:solidFill>
                  <a:srgbClr val="FFFFFF"/>
                </a:solidFill>
                <a:latin typeface="Arial"/>
                <a:ea typeface="Arial"/>
                <a:cs typeface="Arial"/>
              </a:rPr>
              <a:t>Starts in Define  ·  ◆ Test evidence supports release readiness; Product accepts UAT</a:t>
            </a:r>
          </a:p>
        </p:txBody>
      </p:sp>
      <p:sp>
        <p:nvSpPr>
          <p:cNvPr id="139" name="Lane Label 5"/>
          <p:cNvSpPr/>
          <p:nvPr/>
        </p:nvSpPr>
        <p:spPr>
          <a:xfrm>
            <a:off x="457200" y="4352600"/>
            <a:ext cx="1850000" cy="32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70154"/>
                </a:solidFill>
                <a:latin typeface="Arial"/>
                <a:ea typeface="Arial"/>
                <a:cs typeface="Arial"/>
              </a:rPr>
              <a:t>06 Initial Release and GTM Plan</a:t>
            </a:r>
          </a:p>
        </p:txBody>
      </p:sp>
      <p:sp>
        <p:nvSpPr>
          <p:cNvPr id="140" name="Lane Bar 5"/>
          <p:cNvSpPr/>
          <p:nvPr/>
        </p:nvSpPr>
        <p:spPr>
          <a:xfrm>
            <a:off x="3945133" y="4362600"/>
            <a:ext cx="7764665" cy="300000"/>
          </a:xfrm>
          <a:prstGeom prst="rect">
            <a:avLst/>
          </a:prstGeom>
          <a:solidFill>
            <a:srgbClr val="0047FF"/>
          </a:solidFill>
          <a:ln w="0">
            <a:noFill/>
          </a:ln>
        </p:spPr>
        <p:txBody>
          <a:bodyPr wrap="square" lIns="60000" tIns="60000" rIns="60000" bIns="60000" anchor="ctr">
            <a:noAutofit/>
          </a:bodyPr>
          <a:lstStyle/>
          <a:p>
            <a:pPr>
              <a:lnSpc>
                <a:spcPct val="108000"/>
              </a:lnSpc>
              <a:buNone/>
            </a:pPr>
            <a:r>
              <a:rPr lang="en-US" sz="800" b="1" i="0">
                <a:solidFill>
                  <a:srgbClr val="FFFFFF"/>
                </a:solidFill>
                <a:latin typeface="Arial"/>
                <a:ea typeface="Arial"/>
                <a:cs typeface="Arial"/>
              </a:rPr>
              <a:t>Starts in Define  ·  ◆ Go, Revise, Hold, or Stop per phase; expansion is a new decision in Optimize</a:t>
            </a:r>
          </a:p>
        </p:txBody>
      </p:sp>
      <p:sp>
        <p:nvSpPr>
          <p:cNvPr id="141" name="AI Label"/>
          <p:cNvSpPr/>
          <p:nvPr/>
        </p:nvSpPr>
        <p:spPr>
          <a:xfrm>
            <a:off x="457200" y="4732600"/>
            <a:ext cx="1850000" cy="60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047FF"/>
                </a:solidFill>
                <a:latin typeface="Arial"/>
                <a:ea typeface="Arial"/>
                <a:cs typeface="Arial"/>
              </a:rPr>
              <a:t>Where AI can assist today</a:t>
            </a:r>
          </a:p>
          <a:p>
            <a:pPr>
              <a:lnSpc>
                <a:spcPct val="108000"/>
              </a:lnSpc>
              <a:buNone/>
            </a:pPr>
            <a:r>
              <a:rPr lang="en-US" sz="750" b="0" i="0">
                <a:solidFill>
                  <a:srgbClr val="50658E"/>
                </a:solidFill>
                <a:latin typeface="Arial"/>
                <a:ea typeface="Arial"/>
                <a:cs typeface="Arial"/>
              </a:rPr>
              <a:t>Human review required. Agents in use in Reconcile AI; Claude in use by QA.</a:t>
            </a:r>
          </a:p>
        </p:txBody>
      </p:sp>
      <p:sp>
        <p:nvSpPr>
          <p:cNvPr id="142" name="AI Build"/>
          <p:cNvSpPr/>
          <p:nvPr/>
        </p:nvSpPr>
        <p:spPr>
          <a:xfrm>
            <a:off x="5508066" y="4732600"/>
            <a:ext cx="1512933" cy="600000"/>
          </a:xfrm>
          <a:prstGeom prst="rect">
            <a:avLst/>
          </a:prstGeom>
          <a:solidFill>
            <a:srgbClr val="FFFFFF"/>
          </a:solidFill>
          <a:ln w="9525">
            <a:solidFill>
              <a:srgbClr val="CED7E6"/>
            </a:solidFill>
          </a:ln>
        </p:spPr>
        <p:txBody>
          <a:bodyPr wrap="square" lIns="45720" tIns="45720" rIns="45720" bIns="45720" anchor="ctr">
            <a:noAutofit/>
          </a:bodyPr>
          <a:lstStyle/>
          <a:p>
            <a:pPr>
              <a:lnSpc>
                <a:spcPct val="108000"/>
              </a:lnSpc>
              <a:buNone/>
            </a:pPr>
            <a:r>
              <a:rPr lang="en-US" sz="750" b="0" i="0">
                <a:solidFill>
                  <a:srgbClr val="070154"/>
                </a:solidFill>
                <a:latin typeface="Arial"/>
                <a:ea typeface="Arial"/>
                <a:cs typeface="Arial"/>
              </a:rPr>
              <a:t>Recon agents draft the spec, stories, and tests. QA uses Claude to create tests and diagnose failures.</a:t>
            </a:r>
          </a:p>
        </p:txBody>
      </p:sp>
      <p:sp>
        <p:nvSpPr>
          <p:cNvPr id="143" name="AI Release"/>
          <p:cNvSpPr/>
          <p:nvPr/>
        </p:nvSpPr>
        <p:spPr>
          <a:xfrm>
            <a:off x="7070999" y="4732600"/>
            <a:ext cx="1512933" cy="600000"/>
          </a:xfrm>
          <a:prstGeom prst="rect">
            <a:avLst/>
          </a:prstGeom>
          <a:solidFill>
            <a:srgbClr val="FFFFFF"/>
          </a:solidFill>
          <a:ln w="9525">
            <a:solidFill>
              <a:srgbClr val="CED7E6"/>
            </a:solidFill>
          </a:ln>
        </p:spPr>
        <p:txBody>
          <a:bodyPr wrap="square" lIns="45720" tIns="45720" rIns="45720" bIns="45720" anchor="ctr">
            <a:noAutofit/>
          </a:bodyPr>
          <a:lstStyle/>
          <a:p>
            <a:pPr>
              <a:lnSpc>
                <a:spcPct val="108000"/>
              </a:lnSpc>
            </a:pPr>
            <a:r>
              <a:rPr lang="en-US" sz="750" b="0" i="0">
                <a:solidFill>
                  <a:srgbClr val="070154"/>
                </a:solidFill>
                <a:latin typeface="Arial"/>
                <a:ea typeface="Arial"/>
                <a:cs typeface="Arial"/>
              </a:rPr>
              <a:t>Delivery Report Agent traces test </a:t>
            </a:r>
            <a:r>
              <a:rPr lang="en-US" sz="750">
                <a:solidFill>
                  <a:srgbClr val="070154"/>
                </a:solidFill>
                <a:latin typeface="Arial"/>
                <a:ea typeface="Arial"/>
                <a:cs typeface="Arial"/>
              </a:rPr>
              <a:t> </a:t>
            </a:r>
            <a:r>
              <a:rPr lang="en-US" sz="750" b="0" i="0">
                <a:solidFill>
                  <a:srgbClr val="070154"/>
                </a:solidFill>
                <a:latin typeface="Arial"/>
                <a:ea typeface="Arial"/>
                <a:cs typeface="Arial"/>
              </a:rPr>
              <a:t>evidence to the spec; Release Agent (paused) drafts release notes.</a:t>
            </a:r>
          </a:p>
        </p:txBody>
      </p:sp>
      <p:sp>
        <p:nvSpPr>
          <p:cNvPr id="144" name="AI None 0"/>
          <p:cNvSpPr/>
          <p:nvPr/>
        </p:nvSpPr>
        <p:spPr>
          <a:xfrm>
            <a:off x="2382200" y="4732600"/>
            <a:ext cx="1512933" cy="600000"/>
          </a:xfrm>
          <a:prstGeom prst="rect">
            <a:avLst/>
          </a:prstGeom>
          <a:noFill/>
          <a:ln w="0">
            <a:noFill/>
          </a:ln>
        </p:spPr>
        <p:txBody>
          <a:bodyPr wrap="square" anchor="ctr">
            <a:noAutofit/>
          </a:bodyPr>
          <a:lstStyle/>
          <a:p>
            <a:pPr algn="ctr">
              <a:lnSpc>
                <a:spcPct val="108000"/>
              </a:lnSpc>
              <a:buNone/>
            </a:pPr>
            <a:r>
              <a:rPr lang="en-US" sz="850" b="0" i="0">
                <a:solidFill>
                  <a:srgbClr val="8A94AD"/>
                </a:solidFill>
                <a:latin typeface="Arial"/>
                <a:ea typeface="Arial"/>
                <a:cs typeface="Arial"/>
              </a:rPr>
              <a:t>—</a:t>
            </a:r>
          </a:p>
        </p:txBody>
      </p:sp>
      <p:sp>
        <p:nvSpPr>
          <p:cNvPr id="145" name="AI None 1"/>
          <p:cNvSpPr/>
          <p:nvPr/>
        </p:nvSpPr>
        <p:spPr>
          <a:xfrm>
            <a:off x="3945133" y="4732600"/>
            <a:ext cx="1512933" cy="600000"/>
          </a:xfrm>
          <a:prstGeom prst="rect">
            <a:avLst/>
          </a:prstGeom>
          <a:noFill/>
          <a:ln w="0">
            <a:noFill/>
          </a:ln>
        </p:spPr>
        <p:txBody>
          <a:bodyPr wrap="square" anchor="ctr">
            <a:noAutofit/>
          </a:bodyPr>
          <a:lstStyle/>
          <a:p>
            <a:pPr algn="ctr">
              <a:lnSpc>
                <a:spcPct val="108000"/>
              </a:lnSpc>
              <a:buNone/>
            </a:pPr>
            <a:r>
              <a:rPr lang="en-US" sz="850" b="0" i="0">
                <a:solidFill>
                  <a:srgbClr val="8A94AD"/>
                </a:solidFill>
                <a:latin typeface="Arial"/>
                <a:ea typeface="Arial"/>
                <a:cs typeface="Arial"/>
              </a:rPr>
              <a:t>—</a:t>
            </a:r>
          </a:p>
        </p:txBody>
      </p:sp>
      <p:sp>
        <p:nvSpPr>
          <p:cNvPr id="146" name="AI None 4"/>
          <p:cNvSpPr/>
          <p:nvPr/>
        </p:nvSpPr>
        <p:spPr>
          <a:xfrm>
            <a:off x="8633932" y="4732600"/>
            <a:ext cx="1512933" cy="600000"/>
          </a:xfrm>
          <a:prstGeom prst="rect">
            <a:avLst/>
          </a:prstGeom>
          <a:noFill/>
          <a:ln w="0">
            <a:noFill/>
          </a:ln>
        </p:spPr>
        <p:txBody>
          <a:bodyPr wrap="square" anchor="ctr">
            <a:noAutofit/>
          </a:bodyPr>
          <a:lstStyle/>
          <a:p>
            <a:pPr algn="ctr">
              <a:lnSpc>
                <a:spcPct val="108000"/>
              </a:lnSpc>
              <a:buNone/>
            </a:pPr>
            <a:r>
              <a:rPr lang="en-US" sz="850" b="0" i="0">
                <a:solidFill>
                  <a:srgbClr val="8A94AD"/>
                </a:solidFill>
                <a:latin typeface="Arial"/>
                <a:ea typeface="Arial"/>
                <a:cs typeface="Arial"/>
              </a:rPr>
              <a:t>—</a:t>
            </a:r>
          </a:p>
        </p:txBody>
      </p:sp>
      <p:sp>
        <p:nvSpPr>
          <p:cNvPr id="147" name="AI None 5"/>
          <p:cNvSpPr/>
          <p:nvPr/>
        </p:nvSpPr>
        <p:spPr>
          <a:xfrm>
            <a:off x="10196865" y="4732600"/>
            <a:ext cx="1512933" cy="600000"/>
          </a:xfrm>
          <a:prstGeom prst="rect">
            <a:avLst/>
          </a:prstGeom>
          <a:noFill/>
          <a:ln w="0">
            <a:noFill/>
          </a:ln>
        </p:spPr>
        <p:txBody>
          <a:bodyPr wrap="square" anchor="ctr">
            <a:noAutofit/>
          </a:bodyPr>
          <a:lstStyle/>
          <a:p>
            <a:pPr algn="ctr">
              <a:lnSpc>
                <a:spcPct val="108000"/>
              </a:lnSpc>
              <a:buNone/>
            </a:pPr>
            <a:r>
              <a:rPr lang="en-US" sz="850" b="0" i="0">
                <a:solidFill>
                  <a:srgbClr val="8A94AD"/>
                </a:solidFill>
                <a:latin typeface="Arial"/>
                <a:ea typeface="Arial"/>
                <a:cs typeface="Arial"/>
              </a:rPr>
              <a:t>—</a:t>
            </a:r>
          </a:p>
        </p:txBody>
      </p:sp>
      <p:sp>
        <p:nvSpPr>
          <p:cNvPr id="148" name="How To Use"/>
          <p:cNvSpPr/>
          <p:nvPr/>
        </p:nvSpPr>
        <p:spPr>
          <a:xfrm>
            <a:off x="457200" y="5420000"/>
            <a:ext cx="11277600" cy="480000"/>
          </a:xfrm>
          <a:prstGeom prst="rect">
            <a:avLst/>
          </a:prstGeom>
          <a:solidFill>
            <a:srgbClr val="0047FF"/>
          </a:solidFill>
          <a:ln w="0">
            <a:noFill/>
          </a:ln>
        </p:spPr>
        <p:txBody>
          <a:bodyPr wrap="square" anchor="ctr">
            <a:noAutofit/>
          </a:bodyPr>
          <a:lstStyle/>
          <a:p>
            <a:pPr>
              <a:lnSpc>
                <a:spcPct val="108000"/>
              </a:lnSpc>
              <a:buNone/>
            </a:pPr>
            <a:r>
              <a:rPr lang="en-US" sz="950" b="1" i="0">
                <a:solidFill>
                  <a:srgbClr val="FFFFFF"/>
                </a:solidFill>
                <a:latin typeface="Arial"/>
                <a:ea typeface="Arial"/>
                <a:cs typeface="Arial"/>
              </a:rPr>
              <a:t>Working rules:  </a:t>
            </a:r>
            <a:r>
              <a:rPr lang="en-US" sz="850" b="0" i="0">
                <a:solidFill>
                  <a:srgbClr val="FFFFFF"/>
                </a:solidFill>
                <a:latin typeface="Arial"/>
                <a:ea typeface="Arial"/>
                <a:cs typeface="Arial"/>
              </a:rPr>
              <a:t>Decision points, not paperwork: every review ends in Approve, Revise, Hold, or Stop   ·   Link to Jira, design, and test systems; don't copy them   ·   Unknowns stay visible, with an owner and a date   ·   Product and Engineering agree before any customer, scope, or date commitment</a:t>
            </a:r>
          </a:p>
        </p:txBody>
      </p:sp>
      <p:sp>
        <p:nvSpPr>
          <p:cNvPr id="4" name="Rectangle 3">
            <a:extLst>
              <a:ext uri="{FF2B5EF4-FFF2-40B4-BE49-F238E27FC236}">
                <a16:creationId xmlns:a16="http://schemas.microsoft.com/office/drawing/2014/main" id="{174C13F3-0FBC-4B6E-2A40-80E721C0ECFC}"/>
              </a:ext>
            </a:extLst>
          </p:cNvPr>
          <p:cNvSpPr/>
          <p:nvPr/>
        </p:nvSpPr>
        <p:spPr>
          <a:xfrm>
            <a:off x="7352907" y="171450"/>
            <a:ext cx="3733015" cy="1138876"/>
          </a:xfrm>
          <a:prstGeom prst="rect">
            <a:avLst/>
          </a:prstGeom>
          <a:solidFill>
            <a:srgbClr val="F52C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Sameer to review</a:t>
            </a:r>
          </a:p>
        </p:txBody>
      </p:sp>
    </p:spTree>
    <p:extLst>
      <p:ext uri="{BB962C8B-B14F-4D97-AF65-F5344CB8AC3E}">
        <p14:creationId xmlns:p14="http://schemas.microsoft.com/office/powerpoint/2010/main" val="2561000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2C471049-61CA-4F5A-A600-DF541F837F72}"/>
              </a:ext>
            </a:extLst>
          </p:cNvPr>
          <p:cNvSpPr>
            <a:spLocks noGrp="1"/>
          </p:cNvSpPr>
          <p:nvPr/>
        </p:nvSpPr>
        <p:spPr>
          <a:xfrm>
            <a:off x="457200" y="2457450"/>
            <a:ext cx="2857500" cy="190500"/>
          </a:xfrm>
          <a:prstGeom prst="rect">
            <a:avLst/>
          </a:prstGeom>
          <a:noFill/>
          <a:ln w="0">
            <a:noFill/>
          </a:ln>
        </p:spPr>
        <p:txBody>
          <a:bodyPr anchor="t">
            <a:noAutofit/>
          </a:bodyPr>
          <a:lstStyle/>
          <a:p>
            <a:pPr>
              <a:lnSpc>
                <a:spcPct val="108000"/>
              </a:lnSpc>
              <a:buNone/>
              <a:defRPr sz="825" b="1" i="0">
                <a:solidFill>
                  <a:srgbClr val="0047FF"/>
                </a:solidFill>
                <a:latin typeface="Arial"/>
                <a:ea typeface="Arial"/>
                <a:cs typeface="Arial"/>
              </a:defRPr>
            </a:pPr>
            <a:r>
              <a:rPr sz="1100" b="1" i="0">
                <a:solidFill>
                  <a:srgbClr val="0047FF"/>
                </a:solidFill>
                <a:latin typeface="Arial"/>
                <a:ea typeface="Arial"/>
                <a:cs typeface="Arial"/>
              </a:rPr>
              <a:t>DELIVERABLE 03</a:t>
            </a:r>
          </a:p>
        </p:txBody>
      </p:sp>
      <p:sp>
        <p:nvSpPr>
          <p:cNvPr id="3" name="Rectangle 2">
            <a:extLst>
              <a:ext uri="{FF2B5EF4-FFF2-40B4-BE49-F238E27FC236}">
                <a16:creationId xmlns:a16="http://schemas.microsoft.com/office/drawing/2014/main" id="{D19A23F5-7139-45D2-B88B-FF49EE7309B9}"/>
              </a:ext>
            </a:extLst>
          </p:cNvPr>
          <p:cNvSpPr>
            <a:spLocks noGrp="1"/>
          </p:cNvSpPr>
          <p:nvPr/>
        </p:nvSpPr>
        <p:spPr>
          <a:xfrm>
            <a:off x="457200" y="2876550"/>
            <a:ext cx="5143500" cy="1428750"/>
          </a:xfrm>
          <a:prstGeom prst="rect">
            <a:avLst/>
          </a:prstGeom>
          <a:noFill/>
          <a:ln w="0">
            <a:noFill/>
          </a:ln>
        </p:spPr>
        <p:txBody>
          <a:bodyPr anchor="t">
            <a:normAutofit/>
          </a:bodyPr>
          <a:lstStyle/>
          <a:p>
            <a:pPr>
              <a:lnSpc>
                <a:spcPct val="98000"/>
              </a:lnSpc>
              <a:buNone/>
              <a:defRPr sz="2550" b="1" i="0">
                <a:solidFill>
                  <a:srgbClr val="FFFFFF"/>
                </a:solidFill>
                <a:latin typeface="Arial"/>
                <a:ea typeface="Arial"/>
                <a:cs typeface="Arial"/>
              </a:defRPr>
            </a:pPr>
            <a:r>
              <a:rPr sz="2550" b="1" i="0">
                <a:solidFill>
                  <a:srgbClr val="FFFFFF"/>
                </a:solidFill>
                <a:latin typeface="Arial"/>
                <a:ea typeface="Arial"/>
                <a:cs typeface="Arial"/>
              </a:rPr>
              <a:t>Prioritized Operating Model Recommendations and Activation Roadmap</a:t>
            </a:r>
          </a:p>
        </p:txBody>
      </p:sp>
      <p:sp>
        <p:nvSpPr>
          <p:cNvPr id="4" name="Rectangle 3">
            <a:extLst>
              <a:ext uri="{FF2B5EF4-FFF2-40B4-BE49-F238E27FC236}">
                <a16:creationId xmlns:a16="http://schemas.microsoft.com/office/drawing/2014/main" id="{4E428911-18A9-489B-89F8-9631A7C195CB}"/>
              </a:ext>
            </a:extLst>
          </p:cNvPr>
          <p:cNvSpPr>
            <a:spLocks noGrp="1"/>
          </p:cNvSpPr>
          <p:nvPr/>
        </p:nvSpPr>
        <p:spPr>
          <a:xfrm>
            <a:off x="457200" y="4762500"/>
            <a:ext cx="4953000" cy="819150"/>
          </a:xfrm>
          <a:prstGeom prst="rect">
            <a:avLst/>
          </a:prstGeom>
          <a:noFill/>
          <a:ln w="0">
            <a:noFill/>
          </a:ln>
        </p:spPr>
        <p:txBody>
          <a:bodyPr anchor="t">
            <a:normAutofit/>
          </a:bodyPr>
          <a:lstStyle/>
          <a:p>
            <a:pPr>
              <a:lnSpc>
                <a:spcPct val="112000"/>
              </a:lnSpc>
              <a:buNone/>
              <a:defRPr sz="1425" b="0" i="0">
                <a:solidFill>
                  <a:srgbClr val="E8EEF8"/>
                </a:solidFill>
                <a:latin typeface="Arial"/>
                <a:ea typeface="Arial"/>
                <a:cs typeface="Arial"/>
              </a:defRPr>
            </a:pPr>
            <a:r>
              <a:rPr sz="1425" b="0" i="0">
                <a:solidFill>
                  <a:srgbClr val="E8EEF8"/>
                </a:solidFill>
                <a:latin typeface="Arial"/>
                <a:ea typeface="Arial"/>
                <a:cs typeface="Arial"/>
              </a:rPr>
              <a:t>A sequenced path for practices, decision rights, roles, measures, and feedback loops that can support scale.</a:t>
            </a:r>
          </a:p>
        </p:txBody>
      </p:sp>
      <p:sp>
        <p:nvSpPr>
          <p:cNvPr id="5" name="Rectangle 4">
            <a:extLst>
              <a:ext uri="{FF2B5EF4-FFF2-40B4-BE49-F238E27FC236}">
                <a16:creationId xmlns:a16="http://schemas.microsoft.com/office/drawing/2014/main" id="{E7FEC982-C530-4AE3-A45A-97F4D89D4523}"/>
              </a:ext>
            </a:extLst>
          </p:cNvPr>
          <p:cNvSpPr>
            <a:spLocks noGrp="1"/>
          </p:cNvSpPr>
          <p:nvPr/>
        </p:nvSpPr>
        <p:spPr>
          <a:xfrm>
            <a:off x="457200" y="6048375"/>
            <a:ext cx="5334000" cy="209550"/>
          </a:xfrm>
          <a:prstGeom prst="rect">
            <a:avLst/>
          </a:prstGeom>
          <a:noFill/>
          <a:ln w="0">
            <a:noFill/>
          </a:ln>
        </p:spPr>
        <p:txBody>
          <a:bodyPr anchor="t">
            <a:normAutofit fontScale="86981"/>
          </a:bodyPr>
          <a:lstStyle/>
          <a:p>
            <a:pPr>
              <a:lnSpc>
                <a:spcPct val="108000"/>
              </a:lnSpc>
              <a:buNone/>
              <a:defRPr sz="825" b="1" i="0">
                <a:solidFill>
                  <a:srgbClr val="0047FF"/>
                </a:solidFill>
                <a:latin typeface="Arial"/>
                <a:ea typeface="Arial"/>
                <a:cs typeface="Arial"/>
              </a:defRPr>
            </a:pPr>
            <a:r>
              <a:rPr sz="825" b="1" i="0">
                <a:solidFill>
                  <a:srgbClr val="0047FF"/>
                </a:solidFill>
                <a:latin typeface="Arial"/>
                <a:ea typeface="Arial"/>
                <a:cs typeface="Arial"/>
              </a:rPr>
              <a:t>NOW, NEXT, AND FUTURE ACTIONS</a:t>
            </a:r>
          </a:p>
        </p:txBody>
      </p:sp>
      <p:sp>
        <p:nvSpPr>
          <p:cNvPr id="12" name="EyebrowAccent">
            <a:extLst>
              <a:ext uri="{FF2B5EF4-FFF2-40B4-BE49-F238E27FC236}">
                <a16:creationId xmlns:a16="http://schemas.microsoft.com/office/drawing/2014/main" id="{67ADE959-6686-7146-A7AF-698B09A4D935}"/>
              </a:ext>
            </a:extLst>
          </p:cNvPr>
          <p:cNvSpPr/>
          <p:nvPr/>
        </p:nvSpPr>
        <p:spPr>
          <a:xfrm>
            <a:off x="457200" y="2711450"/>
            <a:ext cx="584200" cy="381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932611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4"/>
          <a:stretch/>
        </p:blipFill>
        <p:spPr>
          <a:xfrm>
            <a:off x="10608469" y="171450"/>
            <a:ext cx="1071563" cy="476250"/>
          </a:xfrm>
          <a:prstGeom prst="rect">
            <a:avLst/>
          </a:prstGeom>
        </p:spPr>
      </p:pic>
      <p:sp>
        <p:nvSpPr>
          <p:cNvPr id="3" name="Rectangle 2">
            <a:extLst>
              <a:ext uri="{FF2B5EF4-FFF2-40B4-BE49-F238E27FC236}">
                <a16:creationId xmlns:a16="http://schemas.microsoft.com/office/drawing/2014/main" id="{39D7AE0C-1235-47DC-A43C-7924EEF7DD10}"/>
              </a:ext>
            </a:extLst>
          </p:cNvPr>
          <p:cNvSpPr>
            <a:spLocks noGrp="1"/>
          </p:cNvSpPr>
          <p:nvPr/>
        </p:nvSpPr>
        <p:spPr>
          <a:xfrm>
            <a:off x="457200" y="2876550"/>
            <a:ext cx="5143500" cy="1428750"/>
          </a:xfrm>
          <a:prstGeom prst="rect">
            <a:avLst/>
          </a:prstGeom>
          <a:noFill/>
          <a:ln w="0">
            <a:noFill/>
          </a:ln>
        </p:spPr>
        <p:txBody>
          <a:bodyPr anchor="t">
            <a:normAutofit/>
          </a:bodyPr>
          <a:lstStyle/>
          <a:p>
            <a:pPr>
              <a:lnSpc>
                <a:spcPct val="98000"/>
              </a:lnSpc>
              <a:buNone/>
              <a:defRPr sz="2550" b="1" i="0">
                <a:solidFill>
                  <a:srgbClr val="FFFFFF"/>
                </a:solidFill>
                <a:latin typeface="Arial"/>
                <a:ea typeface="Arial"/>
                <a:cs typeface="Arial"/>
              </a:defRPr>
            </a:pPr>
            <a:r>
              <a:rPr lang="en-US" sz="2550" b="1" i="0">
                <a:solidFill>
                  <a:srgbClr val="FFFFFF"/>
                </a:solidFill>
                <a:latin typeface="Arial"/>
                <a:ea typeface="Arial"/>
                <a:cs typeface="Arial"/>
              </a:rPr>
              <a:t>Executive Summary</a:t>
            </a:r>
            <a:endParaRPr sz="2550" b="1" i="0">
              <a:solidFill>
                <a:srgbClr val="FFFFFF"/>
              </a:solidFill>
              <a:latin typeface="Arial"/>
              <a:ea typeface="Arial"/>
              <a:cs typeface="Arial"/>
            </a:endParaRPr>
          </a:p>
        </p:txBody>
      </p:sp>
      <p:sp>
        <p:nvSpPr>
          <p:cNvPr id="13" name="EyebrowAccent">
            <a:extLst>
              <a:ext uri="{FF2B5EF4-FFF2-40B4-BE49-F238E27FC236}">
                <a16:creationId xmlns:a16="http://schemas.microsoft.com/office/drawing/2014/main" id="{7DED285A-885D-6F40-A856-3C4594D67702}"/>
              </a:ext>
            </a:extLst>
          </p:cNvPr>
          <p:cNvSpPr/>
          <p:nvPr/>
        </p:nvSpPr>
        <p:spPr>
          <a:xfrm>
            <a:off x="457200" y="2711450"/>
            <a:ext cx="584200" cy="381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828823966"/>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0E1140-EBF3-75E1-5524-5345B2559EC7}"/>
              </a:ext>
            </a:extLst>
          </p:cNvPr>
          <p:cNvSpPr/>
          <p:nvPr/>
        </p:nvSpPr>
        <p:spPr>
          <a:xfrm>
            <a:off x="-1" y="4529667"/>
            <a:ext cx="12192001" cy="68421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itle">
            <a:extLst>
              <a:ext uri="{FF2B5EF4-FFF2-40B4-BE49-F238E27FC236}">
                <a16:creationId xmlns:a16="http://schemas.microsoft.com/office/drawing/2014/main" id="{1AEFEF6E-5ABF-4B50-ACA1-7ADBD213C086}"/>
              </a:ext>
            </a:extLst>
          </p:cNvPr>
          <p:cNvSpPr>
            <a:spLocks noGrp="1"/>
          </p:cNvSpPr>
          <p:nvPr/>
        </p:nvSpPr>
        <p:spPr>
          <a:xfrm>
            <a:off x="552450" y="323850"/>
            <a:ext cx="7239000" cy="419100"/>
          </a:xfrm>
          <a:prstGeom prst="rect">
            <a:avLst/>
          </a:prstGeom>
          <a:noFill/>
          <a:ln w="0">
            <a:noFill/>
          </a:ln>
        </p:spPr>
        <p:txBody>
          <a:bodyPr lIns="0" tIns="0" rIns="0" bIns="0" anchor="t">
            <a:normAutofit/>
          </a:bodyPr>
          <a:lstStyle/>
          <a:p>
            <a:pPr>
              <a:defRPr sz="2325" b="1">
                <a:solidFill>
                  <a:srgbClr val="070154"/>
                </a:solidFill>
                <a:latin typeface="Arial"/>
                <a:ea typeface="Arial"/>
                <a:cs typeface="Arial"/>
              </a:defRPr>
            </a:pPr>
            <a:r>
              <a:rPr sz="2325" b="1">
                <a:solidFill>
                  <a:srgbClr val="070154"/>
                </a:solidFill>
                <a:latin typeface="Arial"/>
                <a:ea typeface="Arial"/>
                <a:cs typeface="Arial"/>
              </a:rPr>
              <a:t>Executive summary</a:t>
            </a:r>
          </a:p>
        </p:txBody>
      </p:sp>
      <p:sp>
        <p:nvSpPr>
          <p:cNvPr id="2" name="subtitle">
            <a:extLst>
              <a:ext uri="{FF2B5EF4-FFF2-40B4-BE49-F238E27FC236}">
                <a16:creationId xmlns:a16="http://schemas.microsoft.com/office/drawing/2014/main" id="{89D8DD01-893A-4E14-9098-78ED611E510A}"/>
              </a:ext>
            </a:extLst>
          </p:cNvPr>
          <p:cNvSpPr>
            <a:spLocks noGrp="1"/>
          </p:cNvSpPr>
          <p:nvPr/>
        </p:nvSpPr>
        <p:spPr>
          <a:xfrm>
            <a:off x="552450" y="790575"/>
            <a:ext cx="10610850" cy="400050"/>
          </a:xfrm>
          <a:prstGeom prst="rect">
            <a:avLst/>
          </a:prstGeom>
          <a:noFill/>
          <a:ln w="0">
            <a:noFill/>
          </a:ln>
        </p:spPr>
        <p:txBody>
          <a:bodyPr lIns="0" tIns="0" rIns="0" bIns="0" anchor="t">
            <a:normAutofit fontScale="93483"/>
          </a:bodyPr>
          <a:lstStyle/>
          <a:p>
            <a:pPr>
              <a:lnSpc>
                <a:spcPct val="104000"/>
              </a:lnSpc>
              <a:buNone/>
              <a:defRPr sz="1350">
                <a:solidFill>
                  <a:srgbClr val="50658E"/>
                </a:solidFill>
                <a:latin typeface="Arial"/>
                <a:ea typeface="Arial"/>
                <a:cs typeface="Arial"/>
              </a:defRPr>
            </a:pPr>
            <a:r>
              <a:rPr lang="en-US" sz="1350">
                <a:solidFill>
                  <a:srgbClr val="50658E"/>
                </a:solidFill>
                <a:latin typeface="Arial"/>
                <a:ea typeface="Arial"/>
                <a:cs typeface="Arial"/>
              </a:rPr>
              <a:t>DXC is at an inflexion point with plans to become a SaaS business. The ability to make progress on a multifaceted business strategy with coordinated and coupled product and engineering teams is critical in realizing that ambition.</a:t>
            </a:r>
          </a:p>
        </p:txBody>
      </p:sp>
      <p:pic>
        <p:nvPicPr>
          <p:cNvPr id="42" name="Picture 41"/>
          <p:cNvPicPr>
            <a:picLocks noChangeAspect="1"/>
          </p:cNvPicPr>
          <p:nvPr/>
        </p:nvPicPr>
        <p:blipFill>
          <a:blip r:embed="rId3"/>
          <a:stretch/>
        </p:blipFill>
        <p:spPr>
          <a:xfrm>
            <a:off x="10725150" y="271992"/>
            <a:ext cx="1047750" cy="465667"/>
          </a:xfrm>
          <a:prstGeom prst="rect">
            <a:avLst/>
          </a:prstGeom>
        </p:spPr>
      </p:pic>
      <p:sp>
        <p:nvSpPr>
          <p:cNvPr id="7" name="sawHeading">
            <a:extLst>
              <a:ext uri="{FF2B5EF4-FFF2-40B4-BE49-F238E27FC236}">
                <a16:creationId xmlns:a16="http://schemas.microsoft.com/office/drawing/2014/main" id="{73BA6E29-BBB1-4E93-AFA0-A4E85C5F938C}"/>
              </a:ext>
            </a:extLst>
          </p:cNvPr>
          <p:cNvSpPr>
            <a:spLocks noGrp="1"/>
          </p:cNvSpPr>
          <p:nvPr/>
        </p:nvSpPr>
        <p:spPr>
          <a:xfrm>
            <a:off x="552450" y="1678552"/>
            <a:ext cx="3429000" cy="266700"/>
          </a:xfrm>
          <a:prstGeom prst="rect">
            <a:avLst/>
          </a:prstGeom>
          <a:noFill/>
          <a:ln w="0">
            <a:noFill/>
          </a:ln>
        </p:spPr>
        <p:txBody>
          <a:bodyPr lIns="0" tIns="0" rIns="0" bIns="0" anchor="t">
            <a:normAutofit/>
          </a:bodyPr>
          <a:lstStyle/>
          <a:p>
            <a:pPr>
              <a:defRPr sz="1650" b="1">
                <a:solidFill>
                  <a:srgbClr val="070154"/>
                </a:solidFill>
                <a:latin typeface="Arial"/>
                <a:ea typeface="Arial"/>
                <a:cs typeface="Arial"/>
              </a:defRPr>
            </a:pPr>
            <a:r>
              <a:rPr sz="1400" b="1">
                <a:solidFill>
                  <a:srgbClr val="070154"/>
                </a:solidFill>
                <a:latin typeface="Arial"/>
                <a:ea typeface="Arial"/>
                <a:cs typeface="Arial"/>
              </a:rPr>
              <a:t>What we saw</a:t>
            </a:r>
          </a:p>
        </p:txBody>
      </p:sp>
      <p:sp>
        <p:nvSpPr>
          <p:cNvPr id="8" name="activationHeading">
            <a:extLst>
              <a:ext uri="{FF2B5EF4-FFF2-40B4-BE49-F238E27FC236}">
                <a16:creationId xmlns:a16="http://schemas.microsoft.com/office/drawing/2014/main" id="{B6B8B990-F7B2-4B83-9D13-2747B7D047BB}"/>
              </a:ext>
            </a:extLst>
          </p:cNvPr>
          <p:cNvSpPr>
            <a:spLocks noGrp="1"/>
          </p:cNvSpPr>
          <p:nvPr/>
        </p:nvSpPr>
        <p:spPr>
          <a:xfrm>
            <a:off x="4514850" y="1678552"/>
            <a:ext cx="6667500" cy="266700"/>
          </a:xfrm>
          <a:prstGeom prst="rect">
            <a:avLst/>
          </a:prstGeom>
          <a:noFill/>
          <a:ln w="0">
            <a:noFill/>
          </a:ln>
        </p:spPr>
        <p:txBody>
          <a:bodyPr lIns="0" tIns="0" rIns="0" bIns="0" anchor="t">
            <a:normAutofit/>
          </a:bodyPr>
          <a:lstStyle/>
          <a:p>
            <a:pPr>
              <a:defRPr sz="1650" b="1">
                <a:solidFill>
                  <a:srgbClr val="070154"/>
                </a:solidFill>
                <a:latin typeface="Arial"/>
                <a:ea typeface="Arial"/>
                <a:cs typeface="Arial"/>
              </a:defRPr>
            </a:pPr>
            <a:r>
              <a:rPr sz="1400" b="1">
                <a:solidFill>
                  <a:srgbClr val="070154"/>
                </a:solidFill>
                <a:latin typeface="Arial"/>
                <a:ea typeface="Arial"/>
                <a:cs typeface="Arial"/>
              </a:rPr>
              <a:t>What </a:t>
            </a:r>
            <a:r>
              <a:rPr lang="en-US" sz="1400" b="1">
                <a:solidFill>
                  <a:srgbClr val="070154"/>
                </a:solidFill>
                <a:latin typeface="Arial"/>
                <a:ea typeface="Arial"/>
                <a:cs typeface="Arial"/>
              </a:rPr>
              <a:t>should be done</a:t>
            </a:r>
            <a:endParaRPr sz="1400" b="1">
              <a:solidFill>
                <a:srgbClr val="070154"/>
              </a:solidFill>
              <a:latin typeface="Arial"/>
              <a:ea typeface="Arial"/>
              <a:cs typeface="Arial"/>
            </a:endParaRPr>
          </a:p>
        </p:txBody>
      </p:sp>
      <p:sp>
        <p:nvSpPr>
          <p:cNvPr id="9" name="finding1Accent">
            <a:extLst>
              <a:ext uri="{FF2B5EF4-FFF2-40B4-BE49-F238E27FC236}">
                <a16:creationId xmlns:a16="http://schemas.microsoft.com/office/drawing/2014/main" id="{05AD4671-7CB3-49B9-931C-767E2C538D3F}"/>
              </a:ext>
            </a:extLst>
          </p:cNvPr>
          <p:cNvSpPr>
            <a:spLocks noGrp="1"/>
          </p:cNvSpPr>
          <p:nvPr/>
        </p:nvSpPr>
        <p:spPr>
          <a:xfrm>
            <a:off x="552450" y="2078602"/>
            <a:ext cx="47625" cy="533400"/>
          </a:xfrm>
          <a:prstGeom prst="rect">
            <a:avLst/>
          </a:prstGeom>
          <a:solidFill>
            <a:srgbClr val="0047FF"/>
          </a:solidFill>
          <a:ln w="0">
            <a:noFill/>
          </a:ln>
        </p:spPr>
        <p:txBody>
          <a:bodyPr/>
          <a:lstStyle/>
          <a:p>
            <a:endParaRPr lang="en-US"/>
          </a:p>
        </p:txBody>
      </p:sp>
      <p:sp>
        <p:nvSpPr>
          <p:cNvPr id="10" name="finding1Text">
            <a:extLst>
              <a:ext uri="{FF2B5EF4-FFF2-40B4-BE49-F238E27FC236}">
                <a16:creationId xmlns:a16="http://schemas.microsoft.com/office/drawing/2014/main" id="{9C8984E3-681D-4B6C-992B-B5CE76BB13FA}"/>
              </a:ext>
            </a:extLst>
          </p:cNvPr>
          <p:cNvSpPr>
            <a:spLocks noGrp="1"/>
          </p:cNvSpPr>
          <p:nvPr/>
        </p:nvSpPr>
        <p:spPr>
          <a:xfrm>
            <a:off x="723900" y="2065413"/>
            <a:ext cx="3449515" cy="592016"/>
          </a:xfrm>
          <a:prstGeom prst="rect">
            <a:avLst/>
          </a:prstGeom>
          <a:noFill/>
          <a:ln w="0">
            <a:noFill/>
          </a:ln>
        </p:spPr>
        <p:txBody>
          <a:bodyPr lIns="0" tIns="0" rIns="0" bIns="0" anchor="t">
            <a:normAutofit fontScale="88916" lnSpcReduction="20000"/>
          </a:bodyPr>
          <a:lstStyle/>
          <a:p>
            <a:pPr>
              <a:lnSpc>
                <a:spcPct val="104000"/>
              </a:lnSpc>
              <a:buNone/>
              <a:defRPr sz="1200">
                <a:solidFill>
                  <a:srgbClr val="50658E"/>
                </a:solidFill>
                <a:latin typeface="Arial"/>
                <a:ea typeface="Arial"/>
                <a:cs typeface="Arial"/>
              </a:defRPr>
            </a:pPr>
            <a:r>
              <a:rPr sz="1200" b="1">
                <a:solidFill>
                  <a:srgbClr val="50658E"/>
                </a:solidFill>
                <a:latin typeface="Arial"/>
                <a:ea typeface="Arial"/>
                <a:cs typeface="Arial"/>
              </a:rPr>
              <a:t>Decision path is inconsistent</a:t>
            </a:r>
          </a:p>
          <a:p>
            <a:pPr>
              <a:lnSpc>
                <a:spcPct val="104000"/>
              </a:lnSpc>
              <a:defRPr sz="1200">
                <a:solidFill>
                  <a:srgbClr val="50658E"/>
                </a:solidFill>
                <a:latin typeface="Arial"/>
                <a:ea typeface="Arial"/>
                <a:cs typeface="Arial"/>
              </a:defRPr>
            </a:pPr>
            <a:r>
              <a:rPr sz="1200">
                <a:solidFill>
                  <a:srgbClr val="50658E"/>
                </a:solidFill>
                <a:latin typeface="Arial"/>
                <a:ea typeface="Arial"/>
                <a:cs typeface="Arial"/>
              </a:rPr>
              <a:t>Signals do not move consistently from opportunity brief </a:t>
            </a:r>
            <a:r>
              <a:rPr lang="en-US" sz="1200">
                <a:solidFill>
                  <a:srgbClr val="50658E"/>
                </a:solidFill>
                <a:latin typeface="Arial"/>
                <a:ea typeface="Arial"/>
                <a:cs typeface="Arial"/>
              </a:rPr>
              <a:t>to </a:t>
            </a:r>
            <a:r>
              <a:rPr sz="1200">
                <a:solidFill>
                  <a:srgbClr val="50658E"/>
                </a:solidFill>
                <a:latin typeface="Arial"/>
                <a:ea typeface="Arial"/>
                <a:cs typeface="Arial"/>
              </a:rPr>
              <a:t>PRD, epic, technical design, and implementation plan.</a:t>
            </a:r>
            <a:endParaRPr lang="en-US" sz="1200">
              <a:solidFill>
                <a:srgbClr val="50658E"/>
              </a:solidFill>
              <a:latin typeface="Arial"/>
              <a:ea typeface="Arial"/>
              <a:cs typeface="Arial"/>
            </a:endParaRPr>
          </a:p>
        </p:txBody>
      </p:sp>
      <p:sp>
        <p:nvSpPr>
          <p:cNvPr id="11" name="finding2Accent">
            <a:extLst>
              <a:ext uri="{FF2B5EF4-FFF2-40B4-BE49-F238E27FC236}">
                <a16:creationId xmlns:a16="http://schemas.microsoft.com/office/drawing/2014/main" id="{547941FB-C18B-4651-AA4D-40483A68AF56}"/>
              </a:ext>
            </a:extLst>
          </p:cNvPr>
          <p:cNvSpPr>
            <a:spLocks noGrp="1"/>
          </p:cNvSpPr>
          <p:nvPr/>
        </p:nvSpPr>
        <p:spPr>
          <a:xfrm>
            <a:off x="552450" y="2821552"/>
            <a:ext cx="47625" cy="533400"/>
          </a:xfrm>
          <a:prstGeom prst="rect">
            <a:avLst/>
          </a:prstGeom>
          <a:solidFill>
            <a:srgbClr val="0047FF"/>
          </a:solidFill>
          <a:ln w="0">
            <a:noFill/>
          </a:ln>
        </p:spPr>
        <p:txBody>
          <a:bodyPr/>
          <a:lstStyle/>
          <a:p>
            <a:endParaRPr lang="en-US"/>
          </a:p>
        </p:txBody>
      </p:sp>
      <p:sp>
        <p:nvSpPr>
          <p:cNvPr id="12" name="finding2Text">
            <a:extLst>
              <a:ext uri="{FF2B5EF4-FFF2-40B4-BE49-F238E27FC236}">
                <a16:creationId xmlns:a16="http://schemas.microsoft.com/office/drawing/2014/main" id="{4CDEEB36-34B3-4115-A7E8-55CD532A1D87}"/>
              </a:ext>
            </a:extLst>
          </p:cNvPr>
          <p:cNvSpPr>
            <a:spLocks noGrp="1"/>
          </p:cNvSpPr>
          <p:nvPr/>
        </p:nvSpPr>
        <p:spPr>
          <a:xfrm>
            <a:off x="723900" y="2802502"/>
            <a:ext cx="3390900" cy="609600"/>
          </a:xfrm>
          <a:prstGeom prst="rect">
            <a:avLst/>
          </a:prstGeom>
          <a:noFill/>
          <a:ln w="0">
            <a:noFill/>
          </a:ln>
        </p:spPr>
        <p:txBody>
          <a:bodyPr lIns="0" tIns="0" rIns="0" bIns="0" anchor="t">
            <a:normAutofit fontScale="87628" lnSpcReduction="20000"/>
          </a:bodyPr>
          <a:lstStyle/>
          <a:p>
            <a:pPr>
              <a:lnSpc>
                <a:spcPct val="104000"/>
              </a:lnSpc>
              <a:buNone/>
              <a:defRPr sz="1200">
                <a:solidFill>
                  <a:srgbClr val="50658E"/>
                </a:solidFill>
                <a:latin typeface="Arial"/>
                <a:ea typeface="Arial"/>
                <a:cs typeface="Arial"/>
              </a:defRPr>
            </a:pPr>
            <a:r>
              <a:rPr sz="1200" b="1">
                <a:solidFill>
                  <a:srgbClr val="50658E"/>
                </a:solidFill>
                <a:latin typeface="Arial"/>
                <a:ea typeface="Arial"/>
                <a:cs typeface="Arial"/>
              </a:rPr>
              <a:t>Platform maturity is uneven</a:t>
            </a:r>
          </a:p>
          <a:p>
            <a:pPr>
              <a:lnSpc>
                <a:spcPct val="104000"/>
              </a:lnSpc>
              <a:buNone/>
              <a:defRPr sz="1200">
                <a:solidFill>
                  <a:srgbClr val="50658E"/>
                </a:solidFill>
                <a:latin typeface="Arial"/>
                <a:ea typeface="Arial"/>
                <a:cs typeface="Arial"/>
              </a:defRPr>
            </a:pPr>
            <a:r>
              <a:rPr sz="1200">
                <a:solidFill>
                  <a:srgbClr val="50658E"/>
                </a:solidFill>
                <a:latin typeface="Arial"/>
                <a:ea typeface="Arial"/>
                <a:cs typeface="Arial"/>
              </a:rPr>
              <a:t>Reconcile AI leads on technical design and test automation; Core still relies on manual regression and </a:t>
            </a:r>
            <a:r>
              <a:rPr lang="en-US" sz="1200">
                <a:solidFill>
                  <a:srgbClr val="50658E"/>
                </a:solidFill>
                <a:latin typeface="Arial"/>
                <a:ea typeface="Arial"/>
                <a:cs typeface="Arial"/>
              </a:rPr>
              <a:t>has had</a:t>
            </a:r>
            <a:r>
              <a:rPr sz="1200">
                <a:solidFill>
                  <a:srgbClr val="50658E"/>
                </a:solidFill>
                <a:latin typeface="Arial"/>
                <a:ea typeface="Arial"/>
                <a:cs typeface="Arial"/>
              </a:rPr>
              <a:t> 15 unplanned </a:t>
            </a:r>
            <a:r>
              <a:rPr lang="en-US" sz="1200">
                <a:solidFill>
                  <a:srgbClr val="50658E"/>
                </a:solidFill>
                <a:latin typeface="Arial"/>
                <a:ea typeface="Arial"/>
                <a:cs typeface="Arial"/>
              </a:rPr>
              <a:t>changes to-date in 2026</a:t>
            </a:r>
            <a:r>
              <a:rPr sz="1200">
                <a:solidFill>
                  <a:srgbClr val="50658E"/>
                </a:solidFill>
                <a:latin typeface="Arial"/>
                <a:ea typeface="Arial"/>
                <a:cs typeface="Arial"/>
              </a:rPr>
              <a:t>.</a:t>
            </a:r>
          </a:p>
        </p:txBody>
      </p:sp>
      <p:sp>
        <p:nvSpPr>
          <p:cNvPr id="13" name="finding3Accent">
            <a:extLst>
              <a:ext uri="{FF2B5EF4-FFF2-40B4-BE49-F238E27FC236}">
                <a16:creationId xmlns:a16="http://schemas.microsoft.com/office/drawing/2014/main" id="{889ECF32-3CD1-4CC0-8C23-E794F2DE6258}"/>
              </a:ext>
            </a:extLst>
          </p:cNvPr>
          <p:cNvSpPr>
            <a:spLocks noGrp="1"/>
          </p:cNvSpPr>
          <p:nvPr/>
        </p:nvSpPr>
        <p:spPr>
          <a:xfrm>
            <a:off x="552450" y="3564502"/>
            <a:ext cx="47625" cy="533400"/>
          </a:xfrm>
          <a:prstGeom prst="rect">
            <a:avLst/>
          </a:prstGeom>
          <a:solidFill>
            <a:srgbClr val="0047FF"/>
          </a:solidFill>
          <a:ln w="0">
            <a:noFill/>
          </a:ln>
        </p:spPr>
        <p:txBody>
          <a:bodyPr/>
          <a:lstStyle/>
          <a:p>
            <a:endParaRPr lang="en-US"/>
          </a:p>
        </p:txBody>
      </p:sp>
      <p:sp>
        <p:nvSpPr>
          <p:cNvPr id="14" name="finding3Text">
            <a:extLst>
              <a:ext uri="{FF2B5EF4-FFF2-40B4-BE49-F238E27FC236}">
                <a16:creationId xmlns:a16="http://schemas.microsoft.com/office/drawing/2014/main" id="{F00C38A4-BE79-4E40-B34E-FA5F985A79D0}"/>
              </a:ext>
            </a:extLst>
          </p:cNvPr>
          <p:cNvSpPr>
            <a:spLocks noGrp="1"/>
          </p:cNvSpPr>
          <p:nvPr/>
        </p:nvSpPr>
        <p:spPr>
          <a:xfrm>
            <a:off x="723900" y="3545452"/>
            <a:ext cx="3390900" cy="609600"/>
          </a:xfrm>
          <a:prstGeom prst="rect">
            <a:avLst/>
          </a:prstGeom>
          <a:noFill/>
          <a:ln w="0">
            <a:noFill/>
          </a:ln>
        </p:spPr>
        <p:txBody>
          <a:bodyPr lIns="0" tIns="0" rIns="0" bIns="0" anchor="t">
            <a:normAutofit fontScale="87628" lnSpcReduction="20000"/>
          </a:bodyPr>
          <a:lstStyle/>
          <a:p>
            <a:pPr>
              <a:lnSpc>
                <a:spcPct val="104000"/>
              </a:lnSpc>
              <a:buNone/>
              <a:defRPr sz="1200">
                <a:solidFill>
                  <a:srgbClr val="50658E"/>
                </a:solidFill>
                <a:latin typeface="Arial"/>
                <a:ea typeface="Arial"/>
                <a:cs typeface="Arial"/>
              </a:defRPr>
            </a:pPr>
            <a:r>
              <a:rPr sz="1200" b="1">
                <a:solidFill>
                  <a:srgbClr val="50658E"/>
                </a:solidFill>
                <a:latin typeface="Arial"/>
                <a:ea typeface="Arial"/>
                <a:cs typeface="Arial"/>
              </a:rPr>
              <a:t>Evidence arrives too late</a:t>
            </a:r>
          </a:p>
          <a:p>
            <a:pPr>
              <a:lnSpc>
                <a:spcPct val="104000"/>
              </a:lnSpc>
              <a:buNone/>
              <a:defRPr sz="1200">
                <a:solidFill>
                  <a:srgbClr val="50658E"/>
                </a:solidFill>
                <a:latin typeface="Arial"/>
                <a:ea typeface="Arial"/>
                <a:cs typeface="Arial"/>
              </a:defRPr>
            </a:pPr>
            <a:r>
              <a:rPr sz="1200">
                <a:solidFill>
                  <a:srgbClr val="50658E"/>
                </a:solidFill>
                <a:latin typeface="Arial"/>
                <a:ea typeface="Arial"/>
                <a:cs typeface="Arial"/>
              </a:rPr>
              <a:t>Delivery is not measured end to end, and release validation plus post-launch learning are not yet a consistent feedback loop.</a:t>
            </a:r>
          </a:p>
        </p:txBody>
      </p:sp>
      <p:sp>
        <p:nvSpPr>
          <p:cNvPr id="15" name="nowTag">
            <a:extLst>
              <a:ext uri="{FF2B5EF4-FFF2-40B4-BE49-F238E27FC236}">
                <a16:creationId xmlns:a16="http://schemas.microsoft.com/office/drawing/2014/main" id="{0D40644E-A27F-41BD-89B1-1D0D2025AE01}"/>
              </a:ext>
            </a:extLst>
          </p:cNvPr>
          <p:cNvSpPr>
            <a:spLocks noGrp="1"/>
          </p:cNvSpPr>
          <p:nvPr/>
        </p:nvSpPr>
        <p:spPr>
          <a:xfrm>
            <a:off x="4514850" y="2059552"/>
            <a:ext cx="1123950" cy="552450"/>
          </a:xfrm>
          <a:prstGeom prst="roundRect">
            <a:avLst>
              <a:gd name="adj" fmla="val 6897"/>
            </a:avLst>
          </a:prstGeom>
          <a:solidFill>
            <a:srgbClr val="CDEFD9"/>
          </a:solidFill>
          <a:ln w="0">
            <a:noFill/>
          </a:ln>
        </p:spPr>
        <p:txBody>
          <a:bodyPr/>
          <a:lstStyle/>
          <a:p>
            <a:endParaRPr lang="en-US"/>
          </a:p>
        </p:txBody>
      </p:sp>
      <p:sp>
        <p:nvSpPr>
          <p:cNvPr id="16" name="nowLabel">
            <a:extLst>
              <a:ext uri="{FF2B5EF4-FFF2-40B4-BE49-F238E27FC236}">
                <a16:creationId xmlns:a16="http://schemas.microsoft.com/office/drawing/2014/main" id="{5B7FB292-D948-4AA7-A745-1A38C9C24CFB}"/>
              </a:ext>
            </a:extLst>
          </p:cNvPr>
          <p:cNvSpPr>
            <a:spLocks noGrp="1"/>
          </p:cNvSpPr>
          <p:nvPr/>
        </p:nvSpPr>
        <p:spPr>
          <a:xfrm>
            <a:off x="4667250" y="2145277"/>
            <a:ext cx="819150" cy="400050"/>
          </a:xfrm>
          <a:prstGeom prst="rect">
            <a:avLst/>
          </a:prstGeom>
          <a:noFill/>
          <a:ln w="0">
            <a:noFill/>
          </a:ln>
        </p:spPr>
        <p:txBody>
          <a:bodyPr lIns="0" tIns="0" rIns="0" bIns="0" anchor="t">
            <a:normAutofit/>
          </a:bodyPr>
          <a:lstStyle/>
          <a:p>
            <a:pPr algn="ctr">
              <a:lnSpc>
                <a:spcPct val="98000"/>
              </a:lnSpc>
              <a:buNone/>
            </a:pPr>
            <a:r>
              <a:rPr lang="en-US" sz="1125" b="1">
                <a:solidFill>
                  <a:srgbClr val="070154"/>
                </a:solidFill>
                <a:latin typeface="Arial"/>
              </a:rPr>
              <a:t>NOW</a:t>
            </a:r>
          </a:p>
          <a:p>
            <a:pPr algn="ctr">
              <a:lnSpc>
                <a:spcPct val="98000"/>
              </a:lnSpc>
              <a:buNone/>
            </a:pPr>
            <a:r>
              <a:rPr lang="en-US" sz="1125" b="0">
                <a:solidFill>
                  <a:srgbClr val="070154"/>
                </a:solidFill>
                <a:latin typeface="Arial"/>
              </a:rPr>
              <a:t>4-6 weeks</a:t>
            </a:r>
          </a:p>
        </p:txBody>
      </p:sp>
      <p:sp>
        <p:nvSpPr>
          <p:cNvPr id="17" name="nowBody">
            <a:extLst>
              <a:ext uri="{FF2B5EF4-FFF2-40B4-BE49-F238E27FC236}">
                <a16:creationId xmlns:a16="http://schemas.microsoft.com/office/drawing/2014/main" id="{EBDD6EAD-4D0F-499B-A151-5C09CAE9875C}"/>
              </a:ext>
            </a:extLst>
          </p:cNvPr>
          <p:cNvSpPr>
            <a:spLocks noGrp="1"/>
          </p:cNvSpPr>
          <p:nvPr/>
        </p:nvSpPr>
        <p:spPr>
          <a:xfrm>
            <a:off x="5867400" y="2069077"/>
            <a:ext cx="5295900" cy="571500"/>
          </a:xfrm>
          <a:prstGeom prst="rect">
            <a:avLst/>
          </a:prstGeom>
          <a:noFill/>
          <a:ln w="0">
            <a:noFill/>
          </a:ln>
        </p:spPr>
        <p:txBody>
          <a:bodyPr lIns="0" tIns="0" rIns="0" bIns="0" anchor="t">
            <a:normAutofit/>
          </a:bodyPr>
          <a:lstStyle/>
          <a:p>
            <a:pPr>
              <a:lnSpc>
                <a:spcPct val="104000"/>
              </a:lnSpc>
              <a:buNone/>
            </a:pPr>
            <a:r>
              <a:rPr lang="en-US" sz="1100" b="0">
                <a:solidFill>
                  <a:srgbClr val="50658E"/>
                </a:solidFill>
                <a:latin typeface="Arial"/>
              </a:rPr>
              <a:t>Define strategy, outcome measures, and six-month roadmaps for all products in a four-week spike. Improve quality, testing, and release readiness in parallel. Introduce lifecycle skills and templates </a:t>
            </a:r>
            <a:r>
              <a:rPr lang="en-US" sz="1100">
                <a:solidFill>
                  <a:srgbClr val="50658E"/>
                </a:solidFill>
                <a:latin typeface="Arial"/>
              </a:rPr>
              <a:t>and support usage / adoption</a:t>
            </a:r>
            <a:r>
              <a:rPr lang="en-US" sz="1100" b="0">
                <a:solidFill>
                  <a:srgbClr val="50658E"/>
                </a:solidFill>
                <a:latin typeface="Arial"/>
              </a:rPr>
              <a:t>.</a:t>
            </a:r>
          </a:p>
        </p:txBody>
      </p:sp>
      <p:sp>
        <p:nvSpPr>
          <p:cNvPr id="18" name="nextTag">
            <a:extLst>
              <a:ext uri="{FF2B5EF4-FFF2-40B4-BE49-F238E27FC236}">
                <a16:creationId xmlns:a16="http://schemas.microsoft.com/office/drawing/2014/main" id="{6128E7EF-3F6C-447A-B387-6FA5A0281249}"/>
              </a:ext>
            </a:extLst>
          </p:cNvPr>
          <p:cNvSpPr>
            <a:spLocks noGrp="1"/>
          </p:cNvSpPr>
          <p:nvPr/>
        </p:nvSpPr>
        <p:spPr>
          <a:xfrm>
            <a:off x="4514850" y="2859652"/>
            <a:ext cx="1123950" cy="552450"/>
          </a:xfrm>
          <a:prstGeom prst="roundRect">
            <a:avLst>
              <a:gd name="adj" fmla="val 6897"/>
            </a:avLst>
          </a:prstGeom>
          <a:solidFill>
            <a:srgbClr val="FFF0BE"/>
          </a:solidFill>
          <a:ln w="0">
            <a:noFill/>
          </a:ln>
        </p:spPr>
        <p:txBody>
          <a:bodyPr/>
          <a:lstStyle/>
          <a:p>
            <a:endParaRPr lang="en-US"/>
          </a:p>
        </p:txBody>
      </p:sp>
      <p:sp>
        <p:nvSpPr>
          <p:cNvPr id="19" name="nextLabel">
            <a:extLst>
              <a:ext uri="{FF2B5EF4-FFF2-40B4-BE49-F238E27FC236}">
                <a16:creationId xmlns:a16="http://schemas.microsoft.com/office/drawing/2014/main" id="{D1DC5FFD-5B6C-4FDF-850F-33B23830C745}"/>
              </a:ext>
            </a:extLst>
          </p:cNvPr>
          <p:cNvSpPr>
            <a:spLocks noGrp="1"/>
          </p:cNvSpPr>
          <p:nvPr/>
        </p:nvSpPr>
        <p:spPr>
          <a:xfrm>
            <a:off x="4667250" y="2945377"/>
            <a:ext cx="819150" cy="400050"/>
          </a:xfrm>
          <a:prstGeom prst="rect">
            <a:avLst/>
          </a:prstGeom>
          <a:noFill/>
          <a:ln w="0">
            <a:noFill/>
          </a:ln>
        </p:spPr>
        <p:txBody>
          <a:bodyPr lIns="0" tIns="0" rIns="0" bIns="0" anchor="t">
            <a:normAutofit/>
          </a:bodyPr>
          <a:lstStyle/>
          <a:p>
            <a:pPr algn="ctr">
              <a:lnSpc>
                <a:spcPct val="98000"/>
              </a:lnSpc>
              <a:buNone/>
            </a:pPr>
            <a:r>
              <a:rPr lang="en-US" sz="1125" b="1">
                <a:solidFill>
                  <a:srgbClr val="070154"/>
                </a:solidFill>
                <a:latin typeface="Arial"/>
              </a:rPr>
              <a:t>NEXT</a:t>
            </a:r>
          </a:p>
          <a:p>
            <a:pPr algn="ctr">
              <a:lnSpc>
                <a:spcPct val="98000"/>
              </a:lnSpc>
              <a:buNone/>
            </a:pPr>
            <a:r>
              <a:rPr lang="en-US" sz="1125" b="0">
                <a:solidFill>
                  <a:srgbClr val="070154"/>
                </a:solidFill>
                <a:latin typeface="Arial"/>
              </a:rPr>
              <a:t>1–3 months</a:t>
            </a:r>
          </a:p>
        </p:txBody>
      </p:sp>
      <p:sp>
        <p:nvSpPr>
          <p:cNvPr id="20" name="nextBody">
            <a:extLst>
              <a:ext uri="{FF2B5EF4-FFF2-40B4-BE49-F238E27FC236}">
                <a16:creationId xmlns:a16="http://schemas.microsoft.com/office/drawing/2014/main" id="{E381D36D-6253-4FE5-953A-D1F53672FB2D}"/>
              </a:ext>
            </a:extLst>
          </p:cNvPr>
          <p:cNvSpPr>
            <a:spLocks noGrp="1"/>
          </p:cNvSpPr>
          <p:nvPr/>
        </p:nvSpPr>
        <p:spPr>
          <a:xfrm>
            <a:off x="5867400" y="2869177"/>
            <a:ext cx="5295900" cy="571500"/>
          </a:xfrm>
          <a:prstGeom prst="rect">
            <a:avLst/>
          </a:prstGeom>
          <a:noFill/>
          <a:ln w="0">
            <a:noFill/>
          </a:ln>
        </p:spPr>
        <p:txBody>
          <a:bodyPr lIns="0" tIns="0" rIns="0" bIns="0" anchor="t">
            <a:normAutofit/>
          </a:bodyPr>
          <a:lstStyle/>
          <a:p>
            <a:pPr>
              <a:lnSpc>
                <a:spcPct val="104000"/>
              </a:lnSpc>
              <a:buNone/>
            </a:pPr>
            <a:r>
              <a:rPr lang="en-US" sz="1100" b="0">
                <a:solidFill>
                  <a:srgbClr val="50658E"/>
                </a:solidFill>
                <a:latin typeface="Arial"/>
              </a:rPr>
              <a:t>Execute roadmaps and use customer and business evidence to adjust priorities. Improve engineering efficiency and handoffs across the lifecycle. Develop the new business strategy in parallel. Roll updated engineering practices out to core teams.</a:t>
            </a:r>
          </a:p>
        </p:txBody>
      </p:sp>
      <p:sp>
        <p:nvSpPr>
          <p:cNvPr id="21" name="nextRule">
            <a:extLst>
              <a:ext uri="{FF2B5EF4-FFF2-40B4-BE49-F238E27FC236}">
                <a16:creationId xmlns:a16="http://schemas.microsoft.com/office/drawing/2014/main" id="{B281794F-193F-4B1F-B121-9C67D85603C2}"/>
              </a:ext>
            </a:extLst>
          </p:cNvPr>
          <p:cNvSpPr>
            <a:spLocks noGrp="1"/>
          </p:cNvSpPr>
          <p:nvPr/>
        </p:nvSpPr>
        <p:spPr>
          <a:xfrm>
            <a:off x="4514850" y="2764402"/>
            <a:ext cx="6648450" cy="0"/>
          </a:xfrm>
          <a:prstGeom prst="line">
            <a:avLst/>
          </a:prstGeom>
          <a:noFill/>
          <a:ln w="9525">
            <a:solidFill>
              <a:srgbClr val="E8EEF8"/>
            </a:solidFill>
          </a:ln>
        </p:spPr>
        <p:txBody>
          <a:bodyPr/>
          <a:lstStyle/>
          <a:p>
            <a:endParaRPr lang="en-US"/>
          </a:p>
        </p:txBody>
      </p:sp>
      <p:sp>
        <p:nvSpPr>
          <p:cNvPr id="22" name="futureTag">
            <a:extLst>
              <a:ext uri="{FF2B5EF4-FFF2-40B4-BE49-F238E27FC236}">
                <a16:creationId xmlns:a16="http://schemas.microsoft.com/office/drawing/2014/main" id="{F5965615-1833-4FA2-8FB7-6628F1CB0206}"/>
              </a:ext>
            </a:extLst>
          </p:cNvPr>
          <p:cNvSpPr>
            <a:spLocks noGrp="1"/>
          </p:cNvSpPr>
          <p:nvPr/>
        </p:nvSpPr>
        <p:spPr>
          <a:xfrm>
            <a:off x="4514850" y="3659752"/>
            <a:ext cx="1123950" cy="552450"/>
          </a:xfrm>
          <a:prstGeom prst="roundRect">
            <a:avLst>
              <a:gd name="adj" fmla="val 6897"/>
            </a:avLst>
          </a:prstGeom>
          <a:solidFill>
            <a:srgbClr val="D9E6FF"/>
          </a:solidFill>
          <a:ln w="0">
            <a:noFill/>
          </a:ln>
        </p:spPr>
        <p:txBody>
          <a:bodyPr/>
          <a:lstStyle/>
          <a:p>
            <a:endParaRPr lang="en-US"/>
          </a:p>
        </p:txBody>
      </p:sp>
      <p:sp>
        <p:nvSpPr>
          <p:cNvPr id="23" name="futureLabel">
            <a:extLst>
              <a:ext uri="{FF2B5EF4-FFF2-40B4-BE49-F238E27FC236}">
                <a16:creationId xmlns:a16="http://schemas.microsoft.com/office/drawing/2014/main" id="{2C182BE0-7B4C-4F20-8AFB-89F3EFE77478}"/>
              </a:ext>
            </a:extLst>
          </p:cNvPr>
          <p:cNvSpPr>
            <a:spLocks noGrp="1"/>
          </p:cNvSpPr>
          <p:nvPr/>
        </p:nvSpPr>
        <p:spPr>
          <a:xfrm>
            <a:off x="4667250" y="3745477"/>
            <a:ext cx="819150" cy="400050"/>
          </a:xfrm>
          <a:prstGeom prst="rect">
            <a:avLst/>
          </a:prstGeom>
          <a:noFill/>
          <a:ln w="0">
            <a:noFill/>
          </a:ln>
        </p:spPr>
        <p:txBody>
          <a:bodyPr lIns="0" tIns="0" rIns="0" bIns="0" anchor="t">
            <a:normAutofit fontScale="98803"/>
          </a:bodyPr>
          <a:lstStyle/>
          <a:p>
            <a:pPr algn="ctr">
              <a:lnSpc>
                <a:spcPct val="98000"/>
              </a:lnSpc>
              <a:buNone/>
            </a:pPr>
            <a:r>
              <a:rPr lang="en-US" sz="1125" b="1">
                <a:solidFill>
                  <a:srgbClr val="070154"/>
                </a:solidFill>
                <a:latin typeface="Arial"/>
              </a:rPr>
              <a:t>FUTURE</a:t>
            </a:r>
          </a:p>
          <a:p>
            <a:pPr algn="ctr">
              <a:lnSpc>
                <a:spcPct val="98000"/>
              </a:lnSpc>
              <a:buNone/>
            </a:pPr>
            <a:r>
              <a:rPr lang="en-US" sz="1125" b="0">
                <a:solidFill>
                  <a:srgbClr val="070154"/>
                </a:solidFill>
                <a:latin typeface="Arial"/>
              </a:rPr>
              <a:t>January</a:t>
            </a:r>
          </a:p>
        </p:txBody>
      </p:sp>
      <p:sp>
        <p:nvSpPr>
          <p:cNvPr id="24" name="futureBody">
            <a:extLst>
              <a:ext uri="{FF2B5EF4-FFF2-40B4-BE49-F238E27FC236}">
                <a16:creationId xmlns:a16="http://schemas.microsoft.com/office/drawing/2014/main" id="{A8213933-07A4-4CFB-BA60-F9AD63C07EEF}"/>
              </a:ext>
            </a:extLst>
          </p:cNvPr>
          <p:cNvSpPr>
            <a:spLocks noGrp="1"/>
          </p:cNvSpPr>
          <p:nvPr/>
        </p:nvSpPr>
        <p:spPr>
          <a:xfrm>
            <a:off x="5867400" y="3694677"/>
            <a:ext cx="5295900" cy="571500"/>
          </a:xfrm>
          <a:prstGeom prst="rect">
            <a:avLst/>
          </a:prstGeom>
          <a:noFill/>
          <a:ln w="0">
            <a:noFill/>
          </a:ln>
        </p:spPr>
        <p:txBody>
          <a:bodyPr lIns="0" tIns="0" rIns="0" bIns="0" anchor="t">
            <a:normAutofit/>
          </a:bodyPr>
          <a:lstStyle/>
          <a:p>
            <a:pPr>
              <a:lnSpc>
                <a:spcPct val="104000"/>
              </a:lnSpc>
              <a:buNone/>
            </a:pPr>
            <a:r>
              <a:rPr lang="en-US" sz="1100" b="0">
                <a:solidFill>
                  <a:srgbClr val="50658E"/>
                </a:solidFill>
                <a:latin typeface="Arial"/>
              </a:rPr>
              <a:t>Refresh outcomes and product roadmaps against the new business strategy in January. Execute through the upgraded lifecycle and use outcome measures to guide subsequent decisions.</a:t>
            </a:r>
          </a:p>
        </p:txBody>
      </p:sp>
      <p:sp>
        <p:nvSpPr>
          <p:cNvPr id="25" name="futureRule">
            <a:extLst>
              <a:ext uri="{FF2B5EF4-FFF2-40B4-BE49-F238E27FC236}">
                <a16:creationId xmlns:a16="http://schemas.microsoft.com/office/drawing/2014/main" id="{CD9283AA-DF24-4DBB-B7B3-5636E75AC5E0}"/>
              </a:ext>
            </a:extLst>
          </p:cNvPr>
          <p:cNvSpPr>
            <a:spLocks noGrp="1"/>
          </p:cNvSpPr>
          <p:nvPr/>
        </p:nvSpPr>
        <p:spPr>
          <a:xfrm>
            <a:off x="4514850" y="3564502"/>
            <a:ext cx="6648450" cy="0"/>
          </a:xfrm>
          <a:prstGeom prst="line">
            <a:avLst/>
          </a:prstGeom>
          <a:noFill/>
          <a:ln w="9525">
            <a:solidFill>
              <a:srgbClr val="E8EEF8"/>
            </a:solidFill>
          </a:ln>
        </p:spPr>
        <p:txBody>
          <a:bodyPr/>
          <a:lstStyle/>
          <a:p>
            <a:endParaRPr lang="en-US"/>
          </a:p>
        </p:txBody>
      </p:sp>
      <p:sp>
        <p:nvSpPr>
          <p:cNvPr id="26" name="sequencingPrinciple">
            <a:extLst>
              <a:ext uri="{FF2B5EF4-FFF2-40B4-BE49-F238E27FC236}">
                <a16:creationId xmlns:a16="http://schemas.microsoft.com/office/drawing/2014/main" id="{29AB3A2A-404B-4711-8126-A8D37534F4D2}"/>
              </a:ext>
            </a:extLst>
          </p:cNvPr>
          <p:cNvSpPr>
            <a:spLocks noGrp="1"/>
          </p:cNvSpPr>
          <p:nvPr/>
        </p:nvSpPr>
        <p:spPr>
          <a:xfrm>
            <a:off x="1028700" y="4747948"/>
            <a:ext cx="3143250" cy="247650"/>
          </a:xfrm>
          <a:prstGeom prst="rect">
            <a:avLst/>
          </a:prstGeom>
          <a:noFill/>
          <a:ln w="0">
            <a:noFill/>
          </a:ln>
        </p:spPr>
        <p:txBody>
          <a:bodyPr lIns="0" tIns="0" rIns="0" bIns="0" anchor="t">
            <a:normAutofit/>
          </a:bodyPr>
          <a:lstStyle/>
          <a:p>
            <a:pPr>
              <a:defRPr sz="1350" b="1">
                <a:solidFill>
                  <a:srgbClr val="0047FF"/>
                </a:solidFill>
                <a:latin typeface="Arial"/>
                <a:ea typeface="Arial"/>
                <a:cs typeface="Arial"/>
              </a:defRPr>
            </a:pPr>
            <a:r>
              <a:rPr sz="1350" b="1">
                <a:solidFill>
                  <a:schemeClr val="bg1"/>
                </a:solidFill>
                <a:latin typeface="Arial"/>
                <a:ea typeface="Arial"/>
                <a:cs typeface="Arial"/>
              </a:rPr>
              <a:t>Use evidence to extend what works</a:t>
            </a:r>
          </a:p>
        </p:txBody>
      </p:sp>
      <p:sp>
        <p:nvSpPr>
          <p:cNvPr id="27" name="sequencingDetail">
            <a:extLst>
              <a:ext uri="{FF2B5EF4-FFF2-40B4-BE49-F238E27FC236}">
                <a16:creationId xmlns:a16="http://schemas.microsoft.com/office/drawing/2014/main" id="{A1BFE3A8-808C-407E-A2CC-71DF1AAAE9AB}"/>
              </a:ext>
            </a:extLst>
          </p:cNvPr>
          <p:cNvSpPr>
            <a:spLocks noGrp="1"/>
          </p:cNvSpPr>
          <p:nvPr/>
        </p:nvSpPr>
        <p:spPr>
          <a:xfrm>
            <a:off x="4914900" y="4765147"/>
            <a:ext cx="7200900" cy="304800"/>
          </a:xfrm>
          <a:prstGeom prst="rect">
            <a:avLst/>
          </a:prstGeom>
          <a:noFill/>
          <a:ln w="0">
            <a:noFill/>
          </a:ln>
        </p:spPr>
        <p:txBody>
          <a:bodyPr lIns="0" tIns="0" rIns="0" bIns="0" anchor="t">
            <a:normAutofit fontScale="98989"/>
          </a:bodyPr>
          <a:lstStyle/>
          <a:p>
            <a:pPr>
              <a:lnSpc>
                <a:spcPct val="100000"/>
              </a:lnSpc>
              <a:buNone/>
              <a:defRPr sz="1050">
                <a:solidFill>
                  <a:srgbClr val="50658E"/>
                </a:solidFill>
                <a:latin typeface="Arial"/>
                <a:ea typeface="Arial"/>
                <a:cs typeface="Arial"/>
              </a:defRPr>
            </a:pPr>
            <a:r>
              <a:rPr sz="1200">
                <a:solidFill>
                  <a:schemeClr val="bg1"/>
                </a:solidFill>
                <a:latin typeface="Arial"/>
                <a:ea typeface="Arial"/>
                <a:cs typeface="Arial"/>
              </a:rPr>
              <a:t>Use early signals to decide what becomes standard practice and what needs </a:t>
            </a:r>
            <a:r>
              <a:rPr lang="en-US" sz="1200">
                <a:solidFill>
                  <a:schemeClr val="bg1"/>
                </a:solidFill>
                <a:latin typeface="Arial"/>
                <a:ea typeface="Arial"/>
                <a:cs typeface="Arial"/>
              </a:rPr>
              <a:t>further iteration</a:t>
            </a:r>
            <a:r>
              <a:rPr sz="1200">
                <a:solidFill>
                  <a:schemeClr val="bg1"/>
                </a:solidFill>
                <a:latin typeface="Arial"/>
                <a:ea typeface="Arial"/>
                <a:cs typeface="Arial"/>
              </a:rPr>
              <a:t>.</a:t>
            </a:r>
          </a:p>
        </p:txBody>
      </p:sp>
      <p:sp>
        <p:nvSpPr>
          <p:cNvPr id="28" name="leadershipBand">
            <a:extLst>
              <a:ext uri="{FF2B5EF4-FFF2-40B4-BE49-F238E27FC236}">
                <a16:creationId xmlns:a16="http://schemas.microsoft.com/office/drawing/2014/main" id="{0DC5018A-862F-4B68-8979-5A478EFF24DF}"/>
              </a:ext>
            </a:extLst>
          </p:cNvPr>
          <p:cNvSpPr>
            <a:spLocks noGrp="1"/>
          </p:cNvSpPr>
          <p:nvPr/>
        </p:nvSpPr>
        <p:spPr>
          <a:xfrm>
            <a:off x="0" y="5362047"/>
            <a:ext cx="12192000" cy="1057275"/>
          </a:xfrm>
          <a:prstGeom prst="rect">
            <a:avLst/>
          </a:prstGeom>
          <a:noFill/>
          <a:ln w="0">
            <a:noFill/>
          </a:ln>
        </p:spPr>
        <p:txBody>
          <a:bodyPr/>
          <a:lstStyle/>
          <a:p>
            <a:endParaRPr lang="en-US"/>
          </a:p>
        </p:txBody>
      </p:sp>
      <p:sp>
        <p:nvSpPr>
          <p:cNvPr id="29" name="leadershipHeading">
            <a:extLst>
              <a:ext uri="{FF2B5EF4-FFF2-40B4-BE49-F238E27FC236}">
                <a16:creationId xmlns:a16="http://schemas.microsoft.com/office/drawing/2014/main" id="{93834912-D2AE-45BB-97C2-E8E15FBD4CAE}"/>
              </a:ext>
            </a:extLst>
          </p:cNvPr>
          <p:cNvSpPr>
            <a:spLocks noGrp="1"/>
          </p:cNvSpPr>
          <p:nvPr/>
        </p:nvSpPr>
        <p:spPr>
          <a:xfrm>
            <a:off x="498845" y="5496455"/>
            <a:ext cx="1470314" cy="228600"/>
          </a:xfrm>
          <a:prstGeom prst="rect">
            <a:avLst/>
          </a:prstGeom>
          <a:noFill/>
          <a:ln w="0">
            <a:noFill/>
          </a:ln>
        </p:spPr>
        <p:txBody>
          <a:bodyPr lIns="0" tIns="0" rIns="0" bIns="0" anchor="t">
            <a:noAutofit/>
          </a:bodyPr>
          <a:lstStyle/>
          <a:p>
            <a:pPr algn="r">
              <a:defRPr sz="1350" b="1">
                <a:solidFill>
                  <a:srgbClr val="070154"/>
                </a:solidFill>
                <a:latin typeface="Arial"/>
                <a:ea typeface="Arial"/>
                <a:cs typeface="Arial"/>
              </a:defRPr>
            </a:pPr>
            <a:r>
              <a:rPr sz="1350" b="1">
                <a:solidFill>
                  <a:srgbClr val="070154"/>
                </a:solidFill>
                <a:latin typeface="Arial"/>
                <a:ea typeface="Arial"/>
                <a:cs typeface="Arial"/>
              </a:rPr>
              <a:t>What</a:t>
            </a:r>
            <a:r>
              <a:rPr lang="en-US" sz="1350" b="1">
                <a:solidFill>
                  <a:srgbClr val="070154"/>
                </a:solidFill>
                <a:latin typeface="Arial"/>
                <a:ea typeface="Arial"/>
                <a:cs typeface="Arial"/>
              </a:rPr>
              <a:t>’s needed from </a:t>
            </a:r>
            <a:r>
              <a:rPr sz="1350" b="1">
                <a:solidFill>
                  <a:srgbClr val="070154"/>
                </a:solidFill>
                <a:latin typeface="Arial"/>
                <a:ea typeface="Arial"/>
                <a:cs typeface="Arial"/>
              </a:rPr>
              <a:t>leadership</a:t>
            </a:r>
          </a:p>
        </p:txBody>
      </p:sp>
      <p:sp>
        <p:nvSpPr>
          <p:cNvPr id="30" name="askOwnersHeading">
            <a:extLst>
              <a:ext uri="{FF2B5EF4-FFF2-40B4-BE49-F238E27FC236}">
                <a16:creationId xmlns:a16="http://schemas.microsoft.com/office/drawing/2014/main" id="{AB54E603-9082-4EAE-98A5-D714294CF7F8}"/>
              </a:ext>
            </a:extLst>
          </p:cNvPr>
          <p:cNvSpPr>
            <a:spLocks noGrp="1"/>
          </p:cNvSpPr>
          <p:nvPr/>
        </p:nvSpPr>
        <p:spPr>
          <a:xfrm>
            <a:off x="2694502" y="5458354"/>
            <a:ext cx="1809750" cy="190500"/>
          </a:xfrm>
          <a:prstGeom prst="rect">
            <a:avLst/>
          </a:prstGeom>
          <a:noFill/>
          <a:ln w="0">
            <a:noFill/>
          </a:ln>
        </p:spPr>
        <p:txBody>
          <a:bodyPr lIns="0" tIns="0" rIns="0" bIns="0" anchor="t">
            <a:normAutofit/>
          </a:bodyPr>
          <a:lstStyle/>
          <a:p>
            <a:pPr>
              <a:defRPr sz="1125" b="1">
                <a:solidFill>
                  <a:srgbClr val="0047FF"/>
                </a:solidFill>
                <a:latin typeface="Arial"/>
                <a:ea typeface="Arial"/>
                <a:cs typeface="Arial"/>
              </a:defRPr>
            </a:pPr>
            <a:r>
              <a:rPr sz="1100" b="1">
                <a:solidFill>
                  <a:srgbClr val="0047FF"/>
                </a:solidFill>
                <a:latin typeface="Arial"/>
                <a:ea typeface="Arial"/>
                <a:cs typeface="Arial"/>
              </a:rPr>
              <a:t>Name owners</a:t>
            </a:r>
          </a:p>
        </p:txBody>
      </p:sp>
      <p:sp>
        <p:nvSpPr>
          <p:cNvPr id="31" name="askOwnersBody">
            <a:extLst>
              <a:ext uri="{FF2B5EF4-FFF2-40B4-BE49-F238E27FC236}">
                <a16:creationId xmlns:a16="http://schemas.microsoft.com/office/drawing/2014/main" id="{591AD268-C11F-44D1-9471-375B651E6655}"/>
              </a:ext>
            </a:extLst>
          </p:cNvPr>
          <p:cNvSpPr>
            <a:spLocks noGrp="1"/>
          </p:cNvSpPr>
          <p:nvPr/>
        </p:nvSpPr>
        <p:spPr>
          <a:xfrm>
            <a:off x="2694503" y="5648325"/>
            <a:ext cx="1890536" cy="414867"/>
          </a:xfrm>
          <a:prstGeom prst="rect">
            <a:avLst/>
          </a:prstGeom>
          <a:noFill/>
          <a:ln w="0">
            <a:noFill/>
          </a:ln>
        </p:spPr>
        <p:txBody>
          <a:bodyPr lIns="0" tIns="0" rIns="0" bIns="0" anchor="t">
            <a:noAutofit/>
          </a:bodyPr>
          <a:lstStyle/>
          <a:p>
            <a:pPr>
              <a:lnSpc>
                <a:spcPct val="100000"/>
              </a:lnSpc>
              <a:buNone/>
              <a:defRPr sz="975">
                <a:solidFill>
                  <a:srgbClr val="50658E"/>
                </a:solidFill>
                <a:latin typeface="Arial"/>
                <a:ea typeface="Arial"/>
                <a:cs typeface="Arial"/>
              </a:defRPr>
            </a:pPr>
            <a:r>
              <a:rPr sz="900">
                <a:solidFill>
                  <a:srgbClr val="50658E"/>
                </a:solidFill>
                <a:latin typeface="Arial"/>
                <a:ea typeface="Arial"/>
                <a:cs typeface="Arial"/>
              </a:rPr>
              <a:t>One accountable owner for each product and engineering activation.</a:t>
            </a:r>
          </a:p>
        </p:txBody>
      </p:sp>
      <p:sp>
        <p:nvSpPr>
          <p:cNvPr id="32" name="askPilotsHeading">
            <a:extLst>
              <a:ext uri="{FF2B5EF4-FFF2-40B4-BE49-F238E27FC236}">
                <a16:creationId xmlns:a16="http://schemas.microsoft.com/office/drawing/2014/main" id="{83E52BD2-8EE7-4D90-95CE-E500DB2B551B}"/>
              </a:ext>
            </a:extLst>
          </p:cNvPr>
          <p:cNvSpPr>
            <a:spLocks noGrp="1"/>
          </p:cNvSpPr>
          <p:nvPr/>
        </p:nvSpPr>
        <p:spPr>
          <a:xfrm>
            <a:off x="5093043" y="5468216"/>
            <a:ext cx="1809750" cy="190500"/>
          </a:xfrm>
          <a:prstGeom prst="rect">
            <a:avLst/>
          </a:prstGeom>
          <a:noFill/>
          <a:ln w="0">
            <a:noFill/>
          </a:ln>
        </p:spPr>
        <p:txBody>
          <a:bodyPr lIns="0" tIns="0" rIns="0" bIns="0" anchor="t">
            <a:normAutofit/>
          </a:bodyPr>
          <a:lstStyle/>
          <a:p>
            <a:pPr>
              <a:defRPr sz="1125" b="1">
                <a:solidFill>
                  <a:srgbClr val="0047FF"/>
                </a:solidFill>
                <a:latin typeface="Arial"/>
                <a:ea typeface="Arial"/>
                <a:cs typeface="Arial"/>
              </a:defRPr>
            </a:pPr>
            <a:r>
              <a:rPr sz="1100" b="1">
                <a:solidFill>
                  <a:srgbClr val="0047FF"/>
                </a:solidFill>
                <a:latin typeface="Arial"/>
                <a:ea typeface="Arial"/>
                <a:cs typeface="Arial"/>
              </a:rPr>
              <a:t>Approve pilots</a:t>
            </a:r>
          </a:p>
        </p:txBody>
      </p:sp>
      <p:sp>
        <p:nvSpPr>
          <p:cNvPr id="33" name="askPilotsBody">
            <a:extLst>
              <a:ext uri="{FF2B5EF4-FFF2-40B4-BE49-F238E27FC236}">
                <a16:creationId xmlns:a16="http://schemas.microsoft.com/office/drawing/2014/main" id="{D14DCE8B-8D5F-4F4D-9DB2-25C4710A3EA7}"/>
              </a:ext>
            </a:extLst>
          </p:cNvPr>
          <p:cNvSpPr>
            <a:spLocks noGrp="1"/>
          </p:cNvSpPr>
          <p:nvPr/>
        </p:nvSpPr>
        <p:spPr>
          <a:xfrm>
            <a:off x="5098665" y="5661891"/>
            <a:ext cx="1890536" cy="295275"/>
          </a:xfrm>
          <a:prstGeom prst="rect">
            <a:avLst/>
          </a:prstGeom>
          <a:noFill/>
          <a:ln w="0">
            <a:noFill/>
          </a:ln>
        </p:spPr>
        <p:txBody>
          <a:bodyPr lIns="0" tIns="0" rIns="0" bIns="0" anchor="t">
            <a:normAutofit fontScale="99359"/>
          </a:bodyPr>
          <a:lstStyle/>
          <a:p>
            <a:pPr>
              <a:lnSpc>
                <a:spcPct val="100000"/>
              </a:lnSpc>
              <a:buNone/>
              <a:defRPr sz="975">
                <a:solidFill>
                  <a:srgbClr val="50658E"/>
                </a:solidFill>
                <a:latin typeface="Arial"/>
                <a:ea typeface="Arial"/>
                <a:cs typeface="Arial"/>
              </a:defRPr>
            </a:pPr>
            <a:r>
              <a:rPr sz="900">
                <a:solidFill>
                  <a:srgbClr val="50658E"/>
                </a:solidFill>
                <a:latin typeface="Arial"/>
                <a:ea typeface="Arial"/>
                <a:cs typeface="Arial"/>
              </a:rPr>
              <a:t>Confirm pod</a:t>
            </a:r>
            <a:r>
              <a:rPr lang="en-US" sz="900">
                <a:solidFill>
                  <a:srgbClr val="50658E"/>
                </a:solidFill>
                <a:latin typeface="Arial"/>
                <a:ea typeface="Arial"/>
                <a:cs typeface="Arial"/>
              </a:rPr>
              <a:t>s for additional activation</a:t>
            </a:r>
            <a:r>
              <a:rPr sz="900">
                <a:solidFill>
                  <a:srgbClr val="50658E"/>
                </a:solidFill>
                <a:latin typeface="Arial"/>
                <a:ea typeface="Arial"/>
                <a:cs typeface="Arial"/>
              </a:rPr>
              <a:t>.</a:t>
            </a:r>
          </a:p>
        </p:txBody>
      </p:sp>
      <p:sp>
        <p:nvSpPr>
          <p:cNvPr id="34" name="askGuardrailsHeading">
            <a:extLst>
              <a:ext uri="{FF2B5EF4-FFF2-40B4-BE49-F238E27FC236}">
                <a16:creationId xmlns:a16="http://schemas.microsoft.com/office/drawing/2014/main" id="{7EEB36D6-2A57-44C6-8565-21036826A8FF}"/>
              </a:ext>
            </a:extLst>
          </p:cNvPr>
          <p:cNvSpPr>
            <a:spLocks noGrp="1"/>
          </p:cNvSpPr>
          <p:nvPr/>
        </p:nvSpPr>
        <p:spPr>
          <a:xfrm>
            <a:off x="7462940" y="5468216"/>
            <a:ext cx="1809750" cy="190500"/>
          </a:xfrm>
          <a:prstGeom prst="rect">
            <a:avLst/>
          </a:prstGeom>
          <a:noFill/>
          <a:ln w="0">
            <a:noFill/>
          </a:ln>
        </p:spPr>
        <p:txBody>
          <a:bodyPr lIns="0" tIns="0" rIns="0" bIns="0" anchor="t">
            <a:normAutofit/>
          </a:bodyPr>
          <a:lstStyle/>
          <a:p>
            <a:pPr>
              <a:defRPr sz="1125" b="1">
                <a:solidFill>
                  <a:srgbClr val="0047FF"/>
                </a:solidFill>
                <a:latin typeface="Arial"/>
                <a:ea typeface="Arial"/>
                <a:cs typeface="Arial"/>
              </a:defRPr>
            </a:pPr>
            <a:r>
              <a:rPr sz="1100" b="1">
                <a:solidFill>
                  <a:srgbClr val="0047FF"/>
                </a:solidFill>
                <a:latin typeface="Arial"/>
                <a:ea typeface="Arial"/>
                <a:cs typeface="Arial"/>
              </a:rPr>
              <a:t>Set guardrails</a:t>
            </a:r>
          </a:p>
        </p:txBody>
      </p:sp>
      <p:sp>
        <p:nvSpPr>
          <p:cNvPr id="35" name="askGuardrailsBody">
            <a:extLst>
              <a:ext uri="{FF2B5EF4-FFF2-40B4-BE49-F238E27FC236}">
                <a16:creationId xmlns:a16="http://schemas.microsoft.com/office/drawing/2014/main" id="{A977D354-6F44-4065-9828-7D8DC20EA1F7}"/>
              </a:ext>
            </a:extLst>
          </p:cNvPr>
          <p:cNvSpPr>
            <a:spLocks noGrp="1"/>
          </p:cNvSpPr>
          <p:nvPr/>
        </p:nvSpPr>
        <p:spPr>
          <a:xfrm>
            <a:off x="7457320" y="5661891"/>
            <a:ext cx="1981551" cy="295275"/>
          </a:xfrm>
          <a:prstGeom prst="rect">
            <a:avLst/>
          </a:prstGeom>
          <a:noFill/>
          <a:ln w="0">
            <a:noFill/>
          </a:ln>
        </p:spPr>
        <p:txBody>
          <a:bodyPr lIns="0" tIns="0" rIns="0" bIns="0" anchor="t">
            <a:noAutofit/>
          </a:bodyPr>
          <a:lstStyle/>
          <a:p>
            <a:r>
              <a:rPr lang="en-US" sz="900">
                <a:solidFill>
                  <a:srgbClr val="50658E"/>
                </a:solidFill>
                <a:latin typeface="Arial"/>
                <a:cs typeface="Arial"/>
              </a:rPr>
              <a:t>Agree on the principles and ownership that will guide new delivery practices.</a:t>
            </a:r>
          </a:p>
        </p:txBody>
      </p:sp>
      <p:sp>
        <p:nvSpPr>
          <p:cNvPr id="36" name="askDataHeading">
            <a:extLst>
              <a:ext uri="{FF2B5EF4-FFF2-40B4-BE49-F238E27FC236}">
                <a16:creationId xmlns:a16="http://schemas.microsoft.com/office/drawing/2014/main" id="{DC4B76DA-4674-4E86-9C7B-7FFFA7306508}"/>
              </a:ext>
            </a:extLst>
          </p:cNvPr>
          <p:cNvSpPr>
            <a:spLocks noGrp="1"/>
          </p:cNvSpPr>
          <p:nvPr/>
        </p:nvSpPr>
        <p:spPr>
          <a:xfrm>
            <a:off x="9861482" y="5468216"/>
            <a:ext cx="1809750" cy="190500"/>
          </a:xfrm>
          <a:prstGeom prst="rect">
            <a:avLst/>
          </a:prstGeom>
          <a:noFill/>
          <a:ln w="0">
            <a:noFill/>
          </a:ln>
        </p:spPr>
        <p:txBody>
          <a:bodyPr lIns="0" tIns="0" rIns="0" bIns="0" anchor="t">
            <a:normAutofit/>
          </a:bodyPr>
          <a:lstStyle/>
          <a:p>
            <a:pPr>
              <a:defRPr sz="1125" b="1">
                <a:solidFill>
                  <a:srgbClr val="0047FF"/>
                </a:solidFill>
                <a:latin typeface="Arial"/>
                <a:ea typeface="Arial"/>
                <a:cs typeface="Arial"/>
              </a:defRPr>
            </a:pPr>
            <a:r>
              <a:rPr lang="en-US" sz="1100" b="1">
                <a:solidFill>
                  <a:srgbClr val="0047FF"/>
                </a:solidFill>
                <a:latin typeface="Arial"/>
                <a:ea typeface="Arial"/>
                <a:cs typeface="Arial"/>
              </a:rPr>
              <a:t>Drive data visibility</a:t>
            </a:r>
            <a:endParaRPr sz="1100" b="1">
              <a:solidFill>
                <a:srgbClr val="0047FF"/>
              </a:solidFill>
              <a:latin typeface="Arial"/>
              <a:ea typeface="Arial"/>
              <a:cs typeface="Arial"/>
            </a:endParaRPr>
          </a:p>
        </p:txBody>
      </p:sp>
      <p:sp>
        <p:nvSpPr>
          <p:cNvPr id="37" name="askDataBody">
            <a:extLst>
              <a:ext uri="{FF2B5EF4-FFF2-40B4-BE49-F238E27FC236}">
                <a16:creationId xmlns:a16="http://schemas.microsoft.com/office/drawing/2014/main" id="{E1DDA6F9-5CBB-4397-8B09-556CDCCAA508}"/>
              </a:ext>
            </a:extLst>
          </p:cNvPr>
          <p:cNvSpPr>
            <a:spLocks noGrp="1"/>
          </p:cNvSpPr>
          <p:nvPr/>
        </p:nvSpPr>
        <p:spPr>
          <a:xfrm>
            <a:off x="9861482" y="5661891"/>
            <a:ext cx="1809750" cy="295275"/>
          </a:xfrm>
          <a:prstGeom prst="rect">
            <a:avLst/>
          </a:prstGeom>
          <a:noFill/>
          <a:ln w="0">
            <a:noFill/>
          </a:ln>
        </p:spPr>
        <p:txBody>
          <a:bodyPr lIns="0" tIns="0" rIns="0" bIns="0" anchor="t">
            <a:normAutofit fontScale="99359"/>
          </a:bodyPr>
          <a:lstStyle/>
          <a:p>
            <a:pPr>
              <a:lnSpc>
                <a:spcPct val="100000"/>
              </a:lnSpc>
              <a:buNone/>
              <a:defRPr sz="975">
                <a:solidFill>
                  <a:srgbClr val="50658E"/>
                </a:solidFill>
                <a:latin typeface="Arial"/>
                <a:ea typeface="Arial"/>
                <a:cs typeface="Arial"/>
              </a:defRPr>
            </a:pPr>
            <a:r>
              <a:rPr sz="900">
                <a:solidFill>
                  <a:srgbClr val="50658E"/>
                </a:solidFill>
                <a:latin typeface="Arial"/>
                <a:ea typeface="Arial"/>
                <a:cs typeface="Arial"/>
              </a:rPr>
              <a:t>Jira, release, test-data, and usage access for </a:t>
            </a:r>
            <a:r>
              <a:rPr lang="en-US" sz="900">
                <a:solidFill>
                  <a:srgbClr val="50658E"/>
                </a:solidFill>
                <a:latin typeface="Arial"/>
                <a:ea typeface="Arial"/>
                <a:cs typeface="Arial"/>
              </a:rPr>
              <a:t>core product areas</a:t>
            </a:r>
            <a:r>
              <a:rPr sz="900">
                <a:solidFill>
                  <a:srgbClr val="50658E"/>
                </a:solidFill>
                <a:latin typeface="Arial"/>
                <a:ea typeface="Arial"/>
                <a:cs typeface="Arial"/>
              </a:rPr>
              <a:t>.</a:t>
            </a:r>
          </a:p>
        </p:txBody>
      </p:sp>
      <p:sp>
        <p:nvSpPr>
          <p:cNvPr id="41" name="finding1Accent">
            <a:extLst>
              <a:ext uri="{FF2B5EF4-FFF2-40B4-BE49-F238E27FC236}">
                <a16:creationId xmlns:a16="http://schemas.microsoft.com/office/drawing/2014/main" id="{373CBCCE-46EC-5BE2-EAC5-10FEA7208B02}"/>
              </a:ext>
            </a:extLst>
          </p:cNvPr>
          <p:cNvSpPr>
            <a:spLocks noGrp="1"/>
          </p:cNvSpPr>
          <p:nvPr/>
        </p:nvSpPr>
        <p:spPr>
          <a:xfrm>
            <a:off x="2308018" y="5448829"/>
            <a:ext cx="47625" cy="533400"/>
          </a:xfrm>
          <a:prstGeom prst="rect">
            <a:avLst/>
          </a:prstGeom>
          <a:solidFill>
            <a:srgbClr val="0047FF"/>
          </a:solidFill>
          <a:ln w="0">
            <a:noFill/>
          </a:ln>
        </p:spPr>
        <p:txBody>
          <a:bodyPr/>
          <a:lstStyle/>
          <a:p>
            <a:endParaRPr lang="en-US"/>
          </a:p>
        </p:txBody>
      </p:sp>
      <p:sp>
        <p:nvSpPr>
          <p:cNvPr id="43" name="Triangle 42">
            <a:extLst>
              <a:ext uri="{FF2B5EF4-FFF2-40B4-BE49-F238E27FC236}">
                <a16:creationId xmlns:a16="http://schemas.microsoft.com/office/drawing/2014/main" id="{1D138800-2FAE-0CC9-9D51-7E2C40837942}"/>
              </a:ext>
            </a:extLst>
          </p:cNvPr>
          <p:cNvSpPr/>
          <p:nvPr/>
        </p:nvSpPr>
        <p:spPr>
          <a:xfrm rot="5400000">
            <a:off x="4302570" y="4695226"/>
            <a:ext cx="304800" cy="346314"/>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1">
            <a:extLst>
              <a:ext uri="{FF2B5EF4-FFF2-40B4-BE49-F238E27FC236}">
                <a16:creationId xmlns:a16="http://schemas.microsoft.com/office/drawing/2014/main" id="{6B90CF50-F7E6-DDB5-BE44-9AC5188ABDF0}"/>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5" name="Slide Number Placeholder 2">
            <a:extLst>
              <a:ext uri="{FF2B5EF4-FFF2-40B4-BE49-F238E27FC236}">
                <a16:creationId xmlns:a16="http://schemas.microsoft.com/office/drawing/2014/main" id="{FBC77E53-4AEB-C405-09E1-89A68F799425}"/>
              </a:ext>
            </a:extLst>
          </p:cNvPr>
          <p:cNvSpPr>
            <a:spLocks noGrp="1"/>
          </p:cNvSpPr>
          <p:nvPr>
            <p:ph type="sldNum" idx="11"/>
          </p:nvPr>
        </p:nvSpPr>
        <p:spPr>
          <a:xfrm>
            <a:off x="11509578" y="6400799"/>
            <a:ext cx="218871" cy="167949"/>
          </a:xfrm>
        </p:spPr>
        <p:txBody>
          <a:bodyPr/>
          <a:lstStyle/>
          <a:p>
            <a:fld id="{63DCA5C9-2E11-4C67-86EB-AE1DE127DC64}" type="slidenum">
              <a:rPr lang="en-US" smtClean="0"/>
              <a:t>6</a:t>
            </a:fld>
            <a:endParaRPr lang="en-US"/>
          </a:p>
        </p:txBody>
      </p:sp>
    </p:spTree>
    <p:extLst>
      <p:ext uri="{BB962C8B-B14F-4D97-AF65-F5344CB8AC3E}">
        <p14:creationId xmlns:p14="http://schemas.microsoft.com/office/powerpoint/2010/main" val="3267747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00CCD-F195-23A3-ED13-036F4BA6992F}"/>
            </a:ext>
          </a:extLst>
        </p:cNvPr>
        <p:cNvGrpSpPr/>
        <p:nvPr/>
      </p:nvGrpSpPr>
      <p:grpSpPr>
        <a:xfrm>
          <a:off x="0" y="0"/>
          <a:ext cx="0" cy="0"/>
          <a:chOff x="0" y="0"/>
          <a:chExt cx="0" cy="0"/>
        </a:xfrm>
      </p:grpSpPr>
      <p:sp>
        <p:nvSpPr>
          <p:cNvPr id="40" name="title">
            <a:extLst>
              <a:ext uri="{FF2B5EF4-FFF2-40B4-BE49-F238E27FC236}">
                <a16:creationId xmlns:a16="http://schemas.microsoft.com/office/drawing/2014/main" id="{FA1B91E6-AD18-96E4-C57B-79852B7EFD24}"/>
              </a:ext>
            </a:extLst>
          </p:cNvPr>
          <p:cNvSpPr>
            <a:spLocks noGrp="1"/>
          </p:cNvSpPr>
          <p:nvPr/>
        </p:nvSpPr>
        <p:spPr>
          <a:xfrm>
            <a:off x="552450" y="323850"/>
            <a:ext cx="7239000" cy="419100"/>
          </a:xfrm>
          <a:prstGeom prst="rect">
            <a:avLst/>
          </a:prstGeom>
          <a:noFill/>
          <a:ln w="0">
            <a:noFill/>
          </a:ln>
        </p:spPr>
        <p:txBody>
          <a:bodyPr lIns="0" tIns="0" rIns="0" bIns="0" anchor="t">
            <a:normAutofit/>
          </a:bodyPr>
          <a:lstStyle/>
          <a:p>
            <a:pPr>
              <a:defRPr sz="2325" b="1">
                <a:solidFill>
                  <a:srgbClr val="070154"/>
                </a:solidFill>
                <a:latin typeface="Arial"/>
                <a:ea typeface="Arial"/>
                <a:cs typeface="Arial"/>
              </a:defRPr>
            </a:pPr>
            <a:r>
              <a:rPr lang="en-US" sz="2325" b="1">
                <a:solidFill>
                  <a:srgbClr val="070154"/>
                </a:solidFill>
                <a:latin typeface="Arial"/>
                <a:ea typeface="Arial"/>
                <a:cs typeface="Arial"/>
              </a:rPr>
              <a:t>Discovery Sessions</a:t>
            </a:r>
            <a:endParaRPr sz="2325" b="1">
              <a:solidFill>
                <a:srgbClr val="070154"/>
              </a:solidFill>
              <a:latin typeface="Arial"/>
              <a:ea typeface="Arial"/>
              <a:cs typeface="Arial"/>
            </a:endParaRPr>
          </a:p>
        </p:txBody>
      </p:sp>
      <p:sp>
        <p:nvSpPr>
          <p:cNvPr id="2" name="subtitle">
            <a:extLst>
              <a:ext uri="{FF2B5EF4-FFF2-40B4-BE49-F238E27FC236}">
                <a16:creationId xmlns:a16="http://schemas.microsoft.com/office/drawing/2014/main" id="{B6B6156B-E8DF-8F0A-40C0-0407F8535EFD}"/>
              </a:ext>
            </a:extLst>
          </p:cNvPr>
          <p:cNvSpPr>
            <a:spLocks noGrp="1"/>
          </p:cNvSpPr>
          <p:nvPr/>
        </p:nvSpPr>
        <p:spPr>
          <a:xfrm>
            <a:off x="552450" y="790575"/>
            <a:ext cx="10610850" cy="400050"/>
          </a:xfrm>
          <a:prstGeom prst="rect">
            <a:avLst/>
          </a:prstGeom>
          <a:noFill/>
          <a:ln w="0">
            <a:noFill/>
          </a:ln>
        </p:spPr>
        <p:txBody>
          <a:bodyPr lIns="0" tIns="0" rIns="0" bIns="0" anchor="t">
            <a:normAutofit fontScale="93483"/>
          </a:bodyPr>
          <a:lstStyle/>
          <a:p>
            <a:pPr>
              <a:lnSpc>
                <a:spcPct val="104000"/>
              </a:lnSpc>
              <a:buNone/>
              <a:defRPr sz="1350">
                <a:solidFill>
                  <a:srgbClr val="50658E"/>
                </a:solidFill>
                <a:latin typeface="Arial"/>
                <a:ea typeface="Arial"/>
                <a:cs typeface="Arial"/>
              </a:defRPr>
            </a:pPr>
            <a:r>
              <a:rPr lang="en-US" sz="1350">
                <a:solidFill>
                  <a:srgbClr val="50658E"/>
                </a:solidFill>
                <a:latin typeface="Arial"/>
                <a:ea typeface="Arial"/>
                <a:cs typeface="Arial"/>
              </a:rPr>
              <a:t>The West Monroe teams conduct a dozen+ focused sessions across Engineering, Quality/UAT, Release, and Product resources from DXC</a:t>
            </a:r>
          </a:p>
        </p:txBody>
      </p:sp>
      <p:pic>
        <p:nvPicPr>
          <p:cNvPr id="42" name="Picture 41">
            <a:extLst>
              <a:ext uri="{FF2B5EF4-FFF2-40B4-BE49-F238E27FC236}">
                <a16:creationId xmlns:a16="http://schemas.microsoft.com/office/drawing/2014/main" id="{9AB22EAA-1BED-8EB4-8607-F55B6B96C483}"/>
              </a:ext>
            </a:extLst>
          </p:cNvPr>
          <p:cNvPicPr>
            <a:picLocks noChangeAspect="1"/>
          </p:cNvPicPr>
          <p:nvPr/>
        </p:nvPicPr>
        <p:blipFill>
          <a:blip r:embed="rId4"/>
          <a:stretch/>
        </p:blipFill>
        <p:spPr>
          <a:xfrm>
            <a:off x="10725150" y="271992"/>
            <a:ext cx="1047750" cy="465667"/>
          </a:xfrm>
          <a:prstGeom prst="rect">
            <a:avLst/>
          </a:prstGeom>
        </p:spPr>
      </p:pic>
      <p:sp>
        <p:nvSpPr>
          <p:cNvPr id="28" name="leadershipBand">
            <a:extLst>
              <a:ext uri="{FF2B5EF4-FFF2-40B4-BE49-F238E27FC236}">
                <a16:creationId xmlns:a16="http://schemas.microsoft.com/office/drawing/2014/main" id="{A2D0F965-242A-AAF7-4200-78AC212CD03B}"/>
              </a:ext>
            </a:extLst>
          </p:cNvPr>
          <p:cNvSpPr>
            <a:spLocks noGrp="1"/>
          </p:cNvSpPr>
          <p:nvPr/>
        </p:nvSpPr>
        <p:spPr>
          <a:xfrm>
            <a:off x="0" y="5362047"/>
            <a:ext cx="12192000" cy="1057275"/>
          </a:xfrm>
          <a:prstGeom prst="rect">
            <a:avLst/>
          </a:prstGeom>
          <a:noFill/>
          <a:ln w="0">
            <a:noFill/>
          </a:ln>
        </p:spPr>
        <p:txBody>
          <a:bodyPr/>
          <a:lstStyle/>
          <a:p>
            <a:endParaRPr lang="en-US"/>
          </a:p>
        </p:txBody>
      </p:sp>
      <p:sp>
        <p:nvSpPr>
          <p:cNvPr id="4" name="Footer Placeholder 1">
            <a:extLst>
              <a:ext uri="{FF2B5EF4-FFF2-40B4-BE49-F238E27FC236}">
                <a16:creationId xmlns:a16="http://schemas.microsoft.com/office/drawing/2014/main" id="{0804EB51-4B88-FFE5-A435-928CF06F4DEC}"/>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5" name="Slide Number Placeholder 2">
            <a:extLst>
              <a:ext uri="{FF2B5EF4-FFF2-40B4-BE49-F238E27FC236}">
                <a16:creationId xmlns:a16="http://schemas.microsoft.com/office/drawing/2014/main" id="{A7880F39-042A-5ACF-33A9-8E6A8173AB2F}"/>
              </a:ext>
            </a:extLst>
          </p:cNvPr>
          <p:cNvSpPr>
            <a:spLocks noGrp="1"/>
          </p:cNvSpPr>
          <p:nvPr>
            <p:ph type="sldNum" idx="11"/>
          </p:nvPr>
        </p:nvSpPr>
        <p:spPr>
          <a:xfrm>
            <a:off x="11509578" y="6400799"/>
            <a:ext cx="218871" cy="167949"/>
          </a:xfrm>
        </p:spPr>
        <p:txBody>
          <a:bodyPr/>
          <a:lstStyle/>
          <a:p>
            <a:fld id="{63DCA5C9-2E11-4C67-86EB-AE1DE127DC64}" type="slidenum">
              <a:rPr lang="en-US" smtClean="0"/>
              <a:t>7</a:t>
            </a:fld>
            <a:endParaRPr lang="en-US"/>
          </a:p>
        </p:txBody>
      </p:sp>
      <p:graphicFrame>
        <p:nvGraphicFramePr>
          <p:cNvPr id="6" name="Table 5">
            <a:extLst>
              <a:ext uri="{FF2B5EF4-FFF2-40B4-BE49-F238E27FC236}">
                <a16:creationId xmlns:a16="http://schemas.microsoft.com/office/drawing/2014/main" id="{1057F89D-A2BC-CC91-9285-2F24B56DAF3D}"/>
              </a:ext>
            </a:extLst>
          </p:cNvPr>
          <p:cNvGraphicFramePr>
            <a:graphicFrameLocks noGrp="1"/>
          </p:cNvGraphicFramePr>
          <p:nvPr>
            <p:extLst>
              <p:ext uri="{D42A27DB-BD31-4B8C-83A1-F6EECF244321}">
                <p14:modId xmlns:p14="http://schemas.microsoft.com/office/powerpoint/2010/main" val="1991554424"/>
              </p:ext>
            </p:extLst>
          </p:nvPr>
        </p:nvGraphicFramePr>
        <p:xfrm>
          <a:off x="552450" y="1190625"/>
          <a:ext cx="5895484" cy="4820920"/>
        </p:xfrm>
        <a:graphic>
          <a:graphicData uri="http://schemas.openxmlformats.org/drawingml/2006/table">
            <a:tbl>
              <a:tblPr firstRow="1" bandRow="1">
                <a:tableStyleId>{85BE263C-DBD7-4A20-BB59-AAB30ACAA65A}</a:tableStyleId>
              </a:tblPr>
              <a:tblGrid>
                <a:gridCol w="3071701">
                  <a:extLst>
                    <a:ext uri="{9D8B030D-6E8A-4147-A177-3AD203B41FA5}">
                      <a16:colId xmlns:a16="http://schemas.microsoft.com/office/drawing/2014/main" val="1494111843"/>
                    </a:ext>
                  </a:extLst>
                </a:gridCol>
                <a:gridCol w="2823783">
                  <a:extLst>
                    <a:ext uri="{9D8B030D-6E8A-4147-A177-3AD203B41FA5}">
                      <a16:colId xmlns:a16="http://schemas.microsoft.com/office/drawing/2014/main" val="4146725903"/>
                    </a:ext>
                  </a:extLst>
                </a:gridCol>
              </a:tblGrid>
              <a:tr h="370840">
                <a:tc>
                  <a:txBody>
                    <a:bodyPr/>
                    <a:lstStyle/>
                    <a:p>
                      <a:r>
                        <a:rPr lang="en-US"/>
                        <a:t>Name</a:t>
                      </a:r>
                    </a:p>
                  </a:txBody>
                  <a:tcPr/>
                </a:tc>
                <a:tc>
                  <a:txBody>
                    <a:bodyPr/>
                    <a:lstStyle/>
                    <a:p>
                      <a:r>
                        <a:rPr lang="en-US"/>
                        <a:t>Function</a:t>
                      </a:r>
                    </a:p>
                  </a:txBody>
                  <a:tcPr/>
                </a:tc>
                <a:extLst>
                  <a:ext uri="{0D108BD9-81ED-4DB2-BD59-A6C34878D82A}">
                    <a16:rowId xmlns:a16="http://schemas.microsoft.com/office/drawing/2014/main" val="1022697492"/>
                  </a:ext>
                </a:extLst>
              </a:tr>
              <a:tr h="370840">
                <a:tc>
                  <a:txBody>
                    <a:bodyPr/>
                    <a:lstStyle/>
                    <a:p>
                      <a:r>
                        <a:rPr lang="en-US" sz="1300"/>
                        <a:t>Avinash Manjunath</a:t>
                      </a:r>
                    </a:p>
                  </a:txBody>
                  <a:tcPr/>
                </a:tc>
                <a:tc>
                  <a:txBody>
                    <a:bodyPr/>
                    <a:lstStyle/>
                    <a:p>
                      <a:r>
                        <a:rPr lang="en-US" sz="1300"/>
                        <a:t>Engineering</a:t>
                      </a:r>
                    </a:p>
                  </a:txBody>
                  <a:tcPr/>
                </a:tc>
                <a:extLst>
                  <a:ext uri="{0D108BD9-81ED-4DB2-BD59-A6C34878D82A}">
                    <a16:rowId xmlns:a16="http://schemas.microsoft.com/office/drawing/2014/main" val="2149089562"/>
                  </a:ext>
                </a:extLst>
              </a:tr>
              <a:tr h="370840">
                <a:tc>
                  <a:txBody>
                    <a:bodyPr/>
                    <a:lstStyle/>
                    <a:p>
                      <a:r>
                        <a:rPr lang="en-US" sz="1300"/>
                        <a:t>Amal Endal</a:t>
                      </a:r>
                    </a:p>
                  </a:txBody>
                  <a:tcPr/>
                </a:tc>
                <a:tc>
                  <a:txBody>
                    <a:bodyPr/>
                    <a:lstStyle/>
                    <a:p>
                      <a:r>
                        <a:rPr lang="en-US" sz="1300"/>
                        <a:t>Engineering</a:t>
                      </a:r>
                    </a:p>
                  </a:txBody>
                  <a:tcPr/>
                </a:tc>
                <a:extLst>
                  <a:ext uri="{0D108BD9-81ED-4DB2-BD59-A6C34878D82A}">
                    <a16:rowId xmlns:a16="http://schemas.microsoft.com/office/drawing/2014/main" val="2537552343"/>
                  </a:ext>
                </a:extLst>
              </a:tr>
              <a:tr h="370840">
                <a:tc>
                  <a:txBody>
                    <a:bodyPr/>
                    <a:lstStyle/>
                    <a:p>
                      <a:r>
                        <a:rPr lang="en-US" sz="1300"/>
                        <a:t>Derrick Boyd</a:t>
                      </a:r>
                    </a:p>
                  </a:txBody>
                  <a:tcPr/>
                </a:tc>
                <a:tc>
                  <a:txBody>
                    <a:bodyPr/>
                    <a:lstStyle/>
                    <a:p>
                      <a:r>
                        <a:rPr lang="en-US" sz="1300"/>
                        <a:t>Quality</a:t>
                      </a:r>
                    </a:p>
                  </a:txBody>
                  <a:tcPr/>
                </a:tc>
                <a:extLst>
                  <a:ext uri="{0D108BD9-81ED-4DB2-BD59-A6C34878D82A}">
                    <a16:rowId xmlns:a16="http://schemas.microsoft.com/office/drawing/2014/main" val="1903015447"/>
                  </a:ext>
                </a:extLst>
              </a:tr>
              <a:tr h="370840">
                <a:tc>
                  <a:txBody>
                    <a:bodyPr/>
                    <a:lstStyle/>
                    <a:p>
                      <a:r>
                        <a:rPr lang="en-US" sz="1300"/>
                        <a:t>Allys Fritz</a:t>
                      </a:r>
                    </a:p>
                  </a:txBody>
                  <a:tcPr/>
                </a:tc>
                <a:tc>
                  <a:txBody>
                    <a:bodyPr/>
                    <a:lstStyle/>
                    <a:p>
                      <a:r>
                        <a:rPr lang="en-US" sz="1300"/>
                        <a:t>UAT</a:t>
                      </a:r>
                    </a:p>
                  </a:txBody>
                  <a:tcPr/>
                </a:tc>
                <a:extLst>
                  <a:ext uri="{0D108BD9-81ED-4DB2-BD59-A6C34878D82A}">
                    <a16:rowId xmlns:a16="http://schemas.microsoft.com/office/drawing/2014/main" val="1113850446"/>
                  </a:ext>
                </a:extLst>
              </a:tr>
              <a:tr h="370840">
                <a:tc>
                  <a:txBody>
                    <a:bodyPr/>
                    <a:lstStyle/>
                    <a:p>
                      <a:r>
                        <a:rPr lang="en-US" sz="1300"/>
                        <a:t>Mehdi Razavi</a:t>
                      </a:r>
                    </a:p>
                  </a:txBody>
                  <a:tcPr/>
                </a:tc>
                <a:tc>
                  <a:txBody>
                    <a:bodyPr/>
                    <a:lstStyle/>
                    <a:p>
                      <a:r>
                        <a:rPr lang="en-US" sz="1300"/>
                        <a:t>UAT</a:t>
                      </a:r>
                    </a:p>
                  </a:txBody>
                  <a:tcPr/>
                </a:tc>
                <a:extLst>
                  <a:ext uri="{0D108BD9-81ED-4DB2-BD59-A6C34878D82A}">
                    <a16:rowId xmlns:a16="http://schemas.microsoft.com/office/drawing/2014/main" val="2576718836"/>
                  </a:ext>
                </a:extLst>
              </a:tr>
              <a:tr h="370840">
                <a:tc>
                  <a:txBody>
                    <a:bodyPr/>
                    <a:lstStyle/>
                    <a:p>
                      <a:r>
                        <a:rPr lang="en-US" sz="1300"/>
                        <a:t>Ashok Kalyani</a:t>
                      </a:r>
                    </a:p>
                  </a:txBody>
                  <a:tcPr/>
                </a:tc>
                <a:tc>
                  <a:txBody>
                    <a:bodyPr/>
                    <a:lstStyle/>
                    <a:p>
                      <a:r>
                        <a:rPr lang="en-US" sz="1300"/>
                        <a:t>Release</a:t>
                      </a:r>
                    </a:p>
                  </a:txBody>
                  <a:tcPr/>
                </a:tc>
                <a:extLst>
                  <a:ext uri="{0D108BD9-81ED-4DB2-BD59-A6C34878D82A}">
                    <a16:rowId xmlns:a16="http://schemas.microsoft.com/office/drawing/2014/main" val="2249938841"/>
                  </a:ext>
                </a:extLst>
              </a:tr>
              <a:tr h="370840">
                <a:tc>
                  <a:txBody>
                    <a:bodyPr/>
                    <a:lstStyle/>
                    <a:p>
                      <a:r>
                        <a:rPr lang="en-US" sz="1300"/>
                        <a:t>Archana Sabapathy</a:t>
                      </a:r>
                    </a:p>
                  </a:txBody>
                  <a:tcPr/>
                </a:tc>
                <a:tc>
                  <a:txBody>
                    <a:bodyPr/>
                    <a:lstStyle/>
                    <a:p>
                      <a:r>
                        <a:rPr lang="en-US" sz="1300"/>
                        <a:t>Product</a:t>
                      </a:r>
                    </a:p>
                  </a:txBody>
                  <a:tcPr/>
                </a:tc>
                <a:extLst>
                  <a:ext uri="{0D108BD9-81ED-4DB2-BD59-A6C34878D82A}">
                    <a16:rowId xmlns:a16="http://schemas.microsoft.com/office/drawing/2014/main" val="2740324917"/>
                  </a:ext>
                </a:extLst>
              </a:tr>
              <a:tr h="370840">
                <a:tc>
                  <a:txBody>
                    <a:bodyPr/>
                    <a:lstStyle/>
                    <a:p>
                      <a:r>
                        <a:rPr lang="en-US" sz="1300"/>
                        <a:t>Troy Andrews</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300"/>
                        <a:t>Product</a:t>
                      </a:r>
                    </a:p>
                  </a:txBody>
                  <a:tcPr/>
                </a:tc>
                <a:extLst>
                  <a:ext uri="{0D108BD9-81ED-4DB2-BD59-A6C34878D82A}">
                    <a16:rowId xmlns:a16="http://schemas.microsoft.com/office/drawing/2014/main" val="2211116831"/>
                  </a:ext>
                </a:extLst>
              </a:tr>
              <a:tr h="370840">
                <a:tc>
                  <a:txBody>
                    <a:bodyPr/>
                    <a:lstStyle/>
                    <a:p>
                      <a:r>
                        <a:rPr lang="en-US" sz="1300"/>
                        <a:t>Sapna Sathyanarayana</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300"/>
                        <a:t>Product</a:t>
                      </a:r>
                    </a:p>
                  </a:txBody>
                  <a:tcPr/>
                </a:tc>
                <a:extLst>
                  <a:ext uri="{0D108BD9-81ED-4DB2-BD59-A6C34878D82A}">
                    <a16:rowId xmlns:a16="http://schemas.microsoft.com/office/drawing/2014/main" val="1675167419"/>
                  </a:ext>
                </a:extLst>
              </a:tr>
              <a:tr h="370840">
                <a:tc>
                  <a:txBody>
                    <a:bodyPr/>
                    <a:lstStyle/>
                    <a:p>
                      <a:r>
                        <a:rPr lang="en-US" sz="1300"/>
                        <a:t>Paul Smith</a:t>
                      </a:r>
                    </a:p>
                  </a:txBody>
                  <a:tcPr/>
                </a:tc>
                <a:tc>
                  <a:txBody>
                    <a:bodyPr/>
                    <a:lstStyle/>
                    <a:p>
                      <a:r>
                        <a:rPr lang="en-US" sz="1300"/>
                        <a:t>Engineering</a:t>
                      </a:r>
                    </a:p>
                  </a:txBody>
                  <a:tcPr/>
                </a:tc>
                <a:extLst>
                  <a:ext uri="{0D108BD9-81ED-4DB2-BD59-A6C34878D82A}">
                    <a16:rowId xmlns:a16="http://schemas.microsoft.com/office/drawing/2014/main" val="3930730544"/>
                  </a:ext>
                </a:extLst>
              </a:tr>
              <a:tr h="370840">
                <a:tc>
                  <a:txBody>
                    <a:bodyPr/>
                    <a:lstStyle/>
                    <a:p>
                      <a:r>
                        <a:rPr lang="en-US" sz="1300"/>
                        <a:t>Navin Narayanan</a:t>
                      </a:r>
                    </a:p>
                  </a:txBody>
                  <a:tcPr/>
                </a:tc>
                <a:tc>
                  <a:txBody>
                    <a:bodyPr/>
                    <a:lstStyle/>
                    <a:p>
                      <a:r>
                        <a:rPr lang="en-US" sz="1300"/>
                        <a:t>Product</a:t>
                      </a:r>
                    </a:p>
                  </a:txBody>
                  <a:tcPr/>
                </a:tc>
                <a:extLst>
                  <a:ext uri="{0D108BD9-81ED-4DB2-BD59-A6C34878D82A}">
                    <a16:rowId xmlns:a16="http://schemas.microsoft.com/office/drawing/2014/main" val="4053708803"/>
                  </a:ext>
                </a:extLst>
              </a:tr>
              <a:tr h="370840">
                <a:tc>
                  <a:txBody>
                    <a:bodyPr/>
                    <a:lstStyle/>
                    <a:p>
                      <a:r>
                        <a:rPr lang="en-US" sz="1300"/>
                        <a:t>Bob Franceschini</a:t>
                      </a:r>
                    </a:p>
                  </a:txBody>
                  <a:tcPr/>
                </a:tc>
                <a:tc>
                  <a:txBody>
                    <a:bodyPr/>
                    <a:lstStyle/>
                    <a:p>
                      <a:r>
                        <a:rPr lang="en-US" sz="1300"/>
                        <a:t>Engineering</a:t>
                      </a:r>
                    </a:p>
                  </a:txBody>
                  <a:tcPr/>
                </a:tc>
                <a:extLst>
                  <a:ext uri="{0D108BD9-81ED-4DB2-BD59-A6C34878D82A}">
                    <a16:rowId xmlns:a16="http://schemas.microsoft.com/office/drawing/2014/main" val="1322310704"/>
                  </a:ext>
                </a:extLst>
              </a:tr>
            </a:tbl>
          </a:graphicData>
        </a:graphic>
      </p:graphicFrame>
      <p:pic>
        <p:nvPicPr>
          <p:cNvPr id="38" name="Picture 37">
            <a:extLst>
              <a:ext uri="{FF2B5EF4-FFF2-40B4-BE49-F238E27FC236}">
                <a16:creationId xmlns:a16="http://schemas.microsoft.com/office/drawing/2014/main" id="{79EB1C54-0284-ED93-BC4E-2ED380409922}"/>
              </a:ext>
            </a:extLst>
          </p:cNvPr>
          <p:cNvPicPr>
            <a:picLocks noChangeAspect="1"/>
          </p:cNvPicPr>
          <p:nvPr/>
        </p:nvPicPr>
        <p:blipFill>
          <a:blip r:embed="rId5"/>
          <a:stretch>
            <a:fillRect/>
          </a:stretch>
        </p:blipFill>
        <p:spPr>
          <a:xfrm>
            <a:off x="7264078" y="1878501"/>
            <a:ext cx="3899222" cy="2512832"/>
          </a:xfrm>
          <a:prstGeom prst="rect">
            <a:avLst/>
          </a:prstGeom>
        </p:spPr>
      </p:pic>
      <p:sp>
        <p:nvSpPr>
          <p:cNvPr id="39" name="TextBox 38">
            <a:extLst>
              <a:ext uri="{FF2B5EF4-FFF2-40B4-BE49-F238E27FC236}">
                <a16:creationId xmlns:a16="http://schemas.microsoft.com/office/drawing/2014/main" id="{E40989CD-0BB2-2E17-66C9-94E040D7E170}"/>
              </a:ext>
            </a:extLst>
          </p:cNvPr>
          <p:cNvSpPr txBox="1"/>
          <p:nvPr/>
        </p:nvSpPr>
        <p:spPr>
          <a:xfrm>
            <a:off x="7264078" y="4478194"/>
            <a:ext cx="3899221" cy="430887"/>
          </a:xfrm>
          <a:prstGeom prst="rect">
            <a:avLst/>
          </a:prstGeom>
          <a:noFill/>
        </p:spPr>
        <p:txBody>
          <a:bodyPr wrap="square" rtlCol="0">
            <a:spAutoFit/>
          </a:bodyPr>
          <a:lstStyle/>
          <a:p>
            <a:r>
              <a:rPr lang="en-US" sz="1100" i="1"/>
              <a:t>In addition to the focused sessions, WM also conducted a collaborative session with the core project group</a:t>
            </a:r>
          </a:p>
        </p:txBody>
      </p:sp>
    </p:spTree>
    <p:extLst>
      <p:ext uri="{BB962C8B-B14F-4D97-AF65-F5344CB8AC3E}">
        <p14:creationId xmlns:p14="http://schemas.microsoft.com/office/powerpoint/2010/main" val="4104228067"/>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5C5C-B427-BBAC-50D6-A83F034B37C5}"/>
            </a:ext>
          </a:extLst>
        </p:cNvPr>
        <p:cNvGrpSpPr/>
        <p:nvPr/>
      </p:nvGrpSpPr>
      <p:grpSpPr>
        <a:xfrm>
          <a:off x="0" y="0"/>
          <a:ext cx="0" cy="0"/>
          <a:chOff x="0" y="0"/>
          <a:chExt cx="0" cy="0"/>
        </a:xfrm>
      </p:grpSpPr>
      <p:pic>
        <p:nvPicPr>
          <p:cNvPr id="90" name="Picture 6"/>
          <p:cNvPicPr>
            <a:picLocks noChangeAspect="1"/>
          </p:cNvPicPr>
          <p:nvPr/>
        </p:nvPicPr>
        <p:blipFill>
          <a:blip r:embed="rId3"/>
          <a:stretch/>
        </p:blipFill>
        <p:spPr>
          <a:xfrm>
            <a:off x="10608469" y="171450"/>
            <a:ext cx="1071563" cy="476250"/>
          </a:xfrm>
          <a:prstGeom prst="rect">
            <a:avLst/>
          </a:prstGeom>
        </p:spPr>
      </p:pic>
      <p:sp>
        <p:nvSpPr>
          <p:cNvPr id="2" name="Footer Placeholder 1">
            <a:extLst>
              <a:ext uri="{FF2B5EF4-FFF2-40B4-BE49-F238E27FC236}">
                <a16:creationId xmlns:a16="http://schemas.microsoft.com/office/drawing/2014/main" id="{DA7D183E-027E-74E6-381D-07E2F45A1FD0}"/>
              </a:ext>
            </a:extLst>
          </p:cNvPr>
          <p:cNvSpPr>
            <a:spLocks noGrp="1"/>
          </p:cNvSpPr>
          <p:nvPr>
            <p:ph type="ftr" idx="10"/>
          </p:nvPr>
        </p:nvSpPr>
        <p:spPr/>
        <p:txBody>
          <a:bodyPr/>
          <a:lstStyle/>
          <a:p>
            <a:r>
              <a:rPr lang="en-US"/>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A0995D31-D885-A753-CB64-863E1D94AA70}"/>
              </a:ext>
            </a:extLst>
          </p:cNvPr>
          <p:cNvSpPr>
            <a:spLocks noGrp="1"/>
          </p:cNvSpPr>
          <p:nvPr>
            <p:ph type="sldNum" idx="11"/>
          </p:nvPr>
        </p:nvSpPr>
        <p:spPr/>
        <p:txBody>
          <a:bodyPr/>
          <a:lstStyle/>
          <a:p>
            <a:fld id="{63DCA5C9-2E11-4C67-86EB-AE1DE127DC64}" type="slidenum">
              <a:rPr lang="en-US" smtClean="0"/>
              <a:t>8</a:t>
            </a:fld>
            <a:endParaRPr lang="en-US"/>
          </a:p>
        </p:txBody>
      </p:sp>
      <p:sp>
        <p:nvSpPr>
          <p:cNvPr id="91" name="Rectangle 1">
            <a:extLst>
              <a:ext uri="{FF2B5EF4-FFF2-40B4-BE49-F238E27FC236}">
                <a16:creationId xmlns:a16="http://schemas.microsoft.com/office/drawing/2014/main" id="{7A41A9B1-B9E2-4E11-AC4E-00E1960D181D}"/>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lang="en-US" sz="2325" b="1" i="0">
                <a:solidFill>
                  <a:srgbClr val="070154"/>
                </a:solidFill>
                <a:latin typeface="Arial"/>
                <a:ea typeface="Arial"/>
                <a:cs typeface="Arial"/>
              </a:rPr>
              <a:t>Implementation roadmap</a:t>
            </a:r>
            <a:endParaRPr sz="2325" b="1" i="0">
              <a:solidFill>
                <a:srgbClr val="070154"/>
              </a:solidFill>
              <a:latin typeface="Arial"/>
              <a:ea typeface="Arial"/>
              <a:cs typeface="Arial"/>
            </a:endParaRPr>
          </a:p>
        </p:txBody>
      </p:sp>
      <p:sp>
        <p:nvSpPr>
          <p:cNvPr id="101" name="Axis Label"/>
          <p:cNvSpPr/>
          <p:nvPr/>
        </p:nvSpPr>
        <p:spPr>
          <a:xfrm>
            <a:off x="457200" y="1752600"/>
            <a:ext cx="1850000" cy="280000"/>
          </a:xfrm>
          <a:prstGeom prst="rect">
            <a:avLst/>
          </a:prstGeom>
          <a:solidFill>
            <a:srgbClr val="070154"/>
          </a:solidFill>
          <a:ln w="0">
            <a:noFill/>
          </a:ln>
        </p:spPr>
        <p:txBody>
          <a:bodyPr wrap="square" anchor="ctr">
            <a:noAutofit/>
          </a:bodyPr>
          <a:lstStyle/>
          <a:p>
            <a:pPr>
              <a:lnSpc>
                <a:spcPct val="108000"/>
              </a:lnSpc>
              <a:buNone/>
            </a:pPr>
            <a:r>
              <a:rPr lang="en-US" sz="950" b="1" i="0">
                <a:solidFill>
                  <a:srgbClr val="FFFFFF"/>
                </a:solidFill>
                <a:latin typeface="Arial"/>
                <a:ea typeface="Arial"/>
                <a:cs typeface="Arial"/>
              </a:rPr>
              <a:t>PDLC stage</a:t>
            </a:r>
          </a:p>
        </p:txBody>
      </p:sp>
      <p:sp>
        <p:nvSpPr>
          <p:cNvPr id="102" name="Stage Identify"/>
          <p:cNvSpPr/>
          <p:nvPr/>
        </p:nvSpPr>
        <p:spPr>
          <a:xfrm>
            <a:off x="2372200"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Identify</a:t>
            </a:r>
          </a:p>
        </p:txBody>
      </p:sp>
      <p:sp>
        <p:nvSpPr>
          <p:cNvPr id="103" name="Stage Define"/>
          <p:cNvSpPr/>
          <p:nvPr/>
        </p:nvSpPr>
        <p:spPr>
          <a:xfrm>
            <a:off x="3935133"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Define</a:t>
            </a:r>
          </a:p>
        </p:txBody>
      </p:sp>
      <p:sp>
        <p:nvSpPr>
          <p:cNvPr id="104" name="Stage Build"/>
          <p:cNvSpPr/>
          <p:nvPr/>
        </p:nvSpPr>
        <p:spPr>
          <a:xfrm>
            <a:off x="5498066"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Build</a:t>
            </a:r>
          </a:p>
        </p:txBody>
      </p:sp>
      <p:sp>
        <p:nvSpPr>
          <p:cNvPr id="105" name="Stage Release"/>
          <p:cNvSpPr/>
          <p:nvPr/>
        </p:nvSpPr>
        <p:spPr>
          <a:xfrm>
            <a:off x="7060999"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Release</a:t>
            </a:r>
          </a:p>
        </p:txBody>
      </p:sp>
      <p:sp>
        <p:nvSpPr>
          <p:cNvPr id="106" name="Stage Go-to-Market"/>
          <p:cNvSpPr/>
          <p:nvPr/>
        </p:nvSpPr>
        <p:spPr>
          <a:xfrm>
            <a:off x="8623932"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Go-to-Market</a:t>
            </a:r>
          </a:p>
        </p:txBody>
      </p:sp>
      <p:sp>
        <p:nvSpPr>
          <p:cNvPr id="107" name="Stage Optimize"/>
          <p:cNvSpPr/>
          <p:nvPr/>
        </p:nvSpPr>
        <p:spPr>
          <a:xfrm>
            <a:off x="10186865"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Optimize</a:t>
            </a:r>
          </a:p>
        </p:txBody>
      </p:sp>
      <p:sp>
        <p:nvSpPr>
          <p:cNvPr id="200" name="Roadmap subtitle"/>
          <p:cNvSpPr/>
          <p:nvPr/>
        </p:nvSpPr>
        <p:spPr>
          <a:xfrm>
            <a:off x="457200" y="1181100"/>
            <a:ext cx="11277600" cy="381000"/>
          </a:xfrm>
          <a:prstGeom prst="rect">
            <a:avLst/>
          </a:prstGeom>
          <a:noFill/>
          <a:ln>
            <a:noFill/>
          </a:ln>
        </p:spPr>
        <p:txBody>
          <a:bodyPr wrap="square" lIns="88900" tIns="25400" rIns="88900" bIns="25400" anchor="t">
            <a:noAutofit/>
          </a:bodyPr>
          <a:lstStyle/>
          <a:p>
            <a:pPr algn="l">
              <a:lnSpc>
                <a:spcPct val="105000"/>
              </a:lnSpc>
              <a:buNone/>
            </a:pPr>
            <a:r>
              <a:rPr lang="en-US" sz="1350" b="0">
                <a:solidFill>
                  <a:srgbClr val="50658E"/>
                </a:solidFill>
                <a:latin typeface="Arial"/>
              </a:rPr>
              <a:t>Outcome-based priorities now, with the new business strategy feeding into the process in January</a:t>
            </a:r>
          </a:p>
        </p:txBody>
      </p:sp>
      <p:sp>
        <p:nvSpPr>
          <p:cNvPr id="201" name="Coverage legend"/>
          <p:cNvSpPr/>
          <p:nvPr/>
        </p:nvSpPr>
        <p:spPr>
          <a:xfrm>
            <a:off x="2372360" y="2070100"/>
            <a:ext cx="9359900" cy="177800"/>
          </a:xfrm>
          <a:prstGeom prst="rect">
            <a:avLst/>
          </a:prstGeom>
          <a:noFill/>
          <a:ln>
            <a:noFill/>
          </a:ln>
        </p:spPr>
        <p:txBody>
          <a:bodyPr wrap="square" lIns="0" tIns="25400" rIns="0" bIns="25400" anchor="ctr">
            <a:noAutofit/>
          </a:bodyPr>
          <a:lstStyle/>
          <a:p>
            <a:pPr algn="l">
              <a:lnSpc>
                <a:spcPct val="105000"/>
              </a:lnSpc>
              <a:buNone/>
            </a:pPr>
            <a:r>
              <a:rPr lang="en-US" sz="900" b="0">
                <a:solidFill>
                  <a:srgbClr val="50658E"/>
                </a:solidFill>
                <a:latin typeface="Arial"/>
              </a:rPr>
              <a:t>Bars show PDLC coverage. Rows show the rollout sequence.</a:t>
            </a:r>
          </a:p>
        </p:txBody>
      </p:sp>
      <p:sp>
        <p:nvSpPr>
          <p:cNvPr id="202" name="Stage guide 0"/>
          <p:cNvSpPr/>
          <p:nvPr/>
        </p:nvSpPr>
        <p:spPr>
          <a:xfrm>
            <a:off x="2352040" y="2298700"/>
            <a:ext cx="7620" cy="3454400"/>
          </a:xfrm>
          <a:prstGeom prst="rect">
            <a:avLst/>
          </a:prstGeom>
          <a:solidFill>
            <a:srgbClr val="DCE4F0"/>
          </a:solidFill>
          <a:ln>
            <a:noFill/>
          </a:ln>
        </p:spPr>
        <p:txBody>
          <a:bodyPr wrap="square" lIns="0" tIns="25400" rIns="0" bIns="25400" anchor="ctr">
            <a:noAutofit/>
          </a:bodyPr>
          <a:lstStyle/>
          <a:p>
            <a:endParaRPr/>
          </a:p>
        </p:txBody>
      </p:sp>
      <p:sp>
        <p:nvSpPr>
          <p:cNvPr id="203" name="Stage guide 1"/>
          <p:cNvSpPr/>
          <p:nvPr/>
        </p:nvSpPr>
        <p:spPr>
          <a:xfrm>
            <a:off x="3914973" y="2298700"/>
            <a:ext cx="7620" cy="3454400"/>
          </a:xfrm>
          <a:prstGeom prst="rect">
            <a:avLst/>
          </a:prstGeom>
          <a:solidFill>
            <a:srgbClr val="DCE4F0"/>
          </a:solidFill>
          <a:ln>
            <a:noFill/>
          </a:ln>
        </p:spPr>
        <p:txBody>
          <a:bodyPr wrap="square" lIns="0" tIns="25400" rIns="0" bIns="25400" anchor="ctr">
            <a:noAutofit/>
          </a:bodyPr>
          <a:lstStyle/>
          <a:p>
            <a:endParaRPr/>
          </a:p>
        </p:txBody>
      </p:sp>
      <p:sp>
        <p:nvSpPr>
          <p:cNvPr id="204" name="Stage guide 2"/>
          <p:cNvSpPr/>
          <p:nvPr/>
        </p:nvSpPr>
        <p:spPr>
          <a:xfrm>
            <a:off x="5477906" y="2298700"/>
            <a:ext cx="7620" cy="3454400"/>
          </a:xfrm>
          <a:prstGeom prst="rect">
            <a:avLst/>
          </a:prstGeom>
          <a:solidFill>
            <a:srgbClr val="DCE4F0"/>
          </a:solidFill>
          <a:ln>
            <a:noFill/>
          </a:ln>
        </p:spPr>
        <p:txBody>
          <a:bodyPr wrap="square" lIns="0" tIns="25400" rIns="0" bIns="25400" anchor="ctr">
            <a:noAutofit/>
          </a:bodyPr>
          <a:lstStyle/>
          <a:p>
            <a:endParaRPr/>
          </a:p>
        </p:txBody>
      </p:sp>
      <p:sp>
        <p:nvSpPr>
          <p:cNvPr id="205" name="Stage guide 3"/>
          <p:cNvSpPr/>
          <p:nvPr/>
        </p:nvSpPr>
        <p:spPr>
          <a:xfrm>
            <a:off x="7040839" y="2298700"/>
            <a:ext cx="7620" cy="3454400"/>
          </a:xfrm>
          <a:prstGeom prst="rect">
            <a:avLst/>
          </a:prstGeom>
          <a:solidFill>
            <a:srgbClr val="DCE4F0"/>
          </a:solidFill>
          <a:ln>
            <a:noFill/>
          </a:ln>
        </p:spPr>
        <p:txBody>
          <a:bodyPr wrap="square" lIns="0" tIns="25400" rIns="0" bIns="25400" anchor="ctr">
            <a:noAutofit/>
          </a:bodyPr>
          <a:lstStyle/>
          <a:p>
            <a:endParaRPr/>
          </a:p>
        </p:txBody>
      </p:sp>
      <p:sp>
        <p:nvSpPr>
          <p:cNvPr id="206" name="Stage guide 4"/>
          <p:cNvSpPr/>
          <p:nvPr/>
        </p:nvSpPr>
        <p:spPr>
          <a:xfrm>
            <a:off x="8603772" y="2298700"/>
            <a:ext cx="7620" cy="3454400"/>
          </a:xfrm>
          <a:prstGeom prst="rect">
            <a:avLst/>
          </a:prstGeom>
          <a:solidFill>
            <a:srgbClr val="DCE4F0"/>
          </a:solidFill>
          <a:ln>
            <a:noFill/>
          </a:ln>
        </p:spPr>
        <p:txBody>
          <a:bodyPr wrap="square" lIns="0" tIns="25400" rIns="0" bIns="25400" anchor="ctr">
            <a:noAutofit/>
          </a:bodyPr>
          <a:lstStyle/>
          <a:p>
            <a:endParaRPr/>
          </a:p>
        </p:txBody>
      </p:sp>
      <p:sp>
        <p:nvSpPr>
          <p:cNvPr id="207" name="Stage guide 5"/>
          <p:cNvSpPr/>
          <p:nvPr/>
        </p:nvSpPr>
        <p:spPr>
          <a:xfrm>
            <a:off x="10166706" y="2298700"/>
            <a:ext cx="7620" cy="3454400"/>
          </a:xfrm>
          <a:prstGeom prst="rect">
            <a:avLst/>
          </a:prstGeom>
          <a:solidFill>
            <a:srgbClr val="DCE4F0"/>
          </a:solidFill>
          <a:ln>
            <a:noFill/>
          </a:ln>
        </p:spPr>
        <p:txBody>
          <a:bodyPr wrap="square" lIns="0" tIns="25400" rIns="0" bIns="25400" anchor="ctr">
            <a:noAutofit/>
          </a:bodyPr>
          <a:lstStyle/>
          <a:p>
            <a:endParaRPr/>
          </a:p>
        </p:txBody>
      </p:sp>
      <p:sp>
        <p:nvSpPr>
          <p:cNvPr id="208" name="Stage guide 6"/>
          <p:cNvSpPr/>
          <p:nvPr/>
        </p:nvSpPr>
        <p:spPr>
          <a:xfrm>
            <a:off x="11729639" y="2298700"/>
            <a:ext cx="7620" cy="3454400"/>
          </a:xfrm>
          <a:prstGeom prst="rect">
            <a:avLst/>
          </a:prstGeom>
          <a:solidFill>
            <a:srgbClr val="DCE4F0"/>
          </a:solidFill>
          <a:ln>
            <a:noFill/>
          </a:ln>
        </p:spPr>
        <p:txBody>
          <a:bodyPr wrap="square" lIns="0" tIns="25400" rIns="0" bIns="25400" anchor="ctr">
            <a:noAutofit/>
          </a:bodyPr>
          <a:lstStyle/>
          <a:p>
            <a:endParaRPr/>
          </a:p>
        </p:txBody>
      </p:sp>
      <p:sp>
        <p:nvSpPr>
          <p:cNvPr id="209" name="Rollout phase 0"/>
          <p:cNvSpPr/>
          <p:nvPr/>
        </p:nvSpPr>
        <p:spPr>
          <a:xfrm>
            <a:off x="457200" y="2298700"/>
            <a:ext cx="1850390" cy="546100"/>
          </a:xfrm>
          <a:prstGeom prst="rect">
            <a:avLst/>
          </a:prstGeom>
          <a:solidFill>
            <a:srgbClr val="E8EEF8"/>
          </a:solidFill>
          <a:ln>
            <a:noFill/>
          </a:ln>
        </p:spPr>
        <p:txBody>
          <a:bodyPr wrap="square" lIns="76200" tIns="25400" rIns="76200" bIns="25400" anchor="ctr">
            <a:noAutofit/>
          </a:bodyPr>
          <a:lstStyle/>
          <a:p>
            <a:pPr algn="l">
              <a:lnSpc>
                <a:spcPct val="105000"/>
              </a:lnSpc>
              <a:buNone/>
            </a:pPr>
            <a:r>
              <a:rPr lang="en-US" sz="950" b="1">
                <a:solidFill>
                  <a:srgbClr val="070154"/>
                </a:solidFill>
                <a:latin typeface="Arial"/>
              </a:rPr>
              <a:t>FIRST 4 WEEKS</a:t>
            </a:r>
          </a:p>
          <a:p>
            <a:pPr algn="l">
              <a:lnSpc>
                <a:spcPct val="105000"/>
              </a:lnSpc>
              <a:buNone/>
            </a:pPr>
            <a:r>
              <a:rPr lang="en-US" sz="950" b="1">
                <a:solidFill>
                  <a:srgbClr val="070154"/>
                </a:solidFill>
                <a:latin typeface="Arial"/>
              </a:rPr>
              <a:t>Product strategy spike</a:t>
            </a:r>
          </a:p>
        </p:txBody>
      </p:sp>
      <p:sp>
        <p:nvSpPr>
          <p:cNvPr id="210" name="Rollout coverage 0"/>
          <p:cNvSpPr/>
          <p:nvPr/>
        </p:nvSpPr>
        <p:spPr>
          <a:xfrm>
            <a:off x="2372360" y="2308860"/>
            <a:ext cx="3096656" cy="525780"/>
          </a:xfrm>
          <a:prstGeom prst="rect">
            <a:avLst/>
          </a:prstGeom>
          <a:solidFill>
            <a:srgbClr val="070154"/>
          </a:solidFill>
          <a:ln>
            <a:noFill/>
          </a:ln>
        </p:spPr>
        <p:txBody>
          <a:bodyPr wrap="square" lIns="76200" tIns="25400" rIns="76200" bIns="25400" anchor="ctr">
            <a:noAutofit/>
          </a:bodyPr>
          <a:lstStyle/>
          <a:p>
            <a:pPr algn="l">
              <a:lnSpc>
                <a:spcPct val="105000"/>
              </a:lnSpc>
              <a:buNone/>
            </a:pPr>
            <a:r>
              <a:rPr lang="en-US" sz="1080" b="1">
                <a:solidFill>
                  <a:srgbClr val="FFFFFF"/>
                </a:solidFill>
                <a:latin typeface="Arial"/>
              </a:rPr>
              <a:t>All products: strategy, outcome measures, and six-month roadmaps</a:t>
            </a:r>
          </a:p>
        </p:txBody>
      </p:sp>
      <p:sp>
        <p:nvSpPr>
          <p:cNvPr id="211" name="Rollout phase 1"/>
          <p:cNvSpPr/>
          <p:nvPr/>
        </p:nvSpPr>
        <p:spPr>
          <a:xfrm>
            <a:off x="457200" y="2908300"/>
            <a:ext cx="1850390" cy="457200"/>
          </a:xfrm>
          <a:prstGeom prst="rect">
            <a:avLst/>
          </a:prstGeom>
          <a:solidFill>
            <a:srgbClr val="E8EEF8"/>
          </a:solidFill>
          <a:ln>
            <a:noFill/>
          </a:ln>
        </p:spPr>
        <p:txBody>
          <a:bodyPr wrap="square" lIns="76200" tIns="25400" rIns="76200" bIns="25400" anchor="ctr">
            <a:noAutofit/>
          </a:bodyPr>
          <a:lstStyle/>
          <a:p>
            <a:pPr algn="l">
              <a:lnSpc>
                <a:spcPct val="105000"/>
              </a:lnSpc>
              <a:buNone/>
            </a:pPr>
            <a:r>
              <a:rPr lang="en-US" sz="950" b="1">
                <a:solidFill>
                  <a:srgbClr val="070154"/>
                </a:solidFill>
                <a:latin typeface="Arial"/>
              </a:rPr>
              <a:t>IN PARALLEL</a:t>
            </a:r>
          </a:p>
          <a:p>
            <a:pPr algn="l">
              <a:lnSpc>
                <a:spcPct val="105000"/>
              </a:lnSpc>
              <a:buNone/>
            </a:pPr>
            <a:r>
              <a:rPr lang="en-US" sz="950" b="1">
                <a:solidFill>
                  <a:srgbClr val="070154"/>
                </a:solidFill>
                <a:latin typeface="Arial"/>
              </a:rPr>
              <a:t>Quality, test &amp; release</a:t>
            </a:r>
          </a:p>
        </p:txBody>
      </p:sp>
      <p:sp>
        <p:nvSpPr>
          <p:cNvPr id="212" name="Rollout coverage 1"/>
          <p:cNvSpPr/>
          <p:nvPr/>
        </p:nvSpPr>
        <p:spPr>
          <a:xfrm>
            <a:off x="3935293" y="2918460"/>
            <a:ext cx="4659589" cy="436880"/>
          </a:xfrm>
          <a:prstGeom prst="rect">
            <a:avLst/>
          </a:prstGeom>
          <a:solidFill>
            <a:srgbClr val="0047FF"/>
          </a:solidFill>
          <a:ln>
            <a:noFill/>
          </a:ln>
        </p:spPr>
        <p:txBody>
          <a:bodyPr wrap="square" lIns="76200" tIns="25400" rIns="76200" bIns="25400" anchor="ctr">
            <a:noAutofit/>
          </a:bodyPr>
          <a:lstStyle/>
          <a:p>
            <a:pPr algn="l">
              <a:lnSpc>
                <a:spcPct val="105000"/>
              </a:lnSpc>
              <a:buNone/>
            </a:pPr>
            <a:r>
              <a:rPr lang="en-US" sz="1000" b="1">
                <a:solidFill>
                  <a:srgbClr val="FFFFFF"/>
                </a:solidFill>
                <a:latin typeface="Arial"/>
              </a:rPr>
              <a:t>Improve quality, test coverage, staging validation, and release readiness</a:t>
            </a:r>
          </a:p>
        </p:txBody>
      </p:sp>
      <p:sp>
        <p:nvSpPr>
          <p:cNvPr id="213" name="Rollout phase 2"/>
          <p:cNvSpPr/>
          <p:nvPr/>
        </p:nvSpPr>
        <p:spPr>
          <a:xfrm>
            <a:off x="457200" y="3429000"/>
            <a:ext cx="1850390" cy="406400"/>
          </a:xfrm>
          <a:prstGeom prst="rect">
            <a:avLst/>
          </a:prstGeom>
          <a:solidFill>
            <a:srgbClr val="E8EEF8"/>
          </a:solidFill>
          <a:ln>
            <a:noFill/>
          </a:ln>
        </p:spPr>
        <p:txBody>
          <a:bodyPr wrap="square" lIns="76200" tIns="25400" rIns="76200" bIns="25400" anchor="ctr">
            <a:noAutofit/>
          </a:bodyPr>
          <a:lstStyle/>
          <a:p>
            <a:pPr algn="l">
              <a:lnSpc>
                <a:spcPct val="105000"/>
              </a:lnSpc>
              <a:buNone/>
            </a:pPr>
            <a:r>
              <a:rPr lang="en-US" sz="950" b="1">
                <a:solidFill>
                  <a:srgbClr val="070154"/>
                </a:solidFill>
                <a:latin typeface="Arial"/>
              </a:rPr>
              <a:t>EARLY</a:t>
            </a:r>
          </a:p>
          <a:p>
            <a:pPr algn="l">
              <a:lnSpc>
                <a:spcPct val="105000"/>
              </a:lnSpc>
              <a:buNone/>
            </a:pPr>
            <a:r>
              <a:rPr lang="en-US" sz="950" b="1">
                <a:solidFill>
                  <a:srgbClr val="070154"/>
                </a:solidFill>
                <a:latin typeface="Arial"/>
              </a:rPr>
              <a:t>Lifecycle skills pack</a:t>
            </a:r>
          </a:p>
        </p:txBody>
      </p:sp>
      <p:sp>
        <p:nvSpPr>
          <p:cNvPr id="214" name="Rollout coverage 2"/>
          <p:cNvSpPr/>
          <p:nvPr/>
        </p:nvSpPr>
        <p:spPr>
          <a:xfrm>
            <a:off x="2372360" y="3439160"/>
            <a:ext cx="9348389" cy="386080"/>
          </a:xfrm>
          <a:prstGeom prst="rect">
            <a:avLst/>
          </a:prstGeom>
          <a:solidFill>
            <a:srgbClr val="DCE4F0"/>
          </a:solidFill>
          <a:ln>
            <a:noFill/>
          </a:ln>
        </p:spPr>
        <p:txBody>
          <a:bodyPr wrap="square" lIns="76200" tIns="25400" rIns="76200" bIns="25400" anchor="ctr">
            <a:noAutofit/>
          </a:bodyPr>
          <a:lstStyle/>
          <a:p>
            <a:pPr>
              <a:lnSpc>
                <a:spcPct val="105000"/>
              </a:lnSpc>
            </a:pPr>
            <a:r>
              <a:rPr lang="en-US" sz="1000" b="1">
                <a:solidFill>
                  <a:srgbClr val="070154"/>
                </a:solidFill>
                <a:latin typeface="Arial"/>
              </a:rPr>
              <a:t>Use skills and guided templates across the lifecycle to fill capability gaps while hiring</a:t>
            </a:r>
          </a:p>
        </p:txBody>
      </p:sp>
      <p:sp>
        <p:nvSpPr>
          <p:cNvPr id="215" name="Rollout phase 3"/>
          <p:cNvSpPr/>
          <p:nvPr/>
        </p:nvSpPr>
        <p:spPr>
          <a:xfrm>
            <a:off x="457200" y="3898900"/>
            <a:ext cx="1850390" cy="482600"/>
          </a:xfrm>
          <a:prstGeom prst="rect">
            <a:avLst/>
          </a:prstGeom>
          <a:solidFill>
            <a:srgbClr val="E8EEF8"/>
          </a:solidFill>
          <a:ln>
            <a:noFill/>
          </a:ln>
        </p:spPr>
        <p:txBody>
          <a:bodyPr wrap="square" lIns="76200" tIns="25400" rIns="76200" bIns="25400" anchor="ctr">
            <a:noAutofit/>
          </a:bodyPr>
          <a:lstStyle/>
          <a:p>
            <a:pPr algn="l">
              <a:lnSpc>
                <a:spcPct val="105000"/>
              </a:lnSpc>
              <a:buNone/>
            </a:pPr>
            <a:r>
              <a:rPr lang="en-US" sz="950" b="1">
                <a:solidFill>
                  <a:srgbClr val="070154"/>
                </a:solidFill>
                <a:latin typeface="Arial"/>
              </a:rPr>
              <a:t>THEN</a:t>
            </a:r>
          </a:p>
          <a:p>
            <a:pPr algn="l">
              <a:lnSpc>
                <a:spcPct val="105000"/>
              </a:lnSpc>
              <a:buNone/>
            </a:pPr>
            <a:r>
              <a:rPr lang="en-US" sz="950" b="1">
                <a:solidFill>
                  <a:srgbClr val="070154"/>
                </a:solidFill>
                <a:latin typeface="Arial"/>
              </a:rPr>
              <a:t>Product execution</a:t>
            </a:r>
          </a:p>
        </p:txBody>
      </p:sp>
      <p:sp>
        <p:nvSpPr>
          <p:cNvPr id="216" name="Rollout coverage 3"/>
          <p:cNvSpPr/>
          <p:nvPr/>
        </p:nvSpPr>
        <p:spPr>
          <a:xfrm>
            <a:off x="2372360" y="3909060"/>
            <a:ext cx="9348389" cy="462280"/>
          </a:xfrm>
          <a:prstGeom prst="rect">
            <a:avLst/>
          </a:prstGeom>
          <a:solidFill>
            <a:srgbClr val="070154"/>
          </a:solidFill>
          <a:ln>
            <a:noFill/>
          </a:ln>
        </p:spPr>
        <p:txBody>
          <a:bodyPr wrap="square" lIns="76200" tIns="25400" rIns="76200" bIns="25400" anchor="ctr">
            <a:noAutofit/>
          </a:bodyPr>
          <a:lstStyle/>
          <a:p>
            <a:pPr algn="l">
              <a:lnSpc>
                <a:spcPct val="105000"/>
              </a:lnSpc>
              <a:buNone/>
            </a:pPr>
            <a:r>
              <a:rPr lang="en-US" sz="1000" b="1">
                <a:solidFill>
                  <a:srgbClr val="FFFFFF"/>
                </a:solidFill>
                <a:latin typeface="Arial"/>
              </a:rPr>
              <a:t>Run the roadmap, review outcome metrics, and adjust priorities using customer and business evidence</a:t>
            </a:r>
          </a:p>
        </p:txBody>
      </p:sp>
      <p:sp>
        <p:nvSpPr>
          <p:cNvPr id="217" name="Rollout phase 4"/>
          <p:cNvSpPr/>
          <p:nvPr/>
        </p:nvSpPr>
        <p:spPr>
          <a:xfrm>
            <a:off x="457200" y="4445000"/>
            <a:ext cx="1850390" cy="406400"/>
          </a:xfrm>
          <a:prstGeom prst="rect">
            <a:avLst/>
          </a:prstGeom>
          <a:solidFill>
            <a:srgbClr val="E8EEF8"/>
          </a:solidFill>
          <a:ln>
            <a:noFill/>
          </a:ln>
        </p:spPr>
        <p:txBody>
          <a:bodyPr wrap="square" lIns="76200" tIns="25400" rIns="76200" bIns="25400" anchor="ctr">
            <a:noAutofit/>
          </a:bodyPr>
          <a:lstStyle/>
          <a:p>
            <a:pPr algn="l">
              <a:lnSpc>
                <a:spcPct val="105000"/>
              </a:lnSpc>
              <a:buNone/>
            </a:pPr>
            <a:r>
              <a:rPr lang="en-US" sz="950" b="1">
                <a:solidFill>
                  <a:srgbClr val="070154"/>
                </a:solidFill>
                <a:latin typeface="Arial"/>
              </a:rPr>
              <a:t>THEN</a:t>
            </a:r>
          </a:p>
          <a:p>
            <a:pPr algn="l">
              <a:lnSpc>
                <a:spcPct val="105000"/>
              </a:lnSpc>
              <a:buNone/>
            </a:pPr>
            <a:r>
              <a:rPr lang="en-US" sz="950" b="1">
                <a:solidFill>
                  <a:srgbClr val="070154"/>
                </a:solidFill>
                <a:latin typeface="Arial"/>
              </a:rPr>
              <a:t>Engineering efficiency</a:t>
            </a:r>
          </a:p>
        </p:txBody>
      </p:sp>
      <p:sp>
        <p:nvSpPr>
          <p:cNvPr id="218" name="Rollout coverage 4"/>
          <p:cNvSpPr/>
          <p:nvPr/>
        </p:nvSpPr>
        <p:spPr>
          <a:xfrm>
            <a:off x="3935293" y="4455160"/>
            <a:ext cx="7785456" cy="386080"/>
          </a:xfrm>
          <a:prstGeom prst="rect">
            <a:avLst/>
          </a:prstGeom>
          <a:solidFill>
            <a:srgbClr val="0047FF"/>
          </a:solidFill>
          <a:ln>
            <a:noFill/>
          </a:ln>
        </p:spPr>
        <p:txBody>
          <a:bodyPr wrap="square" lIns="76200" tIns="25400" rIns="76200" bIns="25400" anchor="ctr">
            <a:noAutofit/>
          </a:bodyPr>
          <a:lstStyle/>
          <a:p>
            <a:pPr algn="l">
              <a:lnSpc>
                <a:spcPct val="105000"/>
              </a:lnSpc>
              <a:buNone/>
            </a:pPr>
            <a:r>
              <a:rPr lang="en-US" sz="1000" b="1">
                <a:solidFill>
                  <a:srgbClr val="FFFFFF"/>
                </a:solidFill>
                <a:latin typeface="Arial"/>
              </a:rPr>
              <a:t>Reduce delivery friction and improve engineering handoffs across the rest of the lifecycle</a:t>
            </a:r>
          </a:p>
        </p:txBody>
      </p:sp>
      <p:sp>
        <p:nvSpPr>
          <p:cNvPr id="219" name="Rollout phase 5"/>
          <p:cNvSpPr/>
          <p:nvPr/>
        </p:nvSpPr>
        <p:spPr>
          <a:xfrm>
            <a:off x="457200" y="4914900"/>
            <a:ext cx="1850390" cy="381000"/>
          </a:xfrm>
          <a:prstGeom prst="rect">
            <a:avLst/>
          </a:prstGeom>
          <a:solidFill>
            <a:srgbClr val="E8EEF8"/>
          </a:solidFill>
          <a:ln>
            <a:noFill/>
          </a:ln>
        </p:spPr>
        <p:txBody>
          <a:bodyPr wrap="square" lIns="76200" tIns="25400" rIns="76200" bIns="25400" anchor="ctr">
            <a:noAutofit/>
          </a:bodyPr>
          <a:lstStyle/>
          <a:p>
            <a:pPr algn="l">
              <a:lnSpc>
                <a:spcPct val="105000"/>
              </a:lnSpc>
              <a:buNone/>
            </a:pPr>
            <a:r>
              <a:rPr lang="en-US" sz="950" b="1">
                <a:solidFill>
                  <a:srgbClr val="070154"/>
                </a:solidFill>
                <a:latin typeface="Arial"/>
              </a:rPr>
              <a:t>IN PARALLEL</a:t>
            </a:r>
          </a:p>
          <a:p>
            <a:pPr algn="l">
              <a:lnSpc>
                <a:spcPct val="105000"/>
              </a:lnSpc>
              <a:buNone/>
            </a:pPr>
            <a:r>
              <a:rPr lang="en-US" sz="950" b="1">
                <a:solidFill>
                  <a:srgbClr val="070154"/>
                </a:solidFill>
                <a:latin typeface="Arial"/>
              </a:rPr>
              <a:t>Business strategy</a:t>
            </a:r>
          </a:p>
        </p:txBody>
      </p:sp>
      <p:sp>
        <p:nvSpPr>
          <p:cNvPr id="220" name="Rollout coverage 5"/>
          <p:cNvSpPr/>
          <p:nvPr/>
        </p:nvSpPr>
        <p:spPr>
          <a:xfrm>
            <a:off x="2372360" y="4925060"/>
            <a:ext cx="3096656" cy="360680"/>
          </a:xfrm>
          <a:prstGeom prst="rect">
            <a:avLst/>
          </a:prstGeom>
          <a:solidFill>
            <a:srgbClr val="DCE4F0"/>
          </a:solidFill>
          <a:ln>
            <a:noFill/>
          </a:ln>
        </p:spPr>
        <p:txBody>
          <a:bodyPr wrap="square" lIns="76200" tIns="25400" rIns="76200" bIns="25400" anchor="ctr">
            <a:noAutofit/>
          </a:bodyPr>
          <a:lstStyle/>
          <a:p>
            <a:pPr algn="l">
              <a:lnSpc>
                <a:spcPct val="105000"/>
              </a:lnSpc>
              <a:buNone/>
            </a:pPr>
            <a:r>
              <a:rPr lang="en-US" sz="1000" b="1">
                <a:solidFill>
                  <a:srgbClr val="070154"/>
                </a:solidFill>
                <a:latin typeface="Arial"/>
              </a:rPr>
              <a:t>Develop the new business strategy</a:t>
            </a:r>
          </a:p>
        </p:txBody>
      </p:sp>
      <p:sp>
        <p:nvSpPr>
          <p:cNvPr id="221" name="Rollout phase 6"/>
          <p:cNvSpPr/>
          <p:nvPr/>
        </p:nvSpPr>
        <p:spPr>
          <a:xfrm>
            <a:off x="457200" y="5359400"/>
            <a:ext cx="1850390" cy="393700"/>
          </a:xfrm>
          <a:prstGeom prst="rect">
            <a:avLst/>
          </a:prstGeom>
          <a:solidFill>
            <a:srgbClr val="E8EEF8"/>
          </a:solidFill>
          <a:ln>
            <a:noFill/>
          </a:ln>
        </p:spPr>
        <p:txBody>
          <a:bodyPr wrap="square" lIns="76200" tIns="25400" rIns="76200" bIns="25400" anchor="ctr">
            <a:noAutofit/>
          </a:bodyPr>
          <a:lstStyle/>
          <a:p>
            <a:pPr algn="l">
              <a:lnSpc>
                <a:spcPct val="105000"/>
              </a:lnSpc>
              <a:buNone/>
            </a:pPr>
            <a:r>
              <a:rPr lang="en-US" sz="950" b="1">
                <a:solidFill>
                  <a:srgbClr val="070154"/>
                </a:solidFill>
                <a:latin typeface="Arial"/>
              </a:rPr>
              <a:t>JANUARY</a:t>
            </a:r>
          </a:p>
          <a:p>
            <a:pPr algn="l">
              <a:lnSpc>
                <a:spcPct val="105000"/>
              </a:lnSpc>
              <a:buNone/>
            </a:pPr>
            <a:r>
              <a:rPr lang="en-US" sz="950" b="1">
                <a:solidFill>
                  <a:srgbClr val="070154"/>
                </a:solidFill>
                <a:latin typeface="Arial"/>
              </a:rPr>
              <a:t>Strategy integration</a:t>
            </a:r>
          </a:p>
        </p:txBody>
      </p:sp>
      <p:sp>
        <p:nvSpPr>
          <p:cNvPr id="222" name="Rollout coverage 6"/>
          <p:cNvSpPr/>
          <p:nvPr/>
        </p:nvSpPr>
        <p:spPr>
          <a:xfrm>
            <a:off x="2372360" y="5369560"/>
            <a:ext cx="9348389" cy="373380"/>
          </a:xfrm>
          <a:prstGeom prst="rect">
            <a:avLst/>
          </a:prstGeom>
          <a:solidFill>
            <a:srgbClr val="070154"/>
          </a:solidFill>
          <a:ln>
            <a:noFill/>
          </a:ln>
        </p:spPr>
        <p:txBody>
          <a:bodyPr wrap="square" lIns="76200" tIns="25400" rIns="76200" bIns="25400" anchor="ctr">
            <a:noAutofit/>
          </a:bodyPr>
          <a:lstStyle/>
          <a:p>
            <a:pPr algn="l">
              <a:lnSpc>
                <a:spcPct val="105000"/>
              </a:lnSpc>
              <a:buNone/>
            </a:pPr>
            <a:r>
              <a:rPr lang="en-US" sz="1000" b="1">
                <a:solidFill>
                  <a:srgbClr val="FFFFFF"/>
                </a:solidFill>
                <a:latin typeface="Arial"/>
              </a:rPr>
              <a:t>Refresh outcomes and roadmaps, then execute the new business strategy through the upgraded process</a:t>
            </a:r>
          </a:p>
        </p:txBody>
      </p:sp>
      <p:sp>
        <p:nvSpPr>
          <p:cNvPr id="4" name="Rectangle 3">
            <a:extLst>
              <a:ext uri="{FF2B5EF4-FFF2-40B4-BE49-F238E27FC236}">
                <a16:creationId xmlns:a16="http://schemas.microsoft.com/office/drawing/2014/main" id="{03AEBAB7-1800-027C-3E12-61D85EAC6416}"/>
              </a:ext>
            </a:extLst>
          </p:cNvPr>
          <p:cNvSpPr/>
          <p:nvPr/>
        </p:nvSpPr>
        <p:spPr>
          <a:xfrm>
            <a:off x="10451025" y="822960"/>
            <a:ext cx="152400" cy="152400"/>
          </a:xfrm>
          <a:prstGeom prst="rect">
            <a:avLst/>
          </a:prstGeom>
          <a:solidFill>
            <a:srgbClr val="070154"/>
          </a:solidFill>
          <a:ln>
            <a:noFill/>
          </a:ln>
        </p:spPr>
        <p:txBody>
          <a:bodyPr wrap="square" lIns="76200" tIns="25400" rIns="76200" bIns="25400" anchor="ctr">
            <a:noAutofit/>
          </a:bodyPr>
          <a:lstStyle/>
          <a:p>
            <a:pPr>
              <a:lnSpc>
                <a:spcPct val="105000"/>
              </a:lnSpc>
            </a:pPr>
            <a:endParaRPr lang="en-US" sz="1080" b="1">
              <a:solidFill>
                <a:srgbClr val="FFFFFF"/>
              </a:solidFill>
              <a:latin typeface="Arial"/>
            </a:endParaRPr>
          </a:p>
        </p:txBody>
      </p:sp>
      <p:sp>
        <p:nvSpPr>
          <p:cNvPr id="5" name="TextBox 4">
            <a:extLst>
              <a:ext uri="{FF2B5EF4-FFF2-40B4-BE49-F238E27FC236}">
                <a16:creationId xmlns:a16="http://schemas.microsoft.com/office/drawing/2014/main" id="{36BFB49B-0FF5-D553-06D1-0A59F6647B27}"/>
              </a:ext>
            </a:extLst>
          </p:cNvPr>
          <p:cNvSpPr txBox="1"/>
          <p:nvPr/>
        </p:nvSpPr>
        <p:spPr>
          <a:xfrm>
            <a:off x="10603425" y="762005"/>
            <a:ext cx="670376" cy="261610"/>
          </a:xfrm>
          <a:prstGeom prst="rect">
            <a:avLst/>
          </a:prstGeom>
          <a:noFill/>
        </p:spPr>
        <p:txBody>
          <a:bodyPr wrap="none" rtlCol="0">
            <a:spAutoFit/>
          </a:bodyPr>
          <a:lstStyle/>
          <a:p>
            <a:r>
              <a:rPr lang="en-US" sz="1050"/>
              <a:t>Product</a:t>
            </a:r>
          </a:p>
        </p:txBody>
      </p:sp>
      <p:sp>
        <p:nvSpPr>
          <p:cNvPr id="6" name="Rectangle 5">
            <a:extLst>
              <a:ext uri="{FF2B5EF4-FFF2-40B4-BE49-F238E27FC236}">
                <a16:creationId xmlns:a16="http://schemas.microsoft.com/office/drawing/2014/main" id="{52E2A15A-4C9B-F5E0-1885-DE78801EEC4E}"/>
              </a:ext>
            </a:extLst>
          </p:cNvPr>
          <p:cNvSpPr/>
          <p:nvPr/>
        </p:nvSpPr>
        <p:spPr>
          <a:xfrm>
            <a:off x="10451025" y="1076955"/>
            <a:ext cx="152400" cy="152400"/>
          </a:xfrm>
          <a:prstGeom prst="rect">
            <a:avLst/>
          </a:prstGeom>
          <a:solidFill>
            <a:srgbClr val="070154"/>
          </a:solidFill>
          <a:ln>
            <a:noFill/>
          </a:ln>
        </p:spPr>
        <p:txBody>
          <a:bodyPr wrap="square" lIns="76200" tIns="25400" rIns="76200" bIns="25400" anchor="ctr">
            <a:noAutofit/>
          </a:bodyPr>
          <a:lstStyle/>
          <a:p>
            <a:pPr>
              <a:lnSpc>
                <a:spcPct val="105000"/>
              </a:lnSpc>
            </a:pPr>
            <a:endParaRPr lang="en-US" sz="1080" b="1">
              <a:solidFill>
                <a:srgbClr val="FFFFFF"/>
              </a:solidFill>
              <a:latin typeface="Arial"/>
            </a:endParaRPr>
          </a:p>
        </p:txBody>
      </p:sp>
      <p:sp>
        <p:nvSpPr>
          <p:cNvPr id="7" name="TextBox 6">
            <a:extLst>
              <a:ext uri="{FF2B5EF4-FFF2-40B4-BE49-F238E27FC236}">
                <a16:creationId xmlns:a16="http://schemas.microsoft.com/office/drawing/2014/main" id="{93CB061B-48B4-7596-46B7-06AF01A9AC84}"/>
              </a:ext>
            </a:extLst>
          </p:cNvPr>
          <p:cNvSpPr txBox="1"/>
          <p:nvPr/>
        </p:nvSpPr>
        <p:spPr>
          <a:xfrm>
            <a:off x="10603425" y="1016000"/>
            <a:ext cx="907621" cy="253916"/>
          </a:xfrm>
          <a:prstGeom prst="rect">
            <a:avLst/>
          </a:prstGeom>
          <a:noFill/>
        </p:spPr>
        <p:txBody>
          <a:bodyPr wrap="none" rtlCol="0">
            <a:spAutoFit/>
          </a:bodyPr>
          <a:lstStyle/>
          <a:p>
            <a:r>
              <a:rPr lang="en-US" sz="1050"/>
              <a:t>Engineering</a:t>
            </a:r>
          </a:p>
        </p:txBody>
      </p:sp>
      <p:sp>
        <p:nvSpPr>
          <p:cNvPr id="8" name="Rectangle 7">
            <a:extLst>
              <a:ext uri="{FF2B5EF4-FFF2-40B4-BE49-F238E27FC236}">
                <a16:creationId xmlns:a16="http://schemas.microsoft.com/office/drawing/2014/main" id="{62D32CB9-C06A-5F3A-E0C2-89E79920C9B8}"/>
              </a:ext>
            </a:extLst>
          </p:cNvPr>
          <p:cNvSpPr/>
          <p:nvPr/>
        </p:nvSpPr>
        <p:spPr>
          <a:xfrm>
            <a:off x="10451025" y="1069336"/>
            <a:ext cx="152400" cy="152400"/>
          </a:xfrm>
          <a:prstGeom prst="rect">
            <a:avLst/>
          </a:prstGeom>
          <a:solidFill>
            <a:srgbClr val="0047FF"/>
          </a:solidFill>
          <a:ln>
            <a:noFill/>
          </a:ln>
        </p:spPr>
        <p:txBody>
          <a:bodyPr wrap="square" lIns="76200" tIns="25400" rIns="76200" bIns="25400" anchor="ctr">
            <a:noAutofit/>
          </a:bodyPr>
          <a:lstStyle/>
          <a:p>
            <a:pPr>
              <a:lnSpc>
                <a:spcPct val="105000"/>
              </a:lnSpc>
            </a:pPr>
            <a:endParaRPr lang="en-US" sz="1000" b="1">
              <a:solidFill>
                <a:srgbClr val="FFFFFF"/>
              </a:solidFill>
              <a:latin typeface="Arial"/>
            </a:endParaRPr>
          </a:p>
        </p:txBody>
      </p:sp>
      <p:sp>
        <p:nvSpPr>
          <p:cNvPr id="10" name="Rectangle 9">
            <a:extLst>
              <a:ext uri="{FF2B5EF4-FFF2-40B4-BE49-F238E27FC236}">
                <a16:creationId xmlns:a16="http://schemas.microsoft.com/office/drawing/2014/main" id="{55BABB8A-79F4-6A65-88F3-0A3A876450E5}"/>
              </a:ext>
            </a:extLst>
          </p:cNvPr>
          <p:cNvSpPr/>
          <p:nvPr/>
        </p:nvSpPr>
        <p:spPr>
          <a:xfrm>
            <a:off x="10451025" y="1323331"/>
            <a:ext cx="152400" cy="152400"/>
          </a:xfrm>
          <a:prstGeom prst="rect">
            <a:avLst/>
          </a:prstGeom>
          <a:solidFill>
            <a:srgbClr val="DCE4F0"/>
          </a:solidFill>
          <a:ln>
            <a:noFill/>
          </a:ln>
        </p:spPr>
        <p:txBody>
          <a:bodyPr wrap="square" lIns="76200" tIns="25400" rIns="76200" bIns="25400" anchor="ctr">
            <a:noAutofit/>
          </a:bodyPr>
          <a:lstStyle/>
          <a:p>
            <a:pPr>
              <a:lnSpc>
                <a:spcPct val="105000"/>
              </a:lnSpc>
            </a:pPr>
            <a:endParaRPr lang="en-US" sz="1000" b="1">
              <a:solidFill>
                <a:srgbClr val="070154"/>
              </a:solidFill>
              <a:latin typeface="Arial"/>
            </a:endParaRPr>
          </a:p>
        </p:txBody>
      </p:sp>
      <p:sp>
        <p:nvSpPr>
          <p:cNvPr id="11" name="TextBox 10">
            <a:extLst>
              <a:ext uri="{FF2B5EF4-FFF2-40B4-BE49-F238E27FC236}">
                <a16:creationId xmlns:a16="http://schemas.microsoft.com/office/drawing/2014/main" id="{9D68223E-C7D0-E5C8-E788-CC1D6C3287B5}"/>
              </a:ext>
            </a:extLst>
          </p:cNvPr>
          <p:cNvSpPr txBox="1"/>
          <p:nvPr/>
        </p:nvSpPr>
        <p:spPr>
          <a:xfrm>
            <a:off x="10603425" y="1262376"/>
            <a:ext cx="880369" cy="253916"/>
          </a:xfrm>
          <a:prstGeom prst="rect">
            <a:avLst/>
          </a:prstGeom>
          <a:noFill/>
        </p:spPr>
        <p:txBody>
          <a:bodyPr wrap="none" rtlCol="0">
            <a:spAutoFit/>
          </a:bodyPr>
          <a:lstStyle/>
          <a:p>
            <a:r>
              <a:rPr lang="en-US" sz="1050"/>
              <a:t>Both / other</a:t>
            </a:r>
          </a:p>
        </p:txBody>
      </p:sp>
    </p:spTree>
    <p:extLst>
      <p:ext uri="{BB962C8B-B14F-4D97-AF65-F5344CB8AC3E}">
        <p14:creationId xmlns:p14="http://schemas.microsoft.com/office/powerpoint/2010/main" val="1061842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E6F7B-ED45-BD5B-AB96-99C8C1CF906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64EE937-E2B5-F56F-9C79-0185A2026776}"/>
              </a:ext>
            </a:extLst>
          </p:cNvPr>
          <p:cNvPicPr>
            <a:picLocks noChangeAspect="1"/>
          </p:cNvPicPr>
          <p:nvPr/>
        </p:nvPicPr>
        <p:blipFill>
          <a:blip r:embed="rId3"/>
          <a:stretch/>
        </p:blipFill>
        <p:spPr>
          <a:xfrm>
            <a:off x="10608469" y="171450"/>
            <a:ext cx="1071563" cy="476250"/>
          </a:xfrm>
          <a:prstGeom prst="rect">
            <a:avLst/>
          </a:prstGeom>
        </p:spPr>
      </p:pic>
      <p:sp>
        <p:nvSpPr>
          <p:cNvPr id="3" name="Rectangle 2">
            <a:extLst>
              <a:ext uri="{FF2B5EF4-FFF2-40B4-BE49-F238E27FC236}">
                <a16:creationId xmlns:a16="http://schemas.microsoft.com/office/drawing/2014/main" id="{0502EC69-AFAA-99AA-358D-BA173B5E5E7F}"/>
              </a:ext>
            </a:extLst>
          </p:cNvPr>
          <p:cNvSpPr>
            <a:spLocks noGrp="1"/>
          </p:cNvSpPr>
          <p:nvPr/>
        </p:nvSpPr>
        <p:spPr>
          <a:xfrm>
            <a:off x="457200" y="2876550"/>
            <a:ext cx="5143500" cy="1428750"/>
          </a:xfrm>
          <a:prstGeom prst="rect">
            <a:avLst/>
          </a:prstGeom>
          <a:noFill/>
          <a:ln w="0">
            <a:noFill/>
          </a:ln>
        </p:spPr>
        <p:txBody>
          <a:bodyPr anchor="t">
            <a:normAutofit/>
          </a:bodyPr>
          <a:lstStyle/>
          <a:p>
            <a:pPr>
              <a:lnSpc>
                <a:spcPct val="98000"/>
              </a:lnSpc>
              <a:buNone/>
              <a:defRPr sz="2550" b="1" i="0">
                <a:solidFill>
                  <a:srgbClr val="FFFFFF"/>
                </a:solidFill>
                <a:latin typeface="Arial"/>
                <a:ea typeface="Arial"/>
                <a:cs typeface="Arial"/>
              </a:defRPr>
            </a:pPr>
            <a:r>
              <a:rPr lang="en-US" sz="2550" b="1" i="0">
                <a:solidFill>
                  <a:srgbClr val="FFFFFF"/>
                </a:solidFill>
                <a:latin typeface="Arial"/>
                <a:ea typeface="Arial"/>
                <a:cs typeface="Arial"/>
              </a:rPr>
              <a:t>Deliverables</a:t>
            </a:r>
            <a:endParaRPr sz="2550" b="1" i="0">
              <a:solidFill>
                <a:srgbClr val="FFFFFF"/>
              </a:solidFill>
              <a:latin typeface="Arial"/>
              <a:ea typeface="Arial"/>
              <a:cs typeface="Arial"/>
            </a:endParaRPr>
          </a:p>
        </p:txBody>
      </p:sp>
      <p:sp>
        <p:nvSpPr>
          <p:cNvPr id="13" name="EyebrowAccent">
            <a:extLst>
              <a:ext uri="{FF2B5EF4-FFF2-40B4-BE49-F238E27FC236}">
                <a16:creationId xmlns:a16="http://schemas.microsoft.com/office/drawing/2014/main" id="{DCC30AC5-8EBA-7932-5BF5-7BDCF22DCB31}"/>
              </a:ext>
            </a:extLst>
          </p:cNvPr>
          <p:cNvSpPr/>
          <p:nvPr/>
        </p:nvSpPr>
        <p:spPr>
          <a:xfrm>
            <a:off x="457200" y="2711450"/>
            <a:ext cx="584200" cy="381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64617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152537C6-C0F9-4017-9689-F61F903DAB15}"/>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Three deliverables, one working structure</a:t>
            </a:r>
          </a:p>
        </p:txBody>
      </p:sp>
      <p:sp>
        <p:nvSpPr>
          <p:cNvPr id="4" name="Rectangle 3">
            <a:extLst>
              <a:ext uri="{FF2B5EF4-FFF2-40B4-BE49-F238E27FC236}">
                <a16:creationId xmlns:a16="http://schemas.microsoft.com/office/drawing/2014/main" id="{28371129-7ACB-4B53-A767-6DD3EE24D3B6}"/>
              </a:ext>
            </a:extLst>
          </p:cNvPr>
          <p:cNvSpPr>
            <a:spLocks noGrp="1"/>
          </p:cNvSpPr>
          <p:nvPr/>
        </p:nvSpPr>
        <p:spPr>
          <a:xfrm>
            <a:off x="457200" y="1790700"/>
            <a:ext cx="3429000" cy="3619500"/>
          </a:xfrm>
          <a:prstGeom prst="rect">
            <a:avLst/>
          </a:prstGeom>
          <a:solidFill>
            <a:schemeClr val="tx1"/>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5" name="Rectangle 4">
            <a:extLst>
              <a:ext uri="{FF2B5EF4-FFF2-40B4-BE49-F238E27FC236}">
                <a16:creationId xmlns:a16="http://schemas.microsoft.com/office/drawing/2014/main" id="{CF4787F2-2ADE-4F87-8591-27325A64C26D}"/>
              </a:ext>
            </a:extLst>
          </p:cNvPr>
          <p:cNvSpPr>
            <a:spLocks noGrp="1"/>
          </p:cNvSpPr>
          <p:nvPr/>
        </p:nvSpPr>
        <p:spPr>
          <a:xfrm>
            <a:off x="685800" y="2057400"/>
            <a:ext cx="571500" cy="266700"/>
          </a:xfrm>
          <a:prstGeom prst="rect">
            <a:avLst/>
          </a:prstGeom>
          <a:solidFill>
            <a:srgbClr val="0047FF"/>
          </a:solidFill>
          <a:ln w="0">
            <a:noFill/>
          </a:ln>
        </p:spPr>
        <p:txBody>
          <a:bodyPr anchor="t">
            <a:normAutofit fontScale="94650"/>
          </a:bodyPr>
          <a:lstStyle/>
          <a:p>
            <a:pP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01</a:t>
            </a:r>
          </a:p>
        </p:txBody>
      </p:sp>
      <p:sp>
        <p:nvSpPr>
          <p:cNvPr id="6" name="Rectangle 5">
            <a:extLst>
              <a:ext uri="{FF2B5EF4-FFF2-40B4-BE49-F238E27FC236}">
                <a16:creationId xmlns:a16="http://schemas.microsoft.com/office/drawing/2014/main" id="{6A229873-8B59-4663-AE0D-56E2F52A7B23}"/>
              </a:ext>
            </a:extLst>
          </p:cNvPr>
          <p:cNvSpPr>
            <a:spLocks noGrp="1"/>
          </p:cNvSpPr>
          <p:nvPr/>
        </p:nvSpPr>
        <p:spPr>
          <a:xfrm>
            <a:off x="685800" y="2571750"/>
            <a:ext cx="2952750" cy="1047750"/>
          </a:xfrm>
          <a:prstGeom prst="rect">
            <a:avLst/>
          </a:prstGeom>
          <a:noFill/>
          <a:ln w="0">
            <a:noFill/>
          </a:ln>
        </p:spPr>
        <p:txBody>
          <a:bodyPr anchor="t">
            <a:normAutofit/>
          </a:bodyPr>
          <a:lstStyle/>
          <a:p>
            <a:pPr>
              <a:lnSpc>
                <a:spcPct val="98000"/>
              </a:lnSpc>
              <a:buNone/>
              <a:defRPr sz="1725" b="1" i="0">
                <a:solidFill>
                  <a:srgbClr val="070154"/>
                </a:solidFill>
                <a:latin typeface="Arial"/>
                <a:ea typeface="Arial"/>
                <a:cs typeface="Arial"/>
              </a:defRPr>
            </a:pPr>
            <a:r>
              <a:rPr lang="en-US" sz="1725" b="1" i="0">
                <a:solidFill>
                  <a:schemeClr val="bg1"/>
                </a:solidFill>
                <a:latin typeface="Arial"/>
                <a:ea typeface="Arial"/>
                <a:cs typeface="Arial"/>
              </a:rPr>
              <a:t>Validated Product and R&amp;D Practices Map</a:t>
            </a:r>
          </a:p>
        </p:txBody>
      </p:sp>
      <p:sp>
        <p:nvSpPr>
          <p:cNvPr id="7" name="Rectangle 6">
            <a:extLst>
              <a:ext uri="{FF2B5EF4-FFF2-40B4-BE49-F238E27FC236}">
                <a16:creationId xmlns:a16="http://schemas.microsoft.com/office/drawing/2014/main" id="{78904DBA-0549-4142-ACB2-F1DC69433D7B}"/>
              </a:ext>
            </a:extLst>
          </p:cNvPr>
          <p:cNvSpPr>
            <a:spLocks noGrp="1"/>
          </p:cNvSpPr>
          <p:nvPr/>
        </p:nvSpPr>
        <p:spPr>
          <a:xfrm>
            <a:off x="685800" y="3943350"/>
            <a:ext cx="2952750" cy="952500"/>
          </a:xfrm>
          <a:prstGeom prst="rect">
            <a:avLst/>
          </a:prstGeom>
          <a:noFill/>
          <a:ln w="0">
            <a:noFill/>
          </a:ln>
        </p:spPr>
        <p:txBody>
          <a:bodyPr anchor="t">
            <a:normAutofit/>
          </a:bodyPr>
          <a:lstStyle/>
          <a:p>
            <a:pPr>
              <a:lnSpc>
                <a:spcPct val="110000"/>
              </a:lnSpc>
              <a:buNone/>
              <a:defRPr sz="1200" b="0" i="0">
                <a:solidFill>
                  <a:srgbClr val="50658E"/>
                </a:solidFill>
                <a:latin typeface="Arial"/>
                <a:ea typeface="Arial"/>
                <a:cs typeface="Arial"/>
              </a:defRPr>
            </a:pPr>
            <a:r>
              <a:rPr lang="en-US" sz="1200" b="0" i="0">
                <a:solidFill>
                  <a:schemeClr val="bg1"/>
                </a:solidFill>
                <a:latin typeface="Arial"/>
                <a:ea typeface="Arial"/>
                <a:cs typeface="Arial"/>
              </a:rPr>
              <a:t>A maturity-based view of observed strengths, gaps, and opportunities.</a:t>
            </a:r>
          </a:p>
        </p:txBody>
      </p:sp>
      <p:sp>
        <p:nvSpPr>
          <p:cNvPr id="8" name="Rectangle 7">
            <a:extLst>
              <a:ext uri="{FF2B5EF4-FFF2-40B4-BE49-F238E27FC236}">
                <a16:creationId xmlns:a16="http://schemas.microsoft.com/office/drawing/2014/main" id="{DD97A23C-25C0-4277-995E-65D9DB372A48}"/>
              </a:ext>
            </a:extLst>
          </p:cNvPr>
          <p:cNvSpPr>
            <a:spLocks noGrp="1"/>
          </p:cNvSpPr>
          <p:nvPr/>
        </p:nvSpPr>
        <p:spPr>
          <a:xfrm>
            <a:off x="4210050" y="1790700"/>
            <a:ext cx="3429000" cy="36195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9" name="Rectangle 8">
            <a:extLst>
              <a:ext uri="{FF2B5EF4-FFF2-40B4-BE49-F238E27FC236}">
                <a16:creationId xmlns:a16="http://schemas.microsoft.com/office/drawing/2014/main" id="{3BD94D3E-B0A1-4354-9962-8EA1B5E2383A}"/>
              </a:ext>
            </a:extLst>
          </p:cNvPr>
          <p:cNvSpPr>
            <a:spLocks noGrp="1"/>
          </p:cNvSpPr>
          <p:nvPr/>
        </p:nvSpPr>
        <p:spPr>
          <a:xfrm>
            <a:off x="4438650" y="2057400"/>
            <a:ext cx="571500" cy="266700"/>
          </a:xfrm>
          <a:prstGeom prst="rect">
            <a:avLst/>
          </a:prstGeom>
          <a:solidFill>
            <a:srgbClr val="0047FF"/>
          </a:solidFill>
          <a:ln w="0">
            <a:noFill/>
          </a:ln>
        </p:spPr>
        <p:txBody>
          <a:bodyPr anchor="t">
            <a:normAutofit fontScale="94650"/>
          </a:bodyPr>
          <a:lstStyle/>
          <a:p>
            <a:pPr>
              <a:lnSpc>
                <a:spcPct val="108000"/>
              </a:lnSpc>
            </a:pPr>
            <a:r>
              <a:rPr sz="1125" b="1">
                <a:solidFill>
                  <a:srgbClr val="FFFFFF"/>
                </a:solidFill>
                <a:latin typeface="Arial"/>
                <a:cs typeface="Arial"/>
              </a:rPr>
              <a:t>02</a:t>
            </a:r>
          </a:p>
        </p:txBody>
      </p:sp>
      <p:sp>
        <p:nvSpPr>
          <p:cNvPr id="10" name="Rectangle 9">
            <a:extLst>
              <a:ext uri="{FF2B5EF4-FFF2-40B4-BE49-F238E27FC236}">
                <a16:creationId xmlns:a16="http://schemas.microsoft.com/office/drawing/2014/main" id="{E3E6EB0F-CA49-4C80-B48A-2943BBBCA67E}"/>
              </a:ext>
            </a:extLst>
          </p:cNvPr>
          <p:cNvSpPr>
            <a:spLocks noGrp="1"/>
          </p:cNvSpPr>
          <p:nvPr/>
        </p:nvSpPr>
        <p:spPr>
          <a:xfrm>
            <a:off x="4438650" y="2571750"/>
            <a:ext cx="2952750" cy="1047750"/>
          </a:xfrm>
          <a:prstGeom prst="rect">
            <a:avLst/>
          </a:prstGeom>
          <a:noFill/>
          <a:ln w="0">
            <a:noFill/>
          </a:ln>
        </p:spPr>
        <p:txBody>
          <a:bodyPr anchor="t">
            <a:normAutofit/>
          </a:bodyPr>
          <a:lstStyle/>
          <a:p>
            <a:pPr>
              <a:lnSpc>
                <a:spcPct val="98000"/>
              </a:lnSpc>
            </a:pPr>
            <a:r>
              <a:rPr sz="1725" b="1">
                <a:solidFill>
                  <a:srgbClr val="070154"/>
                </a:solidFill>
                <a:latin typeface="Arial"/>
                <a:cs typeface="Arial"/>
              </a:rPr>
              <a:t>Activation Summary</a:t>
            </a:r>
          </a:p>
        </p:txBody>
      </p:sp>
      <p:sp>
        <p:nvSpPr>
          <p:cNvPr id="11" name="Rectangle 10">
            <a:extLst>
              <a:ext uri="{FF2B5EF4-FFF2-40B4-BE49-F238E27FC236}">
                <a16:creationId xmlns:a16="http://schemas.microsoft.com/office/drawing/2014/main" id="{51D70DEF-2624-4A26-8A5C-6E77802CBAD7}"/>
              </a:ext>
            </a:extLst>
          </p:cNvPr>
          <p:cNvSpPr>
            <a:spLocks noGrp="1"/>
          </p:cNvSpPr>
          <p:nvPr/>
        </p:nvSpPr>
        <p:spPr>
          <a:xfrm>
            <a:off x="4438650" y="3943350"/>
            <a:ext cx="2952750" cy="952500"/>
          </a:xfrm>
          <a:prstGeom prst="rect">
            <a:avLst/>
          </a:prstGeom>
          <a:noFill/>
          <a:ln w="0">
            <a:noFill/>
          </a:ln>
        </p:spPr>
        <p:txBody>
          <a:bodyPr anchor="t">
            <a:normAutofit/>
          </a:bodyPr>
          <a:lstStyle/>
          <a:p>
            <a:pPr>
              <a:lnSpc>
                <a:spcPct val="110000"/>
              </a:lnSpc>
            </a:pPr>
            <a:r>
              <a:rPr sz="1200">
                <a:solidFill>
                  <a:srgbClr val="50658E"/>
                </a:solidFill>
                <a:latin typeface="Arial"/>
                <a:cs typeface="Arial"/>
              </a:rPr>
              <a:t>A record of bounded changes tested in live work, early signals, and the activation playbook.</a:t>
            </a:r>
          </a:p>
        </p:txBody>
      </p:sp>
      <p:sp>
        <p:nvSpPr>
          <p:cNvPr id="12" name="Rectangle 11">
            <a:extLst>
              <a:ext uri="{FF2B5EF4-FFF2-40B4-BE49-F238E27FC236}">
                <a16:creationId xmlns:a16="http://schemas.microsoft.com/office/drawing/2014/main" id="{DEE5E8AB-E3EF-4A41-82D9-5534D2A860F5}"/>
              </a:ext>
            </a:extLst>
          </p:cNvPr>
          <p:cNvSpPr>
            <a:spLocks noGrp="1"/>
          </p:cNvSpPr>
          <p:nvPr/>
        </p:nvSpPr>
        <p:spPr>
          <a:xfrm>
            <a:off x="7962900" y="1790700"/>
            <a:ext cx="3429000" cy="36195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13" name="Rectangle 12">
            <a:extLst>
              <a:ext uri="{FF2B5EF4-FFF2-40B4-BE49-F238E27FC236}">
                <a16:creationId xmlns:a16="http://schemas.microsoft.com/office/drawing/2014/main" id="{A3E15FBC-2395-49D9-B3C4-B61630CCD051}"/>
              </a:ext>
            </a:extLst>
          </p:cNvPr>
          <p:cNvSpPr>
            <a:spLocks noGrp="1"/>
          </p:cNvSpPr>
          <p:nvPr/>
        </p:nvSpPr>
        <p:spPr>
          <a:xfrm>
            <a:off x="8191500" y="2057400"/>
            <a:ext cx="571500" cy="266700"/>
          </a:xfrm>
          <a:prstGeom prst="rect">
            <a:avLst/>
          </a:prstGeom>
          <a:solidFill>
            <a:srgbClr val="0047FF"/>
          </a:solidFill>
          <a:ln w="0">
            <a:noFill/>
          </a:ln>
        </p:spPr>
        <p:txBody>
          <a:bodyPr anchor="t">
            <a:normAutofit fontScale="94650"/>
          </a:bodyPr>
          <a:lstStyle/>
          <a:p>
            <a:pP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03</a:t>
            </a:r>
          </a:p>
        </p:txBody>
      </p:sp>
      <p:sp>
        <p:nvSpPr>
          <p:cNvPr id="14" name="Rectangle 13">
            <a:extLst>
              <a:ext uri="{FF2B5EF4-FFF2-40B4-BE49-F238E27FC236}">
                <a16:creationId xmlns:a16="http://schemas.microsoft.com/office/drawing/2014/main" id="{F76CB00B-AE84-434F-BCAF-6E45D6BB6F0C}"/>
              </a:ext>
            </a:extLst>
          </p:cNvPr>
          <p:cNvSpPr>
            <a:spLocks noGrp="1"/>
          </p:cNvSpPr>
          <p:nvPr/>
        </p:nvSpPr>
        <p:spPr>
          <a:xfrm>
            <a:off x="8191500" y="2571750"/>
            <a:ext cx="2952750" cy="1047750"/>
          </a:xfrm>
          <a:prstGeom prst="rect">
            <a:avLst/>
          </a:prstGeom>
          <a:noFill/>
          <a:ln w="0">
            <a:noFill/>
          </a:ln>
        </p:spPr>
        <p:txBody>
          <a:bodyPr anchor="t">
            <a:normAutofit/>
          </a:bodyPr>
          <a:lstStyle/>
          <a:p>
            <a:pPr>
              <a:lnSpc>
                <a:spcPct val="98000"/>
              </a:lnSpc>
              <a:buNone/>
              <a:defRPr sz="1725" b="1" i="0">
                <a:solidFill>
                  <a:srgbClr val="070154"/>
                </a:solidFill>
                <a:latin typeface="Arial"/>
                <a:ea typeface="Arial"/>
                <a:cs typeface="Arial"/>
              </a:defRPr>
            </a:pPr>
            <a:r>
              <a:rPr sz="1725" b="1" i="0">
                <a:solidFill>
                  <a:srgbClr val="070154"/>
                </a:solidFill>
                <a:latin typeface="Arial"/>
                <a:ea typeface="Arial"/>
                <a:cs typeface="Arial"/>
              </a:rPr>
              <a:t>Prioritized Operating Model Recommendations and Activation Roadmap</a:t>
            </a:r>
          </a:p>
        </p:txBody>
      </p:sp>
      <p:sp>
        <p:nvSpPr>
          <p:cNvPr id="15" name="Rectangle 14">
            <a:extLst>
              <a:ext uri="{FF2B5EF4-FFF2-40B4-BE49-F238E27FC236}">
                <a16:creationId xmlns:a16="http://schemas.microsoft.com/office/drawing/2014/main" id="{9EE647EA-B2B2-4458-9822-8D6A58AD9DAF}"/>
              </a:ext>
            </a:extLst>
          </p:cNvPr>
          <p:cNvSpPr>
            <a:spLocks noGrp="1"/>
          </p:cNvSpPr>
          <p:nvPr/>
        </p:nvSpPr>
        <p:spPr>
          <a:xfrm>
            <a:off x="8191500" y="3943350"/>
            <a:ext cx="2952750" cy="952500"/>
          </a:xfrm>
          <a:prstGeom prst="rect">
            <a:avLst/>
          </a:prstGeom>
          <a:noFill/>
          <a:ln w="0">
            <a:noFill/>
          </a:ln>
        </p:spPr>
        <p:txBody>
          <a:bodyPr anchor="t">
            <a:normAutofit/>
          </a:bodyPr>
          <a:lstStyle/>
          <a:p>
            <a:pPr>
              <a:lnSpc>
                <a:spcPct val="110000"/>
              </a:lnSpc>
              <a:buNone/>
              <a:defRPr sz="1200" b="0" i="0">
                <a:solidFill>
                  <a:srgbClr val="50658E"/>
                </a:solidFill>
                <a:latin typeface="Arial"/>
                <a:ea typeface="Arial"/>
                <a:cs typeface="Arial"/>
              </a:defRPr>
            </a:pPr>
            <a:r>
              <a:rPr sz="1200" b="0" i="0">
                <a:solidFill>
                  <a:srgbClr val="50658E"/>
                </a:solidFill>
                <a:latin typeface="Arial"/>
                <a:ea typeface="Arial"/>
                <a:cs typeface="Arial"/>
              </a:rPr>
              <a:t>Recommended practices, decision rights, roles, measures, feedback loops, owners, and dependencies.</a:t>
            </a:r>
          </a:p>
        </p:txBody>
      </p:sp>
      <p:sp>
        <p:nvSpPr>
          <p:cNvPr id="16" name="Rectangle 15">
            <a:extLst>
              <a:ext uri="{FF2B5EF4-FFF2-40B4-BE49-F238E27FC236}">
                <a16:creationId xmlns:a16="http://schemas.microsoft.com/office/drawing/2014/main" id="{FC26DD67-E884-4909-8A6C-F23B5A66007D}"/>
              </a:ext>
            </a:extLst>
          </p:cNvPr>
          <p:cNvSpPr>
            <a:spLocks noGrp="1"/>
          </p:cNvSpPr>
          <p:nvPr/>
        </p:nvSpPr>
        <p:spPr>
          <a:xfrm>
            <a:off x="457200" y="5734050"/>
            <a:ext cx="10668000" cy="4000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Working inputs already surfaced: internal signals, opportunity briefs, PRDs, feature briefs, epics, implementation plans, agentic delivery patterns, and early interview themes.</a:t>
            </a:r>
          </a:p>
        </p:txBody>
      </p:sp>
      <p:sp>
        <p:nvSpPr>
          <p:cNvPr id="101" name="Accent Bar 1"/>
          <p:cNvSpPr/>
          <p:nvPr/>
        </p:nvSpPr>
        <p:spPr>
          <a:xfrm>
            <a:off x="457200" y="1790700"/>
            <a:ext cx="3429000" cy="63500"/>
          </a:xfrm>
          <a:prstGeom prst="rect">
            <a:avLst/>
          </a:prstGeom>
          <a:solidFill>
            <a:srgbClr val="00E8FA"/>
          </a:solidFill>
          <a:ln>
            <a:noFill/>
          </a:ln>
        </p:spPr>
        <p:txBody>
          <a:bodyPr/>
          <a:lstStyle/>
          <a:p>
            <a:endParaRPr/>
          </a:p>
        </p:txBody>
      </p:sp>
      <p:sp>
        <p:nvSpPr>
          <p:cNvPr id="102" name="Accent Bar 2"/>
          <p:cNvSpPr/>
          <p:nvPr/>
        </p:nvSpPr>
        <p:spPr>
          <a:xfrm>
            <a:off x="4216400" y="1790700"/>
            <a:ext cx="3429000" cy="63500"/>
          </a:xfrm>
          <a:prstGeom prst="rect">
            <a:avLst/>
          </a:prstGeom>
          <a:solidFill>
            <a:srgbClr val="F900D3"/>
          </a:solidFill>
          <a:ln>
            <a:noFill/>
          </a:ln>
        </p:spPr>
        <p:txBody>
          <a:bodyPr/>
          <a:lstStyle/>
          <a:p>
            <a:endParaRPr/>
          </a:p>
        </p:txBody>
      </p:sp>
      <p:sp>
        <p:nvSpPr>
          <p:cNvPr id="103" name="Accent Bar 3"/>
          <p:cNvSpPr/>
          <p:nvPr/>
        </p:nvSpPr>
        <p:spPr>
          <a:xfrm>
            <a:off x="7962900" y="1790700"/>
            <a:ext cx="3429000" cy="63500"/>
          </a:xfrm>
          <a:prstGeom prst="rect">
            <a:avLst/>
          </a:prstGeom>
          <a:solidFill>
            <a:srgbClr val="00A3FF"/>
          </a:solidFill>
          <a:ln>
            <a:noFill/>
          </a:ln>
        </p:spPr>
        <p:txBody>
          <a:bodyPr/>
          <a:lstStyle/>
          <a:p>
            <a:endParaRPr/>
          </a:p>
        </p:txBody>
      </p:sp>
      <p:sp>
        <p:nvSpPr>
          <p:cNvPr id="26" name="Footer Placeholder 1">
            <a:extLst>
              <a:ext uri="{FF2B5EF4-FFF2-40B4-BE49-F238E27FC236}">
                <a16:creationId xmlns:a16="http://schemas.microsoft.com/office/drawing/2014/main" id="{C015E3FC-4237-B9DF-48FE-006A4F2B60A0}"/>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27" name="Slide Number Placeholder 2">
            <a:extLst>
              <a:ext uri="{FF2B5EF4-FFF2-40B4-BE49-F238E27FC236}">
                <a16:creationId xmlns:a16="http://schemas.microsoft.com/office/drawing/2014/main" id="{68C42D70-62EF-50FF-D76A-B913CED83FA4}"/>
              </a:ext>
            </a:extLst>
          </p:cNvPr>
          <p:cNvSpPr>
            <a:spLocks noGrp="1"/>
          </p:cNvSpPr>
          <p:nvPr>
            <p:ph type="sldNum" idx="11"/>
          </p:nvPr>
        </p:nvSpPr>
        <p:spPr>
          <a:xfrm>
            <a:off x="11509578" y="6400799"/>
            <a:ext cx="218871" cy="167949"/>
          </a:xfrm>
        </p:spPr>
        <p:txBody>
          <a:bodyPr/>
          <a:lstStyle/>
          <a:p>
            <a:fld id="{63DCA5C9-2E11-4C67-86EB-AE1DE127DC64}" type="slidenum">
              <a:rPr lang="en-US" smtClean="0"/>
              <a:t>10</a:t>
            </a:fld>
            <a:endParaRPr lang="en-US"/>
          </a:p>
        </p:txBody>
      </p:sp>
    </p:spTree>
    <p:extLst>
      <p:ext uri="{BB962C8B-B14F-4D97-AF65-F5344CB8AC3E}">
        <p14:creationId xmlns:p14="http://schemas.microsoft.com/office/powerpoint/2010/main" val="1891011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DBCF0-859C-B860-7517-E7937CD2BDD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2D363F0-4E6F-1B12-A332-66571E9B347D}"/>
              </a:ext>
            </a:extLst>
          </p:cNvPr>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0E74B901-2646-19C5-D20D-B6CC488AFBBE}"/>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Practices Map</a:t>
            </a:r>
          </a:p>
        </p:txBody>
      </p:sp>
      <p:sp>
        <p:nvSpPr>
          <p:cNvPr id="3" name="Rectangle 2">
            <a:extLst>
              <a:ext uri="{FF2B5EF4-FFF2-40B4-BE49-F238E27FC236}">
                <a16:creationId xmlns:a16="http://schemas.microsoft.com/office/drawing/2014/main" id="{3F1C8301-15AD-43B1-291E-73003C5A5991}"/>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b="0" i="0">
                <a:solidFill>
                  <a:srgbClr val="50658E"/>
                </a:solidFill>
                <a:latin typeface="Arial"/>
                <a:ea typeface="Arial"/>
                <a:cs typeface="Arial"/>
              </a:rPr>
              <a:t>Current state of practices across the PDLC</a:t>
            </a:r>
            <a:endParaRPr sz="1275" b="0" i="0">
              <a:solidFill>
                <a:srgbClr val="50658E"/>
              </a:solidFill>
              <a:latin typeface="Arial"/>
              <a:ea typeface="Arial"/>
              <a:cs typeface="Arial"/>
            </a:endParaRPr>
          </a:p>
        </p:txBody>
      </p:sp>
      <p:sp>
        <p:nvSpPr>
          <p:cNvPr id="4" name="Rectangle 3">
            <a:extLst>
              <a:ext uri="{FF2B5EF4-FFF2-40B4-BE49-F238E27FC236}">
                <a16:creationId xmlns:a16="http://schemas.microsoft.com/office/drawing/2014/main" id="{DA7AEC27-37B4-D51B-A1D9-375C95DE96A3}"/>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01</a:t>
            </a:r>
          </a:p>
        </p:txBody>
      </p:sp>
      <p:graphicFrame>
        <p:nvGraphicFramePr>
          <p:cNvPr id="11" name="Table 10">
            <a:extLst>
              <a:ext uri="{FF2B5EF4-FFF2-40B4-BE49-F238E27FC236}">
                <a16:creationId xmlns:a16="http://schemas.microsoft.com/office/drawing/2014/main" id="{A767A661-DFE0-1EA7-E926-829EE9E71663}"/>
              </a:ext>
            </a:extLst>
          </p:cNvPr>
          <p:cNvGraphicFramePr/>
          <p:nvPr>
            <p:extLst>
              <p:ext uri="{D42A27DB-BD31-4B8C-83A1-F6EECF244321}">
                <p14:modId xmlns:p14="http://schemas.microsoft.com/office/powerpoint/2010/main" val="711788585"/>
              </p:ext>
            </p:extLst>
          </p:nvPr>
        </p:nvGraphicFramePr>
        <p:xfrm>
          <a:off x="457200" y="1752600"/>
          <a:ext cx="11277602" cy="3857620"/>
        </p:xfrm>
        <a:graphic>
          <a:graphicData uri="http://schemas.openxmlformats.org/drawingml/2006/table">
            <a:tbl>
              <a:tblPr/>
              <a:tblGrid>
                <a:gridCol w="1611086">
                  <a:extLst>
                    <a:ext uri="{9D8B030D-6E8A-4147-A177-3AD203B41FA5}">
                      <a16:colId xmlns:a16="http://schemas.microsoft.com/office/drawing/2014/main" val="20000"/>
                    </a:ext>
                  </a:extLst>
                </a:gridCol>
                <a:gridCol w="1611086">
                  <a:extLst>
                    <a:ext uri="{9D8B030D-6E8A-4147-A177-3AD203B41FA5}">
                      <a16:colId xmlns:a16="http://schemas.microsoft.com/office/drawing/2014/main" val="20001"/>
                    </a:ext>
                  </a:extLst>
                </a:gridCol>
                <a:gridCol w="1611086">
                  <a:extLst>
                    <a:ext uri="{9D8B030D-6E8A-4147-A177-3AD203B41FA5}">
                      <a16:colId xmlns:a16="http://schemas.microsoft.com/office/drawing/2014/main" val="20003"/>
                    </a:ext>
                  </a:extLst>
                </a:gridCol>
                <a:gridCol w="1611086">
                  <a:extLst>
                    <a:ext uri="{9D8B030D-6E8A-4147-A177-3AD203B41FA5}">
                      <a16:colId xmlns:a16="http://schemas.microsoft.com/office/drawing/2014/main" val="20004"/>
                    </a:ext>
                  </a:extLst>
                </a:gridCol>
                <a:gridCol w="1611086">
                  <a:extLst>
                    <a:ext uri="{9D8B030D-6E8A-4147-A177-3AD203B41FA5}">
                      <a16:colId xmlns:a16="http://schemas.microsoft.com/office/drawing/2014/main" val="20005"/>
                    </a:ext>
                  </a:extLst>
                </a:gridCol>
                <a:gridCol w="1611086">
                  <a:extLst>
                    <a:ext uri="{9D8B030D-6E8A-4147-A177-3AD203B41FA5}">
                      <a16:colId xmlns:a16="http://schemas.microsoft.com/office/drawing/2014/main" val="20006"/>
                    </a:ext>
                  </a:extLst>
                </a:gridCol>
                <a:gridCol w="1611086">
                  <a:extLst>
                    <a:ext uri="{9D8B030D-6E8A-4147-A177-3AD203B41FA5}">
                      <a16:colId xmlns:a16="http://schemas.microsoft.com/office/drawing/2014/main" val="3121014364"/>
                    </a:ext>
                  </a:extLst>
                </a:gridCol>
              </a:tblGrid>
              <a:tr h="385762">
                <a:tc>
                  <a:txBody>
                    <a:bodyPr/>
                    <a:lstStyle/>
                    <a:p>
                      <a:pPr>
                        <a:lnSpc>
                          <a:spcPct val="102000"/>
                        </a:lnSpc>
                        <a:buNone/>
                      </a:pPr>
                      <a:r>
                        <a:rPr sz="975" b="1">
                          <a:solidFill>
                            <a:srgbClr val="FFFFFF"/>
                          </a:solidFill>
                          <a:latin typeface="Arial"/>
                          <a:ea typeface="Arial"/>
                          <a:cs typeface="Arial"/>
                        </a:rPr>
                        <a:t>Practice area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a:solidFill>
                            <a:srgbClr val="FFFFFF"/>
                          </a:solidFill>
                          <a:latin typeface="Arial"/>
                          <a:ea typeface="Arial"/>
                          <a:cs typeface="Arial"/>
                        </a:rPr>
                        <a:t>Identify</a:t>
                      </a:r>
                      <a:endParaRPr sz="975" b="1">
                        <a:solidFill>
                          <a:srgbClr val="FFFFFF"/>
                        </a:solidFill>
                        <a:latin typeface="Arial"/>
                        <a:ea typeface="Arial"/>
                        <a:cs typeface="Arial"/>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a:solidFill>
                            <a:srgbClr val="FFFFFF"/>
                          </a:solidFill>
                          <a:latin typeface="Arial"/>
                          <a:ea typeface="Arial"/>
                          <a:cs typeface="Arial"/>
                        </a:rPr>
                        <a:t>Define</a:t>
                      </a:r>
                      <a:endParaRPr sz="975" b="1">
                        <a:solidFill>
                          <a:srgbClr val="FFFFFF"/>
                        </a:solidFill>
                        <a:latin typeface="Arial"/>
                        <a:ea typeface="Arial"/>
                        <a:cs typeface="Arial"/>
                      </a:endParaRPr>
                    </a:p>
                  </a:txBody>
                  <a:tcPr anchor="ctr">
                    <a:lnL w="76200" cap="flat" cmpd="sng" algn="ctr">
                      <a:solidFill>
                        <a:srgbClr val="FFFFFF"/>
                      </a:solidFill>
                      <a:prstDash val="solid"/>
                      <a:round/>
                      <a:headEnd type="none" w="med" len="med"/>
                      <a:tailEnd type="none" w="med" len="med"/>
                    </a:lnL>
                    <a:lnR w="76200" cap="flat" cmpd="sng" algn="ctr">
                      <a:solidFill>
                        <a:srgbClr val="FFFFFF"/>
                      </a:solidFill>
                    </a:lnR>
                    <a:lnT w="76200" cap="flat" cmpd="sng" algn="ctr">
                      <a:solidFill>
                        <a:srgbClr val="FFFFFF"/>
                      </a:solidFill>
                    </a:lnT>
                    <a:lnB w="76200" cap="flat" cmpd="sng" algn="ctr">
                      <a:solidFill>
                        <a:srgbClr val="FFFFFF"/>
                      </a:solidFill>
                      <a:prstDash val="solid"/>
                      <a:round/>
                      <a:headEnd type="none" w="med" len="med"/>
                      <a:tailEnd type="none" w="med" len="med"/>
                    </a:lnB>
                    <a:solidFill>
                      <a:srgbClr val="070154"/>
                    </a:solidFill>
                  </a:tcPr>
                </a:tc>
                <a:tc>
                  <a:txBody>
                    <a:bodyPr/>
                    <a:lstStyle/>
                    <a:p>
                      <a:pPr>
                        <a:lnSpc>
                          <a:spcPct val="102000"/>
                        </a:lnSpc>
                        <a:buNone/>
                      </a:pPr>
                      <a:r>
                        <a:rPr sz="975" b="1">
                          <a:solidFill>
                            <a:srgbClr val="FFFFFF"/>
                          </a:solidFill>
                          <a:latin typeface="Arial"/>
                          <a:ea typeface="Arial"/>
                          <a:cs typeface="Arial"/>
                        </a:rPr>
                        <a:t>Build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sz="975" b="1">
                          <a:solidFill>
                            <a:srgbClr val="FFFFFF"/>
                          </a:solidFill>
                          <a:latin typeface="Arial"/>
                          <a:ea typeface="Arial"/>
                          <a:cs typeface="Arial"/>
                        </a:rPr>
                        <a:t>Release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sz="975" b="1">
                          <a:solidFill>
                            <a:srgbClr val="FFFFFF"/>
                          </a:solidFill>
                          <a:latin typeface="Arial"/>
                          <a:ea typeface="Arial"/>
                          <a:cs typeface="Arial"/>
                        </a:rPr>
                        <a:t>GTM</a:t>
                      </a:r>
                    </a:p>
                  </a:txBody>
                  <a:tcPr anchor="ctr">
                    <a:lnL w="76200" cap="flat" cmpd="sng" algn="ctr">
                      <a:solidFill>
                        <a:srgbClr val="FFFFFF"/>
                      </a:solidFill>
                    </a:lnL>
                    <a:lnR w="76200" cap="flat" cmpd="sng" algn="ctr">
                      <a:solidFill>
                        <a:srgbClr val="FFFFFF"/>
                      </a:solidFill>
                      <a:prstDash val="solid"/>
                      <a:round/>
                      <a:headEnd type="none" w="med" len="med"/>
                      <a:tailEnd type="none" w="med" len="med"/>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a:solidFill>
                            <a:srgbClr val="FFFFFF"/>
                          </a:solidFill>
                          <a:latin typeface="Arial"/>
                          <a:ea typeface="Arial"/>
                          <a:cs typeface="Arial"/>
                        </a:rPr>
                        <a:t>Optimize</a:t>
                      </a:r>
                      <a:endParaRPr sz="975" b="1">
                        <a:solidFill>
                          <a:srgbClr val="FFFFFF"/>
                        </a:solidFill>
                        <a:latin typeface="Arial"/>
                        <a:ea typeface="Arial"/>
                        <a:cs typeface="Arial"/>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prstDash val="solid"/>
                      <a:round/>
                      <a:headEnd type="none" w="med" len="med"/>
                      <a:tailEnd type="none" w="med" len="med"/>
                    </a:lnB>
                    <a:solidFill>
                      <a:srgbClr val="070154"/>
                    </a:solidFill>
                  </a:tcPr>
                </a:tc>
                <a:extLst>
                  <a:ext uri="{0D108BD9-81ED-4DB2-BD59-A6C34878D82A}">
                    <a16:rowId xmlns:a16="http://schemas.microsoft.com/office/drawing/2014/main" val="10000"/>
                  </a:ext>
                </a:extLst>
              </a:tr>
              <a:tr h="385762">
                <a:tc>
                  <a:txBody>
                    <a:bodyPr/>
                    <a:lstStyle/>
                    <a:p>
                      <a:pPr>
                        <a:lnSpc>
                          <a:spcPct val="102000"/>
                        </a:lnSpc>
                        <a:buNone/>
                      </a:pPr>
                      <a:r>
                        <a:rPr sz="900" b="0">
                          <a:solidFill>
                            <a:srgbClr val="070154"/>
                          </a:solidFill>
                          <a:latin typeface="Arial"/>
                          <a:ea typeface="Arial"/>
                          <a:cs typeface="Arial"/>
                        </a:rPr>
                        <a:t>Customer evidence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prstDash val="solid"/>
                      <a:round/>
                      <a:headEnd type="none" w="med" len="med"/>
                      <a:tailEnd type="none" w="med" len="med"/>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prstDash val="solid"/>
                      <a:round/>
                      <a:headEnd type="none" w="med" len="med"/>
                      <a:tailEnd type="none" w="med" len="med"/>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a:solidFill>
                            <a:srgbClr val="8B6500"/>
                          </a:solidFill>
                          <a:latin typeface="Arial"/>
                          <a:ea typeface="Arial"/>
                          <a:cs typeface="Arial"/>
                        </a:rPr>
                        <a:t>-</a:t>
                      </a:r>
                      <a:endParaRPr sz="900" b="0">
                        <a:solidFill>
                          <a:srgbClr val="8B6500"/>
                        </a:solidFill>
                        <a:latin typeface="Arial"/>
                        <a:ea typeface="Arial"/>
                        <a:cs typeface="Arial"/>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5762">
                <a:tc>
                  <a:txBody>
                    <a:bodyPr/>
                    <a:lstStyle/>
                    <a:p>
                      <a:pPr>
                        <a:lnSpc>
                          <a:spcPct val="102000"/>
                        </a:lnSpc>
                        <a:buNone/>
                      </a:pPr>
                      <a:r>
                        <a:rPr sz="900" b="0">
                          <a:solidFill>
                            <a:srgbClr val="070154"/>
                          </a:solidFill>
                          <a:latin typeface="Arial"/>
                          <a:ea typeface="Arial"/>
                          <a:cs typeface="Arial"/>
                        </a:rPr>
                        <a:t>Roadmap and prioritization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prstDash val="solid"/>
                      <a:round/>
                      <a:headEnd type="none" w="med" len="med"/>
                      <a:tailEnd type="none" w="med" len="med"/>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prstDash val="solid"/>
                      <a:round/>
                      <a:headEnd type="none" w="med" len="med"/>
                      <a:tailEnd type="none" w="med" len="med"/>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a:solidFill>
                            <a:srgbClr val="8B6500"/>
                          </a:solidFill>
                          <a:latin typeface="Arial"/>
                          <a:ea typeface="Arial"/>
                          <a:cs typeface="Arial"/>
                        </a:rPr>
                        <a:t>-</a:t>
                      </a:r>
                      <a:endParaRPr sz="900" b="0">
                        <a:solidFill>
                          <a:srgbClr val="8B6500"/>
                        </a:solidFill>
                        <a:latin typeface="Arial"/>
                        <a:ea typeface="Arial"/>
                        <a:cs typeface="Arial"/>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5762">
                <a:tc>
                  <a:txBody>
                    <a:bodyPr/>
                    <a:lstStyle/>
                    <a:p>
                      <a:pPr>
                        <a:lnSpc>
                          <a:spcPct val="102000"/>
                        </a:lnSpc>
                        <a:buNone/>
                      </a:pPr>
                      <a:r>
                        <a:rPr sz="900" b="0">
                          <a:solidFill>
                            <a:srgbClr val="070154"/>
                          </a:solidFill>
                          <a:latin typeface="Arial"/>
                          <a:ea typeface="Arial"/>
                          <a:cs typeface="Arial"/>
                        </a:rPr>
                        <a:t>Ownership and decisions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prstDash val="solid"/>
                      <a:round/>
                      <a:headEnd type="none" w="med" len="med"/>
                      <a:tailEnd type="none" w="med" len="med"/>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FF0C2"/>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prstDash val="solid"/>
                      <a:round/>
                      <a:headEnd type="none" w="med" len="med"/>
                      <a:tailEnd type="none" w="med" len="med"/>
                    </a:lnR>
                    <a:lnT w="76200" cap="flat" cmpd="sng" algn="ctr">
                      <a:solidFill>
                        <a:srgbClr val="FFFFFF"/>
                      </a:solidFill>
                    </a:lnT>
                    <a:lnB w="76200" cap="flat" cmpd="sng" algn="ctr">
                      <a:solidFill>
                        <a:srgbClr val="FFFFFF"/>
                      </a:solidFill>
                    </a:lnB>
                    <a:solidFill>
                      <a:srgbClr val="FFFFFF"/>
                    </a:solidFill>
                  </a:tcPr>
                </a:tc>
                <a:tc>
                  <a:txBody>
                    <a:bodyPr/>
                    <a:lstStyle/>
                    <a:p>
                      <a:pPr marL="0" algn="l" defTabSz="914400">
                        <a:lnSpc>
                          <a:spcPct val="102000"/>
                        </a:lnSpc>
                        <a:buNone/>
                      </a:pPr>
                      <a:r>
                        <a:rPr lang="en-US" sz="900" b="0" kern="1200">
                          <a:solidFill>
                            <a:srgbClr val="B7412F"/>
                          </a:solidFill>
                          <a:latin typeface="Arial"/>
                          <a:ea typeface="Arial"/>
                          <a:cs typeface="Arial"/>
                        </a:rPr>
                        <a:t>Emerging</a:t>
                      </a:r>
                      <a:endParaRPr sz="900" b="0" kern="1200">
                        <a:solidFill>
                          <a:srgbClr val="B7412F"/>
                        </a:solidFill>
                        <a:latin typeface="Arial"/>
                        <a:ea typeface="Arial"/>
                        <a:cs typeface="Arial"/>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DE0DC"/>
                    </a:solidFill>
                  </a:tcPr>
                </a:tc>
                <a:extLst>
                  <a:ext uri="{0D108BD9-81ED-4DB2-BD59-A6C34878D82A}">
                    <a16:rowId xmlns:a16="http://schemas.microsoft.com/office/drawing/2014/main" val="10003"/>
                  </a:ext>
                </a:extLst>
              </a:tr>
              <a:tr h="385762">
                <a:tc>
                  <a:txBody>
                    <a:bodyPr/>
                    <a:lstStyle/>
                    <a:p>
                      <a:pPr>
                        <a:lnSpc>
                          <a:spcPct val="102000"/>
                        </a:lnSpc>
                        <a:buNone/>
                      </a:pPr>
                      <a:r>
                        <a:rPr sz="900" b="0">
                          <a:solidFill>
                            <a:srgbClr val="070154"/>
                          </a:solidFill>
                          <a:latin typeface="Arial"/>
                          <a:ea typeface="Arial"/>
                          <a:cs typeface="Arial"/>
                        </a:rPr>
                        <a:t>Product definition and design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prstDash val="solid"/>
                      <a:round/>
                      <a:headEnd type="none" w="med" len="med"/>
                      <a:tailEnd type="none" w="med" len="med"/>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FF0C2"/>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prstDash val="solid"/>
                      <a:round/>
                      <a:headEnd type="none" w="med" len="med"/>
                      <a:tailEnd type="none" w="med" len="med"/>
                    </a:lnR>
                    <a:lnT w="76200" cap="flat" cmpd="sng" algn="ctr">
                      <a:solidFill>
                        <a:srgbClr val="FFFFFF"/>
                      </a:solidFill>
                    </a:lnT>
                    <a:lnB w="76200" cap="flat" cmpd="sng" algn="ctr">
                      <a:solidFill>
                        <a:srgbClr val="FFFFFF"/>
                      </a:solidFill>
                    </a:lnB>
                    <a:solidFill>
                      <a:srgbClr val="FFFFFF"/>
                    </a:solidFill>
                  </a:tcPr>
                </a:tc>
                <a:tc>
                  <a:txBody>
                    <a:bodyPr/>
                    <a:lstStyle/>
                    <a:p>
                      <a:pPr marL="0" algn="l" defTabSz="914400">
                        <a:lnSpc>
                          <a:spcPct val="102000"/>
                        </a:lnSpc>
                        <a:buNone/>
                      </a:pPr>
                      <a:r>
                        <a:rPr lang="en-US" sz="900" b="0" kern="1200">
                          <a:solidFill>
                            <a:srgbClr val="B7412F"/>
                          </a:solidFill>
                          <a:latin typeface="Arial"/>
                          <a:ea typeface="Arial"/>
                          <a:cs typeface="Arial"/>
                        </a:rPr>
                        <a:t>Emerging</a:t>
                      </a:r>
                      <a:endParaRPr sz="900" b="0" kern="1200">
                        <a:solidFill>
                          <a:srgbClr val="B7412F"/>
                        </a:solidFill>
                        <a:latin typeface="Arial"/>
                        <a:ea typeface="Arial"/>
                        <a:cs typeface="Arial"/>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DE0DC"/>
                    </a:solidFill>
                  </a:tcPr>
                </a:tc>
                <a:extLst>
                  <a:ext uri="{0D108BD9-81ED-4DB2-BD59-A6C34878D82A}">
                    <a16:rowId xmlns:a16="http://schemas.microsoft.com/office/drawing/2014/main" val="10004"/>
                  </a:ext>
                </a:extLst>
              </a:tr>
              <a:tr h="385762">
                <a:tc>
                  <a:txBody>
                    <a:bodyPr/>
                    <a:lstStyle/>
                    <a:p>
                      <a:pPr>
                        <a:lnSpc>
                          <a:spcPct val="102000"/>
                        </a:lnSpc>
                        <a:buNone/>
                      </a:pPr>
                      <a:r>
                        <a:rPr sz="900" b="0">
                          <a:solidFill>
                            <a:srgbClr val="070154"/>
                          </a:solidFill>
                          <a:latin typeface="Arial"/>
                          <a:ea typeface="Arial"/>
                          <a:cs typeface="Arial"/>
                        </a:rPr>
                        <a:t>Product and Engineering delivery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prstDash val="solid"/>
                      <a:round/>
                      <a:headEnd type="none" w="med" len="med"/>
                      <a:tailEnd type="none" w="med" len="med"/>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FFFFF"/>
                    </a:solidFill>
                  </a:tcPr>
                </a:tc>
                <a:tc>
                  <a:txBody>
                    <a:bodyPr/>
                    <a:lstStyle/>
                    <a:p>
                      <a:pPr>
                        <a:lnSpc>
                          <a:spcPct val="102000"/>
                        </a:lnSpc>
                        <a:buNone/>
                      </a:pPr>
                      <a:r>
                        <a:rPr sz="900" b="0">
                          <a:solidFill>
                            <a:srgbClr val="3561AE"/>
                          </a:solidFill>
                          <a:latin typeface="Arial"/>
                          <a:ea typeface="Arial"/>
                          <a:cs typeface="Arial"/>
                        </a:rPr>
                        <a:t>Variable / pocket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prstDash val="solid"/>
                      <a:round/>
                      <a:headEnd type="none" w="med" len="med"/>
                      <a:tailEnd type="none" w="med" len="med"/>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5762">
                <a:tc>
                  <a:txBody>
                    <a:bodyPr/>
                    <a:lstStyle/>
                    <a:p>
                      <a:pPr>
                        <a:lnSpc>
                          <a:spcPct val="102000"/>
                        </a:lnSpc>
                        <a:buNone/>
                      </a:pPr>
                      <a:r>
                        <a:rPr sz="900" b="0">
                          <a:solidFill>
                            <a:srgbClr val="070154"/>
                          </a:solidFill>
                          <a:latin typeface="Arial"/>
                          <a:ea typeface="Arial"/>
                          <a:cs typeface="Arial"/>
                        </a:rPr>
                        <a:t>Release validation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prstDash val="solid"/>
                      <a:round/>
                      <a:headEnd type="none" w="med" len="med"/>
                      <a:tailEnd type="none" w="med" len="med"/>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prstDash val="solid"/>
                      <a:round/>
                      <a:headEnd type="none" w="med" len="med"/>
                      <a:tailEnd type="none" w="med" len="med"/>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5762">
                <a:tc>
                  <a:txBody>
                    <a:bodyPr/>
                    <a:lstStyle/>
                    <a:p>
                      <a:pPr>
                        <a:lnSpc>
                          <a:spcPct val="102000"/>
                        </a:lnSpc>
                        <a:buNone/>
                      </a:pPr>
                      <a:r>
                        <a:rPr sz="900" b="0">
                          <a:solidFill>
                            <a:srgbClr val="070154"/>
                          </a:solidFill>
                          <a:latin typeface="Arial"/>
                          <a:ea typeface="Arial"/>
                          <a:cs typeface="Arial"/>
                        </a:rPr>
                        <a:t>Commercialization and enablement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prstDash val="solid"/>
                      <a:round/>
                      <a:headEnd type="none" w="med" len="med"/>
                      <a:tailEnd type="none" w="med" len="med"/>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prstDash val="solid"/>
                      <a:round/>
                      <a:headEnd type="none" w="med" len="med"/>
                      <a:tailEnd type="none" w="med" len="med"/>
                    </a:lnR>
                    <a:lnT w="76200" cap="flat" cmpd="sng" algn="ctr">
                      <a:solidFill>
                        <a:srgbClr val="FFFFFF"/>
                      </a:solidFill>
                    </a:lnT>
                    <a:lnB w="76200" cap="flat" cmpd="sng" algn="ctr">
                      <a:solidFill>
                        <a:srgbClr val="FFFFFF"/>
                      </a:solidFill>
                    </a:lnB>
                    <a:solidFill>
                      <a:srgbClr val="FFF0C2"/>
                    </a:solidFill>
                  </a:tcPr>
                </a:tc>
                <a:tc>
                  <a:txBody>
                    <a:bodyPr/>
                    <a:lstStyle/>
                    <a:p>
                      <a:pPr marL="0" algn="l" defTabSz="914400">
                        <a:lnSpc>
                          <a:spcPct val="102000"/>
                        </a:lnSpc>
                        <a:buNone/>
                      </a:pPr>
                      <a:r>
                        <a:rPr lang="en-US" sz="900" b="0" kern="1200">
                          <a:solidFill>
                            <a:srgbClr val="B7412F"/>
                          </a:solidFill>
                          <a:latin typeface="Arial"/>
                          <a:ea typeface="Arial"/>
                          <a:cs typeface="Arial"/>
                        </a:rPr>
                        <a:t>Emerging</a:t>
                      </a:r>
                      <a:endParaRPr sz="900" b="0" kern="1200">
                        <a:solidFill>
                          <a:srgbClr val="B7412F"/>
                        </a:solidFill>
                        <a:latin typeface="Arial"/>
                        <a:ea typeface="Arial"/>
                        <a:cs typeface="Arial"/>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DE0DC"/>
                    </a:solidFill>
                  </a:tcPr>
                </a:tc>
                <a:extLst>
                  <a:ext uri="{0D108BD9-81ED-4DB2-BD59-A6C34878D82A}">
                    <a16:rowId xmlns:a16="http://schemas.microsoft.com/office/drawing/2014/main" val="10007"/>
                  </a:ext>
                </a:extLst>
              </a:tr>
              <a:tr h="385762">
                <a:tc>
                  <a:txBody>
                    <a:bodyPr/>
                    <a:lstStyle/>
                    <a:p>
                      <a:pPr>
                        <a:lnSpc>
                          <a:spcPct val="102000"/>
                        </a:lnSpc>
                        <a:buNone/>
                      </a:pPr>
                      <a:r>
                        <a:rPr sz="900" b="0">
                          <a:solidFill>
                            <a:srgbClr val="070154"/>
                          </a:solidFill>
                          <a:latin typeface="Arial"/>
                          <a:ea typeface="Arial"/>
                          <a:cs typeface="Arial"/>
                        </a:rPr>
                        <a:t>Measurement and feedback</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prstDash val="solid"/>
                      <a:round/>
                      <a:headEnd type="none" w="med" len="med"/>
                      <a:tailEnd type="none" w="med" len="med"/>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prstDash val="solid"/>
                      <a:round/>
                      <a:headEnd type="none" w="med" len="med"/>
                      <a:tailEnd type="none" w="med" len="med"/>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8"/>
                  </a:ext>
                </a:extLst>
              </a:tr>
              <a:tr h="385762">
                <a:tc>
                  <a:txBody>
                    <a:bodyPr/>
                    <a:lstStyle/>
                    <a:p>
                      <a:pPr>
                        <a:lnSpc>
                          <a:spcPct val="102000"/>
                        </a:lnSpc>
                        <a:buNone/>
                      </a:pPr>
                      <a:r>
                        <a:rPr sz="900" b="0">
                          <a:solidFill>
                            <a:srgbClr val="070154"/>
                          </a:solidFill>
                          <a:latin typeface="Arial"/>
                          <a:ea typeface="Arial"/>
                          <a:cs typeface="Arial"/>
                        </a:rPr>
                        <a:t>AI-enabled delivery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prstDash val="solid"/>
                      <a:round/>
                      <a:headEnd type="none" w="med" len="med"/>
                      <a:tailEnd type="none" w="med" len="med"/>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lnB>
                    <a:solidFill>
                      <a:srgbClr val="FFF0C2"/>
                    </a:solidFill>
                  </a:tcPr>
                </a:tc>
                <a:tc>
                  <a:txBody>
                    <a:bodyPr/>
                    <a:lstStyle/>
                    <a:p>
                      <a:pPr>
                        <a:lnSpc>
                          <a:spcPct val="102000"/>
                        </a:lnSpc>
                        <a:buNone/>
                      </a:pPr>
                      <a:r>
                        <a:rPr sz="900" b="0">
                          <a:solidFill>
                            <a:srgbClr val="16804D"/>
                          </a:solidFill>
                          <a:latin typeface="Arial"/>
                          <a:ea typeface="Arial"/>
                          <a:cs typeface="Arial"/>
                        </a:rPr>
                        <a:t>Leading pocket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prstDash val="solid"/>
                      <a:round/>
                      <a:headEnd type="none" w="med" len="med"/>
                      <a:tailEnd type="none" w="med" len="med"/>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prstDash val="solid"/>
                      <a:round/>
                      <a:headEnd type="none" w="med" len="med"/>
                      <a:tailEnd type="none" w="med" len="med"/>
                    </a:lnT>
                    <a:lnB w="76200" cap="flat" cmpd="sng" algn="ctr">
                      <a:solidFill>
                        <a:srgbClr val="FFFFFF"/>
                      </a:solidFill>
                    </a:lnB>
                    <a:solidFill>
                      <a:srgbClr val="FFFFFF"/>
                    </a:solidFill>
                  </a:tcPr>
                </a:tc>
                <a:extLst>
                  <a:ext uri="{0D108BD9-81ED-4DB2-BD59-A6C34878D82A}">
                    <a16:rowId xmlns:a16="http://schemas.microsoft.com/office/drawing/2014/main" val="10009"/>
                  </a:ext>
                </a:extLst>
              </a:tr>
            </a:tbl>
          </a:graphicData>
        </a:graphic>
      </p:graphicFrame>
      <p:sp>
        <p:nvSpPr>
          <p:cNvPr id="6" name="Rectangle 5">
            <a:extLst>
              <a:ext uri="{FF2B5EF4-FFF2-40B4-BE49-F238E27FC236}">
                <a16:creationId xmlns:a16="http://schemas.microsoft.com/office/drawing/2014/main" id="{81514F33-F4C5-FD2D-1CAC-571B0097B486}"/>
              </a:ext>
            </a:extLst>
          </p:cNvPr>
          <p:cNvSpPr>
            <a:spLocks noGrp="1"/>
          </p:cNvSpPr>
          <p:nvPr/>
        </p:nvSpPr>
        <p:spPr>
          <a:xfrm>
            <a:off x="457200" y="5791200"/>
            <a:ext cx="10668000" cy="285750"/>
          </a:xfrm>
          <a:prstGeom prst="rect">
            <a:avLst/>
          </a:prstGeom>
          <a:noFill/>
          <a:ln w="0">
            <a:noFill/>
          </a:ln>
        </p:spPr>
        <p:txBody>
          <a:bodyPr lIns="91440" tIns="45720" rIns="91440" bIns="45720" anchor="t">
            <a:normAutofit/>
          </a:bodyPr>
          <a:lstStyle/>
          <a:p>
            <a:pPr>
              <a:lnSpc>
                <a:spcPct val="108000"/>
              </a:lnSpc>
              <a:defRPr sz="1050" b="0" i="0">
                <a:solidFill>
                  <a:srgbClr val="50658E"/>
                </a:solidFill>
                <a:latin typeface="Arial"/>
                <a:ea typeface="Arial"/>
                <a:cs typeface="Arial"/>
              </a:defRPr>
            </a:pPr>
            <a:r>
              <a:rPr sz="1050" b="0" i="0">
                <a:solidFill>
                  <a:srgbClr val="50658E"/>
                </a:solidFill>
                <a:latin typeface="Arial"/>
                <a:ea typeface="Arial"/>
                <a:cs typeface="Arial"/>
              </a:rPr>
              <a:t>Ratings are working hypotheses</a:t>
            </a:r>
            <a:r>
              <a:rPr lang="en-US" sz="1050">
                <a:solidFill>
                  <a:srgbClr val="50658E"/>
                </a:solidFill>
                <a:latin typeface="Arial"/>
                <a:ea typeface="Arial"/>
                <a:cs typeface="Arial"/>
              </a:rPr>
              <a:t> based on limited conversations and observations with DXC team</a:t>
            </a:r>
            <a:r>
              <a:rPr lang="en-US" sz="1100">
                <a:solidFill>
                  <a:srgbClr val="50658E"/>
                </a:solidFill>
                <a:latin typeface="Arial"/>
                <a:ea typeface="Arial"/>
                <a:cs typeface="Arial"/>
              </a:rPr>
              <a:t>.</a:t>
            </a:r>
            <a:endParaRPr lang="en-US" sz="1050" b="0" i="0">
              <a:solidFill>
                <a:srgbClr val="50658E"/>
              </a:solidFill>
              <a:latin typeface="Arial"/>
              <a:ea typeface="Arial"/>
              <a:cs typeface="Arial"/>
            </a:endParaRPr>
          </a:p>
        </p:txBody>
      </p:sp>
      <p:sp>
        <p:nvSpPr>
          <p:cNvPr id="5" name="GridLineV1">
            <a:extLst>
              <a:ext uri="{FF2B5EF4-FFF2-40B4-BE49-F238E27FC236}">
                <a16:creationId xmlns:a16="http://schemas.microsoft.com/office/drawing/2014/main" id="{AF062583-B2E1-E4E4-34A8-9E36AAABF7CE}"/>
              </a:ext>
            </a:extLst>
          </p:cNvPr>
          <p:cNvSpPr/>
          <p:nvPr/>
        </p:nvSpPr>
        <p:spPr>
          <a:xfrm>
            <a:off x="2046059" y="1752600"/>
            <a:ext cx="44450" cy="385826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GridLineV2">
            <a:extLst>
              <a:ext uri="{FF2B5EF4-FFF2-40B4-BE49-F238E27FC236}">
                <a16:creationId xmlns:a16="http://schemas.microsoft.com/office/drawing/2014/main" id="{17E64D1A-5E03-2027-022E-01BC310FCC2E}"/>
              </a:ext>
            </a:extLst>
          </p:cNvPr>
          <p:cNvSpPr/>
          <p:nvPr/>
        </p:nvSpPr>
        <p:spPr>
          <a:xfrm>
            <a:off x="3657146" y="1752600"/>
            <a:ext cx="44450" cy="385826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GridLineV3">
            <a:extLst>
              <a:ext uri="{FF2B5EF4-FFF2-40B4-BE49-F238E27FC236}">
                <a16:creationId xmlns:a16="http://schemas.microsoft.com/office/drawing/2014/main" id="{C6FD712A-6CA3-095E-1240-71075F2DBA57}"/>
              </a:ext>
            </a:extLst>
          </p:cNvPr>
          <p:cNvSpPr/>
          <p:nvPr/>
        </p:nvSpPr>
        <p:spPr>
          <a:xfrm>
            <a:off x="5268232" y="1752600"/>
            <a:ext cx="44450" cy="385826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GridLineV4">
            <a:extLst>
              <a:ext uri="{FF2B5EF4-FFF2-40B4-BE49-F238E27FC236}">
                <a16:creationId xmlns:a16="http://schemas.microsoft.com/office/drawing/2014/main" id="{75F18E5D-D9DA-1F34-1A25-2F37D6B69CAF}"/>
              </a:ext>
            </a:extLst>
          </p:cNvPr>
          <p:cNvSpPr/>
          <p:nvPr/>
        </p:nvSpPr>
        <p:spPr>
          <a:xfrm>
            <a:off x="6879317" y="1752600"/>
            <a:ext cx="44450" cy="385826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GridLineV5">
            <a:extLst>
              <a:ext uri="{FF2B5EF4-FFF2-40B4-BE49-F238E27FC236}">
                <a16:creationId xmlns:a16="http://schemas.microsoft.com/office/drawing/2014/main" id="{E53A64C3-921E-0C75-C8B1-32A8A4B68E03}"/>
              </a:ext>
            </a:extLst>
          </p:cNvPr>
          <p:cNvSpPr/>
          <p:nvPr/>
        </p:nvSpPr>
        <p:spPr>
          <a:xfrm>
            <a:off x="8490403" y="1752600"/>
            <a:ext cx="44450" cy="385826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GridLineV6">
            <a:extLst>
              <a:ext uri="{FF2B5EF4-FFF2-40B4-BE49-F238E27FC236}">
                <a16:creationId xmlns:a16="http://schemas.microsoft.com/office/drawing/2014/main" id="{9919DF66-9CC9-9BA1-722B-DB807E9F958B}"/>
              </a:ext>
            </a:extLst>
          </p:cNvPr>
          <p:cNvSpPr/>
          <p:nvPr/>
        </p:nvSpPr>
        <p:spPr>
          <a:xfrm>
            <a:off x="10101488" y="1752600"/>
            <a:ext cx="44450" cy="385826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GridLineH1">
            <a:extLst>
              <a:ext uri="{FF2B5EF4-FFF2-40B4-BE49-F238E27FC236}">
                <a16:creationId xmlns:a16="http://schemas.microsoft.com/office/drawing/2014/main" id="{597A580B-10D2-E083-21EB-7C7FB419F24F}"/>
              </a:ext>
            </a:extLst>
          </p:cNvPr>
          <p:cNvSpPr/>
          <p:nvPr/>
        </p:nvSpPr>
        <p:spPr>
          <a:xfrm>
            <a:off x="457200" y="2116201"/>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GridLineH2">
            <a:extLst>
              <a:ext uri="{FF2B5EF4-FFF2-40B4-BE49-F238E27FC236}">
                <a16:creationId xmlns:a16="http://schemas.microsoft.com/office/drawing/2014/main" id="{44A70823-C8C9-C188-DD6F-C39A300F6A86}"/>
              </a:ext>
            </a:extLst>
          </p:cNvPr>
          <p:cNvSpPr/>
          <p:nvPr/>
        </p:nvSpPr>
        <p:spPr>
          <a:xfrm>
            <a:off x="457200" y="2502027"/>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GridLineH3">
            <a:extLst>
              <a:ext uri="{FF2B5EF4-FFF2-40B4-BE49-F238E27FC236}">
                <a16:creationId xmlns:a16="http://schemas.microsoft.com/office/drawing/2014/main" id="{60494B36-208A-59CB-E712-2E568128ADC9}"/>
              </a:ext>
            </a:extLst>
          </p:cNvPr>
          <p:cNvSpPr/>
          <p:nvPr/>
        </p:nvSpPr>
        <p:spPr>
          <a:xfrm>
            <a:off x="457200" y="2887853"/>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GridLineH4">
            <a:extLst>
              <a:ext uri="{FF2B5EF4-FFF2-40B4-BE49-F238E27FC236}">
                <a16:creationId xmlns:a16="http://schemas.microsoft.com/office/drawing/2014/main" id="{C28E1C93-6861-48E5-AD52-A60058B97D39}"/>
              </a:ext>
            </a:extLst>
          </p:cNvPr>
          <p:cNvSpPr/>
          <p:nvPr/>
        </p:nvSpPr>
        <p:spPr>
          <a:xfrm>
            <a:off x="457200" y="3273679"/>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GridLineH5">
            <a:extLst>
              <a:ext uri="{FF2B5EF4-FFF2-40B4-BE49-F238E27FC236}">
                <a16:creationId xmlns:a16="http://schemas.microsoft.com/office/drawing/2014/main" id="{513C4215-103D-380C-7982-7BAF08EEADF8}"/>
              </a:ext>
            </a:extLst>
          </p:cNvPr>
          <p:cNvSpPr/>
          <p:nvPr/>
        </p:nvSpPr>
        <p:spPr>
          <a:xfrm>
            <a:off x="457200" y="3659504"/>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GridLineH6">
            <a:extLst>
              <a:ext uri="{FF2B5EF4-FFF2-40B4-BE49-F238E27FC236}">
                <a16:creationId xmlns:a16="http://schemas.microsoft.com/office/drawing/2014/main" id="{83F72D56-9CA5-E3A1-A05E-866ECFA563AC}"/>
              </a:ext>
            </a:extLst>
          </p:cNvPr>
          <p:cNvSpPr/>
          <p:nvPr/>
        </p:nvSpPr>
        <p:spPr>
          <a:xfrm>
            <a:off x="457200" y="4045330"/>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GridLineH7">
            <a:extLst>
              <a:ext uri="{FF2B5EF4-FFF2-40B4-BE49-F238E27FC236}">
                <a16:creationId xmlns:a16="http://schemas.microsoft.com/office/drawing/2014/main" id="{812F2AA5-868A-EA3C-AF26-02F75ADD4479}"/>
              </a:ext>
            </a:extLst>
          </p:cNvPr>
          <p:cNvSpPr/>
          <p:nvPr/>
        </p:nvSpPr>
        <p:spPr>
          <a:xfrm>
            <a:off x="457200" y="4431157"/>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GridLineH8">
            <a:extLst>
              <a:ext uri="{FF2B5EF4-FFF2-40B4-BE49-F238E27FC236}">
                <a16:creationId xmlns:a16="http://schemas.microsoft.com/office/drawing/2014/main" id="{FDF960AA-F545-6C55-FB3C-4E0F0467B673}"/>
              </a:ext>
            </a:extLst>
          </p:cNvPr>
          <p:cNvSpPr/>
          <p:nvPr/>
        </p:nvSpPr>
        <p:spPr>
          <a:xfrm>
            <a:off x="457200" y="4816983"/>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GridLineH9">
            <a:extLst>
              <a:ext uri="{FF2B5EF4-FFF2-40B4-BE49-F238E27FC236}">
                <a16:creationId xmlns:a16="http://schemas.microsoft.com/office/drawing/2014/main" id="{27513CA2-F329-BBA2-348D-D3BF1566C7EA}"/>
              </a:ext>
            </a:extLst>
          </p:cNvPr>
          <p:cNvSpPr/>
          <p:nvPr/>
        </p:nvSpPr>
        <p:spPr>
          <a:xfrm>
            <a:off x="457200" y="5202809"/>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Footer Placeholder 1">
            <a:extLst>
              <a:ext uri="{FF2B5EF4-FFF2-40B4-BE49-F238E27FC236}">
                <a16:creationId xmlns:a16="http://schemas.microsoft.com/office/drawing/2014/main" id="{660A8C71-F216-9E15-9A0E-19381942F7E0}"/>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24" name="Slide Number Placeholder 2">
            <a:extLst>
              <a:ext uri="{FF2B5EF4-FFF2-40B4-BE49-F238E27FC236}">
                <a16:creationId xmlns:a16="http://schemas.microsoft.com/office/drawing/2014/main" id="{44790B3B-2692-4B34-6847-364D94BE626C}"/>
              </a:ext>
            </a:extLst>
          </p:cNvPr>
          <p:cNvSpPr>
            <a:spLocks noGrp="1"/>
          </p:cNvSpPr>
          <p:nvPr>
            <p:ph type="sldNum" idx="11"/>
          </p:nvPr>
        </p:nvSpPr>
        <p:spPr>
          <a:xfrm>
            <a:off x="11509578" y="6400799"/>
            <a:ext cx="218871" cy="167949"/>
          </a:xfrm>
        </p:spPr>
        <p:txBody>
          <a:bodyPr/>
          <a:lstStyle/>
          <a:p>
            <a:fld id="{63DCA5C9-2E11-4C67-86EB-AE1DE127DC64}" type="slidenum">
              <a:rPr lang="en-US" smtClean="0"/>
              <a:t>11</a:t>
            </a:fld>
            <a:endParaRPr lang="en-US"/>
          </a:p>
        </p:txBody>
      </p:sp>
    </p:spTree>
    <p:extLst>
      <p:ext uri="{BB962C8B-B14F-4D97-AF65-F5344CB8AC3E}">
        <p14:creationId xmlns:p14="http://schemas.microsoft.com/office/powerpoint/2010/main" val="3401232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7A41A9B1-B9E2-4E11-AC4E-00E1960D181D}"/>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Engineering practices by platform</a:t>
            </a:r>
          </a:p>
        </p:txBody>
      </p:sp>
      <p:sp>
        <p:nvSpPr>
          <p:cNvPr id="3" name="Rectangle 2">
            <a:extLst>
              <a:ext uri="{FF2B5EF4-FFF2-40B4-BE49-F238E27FC236}">
                <a16:creationId xmlns:a16="http://schemas.microsoft.com/office/drawing/2014/main" id="{E4BA3EFF-737E-42A8-A997-95354A026770}"/>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b="0" i="0">
                <a:solidFill>
                  <a:srgbClr val="50658E"/>
                </a:solidFill>
                <a:latin typeface="Arial"/>
                <a:ea typeface="Arial"/>
                <a:cs typeface="Arial"/>
              </a:rPr>
              <a:t>Maturity varie</a:t>
            </a:r>
            <a:r>
              <a:rPr lang="en-US" sz="1275">
                <a:solidFill>
                  <a:srgbClr val="50658E"/>
                </a:solidFill>
                <a:latin typeface="Arial"/>
                <a:ea typeface="Arial"/>
                <a:cs typeface="Arial"/>
              </a:rPr>
              <a:t>s widely between core platform and the Reconcile AI project</a:t>
            </a:r>
            <a:r>
              <a:rPr sz="1275" b="0" i="0">
                <a:solidFill>
                  <a:srgbClr val="50658E"/>
                </a:solidFill>
                <a:latin typeface="Arial"/>
                <a:ea typeface="Arial"/>
                <a:cs typeface="Arial"/>
              </a:rPr>
              <a:t>.</a:t>
            </a:r>
          </a:p>
        </p:txBody>
      </p:sp>
      <p:sp>
        <p:nvSpPr>
          <p:cNvPr id="4" name="Rectangle 3">
            <a:extLst>
              <a:ext uri="{FF2B5EF4-FFF2-40B4-BE49-F238E27FC236}">
                <a16:creationId xmlns:a16="http://schemas.microsoft.com/office/drawing/2014/main" id="{92789E09-0421-4E0B-A3F8-DA08C49950D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01</a:t>
            </a:r>
          </a:p>
        </p:txBody>
      </p:sp>
      <p:sp>
        <p:nvSpPr>
          <p:cNvPr id="6" name="Rectangle 5">
            <a:extLst>
              <a:ext uri="{FF2B5EF4-FFF2-40B4-BE49-F238E27FC236}">
                <a16:creationId xmlns:a16="http://schemas.microsoft.com/office/drawing/2014/main" id="{6DCC4CB2-F275-4CDD-9F4C-5F1D528EA7A1}"/>
              </a:ext>
            </a:extLst>
          </p:cNvPr>
          <p:cNvSpPr>
            <a:spLocks noGrp="1"/>
          </p:cNvSpPr>
          <p:nvPr/>
        </p:nvSpPr>
        <p:spPr>
          <a:xfrm>
            <a:off x="457200" y="5791200"/>
            <a:ext cx="10668000" cy="2857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Sources: engineering and release working sessions, engineering survey (n=44), 2024–2026 release calendar. Working hypotheses to validate with Engineering.</a:t>
            </a:r>
          </a:p>
        </p:txBody>
      </p:sp>
      <p:graphicFrame>
        <p:nvGraphicFramePr>
          <p:cNvPr id="20" name="Engineering Practices Table"/>
          <p:cNvGraphicFramePr>
            <a:graphicFrameLocks noGrp="1"/>
          </p:cNvGraphicFramePr>
          <p:nvPr/>
        </p:nvGraphicFramePr>
        <p:xfrm>
          <a:off x="457200" y="1752600"/>
          <a:ext cx="11277600" cy="3950000"/>
        </p:xfrm>
        <a:graphic>
          <a:graphicData uri="http://schemas.openxmlformats.org/drawingml/2006/table">
            <a:tbl>
              <a:tblPr/>
              <a:tblGrid>
                <a:gridCol w="2000000">
                  <a:extLst>
                    <a:ext uri="{9D8B030D-6E8A-4147-A177-3AD203B41FA5}">
                      <a16:colId xmlns:a16="http://schemas.microsoft.com/office/drawing/2014/main" val="20000"/>
                    </a:ext>
                  </a:extLst>
                </a:gridCol>
                <a:gridCol w="1480000">
                  <a:extLst>
                    <a:ext uri="{9D8B030D-6E8A-4147-A177-3AD203B41FA5}">
                      <a16:colId xmlns:a16="http://schemas.microsoft.com/office/drawing/2014/main" val="20001"/>
                    </a:ext>
                  </a:extLst>
                </a:gridCol>
                <a:gridCol w="1480000">
                  <a:extLst>
                    <a:ext uri="{9D8B030D-6E8A-4147-A177-3AD203B41FA5}">
                      <a16:colId xmlns:a16="http://schemas.microsoft.com/office/drawing/2014/main" val="20002"/>
                    </a:ext>
                  </a:extLst>
                </a:gridCol>
                <a:gridCol w="1480000">
                  <a:extLst>
                    <a:ext uri="{9D8B030D-6E8A-4147-A177-3AD203B41FA5}">
                      <a16:colId xmlns:a16="http://schemas.microsoft.com/office/drawing/2014/main" val="20003"/>
                    </a:ext>
                  </a:extLst>
                </a:gridCol>
                <a:gridCol w="4837600">
                  <a:extLst>
                    <a:ext uri="{9D8B030D-6E8A-4147-A177-3AD203B41FA5}">
                      <a16:colId xmlns:a16="http://schemas.microsoft.com/office/drawing/2014/main" val="20004"/>
                    </a:ext>
                  </a:extLst>
                </a:gridCol>
              </a:tblGrid>
              <a:tr h="430000">
                <a:tc>
                  <a:txBody>
                    <a:bodyPr/>
                    <a:lstStyle/>
                    <a:p>
                      <a:pPr>
                        <a:lnSpc>
                          <a:spcPct val="102000"/>
                        </a:lnSpc>
                        <a:buNone/>
                      </a:pPr>
                      <a:r>
                        <a:rPr lang="en-US" sz="975" b="1" i="0">
                          <a:solidFill>
                            <a:srgbClr val="FFFFFF"/>
                          </a:solidFill>
                          <a:latin typeface="Arial"/>
                          <a:ea typeface="Arial"/>
                          <a:cs typeface="Arial"/>
                        </a:rPr>
                        <a:t>Engineering practice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i="0">
                          <a:solidFill>
                            <a:srgbClr val="FFFFFF"/>
                          </a:solidFill>
                          <a:latin typeface="Arial"/>
                          <a:ea typeface="Arial"/>
                          <a:cs typeface="Arial"/>
                        </a:rPr>
                        <a:t>Core platform (Java)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i="0">
                          <a:solidFill>
                            <a:srgbClr val="FFFFFF"/>
                          </a:solidFill>
                          <a:latin typeface="Arial"/>
                          <a:ea typeface="Arial"/>
                          <a:cs typeface="Arial"/>
                        </a:rPr>
                        <a:t>New platform: Reconcile AI</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i="0">
                          <a:solidFill>
                            <a:srgbClr val="FFFFFF"/>
                          </a:solidFill>
                          <a:latin typeface="Arial"/>
                          <a:ea typeface="Arial"/>
                          <a:cs typeface="Arial"/>
                        </a:rPr>
                        <a:t>New platform: other pods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i="0">
                          <a:solidFill>
                            <a:srgbClr val="FFFFFF"/>
                          </a:solidFill>
                          <a:latin typeface="Arial"/>
                          <a:ea typeface="Arial"/>
                          <a:cs typeface="Arial"/>
                        </a:rPr>
                        <a:t>Evidence so far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extLst>
                  <a:ext uri="{0D108BD9-81ED-4DB2-BD59-A6C34878D82A}">
                    <a16:rowId xmlns:a16="http://schemas.microsoft.com/office/drawing/2014/main" val="10000"/>
                  </a:ext>
                </a:extLst>
              </a:tr>
              <a:tr h="440000">
                <a:tc>
                  <a:txBody>
                    <a:bodyPr/>
                    <a:lstStyle/>
                    <a:p>
                      <a:pPr>
                        <a:lnSpc>
                          <a:spcPct val="102000"/>
                        </a:lnSpc>
                        <a:buNone/>
                      </a:pPr>
                      <a:r>
                        <a:rPr lang="en-US" sz="900" b="0" i="0">
                          <a:solidFill>
                            <a:srgbClr val="070154"/>
                          </a:solidFill>
                          <a:latin typeface="Arial"/>
                          <a:ea typeface="Arial"/>
                          <a:cs typeface="Arial"/>
                        </a:rPr>
                        <a:t>Technical design and architecture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16804D"/>
                          </a:solidFill>
                          <a:latin typeface="Arial"/>
                          <a:ea typeface="Arial"/>
                          <a:cs typeface="Arial"/>
                        </a:rPr>
                        <a:t>Leading pocket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00" b="0" i="0">
                          <a:solidFill>
                            <a:srgbClr val="50658E"/>
                          </a:solidFill>
                          <a:latin typeface="Arial"/>
                          <a:ea typeface="Arial"/>
                          <a:cs typeface="Arial"/>
                        </a:rPr>
                        <a:t>To validate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2F4F8"/>
                    </a:solidFill>
                  </a:tcPr>
                </a:tc>
                <a:tc>
                  <a:txBody>
                    <a:bodyPr/>
                    <a:lstStyle/>
                    <a:p>
                      <a:pPr>
                        <a:lnSpc>
                          <a:spcPct val="102000"/>
                        </a:lnSpc>
                        <a:buNone/>
                      </a:pPr>
                      <a:r>
                        <a:rPr lang="en-US" sz="800" b="0" i="0">
                          <a:solidFill>
                            <a:srgbClr val="50658E"/>
                          </a:solidFill>
                          <a:latin typeface="Arial"/>
                          <a:ea typeface="Arial"/>
                          <a:cs typeface="Arial"/>
                        </a:rPr>
                        <a:t>No owned design step before build (readout finding 04); Core design knowledge sits with a small group. Recon: Architectural Specification template, Team Lead signs.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1"/>
                  </a:ext>
                </a:extLst>
              </a:tr>
              <a:tr h="440000">
                <a:tc>
                  <a:txBody>
                    <a:bodyPr/>
                    <a:lstStyle/>
                    <a:p>
                      <a:pPr>
                        <a:lnSpc>
                          <a:spcPct val="102000"/>
                        </a:lnSpc>
                        <a:buNone/>
                      </a:pPr>
                      <a:r>
                        <a:rPr lang="en-US" sz="900" b="0" i="0">
                          <a:solidFill>
                            <a:srgbClr val="070154"/>
                          </a:solidFill>
                          <a:latin typeface="Arial"/>
                          <a:ea typeface="Arial"/>
                          <a:cs typeface="Arial"/>
                        </a:rPr>
                        <a:t>AI-assisted build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lang="en-US" sz="900" b="0" i="0">
                          <a:solidFill>
                            <a:srgbClr val="16804D"/>
                          </a:solidFill>
                          <a:latin typeface="Arial"/>
                          <a:ea typeface="Arial"/>
                          <a:cs typeface="Arial"/>
                        </a:rPr>
                        <a:t>Leading pocket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00" b="0" i="0">
                          <a:solidFill>
                            <a:srgbClr val="3561AE"/>
                          </a:solidFill>
                          <a:latin typeface="Arial"/>
                          <a:ea typeface="Arial"/>
                          <a:cs typeface="Arial"/>
                        </a:rPr>
                        <a:t>Variable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tc>
                  <a:txBody>
                    <a:bodyPr/>
                    <a:lstStyle/>
                    <a:p>
                      <a:pPr>
                        <a:lnSpc>
                          <a:spcPct val="102000"/>
                        </a:lnSpc>
                        <a:buNone/>
                      </a:pPr>
                      <a:r>
                        <a:rPr lang="en-US" sz="800" b="0" i="0">
                          <a:solidFill>
                            <a:srgbClr val="50658E"/>
                          </a:solidFill>
                          <a:latin typeface="Arial"/>
                          <a:ea typeface="Arial"/>
                          <a:cs typeface="Arial"/>
                        </a:rPr>
                        <a:t>Core: Copilot in IntelliJ since January 2026, all gates human. Recon: epic-level agent pipeline. Other pods: developer-led, mostly unit tests.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2"/>
                  </a:ext>
                </a:extLst>
              </a:tr>
              <a:tr h="440000">
                <a:tc>
                  <a:txBody>
                    <a:bodyPr/>
                    <a:lstStyle/>
                    <a:p>
                      <a:pPr>
                        <a:lnSpc>
                          <a:spcPct val="102000"/>
                        </a:lnSpc>
                        <a:buNone/>
                      </a:pPr>
                      <a:r>
                        <a:rPr lang="en-US" sz="900" b="0" i="0">
                          <a:solidFill>
                            <a:srgbClr val="070154"/>
                          </a:solidFill>
                          <a:latin typeface="Arial"/>
                          <a:ea typeface="Arial"/>
                          <a:cs typeface="Arial"/>
                        </a:rPr>
                        <a:t>Test automation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16804D"/>
                          </a:solidFill>
                          <a:latin typeface="Arial"/>
                          <a:ea typeface="Arial"/>
                          <a:cs typeface="Arial"/>
                        </a:rPr>
                        <a:t>Leading pocket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00" b="0" i="0">
                          <a:solidFill>
                            <a:srgbClr val="3561AE"/>
                          </a:solidFill>
                          <a:latin typeface="Arial"/>
                          <a:ea typeface="Arial"/>
                          <a:cs typeface="Arial"/>
                        </a:rPr>
                        <a:t>Variable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tc>
                  <a:txBody>
                    <a:bodyPr/>
                    <a:lstStyle/>
                    <a:p>
                      <a:pPr>
                        <a:lnSpc>
                          <a:spcPct val="102000"/>
                        </a:lnSpc>
                        <a:buNone/>
                      </a:pPr>
                      <a:r>
                        <a:rPr lang="en-US" sz="800" b="0" i="0">
                          <a:solidFill>
                            <a:srgbClr val="50658E"/>
                          </a:solidFill>
                          <a:latin typeface="Arial"/>
                          <a:ea typeface="Arial"/>
                          <a:cs typeface="Arial"/>
                        </a:rPr>
                        <a:t>Core regression is manual with one QA. Recon agents write Jest, Playwright, and Postman tests per story. XConnect ~100%; other pods partially automated.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3"/>
                  </a:ext>
                </a:extLst>
              </a:tr>
              <a:tr h="440000">
                <a:tc>
                  <a:txBody>
                    <a:bodyPr/>
                    <a:lstStyle/>
                    <a:p>
                      <a:pPr>
                        <a:lnSpc>
                          <a:spcPct val="102000"/>
                        </a:lnSpc>
                        <a:buNone/>
                      </a:pPr>
                      <a:r>
                        <a:rPr lang="en-US" sz="900" b="0" i="0">
                          <a:solidFill>
                            <a:srgbClr val="070154"/>
                          </a:solidFill>
                          <a:latin typeface="Arial"/>
                          <a:ea typeface="Arial"/>
                          <a:cs typeface="Arial"/>
                        </a:rPr>
                        <a:t>Release engineering and promotion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lang="en-US" sz="900" b="0" i="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lang="en-US" sz="900" b="0" i="0">
                          <a:solidFill>
                            <a:srgbClr val="50658E"/>
                          </a:solidFill>
                          <a:latin typeface="Arial"/>
                          <a:ea typeface="Arial"/>
                          <a:cs typeface="Arial"/>
                        </a:rPr>
                        <a:t>To validate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2F4F8"/>
                    </a:solidFill>
                  </a:tcPr>
                </a:tc>
                <a:tc>
                  <a:txBody>
                    <a:bodyPr/>
                    <a:lstStyle/>
                    <a:p>
                      <a:pPr>
                        <a:lnSpc>
                          <a:spcPct val="102000"/>
                        </a:lnSpc>
                        <a:buNone/>
                      </a:pPr>
                      <a:r>
                        <a:rPr lang="en-US" sz="800" b="0" i="0">
                          <a:solidFill>
                            <a:srgbClr val="50658E"/>
                          </a:solidFill>
                          <a:latin typeface="Arial"/>
                          <a:ea typeface="Arial"/>
                          <a:cs typeface="Arial"/>
                        </a:rPr>
                        <a:t>Builds are tracked by ID, but release-night branch merges suggest production may be rebuilt rather than promoted: to confirm. Some new products not yet in CAB.</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4"/>
                  </a:ext>
                </a:extLst>
              </a:tr>
              <a:tr h="440000">
                <a:tc>
                  <a:txBody>
                    <a:bodyPr/>
                    <a:lstStyle/>
                    <a:p>
                      <a:pPr>
                        <a:lnSpc>
                          <a:spcPct val="102000"/>
                        </a:lnSpc>
                        <a:buNone/>
                      </a:pPr>
                      <a:r>
                        <a:rPr lang="en-US" sz="900" b="0" i="0">
                          <a:solidFill>
                            <a:srgbClr val="070154"/>
                          </a:solidFill>
                          <a:latin typeface="Arial"/>
                          <a:ea typeface="Arial"/>
                          <a:cs typeface="Arial"/>
                        </a:rPr>
                        <a:t>Environments, access, and test data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00" b="0" i="0">
                          <a:solidFill>
                            <a:srgbClr val="50658E"/>
                          </a:solidFill>
                          <a:latin typeface="Arial"/>
                          <a:ea typeface="Arial"/>
                          <a:cs typeface="Arial"/>
                        </a:rPr>
                        <a:t>Survey: access delays, late test data, no read-only database access for troubleshooting. Recon waited months for production-like data.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5"/>
                  </a:ext>
                </a:extLst>
              </a:tr>
              <a:tr h="440000">
                <a:tc>
                  <a:txBody>
                    <a:bodyPr/>
                    <a:lstStyle/>
                    <a:p>
                      <a:pPr>
                        <a:lnSpc>
                          <a:spcPct val="102000"/>
                        </a:lnSpc>
                        <a:buNone/>
                      </a:pPr>
                      <a:r>
                        <a:rPr lang="en-US" sz="900" b="0" i="0">
                          <a:solidFill>
                            <a:srgbClr val="070154"/>
                          </a:solidFill>
                          <a:latin typeface="Arial"/>
                          <a:ea typeface="Arial"/>
                          <a:cs typeface="Arial"/>
                        </a:rPr>
                        <a:t>Operability and run lane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lang="en-US" sz="900" b="0" i="0">
                          <a:solidFill>
                            <a:srgbClr val="50658E"/>
                          </a:solidFill>
                          <a:latin typeface="Arial"/>
                          <a:ea typeface="Arial"/>
                          <a:cs typeface="Arial"/>
                        </a:rPr>
                        <a:t>To validate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2F4F8"/>
                    </a:solidFill>
                  </a:tcPr>
                </a:tc>
                <a:tc>
                  <a:txBody>
                    <a:bodyPr/>
                    <a:lstStyle/>
                    <a:p>
                      <a:pPr>
                        <a:lnSpc>
                          <a:spcPct val="102000"/>
                        </a:lnSpc>
                        <a:buNone/>
                      </a:pPr>
                      <a:r>
                        <a:rPr lang="en-US" sz="900" b="0" i="0">
                          <a:solidFill>
                            <a:srgbClr val="50658E"/>
                          </a:solidFill>
                          <a:latin typeface="Arial"/>
                          <a:ea typeface="Arial"/>
                          <a:cs typeface="Arial"/>
                        </a:rPr>
                        <a:t>To validate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2F4F8"/>
                    </a:solidFill>
                  </a:tcPr>
                </a:tc>
                <a:tc>
                  <a:txBody>
                    <a:bodyPr/>
                    <a:lstStyle/>
                    <a:p>
                      <a:pPr>
                        <a:lnSpc>
                          <a:spcPct val="102000"/>
                        </a:lnSpc>
                        <a:buNone/>
                      </a:pPr>
                      <a:r>
                        <a:rPr lang="en-US" sz="800" b="0" i="0">
                          <a:solidFill>
                            <a:srgbClr val="50658E"/>
                          </a:solidFill>
                          <a:latin typeface="Arial"/>
                          <a:ea typeface="Arial"/>
                          <a:cs typeface="Arial"/>
                        </a:rPr>
                        <a:t>DevOps, SRE, and incident roles are in place, but half of 2026 Core changes fell outside cadence; at least 5 of 11 patches were expired credentials or certificates.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6"/>
                  </a:ext>
                </a:extLst>
              </a:tr>
              <a:tr h="440000">
                <a:tc>
                  <a:txBody>
                    <a:bodyPr/>
                    <a:lstStyle/>
                    <a:p>
                      <a:pPr>
                        <a:lnSpc>
                          <a:spcPct val="102000"/>
                        </a:lnSpc>
                        <a:buNone/>
                      </a:pPr>
                      <a:r>
                        <a:rPr lang="en-US" sz="900" b="0" i="0">
                          <a:solidFill>
                            <a:srgbClr val="070154"/>
                          </a:solidFill>
                          <a:latin typeface="Arial"/>
                          <a:ea typeface="Arial"/>
                          <a:cs typeface="Arial"/>
                        </a:rPr>
                        <a:t>Delivery measurement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00" b="0" i="0">
                          <a:solidFill>
                            <a:srgbClr val="50658E"/>
                          </a:solidFill>
                          <a:latin typeface="Arial"/>
                          <a:ea typeface="Arial"/>
                          <a:cs typeface="Arial"/>
                        </a:rPr>
                        <a:t>Core plans in story points (~65 per sprint). Recon has proposed cycle time by stage, CFD, and control charts, not yet running. No DORA-style measures.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7"/>
                  </a:ext>
                </a:extLst>
              </a:tr>
              <a:tr h="440000">
                <a:tc>
                  <a:txBody>
                    <a:bodyPr/>
                    <a:lstStyle/>
                    <a:p>
                      <a:pPr>
                        <a:lnSpc>
                          <a:spcPct val="102000"/>
                        </a:lnSpc>
                        <a:buNone/>
                      </a:pPr>
                      <a:r>
                        <a:rPr lang="en-US" sz="900" b="0" i="0">
                          <a:solidFill>
                            <a:srgbClr val="070154"/>
                          </a:solidFill>
                          <a:latin typeface="Arial"/>
                          <a:ea typeface="Arial"/>
                          <a:cs typeface="Arial"/>
                        </a:rPr>
                        <a:t>Continuity and knowledge sharing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00" b="0" i="0">
                          <a:solidFill>
                            <a:srgbClr val="50658E"/>
                          </a:solidFill>
                          <a:latin typeface="Arial"/>
                          <a:ea typeface="Arial"/>
                          <a:cs typeface="Arial"/>
                        </a:rPr>
                        <a:t>On both platforms, review, technical direction, and approvals rely on a few senior people; onboarding paths are thin. New onshore leads are being added.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8"/>
                  </a:ext>
                </a:extLst>
              </a:tr>
            </a:tbl>
          </a:graphicData>
        </a:graphic>
      </p:graphicFrame>
      <p:sp>
        <p:nvSpPr>
          <p:cNvPr id="5" name="Footer Placeholder 1">
            <a:extLst>
              <a:ext uri="{FF2B5EF4-FFF2-40B4-BE49-F238E27FC236}">
                <a16:creationId xmlns:a16="http://schemas.microsoft.com/office/drawing/2014/main" id="{47D0A4CC-CE70-A71B-9F86-5FCB346623C5}"/>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8" name="Slide Number Placeholder 2">
            <a:extLst>
              <a:ext uri="{FF2B5EF4-FFF2-40B4-BE49-F238E27FC236}">
                <a16:creationId xmlns:a16="http://schemas.microsoft.com/office/drawing/2014/main" id="{DA40F4DA-2B04-18DC-0AE4-FC57928E87DA}"/>
              </a:ext>
            </a:extLst>
          </p:cNvPr>
          <p:cNvSpPr>
            <a:spLocks noGrp="1"/>
          </p:cNvSpPr>
          <p:nvPr>
            <p:ph type="sldNum" idx="11"/>
          </p:nvPr>
        </p:nvSpPr>
        <p:spPr>
          <a:xfrm>
            <a:off x="11509578" y="6400799"/>
            <a:ext cx="218871" cy="167949"/>
          </a:xfrm>
        </p:spPr>
        <p:txBody>
          <a:bodyPr/>
          <a:lstStyle/>
          <a:p>
            <a:fld id="{63DCA5C9-2E11-4C67-86EB-AE1DE127DC64}" type="slidenum">
              <a:rPr lang="en-US" smtClean="0"/>
              <a:t>12</a:t>
            </a:fld>
            <a:endParaRPr lang="en-US"/>
          </a:p>
        </p:txBody>
      </p:sp>
    </p:spTree>
    <p:extLst>
      <p:ext uri="{BB962C8B-B14F-4D97-AF65-F5344CB8AC3E}">
        <p14:creationId xmlns:p14="http://schemas.microsoft.com/office/powerpoint/2010/main" val="1737779565"/>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7D1C4-AB86-1B8F-2AC3-4B5FEDE88EA6}"/>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4721AF0C-CF97-4548-FE79-AC6B1F7AB2DB}"/>
              </a:ext>
            </a:extLst>
          </p:cNvPr>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5C7D69E3-D813-7BC8-493F-223FEB45E034}"/>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Three deliverables, one working structure</a:t>
            </a:r>
          </a:p>
        </p:txBody>
      </p:sp>
      <p:sp>
        <p:nvSpPr>
          <p:cNvPr id="4" name="Rectangle 3">
            <a:extLst>
              <a:ext uri="{FF2B5EF4-FFF2-40B4-BE49-F238E27FC236}">
                <a16:creationId xmlns:a16="http://schemas.microsoft.com/office/drawing/2014/main" id="{99042EBF-CAEF-F053-4192-45818F96CFB4}"/>
              </a:ext>
            </a:extLst>
          </p:cNvPr>
          <p:cNvSpPr>
            <a:spLocks noGrp="1"/>
          </p:cNvSpPr>
          <p:nvPr/>
        </p:nvSpPr>
        <p:spPr>
          <a:xfrm>
            <a:off x="457200" y="1790700"/>
            <a:ext cx="3429000" cy="36195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5" name="Rectangle 4">
            <a:extLst>
              <a:ext uri="{FF2B5EF4-FFF2-40B4-BE49-F238E27FC236}">
                <a16:creationId xmlns:a16="http://schemas.microsoft.com/office/drawing/2014/main" id="{1A87FCAC-9D94-E57F-B747-46B484E8F837}"/>
              </a:ext>
            </a:extLst>
          </p:cNvPr>
          <p:cNvSpPr>
            <a:spLocks noGrp="1"/>
          </p:cNvSpPr>
          <p:nvPr/>
        </p:nvSpPr>
        <p:spPr>
          <a:xfrm>
            <a:off x="685800" y="2057400"/>
            <a:ext cx="571500" cy="266700"/>
          </a:xfrm>
          <a:prstGeom prst="rect">
            <a:avLst/>
          </a:prstGeom>
          <a:solidFill>
            <a:srgbClr val="0047FF"/>
          </a:solidFill>
          <a:ln w="0">
            <a:noFill/>
          </a:ln>
        </p:spPr>
        <p:txBody>
          <a:bodyPr anchor="t">
            <a:normAutofit fontScale="94650"/>
          </a:bodyPr>
          <a:lstStyle/>
          <a:p>
            <a:pP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01</a:t>
            </a:r>
          </a:p>
        </p:txBody>
      </p:sp>
      <p:sp>
        <p:nvSpPr>
          <p:cNvPr id="6" name="Rectangle 5">
            <a:extLst>
              <a:ext uri="{FF2B5EF4-FFF2-40B4-BE49-F238E27FC236}">
                <a16:creationId xmlns:a16="http://schemas.microsoft.com/office/drawing/2014/main" id="{D578547B-E434-6D2C-72FF-F3FBE801CC1A}"/>
              </a:ext>
            </a:extLst>
          </p:cNvPr>
          <p:cNvSpPr>
            <a:spLocks noGrp="1"/>
          </p:cNvSpPr>
          <p:nvPr/>
        </p:nvSpPr>
        <p:spPr>
          <a:xfrm>
            <a:off x="685800" y="2571750"/>
            <a:ext cx="2952750" cy="1047750"/>
          </a:xfrm>
          <a:prstGeom prst="rect">
            <a:avLst/>
          </a:prstGeom>
          <a:noFill/>
          <a:ln w="0">
            <a:noFill/>
          </a:ln>
        </p:spPr>
        <p:txBody>
          <a:bodyPr anchor="t">
            <a:normAutofit/>
          </a:bodyPr>
          <a:lstStyle/>
          <a:p>
            <a:pPr>
              <a:lnSpc>
                <a:spcPct val="98000"/>
              </a:lnSpc>
              <a:defRPr sz="1725" b="1" i="0">
                <a:solidFill>
                  <a:srgbClr val="070154"/>
                </a:solidFill>
                <a:latin typeface="Arial"/>
                <a:ea typeface="Arial"/>
                <a:cs typeface="Arial"/>
              </a:defRPr>
            </a:pPr>
            <a:r>
              <a:rPr sz="1725" b="1">
                <a:solidFill>
                  <a:srgbClr val="070154"/>
                </a:solidFill>
                <a:latin typeface="Arial"/>
                <a:cs typeface="Arial"/>
              </a:rPr>
              <a:t>Validated Product and R&amp;D Practices Map</a:t>
            </a:r>
          </a:p>
        </p:txBody>
      </p:sp>
      <p:sp>
        <p:nvSpPr>
          <p:cNvPr id="7" name="Rectangle 6">
            <a:extLst>
              <a:ext uri="{FF2B5EF4-FFF2-40B4-BE49-F238E27FC236}">
                <a16:creationId xmlns:a16="http://schemas.microsoft.com/office/drawing/2014/main" id="{924D101E-BAE7-D778-4464-DB3EC30DAAD8}"/>
              </a:ext>
            </a:extLst>
          </p:cNvPr>
          <p:cNvSpPr>
            <a:spLocks noGrp="1"/>
          </p:cNvSpPr>
          <p:nvPr/>
        </p:nvSpPr>
        <p:spPr>
          <a:xfrm>
            <a:off x="685800" y="3943350"/>
            <a:ext cx="2952750" cy="952500"/>
          </a:xfrm>
          <a:prstGeom prst="rect">
            <a:avLst/>
          </a:prstGeom>
          <a:noFill/>
          <a:ln w="0">
            <a:noFill/>
          </a:ln>
        </p:spPr>
        <p:txBody>
          <a:bodyPr anchor="t">
            <a:normAutofit/>
          </a:bodyPr>
          <a:lstStyle/>
          <a:p>
            <a:pPr>
              <a:lnSpc>
                <a:spcPct val="110000"/>
              </a:lnSpc>
              <a:defRPr sz="1200" b="0" i="0">
                <a:solidFill>
                  <a:srgbClr val="50658E"/>
                </a:solidFill>
                <a:latin typeface="Arial"/>
                <a:ea typeface="Arial"/>
                <a:cs typeface="Arial"/>
              </a:defRPr>
            </a:pPr>
            <a:r>
              <a:rPr sz="1200">
                <a:solidFill>
                  <a:srgbClr val="50658E"/>
                </a:solidFill>
                <a:latin typeface="Arial"/>
                <a:cs typeface="Arial"/>
              </a:rPr>
              <a:t>A maturity-based view of observed strengths, gaps, and opportunities.</a:t>
            </a:r>
          </a:p>
        </p:txBody>
      </p:sp>
      <p:sp>
        <p:nvSpPr>
          <p:cNvPr id="8" name="Rectangle 7">
            <a:extLst>
              <a:ext uri="{FF2B5EF4-FFF2-40B4-BE49-F238E27FC236}">
                <a16:creationId xmlns:a16="http://schemas.microsoft.com/office/drawing/2014/main" id="{58EB081A-D821-8E66-8891-24C564BB7400}"/>
              </a:ext>
            </a:extLst>
          </p:cNvPr>
          <p:cNvSpPr>
            <a:spLocks noGrp="1"/>
          </p:cNvSpPr>
          <p:nvPr/>
        </p:nvSpPr>
        <p:spPr>
          <a:xfrm>
            <a:off x="4210050" y="1790700"/>
            <a:ext cx="3429000" cy="3619500"/>
          </a:xfrm>
          <a:prstGeom prst="rect">
            <a:avLst/>
          </a:prstGeom>
          <a:solidFill>
            <a:schemeClr val="tx1"/>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9" name="Rectangle 8">
            <a:extLst>
              <a:ext uri="{FF2B5EF4-FFF2-40B4-BE49-F238E27FC236}">
                <a16:creationId xmlns:a16="http://schemas.microsoft.com/office/drawing/2014/main" id="{449D1950-6BAC-C759-E3AD-1E567ABDFB3D}"/>
              </a:ext>
            </a:extLst>
          </p:cNvPr>
          <p:cNvSpPr>
            <a:spLocks noGrp="1"/>
          </p:cNvSpPr>
          <p:nvPr/>
        </p:nvSpPr>
        <p:spPr>
          <a:xfrm>
            <a:off x="4438650" y="2057400"/>
            <a:ext cx="571500" cy="266700"/>
          </a:xfrm>
          <a:prstGeom prst="rect">
            <a:avLst/>
          </a:prstGeom>
          <a:solidFill>
            <a:srgbClr val="0047FF"/>
          </a:solidFill>
          <a:ln w="0">
            <a:noFill/>
          </a:ln>
        </p:spPr>
        <p:txBody>
          <a:bodyPr anchor="t">
            <a:normAutofit fontScale="94650"/>
          </a:bodyPr>
          <a:lstStyle/>
          <a:p>
            <a:pPr>
              <a:lnSpc>
                <a:spcPct val="108000"/>
              </a:lnSpc>
            </a:pPr>
            <a:r>
              <a:rPr sz="1125" b="1">
                <a:solidFill>
                  <a:srgbClr val="FFFFFF"/>
                </a:solidFill>
                <a:latin typeface="Arial"/>
                <a:cs typeface="Arial"/>
              </a:rPr>
              <a:t>02</a:t>
            </a:r>
          </a:p>
        </p:txBody>
      </p:sp>
      <p:sp>
        <p:nvSpPr>
          <p:cNvPr id="10" name="Rectangle 9">
            <a:extLst>
              <a:ext uri="{FF2B5EF4-FFF2-40B4-BE49-F238E27FC236}">
                <a16:creationId xmlns:a16="http://schemas.microsoft.com/office/drawing/2014/main" id="{6149C4F1-C930-9561-FA7B-F8C4684A58FD}"/>
              </a:ext>
            </a:extLst>
          </p:cNvPr>
          <p:cNvSpPr>
            <a:spLocks noGrp="1"/>
          </p:cNvSpPr>
          <p:nvPr/>
        </p:nvSpPr>
        <p:spPr>
          <a:xfrm>
            <a:off x="4438650" y="2571750"/>
            <a:ext cx="2952750" cy="1047750"/>
          </a:xfrm>
          <a:prstGeom prst="rect">
            <a:avLst/>
          </a:prstGeom>
          <a:noFill/>
          <a:ln w="0">
            <a:noFill/>
          </a:ln>
        </p:spPr>
        <p:txBody>
          <a:bodyPr anchor="t">
            <a:normAutofit/>
          </a:bodyPr>
          <a:lstStyle/>
          <a:p>
            <a:pPr>
              <a:lnSpc>
                <a:spcPct val="98000"/>
              </a:lnSpc>
            </a:pPr>
            <a:r>
              <a:rPr sz="1725" b="1">
                <a:solidFill>
                  <a:schemeClr val="bg1"/>
                </a:solidFill>
                <a:latin typeface="Arial"/>
                <a:cs typeface="Arial"/>
              </a:rPr>
              <a:t>Activation Summary</a:t>
            </a:r>
          </a:p>
        </p:txBody>
      </p:sp>
      <p:sp>
        <p:nvSpPr>
          <p:cNvPr id="11" name="Rectangle 10">
            <a:extLst>
              <a:ext uri="{FF2B5EF4-FFF2-40B4-BE49-F238E27FC236}">
                <a16:creationId xmlns:a16="http://schemas.microsoft.com/office/drawing/2014/main" id="{4887534E-0F84-2721-8731-A153A2726F51}"/>
              </a:ext>
            </a:extLst>
          </p:cNvPr>
          <p:cNvSpPr>
            <a:spLocks noGrp="1"/>
          </p:cNvSpPr>
          <p:nvPr/>
        </p:nvSpPr>
        <p:spPr>
          <a:xfrm>
            <a:off x="4438650" y="3943350"/>
            <a:ext cx="2952750" cy="952500"/>
          </a:xfrm>
          <a:prstGeom prst="rect">
            <a:avLst/>
          </a:prstGeom>
          <a:noFill/>
          <a:ln w="0">
            <a:noFill/>
          </a:ln>
        </p:spPr>
        <p:txBody>
          <a:bodyPr anchor="t">
            <a:normAutofit/>
          </a:bodyPr>
          <a:lstStyle/>
          <a:p>
            <a:pPr>
              <a:lnSpc>
                <a:spcPct val="110000"/>
              </a:lnSpc>
            </a:pPr>
            <a:r>
              <a:rPr sz="1200">
                <a:solidFill>
                  <a:schemeClr val="bg1"/>
                </a:solidFill>
                <a:latin typeface="Arial"/>
                <a:cs typeface="Arial"/>
              </a:rPr>
              <a:t>A record of bounded changes tested in live work, early signals, and the activation playbook.</a:t>
            </a:r>
          </a:p>
        </p:txBody>
      </p:sp>
      <p:sp>
        <p:nvSpPr>
          <p:cNvPr id="12" name="Rectangle 11">
            <a:extLst>
              <a:ext uri="{FF2B5EF4-FFF2-40B4-BE49-F238E27FC236}">
                <a16:creationId xmlns:a16="http://schemas.microsoft.com/office/drawing/2014/main" id="{A8E0FF92-CD90-441F-5194-D8748AC9C076}"/>
              </a:ext>
            </a:extLst>
          </p:cNvPr>
          <p:cNvSpPr>
            <a:spLocks noGrp="1"/>
          </p:cNvSpPr>
          <p:nvPr/>
        </p:nvSpPr>
        <p:spPr>
          <a:xfrm>
            <a:off x="7962900" y="1790700"/>
            <a:ext cx="3429000" cy="36195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13" name="Rectangle 12">
            <a:extLst>
              <a:ext uri="{FF2B5EF4-FFF2-40B4-BE49-F238E27FC236}">
                <a16:creationId xmlns:a16="http://schemas.microsoft.com/office/drawing/2014/main" id="{4B80335F-3B4A-311B-F679-16306D6F3D8F}"/>
              </a:ext>
            </a:extLst>
          </p:cNvPr>
          <p:cNvSpPr>
            <a:spLocks noGrp="1"/>
          </p:cNvSpPr>
          <p:nvPr/>
        </p:nvSpPr>
        <p:spPr>
          <a:xfrm>
            <a:off x="8191500" y="2057400"/>
            <a:ext cx="571500" cy="266700"/>
          </a:xfrm>
          <a:prstGeom prst="rect">
            <a:avLst/>
          </a:prstGeom>
          <a:solidFill>
            <a:srgbClr val="0047FF"/>
          </a:solidFill>
          <a:ln w="0">
            <a:noFill/>
          </a:ln>
        </p:spPr>
        <p:txBody>
          <a:bodyPr anchor="t">
            <a:normAutofit fontScale="94650"/>
          </a:bodyPr>
          <a:lstStyle/>
          <a:p>
            <a:pP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03</a:t>
            </a:r>
          </a:p>
        </p:txBody>
      </p:sp>
      <p:sp>
        <p:nvSpPr>
          <p:cNvPr id="14" name="Rectangle 13">
            <a:extLst>
              <a:ext uri="{FF2B5EF4-FFF2-40B4-BE49-F238E27FC236}">
                <a16:creationId xmlns:a16="http://schemas.microsoft.com/office/drawing/2014/main" id="{35DA46F7-D66B-0BD4-A54C-E5FA40FE6743}"/>
              </a:ext>
            </a:extLst>
          </p:cNvPr>
          <p:cNvSpPr>
            <a:spLocks noGrp="1"/>
          </p:cNvSpPr>
          <p:nvPr/>
        </p:nvSpPr>
        <p:spPr>
          <a:xfrm>
            <a:off x="8191500" y="2571750"/>
            <a:ext cx="2952750" cy="1047750"/>
          </a:xfrm>
          <a:prstGeom prst="rect">
            <a:avLst/>
          </a:prstGeom>
          <a:noFill/>
          <a:ln w="0">
            <a:noFill/>
          </a:ln>
        </p:spPr>
        <p:txBody>
          <a:bodyPr anchor="t">
            <a:normAutofit/>
          </a:bodyPr>
          <a:lstStyle/>
          <a:p>
            <a:pPr>
              <a:lnSpc>
                <a:spcPct val="98000"/>
              </a:lnSpc>
              <a:buNone/>
              <a:defRPr sz="1725" b="1" i="0">
                <a:solidFill>
                  <a:srgbClr val="070154"/>
                </a:solidFill>
                <a:latin typeface="Arial"/>
                <a:ea typeface="Arial"/>
                <a:cs typeface="Arial"/>
              </a:defRPr>
            </a:pPr>
            <a:r>
              <a:rPr sz="1725" b="1" i="0">
                <a:solidFill>
                  <a:srgbClr val="070154"/>
                </a:solidFill>
                <a:latin typeface="Arial"/>
                <a:ea typeface="Arial"/>
                <a:cs typeface="Arial"/>
              </a:rPr>
              <a:t>Prioritized Operating Model Recommendations and Activation Roadmap</a:t>
            </a:r>
          </a:p>
        </p:txBody>
      </p:sp>
      <p:sp>
        <p:nvSpPr>
          <p:cNvPr id="15" name="Rectangle 14">
            <a:extLst>
              <a:ext uri="{FF2B5EF4-FFF2-40B4-BE49-F238E27FC236}">
                <a16:creationId xmlns:a16="http://schemas.microsoft.com/office/drawing/2014/main" id="{7A58A3EE-842B-1336-BA48-A227F4A469A6}"/>
              </a:ext>
            </a:extLst>
          </p:cNvPr>
          <p:cNvSpPr>
            <a:spLocks noGrp="1"/>
          </p:cNvSpPr>
          <p:nvPr/>
        </p:nvSpPr>
        <p:spPr>
          <a:xfrm>
            <a:off x="8191500" y="3943350"/>
            <a:ext cx="2952750" cy="952500"/>
          </a:xfrm>
          <a:prstGeom prst="rect">
            <a:avLst/>
          </a:prstGeom>
          <a:noFill/>
          <a:ln w="0">
            <a:noFill/>
          </a:ln>
        </p:spPr>
        <p:txBody>
          <a:bodyPr anchor="t">
            <a:normAutofit/>
          </a:bodyPr>
          <a:lstStyle/>
          <a:p>
            <a:pPr>
              <a:lnSpc>
                <a:spcPct val="110000"/>
              </a:lnSpc>
              <a:buNone/>
              <a:defRPr sz="1200" b="0" i="0">
                <a:solidFill>
                  <a:srgbClr val="50658E"/>
                </a:solidFill>
                <a:latin typeface="Arial"/>
                <a:ea typeface="Arial"/>
                <a:cs typeface="Arial"/>
              </a:defRPr>
            </a:pPr>
            <a:r>
              <a:rPr sz="1200" b="0" i="0">
                <a:solidFill>
                  <a:srgbClr val="50658E"/>
                </a:solidFill>
                <a:latin typeface="Arial"/>
                <a:ea typeface="Arial"/>
                <a:cs typeface="Arial"/>
              </a:rPr>
              <a:t>Recommended practices, decision rights, roles, measures, feedback loops, owners, and dependencies.</a:t>
            </a:r>
          </a:p>
        </p:txBody>
      </p:sp>
      <p:sp>
        <p:nvSpPr>
          <p:cNvPr id="16" name="Rectangle 15">
            <a:extLst>
              <a:ext uri="{FF2B5EF4-FFF2-40B4-BE49-F238E27FC236}">
                <a16:creationId xmlns:a16="http://schemas.microsoft.com/office/drawing/2014/main" id="{F4EA6401-EE4C-716F-B5EB-7D0F03998C1A}"/>
              </a:ext>
            </a:extLst>
          </p:cNvPr>
          <p:cNvSpPr>
            <a:spLocks noGrp="1"/>
          </p:cNvSpPr>
          <p:nvPr/>
        </p:nvSpPr>
        <p:spPr>
          <a:xfrm>
            <a:off x="457200" y="5734050"/>
            <a:ext cx="10668000" cy="4000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Working inputs already surfaced: internal signals, opportunity briefs, PRDs, feature briefs, epics, implementation plans, agentic delivery patterns, and early interview themes.</a:t>
            </a:r>
          </a:p>
        </p:txBody>
      </p:sp>
      <p:sp>
        <p:nvSpPr>
          <p:cNvPr id="101" name="Accent Bar 1">
            <a:extLst>
              <a:ext uri="{FF2B5EF4-FFF2-40B4-BE49-F238E27FC236}">
                <a16:creationId xmlns:a16="http://schemas.microsoft.com/office/drawing/2014/main" id="{1DD8B1D2-8CA3-27F6-36DB-222013B734C5}"/>
              </a:ext>
            </a:extLst>
          </p:cNvPr>
          <p:cNvSpPr/>
          <p:nvPr/>
        </p:nvSpPr>
        <p:spPr>
          <a:xfrm>
            <a:off x="457200" y="1790700"/>
            <a:ext cx="3429000" cy="63500"/>
          </a:xfrm>
          <a:prstGeom prst="rect">
            <a:avLst/>
          </a:prstGeom>
          <a:solidFill>
            <a:srgbClr val="00E8FA"/>
          </a:solidFill>
          <a:ln>
            <a:noFill/>
          </a:ln>
        </p:spPr>
        <p:txBody>
          <a:bodyPr/>
          <a:lstStyle/>
          <a:p>
            <a:endParaRPr/>
          </a:p>
        </p:txBody>
      </p:sp>
      <p:sp>
        <p:nvSpPr>
          <p:cNvPr id="102" name="Accent Bar 2">
            <a:extLst>
              <a:ext uri="{FF2B5EF4-FFF2-40B4-BE49-F238E27FC236}">
                <a16:creationId xmlns:a16="http://schemas.microsoft.com/office/drawing/2014/main" id="{913B35E0-15B9-A240-6885-BDF2FF923301}"/>
              </a:ext>
            </a:extLst>
          </p:cNvPr>
          <p:cNvSpPr/>
          <p:nvPr/>
        </p:nvSpPr>
        <p:spPr>
          <a:xfrm>
            <a:off x="4216400" y="1790700"/>
            <a:ext cx="3429000" cy="63500"/>
          </a:xfrm>
          <a:prstGeom prst="rect">
            <a:avLst/>
          </a:prstGeom>
          <a:solidFill>
            <a:srgbClr val="F900D3"/>
          </a:solidFill>
          <a:ln>
            <a:noFill/>
          </a:ln>
        </p:spPr>
        <p:txBody>
          <a:bodyPr/>
          <a:lstStyle/>
          <a:p>
            <a:endParaRPr/>
          </a:p>
        </p:txBody>
      </p:sp>
      <p:sp>
        <p:nvSpPr>
          <p:cNvPr id="103" name="Accent Bar 3">
            <a:extLst>
              <a:ext uri="{FF2B5EF4-FFF2-40B4-BE49-F238E27FC236}">
                <a16:creationId xmlns:a16="http://schemas.microsoft.com/office/drawing/2014/main" id="{E8596D6E-FFEA-072A-D319-823D86840675}"/>
              </a:ext>
            </a:extLst>
          </p:cNvPr>
          <p:cNvSpPr/>
          <p:nvPr/>
        </p:nvSpPr>
        <p:spPr>
          <a:xfrm>
            <a:off x="7962900" y="1790700"/>
            <a:ext cx="3429000" cy="63500"/>
          </a:xfrm>
          <a:prstGeom prst="rect">
            <a:avLst/>
          </a:prstGeom>
          <a:solidFill>
            <a:srgbClr val="00A3FF"/>
          </a:solidFill>
          <a:ln>
            <a:noFill/>
          </a:ln>
        </p:spPr>
        <p:txBody>
          <a:bodyPr/>
          <a:lstStyle/>
          <a:p>
            <a:endParaRPr/>
          </a:p>
        </p:txBody>
      </p:sp>
      <p:sp>
        <p:nvSpPr>
          <p:cNvPr id="23" name="Footer Placeholder 1">
            <a:extLst>
              <a:ext uri="{FF2B5EF4-FFF2-40B4-BE49-F238E27FC236}">
                <a16:creationId xmlns:a16="http://schemas.microsoft.com/office/drawing/2014/main" id="{DB3F2C07-3271-2EE2-B7D8-844AD580F3D1}"/>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24" name="Slide Number Placeholder 2">
            <a:extLst>
              <a:ext uri="{FF2B5EF4-FFF2-40B4-BE49-F238E27FC236}">
                <a16:creationId xmlns:a16="http://schemas.microsoft.com/office/drawing/2014/main" id="{53528A0B-8A61-8C18-EA21-A5FF34535C34}"/>
              </a:ext>
            </a:extLst>
          </p:cNvPr>
          <p:cNvSpPr>
            <a:spLocks noGrp="1"/>
          </p:cNvSpPr>
          <p:nvPr>
            <p:ph type="sldNum" idx="11"/>
          </p:nvPr>
        </p:nvSpPr>
        <p:spPr>
          <a:xfrm>
            <a:off x="11509578" y="6400799"/>
            <a:ext cx="218871" cy="167949"/>
          </a:xfrm>
        </p:spPr>
        <p:txBody>
          <a:bodyPr/>
          <a:lstStyle/>
          <a:p>
            <a:fld id="{63DCA5C9-2E11-4C67-86EB-AE1DE127DC64}" type="slidenum">
              <a:rPr lang="en-US" smtClean="0"/>
              <a:t>13</a:t>
            </a:fld>
            <a:endParaRPr lang="en-US"/>
          </a:p>
        </p:txBody>
      </p:sp>
    </p:spTree>
    <p:extLst>
      <p:ext uri="{BB962C8B-B14F-4D97-AF65-F5344CB8AC3E}">
        <p14:creationId xmlns:p14="http://schemas.microsoft.com/office/powerpoint/2010/main" val="3709932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1BECD5C8-E9C7-42AF-8EBB-B3453282D417}"/>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Activation Summary: from signal to implementation plan</a:t>
            </a:r>
          </a:p>
        </p:txBody>
      </p:sp>
      <p:sp>
        <p:nvSpPr>
          <p:cNvPr id="3" name="Rectangle 2">
            <a:extLst>
              <a:ext uri="{FF2B5EF4-FFF2-40B4-BE49-F238E27FC236}">
                <a16:creationId xmlns:a16="http://schemas.microsoft.com/office/drawing/2014/main" id="{1094556B-B419-4CD6-B47B-A6EA7AC3687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A working definition path to test in one selected live initiative, now with an Engineering-owned design step before the plan.</a:t>
            </a:r>
          </a:p>
        </p:txBody>
      </p:sp>
      <p:sp>
        <p:nvSpPr>
          <p:cNvPr id="4" name="Rectangle 3">
            <a:extLst>
              <a:ext uri="{FF2B5EF4-FFF2-40B4-BE49-F238E27FC236}">
                <a16:creationId xmlns:a16="http://schemas.microsoft.com/office/drawing/2014/main" id="{C643CB08-3431-4085-B49C-011210F5730F}"/>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02</a:t>
            </a:r>
          </a:p>
        </p:txBody>
      </p:sp>
      <p:sp>
        <p:nvSpPr>
          <p:cNvPr id="5" name="Rectangle 4">
            <a:extLst>
              <a:ext uri="{FF2B5EF4-FFF2-40B4-BE49-F238E27FC236}">
                <a16:creationId xmlns:a16="http://schemas.microsoft.com/office/drawing/2014/main" id="{3891F9FA-6A72-45E2-9A09-BCD846E4F703}"/>
              </a:ext>
            </a:extLst>
          </p:cNvPr>
          <p:cNvSpPr>
            <a:spLocks noGrp="1"/>
          </p:cNvSpPr>
          <p:nvPr/>
        </p:nvSpPr>
        <p:spPr>
          <a:xfrm>
            <a:off x="457200" y="1809750"/>
            <a:ext cx="1736725" cy="257175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6" name="Rectangle 5">
            <a:extLst>
              <a:ext uri="{FF2B5EF4-FFF2-40B4-BE49-F238E27FC236}">
                <a16:creationId xmlns:a16="http://schemas.microsoft.com/office/drawing/2014/main" id="{75AF9694-BD88-41F1-9684-BAE973D2A263}"/>
              </a:ext>
            </a:extLst>
          </p:cNvPr>
          <p:cNvSpPr>
            <a:spLocks noGrp="1"/>
          </p:cNvSpPr>
          <p:nvPr/>
        </p:nvSpPr>
        <p:spPr>
          <a:xfrm>
            <a:off x="577200" y="1992041"/>
            <a:ext cx="476250" cy="251021"/>
          </a:xfrm>
          <a:prstGeom prst="rect">
            <a:avLst/>
          </a:prstGeom>
          <a:solidFill>
            <a:srgbClr val="0047FF"/>
          </a:solidFill>
          <a:ln w="0">
            <a:noFill/>
          </a:ln>
        </p:spPr>
        <p:txBody>
          <a:bodyPr anchor="t">
            <a:noAutofit/>
          </a:bodyPr>
          <a:lstStyle/>
          <a:p>
            <a:pPr>
              <a:lnSpc>
                <a:spcPct val="108000"/>
              </a:lnSpc>
              <a:buNone/>
              <a:defRPr sz="825" b="1" i="0">
                <a:solidFill>
                  <a:srgbClr val="FFFFFF"/>
                </a:solidFill>
                <a:latin typeface="Arial"/>
                <a:ea typeface="Arial"/>
                <a:cs typeface="Arial"/>
              </a:defRPr>
            </a:pPr>
            <a:r>
              <a:rPr sz="1100" b="1" i="0">
                <a:solidFill>
                  <a:srgbClr val="FFFFFF"/>
                </a:solidFill>
                <a:latin typeface="Arial"/>
                <a:ea typeface="Arial"/>
                <a:cs typeface="Arial"/>
              </a:rPr>
              <a:t>01</a:t>
            </a:r>
          </a:p>
        </p:txBody>
      </p:sp>
      <p:sp>
        <p:nvSpPr>
          <p:cNvPr id="7" name="Rectangle 6">
            <a:extLst>
              <a:ext uri="{FF2B5EF4-FFF2-40B4-BE49-F238E27FC236}">
                <a16:creationId xmlns:a16="http://schemas.microsoft.com/office/drawing/2014/main" id="{C27F209F-5D1C-45C7-A8F4-942437C101BD}"/>
              </a:ext>
            </a:extLst>
          </p:cNvPr>
          <p:cNvSpPr>
            <a:spLocks noGrp="1"/>
          </p:cNvSpPr>
          <p:nvPr/>
        </p:nvSpPr>
        <p:spPr>
          <a:xfrm>
            <a:off x="577200" y="2419350"/>
            <a:ext cx="1496725" cy="514350"/>
          </a:xfrm>
          <a:prstGeom prst="rect">
            <a:avLst/>
          </a:prstGeom>
          <a:noFill/>
          <a:ln w="0">
            <a:noFill/>
          </a:ln>
        </p:spPr>
        <p:txBody>
          <a:bodyPr anchor="t">
            <a:normAutofit/>
          </a:bodyPr>
          <a:lstStyle/>
          <a:p>
            <a:pPr>
              <a:lnSpc>
                <a:spcPct val="98000"/>
              </a:lnSpc>
              <a:buNone/>
              <a:defRPr sz="1300" b="1" i="0">
                <a:solidFill>
                  <a:srgbClr val="070154"/>
                </a:solidFill>
                <a:latin typeface="Arial"/>
                <a:ea typeface="Arial"/>
                <a:cs typeface="Arial"/>
              </a:defRPr>
            </a:pPr>
            <a:r>
              <a:rPr sz="1300" b="1" i="0">
                <a:solidFill>
                  <a:srgbClr val="070154"/>
                </a:solidFill>
                <a:latin typeface="Arial"/>
                <a:ea typeface="Arial"/>
                <a:cs typeface="Arial"/>
              </a:rPr>
              <a:t>Internal signal</a:t>
            </a:r>
          </a:p>
        </p:txBody>
      </p:sp>
      <p:sp>
        <p:nvSpPr>
          <p:cNvPr id="8" name="Rectangle 7">
            <a:extLst>
              <a:ext uri="{FF2B5EF4-FFF2-40B4-BE49-F238E27FC236}">
                <a16:creationId xmlns:a16="http://schemas.microsoft.com/office/drawing/2014/main" id="{95E81555-88CF-46BA-A73A-AD76D7F5A3D9}"/>
              </a:ext>
            </a:extLst>
          </p:cNvPr>
          <p:cNvSpPr>
            <a:spLocks noGrp="1"/>
          </p:cNvSpPr>
          <p:nvPr/>
        </p:nvSpPr>
        <p:spPr>
          <a:xfrm>
            <a:off x="577200" y="3200400"/>
            <a:ext cx="1496725" cy="8572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Customer, support, operations, research, or engineering evidence.</a:t>
            </a:r>
          </a:p>
        </p:txBody>
      </p:sp>
      <p:sp>
        <p:nvSpPr>
          <p:cNvPr id="9" name="Rectangle 8">
            <a:extLst>
              <a:ext uri="{FF2B5EF4-FFF2-40B4-BE49-F238E27FC236}">
                <a16:creationId xmlns:a16="http://schemas.microsoft.com/office/drawing/2014/main" id="{2D63D53C-0487-4296-9A9D-45D78B38C006}"/>
              </a:ext>
            </a:extLst>
          </p:cNvPr>
          <p:cNvSpPr>
            <a:spLocks noGrp="1"/>
          </p:cNvSpPr>
          <p:nvPr/>
        </p:nvSpPr>
        <p:spPr>
          <a:xfrm>
            <a:off x="2365375" y="1809750"/>
            <a:ext cx="1736725" cy="257175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10" name="Rectangle 9">
            <a:extLst>
              <a:ext uri="{FF2B5EF4-FFF2-40B4-BE49-F238E27FC236}">
                <a16:creationId xmlns:a16="http://schemas.microsoft.com/office/drawing/2014/main" id="{B49C033B-D793-4143-9D64-728DCCBF2DF0}"/>
              </a:ext>
            </a:extLst>
          </p:cNvPr>
          <p:cNvSpPr>
            <a:spLocks noGrp="1"/>
          </p:cNvSpPr>
          <p:nvPr/>
        </p:nvSpPr>
        <p:spPr>
          <a:xfrm>
            <a:off x="2485375" y="1992041"/>
            <a:ext cx="476250" cy="251021"/>
          </a:xfrm>
          <a:prstGeom prst="rect">
            <a:avLst/>
          </a:prstGeom>
          <a:solidFill>
            <a:srgbClr val="0047FF"/>
          </a:solidFill>
          <a:ln w="0">
            <a:noFill/>
          </a:ln>
        </p:spPr>
        <p:txBody>
          <a:bodyPr anchor="t">
            <a:noAutofit/>
          </a:bodyPr>
          <a:lstStyle/>
          <a:p>
            <a:pPr>
              <a:lnSpc>
                <a:spcPct val="108000"/>
              </a:lnSpc>
              <a:buNone/>
              <a:defRPr sz="825" b="1" i="0">
                <a:solidFill>
                  <a:srgbClr val="FFFFFF"/>
                </a:solidFill>
                <a:latin typeface="Arial"/>
                <a:ea typeface="Arial"/>
                <a:cs typeface="Arial"/>
              </a:defRPr>
            </a:pPr>
            <a:r>
              <a:rPr sz="1100" b="1" i="0">
                <a:solidFill>
                  <a:srgbClr val="FFFFFF"/>
                </a:solidFill>
                <a:latin typeface="Arial"/>
                <a:ea typeface="Arial"/>
                <a:cs typeface="Arial"/>
              </a:rPr>
              <a:t>02</a:t>
            </a:r>
          </a:p>
        </p:txBody>
      </p:sp>
      <p:sp>
        <p:nvSpPr>
          <p:cNvPr id="11" name="Rectangle 10">
            <a:extLst>
              <a:ext uri="{FF2B5EF4-FFF2-40B4-BE49-F238E27FC236}">
                <a16:creationId xmlns:a16="http://schemas.microsoft.com/office/drawing/2014/main" id="{8CC7D1CC-D1BF-490C-8B80-FA3BEB8B4E66}"/>
              </a:ext>
            </a:extLst>
          </p:cNvPr>
          <p:cNvSpPr>
            <a:spLocks noGrp="1"/>
          </p:cNvSpPr>
          <p:nvPr/>
        </p:nvSpPr>
        <p:spPr>
          <a:xfrm>
            <a:off x="2485375" y="2419350"/>
            <a:ext cx="1496725" cy="514350"/>
          </a:xfrm>
          <a:prstGeom prst="rect">
            <a:avLst/>
          </a:prstGeom>
          <a:noFill/>
          <a:ln w="0">
            <a:noFill/>
          </a:ln>
        </p:spPr>
        <p:txBody>
          <a:bodyPr anchor="t">
            <a:normAutofit/>
          </a:bodyPr>
          <a:lstStyle/>
          <a:p>
            <a:pPr>
              <a:lnSpc>
                <a:spcPct val="98000"/>
              </a:lnSpc>
              <a:buNone/>
              <a:defRPr sz="1300" b="1" i="0">
                <a:solidFill>
                  <a:srgbClr val="070154"/>
                </a:solidFill>
                <a:latin typeface="Arial"/>
                <a:ea typeface="Arial"/>
                <a:cs typeface="Arial"/>
              </a:defRPr>
            </a:pPr>
            <a:r>
              <a:rPr sz="1300" b="1" i="0">
                <a:solidFill>
                  <a:srgbClr val="070154"/>
                </a:solidFill>
                <a:latin typeface="Arial"/>
                <a:ea typeface="Arial"/>
                <a:cs typeface="Arial"/>
              </a:rPr>
              <a:t>Opportunity brief</a:t>
            </a:r>
          </a:p>
        </p:txBody>
      </p:sp>
      <p:sp>
        <p:nvSpPr>
          <p:cNvPr id="12" name="Rectangle 11">
            <a:extLst>
              <a:ext uri="{FF2B5EF4-FFF2-40B4-BE49-F238E27FC236}">
                <a16:creationId xmlns:a16="http://schemas.microsoft.com/office/drawing/2014/main" id="{BD8A157F-11CE-4BE3-B8D3-F03C79302971}"/>
              </a:ext>
            </a:extLst>
          </p:cNvPr>
          <p:cNvSpPr>
            <a:spLocks noGrp="1"/>
          </p:cNvSpPr>
          <p:nvPr/>
        </p:nvSpPr>
        <p:spPr>
          <a:xfrm>
            <a:off x="2485375" y="3200400"/>
            <a:ext cx="1496725" cy="8572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Problem, evidence, outcome, decision, and why now.</a:t>
            </a:r>
          </a:p>
        </p:txBody>
      </p:sp>
      <p:sp>
        <p:nvSpPr>
          <p:cNvPr id="13" name="Rectangle 12">
            <a:extLst>
              <a:ext uri="{FF2B5EF4-FFF2-40B4-BE49-F238E27FC236}">
                <a16:creationId xmlns:a16="http://schemas.microsoft.com/office/drawing/2014/main" id="{A83BF6F0-B6FC-49C8-A89F-D895BA6DD8AE}"/>
              </a:ext>
            </a:extLst>
          </p:cNvPr>
          <p:cNvSpPr>
            <a:spLocks noGrp="1"/>
          </p:cNvSpPr>
          <p:nvPr/>
        </p:nvSpPr>
        <p:spPr>
          <a:xfrm>
            <a:off x="4273550" y="1809750"/>
            <a:ext cx="1736725" cy="257175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14" name="Rectangle 13">
            <a:extLst>
              <a:ext uri="{FF2B5EF4-FFF2-40B4-BE49-F238E27FC236}">
                <a16:creationId xmlns:a16="http://schemas.microsoft.com/office/drawing/2014/main" id="{E050B7FD-3886-48B6-AB62-433484B273FA}"/>
              </a:ext>
            </a:extLst>
          </p:cNvPr>
          <p:cNvSpPr>
            <a:spLocks noGrp="1"/>
          </p:cNvSpPr>
          <p:nvPr/>
        </p:nvSpPr>
        <p:spPr>
          <a:xfrm>
            <a:off x="4393550" y="1992041"/>
            <a:ext cx="476250" cy="251021"/>
          </a:xfrm>
          <a:prstGeom prst="rect">
            <a:avLst/>
          </a:prstGeom>
          <a:solidFill>
            <a:srgbClr val="0047FF"/>
          </a:solidFill>
          <a:ln w="0">
            <a:noFill/>
          </a:ln>
        </p:spPr>
        <p:txBody>
          <a:bodyPr anchor="t">
            <a:noAutofit/>
          </a:bodyPr>
          <a:lstStyle/>
          <a:p>
            <a:pPr>
              <a:lnSpc>
                <a:spcPct val="108000"/>
              </a:lnSpc>
            </a:pPr>
            <a:r>
              <a:rPr sz="1100" b="1">
                <a:solidFill>
                  <a:srgbClr val="FFFFFF"/>
                </a:solidFill>
                <a:latin typeface="Arial"/>
                <a:cs typeface="Arial"/>
              </a:rPr>
              <a:t>03</a:t>
            </a:r>
          </a:p>
        </p:txBody>
      </p:sp>
      <p:sp>
        <p:nvSpPr>
          <p:cNvPr id="15" name="Rectangle 14">
            <a:extLst>
              <a:ext uri="{FF2B5EF4-FFF2-40B4-BE49-F238E27FC236}">
                <a16:creationId xmlns:a16="http://schemas.microsoft.com/office/drawing/2014/main" id="{649920E0-5889-4781-8DCC-FF2516816841}"/>
              </a:ext>
            </a:extLst>
          </p:cNvPr>
          <p:cNvSpPr>
            <a:spLocks noGrp="1"/>
          </p:cNvSpPr>
          <p:nvPr/>
        </p:nvSpPr>
        <p:spPr>
          <a:xfrm>
            <a:off x="4393550" y="2419350"/>
            <a:ext cx="1496725" cy="514350"/>
          </a:xfrm>
          <a:prstGeom prst="rect">
            <a:avLst/>
          </a:prstGeom>
          <a:noFill/>
          <a:ln w="0">
            <a:noFill/>
          </a:ln>
        </p:spPr>
        <p:txBody>
          <a:bodyPr anchor="t">
            <a:normAutofit/>
          </a:bodyPr>
          <a:lstStyle/>
          <a:p>
            <a:pPr>
              <a:lnSpc>
                <a:spcPct val="98000"/>
              </a:lnSpc>
            </a:pPr>
            <a:r>
              <a:rPr sz="1300" b="1">
                <a:solidFill>
                  <a:srgbClr val="070154"/>
                </a:solidFill>
                <a:latin typeface="Arial"/>
                <a:cs typeface="Arial"/>
              </a:rPr>
              <a:t>Product brief / PRD</a:t>
            </a:r>
          </a:p>
        </p:txBody>
      </p:sp>
      <p:sp>
        <p:nvSpPr>
          <p:cNvPr id="16" name="Rectangle 15">
            <a:extLst>
              <a:ext uri="{FF2B5EF4-FFF2-40B4-BE49-F238E27FC236}">
                <a16:creationId xmlns:a16="http://schemas.microsoft.com/office/drawing/2014/main" id="{0330D74E-9D44-4EDA-A47F-8E33CD0FB687}"/>
              </a:ext>
            </a:extLst>
          </p:cNvPr>
          <p:cNvSpPr>
            <a:spLocks noGrp="1"/>
          </p:cNvSpPr>
          <p:nvPr/>
        </p:nvSpPr>
        <p:spPr>
          <a:xfrm>
            <a:off x="4393550" y="3200400"/>
            <a:ext cx="1496725" cy="857250"/>
          </a:xfrm>
          <a:prstGeom prst="rect">
            <a:avLst/>
          </a:prstGeom>
          <a:noFill/>
          <a:ln w="0">
            <a:noFill/>
          </a:ln>
        </p:spPr>
        <p:txBody>
          <a:bodyPr anchor="t">
            <a:normAutofit/>
          </a:bodyPr>
          <a:lstStyle/>
          <a:p>
            <a:pPr>
              <a:lnSpc>
                <a:spcPct val="108000"/>
              </a:lnSpc>
            </a:pPr>
            <a:r>
              <a:rPr sz="1050">
                <a:solidFill>
                  <a:srgbClr val="50658E"/>
                </a:solidFill>
                <a:latin typeface="Arial"/>
                <a:cs typeface="Arial"/>
              </a:rPr>
              <a:t>User need, success measure, scope, and design context.</a:t>
            </a:r>
          </a:p>
        </p:txBody>
      </p:sp>
      <p:sp>
        <p:nvSpPr>
          <p:cNvPr id="17" name="Rectangle 16">
            <a:extLst>
              <a:ext uri="{FF2B5EF4-FFF2-40B4-BE49-F238E27FC236}">
                <a16:creationId xmlns:a16="http://schemas.microsoft.com/office/drawing/2014/main" id="{2E96DC23-5CEA-4F2A-885B-32901831D02A}"/>
              </a:ext>
            </a:extLst>
          </p:cNvPr>
          <p:cNvSpPr>
            <a:spLocks noGrp="1"/>
          </p:cNvSpPr>
          <p:nvPr/>
        </p:nvSpPr>
        <p:spPr>
          <a:xfrm>
            <a:off x="6181725" y="1809750"/>
            <a:ext cx="1736725" cy="257175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18" name="Rectangle 17">
            <a:extLst>
              <a:ext uri="{FF2B5EF4-FFF2-40B4-BE49-F238E27FC236}">
                <a16:creationId xmlns:a16="http://schemas.microsoft.com/office/drawing/2014/main" id="{59C9353C-60A5-4AC6-A953-AE267CCA88C3}"/>
              </a:ext>
            </a:extLst>
          </p:cNvPr>
          <p:cNvSpPr>
            <a:spLocks noGrp="1"/>
          </p:cNvSpPr>
          <p:nvPr/>
        </p:nvSpPr>
        <p:spPr>
          <a:xfrm>
            <a:off x="6301725" y="1992041"/>
            <a:ext cx="476250" cy="251021"/>
          </a:xfrm>
          <a:prstGeom prst="rect">
            <a:avLst/>
          </a:prstGeom>
          <a:solidFill>
            <a:srgbClr val="0047FF"/>
          </a:solidFill>
          <a:ln w="0">
            <a:noFill/>
          </a:ln>
        </p:spPr>
        <p:txBody>
          <a:bodyPr anchor="t">
            <a:noAutofit/>
          </a:bodyPr>
          <a:lstStyle/>
          <a:p>
            <a:pPr>
              <a:lnSpc>
                <a:spcPct val="108000"/>
              </a:lnSpc>
              <a:buNone/>
              <a:defRPr sz="825" b="1" i="0">
                <a:solidFill>
                  <a:srgbClr val="FFFFFF"/>
                </a:solidFill>
                <a:latin typeface="Arial"/>
                <a:ea typeface="Arial"/>
                <a:cs typeface="Arial"/>
              </a:defRPr>
            </a:pPr>
            <a:r>
              <a:rPr sz="1100" b="1" i="0">
                <a:solidFill>
                  <a:srgbClr val="FFFFFF"/>
                </a:solidFill>
                <a:latin typeface="Arial"/>
                <a:ea typeface="Arial"/>
                <a:cs typeface="Arial"/>
              </a:rPr>
              <a:t>04</a:t>
            </a:r>
          </a:p>
        </p:txBody>
      </p:sp>
      <p:sp>
        <p:nvSpPr>
          <p:cNvPr id="19" name="Rectangle 18">
            <a:extLst>
              <a:ext uri="{FF2B5EF4-FFF2-40B4-BE49-F238E27FC236}">
                <a16:creationId xmlns:a16="http://schemas.microsoft.com/office/drawing/2014/main" id="{9574273B-6500-4069-8680-23CDB0DD0227}"/>
              </a:ext>
            </a:extLst>
          </p:cNvPr>
          <p:cNvSpPr>
            <a:spLocks noGrp="1"/>
          </p:cNvSpPr>
          <p:nvPr/>
        </p:nvSpPr>
        <p:spPr>
          <a:xfrm>
            <a:off x="6301725" y="2419350"/>
            <a:ext cx="1496725" cy="514350"/>
          </a:xfrm>
          <a:prstGeom prst="rect">
            <a:avLst/>
          </a:prstGeom>
          <a:noFill/>
          <a:ln w="0">
            <a:noFill/>
          </a:ln>
        </p:spPr>
        <p:txBody>
          <a:bodyPr anchor="t">
            <a:normAutofit/>
          </a:bodyPr>
          <a:lstStyle/>
          <a:p>
            <a:pPr>
              <a:lnSpc>
                <a:spcPct val="98000"/>
              </a:lnSpc>
              <a:buNone/>
              <a:defRPr sz="1300" b="1" i="0">
                <a:solidFill>
                  <a:srgbClr val="070154"/>
                </a:solidFill>
                <a:latin typeface="Arial"/>
                <a:ea typeface="Arial"/>
                <a:cs typeface="Arial"/>
              </a:defRPr>
            </a:pPr>
            <a:r>
              <a:rPr sz="1300" b="1" i="0">
                <a:solidFill>
                  <a:srgbClr val="070154"/>
                </a:solidFill>
                <a:latin typeface="Arial"/>
                <a:ea typeface="Arial"/>
                <a:cs typeface="Arial"/>
              </a:rPr>
              <a:t>Feature brief / epic</a:t>
            </a:r>
          </a:p>
        </p:txBody>
      </p:sp>
      <p:sp>
        <p:nvSpPr>
          <p:cNvPr id="20" name="Rectangle 19">
            <a:extLst>
              <a:ext uri="{FF2B5EF4-FFF2-40B4-BE49-F238E27FC236}">
                <a16:creationId xmlns:a16="http://schemas.microsoft.com/office/drawing/2014/main" id="{784E278C-9B63-4267-AD7B-AD7778C6186B}"/>
              </a:ext>
            </a:extLst>
          </p:cNvPr>
          <p:cNvSpPr>
            <a:spLocks noGrp="1"/>
          </p:cNvSpPr>
          <p:nvPr/>
        </p:nvSpPr>
        <p:spPr>
          <a:xfrm>
            <a:off x="6301725" y="3200400"/>
            <a:ext cx="1496725" cy="8572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Decomposition, acceptance, ownership, and dependencies.</a:t>
            </a:r>
          </a:p>
        </p:txBody>
      </p:sp>
      <p:sp>
        <p:nvSpPr>
          <p:cNvPr id="70" name="TechDesign 0"/>
          <p:cNvSpPr>
            <a:spLocks noGrp="1"/>
          </p:cNvSpPr>
          <p:nvPr/>
        </p:nvSpPr>
        <p:spPr>
          <a:xfrm>
            <a:off x="8089900" y="1809750"/>
            <a:ext cx="1736725" cy="257175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71" name="TechDesign 1"/>
          <p:cNvSpPr>
            <a:spLocks noGrp="1"/>
          </p:cNvSpPr>
          <p:nvPr/>
        </p:nvSpPr>
        <p:spPr>
          <a:xfrm>
            <a:off x="8209900" y="1992041"/>
            <a:ext cx="476250" cy="251021"/>
          </a:xfrm>
          <a:prstGeom prst="rect">
            <a:avLst/>
          </a:prstGeom>
          <a:solidFill>
            <a:srgbClr val="0047FF"/>
          </a:solidFill>
          <a:ln w="0">
            <a:noFill/>
          </a:ln>
        </p:spPr>
        <p:txBody>
          <a:bodyPr anchor="t">
            <a:noAutofit/>
          </a:bodyPr>
          <a:lstStyle/>
          <a:p>
            <a:pPr>
              <a:lnSpc>
                <a:spcPct val="108000"/>
              </a:lnSpc>
              <a:buNone/>
              <a:defRPr sz="825" b="1" i="0">
                <a:solidFill>
                  <a:srgbClr val="FFFFFF"/>
                </a:solidFill>
                <a:latin typeface="Arial"/>
                <a:ea typeface="Arial"/>
                <a:cs typeface="Arial"/>
              </a:defRPr>
            </a:pPr>
            <a:r>
              <a:rPr sz="1100" b="1" i="0">
                <a:solidFill>
                  <a:srgbClr val="FFFFFF"/>
                </a:solidFill>
                <a:latin typeface="Arial"/>
                <a:ea typeface="Arial"/>
                <a:cs typeface="Arial"/>
              </a:rPr>
              <a:t>05</a:t>
            </a:r>
          </a:p>
        </p:txBody>
      </p:sp>
      <p:sp>
        <p:nvSpPr>
          <p:cNvPr id="72" name="TechDesign 2"/>
          <p:cNvSpPr>
            <a:spLocks noGrp="1"/>
          </p:cNvSpPr>
          <p:nvPr/>
        </p:nvSpPr>
        <p:spPr>
          <a:xfrm>
            <a:off x="8209900" y="2419350"/>
            <a:ext cx="1496725" cy="514350"/>
          </a:xfrm>
          <a:prstGeom prst="rect">
            <a:avLst/>
          </a:prstGeom>
          <a:noFill/>
          <a:ln w="0">
            <a:noFill/>
          </a:ln>
        </p:spPr>
        <p:txBody>
          <a:bodyPr anchor="t">
            <a:normAutofit/>
          </a:bodyPr>
          <a:lstStyle/>
          <a:p>
            <a:pPr>
              <a:lnSpc>
                <a:spcPct val="98000"/>
              </a:lnSpc>
              <a:buNone/>
              <a:defRPr sz="1300" b="1" i="0">
                <a:solidFill>
                  <a:srgbClr val="070154"/>
                </a:solidFill>
                <a:latin typeface="Arial"/>
                <a:ea typeface="Arial"/>
                <a:cs typeface="Arial"/>
              </a:defRPr>
            </a:pPr>
            <a:r>
              <a:rPr sz="1300" b="1" i="0">
                <a:solidFill>
                  <a:srgbClr val="070154"/>
                </a:solidFill>
                <a:latin typeface="Arial"/>
                <a:ea typeface="Arial"/>
                <a:cs typeface="Arial"/>
              </a:rPr>
              <a:t>Technical design</a:t>
            </a:r>
          </a:p>
        </p:txBody>
      </p:sp>
      <p:sp>
        <p:nvSpPr>
          <p:cNvPr id="73" name="TechDesign 3"/>
          <p:cNvSpPr>
            <a:spLocks noGrp="1"/>
          </p:cNvSpPr>
          <p:nvPr/>
        </p:nvSpPr>
        <p:spPr>
          <a:xfrm>
            <a:off x="8209900" y="3200400"/>
            <a:ext cx="1496725" cy="8572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Architecture, data flow, PHI, security, effort, and risk. Engineering signs.</a:t>
            </a:r>
          </a:p>
        </p:txBody>
      </p:sp>
      <p:sp>
        <p:nvSpPr>
          <p:cNvPr id="21" name="Rectangle 20">
            <a:extLst>
              <a:ext uri="{FF2B5EF4-FFF2-40B4-BE49-F238E27FC236}">
                <a16:creationId xmlns:a16="http://schemas.microsoft.com/office/drawing/2014/main" id="{5755AFFC-41AD-4C9C-BEBC-262C0E7A7060}"/>
              </a:ext>
            </a:extLst>
          </p:cNvPr>
          <p:cNvSpPr>
            <a:spLocks noGrp="1"/>
          </p:cNvSpPr>
          <p:nvPr/>
        </p:nvSpPr>
        <p:spPr>
          <a:xfrm>
            <a:off x="9998075" y="1809750"/>
            <a:ext cx="1736725" cy="257175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22" name="Rectangle 21">
            <a:extLst>
              <a:ext uri="{FF2B5EF4-FFF2-40B4-BE49-F238E27FC236}">
                <a16:creationId xmlns:a16="http://schemas.microsoft.com/office/drawing/2014/main" id="{C1794686-87D5-4012-82F2-5C913BC664D0}"/>
              </a:ext>
            </a:extLst>
          </p:cNvPr>
          <p:cNvSpPr>
            <a:spLocks noGrp="1"/>
          </p:cNvSpPr>
          <p:nvPr/>
        </p:nvSpPr>
        <p:spPr>
          <a:xfrm>
            <a:off x="10118075" y="1992041"/>
            <a:ext cx="476250" cy="251021"/>
          </a:xfrm>
          <a:prstGeom prst="rect">
            <a:avLst/>
          </a:prstGeom>
          <a:solidFill>
            <a:srgbClr val="0047FF"/>
          </a:solidFill>
          <a:ln w="0">
            <a:noFill/>
          </a:ln>
        </p:spPr>
        <p:txBody>
          <a:bodyPr anchor="t">
            <a:noAutofit/>
          </a:bodyPr>
          <a:lstStyle/>
          <a:p>
            <a:pPr>
              <a:lnSpc>
                <a:spcPct val="108000"/>
              </a:lnSpc>
              <a:buNone/>
              <a:defRPr sz="825" b="1" i="0">
                <a:solidFill>
                  <a:srgbClr val="FFFFFF"/>
                </a:solidFill>
                <a:latin typeface="Arial"/>
                <a:ea typeface="Arial"/>
                <a:cs typeface="Arial"/>
              </a:defRPr>
            </a:pPr>
            <a:r>
              <a:rPr sz="1100" b="1" i="0">
                <a:solidFill>
                  <a:srgbClr val="FFFFFF"/>
                </a:solidFill>
                <a:latin typeface="Arial"/>
                <a:ea typeface="Arial"/>
                <a:cs typeface="Arial"/>
              </a:rPr>
              <a:t>06</a:t>
            </a:r>
          </a:p>
        </p:txBody>
      </p:sp>
      <p:sp>
        <p:nvSpPr>
          <p:cNvPr id="23" name="Rectangle 22">
            <a:extLst>
              <a:ext uri="{FF2B5EF4-FFF2-40B4-BE49-F238E27FC236}">
                <a16:creationId xmlns:a16="http://schemas.microsoft.com/office/drawing/2014/main" id="{AE8F6B76-23E2-410A-BA9F-881AC4A46620}"/>
              </a:ext>
            </a:extLst>
          </p:cNvPr>
          <p:cNvSpPr>
            <a:spLocks noGrp="1"/>
          </p:cNvSpPr>
          <p:nvPr/>
        </p:nvSpPr>
        <p:spPr>
          <a:xfrm>
            <a:off x="10118075" y="2419350"/>
            <a:ext cx="1496725" cy="514350"/>
          </a:xfrm>
          <a:prstGeom prst="rect">
            <a:avLst/>
          </a:prstGeom>
          <a:noFill/>
          <a:ln w="0">
            <a:noFill/>
          </a:ln>
        </p:spPr>
        <p:txBody>
          <a:bodyPr anchor="t">
            <a:normAutofit/>
          </a:bodyPr>
          <a:lstStyle/>
          <a:p>
            <a:pPr>
              <a:lnSpc>
                <a:spcPct val="98000"/>
              </a:lnSpc>
              <a:buNone/>
              <a:defRPr sz="1300" b="1" i="0">
                <a:solidFill>
                  <a:srgbClr val="070154"/>
                </a:solidFill>
                <a:latin typeface="Arial"/>
                <a:ea typeface="Arial"/>
                <a:cs typeface="Arial"/>
              </a:defRPr>
            </a:pPr>
            <a:r>
              <a:rPr sz="1300" b="1" i="0">
                <a:solidFill>
                  <a:srgbClr val="070154"/>
                </a:solidFill>
                <a:latin typeface="Arial"/>
                <a:ea typeface="Arial"/>
                <a:cs typeface="Arial"/>
              </a:rPr>
              <a:t>Implementation plan</a:t>
            </a:r>
          </a:p>
        </p:txBody>
      </p:sp>
      <p:sp>
        <p:nvSpPr>
          <p:cNvPr id="24" name="Rectangle 23">
            <a:extLst>
              <a:ext uri="{FF2B5EF4-FFF2-40B4-BE49-F238E27FC236}">
                <a16:creationId xmlns:a16="http://schemas.microsoft.com/office/drawing/2014/main" id="{858C701F-C18A-4D7B-8EAD-20F36E14A203}"/>
              </a:ext>
            </a:extLst>
          </p:cNvPr>
          <p:cNvSpPr>
            <a:spLocks noGrp="1"/>
          </p:cNvSpPr>
          <p:nvPr/>
        </p:nvSpPr>
        <p:spPr>
          <a:xfrm>
            <a:off x="10118075" y="3200400"/>
            <a:ext cx="1496725" cy="8572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Sequence, validation, release evidence, and feedback.</a:t>
            </a:r>
          </a:p>
        </p:txBody>
      </p:sp>
      <p:sp>
        <p:nvSpPr>
          <p:cNvPr id="25" name="Rectangle 24">
            <a:extLst>
              <a:ext uri="{FF2B5EF4-FFF2-40B4-BE49-F238E27FC236}">
                <a16:creationId xmlns:a16="http://schemas.microsoft.com/office/drawing/2014/main" id="{A01D20E6-AECA-4E5A-B435-B789A6B3E634}"/>
              </a:ext>
            </a:extLst>
          </p:cNvPr>
          <p:cNvSpPr>
            <a:spLocks noGrp="1"/>
          </p:cNvSpPr>
          <p:nvPr/>
        </p:nvSpPr>
        <p:spPr>
          <a:xfrm>
            <a:off x="457200" y="4724400"/>
            <a:ext cx="11277600" cy="800100"/>
          </a:xfrm>
          <a:prstGeom prst="rect">
            <a:avLst/>
          </a:prstGeom>
          <a:solidFill>
            <a:srgbClr val="0047FF"/>
          </a:solidFill>
          <a:ln w="0">
            <a:noFill/>
          </a:ln>
        </p:spPr>
        <p:txBody>
          <a:bodyPr/>
          <a:lstStyle/>
          <a:p>
            <a:endParaRPr lang="en-US"/>
          </a:p>
        </p:txBody>
      </p:sp>
      <p:sp>
        <p:nvSpPr>
          <p:cNvPr id="26" name="Rectangle 25">
            <a:extLst>
              <a:ext uri="{FF2B5EF4-FFF2-40B4-BE49-F238E27FC236}">
                <a16:creationId xmlns:a16="http://schemas.microsoft.com/office/drawing/2014/main" id="{0AFB08FF-BA52-48B4-9F70-D32F2C57FB93}"/>
              </a:ext>
            </a:extLst>
          </p:cNvPr>
          <p:cNvSpPr>
            <a:spLocks noGrp="1"/>
          </p:cNvSpPr>
          <p:nvPr/>
        </p:nvSpPr>
        <p:spPr>
          <a:xfrm>
            <a:off x="685800" y="4953000"/>
            <a:ext cx="10820400" cy="342900"/>
          </a:xfrm>
          <a:prstGeom prst="rect">
            <a:avLst/>
          </a:prstGeom>
          <a:noFill/>
          <a:ln w="0">
            <a:noFill/>
          </a:ln>
        </p:spPr>
        <p:txBody>
          <a:bodyPr anchor="t">
            <a:normAutofit/>
          </a:bodyPr>
          <a:lstStyle/>
          <a:p>
            <a:pPr>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Test intent: make decision logic, feasibility, design context, and evidence visible before the team commits to delivery scope.</a:t>
            </a:r>
          </a:p>
        </p:txBody>
      </p:sp>
      <p:sp>
        <p:nvSpPr>
          <p:cNvPr id="205" name="Accent Bar 5"/>
          <p:cNvSpPr/>
          <p:nvPr/>
        </p:nvSpPr>
        <p:spPr>
          <a:xfrm>
            <a:off x="457200" y="1816100"/>
            <a:ext cx="1736725" cy="63500"/>
          </a:xfrm>
          <a:prstGeom prst="rect">
            <a:avLst/>
          </a:prstGeom>
          <a:solidFill>
            <a:srgbClr val="00E8FA"/>
          </a:solidFill>
          <a:ln>
            <a:noFill/>
          </a:ln>
        </p:spPr>
        <p:txBody>
          <a:bodyPr/>
          <a:lstStyle/>
          <a:p>
            <a:endParaRPr/>
          </a:p>
        </p:txBody>
      </p:sp>
      <p:sp>
        <p:nvSpPr>
          <p:cNvPr id="209" name="Accent Bar 9"/>
          <p:cNvSpPr/>
          <p:nvPr/>
        </p:nvSpPr>
        <p:spPr>
          <a:xfrm>
            <a:off x="2365375" y="1816100"/>
            <a:ext cx="1736725" cy="63500"/>
          </a:xfrm>
          <a:prstGeom prst="rect">
            <a:avLst/>
          </a:prstGeom>
          <a:solidFill>
            <a:srgbClr val="F900D3"/>
          </a:solidFill>
          <a:ln>
            <a:noFill/>
          </a:ln>
        </p:spPr>
        <p:txBody>
          <a:bodyPr/>
          <a:lstStyle/>
          <a:p>
            <a:endParaRPr/>
          </a:p>
        </p:txBody>
      </p:sp>
      <p:sp>
        <p:nvSpPr>
          <p:cNvPr id="2013" name="Accent Bar 13"/>
          <p:cNvSpPr/>
          <p:nvPr/>
        </p:nvSpPr>
        <p:spPr>
          <a:xfrm>
            <a:off x="4273550" y="1816100"/>
            <a:ext cx="1736725" cy="63500"/>
          </a:xfrm>
          <a:prstGeom prst="rect">
            <a:avLst/>
          </a:prstGeom>
          <a:solidFill>
            <a:srgbClr val="00A3FF"/>
          </a:solidFill>
          <a:ln>
            <a:noFill/>
          </a:ln>
        </p:spPr>
        <p:txBody>
          <a:bodyPr/>
          <a:lstStyle/>
          <a:p>
            <a:endParaRPr/>
          </a:p>
        </p:txBody>
      </p:sp>
      <p:sp>
        <p:nvSpPr>
          <p:cNvPr id="2017" name="Accent Bar 17"/>
          <p:cNvSpPr/>
          <p:nvPr/>
        </p:nvSpPr>
        <p:spPr>
          <a:xfrm>
            <a:off x="6181725" y="1816100"/>
            <a:ext cx="1736725" cy="63500"/>
          </a:xfrm>
          <a:prstGeom prst="rect">
            <a:avLst/>
          </a:prstGeom>
          <a:solidFill>
            <a:srgbClr val="00E8FA"/>
          </a:solidFill>
          <a:ln>
            <a:noFill/>
          </a:ln>
        </p:spPr>
        <p:txBody>
          <a:bodyPr/>
          <a:lstStyle/>
          <a:p>
            <a:endParaRPr/>
          </a:p>
        </p:txBody>
      </p:sp>
      <p:sp>
        <p:nvSpPr>
          <p:cNvPr id="74" name="TechDesign 4"/>
          <p:cNvSpPr/>
          <p:nvPr/>
        </p:nvSpPr>
        <p:spPr>
          <a:xfrm>
            <a:off x="8089900" y="1816100"/>
            <a:ext cx="1736725" cy="63500"/>
          </a:xfrm>
          <a:prstGeom prst="rect">
            <a:avLst/>
          </a:prstGeom>
          <a:solidFill>
            <a:srgbClr val="F900D3"/>
          </a:solidFill>
          <a:ln>
            <a:noFill/>
          </a:ln>
        </p:spPr>
        <p:txBody>
          <a:bodyPr/>
          <a:lstStyle/>
          <a:p>
            <a:endParaRPr/>
          </a:p>
        </p:txBody>
      </p:sp>
      <p:sp>
        <p:nvSpPr>
          <p:cNvPr id="2021" name="Accent Bar 21"/>
          <p:cNvSpPr/>
          <p:nvPr/>
        </p:nvSpPr>
        <p:spPr>
          <a:xfrm>
            <a:off x="9998075" y="1816100"/>
            <a:ext cx="1736725" cy="63500"/>
          </a:xfrm>
          <a:prstGeom prst="rect">
            <a:avLst/>
          </a:prstGeom>
          <a:solidFill>
            <a:srgbClr val="00A3FF"/>
          </a:solidFill>
          <a:ln>
            <a:noFill/>
          </a:ln>
        </p:spPr>
        <p:txBody>
          <a:bodyPr/>
          <a:lstStyle/>
          <a:p>
            <a:endParaRPr/>
          </a:p>
        </p:txBody>
      </p:sp>
      <p:sp>
        <p:nvSpPr>
          <p:cNvPr id="28" name="Footer Placeholder 1">
            <a:extLst>
              <a:ext uri="{FF2B5EF4-FFF2-40B4-BE49-F238E27FC236}">
                <a16:creationId xmlns:a16="http://schemas.microsoft.com/office/drawing/2014/main" id="{ADCFFC47-5D5D-51E8-BB40-6DE6D9C3C13C}"/>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29" name="Slide Number Placeholder 2">
            <a:extLst>
              <a:ext uri="{FF2B5EF4-FFF2-40B4-BE49-F238E27FC236}">
                <a16:creationId xmlns:a16="http://schemas.microsoft.com/office/drawing/2014/main" id="{544D68CC-6F61-14D4-19F3-9A06B01738BF}"/>
              </a:ext>
            </a:extLst>
          </p:cNvPr>
          <p:cNvSpPr>
            <a:spLocks noGrp="1"/>
          </p:cNvSpPr>
          <p:nvPr>
            <p:ph type="sldNum" idx="11"/>
          </p:nvPr>
        </p:nvSpPr>
        <p:spPr>
          <a:xfrm>
            <a:off x="11509578" y="6400799"/>
            <a:ext cx="218871" cy="167949"/>
          </a:xfrm>
        </p:spPr>
        <p:txBody>
          <a:bodyPr/>
          <a:lstStyle/>
          <a:p>
            <a:fld id="{63DCA5C9-2E11-4C67-86EB-AE1DE127DC64}" type="slidenum">
              <a:rPr lang="en-US" smtClean="0"/>
              <a:t>14</a:t>
            </a:fld>
            <a:endParaRPr lang="en-US"/>
          </a:p>
        </p:txBody>
      </p:sp>
    </p:spTree>
    <p:extLst>
      <p:ext uri="{BB962C8B-B14F-4D97-AF65-F5344CB8AC3E}">
        <p14:creationId xmlns:p14="http://schemas.microsoft.com/office/powerpoint/2010/main" val="2334533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DED46A50-9237-4E36-9773-CBAE5AC21983}"/>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Activation Summary: bounded tests</a:t>
            </a:r>
          </a:p>
        </p:txBody>
      </p:sp>
      <p:sp>
        <p:nvSpPr>
          <p:cNvPr id="3" name="Rectangle 2">
            <a:extLst>
              <a:ext uri="{FF2B5EF4-FFF2-40B4-BE49-F238E27FC236}">
                <a16:creationId xmlns:a16="http://schemas.microsoft.com/office/drawing/2014/main" id="{F37CD493-DE32-436C-849E-95720C8304C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Three practical tests that create evidence for the operating model recommendations.</a:t>
            </a:r>
          </a:p>
        </p:txBody>
      </p:sp>
      <p:sp>
        <p:nvSpPr>
          <p:cNvPr id="4" name="Rectangle 3">
            <a:extLst>
              <a:ext uri="{FF2B5EF4-FFF2-40B4-BE49-F238E27FC236}">
                <a16:creationId xmlns:a16="http://schemas.microsoft.com/office/drawing/2014/main" id="{897DA715-B291-43D5-8A14-8B021326B3B8}"/>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02</a:t>
            </a:r>
          </a:p>
        </p:txBody>
      </p:sp>
      <p:graphicFrame>
        <p:nvGraphicFramePr>
          <p:cNvPr id="11" name="Table 10"/>
          <p:cNvGraphicFramePr/>
          <p:nvPr>
            <p:extLst>
              <p:ext uri="{D42A27DB-BD31-4B8C-83A1-F6EECF244321}">
                <p14:modId xmlns:p14="http://schemas.microsoft.com/office/powerpoint/2010/main" val="1595516582"/>
              </p:ext>
            </p:extLst>
          </p:nvPr>
        </p:nvGraphicFramePr>
        <p:xfrm>
          <a:off x="457200" y="1752600"/>
          <a:ext cx="11277600" cy="3429000"/>
        </p:xfrm>
        <a:graphic>
          <a:graphicData uri="http://schemas.openxmlformats.org/drawingml/2006/table">
            <a:tbl>
              <a:tblPr/>
              <a:tblGrid>
                <a:gridCol w="28194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gridCol w="2819400">
                  <a:extLst>
                    <a:ext uri="{9D8B030D-6E8A-4147-A177-3AD203B41FA5}">
                      <a16:colId xmlns:a16="http://schemas.microsoft.com/office/drawing/2014/main" val="20003"/>
                    </a:ext>
                  </a:extLst>
                </a:gridCol>
              </a:tblGrid>
              <a:tr h="857250">
                <a:tc>
                  <a:txBody>
                    <a:bodyPr/>
                    <a:lstStyle/>
                    <a:p>
                      <a:pPr>
                        <a:lnSpc>
                          <a:spcPct val="102000"/>
                        </a:lnSpc>
                        <a:buNone/>
                      </a:pPr>
                      <a:r>
                        <a:rPr sz="1050" b="1">
                          <a:solidFill>
                            <a:srgbClr val="FFFFFF"/>
                          </a:solidFill>
                          <a:latin typeface="Arial"/>
                          <a:ea typeface="Arial"/>
                          <a:cs typeface="Arial"/>
                        </a:rPr>
                        <a:t>Bounded test</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1050" b="1">
                          <a:solidFill>
                            <a:srgbClr val="FFFFFF"/>
                          </a:solidFill>
                          <a:latin typeface="Arial"/>
                          <a:ea typeface="Arial"/>
                          <a:cs typeface="Arial"/>
                        </a:rPr>
                        <a:t>What changes</a:t>
                      </a:r>
                    </a:p>
                  </a:txBody>
                  <a:tcPr anchor="ctr">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1050" b="1">
                          <a:solidFill>
                            <a:srgbClr val="FFFFFF"/>
                          </a:solidFill>
                          <a:latin typeface="Arial"/>
                          <a:ea typeface="Arial"/>
                          <a:cs typeface="Arial"/>
                        </a:rPr>
                        <a:t>Evidence to capture</a:t>
                      </a:r>
                    </a:p>
                  </a:txBody>
                  <a:tcPr anchor="ctr">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1050" b="1">
                          <a:solidFill>
                            <a:srgbClr val="FFFFFF"/>
                          </a:solidFill>
                          <a:latin typeface="Arial"/>
                          <a:ea typeface="Arial"/>
                          <a:cs typeface="Arial"/>
                        </a:rPr>
                        <a:t>Activation playbook</a:t>
                      </a: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070154"/>
                    </a:solidFill>
                  </a:tcPr>
                </a:tc>
                <a:extLst>
                  <a:ext uri="{0D108BD9-81ED-4DB2-BD59-A6C34878D82A}">
                    <a16:rowId xmlns:a16="http://schemas.microsoft.com/office/drawing/2014/main" val="10000"/>
                  </a:ext>
                </a:extLst>
              </a:tr>
              <a:tr h="857250">
                <a:tc>
                  <a:txBody>
                    <a:bodyPr/>
                    <a:lstStyle/>
                    <a:p>
                      <a:pPr>
                        <a:lnSpc>
                          <a:spcPct val="102000"/>
                        </a:lnSpc>
                        <a:buNone/>
                      </a:pPr>
                      <a:r>
                        <a:rPr sz="975" b="0">
                          <a:solidFill>
                            <a:srgbClr val="070154"/>
                          </a:solidFill>
                          <a:latin typeface="Arial"/>
                          <a:ea typeface="Arial"/>
                          <a:cs typeface="Arial"/>
                        </a:rPr>
                        <a:t>Opportunity signal funnel</a:t>
                      </a:r>
                    </a:p>
                  </a:txBody>
                  <a:tcPr anchor="ctr">
                    <a:lnL w="12700" cap="flat" cmpd="sng" algn="ctr">
                      <a:noFill/>
                      <a:prstDash val="solid"/>
                      <a:round/>
                      <a:headEnd type="none" w="med" len="med"/>
                      <a:tailEnd type="none" w="med" len="med"/>
                    </a:lnL>
                    <a:solidFill>
                      <a:srgbClr val="E8EEF8"/>
                    </a:solidFill>
                  </a:tcPr>
                </a:tc>
                <a:tc>
                  <a:txBody>
                    <a:bodyPr/>
                    <a:lstStyle/>
                    <a:p>
                      <a:pPr>
                        <a:lnSpc>
                          <a:spcPct val="102000"/>
                        </a:lnSpc>
                        <a:buNone/>
                      </a:pPr>
                      <a:r>
                        <a:rPr sz="975" b="0">
                          <a:solidFill>
                            <a:srgbClr val="50658E"/>
                          </a:solidFill>
                          <a:latin typeface="Arial"/>
                          <a:ea typeface="Arial"/>
                          <a:cs typeface="Arial"/>
                        </a:rPr>
                        <a:t>Run one internal signal through an opportunity brief with an outcome and decision criterion.</a:t>
                      </a:r>
                    </a:p>
                  </a:txBody>
                  <a:tcPr anchor="ctr">
                    <a:solidFill>
                      <a:srgbClr val="FFFFFF"/>
                    </a:solidFill>
                  </a:tcPr>
                </a:tc>
                <a:tc>
                  <a:txBody>
                    <a:bodyPr/>
                    <a:lstStyle/>
                    <a:p>
                      <a:pPr>
                        <a:lnSpc>
                          <a:spcPct val="102000"/>
                        </a:lnSpc>
                        <a:buNone/>
                      </a:pPr>
                      <a:r>
                        <a:rPr sz="975" b="0">
                          <a:solidFill>
                            <a:srgbClr val="50658E"/>
                          </a:solidFill>
                          <a:latin typeface="Arial"/>
                          <a:ea typeface="Arial"/>
                          <a:cs typeface="Arial"/>
                        </a:rPr>
                        <a:t>Signal quality, decision speed, and next-step clarity.</a:t>
                      </a:r>
                    </a:p>
                  </a:txBody>
                  <a:tcPr anchor="ctr">
                    <a:solidFill>
                      <a:srgbClr val="FFFFFF"/>
                    </a:solidFill>
                  </a:tcPr>
                </a:tc>
                <a:tc>
                  <a:txBody>
                    <a:bodyPr/>
                    <a:lstStyle/>
                    <a:p>
                      <a:pPr>
                        <a:lnSpc>
                          <a:spcPct val="102000"/>
                        </a:lnSpc>
                        <a:buNone/>
                      </a:pPr>
                      <a:r>
                        <a:rPr sz="975" b="0">
                          <a:solidFill>
                            <a:srgbClr val="50658E"/>
                          </a:solidFill>
                          <a:latin typeface="Arial"/>
                          <a:ea typeface="Arial"/>
                          <a:cs typeface="Arial"/>
                        </a:rPr>
                        <a:t>Weekly review with Product, Engineering, and the initiative owner.</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857250">
                <a:tc>
                  <a:txBody>
                    <a:bodyPr/>
                    <a:lstStyle/>
                    <a:p>
                      <a:pPr>
                        <a:lnSpc>
                          <a:spcPct val="102000"/>
                        </a:lnSpc>
                        <a:buNone/>
                      </a:pPr>
                      <a:r>
                        <a:rPr sz="975" b="0">
                          <a:solidFill>
                            <a:srgbClr val="070154"/>
                          </a:solidFill>
                          <a:latin typeface="Arial"/>
                          <a:ea typeface="Arial"/>
                          <a:cs typeface="Arial"/>
                        </a:rPr>
                        <a:t>Product definition path</a:t>
                      </a:r>
                    </a:p>
                  </a:txBody>
                  <a:tcPr anchor="ctr">
                    <a:lnL w="12700" cap="flat" cmpd="sng" algn="ctr">
                      <a:noFill/>
                      <a:prstDash val="solid"/>
                      <a:round/>
                      <a:headEnd type="none" w="med" len="med"/>
                      <a:tailEnd type="none" w="med" len="med"/>
                    </a:lnL>
                    <a:solidFill>
                      <a:srgbClr val="E8EEF8"/>
                    </a:solidFill>
                  </a:tcPr>
                </a:tc>
                <a:tc>
                  <a:txBody>
                    <a:bodyPr/>
                    <a:lstStyle/>
                    <a:p>
                      <a:pPr>
                        <a:lnSpc>
                          <a:spcPct val="102000"/>
                        </a:lnSpc>
                        <a:buNone/>
                      </a:pPr>
                      <a:r>
                        <a:rPr lang="en-US" sz="950" b="0">
                          <a:solidFill>
                            <a:srgbClr val="50658E"/>
                          </a:solidFill>
                          <a:latin typeface="Arial"/>
                          <a:ea typeface="Arial"/>
                          <a:cs typeface="Arial"/>
                        </a:rPr>
                        <a:t>Carry one opportunity brief through product brief / PRD, feature brief, epic, </a:t>
                      </a:r>
                      <a:r>
                        <a:rPr lang="en-US" sz="1000" b="0" i="0" u="none" strike="noStrike" noProof="0">
                          <a:solidFill>
                            <a:srgbClr val="50658E"/>
                          </a:solidFill>
                          <a:latin typeface="Arial"/>
                          <a:ea typeface="Arial"/>
                          <a:cs typeface="Arial"/>
                        </a:rPr>
                        <a:t>technical design </a:t>
                      </a:r>
                      <a:r>
                        <a:rPr lang="en-US" sz="950" b="0">
                          <a:solidFill>
                            <a:srgbClr val="50658E"/>
                          </a:solidFill>
                          <a:latin typeface="Arial"/>
                          <a:ea typeface="Arial"/>
                          <a:cs typeface="Arial"/>
                        </a:rPr>
                        <a:t>and implementation plan.</a:t>
                      </a:r>
                    </a:p>
                  </a:txBody>
                  <a:tcPr anchor="ctr">
                    <a:solidFill>
                      <a:srgbClr val="FFFFFF"/>
                    </a:solidFill>
                  </a:tcPr>
                </a:tc>
                <a:tc>
                  <a:txBody>
                    <a:bodyPr/>
                    <a:lstStyle/>
                    <a:p>
                      <a:pPr>
                        <a:lnSpc>
                          <a:spcPct val="102000"/>
                        </a:lnSpc>
                        <a:buNone/>
                      </a:pPr>
                      <a:r>
                        <a:rPr sz="975" b="0">
                          <a:solidFill>
                            <a:srgbClr val="50658E"/>
                          </a:solidFill>
                          <a:latin typeface="Arial"/>
                          <a:ea typeface="Arial"/>
                          <a:cs typeface="Arial"/>
                        </a:rPr>
                        <a:t>Handoff quality, rework, design context, and decision clarity.</a:t>
                      </a:r>
                    </a:p>
                  </a:txBody>
                  <a:tcPr anchor="ctr">
                    <a:solidFill>
                      <a:srgbClr val="FFFFFF"/>
                    </a:solidFill>
                  </a:tcPr>
                </a:tc>
                <a:tc>
                  <a:txBody>
                    <a:bodyPr/>
                    <a:lstStyle/>
                    <a:p>
                      <a:pPr>
                        <a:lnSpc>
                          <a:spcPct val="102000"/>
                        </a:lnSpc>
                        <a:buNone/>
                      </a:pPr>
                      <a:r>
                        <a:rPr sz="975" b="0">
                          <a:solidFill>
                            <a:srgbClr val="50658E"/>
                          </a:solidFill>
                          <a:latin typeface="Arial"/>
                          <a:ea typeface="Arial"/>
                          <a:cs typeface="Arial"/>
                        </a:rPr>
                        <a:t>Joint Product and Engineering review before commitment.</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857250">
                <a:tc>
                  <a:txBody>
                    <a:bodyPr/>
                    <a:lstStyle/>
                    <a:p>
                      <a:pPr>
                        <a:lnSpc>
                          <a:spcPct val="102000"/>
                        </a:lnSpc>
                        <a:buNone/>
                      </a:pPr>
                      <a:r>
                        <a:rPr sz="975" b="0">
                          <a:solidFill>
                            <a:srgbClr val="070154"/>
                          </a:solidFill>
                          <a:latin typeface="Arial"/>
                          <a:ea typeface="Arial"/>
                          <a:cs typeface="Arial"/>
                        </a:rPr>
                        <a:t>Ship with proof</a:t>
                      </a:r>
                    </a:p>
                  </a:txBody>
                  <a:tcPr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rgbClr val="E8EEF8"/>
                    </a:solidFill>
                  </a:tcPr>
                </a:tc>
                <a:tc>
                  <a:txBody>
                    <a:bodyPr/>
                    <a:lstStyle/>
                    <a:p>
                      <a:pPr>
                        <a:lnSpc>
                          <a:spcPct val="102000"/>
                        </a:lnSpc>
                        <a:buNone/>
                      </a:pPr>
                      <a:r>
                        <a:rPr sz="975" b="0">
                          <a:solidFill>
                            <a:srgbClr val="50658E"/>
                          </a:solidFill>
                          <a:latin typeface="Arial"/>
                          <a:ea typeface="Arial"/>
                          <a:cs typeface="Arial"/>
                        </a:rPr>
                        <a:t>Define the smallest release evidence path before the next release or client-facing test.</a:t>
                      </a:r>
                    </a:p>
                  </a:txBody>
                  <a:tcPr anchor="ctr">
                    <a:lnB w="12700" cap="flat" cmpd="sng" algn="ctr">
                      <a:noFill/>
                      <a:prstDash val="solid"/>
                      <a:round/>
                      <a:headEnd type="none" w="med" len="med"/>
                      <a:tailEnd type="none" w="med" len="med"/>
                    </a:lnB>
                    <a:solidFill>
                      <a:srgbClr val="FFFFFF"/>
                    </a:solidFill>
                  </a:tcPr>
                </a:tc>
                <a:tc>
                  <a:txBody>
                    <a:bodyPr/>
                    <a:lstStyle/>
                    <a:p>
                      <a:pPr>
                        <a:lnSpc>
                          <a:spcPct val="102000"/>
                        </a:lnSpc>
                        <a:buNone/>
                      </a:pPr>
                      <a:r>
                        <a:rPr sz="975" b="0">
                          <a:solidFill>
                            <a:srgbClr val="50658E"/>
                          </a:solidFill>
                          <a:latin typeface="Arial"/>
                          <a:ea typeface="Arial"/>
                          <a:cs typeface="Arial"/>
                        </a:rPr>
                        <a:t>Validation coverage, issues found earlier, and owner clarity.</a:t>
                      </a:r>
                    </a:p>
                  </a:txBody>
                  <a:tcPr anchor="ctr">
                    <a:lnB w="12700" cap="flat" cmpd="sng" algn="ctr">
                      <a:noFill/>
                      <a:prstDash val="solid"/>
                      <a:round/>
                      <a:headEnd type="none" w="med" len="med"/>
                      <a:tailEnd type="none" w="med" len="med"/>
                    </a:lnB>
                    <a:solidFill>
                      <a:srgbClr val="FFFFFF"/>
                    </a:solidFill>
                  </a:tcPr>
                </a:tc>
                <a:tc>
                  <a:txBody>
                    <a:bodyPr/>
                    <a:lstStyle/>
                    <a:p>
                      <a:pPr>
                        <a:lnSpc>
                          <a:spcPct val="102000"/>
                        </a:lnSpc>
                        <a:buNone/>
                      </a:pPr>
                      <a:r>
                        <a:rPr sz="975" b="0">
                          <a:solidFill>
                            <a:srgbClr val="50658E"/>
                          </a:solidFill>
                          <a:latin typeface="Arial"/>
                          <a:ea typeface="Arial"/>
                          <a:cs typeface="Arial"/>
                        </a:rPr>
                        <a:t>Evidence review before release, followed by post-launch learning.</a:t>
                      </a:r>
                    </a:p>
                  </a:txBody>
                  <a:tcPr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A2C7DF3A-7E43-44A3-BB8B-7344D6764FFB}"/>
              </a:ext>
            </a:extLst>
          </p:cNvPr>
          <p:cNvSpPr>
            <a:spLocks noGrp="1"/>
          </p:cNvSpPr>
          <p:nvPr/>
        </p:nvSpPr>
        <p:spPr>
          <a:xfrm>
            <a:off x="457200" y="5524500"/>
            <a:ext cx="11277600" cy="342900"/>
          </a:xfrm>
          <a:prstGeom prst="rect">
            <a:avLst/>
          </a:prstGeom>
          <a:noFill/>
          <a:ln w="0">
            <a:noFill/>
          </a:ln>
        </p:spPr>
        <p:txBody>
          <a:bodyPr anchor="t">
            <a:normAutofit/>
          </a:bodyPr>
          <a:lstStyle/>
          <a:p>
            <a:pPr>
              <a:lnSpc>
                <a:spcPct val="108000"/>
              </a:lnSpc>
              <a:buNone/>
              <a:defRPr sz="1125" b="1" i="0">
                <a:solidFill>
                  <a:srgbClr val="0047FF"/>
                </a:solidFill>
                <a:latin typeface="Arial"/>
                <a:ea typeface="Arial"/>
                <a:cs typeface="Arial"/>
              </a:defRPr>
            </a:pPr>
            <a:r>
              <a:rPr sz="1125" b="1" i="0">
                <a:solidFill>
                  <a:srgbClr val="0047FF"/>
                </a:solidFill>
                <a:latin typeface="Arial"/>
                <a:ea typeface="Arial"/>
                <a:cs typeface="Arial"/>
              </a:rPr>
              <a:t>Complete the activation record after each test: change made, result or early signal, open question, and recommendation for continued use.</a:t>
            </a:r>
          </a:p>
        </p:txBody>
      </p:sp>
      <p:sp>
        <p:nvSpPr>
          <p:cNvPr id="5" name="GridLineV1">
            <a:extLst>
              <a:ext uri="{FF2B5EF4-FFF2-40B4-BE49-F238E27FC236}">
                <a16:creationId xmlns:a16="http://schemas.microsoft.com/office/drawing/2014/main" id="{59B4CEB4-D5BA-B942-8889-7125E1D0B3B1}"/>
              </a:ext>
            </a:extLst>
          </p:cNvPr>
          <p:cNvSpPr/>
          <p:nvPr/>
        </p:nvSpPr>
        <p:spPr>
          <a:xfrm>
            <a:off x="3254375" y="1752600"/>
            <a:ext cx="44450" cy="34290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GridLineV2">
            <a:extLst>
              <a:ext uri="{FF2B5EF4-FFF2-40B4-BE49-F238E27FC236}">
                <a16:creationId xmlns:a16="http://schemas.microsoft.com/office/drawing/2014/main" id="{C8EC45E9-49DF-4042-B189-37D9B676EF1C}"/>
              </a:ext>
            </a:extLst>
          </p:cNvPr>
          <p:cNvSpPr/>
          <p:nvPr/>
        </p:nvSpPr>
        <p:spPr>
          <a:xfrm>
            <a:off x="6073775" y="1752600"/>
            <a:ext cx="44450" cy="34290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GridLineV3">
            <a:extLst>
              <a:ext uri="{FF2B5EF4-FFF2-40B4-BE49-F238E27FC236}">
                <a16:creationId xmlns:a16="http://schemas.microsoft.com/office/drawing/2014/main" id="{7D189B9A-BBA6-1648-BF56-6B5A9393C892}"/>
              </a:ext>
            </a:extLst>
          </p:cNvPr>
          <p:cNvSpPr/>
          <p:nvPr/>
        </p:nvSpPr>
        <p:spPr>
          <a:xfrm>
            <a:off x="8893175" y="1752600"/>
            <a:ext cx="44450" cy="34290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GridLineH1">
            <a:extLst>
              <a:ext uri="{FF2B5EF4-FFF2-40B4-BE49-F238E27FC236}">
                <a16:creationId xmlns:a16="http://schemas.microsoft.com/office/drawing/2014/main" id="{22FD67D6-993D-674B-827B-358FFC248FD8}"/>
              </a:ext>
            </a:extLst>
          </p:cNvPr>
          <p:cNvSpPr/>
          <p:nvPr/>
        </p:nvSpPr>
        <p:spPr>
          <a:xfrm>
            <a:off x="457200" y="2587625"/>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GridLineH2">
            <a:extLst>
              <a:ext uri="{FF2B5EF4-FFF2-40B4-BE49-F238E27FC236}">
                <a16:creationId xmlns:a16="http://schemas.microsoft.com/office/drawing/2014/main" id="{4B77BAE1-92CA-EC40-BF58-808E7DA2D7BD}"/>
              </a:ext>
            </a:extLst>
          </p:cNvPr>
          <p:cNvSpPr/>
          <p:nvPr/>
        </p:nvSpPr>
        <p:spPr>
          <a:xfrm>
            <a:off x="457200" y="3444875"/>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GridLineH3">
            <a:extLst>
              <a:ext uri="{FF2B5EF4-FFF2-40B4-BE49-F238E27FC236}">
                <a16:creationId xmlns:a16="http://schemas.microsoft.com/office/drawing/2014/main" id="{85116164-1410-8141-9D53-B0EC4CC3135C}"/>
              </a:ext>
            </a:extLst>
          </p:cNvPr>
          <p:cNvSpPr/>
          <p:nvPr/>
        </p:nvSpPr>
        <p:spPr>
          <a:xfrm>
            <a:off x="457200" y="4302125"/>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Footer Placeholder 1">
            <a:extLst>
              <a:ext uri="{FF2B5EF4-FFF2-40B4-BE49-F238E27FC236}">
                <a16:creationId xmlns:a16="http://schemas.microsoft.com/office/drawing/2014/main" id="{1360678D-3AF2-3DB4-BBBA-EA05B93FC10F}"/>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15" name="Slide Number Placeholder 2">
            <a:extLst>
              <a:ext uri="{FF2B5EF4-FFF2-40B4-BE49-F238E27FC236}">
                <a16:creationId xmlns:a16="http://schemas.microsoft.com/office/drawing/2014/main" id="{87FAA3CD-4D84-3CFA-EE0A-00DA6196DD56}"/>
              </a:ext>
            </a:extLst>
          </p:cNvPr>
          <p:cNvSpPr>
            <a:spLocks noGrp="1"/>
          </p:cNvSpPr>
          <p:nvPr>
            <p:ph type="sldNum" idx="11"/>
          </p:nvPr>
        </p:nvSpPr>
        <p:spPr>
          <a:xfrm>
            <a:off x="11509578" y="6400799"/>
            <a:ext cx="218871" cy="167949"/>
          </a:xfrm>
        </p:spPr>
        <p:txBody>
          <a:bodyPr/>
          <a:lstStyle/>
          <a:p>
            <a:fld id="{63DCA5C9-2E11-4C67-86EB-AE1DE127DC64}" type="slidenum">
              <a:rPr lang="en-US" smtClean="0"/>
              <a:t>15</a:t>
            </a:fld>
            <a:endParaRPr lang="en-US"/>
          </a:p>
        </p:txBody>
      </p:sp>
    </p:spTree>
    <p:extLst>
      <p:ext uri="{BB962C8B-B14F-4D97-AF65-F5344CB8AC3E}">
        <p14:creationId xmlns:p14="http://schemas.microsoft.com/office/powerpoint/2010/main" val="828397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DED46A50-9237-4E36-9773-CBAE5AC21983}"/>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Selected initiatives: engineering baseline</a:t>
            </a:r>
          </a:p>
        </p:txBody>
      </p:sp>
      <p:sp>
        <p:nvSpPr>
          <p:cNvPr id="3" name="Rectangle 2">
            <a:extLst>
              <a:ext uri="{FF2B5EF4-FFF2-40B4-BE49-F238E27FC236}">
                <a16:creationId xmlns:a16="http://schemas.microsoft.com/office/drawing/2014/main" id="{F37CD493-DE32-436C-849E-95720C8304C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The two SOW initiatives sit at opposite ends of the lifecycle, so the bounded tests cover both.</a:t>
            </a:r>
          </a:p>
        </p:txBody>
      </p:sp>
      <p:sp>
        <p:nvSpPr>
          <p:cNvPr id="4" name="Rectangle 3">
            <a:extLst>
              <a:ext uri="{FF2B5EF4-FFF2-40B4-BE49-F238E27FC236}">
                <a16:creationId xmlns:a16="http://schemas.microsoft.com/office/drawing/2014/main" id="{897DA715-B291-43D5-8A14-8B021326B3B8}"/>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02</a:t>
            </a:r>
          </a:p>
        </p:txBody>
      </p:sp>
      <p:sp>
        <p:nvSpPr>
          <p:cNvPr id="6" name="Rectangle 5">
            <a:extLst>
              <a:ext uri="{FF2B5EF4-FFF2-40B4-BE49-F238E27FC236}">
                <a16:creationId xmlns:a16="http://schemas.microsoft.com/office/drawing/2014/main" id="{A2C7DF3A-7E43-44A3-BB8B-7344D6764FFB}"/>
              </a:ext>
            </a:extLst>
          </p:cNvPr>
          <p:cNvSpPr>
            <a:spLocks noGrp="1"/>
          </p:cNvSpPr>
          <p:nvPr/>
        </p:nvSpPr>
        <p:spPr>
          <a:xfrm>
            <a:off x="457200" y="5524500"/>
            <a:ext cx="11277600" cy="342900"/>
          </a:xfrm>
          <a:prstGeom prst="rect">
            <a:avLst/>
          </a:prstGeom>
          <a:noFill/>
          <a:ln w="0">
            <a:noFill/>
          </a:ln>
        </p:spPr>
        <p:txBody>
          <a:bodyPr anchor="t">
            <a:normAutofit/>
          </a:bodyPr>
          <a:lstStyle/>
          <a:p>
            <a:pPr>
              <a:lnSpc>
                <a:spcPct val="108000"/>
              </a:lnSpc>
              <a:buNone/>
              <a:defRPr sz="1125" b="1" i="0">
                <a:solidFill>
                  <a:srgbClr val="0047FF"/>
                </a:solidFill>
                <a:latin typeface="Arial"/>
                <a:ea typeface="Arial"/>
                <a:cs typeface="Arial"/>
              </a:defRPr>
            </a:pPr>
            <a:r>
              <a:rPr sz="1125" b="1" i="0">
                <a:solidFill>
                  <a:srgbClr val="0047FF"/>
                </a:solidFill>
                <a:latin typeface="Arial"/>
                <a:ea typeface="Arial"/>
                <a:cs typeface="Arial"/>
              </a:rPr>
              <a:t>Recon AI tests release evidence and agentic scale; the Rules Engine tests an Engineering-informed commitment before a date is set.</a:t>
            </a:r>
          </a:p>
        </p:txBody>
      </p:sp>
      <p:graphicFrame>
        <p:nvGraphicFramePr>
          <p:cNvPr id="20" name="Initiatives Table"/>
          <p:cNvGraphicFramePr>
            <a:graphicFrameLocks noGrp="1"/>
          </p:cNvGraphicFramePr>
          <p:nvPr>
            <p:extLst>
              <p:ext uri="{D42A27DB-BD31-4B8C-83A1-F6EECF244321}">
                <p14:modId xmlns:p14="http://schemas.microsoft.com/office/powerpoint/2010/main" val="2634402514"/>
              </p:ext>
            </p:extLst>
          </p:nvPr>
        </p:nvGraphicFramePr>
        <p:xfrm>
          <a:off x="457200" y="1752600"/>
          <a:ext cx="11277600" cy="3550000"/>
        </p:xfrm>
        <a:graphic>
          <a:graphicData uri="http://schemas.openxmlformats.org/drawingml/2006/table">
            <a:tbl>
              <a:tblPr/>
              <a:tblGrid>
                <a:gridCol w="2300000">
                  <a:extLst>
                    <a:ext uri="{9D8B030D-6E8A-4147-A177-3AD203B41FA5}">
                      <a16:colId xmlns:a16="http://schemas.microsoft.com/office/drawing/2014/main" val="20000"/>
                    </a:ext>
                  </a:extLst>
                </a:gridCol>
                <a:gridCol w="4488800">
                  <a:extLst>
                    <a:ext uri="{9D8B030D-6E8A-4147-A177-3AD203B41FA5}">
                      <a16:colId xmlns:a16="http://schemas.microsoft.com/office/drawing/2014/main" val="20001"/>
                    </a:ext>
                  </a:extLst>
                </a:gridCol>
                <a:gridCol w="4488800">
                  <a:extLst>
                    <a:ext uri="{9D8B030D-6E8A-4147-A177-3AD203B41FA5}">
                      <a16:colId xmlns:a16="http://schemas.microsoft.com/office/drawing/2014/main" val="20002"/>
                    </a:ext>
                  </a:extLst>
                </a:gridCol>
              </a:tblGrid>
              <a:tr h="430000">
                <a:tc>
                  <a:txBody>
                    <a:bodyPr/>
                    <a:lstStyle/>
                    <a:p>
                      <a:pPr>
                        <a:lnSpc>
                          <a:spcPct val="102000"/>
                        </a:lnSpc>
                        <a:buNone/>
                      </a:pPr>
                      <a:r>
                        <a:rPr lang="en-US" sz="975" b="1" i="0">
                          <a:solidFill>
                            <a:srgbClr val="FFFFFF"/>
                          </a:solidFill>
                          <a:latin typeface="Arial"/>
                          <a:ea typeface="Arial"/>
                          <a:cs typeface="Arial"/>
                        </a:rPr>
                        <a:t>Baseline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i="0">
                          <a:solidFill>
                            <a:srgbClr val="FFFFFF"/>
                          </a:solidFill>
                          <a:latin typeface="Arial"/>
                          <a:ea typeface="Arial"/>
                          <a:cs typeface="Arial"/>
                        </a:rPr>
                        <a:t>Reconcile AI: ERA / EFT enrollment and KYC</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i="0">
                          <a:solidFill>
                            <a:srgbClr val="FFFFFF"/>
                          </a:solidFill>
                          <a:latin typeface="Arial"/>
                          <a:ea typeface="Arial"/>
                          <a:cs typeface="Arial"/>
                        </a:rPr>
                        <a:t>Custom Claim Submission Rules Engine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extLst>
                  <a:ext uri="{0D108BD9-81ED-4DB2-BD59-A6C34878D82A}">
                    <a16:rowId xmlns:a16="http://schemas.microsoft.com/office/drawing/2014/main" val="10000"/>
                  </a:ext>
                </a:extLst>
              </a:tr>
              <a:tr h="520000">
                <a:tc>
                  <a:txBody>
                    <a:bodyPr/>
                    <a:lstStyle/>
                    <a:p>
                      <a:pPr>
                        <a:lnSpc>
                          <a:spcPct val="102000"/>
                        </a:lnSpc>
                        <a:buNone/>
                      </a:pPr>
                      <a:r>
                        <a:rPr lang="en-US" sz="900" b="1" i="0">
                          <a:solidFill>
                            <a:srgbClr val="070154"/>
                          </a:solidFill>
                          <a:latin typeface="Arial"/>
                          <a:ea typeface="Arial"/>
                          <a:cs typeface="Arial"/>
                        </a:rPr>
                        <a:t>Stage today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50658E"/>
                          </a:solidFill>
                          <a:latin typeface="Arial"/>
                          <a:ea typeface="Arial"/>
                          <a:cs typeface="Arial"/>
                        </a:rPr>
                        <a:t>In build. MVP release targeted for November 2026.</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a:solidFill>
                            <a:srgbClr val="50658E"/>
                          </a:solidFill>
                          <a:latin typeface="Arial"/>
                          <a:ea typeface="Arial"/>
                          <a:cs typeface="Arial"/>
                        </a:rPr>
                        <a:t>Discovery done; ready for a formal commercialization kickoff. Rough estimate for an MVP toward year-end.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1"/>
                  </a:ext>
                </a:extLst>
              </a:tr>
              <a:tr h="520000">
                <a:tc>
                  <a:txBody>
                    <a:bodyPr/>
                    <a:lstStyle/>
                    <a:p>
                      <a:pPr>
                        <a:lnSpc>
                          <a:spcPct val="102000"/>
                        </a:lnSpc>
                        <a:buNone/>
                      </a:pPr>
                      <a:r>
                        <a:rPr lang="en-US" sz="900" b="1" i="0">
                          <a:solidFill>
                            <a:srgbClr val="070154"/>
                          </a:solidFill>
                          <a:latin typeface="Arial"/>
                          <a:ea typeface="Arial"/>
                          <a:cs typeface="Arial"/>
                        </a:rPr>
                        <a:t>Artifacts in place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50658E"/>
                          </a:solidFill>
                          <a:latin typeface="Arial"/>
                          <a:ea typeface="Arial"/>
                          <a:cs typeface="Arial"/>
                        </a:rPr>
                        <a:t>PRD, Figma designs, Architectural Specification, Technical User Stories, UAT design, and an active Jira project.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a:solidFill>
                            <a:srgbClr val="50658E"/>
                          </a:solidFill>
                          <a:latin typeface="Arial"/>
                          <a:ea typeface="Arial"/>
                          <a:cs typeface="Arial"/>
                        </a:rPr>
                        <a:t>PRD and a Portfolio Governance Board deck. No Jira epic yet.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2"/>
                  </a:ext>
                </a:extLst>
              </a:tr>
              <a:tr h="520000">
                <a:tc>
                  <a:txBody>
                    <a:bodyPr/>
                    <a:lstStyle/>
                    <a:p>
                      <a:pPr>
                        <a:lnSpc>
                          <a:spcPct val="102000"/>
                        </a:lnSpc>
                        <a:buNone/>
                      </a:pPr>
                      <a:r>
                        <a:rPr lang="en-US" sz="900" b="1" i="0">
                          <a:solidFill>
                            <a:srgbClr val="070154"/>
                          </a:solidFill>
                          <a:latin typeface="Arial"/>
                          <a:ea typeface="Arial"/>
                          <a:cs typeface="Arial"/>
                        </a:rPr>
                        <a:t>Platform and team</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50658E"/>
                          </a:solidFill>
                          <a:latin typeface="Arial"/>
                          <a:ea typeface="Arial"/>
                          <a:cs typeface="Arial"/>
                        </a:rPr>
                        <a:t>New platform (Node.js, Angular, NX monorepo) on AWS. Team lead, about four developers, and one DevSecOps/QA person.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a:solidFill>
                            <a:srgbClr val="50658E"/>
                          </a:solidFill>
                          <a:latin typeface="Arial"/>
                          <a:ea typeface="Arial"/>
                          <a:cs typeface="Arial"/>
                        </a:rPr>
                        <a:t>Undecided: its own Jira project and team, or inside the Core team's work. Sits in the partner and client-driven lane (Aspen / TeamTAG).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3"/>
                  </a:ext>
                </a:extLst>
              </a:tr>
              <a:tr h="520000">
                <a:tc>
                  <a:txBody>
                    <a:bodyPr/>
                    <a:lstStyle/>
                    <a:p>
                      <a:pPr>
                        <a:lnSpc>
                          <a:spcPct val="102000"/>
                        </a:lnSpc>
                        <a:buNone/>
                      </a:pPr>
                      <a:r>
                        <a:rPr lang="en-US" sz="900" b="1" i="0">
                          <a:solidFill>
                            <a:srgbClr val="070154"/>
                          </a:solidFill>
                          <a:latin typeface="Arial"/>
                          <a:ea typeface="Arial"/>
                          <a:cs typeface="Arial"/>
                        </a:rPr>
                        <a:t>Delivery model</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50658E"/>
                          </a:solidFill>
                          <a:latin typeface="Arial"/>
                          <a:ea typeface="Arial"/>
                          <a:cs typeface="Arial"/>
                        </a:rPr>
                        <a:t>Agentic spec-driven pipeline at the epic level; Kanban and flow metrics proposed; promotion still on the two-week cycle.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a:solidFill>
                            <a:srgbClr val="50658E"/>
                          </a:solidFill>
                          <a:latin typeface="Arial"/>
                          <a:ea typeface="Arial"/>
                          <a:cs typeface="Arial"/>
                        </a:rPr>
                        <a:t>Not set. Depends on the platform decision: Core runs Scrum with story points; the new platform is moving to epic-level Kanban.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4"/>
                  </a:ext>
                </a:extLst>
              </a:tr>
              <a:tr h="520000">
                <a:tc>
                  <a:txBody>
                    <a:bodyPr/>
                    <a:lstStyle/>
                    <a:p>
                      <a:pPr>
                        <a:lnSpc>
                          <a:spcPct val="102000"/>
                        </a:lnSpc>
                        <a:buNone/>
                      </a:pPr>
                      <a:r>
                        <a:rPr lang="en-US" sz="900" b="1" i="0">
                          <a:solidFill>
                            <a:srgbClr val="070154"/>
                          </a:solidFill>
                          <a:latin typeface="Arial"/>
                          <a:ea typeface="Arial"/>
                          <a:cs typeface="Arial"/>
                        </a:rPr>
                        <a:t>Engineering question to resolve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50658E"/>
                          </a:solidFill>
                          <a:latin typeface="Arial"/>
                          <a:ea typeface="Arial"/>
                          <a:cs typeface="Arial"/>
                        </a:rPr>
                        <a:t>How release evidence and review scale when epic PRs reach 100–145 files and DevSecOps runs at a WIP limit of 2.</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a:solidFill>
                            <a:srgbClr val="50658E"/>
                          </a:solidFill>
                          <a:latin typeface="Arial"/>
                          <a:ea typeface="Arial"/>
                          <a:cs typeface="Arial"/>
                        </a:rPr>
                        <a:t>Which platform it lands on, what Core capacity it displaces, and whether the year-end date carries Engineering-informed effort and risk.</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5"/>
                  </a:ext>
                </a:extLst>
              </a:tr>
              <a:tr h="520000">
                <a:tc>
                  <a:txBody>
                    <a:bodyPr/>
                    <a:lstStyle/>
                    <a:p>
                      <a:pPr>
                        <a:lnSpc>
                          <a:spcPct val="102000"/>
                        </a:lnSpc>
                        <a:buNone/>
                      </a:pPr>
                      <a:r>
                        <a:rPr lang="en-US" sz="900" b="1" i="0">
                          <a:solidFill>
                            <a:srgbClr val="070154"/>
                          </a:solidFill>
                          <a:latin typeface="Arial"/>
                          <a:ea typeface="Arial"/>
                          <a:cs typeface="Arial"/>
                        </a:rPr>
                        <a:t>Activation tests it can carry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1" i="0">
                          <a:solidFill>
                            <a:srgbClr val="0047FF"/>
                          </a:solidFill>
                          <a:latin typeface="Arial"/>
                          <a:ea typeface="Arial"/>
                          <a:cs typeface="Arial"/>
                        </a:rPr>
                        <a:t>Ship with proof  ·  Governed agentic delivery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a:solidFill>
                            <a:srgbClr val="0047FF"/>
                          </a:solidFill>
                          <a:latin typeface="Arial"/>
                          <a:ea typeface="Arial"/>
                          <a:cs typeface="Arial"/>
                        </a:rPr>
                        <a:t>Opportunity signal funnel  ·  Product definition path  ·  Outcome-led prioritization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6"/>
                  </a:ext>
                </a:extLst>
              </a:tr>
            </a:tbl>
          </a:graphicData>
        </a:graphic>
      </p:graphicFrame>
      <p:sp>
        <p:nvSpPr>
          <p:cNvPr id="5" name="Footer Placeholder 1">
            <a:extLst>
              <a:ext uri="{FF2B5EF4-FFF2-40B4-BE49-F238E27FC236}">
                <a16:creationId xmlns:a16="http://schemas.microsoft.com/office/drawing/2014/main" id="{59F30A79-93C7-4DD2-DF38-CF63477C2FE3}"/>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8" name="Slide Number Placeholder 2">
            <a:extLst>
              <a:ext uri="{FF2B5EF4-FFF2-40B4-BE49-F238E27FC236}">
                <a16:creationId xmlns:a16="http://schemas.microsoft.com/office/drawing/2014/main" id="{82834EC7-64E5-9499-2F51-B33BB324785B}"/>
              </a:ext>
            </a:extLst>
          </p:cNvPr>
          <p:cNvSpPr>
            <a:spLocks noGrp="1"/>
          </p:cNvSpPr>
          <p:nvPr>
            <p:ph type="sldNum" idx="11"/>
          </p:nvPr>
        </p:nvSpPr>
        <p:spPr>
          <a:xfrm>
            <a:off x="11509578" y="6400799"/>
            <a:ext cx="218871" cy="167949"/>
          </a:xfrm>
        </p:spPr>
        <p:txBody>
          <a:bodyPr/>
          <a:lstStyle/>
          <a:p>
            <a:fld id="{63DCA5C9-2E11-4C67-86EB-AE1DE127DC64}" type="slidenum">
              <a:rPr lang="en-US" smtClean="0"/>
              <a:t>16</a:t>
            </a:fld>
            <a:endParaRPr lang="en-US"/>
          </a:p>
        </p:txBody>
      </p:sp>
    </p:spTree>
    <p:extLst>
      <p:ext uri="{BB962C8B-B14F-4D97-AF65-F5344CB8AC3E}">
        <p14:creationId xmlns:p14="http://schemas.microsoft.com/office/powerpoint/2010/main" val="105421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9837-85E7-D530-46F1-1907DC050618}"/>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17944660-4B67-0FD6-8463-0157A1DFCB22}"/>
              </a:ext>
            </a:extLst>
          </p:cNvPr>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E605902A-8015-C199-AED8-97CB813FBA73}"/>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Three deliverables, one working structure</a:t>
            </a:r>
          </a:p>
        </p:txBody>
      </p:sp>
      <p:sp>
        <p:nvSpPr>
          <p:cNvPr id="4" name="Rectangle 3">
            <a:extLst>
              <a:ext uri="{FF2B5EF4-FFF2-40B4-BE49-F238E27FC236}">
                <a16:creationId xmlns:a16="http://schemas.microsoft.com/office/drawing/2014/main" id="{E27B4333-BEE6-9681-1C82-8015F3258D15}"/>
              </a:ext>
            </a:extLst>
          </p:cNvPr>
          <p:cNvSpPr>
            <a:spLocks noGrp="1"/>
          </p:cNvSpPr>
          <p:nvPr/>
        </p:nvSpPr>
        <p:spPr>
          <a:xfrm>
            <a:off x="457200" y="1790700"/>
            <a:ext cx="3429000" cy="36195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5" name="Rectangle 4">
            <a:extLst>
              <a:ext uri="{FF2B5EF4-FFF2-40B4-BE49-F238E27FC236}">
                <a16:creationId xmlns:a16="http://schemas.microsoft.com/office/drawing/2014/main" id="{748014A3-086C-E88E-8ACB-26F97E491832}"/>
              </a:ext>
            </a:extLst>
          </p:cNvPr>
          <p:cNvSpPr>
            <a:spLocks noGrp="1"/>
          </p:cNvSpPr>
          <p:nvPr/>
        </p:nvSpPr>
        <p:spPr>
          <a:xfrm>
            <a:off x="685800" y="2057400"/>
            <a:ext cx="571500" cy="266700"/>
          </a:xfrm>
          <a:prstGeom prst="rect">
            <a:avLst/>
          </a:prstGeom>
          <a:solidFill>
            <a:srgbClr val="0047FF"/>
          </a:solidFill>
          <a:ln w="0">
            <a:noFill/>
          </a:ln>
        </p:spPr>
        <p:txBody>
          <a:bodyPr anchor="t">
            <a:normAutofit fontScale="94650"/>
          </a:bodyPr>
          <a:lstStyle/>
          <a:p>
            <a:pP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01</a:t>
            </a:r>
          </a:p>
        </p:txBody>
      </p:sp>
      <p:sp>
        <p:nvSpPr>
          <p:cNvPr id="6" name="Rectangle 5">
            <a:extLst>
              <a:ext uri="{FF2B5EF4-FFF2-40B4-BE49-F238E27FC236}">
                <a16:creationId xmlns:a16="http://schemas.microsoft.com/office/drawing/2014/main" id="{D793E2F2-362F-12B8-F9CE-646FE8CEFA17}"/>
              </a:ext>
            </a:extLst>
          </p:cNvPr>
          <p:cNvSpPr>
            <a:spLocks noGrp="1"/>
          </p:cNvSpPr>
          <p:nvPr/>
        </p:nvSpPr>
        <p:spPr>
          <a:xfrm>
            <a:off x="685800" y="2571750"/>
            <a:ext cx="2952750" cy="1047750"/>
          </a:xfrm>
          <a:prstGeom prst="rect">
            <a:avLst/>
          </a:prstGeom>
          <a:noFill/>
          <a:ln w="0">
            <a:noFill/>
          </a:ln>
        </p:spPr>
        <p:txBody>
          <a:bodyPr anchor="t">
            <a:normAutofit/>
          </a:bodyPr>
          <a:lstStyle/>
          <a:p>
            <a:pPr>
              <a:lnSpc>
                <a:spcPct val="98000"/>
              </a:lnSpc>
              <a:buNone/>
              <a:defRPr sz="1725" b="1" i="0">
                <a:solidFill>
                  <a:srgbClr val="070154"/>
                </a:solidFill>
                <a:latin typeface="Arial"/>
                <a:ea typeface="Arial"/>
                <a:cs typeface="Arial"/>
              </a:defRPr>
            </a:pPr>
            <a:r>
              <a:rPr sz="1725" b="1">
                <a:solidFill>
                  <a:srgbClr val="070154"/>
                </a:solidFill>
                <a:latin typeface="Arial"/>
                <a:cs typeface="Arial"/>
              </a:rPr>
              <a:t>Validated Product and R&amp;D Practices Map</a:t>
            </a:r>
          </a:p>
        </p:txBody>
      </p:sp>
      <p:sp>
        <p:nvSpPr>
          <p:cNvPr id="7" name="Rectangle 6">
            <a:extLst>
              <a:ext uri="{FF2B5EF4-FFF2-40B4-BE49-F238E27FC236}">
                <a16:creationId xmlns:a16="http://schemas.microsoft.com/office/drawing/2014/main" id="{D7C01EEB-EC7C-CC44-1EA7-53CA5BD19702}"/>
              </a:ext>
            </a:extLst>
          </p:cNvPr>
          <p:cNvSpPr>
            <a:spLocks noGrp="1"/>
          </p:cNvSpPr>
          <p:nvPr/>
        </p:nvSpPr>
        <p:spPr>
          <a:xfrm>
            <a:off x="685800" y="3943350"/>
            <a:ext cx="2952750" cy="952500"/>
          </a:xfrm>
          <a:prstGeom prst="rect">
            <a:avLst/>
          </a:prstGeom>
          <a:noFill/>
          <a:ln w="0">
            <a:noFill/>
          </a:ln>
        </p:spPr>
        <p:txBody>
          <a:bodyPr anchor="t">
            <a:normAutofit/>
          </a:bodyPr>
          <a:lstStyle/>
          <a:p>
            <a:pPr>
              <a:lnSpc>
                <a:spcPct val="110000"/>
              </a:lnSpc>
              <a:buNone/>
              <a:defRPr sz="1200" b="0" i="0">
                <a:solidFill>
                  <a:srgbClr val="50658E"/>
                </a:solidFill>
                <a:latin typeface="Arial"/>
                <a:ea typeface="Arial"/>
                <a:cs typeface="Arial"/>
              </a:defRPr>
            </a:pPr>
            <a:r>
              <a:rPr sz="1200">
                <a:solidFill>
                  <a:srgbClr val="50658E"/>
                </a:solidFill>
                <a:latin typeface="Arial"/>
                <a:cs typeface="Arial"/>
              </a:rPr>
              <a:t>A maturity-based view of observed strengths, gaps, and opportunities.</a:t>
            </a:r>
          </a:p>
        </p:txBody>
      </p:sp>
      <p:sp>
        <p:nvSpPr>
          <p:cNvPr id="8" name="Rectangle 7">
            <a:extLst>
              <a:ext uri="{FF2B5EF4-FFF2-40B4-BE49-F238E27FC236}">
                <a16:creationId xmlns:a16="http://schemas.microsoft.com/office/drawing/2014/main" id="{66B4E001-85F6-C060-E506-49698F109521}"/>
              </a:ext>
            </a:extLst>
          </p:cNvPr>
          <p:cNvSpPr>
            <a:spLocks noGrp="1"/>
          </p:cNvSpPr>
          <p:nvPr/>
        </p:nvSpPr>
        <p:spPr>
          <a:xfrm>
            <a:off x="4210050" y="1790700"/>
            <a:ext cx="3429000" cy="36195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9" name="Rectangle 8">
            <a:extLst>
              <a:ext uri="{FF2B5EF4-FFF2-40B4-BE49-F238E27FC236}">
                <a16:creationId xmlns:a16="http://schemas.microsoft.com/office/drawing/2014/main" id="{CAA4BE0C-5E25-87E7-EB53-3397E8B7C358}"/>
              </a:ext>
            </a:extLst>
          </p:cNvPr>
          <p:cNvSpPr>
            <a:spLocks noGrp="1"/>
          </p:cNvSpPr>
          <p:nvPr/>
        </p:nvSpPr>
        <p:spPr>
          <a:xfrm>
            <a:off x="4438650" y="2057400"/>
            <a:ext cx="571500" cy="266700"/>
          </a:xfrm>
          <a:prstGeom prst="rect">
            <a:avLst/>
          </a:prstGeom>
          <a:solidFill>
            <a:srgbClr val="0047FF"/>
          </a:solidFill>
          <a:ln w="0">
            <a:noFill/>
          </a:ln>
        </p:spPr>
        <p:txBody>
          <a:bodyPr anchor="t">
            <a:normAutofit fontScale="94650"/>
          </a:bodyPr>
          <a:lstStyle/>
          <a:p>
            <a:pPr>
              <a:lnSpc>
                <a:spcPct val="108000"/>
              </a:lnSpc>
            </a:pPr>
            <a:r>
              <a:rPr sz="1125" b="1">
                <a:solidFill>
                  <a:srgbClr val="FFFFFF"/>
                </a:solidFill>
                <a:latin typeface="Arial"/>
                <a:cs typeface="Arial"/>
              </a:rPr>
              <a:t>02</a:t>
            </a:r>
          </a:p>
        </p:txBody>
      </p:sp>
      <p:sp>
        <p:nvSpPr>
          <p:cNvPr id="10" name="Rectangle 9">
            <a:extLst>
              <a:ext uri="{FF2B5EF4-FFF2-40B4-BE49-F238E27FC236}">
                <a16:creationId xmlns:a16="http://schemas.microsoft.com/office/drawing/2014/main" id="{2F5BB7C5-9FD3-229C-F18D-FEB2F1C1400D}"/>
              </a:ext>
            </a:extLst>
          </p:cNvPr>
          <p:cNvSpPr>
            <a:spLocks noGrp="1"/>
          </p:cNvSpPr>
          <p:nvPr/>
        </p:nvSpPr>
        <p:spPr>
          <a:xfrm>
            <a:off x="4438650" y="2571750"/>
            <a:ext cx="2952750" cy="1047750"/>
          </a:xfrm>
          <a:prstGeom prst="rect">
            <a:avLst/>
          </a:prstGeom>
          <a:noFill/>
          <a:ln w="0">
            <a:noFill/>
          </a:ln>
        </p:spPr>
        <p:txBody>
          <a:bodyPr anchor="t">
            <a:normAutofit/>
          </a:bodyPr>
          <a:lstStyle/>
          <a:p>
            <a:pPr>
              <a:lnSpc>
                <a:spcPct val="98000"/>
              </a:lnSpc>
            </a:pPr>
            <a:r>
              <a:rPr sz="1725" b="1">
                <a:solidFill>
                  <a:srgbClr val="070154"/>
                </a:solidFill>
                <a:latin typeface="Arial"/>
                <a:cs typeface="Arial"/>
              </a:rPr>
              <a:t>Activation Summary</a:t>
            </a:r>
          </a:p>
        </p:txBody>
      </p:sp>
      <p:sp>
        <p:nvSpPr>
          <p:cNvPr id="11" name="Rectangle 10">
            <a:extLst>
              <a:ext uri="{FF2B5EF4-FFF2-40B4-BE49-F238E27FC236}">
                <a16:creationId xmlns:a16="http://schemas.microsoft.com/office/drawing/2014/main" id="{C29BD4FB-6176-5A2E-5D09-643B559F5CE3}"/>
              </a:ext>
            </a:extLst>
          </p:cNvPr>
          <p:cNvSpPr>
            <a:spLocks noGrp="1"/>
          </p:cNvSpPr>
          <p:nvPr/>
        </p:nvSpPr>
        <p:spPr>
          <a:xfrm>
            <a:off x="4438650" y="3943350"/>
            <a:ext cx="2952750" cy="952500"/>
          </a:xfrm>
          <a:prstGeom prst="rect">
            <a:avLst/>
          </a:prstGeom>
          <a:noFill/>
          <a:ln w="0">
            <a:noFill/>
          </a:ln>
        </p:spPr>
        <p:txBody>
          <a:bodyPr anchor="t">
            <a:normAutofit/>
          </a:bodyPr>
          <a:lstStyle/>
          <a:p>
            <a:pPr>
              <a:lnSpc>
                <a:spcPct val="110000"/>
              </a:lnSpc>
            </a:pPr>
            <a:r>
              <a:rPr sz="1200">
                <a:solidFill>
                  <a:srgbClr val="50658E"/>
                </a:solidFill>
                <a:latin typeface="Arial"/>
                <a:cs typeface="Arial"/>
              </a:rPr>
              <a:t>A record of bounded changes tested in live work, early signals, and the activation playbook.</a:t>
            </a:r>
          </a:p>
        </p:txBody>
      </p:sp>
      <p:sp>
        <p:nvSpPr>
          <p:cNvPr id="12" name="Rectangle 11">
            <a:extLst>
              <a:ext uri="{FF2B5EF4-FFF2-40B4-BE49-F238E27FC236}">
                <a16:creationId xmlns:a16="http://schemas.microsoft.com/office/drawing/2014/main" id="{8B500CEC-FA22-DAC5-F9DE-95F5B40E6B28}"/>
              </a:ext>
            </a:extLst>
          </p:cNvPr>
          <p:cNvSpPr>
            <a:spLocks noGrp="1"/>
          </p:cNvSpPr>
          <p:nvPr/>
        </p:nvSpPr>
        <p:spPr>
          <a:xfrm>
            <a:off x="7962900" y="1790700"/>
            <a:ext cx="3429000" cy="3619500"/>
          </a:xfrm>
          <a:prstGeom prst="rect">
            <a:avLst/>
          </a:prstGeom>
          <a:solidFill>
            <a:schemeClr val="tx1"/>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13" name="Rectangle 12">
            <a:extLst>
              <a:ext uri="{FF2B5EF4-FFF2-40B4-BE49-F238E27FC236}">
                <a16:creationId xmlns:a16="http://schemas.microsoft.com/office/drawing/2014/main" id="{0A823506-352F-B1AC-88A9-A22320032EB7}"/>
              </a:ext>
            </a:extLst>
          </p:cNvPr>
          <p:cNvSpPr>
            <a:spLocks noGrp="1"/>
          </p:cNvSpPr>
          <p:nvPr/>
        </p:nvSpPr>
        <p:spPr>
          <a:xfrm>
            <a:off x="8191500" y="2057400"/>
            <a:ext cx="571500" cy="266700"/>
          </a:xfrm>
          <a:prstGeom prst="rect">
            <a:avLst/>
          </a:prstGeom>
          <a:solidFill>
            <a:srgbClr val="0047FF"/>
          </a:solidFill>
          <a:ln w="0">
            <a:noFill/>
          </a:ln>
        </p:spPr>
        <p:txBody>
          <a:bodyPr anchor="t">
            <a:normAutofit fontScale="94650"/>
          </a:bodyPr>
          <a:lstStyle/>
          <a:p>
            <a:pP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03</a:t>
            </a:r>
          </a:p>
        </p:txBody>
      </p:sp>
      <p:sp>
        <p:nvSpPr>
          <p:cNvPr id="14" name="Rectangle 13">
            <a:extLst>
              <a:ext uri="{FF2B5EF4-FFF2-40B4-BE49-F238E27FC236}">
                <a16:creationId xmlns:a16="http://schemas.microsoft.com/office/drawing/2014/main" id="{7D8702D6-26FB-124C-9546-007A36A62F18}"/>
              </a:ext>
            </a:extLst>
          </p:cNvPr>
          <p:cNvSpPr>
            <a:spLocks noGrp="1"/>
          </p:cNvSpPr>
          <p:nvPr/>
        </p:nvSpPr>
        <p:spPr>
          <a:xfrm>
            <a:off x="8191500" y="2571750"/>
            <a:ext cx="2952750" cy="1047750"/>
          </a:xfrm>
          <a:prstGeom prst="rect">
            <a:avLst/>
          </a:prstGeom>
          <a:noFill/>
          <a:ln w="0">
            <a:noFill/>
          </a:ln>
        </p:spPr>
        <p:txBody>
          <a:bodyPr anchor="t">
            <a:normAutofit/>
          </a:bodyPr>
          <a:lstStyle/>
          <a:p>
            <a:pPr>
              <a:lnSpc>
                <a:spcPct val="98000"/>
              </a:lnSpc>
              <a:buNone/>
              <a:defRPr sz="1725" b="1" i="0">
                <a:solidFill>
                  <a:srgbClr val="070154"/>
                </a:solidFill>
                <a:latin typeface="Arial"/>
                <a:ea typeface="Arial"/>
                <a:cs typeface="Arial"/>
              </a:defRPr>
            </a:pPr>
            <a:r>
              <a:rPr sz="1725" b="1" i="0">
                <a:solidFill>
                  <a:schemeClr val="bg1"/>
                </a:solidFill>
                <a:latin typeface="Arial"/>
                <a:ea typeface="Arial"/>
                <a:cs typeface="Arial"/>
              </a:rPr>
              <a:t>Prioritized Operating Model Recommendations and Activation Roadmap</a:t>
            </a:r>
          </a:p>
        </p:txBody>
      </p:sp>
      <p:sp>
        <p:nvSpPr>
          <p:cNvPr id="15" name="Rectangle 14">
            <a:extLst>
              <a:ext uri="{FF2B5EF4-FFF2-40B4-BE49-F238E27FC236}">
                <a16:creationId xmlns:a16="http://schemas.microsoft.com/office/drawing/2014/main" id="{3141C7A0-D41D-3C1C-B109-3BD97ABD4F7F}"/>
              </a:ext>
            </a:extLst>
          </p:cNvPr>
          <p:cNvSpPr>
            <a:spLocks noGrp="1"/>
          </p:cNvSpPr>
          <p:nvPr/>
        </p:nvSpPr>
        <p:spPr>
          <a:xfrm>
            <a:off x="8191500" y="3943350"/>
            <a:ext cx="2952750" cy="952500"/>
          </a:xfrm>
          <a:prstGeom prst="rect">
            <a:avLst/>
          </a:prstGeom>
          <a:noFill/>
          <a:ln w="0">
            <a:noFill/>
          </a:ln>
        </p:spPr>
        <p:txBody>
          <a:bodyPr anchor="t">
            <a:normAutofit/>
          </a:bodyPr>
          <a:lstStyle/>
          <a:p>
            <a:pPr>
              <a:lnSpc>
                <a:spcPct val="110000"/>
              </a:lnSpc>
              <a:defRPr sz="1200" b="0" i="0">
                <a:solidFill>
                  <a:srgbClr val="50658E"/>
                </a:solidFill>
                <a:latin typeface="Arial"/>
                <a:ea typeface="Arial"/>
                <a:cs typeface="Arial"/>
              </a:defRPr>
            </a:pPr>
            <a:r>
              <a:rPr sz="1200">
                <a:solidFill>
                  <a:schemeClr val="bg1"/>
                </a:solidFill>
                <a:latin typeface="Arial"/>
                <a:cs typeface="Arial"/>
              </a:rPr>
              <a:t>Recommended practices, decision rights, roles, measures, feedback loops, owners, and dependencies.</a:t>
            </a:r>
          </a:p>
        </p:txBody>
      </p:sp>
      <p:sp>
        <p:nvSpPr>
          <p:cNvPr id="16" name="Rectangle 15">
            <a:extLst>
              <a:ext uri="{FF2B5EF4-FFF2-40B4-BE49-F238E27FC236}">
                <a16:creationId xmlns:a16="http://schemas.microsoft.com/office/drawing/2014/main" id="{7BC6669F-960A-0D51-C83F-B49E3D9DBE6A}"/>
              </a:ext>
            </a:extLst>
          </p:cNvPr>
          <p:cNvSpPr>
            <a:spLocks noGrp="1"/>
          </p:cNvSpPr>
          <p:nvPr/>
        </p:nvSpPr>
        <p:spPr>
          <a:xfrm>
            <a:off x="457200" y="5734050"/>
            <a:ext cx="10668000" cy="4000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Working inputs already surfaced: internal signals, opportunity briefs, PRDs, feature briefs, epics, implementation plans, agentic delivery patterns, and early interview themes.</a:t>
            </a:r>
          </a:p>
        </p:txBody>
      </p:sp>
      <p:sp>
        <p:nvSpPr>
          <p:cNvPr id="101" name="Accent Bar 1">
            <a:extLst>
              <a:ext uri="{FF2B5EF4-FFF2-40B4-BE49-F238E27FC236}">
                <a16:creationId xmlns:a16="http://schemas.microsoft.com/office/drawing/2014/main" id="{DDAA64D1-D7EA-8BF7-37D1-9C1225C90CE6}"/>
              </a:ext>
            </a:extLst>
          </p:cNvPr>
          <p:cNvSpPr/>
          <p:nvPr/>
        </p:nvSpPr>
        <p:spPr>
          <a:xfrm>
            <a:off x="457200" y="1790700"/>
            <a:ext cx="3429000" cy="63500"/>
          </a:xfrm>
          <a:prstGeom prst="rect">
            <a:avLst/>
          </a:prstGeom>
          <a:solidFill>
            <a:srgbClr val="00E8FA"/>
          </a:solidFill>
          <a:ln>
            <a:noFill/>
          </a:ln>
        </p:spPr>
        <p:txBody>
          <a:bodyPr/>
          <a:lstStyle/>
          <a:p>
            <a:endParaRPr/>
          </a:p>
        </p:txBody>
      </p:sp>
      <p:sp>
        <p:nvSpPr>
          <p:cNvPr id="102" name="Accent Bar 2">
            <a:extLst>
              <a:ext uri="{FF2B5EF4-FFF2-40B4-BE49-F238E27FC236}">
                <a16:creationId xmlns:a16="http://schemas.microsoft.com/office/drawing/2014/main" id="{D1B199D8-AC3E-AEE6-3B48-094CE0A8ABDD}"/>
              </a:ext>
            </a:extLst>
          </p:cNvPr>
          <p:cNvSpPr/>
          <p:nvPr/>
        </p:nvSpPr>
        <p:spPr>
          <a:xfrm>
            <a:off x="4216400" y="1790700"/>
            <a:ext cx="3429000" cy="63500"/>
          </a:xfrm>
          <a:prstGeom prst="rect">
            <a:avLst/>
          </a:prstGeom>
          <a:solidFill>
            <a:srgbClr val="F900D3"/>
          </a:solidFill>
          <a:ln>
            <a:noFill/>
          </a:ln>
        </p:spPr>
        <p:txBody>
          <a:bodyPr/>
          <a:lstStyle/>
          <a:p>
            <a:endParaRPr/>
          </a:p>
        </p:txBody>
      </p:sp>
      <p:sp>
        <p:nvSpPr>
          <p:cNvPr id="103" name="Accent Bar 3">
            <a:extLst>
              <a:ext uri="{FF2B5EF4-FFF2-40B4-BE49-F238E27FC236}">
                <a16:creationId xmlns:a16="http://schemas.microsoft.com/office/drawing/2014/main" id="{8887BA69-4810-95AB-FDDA-978B9F61635B}"/>
              </a:ext>
            </a:extLst>
          </p:cNvPr>
          <p:cNvSpPr/>
          <p:nvPr/>
        </p:nvSpPr>
        <p:spPr>
          <a:xfrm>
            <a:off x="7962900" y="1790700"/>
            <a:ext cx="3429000" cy="63500"/>
          </a:xfrm>
          <a:prstGeom prst="rect">
            <a:avLst/>
          </a:prstGeom>
          <a:solidFill>
            <a:srgbClr val="00A3FF"/>
          </a:solidFill>
          <a:ln>
            <a:noFill/>
          </a:ln>
        </p:spPr>
        <p:txBody>
          <a:bodyPr/>
          <a:lstStyle/>
          <a:p>
            <a:endParaRPr/>
          </a:p>
        </p:txBody>
      </p:sp>
      <p:sp>
        <p:nvSpPr>
          <p:cNvPr id="21" name="Footer Placeholder 1">
            <a:extLst>
              <a:ext uri="{FF2B5EF4-FFF2-40B4-BE49-F238E27FC236}">
                <a16:creationId xmlns:a16="http://schemas.microsoft.com/office/drawing/2014/main" id="{07EB4762-C149-2D78-D34D-A0C9CA11A142}"/>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22" name="Slide Number Placeholder 2">
            <a:extLst>
              <a:ext uri="{FF2B5EF4-FFF2-40B4-BE49-F238E27FC236}">
                <a16:creationId xmlns:a16="http://schemas.microsoft.com/office/drawing/2014/main" id="{644916C4-1BA8-C511-EC99-F3C749AE61E3}"/>
              </a:ext>
            </a:extLst>
          </p:cNvPr>
          <p:cNvSpPr>
            <a:spLocks noGrp="1"/>
          </p:cNvSpPr>
          <p:nvPr>
            <p:ph type="sldNum" idx="11"/>
          </p:nvPr>
        </p:nvSpPr>
        <p:spPr>
          <a:xfrm>
            <a:off x="11509578" y="6400799"/>
            <a:ext cx="218871" cy="167949"/>
          </a:xfrm>
        </p:spPr>
        <p:txBody>
          <a:bodyPr/>
          <a:lstStyle/>
          <a:p>
            <a:fld id="{63DCA5C9-2E11-4C67-86EB-AE1DE127DC64}" type="slidenum">
              <a:rPr lang="en-US" smtClean="0"/>
              <a:t>17</a:t>
            </a:fld>
            <a:endParaRPr lang="en-US"/>
          </a:p>
        </p:txBody>
      </p:sp>
    </p:spTree>
    <p:extLst>
      <p:ext uri="{BB962C8B-B14F-4D97-AF65-F5344CB8AC3E}">
        <p14:creationId xmlns:p14="http://schemas.microsoft.com/office/powerpoint/2010/main" val="1997350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DED46A50-9237-4E36-9773-CBAE5AC21983}"/>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Activation Roadmap: product track</a:t>
            </a:r>
          </a:p>
        </p:txBody>
      </p:sp>
      <p:sp>
        <p:nvSpPr>
          <p:cNvPr id="3" name="Rectangle 2">
            <a:extLst>
              <a:ext uri="{FF2B5EF4-FFF2-40B4-BE49-F238E27FC236}">
                <a16:creationId xmlns:a16="http://schemas.microsoft.com/office/drawing/2014/main" id="{F37CD493-DE32-436C-849E-95720C8304C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Each product recommendation starts in one pilot initiative, then extends on the same Now, Next, and Future horizons.</a:t>
            </a:r>
          </a:p>
        </p:txBody>
      </p:sp>
      <p:sp>
        <p:nvSpPr>
          <p:cNvPr id="4" name="Rectangle 3">
            <a:extLst>
              <a:ext uri="{FF2B5EF4-FFF2-40B4-BE49-F238E27FC236}">
                <a16:creationId xmlns:a16="http://schemas.microsoft.com/office/drawing/2014/main" id="{897DA715-B291-43D5-8A14-8B021326B3B8}"/>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03</a:t>
            </a:r>
          </a:p>
        </p:txBody>
      </p:sp>
      <p:sp>
        <p:nvSpPr>
          <p:cNvPr id="6" name="Rectangle 5">
            <a:extLst>
              <a:ext uri="{FF2B5EF4-FFF2-40B4-BE49-F238E27FC236}">
                <a16:creationId xmlns:a16="http://schemas.microsoft.com/office/drawing/2014/main" id="{A2C7DF3A-7E43-44A3-BB8B-7344D6764FFB}"/>
              </a:ext>
            </a:extLst>
          </p:cNvPr>
          <p:cNvSpPr>
            <a:spLocks noGrp="1"/>
          </p:cNvSpPr>
          <p:nvPr/>
        </p:nvSpPr>
        <p:spPr>
          <a:xfrm>
            <a:off x="457200" y="5524500"/>
            <a:ext cx="11277600" cy="342900"/>
          </a:xfrm>
          <a:prstGeom prst="rect">
            <a:avLst/>
          </a:prstGeom>
          <a:noFill/>
          <a:ln w="0">
            <a:noFill/>
          </a:ln>
        </p:spPr>
        <p:txBody>
          <a:bodyPr anchor="t">
            <a:normAutofit/>
          </a:bodyPr>
          <a:lstStyle/>
          <a:p>
            <a:pPr>
              <a:lnSpc>
                <a:spcPct val="108000"/>
              </a:lnSpc>
              <a:buNone/>
              <a:defRPr sz="1125" b="1" i="0">
                <a:solidFill>
                  <a:srgbClr val="0047FF"/>
                </a:solidFill>
                <a:latin typeface="Arial"/>
                <a:ea typeface="Arial"/>
                <a:cs typeface="Arial"/>
              </a:defRPr>
            </a:pPr>
            <a:r>
              <a:rPr sz="1125" b="1" i="0">
                <a:solidFill>
                  <a:srgbClr val="0047FF"/>
                </a:solidFill>
                <a:latin typeface="Arial"/>
                <a:ea typeface="Arial"/>
                <a:cs typeface="Arial"/>
              </a:rPr>
              <a:t>Pilot first, measure, then extend: a recommendation moves to the next initiative once its measure shows it works.</a:t>
            </a:r>
          </a:p>
        </p:txBody>
      </p:sp>
      <p:graphicFrame>
        <p:nvGraphicFramePr>
          <p:cNvPr id="20" name="Product Roadmap Table"/>
          <p:cNvGraphicFramePr>
            <a:graphicFrameLocks noGrp="1"/>
          </p:cNvGraphicFramePr>
          <p:nvPr/>
        </p:nvGraphicFramePr>
        <p:xfrm>
          <a:off x="457200" y="1752600"/>
          <a:ext cx="11277600" cy="3500000"/>
        </p:xfrm>
        <a:graphic>
          <a:graphicData uri="http://schemas.openxmlformats.org/drawingml/2006/table">
            <a:tbl>
              <a:tblPr/>
              <a:tblGrid>
                <a:gridCol w="1850000">
                  <a:extLst>
                    <a:ext uri="{9D8B030D-6E8A-4147-A177-3AD203B41FA5}">
                      <a16:colId xmlns:a16="http://schemas.microsoft.com/office/drawing/2014/main" val="20000"/>
                    </a:ext>
                  </a:extLst>
                </a:gridCol>
                <a:gridCol w="1200000">
                  <a:extLst>
                    <a:ext uri="{9D8B030D-6E8A-4147-A177-3AD203B41FA5}">
                      <a16:colId xmlns:a16="http://schemas.microsoft.com/office/drawing/2014/main" val="20001"/>
                    </a:ext>
                  </a:extLst>
                </a:gridCol>
                <a:gridCol w="2350000">
                  <a:extLst>
                    <a:ext uri="{9D8B030D-6E8A-4147-A177-3AD203B41FA5}">
                      <a16:colId xmlns:a16="http://schemas.microsoft.com/office/drawing/2014/main" val="20002"/>
                    </a:ext>
                  </a:extLst>
                </a:gridCol>
                <a:gridCol w="2350000">
                  <a:extLst>
                    <a:ext uri="{9D8B030D-6E8A-4147-A177-3AD203B41FA5}">
                      <a16:colId xmlns:a16="http://schemas.microsoft.com/office/drawing/2014/main" val="20003"/>
                    </a:ext>
                  </a:extLst>
                </a:gridCol>
                <a:gridCol w="1850000">
                  <a:extLst>
                    <a:ext uri="{9D8B030D-6E8A-4147-A177-3AD203B41FA5}">
                      <a16:colId xmlns:a16="http://schemas.microsoft.com/office/drawing/2014/main" val="20004"/>
                    </a:ext>
                  </a:extLst>
                </a:gridCol>
                <a:gridCol w="1677600">
                  <a:extLst>
                    <a:ext uri="{9D8B030D-6E8A-4147-A177-3AD203B41FA5}">
                      <a16:colId xmlns:a16="http://schemas.microsoft.com/office/drawing/2014/main" val="20005"/>
                    </a:ext>
                  </a:extLst>
                </a:gridCol>
              </a:tblGrid>
              <a:tr h="400000">
                <a:tc>
                  <a:txBody>
                    <a:bodyPr/>
                    <a:lstStyle/>
                    <a:p>
                      <a:pPr>
                        <a:lnSpc>
                          <a:spcPct val="102000"/>
                        </a:lnSpc>
                        <a:buNone/>
                      </a:pPr>
                      <a:r>
                        <a:rPr lang="en-US" sz="950" b="1" i="0">
                          <a:solidFill>
                            <a:srgbClr val="FFFFFF"/>
                          </a:solidFill>
                          <a:latin typeface="Arial"/>
                          <a:ea typeface="Arial"/>
                          <a:cs typeface="Arial"/>
                        </a:rPr>
                        <a:t>Recommendation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50" b="1" i="0">
                          <a:solidFill>
                            <a:srgbClr val="FFFFFF"/>
                          </a:solidFill>
                          <a:latin typeface="Arial"/>
                          <a:ea typeface="Arial"/>
                          <a:cs typeface="Arial"/>
                        </a:rPr>
                        <a:t>Pilot initiative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50" b="1" i="0">
                          <a:solidFill>
                            <a:srgbClr val="16804D"/>
                          </a:solidFill>
                          <a:latin typeface="Arial"/>
                          <a:ea typeface="Arial"/>
                          <a:cs typeface="Arial"/>
                        </a:rPr>
                        <a:t>Now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50" b="1" i="0">
                          <a:solidFill>
                            <a:srgbClr val="8B6500"/>
                          </a:solidFill>
                          <a:latin typeface="Arial"/>
                          <a:ea typeface="Arial"/>
                          <a:cs typeface="Arial"/>
                        </a:rPr>
                        <a:t>Next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lang="en-US" sz="950" b="1" i="0">
                          <a:solidFill>
                            <a:srgbClr val="3561AE"/>
                          </a:solidFill>
                          <a:latin typeface="Arial"/>
                          <a:ea typeface="Arial"/>
                          <a:cs typeface="Arial"/>
                        </a:rPr>
                        <a:t>Future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tc>
                  <a:txBody>
                    <a:bodyPr/>
                    <a:lstStyle/>
                    <a:p>
                      <a:pPr>
                        <a:lnSpc>
                          <a:spcPct val="102000"/>
                        </a:lnSpc>
                        <a:buNone/>
                      </a:pPr>
                      <a:r>
                        <a:rPr lang="en-US" sz="950" b="1" i="0">
                          <a:solidFill>
                            <a:srgbClr val="FFFFFF"/>
                          </a:solidFill>
                          <a:latin typeface="Arial"/>
                          <a:ea typeface="Arial"/>
                          <a:cs typeface="Arial"/>
                        </a:rPr>
                        <a:t>Owner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extLst>
                  <a:ext uri="{0D108BD9-81ED-4DB2-BD59-A6C34878D82A}">
                    <a16:rowId xmlns:a16="http://schemas.microsoft.com/office/drawing/2014/main" val="10000"/>
                  </a:ext>
                </a:extLst>
              </a:tr>
              <a:tr h="620000">
                <a:tc>
                  <a:txBody>
                    <a:bodyPr/>
                    <a:lstStyle/>
                    <a:p>
                      <a:pPr>
                        <a:lnSpc>
                          <a:spcPct val="102000"/>
                        </a:lnSpc>
                        <a:buNone/>
                      </a:pPr>
                      <a:r>
                        <a:rPr lang="en-US" sz="900" b="1" i="0">
                          <a:solidFill>
                            <a:srgbClr val="070154"/>
                          </a:solidFill>
                          <a:latin typeface="Arial"/>
                          <a:ea typeface="Arial"/>
                          <a:cs typeface="Arial"/>
                        </a:rPr>
                        <a:t>01 Outcome-led prioritization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Rules Engine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Apply the decision criteria and Engineering-informed effort and risk to the Rules Engine's year-end commitment.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Protect capacity for support, patches, and escalations; show a credible 3-4 sprint view.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Portfolio decisions use outcome, capacity, and predictability evidence on every pod.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Product leadership, Engineering leadership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1"/>
                  </a:ext>
                </a:extLst>
              </a:tr>
              <a:tr h="620000">
                <a:tc>
                  <a:txBody>
                    <a:bodyPr/>
                    <a:lstStyle/>
                    <a:p>
                      <a:pPr>
                        <a:lnSpc>
                          <a:spcPct val="102000"/>
                        </a:lnSpc>
                        <a:buNone/>
                      </a:pPr>
                      <a:r>
                        <a:rPr lang="en-US" sz="900" b="1" i="0">
                          <a:solidFill>
                            <a:srgbClr val="070154"/>
                          </a:solidFill>
                          <a:latin typeface="Arial"/>
                          <a:ea typeface="Arial"/>
                          <a:cs typeface="Arial"/>
                        </a:rPr>
                        <a:t>02 Product management as business ownership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Reconcile AI</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Map decision rights and name one PM owner for the outcome and learning loop.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Review adoption, customer evidence, and business results alongside delivery after the November MVP.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PM accountability for outcomes and learning, separate from backlog work, on every pod.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Product leadership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2"/>
                  </a:ext>
                </a:extLst>
              </a:tr>
              <a:tr h="620000">
                <a:tc>
                  <a:txBody>
                    <a:bodyPr/>
                    <a:lstStyle/>
                    <a:p>
                      <a:pPr>
                        <a:lnSpc>
                          <a:spcPct val="102000"/>
                        </a:lnSpc>
                        <a:buNone/>
                      </a:pPr>
                      <a:r>
                        <a:rPr lang="en-US" sz="900" b="1" i="0">
                          <a:solidFill>
                            <a:srgbClr val="070154"/>
                          </a:solidFill>
                          <a:latin typeface="Arial"/>
                          <a:ea typeface="Arial"/>
                          <a:cs typeface="Arial"/>
                        </a:rPr>
                        <a:t>03 Opportunity brief to implementation path</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Rules Engine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Take the Rules Engine through the Opportunity, Product, and Feature Briefs and the Technical Plan.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Use the templates and their review decisions for the next new initiatives.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One definition path across pods, aligned with the Concord gates.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Product, Engineering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3"/>
                  </a:ext>
                </a:extLst>
              </a:tr>
              <a:tr h="620000">
                <a:tc>
                  <a:txBody>
                    <a:bodyPr/>
                    <a:lstStyle/>
                    <a:p>
                      <a:pPr>
                        <a:lnSpc>
                          <a:spcPct val="102000"/>
                        </a:lnSpc>
                        <a:buNone/>
                      </a:pPr>
                      <a:r>
                        <a:rPr lang="en-US" sz="900" b="1" i="0">
                          <a:solidFill>
                            <a:srgbClr val="070154"/>
                          </a:solidFill>
                          <a:latin typeface="Arial"/>
                          <a:ea typeface="Arial"/>
                          <a:cs typeface="Arial"/>
                        </a:rPr>
                        <a:t>04 Earlier cross-functional collaboration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Rules Engine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Set the date and minimum team for a pre-commitment session on the Rules Engine.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Run the session with Product, UX, Engineering, QA, Release, and Operations; keep one shared record of open questions.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A pre-commitment review on every pod, tracking wait time and rework.</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Product, Engineering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4"/>
                  </a:ext>
                </a:extLst>
              </a:tr>
              <a:tr h="620000">
                <a:tc>
                  <a:txBody>
                    <a:bodyPr/>
                    <a:lstStyle/>
                    <a:p>
                      <a:pPr>
                        <a:lnSpc>
                          <a:spcPct val="102000"/>
                        </a:lnSpc>
                        <a:buNone/>
                      </a:pPr>
                      <a:r>
                        <a:rPr lang="en-US" sz="900" b="1" i="0">
                          <a:solidFill>
                            <a:srgbClr val="070154"/>
                          </a:solidFill>
                          <a:latin typeface="Arial"/>
                          <a:ea typeface="Arial"/>
                          <a:cs typeface="Arial"/>
                        </a:rPr>
                        <a:t>05 Ship with proof feedback loop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Reconcile AI</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Name Reconcile AI's highest-risk client workflow ahead of the November MVP.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Define the smallest release evidence path; review evidence before release; compare issues before and after.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Post-launch results and adoption feed the next roadmap decision on every pod.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Product, Release, Operations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5"/>
                  </a:ext>
                </a:extLst>
              </a:tr>
            </a:tbl>
          </a:graphicData>
        </a:graphic>
      </p:graphicFrame>
      <p:sp>
        <p:nvSpPr>
          <p:cNvPr id="5" name="Footer Placeholder 1">
            <a:extLst>
              <a:ext uri="{FF2B5EF4-FFF2-40B4-BE49-F238E27FC236}">
                <a16:creationId xmlns:a16="http://schemas.microsoft.com/office/drawing/2014/main" id="{E8FF1AF6-7F4C-77E7-18D5-E417C37661B7}"/>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9" name="Slide Number Placeholder 2">
            <a:extLst>
              <a:ext uri="{FF2B5EF4-FFF2-40B4-BE49-F238E27FC236}">
                <a16:creationId xmlns:a16="http://schemas.microsoft.com/office/drawing/2014/main" id="{97154091-8E34-F880-39FA-FF9A26104FA7}"/>
              </a:ext>
            </a:extLst>
          </p:cNvPr>
          <p:cNvSpPr>
            <a:spLocks noGrp="1"/>
          </p:cNvSpPr>
          <p:nvPr>
            <p:ph type="sldNum" idx="11"/>
          </p:nvPr>
        </p:nvSpPr>
        <p:spPr>
          <a:xfrm>
            <a:off x="11509578" y="6400799"/>
            <a:ext cx="218871" cy="167949"/>
          </a:xfrm>
        </p:spPr>
        <p:txBody>
          <a:bodyPr/>
          <a:lstStyle/>
          <a:p>
            <a:fld id="{63DCA5C9-2E11-4C67-86EB-AE1DE127DC64}" type="slidenum">
              <a:rPr lang="en-US" smtClean="0"/>
              <a:t>18</a:t>
            </a:fld>
            <a:endParaRPr lang="en-US"/>
          </a:p>
        </p:txBody>
      </p:sp>
    </p:spTree>
    <p:extLst>
      <p:ext uri="{BB962C8B-B14F-4D97-AF65-F5344CB8AC3E}">
        <p14:creationId xmlns:p14="http://schemas.microsoft.com/office/powerpoint/2010/main" val="1003960851"/>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lang="en-US" sz="2325" b="1">
                <a:solidFill>
                  <a:srgbClr val="070154"/>
                </a:solidFill>
                <a:latin typeface="Arial"/>
                <a:ea typeface="Arial"/>
                <a:cs typeface="Arial"/>
              </a:rPr>
              <a:t>First experiment: PRD to tech spec to release</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One bounded chain that tests the technical design step, agent reuse beyond Reconcile AI, and release evidence.</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ENGINEERING · FIRST EXPERIMENT</a:t>
            </a:r>
          </a:p>
        </p:txBody>
      </p:sp>
      <p:sp>
        <p:nvSpPr>
          <p:cNvPr id="40" name="Step Card 01"/>
          <p:cNvSpPr/>
          <p:nvPr/>
        </p:nvSpPr>
        <p:spPr>
          <a:xfrm>
            <a:off x="457200" y="1752600"/>
            <a:ext cx="3600000" cy="190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41" name="Step Accent 01"/>
          <p:cNvSpPr/>
          <p:nvPr/>
        </p:nvSpPr>
        <p:spPr>
          <a:xfrm>
            <a:off x="457200" y="1752600"/>
            <a:ext cx="3600000" cy="63500"/>
          </a:xfrm>
          <a:prstGeom prst="rect">
            <a:avLst/>
          </a:prstGeom>
          <a:solidFill>
            <a:srgbClr val="00E8FA"/>
          </a:solidFill>
          <a:ln w="0">
            <a:noFill/>
          </a:ln>
        </p:spPr>
        <p:txBody>
          <a:bodyPr wrap="square" anchor="t">
            <a:noAutofit/>
          </a:bodyPr>
          <a:lstStyle/>
          <a:p>
            <a:endParaRPr lang="en-US"/>
          </a:p>
        </p:txBody>
      </p:sp>
      <p:sp>
        <p:nvSpPr>
          <p:cNvPr id="42" name="Step Badge 01"/>
          <p:cNvSpPr/>
          <p:nvPr/>
        </p:nvSpPr>
        <p:spPr>
          <a:xfrm>
            <a:off x="637200" y="1952600"/>
            <a:ext cx="450000" cy="260000"/>
          </a:xfrm>
          <a:prstGeom prst="rect">
            <a:avLst/>
          </a:prstGeom>
          <a:solidFill>
            <a:srgbClr val="0047FF"/>
          </a:solidFill>
          <a:ln w="0">
            <a:noFill/>
          </a:ln>
        </p:spPr>
        <p:txBody>
          <a:bodyPr wrap="square" lIns="45720" tIns="45720" rIns="45720" bIns="45720" anchor="ctr">
            <a:noAutofit/>
          </a:bodyPr>
          <a:lstStyle/>
          <a:p>
            <a:pPr>
              <a:lnSpc>
                <a:spcPct val="108000"/>
              </a:lnSpc>
              <a:buNone/>
            </a:pPr>
            <a:r>
              <a:rPr lang="en-US" sz="1000" b="1" i="0">
                <a:solidFill>
                  <a:srgbClr val="FFFFFF"/>
                </a:solidFill>
                <a:latin typeface="Arial"/>
                <a:ea typeface="Arial"/>
                <a:cs typeface="Arial"/>
              </a:rPr>
              <a:t>01</a:t>
            </a:r>
          </a:p>
        </p:txBody>
      </p:sp>
      <p:sp>
        <p:nvSpPr>
          <p:cNvPr id="43" name="Step Tag 01"/>
          <p:cNvSpPr/>
          <p:nvPr/>
        </p:nvSpPr>
        <p:spPr>
          <a:xfrm>
            <a:off x="1157200" y="1952600"/>
            <a:ext cx="2720000" cy="260000"/>
          </a:xfrm>
          <a:prstGeom prst="rect">
            <a:avLst/>
          </a:prstGeom>
          <a:noFill/>
          <a:ln w="0">
            <a:noFill/>
          </a:ln>
        </p:spPr>
        <p:txBody>
          <a:bodyPr wrap="square" lIns="0" tIns="0" rIns="0" bIns="0" anchor="ctr">
            <a:noAutofit/>
          </a:bodyPr>
          <a:lstStyle/>
          <a:p>
            <a:pPr>
              <a:lnSpc>
                <a:spcPct val="108000"/>
              </a:lnSpc>
              <a:buNone/>
            </a:pPr>
            <a:r>
              <a:rPr lang="en-US" sz="850" b="1" i="0">
                <a:solidFill>
                  <a:srgbClr val="0047FF"/>
                </a:solidFill>
                <a:latin typeface="Arial"/>
                <a:ea typeface="Arial"/>
                <a:cs typeface="Arial"/>
              </a:rPr>
              <a:t>RULES ENGINE</a:t>
            </a:r>
          </a:p>
        </p:txBody>
      </p:sp>
      <p:sp>
        <p:nvSpPr>
          <p:cNvPr id="44" name="Step Title 01"/>
          <p:cNvSpPr/>
          <p:nvPr/>
        </p:nvSpPr>
        <p:spPr>
          <a:xfrm>
            <a:off x="637200" y="2312600"/>
            <a:ext cx="3240000" cy="380000"/>
          </a:xfrm>
          <a:prstGeom prst="rect">
            <a:avLst/>
          </a:prstGeom>
          <a:noFill/>
          <a:ln w="0">
            <a:noFill/>
          </a:ln>
        </p:spPr>
        <p:txBody>
          <a:bodyPr wrap="square" lIns="0" tIns="0" rIns="0" bIns="0" anchor="t">
            <a:noAutofit/>
          </a:bodyPr>
          <a:lstStyle/>
          <a:p>
            <a:pPr>
              <a:lnSpc>
                <a:spcPct val="108000"/>
              </a:lnSpc>
              <a:buNone/>
            </a:pPr>
            <a:r>
              <a:rPr lang="en-US" sz="1400" b="1" i="0">
                <a:solidFill>
                  <a:srgbClr val="070154"/>
                </a:solidFill>
                <a:latin typeface="Arial"/>
                <a:ea typeface="Arial"/>
                <a:cs typeface="Arial"/>
              </a:rPr>
              <a:t>PRD</a:t>
            </a:r>
          </a:p>
        </p:txBody>
      </p:sp>
      <p:sp>
        <p:nvSpPr>
          <p:cNvPr id="45" name="Step Text 01"/>
          <p:cNvSpPr/>
          <p:nvPr/>
        </p:nvSpPr>
        <p:spPr>
          <a:xfrm>
            <a:off x="637200" y="2732600"/>
            <a:ext cx="3240000" cy="850000"/>
          </a:xfrm>
          <a:prstGeom prst="rect">
            <a:avLst/>
          </a:prstGeom>
          <a:noFill/>
          <a:ln w="0">
            <a:noFill/>
          </a:ln>
        </p:spPr>
        <p:txBody>
          <a:bodyPr wrap="square" lIns="0" tIns="0" rIns="0" bIns="0" anchor="t">
            <a:noAutofit/>
          </a:bodyPr>
          <a:lstStyle/>
          <a:p>
            <a:pPr>
              <a:lnSpc>
                <a:spcPct val="108000"/>
              </a:lnSpc>
              <a:buNone/>
            </a:pPr>
            <a:r>
              <a:rPr lang="en-US" sz="1050" b="0" i="0">
                <a:solidFill>
                  <a:srgbClr val="50658E"/>
                </a:solidFill>
                <a:latin typeface="Arial"/>
                <a:ea typeface="Arial"/>
                <a:cs typeface="Arial"/>
              </a:rPr>
              <a:t>The existing PRD, with no epic yet. Product confirms scope and the success measure.</a:t>
            </a:r>
          </a:p>
        </p:txBody>
      </p:sp>
      <p:sp>
        <p:nvSpPr>
          <p:cNvPr id="46" name="Step Card 02"/>
          <p:cNvSpPr/>
          <p:nvPr/>
        </p:nvSpPr>
        <p:spPr>
          <a:xfrm>
            <a:off x="4296000" y="1752600"/>
            <a:ext cx="3600000" cy="190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47" name="Step Accent 02"/>
          <p:cNvSpPr/>
          <p:nvPr/>
        </p:nvSpPr>
        <p:spPr>
          <a:xfrm>
            <a:off x="4296000" y="1752600"/>
            <a:ext cx="3600000" cy="63500"/>
          </a:xfrm>
          <a:prstGeom prst="rect">
            <a:avLst/>
          </a:prstGeom>
          <a:solidFill>
            <a:srgbClr val="F900D3"/>
          </a:solidFill>
          <a:ln w="0">
            <a:noFill/>
          </a:ln>
        </p:spPr>
        <p:txBody>
          <a:bodyPr wrap="square" anchor="t">
            <a:noAutofit/>
          </a:bodyPr>
          <a:lstStyle/>
          <a:p>
            <a:endParaRPr lang="en-US"/>
          </a:p>
        </p:txBody>
      </p:sp>
      <p:sp>
        <p:nvSpPr>
          <p:cNvPr id="48" name="Step Badge 02"/>
          <p:cNvSpPr/>
          <p:nvPr/>
        </p:nvSpPr>
        <p:spPr>
          <a:xfrm>
            <a:off x="4476000" y="1952600"/>
            <a:ext cx="450000" cy="260000"/>
          </a:xfrm>
          <a:prstGeom prst="rect">
            <a:avLst/>
          </a:prstGeom>
          <a:solidFill>
            <a:srgbClr val="0047FF"/>
          </a:solidFill>
          <a:ln w="0">
            <a:noFill/>
          </a:ln>
        </p:spPr>
        <p:txBody>
          <a:bodyPr wrap="square" lIns="45720" tIns="45720" rIns="45720" bIns="45720" anchor="ctr">
            <a:noAutofit/>
          </a:bodyPr>
          <a:lstStyle/>
          <a:p>
            <a:pPr>
              <a:lnSpc>
                <a:spcPct val="108000"/>
              </a:lnSpc>
              <a:buNone/>
            </a:pPr>
            <a:r>
              <a:rPr lang="en-US" sz="1000" b="1" i="0">
                <a:solidFill>
                  <a:srgbClr val="FFFFFF"/>
                </a:solidFill>
                <a:latin typeface="Arial"/>
                <a:ea typeface="Arial"/>
                <a:cs typeface="Arial"/>
              </a:rPr>
              <a:t>02</a:t>
            </a:r>
          </a:p>
        </p:txBody>
      </p:sp>
      <p:sp>
        <p:nvSpPr>
          <p:cNvPr id="49" name="Step Tag 02"/>
          <p:cNvSpPr/>
          <p:nvPr/>
        </p:nvSpPr>
        <p:spPr>
          <a:xfrm>
            <a:off x="4996000" y="1952600"/>
            <a:ext cx="2720000" cy="260000"/>
          </a:xfrm>
          <a:prstGeom prst="rect">
            <a:avLst/>
          </a:prstGeom>
          <a:noFill/>
          <a:ln w="0">
            <a:noFill/>
          </a:ln>
        </p:spPr>
        <p:txBody>
          <a:bodyPr wrap="square" lIns="0" tIns="0" rIns="0" bIns="0" anchor="ctr">
            <a:noAutofit/>
          </a:bodyPr>
          <a:lstStyle/>
          <a:p>
            <a:pPr>
              <a:lnSpc>
                <a:spcPct val="108000"/>
              </a:lnSpc>
              <a:buNone/>
            </a:pPr>
            <a:r>
              <a:rPr lang="en-US" sz="850" b="1" i="0">
                <a:solidFill>
                  <a:srgbClr val="0047FF"/>
                </a:solidFill>
                <a:latin typeface="Arial"/>
                <a:ea typeface="Arial"/>
                <a:cs typeface="Arial"/>
              </a:rPr>
              <a:t>QUALITY BUCKET</a:t>
            </a:r>
          </a:p>
        </p:txBody>
      </p:sp>
      <p:sp>
        <p:nvSpPr>
          <p:cNvPr id="50" name="Step Title 02"/>
          <p:cNvSpPr/>
          <p:nvPr/>
        </p:nvSpPr>
        <p:spPr>
          <a:xfrm>
            <a:off x="4476000" y="2312600"/>
            <a:ext cx="3240000" cy="380000"/>
          </a:xfrm>
          <a:prstGeom prst="rect">
            <a:avLst/>
          </a:prstGeom>
          <a:noFill/>
          <a:ln w="0">
            <a:noFill/>
          </a:ln>
        </p:spPr>
        <p:txBody>
          <a:bodyPr wrap="square" lIns="0" tIns="0" rIns="0" bIns="0" anchor="t">
            <a:noAutofit/>
          </a:bodyPr>
          <a:lstStyle/>
          <a:p>
            <a:pPr>
              <a:lnSpc>
                <a:spcPct val="108000"/>
              </a:lnSpc>
              <a:buNone/>
            </a:pPr>
            <a:r>
              <a:rPr lang="en-US" sz="1400" b="1" i="0">
                <a:solidFill>
                  <a:srgbClr val="070154"/>
                </a:solidFill>
                <a:latin typeface="Arial"/>
                <a:ea typeface="Arial"/>
                <a:cs typeface="Arial"/>
              </a:rPr>
              <a:t>Tech spec</a:t>
            </a:r>
          </a:p>
        </p:txBody>
      </p:sp>
      <p:sp>
        <p:nvSpPr>
          <p:cNvPr id="51" name="Step Text 02"/>
          <p:cNvSpPr/>
          <p:nvPr/>
        </p:nvSpPr>
        <p:spPr>
          <a:xfrm>
            <a:off x="4476000" y="2732600"/>
            <a:ext cx="3240000" cy="850000"/>
          </a:xfrm>
          <a:prstGeom prst="rect">
            <a:avLst/>
          </a:prstGeom>
          <a:noFill/>
          <a:ln w="0">
            <a:noFill/>
          </a:ln>
        </p:spPr>
        <p:txBody>
          <a:bodyPr wrap="square" lIns="0" tIns="0" rIns="0" bIns="0" anchor="t">
            <a:noAutofit/>
          </a:bodyPr>
          <a:lstStyle/>
          <a:p>
            <a:pPr>
              <a:lnSpc>
                <a:spcPct val="108000"/>
              </a:lnSpc>
              <a:buNone/>
            </a:pPr>
            <a:r>
              <a:rPr lang="en-US" sz="1050" b="0" i="0">
                <a:solidFill>
                  <a:srgbClr val="50658E"/>
                </a:solidFill>
                <a:latin typeface="Arial"/>
                <a:ea typeface="Arial"/>
                <a:cs typeface="Arial"/>
              </a:rPr>
              <a:t>The Architecture Design Agent drafts the spec and technical stories; the Team Lead reviews and signs.</a:t>
            </a:r>
          </a:p>
        </p:txBody>
      </p:sp>
      <p:sp>
        <p:nvSpPr>
          <p:cNvPr id="52" name="Step Card 03"/>
          <p:cNvSpPr/>
          <p:nvPr/>
        </p:nvSpPr>
        <p:spPr>
          <a:xfrm>
            <a:off x="8134800" y="1752600"/>
            <a:ext cx="3600000" cy="190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53" name="Step Accent 03"/>
          <p:cNvSpPr/>
          <p:nvPr/>
        </p:nvSpPr>
        <p:spPr>
          <a:xfrm>
            <a:off x="8134800" y="1752600"/>
            <a:ext cx="3600000" cy="63500"/>
          </a:xfrm>
          <a:prstGeom prst="rect">
            <a:avLst/>
          </a:prstGeom>
          <a:solidFill>
            <a:srgbClr val="00A3FF"/>
          </a:solidFill>
          <a:ln w="0">
            <a:noFill/>
          </a:ln>
        </p:spPr>
        <p:txBody>
          <a:bodyPr wrap="square" anchor="t">
            <a:noAutofit/>
          </a:bodyPr>
          <a:lstStyle/>
          <a:p>
            <a:endParaRPr lang="en-US"/>
          </a:p>
        </p:txBody>
      </p:sp>
      <p:sp>
        <p:nvSpPr>
          <p:cNvPr id="54" name="Step Badge 03"/>
          <p:cNvSpPr/>
          <p:nvPr/>
        </p:nvSpPr>
        <p:spPr>
          <a:xfrm>
            <a:off x="8314800" y="1952600"/>
            <a:ext cx="450000" cy="260000"/>
          </a:xfrm>
          <a:prstGeom prst="rect">
            <a:avLst/>
          </a:prstGeom>
          <a:solidFill>
            <a:srgbClr val="0047FF"/>
          </a:solidFill>
          <a:ln w="0">
            <a:noFill/>
          </a:ln>
        </p:spPr>
        <p:txBody>
          <a:bodyPr wrap="square" lIns="45720" tIns="45720" rIns="45720" bIns="45720" anchor="ctr">
            <a:noAutofit/>
          </a:bodyPr>
          <a:lstStyle/>
          <a:p>
            <a:pPr>
              <a:lnSpc>
                <a:spcPct val="108000"/>
              </a:lnSpc>
              <a:buNone/>
            </a:pPr>
            <a:r>
              <a:rPr lang="en-US" sz="1000" b="1" i="0">
                <a:solidFill>
                  <a:srgbClr val="FFFFFF"/>
                </a:solidFill>
                <a:latin typeface="Arial"/>
                <a:ea typeface="Arial"/>
                <a:cs typeface="Arial"/>
              </a:rPr>
              <a:t>03</a:t>
            </a:r>
          </a:p>
        </p:txBody>
      </p:sp>
      <p:sp>
        <p:nvSpPr>
          <p:cNvPr id="55" name="Step Tag 03"/>
          <p:cNvSpPr/>
          <p:nvPr/>
        </p:nvSpPr>
        <p:spPr>
          <a:xfrm>
            <a:off x="8834800" y="1952600"/>
            <a:ext cx="2720000" cy="260000"/>
          </a:xfrm>
          <a:prstGeom prst="rect">
            <a:avLst/>
          </a:prstGeom>
          <a:noFill/>
          <a:ln w="0">
            <a:noFill/>
          </a:ln>
        </p:spPr>
        <p:txBody>
          <a:bodyPr wrap="square" lIns="0" tIns="0" rIns="0" bIns="0" anchor="ctr">
            <a:noAutofit/>
          </a:bodyPr>
          <a:lstStyle/>
          <a:p>
            <a:pPr>
              <a:lnSpc>
                <a:spcPct val="108000"/>
              </a:lnSpc>
              <a:buNone/>
            </a:pPr>
            <a:r>
              <a:rPr lang="en-US" sz="850" b="1" i="0">
                <a:solidFill>
                  <a:srgbClr val="0047FF"/>
                </a:solidFill>
                <a:latin typeface="Arial"/>
                <a:ea typeface="Arial"/>
                <a:cs typeface="Arial"/>
              </a:rPr>
              <a:t>RELEASE BUCKET</a:t>
            </a:r>
          </a:p>
        </p:txBody>
      </p:sp>
      <p:sp>
        <p:nvSpPr>
          <p:cNvPr id="56" name="Step Title 03"/>
          <p:cNvSpPr/>
          <p:nvPr/>
        </p:nvSpPr>
        <p:spPr>
          <a:xfrm>
            <a:off x="8314800" y="2312600"/>
            <a:ext cx="3240000" cy="380000"/>
          </a:xfrm>
          <a:prstGeom prst="rect">
            <a:avLst/>
          </a:prstGeom>
          <a:noFill/>
          <a:ln w="0">
            <a:noFill/>
          </a:ln>
        </p:spPr>
        <p:txBody>
          <a:bodyPr wrap="square" lIns="0" tIns="0" rIns="0" bIns="0" anchor="t">
            <a:noAutofit/>
          </a:bodyPr>
          <a:lstStyle/>
          <a:p>
            <a:pPr>
              <a:lnSpc>
                <a:spcPct val="108000"/>
              </a:lnSpc>
              <a:buNone/>
            </a:pPr>
            <a:r>
              <a:rPr lang="en-US" sz="1400" b="1" i="0">
                <a:solidFill>
                  <a:srgbClr val="070154"/>
                </a:solidFill>
                <a:latin typeface="Arial"/>
                <a:ea typeface="Arial"/>
                <a:cs typeface="Arial"/>
              </a:rPr>
              <a:t>Release evidence</a:t>
            </a:r>
          </a:p>
        </p:txBody>
      </p:sp>
      <p:sp>
        <p:nvSpPr>
          <p:cNvPr id="57" name="Step Text 03"/>
          <p:cNvSpPr/>
          <p:nvPr/>
        </p:nvSpPr>
        <p:spPr>
          <a:xfrm>
            <a:off x="8314800" y="2732600"/>
            <a:ext cx="3240000" cy="850000"/>
          </a:xfrm>
          <a:prstGeom prst="rect">
            <a:avLst/>
          </a:prstGeom>
          <a:noFill/>
          <a:ln w="0">
            <a:noFill/>
          </a:ln>
        </p:spPr>
        <p:txBody>
          <a:bodyPr wrap="square" lIns="0" tIns="0" rIns="0" bIns="0" anchor="t">
            <a:noAutofit/>
          </a:bodyPr>
          <a:lstStyle/>
          <a:p>
            <a:pPr>
              <a:lnSpc>
                <a:spcPct val="108000"/>
              </a:lnSpc>
              <a:buNone/>
            </a:pPr>
            <a:r>
              <a:rPr lang="en-US" sz="1050" b="0" i="0">
                <a:solidFill>
                  <a:srgbClr val="50658E"/>
                </a:solidFill>
                <a:latin typeface="Arial"/>
                <a:ea typeface="Arial"/>
                <a:cs typeface="Arial"/>
              </a:rPr>
              <a:t>Product defines what the Release Agent produces: release notes, PRD reconciliation, and destinations.</a:t>
            </a:r>
          </a:p>
        </p:txBody>
      </p:sp>
      <p:sp>
        <p:nvSpPr>
          <p:cNvPr id="58" name="WHAT WE LEARN Card"/>
          <p:cNvSpPr/>
          <p:nvPr/>
        </p:nvSpPr>
        <p:spPr>
          <a:xfrm>
            <a:off x="457200" y="3830000"/>
            <a:ext cx="5550000" cy="1450000"/>
          </a:xfrm>
          <a:prstGeom prst="rect">
            <a:avLst/>
          </a:prstGeom>
          <a:solidFill>
            <a:srgbClr val="FFFFFF"/>
          </a:solidFill>
          <a:ln w="9525">
            <a:solidFill>
              <a:srgbClr val="CED7E6"/>
            </a:solidFill>
          </a:ln>
        </p:spPr>
        <p:txBody>
          <a:bodyPr wrap="square" anchor="t">
            <a:noAutofit/>
          </a:bodyPr>
          <a:lstStyle/>
          <a:p>
            <a:endParaRPr lang="en-US"/>
          </a:p>
        </p:txBody>
      </p:sp>
      <p:sp>
        <p:nvSpPr>
          <p:cNvPr id="59" name="WHAT WE LEARN Label"/>
          <p:cNvSpPr/>
          <p:nvPr/>
        </p:nvSpPr>
        <p:spPr>
          <a:xfrm>
            <a:off x="607200" y="3950000"/>
            <a:ext cx="5250000" cy="240000"/>
          </a:xfrm>
          <a:prstGeom prst="rect">
            <a:avLst/>
          </a:prstGeom>
          <a:noFill/>
          <a:ln w="0">
            <a:noFill/>
          </a:ln>
        </p:spPr>
        <p:txBody>
          <a:bodyPr wrap="square" lIns="0" tIns="0" rIns="0" bIns="0" anchor="t">
            <a:noAutofit/>
          </a:bodyPr>
          <a:lstStyle/>
          <a:p>
            <a:pPr>
              <a:lnSpc>
                <a:spcPct val="108000"/>
              </a:lnSpc>
              <a:buNone/>
            </a:pPr>
            <a:r>
              <a:rPr lang="en-US" sz="1000" b="1" i="0">
                <a:solidFill>
                  <a:srgbClr val="0047FF"/>
                </a:solidFill>
                <a:latin typeface="Arial"/>
                <a:ea typeface="Arial"/>
                <a:cs typeface="Arial"/>
              </a:rPr>
              <a:t>WHAT WE LEARN</a:t>
            </a:r>
          </a:p>
        </p:txBody>
      </p:sp>
      <p:sp>
        <p:nvSpPr>
          <p:cNvPr id="60" name="WHAT WE LEARN Text"/>
          <p:cNvSpPr/>
          <p:nvPr/>
        </p:nvSpPr>
        <p:spPr>
          <a:xfrm>
            <a:off x="607200" y="4230000"/>
            <a:ext cx="5250000" cy="1000000"/>
          </a:xfrm>
          <a:prstGeom prst="rect">
            <a:avLst/>
          </a:prstGeom>
          <a:noFill/>
          <a:ln w="0">
            <a:noFill/>
          </a:ln>
        </p:spPr>
        <p:txBody>
          <a:bodyPr wrap="square" lIns="0" tIns="0" rIns="0" bIns="0" anchor="t">
            <a:noAutofit/>
          </a:bodyPr>
          <a:lstStyle/>
          <a:p>
            <a:pPr marL="171450" indent="-171450">
              <a:lnSpc>
                <a:spcPct val="105000"/>
              </a:lnSpc>
              <a:spcAft>
                <a:spcPts val="400"/>
              </a:spcAft>
              <a:buClr>
                <a:srgbClr val="0047FF"/>
              </a:buClr>
              <a:buFont typeface="Arial"/>
              <a:buChar char="•"/>
            </a:pPr>
            <a:r>
              <a:rPr lang="en-US" sz="1000" b="0" i="0">
                <a:solidFill>
                  <a:srgbClr val="070154"/>
                </a:solidFill>
                <a:latin typeface="Arial"/>
                <a:ea typeface="Arial"/>
                <a:cs typeface="Arial"/>
              </a:rPr>
              <a:t>Whether the agent's template works outside Reconcile AI.</a:t>
            </a:r>
          </a:p>
          <a:p>
            <a:pPr marL="171450" indent="-171450">
              <a:lnSpc>
                <a:spcPct val="105000"/>
              </a:lnSpc>
              <a:spcAft>
                <a:spcPts val="400"/>
              </a:spcAft>
              <a:buClr>
                <a:srgbClr val="0047FF"/>
              </a:buClr>
              <a:buFont typeface="Arial"/>
              <a:buChar char="•"/>
            </a:pPr>
            <a:r>
              <a:rPr lang="en-US" sz="1000" b="0" i="0">
                <a:solidFill>
                  <a:srgbClr val="070154"/>
                </a:solidFill>
                <a:latin typeface="Arial"/>
                <a:ea typeface="Arial"/>
                <a:cs typeface="Arial"/>
              </a:rPr>
              <a:t>How long PRD to signed spec takes with a human gate.</a:t>
            </a:r>
          </a:p>
          <a:p>
            <a:pPr marL="171450" indent="-171450">
              <a:lnSpc>
                <a:spcPct val="105000"/>
              </a:lnSpc>
              <a:spcAft>
                <a:spcPts val="400"/>
              </a:spcAft>
              <a:buClr>
                <a:srgbClr val="0047FF"/>
              </a:buClr>
              <a:buFont typeface="Arial"/>
              <a:buChar char="•"/>
            </a:pPr>
            <a:r>
              <a:rPr lang="en-US" sz="1000" b="0" i="0">
                <a:solidFill>
                  <a:srgbClr val="070154"/>
                </a:solidFill>
                <a:latin typeface="Arial"/>
                <a:ea typeface="Arial"/>
                <a:cs typeface="Arial"/>
              </a:rPr>
              <a:t>What Product needs from release evidence to unblock the Release Agent.</a:t>
            </a:r>
          </a:p>
        </p:txBody>
      </p:sp>
      <p:sp>
        <p:nvSpPr>
          <p:cNvPr id="61" name="WATCH-OUTS Card"/>
          <p:cNvSpPr/>
          <p:nvPr/>
        </p:nvSpPr>
        <p:spPr>
          <a:xfrm>
            <a:off x="6184800" y="3830000"/>
            <a:ext cx="5550000" cy="1450000"/>
          </a:xfrm>
          <a:prstGeom prst="rect">
            <a:avLst/>
          </a:prstGeom>
          <a:solidFill>
            <a:srgbClr val="FFFFFF"/>
          </a:solidFill>
          <a:ln w="9525">
            <a:solidFill>
              <a:srgbClr val="CED7E6"/>
            </a:solidFill>
          </a:ln>
        </p:spPr>
        <p:txBody>
          <a:bodyPr wrap="square" anchor="t">
            <a:noAutofit/>
          </a:bodyPr>
          <a:lstStyle/>
          <a:p>
            <a:endParaRPr lang="en-US"/>
          </a:p>
        </p:txBody>
      </p:sp>
      <p:sp>
        <p:nvSpPr>
          <p:cNvPr id="62" name="WATCH-OUTS Label"/>
          <p:cNvSpPr/>
          <p:nvPr/>
        </p:nvSpPr>
        <p:spPr>
          <a:xfrm>
            <a:off x="6334800" y="3950000"/>
            <a:ext cx="5250000" cy="240000"/>
          </a:xfrm>
          <a:prstGeom prst="rect">
            <a:avLst/>
          </a:prstGeom>
          <a:noFill/>
          <a:ln w="0">
            <a:noFill/>
          </a:ln>
        </p:spPr>
        <p:txBody>
          <a:bodyPr wrap="square" lIns="0" tIns="0" rIns="0" bIns="0" anchor="t">
            <a:noAutofit/>
          </a:bodyPr>
          <a:lstStyle/>
          <a:p>
            <a:pPr>
              <a:lnSpc>
                <a:spcPct val="108000"/>
              </a:lnSpc>
              <a:buNone/>
            </a:pPr>
            <a:r>
              <a:rPr lang="en-US" sz="1000" b="1" i="0">
                <a:solidFill>
                  <a:srgbClr val="0047FF"/>
                </a:solidFill>
                <a:latin typeface="Arial"/>
                <a:ea typeface="Arial"/>
                <a:cs typeface="Arial"/>
              </a:rPr>
              <a:t>WATCH-OUTS</a:t>
            </a:r>
          </a:p>
        </p:txBody>
      </p:sp>
      <p:sp>
        <p:nvSpPr>
          <p:cNvPr id="63" name="WATCH-OUTS Text"/>
          <p:cNvSpPr/>
          <p:nvPr/>
        </p:nvSpPr>
        <p:spPr>
          <a:xfrm>
            <a:off x="6334800" y="4230000"/>
            <a:ext cx="5250000" cy="1000000"/>
          </a:xfrm>
          <a:prstGeom prst="rect">
            <a:avLst/>
          </a:prstGeom>
          <a:noFill/>
          <a:ln w="0">
            <a:noFill/>
          </a:ln>
        </p:spPr>
        <p:txBody>
          <a:bodyPr wrap="square" lIns="0" tIns="0" rIns="0" bIns="0" anchor="t">
            <a:noAutofit/>
          </a:bodyPr>
          <a:lstStyle/>
          <a:p>
            <a:pPr marL="171450" indent="-171450">
              <a:lnSpc>
                <a:spcPct val="105000"/>
              </a:lnSpc>
              <a:spcAft>
                <a:spcPts val="400"/>
              </a:spcAft>
              <a:buClr>
                <a:srgbClr val="0047FF"/>
              </a:buClr>
              <a:buFont typeface="Arial"/>
              <a:buChar char="•"/>
            </a:pPr>
            <a:r>
              <a:rPr lang="en-US" sz="1000" b="0" i="0">
                <a:solidFill>
                  <a:srgbClr val="070154"/>
                </a:solidFill>
                <a:latin typeface="Arial"/>
                <a:ea typeface="Arial"/>
                <a:cs typeface="Arial"/>
              </a:rPr>
              <a:t>The Rules Engine platform is undecided; if it lands on Core, the template may need adjusting.</a:t>
            </a:r>
          </a:p>
          <a:p>
            <a:pPr marL="171450" indent="-171450">
              <a:lnSpc>
                <a:spcPct val="105000"/>
              </a:lnSpc>
              <a:spcAft>
                <a:spcPts val="400"/>
              </a:spcAft>
              <a:buClr>
                <a:srgbClr val="0047FF"/>
              </a:buClr>
              <a:buFont typeface="Arial"/>
              <a:buChar char="•"/>
            </a:pPr>
            <a:r>
              <a:rPr lang="en-US" sz="1000" b="0" i="0">
                <a:solidFill>
                  <a:srgbClr val="070154"/>
                </a:solidFill>
                <a:latin typeface="Arial"/>
                <a:ea typeface="Arial"/>
                <a:cs typeface="Arial"/>
              </a:rPr>
              <a:t>The sanctioned AI tools and PHI rule must be in place first.</a:t>
            </a:r>
          </a:p>
          <a:p>
            <a:pPr marL="171450" indent="-171450">
              <a:lnSpc>
                <a:spcPct val="105000"/>
              </a:lnSpc>
              <a:spcAft>
                <a:spcPts val="400"/>
              </a:spcAft>
              <a:buClr>
                <a:srgbClr val="0047FF"/>
              </a:buClr>
              <a:buFont typeface="Arial"/>
              <a:buChar char="•"/>
            </a:pPr>
            <a:r>
              <a:rPr lang="en-US" sz="1000" b="0" i="0">
                <a:solidFill>
                  <a:srgbClr val="070154"/>
                </a:solidFill>
                <a:latin typeface="Arial"/>
                <a:ea typeface="Arial"/>
                <a:cs typeface="Arial"/>
              </a:rPr>
              <a:t>Ways of working only: no production-system change.</a:t>
            </a:r>
          </a:p>
        </p:txBody>
      </p:sp>
      <p:sp>
        <p:nvSpPr>
          <p:cNvPr id="64" name="Owner Bar"/>
          <p:cNvSpPr/>
          <p:nvPr/>
        </p:nvSpPr>
        <p:spPr>
          <a:xfrm>
            <a:off x="457200" y="5470000"/>
            <a:ext cx="11277600" cy="500000"/>
          </a:xfrm>
          <a:prstGeom prst="rect">
            <a:avLst/>
          </a:prstGeom>
          <a:solidFill>
            <a:srgbClr val="0047FF"/>
          </a:solidFill>
          <a:ln w="0">
            <a:noFill/>
          </a:ln>
        </p:spPr>
        <p:txBody>
          <a:bodyPr wrap="square" anchor="ctr">
            <a:noAutofit/>
          </a:bodyPr>
          <a:lstStyle/>
          <a:p>
            <a:pPr>
              <a:lnSpc>
                <a:spcPct val="108000"/>
              </a:lnSpc>
              <a:buNone/>
            </a:pPr>
            <a:r>
              <a:rPr lang="en-US" sz="1000" b="1" i="0">
                <a:solidFill>
                  <a:srgbClr val="FFFFFF"/>
                </a:solidFill>
                <a:latin typeface="Arial"/>
                <a:ea typeface="Arial"/>
                <a:cs typeface="Arial"/>
              </a:rPr>
              <a:t>Owner: Product + Engineering Team Lead  |  Buckets: Quality (tech spec) and Release (Release Agent)  |  Measure: time from PRD to signed spec, rework after review</a:t>
            </a:r>
          </a:p>
        </p:txBody>
      </p:sp>
      <p:sp>
        <p:nvSpPr>
          <p:cNvPr id="5" name="Footer Placeholder 1">
            <a:extLst>
              <a:ext uri="{FF2B5EF4-FFF2-40B4-BE49-F238E27FC236}">
                <a16:creationId xmlns:a16="http://schemas.microsoft.com/office/drawing/2014/main" id="{6F2C3ED4-7605-7FD7-2090-3C2C04B955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D914A85B-2325-E399-15CC-67275095608E}"/>
              </a:ext>
            </a:extLst>
          </p:cNvPr>
          <p:cNvSpPr>
            <a:spLocks noGrp="1"/>
          </p:cNvSpPr>
          <p:nvPr>
            <p:ph type="sldNum" idx="11"/>
          </p:nvPr>
        </p:nvSpPr>
        <p:spPr>
          <a:xfrm>
            <a:off x="11509578" y="6400799"/>
            <a:ext cx="218871" cy="167949"/>
          </a:xfrm>
        </p:spPr>
        <p:txBody>
          <a:bodyPr/>
          <a:lstStyle/>
          <a:p>
            <a:fld id="{63DCA5C9-2E11-4C67-86EB-AE1DE127DC64}" type="slidenum">
              <a:rPr lang="en-US" smtClean="0"/>
              <a:t>19</a:t>
            </a:fld>
            <a:endParaRPr lang="en-US"/>
          </a:p>
        </p:txBody>
      </p:sp>
    </p:spTree>
    <p:extLst>
      <p:ext uri="{BB962C8B-B14F-4D97-AF65-F5344CB8AC3E}">
        <p14:creationId xmlns:p14="http://schemas.microsoft.com/office/powerpoint/2010/main" val="140487051"/>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DED46A50-9237-4E36-9773-CBAE5AC21983}"/>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Activation Roadmap: engineering track</a:t>
            </a:r>
          </a:p>
        </p:txBody>
      </p:sp>
      <p:sp>
        <p:nvSpPr>
          <p:cNvPr id="3" name="Rectangle 2">
            <a:extLst>
              <a:ext uri="{FF2B5EF4-FFF2-40B4-BE49-F238E27FC236}">
                <a16:creationId xmlns:a16="http://schemas.microsoft.com/office/drawing/2014/main" id="{F37CD493-DE32-436C-849E-95720C8304C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Each engineering recommendation starts in one pilot pod, then extends on the same Now, Next, and Future horizons.</a:t>
            </a:r>
          </a:p>
        </p:txBody>
      </p:sp>
      <p:sp>
        <p:nvSpPr>
          <p:cNvPr id="4" name="Rectangle 3">
            <a:extLst>
              <a:ext uri="{FF2B5EF4-FFF2-40B4-BE49-F238E27FC236}">
                <a16:creationId xmlns:a16="http://schemas.microsoft.com/office/drawing/2014/main" id="{897DA715-B291-43D5-8A14-8B021326B3B8}"/>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03</a:t>
            </a:r>
          </a:p>
        </p:txBody>
      </p:sp>
      <p:sp>
        <p:nvSpPr>
          <p:cNvPr id="6" name="Rectangle 5">
            <a:extLst>
              <a:ext uri="{FF2B5EF4-FFF2-40B4-BE49-F238E27FC236}">
                <a16:creationId xmlns:a16="http://schemas.microsoft.com/office/drawing/2014/main" id="{A2C7DF3A-7E43-44A3-BB8B-7344D6764FFB}"/>
              </a:ext>
            </a:extLst>
          </p:cNvPr>
          <p:cNvSpPr>
            <a:spLocks noGrp="1"/>
          </p:cNvSpPr>
          <p:nvPr/>
        </p:nvSpPr>
        <p:spPr>
          <a:xfrm>
            <a:off x="457200" y="5524500"/>
            <a:ext cx="11277600" cy="342900"/>
          </a:xfrm>
          <a:prstGeom prst="rect">
            <a:avLst/>
          </a:prstGeom>
          <a:noFill/>
          <a:ln w="0">
            <a:noFill/>
          </a:ln>
        </p:spPr>
        <p:txBody>
          <a:bodyPr anchor="t">
            <a:normAutofit/>
          </a:bodyPr>
          <a:lstStyle/>
          <a:p>
            <a:pPr>
              <a:lnSpc>
                <a:spcPct val="108000"/>
              </a:lnSpc>
              <a:buNone/>
              <a:defRPr sz="1125" b="1" i="0">
                <a:solidFill>
                  <a:srgbClr val="0047FF"/>
                </a:solidFill>
                <a:latin typeface="Arial"/>
                <a:ea typeface="Arial"/>
                <a:cs typeface="Arial"/>
              </a:defRPr>
            </a:pPr>
            <a:r>
              <a:rPr sz="1125" b="1" i="0">
                <a:solidFill>
                  <a:srgbClr val="0047FF"/>
                </a:solidFill>
                <a:latin typeface="Arial"/>
                <a:ea typeface="Arial"/>
                <a:cs typeface="Arial"/>
              </a:rPr>
              <a:t>Pilot first, measure, then extend: a recommendation moves to the next pod once its measure shows it works.</a:t>
            </a:r>
          </a:p>
        </p:txBody>
      </p:sp>
      <p:graphicFrame>
        <p:nvGraphicFramePr>
          <p:cNvPr id="20" name="Eng Roadmap Table"/>
          <p:cNvGraphicFramePr>
            <a:graphicFrameLocks noGrp="1"/>
          </p:cNvGraphicFramePr>
          <p:nvPr/>
        </p:nvGraphicFramePr>
        <p:xfrm>
          <a:off x="457200" y="1752600"/>
          <a:ext cx="11277600" cy="3500000"/>
        </p:xfrm>
        <a:graphic>
          <a:graphicData uri="http://schemas.openxmlformats.org/drawingml/2006/table">
            <a:tbl>
              <a:tblPr/>
              <a:tblGrid>
                <a:gridCol w="1850000">
                  <a:extLst>
                    <a:ext uri="{9D8B030D-6E8A-4147-A177-3AD203B41FA5}">
                      <a16:colId xmlns:a16="http://schemas.microsoft.com/office/drawing/2014/main" val="20000"/>
                    </a:ext>
                  </a:extLst>
                </a:gridCol>
                <a:gridCol w="1200000">
                  <a:extLst>
                    <a:ext uri="{9D8B030D-6E8A-4147-A177-3AD203B41FA5}">
                      <a16:colId xmlns:a16="http://schemas.microsoft.com/office/drawing/2014/main" val="20001"/>
                    </a:ext>
                  </a:extLst>
                </a:gridCol>
                <a:gridCol w="2350000">
                  <a:extLst>
                    <a:ext uri="{9D8B030D-6E8A-4147-A177-3AD203B41FA5}">
                      <a16:colId xmlns:a16="http://schemas.microsoft.com/office/drawing/2014/main" val="20002"/>
                    </a:ext>
                  </a:extLst>
                </a:gridCol>
                <a:gridCol w="2350000">
                  <a:extLst>
                    <a:ext uri="{9D8B030D-6E8A-4147-A177-3AD203B41FA5}">
                      <a16:colId xmlns:a16="http://schemas.microsoft.com/office/drawing/2014/main" val="20003"/>
                    </a:ext>
                  </a:extLst>
                </a:gridCol>
                <a:gridCol w="1850000">
                  <a:extLst>
                    <a:ext uri="{9D8B030D-6E8A-4147-A177-3AD203B41FA5}">
                      <a16:colId xmlns:a16="http://schemas.microsoft.com/office/drawing/2014/main" val="20004"/>
                    </a:ext>
                  </a:extLst>
                </a:gridCol>
                <a:gridCol w="1677600">
                  <a:extLst>
                    <a:ext uri="{9D8B030D-6E8A-4147-A177-3AD203B41FA5}">
                      <a16:colId xmlns:a16="http://schemas.microsoft.com/office/drawing/2014/main" val="20005"/>
                    </a:ext>
                  </a:extLst>
                </a:gridCol>
              </a:tblGrid>
              <a:tr h="400000">
                <a:tc>
                  <a:txBody>
                    <a:bodyPr/>
                    <a:lstStyle/>
                    <a:p>
                      <a:pPr>
                        <a:lnSpc>
                          <a:spcPct val="102000"/>
                        </a:lnSpc>
                        <a:buNone/>
                      </a:pPr>
                      <a:r>
                        <a:rPr lang="en-US" sz="950" b="1" i="0">
                          <a:solidFill>
                            <a:srgbClr val="FFFFFF"/>
                          </a:solidFill>
                          <a:latin typeface="Arial"/>
                          <a:ea typeface="Arial"/>
                          <a:cs typeface="Arial"/>
                        </a:rPr>
                        <a:t>Recommendation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50" b="1" i="0">
                          <a:solidFill>
                            <a:srgbClr val="FFFFFF"/>
                          </a:solidFill>
                          <a:latin typeface="Arial"/>
                          <a:ea typeface="Arial"/>
                          <a:cs typeface="Arial"/>
                        </a:rPr>
                        <a:t>Pilot pod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50" b="1" i="0">
                          <a:solidFill>
                            <a:srgbClr val="16804D"/>
                          </a:solidFill>
                          <a:latin typeface="Arial"/>
                          <a:ea typeface="Arial"/>
                          <a:cs typeface="Arial"/>
                        </a:rPr>
                        <a:t>Now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50" b="1" i="0">
                          <a:solidFill>
                            <a:srgbClr val="8B6500"/>
                          </a:solidFill>
                          <a:latin typeface="Arial"/>
                          <a:ea typeface="Arial"/>
                          <a:cs typeface="Arial"/>
                        </a:rPr>
                        <a:t>Next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lang="en-US" sz="950" b="1" i="0">
                          <a:solidFill>
                            <a:srgbClr val="3561AE"/>
                          </a:solidFill>
                          <a:latin typeface="Arial"/>
                          <a:ea typeface="Arial"/>
                          <a:cs typeface="Arial"/>
                        </a:rPr>
                        <a:t>Future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tc>
                  <a:txBody>
                    <a:bodyPr/>
                    <a:lstStyle/>
                    <a:p>
                      <a:pPr>
                        <a:lnSpc>
                          <a:spcPct val="102000"/>
                        </a:lnSpc>
                        <a:buNone/>
                      </a:pPr>
                      <a:r>
                        <a:rPr lang="en-US" sz="950" b="1" i="0">
                          <a:solidFill>
                            <a:srgbClr val="FFFFFF"/>
                          </a:solidFill>
                          <a:latin typeface="Arial"/>
                          <a:ea typeface="Arial"/>
                          <a:cs typeface="Arial"/>
                        </a:rPr>
                        <a:t>Owner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extLst>
                  <a:ext uri="{0D108BD9-81ED-4DB2-BD59-A6C34878D82A}">
                    <a16:rowId xmlns:a16="http://schemas.microsoft.com/office/drawing/2014/main" val="10000"/>
                  </a:ext>
                </a:extLst>
              </a:tr>
              <a:tr h="620000">
                <a:tc>
                  <a:txBody>
                    <a:bodyPr/>
                    <a:lstStyle/>
                    <a:p>
                      <a:pPr>
                        <a:lnSpc>
                          <a:spcPct val="102000"/>
                        </a:lnSpc>
                        <a:buNone/>
                      </a:pPr>
                      <a:r>
                        <a:rPr lang="en-US" sz="900" b="1" i="0">
                          <a:solidFill>
                            <a:srgbClr val="070154"/>
                          </a:solidFill>
                          <a:latin typeface="Arial"/>
                          <a:ea typeface="Arial"/>
                          <a:cs typeface="Arial"/>
                        </a:rPr>
                        <a:t>E1 Release stability and production quality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Core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Root-cause review of the 15 unplanned 2026 changes; credential and certificate inventory with owners.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Review after every patch or rollback; expiry alerts; same-artifact promotion; new products into CAB.</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Change failure rate, restore time, and repeat causes tracked on every pod.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Engineering leadership, Release/DevOps, Quality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1"/>
                  </a:ext>
                </a:extLst>
              </a:tr>
              <a:tr h="620000">
                <a:tc>
                  <a:txBody>
                    <a:bodyPr/>
                    <a:lstStyle/>
                    <a:p>
                      <a:pPr>
                        <a:lnSpc>
                          <a:spcPct val="102000"/>
                        </a:lnSpc>
                        <a:buNone/>
                      </a:pPr>
                      <a:r>
                        <a:rPr lang="en-US" sz="900" b="1" i="0">
                          <a:solidFill>
                            <a:srgbClr val="070154"/>
                          </a:solidFill>
                          <a:latin typeface="Arial"/>
                          <a:ea typeface="Arial"/>
                          <a:cs typeface="Arial"/>
                        </a:rPr>
                        <a:t>E2 Quality and test automation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Core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Map the highest-risk regression workflows and the manual effort per release.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Automate those workflows; extend Recon's test patterns to Eligibility AI and Pay Connect.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Automated regression as a release entry criterion on every pod.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Quality leadership, Engineering leads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2"/>
                  </a:ext>
                </a:extLst>
              </a:tr>
              <a:tr h="620000">
                <a:tc>
                  <a:txBody>
                    <a:bodyPr/>
                    <a:lstStyle/>
                    <a:p>
                      <a:pPr>
                        <a:lnSpc>
                          <a:spcPct val="102000"/>
                        </a:lnSpc>
                        <a:buNone/>
                      </a:pPr>
                      <a:r>
                        <a:rPr lang="en-US" sz="900" b="1" i="0">
                          <a:solidFill>
                            <a:srgbClr val="070154"/>
                          </a:solidFill>
                          <a:latin typeface="Arial"/>
                          <a:ea typeface="Arial"/>
                          <a:cs typeface="Arial"/>
                        </a:rPr>
                        <a:t>E3 Environments, access, and test data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Reconcile AI, Rules Engine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Log who waits for access and test data, for what, and for how long.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Masked, production-like data for Recon; read-only diagnostic access, including offshore.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Self-service environments and access on every pod.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DevOps/Infrastructure, Security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3"/>
                  </a:ext>
                </a:extLst>
              </a:tr>
              <a:tr h="620000">
                <a:tc>
                  <a:txBody>
                    <a:bodyPr/>
                    <a:lstStyle/>
                    <a:p>
                      <a:pPr>
                        <a:lnSpc>
                          <a:spcPct val="102000"/>
                        </a:lnSpc>
                        <a:buNone/>
                      </a:pPr>
                      <a:r>
                        <a:rPr lang="en-US" sz="900" b="1" i="0">
                          <a:solidFill>
                            <a:srgbClr val="070154"/>
                          </a:solidFill>
                          <a:latin typeface="Arial"/>
                          <a:ea typeface="Arial"/>
                          <a:cs typeface="Arial"/>
                        </a:rPr>
                        <a:t>E4 Delivery measurement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Core, Reconcile AI</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Baseline release frequency, lead time, change failure rate, and time to restore.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Recon flow metrics live; one monthly delivery view, vendor team included.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Measures inform prioritization and portfolio decisions.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Engineering leadership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4"/>
                  </a:ext>
                </a:extLst>
              </a:tr>
              <a:tr h="620000">
                <a:tc>
                  <a:txBody>
                    <a:bodyPr/>
                    <a:lstStyle/>
                    <a:p>
                      <a:pPr>
                        <a:lnSpc>
                          <a:spcPct val="102000"/>
                        </a:lnSpc>
                        <a:buNone/>
                      </a:pPr>
                      <a:r>
                        <a:rPr lang="en-US" sz="900" b="1" i="0">
                          <a:solidFill>
                            <a:srgbClr val="070154"/>
                          </a:solidFill>
                          <a:latin typeface="Arial"/>
                          <a:ea typeface="Arial"/>
                          <a:cs typeface="Arial"/>
                        </a:rPr>
                        <a:t>E5 Governed agentic delivery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Reconcile AI</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Classify pipeline steps (automate, assist, human review); name sanctioned tools for PHI work.</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Extend to Eligibility AI with an agent registry; light pilot on Core; December rollout.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Scale what improves speed and quality together.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Engineering, Product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5"/>
                  </a:ext>
                </a:extLst>
              </a:tr>
            </a:tbl>
          </a:graphicData>
        </a:graphic>
      </p:graphicFrame>
      <p:sp>
        <p:nvSpPr>
          <p:cNvPr id="8" name="Footer Placeholder 1">
            <a:extLst>
              <a:ext uri="{FF2B5EF4-FFF2-40B4-BE49-F238E27FC236}">
                <a16:creationId xmlns:a16="http://schemas.microsoft.com/office/drawing/2014/main" id="{70316CA8-C715-6102-5889-5B86B61CF7CF}"/>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9" name="Slide Number Placeholder 2">
            <a:extLst>
              <a:ext uri="{FF2B5EF4-FFF2-40B4-BE49-F238E27FC236}">
                <a16:creationId xmlns:a16="http://schemas.microsoft.com/office/drawing/2014/main" id="{124468FC-8242-D782-3222-9CCC1EB737DA}"/>
              </a:ext>
            </a:extLst>
          </p:cNvPr>
          <p:cNvSpPr>
            <a:spLocks noGrp="1"/>
          </p:cNvSpPr>
          <p:nvPr>
            <p:ph type="sldNum" idx="11"/>
          </p:nvPr>
        </p:nvSpPr>
        <p:spPr>
          <a:xfrm>
            <a:off x="11509578" y="6400799"/>
            <a:ext cx="218871" cy="167949"/>
          </a:xfrm>
        </p:spPr>
        <p:txBody>
          <a:bodyPr/>
          <a:lstStyle/>
          <a:p>
            <a:fld id="{63DCA5C9-2E11-4C67-86EB-AE1DE127DC64}" type="slidenum">
              <a:rPr lang="en-US" smtClean="0"/>
              <a:t>20</a:t>
            </a:fld>
            <a:endParaRPr lang="en-US"/>
          </a:p>
        </p:txBody>
      </p:sp>
    </p:spTree>
    <p:extLst>
      <p:ext uri="{BB962C8B-B14F-4D97-AF65-F5344CB8AC3E}">
        <p14:creationId xmlns:p14="http://schemas.microsoft.com/office/powerpoint/2010/main" val="1400488927"/>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Engineering Priority: Quality</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Build quality in from the spec, and prove the change with measures leadership can see.</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ENGINEERING · QUALITY</a:t>
            </a:r>
          </a:p>
        </p:txBody>
      </p:sp>
      <p:sp>
        <p:nvSpPr>
          <p:cNvPr id="40" name="Status Card"/>
          <p:cNvSpPr/>
          <p:nvPr/>
        </p:nvSpPr>
        <p:spPr>
          <a:xfrm>
            <a:off x="457200" y="1752600"/>
            <a:ext cx="2950000" cy="3200000"/>
          </a:xfrm>
          <a:prstGeom prst="rect">
            <a:avLst/>
          </a:prstGeom>
          <a:solidFill>
            <a:srgbClr val="E8EEF8"/>
          </a:solidFill>
          <a:ln w="9525">
            <a:solidFill>
              <a:srgbClr val="CED7E6"/>
            </a:solidFill>
          </a:ln>
        </p:spPr>
        <p:txBody>
          <a:bodyPr wrap="square" anchor="t">
            <a:noAutofit/>
          </a:bodyPr>
          <a:lstStyle/>
          <a:p>
            <a:endParaRPr lang="en-US"/>
          </a:p>
        </p:txBody>
      </p:sp>
      <p:sp>
        <p:nvSpPr>
          <p:cNvPr id="41" name="Status Accent"/>
          <p:cNvSpPr/>
          <p:nvPr/>
        </p:nvSpPr>
        <p:spPr>
          <a:xfrm>
            <a:off x="457200" y="1752600"/>
            <a:ext cx="2950000" cy="63500"/>
          </a:xfrm>
          <a:prstGeom prst="rect">
            <a:avLst/>
          </a:prstGeom>
          <a:solidFill>
            <a:srgbClr val="070154"/>
          </a:solidFill>
          <a:ln w="0">
            <a:noFill/>
          </a:ln>
        </p:spPr>
        <p:txBody>
          <a:bodyPr wrap="square" anchor="t">
            <a:noAutofit/>
          </a:bodyPr>
          <a:lstStyle/>
          <a:p>
            <a:endParaRPr lang="en-US"/>
          </a:p>
        </p:txBody>
      </p:sp>
      <p:sp>
        <p:nvSpPr>
          <p:cNvPr id="42" name="Status Label"/>
          <p:cNvSpPr/>
          <p:nvPr/>
        </p:nvSpPr>
        <p:spPr>
          <a:xfrm>
            <a:off x="607200" y="1902600"/>
            <a:ext cx="2650000" cy="260000"/>
          </a:xfrm>
          <a:prstGeom prst="rect">
            <a:avLst/>
          </a:prstGeom>
          <a:noFill/>
          <a:ln w="0">
            <a:noFill/>
          </a:ln>
        </p:spPr>
        <p:txBody>
          <a:bodyPr wrap="square" lIns="0" tIns="0" rIns="0" bIns="0" anchor="t">
            <a:noAutofit/>
          </a:bodyPr>
          <a:lstStyle/>
          <a:p>
            <a:pPr>
              <a:lnSpc>
                <a:spcPct val="108000"/>
              </a:lnSpc>
              <a:buNone/>
            </a:pPr>
            <a:r>
              <a:rPr lang="en-US" sz="1000" b="1" i="0">
                <a:solidFill>
                  <a:srgbClr val="0047FF"/>
                </a:solidFill>
                <a:latin typeface="Arial"/>
                <a:ea typeface="Arial"/>
                <a:cs typeface="Arial"/>
              </a:rPr>
              <a:t>STATUS TODAY</a:t>
            </a:r>
          </a:p>
        </p:txBody>
      </p:sp>
      <p:sp>
        <p:nvSpPr>
          <p:cNvPr id="43" name="Status Text"/>
          <p:cNvSpPr/>
          <p:nvPr/>
        </p:nvSpPr>
        <p:spPr>
          <a:xfrm>
            <a:off x="607200" y="2222600"/>
            <a:ext cx="2650000" cy="2640000"/>
          </a:xfrm>
          <a:prstGeom prst="rect">
            <a:avLst/>
          </a:prstGeom>
          <a:noFill/>
          <a:ln w="0">
            <a:noFill/>
          </a:ln>
        </p:spPr>
        <p:txBody>
          <a:bodyPr wrap="square" lIns="0" tIns="0" rIns="0" bIns="0" anchor="t">
            <a:noAutofit/>
          </a:bodyPr>
          <a:lstStyle/>
          <a:p>
            <a:pPr marL="171450" indent="-171450">
              <a:lnSpc>
                <a:spcPct val="105000"/>
              </a:lnSpc>
              <a:spcAft>
                <a:spcPts val="500"/>
              </a:spcAft>
              <a:buClr>
                <a:srgbClr val="0047FF"/>
              </a:buClr>
              <a:buFont typeface="Arial"/>
              <a:buChar char="•"/>
            </a:pPr>
            <a:r>
              <a:rPr lang="en-US" sz="950" b="0" i="0">
                <a:solidFill>
                  <a:srgbClr val="070154"/>
                </a:solidFill>
                <a:latin typeface="Arial"/>
                <a:ea typeface="Arial"/>
                <a:cs typeface="Arial"/>
              </a:rPr>
              <a:t>Defects reach production: at least 3 in 2026, plus 2 rollbacks, in the Core calendar.</a:t>
            </a:r>
          </a:p>
          <a:p>
            <a:pPr marL="171450" indent="-171450">
              <a:lnSpc>
                <a:spcPct val="105000"/>
              </a:lnSpc>
              <a:spcAft>
                <a:spcPts val="500"/>
              </a:spcAft>
              <a:buClr>
                <a:srgbClr val="0047FF"/>
              </a:buClr>
              <a:buFont typeface="Arial"/>
              <a:buChar char="•"/>
            </a:pPr>
            <a:r>
              <a:rPr lang="en-US" sz="950" b="0" i="0">
                <a:solidFill>
                  <a:srgbClr val="070154"/>
                </a:solidFill>
                <a:latin typeface="Arial"/>
                <a:ea typeface="Arial"/>
                <a:cs typeface="Arial"/>
              </a:rPr>
              <a:t>Only Reconcile AI has an owned technical design step before build.</a:t>
            </a:r>
          </a:p>
          <a:p>
            <a:pPr marL="171450" indent="-171450">
              <a:lnSpc>
                <a:spcPct val="105000"/>
              </a:lnSpc>
              <a:spcAft>
                <a:spcPts val="500"/>
              </a:spcAft>
              <a:buClr>
                <a:srgbClr val="0047FF"/>
              </a:buClr>
              <a:buFont typeface="Arial"/>
              <a:buChar char="•"/>
            </a:pPr>
            <a:r>
              <a:rPr lang="en-US" sz="950" b="0" i="0">
                <a:solidFill>
                  <a:srgbClr val="070154"/>
                </a:solidFill>
                <a:latin typeface="Arial"/>
                <a:ea typeface="Arial"/>
                <a:cs typeface="Arial"/>
              </a:rPr>
              <a:t>Delivery is not measured end to end, and the vendor team is not measured on delivery.</a:t>
            </a:r>
          </a:p>
        </p:txBody>
      </p:sp>
      <p:sp>
        <p:nvSpPr>
          <p:cNvPr id="44" name="Now Header"/>
          <p:cNvSpPr/>
          <p:nvPr/>
        </p:nvSpPr>
        <p:spPr>
          <a:xfrm>
            <a:off x="3587200" y="1752600"/>
            <a:ext cx="2615866" cy="380000"/>
          </a:xfrm>
          <a:prstGeom prst="rect">
            <a:avLst/>
          </a:prstGeom>
          <a:solidFill>
            <a:srgbClr val="CCF2DD"/>
          </a:solidFill>
          <a:ln w="0">
            <a:noFill/>
          </a:ln>
        </p:spPr>
        <p:txBody>
          <a:bodyPr wrap="square" anchor="ctr">
            <a:noAutofit/>
          </a:bodyPr>
          <a:lstStyle/>
          <a:p>
            <a:pPr>
              <a:lnSpc>
                <a:spcPct val="108000"/>
              </a:lnSpc>
              <a:buNone/>
            </a:pPr>
            <a:r>
              <a:rPr lang="en-US" sz="1050" b="1" i="0">
                <a:solidFill>
                  <a:srgbClr val="16804D"/>
                </a:solidFill>
                <a:latin typeface="Arial"/>
                <a:ea typeface="Arial"/>
                <a:cs typeface="Arial"/>
              </a:rPr>
              <a:t>NOW</a:t>
            </a:r>
            <a:r>
              <a:rPr lang="en-US" sz="900" b="0" i="0">
                <a:solidFill>
                  <a:srgbClr val="16804D"/>
                </a:solidFill>
                <a:latin typeface="Arial"/>
                <a:ea typeface="Arial"/>
                <a:cs typeface="Arial"/>
              </a:rPr>
              <a:t>   Pilot: Rules Engine, Core, Reconcile AI</a:t>
            </a:r>
          </a:p>
        </p:txBody>
      </p:sp>
      <p:sp>
        <p:nvSpPr>
          <p:cNvPr id="45" name="Now Body"/>
          <p:cNvSpPr/>
          <p:nvPr/>
        </p:nvSpPr>
        <p:spPr>
          <a:xfrm>
            <a:off x="3587200" y="2132600"/>
            <a:ext cx="2615866" cy="2820000"/>
          </a:xfrm>
          <a:prstGeom prst="rect">
            <a:avLst/>
          </a:prstGeom>
          <a:solidFill>
            <a:srgbClr val="FFFFFF"/>
          </a:solidFill>
          <a:ln w="9525">
            <a:solidFill>
              <a:srgbClr val="CED7E6"/>
            </a:solidFill>
          </a:ln>
        </p:spPr>
        <p:txBody>
          <a:bodyPr wrap="square" anchor="t">
            <a:noAutofit/>
          </a:bodyPr>
          <a:lstStyle/>
          <a:p>
            <a:endParaRPr lang="en-US"/>
          </a:p>
        </p:txBody>
      </p:sp>
      <p:sp>
        <p:nvSpPr>
          <p:cNvPr id="46" name="Now Text"/>
          <p:cNvSpPr/>
          <p:nvPr/>
        </p:nvSpPr>
        <p:spPr>
          <a:xfrm>
            <a:off x="3707200" y="2252600"/>
            <a:ext cx="2375866" cy="2600000"/>
          </a:xfrm>
          <a:prstGeom prst="rect">
            <a:avLst/>
          </a:prstGeom>
          <a:noFill/>
          <a:ln w="0">
            <a:noFill/>
          </a:ln>
        </p:spPr>
        <p:txBody>
          <a:bodyPr wrap="square" lIns="0" tIns="0" rIns="0" bIns="0" anchor="t">
            <a:noAutofit/>
          </a:bodyPr>
          <a:lstStyle/>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First experiment: take the Rules Engine PRD to a tech spec with the Architecture Design Agent, reviewed and signed by the Team Lead.</a:t>
            </a:r>
          </a:p>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Baseline release frequency, lead time, change failure rate, and time to restore from the calendar and Jira.</a:t>
            </a:r>
          </a:p>
        </p:txBody>
      </p:sp>
      <p:sp>
        <p:nvSpPr>
          <p:cNvPr id="47" name="Next Header"/>
          <p:cNvSpPr/>
          <p:nvPr/>
        </p:nvSpPr>
        <p:spPr>
          <a:xfrm>
            <a:off x="6353066" y="1752600"/>
            <a:ext cx="2615866" cy="380000"/>
          </a:xfrm>
          <a:prstGeom prst="rect">
            <a:avLst/>
          </a:prstGeom>
          <a:solidFill>
            <a:srgbClr val="FFF0C2"/>
          </a:solidFill>
          <a:ln w="0">
            <a:noFill/>
          </a:ln>
        </p:spPr>
        <p:txBody>
          <a:bodyPr wrap="square" anchor="ctr">
            <a:noAutofit/>
          </a:bodyPr>
          <a:lstStyle/>
          <a:p>
            <a:pPr>
              <a:lnSpc>
                <a:spcPct val="108000"/>
              </a:lnSpc>
              <a:buNone/>
            </a:pPr>
            <a:r>
              <a:rPr lang="en-US" sz="1050" b="1" i="0">
                <a:solidFill>
                  <a:srgbClr val="8B6500"/>
                </a:solidFill>
                <a:latin typeface="Arial"/>
                <a:ea typeface="Arial"/>
                <a:cs typeface="Arial"/>
              </a:rPr>
              <a:t>NEXT</a:t>
            </a:r>
          </a:p>
        </p:txBody>
      </p:sp>
      <p:sp>
        <p:nvSpPr>
          <p:cNvPr id="48" name="Next Body"/>
          <p:cNvSpPr/>
          <p:nvPr/>
        </p:nvSpPr>
        <p:spPr>
          <a:xfrm>
            <a:off x="6353066" y="2132600"/>
            <a:ext cx="2615866" cy="2820000"/>
          </a:xfrm>
          <a:prstGeom prst="rect">
            <a:avLst/>
          </a:prstGeom>
          <a:solidFill>
            <a:srgbClr val="FFFFFF"/>
          </a:solidFill>
          <a:ln w="9525">
            <a:solidFill>
              <a:srgbClr val="CED7E6"/>
            </a:solidFill>
          </a:ln>
        </p:spPr>
        <p:txBody>
          <a:bodyPr wrap="square" anchor="t">
            <a:noAutofit/>
          </a:bodyPr>
          <a:lstStyle/>
          <a:p>
            <a:endParaRPr lang="en-US"/>
          </a:p>
        </p:txBody>
      </p:sp>
      <p:sp>
        <p:nvSpPr>
          <p:cNvPr id="49" name="Next Text"/>
          <p:cNvSpPr/>
          <p:nvPr/>
        </p:nvSpPr>
        <p:spPr>
          <a:xfrm>
            <a:off x="6473066" y="2252600"/>
            <a:ext cx="2375866" cy="2600000"/>
          </a:xfrm>
          <a:prstGeom prst="rect">
            <a:avLst/>
          </a:prstGeom>
          <a:noFill/>
          <a:ln w="0">
            <a:noFill/>
          </a:ln>
        </p:spPr>
        <p:txBody>
          <a:bodyPr wrap="square" lIns="0" tIns="0" rIns="0" bIns="0" anchor="t">
            <a:noAutofit/>
          </a:bodyPr>
          <a:lstStyle/>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A lightweight tech spec template for Core.</a:t>
            </a:r>
          </a:p>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Recon's flow metrics live, and one monthly quality view with the vendor team included.</a:t>
            </a:r>
          </a:p>
        </p:txBody>
      </p:sp>
      <p:sp>
        <p:nvSpPr>
          <p:cNvPr id="50" name="Future Header"/>
          <p:cNvSpPr/>
          <p:nvPr/>
        </p:nvSpPr>
        <p:spPr>
          <a:xfrm>
            <a:off x="9118932" y="1752600"/>
            <a:ext cx="2615866" cy="380000"/>
          </a:xfrm>
          <a:prstGeom prst="rect">
            <a:avLst/>
          </a:prstGeom>
          <a:solidFill>
            <a:srgbClr val="DDE8FF"/>
          </a:solidFill>
          <a:ln w="0">
            <a:noFill/>
          </a:ln>
        </p:spPr>
        <p:txBody>
          <a:bodyPr wrap="square" anchor="ctr">
            <a:noAutofit/>
          </a:bodyPr>
          <a:lstStyle/>
          <a:p>
            <a:pPr>
              <a:lnSpc>
                <a:spcPct val="108000"/>
              </a:lnSpc>
              <a:buNone/>
            </a:pPr>
            <a:r>
              <a:rPr lang="en-US" sz="1050" b="1" i="0">
                <a:solidFill>
                  <a:srgbClr val="3561AE"/>
                </a:solidFill>
                <a:latin typeface="Arial"/>
                <a:ea typeface="Arial"/>
                <a:cs typeface="Arial"/>
              </a:rPr>
              <a:t>FUTURE</a:t>
            </a:r>
          </a:p>
        </p:txBody>
      </p:sp>
      <p:sp>
        <p:nvSpPr>
          <p:cNvPr id="51" name="Future Body"/>
          <p:cNvSpPr/>
          <p:nvPr/>
        </p:nvSpPr>
        <p:spPr>
          <a:xfrm>
            <a:off x="9118932" y="2132600"/>
            <a:ext cx="2615866" cy="2820000"/>
          </a:xfrm>
          <a:prstGeom prst="rect">
            <a:avLst/>
          </a:prstGeom>
          <a:solidFill>
            <a:srgbClr val="FFFFFF"/>
          </a:solidFill>
          <a:ln w="9525">
            <a:solidFill>
              <a:srgbClr val="CED7E6"/>
            </a:solidFill>
          </a:ln>
        </p:spPr>
        <p:txBody>
          <a:bodyPr wrap="square" anchor="t">
            <a:noAutofit/>
          </a:bodyPr>
          <a:lstStyle/>
          <a:p>
            <a:endParaRPr lang="en-US"/>
          </a:p>
        </p:txBody>
      </p:sp>
      <p:sp>
        <p:nvSpPr>
          <p:cNvPr id="52" name="Future Text"/>
          <p:cNvSpPr/>
          <p:nvPr/>
        </p:nvSpPr>
        <p:spPr>
          <a:xfrm>
            <a:off x="9238932" y="2252600"/>
            <a:ext cx="2375866" cy="2600000"/>
          </a:xfrm>
          <a:prstGeom prst="rect">
            <a:avLst/>
          </a:prstGeom>
          <a:noFill/>
          <a:ln w="0">
            <a:noFill/>
          </a:ln>
        </p:spPr>
        <p:txBody>
          <a:bodyPr wrap="square" lIns="0" tIns="0" rIns="0" bIns="0" anchor="t">
            <a:noAutofit/>
          </a:bodyPr>
          <a:lstStyle/>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Quality measures inform prioritization and portfolio decisions.</a:t>
            </a:r>
          </a:p>
        </p:txBody>
      </p:sp>
      <p:sp>
        <p:nvSpPr>
          <p:cNvPr id="53" name="Agentic Lens"/>
          <p:cNvSpPr/>
          <p:nvPr/>
        </p:nvSpPr>
        <p:spPr>
          <a:xfrm>
            <a:off x="457200" y="5040000"/>
            <a:ext cx="11277600" cy="340000"/>
          </a:xfrm>
          <a:prstGeom prst="rect">
            <a:avLst/>
          </a:prstGeom>
          <a:solidFill>
            <a:srgbClr val="E8EEF8"/>
          </a:solidFill>
          <a:ln w="0">
            <a:noFill/>
          </a:ln>
        </p:spPr>
        <p:txBody>
          <a:bodyPr wrap="square" anchor="ctr">
            <a:noAutofit/>
          </a:bodyPr>
          <a:lstStyle/>
          <a:p>
            <a:pPr>
              <a:lnSpc>
                <a:spcPct val="108000"/>
              </a:lnSpc>
              <a:buNone/>
            </a:pPr>
            <a:r>
              <a:rPr lang="en-US" sz="1000" b="1" i="0">
                <a:solidFill>
                  <a:srgbClr val="0047FF"/>
                </a:solidFill>
                <a:latin typeface="Arial"/>
                <a:ea typeface="Arial"/>
                <a:cs typeface="Arial"/>
              </a:rPr>
              <a:t>Agentic lens:  </a:t>
            </a:r>
            <a:r>
              <a:rPr lang="en-US" sz="1000" b="0" i="0">
                <a:solidFill>
                  <a:srgbClr val="070154"/>
                </a:solidFill>
                <a:latin typeface="Arial"/>
                <a:ea typeface="Arial"/>
                <a:cs typeface="Arial"/>
              </a:rPr>
              <a:t>the Architecture Design Agent drafts the spec from the PRD; people review and sign before any build starts.</a:t>
            </a:r>
          </a:p>
        </p:txBody>
      </p:sp>
      <p:sp>
        <p:nvSpPr>
          <p:cNvPr id="54" name="Owner Bar"/>
          <p:cNvSpPr/>
          <p:nvPr/>
        </p:nvSpPr>
        <p:spPr>
          <a:xfrm>
            <a:off x="457200" y="5470000"/>
            <a:ext cx="11277600" cy="500000"/>
          </a:xfrm>
          <a:prstGeom prst="rect">
            <a:avLst/>
          </a:prstGeom>
          <a:solidFill>
            <a:srgbClr val="0047FF"/>
          </a:solidFill>
          <a:ln w="0">
            <a:noFill/>
          </a:ln>
        </p:spPr>
        <p:txBody>
          <a:bodyPr wrap="square" anchor="ctr">
            <a:noAutofit/>
          </a:bodyPr>
          <a:lstStyle/>
          <a:p>
            <a:pPr>
              <a:lnSpc>
                <a:spcPct val="108000"/>
              </a:lnSpc>
              <a:buNone/>
            </a:pPr>
            <a:r>
              <a:rPr lang="en-US" sz="1000" b="1" i="0">
                <a:solidFill>
                  <a:srgbClr val="FFFFFF"/>
                </a:solidFill>
                <a:latin typeface="Arial"/>
                <a:ea typeface="Arial"/>
                <a:cs typeface="Arial"/>
              </a:rPr>
              <a:t>Owner: Engineering leadership + Product  |  Measure: change failure rate, escaped defects, and lead time</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spTree>
    <p:extLst>
      <p:ext uri="{BB962C8B-B14F-4D97-AF65-F5344CB8AC3E}">
        <p14:creationId xmlns:p14="http://schemas.microsoft.com/office/powerpoint/2010/main" val="288705116"/>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defRPr sz="2325" b="1" i="0">
                <a:solidFill>
                  <a:srgbClr val="070154"/>
                </a:solidFill>
                <a:latin typeface="Arial"/>
                <a:ea typeface="Arial"/>
                <a:cs typeface="Arial"/>
              </a:defRPr>
            </a:pPr>
            <a:r>
              <a:rPr lang="en-US" sz="2300" b="1">
                <a:solidFill>
                  <a:srgbClr val="070154"/>
                </a:solidFill>
                <a:latin typeface="Arial"/>
                <a:ea typeface="Arial"/>
                <a:cs typeface="Arial"/>
              </a:rPr>
              <a:t>Engineering Priority: Test</a:t>
            </a:r>
            <a:endParaRPr lang="en-US" sz="2325"/>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Move quality checks earlier and remove the waits that slow validation.</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ENGINEERING · TEST</a:t>
            </a:r>
          </a:p>
        </p:txBody>
      </p:sp>
      <p:sp>
        <p:nvSpPr>
          <p:cNvPr id="40" name="Status Card"/>
          <p:cNvSpPr/>
          <p:nvPr/>
        </p:nvSpPr>
        <p:spPr>
          <a:xfrm>
            <a:off x="457200" y="1752600"/>
            <a:ext cx="2950000" cy="3200000"/>
          </a:xfrm>
          <a:prstGeom prst="rect">
            <a:avLst/>
          </a:prstGeom>
          <a:solidFill>
            <a:srgbClr val="E8EEF8"/>
          </a:solidFill>
          <a:ln w="9525">
            <a:solidFill>
              <a:srgbClr val="CED7E6"/>
            </a:solidFill>
          </a:ln>
        </p:spPr>
        <p:txBody>
          <a:bodyPr wrap="square" anchor="t">
            <a:noAutofit/>
          </a:bodyPr>
          <a:lstStyle/>
          <a:p>
            <a:endParaRPr lang="en-US"/>
          </a:p>
        </p:txBody>
      </p:sp>
      <p:sp>
        <p:nvSpPr>
          <p:cNvPr id="41" name="Status Accent"/>
          <p:cNvSpPr/>
          <p:nvPr/>
        </p:nvSpPr>
        <p:spPr>
          <a:xfrm>
            <a:off x="457200" y="1752600"/>
            <a:ext cx="2950000" cy="63500"/>
          </a:xfrm>
          <a:prstGeom prst="rect">
            <a:avLst/>
          </a:prstGeom>
          <a:solidFill>
            <a:srgbClr val="070154"/>
          </a:solidFill>
          <a:ln w="0">
            <a:noFill/>
          </a:ln>
        </p:spPr>
        <p:txBody>
          <a:bodyPr wrap="square" anchor="t">
            <a:noAutofit/>
          </a:bodyPr>
          <a:lstStyle/>
          <a:p>
            <a:endParaRPr lang="en-US"/>
          </a:p>
        </p:txBody>
      </p:sp>
      <p:sp>
        <p:nvSpPr>
          <p:cNvPr id="42" name="Status Label"/>
          <p:cNvSpPr/>
          <p:nvPr/>
        </p:nvSpPr>
        <p:spPr>
          <a:xfrm>
            <a:off x="607200" y="1902600"/>
            <a:ext cx="2650000" cy="260000"/>
          </a:xfrm>
          <a:prstGeom prst="rect">
            <a:avLst/>
          </a:prstGeom>
          <a:noFill/>
          <a:ln w="0">
            <a:noFill/>
          </a:ln>
        </p:spPr>
        <p:txBody>
          <a:bodyPr wrap="square" lIns="0" tIns="0" rIns="0" bIns="0" anchor="t">
            <a:noAutofit/>
          </a:bodyPr>
          <a:lstStyle/>
          <a:p>
            <a:pPr>
              <a:lnSpc>
                <a:spcPct val="108000"/>
              </a:lnSpc>
              <a:buNone/>
            </a:pPr>
            <a:r>
              <a:rPr lang="en-US" sz="1000" b="1" i="0">
                <a:solidFill>
                  <a:srgbClr val="0047FF"/>
                </a:solidFill>
                <a:latin typeface="Arial"/>
                <a:ea typeface="Arial"/>
                <a:cs typeface="Arial"/>
              </a:rPr>
              <a:t>STATUS TODAY</a:t>
            </a:r>
          </a:p>
        </p:txBody>
      </p:sp>
      <p:sp>
        <p:nvSpPr>
          <p:cNvPr id="43" name="Status Text"/>
          <p:cNvSpPr/>
          <p:nvPr/>
        </p:nvSpPr>
        <p:spPr>
          <a:xfrm>
            <a:off x="607200" y="2222600"/>
            <a:ext cx="2650000" cy="2640000"/>
          </a:xfrm>
          <a:prstGeom prst="rect">
            <a:avLst/>
          </a:prstGeom>
          <a:noFill/>
          <a:ln w="0">
            <a:noFill/>
          </a:ln>
        </p:spPr>
        <p:txBody>
          <a:bodyPr wrap="square" lIns="0" tIns="0" rIns="0" bIns="0" anchor="t">
            <a:noAutofit/>
          </a:bodyPr>
          <a:lstStyle/>
          <a:p>
            <a:pPr marL="171450" indent="-171450">
              <a:lnSpc>
                <a:spcPct val="105000"/>
              </a:lnSpc>
              <a:spcAft>
                <a:spcPts val="500"/>
              </a:spcAft>
              <a:buClr>
                <a:srgbClr val="0047FF"/>
              </a:buClr>
              <a:buFont typeface="Arial"/>
              <a:buChar char="•"/>
            </a:pPr>
            <a:r>
              <a:rPr lang="en-US" sz="950" b="0" i="0">
                <a:solidFill>
                  <a:srgbClr val="070154"/>
                </a:solidFill>
                <a:latin typeface="Arial"/>
                <a:ea typeface="Arial"/>
                <a:cs typeface="Arial"/>
              </a:rPr>
              <a:t>Core regression is manual, with limited QA capacity.</a:t>
            </a:r>
          </a:p>
          <a:p>
            <a:pPr marL="171450" indent="-171450">
              <a:lnSpc>
                <a:spcPct val="105000"/>
              </a:lnSpc>
              <a:spcAft>
                <a:spcPts val="500"/>
              </a:spcAft>
              <a:buClr>
                <a:srgbClr val="0047FF"/>
              </a:buClr>
              <a:buFont typeface="Arial"/>
              <a:buChar char="•"/>
            </a:pPr>
            <a:r>
              <a:rPr lang="en-US" sz="950" b="0" i="0">
                <a:solidFill>
                  <a:srgbClr val="070154"/>
                </a:solidFill>
                <a:latin typeface="Arial"/>
                <a:ea typeface="Arial"/>
                <a:cs typeface="Arial"/>
              </a:rPr>
              <a:t>Reconcile AI's verification agents write Jest, Playwright, and Postman tests per story.</a:t>
            </a:r>
          </a:p>
          <a:p>
            <a:pPr marL="171450" indent="-171450">
              <a:lnSpc>
                <a:spcPct val="105000"/>
              </a:lnSpc>
              <a:spcAft>
                <a:spcPts val="500"/>
              </a:spcAft>
              <a:buClr>
                <a:srgbClr val="0047FF"/>
              </a:buClr>
              <a:buFont typeface="Arial"/>
              <a:buChar char="•"/>
            </a:pPr>
            <a:r>
              <a:rPr lang="en-US" sz="950" b="0" i="0">
                <a:solidFill>
                  <a:srgbClr val="070154"/>
                </a:solidFill>
                <a:latin typeface="Arial"/>
                <a:ea typeface="Arial"/>
                <a:cs typeface="Arial"/>
              </a:rPr>
              <a:t>XConnect is ~100% automated; other pods are partially automated.</a:t>
            </a:r>
          </a:p>
          <a:p>
            <a:pPr marL="171450" indent="-171450">
              <a:lnSpc>
                <a:spcPct val="105000"/>
              </a:lnSpc>
              <a:spcAft>
                <a:spcPts val="500"/>
              </a:spcAft>
              <a:buClr>
                <a:srgbClr val="0047FF"/>
              </a:buClr>
              <a:buFont typeface="Arial"/>
              <a:buChar char="•"/>
            </a:pPr>
            <a:r>
              <a:rPr lang="en-US" sz="950" b="0" i="0">
                <a:solidFill>
                  <a:srgbClr val="070154"/>
                </a:solidFill>
                <a:latin typeface="Arial"/>
                <a:ea typeface="Arial"/>
                <a:cs typeface="Arial"/>
              </a:rPr>
              <a:t>Teams wait for access, test data, and read-only diagnostics; Recon waited months for production-like data.</a:t>
            </a:r>
          </a:p>
          <a:p>
            <a:pPr marL="171450" indent="-171450">
              <a:lnSpc>
                <a:spcPct val="105000"/>
              </a:lnSpc>
              <a:spcAft>
                <a:spcPts val="500"/>
              </a:spcAft>
              <a:buClr>
                <a:srgbClr val="0047FF"/>
              </a:buClr>
              <a:buFont typeface="Arial"/>
              <a:buChar char="•"/>
            </a:pPr>
            <a:r>
              <a:rPr lang="en-US" sz="950" b="0" i="0">
                <a:solidFill>
                  <a:srgbClr val="070154"/>
                </a:solidFill>
                <a:latin typeface="Arial"/>
                <a:ea typeface="Arial"/>
                <a:cs typeface="Arial"/>
              </a:rPr>
              <a:t>QA uses Claude to create tests and diagnose failures; access is limited to some full-time staff.</a:t>
            </a:r>
          </a:p>
        </p:txBody>
      </p:sp>
      <p:sp>
        <p:nvSpPr>
          <p:cNvPr id="44" name="Now Header"/>
          <p:cNvSpPr/>
          <p:nvPr/>
        </p:nvSpPr>
        <p:spPr>
          <a:xfrm>
            <a:off x="3587200" y="1752600"/>
            <a:ext cx="2615866" cy="380000"/>
          </a:xfrm>
          <a:prstGeom prst="rect">
            <a:avLst/>
          </a:prstGeom>
          <a:solidFill>
            <a:srgbClr val="CCF2DD"/>
          </a:solidFill>
          <a:ln w="0">
            <a:noFill/>
          </a:ln>
        </p:spPr>
        <p:txBody>
          <a:bodyPr wrap="square" anchor="ctr">
            <a:noAutofit/>
          </a:bodyPr>
          <a:lstStyle/>
          <a:p>
            <a:pPr>
              <a:lnSpc>
                <a:spcPct val="108000"/>
              </a:lnSpc>
              <a:buNone/>
            </a:pPr>
            <a:r>
              <a:rPr lang="en-US" sz="1050" b="1" i="0">
                <a:solidFill>
                  <a:srgbClr val="16804D"/>
                </a:solidFill>
                <a:latin typeface="Arial"/>
                <a:ea typeface="Arial"/>
                <a:cs typeface="Arial"/>
              </a:rPr>
              <a:t>NOW</a:t>
            </a:r>
            <a:r>
              <a:rPr lang="en-US" sz="900" b="0" i="0">
                <a:solidFill>
                  <a:srgbClr val="16804D"/>
                </a:solidFill>
                <a:latin typeface="Arial"/>
                <a:ea typeface="Arial"/>
                <a:cs typeface="Arial"/>
              </a:rPr>
              <a:t>   Pilot: Core, Reconcile AI, Rules Engine</a:t>
            </a:r>
          </a:p>
        </p:txBody>
      </p:sp>
      <p:sp>
        <p:nvSpPr>
          <p:cNvPr id="45" name="Now Body"/>
          <p:cNvSpPr/>
          <p:nvPr/>
        </p:nvSpPr>
        <p:spPr>
          <a:xfrm>
            <a:off x="3587200" y="2132600"/>
            <a:ext cx="2615866" cy="2820000"/>
          </a:xfrm>
          <a:prstGeom prst="rect">
            <a:avLst/>
          </a:prstGeom>
          <a:solidFill>
            <a:srgbClr val="FFFFFF"/>
          </a:solidFill>
          <a:ln w="9525">
            <a:solidFill>
              <a:srgbClr val="CED7E6"/>
            </a:solidFill>
          </a:ln>
        </p:spPr>
        <p:txBody>
          <a:bodyPr wrap="square" anchor="t">
            <a:noAutofit/>
          </a:bodyPr>
          <a:lstStyle/>
          <a:p>
            <a:endParaRPr lang="en-US"/>
          </a:p>
        </p:txBody>
      </p:sp>
      <p:sp>
        <p:nvSpPr>
          <p:cNvPr id="46" name="Now Text"/>
          <p:cNvSpPr/>
          <p:nvPr/>
        </p:nvSpPr>
        <p:spPr>
          <a:xfrm>
            <a:off x="3707200" y="2252600"/>
            <a:ext cx="2375866" cy="2600000"/>
          </a:xfrm>
          <a:prstGeom prst="rect">
            <a:avLst/>
          </a:prstGeom>
          <a:noFill/>
          <a:ln w="0">
            <a:noFill/>
          </a:ln>
        </p:spPr>
        <p:txBody>
          <a:bodyPr wrap="square" lIns="0" tIns="0" rIns="0" bIns="0" anchor="t">
            <a:noAutofit/>
          </a:bodyPr>
          <a:lstStyle/>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Map Core's highest-risk regression workflows, using the Release root-cause categories.</a:t>
            </a:r>
          </a:p>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Log who waits for access and test data, for what, and for how long.</a:t>
            </a:r>
          </a:p>
        </p:txBody>
      </p:sp>
      <p:sp>
        <p:nvSpPr>
          <p:cNvPr id="47" name="Next Header"/>
          <p:cNvSpPr/>
          <p:nvPr/>
        </p:nvSpPr>
        <p:spPr>
          <a:xfrm>
            <a:off x="6353066" y="1752600"/>
            <a:ext cx="2615866" cy="380000"/>
          </a:xfrm>
          <a:prstGeom prst="rect">
            <a:avLst/>
          </a:prstGeom>
          <a:solidFill>
            <a:srgbClr val="FFF0C2"/>
          </a:solidFill>
          <a:ln w="0">
            <a:noFill/>
          </a:ln>
        </p:spPr>
        <p:txBody>
          <a:bodyPr wrap="square" anchor="ctr">
            <a:noAutofit/>
          </a:bodyPr>
          <a:lstStyle/>
          <a:p>
            <a:pPr>
              <a:lnSpc>
                <a:spcPct val="108000"/>
              </a:lnSpc>
              <a:buNone/>
            </a:pPr>
            <a:r>
              <a:rPr lang="en-US" sz="1050" b="1" i="0">
                <a:solidFill>
                  <a:srgbClr val="8B6500"/>
                </a:solidFill>
                <a:latin typeface="Arial"/>
                <a:ea typeface="Arial"/>
                <a:cs typeface="Arial"/>
              </a:rPr>
              <a:t>NEXT</a:t>
            </a:r>
            <a:r>
              <a:rPr lang="en-US" sz="900" b="0" i="0">
                <a:solidFill>
                  <a:srgbClr val="8B6500"/>
                </a:solidFill>
                <a:latin typeface="Arial"/>
                <a:ea typeface="Arial"/>
                <a:cs typeface="Arial"/>
              </a:rPr>
              <a:t>   Automated quality</a:t>
            </a:r>
          </a:p>
        </p:txBody>
      </p:sp>
      <p:sp>
        <p:nvSpPr>
          <p:cNvPr id="48" name="Next Body"/>
          <p:cNvSpPr/>
          <p:nvPr/>
        </p:nvSpPr>
        <p:spPr>
          <a:xfrm>
            <a:off x="6353066" y="2132600"/>
            <a:ext cx="2615866" cy="2820000"/>
          </a:xfrm>
          <a:prstGeom prst="rect">
            <a:avLst/>
          </a:prstGeom>
          <a:solidFill>
            <a:srgbClr val="FFFFFF"/>
          </a:solidFill>
          <a:ln w="9525">
            <a:solidFill>
              <a:srgbClr val="CED7E6"/>
            </a:solidFill>
          </a:ln>
        </p:spPr>
        <p:txBody>
          <a:bodyPr wrap="square" anchor="t">
            <a:noAutofit/>
          </a:bodyPr>
          <a:lstStyle/>
          <a:p>
            <a:endParaRPr lang="en-US"/>
          </a:p>
        </p:txBody>
      </p:sp>
      <p:sp>
        <p:nvSpPr>
          <p:cNvPr id="49" name="Next Text"/>
          <p:cNvSpPr/>
          <p:nvPr/>
        </p:nvSpPr>
        <p:spPr>
          <a:xfrm>
            <a:off x="6473066" y="2252600"/>
            <a:ext cx="2375866" cy="2600000"/>
          </a:xfrm>
          <a:prstGeom prst="rect">
            <a:avLst/>
          </a:prstGeom>
          <a:noFill/>
          <a:ln w="0">
            <a:noFill/>
          </a:ln>
        </p:spPr>
        <p:txBody>
          <a:bodyPr wrap="square" lIns="0" tIns="0" rIns="0" bIns="0" anchor="t">
            <a:noAutofit/>
          </a:bodyPr>
          <a:lstStyle/>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Automate Core's highest-risk workflows first.</a:t>
            </a:r>
          </a:p>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Extend Recon's test agents to Eligibility AI and Pay Connect.</a:t>
            </a:r>
          </a:p>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Masked, production-like test data and a read-only diagnostic access path.</a:t>
            </a:r>
          </a:p>
        </p:txBody>
      </p:sp>
      <p:sp>
        <p:nvSpPr>
          <p:cNvPr id="50" name="Future Header"/>
          <p:cNvSpPr/>
          <p:nvPr/>
        </p:nvSpPr>
        <p:spPr>
          <a:xfrm>
            <a:off x="9118932" y="1752600"/>
            <a:ext cx="2615866" cy="380000"/>
          </a:xfrm>
          <a:prstGeom prst="rect">
            <a:avLst/>
          </a:prstGeom>
          <a:solidFill>
            <a:srgbClr val="DDE8FF"/>
          </a:solidFill>
          <a:ln w="0">
            <a:noFill/>
          </a:ln>
        </p:spPr>
        <p:txBody>
          <a:bodyPr wrap="square" anchor="ctr">
            <a:noAutofit/>
          </a:bodyPr>
          <a:lstStyle/>
          <a:p>
            <a:pPr>
              <a:lnSpc>
                <a:spcPct val="108000"/>
              </a:lnSpc>
              <a:buNone/>
            </a:pPr>
            <a:r>
              <a:rPr lang="en-US" sz="1050" b="1" i="0">
                <a:solidFill>
                  <a:srgbClr val="3561AE"/>
                </a:solidFill>
                <a:latin typeface="Arial"/>
                <a:ea typeface="Arial"/>
                <a:cs typeface="Arial"/>
              </a:rPr>
              <a:t>FUTURE</a:t>
            </a:r>
          </a:p>
        </p:txBody>
      </p:sp>
      <p:sp>
        <p:nvSpPr>
          <p:cNvPr id="51" name="Future Body"/>
          <p:cNvSpPr/>
          <p:nvPr/>
        </p:nvSpPr>
        <p:spPr>
          <a:xfrm>
            <a:off x="9118932" y="2132600"/>
            <a:ext cx="2615866" cy="2820000"/>
          </a:xfrm>
          <a:prstGeom prst="rect">
            <a:avLst/>
          </a:prstGeom>
          <a:solidFill>
            <a:srgbClr val="FFFFFF"/>
          </a:solidFill>
          <a:ln w="9525">
            <a:solidFill>
              <a:srgbClr val="CED7E6"/>
            </a:solidFill>
          </a:ln>
        </p:spPr>
        <p:txBody>
          <a:bodyPr wrap="square" anchor="t">
            <a:noAutofit/>
          </a:bodyPr>
          <a:lstStyle/>
          <a:p>
            <a:endParaRPr lang="en-US"/>
          </a:p>
        </p:txBody>
      </p:sp>
      <p:sp>
        <p:nvSpPr>
          <p:cNvPr id="52" name="Future Text"/>
          <p:cNvSpPr/>
          <p:nvPr/>
        </p:nvSpPr>
        <p:spPr>
          <a:xfrm>
            <a:off x="9238932" y="2252600"/>
            <a:ext cx="2375866" cy="2600000"/>
          </a:xfrm>
          <a:prstGeom prst="rect">
            <a:avLst/>
          </a:prstGeom>
          <a:noFill/>
          <a:ln w="0">
            <a:noFill/>
          </a:ln>
        </p:spPr>
        <p:txBody>
          <a:bodyPr wrap="square" lIns="0" tIns="0" rIns="0" bIns="0" anchor="t">
            <a:noAutofit/>
          </a:bodyPr>
          <a:lstStyle/>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Automated regression as a release entry criterion on every pod.</a:t>
            </a:r>
          </a:p>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Self-service environments and access.</a:t>
            </a:r>
          </a:p>
        </p:txBody>
      </p:sp>
      <p:sp>
        <p:nvSpPr>
          <p:cNvPr id="53" name="Agentic Lens"/>
          <p:cNvSpPr/>
          <p:nvPr/>
        </p:nvSpPr>
        <p:spPr>
          <a:xfrm>
            <a:off x="457200" y="5040000"/>
            <a:ext cx="11277600" cy="340000"/>
          </a:xfrm>
          <a:prstGeom prst="rect">
            <a:avLst/>
          </a:prstGeom>
          <a:solidFill>
            <a:srgbClr val="E8EEF8"/>
          </a:solidFill>
          <a:ln w="0">
            <a:noFill/>
          </a:ln>
        </p:spPr>
        <p:txBody>
          <a:bodyPr wrap="square" anchor="ctr">
            <a:noAutofit/>
          </a:bodyPr>
          <a:lstStyle/>
          <a:p>
            <a:pPr>
              <a:lnSpc>
                <a:spcPct val="108000"/>
              </a:lnSpc>
              <a:buNone/>
            </a:pPr>
            <a:r>
              <a:rPr lang="en-US" sz="1000" b="1" i="0">
                <a:solidFill>
                  <a:srgbClr val="0047FF"/>
                </a:solidFill>
                <a:latin typeface="Arial"/>
                <a:ea typeface="Arial"/>
                <a:cs typeface="Arial"/>
              </a:rPr>
              <a:t>Agentic lens:  </a:t>
            </a:r>
            <a:r>
              <a:rPr lang="en-US" sz="1000" b="0" i="0">
                <a:solidFill>
                  <a:srgbClr val="070154"/>
                </a:solidFill>
                <a:latin typeface="Arial"/>
                <a:ea typeface="Arial"/>
                <a:cs typeface="Arial"/>
              </a:rPr>
              <a:t>Recon agents write and trace tests; QA uses Claude to draft tests and diagnose failures, time-boxed and reviewed before every PR.</a:t>
            </a:r>
          </a:p>
        </p:txBody>
      </p:sp>
      <p:sp>
        <p:nvSpPr>
          <p:cNvPr id="54" name="Owner Bar"/>
          <p:cNvSpPr/>
          <p:nvPr/>
        </p:nvSpPr>
        <p:spPr>
          <a:xfrm>
            <a:off x="457200" y="5470000"/>
            <a:ext cx="11277600" cy="500000"/>
          </a:xfrm>
          <a:prstGeom prst="rect">
            <a:avLst/>
          </a:prstGeom>
          <a:solidFill>
            <a:srgbClr val="0047FF"/>
          </a:solidFill>
          <a:ln w="0">
            <a:noFill/>
          </a:ln>
        </p:spPr>
        <p:txBody>
          <a:bodyPr wrap="square" anchor="ctr">
            <a:noAutofit/>
          </a:bodyPr>
          <a:lstStyle/>
          <a:p>
            <a:pPr>
              <a:lnSpc>
                <a:spcPct val="108000"/>
              </a:lnSpc>
              <a:buNone/>
            </a:pPr>
            <a:r>
              <a:rPr lang="en-US" sz="1000" b="1" i="0">
                <a:solidFill>
                  <a:srgbClr val="FFFFFF"/>
                </a:solidFill>
                <a:latin typeface="Arial"/>
                <a:ea typeface="Arial"/>
                <a:cs typeface="Arial"/>
              </a:rPr>
              <a:t>Owner: Quality leadership + DevOps/Infrastructure + Security  |  Measure: automated coverage of high-risk workflows, escaped defects, wait time</a:t>
            </a:r>
          </a:p>
        </p:txBody>
      </p:sp>
      <p:sp>
        <p:nvSpPr>
          <p:cNvPr id="5" name="Footer Placeholder 1">
            <a:extLst>
              <a:ext uri="{FF2B5EF4-FFF2-40B4-BE49-F238E27FC236}">
                <a16:creationId xmlns:a16="http://schemas.microsoft.com/office/drawing/2014/main" id="{7F1014EA-3733-CC8E-2107-3D8142563822}"/>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616FECC8-2D74-7E20-A108-58795BC945EA}"/>
              </a:ext>
            </a:extLst>
          </p:cNvPr>
          <p:cNvSpPr>
            <a:spLocks noGrp="1"/>
          </p:cNvSpPr>
          <p:nvPr>
            <p:ph type="sldNum" idx="11"/>
          </p:nvPr>
        </p:nvSpPr>
        <p:spPr>
          <a:xfrm>
            <a:off x="11509578" y="6400799"/>
            <a:ext cx="218871" cy="167949"/>
          </a:xfrm>
        </p:spPr>
        <p:txBody>
          <a:bodyPr/>
          <a:lstStyle/>
          <a:p>
            <a:fld id="{63DCA5C9-2E11-4C67-86EB-AE1DE127DC64}" type="slidenum">
              <a:rPr lang="en-US" smtClean="0"/>
              <a:t>22</a:t>
            </a:fld>
            <a:endParaRPr lang="en-US"/>
          </a:p>
        </p:txBody>
      </p:sp>
    </p:spTree>
    <p:extLst>
      <p:ext uri="{BB962C8B-B14F-4D97-AF65-F5344CB8AC3E}">
        <p14:creationId xmlns:p14="http://schemas.microsoft.com/office/powerpoint/2010/main" val="2980798060"/>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Engineering Priority: Release</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Stop repeat causes of unplanned changes and make every release repeatable.</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ENGINEERING · RELEASE</a:t>
            </a:r>
          </a:p>
        </p:txBody>
      </p:sp>
      <p:sp>
        <p:nvSpPr>
          <p:cNvPr id="40" name="Status Card"/>
          <p:cNvSpPr/>
          <p:nvPr/>
        </p:nvSpPr>
        <p:spPr>
          <a:xfrm>
            <a:off x="457200" y="1752600"/>
            <a:ext cx="2950000" cy="3200000"/>
          </a:xfrm>
          <a:prstGeom prst="rect">
            <a:avLst/>
          </a:prstGeom>
          <a:solidFill>
            <a:srgbClr val="E8EEF8"/>
          </a:solidFill>
          <a:ln w="9525">
            <a:solidFill>
              <a:srgbClr val="CED7E6"/>
            </a:solidFill>
          </a:ln>
        </p:spPr>
        <p:txBody>
          <a:bodyPr wrap="square" anchor="t">
            <a:noAutofit/>
          </a:bodyPr>
          <a:lstStyle/>
          <a:p>
            <a:endParaRPr lang="en-US"/>
          </a:p>
        </p:txBody>
      </p:sp>
      <p:sp>
        <p:nvSpPr>
          <p:cNvPr id="41" name="Status Accent"/>
          <p:cNvSpPr/>
          <p:nvPr/>
        </p:nvSpPr>
        <p:spPr>
          <a:xfrm>
            <a:off x="457200" y="1752600"/>
            <a:ext cx="2950000" cy="63500"/>
          </a:xfrm>
          <a:prstGeom prst="rect">
            <a:avLst/>
          </a:prstGeom>
          <a:solidFill>
            <a:srgbClr val="070154"/>
          </a:solidFill>
          <a:ln w="0">
            <a:noFill/>
          </a:ln>
        </p:spPr>
        <p:txBody>
          <a:bodyPr wrap="square" anchor="t">
            <a:noAutofit/>
          </a:bodyPr>
          <a:lstStyle/>
          <a:p>
            <a:endParaRPr lang="en-US"/>
          </a:p>
        </p:txBody>
      </p:sp>
      <p:sp>
        <p:nvSpPr>
          <p:cNvPr id="42" name="Status Label"/>
          <p:cNvSpPr/>
          <p:nvPr/>
        </p:nvSpPr>
        <p:spPr>
          <a:xfrm>
            <a:off x="607200" y="1902600"/>
            <a:ext cx="2650000" cy="260000"/>
          </a:xfrm>
          <a:prstGeom prst="rect">
            <a:avLst/>
          </a:prstGeom>
          <a:noFill/>
          <a:ln w="0">
            <a:noFill/>
          </a:ln>
        </p:spPr>
        <p:txBody>
          <a:bodyPr wrap="square" lIns="0" tIns="0" rIns="0" bIns="0" anchor="t">
            <a:noAutofit/>
          </a:bodyPr>
          <a:lstStyle/>
          <a:p>
            <a:pPr>
              <a:lnSpc>
                <a:spcPct val="108000"/>
              </a:lnSpc>
              <a:buNone/>
            </a:pPr>
            <a:r>
              <a:rPr lang="en-US" sz="1000" b="1" i="0">
                <a:solidFill>
                  <a:srgbClr val="0047FF"/>
                </a:solidFill>
                <a:latin typeface="Arial"/>
                <a:ea typeface="Arial"/>
                <a:cs typeface="Arial"/>
              </a:rPr>
              <a:t>STATUS TODAY</a:t>
            </a:r>
          </a:p>
        </p:txBody>
      </p:sp>
      <p:sp>
        <p:nvSpPr>
          <p:cNvPr id="43" name="Status Text"/>
          <p:cNvSpPr/>
          <p:nvPr/>
        </p:nvSpPr>
        <p:spPr>
          <a:xfrm>
            <a:off x="607200" y="2222600"/>
            <a:ext cx="2650000" cy="2640000"/>
          </a:xfrm>
          <a:prstGeom prst="rect">
            <a:avLst/>
          </a:prstGeom>
          <a:noFill/>
          <a:ln w="0">
            <a:noFill/>
          </a:ln>
        </p:spPr>
        <p:txBody>
          <a:bodyPr wrap="square" lIns="0" tIns="0" rIns="0" bIns="0" anchor="t">
            <a:noAutofit/>
          </a:bodyPr>
          <a:lstStyle/>
          <a:p>
            <a:pPr marL="171450" indent="-171450">
              <a:lnSpc>
                <a:spcPct val="105000"/>
              </a:lnSpc>
              <a:spcAft>
                <a:spcPts val="500"/>
              </a:spcAft>
              <a:buClr>
                <a:srgbClr val="0047FF"/>
              </a:buClr>
              <a:buFont typeface="Arial"/>
              <a:buChar char="•"/>
            </a:pPr>
            <a:r>
              <a:rPr lang="en-US" sz="950" b="0" i="0">
                <a:solidFill>
                  <a:srgbClr val="070154"/>
                </a:solidFill>
                <a:latin typeface="Arial"/>
                <a:ea typeface="Arial"/>
                <a:cs typeface="Arial"/>
              </a:rPr>
              <a:t>Core engineering reports 62 releases through September 1, 15 of them patches; in the calendar, half of 2026 release events were unplanned.</a:t>
            </a:r>
          </a:p>
          <a:p>
            <a:pPr marL="171450" indent="-171450">
              <a:lnSpc>
                <a:spcPct val="105000"/>
              </a:lnSpc>
              <a:spcAft>
                <a:spcPts val="500"/>
              </a:spcAft>
              <a:buClr>
                <a:srgbClr val="0047FF"/>
              </a:buClr>
              <a:buFont typeface="Arial"/>
              <a:buChar char="•"/>
            </a:pPr>
            <a:r>
              <a:rPr lang="en-US" sz="950" b="0" i="0">
                <a:solidFill>
                  <a:srgbClr val="070154"/>
                </a:solidFill>
                <a:latin typeface="Arial"/>
                <a:ea typeface="Arial"/>
                <a:cs typeface="Arial"/>
              </a:rPr>
              <a:t>Release-night branch merges suggest production may be rebuilt rather than promoted.</a:t>
            </a:r>
          </a:p>
          <a:p>
            <a:pPr marL="171450" indent="-171450">
              <a:lnSpc>
                <a:spcPct val="105000"/>
              </a:lnSpc>
              <a:spcAft>
                <a:spcPts val="500"/>
              </a:spcAft>
              <a:buClr>
                <a:srgbClr val="0047FF"/>
              </a:buClr>
              <a:buFont typeface="Arial"/>
              <a:buChar char="•"/>
            </a:pPr>
            <a:r>
              <a:rPr lang="en-US" sz="950" b="0" i="0">
                <a:solidFill>
                  <a:srgbClr val="070154"/>
                </a:solidFill>
                <a:latin typeface="Arial"/>
                <a:ea typeface="Arial"/>
                <a:cs typeface="Arial"/>
              </a:rPr>
              <a:t>Some new products are not yet in the CAB process.</a:t>
            </a:r>
          </a:p>
          <a:p>
            <a:pPr marL="171450" indent="-171450">
              <a:lnSpc>
                <a:spcPct val="105000"/>
              </a:lnSpc>
              <a:spcAft>
                <a:spcPts val="500"/>
              </a:spcAft>
              <a:buClr>
                <a:srgbClr val="0047FF"/>
              </a:buClr>
              <a:buFont typeface="Arial"/>
              <a:buChar char="•"/>
            </a:pPr>
            <a:r>
              <a:rPr lang="en-US" sz="950" b="0" i="0">
                <a:solidFill>
                  <a:srgbClr val="070154"/>
                </a:solidFill>
                <a:latin typeface="Arial"/>
                <a:ea typeface="Arial"/>
                <a:cs typeface="Arial"/>
              </a:rPr>
              <a:t>Credential and certificate changes ship as patches.</a:t>
            </a:r>
          </a:p>
        </p:txBody>
      </p:sp>
      <p:sp>
        <p:nvSpPr>
          <p:cNvPr id="44" name="Now Header"/>
          <p:cNvSpPr/>
          <p:nvPr/>
        </p:nvSpPr>
        <p:spPr>
          <a:xfrm>
            <a:off x="3587200" y="1752600"/>
            <a:ext cx="2615866" cy="380000"/>
          </a:xfrm>
          <a:prstGeom prst="rect">
            <a:avLst/>
          </a:prstGeom>
          <a:solidFill>
            <a:srgbClr val="CCF2DD"/>
          </a:solidFill>
          <a:ln w="0">
            <a:noFill/>
          </a:ln>
        </p:spPr>
        <p:txBody>
          <a:bodyPr wrap="square" anchor="ctr">
            <a:noAutofit/>
          </a:bodyPr>
          <a:lstStyle/>
          <a:p>
            <a:pPr>
              <a:lnSpc>
                <a:spcPct val="108000"/>
              </a:lnSpc>
              <a:buNone/>
            </a:pPr>
            <a:r>
              <a:rPr lang="en-US" sz="1050" b="1" i="0">
                <a:solidFill>
                  <a:srgbClr val="16804D"/>
                </a:solidFill>
                <a:latin typeface="Arial"/>
                <a:ea typeface="Arial"/>
                <a:cs typeface="Arial"/>
              </a:rPr>
              <a:t>NOW</a:t>
            </a:r>
            <a:r>
              <a:rPr lang="en-US" sz="900" b="0" i="0">
                <a:solidFill>
                  <a:srgbClr val="16804D"/>
                </a:solidFill>
                <a:latin typeface="Arial"/>
                <a:ea typeface="Arial"/>
                <a:cs typeface="Arial"/>
              </a:rPr>
              <a:t>   Pilot: Core, Reconcile AI</a:t>
            </a:r>
          </a:p>
        </p:txBody>
      </p:sp>
      <p:sp>
        <p:nvSpPr>
          <p:cNvPr id="45" name="Now Body"/>
          <p:cNvSpPr/>
          <p:nvPr/>
        </p:nvSpPr>
        <p:spPr>
          <a:xfrm>
            <a:off x="3587200" y="2132600"/>
            <a:ext cx="2615866" cy="2820000"/>
          </a:xfrm>
          <a:prstGeom prst="rect">
            <a:avLst/>
          </a:prstGeom>
          <a:solidFill>
            <a:srgbClr val="FFFFFF"/>
          </a:solidFill>
          <a:ln w="9525">
            <a:solidFill>
              <a:srgbClr val="CED7E6"/>
            </a:solidFill>
          </a:ln>
        </p:spPr>
        <p:txBody>
          <a:bodyPr wrap="square" anchor="t">
            <a:noAutofit/>
          </a:bodyPr>
          <a:lstStyle/>
          <a:p>
            <a:endParaRPr lang="en-US"/>
          </a:p>
        </p:txBody>
      </p:sp>
      <p:sp>
        <p:nvSpPr>
          <p:cNvPr id="46" name="Now Text"/>
          <p:cNvSpPr/>
          <p:nvPr/>
        </p:nvSpPr>
        <p:spPr>
          <a:xfrm>
            <a:off x="3707200" y="2252600"/>
            <a:ext cx="2375866" cy="2600000"/>
          </a:xfrm>
          <a:prstGeom prst="rect">
            <a:avLst/>
          </a:prstGeom>
          <a:noFill/>
          <a:ln w="0">
            <a:noFill/>
          </a:ln>
        </p:spPr>
        <p:txBody>
          <a:bodyPr wrap="square" lIns="0" tIns="0" rIns="0" bIns="0" anchor="t">
            <a:noAutofit/>
          </a:bodyPr>
          <a:lstStyle/>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Root-cause review of the 15 unplanned 2026 changes, classified by cause.</a:t>
            </a:r>
          </a:p>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Inventory of credentials and certificates with expiry dates and owners.</a:t>
            </a:r>
          </a:p>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Product defines what the Release Agent should produce: release notes, PRD reconciliation, destinations.</a:t>
            </a:r>
          </a:p>
        </p:txBody>
      </p:sp>
      <p:sp>
        <p:nvSpPr>
          <p:cNvPr id="47" name="Next Header"/>
          <p:cNvSpPr/>
          <p:nvPr/>
        </p:nvSpPr>
        <p:spPr>
          <a:xfrm>
            <a:off x="6353066" y="1752600"/>
            <a:ext cx="2615866" cy="380000"/>
          </a:xfrm>
          <a:prstGeom prst="rect">
            <a:avLst/>
          </a:prstGeom>
          <a:solidFill>
            <a:srgbClr val="FFF0C2"/>
          </a:solidFill>
          <a:ln w="0">
            <a:noFill/>
          </a:ln>
        </p:spPr>
        <p:txBody>
          <a:bodyPr wrap="square" anchor="ctr">
            <a:noAutofit/>
          </a:bodyPr>
          <a:lstStyle/>
          <a:p>
            <a:pPr>
              <a:lnSpc>
                <a:spcPct val="108000"/>
              </a:lnSpc>
              <a:buNone/>
            </a:pPr>
            <a:r>
              <a:rPr lang="en-US" sz="1050" b="1" i="0">
                <a:solidFill>
                  <a:srgbClr val="8B6500"/>
                </a:solidFill>
                <a:latin typeface="Arial"/>
                <a:ea typeface="Arial"/>
                <a:cs typeface="Arial"/>
              </a:rPr>
              <a:t>NEXT</a:t>
            </a:r>
          </a:p>
        </p:txBody>
      </p:sp>
      <p:sp>
        <p:nvSpPr>
          <p:cNvPr id="48" name="Next Body"/>
          <p:cNvSpPr/>
          <p:nvPr/>
        </p:nvSpPr>
        <p:spPr>
          <a:xfrm>
            <a:off x="6353066" y="2132600"/>
            <a:ext cx="2615866" cy="2820000"/>
          </a:xfrm>
          <a:prstGeom prst="rect">
            <a:avLst/>
          </a:prstGeom>
          <a:solidFill>
            <a:srgbClr val="FFFFFF"/>
          </a:solidFill>
          <a:ln w="9525">
            <a:solidFill>
              <a:srgbClr val="CED7E6"/>
            </a:solidFill>
          </a:ln>
        </p:spPr>
        <p:txBody>
          <a:bodyPr wrap="square" anchor="t">
            <a:noAutofit/>
          </a:bodyPr>
          <a:lstStyle/>
          <a:p>
            <a:endParaRPr lang="en-US"/>
          </a:p>
        </p:txBody>
      </p:sp>
      <p:sp>
        <p:nvSpPr>
          <p:cNvPr id="49" name="Next Text"/>
          <p:cNvSpPr/>
          <p:nvPr/>
        </p:nvSpPr>
        <p:spPr>
          <a:xfrm>
            <a:off x="6473066" y="2252600"/>
            <a:ext cx="2375866" cy="2600000"/>
          </a:xfrm>
          <a:prstGeom prst="rect">
            <a:avLst/>
          </a:prstGeom>
          <a:noFill/>
          <a:ln w="0">
            <a:noFill/>
          </a:ln>
        </p:spPr>
        <p:txBody>
          <a:bodyPr wrap="square" lIns="0" tIns="0" rIns="0" bIns="0" anchor="t">
            <a:noAutofit/>
          </a:bodyPr>
          <a:lstStyle/>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Promote the same validated artifact across environments.</a:t>
            </a:r>
          </a:p>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Expiry alerts and a standard review after every patch or rollback.</a:t>
            </a:r>
          </a:p>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Onboard new products to CAB; clarify how the release rule applies to code behind a switch.</a:t>
            </a:r>
          </a:p>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Release Agent running in Reconcile AI's staging validation.</a:t>
            </a:r>
          </a:p>
        </p:txBody>
      </p:sp>
      <p:sp>
        <p:nvSpPr>
          <p:cNvPr id="50" name="Future Header"/>
          <p:cNvSpPr/>
          <p:nvPr/>
        </p:nvSpPr>
        <p:spPr>
          <a:xfrm>
            <a:off x="9118932" y="1752600"/>
            <a:ext cx="2615866" cy="380000"/>
          </a:xfrm>
          <a:prstGeom prst="rect">
            <a:avLst/>
          </a:prstGeom>
          <a:solidFill>
            <a:srgbClr val="DDE8FF"/>
          </a:solidFill>
          <a:ln w="0">
            <a:noFill/>
          </a:ln>
        </p:spPr>
        <p:txBody>
          <a:bodyPr wrap="square" anchor="ctr">
            <a:noAutofit/>
          </a:bodyPr>
          <a:lstStyle/>
          <a:p>
            <a:pPr>
              <a:lnSpc>
                <a:spcPct val="108000"/>
              </a:lnSpc>
              <a:buNone/>
            </a:pPr>
            <a:r>
              <a:rPr lang="en-US" sz="1050" b="1" i="0">
                <a:solidFill>
                  <a:srgbClr val="3561AE"/>
                </a:solidFill>
                <a:latin typeface="Arial"/>
                <a:ea typeface="Arial"/>
                <a:cs typeface="Arial"/>
              </a:rPr>
              <a:t>FUTURE</a:t>
            </a:r>
          </a:p>
        </p:txBody>
      </p:sp>
      <p:sp>
        <p:nvSpPr>
          <p:cNvPr id="51" name="Future Body"/>
          <p:cNvSpPr/>
          <p:nvPr/>
        </p:nvSpPr>
        <p:spPr>
          <a:xfrm>
            <a:off x="9118932" y="2132600"/>
            <a:ext cx="2615866" cy="2820000"/>
          </a:xfrm>
          <a:prstGeom prst="rect">
            <a:avLst/>
          </a:prstGeom>
          <a:solidFill>
            <a:srgbClr val="FFFFFF"/>
          </a:solidFill>
          <a:ln w="9525">
            <a:solidFill>
              <a:srgbClr val="CED7E6"/>
            </a:solidFill>
          </a:ln>
        </p:spPr>
        <p:txBody>
          <a:bodyPr wrap="square" anchor="t">
            <a:noAutofit/>
          </a:bodyPr>
          <a:lstStyle/>
          <a:p>
            <a:endParaRPr lang="en-US"/>
          </a:p>
        </p:txBody>
      </p:sp>
      <p:sp>
        <p:nvSpPr>
          <p:cNvPr id="52" name="Future Text"/>
          <p:cNvSpPr/>
          <p:nvPr/>
        </p:nvSpPr>
        <p:spPr>
          <a:xfrm>
            <a:off x="9238932" y="2252600"/>
            <a:ext cx="2375866" cy="2600000"/>
          </a:xfrm>
          <a:prstGeom prst="rect">
            <a:avLst/>
          </a:prstGeom>
          <a:noFill/>
          <a:ln w="0">
            <a:noFill/>
          </a:ln>
        </p:spPr>
        <p:txBody>
          <a:bodyPr wrap="square" lIns="0" tIns="0" rIns="0" bIns="0" anchor="t">
            <a:noAutofit/>
          </a:bodyPr>
          <a:lstStyle/>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On-demand releases for low-risk changes, gated by automated evidence.</a:t>
            </a:r>
          </a:p>
          <a:p>
            <a:pPr marL="171450" indent="-171450">
              <a:lnSpc>
                <a:spcPct val="105000"/>
              </a:lnSpc>
              <a:spcAft>
                <a:spcPts val="500"/>
              </a:spcAft>
              <a:buClr>
                <a:srgbClr val="0047FF"/>
              </a:buClr>
              <a:buFont typeface="Arial"/>
              <a:buChar char="•"/>
            </a:pPr>
            <a:r>
              <a:rPr lang="en-US" sz="950" b="0" i="0">
                <a:solidFill>
                  <a:srgbClr val="50658E"/>
                </a:solidFill>
                <a:latin typeface="Arial"/>
                <a:ea typeface="Arial"/>
                <a:cs typeface="Arial"/>
              </a:rPr>
              <a:t>Release Agent pattern on every pod.</a:t>
            </a:r>
          </a:p>
        </p:txBody>
      </p:sp>
      <p:sp>
        <p:nvSpPr>
          <p:cNvPr id="53" name="Agentic Lens"/>
          <p:cNvSpPr/>
          <p:nvPr/>
        </p:nvSpPr>
        <p:spPr>
          <a:xfrm>
            <a:off x="457200" y="5040000"/>
            <a:ext cx="11277600" cy="340000"/>
          </a:xfrm>
          <a:prstGeom prst="rect">
            <a:avLst/>
          </a:prstGeom>
          <a:solidFill>
            <a:srgbClr val="E8EEF8"/>
          </a:solidFill>
          <a:ln w="0">
            <a:noFill/>
          </a:ln>
        </p:spPr>
        <p:txBody>
          <a:bodyPr wrap="square" anchor="ctr">
            <a:noAutofit/>
          </a:bodyPr>
          <a:lstStyle/>
          <a:p>
            <a:pPr>
              <a:lnSpc>
                <a:spcPct val="108000"/>
              </a:lnSpc>
              <a:buNone/>
            </a:pPr>
            <a:r>
              <a:rPr lang="en-US" sz="1000" b="1" i="0">
                <a:solidFill>
                  <a:srgbClr val="0047FF"/>
                </a:solidFill>
                <a:latin typeface="Arial"/>
                <a:ea typeface="Arial"/>
                <a:cs typeface="Arial"/>
              </a:rPr>
              <a:t>Agentic lens:  </a:t>
            </a:r>
            <a:r>
              <a:rPr lang="en-US" sz="1000" b="0" i="0">
                <a:solidFill>
                  <a:srgbClr val="070154"/>
                </a:solidFill>
                <a:latin typeface="Arial"/>
                <a:ea typeface="Arial"/>
                <a:cs typeface="Arial"/>
              </a:rPr>
              <a:t>the Release Agent reconciles delivered work against the PRD and drafts release notes, so release evidence is produced, not assembled.</a:t>
            </a:r>
          </a:p>
        </p:txBody>
      </p:sp>
      <p:sp>
        <p:nvSpPr>
          <p:cNvPr id="54" name="Owner Bar"/>
          <p:cNvSpPr/>
          <p:nvPr/>
        </p:nvSpPr>
        <p:spPr>
          <a:xfrm>
            <a:off x="457200" y="5470000"/>
            <a:ext cx="11277600" cy="500000"/>
          </a:xfrm>
          <a:prstGeom prst="rect">
            <a:avLst/>
          </a:prstGeom>
          <a:solidFill>
            <a:srgbClr val="0047FF"/>
          </a:solidFill>
          <a:ln w="0">
            <a:noFill/>
          </a:ln>
        </p:spPr>
        <p:txBody>
          <a:bodyPr wrap="square" anchor="ctr">
            <a:noAutofit/>
          </a:bodyPr>
          <a:lstStyle/>
          <a:p>
            <a:pPr>
              <a:lnSpc>
                <a:spcPct val="108000"/>
              </a:lnSpc>
              <a:buNone/>
            </a:pPr>
            <a:r>
              <a:rPr lang="en-US" sz="1000" b="1" i="0">
                <a:solidFill>
                  <a:srgbClr val="FFFFFF"/>
                </a:solidFill>
                <a:latin typeface="Arial"/>
                <a:ea typeface="Arial"/>
                <a:cs typeface="Arial"/>
              </a:rPr>
              <a:t>Owner: Engineering leadership + Release/DevOps  |  Measure: share of unplanned changes, rollbacks, and repeat causes</a:t>
            </a:r>
          </a:p>
        </p:txBody>
      </p:sp>
      <p:sp>
        <p:nvSpPr>
          <p:cNvPr id="5" name="Footer Placeholder 1">
            <a:extLst>
              <a:ext uri="{FF2B5EF4-FFF2-40B4-BE49-F238E27FC236}">
                <a16:creationId xmlns:a16="http://schemas.microsoft.com/office/drawing/2014/main" id="{B093F5A5-9777-1CFD-5934-8EF1DC478F08}"/>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CC6505BB-6412-105C-0119-C502956252E6}"/>
              </a:ext>
            </a:extLst>
          </p:cNvPr>
          <p:cNvSpPr>
            <a:spLocks noGrp="1"/>
          </p:cNvSpPr>
          <p:nvPr>
            <p:ph type="sldNum" idx="11"/>
          </p:nvPr>
        </p:nvSpPr>
        <p:spPr>
          <a:xfrm>
            <a:off x="11509578" y="6400799"/>
            <a:ext cx="218871" cy="167949"/>
          </a:xfrm>
        </p:spPr>
        <p:txBody>
          <a:bodyPr/>
          <a:lstStyle/>
          <a:p>
            <a:fld id="{63DCA5C9-2E11-4C67-86EB-AE1DE127DC64}" type="slidenum">
              <a:rPr lang="en-US" smtClean="0"/>
              <a:t>23</a:t>
            </a:fld>
            <a:endParaRPr lang="en-US"/>
          </a:p>
        </p:txBody>
      </p:sp>
    </p:spTree>
    <p:extLst>
      <p:ext uri="{BB962C8B-B14F-4D97-AF65-F5344CB8AC3E}">
        <p14:creationId xmlns:p14="http://schemas.microsoft.com/office/powerpoint/2010/main" val="2654688619"/>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B0067D7A-BC66-4C84-8EED-253B1CBA271A}"/>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Evidence behind the map</a:t>
            </a:r>
          </a:p>
        </p:txBody>
      </p:sp>
      <p:sp>
        <p:nvSpPr>
          <p:cNvPr id="3" name="Rectangle 2">
            <a:extLst>
              <a:ext uri="{FF2B5EF4-FFF2-40B4-BE49-F238E27FC236}">
                <a16:creationId xmlns:a16="http://schemas.microsoft.com/office/drawing/2014/main" id="{B4FEA0D5-00DB-4CBA-897B-756106B1C99A}"/>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b="0" i="0">
                <a:solidFill>
                  <a:srgbClr val="50658E"/>
                </a:solidFill>
                <a:latin typeface="Arial"/>
                <a:ea typeface="Arial"/>
                <a:cs typeface="Arial"/>
              </a:rPr>
              <a:t>Select observations from this phase suggest some foundations to build on within engineering with significant gaps in product</a:t>
            </a:r>
            <a:endParaRPr sz="1275" b="0" i="0">
              <a:solidFill>
                <a:srgbClr val="50658E"/>
              </a:solidFill>
              <a:latin typeface="Arial"/>
              <a:ea typeface="Arial"/>
              <a:cs typeface="Arial"/>
            </a:endParaRPr>
          </a:p>
        </p:txBody>
      </p:sp>
      <p:sp>
        <p:nvSpPr>
          <p:cNvPr id="4" name="Rectangle 3">
            <a:extLst>
              <a:ext uri="{FF2B5EF4-FFF2-40B4-BE49-F238E27FC236}">
                <a16:creationId xmlns:a16="http://schemas.microsoft.com/office/drawing/2014/main" id="{C6BCE401-80A7-4353-8D50-4A18C4DB5741}"/>
              </a:ext>
            </a:extLst>
          </p:cNvPr>
          <p:cNvSpPr>
            <a:spLocks noGrp="1"/>
          </p:cNvSpPr>
          <p:nvPr/>
        </p:nvSpPr>
        <p:spPr>
          <a:xfrm>
            <a:off x="457200" y="1790700"/>
            <a:ext cx="3429000" cy="37338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5" name="Rectangle 4">
            <a:extLst>
              <a:ext uri="{FF2B5EF4-FFF2-40B4-BE49-F238E27FC236}">
                <a16:creationId xmlns:a16="http://schemas.microsoft.com/office/drawing/2014/main" id="{4BC173DF-8546-4553-9C20-03278D5733C0}"/>
              </a:ext>
            </a:extLst>
          </p:cNvPr>
          <p:cNvSpPr>
            <a:spLocks noGrp="1"/>
          </p:cNvSpPr>
          <p:nvPr/>
        </p:nvSpPr>
        <p:spPr>
          <a:xfrm>
            <a:off x="666750" y="2038350"/>
            <a:ext cx="2857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OBSERVED STRENGTHS</a:t>
            </a:r>
          </a:p>
        </p:txBody>
      </p:sp>
      <p:sp>
        <p:nvSpPr>
          <p:cNvPr id="6" name="Rectangle 5">
            <a:extLst>
              <a:ext uri="{FF2B5EF4-FFF2-40B4-BE49-F238E27FC236}">
                <a16:creationId xmlns:a16="http://schemas.microsoft.com/office/drawing/2014/main" id="{B155EA4C-C958-4422-8243-158C3FB08D8F}"/>
              </a:ext>
            </a:extLst>
          </p:cNvPr>
          <p:cNvSpPr>
            <a:spLocks noGrp="1"/>
          </p:cNvSpPr>
          <p:nvPr/>
        </p:nvSpPr>
        <p:spPr>
          <a:xfrm>
            <a:off x="666750" y="2476500"/>
            <a:ext cx="2952750" cy="400050"/>
          </a:xfrm>
          <a:prstGeom prst="rect">
            <a:avLst/>
          </a:prstGeom>
          <a:noFill/>
          <a:ln w="0">
            <a:noFill/>
          </a:ln>
        </p:spPr>
        <p:txBody>
          <a:bodyPr anchor="t">
            <a:normAutofit/>
          </a:bodyPr>
          <a:lstStyle/>
          <a:p>
            <a:pPr>
              <a:lnSpc>
                <a:spcPct val="108000"/>
              </a:lnSpc>
              <a:buNone/>
              <a:defRPr sz="1650" b="1" i="0">
                <a:solidFill>
                  <a:srgbClr val="070154"/>
                </a:solidFill>
                <a:latin typeface="Arial"/>
                <a:ea typeface="Arial"/>
                <a:cs typeface="Arial"/>
              </a:defRPr>
            </a:pPr>
            <a:r>
              <a:rPr sz="1650" b="1" i="0">
                <a:solidFill>
                  <a:srgbClr val="070154"/>
                </a:solidFill>
                <a:latin typeface="Arial"/>
                <a:ea typeface="Arial"/>
                <a:cs typeface="Arial"/>
              </a:rPr>
              <a:t>Pockets worth scaling</a:t>
            </a:r>
          </a:p>
        </p:txBody>
      </p:sp>
      <p:sp>
        <p:nvSpPr>
          <p:cNvPr id="7" name="Rectangle 6">
            <a:extLst>
              <a:ext uri="{FF2B5EF4-FFF2-40B4-BE49-F238E27FC236}">
                <a16:creationId xmlns:a16="http://schemas.microsoft.com/office/drawing/2014/main" id="{86FEF26D-3887-48EB-BF16-02516AB01728}"/>
              </a:ext>
            </a:extLst>
          </p:cNvPr>
          <p:cNvSpPr>
            <a:spLocks noGrp="1"/>
          </p:cNvSpPr>
          <p:nvPr/>
        </p:nvSpPr>
        <p:spPr>
          <a:xfrm>
            <a:off x="666750" y="3143250"/>
            <a:ext cx="2990850" cy="2000250"/>
          </a:xfrm>
          <a:prstGeom prst="rect">
            <a:avLst/>
          </a:prstGeom>
          <a:noFill/>
          <a:ln w="0">
            <a:noFill/>
          </a:ln>
        </p:spPr>
        <p:txBody>
          <a:bodyPr anchor="t">
            <a:normAutofit lnSpcReduction="10000"/>
          </a:bodyPr>
          <a:lstStyle/>
          <a:p>
            <a:pPr marL="228600" indent="-228600">
              <a:lnSpc>
                <a:spcPct val="108000"/>
              </a:lnSpc>
              <a:buFont typeface="+mj-lt"/>
              <a:buAutoNum type="arabicPeriod"/>
              <a:defRPr sz="1200" b="0" i="0">
                <a:solidFill>
                  <a:srgbClr val="50658E"/>
                </a:solidFill>
                <a:latin typeface="Arial"/>
                <a:ea typeface="Arial"/>
                <a:cs typeface="Arial"/>
              </a:defRPr>
            </a:pPr>
            <a:r>
              <a:rPr sz="1200" b="0" i="0">
                <a:solidFill>
                  <a:srgbClr val="50658E"/>
                </a:solidFill>
                <a:latin typeface="Arial"/>
                <a:ea typeface="Arial"/>
                <a:cs typeface="Arial"/>
              </a:rPr>
              <a:t>Portfolio governance and commercialization gates are emerging.</a:t>
            </a:r>
          </a:p>
          <a:p>
            <a:pPr marL="228600" indent="-228600">
              <a:buFont typeface="+mj-lt"/>
              <a:buAutoNum type="arabicPeriod"/>
            </a:pPr>
            <a:endParaRPr sz="1200" b="0" i="0">
              <a:solidFill>
                <a:srgbClr val="50658E"/>
              </a:solidFill>
              <a:latin typeface="Arial"/>
              <a:ea typeface="Arial"/>
              <a:cs typeface="Arial"/>
            </a:endParaRPr>
          </a:p>
          <a:p>
            <a:pPr marL="228600" indent="-228600">
              <a:lnSpc>
                <a:spcPct val="108000"/>
              </a:lnSpc>
              <a:buFont typeface="+mj-lt"/>
              <a:buAutoNum type="arabicPeriod"/>
              <a:defRPr sz="1200" b="0" i="0">
                <a:solidFill>
                  <a:srgbClr val="50658E"/>
                </a:solidFill>
                <a:latin typeface="Arial"/>
                <a:ea typeface="Arial"/>
                <a:cs typeface="Arial"/>
              </a:defRPr>
            </a:pPr>
            <a:r>
              <a:rPr sz="1200" b="0" i="0">
                <a:solidFill>
                  <a:srgbClr val="50658E"/>
                </a:solidFill>
                <a:latin typeface="Arial"/>
                <a:ea typeface="Arial"/>
                <a:cs typeface="Arial"/>
              </a:rPr>
              <a:t>Reconcile AI shows a leading agentic delivery pocket.</a:t>
            </a:r>
          </a:p>
          <a:p>
            <a:pPr marL="228600" indent="-228600">
              <a:buFont typeface="+mj-lt"/>
              <a:buAutoNum type="arabicPeriod"/>
            </a:pPr>
            <a:endParaRPr sz="1200" b="0" i="0">
              <a:solidFill>
                <a:srgbClr val="50658E"/>
              </a:solidFill>
              <a:latin typeface="Arial"/>
              <a:ea typeface="Arial"/>
              <a:cs typeface="Arial"/>
            </a:endParaRPr>
          </a:p>
          <a:p>
            <a:pPr marL="228600" indent="-228600">
              <a:lnSpc>
                <a:spcPct val="108000"/>
              </a:lnSpc>
              <a:buFont typeface="+mj-lt"/>
              <a:buAutoNum type="arabicPeriod"/>
              <a:defRPr sz="1200" b="0" i="0">
                <a:solidFill>
                  <a:srgbClr val="50658E"/>
                </a:solidFill>
                <a:latin typeface="Arial"/>
                <a:ea typeface="Arial"/>
                <a:cs typeface="Arial"/>
              </a:defRPr>
            </a:pPr>
            <a:r>
              <a:rPr sz="1200" b="0" i="0">
                <a:solidFill>
                  <a:srgbClr val="50658E"/>
                </a:solidFill>
                <a:latin typeface="Arial"/>
                <a:ea typeface="Arial"/>
                <a:cs typeface="Arial"/>
              </a:rPr>
              <a:t>Engineering skills, MSPs, and a Git-based source of truth are documented.</a:t>
            </a:r>
          </a:p>
        </p:txBody>
      </p:sp>
      <p:sp>
        <p:nvSpPr>
          <p:cNvPr id="8" name="Rectangle 7">
            <a:extLst>
              <a:ext uri="{FF2B5EF4-FFF2-40B4-BE49-F238E27FC236}">
                <a16:creationId xmlns:a16="http://schemas.microsoft.com/office/drawing/2014/main" id="{E5D36FD7-820B-459F-8709-666939440440}"/>
              </a:ext>
            </a:extLst>
          </p:cNvPr>
          <p:cNvSpPr>
            <a:spLocks noGrp="1"/>
          </p:cNvSpPr>
          <p:nvPr/>
        </p:nvSpPr>
        <p:spPr>
          <a:xfrm>
            <a:off x="4210050" y="1790700"/>
            <a:ext cx="3429000" cy="37338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9" name="Rectangle 8">
            <a:extLst>
              <a:ext uri="{FF2B5EF4-FFF2-40B4-BE49-F238E27FC236}">
                <a16:creationId xmlns:a16="http://schemas.microsoft.com/office/drawing/2014/main" id="{3EF0C1F3-FC49-4653-9B2A-D58866F23BBB}"/>
              </a:ext>
            </a:extLst>
          </p:cNvPr>
          <p:cNvSpPr>
            <a:spLocks noGrp="1"/>
          </p:cNvSpPr>
          <p:nvPr/>
        </p:nvSpPr>
        <p:spPr>
          <a:xfrm>
            <a:off x="4419600" y="2038350"/>
            <a:ext cx="2857500" cy="171450"/>
          </a:xfrm>
          <a:prstGeom prst="rect">
            <a:avLst/>
          </a:prstGeom>
          <a:noFill/>
          <a:ln w="0">
            <a:noFill/>
          </a:ln>
        </p:spPr>
        <p:txBody>
          <a:bodyPr anchor="t">
            <a:noAutofit/>
          </a:bodyPr>
          <a:lstStyle/>
          <a:p>
            <a:pPr>
              <a:lnSpc>
                <a:spcPct val="108000"/>
              </a:lnSpc>
              <a:defRPr sz="750" b="1" i="0">
                <a:solidFill>
                  <a:srgbClr val="0047FF"/>
                </a:solidFill>
                <a:latin typeface="Arial"/>
                <a:ea typeface="Arial"/>
                <a:cs typeface="Arial"/>
              </a:defRPr>
            </a:pPr>
            <a:r>
              <a:rPr lang="en-US" sz="1100" b="1">
                <a:solidFill>
                  <a:srgbClr val="0047FF"/>
                </a:solidFill>
                <a:latin typeface="Arial"/>
                <a:cs typeface="Arial"/>
              </a:rPr>
              <a:t>OBSERVED GAPS</a:t>
            </a:r>
          </a:p>
        </p:txBody>
      </p:sp>
      <p:sp>
        <p:nvSpPr>
          <p:cNvPr id="10" name="Rectangle 9">
            <a:extLst>
              <a:ext uri="{FF2B5EF4-FFF2-40B4-BE49-F238E27FC236}">
                <a16:creationId xmlns:a16="http://schemas.microsoft.com/office/drawing/2014/main" id="{6984271B-84E3-4133-AB55-4A81D8D5E9AE}"/>
              </a:ext>
            </a:extLst>
          </p:cNvPr>
          <p:cNvSpPr>
            <a:spLocks noGrp="1"/>
          </p:cNvSpPr>
          <p:nvPr/>
        </p:nvSpPr>
        <p:spPr>
          <a:xfrm>
            <a:off x="4419600" y="2476500"/>
            <a:ext cx="2952750" cy="400050"/>
          </a:xfrm>
          <a:prstGeom prst="rect">
            <a:avLst/>
          </a:prstGeom>
          <a:noFill/>
          <a:ln w="0">
            <a:noFill/>
          </a:ln>
        </p:spPr>
        <p:txBody>
          <a:bodyPr anchor="t">
            <a:normAutofit/>
          </a:bodyPr>
          <a:lstStyle/>
          <a:p>
            <a:pPr>
              <a:lnSpc>
                <a:spcPct val="108000"/>
              </a:lnSpc>
              <a:defRPr sz="1650" b="1" i="0">
                <a:solidFill>
                  <a:srgbClr val="070154"/>
                </a:solidFill>
                <a:latin typeface="Arial"/>
                <a:ea typeface="Arial"/>
                <a:cs typeface="Arial"/>
              </a:defRPr>
            </a:pPr>
            <a:r>
              <a:rPr lang="en-US" sz="1650" b="1">
                <a:solidFill>
                  <a:srgbClr val="070154"/>
                </a:solidFill>
                <a:latin typeface="Arial"/>
                <a:cs typeface="Arial"/>
              </a:rPr>
              <a:t>Constraints to resolve</a:t>
            </a:r>
          </a:p>
        </p:txBody>
      </p:sp>
      <p:sp>
        <p:nvSpPr>
          <p:cNvPr id="11" name="Rectangle 10">
            <a:extLst>
              <a:ext uri="{FF2B5EF4-FFF2-40B4-BE49-F238E27FC236}">
                <a16:creationId xmlns:a16="http://schemas.microsoft.com/office/drawing/2014/main" id="{2D9B77D3-A6AE-484C-A730-5AEAC36EDA74}"/>
              </a:ext>
            </a:extLst>
          </p:cNvPr>
          <p:cNvSpPr>
            <a:spLocks noGrp="1"/>
          </p:cNvSpPr>
          <p:nvPr/>
        </p:nvSpPr>
        <p:spPr>
          <a:xfrm>
            <a:off x="4419600" y="3143250"/>
            <a:ext cx="2990850" cy="2000250"/>
          </a:xfrm>
          <a:prstGeom prst="rect">
            <a:avLst/>
          </a:prstGeom>
          <a:noFill/>
          <a:ln w="0">
            <a:noFill/>
          </a:ln>
        </p:spPr>
        <p:txBody>
          <a:bodyPr anchor="t">
            <a:normAutofit/>
          </a:bodyPr>
          <a:lstStyle/>
          <a:p>
            <a:pPr marL="228600" indent="-228600">
              <a:lnSpc>
                <a:spcPct val="108000"/>
              </a:lnSpc>
              <a:buFont typeface="+mj-lt"/>
              <a:buAutoNum type="arabicPeriod"/>
              <a:defRPr sz="1200" b="0" i="0">
                <a:solidFill>
                  <a:srgbClr val="E8EEF8"/>
                </a:solidFill>
                <a:latin typeface="Arial"/>
                <a:ea typeface="Arial"/>
                <a:cs typeface="Arial"/>
              </a:defRPr>
            </a:pPr>
            <a:r>
              <a:rPr lang="en-US" sz="1200" b="0" i="0">
                <a:solidFill>
                  <a:srgbClr val="50658E"/>
                </a:solidFill>
                <a:latin typeface="Arial"/>
                <a:ea typeface="Arial"/>
                <a:cs typeface="Arial"/>
              </a:rPr>
              <a:t>Customer commitments and late scope changes reduce predictability.</a:t>
            </a:r>
          </a:p>
          <a:p>
            <a:pPr marL="228600" indent="-228600">
              <a:buFont typeface="+mj-lt"/>
              <a:buAutoNum type="arabicPeriod"/>
            </a:pPr>
            <a:endParaRPr lang="en-US" sz="1200" b="0" i="0">
              <a:solidFill>
                <a:srgbClr val="50658E"/>
              </a:solidFill>
              <a:latin typeface="Arial"/>
              <a:ea typeface="Arial"/>
              <a:cs typeface="Arial"/>
            </a:endParaRPr>
          </a:p>
          <a:p>
            <a:pPr marL="228600" indent="-228600">
              <a:lnSpc>
                <a:spcPct val="108000"/>
              </a:lnSpc>
              <a:buFont typeface="+mj-lt"/>
              <a:buAutoNum type="arabicPeriod"/>
              <a:defRPr sz="1200" b="0" i="0">
                <a:solidFill>
                  <a:srgbClr val="E8EEF8"/>
                </a:solidFill>
                <a:latin typeface="Arial"/>
                <a:ea typeface="Arial"/>
                <a:cs typeface="Arial"/>
              </a:defRPr>
            </a:pPr>
            <a:r>
              <a:rPr lang="en-US" sz="1200" b="0" i="0">
                <a:solidFill>
                  <a:srgbClr val="50658E"/>
                </a:solidFill>
                <a:latin typeface="Arial"/>
                <a:ea typeface="Arial"/>
                <a:cs typeface="Arial"/>
              </a:rPr>
              <a:t>Product ownership often centers on intake, backlog, and sprint scope.</a:t>
            </a:r>
          </a:p>
          <a:p>
            <a:pPr marL="228600" indent="-228600">
              <a:buFont typeface="+mj-lt"/>
              <a:buAutoNum type="arabicPeriod"/>
            </a:pPr>
            <a:endParaRPr lang="en-US" sz="1200" b="0" i="0">
              <a:solidFill>
                <a:srgbClr val="50658E"/>
              </a:solidFill>
              <a:latin typeface="Arial"/>
              <a:ea typeface="Arial"/>
              <a:cs typeface="Arial"/>
            </a:endParaRPr>
          </a:p>
          <a:p>
            <a:pPr marL="228600" indent="-228600">
              <a:lnSpc>
                <a:spcPct val="108000"/>
              </a:lnSpc>
              <a:buFont typeface="+mj-lt"/>
              <a:buAutoNum type="arabicPeriod"/>
              <a:defRPr sz="1200" b="0" i="0">
                <a:solidFill>
                  <a:srgbClr val="E8EEF8"/>
                </a:solidFill>
                <a:latin typeface="Arial"/>
                <a:ea typeface="Arial"/>
                <a:cs typeface="Arial"/>
              </a:defRPr>
            </a:pPr>
            <a:r>
              <a:rPr lang="en-US" sz="1200" b="0" i="0">
                <a:solidFill>
                  <a:srgbClr val="50658E"/>
                </a:solidFill>
                <a:latin typeface="Arial"/>
                <a:ea typeface="Arial"/>
                <a:cs typeface="Arial"/>
              </a:rPr>
              <a:t>Engineering, UX, QA, Release, and Operations often join after key commitments.</a:t>
            </a:r>
          </a:p>
        </p:txBody>
      </p:sp>
      <p:sp>
        <p:nvSpPr>
          <p:cNvPr id="12" name="Rectangle 11">
            <a:extLst>
              <a:ext uri="{FF2B5EF4-FFF2-40B4-BE49-F238E27FC236}">
                <a16:creationId xmlns:a16="http://schemas.microsoft.com/office/drawing/2014/main" id="{6A585457-5D47-4F79-B8CF-83EBBF82B567}"/>
              </a:ext>
            </a:extLst>
          </p:cNvPr>
          <p:cNvSpPr>
            <a:spLocks noGrp="1"/>
          </p:cNvSpPr>
          <p:nvPr/>
        </p:nvSpPr>
        <p:spPr>
          <a:xfrm>
            <a:off x="7962900" y="1790700"/>
            <a:ext cx="3429000" cy="37338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13" name="Rectangle 12">
            <a:extLst>
              <a:ext uri="{FF2B5EF4-FFF2-40B4-BE49-F238E27FC236}">
                <a16:creationId xmlns:a16="http://schemas.microsoft.com/office/drawing/2014/main" id="{02E64F38-806F-4F7A-947A-59358839BCFE}"/>
              </a:ext>
            </a:extLst>
          </p:cNvPr>
          <p:cNvSpPr>
            <a:spLocks noGrp="1"/>
          </p:cNvSpPr>
          <p:nvPr/>
        </p:nvSpPr>
        <p:spPr>
          <a:xfrm>
            <a:off x="8172450" y="2038350"/>
            <a:ext cx="2857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MAPPED OPPORTUNITIES</a:t>
            </a:r>
          </a:p>
        </p:txBody>
      </p:sp>
      <p:sp>
        <p:nvSpPr>
          <p:cNvPr id="14" name="Rectangle 13">
            <a:extLst>
              <a:ext uri="{FF2B5EF4-FFF2-40B4-BE49-F238E27FC236}">
                <a16:creationId xmlns:a16="http://schemas.microsoft.com/office/drawing/2014/main" id="{CFB41D4F-4976-4E40-944C-8B3A723F9E00}"/>
              </a:ext>
            </a:extLst>
          </p:cNvPr>
          <p:cNvSpPr>
            <a:spLocks noGrp="1"/>
          </p:cNvSpPr>
          <p:nvPr/>
        </p:nvSpPr>
        <p:spPr>
          <a:xfrm>
            <a:off x="8172450" y="2476500"/>
            <a:ext cx="2952750" cy="400050"/>
          </a:xfrm>
          <a:prstGeom prst="rect">
            <a:avLst/>
          </a:prstGeom>
          <a:noFill/>
          <a:ln w="0">
            <a:noFill/>
          </a:ln>
        </p:spPr>
        <p:txBody>
          <a:bodyPr anchor="t">
            <a:normAutofit/>
          </a:bodyPr>
          <a:lstStyle/>
          <a:p>
            <a:pPr>
              <a:lnSpc>
                <a:spcPct val="108000"/>
              </a:lnSpc>
              <a:buNone/>
              <a:defRPr sz="1650" b="1" i="0">
                <a:solidFill>
                  <a:srgbClr val="070154"/>
                </a:solidFill>
                <a:latin typeface="Arial"/>
                <a:ea typeface="Arial"/>
                <a:cs typeface="Arial"/>
              </a:defRPr>
            </a:pPr>
            <a:r>
              <a:rPr sz="1650" b="1" i="0">
                <a:solidFill>
                  <a:srgbClr val="070154"/>
                </a:solidFill>
                <a:latin typeface="Arial"/>
                <a:ea typeface="Arial"/>
                <a:cs typeface="Arial"/>
              </a:rPr>
              <a:t>Future-state themes</a:t>
            </a:r>
          </a:p>
        </p:txBody>
      </p:sp>
      <p:sp>
        <p:nvSpPr>
          <p:cNvPr id="15" name="Rectangle 14">
            <a:extLst>
              <a:ext uri="{FF2B5EF4-FFF2-40B4-BE49-F238E27FC236}">
                <a16:creationId xmlns:a16="http://schemas.microsoft.com/office/drawing/2014/main" id="{7F92261A-6377-4BDC-9114-646F1D706E3B}"/>
              </a:ext>
            </a:extLst>
          </p:cNvPr>
          <p:cNvSpPr>
            <a:spLocks noGrp="1"/>
          </p:cNvSpPr>
          <p:nvPr/>
        </p:nvSpPr>
        <p:spPr>
          <a:xfrm>
            <a:off x="8172450" y="3143250"/>
            <a:ext cx="2990850" cy="2000250"/>
          </a:xfrm>
          <a:prstGeom prst="rect">
            <a:avLst/>
          </a:prstGeom>
          <a:noFill/>
          <a:ln w="0">
            <a:noFill/>
          </a:ln>
        </p:spPr>
        <p:txBody>
          <a:bodyPr lIns="91440" tIns="45720" rIns="91440" bIns="45720" anchor="t">
            <a:normAutofit fontScale="98840" lnSpcReduction="10000"/>
          </a:bodyPr>
          <a:lstStyle/>
          <a:p>
            <a:pPr marL="228600" indent="-228600">
              <a:lnSpc>
                <a:spcPct val="108000"/>
              </a:lnSpc>
              <a:buFont typeface="+mj-lt"/>
              <a:buAutoNum type="arabicPeriod"/>
              <a:defRPr sz="1200" b="0" i="0">
                <a:solidFill>
                  <a:srgbClr val="50658E"/>
                </a:solidFill>
                <a:latin typeface="Arial"/>
                <a:ea typeface="Arial"/>
                <a:cs typeface="Arial"/>
              </a:defRPr>
            </a:pPr>
            <a:r>
              <a:rPr sz="1200" b="0" i="0">
                <a:solidFill>
                  <a:srgbClr val="50658E"/>
                </a:solidFill>
                <a:latin typeface="Arial"/>
                <a:ea typeface="Arial"/>
                <a:cs typeface="Arial"/>
              </a:rPr>
              <a:t>Outcome-led prioritization and protected capacity.</a:t>
            </a:r>
          </a:p>
          <a:p>
            <a:pPr marL="228600" indent="-228600">
              <a:buFont typeface="+mj-lt"/>
              <a:buAutoNum type="arabicPeriod"/>
            </a:pPr>
            <a:endParaRPr sz="1200" b="0" i="0">
              <a:solidFill>
                <a:srgbClr val="50658E"/>
              </a:solidFill>
              <a:latin typeface="Arial"/>
              <a:ea typeface="Arial"/>
              <a:cs typeface="Arial"/>
            </a:endParaRPr>
          </a:p>
          <a:p>
            <a:pPr marL="228600" indent="-228600">
              <a:lnSpc>
                <a:spcPct val="108000"/>
              </a:lnSpc>
              <a:buFont typeface="+mj-lt"/>
              <a:buAutoNum type="arabicPeriod"/>
              <a:defRPr sz="1200" b="0" i="0">
                <a:solidFill>
                  <a:srgbClr val="50658E"/>
                </a:solidFill>
                <a:latin typeface="Arial"/>
                <a:ea typeface="Arial"/>
                <a:cs typeface="Arial"/>
              </a:defRPr>
            </a:pPr>
            <a:r>
              <a:rPr sz="1200" b="0" i="0">
                <a:solidFill>
                  <a:srgbClr val="50658E"/>
                </a:solidFill>
                <a:latin typeface="Arial"/>
                <a:ea typeface="Arial"/>
                <a:cs typeface="Arial"/>
              </a:rPr>
              <a:t>Product management as business ownership.</a:t>
            </a:r>
          </a:p>
          <a:p>
            <a:pPr marL="228600" indent="-228600">
              <a:buFont typeface="+mj-lt"/>
              <a:buAutoNum type="arabicPeriod"/>
            </a:pPr>
            <a:endParaRPr sz="1200" b="0" i="0">
              <a:solidFill>
                <a:srgbClr val="50658E"/>
              </a:solidFill>
              <a:latin typeface="Arial"/>
              <a:ea typeface="Arial"/>
              <a:cs typeface="Arial"/>
            </a:endParaRPr>
          </a:p>
          <a:p>
            <a:pPr marL="228600" indent="-228600">
              <a:lnSpc>
                <a:spcPct val="108000"/>
              </a:lnSpc>
              <a:buFont typeface="+mj-lt"/>
              <a:buAutoNum type="arabicPeriod"/>
              <a:defRPr sz="1200" b="0" i="0">
                <a:solidFill>
                  <a:srgbClr val="50658E"/>
                </a:solidFill>
                <a:latin typeface="Arial"/>
                <a:ea typeface="Arial"/>
                <a:cs typeface="Arial"/>
              </a:defRPr>
            </a:pPr>
            <a:r>
              <a:rPr sz="1200" b="0" i="0">
                <a:solidFill>
                  <a:srgbClr val="50658E"/>
                </a:solidFill>
                <a:latin typeface="Arial"/>
                <a:ea typeface="Arial"/>
                <a:cs typeface="Arial"/>
              </a:rPr>
              <a:t>Earlier cross-functional collaboration.</a:t>
            </a:r>
          </a:p>
          <a:p>
            <a:pPr marL="228600" indent="-228600">
              <a:buFont typeface="+mj-lt"/>
              <a:buAutoNum type="arabicPeriod"/>
            </a:pPr>
            <a:endParaRPr sz="1200" b="0" i="0">
              <a:solidFill>
                <a:srgbClr val="50658E"/>
              </a:solidFill>
              <a:latin typeface="Arial"/>
              <a:ea typeface="Arial"/>
              <a:cs typeface="Arial"/>
            </a:endParaRPr>
          </a:p>
          <a:p>
            <a:pPr marL="228600" indent="-228600">
              <a:lnSpc>
                <a:spcPct val="108000"/>
              </a:lnSpc>
              <a:buFont typeface="+mj-lt"/>
              <a:buAutoNum type="arabicPeriod"/>
              <a:defRPr sz="1200" b="0" i="0">
                <a:solidFill>
                  <a:srgbClr val="50658E"/>
                </a:solidFill>
                <a:latin typeface="Arial"/>
                <a:ea typeface="Arial"/>
                <a:cs typeface="Arial"/>
              </a:defRPr>
            </a:pPr>
            <a:r>
              <a:rPr lang="en-US" sz="1200" b="0" i="0">
                <a:solidFill>
                  <a:srgbClr val="50658E"/>
                </a:solidFill>
                <a:latin typeface="Arial"/>
                <a:ea typeface="Arial"/>
                <a:cs typeface="Arial"/>
              </a:rPr>
              <a:t>Governed, reusable agentic delivery across the lifecycle.</a:t>
            </a:r>
          </a:p>
        </p:txBody>
      </p:sp>
      <p:sp>
        <p:nvSpPr>
          <p:cNvPr id="101" name="Accent Bar 1"/>
          <p:cNvSpPr/>
          <p:nvPr/>
        </p:nvSpPr>
        <p:spPr>
          <a:xfrm>
            <a:off x="457200" y="1790700"/>
            <a:ext cx="3429000" cy="63500"/>
          </a:xfrm>
          <a:prstGeom prst="rect">
            <a:avLst/>
          </a:prstGeom>
          <a:solidFill>
            <a:srgbClr val="00E8FA"/>
          </a:solidFill>
          <a:ln>
            <a:noFill/>
          </a:ln>
        </p:spPr>
        <p:txBody>
          <a:bodyPr/>
          <a:lstStyle/>
          <a:p>
            <a:endParaRPr/>
          </a:p>
        </p:txBody>
      </p:sp>
      <p:sp>
        <p:nvSpPr>
          <p:cNvPr id="102" name="Accent Bar 2"/>
          <p:cNvSpPr/>
          <p:nvPr/>
        </p:nvSpPr>
        <p:spPr>
          <a:xfrm>
            <a:off x="4216400" y="1790700"/>
            <a:ext cx="3429000" cy="63500"/>
          </a:xfrm>
          <a:prstGeom prst="rect">
            <a:avLst/>
          </a:prstGeom>
          <a:solidFill>
            <a:srgbClr val="F900D3"/>
          </a:solidFill>
          <a:ln>
            <a:noFill/>
          </a:ln>
        </p:spPr>
        <p:txBody>
          <a:bodyPr/>
          <a:lstStyle/>
          <a:p>
            <a:endParaRPr/>
          </a:p>
        </p:txBody>
      </p:sp>
      <p:sp>
        <p:nvSpPr>
          <p:cNvPr id="103" name="Accent Bar 3"/>
          <p:cNvSpPr/>
          <p:nvPr/>
        </p:nvSpPr>
        <p:spPr>
          <a:xfrm>
            <a:off x="7962900" y="1790700"/>
            <a:ext cx="3429000" cy="63500"/>
          </a:xfrm>
          <a:prstGeom prst="rect">
            <a:avLst/>
          </a:prstGeom>
          <a:solidFill>
            <a:srgbClr val="00A3FF"/>
          </a:solidFill>
          <a:ln>
            <a:noFill/>
          </a:ln>
        </p:spPr>
        <p:txBody>
          <a:bodyPr/>
          <a:lstStyle/>
          <a:p>
            <a:endParaRPr/>
          </a:p>
        </p:txBody>
      </p:sp>
      <p:sp>
        <p:nvSpPr>
          <p:cNvPr id="21" name="Footer Placeholder 1">
            <a:extLst>
              <a:ext uri="{FF2B5EF4-FFF2-40B4-BE49-F238E27FC236}">
                <a16:creationId xmlns:a16="http://schemas.microsoft.com/office/drawing/2014/main" id="{8C879FEC-F059-88BD-E8C0-D55ABBDE62A4}"/>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22" name="Slide Number Placeholder 2">
            <a:extLst>
              <a:ext uri="{FF2B5EF4-FFF2-40B4-BE49-F238E27FC236}">
                <a16:creationId xmlns:a16="http://schemas.microsoft.com/office/drawing/2014/main" id="{7CACD32E-358D-F6C1-48DD-FB9294AE7F4D}"/>
              </a:ext>
            </a:extLst>
          </p:cNvPr>
          <p:cNvSpPr>
            <a:spLocks noGrp="1"/>
          </p:cNvSpPr>
          <p:nvPr>
            <p:ph type="sldNum" idx="11"/>
          </p:nvPr>
        </p:nvSpPr>
        <p:spPr>
          <a:xfrm>
            <a:off x="11509578" y="6400799"/>
            <a:ext cx="218871" cy="167949"/>
          </a:xfrm>
        </p:spPr>
        <p:txBody>
          <a:bodyPr/>
          <a:lstStyle/>
          <a:p>
            <a:fld id="{63DCA5C9-2E11-4C67-86EB-AE1DE127DC64}" type="slidenum">
              <a:rPr lang="en-US" smtClean="0"/>
              <a:t>24</a:t>
            </a:fld>
            <a:endParaRPr lang="en-US"/>
          </a:p>
        </p:txBody>
      </p:sp>
    </p:spTree>
    <p:extLst>
      <p:ext uri="{BB962C8B-B14F-4D97-AF65-F5344CB8AC3E}">
        <p14:creationId xmlns:p14="http://schemas.microsoft.com/office/powerpoint/2010/main" val="2871806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9D36130B-3407-411C-944A-10980D7C4E8D}"/>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Recommendations summary: what should be done</a:t>
            </a:r>
          </a:p>
        </p:txBody>
      </p:sp>
      <p:sp>
        <p:nvSpPr>
          <p:cNvPr id="4" name="Rectangle 3">
            <a:extLst>
              <a:ext uri="{FF2B5EF4-FFF2-40B4-BE49-F238E27FC236}">
                <a16:creationId xmlns:a16="http://schemas.microsoft.com/office/drawing/2014/main" id="{37D05AF7-2282-45AF-86CE-81F55989B093}"/>
              </a:ext>
            </a:extLst>
          </p:cNvPr>
          <p:cNvSpPr>
            <a:spLocks noGrp="1"/>
          </p:cNvSpPr>
          <p:nvPr/>
        </p:nvSpPr>
        <p:spPr>
          <a:xfrm>
            <a:off x="457200" y="12858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03</a:t>
            </a:r>
          </a:p>
        </p:txBody>
      </p:sp>
      <p:graphicFrame>
        <p:nvGraphicFramePr>
          <p:cNvPr id="12" name="Table 11"/>
          <p:cNvGraphicFramePr/>
          <p:nvPr>
            <p:extLst>
              <p:ext uri="{D42A27DB-BD31-4B8C-83A1-F6EECF244321}">
                <p14:modId xmlns:p14="http://schemas.microsoft.com/office/powerpoint/2010/main" val="2622800327"/>
              </p:ext>
            </p:extLst>
          </p:nvPr>
        </p:nvGraphicFramePr>
        <p:xfrm>
          <a:off x="457200" y="1752600"/>
          <a:ext cx="11277600" cy="3374962"/>
        </p:xfrm>
        <a:graphic>
          <a:graphicData uri="http://schemas.openxmlformats.org/drawingml/2006/table">
            <a:tbl>
              <a:tblPr/>
              <a:tblGrid>
                <a:gridCol w="3759200">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3759200">
                  <a:extLst>
                    <a:ext uri="{9D8B030D-6E8A-4147-A177-3AD203B41FA5}">
                      <a16:colId xmlns:a16="http://schemas.microsoft.com/office/drawing/2014/main" val="20002"/>
                    </a:ext>
                  </a:extLst>
                </a:gridCol>
              </a:tblGrid>
              <a:tr h="523875">
                <a:tc>
                  <a:txBody>
                    <a:bodyPr/>
                    <a:lstStyle/>
                    <a:p>
                      <a:pPr>
                        <a:lnSpc>
                          <a:spcPct val="102000"/>
                        </a:lnSpc>
                        <a:buNone/>
                      </a:pPr>
                      <a:r>
                        <a:rPr sz="1200" b="1">
                          <a:solidFill>
                            <a:srgbClr val="FFFFFF"/>
                          </a:solidFill>
                          <a:latin typeface="Arial"/>
                          <a:ea typeface="Arial"/>
                          <a:cs typeface="Arial"/>
                        </a:rPr>
                        <a:t>Recommendation</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1200" b="1">
                          <a:solidFill>
                            <a:srgbClr val="FFFFFF"/>
                          </a:solidFill>
                          <a:latin typeface="Arial"/>
                          <a:ea typeface="Arial"/>
                          <a:cs typeface="Arial"/>
                        </a:rPr>
                        <a:t>What should be done</a:t>
                      </a:r>
                    </a:p>
                  </a:txBody>
                  <a:tcPr anchor="ctr">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1200" b="1">
                          <a:solidFill>
                            <a:srgbClr val="FFFFFF"/>
                          </a:solidFill>
                          <a:latin typeface="Arial"/>
                          <a:ea typeface="Arial"/>
                          <a:cs typeface="Arial"/>
                        </a:rPr>
                        <a:t>Activation horizon</a:t>
                      </a: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070154"/>
                    </a:solidFill>
                  </a:tcPr>
                </a:tc>
                <a:extLst>
                  <a:ext uri="{0D108BD9-81ED-4DB2-BD59-A6C34878D82A}">
                    <a16:rowId xmlns:a16="http://schemas.microsoft.com/office/drawing/2014/main" val="10000"/>
                  </a:ext>
                </a:extLst>
              </a:tr>
              <a:tr h="523875">
                <a:tc>
                  <a:txBody>
                    <a:bodyPr/>
                    <a:lstStyle/>
                    <a:p>
                      <a:pPr>
                        <a:lnSpc>
                          <a:spcPct val="102000"/>
                        </a:lnSpc>
                        <a:buNone/>
                      </a:pPr>
                      <a:r>
                        <a:rPr sz="1125" b="0">
                          <a:solidFill>
                            <a:srgbClr val="070154"/>
                          </a:solidFill>
                          <a:latin typeface="Arial"/>
                          <a:ea typeface="Arial"/>
                          <a:cs typeface="Arial"/>
                        </a:rPr>
                        <a:t>Outcome-led prioritization</a:t>
                      </a:r>
                    </a:p>
                  </a:txBody>
                  <a:tcPr anchor="ctr">
                    <a:lnL w="12700" cap="flat" cmpd="sng" algn="ctr">
                      <a:noFill/>
                      <a:prstDash val="solid"/>
                      <a:round/>
                      <a:headEnd type="none" w="med" len="med"/>
                      <a:tailEnd type="none" w="med" len="med"/>
                    </a:lnL>
                    <a:lnB w="12700" cap="flat" cmpd="sng" algn="ctr">
                      <a:solidFill>
                        <a:schemeClr val="bg1">
                          <a:lumMod val="75000"/>
                        </a:schemeClr>
                      </a:solidFill>
                      <a:prstDash val="solid"/>
                      <a:round/>
                      <a:headEnd type="none" w="med" len="med"/>
                      <a:tailEnd type="none" w="med" len="med"/>
                    </a:lnB>
                    <a:solidFill>
                      <a:srgbClr val="E8EEF8"/>
                    </a:solidFill>
                  </a:tcPr>
                </a:tc>
                <a:tc>
                  <a:txBody>
                    <a:bodyPr/>
                    <a:lstStyle/>
                    <a:p>
                      <a:pPr>
                        <a:lnSpc>
                          <a:spcPct val="102000"/>
                        </a:lnSpc>
                        <a:buNone/>
                      </a:pPr>
                      <a:r>
                        <a:rPr sz="1125" b="0">
                          <a:solidFill>
                            <a:srgbClr val="50658E"/>
                          </a:solidFill>
                          <a:latin typeface="Arial"/>
                          <a:ea typeface="Arial"/>
                          <a:cs typeface="Arial"/>
                        </a:rPr>
                        <a:t>Set decision criteria, protect capacity, and make 3-4 sprint visibility credible before commitments are made.</a:t>
                      </a:r>
                    </a:p>
                  </a:txBody>
                  <a:tcPr anchor="ctr">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nSpc>
                          <a:spcPct val="102000"/>
                        </a:lnSpc>
                        <a:buNone/>
                      </a:pPr>
                      <a:r>
                        <a:rPr sz="1125" b="0">
                          <a:solidFill>
                            <a:srgbClr val="0047FF"/>
                          </a:solidFill>
                          <a:latin typeface="Arial"/>
                          <a:ea typeface="Arial"/>
                          <a:cs typeface="Arial"/>
                        </a:rPr>
                        <a:t>Immediate</a:t>
                      </a:r>
                    </a:p>
                  </a:txBody>
                  <a:tcPr anchor="ctr">
                    <a:lnR w="12700" cap="flat" cmpd="sng" algn="ctr">
                      <a:noFill/>
                      <a:prstDash val="solid"/>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rgbClr val="DDE8FF"/>
                    </a:solidFill>
                  </a:tcPr>
                </a:tc>
                <a:extLst>
                  <a:ext uri="{0D108BD9-81ED-4DB2-BD59-A6C34878D82A}">
                    <a16:rowId xmlns:a16="http://schemas.microsoft.com/office/drawing/2014/main" val="10001"/>
                  </a:ext>
                </a:extLst>
              </a:tr>
              <a:tr h="523875">
                <a:tc>
                  <a:txBody>
                    <a:bodyPr/>
                    <a:lstStyle/>
                    <a:p>
                      <a:pPr>
                        <a:lnSpc>
                          <a:spcPct val="102000"/>
                        </a:lnSpc>
                        <a:buNone/>
                      </a:pPr>
                      <a:r>
                        <a:rPr sz="1125" b="0">
                          <a:solidFill>
                            <a:srgbClr val="070154"/>
                          </a:solidFill>
                          <a:latin typeface="Arial"/>
                          <a:ea typeface="Arial"/>
                          <a:cs typeface="Arial"/>
                        </a:rPr>
                        <a:t>Product management as business ownership</a:t>
                      </a:r>
                    </a:p>
                  </a:txBody>
                  <a:tcPr anchor="ctr">
                    <a:lnL w="12700" cap="flat" cmpd="sng" algn="ctr">
                      <a:no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8EEF8"/>
                    </a:solidFill>
                  </a:tcPr>
                </a:tc>
                <a:tc>
                  <a:txBody>
                    <a:bodyPr/>
                    <a:lstStyle/>
                    <a:p>
                      <a:pPr>
                        <a:lnSpc>
                          <a:spcPct val="102000"/>
                        </a:lnSpc>
                        <a:buNone/>
                      </a:pPr>
                      <a:r>
                        <a:rPr sz="1125" b="0">
                          <a:solidFill>
                            <a:srgbClr val="50658E"/>
                          </a:solidFill>
                          <a:latin typeface="Arial"/>
                          <a:ea typeface="Arial"/>
                          <a:cs typeface="Arial"/>
                        </a:rPr>
                        <a:t>Clarify PM accountability for evidence, outcomes, roadmap, adoption, and learning beyond backlog administration.</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nSpc>
                          <a:spcPct val="102000"/>
                        </a:lnSpc>
                        <a:buNone/>
                      </a:pPr>
                      <a:r>
                        <a:rPr sz="1125" b="0">
                          <a:solidFill>
                            <a:srgbClr val="0047FF"/>
                          </a:solidFill>
                          <a:latin typeface="Arial"/>
                          <a:ea typeface="Arial"/>
                          <a:cs typeface="Arial"/>
                        </a:rPr>
                        <a:t>Immediate</a:t>
                      </a:r>
                    </a:p>
                  </a:txBody>
                  <a:tcPr anchor="ctr">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8FF"/>
                    </a:solidFill>
                  </a:tcPr>
                </a:tc>
                <a:extLst>
                  <a:ext uri="{0D108BD9-81ED-4DB2-BD59-A6C34878D82A}">
                    <a16:rowId xmlns:a16="http://schemas.microsoft.com/office/drawing/2014/main" val="10002"/>
                  </a:ext>
                </a:extLst>
              </a:tr>
              <a:tr h="523875">
                <a:tc>
                  <a:txBody>
                    <a:bodyPr/>
                    <a:lstStyle/>
                    <a:p>
                      <a:pPr>
                        <a:lnSpc>
                          <a:spcPct val="102000"/>
                        </a:lnSpc>
                        <a:buNone/>
                      </a:pPr>
                      <a:r>
                        <a:rPr sz="1125" b="0">
                          <a:solidFill>
                            <a:srgbClr val="070154"/>
                          </a:solidFill>
                          <a:latin typeface="Arial"/>
                          <a:ea typeface="Arial"/>
                          <a:cs typeface="Arial"/>
                        </a:rPr>
                        <a:t>Opportunity brief to implementation path</a:t>
                      </a:r>
                    </a:p>
                  </a:txBody>
                  <a:tcPr anchor="ctr">
                    <a:lnL w="12700" cap="flat" cmpd="sng" algn="ctr">
                      <a:no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8EEF8"/>
                    </a:solidFill>
                  </a:tcPr>
                </a:tc>
                <a:tc>
                  <a:txBody>
                    <a:bodyPr/>
                    <a:lstStyle/>
                    <a:p>
                      <a:pPr lvl="0">
                        <a:lnSpc>
                          <a:spcPct val="102000"/>
                        </a:lnSpc>
                        <a:buNone/>
                      </a:pPr>
                      <a:r>
                        <a:rPr lang="en-US" sz="1100" b="0" i="0" u="none" strike="noStrike" noProof="0">
                          <a:solidFill>
                            <a:srgbClr val="50658E"/>
                          </a:solidFill>
                        </a:rPr>
                        <a:t>Standardize the artifact and decision path from internal signal through PRD, feature brief, epic, technical design, and implementation plan.</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nSpc>
                          <a:spcPct val="102000"/>
                        </a:lnSpc>
                        <a:buNone/>
                      </a:pPr>
                      <a:r>
                        <a:rPr sz="1125" b="0">
                          <a:solidFill>
                            <a:srgbClr val="0047FF"/>
                          </a:solidFill>
                          <a:latin typeface="Arial"/>
                          <a:ea typeface="Arial"/>
                          <a:cs typeface="Arial"/>
                        </a:rPr>
                        <a:t>Immediate</a:t>
                      </a:r>
                    </a:p>
                  </a:txBody>
                  <a:tcPr anchor="ctr">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8FF"/>
                    </a:solidFill>
                  </a:tcPr>
                </a:tc>
                <a:extLst>
                  <a:ext uri="{0D108BD9-81ED-4DB2-BD59-A6C34878D82A}">
                    <a16:rowId xmlns:a16="http://schemas.microsoft.com/office/drawing/2014/main" val="10003"/>
                  </a:ext>
                </a:extLst>
              </a:tr>
              <a:tr h="523875">
                <a:tc>
                  <a:txBody>
                    <a:bodyPr/>
                    <a:lstStyle/>
                    <a:p>
                      <a:pPr>
                        <a:lnSpc>
                          <a:spcPct val="102000"/>
                        </a:lnSpc>
                        <a:buNone/>
                      </a:pPr>
                      <a:r>
                        <a:rPr sz="1125" b="0">
                          <a:solidFill>
                            <a:srgbClr val="070154"/>
                          </a:solidFill>
                          <a:latin typeface="Arial"/>
                          <a:ea typeface="Arial"/>
                          <a:cs typeface="Arial"/>
                        </a:rPr>
                        <a:t>Earlier cross-functional collaboration</a:t>
                      </a:r>
                    </a:p>
                  </a:txBody>
                  <a:tcPr anchor="ctr">
                    <a:lnL w="12700" cap="flat" cmpd="sng" algn="ctr">
                      <a:no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8EEF8"/>
                    </a:solidFill>
                  </a:tcPr>
                </a:tc>
                <a:tc>
                  <a:txBody>
                    <a:bodyPr/>
                    <a:lstStyle/>
                    <a:p>
                      <a:pPr>
                        <a:lnSpc>
                          <a:spcPct val="102000"/>
                        </a:lnSpc>
                        <a:buNone/>
                      </a:pPr>
                      <a:r>
                        <a:rPr sz="1125" b="0">
                          <a:solidFill>
                            <a:srgbClr val="50658E"/>
                          </a:solidFill>
                          <a:latin typeface="Arial"/>
                          <a:ea typeface="Arial"/>
                          <a:cs typeface="Arial"/>
                        </a:rPr>
                        <a:t>Bring UX, Engineering, QA, Release, and Operations into feasibility, evidence, and living documentation earlier.</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nSpc>
                          <a:spcPct val="102000"/>
                        </a:lnSpc>
                        <a:buNone/>
                      </a:pPr>
                      <a:r>
                        <a:rPr sz="1125" b="0">
                          <a:solidFill>
                            <a:srgbClr val="0047FF"/>
                          </a:solidFill>
                          <a:latin typeface="Arial"/>
                          <a:ea typeface="Arial"/>
                          <a:cs typeface="Arial"/>
                        </a:rPr>
                        <a:t>Near-term</a:t>
                      </a:r>
                    </a:p>
                  </a:txBody>
                  <a:tcPr anchor="ctr">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8FF"/>
                    </a:solidFill>
                  </a:tcPr>
                </a:tc>
                <a:extLst>
                  <a:ext uri="{0D108BD9-81ED-4DB2-BD59-A6C34878D82A}">
                    <a16:rowId xmlns:a16="http://schemas.microsoft.com/office/drawing/2014/main" val="10004"/>
                  </a:ext>
                </a:extLst>
              </a:tr>
              <a:tr h="523875">
                <a:tc>
                  <a:txBody>
                    <a:bodyPr/>
                    <a:lstStyle/>
                    <a:p>
                      <a:pPr>
                        <a:lnSpc>
                          <a:spcPct val="102000"/>
                        </a:lnSpc>
                        <a:buNone/>
                      </a:pPr>
                      <a:r>
                        <a:rPr sz="1125" b="0">
                          <a:solidFill>
                            <a:srgbClr val="070154"/>
                          </a:solidFill>
                          <a:latin typeface="Arial"/>
                          <a:ea typeface="Arial"/>
                          <a:cs typeface="Arial"/>
                        </a:rPr>
                        <a:t>Governed agentic delivery</a:t>
                      </a:r>
                    </a:p>
                  </a:txBody>
                  <a:tcPr anchor="ctr">
                    <a:lnL w="12700" cap="flat" cmpd="sng" algn="ctr">
                      <a:no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E8EEF8"/>
                    </a:solidFill>
                  </a:tcPr>
                </a:tc>
                <a:tc>
                  <a:txBody>
                    <a:bodyPr/>
                    <a:lstStyle/>
                    <a:p>
                      <a:pPr>
                        <a:lnSpc>
                          <a:spcPct val="102000"/>
                        </a:lnSpc>
                        <a:buNone/>
                      </a:pPr>
                      <a:r>
                        <a:rPr sz="1125" b="0">
                          <a:solidFill>
                            <a:srgbClr val="50658E"/>
                          </a:solidFill>
                          <a:latin typeface="Arial"/>
                          <a:ea typeface="Arial"/>
                          <a:cs typeface="Arial"/>
                        </a:rPr>
                        <a:t>Define reusable, human-supervised AI practices and measures from discovery through post-launch learning.</a:t>
                      </a:r>
                    </a:p>
                  </a:txBody>
                  <a:tcPr anchor="ct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nSpc>
                          <a:spcPct val="102000"/>
                        </a:lnSpc>
                        <a:buNone/>
                      </a:pPr>
                      <a:r>
                        <a:rPr sz="1125" b="0">
                          <a:solidFill>
                            <a:srgbClr val="0047FF"/>
                          </a:solidFill>
                          <a:latin typeface="Arial"/>
                          <a:ea typeface="Arial"/>
                          <a:cs typeface="Arial"/>
                        </a:rPr>
                        <a:t>Future</a:t>
                      </a:r>
                    </a:p>
                  </a:txBody>
                  <a:tcPr anchor="ctr">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DE8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A3EB51DB-DB62-4960-A693-C67A23E93FA4}"/>
              </a:ext>
            </a:extLst>
          </p:cNvPr>
          <p:cNvSpPr>
            <a:spLocks noGrp="1"/>
          </p:cNvSpPr>
          <p:nvPr/>
        </p:nvSpPr>
        <p:spPr>
          <a:xfrm>
            <a:off x="457200" y="5181600"/>
            <a:ext cx="11277600" cy="514350"/>
          </a:xfrm>
          <a:prstGeom prst="rect">
            <a:avLst/>
          </a:prstGeom>
          <a:solidFill>
            <a:srgbClr val="0047FF"/>
          </a:solidFill>
          <a:ln w="0">
            <a:noFill/>
          </a:ln>
        </p:spPr>
        <p:txBody>
          <a:bodyPr/>
          <a:lstStyle/>
          <a:p>
            <a:endParaRPr lang="en-US"/>
          </a:p>
        </p:txBody>
      </p:sp>
      <p:sp>
        <p:nvSpPr>
          <p:cNvPr id="7" name="Rectangle 6">
            <a:extLst>
              <a:ext uri="{FF2B5EF4-FFF2-40B4-BE49-F238E27FC236}">
                <a16:creationId xmlns:a16="http://schemas.microsoft.com/office/drawing/2014/main" id="{E1CBB966-CF8D-4639-9532-4B9D93E512E1}"/>
              </a:ext>
            </a:extLst>
          </p:cNvPr>
          <p:cNvSpPr>
            <a:spLocks noGrp="1"/>
          </p:cNvSpPr>
          <p:nvPr/>
        </p:nvSpPr>
        <p:spPr>
          <a:xfrm>
            <a:off x="685800" y="5343525"/>
            <a:ext cx="10820400" cy="228600"/>
          </a:xfrm>
          <a:prstGeom prst="rect">
            <a:avLst/>
          </a:prstGeom>
          <a:noFill/>
          <a:ln w="0">
            <a:noFill/>
          </a:ln>
        </p:spPr>
        <p:txBody>
          <a:bodyPr anchor="t">
            <a:normAutofit fontScale="84444" lnSpcReduction="20000"/>
          </a:bodyPr>
          <a:lstStyle/>
          <a:p>
            <a:pPr>
              <a:lnSpc>
                <a:spcPct val="108000"/>
              </a:lnSpc>
              <a:buNone/>
              <a:defRPr sz="1200" b="1" i="0">
                <a:solidFill>
                  <a:srgbClr val="FFFFFF"/>
                </a:solidFill>
                <a:latin typeface="Arial"/>
                <a:ea typeface="Arial"/>
                <a:cs typeface="Arial"/>
              </a:defRPr>
            </a:pPr>
            <a:r>
              <a:rPr sz="1200" b="1" i="0">
                <a:solidFill>
                  <a:srgbClr val="FFFFFF"/>
                </a:solidFill>
                <a:latin typeface="Arial"/>
                <a:ea typeface="Arial"/>
                <a:cs typeface="Arial"/>
              </a:rPr>
              <a:t>The detailed pages below define the action, owner, decision rights, dependencies, measures, and first activation step for each theme.</a:t>
            </a:r>
          </a:p>
        </p:txBody>
      </p:sp>
      <p:sp>
        <p:nvSpPr>
          <p:cNvPr id="5" name="GridLineV1">
            <a:extLst>
              <a:ext uri="{FF2B5EF4-FFF2-40B4-BE49-F238E27FC236}">
                <a16:creationId xmlns:a16="http://schemas.microsoft.com/office/drawing/2014/main" id="{86061BD4-CA48-1346-97E6-C827684AB1F3}"/>
              </a:ext>
            </a:extLst>
          </p:cNvPr>
          <p:cNvSpPr/>
          <p:nvPr/>
        </p:nvSpPr>
        <p:spPr>
          <a:xfrm>
            <a:off x="4194175" y="1752600"/>
            <a:ext cx="44450" cy="3386328"/>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GridLineV2">
            <a:extLst>
              <a:ext uri="{FF2B5EF4-FFF2-40B4-BE49-F238E27FC236}">
                <a16:creationId xmlns:a16="http://schemas.microsoft.com/office/drawing/2014/main" id="{EF42CA1A-F90F-A44D-9878-FDA88B28AACB}"/>
              </a:ext>
            </a:extLst>
          </p:cNvPr>
          <p:cNvSpPr/>
          <p:nvPr/>
        </p:nvSpPr>
        <p:spPr>
          <a:xfrm>
            <a:off x="7953375" y="1752600"/>
            <a:ext cx="44450" cy="3386328"/>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Footer Placeholder 1">
            <a:extLst>
              <a:ext uri="{FF2B5EF4-FFF2-40B4-BE49-F238E27FC236}">
                <a16:creationId xmlns:a16="http://schemas.microsoft.com/office/drawing/2014/main" id="{8DBA01B5-845E-B2C0-12A3-47B1A208629D}"/>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10" name="Slide Number Placeholder 2">
            <a:extLst>
              <a:ext uri="{FF2B5EF4-FFF2-40B4-BE49-F238E27FC236}">
                <a16:creationId xmlns:a16="http://schemas.microsoft.com/office/drawing/2014/main" id="{1FB6A29A-2067-2AF2-ADC2-171811D0F817}"/>
              </a:ext>
            </a:extLst>
          </p:cNvPr>
          <p:cNvSpPr>
            <a:spLocks noGrp="1"/>
          </p:cNvSpPr>
          <p:nvPr>
            <p:ph type="sldNum" idx="11"/>
          </p:nvPr>
        </p:nvSpPr>
        <p:spPr>
          <a:xfrm>
            <a:off x="11509578" y="6400799"/>
            <a:ext cx="218871" cy="167949"/>
          </a:xfrm>
        </p:spPr>
        <p:txBody>
          <a:bodyPr/>
          <a:lstStyle/>
          <a:p>
            <a:fld id="{63DCA5C9-2E11-4C67-86EB-AE1DE127DC64}" type="slidenum">
              <a:rPr lang="en-US" smtClean="0"/>
              <a:t>25</a:t>
            </a:fld>
            <a:endParaRPr lang="en-US"/>
          </a:p>
        </p:txBody>
      </p:sp>
    </p:spTree>
    <p:extLst>
      <p:ext uri="{BB962C8B-B14F-4D97-AF65-F5344CB8AC3E}">
        <p14:creationId xmlns:p14="http://schemas.microsoft.com/office/powerpoint/2010/main" val="1572027834"/>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8962F90F-886E-4AA2-AE13-B4FA1085151E}"/>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Outcome-led prioritization</a:t>
            </a:r>
          </a:p>
        </p:txBody>
      </p:sp>
      <p:sp>
        <p:nvSpPr>
          <p:cNvPr id="3" name="Rectangle 2">
            <a:extLst>
              <a:ext uri="{FF2B5EF4-FFF2-40B4-BE49-F238E27FC236}">
                <a16:creationId xmlns:a16="http://schemas.microsoft.com/office/drawing/2014/main" id="{E109566E-E941-44A4-A672-F26C8119DEB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Make priority and commitment decisions from evidence about outcomes, feasibility, and capacity.</a:t>
            </a:r>
          </a:p>
        </p:txBody>
      </p:sp>
      <p:sp>
        <p:nvSpPr>
          <p:cNvPr id="4" name="Rectangle 3">
            <a:extLst>
              <a:ext uri="{FF2B5EF4-FFF2-40B4-BE49-F238E27FC236}">
                <a16:creationId xmlns:a16="http://schemas.microsoft.com/office/drawing/2014/main" id="{A0A103E8-A3F0-4484-8440-E1B18A6C949D}"/>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RECOMMENDATION 01</a:t>
            </a:r>
          </a:p>
        </p:txBody>
      </p:sp>
      <p:sp>
        <p:nvSpPr>
          <p:cNvPr id="5" name="Rectangle 4">
            <a:extLst>
              <a:ext uri="{FF2B5EF4-FFF2-40B4-BE49-F238E27FC236}">
                <a16:creationId xmlns:a16="http://schemas.microsoft.com/office/drawing/2014/main" id="{D8817906-3E8F-4E43-B3B1-3A69918BE019}"/>
              </a:ext>
            </a:extLst>
          </p:cNvPr>
          <p:cNvSpPr>
            <a:spLocks noGrp="1"/>
          </p:cNvSpPr>
          <p:nvPr/>
        </p:nvSpPr>
        <p:spPr>
          <a:xfrm>
            <a:off x="457200" y="1752600"/>
            <a:ext cx="5334000" cy="3143250"/>
          </a:xfrm>
          <a:prstGeom prst="rect">
            <a:avLst/>
          </a:prstGeom>
          <a:solidFill>
            <a:srgbClr val="E8EEF8"/>
          </a:solidFill>
          <a:ln w="9525">
            <a:solidFill>
              <a:srgbClr val="CED7E6"/>
            </a:solidFill>
          </a:ln>
        </p:spPr>
        <p:txBody>
          <a:bodyPr/>
          <a:lstStyle/>
          <a:p>
            <a:endParaRPr lang="en-US"/>
          </a:p>
        </p:txBody>
      </p:sp>
      <p:sp>
        <p:nvSpPr>
          <p:cNvPr id="6" name="Rectangle 5">
            <a:extLst>
              <a:ext uri="{FF2B5EF4-FFF2-40B4-BE49-F238E27FC236}">
                <a16:creationId xmlns:a16="http://schemas.microsoft.com/office/drawing/2014/main" id="{EB18CC01-EDA4-4C70-A0BB-C584E19179C2}"/>
              </a:ext>
            </a:extLst>
          </p:cNvPr>
          <p:cNvSpPr>
            <a:spLocks noGrp="1"/>
          </p:cNvSpPr>
          <p:nvPr/>
        </p:nvSpPr>
        <p:spPr>
          <a:xfrm>
            <a:off x="6210300" y="1752600"/>
            <a:ext cx="5524500" cy="3143250"/>
          </a:xfrm>
          <a:prstGeom prst="rect">
            <a:avLst/>
          </a:prstGeom>
          <a:solidFill>
            <a:srgbClr val="070154"/>
          </a:solidFill>
          <a:ln w="9525">
            <a:solidFill>
              <a:srgbClr val="0047FF"/>
            </a:solidFill>
          </a:ln>
        </p:spPr>
        <p:txBody>
          <a:bodyPr/>
          <a:lstStyle/>
          <a:p>
            <a:endParaRPr lang="en-US"/>
          </a:p>
        </p:txBody>
      </p:sp>
      <p:sp>
        <p:nvSpPr>
          <p:cNvPr id="7" name="Rectangle 6">
            <a:extLst>
              <a:ext uri="{FF2B5EF4-FFF2-40B4-BE49-F238E27FC236}">
                <a16:creationId xmlns:a16="http://schemas.microsoft.com/office/drawing/2014/main" id="{6C4BC9BE-8BA9-437D-91E9-1CCBF2013D80}"/>
              </a:ext>
            </a:extLst>
          </p:cNvPr>
          <p:cNvSpPr>
            <a:spLocks noGrp="1"/>
          </p:cNvSpPr>
          <p:nvPr/>
        </p:nvSpPr>
        <p:spPr>
          <a:xfrm>
            <a:off x="736600" y="1981200"/>
            <a:ext cx="25781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WHAT SHOULD BE DONE</a:t>
            </a:r>
          </a:p>
        </p:txBody>
      </p:sp>
      <p:sp>
        <p:nvSpPr>
          <p:cNvPr id="8" name="Rectangle 7">
            <a:extLst>
              <a:ext uri="{FF2B5EF4-FFF2-40B4-BE49-F238E27FC236}">
                <a16:creationId xmlns:a16="http://schemas.microsoft.com/office/drawing/2014/main" id="{5EF97575-5568-414D-8D02-09D6115758E1}"/>
              </a:ext>
            </a:extLst>
          </p:cNvPr>
          <p:cNvSpPr>
            <a:spLocks noGrp="1"/>
          </p:cNvSpPr>
          <p:nvPr/>
        </p:nvSpPr>
        <p:spPr>
          <a:xfrm>
            <a:off x="685800" y="2381250"/>
            <a:ext cx="4762500" cy="2095500"/>
          </a:xfrm>
          <a:prstGeom prst="rect">
            <a:avLst/>
          </a:prstGeom>
          <a:noFill/>
          <a:ln w="0">
            <a:noFill/>
          </a:ln>
        </p:spPr>
        <p:txBody>
          <a:bodyPr lIns="91440" tIns="45720" rIns="91440" bIns="45720" anchor="t">
            <a:normAutofit/>
          </a:bodyPr>
          <a:lstStyle/>
          <a:p>
            <a:pPr marL="342900" indent="-342900">
              <a:lnSpc>
                <a:spcPct val="108000"/>
              </a:lnSpc>
              <a:buFont typeface="+mj-lt"/>
              <a:buAutoNum type="arabicPeriod"/>
              <a:defRPr sz="1275" b="0" i="0">
                <a:solidFill>
                  <a:srgbClr val="070154"/>
                </a:solidFill>
                <a:latin typeface="Arial"/>
                <a:ea typeface="Arial"/>
                <a:cs typeface="Arial"/>
              </a:defRPr>
            </a:pPr>
            <a:r>
              <a:rPr sz="1200" b="0" i="0">
                <a:solidFill>
                  <a:srgbClr val="070154"/>
                </a:solidFill>
                <a:latin typeface="Arial"/>
                <a:ea typeface="Arial"/>
                <a:cs typeface="Arial"/>
              </a:rPr>
              <a:t>Set explicit decision criteria for value, urgency, feasibility, and dependency before commitments are made.</a:t>
            </a:r>
          </a:p>
          <a:p>
            <a:pPr marL="342900" indent="-342900">
              <a:buFont typeface="+mj-lt"/>
              <a:buAutoNum type="arabicPeriod"/>
            </a:pPr>
            <a:endParaRPr sz="1200" b="0" i="0">
              <a:solidFill>
                <a:srgbClr val="070154"/>
              </a:solidFill>
              <a:latin typeface="Arial"/>
              <a:ea typeface="Arial"/>
              <a:cs typeface="Arial"/>
            </a:endParaRPr>
          </a:p>
          <a:p>
            <a:pPr marL="342900" indent="-342900">
              <a:lnSpc>
                <a:spcPct val="108000"/>
              </a:lnSpc>
              <a:buAutoNum type="arabicPeriod"/>
              <a:defRPr sz="1275" b="0" i="0">
                <a:solidFill>
                  <a:srgbClr val="070154"/>
                </a:solidFill>
                <a:latin typeface="Arial"/>
                <a:ea typeface="Arial"/>
                <a:cs typeface="Arial"/>
              </a:defRPr>
            </a:pPr>
            <a:r>
              <a:rPr lang="en-US" sz="1200">
                <a:solidFill>
                  <a:srgbClr val="070154"/>
                </a:solidFill>
                <a:latin typeface="Arial"/>
                <a:ea typeface="Arial"/>
                <a:cs typeface="Arial"/>
              </a:rPr>
              <a:t>Protect</a:t>
            </a:r>
            <a:r>
              <a:rPr lang="en-US" sz="1200" b="0" i="0">
                <a:solidFill>
                  <a:srgbClr val="070154"/>
                </a:solidFill>
                <a:latin typeface="Arial"/>
                <a:ea typeface="Arial"/>
                <a:cs typeface="Arial"/>
              </a:rPr>
              <a:t> capacity for high-value work</a:t>
            </a:r>
            <a:r>
              <a:rPr lang="en-US" sz="1200">
                <a:solidFill>
                  <a:srgbClr val="070154"/>
                </a:solidFill>
                <a:latin typeface="Arial"/>
                <a:ea typeface="Arial"/>
                <a:cs typeface="Arial"/>
              </a:rPr>
              <a:t>,</a:t>
            </a:r>
            <a:r>
              <a:rPr lang="en-US" sz="1200">
                <a:solidFill>
                  <a:srgbClr val="070154"/>
                </a:solidFill>
                <a:ea typeface="+mn-lt"/>
                <a:cs typeface="+mn-lt"/>
              </a:rPr>
              <a:t> with an explicit allocation for support, patches, and escalations</a:t>
            </a:r>
            <a:r>
              <a:rPr lang="en-US" sz="1200">
                <a:solidFill>
                  <a:srgbClr val="070154"/>
                </a:solidFill>
                <a:latin typeface="Arial"/>
                <a:ea typeface="Arial"/>
                <a:cs typeface="Arial"/>
              </a:rPr>
              <a:t> </a:t>
            </a:r>
            <a:r>
              <a:rPr lang="en-US" sz="1200" b="0" i="0">
                <a:solidFill>
                  <a:srgbClr val="070154"/>
                </a:solidFill>
                <a:latin typeface="Arial"/>
                <a:ea typeface="Arial"/>
                <a:cs typeface="Arial"/>
              </a:rPr>
              <a:t>and show a credible </a:t>
            </a:r>
            <a:r>
              <a:rPr lang="en-US" sz="1200">
                <a:solidFill>
                  <a:srgbClr val="070154"/>
                </a:solidFill>
                <a:latin typeface="Arial"/>
                <a:ea typeface="Arial"/>
                <a:cs typeface="Arial"/>
              </a:rPr>
              <a:t>3-4 sprint </a:t>
            </a:r>
            <a:r>
              <a:rPr lang="en-US" sz="1200" b="0" i="0">
                <a:solidFill>
                  <a:srgbClr val="070154"/>
                </a:solidFill>
                <a:latin typeface="Arial"/>
                <a:ea typeface="Arial"/>
                <a:cs typeface="Arial"/>
              </a:rPr>
              <a:t>view.</a:t>
            </a:r>
            <a:endParaRPr lang="en-US"/>
          </a:p>
          <a:p>
            <a:pPr marL="342900" indent="-342900">
              <a:buFont typeface="+mj-lt"/>
              <a:buAutoNum type="arabicPeriod"/>
            </a:pPr>
            <a:endParaRPr sz="1200" b="0" i="0">
              <a:solidFill>
                <a:srgbClr val="070154"/>
              </a:solidFill>
              <a:latin typeface="Arial"/>
              <a:ea typeface="Arial"/>
              <a:cs typeface="Arial"/>
            </a:endParaRPr>
          </a:p>
          <a:p>
            <a:pPr marL="342900" indent="-342900">
              <a:lnSpc>
                <a:spcPct val="108000"/>
              </a:lnSpc>
              <a:buFont typeface="+mj-lt"/>
              <a:buAutoNum type="arabicPeriod"/>
              <a:defRPr sz="1275" b="0" i="0">
                <a:solidFill>
                  <a:srgbClr val="070154"/>
                </a:solidFill>
                <a:latin typeface="Arial"/>
                <a:ea typeface="Arial"/>
                <a:cs typeface="Arial"/>
              </a:defRPr>
            </a:pPr>
            <a:r>
              <a:rPr sz="1200" b="0" i="0">
                <a:solidFill>
                  <a:srgbClr val="070154"/>
                </a:solidFill>
                <a:latin typeface="Arial"/>
                <a:ea typeface="Arial"/>
                <a:cs typeface="Arial"/>
              </a:rPr>
              <a:t>Require Engineering-informed effort and risk input before customer dates become commitments.</a:t>
            </a:r>
          </a:p>
        </p:txBody>
      </p:sp>
      <p:sp>
        <p:nvSpPr>
          <p:cNvPr id="9" name="Rectangle 8">
            <a:extLst>
              <a:ext uri="{FF2B5EF4-FFF2-40B4-BE49-F238E27FC236}">
                <a16:creationId xmlns:a16="http://schemas.microsoft.com/office/drawing/2014/main" id="{512D65D9-23CD-4971-BDB2-7B99BA913F12}"/>
              </a:ext>
            </a:extLst>
          </p:cNvPr>
          <p:cNvSpPr>
            <a:spLocks noGrp="1"/>
          </p:cNvSpPr>
          <p:nvPr/>
        </p:nvSpPr>
        <p:spPr>
          <a:xfrm>
            <a:off x="6489700" y="1981200"/>
            <a:ext cx="2578100" cy="171450"/>
          </a:xfrm>
          <a:prstGeom prst="rect">
            <a:avLst/>
          </a:prstGeom>
          <a:noFill/>
          <a:ln w="0">
            <a:noFill/>
          </a:ln>
        </p:spPr>
        <p:txBody>
          <a:bodyPr anchor="t">
            <a:noAutofit/>
          </a:bodyPr>
          <a:lstStyle/>
          <a:p>
            <a:pPr>
              <a:lnSpc>
                <a:spcPct val="108000"/>
              </a:lnSpc>
              <a:buNone/>
              <a:defRPr sz="750" b="1" i="0">
                <a:solidFill>
                  <a:srgbClr val="00A3FF"/>
                </a:solidFill>
                <a:latin typeface="Arial"/>
                <a:ea typeface="Arial"/>
                <a:cs typeface="Arial"/>
              </a:defRPr>
            </a:pPr>
            <a:r>
              <a:rPr sz="1100" b="1" i="0">
                <a:solidFill>
                  <a:srgbClr val="00A3FF"/>
                </a:solidFill>
                <a:latin typeface="Arial"/>
                <a:ea typeface="Arial"/>
                <a:cs typeface="Arial"/>
              </a:rPr>
              <a:t>HOW TO ACTIVATE IT</a:t>
            </a:r>
          </a:p>
        </p:txBody>
      </p:sp>
      <p:sp>
        <p:nvSpPr>
          <p:cNvPr id="10" name="Rectangle 9">
            <a:extLst>
              <a:ext uri="{FF2B5EF4-FFF2-40B4-BE49-F238E27FC236}">
                <a16:creationId xmlns:a16="http://schemas.microsoft.com/office/drawing/2014/main" id="{4651B3C5-E06B-4FB1-8090-D23E7D354DDD}"/>
              </a:ext>
            </a:extLst>
          </p:cNvPr>
          <p:cNvSpPr>
            <a:spLocks noGrp="1"/>
          </p:cNvSpPr>
          <p:nvPr/>
        </p:nvSpPr>
        <p:spPr>
          <a:xfrm>
            <a:off x="6438900" y="2381250"/>
            <a:ext cx="4953000" cy="2095500"/>
          </a:xfrm>
          <a:prstGeom prst="rect">
            <a:avLst/>
          </a:prstGeom>
          <a:noFill/>
          <a:ln w="0">
            <a:noFill/>
          </a:ln>
        </p:spPr>
        <p:txBody>
          <a:bodyPr lIns="91440" tIns="45720" rIns="91440" bIns="45720" anchor="t">
            <a:normAutofit/>
          </a:bodyPr>
          <a:lstStyle/>
          <a:p>
            <a:pPr marL="342900" indent="-342900">
              <a:lnSpc>
                <a:spcPct val="108000"/>
              </a:lnSpc>
              <a:buFont typeface="+mj-lt"/>
              <a:buAutoNum type="arabicPeriod"/>
              <a:defRPr sz="1275" b="0" i="0">
                <a:solidFill>
                  <a:srgbClr val="FFFFFF"/>
                </a:solidFill>
                <a:latin typeface="Arial"/>
                <a:ea typeface="Arial"/>
                <a:cs typeface="Arial"/>
              </a:defRPr>
            </a:pPr>
            <a:r>
              <a:rPr sz="1200" b="0" i="0">
                <a:solidFill>
                  <a:srgbClr val="FFFFFF"/>
                </a:solidFill>
                <a:latin typeface="Arial"/>
                <a:ea typeface="Arial"/>
                <a:cs typeface="Arial"/>
              </a:rPr>
              <a:t>Select one live initiative and apply the criteria to the next prioritization decision.</a:t>
            </a:r>
          </a:p>
          <a:p>
            <a:pPr marL="342900" indent="-342900">
              <a:buFont typeface="+mj-lt"/>
              <a:buAutoNum type="arabicPeriod"/>
            </a:pPr>
            <a:endParaRPr sz="1200" b="0" i="0">
              <a:solidFill>
                <a:srgbClr val="FFFFFF"/>
              </a:solidFill>
              <a:latin typeface="Arial"/>
              <a:ea typeface="Arial"/>
              <a:cs typeface="Arial"/>
            </a:endParaRPr>
          </a:p>
          <a:p>
            <a:pPr marL="342900" indent="-342900">
              <a:lnSpc>
                <a:spcPct val="108000"/>
              </a:lnSpc>
              <a:buFont typeface="+mj-lt"/>
              <a:buAutoNum type="arabicPeriod"/>
              <a:defRPr sz="1275" b="0" i="0">
                <a:solidFill>
                  <a:srgbClr val="FFFFFF"/>
                </a:solidFill>
                <a:latin typeface="Arial"/>
                <a:ea typeface="Arial"/>
                <a:cs typeface="Arial"/>
              </a:defRPr>
            </a:pPr>
            <a:r>
              <a:rPr sz="1200" b="0" i="0">
                <a:solidFill>
                  <a:srgbClr val="FFFFFF"/>
                </a:solidFill>
                <a:latin typeface="Arial"/>
                <a:ea typeface="Arial"/>
                <a:cs typeface="Arial"/>
              </a:rPr>
              <a:t>Compare the committed scope with evidence and capacity, then record the trade-off.</a:t>
            </a:r>
          </a:p>
          <a:p>
            <a:pPr marL="342900" indent="-342900">
              <a:buFont typeface="+mj-lt"/>
              <a:buAutoNum type="arabicPeriod"/>
            </a:pPr>
            <a:endParaRPr sz="1200" b="0" i="0">
              <a:solidFill>
                <a:srgbClr val="FFFFFF"/>
              </a:solidFill>
              <a:latin typeface="Arial"/>
              <a:ea typeface="Arial"/>
              <a:cs typeface="Arial"/>
            </a:endParaRPr>
          </a:p>
          <a:p>
            <a:pPr marL="342900" indent="-342900">
              <a:lnSpc>
                <a:spcPct val="108000"/>
              </a:lnSpc>
              <a:buAutoNum type="arabicPeriod"/>
              <a:defRPr sz="1275" b="0" i="0">
                <a:solidFill>
                  <a:srgbClr val="FFFFFF"/>
                </a:solidFill>
                <a:latin typeface="Arial"/>
                <a:ea typeface="Arial"/>
                <a:cs typeface="Arial"/>
              </a:defRPr>
            </a:pPr>
            <a:r>
              <a:rPr lang="en-US" sz="1200" b="0" i="0">
                <a:solidFill>
                  <a:srgbClr val="FFFFFF"/>
                </a:solidFill>
                <a:latin typeface="Arial"/>
                <a:ea typeface="Arial"/>
                <a:cs typeface="Arial"/>
              </a:rPr>
              <a:t>Review predictability, scope changes, and rework in the activation cadence</a:t>
            </a:r>
            <a:r>
              <a:rPr lang="en-US" sz="1200">
                <a:solidFill>
                  <a:srgbClr val="FFFFFF"/>
                </a:solidFill>
                <a:latin typeface="Arial"/>
                <a:ea typeface="Arial"/>
                <a:cs typeface="Arial"/>
              </a:rPr>
              <a:t>, using flow data where teams have moved off story points.</a:t>
            </a:r>
            <a:br>
              <a:rPr lang="en-US" sz="1200">
                <a:latin typeface="Arial"/>
                <a:ea typeface="Arial"/>
                <a:cs typeface="Arial"/>
              </a:rPr>
            </a:br>
            <a:endParaRPr lang="en-US" sz="1200" b="0" i="0">
              <a:solidFill>
                <a:srgbClr val="FFFFFF"/>
              </a:solidFill>
              <a:latin typeface="Arial"/>
              <a:ea typeface="Arial"/>
              <a:cs typeface="Arial"/>
            </a:endParaRPr>
          </a:p>
        </p:txBody>
      </p:sp>
      <p:sp>
        <p:nvSpPr>
          <p:cNvPr id="11" name="Rectangle 10">
            <a:extLst>
              <a:ext uri="{FF2B5EF4-FFF2-40B4-BE49-F238E27FC236}">
                <a16:creationId xmlns:a16="http://schemas.microsoft.com/office/drawing/2014/main" id="{89FFA5F7-1BD2-4DF0-AE84-00E3D77A874E}"/>
              </a:ext>
            </a:extLst>
          </p:cNvPr>
          <p:cNvSpPr>
            <a:spLocks noGrp="1"/>
          </p:cNvSpPr>
          <p:nvPr/>
        </p:nvSpPr>
        <p:spPr>
          <a:xfrm>
            <a:off x="457200" y="5124450"/>
            <a:ext cx="11277600" cy="590550"/>
          </a:xfrm>
          <a:prstGeom prst="rect">
            <a:avLst/>
          </a:prstGeom>
          <a:solidFill>
            <a:srgbClr val="0047FF"/>
          </a:solidFill>
          <a:ln w="0">
            <a:noFill/>
          </a:ln>
        </p:spPr>
        <p:txBody>
          <a:bodyPr/>
          <a:lstStyle/>
          <a:p>
            <a:endParaRPr lang="en-US"/>
          </a:p>
        </p:txBody>
      </p:sp>
      <p:sp>
        <p:nvSpPr>
          <p:cNvPr id="12" name="Rectangle 11">
            <a:extLst>
              <a:ext uri="{FF2B5EF4-FFF2-40B4-BE49-F238E27FC236}">
                <a16:creationId xmlns:a16="http://schemas.microsoft.com/office/drawing/2014/main" id="{90E07EE7-25C6-430D-B01A-0353DCC17963}"/>
              </a:ext>
            </a:extLst>
          </p:cNvPr>
          <p:cNvSpPr>
            <a:spLocks noGrp="1"/>
          </p:cNvSpPr>
          <p:nvPr/>
        </p:nvSpPr>
        <p:spPr>
          <a:xfrm>
            <a:off x="685800" y="5207000"/>
            <a:ext cx="10820400" cy="431800"/>
          </a:xfrm>
          <a:prstGeom prst="rect">
            <a:avLst/>
          </a:prstGeom>
          <a:noFill/>
          <a:ln w="0">
            <a:noFill/>
          </a:ln>
        </p:spPr>
        <p:txBody>
          <a:bodyPr lIns="91440" tIns="45720" rIns="91440" bIns="45720" anchor="t">
            <a:normAutofit fontScale="92518"/>
          </a:bodyPr>
          <a:lstStyle/>
          <a:p>
            <a:pPr>
              <a:lnSpc>
                <a:spcPct val="108000"/>
              </a:lnSpc>
              <a:defRPr sz="1050" b="1" i="0">
                <a:solidFill>
                  <a:srgbClr val="FFFFFF"/>
                </a:solidFill>
                <a:latin typeface="Arial"/>
                <a:ea typeface="Arial"/>
                <a:cs typeface="Arial"/>
              </a:defRPr>
            </a:pPr>
            <a:r>
              <a:rPr lang="en-US" sz="1100" b="1" i="0">
                <a:solidFill>
                  <a:srgbClr val="FFFFFF"/>
                </a:solidFill>
                <a:latin typeface="Arial"/>
                <a:ea typeface="Arial"/>
                <a:cs typeface="Arial"/>
              </a:rPr>
              <a:t>Owner: Product leadership + Engineering leadership | Dependency: roadmap, customer commitments, capacity data | Measure: commitment predictability</a:t>
            </a:r>
            <a:r>
              <a:rPr lang="en-US" sz="1100" b="1">
                <a:solidFill>
                  <a:srgbClr val="FFFFFF"/>
                </a:solidFill>
                <a:latin typeface="Arial"/>
                <a:ea typeface="Arial"/>
                <a:cs typeface="Arial"/>
              </a:rPr>
              <a:t>,</a:t>
            </a:r>
            <a:r>
              <a:rPr lang="en-US" sz="1100" b="1" i="0">
                <a:solidFill>
                  <a:srgbClr val="FFFFFF"/>
                </a:solidFill>
                <a:latin typeface="Arial"/>
                <a:ea typeface="Arial"/>
                <a:cs typeface="Arial"/>
              </a:rPr>
              <a:t> late scope change rate</a:t>
            </a:r>
            <a:r>
              <a:rPr lang="en-US" sz="1100" b="1">
                <a:solidFill>
                  <a:srgbClr val="FFFFFF"/>
                </a:solidFill>
                <a:latin typeface="Arial"/>
                <a:ea typeface="Arial"/>
                <a:cs typeface="Arial"/>
              </a:rPr>
              <a:t>, and share of capacity spent on unplanned work</a:t>
            </a:r>
            <a:endParaRPr lang="en-US"/>
          </a:p>
        </p:txBody>
      </p:sp>
      <p:pic>
        <p:nvPicPr>
          <p:cNvPr id="14" name="Graphic 14" descr="What should be don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504" y="1879600"/>
            <a:ext cx="304800" cy="304800"/>
          </a:xfrm>
          <a:prstGeom prst="rect">
            <a:avLst/>
          </a:prstGeom>
        </p:spPr>
      </p:pic>
      <p:pic>
        <p:nvPicPr>
          <p:cNvPr id="15" name="Graphic 15" descr="How to activate it"/>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4656" y="1879600"/>
            <a:ext cx="304800" cy="304800"/>
          </a:xfrm>
          <a:prstGeom prst="rect">
            <a:avLst/>
          </a:prstGeom>
        </p:spPr>
      </p:pic>
      <p:sp>
        <p:nvSpPr>
          <p:cNvPr id="16" name="RecAccentBarLeft">
            <a:extLst>
              <a:ext uri="{FF2B5EF4-FFF2-40B4-BE49-F238E27FC236}">
                <a16:creationId xmlns:a16="http://schemas.microsoft.com/office/drawing/2014/main" id="{4E39C5AC-7CA0-634E-B760-61FC215931B9}"/>
              </a:ext>
            </a:extLst>
          </p:cNvPr>
          <p:cNvSpPr/>
          <p:nvPr/>
        </p:nvSpPr>
        <p:spPr>
          <a:xfrm>
            <a:off x="457200" y="1752600"/>
            <a:ext cx="5334000" cy="635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AccentBarRight">
            <a:extLst>
              <a:ext uri="{FF2B5EF4-FFF2-40B4-BE49-F238E27FC236}">
                <a16:creationId xmlns:a16="http://schemas.microsoft.com/office/drawing/2014/main" id="{35F485A0-B750-1046-A39E-919BE4141BF6}"/>
              </a:ext>
            </a:extLst>
          </p:cNvPr>
          <p:cNvSpPr/>
          <p:nvPr/>
        </p:nvSpPr>
        <p:spPr>
          <a:xfrm>
            <a:off x="6210300" y="1752600"/>
            <a:ext cx="5524500" cy="63500"/>
          </a:xfrm>
          <a:prstGeom prst="rect">
            <a:avLst/>
          </a:prstGeom>
          <a:solidFill>
            <a:srgbClr val="F900D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Footer Placeholder 1">
            <a:extLst>
              <a:ext uri="{FF2B5EF4-FFF2-40B4-BE49-F238E27FC236}">
                <a16:creationId xmlns:a16="http://schemas.microsoft.com/office/drawing/2014/main" id="{981D6D55-E619-785F-9D1D-21B3BFEFAA59}"/>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19" name="Slide Number Placeholder 2">
            <a:extLst>
              <a:ext uri="{FF2B5EF4-FFF2-40B4-BE49-F238E27FC236}">
                <a16:creationId xmlns:a16="http://schemas.microsoft.com/office/drawing/2014/main" id="{CC9DA336-19F2-BC3E-6DE6-B70CE4A738FB}"/>
              </a:ext>
            </a:extLst>
          </p:cNvPr>
          <p:cNvSpPr>
            <a:spLocks noGrp="1"/>
          </p:cNvSpPr>
          <p:nvPr>
            <p:ph type="sldNum" idx="11"/>
          </p:nvPr>
        </p:nvSpPr>
        <p:spPr>
          <a:xfrm>
            <a:off x="11509578" y="6400799"/>
            <a:ext cx="218871" cy="167949"/>
          </a:xfrm>
        </p:spPr>
        <p:txBody>
          <a:bodyPr/>
          <a:lstStyle/>
          <a:p>
            <a:fld id="{63DCA5C9-2E11-4C67-86EB-AE1DE127DC64}" type="slidenum">
              <a:rPr lang="en-US" smtClean="0"/>
              <a:t>26</a:t>
            </a:fld>
            <a:endParaRPr lang="en-US"/>
          </a:p>
        </p:txBody>
      </p:sp>
    </p:spTree>
    <p:extLst>
      <p:ext uri="{BB962C8B-B14F-4D97-AF65-F5344CB8AC3E}">
        <p14:creationId xmlns:p14="http://schemas.microsoft.com/office/powerpoint/2010/main" val="2876279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DD92DCE1-1A6B-4EC1-B1B9-8AA3FE3525D1}"/>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Product management as business ownership</a:t>
            </a:r>
          </a:p>
        </p:txBody>
      </p:sp>
      <p:sp>
        <p:nvSpPr>
          <p:cNvPr id="3" name="Rectangle 2">
            <a:extLst>
              <a:ext uri="{FF2B5EF4-FFF2-40B4-BE49-F238E27FC236}">
                <a16:creationId xmlns:a16="http://schemas.microsoft.com/office/drawing/2014/main" id="{9E2A4886-F2E0-404A-92AB-8C25633E101A}"/>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Shift Product accountability toward customer evidence, outcomes, roadmap, adoption, and learning.</a:t>
            </a:r>
          </a:p>
        </p:txBody>
      </p:sp>
      <p:sp>
        <p:nvSpPr>
          <p:cNvPr id="4" name="Rectangle 3">
            <a:extLst>
              <a:ext uri="{FF2B5EF4-FFF2-40B4-BE49-F238E27FC236}">
                <a16:creationId xmlns:a16="http://schemas.microsoft.com/office/drawing/2014/main" id="{6144C66B-991D-4D5C-BA84-A0D0F9D2D3EE}"/>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RECOMMENDATION 02</a:t>
            </a:r>
          </a:p>
        </p:txBody>
      </p:sp>
      <p:sp>
        <p:nvSpPr>
          <p:cNvPr id="5" name="Rectangle 4">
            <a:extLst>
              <a:ext uri="{FF2B5EF4-FFF2-40B4-BE49-F238E27FC236}">
                <a16:creationId xmlns:a16="http://schemas.microsoft.com/office/drawing/2014/main" id="{A8D7294B-78FE-42D4-AC4C-615A0951CBFD}"/>
              </a:ext>
            </a:extLst>
          </p:cNvPr>
          <p:cNvSpPr>
            <a:spLocks noGrp="1"/>
          </p:cNvSpPr>
          <p:nvPr/>
        </p:nvSpPr>
        <p:spPr>
          <a:xfrm>
            <a:off x="457200" y="1752600"/>
            <a:ext cx="5334000" cy="3143250"/>
          </a:xfrm>
          <a:prstGeom prst="rect">
            <a:avLst/>
          </a:prstGeom>
          <a:solidFill>
            <a:srgbClr val="E8EEF8"/>
          </a:solidFill>
          <a:ln w="9525">
            <a:solidFill>
              <a:srgbClr val="CED7E6"/>
            </a:solidFill>
          </a:ln>
        </p:spPr>
        <p:txBody>
          <a:bodyPr/>
          <a:lstStyle/>
          <a:p>
            <a:endParaRPr lang="en-US"/>
          </a:p>
        </p:txBody>
      </p:sp>
      <p:sp>
        <p:nvSpPr>
          <p:cNvPr id="6" name="Rectangle 5">
            <a:extLst>
              <a:ext uri="{FF2B5EF4-FFF2-40B4-BE49-F238E27FC236}">
                <a16:creationId xmlns:a16="http://schemas.microsoft.com/office/drawing/2014/main" id="{EC1C154C-FADE-4F8A-AE21-B8CB98D1B2C5}"/>
              </a:ext>
            </a:extLst>
          </p:cNvPr>
          <p:cNvSpPr>
            <a:spLocks noGrp="1"/>
          </p:cNvSpPr>
          <p:nvPr/>
        </p:nvSpPr>
        <p:spPr>
          <a:xfrm>
            <a:off x="6210300" y="1752600"/>
            <a:ext cx="5524500" cy="3143250"/>
          </a:xfrm>
          <a:prstGeom prst="rect">
            <a:avLst/>
          </a:prstGeom>
          <a:solidFill>
            <a:srgbClr val="070154"/>
          </a:solidFill>
          <a:ln w="9525">
            <a:solidFill>
              <a:srgbClr val="0047FF"/>
            </a:solidFill>
          </a:ln>
        </p:spPr>
        <p:txBody>
          <a:bodyPr/>
          <a:lstStyle/>
          <a:p>
            <a:endParaRPr lang="en-US"/>
          </a:p>
        </p:txBody>
      </p:sp>
      <p:sp>
        <p:nvSpPr>
          <p:cNvPr id="7" name="Rectangle 6">
            <a:extLst>
              <a:ext uri="{FF2B5EF4-FFF2-40B4-BE49-F238E27FC236}">
                <a16:creationId xmlns:a16="http://schemas.microsoft.com/office/drawing/2014/main" id="{62BA4FC5-006F-4867-9371-A6084B98027F}"/>
              </a:ext>
            </a:extLst>
          </p:cNvPr>
          <p:cNvSpPr>
            <a:spLocks noGrp="1"/>
          </p:cNvSpPr>
          <p:nvPr/>
        </p:nvSpPr>
        <p:spPr>
          <a:xfrm>
            <a:off x="736600" y="1981200"/>
            <a:ext cx="25781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WHAT SHOULD BE DONE</a:t>
            </a:r>
          </a:p>
        </p:txBody>
      </p:sp>
      <p:sp>
        <p:nvSpPr>
          <p:cNvPr id="8" name="Rectangle 7">
            <a:extLst>
              <a:ext uri="{FF2B5EF4-FFF2-40B4-BE49-F238E27FC236}">
                <a16:creationId xmlns:a16="http://schemas.microsoft.com/office/drawing/2014/main" id="{80DAE643-C754-4D92-8DBE-9B6A6F2E9120}"/>
              </a:ext>
            </a:extLst>
          </p:cNvPr>
          <p:cNvSpPr>
            <a:spLocks noGrp="1"/>
          </p:cNvSpPr>
          <p:nvPr/>
        </p:nvSpPr>
        <p:spPr>
          <a:xfrm>
            <a:off x="685800" y="2381250"/>
            <a:ext cx="4762500" cy="2095500"/>
          </a:xfrm>
          <a:prstGeom prst="rect">
            <a:avLst/>
          </a:prstGeom>
          <a:noFill/>
          <a:ln w="0">
            <a:noFill/>
          </a:ln>
        </p:spPr>
        <p:txBody>
          <a:bodyPr anchor="t">
            <a:noAutofit/>
          </a:bodyPr>
          <a:lstStyle/>
          <a:p>
            <a:pPr marL="342900" indent="-342900">
              <a:lnSpc>
                <a:spcPct val="108000"/>
              </a:lnSpc>
              <a:buFont typeface="+mj-lt"/>
              <a:buAutoNum type="arabicPeriod"/>
              <a:defRPr sz="1275" b="0" i="0">
                <a:solidFill>
                  <a:srgbClr val="070154"/>
                </a:solidFill>
                <a:latin typeface="Arial"/>
                <a:ea typeface="Arial"/>
                <a:cs typeface="Arial"/>
              </a:defRPr>
            </a:pPr>
            <a:r>
              <a:rPr sz="1200" b="0" i="0">
                <a:solidFill>
                  <a:srgbClr val="070154"/>
                </a:solidFill>
                <a:latin typeface="Arial"/>
                <a:ea typeface="Arial"/>
                <a:cs typeface="Arial"/>
              </a:rPr>
              <a:t>Define what Product owns from opportunity through post-launch learning, separate from backlog administration.</a:t>
            </a:r>
          </a:p>
          <a:p>
            <a:pPr marL="342900" indent="-342900">
              <a:buFont typeface="+mj-lt"/>
              <a:buAutoNum type="arabicPeriod"/>
            </a:pPr>
            <a:endParaRPr sz="1200" b="0" i="0">
              <a:solidFill>
                <a:srgbClr val="070154"/>
              </a:solidFill>
              <a:latin typeface="Arial"/>
              <a:ea typeface="Arial"/>
              <a:cs typeface="Arial"/>
            </a:endParaRPr>
          </a:p>
          <a:p>
            <a:pPr marL="342900" indent="-342900">
              <a:lnSpc>
                <a:spcPct val="108000"/>
              </a:lnSpc>
              <a:buFont typeface="+mj-lt"/>
              <a:buAutoNum type="arabicPeriod"/>
              <a:defRPr sz="1275" b="0" i="0">
                <a:solidFill>
                  <a:srgbClr val="070154"/>
                </a:solidFill>
                <a:latin typeface="Arial"/>
                <a:ea typeface="Arial"/>
                <a:cs typeface="Arial"/>
              </a:defRPr>
            </a:pPr>
            <a:r>
              <a:rPr sz="1200" b="0" i="0">
                <a:solidFill>
                  <a:srgbClr val="070154"/>
                </a:solidFill>
                <a:latin typeface="Arial"/>
                <a:ea typeface="Arial"/>
                <a:cs typeface="Arial"/>
              </a:rPr>
              <a:t>Clarify decision rights across Product Manager, Product Owner, Engineering Lead, Sales, and Operations.</a:t>
            </a:r>
          </a:p>
          <a:p>
            <a:pPr marL="342900" indent="-342900">
              <a:buFont typeface="+mj-lt"/>
              <a:buAutoNum type="arabicPeriod"/>
            </a:pPr>
            <a:endParaRPr sz="1200" b="0" i="0">
              <a:solidFill>
                <a:srgbClr val="070154"/>
              </a:solidFill>
              <a:latin typeface="Arial"/>
              <a:ea typeface="Arial"/>
              <a:cs typeface="Arial"/>
            </a:endParaRPr>
          </a:p>
          <a:p>
            <a:pPr marL="342900" indent="-342900">
              <a:lnSpc>
                <a:spcPct val="108000"/>
              </a:lnSpc>
              <a:buFont typeface="+mj-lt"/>
              <a:buAutoNum type="arabicPeriod"/>
              <a:defRPr sz="1275" b="0" i="0">
                <a:solidFill>
                  <a:srgbClr val="070154"/>
                </a:solidFill>
                <a:latin typeface="Arial"/>
                <a:ea typeface="Arial"/>
                <a:cs typeface="Arial"/>
              </a:defRPr>
            </a:pPr>
            <a:r>
              <a:rPr sz="1200" b="0" i="0">
                <a:solidFill>
                  <a:srgbClr val="070154"/>
                </a:solidFill>
                <a:latin typeface="Arial"/>
                <a:ea typeface="Arial"/>
                <a:cs typeface="Arial"/>
              </a:rPr>
              <a:t>Use the opportunity brief and PRD to carry business context and decision logic into delivery.</a:t>
            </a:r>
          </a:p>
        </p:txBody>
      </p:sp>
      <p:sp>
        <p:nvSpPr>
          <p:cNvPr id="9" name="Rectangle 8">
            <a:extLst>
              <a:ext uri="{FF2B5EF4-FFF2-40B4-BE49-F238E27FC236}">
                <a16:creationId xmlns:a16="http://schemas.microsoft.com/office/drawing/2014/main" id="{124A3588-6B19-433A-8A84-6532A1C123F4}"/>
              </a:ext>
            </a:extLst>
          </p:cNvPr>
          <p:cNvSpPr>
            <a:spLocks noGrp="1"/>
          </p:cNvSpPr>
          <p:nvPr/>
        </p:nvSpPr>
        <p:spPr>
          <a:xfrm>
            <a:off x="6489700" y="1981200"/>
            <a:ext cx="2578100" cy="171450"/>
          </a:xfrm>
          <a:prstGeom prst="rect">
            <a:avLst/>
          </a:prstGeom>
          <a:noFill/>
          <a:ln w="0">
            <a:noFill/>
          </a:ln>
        </p:spPr>
        <p:txBody>
          <a:bodyPr anchor="t">
            <a:noAutofit/>
          </a:bodyPr>
          <a:lstStyle/>
          <a:p>
            <a:pPr>
              <a:lnSpc>
                <a:spcPct val="108000"/>
              </a:lnSpc>
              <a:buNone/>
              <a:defRPr sz="750" b="1" i="0">
                <a:solidFill>
                  <a:srgbClr val="00A3FF"/>
                </a:solidFill>
                <a:latin typeface="Arial"/>
                <a:ea typeface="Arial"/>
                <a:cs typeface="Arial"/>
              </a:defRPr>
            </a:pPr>
            <a:r>
              <a:rPr sz="1100" b="1" i="0">
                <a:solidFill>
                  <a:srgbClr val="00A3FF"/>
                </a:solidFill>
                <a:latin typeface="Arial"/>
                <a:ea typeface="Arial"/>
                <a:cs typeface="Arial"/>
              </a:rPr>
              <a:t>HOW TO ACTIVATE IT</a:t>
            </a:r>
          </a:p>
        </p:txBody>
      </p:sp>
      <p:sp>
        <p:nvSpPr>
          <p:cNvPr id="10" name="Rectangle 9">
            <a:extLst>
              <a:ext uri="{FF2B5EF4-FFF2-40B4-BE49-F238E27FC236}">
                <a16:creationId xmlns:a16="http://schemas.microsoft.com/office/drawing/2014/main" id="{FEFDC7C2-C4E0-4A2C-B28F-6DDCCE9027E4}"/>
              </a:ext>
            </a:extLst>
          </p:cNvPr>
          <p:cNvSpPr>
            <a:spLocks noGrp="1"/>
          </p:cNvSpPr>
          <p:nvPr/>
        </p:nvSpPr>
        <p:spPr>
          <a:xfrm>
            <a:off x="6438900" y="2381250"/>
            <a:ext cx="4953000" cy="2095500"/>
          </a:xfrm>
          <a:prstGeom prst="rect">
            <a:avLst/>
          </a:prstGeom>
          <a:noFill/>
          <a:ln w="0">
            <a:noFill/>
          </a:ln>
        </p:spPr>
        <p:txBody>
          <a:bodyPr anchor="t">
            <a:normAutofit/>
          </a:bodyPr>
          <a:lstStyle/>
          <a:p>
            <a:pPr marL="342900" indent="-342900">
              <a:lnSpc>
                <a:spcPct val="108000"/>
              </a:lnSpc>
              <a:buFont typeface="+mj-lt"/>
              <a:buAutoNum type="arabicPeriod"/>
              <a:defRPr sz="1275" b="0" i="0">
                <a:solidFill>
                  <a:srgbClr val="FFFFFF"/>
                </a:solidFill>
                <a:latin typeface="Arial"/>
                <a:ea typeface="Arial"/>
                <a:cs typeface="Arial"/>
              </a:defRPr>
            </a:pPr>
            <a:r>
              <a:rPr sz="1200" b="0" i="0">
                <a:solidFill>
                  <a:srgbClr val="FFFFFF"/>
                </a:solidFill>
                <a:latin typeface="Arial"/>
                <a:ea typeface="Arial"/>
                <a:cs typeface="Arial"/>
              </a:rPr>
              <a:t>Map current decision rights and identify one gap that slows the live initiative.</a:t>
            </a:r>
          </a:p>
          <a:p>
            <a:pPr marL="342900" indent="-342900">
              <a:buFont typeface="+mj-lt"/>
              <a:buAutoNum type="arabicPeriod"/>
            </a:pPr>
            <a:endParaRPr sz="1200" b="0" i="0">
              <a:solidFill>
                <a:srgbClr val="FFFFFF"/>
              </a:solidFill>
              <a:latin typeface="Arial"/>
              <a:ea typeface="Arial"/>
              <a:cs typeface="Arial"/>
            </a:endParaRPr>
          </a:p>
          <a:p>
            <a:pPr marL="342900" indent="-342900">
              <a:lnSpc>
                <a:spcPct val="108000"/>
              </a:lnSpc>
              <a:buFont typeface="+mj-lt"/>
              <a:buAutoNum type="arabicPeriod"/>
              <a:defRPr sz="1275" b="0" i="0">
                <a:solidFill>
                  <a:srgbClr val="FFFFFF"/>
                </a:solidFill>
                <a:latin typeface="Arial"/>
                <a:ea typeface="Arial"/>
                <a:cs typeface="Arial"/>
              </a:defRPr>
            </a:pPr>
            <a:r>
              <a:rPr sz="1200" b="0" i="0">
                <a:solidFill>
                  <a:srgbClr val="FFFFFF"/>
                </a:solidFill>
                <a:latin typeface="Arial"/>
                <a:ea typeface="Arial"/>
                <a:cs typeface="Arial"/>
              </a:rPr>
              <a:t>Assign a PM owner for the initiative's outcome and learning loop.</a:t>
            </a:r>
          </a:p>
          <a:p>
            <a:pPr marL="342900" indent="-342900">
              <a:buFont typeface="+mj-lt"/>
              <a:buAutoNum type="arabicPeriod"/>
            </a:pPr>
            <a:endParaRPr sz="1200" b="0" i="0">
              <a:solidFill>
                <a:srgbClr val="FFFFFF"/>
              </a:solidFill>
              <a:latin typeface="Arial"/>
              <a:ea typeface="Arial"/>
              <a:cs typeface="Arial"/>
            </a:endParaRPr>
          </a:p>
          <a:p>
            <a:pPr marL="342900" indent="-342900">
              <a:lnSpc>
                <a:spcPct val="108000"/>
              </a:lnSpc>
              <a:buFont typeface="+mj-lt"/>
              <a:buAutoNum type="arabicPeriod"/>
              <a:defRPr sz="1275" b="0" i="0">
                <a:solidFill>
                  <a:srgbClr val="FFFFFF"/>
                </a:solidFill>
                <a:latin typeface="Arial"/>
                <a:ea typeface="Arial"/>
                <a:cs typeface="Arial"/>
              </a:defRPr>
            </a:pPr>
            <a:r>
              <a:rPr sz="1200" b="0" i="0">
                <a:solidFill>
                  <a:srgbClr val="FFFFFF"/>
                </a:solidFill>
                <a:latin typeface="Arial"/>
                <a:ea typeface="Arial"/>
                <a:cs typeface="Arial"/>
              </a:rPr>
              <a:t>Review adoption, customer evidence, and business results in the same cadence as delivery progress.</a:t>
            </a:r>
          </a:p>
        </p:txBody>
      </p:sp>
      <p:sp>
        <p:nvSpPr>
          <p:cNvPr id="11" name="Rectangle 10">
            <a:extLst>
              <a:ext uri="{FF2B5EF4-FFF2-40B4-BE49-F238E27FC236}">
                <a16:creationId xmlns:a16="http://schemas.microsoft.com/office/drawing/2014/main" id="{2A079989-283C-4F86-8A72-ADDED19DC9B3}"/>
              </a:ext>
            </a:extLst>
          </p:cNvPr>
          <p:cNvSpPr>
            <a:spLocks noGrp="1"/>
          </p:cNvSpPr>
          <p:nvPr/>
        </p:nvSpPr>
        <p:spPr>
          <a:xfrm>
            <a:off x="457200" y="5124450"/>
            <a:ext cx="11277600" cy="590550"/>
          </a:xfrm>
          <a:prstGeom prst="rect">
            <a:avLst/>
          </a:prstGeom>
          <a:solidFill>
            <a:srgbClr val="0047FF"/>
          </a:solidFill>
          <a:ln w="0">
            <a:noFill/>
          </a:ln>
        </p:spPr>
        <p:txBody>
          <a:bodyPr/>
          <a:lstStyle/>
          <a:p>
            <a:endParaRPr lang="en-US"/>
          </a:p>
        </p:txBody>
      </p:sp>
      <p:sp>
        <p:nvSpPr>
          <p:cNvPr id="12" name="Rectangle 11">
            <a:extLst>
              <a:ext uri="{FF2B5EF4-FFF2-40B4-BE49-F238E27FC236}">
                <a16:creationId xmlns:a16="http://schemas.microsoft.com/office/drawing/2014/main" id="{56341A51-231D-4D12-BCCC-345705EF1580}"/>
              </a:ext>
            </a:extLst>
          </p:cNvPr>
          <p:cNvSpPr>
            <a:spLocks noGrp="1"/>
          </p:cNvSpPr>
          <p:nvPr/>
        </p:nvSpPr>
        <p:spPr>
          <a:xfrm>
            <a:off x="685800" y="5207000"/>
            <a:ext cx="10820400" cy="431800"/>
          </a:xfrm>
          <a:prstGeom prst="rect">
            <a:avLst/>
          </a:prstGeom>
          <a:noFill/>
          <a:ln w="0">
            <a:noFill/>
          </a:ln>
        </p:spPr>
        <p:txBody>
          <a:bodyPr anchor="t">
            <a:normAutofit fontScale="93061"/>
          </a:bodyPr>
          <a:lstStyle/>
          <a:p>
            <a:pPr>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Owner: Product leadership | Dependency: role clarity, customer and usage data, outcome measures | Measure: decisions supported by evidence and post-launch learning captured</a:t>
            </a:r>
          </a:p>
        </p:txBody>
      </p:sp>
      <p:sp>
        <p:nvSpPr>
          <p:cNvPr id="16" name="RecAccentBarLeft">
            <a:extLst>
              <a:ext uri="{FF2B5EF4-FFF2-40B4-BE49-F238E27FC236}">
                <a16:creationId xmlns:a16="http://schemas.microsoft.com/office/drawing/2014/main" id="{BB64AE65-BD63-A847-8D26-18460B095693}"/>
              </a:ext>
            </a:extLst>
          </p:cNvPr>
          <p:cNvSpPr/>
          <p:nvPr/>
        </p:nvSpPr>
        <p:spPr>
          <a:xfrm>
            <a:off x="457200" y="1752600"/>
            <a:ext cx="5334000" cy="635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AccentBarRight">
            <a:extLst>
              <a:ext uri="{FF2B5EF4-FFF2-40B4-BE49-F238E27FC236}">
                <a16:creationId xmlns:a16="http://schemas.microsoft.com/office/drawing/2014/main" id="{BF9F76B9-3B4D-D546-9A9A-C934F8609874}"/>
              </a:ext>
            </a:extLst>
          </p:cNvPr>
          <p:cNvSpPr/>
          <p:nvPr/>
        </p:nvSpPr>
        <p:spPr>
          <a:xfrm>
            <a:off x="6210300" y="1752600"/>
            <a:ext cx="5524500" cy="63500"/>
          </a:xfrm>
          <a:prstGeom prst="rect">
            <a:avLst/>
          </a:prstGeom>
          <a:solidFill>
            <a:srgbClr val="F900D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18" name="Graphic 14" descr="What should be done">
            <a:extLst>
              <a:ext uri="{FF2B5EF4-FFF2-40B4-BE49-F238E27FC236}">
                <a16:creationId xmlns:a16="http://schemas.microsoft.com/office/drawing/2014/main" id="{6A1D4A86-65FB-D5BF-5633-F3E480EE22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504" y="1879600"/>
            <a:ext cx="304800" cy="304800"/>
          </a:xfrm>
          <a:prstGeom prst="rect">
            <a:avLst/>
          </a:prstGeom>
        </p:spPr>
      </p:pic>
      <p:pic>
        <p:nvPicPr>
          <p:cNvPr id="19" name="Graphic 15" descr="How to activate it">
            <a:extLst>
              <a:ext uri="{FF2B5EF4-FFF2-40B4-BE49-F238E27FC236}">
                <a16:creationId xmlns:a16="http://schemas.microsoft.com/office/drawing/2014/main" id="{2E1E65D7-65C0-F42C-E4DF-C5C8B04DC5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4656" y="1879600"/>
            <a:ext cx="304800" cy="304800"/>
          </a:xfrm>
          <a:prstGeom prst="rect">
            <a:avLst/>
          </a:prstGeom>
        </p:spPr>
      </p:pic>
      <p:sp>
        <p:nvSpPr>
          <p:cNvPr id="14" name="Footer Placeholder 1">
            <a:extLst>
              <a:ext uri="{FF2B5EF4-FFF2-40B4-BE49-F238E27FC236}">
                <a16:creationId xmlns:a16="http://schemas.microsoft.com/office/drawing/2014/main" id="{D70793CE-C7FB-076F-5C4B-452E938B78FD}"/>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15" name="Slide Number Placeholder 2">
            <a:extLst>
              <a:ext uri="{FF2B5EF4-FFF2-40B4-BE49-F238E27FC236}">
                <a16:creationId xmlns:a16="http://schemas.microsoft.com/office/drawing/2014/main" id="{98C344C3-8A72-A201-2B84-C234ED9E9DF9}"/>
              </a:ext>
            </a:extLst>
          </p:cNvPr>
          <p:cNvSpPr>
            <a:spLocks noGrp="1"/>
          </p:cNvSpPr>
          <p:nvPr>
            <p:ph type="sldNum" idx="11"/>
          </p:nvPr>
        </p:nvSpPr>
        <p:spPr>
          <a:xfrm>
            <a:off x="11509578" y="6400799"/>
            <a:ext cx="218871" cy="167949"/>
          </a:xfrm>
        </p:spPr>
        <p:txBody>
          <a:bodyPr/>
          <a:lstStyle/>
          <a:p>
            <a:fld id="{63DCA5C9-2E11-4C67-86EB-AE1DE127DC64}" type="slidenum">
              <a:rPr lang="en-US" smtClean="0"/>
              <a:t>27</a:t>
            </a:fld>
            <a:endParaRPr lang="en-US"/>
          </a:p>
        </p:txBody>
      </p:sp>
    </p:spTree>
    <p:extLst>
      <p:ext uri="{BB962C8B-B14F-4D97-AF65-F5344CB8AC3E}">
        <p14:creationId xmlns:p14="http://schemas.microsoft.com/office/powerpoint/2010/main" val="35177780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8EC12-F13D-EA16-3DD9-4167376D4018}"/>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7CA0939E-EEFC-EEE2-F985-765C3945917E}"/>
              </a:ext>
            </a:extLst>
          </p:cNvPr>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5F783EB9-B385-9E4D-3618-F390A87E3A2E}"/>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lang="en-US" sz="2325" b="1">
                <a:solidFill>
                  <a:srgbClr val="070154"/>
                </a:solidFill>
                <a:latin typeface="Arial"/>
                <a:ea typeface="Arial"/>
                <a:cs typeface="Arial"/>
              </a:rPr>
              <a:t>Opportunity brief to implementation path</a:t>
            </a:r>
          </a:p>
        </p:txBody>
      </p:sp>
      <p:sp>
        <p:nvSpPr>
          <p:cNvPr id="3" name="Rectangle 2">
            <a:extLst>
              <a:ext uri="{FF2B5EF4-FFF2-40B4-BE49-F238E27FC236}">
                <a16:creationId xmlns:a16="http://schemas.microsoft.com/office/drawing/2014/main" id="{827CB8EF-C58F-6394-6752-C64F3A86C401}"/>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Make the decision path from an internal signal to an implementation plan visible and repeatable.</a:t>
            </a:r>
          </a:p>
        </p:txBody>
      </p:sp>
      <p:sp>
        <p:nvSpPr>
          <p:cNvPr id="4" name="Rectangle 3">
            <a:extLst>
              <a:ext uri="{FF2B5EF4-FFF2-40B4-BE49-F238E27FC236}">
                <a16:creationId xmlns:a16="http://schemas.microsoft.com/office/drawing/2014/main" id="{6D201134-0FFB-C993-3451-FA8748EF060D}"/>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RECOMMENDATION 0</a:t>
            </a:r>
            <a:r>
              <a:rPr lang="en-US" sz="1100" b="1" i="0">
                <a:solidFill>
                  <a:srgbClr val="0047FF"/>
                </a:solidFill>
                <a:latin typeface="Arial"/>
                <a:ea typeface="Arial"/>
                <a:cs typeface="Arial"/>
              </a:rPr>
              <a:t>3</a:t>
            </a:r>
            <a:endParaRPr sz="1100" b="1" i="0">
              <a:solidFill>
                <a:srgbClr val="0047FF"/>
              </a:solidFill>
              <a:latin typeface="Arial"/>
              <a:ea typeface="Arial"/>
              <a:cs typeface="Arial"/>
            </a:endParaRPr>
          </a:p>
        </p:txBody>
      </p:sp>
      <p:sp>
        <p:nvSpPr>
          <p:cNvPr id="5" name="Rectangle 4">
            <a:extLst>
              <a:ext uri="{FF2B5EF4-FFF2-40B4-BE49-F238E27FC236}">
                <a16:creationId xmlns:a16="http://schemas.microsoft.com/office/drawing/2014/main" id="{49839F52-2A35-D6C7-DAF8-C674B2CAD27C}"/>
              </a:ext>
            </a:extLst>
          </p:cNvPr>
          <p:cNvSpPr>
            <a:spLocks noGrp="1"/>
          </p:cNvSpPr>
          <p:nvPr/>
        </p:nvSpPr>
        <p:spPr>
          <a:xfrm>
            <a:off x="457200" y="1752600"/>
            <a:ext cx="5334000" cy="3143250"/>
          </a:xfrm>
          <a:prstGeom prst="rect">
            <a:avLst/>
          </a:prstGeom>
          <a:solidFill>
            <a:srgbClr val="E8EEF8"/>
          </a:solidFill>
          <a:ln w="9525">
            <a:solidFill>
              <a:srgbClr val="CED7E6"/>
            </a:solidFill>
          </a:ln>
        </p:spPr>
        <p:txBody>
          <a:bodyPr/>
          <a:lstStyle/>
          <a:p>
            <a:endParaRPr lang="en-US"/>
          </a:p>
        </p:txBody>
      </p:sp>
      <p:sp>
        <p:nvSpPr>
          <p:cNvPr id="6" name="Rectangle 5">
            <a:extLst>
              <a:ext uri="{FF2B5EF4-FFF2-40B4-BE49-F238E27FC236}">
                <a16:creationId xmlns:a16="http://schemas.microsoft.com/office/drawing/2014/main" id="{3B13D867-C4AF-3AD2-5F33-71766748CA32}"/>
              </a:ext>
            </a:extLst>
          </p:cNvPr>
          <p:cNvSpPr>
            <a:spLocks noGrp="1"/>
          </p:cNvSpPr>
          <p:nvPr/>
        </p:nvSpPr>
        <p:spPr>
          <a:xfrm>
            <a:off x="6210300" y="1752600"/>
            <a:ext cx="5524500" cy="3143250"/>
          </a:xfrm>
          <a:prstGeom prst="rect">
            <a:avLst/>
          </a:prstGeom>
          <a:solidFill>
            <a:srgbClr val="070154"/>
          </a:solidFill>
          <a:ln w="9525">
            <a:solidFill>
              <a:srgbClr val="0047FF"/>
            </a:solidFill>
          </a:ln>
        </p:spPr>
        <p:txBody>
          <a:bodyPr/>
          <a:lstStyle/>
          <a:p>
            <a:endParaRPr lang="en-US"/>
          </a:p>
        </p:txBody>
      </p:sp>
      <p:sp>
        <p:nvSpPr>
          <p:cNvPr id="7" name="Rectangle 6">
            <a:extLst>
              <a:ext uri="{FF2B5EF4-FFF2-40B4-BE49-F238E27FC236}">
                <a16:creationId xmlns:a16="http://schemas.microsoft.com/office/drawing/2014/main" id="{068E4FB9-700A-7A14-AC68-8744CB1D0C7B}"/>
              </a:ext>
            </a:extLst>
          </p:cNvPr>
          <p:cNvSpPr>
            <a:spLocks noGrp="1"/>
          </p:cNvSpPr>
          <p:nvPr/>
        </p:nvSpPr>
        <p:spPr>
          <a:xfrm>
            <a:off x="736600" y="1981200"/>
            <a:ext cx="25781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WHAT SHOULD BE DONE</a:t>
            </a:r>
          </a:p>
        </p:txBody>
      </p:sp>
      <p:sp>
        <p:nvSpPr>
          <p:cNvPr id="8" name="Rectangle 7">
            <a:extLst>
              <a:ext uri="{FF2B5EF4-FFF2-40B4-BE49-F238E27FC236}">
                <a16:creationId xmlns:a16="http://schemas.microsoft.com/office/drawing/2014/main" id="{0F853088-BDAA-F721-67B3-171393B823D4}"/>
              </a:ext>
            </a:extLst>
          </p:cNvPr>
          <p:cNvSpPr>
            <a:spLocks noGrp="1"/>
          </p:cNvSpPr>
          <p:nvPr/>
        </p:nvSpPr>
        <p:spPr>
          <a:xfrm>
            <a:off x="685800" y="2381250"/>
            <a:ext cx="4762500" cy="2095500"/>
          </a:xfrm>
          <a:prstGeom prst="rect">
            <a:avLst/>
          </a:prstGeom>
          <a:noFill/>
          <a:ln w="0">
            <a:noFill/>
          </a:ln>
        </p:spPr>
        <p:txBody>
          <a:bodyPr lIns="91440" tIns="45720" rIns="91440" bIns="45720" anchor="t">
            <a:noAutofit/>
          </a:bodyPr>
          <a:lstStyle/>
          <a:p>
            <a:pPr marL="342900" indent="-342900">
              <a:lnSpc>
                <a:spcPct val="108000"/>
              </a:lnSpc>
              <a:buFont typeface="+mj-lt"/>
              <a:buAutoNum type="arabicPeriod"/>
            </a:pPr>
            <a:r>
              <a:rPr lang="en-US" sz="1200">
                <a:solidFill>
                  <a:srgbClr val="070154"/>
                </a:solidFill>
                <a:latin typeface="Arial"/>
                <a:cs typeface="Arial"/>
              </a:rPr>
              <a:t>Standardize the minimum content for an opportunity brief: problem, evidence, outcome, decision, and why now.</a:t>
            </a:r>
          </a:p>
          <a:p>
            <a:pPr marL="342900" indent="-342900">
              <a:lnSpc>
                <a:spcPct val="108000"/>
              </a:lnSpc>
              <a:buFont typeface="+mj-lt"/>
              <a:buAutoNum type="arabicPeriod"/>
            </a:pPr>
            <a:endParaRPr lang="en-US" sz="1200">
              <a:solidFill>
                <a:srgbClr val="070154"/>
              </a:solidFill>
              <a:latin typeface="Arial"/>
              <a:cs typeface="Arial"/>
            </a:endParaRPr>
          </a:p>
          <a:p>
            <a:pPr marL="342900" indent="-342900">
              <a:lnSpc>
                <a:spcPct val="108000"/>
              </a:lnSpc>
              <a:buFont typeface="+mj-lt"/>
              <a:buAutoNum type="arabicPeriod"/>
            </a:pPr>
            <a:r>
              <a:rPr lang="en-US" sz="1200">
                <a:solidFill>
                  <a:srgbClr val="070154"/>
                </a:solidFill>
                <a:latin typeface="Arial"/>
                <a:cs typeface="Arial"/>
              </a:rPr>
              <a:t>Carry the decision logic through product brief or PRD, feature brief, epic, technical design and implementation plan.</a:t>
            </a:r>
          </a:p>
          <a:p>
            <a:pPr marL="342900" indent="-342900">
              <a:lnSpc>
                <a:spcPct val="108000"/>
              </a:lnSpc>
              <a:buFont typeface="+mj-lt"/>
              <a:buAutoNum type="arabicPeriod"/>
            </a:pPr>
            <a:endParaRPr lang="en-US" sz="1200">
              <a:solidFill>
                <a:srgbClr val="070154"/>
              </a:solidFill>
              <a:latin typeface="Arial"/>
              <a:cs typeface="Arial"/>
            </a:endParaRPr>
          </a:p>
          <a:p>
            <a:pPr marL="342900" indent="-342900">
              <a:lnSpc>
                <a:spcPct val="108000"/>
              </a:lnSpc>
              <a:buFont typeface="+mj-lt"/>
              <a:buAutoNum type="arabicPeriod"/>
            </a:pPr>
            <a:r>
              <a:rPr lang="en-US" sz="1200">
                <a:solidFill>
                  <a:srgbClr val="070154"/>
                </a:solidFill>
                <a:latin typeface="Arial"/>
                <a:cs typeface="Arial"/>
              </a:rPr>
              <a:t>Make ownership, acceptance, design context, dependencies, and release evidence explicit before delivery scope is committed.</a:t>
            </a:r>
          </a:p>
        </p:txBody>
      </p:sp>
      <p:sp>
        <p:nvSpPr>
          <p:cNvPr id="9" name="Rectangle 8">
            <a:extLst>
              <a:ext uri="{FF2B5EF4-FFF2-40B4-BE49-F238E27FC236}">
                <a16:creationId xmlns:a16="http://schemas.microsoft.com/office/drawing/2014/main" id="{F972FDF8-CA28-3F70-E9F9-1D1851CA1A4E}"/>
              </a:ext>
            </a:extLst>
          </p:cNvPr>
          <p:cNvSpPr>
            <a:spLocks noGrp="1"/>
          </p:cNvSpPr>
          <p:nvPr/>
        </p:nvSpPr>
        <p:spPr>
          <a:xfrm>
            <a:off x="6489700" y="1981200"/>
            <a:ext cx="2578100" cy="171450"/>
          </a:xfrm>
          <a:prstGeom prst="rect">
            <a:avLst/>
          </a:prstGeom>
          <a:noFill/>
          <a:ln w="0">
            <a:noFill/>
          </a:ln>
        </p:spPr>
        <p:txBody>
          <a:bodyPr anchor="t">
            <a:noAutofit/>
          </a:bodyPr>
          <a:lstStyle/>
          <a:p>
            <a:pPr>
              <a:lnSpc>
                <a:spcPct val="108000"/>
              </a:lnSpc>
              <a:buNone/>
              <a:defRPr sz="750" b="1" i="0">
                <a:solidFill>
                  <a:srgbClr val="00A3FF"/>
                </a:solidFill>
                <a:latin typeface="Arial"/>
                <a:ea typeface="Arial"/>
                <a:cs typeface="Arial"/>
              </a:defRPr>
            </a:pPr>
            <a:r>
              <a:rPr sz="1100" b="1" i="0">
                <a:solidFill>
                  <a:srgbClr val="00A3FF"/>
                </a:solidFill>
                <a:latin typeface="Arial"/>
                <a:ea typeface="Arial"/>
                <a:cs typeface="Arial"/>
              </a:rPr>
              <a:t>HOW TO ACTIVATE IT</a:t>
            </a:r>
          </a:p>
        </p:txBody>
      </p:sp>
      <p:sp>
        <p:nvSpPr>
          <p:cNvPr id="10" name="Rectangle 9">
            <a:extLst>
              <a:ext uri="{FF2B5EF4-FFF2-40B4-BE49-F238E27FC236}">
                <a16:creationId xmlns:a16="http://schemas.microsoft.com/office/drawing/2014/main" id="{3783BE13-9242-C368-C18D-B22FE7627AD3}"/>
              </a:ext>
            </a:extLst>
          </p:cNvPr>
          <p:cNvSpPr>
            <a:spLocks noGrp="1"/>
          </p:cNvSpPr>
          <p:nvPr/>
        </p:nvSpPr>
        <p:spPr>
          <a:xfrm>
            <a:off x="6438900" y="2381250"/>
            <a:ext cx="4953000" cy="2095500"/>
          </a:xfrm>
          <a:prstGeom prst="rect">
            <a:avLst/>
          </a:prstGeom>
          <a:noFill/>
          <a:ln w="0">
            <a:noFill/>
          </a:ln>
        </p:spPr>
        <p:txBody>
          <a:bodyPr lIns="91440" tIns="45720" rIns="91440" bIns="45720" anchor="t">
            <a:normAutofit/>
          </a:bodyPr>
          <a:lstStyle/>
          <a:p>
            <a:pPr marL="342900" indent="-342900">
              <a:lnSpc>
                <a:spcPct val="108000"/>
              </a:lnSpc>
              <a:buFont typeface="+mj-lt"/>
              <a:buAutoNum type="arabicPeriod"/>
            </a:pPr>
            <a:r>
              <a:rPr lang="en-US" sz="1200">
                <a:solidFill>
                  <a:srgbClr val="FFFFFF"/>
                </a:solidFill>
                <a:latin typeface="Arial"/>
                <a:cs typeface="Arial"/>
              </a:rPr>
              <a:t>Select one internal signal from a live initiative and complete the opportunity brief.</a:t>
            </a:r>
          </a:p>
          <a:p>
            <a:pPr marL="342900" indent="-342900">
              <a:lnSpc>
                <a:spcPct val="108000"/>
              </a:lnSpc>
              <a:buFont typeface="+mj-lt"/>
              <a:buAutoNum type="arabicPeriod"/>
            </a:pPr>
            <a:endParaRPr lang="en-US" sz="1200">
              <a:solidFill>
                <a:srgbClr val="FFFFFF"/>
              </a:solidFill>
              <a:latin typeface="Arial"/>
              <a:cs typeface="Arial"/>
            </a:endParaRPr>
          </a:p>
          <a:p>
            <a:pPr marL="342900" indent="-342900">
              <a:lnSpc>
                <a:spcPct val="108000"/>
              </a:lnSpc>
              <a:buFont typeface="+mj-lt"/>
              <a:buAutoNum type="arabicPeriod"/>
            </a:pPr>
            <a:r>
              <a:rPr lang="en-US" sz="1200">
                <a:solidFill>
                  <a:srgbClr val="FFFFFF"/>
                </a:solidFill>
                <a:latin typeface="Arial"/>
                <a:cs typeface="Arial"/>
              </a:rPr>
              <a:t>Review the brief with Product, Engineering, UX, and the initiative sponsor before creating the PRD.</a:t>
            </a:r>
          </a:p>
          <a:p>
            <a:pPr marL="342900" indent="-342900">
              <a:lnSpc>
                <a:spcPct val="108000"/>
              </a:lnSpc>
              <a:buFont typeface="+mj-lt"/>
              <a:buAutoNum type="arabicPeriod"/>
            </a:pPr>
            <a:endParaRPr lang="en-US" sz="1200">
              <a:solidFill>
                <a:srgbClr val="FFFFFF"/>
              </a:solidFill>
              <a:latin typeface="Arial"/>
              <a:cs typeface="Arial"/>
            </a:endParaRPr>
          </a:p>
          <a:p>
            <a:pPr marL="342900" indent="-342900">
              <a:lnSpc>
                <a:spcPct val="108000"/>
              </a:lnSpc>
              <a:buFontTx/>
              <a:buAutoNum type="arabicPeriod"/>
            </a:pPr>
            <a:r>
              <a:rPr lang="en-US" sz="1200">
                <a:solidFill>
                  <a:srgbClr val="FFFFFF"/>
                </a:solidFill>
                <a:latin typeface="Arial"/>
                <a:cs typeface="Arial"/>
              </a:rPr>
              <a:t>Trace the same decision through the feature brief, epic, technical design and implementation plan, then record handoff gaps and rework.</a:t>
            </a:r>
            <a:endParaRPr lang="en-US">
              <a:cs typeface="Arial"/>
            </a:endParaRPr>
          </a:p>
        </p:txBody>
      </p:sp>
      <p:sp>
        <p:nvSpPr>
          <p:cNvPr id="11" name="Rectangle 10">
            <a:extLst>
              <a:ext uri="{FF2B5EF4-FFF2-40B4-BE49-F238E27FC236}">
                <a16:creationId xmlns:a16="http://schemas.microsoft.com/office/drawing/2014/main" id="{26819E7C-9030-9B24-1DB5-D96724CC109F}"/>
              </a:ext>
            </a:extLst>
          </p:cNvPr>
          <p:cNvSpPr>
            <a:spLocks noGrp="1"/>
          </p:cNvSpPr>
          <p:nvPr/>
        </p:nvSpPr>
        <p:spPr>
          <a:xfrm>
            <a:off x="457200" y="5124450"/>
            <a:ext cx="11277600" cy="590550"/>
          </a:xfrm>
          <a:prstGeom prst="rect">
            <a:avLst/>
          </a:prstGeom>
          <a:solidFill>
            <a:srgbClr val="0047FF"/>
          </a:solidFill>
          <a:ln w="0">
            <a:noFill/>
          </a:ln>
        </p:spPr>
        <p:txBody>
          <a:bodyPr/>
          <a:lstStyle/>
          <a:p>
            <a:endParaRPr lang="en-US"/>
          </a:p>
        </p:txBody>
      </p:sp>
      <p:sp>
        <p:nvSpPr>
          <p:cNvPr id="12" name="Rectangle 11">
            <a:extLst>
              <a:ext uri="{FF2B5EF4-FFF2-40B4-BE49-F238E27FC236}">
                <a16:creationId xmlns:a16="http://schemas.microsoft.com/office/drawing/2014/main" id="{5D4E0D7A-6DCE-C42F-B0BF-FC69E33B23B6}"/>
              </a:ext>
            </a:extLst>
          </p:cNvPr>
          <p:cNvSpPr>
            <a:spLocks noGrp="1"/>
          </p:cNvSpPr>
          <p:nvPr/>
        </p:nvSpPr>
        <p:spPr>
          <a:xfrm>
            <a:off x="685800" y="5207000"/>
            <a:ext cx="10820400" cy="431800"/>
          </a:xfrm>
          <a:prstGeom prst="rect">
            <a:avLst/>
          </a:prstGeom>
          <a:noFill/>
          <a:ln w="0">
            <a:noFill/>
          </a:ln>
        </p:spPr>
        <p:txBody>
          <a:bodyPr lIns="91440" tIns="45720" rIns="91440" bIns="45720" anchor="t">
            <a:noAutofit/>
          </a:bodyPr>
          <a:lstStyle/>
          <a:p>
            <a:pPr>
              <a:lnSpc>
                <a:spcPct val="108000"/>
              </a:lnSpc>
              <a:defRPr sz="1050" b="1" i="0">
                <a:solidFill>
                  <a:srgbClr val="FFFFFF"/>
                </a:solidFill>
                <a:latin typeface="Arial"/>
                <a:ea typeface="Arial"/>
                <a:cs typeface="Arial"/>
              </a:defRPr>
            </a:pPr>
            <a:r>
              <a:rPr lang="en-US" sz="1100" b="1">
                <a:solidFill>
                  <a:srgbClr val="FFFFFF"/>
                </a:solidFill>
                <a:latin typeface="Arial"/>
                <a:ea typeface="Arial"/>
                <a:cs typeface="Arial"/>
              </a:rPr>
              <a:t>Owner: Product + Engineering | Dependency: shared templates, architectural spec template, design context, initiative sponsor | Measure: handoff quality, rework, and decision clarity before commitment</a:t>
            </a:r>
            <a:endParaRPr lang="en-US" sz="1100"/>
          </a:p>
        </p:txBody>
      </p:sp>
      <p:sp>
        <p:nvSpPr>
          <p:cNvPr id="16" name="RecAccentBarLeft">
            <a:extLst>
              <a:ext uri="{FF2B5EF4-FFF2-40B4-BE49-F238E27FC236}">
                <a16:creationId xmlns:a16="http://schemas.microsoft.com/office/drawing/2014/main" id="{D82B46C1-A63C-3DA6-F424-270480EEBBA3}"/>
              </a:ext>
            </a:extLst>
          </p:cNvPr>
          <p:cNvSpPr/>
          <p:nvPr/>
        </p:nvSpPr>
        <p:spPr>
          <a:xfrm>
            <a:off x="457200" y="1752600"/>
            <a:ext cx="5334000" cy="635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AccentBarRight">
            <a:extLst>
              <a:ext uri="{FF2B5EF4-FFF2-40B4-BE49-F238E27FC236}">
                <a16:creationId xmlns:a16="http://schemas.microsoft.com/office/drawing/2014/main" id="{53B2918C-C274-00D5-DB52-3A87A323C086}"/>
              </a:ext>
            </a:extLst>
          </p:cNvPr>
          <p:cNvSpPr/>
          <p:nvPr/>
        </p:nvSpPr>
        <p:spPr>
          <a:xfrm>
            <a:off x="6210300" y="1752600"/>
            <a:ext cx="5524500" cy="63500"/>
          </a:xfrm>
          <a:prstGeom prst="rect">
            <a:avLst/>
          </a:prstGeom>
          <a:solidFill>
            <a:srgbClr val="F900D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18" name="Graphic 14" descr="What should be done">
            <a:extLst>
              <a:ext uri="{FF2B5EF4-FFF2-40B4-BE49-F238E27FC236}">
                <a16:creationId xmlns:a16="http://schemas.microsoft.com/office/drawing/2014/main" id="{C80F2E60-4038-8261-8249-37C8A1625B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504" y="1879600"/>
            <a:ext cx="304800" cy="304800"/>
          </a:xfrm>
          <a:prstGeom prst="rect">
            <a:avLst/>
          </a:prstGeom>
        </p:spPr>
      </p:pic>
      <p:pic>
        <p:nvPicPr>
          <p:cNvPr id="19" name="Graphic 15" descr="How to activate it">
            <a:extLst>
              <a:ext uri="{FF2B5EF4-FFF2-40B4-BE49-F238E27FC236}">
                <a16:creationId xmlns:a16="http://schemas.microsoft.com/office/drawing/2014/main" id="{1A69ED33-D701-4271-B0A9-0EB2051AC3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4656" y="1879600"/>
            <a:ext cx="304800" cy="304800"/>
          </a:xfrm>
          <a:prstGeom prst="rect">
            <a:avLst/>
          </a:prstGeom>
        </p:spPr>
      </p:pic>
      <p:sp>
        <p:nvSpPr>
          <p:cNvPr id="14" name="Footer Placeholder 1">
            <a:extLst>
              <a:ext uri="{FF2B5EF4-FFF2-40B4-BE49-F238E27FC236}">
                <a16:creationId xmlns:a16="http://schemas.microsoft.com/office/drawing/2014/main" id="{CBBB8A3F-9EEE-80D5-1E3C-85EB752648ED}"/>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15" name="Slide Number Placeholder 2">
            <a:extLst>
              <a:ext uri="{FF2B5EF4-FFF2-40B4-BE49-F238E27FC236}">
                <a16:creationId xmlns:a16="http://schemas.microsoft.com/office/drawing/2014/main" id="{8E5DC8C1-B666-D872-0928-9D96D9EF94B5}"/>
              </a:ext>
            </a:extLst>
          </p:cNvPr>
          <p:cNvSpPr>
            <a:spLocks noGrp="1"/>
          </p:cNvSpPr>
          <p:nvPr>
            <p:ph type="sldNum" idx="11"/>
          </p:nvPr>
        </p:nvSpPr>
        <p:spPr>
          <a:xfrm>
            <a:off x="11509578" y="6400799"/>
            <a:ext cx="218871" cy="167949"/>
          </a:xfrm>
        </p:spPr>
        <p:txBody>
          <a:bodyPr/>
          <a:lstStyle/>
          <a:p>
            <a:fld id="{63DCA5C9-2E11-4C67-86EB-AE1DE127DC64}" type="slidenum">
              <a:rPr lang="en-US" smtClean="0"/>
              <a:t>28</a:t>
            </a:fld>
            <a:endParaRPr lang="en-US"/>
          </a:p>
        </p:txBody>
      </p:sp>
    </p:spTree>
    <p:extLst>
      <p:ext uri="{BB962C8B-B14F-4D97-AF65-F5344CB8AC3E}">
        <p14:creationId xmlns:p14="http://schemas.microsoft.com/office/powerpoint/2010/main" val="1777164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3A1D19A2-D553-402D-8D3D-0C09C7A5D5CD}"/>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Earlier cross-functional collaboration</a:t>
            </a:r>
          </a:p>
        </p:txBody>
      </p:sp>
      <p:sp>
        <p:nvSpPr>
          <p:cNvPr id="3" name="Rectangle 2">
            <a:extLst>
              <a:ext uri="{FF2B5EF4-FFF2-40B4-BE49-F238E27FC236}">
                <a16:creationId xmlns:a16="http://schemas.microsoft.com/office/drawing/2014/main" id="{70948B23-66AD-4229-AA70-83956504692B}"/>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Bring the right people and evidence into feasibility work before commitments harden.</a:t>
            </a:r>
          </a:p>
        </p:txBody>
      </p:sp>
      <p:sp>
        <p:nvSpPr>
          <p:cNvPr id="4" name="Rectangle 3">
            <a:extLst>
              <a:ext uri="{FF2B5EF4-FFF2-40B4-BE49-F238E27FC236}">
                <a16:creationId xmlns:a16="http://schemas.microsoft.com/office/drawing/2014/main" id="{2324B194-D069-480B-9DE1-250C138081DC}"/>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RECOMMENDATION </a:t>
            </a:r>
            <a:r>
              <a:rPr lang="en-US" sz="1100" b="1" i="0">
                <a:solidFill>
                  <a:srgbClr val="0047FF"/>
                </a:solidFill>
                <a:latin typeface="Arial"/>
                <a:ea typeface="Arial"/>
                <a:cs typeface="Arial"/>
              </a:rPr>
              <a:t>04</a:t>
            </a:r>
            <a:endParaRPr sz="1100" b="1" i="0">
              <a:solidFill>
                <a:srgbClr val="0047FF"/>
              </a:solidFill>
              <a:latin typeface="Arial"/>
              <a:ea typeface="Arial"/>
              <a:cs typeface="Arial"/>
            </a:endParaRPr>
          </a:p>
        </p:txBody>
      </p:sp>
      <p:sp>
        <p:nvSpPr>
          <p:cNvPr id="5" name="Rectangle 4">
            <a:extLst>
              <a:ext uri="{FF2B5EF4-FFF2-40B4-BE49-F238E27FC236}">
                <a16:creationId xmlns:a16="http://schemas.microsoft.com/office/drawing/2014/main" id="{58CD0438-4EA7-405F-BC95-B42C6F070295}"/>
              </a:ext>
            </a:extLst>
          </p:cNvPr>
          <p:cNvSpPr>
            <a:spLocks noGrp="1"/>
          </p:cNvSpPr>
          <p:nvPr/>
        </p:nvSpPr>
        <p:spPr>
          <a:xfrm>
            <a:off x="457200" y="1752600"/>
            <a:ext cx="5334000" cy="3143250"/>
          </a:xfrm>
          <a:prstGeom prst="rect">
            <a:avLst/>
          </a:prstGeom>
          <a:solidFill>
            <a:srgbClr val="E8EEF8"/>
          </a:solidFill>
          <a:ln w="9525">
            <a:solidFill>
              <a:srgbClr val="CED7E6"/>
            </a:solidFill>
          </a:ln>
        </p:spPr>
        <p:txBody>
          <a:bodyPr/>
          <a:lstStyle/>
          <a:p>
            <a:endParaRPr lang="en-US"/>
          </a:p>
        </p:txBody>
      </p:sp>
      <p:sp>
        <p:nvSpPr>
          <p:cNvPr id="6" name="Rectangle 5">
            <a:extLst>
              <a:ext uri="{FF2B5EF4-FFF2-40B4-BE49-F238E27FC236}">
                <a16:creationId xmlns:a16="http://schemas.microsoft.com/office/drawing/2014/main" id="{584F79D2-74AA-40BF-916F-54A464437425}"/>
              </a:ext>
            </a:extLst>
          </p:cNvPr>
          <p:cNvSpPr>
            <a:spLocks noGrp="1"/>
          </p:cNvSpPr>
          <p:nvPr/>
        </p:nvSpPr>
        <p:spPr>
          <a:xfrm>
            <a:off x="6210300" y="1752600"/>
            <a:ext cx="5524500" cy="3143250"/>
          </a:xfrm>
          <a:prstGeom prst="rect">
            <a:avLst/>
          </a:prstGeom>
          <a:solidFill>
            <a:srgbClr val="070154"/>
          </a:solidFill>
          <a:ln w="9525">
            <a:solidFill>
              <a:srgbClr val="0047FF"/>
            </a:solidFill>
          </a:ln>
        </p:spPr>
        <p:txBody>
          <a:bodyPr/>
          <a:lstStyle/>
          <a:p>
            <a:endParaRPr lang="en-US"/>
          </a:p>
        </p:txBody>
      </p:sp>
      <p:sp>
        <p:nvSpPr>
          <p:cNvPr id="7" name="Rectangle 6">
            <a:extLst>
              <a:ext uri="{FF2B5EF4-FFF2-40B4-BE49-F238E27FC236}">
                <a16:creationId xmlns:a16="http://schemas.microsoft.com/office/drawing/2014/main" id="{E069A285-9DA1-4E22-A7B7-00EF5321B865}"/>
              </a:ext>
            </a:extLst>
          </p:cNvPr>
          <p:cNvSpPr>
            <a:spLocks noGrp="1"/>
          </p:cNvSpPr>
          <p:nvPr/>
        </p:nvSpPr>
        <p:spPr>
          <a:xfrm>
            <a:off x="736600" y="1981200"/>
            <a:ext cx="25781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WHAT SHOULD BE DONE</a:t>
            </a:r>
          </a:p>
        </p:txBody>
      </p:sp>
      <p:sp>
        <p:nvSpPr>
          <p:cNvPr id="8" name="Rectangle 7">
            <a:extLst>
              <a:ext uri="{FF2B5EF4-FFF2-40B4-BE49-F238E27FC236}">
                <a16:creationId xmlns:a16="http://schemas.microsoft.com/office/drawing/2014/main" id="{86B5B7E1-A4DE-40B2-842B-5E4406E103B8}"/>
              </a:ext>
            </a:extLst>
          </p:cNvPr>
          <p:cNvSpPr>
            <a:spLocks noGrp="1"/>
          </p:cNvSpPr>
          <p:nvPr/>
        </p:nvSpPr>
        <p:spPr>
          <a:xfrm>
            <a:off x="685800" y="2381250"/>
            <a:ext cx="4762500" cy="2095500"/>
          </a:xfrm>
          <a:prstGeom prst="rect">
            <a:avLst/>
          </a:prstGeom>
          <a:noFill/>
          <a:ln w="0">
            <a:noFill/>
          </a:ln>
        </p:spPr>
        <p:txBody>
          <a:bodyPr anchor="t">
            <a:normAutofit/>
          </a:bodyPr>
          <a:lstStyle/>
          <a:p>
            <a:pPr marL="342900" indent="-342900">
              <a:lnSpc>
                <a:spcPct val="108000"/>
              </a:lnSpc>
              <a:buFont typeface="+mj-lt"/>
              <a:buAutoNum type="arabicPeriod"/>
              <a:defRPr sz="1275" b="0" i="0">
                <a:solidFill>
                  <a:srgbClr val="070154"/>
                </a:solidFill>
                <a:latin typeface="Arial"/>
                <a:ea typeface="Arial"/>
                <a:cs typeface="Arial"/>
              </a:defRPr>
            </a:pPr>
            <a:r>
              <a:rPr sz="1200" b="0" i="0">
                <a:solidFill>
                  <a:srgbClr val="070154"/>
                </a:solidFill>
                <a:latin typeface="Arial"/>
                <a:ea typeface="Arial"/>
                <a:cs typeface="Arial"/>
              </a:rPr>
              <a:t>Define the minimum cross-functional team and artifact set required before a commitment is ready.</a:t>
            </a:r>
          </a:p>
          <a:p>
            <a:pPr marL="342900" indent="-342900">
              <a:buFont typeface="+mj-lt"/>
              <a:buAutoNum type="arabicPeriod"/>
            </a:pPr>
            <a:endParaRPr sz="1200" b="0" i="0">
              <a:solidFill>
                <a:srgbClr val="070154"/>
              </a:solidFill>
              <a:latin typeface="Arial"/>
              <a:ea typeface="Arial"/>
              <a:cs typeface="Arial"/>
            </a:endParaRPr>
          </a:p>
          <a:p>
            <a:pPr marL="342900" indent="-342900">
              <a:lnSpc>
                <a:spcPct val="108000"/>
              </a:lnSpc>
              <a:buFont typeface="+mj-lt"/>
              <a:buAutoNum type="arabicPeriod"/>
              <a:defRPr sz="1275" b="0" i="0">
                <a:solidFill>
                  <a:srgbClr val="070154"/>
                </a:solidFill>
                <a:latin typeface="Arial"/>
                <a:ea typeface="Arial"/>
                <a:cs typeface="Arial"/>
              </a:defRPr>
            </a:pPr>
            <a:r>
              <a:rPr sz="1200" b="0" i="0">
                <a:solidFill>
                  <a:srgbClr val="070154"/>
                </a:solidFill>
                <a:latin typeface="Arial"/>
                <a:ea typeface="Arial"/>
                <a:cs typeface="Arial"/>
              </a:rPr>
              <a:t>Include Product, UX, Engineering, QA, Release, and Operations in early feasibility and evidence work.</a:t>
            </a:r>
          </a:p>
          <a:p>
            <a:pPr marL="342900" indent="-342900">
              <a:buFont typeface="+mj-lt"/>
              <a:buAutoNum type="arabicPeriod"/>
            </a:pPr>
            <a:endParaRPr sz="1200" b="0" i="0">
              <a:solidFill>
                <a:srgbClr val="070154"/>
              </a:solidFill>
              <a:latin typeface="Arial"/>
              <a:ea typeface="Arial"/>
              <a:cs typeface="Arial"/>
            </a:endParaRPr>
          </a:p>
          <a:p>
            <a:pPr marL="342900" indent="-342900">
              <a:lnSpc>
                <a:spcPct val="108000"/>
              </a:lnSpc>
              <a:buFont typeface="+mj-lt"/>
              <a:buAutoNum type="arabicPeriod"/>
              <a:defRPr sz="1275" b="0" i="0">
                <a:solidFill>
                  <a:srgbClr val="070154"/>
                </a:solidFill>
                <a:latin typeface="Arial"/>
                <a:ea typeface="Arial"/>
                <a:cs typeface="Arial"/>
              </a:defRPr>
            </a:pPr>
            <a:r>
              <a:rPr sz="1200" b="0" i="0">
                <a:solidFill>
                  <a:srgbClr val="070154"/>
                </a:solidFill>
                <a:latin typeface="Arial"/>
                <a:ea typeface="Arial"/>
                <a:cs typeface="Arial"/>
              </a:rPr>
              <a:t>Maintain living documentation in a source of truth that supports handoffs and reuse.</a:t>
            </a:r>
          </a:p>
        </p:txBody>
      </p:sp>
      <p:sp>
        <p:nvSpPr>
          <p:cNvPr id="9" name="Rectangle 8">
            <a:extLst>
              <a:ext uri="{FF2B5EF4-FFF2-40B4-BE49-F238E27FC236}">
                <a16:creationId xmlns:a16="http://schemas.microsoft.com/office/drawing/2014/main" id="{BDF1F4FA-A234-46FB-9060-0D6AB6F4ECB7}"/>
              </a:ext>
            </a:extLst>
          </p:cNvPr>
          <p:cNvSpPr>
            <a:spLocks noGrp="1"/>
          </p:cNvSpPr>
          <p:nvPr/>
        </p:nvSpPr>
        <p:spPr>
          <a:xfrm>
            <a:off x="6489700" y="1981200"/>
            <a:ext cx="2578100" cy="171450"/>
          </a:xfrm>
          <a:prstGeom prst="rect">
            <a:avLst/>
          </a:prstGeom>
          <a:noFill/>
          <a:ln w="0">
            <a:noFill/>
          </a:ln>
        </p:spPr>
        <p:txBody>
          <a:bodyPr anchor="t">
            <a:noAutofit/>
          </a:bodyPr>
          <a:lstStyle/>
          <a:p>
            <a:pPr>
              <a:lnSpc>
                <a:spcPct val="108000"/>
              </a:lnSpc>
              <a:buNone/>
              <a:defRPr sz="750" b="1" i="0">
                <a:solidFill>
                  <a:srgbClr val="00A3FF"/>
                </a:solidFill>
                <a:latin typeface="Arial"/>
                <a:ea typeface="Arial"/>
                <a:cs typeface="Arial"/>
              </a:defRPr>
            </a:pPr>
            <a:r>
              <a:rPr sz="1100" b="1" i="0">
                <a:solidFill>
                  <a:srgbClr val="00A3FF"/>
                </a:solidFill>
                <a:latin typeface="Arial"/>
                <a:ea typeface="Arial"/>
                <a:cs typeface="Arial"/>
              </a:rPr>
              <a:t>HOW TO ACTIVATE IT</a:t>
            </a:r>
          </a:p>
        </p:txBody>
      </p:sp>
      <p:sp>
        <p:nvSpPr>
          <p:cNvPr id="10" name="Rectangle 9">
            <a:extLst>
              <a:ext uri="{FF2B5EF4-FFF2-40B4-BE49-F238E27FC236}">
                <a16:creationId xmlns:a16="http://schemas.microsoft.com/office/drawing/2014/main" id="{F63B8AD2-3A54-4EA8-841D-AC51DF73652D}"/>
              </a:ext>
            </a:extLst>
          </p:cNvPr>
          <p:cNvSpPr>
            <a:spLocks noGrp="1"/>
          </p:cNvSpPr>
          <p:nvPr/>
        </p:nvSpPr>
        <p:spPr>
          <a:xfrm>
            <a:off x="6438900" y="2381250"/>
            <a:ext cx="4953000" cy="2095500"/>
          </a:xfrm>
          <a:prstGeom prst="rect">
            <a:avLst/>
          </a:prstGeom>
          <a:noFill/>
          <a:ln w="0">
            <a:noFill/>
          </a:ln>
        </p:spPr>
        <p:txBody>
          <a:bodyPr anchor="t">
            <a:normAutofit/>
          </a:bodyPr>
          <a:lstStyle/>
          <a:p>
            <a:pPr marL="342900" indent="-342900">
              <a:lnSpc>
                <a:spcPct val="108000"/>
              </a:lnSpc>
              <a:buFont typeface="+mj-lt"/>
              <a:buAutoNum type="arabicPeriod"/>
              <a:defRPr sz="1275" b="0" i="0">
                <a:solidFill>
                  <a:srgbClr val="FFFFFF"/>
                </a:solidFill>
                <a:latin typeface="Arial"/>
                <a:ea typeface="Arial"/>
                <a:cs typeface="Arial"/>
              </a:defRPr>
            </a:pPr>
            <a:r>
              <a:rPr sz="1200" b="0" i="0">
                <a:solidFill>
                  <a:srgbClr val="FFFFFF"/>
                </a:solidFill>
                <a:latin typeface="Arial"/>
                <a:ea typeface="Arial"/>
                <a:cs typeface="Arial"/>
              </a:rPr>
              <a:t>Choose one initiative and run a pre-commitment working session.</a:t>
            </a:r>
          </a:p>
          <a:p>
            <a:pPr marL="342900" indent="-342900">
              <a:buFont typeface="+mj-lt"/>
              <a:buAutoNum type="arabicPeriod"/>
            </a:pPr>
            <a:endParaRPr sz="1200" b="0" i="0">
              <a:solidFill>
                <a:srgbClr val="FFFFFF"/>
              </a:solidFill>
              <a:latin typeface="Arial"/>
              <a:ea typeface="Arial"/>
              <a:cs typeface="Arial"/>
            </a:endParaRPr>
          </a:p>
          <a:p>
            <a:pPr marL="342900" indent="-342900">
              <a:lnSpc>
                <a:spcPct val="108000"/>
              </a:lnSpc>
              <a:buFont typeface="+mj-lt"/>
              <a:buAutoNum type="arabicPeriod"/>
              <a:defRPr sz="1275" b="0" i="0">
                <a:solidFill>
                  <a:srgbClr val="FFFFFF"/>
                </a:solidFill>
                <a:latin typeface="Arial"/>
                <a:ea typeface="Arial"/>
                <a:cs typeface="Arial"/>
              </a:defRPr>
            </a:pPr>
            <a:r>
              <a:rPr sz="1200" b="0" i="0">
                <a:solidFill>
                  <a:srgbClr val="FFFFFF"/>
                </a:solidFill>
                <a:latin typeface="Arial"/>
                <a:ea typeface="Arial"/>
                <a:cs typeface="Arial"/>
              </a:rPr>
              <a:t>Capture the open feasibility, design, release, and operational questions in one shared record.</a:t>
            </a:r>
          </a:p>
          <a:p>
            <a:pPr marL="342900" indent="-342900">
              <a:buFont typeface="+mj-lt"/>
              <a:buAutoNum type="arabicPeriod"/>
            </a:pPr>
            <a:endParaRPr sz="1200" b="0" i="0">
              <a:solidFill>
                <a:srgbClr val="FFFFFF"/>
              </a:solidFill>
              <a:latin typeface="Arial"/>
              <a:ea typeface="Arial"/>
              <a:cs typeface="Arial"/>
            </a:endParaRPr>
          </a:p>
          <a:p>
            <a:pPr marL="342900" indent="-342900">
              <a:lnSpc>
                <a:spcPct val="108000"/>
              </a:lnSpc>
              <a:buFont typeface="+mj-lt"/>
              <a:buAutoNum type="arabicPeriod"/>
              <a:defRPr sz="1275" b="0" i="0">
                <a:solidFill>
                  <a:srgbClr val="FFFFFF"/>
                </a:solidFill>
                <a:latin typeface="Arial"/>
                <a:ea typeface="Arial"/>
                <a:cs typeface="Arial"/>
              </a:defRPr>
            </a:pPr>
            <a:r>
              <a:rPr sz="1200" b="0" i="0">
                <a:solidFill>
                  <a:srgbClr val="FFFFFF"/>
                </a:solidFill>
                <a:latin typeface="Arial"/>
                <a:ea typeface="Arial"/>
                <a:cs typeface="Arial"/>
              </a:rPr>
              <a:t>Measure wait time, rework, and late discovery of issues before and after the test.</a:t>
            </a:r>
          </a:p>
        </p:txBody>
      </p:sp>
      <p:sp>
        <p:nvSpPr>
          <p:cNvPr id="11" name="Rectangle 10">
            <a:extLst>
              <a:ext uri="{FF2B5EF4-FFF2-40B4-BE49-F238E27FC236}">
                <a16:creationId xmlns:a16="http://schemas.microsoft.com/office/drawing/2014/main" id="{3DDAC3BD-975E-4088-8C50-850DDCADD22C}"/>
              </a:ext>
            </a:extLst>
          </p:cNvPr>
          <p:cNvSpPr>
            <a:spLocks noGrp="1"/>
          </p:cNvSpPr>
          <p:nvPr/>
        </p:nvSpPr>
        <p:spPr>
          <a:xfrm>
            <a:off x="457200" y="5124450"/>
            <a:ext cx="11277600" cy="590550"/>
          </a:xfrm>
          <a:prstGeom prst="rect">
            <a:avLst/>
          </a:prstGeom>
          <a:solidFill>
            <a:srgbClr val="0047FF"/>
          </a:solidFill>
          <a:ln w="0">
            <a:noFill/>
          </a:ln>
        </p:spPr>
        <p:txBody>
          <a:bodyPr/>
          <a:lstStyle/>
          <a:p>
            <a:endParaRPr lang="en-US"/>
          </a:p>
        </p:txBody>
      </p:sp>
      <p:sp>
        <p:nvSpPr>
          <p:cNvPr id="12" name="Rectangle 11">
            <a:extLst>
              <a:ext uri="{FF2B5EF4-FFF2-40B4-BE49-F238E27FC236}">
                <a16:creationId xmlns:a16="http://schemas.microsoft.com/office/drawing/2014/main" id="{1AB40A80-4AB5-45A6-A20F-61A92DFFCC1F}"/>
              </a:ext>
            </a:extLst>
          </p:cNvPr>
          <p:cNvSpPr>
            <a:spLocks noGrp="1"/>
          </p:cNvSpPr>
          <p:nvPr/>
        </p:nvSpPr>
        <p:spPr>
          <a:xfrm>
            <a:off x="685800" y="5207000"/>
            <a:ext cx="10820400" cy="431800"/>
          </a:xfrm>
          <a:prstGeom prst="rect">
            <a:avLst/>
          </a:prstGeom>
          <a:noFill/>
          <a:ln w="0">
            <a:noFill/>
          </a:ln>
        </p:spPr>
        <p:txBody>
          <a:bodyPr anchor="t">
            <a:normAutofit fontScale="99475"/>
          </a:bodyPr>
          <a:lstStyle/>
          <a:p>
            <a:pPr>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Owner: Product + Engineering | Dependency: stakeholder access, cadence, Figma and design context | Measure: rework, wait time, and issues found before commitment</a:t>
            </a:r>
          </a:p>
        </p:txBody>
      </p:sp>
      <p:sp>
        <p:nvSpPr>
          <p:cNvPr id="16" name="RecAccentBarLeft">
            <a:extLst>
              <a:ext uri="{FF2B5EF4-FFF2-40B4-BE49-F238E27FC236}">
                <a16:creationId xmlns:a16="http://schemas.microsoft.com/office/drawing/2014/main" id="{82C4DFB6-61A1-D344-95EC-AA2DEAE3E61E}"/>
              </a:ext>
            </a:extLst>
          </p:cNvPr>
          <p:cNvSpPr/>
          <p:nvPr/>
        </p:nvSpPr>
        <p:spPr>
          <a:xfrm>
            <a:off x="457200" y="1752600"/>
            <a:ext cx="5334000" cy="635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AccentBarRight">
            <a:extLst>
              <a:ext uri="{FF2B5EF4-FFF2-40B4-BE49-F238E27FC236}">
                <a16:creationId xmlns:a16="http://schemas.microsoft.com/office/drawing/2014/main" id="{0050E5DA-6025-0549-89C0-4D59C2857E4B}"/>
              </a:ext>
            </a:extLst>
          </p:cNvPr>
          <p:cNvSpPr/>
          <p:nvPr/>
        </p:nvSpPr>
        <p:spPr>
          <a:xfrm>
            <a:off x="6210300" y="1752600"/>
            <a:ext cx="5524500" cy="63500"/>
          </a:xfrm>
          <a:prstGeom prst="rect">
            <a:avLst/>
          </a:prstGeom>
          <a:solidFill>
            <a:srgbClr val="F900D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18" name="Graphic 14" descr="What should be done">
            <a:extLst>
              <a:ext uri="{FF2B5EF4-FFF2-40B4-BE49-F238E27FC236}">
                <a16:creationId xmlns:a16="http://schemas.microsoft.com/office/drawing/2014/main" id="{ACEC7135-770C-F375-58F2-E0090DAE19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504" y="1879600"/>
            <a:ext cx="304800" cy="304800"/>
          </a:xfrm>
          <a:prstGeom prst="rect">
            <a:avLst/>
          </a:prstGeom>
        </p:spPr>
      </p:pic>
      <p:pic>
        <p:nvPicPr>
          <p:cNvPr id="19" name="Graphic 15" descr="How to activate it">
            <a:extLst>
              <a:ext uri="{FF2B5EF4-FFF2-40B4-BE49-F238E27FC236}">
                <a16:creationId xmlns:a16="http://schemas.microsoft.com/office/drawing/2014/main" id="{1E4D9591-A068-DD9B-AF3C-C0DD1DF930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4656" y="1879600"/>
            <a:ext cx="304800" cy="304800"/>
          </a:xfrm>
          <a:prstGeom prst="rect">
            <a:avLst/>
          </a:prstGeom>
        </p:spPr>
      </p:pic>
      <p:sp>
        <p:nvSpPr>
          <p:cNvPr id="14" name="Footer Placeholder 1">
            <a:extLst>
              <a:ext uri="{FF2B5EF4-FFF2-40B4-BE49-F238E27FC236}">
                <a16:creationId xmlns:a16="http://schemas.microsoft.com/office/drawing/2014/main" id="{EF73F645-FAAF-B058-03CB-ADD0CAABB200}"/>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15" name="Slide Number Placeholder 2">
            <a:extLst>
              <a:ext uri="{FF2B5EF4-FFF2-40B4-BE49-F238E27FC236}">
                <a16:creationId xmlns:a16="http://schemas.microsoft.com/office/drawing/2014/main" id="{D1CFC883-E9F0-5607-A4B8-80258F283E6A}"/>
              </a:ext>
            </a:extLst>
          </p:cNvPr>
          <p:cNvSpPr>
            <a:spLocks noGrp="1"/>
          </p:cNvSpPr>
          <p:nvPr>
            <p:ph type="sldNum" idx="11"/>
          </p:nvPr>
        </p:nvSpPr>
        <p:spPr>
          <a:xfrm>
            <a:off x="11509578" y="6400799"/>
            <a:ext cx="218871" cy="167949"/>
          </a:xfrm>
        </p:spPr>
        <p:txBody>
          <a:bodyPr/>
          <a:lstStyle/>
          <a:p>
            <a:fld id="{63DCA5C9-2E11-4C67-86EB-AE1DE127DC64}" type="slidenum">
              <a:rPr lang="en-US" smtClean="0"/>
              <a:t>29</a:t>
            </a:fld>
            <a:endParaRPr lang="en-US"/>
          </a:p>
        </p:txBody>
      </p:sp>
    </p:spTree>
    <p:extLst>
      <p:ext uri="{BB962C8B-B14F-4D97-AF65-F5344CB8AC3E}">
        <p14:creationId xmlns:p14="http://schemas.microsoft.com/office/powerpoint/2010/main" val="16254180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lang="en-US" sz="2325" b="1">
                <a:solidFill>
                  <a:srgbClr val="070154"/>
                </a:solidFill>
                <a:latin typeface="Arial"/>
                <a:ea typeface="Arial"/>
                <a:cs typeface="Arial"/>
              </a:rPr>
              <a:t>Ship with proof feedback loop</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Move from release coordination to evidence that a product works in a realistic client environment.</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RECOMMENDATION </a:t>
            </a:r>
            <a:r>
              <a:rPr lang="en-US" sz="1100" b="1" i="0">
                <a:solidFill>
                  <a:srgbClr val="0047FF"/>
                </a:solidFill>
                <a:latin typeface="Arial"/>
                <a:ea typeface="Arial"/>
                <a:cs typeface="Arial"/>
              </a:rPr>
              <a:t>0</a:t>
            </a:r>
            <a:r>
              <a:rPr lang="en-US" sz="1100" b="1">
                <a:solidFill>
                  <a:srgbClr val="0047FF"/>
                </a:solidFill>
                <a:latin typeface="Arial"/>
                <a:ea typeface="Arial"/>
                <a:cs typeface="Arial"/>
              </a:rPr>
              <a:t>5</a:t>
            </a:r>
            <a:endParaRPr sz="1100" b="1" i="0">
              <a:solidFill>
                <a:srgbClr val="0047FF"/>
              </a:solidFill>
              <a:latin typeface="Arial"/>
              <a:ea typeface="Arial"/>
              <a:cs typeface="Arial"/>
            </a:endParaRPr>
          </a:p>
        </p:txBody>
      </p:sp>
      <p:sp>
        <p:nvSpPr>
          <p:cNvPr id="5" name="Rectangle 4">
            <a:extLst>
              <a:ext uri="{FF2B5EF4-FFF2-40B4-BE49-F238E27FC236}">
                <a16:creationId xmlns:a16="http://schemas.microsoft.com/office/drawing/2014/main" id="{94188F07-083F-427D-B3CE-F37C5204C52E}"/>
              </a:ext>
            </a:extLst>
          </p:cNvPr>
          <p:cNvSpPr>
            <a:spLocks noGrp="1"/>
          </p:cNvSpPr>
          <p:nvPr/>
        </p:nvSpPr>
        <p:spPr>
          <a:xfrm>
            <a:off x="457200" y="1752600"/>
            <a:ext cx="5334000" cy="3143250"/>
          </a:xfrm>
          <a:prstGeom prst="rect">
            <a:avLst/>
          </a:prstGeom>
          <a:solidFill>
            <a:srgbClr val="E8EEF8"/>
          </a:solidFill>
          <a:ln w="9525">
            <a:solidFill>
              <a:srgbClr val="CED7E6"/>
            </a:solidFill>
          </a:ln>
        </p:spPr>
        <p:txBody>
          <a:bodyPr/>
          <a:lstStyle/>
          <a:p>
            <a:endParaRPr lang="en-US"/>
          </a:p>
        </p:txBody>
      </p:sp>
      <p:sp>
        <p:nvSpPr>
          <p:cNvPr id="6" name="Rectangle 5">
            <a:extLst>
              <a:ext uri="{FF2B5EF4-FFF2-40B4-BE49-F238E27FC236}">
                <a16:creationId xmlns:a16="http://schemas.microsoft.com/office/drawing/2014/main" id="{49242DB0-A823-45AE-8BE4-19F564138E4B}"/>
              </a:ext>
            </a:extLst>
          </p:cNvPr>
          <p:cNvSpPr>
            <a:spLocks noGrp="1"/>
          </p:cNvSpPr>
          <p:nvPr/>
        </p:nvSpPr>
        <p:spPr>
          <a:xfrm>
            <a:off x="6210300" y="1752600"/>
            <a:ext cx="5524500" cy="3143250"/>
          </a:xfrm>
          <a:prstGeom prst="rect">
            <a:avLst/>
          </a:prstGeom>
          <a:solidFill>
            <a:srgbClr val="070154"/>
          </a:solidFill>
          <a:ln w="9525">
            <a:solidFill>
              <a:srgbClr val="0047FF"/>
            </a:solidFill>
          </a:ln>
        </p:spPr>
        <p:txBody>
          <a:bodyPr/>
          <a:lstStyle/>
          <a:p>
            <a:endParaRPr lang="en-US"/>
          </a:p>
        </p:txBody>
      </p:sp>
      <p:sp>
        <p:nvSpPr>
          <p:cNvPr id="7" name="Rectangle 6">
            <a:extLst>
              <a:ext uri="{FF2B5EF4-FFF2-40B4-BE49-F238E27FC236}">
                <a16:creationId xmlns:a16="http://schemas.microsoft.com/office/drawing/2014/main" id="{3764CA55-46F1-47F4-AB01-A011345A0419}"/>
              </a:ext>
            </a:extLst>
          </p:cNvPr>
          <p:cNvSpPr>
            <a:spLocks noGrp="1"/>
          </p:cNvSpPr>
          <p:nvPr/>
        </p:nvSpPr>
        <p:spPr>
          <a:xfrm>
            <a:off x="736600" y="1981200"/>
            <a:ext cx="25781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WHAT SHOULD BE DONE</a:t>
            </a:r>
          </a:p>
        </p:txBody>
      </p:sp>
      <p:sp>
        <p:nvSpPr>
          <p:cNvPr id="8" name="Rectangle 7">
            <a:extLst>
              <a:ext uri="{FF2B5EF4-FFF2-40B4-BE49-F238E27FC236}">
                <a16:creationId xmlns:a16="http://schemas.microsoft.com/office/drawing/2014/main" id="{94FD9CD8-E1B8-4193-A0A3-E5C0232ACAFD}"/>
              </a:ext>
            </a:extLst>
          </p:cNvPr>
          <p:cNvSpPr>
            <a:spLocks noGrp="1"/>
          </p:cNvSpPr>
          <p:nvPr/>
        </p:nvSpPr>
        <p:spPr>
          <a:xfrm>
            <a:off x="685800" y="2381250"/>
            <a:ext cx="4762500" cy="2095500"/>
          </a:xfrm>
          <a:prstGeom prst="rect">
            <a:avLst/>
          </a:prstGeom>
          <a:noFill/>
          <a:ln w="0">
            <a:noFill/>
          </a:ln>
        </p:spPr>
        <p:txBody>
          <a:bodyPr lIns="91440" tIns="45720" rIns="91440" bIns="45720" anchor="t">
            <a:normAutofit/>
          </a:bodyPr>
          <a:lstStyle/>
          <a:p>
            <a:pPr marL="228600" indent="-228600">
              <a:lnSpc>
                <a:spcPct val="108000"/>
              </a:lnSpc>
              <a:buFont typeface="+mj-lt"/>
              <a:buAutoNum type="arabicPeriod"/>
            </a:pPr>
            <a:r>
              <a:rPr lang="en-US" sz="1200">
                <a:solidFill>
                  <a:srgbClr val="070154"/>
                </a:solidFill>
                <a:latin typeface="Arial"/>
                <a:cs typeface="Arial"/>
              </a:rPr>
              <a:t>Define the smallest release evidence path for each selected initiative, including workflow, data, owner, and decision threshold.</a:t>
            </a:r>
          </a:p>
          <a:p>
            <a:pPr marL="228600" indent="-228600">
              <a:lnSpc>
                <a:spcPct val="108000"/>
              </a:lnSpc>
              <a:buFont typeface="+mj-lt"/>
              <a:buAutoNum type="arabicPeriod"/>
            </a:pPr>
            <a:endParaRPr lang="en-US" sz="1200">
              <a:solidFill>
                <a:srgbClr val="070154"/>
              </a:solidFill>
              <a:latin typeface="Arial"/>
              <a:cs typeface="Arial"/>
            </a:endParaRPr>
          </a:p>
          <a:p>
            <a:pPr marL="228600" indent="-228600">
              <a:lnSpc>
                <a:spcPct val="108000"/>
              </a:lnSpc>
              <a:buFont typeface="+mj-lt"/>
              <a:buAutoNum type="arabicPeriod"/>
            </a:pPr>
            <a:r>
              <a:rPr lang="en-US" sz="1200">
                <a:solidFill>
                  <a:srgbClr val="070154"/>
                </a:solidFill>
                <a:latin typeface="Arial"/>
                <a:cs typeface="Arial"/>
              </a:rPr>
              <a:t>Create realistic partner-system or client-facing validation where current test data and environments are not representative.</a:t>
            </a:r>
          </a:p>
          <a:p>
            <a:pPr marL="228600" indent="-228600">
              <a:lnSpc>
                <a:spcPct val="108000"/>
              </a:lnSpc>
              <a:buFont typeface="+mj-lt"/>
              <a:buAutoNum type="arabicPeriod"/>
            </a:pPr>
            <a:endParaRPr lang="en-US" sz="1200">
              <a:solidFill>
                <a:srgbClr val="070154"/>
              </a:solidFill>
              <a:latin typeface="Arial"/>
              <a:cs typeface="Arial"/>
            </a:endParaRPr>
          </a:p>
          <a:p>
            <a:pPr marL="228600" indent="-228600">
              <a:lnSpc>
                <a:spcPct val="108000"/>
              </a:lnSpc>
              <a:buFont typeface="+mj-lt"/>
              <a:buAutoNum type="arabicPeriod"/>
            </a:pPr>
            <a:r>
              <a:rPr lang="en-US" sz="1200">
                <a:solidFill>
                  <a:srgbClr val="070154"/>
                </a:solidFill>
                <a:latin typeface="Arial"/>
                <a:cs typeface="Arial"/>
              </a:rPr>
              <a:t>Carry post-launch results, issues, and adoption signals back into the next roadmap and prioritization decision.</a:t>
            </a:r>
          </a:p>
        </p:txBody>
      </p:sp>
      <p:sp>
        <p:nvSpPr>
          <p:cNvPr id="9" name="Rectangle 8">
            <a:extLst>
              <a:ext uri="{FF2B5EF4-FFF2-40B4-BE49-F238E27FC236}">
                <a16:creationId xmlns:a16="http://schemas.microsoft.com/office/drawing/2014/main" id="{970FB3C9-A390-4A8C-A497-029649E61B6F}"/>
              </a:ext>
            </a:extLst>
          </p:cNvPr>
          <p:cNvSpPr>
            <a:spLocks noGrp="1"/>
          </p:cNvSpPr>
          <p:nvPr/>
        </p:nvSpPr>
        <p:spPr>
          <a:xfrm>
            <a:off x="6489700" y="1981200"/>
            <a:ext cx="2578100" cy="171450"/>
          </a:xfrm>
          <a:prstGeom prst="rect">
            <a:avLst/>
          </a:prstGeom>
          <a:noFill/>
          <a:ln w="0">
            <a:noFill/>
          </a:ln>
        </p:spPr>
        <p:txBody>
          <a:bodyPr anchor="t">
            <a:noAutofit/>
          </a:bodyPr>
          <a:lstStyle/>
          <a:p>
            <a:pPr>
              <a:lnSpc>
                <a:spcPct val="108000"/>
              </a:lnSpc>
              <a:buNone/>
              <a:defRPr sz="750" b="1" i="0">
                <a:solidFill>
                  <a:srgbClr val="00A3FF"/>
                </a:solidFill>
                <a:latin typeface="Arial"/>
                <a:ea typeface="Arial"/>
                <a:cs typeface="Arial"/>
              </a:defRPr>
            </a:pPr>
            <a:r>
              <a:rPr sz="1100" b="1" i="0">
                <a:solidFill>
                  <a:srgbClr val="00A3FF"/>
                </a:solidFill>
                <a:latin typeface="Arial"/>
                <a:ea typeface="Arial"/>
                <a:cs typeface="Arial"/>
              </a:rPr>
              <a:t>HOW TO ACTIVATE IT</a:t>
            </a:r>
          </a:p>
        </p:txBody>
      </p:sp>
      <p:sp>
        <p:nvSpPr>
          <p:cNvPr id="10" name="Rectangle 9">
            <a:extLst>
              <a:ext uri="{FF2B5EF4-FFF2-40B4-BE49-F238E27FC236}">
                <a16:creationId xmlns:a16="http://schemas.microsoft.com/office/drawing/2014/main" id="{CAF51253-E50B-4367-B5D2-0A4E54025DC2}"/>
              </a:ext>
            </a:extLst>
          </p:cNvPr>
          <p:cNvSpPr>
            <a:spLocks noGrp="1"/>
          </p:cNvSpPr>
          <p:nvPr/>
        </p:nvSpPr>
        <p:spPr>
          <a:xfrm>
            <a:off x="6438900" y="2381250"/>
            <a:ext cx="4953000" cy="2095500"/>
          </a:xfrm>
          <a:prstGeom prst="rect">
            <a:avLst/>
          </a:prstGeom>
          <a:noFill/>
          <a:ln w="0">
            <a:noFill/>
          </a:ln>
        </p:spPr>
        <p:txBody>
          <a:bodyPr anchor="t">
            <a:normAutofit/>
          </a:bodyPr>
          <a:lstStyle/>
          <a:p>
            <a:pPr marL="342900" indent="-342900">
              <a:lnSpc>
                <a:spcPct val="108000"/>
              </a:lnSpc>
              <a:buFont typeface="+mj-lt"/>
              <a:buAutoNum type="arabicPeriod"/>
            </a:pPr>
            <a:r>
              <a:rPr lang="en-US" sz="1200">
                <a:solidFill>
                  <a:srgbClr val="FFFFFF"/>
                </a:solidFill>
                <a:cs typeface="Arial"/>
              </a:rPr>
              <a:t>Use the Reconcile AI release path as the first test and identify the highest-risk client workflow.</a:t>
            </a:r>
          </a:p>
          <a:p>
            <a:pPr marL="342900" indent="-342900">
              <a:lnSpc>
                <a:spcPct val="108000"/>
              </a:lnSpc>
              <a:buFont typeface="+mj-lt"/>
              <a:buAutoNum type="arabicPeriod"/>
            </a:pPr>
            <a:endParaRPr lang="en-US" sz="1200">
              <a:solidFill>
                <a:srgbClr val="FFFFFF"/>
              </a:solidFill>
              <a:cs typeface="Arial"/>
            </a:endParaRPr>
          </a:p>
          <a:p>
            <a:pPr marL="342900" indent="-342900">
              <a:lnSpc>
                <a:spcPct val="108000"/>
              </a:lnSpc>
              <a:buFont typeface="+mj-lt"/>
              <a:buAutoNum type="arabicPeriod"/>
            </a:pPr>
            <a:r>
              <a:rPr lang="en-US" sz="1200">
                <a:solidFill>
                  <a:srgbClr val="FFFFFF"/>
                </a:solidFill>
                <a:cs typeface="Arial"/>
              </a:rPr>
              <a:t>Complete an evidence review before release with Product, Engineering, Release, Operations, and the initiative owner.</a:t>
            </a:r>
          </a:p>
          <a:p>
            <a:pPr marL="342900" indent="-342900">
              <a:lnSpc>
                <a:spcPct val="108000"/>
              </a:lnSpc>
              <a:buFont typeface="+mj-lt"/>
              <a:buAutoNum type="arabicPeriod"/>
            </a:pPr>
            <a:endParaRPr lang="en-US" sz="1200">
              <a:solidFill>
                <a:srgbClr val="FFFFFF"/>
              </a:solidFill>
              <a:cs typeface="Arial"/>
            </a:endParaRPr>
          </a:p>
          <a:p>
            <a:pPr marL="342900" indent="-342900">
              <a:lnSpc>
                <a:spcPct val="108000"/>
              </a:lnSpc>
              <a:buFont typeface="+mj-lt"/>
              <a:buAutoNum type="arabicPeriod"/>
            </a:pPr>
            <a:r>
              <a:rPr lang="en-US" sz="1200">
                <a:solidFill>
                  <a:srgbClr val="FFFFFF"/>
                </a:solidFill>
                <a:cs typeface="Arial"/>
              </a:rPr>
              <a:t>Compare issues found before versus after release, then update the checklist and roadmap based on what the evidence shows.</a:t>
            </a:r>
          </a:p>
        </p:txBody>
      </p:sp>
      <p:sp>
        <p:nvSpPr>
          <p:cNvPr id="11" name="Rectangle 10">
            <a:extLst>
              <a:ext uri="{FF2B5EF4-FFF2-40B4-BE49-F238E27FC236}">
                <a16:creationId xmlns:a16="http://schemas.microsoft.com/office/drawing/2014/main" id="{68A742DC-C7BF-4F91-9946-CB95D36514C9}"/>
              </a:ext>
            </a:extLst>
          </p:cNvPr>
          <p:cNvSpPr>
            <a:spLocks noGrp="1"/>
          </p:cNvSpPr>
          <p:nvPr/>
        </p:nvSpPr>
        <p:spPr>
          <a:xfrm>
            <a:off x="457200" y="5124450"/>
            <a:ext cx="11277600" cy="590550"/>
          </a:xfrm>
          <a:prstGeom prst="rect">
            <a:avLst/>
          </a:prstGeom>
          <a:solidFill>
            <a:srgbClr val="0047FF"/>
          </a:solidFill>
          <a:ln w="0">
            <a:noFill/>
          </a:ln>
        </p:spPr>
        <p:txBody>
          <a:bodyPr/>
          <a:lstStyle/>
          <a:p>
            <a:endParaRPr lang="en-US"/>
          </a:p>
        </p:txBody>
      </p:sp>
      <p:sp>
        <p:nvSpPr>
          <p:cNvPr id="12" name="Rectangle 11">
            <a:extLst>
              <a:ext uri="{FF2B5EF4-FFF2-40B4-BE49-F238E27FC236}">
                <a16:creationId xmlns:a16="http://schemas.microsoft.com/office/drawing/2014/main" id="{5D7D3234-F1D2-4621-BF90-199527C1439F}"/>
              </a:ext>
            </a:extLst>
          </p:cNvPr>
          <p:cNvSpPr>
            <a:spLocks noGrp="1"/>
          </p:cNvSpPr>
          <p:nvPr/>
        </p:nvSpPr>
        <p:spPr>
          <a:xfrm>
            <a:off x="697523" y="5207000"/>
            <a:ext cx="11007968" cy="496276"/>
          </a:xfrm>
          <a:prstGeom prst="rect">
            <a:avLst/>
          </a:prstGeom>
          <a:noFill/>
          <a:ln w="0">
            <a:noFill/>
          </a:ln>
        </p:spPr>
        <p:txBody>
          <a:bodyPr lIns="91440" tIns="45720" rIns="91440" bIns="45720" anchor="t">
            <a:noAutofit/>
          </a:bodyPr>
          <a:lstStyle/>
          <a:p>
            <a:pPr>
              <a:lnSpc>
                <a:spcPct val="108000"/>
              </a:lnSpc>
              <a:defRPr sz="1050" b="1" i="0">
                <a:solidFill>
                  <a:srgbClr val="FFFFFF"/>
                </a:solidFill>
                <a:latin typeface="Arial"/>
                <a:ea typeface="Arial"/>
                <a:cs typeface="Arial"/>
              </a:defRPr>
            </a:pPr>
            <a:r>
              <a:rPr lang="en-US" sz="1100" b="1">
                <a:solidFill>
                  <a:srgbClr val="FFFFFF"/>
                </a:solidFill>
                <a:latin typeface="Arial"/>
                <a:ea typeface="Arial"/>
                <a:cs typeface="Arial"/>
              </a:rPr>
              <a:t>Owner: Product + Release + Operations | Dependency: realistic test data, partner environments, enablement | Measure: validation coverage, post-release defects, and time to feedback</a:t>
            </a:r>
            <a:endParaRPr lang="en-US" sz="1100"/>
          </a:p>
        </p:txBody>
      </p:sp>
      <p:sp>
        <p:nvSpPr>
          <p:cNvPr id="16" name="RecAccentBarLeft">
            <a:extLst>
              <a:ext uri="{FF2B5EF4-FFF2-40B4-BE49-F238E27FC236}">
                <a16:creationId xmlns:a16="http://schemas.microsoft.com/office/drawing/2014/main" id="{DC75A6D6-B75B-0B4B-8C43-95B346D65699}"/>
              </a:ext>
            </a:extLst>
          </p:cNvPr>
          <p:cNvSpPr/>
          <p:nvPr/>
        </p:nvSpPr>
        <p:spPr>
          <a:xfrm>
            <a:off x="457200" y="1752600"/>
            <a:ext cx="5334000" cy="635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AccentBarRight">
            <a:extLst>
              <a:ext uri="{FF2B5EF4-FFF2-40B4-BE49-F238E27FC236}">
                <a16:creationId xmlns:a16="http://schemas.microsoft.com/office/drawing/2014/main" id="{D83F10E9-33D7-AA49-815C-194CB0F147CD}"/>
              </a:ext>
            </a:extLst>
          </p:cNvPr>
          <p:cNvSpPr/>
          <p:nvPr/>
        </p:nvSpPr>
        <p:spPr>
          <a:xfrm>
            <a:off x="6210300" y="1752600"/>
            <a:ext cx="5524500" cy="63500"/>
          </a:xfrm>
          <a:prstGeom prst="rect">
            <a:avLst/>
          </a:prstGeom>
          <a:solidFill>
            <a:srgbClr val="F900D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18" name="Graphic 14" descr="What should be done">
            <a:extLst>
              <a:ext uri="{FF2B5EF4-FFF2-40B4-BE49-F238E27FC236}">
                <a16:creationId xmlns:a16="http://schemas.microsoft.com/office/drawing/2014/main" id="{48997731-74A8-D582-269D-061636CE19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504" y="1879600"/>
            <a:ext cx="304800" cy="304800"/>
          </a:xfrm>
          <a:prstGeom prst="rect">
            <a:avLst/>
          </a:prstGeom>
        </p:spPr>
      </p:pic>
      <p:pic>
        <p:nvPicPr>
          <p:cNvPr id="19" name="Graphic 15" descr="How to activate it">
            <a:extLst>
              <a:ext uri="{FF2B5EF4-FFF2-40B4-BE49-F238E27FC236}">
                <a16:creationId xmlns:a16="http://schemas.microsoft.com/office/drawing/2014/main" id="{8A274387-E6D8-A83D-4F3C-7884ED76DFC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4656" y="1879600"/>
            <a:ext cx="304800" cy="304800"/>
          </a:xfrm>
          <a:prstGeom prst="rect">
            <a:avLst/>
          </a:prstGeom>
        </p:spPr>
      </p:pic>
      <p:sp>
        <p:nvSpPr>
          <p:cNvPr id="14" name="Footer Placeholder 1">
            <a:extLst>
              <a:ext uri="{FF2B5EF4-FFF2-40B4-BE49-F238E27FC236}">
                <a16:creationId xmlns:a16="http://schemas.microsoft.com/office/drawing/2014/main" id="{42A3E038-EC95-23E2-92F4-6C0375472F21}"/>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15" name="Slide Number Placeholder 2">
            <a:extLst>
              <a:ext uri="{FF2B5EF4-FFF2-40B4-BE49-F238E27FC236}">
                <a16:creationId xmlns:a16="http://schemas.microsoft.com/office/drawing/2014/main" id="{BE7CE38F-AE09-252C-B397-DA3A1F324FE9}"/>
              </a:ext>
            </a:extLst>
          </p:cNvPr>
          <p:cNvSpPr>
            <a:spLocks noGrp="1"/>
          </p:cNvSpPr>
          <p:nvPr>
            <p:ph type="sldNum" idx="11"/>
          </p:nvPr>
        </p:nvSpPr>
        <p:spPr>
          <a:xfrm>
            <a:off x="11509578" y="6400799"/>
            <a:ext cx="218871" cy="167949"/>
          </a:xfrm>
        </p:spPr>
        <p:txBody>
          <a:bodyPr/>
          <a:lstStyle/>
          <a:p>
            <a:fld id="{63DCA5C9-2E11-4C67-86EB-AE1DE127DC64}" type="slidenum">
              <a:rPr lang="en-US" smtClean="0"/>
              <a:t>30</a:t>
            </a:fld>
            <a:endParaRPr lang="en-US"/>
          </a:p>
        </p:txBody>
      </p:sp>
    </p:spTree>
    <p:extLst>
      <p:ext uri="{BB962C8B-B14F-4D97-AF65-F5344CB8AC3E}">
        <p14:creationId xmlns:p14="http://schemas.microsoft.com/office/powerpoint/2010/main" val="3028938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60EF5-43A9-77D9-27C6-990B7E2DA8F8}"/>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E39DBC34-B621-8577-8FAA-8777CBCF57B3}"/>
              </a:ext>
            </a:extLst>
          </p:cNvPr>
          <p:cNvPicPr>
            <a:picLocks noChangeAspect="1"/>
          </p:cNvPicPr>
          <p:nvPr/>
        </p:nvPicPr>
        <p:blipFill>
          <a:blip r:embed="rId4"/>
          <a:stretch/>
        </p:blipFill>
        <p:spPr>
          <a:xfrm>
            <a:off x="10608469" y="171450"/>
            <a:ext cx="1071563" cy="476250"/>
          </a:xfrm>
          <a:prstGeom prst="rect">
            <a:avLst/>
          </a:prstGeom>
        </p:spPr>
      </p:pic>
      <p:sp>
        <p:nvSpPr>
          <p:cNvPr id="14" name="Rectangle 13">
            <a:extLst>
              <a:ext uri="{FF2B5EF4-FFF2-40B4-BE49-F238E27FC236}">
                <a16:creationId xmlns:a16="http://schemas.microsoft.com/office/drawing/2014/main" id="{4ECC2A1C-CB33-DEF4-6A1B-424D379198C5}"/>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Extend the Reconcile AI pocket into reusable, human-supervised practices across the PDLC.</a:t>
            </a:r>
          </a:p>
        </p:txBody>
      </p:sp>
      <p:sp>
        <p:nvSpPr>
          <p:cNvPr id="15" name="Rectangle 14">
            <a:extLst>
              <a:ext uri="{FF2B5EF4-FFF2-40B4-BE49-F238E27FC236}">
                <a16:creationId xmlns:a16="http://schemas.microsoft.com/office/drawing/2014/main" id="{B9296298-062F-B0DF-E013-BA38CD08548D}"/>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ENGINEERING E5</a:t>
            </a:r>
          </a:p>
        </p:txBody>
      </p:sp>
      <p:sp>
        <p:nvSpPr>
          <p:cNvPr id="20" name="Rectangle 19">
            <a:extLst>
              <a:ext uri="{FF2B5EF4-FFF2-40B4-BE49-F238E27FC236}">
                <a16:creationId xmlns:a16="http://schemas.microsoft.com/office/drawing/2014/main" id="{B309E424-B8DC-1C99-B95B-753C29874280}"/>
              </a:ext>
            </a:extLst>
          </p:cNvPr>
          <p:cNvSpPr>
            <a:spLocks noGrp="1"/>
          </p:cNvSpPr>
          <p:nvPr/>
        </p:nvSpPr>
        <p:spPr>
          <a:xfrm>
            <a:off x="457200" y="1752600"/>
            <a:ext cx="5334000" cy="3143250"/>
          </a:xfrm>
          <a:prstGeom prst="rect">
            <a:avLst/>
          </a:prstGeom>
          <a:solidFill>
            <a:srgbClr val="E8EEF8"/>
          </a:solidFill>
          <a:ln w="9525">
            <a:solidFill>
              <a:srgbClr val="CED7E6"/>
            </a:solidFill>
          </a:ln>
        </p:spPr>
        <p:txBody>
          <a:bodyPr/>
          <a:lstStyle/>
          <a:p>
            <a:endParaRPr lang="en-US"/>
          </a:p>
        </p:txBody>
      </p:sp>
      <p:sp>
        <p:nvSpPr>
          <p:cNvPr id="21" name="Rectangle 20">
            <a:extLst>
              <a:ext uri="{FF2B5EF4-FFF2-40B4-BE49-F238E27FC236}">
                <a16:creationId xmlns:a16="http://schemas.microsoft.com/office/drawing/2014/main" id="{52451C8E-8AD2-307A-05D0-564AD0345882}"/>
              </a:ext>
            </a:extLst>
          </p:cNvPr>
          <p:cNvSpPr>
            <a:spLocks noGrp="1"/>
          </p:cNvSpPr>
          <p:nvPr/>
        </p:nvSpPr>
        <p:spPr>
          <a:xfrm>
            <a:off x="6210300" y="1752600"/>
            <a:ext cx="5524500" cy="3143250"/>
          </a:xfrm>
          <a:prstGeom prst="rect">
            <a:avLst/>
          </a:prstGeom>
          <a:solidFill>
            <a:srgbClr val="070154"/>
          </a:solidFill>
          <a:ln w="9525">
            <a:solidFill>
              <a:srgbClr val="0047FF"/>
            </a:solidFill>
          </a:ln>
        </p:spPr>
        <p:txBody>
          <a:bodyPr/>
          <a:lstStyle/>
          <a:p>
            <a:endParaRPr lang="en-US"/>
          </a:p>
        </p:txBody>
      </p:sp>
      <p:sp>
        <p:nvSpPr>
          <p:cNvPr id="22" name="Rectangle 21">
            <a:extLst>
              <a:ext uri="{FF2B5EF4-FFF2-40B4-BE49-F238E27FC236}">
                <a16:creationId xmlns:a16="http://schemas.microsoft.com/office/drawing/2014/main" id="{6D7314E2-4EB7-D5E0-05B6-6BB350EA8193}"/>
              </a:ext>
            </a:extLst>
          </p:cNvPr>
          <p:cNvSpPr>
            <a:spLocks noGrp="1"/>
          </p:cNvSpPr>
          <p:nvPr/>
        </p:nvSpPr>
        <p:spPr>
          <a:xfrm>
            <a:off x="736600" y="1981200"/>
            <a:ext cx="25781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WHAT SHOULD BE DONE</a:t>
            </a:r>
          </a:p>
        </p:txBody>
      </p:sp>
      <p:sp>
        <p:nvSpPr>
          <p:cNvPr id="23" name="Rectangle 22">
            <a:extLst>
              <a:ext uri="{FF2B5EF4-FFF2-40B4-BE49-F238E27FC236}">
                <a16:creationId xmlns:a16="http://schemas.microsoft.com/office/drawing/2014/main" id="{11F82A80-C9B6-780C-F8DE-0629FE1F24BC}"/>
              </a:ext>
            </a:extLst>
          </p:cNvPr>
          <p:cNvSpPr>
            <a:spLocks noGrp="1"/>
          </p:cNvSpPr>
          <p:nvPr/>
        </p:nvSpPr>
        <p:spPr>
          <a:xfrm>
            <a:off x="685800" y="2381250"/>
            <a:ext cx="4762500" cy="2095500"/>
          </a:xfrm>
          <a:prstGeom prst="rect">
            <a:avLst/>
          </a:prstGeom>
          <a:noFill/>
          <a:ln w="0">
            <a:noFill/>
          </a:ln>
        </p:spPr>
        <p:txBody>
          <a:bodyPr lIns="91440" tIns="45720" rIns="91440" bIns="45720" anchor="t">
            <a:normAutofit/>
          </a:bodyPr>
          <a:lstStyle/>
          <a:p>
            <a:pPr marL="228600" indent="-228600">
              <a:lnSpc>
                <a:spcPct val="108000"/>
              </a:lnSpc>
              <a:buAutoNum type="arabicPeriod"/>
              <a:defRPr sz="1275" b="0" i="0">
                <a:solidFill>
                  <a:srgbClr val="070154"/>
                </a:solidFill>
                <a:latin typeface="Arial"/>
                <a:ea typeface="Arial"/>
                <a:cs typeface="Arial"/>
              </a:defRPr>
            </a:pPr>
            <a:r>
              <a:rPr sz="1200" b="0" i="0">
                <a:solidFill>
                  <a:srgbClr val="070154"/>
                </a:solidFill>
                <a:latin typeface="Arial"/>
                <a:ea typeface="Arial"/>
                <a:cs typeface="Arial"/>
              </a:rPr>
              <a:t>Classify lifecycle tasks that are safe to automate, require assistance, or require mandatory human review</a:t>
            </a:r>
            <a:r>
              <a:rPr lang="en-US" sz="1200">
                <a:solidFill>
                  <a:srgbClr val="070154"/>
                </a:solidFill>
                <a:ea typeface="+mn-lt"/>
                <a:cs typeface="+mn-lt"/>
              </a:rPr>
              <a:t>, and name the sanctioned tools for PHI-bearing work.</a:t>
            </a:r>
            <a:endParaRPr lang="en-US"/>
          </a:p>
          <a:p>
            <a:pPr marL="228600" indent="-228600">
              <a:buFont typeface="+mj-lt"/>
              <a:buAutoNum type="arabicPeriod"/>
            </a:pPr>
            <a:endParaRPr sz="1200" b="0" i="0">
              <a:solidFill>
                <a:srgbClr val="070154"/>
              </a:solidFill>
              <a:latin typeface="Arial"/>
              <a:ea typeface="Arial"/>
              <a:cs typeface="Arial"/>
            </a:endParaRPr>
          </a:p>
          <a:p>
            <a:pPr marL="228600" indent="-228600">
              <a:lnSpc>
                <a:spcPct val="108000"/>
              </a:lnSpc>
              <a:buFont typeface="+mj-lt"/>
              <a:buAutoNum type="arabicPeriod"/>
              <a:defRPr sz="1275" b="0" i="0">
                <a:solidFill>
                  <a:srgbClr val="070154"/>
                </a:solidFill>
                <a:latin typeface="Arial"/>
                <a:ea typeface="Arial"/>
                <a:cs typeface="Arial"/>
              </a:defRPr>
            </a:pPr>
            <a:r>
              <a:rPr sz="1200" b="0" i="0">
                <a:solidFill>
                  <a:srgbClr val="070154"/>
                </a:solidFill>
                <a:latin typeface="Arial"/>
                <a:ea typeface="Arial"/>
                <a:cs typeface="Arial"/>
              </a:rPr>
              <a:t>Create reusable skills, prompts, documentation, and versioning that teams can discover and reuse.</a:t>
            </a:r>
          </a:p>
          <a:p>
            <a:pPr marL="228600" indent="-228600">
              <a:buFont typeface="+mj-lt"/>
              <a:buAutoNum type="arabicPeriod"/>
            </a:pPr>
            <a:endParaRPr sz="1200" b="0" i="0">
              <a:solidFill>
                <a:srgbClr val="070154"/>
              </a:solidFill>
              <a:latin typeface="Arial"/>
              <a:ea typeface="Arial"/>
              <a:cs typeface="Arial"/>
            </a:endParaRPr>
          </a:p>
          <a:p>
            <a:pPr marL="228600" indent="-228600">
              <a:lnSpc>
                <a:spcPct val="108000"/>
              </a:lnSpc>
              <a:buFont typeface="+mj-lt"/>
              <a:buAutoNum type="arabicPeriod"/>
              <a:defRPr sz="1275" b="0" i="0">
                <a:solidFill>
                  <a:srgbClr val="070154"/>
                </a:solidFill>
                <a:latin typeface="Arial"/>
                <a:ea typeface="Arial"/>
                <a:cs typeface="Arial"/>
              </a:defRPr>
            </a:pPr>
            <a:r>
              <a:rPr sz="1200" b="0" i="0">
                <a:solidFill>
                  <a:srgbClr val="070154"/>
                </a:solidFill>
                <a:latin typeface="Arial"/>
                <a:ea typeface="Arial"/>
                <a:cs typeface="Arial"/>
              </a:rPr>
              <a:t>Track speed and quality together through cycle time, defects, rework, cost, and review evidence.</a:t>
            </a:r>
          </a:p>
        </p:txBody>
      </p:sp>
      <p:sp>
        <p:nvSpPr>
          <p:cNvPr id="24" name="Rectangle 23">
            <a:extLst>
              <a:ext uri="{FF2B5EF4-FFF2-40B4-BE49-F238E27FC236}">
                <a16:creationId xmlns:a16="http://schemas.microsoft.com/office/drawing/2014/main" id="{C550B466-C8F5-AF87-0A26-A8E6086A2253}"/>
              </a:ext>
            </a:extLst>
          </p:cNvPr>
          <p:cNvSpPr>
            <a:spLocks noGrp="1"/>
          </p:cNvSpPr>
          <p:nvPr/>
        </p:nvSpPr>
        <p:spPr>
          <a:xfrm>
            <a:off x="6489700" y="1981200"/>
            <a:ext cx="2578100" cy="171450"/>
          </a:xfrm>
          <a:prstGeom prst="rect">
            <a:avLst/>
          </a:prstGeom>
          <a:noFill/>
          <a:ln w="0">
            <a:noFill/>
          </a:ln>
        </p:spPr>
        <p:txBody>
          <a:bodyPr anchor="t">
            <a:noAutofit/>
          </a:bodyPr>
          <a:lstStyle/>
          <a:p>
            <a:pPr>
              <a:lnSpc>
                <a:spcPct val="108000"/>
              </a:lnSpc>
              <a:buNone/>
              <a:defRPr sz="750" b="1" i="0">
                <a:solidFill>
                  <a:srgbClr val="00A3FF"/>
                </a:solidFill>
                <a:latin typeface="Arial"/>
                <a:ea typeface="Arial"/>
                <a:cs typeface="Arial"/>
              </a:defRPr>
            </a:pPr>
            <a:r>
              <a:rPr sz="1100" b="1" i="0">
                <a:solidFill>
                  <a:srgbClr val="00A3FF"/>
                </a:solidFill>
                <a:latin typeface="Arial"/>
                <a:ea typeface="Arial"/>
                <a:cs typeface="Arial"/>
              </a:rPr>
              <a:t>HOW TO ACTIVATE IT</a:t>
            </a:r>
          </a:p>
        </p:txBody>
      </p:sp>
      <p:sp>
        <p:nvSpPr>
          <p:cNvPr id="25" name="Rectangle 24">
            <a:extLst>
              <a:ext uri="{FF2B5EF4-FFF2-40B4-BE49-F238E27FC236}">
                <a16:creationId xmlns:a16="http://schemas.microsoft.com/office/drawing/2014/main" id="{1CB7F3EC-C9B1-9440-CB8C-3DAB05ACF5A1}"/>
              </a:ext>
            </a:extLst>
          </p:cNvPr>
          <p:cNvSpPr>
            <a:spLocks noGrp="1"/>
          </p:cNvSpPr>
          <p:nvPr/>
        </p:nvSpPr>
        <p:spPr>
          <a:xfrm>
            <a:off x="6467122" y="2381250"/>
            <a:ext cx="5044722" cy="2095500"/>
          </a:xfrm>
          <a:prstGeom prst="rect">
            <a:avLst/>
          </a:prstGeom>
          <a:noFill/>
          <a:ln w="0">
            <a:noFill/>
          </a:ln>
        </p:spPr>
        <p:txBody>
          <a:bodyPr lIns="91440" tIns="45720" rIns="91440" bIns="45720" anchor="t">
            <a:normAutofit/>
          </a:bodyPr>
          <a:lstStyle/>
          <a:p>
            <a:pPr marL="228600" indent="-228600">
              <a:lnSpc>
                <a:spcPct val="108000"/>
              </a:lnSpc>
              <a:buFont typeface="+mj-lt"/>
              <a:buAutoNum type="arabicPeriod"/>
              <a:defRPr sz="1275" b="0" i="0">
                <a:solidFill>
                  <a:srgbClr val="FFFFFF"/>
                </a:solidFill>
                <a:latin typeface="Arial"/>
                <a:ea typeface="Arial"/>
                <a:cs typeface="Arial"/>
              </a:defRPr>
            </a:pPr>
            <a:r>
              <a:rPr sz="1200" b="0" i="0">
                <a:solidFill>
                  <a:srgbClr val="FFFFFF"/>
                </a:solidFill>
                <a:latin typeface="Arial"/>
                <a:ea typeface="Arial"/>
                <a:cs typeface="Arial"/>
              </a:rPr>
              <a:t>Now (Reconcile AI): classify pipeline steps as automate, assist, or human review, and name the sanctioned tools for PHI-bearing work.</a:t>
            </a:r>
          </a:p>
          <a:p>
            <a:pPr marL="228600" indent="-228600">
              <a:buFont typeface="+mj-lt"/>
              <a:buAutoNum type="arabicPeriod"/>
            </a:pPr>
            <a:endParaRPr sz="1200" b="0" i="0">
              <a:solidFill>
                <a:srgbClr val="FFFFFF"/>
              </a:solidFill>
              <a:latin typeface="Arial"/>
              <a:ea typeface="Arial"/>
              <a:cs typeface="Arial"/>
            </a:endParaRPr>
          </a:p>
          <a:p>
            <a:pPr marL="228600" indent="-228600">
              <a:lnSpc>
                <a:spcPct val="108000"/>
              </a:lnSpc>
              <a:buFont typeface="+mj-lt"/>
              <a:buAutoNum type="arabicPeriod"/>
              <a:defRPr sz="1275" b="0" i="0">
                <a:solidFill>
                  <a:srgbClr val="FFFFFF"/>
                </a:solidFill>
                <a:latin typeface="Arial"/>
                <a:ea typeface="Arial"/>
                <a:cs typeface="Arial"/>
              </a:defRPr>
            </a:pPr>
            <a:r>
              <a:rPr sz="1200" b="0" i="0">
                <a:solidFill>
                  <a:srgbClr val="FFFFFF"/>
                </a:solidFill>
                <a:latin typeface="Arial"/>
                <a:ea typeface="Arial"/>
                <a:cs typeface="Arial"/>
              </a:rPr>
              <a:t>Next: extend to Eligibility AI with a shared agent registry, and pilot a light, human-gated pattern on Core, ahead of the December rollout.</a:t>
            </a:r>
          </a:p>
          <a:p>
            <a:pPr marL="228600" indent="-228600">
              <a:buFont typeface="+mj-lt"/>
              <a:buAutoNum type="arabicPeriod"/>
            </a:pPr>
            <a:endParaRPr sz="1200" b="0" i="0">
              <a:solidFill>
                <a:srgbClr val="FFFFFF"/>
              </a:solidFill>
              <a:latin typeface="Arial"/>
              <a:ea typeface="Arial"/>
              <a:cs typeface="Arial"/>
            </a:endParaRPr>
          </a:p>
          <a:p>
            <a:pPr marL="228600" indent="-228600">
              <a:lnSpc>
                <a:spcPct val="108000"/>
              </a:lnSpc>
              <a:buFont typeface="+mj-lt"/>
              <a:buAutoNum type="arabicPeriod"/>
              <a:defRPr sz="1275" b="0" i="0">
                <a:solidFill>
                  <a:srgbClr val="FFFFFF"/>
                </a:solidFill>
                <a:latin typeface="Arial"/>
                <a:ea typeface="Arial"/>
                <a:cs typeface="Arial"/>
              </a:defRPr>
            </a:pPr>
            <a:r>
              <a:rPr sz="1200" b="0" i="0">
                <a:solidFill>
                  <a:srgbClr val="FFFFFF"/>
                </a:solidFill>
                <a:latin typeface="Arial"/>
                <a:ea typeface="Arial"/>
                <a:cs typeface="Arial"/>
              </a:rPr>
              <a:t>Future: scale only the patterns that improve speed and quality together.</a:t>
            </a:r>
          </a:p>
        </p:txBody>
      </p:sp>
      <p:sp>
        <p:nvSpPr>
          <p:cNvPr id="26" name="Rectangle 25">
            <a:extLst>
              <a:ext uri="{FF2B5EF4-FFF2-40B4-BE49-F238E27FC236}">
                <a16:creationId xmlns:a16="http://schemas.microsoft.com/office/drawing/2014/main" id="{5DB3605F-6469-1C10-3193-10177D470777}"/>
              </a:ext>
            </a:extLst>
          </p:cNvPr>
          <p:cNvSpPr>
            <a:spLocks noGrp="1"/>
          </p:cNvSpPr>
          <p:nvPr/>
        </p:nvSpPr>
        <p:spPr>
          <a:xfrm>
            <a:off x="457200" y="5124450"/>
            <a:ext cx="11277600" cy="590550"/>
          </a:xfrm>
          <a:prstGeom prst="rect">
            <a:avLst/>
          </a:prstGeom>
          <a:solidFill>
            <a:srgbClr val="0047FF"/>
          </a:solidFill>
          <a:ln w="0">
            <a:noFill/>
          </a:ln>
        </p:spPr>
        <p:txBody>
          <a:bodyPr/>
          <a:lstStyle/>
          <a:p>
            <a:endParaRPr lang="en-US"/>
          </a:p>
        </p:txBody>
      </p:sp>
      <p:sp>
        <p:nvSpPr>
          <p:cNvPr id="27" name="Rectangle 26">
            <a:extLst>
              <a:ext uri="{FF2B5EF4-FFF2-40B4-BE49-F238E27FC236}">
                <a16:creationId xmlns:a16="http://schemas.microsoft.com/office/drawing/2014/main" id="{B1CCA2C3-D74B-6A88-5624-71AAFA8609AE}"/>
              </a:ext>
            </a:extLst>
          </p:cNvPr>
          <p:cNvSpPr>
            <a:spLocks noGrp="1"/>
          </p:cNvSpPr>
          <p:nvPr/>
        </p:nvSpPr>
        <p:spPr>
          <a:xfrm>
            <a:off x="685800" y="5207000"/>
            <a:ext cx="10820400" cy="431800"/>
          </a:xfrm>
          <a:prstGeom prst="rect">
            <a:avLst/>
          </a:prstGeom>
          <a:noFill/>
          <a:ln w="0">
            <a:noFill/>
          </a:ln>
        </p:spPr>
        <p:txBody>
          <a:bodyPr lIns="91440" tIns="45720" rIns="91440" bIns="45720" anchor="t">
            <a:noAutofit/>
          </a:bodyPr>
          <a:lstStyle/>
          <a:p>
            <a:pPr>
              <a:lnSpc>
                <a:spcPct val="108000"/>
              </a:lnSpc>
              <a:defRPr sz="1050" b="1" i="0">
                <a:solidFill>
                  <a:srgbClr val="FFFFFF"/>
                </a:solidFill>
                <a:latin typeface="Arial"/>
                <a:ea typeface="Arial"/>
                <a:cs typeface="Arial"/>
              </a:defRPr>
            </a:pPr>
            <a:r>
              <a:rPr lang="en-US" sz="1100" b="1" i="0">
                <a:solidFill>
                  <a:srgbClr val="FFFFFF"/>
                </a:solidFill>
                <a:latin typeface="Arial"/>
                <a:ea typeface="Arial"/>
                <a:cs typeface="Arial"/>
              </a:rPr>
              <a:t>Owner: Engineering + Product | Dependency: model access, </a:t>
            </a:r>
            <a:r>
              <a:rPr lang="en-US" sz="1100" b="1">
                <a:solidFill>
                  <a:srgbClr val="FFFFFF"/>
                </a:solidFill>
                <a:latin typeface="Arial"/>
                <a:ea typeface="Arial"/>
                <a:cs typeface="Arial"/>
              </a:rPr>
              <a:t>agent registry, </a:t>
            </a:r>
            <a:r>
              <a:rPr lang="en-US" sz="1100" b="1" i="0">
                <a:solidFill>
                  <a:srgbClr val="FFFFFF"/>
                </a:solidFill>
                <a:latin typeface="Arial"/>
                <a:ea typeface="Arial"/>
                <a:cs typeface="Arial"/>
              </a:rPr>
              <a:t>developer hardware, design context, cost, security, governance | Measure: cycle time, defects, rework, cost, and reuse</a:t>
            </a:r>
            <a:endParaRPr lang="en-US" sz="1100"/>
          </a:p>
        </p:txBody>
      </p:sp>
      <p:sp>
        <p:nvSpPr>
          <p:cNvPr id="28" name="RecAccentBarLeft">
            <a:extLst>
              <a:ext uri="{FF2B5EF4-FFF2-40B4-BE49-F238E27FC236}">
                <a16:creationId xmlns:a16="http://schemas.microsoft.com/office/drawing/2014/main" id="{7A2CA15D-DFC4-C7A6-3C94-18CB6DE3B1CB}"/>
              </a:ext>
            </a:extLst>
          </p:cNvPr>
          <p:cNvSpPr/>
          <p:nvPr/>
        </p:nvSpPr>
        <p:spPr>
          <a:xfrm>
            <a:off x="457200" y="1752600"/>
            <a:ext cx="5334000" cy="635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RecAccentBarRight">
            <a:extLst>
              <a:ext uri="{FF2B5EF4-FFF2-40B4-BE49-F238E27FC236}">
                <a16:creationId xmlns:a16="http://schemas.microsoft.com/office/drawing/2014/main" id="{A1971456-0422-3470-BEFB-F26FEE0A78CC}"/>
              </a:ext>
            </a:extLst>
          </p:cNvPr>
          <p:cNvSpPr/>
          <p:nvPr/>
        </p:nvSpPr>
        <p:spPr>
          <a:xfrm>
            <a:off x="6210300" y="1752600"/>
            <a:ext cx="5524500" cy="63500"/>
          </a:xfrm>
          <a:prstGeom prst="rect">
            <a:avLst/>
          </a:prstGeom>
          <a:solidFill>
            <a:srgbClr val="F900D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30" name="Graphic 14" descr="What should be done">
            <a:extLst>
              <a:ext uri="{FF2B5EF4-FFF2-40B4-BE49-F238E27FC236}">
                <a16:creationId xmlns:a16="http://schemas.microsoft.com/office/drawing/2014/main" id="{69FBD554-BCCF-DE7C-C93D-2E0A116815A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6504" y="1879600"/>
            <a:ext cx="304800" cy="304800"/>
          </a:xfrm>
          <a:prstGeom prst="rect">
            <a:avLst/>
          </a:prstGeom>
        </p:spPr>
      </p:pic>
      <p:pic>
        <p:nvPicPr>
          <p:cNvPr id="31" name="Graphic 15" descr="How to activate it">
            <a:extLst>
              <a:ext uri="{FF2B5EF4-FFF2-40B4-BE49-F238E27FC236}">
                <a16:creationId xmlns:a16="http://schemas.microsoft.com/office/drawing/2014/main" id="{5DD13C84-84FD-F49A-E255-E9AEFF8915D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34656" y="1879600"/>
            <a:ext cx="304800" cy="304800"/>
          </a:xfrm>
          <a:prstGeom prst="rect">
            <a:avLst/>
          </a:prstGeom>
        </p:spPr>
      </p:pic>
      <p:sp>
        <p:nvSpPr>
          <p:cNvPr id="32" name="Rectangle 31">
            <a:extLst>
              <a:ext uri="{FF2B5EF4-FFF2-40B4-BE49-F238E27FC236}">
                <a16:creationId xmlns:a16="http://schemas.microsoft.com/office/drawing/2014/main" id="{6BED7C97-EA76-1ACC-7CEB-9C992A3397C2}"/>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Governed agentic delivery throughout the lifecycle</a:t>
            </a:r>
          </a:p>
        </p:txBody>
      </p:sp>
      <p:sp>
        <p:nvSpPr>
          <p:cNvPr id="2" name="Footer Placeholder 1">
            <a:extLst>
              <a:ext uri="{FF2B5EF4-FFF2-40B4-BE49-F238E27FC236}">
                <a16:creationId xmlns:a16="http://schemas.microsoft.com/office/drawing/2014/main" id="{EB528807-7787-B780-D8A3-C119BC416903}"/>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CB3513BB-8ED4-4DD0-E109-FB76B28F2933}"/>
              </a:ext>
            </a:extLst>
          </p:cNvPr>
          <p:cNvSpPr>
            <a:spLocks noGrp="1"/>
          </p:cNvSpPr>
          <p:nvPr>
            <p:ph type="sldNum" idx="11"/>
          </p:nvPr>
        </p:nvSpPr>
        <p:spPr>
          <a:xfrm>
            <a:off x="11509578" y="6400799"/>
            <a:ext cx="218871" cy="167949"/>
          </a:xfrm>
        </p:spPr>
        <p:txBody>
          <a:bodyPr/>
          <a:lstStyle/>
          <a:p>
            <a:fld id="{63DCA5C9-2E11-4C67-86EB-AE1DE127DC64}" type="slidenum">
              <a:rPr lang="en-US" smtClean="0"/>
              <a:t>31</a:t>
            </a:fld>
            <a:endParaRPr lang="en-US"/>
          </a:p>
        </p:txBody>
      </p:sp>
    </p:spTree>
    <p:extLst>
      <p:ext uri="{BB962C8B-B14F-4D97-AF65-F5344CB8AC3E}">
        <p14:creationId xmlns:p14="http://schemas.microsoft.com/office/powerpoint/2010/main" val="2490533772"/>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3463E483-B13E-4A2B-8266-E71AAB6C0ABE}"/>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lang="en-US" sz="2325" b="1" i="0">
                <a:solidFill>
                  <a:srgbClr val="070154"/>
                </a:solidFill>
                <a:latin typeface="Arial"/>
                <a:ea typeface="Arial"/>
                <a:cs typeface="Arial"/>
              </a:rPr>
              <a:t>Activation Roadmap</a:t>
            </a:r>
          </a:p>
        </p:txBody>
      </p:sp>
      <p:sp>
        <p:nvSpPr>
          <p:cNvPr id="3" name="Rectangle 2">
            <a:extLst>
              <a:ext uri="{FF2B5EF4-FFF2-40B4-BE49-F238E27FC236}">
                <a16:creationId xmlns:a16="http://schemas.microsoft.com/office/drawing/2014/main" id="{D0F01DD5-2123-4688-A06C-752A440A91FB}"/>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Sequence the recommendations into immediate, near-term, and future actions with owners and dependencies.</a:t>
            </a:r>
          </a:p>
        </p:txBody>
      </p:sp>
      <p:sp>
        <p:nvSpPr>
          <p:cNvPr id="4" name="Rectangle 3">
            <a:extLst>
              <a:ext uri="{FF2B5EF4-FFF2-40B4-BE49-F238E27FC236}">
                <a16:creationId xmlns:a16="http://schemas.microsoft.com/office/drawing/2014/main" id="{EC59A378-E705-4CDF-BEA5-A15E1D3C9031}"/>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03</a:t>
            </a:r>
          </a:p>
        </p:txBody>
      </p:sp>
      <p:graphicFrame>
        <p:nvGraphicFramePr>
          <p:cNvPr id="11" name="Table 10"/>
          <p:cNvGraphicFramePr/>
          <p:nvPr>
            <p:extLst>
              <p:ext uri="{D42A27DB-BD31-4B8C-83A1-F6EECF244321}">
                <p14:modId xmlns:p14="http://schemas.microsoft.com/office/powerpoint/2010/main" val="3915844893"/>
              </p:ext>
            </p:extLst>
          </p:nvPr>
        </p:nvGraphicFramePr>
        <p:xfrm>
          <a:off x="457200" y="1714500"/>
          <a:ext cx="11277600" cy="3714753"/>
        </p:xfrm>
        <a:graphic>
          <a:graphicData uri="http://schemas.openxmlformats.org/drawingml/2006/table">
            <a:tbl>
              <a:tblPr/>
              <a:tblGrid>
                <a:gridCol w="1879600">
                  <a:extLst>
                    <a:ext uri="{9D8B030D-6E8A-4147-A177-3AD203B41FA5}">
                      <a16:colId xmlns:a16="http://schemas.microsoft.com/office/drawing/2014/main" val="20000"/>
                    </a:ext>
                  </a:extLst>
                </a:gridCol>
                <a:gridCol w="1879600">
                  <a:extLst>
                    <a:ext uri="{9D8B030D-6E8A-4147-A177-3AD203B41FA5}">
                      <a16:colId xmlns:a16="http://schemas.microsoft.com/office/drawing/2014/main" val="20001"/>
                    </a:ext>
                  </a:extLst>
                </a:gridCol>
                <a:gridCol w="1879600">
                  <a:extLst>
                    <a:ext uri="{9D8B030D-6E8A-4147-A177-3AD203B41FA5}">
                      <a16:colId xmlns:a16="http://schemas.microsoft.com/office/drawing/2014/main" val="20002"/>
                    </a:ext>
                  </a:extLst>
                </a:gridCol>
                <a:gridCol w="1879600">
                  <a:extLst>
                    <a:ext uri="{9D8B030D-6E8A-4147-A177-3AD203B41FA5}">
                      <a16:colId xmlns:a16="http://schemas.microsoft.com/office/drawing/2014/main" val="20003"/>
                    </a:ext>
                  </a:extLst>
                </a:gridCol>
                <a:gridCol w="1879600">
                  <a:extLst>
                    <a:ext uri="{9D8B030D-6E8A-4147-A177-3AD203B41FA5}">
                      <a16:colId xmlns:a16="http://schemas.microsoft.com/office/drawing/2014/main" val="20004"/>
                    </a:ext>
                  </a:extLst>
                </a:gridCol>
                <a:gridCol w="1879600">
                  <a:extLst>
                    <a:ext uri="{9D8B030D-6E8A-4147-A177-3AD203B41FA5}">
                      <a16:colId xmlns:a16="http://schemas.microsoft.com/office/drawing/2014/main" val="20005"/>
                    </a:ext>
                  </a:extLst>
                </a:gridCol>
              </a:tblGrid>
              <a:tr h="530679">
                <a:tc>
                  <a:txBody>
                    <a:bodyPr/>
                    <a:lstStyle/>
                    <a:p>
                      <a:pPr>
                        <a:lnSpc>
                          <a:spcPct val="102000"/>
                        </a:lnSpc>
                        <a:buNone/>
                      </a:pPr>
                      <a:r>
                        <a:rPr sz="975" b="1">
                          <a:solidFill>
                            <a:srgbClr val="FFFFFF"/>
                          </a:solidFill>
                          <a:latin typeface="Arial"/>
                          <a:ea typeface="Arial"/>
                          <a:cs typeface="Arial"/>
                        </a:rPr>
                        <a:t>Timing</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975" b="1">
                          <a:solidFill>
                            <a:srgbClr val="FFFFFF"/>
                          </a:solidFill>
                          <a:latin typeface="Arial"/>
                          <a:ea typeface="Arial"/>
                          <a:cs typeface="Arial"/>
                        </a:rPr>
                        <a:t>Recommendation</a:t>
                      </a:r>
                    </a:p>
                  </a:txBody>
                  <a:tcPr anchor="ctr">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975" b="1">
                          <a:solidFill>
                            <a:srgbClr val="FFFFFF"/>
                          </a:solidFill>
                          <a:latin typeface="Arial"/>
                          <a:ea typeface="Arial"/>
                          <a:cs typeface="Arial"/>
                        </a:rPr>
                        <a:t>First action</a:t>
                      </a:r>
                    </a:p>
                  </a:txBody>
                  <a:tcPr anchor="ctr">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975" b="1">
                          <a:solidFill>
                            <a:srgbClr val="FFFFFF"/>
                          </a:solidFill>
                          <a:latin typeface="Arial"/>
                          <a:ea typeface="Arial"/>
                          <a:cs typeface="Arial"/>
                        </a:rPr>
                        <a:t>Proposed owner</a:t>
                      </a:r>
                    </a:p>
                  </a:txBody>
                  <a:tcPr anchor="ctr">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975" b="1">
                          <a:solidFill>
                            <a:srgbClr val="FFFFFF"/>
                          </a:solidFill>
                          <a:latin typeface="Arial"/>
                          <a:ea typeface="Arial"/>
                          <a:cs typeface="Arial"/>
                        </a:rPr>
                        <a:t>Dependency</a:t>
                      </a:r>
                    </a:p>
                  </a:txBody>
                  <a:tcPr anchor="ctr">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975" b="1">
                          <a:solidFill>
                            <a:srgbClr val="FFFFFF"/>
                          </a:solidFill>
                          <a:latin typeface="Arial"/>
                          <a:ea typeface="Arial"/>
                          <a:cs typeface="Arial"/>
                        </a:rPr>
                        <a:t>Initial measure</a:t>
                      </a: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070154"/>
                    </a:solidFill>
                  </a:tcPr>
                </a:tc>
                <a:extLst>
                  <a:ext uri="{0D108BD9-81ED-4DB2-BD59-A6C34878D82A}">
                    <a16:rowId xmlns:a16="http://schemas.microsoft.com/office/drawing/2014/main" val="10000"/>
                  </a:ext>
                </a:extLst>
              </a:tr>
              <a:tr h="530679">
                <a:tc>
                  <a:txBody>
                    <a:bodyPr/>
                    <a:lstStyle/>
                    <a:p>
                      <a:pPr>
                        <a:lnSpc>
                          <a:spcPct val="102000"/>
                        </a:lnSpc>
                        <a:buNone/>
                      </a:pPr>
                      <a:r>
                        <a:rPr sz="900" b="0">
                          <a:solidFill>
                            <a:srgbClr val="16804D"/>
                          </a:solidFill>
                          <a:latin typeface="Arial"/>
                          <a:ea typeface="Arial"/>
                          <a:cs typeface="Arial"/>
                        </a:rPr>
                        <a:t>Immediate</a:t>
                      </a:r>
                    </a:p>
                  </a:txBody>
                  <a:tcPr anchor="ctr">
                    <a:lnL w="12700" cap="flat" cmpd="sng" algn="ctr">
                      <a:noFill/>
                      <a:prstDash val="solid"/>
                      <a:round/>
                      <a:headEnd type="none" w="med" len="med"/>
                      <a:tailEnd type="none" w="med" len="med"/>
                    </a:lnL>
                    <a:solidFill>
                      <a:srgbClr val="CCF2DD"/>
                    </a:solidFill>
                  </a:tcPr>
                </a:tc>
                <a:tc>
                  <a:txBody>
                    <a:bodyPr/>
                    <a:lstStyle/>
                    <a:p>
                      <a:pPr>
                        <a:lnSpc>
                          <a:spcPct val="102000"/>
                        </a:lnSpc>
                        <a:buNone/>
                      </a:pPr>
                      <a:r>
                        <a:rPr sz="900" b="0">
                          <a:solidFill>
                            <a:srgbClr val="070154"/>
                          </a:solidFill>
                          <a:latin typeface="Arial"/>
                          <a:ea typeface="Arial"/>
                          <a:cs typeface="Arial"/>
                        </a:rPr>
                        <a:t>Outcome-led prioritization</a:t>
                      </a:r>
                    </a:p>
                  </a:txBody>
                  <a:tcPr anchor="ctr">
                    <a:solidFill>
                      <a:srgbClr val="FFFFFF"/>
                    </a:solidFill>
                  </a:tcPr>
                </a:tc>
                <a:tc>
                  <a:txBody>
                    <a:bodyPr/>
                    <a:lstStyle/>
                    <a:p>
                      <a:pPr>
                        <a:lnSpc>
                          <a:spcPct val="102000"/>
                        </a:lnSpc>
                        <a:buNone/>
                      </a:pPr>
                      <a:r>
                        <a:rPr sz="900" b="0">
                          <a:solidFill>
                            <a:srgbClr val="070154"/>
                          </a:solidFill>
                          <a:latin typeface="Arial"/>
                          <a:ea typeface="Arial"/>
                          <a:cs typeface="Arial"/>
                        </a:rPr>
                        <a:t>Apply decision criteria to the next live prioritization decision.</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Product + Eng</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Decision criteria</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Predictability</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530679">
                <a:tc>
                  <a:txBody>
                    <a:bodyPr/>
                    <a:lstStyle/>
                    <a:p>
                      <a:pPr>
                        <a:lnSpc>
                          <a:spcPct val="102000"/>
                        </a:lnSpc>
                        <a:buNone/>
                      </a:pPr>
                      <a:r>
                        <a:rPr sz="900" b="0">
                          <a:solidFill>
                            <a:srgbClr val="16804D"/>
                          </a:solidFill>
                          <a:latin typeface="Arial"/>
                          <a:ea typeface="Arial"/>
                          <a:cs typeface="Arial"/>
                        </a:rPr>
                        <a:t>Immediate</a:t>
                      </a:r>
                    </a:p>
                  </a:txBody>
                  <a:tcPr anchor="ctr">
                    <a:lnL w="12700" cap="flat" cmpd="sng" algn="ctr">
                      <a:noFill/>
                      <a:prstDash val="solid"/>
                      <a:round/>
                      <a:headEnd type="none" w="med" len="med"/>
                      <a:tailEnd type="none" w="med" len="med"/>
                    </a:lnL>
                    <a:solidFill>
                      <a:srgbClr val="CCF2DD"/>
                    </a:solidFill>
                  </a:tcPr>
                </a:tc>
                <a:tc>
                  <a:txBody>
                    <a:bodyPr/>
                    <a:lstStyle/>
                    <a:p>
                      <a:pPr>
                        <a:lnSpc>
                          <a:spcPct val="102000"/>
                        </a:lnSpc>
                        <a:buNone/>
                      </a:pPr>
                      <a:r>
                        <a:rPr sz="900" b="0">
                          <a:solidFill>
                            <a:srgbClr val="070154"/>
                          </a:solidFill>
                          <a:latin typeface="Arial"/>
                          <a:ea typeface="Arial"/>
                          <a:cs typeface="Arial"/>
                        </a:rPr>
                        <a:t>Product management as business ownership</a:t>
                      </a:r>
                    </a:p>
                  </a:txBody>
                  <a:tcPr anchor="ctr">
                    <a:solidFill>
                      <a:srgbClr val="FFFFFF"/>
                    </a:solidFill>
                  </a:tcPr>
                </a:tc>
                <a:tc>
                  <a:txBody>
                    <a:bodyPr/>
                    <a:lstStyle/>
                    <a:p>
                      <a:pPr>
                        <a:lnSpc>
                          <a:spcPct val="102000"/>
                        </a:lnSpc>
                        <a:buNone/>
                      </a:pPr>
                      <a:r>
                        <a:rPr sz="900" b="0">
                          <a:solidFill>
                            <a:srgbClr val="070154"/>
                          </a:solidFill>
                          <a:latin typeface="Arial"/>
                          <a:ea typeface="Arial"/>
                          <a:cs typeface="Arial"/>
                        </a:rPr>
                        <a:t>Map decision rights and assign PM outcome ownership for one initiative.</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Product</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Role clarity</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Outcome learning</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530679">
                <a:tc>
                  <a:txBody>
                    <a:bodyPr/>
                    <a:lstStyle/>
                    <a:p>
                      <a:pPr>
                        <a:lnSpc>
                          <a:spcPct val="102000"/>
                        </a:lnSpc>
                        <a:buNone/>
                      </a:pPr>
                      <a:r>
                        <a:rPr sz="900" b="0">
                          <a:solidFill>
                            <a:srgbClr val="16804D"/>
                          </a:solidFill>
                          <a:latin typeface="Arial"/>
                          <a:ea typeface="Arial"/>
                          <a:cs typeface="Arial"/>
                        </a:rPr>
                        <a:t>Immediate</a:t>
                      </a:r>
                    </a:p>
                  </a:txBody>
                  <a:tcPr anchor="ctr">
                    <a:lnL w="12700" cap="flat" cmpd="sng" algn="ctr">
                      <a:noFill/>
                      <a:prstDash val="solid"/>
                      <a:round/>
                      <a:headEnd type="none" w="med" len="med"/>
                      <a:tailEnd type="none" w="med" len="med"/>
                    </a:lnL>
                    <a:solidFill>
                      <a:srgbClr val="CCF2DD"/>
                    </a:solidFill>
                  </a:tcPr>
                </a:tc>
                <a:tc>
                  <a:txBody>
                    <a:bodyPr/>
                    <a:lstStyle/>
                    <a:p>
                      <a:pPr>
                        <a:lnSpc>
                          <a:spcPct val="102000"/>
                        </a:lnSpc>
                        <a:buNone/>
                      </a:pPr>
                      <a:r>
                        <a:rPr sz="900" b="0">
                          <a:solidFill>
                            <a:srgbClr val="070154"/>
                          </a:solidFill>
                          <a:latin typeface="Arial"/>
                          <a:ea typeface="Arial"/>
                          <a:cs typeface="Arial"/>
                        </a:rPr>
                        <a:t>Opportunity brief to implementation path</a:t>
                      </a:r>
                    </a:p>
                  </a:txBody>
                  <a:tcPr anchor="ctr">
                    <a:solidFill>
                      <a:srgbClr val="FFFFFF"/>
                    </a:solidFill>
                  </a:tcPr>
                </a:tc>
                <a:tc>
                  <a:txBody>
                    <a:bodyPr/>
                    <a:lstStyle/>
                    <a:p>
                      <a:pPr lvl="0">
                        <a:lnSpc>
                          <a:spcPct val="102000"/>
                        </a:lnSpc>
                        <a:buNone/>
                      </a:pPr>
                      <a:r>
                        <a:rPr lang="en-US" sz="900" b="0" i="0" u="none" strike="noStrike" noProof="0">
                          <a:solidFill>
                            <a:srgbClr val="070154"/>
                          </a:solidFill>
                        </a:rPr>
                        <a:t>Run one internal signal through brief, PRD, feature brief, epic, technical design, and plan.</a:t>
                      </a:r>
                      <a:endParaRPr lang="en-US"/>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Product + Eng</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Shared artifacts</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Handoff quality</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530679">
                <a:tc>
                  <a:txBody>
                    <a:bodyPr/>
                    <a:lstStyle/>
                    <a:p>
                      <a:pPr>
                        <a:lnSpc>
                          <a:spcPct val="102000"/>
                        </a:lnSpc>
                        <a:buNone/>
                      </a:pPr>
                      <a:r>
                        <a:rPr sz="900" b="0">
                          <a:solidFill>
                            <a:srgbClr val="8B6500"/>
                          </a:solidFill>
                          <a:latin typeface="Arial"/>
                          <a:ea typeface="Arial"/>
                          <a:cs typeface="Arial"/>
                        </a:rPr>
                        <a:t>Near-term</a:t>
                      </a:r>
                    </a:p>
                  </a:txBody>
                  <a:tcPr anchor="ctr">
                    <a:lnL w="12700" cap="flat" cmpd="sng" algn="ctr">
                      <a:noFill/>
                      <a:prstDash val="solid"/>
                      <a:round/>
                      <a:headEnd type="none" w="med" len="med"/>
                      <a:tailEnd type="none" w="med" len="med"/>
                    </a:lnL>
                    <a:solidFill>
                      <a:srgbClr val="FFF0C2"/>
                    </a:solidFill>
                  </a:tcPr>
                </a:tc>
                <a:tc>
                  <a:txBody>
                    <a:bodyPr/>
                    <a:lstStyle/>
                    <a:p>
                      <a:pPr>
                        <a:lnSpc>
                          <a:spcPct val="102000"/>
                        </a:lnSpc>
                        <a:buNone/>
                      </a:pPr>
                      <a:r>
                        <a:rPr sz="900" b="0">
                          <a:solidFill>
                            <a:srgbClr val="070154"/>
                          </a:solidFill>
                          <a:latin typeface="Arial"/>
                          <a:ea typeface="Arial"/>
                          <a:cs typeface="Arial"/>
                        </a:rPr>
                        <a:t>Earlier cross-functional collaboration</a:t>
                      </a:r>
                    </a:p>
                  </a:txBody>
                  <a:tcPr anchor="ctr">
                    <a:solidFill>
                      <a:srgbClr val="FFFFFF"/>
                    </a:solidFill>
                  </a:tcPr>
                </a:tc>
                <a:tc>
                  <a:txBody>
                    <a:bodyPr/>
                    <a:lstStyle/>
                    <a:p>
                      <a:pPr>
                        <a:lnSpc>
                          <a:spcPct val="102000"/>
                        </a:lnSpc>
                        <a:buNone/>
                      </a:pPr>
                      <a:r>
                        <a:rPr sz="900" b="0">
                          <a:solidFill>
                            <a:srgbClr val="070154"/>
                          </a:solidFill>
                          <a:latin typeface="Arial"/>
                          <a:ea typeface="Arial"/>
                          <a:cs typeface="Arial"/>
                        </a:rPr>
                        <a:t>Run a pre-commitment working session with the minimum team and evidence set.</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Product + Eng</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Cadence and access</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Rework and wait time</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4"/>
                  </a:ext>
                </a:extLst>
              </a:tr>
              <a:tr h="530679">
                <a:tc>
                  <a:txBody>
                    <a:bodyPr/>
                    <a:lstStyle/>
                    <a:p>
                      <a:pPr>
                        <a:lnSpc>
                          <a:spcPct val="102000"/>
                        </a:lnSpc>
                        <a:buNone/>
                      </a:pPr>
                      <a:r>
                        <a:rPr sz="900" b="0">
                          <a:solidFill>
                            <a:srgbClr val="8B6500"/>
                          </a:solidFill>
                          <a:latin typeface="Arial"/>
                          <a:ea typeface="Arial"/>
                          <a:cs typeface="Arial"/>
                        </a:rPr>
                        <a:t>Near-term</a:t>
                      </a:r>
                    </a:p>
                  </a:txBody>
                  <a:tcPr anchor="ctr">
                    <a:lnL w="12700" cap="flat" cmpd="sng" algn="ctr">
                      <a:noFill/>
                      <a:prstDash val="solid"/>
                      <a:round/>
                      <a:headEnd type="none" w="med" len="med"/>
                      <a:tailEnd type="none" w="med" len="med"/>
                    </a:lnL>
                    <a:solidFill>
                      <a:srgbClr val="FFF0C2"/>
                    </a:solidFill>
                  </a:tcPr>
                </a:tc>
                <a:tc>
                  <a:txBody>
                    <a:bodyPr/>
                    <a:lstStyle/>
                    <a:p>
                      <a:pPr>
                        <a:lnSpc>
                          <a:spcPct val="102000"/>
                        </a:lnSpc>
                        <a:buNone/>
                      </a:pPr>
                      <a:r>
                        <a:rPr sz="900" b="0">
                          <a:solidFill>
                            <a:srgbClr val="070154"/>
                          </a:solidFill>
                          <a:latin typeface="Arial"/>
                          <a:ea typeface="Arial"/>
                          <a:cs typeface="Arial"/>
                        </a:rPr>
                        <a:t>Ship-with-proof feedback loop</a:t>
                      </a:r>
                    </a:p>
                  </a:txBody>
                  <a:tcPr anchor="ctr">
                    <a:solidFill>
                      <a:srgbClr val="FFFFFF"/>
                    </a:solidFill>
                  </a:tcPr>
                </a:tc>
                <a:tc>
                  <a:txBody>
                    <a:bodyPr/>
                    <a:lstStyle/>
                    <a:p>
                      <a:pPr>
                        <a:lnSpc>
                          <a:spcPct val="102000"/>
                        </a:lnSpc>
                        <a:buNone/>
                      </a:pPr>
                      <a:r>
                        <a:rPr sz="900" b="0">
                          <a:solidFill>
                            <a:srgbClr val="070154"/>
                          </a:solidFill>
                          <a:latin typeface="Arial"/>
                          <a:ea typeface="Arial"/>
                          <a:cs typeface="Arial"/>
                        </a:rPr>
                        <a:t>Define release evidence and post-launch learning for the next test.</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Product + Release</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Measures</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Validation coverage</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5"/>
                  </a:ext>
                </a:extLst>
              </a:tr>
              <a:tr h="530679">
                <a:tc>
                  <a:txBody>
                    <a:bodyPr/>
                    <a:lstStyle/>
                    <a:p>
                      <a:pPr>
                        <a:lnSpc>
                          <a:spcPct val="102000"/>
                        </a:lnSpc>
                        <a:buNone/>
                      </a:pPr>
                      <a:r>
                        <a:rPr sz="900" b="0">
                          <a:solidFill>
                            <a:srgbClr val="3561AE"/>
                          </a:solidFill>
                          <a:latin typeface="Arial"/>
                          <a:ea typeface="Arial"/>
                          <a:cs typeface="Arial"/>
                        </a:rPr>
                        <a:t>Future</a:t>
                      </a:r>
                    </a:p>
                  </a:txBody>
                  <a:tcPr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rgbClr val="DDE8FF"/>
                    </a:solidFill>
                  </a:tcPr>
                </a:tc>
                <a:tc>
                  <a:txBody>
                    <a:bodyPr/>
                    <a:lstStyle/>
                    <a:p>
                      <a:pPr>
                        <a:lnSpc>
                          <a:spcPct val="102000"/>
                        </a:lnSpc>
                        <a:buNone/>
                      </a:pPr>
                      <a:r>
                        <a:rPr sz="900" b="0">
                          <a:solidFill>
                            <a:srgbClr val="070154"/>
                          </a:solidFill>
                          <a:latin typeface="Arial"/>
                          <a:ea typeface="Arial"/>
                          <a:cs typeface="Arial"/>
                        </a:rPr>
                        <a:t>Governed agentic delivery</a:t>
                      </a:r>
                    </a:p>
                  </a:txBody>
                  <a:tcPr anchor="ctr">
                    <a:lnB w="12700" cap="flat" cmpd="sng" algn="ctr">
                      <a:noFill/>
                      <a:prstDash val="solid"/>
                      <a:round/>
                      <a:headEnd type="none" w="med" len="med"/>
                      <a:tailEnd type="none" w="med" len="med"/>
                    </a:lnB>
                    <a:solidFill>
                      <a:srgbClr val="FFFFFF"/>
                    </a:solidFill>
                  </a:tcPr>
                </a:tc>
                <a:tc>
                  <a:txBody>
                    <a:bodyPr/>
                    <a:lstStyle/>
                    <a:p>
                      <a:pPr>
                        <a:lnSpc>
                          <a:spcPct val="102000"/>
                        </a:lnSpc>
                        <a:buNone/>
                      </a:pPr>
                      <a:r>
                        <a:rPr sz="900" b="0">
                          <a:solidFill>
                            <a:srgbClr val="070154"/>
                          </a:solidFill>
                          <a:latin typeface="Arial"/>
                          <a:ea typeface="Arial"/>
                          <a:cs typeface="Arial"/>
                        </a:rPr>
                        <a:t>Test one reusable, human-supervised AI practice outside the current pocket.</a:t>
                      </a:r>
                    </a:p>
                  </a:txBody>
                  <a:tcPr anchor="ctr">
                    <a:lnB w="12700" cap="flat" cmpd="sng" algn="ctr">
                      <a:noFill/>
                      <a:prstDash val="solid"/>
                      <a:round/>
                      <a:headEnd type="none" w="med" len="med"/>
                      <a:tailEnd type="none" w="med" len="med"/>
                    </a:lnB>
                    <a:solidFill>
                      <a:srgbClr val="FFFFFF"/>
                    </a:solidFill>
                  </a:tcPr>
                </a:tc>
                <a:tc>
                  <a:txBody>
                    <a:bodyPr/>
                    <a:lstStyle/>
                    <a:p>
                      <a:pPr>
                        <a:lnSpc>
                          <a:spcPct val="102000"/>
                        </a:lnSpc>
                        <a:buNone/>
                      </a:pPr>
                      <a:r>
                        <a:rPr sz="900" b="0">
                          <a:solidFill>
                            <a:srgbClr val="50658E"/>
                          </a:solidFill>
                          <a:latin typeface="Arial"/>
                          <a:ea typeface="Arial"/>
                          <a:cs typeface="Arial"/>
                        </a:rPr>
                        <a:t>Eng + Product</a:t>
                      </a:r>
                    </a:p>
                  </a:txBody>
                  <a:tcPr anchor="ctr">
                    <a:lnB w="12700" cap="flat" cmpd="sng" algn="ctr">
                      <a:noFill/>
                      <a:prstDash val="solid"/>
                      <a:round/>
                      <a:headEnd type="none" w="med" len="med"/>
                      <a:tailEnd type="none" w="med" len="med"/>
                    </a:lnB>
                    <a:solidFill>
                      <a:srgbClr val="FFFFFF"/>
                    </a:solidFill>
                  </a:tcPr>
                </a:tc>
                <a:tc>
                  <a:txBody>
                    <a:bodyPr/>
                    <a:lstStyle/>
                    <a:p>
                      <a:pPr>
                        <a:lnSpc>
                          <a:spcPct val="102000"/>
                        </a:lnSpc>
                        <a:buNone/>
                      </a:pPr>
                      <a:r>
                        <a:rPr sz="900" b="0">
                          <a:solidFill>
                            <a:srgbClr val="50658E"/>
                          </a:solidFill>
                          <a:latin typeface="Arial"/>
                          <a:ea typeface="Arial"/>
                          <a:cs typeface="Arial"/>
                        </a:rPr>
                        <a:t>Guardrails and skills</a:t>
                      </a:r>
                    </a:p>
                  </a:txBody>
                  <a:tcPr anchor="ctr">
                    <a:lnB w="12700" cap="flat" cmpd="sng" algn="ctr">
                      <a:noFill/>
                      <a:prstDash val="solid"/>
                      <a:round/>
                      <a:headEnd type="none" w="med" len="med"/>
                      <a:tailEnd type="none" w="med" len="med"/>
                    </a:lnB>
                    <a:solidFill>
                      <a:srgbClr val="FFFFFF"/>
                    </a:solidFill>
                  </a:tcPr>
                </a:tc>
                <a:tc>
                  <a:txBody>
                    <a:bodyPr/>
                    <a:lstStyle/>
                    <a:p>
                      <a:pPr>
                        <a:lnSpc>
                          <a:spcPct val="102000"/>
                        </a:lnSpc>
                        <a:buNone/>
                      </a:pPr>
                      <a:r>
                        <a:rPr sz="900" b="0">
                          <a:solidFill>
                            <a:srgbClr val="50658E"/>
                          </a:solidFill>
                          <a:latin typeface="Arial"/>
                          <a:ea typeface="Arial"/>
                          <a:cs typeface="Arial"/>
                        </a:rPr>
                        <a:t>Cycle time, defects, cost</a:t>
                      </a:r>
                    </a:p>
                  </a:txBody>
                  <a:tcPr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D8A04B1C-28F2-41E9-8548-EDB10CCD8C61}"/>
              </a:ext>
            </a:extLst>
          </p:cNvPr>
          <p:cNvSpPr>
            <a:spLocks noGrp="1"/>
          </p:cNvSpPr>
          <p:nvPr/>
        </p:nvSpPr>
        <p:spPr>
          <a:xfrm>
            <a:off x="457200" y="5619750"/>
            <a:ext cx="11277600" cy="323850"/>
          </a:xfrm>
          <a:prstGeom prst="rect">
            <a:avLst/>
          </a:prstGeom>
          <a:noFill/>
          <a:ln w="0">
            <a:noFill/>
          </a:ln>
        </p:spPr>
        <p:txBody>
          <a:bodyPr anchor="t">
            <a:normAutofit/>
          </a:bodyPr>
          <a:lstStyle/>
          <a:p>
            <a:pPr>
              <a:lnSpc>
                <a:spcPct val="108000"/>
              </a:lnSpc>
              <a:buNone/>
              <a:defRPr sz="1125" b="1" i="0">
                <a:solidFill>
                  <a:srgbClr val="0047FF"/>
                </a:solidFill>
                <a:latin typeface="Arial"/>
                <a:ea typeface="Arial"/>
                <a:cs typeface="Arial"/>
              </a:defRPr>
            </a:pPr>
            <a:r>
              <a:rPr sz="1125" b="1" i="0">
                <a:solidFill>
                  <a:srgbClr val="0047FF"/>
                </a:solidFill>
                <a:latin typeface="Arial"/>
                <a:ea typeface="Arial"/>
                <a:cs typeface="Arial"/>
              </a:rPr>
              <a:t>Use the roadmap after each quick-win test to update timing, owners, dependencies, measures, and the Phase 2 enablement need.</a:t>
            </a:r>
          </a:p>
        </p:txBody>
      </p:sp>
      <p:sp>
        <p:nvSpPr>
          <p:cNvPr id="5" name="GridLineV1">
            <a:extLst>
              <a:ext uri="{FF2B5EF4-FFF2-40B4-BE49-F238E27FC236}">
                <a16:creationId xmlns:a16="http://schemas.microsoft.com/office/drawing/2014/main" id="{B67739D7-C25D-904B-A98E-6655D99175B4}"/>
              </a:ext>
            </a:extLst>
          </p:cNvPr>
          <p:cNvSpPr/>
          <p:nvPr/>
        </p:nvSpPr>
        <p:spPr>
          <a:xfrm>
            <a:off x="2314575" y="1714500"/>
            <a:ext cx="44450" cy="37147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GridLineV2">
            <a:extLst>
              <a:ext uri="{FF2B5EF4-FFF2-40B4-BE49-F238E27FC236}">
                <a16:creationId xmlns:a16="http://schemas.microsoft.com/office/drawing/2014/main" id="{02218D69-FDAC-3543-969C-15EEB125B123}"/>
              </a:ext>
            </a:extLst>
          </p:cNvPr>
          <p:cNvSpPr/>
          <p:nvPr/>
        </p:nvSpPr>
        <p:spPr>
          <a:xfrm>
            <a:off x="4194175" y="1714500"/>
            <a:ext cx="44450" cy="37147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GridLineV3">
            <a:extLst>
              <a:ext uri="{FF2B5EF4-FFF2-40B4-BE49-F238E27FC236}">
                <a16:creationId xmlns:a16="http://schemas.microsoft.com/office/drawing/2014/main" id="{8707783C-C4F2-BB4A-8FF3-6E4D49D6AAF0}"/>
              </a:ext>
            </a:extLst>
          </p:cNvPr>
          <p:cNvSpPr/>
          <p:nvPr/>
        </p:nvSpPr>
        <p:spPr>
          <a:xfrm>
            <a:off x="6073775" y="1714500"/>
            <a:ext cx="44450" cy="37147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GridLineV4">
            <a:extLst>
              <a:ext uri="{FF2B5EF4-FFF2-40B4-BE49-F238E27FC236}">
                <a16:creationId xmlns:a16="http://schemas.microsoft.com/office/drawing/2014/main" id="{7C2E9879-B317-1247-A389-C85590C906F9}"/>
              </a:ext>
            </a:extLst>
          </p:cNvPr>
          <p:cNvSpPr/>
          <p:nvPr/>
        </p:nvSpPr>
        <p:spPr>
          <a:xfrm>
            <a:off x="7953375" y="1714500"/>
            <a:ext cx="44450" cy="37147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GridLineV5">
            <a:extLst>
              <a:ext uri="{FF2B5EF4-FFF2-40B4-BE49-F238E27FC236}">
                <a16:creationId xmlns:a16="http://schemas.microsoft.com/office/drawing/2014/main" id="{9FEFBC5C-E16D-D644-B27E-CF97FD1EFB25}"/>
              </a:ext>
            </a:extLst>
          </p:cNvPr>
          <p:cNvSpPr/>
          <p:nvPr/>
        </p:nvSpPr>
        <p:spPr>
          <a:xfrm>
            <a:off x="9832975" y="1714500"/>
            <a:ext cx="44450" cy="37147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GridLineH1">
            <a:extLst>
              <a:ext uri="{FF2B5EF4-FFF2-40B4-BE49-F238E27FC236}">
                <a16:creationId xmlns:a16="http://schemas.microsoft.com/office/drawing/2014/main" id="{5B83D5ED-FBED-4345-9EF3-F209BC7D983F}"/>
              </a:ext>
            </a:extLst>
          </p:cNvPr>
          <p:cNvSpPr/>
          <p:nvPr/>
        </p:nvSpPr>
        <p:spPr>
          <a:xfrm>
            <a:off x="457200" y="2222953"/>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GridLineH2">
            <a:extLst>
              <a:ext uri="{FF2B5EF4-FFF2-40B4-BE49-F238E27FC236}">
                <a16:creationId xmlns:a16="http://schemas.microsoft.com/office/drawing/2014/main" id="{ED44BA90-9F82-ED4B-A72B-9E68FD2C8664}"/>
              </a:ext>
            </a:extLst>
          </p:cNvPr>
          <p:cNvSpPr/>
          <p:nvPr/>
        </p:nvSpPr>
        <p:spPr>
          <a:xfrm>
            <a:off x="457200" y="2753632"/>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GridLineH3">
            <a:extLst>
              <a:ext uri="{FF2B5EF4-FFF2-40B4-BE49-F238E27FC236}">
                <a16:creationId xmlns:a16="http://schemas.microsoft.com/office/drawing/2014/main" id="{0C46CE68-E39C-B24B-A950-134CA8AD4F1F}"/>
              </a:ext>
            </a:extLst>
          </p:cNvPr>
          <p:cNvSpPr/>
          <p:nvPr/>
        </p:nvSpPr>
        <p:spPr>
          <a:xfrm>
            <a:off x="457200" y="3284310"/>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GridLineH4">
            <a:extLst>
              <a:ext uri="{FF2B5EF4-FFF2-40B4-BE49-F238E27FC236}">
                <a16:creationId xmlns:a16="http://schemas.microsoft.com/office/drawing/2014/main" id="{F6764D21-023A-A944-A825-6579C85B8643}"/>
              </a:ext>
            </a:extLst>
          </p:cNvPr>
          <p:cNvSpPr/>
          <p:nvPr/>
        </p:nvSpPr>
        <p:spPr>
          <a:xfrm>
            <a:off x="457200" y="3814989"/>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GridLineH5">
            <a:extLst>
              <a:ext uri="{FF2B5EF4-FFF2-40B4-BE49-F238E27FC236}">
                <a16:creationId xmlns:a16="http://schemas.microsoft.com/office/drawing/2014/main" id="{BDF2AA8E-A37E-2746-9520-73D54348C322}"/>
              </a:ext>
            </a:extLst>
          </p:cNvPr>
          <p:cNvSpPr/>
          <p:nvPr/>
        </p:nvSpPr>
        <p:spPr>
          <a:xfrm>
            <a:off x="457200" y="4345667"/>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GridLineH6">
            <a:extLst>
              <a:ext uri="{FF2B5EF4-FFF2-40B4-BE49-F238E27FC236}">
                <a16:creationId xmlns:a16="http://schemas.microsoft.com/office/drawing/2014/main" id="{CE0488B1-0827-154C-98C4-3B7E0357A907}"/>
              </a:ext>
            </a:extLst>
          </p:cNvPr>
          <p:cNvSpPr/>
          <p:nvPr/>
        </p:nvSpPr>
        <p:spPr>
          <a:xfrm>
            <a:off x="457200" y="4876346"/>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Footer Placeholder 1">
            <a:extLst>
              <a:ext uri="{FF2B5EF4-FFF2-40B4-BE49-F238E27FC236}">
                <a16:creationId xmlns:a16="http://schemas.microsoft.com/office/drawing/2014/main" id="{9C3B130A-9753-9C93-1EE2-0EF1BA39F9F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20" name="Slide Number Placeholder 2">
            <a:extLst>
              <a:ext uri="{FF2B5EF4-FFF2-40B4-BE49-F238E27FC236}">
                <a16:creationId xmlns:a16="http://schemas.microsoft.com/office/drawing/2014/main" id="{36CBDED7-24F9-1572-AE05-6853662AA943}"/>
              </a:ext>
            </a:extLst>
          </p:cNvPr>
          <p:cNvSpPr>
            <a:spLocks noGrp="1"/>
          </p:cNvSpPr>
          <p:nvPr>
            <p:ph type="sldNum" idx="11"/>
          </p:nvPr>
        </p:nvSpPr>
        <p:spPr>
          <a:xfrm>
            <a:off x="11509578" y="6400799"/>
            <a:ext cx="218871" cy="167949"/>
          </a:xfrm>
        </p:spPr>
        <p:txBody>
          <a:bodyPr/>
          <a:lstStyle/>
          <a:p>
            <a:fld id="{63DCA5C9-2E11-4C67-86EB-AE1DE127DC64}" type="slidenum">
              <a:rPr lang="en-US" smtClean="0"/>
              <a:t>32</a:t>
            </a:fld>
            <a:endParaRPr lang="en-US"/>
          </a:p>
        </p:txBody>
      </p:sp>
    </p:spTree>
    <p:extLst>
      <p:ext uri="{BB962C8B-B14F-4D97-AF65-F5344CB8AC3E}">
        <p14:creationId xmlns:p14="http://schemas.microsoft.com/office/powerpoint/2010/main" val="1243583073"/>
      </p:ext>
    </p:extLst>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C83B4-4DD1-39E5-8435-594365CC8AC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A7131FD-F9CD-91D1-85DF-62BB710CF338}"/>
              </a:ext>
            </a:extLst>
          </p:cNvPr>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F49DD7D3-ACFE-605D-8724-6F07159097F2}"/>
              </a:ext>
            </a:extLst>
          </p:cNvPr>
          <p:cNvSpPr>
            <a:spLocks noGrp="1"/>
          </p:cNvSpPr>
          <p:nvPr/>
        </p:nvSpPr>
        <p:spPr>
          <a:xfrm>
            <a:off x="457200" y="2457450"/>
            <a:ext cx="2857500" cy="190500"/>
          </a:xfrm>
          <a:prstGeom prst="rect">
            <a:avLst/>
          </a:prstGeom>
          <a:noFill/>
          <a:ln w="0">
            <a:noFill/>
          </a:ln>
        </p:spPr>
        <p:txBody>
          <a:bodyPr anchor="t">
            <a:normAutofit fontScale="80452" lnSpcReduction="20000"/>
          </a:bodyPr>
          <a:lstStyle/>
          <a:p>
            <a:pPr>
              <a:lnSpc>
                <a:spcPct val="108000"/>
              </a:lnSpc>
              <a:buNone/>
              <a:defRPr sz="825" b="1" i="0">
                <a:solidFill>
                  <a:srgbClr val="0047FF"/>
                </a:solidFill>
                <a:latin typeface="Arial"/>
                <a:ea typeface="Arial"/>
                <a:cs typeface="Arial"/>
              </a:defRPr>
            </a:pPr>
            <a:r>
              <a:rPr sz="825" b="1" i="0">
                <a:solidFill>
                  <a:srgbClr val="0047FF"/>
                </a:solidFill>
                <a:latin typeface="Arial"/>
                <a:ea typeface="Arial"/>
                <a:cs typeface="Arial"/>
              </a:rPr>
              <a:t>DELIVERABLE 02</a:t>
            </a:r>
          </a:p>
        </p:txBody>
      </p:sp>
      <p:sp>
        <p:nvSpPr>
          <p:cNvPr id="3" name="Rectangle 2">
            <a:extLst>
              <a:ext uri="{FF2B5EF4-FFF2-40B4-BE49-F238E27FC236}">
                <a16:creationId xmlns:a16="http://schemas.microsoft.com/office/drawing/2014/main" id="{372F7053-61C7-86EA-44A3-55A644B4C159}"/>
              </a:ext>
            </a:extLst>
          </p:cNvPr>
          <p:cNvSpPr>
            <a:spLocks noGrp="1"/>
          </p:cNvSpPr>
          <p:nvPr/>
        </p:nvSpPr>
        <p:spPr>
          <a:xfrm>
            <a:off x="457200" y="2876550"/>
            <a:ext cx="5143500" cy="1428750"/>
          </a:xfrm>
          <a:prstGeom prst="rect">
            <a:avLst/>
          </a:prstGeom>
          <a:noFill/>
          <a:ln w="0">
            <a:noFill/>
          </a:ln>
        </p:spPr>
        <p:txBody>
          <a:bodyPr anchor="t">
            <a:normAutofit/>
          </a:bodyPr>
          <a:lstStyle/>
          <a:p>
            <a:pPr>
              <a:lnSpc>
                <a:spcPct val="98000"/>
              </a:lnSpc>
              <a:buNone/>
              <a:defRPr sz="2550" b="1" i="0">
                <a:solidFill>
                  <a:srgbClr val="FFFFFF"/>
                </a:solidFill>
                <a:latin typeface="Arial"/>
                <a:ea typeface="Arial"/>
                <a:cs typeface="Arial"/>
              </a:defRPr>
            </a:pPr>
            <a:r>
              <a:rPr lang="en-US" sz="2550" b="1" i="0">
                <a:solidFill>
                  <a:srgbClr val="FFFFFF"/>
                </a:solidFill>
                <a:latin typeface="Arial"/>
                <a:ea typeface="Arial"/>
                <a:cs typeface="Arial"/>
              </a:rPr>
              <a:t>Implementation Templates</a:t>
            </a:r>
            <a:endParaRPr sz="2550" b="1" i="0">
              <a:solidFill>
                <a:srgbClr val="FFFFFF"/>
              </a:solidFill>
              <a:latin typeface="Arial"/>
              <a:ea typeface="Arial"/>
              <a:cs typeface="Arial"/>
            </a:endParaRPr>
          </a:p>
        </p:txBody>
      </p:sp>
      <p:sp>
        <p:nvSpPr>
          <p:cNvPr id="4" name="Rectangle 3">
            <a:extLst>
              <a:ext uri="{FF2B5EF4-FFF2-40B4-BE49-F238E27FC236}">
                <a16:creationId xmlns:a16="http://schemas.microsoft.com/office/drawing/2014/main" id="{E37947E3-9E58-71F9-7452-F07C802BB358}"/>
              </a:ext>
            </a:extLst>
          </p:cNvPr>
          <p:cNvSpPr>
            <a:spLocks noGrp="1"/>
          </p:cNvSpPr>
          <p:nvPr/>
        </p:nvSpPr>
        <p:spPr>
          <a:xfrm>
            <a:off x="457200" y="4762500"/>
            <a:ext cx="5519776" cy="819150"/>
          </a:xfrm>
          <a:prstGeom prst="rect">
            <a:avLst/>
          </a:prstGeom>
          <a:noFill/>
          <a:ln w="0">
            <a:noFill/>
          </a:ln>
        </p:spPr>
        <p:txBody>
          <a:bodyPr anchor="t">
            <a:normAutofit fontScale="99728"/>
          </a:bodyPr>
          <a:lstStyle/>
          <a:p>
            <a:pPr>
              <a:lnSpc>
                <a:spcPct val="112000"/>
              </a:lnSpc>
              <a:buNone/>
              <a:defRPr sz="1425" b="0" i="0">
                <a:solidFill>
                  <a:srgbClr val="E8EEF8"/>
                </a:solidFill>
                <a:latin typeface="Arial"/>
                <a:ea typeface="Arial"/>
                <a:cs typeface="Arial"/>
              </a:defRPr>
            </a:pPr>
            <a:r>
              <a:rPr lang="en-US" sz="1425" b="0" i="0">
                <a:solidFill>
                  <a:srgbClr val="E8EEF8"/>
                </a:solidFill>
                <a:latin typeface="Arial"/>
                <a:ea typeface="Arial"/>
                <a:cs typeface="Arial"/>
              </a:rPr>
              <a:t>The briefs and plans that are included as part of the R&amp;D Operating Model project, when to use them, and the different ways of contributing.</a:t>
            </a:r>
            <a:endParaRPr sz="1425" b="0" i="0">
              <a:solidFill>
                <a:srgbClr val="E8EEF8"/>
              </a:solidFill>
              <a:latin typeface="Arial"/>
              <a:ea typeface="Arial"/>
              <a:cs typeface="Arial"/>
            </a:endParaRPr>
          </a:p>
        </p:txBody>
      </p:sp>
      <p:sp>
        <p:nvSpPr>
          <p:cNvPr id="9" name="EyebrowAccent">
            <a:extLst>
              <a:ext uri="{FF2B5EF4-FFF2-40B4-BE49-F238E27FC236}">
                <a16:creationId xmlns:a16="http://schemas.microsoft.com/office/drawing/2014/main" id="{F0EAF699-5555-75A8-115F-5DAE1BBC2EFE}"/>
              </a:ext>
            </a:extLst>
          </p:cNvPr>
          <p:cNvSpPr/>
          <p:nvPr/>
        </p:nvSpPr>
        <p:spPr>
          <a:xfrm>
            <a:off x="457200" y="2711450"/>
            <a:ext cx="584200" cy="38100"/>
          </a:xfrm>
          <a:prstGeom prst="rect">
            <a:avLst/>
          </a:prstGeom>
          <a:solidFill>
            <a:srgbClr val="F900D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137135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9A4EB00-2C41-5C4E-5F11-27C8211428F3}"/>
              </a:ext>
            </a:extLst>
          </p:cNvPr>
          <p:cNvSpPr>
            <a:spLocks noGrp="1"/>
          </p:cNvSpPr>
          <p:nvPr>
            <p:ph type="ftr" idx="10"/>
          </p:nvPr>
        </p:nvSpPr>
        <p:spPr/>
        <p:txBody>
          <a:bodyPr/>
          <a:lstStyle/>
          <a:p>
            <a:r>
              <a:rPr lang="en-US"/>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3DB144DF-5382-F26E-37FE-8706BC6329C0}"/>
              </a:ext>
            </a:extLst>
          </p:cNvPr>
          <p:cNvSpPr>
            <a:spLocks noGrp="1"/>
          </p:cNvSpPr>
          <p:nvPr>
            <p:ph type="sldNum" idx="11"/>
          </p:nvPr>
        </p:nvSpPr>
        <p:spPr/>
        <p:txBody>
          <a:bodyPr/>
          <a:lstStyle/>
          <a:p>
            <a:fld id="{63DCA5C9-2E11-4C67-86EB-AE1DE127DC64}" type="slidenum">
              <a:rPr lang="en-US" smtClean="0"/>
              <a:t>34</a:t>
            </a:fld>
            <a:endParaRPr lang="en-US"/>
          </a:p>
        </p:txBody>
      </p:sp>
      <p:pic>
        <p:nvPicPr>
          <p:cNvPr id="90" name="Picture 6"/>
          <p:cNvPicPr>
            <a:picLocks noChangeAspect="1"/>
          </p:cNvPicPr>
          <p:nvPr/>
        </p:nvPicPr>
        <p:blipFill>
          <a:blip r:embed="rId4"/>
          <a:stretch/>
        </p:blipFill>
        <p:spPr>
          <a:xfrm>
            <a:off x="10608469" y="171450"/>
            <a:ext cx="1071563" cy="476250"/>
          </a:xfrm>
          <a:prstGeom prst="rect">
            <a:avLst/>
          </a:prstGeom>
        </p:spPr>
      </p:pic>
      <p:sp>
        <p:nvSpPr>
          <p:cNvPr id="91" name="Rectangle 1">
            <a:extLst>
              <a:ext uri="{FF2B5EF4-FFF2-40B4-BE49-F238E27FC236}">
                <a16:creationId xmlns:a16="http://schemas.microsoft.com/office/drawing/2014/main" id="{7A41A9B1-B9E2-4E11-AC4E-00E1960D181D}"/>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Implementation templates: </a:t>
            </a:r>
            <a:r>
              <a:rPr lang="en-US" sz="2325" b="1">
                <a:solidFill>
                  <a:srgbClr val="070154"/>
                </a:solidFill>
                <a:latin typeface="Arial"/>
                <a:ea typeface="Arial"/>
                <a:cs typeface="Arial"/>
              </a:rPr>
              <a:t>summary</a:t>
            </a:r>
            <a:endParaRPr sz="2325" b="1" i="0">
              <a:solidFill>
                <a:srgbClr val="070154"/>
              </a:solidFill>
              <a:latin typeface="Arial"/>
              <a:ea typeface="Arial"/>
              <a:cs typeface="Arial"/>
            </a:endParaRPr>
          </a:p>
        </p:txBody>
      </p:sp>
      <p:sp>
        <p:nvSpPr>
          <p:cNvPr id="92" name="Rectangle 2">
            <a:extLst>
              <a:ext uri="{FF2B5EF4-FFF2-40B4-BE49-F238E27FC236}">
                <a16:creationId xmlns:a16="http://schemas.microsoft.com/office/drawing/2014/main" id="{E4BA3EFF-737E-42A8-A997-95354A026770}"/>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b="0" i="0">
                <a:solidFill>
                  <a:srgbClr val="50658E"/>
                </a:solidFill>
                <a:latin typeface="Arial"/>
                <a:ea typeface="Arial"/>
                <a:cs typeface="Arial"/>
              </a:rPr>
              <a:t>Six linked working documents that turn the definition path into decisions. Each one ends in Approve, Revise, Hold, or Stop.</a:t>
            </a:r>
          </a:p>
        </p:txBody>
      </p:sp>
      <p:sp>
        <p:nvSpPr>
          <p:cNvPr id="93" name="Rectangle 3">
            <a:extLst>
              <a:ext uri="{FF2B5EF4-FFF2-40B4-BE49-F238E27FC236}">
                <a16:creationId xmlns:a16="http://schemas.microsoft.com/office/drawing/2014/main" id="{92789E09-0421-4E0B-A3F8-DA08C49950D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IMPLEMENTATION TEMPLATES</a:t>
            </a:r>
          </a:p>
        </p:txBody>
      </p:sp>
      <p:sp>
        <p:nvSpPr>
          <p:cNvPr id="100" name="Tpl Card 01"/>
          <p:cNvSpPr/>
          <p:nvPr/>
        </p:nvSpPr>
        <p:spPr>
          <a:xfrm>
            <a:off x="457200" y="1752600"/>
            <a:ext cx="3640000" cy="183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101" name="Tpl Accent 01"/>
          <p:cNvSpPr/>
          <p:nvPr/>
        </p:nvSpPr>
        <p:spPr>
          <a:xfrm>
            <a:off x="457200" y="1752600"/>
            <a:ext cx="3640000" cy="63500"/>
          </a:xfrm>
          <a:prstGeom prst="rect">
            <a:avLst/>
          </a:prstGeom>
          <a:solidFill>
            <a:srgbClr val="00E8FA"/>
          </a:solidFill>
          <a:ln w="0">
            <a:noFill/>
          </a:ln>
        </p:spPr>
        <p:txBody>
          <a:bodyPr wrap="square" anchor="t">
            <a:noAutofit/>
          </a:bodyPr>
          <a:lstStyle/>
          <a:p>
            <a:endParaRPr lang="en-US"/>
          </a:p>
        </p:txBody>
      </p:sp>
      <p:sp>
        <p:nvSpPr>
          <p:cNvPr id="102" name="Tpl Badge 01"/>
          <p:cNvSpPr/>
          <p:nvPr/>
        </p:nvSpPr>
        <p:spPr>
          <a:xfrm>
            <a:off x="607200" y="1922600"/>
            <a:ext cx="400000" cy="240000"/>
          </a:xfrm>
          <a:prstGeom prst="rect">
            <a:avLst/>
          </a:prstGeom>
          <a:solidFill>
            <a:srgbClr val="0047FF"/>
          </a:solidFill>
          <a:ln w="0">
            <a:noFill/>
          </a:ln>
        </p:spPr>
        <p:txBody>
          <a:bodyPr wrap="square" lIns="45720" tIns="45720" rIns="45720" bIns="45720" anchor="ctr">
            <a:noAutofit/>
          </a:bodyPr>
          <a:lstStyle/>
          <a:p>
            <a:pPr>
              <a:lnSpc>
                <a:spcPct val="108000"/>
              </a:lnSpc>
              <a:buNone/>
            </a:pPr>
            <a:r>
              <a:rPr lang="en-US" sz="950" b="1" i="0">
                <a:solidFill>
                  <a:srgbClr val="FFFFFF"/>
                </a:solidFill>
                <a:latin typeface="Arial"/>
                <a:ea typeface="Arial"/>
                <a:cs typeface="Arial"/>
              </a:rPr>
              <a:t>01</a:t>
            </a:r>
          </a:p>
        </p:txBody>
      </p:sp>
      <p:sp>
        <p:nvSpPr>
          <p:cNvPr id="103" name="Tpl Title 01"/>
          <p:cNvSpPr/>
          <p:nvPr/>
        </p:nvSpPr>
        <p:spPr>
          <a:xfrm>
            <a:off x="1077200" y="1892600"/>
            <a:ext cx="2870000" cy="300000"/>
          </a:xfrm>
          <a:prstGeom prst="rect">
            <a:avLst/>
          </a:prstGeom>
          <a:noFill/>
          <a:ln w="0">
            <a:noFill/>
          </a:ln>
        </p:spPr>
        <p:txBody>
          <a:bodyPr wrap="square" lIns="0" tIns="0" rIns="0" bIns="0" anchor="ctr">
            <a:noAutofit/>
          </a:bodyPr>
          <a:lstStyle/>
          <a:p>
            <a:pPr>
              <a:lnSpc>
                <a:spcPct val="108000"/>
              </a:lnSpc>
              <a:buNone/>
            </a:pPr>
            <a:r>
              <a:rPr lang="en-US" sz="1200" b="1" i="0">
                <a:solidFill>
                  <a:srgbClr val="070154"/>
                </a:solidFill>
                <a:latin typeface="Arial"/>
                <a:ea typeface="Arial"/>
                <a:cs typeface="Arial"/>
              </a:rPr>
              <a:t>Opportunity Brief</a:t>
            </a:r>
          </a:p>
        </p:txBody>
      </p:sp>
      <p:sp>
        <p:nvSpPr>
          <p:cNvPr id="104" name="Tpl Tags 01"/>
          <p:cNvSpPr/>
          <p:nvPr/>
        </p:nvSpPr>
        <p:spPr>
          <a:xfrm>
            <a:off x="607200" y="2232600"/>
            <a:ext cx="3340000" cy="200000"/>
          </a:xfrm>
          <a:prstGeom prst="rect">
            <a:avLst/>
          </a:prstGeom>
          <a:noFill/>
          <a:ln w="0">
            <a:noFill/>
          </a:ln>
        </p:spPr>
        <p:txBody>
          <a:bodyPr wrap="square" lIns="0" tIns="0" rIns="0" bIns="0" anchor="t">
            <a:noAutofit/>
          </a:bodyPr>
          <a:lstStyle/>
          <a:p>
            <a:pPr>
              <a:lnSpc>
                <a:spcPct val="108000"/>
              </a:lnSpc>
              <a:buNone/>
            </a:pPr>
            <a:r>
              <a:rPr lang="en-US" sz="800" b="1" i="0">
                <a:solidFill>
                  <a:srgbClr val="0047FF"/>
                </a:solidFill>
                <a:latin typeface="Arial"/>
                <a:ea typeface="Arial"/>
                <a:cs typeface="Arial"/>
              </a:rPr>
              <a:t>IDENTIFY</a:t>
            </a:r>
            <a:r>
              <a:rPr lang="en-US" sz="800" b="0" i="0">
                <a:solidFill>
                  <a:srgbClr val="50658E"/>
                </a:solidFill>
                <a:latin typeface="Arial"/>
                <a:ea typeface="Arial"/>
                <a:cs typeface="Arial"/>
              </a:rPr>
              <a:t>   ·   Path steps 01–02</a:t>
            </a:r>
          </a:p>
        </p:txBody>
      </p:sp>
      <p:sp>
        <p:nvSpPr>
          <p:cNvPr id="105" name="Tpl Body 01"/>
          <p:cNvSpPr/>
          <p:nvPr/>
        </p:nvSpPr>
        <p:spPr>
          <a:xfrm>
            <a:off x="607200" y="2452600"/>
            <a:ext cx="3340000" cy="1070000"/>
          </a:xfrm>
          <a:prstGeom prst="rect">
            <a:avLst/>
          </a:prstGeom>
          <a:noFill/>
          <a:ln w="0">
            <a:noFill/>
          </a:ln>
        </p:spPr>
        <p:txBody>
          <a:bodyPr wrap="square" lIns="0" tIns="0" rIns="0" bIns="0" anchor="t">
            <a:noAutofit/>
          </a:bodyPr>
          <a:lstStyle/>
          <a:p>
            <a:pPr>
              <a:lnSpc>
                <a:spcPct val="102000"/>
              </a:lnSpc>
              <a:spcAft>
                <a:spcPts val="400"/>
              </a:spcAft>
              <a:buNone/>
            </a:pPr>
            <a:r>
              <a:rPr lang="en-US" sz="900" b="0" i="0">
                <a:solidFill>
                  <a:srgbClr val="070154"/>
                </a:solidFill>
                <a:latin typeface="Arial"/>
                <a:ea typeface="Arial"/>
                <a:cs typeface="Arial"/>
              </a:rPr>
              <a:t>Frames a request or signal as an evidence-backed problem before any solution is chosen.</a:t>
            </a:r>
          </a:p>
          <a:p>
            <a:pPr>
              <a:lnSpc>
                <a:spcPct val="108000"/>
              </a:lnSpc>
              <a:spcAft>
                <a:spcPts val="200"/>
              </a:spcAft>
              <a:buNone/>
            </a:pPr>
            <a:r>
              <a:rPr lang="en-US" sz="850" b="1" i="0">
                <a:solidFill>
                  <a:srgbClr val="0047FF"/>
                </a:solidFill>
                <a:latin typeface="Arial"/>
                <a:ea typeface="Arial"/>
                <a:cs typeface="Arial"/>
              </a:rPr>
              <a:t>Owner: </a:t>
            </a:r>
            <a:r>
              <a:rPr lang="en-US" sz="850" b="0" i="0">
                <a:solidFill>
                  <a:srgbClr val="50658E"/>
                </a:solidFill>
                <a:latin typeface="Arial"/>
                <a:ea typeface="Arial"/>
                <a:cs typeface="Arial"/>
              </a:rPr>
              <a:t>Product manager</a:t>
            </a:r>
          </a:p>
          <a:p>
            <a:pPr>
              <a:lnSpc>
                <a:spcPct val="108000"/>
              </a:lnSpc>
              <a:spcAft>
                <a:spcPts val="200"/>
              </a:spcAft>
              <a:buNone/>
            </a:pPr>
            <a:r>
              <a:rPr lang="en-US" sz="850" b="1" i="0">
                <a:solidFill>
                  <a:srgbClr val="0047FF"/>
                </a:solidFill>
                <a:latin typeface="Arial"/>
                <a:ea typeface="Arial"/>
                <a:cs typeface="Arial"/>
              </a:rPr>
              <a:t>Decision: </a:t>
            </a:r>
            <a:r>
              <a:rPr lang="en-US" sz="850" b="0" i="0">
                <a:solidFill>
                  <a:srgbClr val="50658E"/>
                </a:solidFill>
                <a:latin typeface="Arial"/>
                <a:ea typeface="Arial"/>
                <a:cs typeface="Arial"/>
              </a:rPr>
              <a:t>Senior leader: is it worth defining?</a:t>
            </a:r>
          </a:p>
          <a:p>
            <a:pPr>
              <a:lnSpc>
                <a:spcPct val="108000"/>
              </a:lnSpc>
              <a:buNone/>
            </a:pPr>
            <a:r>
              <a:rPr lang="en-US" sz="850" b="1" i="0">
                <a:solidFill>
                  <a:srgbClr val="F900D3"/>
                </a:solidFill>
                <a:latin typeface="Arial"/>
                <a:ea typeface="Arial"/>
                <a:cs typeface="Arial"/>
              </a:rPr>
              <a:t>Proposed pilot: </a:t>
            </a:r>
            <a:r>
              <a:rPr lang="en-US" sz="850" b="0" i="0">
                <a:solidFill>
                  <a:srgbClr val="50658E"/>
                </a:solidFill>
                <a:latin typeface="Arial"/>
                <a:ea typeface="Arial"/>
                <a:cs typeface="Arial"/>
              </a:rPr>
              <a:t>Rules Engine, rebuilt from its PGB deck.</a:t>
            </a:r>
          </a:p>
        </p:txBody>
      </p:sp>
      <p:sp>
        <p:nvSpPr>
          <p:cNvPr id="106" name="Tpl Card 02"/>
          <p:cNvSpPr/>
          <p:nvPr/>
        </p:nvSpPr>
        <p:spPr>
          <a:xfrm>
            <a:off x="4276000" y="1752600"/>
            <a:ext cx="3640000" cy="183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107" name="Tpl Accent 02"/>
          <p:cNvSpPr/>
          <p:nvPr/>
        </p:nvSpPr>
        <p:spPr>
          <a:xfrm>
            <a:off x="4276000" y="1752600"/>
            <a:ext cx="3640000" cy="63500"/>
          </a:xfrm>
          <a:prstGeom prst="rect">
            <a:avLst/>
          </a:prstGeom>
          <a:solidFill>
            <a:srgbClr val="F900D3"/>
          </a:solidFill>
          <a:ln w="0">
            <a:noFill/>
          </a:ln>
        </p:spPr>
        <p:txBody>
          <a:bodyPr wrap="square" anchor="t">
            <a:noAutofit/>
          </a:bodyPr>
          <a:lstStyle/>
          <a:p>
            <a:endParaRPr lang="en-US"/>
          </a:p>
        </p:txBody>
      </p:sp>
      <p:sp>
        <p:nvSpPr>
          <p:cNvPr id="108" name="Tpl Badge 02"/>
          <p:cNvSpPr/>
          <p:nvPr/>
        </p:nvSpPr>
        <p:spPr>
          <a:xfrm>
            <a:off x="4426000" y="1922600"/>
            <a:ext cx="400000" cy="240000"/>
          </a:xfrm>
          <a:prstGeom prst="rect">
            <a:avLst/>
          </a:prstGeom>
          <a:solidFill>
            <a:srgbClr val="0047FF"/>
          </a:solidFill>
          <a:ln w="0">
            <a:noFill/>
          </a:ln>
        </p:spPr>
        <p:txBody>
          <a:bodyPr wrap="square" lIns="45720" tIns="45720" rIns="45720" bIns="45720" anchor="ctr">
            <a:noAutofit/>
          </a:bodyPr>
          <a:lstStyle/>
          <a:p>
            <a:pPr>
              <a:lnSpc>
                <a:spcPct val="108000"/>
              </a:lnSpc>
              <a:buNone/>
            </a:pPr>
            <a:r>
              <a:rPr lang="en-US" sz="950" b="1" i="0">
                <a:solidFill>
                  <a:srgbClr val="FFFFFF"/>
                </a:solidFill>
                <a:latin typeface="Arial"/>
                <a:ea typeface="Arial"/>
                <a:cs typeface="Arial"/>
              </a:rPr>
              <a:t>02</a:t>
            </a:r>
          </a:p>
        </p:txBody>
      </p:sp>
      <p:sp>
        <p:nvSpPr>
          <p:cNvPr id="109" name="Tpl Title 02"/>
          <p:cNvSpPr/>
          <p:nvPr/>
        </p:nvSpPr>
        <p:spPr>
          <a:xfrm>
            <a:off x="4896000" y="1892600"/>
            <a:ext cx="2870000" cy="300000"/>
          </a:xfrm>
          <a:prstGeom prst="rect">
            <a:avLst/>
          </a:prstGeom>
          <a:noFill/>
          <a:ln w="0">
            <a:noFill/>
          </a:ln>
        </p:spPr>
        <p:txBody>
          <a:bodyPr wrap="square" lIns="0" tIns="0" rIns="0" bIns="0" anchor="ctr">
            <a:noAutofit/>
          </a:bodyPr>
          <a:lstStyle/>
          <a:p>
            <a:pPr>
              <a:lnSpc>
                <a:spcPct val="108000"/>
              </a:lnSpc>
              <a:buNone/>
            </a:pPr>
            <a:r>
              <a:rPr lang="en-US" sz="1200" b="1" i="0">
                <a:solidFill>
                  <a:srgbClr val="070154"/>
                </a:solidFill>
                <a:latin typeface="Arial"/>
                <a:ea typeface="Arial"/>
                <a:cs typeface="Arial"/>
              </a:rPr>
              <a:t>Product Brief</a:t>
            </a:r>
          </a:p>
        </p:txBody>
      </p:sp>
      <p:sp>
        <p:nvSpPr>
          <p:cNvPr id="110" name="Tpl Tags 02"/>
          <p:cNvSpPr/>
          <p:nvPr/>
        </p:nvSpPr>
        <p:spPr>
          <a:xfrm>
            <a:off x="4426000" y="2232600"/>
            <a:ext cx="3340000" cy="200000"/>
          </a:xfrm>
          <a:prstGeom prst="rect">
            <a:avLst/>
          </a:prstGeom>
          <a:noFill/>
          <a:ln w="0">
            <a:noFill/>
          </a:ln>
        </p:spPr>
        <p:txBody>
          <a:bodyPr wrap="square" lIns="0" tIns="0" rIns="0" bIns="0" anchor="t">
            <a:noAutofit/>
          </a:bodyPr>
          <a:lstStyle/>
          <a:p>
            <a:pPr>
              <a:lnSpc>
                <a:spcPct val="108000"/>
              </a:lnSpc>
              <a:buNone/>
            </a:pPr>
            <a:r>
              <a:rPr lang="en-US" sz="800" b="1" i="0">
                <a:solidFill>
                  <a:srgbClr val="0047FF"/>
                </a:solidFill>
                <a:latin typeface="Arial"/>
                <a:ea typeface="Arial"/>
                <a:cs typeface="Arial"/>
              </a:rPr>
              <a:t>DEFINE</a:t>
            </a:r>
            <a:r>
              <a:rPr lang="en-US" sz="800" b="0" i="0">
                <a:solidFill>
                  <a:srgbClr val="50658E"/>
                </a:solidFill>
                <a:latin typeface="Arial"/>
                <a:ea typeface="Arial"/>
                <a:cs typeface="Arial"/>
              </a:rPr>
              <a:t>   ·   Path step 03 (PRD)</a:t>
            </a:r>
          </a:p>
        </p:txBody>
      </p:sp>
      <p:sp>
        <p:nvSpPr>
          <p:cNvPr id="111" name="Tpl Body 02"/>
          <p:cNvSpPr/>
          <p:nvPr/>
        </p:nvSpPr>
        <p:spPr>
          <a:xfrm>
            <a:off x="4426000" y="2452600"/>
            <a:ext cx="3340000" cy="1070000"/>
          </a:xfrm>
          <a:prstGeom prst="rect">
            <a:avLst/>
          </a:prstGeom>
          <a:noFill/>
          <a:ln w="0">
            <a:noFill/>
          </a:ln>
        </p:spPr>
        <p:txBody>
          <a:bodyPr wrap="square" lIns="0" tIns="0" rIns="0" bIns="0" anchor="t">
            <a:noAutofit/>
          </a:bodyPr>
          <a:lstStyle/>
          <a:p>
            <a:pPr>
              <a:lnSpc>
                <a:spcPct val="102000"/>
              </a:lnSpc>
              <a:spcAft>
                <a:spcPts val="400"/>
              </a:spcAft>
              <a:buNone/>
            </a:pPr>
            <a:r>
              <a:rPr lang="en-US" sz="900" b="0" i="0">
                <a:solidFill>
                  <a:srgbClr val="070154"/>
                </a:solidFill>
                <a:latin typeface="Arial"/>
                <a:ea typeface="Arial"/>
                <a:cs typeface="Arial"/>
              </a:rPr>
              <a:t>Turns an approved opportunity into a product direction: outcome, experience, scope, and measures.</a:t>
            </a:r>
          </a:p>
          <a:p>
            <a:pPr>
              <a:lnSpc>
                <a:spcPct val="108000"/>
              </a:lnSpc>
              <a:spcAft>
                <a:spcPts val="200"/>
              </a:spcAft>
              <a:buNone/>
            </a:pPr>
            <a:r>
              <a:rPr lang="en-US" sz="850" b="1" i="0">
                <a:solidFill>
                  <a:srgbClr val="0047FF"/>
                </a:solidFill>
                <a:latin typeface="Arial"/>
                <a:ea typeface="Arial"/>
                <a:cs typeface="Arial"/>
              </a:rPr>
              <a:t>Owner: </a:t>
            </a:r>
            <a:r>
              <a:rPr lang="en-US" sz="850" b="0" i="0">
                <a:solidFill>
                  <a:srgbClr val="50658E"/>
                </a:solidFill>
                <a:latin typeface="Arial"/>
                <a:ea typeface="Arial"/>
                <a:cs typeface="Arial"/>
              </a:rPr>
              <a:t>Product manager</a:t>
            </a:r>
          </a:p>
          <a:p>
            <a:pPr>
              <a:lnSpc>
                <a:spcPct val="108000"/>
              </a:lnSpc>
              <a:spcAft>
                <a:spcPts val="200"/>
              </a:spcAft>
              <a:buNone/>
            </a:pPr>
            <a:r>
              <a:rPr lang="en-US" sz="850" b="1" i="0">
                <a:solidFill>
                  <a:srgbClr val="0047FF"/>
                </a:solidFill>
                <a:latin typeface="Arial"/>
                <a:ea typeface="Arial"/>
                <a:cs typeface="Arial"/>
              </a:rPr>
              <a:t>Decision: </a:t>
            </a:r>
            <a:r>
              <a:rPr lang="en-US" sz="850" b="0" i="0">
                <a:solidFill>
                  <a:srgbClr val="50658E"/>
                </a:solidFill>
                <a:latin typeface="Arial"/>
                <a:ea typeface="Arial"/>
                <a:cs typeface="Arial"/>
              </a:rPr>
              <a:t>Senior leader approves direction and measures.</a:t>
            </a:r>
          </a:p>
          <a:p>
            <a:pPr>
              <a:lnSpc>
                <a:spcPct val="108000"/>
              </a:lnSpc>
              <a:buNone/>
            </a:pPr>
            <a:r>
              <a:rPr lang="en-US" sz="850" b="1" i="0">
                <a:solidFill>
                  <a:srgbClr val="F900D3"/>
                </a:solidFill>
                <a:latin typeface="Arial"/>
                <a:ea typeface="Arial"/>
                <a:cs typeface="Arial"/>
              </a:rPr>
              <a:t>Proposed pilot: </a:t>
            </a:r>
            <a:r>
              <a:rPr lang="en-US" sz="850" b="0" i="0">
                <a:solidFill>
                  <a:srgbClr val="50658E"/>
                </a:solidFill>
                <a:latin typeface="Arial"/>
                <a:ea typeface="Arial"/>
                <a:cs typeface="Arial"/>
              </a:rPr>
              <a:t>Rules Engine, checked against its existing PRD.</a:t>
            </a:r>
          </a:p>
        </p:txBody>
      </p:sp>
      <p:sp>
        <p:nvSpPr>
          <p:cNvPr id="112" name="Tpl Card 03"/>
          <p:cNvSpPr/>
          <p:nvPr/>
        </p:nvSpPr>
        <p:spPr>
          <a:xfrm>
            <a:off x="8094800" y="1752600"/>
            <a:ext cx="3640000" cy="183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113" name="Tpl Accent 03"/>
          <p:cNvSpPr/>
          <p:nvPr/>
        </p:nvSpPr>
        <p:spPr>
          <a:xfrm>
            <a:off x="8094800" y="1752600"/>
            <a:ext cx="3640000" cy="63500"/>
          </a:xfrm>
          <a:prstGeom prst="rect">
            <a:avLst/>
          </a:prstGeom>
          <a:solidFill>
            <a:srgbClr val="00A3FF"/>
          </a:solidFill>
          <a:ln w="0">
            <a:noFill/>
          </a:ln>
        </p:spPr>
        <p:txBody>
          <a:bodyPr wrap="square" anchor="t">
            <a:noAutofit/>
          </a:bodyPr>
          <a:lstStyle/>
          <a:p>
            <a:endParaRPr lang="en-US"/>
          </a:p>
        </p:txBody>
      </p:sp>
      <p:sp>
        <p:nvSpPr>
          <p:cNvPr id="114" name="Tpl Badge 03"/>
          <p:cNvSpPr/>
          <p:nvPr/>
        </p:nvSpPr>
        <p:spPr>
          <a:xfrm>
            <a:off x="8244800" y="1922600"/>
            <a:ext cx="400000" cy="240000"/>
          </a:xfrm>
          <a:prstGeom prst="rect">
            <a:avLst/>
          </a:prstGeom>
          <a:solidFill>
            <a:srgbClr val="0047FF"/>
          </a:solidFill>
          <a:ln w="0">
            <a:noFill/>
          </a:ln>
        </p:spPr>
        <p:txBody>
          <a:bodyPr wrap="square" lIns="45720" tIns="45720" rIns="45720" bIns="45720" anchor="ctr">
            <a:noAutofit/>
          </a:bodyPr>
          <a:lstStyle/>
          <a:p>
            <a:pPr>
              <a:lnSpc>
                <a:spcPct val="108000"/>
              </a:lnSpc>
              <a:buNone/>
            </a:pPr>
            <a:r>
              <a:rPr lang="en-US" sz="950" b="1" i="0">
                <a:solidFill>
                  <a:srgbClr val="FFFFFF"/>
                </a:solidFill>
                <a:latin typeface="Arial"/>
                <a:ea typeface="Arial"/>
                <a:cs typeface="Arial"/>
              </a:rPr>
              <a:t>03</a:t>
            </a:r>
          </a:p>
        </p:txBody>
      </p:sp>
      <p:sp>
        <p:nvSpPr>
          <p:cNvPr id="115" name="Tpl Title 03"/>
          <p:cNvSpPr/>
          <p:nvPr/>
        </p:nvSpPr>
        <p:spPr>
          <a:xfrm>
            <a:off x="8714800" y="1892600"/>
            <a:ext cx="2870000" cy="300000"/>
          </a:xfrm>
          <a:prstGeom prst="rect">
            <a:avLst/>
          </a:prstGeom>
          <a:noFill/>
          <a:ln w="0">
            <a:noFill/>
          </a:ln>
        </p:spPr>
        <p:txBody>
          <a:bodyPr wrap="square" lIns="0" tIns="0" rIns="0" bIns="0" anchor="ctr">
            <a:noAutofit/>
          </a:bodyPr>
          <a:lstStyle/>
          <a:p>
            <a:pPr>
              <a:lnSpc>
                <a:spcPct val="108000"/>
              </a:lnSpc>
              <a:buNone/>
            </a:pPr>
            <a:r>
              <a:rPr lang="en-US" sz="1200" b="1" i="0">
                <a:solidFill>
                  <a:srgbClr val="070154"/>
                </a:solidFill>
                <a:latin typeface="Arial"/>
                <a:ea typeface="Arial"/>
                <a:cs typeface="Arial"/>
              </a:rPr>
              <a:t>Feature Brief</a:t>
            </a:r>
          </a:p>
        </p:txBody>
      </p:sp>
      <p:sp>
        <p:nvSpPr>
          <p:cNvPr id="116" name="Tpl Tags 03"/>
          <p:cNvSpPr/>
          <p:nvPr/>
        </p:nvSpPr>
        <p:spPr>
          <a:xfrm>
            <a:off x="8244800" y="2232600"/>
            <a:ext cx="3340000" cy="200000"/>
          </a:xfrm>
          <a:prstGeom prst="rect">
            <a:avLst/>
          </a:prstGeom>
          <a:noFill/>
          <a:ln w="0">
            <a:noFill/>
          </a:ln>
        </p:spPr>
        <p:txBody>
          <a:bodyPr wrap="square" lIns="0" tIns="0" rIns="0" bIns="0" anchor="t">
            <a:noAutofit/>
          </a:bodyPr>
          <a:lstStyle/>
          <a:p>
            <a:pPr>
              <a:lnSpc>
                <a:spcPct val="108000"/>
              </a:lnSpc>
              <a:buNone/>
            </a:pPr>
            <a:r>
              <a:rPr lang="en-US" sz="800" b="1" i="0">
                <a:solidFill>
                  <a:srgbClr val="0047FF"/>
                </a:solidFill>
                <a:latin typeface="Arial"/>
                <a:ea typeface="Arial"/>
                <a:cs typeface="Arial"/>
              </a:rPr>
              <a:t>DEFINE → BUILD</a:t>
            </a:r>
            <a:r>
              <a:rPr lang="en-US" sz="800" b="0" i="0">
                <a:solidFill>
                  <a:srgbClr val="50658E"/>
                </a:solidFill>
                <a:latin typeface="Arial"/>
                <a:ea typeface="Arial"/>
                <a:cs typeface="Arial"/>
              </a:rPr>
              <a:t>   ·   Path step 04</a:t>
            </a:r>
          </a:p>
        </p:txBody>
      </p:sp>
      <p:sp>
        <p:nvSpPr>
          <p:cNvPr id="117" name="Tpl Body 03"/>
          <p:cNvSpPr/>
          <p:nvPr/>
        </p:nvSpPr>
        <p:spPr>
          <a:xfrm>
            <a:off x="8244800" y="2452600"/>
            <a:ext cx="3340000" cy="1070000"/>
          </a:xfrm>
          <a:prstGeom prst="rect">
            <a:avLst/>
          </a:prstGeom>
          <a:noFill/>
          <a:ln w="0">
            <a:noFill/>
          </a:ln>
        </p:spPr>
        <p:txBody>
          <a:bodyPr wrap="square" lIns="0" tIns="0" rIns="0" bIns="0" anchor="t">
            <a:noAutofit/>
          </a:bodyPr>
          <a:lstStyle/>
          <a:p>
            <a:pPr>
              <a:lnSpc>
                <a:spcPct val="102000"/>
              </a:lnSpc>
              <a:spcAft>
                <a:spcPts val="400"/>
              </a:spcAft>
              <a:buNone/>
            </a:pPr>
            <a:r>
              <a:rPr lang="en-US" sz="900" b="0" i="0">
                <a:solidFill>
                  <a:srgbClr val="070154"/>
                </a:solidFill>
                <a:latin typeface="Arial"/>
                <a:ea typeface="Arial"/>
                <a:cs typeface="Arial"/>
              </a:rPr>
              <a:t>Defines one buildable, testable capability: stories, business rules, acceptance conditions, and tracking.</a:t>
            </a:r>
          </a:p>
          <a:p>
            <a:pPr>
              <a:lnSpc>
                <a:spcPct val="108000"/>
              </a:lnSpc>
              <a:spcAft>
                <a:spcPts val="200"/>
              </a:spcAft>
              <a:buNone/>
            </a:pPr>
            <a:r>
              <a:rPr lang="en-US" sz="850" b="1" i="0">
                <a:solidFill>
                  <a:srgbClr val="0047FF"/>
                </a:solidFill>
                <a:latin typeface="Arial"/>
                <a:ea typeface="Arial"/>
                <a:cs typeface="Arial"/>
              </a:rPr>
              <a:t>Owner: </a:t>
            </a:r>
            <a:r>
              <a:rPr lang="en-US" sz="850" b="0" i="0">
                <a:solidFill>
                  <a:srgbClr val="50658E"/>
                </a:solidFill>
                <a:latin typeface="Arial"/>
                <a:ea typeface="Arial"/>
                <a:cs typeface="Arial"/>
              </a:rPr>
              <a:t>Product manager with Engineering lead</a:t>
            </a:r>
          </a:p>
          <a:p>
            <a:pPr>
              <a:lnSpc>
                <a:spcPct val="108000"/>
              </a:lnSpc>
              <a:spcAft>
                <a:spcPts val="200"/>
              </a:spcAft>
              <a:buNone/>
            </a:pPr>
            <a:r>
              <a:rPr lang="en-US" sz="850" b="1" i="0">
                <a:solidFill>
                  <a:srgbClr val="0047FF"/>
                </a:solidFill>
                <a:latin typeface="Arial"/>
                <a:ea typeface="Arial"/>
                <a:cs typeface="Arial"/>
              </a:rPr>
              <a:t>Decision: </a:t>
            </a:r>
            <a:r>
              <a:rPr lang="en-US" sz="850" b="0" i="0">
                <a:solidFill>
                  <a:srgbClr val="50658E"/>
                </a:solidFill>
                <a:latin typeface="Arial"/>
                <a:ea typeface="Arial"/>
                <a:cs typeface="Arial"/>
              </a:rPr>
              <a:t>Product, Engineering, and QA or Design: ready to build.</a:t>
            </a:r>
          </a:p>
          <a:p>
            <a:pPr>
              <a:lnSpc>
                <a:spcPct val="108000"/>
              </a:lnSpc>
              <a:buNone/>
            </a:pPr>
            <a:r>
              <a:rPr lang="en-US" sz="850" b="1" i="0">
                <a:solidFill>
                  <a:srgbClr val="F900D3"/>
                </a:solidFill>
                <a:latin typeface="Arial"/>
                <a:ea typeface="Arial"/>
                <a:cs typeface="Arial"/>
              </a:rPr>
              <a:t>Proposed pilot: </a:t>
            </a:r>
            <a:r>
              <a:rPr lang="en-US" sz="850" b="0" i="0">
                <a:solidFill>
                  <a:srgbClr val="50658E"/>
                </a:solidFill>
                <a:latin typeface="Arial"/>
                <a:ea typeface="Arial"/>
                <a:cs typeface="Arial"/>
              </a:rPr>
              <a:t>Rules Engine, to define its first epic.</a:t>
            </a:r>
          </a:p>
        </p:txBody>
      </p:sp>
      <p:sp>
        <p:nvSpPr>
          <p:cNvPr id="118" name="Tpl Card 04"/>
          <p:cNvSpPr/>
          <p:nvPr/>
        </p:nvSpPr>
        <p:spPr>
          <a:xfrm>
            <a:off x="457200" y="3692600"/>
            <a:ext cx="3640000" cy="183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119" name="Tpl Accent 04"/>
          <p:cNvSpPr/>
          <p:nvPr/>
        </p:nvSpPr>
        <p:spPr>
          <a:xfrm>
            <a:off x="457200" y="3692600"/>
            <a:ext cx="3640000" cy="63500"/>
          </a:xfrm>
          <a:prstGeom prst="rect">
            <a:avLst/>
          </a:prstGeom>
          <a:solidFill>
            <a:srgbClr val="00E8FA"/>
          </a:solidFill>
          <a:ln w="0">
            <a:noFill/>
          </a:ln>
        </p:spPr>
        <p:txBody>
          <a:bodyPr wrap="square" anchor="t">
            <a:noAutofit/>
          </a:bodyPr>
          <a:lstStyle/>
          <a:p>
            <a:endParaRPr lang="en-US"/>
          </a:p>
        </p:txBody>
      </p:sp>
      <p:sp>
        <p:nvSpPr>
          <p:cNvPr id="120" name="Tpl Badge 04"/>
          <p:cNvSpPr/>
          <p:nvPr/>
        </p:nvSpPr>
        <p:spPr>
          <a:xfrm>
            <a:off x="607200" y="3862600"/>
            <a:ext cx="400000" cy="240000"/>
          </a:xfrm>
          <a:prstGeom prst="rect">
            <a:avLst/>
          </a:prstGeom>
          <a:solidFill>
            <a:srgbClr val="0047FF"/>
          </a:solidFill>
          <a:ln w="0">
            <a:noFill/>
          </a:ln>
        </p:spPr>
        <p:txBody>
          <a:bodyPr wrap="square" lIns="45720" tIns="45720" rIns="45720" bIns="45720" anchor="ctr">
            <a:noAutofit/>
          </a:bodyPr>
          <a:lstStyle/>
          <a:p>
            <a:pPr>
              <a:lnSpc>
                <a:spcPct val="108000"/>
              </a:lnSpc>
              <a:buNone/>
            </a:pPr>
            <a:r>
              <a:rPr lang="en-US" sz="950" b="1" i="0">
                <a:solidFill>
                  <a:srgbClr val="FFFFFF"/>
                </a:solidFill>
                <a:latin typeface="Arial"/>
                <a:ea typeface="Arial"/>
                <a:cs typeface="Arial"/>
              </a:rPr>
              <a:t>04</a:t>
            </a:r>
          </a:p>
        </p:txBody>
      </p:sp>
      <p:sp>
        <p:nvSpPr>
          <p:cNvPr id="121" name="Tpl Title 04"/>
          <p:cNvSpPr/>
          <p:nvPr/>
        </p:nvSpPr>
        <p:spPr>
          <a:xfrm>
            <a:off x="1077200" y="3832600"/>
            <a:ext cx="2870000" cy="300000"/>
          </a:xfrm>
          <a:prstGeom prst="rect">
            <a:avLst/>
          </a:prstGeom>
          <a:noFill/>
          <a:ln w="0">
            <a:noFill/>
          </a:ln>
        </p:spPr>
        <p:txBody>
          <a:bodyPr wrap="square" lIns="0" tIns="0" rIns="0" bIns="0" anchor="ctr">
            <a:noAutofit/>
          </a:bodyPr>
          <a:lstStyle/>
          <a:p>
            <a:pPr>
              <a:lnSpc>
                <a:spcPct val="108000"/>
              </a:lnSpc>
              <a:buNone/>
            </a:pPr>
            <a:r>
              <a:rPr lang="en-US" sz="1200" b="1" i="0">
                <a:solidFill>
                  <a:srgbClr val="070154"/>
                </a:solidFill>
                <a:latin typeface="Arial"/>
                <a:ea typeface="Arial"/>
                <a:cs typeface="Arial"/>
              </a:rPr>
              <a:t>Technical Implementation Plan</a:t>
            </a:r>
          </a:p>
        </p:txBody>
      </p:sp>
      <p:sp>
        <p:nvSpPr>
          <p:cNvPr id="122" name="Tpl Tags 04"/>
          <p:cNvSpPr/>
          <p:nvPr/>
        </p:nvSpPr>
        <p:spPr>
          <a:xfrm>
            <a:off x="607200" y="4172600"/>
            <a:ext cx="3340000" cy="200000"/>
          </a:xfrm>
          <a:prstGeom prst="rect">
            <a:avLst/>
          </a:prstGeom>
          <a:noFill/>
          <a:ln w="0">
            <a:noFill/>
          </a:ln>
        </p:spPr>
        <p:txBody>
          <a:bodyPr wrap="square" lIns="0" tIns="0" rIns="0" bIns="0" anchor="t">
            <a:noAutofit/>
          </a:bodyPr>
          <a:lstStyle/>
          <a:p>
            <a:pPr>
              <a:lnSpc>
                <a:spcPct val="108000"/>
              </a:lnSpc>
              <a:buNone/>
            </a:pPr>
            <a:r>
              <a:rPr lang="en-US" sz="800" b="1" i="0">
                <a:solidFill>
                  <a:srgbClr val="0047FF"/>
                </a:solidFill>
                <a:latin typeface="Arial"/>
                <a:ea typeface="Arial"/>
                <a:cs typeface="Arial"/>
              </a:rPr>
              <a:t>BUILD</a:t>
            </a:r>
            <a:r>
              <a:rPr lang="en-US" sz="800" b="0" i="0">
                <a:solidFill>
                  <a:srgbClr val="50658E"/>
                </a:solidFill>
                <a:latin typeface="Arial"/>
                <a:ea typeface="Arial"/>
                <a:cs typeface="Arial"/>
              </a:rPr>
              <a:t>   ·   Path steps 05–06</a:t>
            </a:r>
          </a:p>
        </p:txBody>
      </p:sp>
      <p:sp>
        <p:nvSpPr>
          <p:cNvPr id="123" name="Tpl Body 04"/>
          <p:cNvSpPr/>
          <p:nvPr/>
        </p:nvSpPr>
        <p:spPr>
          <a:xfrm>
            <a:off x="607200" y="4392600"/>
            <a:ext cx="3340000" cy="1070000"/>
          </a:xfrm>
          <a:prstGeom prst="rect">
            <a:avLst/>
          </a:prstGeom>
          <a:noFill/>
          <a:ln w="0">
            <a:noFill/>
          </a:ln>
        </p:spPr>
        <p:txBody>
          <a:bodyPr wrap="square" lIns="0" tIns="0" rIns="0" bIns="0" anchor="t">
            <a:noAutofit/>
          </a:bodyPr>
          <a:lstStyle/>
          <a:p>
            <a:pPr>
              <a:lnSpc>
                <a:spcPct val="102000"/>
              </a:lnSpc>
              <a:spcAft>
                <a:spcPts val="400"/>
              </a:spcAft>
              <a:buNone/>
            </a:pPr>
            <a:r>
              <a:rPr lang="en-US" sz="900" b="0" i="0">
                <a:solidFill>
                  <a:srgbClr val="070154"/>
                </a:solidFill>
                <a:latin typeface="Arial"/>
                <a:ea typeface="Arial"/>
                <a:cs typeface="Arial"/>
              </a:rPr>
              <a:t>How Engineering delivers safely: architecture, data, environments, rollback, and human-reviewed AI assistance.</a:t>
            </a:r>
          </a:p>
          <a:p>
            <a:pPr>
              <a:lnSpc>
                <a:spcPct val="108000"/>
              </a:lnSpc>
              <a:spcAft>
                <a:spcPts val="200"/>
              </a:spcAft>
              <a:buNone/>
            </a:pPr>
            <a:r>
              <a:rPr lang="en-US" sz="850" b="1" i="0">
                <a:solidFill>
                  <a:srgbClr val="0047FF"/>
                </a:solidFill>
                <a:latin typeface="Arial"/>
                <a:ea typeface="Arial"/>
                <a:cs typeface="Arial"/>
              </a:rPr>
              <a:t>Owner: </a:t>
            </a:r>
            <a:r>
              <a:rPr lang="en-US" sz="850" b="0" i="0">
                <a:solidFill>
                  <a:srgbClr val="50658E"/>
                </a:solidFill>
                <a:latin typeface="Arial"/>
                <a:ea typeface="Arial"/>
                <a:cs typeface="Arial"/>
              </a:rPr>
              <a:t>Engineering lead</a:t>
            </a:r>
          </a:p>
          <a:p>
            <a:pPr>
              <a:lnSpc>
                <a:spcPct val="108000"/>
              </a:lnSpc>
              <a:spcAft>
                <a:spcPts val="200"/>
              </a:spcAft>
              <a:buNone/>
            </a:pPr>
            <a:r>
              <a:rPr lang="en-US" sz="850" b="1" i="0">
                <a:solidFill>
                  <a:srgbClr val="0047FF"/>
                </a:solidFill>
                <a:latin typeface="Arial"/>
                <a:ea typeface="Arial"/>
                <a:cs typeface="Arial"/>
              </a:rPr>
              <a:t>Decision: </a:t>
            </a:r>
            <a:r>
              <a:rPr lang="en-US" sz="850" b="0" i="0">
                <a:solidFill>
                  <a:srgbClr val="50658E"/>
                </a:solidFill>
                <a:latin typeface="Arial"/>
                <a:ea typeface="Arial"/>
                <a:cs typeface="Arial"/>
              </a:rPr>
              <a:t>Engineering and required reviewers: ready to execute.</a:t>
            </a:r>
          </a:p>
          <a:p>
            <a:pPr>
              <a:lnSpc>
                <a:spcPct val="108000"/>
              </a:lnSpc>
              <a:buNone/>
            </a:pPr>
            <a:r>
              <a:rPr lang="en-US" sz="850" b="1" i="0">
                <a:solidFill>
                  <a:srgbClr val="F900D3"/>
                </a:solidFill>
                <a:latin typeface="Arial"/>
                <a:ea typeface="Arial"/>
                <a:cs typeface="Arial"/>
              </a:rPr>
              <a:t>Proposed pilot: </a:t>
            </a:r>
            <a:r>
              <a:rPr lang="en-US" sz="850" b="0" i="0">
                <a:solidFill>
                  <a:srgbClr val="50658E"/>
                </a:solidFill>
                <a:latin typeface="Arial"/>
                <a:ea typeface="Arial"/>
                <a:cs typeface="Arial"/>
              </a:rPr>
              <a:t>Rules Engine tech spec, drafted with the Architecture Design Agent.</a:t>
            </a:r>
          </a:p>
        </p:txBody>
      </p:sp>
      <p:sp>
        <p:nvSpPr>
          <p:cNvPr id="124" name="Tpl Card 05"/>
          <p:cNvSpPr/>
          <p:nvPr/>
        </p:nvSpPr>
        <p:spPr>
          <a:xfrm>
            <a:off x="4276000" y="3692600"/>
            <a:ext cx="3640000" cy="183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125" name="Tpl Accent 05"/>
          <p:cNvSpPr/>
          <p:nvPr/>
        </p:nvSpPr>
        <p:spPr>
          <a:xfrm>
            <a:off x="4276000" y="3692600"/>
            <a:ext cx="3640000" cy="63500"/>
          </a:xfrm>
          <a:prstGeom prst="rect">
            <a:avLst/>
          </a:prstGeom>
          <a:solidFill>
            <a:srgbClr val="F900D3"/>
          </a:solidFill>
          <a:ln w="0">
            <a:noFill/>
          </a:ln>
        </p:spPr>
        <p:txBody>
          <a:bodyPr wrap="square" anchor="t">
            <a:noAutofit/>
          </a:bodyPr>
          <a:lstStyle/>
          <a:p>
            <a:endParaRPr lang="en-US"/>
          </a:p>
        </p:txBody>
      </p:sp>
      <p:sp>
        <p:nvSpPr>
          <p:cNvPr id="126" name="Tpl Badge 05"/>
          <p:cNvSpPr/>
          <p:nvPr/>
        </p:nvSpPr>
        <p:spPr>
          <a:xfrm>
            <a:off x="4426000" y="3862600"/>
            <a:ext cx="400000" cy="240000"/>
          </a:xfrm>
          <a:prstGeom prst="rect">
            <a:avLst/>
          </a:prstGeom>
          <a:solidFill>
            <a:srgbClr val="0047FF"/>
          </a:solidFill>
          <a:ln w="0">
            <a:noFill/>
          </a:ln>
        </p:spPr>
        <p:txBody>
          <a:bodyPr wrap="square" lIns="45720" tIns="45720" rIns="45720" bIns="45720" anchor="ctr">
            <a:noAutofit/>
          </a:bodyPr>
          <a:lstStyle/>
          <a:p>
            <a:pPr>
              <a:lnSpc>
                <a:spcPct val="108000"/>
              </a:lnSpc>
              <a:buNone/>
            </a:pPr>
            <a:r>
              <a:rPr lang="en-US" sz="950" b="1" i="0">
                <a:solidFill>
                  <a:srgbClr val="FFFFFF"/>
                </a:solidFill>
                <a:latin typeface="Arial"/>
                <a:ea typeface="Arial"/>
                <a:cs typeface="Arial"/>
              </a:rPr>
              <a:t>05</a:t>
            </a:r>
          </a:p>
        </p:txBody>
      </p:sp>
      <p:sp>
        <p:nvSpPr>
          <p:cNvPr id="127" name="Tpl Title 05"/>
          <p:cNvSpPr/>
          <p:nvPr/>
        </p:nvSpPr>
        <p:spPr>
          <a:xfrm>
            <a:off x="4896000" y="3832600"/>
            <a:ext cx="2870000" cy="300000"/>
          </a:xfrm>
          <a:prstGeom prst="rect">
            <a:avLst/>
          </a:prstGeom>
          <a:noFill/>
          <a:ln w="0">
            <a:noFill/>
          </a:ln>
        </p:spPr>
        <p:txBody>
          <a:bodyPr wrap="square" lIns="0" tIns="0" rIns="0" bIns="0" anchor="ctr">
            <a:noAutofit/>
          </a:bodyPr>
          <a:lstStyle/>
          <a:p>
            <a:pPr>
              <a:lnSpc>
                <a:spcPct val="108000"/>
              </a:lnSpc>
              <a:buNone/>
            </a:pPr>
            <a:r>
              <a:rPr lang="en-US" sz="1200" b="1" i="0">
                <a:solidFill>
                  <a:srgbClr val="070154"/>
                </a:solidFill>
                <a:latin typeface="Arial"/>
                <a:ea typeface="Arial"/>
                <a:cs typeface="Arial"/>
              </a:rPr>
              <a:t>Testing, QA, and UAT Plan</a:t>
            </a:r>
          </a:p>
        </p:txBody>
      </p:sp>
      <p:sp>
        <p:nvSpPr>
          <p:cNvPr id="128" name="Tpl Tags 05"/>
          <p:cNvSpPr/>
          <p:nvPr/>
        </p:nvSpPr>
        <p:spPr>
          <a:xfrm>
            <a:off x="4426000" y="4172600"/>
            <a:ext cx="3340000" cy="200000"/>
          </a:xfrm>
          <a:prstGeom prst="rect">
            <a:avLst/>
          </a:prstGeom>
          <a:noFill/>
          <a:ln w="0">
            <a:noFill/>
          </a:ln>
        </p:spPr>
        <p:txBody>
          <a:bodyPr wrap="square" lIns="0" tIns="0" rIns="0" bIns="0" anchor="t">
            <a:noAutofit/>
          </a:bodyPr>
          <a:lstStyle/>
          <a:p>
            <a:pPr>
              <a:lnSpc>
                <a:spcPct val="108000"/>
              </a:lnSpc>
              <a:buNone/>
            </a:pPr>
            <a:r>
              <a:rPr lang="en-US" sz="800" b="1" i="0">
                <a:solidFill>
                  <a:srgbClr val="0047FF"/>
                </a:solidFill>
                <a:latin typeface="Arial"/>
                <a:ea typeface="Arial"/>
                <a:cs typeface="Arial"/>
              </a:rPr>
              <a:t>DEFINE → RELEASE</a:t>
            </a:r>
            <a:r>
              <a:rPr lang="en-US" sz="800" b="0" i="0">
                <a:solidFill>
                  <a:srgbClr val="50658E"/>
                </a:solidFill>
                <a:latin typeface="Arial"/>
                <a:ea typeface="Arial"/>
                <a:cs typeface="Arial"/>
              </a:rPr>
              <a:t>   ·   Runs alongside the path</a:t>
            </a:r>
          </a:p>
        </p:txBody>
      </p:sp>
      <p:sp>
        <p:nvSpPr>
          <p:cNvPr id="129" name="Tpl Body 05"/>
          <p:cNvSpPr/>
          <p:nvPr/>
        </p:nvSpPr>
        <p:spPr>
          <a:xfrm>
            <a:off x="4426000" y="4392600"/>
            <a:ext cx="3340000" cy="1070000"/>
          </a:xfrm>
          <a:prstGeom prst="rect">
            <a:avLst/>
          </a:prstGeom>
          <a:noFill/>
          <a:ln w="0">
            <a:noFill/>
          </a:ln>
        </p:spPr>
        <p:txBody>
          <a:bodyPr wrap="square" lIns="0" tIns="0" rIns="0" bIns="0" anchor="t">
            <a:noAutofit/>
          </a:bodyPr>
          <a:lstStyle/>
          <a:p>
            <a:pPr>
              <a:lnSpc>
                <a:spcPct val="102000"/>
              </a:lnSpc>
              <a:spcAft>
                <a:spcPts val="400"/>
              </a:spcAft>
              <a:buNone/>
            </a:pPr>
            <a:r>
              <a:rPr lang="en-US" sz="900" b="0" i="0">
                <a:solidFill>
                  <a:srgbClr val="070154"/>
                </a:solidFill>
                <a:latin typeface="Arial"/>
                <a:ea typeface="Arial"/>
                <a:cs typeface="Arial"/>
              </a:rPr>
              <a:t>Shows what was tested, where, with which data, and what remains uncertain, including user acceptance.</a:t>
            </a:r>
          </a:p>
          <a:p>
            <a:pPr>
              <a:lnSpc>
                <a:spcPct val="108000"/>
              </a:lnSpc>
              <a:spcAft>
                <a:spcPts val="200"/>
              </a:spcAft>
              <a:buNone/>
            </a:pPr>
            <a:r>
              <a:rPr lang="en-US" sz="850" b="1" i="0">
                <a:solidFill>
                  <a:srgbClr val="0047FF"/>
                </a:solidFill>
                <a:latin typeface="Arial"/>
                <a:ea typeface="Arial"/>
                <a:cs typeface="Arial"/>
              </a:rPr>
              <a:t>Owner: </a:t>
            </a:r>
            <a:r>
              <a:rPr lang="en-US" sz="850" b="0" i="0">
                <a:solidFill>
                  <a:srgbClr val="50658E"/>
                </a:solidFill>
                <a:latin typeface="Arial"/>
                <a:ea typeface="Arial"/>
                <a:cs typeface="Arial"/>
              </a:rPr>
              <a:t>QA or engineering test lead; Product owns UAT</a:t>
            </a:r>
          </a:p>
          <a:p>
            <a:pPr>
              <a:lnSpc>
                <a:spcPct val="108000"/>
              </a:lnSpc>
              <a:spcAft>
                <a:spcPts val="200"/>
              </a:spcAft>
              <a:buNone/>
            </a:pPr>
            <a:r>
              <a:rPr lang="en-US" sz="850" b="1" i="0">
                <a:solidFill>
                  <a:srgbClr val="0047FF"/>
                </a:solidFill>
                <a:latin typeface="Arial"/>
                <a:ea typeface="Arial"/>
                <a:cs typeface="Arial"/>
              </a:rPr>
              <a:t>Decision: </a:t>
            </a:r>
            <a:r>
              <a:rPr lang="en-US" sz="850" b="0" i="0">
                <a:solidFill>
                  <a:srgbClr val="50658E"/>
                </a:solidFill>
                <a:latin typeface="Arial"/>
                <a:ea typeface="Arial"/>
                <a:cs typeface="Arial"/>
              </a:rPr>
              <a:t>Test evidence supports release readiness.</a:t>
            </a:r>
          </a:p>
          <a:p>
            <a:pPr>
              <a:lnSpc>
                <a:spcPct val="108000"/>
              </a:lnSpc>
              <a:buNone/>
            </a:pPr>
            <a:r>
              <a:rPr lang="en-US" sz="850" b="1" i="0">
                <a:solidFill>
                  <a:srgbClr val="F900D3"/>
                </a:solidFill>
                <a:latin typeface="Arial"/>
                <a:ea typeface="Arial"/>
                <a:cs typeface="Arial"/>
              </a:rPr>
              <a:t>Proposed pilot: </a:t>
            </a:r>
            <a:r>
              <a:rPr lang="en-US" sz="850" b="0" i="0">
                <a:solidFill>
                  <a:srgbClr val="50658E"/>
                </a:solidFill>
                <a:latin typeface="Arial"/>
                <a:ea typeface="Arial"/>
                <a:cs typeface="Arial"/>
              </a:rPr>
              <a:t>Reconcile AI, ahead of its November MVP.</a:t>
            </a:r>
          </a:p>
        </p:txBody>
      </p:sp>
      <p:sp>
        <p:nvSpPr>
          <p:cNvPr id="130" name="Tpl Card 06"/>
          <p:cNvSpPr/>
          <p:nvPr/>
        </p:nvSpPr>
        <p:spPr>
          <a:xfrm>
            <a:off x="8094800" y="3692600"/>
            <a:ext cx="3640000" cy="183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131" name="Tpl Accent 06"/>
          <p:cNvSpPr/>
          <p:nvPr/>
        </p:nvSpPr>
        <p:spPr>
          <a:xfrm>
            <a:off x="8094800" y="3692600"/>
            <a:ext cx="3640000" cy="63500"/>
          </a:xfrm>
          <a:prstGeom prst="rect">
            <a:avLst/>
          </a:prstGeom>
          <a:solidFill>
            <a:srgbClr val="00A3FF"/>
          </a:solidFill>
          <a:ln w="0">
            <a:noFill/>
          </a:ln>
        </p:spPr>
        <p:txBody>
          <a:bodyPr wrap="square" anchor="t">
            <a:noAutofit/>
          </a:bodyPr>
          <a:lstStyle/>
          <a:p>
            <a:endParaRPr lang="en-US"/>
          </a:p>
        </p:txBody>
      </p:sp>
      <p:sp>
        <p:nvSpPr>
          <p:cNvPr id="132" name="Tpl Badge 06"/>
          <p:cNvSpPr/>
          <p:nvPr/>
        </p:nvSpPr>
        <p:spPr>
          <a:xfrm>
            <a:off x="8244800" y="3862600"/>
            <a:ext cx="400000" cy="240000"/>
          </a:xfrm>
          <a:prstGeom prst="rect">
            <a:avLst/>
          </a:prstGeom>
          <a:solidFill>
            <a:srgbClr val="0047FF"/>
          </a:solidFill>
          <a:ln w="0">
            <a:noFill/>
          </a:ln>
        </p:spPr>
        <p:txBody>
          <a:bodyPr wrap="square" lIns="45720" tIns="45720" rIns="45720" bIns="45720" anchor="ctr">
            <a:noAutofit/>
          </a:bodyPr>
          <a:lstStyle/>
          <a:p>
            <a:pPr>
              <a:lnSpc>
                <a:spcPct val="108000"/>
              </a:lnSpc>
              <a:buNone/>
            </a:pPr>
            <a:r>
              <a:rPr lang="en-US" sz="950" b="1" i="0">
                <a:solidFill>
                  <a:srgbClr val="FFFFFF"/>
                </a:solidFill>
                <a:latin typeface="Arial"/>
                <a:ea typeface="Arial"/>
                <a:cs typeface="Arial"/>
              </a:rPr>
              <a:t>06</a:t>
            </a:r>
          </a:p>
        </p:txBody>
      </p:sp>
      <p:sp>
        <p:nvSpPr>
          <p:cNvPr id="133" name="Tpl Title 06"/>
          <p:cNvSpPr/>
          <p:nvPr/>
        </p:nvSpPr>
        <p:spPr>
          <a:xfrm>
            <a:off x="8714800" y="3832600"/>
            <a:ext cx="2870000" cy="300000"/>
          </a:xfrm>
          <a:prstGeom prst="rect">
            <a:avLst/>
          </a:prstGeom>
          <a:noFill/>
          <a:ln w="0">
            <a:noFill/>
          </a:ln>
        </p:spPr>
        <p:txBody>
          <a:bodyPr wrap="square" lIns="0" tIns="0" rIns="0" bIns="0" anchor="ctr">
            <a:noAutofit/>
          </a:bodyPr>
          <a:lstStyle/>
          <a:p>
            <a:pPr>
              <a:lnSpc>
                <a:spcPct val="108000"/>
              </a:lnSpc>
              <a:buNone/>
            </a:pPr>
            <a:r>
              <a:rPr lang="en-US" sz="1200" b="1" i="0">
                <a:solidFill>
                  <a:srgbClr val="070154"/>
                </a:solidFill>
                <a:latin typeface="Arial"/>
                <a:ea typeface="Arial"/>
                <a:cs typeface="Arial"/>
              </a:rPr>
              <a:t>Initial Release and GTM Plan</a:t>
            </a:r>
          </a:p>
        </p:txBody>
      </p:sp>
      <p:sp>
        <p:nvSpPr>
          <p:cNvPr id="134" name="Tpl Tags 06"/>
          <p:cNvSpPr/>
          <p:nvPr/>
        </p:nvSpPr>
        <p:spPr>
          <a:xfrm>
            <a:off x="8244800" y="4172600"/>
            <a:ext cx="3340000" cy="200000"/>
          </a:xfrm>
          <a:prstGeom prst="rect">
            <a:avLst/>
          </a:prstGeom>
          <a:noFill/>
          <a:ln w="0">
            <a:noFill/>
          </a:ln>
        </p:spPr>
        <p:txBody>
          <a:bodyPr wrap="square" lIns="0" tIns="0" rIns="0" bIns="0" anchor="t">
            <a:noAutofit/>
          </a:bodyPr>
          <a:lstStyle/>
          <a:p>
            <a:pPr>
              <a:lnSpc>
                <a:spcPct val="108000"/>
              </a:lnSpc>
              <a:buNone/>
            </a:pPr>
            <a:r>
              <a:rPr lang="en-US" sz="800" b="1" i="0">
                <a:solidFill>
                  <a:srgbClr val="0047FF"/>
                </a:solidFill>
                <a:latin typeface="Arial"/>
                <a:ea typeface="Arial"/>
                <a:cs typeface="Arial"/>
              </a:rPr>
              <a:t>DEFINE → OPTIMIZE</a:t>
            </a:r>
            <a:r>
              <a:rPr lang="en-US" sz="800" b="0" i="0">
                <a:solidFill>
                  <a:srgbClr val="50658E"/>
                </a:solidFill>
                <a:latin typeface="Arial"/>
                <a:ea typeface="Arial"/>
                <a:cs typeface="Arial"/>
              </a:rPr>
              <a:t>   ·   Runs alongside the path</a:t>
            </a:r>
          </a:p>
        </p:txBody>
      </p:sp>
      <p:sp>
        <p:nvSpPr>
          <p:cNvPr id="135" name="Tpl Body 06"/>
          <p:cNvSpPr/>
          <p:nvPr/>
        </p:nvSpPr>
        <p:spPr>
          <a:xfrm>
            <a:off x="8244800" y="4392600"/>
            <a:ext cx="3340000" cy="1070000"/>
          </a:xfrm>
          <a:prstGeom prst="rect">
            <a:avLst/>
          </a:prstGeom>
          <a:noFill/>
          <a:ln w="0">
            <a:noFill/>
          </a:ln>
        </p:spPr>
        <p:txBody>
          <a:bodyPr wrap="square" lIns="0" tIns="0" rIns="0" bIns="0" anchor="t">
            <a:noAutofit/>
          </a:bodyPr>
          <a:lstStyle/>
          <a:p>
            <a:pPr>
              <a:lnSpc>
                <a:spcPct val="102000"/>
              </a:lnSpc>
              <a:spcAft>
                <a:spcPts val="400"/>
              </a:spcAft>
              <a:buNone/>
            </a:pPr>
            <a:r>
              <a:rPr lang="en-US" sz="900" b="0" i="0">
                <a:solidFill>
                  <a:srgbClr val="070154"/>
                </a:solidFill>
                <a:latin typeface="Arial"/>
                <a:ea typeface="Arial"/>
                <a:cs typeface="Arial"/>
              </a:rPr>
              <a:t>Defines the smallest valuable first release, its audience, readiness by function, and expansion rules.</a:t>
            </a:r>
          </a:p>
          <a:p>
            <a:pPr>
              <a:lnSpc>
                <a:spcPct val="108000"/>
              </a:lnSpc>
              <a:spcAft>
                <a:spcPts val="200"/>
              </a:spcAft>
              <a:buNone/>
            </a:pPr>
            <a:r>
              <a:rPr lang="en-US" sz="850" b="1" i="0">
                <a:solidFill>
                  <a:srgbClr val="0047FF"/>
                </a:solidFill>
                <a:latin typeface="Arial"/>
                <a:ea typeface="Arial"/>
                <a:cs typeface="Arial"/>
              </a:rPr>
              <a:t>Owner: </a:t>
            </a:r>
            <a:r>
              <a:rPr lang="en-US" sz="850" b="0" i="0">
                <a:solidFill>
                  <a:srgbClr val="50658E"/>
                </a:solidFill>
                <a:latin typeface="Arial"/>
                <a:ea typeface="Arial"/>
                <a:cs typeface="Arial"/>
              </a:rPr>
              <a:t>Product manager with functional leads</a:t>
            </a:r>
          </a:p>
          <a:p>
            <a:pPr>
              <a:lnSpc>
                <a:spcPct val="108000"/>
              </a:lnSpc>
              <a:spcAft>
                <a:spcPts val="200"/>
              </a:spcAft>
              <a:buNone/>
            </a:pPr>
            <a:r>
              <a:rPr lang="en-US" sz="850" b="1" i="0">
                <a:solidFill>
                  <a:srgbClr val="0047FF"/>
                </a:solidFill>
                <a:latin typeface="Arial"/>
                <a:ea typeface="Arial"/>
                <a:cs typeface="Arial"/>
              </a:rPr>
              <a:t>Decision: </a:t>
            </a:r>
            <a:r>
              <a:rPr lang="en-US" sz="850" b="0" i="0">
                <a:solidFill>
                  <a:srgbClr val="50658E"/>
                </a:solidFill>
                <a:latin typeface="Arial"/>
                <a:ea typeface="Arial"/>
                <a:cs typeface="Arial"/>
              </a:rPr>
              <a:t>Named decision-maker: Go, Revise, Hold, or Stop.</a:t>
            </a:r>
          </a:p>
          <a:p>
            <a:pPr>
              <a:lnSpc>
                <a:spcPct val="108000"/>
              </a:lnSpc>
              <a:buNone/>
            </a:pPr>
            <a:r>
              <a:rPr lang="en-US" sz="850" b="1" i="0">
                <a:solidFill>
                  <a:srgbClr val="F900D3"/>
                </a:solidFill>
                <a:latin typeface="Arial"/>
                <a:ea typeface="Arial"/>
                <a:cs typeface="Arial"/>
              </a:rPr>
              <a:t>Proposed pilot: </a:t>
            </a:r>
            <a:r>
              <a:rPr lang="en-US" sz="850" b="0" i="0">
                <a:solidFill>
                  <a:srgbClr val="50658E"/>
                </a:solidFill>
                <a:latin typeface="Arial"/>
                <a:ea typeface="Arial"/>
                <a:cs typeface="Arial"/>
              </a:rPr>
              <a:t>Reconcile AI, for its first release.</a:t>
            </a:r>
          </a:p>
        </p:txBody>
      </p:sp>
      <p:sp>
        <p:nvSpPr>
          <p:cNvPr id="136" name="ID Chain"/>
          <p:cNvSpPr/>
          <p:nvPr/>
        </p:nvSpPr>
        <p:spPr>
          <a:xfrm>
            <a:off x="457200" y="5610000"/>
            <a:ext cx="11277600" cy="400000"/>
          </a:xfrm>
          <a:prstGeom prst="rect">
            <a:avLst/>
          </a:prstGeom>
          <a:solidFill>
            <a:srgbClr val="E8EEF8"/>
          </a:solidFill>
          <a:ln w="0">
            <a:noFill/>
          </a:ln>
        </p:spPr>
        <p:txBody>
          <a:bodyPr wrap="square" anchor="ctr">
            <a:noAutofit/>
          </a:bodyPr>
          <a:lstStyle/>
          <a:p>
            <a:pPr>
              <a:lnSpc>
                <a:spcPct val="108000"/>
              </a:lnSpc>
              <a:buNone/>
            </a:pPr>
            <a:r>
              <a:rPr lang="en-US" sz="1000" b="1" i="0">
                <a:solidFill>
                  <a:srgbClr val="0047FF"/>
                </a:solidFill>
                <a:latin typeface="Arial"/>
                <a:ea typeface="Arial"/>
                <a:cs typeface="Arial"/>
              </a:rPr>
              <a:t>Linked by readable IDs:  </a:t>
            </a:r>
            <a:r>
              <a:rPr lang="en-US" sz="1000" b="1" i="0">
                <a:solidFill>
                  <a:srgbClr val="070154"/>
                </a:solidFill>
                <a:latin typeface="Arial"/>
                <a:ea typeface="Arial"/>
                <a:cs typeface="Arial"/>
              </a:rPr>
              <a:t>OPPORTUNITY → PRODUCT → FEATURE → ACCEPTANCE → TEST → METRIC</a:t>
            </a:r>
            <a:r>
              <a:rPr lang="en-US" sz="900" b="0" i="0">
                <a:solidFill>
                  <a:srgbClr val="50658E"/>
                </a:solidFill>
                <a:latin typeface="Arial"/>
                <a:ea typeface="Arial"/>
                <a:cs typeface="Arial"/>
              </a:rPr>
              <a:t>   ·   Proposed working templates and pilots, to validate with DXC.</a:t>
            </a:r>
          </a:p>
        </p:txBody>
      </p:sp>
    </p:spTree>
    <p:extLst>
      <p:ext uri="{BB962C8B-B14F-4D97-AF65-F5344CB8AC3E}">
        <p14:creationId xmlns:p14="http://schemas.microsoft.com/office/powerpoint/2010/main" val="4243420578"/>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28C8B-254F-B98F-4F99-5E96BCCC8FB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FDF3497-83C7-65E1-F6B6-885B9607A7E7}"/>
              </a:ext>
            </a:extLst>
          </p:cNvPr>
          <p:cNvSpPr>
            <a:spLocks noGrp="1"/>
          </p:cNvSpPr>
          <p:nvPr>
            <p:ph type="ftr" idx="10"/>
          </p:nvPr>
        </p:nvSpPr>
        <p:spPr/>
        <p:txBody>
          <a:bodyPr/>
          <a:lstStyle/>
          <a:p>
            <a:r>
              <a:rPr lang="en-US"/>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881E25F7-BB44-65F0-D866-56994167A346}"/>
              </a:ext>
            </a:extLst>
          </p:cNvPr>
          <p:cNvSpPr>
            <a:spLocks noGrp="1"/>
          </p:cNvSpPr>
          <p:nvPr>
            <p:ph type="sldNum" idx="11"/>
          </p:nvPr>
        </p:nvSpPr>
        <p:spPr/>
        <p:txBody>
          <a:bodyPr/>
          <a:lstStyle/>
          <a:p>
            <a:fld id="{63DCA5C9-2E11-4C67-86EB-AE1DE127DC64}" type="slidenum">
              <a:rPr lang="en-US" smtClean="0"/>
              <a:t>35</a:t>
            </a:fld>
            <a:endParaRPr lang="en-US"/>
          </a:p>
        </p:txBody>
      </p:sp>
      <p:pic>
        <p:nvPicPr>
          <p:cNvPr id="90" name="Picture 6">
            <a:extLst>
              <a:ext uri="{FF2B5EF4-FFF2-40B4-BE49-F238E27FC236}">
                <a16:creationId xmlns:a16="http://schemas.microsoft.com/office/drawing/2014/main" id="{5B64A6DA-1F54-5548-2086-64EA048141FE}"/>
              </a:ext>
            </a:extLst>
          </p:cNvPr>
          <p:cNvPicPr>
            <a:picLocks noChangeAspect="1"/>
          </p:cNvPicPr>
          <p:nvPr/>
        </p:nvPicPr>
        <p:blipFill>
          <a:blip r:embed="rId4"/>
          <a:stretch/>
        </p:blipFill>
        <p:spPr>
          <a:xfrm>
            <a:off x="10608469" y="171450"/>
            <a:ext cx="1071563" cy="476250"/>
          </a:xfrm>
          <a:prstGeom prst="rect">
            <a:avLst/>
          </a:prstGeom>
        </p:spPr>
      </p:pic>
      <p:sp>
        <p:nvSpPr>
          <p:cNvPr id="91" name="Rectangle 1">
            <a:extLst>
              <a:ext uri="{FF2B5EF4-FFF2-40B4-BE49-F238E27FC236}">
                <a16:creationId xmlns:a16="http://schemas.microsoft.com/office/drawing/2014/main" id="{41856F5B-8CBD-AD0F-665D-BA8B8B6B95B8}"/>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Implementation templates: when and how to use them</a:t>
            </a:r>
          </a:p>
        </p:txBody>
      </p:sp>
      <p:sp>
        <p:nvSpPr>
          <p:cNvPr id="92" name="Rectangle 2">
            <a:extLst>
              <a:ext uri="{FF2B5EF4-FFF2-40B4-BE49-F238E27FC236}">
                <a16:creationId xmlns:a16="http://schemas.microsoft.com/office/drawing/2014/main" id="{1321D2A7-3C13-BF1D-6D27-DE857D737C2B}"/>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b="0" i="0">
                <a:solidFill>
                  <a:srgbClr val="50658E"/>
                </a:solidFill>
                <a:latin typeface="Arial"/>
                <a:ea typeface="Arial"/>
                <a:cs typeface="Arial"/>
              </a:rPr>
              <a:t>Each template opens at a lifecycle stage and closes with a named decision. Testing and release planning start early and run in parallel.</a:t>
            </a:r>
          </a:p>
        </p:txBody>
      </p:sp>
      <p:sp>
        <p:nvSpPr>
          <p:cNvPr id="93" name="Rectangle 3">
            <a:extLst>
              <a:ext uri="{FF2B5EF4-FFF2-40B4-BE49-F238E27FC236}">
                <a16:creationId xmlns:a16="http://schemas.microsoft.com/office/drawing/2014/main" id="{87ABF8E2-1C3E-B049-9FF3-172F33983798}"/>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IMPLEMENTATION TEMPLATES</a:t>
            </a:r>
          </a:p>
        </p:txBody>
      </p:sp>
      <p:sp>
        <p:nvSpPr>
          <p:cNvPr id="100" name="Legend">
            <a:extLst>
              <a:ext uri="{FF2B5EF4-FFF2-40B4-BE49-F238E27FC236}">
                <a16:creationId xmlns:a16="http://schemas.microsoft.com/office/drawing/2014/main" id="{F8F30E6F-60AB-0903-115F-2FAAE80CB1AC}"/>
              </a:ext>
            </a:extLst>
          </p:cNvPr>
          <p:cNvSpPr/>
          <p:nvPr/>
        </p:nvSpPr>
        <p:spPr>
          <a:xfrm>
            <a:off x="6200000" y="1430000"/>
            <a:ext cx="5534800" cy="200000"/>
          </a:xfrm>
          <a:prstGeom prst="rect">
            <a:avLst/>
          </a:prstGeom>
          <a:noFill/>
          <a:ln w="0">
            <a:noFill/>
          </a:ln>
        </p:spPr>
        <p:txBody>
          <a:bodyPr wrap="square" lIns="0" tIns="0" rIns="0" bIns="0" anchor="t">
            <a:noAutofit/>
          </a:bodyPr>
          <a:lstStyle/>
          <a:p>
            <a:pPr algn="r">
              <a:lnSpc>
                <a:spcPct val="108000"/>
              </a:lnSpc>
              <a:buNone/>
            </a:pPr>
            <a:r>
              <a:rPr lang="en-US" sz="900" b="1" i="0">
                <a:solidFill>
                  <a:srgbClr val="070154"/>
                </a:solidFill>
                <a:latin typeface="Arial"/>
                <a:ea typeface="Arial"/>
                <a:cs typeface="Arial"/>
              </a:rPr>
              <a:t>◆ </a:t>
            </a:r>
            <a:r>
              <a:rPr lang="en-US" sz="850" b="0" i="0">
                <a:solidFill>
                  <a:srgbClr val="50658E"/>
                </a:solidFill>
                <a:latin typeface="Arial"/>
                <a:ea typeface="Arial"/>
                <a:cs typeface="Arial"/>
              </a:rPr>
              <a:t>Review decision   </a:t>
            </a:r>
            <a:r>
              <a:rPr lang="en-US" sz="1000" b="1" i="0">
                <a:solidFill>
                  <a:srgbClr val="070154"/>
                </a:solidFill>
                <a:latin typeface="Arial"/>
                <a:ea typeface="Arial"/>
                <a:cs typeface="Arial"/>
              </a:rPr>
              <a:t>■ </a:t>
            </a:r>
            <a:r>
              <a:rPr lang="en-US" sz="850" b="0" i="0">
                <a:solidFill>
                  <a:srgbClr val="50658E"/>
                </a:solidFill>
                <a:latin typeface="Arial"/>
                <a:ea typeface="Arial"/>
                <a:cs typeface="Arial"/>
              </a:rPr>
              <a:t>Sequential chain   </a:t>
            </a:r>
            <a:r>
              <a:rPr lang="en-US" sz="1000" b="1" i="0">
                <a:solidFill>
                  <a:srgbClr val="0047FF"/>
                </a:solidFill>
                <a:latin typeface="Arial"/>
                <a:ea typeface="Arial"/>
                <a:cs typeface="Arial"/>
              </a:rPr>
              <a:t>■ </a:t>
            </a:r>
            <a:r>
              <a:rPr lang="en-US" sz="850" b="0" i="0">
                <a:solidFill>
                  <a:srgbClr val="50658E"/>
                </a:solidFill>
                <a:latin typeface="Arial"/>
                <a:ea typeface="Arial"/>
                <a:cs typeface="Arial"/>
              </a:rPr>
              <a:t>Runs in parallel</a:t>
            </a:r>
          </a:p>
        </p:txBody>
      </p:sp>
      <p:sp>
        <p:nvSpPr>
          <p:cNvPr id="101" name="Axis Label">
            <a:extLst>
              <a:ext uri="{FF2B5EF4-FFF2-40B4-BE49-F238E27FC236}">
                <a16:creationId xmlns:a16="http://schemas.microsoft.com/office/drawing/2014/main" id="{05B4A06B-05D6-8618-D437-2267CEEFEAB3}"/>
              </a:ext>
            </a:extLst>
          </p:cNvPr>
          <p:cNvSpPr/>
          <p:nvPr/>
        </p:nvSpPr>
        <p:spPr>
          <a:xfrm>
            <a:off x="457200" y="1752600"/>
            <a:ext cx="1850000" cy="280000"/>
          </a:xfrm>
          <a:prstGeom prst="rect">
            <a:avLst/>
          </a:prstGeom>
          <a:solidFill>
            <a:srgbClr val="070154"/>
          </a:solidFill>
          <a:ln w="0">
            <a:noFill/>
          </a:ln>
        </p:spPr>
        <p:txBody>
          <a:bodyPr wrap="square" anchor="ctr">
            <a:noAutofit/>
          </a:bodyPr>
          <a:lstStyle/>
          <a:p>
            <a:pPr>
              <a:lnSpc>
                <a:spcPct val="108000"/>
              </a:lnSpc>
              <a:buNone/>
            </a:pPr>
            <a:r>
              <a:rPr lang="en-US" sz="950" b="1" i="0">
                <a:solidFill>
                  <a:srgbClr val="FFFFFF"/>
                </a:solidFill>
                <a:latin typeface="Arial"/>
                <a:ea typeface="Arial"/>
                <a:cs typeface="Arial"/>
              </a:rPr>
              <a:t>PDLC stage</a:t>
            </a:r>
          </a:p>
        </p:txBody>
      </p:sp>
      <p:sp>
        <p:nvSpPr>
          <p:cNvPr id="102" name="Stage Identify">
            <a:extLst>
              <a:ext uri="{FF2B5EF4-FFF2-40B4-BE49-F238E27FC236}">
                <a16:creationId xmlns:a16="http://schemas.microsoft.com/office/drawing/2014/main" id="{7DB3B165-0EF1-9A6E-2CA7-4F3E3344E7EA}"/>
              </a:ext>
            </a:extLst>
          </p:cNvPr>
          <p:cNvSpPr/>
          <p:nvPr/>
        </p:nvSpPr>
        <p:spPr>
          <a:xfrm>
            <a:off x="2372200"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Identify</a:t>
            </a:r>
          </a:p>
        </p:txBody>
      </p:sp>
      <p:sp>
        <p:nvSpPr>
          <p:cNvPr id="103" name="Stage Define">
            <a:extLst>
              <a:ext uri="{FF2B5EF4-FFF2-40B4-BE49-F238E27FC236}">
                <a16:creationId xmlns:a16="http://schemas.microsoft.com/office/drawing/2014/main" id="{F296AE79-1406-F679-E124-A2D165CB9922}"/>
              </a:ext>
            </a:extLst>
          </p:cNvPr>
          <p:cNvSpPr/>
          <p:nvPr/>
        </p:nvSpPr>
        <p:spPr>
          <a:xfrm>
            <a:off x="3935133"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Define</a:t>
            </a:r>
          </a:p>
        </p:txBody>
      </p:sp>
      <p:sp>
        <p:nvSpPr>
          <p:cNvPr id="104" name="Stage Build">
            <a:extLst>
              <a:ext uri="{FF2B5EF4-FFF2-40B4-BE49-F238E27FC236}">
                <a16:creationId xmlns:a16="http://schemas.microsoft.com/office/drawing/2014/main" id="{2713446F-4511-52F1-60CB-D0DCE10FE109}"/>
              </a:ext>
            </a:extLst>
          </p:cNvPr>
          <p:cNvSpPr/>
          <p:nvPr/>
        </p:nvSpPr>
        <p:spPr>
          <a:xfrm>
            <a:off x="5498066"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Build</a:t>
            </a:r>
          </a:p>
        </p:txBody>
      </p:sp>
      <p:sp>
        <p:nvSpPr>
          <p:cNvPr id="105" name="Stage Release">
            <a:extLst>
              <a:ext uri="{FF2B5EF4-FFF2-40B4-BE49-F238E27FC236}">
                <a16:creationId xmlns:a16="http://schemas.microsoft.com/office/drawing/2014/main" id="{F64038BD-291B-1F47-D1EC-7502BFE0C924}"/>
              </a:ext>
            </a:extLst>
          </p:cNvPr>
          <p:cNvSpPr/>
          <p:nvPr/>
        </p:nvSpPr>
        <p:spPr>
          <a:xfrm>
            <a:off x="7060999"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Release</a:t>
            </a:r>
          </a:p>
        </p:txBody>
      </p:sp>
      <p:sp>
        <p:nvSpPr>
          <p:cNvPr id="106" name="Stage Go-to-Market">
            <a:extLst>
              <a:ext uri="{FF2B5EF4-FFF2-40B4-BE49-F238E27FC236}">
                <a16:creationId xmlns:a16="http://schemas.microsoft.com/office/drawing/2014/main" id="{748BFB52-6753-E174-DED4-312E3AE64045}"/>
              </a:ext>
            </a:extLst>
          </p:cNvPr>
          <p:cNvSpPr/>
          <p:nvPr/>
        </p:nvSpPr>
        <p:spPr>
          <a:xfrm>
            <a:off x="8623932"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Go-to-Market</a:t>
            </a:r>
          </a:p>
        </p:txBody>
      </p:sp>
      <p:sp>
        <p:nvSpPr>
          <p:cNvPr id="107" name="Stage Optimize">
            <a:extLst>
              <a:ext uri="{FF2B5EF4-FFF2-40B4-BE49-F238E27FC236}">
                <a16:creationId xmlns:a16="http://schemas.microsoft.com/office/drawing/2014/main" id="{A0A5321C-1960-F094-5E41-F2FB020A41EC}"/>
              </a:ext>
            </a:extLst>
          </p:cNvPr>
          <p:cNvSpPr/>
          <p:nvPr/>
        </p:nvSpPr>
        <p:spPr>
          <a:xfrm>
            <a:off x="10186865" y="1752600"/>
            <a:ext cx="1532933" cy="280000"/>
          </a:xfrm>
          <a:prstGeom prst="rect">
            <a:avLst/>
          </a:prstGeom>
          <a:solidFill>
            <a:srgbClr val="070154"/>
          </a:solidFill>
          <a:ln w="0">
            <a:noFill/>
          </a:ln>
        </p:spPr>
        <p:txBody>
          <a:bodyPr wrap="square" lIns="0" tIns="0" rIns="0" bIns="0" anchor="ctr">
            <a:noAutofit/>
          </a:bodyPr>
          <a:lstStyle/>
          <a:p>
            <a:pPr algn="ctr">
              <a:lnSpc>
                <a:spcPct val="108000"/>
              </a:lnSpc>
              <a:buNone/>
            </a:pPr>
            <a:r>
              <a:rPr lang="en-US" sz="950" b="1" i="0">
                <a:solidFill>
                  <a:srgbClr val="FFFFFF"/>
                </a:solidFill>
                <a:latin typeface="Arial"/>
                <a:ea typeface="Arial"/>
                <a:cs typeface="Arial"/>
              </a:rPr>
              <a:t>Optimize</a:t>
            </a:r>
          </a:p>
        </p:txBody>
      </p:sp>
      <p:sp>
        <p:nvSpPr>
          <p:cNvPr id="108" name="Concord Label">
            <a:extLst>
              <a:ext uri="{FF2B5EF4-FFF2-40B4-BE49-F238E27FC236}">
                <a16:creationId xmlns:a16="http://schemas.microsoft.com/office/drawing/2014/main" id="{EB89D6A6-D4B9-A2AE-D0DE-F4A49E356263}"/>
              </a:ext>
            </a:extLst>
          </p:cNvPr>
          <p:cNvSpPr/>
          <p:nvPr/>
        </p:nvSpPr>
        <p:spPr>
          <a:xfrm>
            <a:off x="457200" y="2052600"/>
            <a:ext cx="1850000" cy="220000"/>
          </a:xfrm>
          <a:prstGeom prst="rect">
            <a:avLst/>
          </a:prstGeom>
          <a:noFill/>
          <a:ln w="0">
            <a:noFill/>
          </a:ln>
        </p:spPr>
        <p:txBody>
          <a:bodyPr wrap="square" anchor="ctr">
            <a:noAutofit/>
          </a:bodyPr>
          <a:lstStyle/>
          <a:p>
            <a:pPr>
              <a:lnSpc>
                <a:spcPct val="108000"/>
              </a:lnSpc>
              <a:buNone/>
            </a:pPr>
            <a:r>
              <a:rPr lang="en-US" sz="750" b="1" i="0">
                <a:solidFill>
                  <a:srgbClr val="0047FF"/>
                </a:solidFill>
                <a:latin typeface="Arial"/>
                <a:ea typeface="Arial"/>
                <a:cs typeface="Arial"/>
              </a:rPr>
              <a:t>DXC Concord gates</a:t>
            </a:r>
          </a:p>
        </p:txBody>
      </p:sp>
      <p:sp>
        <p:nvSpPr>
          <p:cNvPr id="109" name="Concord 0">
            <a:extLst>
              <a:ext uri="{FF2B5EF4-FFF2-40B4-BE49-F238E27FC236}">
                <a16:creationId xmlns:a16="http://schemas.microsoft.com/office/drawing/2014/main" id="{F2150AC3-C807-D6AD-7643-B6668C6DCA41}"/>
              </a:ext>
            </a:extLst>
          </p:cNvPr>
          <p:cNvSpPr/>
          <p:nvPr/>
        </p:nvSpPr>
        <p:spPr>
          <a:xfrm>
            <a:off x="2372200" y="2052600"/>
            <a:ext cx="1532933" cy="220000"/>
          </a:xfrm>
          <a:prstGeom prst="rect">
            <a:avLst/>
          </a:prstGeom>
          <a:solidFill>
            <a:srgbClr val="E8EEF8"/>
          </a:solidFill>
          <a:ln w="0">
            <a:noFill/>
          </a:ln>
        </p:spPr>
        <p:txBody>
          <a:bodyPr wrap="square" lIns="0" tIns="0" rIns="0" bIns="0" anchor="ctr">
            <a:noAutofit/>
          </a:bodyPr>
          <a:lstStyle/>
          <a:p>
            <a:pPr algn="ctr">
              <a:lnSpc>
                <a:spcPct val="108000"/>
              </a:lnSpc>
              <a:buNone/>
            </a:pPr>
            <a:r>
              <a:rPr lang="en-US" sz="750" b="1" i="0">
                <a:solidFill>
                  <a:srgbClr val="0047FF"/>
                </a:solidFill>
                <a:latin typeface="Arial"/>
                <a:ea typeface="Arial"/>
                <a:cs typeface="Arial"/>
              </a:rPr>
              <a:t>Concept &amp; Strategy · G0</a:t>
            </a:r>
          </a:p>
        </p:txBody>
      </p:sp>
      <p:sp>
        <p:nvSpPr>
          <p:cNvPr id="110" name="Concord 1">
            <a:extLst>
              <a:ext uri="{FF2B5EF4-FFF2-40B4-BE49-F238E27FC236}">
                <a16:creationId xmlns:a16="http://schemas.microsoft.com/office/drawing/2014/main" id="{F1F75228-B697-29B7-DD50-ADFE2DEB904F}"/>
              </a:ext>
            </a:extLst>
          </p:cNvPr>
          <p:cNvSpPr/>
          <p:nvPr/>
        </p:nvSpPr>
        <p:spPr>
          <a:xfrm>
            <a:off x="3935133" y="2052600"/>
            <a:ext cx="1532933" cy="220000"/>
          </a:xfrm>
          <a:prstGeom prst="rect">
            <a:avLst/>
          </a:prstGeom>
          <a:solidFill>
            <a:srgbClr val="E8EEF8"/>
          </a:solidFill>
          <a:ln w="0">
            <a:noFill/>
          </a:ln>
        </p:spPr>
        <p:txBody>
          <a:bodyPr wrap="square" lIns="0" tIns="0" rIns="0" bIns="0" anchor="ctr">
            <a:noAutofit/>
          </a:bodyPr>
          <a:lstStyle/>
          <a:p>
            <a:pPr algn="ctr">
              <a:lnSpc>
                <a:spcPct val="108000"/>
              </a:lnSpc>
              <a:buNone/>
            </a:pPr>
            <a:r>
              <a:rPr lang="en-US" sz="750" b="1" i="0">
                <a:solidFill>
                  <a:srgbClr val="0047FF"/>
                </a:solidFill>
                <a:latin typeface="Arial"/>
                <a:ea typeface="Arial"/>
                <a:cs typeface="Arial"/>
              </a:rPr>
              <a:t>Design &amp; Viability · G1, G2</a:t>
            </a:r>
          </a:p>
        </p:txBody>
      </p:sp>
      <p:sp>
        <p:nvSpPr>
          <p:cNvPr id="111" name="Concord 2">
            <a:extLst>
              <a:ext uri="{FF2B5EF4-FFF2-40B4-BE49-F238E27FC236}">
                <a16:creationId xmlns:a16="http://schemas.microsoft.com/office/drawing/2014/main" id="{691C5FAE-9F50-2D8F-4A63-50611E8891FF}"/>
              </a:ext>
            </a:extLst>
          </p:cNvPr>
          <p:cNvSpPr/>
          <p:nvPr/>
        </p:nvSpPr>
        <p:spPr>
          <a:xfrm>
            <a:off x="5498066" y="2052600"/>
            <a:ext cx="1532933" cy="220000"/>
          </a:xfrm>
          <a:prstGeom prst="rect">
            <a:avLst/>
          </a:prstGeom>
          <a:solidFill>
            <a:srgbClr val="E8EEF8"/>
          </a:solidFill>
          <a:ln w="0">
            <a:noFill/>
          </a:ln>
        </p:spPr>
        <p:txBody>
          <a:bodyPr wrap="square" lIns="0" tIns="0" rIns="0" bIns="0" anchor="ctr">
            <a:noAutofit/>
          </a:bodyPr>
          <a:lstStyle/>
          <a:p>
            <a:pPr algn="ctr">
              <a:lnSpc>
                <a:spcPct val="108000"/>
              </a:lnSpc>
              <a:buNone/>
            </a:pPr>
            <a:r>
              <a:rPr lang="en-US" sz="750" b="1" i="0">
                <a:solidFill>
                  <a:srgbClr val="0047FF"/>
                </a:solidFill>
                <a:latin typeface="Arial"/>
                <a:ea typeface="Arial"/>
                <a:cs typeface="Arial"/>
              </a:rPr>
              <a:t>Build · G4</a:t>
            </a:r>
          </a:p>
        </p:txBody>
      </p:sp>
      <p:sp>
        <p:nvSpPr>
          <p:cNvPr id="112" name="Concord 3">
            <a:extLst>
              <a:ext uri="{FF2B5EF4-FFF2-40B4-BE49-F238E27FC236}">
                <a16:creationId xmlns:a16="http://schemas.microsoft.com/office/drawing/2014/main" id="{C7922B23-6B9D-4DCB-6085-701D21FCDEAC}"/>
              </a:ext>
            </a:extLst>
          </p:cNvPr>
          <p:cNvSpPr/>
          <p:nvPr/>
        </p:nvSpPr>
        <p:spPr>
          <a:xfrm>
            <a:off x="7060999" y="2052600"/>
            <a:ext cx="1532933" cy="220000"/>
          </a:xfrm>
          <a:prstGeom prst="rect">
            <a:avLst/>
          </a:prstGeom>
          <a:solidFill>
            <a:srgbClr val="E8EEF8"/>
          </a:solidFill>
          <a:ln w="0">
            <a:noFill/>
          </a:ln>
        </p:spPr>
        <p:txBody>
          <a:bodyPr wrap="square" lIns="0" tIns="0" rIns="0" bIns="0" anchor="ctr">
            <a:noAutofit/>
          </a:bodyPr>
          <a:lstStyle/>
          <a:p>
            <a:pPr algn="ctr">
              <a:lnSpc>
                <a:spcPct val="108000"/>
              </a:lnSpc>
              <a:buNone/>
            </a:pPr>
            <a:r>
              <a:rPr lang="en-US" sz="750" b="1" i="0">
                <a:solidFill>
                  <a:srgbClr val="0047FF"/>
                </a:solidFill>
                <a:latin typeface="Arial"/>
                <a:ea typeface="Arial"/>
                <a:cs typeface="Arial"/>
              </a:rPr>
              <a:t>Beta / Pilot</a:t>
            </a:r>
          </a:p>
        </p:txBody>
      </p:sp>
      <p:sp>
        <p:nvSpPr>
          <p:cNvPr id="113" name="Concord 4">
            <a:extLst>
              <a:ext uri="{FF2B5EF4-FFF2-40B4-BE49-F238E27FC236}">
                <a16:creationId xmlns:a16="http://schemas.microsoft.com/office/drawing/2014/main" id="{CFDE40AD-6407-168A-9236-78437F578C3B}"/>
              </a:ext>
            </a:extLst>
          </p:cNvPr>
          <p:cNvSpPr/>
          <p:nvPr/>
        </p:nvSpPr>
        <p:spPr>
          <a:xfrm>
            <a:off x="8623932" y="2052600"/>
            <a:ext cx="1532933" cy="220000"/>
          </a:xfrm>
          <a:prstGeom prst="rect">
            <a:avLst/>
          </a:prstGeom>
          <a:solidFill>
            <a:srgbClr val="E8EEF8"/>
          </a:solidFill>
          <a:ln w="0">
            <a:noFill/>
          </a:ln>
        </p:spPr>
        <p:txBody>
          <a:bodyPr wrap="square" lIns="0" tIns="0" rIns="0" bIns="0" anchor="ctr">
            <a:noAutofit/>
          </a:bodyPr>
          <a:lstStyle/>
          <a:p>
            <a:pPr algn="ctr">
              <a:lnSpc>
                <a:spcPct val="108000"/>
              </a:lnSpc>
              <a:buNone/>
            </a:pPr>
            <a:r>
              <a:rPr lang="en-US" sz="750" b="1" i="0">
                <a:solidFill>
                  <a:srgbClr val="0047FF"/>
                </a:solidFill>
                <a:latin typeface="Arial"/>
                <a:ea typeface="Arial"/>
                <a:cs typeface="Arial"/>
              </a:rPr>
              <a:t>Launch · G5</a:t>
            </a:r>
          </a:p>
        </p:txBody>
      </p:sp>
      <p:sp>
        <p:nvSpPr>
          <p:cNvPr id="114" name="Concord 5">
            <a:extLst>
              <a:ext uri="{FF2B5EF4-FFF2-40B4-BE49-F238E27FC236}">
                <a16:creationId xmlns:a16="http://schemas.microsoft.com/office/drawing/2014/main" id="{8906D20A-7299-4E11-3A24-BAB660AF9AC7}"/>
              </a:ext>
            </a:extLst>
          </p:cNvPr>
          <p:cNvSpPr/>
          <p:nvPr/>
        </p:nvSpPr>
        <p:spPr>
          <a:xfrm>
            <a:off x="10186865" y="2052600"/>
            <a:ext cx="1532933" cy="220000"/>
          </a:xfrm>
          <a:prstGeom prst="rect">
            <a:avLst/>
          </a:prstGeom>
          <a:solidFill>
            <a:srgbClr val="E8EEF8"/>
          </a:solidFill>
          <a:ln w="0">
            <a:noFill/>
          </a:ln>
        </p:spPr>
        <p:txBody>
          <a:bodyPr wrap="square" lIns="0" tIns="0" rIns="0" bIns="0" anchor="ctr">
            <a:noAutofit/>
          </a:bodyPr>
          <a:lstStyle/>
          <a:p>
            <a:pPr algn="ctr">
              <a:lnSpc>
                <a:spcPct val="108000"/>
              </a:lnSpc>
              <a:buNone/>
            </a:pPr>
            <a:r>
              <a:rPr lang="en-US" sz="750" b="1" i="0">
                <a:solidFill>
                  <a:srgbClr val="0047FF"/>
                </a:solidFill>
                <a:latin typeface="Arial"/>
                <a:ea typeface="Arial"/>
                <a:cs typeface="Arial"/>
              </a:rPr>
              <a:t>Post-launch review · G6</a:t>
            </a:r>
          </a:p>
        </p:txBody>
      </p:sp>
      <p:sp>
        <p:nvSpPr>
          <p:cNvPr id="115" name="Equiv Label">
            <a:extLst>
              <a:ext uri="{FF2B5EF4-FFF2-40B4-BE49-F238E27FC236}">
                <a16:creationId xmlns:a16="http://schemas.microsoft.com/office/drawing/2014/main" id="{A4FFCF39-979C-5D71-2C8F-BBFD020E771C}"/>
              </a:ext>
            </a:extLst>
          </p:cNvPr>
          <p:cNvSpPr/>
          <p:nvPr/>
        </p:nvSpPr>
        <p:spPr>
          <a:xfrm>
            <a:off x="457200" y="2292600"/>
            <a:ext cx="1850000" cy="220000"/>
          </a:xfrm>
          <a:prstGeom prst="rect">
            <a:avLst/>
          </a:prstGeom>
          <a:noFill/>
          <a:ln w="0">
            <a:noFill/>
          </a:ln>
        </p:spPr>
        <p:txBody>
          <a:bodyPr wrap="square" anchor="ctr">
            <a:noAutofit/>
          </a:bodyPr>
          <a:lstStyle/>
          <a:p>
            <a:pPr>
              <a:lnSpc>
                <a:spcPct val="108000"/>
              </a:lnSpc>
              <a:buNone/>
            </a:pPr>
            <a:r>
              <a:rPr lang="en-US" sz="750" b="0" i="0">
                <a:solidFill>
                  <a:srgbClr val="50658E"/>
                </a:solidFill>
                <a:latin typeface="Arial"/>
                <a:ea typeface="Arial"/>
                <a:cs typeface="Arial"/>
              </a:rPr>
              <a:t>Practices Map</a:t>
            </a:r>
          </a:p>
        </p:txBody>
      </p:sp>
      <p:sp>
        <p:nvSpPr>
          <p:cNvPr id="116" name="Equiv 0">
            <a:extLst>
              <a:ext uri="{FF2B5EF4-FFF2-40B4-BE49-F238E27FC236}">
                <a16:creationId xmlns:a16="http://schemas.microsoft.com/office/drawing/2014/main" id="{B1AD7FDA-40C8-A7BB-3013-DDBB69D4F74E}"/>
              </a:ext>
            </a:extLst>
          </p:cNvPr>
          <p:cNvSpPr/>
          <p:nvPr/>
        </p:nvSpPr>
        <p:spPr>
          <a:xfrm>
            <a:off x="2372200" y="2292600"/>
            <a:ext cx="1532933" cy="220000"/>
          </a:xfrm>
          <a:prstGeom prst="rect">
            <a:avLst/>
          </a:prstGeom>
          <a:noFill/>
          <a:ln w="0">
            <a:noFill/>
          </a:ln>
        </p:spPr>
        <p:txBody>
          <a:bodyPr wrap="square" lIns="0" tIns="0" rIns="0" bIns="0" anchor="ctr">
            <a:noAutofit/>
          </a:bodyPr>
          <a:lstStyle/>
          <a:p>
            <a:pPr algn="ctr">
              <a:lnSpc>
                <a:spcPct val="108000"/>
              </a:lnSpc>
              <a:buNone/>
            </a:pPr>
            <a:r>
              <a:rPr lang="en-US" sz="750" b="0" i="0">
                <a:solidFill>
                  <a:srgbClr val="50658E"/>
                </a:solidFill>
                <a:latin typeface="Arial"/>
                <a:ea typeface="Arial"/>
                <a:cs typeface="Arial"/>
              </a:rPr>
              <a:t>Opportunity + Prioritization</a:t>
            </a:r>
          </a:p>
        </p:txBody>
      </p:sp>
      <p:sp>
        <p:nvSpPr>
          <p:cNvPr id="117" name="Equiv 1">
            <a:extLst>
              <a:ext uri="{FF2B5EF4-FFF2-40B4-BE49-F238E27FC236}">
                <a16:creationId xmlns:a16="http://schemas.microsoft.com/office/drawing/2014/main" id="{3F24C02C-C3F4-B590-460B-C217550A63EE}"/>
              </a:ext>
            </a:extLst>
          </p:cNvPr>
          <p:cNvSpPr/>
          <p:nvPr/>
        </p:nvSpPr>
        <p:spPr>
          <a:xfrm>
            <a:off x="3935133" y="2292600"/>
            <a:ext cx="1532933" cy="220000"/>
          </a:xfrm>
          <a:prstGeom prst="rect">
            <a:avLst/>
          </a:prstGeom>
          <a:noFill/>
          <a:ln w="0">
            <a:noFill/>
          </a:ln>
        </p:spPr>
        <p:txBody>
          <a:bodyPr wrap="square" lIns="0" tIns="0" rIns="0" bIns="0" anchor="ctr">
            <a:noAutofit/>
          </a:bodyPr>
          <a:lstStyle/>
          <a:p>
            <a:pPr algn="ctr">
              <a:lnSpc>
                <a:spcPct val="108000"/>
              </a:lnSpc>
              <a:buNone/>
            </a:pPr>
            <a:r>
              <a:rPr lang="en-US" sz="750" b="0" i="0">
                <a:solidFill>
                  <a:srgbClr val="50658E"/>
                </a:solidFill>
                <a:latin typeface="Arial"/>
                <a:ea typeface="Arial"/>
                <a:cs typeface="Arial"/>
              </a:rPr>
              <a:t>Definition</a:t>
            </a:r>
          </a:p>
        </p:txBody>
      </p:sp>
      <p:sp>
        <p:nvSpPr>
          <p:cNvPr id="118" name="Equiv 2">
            <a:extLst>
              <a:ext uri="{FF2B5EF4-FFF2-40B4-BE49-F238E27FC236}">
                <a16:creationId xmlns:a16="http://schemas.microsoft.com/office/drawing/2014/main" id="{19457134-165C-E136-EB90-0C04A109E42A}"/>
              </a:ext>
            </a:extLst>
          </p:cNvPr>
          <p:cNvSpPr/>
          <p:nvPr/>
        </p:nvSpPr>
        <p:spPr>
          <a:xfrm>
            <a:off x="5498066" y="2292600"/>
            <a:ext cx="1532933" cy="220000"/>
          </a:xfrm>
          <a:prstGeom prst="rect">
            <a:avLst/>
          </a:prstGeom>
          <a:noFill/>
          <a:ln w="0">
            <a:noFill/>
          </a:ln>
        </p:spPr>
        <p:txBody>
          <a:bodyPr wrap="square" lIns="0" tIns="0" rIns="0" bIns="0" anchor="ctr">
            <a:noAutofit/>
          </a:bodyPr>
          <a:lstStyle/>
          <a:p>
            <a:pPr algn="ctr">
              <a:lnSpc>
                <a:spcPct val="108000"/>
              </a:lnSpc>
              <a:buNone/>
            </a:pPr>
            <a:r>
              <a:rPr lang="en-US" sz="750" b="0" i="0">
                <a:solidFill>
                  <a:srgbClr val="50658E"/>
                </a:solidFill>
                <a:latin typeface="Arial"/>
                <a:ea typeface="Arial"/>
                <a:cs typeface="Arial"/>
              </a:rPr>
              <a:t>Build</a:t>
            </a:r>
          </a:p>
        </p:txBody>
      </p:sp>
      <p:sp>
        <p:nvSpPr>
          <p:cNvPr id="119" name="Equiv 3">
            <a:extLst>
              <a:ext uri="{FF2B5EF4-FFF2-40B4-BE49-F238E27FC236}">
                <a16:creationId xmlns:a16="http://schemas.microsoft.com/office/drawing/2014/main" id="{9B8C5F0A-6561-3DA5-BE40-357F87B65784}"/>
              </a:ext>
            </a:extLst>
          </p:cNvPr>
          <p:cNvSpPr/>
          <p:nvPr/>
        </p:nvSpPr>
        <p:spPr>
          <a:xfrm>
            <a:off x="7060999" y="2292600"/>
            <a:ext cx="1532933" cy="220000"/>
          </a:xfrm>
          <a:prstGeom prst="rect">
            <a:avLst/>
          </a:prstGeom>
          <a:noFill/>
          <a:ln w="0">
            <a:noFill/>
          </a:ln>
        </p:spPr>
        <p:txBody>
          <a:bodyPr wrap="square" lIns="0" tIns="0" rIns="0" bIns="0" anchor="ctr">
            <a:noAutofit/>
          </a:bodyPr>
          <a:lstStyle/>
          <a:p>
            <a:pPr algn="ctr">
              <a:lnSpc>
                <a:spcPct val="108000"/>
              </a:lnSpc>
              <a:buNone/>
            </a:pPr>
            <a:r>
              <a:rPr lang="en-US" sz="750" b="0" i="0">
                <a:solidFill>
                  <a:srgbClr val="50658E"/>
                </a:solidFill>
                <a:latin typeface="Arial"/>
                <a:ea typeface="Arial"/>
                <a:cs typeface="Arial"/>
              </a:rPr>
              <a:t>Release</a:t>
            </a:r>
          </a:p>
        </p:txBody>
      </p:sp>
      <p:sp>
        <p:nvSpPr>
          <p:cNvPr id="120" name="Equiv 4">
            <a:extLst>
              <a:ext uri="{FF2B5EF4-FFF2-40B4-BE49-F238E27FC236}">
                <a16:creationId xmlns:a16="http://schemas.microsoft.com/office/drawing/2014/main" id="{0D437424-AA50-219E-CA48-0998BFF72E66}"/>
              </a:ext>
            </a:extLst>
          </p:cNvPr>
          <p:cNvSpPr/>
          <p:nvPr/>
        </p:nvSpPr>
        <p:spPr>
          <a:xfrm>
            <a:off x="8623932" y="2292600"/>
            <a:ext cx="1532933" cy="220000"/>
          </a:xfrm>
          <a:prstGeom prst="rect">
            <a:avLst/>
          </a:prstGeom>
          <a:noFill/>
          <a:ln w="0">
            <a:noFill/>
          </a:ln>
        </p:spPr>
        <p:txBody>
          <a:bodyPr wrap="square" lIns="0" tIns="0" rIns="0" bIns="0" anchor="ctr">
            <a:noAutofit/>
          </a:bodyPr>
          <a:lstStyle/>
          <a:p>
            <a:pPr algn="ctr">
              <a:lnSpc>
                <a:spcPct val="108000"/>
              </a:lnSpc>
              <a:buNone/>
            </a:pPr>
            <a:r>
              <a:rPr lang="en-US" sz="750" b="0" i="0">
                <a:solidFill>
                  <a:srgbClr val="50658E"/>
                </a:solidFill>
                <a:latin typeface="Arial"/>
                <a:ea typeface="Arial"/>
                <a:cs typeface="Arial"/>
              </a:rPr>
              <a:t>GTM</a:t>
            </a:r>
          </a:p>
        </p:txBody>
      </p:sp>
      <p:sp>
        <p:nvSpPr>
          <p:cNvPr id="121" name="Equiv 5">
            <a:extLst>
              <a:ext uri="{FF2B5EF4-FFF2-40B4-BE49-F238E27FC236}">
                <a16:creationId xmlns:a16="http://schemas.microsoft.com/office/drawing/2014/main" id="{B0E89D43-034F-E242-021B-836FB91586CC}"/>
              </a:ext>
            </a:extLst>
          </p:cNvPr>
          <p:cNvSpPr/>
          <p:nvPr/>
        </p:nvSpPr>
        <p:spPr>
          <a:xfrm>
            <a:off x="10186865" y="2292600"/>
            <a:ext cx="1532933" cy="220000"/>
          </a:xfrm>
          <a:prstGeom prst="rect">
            <a:avLst/>
          </a:prstGeom>
          <a:noFill/>
          <a:ln w="0">
            <a:noFill/>
          </a:ln>
        </p:spPr>
        <p:txBody>
          <a:bodyPr wrap="square" lIns="0" tIns="0" rIns="0" bIns="0" anchor="ctr">
            <a:noAutofit/>
          </a:bodyPr>
          <a:lstStyle/>
          <a:p>
            <a:pPr algn="ctr">
              <a:lnSpc>
                <a:spcPct val="108000"/>
              </a:lnSpc>
              <a:buNone/>
            </a:pPr>
            <a:r>
              <a:rPr lang="en-US" sz="750" b="0" i="0">
                <a:solidFill>
                  <a:srgbClr val="50658E"/>
                </a:solidFill>
                <a:latin typeface="Arial"/>
                <a:ea typeface="Arial"/>
                <a:cs typeface="Arial"/>
              </a:rPr>
              <a:t>Measurement and feedback</a:t>
            </a:r>
          </a:p>
        </p:txBody>
      </p:sp>
      <p:sp>
        <p:nvSpPr>
          <p:cNvPr id="122" name="Guide 0">
            <a:extLst>
              <a:ext uri="{FF2B5EF4-FFF2-40B4-BE49-F238E27FC236}">
                <a16:creationId xmlns:a16="http://schemas.microsoft.com/office/drawing/2014/main" id="{9D164895-49C7-FEC2-8EA2-6596CCA70234}"/>
              </a:ext>
            </a:extLst>
          </p:cNvPr>
          <p:cNvSpPr/>
          <p:nvPr/>
        </p:nvSpPr>
        <p:spPr>
          <a:xfrm>
            <a:off x="2352438" y="2532600"/>
            <a:ext cx="9525" cy="2780000"/>
          </a:xfrm>
          <a:prstGeom prst="rect">
            <a:avLst/>
          </a:prstGeom>
          <a:solidFill>
            <a:srgbClr val="CED7E6"/>
          </a:solidFill>
          <a:ln w="0">
            <a:noFill/>
          </a:ln>
        </p:spPr>
        <p:txBody>
          <a:bodyPr wrap="square" anchor="t">
            <a:noAutofit/>
          </a:bodyPr>
          <a:lstStyle/>
          <a:p>
            <a:endParaRPr lang="en-US"/>
          </a:p>
        </p:txBody>
      </p:sp>
      <p:sp>
        <p:nvSpPr>
          <p:cNvPr id="123" name="Guide 1">
            <a:extLst>
              <a:ext uri="{FF2B5EF4-FFF2-40B4-BE49-F238E27FC236}">
                <a16:creationId xmlns:a16="http://schemas.microsoft.com/office/drawing/2014/main" id="{608714C4-2815-0400-F04C-F03270C59E4C}"/>
              </a:ext>
            </a:extLst>
          </p:cNvPr>
          <p:cNvSpPr/>
          <p:nvPr/>
        </p:nvSpPr>
        <p:spPr>
          <a:xfrm>
            <a:off x="3915371" y="2532600"/>
            <a:ext cx="9525" cy="2780000"/>
          </a:xfrm>
          <a:prstGeom prst="rect">
            <a:avLst/>
          </a:prstGeom>
          <a:solidFill>
            <a:srgbClr val="CED7E6"/>
          </a:solidFill>
          <a:ln w="0">
            <a:noFill/>
          </a:ln>
        </p:spPr>
        <p:txBody>
          <a:bodyPr wrap="square" anchor="t">
            <a:noAutofit/>
          </a:bodyPr>
          <a:lstStyle/>
          <a:p>
            <a:endParaRPr lang="en-US"/>
          </a:p>
        </p:txBody>
      </p:sp>
      <p:sp>
        <p:nvSpPr>
          <p:cNvPr id="124" name="Guide 2">
            <a:extLst>
              <a:ext uri="{FF2B5EF4-FFF2-40B4-BE49-F238E27FC236}">
                <a16:creationId xmlns:a16="http://schemas.microsoft.com/office/drawing/2014/main" id="{2D7DCAF3-5814-D4B4-672D-8E5DA51B7413}"/>
              </a:ext>
            </a:extLst>
          </p:cNvPr>
          <p:cNvSpPr/>
          <p:nvPr/>
        </p:nvSpPr>
        <p:spPr>
          <a:xfrm>
            <a:off x="5478304" y="2532600"/>
            <a:ext cx="9525" cy="2780000"/>
          </a:xfrm>
          <a:prstGeom prst="rect">
            <a:avLst/>
          </a:prstGeom>
          <a:solidFill>
            <a:srgbClr val="CED7E6"/>
          </a:solidFill>
          <a:ln w="0">
            <a:noFill/>
          </a:ln>
        </p:spPr>
        <p:txBody>
          <a:bodyPr wrap="square" anchor="t">
            <a:noAutofit/>
          </a:bodyPr>
          <a:lstStyle/>
          <a:p>
            <a:endParaRPr lang="en-US"/>
          </a:p>
        </p:txBody>
      </p:sp>
      <p:sp>
        <p:nvSpPr>
          <p:cNvPr id="125" name="Guide 3">
            <a:extLst>
              <a:ext uri="{FF2B5EF4-FFF2-40B4-BE49-F238E27FC236}">
                <a16:creationId xmlns:a16="http://schemas.microsoft.com/office/drawing/2014/main" id="{AAE5CA7A-C6BA-742A-B381-7FC729E3E94E}"/>
              </a:ext>
            </a:extLst>
          </p:cNvPr>
          <p:cNvSpPr/>
          <p:nvPr/>
        </p:nvSpPr>
        <p:spPr>
          <a:xfrm>
            <a:off x="7041237" y="2532600"/>
            <a:ext cx="9525" cy="2780000"/>
          </a:xfrm>
          <a:prstGeom prst="rect">
            <a:avLst/>
          </a:prstGeom>
          <a:solidFill>
            <a:srgbClr val="CED7E6"/>
          </a:solidFill>
          <a:ln w="0">
            <a:noFill/>
          </a:ln>
        </p:spPr>
        <p:txBody>
          <a:bodyPr wrap="square" anchor="t">
            <a:noAutofit/>
          </a:bodyPr>
          <a:lstStyle/>
          <a:p>
            <a:endParaRPr lang="en-US"/>
          </a:p>
        </p:txBody>
      </p:sp>
      <p:sp>
        <p:nvSpPr>
          <p:cNvPr id="126" name="Guide 4">
            <a:extLst>
              <a:ext uri="{FF2B5EF4-FFF2-40B4-BE49-F238E27FC236}">
                <a16:creationId xmlns:a16="http://schemas.microsoft.com/office/drawing/2014/main" id="{F964A378-D5A1-DC02-5283-DED4A2404C98}"/>
              </a:ext>
            </a:extLst>
          </p:cNvPr>
          <p:cNvSpPr/>
          <p:nvPr/>
        </p:nvSpPr>
        <p:spPr>
          <a:xfrm>
            <a:off x="8604170" y="2532600"/>
            <a:ext cx="9525" cy="2780000"/>
          </a:xfrm>
          <a:prstGeom prst="rect">
            <a:avLst/>
          </a:prstGeom>
          <a:solidFill>
            <a:srgbClr val="CED7E6"/>
          </a:solidFill>
          <a:ln w="0">
            <a:noFill/>
          </a:ln>
        </p:spPr>
        <p:txBody>
          <a:bodyPr wrap="square" anchor="t">
            <a:noAutofit/>
          </a:bodyPr>
          <a:lstStyle/>
          <a:p>
            <a:endParaRPr lang="en-US"/>
          </a:p>
        </p:txBody>
      </p:sp>
      <p:sp>
        <p:nvSpPr>
          <p:cNvPr id="127" name="Guide 5">
            <a:extLst>
              <a:ext uri="{FF2B5EF4-FFF2-40B4-BE49-F238E27FC236}">
                <a16:creationId xmlns:a16="http://schemas.microsoft.com/office/drawing/2014/main" id="{20244B07-B2D5-A2A9-4329-908472CAE803}"/>
              </a:ext>
            </a:extLst>
          </p:cNvPr>
          <p:cNvSpPr/>
          <p:nvPr/>
        </p:nvSpPr>
        <p:spPr>
          <a:xfrm>
            <a:off x="10167103" y="2532600"/>
            <a:ext cx="9525" cy="2780000"/>
          </a:xfrm>
          <a:prstGeom prst="rect">
            <a:avLst/>
          </a:prstGeom>
          <a:solidFill>
            <a:srgbClr val="CED7E6"/>
          </a:solidFill>
          <a:ln w="0">
            <a:noFill/>
          </a:ln>
        </p:spPr>
        <p:txBody>
          <a:bodyPr wrap="square" anchor="t">
            <a:noAutofit/>
          </a:bodyPr>
          <a:lstStyle/>
          <a:p>
            <a:endParaRPr lang="en-US"/>
          </a:p>
        </p:txBody>
      </p:sp>
      <p:sp>
        <p:nvSpPr>
          <p:cNvPr id="128" name="Guide 6">
            <a:extLst>
              <a:ext uri="{FF2B5EF4-FFF2-40B4-BE49-F238E27FC236}">
                <a16:creationId xmlns:a16="http://schemas.microsoft.com/office/drawing/2014/main" id="{8DC8C879-6A46-9E16-5D09-507A55628FF5}"/>
              </a:ext>
            </a:extLst>
          </p:cNvPr>
          <p:cNvSpPr/>
          <p:nvPr/>
        </p:nvSpPr>
        <p:spPr>
          <a:xfrm>
            <a:off x="11730036" y="2532600"/>
            <a:ext cx="9525" cy="2780000"/>
          </a:xfrm>
          <a:prstGeom prst="rect">
            <a:avLst/>
          </a:prstGeom>
          <a:solidFill>
            <a:srgbClr val="CED7E6"/>
          </a:solidFill>
          <a:ln w="0">
            <a:noFill/>
          </a:ln>
        </p:spPr>
        <p:txBody>
          <a:bodyPr wrap="square" anchor="t">
            <a:noAutofit/>
          </a:bodyPr>
          <a:lstStyle/>
          <a:p>
            <a:endParaRPr lang="en-US"/>
          </a:p>
        </p:txBody>
      </p:sp>
      <p:sp>
        <p:nvSpPr>
          <p:cNvPr id="129" name="Lane Label 0">
            <a:extLst>
              <a:ext uri="{FF2B5EF4-FFF2-40B4-BE49-F238E27FC236}">
                <a16:creationId xmlns:a16="http://schemas.microsoft.com/office/drawing/2014/main" id="{5E59360D-966E-AC7A-B7E1-69157A8C31D1}"/>
              </a:ext>
            </a:extLst>
          </p:cNvPr>
          <p:cNvSpPr/>
          <p:nvPr/>
        </p:nvSpPr>
        <p:spPr>
          <a:xfrm>
            <a:off x="457200" y="2552600"/>
            <a:ext cx="1850000" cy="32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70154"/>
                </a:solidFill>
                <a:latin typeface="Arial"/>
                <a:ea typeface="Arial"/>
                <a:cs typeface="Arial"/>
              </a:rPr>
              <a:t>01 Opportunity Brief</a:t>
            </a:r>
          </a:p>
        </p:txBody>
      </p:sp>
      <p:sp>
        <p:nvSpPr>
          <p:cNvPr id="130" name="Lane Bar 0">
            <a:extLst>
              <a:ext uri="{FF2B5EF4-FFF2-40B4-BE49-F238E27FC236}">
                <a16:creationId xmlns:a16="http://schemas.microsoft.com/office/drawing/2014/main" id="{51F15441-D62A-4818-4C3C-0F4082E8FF58}"/>
              </a:ext>
            </a:extLst>
          </p:cNvPr>
          <p:cNvSpPr/>
          <p:nvPr/>
        </p:nvSpPr>
        <p:spPr>
          <a:xfrm>
            <a:off x="2382200" y="2562600"/>
            <a:ext cx="1512933" cy="300000"/>
          </a:xfrm>
          <a:prstGeom prst="rect">
            <a:avLst/>
          </a:prstGeom>
          <a:solidFill>
            <a:srgbClr val="070154"/>
          </a:solidFill>
          <a:ln w="0">
            <a:noFill/>
          </a:ln>
        </p:spPr>
        <p:txBody>
          <a:bodyPr wrap="square" lIns="60000" tIns="60000" rIns="60000" bIns="60000" anchor="ctr">
            <a:noAutofit/>
          </a:bodyPr>
          <a:lstStyle/>
          <a:p>
            <a:pPr>
              <a:lnSpc>
                <a:spcPct val="108000"/>
              </a:lnSpc>
              <a:buNone/>
            </a:pPr>
            <a:r>
              <a:rPr lang="en-US" sz="800" b="1" i="0">
                <a:solidFill>
                  <a:srgbClr val="FFFFFF"/>
                </a:solidFill>
                <a:latin typeface="Arial"/>
                <a:ea typeface="Arial"/>
                <a:cs typeface="Arial"/>
              </a:rPr>
              <a:t>◆ Senior leader: worth defining?</a:t>
            </a:r>
          </a:p>
        </p:txBody>
      </p:sp>
      <p:sp>
        <p:nvSpPr>
          <p:cNvPr id="131" name="Lane Label 1">
            <a:extLst>
              <a:ext uri="{FF2B5EF4-FFF2-40B4-BE49-F238E27FC236}">
                <a16:creationId xmlns:a16="http://schemas.microsoft.com/office/drawing/2014/main" id="{03332F23-6789-1EFA-CB9A-6C52BAC00005}"/>
              </a:ext>
            </a:extLst>
          </p:cNvPr>
          <p:cNvSpPr/>
          <p:nvPr/>
        </p:nvSpPr>
        <p:spPr>
          <a:xfrm>
            <a:off x="457200" y="2912600"/>
            <a:ext cx="1850000" cy="32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70154"/>
                </a:solidFill>
                <a:latin typeface="Arial"/>
                <a:ea typeface="Arial"/>
                <a:cs typeface="Arial"/>
              </a:rPr>
              <a:t>02 Product Brief</a:t>
            </a:r>
          </a:p>
        </p:txBody>
      </p:sp>
      <p:sp>
        <p:nvSpPr>
          <p:cNvPr id="132" name="Lane Bar 1">
            <a:extLst>
              <a:ext uri="{FF2B5EF4-FFF2-40B4-BE49-F238E27FC236}">
                <a16:creationId xmlns:a16="http://schemas.microsoft.com/office/drawing/2014/main" id="{9D1C8D5A-EE91-CD8E-0842-7F76BE37AA3B}"/>
              </a:ext>
            </a:extLst>
          </p:cNvPr>
          <p:cNvSpPr/>
          <p:nvPr/>
        </p:nvSpPr>
        <p:spPr>
          <a:xfrm>
            <a:off x="3945133" y="2922600"/>
            <a:ext cx="1512933" cy="300000"/>
          </a:xfrm>
          <a:prstGeom prst="rect">
            <a:avLst/>
          </a:prstGeom>
          <a:solidFill>
            <a:srgbClr val="070154"/>
          </a:solidFill>
          <a:ln w="0">
            <a:noFill/>
          </a:ln>
        </p:spPr>
        <p:txBody>
          <a:bodyPr wrap="square" lIns="60000" tIns="60000" rIns="60000" bIns="60000" anchor="ctr">
            <a:noAutofit/>
          </a:bodyPr>
          <a:lstStyle/>
          <a:p>
            <a:pPr>
              <a:lnSpc>
                <a:spcPct val="108000"/>
              </a:lnSpc>
              <a:buNone/>
            </a:pPr>
            <a:r>
              <a:rPr lang="en-US" sz="800" b="1" i="0">
                <a:solidFill>
                  <a:srgbClr val="FFFFFF"/>
                </a:solidFill>
                <a:latin typeface="Arial"/>
                <a:ea typeface="Arial"/>
                <a:cs typeface="Arial"/>
              </a:rPr>
              <a:t>◆ Senior leader approves direction</a:t>
            </a:r>
          </a:p>
        </p:txBody>
      </p:sp>
      <p:sp>
        <p:nvSpPr>
          <p:cNvPr id="133" name="Lane Label 2">
            <a:extLst>
              <a:ext uri="{FF2B5EF4-FFF2-40B4-BE49-F238E27FC236}">
                <a16:creationId xmlns:a16="http://schemas.microsoft.com/office/drawing/2014/main" id="{57ED84F6-BBC6-7F82-E186-2EFDC1F77B2B}"/>
              </a:ext>
            </a:extLst>
          </p:cNvPr>
          <p:cNvSpPr/>
          <p:nvPr/>
        </p:nvSpPr>
        <p:spPr>
          <a:xfrm>
            <a:off x="457200" y="3272600"/>
            <a:ext cx="1850000" cy="32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70154"/>
                </a:solidFill>
                <a:latin typeface="Arial"/>
                <a:ea typeface="Arial"/>
                <a:cs typeface="Arial"/>
              </a:rPr>
              <a:t>03 Feature Brief</a:t>
            </a:r>
          </a:p>
        </p:txBody>
      </p:sp>
      <p:sp>
        <p:nvSpPr>
          <p:cNvPr id="134" name="Lane Bar 2">
            <a:extLst>
              <a:ext uri="{FF2B5EF4-FFF2-40B4-BE49-F238E27FC236}">
                <a16:creationId xmlns:a16="http://schemas.microsoft.com/office/drawing/2014/main" id="{1ACC52B1-E579-E0ED-5FA1-1A70D223145A}"/>
              </a:ext>
            </a:extLst>
          </p:cNvPr>
          <p:cNvSpPr/>
          <p:nvPr/>
        </p:nvSpPr>
        <p:spPr>
          <a:xfrm>
            <a:off x="3945133" y="3282600"/>
            <a:ext cx="3075866" cy="300000"/>
          </a:xfrm>
          <a:prstGeom prst="rect">
            <a:avLst/>
          </a:prstGeom>
          <a:solidFill>
            <a:srgbClr val="070154"/>
          </a:solidFill>
          <a:ln w="0">
            <a:noFill/>
          </a:ln>
        </p:spPr>
        <p:txBody>
          <a:bodyPr wrap="square" lIns="60000" tIns="60000" rIns="60000" bIns="60000" anchor="ctr">
            <a:noAutofit/>
          </a:bodyPr>
          <a:lstStyle/>
          <a:p>
            <a:pPr>
              <a:lnSpc>
                <a:spcPct val="108000"/>
              </a:lnSpc>
              <a:buNone/>
            </a:pPr>
            <a:r>
              <a:rPr lang="en-US" sz="800" b="1" i="0">
                <a:solidFill>
                  <a:srgbClr val="FFFFFF"/>
                </a:solidFill>
                <a:latin typeface="Arial"/>
                <a:ea typeface="Arial"/>
                <a:cs typeface="Arial"/>
              </a:rPr>
              <a:t>◆ Product, Engineering, and QA or Design: ready to build</a:t>
            </a:r>
          </a:p>
        </p:txBody>
      </p:sp>
      <p:sp>
        <p:nvSpPr>
          <p:cNvPr id="135" name="Lane Label 3">
            <a:extLst>
              <a:ext uri="{FF2B5EF4-FFF2-40B4-BE49-F238E27FC236}">
                <a16:creationId xmlns:a16="http://schemas.microsoft.com/office/drawing/2014/main" id="{612AF836-0DCA-A3A6-96F6-17D8EDF23001}"/>
              </a:ext>
            </a:extLst>
          </p:cNvPr>
          <p:cNvSpPr/>
          <p:nvPr/>
        </p:nvSpPr>
        <p:spPr>
          <a:xfrm>
            <a:off x="457200" y="3632600"/>
            <a:ext cx="1850000" cy="32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70154"/>
                </a:solidFill>
                <a:latin typeface="Arial"/>
                <a:ea typeface="Arial"/>
                <a:cs typeface="Arial"/>
              </a:rPr>
              <a:t>04 Technical Implementation Plan</a:t>
            </a:r>
          </a:p>
        </p:txBody>
      </p:sp>
      <p:sp>
        <p:nvSpPr>
          <p:cNvPr id="136" name="Lane Bar 3">
            <a:extLst>
              <a:ext uri="{FF2B5EF4-FFF2-40B4-BE49-F238E27FC236}">
                <a16:creationId xmlns:a16="http://schemas.microsoft.com/office/drawing/2014/main" id="{F75BCBED-ACA3-72E9-5878-8078D4265F55}"/>
              </a:ext>
            </a:extLst>
          </p:cNvPr>
          <p:cNvSpPr/>
          <p:nvPr/>
        </p:nvSpPr>
        <p:spPr>
          <a:xfrm>
            <a:off x="5508066" y="3642600"/>
            <a:ext cx="1512933" cy="300000"/>
          </a:xfrm>
          <a:prstGeom prst="rect">
            <a:avLst/>
          </a:prstGeom>
          <a:solidFill>
            <a:srgbClr val="070154"/>
          </a:solidFill>
          <a:ln w="0">
            <a:noFill/>
          </a:ln>
        </p:spPr>
        <p:txBody>
          <a:bodyPr wrap="square" lIns="60000" tIns="60000" rIns="60000" bIns="60000" anchor="ctr">
            <a:noAutofit/>
          </a:bodyPr>
          <a:lstStyle/>
          <a:p>
            <a:pPr>
              <a:lnSpc>
                <a:spcPct val="108000"/>
              </a:lnSpc>
              <a:buNone/>
            </a:pPr>
            <a:r>
              <a:rPr lang="en-US" sz="800" b="1" i="0">
                <a:solidFill>
                  <a:srgbClr val="FFFFFF"/>
                </a:solidFill>
                <a:latin typeface="Arial"/>
                <a:ea typeface="Arial"/>
                <a:cs typeface="Arial"/>
              </a:rPr>
              <a:t>◆ Engineering + reviewers: ready to execute</a:t>
            </a:r>
          </a:p>
        </p:txBody>
      </p:sp>
      <p:sp>
        <p:nvSpPr>
          <p:cNvPr id="137" name="Lane Label 4">
            <a:extLst>
              <a:ext uri="{FF2B5EF4-FFF2-40B4-BE49-F238E27FC236}">
                <a16:creationId xmlns:a16="http://schemas.microsoft.com/office/drawing/2014/main" id="{DCA80BC1-8C6C-79AC-73A8-38495C821768}"/>
              </a:ext>
            </a:extLst>
          </p:cNvPr>
          <p:cNvSpPr/>
          <p:nvPr/>
        </p:nvSpPr>
        <p:spPr>
          <a:xfrm>
            <a:off x="457200" y="3992600"/>
            <a:ext cx="1850000" cy="32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70154"/>
                </a:solidFill>
                <a:latin typeface="Arial"/>
                <a:ea typeface="Arial"/>
                <a:cs typeface="Arial"/>
              </a:rPr>
              <a:t>05 Testing, QA, and UAT Plan</a:t>
            </a:r>
          </a:p>
        </p:txBody>
      </p:sp>
      <p:sp>
        <p:nvSpPr>
          <p:cNvPr id="138" name="Lane Bar 4">
            <a:extLst>
              <a:ext uri="{FF2B5EF4-FFF2-40B4-BE49-F238E27FC236}">
                <a16:creationId xmlns:a16="http://schemas.microsoft.com/office/drawing/2014/main" id="{43BA62FB-B4BE-310C-CF25-2EBF6E804C73}"/>
              </a:ext>
            </a:extLst>
          </p:cNvPr>
          <p:cNvSpPr/>
          <p:nvPr/>
        </p:nvSpPr>
        <p:spPr>
          <a:xfrm>
            <a:off x="3945133" y="4002600"/>
            <a:ext cx="4638799" cy="300000"/>
          </a:xfrm>
          <a:prstGeom prst="rect">
            <a:avLst/>
          </a:prstGeom>
          <a:solidFill>
            <a:srgbClr val="0047FF"/>
          </a:solidFill>
          <a:ln w="0">
            <a:noFill/>
          </a:ln>
        </p:spPr>
        <p:txBody>
          <a:bodyPr wrap="square" lIns="60000" tIns="60000" rIns="60000" bIns="60000" anchor="ctr">
            <a:noAutofit/>
          </a:bodyPr>
          <a:lstStyle/>
          <a:p>
            <a:pPr>
              <a:lnSpc>
                <a:spcPct val="108000"/>
              </a:lnSpc>
              <a:buNone/>
            </a:pPr>
            <a:r>
              <a:rPr lang="en-US" sz="800" b="1" i="0">
                <a:solidFill>
                  <a:srgbClr val="FFFFFF"/>
                </a:solidFill>
                <a:latin typeface="Arial"/>
                <a:ea typeface="Arial"/>
                <a:cs typeface="Arial"/>
              </a:rPr>
              <a:t>Starts in Define  ·  ◆ Test evidence supports release readiness; Product accepts UAT</a:t>
            </a:r>
          </a:p>
        </p:txBody>
      </p:sp>
      <p:sp>
        <p:nvSpPr>
          <p:cNvPr id="139" name="Lane Label 5">
            <a:extLst>
              <a:ext uri="{FF2B5EF4-FFF2-40B4-BE49-F238E27FC236}">
                <a16:creationId xmlns:a16="http://schemas.microsoft.com/office/drawing/2014/main" id="{8E435652-A5DB-9D7E-EE62-3FC3A0FCA1E4}"/>
              </a:ext>
            </a:extLst>
          </p:cNvPr>
          <p:cNvSpPr/>
          <p:nvPr/>
        </p:nvSpPr>
        <p:spPr>
          <a:xfrm>
            <a:off x="457200" y="4352600"/>
            <a:ext cx="1850000" cy="32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70154"/>
                </a:solidFill>
                <a:latin typeface="Arial"/>
                <a:ea typeface="Arial"/>
                <a:cs typeface="Arial"/>
              </a:rPr>
              <a:t>06 Initial Release and GTM Plan</a:t>
            </a:r>
          </a:p>
        </p:txBody>
      </p:sp>
      <p:sp>
        <p:nvSpPr>
          <p:cNvPr id="140" name="Lane Bar 5">
            <a:extLst>
              <a:ext uri="{FF2B5EF4-FFF2-40B4-BE49-F238E27FC236}">
                <a16:creationId xmlns:a16="http://schemas.microsoft.com/office/drawing/2014/main" id="{AEB2FF86-70DF-5AF8-BFE4-CEFBE9589E7C}"/>
              </a:ext>
            </a:extLst>
          </p:cNvPr>
          <p:cNvSpPr/>
          <p:nvPr/>
        </p:nvSpPr>
        <p:spPr>
          <a:xfrm>
            <a:off x="3945133" y="4362600"/>
            <a:ext cx="7764665" cy="300000"/>
          </a:xfrm>
          <a:prstGeom prst="rect">
            <a:avLst/>
          </a:prstGeom>
          <a:solidFill>
            <a:srgbClr val="0047FF"/>
          </a:solidFill>
          <a:ln w="0">
            <a:noFill/>
          </a:ln>
        </p:spPr>
        <p:txBody>
          <a:bodyPr wrap="square" lIns="60000" tIns="60000" rIns="60000" bIns="60000" anchor="ctr">
            <a:noAutofit/>
          </a:bodyPr>
          <a:lstStyle/>
          <a:p>
            <a:pPr>
              <a:lnSpc>
                <a:spcPct val="108000"/>
              </a:lnSpc>
              <a:buNone/>
            </a:pPr>
            <a:r>
              <a:rPr lang="en-US" sz="800" b="1" i="0">
                <a:solidFill>
                  <a:srgbClr val="FFFFFF"/>
                </a:solidFill>
                <a:latin typeface="Arial"/>
                <a:ea typeface="Arial"/>
                <a:cs typeface="Arial"/>
              </a:rPr>
              <a:t>Starts in Define  ·  ◆ Go, Revise, Hold, or Stop per phase; expansion is a new decision in Optimize</a:t>
            </a:r>
          </a:p>
        </p:txBody>
      </p:sp>
      <p:sp>
        <p:nvSpPr>
          <p:cNvPr id="141" name="AI Label">
            <a:extLst>
              <a:ext uri="{FF2B5EF4-FFF2-40B4-BE49-F238E27FC236}">
                <a16:creationId xmlns:a16="http://schemas.microsoft.com/office/drawing/2014/main" id="{42E6414F-029D-D684-7681-F78EE6B4552D}"/>
              </a:ext>
            </a:extLst>
          </p:cNvPr>
          <p:cNvSpPr/>
          <p:nvPr/>
        </p:nvSpPr>
        <p:spPr>
          <a:xfrm>
            <a:off x="457200" y="4732600"/>
            <a:ext cx="1850000" cy="600000"/>
          </a:xfrm>
          <a:prstGeom prst="rect">
            <a:avLst/>
          </a:prstGeom>
          <a:solidFill>
            <a:srgbClr val="E8EEF8"/>
          </a:solidFill>
          <a:ln w="0">
            <a:noFill/>
          </a:ln>
        </p:spPr>
        <p:txBody>
          <a:bodyPr wrap="square" anchor="ctr">
            <a:noAutofit/>
          </a:bodyPr>
          <a:lstStyle/>
          <a:p>
            <a:pPr>
              <a:lnSpc>
                <a:spcPct val="108000"/>
              </a:lnSpc>
              <a:buNone/>
            </a:pPr>
            <a:r>
              <a:rPr lang="en-US" sz="850" b="1" i="0">
                <a:solidFill>
                  <a:srgbClr val="0047FF"/>
                </a:solidFill>
                <a:latin typeface="Arial"/>
                <a:ea typeface="Arial"/>
                <a:cs typeface="Arial"/>
              </a:rPr>
              <a:t>Where AI can assist today</a:t>
            </a:r>
          </a:p>
          <a:p>
            <a:pPr>
              <a:lnSpc>
                <a:spcPct val="108000"/>
              </a:lnSpc>
              <a:buNone/>
            </a:pPr>
            <a:r>
              <a:rPr lang="en-US" sz="750" b="0" i="0">
                <a:solidFill>
                  <a:srgbClr val="50658E"/>
                </a:solidFill>
                <a:latin typeface="Arial"/>
                <a:ea typeface="Arial"/>
                <a:cs typeface="Arial"/>
              </a:rPr>
              <a:t>Human review required. Agents in use in Reconcile AI; Claude in use by QA.</a:t>
            </a:r>
          </a:p>
        </p:txBody>
      </p:sp>
      <p:sp>
        <p:nvSpPr>
          <p:cNvPr id="142" name="AI Build">
            <a:extLst>
              <a:ext uri="{FF2B5EF4-FFF2-40B4-BE49-F238E27FC236}">
                <a16:creationId xmlns:a16="http://schemas.microsoft.com/office/drawing/2014/main" id="{8AC3AC96-70B7-106C-3CD3-C670E639B249}"/>
              </a:ext>
            </a:extLst>
          </p:cNvPr>
          <p:cNvSpPr/>
          <p:nvPr/>
        </p:nvSpPr>
        <p:spPr>
          <a:xfrm>
            <a:off x="5508066" y="4732600"/>
            <a:ext cx="1512933" cy="600000"/>
          </a:xfrm>
          <a:prstGeom prst="rect">
            <a:avLst/>
          </a:prstGeom>
          <a:solidFill>
            <a:srgbClr val="FFFFFF"/>
          </a:solidFill>
          <a:ln w="9525">
            <a:solidFill>
              <a:srgbClr val="CED7E6"/>
            </a:solidFill>
          </a:ln>
        </p:spPr>
        <p:txBody>
          <a:bodyPr wrap="square" lIns="45720" tIns="45720" rIns="45720" bIns="45720" anchor="ctr">
            <a:noAutofit/>
          </a:bodyPr>
          <a:lstStyle/>
          <a:p>
            <a:pPr>
              <a:lnSpc>
                <a:spcPct val="108000"/>
              </a:lnSpc>
              <a:buNone/>
            </a:pPr>
            <a:r>
              <a:rPr lang="en-US" sz="750" b="0" i="0">
                <a:solidFill>
                  <a:srgbClr val="070154"/>
                </a:solidFill>
                <a:latin typeface="Arial"/>
                <a:ea typeface="Arial"/>
                <a:cs typeface="Arial"/>
              </a:rPr>
              <a:t>Recon agents draft the spec, stories, and tests. QA uses Claude to create tests and diagnose failures.</a:t>
            </a:r>
          </a:p>
        </p:txBody>
      </p:sp>
      <p:sp>
        <p:nvSpPr>
          <p:cNvPr id="143" name="AI Release">
            <a:extLst>
              <a:ext uri="{FF2B5EF4-FFF2-40B4-BE49-F238E27FC236}">
                <a16:creationId xmlns:a16="http://schemas.microsoft.com/office/drawing/2014/main" id="{996B49E0-85D8-5BDD-7FDC-002B21C12006}"/>
              </a:ext>
            </a:extLst>
          </p:cNvPr>
          <p:cNvSpPr/>
          <p:nvPr/>
        </p:nvSpPr>
        <p:spPr>
          <a:xfrm>
            <a:off x="7070999" y="4732600"/>
            <a:ext cx="1512933" cy="600000"/>
          </a:xfrm>
          <a:prstGeom prst="rect">
            <a:avLst/>
          </a:prstGeom>
          <a:solidFill>
            <a:srgbClr val="FFFFFF"/>
          </a:solidFill>
          <a:ln w="9525">
            <a:solidFill>
              <a:srgbClr val="CED7E6"/>
            </a:solidFill>
          </a:ln>
        </p:spPr>
        <p:txBody>
          <a:bodyPr wrap="square" lIns="45720" tIns="45720" rIns="45720" bIns="45720" anchor="ctr">
            <a:noAutofit/>
          </a:bodyPr>
          <a:lstStyle/>
          <a:p>
            <a:pPr>
              <a:lnSpc>
                <a:spcPct val="108000"/>
              </a:lnSpc>
            </a:pPr>
            <a:r>
              <a:rPr lang="en-US" sz="750" b="0" i="0">
                <a:solidFill>
                  <a:srgbClr val="070154"/>
                </a:solidFill>
                <a:latin typeface="Arial"/>
                <a:ea typeface="Arial"/>
                <a:cs typeface="Arial"/>
              </a:rPr>
              <a:t>Delivery Report Agent traces test </a:t>
            </a:r>
            <a:r>
              <a:rPr lang="en-US" sz="750">
                <a:solidFill>
                  <a:srgbClr val="070154"/>
                </a:solidFill>
                <a:latin typeface="Arial"/>
                <a:ea typeface="Arial"/>
                <a:cs typeface="Arial"/>
              </a:rPr>
              <a:t> </a:t>
            </a:r>
            <a:r>
              <a:rPr lang="en-US" sz="750" b="0" i="0">
                <a:solidFill>
                  <a:srgbClr val="070154"/>
                </a:solidFill>
                <a:latin typeface="Arial"/>
                <a:ea typeface="Arial"/>
                <a:cs typeface="Arial"/>
              </a:rPr>
              <a:t>evidence to the spec; Release Agent (paused) drafts release notes.</a:t>
            </a:r>
          </a:p>
        </p:txBody>
      </p:sp>
      <p:sp>
        <p:nvSpPr>
          <p:cNvPr id="144" name="AI None 0">
            <a:extLst>
              <a:ext uri="{FF2B5EF4-FFF2-40B4-BE49-F238E27FC236}">
                <a16:creationId xmlns:a16="http://schemas.microsoft.com/office/drawing/2014/main" id="{716362F2-9FBC-4A38-5720-7C392B1865FE}"/>
              </a:ext>
            </a:extLst>
          </p:cNvPr>
          <p:cNvSpPr/>
          <p:nvPr/>
        </p:nvSpPr>
        <p:spPr>
          <a:xfrm>
            <a:off x="2382200" y="4732600"/>
            <a:ext cx="1512933" cy="600000"/>
          </a:xfrm>
          <a:prstGeom prst="rect">
            <a:avLst/>
          </a:prstGeom>
          <a:noFill/>
          <a:ln w="0">
            <a:noFill/>
          </a:ln>
        </p:spPr>
        <p:txBody>
          <a:bodyPr wrap="square" anchor="ctr">
            <a:noAutofit/>
          </a:bodyPr>
          <a:lstStyle/>
          <a:p>
            <a:pPr algn="ctr">
              <a:lnSpc>
                <a:spcPct val="108000"/>
              </a:lnSpc>
              <a:buNone/>
            </a:pPr>
            <a:r>
              <a:rPr lang="en-US" sz="850" b="0" i="0">
                <a:solidFill>
                  <a:srgbClr val="8A94AD"/>
                </a:solidFill>
                <a:latin typeface="Arial"/>
                <a:ea typeface="Arial"/>
                <a:cs typeface="Arial"/>
              </a:rPr>
              <a:t>—</a:t>
            </a:r>
          </a:p>
        </p:txBody>
      </p:sp>
      <p:sp>
        <p:nvSpPr>
          <p:cNvPr id="145" name="AI None 1">
            <a:extLst>
              <a:ext uri="{FF2B5EF4-FFF2-40B4-BE49-F238E27FC236}">
                <a16:creationId xmlns:a16="http://schemas.microsoft.com/office/drawing/2014/main" id="{0128B811-557B-F998-9694-4CF69960552F}"/>
              </a:ext>
            </a:extLst>
          </p:cNvPr>
          <p:cNvSpPr/>
          <p:nvPr/>
        </p:nvSpPr>
        <p:spPr>
          <a:xfrm>
            <a:off x="3945133" y="4732600"/>
            <a:ext cx="1512933" cy="600000"/>
          </a:xfrm>
          <a:prstGeom prst="rect">
            <a:avLst/>
          </a:prstGeom>
          <a:noFill/>
          <a:ln w="0">
            <a:noFill/>
          </a:ln>
        </p:spPr>
        <p:txBody>
          <a:bodyPr wrap="square" anchor="ctr">
            <a:noAutofit/>
          </a:bodyPr>
          <a:lstStyle/>
          <a:p>
            <a:pPr algn="ctr">
              <a:lnSpc>
                <a:spcPct val="108000"/>
              </a:lnSpc>
              <a:buNone/>
            </a:pPr>
            <a:r>
              <a:rPr lang="en-US" sz="850" b="0" i="0">
                <a:solidFill>
                  <a:srgbClr val="8A94AD"/>
                </a:solidFill>
                <a:latin typeface="Arial"/>
                <a:ea typeface="Arial"/>
                <a:cs typeface="Arial"/>
              </a:rPr>
              <a:t>—</a:t>
            </a:r>
          </a:p>
        </p:txBody>
      </p:sp>
      <p:sp>
        <p:nvSpPr>
          <p:cNvPr id="146" name="AI None 4">
            <a:extLst>
              <a:ext uri="{FF2B5EF4-FFF2-40B4-BE49-F238E27FC236}">
                <a16:creationId xmlns:a16="http://schemas.microsoft.com/office/drawing/2014/main" id="{DF4B9811-21CF-63ED-3068-483EE9306E7F}"/>
              </a:ext>
            </a:extLst>
          </p:cNvPr>
          <p:cNvSpPr/>
          <p:nvPr/>
        </p:nvSpPr>
        <p:spPr>
          <a:xfrm>
            <a:off x="8633932" y="4732600"/>
            <a:ext cx="1512933" cy="600000"/>
          </a:xfrm>
          <a:prstGeom prst="rect">
            <a:avLst/>
          </a:prstGeom>
          <a:noFill/>
          <a:ln w="0">
            <a:noFill/>
          </a:ln>
        </p:spPr>
        <p:txBody>
          <a:bodyPr wrap="square" anchor="ctr">
            <a:noAutofit/>
          </a:bodyPr>
          <a:lstStyle/>
          <a:p>
            <a:pPr algn="ctr">
              <a:lnSpc>
                <a:spcPct val="108000"/>
              </a:lnSpc>
              <a:buNone/>
            </a:pPr>
            <a:r>
              <a:rPr lang="en-US" sz="850" b="0" i="0">
                <a:solidFill>
                  <a:srgbClr val="8A94AD"/>
                </a:solidFill>
                <a:latin typeface="Arial"/>
                <a:ea typeface="Arial"/>
                <a:cs typeface="Arial"/>
              </a:rPr>
              <a:t>—</a:t>
            </a:r>
          </a:p>
        </p:txBody>
      </p:sp>
      <p:sp>
        <p:nvSpPr>
          <p:cNvPr id="147" name="AI None 5">
            <a:extLst>
              <a:ext uri="{FF2B5EF4-FFF2-40B4-BE49-F238E27FC236}">
                <a16:creationId xmlns:a16="http://schemas.microsoft.com/office/drawing/2014/main" id="{B9EB09C9-716E-1A7D-3A7E-EE5060178BBA}"/>
              </a:ext>
            </a:extLst>
          </p:cNvPr>
          <p:cNvSpPr/>
          <p:nvPr/>
        </p:nvSpPr>
        <p:spPr>
          <a:xfrm>
            <a:off x="10196865" y="4732600"/>
            <a:ext cx="1512933" cy="600000"/>
          </a:xfrm>
          <a:prstGeom prst="rect">
            <a:avLst/>
          </a:prstGeom>
          <a:noFill/>
          <a:ln w="0">
            <a:noFill/>
          </a:ln>
        </p:spPr>
        <p:txBody>
          <a:bodyPr wrap="square" anchor="ctr">
            <a:noAutofit/>
          </a:bodyPr>
          <a:lstStyle/>
          <a:p>
            <a:pPr algn="ctr">
              <a:lnSpc>
                <a:spcPct val="108000"/>
              </a:lnSpc>
              <a:buNone/>
            </a:pPr>
            <a:r>
              <a:rPr lang="en-US" sz="850" b="0" i="0">
                <a:solidFill>
                  <a:srgbClr val="8A94AD"/>
                </a:solidFill>
                <a:latin typeface="Arial"/>
                <a:ea typeface="Arial"/>
                <a:cs typeface="Arial"/>
              </a:rPr>
              <a:t>—</a:t>
            </a:r>
          </a:p>
        </p:txBody>
      </p:sp>
      <p:sp>
        <p:nvSpPr>
          <p:cNvPr id="148" name="How To Use">
            <a:extLst>
              <a:ext uri="{FF2B5EF4-FFF2-40B4-BE49-F238E27FC236}">
                <a16:creationId xmlns:a16="http://schemas.microsoft.com/office/drawing/2014/main" id="{51A4ED5F-9F14-EFC3-94E2-178CBE74C545}"/>
              </a:ext>
            </a:extLst>
          </p:cNvPr>
          <p:cNvSpPr/>
          <p:nvPr/>
        </p:nvSpPr>
        <p:spPr>
          <a:xfrm>
            <a:off x="457200" y="5420000"/>
            <a:ext cx="11277600" cy="480000"/>
          </a:xfrm>
          <a:prstGeom prst="rect">
            <a:avLst/>
          </a:prstGeom>
          <a:solidFill>
            <a:srgbClr val="0047FF"/>
          </a:solidFill>
          <a:ln w="0">
            <a:noFill/>
          </a:ln>
        </p:spPr>
        <p:txBody>
          <a:bodyPr wrap="square" anchor="ctr">
            <a:noAutofit/>
          </a:bodyPr>
          <a:lstStyle/>
          <a:p>
            <a:pPr>
              <a:lnSpc>
                <a:spcPct val="108000"/>
              </a:lnSpc>
              <a:buNone/>
            </a:pPr>
            <a:r>
              <a:rPr lang="en-US" sz="950" b="1" i="0">
                <a:solidFill>
                  <a:srgbClr val="FFFFFF"/>
                </a:solidFill>
                <a:latin typeface="Arial"/>
                <a:ea typeface="Arial"/>
                <a:cs typeface="Arial"/>
              </a:rPr>
              <a:t>Working rules:  </a:t>
            </a:r>
            <a:r>
              <a:rPr lang="en-US" sz="850" b="0" i="0">
                <a:solidFill>
                  <a:srgbClr val="FFFFFF"/>
                </a:solidFill>
                <a:latin typeface="Arial"/>
                <a:ea typeface="Arial"/>
                <a:cs typeface="Arial"/>
              </a:rPr>
              <a:t>Decision points, not paperwork: every review ends in Approve, Revise, Hold, or Stop   ·   Link to Jira, design, and test systems; don't copy them   ·   Unknowns stay visible, with an owner and a date   ·   Product and Engineering agree before any customer, scope, or date commitment</a:t>
            </a:r>
          </a:p>
        </p:txBody>
      </p:sp>
    </p:spTree>
    <p:extLst>
      <p:ext uri="{BB962C8B-B14F-4D97-AF65-F5344CB8AC3E}">
        <p14:creationId xmlns:p14="http://schemas.microsoft.com/office/powerpoint/2010/main" val="3292162793"/>
      </p:ext>
    </p:extLst>
  </p:cSld>
  <p:clrMapOvr>
    <a:masterClrMapping/>
  </p:clrMapOvr>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65AB2648-15B7-44D0-92E8-1BD4C6584A16}"/>
              </a:ext>
            </a:extLst>
          </p:cNvPr>
          <p:cNvSpPr>
            <a:spLocks noGrp="1"/>
          </p:cNvSpPr>
          <p:nvPr/>
        </p:nvSpPr>
        <p:spPr>
          <a:xfrm>
            <a:off x="552450" y="304800"/>
            <a:ext cx="7239000" cy="400050"/>
          </a:xfrm>
          <a:prstGeom prst="rect">
            <a:avLst/>
          </a:prstGeom>
          <a:noFill/>
          <a:ln w="0">
            <a:noFill/>
          </a:ln>
        </p:spPr>
        <p:txBody>
          <a:bodyPr lIns="0" tIns="0" rIns="0" bIns="0" anchor="t">
            <a:normAutofit/>
          </a:bodyPr>
          <a:lstStyle/>
          <a:p>
            <a:pPr>
              <a:defRPr sz="2325" b="1">
                <a:solidFill>
                  <a:srgbClr val="070154"/>
                </a:solidFill>
                <a:latin typeface="Arial"/>
                <a:ea typeface="Arial"/>
                <a:cs typeface="Arial"/>
              </a:defRPr>
            </a:pPr>
            <a:r>
              <a:rPr sz="2325" b="1">
                <a:solidFill>
                  <a:srgbClr val="070154"/>
                </a:solidFill>
                <a:latin typeface="Arial"/>
                <a:ea typeface="Arial"/>
                <a:cs typeface="Arial"/>
              </a:rPr>
              <a:t>Artifact ownership matrix</a:t>
            </a:r>
          </a:p>
        </p:txBody>
      </p:sp>
      <p:sp>
        <p:nvSpPr>
          <p:cNvPr id="2" name="subtitle">
            <a:extLst>
              <a:ext uri="{FF2B5EF4-FFF2-40B4-BE49-F238E27FC236}">
                <a16:creationId xmlns:a16="http://schemas.microsoft.com/office/drawing/2014/main" id="{2201ABD3-2263-4C55-A6B1-3BF56C131E48}"/>
              </a:ext>
            </a:extLst>
          </p:cNvPr>
          <p:cNvSpPr>
            <a:spLocks noGrp="1"/>
          </p:cNvSpPr>
          <p:nvPr/>
        </p:nvSpPr>
        <p:spPr>
          <a:xfrm>
            <a:off x="552450" y="762000"/>
            <a:ext cx="8667750" cy="323850"/>
          </a:xfrm>
          <a:prstGeom prst="rect">
            <a:avLst/>
          </a:prstGeom>
          <a:noFill/>
          <a:ln w="0">
            <a:noFill/>
          </a:ln>
        </p:spPr>
        <p:txBody>
          <a:bodyPr lIns="0" tIns="0" rIns="0" bIns="0" anchor="t">
            <a:normAutofit/>
          </a:bodyPr>
          <a:lstStyle/>
          <a:p>
            <a:pPr>
              <a:defRPr sz="1350">
                <a:solidFill>
                  <a:srgbClr val="50658E"/>
                </a:solidFill>
                <a:latin typeface="Arial"/>
                <a:ea typeface="Arial"/>
                <a:cs typeface="Arial"/>
              </a:defRPr>
            </a:pPr>
            <a:r>
              <a:rPr sz="1350">
                <a:solidFill>
                  <a:srgbClr val="50658E"/>
                </a:solidFill>
                <a:latin typeface="Arial"/>
                <a:ea typeface="Arial"/>
                <a:cs typeface="Arial"/>
              </a:rPr>
              <a:t>Use the templates as decision points in the work, not as documents completed after the work is done.</a:t>
            </a:r>
          </a:p>
        </p:txBody>
      </p:sp>
      <p:pic>
        <p:nvPicPr>
          <p:cNvPr id="22" name="Picture 21"/>
          <p:cNvPicPr>
            <a:picLocks noChangeAspect="1"/>
          </p:cNvPicPr>
          <p:nvPr/>
        </p:nvPicPr>
        <p:blipFill>
          <a:blip r:embed="rId4"/>
          <a:stretch/>
        </p:blipFill>
        <p:spPr>
          <a:xfrm>
            <a:off x="10725150" y="271992"/>
            <a:ext cx="1047750" cy="465667"/>
          </a:xfrm>
          <a:prstGeom prst="rect">
            <a:avLst/>
          </a:prstGeom>
        </p:spPr>
      </p:pic>
      <p:sp>
        <p:nvSpPr>
          <p:cNvPr id="4" name="titleRule">
            <a:extLst>
              <a:ext uri="{FF2B5EF4-FFF2-40B4-BE49-F238E27FC236}">
                <a16:creationId xmlns:a16="http://schemas.microsoft.com/office/drawing/2014/main" id="{8D42ABE8-4D4D-4A5B-99D6-7FA4628A01D1}"/>
              </a:ext>
            </a:extLst>
          </p:cNvPr>
          <p:cNvSpPr>
            <a:spLocks noGrp="1"/>
          </p:cNvSpPr>
          <p:nvPr/>
        </p:nvSpPr>
        <p:spPr>
          <a:xfrm>
            <a:off x="552450" y="1257300"/>
            <a:ext cx="11087100" cy="0"/>
          </a:xfrm>
          <a:prstGeom prst="line">
            <a:avLst/>
          </a:prstGeom>
          <a:noFill/>
          <a:ln w="19050">
            <a:solidFill>
              <a:srgbClr val="0047FF"/>
            </a:solidFill>
          </a:ln>
        </p:spPr>
        <p:txBody>
          <a:bodyPr/>
          <a:lstStyle/>
          <a:p>
            <a:endParaRPr lang="en-US"/>
          </a:p>
        </p:txBody>
      </p:sp>
      <p:sp>
        <p:nvSpPr>
          <p:cNvPr id="5" name="modelLabel">
            <a:extLst>
              <a:ext uri="{FF2B5EF4-FFF2-40B4-BE49-F238E27FC236}">
                <a16:creationId xmlns:a16="http://schemas.microsoft.com/office/drawing/2014/main" id="{06735A87-B15E-40B0-AED5-7D3F83B6C052}"/>
              </a:ext>
            </a:extLst>
          </p:cNvPr>
          <p:cNvSpPr>
            <a:spLocks noGrp="1"/>
          </p:cNvSpPr>
          <p:nvPr/>
        </p:nvSpPr>
        <p:spPr>
          <a:xfrm>
            <a:off x="552450" y="1409700"/>
            <a:ext cx="2381250" cy="190500"/>
          </a:xfrm>
          <a:prstGeom prst="rect">
            <a:avLst/>
          </a:prstGeom>
          <a:noFill/>
          <a:ln w="0">
            <a:noFill/>
          </a:ln>
        </p:spPr>
        <p:txBody>
          <a:bodyPr lIns="0" tIns="0" rIns="0" bIns="0" anchor="t">
            <a:normAutofit/>
          </a:bodyPr>
          <a:lstStyle/>
          <a:p>
            <a:pPr>
              <a:defRPr sz="1050" b="1">
                <a:solidFill>
                  <a:srgbClr val="0047FF"/>
                </a:solidFill>
                <a:latin typeface="Arial"/>
                <a:ea typeface="Arial"/>
                <a:cs typeface="Arial"/>
              </a:defRPr>
            </a:pPr>
            <a:r>
              <a:rPr sz="1050" b="1">
                <a:solidFill>
                  <a:srgbClr val="0047FF"/>
                </a:solidFill>
                <a:latin typeface="Arial"/>
                <a:ea typeface="Arial"/>
                <a:cs typeface="Arial"/>
              </a:rPr>
              <a:t>RECOMMENDED ROLE MODEL</a:t>
            </a:r>
          </a:p>
        </p:txBody>
      </p:sp>
      <p:sp>
        <p:nvSpPr>
          <p:cNvPr id="6" name="modelText">
            <a:extLst>
              <a:ext uri="{FF2B5EF4-FFF2-40B4-BE49-F238E27FC236}">
                <a16:creationId xmlns:a16="http://schemas.microsoft.com/office/drawing/2014/main" id="{4D69A548-F603-4530-BD3E-665E425D3EE6}"/>
              </a:ext>
            </a:extLst>
          </p:cNvPr>
          <p:cNvSpPr>
            <a:spLocks noGrp="1"/>
          </p:cNvSpPr>
          <p:nvPr/>
        </p:nvSpPr>
        <p:spPr>
          <a:xfrm>
            <a:off x="552450" y="1619250"/>
            <a:ext cx="7000875" cy="323850"/>
          </a:xfrm>
          <a:prstGeom prst="rect">
            <a:avLst/>
          </a:prstGeom>
          <a:noFill/>
          <a:ln w="0">
            <a:noFill/>
          </a:ln>
        </p:spPr>
        <p:txBody>
          <a:bodyPr lIns="0" tIns="0" rIns="0" bIns="0" anchor="t">
            <a:normAutofit fontScale="92593"/>
          </a:bodyPr>
          <a:lstStyle/>
          <a:p>
            <a:pPr>
              <a:lnSpc>
                <a:spcPct val="102000"/>
              </a:lnSpc>
              <a:buNone/>
              <a:defRPr sz="1125">
                <a:solidFill>
                  <a:srgbClr val="50658E"/>
                </a:solidFill>
                <a:latin typeface="Arial"/>
                <a:ea typeface="Arial"/>
                <a:cs typeface="Arial"/>
              </a:defRPr>
            </a:pPr>
            <a:r>
              <a:rPr sz="1125">
                <a:solidFill>
                  <a:srgbClr val="50658E"/>
                </a:solidFill>
                <a:latin typeface="Arial"/>
                <a:ea typeface="Arial"/>
                <a:cs typeface="Arial"/>
              </a:rPr>
              <a:t>Lead coordinates the artifact. Contributors shape it. Inform roles stay aligned. Approvers decide whether it is ready to move forward.</a:t>
            </a:r>
          </a:p>
        </p:txBody>
      </p:sp>
      <p:sp>
        <p:nvSpPr>
          <p:cNvPr id="7" name="legendL">
            <a:extLst>
              <a:ext uri="{FF2B5EF4-FFF2-40B4-BE49-F238E27FC236}">
                <a16:creationId xmlns:a16="http://schemas.microsoft.com/office/drawing/2014/main" id="{EDFC664A-CF29-4F9D-898A-F69DB527E797}"/>
              </a:ext>
            </a:extLst>
          </p:cNvPr>
          <p:cNvSpPr>
            <a:spLocks noGrp="1"/>
          </p:cNvSpPr>
          <p:nvPr/>
        </p:nvSpPr>
        <p:spPr>
          <a:xfrm>
            <a:off x="7924800" y="1520969"/>
            <a:ext cx="266700" cy="247650"/>
          </a:xfrm>
          <a:prstGeom prst="roundRect">
            <a:avLst>
              <a:gd name="adj" fmla="val 11538"/>
            </a:avLst>
          </a:prstGeom>
          <a:solidFill>
            <a:srgbClr val="CDEFD9"/>
          </a:solidFill>
          <a:ln w="9525">
            <a:solidFill>
              <a:srgbClr val="DCE4F0"/>
            </a:solidFill>
          </a:ln>
        </p:spPr>
        <p:txBody>
          <a:bodyPr lIns="0" tIns="0" rIns="0" bIns="0" anchor="ctr">
            <a:normAutofit/>
          </a:bodyPr>
          <a:lstStyle/>
          <a:p>
            <a:pPr algn="ctr">
              <a:defRPr sz="1200" b="1">
                <a:solidFill>
                  <a:srgbClr val="070154"/>
                </a:solidFill>
                <a:latin typeface="Arial"/>
                <a:ea typeface="Arial"/>
                <a:cs typeface="Arial"/>
              </a:defRPr>
            </a:pPr>
            <a:r>
              <a:rPr sz="1200" b="1">
                <a:solidFill>
                  <a:srgbClr val="070154"/>
                </a:solidFill>
                <a:latin typeface="Arial"/>
                <a:ea typeface="Arial"/>
                <a:cs typeface="Arial"/>
              </a:rPr>
              <a:t>L</a:t>
            </a:r>
          </a:p>
        </p:txBody>
      </p:sp>
      <p:sp>
        <p:nvSpPr>
          <p:cNvPr id="9" name="legendC">
            <a:extLst>
              <a:ext uri="{FF2B5EF4-FFF2-40B4-BE49-F238E27FC236}">
                <a16:creationId xmlns:a16="http://schemas.microsoft.com/office/drawing/2014/main" id="{2E882B7C-8DF1-4182-BDA2-3E4F7CB26792}"/>
              </a:ext>
            </a:extLst>
          </p:cNvPr>
          <p:cNvSpPr>
            <a:spLocks noGrp="1"/>
          </p:cNvSpPr>
          <p:nvPr/>
        </p:nvSpPr>
        <p:spPr>
          <a:xfrm>
            <a:off x="8576562" y="1520969"/>
            <a:ext cx="266700" cy="247650"/>
          </a:xfrm>
          <a:prstGeom prst="roundRect">
            <a:avLst>
              <a:gd name="adj" fmla="val 11538"/>
            </a:avLst>
          </a:prstGeom>
          <a:solidFill>
            <a:srgbClr val="E8EEF8"/>
          </a:solidFill>
          <a:ln w="9525">
            <a:solidFill>
              <a:srgbClr val="DCE4F0"/>
            </a:solidFill>
          </a:ln>
        </p:spPr>
        <p:txBody>
          <a:bodyPr lIns="0" tIns="0" rIns="0" bIns="0" anchor="ctr">
            <a:normAutofit/>
          </a:bodyPr>
          <a:lstStyle/>
          <a:p>
            <a:pPr algn="ctr">
              <a:defRPr sz="1200" b="1">
                <a:solidFill>
                  <a:srgbClr val="070154"/>
                </a:solidFill>
                <a:latin typeface="Arial"/>
                <a:ea typeface="Arial"/>
                <a:cs typeface="Arial"/>
              </a:defRPr>
            </a:pPr>
            <a:r>
              <a:rPr sz="1200" b="1">
                <a:solidFill>
                  <a:srgbClr val="070154"/>
                </a:solidFill>
                <a:latin typeface="Arial"/>
                <a:ea typeface="Arial"/>
                <a:cs typeface="Arial"/>
              </a:rPr>
              <a:t>C</a:t>
            </a:r>
          </a:p>
        </p:txBody>
      </p:sp>
      <p:sp>
        <p:nvSpPr>
          <p:cNvPr id="10" name="legendCLabel">
            <a:extLst>
              <a:ext uri="{FF2B5EF4-FFF2-40B4-BE49-F238E27FC236}">
                <a16:creationId xmlns:a16="http://schemas.microsoft.com/office/drawing/2014/main" id="{D54A2047-61FF-4A8D-A19B-88C39D2D70CF}"/>
              </a:ext>
            </a:extLst>
          </p:cNvPr>
          <p:cNvSpPr>
            <a:spLocks noGrp="1"/>
          </p:cNvSpPr>
          <p:nvPr/>
        </p:nvSpPr>
        <p:spPr>
          <a:xfrm>
            <a:off x="8889453" y="1583747"/>
            <a:ext cx="587087" cy="188767"/>
          </a:xfrm>
          <a:prstGeom prst="rect">
            <a:avLst/>
          </a:prstGeom>
          <a:noFill/>
          <a:ln w="0">
            <a:noFill/>
          </a:ln>
        </p:spPr>
        <p:txBody>
          <a:bodyPr lIns="0" tIns="0" rIns="0" bIns="0" anchor="t">
            <a:normAutofit/>
          </a:bodyPr>
          <a:lstStyle/>
          <a:p>
            <a:pPr>
              <a:defRPr sz="975">
                <a:solidFill>
                  <a:srgbClr val="50658E"/>
                </a:solidFill>
                <a:latin typeface="Arial"/>
                <a:ea typeface="Arial"/>
                <a:cs typeface="Arial"/>
              </a:defRPr>
            </a:pPr>
            <a:r>
              <a:rPr sz="975">
                <a:solidFill>
                  <a:srgbClr val="50658E"/>
                </a:solidFill>
                <a:latin typeface="Arial"/>
                <a:ea typeface="Arial"/>
                <a:cs typeface="Arial"/>
              </a:rPr>
              <a:t>Contribute</a:t>
            </a:r>
          </a:p>
        </p:txBody>
      </p:sp>
      <p:sp>
        <p:nvSpPr>
          <p:cNvPr id="13" name="legendA">
            <a:extLst>
              <a:ext uri="{FF2B5EF4-FFF2-40B4-BE49-F238E27FC236}">
                <a16:creationId xmlns:a16="http://schemas.microsoft.com/office/drawing/2014/main" id="{7718EED3-B4A0-47AE-ABD6-6051117EEB51}"/>
              </a:ext>
            </a:extLst>
          </p:cNvPr>
          <p:cNvSpPr>
            <a:spLocks noGrp="1"/>
          </p:cNvSpPr>
          <p:nvPr/>
        </p:nvSpPr>
        <p:spPr>
          <a:xfrm>
            <a:off x="9561699" y="1520969"/>
            <a:ext cx="266700" cy="247650"/>
          </a:xfrm>
          <a:prstGeom prst="roundRect">
            <a:avLst>
              <a:gd name="adj" fmla="val 11538"/>
            </a:avLst>
          </a:prstGeom>
          <a:solidFill>
            <a:srgbClr val="FFF0BE"/>
          </a:solidFill>
          <a:ln w="9525">
            <a:solidFill>
              <a:srgbClr val="DCE4F0"/>
            </a:solidFill>
          </a:ln>
        </p:spPr>
        <p:txBody>
          <a:bodyPr lIns="0" tIns="0" rIns="0" bIns="0" anchor="ctr">
            <a:normAutofit/>
          </a:bodyPr>
          <a:lstStyle/>
          <a:p>
            <a:pPr algn="ctr">
              <a:defRPr sz="1200" b="1">
                <a:solidFill>
                  <a:srgbClr val="070154"/>
                </a:solidFill>
                <a:latin typeface="Arial"/>
                <a:ea typeface="Arial"/>
                <a:cs typeface="Arial"/>
              </a:defRPr>
            </a:pPr>
            <a:r>
              <a:rPr sz="1200" b="1">
                <a:solidFill>
                  <a:srgbClr val="070154"/>
                </a:solidFill>
                <a:latin typeface="Arial"/>
                <a:ea typeface="Arial"/>
                <a:cs typeface="Arial"/>
              </a:rPr>
              <a:t>A</a:t>
            </a:r>
          </a:p>
        </p:txBody>
      </p:sp>
      <p:sp>
        <p:nvSpPr>
          <p:cNvPr id="14" name="legendALabel">
            <a:extLst>
              <a:ext uri="{FF2B5EF4-FFF2-40B4-BE49-F238E27FC236}">
                <a16:creationId xmlns:a16="http://schemas.microsoft.com/office/drawing/2014/main" id="{9A4025EE-DE78-4AF1-9054-58B27AF2EFBD}"/>
              </a:ext>
            </a:extLst>
          </p:cNvPr>
          <p:cNvSpPr>
            <a:spLocks noGrp="1"/>
          </p:cNvSpPr>
          <p:nvPr/>
        </p:nvSpPr>
        <p:spPr>
          <a:xfrm>
            <a:off x="9878920" y="1588077"/>
            <a:ext cx="543791" cy="180108"/>
          </a:xfrm>
          <a:prstGeom prst="rect">
            <a:avLst/>
          </a:prstGeom>
          <a:noFill/>
          <a:ln w="0">
            <a:noFill/>
          </a:ln>
        </p:spPr>
        <p:txBody>
          <a:bodyPr lIns="0" tIns="0" rIns="0" bIns="0" anchor="t">
            <a:normAutofit/>
          </a:bodyPr>
          <a:lstStyle/>
          <a:p>
            <a:pPr>
              <a:defRPr sz="975">
                <a:solidFill>
                  <a:srgbClr val="50658E"/>
                </a:solidFill>
                <a:latin typeface="Arial"/>
                <a:ea typeface="Arial"/>
                <a:cs typeface="Arial"/>
              </a:defRPr>
            </a:pPr>
            <a:r>
              <a:rPr sz="975">
                <a:solidFill>
                  <a:srgbClr val="50658E"/>
                </a:solidFill>
                <a:latin typeface="Arial"/>
                <a:ea typeface="Arial"/>
                <a:cs typeface="Arial"/>
              </a:rPr>
              <a:t>Approve</a:t>
            </a:r>
          </a:p>
        </p:txBody>
      </p:sp>
      <p:graphicFrame>
        <p:nvGraphicFramePr>
          <p:cNvPr id="34" name="Table 33"/>
          <p:cNvGraphicFramePr/>
          <p:nvPr>
            <p:extLst>
              <p:ext uri="{D42A27DB-BD31-4B8C-83A1-F6EECF244321}">
                <p14:modId xmlns:p14="http://schemas.microsoft.com/office/powerpoint/2010/main" val="3550175027"/>
              </p:ext>
            </p:extLst>
          </p:nvPr>
        </p:nvGraphicFramePr>
        <p:xfrm>
          <a:off x="552450" y="1971674"/>
          <a:ext cx="11087100" cy="4057650"/>
        </p:xfrm>
        <a:graphic>
          <a:graphicData uri="http://schemas.openxmlformats.org/drawingml/2006/table">
            <a:tbl>
              <a:tblPr/>
              <a:tblGrid>
                <a:gridCol w="2266950">
                  <a:extLst>
                    <a:ext uri="{9D8B030D-6E8A-4147-A177-3AD203B41FA5}">
                      <a16:colId xmlns:a16="http://schemas.microsoft.com/office/drawing/2014/main" val="20000"/>
                    </a:ext>
                  </a:extLst>
                </a:gridCol>
                <a:gridCol w="1352550">
                  <a:extLst>
                    <a:ext uri="{9D8B030D-6E8A-4147-A177-3AD203B41FA5}">
                      <a16:colId xmlns:a16="http://schemas.microsoft.com/office/drawing/2014/main" val="20001"/>
                    </a:ext>
                  </a:extLst>
                </a:gridCol>
                <a:gridCol w="1352550">
                  <a:extLst>
                    <a:ext uri="{9D8B030D-6E8A-4147-A177-3AD203B41FA5}">
                      <a16:colId xmlns:a16="http://schemas.microsoft.com/office/drawing/2014/main" val="20002"/>
                    </a:ext>
                  </a:extLst>
                </a:gridCol>
                <a:gridCol w="1352550">
                  <a:extLst>
                    <a:ext uri="{9D8B030D-6E8A-4147-A177-3AD203B41FA5}">
                      <a16:colId xmlns:a16="http://schemas.microsoft.com/office/drawing/2014/main" val="20003"/>
                    </a:ext>
                  </a:extLst>
                </a:gridCol>
                <a:gridCol w="1476375">
                  <a:extLst>
                    <a:ext uri="{9D8B030D-6E8A-4147-A177-3AD203B41FA5}">
                      <a16:colId xmlns:a16="http://schemas.microsoft.com/office/drawing/2014/main" val="20004"/>
                    </a:ext>
                  </a:extLst>
                </a:gridCol>
                <a:gridCol w="1581150">
                  <a:extLst>
                    <a:ext uri="{9D8B030D-6E8A-4147-A177-3AD203B41FA5}">
                      <a16:colId xmlns:a16="http://schemas.microsoft.com/office/drawing/2014/main" val="20005"/>
                    </a:ext>
                  </a:extLst>
                </a:gridCol>
                <a:gridCol w="1704975">
                  <a:extLst>
                    <a:ext uri="{9D8B030D-6E8A-4147-A177-3AD203B41FA5}">
                      <a16:colId xmlns:a16="http://schemas.microsoft.com/office/drawing/2014/main" val="20006"/>
                    </a:ext>
                  </a:extLst>
                </a:gridCol>
              </a:tblGrid>
              <a:tr h="628650">
                <a:tc>
                  <a:txBody>
                    <a:bodyPr/>
                    <a:lstStyle/>
                    <a:p>
                      <a:pPr algn="ctr"/>
                      <a:r>
                        <a:rPr sz="1050" b="1">
                          <a:solidFill>
                            <a:srgbClr val="FFFFFF"/>
                          </a:solidFill>
                          <a:latin typeface="Arial"/>
                          <a:ea typeface="Arial"/>
                          <a:cs typeface="Arial"/>
                        </a:rPr>
                        <a:t>Role / stakeholder</a:t>
                      </a:r>
                    </a:p>
                  </a:txBody>
                  <a:tcPr anchor="ctr">
                    <a:solidFill>
                      <a:srgbClr val="070154"/>
                    </a:solidFill>
                  </a:tcPr>
                </a:tc>
                <a:tc>
                  <a:txBody>
                    <a:bodyPr/>
                    <a:lstStyle/>
                    <a:p>
                      <a:pPr algn="ctr"/>
                      <a:r>
                        <a:rPr sz="1050" b="1">
                          <a:solidFill>
                            <a:srgbClr val="FFFFFF"/>
                          </a:solidFill>
                          <a:latin typeface="Arial"/>
                          <a:ea typeface="Arial"/>
                          <a:cs typeface="Arial"/>
                        </a:rPr>
                        <a:t>Opportunity Brief</a:t>
                      </a:r>
                    </a:p>
                  </a:txBody>
                  <a:tcPr anchor="ctr">
                    <a:solidFill>
                      <a:srgbClr val="070154"/>
                    </a:solidFill>
                  </a:tcPr>
                </a:tc>
                <a:tc>
                  <a:txBody>
                    <a:bodyPr/>
                    <a:lstStyle/>
                    <a:p>
                      <a:pPr algn="ctr"/>
                      <a:r>
                        <a:rPr sz="1050" b="1">
                          <a:solidFill>
                            <a:srgbClr val="FFFFFF"/>
                          </a:solidFill>
                          <a:latin typeface="Arial"/>
                          <a:ea typeface="Arial"/>
                          <a:cs typeface="Arial"/>
                        </a:rPr>
                        <a:t>Product Brief</a:t>
                      </a:r>
                    </a:p>
                  </a:txBody>
                  <a:tcPr anchor="ctr">
                    <a:solidFill>
                      <a:srgbClr val="070154"/>
                    </a:solidFill>
                  </a:tcPr>
                </a:tc>
                <a:tc>
                  <a:txBody>
                    <a:bodyPr/>
                    <a:lstStyle/>
                    <a:p>
                      <a:pPr algn="ctr"/>
                      <a:r>
                        <a:rPr sz="1050" b="1">
                          <a:solidFill>
                            <a:srgbClr val="FFFFFF"/>
                          </a:solidFill>
                          <a:latin typeface="Arial"/>
                          <a:ea typeface="Arial"/>
                          <a:cs typeface="Arial"/>
                        </a:rPr>
                        <a:t>Feature Brief</a:t>
                      </a:r>
                    </a:p>
                  </a:txBody>
                  <a:tcPr anchor="ctr">
                    <a:solidFill>
                      <a:srgbClr val="070154"/>
                    </a:solidFill>
                  </a:tcPr>
                </a:tc>
                <a:tc>
                  <a:txBody>
                    <a:bodyPr/>
                    <a:lstStyle/>
                    <a:p>
                      <a:pPr algn="ctr"/>
                      <a:r>
                        <a:rPr sz="1050" b="1">
                          <a:solidFill>
                            <a:srgbClr val="FFFFFF"/>
                          </a:solidFill>
                          <a:latin typeface="Arial"/>
                          <a:ea typeface="Arial"/>
                          <a:cs typeface="Arial"/>
                        </a:rPr>
                        <a:t>Technical Implementation Plan</a:t>
                      </a:r>
                    </a:p>
                  </a:txBody>
                  <a:tcPr anchor="ctr">
                    <a:solidFill>
                      <a:srgbClr val="070154"/>
                    </a:solidFill>
                  </a:tcPr>
                </a:tc>
                <a:tc>
                  <a:txBody>
                    <a:bodyPr/>
                    <a:lstStyle/>
                    <a:p>
                      <a:pPr algn="ctr"/>
                      <a:r>
                        <a:rPr sz="1050" b="1">
                          <a:solidFill>
                            <a:srgbClr val="FFFFFF"/>
                          </a:solidFill>
                          <a:latin typeface="Arial"/>
                          <a:ea typeface="Arial"/>
                          <a:cs typeface="Arial"/>
                        </a:rPr>
                        <a:t>Testing / QA / UAT Plan</a:t>
                      </a:r>
                    </a:p>
                  </a:txBody>
                  <a:tcPr anchor="ctr">
                    <a:solidFill>
                      <a:srgbClr val="070154"/>
                    </a:solidFill>
                  </a:tcPr>
                </a:tc>
                <a:tc>
                  <a:txBody>
                    <a:bodyPr/>
                    <a:lstStyle/>
                    <a:p>
                      <a:pPr algn="ctr"/>
                      <a:r>
                        <a:rPr sz="1050" b="1">
                          <a:solidFill>
                            <a:srgbClr val="FFFFFF"/>
                          </a:solidFill>
                          <a:latin typeface="Arial"/>
                          <a:ea typeface="Arial"/>
                          <a:cs typeface="Arial"/>
                        </a:rPr>
                        <a:t>Initial Release / GTM Plan</a:t>
                      </a:r>
                    </a:p>
                  </a:txBody>
                  <a:tcPr anchor="ctr">
                    <a:solidFill>
                      <a:srgbClr val="070154"/>
                    </a:solidFill>
                  </a:tcPr>
                </a:tc>
                <a:extLst>
                  <a:ext uri="{0D108BD9-81ED-4DB2-BD59-A6C34878D82A}">
                    <a16:rowId xmlns:a16="http://schemas.microsoft.com/office/drawing/2014/main" val="10000"/>
                  </a:ext>
                </a:extLst>
              </a:tr>
              <a:tr h="381000">
                <a:tc>
                  <a:txBody>
                    <a:bodyPr/>
                    <a:lstStyle/>
                    <a:p>
                      <a:pPr algn="l"/>
                      <a:r>
                        <a:rPr lang="en-US" sz="950" b="1">
                          <a:solidFill>
                            <a:srgbClr val="070154"/>
                          </a:solidFill>
                          <a:latin typeface="Arial"/>
                          <a:ea typeface="Arial"/>
                          <a:cs typeface="Arial"/>
                        </a:rPr>
                        <a:t>Product Manager / Product Lead</a:t>
                      </a:r>
                    </a:p>
                  </a:txBody>
                  <a:tcPr anchor="ctr">
                    <a:solidFill>
                      <a:srgbClr val="E8EEF8"/>
                    </a:solidFill>
                  </a:tcPr>
                </a:tc>
                <a:tc>
                  <a:txBody>
                    <a:bodyPr/>
                    <a:lstStyle/>
                    <a:p>
                      <a:pPr algn="ctr"/>
                      <a:r>
                        <a:rPr sz="1350" b="1">
                          <a:solidFill>
                            <a:srgbClr val="070154"/>
                          </a:solidFill>
                          <a:latin typeface="Arial"/>
                          <a:ea typeface="Arial"/>
                          <a:cs typeface="Arial"/>
                        </a:rPr>
                        <a:t>L</a:t>
                      </a:r>
                    </a:p>
                  </a:txBody>
                  <a:tcPr anchor="ctr">
                    <a:solidFill>
                      <a:srgbClr val="CDEFD9"/>
                    </a:solidFill>
                  </a:tcPr>
                </a:tc>
                <a:tc>
                  <a:txBody>
                    <a:bodyPr/>
                    <a:lstStyle/>
                    <a:p>
                      <a:pPr algn="ctr"/>
                      <a:r>
                        <a:rPr sz="1350" b="1">
                          <a:solidFill>
                            <a:srgbClr val="070154"/>
                          </a:solidFill>
                          <a:latin typeface="Arial"/>
                          <a:ea typeface="Arial"/>
                          <a:cs typeface="Arial"/>
                        </a:rPr>
                        <a:t>L</a:t>
                      </a:r>
                    </a:p>
                  </a:txBody>
                  <a:tcPr anchor="ctr">
                    <a:solidFill>
                      <a:srgbClr val="CDEFD9"/>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L</a:t>
                      </a:r>
                    </a:p>
                  </a:txBody>
                  <a:tcPr anchor="ctr">
                    <a:solidFill>
                      <a:srgbClr val="CDEFD9"/>
                    </a:solidFill>
                  </a:tcPr>
                </a:tc>
                <a:extLst>
                  <a:ext uri="{0D108BD9-81ED-4DB2-BD59-A6C34878D82A}">
                    <a16:rowId xmlns:a16="http://schemas.microsoft.com/office/drawing/2014/main" val="10001"/>
                  </a:ext>
                </a:extLst>
              </a:tr>
              <a:tr h="381000">
                <a:tc>
                  <a:txBody>
                    <a:bodyPr/>
                    <a:lstStyle/>
                    <a:p>
                      <a:pPr algn="l"/>
                      <a:r>
                        <a:rPr lang="en-US" sz="950" b="1">
                          <a:solidFill>
                            <a:srgbClr val="070154"/>
                          </a:solidFill>
                          <a:latin typeface="Arial"/>
                          <a:ea typeface="Arial"/>
                          <a:cs typeface="Arial"/>
                        </a:rPr>
                        <a:t>Business / Initiative Sponsor</a:t>
                      </a:r>
                    </a:p>
                  </a:txBody>
                  <a:tcPr anchor="ctr">
                    <a:solidFill>
                      <a:srgbClr val="E8EEF8"/>
                    </a:solidFill>
                  </a:tcPr>
                </a:tc>
                <a:tc>
                  <a:txBody>
                    <a:bodyPr/>
                    <a:lstStyle/>
                    <a:p>
                      <a:pPr algn="ctr"/>
                      <a:r>
                        <a:rPr sz="1350" b="1">
                          <a:solidFill>
                            <a:srgbClr val="070154"/>
                          </a:solidFill>
                          <a:latin typeface="Arial"/>
                          <a:ea typeface="Arial"/>
                          <a:cs typeface="Arial"/>
                        </a:rPr>
                        <a:t>A</a:t>
                      </a:r>
                    </a:p>
                  </a:txBody>
                  <a:tcPr anchor="ctr">
                    <a:solidFill>
                      <a:srgbClr val="FFF0BE"/>
                    </a:solidFill>
                  </a:tcPr>
                </a:tc>
                <a:tc>
                  <a:txBody>
                    <a:bodyPr/>
                    <a:lstStyle/>
                    <a:p>
                      <a:pPr algn="ctr"/>
                      <a:r>
                        <a:rPr sz="1350" b="1">
                          <a:solidFill>
                            <a:srgbClr val="070154"/>
                          </a:solidFill>
                          <a:latin typeface="Arial"/>
                          <a:ea typeface="Arial"/>
                          <a:cs typeface="Arial"/>
                        </a:rPr>
                        <a:t>A</a:t>
                      </a:r>
                    </a:p>
                  </a:txBody>
                  <a:tcPr anchor="ctr">
                    <a:solidFill>
                      <a:srgbClr val="FFF0BE"/>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A</a:t>
                      </a:r>
                    </a:p>
                  </a:txBody>
                  <a:tcPr anchor="ctr">
                    <a:solidFill>
                      <a:srgbClr val="FFF0BE"/>
                    </a:solidFill>
                  </a:tcPr>
                </a:tc>
                <a:extLst>
                  <a:ext uri="{0D108BD9-81ED-4DB2-BD59-A6C34878D82A}">
                    <a16:rowId xmlns:a16="http://schemas.microsoft.com/office/drawing/2014/main" val="10002"/>
                  </a:ext>
                </a:extLst>
              </a:tr>
              <a:tr h="381000">
                <a:tc>
                  <a:txBody>
                    <a:bodyPr/>
                    <a:lstStyle/>
                    <a:p>
                      <a:pPr algn="l"/>
                      <a:r>
                        <a:rPr lang="en-US" sz="950" b="1">
                          <a:solidFill>
                            <a:srgbClr val="070154"/>
                          </a:solidFill>
                          <a:latin typeface="Arial"/>
                          <a:ea typeface="Arial"/>
                          <a:cs typeface="Arial"/>
                        </a:rPr>
                        <a:t>Product Owner / Delivery Lead</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L</a:t>
                      </a:r>
                    </a:p>
                  </a:txBody>
                  <a:tcPr anchor="ctr">
                    <a:solidFill>
                      <a:srgbClr val="CDEFD9"/>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extLst>
                  <a:ext uri="{0D108BD9-81ED-4DB2-BD59-A6C34878D82A}">
                    <a16:rowId xmlns:a16="http://schemas.microsoft.com/office/drawing/2014/main" val="10003"/>
                  </a:ext>
                </a:extLst>
              </a:tr>
              <a:tr h="381000">
                <a:tc>
                  <a:txBody>
                    <a:bodyPr/>
                    <a:lstStyle/>
                    <a:p>
                      <a:pPr algn="l"/>
                      <a:r>
                        <a:rPr lang="en-US" sz="950" b="1">
                          <a:solidFill>
                            <a:srgbClr val="070154"/>
                          </a:solidFill>
                          <a:latin typeface="Arial"/>
                          <a:ea typeface="Arial"/>
                          <a:cs typeface="Arial"/>
                        </a:rPr>
                        <a:t>UX / Design</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extLst>
                  <a:ext uri="{0D108BD9-81ED-4DB2-BD59-A6C34878D82A}">
                    <a16:rowId xmlns:a16="http://schemas.microsoft.com/office/drawing/2014/main" val="10004"/>
                  </a:ext>
                </a:extLst>
              </a:tr>
              <a:tr h="381000">
                <a:tc>
                  <a:txBody>
                    <a:bodyPr/>
                    <a:lstStyle/>
                    <a:p>
                      <a:pPr algn="l"/>
                      <a:r>
                        <a:rPr lang="en-US" sz="950" b="1">
                          <a:solidFill>
                            <a:srgbClr val="070154"/>
                          </a:solidFill>
                          <a:latin typeface="Arial"/>
                          <a:ea typeface="Arial"/>
                          <a:cs typeface="Arial"/>
                        </a:rPr>
                        <a:t>Engineering Lead / Architect</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L</a:t>
                      </a:r>
                    </a:p>
                  </a:txBody>
                  <a:tcPr anchor="ctr">
                    <a:solidFill>
                      <a:srgbClr val="CDEFD9"/>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extLst>
                  <a:ext uri="{0D108BD9-81ED-4DB2-BD59-A6C34878D82A}">
                    <a16:rowId xmlns:a16="http://schemas.microsoft.com/office/drawing/2014/main" val="10005"/>
                  </a:ext>
                </a:extLst>
              </a:tr>
              <a:tr h="381000">
                <a:tc>
                  <a:txBody>
                    <a:bodyPr/>
                    <a:lstStyle/>
                    <a:p>
                      <a:pPr algn="l"/>
                      <a:r>
                        <a:rPr lang="en-US" sz="950" b="1">
                          <a:solidFill>
                            <a:srgbClr val="070154"/>
                          </a:solidFill>
                          <a:latin typeface="Arial"/>
                          <a:ea typeface="Arial"/>
                          <a:cs typeface="Arial"/>
                        </a:rPr>
                        <a:t>QA / UAT</a:t>
                      </a:r>
                    </a:p>
                  </a:txBody>
                  <a:tcPr anchor="ctr">
                    <a:solidFill>
                      <a:srgbClr val="E8EEF8"/>
                    </a:solidFill>
                  </a:tcPr>
                </a:tc>
                <a:tc>
                  <a:txBody>
                    <a:bodyPr/>
                    <a:lstStyle/>
                    <a:p>
                      <a:pPr lvl="0" algn="ctr">
                        <a:buNone/>
                      </a:pPr>
                      <a:r>
                        <a:rPr lang="en-US" sz="1350" b="1">
                          <a:solidFill>
                            <a:srgbClr val="070154"/>
                          </a:solidFill>
                          <a:latin typeface="Arial"/>
                          <a:cs typeface="Arial"/>
                        </a:rPr>
                        <a:t>C</a:t>
                      </a:r>
                      <a:endParaRPr lang="en-US"/>
                    </a:p>
                  </a:txBody>
                  <a:tcPr anchor="ctr">
                    <a:solidFill>
                      <a:srgbClr val="E8EEF8"/>
                    </a:solidFill>
                  </a:tcPr>
                </a:tc>
                <a:tc>
                  <a:txBody>
                    <a:bodyPr/>
                    <a:lstStyle/>
                    <a:p>
                      <a:pPr lvl="0" algn="ctr">
                        <a:buNone/>
                      </a:pPr>
                      <a:r>
                        <a:rPr lang="en-US" sz="1350" b="1">
                          <a:solidFill>
                            <a:srgbClr val="070154"/>
                          </a:solidFill>
                          <a:latin typeface="Arial"/>
                          <a:cs typeface="Arial"/>
                        </a:rPr>
                        <a:t>C</a:t>
                      </a:r>
                      <a:endParaRPr lang="en-US"/>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L</a:t>
                      </a:r>
                    </a:p>
                  </a:txBody>
                  <a:tcPr anchor="ctr">
                    <a:solidFill>
                      <a:srgbClr val="CDEFD9"/>
                    </a:solidFill>
                  </a:tcPr>
                </a:tc>
                <a:tc>
                  <a:txBody>
                    <a:bodyPr/>
                    <a:lstStyle/>
                    <a:p>
                      <a:pPr algn="ctr"/>
                      <a:r>
                        <a:rPr sz="1350" b="1">
                          <a:solidFill>
                            <a:srgbClr val="070154"/>
                          </a:solidFill>
                          <a:latin typeface="Arial"/>
                          <a:ea typeface="Arial"/>
                          <a:cs typeface="Arial"/>
                        </a:rPr>
                        <a:t>C</a:t>
                      </a:r>
                    </a:p>
                  </a:txBody>
                  <a:tcPr anchor="ctr">
                    <a:solidFill>
                      <a:srgbClr val="E8EEF8"/>
                    </a:solidFill>
                  </a:tcPr>
                </a:tc>
                <a:extLst>
                  <a:ext uri="{0D108BD9-81ED-4DB2-BD59-A6C34878D82A}">
                    <a16:rowId xmlns:a16="http://schemas.microsoft.com/office/drawing/2014/main" val="10006"/>
                  </a:ext>
                </a:extLst>
              </a:tr>
              <a:tr h="381000">
                <a:tc>
                  <a:txBody>
                    <a:bodyPr/>
                    <a:lstStyle/>
                    <a:p>
                      <a:pPr algn="l"/>
                      <a:r>
                        <a:rPr lang="en-US" sz="950" b="1">
                          <a:solidFill>
                            <a:srgbClr val="070154"/>
                          </a:solidFill>
                          <a:latin typeface="Arial"/>
                          <a:ea typeface="Arial"/>
                          <a:cs typeface="Arial"/>
                        </a:rPr>
                        <a:t>Release / Operations</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A</a:t>
                      </a:r>
                    </a:p>
                  </a:txBody>
                  <a:tcPr anchor="ctr">
                    <a:solidFill>
                      <a:srgbClr val="FFF0BE"/>
                    </a:solidFill>
                  </a:tcPr>
                </a:tc>
                <a:extLst>
                  <a:ext uri="{0D108BD9-81ED-4DB2-BD59-A6C34878D82A}">
                    <a16:rowId xmlns:a16="http://schemas.microsoft.com/office/drawing/2014/main" val="10007"/>
                  </a:ext>
                </a:extLst>
              </a:tr>
              <a:tr h="381000">
                <a:tc>
                  <a:txBody>
                    <a:bodyPr/>
                    <a:lstStyle/>
                    <a:p>
                      <a:pPr algn="l"/>
                      <a:r>
                        <a:rPr lang="en-US" sz="950" b="1">
                          <a:solidFill>
                            <a:srgbClr val="070154"/>
                          </a:solidFill>
                          <a:latin typeface="Arial"/>
                          <a:ea typeface="Arial"/>
                          <a:cs typeface="Arial"/>
                        </a:rPr>
                        <a:t>Sales / Customer Success</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extLst>
                  <a:ext uri="{0D108BD9-81ED-4DB2-BD59-A6C34878D82A}">
                    <a16:rowId xmlns:a16="http://schemas.microsoft.com/office/drawing/2014/main" val="10008"/>
                  </a:ext>
                </a:extLst>
              </a:tr>
              <a:tr h="381000">
                <a:tc>
                  <a:txBody>
                    <a:bodyPr/>
                    <a:lstStyle/>
                    <a:p>
                      <a:pPr algn="l"/>
                      <a:r>
                        <a:rPr lang="en-US" sz="950" b="1">
                          <a:solidFill>
                            <a:srgbClr val="070154"/>
                          </a:solidFill>
                          <a:latin typeface="Arial"/>
                          <a:ea typeface="Arial"/>
                          <a:cs typeface="Arial"/>
                        </a:rPr>
                        <a:t>Leadership</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tc>
                  <a:txBody>
                    <a:bodyPr/>
                    <a:lstStyle/>
                    <a:p>
                      <a:pPr lvl="0" algn="ctr">
                        <a:buNone/>
                      </a:pPr>
                      <a:r>
                        <a:rPr lang="en-US" sz="1350" b="1">
                          <a:solidFill>
                            <a:srgbClr val="070154"/>
                          </a:solidFill>
                          <a:latin typeface="Arial"/>
                          <a:ea typeface="Arial"/>
                          <a:cs typeface="Arial"/>
                        </a:rPr>
                        <a:t>C</a:t>
                      </a:r>
                    </a:p>
                  </a:txBody>
                  <a:tcPr anchor="ctr">
                    <a:solidFill>
                      <a:srgbClr val="E8EEF8"/>
                    </a:solidFill>
                  </a:tcPr>
                </a:tc>
                <a:extLst>
                  <a:ext uri="{0D108BD9-81ED-4DB2-BD59-A6C34878D82A}">
                    <a16:rowId xmlns:a16="http://schemas.microsoft.com/office/drawing/2014/main" val="10009"/>
                  </a:ext>
                </a:extLst>
              </a:tr>
            </a:tbl>
          </a:graphicData>
        </a:graphic>
      </p:graphicFrame>
      <p:sp>
        <p:nvSpPr>
          <p:cNvPr id="18" name="legendCLabel">
            <a:extLst>
              <a:ext uri="{FF2B5EF4-FFF2-40B4-BE49-F238E27FC236}">
                <a16:creationId xmlns:a16="http://schemas.microsoft.com/office/drawing/2014/main" id="{EEBBE8DE-704B-A25C-536F-D3D85B19EA7A}"/>
              </a:ext>
            </a:extLst>
          </p:cNvPr>
          <p:cNvSpPr>
            <a:spLocks noGrp="1"/>
          </p:cNvSpPr>
          <p:nvPr/>
        </p:nvSpPr>
        <p:spPr>
          <a:xfrm>
            <a:off x="8218374" y="1583747"/>
            <a:ext cx="587087" cy="188767"/>
          </a:xfrm>
          <a:prstGeom prst="rect">
            <a:avLst/>
          </a:prstGeom>
          <a:noFill/>
          <a:ln w="0">
            <a:noFill/>
          </a:ln>
        </p:spPr>
        <p:txBody>
          <a:bodyPr lIns="0" tIns="0" rIns="0" bIns="0" anchor="t">
            <a:normAutofit/>
          </a:bodyPr>
          <a:lstStyle/>
          <a:p>
            <a:pPr>
              <a:defRPr sz="975">
                <a:solidFill>
                  <a:srgbClr val="50658E"/>
                </a:solidFill>
                <a:latin typeface="Arial"/>
                <a:ea typeface="Arial"/>
                <a:cs typeface="Arial"/>
              </a:defRPr>
            </a:pPr>
            <a:r>
              <a:rPr lang="en-US" sz="950">
                <a:solidFill>
                  <a:srgbClr val="50658E"/>
                </a:solidFill>
                <a:latin typeface="Arial"/>
                <a:ea typeface="Arial"/>
                <a:cs typeface="Arial"/>
              </a:rPr>
              <a:t>Lead</a:t>
            </a:r>
            <a:endParaRPr sz="975">
              <a:solidFill>
                <a:srgbClr val="50658E"/>
              </a:solidFill>
              <a:latin typeface="Arial"/>
              <a:ea typeface="Arial"/>
              <a:cs typeface="Arial"/>
            </a:endParaRPr>
          </a:p>
        </p:txBody>
      </p:sp>
      <p:sp>
        <p:nvSpPr>
          <p:cNvPr id="3" name="Footer Placeholder 1">
            <a:extLst>
              <a:ext uri="{FF2B5EF4-FFF2-40B4-BE49-F238E27FC236}">
                <a16:creationId xmlns:a16="http://schemas.microsoft.com/office/drawing/2014/main" id="{B1D2B91F-91B1-1E74-8E08-F5437BA57ECC}"/>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8" name="Slide Number Placeholder 2">
            <a:extLst>
              <a:ext uri="{FF2B5EF4-FFF2-40B4-BE49-F238E27FC236}">
                <a16:creationId xmlns:a16="http://schemas.microsoft.com/office/drawing/2014/main" id="{87514A12-D05D-6268-415B-EE0F5945241F}"/>
              </a:ext>
            </a:extLst>
          </p:cNvPr>
          <p:cNvSpPr>
            <a:spLocks noGrp="1"/>
          </p:cNvSpPr>
          <p:nvPr>
            <p:ph type="sldNum" idx="11"/>
          </p:nvPr>
        </p:nvSpPr>
        <p:spPr>
          <a:xfrm>
            <a:off x="11509578" y="6400799"/>
            <a:ext cx="218871" cy="167949"/>
          </a:xfrm>
        </p:spPr>
        <p:txBody>
          <a:bodyPr/>
          <a:lstStyle/>
          <a:p>
            <a:fld id="{63DCA5C9-2E11-4C67-86EB-AE1DE127DC64}" type="slidenum">
              <a:rPr lang="en-US" smtClean="0"/>
              <a:t>36</a:t>
            </a:fld>
            <a:endParaRPr lang="en-US"/>
          </a:p>
        </p:txBody>
      </p:sp>
    </p:spTree>
    <p:extLst>
      <p:ext uri="{BB962C8B-B14F-4D97-AF65-F5344CB8AC3E}">
        <p14:creationId xmlns:p14="http://schemas.microsoft.com/office/powerpoint/2010/main" val="68141975"/>
      </p:ext>
    </p:extLst>
  </p:cSld>
  <p:clrMapOvr>
    <a:masterClrMapping/>
  </p:clrMapOvr>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324CE-E9D3-0B15-F0AB-0DC73FFEBD4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DD23BFB-0B62-8422-C5C2-4095418B58E6}"/>
              </a:ext>
            </a:extLst>
          </p:cNvPr>
          <p:cNvPicPr>
            <a:picLocks noChangeAspect="1"/>
          </p:cNvPicPr>
          <p:nvPr/>
        </p:nvPicPr>
        <p:blipFill>
          <a:blip r:embed="rId3"/>
          <a:stretch/>
        </p:blipFill>
        <p:spPr>
          <a:xfrm>
            <a:off x="10608469" y="171450"/>
            <a:ext cx="1071563" cy="476250"/>
          </a:xfrm>
          <a:prstGeom prst="rect">
            <a:avLst/>
          </a:prstGeom>
        </p:spPr>
      </p:pic>
      <p:sp>
        <p:nvSpPr>
          <p:cNvPr id="3" name="Rectangle 2">
            <a:extLst>
              <a:ext uri="{FF2B5EF4-FFF2-40B4-BE49-F238E27FC236}">
                <a16:creationId xmlns:a16="http://schemas.microsoft.com/office/drawing/2014/main" id="{C295DA54-D595-2D0A-D209-31B122E571E0}"/>
              </a:ext>
            </a:extLst>
          </p:cNvPr>
          <p:cNvSpPr>
            <a:spLocks noGrp="1"/>
          </p:cNvSpPr>
          <p:nvPr/>
        </p:nvSpPr>
        <p:spPr>
          <a:xfrm>
            <a:off x="457200" y="2876550"/>
            <a:ext cx="5143500" cy="1428750"/>
          </a:xfrm>
          <a:prstGeom prst="rect">
            <a:avLst/>
          </a:prstGeom>
          <a:noFill/>
          <a:ln w="0">
            <a:noFill/>
          </a:ln>
        </p:spPr>
        <p:txBody>
          <a:bodyPr anchor="t">
            <a:normAutofit/>
          </a:bodyPr>
          <a:lstStyle/>
          <a:p>
            <a:pPr>
              <a:lnSpc>
                <a:spcPct val="98000"/>
              </a:lnSpc>
              <a:buNone/>
              <a:defRPr sz="2550" b="1" i="0">
                <a:solidFill>
                  <a:srgbClr val="FFFFFF"/>
                </a:solidFill>
                <a:latin typeface="Arial"/>
                <a:ea typeface="Arial"/>
                <a:cs typeface="Arial"/>
              </a:defRPr>
            </a:pPr>
            <a:r>
              <a:rPr lang="en-US" sz="2550" b="1" i="0">
                <a:solidFill>
                  <a:srgbClr val="FFFFFF"/>
                </a:solidFill>
                <a:latin typeface="Arial"/>
                <a:ea typeface="Arial"/>
                <a:cs typeface="Arial"/>
              </a:rPr>
              <a:t>Recommended Next Phase</a:t>
            </a:r>
            <a:endParaRPr sz="2550" b="1" i="0">
              <a:solidFill>
                <a:srgbClr val="FFFFFF"/>
              </a:solidFill>
              <a:latin typeface="Arial"/>
              <a:ea typeface="Arial"/>
              <a:cs typeface="Arial"/>
            </a:endParaRPr>
          </a:p>
        </p:txBody>
      </p:sp>
      <p:sp>
        <p:nvSpPr>
          <p:cNvPr id="13" name="EyebrowAccent">
            <a:extLst>
              <a:ext uri="{FF2B5EF4-FFF2-40B4-BE49-F238E27FC236}">
                <a16:creationId xmlns:a16="http://schemas.microsoft.com/office/drawing/2014/main" id="{D5FB72DF-06DF-1D63-868B-30C61118BCAF}"/>
              </a:ext>
            </a:extLst>
          </p:cNvPr>
          <p:cNvSpPr/>
          <p:nvPr/>
        </p:nvSpPr>
        <p:spPr>
          <a:xfrm>
            <a:off x="457200" y="2711450"/>
            <a:ext cx="584200" cy="381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905754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tretch/>
        </p:blipFill>
        <p:spPr>
          <a:xfrm>
            <a:off x="10725150" y="271992"/>
            <a:ext cx="1047750" cy="465667"/>
          </a:xfrm>
          <a:prstGeom prst="rect">
            <a:avLst/>
          </a:prstGeom>
        </p:spPr>
      </p:pic>
      <p:sp>
        <p:nvSpPr>
          <p:cNvPr id="40" name="title"/>
          <p:cNvSpPr/>
          <p:nvPr/>
        </p:nvSpPr>
        <p:spPr>
          <a:xfrm>
            <a:off x="552450" y="304800"/>
            <a:ext cx="9652000" cy="406400"/>
          </a:xfrm>
          <a:prstGeom prst="rect">
            <a:avLst/>
          </a:prstGeom>
          <a:noFill/>
          <a:ln>
            <a:noFill/>
          </a:ln>
        </p:spPr>
        <p:txBody>
          <a:bodyPr lIns="0" tIns="0" rIns="0" bIns="0" anchor="t">
            <a:noAutofit/>
          </a:bodyPr>
          <a:lstStyle/>
          <a:p>
            <a:pPr algn="l">
              <a:buNone/>
            </a:pPr>
            <a:r>
              <a:rPr lang="en-US" sz="2325" b="1">
                <a:solidFill>
                  <a:srgbClr val="070154"/>
                </a:solidFill>
                <a:latin typeface="Arial"/>
              </a:rPr>
              <a:t>Product strategy spike</a:t>
            </a:r>
          </a:p>
        </p:txBody>
      </p:sp>
      <p:sp>
        <p:nvSpPr>
          <p:cNvPr id="41" name="subtitle"/>
          <p:cNvSpPr/>
          <p:nvPr/>
        </p:nvSpPr>
        <p:spPr>
          <a:xfrm>
            <a:off x="552450" y="762000"/>
            <a:ext cx="9652000" cy="355600"/>
          </a:xfrm>
          <a:prstGeom prst="rect">
            <a:avLst/>
          </a:prstGeom>
          <a:noFill/>
          <a:ln>
            <a:noFill/>
          </a:ln>
        </p:spPr>
        <p:txBody>
          <a:bodyPr lIns="0" tIns="0" rIns="0" bIns="0" anchor="t">
            <a:noAutofit/>
          </a:bodyPr>
          <a:lstStyle/>
          <a:p>
            <a:pPr algn="l">
              <a:buNone/>
            </a:pPr>
            <a:r>
              <a:rPr lang="en-US" sz="1350" b="0">
                <a:solidFill>
                  <a:srgbClr val="50658E"/>
                </a:solidFill>
                <a:latin typeface="Arial"/>
              </a:rPr>
              <a:t>Product direction, priorities, and a practical path to execution</a:t>
            </a:r>
          </a:p>
        </p:txBody>
      </p:sp>
      <p:sp>
        <p:nvSpPr>
          <p:cNvPr id="42" name="titleRule"/>
          <p:cNvSpPr/>
          <p:nvPr/>
        </p:nvSpPr>
        <p:spPr>
          <a:xfrm>
            <a:off x="552450" y="1244600"/>
            <a:ext cx="11087100" cy="19050"/>
          </a:xfrm>
          <a:prstGeom prst="rect">
            <a:avLst/>
          </a:prstGeom>
          <a:solidFill>
            <a:srgbClr val="0047FF"/>
          </a:solidFill>
          <a:ln>
            <a:noFill/>
          </a:ln>
        </p:spPr>
        <p:txBody>
          <a:bodyPr lIns="0" tIns="0" rIns="0" bIns="0" anchor="t">
            <a:noAutofit/>
          </a:bodyPr>
          <a:lstStyle/>
          <a:p>
            <a:endParaRPr/>
          </a:p>
        </p:txBody>
      </p:sp>
      <p:sp>
        <p:nvSpPr>
          <p:cNvPr id="43" name="outcomePanel"/>
          <p:cNvSpPr/>
          <p:nvPr/>
        </p:nvSpPr>
        <p:spPr>
          <a:xfrm>
            <a:off x="552450" y="1511300"/>
            <a:ext cx="6540500" cy="1498600"/>
          </a:xfrm>
          <a:prstGeom prst="rect">
            <a:avLst/>
          </a:prstGeom>
          <a:solidFill>
            <a:srgbClr val="E8EEF8"/>
          </a:solidFill>
          <a:ln>
            <a:noFill/>
          </a:ln>
        </p:spPr>
        <p:txBody>
          <a:bodyPr lIns="0" tIns="0" rIns="0" bIns="0" anchor="t">
            <a:noAutofit/>
          </a:bodyPr>
          <a:lstStyle/>
          <a:p>
            <a:endParaRPr/>
          </a:p>
        </p:txBody>
      </p:sp>
      <p:sp>
        <p:nvSpPr>
          <p:cNvPr id="44" name="outcomeLabel"/>
          <p:cNvSpPr/>
          <p:nvPr/>
        </p:nvSpPr>
        <p:spPr>
          <a:xfrm>
            <a:off x="755650" y="1689100"/>
            <a:ext cx="6032500" cy="228600"/>
          </a:xfrm>
          <a:prstGeom prst="rect">
            <a:avLst/>
          </a:prstGeom>
          <a:noFill/>
          <a:ln>
            <a:noFill/>
          </a:ln>
        </p:spPr>
        <p:txBody>
          <a:bodyPr lIns="0" tIns="0" rIns="0" bIns="0" anchor="t">
            <a:noAutofit/>
          </a:bodyPr>
          <a:lstStyle/>
          <a:p>
            <a:pPr algn="l">
              <a:buNone/>
            </a:pPr>
            <a:r>
              <a:rPr lang="en-US" sz="1100" b="1">
                <a:solidFill>
                  <a:srgbClr val="0047FF"/>
                </a:solidFill>
                <a:latin typeface="Arial"/>
              </a:rPr>
              <a:t>OUTCOME</a:t>
            </a:r>
          </a:p>
        </p:txBody>
      </p:sp>
      <p:sp>
        <p:nvSpPr>
          <p:cNvPr id="45" name="outcomeHeadline"/>
          <p:cNvSpPr/>
          <p:nvPr/>
        </p:nvSpPr>
        <p:spPr>
          <a:xfrm>
            <a:off x="755650" y="2006600"/>
            <a:ext cx="6032500" cy="673100"/>
          </a:xfrm>
          <a:prstGeom prst="rect">
            <a:avLst/>
          </a:prstGeom>
          <a:noFill/>
          <a:ln>
            <a:noFill/>
          </a:ln>
        </p:spPr>
        <p:txBody>
          <a:bodyPr lIns="0" tIns="0" rIns="0" bIns="0" anchor="t">
            <a:noAutofit/>
          </a:bodyPr>
          <a:lstStyle/>
          <a:p>
            <a:pPr algn="l">
              <a:buNone/>
            </a:pPr>
            <a:r>
              <a:rPr lang="en-US" sz="2100" b="1">
                <a:solidFill>
                  <a:srgbClr val="070154"/>
                </a:solidFill>
                <a:latin typeface="Arial"/>
              </a:rPr>
              <a:t>Clear product strategy and an executable six-month roadmap</a:t>
            </a:r>
          </a:p>
        </p:txBody>
      </p:sp>
      <p:sp>
        <p:nvSpPr>
          <p:cNvPr id="46" name="activitiesLabel"/>
          <p:cNvSpPr/>
          <p:nvPr/>
        </p:nvSpPr>
        <p:spPr>
          <a:xfrm>
            <a:off x="552450" y="3302000"/>
            <a:ext cx="6477000" cy="254000"/>
          </a:xfrm>
          <a:prstGeom prst="rect">
            <a:avLst/>
          </a:prstGeom>
          <a:noFill/>
          <a:ln>
            <a:noFill/>
          </a:ln>
        </p:spPr>
        <p:txBody>
          <a:bodyPr lIns="0" tIns="0" rIns="0" bIns="0" anchor="t">
            <a:noAutofit/>
          </a:bodyPr>
          <a:lstStyle/>
          <a:p>
            <a:pPr algn="l">
              <a:buNone/>
            </a:pPr>
            <a:r>
              <a:rPr lang="en-US" sz="1100" b="1">
                <a:solidFill>
                  <a:srgbClr val="0047FF"/>
                </a:solidFill>
                <a:latin typeface="Arial"/>
              </a:rPr>
              <a:t>KEY ACTIVITIES</a:t>
            </a:r>
          </a:p>
        </p:txBody>
      </p:sp>
      <p:sp>
        <p:nvSpPr>
          <p:cNvPr id="47" name="activityTitle0"/>
          <p:cNvSpPr/>
          <p:nvPr/>
        </p:nvSpPr>
        <p:spPr>
          <a:xfrm>
            <a:off x="552450" y="36957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Build the evidence base</a:t>
            </a:r>
          </a:p>
        </p:txBody>
      </p:sp>
      <p:sp>
        <p:nvSpPr>
          <p:cNvPr id="48" name="activityDetail0"/>
          <p:cNvSpPr/>
          <p:nvPr/>
        </p:nvSpPr>
        <p:spPr>
          <a:xfrm>
            <a:off x="552450" y="39497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Review customer needs, product performance, and business priorities.</a:t>
            </a:r>
          </a:p>
        </p:txBody>
      </p:sp>
      <p:sp>
        <p:nvSpPr>
          <p:cNvPr id="49" name="activityTitle1"/>
          <p:cNvSpPr/>
          <p:nvPr/>
        </p:nvSpPr>
        <p:spPr>
          <a:xfrm>
            <a:off x="552450" y="42672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Align on product strategy</a:t>
            </a:r>
          </a:p>
        </p:txBody>
      </p:sp>
      <p:sp>
        <p:nvSpPr>
          <p:cNvPr id="50" name="activityDetail1"/>
          <p:cNvSpPr/>
          <p:nvPr/>
        </p:nvSpPr>
        <p:spPr>
          <a:xfrm>
            <a:off x="552450" y="45212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Prepare and facilitate a focused strategy workshop with product leaders.</a:t>
            </a:r>
          </a:p>
        </p:txBody>
      </p:sp>
      <p:sp>
        <p:nvSpPr>
          <p:cNvPr id="51" name="activityTitle2"/>
          <p:cNvSpPr/>
          <p:nvPr/>
        </p:nvSpPr>
        <p:spPr>
          <a:xfrm>
            <a:off x="552450" y="48387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Define priorities and success measures</a:t>
            </a:r>
          </a:p>
        </p:txBody>
      </p:sp>
      <p:sp>
        <p:nvSpPr>
          <p:cNvPr id="52" name="activityDetail2"/>
          <p:cNvSpPr/>
          <p:nvPr/>
        </p:nvSpPr>
        <p:spPr>
          <a:xfrm>
            <a:off x="552450" y="50927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Set product-area direction, measurable outcomes, and roadmap trade-offs.</a:t>
            </a:r>
          </a:p>
        </p:txBody>
      </p:sp>
      <p:sp>
        <p:nvSpPr>
          <p:cNvPr id="53" name="activityTitle3"/>
          <p:cNvSpPr/>
          <p:nvPr/>
        </p:nvSpPr>
        <p:spPr>
          <a:xfrm>
            <a:off x="552450" y="54102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Make the roadmap actionable</a:t>
            </a:r>
          </a:p>
        </p:txBody>
      </p:sp>
      <p:sp>
        <p:nvSpPr>
          <p:cNvPr id="54" name="activityDetail3"/>
          <p:cNvSpPr/>
          <p:nvPr/>
        </p:nvSpPr>
        <p:spPr>
          <a:xfrm>
            <a:off x="552450" y="56642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Complete product briefs, ownership, and roadmap for the next six months.</a:t>
            </a:r>
          </a:p>
        </p:txBody>
      </p:sp>
      <p:sp>
        <p:nvSpPr>
          <p:cNvPr id="55" name="teamLabel"/>
          <p:cNvSpPr/>
          <p:nvPr/>
        </p:nvSpPr>
        <p:spPr>
          <a:xfrm>
            <a:off x="7581900" y="1511300"/>
            <a:ext cx="4057650" cy="254000"/>
          </a:xfrm>
          <a:prstGeom prst="rect">
            <a:avLst/>
          </a:prstGeom>
          <a:noFill/>
          <a:ln>
            <a:noFill/>
          </a:ln>
        </p:spPr>
        <p:txBody>
          <a:bodyPr lIns="0" tIns="0" rIns="0" bIns="0" anchor="t">
            <a:noAutofit/>
          </a:bodyPr>
          <a:lstStyle/>
          <a:p>
            <a:pPr algn="l">
              <a:buNone/>
            </a:pPr>
            <a:r>
              <a:rPr lang="en-US" sz="1100" b="1">
                <a:solidFill>
                  <a:srgbClr val="0047FF"/>
                </a:solidFill>
                <a:latin typeface="Arial"/>
              </a:rPr>
              <a:t>PRODUCT TEAM</a:t>
            </a:r>
          </a:p>
        </p:txBody>
      </p:sp>
      <p:sp>
        <p:nvSpPr>
          <p:cNvPr id="56" name="teamName"/>
          <p:cNvSpPr/>
          <p:nvPr/>
        </p:nvSpPr>
        <p:spPr>
          <a:xfrm>
            <a:off x="7581900" y="1917700"/>
            <a:ext cx="4057650" cy="292100"/>
          </a:xfrm>
          <a:prstGeom prst="rect">
            <a:avLst/>
          </a:prstGeom>
          <a:noFill/>
          <a:ln>
            <a:noFill/>
          </a:ln>
        </p:spPr>
        <p:txBody>
          <a:bodyPr lIns="0" tIns="0" rIns="0" bIns="0" anchor="t">
            <a:noAutofit/>
          </a:bodyPr>
          <a:lstStyle/>
          <a:p>
            <a:pPr algn="l">
              <a:buNone/>
            </a:pPr>
            <a:r>
              <a:rPr lang="en-US" sz="1700" b="1">
                <a:solidFill>
                  <a:srgbClr val="070154"/>
                </a:solidFill>
                <a:latin typeface="Arial"/>
              </a:rPr>
              <a:t>Executive Product Strategist · </a:t>
            </a:r>
            <a:r>
              <a:rPr lang="en-US" sz="1400" b="1">
                <a:solidFill>
                  <a:srgbClr val="070154"/>
                </a:solidFill>
                <a:latin typeface="Arial"/>
              </a:rPr>
              <a:t>Part time</a:t>
            </a:r>
            <a:endParaRPr lang="en-US" sz="1700" b="1">
              <a:solidFill>
                <a:srgbClr val="070154"/>
              </a:solidFill>
              <a:latin typeface="Arial"/>
            </a:endParaRPr>
          </a:p>
        </p:txBody>
      </p:sp>
      <p:sp>
        <p:nvSpPr>
          <p:cNvPr id="57" name="teamRole"/>
          <p:cNvSpPr/>
          <p:nvPr/>
        </p:nvSpPr>
        <p:spPr>
          <a:xfrm>
            <a:off x="7581900" y="2298700"/>
            <a:ext cx="4057650" cy="279400"/>
          </a:xfrm>
          <a:prstGeom prst="rect">
            <a:avLst/>
          </a:prstGeom>
          <a:noFill/>
          <a:ln>
            <a:noFill/>
          </a:ln>
        </p:spPr>
        <p:txBody>
          <a:bodyPr lIns="0" tIns="0" rIns="0" bIns="0" anchor="t">
            <a:noAutofit/>
          </a:bodyPr>
          <a:lstStyle/>
          <a:p>
            <a:pPr algn="l">
              <a:buNone/>
            </a:pPr>
            <a:r>
              <a:rPr lang="en-US" sz="1200" b="0">
                <a:solidFill>
                  <a:srgbClr val="50658E"/>
                </a:solidFill>
                <a:latin typeface="Arial"/>
              </a:rPr>
              <a:t>Sameer Karim</a:t>
            </a:r>
          </a:p>
        </p:txBody>
      </p:sp>
      <p:sp>
        <p:nvSpPr>
          <p:cNvPr id="58" name="strategistName"/>
          <p:cNvSpPr/>
          <p:nvPr/>
        </p:nvSpPr>
        <p:spPr>
          <a:xfrm>
            <a:off x="7581900" y="2857500"/>
            <a:ext cx="4057650" cy="304800"/>
          </a:xfrm>
          <a:prstGeom prst="rect">
            <a:avLst/>
          </a:prstGeom>
          <a:noFill/>
          <a:ln>
            <a:noFill/>
          </a:ln>
        </p:spPr>
        <p:txBody>
          <a:bodyPr lIns="0" tIns="0" rIns="0" bIns="0" anchor="t">
            <a:noAutofit/>
          </a:bodyPr>
          <a:lstStyle/>
          <a:p>
            <a:r>
              <a:rPr lang="en-US" sz="1700" b="1">
                <a:solidFill>
                  <a:srgbClr val="070154"/>
                </a:solidFill>
                <a:latin typeface="Arial"/>
              </a:rPr>
              <a:t>Senior Product </a:t>
            </a:r>
            <a:r>
              <a:rPr lang="en-US" sz="1700" b="1">
                <a:solidFill>
                  <a:srgbClr val="070154"/>
                </a:solidFill>
              </a:rPr>
              <a:t>Strategist · </a:t>
            </a:r>
            <a:r>
              <a:rPr lang="en-US" sz="1400" b="1">
                <a:solidFill>
                  <a:srgbClr val="070154"/>
                </a:solidFill>
              </a:rPr>
              <a:t>Full time</a:t>
            </a:r>
            <a:endParaRPr lang="en-US" sz="1700" b="1">
              <a:solidFill>
                <a:srgbClr val="070154"/>
              </a:solidFill>
            </a:endParaRPr>
          </a:p>
        </p:txBody>
      </p:sp>
      <p:sp>
        <p:nvSpPr>
          <p:cNvPr id="59" name="strategistRole"/>
          <p:cNvSpPr/>
          <p:nvPr/>
        </p:nvSpPr>
        <p:spPr>
          <a:xfrm>
            <a:off x="7581900" y="3238500"/>
            <a:ext cx="4057650" cy="279400"/>
          </a:xfrm>
          <a:prstGeom prst="rect">
            <a:avLst/>
          </a:prstGeom>
          <a:noFill/>
          <a:ln>
            <a:noFill/>
          </a:ln>
        </p:spPr>
        <p:txBody>
          <a:bodyPr lIns="0" tIns="0" rIns="0" bIns="0" anchor="t">
            <a:noAutofit/>
          </a:bodyPr>
          <a:lstStyle/>
          <a:p>
            <a:pPr algn="l">
              <a:buNone/>
            </a:pPr>
            <a:r>
              <a:rPr lang="en-US" sz="1200" b="0" err="1">
                <a:solidFill>
                  <a:srgbClr val="50658E"/>
                </a:solidFill>
                <a:latin typeface="Arial"/>
              </a:rPr>
              <a:t>Mzati</a:t>
            </a:r>
            <a:r>
              <a:rPr lang="en-US" sz="1200" b="0">
                <a:solidFill>
                  <a:srgbClr val="50658E"/>
                </a:solidFill>
                <a:latin typeface="Arial"/>
              </a:rPr>
              <a:t> Kapalamula</a:t>
            </a:r>
          </a:p>
        </p:txBody>
      </p:sp>
      <p:sp>
        <p:nvSpPr>
          <p:cNvPr id="60" name="investmentLabel"/>
          <p:cNvSpPr/>
          <p:nvPr/>
        </p:nvSpPr>
        <p:spPr>
          <a:xfrm>
            <a:off x="7581900" y="3962400"/>
            <a:ext cx="4057650" cy="279400"/>
          </a:xfrm>
          <a:prstGeom prst="rect">
            <a:avLst/>
          </a:prstGeom>
          <a:noFill/>
          <a:ln>
            <a:noFill/>
          </a:ln>
        </p:spPr>
        <p:txBody>
          <a:bodyPr lIns="0" tIns="0" rIns="0" bIns="0" anchor="t">
            <a:noAutofit/>
          </a:bodyPr>
          <a:lstStyle/>
          <a:p>
            <a:pPr algn="l">
              <a:buNone/>
            </a:pPr>
            <a:r>
              <a:rPr lang="en-US" sz="1100" b="1">
                <a:solidFill>
                  <a:srgbClr val="0047FF"/>
                </a:solidFill>
                <a:latin typeface="Arial"/>
              </a:rPr>
              <a:t>DURATION</a:t>
            </a:r>
          </a:p>
        </p:txBody>
      </p:sp>
      <p:sp>
        <p:nvSpPr>
          <p:cNvPr id="62" name="durationValue"/>
          <p:cNvSpPr/>
          <p:nvPr/>
        </p:nvSpPr>
        <p:spPr>
          <a:xfrm>
            <a:off x="7581900" y="4406900"/>
            <a:ext cx="4057650" cy="355600"/>
          </a:xfrm>
          <a:prstGeom prst="rect">
            <a:avLst/>
          </a:prstGeom>
          <a:noFill/>
          <a:ln>
            <a:noFill/>
          </a:ln>
        </p:spPr>
        <p:txBody>
          <a:bodyPr lIns="0" tIns="0" rIns="0" bIns="0" anchor="t">
            <a:noAutofit/>
          </a:bodyPr>
          <a:lstStyle/>
          <a:p>
            <a:pPr algn="l">
              <a:buNone/>
            </a:pPr>
            <a:r>
              <a:rPr lang="en-US" sz="1700" b="1">
                <a:solidFill>
                  <a:srgbClr val="070154"/>
                </a:solidFill>
                <a:latin typeface="Arial"/>
              </a:rPr>
              <a:t>4-week product strategy spike</a:t>
            </a:r>
          </a:p>
        </p:txBody>
      </p:sp>
      <p:sp>
        <p:nvSpPr>
          <p:cNvPr id="63" name="durationDetail"/>
          <p:cNvSpPr/>
          <p:nvPr/>
        </p:nvSpPr>
        <p:spPr>
          <a:xfrm>
            <a:off x="7581900" y="4864100"/>
            <a:ext cx="4057650" cy="292100"/>
          </a:xfrm>
          <a:prstGeom prst="rect">
            <a:avLst/>
          </a:prstGeom>
          <a:noFill/>
          <a:ln>
            <a:noFill/>
          </a:ln>
        </p:spPr>
        <p:txBody>
          <a:bodyPr lIns="0" tIns="0" rIns="0" bIns="0" anchor="t">
            <a:noAutofit/>
          </a:bodyPr>
          <a:lstStyle/>
          <a:p>
            <a:pPr algn="l">
              <a:buNone/>
            </a:pPr>
            <a:r>
              <a:rPr lang="en-US" sz="1200" b="0">
                <a:solidFill>
                  <a:srgbClr val="50658E"/>
                </a:solidFill>
                <a:latin typeface="Arial"/>
              </a:rPr>
              <a:t>Product direction and a six-month roadmap.</a:t>
            </a:r>
          </a:p>
        </p:txBody>
      </p:sp>
      <p:sp>
        <p:nvSpPr>
          <p:cNvPr id="2" name="Footer Placeholder 1">
            <a:extLst>
              <a:ext uri="{FF2B5EF4-FFF2-40B4-BE49-F238E27FC236}">
                <a16:creationId xmlns:a16="http://schemas.microsoft.com/office/drawing/2014/main" id="{A0C429C6-E3BE-7E48-9513-9E760171A99C}"/>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4" name="Slide Number Placeholder 2">
            <a:extLst>
              <a:ext uri="{FF2B5EF4-FFF2-40B4-BE49-F238E27FC236}">
                <a16:creationId xmlns:a16="http://schemas.microsoft.com/office/drawing/2014/main" id="{FD926F37-5634-BABC-BD3B-C68BE21459CB}"/>
              </a:ext>
            </a:extLst>
          </p:cNvPr>
          <p:cNvSpPr>
            <a:spLocks noGrp="1"/>
          </p:cNvSpPr>
          <p:nvPr>
            <p:ph type="sldNum" idx="11"/>
          </p:nvPr>
        </p:nvSpPr>
        <p:spPr>
          <a:xfrm>
            <a:off x="11509578" y="6400799"/>
            <a:ext cx="218871" cy="167949"/>
          </a:xfrm>
        </p:spPr>
        <p:txBody>
          <a:bodyPr/>
          <a:lstStyle/>
          <a:p>
            <a:fld id="{63DCA5C9-2E11-4C67-86EB-AE1DE127DC64}" type="slidenum">
              <a:rPr lang="en-US" smtClean="0"/>
              <a:t>38</a:t>
            </a:fld>
            <a:endParaRPr lang="en-US"/>
          </a:p>
        </p:txBody>
      </p:sp>
    </p:spTree>
    <p:extLst>
      <p:ext uri="{BB962C8B-B14F-4D97-AF65-F5344CB8AC3E}">
        <p14:creationId xmlns:p14="http://schemas.microsoft.com/office/powerpoint/2010/main" val="34524363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tretch/>
        </p:blipFill>
        <p:spPr>
          <a:xfrm>
            <a:off x="10725150" y="271992"/>
            <a:ext cx="1047750" cy="465667"/>
          </a:xfrm>
          <a:prstGeom prst="rect">
            <a:avLst/>
          </a:prstGeom>
        </p:spPr>
      </p:pic>
      <p:sp>
        <p:nvSpPr>
          <p:cNvPr id="40" name="title"/>
          <p:cNvSpPr/>
          <p:nvPr/>
        </p:nvSpPr>
        <p:spPr>
          <a:xfrm>
            <a:off x="552450" y="304800"/>
            <a:ext cx="9652000" cy="406400"/>
          </a:xfrm>
          <a:prstGeom prst="rect">
            <a:avLst/>
          </a:prstGeom>
          <a:noFill/>
          <a:ln>
            <a:noFill/>
          </a:ln>
        </p:spPr>
        <p:txBody>
          <a:bodyPr lIns="0" tIns="0" rIns="0" bIns="0" anchor="t">
            <a:noAutofit/>
          </a:bodyPr>
          <a:lstStyle/>
          <a:p>
            <a:pPr algn="l">
              <a:buNone/>
            </a:pPr>
            <a:r>
              <a:rPr lang="en-US" sz="2325" b="1">
                <a:solidFill>
                  <a:srgbClr val="070154"/>
                </a:solidFill>
                <a:latin typeface="Arial"/>
              </a:rPr>
              <a:t>Scale Reconcile AI engineering across Core</a:t>
            </a:r>
          </a:p>
        </p:txBody>
      </p:sp>
      <p:sp>
        <p:nvSpPr>
          <p:cNvPr id="41" name="subtitle"/>
          <p:cNvSpPr/>
          <p:nvPr/>
        </p:nvSpPr>
        <p:spPr>
          <a:xfrm>
            <a:off x="552450" y="762000"/>
            <a:ext cx="9652000" cy="355600"/>
          </a:xfrm>
          <a:prstGeom prst="rect">
            <a:avLst/>
          </a:prstGeom>
          <a:noFill/>
          <a:ln>
            <a:noFill/>
          </a:ln>
        </p:spPr>
        <p:txBody>
          <a:bodyPr lIns="0" tIns="0" rIns="0" bIns="0" anchor="t">
            <a:noAutofit/>
          </a:bodyPr>
          <a:lstStyle/>
          <a:p>
            <a:pPr algn="l">
              <a:buNone/>
            </a:pPr>
            <a:r>
              <a:rPr lang="en-US" sz="1350" b="0">
                <a:solidFill>
                  <a:srgbClr val="50658E"/>
                </a:solidFill>
                <a:latin typeface="Arial"/>
              </a:rPr>
              <a:t>Six weeks to pilot and scale reusable AI engineering practices.</a:t>
            </a:r>
          </a:p>
        </p:txBody>
      </p:sp>
      <p:sp>
        <p:nvSpPr>
          <p:cNvPr id="42" name="titleRule"/>
          <p:cNvSpPr/>
          <p:nvPr/>
        </p:nvSpPr>
        <p:spPr>
          <a:xfrm>
            <a:off x="552450" y="1244600"/>
            <a:ext cx="11087100" cy="19050"/>
          </a:xfrm>
          <a:prstGeom prst="rect">
            <a:avLst/>
          </a:prstGeom>
          <a:solidFill>
            <a:srgbClr val="0047FF"/>
          </a:solidFill>
          <a:ln>
            <a:noFill/>
          </a:ln>
        </p:spPr>
        <p:txBody>
          <a:bodyPr lIns="0" tIns="0" rIns="0" bIns="0" anchor="t">
            <a:noAutofit/>
          </a:bodyPr>
          <a:lstStyle/>
          <a:p>
            <a:endParaRPr/>
          </a:p>
        </p:txBody>
      </p:sp>
      <p:sp>
        <p:nvSpPr>
          <p:cNvPr id="43" name="outcomePanel"/>
          <p:cNvSpPr/>
          <p:nvPr/>
        </p:nvSpPr>
        <p:spPr>
          <a:xfrm>
            <a:off x="552450" y="1511300"/>
            <a:ext cx="6540500" cy="1498600"/>
          </a:xfrm>
          <a:prstGeom prst="rect">
            <a:avLst/>
          </a:prstGeom>
          <a:solidFill>
            <a:srgbClr val="E8EEF8"/>
          </a:solidFill>
          <a:ln>
            <a:noFill/>
          </a:ln>
        </p:spPr>
        <p:txBody>
          <a:bodyPr lIns="0" tIns="0" rIns="0" bIns="0" anchor="t">
            <a:noAutofit/>
          </a:bodyPr>
          <a:lstStyle/>
          <a:p>
            <a:endParaRPr/>
          </a:p>
        </p:txBody>
      </p:sp>
      <p:sp>
        <p:nvSpPr>
          <p:cNvPr id="44" name="outcomeLabel"/>
          <p:cNvSpPr/>
          <p:nvPr/>
        </p:nvSpPr>
        <p:spPr>
          <a:xfrm>
            <a:off x="755650" y="1689100"/>
            <a:ext cx="6032500" cy="228600"/>
          </a:xfrm>
          <a:prstGeom prst="rect">
            <a:avLst/>
          </a:prstGeom>
          <a:noFill/>
          <a:ln>
            <a:noFill/>
          </a:ln>
        </p:spPr>
        <p:txBody>
          <a:bodyPr lIns="0" tIns="0" rIns="0" bIns="0" anchor="t">
            <a:noAutofit/>
          </a:bodyPr>
          <a:lstStyle/>
          <a:p>
            <a:pPr algn="l">
              <a:buNone/>
            </a:pPr>
            <a:r>
              <a:rPr lang="en-US" sz="1100" b="1">
                <a:solidFill>
                  <a:srgbClr val="0047FF"/>
                </a:solidFill>
                <a:latin typeface="Arial"/>
              </a:rPr>
              <a:t>OUTCOME</a:t>
            </a:r>
          </a:p>
        </p:txBody>
      </p:sp>
      <p:sp>
        <p:nvSpPr>
          <p:cNvPr id="45" name="outcomeHeadline"/>
          <p:cNvSpPr/>
          <p:nvPr/>
        </p:nvSpPr>
        <p:spPr>
          <a:xfrm>
            <a:off x="755650" y="2006600"/>
            <a:ext cx="6032500" cy="673100"/>
          </a:xfrm>
          <a:prstGeom prst="rect">
            <a:avLst/>
          </a:prstGeom>
          <a:noFill/>
          <a:ln>
            <a:noFill/>
          </a:ln>
        </p:spPr>
        <p:txBody>
          <a:bodyPr lIns="0" tIns="0" rIns="0" bIns="0" anchor="t">
            <a:noAutofit/>
          </a:bodyPr>
          <a:lstStyle/>
          <a:p>
            <a:pPr algn="l">
              <a:buNone/>
            </a:pPr>
            <a:r>
              <a:rPr lang="en-US" sz="2100" b="1">
                <a:solidFill>
                  <a:srgbClr val="070154"/>
                </a:solidFill>
                <a:latin typeface="Arial"/>
              </a:rPr>
              <a:t>Reusable practices tested on a Core rules-engine pilot</a:t>
            </a:r>
          </a:p>
        </p:txBody>
      </p:sp>
      <p:sp>
        <p:nvSpPr>
          <p:cNvPr id="46" name="activitiesLabel"/>
          <p:cNvSpPr/>
          <p:nvPr/>
        </p:nvSpPr>
        <p:spPr>
          <a:xfrm>
            <a:off x="552450" y="3302000"/>
            <a:ext cx="6477000" cy="254000"/>
          </a:xfrm>
          <a:prstGeom prst="rect">
            <a:avLst/>
          </a:prstGeom>
          <a:noFill/>
          <a:ln>
            <a:noFill/>
          </a:ln>
        </p:spPr>
        <p:txBody>
          <a:bodyPr lIns="0" tIns="0" rIns="0" bIns="0" anchor="t">
            <a:noAutofit/>
          </a:bodyPr>
          <a:lstStyle/>
          <a:p>
            <a:pPr algn="l">
              <a:buNone/>
            </a:pPr>
            <a:r>
              <a:rPr lang="en-US" sz="1100" b="1">
                <a:solidFill>
                  <a:srgbClr val="0047FF"/>
                </a:solidFill>
                <a:latin typeface="Arial"/>
              </a:rPr>
              <a:t>KEY ACTIVITIES</a:t>
            </a:r>
          </a:p>
        </p:txBody>
      </p:sp>
      <p:sp>
        <p:nvSpPr>
          <p:cNvPr id="47" name="activityTitle0"/>
          <p:cNvSpPr/>
          <p:nvPr/>
        </p:nvSpPr>
        <p:spPr>
          <a:xfrm>
            <a:off x="552450" y="36957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Assess and refine</a:t>
            </a:r>
          </a:p>
        </p:txBody>
      </p:sp>
      <p:sp>
        <p:nvSpPr>
          <p:cNvPr id="48" name="activityDetail0"/>
          <p:cNvSpPr/>
          <p:nvPr/>
        </p:nvSpPr>
        <p:spPr>
          <a:xfrm>
            <a:off x="552450" y="39497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Weeks 1–3: refine Recon’s AI library and Core specification workflows.</a:t>
            </a:r>
          </a:p>
        </p:txBody>
      </p:sp>
      <p:sp>
        <p:nvSpPr>
          <p:cNvPr id="49" name="activityTitle1"/>
          <p:cNvSpPr/>
          <p:nvPr/>
        </p:nvSpPr>
        <p:spPr>
          <a:xfrm>
            <a:off x="552450" y="42672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Run a hands-on workshop</a:t>
            </a:r>
          </a:p>
        </p:txBody>
      </p:sp>
      <p:sp>
        <p:nvSpPr>
          <p:cNvPr id="50" name="activityDetail1"/>
          <p:cNvSpPr/>
          <p:nvPr/>
        </p:nvSpPr>
        <p:spPr>
          <a:xfrm>
            <a:off x="552450" y="45212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Week 4: apply refined AI practices to real Core epics with the team.</a:t>
            </a:r>
          </a:p>
        </p:txBody>
      </p:sp>
      <p:sp>
        <p:nvSpPr>
          <p:cNvPr id="51" name="activityTitle2"/>
          <p:cNvSpPr/>
          <p:nvPr/>
        </p:nvSpPr>
        <p:spPr>
          <a:xfrm>
            <a:off x="552450" y="48387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Coach adoption</a:t>
            </a:r>
          </a:p>
        </p:txBody>
      </p:sp>
      <p:sp>
        <p:nvSpPr>
          <p:cNvPr id="52" name="activityDetail2"/>
          <p:cNvSpPr/>
          <p:nvPr/>
        </p:nvSpPr>
        <p:spPr>
          <a:xfrm>
            <a:off x="552450" y="50927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Weeks 5–6: test library reuse with Core teams and plan rollout.</a:t>
            </a:r>
          </a:p>
        </p:txBody>
      </p:sp>
      <p:sp>
        <p:nvSpPr>
          <p:cNvPr id="53" name="activityTitle3"/>
          <p:cNvSpPr/>
          <p:nvPr/>
        </p:nvSpPr>
        <p:spPr>
          <a:xfrm>
            <a:off x="552450" y="54102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Decide the next gate</a:t>
            </a:r>
          </a:p>
        </p:txBody>
      </p:sp>
      <p:sp>
        <p:nvSpPr>
          <p:cNvPr id="54" name="activityDetail3"/>
          <p:cNvSpPr/>
          <p:nvPr/>
        </p:nvSpPr>
        <p:spPr>
          <a:xfrm>
            <a:off x="552450" y="56642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Review pilot specifications and access before any build extension.</a:t>
            </a:r>
          </a:p>
        </p:txBody>
      </p:sp>
      <p:sp>
        <p:nvSpPr>
          <p:cNvPr id="55" name="teamLabel"/>
          <p:cNvSpPr/>
          <p:nvPr/>
        </p:nvSpPr>
        <p:spPr>
          <a:xfrm>
            <a:off x="7581900" y="1511300"/>
            <a:ext cx="4057650" cy="254000"/>
          </a:xfrm>
          <a:prstGeom prst="rect">
            <a:avLst/>
          </a:prstGeom>
          <a:noFill/>
          <a:ln>
            <a:noFill/>
          </a:ln>
        </p:spPr>
        <p:txBody>
          <a:bodyPr lIns="0" tIns="0" rIns="0" bIns="0" anchor="t">
            <a:noAutofit/>
          </a:bodyPr>
          <a:lstStyle/>
          <a:p>
            <a:pPr algn="l">
              <a:buNone/>
            </a:pPr>
            <a:r>
              <a:rPr lang="en-US" sz="1100" b="1">
                <a:solidFill>
                  <a:srgbClr val="0047FF"/>
                </a:solidFill>
                <a:latin typeface="Arial"/>
              </a:rPr>
              <a:t>ENGINEERING TEAM</a:t>
            </a:r>
          </a:p>
        </p:txBody>
      </p:sp>
      <p:sp>
        <p:nvSpPr>
          <p:cNvPr id="56" name="teamName"/>
          <p:cNvSpPr/>
          <p:nvPr/>
        </p:nvSpPr>
        <p:spPr>
          <a:xfrm>
            <a:off x="7581900" y="1803400"/>
            <a:ext cx="4057650" cy="184666"/>
          </a:xfrm>
          <a:prstGeom prst="rect">
            <a:avLst/>
          </a:prstGeom>
          <a:noFill/>
          <a:ln>
            <a:noFill/>
          </a:ln>
        </p:spPr>
        <p:txBody>
          <a:bodyPr wrap="square" lIns="0" tIns="0" rIns="0" bIns="0" anchor="t">
            <a:spAutoFit/>
          </a:bodyPr>
          <a:lstStyle/>
          <a:p>
            <a:pPr algn="l">
              <a:buNone/>
            </a:pPr>
            <a:r>
              <a:rPr lang="en-US" sz="1200" b="1">
                <a:solidFill>
                  <a:srgbClr val="070154"/>
                </a:solidFill>
                <a:latin typeface="Arial"/>
              </a:rPr>
              <a:t>Executive Engineering Leader</a:t>
            </a:r>
          </a:p>
        </p:txBody>
      </p:sp>
      <p:sp>
        <p:nvSpPr>
          <p:cNvPr id="57" name="teamRole"/>
          <p:cNvSpPr/>
          <p:nvPr/>
        </p:nvSpPr>
        <p:spPr>
          <a:xfrm>
            <a:off x="7581900" y="2006600"/>
            <a:ext cx="4057650" cy="184666"/>
          </a:xfrm>
          <a:prstGeom prst="rect">
            <a:avLst/>
          </a:prstGeom>
          <a:noFill/>
          <a:ln>
            <a:noFill/>
          </a:ln>
        </p:spPr>
        <p:txBody>
          <a:bodyPr wrap="square" lIns="0" tIns="0" rIns="0" bIns="0" anchor="t">
            <a:spAutoFit/>
          </a:bodyPr>
          <a:lstStyle/>
          <a:p>
            <a:pPr algn="l">
              <a:buNone/>
            </a:pPr>
            <a:r>
              <a:rPr lang="en-US" sz="1200" b="0">
                <a:solidFill>
                  <a:srgbClr val="50658E"/>
                </a:solidFill>
                <a:latin typeface="Arial"/>
              </a:rPr>
              <a:t>Part time · leader to confirm</a:t>
            </a:r>
          </a:p>
        </p:txBody>
      </p:sp>
      <p:sp>
        <p:nvSpPr>
          <p:cNvPr id="58" name="strategistName"/>
          <p:cNvSpPr/>
          <p:nvPr/>
        </p:nvSpPr>
        <p:spPr>
          <a:xfrm>
            <a:off x="7581900" y="2260600"/>
            <a:ext cx="4057650" cy="184666"/>
          </a:xfrm>
          <a:prstGeom prst="rect">
            <a:avLst/>
          </a:prstGeom>
          <a:noFill/>
          <a:ln>
            <a:noFill/>
          </a:ln>
        </p:spPr>
        <p:txBody>
          <a:bodyPr wrap="square" lIns="0" tIns="0" rIns="0" bIns="0" anchor="t">
            <a:spAutoFit/>
          </a:bodyPr>
          <a:lstStyle/>
          <a:p>
            <a:r>
              <a:rPr lang="en-US" sz="1200" b="1">
                <a:solidFill>
                  <a:srgbClr val="070154"/>
                </a:solidFill>
                <a:latin typeface="Arial"/>
              </a:rPr>
              <a:t>Senior Architect · Full time</a:t>
            </a:r>
          </a:p>
        </p:txBody>
      </p:sp>
      <p:sp>
        <p:nvSpPr>
          <p:cNvPr id="59" name="strategistRole"/>
          <p:cNvSpPr/>
          <p:nvPr/>
        </p:nvSpPr>
        <p:spPr>
          <a:xfrm>
            <a:off x="7581900" y="2463800"/>
            <a:ext cx="4057650" cy="184666"/>
          </a:xfrm>
          <a:prstGeom prst="rect">
            <a:avLst/>
          </a:prstGeom>
          <a:noFill/>
          <a:ln>
            <a:noFill/>
          </a:ln>
        </p:spPr>
        <p:txBody>
          <a:bodyPr wrap="square" lIns="0" tIns="0" rIns="0" bIns="0" anchor="t">
            <a:spAutoFit/>
          </a:bodyPr>
          <a:lstStyle/>
          <a:p>
            <a:pPr algn="l">
              <a:buNone/>
            </a:pPr>
            <a:r>
              <a:rPr lang="en-US" sz="1200" b="0" err="1">
                <a:solidFill>
                  <a:srgbClr val="50658E"/>
                </a:solidFill>
                <a:latin typeface="Arial"/>
              </a:rPr>
              <a:t>Gerardo Arroyo</a:t>
            </a:r>
          </a:p>
        </p:txBody>
      </p:sp>
      <p:sp>
        <p:nvSpPr>
          <p:cNvPr id="64" name="DeliverablesPanel"/>
          <p:cNvSpPr/>
          <p:nvPr/>
        </p:nvSpPr>
        <p:spPr>
          <a:xfrm>
            <a:off x="7404100" y="2717800"/>
            <a:ext cx="4413250" cy="3289300"/>
          </a:xfrm>
          <a:prstGeom prst="rect">
            <a:avLst/>
          </a:prstGeom>
          <a:solidFill>
            <a:srgbClr val="E8EEF8"/>
          </a:solidFill>
          <a:ln>
            <a:noFill/>
          </a:ln>
        </p:spPr>
        <p:txBody>
          <a:bodyPr lIns="0" tIns="0" rIns="0" bIns="0" anchor="t">
            <a:noAutofit/>
          </a:bodyPr>
          <a:lstStyle/>
          <a:p>
            <a:endParaRPr/>
          </a:p>
        </p:txBody>
      </p:sp>
      <p:sp>
        <p:nvSpPr>
          <p:cNvPr id="60" name="deliverablesLabel"/>
          <p:cNvSpPr/>
          <p:nvPr/>
        </p:nvSpPr>
        <p:spPr>
          <a:xfrm>
            <a:off x="7581900" y="2870200"/>
            <a:ext cx="4057650" cy="261610"/>
          </a:xfrm>
          <a:prstGeom prst="rect">
            <a:avLst/>
          </a:prstGeom>
          <a:noFill/>
          <a:ln>
            <a:noFill/>
          </a:ln>
        </p:spPr>
        <p:txBody>
          <a:bodyPr wrap="square" lIns="0" tIns="0" rIns="0" bIns="0" anchor="t">
            <a:spAutoFit/>
          </a:bodyPr>
          <a:lstStyle/>
          <a:p>
            <a:pPr algn="l">
              <a:buNone/>
            </a:pPr>
            <a:r>
              <a:rPr lang="en-US" sz="1700" b="1">
                <a:solidFill>
                  <a:srgbClr val="0047FF"/>
                </a:solidFill>
                <a:latin typeface="Arial"/>
              </a:rPr>
              <a:t>DELIVERABLES</a:t>
            </a:r>
          </a:p>
        </p:txBody>
      </p:sp>
      <p:sp>
        <p:nvSpPr>
          <p:cNvPr id="62" name="deliverablesOutline"/>
          <p:cNvSpPr/>
          <p:nvPr/>
        </p:nvSpPr>
        <p:spPr>
          <a:xfrm>
            <a:off x="7581900" y="3251200"/>
            <a:ext cx="4057650" cy="2667000"/>
          </a:xfrm>
          <a:prstGeom prst="rect">
            <a:avLst/>
          </a:prstGeom>
          <a:noFill/>
          <a:ln>
            <a:noFill/>
          </a:ln>
        </p:spPr>
        <p:txBody>
          <a:bodyPr wrap="square" lIns="0" tIns="0" rIns="0" bIns="0" anchor="t">
            <a:spAutoFit/>
          </a:bodyPr>
          <a:lstStyle/>
          <a:p>
            <a:pPr marL="177800" indent="-177800" algn="l">
              <a:lnSpc>
                <a:spcPts val="1700"/>
              </a:lnSpc>
              <a:spcAft>
                <a:spcPts val="900"/>
              </a:spcAft>
              <a:buClr>
                <a:srgbClr val="0047FF"/>
              </a:buClr>
              <a:buSzPct val="100000"/>
              <a:buFont typeface="Arial"/>
              <a:buChar char="•"/>
            </a:pPr>
            <a:r>
              <a:rPr lang="en-US" sz="1400" b="0">
                <a:solidFill>
                  <a:srgbClr val="070154"/>
                </a:solidFill>
                <a:latin typeface="Arial"/>
              </a:rPr>
              <a:t>A refined, process-oriented skill library</a:t>
            </a:r>
          </a:p>
          <a:p>
            <a:pPr marL="177800" indent="-177800" algn="l">
              <a:lnSpc>
                <a:spcPts val="1700"/>
              </a:lnSpc>
              <a:spcAft>
                <a:spcPts val="900"/>
              </a:spcAft>
              <a:buClr>
                <a:srgbClr val="0047FF"/>
              </a:buClr>
              <a:buSzPct val="100000"/>
              <a:buFont typeface="Arial"/>
              <a:buChar char="•"/>
            </a:pPr>
            <a:r>
              <a:rPr lang="en-US" sz="1400" b="0">
                <a:solidFill>
                  <a:srgbClr val="070154"/>
                </a:solidFill>
                <a:latin typeface="Arial"/>
              </a:rPr>
              <a:t>A process map for core SDLC process enhancements</a:t>
            </a:r>
          </a:p>
          <a:p>
            <a:pPr marL="177800" indent="-177800" algn="l">
              <a:lnSpc>
                <a:spcPts val="1700"/>
              </a:lnSpc>
              <a:spcAft>
                <a:spcPts val="900"/>
              </a:spcAft>
              <a:buClr>
                <a:srgbClr val="0047FF"/>
              </a:buClr>
              <a:buSzPct val="100000"/>
              <a:buFont typeface="Arial"/>
              <a:buChar char="•"/>
            </a:pPr>
            <a:r>
              <a:rPr lang="en-US" sz="1400" b="0">
                <a:solidFill>
                  <a:srgbClr val="070154"/>
                </a:solidFill>
                <a:latin typeface="Arial"/>
              </a:rPr>
              <a:t>Integration of SDLC enhancements with ongoing metrics and measurement systems, aligned with product-side metrics</a:t>
            </a:r>
          </a:p>
          <a:p>
            <a:pPr marL="177800" indent="-177800" algn="l">
              <a:lnSpc>
                <a:spcPts val="1700"/>
              </a:lnSpc>
              <a:spcAft>
                <a:spcPts val="900"/>
              </a:spcAft>
              <a:buClr>
                <a:srgbClr val="0047FF"/>
              </a:buClr>
              <a:buSzPct val="100000"/>
              <a:buFont typeface="Arial"/>
              <a:buChar char="•"/>
            </a:pPr>
            <a:r>
              <a:rPr lang="en-US" sz="1400" b="0">
                <a:solidFill>
                  <a:srgbClr val="070154"/>
                </a:solidFill>
                <a:latin typeface="Arial"/>
              </a:rPr>
              <a:t>Delivery of a three-day training workshop for select members of the Dental Exchange engineering team</a:t>
            </a:r>
          </a:p>
          <a:p>
            <a:pPr marL="177800" indent="-177800" algn="l">
              <a:lnSpc>
                <a:spcPts val="1700"/>
              </a:lnSpc>
              <a:spcAft>
                <a:spcPts val="0"/>
              </a:spcAft>
              <a:buClr>
                <a:srgbClr val="0047FF"/>
              </a:buClr>
              <a:buSzPct val="100000"/>
              <a:buFont typeface="Arial"/>
              <a:buChar char="•"/>
            </a:pPr>
            <a:r>
              <a:rPr lang="en-US" sz="1400" b="0">
                <a:solidFill>
                  <a:srgbClr val="070154"/>
                </a:solidFill>
                <a:latin typeface="Arial"/>
              </a:rPr>
              <a:t>Hands-on engineering coaching</a:t>
            </a:r>
          </a:p>
        </p:txBody>
      </p:sp>
      <p:sp>
        <p:nvSpPr>
          <p:cNvPr id="2" name="Footer Placeholder 1">
            <a:extLst>
              <a:ext uri="{FF2B5EF4-FFF2-40B4-BE49-F238E27FC236}">
                <a16:creationId xmlns:a16="http://schemas.microsoft.com/office/drawing/2014/main" id="{0F0D1AF9-3806-EA71-4B21-5CCF3CFE8172}"/>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4" name="Slide Number Placeholder 2">
            <a:extLst>
              <a:ext uri="{FF2B5EF4-FFF2-40B4-BE49-F238E27FC236}">
                <a16:creationId xmlns:a16="http://schemas.microsoft.com/office/drawing/2014/main" id="{6BF4ECFD-5917-9C6D-FAB9-826F6AF3C101}"/>
              </a:ext>
            </a:extLst>
          </p:cNvPr>
          <p:cNvSpPr>
            <a:spLocks noGrp="1"/>
          </p:cNvSpPr>
          <p:nvPr>
            <p:ph type="sldNum" idx="11"/>
          </p:nvPr>
        </p:nvSpPr>
        <p:spPr>
          <a:xfrm>
            <a:off x="11509578" y="6400799"/>
            <a:ext cx="218871" cy="167949"/>
          </a:xfrm>
        </p:spPr>
        <p:txBody>
          <a:bodyPr/>
          <a:lstStyle/>
          <a:p>
            <a:fld id="{63DCA5C9-2E11-4C67-86EB-AE1DE127DC64}" type="slidenum">
              <a:rPr lang="en-US" smtClean="0"/>
              <a:t>39</a:t>
            </a:fld>
            <a:endParaRPr lang="en-US"/>
          </a:p>
        </p:txBody>
      </p:sp>
    </p:spTree>
    <p:extLst>
      <p:ext uri="{BB962C8B-B14F-4D97-AF65-F5344CB8AC3E}">
        <p14:creationId xmlns:p14="http://schemas.microsoft.com/office/powerpoint/2010/main" val="5305475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tretch/>
        </p:blipFill>
        <p:spPr>
          <a:xfrm>
            <a:off x="10725150" y="271992"/>
            <a:ext cx="1047750" cy="465667"/>
          </a:xfrm>
          <a:prstGeom prst="rect">
            <a:avLst/>
          </a:prstGeom>
        </p:spPr>
      </p:pic>
      <p:sp>
        <p:nvSpPr>
          <p:cNvPr id="40" name="title"/>
          <p:cNvSpPr/>
          <p:nvPr/>
        </p:nvSpPr>
        <p:spPr>
          <a:xfrm>
            <a:off x="552450" y="304800"/>
            <a:ext cx="9652000" cy="406400"/>
          </a:xfrm>
          <a:prstGeom prst="rect">
            <a:avLst/>
          </a:prstGeom>
          <a:noFill/>
          <a:ln>
            <a:noFill/>
          </a:ln>
        </p:spPr>
        <p:txBody>
          <a:bodyPr lIns="0" tIns="0" rIns="0" bIns="0" anchor="t">
            <a:noAutofit/>
          </a:bodyPr>
          <a:lstStyle/>
          <a:p>
            <a:pPr algn="l">
              <a:buNone/>
            </a:pPr>
            <a:r>
              <a:rPr lang="en-US" sz="2325" b="1">
                <a:solidFill>
                  <a:srgbClr val="070154"/>
                </a:solidFill>
                <a:latin typeface="Arial"/>
              </a:rPr>
              <a:t>Strengthen Core testing and release controls</a:t>
            </a:r>
          </a:p>
        </p:txBody>
      </p:sp>
      <p:sp>
        <p:nvSpPr>
          <p:cNvPr id="41" name="subtitle"/>
          <p:cNvSpPr/>
          <p:nvPr/>
        </p:nvSpPr>
        <p:spPr>
          <a:xfrm>
            <a:off x="552450" y="762000"/>
            <a:ext cx="9652000" cy="355600"/>
          </a:xfrm>
          <a:prstGeom prst="rect">
            <a:avLst/>
          </a:prstGeom>
          <a:noFill/>
          <a:ln>
            <a:noFill/>
          </a:ln>
        </p:spPr>
        <p:txBody>
          <a:bodyPr lIns="0" tIns="0" rIns="0" bIns="0" anchor="t">
            <a:noAutofit/>
          </a:bodyPr>
          <a:lstStyle/>
          <a:p>
            <a:pPr algn="l">
              <a:buNone/>
            </a:pPr>
            <a:r>
              <a:rPr lang="en-US" sz="1350" b="0">
                <a:solidFill>
                  <a:srgbClr val="50658E"/>
                </a:solidFill>
                <a:latin typeface="Arial"/>
              </a:rPr>
              <a:t>Six weeks to improve critical-path coverage and release confidence.</a:t>
            </a:r>
          </a:p>
        </p:txBody>
      </p:sp>
      <p:sp>
        <p:nvSpPr>
          <p:cNvPr id="42" name="titleRule"/>
          <p:cNvSpPr/>
          <p:nvPr/>
        </p:nvSpPr>
        <p:spPr>
          <a:xfrm>
            <a:off x="552450" y="1244600"/>
            <a:ext cx="11087100" cy="19050"/>
          </a:xfrm>
          <a:prstGeom prst="rect">
            <a:avLst/>
          </a:prstGeom>
          <a:solidFill>
            <a:srgbClr val="0047FF"/>
          </a:solidFill>
          <a:ln>
            <a:noFill/>
          </a:ln>
        </p:spPr>
        <p:txBody>
          <a:bodyPr lIns="0" tIns="0" rIns="0" bIns="0" anchor="t">
            <a:noAutofit/>
          </a:bodyPr>
          <a:lstStyle/>
          <a:p>
            <a:endParaRPr/>
          </a:p>
        </p:txBody>
      </p:sp>
      <p:sp>
        <p:nvSpPr>
          <p:cNvPr id="43" name="outcomePanel"/>
          <p:cNvSpPr/>
          <p:nvPr/>
        </p:nvSpPr>
        <p:spPr>
          <a:xfrm>
            <a:off x="552450" y="1511300"/>
            <a:ext cx="6540500" cy="1498600"/>
          </a:xfrm>
          <a:prstGeom prst="rect">
            <a:avLst/>
          </a:prstGeom>
          <a:solidFill>
            <a:srgbClr val="E8EEF8"/>
          </a:solidFill>
          <a:ln>
            <a:noFill/>
          </a:ln>
        </p:spPr>
        <p:txBody>
          <a:bodyPr lIns="0" tIns="0" rIns="0" bIns="0" anchor="t">
            <a:noAutofit/>
          </a:bodyPr>
          <a:lstStyle/>
          <a:p>
            <a:endParaRPr/>
          </a:p>
        </p:txBody>
      </p:sp>
      <p:sp>
        <p:nvSpPr>
          <p:cNvPr id="44" name="outcomeLabel"/>
          <p:cNvSpPr/>
          <p:nvPr/>
        </p:nvSpPr>
        <p:spPr>
          <a:xfrm>
            <a:off x="755650" y="1689100"/>
            <a:ext cx="6032500" cy="228600"/>
          </a:xfrm>
          <a:prstGeom prst="rect">
            <a:avLst/>
          </a:prstGeom>
          <a:noFill/>
          <a:ln>
            <a:noFill/>
          </a:ln>
        </p:spPr>
        <p:txBody>
          <a:bodyPr lIns="0" tIns="0" rIns="0" bIns="0" anchor="t">
            <a:noAutofit/>
          </a:bodyPr>
          <a:lstStyle/>
          <a:p>
            <a:pPr algn="l">
              <a:buNone/>
            </a:pPr>
            <a:r>
              <a:rPr lang="en-US" sz="1100" b="1">
                <a:solidFill>
                  <a:srgbClr val="0047FF"/>
                </a:solidFill>
                <a:latin typeface="Arial"/>
              </a:rPr>
              <a:t>OUTCOME</a:t>
            </a:r>
          </a:p>
        </p:txBody>
      </p:sp>
      <p:sp>
        <p:nvSpPr>
          <p:cNvPr id="45" name="outcomeHeadline"/>
          <p:cNvSpPr/>
          <p:nvPr/>
        </p:nvSpPr>
        <p:spPr>
          <a:xfrm>
            <a:off x="755650" y="2006600"/>
            <a:ext cx="6032500" cy="673100"/>
          </a:xfrm>
          <a:prstGeom prst="rect">
            <a:avLst/>
          </a:prstGeom>
          <a:noFill/>
          <a:ln>
            <a:noFill/>
          </a:ln>
        </p:spPr>
        <p:txBody>
          <a:bodyPr lIns="0" tIns="0" rIns="0" bIns="0" anchor="t">
            <a:noAutofit/>
          </a:bodyPr>
          <a:lstStyle/>
          <a:p>
            <a:pPr algn="l">
              <a:buNone/>
            </a:pPr>
            <a:r>
              <a:rPr lang="en-US" sz="2100" b="1">
                <a:solidFill>
                  <a:srgbClr val="070154"/>
                </a:solidFill>
                <a:latin typeface="Arial"/>
              </a:rPr>
              <a:t>More reliable release gates and critical-path test coverage</a:t>
            </a:r>
          </a:p>
        </p:txBody>
      </p:sp>
      <p:sp>
        <p:nvSpPr>
          <p:cNvPr id="46" name="activitiesLabel"/>
          <p:cNvSpPr/>
          <p:nvPr/>
        </p:nvSpPr>
        <p:spPr>
          <a:xfrm>
            <a:off x="552450" y="3302000"/>
            <a:ext cx="6477000" cy="254000"/>
          </a:xfrm>
          <a:prstGeom prst="rect">
            <a:avLst/>
          </a:prstGeom>
          <a:noFill/>
          <a:ln>
            <a:noFill/>
          </a:ln>
        </p:spPr>
        <p:txBody>
          <a:bodyPr lIns="0" tIns="0" rIns="0" bIns="0" anchor="t">
            <a:noAutofit/>
          </a:bodyPr>
          <a:lstStyle/>
          <a:p>
            <a:pPr algn="l">
              <a:buNone/>
            </a:pPr>
            <a:r>
              <a:rPr lang="en-US" sz="1100" b="1">
                <a:solidFill>
                  <a:srgbClr val="0047FF"/>
                </a:solidFill>
                <a:latin typeface="Arial"/>
              </a:rPr>
              <a:t>KEY ACTIVITIES</a:t>
            </a:r>
          </a:p>
        </p:txBody>
      </p:sp>
      <p:sp>
        <p:nvSpPr>
          <p:cNvPr id="47" name="activityTitle0"/>
          <p:cNvSpPr/>
          <p:nvPr/>
        </p:nvSpPr>
        <p:spPr>
          <a:xfrm>
            <a:off x="552450" y="36957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Prioritize critical paths</a:t>
            </a:r>
          </a:p>
        </p:txBody>
      </p:sp>
      <p:sp>
        <p:nvSpPr>
          <p:cNvPr id="48" name="activityDetail0"/>
          <p:cNvSpPr/>
          <p:nvPr/>
        </p:nvSpPr>
        <p:spPr>
          <a:xfrm>
            <a:off x="552450" y="39497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Weeks 1–2: confirm journeys, coverage gaps and release gates with Product.</a:t>
            </a:r>
          </a:p>
        </p:txBody>
      </p:sp>
      <p:sp>
        <p:nvSpPr>
          <p:cNvPr id="49" name="activityTitle1"/>
          <p:cNvSpPr/>
          <p:nvPr/>
        </p:nvSpPr>
        <p:spPr>
          <a:xfrm>
            <a:off x="552450" y="42672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Expand automated testing</a:t>
            </a:r>
          </a:p>
        </p:txBody>
      </p:sp>
      <p:sp>
        <p:nvSpPr>
          <p:cNvPr id="50" name="activityDetail1"/>
          <p:cNvSpPr/>
          <p:nvPr/>
        </p:nvSpPr>
        <p:spPr>
          <a:xfrm>
            <a:off x="552450" y="45212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Weeks 3–4: strengthen Playwright coverage and reusable AI test workflows.</a:t>
            </a:r>
          </a:p>
        </p:txBody>
      </p:sp>
      <p:sp>
        <p:nvSpPr>
          <p:cNvPr id="51" name="activityTitle2"/>
          <p:cNvSpPr/>
          <p:nvPr/>
        </p:nvSpPr>
        <p:spPr>
          <a:xfrm>
            <a:off x="552450" y="48387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Validate release controls</a:t>
            </a:r>
          </a:p>
        </p:txBody>
      </p:sp>
      <p:sp>
        <p:nvSpPr>
          <p:cNvPr id="52" name="activityDetail2"/>
          <p:cNvSpPr/>
          <p:nvPr/>
        </p:nvSpPr>
        <p:spPr>
          <a:xfrm>
            <a:off x="552450" y="50927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Weeks 5–6: exercise priority tests and release checks in staging.</a:t>
            </a:r>
          </a:p>
        </p:txBody>
      </p:sp>
      <p:sp>
        <p:nvSpPr>
          <p:cNvPr id="53" name="activityTitle3"/>
          <p:cNvSpPr/>
          <p:nvPr/>
        </p:nvSpPr>
        <p:spPr>
          <a:xfrm>
            <a:off x="552450" y="54102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Coach and transfer ownership</a:t>
            </a:r>
          </a:p>
        </p:txBody>
      </p:sp>
      <p:sp>
        <p:nvSpPr>
          <p:cNvPr id="54" name="activityDetail3"/>
          <p:cNvSpPr/>
          <p:nvPr/>
        </p:nvSpPr>
        <p:spPr>
          <a:xfrm>
            <a:off x="552450" y="56642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Assign test owners and scope remaining pipeline and environment improvements.</a:t>
            </a:r>
          </a:p>
        </p:txBody>
      </p:sp>
      <p:sp>
        <p:nvSpPr>
          <p:cNvPr id="55" name="teamLabel"/>
          <p:cNvSpPr/>
          <p:nvPr/>
        </p:nvSpPr>
        <p:spPr>
          <a:xfrm>
            <a:off x="7581900" y="1511300"/>
            <a:ext cx="4057650" cy="254000"/>
          </a:xfrm>
          <a:prstGeom prst="rect">
            <a:avLst/>
          </a:prstGeom>
          <a:noFill/>
          <a:ln>
            <a:noFill/>
          </a:ln>
        </p:spPr>
        <p:txBody>
          <a:bodyPr lIns="0" tIns="0" rIns="0" bIns="0" anchor="t">
            <a:noAutofit/>
          </a:bodyPr>
          <a:lstStyle/>
          <a:p>
            <a:pPr algn="l">
              <a:buNone/>
            </a:pPr>
            <a:r>
              <a:rPr lang="en-US" sz="1100" b="1">
                <a:solidFill>
                  <a:srgbClr val="0047FF"/>
                </a:solidFill>
                <a:latin typeface="Arial"/>
              </a:rPr>
              <a:t>TESTING &amp; RELEASE TEAM</a:t>
            </a:r>
          </a:p>
        </p:txBody>
      </p:sp>
      <p:sp>
        <p:nvSpPr>
          <p:cNvPr id="56" name="teamName"/>
          <p:cNvSpPr/>
          <p:nvPr/>
        </p:nvSpPr>
        <p:spPr>
          <a:xfrm>
            <a:off x="7581900" y="1803400"/>
            <a:ext cx="3181350" cy="184666"/>
          </a:xfrm>
          <a:prstGeom prst="rect">
            <a:avLst/>
          </a:prstGeom>
          <a:noFill/>
          <a:ln>
            <a:noFill/>
          </a:ln>
        </p:spPr>
        <p:txBody>
          <a:bodyPr wrap="square" lIns="0" tIns="0" rIns="0" bIns="0" anchor="t">
            <a:spAutoFit/>
          </a:bodyPr>
          <a:lstStyle/>
          <a:p>
            <a:pPr algn="l">
              <a:buNone/>
            </a:pPr>
            <a:r>
              <a:rPr lang="en-US" sz="1200" b="1">
                <a:solidFill>
                  <a:srgbClr val="070154"/>
                </a:solidFill>
                <a:latin typeface="Arial"/>
              </a:rPr>
              <a:t>Executive Engineering Leader</a:t>
            </a:r>
          </a:p>
        </p:txBody>
      </p:sp>
      <p:sp>
        <p:nvSpPr>
          <p:cNvPr id="57" name="teamRole"/>
          <p:cNvSpPr/>
          <p:nvPr/>
        </p:nvSpPr>
        <p:spPr>
          <a:xfrm>
            <a:off x="10858500" y="1803400"/>
            <a:ext cx="781050" cy="184666"/>
          </a:xfrm>
          <a:prstGeom prst="rect">
            <a:avLst/>
          </a:prstGeom>
          <a:noFill/>
          <a:ln>
            <a:noFill/>
          </a:ln>
        </p:spPr>
        <p:txBody>
          <a:bodyPr wrap="square" lIns="0" tIns="0" rIns="0" bIns="0" anchor="t">
            <a:spAutoFit/>
          </a:bodyPr>
          <a:lstStyle/>
          <a:p>
            <a:pPr algn="r">
              <a:buNone/>
            </a:pPr>
            <a:r>
              <a:rPr lang="en-US" sz="1200" b="0">
                <a:solidFill>
                  <a:srgbClr val="50658E"/>
                </a:solidFill>
                <a:latin typeface="Arial"/>
              </a:rPr>
              <a:t>Part time</a:t>
            </a:r>
          </a:p>
        </p:txBody>
      </p:sp>
      <p:sp>
        <p:nvSpPr>
          <p:cNvPr id="67" name="DeliverablesPanel"/>
          <p:cNvSpPr/>
          <p:nvPr/>
        </p:nvSpPr>
        <p:spPr>
          <a:xfrm>
            <a:off x="7404100" y="2717800"/>
            <a:ext cx="4413250" cy="3289300"/>
          </a:xfrm>
          <a:prstGeom prst="rect">
            <a:avLst/>
          </a:prstGeom>
          <a:solidFill>
            <a:srgbClr val="E8EEF8"/>
          </a:solidFill>
          <a:ln>
            <a:noFill/>
          </a:ln>
        </p:spPr>
        <p:txBody>
          <a:bodyPr lIns="0" tIns="0" rIns="0" bIns="0" anchor="t">
            <a:noAutofit/>
          </a:bodyPr>
          <a:lstStyle/>
          <a:p>
            <a:endParaRPr/>
          </a:p>
        </p:txBody>
      </p:sp>
      <p:sp>
        <p:nvSpPr>
          <p:cNvPr id="60" name="deliverablesLabel"/>
          <p:cNvSpPr/>
          <p:nvPr/>
        </p:nvSpPr>
        <p:spPr>
          <a:xfrm>
            <a:off x="7581900" y="2870200"/>
            <a:ext cx="4057650" cy="261610"/>
          </a:xfrm>
          <a:prstGeom prst="rect">
            <a:avLst/>
          </a:prstGeom>
          <a:noFill/>
          <a:ln>
            <a:noFill/>
          </a:ln>
        </p:spPr>
        <p:txBody>
          <a:bodyPr wrap="square" lIns="0" tIns="0" rIns="0" bIns="0" anchor="t">
            <a:spAutoFit/>
          </a:bodyPr>
          <a:lstStyle/>
          <a:p>
            <a:pPr algn="l">
              <a:buNone/>
            </a:pPr>
            <a:r>
              <a:rPr lang="en-US" sz="1700" b="1">
                <a:solidFill>
                  <a:srgbClr val="0047FF"/>
                </a:solidFill>
                <a:latin typeface="Arial"/>
              </a:rPr>
              <a:t>DELIVERABLES</a:t>
            </a:r>
          </a:p>
        </p:txBody>
      </p:sp>
      <p:sp>
        <p:nvSpPr>
          <p:cNvPr id="62" name="qeArchitect"/>
          <p:cNvSpPr/>
          <p:nvPr/>
        </p:nvSpPr>
        <p:spPr>
          <a:xfrm>
            <a:off x="7581900" y="2108200"/>
            <a:ext cx="3181350" cy="184666"/>
          </a:xfrm>
          <a:prstGeom prst="rect">
            <a:avLst/>
          </a:prstGeom>
          <a:noFill/>
          <a:ln>
            <a:noFill/>
          </a:ln>
        </p:spPr>
        <p:txBody>
          <a:bodyPr wrap="square" lIns="0" tIns="0" rIns="0" bIns="0" anchor="t">
            <a:spAutoFit/>
          </a:bodyPr>
          <a:lstStyle/>
          <a:p>
            <a:pPr algn="l"/>
            <a:r>
              <a:rPr lang="en-US" sz="1200" b="1">
                <a:solidFill>
                  <a:srgbClr val="070154"/>
                </a:solidFill>
                <a:latin typeface="Arial"/>
              </a:rPr>
              <a:t>Quality Engineering Architect</a:t>
            </a:r>
          </a:p>
        </p:txBody>
      </p:sp>
      <p:sp>
        <p:nvSpPr>
          <p:cNvPr id="63" name="qeArchitectAllocation"/>
          <p:cNvSpPr/>
          <p:nvPr/>
        </p:nvSpPr>
        <p:spPr>
          <a:xfrm>
            <a:off x="10858500" y="2108200"/>
            <a:ext cx="781050" cy="184666"/>
          </a:xfrm>
          <a:prstGeom prst="rect">
            <a:avLst/>
          </a:prstGeom>
          <a:noFill/>
          <a:ln>
            <a:noFill/>
          </a:ln>
        </p:spPr>
        <p:txBody>
          <a:bodyPr wrap="square" lIns="0" tIns="0" rIns="0" bIns="0" anchor="t">
            <a:spAutoFit/>
          </a:bodyPr>
          <a:lstStyle/>
          <a:p>
            <a:pPr algn="r">
              <a:buNone/>
            </a:pPr>
            <a:r>
              <a:rPr lang="en-US" sz="1200" b="0" err="1">
                <a:solidFill>
                  <a:srgbClr val="50658E"/>
                </a:solidFill>
                <a:latin typeface="Arial"/>
              </a:rPr>
              <a:t>Full time</a:t>
            </a:r>
          </a:p>
        </p:txBody>
      </p:sp>
      <p:sp>
        <p:nvSpPr>
          <p:cNvPr id="64" name="qeSeniorEngineer"/>
          <p:cNvSpPr/>
          <p:nvPr/>
        </p:nvSpPr>
        <p:spPr>
          <a:xfrm>
            <a:off x="7581900" y="2413000"/>
            <a:ext cx="3181350" cy="184666"/>
          </a:xfrm>
          <a:prstGeom prst="rect">
            <a:avLst/>
          </a:prstGeom>
          <a:noFill/>
          <a:ln>
            <a:noFill/>
          </a:ln>
        </p:spPr>
        <p:txBody>
          <a:bodyPr wrap="square" lIns="0" tIns="0" rIns="0" bIns="0" anchor="t">
            <a:spAutoFit/>
          </a:bodyPr>
          <a:lstStyle/>
          <a:p>
            <a:pPr algn="l"/>
            <a:r>
              <a:rPr lang="en-US" sz="1200" b="1">
                <a:solidFill>
                  <a:srgbClr val="070154"/>
                </a:solidFill>
                <a:latin typeface="Arial"/>
              </a:rPr>
              <a:t>Quality Engineering Senior Engineer</a:t>
            </a:r>
          </a:p>
        </p:txBody>
      </p:sp>
      <p:sp>
        <p:nvSpPr>
          <p:cNvPr id="65" name="qeSeniorAllocation"/>
          <p:cNvSpPr/>
          <p:nvPr/>
        </p:nvSpPr>
        <p:spPr>
          <a:xfrm>
            <a:off x="10858500" y="2413000"/>
            <a:ext cx="781050" cy="184666"/>
          </a:xfrm>
          <a:prstGeom prst="rect">
            <a:avLst/>
          </a:prstGeom>
          <a:noFill/>
          <a:ln>
            <a:noFill/>
          </a:ln>
        </p:spPr>
        <p:txBody>
          <a:bodyPr wrap="square" lIns="0" tIns="0" rIns="0" bIns="0" anchor="t">
            <a:spAutoFit/>
          </a:bodyPr>
          <a:lstStyle/>
          <a:p>
            <a:pPr algn="r">
              <a:buNone/>
            </a:pPr>
            <a:r>
              <a:rPr lang="en-US" sz="1200" b="0" err="1">
                <a:solidFill>
                  <a:srgbClr val="50658E"/>
                </a:solidFill>
                <a:latin typeface="Arial"/>
              </a:rPr>
              <a:t>Full time</a:t>
            </a:r>
          </a:p>
        </p:txBody>
      </p:sp>
      <p:sp>
        <p:nvSpPr>
          <p:cNvPr id="66" name="deliverablesOutline"/>
          <p:cNvSpPr/>
          <p:nvPr/>
        </p:nvSpPr>
        <p:spPr>
          <a:xfrm>
            <a:off x="7581900" y="3251200"/>
            <a:ext cx="4057650" cy="2628092"/>
          </a:xfrm>
          <a:prstGeom prst="rect">
            <a:avLst/>
          </a:prstGeom>
          <a:noFill/>
          <a:ln>
            <a:noFill/>
          </a:ln>
        </p:spPr>
        <p:txBody>
          <a:bodyPr wrap="square" lIns="0" tIns="0" rIns="0" bIns="0" anchor="t">
            <a:spAutoFit/>
          </a:bodyPr>
          <a:lstStyle/>
          <a:p>
            <a:pPr marL="177800" indent="-177800" algn="l">
              <a:lnSpc>
                <a:spcPts val="1700"/>
              </a:lnSpc>
              <a:spcAft>
                <a:spcPts val="900"/>
              </a:spcAft>
              <a:buClr>
                <a:srgbClr val="0047FF"/>
              </a:buClr>
              <a:buSzPct val="100000"/>
              <a:buFont typeface="Arial"/>
              <a:buChar char="•"/>
            </a:pPr>
            <a:r>
              <a:rPr lang="en-US" sz="1400" b="0">
                <a:solidFill>
                  <a:srgbClr val="070154"/>
                </a:solidFill>
                <a:latin typeface="Arial"/>
              </a:rPr>
              <a:t>An assessment of the existing testing process, with recommendations on focus areas</a:t>
            </a:r>
          </a:p>
          <a:p>
            <a:pPr marL="177800" indent="-177800" algn="l">
              <a:lnSpc>
                <a:spcPts val="1700"/>
              </a:lnSpc>
              <a:spcAft>
                <a:spcPts val="900"/>
              </a:spcAft>
              <a:buClr>
                <a:srgbClr val="0047FF"/>
              </a:buClr>
              <a:buSzPct val="100000"/>
              <a:buFont typeface="Arial"/>
              <a:buChar char="•"/>
            </a:pPr>
            <a:r>
              <a:rPr lang="en-US" sz="1400" b="0">
                <a:solidFill>
                  <a:srgbClr val="070154"/>
                </a:solidFill>
                <a:latin typeface="Arial"/>
              </a:rPr>
              <a:t>Recommendations on enhancing environment provisioning and release controls</a:t>
            </a:r>
          </a:p>
          <a:p>
            <a:pPr marL="177800" indent="-177800" algn="l">
              <a:lnSpc>
                <a:spcPts val="1700"/>
              </a:lnSpc>
              <a:spcAft>
                <a:spcPts val="900"/>
              </a:spcAft>
              <a:buClr>
                <a:srgbClr val="0047FF"/>
              </a:buClr>
              <a:buSzPct val="100000"/>
              <a:buFont typeface="Arial"/>
              <a:buChar char="•"/>
            </a:pPr>
            <a:r>
              <a:rPr lang="en-US" sz="1400" b="0">
                <a:solidFill>
                  <a:srgbClr val="070154"/>
                </a:solidFill>
                <a:latin typeface="Arial"/>
              </a:rPr>
              <a:t>A sprint’s worth of added capacity to enhance end-to-end testing coverage</a:t>
            </a:r>
          </a:p>
          <a:p>
            <a:pPr marL="177800" indent="-177800" algn="l">
              <a:lnSpc>
                <a:spcPts val="1700"/>
              </a:lnSpc>
              <a:spcAft>
                <a:spcPts val="900"/>
              </a:spcAft>
              <a:buClr>
                <a:srgbClr val="0047FF"/>
              </a:buClr>
              <a:buSzPct val="100000"/>
              <a:buFont typeface="Arial"/>
              <a:buChar char="•"/>
            </a:pPr>
            <a:r>
              <a:rPr lang="en-US" sz="1400">
                <a:solidFill>
                  <a:srgbClr val="070154"/>
                </a:solidFill>
                <a:latin typeface="Arial"/>
              </a:rPr>
              <a:t>Agentic skills to speed up test creation generation by dev teams</a:t>
            </a:r>
            <a:endParaRPr lang="en-US" sz="1400" b="0">
              <a:solidFill>
                <a:srgbClr val="070154"/>
              </a:solidFill>
              <a:latin typeface="Arial"/>
            </a:endParaRPr>
          </a:p>
          <a:p>
            <a:pPr marL="177800" indent="-177800" algn="l">
              <a:lnSpc>
                <a:spcPts val="1700"/>
              </a:lnSpc>
              <a:spcAft>
                <a:spcPts val="0"/>
              </a:spcAft>
              <a:buClr>
                <a:srgbClr val="0047FF"/>
              </a:buClr>
              <a:buSzPct val="100000"/>
              <a:buFont typeface="Arial"/>
              <a:buChar char="•"/>
            </a:pPr>
            <a:r>
              <a:rPr lang="en-US" sz="1400">
                <a:solidFill>
                  <a:srgbClr val="070154"/>
                </a:solidFill>
                <a:latin typeface="Arial"/>
              </a:rPr>
              <a:t>Evidence </a:t>
            </a:r>
            <a:r>
              <a:rPr lang="en-US" sz="1400" err="1">
                <a:solidFill>
                  <a:srgbClr val="070154"/>
                </a:solidFill>
                <a:latin typeface="Arial"/>
              </a:rPr>
              <a:t>Datatabase</a:t>
            </a:r>
            <a:r>
              <a:rPr lang="en-US" sz="1400">
                <a:solidFill>
                  <a:srgbClr val="070154"/>
                </a:solidFill>
                <a:latin typeface="Arial"/>
              </a:rPr>
              <a:t> and Critical user journey inventory</a:t>
            </a:r>
            <a:r>
              <a:rPr lang="en-US" sz="1400" b="0">
                <a:solidFill>
                  <a:srgbClr val="070154"/>
                </a:solidFill>
                <a:latin typeface="Arial"/>
              </a:rPr>
              <a:t> generated by </a:t>
            </a:r>
            <a:r>
              <a:rPr lang="en-US" sz="1400" b="0" err="1">
                <a:solidFill>
                  <a:srgbClr val="070154"/>
                </a:solidFill>
                <a:latin typeface="Arial"/>
              </a:rPr>
              <a:t>Intellio</a:t>
            </a:r>
            <a:r>
              <a:rPr lang="en-US" sz="1400" b="0">
                <a:solidFill>
                  <a:srgbClr val="070154"/>
                </a:solidFill>
                <a:latin typeface="Arial"/>
              </a:rPr>
              <a:t> Evolve</a:t>
            </a:r>
          </a:p>
        </p:txBody>
      </p:sp>
      <p:sp>
        <p:nvSpPr>
          <p:cNvPr id="2" name="Footer Placeholder 1">
            <a:extLst>
              <a:ext uri="{FF2B5EF4-FFF2-40B4-BE49-F238E27FC236}">
                <a16:creationId xmlns:a16="http://schemas.microsoft.com/office/drawing/2014/main" id="{AEC25ABF-C49E-88B9-4A50-D5E5412A179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4" name="Slide Number Placeholder 2">
            <a:extLst>
              <a:ext uri="{FF2B5EF4-FFF2-40B4-BE49-F238E27FC236}">
                <a16:creationId xmlns:a16="http://schemas.microsoft.com/office/drawing/2014/main" id="{258E838A-552C-13B1-DC72-8D7CB0517440}"/>
              </a:ext>
            </a:extLst>
          </p:cNvPr>
          <p:cNvSpPr>
            <a:spLocks noGrp="1"/>
          </p:cNvSpPr>
          <p:nvPr>
            <p:ph type="sldNum" idx="11"/>
          </p:nvPr>
        </p:nvSpPr>
        <p:spPr>
          <a:xfrm>
            <a:off x="11509578" y="6400799"/>
            <a:ext cx="218871" cy="167949"/>
          </a:xfrm>
        </p:spPr>
        <p:txBody>
          <a:bodyPr/>
          <a:lstStyle/>
          <a:p>
            <a:fld id="{63DCA5C9-2E11-4C67-86EB-AE1DE127DC64}" type="slidenum">
              <a:rPr lang="en-US" smtClean="0"/>
              <a:t>40</a:t>
            </a:fld>
            <a:endParaRPr lang="en-US"/>
          </a:p>
        </p:txBody>
      </p:sp>
    </p:spTree>
    <p:extLst>
      <p:ext uri="{BB962C8B-B14F-4D97-AF65-F5344CB8AC3E}">
        <p14:creationId xmlns:p14="http://schemas.microsoft.com/office/powerpoint/2010/main" val="14454688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tretch/>
        </p:blipFill>
        <p:spPr>
          <a:xfrm>
            <a:off x="10725150" y="271992"/>
            <a:ext cx="1047750" cy="465667"/>
          </a:xfrm>
          <a:prstGeom prst="rect">
            <a:avLst/>
          </a:prstGeom>
        </p:spPr>
      </p:pic>
      <p:sp>
        <p:nvSpPr>
          <p:cNvPr id="40" name="title"/>
          <p:cNvSpPr/>
          <p:nvPr/>
        </p:nvSpPr>
        <p:spPr>
          <a:xfrm>
            <a:off x="552450" y="304800"/>
            <a:ext cx="9652000" cy="406400"/>
          </a:xfrm>
          <a:prstGeom prst="rect">
            <a:avLst/>
          </a:prstGeom>
          <a:noFill/>
          <a:ln>
            <a:noFill/>
          </a:ln>
        </p:spPr>
        <p:txBody>
          <a:bodyPr lIns="0" tIns="0" rIns="0" bIns="0" anchor="t">
            <a:noAutofit/>
          </a:bodyPr>
          <a:lstStyle/>
          <a:p>
            <a:pPr algn="l">
              <a:buNone/>
            </a:pPr>
            <a:r>
              <a:rPr lang="en-US" sz="2325" b="1">
                <a:solidFill>
                  <a:srgbClr val="070154"/>
                </a:solidFill>
                <a:latin typeface="Arial"/>
              </a:rPr>
              <a:t>Three parallel workstreams, one combined investment</a:t>
            </a:r>
          </a:p>
        </p:txBody>
      </p:sp>
      <p:sp>
        <p:nvSpPr>
          <p:cNvPr id="41" name="subtitle"/>
          <p:cNvSpPr/>
          <p:nvPr/>
        </p:nvSpPr>
        <p:spPr>
          <a:xfrm>
            <a:off x="552450" y="762000"/>
            <a:ext cx="9652000" cy="355600"/>
          </a:xfrm>
          <a:prstGeom prst="rect">
            <a:avLst/>
          </a:prstGeom>
          <a:noFill/>
          <a:ln>
            <a:noFill/>
          </a:ln>
        </p:spPr>
        <p:txBody>
          <a:bodyPr lIns="0" tIns="0" rIns="0" bIns="0" anchor="t">
            <a:noAutofit/>
          </a:bodyPr>
          <a:lstStyle/>
          <a:p>
            <a:pPr algn="l">
              <a:buNone/>
            </a:pPr>
            <a:r>
              <a:rPr lang="en-US" sz="1350" b="0">
                <a:solidFill>
                  <a:srgbClr val="50658E"/>
                </a:solidFill>
                <a:latin typeface="Arial"/>
              </a:rPr>
              <a:t>Distinct teams and durations; pricing applies to the combined package.</a:t>
            </a:r>
          </a:p>
        </p:txBody>
      </p:sp>
      <p:sp>
        <p:nvSpPr>
          <p:cNvPr id="42" name="titleRule"/>
          <p:cNvSpPr/>
          <p:nvPr/>
        </p:nvSpPr>
        <p:spPr>
          <a:xfrm>
            <a:off x="552450" y="1244600"/>
            <a:ext cx="11087100" cy="19050"/>
          </a:xfrm>
          <a:prstGeom prst="rect">
            <a:avLst/>
          </a:prstGeom>
          <a:solidFill>
            <a:srgbClr val="0047FF"/>
          </a:solidFill>
          <a:ln>
            <a:noFill/>
          </a:ln>
        </p:spPr>
        <p:txBody>
          <a:bodyPr lIns="0" tIns="0" rIns="0" bIns="0" anchor="t">
            <a:noAutofit/>
          </a:bodyPr>
          <a:lstStyle/>
          <a:p>
            <a:endParaRPr/>
          </a:p>
        </p:txBody>
      </p:sp>
      <p:sp>
        <p:nvSpPr>
          <p:cNvPr id="60" name="investmentLabel"/>
          <p:cNvSpPr/>
          <p:nvPr/>
        </p:nvSpPr>
        <p:spPr>
          <a:xfrm>
            <a:off x="552450" y="4406900"/>
            <a:ext cx="11087100" cy="241300"/>
          </a:xfrm>
          <a:prstGeom prst="rect">
            <a:avLst/>
          </a:prstGeom>
          <a:noFill/>
          <a:ln>
            <a:noFill/>
          </a:ln>
        </p:spPr>
        <p:txBody>
          <a:bodyPr lIns="0" tIns="0" rIns="0" bIns="0" anchor="t">
            <a:noAutofit/>
          </a:bodyPr>
          <a:lstStyle/>
          <a:p>
            <a:pPr algn="l">
              <a:buNone/>
            </a:pPr>
            <a:r>
              <a:rPr lang="en-US" sz="1100" b="1">
                <a:solidFill>
                  <a:srgbClr val="0047FF"/>
                </a:solidFill>
                <a:latin typeface="Arial"/>
              </a:rPr>
              <a:t>COMBINED INVESTMENT · ALL THREE WORKSTREAMS</a:t>
            </a:r>
          </a:p>
        </p:txBody>
      </p:sp>
      <p:graphicFrame>
        <p:nvGraphicFramePr>
          <p:cNvPr id="61" name="Three-workstream pricing"/>
          <p:cNvGraphicFramePr/>
          <p:nvPr>
            <p:extLst>
              <p:ext uri="{D42A27DB-BD31-4B8C-83A1-F6EECF244321}">
                <p14:modId xmlns:p14="http://schemas.microsoft.com/office/powerpoint/2010/main" val="3536281554"/>
              </p:ext>
            </p:extLst>
          </p:nvPr>
        </p:nvGraphicFramePr>
        <p:xfrm>
          <a:off x="552450" y="4686300"/>
          <a:ext cx="11087100" cy="1447800"/>
        </p:xfrm>
        <a:graphic>
          <a:graphicData uri="http://schemas.openxmlformats.org/drawingml/2006/table">
            <a:tbl>
              <a:tblPr/>
              <a:tblGrid>
                <a:gridCol w="7747000">
                  <a:extLst>
                    <a:ext uri="{9D8B030D-6E8A-4147-A177-3AD203B41FA5}">
                      <a16:colId xmlns:a16="http://schemas.microsoft.com/office/drawing/2014/main" val="20000"/>
                    </a:ext>
                  </a:extLst>
                </a:gridCol>
                <a:gridCol w="3340100">
                  <a:extLst>
                    <a:ext uri="{9D8B030D-6E8A-4147-A177-3AD203B41FA5}">
                      <a16:colId xmlns:a16="http://schemas.microsoft.com/office/drawing/2014/main" val="20001"/>
                    </a:ext>
                  </a:extLst>
                </a:gridCol>
              </a:tblGrid>
              <a:tr h="482600">
                <a:tc>
                  <a:txBody>
                    <a:bodyPr/>
                    <a:lstStyle/>
                    <a:p>
                      <a:pPr algn="l">
                        <a:buNone/>
                      </a:pPr>
                      <a:r>
                        <a:rPr lang="en-US" sz="1400" b="0">
                          <a:solidFill>
                            <a:srgbClr val="070154"/>
                          </a:solidFill>
                          <a:latin typeface="Arial"/>
                        </a:rPr>
                        <a:t>Total fees</a:t>
                      </a:r>
                    </a:p>
                  </a:txBody>
                  <a:tcPr marL="152400" marR="152400" marT="63500" marB="63500" anchor="ctr">
                    <a:lnL>
                      <a:noFill/>
                    </a:lnL>
                    <a:lnR>
                      <a:noFill/>
                    </a:lnR>
                    <a:lnT>
                      <a:noFill/>
                    </a:lnT>
                    <a:lnB w="12700">
                      <a:solidFill>
                        <a:srgbClr val="FFFFFF"/>
                      </a:solidFill>
                    </a:lnB>
                    <a:solidFill>
                      <a:srgbClr val="E8EEF8"/>
                    </a:solidFill>
                  </a:tcPr>
                </a:tc>
                <a:tc>
                  <a:txBody>
                    <a:bodyPr/>
                    <a:lstStyle/>
                    <a:p>
                      <a:pPr algn="r">
                        <a:buNone/>
                      </a:pPr>
                      <a:r>
                        <a:rPr lang="en-US" sz="1400" b="0">
                          <a:solidFill>
                            <a:srgbClr val="070154"/>
                          </a:solidFill>
                          <a:latin typeface="Arial"/>
                        </a:rPr>
                        <a:t>$370,000</a:t>
                      </a:r>
                    </a:p>
                  </a:txBody>
                  <a:tcPr marL="152400" marR="152400" marT="63500" marB="63500" anchor="ctr">
                    <a:lnL>
                      <a:noFill/>
                    </a:lnL>
                    <a:lnR>
                      <a:noFill/>
                    </a:lnR>
                    <a:lnT>
                      <a:noFill/>
                    </a:lnT>
                    <a:lnB w="12700">
                      <a:solidFill>
                        <a:srgbClr val="FFFFFF"/>
                      </a:solidFill>
                    </a:lnB>
                    <a:solidFill>
                      <a:srgbClr val="E8EEF8"/>
                    </a:solidFill>
                  </a:tcPr>
                </a:tc>
                <a:extLst>
                  <a:ext uri="{0D108BD9-81ED-4DB2-BD59-A6C34878D82A}">
                    <a16:rowId xmlns:a16="http://schemas.microsoft.com/office/drawing/2014/main" val="10000"/>
                  </a:ext>
                </a:extLst>
              </a:tr>
              <a:tr h="482600">
                <a:tc>
                  <a:txBody>
                    <a:bodyPr/>
                    <a:lstStyle/>
                    <a:p>
                      <a:pPr algn="l">
                        <a:buNone/>
                      </a:pPr>
                      <a:r>
                        <a:rPr lang="en-US" sz="1400" b="0">
                          <a:solidFill>
                            <a:srgbClr val="070154"/>
                          </a:solidFill>
                          <a:latin typeface="Arial"/>
                        </a:rPr>
                        <a:t>Credit from Phase 1</a:t>
                      </a:r>
                    </a:p>
                  </a:txBody>
                  <a:tcPr marL="152400" marR="152400" marT="63500" marB="63500" anchor="ctr">
                    <a:lnL>
                      <a:noFill/>
                    </a:lnL>
                    <a:lnR>
                      <a:noFill/>
                    </a:lnR>
                    <a:lnT w="12700" cap="flat" cmpd="sng" algn="ctr">
                      <a:solidFill>
                        <a:srgbClr val="FFFFFF"/>
                      </a:solidFill>
                      <a:prstDash val="solid"/>
                      <a:round/>
                      <a:headEnd type="none" w="med" len="med"/>
                      <a:tailEnd type="none" w="med" len="med"/>
                    </a:lnT>
                    <a:lnB w="12700">
                      <a:solidFill>
                        <a:srgbClr val="FFFFFF"/>
                      </a:solidFill>
                    </a:lnB>
                    <a:solidFill>
                      <a:srgbClr val="E8EEF8"/>
                    </a:solidFill>
                  </a:tcPr>
                </a:tc>
                <a:tc>
                  <a:txBody>
                    <a:bodyPr/>
                    <a:lstStyle/>
                    <a:p>
                      <a:pPr algn="r">
                        <a:buNone/>
                      </a:pPr>
                      <a:r>
                        <a:rPr lang="en-US" sz="1400" b="0">
                          <a:solidFill>
                            <a:srgbClr val="070154"/>
                          </a:solidFill>
                          <a:latin typeface="Arial"/>
                        </a:rPr>
                        <a:t>($25,000)</a:t>
                      </a:r>
                    </a:p>
                  </a:txBody>
                  <a:tcPr marL="152400" marR="152400" marT="63500" marB="63500" anchor="ctr">
                    <a:lnL>
                      <a:noFill/>
                    </a:lnL>
                    <a:lnR>
                      <a:noFill/>
                    </a:lnR>
                    <a:lnT w="12700" cap="flat" cmpd="sng" algn="ctr">
                      <a:solidFill>
                        <a:srgbClr val="FFFFFF"/>
                      </a:solidFill>
                      <a:prstDash val="solid"/>
                      <a:round/>
                      <a:headEnd type="none" w="med" len="med"/>
                      <a:tailEnd type="none" w="med" len="med"/>
                    </a:lnT>
                    <a:lnB w="12700">
                      <a:solidFill>
                        <a:srgbClr val="FFFFFF"/>
                      </a:solidFill>
                    </a:lnB>
                    <a:solidFill>
                      <a:srgbClr val="E8EEF8"/>
                    </a:solidFill>
                  </a:tcPr>
                </a:tc>
                <a:extLst>
                  <a:ext uri="{0D108BD9-81ED-4DB2-BD59-A6C34878D82A}">
                    <a16:rowId xmlns:a16="http://schemas.microsoft.com/office/drawing/2014/main" val="10001"/>
                  </a:ext>
                </a:extLst>
              </a:tr>
              <a:tr h="482600">
                <a:tc>
                  <a:txBody>
                    <a:bodyPr/>
                    <a:lstStyle/>
                    <a:p>
                      <a:pPr algn="l">
                        <a:buNone/>
                      </a:pPr>
                      <a:r>
                        <a:rPr lang="en-US" sz="1400" b="1">
                          <a:solidFill>
                            <a:srgbClr val="FFFFFF"/>
                          </a:solidFill>
                          <a:latin typeface="Arial"/>
                        </a:rPr>
                        <a:t>Total investment</a:t>
                      </a:r>
                    </a:p>
                  </a:txBody>
                  <a:tcPr marL="152400" marR="152400" marT="63500" marB="63500" anchor="ctr">
                    <a:lnL>
                      <a:noFill/>
                    </a:lnL>
                    <a:lnR>
                      <a:noFill/>
                    </a:lnR>
                    <a:lnT w="12700" cap="flat" cmpd="sng" algn="ctr">
                      <a:solidFill>
                        <a:srgbClr val="FFFFFF"/>
                      </a:solidFill>
                      <a:prstDash val="solid"/>
                      <a:round/>
                      <a:headEnd type="none" w="med" len="med"/>
                      <a:tailEnd type="none" w="med" len="med"/>
                    </a:lnT>
                    <a:lnB w="12700">
                      <a:solidFill>
                        <a:srgbClr val="FFFFFF"/>
                      </a:solidFill>
                    </a:lnB>
                    <a:solidFill>
                      <a:srgbClr val="070154"/>
                    </a:solidFill>
                  </a:tcPr>
                </a:tc>
                <a:tc>
                  <a:txBody>
                    <a:bodyPr/>
                    <a:lstStyle/>
                    <a:p>
                      <a:pPr algn="r">
                        <a:buNone/>
                      </a:pPr>
                      <a:r>
                        <a:rPr lang="en-US" sz="1400" b="1">
                          <a:solidFill>
                            <a:srgbClr val="FFFFFF"/>
                          </a:solidFill>
                          <a:latin typeface="Arial"/>
                        </a:rPr>
                        <a:t>$345,000</a:t>
                      </a:r>
                    </a:p>
                  </a:txBody>
                  <a:tcPr marL="152400" marR="152400" marT="63500" marB="63500" anchor="ctr">
                    <a:lnL>
                      <a:noFill/>
                    </a:lnL>
                    <a:lnR>
                      <a:noFill/>
                    </a:lnR>
                    <a:lnT w="12700" cap="flat" cmpd="sng" algn="ctr">
                      <a:solidFill>
                        <a:srgbClr val="FFFFFF"/>
                      </a:solidFill>
                      <a:prstDash val="solid"/>
                      <a:round/>
                      <a:headEnd type="none" w="med" len="med"/>
                      <a:tailEnd type="none" w="med" len="med"/>
                    </a:lnT>
                    <a:lnB w="12700">
                      <a:solidFill>
                        <a:srgbClr val="FFFFFF"/>
                      </a:solidFill>
                    </a:lnB>
                    <a:solidFill>
                      <a:srgbClr val="070154"/>
                    </a:solidFill>
                  </a:tcPr>
                </a:tc>
                <a:extLst>
                  <a:ext uri="{0D108BD9-81ED-4DB2-BD59-A6C34878D82A}">
                    <a16:rowId xmlns:a16="http://schemas.microsoft.com/office/drawing/2014/main" val="10002"/>
                  </a:ext>
                </a:extLst>
              </a:tr>
            </a:tbl>
          </a:graphicData>
        </a:graphic>
      </p:graphicFrame>
      <p:sp>
        <p:nvSpPr>
          <p:cNvPr id="70" name="productPanel"/>
          <p:cNvSpPr/>
          <p:nvPr/>
        </p:nvSpPr>
        <p:spPr>
          <a:xfrm>
            <a:off x="552450" y="1536700"/>
            <a:ext cx="3581400" cy="2806700"/>
          </a:xfrm>
          <a:prstGeom prst="rect">
            <a:avLst/>
          </a:prstGeom>
          <a:solidFill>
            <a:srgbClr val="E8EEF8"/>
          </a:solidFill>
          <a:ln>
            <a:noFill/>
          </a:ln>
        </p:spPr>
        <p:txBody>
          <a:bodyPr lIns="0" tIns="0" rIns="0" bIns="0" anchor="t">
            <a:noAutofit/>
          </a:bodyPr>
          <a:lstStyle/>
          <a:p>
            <a:endParaRPr/>
          </a:p>
        </p:txBody>
      </p:sp>
      <p:sp>
        <p:nvSpPr>
          <p:cNvPr id="71" name="productTitle"/>
          <p:cNvSpPr/>
          <p:nvPr/>
        </p:nvSpPr>
        <p:spPr>
          <a:xfrm>
            <a:off x="742950" y="1739900"/>
            <a:ext cx="3200400" cy="546100"/>
          </a:xfrm>
          <a:prstGeom prst="rect">
            <a:avLst/>
          </a:prstGeom>
          <a:noFill/>
          <a:ln>
            <a:noFill/>
          </a:ln>
        </p:spPr>
        <p:txBody>
          <a:bodyPr lIns="0" tIns="0" rIns="0" bIns="0" anchor="t">
            <a:noAutofit/>
          </a:bodyPr>
          <a:lstStyle/>
          <a:p>
            <a:pPr algn="l">
              <a:buNone/>
            </a:pPr>
            <a:r>
              <a:rPr lang="en-US" sz="1400" b="1">
                <a:solidFill>
                  <a:srgbClr val="070154"/>
                </a:solidFill>
                <a:latin typeface="Arial"/>
              </a:rPr>
              <a:t>Product strategy spike</a:t>
            </a:r>
          </a:p>
        </p:txBody>
      </p:sp>
      <p:sp>
        <p:nvSpPr>
          <p:cNvPr id="72" name="productDuration"/>
          <p:cNvSpPr/>
          <p:nvPr/>
        </p:nvSpPr>
        <p:spPr>
          <a:xfrm>
            <a:off x="742950" y="2413000"/>
            <a:ext cx="3200400" cy="495300"/>
          </a:xfrm>
          <a:prstGeom prst="rect">
            <a:avLst/>
          </a:prstGeom>
          <a:noFill/>
          <a:ln>
            <a:noFill/>
          </a:ln>
        </p:spPr>
        <p:txBody>
          <a:bodyPr lIns="0" tIns="0" rIns="0" bIns="0" anchor="t">
            <a:noAutofit/>
          </a:bodyPr>
          <a:lstStyle/>
          <a:p>
            <a:pPr algn="l">
              <a:buNone/>
            </a:pPr>
            <a:r>
              <a:rPr lang="en-US" sz="2100" b="1">
                <a:solidFill>
                  <a:srgbClr val="070154"/>
                </a:solidFill>
                <a:latin typeface="Arial"/>
              </a:rPr>
              <a:t>4 weeks</a:t>
            </a:r>
          </a:p>
        </p:txBody>
      </p:sp>
      <p:sp>
        <p:nvSpPr>
          <p:cNvPr id="73" name="productTeamLabel"/>
          <p:cNvSpPr/>
          <p:nvPr/>
        </p:nvSpPr>
        <p:spPr>
          <a:xfrm>
            <a:off x="742950" y="2921000"/>
            <a:ext cx="3200400" cy="254000"/>
          </a:xfrm>
          <a:prstGeom prst="rect">
            <a:avLst/>
          </a:prstGeom>
          <a:noFill/>
          <a:ln>
            <a:noFill/>
          </a:ln>
        </p:spPr>
        <p:txBody>
          <a:bodyPr lIns="0" tIns="0" rIns="0" bIns="0" anchor="t">
            <a:noAutofit/>
          </a:bodyPr>
          <a:lstStyle/>
          <a:p>
            <a:pPr algn="l">
              <a:buNone/>
            </a:pPr>
            <a:r>
              <a:rPr lang="en-US" sz="1100" b="1">
                <a:solidFill>
                  <a:srgbClr val="0047FF"/>
                </a:solidFill>
                <a:latin typeface="Arial"/>
              </a:rPr>
              <a:t>PROPOSED TEAM</a:t>
            </a:r>
          </a:p>
        </p:txBody>
      </p:sp>
      <p:sp>
        <p:nvSpPr>
          <p:cNvPr id="74" name="productTeam1"/>
          <p:cNvSpPr/>
          <p:nvPr/>
        </p:nvSpPr>
        <p:spPr>
          <a:xfrm>
            <a:off x="742950" y="3213100"/>
            <a:ext cx="3200400" cy="495300"/>
          </a:xfrm>
          <a:prstGeom prst="rect">
            <a:avLst/>
          </a:prstGeom>
          <a:noFill/>
          <a:ln>
            <a:noFill/>
          </a:ln>
        </p:spPr>
        <p:txBody>
          <a:bodyPr lIns="0" tIns="0" rIns="0" bIns="0" anchor="t">
            <a:noAutofit/>
          </a:bodyPr>
          <a:lstStyle/>
          <a:p>
            <a:pPr algn="l">
              <a:buNone/>
            </a:pPr>
            <a:r>
              <a:rPr lang="en-US" sz="1150" b="0">
                <a:solidFill>
                  <a:srgbClr val="50658E"/>
                </a:solidFill>
                <a:latin typeface="Arial"/>
              </a:rPr>
              <a:t>Sameer Karim · Executive Product Strategy (part time)</a:t>
            </a:r>
          </a:p>
        </p:txBody>
      </p:sp>
      <p:sp>
        <p:nvSpPr>
          <p:cNvPr id="75" name="productTeam2"/>
          <p:cNvSpPr/>
          <p:nvPr/>
        </p:nvSpPr>
        <p:spPr>
          <a:xfrm>
            <a:off x="742950" y="3797300"/>
            <a:ext cx="3200400" cy="508000"/>
          </a:xfrm>
          <a:prstGeom prst="rect">
            <a:avLst/>
          </a:prstGeom>
          <a:noFill/>
          <a:ln>
            <a:noFill/>
          </a:ln>
        </p:spPr>
        <p:txBody>
          <a:bodyPr lIns="0" tIns="0" rIns="0" bIns="0" anchor="t">
            <a:noAutofit/>
          </a:bodyPr>
          <a:lstStyle/>
          <a:p>
            <a:pPr algn="l">
              <a:buNone/>
            </a:pPr>
            <a:r>
              <a:rPr lang="en-US" sz="1150" b="0">
                <a:solidFill>
                  <a:srgbClr val="50658E"/>
                </a:solidFill>
                <a:latin typeface="Arial"/>
              </a:rPr>
              <a:t>Mzati Kapalamula · Senior Product Strategist (full time)</a:t>
            </a:r>
          </a:p>
        </p:txBody>
      </p:sp>
      <p:sp>
        <p:nvSpPr>
          <p:cNvPr id="76" name="engineeringPanel"/>
          <p:cNvSpPr/>
          <p:nvPr/>
        </p:nvSpPr>
        <p:spPr>
          <a:xfrm>
            <a:off x="4305300" y="1536700"/>
            <a:ext cx="3581400" cy="2806700"/>
          </a:xfrm>
          <a:prstGeom prst="rect">
            <a:avLst/>
          </a:prstGeom>
          <a:solidFill>
            <a:srgbClr val="E8EEF8"/>
          </a:solidFill>
          <a:ln>
            <a:noFill/>
          </a:ln>
        </p:spPr>
        <p:txBody>
          <a:bodyPr lIns="0" tIns="0" rIns="0" bIns="0" anchor="t">
            <a:noAutofit/>
          </a:bodyPr>
          <a:lstStyle/>
          <a:p>
            <a:endParaRPr/>
          </a:p>
        </p:txBody>
      </p:sp>
      <p:sp>
        <p:nvSpPr>
          <p:cNvPr id="77" name="engineeringTitle"/>
          <p:cNvSpPr/>
          <p:nvPr/>
        </p:nvSpPr>
        <p:spPr>
          <a:xfrm>
            <a:off x="4495800" y="1739900"/>
            <a:ext cx="3200400" cy="546100"/>
          </a:xfrm>
          <a:prstGeom prst="rect">
            <a:avLst/>
          </a:prstGeom>
          <a:noFill/>
          <a:ln>
            <a:noFill/>
          </a:ln>
        </p:spPr>
        <p:txBody>
          <a:bodyPr lIns="0" tIns="0" rIns="0" bIns="0" anchor="t">
            <a:noAutofit/>
          </a:bodyPr>
          <a:lstStyle/>
          <a:p>
            <a:pPr algn="l">
              <a:buNone/>
            </a:pPr>
            <a:r>
              <a:rPr lang="en-US" sz="1400" b="1">
                <a:solidFill>
                  <a:srgbClr val="070154"/>
                </a:solidFill>
                <a:latin typeface="Arial"/>
              </a:rPr>
              <a:t>Reconcile AI engineering across Core</a:t>
            </a:r>
          </a:p>
        </p:txBody>
      </p:sp>
      <p:sp>
        <p:nvSpPr>
          <p:cNvPr id="78" name="engineeringDuration"/>
          <p:cNvSpPr/>
          <p:nvPr/>
        </p:nvSpPr>
        <p:spPr>
          <a:xfrm>
            <a:off x="4495800" y="2413000"/>
            <a:ext cx="3200400" cy="495300"/>
          </a:xfrm>
          <a:prstGeom prst="rect">
            <a:avLst/>
          </a:prstGeom>
          <a:noFill/>
          <a:ln>
            <a:noFill/>
          </a:ln>
        </p:spPr>
        <p:txBody>
          <a:bodyPr lIns="0" tIns="0" rIns="0" bIns="0" anchor="t">
            <a:noAutofit/>
          </a:bodyPr>
          <a:lstStyle/>
          <a:p>
            <a:pPr algn="l">
              <a:buNone/>
            </a:pPr>
            <a:r>
              <a:rPr lang="en-US" sz="2100" b="1">
                <a:solidFill>
                  <a:srgbClr val="070154"/>
                </a:solidFill>
                <a:latin typeface="Arial"/>
              </a:rPr>
              <a:t>6 weeks</a:t>
            </a:r>
          </a:p>
        </p:txBody>
      </p:sp>
      <p:sp>
        <p:nvSpPr>
          <p:cNvPr id="79" name="engineeringTeamLabel"/>
          <p:cNvSpPr/>
          <p:nvPr/>
        </p:nvSpPr>
        <p:spPr>
          <a:xfrm>
            <a:off x="4495800" y="2921000"/>
            <a:ext cx="3200400" cy="254000"/>
          </a:xfrm>
          <a:prstGeom prst="rect">
            <a:avLst/>
          </a:prstGeom>
          <a:noFill/>
          <a:ln>
            <a:noFill/>
          </a:ln>
        </p:spPr>
        <p:txBody>
          <a:bodyPr lIns="0" tIns="0" rIns="0" bIns="0" anchor="t">
            <a:noAutofit/>
          </a:bodyPr>
          <a:lstStyle/>
          <a:p>
            <a:pPr algn="l">
              <a:buNone/>
            </a:pPr>
            <a:r>
              <a:rPr lang="en-US" sz="1100" b="1">
                <a:solidFill>
                  <a:srgbClr val="0047FF"/>
                </a:solidFill>
                <a:latin typeface="Arial"/>
              </a:rPr>
              <a:t>PROPOSED TEAM</a:t>
            </a:r>
          </a:p>
        </p:txBody>
      </p:sp>
      <p:sp>
        <p:nvSpPr>
          <p:cNvPr id="80" name="engineeringTeam1"/>
          <p:cNvSpPr/>
          <p:nvPr/>
        </p:nvSpPr>
        <p:spPr>
          <a:xfrm>
            <a:off x="4495800" y="3213100"/>
            <a:ext cx="3200400" cy="495300"/>
          </a:xfrm>
          <a:prstGeom prst="rect">
            <a:avLst/>
          </a:prstGeom>
          <a:noFill/>
          <a:ln>
            <a:noFill/>
          </a:ln>
        </p:spPr>
        <p:txBody>
          <a:bodyPr lIns="0" tIns="0" rIns="0" bIns="0" anchor="t">
            <a:noAutofit/>
          </a:bodyPr>
          <a:lstStyle/>
          <a:p>
            <a:pPr algn="l">
              <a:buNone/>
            </a:pPr>
            <a:r>
              <a:rPr lang="en-US" sz="1150" b="0">
                <a:solidFill>
                  <a:srgbClr val="50658E"/>
                </a:solidFill>
                <a:latin typeface="Arial"/>
              </a:rPr>
              <a:t>Ri Scott· Executive Engineering Leader (part time)</a:t>
            </a:r>
          </a:p>
        </p:txBody>
      </p:sp>
      <p:sp>
        <p:nvSpPr>
          <p:cNvPr id="81" name="engineeringTeam2"/>
          <p:cNvSpPr/>
          <p:nvPr/>
        </p:nvSpPr>
        <p:spPr>
          <a:xfrm>
            <a:off x="4495800" y="3797300"/>
            <a:ext cx="3200400" cy="508000"/>
          </a:xfrm>
          <a:prstGeom prst="rect">
            <a:avLst/>
          </a:prstGeom>
          <a:noFill/>
          <a:ln>
            <a:noFill/>
          </a:ln>
        </p:spPr>
        <p:txBody>
          <a:bodyPr lIns="0" tIns="0" rIns="0" bIns="0" anchor="t">
            <a:noAutofit/>
          </a:bodyPr>
          <a:lstStyle/>
          <a:p>
            <a:pPr algn="l">
              <a:buNone/>
            </a:pPr>
            <a:r>
              <a:rPr lang="en-US" sz="1150" b="0">
                <a:solidFill>
                  <a:srgbClr val="50658E"/>
                </a:solidFill>
                <a:latin typeface="Arial"/>
              </a:rPr>
              <a:t>Gerardo Arroyo · Senior Architect · full time</a:t>
            </a:r>
          </a:p>
        </p:txBody>
      </p:sp>
      <p:sp>
        <p:nvSpPr>
          <p:cNvPr id="82" name="testingPanel"/>
          <p:cNvSpPr/>
          <p:nvPr/>
        </p:nvSpPr>
        <p:spPr>
          <a:xfrm>
            <a:off x="8058150" y="1536700"/>
            <a:ext cx="3581400" cy="2806700"/>
          </a:xfrm>
          <a:prstGeom prst="rect">
            <a:avLst/>
          </a:prstGeom>
          <a:solidFill>
            <a:srgbClr val="E8EEF8"/>
          </a:solidFill>
          <a:ln>
            <a:noFill/>
          </a:ln>
        </p:spPr>
        <p:txBody>
          <a:bodyPr lIns="0" tIns="0" rIns="0" bIns="0" anchor="t">
            <a:noAutofit/>
          </a:bodyPr>
          <a:lstStyle/>
          <a:p>
            <a:endParaRPr/>
          </a:p>
        </p:txBody>
      </p:sp>
      <p:sp>
        <p:nvSpPr>
          <p:cNvPr id="83" name="testingTitle"/>
          <p:cNvSpPr/>
          <p:nvPr/>
        </p:nvSpPr>
        <p:spPr>
          <a:xfrm>
            <a:off x="8248650" y="1739900"/>
            <a:ext cx="3200400" cy="546100"/>
          </a:xfrm>
          <a:prstGeom prst="rect">
            <a:avLst/>
          </a:prstGeom>
          <a:noFill/>
          <a:ln>
            <a:noFill/>
          </a:ln>
        </p:spPr>
        <p:txBody>
          <a:bodyPr lIns="0" tIns="0" rIns="0" bIns="0" anchor="t">
            <a:noAutofit/>
          </a:bodyPr>
          <a:lstStyle/>
          <a:p>
            <a:pPr algn="l">
              <a:buNone/>
            </a:pPr>
            <a:r>
              <a:rPr lang="en-US" sz="1400" b="1">
                <a:solidFill>
                  <a:srgbClr val="070154"/>
                </a:solidFill>
                <a:latin typeface="Arial"/>
              </a:rPr>
              <a:t>Testing &amp; release controls</a:t>
            </a:r>
          </a:p>
        </p:txBody>
      </p:sp>
      <p:sp>
        <p:nvSpPr>
          <p:cNvPr id="84" name="testingDuration"/>
          <p:cNvSpPr/>
          <p:nvPr/>
        </p:nvSpPr>
        <p:spPr>
          <a:xfrm>
            <a:off x="8248650" y="2413000"/>
            <a:ext cx="3200400" cy="495300"/>
          </a:xfrm>
          <a:prstGeom prst="rect">
            <a:avLst/>
          </a:prstGeom>
          <a:noFill/>
          <a:ln>
            <a:noFill/>
          </a:ln>
        </p:spPr>
        <p:txBody>
          <a:bodyPr lIns="0" tIns="0" rIns="0" bIns="0" anchor="t">
            <a:noAutofit/>
          </a:bodyPr>
          <a:lstStyle/>
          <a:p>
            <a:pPr algn="l">
              <a:buNone/>
            </a:pPr>
            <a:r>
              <a:rPr lang="en-US" sz="2100" b="1">
                <a:solidFill>
                  <a:srgbClr val="070154"/>
                </a:solidFill>
                <a:latin typeface="Arial"/>
              </a:rPr>
              <a:t>6 weeks</a:t>
            </a:r>
          </a:p>
        </p:txBody>
      </p:sp>
      <p:sp>
        <p:nvSpPr>
          <p:cNvPr id="85" name="testingTeamLabel"/>
          <p:cNvSpPr/>
          <p:nvPr/>
        </p:nvSpPr>
        <p:spPr>
          <a:xfrm>
            <a:off x="8248650" y="2921000"/>
            <a:ext cx="3200400" cy="254000"/>
          </a:xfrm>
          <a:prstGeom prst="rect">
            <a:avLst/>
          </a:prstGeom>
          <a:noFill/>
          <a:ln>
            <a:noFill/>
          </a:ln>
        </p:spPr>
        <p:txBody>
          <a:bodyPr lIns="0" tIns="0" rIns="0" bIns="0" anchor="t">
            <a:noAutofit/>
          </a:bodyPr>
          <a:lstStyle/>
          <a:p>
            <a:pPr algn="l">
              <a:buNone/>
            </a:pPr>
            <a:r>
              <a:rPr lang="en-US" sz="1100" b="1">
                <a:solidFill>
                  <a:srgbClr val="0047FF"/>
                </a:solidFill>
                <a:latin typeface="Arial"/>
              </a:rPr>
              <a:t>PROPOSED TEAM</a:t>
            </a:r>
          </a:p>
        </p:txBody>
      </p:sp>
      <p:sp>
        <p:nvSpPr>
          <p:cNvPr id="86" name="testingTeam1"/>
          <p:cNvSpPr/>
          <p:nvPr/>
        </p:nvSpPr>
        <p:spPr>
          <a:xfrm>
            <a:off x="8248650" y="3187700"/>
            <a:ext cx="3200400" cy="406400"/>
          </a:xfrm>
          <a:prstGeom prst="rect">
            <a:avLst/>
          </a:prstGeom>
          <a:noFill/>
          <a:ln>
            <a:noFill/>
          </a:ln>
        </p:spPr>
        <p:txBody>
          <a:bodyPr lIns="0" tIns="0" rIns="0" bIns="0" anchor="t">
            <a:noAutofit/>
          </a:bodyPr>
          <a:lstStyle/>
          <a:p>
            <a:r>
              <a:rPr lang="en-US" sz="1150">
                <a:solidFill>
                  <a:srgbClr val="50658E"/>
                </a:solidFill>
              </a:rPr>
              <a:t>Ri Scott · Executive Engineering Leader (part time)</a:t>
            </a:r>
            <a:endParaRPr lang="en-US" sz="1150" b="0">
              <a:solidFill>
                <a:srgbClr val="50658E"/>
              </a:solidFill>
              <a:latin typeface="Arial"/>
            </a:endParaRPr>
          </a:p>
        </p:txBody>
      </p:sp>
      <p:sp>
        <p:nvSpPr>
          <p:cNvPr id="87" name="testingTeam2"/>
          <p:cNvSpPr/>
          <p:nvPr/>
        </p:nvSpPr>
        <p:spPr>
          <a:xfrm>
            <a:off x="8248650" y="3606800"/>
            <a:ext cx="3200400" cy="342900"/>
          </a:xfrm>
          <a:prstGeom prst="rect">
            <a:avLst/>
          </a:prstGeom>
          <a:noFill/>
          <a:ln>
            <a:noFill/>
          </a:ln>
        </p:spPr>
        <p:txBody>
          <a:bodyPr lIns="0" tIns="0" rIns="0" bIns="0" anchor="t">
            <a:noAutofit/>
          </a:bodyPr>
          <a:lstStyle/>
          <a:p>
            <a:pPr algn="l">
              <a:buNone/>
            </a:pPr>
            <a:r>
              <a:rPr lang="en-US" sz="1150" b="0">
                <a:solidFill>
                  <a:srgbClr val="50658E"/>
                </a:solidFill>
                <a:latin typeface="Arial"/>
              </a:rPr>
              <a:t>Quality Engineering Architect · full time</a:t>
            </a:r>
          </a:p>
        </p:txBody>
      </p:sp>
      <p:sp>
        <p:nvSpPr>
          <p:cNvPr id="88" name="testingTeam3"/>
          <p:cNvSpPr/>
          <p:nvPr/>
        </p:nvSpPr>
        <p:spPr>
          <a:xfrm>
            <a:off x="8248650" y="3975100"/>
            <a:ext cx="3200400" cy="330200"/>
          </a:xfrm>
          <a:prstGeom prst="rect">
            <a:avLst/>
          </a:prstGeom>
          <a:noFill/>
          <a:ln>
            <a:noFill/>
          </a:ln>
        </p:spPr>
        <p:txBody>
          <a:bodyPr lIns="0" tIns="0" rIns="0" bIns="0" anchor="t">
            <a:noAutofit/>
          </a:bodyPr>
          <a:lstStyle/>
          <a:p>
            <a:pPr algn="l">
              <a:buNone/>
            </a:pPr>
            <a:r>
              <a:rPr lang="en-US" sz="1150" b="0">
                <a:solidFill>
                  <a:srgbClr val="50658E"/>
                </a:solidFill>
                <a:latin typeface="Arial"/>
              </a:rPr>
              <a:t>Quality Engineering Senior Engineer · full time</a:t>
            </a:r>
          </a:p>
        </p:txBody>
      </p:sp>
      <p:sp>
        <p:nvSpPr>
          <p:cNvPr id="2" name="Footer Placeholder 1">
            <a:extLst>
              <a:ext uri="{FF2B5EF4-FFF2-40B4-BE49-F238E27FC236}">
                <a16:creationId xmlns:a16="http://schemas.microsoft.com/office/drawing/2014/main" id="{56CF5A2A-EA0C-ED4B-E046-46230E5FA0D7}"/>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4" name="Slide Number Placeholder 2">
            <a:extLst>
              <a:ext uri="{FF2B5EF4-FFF2-40B4-BE49-F238E27FC236}">
                <a16:creationId xmlns:a16="http://schemas.microsoft.com/office/drawing/2014/main" id="{D0DACCEC-9229-FCB8-3832-2AB467566C59}"/>
              </a:ext>
            </a:extLst>
          </p:cNvPr>
          <p:cNvSpPr>
            <a:spLocks noGrp="1"/>
          </p:cNvSpPr>
          <p:nvPr>
            <p:ph type="sldNum" idx="11"/>
          </p:nvPr>
        </p:nvSpPr>
        <p:spPr>
          <a:xfrm>
            <a:off x="11509578" y="6400799"/>
            <a:ext cx="218871" cy="167949"/>
          </a:xfrm>
        </p:spPr>
        <p:txBody>
          <a:bodyPr/>
          <a:lstStyle/>
          <a:p>
            <a:fld id="{63DCA5C9-2E11-4C67-86EB-AE1DE127DC64}" type="slidenum">
              <a:rPr lang="en-US" smtClean="0"/>
              <a:t>41</a:t>
            </a:fld>
            <a:endParaRPr lang="en-US"/>
          </a:p>
        </p:txBody>
      </p:sp>
    </p:spTree>
    <p:extLst>
      <p:ext uri="{BB962C8B-B14F-4D97-AF65-F5344CB8AC3E}">
        <p14:creationId xmlns:p14="http://schemas.microsoft.com/office/powerpoint/2010/main" val="21389493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DED46A50-9237-4E36-9773-CBAE5AC21983}"/>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Executive summary</a:t>
            </a:r>
          </a:p>
        </p:txBody>
      </p:sp>
      <p:sp>
        <p:nvSpPr>
          <p:cNvPr id="3" name="Rectangle 2">
            <a:extLst>
              <a:ext uri="{FF2B5EF4-FFF2-40B4-BE49-F238E27FC236}">
                <a16:creationId xmlns:a16="http://schemas.microsoft.com/office/drawing/2014/main" id="{F37CD493-DE32-436C-849E-95720C8304C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What we saw, what we recommend now, how it rolls out, and what we need from leadership.</a:t>
            </a:r>
          </a:p>
        </p:txBody>
      </p:sp>
      <p:sp>
        <p:nvSpPr>
          <p:cNvPr id="4" name="Rectangle 3">
            <a:extLst>
              <a:ext uri="{FF2B5EF4-FFF2-40B4-BE49-F238E27FC236}">
                <a16:creationId xmlns:a16="http://schemas.microsoft.com/office/drawing/2014/main" id="{897DA715-B291-43D5-8A14-8B021326B3B8}"/>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WORKING DRAFT</a:t>
            </a:r>
          </a:p>
        </p:txBody>
      </p:sp>
      <p:sp>
        <p:nvSpPr>
          <p:cNvPr id="6" name="Rectangle 5">
            <a:extLst>
              <a:ext uri="{FF2B5EF4-FFF2-40B4-BE49-F238E27FC236}">
                <a16:creationId xmlns:a16="http://schemas.microsoft.com/office/drawing/2014/main" id="{A2C7DF3A-7E43-44A3-BB8B-7344D6764FFB}"/>
              </a:ext>
            </a:extLst>
          </p:cNvPr>
          <p:cNvSpPr>
            <a:spLocks noGrp="1"/>
          </p:cNvSpPr>
          <p:nvPr/>
        </p:nvSpPr>
        <p:spPr>
          <a:xfrm>
            <a:off x="457200" y="5524500"/>
            <a:ext cx="11277600" cy="342900"/>
          </a:xfrm>
          <a:prstGeom prst="rect">
            <a:avLst/>
          </a:prstGeom>
          <a:noFill/>
          <a:ln w="0">
            <a:noFill/>
          </a:ln>
        </p:spPr>
        <p:txBody>
          <a:bodyPr anchor="t">
            <a:normAutofit/>
          </a:bodyPr>
          <a:lstStyle/>
          <a:p>
            <a:pPr>
              <a:lnSpc>
                <a:spcPct val="108000"/>
              </a:lnSpc>
              <a:buNone/>
              <a:defRPr sz="1125" b="1" i="0">
                <a:solidFill>
                  <a:srgbClr val="0047FF"/>
                </a:solidFill>
                <a:latin typeface="Arial"/>
                <a:ea typeface="Arial"/>
                <a:cs typeface="Arial"/>
              </a:defRPr>
            </a:pPr>
            <a:r>
              <a:rPr sz="1125" b="1" i="0">
                <a:solidFill>
                  <a:srgbClr val="0047FF"/>
                </a:solidFill>
                <a:latin typeface="Arial"/>
                <a:ea typeface="Arial"/>
                <a:cs typeface="Arial"/>
              </a:rPr>
              <a:t>Both tracks use the same horizons: Now (readout and first 30 days), Next (1–3 months), and Future (3–6+ months).</a:t>
            </a:r>
          </a:p>
        </p:txBody>
      </p:sp>
      <p:graphicFrame>
        <p:nvGraphicFramePr>
          <p:cNvPr id="20" name="Exec Summary Table"/>
          <p:cNvGraphicFramePr>
            <a:graphicFrameLocks noGrp="1"/>
          </p:cNvGraphicFramePr>
          <p:nvPr/>
        </p:nvGraphicFramePr>
        <p:xfrm>
          <a:off x="457200" y="1752600"/>
          <a:ext cx="11277600" cy="3360000"/>
        </p:xfrm>
        <a:graphic>
          <a:graphicData uri="http://schemas.openxmlformats.org/drawingml/2006/table">
            <a:tbl>
              <a:tblPr/>
              <a:tblGrid>
                <a:gridCol w="2100000">
                  <a:extLst>
                    <a:ext uri="{9D8B030D-6E8A-4147-A177-3AD203B41FA5}">
                      <a16:colId xmlns:a16="http://schemas.microsoft.com/office/drawing/2014/main" val="20000"/>
                    </a:ext>
                  </a:extLst>
                </a:gridCol>
                <a:gridCol w="4588800">
                  <a:extLst>
                    <a:ext uri="{9D8B030D-6E8A-4147-A177-3AD203B41FA5}">
                      <a16:colId xmlns:a16="http://schemas.microsoft.com/office/drawing/2014/main" val="20001"/>
                    </a:ext>
                  </a:extLst>
                </a:gridCol>
                <a:gridCol w="4588800">
                  <a:extLst>
                    <a:ext uri="{9D8B030D-6E8A-4147-A177-3AD203B41FA5}">
                      <a16:colId xmlns:a16="http://schemas.microsoft.com/office/drawing/2014/main" val="20002"/>
                    </a:ext>
                  </a:extLst>
                </a:gridCol>
              </a:tblGrid>
              <a:tr h="400000">
                <a:tc>
                  <a:txBody>
                    <a:bodyPr/>
                    <a:lstStyle/>
                    <a:p>
                      <a:pPr>
                        <a:lnSpc>
                          <a:spcPct val="102000"/>
                        </a:lnSpc>
                        <a:buNone/>
                      </a:pPr>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i="0">
                          <a:solidFill>
                            <a:srgbClr val="FFFFFF"/>
                          </a:solidFill>
                          <a:latin typeface="Arial"/>
                          <a:ea typeface="Arial"/>
                          <a:cs typeface="Arial"/>
                        </a:rPr>
                        <a:t>Product track</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i="0">
                          <a:solidFill>
                            <a:srgbClr val="FFFFFF"/>
                          </a:solidFill>
                          <a:latin typeface="Arial"/>
                          <a:ea typeface="Arial"/>
                          <a:cs typeface="Arial"/>
                        </a:rPr>
                        <a:t>Engineering track</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extLst>
                  <a:ext uri="{0D108BD9-81ED-4DB2-BD59-A6C34878D82A}">
                    <a16:rowId xmlns:a16="http://schemas.microsoft.com/office/drawing/2014/main" val="10000"/>
                  </a:ext>
                </a:extLst>
              </a:tr>
              <a:tr h="740000">
                <a:tc>
                  <a:txBody>
                    <a:bodyPr/>
                    <a:lstStyle/>
                    <a:p>
                      <a:pPr>
                        <a:lnSpc>
                          <a:spcPct val="102000"/>
                        </a:lnSpc>
                        <a:buNone/>
                      </a:pPr>
                      <a:r>
                        <a:rPr lang="en-US" sz="950" b="1" i="0">
                          <a:solidFill>
                            <a:srgbClr val="070154"/>
                          </a:solidFill>
                          <a:latin typeface="Arial"/>
                          <a:ea typeface="Arial"/>
                          <a:cs typeface="Arial"/>
                        </a:rPr>
                        <a:t>What we saw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8A94AD"/>
                          </a:solidFill>
                          <a:latin typeface="Arial"/>
                          <a:ea typeface="Arial"/>
                          <a:cs typeface="Arial"/>
                        </a:rPr>
                        <a:t>[To be completed by the product team]</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a:solidFill>
                            <a:srgbClr val="50658E"/>
                          </a:solidFill>
                          <a:latin typeface="Arial"/>
                          <a:ea typeface="Arial"/>
                          <a:cs typeface="Arial"/>
                        </a:rPr>
                        <a:t>Two platforms at very different maturity: Reconcile AI leads on technical design, AI-assisted build, and test automation, while Core relies on manual regression. Half of 2026 Core production changes were unplanned, and delivery is not measured end to end.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1"/>
                  </a:ext>
                </a:extLst>
              </a:tr>
              <a:tr h="740000">
                <a:tc>
                  <a:txBody>
                    <a:bodyPr/>
                    <a:lstStyle/>
                    <a:p>
                      <a:pPr>
                        <a:lnSpc>
                          <a:spcPct val="102000"/>
                        </a:lnSpc>
                        <a:buNone/>
                      </a:pPr>
                      <a:r>
                        <a:rPr lang="en-US" sz="950" b="1" i="0">
                          <a:solidFill>
                            <a:srgbClr val="070154"/>
                          </a:solidFill>
                          <a:latin typeface="Arial"/>
                          <a:ea typeface="Arial"/>
                          <a:cs typeface="Arial"/>
                        </a:rPr>
                        <a:t>What we recommend now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8A94AD"/>
                          </a:solidFill>
                          <a:latin typeface="Arial"/>
                          <a:ea typeface="Arial"/>
                          <a:cs typeface="Arial"/>
                        </a:rPr>
                        <a:t>[To be completed by the product team]</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a:solidFill>
                            <a:srgbClr val="50658E"/>
                          </a:solidFill>
                          <a:latin typeface="Arial"/>
                          <a:ea typeface="Arial"/>
                          <a:cs typeface="Arial"/>
                        </a:rPr>
                        <a:t>Five engineering recommendations, each starting with one pilot: a root-cause review of unplanned changes (E1), a map of Core's highest-risk regression (E2), wait times for access and test data (E3), a delivery baseline (E4), and sanctioned tools for agentic work (E5).</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2"/>
                  </a:ext>
                </a:extLst>
              </a:tr>
              <a:tr h="740000">
                <a:tc>
                  <a:txBody>
                    <a:bodyPr/>
                    <a:lstStyle/>
                    <a:p>
                      <a:pPr>
                        <a:lnSpc>
                          <a:spcPct val="102000"/>
                        </a:lnSpc>
                        <a:buNone/>
                      </a:pPr>
                      <a:r>
                        <a:rPr lang="en-US" sz="950" b="1" i="0">
                          <a:solidFill>
                            <a:srgbClr val="070154"/>
                          </a:solidFill>
                          <a:latin typeface="Arial"/>
                          <a:ea typeface="Arial"/>
                          <a:cs typeface="Arial"/>
                        </a:rPr>
                        <a:t>How it rolls out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8A94AD"/>
                          </a:solidFill>
                          <a:latin typeface="Arial"/>
                          <a:ea typeface="Arial"/>
                          <a:cs typeface="Arial"/>
                        </a:rPr>
                        <a:t>[To be completed by the product team]</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a:solidFill>
                            <a:srgbClr val="50658E"/>
                          </a:solidFill>
                          <a:latin typeface="Arial"/>
                          <a:ea typeface="Arial"/>
                          <a:cs typeface="Arial"/>
                        </a:rPr>
                        <a:t>One pilot pod per recommendation: Core for release stability and quality, Reconcile AI and the Rules Engine for environments and data, Reconcile AI for agentic delivery. What works extends to Eligibility AI, Pay Connect, and the other pods, with a light, human-gated version for Core.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3"/>
                  </a:ext>
                </a:extLst>
              </a:tr>
              <a:tr h="740000">
                <a:tc>
                  <a:txBody>
                    <a:bodyPr/>
                    <a:lstStyle/>
                    <a:p>
                      <a:pPr>
                        <a:lnSpc>
                          <a:spcPct val="102000"/>
                        </a:lnSpc>
                        <a:buNone/>
                      </a:pPr>
                      <a:r>
                        <a:rPr lang="en-US" sz="950" b="1" i="0">
                          <a:solidFill>
                            <a:srgbClr val="070154"/>
                          </a:solidFill>
                          <a:latin typeface="Arial"/>
                          <a:ea typeface="Arial"/>
                          <a:cs typeface="Arial"/>
                        </a:rPr>
                        <a:t>What we need from leadership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8A94AD"/>
                          </a:solidFill>
                          <a:latin typeface="Arial"/>
                          <a:ea typeface="Arial"/>
                          <a:cs typeface="Arial"/>
                        </a:rPr>
                        <a:t>[To be completed by the product team]</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a:solidFill>
                            <a:srgbClr val="50658E"/>
                          </a:solidFill>
                          <a:latin typeface="Arial"/>
                          <a:ea typeface="Arial"/>
                          <a:cs typeface="Arial"/>
                        </a:rPr>
                        <a:t>An owner for each of E1–E5, agreement on the pilot pods, the sanctioned AI tools and PHI rule before the December AIDLC rollout, and access to release and Jira data to build the baseline.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663907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7A41A9B1-B9E2-4E11-AC4E-00E1960D181D}"/>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Practices Map</a:t>
            </a:r>
          </a:p>
        </p:txBody>
      </p:sp>
      <p:sp>
        <p:nvSpPr>
          <p:cNvPr id="3" name="Rectangle 2">
            <a:extLst>
              <a:ext uri="{FF2B5EF4-FFF2-40B4-BE49-F238E27FC236}">
                <a16:creationId xmlns:a16="http://schemas.microsoft.com/office/drawing/2014/main" id="{E4BA3EFF-737E-42A8-A997-95354A026770}"/>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b="0" i="0">
                <a:solidFill>
                  <a:srgbClr val="50658E"/>
                </a:solidFill>
                <a:latin typeface="Arial"/>
                <a:ea typeface="Arial"/>
                <a:cs typeface="Arial"/>
              </a:rPr>
              <a:t>Current state of practices across the PDLC</a:t>
            </a:r>
            <a:endParaRPr sz="1275" b="0" i="0">
              <a:solidFill>
                <a:srgbClr val="50658E"/>
              </a:solidFill>
              <a:latin typeface="Arial"/>
              <a:ea typeface="Arial"/>
              <a:cs typeface="Arial"/>
            </a:endParaRPr>
          </a:p>
        </p:txBody>
      </p:sp>
      <p:sp>
        <p:nvSpPr>
          <p:cNvPr id="4" name="Rectangle 3">
            <a:extLst>
              <a:ext uri="{FF2B5EF4-FFF2-40B4-BE49-F238E27FC236}">
                <a16:creationId xmlns:a16="http://schemas.microsoft.com/office/drawing/2014/main" id="{92789E09-0421-4E0B-A3F8-DA08C49950D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01</a:t>
            </a:r>
          </a:p>
        </p:txBody>
      </p:sp>
      <p:graphicFrame>
        <p:nvGraphicFramePr>
          <p:cNvPr id="11" name="Table 10"/>
          <p:cNvGraphicFramePr/>
          <p:nvPr>
            <p:extLst>
              <p:ext uri="{D42A27DB-BD31-4B8C-83A1-F6EECF244321}">
                <p14:modId xmlns:p14="http://schemas.microsoft.com/office/powerpoint/2010/main" val="3051037243"/>
              </p:ext>
            </p:extLst>
          </p:nvPr>
        </p:nvGraphicFramePr>
        <p:xfrm>
          <a:off x="457200" y="1752600"/>
          <a:ext cx="11277602" cy="3857620"/>
        </p:xfrm>
        <a:graphic>
          <a:graphicData uri="http://schemas.openxmlformats.org/drawingml/2006/table">
            <a:tbl>
              <a:tblPr/>
              <a:tblGrid>
                <a:gridCol w="1611086">
                  <a:extLst>
                    <a:ext uri="{9D8B030D-6E8A-4147-A177-3AD203B41FA5}">
                      <a16:colId xmlns:a16="http://schemas.microsoft.com/office/drawing/2014/main" val="20000"/>
                    </a:ext>
                  </a:extLst>
                </a:gridCol>
                <a:gridCol w="1611086">
                  <a:extLst>
                    <a:ext uri="{9D8B030D-6E8A-4147-A177-3AD203B41FA5}">
                      <a16:colId xmlns:a16="http://schemas.microsoft.com/office/drawing/2014/main" val="20001"/>
                    </a:ext>
                  </a:extLst>
                </a:gridCol>
                <a:gridCol w="1611086">
                  <a:extLst>
                    <a:ext uri="{9D8B030D-6E8A-4147-A177-3AD203B41FA5}">
                      <a16:colId xmlns:a16="http://schemas.microsoft.com/office/drawing/2014/main" val="20002"/>
                    </a:ext>
                  </a:extLst>
                </a:gridCol>
                <a:gridCol w="1611086">
                  <a:extLst>
                    <a:ext uri="{9D8B030D-6E8A-4147-A177-3AD203B41FA5}">
                      <a16:colId xmlns:a16="http://schemas.microsoft.com/office/drawing/2014/main" val="20003"/>
                    </a:ext>
                  </a:extLst>
                </a:gridCol>
                <a:gridCol w="1611086">
                  <a:extLst>
                    <a:ext uri="{9D8B030D-6E8A-4147-A177-3AD203B41FA5}">
                      <a16:colId xmlns:a16="http://schemas.microsoft.com/office/drawing/2014/main" val="20004"/>
                    </a:ext>
                  </a:extLst>
                </a:gridCol>
                <a:gridCol w="1611086">
                  <a:extLst>
                    <a:ext uri="{9D8B030D-6E8A-4147-A177-3AD203B41FA5}">
                      <a16:colId xmlns:a16="http://schemas.microsoft.com/office/drawing/2014/main" val="20005"/>
                    </a:ext>
                  </a:extLst>
                </a:gridCol>
                <a:gridCol w="1611086">
                  <a:extLst>
                    <a:ext uri="{9D8B030D-6E8A-4147-A177-3AD203B41FA5}">
                      <a16:colId xmlns:a16="http://schemas.microsoft.com/office/drawing/2014/main" val="20006"/>
                    </a:ext>
                  </a:extLst>
                </a:gridCol>
              </a:tblGrid>
              <a:tr h="385762">
                <a:tc>
                  <a:txBody>
                    <a:bodyPr/>
                    <a:lstStyle/>
                    <a:p>
                      <a:pPr>
                        <a:lnSpc>
                          <a:spcPct val="102000"/>
                        </a:lnSpc>
                        <a:buNone/>
                      </a:pPr>
                      <a:r>
                        <a:rPr sz="975" b="1">
                          <a:solidFill>
                            <a:srgbClr val="FFFFFF"/>
                          </a:solidFill>
                          <a:latin typeface="Arial"/>
                          <a:ea typeface="Arial"/>
                          <a:cs typeface="Arial"/>
                        </a:rPr>
                        <a:t>Practice area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a:solidFill>
                            <a:srgbClr val="FFFFFF"/>
                          </a:solidFill>
                          <a:latin typeface="Arial"/>
                          <a:ea typeface="Arial"/>
                          <a:cs typeface="Arial"/>
                        </a:rPr>
                        <a:t>Identify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sz="975" b="1">
                          <a:solidFill>
                            <a:srgbClr val="FFFFFF"/>
                          </a:solidFill>
                          <a:latin typeface="Arial"/>
                          <a:ea typeface="Arial"/>
                          <a:cs typeface="Arial"/>
                        </a:rPr>
                        <a:t>Prioritization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sz="975" b="1">
                          <a:solidFill>
                            <a:srgbClr val="FFFFFF"/>
                          </a:solidFill>
                          <a:latin typeface="Arial"/>
                          <a:ea typeface="Arial"/>
                          <a:cs typeface="Arial"/>
                        </a:rPr>
                        <a:t>Definition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sz="975" b="1">
                          <a:solidFill>
                            <a:srgbClr val="FFFFFF"/>
                          </a:solidFill>
                          <a:latin typeface="Arial"/>
                          <a:ea typeface="Arial"/>
                          <a:cs typeface="Arial"/>
                        </a:rPr>
                        <a:t>Build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sz="975" b="1">
                          <a:solidFill>
                            <a:srgbClr val="FFFFFF"/>
                          </a:solidFill>
                          <a:latin typeface="Arial"/>
                          <a:ea typeface="Arial"/>
                          <a:cs typeface="Arial"/>
                        </a:rPr>
                        <a:t>Release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sz="975" b="1">
                          <a:solidFill>
                            <a:srgbClr val="FFFFFF"/>
                          </a:solidFill>
                          <a:latin typeface="Arial"/>
                          <a:ea typeface="Arial"/>
                          <a:cs typeface="Arial"/>
                        </a:rPr>
                        <a:t>GTM</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extLst>
                  <a:ext uri="{0D108BD9-81ED-4DB2-BD59-A6C34878D82A}">
                    <a16:rowId xmlns:a16="http://schemas.microsoft.com/office/drawing/2014/main" val="10000"/>
                  </a:ext>
                </a:extLst>
              </a:tr>
              <a:tr h="385762">
                <a:tc>
                  <a:txBody>
                    <a:bodyPr/>
                    <a:lstStyle/>
                    <a:p>
                      <a:pPr>
                        <a:lnSpc>
                          <a:spcPct val="102000"/>
                        </a:lnSpc>
                        <a:buNone/>
                      </a:pPr>
                      <a:r>
                        <a:rPr sz="900" b="0">
                          <a:solidFill>
                            <a:srgbClr val="070154"/>
                          </a:solidFill>
                          <a:latin typeface="Arial"/>
                          <a:ea typeface="Arial"/>
                          <a:cs typeface="Arial"/>
                        </a:rPr>
                        <a:t>Customer evidence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1"/>
                  </a:ext>
                </a:extLst>
              </a:tr>
              <a:tr h="385762">
                <a:tc>
                  <a:txBody>
                    <a:bodyPr/>
                    <a:lstStyle/>
                    <a:p>
                      <a:pPr>
                        <a:lnSpc>
                          <a:spcPct val="102000"/>
                        </a:lnSpc>
                        <a:buNone/>
                      </a:pPr>
                      <a:r>
                        <a:rPr sz="900" b="0">
                          <a:solidFill>
                            <a:srgbClr val="070154"/>
                          </a:solidFill>
                          <a:latin typeface="Arial"/>
                          <a:ea typeface="Arial"/>
                          <a:cs typeface="Arial"/>
                        </a:rPr>
                        <a:t>Roadmap and prioritization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2"/>
                  </a:ext>
                </a:extLst>
              </a:tr>
              <a:tr h="385762">
                <a:tc>
                  <a:txBody>
                    <a:bodyPr/>
                    <a:lstStyle/>
                    <a:p>
                      <a:pPr>
                        <a:lnSpc>
                          <a:spcPct val="102000"/>
                        </a:lnSpc>
                        <a:buNone/>
                      </a:pPr>
                      <a:r>
                        <a:rPr sz="900" b="0">
                          <a:solidFill>
                            <a:srgbClr val="070154"/>
                          </a:solidFill>
                          <a:latin typeface="Arial"/>
                          <a:ea typeface="Arial"/>
                          <a:cs typeface="Arial"/>
                        </a:rPr>
                        <a:t>Ownership and decisions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3"/>
                  </a:ext>
                </a:extLst>
              </a:tr>
              <a:tr h="385762">
                <a:tc>
                  <a:txBody>
                    <a:bodyPr/>
                    <a:lstStyle/>
                    <a:p>
                      <a:pPr>
                        <a:lnSpc>
                          <a:spcPct val="102000"/>
                        </a:lnSpc>
                        <a:buNone/>
                      </a:pPr>
                      <a:r>
                        <a:rPr sz="900" b="0">
                          <a:solidFill>
                            <a:srgbClr val="070154"/>
                          </a:solidFill>
                          <a:latin typeface="Arial"/>
                          <a:ea typeface="Arial"/>
                          <a:cs typeface="Arial"/>
                        </a:rPr>
                        <a:t>Product definition and design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4"/>
                  </a:ext>
                </a:extLst>
              </a:tr>
              <a:tr h="385762">
                <a:tc>
                  <a:txBody>
                    <a:bodyPr/>
                    <a:lstStyle/>
                    <a:p>
                      <a:pPr>
                        <a:lnSpc>
                          <a:spcPct val="102000"/>
                        </a:lnSpc>
                        <a:buNone/>
                      </a:pPr>
                      <a:r>
                        <a:rPr sz="900" b="0">
                          <a:solidFill>
                            <a:srgbClr val="070154"/>
                          </a:solidFill>
                          <a:latin typeface="Arial"/>
                          <a:ea typeface="Arial"/>
                          <a:cs typeface="Arial"/>
                        </a:rPr>
                        <a:t>Product and Engineering delivery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3561AE"/>
                          </a:solidFill>
                          <a:latin typeface="Arial"/>
                          <a:ea typeface="Arial"/>
                          <a:cs typeface="Arial"/>
                        </a:rPr>
                        <a:t>Variable / pocket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5"/>
                  </a:ext>
                </a:extLst>
              </a:tr>
              <a:tr h="385762">
                <a:tc>
                  <a:txBody>
                    <a:bodyPr/>
                    <a:lstStyle/>
                    <a:p>
                      <a:pPr>
                        <a:lnSpc>
                          <a:spcPct val="102000"/>
                        </a:lnSpc>
                        <a:buNone/>
                      </a:pPr>
                      <a:r>
                        <a:rPr sz="900" b="0">
                          <a:solidFill>
                            <a:srgbClr val="070154"/>
                          </a:solidFill>
                          <a:latin typeface="Arial"/>
                          <a:ea typeface="Arial"/>
                          <a:cs typeface="Arial"/>
                        </a:rPr>
                        <a:t>Release validation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6"/>
                  </a:ext>
                </a:extLst>
              </a:tr>
              <a:tr h="385762">
                <a:tc>
                  <a:txBody>
                    <a:bodyPr/>
                    <a:lstStyle/>
                    <a:p>
                      <a:pPr>
                        <a:lnSpc>
                          <a:spcPct val="102000"/>
                        </a:lnSpc>
                        <a:buNone/>
                      </a:pPr>
                      <a:r>
                        <a:rPr sz="900" b="0">
                          <a:solidFill>
                            <a:srgbClr val="070154"/>
                          </a:solidFill>
                          <a:latin typeface="Arial"/>
                          <a:ea typeface="Arial"/>
                          <a:cs typeface="Arial"/>
                        </a:rPr>
                        <a:t>Commercialization and enablement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extLst>
                  <a:ext uri="{0D108BD9-81ED-4DB2-BD59-A6C34878D82A}">
                    <a16:rowId xmlns:a16="http://schemas.microsoft.com/office/drawing/2014/main" val="10007"/>
                  </a:ext>
                </a:extLst>
              </a:tr>
              <a:tr h="385762">
                <a:tc>
                  <a:txBody>
                    <a:bodyPr/>
                    <a:lstStyle/>
                    <a:p>
                      <a:pPr>
                        <a:lnSpc>
                          <a:spcPct val="102000"/>
                        </a:lnSpc>
                        <a:buNone/>
                      </a:pPr>
                      <a:r>
                        <a:rPr sz="900" b="0">
                          <a:solidFill>
                            <a:srgbClr val="070154"/>
                          </a:solidFill>
                          <a:latin typeface="Arial"/>
                          <a:ea typeface="Arial"/>
                          <a:cs typeface="Arial"/>
                        </a:rPr>
                        <a:t>Measurement and feedback</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extLst>
                  <a:ext uri="{0D108BD9-81ED-4DB2-BD59-A6C34878D82A}">
                    <a16:rowId xmlns:a16="http://schemas.microsoft.com/office/drawing/2014/main" val="10008"/>
                  </a:ext>
                </a:extLst>
              </a:tr>
              <a:tr h="385762">
                <a:tc>
                  <a:txBody>
                    <a:bodyPr/>
                    <a:lstStyle/>
                    <a:p>
                      <a:pPr>
                        <a:lnSpc>
                          <a:spcPct val="102000"/>
                        </a:lnSpc>
                        <a:buNone/>
                      </a:pPr>
                      <a:r>
                        <a:rPr sz="900" b="0">
                          <a:solidFill>
                            <a:srgbClr val="070154"/>
                          </a:solidFill>
                          <a:latin typeface="Arial"/>
                          <a:ea typeface="Arial"/>
                          <a:cs typeface="Arial"/>
                        </a:rPr>
                        <a:t>AI-enabled delivery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sz="900" b="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16804D"/>
                          </a:solidFill>
                          <a:latin typeface="Arial"/>
                          <a:ea typeface="Arial"/>
                          <a:cs typeface="Arial"/>
                        </a:rPr>
                        <a:t>Leading pocket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sz="900" b="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sz="900" b="0">
                          <a:solidFill>
                            <a:srgbClr val="070154"/>
                          </a:solidFill>
                          <a:latin typeface="Arial"/>
                          <a:ea typeface="Arial"/>
                          <a:cs typeface="Arial"/>
                        </a:rPr>
                        <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9"/>
                  </a:ext>
                </a:extLst>
              </a:tr>
            </a:tbl>
          </a:graphicData>
        </a:graphic>
      </p:graphicFrame>
      <p:sp>
        <p:nvSpPr>
          <p:cNvPr id="6" name="Rectangle 5">
            <a:extLst>
              <a:ext uri="{FF2B5EF4-FFF2-40B4-BE49-F238E27FC236}">
                <a16:creationId xmlns:a16="http://schemas.microsoft.com/office/drawing/2014/main" id="{6DCC4CB2-F275-4CDD-9F4C-5F1D528EA7A1}"/>
              </a:ext>
            </a:extLst>
          </p:cNvPr>
          <p:cNvSpPr>
            <a:spLocks noGrp="1"/>
          </p:cNvSpPr>
          <p:nvPr/>
        </p:nvSpPr>
        <p:spPr>
          <a:xfrm>
            <a:off x="457200" y="5791200"/>
            <a:ext cx="10668000" cy="285750"/>
          </a:xfrm>
          <a:prstGeom prst="rect">
            <a:avLst/>
          </a:prstGeom>
          <a:noFill/>
          <a:ln w="0">
            <a:noFill/>
          </a:ln>
        </p:spPr>
        <p:txBody>
          <a:bodyPr lIns="91440" tIns="45720" rIns="91440" bIns="45720" anchor="t">
            <a:normAutofit/>
          </a:bodyPr>
          <a:lstStyle/>
          <a:p>
            <a:pPr>
              <a:lnSpc>
                <a:spcPct val="108000"/>
              </a:lnSpc>
              <a:defRPr sz="1050" b="0" i="0">
                <a:solidFill>
                  <a:srgbClr val="50658E"/>
                </a:solidFill>
                <a:latin typeface="Arial"/>
                <a:ea typeface="Arial"/>
                <a:cs typeface="Arial"/>
              </a:defRPr>
            </a:pPr>
            <a:r>
              <a:rPr sz="1050" b="0" i="0">
                <a:solidFill>
                  <a:srgbClr val="50658E"/>
                </a:solidFill>
                <a:latin typeface="Arial"/>
                <a:ea typeface="Arial"/>
                <a:cs typeface="Arial"/>
              </a:rPr>
              <a:t>Ratings are working hypotheses</a:t>
            </a:r>
            <a:r>
              <a:rPr lang="en-US" sz="1050">
                <a:solidFill>
                  <a:srgbClr val="50658E"/>
                </a:solidFill>
                <a:latin typeface="Arial"/>
                <a:ea typeface="Arial"/>
                <a:cs typeface="Arial"/>
              </a:rPr>
              <a:t> based on limited conversations and observations with DXC team</a:t>
            </a:r>
            <a:r>
              <a:rPr lang="en-US" sz="1100">
                <a:solidFill>
                  <a:srgbClr val="50658E"/>
                </a:solidFill>
                <a:latin typeface="Arial"/>
                <a:ea typeface="Arial"/>
                <a:cs typeface="Arial"/>
              </a:rPr>
              <a:t>.</a:t>
            </a:r>
            <a:endParaRPr lang="en-US" sz="1050" b="0" i="0">
              <a:solidFill>
                <a:srgbClr val="50658E"/>
              </a:solidFill>
              <a:latin typeface="Arial"/>
              <a:ea typeface="Arial"/>
              <a:cs typeface="Arial"/>
            </a:endParaRPr>
          </a:p>
        </p:txBody>
      </p:sp>
      <p:sp>
        <p:nvSpPr>
          <p:cNvPr id="5" name="GridLineV1">
            <a:extLst>
              <a:ext uri="{FF2B5EF4-FFF2-40B4-BE49-F238E27FC236}">
                <a16:creationId xmlns:a16="http://schemas.microsoft.com/office/drawing/2014/main" id="{6C25ED57-5FA9-3446-89CC-D85DD7B0159C}"/>
              </a:ext>
            </a:extLst>
          </p:cNvPr>
          <p:cNvSpPr/>
          <p:nvPr/>
        </p:nvSpPr>
        <p:spPr>
          <a:xfrm>
            <a:off x="2046059" y="1752600"/>
            <a:ext cx="44450" cy="385826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GridLineV2">
            <a:extLst>
              <a:ext uri="{FF2B5EF4-FFF2-40B4-BE49-F238E27FC236}">
                <a16:creationId xmlns:a16="http://schemas.microsoft.com/office/drawing/2014/main" id="{0371B195-425C-0C48-9E3C-02C3F8C07E50}"/>
              </a:ext>
            </a:extLst>
          </p:cNvPr>
          <p:cNvSpPr/>
          <p:nvPr/>
        </p:nvSpPr>
        <p:spPr>
          <a:xfrm>
            <a:off x="3657146" y="1752600"/>
            <a:ext cx="44450" cy="385826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GridLineV3">
            <a:extLst>
              <a:ext uri="{FF2B5EF4-FFF2-40B4-BE49-F238E27FC236}">
                <a16:creationId xmlns:a16="http://schemas.microsoft.com/office/drawing/2014/main" id="{8AF20C22-4A1A-8B42-B0DE-3123C9715F71}"/>
              </a:ext>
            </a:extLst>
          </p:cNvPr>
          <p:cNvSpPr/>
          <p:nvPr/>
        </p:nvSpPr>
        <p:spPr>
          <a:xfrm>
            <a:off x="5268232" y="1752600"/>
            <a:ext cx="44450" cy="385826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GridLineV4">
            <a:extLst>
              <a:ext uri="{FF2B5EF4-FFF2-40B4-BE49-F238E27FC236}">
                <a16:creationId xmlns:a16="http://schemas.microsoft.com/office/drawing/2014/main" id="{00B1607C-5AAF-7844-BB16-1AB7F9F4E9F2}"/>
              </a:ext>
            </a:extLst>
          </p:cNvPr>
          <p:cNvSpPr/>
          <p:nvPr/>
        </p:nvSpPr>
        <p:spPr>
          <a:xfrm>
            <a:off x="6879317" y="1752600"/>
            <a:ext cx="44450" cy="385826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GridLineV5">
            <a:extLst>
              <a:ext uri="{FF2B5EF4-FFF2-40B4-BE49-F238E27FC236}">
                <a16:creationId xmlns:a16="http://schemas.microsoft.com/office/drawing/2014/main" id="{48189B1D-7D10-0242-A2FD-2C0713220862}"/>
              </a:ext>
            </a:extLst>
          </p:cNvPr>
          <p:cNvSpPr/>
          <p:nvPr/>
        </p:nvSpPr>
        <p:spPr>
          <a:xfrm>
            <a:off x="8490403" y="1752600"/>
            <a:ext cx="44450" cy="385826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GridLineV6">
            <a:extLst>
              <a:ext uri="{FF2B5EF4-FFF2-40B4-BE49-F238E27FC236}">
                <a16:creationId xmlns:a16="http://schemas.microsoft.com/office/drawing/2014/main" id="{D88B29E7-0128-F248-ACA6-F13CCBEAE082}"/>
              </a:ext>
            </a:extLst>
          </p:cNvPr>
          <p:cNvSpPr/>
          <p:nvPr/>
        </p:nvSpPr>
        <p:spPr>
          <a:xfrm>
            <a:off x="10101488" y="1752600"/>
            <a:ext cx="44450" cy="385826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GridLineH1">
            <a:extLst>
              <a:ext uri="{FF2B5EF4-FFF2-40B4-BE49-F238E27FC236}">
                <a16:creationId xmlns:a16="http://schemas.microsoft.com/office/drawing/2014/main" id="{52C8C255-92BF-7A45-AAD4-9E254CD40169}"/>
              </a:ext>
            </a:extLst>
          </p:cNvPr>
          <p:cNvSpPr/>
          <p:nvPr/>
        </p:nvSpPr>
        <p:spPr>
          <a:xfrm>
            <a:off x="457200" y="2116201"/>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GridLineH2">
            <a:extLst>
              <a:ext uri="{FF2B5EF4-FFF2-40B4-BE49-F238E27FC236}">
                <a16:creationId xmlns:a16="http://schemas.microsoft.com/office/drawing/2014/main" id="{E65AFD75-4995-6B46-9C17-EB64997F01B8}"/>
              </a:ext>
            </a:extLst>
          </p:cNvPr>
          <p:cNvSpPr/>
          <p:nvPr/>
        </p:nvSpPr>
        <p:spPr>
          <a:xfrm>
            <a:off x="457200" y="2502027"/>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GridLineH3">
            <a:extLst>
              <a:ext uri="{FF2B5EF4-FFF2-40B4-BE49-F238E27FC236}">
                <a16:creationId xmlns:a16="http://schemas.microsoft.com/office/drawing/2014/main" id="{AE0F55CF-29F5-B442-A730-63BEA1CF7978}"/>
              </a:ext>
            </a:extLst>
          </p:cNvPr>
          <p:cNvSpPr/>
          <p:nvPr/>
        </p:nvSpPr>
        <p:spPr>
          <a:xfrm>
            <a:off x="457200" y="2887853"/>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GridLineH4">
            <a:extLst>
              <a:ext uri="{FF2B5EF4-FFF2-40B4-BE49-F238E27FC236}">
                <a16:creationId xmlns:a16="http://schemas.microsoft.com/office/drawing/2014/main" id="{AB9371BD-EC12-C147-9EE3-E832B0E6F95A}"/>
              </a:ext>
            </a:extLst>
          </p:cNvPr>
          <p:cNvSpPr/>
          <p:nvPr/>
        </p:nvSpPr>
        <p:spPr>
          <a:xfrm>
            <a:off x="457200" y="3273679"/>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GridLineH5">
            <a:extLst>
              <a:ext uri="{FF2B5EF4-FFF2-40B4-BE49-F238E27FC236}">
                <a16:creationId xmlns:a16="http://schemas.microsoft.com/office/drawing/2014/main" id="{782689B2-8921-0F43-9017-1360015F7F95}"/>
              </a:ext>
            </a:extLst>
          </p:cNvPr>
          <p:cNvSpPr/>
          <p:nvPr/>
        </p:nvSpPr>
        <p:spPr>
          <a:xfrm>
            <a:off x="457200" y="3659504"/>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GridLineH6">
            <a:extLst>
              <a:ext uri="{FF2B5EF4-FFF2-40B4-BE49-F238E27FC236}">
                <a16:creationId xmlns:a16="http://schemas.microsoft.com/office/drawing/2014/main" id="{79D8D55A-6D0C-F24F-BCAD-AFEE9120E5FF}"/>
              </a:ext>
            </a:extLst>
          </p:cNvPr>
          <p:cNvSpPr/>
          <p:nvPr/>
        </p:nvSpPr>
        <p:spPr>
          <a:xfrm>
            <a:off x="457200" y="4045330"/>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GridLineH7">
            <a:extLst>
              <a:ext uri="{FF2B5EF4-FFF2-40B4-BE49-F238E27FC236}">
                <a16:creationId xmlns:a16="http://schemas.microsoft.com/office/drawing/2014/main" id="{F7787C4C-442D-7542-9178-CCD94F7C29F8}"/>
              </a:ext>
            </a:extLst>
          </p:cNvPr>
          <p:cNvSpPr/>
          <p:nvPr/>
        </p:nvSpPr>
        <p:spPr>
          <a:xfrm>
            <a:off x="457200" y="4431157"/>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GridLineH8">
            <a:extLst>
              <a:ext uri="{FF2B5EF4-FFF2-40B4-BE49-F238E27FC236}">
                <a16:creationId xmlns:a16="http://schemas.microsoft.com/office/drawing/2014/main" id="{3971B0FB-5978-804E-97E7-B9323B18FCDC}"/>
              </a:ext>
            </a:extLst>
          </p:cNvPr>
          <p:cNvSpPr/>
          <p:nvPr/>
        </p:nvSpPr>
        <p:spPr>
          <a:xfrm>
            <a:off x="457200" y="4816983"/>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GridLineH9">
            <a:extLst>
              <a:ext uri="{FF2B5EF4-FFF2-40B4-BE49-F238E27FC236}">
                <a16:creationId xmlns:a16="http://schemas.microsoft.com/office/drawing/2014/main" id="{213236BD-5C19-B44A-98D9-F24F2F4AE596}"/>
              </a:ext>
            </a:extLst>
          </p:cNvPr>
          <p:cNvSpPr/>
          <p:nvPr/>
        </p:nvSpPr>
        <p:spPr>
          <a:xfrm>
            <a:off x="457200" y="5202809"/>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1704234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7A41A9B1-B9E2-4E11-AC4E-00E1960D181D}"/>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Engineering practices by platform</a:t>
            </a:r>
          </a:p>
        </p:txBody>
      </p:sp>
      <p:sp>
        <p:nvSpPr>
          <p:cNvPr id="3" name="Rectangle 2">
            <a:extLst>
              <a:ext uri="{FF2B5EF4-FFF2-40B4-BE49-F238E27FC236}">
                <a16:creationId xmlns:a16="http://schemas.microsoft.com/office/drawing/2014/main" id="{E4BA3EFF-737E-42A8-A997-95354A026770}"/>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The single Build cell on the Practices Map hides two very different platforms. Working ratings to validate with Engineering.</a:t>
            </a:r>
          </a:p>
        </p:txBody>
      </p:sp>
      <p:sp>
        <p:nvSpPr>
          <p:cNvPr id="4" name="Rectangle 3">
            <a:extLst>
              <a:ext uri="{FF2B5EF4-FFF2-40B4-BE49-F238E27FC236}">
                <a16:creationId xmlns:a16="http://schemas.microsoft.com/office/drawing/2014/main" id="{92789E09-0421-4E0B-A3F8-DA08C49950D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01</a:t>
            </a:r>
          </a:p>
        </p:txBody>
      </p:sp>
      <p:sp>
        <p:nvSpPr>
          <p:cNvPr id="6" name="Rectangle 5">
            <a:extLst>
              <a:ext uri="{FF2B5EF4-FFF2-40B4-BE49-F238E27FC236}">
                <a16:creationId xmlns:a16="http://schemas.microsoft.com/office/drawing/2014/main" id="{6DCC4CB2-F275-4CDD-9F4C-5F1D528EA7A1}"/>
              </a:ext>
            </a:extLst>
          </p:cNvPr>
          <p:cNvSpPr>
            <a:spLocks noGrp="1"/>
          </p:cNvSpPr>
          <p:nvPr/>
        </p:nvSpPr>
        <p:spPr>
          <a:xfrm>
            <a:off x="457200" y="5791200"/>
            <a:ext cx="10668000" cy="2857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Sources: engineering and release working sessions, engineering survey (n=44), 2024–2026 release calendar. Working hypotheses to validate with Engineering.</a:t>
            </a:r>
          </a:p>
        </p:txBody>
      </p:sp>
      <p:graphicFrame>
        <p:nvGraphicFramePr>
          <p:cNvPr id="20" name="Engineering Practices Table"/>
          <p:cNvGraphicFramePr>
            <a:graphicFrameLocks noGrp="1"/>
          </p:cNvGraphicFramePr>
          <p:nvPr/>
        </p:nvGraphicFramePr>
        <p:xfrm>
          <a:off x="457200" y="1752600"/>
          <a:ext cx="11277600" cy="3950000"/>
        </p:xfrm>
        <a:graphic>
          <a:graphicData uri="http://schemas.openxmlformats.org/drawingml/2006/table">
            <a:tbl>
              <a:tblPr/>
              <a:tblGrid>
                <a:gridCol w="1850000">
                  <a:extLst>
                    <a:ext uri="{9D8B030D-6E8A-4147-A177-3AD203B41FA5}">
                      <a16:colId xmlns:a16="http://schemas.microsoft.com/office/drawing/2014/main" val="20000"/>
                    </a:ext>
                  </a:extLst>
                </a:gridCol>
                <a:gridCol w="1300000">
                  <a:extLst>
                    <a:ext uri="{9D8B030D-6E8A-4147-A177-3AD203B41FA5}">
                      <a16:colId xmlns:a16="http://schemas.microsoft.com/office/drawing/2014/main" val="20001"/>
                    </a:ext>
                  </a:extLst>
                </a:gridCol>
                <a:gridCol w="1300000">
                  <a:extLst>
                    <a:ext uri="{9D8B030D-6E8A-4147-A177-3AD203B41FA5}">
                      <a16:colId xmlns:a16="http://schemas.microsoft.com/office/drawing/2014/main" val="20002"/>
                    </a:ext>
                  </a:extLst>
                </a:gridCol>
                <a:gridCol w="1300000">
                  <a:extLst>
                    <a:ext uri="{9D8B030D-6E8A-4147-A177-3AD203B41FA5}">
                      <a16:colId xmlns:a16="http://schemas.microsoft.com/office/drawing/2014/main" val="20003"/>
                    </a:ext>
                  </a:extLst>
                </a:gridCol>
                <a:gridCol w="4627600">
                  <a:extLst>
                    <a:ext uri="{9D8B030D-6E8A-4147-A177-3AD203B41FA5}">
                      <a16:colId xmlns:a16="http://schemas.microsoft.com/office/drawing/2014/main" val="20004"/>
                    </a:ext>
                  </a:extLst>
                </a:gridCol>
                <a:gridCol w="900000">
                  <a:extLst>
                    <a:ext uri="{9D8B030D-6E8A-4147-A177-3AD203B41FA5}">
                      <a16:colId xmlns:a16="http://schemas.microsoft.com/office/drawing/2014/main" val="20005"/>
                    </a:ext>
                  </a:extLst>
                </a:gridCol>
              </a:tblGrid>
              <a:tr h="430000">
                <a:tc>
                  <a:txBody>
                    <a:bodyPr/>
                    <a:lstStyle/>
                    <a:p>
                      <a:pPr>
                        <a:lnSpc>
                          <a:spcPct val="102000"/>
                        </a:lnSpc>
                        <a:buNone/>
                      </a:pPr>
                      <a:r>
                        <a:rPr lang="en-US" sz="975" b="1" i="0">
                          <a:solidFill>
                            <a:srgbClr val="FFFFFF"/>
                          </a:solidFill>
                          <a:latin typeface="Arial"/>
                          <a:ea typeface="Arial"/>
                          <a:cs typeface="Arial"/>
                        </a:rPr>
                        <a:t>Engineering practice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i="0">
                          <a:solidFill>
                            <a:srgbClr val="FFFFFF"/>
                          </a:solidFill>
                          <a:latin typeface="Arial"/>
                          <a:ea typeface="Arial"/>
                          <a:cs typeface="Arial"/>
                        </a:rPr>
                        <a:t>Core platform (Java)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i="0">
                          <a:solidFill>
                            <a:srgbClr val="FFFFFF"/>
                          </a:solidFill>
                          <a:latin typeface="Arial"/>
                          <a:ea typeface="Arial"/>
                          <a:cs typeface="Arial"/>
                        </a:rPr>
                        <a:t>New platform: Reconcile AI</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i="0">
                          <a:solidFill>
                            <a:srgbClr val="FFFFFF"/>
                          </a:solidFill>
                          <a:latin typeface="Arial"/>
                          <a:ea typeface="Arial"/>
                          <a:cs typeface="Arial"/>
                        </a:rPr>
                        <a:t>New platform: other pods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i="0">
                          <a:solidFill>
                            <a:srgbClr val="FFFFFF"/>
                          </a:solidFill>
                          <a:latin typeface="Arial"/>
                          <a:ea typeface="Arial"/>
                          <a:cs typeface="Arial"/>
                        </a:rPr>
                        <a:t>Evidence so far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75" b="1" i="0">
                          <a:solidFill>
                            <a:srgbClr val="FFFFFF"/>
                          </a:solidFill>
                          <a:latin typeface="Arial"/>
                          <a:ea typeface="Arial"/>
                          <a:cs typeface="Arial"/>
                        </a:rPr>
                        <a:t>Addressed by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extLst>
                  <a:ext uri="{0D108BD9-81ED-4DB2-BD59-A6C34878D82A}">
                    <a16:rowId xmlns:a16="http://schemas.microsoft.com/office/drawing/2014/main" val="10000"/>
                  </a:ext>
                </a:extLst>
              </a:tr>
              <a:tr h="440000">
                <a:tc>
                  <a:txBody>
                    <a:bodyPr/>
                    <a:lstStyle/>
                    <a:p>
                      <a:pPr>
                        <a:lnSpc>
                          <a:spcPct val="102000"/>
                        </a:lnSpc>
                        <a:buNone/>
                      </a:pPr>
                      <a:r>
                        <a:rPr lang="en-US" sz="900" b="0" i="0">
                          <a:solidFill>
                            <a:srgbClr val="070154"/>
                          </a:solidFill>
                          <a:latin typeface="Arial"/>
                          <a:ea typeface="Arial"/>
                          <a:cs typeface="Arial"/>
                        </a:rPr>
                        <a:t>Technical design and architecture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16804D"/>
                          </a:solidFill>
                          <a:latin typeface="Arial"/>
                          <a:ea typeface="Arial"/>
                          <a:cs typeface="Arial"/>
                        </a:rPr>
                        <a:t>Leading pocket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00" b="0" i="0">
                          <a:solidFill>
                            <a:srgbClr val="50658E"/>
                          </a:solidFill>
                          <a:latin typeface="Arial"/>
                          <a:ea typeface="Arial"/>
                          <a:cs typeface="Arial"/>
                        </a:rPr>
                        <a:t>To validate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2F4F8"/>
                    </a:solidFill>
                  </a:tcPr>
                </a:tc>
                <a:tc>
                  <a:txBody>
                    <a:bodyPr/>
                    <a:lstStyle/>
                    <a:p>
                      <a:pPr>
                        <a:lnSpc>
                          <a:spcPct val="102000"/>
                        </a:lnSpc>
                        <a:buNone/>
                      </a:pPr>
                      <a:r>
                        <a:rPr lang="en-US" sz="800" b="0" i="0">
                          <a:solidFill>
                            <a:srgbClr val="50658E"/>
                          </a:solidFill>
                          <a:latin typeface="Arial"/>
                          <a:ea typeface="Arial"/>
                          <a:cs typeface="Arial"/>
                        </a:rPr>
                        <a:t>No owned design step before build (readout finding 04); Core design knowledge sits with a small group. Recon: Architectural Specification template, Team Lead signs.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a:solidFill>
                            <a:srgbClr val="0047FF"/>
                          </a:solidFill>
                          <a:latin typeface="Arial"/>
                          <a:ea typeface="Arial"/>
                          <a:cs typeface="Arial"/>
                        </a:rPr>
                        <a:t>Rec 03</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extLst>
                  <a:ext uri="{0D108BD9-81ED-4DB2-BD59-A6C34878D82A}">
                    <a16:rowId xmlns:a16="http://schemas.microsoft.com/office/drawing/2014/main" val="10001"/>
                  </a:ext>
                </a:extLst>
              </a:tr>
              <a:tr h="440000">
                <a:tc>
                  <a:txBody>
                    <a:bodyPr/>
                    <a:lstStyle/>
                    <a:p>
                      <a:pPr>
                        <a:lnSpc>
                          <a:spcPct val="102000"/>
                        </a:lnSpc>
                        <a:buNone/>
                      </a:pPr>
                      <a:r>
                        <a:rPr lang="en-US" sz="900" b="0" i="0">
                          <a:solidFill>
                            <a:srgbClr val="070154"/>
                          </a:solidFill>
                          <a:latin typeface="Arial"/>
                          <a:ea typeface="Arial"/>
                          <a:cs typeface="Arial"/>
                        </a:rPr>
                        <a:t>AI-assisted build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lang="en-US" sz="900" b="0" i="0">
                          <a:solidFill>
                            <a:srgbClr val="16804D"/>
                          </a:solidFill>
                          <a:latin typeface="Arial"/>
                          <a:ea typeface="Arial"/>
                          <a:cs typeface="Arial"/>
                        </a:rPr>
                        <a:t>Leading pocket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00" b="0" i="0">
                          <a:solidFill>
                            <a:srgbClr val="3561AE"/>
                          </a:solidFill>
                          <a:latin typeface="Arial"/>
                          <a:ea typeface="Arial"/>
                          <a:cs typeface="Arial"/>
                        </a:rPr>
                        <a:t>Variable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tc>
                  <a:txBody>
                    <a:bodyPr/>
                    <a:lstStyle/>
                    <a:p>
                      <a:pPr>
                        <a:lnSpc>
                          <a:spcPct val="102000"/>
                        </a:lnSpc>
                        <a:buNone/>
                      </a:pPr>
                      <a:r>
                        <a:rPr lang="en-US" sz="800" b="0" i="0">
                          <a:solidFill>
                            <a:srgbClr val="50658E"/>
                          </a:solidFill>
                          <a:latin typeface="Arial"/>
                          <a:ea typeface="Arial"/>
                          <a:cs typeface="Arial"/>
                        </a:rPr>
                        <a:t>Core: Copilot in IntelliJ since January 2026, all gates human. Recon: epic-level agent pipeline. Other pods: developer-led, mostly unit tests.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a:solidFill>
                            <a:srgbClr val="0047FF"/>
                          </a:solidFill>
                          <a:latin typeface="Arial"/>
                          <a:ea typeface="Arial"/>
                          <a:cs typeface="Arial"/>
                        </a:rPr>
                        <a:t>E5</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extLst>
                  <a:ext uri="{0D108BD9-81ED-4DB2-BD59-A6C34878D82A}">
                    <a16:rowId xmlns:a16="http://schemas.microsoft.com/office/drawing/2014/main" val="10002"/>
                  </a:ext>
                </a:extLst>
              </a:tr>
              <a:tr h="440000">
                <a:tc>
                  <a:txBody>
                    <a:bodyPr/>
                    <a:lstStyle/>
                    <a:p>
                      <a:pPr>
                        <a:lnSpc>
                          <a:spcPct val="102000"/>
                        </a:lnSpc>
                        <a:buNone/>
                      </a:pPr>
                      <a:r>
                        <a:rPr lang="en-US" sz="900" b="0" i="0">
                          <a:solidFill>
                            <a:srgbClr val="070154"/>
                          </a:solidFill>
                          <a:latin typeface="Arial"/>
                          <a:ea typeface="Arial"/>
                          <a:cs typeface="Arial"/>
                        </a:rPr>
                        <a:t>Test automation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16804D"/>
                          </a:solidFill>
                          <a:latin typeface="Arial"/>
                          <a:ea typeface="Arial"/>
                          <a:cs typeface="Arial"/>
                        </a:rPr>
                        <a:t>Leading pocket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00" b="0" i="0">
                          <a:solidFill>
                            <a:srgbClr val="3561AE"/>
                          </a:solidFill>
                          <a:latin typeface="Arial"/>
                          <a:ea typeface="Arial"/>
                          <a:cs typeface="Arial"/>
                        </a:rPr>
                        <a:t>Variable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tc>
                  <a:txBody>
                    <a:bodyPr/>
                    <a:lstStyle/>
                    <a:p>
                      <a:pPr>
                        <a:lnSpc>
                          <a:spcPct val="102000"/>
                        </a:lnSpc>
                        <a:buNone/>
                      </a:pPr>
                      <a:r>
                        <a:rPr lang="en-US" sz="800" b="0" i="0">
                          <a:solidFill>
                            <a:srgbClr val="50658E"/>
                          </a:solidFill>
                          <a:latin typeface="Arial"/>
                          <a:ea typeface="Arial"/>
                          <a:cs typeface="Arial"/>
                        </a:rPr>
                        <a:t>Core regression is manual with limited QA capacity. Recon agents write Jest, Playwright, and Postman tests per story. XConnect ~100%; other pods partially automated.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a:solidFill>
                            <a:srgbClr val="0047FF"/>
                          </a:solidFill>
                          <a:latin typeface="Arial"/>
                          <a:ea typeface="Arial"/>
                          <a:cs typeface="Arial"/>
                        </a:rPr>
                        <a:t>E2</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extLst>
                  <a:ext uri="{0D108BD9-81ED-4DB2-BD59-A6C34878D82A}">
                    <a16:rowId xmlns:a16="http://schemas.microsoft.com/office/drawing/2014/main" val="10003"/>
                  </a:ext>
                </a:extLst>
              </a:tr>
              <a:tr h="440000">
                <a:tc>
                  <a:txBody>
                    <a:bodyPr/>
                    <a:lstStyle/>
                    <a:p>
                      <a:pPr>
                        <a:lnSpc>
                          <a:spcPct val="102000"/>
                        </a:lnSpc>
                        <a:buNone/>
                      </a:pPr>
                      <a:r>
                        <a:rPr lang="en-US" sz="900" b="0" i="0">
                          <a:solidFill>
                            <a:srgbClr val="070154"/>
                          </a:solidFill>
                          <a:latin typeface="Arial"/>
                          <a:ea typeface="Arial"/>
                          <a:cs typeface="Arial"/>
                        </a:rPr>
                        <a:t>Release engineering and promotion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lang="en-US" sz="900" b="0" i="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lang="en-US" sz="900" b="0" i="0">
                          <a:solidFill>
                            <a:srgbClr val="50658E"/>
                          </a:solidFill>
                          <a:latin typeface="Arial"/>
                          <a:ea typeface="Arial"/>
                          <a:cs typeface="Arial"/>
                        </a:rPr>
                        <a:t>To validate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2F4F8"/>
                    </a:solidFill>
                  </a:tcPr>
                </a:tc>
                <a:tc>
                  <a:txBody>
                    <a:bodyPr/>
                    <a:lstStyle/>
                    <a:p>
                      <a:pPr>
                        <a:lnSpc>
                          <a:spcPct val="102000"/>
                        </a:lnSpc>
                        <a:buNone/>
                      </a:pPr>
                      <a:r>
                        <a:rPr lang="en-US" sz="800" b="0" i="0">
                          <a:solidFill>
                            <a:srgbClr val="50658E"/>
                          </a:solidFill>
                          <a:latin typeface="Arial"/>
                          <a:ea typeface="Arial"/>
                          <a:cs typeface="Arial"/>
                        </a:rPr>
                        <a:t>Builds are tracked by ID, but release-night branch merges suggest production may be rebuilt rather than promoted: to confirm. Some new products not yet in CAB.</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a:solidFill>
                            <a:srgbClr val="0047FF"/>
                          </a:solidFill>
                          <a:latin typeface="Arial"/>
                          <a:ea typeface="Arial"/>
                          <a:cs typeface="Arial"/>
                        </a:rPr>
                        <a:t>E1</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extLst>
                  <a:ext uri="{0D108BD9-81ED-4DB2-BD59-A6C34878D82A}">
                    <a16:rowId xmlns:a16="http://schemas.microsoft.com/office/drawing/2014/main" val="10004"/>
                  </a:ext>
                </a:extLst>
              </a:tr>
              <a:tr h="440000">
                <a:tc>
                  <a:txBody>
                    <a:bodyPr/>
                    <a:lstStyle/>
                    <a:p>
                      <a:pPr>
                        <a:lnSpc>
                          <a:spcPct val="102000"/>
                        </a:lnSpc>
                        <a:buNone/>
                      </a:pPr>
                      <a:r>
                        <a:rPr lang="en-US" sz="900" b="0" i="0">
                          <a:solidFill>
                            <a:srgbClr val="070154"/>
                          </a:solidFill>
                          <a:latin typeface="Arial"/>
                          <a:ea typeface="Arial"/>
                          <a:cs typeface="Arial"/>
                        </a:rPr>
                        <a:t>Environments, access, and test data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00" b="0" i="0">
                          <a:solidFill>
                            <a:srgbClr val="50658E"/>
                          </a:solidFill>
                          <a:latin typeface="Arial"/>
                          <a:ea typeface="Arial"/>
                          <a:cs typeface="Arial"/>
                        </a:rPr>
                        <a:t>Survey: access delays, late test data, no read-only database access for troubleshooting. Recon waited months for production-like data.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a:solidFill>
                            <a:srgbClr val="0047FF"/>
                          </a:solidFill>
                          <a:latin typeface="Arial"/>
                          <a:ea typeface="Arial"/>
                          <a:cs typeface="Arial"/>
                        </a:rPr>
                        <a:t>E3</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extLst>
                  <a:ext uri="{0D108BD9-81ED-4DB2-BD59-A6C34878D82A}">
                    <a16:rowId xmlns:a16="http://schemas.microsoft.com/office/drawing/2014/main" val="10005"/>
                  </a:ext>
                </a:extLst>
              </a:tr>
              <a:tr h="440000">
                <a:tc>
                  <a:txBody>
                    <a:bodyPr/>
                    <a:lstStyle/>
                    <a:p>
                      <a:pPr>
                        <a:lnSpc>
                          <a:spcPct val="102000"/>
                        </a:lnSpc>
                        <a:buNone/>
                      </a:pPr>
                      <a:r>
                        <a:rPr lang="en-US" sz="900" b="0" i="0">
                          <a:solidFill>
                            <a:srgbClr val="070154"/>
                          </a:solidFill>
                          <a:latin typeface="Arial"/>
                          <a:ea typeface="Arial"/>
                          <a:cs typeface="Arial"/>
                        </a:rPr>
                        <a:t>Operability and run lane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8B6500"/>
                          </a:solidFill>
                          <a:latin typeface="Arial"/>
                          <a:ea typeface="Arial"/>
                          <a:cs typeface="Arial"/>
                        </a:rPr>
                        <a:t>Developing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lang="en-US" sz="900" b="0" i="0">
                          <a:solidFill>
                            <a:srgbClr val="50658E"/>
                          </a:solidFill>
                          <a:latin typeface="Arial"/>
                          <a:ea typeface="Arial"/>
                          <a:cs typeface="Arial"/>
                        </a:rPr>
                        <a:t>To validate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2F4F8"/>
                    </a:solidFill>
                  </a:tcPr>
                </a:tc>
                <a:tc>
                  <a:txBody>
                    <a:bodyPr/>
                    <a:lstStyle/>
                    <a:p>
                      <a:pPr>
                        <a:lnSpc>
                          <a:spcPct val="102000"/>
                        </a:lnSpc>
                        <a:buNone/>
                      </a:pPr>
                      <a:r>
                        <a:rPr lang="en-US" sz="900" b="0" i="0">
                          <a:solidFill>
                            <a:srgbClr val="50658E"/>
                          </a:solidFill>
                          <a:latin typeface="Arial"/>
                          <a:ea typeface="Arial"/>
                          <a:cs typeface="Arial"/>
                        </a:rPr>
                        <a:t>To validate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2F4F8"/>
                    </a:solidFill>
                  </a:tcPr>
                </a:tc>
                <a:tc>
                  <a:txBody>
                    <a:bodyPr/>
                    <a:lstStyle/>
                    <a:p>
                      <a:pPr>
                        <a:lnSpc>
                          <a:spcPct val="102000"/>
                        </a:lnSpc>
                        <a:buNone/>
                      </a:pPr>
                      <a:r>
                        <a:rPr lang="en-US" sz="800" b="0" i="0">
                          <a:solidFill>
                            <a:srgbClr val="50658E"/>
                          </a:solidFill>
                          <a:latin typeface="Arial"/>
                          <a:ea typeface="Arial"/>
                          <a:cs typeface="Arial"/>
                        </a:rPr>
                        <a:t>DevOps, SRE, and incident roles are in place, but half of 2026 Core changes fell outside cadence: defects, rollbacks, and credential or certificate fixes.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a:solidFill>
                            <a:srgbClr val="0047FF"/>
                          </a:solidFill>
                          <a:latin typeface="Arial"/>
                          <a:ea typeface="Arial"/>
                          <a:cs typeface="Arial"/>
                        </a:rPr>
                        <a:t>E1</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extLst>
                  <a:ext uri="{0D108BD9-81ED-4DB2-BD59-A6C34878D82A}">
                    <a16:rowId xmlns:a16="http://schemas.microsoft.com/office/drawing/2014/main" val="10006"/>
                  </a:ext>
                </a:extLst>
              </a:tr>
              <a:tr h="440000">
                <a:tc>
                  <a:txBody>
                    <a:bodyPr/>
                    <a:lstStyle/>
                    <a:p>
                      <a:pPr>
                        <a:lnSpc>
                          <a:spcPct val="102000"/>
                        </a:lnSpc>
                        <a:buNone/>
                      </a:pPr>
                      <a:r>
                        <a:rPr lang="en-US" sz="900" b="0" i="0">
                          <a:solidFill>
                            <a:srgbClr val="070154"/>
                          </a:solidFill>
                          <a:latin typeface="Arial"/>
                          <a:ea typeface="Arial"/>
                          <a:cs typeface="Arial"/>
                        </a:rPr>
                        <a:t>Delivery measurement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00" b="0" i="0">
                          <a:solidFill>
                            <a:srgbClr val="50658E"/>
                          </a:solidFill>
                          <a:latin typeface="Arial"/>
                          <a:ea typeface="Arial"/>
                          <a:cs typeface="Arial"/>
                        </a:rPr>
                        <a:t>Core plans in story points (~65 per sprint). Recon has proposed cycle time by stage, CFD, and control charts, not yet running. No DORA-style measures.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a:solidFill>
                            <a:srgbClr val="0047FF"/>
                          </a:solidFill>
                          <a:latin typeface="Arial"/>
                          <a:ea typeface="Arial"/>
                          <a:cs typeface="Arial"/>
                        </a:rPr>
                        <a:t>E4</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extLst>
                  <a:ext uri="{0D108BD9-81ED-4DB2-BD59-A6C34878D82A}">
                    <a16:rowId xmlns:a16="http://schemas.microsoft.com/office/drawing/2014/main" val="10007"/>
                  </a:ext>
                </a:extLst>
              </a:tr>
              <a:tr h="440000">
                <a:tc>
                  <a:txBody>
                    <a:bodyPr/>
                    <a:lstStyle/>
                    <a:p>
                      <a:pPr>
                        <a:lnSpc>
                          <a:spcPct val="102000"/>
                        </a:lnSpc>
                        <a:buNone/>
                      </a:pPr>
                      <a:r>
                        <a:rPr lang="en-US" sz="900" b="0" i="0">
                          <a:solidFill>
                            <a:srgbClr val="070154"/>
                          </a:solidFill>
                          <a:latin typeface="Arial"/>
                          <a:ea typeface="Arial"/>
                          <a:cs typeface="Arial"/>
                        </a:rPr>
                        <a:t>Continuity and knowledge sharing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900" b="0" i="0">
                          <a:solidFill>
                            <a:srgbClr val="B7412F"/>
                          </a:solidFill>
                          <a:latin typeface="Arial"/>
                          <a:ea typeface="Arial"/>
                          <a:cs typeface="Arial"/>
                        </a:rPr>
                        <a:t>Emerging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00" b="0" i="0">
                          <a:solidFill>
                            <a:srgbClr val="50658E"/>
                          </a:solidFill>
                          <a:latin typeface="Arial"/>
                          <a:ea typeface="Arial"/>
                          <a:cs typeface="Arial"/>
                        </a:rPr>
                        <a:t>On both platforms, review, technical direction, and approvals rely on a few senior people; onboarding paths are thin. New onshore leads are being added.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a:solidFill>
                            <a:srgbClr val="0047FF"/>
                          </a:solidFill>
                          <a:latin typeface="Arial"/>
                          <a:ea typeface="Arial"/>
                          <a:cs typeface="Arial"/>
                        </a:rPr>
                        <a:t>Rec 04</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176339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B0067D7A-BC66-4C84-8EED-253B1CBA271A}"/>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Release health baseline, 2024–2026</a:t>
            </a:r>
          </a:p>
        </p:txBody>
      </p:sp>
      <p:sp>
        <p:nvSpPr>
          <p:cNvPr id="3" name="Rectangle 2">
            <a:extLst>
              <a:ext uri="{FF2B5EF4-FFF2-40B4-BE49-F238E27FC236}">
                <a16:creationId xmlns:a16="http://schemas.microsoft.com/office/drawing/2014/main" id="{B4FEA0D5-00DB-4CBA-897B-756106B1C99A}"/>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Production changes to the Core applications, as a starting baseline for Ship with proof and delivery measurement.</a:t>
            </a:r>
          </a:p>
        </p:txBody>
      </p:sp>
      <p:sp>
        <p:nvSpPr>
          <p:cNvPr id="30" name="Deliverable Label"/>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01</a:t>
            </a:r>
          </a:p>
        </p:txBody>
      </p:sp>
      <p:sp>
        <p:nvSpPr>
          <p:cNvPr id="40" name="Stat Card 1"/>
          <p:cNvSpPr/>
          <p:nvPr/>
        </p:nvSpPr>
        <p:spPr>
          <a:xfrm>
            <a:off x="6629400" y="1752600"/>
            <a:ext cx="5105400" cy="110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41" name="Stat Accent 1"/>
          <p:cNvSpPr/>
          <p:nvPr/>
        </p:nvSpPr>
        <p:spPr>
          <a:xfrm>
            <a:off x="6629400" y="1752600"/>
            <a:ext cx="5105400" cy="63500"/>
          </a:xfrm>
          <a:prstGeom prst="rect">
            <a:avLst/>
          </a:prstGeom>
          <a:solidFill>
            <a:srgbClr val="00E8FA"/>
          </a:solidFill>
          <a:ln w="0">
            <a:noFill/>
          </a:ln>
        </p:spPr>
        <p:txBody>
          <a:bodyPr wrap="square" anchor="t">
            <a:noAutofit/>
          </a:bodyPr>
          <a:lstStyle/>
          <a:p>
            <a:endParaRPr lang="en-US"/>
          </a:p>
        </p:txBody>
      </p:sp>
      <p:sp>
        <p:nvSpPr>
          <p:cNvPr id="42" name="Stat Number 1"/>
          <p:cNvSpPr/>
          <p:nvPr/>
        </p:nvSpPr>
        <p:spPr>
          <a:xfrm>
            <a:off x="6819900" y="1902600"/>
            <a:ext cx="1400000" cy="850000"/>
          </a:xfrm>
          <a:prstGeom prst="rect">
            <a:avLst/>
          </a:prstGeom>
          <a:noFill/>
          <a:ln w="0">
            <a:noFill/>
          </a:ln>
        </p:spPr>
        <p:txBody>
          <a:bodyPr wrap="square" lIns="0" tIns="0" rIns="0" bIns="0" anchor="ctr">
            <a:noAutofit/>
          </a:bodyPr>
          <a:lstStyle/>
          <a:p>
            <a:pPr>
              <a:lnSpc>
                <a:spcPct val="100000"/>
              </a:lnSpc>
              <a:buNone/>
            </a:pPr>
            <a:r>
              <a:rPr lang="en-US" sz="2800" b="1" i="0">
                <a:solidFill>
                  <a:srgbClr val="070154"/>
                </a:solidFill>
                <a:latin typeface="Arial"/>
                <a:ea typeface="Arial"/>
                <a:cs typeface="Arial"/>
              </a:rPr>
              <a:t>50%</a:t>
            </a:r>
          </a:p>
        </p:txBody>
      </p:sp>
      <p:sp>
        <p:nvSpPr>
          <p:cNvPr id="43" name="Stat Text 1"/>
          <p:cNvSpPr/>
          <p:nvPr/>
        </p:nvSpPr>
        <p:spPr>
          <a:xfrm>
            <a:off x="8279400" y="1902600"/>
            <a:ext cx="3250000" cy="850000"/>
          </a:xfrm>
          <a:prstGeom prst="rect">
            <a:avLst/>
          </a:prstGeom>
          <a:noFill/>
          <a:ln w="0">
            <a:noFill/>
          </a:ln>
        </p:spPr>
        <p:txBody>
          <a:bodyPr wrap="square" lIns="0" tIns="0" rIns="0" bIns="0" anchor="ctr">
            <a:noAutofit/>
          </a:bodyPr>
          <a:lstStyle/>
          <a:p>
            <a:pPr>
              <a:lnSpc>
                <a:spcPct val="108000"/>
              </a:lnSpc>
              <a:buNone/>
            </a:pPr>
            <a:r>
              <a:rPr lang="en-US" sz="1050" b="0" i="0">
                <a:solidFill>
                  <a:srgbClr val="50658E"/>
                </a:solidFill>
                <a:latin typeface="Arial"/>
                <a:ea typeface="Arial"/>
                <a:cs typeface="Arial"/>
              </a:rPr>
              <a:t>of 2026 production changes fell outside the biweekly cadence: 11 patches, 2 off-version releases, and 2 rollbacks out of 30.</a:t>
            </a:r>
          </a:p>
        </p:txBody>
      </p:sp>
      <p:sp>
        <p:nvSpPr>
          <p:cNvPr id="44" name="Stat Card 2"/>
          <p:cNvSpPr/>
          <p:nvPr/>
        </p:nvSpPr>
        <p:spPr>
          <a:xfrm>
            <a:off x="6629400" y="3027600"/>
            <a:ext cx="5105400" cy="110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45" name="Stat Accent 2"/>
          <p:cNvSpPr/>
          <p:nvPr/>
        </p:nvSpPr>
        <p:spPr>
          <a:xfrm>
            <a:off x="6629400" y="3027600"/>
            <a:ext cx="5105400" cy="63500"/>
          </a:xfrm>
          <a:prstGeom prst="rect">
            <a:avLst/>
          </a:prstGeom>
          <a:solidFill>
            <a:srgbClr val="F900D3"/>
          </a:solidFill>
          <a:ln w="0">
            <a:noFill/>
          </a:ln>
        </p:spPr>
        <p:txBody>
          <a:bodyPr wrap="square" anchor="t">
            <a:noAutofit/>
          </a:bodyPr>
          <a:lstStyle/>
          <a:p>
            <a:endParaRPr lang="en-US"/>
          </a:p>
        </p:txBody>
      </p:sp>
      <p:sp>
        <p:nvSpPr>
          <p:cNvPr id="46" name="Stat Number 2"/>
          <p:cNvSpPr/>
          <p:nvPr/>
        </p:nvSpPr>
        <p:spPr>
          <a:xfrm>
            <a:off x="6819900" y="3177600"/>
            <a:ext cx="1400000" cy="850000"/>
          </a:xfrm>
          <a:prstGeom prst="rect">
            <a:avLst/>
          </a:prstGeom>
          <a:noFill/>
          <a:ln w="0">
            <a:noFill/>
          </a:ln>
        </p:spPr>
        <p:txBody>
          <a:bodyPr wrap="square" lIns="0" tIns="0" rIns="0" bIns="0" anchor="ctr">
            <a:noAutofit/>
          </a:bodyPr>
          <a:lstStyle/>
          <a:p>
            <a:pPr>
              <a:lnSpc>
                <a:spcPct val="100000"/>
              </a:lnSpc>
              <a:buNone/>
            </a:pPr>
            <a:r>
              <a:rPr lang="en-US" sz="2800" b="1" i="0">
                <a:solidFill>
                  <a:srgbClr val="070154"/>
                </a:solidFill>
                <a:latin typeface="Arial"/>
                <a:ea typeface="Arial"/>
                <a:cs typeface="Arial"/>
              </a:rPr>
              <a:t>5 of 11</a:t>
            </a:r>
          </a:p>
        </p:txBody>
      </p:sp>
      <p:sp>
        <p:nvSpPr>
          <p:cNvPr id="47" name="Stat Text 2"/>
          <p:cNvSpPr/>
          <p:nvPr/>
        </p:nvSpPr>
        <p:spPr>
          <a:xfrm>
            <a:off x="8279400" y="3177600"/>
            <a:ext cx="3250000" cy="850000"/>
          </a:xfrm>
          <a:prstGeom prst="rect">
            <a:avLst/>
          </a:prstGeom>
          <a:noFill/>
          <a:ln w="0">
            <a:noFill/>
          </a:ln>
        </p:spPr>
        <p:txBody>
          <a:bodyPr wrap="square" lIns="0" tIns="0" rIns="0" bIns="0" anchor="ctr">
            <a:noAutofit/>
          </a:bodyPr>
          <a:lstStyle/>
          <a:p>
            <a:pPr>
              <a:lnSpc>
                <a:spcPct val="108000"/>
              </a:lnSpc>
              <a:buNone/>
            </a:pPr>
            <a:r>
              <a:rPr lang="en-US" sz="1050" b="0" i="0">
                <a:solidFill>
                  <a:srgbClr val="50658E"/>
                </a:solidFill>
                <a:latin typeface="Arial"/>
                <a:ea typeface="Arial"/>
                <a:cs typeface="Arial"/>
              </a:rPr>
              <a:t>2026 patches were credential or certificate changes; two expired Salesforce passwords blocked customer workflows.</a:t>
            </a:r>
          </a:p>
        </p:txBody>
      </p:sp>
      <p:sp>
        <p:nvSpPr>
          <p:cNvPr id="48" name="Stat Card 3"/>
          <p:cNvSpPr/>
          <p:nvPr/>
        </p:nvSpPr>
        <p:spPr>
          <a:xfrm>
            <a:off x="6629400" y="4302600"/>
            <a:ext cx="5105400" cy="110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49" name="Stat Accent 3"/>
          <p:cNvSpPr/>
          <p:nvPr/>
        </p:nvSpPr>
        <p:spPr>
          <a:xfrm>
            <a:off x="6629400" y="4302600"/>
            <a:ext cx="5105400" cy="63500"/>
          </a:xfrm>
          <a:prstGeom prst="rect">
            <a:avLst/>
          </a:prstGeom>
          <a:solidFill>
            <a:srgbClr val="00A3FF"/>
          </a:solidFill>
          <a:ln w="0">
            <a:noFill/>
          </a:ln>
        </p:spPr>
        <p:txBody>
          <a:bodyPr wrap="square" anchor="t">
            <a:noAutofit/>
          </a:bodyPr>
          <a:lstStyle/>
          <a:p>
            <a:endParaRPr lang="en-US"/>
          </a:p>
        </p:txBody>
      </p:sp>
      <p:sp>
        <p:nvSpPr>
          <p:cNvPr id="50" name="Stat Number 3"/>
          <p:cNvSpPr/>
          <p:nvPr/>
        </p:nvSpPr>
        <p:spPr>
          <a:xfrm>
            <a:off x="6819900" y="4452600"/>
            <a:ext cx="1400000" cy="850000"/>
          </a:xfrm>
          <a:prstGeom prst="rect">
            <a:avLst/>
          </a:prstGeom>
          <a:noFill/>
          <a:ln w="0">
            <a:noFill/>
          </a:ln>
        </p:spPr>
        <p:txBody>
          <a:bodyPr wrap="square" lIns="0" tIns="0" rIns="0" bIns="0" anchor="ctr">
            <a:noAutofit/>
          </a:bodyPr>
          <a:lstStyle/>
          <a:p>
            <a:pPr>
              <a:lnSpc>
                <a:spcPct val="100000"/>
              </a:lnSpc>
              <a:buNone/>
            </a:pPr>
            <a:r>
              <a:rPr lang="en-US" sz="2800" b="1" i="0">
                <a:solidFill>
                  <a:srgbClr val="070154"/>
                </a:solidFill>
                <a:latin typeface="Arial"/>
                <a:ea typeface="Arial"/>
                <a:cs typeface="Arial"/>
              </a:rPr>
              <a:t>2</a:t>
            </a:r>
          </a:p>
        </p:txBody>
      </p:sp>
      <p:sp>
        <p:nvSpPr>
          <p:cNvPr id="51" name="Stat Text 3"/>
          <p:cNvSpPr/>
          <p:nvPr/>
        </p:nvSpPr>
        <p:spPr>
          <a:xfrm>
            <a:off x="8279400" y="4452600"/>
            <a:ext cx="3250000" cy="850000"/>
          </a:xfrm>
          <a:prstGeom prst="rect">
            <a:avLst/>
          </a:prstGeom>
          <a:noFill/>
          <a:ln w="0">
            <a:noFill/>
          </a:ln>
        </p:spPr>
        <p:txBody>
          <a:bodyPr wrap="square" lIns="0" tIns="0" rIns="0" bIns="0" anchor="ctr">
            <a:noAutofit/>
          </a:bodyPr>
          <a:lstStyle/>
          <a:p>
            <a:pPr>
              <a:lnSpc>
                <a:spcPct val="108000"/>
              </a:lnSpc>
              <a:buNone/>
            </a:pPr>
            <a:r>
              <a:rPr lang="en-US" sz="1050" b="0" i="0">
                <a:solidFill>
                  <a:srgbClr val="50658E"/>
                </a:solidFill>
                <a:latin typeface="Arial"/>
                <a:ea typeface="Arial"/>
                <a:cs typeface="Arial"/>
              </a:rPr>
              <a:t>rollbacks in 2026 (DEA in January, DCQ in August), plus a release item held after a failed checkout (DCQ, January).</a:t>
            </a:r>
          </a:p>
        </p:txBody>
      </p:sp>
      <p:sp>
        <p:nvSpPr>
          <p:cNvPr id="52" name="Takeaway"/>
          <p:cNvSpPr/>
          <p:nvPr/>
        </p:nvSpPr>
        <p:spPr>
          <a:xfrm>
            <a:off x="457200" y="5530000"/>
            <a:ext cx="11277600" cy="300000"/>
          </a:xfrm>
          <a:prstGeom prst="rect">
            <a:avLst/>
          </a:prstGeom>
          <a:noFill/>
          <a:ln w="0">
            <a:noFill/>
          </a:ln>
        </p:spPr>
        <p:txBody>
          <a:bodyPr wrap="square" lIns="0" tIns="0" rIns="0" bIns="0" anchor="t">
            <a:noAutofit/>
          </a:bodyPr>
          <a:lstStyle/>
          <a:p>
            <a:pPr>
              <a:lnSpc>
                <a:spcPct val="108000"/>
              </a:lnSpc>
              <a:buNone/>
            </a:pPr>
            <a:r>
              <a:rPr lang="en-US" sz="1125" b="1" i="0">
                <a:solidFill>
                  <a:srgbClr val="0047FF"/>
                </a:solidFill>
                <a:latin typeface="Arial"/>
                <a:ea typeface="Arial"/>
                <a:cs typeface="Arial"/>
              </a:rPr>
              <a:t>Half of 2026 changes were unplanned: defects, rollbacks, and credential or certificate fixes. Each merits a root-cause review (E1).</a:t>
            </a:r>
          </a:p>
        </p:txBody>
      </p:sp>
      <p:sp>
        <p:nvSpPr>
          <p:cNvPr id="53" name="Source Note"/>
          <p:cNvSpPr/>
          <p:nvPr/>
        </p:nvSpPr>
        <p:spPr>
          <a:xfrm>
            <a:off x="457200" y="5850000"/>
            <a:ext cx="11277600" cy="230000"/>
          </a:xfrm>
          <a:prstGeom prst="rect">
            <a:avLst/>
          </a:prstGeom>
          <a:noFill/>
          <a:ln w="0">
            <a:noFill/>
          </a:ln>
        </p:spPr>
        <p:txBody>
          <a:bodyPr wrap="square" lIns="0" tIns="0" rIns="0" bIns="0" anchor="t">
            <a:noAutofit/>
          </a:bodyPr>
          <a:lstStyle/>
          <a:p>
            <a:pPr>
              <a:lnSpc>
                <a:spcPct val="108000"/>
              </a:lnSpc>
              <a:buNone/>
            </a:pPr>
            <a:r>
              <a:rPr lang="en-US" sz="800" b="0" i="0">
                <a:solidFill>
                  <a:srgbClr val="50658E"/>
                </a:solidFill>
                <a:latin typeface="Arial"/>
                <a:ea typeface="Arial"/>
                <a:cs typeface="Arial"/>
              </a:rPr>
              <a:t>Source: DXC Production Release Calendar, Jan 2024 – Sep 2026; Core applications only; 2024–25 did not label patches.</a:t>
            </a:r>
          </a:p>
        </p:txBody>
      </p:sp>
      <p:graphicFrame>
        <p:nvGraphicFramePr>
          <p:cNvPr id="54" name="Chart 53"/>
          <p:cNvGraphicFramePr>
            <a:graphicFrameLocks noGrp="1"/>
          </p:cNvGraphicFramePr>
          <p:nvPr/>
        </p:nvGraphicFramePr>
        <p:xfrm>
          <a:off x="457200" y="1752600"/>
          <a:ext cx="5900000" cy="365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637553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9FE4DAA1-A3E8-4C5F-A829-DF9BAADF1DC4}"/>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Activation Summary: what the deliverable must show</a:t>
            </a:r>
          </a:p>
        </p:txBody>
      </p:sp>
      <p:sp>
        <p:nvSpPr>
          <p:cNvPr id="3" name="Rectangle 2">
            <a:extLst>
              <a:ext uri="{FF2B5EF4-FFF2-40B4-BE49-F238E27FC236}">
                <a16:creationId xmlns:a16="http://schemas.microsoft.com/office/drawing/2014/main" id="{564F7C59-B051-46BA-9EFD-9403A90CBCEF}"/>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Complete one record for each bounded change tested in the selected live initiatives.</a:t>
            </a:r>
          </a:p>
        </p:txBody>
      </p:sp>
      <p:sp>
        <p:nvSpPr>
          <p:cNvPr id="4" name="Rectangle 3">
            <a:extLst>
              <a:ext uri="{FF2B5EF4-FFF2-40B4-BE49-F238E27FC236}">
                <a16:creationId xmlns:a16="http://schemas.microsoft.com/office/drawing/2014/main" id="{20BF26D2-A961-4D7A-B92C-230CB4587164}"/>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02</a:t>
            </a:r>
          </a:p>
        </p:txBody>
      </p:sp>
      <p:sp>
        <p:nvSpPr>
          <p:cNvPr id="6" name="Rectangle 5">
            <a:extLst>
              <a:ext uri="{FF2B5EF4-FFF2-40B4-BE49-F238E27FC236}">
                <a16:creationId xmlns:a16="http://schemas.microsoft.com/office/drawing/2014/main" id="{2AEF4AE8-ED22-4DF5-B248-7A124AD8FB83}"/>
              </a:ext>
            </a:extLst>
          </p:cNvPr>
          <p:cNvSpPr>
            <a:spLocks noGrp="1"/>
          </p:cNvSpPr>
          <p:nvPr/>
        </p:nvSpPr>
        <p:spPr>
          <a:xfrm>
            <a:off x="609600" y="1743075"/>
            <a:ext cx="10858500" cy="190500"/>
          </a:xfrm>
          <a:prstGeom prst="rect">
            <a:avLst/>
          </a:prstGeom>
          <a:noFill/>
          <a:ln w="0">
            <a:noFill/>
          </a:ln>
        </p:spPr>
        <p:txBody>
          <a:bodyPr anchor="t">
            <a:normAutofit fontScale="76728" lnSpcReduction="20000"/>
          </a:bodyPr>
          <a:lstStyle/>
          <a:p>
            <a:pPr>
              <a:lnSpc>
                <a:spcPct val="108000"/>
              </a:lnSpc>
              <a:buNone/>
              <a:defRPr sz="975" b="1" i="0">
                <a:solidFill>
                  <a:srgbClr val="FFFFFF"/>
                </a:solidFill>
                <a:latin typeface="Arial"/>
                <a:ea typeface="Arial"/>
                <a:cs typeface="Arial"/>
              </a:defRPr>
            </a:pPr>
            <a:r>
              <a:rPr sz="975" b="1" i="0">
                <a:solidFill>
                  <a:srgbClr val="FFFFFF"/>
                </a:solidFill>
                <a:latin typeface="Arial"/>
                <a:ea typeface="Arial"/>
                <a:cs typeface="Arial"/>
              </a:rPr>
              <a:t>Bounded activation stays within ways of working. It does not include production-system change, software development, or broad implementation.</a:t>
            </a:r>
          </a:p>
        </p:txBody>
      </p:sp>
      <p:graphicFrame>
        <p:nvGraphicFramePr>
          <p:cNvPr id="15" name="Table 14"/>
          <p:cNvGraphicFramePr/>
          <p:nvPr>
            <p:extLst>
              <p:ext uri="{D42A27DB-BD31-4B8C-83A1-F6EECF244321}">
                <p14:modId xmlns:p14="http://schemas.microsoft.com/office/powerpoint/2010/main" val="2837032566"/>
              </p:ext>
            </p:extLst>
          </p:nvPr>
        </p:nvGraphicFramePr>
        <p:xfrm>
          <a:off x="457200" y="2209800"/>
          <a:ext cx="11277600" cy="3143250"/>
        </p:xfrm>
        <a:graphic>
          <a:graphicData uri="http://schemas.openxmlformats.org/drawingml/2006/table">
            <a:tbl>
              <a:tblPr/>
              <a:tblGrid>
                <a:gridCol w="5638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523875">
                <a:tc>
                  <a:txBody>
                    <a:bodyPr/>
                    <a:lstStyle/>
                    <a:p>
                      <a:pPr>
                        <a:lnSpc>
                          <a:spcPct val="102000"/>
                        </a:lnSpc>
                        <a:buNone/>
                      </a:pPr>
                      <a:r>
                        <a:rPr sz="1125" b="1">
                          <a:solidFill>
                            <a:srgbClr val="FFFFFF"/>
                          </a:solidFill>
                          <a:latin typeface="Arial"/>
                          <a:ea typeface="Arial"/>
                          <a:cs typeface="Arial"/>
                        </a:rPr>
                        <a:t>Activation record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70154"/>
                    </a:solidFill>
                  </a:tcPr>
                </a:tc>
                <a:tc>
                  <a:txBody>
                    <a:bodyPr/>
                    <a:lstStyle/>
                    <a:p>
                      <a:pPr>
                        <a:lnSpc>
                          <a:spcPct val="102000"/>
                        </a:lnSpc>
                        <a:buNone/>
                      </a:pPr>
                      <a:r>
                        <a:rPr sz="1125" b="1">
                          <a:solidFill>
                            <a:srgbClr val="FFFFFF"/>
                          </a:solidFill>
                          <a:latin typeface="Arial"/>
                          <a:ea typeface="Arial"/>
                          <a:cs typeface="Arial"/>
                        </a:rPr>
                        <a:t>Working input to complete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070154"/>
                    </a:solidFill>
                  </a:tcPr>
                </a:tc>
                <a:extLst>
                  <a:ext uri="{0D108BD9-81ED-4DB2-BD59-A6C34878D82A}">
                    <a16:rowId xmlns:a16="http://schemas.microsoft.com/office/drawing/2014/main" val="10000"/>
                  </a:ext>
                </a:extLst>
              </a:tr>
              <a:tr h="523875">
                <a:tc>
                  <a:txBody>
                    <a:bodyPr/>
                    <a:lstStyle/>
                    <a:p>
                      <a:pPr>
                        <a:lnSpc>
                          <a:spcPct val="102000"/>
                        </a:lnSpc>
                        <a:buNone/>
                      </a:pPr>
                      <a:r>
                        <a:rPr sz="1050" b="0">
                          <a:solidFill>
                            <a:srgbClr val="070154"/>
                          </a:solidFill>
                          <a:latin typeface="Arial"/>
                          <a:ea typeface="Arial"/>
                          <a:cs typeface="Arial"/>
                        </a:rPr>
                        <a:t>Selected initiative and baseline</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rgbClr val="E8EEF8"/>
                    </a:solidFill>
                  </a:tcPr>
                </a:tc>
                <a:tc>
                  <a:txBody>
                    <a:bodyPr/>
                    <a:lstStyle/>
                    <a:p>
                      <a:pPr>
                        <a:lnSpc>
                          <a:spcPct val="102000"/>
                        </a:lnSpc>
                        <a:buNone/>
                      </a:pPr>
                      <a:r>
                        <a:rPr sz="1050" b="0">
                          <a:solidFill>
                            <a:srgbClr val="50658E"/>
                          </a:solidFill>
                          <a:latin typeface="Arial"/>
                          <a:ea typeface="Arial"/>
                          <a:cs typeface="Arial"/>
                        </a:rPr>
                        <a:t>Add initiative, participants, cadence, and artifact set.</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523875">
                <a:tc>
                  <a:txBody>
                    <a:bodyPr/>
                    <a:lstStyle/>
                    <a:p>
                      <a:pPr>
                        <a:lnSpc>
                          <a:spcPct val="102000"/>
                        </a:lnSpc>
                        <a:buNone/>
                      </a:pPr>
                      <a:r>
                        <a:rPr sz="1050" b="0">
                          <a:solidFill>
                            <a:srgbClr val="070154"/>
                          </a:solidFill>
                          <a:latin typeface="Arial"/>
                          <a:ea typeface="Arial"/>
                          <a:cs typeface="Arial"/>
                        </a:rPr>
                        <a:t>Methodology or process change</a:t>
                      </a:r>
                    </a:p>
                  </a:txBody>
                  <a:tcPr anchor="ctr">
                    <a:lnL w="12700" cap="flat" cmpd="sng" algn="ctr">
                      <a:noFill/>
                      <a:prstDash val="solid"/>
                      <a:round/>
                      <a:headEnd type="none" w="med" len="med"/>
                      <a:tailEnd type="none" w="med" len="med"/>
                    </a:lnL>
                    <a:solidFill>
                      <a:srgbClr val="E8EEF8"/>
                    </a:solidFill>
                  </a:tcPr>
                </a:tc>
                <a:tc>
                  <a:txBody>
                    <a:bodyPr/>
                    <a:lstStyle/>
                    <a:p>
                      <a:pPr>
                        <a:lnSpc>
                          <a:spcPct val="102000"/>
                        </a:lnSpc>
                        <a:buNone/>
                      </a:pPr>
                      <a:r>
                        <a:rPr lang="en-US" sz="1050" b="0">
                          <a:solidFill>
                            <a:srgbClr val="50658E"/>
                          </a:solidFill>
                          <a:latin typeface="Arial"/>
                          <a:ea typeface="Arial"/>
                          <a:cs typeface="Arial"/>
                        </a:rPr>
                        <a:t>Name the change in the way work flows, including opportunity brief, product brief / PRD, feature brief, epic, </a:t>
                      </a:r>
                      <a:r>
                        <a:rPr lang="en-US" sz="1100" b="0" i="0" u="none" strike="noStrike" noProof="0">
                          <a:solidFill>
                            <a:srgbClr val="50658E"/>
                          </a:solidFill>
                          <a:latin typeface="Arial"/>
                          <a:ea typeface="Arial"/>
                          <a:cs typeface="Arial"/>
                        </a:rPr>
                        <a:t>technical design </a:t>
                      </a:r>
                      <a:r>
                        <a:rPr lang="en-US" sz="1050" b="0">
                          <a:solidFill>
                            <a:srgbClr val="50658E"/>
                          </a:solidFill>
                          <a:latin typeface="Arial"/>
                          <a:ea typeface="Arial"/>
                          <a:cs typeface="Arial"/>
                        </a:rPr>
                        <a:t>or implementation plan.</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523875">
                <a:tc>
                  <a:txBody>
                    <a:bodyPr/>
                    <a:lstStyle/>
                    <a:p>
                      <a:pPr>
                        <a:lnSpc>
                          <a:spcPct val="102000"/>
                        </a:lnSpc>
                        <a:buNone/>
                      </a:pPr>
                      <a:r>
                        <a:rPr sz="1050" b="0">
                          <a:solidFill>
                            <a:srgbClr val="070154"/>
                          </a:solidFill>
                          <a:latin typeface="Arial"/>
                          <a:ea typeface="Arial"/>
                          <a:cs typeface="Arial"/>
                        </a:rPr>
                        <a:t>Practice, role, decision, meeting, artifact, or measure</a:t>
                      </a:r>
                    </a:p>
                  </a:txBody>
                  <a:tcPr anchor="ctr">
                    <a:lnL w="12700" cap="flat" cmpd="sng" algn="ctr">
                      <a:noFill/>
                      <a:prstDash val="solid"/>
                      <a:round/>
                      <a:headEnd type="none" w="med" len="med"/>
                      <a:tailEnd type="none" w="med" len="med"/>
                    </a:lnL>
                    <a:solidFill>
                      <a:srgbClr val="E8EEF8"/>
                    </a:solidFill>
                  </a:tcPr>
                </a:tc>
                <a:tc>
                  <a:txBody>
                    <a:bodyPr/>
                    <a:lstStyle/>
                    <a:p>
                      <a:pPr>
                        <a:lnSpc>
                          <a:spcPct val="102000"/>
                        </a:lnSpc>
                        <a:buNone/>
                      </a:pPr>
                      <a:r>
                        <a:rPr sz="1050" b="0">
                          <a:solidFill>
                            <a:srgbClr val="50658E"/>
                          </a:solidFill>
                          <a:latin typeface="Arial"/>
                          <a:ea typeface="Arial"/>
                          <a:cs typeface="Arial"/>
                        </a:rPr>
                        <a:t>Name what changed, who changed it, and what artifact or decision point made the change visible.</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523875">
                <a:tc>
                  <a:txBody>
                    <a:bodyPr/>
                    <a:lstStyle/>
                    <a:p>
                      <a:pPr>
                        <a:lnSpc>
                          <a:spcPct val="102000"/>
                        </a:lnSpc>
                        <a:buNone/>
                      </a:pPr>
                      <a:r>
                        <a:rPr sz="1050" b="0">
                          <a:solidFill>
                            <a:srgbClr val="070154"/>
                          </a:solidFill>
                          <a:latin typeface="Arial"/>
                          <a:ea typeface="Arial"/>
                          <a:cs typeface="Arial"/>
                        </a:rPr>
                        <a:t>Observed result or early signal</a:t>
                      </a:r>
                    </a:p>
                  </a:txBody>
                  <a:tcPr anchor="ctr">
                    <a:lnL w="12700" cap="flat" cmpd="sng" algn="ctr">
                      <a:noFill/>
                      <a:prstDash val="solid"/>
                      <a:round/>
                      <a:headEnd type="none" w="med" len="med"/>
                      <a:tailEnd type="none" w="med" len="med"/>
                    </a:lnL>
                    <a:solidFill>
                      <a:srgbClr val="E8EEF8"/>
                    </a:solidFill>
                  </a:tcPr>
                </a:tc>
                <a:tc>
                  <a:txBody>
                    <a:bodyPr/>
                    <a:lstStyle/>
                    <a:p>
                      <a:pPr>
                        <a:lnSpc>
                          <a:spcPct val="102000"/>
                        </a:lnSpc>
                        <a:buNone/>
                      </a:pPr>
                      <a:r>
                        <a:rPr sz="1050" b="0">
                          <a:solidFill>
                            <a:srgbClr val="50658E"/>
                          </a:solidFill>
                          <a:latin typeface="Arial"/>
                          <a:ea typeface="Arial"/>
                          <a:cs typeface="Arial"/>
                        </a:rPr>
                        <a:t>Add evidence, open questions, risks, and what changed in the work.</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4"/>
                  </a:ext>
                </a:extLst>
              </a:tr>
              <a:tr h="523875">
                <a:tc>
                  <a:txBody>
                    <a:bodyPr/>
                    <a:lstStyle/>
                    <a:p>
                      <a:pPr>
                        <a:lnSpc>
                          <a:spcPct val="102000"/>
                        </a:lnSpc>
                        <a:buNone/>
                      </a:pPr>
                      <a:r>
                        <a:rPr sz="1050" b="0">
                          <a:solidFill>
                            <a:srgbClr val="070154"/>
                          </a:solidFill>
                          <a:latin typeface="Arial"/>
                          <a:ea typeface="Arial"/>
                          <a:cs typeface="Arial"/>
                        </a:rPr>
                        <a:t>Recommended activation playbook</a:t>
                      </a:r>
                    </a:p>
                  </a:txBody>
                  <a:tcPr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rgbClr val="E8EEF8"/>
                    </a:solidFill>
                  </a:tcPr>
                </a:tc>
                <a:tc>
                  <a:txBody>
                    <a:bodyPr/>
                    <a:lstStyle/>
                    <a:p>
                      <a:pPr>
                        <a:lnSpc>
                          <a:spcPct val="102000"/>
                        </a:lnSpc>
                        <a:buNone/>
                      </a:pPr>
                      <a:r>
                        <a:rPr sz="1050" b="0">
                          <a:solidFill>
                            <a:srgbClr val="50658E"/>
                          </a:solidFill>
                          <a:latin typeface="Arial"/>
                          <a:ea typeface="Arial"/>
                          <a:cs typeface="Arial"/>
                        </a:rPr>
                        <a:t>Describe the repeatable cadence, owner, evidence, guardrail, and decision needed to continue.</a:t>
                      </a:r>
                    </a:p>
                  </a:txBody>
                  <a:tcPr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Rectangle 7">
            <a:extLst>
              <a:ext uri="{FF2B5EF4-FFF2-40B4-BE49-F238E27FC236}">
                <a16:creationId xmlns:a16="http://schemas.microsoft.com/office/drawing/2014/main" id="{6964AFFF-12CC-4B95-AB66-75FFC6429A7E}"/>
              </a:ext>
            </a:extLst>
          </p:cNvPr>
          <p:cNvSpPr>
            <a:spLocks noGrp="1"/>
          </p:cNvSpPr>
          <p:nvPr/>
        </p:nvSpPr>
        <p:spPr>
          <a:xfrm>
            <a:off x="457200" y="5600700"/>
            <a:ext cx="11277600" cy="381000"/>
          </a:xfrm>
          <a:prstGeom prst="rect">
            <a:avLst/>
          </a:prstGeom>
          <a:noFill/>
          <a:ln w="0">
            <a:noFill/>
          </a:ln>
        </p:spPr>
        <p:txBody>
          <a:bodyPr lIns="91440" tIns="45720" rIns="91440" bIns="45720" anchor="t">
            <a:normAutofit/>
          </a:bodyPr>
          <a:lstStyle/>
          <a:p>
            <a:pPr>
              <a:lnSpc>
                <a:spcPct val="108000"/>
              </a:lnSpc>
              <a:defRPr sz="1125" b="1" i="0">
                <a:solidFill>
                  <a:srgbClr val="0047FF"/>
                </a:solidFill>
                <a:latin typeface="Arial"/>
                <a:ea typeface="Arial"/>
                <a:cs typeface="Arial"/>
              </a:defRPr>
            </a:pPr>
            <a:r>
              <a:rPr lang="en-US" sz="1100" i="0">
                <a:solidFill>
                  <a:srgbClr val="0047FF"/>
                </a:solidFill>
                <a:ea typeface="+mn-lt"/>
                <a:cs typeface="+mn-lt"/>
              </a:rPr>
              <a:t>The first working test to capture: </a:t>
            </a:r>
            <a:r>
              <a:rPr lang="en-US" sz="1100">
                <a:solidFill>
                  <a:srgbClr val="0047FF"/>
                </a:solidFill>
                <a:ea typeface="+mn-lt"/>
                <a:cs typeface="+mn-lt"/>
              </a:rPr>
              <a:t>carry one </a:t>
            </a:r>
            <a:r>
              <a:rPr lang="en-US" sz="1100" i="0">
                <a:solidFill>
                  <a:srgbClr val="0047FF"/>
                </a:solidFill>
                <a:ea typeface="+mn-lt"/>
                <a:cs typeface="+mn-lt"/>
              </a:rPr>
              <a:t>internal signal </a:t>
            </a:r>
            <a:r>
              <a:rPr lang="en-US" sz="1100">
                <a:solidFill>
                  <a:srgbClr val="0047FF"/>
                </a:solidFill>
                <a:ea typeface="+mn-lt"/>
                <a:cs typeface="+mn-lt"/>
              </a:rPr>
              <a:t>through </a:t>
            </a:r>
            <a:r>
              <a:rPr lang="en-US" sz="1100" i="0">
                <a:solidFill>
                  <a:srgbClr val="0047FF"/>
                </a:solidFill>
                <a:ea typeface="+mn-lt"/>
                <a:cs typeface="+mn-lt"/>
              </a:rPr>
              <a:t>opportunity brief, PRD, feature brief, epic, </a:t>
            </a:r>
            <a:r>
              <a:rPr lang="en-US" sz="1100">
                <a:solidFill>
                  <a:srgbClr val="0047FF"/>
                </a:solidFill>
                <a:ea typeface="+mn-lt"/>
                <a:cs typeface="+mn-lt"/>
              </a:rPr>
              <a:t>technical design, </a:t>
            </a:r>
            <a:r>
              <a:rPr lang="en-US" sz="1100" i="0">
                <a:solidFill>
                  <a:srgbClr val="0047FF"/>
                </a:solidFill>
                <a:ea typeface="+mn-lt"/>
                <a:cs typeface="+mn-lt"/>
              </a:rPr>
              <a:t>and implementation </a:t>
            </a:r>
            <a:r>
              <a:rPr lang="en-US" sz="1100">
                <a:solidFill>
                  <a:srgbClr val="0047FF"/>
                </a:solidFill>
                <a:ea typeface="+mn-lt"/>
                <a:cs typeface="+mn-lt"/>
              </a:rPr>
              <a:t>plan</a:t>
            </a:r>
            <a:r>
              <a:rPr lang="en-US" sz="1100" i="0">
                <a:solidFill>
                  <a:srgbClr val="0047FF"/>
                </a:solidFill>
                <a:ea typeface="+mn-lt"/>
                <a:cs typeface="+mn-lt"/>
              </a:rPr>
              <a:t>.</a:t>
            </a:r>
            <a:endParaRPr lang="en-US" sz="1100">
              <a:ea typeface="+mn-lt"/>
              <a:cs typeface="+mn-lt"/>
            </a:endParaRPr>
          </a:p>
        </p:txBody>
      </p:sp>
      <p:sp>
        <p:nvSpPr>
          <p:cNvPr id="5" name="GridLineV1">
            <a:extLst>
              <a:ext uri="{FF2B5EF4-FFF2-40B4-BE49-F238E27FC236}">
                <a16:creationId xmlns:a16="http://schemas.microsoft.com/office/drawing/2014/main" id="{6AF01ECE-7A51-6242-BF5E-4D52FC543FA3}"/>
              </a:ext>
            </a:extLst>
          </p:cNvPr>
          <p:cNvSpPr/>
          <p:nvPr/>
        </p:nvSpPr>
        <p:spPr>
          <a:xfrm>
            <a:off x="6073775" y="2209800"/>
            <a:ext cx="44450" cy="31432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GridLineH1">
            <a:extLst>
              <a:ext uri="{FF2B5EF4-FFF2-40B4-BE49-F238E27FC236}">
                <a16:creationId xmlns:a16="http://schemas.microsoft.com/office/drawing/2014/main" id="{97D74CB9-A251-0D45-9A1E-483EEE69DDB9}"/>
              </a:ext>
            </a:extLst>
          </p:cNvPr>
          <p:cNvSpPr/>
          <p:nvPr/>
        </p:nvSpPr>
        <p:spPr>
          <a:xfrm>
            <a:off x="457200" y="2711450"/>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GridLineH2">
            <a:extLst>
              <a:ext uri="{FF2B5EF4-FFF2-40B4-BE49-F238E27FC236}">
                <a16:creationId xmlns:a16="http://schemas.microsoft.com/office/drawing/2014/main" id="{D5E321DC-3F31-2743-BF11-B580B8E6DF5E}"/>
              </a:ext>
            </a:extLst>
          </p:cNvPr>
          <p:cNvSpPr/>
          <p:nvPr/>
        </p:nvSpPr>
        <p:spPr>
          <a:xfrm>
            <a:off x="457200" y="3235325"/>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GridLineH3">
            <a:extLst>
              <a:ext uri="{FF2B5EF4-FFF2-40B4-BE49-F238E27FC236}">
                <a16:creationId xmlns:a16="http://schemas.microsoft.com/office/drawing/2014/main" id="{2B19D957-32E1-BB43-B9D0-7517D7A11B52}"/>
              </a:ext>
            </a:extLst>
          </p:cNvPr>
          <p:cNvSpPr/>
          <p:nvPr/>
        </p:nvSpPr>
        <p:spPr>
          <a:xfrm>
            <a:off x="457200" y="3759200"/>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GridLineH4">
            <a:extLst>
              <a:ext uri="{FF2B5EF4-FFF2-40B4-BE49-F238E27FC236}">
                <a16:creationId xmlns:a16="http://schemas.microsoft.com/office/drawing/2014/main" id="{2B83F051-BFDD-8240-92B4-0B92DE0E6C38}"/>
              </a:ext>
            </a:extLst>
          </p:cNvPr>
          <p:cNvSpPr/>
          <p:nvPr/>
        </p:nvSpPr>
        <p:spPr>
          <a:xfrm>
            <a:off x="457200" y="4283075"/>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GridLineH5">
            <a:extLst>
              <a:ext uri="{FF2B5EF4-FFF2-40B4-BE49-F238E27FC236}">
                <a16:creationId xmlns:a16="http://schemas.microsoft.com/office/drawing/2014/main" id="{71B53405-BFFB-524F-AFA6-63C0CAD5DC27}"/>
              </a:ext>
            </a:extLst>
          </p:cNvPr>
          <p:cNvSpPr/>
          <p:nvPr/>
        </p:nvSpPr>
        <p:spPr>
          <a:xfrm>
            <a:off x="457200" y="4806950"/>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03976420"/>
      </p:ext>
    </p:extLst>
  </p:cSld>
  <p:clrMapOvr>
    <a:masterClrMapping/>
  </p:clrMapOvr>
  <p:extLst>
    <p:ext uri="{6950BFC3-D8DA-4A85-94F7-54DA5524770B}">
      <p188:commentRel xmlns:p188="http://schemas.microsoft.com/office/powerpoint/2018/8/main" r:id="rId3"/>
    </p:ext>
  </p:extLs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1BECD5C8-E9C7-42AF-8EBB-B3453282D417}"/>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Activation Summary: from signal to implementation plan</a:t>
            </a:r>
          </a:p>
        </p:txBody>
      </p:sp>
      <p:sp>
        <p:nvSpPr>
          <p:cNvPr id="3" name="Rectangle 2">
            <a:extLst>
              <a:ext uri="{FF2B5EF4-FFF2-40B4-BE49-F238E27FC236}">
                <a16:creationId xmlns:a16="http://schemas.microsoft.com/office/drawing/2014/main" id="{1094556B-B419-4CD6-B47B-A6EA7AC3687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A working definition path to test in one selected live initiative.</a:t>
            </a:r>
          </a:p>
        </p:txBody>
      </p:sp>
      <p:sp>
        <p:nvSpPr>
          <p:cNvPr id="4" name="Rectangle 3">
            <a:extLst>
              <a:ext uri="{FF2B5EF4-FFF2-40B4-BE49-F238E27FC236}">
                <a16:creationId xmlns:a16="http://schemas.microsoft.com/office/drawing/2014/main" id="{C643CB08-3431-4085-B49C-011210F5730F}"/>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02</a:t>
            </a:r>
          </a:p>
        </p:txBody>
      </p:sp>
      <p:sp>
        <p:nvSpPr>
          <p:cNvPr id="5" name="Rectangle 4">
            <a:extLst>
              <a:ext uri="{FF2B5EF4-FFF2-40B4-BE49-F238E27FC236}">
                <a16:creationId xmlns:a16="http://schemas.microsoft.com/office/drawing/2014/main" id="{3891F9FA-6A72-45E2-9A09-BCD846E4F703}"/>
              </a:ext>
            </a:extLst>
          </p:cNvPr>
          <p:cNvSpPr>
            <a:spLocks noGrp="1"/>
          </p:cNvSpPr>
          <p:nvPr/>
        </p:nvSpPr>
        <p:spPr>
          <a:xfrm>
            <a:off x="457200" y="1809750"/>
            <a:ext cx="2038350" cy="257175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6" name="Rectangle 5">
            <a:extLst>
              <a:ext uri="{FF2B5EF4-FFF2-40B4-BE49-F238E27FC236}">
                <a16:creationId xmlns:a16="http://schemas.microsoft.com/office/drawing/2014/main" id="{75AF9694-BD88-41F1-9684-BAE973D2A263}"/>
              </a:ext>
            </a:extLst>
          </p:cNvPr>
          <p:cNvSpPr>
            <a:spLocks noGrp="1"/>
          </p:cNvSpPr>
          <p:nvPr/>
        </p:nvSpPr>
        <p:spPr>
          <a:xfrm>
            <a:off x="628650" y="1992041"/>
            <a:ext cx="476250" cy="251021"/>
          </a:xfrm>
          <a:prstGeom prst="rect">
            <a:avLst/>
          </a:prstGeom>
          <a:solidFill>
            <a:srgbClr val="0047FF"/>
          </a:solidFill>
          <a:ln w="0">
            <a:noFill/>
          </a:ln>
        </p:spPr>
        <p:txBody>
          <a:bodyPr anchor="t">
            <a:noAutofit/>
          </a:bodyPr>
          <a:lstStyle/>
          <a:p>
            <a:pPr>
              <a:lnSpc>
                <a:spcPct val="108000"/>
              </a:lnSpc>
              <a:buNone/>
              <a:defRPr sz="825" b="1" i="0">
                <a:solidFill>
                  <a:srgbClr val="FFFFFF"/>
                </a:solidFill>
                <a:latin typeface="Arial"/>
                <a:ea typeface="Arial"/>
                <a:cs typeface="Arial"/>
              </a:defRPr>
            </a:pPr>
            <a:r>
              <a:rPr sz="1100" b="1" i="0">
                <a:solidFill>
                  <a:srgbClr val="FFFFFF"/>
                </a:solidFill>
                <a:latin typeface="Arial"/>
                <a:ea typeface="Arial"/>
                <a:cs typeface="Arial"/>
              </a:rPr>
              <a:t>01</a:t>
            </a:r>
          </a:p>
        </p:txBody>
      </p:sp>
      <p:sp>
        <p:nvSpPr>
          <p:cNvPr id="7" name="Rectangle 6">
            <a:extLst>
              <a:ext uri="{FF2B5EF4-FFF2-40B4-BE49-F238E27FC236}">
                <a16:creationId xmlns:a16="http://schemas.microsoft.com/office/drawing/2014/main" id="{C27F209F-5D1C-45C7-A8F4-942437C101BD}"/>
              </a:ext>
            </a:extLst>
          </p:cNvPr>
          <p:cNvSpPr>
            <a:spLocks noGrp="1"/>
          </p:cNvSpPr>
          <p:nvPr/>
        </p:nvSpPr>
        <p:spPr>
          <a:xfrm>
            <a:off x="628650" y="2419350"/>
            <a:ext cx="1695450" cy="514350"/>
          </a:xfrm>
          <a:prstGeom prst="rect">
            <a:avLst/>
          </a:prstGeom>
          <a:noFill/>
          <a:ln w="0">
            <a:noFill/>
          </a:ln>
        </p:spPr>
        <p:txBody>
          <a:bodyPr anchor="t">
            <a:normAutofit/>
          </a:bodyPr>
          <a:lstStyle/>
          <a:p>
            <a:pPr>
              <a:lnSpc>
                <a:spcPct val="98000"/>
              </a:lnSpc>
              <a:buNone/>
              <a:defRPr sz="1425" b="1" i="0">
                <a:solidFill>
                  <a:srgbClr val="070154"/>
                </a:solidFill>
                <a:latin typeface="Arial"/>
                <a:ea typeface="Arial"/>
                <a:cs typeface="Arial"/>
              </a:defRPr>
            </a:pPr>
            <a:r>
              <a:rPr sz="1425" b="1" i="0">
                <a:solidFill>
                  <a:srgbClr val="070154"/>
                </a:solidFill>
                <a:latin typeface="Arial"/>
                <a:ea typeface="Arial"/>
                <a:cs typeface="Arial"/>
              </a:rPr>
              <a:t>Internal signal</a:t>
            </a:r>
          </a:p>
        </p:txBody>
      </p:sp>
      <p:sp>
        <p:nvSpPr>
          <p:cNvPr id="8" name="Rectangle 7">
            <a:extLst>
              <a:ext uri="{FF2B5EF4-FFF2-40B4-BE49-F238E27FC236}">
                <a16:creationId xmlns:a16="http://schemas.microsoft.com/office/drawing/2014/main" id="{95E81555-88CF-46BA-A73A-AD76D7F5A3D9}"/>
              </a:ext>
            </a:extLst>
          </p:cNvPr>
          <p:cNvSpPr>
            <a:spLocks noGrp="1"/>
          </p:cNvSpPr>
          <p:nvPr/>
        </p:nvSpPr>
        <p:spPr>
          <a:xfrm>
            <a:off x="628650" y="3200400"/>
            <a:ext cx="1695450" cy="8572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Customer, support, operations, research, or engineering evidence.</a:t>
            </a:r>
          </a:p>
        </p:txBody>
      </p:sp>
      <p:sp>
        <p:nvSpPr>
          <p:cNvPr id="9" name="Rectangle 8">
            <a:extLst>
              <a:ext uri="{FF2B5EF4-FFF2-40B4-BE49-F238E27FC236}">
                <a16:creationId xmlns:a16="http://schemas.microsoft.com/office/drawing/2014/main" id="{2D63D53C-0487-4296-9A9D-45D78B38C006}"/>
              </a:ext>
            </a:extLst>
          </p:cNvPr>
          <p:cNvSpPr>
            <a:spLocks noGrp="1"/>
          </p:cNvSpPr>
          <p:nvPr/>
        </p:nvSpPr>
        <p:spPr>
          <a:xfrm>
            <a:off x="2705100" y="1809750"/>
            <a:ext cx="2038350" cy="257175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10" name="Rectangle 9">
            <a:extLst>
              <a:ext uri="{FF2B5EF4-FFF2-40B4-BE49-F238E27FC236}">
                <a16:creationId xmlns:a16="http://schemas.microsoft.com/office/drawing/2014/main" id="{B49C033B-D793-4143-9D64-728DCCBF2DF0}"/>
              </a:ext>
            </a:extLst>
          </p:cNvPr>
          <p:cNvSpPr>
            <a:spLocks noGrp="1"/>
          </p:cNvSpPr>
          <p:nvPr/>
        </p:nvSpPr>
        <p:spPr>
          <a:xfrm>
            <a:off x="2876550" y="1992041"/>
            <a:ext cx="476250" cy="251021"/>
          </a:xfrm>
          <a:prstGeom prst="rect">
            <a:avLst/>
          </a:prstGeom>
          <a:solidFill>
            <a:srgbClr val="0047FF"/>
          </a:solidFill>
          <a:ln w="0">
            <a:noFill/>
          </a:ln>
        </p:spPr>
        <p:txBody>
          <a:bodyPr anchor="t">
            <a:noAutofit/>
          </a:bodyPr>
          <a:lstStyle/>
          <a:p>
            <a:pPr>
              <a:lnSpc>
                <a:spcPct val="108000"/>
              </a:lnSpc>
              <a:buNone/>
              <a:defRPr sz="825" b="1" i="0">
                <a:solidFill>
                  <a:srgbClr val="FFFFFF"/>
                </a:solidFill>
                <a:latin typeface="Arial"/>
                <a:ea typeface="Arial"/>
                <a:cs typeface="Arial"/>
              </a:defRPr>
            </a:pPr>
            <a:r>
              <a:rPr sz="1100" b="1" i="0">
                <a:solidFill>
                  <a:srgbClr val="FFFFFF"/>
                </a:solidFill>
                <a:latin typeface="Arial"/>
                <a:ea typeface="Arial"/>
                <a:cs typeface="Arial"/>
              </a:rPr>
              <a:t>02</a:t>
            </a:r>
          </a:p>
        </p:txBody>
      </p:sp>
      <p:sp>
        <p:nvSpPr>
          <p:cNvPr id="11" name="Rectangle 10">
            <a:extLst>
              <a:ext uri="{FF2B5EF4-FFF2-40B4-BE49-F238E27FC236}">
                <a16:creationId xmlns:a16="http://schemas.microsoft.com/office/drawing/2014/main" id="{8CC7D1CC-D1BF-490C-8B80-FA3BEB8B4E66}"/>
              </a:ext>
            </a:extLst>
          </p:cNvPr>
          <p:cNvSpPr>
            <a:spLocks noGrp="1"/>
          </p:cNvSpPr>
          <p:nvPr/>
        </p:nvSpPr>
        <p:spPr>
          <a:xfrm>
            <a:off x="2876550" y="2419350"/>
            <a:ext cx="1695450" cy="514350"/>
          </a:xfrm>
          <a:prstGeom prst="rect">
            <a:avLst/>
          </a:prstGeom>
          <a:noFill/>
          <a:ln w="0">
            <a:noFill/>
          </a:ln>
        </p:spPr>
        <p:txBody>
          <a:bodyPr anchor="t">
            <a:normAutofit/>
          </a:bodyPr>
          <a:lstStyle/>
          <a:p>
            <a:pPr>
              <a:lnSpc>
                <a:spcPct val="98000"/>
              </a:lnSpc>
              <a:buNone/>
              <a:defRPr sz="1425" b="1" i="0">
                <a:solidFill>
                  <a:srgbClr val="070154"/>
                </a:solidFill>
                <a:latin typeface="Arial"/>
                <a:ea typeface="Arial"/>
                <a:cs typeface="Arial"/>
              </a:defRPr>
            </a:pPr>
            <a:r>
              <a:rPr sz="1425" b="1" i="0">
                <a:solidFill>
                  <a:srgbClr val="070154"/>
                </a:solidFill>
                <a:latin typeface="Arial"/>
                <a:ea typeface="Arial"/>
                <a:cs typeface="Arial"/>
              </a:rPr>
              <a:t>Opportunity brief</a:t>
            </a:r>
          </a:p>
        </p:txBody>
      </p:sp>
      <p:sp>
        <p:nvSpPr>
          <p:cNvPr id="12" name="Rectangle 11">
            <a:extLst>
              <a:ext uri="{FF2B5EF4-FFF2-40B4-BE49-F238E27FC236}">
                <a16:creationId xmlns:a16="http://schemas.microsoft.com/office/drawing/2014/main" id="{BD8A157F-11CE-4BE3-B8D3-F03C79302971}"/>
              </a:ext>
            </a:extLst>
          </p:cNvPr>
          <p:cNvSpPr>
            <a:spLocks noGrp="1"/>
          </p:cNvSpPr>
          <p:nvPr/>
        </p:nvSpPr>
        <p:spPr>
          <a:xfrm>
            <a:off x="2876550" y="3200400"/>
            <a:ext cx="1695450" cy="8572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Problem, evidence, outcome, decision, and why now.</a:t>
            </a:r>
          </a:p>
        </p:txBody>
      </p:sp>
      <p:sp>
        <p:nvSpPr>
          <p:cNvPr id="13" name="Rectangle 12">
            <a:extLst>
              <a:ext uri="{FF2B5EF4-FFF2-40B4-BE49-F238E27FC236}">
                <a16:creationId xmlns:a16="http://schemas.microsoft.com/office/drawing/2014/main" id="{A83BF6F0-B6FC-49C8-A89F-D895BA6DD8AE}"/>
              </a:ext>
            </a:extLst>
          </p:cNvPr>
          <p:cNvSpPr>
            <a:spLocks noGrp="1"/>
          </p:cNvSpPr>
          <p:nvPr/>
        </p:nvSpPr>
        <p:spPr>
          <a:xfrm>
            <a:off x="4953000" y="1809750"/>
            <a:ext cx="2038350" cy="257175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14" name="Rectangle 13">
            <a:extLst>
              <a:ext uri="{FF2B5EF4-FFF2-40B4-BE49-F238E27FC236}">
                <a16:creationId xmlns:a16="http://schemas.microsoft.com/office/drawing/2014/main" id="{E050B7FD-3886-48B6-AB62-433484B273FA}"/>
              </a:ext>
            </a:extLst>
          </p:cNvPr>
          <p:cNvSpPr>
            <a:spLocks noGrp="1"/>
          </p:cNvSpPr>
          <p:nvPr/>
        </p:nvSpPr>
        <p:spPr>
          <a:xfrm>
            <a:off x="5124450" y="1992041"/>
            <a:ext cx="476250" cy="251021"/>
          </a:xfrm>
          <a:prstGeom prst="rect">
            <a:avLst/>
          </a:prstGeom>
          <a:solidFill>
            <a:srgbClr val="0047FF"/>
          </a:solidFill>
          <a:ln w="0">
            <a:noFill/>
          </a:ln>
        </p:spPr>
        <p:txBody>
          <a:bodyPr anchor="t">
            <a:noAutofit/>
          </a:bodyPr>
          <a:lstStyle/>
          <a:p>
            <a:pPr>
              <a:lnSpc>
                <a:spcPct val="108000"/>
              </a:lnSpc>
            </a:pPr>
            <a:r>
              <a:rPr sz="1100" b="1">
                <a:solidFill>
                  <a:srgbClr val="FFFFFF"/>
                </a:solidFill>
                <a:latin typeface="Arial"/>
                <a:cs typeface="Arial"/>
              </a:rPr>
              <a:t>03</a:t>
            </a:r>
          </a:p>
        </p:txBody>
      </p:sp>
      <p:sp>
        <p:nvSpPr>
          <p:cNvPr id="15" name="Rectangle 14">
            <a:extLst>
              <a:ext uri="{FF2B5EF4-FFF2-40B4-BE49-F238E27FC236}">
                <a16:creationId xmlns:a16="http://schemas.microsoft.com/office/drawing/2014/main" id="{649920E0-5889-4781-8DCC-FF2516816841}"/>
              </a:ext>
            </a:extLst>
          </p:cNvPr>
          <p:cNvSpPr>
            <a:spLocks noGrp="1"/>
          </p:cNvSpPr>
          <p:nvPr/>
        </p:nvSpPr>
        <p:spPr>
          <a:xfrm>
            <a:off x="5124450" y="2419350"/>
            <a:ext cx="1695450" cy="514350"/>
          </a:xfrm>
          <a:prstGeom prst="rect">
            <a:avLst/>
          </a:prstGeom>
          <a:noFill/>
          <a:ln w="0">
            <a:noFill/>
          </a:ln>
        </p:spPr>
        <p:txBody>
          <a:bodyPr anchor="t">
            <a:normAutofit fontScale="99355"/>
          </a:bodyPr>
          <a:lstStyle/>
          <a:p>
            <a:pPr>
              <a:lnSpc>
                <a:spcPct val="98000"/>
              </a:lnSpc>
            </a:pPr>
            <a:r>
              <a:rPr sz="1425" b="1">
                <a:solidFill>
                  <a:srgbClr val="070154"/>
                </a:solidFill>
                <a:latin typeface="Arial"/>
                <a:cs typeface="Arial"/>
              </a:rPr>
              <a:t>Product brief / PRD</a:t>
            </a:r>
          </a:p>
        </p:txBody>
      </p:sp>
      <p:sp>
        <p:nvSpPr>
          <p:cNvPr id="16" name="Rectangle 15">
            <a:extLst>
              <a:ext uri="{FF2B5EF4-FFF2-40B4-BE49-F238E27FC236}">
                <a16:creationId xmlns:a16="http://schemas.microsoft.com/office/drawing/2014/main" id="{0330D74E-9D44-4EDA-A47F-8E33CD0FB687}"/>
              </a:ext>
            </a:extLst>
          </p:cNvPr>
          <p:cNvSpPr>
            <a:spLocks noGrp="1"/>
          </p:cNvSpPr>
          <p:nvPr/>
        </p:nvSpPr>
        <p:spPr>
          <a:xfrm>
            <a:off x="5124450" y="3200400"/>
            <a:ext cx="1695450" cy="857250"/>
          </a:xfrm>
          <a:prstGeom prst="rect">
            <a:avLst/>
          </a:prstGeom>
          <a:noFill/>
          <a:ln w="0">
            <a:noFill/>
          </a:ln>
        </p:spPr>
        <p:txBody>
          <a:bodyPr anchor="t">
            <a:normAutofit/>
          </a:bodyPr>
          <a:lstStyle/>
          <a:p>
            <a:pPr>
              <a:lnSpc>
                <a:spcPct val="108000"/>
              </a:lnSpc>
            </a:pPr>
            <a:r>
              <a:rPr sz="1050">
                <a:solidFill>
                  <a:srgbClr val="50658E"/>
                </a:solidFill>
                <a:latin typeface="Arial"/>
                <a:cs typeface="Arial"/>
              </a:rPr>
              <a:t>User need, success measure, scope, and design context.</a:t>
            </a:r>
          </a:p>
        </p:txBody>
      </p:sp>
      <p:sp>
        <p:nvSpPr>
          <p:cNvPr id="17" name="Rectangle 16">
            <a:extLst>
              <a:ext uri="{FF2B5EF4-FFF2-40B4-BE49-F238E27FC236}">
                <a16:creationId xmlns:a16="http://schemas.microsoft.com/office/drawing/2014/main" id="{2E96DC23-5CEA-4F2A-885B-32901831D02A}"/>
              </a:ext>
            </a:extLst>
          </p:cNvPr>
          <p:cNvSpPr>
            <a:spLocks noGrp="1"/>
          </p:cNvSpPr>
          <p:nvPr/>
        </p:nvSpPr>
        <p:spPr>
          <a:xfrm>
            <a:off x="7200900" y="1809750"/>
            <a:ext cx="2038350" cy="257175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18" name="Rectangle 17">
            <a:extLst>
              <a:ext uri="{FF2B5EF4-FFF2-40B4-BE49-F238E27FC236}">
                <a16:creationId xmlns:a16="http://schemas.microsoft.com/office/drawing/2014/main" id="{59C9353C-60A5-4AC6-A953-AE267CCA88C3}"/>
              </a:ext>
            </a:extLst>
          </p:cNvPr>
          <p:cNvSpPr>
            <a:spLocks noGrp="1"/>
          </p:cNvSpPr>
          <p:nvPr/>
        </p:nvSpPr>
        <p:spPr>
          <a:xfrm>
            <a:off x="7372350" y="1992041"/>
            <a:ext cx="476250" cy="251021"/>
          </a:xfrm>
          <a:prstGeom prst="rect">
            <a:avLst/>
          </a:prstGeom>
          <a:solidFill>
            <a:srgbClr val="0047FF"/>
          </a:solidFill>
          <a:ln w="0">
            <a:noFill/>
          </a:ln>
        </p:spPr>
        <p:txBody>
          <a:bodyPr anchor="t">
            <a:noAutofit/>
          </a:bodyPr>
          <a:lstStyle/>
          <a:p>
            <a:pPr>
              <a:lnSpc>
                <a:spcPct val="108000"/>
              </a:lnSpc>
              <a:buNone/>
              <a:defRPr sz="825" b="1" i="0">
                <a:solidFill>
                  <a:srgbClr val="FFFFFF"/>
                </a:solidFill>
                <a:latin typeface="Arial"/>
                <a:ea typeface="Arial"/>
                <a:cs typeface="Arial"/>
              </a:defRPr>
            </a:pPr>
            <a:r>
              <a:rPr sz="1100" b="1" i="0">
                <a:solidFill>
                  <a:srgbClr val="FFFFFF"/>
                </a:solidFill>
                <a:latin typeface="Arial"/>
                <a:ea typeface="Arial"/>
                <a:cs typeface="Arial"/>
              </a:rPr>
              <a:t>04</a:t>
            </a:r>
          </a:p>
        </p:txBody>
      </p:sp>
      <p:sp>
        <p:nvSpPr>
          <p:cNvPr id="19" name="Rectangle 18">
            <a:extLst>
              <a:ext uri="{FF2B5EF4-FFF2-40B4-BE49-F238E27FC236}">
                <a16:creationId xmlns:a16="http://schemas.microsoft.com/office/drawing/2014/main" id="{9574273B-6500-4069-8680-23CDB0DD0227}"/>
              </a:ext>
            </a:extLst>
          </p:cNvPr>
          <p:cNvSpPr>
            <a:spLocks noGrp="1"/>
          </p:cNvSpPr>
          <p:nvPr/>
        </p:nvSpPr>
        <p:spPr>
          <a:xfrm>
            <a:off x="7372350" y="2419350"/>
            <a:ext cx="1695450" cy="514350"/>
          </a:xfrm>
          <a:prstGeom prst="rect">
            <a:avLst/>
          </a:prstGeom>
          <a:noFill/>
          <a:ln w="0">
            <a:noFill/>
          </a:ln>
        </p:spPr>
        <p:txBody>
          <a:bodyPr anchor="t">
            <a:normAutofit fontScale="99355"/>
          </a:bodyPr>
          <a:lstStyle/>
          <a:p>
            <a:pPr>
              <a:lnSpc>
                <a:spcPct val="98000"/>
              </a:lnSpc>
              <a:buNone/>
              <a:defRPr sz="1425" b="1" i="0">
                <a:solidFill>
                  <a:srgbClr val="070154"/>
                </a:solidFill>
                <a:latin typeface="Arial"/>
                <a:ea typeface="Arial"/>
                <a:cs typeface="Arial"/>
              </a:defRPr>
            </a:pPr>
            <a:r>
              <a:rPr sz="1425" b="1" i="0">
                <a:solidFill>
                  <a:srgbClr val="070154"/>
                </a:solidFill>
                <a:latin typeface="Arial"/>
                <a:ea typeface="Arial"/>
                <a:cs typeface="Arial"/>
              </a:rPr>
              <a:t>Feature brief / epic</a:t>
            </a:r>
          </a:p>
        </p:txBody>
      </p:sp>
      <p:sp>
        <p:nvSpPr>
          <p:cNvPr id="20" name="Rectangle 19">
            <a:extLst>
              <a:ext uri="{FF2B5EF4-FFF2-40B4-BE49-F238E27FC236}">
                <a16:creationId xmlns:a16="http://schemas.microsoft.com/office/drawing/2014/main" id="{784E278C-9B63-4267-AD7B-AD7778C6186B}"/>
              </a:ext>
            </a:extLst>
          </p:cNvPr>
          <p:cNvSpPr>
            <a:spLocks noGrp="1"/>
          </p:cNvSpPr>
          <p:nvPr/>
        </p:nvSpPr>
        <p:spPr>
          <a:xfrm>
            <a:off x="7372350" y="3200400"/>
            <a:ext cx="1695450" cy="8572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Decomposition, acceptance, ownership, and dependencies.</a:t>
            </a:r>
          </a:p>
        </p:txBody>
      </p:sp>
      <p:sp>
        <p:nvSpPr>
          <p:cNvPr id="21" name="Rectangle 20">
            <a:extLst>
              <a:ext uri="{FF2B5EF4-FFF2-40B4-BE49-F238E27FC236}">
                <a16:creationId xmlns:a16="http://schemas.microsoft.com/office/drawing/2014/main" id="{5755AFFC-41AD-4C9C-BEBC-262C0E7A7060}"/>
              </a:ext>
            </a:extLst>
          </p:cNvPr>
          <p:cNvSpPr>
            <a:spLocks noGrp="1"/>
          </p:cNvSpPr>
          <p:nvPr/>
        </p:nvSpPr>
        <p:spPr>
          <a:xfrm>
            <a:off x="9448800" y="1809750"/>
            <a:ext cx="2038350" cy="257175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a:lstStyle/>
          <a:p>
            <a:endParaRPr lang="en-US"/>
          </a:p>
        </p:txBody>
      </p:sp>
      <p:sp>
        <p:nvSpPr>
          <p:cNvPr id="22" name="Rectangle 21">
            <a:extLst>
              <a:ext uri="{FF2B5EF4-FFF2-40B4-BE49-F238E27FC236}">
                <a16:creationId xmlns:a16="http://schemas.microsoft.com/office/drawing/2014/main" id="{C1794686-87D5-4012-82F2-5C913BC664D0}"/>
              </a:ext>
            </a:extLst>
          </p:cNvPr>
          <p:cNvSpPr>
            <a:spLocks noGrp="1"/>
          </p:cNvSpPr>
          <p:nvPr/>
        </p:nvSpPr>
        <p:spPr>
          <a:xfrm>
            <a:off x="9620250" y="1992041"/>
            <a:ext cx="476250" cy="251021"/>
          </a:xfrm>
          <a:prstGeom prst="rect">
            <a:avLst/>
          </a:prstGeom>
          <a:solidFill>
            <a:srgbClr val="0047FF"/>
          </a:solidFill>
          <a:ln w="0">
            <a:noFill/>
          </a:ln>
        </p:spPr>
        <p:txBody>
          <a:bodyPr anchor="t">
            <a:noAutofit/>
          </a:bodyPr>
          <a:lstStyle/>
          <a:p>
            <a:pPr>
              <a:lnSpc>
                <a:spcPct val="108000"/>
              </a:lnSpc>
              <a:buNone/>
              <a:defRPr sz="825" b="1" i="0">
                <a:solidFill>
                  <a:srgbClr val="FFFFFF"/>
                </a:solidFill>
                <a:latin typeface="Arial"/>
                <a:ea typeface="Arial"/>
                <a:cs typeface="Arial"/>
              </a:defRPr>
            </a:pPr>
            <a:r>
              <a:rPr sz="1100" b="1" i="0">
                <a:solidFill>
                  <a:srgbClr val="FFFFFF"/>
                </a:solidFill>
                <a:latin typeface="Arial"/>
                <a:ea typeface="Arial"/>
                <a:cs typeface="Arial"/>
              </a:rPr>
              <a:t>05</a:t>
            </a:r>
          </a:p>
        </p:txBody>
      </p:sp>
      <p:sp>
        <p:nvSpPr>
          <p:cNvPr id="23" name="Rectangle 22">
            <a:extLst>
              <a:ext uri="{FF2B5EF4-FFF2-40B4-BE49-F238E27FC236}">
                <a16:creationId xmlns:a16="http://schemas.microsoft.com/office/drawing/2014/main" id="{AE8F6B76-23E2-410A-BA9F-881AC4A46620}"/>
              </a:ext>
            </a:extLst>
          </p:cNvPr>
          <p:cNvSpPr>
            <a:spLocks noGrp="1"/>
          </p:cNvSpPr>
          <p:nvPr/>
        </p:nvSpPr>
        <p:spPr>
          <a:xfrm>
            <a:off x="9620250" y="2419350"/>
            <a:ext cx="1695450" cy="514350"/>
          </a:xfrm>
          <a:prstGeom prst="rect">
            <a:avLst/>
          </a:prstGeom>
          <a:noFill/>
          <a:ln w="0">
            <a:noFill/>
          </a:ln>
        </p:spPr>
        <p:txBody>
          <a:bodyPr anchor="t">
            <a:normAutofit fontScale="99355"/>
          </a:bodyPr>
          <a:lstStyle/>
          <a:p>
            <a:pPr>
              <a:lnSpc>
                <a:spcPct val="98000"/>
              </a:lnSpc>
              <a:buNone/>
              <a:defRPr sz="1425" b="1" i="0">
                <a:solidFill>
                  <a:srgbClr val="070154"/>
                </a:solidFill>
                <a:latin typeface="Arial"/>
                <a:ea typeface="Arial"/>
                <a:cs typeface="Arial"/>
              </a:defRPr>
            </a:pPr>
            <a:r>
              <a:rPr sz="1425" b="1" i="0">
                <a:solidFill>
                  <a:srgbClr val="070154"/>
                </a:solidFill>
                <a:latin typeface="Arial"/>
                <a:ea typeface="Arial"/>
                <a:cs typeface="Arial"/>
              </a:rPr>
              <a:t>Implementation plan</a:t>
            </a:r>
          </a:p>
        </p:txBody>
      </p:sp>
      <p:sp>
        <p:nvSpPr>
          <p:cNvPr id="24" name="Rectangle 23">
            <a:extLst>
              <a:ext uri="{FF2B5EF4-FFF2-40B4-BE49-F238E27FC236}">
                <a16:creationId xmlns:a16="http://schemas.microsoft.com/office/drawing/2014/main" id="{858C701F-C18A-4D7B-8EAD-20F36E14A203}"/>
              </a:ext>
            </a:extLst>
          </p:cNvPr>
          <p:cNvSpPr>
            <a:spLocks noGrp="1"/>
          </p:cNvSpPr>
          <p:nvPr/>
        </p:nvSpPr>
        <p:spPr>
          <a:xfrm>
            <a:off x="9620250" y="3200400"/>
            <a:ext cx="1695450" cy="857250"/>
          </a:xfrm>
          <a:prstGeom prst="rect">
            <a:avLst/>
          </a:prstGeom>
          <a:noFill/>
          <a:ln w="0">
            <a:noFill/>
          </a:ln>
        </p:spPr>
        <p:txBody>
          <a:bodyPr anchor="t">
            <a:normAutofit/>
          </a:bodyPr>
          <a:lstStyle/>
          <a:p>
            <a:pPr>
              <a:lnSpc>
                <a:spcPct val="108000"/>
              </a:lnSpc>
              <a:buNone/>
              <a:defRPr sz="1050" b="0" i="0">
                <a:solidFill>
                  <a:srgbClr val="50658E"/>
                </a:solidFill>
                <a:latin typeface="Arial"/>
                <a:ea typeface="Arial"/>
                <a:cs typeface="Arial"/>
              </a:defRPr>
            </a:pPr>
            <a:r>
              <a:rPr sz="1050" b="0" i="0">
                <a:solidFill>
                  <a:srgbClr val="50658E"/>
                </a:solidFill>
                <a:latin typeface="Arial"/>
                <a:ea typeface="Arial"/>
                <a:cs typeface="Arial"/>
              </a:rPr>
              <a:t>Sequence, validation, release evidence, and feedback.</a:t>
            </a:r>
          </a:p>
        </p:txBody>
      </p:sp>
      <p:sp>
        <p:nvSpPr>
          <p:cNvPr id="25" name="Rectangle 24">
            <a:extLst>
              <a:ext uri="{FF2B5EF4-FFF2-40B4-BE49-F238E27FC236}">
                <a16:creationId xmlns:a16="http://schemas.microsoft.com/office/drawing/2014/main" id="{A01D20E6-AECA-4E5A-B435-B789A6B3E634}"/>
              </a:ext>
            </a:extLst>
          </p:cNvPr>
          <p:cNvSpPr>
            <a:spLocks noGrp="1"/>
          </p:cNvSpPr>
          <p:nvPr/>
        </p:nvSpPr>
        <p:spPr>
          <a:xfrm>
            <a:off x="457200" y="4724400"/>
            <a:ext cx="11277600" cy="800100"/>
          </a:xfrm>
          <a:prstGeom prst="rect">
            <a:avLst/>
          </a:prstGeom>
          <a:solidFill>
            <a:srgbClr val="0047FF"/>
          </a:solidFill>
          <a:ln w="0">
            <a:noFill/>
          </a:ln>
        </p:spPr>
        <p:txBody>
          <a:bodyPr/>
          <a:lstStyle/>
          <a:p>
            <a:endParaRPr lang="en-US"/>
          </a:p>
        </p:txBody>
      </p:sp>
      <p:sp>
        <p:nvSpPr>
          <p:cNvPr id="26" name="Rectangle 25">
            <a:extLst>
              <a:ext uri="{FF2B5EF4-FFF2-40B4-BE49-F238E27FC236}">
                <a16:creationId xmlns:a16="http://schemas.microsoft.com/office/drawing/2014/main" id="{0AFB08FF-BA52-48B4-9F70-D32F2C57FB93}"/>
              </a:ext>
            </a:extLst>
          </p:cNvPr>
          <p:cNvSpPr>
            <a:spLocks noGrp="1"/>
          </p:cNvSpPr>
          <p:nvPr/>
        </p:nvSpPr>
        <p:spPr>
          <a:xfrm>
            <a:off x="685800" y="4953000"/>
            <a:ext cx="10820400" cy="342900"/>
          </a:xfrm>
          <a:prstGeom prst="rect">
            <a:avLst/>
          </a:prstGeom>
          <a:noFill/>
          <a:ln w="0">
            <a:noFill/>
          </a:ln>
        </p:spPr>
        <p:txBody>
          <a:bodyPr anchor="t">
            <a:normAutofit/>
          </a:bodyPr>
          <a:lstStyle/>
          <a:p>
            <a:pPr>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Test intent: make decision logic, feasibility, design context, and evidence visible before the team commits to delivery scope.</a:t>
            </a:r>
          </a:p>
        </p:txBody>
      </p:sp>
      <p:sp>
        <p:nvSpPr>
          <p:cNvPr id="205" name="Accent Bar 5"/>
          <p:cNvSpPr/>
          <p:nvPr/>
        </p:nvSpPr>
        <p:spPr>
          <a:xfrm>
            <a:off x="457200" y="1816100"/>
            <a:ext cx="2044700" cy="63500"/>
          </a:xfrm>
          <a:prstGeom prst="rect">
            <a:avLst/>
          </a:prstGeom>
          <a:solidFill>
            <a:srgbClr val="00E8FA"/>
          </a:solidFill>
          <a:ln>
            <a:noFill/>
          </a:ln>
        </p:spPr>
        <p:txBody>
          <a:bodyPr/>
          <a:lstStyle/>
          <a:p>
            <a:endParaRPr/>
          </a:p>
        </p:txBody>
      </p:sp>
      <p:sp>
        <p:nvSpPr>
          <p:cNvPr id="209" name="Accent Bar 9"/>
          <p:cNvSpPr/>
          <p:nvPr/>
        </p:nvSpPr>
        <p:spPr>
          <a:xfrm>
            <a:off x="2705100" y="1816100"/>
            <a:ext cx="2044700" cy="63500"/>
          </a:xfrm>
          <a:prstGeom prst="rect">
            <a:avLst/>
          </a:prstGeom>
          <a:solidFill>
            <a:srgbClr val="F900D3"/>
          </a:solidFill>
          <a:ln>
            <a:noFill/>
          </a:ln>
        </p:spPr>
        <p:txBody>
          <a:bodyPr/>
          <a:lstStyle/>
          <a:p>
            <a:endParaRPr/>
          </a:p>
        </p:txBody>
      </p:sp>
      <p:sp>
        <p:nvSpPr>
          <p:cNvPr id="2013" name="Accent Bar 13"/>
          <p:cNvSpPr/>
          <p:nvPr/>
        </p:nvSpPr>
        <p:spPr>
          <a:xfrm>
            <a:off x="4953000" y="1816100"/>
            <a:ext cx="2044700" cy="63500"/>
          </a:xfrm>
          <a:prstGeom prst="rect">
            <a:avLst/>
          </a:prstGeom>
          <a:solidFill>
            <a:srgbClr val="00A3FF"/>
          </a:solidFill>
          <a:ln>
            <a:noFill/>
          </a:ln>
        </p:spPr>
        <p:txBody>
          <a:bodyPr/>
          <a:lstStyle/>
          <a:p>
            <a:endParaRPr/>
          </a:p>
        </p:txBody>
      </p:sp>
      <p:sp>
        <p:nvSpPr>
          <p:cNvPr id="2017" name="Accent Bar 17"/>
          <p:cNvSpPr/>
          <p:nvPr/>
        </p:nvSpPr>
        <p:spPr>
          <a:xfrm>
            <a:off x="7200900" y="1816100"/>
            <a:ext cx="2044700" cy="63500"/>
          </a:xfrm>
          <a:prstGeom prst="rect">
            <a:avLst/>
          </a:prstGeom>
          <a:solidFill>
            <a:srgbClr val="00E8FA"/>
          </a:solidFill>
          <a:ln>
            <a:noFill/>
          </a:ln>
        </p:spPr>
        <p:txBody>
          <a:bodyPr/>
          <a:lstStyle/>
          <a:p>
            <a:endParaRPr/>
          </a:p>
        </p:txBody>
      </p:sp>
      <p:sp>
        <p:nvSpPr>
          <p:cNvPr id="2021" name="Accent Bar 21"/>
          <p:cNvSpPr/>
          <p:nvPr/>
        </p:nvSpPr>
        <p:spPr>
          <a:xfrm>
            <a:off x="9448800" y="1816100"/>
            <a:ext cx="2044700" cy="63500"/>
          </a:xfrm>
          <a:prstGeom prst="rect">
            <a:avLst/>
          </a:prstGeom>
          <a:solidFill>
            <a:srgbClr val="F900D3"/>
          </a:solidFill>
          <a:ln>
            <a:noFill/>
          </a:ln>
        </p:spPr>
        <p:txBody>
          <a:bodyPr/>
          <a:lstStyle/>
          <a:p>
            <a:endParaRPr/>
          </a:p>
        </p:txBody>
      </p:sp>
    </p:spTree>
    <p:extLst>
      <p:ext uri="{BB962C8B-B14F-4D97-AF65-F5344CB8AC3E}">
        <p14:creationId xmlns:p14="http://schemas.microsoft.com/office/powerpoint/2010/main" val="16827778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9D36130B-3407-411C-944A-10980D7C4E8D}"/>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Recommendations summary: what should be done</a:t>
            </a:r>
          </a:p>
        </p:txBody>
      </p:sp>
      <p:sp>
        <p:nvSpPr>
          <p:cNvPr id="3" name="Rectangle 2">
            <a:extLst>
              <a:ext uri="{FF2B5EF4-FFF2-40B4-BE49-F238E27FC236}">
                <a16:creationId xmlns:a16="http://schemas.microsoft.com/office/drawing/2014/main" id="{EA6EB468-CDD5-4DED-848B-30A543D681D9}"/>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Use this page as the leadership-level view before the detailed recommendation pages.</a:t>
            </a:r>
          </a:p>
        </p:txBody>
      </p:sp>
      <p:sp>
        <p:nvSpPr>
          <p:cNvPr id="4" name="Rectangle 3">
            <a:extLst>
              <a:ext uri="{FF2B5EF4-FFF2-40B4-BE49-F238E27FC236}">
                <a16:creationId xmlns:a16="http://schemas.microsoft.com/office/drawing/2014/main" id="{37D05AF7-2282-45AF-86CE-81F55989B093}"/>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03</a:t>
            </a:r>
          </a:p>
        </p:txBody>
      </p:sp>
      <p:graphicFrame>
        <p:nvGraphicFramePr>
          <p:cNvPr id="30" name="Summary Table"/>
          <p:cNvGraphicFramePr>
            <a:graphicFrameLocks noGrp="1"/>
          </p:cNvGraphicFramePr>
          <p:nvPr/>
        </p:nvGraphicFramePr>
        <p:xfrm>
          <a:off x="457200" y="1752600"/>
          <a:ext cx="11277600" cy="3580000"/>
        </p:xfrm>
        <a:graphic>
          <a:graphicData uri="http://schemas.openxmlformats.org/drawingml/2006/table">
            <a:tbl>
              <a:tblPr/>
              <a:tblGrid>
                <a:gridCol w="1150000">
                  <a:extLst>
                    <a:ext uri="{9D8B030D-6E8A-4147-A177-3AD203B41FA5}">
                      <a16:colId xmlns:a16="http://schemas.microsoft.com/office/drawing/2014/main" val="20000"/>
                    </a:ext>
                  </a:extLst>
                </a:gridCol>
                <a:gridCol w="2950000">
                  <a:extLst>
                    <a:ext uri="{9D8B030D-6E8A-4147-A177-3AD203B41FA5}">
                      <a16:colId xmlns:a16="http://schemas.microsoft.com/office/drawing/2014/main" val="20001"/>
                    </a:ext>
                  </a:extLst>
                </a:gridCol>
                <a:gridCol w="5500000">
                  <a:extLst>
                    <a:ext uri="{9D8B030D-6E8A-4147-A177-3AD203B41FA5}">
                      <a16:colId xmlns:a16="http://schemas.microsoft.com/office/drawing/2014/main" val="20002"/>
                    </a:ext>
                  </a:extLst>
                </a:gridCol>
                <a:gridCol w="1677600">
                  <a:extLst>
                    <a:ext uri="{9D8B030D-6E8A-4147-A177-3AD203B41FA5}">
                      <a16:colId xmlns:a16="http://schemas.microsoft.com/office/drawing/2014/main" val="20003"/>
                    </a:ext>
                  </a:extLst>
                </a:gridCol>
              </a:tblGrid>
              <a:tr h="380000">
                <a:tc>
                  <a:txBody>
                    <a:bodyPr/>
                    <a:lstStyle/>
                    <a:p>
                      <a:pPr>
                        <a:lnSpc>
                          <a:spcPct val="102000"/>
                        </a:lnSpc>
                        <a:buNone/>
                      </a:pPr>
                      <a:r>
                        <a:rPr lang="en-US" sz="950" b="1" i="0">
                          <a:solidFill>
                            <a:srgbClr val="FFFFFF"/>
                          </a:solidFill>
                          <a:latin typeface="Arial"/>
                          <a:ea typeface="Arial"/>
                          <a:cs typeface="Arial"/>
                        </a:rPr>
                        <a:t>Track</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50" b="1" i="0">
                          <a:solidFill>
                            <a:srgbClr val="FFFFFF"/>
                          </a:solidFill>
                          <a:latin typeface="Arial"/>
                          <a:ea typeface="Arial"/>
                          <a:cs typeface="Arial"/>
                        </a:rPr>
                        <a:t>Recommendation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50" b="1" i="0">
                          <a:solidFill>
                            <a:srgbClr val="FFFFFF"/>
                          </a:solidFill>
                          <a:latin typeface="Arial"/>
                          <a:ea typeface="Arial"/>
                          <a:cs typeface="Arial"/>
                        </a:rPr>
                        <a:t>What should be done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50" b="1" i="0">
                          <a:solidFill>
                            <a:srgbClr val="FFFFFF"/>
                          </a:solidFill>
                          <a:latin typeface="Arial"/>
                          <a:ea typeface="Arial"/>
                          <a:cs typeface="Arial"/>
                        </a:rPr>
                        <a:t>Starts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extLst>
                  <a:ext uri="{0D108BD9-81ED-4DB2-BD59-A6C34878D82A}">
                    <a16:rowId xmlns:a16="http://schemas.microsoft.com/office/drawing/2014/main" val="10000"/>
                  </a:ext>
                </a:extLst>
              </a:tr>
              <a:tr h="320000">
                <a:tc>
                  <a:txBody>
                    <a:bodyPr/>
                    <a:lstStyle/>
                    <a:p>
                      <a:pPr>
                        <a:lnSpc>
                          <a:spcPct val="102000"/>
                        </a:lnSpc>
                        <a:buNone/>
                      </a:pPr>
                      <a:r>
                        <a:rPr lang="en-US" sz="900" b="1" i="0">
                          <a:solidFill>
                            <a:srgbClr val="070154"/>
                          </a:solidFill>
                          <a:latin typeface="Arial"/>
                          <a:ea typeface="Arial"/>
                          <a:cs typeface="Arial"/>
                        </a:rPr>
                        <a:t>Product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070154"/>
                          </a:solidFill>
                          <a:latin typeface="Arial"/>
                          <a:ea typeface="Arial"/>
                          <a:cs typeface="Arial"/>
                        </a:rPr>
                        <a:t>01 Outcome-led prioritization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50658E"/>
                          </a:solidFill>
                          <a:latin typeface="Arial"/>
                          <a:ea typeface="Arial"/>
                          <a:cs typeface="Arial"/>
                        </a:rPr>
                        <a:t>Set decision criteria, protect capacity, and make a 3-4 sprint view credible before commitments.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a:solidFill>
                            <a:srgbClr val="0047FF"/>
                          </a:solidFill>
                          <a:latin typeface="Arial"/>
                          <a:ea typeface="Arial"/>
                          <a:cs typeface="Arial"/>
                        </a:rPr>
                        <a:t>Now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extLst>
                  <a:ext uri="{0D108BD9-81ED-4DB2-BD59-A6C34878D82A}">
                    <a16:rowId xmlns:a16="http://schemas.microsoft.com/office/drawing/2014/main" val="10001"/>
                  </a:ext>
                </a:extLst>
              </a:tr>
              <a:tr h="320000">
                <a:tc>
                  <a:txBody>
                    <a:bodyPr/>
                    <a:lstStyle/>
                    <a:p>
                      <a:pPr>
                        <a:lnSpc>
                          <a:spcPct val="102000"/>
                        </a:lnSpc>
                        <a:buNone/>
                      </a:pPr>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070154"/>
                          </a:solidFill>
                          <a:latin typeface="Arial"/>
                          <a:ea typeface="Arial"/>
                          <a:cs typeface="Arial"/>
                        </a:rPr>
                        <a:t>02 Product management as business ownership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50658E"/>
                          </a:solidFill>
                          <a:latin typeface="Arial"/>
                          <a:ea typeface="Arial"/>
                          <a:cs typeface="Arial"/>
                        </a:rPr>
                        <a:t>Clarify PM accountability for evidence, outcomes, adoption, and learning beyond the backlog.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a:solidFill>
                            <a:srgbClr val="0047FF"/>
                          </a:solidFill>
                          <a:latin typeface="Arial"/>
                          <a:ea typeface="Arial"/>
                          <a:cs typeface="Arial"/>
                        </a:rPr>
                        <a:t>Now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extLst>
                  <a:ext uri="{0D108BD9-81ED-4DB2-BD59-A6C34878D82A}">
                    <a16:rowId xmlns:a16="http://schemas.microsoft.com/office/drawing/2014/main" val="10002"/>
                  </a:ext>
                </a:extLst>
              </a:tr>
              <a:tr h="320000">
                <a:tc>
                  <a:txBody>
                    <a:bodyPr/>
                    <a:lstStyle/>
                    <a:p>
                      <a:pPr>
                        <a:lnSpc>
                          <a:spcPct val="102000"/>
                        </a:lnSpc>
                        <a:buNone/>
                      </a:pPr>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070154"/>
                          </a:solidFill>
                          <a:latin typeface="Arial"/>
                          <a:ea typeface="Arial"/>
                          <a:cs typeface="Arial"/>
                        </a:rPr>
                        <a:t>03 Opportunity brief to implementation path</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50658E"/>
                          </a:solidFill>
                          <a:latin typeface="Arial"/>
                          <a:ea typeface="Arial"/>
                          <a:cs typeface="Arial"/>
                        </a:rPr>
                        <a:t>Standardize the path from internal signal through PRD, epic, technical design, and plan.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a:solidFill>
                            <a:srgbClr val="0047FF"/>
                          </a:solidFill>
                          <a:latin typeface="Arial"/>
                          <a:ea typeface="Arial"/>
                          <a:cs typeface="Arial"/>
                        </a:rPr>
                        <a:t>Now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extLst>
                  <a:ext uri="{0D108BD9-81ED-4DB2-BD59-A6C34878D82A}">
                    <a16:rowId xmlns:a16="http://schemas.microsoft.com/office/drawing/2014/main" val="10003"/>
                  </a:ext>
                </a:extLst>
              </a:tr>
              <a:tr h="320000">
                <a:tc>
                  <a:txBody>
                    <a:bodyPr/>
                    <a:lstStyle/>
                    <a:p>
                      <a:pPr>
                        <a:lnSpc>
                          <a:spcPct val="102000"/>
                        </a:lnSpc>
                        <a:buNone/>
                      </a:pPr>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070154"/>
                          </a:solidFill>
                          <a:latin typeface="Arial"/>
                          <a:ea typeface="Arial"/>
                          <a:cs typeface="Arial"/>
                        </a:rPr>
                        <a:t>04 Earlier cross-functional collaboration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50658E"/>
                          </a:solidFill>
                          <a:latin typeface="Arial"/>
                          <a:ea typeface="Arial"/>
                          <a:cs typeface="Arial"/>
                        </a:rPr>
                        <a:t>Bring UX, Engineering, QA, Release, and Operations into feasibility work earlier.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a:solidFill>
                            <a:srgbClr val="0047FF"/>
                          </a:solidFill>
                          <a:latin typeface="Arial"/>
                          <a:ea typeface="Arial"/>
                          <a:cs typeface="Arial"/>
                        </a:rPr>
                        <a:t>Next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extLst>
                  <a:ext uri="{0D108BD9-81ED-4DB2-BD59-A6C34878D82A}">
                    <a16:rowId xmlns:a16="http://schemas.microsoft.com/office/drawing/2014/main" val="10004"/>
                  </a:ext>
                </a:extLst>
              </a:tr>
              <a:tr h="320000">
                <a:tc>
                  <a:txBody>
                    <a:bodyPr/>
                    <a:lstStyle/>
                    <a:p>
                      <a:pPr>
                        <a:lnSpc>
                          <a:spcPct val="102000"/>
                        </a:lnSpc>
                        <a:buNone/>
                      </a:pPr>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070154"/>
                          </a:solidFill>
                          <a:latin typeface="Arial"/>
                          <a:ea typeface="Arial"/>
                          <a:cs typeface="Arial"/>
                        </a:rPr>
                        <a:t>05 Ship with proof feedback loop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50658E"/>
                          </a:solidFill>
                          <a:latin typeface="Arial"/>
                          <a:ea typeface="Arial"/>
                          <a:cs typeface="Arial"/>
                        </a:rPr>
                        <a:t>Define the smallest release evidence path and feed post-launch results into the roadmap.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a:solidFill>
                            <a:srgbClr val="0047FF"/>
                          </a:solidFill>
                          <a:latin typeface="Arial"/>
                          <a:ea typeface="Arial"/>
                          <a:cs typeface="Arial"/>
                        </a:rPr>
                        <a:t>Next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extLst>
                  <a:ext uri="{0D108BD9-81ED-4DB2-BD59-A6C34878D82A}">
                    <a16:rowId xmlns:a16="http://schemas.microsoft.com/office/drawing/2014/main" val="10005"/>
                  </a:ext>
                </a:extLst>
              </a:tr>
              <a:tr h="320000">
                <a:tc>
                  <a:txBody>
                    <a:bodyPr/>
                    <a:lstStyle/>
                    <a:p>
                      <a:pPr>
                        <a:lnSpc>
                          <a:spcPct val="102000"/>
                        </a:lnSpc>
                        <a:buNone/>
                      </a:pPr>
                      <a:r>
                        <a:rPr lang="en-US" sz="900" b="1" i="0">
                          <a:solidFill>
                            <a:srgbClr val="070154"/>
                          </a:solidFill>
                          <a:latin typeface="Arial"/>
                          <a:ea typeface="Arial"/>
                          <a:cs typeface="Arial"/>
                        </a:rPr>
                        <a:t>Engineering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070154"/>
                          </a:solidFill>
                          <a:latin typeface="Arial"/>
                          <a:ea typeface="Arial"/>
                          <a:cs typeface="Arial"/>
                        </a:rPr>
                        <a:t>E1 Release stability and production quality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50658E"/>
                          </a:solidFill>
                          <a:latin typeface="Arial"/>
                          <a:ea typeface="Arial"/>
                          <a:cs typeface="Arial"/>
                        </a:rPr>
                        <a:t>Review the root cause of unplanned changes; manage credentials and certificates as a lifecycle.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a:solidFill>
                            <a:srgbClr val="0047FF"/>
                          </a:solidFill>
                          <a:latin typeface="Arial"/>
                          <a:ea typeface="Arial"/>
                          <a:cs typeface="Arial"/>
                        </a:rPr>
                        <a:t>Now · Core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extLst>
                  <a:ext uri="{0D108BD9-81ED-4DB2-BD59-A6C34878D82A}">
                    <a16:rowId xmlns:a16="http://schemas.microsoft.com/office/drawing/2014/main" val="10006"/>
                  </a:ext>
                </a:extLst>
              </a:tr>
              <a:tr h="320000">
                <a:tc>
                  <a:txBody>
                    <a:bodyPr/>
                    <a:lstStyle/>
                    <a:p>
                      <a:pPr>
                        <a:lnSpc>
                          <a:spcPct val="102000"/>
                        </a:lnSpc>
                        <a:buNone/>
                      </a:pPr>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070154"/>
                          </a:solidFill>
                          <a:latin typeface="Arial"/>
                          <a:ea typeface="Arial"/>
                          <a:cs typeface="Arial"/>
                        </a:rPr>
                        <a:t>E2 Quality and test automation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50658E"/>
                          </a:solidFill>
                          <a:latin typeface="Arial"/>
                          <a:ea typeface="Arial"/>
                          <a:cs typeface="Arial"/>
                        </a:rPr>
                        <a:t>Automate the highest-risk regression first, reusing the patterns already working in Recon.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a:solidFill>
                            <a:srgbClr val="0047FF"/>
                          </a:solidFill>
                          <a:latin typeface="Arial"/>
                          <a:ea typeface="Arial"/>
                          <a:cs typeface="Arial"/>
                        </a:rPr>
                        <a:t>Now · Core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extLst>
                  <a:ext uri="{0D108BD9-81ED-4DB2-BD59-A6C34878D82A}">
                    <a16:rowId xmlns:a16="http://schemas.microsoft.com/office/drawing/2014/main" val="10007"/>
                  </a:ext>
                </a:extLst>
              </a:tr>
              <a:tr h="320000">
                <a:tc>
                  <a:txBody>
                    <a:bodyPr/>
                    <a:lstStyle/>
                    <a:p>
                      <a:pPr>
                        <a:lnSpc>
                          <a:spcPct val="102000"/>
                        </a:lnSpc>
                        <a:buNone/>
                      </a:pPr>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070154"/>
                          </a:solidFill>
                          <a:latin typeface="Arial"/>
                          <a:ea typeface="Arial"/>
                          <a:cs typeface="Arial"/>
                        </a:rPr>
                        <a:t>E3 Environments, access, and test data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50658E"/>
                          </a:solidFill>
                          <a:latin typeface="Arial"/>
                          <a:ea typeface="Arial"/>
                          <a:cs typeface="Arial"/>
                        </a:rPr>
                        <a:t>Remove the waits for access and for realistic, masked test data.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a:solidFill>
                            <a:srgbClr val="0047FF"/>
                          </a:solidFill>
                          <a:latin typeface="Arial"/>
                          <a:ea typeface="Arial"/>
                          <a:cs typeface="Arial"/>
                        </a:rPr>
                        <a:t>Now · Recon, Rules Engine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extLst>
                  <a:ext uri="{0D108BD9-81ED-4DB2-BD59-A6C34878D82A}">
                    <a16:rowId xmlns:a16="http://schemas.microsoft.com/office/drawing/2014/main" val="10008"/>
                  </a:ext>
                </a:extLst>
              </a:tr>
              <a:tr h="320000">
                <a:tc>
                  <a:txBody>
                    <a:bodyPr/>
                    <a:lstStyle/>
                    <a:p>
                      <a:pPr>
                        <a:lnSpc>
                          <a:spcPct val="102000"/>
                        </a:lnSpc>
                        <a:buNone/>
                      </a:pPr>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070154"/>
                          </a:solidFill>
                          <a:latin typeface="Arial"/>
                          <a:ea typeface="Arial"/>
                          <a:cs typeface="Arial"/>
                        </a:rPr>
                        <a:t>E4 Delivery measurement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50658E"/>
                          </a:solidFill>
                          <a:latin typeface="Arial"/>
                          <a:ea typeface="Arial"/>
                          <a:cs typeface="Arial"/>
                        </a:rPr>
                        <a:t>Baseline and track release and flow measures on every platform, vendor team included.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a:solidFill>
                            <a:srgbClr val="0047FF"/>
                          </a:solidFill>
                          <a:latin typeface="Arial"/>
                          <a:ea typeface="Arial"/>
                          <a:cs typeface="Arial"/>
                        </a:rPr>
                        <a:t>Now · Core, Recon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extLst>
                  <a:ext uri="{0D108BD9-81ED-4DB2-BD59-A6C34878D82A}">
                    <a16:rowId xmlns:a16="http://schemas.microsoft.com/office/drawing/2014/main" val="10009"/>
                  </a:ext>
                </a:extLst>
              </a:tr>
              <a:tr h="320000">
                <a:tc>
                  <a:txBody>
                    <a:bodyPr/>
                    <a:lstStyle/>
                    <a:p>
                      <a:pPr>
                        <a:lnSpc>
                          <a:spcPct val="102000"/>
                        </a:lnSpc>
                        <a:buNone/>
                      </a:pPr>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070154"/>
                          </a:solidFill>
                          <a:latin typeface="Arial"/>
                          <a:ea typeface="Arial"/>
                          <a:cs typeface="Arial"/>
                        </a:rPr>
                        <a:t>E5 Governed agentic delivery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a:solidFill>
                            <a:srgbClr val="50658E"/>
                          </a:solidFill>
                          <a:latin typeface="Arial"/>
                          <a:ea typeface="Arial"/>
                          <a:cs typeface="Arial"/>
                        </a:rPr>
                        <a:t>Scale human-supervised AI practices with sanctioned tools, ahead of the December rollout.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a:solidFill>
                            <a:srgbClr val="0047FF"/>
                          </a:solidFill>
                          <a:latin typeface="Arial"/>
                          <a:ea typeface="Arial"/>
                          <a:cs typeface="Arial"/>
                        </a:rPr>
                        <a:t>Now · Recon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extLst>
                  <a:ext uri="{0D108BD9-81ED-4DB2-BD59-A6C34878D82A}">
                    <a16:rowId xmlns:a16="http://schemas.microsoft.com/office/drawing/2014/main" val="10010"/>
                  </a:ext>
                </a:extLst>
              </a:tr>
            </a:tbl>
          </a:graphicData>
        </a:graphic>
      </p:graphicFrame>
      <p:sp>
        <p:nvSpPr>
          <p:cNvPr id="6" name="Rectangle 5">
            <a:extLst>
              <a:ext uri="{FF2B5EF4-FFF2-40B4-BE49-F238E27FC236}">
                <a16:creationId xmlns:a16="http://schemas.microsoft.com/office/drawing/2014/main" id="{A3EB51DB-DB62-4960-A693-C67A23E93FA4}"/>
              </a:ext>
            </a:extLst>
          </p:cNvPr>
          <p:cNvSpPr>
            <a:spLocks noGrp="1"/>
          </p:cNvSpPr>
          <p:nvPr/>
        </p:nvSpPr>
        <p:spPr>
          <a:xfrm>
            <a:off x="457200" y="5640000"/>
            <a:ext cx="11277600" cy="400000"/>
          </a:xfrm>
          <a:prstGeom prst="rect">
            <a:avLst/>
          </a:prstGeom>
          <a:solidFill>
            <a:srgbClr val="0047FF"/>
          </a:solidFill>
          <a:ln w="0">
            <a:noFill/>
          </a:ln>
        </p:spPr>
        <p:txBody>
          <a:bodyPr/>
          <a:lstStyle/>
          <a:p>
            <a:endParaRPr lang="en-US"/>
          </a:p>
        </p:txBody>
      </p:sp>
      <p:sp>
        <p:nvSpPr>
          <p:cNvPr id="7" name="Rectangle 6">
            <a:extLst>
              <a:ext uri="{FF2B5EF4-FFF2-40B4-BE49-F238E27FC236}">
                <a16:creationId xmlns:a16="http://schemas.microsoft.com/office/drawing/2014/main" id="{E1CBB966-CF8D-4639-9532-4B9D93E512E1}"/>
              </a:ext>
            </a:extLst>
          </p:cNvPr>
          <p:cNvSpPr>
            <a:spLocks noGrp="1"/>
          </p:cNvSpPr>
          <p:nvPr/>
        </p:nvSpPr>
        <p:spPr>
          <a:xfrm>
            <a:off x="685800" y="5725000"/>
            <a:ext cx="10820400" cy="228600"/>
          </a:xfrm>
          <a:prstGeom prst="rect">
            <a:avLst/>
          </a:prstGeom>
          <a:noFill/>
          <a:ln w="0">
            <a:noFill/>
          </a:ln>
        </p:spPr>
        <p:txBody>
          <a:bodyPr anchor="t">
            <a:normAutofit fontScale="84444" lnSpcReduction="20000"/>
          </a:bodyPr>
          <a:lstStyle/>
          <a:p>
            <a:pPr>
              <a:lnSpc>
                <a:spcPct val="108000"/>
              </a:lnSpc>
              <a:buNone/>
              <a:defRPr sz="1200" b="1" i="0">
                <a:solidFill>
                  <a:srgbClr val="FFFFFF"/>
                </a:solidFill>
                <a:latin typeface="Arial"/>
                <a:ea typeface="Arial"/>
                <a:cs typeface="Arial"/>
              </a:defRPr>
            </a:pPr>
            <a:r>
              <a:rPr sz="1200" b="1" i="0">
                <a:solidFill>
                  <a:srgbClr val="FFFFFF"/>
                </a:solidFill>
                <a:latin typeface="Arial"/>
                <a:ea typeface="Arial"/>
                <a:cs typeface="Arial"/>
              </a:rPr>
              <a:t>Product recommendations are detailed first, then the engineering track. Both roll up in the two roadmaps at the end.</a:t>
            </a:r>
          </a:p>
        </p:txBody>
      </p:sp>
    </p:spTree>
    <p:extLst>
      <p:ext uri="{BB962C8B-B14F-4D97-AF65-F5344CB8AC3E}">
        <p14:creationId xmlns:p14="http://schemas.microsoft.com/office/powerpoint/2010/main" val="21965053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lang="en-US" sz="2325" b="1">
                <a:solidFill>
                  <a:srgbClr val="070154"/>
                </a:solidFill>
                <a:latin typeface="Arial"/>
                <a:ea typeface="Arial"/>
                <a:cs typeface="Arial"/>
              </a:rPr>
              <a:t>Release stability and production quality</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Learn from what reaches production and stop repeat causes, starting with Core.</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ENGINEERING E1</a:t>
            </a:r>
          </a:p>
        </p:txBody>
      </p:sp>
      <p:sp>
        <p:nvSpPr>
          <p:cNvPr id="5" name="Rectangle 4">
            <a:extLst>
              <a:ext uri="{FF2B5EF4-FFF2-40B4-BE49-F238E27FC236}">
                <a16:creationId xmlns:a16="http://schemas.microsoft.com/office/drawing/2014/main" id="{94188F07-083F-427D-B3CE-F37C5204C52E}"/>
              </a:ext>
            </a:extLst>
          </p:cNvPr>
          <p:cNvSpPr>
            <a:spLocks noGrp="1"/>
          </p:cNvSpPr>
          <p:nvPr/>
        </p:nvSpPr>
        <p:spPr>
          <a:xfrm>
            <a:off x="457200" y="1752600"/>
            <a:ext cx="5334000" cy="3143250"/>
          </a:xfrm>
          <a:prstGeom prst="rect">
            <a:avLst/>
          </a:prstGeom>
          <a:solidFill>
            <a:srgbClr val="E8EEF8"/>
          </a:solidFill>
          <a:ln w="9525">
            <a:solidFill>
              <a:srgbClr val="CED7E6"/>
            </a:solidFill>
          </a:ln>
        </p:spPr>
        <p:txBody>
          <a:bodyPr/>
          <a:lstStyle/>
          <a:p>
            <a:endParaRPr lang="en-US"/>
          </a:p>
        </p:txBody>
      </p:sp>
      <p:sp>
        <p:nvSpPr>
          <p:cNvPr id="6" name="Rectangle 5">
            <a:extLst>
              <a:ext uri="{FF2B5EF4-FFF2-40B4-BE49-F238E27FC236}">
                <a16:creationId xmlns:a16="http://schemas.microsoft.com/office/drawing/2014/main" id="{49242DB0-A823-45AE-8BE4-19F564138E4B}"/>
              </a:ext>
            </a:extLst>
          </p:cNvPr>
          <p:cNvSpPr>
            <a:spLocks noGrp="1"/>
          </p:cNvSpPr>
          <p:nvPr/>
        </p:nvSpPr>
        <p:spPr>
          <a:xfrm>
            <a:off x="6210300" y="1752600"/>
            <a:ext cx="5524500" cy="3143250"/>
          </a:xfrm>
          <a:prstGeom prst="rect">
            <a:avLst/>
          </a:prstGeom>
          <a:solidFill>
            <a:srgbClr val="070154"/>
          </a:solidFill>
          <a:ln w="9525">
            <a:solidFill>
              <a:srgbClr val="0047FF"/>
            </a:solidFill>
          </a:ln>
        </p:spPr>
        <p:txBody>
          <a:bodyPr/>
          <a:lstStyle/>
          <a:p>
            <a:endParaRPr lang="en-US"/>
          </a:p>
        </p:txBody>
      </p:sp>
      <p:sp>
        <p:nvSpPr>
          <p:cNvPr id="7" name="Rectangle 6">
            <a:extLst>
              <a:ext uri="{FF2B5EF4-FFF2-40B4-BE49-F238E27FC236}">
                <a16:creationId xmlns:a16="http://schemas.microsoft.com/office/drawing/2014/main" id="{3764CA55-46F1-47F4-AB01-A011345A0419}"/>
              </a:ext>
            </a:extLst>
          </p:cNvPr>
          <p:cNvSpPr>
            <a:spLocks noGrp="1"/>
          </p:cNvSpPr>
          <p:nvPr/>
        </p:nvSpPr>
        <p:spPr>
          <a:xfrm>
            <a:off x="736600" y="1981200"/>
            <a:ext cx="25781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WHAT SHOULD BE DONE</a:t>
            </a:r>
          </a:p>
        </p:txBody>
      </p:sp>
      <p:sp>
        <p:nvSpPr>
          <p:cNvPr id="8" name="Rectangle 7">
            <a:extLst>
              <a:ext uri="{FF2B5EF4-FFF2-40B4-BE49-F238E27FC236}">
                <a16:creationId xmlns:a16="http://schemas.microsoft.com/office/drawing/2014/main" id="{94FD9CD8-E1B8-4193-A0A3-E5C0232ACAFD}"/>
              </a:ext>
            </a:extLst>
          </p:cNvPr>
          <p:cNvSpPr>
            <a:spLocks noGrp="1"/>
          </p:cNvSpPr>
          <p:nvPr/>
        </p:nvSpPr>
        <p:spPr>
          <a:xfrm>
            <a:off x="685800" y="2381250"/>
            <a:ext cx="4762500" cy="2095500"/>
          </a:xfrm>
          <a:prstGeom prst="rect">
            <a:avLst/>
          </a:prstGeom>
          <a:noFill/>
          <a:ln w="0">
            <a:noFill/>
          </a:ln>
        </p:spPr>
        <p:txBody>
          <a:bodyPr lIns="91440" tIns="45720" rIns="91440" bIns="45720" anchor="t">
            <a:normAutofit/>
          </a:bodyPr>
          <a:lstStyle/>
          <a:p>
            <a:pPr marL="228600" indent="-228600">
              <a:lnSpc>
                <a:spcPct val="108000"/>
              </a:lnSpc>
              <a:buFont typeface="+mj-lt"/>
              <a:buAutoNum type="arabicPeriod"/>
            </a:pPr>
            <a:r>
              <a:rPr lang="en-US" sz="1200">
                <a:solidFill>
                  <a:srgbClr val="070154"/>
                </a:solidFill>
                <a:latin typeface="Arial"/>
                <a:cs typeface="Arial"/>
              </a:rPr>
              <a:t>Review the root cause of every unplanned production change: patches, rollbacks, and off-version releases.</a:t>
            </a:r>
          </a:p>
          <a:p>
            <a:pPr marL="228600" indent="-228600">
              <a:lnSpc>
                <a:spcPct val="108000"/>
              </a:lnSpc>
              <a:buFont typeface="+mj-lt"/>
              <a:buAutoNum type="arabicPeriod"/>
            </a:pPr>
            <a:endParaRPr lang="en-US" sz="1200">
              <a:solidFill>
                <a:srgbClr val="070154"/>
              </a:solidFill>
              <a:latin typeface="Arial"/>
              <a:cs typeface="Arial"/>
            </a:endParaRPr>
          </a:p>
          <a:p>
            <a:pPr marL="228600" indent="-228600">
              <a:lnSpc>
                <a:spcPct val="108000"/>
              </a:lnSpc>
              <a:buFont typeface="+mj-lt"/>
              <a:buAutoNum type="arabicPeriod"/>
            </a:pPr>
            <a:r>
              <a:rPr lang="en-US" sz="1200">
                <a:solidFill>
                  <a:srgbClr val="070154"/>
                </a:solidFill>
                <a:latin typeface="Arial"/>
                <a:cs typeface="Arial"/>
              </a:rPr>
              <a:t>Manage credentials and certificates as a lifecycle, with expiry dates, owners, and alerts.</a:t>
            </a:r>
          </a:p>
          <a:p>
            <a:pPr marL="228600" indent="-228600">
              <a:lnSpc>
                <a:spcPct val="108000"/>
              </a:lnSpc>
              <a:buFont typeface="+mj-lt"/>
              <a:buAutoNum type="arabicPeriod"/>
            </a:pPr>
            <a:endParaRPr lang="en-US" sz="1200">
              <a:solidFill>
                <a:srgbClr val="070154"/>
              </a:solidFill>
              <a:latin typeface="Arial"/>
              <a:cs typeface="Arial"/>
            </a:endParaRPr>
          </a:p>
          <a:p>
            <a:pPr marL="228600" indent="-228600">
              <a:lnSpc>
                <a:spcPct val="108000"/>
              </a:lnSpc>
              <a:buFont typeface="+mj-lt"/>
              <a:buAutoNum type="arabicPeriod"/>
            </a:pPr>
            <a:r>
              <a:rPr lang="en-US" sz="1200">
                <a:solidFill>
                  <a:srgbClr val="070154"/>
                </a:solidFill>
                <a:latin typeface="Arial"/>
                <a:cs typeface="Arial"/>
              </a:rPr>
              <a:t>Make releases repeatable: promote the same validated artifact, onboard new products to CAB, and clarify how the release rule applies to code behind a configuration switch.</a:t>
            </a:r>
          </a:p>
        </p:txBody>
      </p:sp>
      <p:sp>
        <p:nvSpPr>
          <p:cNvPr id="9" name="Rectangle 8">
            <a:extLst>
              <a:ext uri="{FF2B5EF4-FFF2-40B4-BE49-F238E27FC236}">
                <a16:creationId xmlns:a16="http://schemas.microsoft.com/office/drawing/2014/main" id="{970FB3C9-A390-4A8C-A497-029649E61B6F}"/>
              </a:ext>
            </a:extLst>
          </p:cNvPr>
          <p:cNvSpPr>
            <a:spLocks noGrp="1"/>
          </p:cNvSpPr>
          <p:nvPr/>
        </p:nvSpPr>
        <p:spPr>
          <a:xfrm>
            <a:off x="6489700" y="1981200"/>
            <a:ext cx="2578100" cy="171450"/>
          </a:xfrm>
          <a:prstGeom prst="rect">
            <a:avLst/>
          </a:prstGeom>
          <a:noFill/>
          <a:ln w="0">
            <a:noFill/>
          </a:ln>
        </p:spPr>
        <p:txBody>
          <a:bodyPr anchor="t">
            <a:noAutofit/>
          </a:bodyPr>
          <a:lstStyle/>
          <a:p>
            <a:pPr>
              <a:lnSpc>
                <a:spcPct val="108000"/>
              </a:lnSpc>
              <a:buNone/>
              <a:defRPr sz="750" b="1" i="0">
                <a:solidFill>
                  <a:srgbClr val="00A3FF"/>
                </a:solidFill>
                <a:latin typeface="Arial"/>
                <a:ea typeface="Arial"/>
                <a:cs typeface="Arial"/>
              </a:defRPr>
            </a:pPr>
            <a:r>
              <a:rPr sz="1100" b="1" i="0">
                <a:solidFill>
                  <a:srgbClr val="00A3FF"/>
                </a:solidFill>
                <a:latin typeface="Arial"/>
                <a:ea typeface="Arial"/>
                <a:cs typeface="Arial"/>
              </a:rPr>
              <a:t>HOW TO ACTIVATE IT</a:t>
            </a:r>
          </a:p>
        </p:txBody>
      </p:sp>
      <p:sp>
        <p:nvSpPr>
          <p:cNvPr id="10" name="Rectangle 9">
            <a:extLst>
              <a:ext uri="{FF2B5EF4-FFF2-40B4-BE49-F238E27FC236}">
                <a16:creationId xmlns:a16="http://schemas.microsoft.com/office/drawing/2014/main" id="{CAF51253-E50B-4367-B5D2-0A4E54025DC2}"/>
              </a:ext>
            </a:extLst>
          </p:cNvPr>
          <p:cNvSpPr>
            <a:spLocks noGrp="1"/>
          </p:cNvSpPr>
          <p:nvPr/>
        </p:nvSpPr>
        <p:spPr>
          <a:xfrm>
            <a:off x="6438900" y="2381250"/>
            <a:ext cx="4953000" cy="2095500"/>
          </a:xfrm>
          <a:prstGeom prst="rect">
            <a:avLst/>
          </a:prstGeom>
          <a:noFill/>
          <a:ln w="0">
            <a:noFill/>
          </a:ln>
        </p:spPr>
        <p:txBody>
          <a:bodyPr anchor="t">
            <a:normAutofit/>
          </a:bodyPr>
          <a:lstStyle/>
          <a:p>
            <a:pPr marL="342900" indent="-342900">
              <a:lnSpc>
                <a:spcPct val="108000"/>
              </a:lnSpc>
              <a:buFont typeface="+mj-lt"/>
              <a:buAutoNum type="arabicPeriod"/>
            </a:pPr>
            <a:r>
              <a:rPr lang="en-US" sz="1200">
                <a:solidFill>
                  <a:srgbClr val="FFFFFF"/>
                </a:solidFill>
                <a:cs typeface="Arial"/>
              </a:rPr>
              <a:t>Now (Core): classify the 15 unplanned 2026 changes by cause and build the credential and certificate inventory.</a:t>
            </a:r>
          </a:p>
          <a:p>
            <a:pPr marL="342900" indent="-342900">
              <a:lnSpc>
                <a:spcPct val="108000"/>
              </a:lnSpc>
              <a:buFont typeface="+mj-lt"/>
              <a:buAutoNum type="arabicPeriod"/>
            </a:pPr>
            <a:endParaRPr lang="en-US" sz="1200">
              <a:solidFill>
                <a:srgbClr val="FFFFFF"/>
              </a:solidFill>
              <a:cs typeface="Arial"/>
            </a:endParaRPr>
          </a:p>
          <a:p>
            <a:pPr marL="342900" indent="-342900">
              <a:lnSpc>
                <a:spcPct val="108000"/>
              </a:lnSpc>
              <a:buFont typeface="+mj-lt"/>
              <a:buAutoNum type="arabicPeriod"/>
            </a:pPr>
            <a:r>
              <a:rPr lang="en-US" sz="1200">
                <a:solidFill>
                  <a:srgbClr val="FFFFFF"/>
                </a:solidFill>
                <a:cs typeface="Arial"/>
              </a:rPr>
              <a:t>Next: a standard review after every patch or rollback, expiry alerts, and same-artifact promotion.</a:t>
            </a:r>
          </a:p>
          <a:p>
            <a:pPr marL="342900" indent="-342900">
              <a:lnSpc>
                <a:spcPct val="108000"/>
              </a:lnSpc>
              <a:buFont typeface="+mj-lt"/>
              <a:buAutoNum type="arabicPeriod"/>
            </a:pPr>
            <a:endParaRPr lang="en-US" sz="1200">
              <a:solidFill>
                <a:srgbClr val="FFFFFF"/>
              </a:solidFill>
              <a:cs typeface="Arial"/>
            </a:endParaRPr>
          </a:p>
          <a:p>
            <a:pPr marL="342900" indent="-342900">
              <a:lnSpc>
                <a:spcPct val="108000"/>
              </a:lnSpc>
              <a:buFont typeface="+mj-lt"/>
              <a:buAutoNum type="arabicPeriod"/>
            </a:pPr>
            <a:r>
              <a:rPr lang="en-US" sz="1200">
                <a:solidFill>
                  <a:srgbClr val="FFFFFF"/>
                </a:solidFill>
                <a:cs typeface="Arial"/>
              </a:rPr>
              <a:t>Future: change failure rate, time to restore, and repeat causes tracked on every pod.</a:t>
            </a:r>
          </a:p>
        </p:txBody>
      </p:sp>
      <p:sp>
        <p:nvSpPr>
          <p:cNvPr id="11" name="Rectangle 10">
            <a:extLst>
              <a:ext uri="{FF2B5EF4-FFF2-40B4-BE49-F238E27FC236}">
                <a16:creationId xmlns:a16="http://schemas.microsoft.com/office/drawing/2014/main" id="{68A742DC-C7BF-4F91-9946-CB95D36514C9}"/>
              </a:ext>
            </a:extLst>
          </p:cNvPr>
          <p:cNvSpPr>
            <a:spLocks noGrp="1"/>
          </p:cNvSpPr>
          <p:nvPr/>
        </p:nvSpPr>
        <p:spPr>
          <a:xfrm>
            <a:off x="457200" y="5124450"/>
            <a:ext cx="11277600" cy="590550"/>
          </a:xfrm>
          <a:prstGeom prst="rect">
            <a:avLst/>
          </a:prstGeom>
          <a:solidFill>
            <a:srgbClr val="0047FF"/>
          </a:solidFill>
          <a:ln w="0">
            <a:noFill/>
          </a:ln>
        </p:spPr>
        <p:txBody>
          <a:bodyPr/>
          <a:lstStyle/>
          <a:p>
            <a:endParaRPr lang="en-US"/>
          </a:p>
        </p:txBody>
      </p:sp>
      <p:sp>
        <p:nvSpPr>
          <p:cNvPr id="12" name="Rectangle 11">
            <a:extLst>
              <a:ext uri="{FF2B5EF4-FFF2-40B4-BE49-F238E27FC236}">
                <a16:creationId xmlns:a16="http://schemas.microsoft.com/office/drawing/2014/main" id="{5D7D3234-F1D2-4621-BF90-199527C1439F}"/>
              </a:ext>
            </a:extLst>
          </p:cNvPr>
          <p:cNvSpPr>
            <a:spLocks noGrp="1"/>
          </p:cNvSpPr>
          <p:nvPr/>
        </p:nvSpPr>
        <p:spPr>
          <a:xfrm>
            <a:off x="697523" y="5207000"/>
            <a:ext cx="11007968" cy="496276"/>
          </a:xfrm>
          <a:prstGeom prst="rect">
            <a:avLst/>
          </a:prstGeom>
          <a:noFill/>
          <a:ln w="0">
            <a:noFill/>
          </a:ln>
        </p:spPr>
        <p:txBody>
          <a:bodyPr lIns="91440" tIns="45720" rIns="91440" bIns="45720" anchor="t">
            <a:noAutofit/>
          </a:bodyPr>
          <a:lstStyle/>
          <a:p>
            <a:pPr>
              <a:lnSpc>
                <a:spcPct val="108000"/>
              </a:lnSpc>
              <a:defRPr sz="1050" b="1" i="0">
                <a:solidFill>
                  <a:srgbClr val="FFFFFF"/>
                </a:solidFill>
                <a:latin typeface="Arial"/>
                <a:ea typeface="Arial"/>
                <a:cs typeface="Arial"/>
              </a:defRPr>
            </a:pPr>
            <a:r>
              <a:rPr lang="en-US" sz="1100" b="1">
                <a:solidFill>
                  <a:srgbClr val="FFFFFF"/>
                </a:solidFill>
                <a:latin typeface="Arial"/>
                <a:ea typeface="Arial"/>
                <a:cs typeface="Arial"/>
              </a:rPr>
              <a:t>Owner: Engineering leadership + Release/DevOps + Quality | Dependency: release calendar, Jira, CAB records | Measure: share of unplanned changes, change failure rate, and repeat causes</a:t>
            </a:r>
            <a:endParaRPr lang="en-US" sz="1100"/>
          </a:p>
        </p:txBody>
      </p:sp>
      <p:sp>
        <p:nvSpPr>
          <p:cNvPr id="16" name="RecAccentBarLeft">
            <a:extLst>
              <a:ext uri="{FF2B5EF4-FFF2-40B4-BE49-F238E27FC236}">
                <a16:creationId xmlns:a16="http://schemas.microsoft.com/office/drawing/2014/main" id="{DC75A6D6-B75B-0B4B-8C43-95B346D65699}"/>
              </a:ext>
            </a:extLst>
          </p:cNvPr>
          <p:cNvSpPr/>
          <p:nvPr/>
        </p:nvSpPr>
        <p:spPr>
          <a:xfrm>
            <a:off x="457200" y="1752600"/>
            <a:ext cx="5334000" cy="635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AccentBarRight">
            <a:extLst>
              <a:ext uri="{FF2B5EF4-FFF2-40B4-BE49-F238E27FC236}">
                <a16:creationId xmlns:a16="http://schemas.microsoft.com/office/drawing/2014/main" id="{D83F10E9-33D7-AA49-815C-194CB0F147CD}"/>
              </a:ext>
            </a:extLst>
          </p:cNvPr>
          <p:cNvSpPr/>
          <p:nvPr/>
        </p:nvSpPr>
        <p:spPr>
          <a:xfrm>
            <a:off x="6210300" y="1752600"/>
            <a:ext cx="5524500" cy="63500"/>
          </a:xfrm>
          <a:prstGeom prst="rect">
            <a:avLst/>
          </a:prstGeom>
          <a:solidFill>
            <a:srgbClr val="F900D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18" name="Graphic 14" descr="What should be done">
            <a:extLst>
              <a:ext uri="{FF2B5EF4-FFF2-40B4-BE49-F238E27FC236}">
                <a16:creationId xmlns:a16="http://schemas.microsoft.com/office/drawing/2014/main" id="{48997731-74A8-D582-269D-061636CE19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504" y="1879600"/>
            <a:ext cx="304800" cy="304800"/>
          </a:xfrm>
          <a:prstGeom prst="rect">
            <a:avLst/>
          </a:prstGeom>
        </p:spPr>
      </p:pic>
      <p:pic>
        <p:nvPicPr>
          <p:cNvPr id="19" name="Graphic 15" descr="How to activate it">
            <a:extLst>
              <a:ext uri="{FF2B5EF4-FFF2-40B4-BE49-F238E27FC236}">
                <a16:creationId xmlns:a16="http://schemas.microsoft.com/office/drawing/2014/main" id="{8A274387-E6D8-A83D-4F3C-7884ED76DFC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4656" y="1879600"/>
            <a:ext cx="304800" cy="304800"/>
          </a:xfrm>
          <a:prstGeom prst="rect">
            <a:avLst/>
          </a:prstGeom>
        </p:spPr>
      </p:pic>
    </p:spTree>
    <p:extLst>
      <p:ext uri="{BB962C8B-B14F-4D97-AF65-F5344CB8AC3E}">
        <p14:creationId xmlns:p14="http://schemas.microsoft.com/office/powerpoint/2010/main" val="31488712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lang="en-US" sz="2325" b="1">
                <a:solidFill>
                  <a:srgbClr val="070154"/>
                </a:solidFill>
                <a:latin typeface="Arial"/>
                <a:ea typeface="Arial"/>
                <a:cs typeface="Arial"/>
              </a:rPr>
              <a:t>Quality and test automation</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Move quality earlier so fewer defects reach production, starting where regression is manual.</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ENGINEERING E2</a:t>
            </a:r>
          </a:p>
        </p:txBody>
      </p:sp>
      <p:sp>
        <p:nvSpPr>
          <p:cNvPr id="5" name="Rectangle 4">
            <a:extLst>
              <a:ext uri="{FF2B5EF4-FFF2-40B4-BE49-F238E27FC236}">
                <a16:creationId xmlns:a16="http://schemas.microsoft.com/office/drawing/2014/main" id="{94188F07-083F-427D-B3CE-F37C5204C52E}"/>
              </a:ext>
            </a:extLst>
          </p:cNvPr>
          <p:cNvSpPr>
            <a:spLocks noGrp="1"/>
          </p:cNvSpPr>
          <p:nvPr/>
        </p:nvSpPr>
        <p:spPr>
          <a:xfrm>
            <a:off x="457200" y="1752600"/>
            <a:ext cx="5334000" cy="3143250"/>
          </a:xfrm>
          <a:prstGeom prst="rect">
            <a:avLst/>
          </a:prstGeom>
          <a:solidFill>
            <a:srgbClr val="E8EEF8"/>
          </a:solidFill>
          <a:ln w="9525">
            <a:solidFill>
              <a:srgbClr val="CED7E6"/>
            </a:solidFill>
          </a:ln>
        </p:spPr>
        <p:txBody>
          <a:bodyPr/>
          <a:lstStyle/>
          <a:p>
            <a:endParaRPr lang="en-US"/>
          </a:p>
        </p:txBody>
      </p:sp>
      <p:sp>
        <p:nvSpPr>
          <p:cNvPr id="6" name="Rectangle 5">
            <a:extLst>
              <a:ext uri="{FF2B5EF4-FFF2-40B4-BE49-F238E27FC236}">
                <a16:creationId xmlns:a16="http://schemas.microsoft.com/office/drawing/2014/main" id="{49242DB0-A823-45AE-8BE4-19F564138E4B}"/>
              </a:ext>
            </a:extLst>
          </p:cNvPr>
          <p:cNvSpPr>
            <a:spLocks noGrp="1"/>
          </p:cNvSpPr>
          <p:nvPr/>
        </p:nvSpPr>
        <p:spPr>
          <a:xfrm>
            <a:off x="6210300" y="1752600"/>
            <a:ext cx="5524500" cy="3143250"/>
          </a:xfrm>
          <a:prstGeom prst="rect">
            <a:avLst/>
          </a:prstGeom>
          <a:solidFill>
            <a:srgbClr val="070154"/>
          </a:solidFill>
          <a:ln w="9525">
            <a:solidFill>
              <a:srgbClr val="0047FF"/>
            </a:solidFill>
          </a:ln>
        </p:spPr>
        <p:txBody>
          <a:bodyPr/>
          <a:lstStyle/>
          <a:p>
            <a:endParaRPr lang="en-US"/>
          </a:p>
        </p:txBody>
      </p:sp>
      <p:sp>
        <p:nvSpPr>
          <p:cNvPr id="7" name="Rectangle 6">
            <a:extLst>
              <a:ext uri="{FF2B5EF4-FFF2-40B4-BE49-F238E27FC236}">
                <a16:creationId xmlns:a16="http://schemas.microsoft.com/office/drawing/2014/main" id="{3764CA55-46F1-47F4-AB01-A011345A0419}"/>
              </a:ext>
            </a:extLst>
          </p:cNvPr>
          <p:cNvSpPr>
            <a:spLocks noGrp="1"/>
          </p:cNvSpPr>
          <p:nvPr/>
        </p:nvSpPr>
        <p:spPr>
          <a:xfrm>
            <a:off x="736600" y="1981200"/>
            <a:ext cx="25781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WHAT SHOULD BE DONE</a:t>
            </a:r>
          </a:p>
        </p:txBody>
      </p:sp>
      <p:sp>
        <p:nvSpPr>
          <p:cNvPr id="8" name="Rectangle 7">
            <a:extLst>
              <a:ext uri="{FF2B5EF4-FFF2-40B4-BE49-F238E27FC236}">
                <a16:creationId xmlns:a16="http://schemas.microsoft.com/office/drawing/2014/main" id="{94FD9CD8-E1B8-4193-A0A3-E5C0232ACAFD}"/>
              </a:ext>
            </a:extLst>
          </p:cNvPr>
          <p:cNvSpPr>
            <a:spLocks noGrp="1"/>
          </p:cNvSpPr>
          <p:nvPr/>
        </p:nvSpPr>
        <p:spPr>
          <a:xfrm>
            <a:off x="685800" y="2381250"/>
            <a:ext cx="4762500" cy="2095500"/>
          </a:xfrm>
          <a:prstGeom prst="rect">
            <a:avLst/>
          </a:prstGeom>
          <a:noFill/>
          <a:ln w="0">
            <a:noFill/>
          </a:ln>
        </p:spPr>
        <p:txBody>
          <a:bodyPr lIns="91440" tIns="45720" rIns="91440" bIns="45720" anchor="t">
            <a:normAutofit/>
          </a:bodyPr>
          <a:lstStyle/>
          <a:p>
            <a:pPr marL="228600" indent="-228600">
              <a:lnSpc>
                <a:spcPct val="108000"/>
              </a:lnSpc>
              <a:buFont typeface="+mj-lt"/>
              <a:buAutoNum type="arabicPeriod"/>
            </a:pPr>
            <a:r>
              <a:rPr lang="en-US" sz="1200">
                <a:solidFill>
                  <a:srgbClr val="070154"/>
                </a:solidFill>
                <a:latin typeface="Arial"/>
                <a:cs typeface="Arial"/>
              </a:rPr>
              <a:t>Target automation by risk, starting with the workflows behind the highest-impact defects and rollbacks.</a:t>
            </a:r>
          </a:p>
          <a:p>
            <a:pPr marL="228600" indent="-228600">
              <a:lnSpc>
                <a:spcPct val="108000"/>
              </a:lnSpc>
              <a:buFont typeface="+mj-lt"/>
              <a:buAutoNum type="arabicPeriod"/>
            </a:pPr>
            <a:endParaRPr lang="en-US" sz="1200">
              <a:solidFill>
                <a:srgbClr val="070154"/>
              </a:solidFill>
              <a:latin typeface="Arial"/>
              <a:cs typeface="Arial"/>
            </a:endParaRPr>
          </a:p>
          <a:p>
            <a:pPr marL="228600" indent="-228600">
              <a:lnSpc>
                <a:spcPct val="108000"/>
              </a:lnSpc>
              <a:buFont typeface="+mj-lt"/>
              <a:buAutoNum type="arabicPeriod"/>
            </a:pPr>
            <a:r>
              <a:rPr lang="en-US" sz="1200">
                <a:solidFill>
                  <a:srgbClr val="070154"/>
                </a:solidFill>
                <a:latin typeface="Arial"/>
                <a:cs typeface="Arial"/>
              </a:rPr>
              <a:t>Reuse the test-generation patterns already working in Reconcile AI where the stack allows.</a:t>
            </a:r>
          </a:p>
          <a:p>
            <a:pPr marL="228600" indent="-228600">
              <a:lnSpc>
                <a:spcPct val="108000"/>
              </a:lnSpc>
              <a:buFont typeface="+mj-lt"/>
              <a:buAutoNum type="arabicPeriod"/>
            </a:pPr>
            <a:endParaRPr lang="en-US" sz="1200">
              <a:solidFill>
                <a:srgbClr val="070154"/>
              </a:solidFill>
              <a:latin typeface="Arial"/>
              <a:cs typeface="Arial"/>
            </a:endParaRPr>
          </a:p>
          <a:p>
            <a:pPr marL="228600" indent="-228600">
              <a:lnSpc>
                <a:spcPct val="108000"/>
              </a:lnSpc>
              <a:buFont typeface="+mj-lt"/>
              <a:buAutoNum type="arabicPeriod"/>
            </a:pPr>
            <a:r>
              <a:rPr lang="en-US" sz="1200">
                <a:solidFill>
                  <a:srgbClr val="070154"/>
                </a:solidFill>
                <a:latin typeface="Arial"/>
                <a:cs typeface="Arial"/>
              </a:rPr>
              <a:t>Make automated regression evidence part of the release decision.</a:t>
            </a:r>
          </a:p>
        </p:txBody>
      </p:sp>
      <p:sp>
        <p:nvSpPr>
          <p:cNvPr id="9" name="Rectangle 8">
            <a:extLst>
              <a:ext uri="{FF2B5EF4-FFF2-40B4-BE49-F238E27FC236}">
                <a16:creationId xmlns:a16="http://schemas.microsoft.com/office/drawing/2014/main" id="{970FB3C9-A390-4A8C-A497-029649E61B6F}"/>
              </a:ext>
            </a:extLst>
          </p:cNvPr>
          <p:cNvSpPr>
            <a:spLocks noGrp="1"/>
          </p:cNvSpPr>
          <p:nvPr/>
        </p:nvSpPr>
        <p:spPr>
          <a:xfrm>
            <a:off x="6489700" y="1981200"/>
            <a:ext cx="2578100" cy="171450"/>
          </a:xfrm>
          <a:prstGeom prst="rect">
            <a:avLst/>
          </a:prstGeom>
          <a:noFill/>
          <a:ln w="0">
            <a:noFill/>
          </a:ln>
        </p:spPr>
        <p:txBody>
          <a:bodyPr anchor="t">
            <a:noAutofit/>
          </a:bodyPr>
          <a:lstStyle/>
          <a:p>
            <a:pPr>
              <a:lnSpc>
                <a:spcPct val="108000"/>
              </a:lnSpc>
              <a:buNone/>
              <a:defRPr sz="750" b="1" i="0">
                <a:solidFill>
                  <a:srgbClr val="00A3FF"/>
                </a:solidFill>
                <a:latin typeface="Arial"/>
                <a:ea typeface="Arial"/>
                <a:cs typeface="Arial"/>
              </a:defRPr>
            </a:pPr>
            <a:r>
              <a:rPr sz="1100" b="1" i="0">
                <a:solidFill>
                  <a:srgbClr val="00A3FF"/>
                </a:solidFill>
                <a:latin typeface="Arial"/>
                <a:ea typeface="Arial"/>
                <a:cs typeface="Arial"/>
              </a:rPr>
              <a:t>HOW TO ACTIVATE IT</a:t>
            </a:r>
          </a:p>
        </p:txBody>
      </p:sp>
      <p:sp>
        <p:nvSpPr>
          <p:cNvPr id="10" name="Rectangle 9">
            <a:extLst>
              <a:ext uri="{FF2B5EF4-FFF2-40B4-BE49-F238E27FC236}">
                <a16:creationId xmlns:a16="http://schemas.microsoft.com/office/drawing/2014/main" id="{CAF51253-E50B-4367-B5D2-0A4E54025DC2}"/>
              </a:ext>
            </a:extLst>
          </p:cNvPr>
          <p:cNvSpPr>
            <a:spLocks noGrp="1"/>
          </p:cNvSpPr>
          <p:nvPr/>
        </p:nvSpPr>
        <p:spPr>
          <a:xfrm>
            <a:off x="6438900" y="2381250"/>
            <a:ext cx="4953000" cy="2095500"/>
          </a:xfrm>
          <a:prstGeom prst="rect">
            <a:avLst/>
          </a:prstGeom>
          <a:noFill/>
          <a:ln w="0">
            <a:noFill/>
          </a:ln>
        </p:spPr>
        <p:txBody>
          <a:bodyPr anchor="t">
            <a:normAutofit/>
          </a:bodyPr>
          <a:lstStyle/>
          <a:p>
            <a:pPr marL="342900" indent="-342900">
              <a:lnSpc>
                <a:spcPct val="108000"/>
              </a:lnSpc>
              <a:buFont typeface="+mj-lt"/>
              <a:buAutoNum type="arabicPeriod"/>
            </a:pPr>
            <a:r>
              <a:rPr lang="en-US" sz="1200">
                <a:solidFill>
                  <a:srgbClr val="FFFFFF"/>
                </a:solidFill>
                <a:cs typeface="Arial"/>
              </a:rPr>
              <a:t>Now (Core): map the highest-risk regression workflows and the manual effort each release consumes, using E1's root-cause categories.</a:t>
            </a:r>
          </a:p>
          <a:p>
            <a:pPr marL="342900" indent="-342900">
              <a:lnSpc>
                <a:spcPct val="108000"/>
              </a:lnSpc>
              <a:buFont typeface="+mj-lt"/>
              <a:buAutoNum type="arabicPeriod"/>
            </a:pPr>
            <a:endParaRPr lang="en-US" sz="1200">
              <a:solidFill>
                <a:srgbClr val="FFFFFF"/>
              </a:solidFill>
              <a:cs typeface="Arial"/>
            </a:endParaRPr>
          </a:p>
          <a:p>
            <a:pPr marL="342900" indent="-342900">
              <a:lnSpc>
                <a:spcPct val="108000"/>
              </a:lnSpc>
              <a:buFont typeface="+mj-lt"/>
              <a:buAutoNum type="arabicPeriod"/>
            </a:pPr>
            <a:r>
              <a:rPr lang="en-US" sz="1200">
                <a:solidFill>
                  <a:srgbClr val="FFFFFF"/>
                </a:solidFill>
                <a:cs typeface="Arial"/>
              </a:rPr>
              <a:t>Next: automate those workflows in Core and extend Recon's test patterns to Eligibility AI and Pay Connect.</a:t>
            </a:r>
          </a:p>
          <a:p>
            <a:pPr marL="342900" indent="-342900">
              <a:lnSpc>
                <a:spcPct val="108000"/>
              </a:lnSpc>
              <a:buFont typeface="+mj-lt"/>
              <a:buAutoNum type="arabicPeriod"/>
            </a:pPr>
            <a:endParaRPr lang="en-US" sz="1200">
              <a:solidFill>
                <a:srgbClr val="FFFFFF"/>
              </a:solidFill>
              <a:cs typeface="Arial"/>
            </a:endParaRPr>
          </a:p>
          <a:p>
            <a:pPr marL="342900" indent="-342900">
              <a:lnSpc>
                <a:spcPct val="108000"/>
              </a:lnSpc>
              <a:buFont typeface="+mj-lt"/>
              <a:buAutoNum type="arabicPeriod"/>
            </a:pPr>
            <a:r>
              <a:rPr lang="en-US" sz="1200">
                <a:solidFill>
                  <a:srgbClr val="FFFFFF"/>
                </a:solidFill>
                <a:cs typeface="Arial"/>
              </a:rPr>
              <a:t>Future: automated regression becomes a release entry criterion on every pod.</a:t>
            </a:r>
          </a:p>
        </p:txBody>
      </p:sp>
      <p:sp>
        <p:nvSpPr>
          <p:cNvPr id="11" name="Rectangle 10">
            <a:extLst>
              <a:ext uri="{FF2B5EF4-FFF2-40B4-BE49-F238E27FC236}">
                <a16:creationId xmlns:a16="http://schemas.microsoft.com/office/drawing/2014/main" id="{68A742DC-C7BF-4F91-9946-CB95D36514C9}"/>
              </a:ext>
            </a:extLst>
          </p:cNvPr>
          <p:cNvSpPr>
            <a:spLocks noGrp="1"/>
          </p:cNvSpPr>
          <p:nvPr/>
        </p:nvSpPr>
        <p:spPr>
          <a:xfrm>
            <a:off x="457200" y="5124450"/>
            <a:ext cx="11277600" cy="590550"/>
          </a:xfrm>
          <a:prstGeom prst="rect">
            <a:avLst/>
          </a:prstGeom>
          <a:solidFill>
            <a:srgbClr val="0047FF"/>
          </a:solidFill>
          <a:ln w="0">
            <a:noFill/>
          </a:ln>
        </p:spPr>
        <p:txBody>
          <a:bodyPr/>
          <a:lstStyle/>
          <a:p>
            <a:endParaRPr lang="en-US"/>
          </a:p>
        </p:txBody>
      </p:sp>
      <p:sp>
        <p:nvSpPr>
          <p:cNvPr id="12" name="Rectangle 11">
            <a:extLst>
              <a:ext uri="{FF2B5EF4-FFF2-40B4-BE49-F238E27FC236}">
                <a16:creationId xmlns:a16="http://schemas.microsoft.com/office/drawing/2014/main" id="{5D7D3234-F1D2-4621-BF90-199527C1439F}"/>
              </a:ext>
            </a:extLst>
          </p:cNvPr>
          <p:cNvSpPr>
            <a:spLocks noGrp="1"/>
          </p:cNvSpPr>
          <p:nvPr/>
        </p:nvSpPr>
        <p:spPr>
          <a:xfrm>
            <a:off x="697523" y="5207000"/>
            <a:ext cx="11007968" cy="496276"/>
          </a:xfrm>
          <a:prstGeom prst="rect">
            <a:avLst/>
          </a:prstGeom>
          <a:noFill/>
          <a:ln w="0">
            <a:noFill/>
          </a:ln>
        </p:spPr>
        <p:txBody>
          <a:bodyPr lIns="91440" tIns="45720" rIns="91440" bIns="45720" anchor="t">
            <a:noAutofit/>
          </a:bodyPr>
          <a:lstStyle/>
          <a:p>
            <a:pPr>
              <a:lnSpc>
                <a:spcPct val="108000"/>
              </a:lnSpc>
              <a:defRPr sz="1050" b="1" i="0">
                <a:solidFill>
                  <a:srgbClr val="FFFFFF"/>
                </a:solidFill>
                <a:latin typeface="Arial"/>
                <a:ea typeface="Arial"/>
                <a:cs typeface="Arial"/>
              </a:defRPr>
            </a:pPr>
            <a:r>
              <a:rPr lang="en-US" sz="1100" b="1">
                <a:solidFill>
                  <a:srgbClr val="FFFFFF"/>
                </a:solidFill>
                <a:latin typeface="Arial"/>
                <a:ea typeface="Arial"/>
                <a:cs typeface="Arial"/>
              </a:rPr>
              <a:t>Owner: Quality leadership + Engineering leads | Dependency: E1 root-cause data, QA capacity, test environments | Measure: automated coverage of high-risk workflows, escaped defects, and regression effort per release</a:t>
            </a:r>
            <a:endParaRPr lang="en-US" sz="1100"/>
          </a:p>
        </p:txBody>
      </p:sp>
      <p:sp>
        <p:nvSpPr>
          <p:cNvPr id="16" name="RecAccentBarLeft">
            <a:extLst>
              <a:ext uri="{FF2B5EF4-FFF2-40B4-BE49-F238E27FC236}">
                <a16:creationId xmlns:a16="http://schemas.microsoft.com/office/drawing/2014/main" id="{DC75A6D6-B75B-0B4B-8C43-95B346D65699}"/>
              </a:ext>
            </a:extLst>
          </p:cNvPr>
          <p:cNvSpPr/>
          <p:nvPr/>
        </p:nvSpPr>
        <p:spPr>
          <a:xfrm>
            <a:off x="457200" y="1752600"/>
            <a:ext cx="5334000" cy="635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AccentBarRight">
            <a:extLst>
              <a:ext uri="{FF2B5EF4-FFF2-40B4-BE49-F238E27FC236}">
                <a16:creationId xmlns:a16="http://schemas.microsoft.com/office/drawing/2014/main" id="{D83F10E9-33D7-AA49-815C-194CB0F147CD}"/>
              </a:ext>
            </a:extLst>
          </p:cNvPr>
          <p:cNvSpPr/>
          <p:nvPr/>
        </p:nvSpPr>
        <p:spPr>
          <a:xfrm>
            <a:off x="6210300" y="1752600"/>
            <a:ext cx="5524500" cy="63500"/>
          </a:xfrm>
          <a:prstGeom prst="rect">
            <a:avLst/>
          </a:prstGeom>
          <a:solidFill>
            <a:srgbClr val="F900D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18" name="Graphic 14" descr="What should be done">
            <a:extLst>
              <a:ext uri="{FF2B5EF4-FFF2-40B4-BE49-F238E27FC236}">
                <a16:creationId xmlns:a16="http://schemas.microsoft.com/office/drawing/2014/main" id="{48997731-74A8-D582-269D-061636CE19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504" y="1879600"/>
            <a:ext cx="304800" cy="304800"/>
          </a:xfrm>
          <a:prstGeom prst="rect">
            <a:avLst/>
          </a:prstGeom>
        </p:spPr>
      </p:pic>
      <p:pic>
        <p:nvPicPr>
          <p:cNvPr id="19" name="Graphic 15" descr="How to activate it">
            <a:extLst>
              <a:ext uri="{FF2B5EF4-FFF2-40B4-BE49-F238E27FC236}">
                <a16:creationId xmlns:a16="http://schemas.microsoft.com/office/drawing/2014/main" id="{8A274387-E6D8-A83D-4F3C-7884ED76DFC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4656" y="1879600"/>
            <a:ext cx="304800" cy="304800"/>
          </a:xfrm>
          <a:prstGeom prst="rect">
            <a:avLst/>
          </a:prstGeom>
        </p:spPr>
      </p:pic>
    </p:spTree>
    <p:extLst>
      <p:ext uri="{BB962C8B-B14F-4D97-AF65-F5344CB8AC3E}">
        <p14:creationId xmlns:p14="http://schemas.microsoft.com/office/powerpoint/2010/main" val="36352296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lang="en-US" sz="2325" b="1">
                <a:solidFill>
                  <a:srgbClr val="070154"/>
                </a:solidFill>
                <a:latin typeface="Arial"/>
                <a:ea typeface="Arial"/>
                <a:cs typeface="Arial"/>
              </a:rPr>
              <a:t>Environments, access, and test data</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Remove the waits for access and realistic data that slow both build and validation.</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ENGINEERING E3</a:t>
            </a:r>
          </a:p>
        </p:txBody>
      </p:sp>
      <p:sp>
        <p:nvSpPr>
          <p:cNvPr id="5" name="Rectangle 4">
            <a:extLst>
              <a:ext uri="{FF2B5EF4-FFF2-40B4-BE49-F238E27FC236}">
                <a16:creationId xmlns:a16="http://schemas.microsoft.com/office/drawing/2014/main" id="{94188F07-083F-427D-B3CE-F37C5204C52E}"/>
              </a:ext>
            </a:extLst>
          </p:cNvPr>
          <p:cNvSpPr>
            <a:spLocks noGrp="1"/>
          </p:cNvSpPr>
          <p:nvPr/>
        </p:nvSpPr>
        <p:spPr>
          <a:xfrm>
            <a:off x="457200" y="1752600"/>
            <a:ext cx="5334000" cy="3143250"/>
          </a:xfrm>
          <a:prstGeom prst="rect">
            <a:avLst/>
          </a:prstGeom>
          <a:solidFill>
            <a:srgbClr val="E8EEF8"/>
          </a:solidFill>
          <a:ln w="9525">
            <a:solidFill>
              <a:srgbClr val="CED7E6"/>
            </a:solidFill>
          </a:ln>
        </p:spPr>
        <p:txBody>
          <a:bodyPr/>
          <a:lstStyle/>
          <a:p>
            <a:endParaRPr lang="en-US"/>
          </a:p>
        </p:txBody>
      </p:sp>
      <p:sp>
        <p:nvSpPr>
          <p:cNvPr id="6" name="Rectangle 5">
            <a:extLst>
              <a:ext uri="{FF2B5EF4-FFF2-40B4-BE49-F238E27FC236}">
                <a16:creationId xmlns:a16="http://schemas.microsoft.com/office/drawing/2014/main" id="{49242DB0-A823-45AE-8BE4-19F564138E4B}"/>
              </a:ext>
            </a:extLst>
          </p:cNvPr>
          <p:cNvSpPr>
            <a:spLocks noGrp="1"/>
          </p:cNvSpPr>
          <p:nvPr/>
        </p:nvSpPr>
        <p:spPr>
          <a:xfrm>
            <a:off x="6210300" y="1752600"/>
            <a:ext cx="5524500" cy="3143250"/>
          </a:xfrm>
          <a:prstGeom prst="rect">
            <a:avLst/>
          </a:prstGeom>
          <a:solidFill>
            <a:srgbClr val="070154"/>
          </a:solidFill>
          <a:ln w="9525">
            <a:solidFill>
              <a:srgbClr val="0047FF"/>
            </a:solidFill>
          </a:ln>
        </p:spPr>
        <p:txBody>
          <a:bodyPr/>
          <a:lstStyle/>
          <a:p>
            <a:endParaRPr lang="en-US"/>
          </a:p>
        </p:txBody>
      </p:sp>
      <p:sp>
        <p:nvSpPr>
          <p:cNvPr id="7" name="Rectangle 6">
            <a:extLst>
              <a:ext uri="{FF2B5EF4-FFF2-40B4-BE49-F238E27FC236}">
                <a16:creationId xmlns:a16="http://schemas.microsoft.com/office/drawing/2014/main" id="{3764CA55-46F1-47F4-AB01-A011345A0419}"/>
              </a:ext>
            </a:extLst>
          </p:cNvPr>
          <p:cNvSpPr>
            <a:spLocks noGrp="1"/>
          </p:cNvSpPr>
          <p:nvPr/>
        </p:nvSpPr>
        <p:spPr>
          <a:xfrm>
            <a:off x="736600" y="1981200"/>
            <a:ext cx="25781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WHAT SHOULD BE DONE</a:t>
            </a:r>
          </a:p>
        </p:txBody>
      </p:sp>
      <p:sp>
        <p:nvSpPr>
          <p:cNvPr id="8" name="Rectangle 7">
            <a:extLst>
              <a:ext uri="{FF2B5EF4-FFF2-40B4-BE49-F238E27FC236}">
                <a16:creationId xmlns:a16="http://schemas.microsoft.com/office/drawing/2014/main" id="{94FD9CD8-E1B8-4193-A0A3-E5C0232ACAFD}"/>
              </a:ext>
            </a:extLst>
          </p:cNvPr>
          <p:cNvSpPr>
            <a:spLocks noGrp="1"/>
          </p:cNvSpPr>
          <p:nvPr/>
        </p:nvSpPr>
        <p:spPr>
          <a:xfrm>
            <a:off x="685800" y="2381250"/>
            <a:ext cx="4762500" cy="2095500"/>
          </a:xfrm>
          <a:prstGeom prst="rect">
            <a:avLst/>
          </a:prstGeom>
          <a:noFill/>
          <a:ln w="0">
            <a:noFill/>
          </a:ln>
        </p:spPr>
        <p:txBody>
          <a:bodyPr lIns="91440" tIns="45720" rIns="91440" bIns="45720" anchor="t">
            <a:normAutofit/>
          </a:bodyPr>
          <a:lstStyle/>
          <a:p>
            <a:pPr marL="228600" indent="-228600">
              <a:lnSpc>
                <a:spcPct val="108000"/>
              </a:lnSpc>
              <a:buFont typeface="+mj-lt"/>
              <a:buAutoNum type="arabicPeriod"/>
            </a:pPr>
            <a:r>
              <a:rPr lang="en-US" sz="1200">
                <a:solidFill>
                  <a:srgbClr val="070154"/>
                </a:solidFill>
                <a:latin typeface="Arial"/>
                <a:cs typeface="Arial"/>
              </a:rPr>
              <a:t>Make access and test-data wait times visible, by team and by type of request.</a:t>
            </a:r>
          </a:p>
          <a:p>
            <a:pPr marL="228600" indent="-228600">
              <a:lnSpc>
                <a:spcPct val="108000"/>
              </a:lnSpc>
              <a:buFont typeface="+mj-lt"/>
              <a:buAutoNum type="arabicPeriod"/>
            </a:pPr>
            <a:endParaRPr lang="en-US" sz="1200">
              <a:solidFill>
                <a:srgbClr val="070154"/>
              </a:solidFill>
              <a:latin typeface="Arial"/>
              <a:cs typeface="Arial"/>
            </a:endParaRPr>
          </a:p>
          <a:p>
            <a:pPr marL="228600" indent="-228600">
              <a:lnSpc>
                <a:spcPct val="108000"/>
              </a:lnSpc>
              <a:buFont typeface="+mj-lt"/>
              <a:buAutoNum type="arabicPeriod"/>
            </a:pPr>
            <a:r>
              <a:rPr lang="en-US" sz="1200">
                <a:solidFill>
                  <a:srgbClr val="070154"/>
                </a:solidFill>
                <a:latin typeface="Arial"/>
                <a:cs typeface="Arial"/>
              </a:rPr>
              <a:t>Provide masked, production-like test data on a refresh cadence, within HIPAA and PHI rules.</a:t>
            </a:r>
          </a:p>
          <a:p>
            <a:pPr marL="228600" indent="-228600">
              <a:lnSpc>
                <a:spcPct val="108000"/>
              </a:lnSpc>
              <a:buFont typeface="+mj-lt"/>
              <a:buAutoNum type="arabicPeriod"/>
            </a:pPr>
            <a:endParaRPr lang="en-US" sz="1200">
              <a:solidFill>
                <a:srgbClr val="070154"/>
              </a:solidFill>
              <a:latin typeface="Arial"/>
              <a:cs typeface="Arial"/>
            </a:endParaRPr>
          </a:p>
          <a:p>
            <a:pPr marL="228600" indent="-228600">
              <a:lnSpc>
                <a:spcPct val="108000"/>
              </a:lnSpc>
              <a:buFont typeface="+mj-lt"/>
              <a:buAutoNum type="arabicPeriod"/>
            </a:pPr>
            <a:r>
              <a:rPr lang="en-US" sz="1200">
                <a:solidFill>
                  <a:srgbClr val="070154"/>
                </a:solidFill>
                <a:latin typeface="Arial"/>
                <a:cs typeface="Arial"/>
              </a:rPr>
              <a:t>Give engineers, including offshore teams, approved read-only access for diagnostics.</a:t>
            </a:r>
          </a:p>
        </p:txBody>
      </p:sp>
      <p:sp>
        <p:nvSpPr>
          <p:cNvPr id="9" name="Rectangle 8">
            <a:extLst>
              <a:ext uri="{FF2B5EF4-FFF2-40B4-BE49-F238E27FC236}">
                <a16:creationId xmlns:a16="http://schemas.microsoft.com/office/drawing/2014/main" id="{970FB3C9-A390-4A8C-A497-029649E61B6F}"/>
              </a:ext>
            </a:extLst>
          </p:cNvPr>
          <p:cNvSpPr>
            <a:spLocks noGrp="1"/>
          </p:cNvSpPr>
          <p:nvPr/>
        </p:nvSpPr>
        <p:spPr>
          <a:xfrm>
            <a:off x="6489700" y="1981200"/>
            <a:ext cx="2578100" cy="171450"/>
          </a:xfrm>
          <a:prstGeom prst="rect">
            <a:avLst/>
          </a:prstGeom>
          <a:noFill/>
          <a:ln w="0">
            <a:noFill/>
          </a:ln>
        </p:spPr>
        <p:txBody>
          <a:bodyPr anchor="t">
            <a:noAutofit/>
          </a:bodyPr>
          <a:lstStyle/>
          <a:p>
            <a:pPr>
              <a:lnSpc>
                <a:spcPct val="108000"/>
              </a:lnSpc>
              <a:buNone/>
              <a:defRPr sz="750" b="1" i="0">
                <a:solidFill>
                  <a:srgbClr val="00A3FF"/>
                </a:solidFill>
                <a:latin typeface="Arial"/>
                <a:ea typeface="Arial"/>
                <a:cs typeface="Arial"/>
              </a:defRPr>
            </a:pPr>
            <a:r>
              <a:rPr sz="1100" b="1" i="0">
                <a:solidFill>
                  <a:srgbClr val="00A3FF"/>
                </a:solidFill>
                <a:latin typeface="Arial"/>
                <a:ea typeface="Arial"/>
                <a:cs typeface="Arial"/>
              </a:rPr>
              <a:t>HOW TO ACTIVATE IT</a:t>
            </a:r>
          </a:p>
        </p:txBody>
      </p:sp>
      <p:sp>
        <p:nvSpPr>
          <p:cNvPr id="10" name="Rectangle 9">
            <a:extLst>
              <a:ext uri="{FF2B5EF4-FFF2-40B4-BE49-F238E27FC236}">
                <a16:creationId xmlns:a16="http://schemas.microsoft.com/office/drawing/2014/main" id="{CAF51253-E50B-4367-B5D2-0A4E54025DC2}"/>
              </a:ext>
            </a:extLst>
          </p:cNvPr>
          <p:cNvSpPr>
            <a:spLocks noGrp="1"/>
          </p:cNvSpPr>
          <p:nvPr/>
        </p:nvSpPr>
        <p:spPr>
          <a:xfrm>
            <a:off x="6438900" y="2381250"/>
            <a:ext cx="4953000" cy="2095500"/>
          </a:xfrm>
          <a:prstGeom prst="rect">
            <a:avLst/>
          </a:prstGeom>
          <a:noFill/>
          <a:ln w="0">
            <a:noFill/>
          </a:ln>
        </p:spPr>
        <p:txBody>
          <a:bodyPr anchor="t">
            <a:normAutofit/>
          </a:bodyPr>
          <a:lstStyle/>
          <a:p>
            <a:pPr marL="342900" indent="-342900">
              <a:lnSpc>
                <a:spcPct val="108000"/>
              </a:lnSpc>
              <a:buFont typeface="+mj-lt"/>
              <a:buAutoNum type="arabicPeriod"/>
            </a:pPr>
            <a:r>
              <a:rPr lang="en-US" sz="1200">
                <a:solidFill>
                  <a:srgbClr val="FFFFFF"/>
                </a:solidFill>
                <a:cs typeface="Arial"/>
              </a:rPr>
              <a:t>Now (Reconcile AI and Rules Engine): log who waits for access and test data, for what, and for how long.</a:t>
            </a:r>
          </a:p>
          <a:p>
            <a:pPr marL="342900" indent="-342900">
              <a:lnSpc>
                <a:spcPct val="108000"/>
              </a:lnSpc>
              <a:buFont typeface="+mj-lt"/>
              <a:buAutoNum type="arabicPeriod"/>
            </a:pPr>
            <a:endParaRPr lang="en-US" sz="1200">
              <a:solidFill>
                <a:srgbClr val="FFFFFF"/>
              </a:solidFill>
              <a:cs typeface="Arial"/>
            </a:endParaRPr>
          </a:p>
          <a:p>
            <a:pPr marL="342900" indent="-342900">
              <a:lnSpc>
                <a:spcPct val="108000"/>
              </a:lnSpc>
              <a:buFont typeface="+mj-lt"/>
              <a:buAutoNum type="arabicPeriod"/>
            </a:pPr>
            <a:r>
              <a:rPr lang="en-US" sz="1200">
                <a:solidFill>
                  <a:srgbClr val="FFFFFF"/>
                </a:solidFill>
                <a:cs typeface="Arial"/>
              </a:rPr>
              <a:t>Next: masked, production-like data for Recon and a read-only diagnostic access path.</a:t>
            </a:r>
          </a:p>
          <a:p>
            <a:pPr marL="342900" indent="-342900">
              <a:lnSpc>
                <a:spcPct val="108000"/>
              </a:lnSpc>
              <a:buFont typeface="+mj-lt"/>
              <a:buAutoNum type="arabicPeriod"/>
            </a:pPr>
            <a:endParaRPr lang="en-US" sz="1200">
              <a:solidFill>
                <a:srgbClr val="FFFFFF"/>
              </a:solidFill>
              <a:cs typeface="Arial"/>
            </a:endParaRPr>
          </a:p>
          <a:p>
            <a:pPr marL="342900" indent="-342900">
              <a:lnSpc>
                <a:spcPct val="108000"/>
              </a:lnSpc>
              <a:buFont typeface="+mj-lt"/>
              <a:buAutoNum type="arabicPeriod"/>
            </a:pPr>
            <a:r>
              <a:rPr lang="en-US" sz="1200">
                <a:solidFill>
                  <a:srgbClr val="FFFFFF"/>
                </a:solidFill>
                <a:cs typeface="Arial"/>
              </a:rPr>
              <a:t>Future: self-service environments and access provisioning on every pod.</a:t>
            </a:r>
          </a:p>
        </p:txBody>
      </p:sp>
      <p:sp>
        <p:nvSpPr>
          <p:cNvPr id="11" name="Rectangle 10">
            <a:extLst>
              <a:ext uri="{FF2B5EF4-FFF2-40B4-BE49-F238E27FC236}">
                <a16:creationId xmlns:a16="http://schemas.microsoft.com/office/drawing/2014/main" id="{68A742DC-C7BF-4F91-9946-CB95D36514C9}"/>
              </a:ext>
            </a:extLst>
          </p:cNvPr>
          <p:cNvSpPr>
            <a:spLocks noGrp="1"/>
          </p:cNvSpPr>
          <p:nvPr/>
        </p:nvSpPr>
        <p:spPr>
          <a:xfrm>
            <a:off x="457200" y="5124450"/>
            <a:ext cx="11277600" cy="590550"/>
          </a:xfrm>
          <a:prstGeom prst="rect">
            <a:avLst/>
          </a:prstGeom>
          <a:solidFill>
            <a:srgbClr val="0047FF"/>
          </a:solidFill>
          <a:ln w="0">
            <a:noFill/>
          </a:ln>
        </p:spPr>
        <p:txBody>
          <a:bodyPr/>
          <a:lstStyle/>
          <a:p>
            <a:endParaRPr lang="en-US"/>
          </a:p>
        </p:txBody>
      </p:sp>
      <p:sp>
        <p:nvSpPr>
          <p:cNvPr id="12" name="Rectangle 11">
            <a:extLst>
              <a:ext uri="{FF2B5EF4-FFF2-40B4-BE49-F238E27FC236}">
                <a16:creationId xmlns:a16="http://schemas.microsoft.com/office/drawing/2014/main" id="{5D7D3234-F1D2-4621-BF90-199527C1439F}"/>
              </a:ext>
            </a:extLst>
          </p:cNvPr>
          <p:cNvSpPr>
            <a:spLocks noGrp="1"/>
          </p:cNvSpPr>
          <p:nvPr/>
        </p:nvSpPr>
        <p:spPr>
          <a:xfrm>
            <a:off x="697523" y="5207000"/>
            <a:ext cx="11007968" cy="496276"/>
          </a:xfrm>
          <a:prstGeom prst="rect">
            <a:avLst/>
          </a:prstGeom>
          <a:noFill/>
          <a:ln w="0">
            <a:noFill/>
          </a:ln>
        </p:spPr>
        <p:txBody>
          <a:bodyPr lIns="91440" tIns="45720" rIns="91440" bIns="45720" anchor="t">
            <a:noAutofit/>
          </a:bodyPr>
          <a:lstStyle/>
          <a:p>
            <a:pPr>
              <a:lnSpc>
                <a:spcPct val="108000"/>
              </a:lnSpc>
              <a:defRPr sz="1050" b="1" i="0">
                <a:solidFill>
                  <a:srgbClr val="FFFFFF"/>
                </a:solidFill>
                <a:latin typeface="Arial"/>
                <a:ea typeface="Arial"/>
                <a:cs typeface="Arial"/>
              </a:defRPr>
            </a:pPr>
            <a:r>
              <a:rPr lang="en-US" sz="1100" b="1">
                <a:solidFill>
                  <a:srgbClr val="FFFFFF"/>
                </a:solidFill>
                <a:latin typeface="Arial"/>
                <a:ea typeface="Arial"/>
                <a:cs typeface="Arial"/>
              </a:rPr>
              <a:t>Owner: DevOps/Infrastructure + Security | Dependency: data masking approach, security review, environment capacity | Measure: wait time for access and test data</a:t>
            </a:r>
            <a:endParaRPr lang="en-US" sz="1100"/>
          </a:p>
        </p:txBody>
      </p:sp>
      <p:sp>
        <p:nvSpPr>
          <p:cNvPr id="16" name="RecAccentBarLeft">
            <a:extLst>
              <a:ext uri="{FF2B5EF4-FFF2-40B4-BE49-F238E27FC236}">
                <a16:creationId xmlns:a16="http://schemas.microsoft.com/office/drawing/2014/main" id="{DC75A6D6-B75B-0B4B-8C43-95B346D65699}"/>
              </a:ext>
            </a:extLst>
          </p:cNvPr>
          <p:cNvSpPr/>
          <p:nvPr/>
        </p:nvSpPr>
        <p:spPr>
          <a:xfrm>
            <a:off x="457200" y="1752600"/>
            <a:ext cx="5334000" cy="635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AccentBarRight">
            <a:extLst>
              <a:ext uri="{FF2B5EF4-FFF2-40B4-BE49-F238E27FC236}">
                <a16:creationId xmlns:a16="http://schemas.microsoft.com/office/drawing/2014/main" id="{D83F10E9-33D7-AA49-815C-194CB0F147CD}"/>
              </a:ext>
            </a:extLst>
          </p:cNvPr>
          <p:cNvSpPr/>
          <p:nvPr/>
        </p:nvSpPr>
        <p:spPr>
          <a:xfrm>
            <a:off x="6210300" y="1752600"/>
            <a:ext cx="5524500" cy="63500"/>
          </a:xfrm>
          <a:prstGeom prst="rect">
            <a:avLst/>
          </a:prstGeom>
          <a:solidFill>
            <a:srgbClr val="F900D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18" name="Graphic 14" descr="What should be done">
            <a:extLst>
              <a:ext uri="{FF2B5EF4-FFF2-40B4-BE49-F238E27FC236}">
                <a16:creationId xmlns:a16="http://schemas.microsoft.com/office/drawing/2014/main" id="{48997731-74A8-D582-269D-061636CE19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504" y="1879600"/>
            <a:ext cx="304800" cy="304800"/>
          </a:xfrm>
          <a:prstGeom prst="rect">
            <a:avLst/>
          </a:prstGeom>
        </p:spPr>
      </p:pic>
      <p:pic>
        <p:nvPicPr>
          <p:cNvPr id="19" name="Graphic 15" descr="How to activate it">
            <a:extLst>
              <a:ext uri="{FF2B5EF4-FFF2-40B4-BE49-F238E27FC236}">
                <a16:creationId xmlns:a16="http://schemas.microsoft.com/office/drawing/2014/main" id="{8A274387-E6D8-A83D-4F3C-7884ED76DFC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4656" y="1879600"/>
            <a:ext cx="304800" cy="304800"/>
          </a:xfrm>
          <a:prstGeom prst="rect">
            <a:avLst/>
          </a:prstGeom>
        </p:spPr>
      </p:pic>
    </p:spTree>
    <p:extLst>
      <p:ext uri="{BB962C8B-B14F-4D97-AF65-F5344CB8AC3E}">
        <p14:creationId xmlns:p14="http://schemas.microsoft.com/office/powerpoint/2010/main" val="38959747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lang="en-US" sz="2325" b="1">
                <a:solidFill>
                  <a:srgbClr val="070154"/>
                </a:solidFill>
                <a:latin typeface="Arial"/>
                <a:ea typeface="Arial"/>
                <a:cs typeface="Arial"/>
              </a:rPr>
              <a:t>Delivery measurement</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See how work moves from commit to production, across internal and vendor teams.</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ENGINEERING E4</a:t>
            </a:r>
          </a:p>
        </p:txBody>
      </p:sp>
      <p:sp>
        <p:nvSpPr>
          <p:cNvPr id="5" name="Rectangle 4">
            <a:extLst>
              <a:ext uri="{FF2B5EF4-FFF2-40B4-BE49-F238E27FC236}">
                <a16:creationId xmlns:a16="http://schemas.microsoft.com/office/drawing/2014/main" id="{94188F07-083F-427D-B3CE-F37C5204C52E}"/>
              </a:ext>
            </a:extLst>
          </p:cNvPr>
          <p:cNvSpPr>
            <a:spLocks noGrp="1"/>
          </p:cNvSpPr>
          <p:nvPr/>
        </p:nvSpPr>
        <p:spPr>
          <a:xfrm>
            <a:off x="457200" y="1752600"/>
            <a:ext cx="5334000" cy="3143250"/>
          </a:xfrm>
          <a:prstGeom prst="rect">
            <a:avLst/>
          </a:prstGeom>
          <a:solidFill>
            <a:srgbClr val="E8EEF8"/>
          </a:solidFill>
          <a:ln w="9525">
            <a:solidFill>
              <a:srgbClr val="CED7E6"/>
            </a:solidFill>
          </a:ln>
        </p:spPr>
        <p:txBody>
          <a:bodyPr/>
          <a:lstStyle/>
          <a:p>
            <a:endParaRPr lang="en-US"/>
          </a:p>
        </p:txBody>
      </p:sp>
      <p:sp>
        <p:nvSpPr>
          <p:cNvPr id="6" name="Rectangle 5">
            <a:extLst>
              <a:ext uri="{FF2B5EF4-FFF2-40B4-BE49-F238E27FC236}">
                <a16:creationId xmlns:a16="http://schemas.microsoft.com/office/drawing/2014/main" id="{49242DB0-A823-45AE-8BE4-19F564138E4B}"/>
              </a:ext>
            </a:extLst>
          </p:cNvPr>
          <p:cNvSpPr>
            <a:spLocks noGrp="1"/>
          </p:cNvSpPr>
          <p:nvPr/>
        </p:nvSpPr>
        <p:spPr>
          <a:xfrm>
            <a:off x="6210300" y="1752600"/>
            <a:ext cx="5524500" cy="3143250"/>
          </a:xfrm>
          <a:prstGeom prst="rect">
            <a:avLst/>
          </a:prstGeom>
          <a:solidFill>
            <a:srgbClr val="070154"/>
          </a:solidFill>
          <a:ln w="9525">
            <a:solidFill>
              <a:srgbClr val="0047FF"/>
            </a:solidFill>
          </a:ln>
        </p:spPr>
        <p:txBody>
          <a:bodyPr/>
          <a:lstStyle/>
          <a:p>
            <a:endParaRPr lang="en-US"/>
          </a:p>
        </p:txBody>
      </p:sp>
      <p:sp>
        <p:nvSpPr>
          <p:cNvPr id="7" name="Rectangle 6">
            <a:extLst>
              <a:ext uri="{FF2B5EF4-FFF2-40B4-BE49-F238E27FC236}">
                <a16:creationId xmlns:a16="http://schemas.microsoft.com/office/drawing/2014/main" id="{3764CA55-46F1-47F4-AB01-A011345A0419}"/>
              </a:ext>
            </a:extLst>
          </p:cNvPr>
          <p:cNvSpPr>
            <a:spLocks noGrp="1"/>
          </p:cNvSpPr>
          <p:nvPr/>
        </p:nvSpPr>
        <p:spPr>
          <a:xfrm>
            <a:off x="736600" y="1981200"/>
            <a:ext cx="25781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WHAT SHOULD BE DONE</a:t>
            </a:r>
          </a:p>
        </p:txBody>
      </p:sp>
      <p:sp>
        <p:nvSpPr>
          <p:cNvPr id="8" name="Rectangle 7">
            <a:extLst>
              <a:ext uri="{FF2B5EF4-FFF2-40B4-BE49-F238E27FC236}">
                <a16:creationId xmlns:a16="http://schemas.microsoft.com/office/drawing/2014/main" id="{94FD9CD8-E1B8-4193-A0A3-E5C0232ACAFD}"/>
              </a:ext>
            </a:extLst>
          </p:cNvPr>
          <p:cNvSpPr>
            <a:spLocks noGrp="1"/>
          </p:cNvSpPr>
          <p:nvPr/>
        </p:nvSpPr>
        <p:spPr>
          <a:xfrm>
            <a:off x="685800" y="2381250"/>
            <a:ext cx="4762500" cy="2095500"/>
          </a:xfrm>
          <a:prstGeom prst="rect">
            <a:avLst/>
          </a:prstGeom>
          <a:noFill/>
          <a:ln w="0">
            <a:noFill/>
          </a:ln>
        </p:spPr>
        <p:txBody>
          <a:bodyPr lIns="91440" tIns="45720" rIns="91440" bIns="45720" anchor="t">
            <a:normAutofit/>
          </a:bodyPr>
          <a:lstStyle/>
          <a:p>
            <a:pPr marL="228600" indent="-228600">
              <a:lnSpc>
                <a:spcPct val="108000"/>
              </a:lnSpc>
              <a:buFont typeface="+mj-lt"/>
              <a:buAutoNum type="arabicPeriod"/>
            </a:pPr>
            <a:r>
              <a:rPr lang="en-US" sz="1200">
                <a:solidFill>
                  <a:srgbClr val="070154"/>
                </a:solidFill>
                <a:latin typeface="Arial"/>
                <a:cs typeface="Arial"/>
              </a:rPr>
              <a:t>Agree a small set of release and flow measures that every platform reports the same way.</a:t>
            </a:r>
          </a:p>
          <a:p>
            <a:pPr marL="228600" indent="-228600">
              <a:lnSpc>
                <a:spcPct val="108000"/>
              </a:lnSpc>
              <a:buFont typeface="+mj-lt"/>
              <a:buAutoNum type="arabicPeriod"/>
            </a:pPr>
            <a:endParaRPr lang="en-US" sz="1200">
              <a:solidFill>
                <a:srgbClr val="070154"/>
              </a:solidFill>
              <a:latin typeface="Arial"/>
              <a:cs typeface="Arial"/>
            </a:endParaRPr>
          </a:p>
          <a:p>
            <a:pPr marL="228600" indent="-228600">
              <a:lnSpc>
                <a:spcPct val="108000"/>
              </a:lnSpc>
              <a:buFont typeface="+mj-lt"/>
              <a:buAutoNum type="arabicPeriod"/>
            </a:pPr>
            <a:r>
              <a:rPr lang="en-US" sz="1200">
                <a:solidFill>
                  <a:srgbClr val="070154"/>
                </a:solidFill>
                <a:latin typeface="Arial"/>
                <a:cs typeface="Arial"/>
              </a:rPr>
              <a:t>Build them from data that already exists: the release calendar and Jira.</a:t>
            </a:r>
          </a:p>
          <a:p>
            <a:pPr marL="228600" indent="-228600">
              <a:lnSpc>
                <a:spcPct val="108000"/>
              </a:lnSpc>
              <a:buFont typeface="+mj-lt"/>
              <a:buAutoNum type="arabicPeriod"/>
            </a:pPr>
            <a:endParaRPr lang="en-US" sz="1200">
              <a:solidFill>
                <a:srgbClr val="070154"/>
              </a:solidFill>
              <a:latin typeface="Arial"/>
              <a:cs typeface="Arial"/>
            </a:endParaRPr>
          </a:p>
          <a:p>
            <a:pPr marL="228600" indent="-228600">
              <a:lnSpc>
                <a:spcPct val="108000"/>
              </a:lnSpc>
              <a:buFont typeface="+mj-lt"/>
              <a:buAutoNum type="arabicPeriod"/>
            </a:pPr>
            <a:r>
              <a:rPr lang="en-US" sz="1200">
                <a:solidFill>
                  <a:srgbClr val="070154"/>
                </a:solidFill>
                <a:latin typeface="Arial"/>
                <a:cs typeface="Arial"/>
              </a:rPr>
              <a:t>Include the offshore vendor team in the same view, measured on delivery rather than headcount.</a:t>
            </a:r>
          </a:p>
        </p:txBody>
      </p:sp>
      <p:sp>
        <p:nvSpPr>
          <p:cNvPr id="9" name="Rectangle 8">
            <a:extLst>
              <a:ext uri="{FF2B5EF4-FFF2-40B4-BE49-F238E27FC236}">
                <a16:creationId xmlns:a16="http://schemas.microsoft.com/office/drawing/2014/main" id="{970FB3C9-A390-4A8C-A497-029649E61B6F}"/>
              </a:ext>
            </a:extLst>
          </p:cNvPr>
          <p:cNvSpPr>
            <a:spLocks noGrp="1"/>
          </p:cNvSpPr>
          <p:nvPr/>
        </p:nvSpPr>
        <p:spPr>
          <a:xfrm>
            <a:off x="6489700" y="1981200"/>
            <a:ext cx="2578100" cy="171450"/>
          </a:xfrm>
          <a:prstGeom prst="rect">
            <a:avLst/>
          </a:prstGeom>
          <a:noFill/>
          <a:ln w="0">
            <a:noFill/>
          </a:ln>
        </p:spPr>
        <p:txBody>
          <a:bodyPr anchor="t">
            <a:noAutofit/>
          </a:bodyPr>
          <a:lstStyle/>
          <a:p>
            <a:pPr>
              <a:lnSpc>
                <a:spcPct val="108000"/>
              </a:lnSpc>
              <a:buNone/>
              <a:defRPr sz="750" b="1" i="0">
                <a:solidFill>
                  <a:srgbClr val="00A3FF"/>
                </a:solidFill>
                <a:latin typeface="Arial"/>
                <a:ea typeface="Arial"/>
                <a:cs typeface="Arial"/>
              </a:defRPr>
            </a:pPr>
            <a:r>
              <a:rPr sz="1100" b="1" i="0">
                <a:solidFill>
                  <a:srgbClr val="00A3FF"/>
                </a:solidFill>
                <a:latin typeface="Arial"/>
                <a:ea typeface="Arial"/>
                <a:cs typeface="Arial"/>
              </a:rPr>
              <a:t>HOW TO ACTIVATE IT</a:t>
            </a:r>
          </a:p>
        </p:txBody>
      </p:sp>
      <p:sp>
        <p:nvSpPr>
          <p:cNvPr id="10" name="Rectangle 9">
            <a:extLst>
              <a:ext uri="{FF2B5EF4-FFF2-40B4-BE49-F238E27FC236}">
                <a16:creationId xmlns:a16="http://schemas.microsoft.com/office/drawing/2014/main" id="{CAF51253-E50B-4367-B5D2-0A4E54025DC2}"/>
              </a:ext>
            </a:extLst>
          </p:cNvPr>
          <p:cNvSpPr>
            <a:spLocks noGrp="1"/>
          </p:cNvSpPr>
          <p:nvPr/>
        </p:nvSpPr>
        <p:spPr>
          <a:xfrm>
            <a:off x="6438900" y="2381250"/>
            <a:ext cx="4953000" cy="2095500"/>
          </a:xfrm>
          <a:prstGeom prst="rect">
            <a:avLst/>
          </a:prstGeom>
          <a:noFill/>
          <a:ln w="0">
            <a:noFill/>
          </a:ln>
        </p:spPr>
        <p:txBody>
          <a:bodyPr anchor="t">
            <a:normAutofit/>
          </a:bodyPr>
          <a:lstStyle/>
          <a:p>
            <a:pPr marL="342900" indent="-342900">
              <a:lnSpc>
                <a:spcPct val="108000"/>
              </a:lnSpc>
              <a:buFont typeface="+mj-lt"/>
              <a:buAutoNum type="arabicPeriod"/>
            </a:pPr>
            <a:r>
              <a:rPr lang="en-US" sz="1200">
                <a:solidFill>
                  <a:srgbClr val="FFFFFF"/>
                </a:solidFill>
                <a:cs typeface="Arial"/>
              </a:rPr>
              <a:t>Now (Core and Reconcile AI): baseline release frequency, lead time, change failure rate, and time to restore.</a:t>
            </a:r>
          </a:p>
          <a:p>
            <a:pPr marL="342900" indent="-342900">
              <a:lnSpc>
                <a:spcPct val="108000"/>
              </a:lnSpc>
              <a:buFont typeface="+mj-lt"/>
              <a:buAutoNum type="arabicPeriod"/>
            </a:pPr>
            <a:endParaRPr lang="en-US" sz="1200">
              <a:solidFill>
                <a:srgbClr val="FFFFFF"/>
              </a:solidFill>
              <a:cs typeface="Arial"/>
            </a:endParaRPr>
          </a:p>
          <a:p>
            <a:pPr marL="342900" indent="-342900">
              <a:lnSpc>
                <a:spcPct val="108000"/>
              </a:lnSpc>
              <a:buFont typeface="+mj-lt"/>
              <a:buAutoNum type="arabicPeriod"/>
            </a:pPr>
            <a:r>
              <a:rPr lang="en-US" sz="1200">
                <a:solidFill>
                  <a:srgbClr val="FFFFFF"/>
                </a:solidFill>
                <a:cs typeface="Arial"/>
              </a:rPr>
              <a:t>Next: turn on Recon's proposed flow metrics and publish one monthly delivery view.</a:t>
            </a:r>
          </a:p>
          <a:p>
            <a:pPr marL="342900" indent="-342900">
              <a:lnSpc>
                <a:spcPct val="108000"/>
              </a:lnSpc>
              <a:buFont typeface="+mj-lt"/>
              <a:buAutoNum type="arabicPeriod"/>
            </a:pPr>
            <a:endParaRPr lang="en-US" sz="1200">
              <a:solidFill>
                <a:srgbClr val="FFFFFF"/>
              </a:solidFill>
              <a:cs typeface="Arial"/>
            </a:endParaRPr>
          </a:p>
          <a:p>
            <a:pPr marL="342900" indent="-342900">
              <a:lnSpc>
                <a:spcPct val="108000"/>
              </a:lnSpc>
              <a:buFont typeface="+mj-lt"/>
              <a:buAutoNum type="arabicPeriod"/>
            </a:pPr>
            <a:r>
              <a:rPr lang="en-US" sz="1200">
                <a:solidFill>
                  <a:srgbClr val="FFFFFF"/>
                </a:solidFill>
                <a:cs typeface="Arial"/>
              </a:rPr>
              <a:t>Future: the measures inform prioritization and portfolio decisions.</a:t>
            </a:r>
          </a:p>
        </p:txBody>
      </p:sp>
      <p:sp>
        <p:nvSpPr>
          <p:cNvPr id="11" name="Rectangle 10">
            <a:extLst>
              <a:ext uri="{FF2B5EF4-FFF2-40B4-BE49-F238E27FC236}">
                <a16:creationId xmlns:a16="http://schemas.microsoft.com/office/drawing/2014/main" id="{68A742DC-C7BF-4F91-9946-CB95D36514C9}"/>
              </a:ext>
            </a:extLst>
          </p:cNvPr>
          <p:cNvSpPr>
            <a:spLocks noGrp="1"/>
          </p:cNvSpPr>
          <p:nvPr/>
        </p:nvSpPr>
        <p:spPr>
          <a:xfrm>
            <a:off x="457200" y="5124450"/>
            <a:ext cx="11277600" cy="590550"/>
          </a:xfrm>
          <a:prstGeom prst="rect">
            <a:avLst/>
          </a:prstGeom>
          <a:solidFill>
            <a:srgbClr val="0047FF"/>
          </a:solidFill>
          <a:ln w="0">
            <a:noFill/>
          </a:ln>
        </p:spPr>
        <p:txBody>
          <a:bodyPr/>
          <a:lstStyle/>
          <a:p>
            <a:endParaRPr lang="en-US"/>
          </a:p>
        </p:txBody>
      </p:sp>
      <p:sp>
        <p:nvSpPr>
          <p:cNvPr id="12" name="Rectangle 11">
            <a:extLst>
              <a:ext uri="{FF2B5EF4-FFF2-40B4-BE49-F238E27FC236}">
                <a16:creationId xmlns:a16="http://schemas.microsoft.com/office/drawing/2014/main" id="{5D7D3234-F1D2-4621-BF90-199527C1439F}"/>
              </a:ext>
            </a:extLst>
          </p:cNvPr>
          <p:cNvSpPr>
            <a:spLocks noGrp="1"/>
          </p:cNvSpPr>
          <p:nvPr/>
        </p:nvSpPr>
        <p:spPr>
          <a:xfrm>
            <a:off x="697523" y="5207000"/>
            <a:ext cx="11007968" cy="496276"/>
          </a:xfrm>
          <a:prstGeom prst="rect">
            <a:avLst/>
          </a:prstGeom>
          <a:noFill/>
          <a:ln w="0">
            <a:noFill/>
          </a:ln>
        </p:spPr>
        <p:txBody>
          <a:bodyPr lIns="91440" tIns="45720" rIns="91440" bIns="45720" anchor="t">
            <a:noAutofit/>
          </a:bodyPr>
          <a:lstStyle/>
          <a:p>
            <a:pPr>
              <a:lnSpc>
                <a:spcPct val="108000"/>
              </a:lnSpc>
              <a:defRPr sz="1050" b="1" i="0">
                <a:solidFill>
                  <a:srgbClr val="FFFFFF"/>
                </a:solidFill>
                <a:latin typeface="Arial"/>
                <a:ea typeface="Arial"/>
                <a:cs typeface="Arial"/>
              </a:defRPr>
            </a:pPr>
            <a:r>
              <a:rPr lang="en-US" sz="1100" b="1">
                <a:solidFill>
                  <a:srgbClr val="FFFFFF"/>
                </a:solidFill>
                <a:latin typeface="Arial"/>
                <a:ea typeface="Arial"/>
                <a:cs typeface="Arial"/>
              </a:rPr>
              <a:t>Owner: Engineering leadership | Dependency: Jira hygiene, release calendar, data access | Measure: teams with live measures, and the trend in lead time and change failure rate</a:t>
            </a:r>
            <a:endParaRPr lang="en-US" sz="1100"/>
          </a:p>
        </p:txBody>
      </p:sp>
      <p:sp>
        <p:nvSpPr>
          <p:cNvPr id="16" name="RecAccentBarLeft">
            <a:extLst>
              <a:ext uri="{FF2B5EF4-FFF2-40B4-BE49-F238E27FC236}">
                <a16:creationId xmlns:a16="http://schemas.microsoft.com/office/drawing/2014/main" id="{DC75A6D6-B75B-0B4B-8C43-95B346D65699}"/>
              </a:ext>
            </a:extLst>
          </p:cNvPr>
          <p:cNvSpPr/>
          <p:nvPr/>
        </p:nvSpPr>
        <p:spPr>
          <a:xfrm>
            <a:off x="457200" y="1752600"/>
            <a:ext cx="5334000" cy="635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AccentBarRight">
            <a:extLst>
              <a:ext uri="{FF2B5EF4-FFF2-40B4-BE49-F238E27FC236}">
                <a16:creationId xmlns:a16="http://schemas.microsoft.com/office/drawing/2014/main" id="{D83F10E9-33D7-AA49-815C-194CB0F147CD}"/>
              </a:ext>
            </a:extLst>
          </p:cNvPr>
          <p:cNvSpPr/>
          <p:nvPr/>
        </p:nvSpPr>
        <p:spPr>
          <a:xfrm>
            <a:off x="6210300" y="1752600"/>
            <a:ext cx="5524500" cy="63500"/>
          </a:xfrm>
          <a:prstGeom prst="rect">
            <a:avLst/>
          </a:prstGeom>
          <a:solidFill>
            <a:srgbClr val="F900D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18" name="Graphic 14" descr="What should be done">
            <a:extLst>
              <a:ext uri="{FF2B5EF4-FFF2-40B4-BE49-F238E27FC236}">
                <a16:creationId xmlns:a16="http://schemas.microsoft.com/office/drawing/2014/main" id="{48997731-74A8-D582-269D-061636CE19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504" y="1879600"/>
            <a:ext cx="304800" cy="304800"/>
          </a:xfrm>
          <a:prstGeom prst="rect">
            <a:avLst/>
          </a:prstGeom>
        </p:spPr>
      </p:pic>
      <p:pic>
        <p:nvPicPr>
          <p:cNvPr id="19" name="Graphic 15" descr="How to activate it">
            <a:extLst>
              <a:ext uri="{FF2B5EF4-FFF2-40B4-BE49-F238E27FC236}">
                <a16:creationId xmlns:a16="http://schemas.microsoft.com/office/drawing/2014/main" id="{8A274387-E6D8-A83D-4F3C-7884ED76DFC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4656" y="1879600"/>
            <a:ext cx="304800" cy="304800"/>
          </a:xfrm>
          <a:prstGeom prst="rect">
            <a:avLst/>
          </a:prstGeom>
        </p:spPr>
      </p:pic>
    </p:spTree>
    <p:extLst>
      <p:ext uri="{BB962C8B-B14F-4D97-AF65-F5344CB8AC3E}">
        <p14:creationId xmlns:p14="http://schemas.microsoft.com/office/powerpoint/2010/main" val="36855385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3463E483-B13E-4A2B-8266-E71AAB6C0ABE}"/>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Activation Roadmap: product track</a:t>
            </a:r>
          </a:p>
        </p:txBody>
      </p:sp>
      <p:sp>
        <p:nvSpPr>
          <p:cNvPr id="3" name="Rectangle 2">
            <a:extLst>
              <a:ext uri="{FF2B5EF4-FFF2-40B4-BE49-F238E27FC236}">
                <a16:creationId xmlns:a16="http://schemas.microsoft.com/office/drawing/2014/main" id="{D0F01DD5-2123-4688-A06C-752A440A91FB}"/>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Sequence the product recommendations into now and next actions with owners and dependencies.</a:t>
            </a:r>
          </a:p>
        </p:txBody>
      </p:sp>
      <p:sp>
        <p:nvSpPr>
          <p:cNvPr id="4" name="Rectangle 3">
            <a:extLst>
              <a:ext uri="{FF2B5EF4-FFF2-40B4-BE49-F238E27FC236}">
                <a16:creationId xmlns:a16="http://schemas.microsoft.com/office/drawing/2014/main" id="{EC59A378-E705-4CDF-BEA5-A15E1D3C9031}"/>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03</a:t>
            </a:r>
          </a:p>
        </p:txBody>
      </p:sp>
      <p:graphicFrame>
        <p:nvGraphicFramePr>
          <p:cNvPr id="11" name="Table 10"/>
          <p:cNvGraphicFramePr/>
          <p:nvPr/>
        </p:nvGraphicFramePr>
        <p:xfrm>
          <a:off x="457200" y="1714500"/>
          <a:ext cx="11277600" cy="3184074"/>
        </p:xfrm>
        <a:graphic>
          <a:graphicData uri="http://schemas.openxmlformats.org/drawingml/2006/table">
            <a:tbl>
              <a:tblPr/>
              <a:tblGrid>
                <a:gridCol w="1879600">
                  <a:extLst>
                    <a:ext uri="{9D8B030D-6E8A-4147-A177-3AD203B41FA5}">
                      <a16:colId xmlns:a16="http://schemas.microsoft.com/office/drawing/2014/main" val="20000"/>
                    </a:ext>
                  </a:extLst>
                </a:gridCol>
                <a:gridCol w="1879600">
                  <a:extLst>
                    <a:ext uri="{9D8B030D-6E8A-4147-A177-3AD203B41FA5}">
                      <a16:colId xmlns:a16="http://schemas.microsoft.com/office/drawing/2014/main" val="20001"/>
                    </a:ext>
                  </a:extLst>
                </a:gridCol>
                <a:gridCol w="1879600">
                  <a:extLst>
                    <a:ext uri="{9D8B030D-6E8A-4147-A177-3AD203B41FA5}">
                      <a16:colId xmlns:a16="http://schemas.microsoft.com/office/drawing/2014/main" val="20002"/>
                    </a:ext>
                  </a:extLst>
                </a:gridCol>
                <a:gridCol w="1879600">
                  <a:extLst>
                    <a:ext uri="{9D8B030D-6E8A-4147-A177-3AD203B41FA5}">
                      <a16:colId xmlns:a16="http://schemas.microsoft.com/office/drawing/2014/main" val="20003"/>
                    </a:ext>
                  </a:extLst>
                </a:gridCol>
                <a:gridCol w="1879600">
                  <a:extLst>
                    <a:ext uri="{9D8B030D-6E8A-4147-A177-3AD203B41FA5}">
                      <a16:colId xmlns:a16="http://schemas.microsoft.com/office/drawing/2014/main" val="20004"/>
                    </a:ext>
                  </a:extLst>
                </a:gridCol>
                <a:gridCol w="1879600">
                  <a:extLst>
                    <a:ext uri="{9D8B030D-6E8A-4147-A177-3AD203B41FA5}">
                      <a16:colId xmlns:a16="http://schemas.microsoft.com/office/drawing/2014/main" val="20005"/>
                    </a:ext>
                  </a:extLst>
                </a:gridCol>
              </a:tblGrid>
              <a:tr h="530679">
                <a:tc>
                  <a:txBody>
                    <a:bodyPr/>
                    <a:lstStyle/>
                    <a:p>
                      <a:pPr>
                        <a:lnSpc>
                          <a:spcPct val="102000"/>
                        </a:lnSpc>
                        <a:buNone/>
                      </a:pPr>
                      <a:r>
                        <a:rPr sz="975" b="1">
                          <a:solidFill>
                            <a:srgbClr val="FFFFFF"/>
                          </a:solidFill>
                          <a:latin typeface="Arial"/>
                          <a:ea typeface="Arial"/>
                          <a:cs typeface="Arial"/>
                        </a:rPr>
                        <a:t>Timing</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975" b="1">
                          <a:solidFill>
                            <a:srgbClr val="FFFFFF"/>
                          </a:solidFill>
                          <a:latin typeface="Arial"/>
                          <a:ea typeface="Arial"/>
                          <a:cs typeface="Arial"/>
                        </a:rPr>
                        <a:t>Recommendation</a:t>
                      </a:r>
                    </a:p>
                  </a:txBody>
                  <a:tcPr anchor="ctr">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975" b="1">
                          <a:solidFill>
                            <a:srgbClr val="FFFFFF"/>
                          </a:solidFill>
                          <a:latin typeface="Arial"/>
                          <a:ea typeface="Arial"/>
                          <a:cs typeface="Arial"/>
                        </a:rPr>
                        <a:t>First action</a:t>
                      </a:r>
                    </a:p>
                  </a:txBody>
                  <a:tcPr anchor="ctr">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975" b="1">
                          <a:solidFill>
                            <a:srgbClr val="FFFFFF"/>
                          </a:solidFill>
                          <a:latin typeface="Arial"/>
                          <a:ea typeface="Arial"/>
                          <a:cs typeface="Arial"/>
                        </a:rPr>
                        <a:t>Proposed owner</a:t>
                      </a:r>
                    </a:p>
                  </a:txBody>
                  <a:tcPr anchor="ctr">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975" b="1">
                          <a:solidFill>
                            <a:srgbClr val="FFFFFF"/>
                          </a:solidFill>
                          <a:latin typeface="Arial"/>
                          <a:ea typeface="Arial"/>
                          <a:cs typeface="Arial"/>
                        </a:rPr>
                        <a:t>Dependency</a:t>
                      </a:r>
                    </a:p>
                  </a:txBody>
                  <a:tcPr anchor="ctr">
                    <a:lnT w="12700" cap="flat" cmpd="sng" algn="ctr">
                      <a:noFill/>
                      <a:prstDash val="solid"/>
                      <a:round/>
                      <a:headEnd type="none" w="med" len="med"/>
                      <a:tailEnd type="none" w="med" len="med"/>
                    </a:lnT>
                    <a:solidFill>
                      <a:srgbClr val="070154"/>
                    </a:solidFill>
                  </a:tcPr>
                </a:tc>
                <a:tc>
                  <a:txBody>
                    <a:bodyPr/>
                    <a:lstStyle/>
                    <a:p>
                      <a:pPr>
                        <a:lnSpc>
                          <a:spcPct val="102000"/>
                        </a:lnSpc>
                        <a:buNone/>
                      </a:pPr>
                      <a:r>
                        <a:rPr sz="975" b="1">
                          <a:solidFill>
                            <a:srgbClr val="FFFFFF"/>
                          </a:solidFill>
                          <a:latin typeface="Arial"/>
                          <a:ea typeface="Arial"/>
                          <a:cs typeface="Arial"/>
                        </a:rPr>
                        <a:t>Initial measure</a:t>
                      </a: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070154"/>
                    </a:solidFill>
                  </a:tcPr>
                </a:tc>
                <a:extLst>
                  <a:ext uri="{0D108BD9-81ED-4DB2-BD59-A6C34878D82A}">
                    <a16:rowId xmlns:a16="http://schemas.microsoft.com/office/drawing/2014/main" val="10000"/>
                  </a:ext>
                </a:extLst>
              </a:tr>
              <a:tr h="530679">
                <a:tc>
                  <a:txBody>
                    <a:bodyPr/>
                    <a:lstStyle/>
                    <a:p>
                      <a:pPr>
                        <a:lnSpc>
                          <a:spcPct val="102000"/>
                        </a:lnSpc>
                        <a:buNone/>
                      </a:pPr>
                      <a:r>
                        <a:rPr sz="900" b="0">
                          <a:solidFill>
                            <a:srgbClr val="16804D"/>
                          </a:solidFill>
                          <a:latin typeface="Arial"/>
                          <a:ea typeface="Arial"/>
                          <a:cs typeface="Arial"/>
                        </a:rPr>
                        <a:t>Now</a:t>
                      </a:r>
                    </a:p>
                  </a:txBody>
                  <a:tcPr anchor="ctr">
                    <a:lnL w="12700" cap="flat" cmpd="sng" algn="ctr">
                      <a:noFill/>
                      <a:prstDash val="solid"/>
                      <a:round/>
                      <a:headEnd type="none" w="med" len="med"/>
                      <a:tailEnd type="none" w="med" len="med"/>
                    </a:lnL>
                    <a:solidFill>
                      <a:srgbClr val="CCF2DD"/>
                    </a:solidFill>
                  </a:tcPr>
                </a:tc>
                <a:tc>
                  <a:txBody>
                    <a:bodyPr/>
                    <a:lstStyle/>
                    <a:p>
                      <a:pPr>
                        <a:lnSpc>
                          <a:spcPct val="102000"/>
                        </a:lnSpc>
                        <a:buNone/>
                      </a:pPr>
                      <a:r>
                        <a:rPr sz="900" b="0">
                          <a:solidFill>
                            <a:srgbClr val="070154"/>
                          </a:solidFill>
                          <a:latin typeface="Arial"/>
                          <a:ea typeface="Arial"/>
                          <a:cs typeface="Arial"/>
                        </a:rPr>
                        <a:t>Outcome-led prioritization</a:t>
                      </a:r>
                    </a:p>
                  </a:txBody>
                  <a:tcPr anchor="ctr">
                    <a:solidFill>
                      <a:srgbClr val="FFFFFF"/>
                    </a:solidFill>
                  </a:tcPr>
                </a:tc>
                <a:tc>
                  <a:txBody>
                    <a:bodyPr/>
                    <a:lstStyle/>
                    <a:p>
                      <a:pPr>
                        <a:lnSpc>
                          <a:spcPct val="102000"/>
                        </a:lnSpc>
                        <a:buNone/>
                      </a:pPr>
                      <a:r>
                        <a:rPr sz="900" b="0">
                          <a:solidFill>
                            <a:srgbClr val="070154"/>
                          </a:solidFill>
                          <a:latin typeface="Arial"/>
                          <a:ea typeface="Arial"/>
                          <a:cs typeface="Arial"/>
                        </a:rPr>
                        <a:t>Apply decision criteria to the next live prioritization decision.</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Product + Eng</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Decision criteria</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Predictability</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530679">
                <a:tc>
                  <a:txBody>
                    <a:bodyPr/>
                    <a:lstStyle/>
                    <a:p>
                      <a:pPr>
                        <a:lnSpc>
                          <a:spcPct val="102000"/>
                        </a:lnSpc>
                        <a:buNone/>
                      </a:pPr>
                      <a:r>
                        <a:rPr sz="900" b="0">
                          <a:solidFill>
                            <a:srgbClr val="16804D"/>
                          </a:solidFill>
                          <a:latin typeface="Arial"/>
                          <a:ea typeface="Arial"/>
                          <a:cs typeface="Arial"/>
                        </a:rPr>
                        <a:t>Now</a:t>
                      </a:r>
                    </a:p>
                  </a:txBody>
                  <a:tcPr anchor="ctr">
                    <a:lnL w="12700" cap="flat" cmpd="sng" algn="ctr">
                      <a:noFill/>
                      <a:prstDash val="solid"/>
                      <a:round/>
                      <a:headEnd type="none" w="med" len="med"/>
                      <a:tailEnd type="none" w="med" len="med"/>
                    </a:lnL>
                    <a:solidFill>
                      <a:srgbClr val="CCF2DD"/>
                    </a:solidFill>
                  </a:tcPr>
                </a:tc>
                <a:tc>
                  <a:txBody>
                    <a:bodyPr/>
                    <a:lstStyle/>
                    <a:p>
                      <a:pPr>
                        <a:lnSpc>
                          <a:spcPct val="102000"/>
                        </a:lnSpc>
                        <a:buNone/>
                      </a:pPr>
                      <a:r>
                        <a:rPr sz="900" b="0">
                          <a:solidFill>
                            <a:srgbClr val="070154"/>
                          </a:solidFill>
                          <a:latin typeface="Arial"/>
                          <a:ea typeface="Arial"/>
                          <a:cs typeface="Arial"/>
                        </a:rPr>
                        <a:t>Product management as business ownership</a:t>
                      </a:r>
                    </a:p>
                  </a:txBody>
                  <a:tcPr anchor="ctr">
                    <a:solidFill>
                      <a:srgbClr val="FFFFFF"/>
                    </a:solidFill>
                  </a:tcPr>
                </a:tc>
                <a:tc>
                  <a:txBody>
                    <a:bodyPr/>
                    <a:lstStyle/>
                    <a:p>
                      <a:pPr>
                        <a:lnSpc>
                          <a:spcPct val="102000"/>
                        </a:lnSpc>
                        <a:buNone/>
                      </a:pPr>
                      <a:r>
                        <a:rPr sz="900" b="0">
                          <a:solidFill>
                            <a:srgbClr val="070154"/>
                          </a:solidFill>
                          <a:latin typeface="Arial"/>
                          <a:ea typeface="Arial"/>
                          <a:cs typeface="Arial"/>
                        </a:rPr>
                        <a:t>Map decision rights and assign PM outcome ownership for one initiative.</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Product</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Role clarity</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Outcome learning</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530679">
                <a:tc>
                  <a:txBody>
                    <a:bodyPr/>
                    <a:lstStyle/>
                    <a:p>
                      <a:pPr>
                        <a:lnSpc>
                          <a:spcPct val="102000"/>
                        </a:lnSpc>
                        <a:buNone/>
                      </a:pPr>
                      <a:r>
                        <a:rPr sz="900" b="0">
                          <a:solidFill>
                            <a:srgbClr val="16804D"/>
                          </a:solidFill>
                          <a:latin typeface="Arial"/>
                          <a:ea typeface="Arial"/>
                          <a:cs typeface="Arial"/>
                        </a:rPr>
                        <a:t>Now</a:t>
                      </a:r>
                    </a:p>
                  </a:txBody>
                  <a:tcPr anchor="ctr">
                    <a:lnL w="12700" cap="flat" cmpd="sng" algn="ctr">
                      <a:noFill/>
                      <a:prstDash val="solid"/>
                      <a:round/>
                      <a:headEnd type="none" w="med" len="med"/>
                      <a:tailEnd type="none" w="med" len="med"/>
                    </a:lnL>
                    <a:solidFill>
                      <a:srgbClr val="CCF2DD"/>
                    </a:solidFill>
                  </a:tcPr>
                </a:tc>
                <a:tc>
                  <a:txBody>
                    <a:bodyPr/>
                    <a:lstStyle/>
                    <a:p>
                      <a:pPr>
                        <a:lnSpc>
                          <a:spcPct val="102000"/>
                        </a:lnSpc>
                        <a:buNone/>
                      </a:pPr>
                      <a:r>
                        <a:rPr sz="900" b="0">
                          <a:solidFill>
                            <a:srgbClr val="070154"/>
                          </a:solidFill>
                          <a:latin typeface="Arial"/>
                          <a:ea typeface="Arial"/>
                          <a:cs typeface="Arial"/>
                        </a:rPr>
                        <a:t>Opportunity brief to implementation path</a:t>
                      </a:r>
                    </a:p>
                  </a:txBody>
                  <a:tcPr anchor="ctr">
                    <a:solidFill>
                      <a:srgbClr val="FFFFFF"/>
                    </a:solidFill>
                  </a:tcPr>
                </a:tc>
                <a:tc>
                  <a:txBody>
                    <a:bodyPr/>
                    <a:lstStyle/>
                    <a:p>
                      <a:pPr>
                        <a:lnSpc>
                          <a:spcPct val="102000"/>
                        </a:lnSpc>
                        <a:buNone/>
                      </a:pPr>
                      <a:r>
                        <a:rPr sz="900" b="0">
                          <a:solidFill>
                            <a:srgbClr val="070154"/>
                          </a:solidFill>
                          <a:latin typeface="Arial"/>
                          <a:ea typeface="Arial"/>
                          <a:cs typeface="Arial"/>
                        </a:rPr>
                        <a:t>Run one internal signal through brief, PRD, feature brief, epic, technical design, and plan.</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Product + Eng</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Shared artifacts</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Handoff quality</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530679">
                <a:tc>
                  <a:txBody>
                    <a:bodyPr/>
                    <a:lstStyle/>
                    <a:p>
                      <a:pPr>
                        <a:lnSpc>
                          <a:spcPct val="102000"/>
                        </a:lnSpc>
                        <a:buNone/>
                      </a:pPr>
                      <a:r>
                        <a:rPr sz="900" b="0">
                          <a:solidFill>
                            <a:srgbClr val="8B6500"/>
                          </a:solidFill>
                          <a:latin typeface="Arial"/>
                          <a:ea typeface="Arial"/>
                          <a:cs typeface="Arial"/>
                        </a:rPr>
                        <a:t>Next</a:t>
                      </a:r>
                    </a:p>
                  </a:txBody>
                  <a:tcPr anchor="ctr">
                    <a:lnL w="12700" cap="flat" cmpd="sng" algn="ctr">
                      <a:noFill/>
                      <a:prstDash val="solid"/>
                      <a:round/>
                      <a:headEnd type="none" w="med" len="med"/>
                      <a:tailEnd type="none" w="med" len="med"/>
                    </a:lnL>
                    <a:solidFill>
                      <a:srgbClr val="FFF0C2"/>
                    </a:solidFill>
                  </a:tcPr>
                </a:tc>
                <a:tc>
                  <a:txBody>
                    <a:bodyPr/>
                    <a:lstStyle/>
                    <a:p>
                      <a:pPr>
                        <a:lnSpc>
                          <a:spcPct val="102000"/>
                        </a:lnSpc>
                        <a:buNone/>
                      </a:pPr>
                      <a:r>
                        <a:rPr sz="900" b="0">
                          <a:solidFill>
                            <a:srgbClr val="070154"/>
                          </a:solidFill>
                          <a:latin typeface="Arial"/>
                          <a:ea typeface="Arial"/>
                          <a:cs typeface="Arial"/>
                        </a:rPr>
                        <a:t>Earlier cross-functional collaboration</a:t>
                      </a:r>
                    </a:p>
                  </a:txBody>
                  <a:tcPr anchor="ctr">
                    <a:solidFill>
                      <a:srgbClr val="FFFFFF"/>
                    </a:solidFill>
                  </a:tcPr>
                </a:tc>
                <a:tc>
                  <a:txBody>
                    <a:bodyPr/>
                    <a:lstStyle/>
                    <a:p>
                      <a:pPr>
                        <a:lnSpc>
                          <a:spcPct val="102000"/>
                        </a:lnSpc>
                        <a:buNone/>
                      </a:pPr>
                      <a:r>
                        <a:rPr sz="900" b="0">
                          <a:solidFill>
                            <a:srgbClr val="070154"/>
                          </a:solidFill>
                          <a:latin typeface="Arial"/>
                          <a:ea typeface="Arial"/>
                          <a:cs typeface="Arial"/>
                        </a:rPr>
                        <a:t>Run a pre-commitment working session with the minimum team and evidence set.</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Product + Eng</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Cadence and access</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Rework and wait time</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4"/>
                  </a:ext>
                </a:extLst>
              </a:tr>
              <a:tr h="530679">
                <a:tc>
                  <a:txBody>
                    <a:bodyPr/>
                    <a:lstStyle/>
                    <a:p>
                      <a:pPr>
                        <a:lnSpc>
                          <a:spcPct val="102000"/>
                        </a:lnSpc>
                        <a:buNone/>
                      </a:pPr>
                      <a:r>
                        <a:rPr sz="900" b="0">
                          <a:solidFill>
                            <a:srgbClr val="8B6500"/>
                          </a:solidFill>
                          <a:latin typeface="Arial"/>
                          <a:ea typeface="Arial"/>
                          <a:cs typeface="Arial"/>
                        </a:rPr>
                        <a:t>Next</a:t>
                      </a:r>
                    </a:p>
                  </a:txBody>
                  <a:tcPr anchor="ctr">
                    <a:lnL w="12700" cap="flat" cmpd="sng" algn="ctr">
                      <a:noFill/>
                      <a:prstDash val="solid"/>
                      <a:round/>
                      <a:headEnd type="none" w="med" len="med"/>
                      <a:tailEnd type="none" w="med" len="med"/>
                    </a:lnL>
                    <a:solidFill>
                      <a:srgbClr val="FFF0C2"/>
                    </a:solidFill>
                  </a:tcPr>
                </a:tc>
                <a:tc>
                  <a:txBody>
                    <a:bodyPr/>
                    <a:lstStyle/>
                    <a:p>
                      <a:pPr>
                        <a:lnSpc>
                          <a:spcPct val="102000"/>
                        </a:lnSpc>
                        <a:buNone/>
                      </a:pPr>
                      <a:r>
                        <a:rPr sz="900" b="0">
                          <a:solidFill>
                            <a:srgbClr val="070154"/>
                          </a:solidFill>
                          <a:latin typeface="Arial"/>
                          <a:ea typeface="Arial"/>
                          <a:cs typeface="Arial"/>
                        </a:rPr>
                        <a:t>Ship-with-proof feedback loop</a:t>
                      </a:r>
                    </a:p>
                  </a:txBody>
                  <a:tcPr anchor="ctr">
                    <a:solidFill>
                      <a:srgbClr val="FFFFFF"/>
                    </a:solidFill>
                  </a:tcPr>
                </a:tc>
                <a:tc>
                  <a:txBody>
                    <a:bodyPr/>
                    <a:lstStyle/>
                    <a:p>
                      <a:pPr>
                        <a:lnSpc>
                          <a:spcPct val="102000"/>
                        </a:lnSpc>
                        <a:buNone/>
                      </a:pPr>
                      <a:r>
                        <a:rPr sz="900" b="0">
                          <a:solidFill>
                            <a:srgbClr val="070154"/>
                          </a:solidFill>
                          <a:latin typeface="Arial"/>
                          <a:ea typeface="Arial"/>
                          <a:cs typeface="Arial"/>
                        </a:rPr>
                        <a:t>Define release evidence and post-launch learning for the next test.</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Product + Release</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Measures</a:t>
                      </a:r>
                    </a:p>
                  </a:txBody>
                  <a:tcPr anchor="ctr">
                    <a:solidFill>
                      <a:srgbClr val="FFFFFF"/>
                    </a:solidFill>
                  </a:tcPr>
                </a:tc>
                <a:tc>
                  <a:txBody>
                    <a:bodyPr/>
                    <a:lstStyle/>
                    <a:p>
                      <a:pPr>
                        <a:lnSpc>
                          <a:spcPct val="102000"/>
                        </a:lnSpc>
                        <a:buNone/>
                      </a:pPr>
                      <a:r>
                        <a:rPr sz="900" b="0">
                          <a:solidFill>
                            <a:srgbClr val="50658E"/>
                          </a:solidFill>
                          <a:latin typeface="Arial"/>
                          <a:ea typeface="Arial"/>
                          <a:cs typeface="Arial"/>
                        </a:rPr>
                        <a:t>Validation coverage</a:t>
                      </a:r>
                    </a:p>
                  </a:txBody>
                  <a:tcPr anchor="ctr">
                    <a:lnR w="12700" cap="flat" cmpd="sng" algn="ctr">
                      <a:noFill/>
                      <a:prstDash val="solid"/>
                      <a:round/>
                      <a:headEnd type="none" w="med" len="med"/>
                      <a:tailEnd type="none" w="med" len="med"/>
                    </a:lnR>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D8A04B1C-28F2-41E9-8548-EDB10CCD8C61}"/>
              </a:ext>
            </a:extLst>
          </p:cNvPr>
          <p:cNvSpPr>
            <a:spLocks noGrp="1"/>
          </p:cNvSpPr>
          <p:nvPr/>
        </p:nvSpPr>
        <p:spPr>
          <a:xfrm>
            <a:off x="457200" y="5619750"/>
            <a:ext cx="11277600" cy="323850"/>
          </a:xfrm>
          <a:prstGeom prst="rect">
            <a:avLst/>
          </a:prstGeom>
          <a:noFill/>
          <a:ln w="0">
            <a:noFill/>
          </a:ln>
        </p:spPr>
        <p:txBody>
          <a:bodyPr anchor="t">
            <a:normAutofit/>
          </a:bodyPr>
          <a:lstStyle/>
          <a:p>
            <a:pPr>
              <a:lnSpc>
                <a:spcPct val="108000"/>
              </a:lnSpc>
              <a:buNone/>
              <a:defRPr sz="1125" b="1" i="0">
                <a:solidFill>
                  <a:srgbClr val="0047FF"/>
                </a:solidFill>
                <a:latin typeface="Arial"/>
                <a:ea typeface="Arial"/>
                <a:cs typeface="Arial"/>
              </a:defRPr>
            </a:pPr>
            <a:r>
              <a:rPr sz="1125" b="1" i="0">
                <a:solidFill>
                  <a:srgbClr val="0047FF"/>
                </a:solidFill>
                <a:latin typeface="Arial"/>
                <a:ea typeface="Arial"/>
                <a:cs typeface="Arial"/>
              </a:rPr>
              <a:t>Use the roadmap after each quick-win test to update timing, owners, dependencies, measures, and the Phase 2 enablement need.</a:t>
            </a:r>
          </a:p>
        </p:txBody>
      </p:sp>
      <p:sp>
        <p:nvSpPr>
          <p:cNvPr id="5" name="GridLineV1">
            <a:extLst>
              <a:ext uri="{FF2B5EF4-FFF2-40B4-BE49-F238E27FC236}">
                <a16:creationId xmlns:a16="http://schemas.microsoft.com/office/drawing/2014/main" id="{B67739D7-C25D-904B-A98E-6655D99175B4}"/>
              </a:ext>
            </a:extLst>
          </p:cNvPr>
          <p:cNvSpPr/>
          <p:nvPr/>
        </p:nvSpPr>
        <p:spPr>
          <a:xfrm>
            <a:off x="2314575" y="1714500"/>
            <a:ext cx="44450" cy="3184074"/>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GridLineV2">
            <a:extLst>
              <a:ext uri="{FF2B5EF4-FFF2-40B4-BE49-F238E27FC236}">
                <a16:creationId xmlns:a16="http://schemas.microsoft.com/office/drawing/2014/main" id="{02218D69-FDAC-3543-969C-15EEB125B123}"/>
              </a:ext>
            </a:extLst>
          </p:cNvPr>
          <p:cNvSpPr/>
          <p:nvPr/>
        </p:nvSpPr>
        <p:spPr>
          <a:xfrm>
            <a:off x="4194175" y="1714500"/>
            <a:ext cx="44450" cy="3184074"/>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GridLineV3">
            <a:extLst>
              <a:ext uri="{FF2B5EF4-FFF2-40B4-BE49-F238E27FC236}">
                <a16:creationId xmlns:a16="http://schemas.microsoft.com/office/drawing/2014/main" id="{8707783C-C4F2-BB4A-8FF3-6E4D49D6AAF0}"/>
              </a:ext>
            </a:extLst>
          </p:cNvPr>
          <p:cNvSpPr/>
          <p:nvPr/>
        </p:nvSpPr>
        <p:spPr>
          <a:xfrm>
            <a:off x="6073775" y="1714500"/>
            <a:ext cx="44450" cy="3184074"/>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GridLineV4">
            <a:extLst>
              <a:ext uri="{FF2B5EF4-FFF2-40B4-BE49-F238E27FC236}">
                <a16:creationId xmlns:a16="http://schemas.microsoft.com/office/drawing/2014/main" id="{7C2E9879-B317-1247-A389-C85590C906F9}"/>
              </a:ext>
            </a:extLst>
          </p:cNvPr>
          <p:cNvSpPr/>
          <p:nvPr/>
        </p:nvSpPr>
        <p:spPr>
          <a:xfrm>
            <a:off x="7953375" y="1714500"/>
            <a:ext cx="44450" cy="3184074"/>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GridLineV5">
            <a:extLst>
              <a:ext uri="{FF2B5EF4-FFF2-40B4-BE49-F238E27FC236}">
                <a16:creationId xmlns:a16="http://schemas.microsoft.com/office/drawing/2014/main" id="{9FEFBC5C-E16D-D644-B27E-CF97FD1EFB25}"/>
              </a:ext>
            </a:extLst>
          </p:cNvPr>
          <p:cNvSpPr/>
          <p:nvPr/>
        </p:nvSpPr>
        <p:spPr>
          <a:xfrm>
            <a:off x="9832975" y="1714500"/>
            <a:ext cx="44450" cy="3184074"/>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GridLineH1">
            <a:extLst>
              <a:ext uri="{FF2B5EF4-FFF2-40B4-BE49-F238E27FC236}">
                <a16:creationId xmlns:a16="http://schemas.microsoft.com/office/drawing/2014/main" id="{5B83D5ED-FBED-4345-9EF3-F209BC7D983F}"/>
              </a:ext>
            </a:extLst>
          </p:cNvPr>
          <p:cNvSpPr/>
          <p:nvPr/>
        </p:nvSpPr>
        <p:spPr>
          <a:xfrm>
            <a:off x="457200" y="2222953"/>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GridLineH2">
            <a:extLst>
              <a:ext uri="{FF2B5EF4-FFF2-40B4-BE49-F238E27FC236}">
                <a16:creationId xmlns:a16="http://schemas.microsoft.com/office/drawing/2014/main" id="{ED44BA90-9F82-ED4B-A72B-9E68FD2C8664}"/>
              </a:ext>
            </a:extLst>
          </p:cNvPr>
          <p:cNvSpPr/>
          <p:nvPr/>
        </p:nvSpPr>
        <p:spPr>
          <a:xfrm>
            <a:off x="457200" y="2753632"/>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GridLineH3">
            <a:extLst>
              <a:ext uri="{FF2B5EF4-FFF2-40B4-BE49-F238E27FC236}">
                <a16:creationId xmlns:a16="http://schemas.microsoft.com/office/drawing/2014/main" id="{0C46CE68-E39C-B24B-A950-134CA8AD4F1F}"/>
              </a:ext>
            </a:extLst>
          </p:cNvPr>
          <p:cNvSpPr/>
          <p:nvPr/>
        </p:nvSpPr>
        <p:spPr>
          <a:xfrm>
            <a:off x="457200" y="3284310"/>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GridLineH4">
            <a:extLst>
              <a:ext uri="{FF2B5EF4-FFF2-40B4-BE49-F238E27FC236}">
                <a16:creationId xmlns:a16="http://schemas.microsoft.com/office/drawing/2014/main" id="{F6764D21-023A-A944-A825-6579C85B8643}"/>
              </a:ext>
            </a:extLst>
          </p:cNvPr>
          <p:cNvSpPr/>
          <p:nvPr/>
        </p:nvSpPr>
        <p:spPr>
          <a:xfrm>
            <a:off x="457200" y="3814989"/>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GridLineH5">
            <a:extLst>
              <a:ext uri="{FF2B5EF4-FFF2-40B4-BE49-F238E27FC236}">
                <a16:creationId xmlns:a16="http://schemas.microsoft.com/office/drawing/2014/main" id="{BDF2AA8E-A37E-2746-9520-73D54348C322}"/>
              </a:ext>
            </a:extLst>
          </p:cNvPr>
          <p:cNvSpPr/>
          <p:nvPr/>
        </p:nvSpPr>
        <p:spPr>
          <a:xfrm>
            <a:off x="457200" y="4345667"/>
            <a:ext cx="11277600" cy="4445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060551913"/>
      </p:ext>
    </p:extLst>
  </p:cSld>
  <p:clrMapOvr>
    <a:masterClrMapping/>
  </p:clrMapOvr>
  <p:extLst>
    <p:ext uri="{6950BFC3-D8DA-4A85-94F7-54DA5524770B}">
      <p188:commentRel xmlns:p188="http://schemas.microsoft.com/office/powerpoint/2018/8/main" r:id="rId3"/>
    </p:ext>
  </p:extLst>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BA8FAD-98AE-D4C4-1F69-F64DD82FFABE}"/>
            </a:ext>
          </a:extLst>
        </p:cNvPr>
        <p:cNvGrpSpPr/>
        <p:nvPr/>
      </p:nvGrpSpPr>
      <p:grpSpPr>
        <a:xfrm>
          <a:off x="0" y="0"/>
          <a:ext cx="0" cy="0"/>
          <a:chOff x="0" y="0"/>
          <a:chExt cx="0" cy="0"/>
        </a:xfrm>
      </p:grpSpPr>
      <p:sp>
        <p:nvSpPr>
          <p:cNvPr id="20" name="title">
            <a:extLst>
              <a:ext uri="{FF2B5EF4-FFF2-40B4-BE49-F238E27FC236}">
                <a16:creationId xmlns:a16="http://schemas.microsoft.com/office/drawing/2014/main" id="{896DBCE4-C3CF-6E0E-5BCE-2A67FC477A27}"/>
              </a:ext>
            </a:extLst>
          </p:cNvPr>
          <p:cNvSpPr>
            <a:spLocks noGrp="1"/>
          </p:cNvSpPr>
          <p:nvPr/>
        </p:nvSpPr>
        <p:spPr>
          <a:xfrm>
            <a:off x="552450" y="304800"/>
            <a:ext cx="7239000" cy="400050"/>
          </a:xfrm>
          <a:prstGeom prst="rect">
            <a:avLst/>
          </a:prstGeom>
          <a:noFill/>
          <a:ln w="0">
            <a:noFill/>
          </a:ln>
        </p:spPr>
        <p:txBody>
          <a:bodyPr lIns="0" tIns="0" rIns="0" bIns="0" anchor="t">
            <a:normAutofit/>
          </a:bodyPr>
          <a:lstStyle/>
          <a:p>
            <a:pPr>
              <a:defRPr sz="2325" b="1">
                <a:solidFill>
                  <a:srgbClr val="070154"/>
                </a:solidFill>
                <a:latin typeface="Arial"/>
                <a:ea typeface="Arial"/>
                <a:cs typeface="Arial"/>
              </a:defRPr>
            </a:pPr>
            <a:r>
              <a:rPr sz="2325" b="1">
                <a:solidFill>
                  <a:srgbClr val="070154"/>
                </a:solidFill>
                <a:latin typeface="Arial"/>
                <a:ea typeface="Arial"/>
                <a:cs typeface="Arial"/>
              </a:rPr>
              <a:t>Artifact ownership matrix</a:t>
            </a:r>
          </a:p>
        </p:txBody>
      </p:sp>
      <p:sp>
        <p:nvSpPr>
          <p:cNvPr id="2" name="subtitle">
            <a:extLst>
              <a:ext uri="{FF2B5EF4-FFF2-40B4-BE49-F238E27FC236}">
                <a16:creationId xmlns:a16="http://schemas.microsoft.com/office/drawing/2014/main" id="{05179FD7-7B0C-8B4B-744A-1F5D3D8CBFBB}"/>
              </a:ext>
            </a:extLst>
          </p:cNvPr>
          <p:cNvSpPr>
            <a:spLocks noGrp="1"/>
          </p:cNvSpPr>
          <p:nvPr/>
        </p:nvSpPr>
        <p:spPr>
          <a:xfrm>
            <a:off x="552450" y="762000"/>
            <a:ext cx="8667750" cy="323850"/>
          </a:xfrm>
          <a:prstGeom prst="rect">
            <a:avLst/>
          </a:prstGeom>
          <a:noFill/>
          <a:ln w="0">
            <a:noFill/>
          </a:ln>
        </p:spPr>
        <p:txBody>
          <a:bodyPr lIns="0" tIns="0" rIns="0" bIns="0" anchor="t">
            <a:normAutofit/>
          </a:bodyPr>
          <a:lstStyle/>
          <a:p>
            <a:pPr>
              <a:defRPr sz="1350">
                <a:solidFill>
                  <a:srgbClr val="50658E"/>
                </a:solidFill>
                <a:latin typeface="Arial"/>
                <a:ea typeface="Arial"/>
                <a:cs typeface="Arial"/>
              </a:defRPr>
            </a:pPr>
            <a:r>
              <a:rPr sz="1350">
                <a:solidFill>
                  <a:srgbClr val="50658E"/>
                </a:solidFill>
                <a:latin typeface="Arial"/>
                <a:ea typeface="Arial"/>
                <a:cs typeface="Arial"/>
              </a:rPr>
              <a:t>Use the templates as decision points in the work, not as documents completed after the work is done.</a:t>
            </a:r>
          </a:p>
        </p:txBody>
      </p:sp>
      <p:pic>
        <p:nvPicPr>
          <p:cNvPr id="22" name="Picture 21">
            <a:extLst>
              <a:ext uri="{FF2B5EF4-FFF2-40B4-BE49-F238E27FC236}">
                <a16:creationId xmlns:a16="http://schemas.microsoft.com/office/drawing/2014/main" id="{EEBA423E-8C98-C9B3-6973-32A509FBADE2}"/>
              </a:ext>
            </a:extLst>
          </p:cNvPr>
          <p:cNvPicPr>
            <a:picLocks noChangeAspect="1"/>
          </p:cNvPicPr>
          <p:nvPr/>
        </p:nvPicPr>
        <p:blipFill>
          <a:blip r:embed="rId3"/>
          <a:stretch/>
        </p:blipFill>
        <p:spPr>
          <a:xfrm>
            <a:off x="10725150" y="271992"/>
            <a:ext cx="1047750" cy="465667"/>
          </a:xfrm>
          <a:prstGeom prst="rect">
            <a:avLst/>
          </a:prstGeom>
        </p:spPr>
      </p:pic>
      <p:sp>
        <p:nvSpPr>
          <p:cNvPr id="4" name="titleRule">
            <a:extLst>
              <a:ext uri="{FF2B5EF4-FFF2-40B4-BE49-F238E27FC236}">
                <a16:creationId xmlns:a16="http://schemas.microsoft.com/office/drawing/2014/main" id="{AC36FA12-7A16-0CEF-EAD8-CF14FA0CE75E}"/>
              </a:ext>
            </a:extLst>
          </p:cNvPr>
          <p:cNvSpPr>
            <a:spLocks noGrp="1"/>
          </p:cNvSpPr>
          <p:nvPr/>
        </p:nvSpPr>
        <p:spPr>
          <a:xfrm>
            <a:off x="552450" y="1257300"/>
            <a:ext cx="11087100" cy="0"/>
          </a:xfrm>
          <a:prstGeom prst="line">
            <a:avLst/>
          </a:prstGeom>
          <a:noFill/>
          <a:ln w="19050">
            <a:solidFill>
              <a:srgbClr val="0047FF"/>
            </a:solidFill>
          </a:ln>
        </p:spPr>
        <p:txBody>
          <a:bodyPr/>
          <a:lstStyle/>
          <a:p>
            <a:endParaRPr lang="en-US"/>
          </a:p>
        </p:txBody>
      </p:sp>
      <p:sp>
        <p:nvSpPr>
          <p:cNvPr id="5" name="modelLabel">
            <a:extLst>
              <a:ext uri="{FF2B5EF4-FFF2-40B4-BE49-F238E27FC236}">
                <a16:creationId xmlns:a16="http://schemas.microsoft.com/office/drawing/2014/main" id="{74B05CBD-7893-E373-9626-7D1D8D4BC413}"/>
              </a:ext>
            </a:extLst>
          </p:cNvPr>
          <p:cNvSpPr>
            <a:spLocks noGrp="1"/>
          </p:cNvSpPr>
          <p:nvPr/>
        </p:nvSpPr>
        <p:spPr>
          <a:xfrm>
            <a:off x="552450" y="1409700"/>
            <a:ext cx="2381250" cy="190500"/>
          </a:xfrm>
          <a:prstGeom prst="rect">
            <a:avLst/>
          </a:prstGeom>
          <a:noFill/>
          <a:ln w="0">
            <a:noFill/>
          </a:ln>
        </p:spPr>
        <p:txBody>
          <a:bodyPr lIns="0" tIns="0" rIns="0" bIns="0" anchor="t">
            <a:normAutofit/>
          </a:bodyPr>
          <a:lstStyle/>
          <a:p>
            <a:pPr>
              <a:defRPr sz="1050" b="1">
                <a:solidFill>
                  <a:srgbClr val="0047FF"/>
                </a:solidFill>
                <a:latin typeface="Arial"/>
                <a:ea typeface="Arial"/>
                <a:cs typeface="Arial"/>
              </a:defRPr>
            </a:pPr>
            <a:r>
              <a:rPr sz="1050" b="1">
                <a:solidFill>
                  <a:srgbClr val="0047FF"/>
                </a:solidFill>
                <a:latin typeface="Arial"/>
                <a:ea typeface="Arial"/>
                <a:cs typeface="Arial"/>
              </a:rPr>
              <a:t>RECOMMENDED ROLE MODEL</a:t>
            </a:r>
          </a:p>
        </p:txBody>
      </p:sp>
      <p:sp>
        <p:nvSpPr>
          <p:cNvPr id="6" name="modelText">
            <a:extLst>
              <a:ext uri="{FF2B5EF4-FFF2-40B4-BE49-F238E27FC236}">
                <a16:creationId xmlns:a16="http://schemas.microsoft.com/office/drawing/2014/main" id="{69609D58-C016-ABD1-CB66-17FF19B14101}"/>
              </a:ext>
            </a:extLst>
          </p:cNvPr>
          <p:cNvSpPr>
            <a:spLocks noGrp="1"/>
          </p:cNvSpPr>
          <p:nvPr/>
        </p:nvSpPr>
        <p:spPr>
          <a:xfrm>
            <a:off x="552450" y="1619250"/>
            <a:ext cx="7000875" cy="323850"/>
          </a:xfrm>
          <a:prstGeom prst="rect">
            <a:avLst/>
          </a:prstGeom>
          <a:noFill/>
          <a:ln w="0">
            <a:noFill/>
          </a:ln>
        </p:spPr>
        <p:txBody>
          <a:bodyPr lIns="0" tIns="0" rIns="0" bIns="0" anchor="t">
            <a:normAutofit fontScale="92593"/>
          </a:bodyPr>
          <a:lstStyle/>
          <a:p>
            <a:pPr>
              <a:lnSpc>
                <a:spcPct val="102000"/>
              </a:lnSpc>
              <a:buNone/>
              <a:defRPr sz="1125">
                <a:solidFill>
                  <a:srgbClr val="50658E"/>
                </a:solidFill>
                <a:latin typeface="Arial"/>
                <a:ea typeface="Arial"/>
                <a:cs typeface="Arial"/>
              </a:defRPr>
            </a:pPr>
            <a:r>
              <a:rPr sz="1125">
                <a:solidFill>
                  <a:srgbClr val="50658E"/>
                </a:solidFill>
                <a:latin typeface="Arial"/>
                <a:ea typeface="Arial"/>
                <a:cs typeface="Arial"/>
              </a:rPr>
              <a:t>Lead coordinates the artifact. Contributors shape it. Inform roles stay aligned. Approvers decide whether it is ready to move forward.</a:t>
            </a:r>
          </a:p>
        </p:txBody>
      </p:sp>
      <p:sp>
        <p:nvSpPr>
          <p:cNvPr id="7" name="legendL">
            <a:extLst>
              <a:ext uri="{FF2B5EF4-FFF2-40B4-BE49-F238E27FC236}">
                <a16:creationId xmlns:a16="http://schemas.microsoft.com/office/drawing/2014/main" id="{BE8A3C73-7EA1-4D4F-9A8F-6F6C4C228117}"/>
              </a:ext>
            </a:extLst>
          </p:cNvPr>
          <p:cNvSpPr>
            <a:spLocks noGrp="1"/>
          </p:cNvSpPr>
          <p:nvPr/>
        </p:nvSpPr>
        <p:spPr>
          <a:xfrm>
            <a:off x="7924800" y="1466850"/>
            <a:ext cx="266700" cy="247650"/>
          </a:xfrm>
          <a:prstGeom prst="roundRect">
            <a:avLst>
              <a:gd name="adj" fmla="val 11538"/>
            </a:avLst>
          </a:prstGeom>
          <a:solidFill>
            <a:srgbClr val="CDEFD9"/>
          </a:solidFill>
          <a:ln w="9525">
            <a:solidFill>
              <a:srgbClr val="DCE4F0"/>
            </a:solidFill>
          </a:ln>
        </p:spPr>
        <p:txBody>
          <a:bodyPr lIns="0" tIns="0" rIns="0" bIns="0" anchor="ctr">
            <a:normAutofit/>
          </a:bodyPr>
          <a:lstStyle/>
          <a:p>
            <a:pPr algn="ctr">
              <a:defRPr sz="1200" b="1">
                <a:solidFill>
                  <a:srgbClr val="070154"/>
                </a:solidFill>
                <a:latin typeface="Arial"/>
                <a:ea typeface="Arial"/>
                <a:cs typeface="Arial"/>
              </a:defRPr>
            </a:pPr>
            <a:r>
              <a:rPr sz="1200" b="1">
                <a:solidFill>
                  <a:srgbClr val="070154"/>
                </a:solidFill>
                <a:latin typeface="Arial"/>
                <a:ea typeface="Arial"/>
                <a:cs typeface="Arial"/>
              </a:rPr>
              <a:t>L</a:t>
            </a:r>
          </a:p>
        </p:txBody>
      </p:sp>
      <p:sp>
        <p:nvSpPr>
          <p:cNvPr id="8" name="legendLLabel">
            <a:extLst>
              <a:ext uri="{FF2B5EF4-FFF2-40B4-BE49-F238E27FC236}">
                <a16:creationId xmlns:a16="http://schemas.microsoft.com/office/drawing/2014/main" id="{4749C3D0-F8C0-EECC-8A9C-7B00986FE3E5}"/>
              </a:ext>
            </a:extLst>
          </p:cNvPr>
          <p:cNvSpPr>
            <a:spLocks noGrp="1"/>
          </p:cNvSpPr>
          <p:nvPr/>
        </p:nvSpPr>
        <p:spPr>
          <a:xfrm>
            <a:off x="8248650" y="1504950"/>
            <a:ext cx="742950" cy="171450"/>
          </a:xfrm>
          <a:prstGeom prst="rect">
            <a:avLst/>
          </a:prstGeom>
          <a:noFill/>
          <a:ln w="0">
            <a:noFill/>
          </a:ln>
        </p:spPr>
        <p:txBody>
          <a:bodyPr lIns="0" tIns="0" rIns="0" bIns="0" anchor="t">
            <a:normAutofit/>
          </a:bodyPr>
          <a:lstStyle/>
          <a:p>
            <a:pPr>
              <a:defRPr sz="975">
                <a:solidFill>
                  <a:srgbClr val="50658E"/>
                </a:solidFill>
                <a:latin typeface="Arial"/>
                <a:ea typeface="Arial"/>
                <a:cs typeface="Arial"/>
              </a:defRPr>
            </a:pPr>
            <a:r>
              <a:rPr sz="975">
                <a:solidFill>
                  <a:srgbClr val="50658E"/>
                </a:solidFill>
                <a:latin typeface="Arial"/>
                <a:ea typeface="Arial"/>
                <a:cs typeface="Arial"/>
              </a:rPr>
              <a:t>Lead</a:t>
            </a:r>
          </a:p>
        </p:txBody>
      </p:sp>
      <p:sp>
        <p:nvSpPr>
          <p:cNvPr id="9" name="legendC">
            <a:extLst>
              <a:ext uri="{FF2B5EF4-FFF2-40B4-BE49-F238E27FC236}">
                <a16:creationId xmlns:a16="http://schemas.microsoft.com/office/drawing/2014/main" id="{05BA3E72-342C-7550-D437-97442881862C}"/>
              </a:ext>
            </a:extLst>
          </p:cNvPr>
          <p:cNvSpPr>
            <a:spLocks noGrp="1"/>
          </p:cNvSpPr>
          <p:nvPr/>
        </p:nvSpPr>
        <p:spPr>
          <a:xfrm>
            <a:off x="8839200" y="1466850"/>
            <a:ext cx="266700" cy="247650"/>
          </a:xfrm>
          <a:prstGeom prst="roundRect">
            <a:avLst>
              <a:gd name="adj" fmla="val 11538"/>
            </a:avLst>
          </a:prstGeom>
          <a:solidFill>
            <a:srgbClr val="E8EEF8"/>
          </a:solidFill>
          <a:ln w="9525">
            <a:solidFill>
              <a:srgbClr val="DCE4F0"/>
            </a:solidFill>
          </a:ln>
        </p:spPr>
        <p:txBody>
          <a:bodyPr lIns="0" tIns="0" rIns="0" bIns="0" anchor="ctr">
            <a:normAutofit/>
          </a:bodyPr>
          <a:lstStyle/>
          <a:p>
            <a:pPr algn="ctr">
              <a:defRPr sz="1200" b="1">
                <a:solidFill>
                  <a:srgbClr val="070154"/>
                </a:solidFill>
                <a:latin typeface="Arial"/>
                <a:ea typeface="Arial"/>
                <a:cs typeface="Arial"/>
              </a:defRPr>
            </a:pPr>
            <a:r>
              <a:rPr sz="1200" b="1">
                <a:solidFill>
                  <a:srgbClr val="070154"/>
                </a:solidFill>
                <a:latin typeface="Arial"/>
                <a:ea typeface="Arial"/>
                <a:cs typeface="Arial"/>
              </a:rPr>
              <a:t>C</a:t>
            </a:r>
          </a:p>
        </p:txBody>
      </p:sp>
      <p:sp>
        <p:nvSpPr>
          <p:cNvPr id="10" name="legendCLabel">
            <a:extLst>
              <a:ext uri="{FF2B5EF4-FFF2-40B4-BE49-F238E27FC236}">
                <a16:creationId xmlns:a16="http://schemas.microsoft.com/office/drawing/2014/main" id="{7FF13451-0AEA-FA22-AC56-79EC9D000332}"/>
              </a:ext>
            </a:extLst>
          </p:cNvPr>
          <p:cNvSpPr>
            <a:spLocks noGrp="1"/>
          </p:cNvSpPr>
          <p:nvPr/>
        </p:nvSpPr>
        <p:spPr>
          <a:xfrm>
            <a:off x="9163050" y="1504950"/>
            <a:ext cx="742950" cy="171450"/>
          </a:xfrm>
          <a:prstGeom prst="rect">
            <a:avLst/>
          </a:prstGeom>
          <a:noFill/>
          <a:ln w="0">
            <a:noFill/>
          </a:ln>
        </p:spPr>
        <p:txBody>
          <a:bodyPr lIns="0" tIns="0" rIns="0" bIns="0" anchor="t">
            <a:normAutofit/>
          </a:bodyPr>
          <a:lstStyle/>
          <a:p>
            <a:pPr>
              <a:defRPr sz="975">
                <a:solidFill>
                  <a:srgbClr val="50658E"/>
                </a:solidFill>
                <a:latin typeface="Arial"/>
                <a:ea typeface="Arial"/>
                <a:cs typeface="Arial"/>
              </a:defRPr>
            </a:pPr>
            <a:r>
              <a:rPr sz="975">
                <a:solidFill>
                  <a:srgbClr val="50658E"/>
                </a:solidFill>
                <a:latin typeface="Arial"/>
                <a:ea typeface="Arial"/>
                <a:cs typeface="Arial"/>
              </a:rPr>
              <a:t>Contribute</a:t>
            </a:r>
          </a:p>
        </p:txBody>
      </p:sp>
      <p:sp>
        <p:nvSpPr>
          <p:cNvPr id="11" name="legendI">
            <a:extLst>
              <a:ext uri="{FF2B5EF4-FFF2-40B4-BE49-F238E27FC236}">
                <a16:creationId xmlns:a16="http://schemas.microsoft.com/office/drawing/2014/main" id="{451637BF-275E-39D3-3CFC-2E399F77608D}"/>
              </a:ext>
            </a:extLst>
          </p:cNvPr>
          <p:cNvSpPr>
            <a:spLocks noGrp="1"/>
          </p:cNvSpPr>
          <p:nvPr/>
        </p:nvSpPr>
        <p:spPr>
          <a:xfrm>
            <a:off x="9963150" y="1466850"/>
            <a:ext cx="266700" cy="247650"/>
          </a:xfrm>
          <a:prstGeom prst="roundRect">
            <a:avLst>
              <a:gd name="adj" fmla="val 11538"/>
            </a:avLst>
          </a:prstGeom>
          <a:solidFill>
            <a:srgbClr val="F6F8FC"/>
          </a:solidFill>
          <a:ln w="9525">
            <a:solidFill>
              <a:srgbClr val="DCE4F0"/>
            </a:solidFill>
          </a:ln>
        </p:spPr>
        <p:txBody>
          <a:bodyPr lIns="0" tIns="0" rIns="0" bIns="0" anchor="ctr">
            <a:normAutofit/>
          </a:bodyPr>
          <a:lstStyle/>
          <a:p>
            <a:pPr algn="ctr">
              <a:defRPr sz="1200" b="1">
                <a:solidFill>
                  <a:srgbClr val="070154"/>
                </a:solidFill>
                <a:latin typeface="Arial"/>
                <a:ea typeface="Arial"/>
                <a:cs typeface="Arial"/>
              </a:defRPr>
            </a:pPr>
            <a:r>
              <a:rPr sz="1200" b="1">
                <a:solidFill>
                  <a:srgbClr val="070154"/>
                </a:solidFill>
                <a:latin typeface="Arial"/>
                <a:ea typeface="Arial"/>
                <a:cs typeface="Arial"/>
              </a:rPr>
              <a:t>I</a:t>
            </a:r>
          </a:p>
        </p:txBody>
      </p:sp>
      <p:sp>
        <p:nvSpPr>
          <p:cNvPr id="12" name="legendILabel">
            <a:extLst>
              <a:ext uri="{FF2B5EF4-FFF2-40B4-BE49-F238E27FC236}">
                <a16:creationId xmlns:a16="http://schemas.microsoft.com/office/drawing/2014/main" id="{E617B053-CFBE-485A-54C2-BC3A684901FB}"/>
              </a:ext>
            </a:extLst>
          </p:cNvPr>
          <p:cNvSpPr>
            <a:spLocks noGrp="1"/>
          </p:cNvSpPr>
          <p:nvPr/>
        </p:nvSpPr>
        <p:spPr>
          <a:xfrm>
            <a:off x="10287000" y="1504950"/>
            <a:ext cx="742950" cy="171450"/>
          </a:xfrm>
          <a:prstGeom prst="rect">
            <a:avLst/>
          </a:prstGeom>
          <a:noFill/>
          <a:ln w="0">
            <a:noFill/>
          </a:ln>
        </p:spPr>
        <p:txBody>
          <a:bodyPr lIns="0" tIns="0" rIns="0" bIns="0" anchor="t">
            <a:normAutofit/>
          </a:bodyPr>
          <a:lstStyle/>
          <a:p>
            <a:pPr>
              <a:defRPr sz="975">
                <a:solidFill>
                  <a:srgbClr val="50658E"/>
                </a:solidFill>
                <a:latin typeface="Arial"/>
                <a:ea typeface="Arial"/>
                <a:cs typeface="Arial"/>
              </a:defRPr>
            </a:pPr>
            <a:r>
              <a:rPr lang="en-US" sz="950" err="1">
                <a:solidFill>
                  <a:srgbClr val="50658E"/>
                </a:solidFill>
                <a:latin typeface="Arial"/>
                <a:ea typeface="Arial"/>
                <a:cs typeface="Arial"/>
              </a:rPr>
              <a:t>Iform</a:t>
            </a:r>
            <a:endParaRPr sz="975" err="1">
              <a:solidFill>
                <a:srgbClr val="50658E"/>
              </a:solidFill>
              <a:latin typeface="Arial"/>
              <a:ea typeface="Arial"/>
              <a:cs typeface="Arial"/>
            </a:endParaRPr>
          </a:p>
        </p:txBody>
      </p:sp>
      <p:sp>
        <p:nvSpPr>
          <p:cNvPr id="13" name="legendA">
            <a:extLst>
              <a:ext uri="{FF2B5EF4-FFF2-40B4-BE49-F238E27FC236}">
                <a16:creationId xmlns:a16="http://schemas.microsoft.com/office/drawing/2014/main" id="{E659690A-9599-DB67-D121-9C4A60C1ACD5}"/>
              </a:ext>
            </a:extLst>
          </p:cNvPr>
          <p:cNvSpPr>
            <a:spLocks noGrp="1"/>
          </p:cNvSpPr>
          <p:nvPr/>
        </p:nvSpPr>
        <p:spPr>
          <a:xfrm>
            <a:off x="10877550" y="1466850"/>
            <a:ext cx="266700" cy="247650"/>
          </a:xfrm>
          <a:prstGeom prst="roundRect">
            <a:avLst>
              <a:gd name="adj" fmla="val 11538"/>
            </a:avLst>
          </a:prstGeom>
          <a:solidFill>
            <a:srgbClr val="FFF0BE"/>
          </a:solidFill>
          <a:ln w="9525">
            <a:solidFill>
              <a:srgbClr val="DCE4F0"/>
            </a:solidFill>
          </a:ln>
        </p:spPr>
        <p:txBody>
          <a:bodyPr lIns="0" tIns="0" rIns="0" bIns="0" anchor="ctr">
            <a:normAutofit/>
          </a:bodyPr>
          <a:lstStyle/>
          <a:p>
            <a:pPr algn="ctr">
              <a:defRPr sz="1200" b="1">
                <a:solidFill>
                  <a:srgbClr val="070154"/>
                </a:solidFill>
                <a:latin typeface="Arial"/>
                <a:ea typeface="Arial"/>
                <a:cs typeface="Arial"/>
              </a:defRPr>
            </a:pPr>
            <a:r>
              <a:rPr sz="1200" b="1">
                <a:solidFill>
                  <a:srgbClr val="070154"/>
                </a:solidFill>
                <a:latin typeface="Arial"/>
                <a:ea typeface="Arial"/>
                <a:cs typeface="Arial"/>
              </a:rPr>
              <a:t>A</a:t>
            </a:r>
          </a:p>
        </p:txBody>
      </p:sp>
      <p:sp>
        <p:nvSpPr>
          <p:cNvPr id="14" name="legendALabel">
            <a:extLst>
              <a:ext uri="{FF2B5EF4-FFF2-40B4-BE49-F238E27FC236}">
                <a16:creationId xmlns:a16="http://schemas.microsoft.com/office/drawing/2014/main" id="{2F49D621-3048-BC3E-29C3-B2AF0E441315}"/>
              </a:ext>
            </a:extLst>
          </p:cNvPr>
          <p:cNvSpPr>
            <a:spLocks noGrp="1"/>
          </p:cNvSpPr>
          <p:nvPr/>
        </p:nvSpPr>
        <p:spPr>
          <a:xfrm>
            <a:off x="11201400" y="1504950"/>
            <a:ext cx="742950" cy="171450"/>
          </a:xfrm>
          <a:prstGeom prst="rect">
            <a:avLst/>
          </a:prstGeom>
          <a:noFill/>
          <a:ln w="0">
            <a:noFill/>
          </a:ln>
        </p:spPr>
        <p:txBody>
          <a:bodyPr lIns="0" tIns="0" rIns="0" bIns="0" anchor="t">
            <a:normAutofit/>
          </a:bodyPr>
          <a:lstStyle/>
          <a:p>
            <a:pPr>
              <a:defRPr sz="975">
                <a:solidFill>
                  <a:srgbClr val="50658E"/>
                </a:solidFill>
                <a:latin typeface="Arial"/>
                <a:ea typeface="Arial"/>
                <a:cs typeface="Arial"/>
              </a:defRPr>
            </a:pPr>
            <a:r>
              <a:rPr sz="975">
                <a:solidFill>
                  <a:srgbClr val="50658E"/>
                </a:solidFill>
                <a:latin typeface="Arial"/>
                <a:ea typeface="Arial"/>
                <a:cs typeface="Arial"/>
              </a:rPr>
              <a:t>Approve</a:t>
            </a:r>
          </a:p>
        </p:txBody>
      </p:sp>
      <p:graphicFrame>
        <p:nvGraphicFramePr>
          <p:cNvPr id="34" name="Table 33">
            <a:extLst>
              <a:ext uri="{FF2B5EF4-FFF2-40B4-BE49-F238E27FC236}">
                <a16:creationId xmlns:a16="http://schemas.microsoft.com/office/drawing/2014/main" id="{09089232-0C31-5BED-BFB3-D769B56978A6}"/>
              </a:ext>
            </a:extLst>
          </p:cNvPr>
          <p:cNvGraphicFramePr/>
          <p:nvPr/>
        </p:nvGraphicFramePr>
        <p:xfrm>
          <a:off x="552450" y="2133600"/>
          <a:ext cx="11087100" cy="4057650"/>
        </p:xfrm>
        <a:graphic>
          <a:graphicData uri="http://schemas.openxmlformats.org/drawingml/2006/table">
            <a:tbl>
              <a:tblPr/>
              <a:tblGrid>
                <a:gridCol w="2266950">
                  <a:extLst>
                    <a:ext uri="{9D8B030D-6E8A-4147-A177-3AD203B41FA5}">
                      <a16:colId xmlns:a16="http://schemas.microsoft.com/office/drawing/2014/main" val="20000"/>
                    </a:ext>
                  </a:extLst>
                </a:gridCol>
                <a:gridCol w="1352550">
                  <a:extLst>
                    <a:ext uri="{9D8B030D-6E8A-4147-A177-3AD203B41FA5}">
                      <a16:colId xmlns:a16="http://schemas.microsoft.com/office/drawing/2014/main" val="20001"/>
                    </a:ext>
                  </a:extLst>
                </a:gridCol>
                <a:gridCol w="1352550">
                  <a:extLst>
                    <a:ext uri="{9D8B030D-6E8A-4147-A177-3AD203B41FA5}">
                      <a16:colId xmlns:a16="http://schemas.microsoft.com/office/drawing/2014/main" val="20002"/>
                    </a:ext>
                  </a:extLst>
                </a:gridCol>
                <a:gridCol w="1352550">
                  <a:extLst>
                    <a:ext uri="{9D8B030D-6E8A-4147-A177-3AD203B41FA5}">
                      <a16:colId xmlns:a16="http://schemas.microsoft.com/office/drawing/2014/main" val="20003"/>
                    </a:ext>
                  </a:extLst>
                </a:gridCol>
                <a:gridCol w="1476375">
                  <a:extLst>
                    <a:ext uri="{9D8B030D-6E8A-4147-A177-3AD203B41FA5}">
                      <a16:colId xmlns:a16="http://schemas.microsoft.com/office/drawing/2014/main" val="20004"/>
                    </a:ext>
                  </a:extLst>
                </a:gridCol>
                <a:gridCol w="1581150">
                  <a:extLst>
                    <a:ext uri="{9D8B030D-6E8A-4147-A177-3AD203B41FA5}">
                      <a16:colId xmlns:a16="http://schemas.microsoft.com/office/drawing/2014/main" val="20005"/>
                    </a:ext>
                  </a:extLst>
                </a:gridCol>
                <a:gridCol w="1704975">
                  <a:extLst>
                    <a:ext uri="{9D8B030D-6E8A-4147-A177-3AD203B41FA5}">
                      <a16:colId xmlns:a16="http://schemas.microsoft.com/office/drawing/2014/main" val="20006"/>
                    </a:ext>
                  </a:extLst>
                </a:gridCol>
              </a:tblGrid>
              <a:tr h="628650">
                <a:tc>
                  <a:txBody>
                    <a:bodyPr/>
                    <a:lstStyle/>
                    <a:p>
                      <a:pPr algn="ctr"/>
                      <a:r>
                        <a:rPr sz="1050" b="1">
                          <a:solidFill>
                            <a:srgbClr val="FFFFFF"/>
                          </a:solidFill>
                          <a:latin typeface="Arial"/>
                          <a:ea typeface="Arial"/>
                          <a:cs typeface="Arial"/>
                        </a:rPr>
                        <a:t>Role / stakeholder</a:t>
                      </a:r>
                    </a:p>
                  </a:txBody>
                  <a:tcPr anchor="ctr">
                    <a:solidFill>
                      <a:srgbClr val="070154"/>
                    </a:solidFill>
                  </a:tcPr>
                </a:tc>
                <a:tc>
                  <a:txBody>
                    <a:bodyPr/>
                    <a:lstStyle/>
                    <a:p>
                      <a:pPr algn="ctr"/>
                      <a:r>
                        <a:rPr sz="1050" b="1">
                          <a:solidFill>
                            <a:srgbClr val="FFFFFF"/>
                          </a:solidFill>
                          <a:latin typeface="Arial"/>
                          <a:ea typeface="Arial"/>
                          <a:cs typeface="Arial"/>
                        </a:rPr>
                        <a:t>Opportunity Brief</a:t>
                      </a:r>
                    </a:p>
                  </a:txBody>
                  <a:tcPr anchor="ctr">
                    <a:solidFill>
                      <a:srgbClr val="070154"/>
                    </a:solidFill>
                  </a:tcPr>
                </a:tc>
                <a:tc>
                  <a:txBody>
                    <a:bodyPr/>
                    <a:lstStyle/>
                    <a:p>
                      <a:pPr algn="ctr"/>
                      <a:r>
                        <a:rPr sz="1050" b="1">
                          <a:solidFill>
                            <a:srgbClr val="FFFFFF"/>
                          </a:solidFill>
                          <a:latin typeface="Arial"/>
                          <a:ea typeface="Arial"/>
                          <a:cs typeface="Arial"/>
                        </a:rPr>
                        <a:t>Product Brief</a:t>
                      </a:r>
                    </a:p>
                  </a:txBody>
                  <a:tcPr anchor="ctr">
                    <a:solidFill>
                      <a:srgbClr val="070154"/>
                    </a:solidFill>
                  </a:tcPr>
                </a:tc>
                <a:tc>
                  <a:txBody>
                    <a:bodyPr/>
                    <a:lstStyle/>
                    <a:p>
                      <a:pPr algn="ctr"/>
                      <a:r>
                        <a:rPr sz="1050" b="1">
                          <a:solidFill>
                            <a:srgbClr val="FFFFFF"/>
                          </a:solidFill>
                          <a:latin typeface="Arial"/>
                          <a:ea typeface="Arial"/>
                          <a:cs typeface="Arial"/>
                        </a:rPr>
                        <a:t>Feature Brief</a:t>
                      </a:r>
                    </a:p>
                  </a:txBody>
                  <a:tcPr anchor="ctr">
                    <a:solidFill>
                      <a:srgbClr val="070154"/>
                    </a:solidFill>
                  </a:tcPr>
                </a:tc>
                <a:tc>
                  <a:txBody>
                    <a:bodyPr/>
                    <a:lstStyle/>
                    <a:p>
                      <a:pPr algn="ctr"/>
                      <a:r>
                        <a:rPr sz="1050" b="1">
                          <a:solidFill>
                            <a:srgbClr val="FFFFFF"/>
                          </a:solidFill>
                          <a:latin typeface="Arial"/>
                          <a:ea typeface="Arial"/>
                          <a:cs typeface="Arial"/>
                        </a:rPr>
                        <a:t>Technical Implementation Plan</a:t>
                      </a:r>
                    </a:p>
                  </a:txBody>
                  <a:tcPr anchor="ctr">
                    <a:solidFill>
                      <a:srgbClr val="070154"/>
                    </a:solidFill>
                  </a:tcPr>
                </a:tc>
                <a:tc>
                  <a:txBody>
                    <a:bodyPr/>
                    <a:lstStyle/>
                    <a:p>
                      <a:pPr algn="ctr"/>
                      <a:r>
                        <a:rPr sz="1050" b="1">
                          <a:solidFill>
                            <a:srgbClr val="FFFFFF"/>
                          </a:solidFill>
                          <a:latin typeface="Arial"/>
                          <a:ea typeface="Arial"/>
                          <a:cs typeface="Arial"/>
                        </a:rPr>
                        <a:t>Testing / QA / UAT Plan</a:t>
                      </a:r>
                    </a:p>
                  </a:txBody>
                  <a:tcPr anchor="ctr">
                    <a:solidFill>
                      <a:srgbClr val="070154"/>
                    </a:solidFill>
                  </a:tcPr>
                </a:tc>
                <a:tc>
                  <a:txBody>
                    <a:bodyPr/>
                    <a:lstStyle/>
                    <a:p>
                      <a:pPr algn="ctr"/>
                      <a:r>
                        <a:rPr sz="1050" b="1">
                          <a:solidFill>
                            <a:srgbClr val="FFFFFF"/>
                          </a:solidFill>
                          <a:latin typeface="Arial"/>
                          <a:ea typeface="Arial"/>
                          <a:cs typeface="Arial"/>
                        </a:rPr>
                        <a:t>Initial Release / GTM Plan</a:t>
                      </a:r>
                    </a:p>
                  </a:txBody>
                  <a:tcPr anchor="ctr">
                    <a:solidFill>
                      <a:srgbClr val="070154"/>
                    </a:solidFill>
                  </a:tcPr>
                </a:tc>
                <a:extLst>
                  <a:ext uri="{0D108BD9-81ED-4DB2-BD59-A6C34878D82A}">
                    <a16:rowId xmlns:a16="http://schemas.microsoft.com/office/drawing/2014/main" val="10000"/>
                  </a:ext>
                </a:extLst>
              </a:tr>
              <a:tr h="381000">
                <a:tc>
                  <a:txBody>
                    <a:bodyPr/>
                    <a:lstStyle/>
                    <a:p>
                      <a:pPr algn="l"/>
                      <a:r>
                        <a:rPr sz="975" b="1">
                          <a:solidFill>
                            <a:srgbClr val="070154"/>
                          </a:solidFill>
                          <a:latin typeface="Arial"/>
                          <a:ea typeface="Arial"/>
                          <a:cs typeface="Arial"/>
                        </a:rPr>
                        <a:t>Product Manager / Product Lead</a:t>
                      </a:r>
                    </a:p>
                  </a:txBody>
                  <a:tcPr anchor="ctr">
                    <a:solidFill>
                      <a:srgbClr val="E8EEF8"/>
                    </a:solidFill>
                  </a:tcPr>
                </a:tc>
                <a:tc>
                  <a:txBody>
                    <a:bodyPr/>
                    <a:lstStyle/>
                    <a:p>
                      <a:pPr algn="ctr"/>
                      <a:r>
                        <a:rPr sz="1350" b="1">
                          <a:solidFill>
                            <a:srgbClr val="070154"/>
                          </a:solidFill>
                          <a:latin typeface="Arial"/>
                          <a:ea typeface="Arial"/>
                          <a:cs typeface="Arial"/>
                        </a:rPr>
                        <a:t>L</a:t>
                      </a:r>
                    </a:p>
                  </a:txBody>
                  <a:tcPr anchor="ctr">
                    <a:solidFill>
                      <a:srgbClr val="CDEFD9"/>
                    </a:solidFill>
                  </a:tcPr>
                </a:tc>
                <a:tc>
                  <a:txBody>
                    <a:bodyPr/>
                    <a:lstStyle/>
                    <a:p>
                      <a:pPr algn="ctr"/>
                      <a:r>
                        <a:rPr sz="1350" b="1">
                          <a:solidFill>
                            <a:srgbClr val="070154"/>
                          </a:solidFill>
                          <a:latin typeface="Arial"/>
                          <a:ea typeface="Arial"/>
                          <a:cs typeface="Arial"/>
                        </a:rPr>
                        <a:t>L</a:t>
                      </a:r>
                    </a:p>
                  </a:txBody>
                  <a:tcPr anchor="ctr">
                    <a:solidFill>
                      <a:srgbClr val="CDEFD9"/>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I</a:t>
                      </a:r>
                    </a:p>
                  </a:txBody>
                  <a:tcPr anchor="ctr">
                    <a:solidFill>
                      <a:srgbClr val="FFFFFF"/>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L</a:t>
                      </a:r>
                    </a:p>
                  </a:txBody>
                  <a:tcPr anchor="ctr">
                    <a:solidFill>
                      <a:srgbClr val="CDEFD9"/>
                    </a:solidFill>
                  </a:tcPr>
                </a:tc>
                <a:extLst>
                  <a:ext uri="{0D108BD9-81ED-4DB2-BD59-A6C34878D82A}">
                    <a16:rowId xmlns:a16="http://schemas.microsoft.com/office/drawing/2014/main" val="10001"/>
                  </a:ext>
                </a:extLst>
              </a:tr>
              <a:tr h="381000">
                <a:tc>
                  <a:txBody>
                    <a:bodyPr/>
                    <a:lstStyle/>
                    <a:p>
                      <a:pPr algn="l"/>
                      <a:r>
                        <a:rPr sz="975" b="1">
                          <a:solidFill>
                            <a:srgbClr val="070154"/>
                          </a:solidFill>
                          <a:latin typeface="Arial"/>
                          <a:ea typeface="Arial"/>
                          <a:cs typeface="Arial"/>
                        </a:rPr>
                        <a:t>Business / Initiative Sponsor</a:t>
                      </a:r>
                    </a:p>
                  </a:txBody>
                  <a:tcPr anchor="ctr">
                    <a:solidFill>
                      <a:srgbClr val="E8EEF8"/>
                    </a:solidFill>
                  </a:tcPr>
                </a:tc>
                <a:tc>
                  <a:txBody>
                    <a:bodyPr/>
                    <a:lstStyle/>
                    <a:p>
                      <a:pPr algn="ctr"/>
                      <a:r>
                        <a:rPr sz="1350" b="1">
                          <a:solidFill>
                            <a:srgbClr val="070154"/>
                          </a:solidFill>
                          <a:latin typeface="Arial"/>
                          <a:ea typeface="Arial"/>
                          <a:cs typeface="Arial"/>
                        </a:rPr>
                        <a:t>A</a:t>
                      </a:r>
                    </a:p>
                  </a:txBody>
                  <a:tcPr anchor="ctr">
                    <a:solidFill>
                      <a:srgbClr val="FFF0BE"/>
                    </a:solidFill>
                  </a:tcPr>
                </a:tc>
                <a:tc>
                  <a:txBody>
                    <a:bodyPr/>
                    <a:lstStyle/>
                    <a:p>
                      <a:pPr algn="ctr"/>
                      <a:r>
                        <a:rPr sz="1350" b="1">
                          <a:solidFill>
                            <a:srgbClr val="070154"/>
                          </a:solidFill>
                          <a:latin typeface="Arial"/>
                          <a:ea typeface="Arial"/>
                          <a:cs typeface="Arial"/>
                        </a:rPr>
                        <a:t>A</a:t>
                      </a:r>
                    </a:p>
                  </a:txBody>
                  <a:tcPr anchor="ctr">
                    <a:solidFill>
                      <a:srgbClr val="FFF0BE"/>
                    </a:solidFill>
                  </a:tcPr>
                </a:tc>
                <a:tc>
                  <a:txBody>
                    <a:bodyPr/>
                    <a:lstStyle/>
                    <a:p>
                      <a:pPr algn="ctr"/>
                      <a:r>
                        <a:rPr sz="1350" b="1">
                          <a:solidFill>
                            <a:srgbClr val="070154"/>
                          </a:solidFill>
                          <a:latin typeface="Arial"/>
                          <a:ea typeface="Arial"/>
                          <a:cs typeface="Arial"/>
                        </a:rPr>
                        <a:t>I</a:t>
                      </a:r>
                    </a:p>
                  </a:txBody>
                  <a:tcPr anchor="ctr">
                    <a:solidFill>
                      <a:srgbClr val="F6F8FC"/>
                    </a:solidFill>
                  </a:tcPr>
                </a:tc>
                <a:tc>
                  <a:txBody>
                    <a:bodyPr/>
                    <a:lstStyle/>
                    <a:p>
                      <a:pPr algn="ctr"/>
                      <a:r>
                        <a:rPr sz="1350" b="1">
                          <a:solidFill>
                            <a:srgbClr val="070154"/>
                          </a:solidFill>
                          <a:latin typeface="Arial"/>
                          <a:ea typeface="Arial"/>
                          <a:cs typeface="Arial"/>
                        </a:rPr>
                        <a:t>I</a:t>
                      </a:r>
                    </a:p>
                  </a:txBody>
                  <a:tcPr anchor="ctr">
                    <a:solidFill>
                      <a:srgbClr val="F6F8FC"/>
                    </a:solidFill>
                  </a:tcPr>
                </a:tc>
                <a:tc>
                  <a:txBody>
                    <a:bodyPr/>
                    <a:lstStyle/>
                    <a:p>
                      <a:pPr algn="ctr"/>
                      <a:r>
                        <a:rPr sz="1350" b="1">
                          <a:solidFill>
                            <a:srgbClr val="070154"/>
                          </a:solidFill>
                          <a:latin typeface="Arial"/>
                          <a:ea typeface="Arial"/>
                          <a:cs typeface="Arial"/>
                        </a:rPr>
                        <a:t>I</a:t>
                      </a:r>
                    </a:p>
                  </a:txBody>
                  <a:tcPr anchor="ctr">
                    <a:solidFill>
                      <a:srgbClr val="F6F8FC"/>
                    </a:solidFill>
                  </a:tcPr>
                </a:tc>
                <a:tc>
                  <a:txBody>
                    <a:bodyPr/>
                    <a:lstStyle/>
                    <a:p>
                      <a:pPr algn="ctr"/>
                      <a:r>
                        <a:rPr sz="1350" b="1">
                          <a:solidFill>
                            <a:srgbClr val="070154"/>
                          </a:solidFill>
                          <a:latin typeface="Arial"/>
                          <a:ea typeface="Arial"/>
                          <a:cs typeface="Arial"/>
                        </a:rPr>
                        <a:t>A</a:t>
                      </a:r>
                    </a:p>
                  </a:txBody>
                  <a:tcPr anchor="ctr">
                    <a:solidFill>
                      <a:srgbClr val="FFF0BE"/>
                    </a:solidFill>
                  </a:tcPr>
                </a:tc>
                <a:extLst>
                  <a:ext uri="{0D108BD9-81ED-4DB2-BD59-A6C34878D82A}">
                    <a16:rowId xmlns:a16="http://schemas.microsoft.com/office/drawing/2014/main" val="10002"/>
                  </a:ext>
                </a:extLst>
              </a:tr>
              <a:tr h="381000">
                <a:tc>
                  <a:txBody>
                    <a:bodyPr/>
                    <a:lstStyle/>
                    <a:p>
                      <a:pPr algn="l"/>
                      <a:r>
                        <a:rPr sz="975" b="1">
                          <a:solidFill>
                            <a:srgbClr val="070154"/>
                          </a:solidFill>
                          <a:latin typeface="Arial"/>
                          <a:ea typeface="Arial"/>
                          <a:cs typeface="Arial"/>
                        </a:rPr>
                        <a:t>Product Owner / Delivery Lead</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L</a:t>
                      </a:r>
                    </a:p>
                  </a:txBody>
                  <a:tcPr anchor="ctr">
                    <a:solidFill>
                      <a:srgbClr val="CDEFD9"/>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extLst>
                  <a:ext uri="{0D108BD9-81ED-4DB2-BD59-A6C34878D82A}">
                    <a16:rowId xmlns:a16="http://schemas.microsoft.com/office/drawing/2014/main" val="10003"/>
                  </a:ext>
                </a:extLst>
              </a:tr>
              <a:tr h="381000">
                <a:tc>
                  <a:txBody>
                    <a:bodyPr/>
                    <a:lstStyle/>
                    <a:p>
                      <a:pPr algn="l"/>
                      <a:r>
                        <a:rPr sz="975" b="1">
                          <a:solidFill>
                            <a:srgbClr val="070154"/>
                          </a:solidFill>
                          <a:latin typeface="Arial"/>
                          <a:ea typeface="Arial"/>
                          <a:cs typeface="Arial"/>
                        </a:rPr>
                        <a:t>UX / Design</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I</a:t>
                      </a:r>
                    </a:p>
                  </a:txBody>
                  <a:tcPr anchor="ctr">
                    <a:solidFill>
                      <a:srgbClr val="F6F8FC"/>
                    </a:solidFill>
                  </a:tcPr>
                </a:tc>
                <a:tc>
                  <a:txBody>
                    <a:bodyPr/>
                    <a:lstStyle/>
                    <a:p>
                      <a:pPr algn="ctr"/>
                      <a:r>
                        <a:rPr sz="1350" b="1">
                          <a:solidFill>
                            <a:srgbClr val="070154"/>
                          </a:solidFill>
                          <a:latin typeface="Arial"/>
                          <a:ea typeface="Arial"/>
                          <a:cs typeface="Arial"/>
                        </a:rPr>
                        <a:t>I</a:t>
                      </a:r>
                    </a:p>
                  </a:txBody>
                  <a:tcPr anchor="ctr">
                    <a:solidFill>
                      <a:srgbClr val="F6F8FC"/>
                    </a:solidFill>
                  </a:tcPr>
                </a:tc>
                <a:tc>
                  <a:txBody>
                    <a:bodyPr/>
                    <a:lstStyle/>
                    <a:p>
                      <a:pPr algn="ctr"/>
                      <a:r>
                        <a:rPr sz="1350" b="1">
                          <a:solidFill>
                            <a:srgbClr val="070154"/>
                          </a:solidFill>
                          <a:latin typeface="Arial"/>
                          <a:ea typeface="Arial"/>
                          <a:cs typeface="Arial"/>
                        </a:rPr>
                        <a:t>C</a:t>
                      </a:r>
                    </a:p>
                  </a:txBody>
                  <a:tcPr anchor="ctr">
                    <a:solidFill>
                      <a:srgbClr val="E8EEF8"/>
                    </a:solidFill>
                  </a:tcPr>
                </a:tc>
                <a:extLst>
                  <a:ext uri="{0D108BD9-81ED-4DB2-BD59-A6C34878D82A}">
                    <a16:rowId xmlns:a16="http://schemas.microsoft.com/office/drawing/2014/main" val="10004"/>
                  </a:ext>
                </a:extLst>
              </a:tr>
              <a:tr h="381000">
                <a:tc>
                  <a:txBody>
                    <a:bodyPr/>
                    <a:lstStyle/>
                    <a:p>
                      <a:pPr algn="l"/>
                      <a:r>
                        <a:rPr sz="975" b="1">
                          <a:solidFill>
                            <a:srgbClr val="070154"/>
                          </a:solidFill>
                          <a:latin typeface="Arial"/>
                          <a:ea typeface="Arial"/>
                          <a:cs typeface="Arial"/>
                        </a:rPr>
                        <a:t>Engineering Lead / Architect</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L</a:t>
                      </a:r>
                    </a:p>
                  </a:txBody>
                  <a:tcPr anchor="ctr">
                    <a:solidFill>
                      <a:srgbClr val="CDEFD9"/>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extLst>
                  <a:ext uri="{0D108BD9-81ED-4DB2-BD59-A6C34878D82A}">
                    <a16:rowId xmlns:a16="http://schemas.microsoft.com/office/drawing/2014/main" val="10005"/>
                  </a:ext>
                </a:extLst>
              </a:tr>
              <a:tr h="381000">
                <a:tc>
                  <a:txBody>
                    <a:bodyPr/>
                    <a:lstStyle/>
                    <a:p>
                      <a:pPr algn="l"/>
                      <a:r>
                        <a:rPr sz="975" b="1">
                          <a:solidFill>
                            <a:srgbClr val="070154"/>
                          </a:solidFill>
                          <a:latin typeface="Arial"/>
                          <a:ea typeface="Arial"/>
                          <a:cs typeface="Arial"/>
                        </a:rPr>
                        <a:t>QA / UAT</a:t>
                      </a:r>
                    </a:p>
                  </a:txBody>
                  <a:tcPr anchor="ctr">
                    <a:solidFill>
                      <a:srgbClr val="E8EEF8"/>
                    </a:solidFill>
                  </a:tcPr>
                </a:tc>
                <a:tc>
                  <a:txBody>
                    <a:bodyPr/>
                    <a:lstStyle/>
                    <a:p>
                      <a:pPr algn="ctr"/>
                      <a:r>
                        <a:rPr sz="1350" b="1">
                          <a:solidFill>
                            <a:srgbClr val="070154"/>
                          </a:solidFill>
                          <a:latin typeface="Arial"/>
                          <a:ea typeface="Arial"/>
                          <a:cs typeface="Arial"/>
                        </a:rPr>
                        <a:t>I</a:t>
                      </a:r>
                    </a:p>
                  </a:txBody>
                  <a:tcPr anchor="ctr">
                    <a:solidFill>
                      <a:srgbClr val="F6F8FC"/>
                    </a:solidFill>
                  </a:tcPr>
                </a:tc>
                <a:tc>
                  <a:txBody>
                    <a:bodyPr/>
                    <a:lstStyle/>
                    <a:p>
                      <a:pPr algn="ctr"/>
                      <a:r>
                        <a:rPr sz="1350" b="1">
                          <a:solidFill>
                            <a:srgbClr val="070154"/>
                          </a:solidFill>
                          <a:latin typeface="Arial"/>
                          <a:ea typeface="Arial"/>
                          <a:cs typeface="Arial"/>
                        </a:rPr>
                        <a:t>I</a:t>
                      </a:r>
                    </a:p>
                  </a:txBody>
                  <a:tcPr anchor="ctr">
                    <a:solidFill>
                      <a:srgbClr val="F6F8FC"/>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L</a:t>
                      </a:r>
                    </a:p>
                  </a:txBody>
                  <a:tcPr anchor="ctr">
                    <a:solidFill>
                      <a:srgbClr val="CDEFD9"/>
                    </a:solidFill>
                  </a:tcPr>
                </a:tc>
                <a:tc>
                  <a:txBody>
                    <a:bodyPr/>
                    <a:lstStyle/>
                    <a:p>
                      <a:pPr algn="ctr"/>
                      <a:r>
                        <a:rPr sz="1350" b="1">
                          <a:solidFill>
                            <a:srgbClr val="070154"/>
                          </a:solidFill>
                          <a:latin typeface="Arial"/>
                          <a:ea typeface="Arial"/>
                          <a:cs typeface="Arial"/>
                        </a:rPr>
                        <a:t>C</a:t>
                      </a:r>
                    </a:p>
                  </a:txBody>
                  <a:tcPr anchor="ctr">
                    <a:solidFill>
                      <a:srgbClr val="E8EEF8"/>
                    </a:solidFill>
                  </a:tcPr>
                </a:tc>
                <a:extLst>
                  <a:ext uri="{0D108BD9-81ED-4DB2-BD59-A6C34878D82A}">
                    <a16:rowId xmlns:a16="http://schemas.microsoft.com/office/drawing/2014/main" val="10006"/>
                  </a:ext>
                </a:extLst>
              </a:tr>
              <a:tr h="381000">
                <a:tc>
                  <a:txBody>
                    <a:bodyPr/>
                    <a:lstStyle/>
                    <a:p>
                      <a:pPr algn="l"/>
                      <a:r>
                        <a:rPr sz="975" b="1">
                          <a:solidFill>
                            <a:srgbClr val="070154"/>
                          </a:solidFill>
                          <a:latin typeface="Arial"/>
                          <a:ea typeface="Arial"/>
                          <a:cs typeface="Arial"/>
                        </a:rPr>
                        <a:t>Release / Operations</a:t>
                      </a:r>
                    </a:p>
                  </a:txBody>
                  <a:tcPr anchor="ctr">
                    <a:solidFill>
                      <a:srgbClr val="E8EEF8"/>
                    </a:solidFill>
                  </a:tcPr>
                </a:tc>
                <a:tc>
                  <a:txBody>
                    <a:bodyPr/>
                    <a:lstStyle/>
                    <a:p>
                      <a:pPr algn="ctr"/>
                      <a:r>
                        <a:rPr sz="1350" b="1">
                          <a:solidFill>
                            <a:srgbClr val="070154"/>
                          </a:solidFill>
                          <a:latin typeface="Arial"/>
                          <a:ea typeface="Arial"/>
                          <a:cs typeface="Arial"/>
                        </a:rPr>
                        <a:t>I</a:t>
                      </a:r>
                    </a:p>
                  </a:txBody>
                  <a:tcPr anchor="ctr">
                    <a:solidFill>
                      <a:srgbClr val="FFFFFF"/>
                    </a:solidFill>
                  </a:tcPr>
                </a:tc>
                <a:tc>
                  <a:txBody>
                    <a:bodyPr/>
                    <a:lstStyle/>
                    <a:p>
                      <a:pPr algn="ctr"/>
                      <a:r>
                        <a:rPr sz="1350" b="1">
                          <a:solidFill>
                            <a:srgbClr val="070154"/>
                          </a:solidFill>
                          <a:latin typeface="Arial"/>
                          <a:ea typeface="Arial"/>
                          <a:cs typeface="Arial"/>
                        </a:rPr>
                        <a:t>I</a:t>
                      </a:r>
                    </a:p>
                  </a:txBody>
                  <a:tcPr anchor="ctr">
                    <a:solidFill>
                      <a:srgbClr val="FFFFFF"/>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A</a:t>
                      </a:r>
                    </a:p>
                  </a:txBody>
                  <a:tcPr anchor="ctr">
                    <a:solidFill>
                      <a:srgbClr val="FFF0BE"/>
                    </a:solidFill>
                  </a:tcPr>
                </a:tc>
                <a:extLst>
                  <a:ext uri="{0D108BD9-81ED-4DB2-BD59-A6C34878D82A}">
                    <a16:rowId xmlns:a16="http://schemas.microsoft.com/office/drawing/2014/main" val="10007"/>
                  </a:ext>
                </a:extLst>
              </a:tr>
              <a:tr h="381000">
                <a:tc>
                  <a:txBody>
                    <a:bodyPr/>
                    <a:lstStyle/>
                    <a:p>
                      <a:pPr algn="l"/>
                      <a:r>
                        <a:rPr sz="975" b="1">
                          <a:solidFill>
                            <a:srgbClr val="070154"/>
                          </a:solidFill>
                          <a:latin typeface="Arial"/>
                          <a:ea typeface="Arial"/>
                          <a:cs typeface="Arial"/>
                        </a:rPr>
                        <a:t>Sales / Customer Success</a:t>
                      </a:r>
                    </a:p>
                  </a:txBody>
                  <a:tcPr anchor="ctr">
                    <a:solidFill>
                      <a:srgbClr val="E8EEF8"/>
                    </a:solidFill>
                  </a:tcPr>
                </a:tc>
                <a:tc>
                  <a:txBody>
                    <a:bodyPr/>
                    <a:lstStyle/>
                    <a:p>
                      <a:pPr algn="ctr"/>
                      <a:r>
                        <a:rPr sz="1350" b="1">
                          <a:solidFill>
                            <a:srgbClr val="070154"/>
                          </a:solidFill>
                          <a:latin typeface="Arial"/>
                          <a:ea typeface="Arial"/>
                          <a:cs typeface="Arial"/>
                        </a:rPr>
                        <a:t>I</a:t>
                      </a:r>
                    </a:p>
                  </a:txBody>
                  <a:tcPr anchor="ctr">
                    <a:solidFill>
                      <a:srgbClr val="F6F8FC"/>
                    </a:solidFill>
                  </a:tcPr>
                </a:tc>
                <a:tc>
                  <a:txBody>
                    <a:bodyPr/>
                    <a:lstStyle/>
                    <a:p>
                      <a:pPr algn="ctr"/>
                      <a:r>
                        <a:rPr sz="1350" b="1">
                          <a:solidFill>
                            <a:srgbClr val="070154"/>
                          </a:solidFill>
                          <a:latin typeface="Arial"/>
                          <a:ea typeface="Arial"/>
                          <a:cs typeface="Arial"/>
                        </a:rPr>
                        <a:t>C</a:t>
                      </a:r>
                    </a:p>
                  </a:txBody>
                  <a:tcPr anchor="ctr">
                    <a:solidFill>
                      <a:srgbClr val="E8EEF8"/>
                    </a:solidFill>
                  </a:tcPr>
                </a:tc>
                <a:tc>
                  <a:txBody>
                    <a:bodyPr/>
                    <a:lstStyle/>
                    <a:p>
                      <a:pPr algn="ctr"/>
                      <a:r>
                        <a:rPr sz="1350" b="1">
                          <a:solidFill>
                            <a:srgbClr val="070154"/>
                          </a:solidFill>
                          <a:latin typeface="Arial"/>
                          <a:ea typeface="Arial"/>
                          <a:cs typeface="Arial"/>
                        </a:rPr>
                        <a:t>I</a:t>
                      </a:r>
                    </a:p>
                  </a:txBody>
                  <a:tcPr anchor="ctr">
                    <a:solidFill>
                      <a:srgbClr val="F6F8FC"/>
                    </a:solidFill>
                  </a:tcPr>
                </a:tc>
                <a:tc>
                  <a:txBody>
                    <a:bodyPr/>
                    <a:lstStyle/>
                    <a:p>
                      <a:pPr algn="ctr"/>
                      <a:r>
                        <a:rPr sz="1350" b="1">
                          <a:solidFill>
                            <a:srgbClr val="070154"/>
                          </a:solidFill>
                          <a:latin typeface="Arial"/>
                          <a:ea typeface="Arial"/>
                          <a:cs typeface="Arial"/>
                        </a:rPr>
                        <a:t>I</a:t>
                      </a:r>
                    </a:p>
                  </a:txBody>
                  <a:tcPr anchor="ctr">
                    <a:solidFill>
                      <a:srgbClr val="F6F8FC"/>
                    </a:solidFill>
                  </a:tcPr>
                </a:tc>
                <a:tc>
                  <a:txBody>
                    <a:bodyPr/>
                    <a:lstStyle/>
                    <a:p>
                      <a:pPr algn="ctr"/>
                      <a:r>
                        <a:rPr sz="1350" b="1">
                          <a:solidFill>
                            <a:srgbClr val="070154"/>
                          </a:solidFill>
                          <a:latin typeface="Arial"/>
                          <a:ea typeface="Arial"/>
                          <a:cs typeface="Arial"/>
                        </a:rPr>
                        <a:t>I</a:t>
                      </a:r>
                    </a:p>
                  </a:txBody>
                  <a:tcPr anchor="ctr">
                    <a:solidFill>
                      <a:srgbClr val="F6F8FC"/>
                    </a:solidFill>
                  </a:tcPr>
                </a:tc>
                <a:tc>
                  <a:txBody>
                    <a:bodyPr/>
                    <a:lstStyle/>
                    <a:p>
                      <a:pPr algn="ctr"/>
                      <a:r>
                        <a:rPr sz="1350" b="1">
                          <a:solidFill>
                            <a:srgbClr val="070154"/>
                          </a:solidFill>
                          <a:latin typeface="Arial"/>
                          <a:ea typeface="Arial"/>
                          <a:cs typeface="Arial"/>
                        </a:rPr>
                        <a:t>C</a:t>
                      </a:r>
                    </a:p>
                  </a:txBody>
                  <a:tcPr anchor="ctr">
                    <a:solidFill>
                      <a:srgbClr val="E8EEF8"/>
                    </a:solidFill>
                  </a:tcPr>
                </a:tc>
                <a:extLst>
                  <a:ext uri="{0D108BD9-81ED-4DB2-BD59-A6C34878D82A}">
                    <a16:rowId xmlns:a16="http://schemas.microsoft.com/office/drawing/2014/main" val="10008"/>
                  </a:ext>
                </a:extLst>
              </a:tr>
              <a:tr h="381000">
                <a:tc>
                  <a:txBody>
                    <a:bodyPr/>
                    <a:lstStyle/>
                    <a:p>
                      <a:pPr algn="l"/>
                      <a:r>
                        <a:rPr sz="975" b="1">
                          <a:solidFill>
                            <a:srgbClr val="070154"/>
                          </a:solidFill>
                          <a:latin typeface="Arial"/>
                          <a:ea typeface="Arial"/>
                          <a:cs typeface="Arial"/>
                        </a:rPr>
                        <a:t>Leadership</a:t>
                      </a:r>
                    </a:p>
                  </a:txBody>
                  <a:tcPr anchor="ctr">
                    <a:solidFill>
                      <a:srgbClr val="E8EEF8"/>
                    </a:solidFill>
                  </a:tcPr>
                </a:tc>
                <a:tc>
                  <a:txBody>
                    <a:bodyPr/>
                    <a:lstStyle/>
                    <a:p>
                      <a:pPr algn="ctr"/>
                      <a:r>
                        <a:rPr sz="1350" b="1">
                          <a:solidFill>
                            <a:srgbClr val="070154"/>
                          </a:solidFill>
                          <a:latin typeface="Arial"/>
                          <a:ea typeface="Arial"/>
                          <a:cs typeface="Arial"/>
                        </a:rPr>
                        <a:t>I</a:t>
                      </a:r>
                    </a:p>
                  </a:txBody>
                  <a:tcPr anchor="ctr">
                    <a:solidFill>
                      <a:srgbClr val="FFFFFF"/>
                    </a:solidFill>
                  </a:tcPr>
                </a:tc>
                <a:tc>
                  <a:txBody>
                    <a:bodyPr/>
                    <a:lstStyle/>
                    <a:p>
                      <a:pPr algn="ctr"/>
                      <a:r>
                        <a:rPr sz="1350" b="1">
                          <a:solidFill>
                            <a:srgbClr val="070154"/>
                          </a:solidFill>
                          <a:latin typeface="Arial"/>
                          <a:ea typeface="Arial"/>
                          <a:cs typeface="Arial"/>
                        </a:rPr>
                        <a:t>I</a:t>
                      </a:r>
                    </a:p>
                  </a:txBody>
                  <a:tcPr anchor="ctr">
                    <a:solidFill>
                      <a:srgbClr val="FFFFFF"/>
                    </a:solidFill>
                  </a:tcPr>
                </a:tc>
                <a:tc>
                  <a:txBody>
                    <a:bodyPr/>
                    <a:lstStyle/>
                    <a:p>
                      <a:pPr algn="ctr"/>
                      <a:r>
                        <a:rPr sz="1350" b="1">
                          <a:solidFill>
                            <a:srgbClr val="070154"/>
                          </a:solidFill>
                          <a:latin typeface="Arial"/>
                          <a:ea typeface="Arial"/>
                          <a:cs typeface="Arial"/>
                        </a:rPr>
                        <a:t>I</a:t>
                      </a:r>
                    </a:p>
                  </a:txBody>
                  <a:tcPr anchor="ctr">
                    <a:solidFill>
                      <a:srgbClr val="FFFFFF"/>
                    </a:solidFill>
                  </a:tcPr>
                </a:tc>
                <a:tc>
                  <a:txBody>
                    <a:bodyPr/>
                    <a:lstStyle/>
                    <a:p>
                      <a:pPr algn="ctr"/>
                      <a:r>
                        <a:rPr sz="1350" b="1">
                          <a:solidFill>
                            <a:srgbClr val="070154"/>
                          </a:solidFill>
                          <a:latin typeface="Arial"/>
                          <a:ea typeface="Arial"/>
                          <a:cs typeface="Arial"/>
                        </a:rPr>
                        <a:t>I</a:t>
                      </a:r>
                    </a:p>
                  </a:txBody>
                  <a:tcPr anchor="ctr">
                    <a:solidFill>
                      <a:srgbClr val="FFFFFF"/>
                    </a:solidFill>
                  </a:tcPr>
                </a:tc>
                <a:tc>
                  <a:txBody>
                    <a:bodyPr/>
                    <a:lstStyle/>
                    <a:p>
                      <a:pPr algn="ctr"/>
                      <a:r>
                        <a:rPr sz="1350" b="1">
                          <a:solidFill>
                            <a:srgbClr val="070154"/>
                          </a:solidFill>
                          <a:latin typeface="Arial"/>
                          <a:ea typeface="Arial"/>
                          <a:cs typeface="Arial"/>
                        </a:rPr>
                        <a:t>I</a:t>
                      </a:r>
                    </a:p>
                  </a:txBody>
                  <a:tcPr anchor="ctr">
                    <a:solidFill>
                      <a:srgbClr val="FFFFFF"/>
                    </a:solidFill>
                  </a:tcPr>
                </a:tc>
                <a:tc>
                  <a:txBody>
                    <a:bodyPr/>
                    <a:lstStyle/>
                    <a:p>
                      <a:pPr algn="ctr"/>
                      <a:r>
                        <a:rPr sz="1350" b="1">
                          <a:solidFill>
                            <a:srgbClr val="070154"/>
                          </a:solidFill>
                          <a:latin typeface="Arial"/>
                          <a:ea typeface="Arial"/>
                          <a:cs typeface="Arial"/>
                        </a:rPr>
                        <a:t>I</a:t>
                      </a:r>
                    </a:p>
                  </a:txBody>
                  <a:tcPr anchor="ctr">
                    <a:solidFill>
                      <a:srgbClr val="FFFFFF"/>
                    </a:solidFill>
                  </a:tcPr>
                </a:tc>
                <a:extLst>
                  <a:ext uri="{0D108BD9-81ED-4DB2-BD59-A6C34878D82A}">
                    <a16:rowId xmlns:a16="http://schemas.microsoft.com/office/drawing/2014/main" val="10009"/>
                  </a:ext>
                </a:extLst>
              </a:tr>
            </a:tbl>
          </a:graphicData>
        </a:graphic>
      </p:graphicFrame>
      <p:sp>
        <p:nvSpPr>
          <p:cNvPr id="16" name="matrixNote">
            <a:extLst>
              <a:ext uri="{FF2B5EF4-FFF2-40B4-BE49-F238E27FC236}">
                <a16:creationId xmlns:a16="http://schemas.microsoft.com/office/drawing/2014/main" id="{E4B87C86-32BB-B5D2-61D6-EBAF5FE40C73}"/>
              </a:ext>
            </a:extLst>
          </p:cNvPr>
          <p:cNvSpPr>
            <a:spLocks noGrp="1"/>
          </p:cNvSpPr>
          <p:nvPr/>
        </p:nvSpPr>
        <p:spPr>
          <a:xfrm>
            <a:off x="552450" y="6276975"/>
            <a:ext cx="8096250" cy="209550"/>
          </a:xfrm>
          <a:prstGeom prst="rect">
            <a:avLst/>
          </a:prstGeom>
          <a:noFill/>
          <a:ln w="0">
            <a:noFill/>
          </a:ln>
        </p:spPr>
        <p:txBody>
          <a:bodyPr lIns="0" tIns="0" rIns="0" bIns="0" anchor="t">
            <a:normAutofit/>
          </a:bodyPr>
          <a:lstStyle/>
          <a:p>
            <a:pPr>
              <a:defRPr sz="900">
                <a:solidFill>
                  <a:srgbClr val="50658E"/>
                </a:solidFill>
                <a:latin typeface="Arial"/>
                <a:ea typeface="Arial"/>
                <a:cs typeface="Arial"/>
              </a:defRPr>
            </a:pPr>
            <a:r>
              <a:rPr sz="900">
                <a:solidFill>
                  <a:srgbClr val="50658E"/>
                </a:solidFill>
                <a:latin typeface="Arial"/>
                <a:ea typeface="Arial"/>
                <a:cs typeface="Arial"/>
              </a:rPr>
              <a:t>A marks the stage-gate approver(s). Multiple approvals are intentional where Product, Engineering, QA, or Release share a readiness decision.</a:t>
            </a:r>
          </a:p>
        </p:txBody>
      </p:sp>
      <p:sp>
        <p:nvSpPr>
          <p:cNvPr id="17" name="validationNote">
            <a:extLst>
              <a:ext uri="{FF2B5EF4-FFF2-40B4-BE49-F238E27FC236}">
                <a16:creationId xmlns:a16="http://schemas.microsoft.com/office/drawing/2014/main" id="{99699B60-1AC5-195F-2023-3BA629A3B1F8}"/>
              </a:ext>
            </a:extLst>
          </p:cNvPr>
          <p:cNvSpPr>
            <a:spLocks noGrp="1"/>
          </p:cNvSpPr>
          <p:nvPr/>
        </p:nvSpPr>
        <p:spPr>
          <a:xfrm>
            <a:off x="8905875" y="6276975"/>
            <a:ext cx="2733675" cy="209550"/>
          </a:xfrm>
          <a:prstGeom prst="rect">
            <a:avLst/>
          </a:prstGeom>
          <a:noFill/>
          <a:ln w="0">
            <a:noFill/>
          </a:ln>
        </p:spPr>
        <p:txBody>
          <a:bodyPr lIns="0" tIns="0" rIns="0" bIns="0" anchor="t">
            <a:normAutofit/>
          </a:bodyPr>
          <a:lstStyle/>
          <a:p>
            <a:pPr algn="r">
              <a:defRPr sz="900" b="1">
                <a:solidFill>
                  <a:srgbClr val="0047FF"/>
                </a:solidFill>
                <a:latin typeface="Arial"/>
                <a:ea typeface="Arial"/>
                <a:cs typeface="Arial"/>
              </a:defRPr>
            </a:pPr>
            <a:r>
              <a:rPr sz="900" b="1">
                <a:solidFill>
                  <a:srgbClr val="0047FF"/>
                </a:solidFill>
                <a:latin typeface="Arial"/>
                <a:ea typeface="Arial"/>
                <a:cs typeface="Arial"/>
              </a:rPr>
              <a:t>Starting role model to validate with DXC</a:t>
            </a:r>
          </a:p>
        </p:txBody>
      </p:sp>
      <p:pic>
        <p:nvPicPr>
          <p:cNvPr id="37" name="Graphic 36">
            <a:extLst>
              <a:ext uri="{FF2B5EF4-FFF2-40B4-BE49-F238E27FC236}">
                <a16:creationId xmlns:a16="http://schemas.microsoft.com/office/drawing/2014/main" id="{BBFA0239-A03A-3E62-C631-58ED890A9154}"/>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552450" y="6543675"/>
            <a:ext cx="1476375" cy="209550"/>
          </a:xfrm>
          <a:prstGeom prst="rect">
            <a:avLst/>
          </a:prstGeom>
        </p:spPr>
      </p:pic>
      <p:sp>
        <p:nvSpPr>
          <p:cNvPr id="19" name="footerNote">
            <a:extLst>
              <a:ext uri="{FF2B5EF4-FFF2-40B4-BE49-F238E27FC236}">
                <a16:creationId xmlns:a16="http://schemas.microsoft.com/office/drawing/2014/main" id="{D5FE5C10-00B1-3E0F-4097-64869E677227}"/>
              </a:ext>
            </a:extLst>
          </p:cNvPr>
          <p:cNvSpPr>
            <a:spLocks noGrp="1"/>
          </p:cNvSpPr>
          <p:nvPr/>
        </p:nvSpPr>
        <p:spPr>
          <a:xfrm>
            <a:off x="3905250" y="6581775"/>
            <a:ext cx="4381500" cy="152400"/>
          </a:xfrm>
          <a:prstGeom prst="rect">
            <a:avLst/>
          </a:prstGeom>
          <a:noFill/>
          <a:ln w="0">
            <a:noFill/>
          </a:ln>
        </p:spPr>
        <p:txBody>
          <a:bodyPr lIns="0" tIns="0" rIns="0" bIns="0" anchor="t">
            <a:normAutofit/>
          </a:bodyPr>
          <a:lstStyle/>
          <a:p>
            <a:pPr algn="ctr">
              <a:defRPr sz="825">
                <a:solidFill>
                  <a:srgbClr val="50658E"/>
                </a:solidFill>
                <a:latin typeface="Arial"/>
                <a:ea typeface="Arial"/>
                <a:cs typeface="Arial"/>
              </a:defRPr>
            </a:pPr>
            <a:r>
              <a:rPr sz="825">
                <a:solidFill>
                  <a:srgbClr val="50658E"/>
                </a:solidFill>
                <a:latin typeface="Arial"/>
                <a:ea typeface="Arial"/>
                <a:cs typeface="Arial"/>
              </a:rPr>
              <a:t>The lead owns the handoff to the next artifact.</a:t>
            </a:r>
          </a:p>
        </p:txBody>
      </p:sp>
      <p:sp>
        <p:nvSpPr>
          <p:cNvPr id="3" name="Rectangle 2">
            <a:extLst>
              <a:ext uri="{FF2B5EF4-FFF2-40B4-BE49-F238E27FC236}">
                <a16:creationId xmlns:a16="http://schemas.microsoft.com/office/drawing/2014/main" id="{893C26F2-47F9-ED20-E103-1DAE401AB4F7}"/>
              </a:ext>
            </a:extLst>
          </p:cNvPr>
          <p:cNvSpPr/>
          <p:nvPr/>
        </p:nvSpPr>
        <p:spPr>
          <a:xfrm>
            <a:off x="8905875" y="1085850"/>
            <a:ext cx="1463610" cy="243329"/>
          </a:xfrm>
          <a:prstGeom prst="rect">
            <a:avLst/>
          </a:prstGeom>
          <a:solidFill>
            <a:srgbClr val="F52C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Merge C &amp; I</a:t>
            </a:r>
          </a:p>
        </p:txBody>
      </p:sp>
      <p:sp>
        <p:nvSpPr>
          <p:cNvPr id="15" name="Rectangle 14">
            <a:extLst>
              <a:ext uri="{FF2B5EF4-FFF2-40B4-BE49-F238E27FC236}">
                <a16:creationId xmlns:a16="http://schemas.microsoft.com/office/drawing/2014/main" id="{C11CC9F1-538B-35C4-F7C6-E5C9840C4900}"/>
              </a:ext>
            </a:extLst>
          </p:cNvPr>
          <p:cNvSpPr/>
          <p:nvPr/>
        </p:nvSpPr>
        <p:spPr>
          <a:xfrm>
            <a:off x="7352907" y="171450"/>
            <a:ext cx="3733015" cy="704849"/>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t>@Gerardo – can you help me make the C and I’s the same? Hopefully just a copy / paste. </a:t>
            </a:r>
            <a:endParaRPr lang="en-US" sz="1200">
              <a:cs typeface="Arial"/>
            </a:endParaRPr>
          </a:p>
          <a:p>
            <a:pPr algn="ctr"/>
            <a:r>
              <a:rPr lang="en-US" sz="1200"/>
              <a:t>Sameer to review</a:t>
            </a:r>
            <a:endParaRPr lang="en-US" sz="1200">
              <a:cs typeface="Arial"/>
            </a:endParaRPr>
          </a:p>
        </p:txBody>
      </p:sp>
    </p:spTree>
    <p:extLst>
      <p:ext uri="{BB962C8B-B14F-4D97-AF65-F5344CB8AC3E}">
        <p14:creationId xmlns:p14="http://schemas.microsoft.com/office/powerpoint/2010/main" val="34821729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686276A1-5376-45C3-870F-DB80D479831A}"/>
              </a:ext>
            </a:extLst>
          </p:cNvPr>
          <p:cNvSpPr>
            <a:spLocks noGrp="1"/>
          </p:cNvSpPr>
          <p:nvPr/>
        </p:nvSpPr>
        <p:spPr>
          <a:xfrm>
            <a:off x="457200" y="552450"/>
            <a:ext cx="11125200" cy="590550"/>
          </a:xfrm>
          <a:prstGeom prst="rect">
            <a:avLst/>
          </a:prstGeom>
          <a:noFill/>
          <a:ln w="0">
            <a:noFill/>
          </a:ln>
        </p:spPr>
        <p:txBody>
          <a:bodyPr anchor="t">
            <a:normAutofit/>
          </a:bodyPr>
          <a:lstStyle/>
          <a:p>
            <a:pPr>
              <a:lnSpc>
                <a:spcPct val="98000"/>
              </a:lnSpc>
              <a:buNone/>
              <a:defRPr sz="2325" b="1" i="0">
                <a:solidFill>
                  <a:srgbClr val="070154"/>
                </a:solidFill>
                <a:latin typeface="Arial"/>
                <a:ea typeface="Arial"/>
                <a:cs typeface="Arial"/>
              </a:defRPr>
            </a:pPr>
            <a:r>
              <a:rPr sz="2325" b="1" i="0">
                <a:solidFill>
                  <a:srgbClr val="070154"/>
                </a:solidFill>
                <a:latin typeface="Arial"/>
                <a:ea typeface="Arial"/>
                <a:cs typeface="Arial"/>
              </a:rPr>
              <a:t>Why this work matters</a:t>
            </a:r>
          </a:p>
        </p:txBody>
      </p:sp>
      <p:sp>
        <p:nvSpPr>
          <p:cNvPr id="3" name="Rectangle 2">
            <a:extLst>
              <a:ext uri="{FF2B5EF4-FFF2-40B4-BE49-F238E27FC236}">
                <a16:creationId xmlns:a16="http://schemas.microsoft.com/office/drawing/2014/main" id="{6F78DEBD-9CE7-4EE6-91C1-4B54748CF8F4}"/>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The project connects live work to a clearer Product and R&amp;D operating model.</a:t>
            </a:r>
          </a:p>
        </p:txBody>
      </p:sp>
      <p:sp>
        <p:nvSpPr>
          <p:cNvPr id="4" name="Rectangle 3">
            <a:extLst>
              <a:ext uri="{FF2B5EF4-FFF2-40B4-BE49-F238E27FC236}">
                <a16:creationId xmlns:a16="http://schemas.microsoft.com/office/drawing/2014/main" id="{B3CECF88-E945-4F0D-BEB2-2C95D1FDF28B}"/>
              </a:ext>
            </a:extLst>
          </p:cNvPr>
          <p:cNvSpPr>
            <a:spLocks noGrp="1"/>
          </p:cNvSpPr>
          <p:nvPr/>
        </p:nvSpPr>
        <p:spPr>
          <a:xfrm>
            <a:off x="457200" y="1447800"/>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BUSINESS NEED</a:t>
            </a:r>
          </a:p>
        </p:txBody>
      </p:sp>
      <p:sp>
        <p:nvSpPr>
          <p:cNvPr id="5" name="Rectangle 4">
            <a:extLst>
              <a:ext uri="{FF2B5EF4-FFF2-40B4-BE49-F238E27FC236}">
                <a16:creationId xmlns:a16="http://schemas.microsoft.com/office/drawing/2014/main" id="{8F342954-1AF2-483C-99A6-CD6602E26193}"/>
              </a:ext>
            </a:extLst>
          </p:cNvPr>
          <p:cNvSpPr>
            <a:spLocks noGrp="1"/>
          </p:cNvSpPr>
          <p:nvPr/>
        </p:nvSpPr>
        <p:spPr>
          <a:xfrm>
            <a:off x="457200" y="1790700"/>
            <a:ext cx="5095875" cy="1066800"/>
          </a:xfrm>
          <a:prstGeom prst="rect">
            <a:avLst/>
          </a:prstGeom>
          <a:noFill/>
          <a:ln w="0">
            <a:noFill/>
          </a:ln>
        </p:spPr>
        <p:txBody>
          <a:bodyPr anchor="t">
            <a:normAutofit fontScale="91283"/>
          </a:bodyPr>
          <a:lstStyle/>
          <a:p>
            <a:pPr>
              <a:lnSpc>
                <a:spcPct val="114000"/>
              </a:lnSpc>
              <a:buNone/>
              <a:defRPr sz="1575" b="0" i="0">
                <a:solidFill>
                  <a:srgbClr val="070154"/>
                </a:solidFill>
                <a:latin typeface="Arial"/>
                <a:ea typeface="Arial"/>
                <a:cs typeface="Arial"/>
              </a:defRPr>
            </a:pPr>
            <a:r>
              <a:rPr sz="1575" b="0" i="0">
                <a:solidFill>
                  <a:srgbClr val="070154"/>
                </a:solidFill>
                <a:latin typeface="Arial"/>
                <a:ea typeface="Arial"/>
                <a:cs typeface="Arial"/>
              </a:rPr>
              <a:t>DentalXChange is growing and maturing its SaaS business model. Leadership wants to identify meaningful opportunities quickly, then activate changes through live work.</a:t>
            </a:r>
          </a:p>
        </p:txBody>
      </p:sp>
      <p:sp>
        <p:nvSpPr>
          <p:cNvPr id="6" name="Rectangle 5">
            <a:extLst>
              <a:ext uri="{FF2B5EF4-FFF2-40B4-BE49-F238E27FC236}">
                <a16:creationId xmlns:a16="http://schemas.microsoft.com/office/drawing/2014/main" id="{94D92C0A-D77B-4131-AA86-11DA7488F4F3}"/>
              </a:ext>
            </a:extLst>
          </p:cNvPr>
          <p:cNvSpPr>
            <a:spLocks noGrp="1"/>
          </p:cNvSpPr>
          <p:nvPr/>
        </p:nvSpPr>
        <p:spPr>
          <a:xfrm>
            <a:off x="457200" y="3238500"/>
            <a:ext cx="5095875" cy="781050"/>
          </a:xfrm>
          <a:prstGeom prst="rect">
            <a:avLst/>
          </a:prstGeom>
          <a:noFill/>
          <a:ln w="0">
            <a:noFill/>
          </a:ln>
        </p:spPr>
        <p:txBody>
          <a:bodyPr anchor="t">
            <a:normAutofit fontScale="90844"/>
          </a:bodyPr>
          <a:lstStyle/>
          <a:p>
            <a:pPr>
              <a:lnSpc>
                <a:spcPct val="106000"/>
              </a:lnSpc>
              <a:buNone/>
              <a:defRPr sz="1800" b="1" i="0">
                <a:solidFill>
                  <a:srgbClr val="0047FF"/>
                </a:solidFill>
                <a:latin typeface="Arial"/>
                <a:ea typeface="Arial"/>
                <a:cs typeface="Arial"/>
              </a:defRPr>
            </a:pPr>
            <a:r>
              <a:rPr sz="1800" b="1" i="0">
                <a:solidFill>
                  <a:srgbClr val="0047FF"/>
                </a:solidFill>
                <a:latin typeface="Arial"/>
                <a:ea typeface="Arial"/>
                <a:cs typeface="Arial"/>
              </a:rPr>
              <a:t>The value is a faster, more consistent delivery system that can keep pace with growth.</a:t>
            </a:r>
          </a:p>
        </p:txBody>
      </p:sp>
      <p:sp>
        <p:nvSpPr>
          <p:cNvPr id="7" name="Rectangle 6">
            <a:extLst>
              <a:ext uri="{FF2B5EF4-FFF2-40B4-BE49-F238E27FC236}">
                <a16:creationId xmlns:a16="http://schemas.microsoft.com/office/drawing/2014/main" id="{BDA9C8BF-F087-40FD-A700-96F73ED40D68}"/>
              </a:ext>
            </a:extLst>
          </p:cNvPr>
          <p:cNvSpPr>
            <a:spLocks noGrp="1"/>
          </p:cNvSpPr>
          <p:nvPr/>
        </p:nvSpPr>
        <p:spPr>
          <a:xfrm>
            <a:off x="6210300" y="1676400"/>
            <a:ext cx="5514975" cy="3905250"/>
          </a:xfrm>
          <a:prstGeom prst="rect">
            <a:avLst/>
          </a:prstGeom>
          <a:solidFill>
            <a:srgbClr val="070154"/>
          </a:solidFill>
          <a:ln w="0">
            <a:noFill/>
          </a:ln>
        </p:spPr>
        <p:txBody>
          <a:bodyPr/>
          <a:lstStyle/>
          <a:p>
            <a:endParaRPr lang="en-US"/>
          </a:p>
        </p:txBody>
      </p:sp>
      <p:sp>
        <p:nvSpPr>
          <p:cNvPr id="8" name="Rectangle 7">
            <a:extLst>
              <a:ext uri="{FF2B5EF4-FFF2-40B4-BE49-F238E27FC236}">
                <a16:creationId xmlns:a16="http://schemas.microsoft.com/office/drawing/2014/main" id="{35315944-1837-4234-A2E1-C7C60BCE260F}"/>
              </a:ext>
            </a:extLst>
          </p:cNvPr>
          <p:cNvSpPr>
            <a:spLocks noGrp="1"/>
          </p:cNvSpPr>
          <p:nvPr/>
        </p:nvSpPr>
        <p:spPr>
          <a:xfrm>
            <a:off x="6515100" y="1943100"/>
            <a:ext cx="2857500" cy="171450"/>
          </a:xfrm>
          <a:prstGeom prst="rect">
            <a:avLst/>
          </a:prstGeom>
          <a:noFill/>
          <a:ln w="0">
            <a:noFill/>
          </a:ln>
        </p:spPr>
        <p:txBody>
          <a:bodyPr anchor="t">
            <a:noAutofit/>
          </a:bodyPr>
          <a:lstStyle/>
          <a:p>
            <a:pPr>
              <a:lnSpc>
                <a:spcPct val="108000"/>
              </a:lnSpc>
              <a:buNone/>
              <a:defRPr sz="825" b="1" i="0">
                <a:solidFill>
                  <a:srgbClr val="00A3FF"/>
                </a:solidFill>
                <a:latin typeface="Arial"/>
                <a:ea typeface="Arial"/>
                <a:cs typeface="Arial"/>
              </a:defRPr>
            </a:pPr>
            <a:r>
              <a:rPr sz="1100" b="1" i="0">
                <a:solidFill>
                  <a:srgbClr val="00A3FF"/>
                </a:solidFill>
                <a:latin typeface="Arial"/>
                <a:ea typeface="Arial"/>
                <a:cs typeface="Arial"/>
              </a:rPr>
              <a:t>WORKING BOUNDARIES</a:t>
            </a:r>
          </a:p>
        </p:txBody>
      </p:sp>
      <p:sp>
        <p:nvSpPr>
          <p:cNvPr id="9" name="Rectangle 8">
            <a:extLst>
              <a:ext uri="{FF2B5EF4-FFF2-40B4-BE49-F238E27FC236}">
                <a16:creationId xmlns:a16="http://schemas.microsoft.com/office/drawing/2014/main" id="{397D054B-5168-4492-BE2F-E48AF9A38257}"/>
              </a:ext>
            </a:extLst>
          </p:cNvPr>
          <p:cNvSpPr>
            <a:spLocks noGrp="1"/>
          </p:cNvSpPr>
          <p:nvPr/>
        </p:nvSpPr>
        <p:spPr>
          <a:xfrm>
            <a:off x="6515100" y="2400300"/>
            <a:ext cx="1428750" cy="266700"/>
          </a:xfrm>
          <a:prstGeom prst="rect">
            <a:avLst/>
          </a:prstGeom>
          <a:noFill/>
          <a:ln w="0">
            <a:noFill/>
          </a:ln>
        </p:spPr>
        <p:txBody>
          <a:bodyPr anchor="t">
            <a:normAutofit fontScale="78488" lnSpcReduction="20000"/>
          </a:bodyPr>
          <a:lstStyle/>
          <a:p>
            <a:pPr>
              <a:lnSpc>
                <a:spcPct val="108000"/>
              </a:lnSpc>
              <a:buNone/>
              <a:defRPr sz="1500" b="1" i="0">
                <a:solidFill>
                  <a:srgbClr val="FFFFFF"/>
                </a:solidFill>
                <a:latin typeface="Arial"/>
                <a:ea typeface="Arial"/>
                <a:cs typeface="Arial"/>
              </a:defRPr>
            </a:pPr>
            <a:r>
              <a:rPr sz="1500" b="1" i="0">
                <a:solidFill>
                  <a:srgbClr val="FFFFFF"/>
                </a:solidFill>
                <a:latin typeface="Arial"/>
                <a:ea typeface="Arial"/>
                <a:cs typeface="Arial"/>
              </a:rPr>
              <a:t>Up to two</a:t>
            </a:r>
          </a:p>
        </p:txBody>
      </p:sp>
      <p:sp>
        <p:nvSpPr>
          <p:cNvPr id="10" name="Rectangle 9">
            <a:extLst>
              <a:ext uri="{FF2B5EF4-FFF2-40B4-BE49-F238E27FC236}">
                <a16:creationId xmlns:a16="http://schemas.microsoft.com/office/drawing/2014/main" id="{3B248441-2206-459E-93C9-70F9D4F56F04}"/>
              </a:ext>
            </a:extLst>
          </p:cNvPr>
          <p:cNvSpPr>
            <a:spLocks noGrp="1"/>
          </p:cNvSpPr>
          <p:nvPr/>
        </p:nvSpPr>
        <p:spPr>
          <a:xfrm>
            <a:off x="8096250" y="2419350"/>
            <a:ext cx="2857500" cy="266700"/>
          </a:xfrm>
          <a:prstGeom prst="rect">
            <a:avLst/>
          </a:prstGeom>
          <a:noFill/>
          <a:ln w="0">
            <a:noFill/>
          </a:ln>
        </p:spPr>
        <p:txBody>
          <a:bodyPr anchor="t">
            <a:normAutofit fontScale="86375" lnSpcReduction="20000"/>
          </a:bodyPr>
          <a:lstStyle/>
          <a:p>
            <a:pPr>
              <a:lnSpc>
                <a:spcPct val="108000"/>
              </a:lnSpc>
              <a:buNone/>
              <a:defRPr sz="1350" b="0" i="0">
                <a:solidFill>
                  <a:srgbClr val="E8EEF8"/>
                </a:solidFill>
                <a:latin typeface="Arial"/>
                <a:ea typeface="Arial"/>
                <a:cs typeface="Arial"/>
              </a:defRPr>
            </a:pPr>
            <a:r>
              <a:rPr sz="1350" b="0" i="0">
                <a:solidFill>
                  <a:srgbClr val="E8EEF8"/>
                </a:solidFill>
                <a:latin typeface="Arial"/>
                <a:ea typeface="Arial"/>
                <a:cs typeface="Arial"/>
              </a:rPr>
              <a:t>live initiatives</a:t>
            </a:r>
          </a:p>
        </p:txBody>
      </p:sp>
      <p:sp>
        <p:nvSpPr>
          <p:cNvPr id="11" name="Rectangle 10">
            <a:extLst>
              <a:ext uri="{FF2B5EF4-FFF2-40B4-BE49-F238E27FC236}">
                <a16:creationId xmlns:a16="http://schemas.microsoft.com/office/drawing/2014/main" id="{4BACCF36-0C20-41FA-8268-D28A99F062C3}"/>
              </a:ext>
            </a:extLst>
          </p:cNvPr>
          <p:cNvSpPr>
            <a:spLocks noGrp="1"/>
          </p:cNvSpPr>
          <p:nvPr/>
        </p:nvSpPr>
        <p:spPr>
          <a:xfrm>
            <a:off x="6515100" y="2857500"/>
            <a:ext cx="4610100" cy="9525"/>
          </a:xfrm>
          <a:prstGeom prst="rect">
            <a:avLst/>
          </a:prstGeom>
          <a:solidFill>
            <a:srgbClr val="50658E"/>
          </a:solidFill>
          <a:ln w="0">
            <a:noFill/>
          </a:ln>
        </p:spPr>
        <p:txBody>
          <a:bodyPr/>
          <a:lstStyle/>
          <a:p>
            <a:endParaRPr lang="en-US"/>
          </a:p>
        </p:txBody>
      </p:sp>
      <p:sp>
        <p:nvSpPr>
          <p:cNvPr id="12" name="Rectangle 11">
            <a:extLst>
              <a:ext uri="{FF2B5EF4-FFF2-40B4-BE49-F238E27FC236}">
                <a16:creationId xmlns:a16="http://schemas.microsoft.com/office/drawing/2014/main" id="{17B79904-8BEE-42F4-BDA1-C5ECD94F9693}"/>
              </a:ext>
            </a:extLst>
          </p:cNvPr>
          <p:cNvSpPr>
            <a:spLocks noGrp="1"/>
          </p:cNvSpPr>
          <p:nvPr/>
        </p:nvSpPr>
        <p:spPr>
          <a:xfrm>
            <a:off x="6515100" y="3124200"/>
            <a:ext cx="1428750" cy="266700"/>
          </a:xfrm>
          <a:prstGeom prst="rect">
            <a:avLst/>
          </a:prstGeom>
          <a:noFill/>
          <a:ln w="0">
            <a:noFill/>
          </a:ln>
        </p:spPr>
        <p:txBody>
          <a:bodyPr anchor="t">
            <a:normAutofit fontScale="78488" lnSpcReduction="20000"/>
          </a:bodyPr>
          <a:lstStyle/>
          <a:p>
            <a:pPr>
              <a:lnSpc>
                <a:spcPct val="108000"/>
              </a:lnSpc>
              <a:buNone/>
              <a:defRPr sz="1500" b="1" i="0">
                <a:solidFill>
                  <a:srgbClr val="FFFFFF"/>
                </a:solidFill>
                <a:latin typeface="Arial"/>
                <a:ea typeface="Arial"/>
                <a:cs typeface="Arial"/>
              </a:defRPr>
            </a:pPr>
            <a:r>
              <a:rPr sz="1500" b="1" i="0">
                <a:solidFill>
                  <a:srgbClr val="FFFFFF"/>
                </a:solidFill>
                <a:latin typeface="Arial"/>
                <a:ea typeface="Arial"/>
                <a:cs typeface="Arial"/>
              </a:rPr>
              <a:t>Up to three</a:t>
            </a:r>
          </a:p>
        </p:txBody>
      </p:sp>
      <p:sp>
        <p:nvSpPr>
          <p:cNvPr id="13" name="Rectangle 12">
            <a:extLst>
              <a:ext uri="{FF2B5EF4-FFF2-40B4-BE49-F238E27FC236}">
                <a16:creationId xmlns:a16="http://schemas.microsoft.com/office/drawing/2014/main" id="{9C49EF04-9222-4DFE-9437-5A2D25136977}"/>
              </a:ext>
            </a:extLst>
          </p:cNvPr>
          <p:cNvSpPr>
            <a:spLocks noGrp="1"/>
          </p:cNvSpPr>
          <p:nvPr/>
        </p:nvSpPr>
        <p:spPr>
          <a:xfrm>
            <a:off x="8096250" y="3143250"/>
            <a:ext cx="2857500" cy="266700"/>
          </a:xfrm>
          <a:prstGeom prst="rect">
            <a:avLst/>
          </a:prstGeom>
          <a:noFill/>
          <a:ln w="0">
            <a:noFill/>
          </a:ln>
        </p:spPr>
        <p:txBody>
          <a:bodyPr anchor="t">
            <a:normAutofit fontScale="86375" lnSpcReduction="20000"/>
          </a:bodyPr>
          <a:lstStyle/>
          <a:p>
            <a:pPr>
              <a:lnSpc>
                <a:spcPct val="108000"/>
              </a:lnSpc>
              <a:buNone/>
              <a:defRPr sz="1350" b="0" i="0">
                <a:solidFill>
                  <a:srgbClr val="E8EEF8"/>
                </a:solidFill>
                <a:latin typeface="Arial"/>
                <a:ea typeface="Arial"/>
                <a:cs typeface="Arial"/>
              </a:defRPr>
            </a:pPr>
            <a:r>
              <a:rPr sz="1350" b="0" i="0">
                <a:solidFill>
                  <a:srgbClr val="E8EEF8"/>
                </a:solidFill>
                <a:latin typeface="Arial"/>
                <a:ea typeface="Arial"/>
                <a:cs typeface="Arial"/>
              </a:rPr>
              <a:t>bounded quick wins</a:t>
            </a:r>
          </a:p>
        </p:txBody>
      </p:sp>
      <p:sp>
        <p:nvSpPr>
          <p:cNvPr id="14" name="Rectangle 13">
            <a:extLst>
              <a:ext uri="{FF2B5EF4-FFF2-40B4-BE49-F238E27FC236}">
                <a16:creationId xmlns:a16="http://schemas.microsoft.com/office/drawing/2014/main" id="{EEABE1D5-529C-44BD-A800-A7D2D33E9381}"/>
              </a:ext>
            </a:extLst>
          </p:cNvPr>
          <p:cNvSpPr>
            <a:spLocks noGrp="1"/>
          </p:cNvSpPr>
          <p:nvPr/>
        </p:nvSpPr>
        <p:spPr>
          <a:xfrm>
            <a:off x="6515100" y="3581400"/>
            <a:ext cx="4610100" cy="9525"/>
          </a:xfrm>
          <a:prstGeom prst="rect">
            <a:avLst/>
          </a:prstGeom>
          <a:solidFill>
            <a:srgbClr val="50658E"/>
          </a:solidFill>
          <a:ln w="0">
            <a:noFill/>
          </a:ln>
        </p:spPr>
        <p:txBody>
          <a:bodyPr/>
          <a:lstStyle/>
          <a:p>
            <a:endParaRPr lang="en-US"/>
          </a:p>
        </p:txBody>
      </p:sp>
      <p:sp>
        <p:nvSpPr>
          <p:cNvPr id="15" name="Rectangle 14">
            <a:extLst>
              <a:ext uri="{FF2B5EF4-FFF2-40B4-BE49-F238E27FC236}">
                <a16:creationId xmlns:a16="http://schemas.microsoft.com/office/drawing/2014/main" id="{5322E075-534D-4201-944E-F96319D4915D}"/>
              </a:ext>
            </a:extLst>
          </p:cNvPr>
          <p:cNvSpPr>
            <a:spLocks noGrp="1"/>
          </p:cNvSpPr>
          <p:nvPr/>
        </p:nvSpPr>
        <p:spPr>
          <a:xfrm>
            <a:off x="6515100" y="3848100"/>
            <a:ext cx="1428750" cy="266700"/>
          </a:xfrm>
          <a:prstGeom prst="rect">
            <a:avLst/>
          </a:prstGeom>
          <a:noFill/>
          <a:ln w="0">
            <a:noFill/>
          </a:ln>
        </p:spPr>
        <p:txBody>
          <a:bodyPr anchor="t">
            <a:normAutofit fontScale="78488" lnSpcReduction="20000"/>
          </a:bodyPr>
          <a:lstStyle/>
          <a:p>
            <a:pPr>
              <a:lnSpc>
                <a:spcPct val="108000"/>
              </a:lnSpc>
              <a:buNone/>
              <a:defRPr sz="1500" b="1" i="0">
                <a:solidFill>
                  <a:srgbClr val="FFFFFF"/>
                </a:solidFill>
                <a:latin typeface="Arial"/>
                <a:ea typeface="Arial"/>
                <a:cs typeface="Arial"/>
              </a:defRPr>
            </a:pPr>
            <a:r>
              <a:rPr sz="1500" b="1" i="0">
                <a:solidFill>
                  <a:srgbClr val="FFFFFF"/>
                </a:solidFill>
                <a:latin typeface="Arial"/>
                <a:ea typeface="Arial"/>
                <a:cs typeface="Arial"/>
              </a:rPr>
              <a:t>Three weeks</a:t>
            </a:r>
          </a:p>
        </p:txBody>
      </p:sp>
      <p:sp>
        <p:nvSpPr>
          <p:cNvPr id="16" name="Rectangle 15">
            <a:extLst>
              <a:ext uri="{FF2B5EF4-FFF2-40B4-BE49-F238E27FC236}">
                <a16:creationId xmlns:a16="http://schemas.microsoft.com/office/drawing/2014/main" id="{4E73D44B-F83C-4004-B850-CD4B8E91FEC4}"/>
              </a:ext>
            </a:extLst>
          </p:cNvPr>
          <p:cNvSpPr>
            <a:spLocks noGrp="1"/>
          </p:cNvSpPr>
          <p:nvPr/>
        </p:nvSpPr>
        <p:spPr>
          <a:xfrm>
            <a:off x="8096250" y="3867150"/>
            <a:ext cx="2857500" cy="266700"/>
          </a:xfrm>
          <a:prstGeom prst="rect">
            <a:avLst/>
          </a:prstGeom>
          <a:noFill/>
          <a:ln w="0">
            <a:noFill/>
          </a:ln>
        </p:spPr>
        <p:txBody>
          <a:bodyPr anchor="t">
            <a:normAutofit fontScale="86375" lnSpcReduction="20000"/>
          </a:bodyPr>
          <a:lstStyle/>
          <a:p>
            <a:pPr>
              <a:lnSpc>
                <a:spcPct val="108000"/>
              </a:lnSpc>
              <a:buNone/>
              <a:defRPr sz="1350" b="0" i="0">
                <a:solidFill>
                  <a:srgbClr val="E8EEF8"/>
                </a:solidFill>
                <a:latin typeface="Arial"/>
                <a:ea typeface="Arial"/>
                <a:cs typeface="Arial"/>
              </a:defRPr>
            </a:pPr>
            <a:r>
              <a:rPr sz="1350" b="0" i="0">
                <a:solidFill>
                  <a:srgbClr val="E8EEF8"/>
                </a:solidFill>
                <a:latin typeface="Arial"/>
                <a:ea typeface="Arial"/>
                <a:cs typeface="Arial"/>
              </a:rPr>
              <a:t>from launch to executive readout</a:t>
            </a:r>
          </a:p>
        </p:txBody>
      </p:sp>
      <p:sp>
        <p:nvSpPr>
          <p:cNvPr id="17" name="Rectangle 16">
            <a:extLst>
              <a:ext uri="{FF2B5EF4-FFF2-40B4-BE49-F238E27FC236}">
                <a16:creationId xmlns:a16="http://schemas.microsoft.com/office/drawing/2014/main" id="{6F22A301-77AF-4E13-B00C-783358B5208A}"/>
              </a:ext>
            </a:extLst>
          </p:cNvPr>
          <p:cNvSpPr>
            <a:spLocks noGrp="1"/>
          </p:cNvSpPr>
          <p:nvPr/>
        </p:nvSpPr>
        <p:spPr>
          <a:xfrm>
            <a:off x="6515100" y="4305300"/>
            <a:ext cx="4610100" cy="9525"/>
          </a:xfrm>
          <a:prstGeom prst="rect">
            <a:avLst/>
          </a:prstGeom>
          <a:solidFill>
            <a:srgbClr val="50658E"/>
          </a:solidFill>
          <a:ln w="0">
            <a:noFill/>
          </a:ln>
        </p:spPr>
        <p:txBody>
          <a:bodyPr/>
          <a:lstStyle/>
          <a:p>
            <a:endParaRPr lang="en-US"/>
          </a:p>
        </p:txBody>
      </p:sp>
      <p:sp>
        <p:nvSpPr>
          <p:cNvPr id="18" name="Rectangle 17">
            <a:extLst>
              <a:ext uri="{FF2B5EF4-FFF2-40B4-BE49-F238E27FC236}">
                <a16:creationId xmlns:a16="http://schemas.microsoft.com/office/drawing/2014/main" id="{2923F5C7-5B25-4269-BD8C-AC809F38B71F}"/>
              </a:ext>
            </a:extLst>
          </p:cNvPr>
          <p:cNvSpPr>
            <a:spLocks noGrp="1"/>
          </p:cNvSpPr>
          <p:nvPr/>
        </p:nvSpPr>
        <p:spPr>
          <a:xfrm>
            <a:off x="6515100" y="4572000"/>
            <a:ext cx="1428750" cy="266700"/>
          </a:xfrm>
          <a:prstGeom prst="rect">
            <a:avLst/>
          </a:prstGeom>
          <a:noFill/>
          <a:ln w="0">
            <a:noFill/>
          </a:ln>
        </p:spPr>
        <p:txBody>
          <a:bodyPr anchor="t">
            <a:normAutofit fontScale="78488" lnSpcReduction="20000"/>
          </a:bodyPr>
          <a:lstStyle/>
          <a:p>
            <a:pPr>
              <a:lnSpc>
                <a:spcPct val="108000"/>
              </a:lnSpc>
              <a:buNone/>
              <a:defRPr sz="1500" b="1" i="0">
                <a:solidFill>
                  <a:srgbClr val="FFFFFF"/>
                </a:solidFill>
                <a:latin typeface="Arial"/>
                <a:ea typeface="Arial"/>
                <a:cs typeface="Arial"/>
              </a:defRPr>
            </a:pPr>
            <a:r>
              <a:rPr sz="1500" b="1" i="0">
                <a:solidFill>
                  <a:srgbClr val="FFFFFF"/>
                </a:solidFill>
                <a:latin typeface="Arial"/>
                <a:ea typeface="Arial"/>
                <a:cs typeface="Arial"/>
              </a:rPr>
              <a:t>No</a:t>
            </a:r>
          </a:p>
        </p:txBody>
      </p:sp>
      <p:sp>
        <p:nvSpPr>
          <p:cNvPr id="19" name="Rectangle 18">
            <a:extLst>
              <a:ext uri="{FF2B5EF4-FFF2-40B4-BE49-F238E27FC236}">
                <a16:creationId xmlns:a16="http://schemas.microsoft.com/office/drawing/2014/main" id="{7CB221BE-2471-4469-BF5F-E904D384259A}"/>
              </a:ext>
            </a:extLst>
          </p:cNvPr>
          <p:cNvSpPr>
            <a:spLocks noGrp="1"/>
          </p:cNvSpPr>
          <p:nvPr/>
        </p:nvSpPr>
        <p:spPr>
          <a:xfrm>
            <a:off x="8096250" y="4591050"/>
            <a:ext cx="2857500" cy="266700"/>
          </a:xfrm>
          <a:prstGeom prst="rect">
            <a:avLst/>
          </a:prstGeom>
          <a:noFill/>
          <a:ln w="0">
            <a:noFill/>
          </a:ln>
        </p:spPr>
        <p:txBody>
          <a:bodyPr anchor="t">
            <a:normAutofit fontScale="86375" lnSpcReduction="20000"/>
          </a:bodyPr>
          <a:lstStyle/>
          <a:p>
            <a:pPr>
              <a:lnSpc>
                <a:spcPct val="108000"/>
              </a:lnSpc>
              <a:buNone/>
              <a:defRPr sz="1350" b="0" i="0">
                <a:solidFill>
                  <a:srgbClr val="E8EEF8"/>
                </a:solidFill>
                <a:latin typeface="Arial"/>
                <a:ea typeface="Arial"/>
                <a:cs typeface="Arial"/>
              </a:defRPr>
            </a:pPr>
            <a:r>
              <a:rPr sz="1350" b="0" i="0">
                <a:solidFill>
                  <a:srgbClr val="E8EEF8"/>
                </a:solidFill>
                <a:latin typeface="Arial"/>
                <a:ea typeface="Arial"/>
                <a:cs typeface="Arial"/>
              </a:rPr>
              <a:t>production-system change</a:t>
            </a:r>
          </a:p>
        </p:txBody>
      </p:sp>
    </p:spTree>
    <p:extLst>
      <p:ext uri="{BB962C8B-B14F-4D97-AF65-F5344CB8AC3E}">
        <p14:creationId xmlns:p14="http://schemas.microsoft.com/office/powerpoint/2010/main" val="8935748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DED46A50-9237-4E36-9773-CBAE5AC21983}"/>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i="0">
                <a:solidFill>
                  <a:srgbClr val="070154"/>
                </a:solidFill>
                <a:latin typeface="Arial"/>
                <a:ea typeface="Arial"/>
                <a:cs typeface="Arial"/>
              </a:rPr>
              <a:t>Activation Roadmap: engineering </a:t>
            </a:r>
            <a:r>
              <a:rPr lang="en-US" sz="2300" b="1">
                <a:solidFill>
                  <a:srgbClr val="070154"/>
                </a:solidFill>
                <a:latin typeface="Arial"/>
                <a:ea typeface="Arial"/>
                <a:cs typeface="Arial"/>
              </a:rPr>
              <a:t>priorities</a:t>
            </a:r>
            <a:endParaRPr sz="2325" b="1" i="0">
              <a:solidFill>
                <a:srgbClr val="070154"/>
              </a:solidFill>
              <a:latin typeface="Arial"/>
              <a:ea typeface="Arial"/>
              <a:cs typeface="Arial"/>
            </a:endParaRPr>
          </a:p>
        </p:txBody>
      </p:sp>
      <p:sp>
        <p:nvSpPr>
          <p:cNvPr id="3" name="Rectangle 2">
            <a:extLst>
              <a:ext uri="{FF2B5EF4-FFF2-40B4-BE49-F238E27FC236}">
                <a16:creationId xmlns:a16="http://schemas.microsoft.com/office/drawing/2014/main" id="{F37CD493-DE32-436C-849E-95720C8304C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sz="1275" b="0" i="0">
                <a:solidFill>
                  <a:srgbClr val="50658E"/>
                </a:solidFill>
                <a:latin typeface="Arial"/>
                <a:ea typeface="Arial"/>
                <a:cs typeface="Arial"/>
              </a:rPr>
              <a:t>Each engineering bucket starts in its pilot pods, then extends on the same Now, Next, and Future horizons.</a:t>
            </a:r>
          </a:p>
        </p:txBody>
      </p:sp>
      <p:sp>
        <p:nvSpPr>
          <p:cNvPr id="4" name="Rectangle 3">
            <a:extLst>
              <a:ext uri="{FF2B5EF4-FFF2-40B4-BE49-F238E27FC236}">
                <a16:creationId xmlns:a16="http://schemas.microsoft.com/office/drawing/2014/main" id="{897DA715-B291-43D5-8A14-8B021326B3B8}"/>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DELIVERABLE 03</a:t>
            </a:r>
          </a:p>
        </p:txBody>
      </p:sp>
      <p:sp>
        <p:nvSpPr>
          <p:cNvPr id="6" name="Rectangle 5">
            <a:extLst>
              <a:ext uri="{FF2B5EF4-FFF2-40B4-BE49-F238E27FC236}">
                <a16:creationId xmlns:a16="http://schemas.microsoft.com/office/drawing/2014/main" id="{A2C7DF3A-7E43-44A3-BB8B-7344D6764FFB}"/>
              </a:ext>
            </a:extLst>
          </p:cNvPr>
          <p:cNvSpPr>
            <a:spLocks noGrp="1"/>
          </p:cNvSpPr>
          <p:nvPr/>
        </p:nvSpPr>
        <p:spPr>
          <a:xfrm>
            <a:off x="457200" y="5524500"/>
            <a:ext cx="11277600" cy="342900"/>
          </a:xfrm>
          <a:prstGeom prst="rect">
            <a:avLst/>
          </a:prstGeom>
          <a:noFill/>
          <a:ln w="0">
            <a:noFill/>
          </a:ln>
        </p:spPr>
        <p:txBody>
          <a:bodyPr anchor="t">
            <a:normAutofit/>
          </a:bodyPr>
          <a:lstStyle/>
          <a:p>
            <a:pPr>
              <a:lnSpc>
                <a:spcPct val="108000"/>
              </a:lnSpc>
              <a:buNone/>
              <a:defRPr sz="1125" b="1" i="0">
                <a:solidFill>
                  <a:srgbClr val="0047FF"/>
                </a:solidFill>
                <a:latin typeface="Arial"/>
                <a:ea typeface="Arial"/>
                <a:cs typeface="Arial"/>
              </a:defRPr>
            </a:pPr>
            <a:r>
              <a:rPr sz="1125" b="1" i="0">
                <a:solidFill>
                  <a:srgbClr val="0047FF"/>
                </a:solidFill>
                <a:latin typeface="Arial"/>
                <a:ea typeface="Arial"/>
                <a:cs typeface="Arial"/>
              </a:rPr>
              <a:t>Pilot first, measure, then extend: each bucket moves to the next pods once its measure shows it works.</a:t>
            </a:r>
          </a:p>
        </p:txBody>
      </p:sp>
      <p:graphicFrame>
        <p:nvGraphicFramePr>
          <p:cNvPr id="20" name="Eng Roadmap Table"/>
          <p:cNvGraphicFramePr>
            <a:graphicFrameLocks noGrp="1"/>
          </p:cNvGraphicFramePr>
          <p:nvPr>
            <p:extLst>
              <p:ext uri="{D42A27DB-BD31-4B8C-83A1-F6EECF244321}">
                <p14:modId xmlns:p14="http://schemas.microsoft.com/office/powerpoint/2010/main" val="605768783"/>
              </p:ext>
            </p:extLst>
          </p:nvPr>
        </p:nvGraphicFramePr>
        <p:xfrm>
          <a:off x="457200" y="1752600"/>
          <a:ext cx="11277600" cy="3200000"/>
        </p:xfrm>
        <a:graphic>
          <a:graphicData uri="http://schemas.openxmlformats.org/drawingml/2006/table">
            <a:tbl>
              <a:tblPr/>
              <a:tblGrid>
                <a:gridCol w="15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2450000">
                  <a:extLst>
                    <a:ext uri="{9D8B030D-6E8A-4147-A177-3AD203B41FA5}">
                      <a16:colId xmlns:a16="http://schemas.microsoft.com/office/drawing/2014/main" val="20002"/>
                    </a:ext>
                  </a:extLst>
                </a:gridCol>
                <a:gridCol w="2450000">
                  <a:extLst>
                    <a:ext uri="{9D8B030D-6E8A-4147-A177-3AD203B41FA5}">
                      <a16:colId xmlns:a16="http://schemas.microsoft.com/office/drawing/2014/main" val="20003"/>
                    </a:ext>
                  </a:extLst>
                </a:gridCol>
                <a:gridCol w="1850000">
                  <a:extLst>
                    <a:ext uri="{9D8B030D-6E8A-4147-A177-3AD203B41FA5}">
                      <a16:colId xmlns:a16="http://schemas.microsoft.com/office/drawing/2014/main" val="20004"/>
                    </a:ext>
                  </a:extLst>
                </a:gridCol>
                <a:gridCol w="1677600">
                  <a:extLst>
                    <a:ext uri="{9D8B030D-6E8A-4147-A177-3AD203B41FA5}">
                      <a16:colId xmlns:a16="http://schemas.microsoft.com/office/drawing/2014/main" val="20005"/>
                    </a:ext>
                  </a:extLst>
                </a:gridCol>
              </a:tblGrid>
              <a:tr h="400000">
                <a:tc>
                  <a:txBody>
                    <a:bodyPr/>
                    <a:lstStyle/>
                    <a:p>
                      <a:pPr lvl="0">
                        <a:lnSpc>
                          <a:spcPct val="102000"/>
                        </a:lnSpc>
                        <a:buNone/>
                      </a:pPr>
                      <a:r>
                        <a:rPr lang="en-US" sz="950" b="1" i="0">
                          <a:solidFill>
                            <a:srgbClr val="FFFFFF"/>
                          </a:solidFill>
                          <a:latin typeface="Arial"/>
                          <a:ea typeface="Arial"/>
                          <a:cs typeface="Arial"/>
                        </a:rPr>
                        <a:t>Priority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50" b="1" i="0">
                          <a:solidFill>
                            <a:srgbClr val="FFFFFF"/>
                          </a:solidFill>
                          <a:latin typeface="Arial"/>
                          <a:ea typeface="Arial"/>
                          <a:cs typeface="Arial"/>
                        </a:rPr>
                        <a:t>Pilot pods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50" b="1" i="0">
                          <a:solidFill>
                            <a:srgbClr val="16804D"/>
                          </a:solidFill>
                          <a:latin typeface="Arial"/>
                          <a:ea typeface="Arial"/>
                          <a:cs typeface="Arial"/>
                        </a:rPr>
                        <a:t>Now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50" b="1" i="0">
                          <a:solidFill>
                            <a:srgbClr val="8B6500"/>
                          </a:solidFill>
                          <a:latin typeface="Arial"/>
                          <a:ea typeface="Arial"/>
                          <a:cs typeface="Arial"/>
                        </a:rPr>
                        <a:t>Next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0C2"/>
                    </a:solidFill>
                  </a:tcPr>
                </a:tc>
                <a:tc>
                  <a:txBody>
                    <a:bodyPr/>
                    <a:lstStyle/>
                    <a:p>
                      <a:pPr>
                        <a:lnSpc>
                          <a:spcPct val="102000"/>
                        </a:lnSpc>
                        <a:buNone/>
                      </a:pPr>
                      <a:r>
                        <a:rPr lang="en-US" sz="950" b="1" i="0">
                          <a:solidFill>
                            <a:srgbClr val="3561AE"/>
                          </a:solidFill>
                          <a:latin typeface="Arial"/>
                          <a:ea typeface="Arial"/>
                          <a:cs typeface="Arial"/>
                        </a:rPr>
                        <a:t>Future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DDE8FF"/>
                    </a:solidFill>
                  </a:tcPr>
                </a:tc>
                <a:tc>
                  <a:txBody>
                    <a:bodyPr/>
                    <a:lstStyle/>
                    <a:p>
                      <a:pPr>
                        <a:lnSpc>
                          <a:spcPct val="102000"/>
                        </a:lnSpc>
                        <a:buNone/>
                      </a:pPr>
                      <a:r>
                        <a:rPr lang="en-US" sz="950" b="1" i="0">
                          <a:solidFill>
                            <a:srgbClr val="FFFFFF"/>
                          </a:solidFill>
                          <a:latin typeface="Arial"/>
                          <a:ea typeface="Arial"/>
                          <a:cs typeface="Arial"/>
                        </a:rPr>
                        <a:t>Owner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extLst>
                  <a:ext uri="{0D108BD9-81ED-4DB2-BD59-A6C34878D82A}">
                    <a16:rowId xmlns:a16="http://schemas.microsoft.com/office/drawing/2014/main" val="10000"/>
                  </a:ext>
                </a:extLst>
              </a:tr>
              <a:tr h="560000">
                <a:tc>
                  <a:txBody>
                    <a:bodyPr/>
                    <a:lstStyle/>
                    <a:p>
                      <a:pPr>
                        <a:lnSpc>
                          <a:spcPct val="102000"/>
                        </a:lnSpc>
                        <a:buNone/>
                      </a:pPr>
                      <a:r>
                        <a:rPr lang="en-US" sz="900" b="1" i="0">
                          <a:solidFill>
                            <a:srgbClr val="070154"/>
                          </a:solidFill>
                          <a:latin typeface="Arial"/>
                          <a:ea typeface="Arial"/>
                          <a:cs typeface="Arial"/>
                        </a:rPr>
                        <a:t>Release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Core, Reconcile AI</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Root-cause review of unplanned changes; credential and certificate inventory; Release Agent outputs defined.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Same-artifact promotion; expiry alerts; review after every patch or rollback; Release Agent live in Recon.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On-demand low-risk releases; Release Agent pattern on every pod.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Engineering leadership, Release/DevOps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1"/>
                  </a:ext>
                </a:extLst>
              </a:tr>
              <a:tr h="560000">
                <a:tc>
                  <a:txBody>
                    <a:bodyPr/>
                    <a:lstStyle/>
                    <a:p>
                      <a:pPr>
                        <a:lnSpc>
                          <a:spcPct val="102000"/>
                        </a:lnSpc>
                        <a:buNone/>
                      </a:pPr>
                      <a:r>
                        <a:rPr lang="en-US" sz="900" b="1" i="0">
                          <a:solidFill>
                            <a:srgbClr val="070154"/>
                          </a:solidFill>
                          <a:latin typeface="Arial"/>
                          <a:ea typeface="Arial"/>
                          <a:cs typeface="Arial"/>
                        </a:rPr>
                        <a:t>Test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Core, Reconcile AI, Rules Engine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Map Core's highest-risk regression; log waits for access and test data.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Automated quality: automate high-risk workflows; test agents in Eligibility AI and Pay Connect; masked data.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Automated regression as release entry criterion; self-service environments.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Quality leadership, DevOps, Security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2"/>
                  </a:ext>
                </a:extLst>
              </a:tr>
              <a:tr h="560000">
                <a:tc>
                  <a:txBody>
                    <a:bodyPr/>
                    <a:lstStyle/>
                    <a:p>
                      <a:pPr>
                        <a:lnSpc>
                          <a:spcPct val="102000"/>
                        </a:lnSpc>
                        <a:buNone/>
                      </a:pPr>
                      <a:r>
                        <a:rPr lang="en-US" sz="900" b="1" i="0">
                          <a:solidFill>
                            <a:srgbClr val="070154"/>
                          </a:solidFill>
                          <a:latin typeface="Arial"/>
                          <a:ea typeface="Arial"/>
                          <a:cs typeface="Arial"/>
                        </a:rPr>
                        <a:t>Quality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Rules Engine, Core, Reconcile AI</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First experiment: Rules Engine PRD to tech spec with the agent; baseline four delivery measures.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Tech spec template for Core; Recon flow metrics live; monthly quality view.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Quality measures inform prioritization and portfolio decisions.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Engineering leadership, Product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3"/>
                  </a:ext>
                </a:extLst>
              </a:tr>
              <a:tr h="560000">
                <a:tc>
                  <a:txBody>
                    <a:bodyPr/>
                    <a:lstStyle/>
                    <a:p>
                      <a:pPr>
                        <a:lnSpc>
                          <a:spcPct val="102000"/>
                        </a:lnSpc>
                        <a:buNone/>
                      </a:pPr>
                      <a:r>
                        <a:rPr lang="en-US" sz="900" b="1" i="0">
                          <a:solidFill>
                            <a:srgbClr val="070154"/>
                          </a:solidFill>
                          <a:latin typeface="Arial"/>
                          <a:ea typeface="Arial"/>
                          <a:cs typeface="Arial"/>
                        </a:rPr>
                        <a:t>AI guardrail</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a:solidFill>
                            <a:srgbClr val="0047FF"/>
                          </a:solidFill>
                          <a:latin typeface="Arial"/>
                          <a:ea typeface="Arial"/>
                          <a:cs typeface="Arial"/>
                        </a:rPr>
                        <a:t>All pods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Approve sanctioned AI tools and the PHI rule, and extend access to all staff, including contractors, before the December rollout.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Govern the December AIDLC rollout; shared agent registry.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Scale what improves speed and quality together.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Engineering, Product, Security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4"/>
                  </a:ext>
                </a:extLst>
              </a:tr>
              <a:tr h="560000">
                <a:tc>
                  <a:txBody>
                    <a:bodyPr/>
                    <a:lstStyle/>
                    <a:p>
                      <a:pPr>
                        <a:lnSpc>
                          <a:spcPct val="102000"/>
                        </a:lnSpc>
                        <a:buNone/>
                      </a:pPr>
                      <a:r>
                        <a:rPr lang="en-US" sz="900" b="1" i="0">
                          <a:solidFill>
                            <a:srgbClr val="070154"/>
                          </a:solidFill>
                          <a:latin typeface="Arial"/>
                          <a:ea typeface="Arial"/>
                          <a:cs typeface="Arial"/>
                        </a:rPr>
                        <a:t>Rollout sequence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00" b="0" i="0">
                          <a:solidFill>
                            <a:srgbClr val="50658E"/>
                          </a:solidFill>
                          <a:latin typeface="Arial"/>
                          <a:ea typeface="Arial"/>
                          <a:cs typeface="Arial"/>
                        </a:rPr>
                        <a:t>Core, Reconcile AI, and the Rules Engine as pilots.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Eligibility AI and Pay Connect.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00" b="0" i="0">
                          <a:solidFill>
                            <a:srgbClr val="50658E"/>
                          </a:solidFill>
                          <a:latin typeface="Arial"/>
                          <a:ea typeface="Arial"/>
                          <a:cs typeface="Arial"/>
                        </a:rPr>
                        <a:t>The other pods; Core with a light, human-gated AI version.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endParaRP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extLst>
                  <a:ext uri="{0D108BD9-81ED-4DB2-BD59-A6C34878D82A}">
                    <a16:rowId xmlns:a16="http://schemas.microsoft.com/office/drawing/2014/main" val="10005"/>
                  </a:ext>
                </a:extLst>
              </a:tr>
            </a:tbl>
          </a:graphicData>
        </a:graphic>
      </p:graphicFrame>
      <p:sp>
        <p:nvSpPr>
          <p:cNvPr id="8" name="Rectangle 7">
            <a:extLst>
              <a:ext uri="{FF2B5EF4-FFF2-40B4-BE49-F238E27FC236}">
                <a16:creationId xmlns:a16="http://schemas.microsoft.com/office/drawing/2014/main" id="{C8CBBFB5-C79D-DBF2-F171-8A5A5C1FA52D}"/>
              </a:ext>
            </a:extLst>
          </p:cNvPr>
          <p:cNvSpPr/>
          <p:nvPr/>
        </p:nvSpPr>
        <p:spPr>
          <a:xfrm>
            <a:off x="7352907" y="171450"/>
            <a:ext cx="3733015" cy="1138876"/>
          </a:xfrm>
          <a:prstGeom prst="rect">
            <a:avLst/>
          </a:prstGeom>
          <a:solidFill>
            <a:srgbClr val="F52C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Sameer to review</a:t>
            </a:r>
          </a:p>
        </p:txBody>
      </p:sp>
    </p:spTree>
    <p:extLst>
      <p:ext uri="{BB962C8B-B14F-4D97-AF65-F5344CB8AC3E}">
        <p14:creationId xmlns:p14="http://schemas.microsoft.com/office/powerpoint/2010/main" val="3053805143"/>
      </p:ext>
    </p:extLst>
  </p:cSld>
  <p:clrMapOvr>
    <a:masterClrMapping/>
  </p:clrMapOvr>
  <p:extLst>
    <p:ext uri="{6950BFC3-D8DA-4A85-94F7-54DA5524770B}">
      <p188:commentRel xmlns:p188="http://schemas.microsoft.com/office/powerpoint/2018/8/main" r:id="rId3"/>
    </p:ext>
  </p:extLs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tretch/>
        </p:blipFill>
        <p:spPr>
          <a:xfrm>
            <a:off x="10725150" y="271992"/>
            <a:ext cx="1047750" cy="465667"/>
          </a:xfrm>
          <a:prstGeom prst="rect">
            <a:avLst/>
          </a:prstGeom>
        </p:spPr>
      </p:pic>
      <p:sp>
        <p:nvSpPr>
          <p:cNvPr id="40" name="title"/>
          <p:cNvSpPr/>
          <p:nvPr/>
        </p:nvSpPr>
        <p:spPr>
          <a:xfrm>
            <a:off x="552450" y="304800"/>
            <a:ext cx="9652000" cy="406400"/>
          </a:xfrm>
          <a:prstGeom prst="rect">
            <a:avLst/>
          </a:prstGeom>
          <a:noFill/>
          <a:ln>
            <a:noFill/>
          </a:ln>
        </p:spPr>
        <p:txBody>
          <a:bodyPr lIns="0" tIns="0" rIns="0" bIns="0" anchor="t">
            <a:noAutofit/>
          </a:bodyPr>
          <a:lstStyle/>
          <a:p>
            <a:pPr algn="l">
              <a:buNone/>
            </a:pPr>
            <a:r>
              <a:rPr lang="en-US" sz="2325" b="1">
                <a:solidFill>
                  <a:srgbClr val="070154"/>
                </a:solidFill>
                <a:latin typeface="Arial"/>
              </a:rPr>
              <a:t>Product strategy spike</a:t>
            </a:r>
          </a:p>
        </p:txBody>
      </p:sp>
      <p:sp>
        <p:nvSpPr>
          <p:cNvPr id="41" name="subtitle"/>
          <p:cNvSpPr/>
          <p:nvPr/>
        </p:nvSpPr>
        <p:spPr>
          <a:xfrm>
            <a:off x="552450" y="762000"/>
            <a:ext cx="9652000" cy="355600"/>
          </a:xfrm>
          <a:prstGeom prst="rect">
            <a:avLst/>
          </a:prstGeom>
          <a:noFill/>
          <a:ln>
            <a:noFill/>
          </a:ln>
        </p:spPr>
        <p:txBody>
          <a:bodyPr lIns="0" tIns="0" rIns="0" bIns="0" anchor="t">
            <a:noAutofit/>
          </a:bodyPr>
          <a:lstStyle/>
          <a:p>
            <a:pPr algn="l">
              <a:buNone/>
            </a:pPr>
            <a:r>
              <a:rPr lang="en-US" sz="1350" b="0">
                <a:solidFill>
                  <a:srgbClr val="50658E"/>
                </a:solidFill>
                <a:latin typeface="Arial"/>
              </a:rPr>
              <a:t>Product direction, priorities, and a practical path to execution</a:t>
            </a:r>
          </a:p>
        </p:txBody>
      </p:sp>
      <p:sp>
        <p:nvSpPr>
          <p:cNvPr id="42" name="titleRule"/>
          <p:cNvSpPr/>
          <p:nvPr/>
        </p:nvSpPr>
        <p:spPr>
          <a:xfrm>
            <a:off x="552450" y="1244600"/>
            <a:ext cx="11087100" cy="19050"/>
          </a:xfrm>
          <a:prstGeom prst="rect">
            <a:avLst/>
          </a:prstGeom>
          <a:solidFill>
            <a:srgbClr val="0047FF"/>
          </a:solidFill>
          <a:ln>
            <a:noFill/>
          </a:ln>
        </p:spPr>
        <p:txBody>
          <a:bodyPr lIns="0" tIns="0" rIns="0" bIns="0" anchor="t">
            <a:noAutofit/>
          </a:bodyPr>
          <a:lstStyle/>
          <a:p>
            <a:endParaRPr/>
          </a:p>
        </p:txBody>
      </p:sp>
      <p:sp>
        <p:nvSpPr>
          <p:cNvPr id="43" name="outcomePanel"/>
          <p:cNvSpPr/>
          <p:nvPr/>
        </p:nvSpPr>
        <p:spPr>
          <a:xfrm>
            <a:off x="552450" y="1511300"/>
            <a:ext cx="6540500" cy="1498600"/>
          </a:xfrm>
          <a:prstGeom prst="rect">
            <a:avLst/>
          </a:prstGeom>
          <a:solidFill>
            <a:srgbClr val="E8EEF8"/>
          </a:solidFill>
          <a:ln>
            <a:noFill/>
          </a:ln>
        </p:spPr>
        <p:txBody>
          <a:bodyPr lIns="0" tIns="0" rIns="0" bIns="0" anchor="t">
            <a:noAutofit/>
          </a:bodyPr>
          <a:lstStyle/>
          <a:p>
            <a:endParaRPr/>
          </a:p>
        </p:txBody>
      </p:sp>
      <p:sp>
        <p:nvSpPr>
          <p:cNvPr id="44" name="outcomeLabel"/>
          <p:cNvSpPr/>
          <p:nvPr/>
        </p:nvSpPr>
        <p:spPr>
          <a:xfrm>
            <a:off x="755650" y="1689100"/>
            <a:ext cx="6032500" cy="228600"/>
          </a:xfrm>
          <a:prstGeom prst="rect">
            <a:avLst/>
          </a:prstGeom>
          <a:noFill/>
          <a:ln>
            <a:noFill/>
          </a:ln>
        </p:spPr>
        <p:txBody>
          <a:bodyPr lIns="0" tIns="0" rIns="0" bIns="0" anchor="t">
            <a:noAutofit/>
          </a:bodyPr>
          <a:lstStyle/>
          <a:p>
            <a:pPr algn="l">
              <a:buNone/>
            </a:pPr>
            <a:r>
              <a:rPr lang="en-US" sz="1100" b="1">
                <a:solidFill>
                  <a:srgbClr val="0047FF"/>
                </a:solidFill>
                <a:latin typeface="Arial"/>
              </a:rPr>
              <a:t>OUTCOME</a:t>
            </a:r>
          </a:p>
        </p:txBody>
      </p:sp>
      <p:sp>
        <p:nvSpPr>
          <p:cNvPr id="45" name="outcomeHeadline"/>
          <p:cNvSpPr/>
          <p:nvPr/>
        </p:nvSpPr>
        <p:spPr>
          <a:xfrm>
            <a:off x="755650" y="2006600"/>
            <a:ext cx="6032500" cy="673100"/>
          </a:xfrm>
          <a:prstGeom prst="rect">
            <a:avLst/>
          </a:prstGeom>
          <a:noFill/>
          <a:ln>
            <a:noFill/>
          </a:ln>
        </p:spPr>
        <p:txBody>
          <a:bodyPr lIns="0" tIns="0" rIns="0" bIns="0" anchor="t">
            <a:noAutofit/>
          </a:bodyPr>
          <a:lstStyle/>
          <a:p>
            <a:pPr algn="l">
              <a:buNone/>
            </a:pPr>
            <a:r>
              <a:rPr lang="en-US" sz="2100" b="1">
                <a:solidFill>
                  <a:srgbClr val="070154"/>
                </a:solidFill>
                <a:latin typeface="Arial"/>
              </a:rPr>
              <a:t>Clear product direction and an executable six-month roadmap</a:t>
            </a:r>
          </a:p>
        </p:txBody>
      </p:sp>
      <p:sp>
        <p:nvSpPr>
          <p:cNvPr id="46" name="activitiesLabel"/>
          <p:cNvSpPr/>
          <p:nvPr/>
        </p:nvSpPr>
        <p:spPr>
          <a:xfrm>
            <a:off x="552450" y="3302000"/>
            <a:ext cx="6477000" cy="254000"/>
          </a:xfrm>
          <a:prstGeom prst="rect">
            <a:avLst/>
          </a:prstGeom>
          <a:noFill/>
          <a:ln>
            <a:noFill/>
          </a:ln>
        </p:spPr>
        <p:txBody>
          <a:bodyPr lIns="0" tIns="0" rIns="0" bIns="0" anchor="t">
            <a:noAutofit/>
          </a:bodyPr>
          <a:lstStyle/>
          <a:p>
            <a:pPr algn="l">
              <a:buNone/>
            </a:pPr>
            <a:r>
              <a:rPr lang="en-US" sz="1100" b="1">
                <a:solidFill>
                  <a:srgbClr val="0047FF"/>
                </a:solidFill>
                <a:latin typeface="Arial"/>
              </a:rPr>
              <a:t>KEY ACTIVITIES</a:t>
            </a:r>
          </a:p>
        </p:txBody>
      </p:sp>
      <p:sp>
        <p:nvSpPr>
          <p:cNvPr id="47" name="activityTitle0"/>
          <p:cNvSpPr/>
          <p:nvPr/>
        </p:nvSpPr>
        <p:spPr>
          <a:xfrm>
            <a:off x="552450" y="36957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Build the evidence base</a:t>
            </a:r>
          </a:p>
        </p:txBody>
      </p:sp>
      <p:sp>
        <p:nvSpPr>
          <p:cNvPr id="48" name="activityDetail0"/>
          <p:cNvSpPr/>
          <p:nvPr/>
        </p:nvSpPr>
        <p:spPr>
          <a:xfrm>
            <a:off x="552450" y="39497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Review customer needs, product performance, and business priorities.</a:t>
            </a:r>
          </a:p>
        </p:txBody>
      </p:sp>
      <p:sp>
        <p:nvSpPr>
          <p:cNvPr id="49" name="activityTitle1"/>
          <p:cNvSpPr/>
          <p:nvPr/>
        </p:nvSpPr>
        <p:spPr>
          <a:xfrm>
            <a:off x="552450" y="42672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Align on product strategy</a:t>
            </a:r>
          </a:p>
        </p:txBody>
      </p:sp>
      <p:sp>
        <p:nvSpPr>
          <p:cNvPr id="50" name="activityDetail1"/>
          <p:cNvSpPr/>
          <p:nvPr/>
        </p:nvSpPr>
        <p:spPr>
          <a:xfrm>
            <a:off x="552450" y="45212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Prepare and facilitate a focused strategy workshop with product leaders.</a:t>
            </a:r>
          </a:p>
        </p:txBody>
      </p:sp>
      <p:sp>
        <p:nvSpPr>
          <p:cNvPr id="51" name="activityTitle2"/>
          <p:cNvSpPr/>
          <p:nvPr/>
        </p:nvSpPr>
        <p:spPr>
          <a:xfrm>
            <a:off x="552450" y="48387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Define priorities and success measures</a:t>
            </a:r>
          </a:p>
        </p:txBody>
      </p:sp>
      <p:sp>
        <p:nvSpPr>
          <p:cNvPr id="52" name="activityDetail2"/>
          <p:cNvSpPr/>
          <p:nvPr/>
        </p:nvSpPr>
        <p:spPr>
          <a:xfrm>
            <a:off x="552450" y="50927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Set product-area direction, measurable outcomes, and roadmap trade-offs.</a:t>
            </a:r>
          </a:p>
        </p:txBody>
      </p:sp>
      <p:sp>
        <p:nvSpPr>
          <p:cNvPr id="53" name="activityTitle3"/>
          <p:cNvSpPr/>
          <p:nvPr/>
        </p:nvSpPr>
        <p:spPr>
          <a:xfrm>
            <a:off x="552450" y="5410200"/>
            <a:ext cx="6540500" cy="241300"/>
          </a:xfrm>
          <a:prstGeom prst="rect">
            <a:avLst/>
          </a:prstGeom>
          <a:noFill/>
          <a:ln>
            <a:noFill/>
          </a:ln>
        </p:spPr>
        <p:txBody>
          <a:bodyPr lIns="0" tIns="0" rIns="0" bIns="0" anchor="t">
            <a:noAutofit/>
          </a:bodyPr>
          <a:lstStyle/>
          <a:p>
            <a:pPr algn="l">
              <a:buNone/>
            </a:pPr>
            <a:r>
              <a:rPr lang="en-US" sz="1400" b="1">
                <a:solidFill>
                  <a:srgbClr val="070154"/>
                </a:solidFill>
                <a:latin typeface="Arial"/>
              </a:rPr>
              <a:t>Make the roadmap actionable</a:t>
            </a:r>
          </a:p>
        </p:txBody>
      </p:sp>
      <p:sp>
        <p:nvSpPr>
          <p:cNvPr id="54" name="activityDetail3"/>
          <p:cNvSpPr/>
          <p:nvPr/>
        </p:nvSpPr>
        <p:spPr>
          <a:xfrm>
            <a:off x="552450" y="5664200"/>
            <a:ext cx="6540500" cy="254000"/>
          </a:xfrm>
          <a:prstGeom prst="rect">
            <a:avLst/>
          </a:prstGeom>
          <a:noFill/>
          <a:ln>
            <a:noFill/>
          </a:ln>
        </p:spPr>
        <p:txBody>
          <a:bodyPr lIns="0" tIns="0" rIns="0" bIns="0" anchor="t">
            <a:noAutofit/>
          </a:bodyPr>
          <a:lstStyle/>
          <a:p>
            <a:pPr algn="l">
              <a:buNone/>
            </a:pPr>
            <a:r>
              <a:rPr lang="en-US" sz="1150" b="0">
                <a:solidFill>
                  <a:srgbClr val="50658E"/>
                </a:solidFill>
                <a:latin typeface="Arial"/>
              </a:rPr>
              <a:t>Complete product briefs, ownership, and handoffs for the next six months.</a:t>
            </a:r>
          </a:p>
        </p:txBody>
      </p:sp>
      <p:sp>
        <p:nvSpPr>
          <p:cNvPr id="55" name="teamLabel"/>
          <p:cNvSpPr/>
          <p:nvPr/>
        </p:nvSpPr>
        <p:spPr>
          <a:xfrm>
            <a:off x="7581900" y="1511300"/>
            <a:ext cx="4057650" cy="254000"/>
          </a:xfrm>
          <a:prstGeom prst="rect">
            <a:avLst/>
          </a:prstGeom>
          <a:noFill/>
          <a:ln>
            <a:noFill/>
          </a:ln>
        </p:spPr>
        <p:txBody>
          <a:bodyPr lIns="0" tIns="0" rIns="0" bIns="0" anchor="t">
            <a:noAutofit/>
          </a:bodyPr>
          <a:lstStyle/>
          <a:p>
            <a:pPr algn="l">
              <a:buNone/>
            </a:pPr>
            <a:r>
              <a:rPr lang="en-US" sz="1100" b="1">
                <a:solidFill>
                  <a:srgbClr val="0047FF"/>
                </a:solidFill>
                <a:latin typeface="Arial"/>
              </a:rPr>
              <a:t>PRODUCT TEAM</a:t>
            </a:r>
          </a:p>
        </p:txBody>
      </p:sp>
      <p:sp>
        <p:nvSpPr>
          <p:cNvPr id="56" name="teamName"/>
          <p:cNvSpPr/>
          <p:nvPr/>
        </p:nvSpPr>
        <p:spPr>
          <a:xfrm>
            <a:off x="7581900" y="1917700"/>
            <a:ext cx="4057650" cy="292100"/>
          </a:xfrm>
          <a:prstGeom prst="rect">
            <a:avLst/>
          </a:prstGeom>
          <a:noFill/>
          <a:ln>
            <a:noFill/>
          </a:ln>
        </p:spPr>
        <p:txBody>
          <a:bodyPr lIns="0" tIns="0" rIns="0" bIns="0" anchor="t">
            <a:noAutofit/>
          </a:bodyPr>
          <a:lstStyle/>
          <a:p>
            <a:pPr algn="l">
              <a:buNone/>
            </a:pPr>
            <a:r>
              <a:rPr lang="en-US" sz="1700" b="1">
                <a:solidFill>
                  <a:srgbClr val="070154"/>
                </a:solidFill>
                <a:latin typeface="Arial"/>
              </a:rPr>
              <a:t>Executive Product Strategy · Part time</a:t>
            </a:r>
          </a:p>
        </p:txBody>
      </p:sp>
      <p:sp>
        <p:nvSpPr>
          <p:cNvPr id="57" name="teamRole"/>
          <p:cNvSpPr/>
          <p:nvPr/>
        </p:nvSpPr>
        <p:spPr>
          <a:xfrm>
            <a:off x="7581900" y="2298700"/>
            <a:ext cx="4057650" cy="279400"/>
          </a:xfrm>
          <a:prstGeom prst="rect">
            <a:avLst/>
          </a:prstGeom>
          <a:noFill/>
          <a:ln>
            <a:noFill/>
          </a:ln>
        </p:spPr>
        <p:txBody>
          <a:bodyPr lIns="0" tIns="0" rIns="0" bIns="0" anchor="t">
            <a:noAutofit/>
          </a:bodyPr>
          <a:lstStyle/>
          <a:p>
            <a:pPr algn="l">
              <a:buNone/>
            </a:pPr>
            <a:r>
              <a:rPr lang="en-US" sz="1200" b="0">
                <a:solidFill>
                  <a:srgbClr val="50658E"/>
                </a:solidFill>
                <a:latin typeface="Arial"/>
              </a:rPr>
              <a:t>Sameer Karim</a:t>
            </a:r>
          </a:p>
        </p:txBody>
      </p:sp>
      <p:sp>
        <p:nvSpPr>
          <p:cNvPr id="58" name="strategistName"/>
          <p:cNvSpPr/>
          <p:nvPr/>
        </p:nvSpPr>
        <p:spPr>
          <a:xfrm>
            <a:off x="7581900" y="2857500"/>
            <a:ext cx="4057650" cy="304800"/>
          </a:xfrm>
          <a:prstGeom prst="rect">
            <a:avLst/>
          </a:prstGeom>
          <a:noFill/>
          <a:ln>
            <a:noFill/>
          </a:ln>
        </p:spPr>
        <p:txBody>
          <a:bodyPr lIns="0" tIns="0" rIns="0" bIns="0" anchor="t">
            <a:noAutofit/>
          </a:bodyPr>
          <a:lstStyle/>
          <a:p>
            <a:r>
              <a:rPr lang="en-US" sz="1700" b="1">
                <a:solidFill>
                  <a:srgbClr val="070154"/>
                </a:solidFill>
                <a:latin typeface="Arial"/>
              </a:rPr>
              <a:t>Senior Product </a:t>
            </a:r>
            <a:r>
              <a:rPr lang="en-US" sz="1700" b="1">
                <a:solidFill>
                  <a:srgbClr val="070154"/>
                </a:solidFill>
              </a:rPr>
              <a:t>Strategist · Full time</a:t>
            </a:r>
          </a:p>
        </p:txBody>
      </p:sp>
      <p:sp>
        <p:nvSpPr>
          <p:cNvPr id="59" name="strategistRole"/>
          <p:cNvSpPr/>
          <p:nvPr/>
        </p:nvSpPr>
        <p:spPr>
          <a:xfrm>
            <a:off x="7581900" y="3238500"/>
            <a:ext cx="4057650" cy="279400"/>
          </a:xfrm>
          <a:prstGeom prst="rect">
            <a:avLst/>
          </a:prstGeom>
          <a:noFill/>
          <a:ln>
            <a:noFill/>
          </a:ln>
        </p:spPr>
        <p:txBody>
          <a:bodyPr lIns="0" tIns="0" rIns="0" bIns="0" anchor="t">
            <a:noAutofit/>
          </a:bodyPr>
          <a:lstStyle/>
          <a:p>
            <a:pPr algn="l">
              <a:buNone/>
            </a:pPr>
            <a:r>
              <a:rPr lang="en-US" sz="1200" b="0" err="1">
                <a:solidFill>
                  <a:srgbClr val="50658E"/>
                </a:solidFill>
                <a:latin typeface="Arial"/>
              </a:rPr>
              <a:t>Mzati</a:t>
            </a:r>
            <a:r>
              <a:rPr lang="en-US" sz="1200" b="0">
                <a:solidFill>
                  <a:srgbClr val="50658E"/>
                </a:solidFill>
                <a:latin typeface="Arial"/>
              </a:rPr>
              <a:t> Kapalamula</a:t>
            </a:r>
          </a:p>
        </p:txBody>
      </p:sp>
      <p:sp>
        <p:nvSpPr>
          <p:cNvPr id="60" name="investmentLabel"/>
          <p:cNvSpPr/>
          <p:nvPr/>
        </p:nvSpPr>
        <p:spPr>
          <a:xfrm>
            <a:off x="7581900" y="3962400"/>
            <a:ext cx="4057650" cy="279400"/>
          </a:xfrm>
          <a:prstGeom prst="rect">
            <a:avLst/>
          </a:prstGeom>
          <a:noFill/>
          <a:ln>
            <a:noFill/>
          </a:ln>
        </p:spPr>
        <p:txBody>
          <a:bodyPr lIns="0" tIns="0" rIns="0" bIns="0" anchor="t">
            <a:noAutofit/>
          </a:bodyPr>
          <a:lstStyle/>
          <a:p>
            <a:pPr algn="l">
              <a:buNone/>
            </a:pPr>
            <a:r>
              <a:rPr lang="en-US" sz="1100" b="1">
                <a:solidFill>
                  <a:srgbClr val="0047FF"/>
                </a:solidFill>
                <a:latin typeface="Arial"/>
              </a:rPr>
              <a:t>INVESTMENT: ALL 3 WORKSTREAMS</a:t>
            </a:r>
          </a:p>
        </p:txBody>
      </p:sp>
      <p:graphicFrame>
        <p:nvGraphicFramePr>
          <p:cNvPr id="61" name="Three-workstream pricing"/>
          <p:cNvGraphicFramePr/>
          <p:nvPr/>
        </p:nvGraphicFramePr>
        <p:xfrm>
          <a:off x="7581900" y="4394200"/>
          <a:ext cx="4057650" cy="1447800"/>
        </p:xfrm>
        <a:graphic>
          <a:graphicData uri="http://schemas.openxmlformats.org/drawingml/2006/table">
            <a:tbl>
              <a:tblPr/>
              <a:tblGrid>
                <a:gridCol w="243840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482600">
                <a:tc>
                  <a:txBody>
                    <a:bodyPr/>
                    <a:lstStyle/>
                    <a:p>
                      <a:pPr algn="l">
                        <a:buNone/>
                      </a:pPr>
                      <a:r>
                        <a:rPr lang="en-US" sz="1400" b="0">
                          <a:solidFill>
                            <a:srgbClr val="070154"/>
                          </a:solidFill>
                          <a:latin typeface="Arial"/>
                        </a:rPr>
                        <a:t>Total fees</a:t>
                      </a:r>
                    </a:p>
                  </a:txBody>
                  <a:tcPr marL="152400" marR="152400" marT="63500" marB="63500" anchor="ctr">
                    <a:lnL>
                      <a:noFill/>
                    </a:lnL>
                    <a:lnR>
                      <a:noFill/>
                    </a:lnR>
                    <a:lnT>
                      <a:noFill/>
                    </a:lnT>
                    <a:lnB w="12700">
                      <a:solidFill>
                        <a:srgbClr val="FFFFFF"/>
                      </a:solidFill>
                    </a:lnB>
                    <a:solidFill>
                      <a:srgbClr val="E8EEF8"/>
                    </a:solidFill>
                  </a:tcPr>
                </a:tc>
                <a:tc>
                  <a:txBody>
                    <a:bodyPr/>
                    <a:lstStyle/>
                    <a:p>
                      <a:pPr algn="r">
                        <a:buNone/>
                      </a:pPr>
                      <a:r>
                        <a:rPr lang="en-US" sz="1400" b="0">
                          <a:solidFill>
                            <a:srgbClr val="070154"/>
                          </a:solidFill>
                          <a:latin typeface="Arial"/>
                        </a:rPr>
                        <a:t>$370,000</a:t>
                      </a:r>
                    </a:p>
                  </a:txBody>
                  <a:tcPr marL="152400" marR="152400" marT="63500" marB="63500" anchor="ctr">
                    <a:lnL>
                      <a:noFill/>
                    </a:lnL>
                    <a:lnR>
                      <a:noFill/>
                    </a:lnR>
                    <a:lnT>
                      <a:noFill/>
                    </a:lnT>
                    <a:lnB w="12700">
                      <a:solidFill>
                        <a:srgbClr val="FFFFFF"/>
                      </a:solidFill>
                    </a:lnB>
                    <a:solidFill>
                      <a:srgbClr val="E8EEF8"/>
                    </a:solidFill>
                  </a:tcPr>
                </a:tc>
                <a:extLst>
                  <a:ext uri="{0D108BD9-81ED-4DB2-BD59-A6C34878D82A}">
                    <a16:rowId xmlns:a16="http://schemas.microsoft.com/office/drawing/2014/main" val="10000"/>
                  </a:ext>
                </a:extLst>
              </a:tr>
              <a:tr h="482600">
                <a:tc>
                  <a:txBody>
                    <a:bodyPr/>
                    <a:lstStyle/>
                    <a:p>
                      <a:pPr algn="l">
                        <a:buNone/>
                      </a:pPr>
                      <a:r>
                        <a:rPr lang="en-US" sz="1400" b="0">
                          <a:solidFill>
                            <a:srgbClr val="070154"/>
                          </a:solidFill>
                          <a:latin typeface="Arial"/>
                        </a:rPr>
                        <a:t>Credit memo</a:t>
                      </a:r>
                    </a:p>
                  </a:txBody>
                  <a:tcPr marL="152400" marR="152400" marT="63500" marB="63500" anchor="ctr">
                    <a:lnL>
                      <a:noFill/>
                    </a:lnL>
                    <a:lnR>
                      <a:noFill/>
                    </a:lnR>
                    <a:lnT w="12700" cap="flat" cmpd="sng" algn="ctr">
                      <a:solidFill>
                        <a:srgbClr val="FFFFFF"/>
                      </a:solidFill>
                      <a:prstDash val="solid"/>
                      <a:round/>
                      <a:headEnd type="none" w="med" len="med"/>
                      <a:tailEnd type="none" w="med" len="med"/>
                    </a:lnT>
                    <a:lnB w="12700">
                      <a:solidFill>
                        <a:srgbClr val="FFFFFF"/>
                      </a:solidFill>
                    </a:lnB>
                    <a:solidFill>
                      <a:srgbClr val="E8EEF8"/>
                    </a:solidFill>
                  </a:tcPr>
                </a:tc>
                <a:tc>
                  <a:txBody>
                    <a:bodyPr/>
                    <a:lstStyle/>
                    <a:p>
                      <a:pPr algn="r">
                        <a:buNone/>
                      </a:pPr>
                      <a:r>
                        <a:rPr lang="en-US" sz="1400" b="0">
                          <a:solidFill>
                            <a:srgbClr val="070154"/>
                          </a:solidFill>
                          <a:latin typeface="Arial"/>
                        </a:rPr>
                        <a:t>($25,000)</a:t>
                      </a:r>
                    </a:p>
                  </a:txBody>
                  <a:tcPr marL="152400" marR="152400" marT="63500" marB="63500" anchor="ctr">
                    <a:lnL>
                      <a:noFill/>
                    </a:lnL>
                    <a:lnR>
                      <a:noFill/>
                    </a:lnR>
                    <a:lnT w="12700" cap="flat" cmpd="sng" algn="ctr">
                      <a:solidFill>
                        <a:srgbClr val="FFFFFF"/>
                      </a:solidFill>
                      <a:prstDash val="solid"/>
                      <a:round/>
                      <a:headEnd type="none" w="med" len="med"/>
                      <a:tailEnd type="none" w="med" len="med"/>
                    </a:lnT>
                    <a:lnB w="12700">
                      <a:solidFill>
                        <a:srgbClr val="FFFFFF"/>
                      </a:solidFill>
                    </a:lnB>
                    <a:solidFill>
                      <a:srgbClr val="E8EEF8"/>
                    </a:solidFill>
                  </a:tcPr>
                </a:tc>
                <a:extLst>
                  <a:ext uri="{0D108BD9-81ED-4DB2-BD59-A6C34878D82A}">
                    <a16:rowId xmlns:a16="http://schemas.microsoft.com/office/drawing/2014/main" val="10001"/>
                  </a:ext>
                </a:extLst>
              </a:tr>
              <a:tr h="482600">
                <a:tc>
                  <a:txBody>
                    <a:bodyPr/>
                    <a:lstStyle/>
                    <a:p>
                      <a:pPr algn="l">
                        <a:buNone/>
                      </a:pPr>
                      <a:r>
                        <a:rPr lang="en-US" sz="1400" b="1">
                          <a:solidFill>
                            <a:srgbClr val="FFFFFF"/>
                          </a:solidFill>
                          <a:latin typeface="Arial"/>
                        </a:rPr>
                        <a:t>Total investment</a:t>
                      </a:r>
                    </a:p>
                  </a:txBody>
                  <a:tcPr marL="152400" marR="152400" marT="63500" marB="63500" anchor="ctr">
                    <a:lnL>
                      <a:noFill/>
                    </a:lnL>
                    <a:lnR>
                      <a:noFill/>
                    </a:lnR>
                    <a:lnT w="12700" cap="flat" cmpd="sng" algn="ctr">
                      <a:solidFill>
                        <a:srgbClr val="FFFFFF"/>
                      </a:solidFill>
                      <a:prstDash val="solid"/>
                      <a:round/>
                      <a:headEnd type="none" w="med" len="med"/>
                      <a:tailEnd type="none" w="med" len="med"/>
                    </a:lnT>
                    <a:lnB w="12700">
                      <a:solidFill>
                        <a:srgbClr val="FFFFFF"/>
                      </a:solidFill>
                    </a:lnB>
                    <a:solidFill>
                      <a:srgbClr val="070154"/>
                    </a:solidFill>
                  </a:tcPr>
                </a:tc>
                <a:tc>
                  <a:txBody>
                    <a:bodyPr/>
                    <a:lstStyle/>
                    <a:p>
                      <a:pPr algn="r">
                        <a:buNone/>
                      </a:pPr>
                      <a:r>
                        <a:rPr lang="en-US" sz="1400" b="1">
                          <a:solidFill>
                            <a:srgbClr val="FFFFFF"/>
                          </a:solidFill>
                          <a:latin typeface="Arial"/>
                        </a:rPr>
                        <a:t>$345,000</a:t>
                      </a:r>
                    </a:p>
                  </a:txBody>
                  <a:tcPr marL="152400" marR="152400" marT="63500" marB="63500" anchor="ctr">
                    <a:lnL>
                      <a:noFill/>
                    </a:lnL>
                    <a:lnR>
                      <a:noFill/>
                    </a:lnR>
                    <a:lnT w="12700" cap="flat" cmpd="sng" algn="ctr">
                      <a:solidFill>
                        <a:srgbClr val="FFFFFF"/>
                      </a:solidFill>
                      <a:prstDash val="solid"/>
                      <a:round/>
                      <a:headEnd type="none" w="med" len="med"/>
                      <a:tailEnd type="none" w="med" len="med"/>
                    </a:lnT>
                    <a:lnB w="12700">
                      <a:solidFill>
                        <a:srgbClr val="FFFFFF"/>
                      </a:solidFill>
                    </a:lnB>
                    <a:solidFill>
                      <a:srgbClr val="070154"/>
                    </a:solidFill>
                  </a:tcPr>
                </a:tc>
                <a:extLst>
                  <a:ext uri="{0D108BD9-81ED-4DB2-BD59-A6C34878D82A}">
                    <a16:rowId xmlns:a16="http://schemas.microsoft.com/office/drawing/2014/main" val="10002"/>
                  </a:ext>
                </a:extLst>
              </a:tr>
            </a:tbl>
          </a:graphicData>
        </a:graphic>
      </p:graphicFrame>
      <p:sp>
        <p:nvSpPr>
          <p:cNvPr id="2" name="Rectangle 1">
            <a:extLst>
              <a:ext uri="{FF2B5EF4-FFF2-40B4-BE49-F238E27FC236}">
                <a16:creationId xmlns:a16="http://schemas.microsoft.com/office/drawing/2014/main" id="{C47D2882-52DE-ADF2-2599-A1F8C069657B}"/>
              </a:ext>
            </a:extLst>
          </p:cNvPr>
          <p:cNvSpPr/>
          <p:nvPr/>
        </p:nvSpPr>
        <p:spPr>
          <a:xfrm>
            <a:off x="7352907" y="171450"/>
            <a:ext cx="3733015" cy="1138876"/>
          </a:xfrm>
          <a:prstGeom prst="rect">
            <a:avLst/>
          </a:prstGeom>
          <a:solidFill>
            <a:srgbClr val="F52C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Sameer to review</a:t>
            </a:r>
          </a:p>
        </p:txBody>
      </p:sp>
      <p:sp>
        <p:nvSpPr>
          <p:cNvPr id="3" name="Footer Placeholder 1">
            <a:extLst>
              <a:ext uri="{FF2B5EF4-FFF2-40B4-BE49-F238E27FC236}">
                <a16:creationId xmlns:a16="http://schemas.microsoft.com/office/drawing/2014/main" id="{881E0AB0-9DE2-82E8-3B59-136F68AD2FD6}"/>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Tree>
    <p:extLst>
      <p:ext uri="{BB962C8B-B14F-4D97-AF65-F5344CB8AC3E}">
        <p14:creationId xmlns:p14="http://schemas.microsoft.com/office/powerpoint/2010/main" val="817964264"/>
      </p:ext>
    </p:extLst>
  </p:cSld>
  <p:clrMapOvr>
    <a:masterClrMapping/>
  </p:clrMapOvr>
</p:sld>
</file>

<file path=ppt/theme/theme1.xml><?xml version="1.0" encoding="utf-8"?>
<a:theme xmlns:a="http://schemas.openxmlformats.org/drawingml/2006/main" name="West Monroe 032625">
  <a:themeElements>
    <a:clrScheme name="West Monroe 03122025">
      <a:dk1>
        <a:srgbClr val="070154"/>
      </a:dk1>
      <a:lt1>
        <a:srgbClr val="FFFFFF"/>
      </a:lt1>
      <a:dk2>
        <a:srgbClr val="0047FF"/>
      </a:dk2>
      <a:lt2>
        <a:srgbClr val="FFFFFF"/>
      </a:lt2>
      <a:accent1>
        <a:srgbClr val="F900D3"/>
      </a:accent1>
      <a:accent2>
        <a:srgbClr val="50658E"/>
      </a:accent2>
      <a:accent3>
        <a:srgbClr val="CED7E6"/>
      </a:accent3>
      <a:accent4>
        <a:srgbClr val="E8EEF8"/>
      </a:accent4>
      <a:accent5>
        <a:srgbClr val="00E8FA"/>
      </a:accent5>
      <a:accent6>
        <a:srgbClr val="00A3FF"/>
      </a:accent6>
      <a:hlink>
        <a:srgbClr val="070053"/>
      </a:hlink>
      <a:folHlink>
        <a:srgbClr val="F802D3"/>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est Monroe 03122025">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West Monroe 032625">
  <a:themeElements>
    <a:clrScheme name="West Monroe 03122025">
      <a:dk1>
        <a:srgbClr val="070154"/>
      </a:dk1>
      <a:lt1>
        <a:srgbClr val="FFFFFF"/>
      </a:lt1>
      <a:dk2>
        <a:srgbClr val="0047FF"/>
      </a:dk2>
      <a:lt2>
        <a:srgbClr val="FFFFFF"/>
      </a:lt2>
      <a:accent1>
        <a:srgbClr val="F900D3"/>
      </a:accent1>
      <a:accent2>
        <a:srgbClr val="50658E"/>
      </a:accent2>
      <a:accent3>
        <a:srgbClr val="CED7E6"/>
      </a:accent3>
      <a:accent4>
        <a:srgbClr val="E8EEF8"/>
      </a:accent4>
      <a:accent5>
        <a:srgbClr val="00E8FA"/>
      </a:accent5>
      <a:accent6>
        <a:srgbClr val="00A3FF"/>
      </a:accent6>
      <a:hlink>
        <a:srgbClr val="070053"/>
      </a:hlink>
      <a:folHlink>
        <a:srgbClr val="F802D3"/>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est Monroe 03122025">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BC2ACE5-8349-EF47-8E8E-174ED5E317E4}">
  <we:reference id="f5f369e5-aa35-49d7-ad7b-638152ddb008" version="1.0.0.1" store="EXCatalog" storeType="EXCatalog"/>
  <we:alternateReferences>
    <we:reference id="WA200010001" version="1.0.0.1" store="en-US" storeType="OMEX"/>
  </we:alternateReferences>
  <we:properties>
    <we:property name="claude.fileId" value="&quot;9d5bc0e7-3b58-4e81-a8f2-31889ff109d6&quot;"/>
  </we:properties>
  <we:bindings/>
  <we:snapshot xmlns:r="http://schemas.openxmlformats.org/officeDocument/2006/relationships"/>
</we:webextension>
</file>

<file path=ppt/webextensions/webextension2.xml><?xml version="1.0" encoding="utf-8"?>
<we:webextension xmlns:we="http://schemas.microsoft.com/office/webextensions/webextension/2010/11" id="{C458DE4D-B3AC-1849-AC64-0361A53AA644}">
  <we:reference id="cba9fc06-6fc9-492e-9525-923870a3b909" version="2.0.0.1" store="EXCatalog" storeType="EXCatalog"/>
  <we:alternateReferences>
    <we:reference id="WA200010215" version="2.0.0.1" store="en-US" storeType="OMEX"/>
  </we:alternateReferences>
  <we:properties>
    <we:property name="bps.codex_control.document_id" value="&quot;eb326f6e-ab14-4a4f-aca9-d033965c9036&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5196BC1DEAA74F93B5E75F3E956930" ma:contentTypeVersion="3" ma:contentTypeDescription="Create a new document." ma:contentTypeScope="" ma:versionID="81d036a4641e06d67146fe7561e5d4da">
  <xsd:schema xmlns:xsd="http://www.w3.org/2001/XMLSchema" xmlns:xs="http://www.w3.org/2001/XMLSchema" xmlns:p="http://schemas.microsoft.com/office/2006/metadata/properties" xmlns:ns2="d7985c0d-71e6-40a8-abea-6c86883caec8" targetNamespace="http://schemas.microsoft.com/office/2006/metadata/properties" ma:root="true" ma:fieldsID="c9eb127e60c2b1c8815b650985713df8" ns2:_="">
    <xsd:import namespace="d7985c0d-71e6-40a8-abea-6c86883caec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985c0d-71e6-40a8-abea-6c86883cae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3CCCD56-7E1C-42EA-B658-570BB4D7E673}">
  <ds:schemaRefs>
    <ds:schemaRef ds:uri="d7985c0d-71e6-40a8-abea-6c86883caec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62D4518-A974-4D2E-A08B-96298718DA74}">
  <ds:schemaRefs>
    <ds:schemaRef ds:uri="http://schemas.microsoft.com/sharepoint/v3/contenttype/forms"/>
  </ds:schemaRefs>
</ds:datastoreItem>
</file>

<file path=customXml/itemProps3.xml><?xml version="1.0" encoding="utf-8"?>
<ds:datastoreItem xmlns:ds="http://schemas.openxmlformats.org/officeDocument/2006/customXml" ds:itemID="{56542559-E8E2-437C-8F6B-AB7D4E6AB3A9}">
  <ds:schemaRefs>
    <ds:schemaRef ds:uri="d7985c0d-71e6-40a8-abea-6c86883caec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57</Slides>
  <Notes>57</Notes>
  <HiddenSlides>15</HiddenSlide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West Monroe 032625</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1</cp:revision>
  <dcterms:created xsi:type="dcterms:W3CDTF">2026-09-21T20:55:50Z</dcterms:created>
  <dcterms:modified xsi:type="dcterms:W3CDTF">2026-10-02T17:54:21Z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0x010100CA5196BC1DEAA74F93B5E75F3E956930</vt:lpwstr>
  </property>
</Properties>
</file>