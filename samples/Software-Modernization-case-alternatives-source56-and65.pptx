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Con Edison EDAP Modernization
56
ORIGINAL SOURCE — COMPLETE VISIBLE COPY
© 2026 West Monroe Partners | Reproduction and/or distribution without West Monroe Partners’ prior consent is prohibited.
33
Client identified the need for the data staging platform to be upgraded with modern and supportable technology given the end-of-life status of AngularJS, reducing technical debt and updating unsupported dependencies to modern supportable standards across the UI, API, and data layers.
LARGE EAST COAST UTILITY 
How do we avoid security risk and reduce technical debt?
57
App Features Identified
Initial modernization inventory included 57 application features to be prioritized for modernization
CLIENT STORIES
	Modernization Strategy &amp; Build
		Mobilized for the project to review existing application codebase, known issues, npgsql, and other dependencies; setup local development environments and source code repositories
		Determined target .NET version for upgrade, migrated data from existing PostgreSQL instance to new one, and refactored API functionality based on data testing
		Iteratively designed, built, and tested rewritten UI functionality in the new Angular code base, reviewing and deploying code for review with client along the way
		Facilitated client acceptance testing and knowledge transfer, prepared and validated Production deployment checklist, and supported client with production release planning including internal security compliance and code scanning activities
		Deployed new solution to PROD environment including Staging PostgreSQL migration to new instance, finalized client acceptance testing and retrospective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SAFe Built
65
ORIGINAL SOURCE — COMPLETE VISIBLE COPY
© 2026 West Monroe Partners  |  Reproduction and/or distribution without West Monroe Partners’ prior consent is prohibited.
65
CLIENT STORIES
The team was able to come up to speed quickly, identify areas of improvement for the solution along with creating thorough documentation to support the application going forward. The team was also able to understand the business quickly and work with end users to identify future needs.
— Chief Information Officer
$5M
Investment
De-risked
The project de-risked an initial $5M investment
Client was seeking help to modernize their PRO App and relaunch it with a new user group. They also wanted help to evaluate their existing product strategy &amp; roadmap against near-term business objectives.
Construction Company Software Provider
How can we modernize our app and relaunch it in the market with a new user group? 
	Modernization Strategy &amp; Build
		Our modernization effort prioritized features that reduced maintenance cost, increased usability, and improved end-user productivity. The team took a Product-first mindset and relied on direct input from end users to prioritize epics.
		We rationalized the PRO App to identify modular AI assets that can be re-used and deployed in various parts of the user Journey to improve the overall experience.
		This project de-risked an initial ~$5 million investment and helped identify opportunities that, when implemented, could yield a significant improvement in productivity
Original source SHA256: c732e693a6370a0abdf3b54f34ff456304a4a25025303c508a48559f1bee73e6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mds.frame.565fa27430157ff1bff7">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mds.frame.18d901d1753b9c83f901">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8724900" y="0"/>
            <a:ext cx="3467100" cy="6858000"/>
          </a:xfrm>
          <a:prstGeom prst="rect">
            <a:avLst/>
          </a:prstGeom>
          <a:solidFill>
            <a:srgbClr val="070154"/>
          </a:solidFill>
          <a:ln>
            <a:noFill/>
          </a:ln>
        </p:spPr>
      </p:sp>
      <p:sp>
        <p:nvSpPr>
          <p:cNvPr id="3" name="wm.footer.rule"/>
          <p:cNvSpPr/>
          <p:nvPr/>
        </p:nvSpPr>
        <p:spPr>
          <a:xfrm>
            <a:off x="723900" y="6057900"/>
            <a:ext cx="7086600" cy="9525"/>
          </a:xfrm>
          <a:prstGeom prst="rect">
            <a:avLst/>
          </a:prstGeom>
          <a:solidFill>
            <a:srgbClr val="CED7E6"/>
          </a:solidFill>
          <a:ln>
            <a:noFill/>
          </a:ln>
        </p:spPr>
      </p:sp>
      <p:sp>
        <p:nvSpPr>
          <p:cNvPr id="4" name="wm.whiteboard.0.0"/>
          <p:cNvSpPr/>
          <p:nvPr/>
        </p:nvSpPr>
        <p:spPr>
          <a:xfrm>
            <a:off x="266700" y="228600"/>
            <a:ext cx="38100" cy="38100"/>
          </a:xfrm>
          <a:prstGeom prst="rect">
            <a:avLst/>
          </a:prstGeom>
          <a:solidFill>
            <a:srgbClr val="CED7E6"/>
          </a:solidFill>
          <a:ln>
            <a:noFill/>
          </a:ln>
        </p:spPr>
      </p:sp>
      <p:sp>
        <p:nvSpPr>
          <p:cNvPr id="5" name="wm.whiteboard.0.18"/>
          <p:cNvSpPr/>
          <p:nvPr/>
        </p:nvSpPr>
        <p:spPr>
          <a:xfrm>
            <a:off x="266700" y="457200"/>
            <a:ext cx="38100" cy="38100"/>
          </a:xfrm>
          <a:prstGeom prst="rect">
            <a:avLst/>
          </a:prstGeom>
          <a:solidFill>
            <a:srgbClr val="CED7E6"/>
          </a:solidFill>
          <a:ln>
            <a:noFill/>
          </a:ln>
        </p:spPr>
      </p:sp>
      <p:sp>
        <p:nvSpPr>
          <p:cNvPr id="6" name="wm.whiteboard.0.36"/>
          <p:cNvSpPr/>
          <p:nvPr/>
        </p:nvSpPr>
        <p:spPr>
          <a:xfrm>
            <a:off x="266700" y="685800"/>
            <a:ext cx="38100" cy="38100"/>
          </a:xfrm>
          <a:prstGeom prst="rect">
            <a:avLst/>
          </a:prstGeom>
          <a:solidFill>
            <a:srgbClr val="CED7E6"/>
          </a:solidFill>
          <a:ln>
            <a:noFill/>
          </a:ln>
        </p:spPr>
      </p:sp>
      <p:sp>
        <p:nvSpPr>
          <p:cNvPr id="7" name="wm.whiteboard.0.54"/>
          <p:cNvSpPr/>
          <p:nvPr/>
        </p:nvSpPr>
        <p:spPr>
          <a:xfrm>
            <a:off x="266700" y="914400"/>
            <a:ext cx="38100" cy="38100"/>
          </a:xfrm>
          <a:prstGeom prst="rect">
            <a:avLst/>
          </a:prstGeom>
          <a:solidFill>
            <a:srgbClr val="CED7E6"/>
          </a:solidFill>
          <a:ln>
            <a:noFill/>
          </a:ln>
        </p:spPr>
      </p:sp>
      <p:sp>
        <p:nvSpPr>
          <p:cNvPr id="8" name="wm.whiteboard.0.72"/>
          <p:cNvSpPr/>
          <p:nvPr/>
        </p:nvSpPr>
        <p:spPr>
          <a:xfrm>
            <a:off x="266700" y="1143000"/>
            <a:ext cx="38100" cy="38100"/>
          </a:xfrm>
          <a:prstGeom prst="rect">
            <a:avLst/>
          </a:prstGeom>
          <a:solidFill>
            <a:srgbClr val="CED7E6">
              <a:alpha val="85305"/>
            </a:srgbClr>
          </a:solidFill>
          <a:ln>
            <a:noFill/>
          </a:ln>
        </p:spPr>
      </p:sp>
      <p:sp>
        <p:nvSpPr>
          <p:cNvPr id="9" name="wm.whiteboard.0.90"/>
          <p:cNvSpPr/>
          <p:nvPr/>
        </p:nvSpPr>
        <p:spPr>
          <a:xfrm>
            <a:off x="266700" y="1371600"/>
            <a:ext cx="38100" cy="38100"/>
          </a:xfrm>
          <a:prstGeom prst="rect">
            <a:avLst/>
          </a:prstGeom>
          <a:solidFill>
            <a:srgbClr val="CED7E6">
              <a:alpha val="68524"/>
            </a:srgbClr>
          </a:solidFill>
          <a:ln>
            <a:noFill/>
          </a:ln>
        </p:spPr>
      </p:sp>
      <p:sp>
        <p:nvSpPr>
          <p:cNvPr id="10" name="wm.whiteboard.0.108"/>
          <p:cNvSpPr/>
          <p:nvPr/>
        </p:nvSpPr>
        <p:spPr>
          <a:xfrm>
            <a:off x="266700" y="1600200"/>
            <a:ext cx="38100" cy="38100"/>
          </a:xfrm>
          <a:prstGeom prst="rect">
            <a:avLst/>
          </a:prstGeom>
          <a:solidFill>
            <a:srgbClr val="CED7E6">
              <a:alpha val="51742"/>
            </a:srgbClr>
          </a:solidFill>
          <a:ln>
            <a:noFill/>
          </a:ln>
        </p:spPr>
      </p:sp>
      <p:sp>
        <p:nvSpPr>
          <p:cNvPr id="11" name="wm.whiteboard.0.126"/>
          <p:cNvSpPr/>
          <p:nvPr/>
        </p:nvSpPr>
        <p:spPr>
          <a:xfrm>
            <a:off x="266700" y="1828800"/>
            <a:ext cx="38100" cy="38100"/>
          </a:xfrm>
          <a:prstGeom prst="rect">
            <a:avLst/>
          </a:prstGeom>
          <a:solidFill>
            <a:srgbClr val="CED7E6">
              <a:alpha val="34959"/>
            </a:srgbClr>
          </a:solidFill>
          <a:ln>
            <a:noFill/>
          </a:ln>
        </p:spPr>
      </p:sp>
      <p:sp>
        <p:nvSpPr>
          <p:cNvPr id="12" name="wm.whiteboard.0.144"/>
          <p:cNvSpPr/>
          <p:nvPr/>
        </p:nvSpPr>
        <p:spPr>
          <a:xfrm>
            <a:off x="266700" y="2057400"/>
            <a:ext cx="38100" cy="38100"/>
          </a:xfrm>
          <a:prstGeom prst="rect">
            <a:avLst/>
          </a:prstGeom>
          <a:solidFill>
            <a:srgbClr val="CED7E6">
              <a:alpha val="18177"/>
            </a:srgbClr>
          </a:solidFill>
          <a:ln>
            <a:noFill/>
          </a:ln>
        </p:spPr>
      </p:sp>
      <p:sp>
        <p:nvSpPr>
          <p:cNvPr id="13" name="wm.whiteboard.0.162"/>
          <p:cNvSpPr/>
          <p:nvPr/>
        </p:nvSpPr>
        <p:spPr>
          <a:xfrm>
            <a:off x="266700" y="2286000"/>
            <a:ext cx="38100" cy="38100"/>
          </a:xfrm>
          <a:prstGeom prst="rect">
            <a:avLst/>
          </a:prstGeom>
          <a:solidFill>
            <a:srgbClr val="CED7E6">
              <a:alpha val="1394"/>
            </a:srgbClr>
          </a:solidFill>
          <a:ln>
            <a:noFill/>
          </a:ln>
        </p:spPr>
      </p:sp>
      <p:sp>
        <p:nvSpPr>
          <p:cNvPr id="14" name="wm.whiteboard.18.0"/>
          <p:cNvSpPr/>
          <p:nvPr/>
        </p:nvSpPr>
        <p:spPr>
          <a:xfrm>
            <a:off x="495300" y="228600"/>
            <a:ext cx="38100" cy="38100"/>
          </a:xfrm>
          <a:prstGeom prst="rect">
            <a:avLst/>
          </a:prstGeom>
          <a:solidFill>
            <a:srgbClr val="CED7E6"/>
          </a:solidFill>
          <a:ln>
            <a:noFill/>
          </a:ln>
        </p:spPr>
      </p:sp>
      <p:sp>
        <p:nvSpPr>
          <p:cNvPr id="15" name="wm.whiteboard.18.18"/>
          <p:cNvSpPr/>
          <p:nvPr/>
        </p:nvSpPr>
        <p:spPr>
          <a:xfrm>
            <a:off x="495300" y="457200"/>
            <a:ext cx="38100" cy="38100"/>
          </a:xfrm>
          <a:prstGeom prst="rect">
            <a:avLst/>
          </a:prstGeom>
          <a:solidFill>
            <a:srgbClr val="CED7E6"/>
          </a:solidFill>
          <a:ln>
            <a:noFill/>
          </a:ln>
        </p:spPr>
      </p:sp>
      <p:sp>
        <p:nvSpPr>
          <p:cNvPr id="16" name="wm.whiteboard.18.36"/>
          <p:cNvSpPr/>
          <p:nvPr/>
        </p:nvSpPr>
        <p:spPr>
          <a:xfrm>
            <a:off x="495300" y="685800"/>
            <a:ext cx="38100" cy="38100"/>
          </a:xfrm>
          <a:prstGeom prst="rect">
            <a:avLst/>
          </a:prstGeom>
          <a:solidFill>
            <a:srgbClr val="CED7E6"/>
          </a:solidFill>
          <a:ln>
            <a:noFill/>
          </a:ln>
        </p:spPr>
      </p:sp>
      <p:sp>
        <p:nvSpPr>
          <p:cNvPr id="17" name="wm.whiteboard.18.54"/>
          <p:cNvSpPr/>
          <p:nvPr/>
        </p:nvSpPr>
        <p:spPr>
          <a:xfrm>
            <a:off x="495300" y="914400"/>
            <a:ext cx="38100" cy="38100"/>
          </a:xfrm>
          <a:prstGeom prst="rect">
            <a:avLst/>
          </a:prstGeom>
          <a:solidFill>
            <a:srgbClr val="CED7E6">
              <a:alpha val="99988"/>
            </a:srgbClr>
          </a:solidFill>
          <a:ln>
            <a:noFill/>
          </a:ln>
        </p:spPr>
      </p:sp>
      <p:sp>
        <p:nvSpPr>
          <p:cNvPr id="18" name="wm.whiteboard.18.72"/>
          <p:cNvSpPr/>
          <p:nvPr/>
        </p:nvSpPr>
        <p:spPr>
          <a:xfrm>
            <a:off x="495300" y="1143000"/>
            <a:ext cx="38100" cy="38100"/>
          </a:xfrm>
          <a:prstGeom prst="rect">
            <a:avLst/>
          </a:prstGeom>
          <a:solidFill>
            <a:srgbClr val="CED7E6">
              <a:alpha val="83708"/>
            </a:srgbClr>
          </a:solidFill>
          <a:ln>
            <a:noFill/>
          </a:ln>
        </p:spPr>
      </p:sp>
      <p:sp>
        <p:nvSpPr>
          <p:cNvPr id="19" name="wm.whiteboard.18.90"/>
          <p:cNvSpPr/>
          <p:nvPr/>
        </p:nvSpPr>
        <p:spPr>
          <a:xfrm>
            <a:off x="495300" y="1371600"/>
            <a:ext cx="38100" cy="38100"/>
          </a:xfrm>
          <a:prstGeom prst="rect">
            <a:avLst/>
          </a:prstGeom>
          <a:solidFill>
            <a:srgbClr val="CED7E6">
              <a:alpha val="67236"/>
            </a:srgbClr>
          </a:solidFill>
          <a:ln>
            <a:noFill/>
          </a:ln>
        </p:spPr>
      </p:sp>
      <p:sp>
        <p:nvSpPr>
          <p:cNvPr id="20" name="wm.whiteboard.18.108"/>
          <p:cNvSpPr/>
          <p:nvPr/>
        </p:nvSpPr>
        <p:spPr>
          <a:xfrm>
            <a:off x="495300" y="1600200"/>
            <a:ext cx="38100" cy="38100"/>
          </a:xfrm>
          <a:prstGeom prst="rect">
            <a:avLst/>
          </a:prstGeom>
          <a:solidFill>
            <a:srgbClr val="CED7E6">
              <a:alpha val="50663"/>
            </a:srgbClr>
          </a:solidFill>
          <a:ln>
            <a:noFill/>
          </a:ln>
        </p:spPr>
      </p:sp>
      <p:sp>
        <p:nvSpPr>
          <p:cNvPr id="21" name="wm.whiteboard.18.126"/>
          <p:cNvSpPr/>
          <p:nvPr/>
        </p:nvSpPr>
        <p:spPr>
          <a:xfrm>
            <a:off x="495300" y="1828800"/>
            <a:ext cx="38100" cy="38100"/>
          </a:xfrm>
          <a:prstGeom prst="rect">
            <a:avLst/>
          </a:prstGeom>
          <a:solidFill>
            <a:srgbClr val="CED7E6">
              <a:alpha val="34032"/>
            </a:srgbClr>
          </a:solidFill>
          <a:ln>
            <a:noFill/>
          </a:ln>
        </p:spPr>
      </p:sp>
      <p:sp>
        <p:nvSpPr>
          <p:cNvPr id="22" name="wm.whiteboard.18.144"/>
          <p:cNvSpPr/>
          <p:nvPr/>
        </p:nvSpPr>
        <p:spPr>
          <a:xfrm>
            <a:off x="495300" y="2057400"/>
            <a:ext cx="38100" cy="38100"/>
          </a:xfrm>
          <a:prstGeom prst="rect">
            <a:avLst/>
          </a:prstGeom>
          <a:solidFill>
            <a:srgbClr val="CED7E6">
              <a:alpha val="17363"/>
            </a:srgbClr>
          </a:solidFill>
          <a:ln>
            <a:noFill/>
          </a:ln>
        </p:spPr>
      </p:sp>
      <p:sp>
        <p:nvSpPr>
          <p:cNvPr id="23" name="wm.whiteboard.18.162"/>
          <p:cNvSpPr/>
          <p:nvPr/>
        </p:nvSpPr>
        <p:spPr>
          <a:xfrm>
            <a:off x="495300" y="2286000"/>
            <a:ext cx="38100" cy="38100"/>
          </a:xfrm>
          <a:prstGeom prst="rect">
            <a:avLst/>
          </a:prstGeom>
          <a:solidFill>
            <a:srgbClr val="CED7E6">
              <a:alpha val="670"/>
            </a:srgbClr>
          </a:solidFill>
          <a:ln>
            <a:noFill/>
          </a:ln>
        </p:spPr>
      </p:sp>
      <p:sp>
        <p:nvSpPr>
          <p:cNvPr id="24" name="wm.whiteboard.36.0"/>
          <p:cNvSpPr/>
          <p:nvPr/>
        </p:nvSpPr>
        <p:spPr>
          <a:xfrm>
            <a:off x="723900" y="228600"/>
            <a:ext cx="38100" cy="38100"/>
          </a:xfrm>
          <a:prstGeom prst="rect">
            <a:avLst/>
          </a:prstGeom>
          <a:solidFill>
            <a:srgbClr val="CED7E6"/>
          </a:solidFill>
          <a:ln>
            <a:noFill/>
          </a:ln>
        </p:spPr>
      </p:sp>
      <p:sp>
        <p:nvSpPr>
          <p:cNvPr id="25" name="wm.whiteboard.36.18"/>
          <p:cNvSpPr/>
          <p:nvPr/>
        </p:nvSpPr>
        <p:spPr>
          <a:xfrm>
            <a:off x="723900" y="457200"/>
            <a:ext cx="38100" cy="38100"/>
          </a:xfrm>
          <a:prstGeom prst="rect">
            <a:avLst/>
          </a:prstGeom>
          <a:solidFill>
            <a:srgbClr val="CED7E6"/>
          </a:solidFill>
          <a:ln>
            <a:noFill/>
          </a:ln>
        </p:spPr>
      </p:sp>
      <p:sp>
        <p:nvSpPr>
          <p:cNvPr id="26" name="wm.whiteboard.36.36"/>
          <p:cNvSpPr/>
          <p:nvPr/>
        </p:nvSpPr>
        <p:spPr>
          <a:xfrm>
            <a:off x="723900" y="685800"/>
            <a:ext cx="38100" cy="38100"/>
          </a:xfrm>
          <a:prstGeom prst="rect">
            <a:avLst/>
          </a:prstGeom>
          <a:solidFill>
            <a:srgbClr val="CED7E6"/>
          </a:solidFill>
          <a:ln>
            <a:noFill/>
          </a:ln>
        </p:spPr>
      </p:sp>
      <p:sp>
        <p:nvSpPr>
          <p:cNvPr id="27" name="wm.whiteboard.36.54"/>
          <p:cNvSpPr/>
          <p:nvPr/>
        </p:nvSpPr>
        <p:spPr>
          <a:xfrm>
            <a:off x="723900" y="914400"/>
            <a:ext cx="38100" cy="38100"/>
          </a:xfrm>
          <a:prstGeom prst="rect">
            <a:avLst/>
          </a:prstGeom>
          <a:solidFill>
            <a:srgbClr val="CED7E6">
              <a:alpha val="94671"/>
            </a:srgbClr>
          </a:solidFill>
          <a:ln>
            <a:noFill/>
          </a:ln>
        </p:spPr>
      </p:sp>
      <p:sp>
        <p:nvSpPr>
          <p:cNvPr id="28" name="wm.whiteboard.36.72"/>
          <p:cNvSpPr/>
          <p:nvPr/>
        </p:nvSpPr>
        <p:spPr>
          <a:xfrm>
            <a:off x="723900" y="1143000"/>
            <a:ext cx="38100" cy="38100"/>
          </a:xfrm>
          <a:prstGeom prst="rect">
            <a:avLst/>
          </a:prstGeom>
          <a:solidFill>
            <a:srgbClr val="CED7E6">
              <a:alpha val="79547"/>
            </a:srgbClr>
          </a:solidFill>
          <a:ln>
            <a:noFill/>
          </a:ln>
        </p:spPr>
      </p:sp>
      <p:sp>
        <p:nvSpPr>
          <p:cNvPr id="29" name="wm.whiteboard.36.90"/>
          <p:cNvSpPr/>
          <p:nvPr/>
        </p:nvSpPr>
        <p:spPr>
          <a:xfrm>
            <a:off x="723900" y="1371600"/>
            <a:ext cx="38100" cy="38100"/>
          </a:xfrm>
          <a:prstGeom prst="rect">
            <a:avLst/>
          </a:prstGeom>
          <a:solidFill>
            <a:srgbClr val="CED7E6">
              <a:alpha val="63833"/>
            </a:srgbClr>
          </a:solidFill>
          <a:ln>
            <a:noFill/>
          </a:ln>
        </p:spPr>
      </p:sp>
      <p:sp>
        <p:nvSpPr>
          <p:cNvPr id="30" name="wm.whiteboard.36.108"/>
          <p:cNvSpPr/>
          <p:nvPr/>
        </p:nvSpPr>
        <p:spPr>
          <a:xfrm>
            <a:off x="723900" y="1600200"/>
            <a:ext cx="38100" cy="38100"/>
          </a:xfrm>
          <a:prstGeom prst="rect">
            <a:avLst/>
          </a:prstGeom>
          <a:solidFill>
            <a:srgbClr val="CED7E6">
              <a:alpha val="47790"/>
            </a:srgbClr>
          </a:solidFill>
          <a:ln>
            <a:noFill/>
          </a:ln>
        </p:spPr>
      </p:sp>
      <p:sp>
        <p:nvSpPr>
          <p:cNvPr id="31" name="wm.whiteboard.36.126"/>
          <p:cNvSpPr/>
          <p:nvPr/>
        </p:nvSpPr>
        <p:spPr>
          <a:xfrm>
            <a:off x="723900" y="1828800"/>
            <a:ext cx="38100" cy="38100"/>
          </a:xfrm>
          <a:prstGeom prst="rect">
            <a:avLst/>
          </a:prstGeom>
          <a:solidFill>
            <a:srgbClr val="CED7E6">
              <a:alpha val="31549"/>
            </a:srgbClr>
          </a:solidFill>
          <a:ln>
            <a:noFill/>
          </a:ln>
        </p:spPr>
      </p:sp>
      <p:sp>
        <p:nvSpPr>
          <p:cNvPr id="32" name="wm.whiteboard.36.144"/>
          <p:cNvSpPr/>
          <p:nvPr/>
        </p:nvSpPr>
        <p:spPr>
          <a:xfrm>
            <a:off x="723900" y="2057400"/>
            <a:ext cx="38100" cy="38100"/>
          </a:xfrm>
          <a:prstGeom prst="rect">
            <a:avLst/>
          </a:prstGeom>
          <a:solidFill>
            <a:srgbClr val="CED7E6">
              <a:alpha val="15179"/>
            </a:srgbClr>
          </a:solidFill>
          <a:ln>
            <a:noFill/>
          </a:ln>
        </p:spPr>
      </p:sp>
      <p:sp>
        <p:nvSpPr>
          <p:cNvPr id="33" name="wm.whiteboard.54.0"/>
          <p:cNvSpPr/>
          <p:nvPr/>
        </p:nvSpPr>
        <p:spPr>
          <a:xfrm>
            <a:off x="952500" y="228600"/>
            <a:ext cx="38100" cy="38100"/>
          </a:xfrm>
          <a:prstGeom prst="rect">
            <a:avLst/>
          </a:prstGeom>
          <a:solidFill>
            <a:srgbClr val="CED7E6"/>
          </a:solidFill>
          <a:ln>
            <a:noFill/>
          </a:ln>
        </p:spPr>
      </p:sp>
      <p:sp>
        <p:nvSpPr>
          <p:cNvPr id="34" name="wm.whiteboard.54.18"/>
          <p:cNvSpPr/>
          <p:nvPr/>
        </p:nvSpPr>
        <p:spPr>
          <a:xfrm>
            <a:off x="952500" y="457200"/>
            <a:ext cx="38100" cy="38100"/>
          </a:xfrm>
          <a:prstGeom prst="rect">
            <a:avLst/>
          </a:prstGeom>
          <a:solidFill>
            <a:srgbClr val="CED7E6"/>
          </a:solidFill>
          <a:ln>
            <a:noFill/>
          </a:ln>
        </p:spPr>
      </p:sp>
      <p:sp>
        <p:nvSpPr>
          <p:cNvPr id="35" name="wm.whiteboard.54.36"/>
          <p:cNvSpPr/>
          <p:nvPr/>
        </p:nvSpPr>
        <p:spPr>
          <a:xfrm>
            <a:off x="952500" y="685800"/>
            <a:ext cx="38100" cy="38100"/>
          </a:xfrm>
          <a:prstGeom prst="rect">
            <a:avLst/>
          </a:prstGeom>
          <a:solidFill>
            <a:srgbClr val="CED7E6">
              <a:alpha val="98827"/>
            </a:srgbClr>
          </a:solidFill>
          <a:ln>
            <a:noFill/>
          </a:ln>
        </p:spPr>
      </p:sp>
      <p:sp>
        <p:nvSpPr>
          <p:cNvPr id="36" name="wm.whiteboard.54.54"/>
          <p:cNvSpPr/>
          <p:nvPr/>
        </p:nvSpPr>
        <p:spPr>
          <a:xfrm>
            <a:off x="952500" y="914400"/>
            <a:ext cx="38100" cy="38100"/>
          </a:xfrm>
          <a:prstGeom prst="rect">
            <a:avLst/>
          </a:prstGeom>
          <a:solidFill>
            <a:srgbClr val="CED7E6">
              <a:alpha val="86895"/>
            </a:srgbClr>
          </a:solidFill>
          <a:ln>
            <a:noFill/>
          </a:ln>
        </p:spPr>
      </p:sp>
      <p:sp>
        <p:nvSpPr>
          <p:cNvPr id="37" name="wm.whiteboard.54.72"/>
          <p:cNvSpPr/>
          <p:nvPr/>
        </p:nvSpPr>
        <p:spPr>
          <a:xfrm>
            <a:off x="952500" y="1143000"/>
            <a:ext cx="38100" cy="38100"/>
          </a:xfrm>
          <a:prstGeom prst="rect">
            <a:avLst/>
          </a:prstGeom>
          <a:solidFill>
            <a:srgbClr val="CED7E6">
              <a:alpha val="73217"/>
            </a:srgbClr>
          </a:solidFill>
          <a:ln>
            <a:noFill/>
          </a:ln>
        </p:spPr>
      </p:sp>
      <p:sp>
        <p:nvSpPr>
          <p:cNvPr id="38" name="wm.whiteboard.54.90"/>
          <p:cNvSpPr/>
          <p:nvPr/>
        </p:nvSpPr>
        <p:spPr>
          <a:xfrm>
            <a:off x="952500" y="1371600"/>
            <a:ext cx="38100" cy="38100"/>
          </a:xfrm>
          <a:prstGeom prst="rect">
            <a:avLst/>
          </a:prstGeom>
          <a:solidFill>
            <a:srgbClr val="CED7E6">
              <a:alpha val="58541"/>
            </a:srgbClr>
          </a:solidFill>
          <a:ln>
            <a:noFill/>
          </a:ln>
        </p:spPr>
      </p:sp>
      <p:sp>
        <p:nvSpPr>
          <p:cNvPr id="39" name="wm.whiteboard.54.108"/>
          <p:cNvSpPr/>
          <p:nvPr/>
        </p:nvSpPr>
        <p:spPr>
          <a:xfrm>
            <a:off x="952500" y="1600200"/>
            <a:ext cx="38100" cy="38100"/>
          </a:xfrm>
          <a:prstGeom prst="rect">
            <a:avLst/>
          </a:prstGeom>
          <a:solidFill>
            <a:srgbClr val="CED7E6">
              <a:alpha val="43263"/>
            </a:srgbClr>
          </a:solidFill>
          <a:ln>
            <a:noFill/>
          </a:ln>
        </p:spPr>
      </p:sp>
      <p:sp>
        <p:nvSpPr>
          <p:cNvPr id="40" name="wm.whiteboard.54.126"/>
          <p:cNvSpPr/>
          <p:nvPr/>
        </p:nvSpPr>
        <p:spPr>
          <a:xfrm>
            <a:off x="952500" y="1828800"/>
            <a:ext cx="38100" cy="38100"/>
          </a:xfrm>
          <a:prstGeom prst="rect">
            <a:avLst/>
          </a:prstGeom>
          <a:solidFill>
            <a:srgbClr val="CED7E6">
              <a:alpha val="27603"/>
            </a:srgbClr>
          </a:solidFill>
          <a:ln>
            <a:noFill/>
          </a:ln>
        </p:spPr>
      </p:sp>
      <p:sp>
        <p:nvSpPr>
          <p:cNvPr id="41" name="wm.whiteboard.54.144"/>
          <p:cNvSpPr/>
          <p:nvPr/>
        </p:nvSpPr>
        <p:spPr>
          <a:xfrm>
            <a:off x="952500" y="2057400"/>
            <a:ext cx="38100" cy="38100"/>
          </a:xfrm>
          <a:prstGeom prst="rect">
            <a:avLst/>
          </a:prstGeom>
          <a:solidFill>
            <a:srgbClr val="CED7E6">
              <a:alpha val="11687"/>
            </a:srgbClr>
          </a:solidFill>
          <a:ln>
            <a:noFill/>
          </a:ln>
        </p:spPr>
      </p:sp>
      <p:sp>
        <p:nvSpPr>
          <p:cNvPr id="42" name="wm.whiteboard.72.0"/>
          <p:cNvSpPr/>
          <p:nvPr/>
        </p:nvSpPr>
        <p:spPr>
          <a:xfrm>
            <a:off x="1181100" y="228600"/>
            <a:ext cx="38100" cy="38100"/>
          </a:xfrm>
          <a:prstGeom prst="rect">
            <a:avLst/>
          </a:prstGeom>
          <a:solidFill>
            <a:srgbClr val="CED7E6">
              <a:alpha val="97572"/>
            </a:srgbClr>
          </a:solidFill>
          <a:ln>
            <a:noFill/>
          </a:ln>
        </p:spPr>
      </p:sp>
      <p:sp>
        <p:nvSpPr>
          <p:cNvPr id="43" name="wm.whiteboard.72.18"/>
          <p:cNvSpPr/>
          <p:nvPr/>
        </p:nvSpPr>
        <p:spPr>
          <a:xfrm>
            <a:off x="1181100" y="457200"/>
            <a:ext cx="38100" cy="38100"/>
          </a:xfrm>
          <a:prstGeom prst="rect">
            <a:avLst/>
          </a:prstGeom>
          <a:solidFill>
            <a:srgbClr val="CED7E6">
              <a:alpha val="94724"/>
            </a:srgbClr>
          </a:solidFill>
          <a:ln>
            <a:noFill/>
          </a:ln>
        </p:spPr>
      </p:sp>
      <p:sp>
        <p:nvSpPr>
          <p:cNvPr id="44" name="wm.whiteboard.72.36"/>
          <p:cNvSpPr/>
          <p:nvPr/>
        </p:nvSpPr>
        <p:spPr>
          <a:xfrm>
            <a:off x="1181100" y="685800"/>
            <a:ext cx="38100" cy="38100"/>
          </a:xfrm>
          <a:prstGeom prst="rect">
            <a:avLst/>
          </a:prstGeom>
          <a:solidFill>
            <a:srgbClr val="CED7E6">
              <a:alpha val="87609"/>
            </a:srgbClr>
          </a:solidFill>
          <a:ln>
            <a:noFill/>
          </a:ln>
        </p:spPr>
      </p:sp>
      <p:sp>
        <p:nvSpPr>
          <p:cNvPr id="45" name="wm.whiteboard.72.54"/>
          <p:cNvSpPr/>
          <p:nvPr/>
        </p:nvSpPr>
        <p:spPr>
          <a:xfrm>
            <a:off x="1181100" y="914400"/>
            <a:ext cx="38100" cy="38100"/>
          </a:xfrm>
          <a:prstGeom prst="rect">
            <a:avLst/>
          </a:prstGeom>
          <a:solidFill>
            <a:srgbClr val="CED7E6">
              <a:alpha val="77408"/>
            </a:srgbClr>
          </a:solidFill>
          <a:ln>
            <a:noFill/>
          </a:ln>
        </p:spPr>
      </p:sp>
      <p:sp>
        <p:nvSpPr>
          <p:cNvPr id="46" name="wm.whiteboard.72.72"/>
          <p:cNvSpPr/>
          <p:nvPr/>
        </p:nvSpPr>
        <p:spPr>
          <a:xfrm>
            <a:off x="1181100" y="1143000"/>
            <a:ext cx="38100" cy="38100"/>
          </a:xfrm>
          <a:prstGeom prst="rect">
            <a:avLst/>
          </a:prstGeom>
          <a:solidFill>
            <a:srgbClr val="CED7E6">
              <a:alpha val="65181"/>
            </a:srgbClr>
          </a:solidFill>
          <a:ln>
            <a:noFill/>
          </a:ln>
        </p:spPr>
      </p:sp>
      <p:sp>
        <p:nvSpPr>
          <p:cNvPr id="47" name="wm.whiteboard.72.90"/>
          <p:cNvSpPr/>
          <p:nvPr/>
        </p:nvSpPr>
        <p:spPr>
          <a:xfrm>
            <a:off x="1181100" y="1371600"/>
            <a:ext cx="38100" cy="38100"/>
          </a:xfrm>
          <a:prstGeom prst="rect">
            <a:avLst/>
          </a:prstGeom>
          <a:solidFill>
            <a:srgbClr val="CED7E6">
              <a:alpha val="51653"/>
            </a:srgbClr>
          </a:solidFill>
          <a:ln>
            <a:noFill/>
          </a:ln>
        </p:spPr>
      </p:sp>
      <p:sp>
        <p:nvSpPr>
          <p:cNvPr id="48" name="wm.whiteboard.72.108"/>
          <p:cNvSpPr/>
          <p:nvPr/>
        </p:nvSpPr>
        <p:spPr>
          <a:xfrm>
            <a:off x="1181100" y="1600200"/>
            <a:ext cx="38100" cy="38100"/>
          </a:xfrm>
          <a:prstGeom prst="rect">
            <a:avLst/>
          </a:prstGeom>
          <a:solidFill>
            <a:srgbClr val="CED7E6">
              <a:alpha val="37275"/>
            </a:srgbClr>
          </a:solidFill>
          <a:ln>
            <a:noFill/>
          </a:ln>
        </p:spPr>
      </p:sp>
      <p:sp>
        <p:nvSpPr>
          <p:cNvPr id="49" name="wm.whiteboard.72.126"/>
          <p:cNvSpPr/>
          <p:nvPr/>
        </p:nvSpPr>
        <p:spPr>
          <a:xfrm>
            <a:off x="1181100" y="1828800"/>
            <a:ext cx="38100" cy="38100"/>
          </a:xfrm>
          <a:prstGeom prst="rect">
            <a:avLst/>
          </a:prstGeom>
          <a:solidFill>
            <a:srgbClr val="CED7E6">
              <a:alpha val="22326"/>
            </a:srgbClr>
          </a:solidFill>
          <a:ln>
            <a:noFill/>
          </a:ln>
        </p:spPr>
      </p:sp>
      <p:sp>
        <p:nvSpPr>
          <p:cNvPr id="50" name="wm.whiteboard.72.144"/>
          <p:cNvSpPr/>
          <p:nvPr/>
        </p:nvSpPr>
        <p:spPr>
          <a:xfrm>
            <a:off x="1181100" y="2057400"/>
            <a:ext cx="38100" cy="38100"/>
          </a:xfrm>
          <a:prstGeom prst="rect">
            <a:avLst/>
          </a:prstGeom>
          <a:solidFill>
            <a:srgbClr val="CED7E6">
              <a:alpha val="6980"/>
            </a:srgbClr>
          </a:solidFill>
          <a:ln>
            <a:noFill/>
          </a:ln>
        </p:spPr>
      </p:sp>
      <p:sp>
        <p:nvSpPr>
          <p:cNvPr id="51" name="wm.whiteboard.90.0"/>
          <p:cNvSpPr/>
          <p:nvPr/>
        </p:nvSpPr>
        <p:spPr>
          <a:xfrm>
            <a:off x="1409700" y="228600"/>
            <a:ext cx="38100" cy="38100"/>
          </a:xfrm>
          <a:prstGeom prst="rect">
            <a:avLst/>
          </a:prstGeom>
          <a:solidFill>
            <a:srgbClr val="CED7E6">
              <a:alpha val="83798"/>
            </a:srgbClr>
          </a:solidFill>
          <a:ln>
            <a:noFill/>
          </a:ln>
        </p:spPr>
      </p:sp>
      <p:sp>
        <p:nvSpPr>
          <p:cNvPr id="52" name="wm.whiteboard.90.18"/>
          <p:cNvSpPr/>
          <p:nvPr/>
        </p:nvSpPr>
        <p:spPr>
          <a:xfrm>
            <a:off x="1409700" y="457200"/>
            <a:ext cx="38100" cy="38100"/>
          </a:xfrm>
          <a:prstGeom prst="rect">
            <a:avLst/>
          </a:prstGeom>
          <a:solidFill>
            <a:srgbClr val="CED7E6">
              <a:alpha val="81490"/>
            </a:srgbClr>
          </a:solidFill>
          <a:ln>
            <a:noFill/>
          </a:ln>
        </p:spPr>
      </p:sp>
      <p:sp>
        <p:nvSpPr>
          <p:cNvPr id="53" name="wm.whiteboard.90.36"/>
          <p:cNvSpPr/>
          <p:nvPr/>
        </p:nvSpPr>
        <p:spPr>
          <a:xfrm>
            <a:off x="1409700" y="685800"/>
            <a:ext cx="38100" cy="38100"/>
          </a:xfrm>
          <a:prstGeom prst="rect">
            <a:avLst/>
          </a:prstGeom>
          <a:solidFill>
            <a:srgbClr val="CED7E6">
              <a:alpha val="75569"/>
            </a:srgbClr>
          </a:solidFill>
          <a:ln>
            <a:noFill/>
          </a:ln>
        </p:spPr>
      </p:sp>
      <p:sp>
        <p:nvSpPr>
          <p:cNvPr id="54" name="wm.whiteboard.90.54"/>
          <p:cNvSpPr/>
          <p:nvPr/>
        </p:nvSpPr>
        <p:spPr>
          <a:xfrm>
            <a:off x="1409700" y="914400"/>
            <a:ext cx="38100" cy="38100"/>
          </a:xfrm>
          <a:prstGeom prst="rect">
            <a:avLst/>
          </a:prstGeom>
          <a:solidFill>
            <a:srgbClr val="CED7E6">
              <a:alpha val="66767"/>
            </a:srgbClr>
          </a:solidFill>
          <a:ln>
            <a:noFill/>
          </a:ln>
        </p:spPr>
      </p:sp>
      <p:sp>
        <p:nvSpPr>
          <p:cNvPr id="55" name="wm.whiteboard.90.72"/>
          <p:cNvSpPr/>
          <p:nvPr/>
        </p:nvSpPr>
        <p:spPr>
          <a:xfrm>
            <a:off x="1409700" y="1143000"/>
            <a:ext cx="38100" cy="38100"/>
          </a:xfrm>
          <a:prstGeom prst="rect">
            <a:avLst/>
          </a:prstGeom>
          <a:solidFill>
            <a:srgbClr val="CED7E6">
              <a:alpha val="55859"/>
            </a:srgbClr>
          </a:solidFill>
          <a:ln>
            <a:noFill/>
          </a:ln>
        </p:spPr>
      </p:sp>
      <p:sp>
        <p:nvSpPr>
          <p:cNvPr id="56" name="wm.whiteboard.90.90"/>
          <p:cNvSpPr/>
          <p:nvPr/>
        </p:nvSpPr>
        <p:spPr>
          <a:xfrm>
            <a:off x="1409700" y="1371600"/>
            <a:ext cx="38100" cy="38100"/>
          </a:xfrm>
          <a:prstGeom prst="rect">
            <a:avLst/>
          </a:prstGeom>
          <a:solidFill>
            <a:srgbClr val="CED7E6">
              <a:alpha val="43468"/>
            </a:srgbClr>
          </a:solidFill>
          <a:ln>
            <a:noFill/>
          </a:ln>
        </p:spPr>
      </p:sp>
      <p:sp>
        <p:nvSpPr>
          <p:cNvPr id="57" name="wm.whiteboard.90.108"/>
          <p:cNvSpPr/>
          <p:nvPr/>
        </p:nvSpPr>
        <p:spPr>
          <a:xfrm>
            <a:off x="1409700" y="1600200"/>
            <a:ext cx="38100" cy="38100"/>
          </a:xfrm>
          <a:prstGeom prst="rect">
            <a:avLst/>
          </a:prstGeom>
          <a:solidFill>
            <a:srgbClr val="CED7E6">
              <a:alpha val="30037"/>
            </a:srgbClr>
          </a:solidFill>
          <a:ln>
            <a:noFill/>
          </a:ln>
        </p:spPr>
      </p:sp>
      <p:sp>
        <p:nvSpPr>
          <p:cNvPr id="58" name="wm.whiteboard.90.126"/>
          <p:cNvSpPr/>
          <p:nvPr/>
        </p:nvSpPr>
        <p:spPr>
          <a:xfrm>
            <a:off x="1409700" y="1828800"/>
            <a:ext cx="38100" cy="38100"/>
          </a:xfrm>
          <a:prstGeom prst="rect">
            <a:avLst/>
          </a:prstGeom>
          <a:solidFill>
            <a:srgbClr val="CED7E6">
              <a:alpha val="15870"/>
            </a:srgbClr>
          </a:solidFill>
          <a:ln>
            <a:noFill/>
          </a:ln>
        </p:spPr>
      </p:sp>
      <p:sp>
        <p:nvSpPr>
          <p:cNvPr id="59" name="wm.whiteboard.90.144"/>
          <p:cNvSpPr/>
          <p:nvPr/>
        </p:nvSpPr>
        <p:spPr>
          <a:xfrm>
            <a:off x="1409700" y="2057400"/>
            <a:ext cx="38100" cy="38100"/>
          </a:xfrm>
          <a:prstGeom prst="rect">
            <a:avLst/>
          </a:prstGeom>
          <a:solidFill>
            <a:srgbClr val="CED7E6">
              <a:alpha val="1171"/>
            </a:srgbClr>
          </a:solidFill>
          <a:ln>
            <a:noFill/>
          </a:ln>
        </p:spPr>
      </p:sp>
      <p:sp>
        <p:nvSpPr>
          <p:cNvPr id="60" name="wm.whiteboard.108.0"/>
          <p:cNvSpPr/>
          <p:nvPr/>
        </p:nvSpPr>
        <p:spPr>
          <a:xfrm>
            <a:off x="1638300" y="228600"/>
            <a:ext cx="38100" cy="38100"/>
          </a:xfrm>
          <a:prstGeom prst="rect">
            <a:avLst/>
          </a:prstGeom>
          <a:solidFill>
            <a:srgbClr val="CED7E6">
              <a:alpha val="70023"/>
            </a:srgbClr>
          </a:solidFill>
          <a:ln>
            <a:noFill/>
          </a:ln>
        </p:spPr>
      </p:sp>
      <p:sp>
        <p:nvSpPr>
          <p:cNvPr id="61" name="wm.whiteboard.108.18"/>
          <p:cNvSpPr/>
          <p:nvPr/>
        </p:nvSpPr>
        <p:spPr>
          <a:xfrm>
            <a:off x="1638300" y="457200"/>
            <a:ext cx="38100" cy="38100"/>
          </a:xfrm>
          <a:prstGeom prst="rect">
            <a:avLst/>
          </a:prstGeom>
          <a:solidFill>
            <a:srgbClr val="CED7E6">
              <a:alpha val="68085"/>
            </a:srgbClr>
          </a:solidFill>
          <a:ln>
            <a:noFill/>
          </a:ln>
        </p:spPr>
      </p:sp>
      <p:sp>
        <p:nvSpPr>
          <p:cNvPr id="62" name="wm.whiteboard.108.36"/>
          <p:cNvSpPr/>
          <p:nvPr/>
        </p:nvSpPr>
        <p:spPr>
          <a:xfrm>
            <a:off x="1638300" y="685800"/>
            <a:ext cx="38100" cy="38100"/>
          </a:xfrm>
          <a:prstGeom prst="rect">
            <a:avLst/>
          </a:prstGeom>
          <a:solidFill>
            <a:srgbClr val="CED7E6">
              <a:alpha val="63033"/>
            </a:srgbClr>
          </a:solidFill>
          <a:ln>
            <a:noFill/>
          </a:ln>
        </p:spPr>
      </p:sp>
      <p:sp>
        <p:nvSpPr>
          <p:cNvPr id="63" name="wm.whiteboard.108.54"/>
          <p:cNvSpPr/>
          <p:nvPr/>
        </p:nvSpPr>
        <p:spPr>
          <a:xfrm>
            <a:off x="1638300" y="914400"/>
            <a:ext cx="38100" cy="38100"/>
          </a:xfrm>
          <a:prstGeom prst="rect">
            <a:avLst/>
          </a:prstGeom>
          <a:solidFill>
            <a:srgbClr val="CED7E6">
              <a:alpha val="55346"/>
            </a:srgbClr>
          </a:solidFill>
          <a:ln>
            <a:noFill/>
          </a:ln>
        </p:spPr>
      </p:sp>
      <p:sp>
        <p:nvSpPr>
          <p:cNvPr id="64" name="wm.whiteboard.108.72"/>
          <p:cNvSpPr/>
          <p:nvPr/>
        </p:nvSpPr>
        <p:spPr>
          <a:xfrm>
            <a:off x="1638300" y="1143000"/>
            <a:ext cx="38100" cy="38100"/>
          </a:xfrm>
          <a:prstGeom prst="rect">
            <a:avLst/>
          </a:prstGeom>
          <a:solidFill>
            <a:srgbClr val="CED7E6">
              <a:alpha val="45583"/>
            </a:srgbClr>
          </a:solidFill>
          <a:ln>
            <a:noFill/>
          </a:ln>
        </p:spPr>
      </p:sp>
      <p:sp>
        <p:nvSpPr>
          <p:cNvPr id="65" name="wm.whiteboard.108.90"/>
          <p:cNvSpPr/>
          <p:nvPr/>
        </p:nvSpPr>
        <p:spPr>
          <a:xfrm>
            <a:off x="1638300" y="1371600"/>
            <a:ext cx="38100" cy="38100"/>
          </a:xfrm>
          <a:prstGeom prst="rect">
            <a:avLst/>
          </a:prstGeom>
          <a:solidFill>
            <a:srgbClr val="CED7E6">
              <a:alpha val="34251"/>
            </a:srgbClr>
          </a:solidFill>
          <a:ln>
            <a:noFill/>
          </a:ln>
        </p:spPr>
      </p:sp>
      <p:sp>
        <p:nvSpPr>
          <p:cNvPr id="66" name="wm.whiteboard.108.108"/>
          <p:cNvSpPr/>
          <p:nvPr/>
        </p:nvSpPr>
        <p:spPr>
          <a:xfrm>
            <a:off x="1638300" y="1600200"/>
            <a:ext cx="38100" cy="38100"/>
          </a:xfrm>
          <a:prstGeom prst="rect">
            <a:avLst/>
          </a:prstGeom>
          <a:solidFill>
            <a:srgbClr val="CED7E6">
              <a:alpha val="21754"/>
            </a:srgbClr>
          </a:solidFill>
          <a:ln>
            <a:noFill/>
          </a:ln>
        </p:spPr>
      </p:sp>
      <p:sp>
        <p:nvSpPr>
          <p:cNvPr id="67" name="wm.whiteboard.108.126"/>
          <p:cNvSpPr/>
          <p:nvPr/>
        </p:nvSpPr>
        <p:spPr>
          <a:xfrm>
            <a:off x="1638300" y="1828800"/>
            <a:ext cx="38100" cy="38100"/>
          </a:xfrm>
          <a:prstGeom prst="rect">
            <a:avLst/>
          </a:prstGeom>
          <a:solidFill>
            <a:srgbClr val="CED7E6">
              <a:alpha val="8391"/>
            </a:srgbClr>
          </a:solidFill>
          <a:ln>
            <a:noFill/>
          </a:ln>
        </p:spPr>
      </p:sp>
      <p:sp>
        <p:nvSpPr>
          <p:cNvPr id="68" name="wm.whiteboard.126.0"/>
          <p:cNvSpPr/>
          <p:nvPr/>
        </p:nvSpPr>
        <p:spPr>
          <a:xfrm>
            <a:off x="1866900" y="228600"/>
            <a:ext cx="38100" cy="38100"/>
          </a:xfrm>
          <a:prstGeom prst="rect">
            <a:avLst/>
          </a:prstGeom>
          <a:solidFill>
            <a:srgbClr val="CED7E6">
              <a:alpha val="56247"/>
            </a:srgbClr>
          </a:solidFill>
          <a:ln>
            <a:noFill/>
          </a:ln>
        </p:spPr>
      </p:sp>
      <p:sp>
        <p:nvSpPr>
          <p:cNvPr id="69" name="wm.whiteboard.126.18"/>
          <p:cNvSpPr/>
          <p:nvPr/>
        </p:nvSpPr>
        <p:spPr>
          <a:xfrm>
            <a:off x="1866900" y="457200"/>
            <a:ext cx="38100" cy="38100"/>
          </a:xfrm>
          <a:prstGeom prst="rect">
            <a:avLst/>
          </a:prstGeom>
          <a:solidFill>
            <a:srgbClr val="CED7E6">
              <a:alpha val="54578"/>
            </a:srgbClr>
          </a:solidFill>
          <a:ln>
            <a:noFill/>
          </a:ln>
        </p:spPr>
      </p:sp>
      <p:sp>
        <p:nvSpPr>
          <p:cNvPr id="70" name="wm.whiteboard.126.36"/>
          <p:cNvSpPr/>
          <p:nvPr/>
        </p:nvSpPr>
        <p:spPr>
          <a:xfrm>
            <a:off x="1866900" y="685800"/>
            <a:ext cx="38100" cy="38100"/>
          </a:xfrm>
          <a:prstGeom prst="rect">
            <a:avLst/>
          </a:prstGeom>
          <a:solidFill>
            <a:srgbClr val="CED7E6">
              <a:alpha val="50182"/>
            </a:srgbClr>
          </a:solidFill>
          <a:ln>
            <a:noFill/>
          </a:ln>
        </p:spPr>
      </p:sp>
      <p:sp>
        <p:nvSpPr>
          <p:cNvPr id="71" name="wm.whiteboard.126.54"/>
          <p:cNvSpPr/>
          <p:nvPr/>
        </p:nvSpPr>
        <p:spPr>
          <a:xfrm>
            <a:off x="1866900" y="914400"/>
            <a:ext cx="38100" cy="38100"/>
          </a:xfrm>
          <a:prstGeom prst="rect">
            <a:avLst/>
          </a:prstGeom>
          <a:solidFill>
            <a:srgbClr val="CED7E6">
              <a:alpha val="43386"/>
            </a:srgbClr>
          </a:solidFill>
          <a:ln>
            <a:noFill/>
          </a:ln>
        </p:spPr>
      </p:sp>
      <p:sp>
        <p:nvSpPr>
          <p:cNvPr id="72" name="wm.whiteboard.126.72"/>
          <p:cNvSpPr/>
          <p:nvPr/>
        </p:nvSpPr>
        <p:spPr>
          <a:xfrm>
            <a:off x="1866900" y="1143000"/>
            <a:ext cx="38100" cy="38100"/>
          </a:xfrm>
          <a:prstGeom prst="rect">
            <a:avLst/>
          </a:prstGeom>
          <a:solidFill>
            <a:srgbClr val="CED7E6">
              <a:alpha val="34598"/>
            </a:srgbClr>
          </a:solidFill>
          <a:ln>
            <a:noFill/>
          </a:ln>
        </p:spPr>
      </p:sp>
      <p:sp>
        <p:nvSpPr>
          <p:cNvPr id="73" name="wm.whiteboard.126.90"/>
          <p:cNvSpPr/>
          <p:nvPr/>
        </p:nvSpPr>
        <p:spPr>
          <a:xfrm>
            <a:off x="1866900" y="1371600"/>
            <a:ext cx="38100" cy="38100"/>
          </a:xfrm>
          <a:prstGeom prst="rect">
            <a:avLst/>
          </a:prstGeom>
          <a:solidFill>
            <a:srgbClr val="CED7E6">
              <a:alpha val="24223"/>
            </a:srgbClr>
          </a:solidFill>
          <a:ln>
            <a:noFill/>
          </a:ln>
        </p:spPr>
      </p:sp>
      <p:sp>
        <p:nvSpPr>
          <p:cNvPr id="74" name="wm.whiteboard.126.108"/>
          <p:cNvSpPr/>
          <p:nvPr/>
        </p:nvSpPr>
        <p:spPr>
          <a:xfrm>
            <a:off x="1866900" y="1600200"/>
            <a:ext cx="38100" cy="38100"/>
          </a:xfrm>
          <a:prstGeom prst="rect">
            <a:avLst/>
          </a:prstGeom>
          <a:solidFill>
            <a:srgbClr val="CED7E6">
              <a:alpha val="12610"/>
            </a:srgbClr>
          </a:solidFill>
          <a:ln>
            <a:noFill/>
          </a:ln>
        </p:spPr>
      </p:sp>
      <p:sp>
        <p:nvSpPr>
          <p:cNvPr id="75" name="wm.whiteboard.126.126"/>
          <p:cNvSpPr/>
          <p:nvPr/>
        </p:nvSpPr>
        <p:spPr>
          <a:xfrm>
            <a:off x="1866900" y="1828800"/>
            <a:ext cx="38100" cy="38100"/>
          </a:xfrm>
          <a:prstGeom prst="rect">
            <a:avLst/>
          </a:prstGeom>
          <a:solidFill>
            <a:srgbClr val="CED7E6">
              <a:alpha val="40"/>
            </a:srgbClr>
          </a:solidFill>
          <a:ln>
            <a:noFill/>
          </a:ln>
        </p:spPr>
      </p:sp>
      <p:sp>
        <p:nvSpPr>
          <p:cNvPr id="76" name="wm.whiteboard.144.0"/>
          <p:cNvSpPr/>
          <p:nvPr/>
        </p:nvSpPr>
        <p:spPr>
          <a:xfrm>
            <a:off x="2095500" y="228600"/>
            <a:ext cx="38100" cy="38100"/>
          </a:xfrm>
          <a:prstGeom prst="rect">
            <a:avLst/>
          </a:prstGeom>
          <a:solidFill>
            <a:srgbClr val="CED7E6">
              <a:alpha val="42471"/>
            </a:srgbClr>
          </a:solidFill>
          <a:ln>
            <a:noFill/>
          </a:ln>
        </p:spPr>
      </p:sp>
      <p:sp>
        <p:nvSpPr>
          <p:cNvPr id="77" name="wm.whiteboard.144.18"/>
          <p:cNvSpPr/>
          <p:nvPr/>
        </p:nvSpPr>
        <p:spPr>
          <a:xfrm>
            <a:off x="2095500" y="457200"/>
            <a:ext cx="38100" cy="38100"/>
          </a:xfrm>
          <a:prstGeom prst="rect">
            <a:avLst/>
          </a:prstGeom>
          <a:solidFill>
            <a:srgbClr val="CED7E6">
              <a:alpha val="41005"/>
            </a:srgbClr>
          </a:solidFill>
          <a:ln>
            <a:noFill/>
          </a:ln>
        </p:spPr>
      </p:sp>
      <p:sp>
        <p:nvSpPr>
          <p:cNvPr id="78" name="wm.whiteboard.144.36"/>
          <p:cNvSpPr/>
          <p:nvPr/>
        </p:nvSpPr>
        <p:spPr>
          <a:xfrm>
            <a:off x="2095500" y="685800"/>
            <a:ext cx="38100" cy="38100"/>
          </a:xfrm>
          <a:prstGeom prst="rect">
            <a:avLst/>
          </a:prstGeom>
          <a:solidFill>
            <a:srgbClr val="CED7E6">
              <a:alpha val="37120"/>
            </a:srgbClr>
          </a:solidFill>
          <a:ln>
            <a:noFill/>
          </a:ln>
        </p:spPr>
      </p:sp>
      <p:sp>
        <p:nvSpPr>
          <p:cNvPr id="79" name="wm.whiteboard.144.54"/>
          <p:cNvSpPr/>
          <p:nvPr/>
        </p:nvSpPr>
        <p:spPr>
          <a:xfrm>
            <a:off x="2095500" y="914400"/>
            <a:ext cx="38100" cy="38100"/>
          </a:xfrm>
          <a:prstGeom prst="rect">
            <a:avLst/>
          </a:prstGeom>
          <a:solidFill>
            <a:srgbClr val="CED7E6">
              <a:alpha val="31044"/>
            </a:srgbClr>
          </a:solidFill>
          <a:ln>
            <a:noFill/>
          </a:ln>
        </p:spPr>
      </p:sp>
      <p:sp>
        <p:nvSpPr>
          <p:cNvPr id="80" name="wm.whiteboard.144.72"/>
          <p:cNvSpPr/>
          <p:nvPr/>
        </p:nvSpPr>
        <p:spPr>
          <a:xfrm>
            <a:off x="2095500" y="1143000"/>
            <a:ext cx="38100" cy="38100"/>
          </a:xfrm>
          <a:prstGeom prst="rect">
            <a:avLst/>
          </a:prstGeom>
          <a:solidFill>
            <a:srgbClr val="CED7E6">
              <a:alpha val="23083"/>
            </a:srgbClr>
          </a:solidFill>
          <a:ln>
            <a:noFill/>
          </a:ln>
        </p:spPr>
      </p:sp>
      <p:sp>
        <p:nvSpPr>
          <p:cNvPr id="81" name="wm.whiteboard.144.90"/>
          <p:cNvSpPr/>
          <p:nvPr/>
        </p:nvSpPr>
        <p:spPr>
          <a:xfrm>
            <a:off x="2095500" y="1371600"/>
            <a:ext cx="38100" cy="38100"/>
          </a:xfrm>
          <a:prstGeom prst="rect">
            <a:avLst/>
          </a:prstGeom>
          <a:solidFill>
            <a:srgbClr val="CED7E6">
              <a:alpha val="13557"/>
            </a:srgbClr>
          </a:solidFill>
          <a:ln>
            <a:noFill/>
          </a:ln>
        </p:spPr>
      </p:sp>
      <p:sp>
        <p:nvSpPr>
          <p:cNvPr id="82" name="wm.whiteboard.144.108"/>
          <p:cNvSpPr/>
          <p:nvPr/>
        </p:nvSpPr>
        <p:spPr>
          <a:xfrm>
            <a:off x="2095500" y="1600200"/>
            <a:ext cx="38100" cy="38100"/>
          </a:xfrm>
          <a:prstGeom prst="rect">
            <a:avLst/>
          </a:prstGeom>
          <a:solidFill>
            <a:srgbClr val="CED7E6">
              <a:alpha val="2762"/>
            </a:srgbClr>
          </a:solidFill>
          <a:ln>
            <a:noFill/>
          </a:ln>
        </p:spPr>
      </p:sp>
      <p:sp>
        <p:nvSpPr>
          <p:cNvPr id="83" name="wm.whiteboard.162.0"/>
          <p:cNvSpPr/>
          <p:nvPr/>
        </p:nvSpPr>
        <p:spPr>
          <a:xfrm>
            <a:off x="2324100" y="228600"/>
            <a:ext cx="38100" cy="38100"/>
          </a:xfrm>
          <a:prstGeom prst="rect">
            <a:avLst/>
          </a:prstGeom>
          <a:solidFill>
            <a:srgbClr val="CED7E6">
              <a:alpha val="28695"/>
            </a:srgbClr>
          </a:solidFill>
          <a:ln>
            <a:noFill/>
          </a:ln>
        </p:spPr>
      </p:sp>
      <p:sp>
        <p:nvSpPr>
          <p:cNvPr id="84" name="wm.whiteboard.162.18"/>
          <p:cNvSpPr/>
          <p:nvPr/>
        </p:nvSpPr>
        <p:spPr>
          <a:xfrm>
            <a:off x="2324100" y="457200"/>
            <a:ext cx="38100" cy="38100"/>
          </a:xfrm>
          <a:prstGeom prst="rect">
            <a:avLst/>
          </a:prstGeom>
          <a:solidFill>
            <a:srgbClr val="CED7E6">
              <a:alpha val="27389"/>
            </a:srgbClr>
          </a:solidFill>
          <a:ln>
            <a:noFill/>
          </a:ln>
        </p:spPr>
      </p:sp>
      <p:sp>
        <p:nvSpPr>
          <p:cNvPr id="85" name="wm.whiteboard.162.36"/>
          <p:cNvSpPr/>
          <p:nvPr/>
        </p:nvSpPr>
        <p:spPr>
          <a:xfrm>
            <a:off x="2324100" y="685800"/>
            <a:ext cx="38100" cy="38100"/>
          </a:xfrm>
          <a:prstGeom prst="rect">
            <a:avLst/>
          </a:prstGeom>
          <a:solidFill>
            <a:srgbClr val="CED7E6">
              <a:alpha val="23910"/>
            </a:srgbClr>
          </a:solidFill>
          <a:ln>
            <a:noFill/>
          </a:ln>
        </p:spPr>
      </p:sp>
      <p:sp>
        <p:nvSpPr>
          <p:cNvPr id="86" name="wm.whiteboard.162.54"/>
          <p:cNvSpPr/>
          <p:nvPr/>
        </p:nvSpPr>
        <p:spPr>
          <a:xfrm>
            <a:off x="2324100" y="914400"/>
            <a:ext cx="38100" cy="38100"/>
          </a:xfrm>
          <a:prstGeom prst="rect">
            <a:avLst/>
          </a:prstGeom>
          <a:solidFill>
            <a:srgbClr val="CED7E6">
              <a:alpha val="18425"/>
            </a:srgbClr>
          </a:solidFill>
          <a:ln>
            <a:noFill/>
          </a:ln>
        </p:spPr>
      </p:sp>
      <p:sp>
        <p:nvSpPr>
          <p:cNvPr id="87" name="wm.whiteboard.162.72"/>
          <p:cNvSpPr/>
          <p:nvPr/>
        </p:nvSpPr>
        <p:spPr>
          <a:xfrm>
            <a:off x="2324100" y="1143000"/>
            <a:ext cx="38100" cy="38100"/>
          </a:xfrm>
          <a:prstGeom prst="rect">
            <a:avLst/>
          </a:prstGeom>
          <a:solidFill>
            <a:srgbClr val="CED7E6">
              <a:alpha val="11167"/>
            </a:srgbClr>
          </a:solidFill>
          <a:ln>
            <a:noFill/>
          </a:ln>
        </p:spPr>
      </p:sp>
      <p:sp>
        <p:nvSpPr>
          <p:cNvPr id="88" name="wm.whiteboard.162.90"/>
          <p:cNvSpPr/>
          <p:nvPr/>
        </p:nvSpPr>
        <p:spPr>
          <a:xfrm>
            <a:off x="2324100" y="1371600"/>
            <a:ext cx="38100" cy="38100"/>
          </a:xfrm>
          <a:prstGeom prst="rect">
            <a:avLst/>
          </a:prstGeom>
          <a:solidFill>
            <a:srgbClr val="CED7E6">
              <a:alpha val="2388"/>
            </a:srgbClr>
          </a:solidFill>
          <a:ln>
            <a:noFill/>
          </a:ln>
        </p:spPr>
      </p:sp>
      <p:sp>
        <p:nvSpPr>
          <p:cNvPr id="89" name="wm.whiteboard.180.0"/>
          <p:cNvSpPr/>
          <p:nvPr/>
        </p:nvSpPr>
        <p:spPr>
          <a:xfrm>
            <a:off x="2552700" y="228600"/>
            <a:ext cx="38100" cy="38100"/>
          </a:xfrm>
          <a:prstGeom prst="rect">
            <a:avLst/>
          </a:prstGeom>
          <a:solidFill>
            <a:srgbClr val="CED7E6">
              <a:alpha val="14918"/>
            </a:srgbClr>
          </a:solidFill>
          <a:ln>
            <a:noFill/>
          </a:ln>
        </p:spPr>
      </p:sp>
      <p:sp>
        <p:nvSpPr>
          <p:cNvPr id="90" name="wm.whiteboard.180.18"/>
          <p:cNvSpPr/>
          <p:nvPr/>
        </p:nvSpPr>
        <p:spPr>
          <a:xfrm>
            <a:off x="2552700" y="457200"/>
            <a:ext cx="38100" cy="38100"/>
          </a:xfrm>
          <a:prstGeom prst="rect">
            <a:avLst/>
          </a:prstGeom>
          <a:solidFill>
            <a:srgbClr val="CED7E6">
              <a:alpha val="13741"/>
            </a:srgbClr>
          </a:solidFill>
          <a:ln>
            <a:noFill/>
          </a:ln>
        </p:spPr>
      </p:sp>
      <p:sp>
        <p:nvSpPr>
          <p:cNvPr id="91" name="wm.whiteboard.180.36"/>
          <p:cNvSpPr/>
          <p:nvPr/>
        </p:nvSpPr>
        <p:spPr>
          <a:xfrm>
            <a:off x="2552700" y="685800"/>
            <a:ext cx="38100" cy="38100"/>
          </a:xfrm>
          <a:prstGeom prst="rect">
            <a:avLst/>
          </a:prstGeom>
          <a:solidFill>
            <a:srgbClr val="CED7E6">
              <a:alpha val="10593"/>
            </a:srgbClr>
          </a:solidFill>
          <a:ln>
            <a:noFill/>
          </a:ln>
        </p:spPr>
      </p:sp>
      <p:sp>
        <p:nvSpPr>
          <p:cNvPr id="92" name="wm.whiteboard.180.54"/>
          <p:cNvSpPr/>
          <p:nvPr/>
        </p:nvSpPr>
        <p:spPr>
          <a:xfrm>
            <a:off x="2552700" y="914400"/>
            <a:ext cx="38100" cy="38100"/>
          </a:xfrm>
          <a:prstGeom prst="rect">
            <a:avLst/>
          </a:prstGeom>
          <a:solidFill>
            <a:srgbClr val="CED7E6">
              <a:alpha val="5600"/>
            </a:srgbClr>
          </a:solidFill>
          <a:ln>
            <a:noFill/>
          </a:ln>
        </p:spPr>
      </p:sp>
      <p:sp>
        <p:nvSpPr>
          <p:cNvPr id="93" name="wm.whiteboard.198.0"/>
          <p:cNvSpPr/>
          <p:nvPr/>
        </p:nvSpPr>
        <p:spPr>
          <a:xfrm>
            <a:off x="2781300" y="228600"/>
            <a:ext cx="38100" cy="38100"/>
          </a:xfrm>
          <a:prstGeom prst="rect">
            <a:avLst/>
          </a:prstGeom>
          <a:solidFill>
            <a:srgbClr val="CED7E6">
              <a:alpha val="1142"/>
            </a:srgbClr>
          </a:solidFill>
          <a:ln>
            <a:noFill/>
          </a:ln>
        </p:spPr>
      </p:sp>
      <p:sp>
        <p:nvSpPr>
          <p:cNvPr id="94" name="wm.whiteboard.198.18"/>
          <p:cNvSpPr/>
          <p:nvPr/>
        </p:nvSpPr>
        <p:spPr>
          <a:xfrm>
            <a:off x="2781300" y="457200"/>
            <a:ext cx="38100" cy="38100"/>
          </a:xfrm>
          <a:prstGeom prst="rect">
            <a:avLst/>
          </a:prstGeom>
          <a:solidFill>
            <a:srgbClr val="CED7E6">
              <a:alpha val="69"/>
            </a:srgbClr>
          </a:solidFill>
          <a:ln>
            <a:noFill/>
          </a:ln>
        </p:spPr>
      </p:sp>
      <p:sp>
        <p:nvSpPr>
          <p:cNvPr id="95" name="wm.header.rule"/>
          <p:cNvSpPr/>
          <p:nvPr/>
        </p:nvSpPr>
        <p:spPr>
          <a:xfrm>
            <a:off x="723900" y="13716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2171700" y="6172200"/>
            <a:ext cx="56388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oftware-source-056">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LARGE EAST COAST UTILITY</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Reduce security risk across a data staging platform</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supplied West Monroe case study.</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a:t>
            </a:fld>
            <a:endParaRPr lang="en-US" sz="700" spc="0" kern="0" b="0" i="0" dirty="0">
              <a:solidFill>
                <a:srgbClr val="070154"/>
              </a:solidFill>
              <a:latin typeface="IBM Plex Mono SemiBold"/>
              <a:ea typeface="IBM Plex Mono SemiBold"/>
              <a:cs typeface="IBM Plex Mono SemiBold"/>
            </a:endParaRPr>
          </a:p>
        </p:txBody>
      </p:sp>
      <p:grpSp>
        <p:nvGrpSpPr>
          <p:cNvPr id="27" name="challenge"/>
          <p:cNvGrpSpPr/>
          <p:nvPr/>
        </p:nvGrpSpPr>
        <p:grpSpPr>
          <a:xfrm>
            <a:off x="723900" y="1600200"/>
            <a:ext cx="2514600" cy="3200400"/>
            <a:chOff x="723900" y="1600200"/>
            <a:chExt cx="2514600" cy="3200400"/>
          </a:xfrm>
        </p:grpSpPr>
        <p:sp>
          <p:nvSpPr>
            <p:cNvPr id="8" name="challenge.label"/>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CHALLENGE</a:t>
              </a:r>
              <a:endParaRPr lang="en-US" sz="900" spc="54" kern="0" b="0" i="0" dirty="0">
                <a:solidFill>
                  <a:srgbClr val="0047FF"/>
                </a:solidFill>
                <a:latin typeface="IBM Plex Mono Medium"/>
                <a:ea typeface="IBM Plex Mono Medium"/>
                <a:cs typeface="IBM Plex Mono Medium"/>
              </a:endParaRPr>
            </a:p>
          </p:txBody>
        </p:sp>
        <p:sp>
          <p:nvSpPr>
            <p:cNvPr id="9" name="challenge.body"/>
            <p:cNvSpPr/>
            <p:nvPr/>
          </p:nvSpPr>
          <p:spPr>
            <a:xfrm>
              <a:off x="723900" y="1828800"/>
              <a:ext cx="25146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AngularJS end of life and unsupported dependencies exposed the UI, API and data layers.</a:t>
              </a:r>
              <a:endParaRPr lang="en-US" sz="1400" spc="0" kern="0" b="0" i="0" dirty="0">
                <a:solidFill>
                  <a:srgbClr val="50658E"/>
                </a:solidFill>
                <a:latin typeface="IBM Plex Sans"/>
                <a:ea typeface="IBM Plex Sans"/>
                <a:cs typeface="IBM Plex Sans"/>
              </a:endParaRPr>
            </a:p>
          </p:txBody>
        </p:sp>
      </p:grpSp>
      <p:grpSp>
        <p:nvGrpSpPr>
          <p:cNvPr id="28" name="action0"/>
          <p:cNvGrpSpPr/>
          <p:nvPr/>
        </p:nvGrpSpPr>
        <p:grpSpPr>
          <a:xfrm>
            <a:off x="3467100" y="1600200"/>
            <a:ext cx="4114800" cy="914400"/>
            <a:chOff x="3467100" y="1600200"/>
            <a:chExt cx="4114800" cy="914400"/>
          </a:xfrm>
        </p:grpSpPr>
        <p:sp>
          <p:nvSpPr>
            <p:cNvPr id="10" name="action0.label"/>
            <p:cNvSpPr/>
            <p:nvPr/>
          </p:nvSpPr>
          <p:spPr>
            <a:xfrm>
              <a:off x="3467100" y="1600200"/>
              <a:ext cx="4114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FOUNDATION</a:t>
              </a:r>
              <a:endParaRPr lang="en-US" sz="900" spc="54" kern="0" b="0" i="0" dirty="0">
                <a:solidFill>
                  <a:srgbClr val="0047FF"/>
                </a:solidFill>
                <a:latin typeface="IBM Plex Mono Medium"/>
                <a:ea typeface="IBM Plex Mono Medium"/>
                <a:cs typeface="IBM Plex Mono Medium"/>
              </a:endParaRPr>
            </a:p>
          </p:txBody>
        </p:sp>
        <p:sp>
          <p:nvSpPr>
            <p:cNvPr id="11" name="action0.body"/>
            <p:cNvSpPr/>
            <p:nvPr/>
          </p:nvSpPr>
          <p:spPr>
            <a:xfrm>
              <a:off x="3467100" y="1828800"/>
              <a:ext cx="4114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Review code and dependencies; choose .NET, migrate PostgreSQL and refactor/test APIs.</a:t>
              </a:r>
              <a:endParaRPr lang="en-US" sz="1400" spc="0" kern="0" b="0" i="0" dirty="0">
                <a:solidFill>
                  <a:srgbClr val="50658E"/>
                </a:solidFill>
                <a:latin typeface="IBM Plex Sans"/>
                <a:ea typeface="IBM Plex Sans"/>
                <a:cs typeface="IBM Plex Sans"/>
              </a:endParaRPr>
            </a:p>
          </p:txBody>
        </p:sp>
      </p:grpSp>
      <p:grpSp>
        <p:nvGrpSpPr>
          <p:cNvPr id="29" name="output0"/>
          <p:cNvGrpSpPr/>
          <p:nvPr/>
        </p:nvGrpSpPr>
        <p:grpSpPr>
          <a:xfrm>
            <a:off x="7810500" y="1600200"/>
            <a:ext cx="3657600" cy="914400"/>
            <a:chOff x="7810500" y="1600200"/>
            <a:chExt cx="3657600" cy="914400"/>
          </a:xfrm>
        </p:grpSpPr>
        <p:sp>
          <p:nvSpPr>
            <p:cNvPr id="12" name="output0.label"/>
            <p:cNvSpPr/>
            <p:nvPr/>
          </p:nvSpPr>
          <p:spPr>
            <a:xfrm>
              <a:off x="7810500" y="1600200"/>
              <a:ext cx="3657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SUPPORTABLE STACK</a:t>
              </a:r>
              <a:endParaRPr lang="en-US" sz="900" spc="54" kern="0" b="0" i="0" dirty="0">
                <a:solidFill>
                  <a:srgbClr val="0047FF"/>
                </a:solidFill>
                <a:latin typeface="IBM Plex Mono Medium"/>
                <a:ea typeface="IBM Plex Mono Medium"/>
                <a:cs typeface="IBM Plex Mono Medium"/>
              </a:endParaRPr>
            </a:p>
          </p:txBody>
        </p:sp>
        <p:sp>
          <p:nvSpPr>
            <p:cNvPr id="13" name="output0.body"/>
            <p:cNvSpPr/>
            <p:nvPr/>
          </p:nvSpPr>
          <p:spPr>
            <a:xfrm>
              <a:off x="7810500" y="1828800"/>
              <a:ext cx="3657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Updated .NET/PostgreSQL and tested APIs.</a:t>
              </a:r>
              <a:endParaRPr lang="en-US" sz="1400" spc="0" kern="0" b="0" i="0" dirty="0">
                <a:solidFill>
                  <a:srgbClr val="50658E"/>
                </a:solidFill>
                <a:latin typeface="IBM Plex Sans"/>
                <a:ea typeface="IBM Plex Sans"/>
                <a:cs typeface="IBM Plex Sans"/>
              </a:endParaRPr>
            </a:p>
          </p:txBody>
        </p:sp>
      </p:grpSp>
      <p:sp>
        <p:nvSpPr>
          <p:cNvPr id="14" name="row-rule0"/>
          <p:cNvSpPr/>
          <p:nvPr/>
        </p:nvSpPr>
        <p:spPr>
          <a:xfrm>
            <a:off x="3467100" y="2514600"/>
            <a:ext cx="8001000" cy="9525"/>
          </a:xfrm>
          <a:prstGeom prst="rect">
            <a:avLst/>
          </a:prstGeom>
          <a:solidFill>
            <a:srgbClr val="CED7E6"/>
          </a:solidFill>
          <a:ln>
            <a:noFill/>
          </a:ln>
        </p:spPr>
      </p:sp>
      <p:grpSp>
        <p:nvGrpSpPr>
          <p:cNvPr id="30" name="action1"/>
          <p:cNvGrpSpPr/>
          <p:nvPr/>
        </p:nvGrpSpPr>
        <p:grpSpPr>
          <a:xfrm>
            <a:off x="3467100" y="2743200"/>
            <a:ext cx="4114800" cy="914400"/>
            <a:chOff x="3467100" y="2743200"/>
            <a:chExt cx="4114800" cy="914400"/>
          </a:xfrm>
        </p:grpSpPr>
        <p:sp>
          <p:nvSpPr>
            <p:cNvPr id="15" name="action1.label"/>
            <p:cNvSpPr/>
            <p:nvPr/>
          </p:nvSpPr>
          <p:spPr>
            <a:xfrm>
              <a:off x="3467100" y="2743200"/>
              <a:ext cx="4114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UI REBUILD</a:t>
              </a:r>
              <a:endParaRPr lang="en-US" sz="900" spc="54" kern="0" b="0" i="0" dirty="0">
                <a:solidFill>
                  <a:srgbClr val="0047FF"/>
                </a:solidFill>
                <a:latin typeface="IBM Plex Mono Medium"/>
                <a:ea typeface="IBM Plex Mono Medium"/>
                <a:cs typeface="IBM Plex Mono Medium"/>
              </a:endParaRPr>
            </a:p>
          </p:txBody>
        </p:sp>
        <p:sp>
          <p:nvSpPr>
            <p:cNvPr id="16" name="action1.body"/>
            <p:cNvSpPr/>
            <p:nvPr/>
          </p:nvSpPr>
          <p:spPr>
            <a:xfrm>
              <a:off x="3467100" y="2971800"/>
              <a:ext cx="4114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Iteratively build and test the Angular UI with client reviews.</a:t>
              </a:r>
              <a:endParaRPr lang="en-US" sz="1400" spc="0" kern="0" b="0" i="0" dirty="0">
                <a:solidFill>
                  <a:srgbClr val="50658E"/>
                </a:solidFill>
                <a:latin typeface="IBM Plex Sans"/>
                <a:ea typeface="IBM Plex Sans"/>
                <a:cs typeface="IBM Plex Sans"/>
              </a:endParaRPr>
            </a:p>
          </p:txBody>
        </p:sp>
      </p:grpSp>
      <p:grpSp>
        <p:nvGrpSpPr>
          <p:cNvPr id="31" name="output1"/>
          <p:cNvGrpSpPr/>
          <p:nvPr/>
        </p:nvGrpSpPr>
        <p:grpSpPr>
          <a:xfrm>
            <a:off x="7810500" y="2743200"/>
            <a:ext cx="3657600" cy="914400"/>
            <a:chOff x="7810500" y="2743200"/>
            <a:chExt cx="3657600" cy="914400"/>
          </a:xfrm>
        </p:grpSpPr>
        <p:sp>
          <p:nvSpPr>
            <p:cNvPr id="17" name="output1.label"/>
            <p:cNvSpPr/>
            <p:nvPr/>
          </p:nvSpPr>
          <p:spPr>
            <a:xfrm>
              <a:off x="7810500" y="2743200"/>
              <a:ext cx="3657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REWRITTEN UI</a:t>
              </a:r>
              <a:endParaRPr lang="en-US" sz="900" spc="54" kern="0" b="0" i="0" dirty="0">
                <a:solidFill>
                  <a:srgbClr val="0047FF"/>
                </a:solidFill>
                <a:latin typeface="IBM Plex Mono Medium"/>
                <a:ea typeface="IBM Plex Mono Medium"/>
                <a:cs typeface="IBM Plex Mono Medium"/>
              </a:endParaRPr>
            </a:p>
          </p:txBody>
        </p:sp>
        <p:sp>
          <p:nvSpPr>
            <p:cNvPr id="18" name="output1.body"/>
            <p:cNvSpPr/>
            <p:nvPr/>
          </p:nvSpPr>
          <p:spPr>
            <a:xfrm>
              <a:off x="7810500" y="2971800"/>
              <a:ext cx="3657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Reviewed Angular functionality.</a:t>
              </a:r>
              <a:endParaRPr lang="en-US" sz="1400" spc="0" kern="0" b="0" i="0" dirty="0">
                <a:solidFill>
                  <a:srgbClr val="50658E"/>
                </a:solidFill>
                <a:latin typeface="IBM Plex Sans"/>
                <a:ea typeface="IBM Plex Sans"/>
                <a:cs typeface="IBM Plex Sans"/>
              </a:endParaRPr>
            </a:p>
          </p:txBody>
        </p:sp>
      </p:grpSp>
      <p:sp>
        <p:nvSpPr>
          <p:cNvPr id="19" name="row-rule1"/>
          <p:cNvSpPr/>
          <p:nvPr/>
        </p:nvSpPr>
        <p:spPr>
          <a:xfrm>
            <a:off x="3467100" y="3657600"/>
            <a:ext cx="8001000" cy="9525"/>
          </a:xfrm>
          <a:prstGeom prst="rect">
            <a:avLst/>
          </a:prstGeom>
          <a:solidFill>
            <a:srgbClr val="CED7E6"/>
          </a:solidFill>
          <a:ln>
            <a:noFill/>
          </a:ln>
        </p:spPr>
      </p:sp>
      <p:grpSp>
        <p:nvGrpSpPr>
          <p:cNvPr id="32" name="action2"/>
          <p:cNvGrpSpPr/>
          <p:nvPr/>
        </p:nvGrpSpPr>
        <p:grpSpPr>
          <a:xfrm>
            <a:off x="3467100" y="3886200"/>
            <a:ext cx="4114800" cy="914400"/>
            <a:chOff x="3467100" y="3886200"/>
            <a:chExt cx="4114800" cy="914400"/>
          </a:xfrm>
        </p:grpSpPr>
        <p:sp>
          <p:nvSpPr>
            <p:cNvPr id="20" name="action2.label"/>
            <p:cNvSpPr/>
            <p:nvPr/>
          </p:nvSpPr>
          <p:spPr>
            <a:xfrm>
              <a:off x="3467100" y="3886200"/>
              <a:ext cx="4114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PRODUCTION TRANSITION</a:t>
              </a:r>
              <a:endParaRPr lang="en-US" sz="900" spc="54" kern="0" b="0" i="0" dirty="0">
                <a:solidFill>
                  <a:srgbClr val="0047FF"/>
                </a:solidFill>
                <a:latin typeface="IBM Plex Mono Medium"/>
                <a:ea typeface="IBM Plex Mono Medium"/>
                <a:cs typeface="IBM Plex Mono Medium"/>
              </a:endParaRPr>
            </a:p>
          </p:txBody>
        </p:sp>
        <p:sp>
          <p:nvSpPr>
            <p:cNvPr id="21" name="action2.body"/>
            <p:cNvSpPr/>
            <p:nvPr/>
          </p:nvSpPr>
          <p:spPr>
            <a:xfrm>
              <a:off x="3467100" y="4114800"/>
              <a:ext cx="4114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UAT, knowledge transfer, security checks and production deployment.</a:t>
              </a:r>
              <a:endParaRPr lang="en-US" sz="1400" spc="0" kern="0" b="0" i="0" dirty="0">
                <a:solidFill>
                  <a:srgbClr val="50658E"/>
                </a:solidFill>
                <a:latin typeface="IBM Plex Sans"/>
                <a:ea typeface="IBM Plex Sans"/>
                <a:cs typeface="IBM Plex Sans"/>
              </a:endParaRPr>
            </a:p>
          </p:txBody>
        </p:sp>
      </p:grpSp>
      <p:grpSp>
        <p:nvGrpSpPr>
          <p:cNvPr id="33" name="output2"/>
          <p:cNvGrpSpPr/>
          <p:nvPr/>
        </p:nvGrpSpPr>
        <p:grpSpPr>
          <a:xfrm>
            <a:off x="7810500" y="3886200"/>
            <a:ext cx="3657600" cy="914400"/>
            <a:chOff x="7810500" y="3886200"/>
            <a:chExt cx="3657600" cy="914400"/>
          </a:xfrm>
        </p:grpSpPr>
        <p:sp>
          <p:nvSpPr>
            <p:cNvPr id="22" name="output2.label"/>
            <p:cNvSpPr/>
            <p:nvPr/>
          </p:nvSpPr>
          <p:spPr>
            <a:xfrm>
              <a:off x="7810500" y="3886200"/>
              <a:ext cx="3657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RELEASE READINESS</a:t>
              </a:r>
              <a:endParaRPr lang="en-US" sz="900" spc="54" kern="0" b="0" i="0" dirty="0">
                <a:solidFill>
                  <a:srgbClr val="0047FF"/>
                </a:solidFill>
                <a:latin typeface="IBM Plex Mono Medium"/>
                <a:ea typeface="IBM Plex Mono Medium"/>
                <a:cs typeface="IBM Plex Mono Medium"/>
              </a:endParaRPr>
            </a:p>
          </p:txBody>
        </p:sp>
        <p:sp>
          <p:nvSpPr>
            <p:cNvPr id="23" name="output2.body"/>
            <p:cNvSpPr/>
            <p:nvPr/>
          </p:nvSpPr>
          <p:spPr>
            <a:xfrm>
              <a:off x="7810500" y="4114800"/>
              <a:ext cx="3657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Production deployment, acceptance testing and retrospective.</a:t>
              </a:r>
              <a:endParaRPr lang="en-US" sz="1400" spc="0" kern="0" b="0" i="0" dirty="0">
                <a:solidFill>
                  <a:srgbClr val="50658E"/>
                </a:solidFill>
                <a:latin typeface="IBM Plex Sans"/>
                <a:ea typeface="IBM Plex Sans"/>
                <a:cs typeface="IBM Plex Sans"/>
              </a:endParaRPr>
            </a:p>
          </p:txBody>
        </p:sp>
      </p:grpSp>
      <p:grpSp>
        <p:nvGrpSpPr>
          <p:cNvPr id="34" name="inventory"/>
          <p:cNvGrpSpPr/>
          <p:nvPr/>
        </p:nvGrpSpPr>
        <p:grpSpPr>
          <a:xfrm>
            <a:off x="723900" y="5029200"/>
            <a:ext cx="2514600" cy="685800"/>
            <a:chOff x="723900" y="5029200"/>
            <a:chExt cx="2514600" cy="685800"/>
          </a:xfrm>
        </p:grpSpPr>
        <p:sp>
          <p:nvSpPr>
            <p:cNvPr id="24" name="inventory.text"/>
            <p:cNvSpPr/>
            <p:nvPr/>
          </p:nvSpPr>
          <p:spPr>
            <a:xfrm>
              <a:off x="723900" y="5029200"/>
              <a:ext cx="2514600" cy="685800"/>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57</a:t>
              </a:r>
              <a:endParaRPr lang="en-US" sz="3600" spc="-72" kern="0" b="0" i="0" dirty="0">
                <a:solidFill>
                  <a:srgbClr val="070154"/>
                </a:solidFill>
                <a:latin typeface="IBM Plex Mono SemiBold"/>
                <a:ea typeface="IBM Plex Mono SemiBold"/>
                <a:cs typeface="IBM Plex Mono SemiBold"/>
              </a:endParaRPr>
            </a:p>
          </p:txBody>
        </p:sp>
      </p:grpSp>
      <p:grpSp>
        <p:nvGrpSpPr>
          <p:cNvPr id="35" name="proof-label"/>
          <p:cNvGrpSpPr/>
          <p:nvPr/>
        </p:nvGrpSpPr>
        <p:grpSpPr>
          <a:xfrm>
            <a:off x="3467100" y="5029200"/>
            <a:ext cx="8001000" cy="228600"/>
            <a:chOff x="3467100" y="5029200"/>
            <a:chExt cx="8001000" cy="228600"/>
          </a:xfrm>
        </p:grpSpPr>
        <p:sp>
          <p:nvSpPr>
            <p:cNvPr id="25" name="proof-label.text"/>
            <p:cNvSpPr/>
            <p:nvPr/>
          </p:nvSpPr>
          <p:spPr>
            <a:xfrm>
              <a:off x="3467100" y="5029200"/>
              <a:ext cx="80010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APPLICATION FEATURES</a:t>
              </a:r>
              <a:endParaRPr lang="en-US" sz="900" spc="54" kern="0" b="0" i="0" dirty="0">
                <a:solidFill>
                  <a:srgbClr val="0047FF"/>
                </a:solidFill>
                <a:latin typeface="IBM Plex Mono Medium"/>
                <a:ea typeface="IBM Plex Mono Medium"/>
                <a:cs typeface="IBM Plex Mono Medium"/>
              </a:endParaRPr>
            </a:p>
          </p:txBody>
        </p:sp>
      </p:grpSp>
      <p:grpSp>
        <p:nvGrpSpPr>
          <p:cNvPr id="36" name="scope"/>
          <p:cNvGrpSpPr/>
          <p:nvPr/>
        </p:nvGrpSpPr>
        <p:grpSpPr>
          <a:xfrm>
            <a:off x="3467100" y="5334000"/>
            <a:ext cx="8001000" cy="381000"/>
            <a:chOff x="3467100" y="5334000"/>
            <a:chExt cx="8001000" cy="381000"/>
          </a:xfrm>
        </p:grpSpPr>
        <p:sp>
          <p:nvSpPr>
            <p:cNvPr id="26" name="scope.text"/>
            <p:cNvSpPr/>
            <p:nvPr/>
          </p:nvSpPr>
          <p:spPr>
            <a:xfrm>
              <a:off x="3467100" y="5334000"/>
              <a:ext cx="8001000" cy="381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Initial modernization inventory: features to prioritize for modernization.</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oftware-source-065">
    <p:spTree>
      <p:nvGrpSpPr>
        <p:cNvPr id="1" name=""/>
        <p:cNvGrpSpPr/>
        <p:nvPr/>
      </p:nvGrpSpPr>
      <p:grpSpPr>
        <a:xfrm>
          <a:off x="0" y="0"/>
          <a:ext cx="0" cy="0"/>
          <a:chOff x="0" y="0"/>
          <a:chExt cx="0" cy="0"/>
        </a:xfrm>
      </p:grpSpPr>
      <p:sp>
        <p:nvSpPr>
          <p:cNvPr id="4"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CONSTRUCTION SOFTWARE PROVIDER</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De-risk the PRO App relaunch</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supplied West Monroe case study.</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2</a:t>
            </a:fld>
            <a:endParaRPr lang="en-US" sz="700" spc="0" kern="0" b="0" i="0" dirty="0">
              <a:solidFill>
                <a:srgbClr val="FFFFFF"/>
              </a:solidFill>
              <a:latin typeface="IBM Plex Mono SemiBold"/>
              <a:ea typeface="IBM Plex Mono SemiBold"/>
              <a:cs typeface="IBM Plex Mono SemiBold"/>
            </a:endParaRPr>
          </a:p>
        </p:txBody>
      </p:sp>
      <p:grpSp>
        <p:nvGrpSpPr>
          <p:cNvPr id="22" name="challenge"/>
          <p:cNvGrpSpPr/>
          <p:nvPr/>
        </p:nvGrpSpPr>
        <p:grpSpPr>
          <a:xfrm>
            <a:off x="723900" y="1600200"/>
            <a:ext cx="7086600" cy="762000"/>
            <a:chOff x="723900" y="1600200"/>
            <a:chExt cx="7086600" cy="762000"/>
          </a:xfrm>
        </p:grpSpPr>
        <p:sp>
          <p:nvSpPr>
            <p:cNvPr id="8" name="challenge.label"/>
            <p:cNvSpPr/>
            <p:nvPr/>
          </p:nvSpPr>
          <p:spPr>
            <a:xfrm>
              <a:off x="723900" y="16002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CHALLENGE</a:t>
              </a:r>
              <a:endParaRPr lang="en-US" sz="900" spc="54" kern="0" b="0" i="0" dirty="0">
                <a:solidFill>
                  <a:srgbClr val="0047FF"/>
                </a:solidFill>
                <a:latin typeface="IBM Plex Mono Medium"/>
                <a:ea typeface="IBM Plex Mono Medium"/>
                <a:cs typeface="IBM Plex Mono Medium"/>
              </a:endParaRPr>
            </a:p>
          </p:txBody>
        </p:sp>
        <p:sp>
          <p:nvSpPr>
            <p:cNvPr id="9" name="challenge.body"/>
            <p:cNvSpPr/>
            <p:nvPr/>
          </p:nvSpPr>
          <p:spPr>
            <a:xfrm>
              <a:off x="723900" y="1828800"/>
              <a:ext cx="7086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The client wanted to modernize the PRO App, reach a new user group and align the roadmap to near-term objectives.</a:t>
              </a:r>
              <a:endParaRPr lang="en-US" sz="1400" spc="0" kern="0" b="0" i="0" dirty="0">
                <a:solidFill>
                  <a:srgbClr val="50658E"/>
                </a:solidFill>
                <a:latin typeface="IBM Plex Sans"/>
                <a:ea typeface="IBM Plex Sans"/>
                <a:cs typeface="IBM Plex Sans"/>
              </a:endParaRPr>
            </a:p>
          </p:txBody>
        </p:sp>
      </p:grpSp>
      <p:grpSp>
        <p:nvGrpSpPr>
          <p:cNvPr id="23" name="approach"/>
          <p:cNvGrpSpPr/>
          <p:nvPr/>
        </p:nvGrpSpPr>
        <p:grpSpPr>
          <a:xfrm>
            <a:off x="723900" y="2514600"/>
            <a:ext cx="7086600" cy="914400"/>
            <a:chOff x="723900" y="2514600"/>
            <a:chExt cx="7086600" cy="914400"/>
          </a:xfrm>
        </p:grpSpPr>
        <p:sp>
          <p:nvSpPr>
            <p:cNvPr id="10" name="approach.label"/>
            <p:cNvSpPr/>
            <p:nvPr/>
          </p:nvSpPr>
          <p:spPr>
            <a:xfrm>
              <a:off x="723900" y="25146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DID</a:t>
              </a:r>
              <a:endParaRPr lang="en-US" sz="900" spc="54" kern="0" b="0" i="0" dirty="0">
                <a:solidFill>
                  <a:srgbClr val="0047FF"/>
                </a:solidFill>
                <a:latin typeface="IBM Plex Mono Medium"/>
                <a:ea typeface="IBM Plex Mono Medium"/>
                <a:cs typeface="IBM Plex Mono Medium"/>
              </a:endParaRPr>
            </a:p>
          </p:txBody>
        </p:sp>
        <p:sp>
          <p:nvSpPr>
            <p:cNvPr id="11" name="approach.body"/>
            <p:cNvSpPr/>
            <p:nvPr/>
          </p:nvSpPr>
          <p:spPr>
            <a:xfrm>
              <a:off x="723900" y="2743200"/>
              <a:ext cx="7086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Product-first epics from end-user input; prioritize usability, maintenance cost and productivity; identify reusable modular AI assets.</a:t>
              </a:r>
              <a:endParaRPr lang="en-US" sz="1400" spc="0" kern="0" b="0" i="0" dirty="0">
                <a:solidFill>
                  <a:srgbClr val="50658E"/>
                </a:solidFill>
                <a:latin typeface="IBM Plex Sans"/>
                <a:ea typeface="IBM Plex Sans"/>
                <a:cs typeface="IBM Plex Sans"/>
              </a:endParaRPr>
            </a:p>
          </p:txBody>
        </p:sp>
      </p:grpSp>
      <p:grpSp>
        <p:nvGrpSpPr>
          <p:cNvPr id="24" name="quote"/>
          <p:cNvGrpSpPr/>
          <p:nvPr/>
        </p:nvGrpSpPr>
        <p:grpSpPr>
          <a:xfrm>
            <a:off x="723900" y="3581400"/>
            <a:ext cx="7086600" cy="2133600"/>
            <a:chOff x="723900" y="3581400"/>
            <a:chExt cx="7086600" cy="2133600"/>
          </a:xfrm>
        </p:grpSpPr>
        <p:sp>
          <p:nvSpPr>
            <p:cNvPr id="12" name="quote.container"/>
            <p:cNvSpPr/>
            <p:nvPr/>
          </p:nvSpPr>
          <p:spPr>
            <a:xfrm>
              <a:off x="723900" y="3581400"/>
              <a:ext cx="7086600" cy="2133600"/>
            </a:xfrm>
            <a:prstGeom prst="rect">
              <a:avLst/>
            </a:prstGeom>
            <a:solidFill>
              <a:srgbClr val="070154"/>
            </a:solidFill>
            <a:ln>
              <a:noFill/>
            </a:ln>
          </p:spPr>
        </p:sp>
        <p:sp>
          <p:nvSpPr>
            <p:cNvPr id="13" name="quote.quote.mark"/>
            <p:cNvSpPr/>
            <p:nvPr/>
          </p:nvSpPr>
          <p:spPr>
            <a:xfrm>
              <a:off x="876300" y="3733800"/>
              <a:ext cx="6781800" cy="914400"/>
            </a:xfrm>
            <a:prstGeom prst="rect">
              <a:avLst/>
            </a:prstGeom>
            <a:noFill/>
            <a:ln/>
          </p:spPr>
          <p:txBody>
            <a:bodyPr wrap="square" lIns="0" tIns="0" rIns="0" bIns="0" rtlCol="0" anchor="t"/>
            <a:lstStyle/>
            <a:p>
              <a:pPr algn="l" indent="0" marL="0">
                <a:lnSpc>
                  <a:spcPts val="3600"/>
                </a:lnSpc>
                <a:buNone/>
              </a:pPr>
              <a:r>
                <a:rPr lang="en-US" sz="4800" spc="-72" kern="0" b="0" i="0" dirty="0">
                  <a:solidFill>
                    <a:srgbClr val="FFFFFF"/>
                  </a:solidFill>
                  <a:latin typeface="IBM Plex Sans SemiBold"/>
                  <a:ea typeface="IBM Plex Sans SemiBold"/>
                  <a:cs typeface="IBM Plex Sans SemiBold"/>
                </a:rPr>
                <a:t>“</a:t>
              </a:r>
              <a:endParaRPr lang="en-US" sz="4800" spc="-72" kern="0" b="0" i="0" dirty="0">
                <a:solidFill>
                  <a:srgbClr val="FFFFFF"/>
                </a:solidFill>
                <a:latin typeface="IBM Plex Sans SemiBold"/>
                <a:ea typeface="IBM Plex Sans SemiBold"/>
                <a:cs typeface="IBM Plex Sans SemiBold"/>
              </a:endParaRPr>
            </a:p>
          </p:txBody>
        </p:sp>
        <p:sp>
          <p:nvSpPr>
            <p:cNvPr id="14" name="quote.quote.text"/>
            <p:cNvSpPr/>
            <p:nvPr/>
          </p:nvSpPr>
          <p:spPr>
            <a:xfrm>
              <a:off x="1333500" y="3733800"/>
              <a:ext cx="63246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The team was able to come up to speed quickly, identify areas of improvement for the solution along with creating thorough documentation to support the application going forward. The team was also able to understand the business quickly and work with end users to identify future needs.</a:t>
              </a:r>
              <a:endParaRPr lang="en-US" sz="1400" spc="0" kern="0" b="0" i="0" dirty="0">
                <a:solidFill>
                  <a:srgbClr val="FFFFFF"/>
                </a:solidFill>
                <a:latin typeface="IBM Plex Sans"/>
                <a:ea typeface="IBM Plex Sans"/>
                <a:cs typeface="IBM Plex Sans"/>
              </a:endParaRPr>
            </a:p>
          </p:txBody>
        </p:sp>
        <p:sp>
          <p:nvSpPr>
            <p:cNvPr id="15" name="quote.quote.by"/>
            <p:cNvSpPr/>
            <p:nvPr/>
          </p:nvSpPr>
          <p:spPr>
            <a:xfrm>
              <a:off x="1333500" y="5410200"/>
              <a:ext cx="632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CHIEF INFORMATION OFFICER</a:t>
              </a:r>
              <a:endParaRPr lang="en-US" sz="900" spc="54" kern="0" b="0" i="0" dirty="0">
                <a:solidFill>
                  <a:srgbClr val="CED7E6"/>
                </a:solidFill>
                <a:latin typeface="IBM Plex Mono Medium"/>
                <a:ea typeface="IBM Plex Mono Medium"/>
                <a:cs typeface="IBM Plex Mono Medium"/>
              </a:endParaRPr>
            </a:p>
          </p:txBody>
        </p:sp>
      </p:grpSp>
      <p:grpSp>
        <p:nvGrpSpPr>
          <p:cNvPr id="25" name="proof-label"/>
          <p:cNvGrpSpPr/>
          <p:nvPr/>
        </p:nvGrpSpPr>
        <p:grpSpPr>
          <a:xfrm>
            <a:off x="8953500" y="2057400"/>
            <a:ext cx="2514600" cy="228600"/>
            <a:chOff x="8953500" y="2057400"/>
            <a:chExt cx="2514600" cy="228600"/>
          </a:xfrm>
        </p:grpSpPr>
        <p:sp>
          <p:nvSpPr>
            <p:cNvPr id="16" name="proof-label.text"/>
            <p:cNvSpPr/>
            <p:nvPr/>
          </p:nvSpPr>
          <p:spPr>
            <a:xfrm>
              <a:off x="8953500" y="2057400"/>
              <a:ext cx="25146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INVESTMENT</a:t>
              </a:r>
              <a:endParaRPr lang="en-US" sz="900" spc="54" kern="0" b="0" i="0" dirty="0">
                <a:solidFill>
                  <a:srgbClr val="CED7E6"/>
                </a:solidFill>
                <a:latin typeface="IBM Plex Mono Medium"/>
                <a:ea typeface="IBM Plex Mono Medium"/>
                <a:cs typeface="IBM Plex Mono Medium"/>
              </a:endParaRPr>
            </a:p>
          </p:txBody>
        </p:sp>
      </p:grpSp>
      <p:grpSp>
        <p:nvGrpSpPr>
          <p:cNvPr id="26" name="investment"/>
          <p:cNvGrpSpPr/>
          <p:nvPr/>
        </p:nvGrpSpPr>
        <p:grpSpPr>
          <a:xfrm>
            <a:off x="8953500" y="2362200"/>
            <a:ext cx="2514600" cy="762000"/>
            <a:chOff x="8953500" y="2362200"/>
            <a:chExt cx="2514600" cy="762000"/>
          </a:xfrm>
        </p:grpSpPr>
        <p:sp>
          <p:nvSpPr>
            <p:cNvPr id="17" name="investment.text"/>
            <p:cNvSpPr/>
            <p:nvPr/>
          </p:nvSpPr>
          <p:spPr>
            <a:xfrm>
              <a:off x="8953500" y="2362200"/>
              <a:ext cx="2514600" cy="76200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~$5M</a:t>
              </a:r>
              <a:endParaRPr lang="en-US" sz="4800" spc="-96" kern="0" b="0" i="0" dirty="0">
                <a:solidFill>
                  <a:srgbClr val="FFFFFF"/>
                </a:solidFill>
                <a:latin typeface="IBM Plex Mono SemiBold"/>
                <a:ea typeface="IBM Plex Mono SemiBold"/>
                <a:cs typeface="IBM Plex Mono SemiBold"/>
              </a:endParaRPr>
            </a:p>
          </p:txBody>
        </p:sp>
      </p:grpSp>
      <p:grpSp>
        <p:nvGrpSpPr>
          <p:cNvPr id="27" name="investment-label"/>
          <p:cNvGrpSpPr/>
          <p:nvPr/>
        </p:nvGrpSpPr>
        <p:grpSpPr>
          <a:xfrm>
            <a:off x="8953500" y="3200400"/>
            <a:ext cx="2514600" cy="685800"/>
            <a:chOff x="8953500" y="3200400"/>
            <a:chExt cx="2514600" cy="685800"/>
          </a:xfrm>
        </p:grpSpPr>
        <p:sp>
          <p:nvSpPr>
            <p:cNvPr id="18" name="investment-label.text"/>
            <p:cNvSpPr/>
            <p:nvPr/>
          </p:nvSpPr>
          <p:spPr>
            <a:xfrm>
              <a:off x="8953500" y="3200400"/>
              <a:ext cx="2514600" cy="685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Initial investment de-risked</a:t>
              </a:r>
              <a:endParaRPr lang="en-US" sz="1400" spc="0" kern="0" b="0" i="0" dirty="0">
                <a:solidFill>
                  <a:srgbClr val="CED7E6"/>
                </a:solidFill>
                <a:latin typeface="IBM Plex Sans"/>
                <a:ea typeface="IBM Plex Sans"/>
                <a:cs typeface="IBM Plex Sans"/>
              </a:endParaRPr>
            </a:p>
          </p:txBody>
        </p:sp>
      </p:grpSp>
      <p:sp>
        <p:nvSpPr>
          <p:cNvPr id="19" name="rail-rule"/>
          <p:cNvSpPr/>
          <p:nvPr/>
        </p:nvSpPr>
        <p:spPr>
          <a:xfrm>
            <a:off x="8953500" y="4114800"/>
            <a:ext cx="2514600" cy="9525"/>
          </a:xfrm>
          <a:prstGeom prst="rect">
            <a:avLst/>
          </a:prstGeom>
          <a:solidFill>
            <a:srgbClr val="50658E"/>
          </a:solidFill>
          <a:ln>
            <a:noFill/>
          </a:ln>
        </p:spPr>
      </p:sp>
      <p:grpSp>
        <p:nvGrpSpPr>
          <p:cNvPr id="28" name="conditional"/>
          <p:cNvGrpSpPr/>
          <p:nvPr/>
        </p:nvGrpSpPr>
        <p:grpSpPr>
          <a:xfrm>
            <a:off x="8953500" y="4343400"/>
            <a:ext cx="2514600" cy="381000"/>
            <a:chOff x="8953500" y="4343400"/>
            <a:chExt cx="2514600" cy="381000"/>
          </a:xfrm>
        </p:grpSpPr>
        <p:sp>
          <p:nvSpPr>
            <p:cNvPr id="20" name="conditional.text"/>
            <p:cNvSpPr/>
            <p:nvPr/>
          </p:nvSpPr>
          <p:spPr>
            <a:xfrm>
              <a:off x="8953500" y="4343400"/>
              <a:ext cx="2514600" cy="3810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Potential</a:t>
              </a:r>
              <a:endParaRPr lang="en-US" sz="1800" spc="-18" kern="0" b="0" i="0" dirty="0">
                <a:solidFill>
                  <a:srgbClr val="FFFFFF"/>
                </a:solidFill>
                <a:latin typeface="IBM Plex Sans SemiBold"/>
                <a:ea typeface="IBM Plex Sans SemiBold"/>
                <a:cs typeface="IBM Plex Sans SemiBold"/>
              </a:endParaRPr>
            </a:p>
          </p:txBody>
        </p:sp>
      </p:grpSp>
      <p:grpSp>
        <p:nvGrpSpPr>
          <p:cNvPr id="29" name="conditional-label"/>
          <p:cNvGrpSpPr/>
          <p:nvPr/>
        </p:nvGrpSpPr>
        <p:grpSpPr>
          <a:xfrm>
            <a:off x="8953500" y="4800600"/>
            <a:ext cx="2514600" cy="685800"/>
            <a:chOff x="8953500" y="4800600"/>
            <a:chExt cx="2514600" cy="685800"/>
          </a:xfrm>
        </p:grpSpPr>
        <p:sp>
          <p:nvSpPr>
            <p:cNvPr id="21" name="conditional-label.text"/>
            <p:cNvSpPr/>
            <p:nvPr/>
          </p:nvSpPr>
          <p:spPr>
            <a:xfrm>
              <a:off x="8953500" y="4800600"/>
              <a:ext cx="2514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Productivity benefits require implementation</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BM Plex Sans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Modernization · source56 and65 alternatives</dc:title>
  <dc:subject>PptxGenJS Presentation</dc:subject>
  <dc:creator>West Monroe</dc:creator>
  <cp:lastModifiedBy>West Monroe</cp:lastModifiedBy>
  <cp:revision>1</cp:revision>
  <dcterms:created xsi:type="dcterms:W3CDTF">2000-01-01T00:00:00Z</dcterms:created>
  <dcterms:modified xsi:type="dcterms:W3CDTF">2000-01-01T00:00:00Z</dcterms:modified>
</cp:coreProperties>
</file>