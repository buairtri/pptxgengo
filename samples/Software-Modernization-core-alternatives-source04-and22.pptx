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The business is no longer forced to reshape itself around a single software model. Organizations can make a more informed capability-by-capability choice about where off-the-shelf enterprise software should lead and where technology should be built around the business.
OFF-THE-SHELF ENTERPRISE SOFTWARE
Large enterprise platforms such as CRM and ERP bring the expertise of a product company that may spend years refining workflows, data models and operating patterns for a function or industry.
The buyer benefits from that outside expertise and avoids building the core product. The tradeoff is that the platform normally must be configured, trimmed, integrated and tailored—and the organization often adapts its people, language, processes and data to the technology selected.
BUSINESS-FIT CUSTOM SOFTWARE
A business-fit solution starts with the expertise inside the organization: the processes, practices, controls, customer experience and ways of working that have proved effective for that business.
Technology can be designed around the organization’s people and process rather than requiring the organization to adopt a vendor’s model. This does not mean preserving every current process; modernization should still improve work that creates friction or limits performance.
WHY REVISIT THE DECISION
Earlier buy-versus-build decisions were made when custom modernization required more time, specialized labor and cost. If AI-assisted analysis, prototyping, engineering, testing and maintenance materially reduce those costs, the economic threshold for a business-fit build changes.
For CRM, ERP and other large enterprise capabilities, re-evaluate prior assumptions using current implementation cost, speed to value, organizational-change burden, lifecycle operations, risk and strategic value. Do not assume that yesterday’s answer remains the right answer.
EVIDENCE POSTURE
The message is expanded buyer choice—not the demise of SaaS and not a universal preference for custom development. Off-the-shelf software remains compelling where vendor expertise, ecosystem scale, regulatory standards or common processes create value. Lower custom-build cost and lower change burden remain hypotheses to validate for each client and capability.
TRANSITION
The strategic choice becomes credible only if the underlying modernization work can now be performed at a different cost, speed and quality. The next section should demonstrate that evidence.
ORIGINAL SOURCE — COMPLETE VISIBLE COPY
4
AI is lowering modernization costs – and shifting the traditional equation on buy vs build decision-making.
© 2026 West Monroe Partners | Reproduction and/or distribution without West Monroe Partners’ prior consent is prohibited.
Planning, implementation, and legacy maintenance are all getting cheaper, making strategic fit—not technical feasibility—the defining choice.
As AI lowers planning, build and legacy run costs, choose buy versus build based on strategic fit, differentiation and ownership.
BUY
Accelerate standard capabilities
BEST WHEN
Needs are common across the market
Time-to-value outweighs customization
TRADE-OFFS
Fit gaps can force process compromise
Licensing and vendor roadmaps constrain change
BUILD
Own differentiated capabilities
BEST WHEN
Workflows create competitive advantage
Control of data, experience and roadmap matters
TRADE-OFFS
Requires durable product and engineering capability
Ownership includes ongoing maintenance
MODERNIZATION ECONOMICS
AI lowers cost at every stage of the modernization journey
PLAN &amp; UNDERSTAND
Faster discovery, mapping and requirements
IMPLEMENT &amp; BUILD
Accelerate coding, testing and migration
MAINTAIN LEGACY
Reduce run cost and reliance on scarce legacy skills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phases overlap as teams learn.
Business value, process, people, and technology continue through each phase.
Plan closes Rationalize with dispositions, economics, roadmap, and initial wave.
Validation includes functional parity, security, performance, controls, data reconciliation, and business acceptance.
Decommissioning is required to remove old cost and risk.
The lifecycle defines when decisions and delivery occur. The Seven Rs define the path each application or capability should take.
ORIGINAL SOURCE — COMPLETE VISIBLE COPY
Modernization follows a standard lifecycle from strategy through sustained value.
Rationalize, Build, and Sustain organize connected subphases, each with a clear purpose and value contribution.
RATIONALIZE
Decide what should change and why
BUILD
Deliver capability in controlled waves
SUSTAIN
Operate, evolve, and retire legacy
01
THESIS ALIGNMENT
Define the business outcome and questions that justify action.
02
ASSESSMENT
Establish how work, systems, risks, and dependencies operate today.
03
REIMAGINE
Test future process and experience options before target design hardens.
04
PLAN
Select dispositions, economics, roadmap, and the first investable wave.
01
DESIGN
Turn high-level plans into target processes, architecture, and working prototypes.
02
BUILD
Create bounded software and integration increments from approved rules and decisions.
03
VALIDATE
Prove parity, controls, performance, and acceptance with traceable evidence.
04
TRANSITION
Move data, operations, and people through controlled release waves.
01
OPERATE
Establish ownership, service levels, observability, security, and cost control.
02
EVOLVE
Keep knowledge and the product backlog current so the capability improves with measured performance.
FOUR THREADS SHAPE EVERY PHASE GATE AND DELIVERY DECISION
Business value &amp; economics   •   Process &amp; experience   •   People &amp; change   •   Technology &amp; delivery
© 2026 West Monroe Partners | Reproduction and/or distribution without West Monroe Partners’ prior consent is prohibited.
12
03
DECOMMISSION
Clear remaining dependencies, then retire legacy code, data paths, controls, contracts, and cost.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553c346042c23db17db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7d6f1a8810e384dd54f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oftware-source-004-alternative">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BUY VERSUS BUILD</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Strategic fit defines the buy-versus-build choice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a:t>
            </a:fld>
            <a:endParaRPr lang="en-US" sz="700" spc="0" kern="0" b="0" i="0" dirty="0">
              <a:solidFill>
                <a:srgbClr val="070154"/>
              </a:solidFill>
              <a:latin typeface="IBM Plex Mono SemiBold"/>
              <a:ea typeface="IBM Plex Mono SemiBold"/>
              <a:cs typeface="IBM Plex Mono SemiBold"/>
            </a:endParaRPr>
          </a:p>
        </p:txBody>
      </p:sp>
      <p:grpSp>
        <p:nvGrpSpPr>
          <p:cNvPr id="9" name="evidence-table"/>
          <p:cNvGrpSpPr/>
          <p:nvPr/>
        </p:nvGrpSpPr>
        <p:grpSpPr>
          <a:xfrm>
            <a:off x="723900" y="1600200"/>
            <a:ext cx="10744200" cy="3505200"/>
            <a:chOff x="723900" y="1600200"/>
            <a:chExt cx="10744200" cy="35052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505200"/>
          </p:xfrm>
          <a:graphic>
            <a:graphicData uri="http://schemas.openxmlformats.org/drawingml/2006/table">
              <a:tbl>
                <a:tblPr/>
                <a:tblGrid>
                  <a:gridCol w="2286000"/>
                  <a:gridCol w="4229100"/>
                  <a:gridCol w="42291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DECISION LENS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BUY · STANDARD CAPABILITIES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BUILD · DIFFERENTIATED CAPABILITIES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Strategic fit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Common market needs; speed to value matters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Distinctive workflows; control data and experience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Constraints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Fit gaps can force process compromise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 the product roadmap and change priorities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Licensing and vendor roadmaps constrain change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Durable product and engineering capability; ongoing maintenance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787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 economics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Lower planning and legacy run costs inform the choice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Faster coding, testing and migration lower build costs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308600"/>
            <a:ext cx="107442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AI reduces discovery, implementation and legacy maintenance costs. Choose for strategic fit, differentiation and ownership.</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oftware-source-022-alternative">
    <p:spTree>
      <p:nvGrpSpPr>
        <p:cNvPr id="1" name=""/>
        <p:cNvGrpSpPr/>
        <p:nvPr/>
      </p:nvGrpSpPr>
      <p:grpSpPr>
        <a:xfrm>
          <a:off x="0" y="0"/>
          <a:ext cx="0" cy="0"/>
          <a:chOff x="0" y="0"/>
          <a:chExt cx="0" cy="0"/>
        </a:xfrm>
      </p:grpSpPr>
      <p:sp>
        <p:nvSpPr>
          <p:cNvPr id="4"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Connect strategy to sustained value</a:t>
            </a:r>
            <a:endParaRPr lang="en-US" sz="2400" spc="-36"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2286000"/>
            <a:ext cx="3429000" cy="1066800"/>
            <a:chOff x="723900" y="2286000"/>
            <a:chExt cx="3429000" cy="1066800"/>
          </a:xfrm>
        </p:grpSpPr>
        <p:sp>
          <p:nvSpPr>
            <p:cNvPr id="7" name="node01.text"/>
            <p:cNvSpPr/>
            <p:nvPr/>
          </p:nvSpPr>
          <p:spPr>
            <a:xfrm>
              <a:off x="723900" y="22860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Connected subphases turn business intent into controlled delivery and sustained value.</a:t>
              </a:r>
              <a:endParaRPr lang="en-US" sz="1400" spc="0" kern="0" b="0" i="0" dirty="0">
                <a:solidFill>
                  <a:srgbClr val="50658E"/>
                </a:solidFill>
                <a:latin typeface="IBM Plex Sans"/>
                <a:ea typeface="IBM Plex Sans"/>
                <a:cs typeface="IBM Plex Sans"/>
              </a:endParaRPr>
            </a:p>
          </p:txBody>
        </p:sp>
      </p:grpSp>
      <p:grpSp>
        <p:nvGrpSpPr>
          <p:cNvPr id="63" name="node02"/>
          <p:cNvGrpSpPr/>
          <p:nvPr/>
        </p:nvGrpSpPr>
        <p:grpSpPr>
          <a:xfrm>
            <a:off x="723900" y="3657600"/>
            <a:ext cx="3429000" cy="2057400"/>
            <a:chOff x="723900" y="3657600"/>
            <a:chExt cx="3429000" cy="2057400"/>
          </a:xfrm>
        </p:grpSpPr>
        <p:sp>
          <p:nvSpPr>
            <p:cNvPr id="8" name="node02.container"/>
            <p:cNvSpPr/>
            <p:nvPr/>
          </p:nvSpPr>
          <p:spPr>
            <a:xfrm>
              <a:off x="723900" y="3657600"/>
              <a:ext cx="3429000" cy="2057400"/>
            </a:xfrm>
            <a:prstGeom prst="rect">
              <a:avLst/>
            </a:prstGeom>
            <a:solidFill>
              <a:srgbClr val="E8EEF8"/>
            </a:solidFill>
            <a:ln>
              <a:noFill/>
            </a:ln>
          </p:spPr>
        </p:sp>
        <p:sp>
          <p:nvSpPr>
            <p:cNvPr id="9" name="node02.edge"/>
            <p:cNvSpPr/>
            <p:nvPr/>
          </p:nvSpPr>
          <p:spPr>
            <a:xfrm>
              <a:off x="723900" y="3657600"/>
              <a:ext cx="38100" cy="2057400"/>
            </a:xfrm>
            <a:prstGeom prst="rect">
              <a:avLst/>
            </a:prstGeom>
            <a:solidFill>
              <a:srgbClr val="070154"/>
            </a:solidFill>
            <a:ln>
              <a:noFill/>
            </a:ln>
          </p:spPr>
        </p:sp>
        <p:sp>
          <p:nvSpPr>
            <p:cNvPr id="10" name="node02.label"/>
            <p:cNvSpPr/>
            <p:nvPr/>
          </p:nvSpPr>
          <p:spPr>
            <a:xfrm>
              <a:off x="914400" y="3810000"/>
              <a:ext cx="3086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FOUR CONTINUOUS THREADS</a:t>
              </a:r>
              <a:endParaRPr lang="en-US" sz="900" spc="54" kern="0" b="0" i="0" dirty="0">
                <a:solidFill>
                  <a:srgbClr val="0047FF"/>
                </a:solidFill>
                <a:latin typeface="IBM Plex Mono Medium"/>
                <a:ea typeface="IBM Plex Mono Medium"/>
                <a:cs typeface="IBM Plex Mono Medium"/>
              </a:endParaRPr>
            </a:p>
          </p:txBody>
        </p:sp>
        <p:sp>
          <p:nvSpPr>
            <p:cNvPr id="11" name="node02.title"/>
            <p:cNvSpPr/>
            <p:nvPr/>
          </p:nvSpPr>
          <p:spPr>
            <a:xfrm>
              <a:off x="914400" y="4000500"/>
              <a:ext cx="30861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Every phase decision</a:t>
              </a:r>
              <a:endParaRPr lang="en-US" sz="1800" spc="-18" kern="0" b="0" i="0" dirty="0">
                <a:solidFill>
                  <a:srgbClr val="070154"/>
                </a:solidFill>
                <a:latin typeface="IBM Plex Sans SemiBold"/>
                <a:ea typeface="IBM Plex Sans SemiBold"/>
                <a:cs typeface="IBM Plex Sans SemiBold"/>
              </a:endParaRPr>
            </a:p>
          </p:txBody>
        </p:sp>
        <p:sp>
          <p:nvSpPr>
            <p:cNvPr id="12" name="node02.body.example-001.bullets.example-001.marker"/>
            <p:cNvSpPr/>
            <p:nvPr/>
          </p:nvSpPr>
          <p:spPr>
            <a:xfrm>
              <a:off x="914400" y="4508500"/>
              <a:ext cx="38100" cy="38100"/>
            </a:xfrm>
            <a:prstGeom prst="rect">
              <a:avLst/>
            </a:prstGeom>
            <a:solidFill>
              <a:srgbClr val="070154"/>
            </a:solidFill>
            <a:ln>
              <a:noFill/>
            </a:ln>
          </p:spPr>
        </p:sp>
        <p:sp>
          <p:nvSpPr>
            <p:cNvPr id="13" name="node02.body.example-001.bullets.example-001.text"/>
            <p:cNvSpPr/>
            <p:nvPr/>
          </p:nvSpPr>
          <p:spPr>
            <a:xfrm>
              <a:off x="1066800" y="44196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value and economics</a:t>
              </a:r>
              <a:endParaRPr lang="en-US" sz="1200" spc="0" kern="0" b="0" i="0" dirty="0">
                <a:solidFill>
                  <a:srgbClr val="070154"/>
                </a:solidFill>
                <a:latin typeface="IBM Plex Sans"/>
                <a:ea typeface="IBM Plex Sans"/>
                <a:cs typeface="IBM Plex Sans"/>
              </a:endParaRPr>
            </a:p>
          </p:txBody>
        </p:sp>
        <p:sp>
          <p:nvSpPr>
            <p:cNvPr id="14" name="node02.body.example-001.bullets.example-002.marker"/>
            <p:cNvSpPr/>
            <p:nvPr/>
          </p:nvSpPr>
          <p:spPr>
            <a:xfrm>
              <a:off x="914400" y="4775200"/>
              <a:ext cx="38100" cy="38100"/>
            </a:xfrm>
            <a:prstGeom prst="rect">
              <a:avLst/>
            </a:prstGeom>
            <a:solidFill>
              <a:srgbClr val="070154"/>
            </a:solidFill>
            <a:ln>
              <a:noFill/>
            </a:ln>
          </p:spPr>
        </p:sp>
        <p:sp>
          <p:nvSpPr>
            <p:cNvPr id="15" name="node02.body.example-001.bullets.example-002.text"/>
            <p:cNvSpPr/>
            <p:nvPr/>
          </p:nvSpPr>
          <p:spPr>
            <a:xfrm>
              <a:off x="1066800" y="46863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Process and experience</a:t>
              </a:r>
              <a:endParaRPr lang="en-US" sz="1200" spc="0" kern="0" b="0" i="0" dirty="0">
                <a:solidFill>
                  <a:srgbClr val="070154"/>
                </a:solidFill>
                <a:latin typeface="IBM Plex Sans"/>
                <a:ea typeface="IBM Plex Sans"/>
                <a:cs typeface="IBM Plex Sans"/>
              </a:endParaRPr>
            </a:p>
          </p:txBody>
        </p:sp>
        <p:sp>
          <p:nvSpPr>
            <p:cNvPr id="16" name="node02.body.example-001.bullets.example-003.marker"/>
            <p:cNvSpPr/>
            <p:nvPr/>
          </p:nvSpPr>
          <p:spPr>
            <a:xfrm>
              <a:off x="914400" y="5041900"/>
              <a:ext cx="38100" cy="38100"/>
            </a:xfrm>
            <a:prstGeom prst="rect">
              <a:avLst/>
            </a:prstGeom>
            <a:solidFill>
              <a:srgbClr val="070154"/>
            </a:solidFill>
            <a:ln>
              <a:noFill/>
            </a:ln>
          </p:spPr>
        </p:sp>
        <p:sp>
          <p:nvSpPr>
            <p:cNvPr id="17" name="node02.body.example-001.bullets.example-003.text"/>
            <p:cNvSpPr/>
            <p:nvPr/>
          </p:nvSpPr>
          <p:spPr>
            <a:xfrm>
              <a:off x="1066800" y="49530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People and change</a:t>
              </a:r>
              <a:endParaRPr lang="en-US" sz="1200" spc="0" kern="0" b="0" i="0" dirty="0">
                <a:solidFill>
                  <a:srgbClr val="070154"/>
                </a:solidFill>
                <a:latin typeface="IBM Plex Sans"/>
                <a:ea typeface="IBM Plex Sans"/>
                <a:cs typeface="IBM Plex Sans"/>
              </a:endParaRPr>
            </a:p>
          </p:txBody>
        </p:sp>
        <p:sp>
          <p:nvSpPr>
            <p:cNvPr id="18" name="node02.body.example-001.bullets.example-004.marker"/>
            <p:cNvSpPr/>
            <p:nvPr/>
          </p:nvSpPr>
          <p:spPr>
            <a:xfrm>
              <a:off x="914400" y="5308600"/>
              <a:ext cx="38100" cy="38100"/>
            </a:xfrm>
            <a:prstGeom prst="rect">
              <a:avLst/>
            </a:prstGeom>
            <a:solidFill>
              <a:srgbClr val="070154"/>
            </a:solidFill>
            <a:ln>
              <a:noFill/>
            </a:ln>
          </p:spPr>
        </p:sp>
        <p:sp>
          <p:nvSpPr>
            <p:cNvPr id="19" name="node02.body.example-001.bullets.example-004.text"/>
            <p:cNvSpPr/>
            <p:nvPr/>
          </p:nvSpPr>
          <p:spPr>
            <a:xfrm>
              <a:off x="1066800" y="52197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Technology and delivery</a:t>
              </a:r>
              <a:endParaRPr lang="en-US" sz="1200" spc="0" kern="0" b="0" i="0" dirty="0">
                <a:solidFill>
                  <a:srgbClr val="070154"/>
                </a:solidFill>
                <a:latin typeface="IBM Plex Sans"/>
                <a:ea typeface="IBM Plex Sans"/>
                <a:cs typeface="IBM Plex Sans"/>
              </a:endParaRPr>
            </a:p>
          </p:txBody>
        </p:sp>
      </p:grpSp>
      <p:grpSp>
        <p:nvGrpSpPr>
          <p:cNvPr id="64" name="node03"/>
          <p:cNvGrpSpPr/>
          <p:nvPr/>
        </p:nvGrpSpPr>
        <p:grpSpPr>
          <a:xfrm>
            <a:off x="4381500" y="457200"/>
            <a:ext cx="1600200" cy="1600200"/>
            <a:chOff x="4381500" y="457200"/>
            <a:chExt cx="1600200" cy="1600200"/>
          </a:xfrm>
        </p:grpSpPr>
        <p:sp>
          <p:nvSpPr>
            <p:cNvPr id="20" name="node03.surface"/>
            <p:cNvSpPr/>
            <p:nvPr/>
          </p:nvSpPr>
          <p:spPr>
            <a:xfrm>
              <a:off x="4381500" y="457200"/>
              <a:ext cx="1600200" cy="1600200"/>
            </a:xfrm>
            <a:prstGeom prst="rect">
              <a:avLst/>
            </a:prstGeom>
            <a:solidFill>
              <a:srgbClr val="070154"/>
            </a:solidFill>
            <a:ln>
              <a:noFill/>
            </a:ln>
          </p:spPr>
        </p:sp>
      </p:grpSp>
      <p:grpSp>
        <p:nvGrpSpPr>
          <p:cNvPr id="65" name="node04"/>
          <p:cNvGrpSpPr/>
          <p:nvPr/>
        </p:nvGrpSpPr>
        <p:grpSpPr>
          <a:xfrm>
            <a:off x="4533900" y="609600"/>
            <a:ext cx="1295400" cy="304800"/>
            <a:chOff x="4533900" y="609600"/>
            <a:chExt cx="1295400" cy="304800"/>
          </a:xfrm>
        </p:grpSpPr>
        <p:sp>
          <p:nvSpPr>
            <p:cNvPr id="21" name="node04.text"/>
            <p:cNvSpPr/>
            <p:nvPr/>
          </p:nvSpPr>
          <p:spPr>
            <a:xfrm>
              <a:off x="4533900" y="609600"/>
              <a:ext cx="1295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grpSp>
      <p:grpSp>
        <p:nvGrpSpPr>
          <p:cNvPr id="66" name="node05"/>
          <p:cNvGrpSpPr/>
          <p:nvPr/>
        </p:nvGrpSpPr>
        <p:grpSpPr>
          <a:xfrm>
            <a:off x="4533900" y="990600"/>
            <a:ext cx="1295400" cy="304800"/>
            <a:chOff x="4533900" y="990600"/>
            <a:chExt cx="1295400" cy="304800"/>
          </a:xfrm>
        </p:grpSpPr>
        <p:sp>
          <p:nvSpPr>
            <p:cNvPr id="22" name="node05.text"/>
            <p:cNvSpPr/>
            <p:nvPr/>
          </p:nvSpPr>
          <p:spPr>
            <a:xfrm>
              <a:off x="4533900" y="9906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Rationalize</a:t>
              </a:r>
              <a:endParaRPr lang="en-US" sz="1800" spc="-18" kern="0" b="0" i="0" dirty="0">
                <a:solidFill>
                  <a:srgbClr val="FFFFFF"/>
                </a:solidFill>
                <a:latin typeface="IBM Plex Sans SemiBold"/>
                <a:ea typeface="IBM Plex Sans SemiBold"/>
                <a:cs typeface="IBM Plex Sans SemiBold"/>
              </a:endParaRPr>
            </a:p>
          </p:txBody>
        </p:sp>
      </p:grpSp>
      <p:grpSp>
        <p:nvGrpSpPr>
          <p:cNvPr id="67" name="node06"/>
          <p:cNvGrpSpPr/>
          <p:nvPr/>
        </p:nvGrpSpPr>
        <p:grpSpPr>
          <a:xfrm>
            <a:off x="6210300" y="457200"/>
            <a:ext cx="2514600" cy="685800"/>
            <a:chOff x="6210300" y="457200"/>
            <a:chExt cx="2514600" cy="685800"/>
          </a:xfrm>
        </p:grpSpPr>
        <p:sp>
          <p:nvSpPr>
            <p:cNvPr id="23" name="node06.surface"/>
            <p:cNvSpPr/>
            <p:nvPr/>
          </p:nvSpPr>
          <p:spPr>
            <a:xfrm>
              <a:off x="6210300" y="457200"/>
              <a:ext cx="2514600" cy="685800"/>
            </a:xfrm>
            <a:prstGeom prst="rect">
              <a:avLst/>
            </a:prstGeom>
            <a:solidFill>
              <a:srgbClr val="E8EEF8"/>
            </a:solidFill>
            <a:ln>
              <a:noFill/>
            </a:ln>
          </p:spPr>
        </p:sp>
      </p:grpSp>
      <p:grpSp>
        <p:nvGrpSpPr>
          <p:cNvPr id="68" name="node07"/>
          <p:cNvGrpSpPr/>
          <p:nvPr/>
        </p:nvGrpSpPr>
        <p:grpSpPr>
          <a:xfrm>
            <a:off x="6324600" y="533400"/>
            <a:ext cx="2286000" cy="266700"/>
            <a:chOff x="6324600" y="533400"/>
            <a:chExt cx="2286000" cy="266700"/>
          </a:xfrm>
        </p:grpSpPr>
        <p:sp>
          <p:nvSpPr>
            <p:cNvPr id="24" name="node07.text"/>
            <p:cNvSpPr/>
            <p:nvPr/>
          </p:nvSpPr>
          <p:spPr>
            <a:xfrm>
              <a:off x="6324600" y="5334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Thesis alignment</a:t>
              </a:r>
              <a:endParaRPr lang="en-US" sz="1400" spc="0" kern="0" b="0" i="0" dirty="0">
                <a:solidFill>
                  <a:srgbClr val="070154"/>
                </a:solidFill>
                <a:latin typeface="IBM Plex Sans"/>
                <a:ea typeface="IBM Plex Sans"/>
                <a:cs typeface="IBM Plex Sans"/>
              </a:endParaRPr>
            </a:p>
          </p:txBody>
        </p:sp>
      </p:grpSp>
      <p:grpSp>
        <p:nvGrpSpPr>
          <p:cNvPr id="69" name="node08"/>
          <p:cNvGrpSpPr/>
          <p:nvPr/>
        </p:nvGrpSpPr>
        <p:grpSpPr>
          <a:xfrm>
            <a:off x="6324600" y="800100"/>
            <a:ext cx="2286000" cy="228600"/>
            <a:chOff x="6324600" y="800100"/>
            <a:chExt cx="2286000" cy="228600"/>
          </a:xfrm>
        </p:grpSpPr>
        <p:sp>
          <p:nvSpPr>
            <p:cNvPr id="25" name="node08.text"/>
            <p:cNvSpPr/>
            <p:nvPr/>
          </p:nvSpPr>
          <p:spPr>
            <a:xfrm>
              <a:off x="6324600" y="800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Outcomes and questions</a:t>
              </a:r>
              <a:endParaRPr lang="en-US" sz="1200" spc="0" kern="0" b="0" i="0" dirty="0">
                <a:solidFill>
                  <a:srgbClr val="50658E"/>
                </a:solidFill>
                <a:latin typeface="IBM Plex Sans"/>
                <a:ea typeface="IBM Plex Sans"/>
                <a:cs typeface="IBM Plex Sans"/>
              </a:endParaRPr>
            </a:p>
          </p:txBody>
        </p:sp>
      </p:grpSp>
      <p:grpSp>
        <p:nvGrpSpPr>
          <p:cNvPr id="70" name="node09"/>
          <p:cNvGrpSpPr/>
          <p:nvPr/>
        </p:nvGrpSpPr>
        <p:grpSpPr>
          <a:xfrm>
            <a:off x="8953500" y="457200"/>
            <a:ext cx="2514600" cy="685800"/>
            <a:chOff x="8953500" y="457200"/>
            <a:chExt cx="2514600" cy="685800"/>
          </a:xfrm>
        </p:grpSpPr>
        <p:sp>
          <p:nvSpPr>
            <p:cNvPr id="26" name="node09.surface"/>
            <p:cNvSpPr/>
            <p:nvPr/>
          </p:nvSpPr>
          <p:spPr>
            <a:xfrm>
              <a:off x="8953500" y="457200"/>
              <a:ext cx="2514600" cy="685800"/>
            </a:xfrm>
            <a:prstGeom prst="rect">
              <a:avLst/>
            </a:prstGeom>
            <a:solidFill>
              <a:srgbClr val="E8EEF8"/>
            </a:solidFill>
            <a:ln>
              <a:noFill/>
            </a:ln>
          </p:spPr>
        </p:sp>
      </p:grpSp>
      <p:grpSp>
        <p:nvGrpSpPr>
          <p:cNvPr id="71" name="node10"/>
          <p:cNvGrpSpPr/>
          <p:nvPr/>
        </p:nvGrpSpPr>
        <p:grpSpPr>
          <a:xfrm>
            <a:off x="9067800" y="533400"/>
            <a:ext cx="2286000" cy="266700"/>
            <a:chOff x="9067800" y="533400"/>
            <a:chExt cx="2286000" cy="266700"/>
          </a:xfrm>
        </p:grpSpPr>
        <p:sp>
          <p:nvSpPr>
            <p:cNvPr id="27" name="node10.text"/>
            <p:cNvSpPr/>
            <p:nvPr/>
          </p:nvSpPr>
          <p:spPr>
            <a:xfrm>
              <a:off x="9067800" y="5334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Assessment</a:t>
              </a:r>
              <a:endParaRPr lang="en-US" sz="1400" spc="0" kern="0" b="0" i="0" dirty="0">
                <a:solidFill>
                  <a:srgbClr val="070154"/>
                </a:solidFill>
                <a:latin typeface="IBM Plex Sans"/>
                <a:ea typeface="IBM Plex Sans"/>
                <a:cs typeface="IBM Plex Sans"/>
              </a:endParaRPr>
            </a:p>
          </p:txBody>
        </p:sp>
      </p:grpSp>
      <p:grpSp>
        <p:nvGrpSpPr>
          <p:cNvPr id="72" name="node11"/>
          <p:cNvGrpSpPr/>
          <p:nvPr/>
        </p:nvGrpSpPr>
        <p:grpSpPr>
          <a:xfrm>
            <a:off x="9067800" y="800100"/>
            <a:ext cx="2286000" cy="228600"/>
            <a:chOff x="9067800" y="800100"/>
            <a:chExt cx="2286000" cy="228600"/>
          </a:xfrm>
        </p:grpSpPr>
        <p:sp>
          <p:nvSpPr>
            <p:cNvPr id="28" name="node11.text"/>
            <p:cNvSpPr/>
            <p:nvPr/>
          </p:nvSpPr>
          <p:spPr>
            <a:xfrm>
              <a:off x="9067800" y="800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Work, risk and dependencies</a:t>
              </a:r>
              <a:endParaRPr lang="en-US" sz="1200" spc="0" kern="0" b="0" i="0" dirty="0">
                <a:solidFill>
                  <a:srgbClr val="50658E"/>
                </a:solidFill>
                <a:latin typeface="IBM Plex Sans"/>
                <a:ea typeface="IBM Plex Sans"/>
                <a:cs typeface="IBM Plex Sans"/>
              </a:endParaRPr>
            </a:p>
          </p:txBody>
        </p:sp>
      </p:grpSp>
      <p:grpSp>
        <p:nvGrpSpPr>
          <p:cNvPr id="73" name="node12"/>
          <p:cNvGrpSpPr/>
          <p:nvPr/>
        </p:nvGrpSpPr>
        <p:grpSpPr>
          <a:xfrm>
            <a:off x="6210300" y="1371600"/>
            <a:ext cx="2514600" cy="685800"/>
            <a:chOff x="6210300" y="1371600"/>
            <a:chExt cx="2514600" cy="685800"/>
          </a:xfrm>
        </p:grpSpPr>
        <p:sp>
          <p:nvSpPr>
            <p:cNvPr id="29" name="node12.surface"/>
            <p:cNvSpPr/>
            <p:nvPr/>
          </p:nvSpPr>
          <p:spPr>
            <a:xfrm>
              <a:off x="6210300" y="1371600"/>
              <a:ext cx="2514600" cy="685800"/>
            </a:xfrm>
            <a:prstGeom prst="rect">
              <a:avLst/>
            </a:prstGeom>
            <a:solidFill>
              <a:srgbClr val="E8EEF8"/>
            </a:solidFill>
            <a:ln>
              <a:noFill/>
            </a:ln>
          </p:spPr>
        </p:sp>
      </p:grpSp>
      <p:grpSp>
        <p:nvGrpSpPr>
          <p:cNvPr id="74" name="node13"/>
          <p:cNvGrpSpPr/>
          <p:nvPr/>
        </p:nvGrpSpPr>
        <p:grpSpPr>
          <a:xfrm>
            <a:off x="6324600" y="1447800"/>
            <a:ext cx="2286000" cy="266700"/>
            <a:chOff x="6324600" y="1447800"/>
            <a:chExt cx="2286000" cy="266700"/>
          </a:xfrm>
        </p:grpSpPr>
        <p:sp>
          <p:nvSpPr>
            <p:cNvPr id="30" name="node13.text"/>
            <p:cNvSpPr/>
            <p:nvPr/>
          </p:nvSpPr>
          <p:spPr>
            <a:xfrm>
              <a:off x="6324600" y="14478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Reimagine</a:t>
              </a:r>
              <a:endParaRPr lang="en-US" sz="1400" spc="0" kern="0" b="0" i="0" dirty="0">
                <a:solidFill>
                  <a:srgbClr val="070154"/>
                </a:solidFill>
                <a:latin typeface="IBM Plex Sans"/>
                <a:ea typeface="IBM Plex Sans"/>
                <a:cs typeface="IBM Plex Sans"/>
              </a:endParaRPr>
            </a:p>
          </p:txBody>
        </p:sp>
      </p:grpSp>
      <p:grpSp>
        <p:nvGrpSpPr>
          <p:cNvPr id="75" name="node14"/>
          <p:cNvGrpSpPr/>
          <p:nvPr/>
        </p:nvGrpSpPr>
        <p:grpSpPr>
          <a:xfrm>
            <a:off x="6324600" y="1714500"/>
            <a:ext cx="2286000" cy="228600"/>
            <a:chOff x="6324600" y="1714500"/>
            <a:chExt cx="2286000" cy="228600"/>
          </a:xfrm>
        </p:grpSpPr>
        <p:sp>
          <p:nvSpPr>
            <p:cNvPr id="31" name="node14.text"/>
            <p:cNvSpPr/>
            <p:nvPr/>
          </p:nvSpPr>
          <p:spPr>
            <a:xfrm>
              <a:off x="6324600" y="1714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Test future experiences</a:t>
              </a:r>
              <a:endParaRPr lang="en-US" sz="1200" spc="0" kern="0" b="0" i="0" dirty="0">
                <a:solidFill>
                  <a:srgbClr val="50658E"/>
                </a:solidFill>
                <a:latin typeface="IBM Plex Sans"/>
                <a:ea typeface="IBM Plex Sans"/>
                <a:cs typeface="IBM Plex Sans"/>
              </a:endParaRPr>
            </a:p>
          </p:txBody>
        </p:sp>
      </p:grpSp>
      <p:grpSp>
        <p:nvGrpSpPr>
          <p:cNvPr id="76" name="node15"/>
          <p:cNvGrpSpPr/>
          <p:nvPr/>
        </p:nvGrpSpPr>
        <p:grpSpPr>
          <a:xfrm>
            <a:off x="8953500" y="1371600"/>
            <a:ext cx="2514600" cy="685800"/>
            <a:chOff x="8953500" y="1371600"/>
            <a:chExt cx="2514600" cy="685800"/>
          </a:xfrm>
        </p:grpSpPr>
        <p:sp>
          <p:nvSpPr>
            <p:cNvPr id="32" name="node15.surface"/>
            <p:cNvSpPr/>
            <p:nvPr/>
          </p:nvSpPr>
          <p:spPr>
            <a:xfrm>
              <a:off x="8953500" y="1371600"/>
              <a:ext cx="2514600" cy="685800"/>
            </a:xfrm>
            <a:prstGeom prst="rect">
              <a:avLst/>
            </a:prstGeom>
            <a:solidFill>
              <a:srgbClr val="E8EEF8"/>
            </a:solidFill>
            <a:ln>
              <a:noFill/>
            </a:ln>
          </p:spPr>
        </p:sp>
      </p:grpSp>
      <p:grpSp>
        <p:nvGrpSpPr>
          <p:cNvPr id="77" name="node16"/>
          <p:cNvGrpSpPr/>
          <p:nvPr/>
        </p:nvGrpSpPr>
        <p:grpSpPr>
          <a:xfrm>
            <a:off x="9067800" y="1447800"/>
            <a:ext cx="2286000" cy="266700"/>
            <a:chOff x="9067800" y="1447800"/>
            <a:chExt cx="2286000" cy="266700"/>
          </a:xfrm>
        </p:grpSpPr>
        <p:sp>
          <p:nvSpPr>
            <p:cNvPr id="33" name="node16.text"/>
            <p:cNvSpPr/>
            <p:nvPr/>
          </p:nvSpPr>
          <p:spPr>
            <a:xfrm>
              <a:off x="9067800" y="14478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Plan</a:t>
              </a:r>
              <a:endParaRPr lang="en-US" sz="1400" spc="0" kern="0" b="0" i="0" dirty="0">
                <a:solidFill>
                  <a:srgbClr val="070154"/>
                </a:solidFill>
                <a:latin typeface="IBM Plex Sans"/>
                <a:ea typeface="IBM Plex Sans"/>
                <a:cs typeface="IBM Plex Sans"/>
              </a:endParaRPr>
            </a:p>
          </p:txBody>
        </p:sp>
      </p:grpSp>
      <p:grpSp>
        <p:nvGrpSpPr>
          <p:cNvPr id="78" name="node17"/>
          <p:cNvGrpSpPr/>
          <p:nvPr/>
        </p:nvGrpSpPr>
        <p:grpSpPr>
          <a:xfrm>
            <a:off x="9067800" y="1714500"/>
            <a:ext cx="2286000" cy="228600"/>
            <a:chOff x="9067800" y="1714500"/>
            <a:chExt cx="2286000" cy="228600"/>
          </a:xfrm>
        </p:grpSpPr>
        <p:sp>
          <p:nvSpPr>
            <p:cNvPr id="34" name="node17.text"/>
            <p:cNvSpPr/>
            <p:nvPr/>
          </p:nvSpPr>
          <p:spPr>
            <a:xfrm>
              <a:off x="9067800" y="1714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Economics and first wave</a:t>
              </a:r>
              <a:endParaRPr lang="en-US" sz="1200" spc="0" kern="0" b="0" i="0" dirty="0">
                <a:solidFill>
                  <a:srgbClr val="50658E"/>
                </a:solidFill>
                <a:latin typeface="IBM Plex Sans"/>
                <a:ea typeface="IBM Plex Sans"/>
                <a:cs typeface="IBM Plex Sans"/>
              </a:endParaRPr>
            </a:p>
          </p:txBody>
        </p:sp>
      </p:grpSp>
      <p:grpSp>
        <p:nvGrpSpPr>
          <p:cNvPr id="79" name="node18"/>
          <p:cNvGrpSpPr/>
          <p:nvPr/>
        </p:nvGrpSpPr>
        <p:grpSpPr>
          <a:xfrm>
            <a:off x="4381500" y="2286000"/>
            <a:ext cx="1600200" cy="1600200"/>
            <a:chOff x="4381500" y="2286000"/>
            <a:chExt cx="1600200" cy="1600200"/>
          </a:xfrm>
        </p:grpSpPr>
        <p:sp>
          <p:nvSpPr>
            <p:cNvPr id="35" name="node18.surface"/>
            <p:cNvSpPr/>
            <p:nvPr/>
          </p:nvSpPr>
          <p:spPr>
            <a:xfrm>
              <a:off x="4381500" y="2286000"/>
              <a:ext cx="1600200" cy="1600200"/>
            </a:xfrm>
            <a:prstGeom prst="rect">
              <a:avLst/>
            </a:prstGeom>
            <a:solidFill>
              <a:srgbClr val="CED7E6"/>
            </a:solidFill>
            <a:ln>
              <a:noFill/>
            </a:ln>
          </p:spPr>
        </p:sp>
      </p:grpSp>
      <p:grpSp>
        <p:nvGrpSpPr>
          <p:cNvPr id="80" name="node19"/>
          <p:cNvGrpSpPr/>
          <p:nvPr/>
        </p:nvGrpSpPr>
        <p:grpSpPr>
          <a:xfrm>
            <a:off x="4533900" y="2438400"/>
            <a:ext cx="1295400" cy="304800"/>
            <a:chOff x="4533900" y="2438400"/>
            <a:chExt cx="1295400" cy="304800"/>
          </a:xfrm>
        </p:grpSpPr>
        <p:sp>
          <p:nvSpPr>
            <p:cNvPr id="36" name="node19.text"/>
            <p:cNvSpPr/>
            <p:nvPr/>
          </p:nvSpPr>
          <p:spPr>
            <a:xfrm>
              <a:off x="4533900" y="2438400"/>
              <a:ext cx="1295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grpSp>
      <p:grpSp>
        <p:nvGrpSpPr>
          <p:cNvPr id="81" name="node20"/>
          <p:cNvGrpSpPr/>
          <p:nvPr/>
        </p:nvGrpSpPr>
        <p:grpSpPr>
          <a:xfrm>
            <a:off x="4533900" y="2819400"/>
            <a:ext cx="1295400" cy="304800"/>
            <a:chOff x="4533900" y="2819400"/>
            <a:chExt cx="1295400" cy="304800"/>
          </a:xfrm>
        </p:grpSpPr>
        <p:sp>
          <p:nvSpPr>
            <p:cNvPr id="37" name="node20.text"/>
            <p:cNvSpPr/>
            <p:nvPr/>
          </p:nvSpPr>
          <p:spPr>
            <a:xfrm>
              <a:off x="4533900" y="28194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grpSp>
      <p:grpSp>
        <p:nvGrpSpPr>
          <p:cNvPr id="82" name="node21"/>
          <p:cNvGrpSpPr/>
          <p:nvPr/>
        </p:nvGrpSpPr>
        <p:grpSpPr>
          <a:xfrm>
            <a:off x="6210300" y="2286000"/>
            <a:ext cx="2514600" cy="685800"/>
            <a:chOff x="6210300" y="2286000"/>
            <a:chExt cx="2514600" cy="685800"/>
          </a:xfrm>
        </p:grpSpPr>
        <p:sp>
          <p:nvSpPr>
            <p:cNvPr id="38" name="node21.surface"/>
            <p:cNvSpPr/>
            <p:nvPr/>
          </p:nvSpPr>
          <p:spPr>
            <a:xfrm>
              <a:off x="6210300" y="2286000"/>
              <a:ext cx="2514600" cy="685800"/>
            </a:xfrm>
            <a:prstGeom prst="rect">
              <a:avLst/>
            </a:prstGeom>
            <a:solidFill>
              <a:srgbClr val="E8EEF8"/>
            </a:solidFill>
            <a:ln>
              <a:noFill/>
            </a:ln>
          </p:spPr>
        </p:sp>
      </p:grpSp>
      <p:grpSp>
        <p:nvGrpSpPr>
          <p:cNvPr id="83" name="node22"/>
          <p:cNvGrpSpPr/>
          <p:nvPr/>
        </p:nvGrpSpPr>
        <p:grpSpPr>
          <a:xfrm>
            <a:off x="6324600" y="2362200"/>
            <a:ext cx="2286000" cy="266700"/>
            <a:chOff x="6324600" y="2362200"/>
            <a:chExt cx="2286000" cy="266700"/>
          </a:xfrm>
        </p:grpSpPr>
        <p:sp>
          <p:nvSpPr>
            <p:cNvPr id="39" name="node22.text"/>
            <p:cNvSpPr/>
            <p:nvPr/>
          </p:nvSpPr>
          <p:spPr>
            <a:xfrm>
              <a:off x="6324600" y="23622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Design</a:t>
              </a:r>
              <a:endParaRPr lang="en-US" sz="1400" spc="0" kern="0" b="0" i="0" dirty="0">
                <a:solidFill>
                  <a:srgbClr val="070154"/>
                </a:solidFill>
                <a:latin typeface="IBM Plex Sans"/>
                <a:ea typeface="IBM Plex Sans"/>
                <a:cs typeface="IBM Plex Sans"/>
              </a:endParaRPr>
            </a:p>
          </p:txBody>
        </p:sp>
      </p:grpSp>
      <p:grpSp>
        <p:nvGrpSpPr>
          <p:cNvPr id="84" name="node23"/>
          <p:cNvGrpSpPr/>
          <p:nvPr/>
        </p:nvGrpSpPr>
        <p:grpSpPr>
          <a:xfrm>
            <a:off x="6324600" y="2628900"/>
            <a:ext cx="2286000" cy="228600"/>
            <a:chOff x="6324600" y="2628900"/>
            <a:chExt cx="2286000" cy="228600"/>
          </a:xfrm>
        </p:grpSpPr>
        <p:sp>
          <p:nvSpPr>
            <p:cNvPr id="40" name="node23.text"/>
            <p:cNvSpPr/>
            <p:nvPr/>
          </p:nvSpPr>
          <p:spPr>
            <a:xfrm>
              <a:off x="6324600" y="2628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Processes and prototypes</a:t>
              </a:r>
              <a:endParaRPr lang="en-US" sz="1200" spc="0" kern="0" b="0" i="0" dirty="0">
                <a:solidFill>
                  <a:srgbClr val="50658E"/>
                </a:solidFill>
                <a:latin typeface="IBM Plex Sans"/>
                <a:ea typeface="IBM Plex Sans"/>
                <a:cs typeface="IBM Plex Sans"/>
              </a:endParaRPr>
            </a:p>
          </p:txBody>
        </p:sp>
      </p:grpSp>
      <p:grpSp>
        <p:nvGrpSpPr>
          <p:cNvPr id="85" name="node24"/>
          <p:cNvGrpSpPr/>
          <p:nvPr/>
        </p:nvGrpSpPr>
        <p:grpSpPr>
          <a:xfrm>
            <a:off x="8953500" y="2286000"/>
            <a:ext cx="2514600" cy="685800"/>
            <a:chOff x="8953500" y="2286000"/>
            <a:chExt cx="2514600" cy="685800"/>
          </a:xfrm>
        </p:grpSpPr>
        <p:sp>
          <p:nvSpPr>
            <p:cNvPr id="41" name="node24.surface"/>
            <p:cNvSpPr/>
            <p:nvPr/>
          </p:nvSpPr>
          <p:spPr>
            <a:xfrm>
              <a:off x="8953500" y="2286000"/>
              <a:ext cx="2514600" cy="685800"/>
            </a:xfrm>
            <a:prstGeom prst="rect">
              <a:avLst/>
            </a:prstGeom>
            <a:solidFill>
              <a:srgbClr val="E8EEF8"/>
            </a:solidFill>
            <a:ln>
              <a:noFill/>
            </a:ln>
          </p:spPr>
        </p:sp>
      </p:grpSp>
      <p:grpSp>
        <p:nvGrpSpPr>
          <p:cNvPr id="86" name="node25"/>
          <p:cNvGrpSpPr/>
          <p:nvPr/>
        </p:nvGrpSpPr>
        <p:grpSpPr>
          <a:xfrm>
            <a:off x="9067800" y="2362200"/>
            <a:ext cx="2286000" cy="266700"/>
            <a:chOff x="9067800" y="2362200"/>
            <a:chExt cx="2286000" cy="266700"/>
          </a:xfrm>
        </p:grpSpPr>
        <p:sp>
          <p:nvSpPr>
            <p:cNvPr id="42" name="node25.text"/>
            <p:cNvSpPr/>
            <p:nvPr/>
          </p:nvSpPr>
          <p:spPr>
            <a:xfrm>
              <a:off x="9067800" y="23622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Build</a:t>
              </a:r>
              <a:endParaRPr lang="en-US" sz="1400" spc="0" kern="0" b="0" i="0" dirty="0">
                <a:solidFill>
                  <a:srgbClr val="070154"/>
                </a:solidFill>
                <a:latin typeface="IBM Plex Sans"/>
                <a:ea typeface="IBM Plex Sans"/>
                <a:cs typeface="IBM Plex Sans"/>
              </a:endParaRPr>
            </a:p>
          </p:txBody>
        </p:sp>
      </p:grpSp>
      <p:grpSp>
        <p:nvGrpSpPr>
          <p:cNvPr id="87" name="node26"/>
          <p:cNvGrpSpPr/>
          <p:nvPr/>
        </p:nvGrpSpPr>
        <p:grpSpPr>
          <a:xfrm>
            <a:off x="9067800" y="2628900"/>
            <a:ext cx="2286000" cy="228600"/>
            <a:chOff x="9067800" y="2628900"/>
            <a:chExt cx="2286000" cy="228600"/>
          </a:xfrm>
        </p:grpSpPr>
        <p:sp>
          <p:nvSpPr>
            <p:cNvPr id="43" name="node26.text"/>
            <p:cNvSpPr/>
            <p:nvPr/>
          </p:nvSpPr>
          <p:spPr>
            <a:xfrm>
              <a:off x="9067800" y="2628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Approved bounded increments</a:t>
              </a:r>
              <a:endParaRPr lang="en-US" sz="1200" spc="0" kern="0" b="0" i="0" dirty="0">
                <a:solidFill>
                  <a:srgbClr val="50658E"/>
                </a:solidFill>
                <a:latin typeface="IBM Plex Sans"/>
                <a:ea typeface="IBM Plex Sans"/>
                <a:cs typeface="IBM Plex Sans"/>
              </a:endParaRPr>
            </a:p>
          </p:txBody>
        </p:sp>
      </p:grpSp>
      <p:grpSp>
        <p:nvGrpSpPr>
          <p:cNvPr id="88" name="node27"/>
          <p:cNvGrpSpPr/>
          <p:nvPr/>
        </p:nvGrpSpPr>
        <p:grpSpPr>
          <a:xfrm>
            <a:off x="6210300" y="3200400"/>
            <a:ext cx="2514600" cy="685800"/>
            <a:chOff x="6210300" y="3200400"/>
            <a:chExt cx="2514600" cy="685800"/>
          </a:xfrm>
        </p:grpSpPr>
        <p:sp>
          <p:nvSpPr>
            <p:cNvPr id="44" name="node27.surface"/>
            <p:cNvSpPr/>
            <p:nvPr/>
          </p:nvSpPr>
          <p:spPr>
            <a:xfrm>
              <a:off x="6210300" y="3200400"/>
              <a:ext cx="2514600" cy="685800"/>
            </a:xfrm>
            <a:prstGeom prst="rect">
              <a:avLst/>
            </a:prstGeom>
            <a:solidFill>
              <a:srgbClr val="E8EEF8"/>
            </a:solidFill>
            <a:ln>
              <a:noFill/>
            </a:ln>
          </p:spPr>
        </p:sp>
      </p:grpSp>
      <p:grpSp>
        <p:nvGrpSpPr>
          <p:cNvPr id="89" name="node28"/>
          <p:cNvGrpSpPr/>
          <p:nvPr/>
        </p:nvGrpSpPr>
        <p:grpSpPr>
          <a:xfrm>
            <a:off x="6324600" y="3276600"/>
            <a:ext cx="2286000" cy="266700"/>
            <a:chOff x="6324600" y="3276600"/>
            <a:chExt cx="2286000" cy="266700"/>
          </a:xfrm>
        </p:grpSpPr>
        <p:sp>
          <p:nvSpPr>
            <p:cNvPr id="45" name="node28.text"/>
            <p:cNvSpPr/>
            <p:nvPr/>
          </p:nvSpPr>
          <p:spPr>
            <a:xfrm>
              <a:off x="6324600" y="32766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Validate</a:t>
              </a:r>
              <a:endParaRPr lang="en-US" sz="1400" spc="0" kern="0" b="0" i="0" dirty="0">
                <a:solidFill>
                  <a:srgbClr val="070154"/>
                </a:solidFill>
                <a:latin typeface="IBM Plex Sans"/>
                <a:ea typeface="IBM Plex Sans"/>
                <a:cs typeface="IBM Plex Sans"/>
              </a:endParaRPr>
            </a:p>
          </p:txBody>
        </p:sp>
      </p:grpSp>
      <p:grpSp>
        <p:nvGrpSpPr>
          <p:cNvPr id="90" name="node29"/>
          <p:cNvGrpSpPr/>
          <p:nvPr/>
        </p:nvGrpSpPr>
        <p:grpSpPr>
          <a:xfrm>
            <a:off x="6324600" y="3543300"/>
            <a:ext cx="2286000" cy="228600"/>
            <a:chOff x="6324600" y="3543300"/>
            <a:chExt cx="2286000" cy="228600"/>
          </a:xfrm>
        </p:grpSpPr>
        <p:sp>
          <p:nvSpPr>
            <p:cNvPr id="46" name="node29.text"/>
            <p:cNvSpPr/>
            <p:nvPr/>
          </p:nvSpPr>
          <p:spPr>
            <a:xfrm>
              <a:off x="6324600" y="35433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Parity, controls, acceptance</a:t>
              </a:r>
              <a:endParaRPr lang="en-US" sz="1200" spc="0" kern="0" b="0" i="0" dirty="0">
                <a:solidFill>
                  <a:srgbClr val="50658E"/>
                </a:solidFill>
                <a:latin typeface="IBM Plex Sans"/>
                <a:ea typeface="IBM Plex Sans"/>
                <a:cs typeface="IBM Plex Sans"/>
              </a:endParaRPr>
            </a:p>
          </p:txBody>
        </p:sp>
      </p:grpSp>
      <p:grpSp>
        <p:nvGrpSpPr>
          <p:cNvPr id="91" name="node30"/>
          <p:cNvGrpSpPr/>
          <p:nvPr/>
        </p:nvGrpSpPr>
        <p:grpSpPr>
          <a:xfrm>
            <a:off x="8953500" y="3200400"/>
            <a:ext cx="2514600" cy="685800"/>
            <a:chOff x="8953500" y="3200400"/>
            <a:chExt cx="2514600" cy="685800"/>
          </a:xfrm>
        </p:grpSpPr>
        <p:sp>
          <p:nvSpPr>
            <p:cNvPr id="47" name="node30.surface"/>
            <p:cNvSpPr/>
            <p:nvPr/>
          </p:nvSpPr>
          <p:spPr>
            <a:xfrm>
              <a:off x="8953500" y="3200400"/>
              <a:ext cx="2514600" cy="685800"/>
            </a:xfrm>
            <a:prstGeom prst="rect">
              <a:avLst/>
            </a:prstGeom>
            <a:solidFill>
              <a:srgbClr val="E8EEF8"/>
            </a:solidFill>
            <a:ln>
              <a:noFill/>
            </a:ln>
          </p:spPr>
        </p:sp>
      </p:grpSp>
      <p:grpSp>
        <p:nvGrpSpPr>
          <p:cNvPr id="92" name="node31"/>
          <p:cNvGrpSpPr/>
          <p:nvPr/>
        </p:nvGrpSpPr>
        <p:grpSpPr>
          <a:xfrm>
            <a:off x="9067800" y="3276600"/>
            <a:ext cx="2286000" cy="266700"/>
            <a:chOff x="9067800" y="3276600"/>
            <a:chExt cx="2286000" cy="266700"/>
          </a:xfrm>
        </p:grpSpPr>
        <p:sp>
          <p:nvSpPr>
            <p:cNvPr id="48" name="node31.text"/>
            <p:cNvSpPr/>
            <p:nvPr/>
          </p:nvSpPr>
          <p:spPr>
            <a:xfrm>
              <a:off x="9067800" y="32766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Transition</a:t>
              </a:r>
              <a:endParaRPr lang="en-US" sz="1400" spc="0" kern="0" b="0" i="0" dirty="0">
                <a:solidFill>
                  <a:srgbClr val="070154"/>
                </a:solidFill>
                <a:latin typeface="IBM Plex Sans"/>
                <a:ea typeface="IBM Plex Sans"/>
                <a:cs typeface="IBM Plex Sans"/>
              </a:endParaRPr>
            </a:p>
          </p:txBody>
        </p:sp>
      </p:grpSp>
      <p:grpSp>
        <p:nvGrpSpPr>
          <p:cNvPr id="93" name="node32"/>
          <p:cNvGrpSpPr/>
          <p:nvPr/>
        </p:nvGrpSpPr>
        <p:grpSpPr>
          <a:xfrm>
            <a:off x="9067800" y="3543300"/>
            <a:ext cx="2286000" cy="228600"/>
            <a:chOff x="9067800" y="3543300"/>
            <a:chExt cx="2286000" cy="228600"/>
          </a:xfrm>
        </p:grpSpPr>
        <p:sp>
          <p:nvSpPr>
            <p:cNvPr id="49" name="node32.text"/>
            <p:cNvSpPr/>
            <p:nvPr/>
          </p:nvSpPr>
          <p:spPr>
            <a:xfrm>
              <a:off x="9067800" y="35433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Data, people and operations</a:t>
              </a:r>
              <a:endParaRPr lang="en-US" sz="1200" spc="0" kern="0" b="0" i="0" dirty="0">
                <a:solidFill>
                  <a:srgbClr val="50658E"/>
                </a:solidFill>
                <a:latin typeface="IBM Plex Sans"/>
                <a:ea typeface="IBM Plex Sans"/>
                <a:cs typeface="IBM Plex Sans"/>
              </a:endParaRPr>
            </a:p>
          </p:txBody>
        </p:sp>
      </p:grpSp>
      <p:grpSp>
        <p:nvGrpSpPr>
          <p:cNvPr id="94" name="node33"/>
          <p:cNvGrpSpPr/>
          <p:nvPr/>
        </p:nvGrpSpPr>
        <p:grpSpPr>
          <a:xfrm>
            <a:off x="4381500" y="4114800"/>
            <a:ext cx="1600200" cy="1600200"/>
            <a:chOff x="4381500" y="4114800"/>
            <a:chExt cx="1600200" cy="1600200"/>
          </a:xfrm>
        </p:grpSpPr>
        <p:sp>
          <p:nvSpPr>
            <p:cNvPr id="50" name="node33.surface"/>
            <p:cNvSpPr/>
            <p:nvPr/>
          </p:nvSpPr>
          <p:spPr>
            <a:xfrm>
              <a:off x="4381500" y="4114800"/>
              <a:ext cx="1600200" cy="1600200"/>
            </a:xfrm>
            <a:prstGeom prst="rect">
              <a:avLst/>
            </a:prstGeom>
            <a:solidFill>
              <a:srgbClr val="E8EEF8"/>
            </a:solidFill>
            <a:ln>
              <a:noFill/>
            </a:ln>
          </p:spPr>
        </p:sp>
      </p:grpSp>
      <p:grpSp>
        <p:nvGrpSpPr>
          <p:cNvPr id="95" name="node34"/>
          <p:cNvGrpSpPr/>
          <p:nvPr/>
        </p:nvGrpSpPr>
        <p:grpSpPr>
          <a:xfrm>
            <a:off x="4533900" y="4267200"/>
            <a:ext cx="1295400" cy="304800"/>
            <a:chOff x="4533900" y="4267200"/>
            <a:chExt cx="1295400" cy="304800"/>
          </a:xfrm>
        </p:grpSpPr>
        <p:sp>
          <p:nvSpPr>
            <p:cNvPr id="51" name="node34.text"/>
            <p:cNvSpPr/>
            <p:nvPr/>
          </p:nvSpPr>
          <p:spPr>
            <a:xfrm>
              <a:off x="4533900" y="4267200"/>
              <a:ext cx="1295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grpSp>
      <p:grpSp>
        <p:nvGrpSpPr>
          <p:cNvPr id="96" name="node35"/>
          <p:cNvGrpSpPr/>
          <p:nvPr/>
        </p:nvGrpSpPr>
        <p:grpSpPr>
          <a:xfrm>
            <a:off x="4533900" y="4648200"/>
            <a:ext cx="1295400" cy="304800"/>
            <a:chOff x="4533900" y="4648200"/>
            <a:chExt cx="1295400" cy="304800"/>
          </a:xfrm>
        </p:grpSpPr>
        <p:sp>
          <p:nvSpPr>
            <p:cNvPr id="52" name="node35.text"/>
            <p:cNvSpPr/>
            <p:nvPr/>
          </p:nvSpPr>
          <p:spPr>
            <a:xfrm>
              <a:off x="4533900" y="46482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Sustain</a:t>
              </a:r>
              <a:endParaRPr lang="en-US" sz="1800" spc="-18" kern="0" b="0" i="0" dirty="0">
                <a:solidFill>
                  <a:srgbClr val="070154"/>
                </a:solidFill>
                <a:latin typeface="IBM Plex Sans SemiBold"/>
                <a:ea typeface="IBM Plex Sans SemiBold"/>
                <a:cs typeface="IBM Plex Sans SemiBold"/>
              </a:endParaRPr>
            </a:p>
          </p:txBody>
        </p:sp>
      </p:grpSp>
      <p:grpSp>
        <p:nvGrpSpPr>
          <p:cNvPr id="97" name="node36"/>
          <p:cNvGrpSpPr/>
          <p:nvPr/>
        </p:nvGrpSpPr>
        <p:grpSpPr>
          <a:xfrm>
            <a:off x="6210300" y="4114800"/>
            <a:ext cx="2514600" cy="685800"/>
            <a:chOff x="6210300" y="4114800"/>
            <a:chExt cx="2514600" cy="685800"/>
          </a:xfrm>
        </p:grpSpPr>
        <p:sp>
          <p:nvSpPr>
            <p:cNvPr id="53" name="node36.surface"/>
            <p:cNvSpPr/>
            <p:nvPr/>
          </p:nvSpPr>
          <p:spPr>
            <a:xfrm>
              <a:off x="6210300" y="4114800"/>
              <a:ext cx="2514600" cy="685800"/>
            </a:xfrm>
            <a:prstGeom prst="rect">
              <a:avLst/>
            </a:prstGeom>
            <a:solidFill>
              <a:srgbClr val="E8EEF8"/>
            </a:solidFill>
            <a:ln>
              <a:noFill/>
            </a:ln>
          </p:spPr>
        </p:sp>
      </p:grpSp>
      <p:grpSp>
        <p:nvGrpSpPr>
          <p:cNvPr id="98" name="node37"/>
          <p:cNvGrpSpPr/>
          <p:nvPr/>
        </p:nvGrpSpPr>
        <p:grpSpPr>
          <a:xfrm>
            <a:off x="6324600" y="4191000"/>
            <a:ext cx="2286000" cy="266700"/>
            <a:chOff x="6324600" y="4191000"/>
            <a:chExt cx="2286000" cy="266700"/>
          </a:xfrm>
        </p:grpSpPr>
        <p:sp>
          <p:nvSpPr>
            <p:cNvPr id="54" name="node37.text"/>
            <p:cNvSpPr/>
            <p:nvPr/>
          </p:nvSpPr>
          <p:spPr>
            <a:xfrm>
              <a:off x="6324600" y="41910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Operate</a:t>
              </a:r>
              <a:endParaRPr lang="en-US" sz="1400" spc="0" kern="0" b="0" i="0" dirty="0">
                <a:solidFill>
                  <a:srgbClr val="070154"/>
                </a:solidFill>
                <a:latin typeface="IBM Plex Sans"/>
                <a:ea typeface="IBM Plex Sans"/>
                <a:cs typeface="IBM Plex Sans"/>
              </a:endParaRPr>
            </a:p>
          </p:txBody>
        </p:sp>
      </p:grpSp>
      <p:grpSp>
        <p:nvGrpSpPr>
          <p:cNvPr id="99" name="node38"/>
          <p:cNvGrpSpPr/>
          <p:nvPr/>
        </p:nvGrpSpPr>
        <p:grpSpPr>
          <a:xfrm>
            <a:off x="6324600" y="4457700"/>
            <a:ext cx="2286000" cy="228600"/>
            <a:chOff x="6324600" y="4457700"/>
            <a:chExt cx="2286000" cy="228600"/>
          </a:xfrm>
        </p:grpSpPr>
        <p:sp>
          <p:nvSpPr>
            <p:cNvPr id="55" name="node38.text"/>
            <p:cNvSpPr/>
            <p:nvPr/>
          </p:nvSpPr>
          <p:spPr>
            <a:xfrm>
              <a:off x="6324600" y="44577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Service, security and cost</a:t>
              </a:r>
              <a:endParaRPr lang="en-US" sz="1200" spc="0" kern="0" b="0" i="0" dirty="0">
                <a:solidFill>
                  <a:srgbClr val="50658E"/>
                </a:solidFill>
                <a:latin typeface="IBM Plex Sans"/>
                <a:ea typeface="IBM Plex Sans"/>
                <a:cs typeface="IBM Plex Sans"/>
              </a:endParaRPr>
            </a:p>
          </p:txBody>
        </p:sp>
      </p:grpSp>
      <p:grpSp>
        <p:nvGrpSpPr>
          <p:cNvPr id="100" name="node39"/>
          <p:cNvGrpSpPr/>
          <p:nvPr/>
        </p:nvGrpSpPr>
        <p:grpSpPr>
          <a:xfrm>
            <a:off x="8953500" y="4114800"/>
            <a:ext cx="2514600" cy="685800"/>
            <a:chOff x="8953500" y="4114800"/>
            <a:chExt cx="2514600" cy="685800"/>
          </a:xfrm>
        </p:grpSpPr>
        <p:sp>
          <p:nvSpPr>
            <p:cNvPr id="56" name="node39.surface"/>
            <p:cNvSpPr/>
            <p:nvPr/>
          </p:nvSpPr>
          <p:spPr>
            <a:xfrm>
              <a:off x="8953500" y="4114800"/>
              <a:ext cx="2514600" cy="685800"/>
            </a:xfrm>
            <a:prstGeom prst="rect">
              <a:avLst/>
            </a:prstGeom>
            <a:solidFill>
              <a:srgbClr val="E8EEF8"/>
            </a:solidFill>
            <a:ln>
              <a:noFill/>
            </a:ln>
          </p:spPr>
        </p:sp>
      </p:grpSp>
      <p:grpSp>
        <p:nvGrpSpPr>
          <p:cNvPr id="101" name="node40"/>
          <p:cNvGrpSpPr/>
          <p:nvPr/>
        </p:nvGrpSpPr>
        <p:grpSpPr>
          <a:xfrm>
            <a:off x="9067800" y="4191000"/>
            <a:ext cx="2286000" cy="266700"/>
            <a:chOff x="9067800" y="4191000"/>
            <a:chExt cx="2286000" cy="266700"/>
          </a:xfrm>
        </p:grpSpPr>
        <p:sp>
          <p:nvSpPr>
            <p:cNvPr id="57" name="node40.text"/>
            <p:cNvSpPr/>
            <p:nvPr/>
          </p:nvSpPr>
          <p:spPr>
            <a:xfrm>
              <a:off x="9067800" y="41910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Evolve</a:t>
              </a:r>
              <a:endParaRPr lang="en-US" sz="1400" spc="0" kern="0" b="0" i="0" dirty="0">
                <a:solidFill>
                  <a:srgbClr val="070154"/>
                </a:solidFill>
                <a:latin typeface="IBM Plex Sans"/>
                <a:ea typeface="IBM Plex Sans"/>
                <a:cs typeface="IBM Plex Sans"/>
              </a:endParaRPr>
            </a:p>
          </p:txBody>
        </p:sp>
      </p:grpSp>
      <p:grpSp>
        <p:nvGrpSpPr>
          <p:cNvPr id="102" name="node41"/>
          <p:cNvGrpSpPr/>
          <p:nvPr/>
        </p:nvGrpSpPr>
        <p:grpSpPr>
          <a:xfrm>
            <a:off x="9067800" y="4457700"/>
            <a:ext cx="2286000" cy="228600"/>
            <a:chOff x="9067800" y="4457700"/>
            <a:chExt cx="2286000" cy="228600"/>
          </a:xfrm>
        </p:grpSpPr>
        <p:sp>
          <p:nvSpPr>
            <p:cNvPr id="58" name="node41.text"/>
            <p:cNvSpPr/>
            <p:nvPr/>
          </p:nvSpPr>
          <p:spPr>
            <a:xfrm>
              <a:off x="9067800" y="44577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Knowledge, backlog, value</a:t>
              </a:r>
              <a:endParaRPr lang="en-US" sz="1200" spc="0" kern="0" b="0" i="0" dirty="0">
                <a:solidFill>
                  <a:srgbClr val="50658E"/>
                </a:solidFill>
                <a:latin typeface="IBM Plex Sans"/>
                <a:ea typeface="IBM Plex Sans"/>
                <a:cs typeface="IBM Plex Sans"/>
              </a:endParaRPr>
            </a:p>
          </p:txBody>
        </p:sp>
      </p:grpSp>
      <p:grpSp>
        <p:nvGrpSpPr>
          <p:cNvPr id="103" name="node42"/>
          <p:cNvGrpSpPr/>
          <p:nvPr/>
        </p:nvGrpSpPr>
        <p:grpSpPr>
          <a:xfrm>
            <a:off x="6210300" y="5029200"/>
            <a:ext cx="2514600" cy="685800"/>
            <a:chOff x="6210300" y="5029200"/>
            <a:chExt cx="2514600" cy="685800"/>
          </a:xfrm>
        </p:grpSpPr>
        <p:sp>
          <p:nvSpPr>
            <p:cNvPr id="59" name="node42.surface"/>
            <p:cNvSpPr/>
            <p:nvPr/>
          </p:nvSpPr>
          <p:spPr>
            <a:xfrm>
              <a:off x="6210300" y="5029200"/>
              <a:ext cx="2514600" cy="685800"/>
            </a:xfrm>
            <a:prstGeom prst="rect">
              <a:avLst/>
            </a:prstGeom>
            <a:solidFill>
              <a:srgbClr val="E8EEF8"/>
            </a:solidFill>
            <a:ln>
              <a:noFill/>
            </a:ln>
          </p:spPr>
        </p:sp>
      </p:grpSp>
      <p:grpSp>
        <p:nvGrpSpPr>
          <p:cNvPr id="104" name="node43"/>
          <p:cNvGrpSpPr/>
          <p:nvPr/>
        </p:nvGrpSpPr>
        <p:grpSpPr>
          <a:xfrm>
            <a:off x="6324600" y="5105400"/>
            <a:ext cx="2286000" cy="266700"/>
            <a:chOff x="6324600" y="5105400"/>
            <a:chExt cx="2286000" cy="266700"/>
          </a:xfrm>
        </p:grpSpPr>
        <p:sp>
          <p:nvSpPr>
            <p:cNvPr id="60" name="node43.text"/>
            <p:cNvSpPr/>
            <p:nvPr/>
          </p:nvSpPr>
          <p:spPr>
            <a:xfrm>
              <a:off x="6324600" y="51054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Decommission</a:t>
              </a:r>
              <a:endParaRPr lang="en-US" sz="1400" spc="0" kern="0" b="0" i="0" dirty="0">
                <a:solidFill>
                  <a:srgbClr val="070154"/>
                </a:solidFill>
                <a:latin typeface="IBM Plex Sans"/>
                <a:ea typeface="IBM Plex Sans"/>
                <a:cs typeface="IBM Plex Sans"/>
              </a:endParaRPr>
            </a:p>
          </p:txBody>
        </p:sp>
      </p:grpSp>
      <p:grpSp>
        <p:nvGrpSpPr>
          <p:cNvPr id="105" name="node44"/>
          <p:cNvGrpSpPr/>
          <p:nvPr/>
        </p:nvGrpSpPr>
        <p:grpSpPr>
          <a:xfrm>
            <a:off x="6324600" y="5372100"/>
            <a:ext cx="2286000" cy="228600"/>
            <a:chOff x="6324600" y="5372100"/>
            <a:chExt cx="2286000" cy="228600"/>
          </a:xfrm>
        </p:grpSpPr>
        <p:sp>
          <p:nvSpPr>
            <p:cNvPr id="61" name="node44.text"/>
            <p:cNvSpPr/>
            <p:nvPr/>
          </p:nvSpPr>
          <p:spPr>
            <a:xfrm>
              <a:off x="6324600" y="5372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Retire dependencies and cost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Modernization — Core Alternatives</dc:title>
  <dc:subject>PptxGenJS Presentation</dc:subject>
  <dc:creator>West Monroe</dc:creator>
  <cp:lastModifiedBy>West Monroe</cp:lastModifiedBy>
  <cp:revision>1</cp:revision>
  <dcterms:created xsi:type="dcterms:W3CDTF">2000-01-01T00:00:00Z</dcterms:created>
  <dcterms:modified xsi:type="dcterms:W3CDTF">2000-01-01T00:00:00Z</dcterms:modified>
</cp:coreProperties>
</file>