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1.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2.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3.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4.xml" ContentType="application/vnd.openxmlformats-officedocument.presentationml.tags+xml"/>
  <Override PartName="/ppt/notesSlides/notesSlide40.xml" ContentType="application/vnd.openxmlformats-officedocument.presentationml.notesSlide+xml"/>
  <Override PartName="/ppt/tags/tag15.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16.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2"/>
    <p:sldMasterId id="2147484019" r:id="rId13"/>
  </p:sldMasterIdLst>
  <p:notesMasterIdLst>
    <p:notesMasterId r:id="rId97"/>
  </p:notesMasterIdLst>
  <p:handoutMasterIdLst>
    <p:handoutMasterId r:id="rId98"/>
  </p:handoutMasterIdLst>
  <p:sldIdLst>
    <p:sldId id="303" r:id="rId14"/>
    <p:sldId id="301" r:id="rId15"/>
    <p:sldId id="278" r:id="rId16"/>
    <p:sldId id="2147483504" r:id="rId17"/>
    <p:sldId id="277" r:id="rId18"/>
    <p:sldId id="259" r:id="rId19"/>
    <p:sldId id="2147483475" r:id="rId20"/>
    <p:sldId id="2147483507" r:id="rId21"/>
    <p:sldId id="2147483508" r:id="rId22"/>
    <p:sldId id="276" r:id="rId23"/>
    <p:sldId id="2147483510" r:id="rId24"/>
    <p:sldId id="280" r:id="rId25"/>
    <p:sldId id="300" r:id="rId26"/>
    <p:sldId id="279" r:id="rId27"/>
    <p:sldId id="654" r:id="rId28"/>
    <p:sldId id="650" r:id="rId29"/>
    <p:sldId id="272" r:id="rId30"/>
    <p:sldId id="659" r:id="rId31"/>
    <p:sldId id="275" r:id="rId32"/>
    <p:sldId id="661" r:id="rId33"/>
    <p:sldId id="299" r:id="rId34"/>
    <p:sldId id="2147483514" r:id="rId35"/>
    <p:sldId id="281" r:id="rId36"/>
    <p:sldId id="283" r:id="rId37"/>
    <p:sldId id="2147483517" r:id="rId38"/>
    <p:sldId id="653" r:id="rId39"/>
    <p:sldId id="290" r:id="rId40"/>
    <p:sldId id="298" r:id="rId41"/>
    <p:sldId id="2147483520" r:id="rId42"/>
    <p:sldId id="282" r:id="rId43"/>
    <p:sldId id="284" r:id="rId44"/>
    <p:sldId id="297" r:id="rId45"/>
    <p:sldId id="285" r:id="rId46"/>
    <p:sldId id="286" r:id="rId47"/>
    <p:sldId id="287" r:id="rId48"/>
    <p:sldId id="296" r:id="rId49"/>
    <p:sldId id="2147483523" r:id="rId50"/>
    <p:sldId id="274" r:id="rId51"/>
    <p:sldId id="294" r:id="rId52"/>
    <p:sldId id="293" r:id="rId53"/>
    <p:sldId id="292" r:id="rId54"/>
    <p:sldId id="308" r:id="rId55"/>
    <p:sldId id="291" r:id="rId56"/>
    <p:sldId id="273" r:id="rId57"/>
    <p:sldId id="288" r:id="rId58"/>
    <p:sldId id="289" r:id="rId59"/>
    <p:sldId id="2147483526" r:id="rId60"/>
    <p:sldId id="2147483527" r:id="rId61"/>
    <p:sldId id="2147483528" r:id="rId62"/>
    <p:sldId id="2147483529" r:id="rId63"/>
    <p:sldId id="2147483530" r:id="rId64"/>
    <p:sldId id="304" r:id="rId65"/>
    <p:sldId id="256" r:id="rId66"/>
    <p:sldId id="260" r:id="rId67"/>
    <p:sldId id="553" r:id="rId68"/>
    <p:sldId id="2147483644" r:id="rId69"/>
    <p:sldId id="627" r:id="rId70"/>
    <p:sldId id="264" r:id="rId71"/>
    <p:sldId id="265" r:id="rId72"/>
    <p:sldId id="266" r:id="rId73"/>
    <p:sldId id="267" r:id="rId74"/>
    <p:sldId id="258" r:id="rId75"/>
    <p:sldId id="2147483645" r:id="rId76"/>
    <p:sldId id="2147483646" r:id="rId77"/>
    <p:sldId id="2147483647" r:id="rId78"/>
    <p:sldId id="262" r:id="rId79"/>
    <p:sldId id="263" r:id="rId80"/>
    <p:sldId id="268" r:id="rId81"/>
    <p:sldId id="257" r:id="rId82"/>
    <p:sldId id="269" r:id="rId83"/>
    <p:sldId id="261" r:id="rId84"/>
    <p:sldId id="270" r:id="rId85"/>
    <p:sldId id="271" r:id="rId86"/>
    <p:sldId id="2147483531" r:id="rId87"/>
    <p:sldId id="305" r:id="rId88"/>
    <p:sldId id="295" r:id="rId89"/>
    <p:sldId id="312" r:id="rId90"/>
    <p:sldId id="306" r:id="rId91"/>
    <p:sldId id="307" r:id="rId92"/>
    <p:sldId id="311" r:id="rId93"/>
    <p:sldId id="309" r:id="rId94"/>
    <p:sldId id="310" r:id="rId95"/>
    <p:sldId id="302" r:id="rId96"/>
  </p:sldIdLst>
  <p:sldSz cx="12192000" cy="6858000"/>
  <p:notesSz cx="6858000" cy="9144000"/>
  <p:defaultTex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3FADA4B0-ED7A-B541-A46D-D60500C9DDD3}">
          <p14:sldIdLst>
            <p14:sldId id="303"/>
          </p14:sldIdLst>
        </p14:section>
        <p14:section name="Modernization Context" id="{25FD0C56-FC60-084B-ACB0-86A4B864DA33}">
          <p14:sldIdLst>
            <p14:sldId id="301"/>
            <p14:sldId id="278"/>
            <p14:sldId id="2147483504"/>
            <p14:sldId id="277"/>
            <p14:sldId id="259"/>
            <p14:sldId id="2147483475"/>
            <p14:sldId id="2147483507"/>
            <p14:sldId id="2147483508"/>
            <p14:sldId id="276"/>
            <p14:sldId id="2147483510"/>
            <p14:sldId id="280"/>
          </p14:sldIdLst>
        </p14:section>
        <p14:section name="WM Modernization Perspective" id="{64F746B3-29D8-0A46-AB52-AC5F4D428F71}">
          <p14:sldIdLst>
            <p14:sldId id="300"/>
            <p14:sldId id="279"/>
            <p14:sldId id="654"/>
            <p14:sldId id="650"/>
            <p14:sldId id="272"/>
            <p14:sldId id="659"/>
            <p14:sldId id="275"/>
            <p14:sldId id="661"/>
          </p14:sldIdLst>
        </p14:section>
        <p14:section name="Lifecycle" id="{15463FCB-9AFA-C342-9189-D7620181C0F9}">
          <p14:sldIdLst>
            <p14:sldId id="299"/>
            <p14:sldId id="2147483514"/>
            <p14:sldId id="281"/>
            <p14:sldId id="283"/>
            <p14:sldId id="2147483517"/>
            <p14:sldId id="653"/>
            <p14:sldId id="290"/>
          </p14:sldIdLst>
        </p14:section>
        <p14:section name="Rationalize" id="{D3B0BC43-E89C-6A4F-9B09-6AD5B5D634EF}">
          <p14:sldIdLst>
            <p14:sldId id="298"/>
            <p14:sldId id="2147483520"/>
            <p14:sldId id="282"/>
            <p14:sldId id="284"/>
          </p14:sldIdLst>
        </p14:section>
        <p14:section name="Build" id="{6EAD5416-A174-7C4B-B2C1-0C8F76908E03}">
          <p14:sldIdLst>
            <p14:sldId id="297"/>
            <p14:sldId id="285"/>
            <p14:sldId id="286"/>
            <p14:sldId id="287"/>
          </p14:sldIdLst>
        </p14:section>
        <p14:section name="Sustain" id="{3E306D5D-A972-514E-BC6E-4BAC817A96F8}">
          <p14:sldIdLst>
            <p14:sldId id="296"/>
            <p14:sldId id="2147483523"/>
            <p14:sldId id="274"/>
          </p14:sldIdLst>
        </p14:section>
        <p14:section name="Modernization Assets Portfolio" id="{18FF864A-9795-DD4C-81FA-4F18617725B9}">
          <p14:sldIdLst>
            <p14:sldId id="294"/>
            <p14:sldId id="293"/>
            <p14:sldId id="292"/>
            <p14:sldId id="308"/>
          </p14:sldIdLst>
        </p14:section>
        <p14:section name="Evolve" id="{768868D1-FE22-F542-9EEB-642F38F9D183}">
          <p14:sldIdLst>
            <p14:sldId id="291"/>
            <p14:sldId id="273"/>
            <p14:sldId id="288"/>
            <p14:sldId id="289"/>
            <p14:sldId id="2147483526"/>
            <p14:sldId id="2147483527"/>
            <p14:sldId id="2147483528"/>
            <p14:sldId id="2147483529"/>
          </p14:sldIdLst>
        </p14:section>
        <p14:section name="Case Studies" id="{549FD6CE-1FCC-3C43-A789-88F99434E571}">
          <p14:sldIdLst>
            <p14:sldId id="2147483530"/>
            <p14:sldId id="304"/>
            <p14:sldId id="256"/>
            <p14:sldId id="260"/>
            <p14:sldId id="553"/>
            <p14:sldId id="2147483644"/>
            <p14:sldId id="627"/>
            <p14:sldId id="264"/>
            <p14:sldId id="265"/>
            <p14:sldId id="266"/>
            <p14:sldId id="267"/>
            <p14:sldId id="258"/>
            <p14:sldId id="2147483645"/>
            <p14:sldId id="2147483646"/>
            <p14:sldId id="2147483647"/>
            <p14:sldId id="262"/>
            <p14:sldId id="263"/>
            <p14:sldId id="268"/>
            <p14:sldId id="257"/>
            <p14:sldId id="269"/>
            <p14:sldId id="261"/>
            <p14:sldId id="270"/>
            <p14:sldId id="271"/>
            <p14:sldId id="2147483531"/>
            <p14:sldId id="305"/>
          </p14:sldIdLst>
        </p14:section>
        <p14:section name="Off the Shelf" id="{92406556-2EAB-8748-B604-420B091398A0}">
          <p14:sldIdLst>
            <p14:sldId id="295"/>
            <p14:sldId id="312"/>
            <p14:sldId id="306"/>
            <p14:sldId id="307"/>
            <p14:sldId id="311"/>
            <p14:sldId id="309"/>
            <p14:sldId id="310"/>
          </p14:sldIdLst>
        </p14:section>
        <p14:section name="First Call" id="{0A216C4C-952A-8649-BDDE-A51B408DCC9E}">
          <p14:sldIdLst>
            <p14:sldId id="30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92B7614-8922-7145-47CD-49253DD27453}" name="Sarah Kennedy" initials="" userId="S::skennedy@westmonroepartners.com::6df22a9d-8d6a-468d-bc70-610d95ee093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0154"/>
    <a:srgbClr val="F5F5F5"/>
    <a:srgbClr val="00FCB0"/>
    <a:srgbClr val="000000"/>
    <a:srgbClr val="F900D3"/>
    <a:srgbClr val="00E8FA"/>
    <a:srgbClr val="1DD566"/>
    <a:srgbClr val="F6EB21"/>
    <a:srgbClr val="FFC700"/>
    <a:srgbClr val="B74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49" autoAdjust="0"/>
    <p:restoredTop sz="94744"/>
  </p:normalViewPr>
  <p:slideViewPr>
    <p:cSldViewPr snapToGrid="0">
      <p:cViewPr varScale="1">
        <p:scale>
          <a:sx n="216" d="100"/>
          <a:sy n="216" d="100"/>
        </p:scale>
        <p:origin x="216" y="5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85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3.xml"/><Relationship Id="rId21" Type="http://schemas.openxmlformats.org/officeDocument/2006/relationships/slide" Target="slides/slide8.xml"/><Relationship Id="rId42" Type="http://schemas.openxmlformats.org/officeDocument/2006/relationships/slide" Target="slides/slide29.xml"/><Relationship Id="rId47" Type="http://schemas.openxmlformats.org/officeDocument/2006/relationships/slide" Target="slides/slide34.xml"/><Relationship Id="rId63" Type="http://schemas.openxmlformats.org/officeDocument/2006/relationships/slide" Target="slides/slide50.xml"/><Relationship Id="rId68" Type="http://schemas.openxmlformats.org/officeDocument/2006/relationships/slide" Target="slides/slide55.xml"/><Relationship Id="rId84" Type="http://schemas.openxmlformats.org/officeDocument/2006/relationships/slide" Target="slides/slide71.xml"/><Relationship Id="rId89" Type="http://schemas.openxmlformats.org/officeDocument/2006/relationships/slide" Target="slides/slide76.xml"/><Relationship Id="rId16" Type="http://schemas.openxmlformats.org/officeDocument/2006/relationships/slide" Target="slides/slide3.xml"/><Relationship Id="rId11" Type="http://schemas.openxmlformats.org/officeDocument/2006/relationships/customXml" Target="../customXml/item11.xml"/><Relationship Id="rId32" Type="http://schemas.openxmlformats.org/officeDocument/2006/relationships/slide" Target="slides/slide19.xml"/><Relationship Id="rId37" Type="http://schemas.openxmlformats.org/officeDocument/2006/relationships/slide" Target="slides/slide24.xml"/><Relationship Id="rId53" Type="http://schemas.openxmlformats.org/officeDocument/2006/relationships/slide" Target="slides/slide40.xml"/><Relationship Id="rId58" Type="http://schemas.openxmlformats.org/officeDocument/2006/relationships/slide" Target="slides/slide45.xml"/><Relationship Id="rId74" Type="http://schemas.openxmlformats.org/officeDocument/2006/relationships/slide" Target="slides/slide61.xml"/><Relationship Id="rId79" Type="http://schemas.openxmlformats.org/officeDocument/2006/relationships/slide" Target="slides/slide66.xml"/><Relationship Id="rId102" Type="http://schemas.openxmlformats.org/officeDocument/2006/relationships/tableStyles" Target="tableStyles.xml"/><Relationship Id="rId5" Type="http://schemas.openxmlformats.org/officeDocument/2006/relationships/customXml" Target="../customXml/item5.xml"/><Relationship Id="rId90" Type="http://schemas.openxmlformats.org/officeDocument/2006/relationships/slide" Target="slides/slide77.xml"/><Relationship Id="rId95" Type="http://schemas.openxmlformats.org/officeDocument/2006/relationships/slide" Target="slides/slide82.xml"/><Relationship Id="rId22" Type="http://schemas.openxmlformats.org/officeDocument/2006/relationships/slide" Target="slides/slide9.xml"/><Relationship Id="rId27" Type="http://schemas.openxmlformats.org/officeDocument/2006/relationships/slide" Target="slides/slide14.xml"/><Relationship Id="rId43" Type="http://schemas.openxmlformats.org/officeDocument/2006/relationships/slide" Target="slides/slide30.xml"/><Relationship Id="rId48" Type="http://schemas.openxmlformats.org/officeDocument/2006/relationships/slide" Target="slides/slide35.xml"/><Relationship Id="rId64" Type="http://schemas.openxmlformats.org/officeDocument/2006/relationships/slide" Target="slides/slide51.xml"/><Relationship Id="rId69" Type="http://schemas.openxmlformats.org/officeDocument/2006/relationships/slide" Target="slides/slide56.xml"/><Relationship Id="rId80" Type="http://schemas.openxmlformats.org/officeDocument/2006/relationships/slide" Target="slides/slide67.xml"/><Relationship Id="rId85" Type="http://schemas.openxmlformats.org/officeDocument/2006/relationships/slide" Target="slides/slide72.xml"/><Relationship Id="rId12" Type="http://schemas.openxmlformats.org/officeDocument/2006/relationships/slideMaster" Target="slideMasters/slideMaster1.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slide" Target="slides/slide46.xml"/><Relationship Id="rId67" Type="http://schemas.openxmlformats.org/officeDocument/2006/relationships/slide" Target="slides/slide54.xml"/><Relationship Id="rId103" Type="http://schemas.microsoft.com/office/2016/11/relationships/changesInfo" Target="changesInfos/changesInfo1.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slide" Target="slides/slide49.xml"/><Relationship Id="rId70" Type="http://schemas.openxmlformats.org/officeDocument/2006/relationships/slide" Target="slides/slide57.xml"/><Relationship Id="rId75" Type="http://schemas.openxmlformats.org/officeDocument/2006/relationships/slide" Target="slides/slide62.xml"/><Relationship Id="rId83" Type="http://schemas.openxmlformats.org/officeDocument/2006/relationships/slide" Target="slides/slide70.xml"/><Relationship Id="rId88" Type="http://schemas.openxmlformats.org/officeDocument/2006/relationships/slide" Target="slides/slide75.xml"/><Relationship Id="rId91" Type="http://schemas.openxmlformats.org/officeDocument/2006/relationships/slide" Target="slides/slide78.xml"/><Relationship Id="rId96" Type="http://schemas.openxmlformats.org/officeDocument/2006/relationships/slide" Target="slides/slide83.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 Type="http://schemas.openxmlformats.org/officeDocument/2006/relationships/customXml" Target="../customXml/item10.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slide" Target="slides/slide52.xml"/><Relationship Id="rId73" Type="http://schemas.openxmlformats.org/officeDocument/2006/relationships/slide" Target="slides/slide60.xml"/><Relationship Id="rId78" Type="http://schemas.openxmlformats.org/officeDocument/2006/relationships/slide" Target="slides/slide65.xml"/><Relationship Id="rId81" Type="http://schemas.openxmlformats.org/officeDocument/2006/relationships/slide" Target="slides/slide68.xml"/><Relationship Id="rId86" Type="http://schemas.openxmlformats.org/officeDocument/2006/relationships/slide" Target="slides/slide73.xml"/><Relationship Id="rId94" Type="http://schemas.openxmlformats.org/officeDocument/2006/relationships/slide" Target="slides/slide81.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slideMaster" Target="slideMasters/slideMaster2.xml"/><Relationship Id="rId18" Type="http://schemas.openxmlformats.org/officeDocument/2006/relationships/slide" Target="slides/slide5.xml"/><Relationship Id="rId39" Type="http://schemas.openxmlformats.org/officeDocument/2006/relationships/slide" Target="slides/slide26.xml"/><Relationship Id="rId34" Type="http://schemas.openxmlformats.org/officeDocument/2006/relationships/slide" Target="slides/slide21.xml"/><Relationship Id="rId50" Type="http://schemas.openxmlformats.org/officeDocument/2006/relationships/slide" Target="slides/slide37.xml"/><Relationship Id="rId55" Type="http://schemas.openxmlformats.org/officeDocument/2006/relationships/slide" Target="slides/slide42.xml"/><Relationship Id="rId76" Type="http://schemas.openxmlformats.org/officeDocument/2006/relationships/slide" Target="slides/slide63.xml"/><Relationship Id="rId97" Type="http://schemas.openxmlformats.org/officeDocument/2006/relationships/notesMaster" Target="notesMasters/notesMaster1.xml"/><Relationship Id="rId104" Type="http://schemas.microsoft.com/office/2018/10/relationships/authors" Target="authors.xml"/><Relationship Id="rId7" Type="http://schemas.openxmlformats.org/officeDocument/2006/relationships/customXml" Target="../customXml/item7.xml"/><Relationship Id="rId71" Type="http://schemas.openxmlformats.org/officeDocument/2006/relationships/slide" Target="slides/slide58.xml"/><Relationship Id="rId92" Type="http://schemas.openxmlformats.org/officeDocument/2006/relationships/slide" Target="slides/slide79.xml"/><Relationship Id="rId2" Type="http://schemas.openxmlformats.org/officeDocument/2006/relationships/customXml" Target="../customXml/item2.xml"/><Relationship Id="rId29" Type="http://schemas.openxmlformats.org/officeDocument/2006/relationships/slide" Target="slides/slide16.xml"/><Relationship Id="rId24" Type="http://schemas.openxmlformats.org/officeDocument/2006/relationships/slide" Target="slides/slide11.xml"/><Relationship Id="rId40" Type="http://schemas.openxmlformats.org/officeDocument/2006/relationships/slide" Target="slides/slide27.xml"/><Relationship Id="rId45" Type="http://schemas.openxmlformats.org/officeDocument/2006/relationships/slide" Target="slides/slide32.xml"/><Relationship Id="rId66" Type="http://schemas.openxmlformats.org/officeDocument/2006/relationships/slide" Target="slides/slide53.xml"/><Relationship Id="rId87" Type="http://schemas.openxmlformats.org/officeDocument/2006/relationships/slide" Target="slides/slide74.xml"/><Relationship Id="rId61" Type="http://schemas.openxmlformats.org/officeDocument/2006/relationships/slide" Target="slides/slide48.xml"/><Relationship Id="rId82" Type="http://schemas.openxmlformats.org/officeDocument/2006/relationships/slide" Target="slides/slide69.xml"/><Relationship Id="rId19" Type="http://schemas.openxmlformats.org/officeDocument/2006/relationships/slide" Target="slides/slide6.xml"/><Relationship Id="rId14" Type="http://schemas.openxmlformats.org/officeDocument/2006/relationships/slide" Target="slides/slide1.xml"/><Relationship Id="rId30" Type="http://schemas.openxmlformats.org/officeDocument/2006/relationships/slide" Target="slides/slide17.xml"/><Relationship Id="rId35" Type="http://schemas.openxmlformats.org/officeDocument/2006/relationships/slide" Target="slides/slide22.xml"/><Relationship Id="rId56" Type="http://schemas.openxmlformats.org/officeDocument/2006/relationships/slide" Target="slides/slide43.xml"/><Relationship Id="rId77" Type="http://schemas.openxmlformats.org/officeDocument/2006/relationships/slide" Target="slides/slide64.xml"/><Relationship Id="rId100" Type="http://schemas.openxmlformats.org/officeDocument/2006/relationships/viewProps" Target="viewProps.xml"/><Relationship Id="rId8" Type="http://schemas.openxmlformats.org/officeDocument/2006/relationships/customXml" Target="../customXml/item8.xml"/><Relationship Id="rId51" Type="http://schemas.openxmlformats.org/officeDocument/2006/relationships/slide" Target="slides/slide38.xml"/><Relationship Id="rId72" Type="http://schemas.openxmlformats.org/officeDocument/2006/relationships/slide" Target="slides/slide59.xml"/><Relationship Id="rId93" Type="http://schemas.openxmlformats.org/officeDocument/2006/relationships/slide" Target="slides/slide80.xml"/><Relationship Id="rId98" Type="http://schemas.openxmlformats.org/officeDocument/2006/relationships/handoutMaster" Target="handoutMasters/handoutMaster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 Scott" userId="1913be8a-4603-46d8-b612-bfc881c3abfb" providerId="ADAL" clId="{B93A5389-13E6-5166-ABDF-36725E1A5C9F}"/>
    <pc:docChg chg="custSel addSld delSld modSld sldOrd addSection delSection modSection">
      <pc:chgData name="Ri Scott" userId="1913be8a-4603-46d8-b612-bfc881c3abfb" providerId="ADAL" clId="{B93A5389-13E6-5166-ABDF-36725E1A5C9F}" dt="2026-09-18T19:38:37.855" v="386" actId="20577"/>
      <pc:docMkLst>
        <pc:docMk/>
      </pc:docMkLst>
      <pc:sldChg chg="modSp">
        <pc:chgData name="Ri Scott" userId="1913be8a-4603-46d8-b612-bfc881c3abfb" providerId="ADAL" clId="{B93A5389-13E6-5166-ABDF-36725E1A5C9F}" dt="2026-09-18T18:27:02.667" v="254" actId="20577"/>
        <pc:sldMkLst>
          <pc:docMk/>
          <pc:sldMk cId="1406807346" sldId="280"/>
        </pc:sldMkLst>
        <pc:spChg chg="mod">
          <ac:chgData name="Ri Scott" userId="1913be8a-4603-46d8-b612-bfc881c3abfb" providerId="ADAL" clId="{B93A5389-13E6-5166-ABDF-36725E1A5C9F}" dt="2026-09-18T18:27:02.667" v="254" actId="20577"/>
          <ac:spMkLst>
            <pc:docMk/>
            <pc:sldMk cId="1406807346" sldId="280"/>
            <ac:spMk id="3" creationId="{4409C6FB-AD74-6CFC-9A1B-D9D67F820E40}"/>
          </ac:spMkLst>
        </pc:spChg>
      </pc:sldChg>
      <pc:sldChg chg="ord">
        <pc:chgData name="Ri Scott" userId="1913be8a-4603-46d8-b612-bfc881c3abfb" providerId="ADAL" clId="{B93A5389-13E6-5166-ABDF-36725E1A5C9F}" dt="2026-09-18T18:21:54.643" v="133" actId="20578"/>
        <pc:sldMkLst>
          <pc:docMk/>
          <pc:sldMk cId="1408016223" sldId="291"/>
        </pc:sldMkLst>
      </pc:sldChg>
      <pc:sldChg chg="ord">
        <pc:chgData name="Ri Scott" userId="1913be8a-4603-46d8-b612-bfc881c3abfb" providerId="ADAL" clId="{B93A5389-13E6-5166-ABDF-36725E1A5C9F}" dt="2026-09-18T18:22:09.820" v="137" actId="20578"/>
        <pc:sldMkLst>
          <pc:docMk/>
          <pc:sldMk cId="2315894019" sldId="292"/>
        </pc:sldMkLst>
      </pc:sldChg>
      <pc:sldChg chg="ord">
        <pc:chgData name="Ri Scott" userId="1913be8a-4603-46d8-b612-bfc881c3abfb" providerId="ADAL" clId="{B93A5389-13E6-5166-ABDF-36725E1A5C9F}" dt="2026-09-18T18:22:08.110" v="136" actId="20578"/>
        <pc:sldMkLst>
          <pc:docMk/>
          <pc:sldMk cId="2166417811" sldId="293"/>
        </pc:sldMkLst>
      </pc:sldChg>
      <pc:sldChg chg="ord">
        <pc:chgData name="Ri Scott" userId="1913be8a-4603-46d8-b612-bfc881c3abfb" providerId="ADAL" clId="{B93A5389-13E6-5166-ABDF-36725E1A5C9F}" dt="2026-09-18T18:22:05.329" v="135" actId="20578"/>
        <pc:sldMkLst>
          <pc:docMk/>
          <pc:sldMk cId="336893430" sldId="294"/>
        </pc:sldMkLst>
      </pc:sldChg>
      <pc:sldChg chg="ord">
        <pc:chgData name="Ri Scott" userId="1913be8a-4603-46d8-b612-bfc881c3abfb" providerId="ADAL" clId="{B93A5389-13E6-5166-ABDF-36725E1A5C9F}" dt="2026-09-18T18:20:47.304" v="127" actId="20578"/>
        <pc:sldMkLst>
          <pc:docMk/>
          <pc:sldMk cId="726144807" sldId="295"/>
        </pc:sldMkLst>
      </pc:sldChg>
      <pc:sldChg chg="ord">
        <pc:chgData name="Ri Scott" userId="1913be8a-4603-46d8-b612-bfc881c3abfb" providerId="ADAL" clId="{B93A5389-13E6-5166-ABDF-36725E1A5C9F}" dt="2026-09-18T18:20:38.735" v="126" actId="20578"/>
        <pc:sldMkLst>
          <pc:docMk/>
          <pc:sldMk cId="3495099976" sldId="296"/>
        </pc:sldMkLst>
      </pc:sldChg>
      <pc:sldChg chg="ord">
        <pc:chgData name="Ri Scott" userId="1913be8a-4603-46d8-b612-bfc881c3abfb" providerId="ADAL" clId="{B93A5389-13E6-5166-ABDF-36725E1A5C9F}" dt="2026-09-18T18:20:37.265" v="125" actId="20578"/>
        <pc:sldMkLst>
          <pc:docMk/>
          <pc:sldMk cId="2037920039" sldId="297"/>
        </pc:sldMkLst>
      </pc:sldChg>
      <pc:sldChg chg="ord">
        <pc:chgData name="Ri Scott" userId="1913be8a-4603-46d8-b612-bfc881c3abfb" providerId="ADAL" clId="{B93A5389-13E6-5166-ABDF-36725E1A5C9F}" dt="2026-09-18T18:20:35.568" v="124" actId="20578"/>
        <pc:sldMkLst>
          <pc:docMk/>
          <pc:sldMk cId="684256726" sldId="298"/>
        </pc:sldMkLst>
      </pc:sldChg>
      <pc:sldChg chg="ord">
        <pc:chgData name="Ri Scott" userId="1913be8a-4603-46d8-b612-bfc881c3abfb" providerId="ADAL" clId="{B93A5389-13E6-5166-ABDF-36725E1A5C9F}" dt="2026-09-18T18:20:32.765" v="123" actId="20578"/>
        <pc:sldMkLst>
          <pc:docMk/>
          <pc:sldMk cId="1420321112" sldId="299"/>
        </pc:sldMkLst>
      </pc:sldChg>
      <pc:sldChg chg="ord">
        <pc:chgData name="Ri Scott" userId="1913be8a-4603-46d8-b612-bfc881c3abfb" providerId="ADAL" clId="{B93A5389-13E6-5166-ABDF-36725E1A5C9F}" dt="2026-09-18T18:20:26.870" v="122" actId="20578"/>
        <pc:sldMkLst>
          <pc:docMk/>
          <pc:sldMk cId="3892617706" sldId="300"/>
        </pc:sldMkLst>
      </pc:sldChg>
      <pc:sldChg chg="ord">
        <pc:chgData name="Ri Scott" userId="1913be8a-4603-46d8-b612-bfc881c3abfb" providerId="ADAL" clId="{B93A5389-13E6-5166-ABDF-36725E1A5C9F}" dt="2026-09-18T18:20:02.389" v="121" actId="20578"/>
        <pc:sldMkLst>
          <pc:docMk/>
          <pc:sldMk cId="1875072082" sldId="301"/>
        </pc:sldMkLst>
      </pc:sldChg>
      <pc:sldChg chg="ord">
        <pc:chgData name="Ri Scott" userId="1913be8a-4603-46d8-b612-bfc881c3abfb" providerId="ADAL" clId="{B93A5389-13E6-5166-ABDF-36725E1A5C9F}" dt="2026-09-18T18:19:35.788" v="119" actId="20578"/>
        <pc:sldMkLst>
          <pc:docMk/>
          <pc:sldMk cId="1428959477" sldId="302"/>
        </pc:sldMkLst>
      </pc:sldChg>
      <pc:sldChg chg="ord">
        <pc:chgData name="Ri Scott" userId="1913be8a-4603-46d8-b612-bfc881c3abfb" providerId="ADAL" clId="{B93A5389-13E6-5166-ABDF-36725E1A5C9F}" dt="2026-09-18T18:19:10.864" v="118" actId="20578"/>
        <pc:sldMkLst>
          <pc:docMk/>
          <pc:sldMk cId="1837914788" sldId="303"/>
        </pc:sldMkLst>
      </pc:sldChg>
      <pc:sldChg chg="new">
        <pc:chgData name="Ri Scott" userId="1913be8a-4603-46d8-b612-bfc881c3abfb" providerId="ADAL" clId="{B93A5389-13E6-5166-ABDF-36725E1A5C9F}" dt="2026-09-18T18:16:32.839" v="76" actId="680"/>
        <pc:sldMkLst>
          <pc:docMk/>
          <pc:sldMk cId="657852620" sldId="305"/>
        </pc:sldMkLst>
      </pc:sldChg>
      <pc:sldChg chg="add">
        <pc:chgData name="Ri Scott" userId="1913be8a-4603-46d8-b612-bfc881c3abfb" providerId="ADAL" clId="{B93A5389-13E6-5166-ABDF-36725E1A5C9F}" dt="2026-09-18T18:16:45.264" v="79"/>
        <pc:sldMkLst>
          <pc:docMk/>
          <pc:sldMk cId="3070412106" sldId="306"/>
        </pc:sldMkLst>
      </pc:sldChg>
      <pc:sldChg chg="modSp add mod">
        <pc:chgData name="Ri Scott" userId="1913be8a-4603-46d8-b612-bfc881c3abfb" providerId="ADAL" clId="{B93A5389-13E6-5166-ABDF-36725E1A5C9F}" dt="2026-09-18T18:16:45.365" v="91" actId="27636"/>
        <pc:sldMkLst>
          <pc:docMk/>
          <pc:sldMk cId="1769132644" sldId="307"/>
        </pc:sldMkLst>
        <pc:spChg chg="mod">
          <ac:chgData name="Ri Scott" userId="1913be8a-4603-46d8-b612-bfc881c3abfb" providerId="ADAL" clId="{B93A5389-13E6-5166-ABDF-36725E1A5C9F}" dt="2026-09-18T18:16:45.362" v="86" actId="27636"/>
          <ac:spMkLst>
            <pc:docMk/>
            <pc:sldMk cId="1769132644" sldId="307"/>
            <ac:spMk id="6" creationId="{EBCC07D0-4EB5-5D58-C574-16C7F0408C08}"/>
          </ac:spMkLst>
        </pc:spChg>
        <pc:spChg chg="mod">
          <ac:chgData name="Ri Scott" userId="1913be8a-4603-46d8-b612-bfc881c3abfb" providerId="ADAL" clId="{B93A5389-13E6-5166-ABDF-36725E1A5C9F}" dt="2026-09-18T18:16:45.363" v="88" actId="27636"/>
          <ac:spMkLst>
            <pc:docMk/>
            <pc:sldMk cId="1769132644" sldId="307"/>
            <ac:spMk id="9" creationId="{EDE0C46F-11CE-4C58-BC4B-94AAEE7F5C05}"/>
          </ac:spMkLst>
        </pc:spChg>
        <pc:spChg chg="mod">
          <ac:chgData name="Ri Scott" userId="1913be8a-4603-46d8-b612-bfc881c3abfb" providerId="ADAL" clId="{B93A5389-13E6-5166-ABDF-36725E1A5C9F}" dt="2026-09-18T18:16:45.364" v="90" actId="27636"/>
          <ac:spMkLst>
            <pc:docMk/>
            <pc:sldMk cId="1769132644" sldId="307"/>
            <ac:spMk id="29" creationId="{D063B6C8-4D00-483E-AA6C-1FC03DC94216}"/>
          </ac:spMkLst>
        </pc:spChg>
        <pc:spChg chg="mod">
          <ac:chgData name="Ri Scott" userId="1913be8a-4603-46d8-b612-bfc881c3abfb" providerId="ADAL" clId="{B93A5389-13E6-5166-ABDF-36725E1A5C9F}" dt="2026-09-18T18:16:45.364" v="89" actId="27636"/>
          <ac:spMkLst>
            <pc:docMk/>
            <pc:sldMk cId="1769132644" sldId="307"/>
            <ac:spMk id="40" creationId="{C2FA07E2-BC79-421D-BB32-F5193FC1CA3A}"/>
          </ac:spMkLst>
        </pc:spChg>
        <pc:spChg chg="mod">
          <ac:chgData name="Ri Scott" userId="1913be8a-4603-46d8-b612-bfc881c3abfb" providerId="ADAL" clId="{B93A5389-13E6-5166-ABDF-36725E1A5C9F}" dt="2026-09-18T18:16:45.361" v="84" actId="27636"/>
          <ac:spMkLst>
            <pc:docMk/>
            <pc:sldMk cId="1769132644" sldId="307"/>
            <ac:spMk id="47" creationId="{1C9EC413-2E34-4436-85F1-9B552A756AA8}"/>
          </ac:spMkLst>
        </pc:spChg>
        <pc:spChg chg="mod">
          <ac:chgData name="Ri Scott" userId="1913be8a-4603-46d8-b612-bfc881c3abfb" providerId="ADAL" clId="{B93A5389-13E6-5166-ABDF-36725E1A5C9F}" dt="2026-09-18T18:16:45.361" v="85" actId="27636"/>
          <ac:spMkLst>
            <pc:docMk/>
            <pc:sldMk cId="1769132644" sldId="307"/>
            <ac:spMk id="51" creationId="{2144AC11-76C8-4CCE-A444-358B6EA44257}"/>
          </ac:spMkLst>
        </pc:spChg>
        <pc:spChg chg="mod">
          <ac:chgData name="Ri Scott" userId="1913be8a-4603-46d8-b612-bfc881c3abfb" providerId="ADAL" clId="{B93A5389-13E6-5166-ABDF-36725E1A5C9F}" dt="2026-09-18T18:16:45.359" v="80" actId="27636"/>
          <ac:spMkLst>
            <pc:docMk/>
            <pc:sldMk cId="1769132644" sldId="307"/>
            <ac:spMk id="62" creationId="{E0747104-7F33-466B-A380-3AC992D30F21}"/>
          </ac:spMkLst>
        </pc:spChg>
        <pc:spChg chg="mod">
          <ac:chgData name="Ri Scott" userId="1913be8a-4603-46d8-b612-bfc881c3abfb" providerId="ADAL" clId="{B93A5389-13E6-5166-ABDF-36725E1A5C9F}" dt="2026-09-18T18:16:45.360" v="83" actId="27636"/>
          <ac:spMkLst>
            <pc:docMk/>
            <pc:sldMk cId="1769132644" sldId="307"/>
            <ac:spMk id="69" creationId="{9ABB170B-4EA7-4A09-B7B3-BE577F50906A}"/>
          </ac:spMkLst>
        </pc:spChg>
        <pc:spChg chg="mod">
          <ac:chgData name="Ri Scott" userId="1913be8a-4603-46d8-b612-bfc881c3abfb" providerId="ADAL" clId="{B93A5389-13E6-5166-ABDF-36725E1A5C9F}" dt="2026-09-18T18:16:45.365" v="91" actId="27636"/>
          <ac:spMkLst>
            <pc:docMk/>
            <pc:sldMk cId="1769132644" sldId="307"/>
            <ac:spMk id="73" creationId="{79D56208-7E41-4FAA-BDEB-391A7DA54893}"/>
          </ac:spMkLst>
        </pc:spChg>
        <pc:spChg chg="mod">
          <ac:chgData name="Ri Scott" userId="1913be8a-4603-46d8-b612-bfc881c3abfb" providerId="ADAL" clId="{B93A5389-13E6-5166-ABDF-36725E1A5C9F}" dt="2026-09-18T18:16:45.360" v="82" actId="27636"/>
          <ac:spMkLst>
            <pc:docMk/>
            <pc:sldMk cId="1769132644" sldId="307"/>
            <ac:spMk id="80" creationId="{50AE35B9-BB96-45F9-B686-333EF24EE2F7}"/>
          </ac:spMkLst>
        </pc:spChg>
        <pc:spChg chg="mod">
          <ac:chgData name="Ri Scott" userId="1913be8a-4603-46d8-b612-bfc881c3abfb" providerId="ADAL" clId="{B93A5389-13E6-5166-ABDF-36725E1A5C9F}" dt="2026-09-18T18:16:45.363" v="87" actId="27636"/>
          <ac:spMkLst>
            <pc:docMk/>
            <pc:sldMk cId="1769132644" sldId="307"/>
            <ac:spMk id="84" creationId="{1BDE58F0-091F-44F4-B1AD-1E474E6B5F8A}"/>
          </ac:spMkLst>
        </pc:spChg>
        <pc:spChg chg="mod">
          <ac:chgData name="Ri Scott" userId="1913be8a-4603-46d8-b612-bfc881c3abfb" providerId="ADAL" clId="{B93A5389-13E6-5166-ABDF-36725E1A5C9F}" dt="2026-09-18T18:16:45.360" v="81" actId="27636"/>
          <ac:spMkLst>
            <pc:docMk/>
            <pc:sldMk cId="1769132644" sldId="307"/>
            <ac:spMk id="91" creationId="{AC8A47FA-B28E-4EEE-8803-B7C37FCE0C34}"/>
          </ac:spMkLst>
        </pc:spChg>
      </pc:sldChg>
      <pc:sldChg chg="new">
        <pc:chgData name="Ri Scott" userId="1913be8a-4603-46d8-b612-bfc881c3abfb" providerId="ADAL" clId="{B93A5389-13E6-5166-ABDF-36725E1A5C9F}" dt="2026-09-18T18:22:01.669" v="134" actId="680"/>
        <pc:sldMkLst>
          <pc:docMk/>
          <pc:sldMk cId="1530475686" sldId="308"/>
        </pc:sldMkLst>
      </pc:sldChg>
      <pc:sldChg chg="add setBg">
        <pc:chgData name="Ri Scott" userId="1913be8a-4603-46d8-b612-bfc881c3abfb" providerId="ADAL" clId="{B93A5389-13E6-5166-ABDF-36725E1A5C9F}" dt="2026-09-18T19:37:56.861" v="255"/>
        <pc:sldMkLst>
          <pc:docMk/>
          <pc:sldMk cId="1667808066" sldId="309"/>
        </pc:sldMkLst>
      </pc:sldChg>
      <pc:sldChg chg="add setBg">
        <pc:chgData name="Ri Scott" userId="1913be8a-4603-46d8-b612-bfc881c3abfb" providerId="ADAL" clId="{B93A5389-13E6-5166-ABDF-36725E1A5C9F}" dt="2026-09-18T19:37:56.861" v="255"/>
        <pc:sldMkLst>
          <pc:docMk/>
          <pc:sldMk cId="589605529" sldId="310"/>
        </pc:sldMkLst>
      </pc:sldChg>
      <pc:sldChg chg="modSp new mod">
        <pc:chgData name="Ri Scott" userId="1913be8a-4603-46d8-b612-bfc881c3abfb" providerId="ADAL" clId="{B93A5389-13E6-5166-ABDF-36725E1A5C9F}" dt="2026-09-18T19:38:13.209" v="320" actId="20577"/>
        <pc:sldMkLst>
          <pc:docMk/>
          <pc:sldMk cId="2200989992" sldId="311"/>
        </pc:sldMkLst>
        <pc:spChg chg="mod">
          <ac:chgData name="Ri Scott" userId="1913be8a-4603-46d8-b612-bfc881c3abfb" providerId="ADAL" clId="{B93A5389-13E6-5166-ABDF-36725E1A5C9F}" dt="2026-09-18T19:38:13.209" v="320" actId="20577"/>
          <ac:spMkLst>
            <pc:docMk/>
            <pc:sldMk cId="2200989992" sldId="311"/>
            <ac:spMk id="4" creationId="{2881D76D-F45E-ED94-2AA3-E6673985D8F3}"/>
          </ac:spMkLst>
        </pc:spChg>
      </pc:sldChg>
      <pc:sldChg chg="modSp add mod">
        <pc:chgData name="Ri Scott" userId="1913be8a-4603-46d8-b612-bfc881c3abfb" providerId="ADAL" clId="{B93A5389-13E6-5166-ABDF-36725E1A5C9F}" dt="2026-09-18T19:38:37.855" v="386" actId="20577"/>
        <pc:sldMkLst>
          <pc:docMk/>
          <pc:sldMk cId="2828777571" sldId="312"/>
        </pc:sldMkLst>
        <pc:spChg chg="mod">
          <ac:chgData name="Ri Scott" userId="1913be8a-4603-46d8-b612-bfc881c3abfb" providerId="ADAL" clId="{B93A5389-13E6-5166-ABDF-36725E1A5C9F}" dt="2026-09-18T19:38:37.855" v="386" actId="20577"/>
          <ac:spMkLst>
            <pc:docMk/>
            <pc:sldMk cId="2828777571" sldId="312"/>
            <ac:spMk id="4" creationId="{C8B61855-4715-52D8-994D-C6FDDD95212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7F437-34E4-457B-ACAA-C109BC5AD2B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a:extLst>
              <a:ext uri="{FF2B5EF4-FFF2-40B4-BE49-F238E27FC236}">
                <a16:creationId xmlns:a16="http://schemas.microsoft.com/office/drawing/2014/main" id="{36C9805C-0D4B-456D-9316-F45962E2F5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B91EB8-1FC0-49BA-B8A0-9D4051C7D0E5}" type="datetimeFigureOut">
              <a:rPr lang="en-US" smtClean="0">
                <a:latin typeface="Arial" panose="020B0604020202020204" pitchFamily="34" charset="0"/>
              </a:rPr>
              <a:t>9/18/26</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C3170BBA-56B5-4091-9B11-25E056164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11017362-806F-4EA8-BAA6-0CA6D364BC8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6AC5C8-AA3E-49B6-9C0B-3EDF0860F219}"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3942118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A2FD89D3-6540-412A-8DF7-24F6B362E6BB}" type="datetimeFigureOut">
              <a:rPr lang="en-US" smtClean="0"/>
              <a:pPr/>
              <a:t>9/18/26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53BCCA8E-E054-4945-93F6-8F3E2A7D5A26}" type="slidenum">
              <a:rPr lang="en-US" smtClean="0"/>
              <a:pPr/>
              <a:t>‹#›</a:t>
            </a:fld>
            <a:endParaRPr lang="en-US"/>
          </a:p>
        </p:txBody>
      </p:sp>
    </p:spTree>
    <p:extLst>
      <p:ext uri="{BB962C8B-B14F-4D97-AF65-F5344CB8AC3E}">
        <p14:creationId xmlns:p14="http://schemas.microsoft.com/office/powerpoint/2010/main" val="2230956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gartner.com/doc/reprints?id=1-2ES92EBS&amp;ct=230823&amp;st=sb" TargetMode="External"/><Relationship Id="rId2" Type="http://schemas.openxmlformats.org/officeDocument/2006/relationships/slide" Target="../slides/slide15.xml"/><Relationship Id="rId1" Type="http://schemas.openxmlformats.org/officeDocument/2006/relationships/notesMaster" Target="../notesMasters/notesMaster1.xml"/><Relationship Id="rId5" Type="http://schemas.openxmlformats.org/officeDocument/2006/relationships/hyperlink" Target="https://www.blackduck.com/content/dam/black-duck/en-us/reports/rep-ossra-2024.pdf" TargetMode="External"/><Relationship Id="rId4" Type="http://schemas.openxmlformats.org/officeDocument/2006/relationships/hyperlink" Target="https://www.mckinsey.com/capabilities/mckinsey-digital/our-insights/tech-debt-reclaiming-tech-equity"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Source deck: Software Modernization Walking Deck_04132026.pptx.</a:t>
            </a:r>
            <a:endParaRPr lang="en-US"/>
          </a:p>
          <a:p>
            <a:r>
              <a:rPr lang="en-US" dirty="0"/>
              <a:t>Insert source slides 9 through 11, 13 through 14, and 15 through 31 unchanged after this divider.</a:t>
            </a:r>
            <a:endParaRPr lang="en-US"/>
          </a:p>
          <a:p>
            <a:r>
              <a:rPr lang="en-US" dirty="0"/>
              <a:t>Omit source slide 12 because it is the old contact call to action.</a:t>
            </a:r>
            <a:endParaRPr lang="en-US"/>
          </a:p>
          <a:p>
            <a:r>
              <a:rPr lang="en-US" dirty="0"/>
              <a:t>Preserve source order, formatting, metrics, client descriptors, caveats, and notes.</a:t>
            </a:r>
            <a:endParaRPr lang="en-US"/>
          </a:p>
          <a:p>
            <a:r>
              <a:rPr lang="en-US" dirty="0"/>
              <a:t>The source is internal and verify-before-external-reuse.</a:t>
            </a:r>
            <a:endParaRPr lang="en-US"/>
          </a:p>
          <a:p>
            <a:r>
              <a:rPr lang="en-US" dirty="0"/>
              <a:t>Some outcomes may be modeled or identified rather than realized, and notes may contain names not visible on slides.</a:t>
            </a:r>
            <a:endParaRPr lang="en-US"/>
          </a:p>
          <a:p>
            <a:r>
              <a:rPr lang="en-US" dirty="0"/>
              <a:t>Transition: After a selected proof example, bring the audience back to one specific account action.</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Source deck: Software Modernization Walking Deck_04132026.pptx.</a:t>
            </a:r>
            <a:endParaRPr lang="en-US"/>
          </a:p>
          <a:p>
            <a:r>
              <a:rPr lang="en-US" dirty="0"/>
              <a:t>Insert source slides 9 through 11, 13 through 14, and 15 through 31 unchanged after this divider.</a:t>
            </a:r>
            <a:endParaRPr lang="en-US"/>
          </a:p>
          <a:p>
            <a:r>
              <a:rPr lang="en-US" dirty="0"/>
              <a:t>Omit source slide 12 because it is the old contact call to action.</a:t>
            </a:r>
            <a:endParaRPr lang="en-US"/>
          </a:p>
          <a:p>
            <a:r>
              <a:rPr lang="en-US" dirty="0"/>
              <a:t>Preserve source order, formatting, metrics, client descriptors, caveats, and notes.</a:t>
            </a:r>
            <a:endParaRPr lang="en-US"/>
          </a:p>
          <a:p>
            <a:r>
              <a:rPr lang="en-US" dirty="0"/>
              <a:t>The source is internal and verify-before-external-reuse.</a:t>
            </a:r>
            <a:endParaRPr lang="en-US"/>
          </a:p>
          <a:p>
            <a:r>
              <a:rPr lang="en-US" dirty="0"/>
              <a:t>Some outcomes may be modeled or identified rather than realized, and notes may contain names not visible on slides.</a:t>
            </a:r>
            <a:endParaRPr lang="en-US"/>
          </a:p>
          <a:p>
            <a:r>
              <a:rPr lang="en-US" dirty="0"/>
              <a:t>Transition: After a selected proof example, bring the audience back to one specific account action.</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r>
              <a:rPr lang="en-US" sz="1200" b="1"/>
              <a:t>SPEAKER BEATS</a:t>
            </a:r>
          </a:p>
          <a:p>
            <a:pPr marL="0" indent="0"/>
            <a:r>
              <a:rPr lang="en-US" sz="1100"/>
              <a:t>The historical choice often looked poor in every direction: continue carrying legacy risk, reorganize the business around a packaged platform, or accept a large custom rebuild.</a:t>
            </a:r>
          </a:p>
          <a:p>
            <a:pPr marL="0" indent="0"/>
            <a:r>
              <a:rPr lang="en-US" sz="1100"/>
              <a:t>Paint a future the business wants. Modernization can unify an acquired platform, unlock a market, redesign a consequential process, or create the foundation for agent-enabled work.</a:t>
            </a:r>
          </a:p>
          <a:p>
            <a:pPr marL="0" indent="0"/>
            <a:r>
              <a:rPr lang="en-US" sz="1100"/>
              <a:t>“One-tenth of what you expect” is a conditional thought experiment. It invites the audience to reconsider deferred opportunities; it is not a claim that every program now costs one-tenth as much.</a:t>
            </a:r>
          </a:p>
          <a:p>
            <a:pPr marL="0" indent="0"/>
            <a:r>
              <a:rPr lang="en-US" sz="1100"/>
              <a:t>The strategic claim is expanded choice. Business-fit modernization can deserve consideration more often.</a:t>
            </a:r>
          </a:p>
          <a:p>
            <a:pPr marL="0" indent="0"/>
            <a:r>
              <a:rPr lang="en-US" sz="1200" b="1"/>
              <a:t>TRANSITION</a:t>
            </a:r>
          </a:p>
          <a:p>
            <a:pPr marL="0" indent="0"/>
            <a:r>
              <a:rPr lang="en-US" sz="1100"/>
              <a:t>The first consequence of changed economics is strategic choice. The business no longer has to assume that its only practical future is to preserve legacy systems or conform to a broad packaged platform.</a:t>
            </a:r>
          </a:p>
          <a:p>
            <a:pPr marL="0" indent="0"/>
            <a:r>
              <a:rPr lang="en-US" sz="1200" b="1"/>
              <a:t>EVIDENCE / GUARDRAIL</a:t>
            </a:r>
          </a:p>
          <a:p>
            <a:pPr marL="0" indent="0"/>
            <a:r>
              <a:rPr lang="en-US" sz="1100"/>
              <a:t>Treat “the script has flipped” as the campaign thesis. Slide 1A explains the strategic implication, and slide 2 shows the workstreams and cases behind it. Do not attach a universal percentage or claim that every modernization is now inexpensive.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sz="1200" b="1"/>
              <a:t>CORE MESSAGE</a:t>
            </a:r>
            <a:endParaRPr lang="en-US"/>
          </a:p>
          <a:p>
            <a:r>
              <a:rPr lang="en-US" sz="1100"/>
              <a:t>The business is no longer forced to reshape itself around a single software model. Organizations can make a more informed capability-by-capability choice about where off-the-shelf enterprise software should lead and where technology should be built around the business.</a:t>
            </a:r>
            <a:endParaRPr lang="en-US"/>
          </a:p>
          <a:p>
            <a:r>
              <a:rPr lang="en-US" sz="1200" b="1"/>
              <a:t>OFF-THE-SHELF ENTERPRISE SOFTWARE</a:t>
            </a:r>
            <a:endParaRPr lang="en-US"/>
          </a:p>
          <a:p>
            <a:r>
              <a:rPr lang="en-US" sz="1100"/>
              <a:t>Large enterprise platforms such as CRM and ERP bring the expertise of a product company that may spend years refining workflows, data models and operating patterns for a function or industry.</a:t>
            </a:r>
            <a:endParaRPr lang="en-US"/>
          </a:p>
          <a:p>
            <a:r>
              <a:rPr lang="en-US" sz="1100"/>
              <a:t>The buyer benefits from that outside expertise and avoids building the core product. The tradeoff is that the platform normally must be configured, trimmed, integrated and tailored—and the organization often adapts its people, language, processes and data to the technology selected.</a:t>
            </a:r>
            <a:endParaRPr lang="en-US"/>
          </a:p>
          <a:p>
            <a:r>
              <a:rPr lang="en-US" sz="1200" b="1"/>
              <a:t>BUSINESS-FIT CUSTOM SOFTWARE</a:t>
            </a:r>
            <a:endParaRPr lang="en-US"/>
          </a:p>
          <a:p>
            <a:r>
              <a:rPr lang="en-US" sz="1100"/>
              <a:t>A business-fit solution starts with the expertise inside the organization: the processes, practices, controls, customer experience and ways of working that have proved effective for that business.</a:t>
            </a:r>
            <a:endParaRPr lang="en-US"/>
          </a:p>
          <a:p>
            <a:r>
              <a:rPr lang="en-US" sz="1100"/>
              <a:t>Technology can be designed around the organization’s people and process rather than requiring the organization to adopt a vendor’s model. This does not mean preserving every current process; modernization should still improve work that creates friction or limits performance.</a:t>
            </a:r>
            <a:endParaRPr lang="en-US"/>
          </a:p>
          <a:p>
            <a:r>
              <a:rPr lang="en-US" sz="1200" b="1"/>
              <a:t>WHY REVISIT THE DECISION</a:t>
            </a:r>
            <a:endParaRPr lang="en-US"/>
          </a:p>
          <a:p>
            <a:r>
              <a:rPr lang="en-US" sz="1100"/>
              <a:t>Earlier buy-versus-build decisions were made when custom modernization required more time, specialized labor and cost. If AI-assisted analysis, prototyping, engineering, testing and maintenance materially reduce those costs, the economic threshold for a business-fit build changes.</a:t>
            </a:r>
            <a:endParaRPr lang="en-US"/>
          </a:p>
          <a:p>
            <a:r>
              <a:rPr lang="en-US" sz="1100"/>
              <a:t>For CRM, ERP and other large enterprise capabilities, re-evaluate prior assumptions using current implementation cost, speed to value, organizational-change burden, lifecycle operations, risk and strategic value. Do not assume that yesterday’s answer remains the right answer.</a:t>
            </a:r>
            <a:endParaRPr lang="en-US"/>
          </a:p>
          <a:p>
            <a:r>
              <a:rPr lang="en-US" sz="1200" b="1"/>
              <a:t>EVIDENCE POSTURE</a:t>
            </a:r>
            <a:endParaRPr lang="en-US"/>
          </a:p>
          <a:p>
            <a:r>
              <a:rPr lang="en-US" sz="1100"/>
              <a:t>The message is expanded buyer choice—not the demise of SaaS and not a universal preference for custom development. Off-the-shelf software remains compelling where vendor expertise, ecosystem scale, regulatory standards or common processes create value. Lower custom-build cost and lower change burden remain hypotheses to validate for each client and capability.</a:t>
            </a:r>
            <a:endParaRPr lang="en-US"/>
          </a:p>
          <a:p>
            <a:r>
              <a:rPr lang="en-US" sz="1200" b="1"/>
              <a:t>TRANSITION</a:t>
            </a:r>
            <a:endParaRPr lang="en-US"/>
          </a:p>
          <a:p>
            <a:r>
              <a:rPr lang="en-US" sz="1100"/>
              <a:t>The strategic choice becomes credible only if the underlying modernization work can now be performed at a different cost, speed and quality. The next section should demonstrate that evidence.</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sz="1200" b="1"/>
              <a:t>CORE MESSAGE</a:t>
            </a:r>
            <a:endParaRPr lang="en-US"/>
          </a:p>
          <a:p>
            <a:r>
              <a:rPr lang="en-US" sz="1100"/>
              <a:t>The business is no longer forced to reshape itself around a single software model. Organizations can make a more informed capability-by-capability choice about where off-the-shelf enterprise software should lead and where technology should be built around the business.</a:t>
            </a:r>
            <a:endParaRPr lang="en-US"/>
          </a:p>
          <a:p>
            <a:r>
              <a:rPr lang="en-US" sz="1200" b="1"/>
              <a:t>OFF-THE-SHELF ENTERPRISE SOFTWARE</a:t>
            </a:r>
            <a:endParaRPr lang="en-US"/>
          </a:p>
          <a:p>
            <a:r>
              <a:rPr lang="en-US" sz="1100"/>
              <a:t>Large enterprise platforms such as CRM and ERP bring the expertise of a product company that may spend years refining workflows, data models and operating patterns for a function or industry.</a:t>
            </a:r>
            <a:endParaRPr lang="en-US"/>
          </a:p>
          <a:p>
            <a:r>
              <a:rPr lang="en-US" sz="1100"/>
              <a:t>The buyer benefits from that outside expertise and avoids building the core product. The tradeoff is that the platform normally must be configured, trimmed, integrated and tailored—and the organization often adapts its people, language, processes and data to the technology selected.</a:t>
            </a:r>
            <a:endParaRPr lang="en-US"/>
          </a:p>
          <a:p>
            <a:r>
              <a:rPr lang="en-US" sz="1200" b="1"/>
              <a:t>BUSINESS-FIT CUSTOM SOFTWARE</a:t>
            </a:r>
            <a:endParaRPr lang="en-US"/>
          </a:p>
          <a:p>
            <a:r>
              <a:rPr lang="en-US" sz="1100"/>
              <a:t>A business-fit solution starts with the expertise inside the organization: the processes, practices, controls, customer experience and ways of working that have proved effective for that business.</a:t>
            </a:r>
            <a:endParaRPr lang="en-US"/>
          </a:p>
          <a:p>
            <a:r>
              <a:rPr lang="en-US" sz="1100"/>
              <a:t>Technology can be designed around the organization’s people and process rather than requiring the organization to adopt a vendor’s model. This does not mean preserving every current process; modernization should still improve work that creates friction or limits performance.</a:t>
            </a:r>
            <a:endParaRPr lang="en-US"/>
          </a:p>
          <a:p>
            <a:r>
              <a:rPr lang="en-US" sz="1200" b="1"/>
              <a:t>WHY REVISIT THE DECISION</a:t>
            </a:r>
            <a:endParaRPr lang="en-US"/>
          </a:p>
          <a:p>
            <a:r>
              <a:rPr lang="en-US" sz="1100"/>
              <a:t>Earlier buy-versus-build decisions were made when custom modernization required more time, specialized labor and cost. If AI-assisted analysis, prototyping, engineering, testing and maintenance materially reduce those costs, the economic threshold for a business-fit build changes.</a:t>
            </a:r>
            <a:endParaRPr lang="en-US"/>
          </a:p>
          <a:p>
            <a:r>
              <a:rPr lang="en-US" sz="1100"/>
              <a:t>For CRM, ERP and other large enterprise capabilities, re-evaluate prior assumptions using current implementation cost, speed to value, organizational-change burden, lifecycle operations, risk and strategic value. Do not assume that yesterday’s answer remains the right answer.</a:t>
            </a:r>
            <a:endParaRPr lang="en-US"/>
          </a:p>
          <a:p>
            <a:r>
              <a:rPr lang="en-US" sz="1200" b="1"/>
              <a:t>EVIDENCE POSTURE</a:t>
            </a:r>
            <a:endParaRPr lang="en-US"/>
          </a:p>
          <a:p>
            <a:r>
              <a:rPr lang="en-US" sz="1100"/>
              <a:t>The message is expanded buyer choice—not the demise of SaaS and not a universal preference for custom development. Off-the-shelf software remains compelling where vendor expertise, ecosystem scale, regulatory standards or common processes create value. Lower custom-build cost and lower change burden remain hypotheses to validate for each client and capability.</a:t>
            </a:r>
            <a:endParaRPr lang="en-US"/>
          </a:p>
          <a:p>
            <a:r>
              <a:rPr lang="en-US" sz="1200" b="1"/>
              <a:t>TRANSITION</a:t>
            </a:r>
            <a:endParaRPr lang="en-US"/>
          </a:p>
          <a:p>
            <a:r>
              <a:rPr lang="en-US" sz="1100"/>
              <a:t>The strategic choice becomes credible only if the underlying modernization work can now be performed at a different cost, speed and quality. The next section should demonstrate that evidence.</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lgn="l">
              <a:spcBef>
                <a:spcPts val="0"/>
              </a:spcBef>
              <a:spcAft>
                <a:spcPts val="60"/>
              </a:spcAft>
              <a:buNone/>
            </a:pPr>
            <a:r>
              <a:rPr lang="en-US" sz="1150" b="1">
                <a:solidFill>
                  <a:srgbClr val="000000"/>
                </a:solidFill>
                <a:latin typeface="Arial"/>
              </a:rPr>
              <a:t>SPEAKER BEATS</a:t>
            </a:r>
          </a:p>
          <a:p>
            <a:pPr algn="l">
              <a:spcBef>
                <a:spcPts val="60"/>
              </a:spcBef>
              <a:spcAft>
                <a:spcPts val="60"/>
              </a:spcAft>
              <a:buNone/>
            </a:pPr>
            <a:r>
              <a:rPr lang="en-US" sz="1000" b="0">
                <a:solidFill>
                  <a:srgbClr val="000000"/>
                </a:solidFill>
                <a:latin typeface="Arial"/>
              </a:rPr>
              <a:t>The technical measures matter only when they connect to a business outcome. These sources support three value pools: meeting an urgent deadline, protecting continuity during a high-scale transition, and lowering recurring operating effort.</a:t>
            </a:r>
          </a:p>
          <a:p>
            <a:pPr algn="l">
              <a:spcBef>
                <a:spcPts val="60"/>
              </a:spcBef>
              <a:spcAft>
                <a:spcPts val="60"/>
              </a:spcAft>
              <a:buNone/>
            </a:pPr>
            <a:endParaRPr lang="en-US" sz="1000" b="0">
              <a:solidFill>
                <a:srgbClr val="000000"/>
              </a:solidFill>
              <a:latin typeface="Arial"/>
            </a:endParaRPr>
          </a:p>
          <a:p>
            <a:pPr algn="l">
              <a:spcBef>
                <a:spcPts val="60"/>
              </a:spcBef>
              <a:spcAft>
                <a:spcPts val="60"/>
              </a:spcAft>
              <a:buNone/>
            </a:pPr>
            <a:r>
              <a:rPr lang="en-US" sz="1150" b="1">
                <a:solidFill>
                  <a:srgbClr val="000000"/>
                </a:solidFill>
                <a:latin typeface="Arial"/>
              </a:rPr>
              <a:t>ACCELERATE DELIVERY — HEALTHCARE PROFESSIONAL ASSOCIATION</a:t>
            </a:r>
          </a:p>
          <a:p>
            <a:pPr algn="l">
              <a:spcBef>
                <a:spcPts val="60"/>
              </a:spcBef>
              <a:spcAft>
                <a:spcPts val="60"/>
              </a:spcAft>
              <a:buNone/>
            </a:pPr>
            <a:r>
              <a:rPr lang="en-US" sz="1000" b="0">
                <a:solidFill>
                  <a:srgbClr val="000000"/>
                </a:solidFill>
                <a:latin typeface="Arial"/>
              </a:rPr>
              <a:t>A critical customer-facing application faced an urgent AngularJS end-of-life deadline. West Monroe assessed and rewrote the application within five months, strengthened security, and created repeatable patterns for future enhancements. The business value is deadline certainty and a maintainable base for continued change. The source does not provide project cost, a before-AI duration, or evidence that AI caused the five-month result.</a:t>
            </a:r>
          </a:p>
          <a:p>
            <a:pPr algn="l">
              <a:spcBef>
                <a:spcPts val="60"/>
              </a:spcBef>
              <a:spcAft>
                <a:spcPts val="60"/>
              </a:spcAft>
              <a:buNone/>
            </a:pPr>
            <a:endParaRPr lang="en-US" sz="1000" b="0">
              <a:solidFill>
                <a:srgbClr val="000000"/>
              </a:solidFill>
              <a:latin typeface="Arial"/>
            </a:endParaRPr>
          </a:p>
          <a:p>
            <a:pPr algn="l">
              <a:spcBef>
                <a:spcPts val="60"/>
              </a:spcBef>
              <a:spcAft>
                <a:spcPts val="60"/>
              </a:spcAft>
              <a:buNone/>
            </a:pPr>
            <a:r>
              <a:rPr lang="en-US" sz="1150" b="1">
                <a:solidFill>
                  <a:srgbClr val="000000"/>
                </a:solidFill>
                <a:latin typeface="Arial"/>
              </a:rPr>
              <a:t>PROTECT CONTINUITY — LARGE INVESTOR-OWNED UTILITY</a:t>
            </a:r>
          </a:p>
          <a:p>
            <a:pPr algn="l">
              <a:spcBef>
                <a:spcPts val="60"/>
              </a:spcBef>
              <a:spcAft>
                <a:spcPts val="60"/>
              </a:spcAft>
              <a:buNone/>
            </a:pPr>
            <a:r>
              <a:rPr lang="en-US" sz="1000" b="0">
                <a:solidFill>
                  <a:srgbClr val="000000"/>
                </a:solidFill>
                <a:latin typeface="Arial"/>
              </a:rPr>
              <a:t>The client needed to modernize a decade-old solar interconnection solution supporting workflows across six operating companies. The program migrated more than 675,000 lines of code and modified more than 800 files. Business stakeholders validated feature parity, and the old and new interfaces ran side by side in production before final cutover. The value is protection of critical operations, improved maintainability and development efficiency, and reduced transition risk. The source does not report duration, program cost, cost savings, or a before-AI baseline.</a:t>
            </a:r>
          </a:p>
          <a:p>
            <a:pPr algn="l">
              <a:spcBef>
                <a:spcPts val="60"/>
              </a:spcBef>
              <a:spcAft>
                <a:spcPts val="60"/>
              </a:spcAft>
              <a:buNone/>
            </a:pPr>
            <a:endParaRPr lang="en-US" sz="1000" b="0">
              <a:solidFill>
                <a:srgbClr val="000000"/>
              </a:solidFill>
              <a:latin typeface="Arial"/>
            </a:endParaRPr>
          </a:p>
          <a:p>
            <a:pPr algn="l">
              <a:spcBef>
                <a:spcPts val="60"/>
              </a:spcBef>
              <a:spcAft>
                <a:spcPts val="60"/>
              </a:spcAft>
              <a:buNone/>
            </a:pPr>
            <a:r>
              <a:rPr lang="en-US" sz="1150" b="1">
                <a:solidFill>
                  <a:srgbClr val="000000"/>
                </a:solidFill>
                <a:latin typeface="Arial"/>
              </a:rPr>
              <a:t>LOWER OPERATING EFFORT — HR COMPLIANCE SOFTWARE PROVIDER</a:t>
            </a:r>
          </a:p>
          <a:p>
            <a:pPr algn="l">
              <a:spcBef>
                <a:spcPts val="60"/>
              </a:spcBef>
              <a:spcAft>
                <a:spcPts val="60"/>
              </a:spcAft>
              <a:buNone/>
            </a:pPr>
            <a:r>
              <a:rPr lang="en-US" sz="1000" b="0">
                <a:solidFill>
                  <a:srgbClr val="000000"/>
                </a:solidFill>
                <a:latin typeface="Arial"/>
              </a:rPr>
              <a:t>The legacy on-premise platform had lengthy report-processing times, limited third-party integration, duplicated functionality, complex workflows, and security vulnerabilities. The redesigned cloud platform used AI/ML-enabled automation to simplify highly manual tasks. The reported result was a 65% reduction in total report-generation duration and more than $30,000 in average savings per customer based on consultant time saved. This is the strongest quantified business-value proof on the slide.</a:t>
            </a:r>
          </a:p>
          <a:p>
            <a:pPr algn="l">
              <a:spcBef>
                <a:spcPts val="60"/>
              </a:spcBef>
              <a:spcAft>
                <a:spcPts val="60"/>
              </a:spcAft>
              <a:buNone/>
            </a:pPr>
            <a:endParaRPr lang="en-US" sz="1000" b="0">
              <a:solidFill>
                <a:srgbClr val="000000"/>
              </a:solidFill>
              <a:latin typeface="Arial"/>
            </a:endParaRPr>
          </a:p>
          <a:p>
            <a:pPr algn="l">
              <a:spcBef>
                <a:spcPts val="60"/>
              </a:spcBef>
              <a:spcAft>
                <a:spcPts val="60"/>
              </a:spcAft>
              <a:buNone/>
            </a:pPr>
            <a:r>
              <a:rPr lang="en-US" sz="1150" b="1">
                <a:solidFill>
                  <a:srgbClr val="000000"/>
                </a:solidFill>
                <a:latin typeface="Arial"/>
              </a:rPr>
              <a:t>EVIDENCE DISCIPLINE</a:t>
            </a:r>
          </a:p>
          <a:p>
            <a:pPr algn="l">
              <a:spcBef>
                <a:spcPts val="60"/>
              </a:spcBef>
              <a:spcAft>
                <a:spcPts val="60"/>
              </a:spcAft>
              <a:buNone/>
            </a:pPr>
            <a:r>
              <a:rPr lang="en-US" sz="1000" b="0">
                <a:solidFill>
                  <a:srgbClr val="000000"/>
                </a:solidFill>
                <a:latin typeface="Arial"/>
              </a:rPr>
              <a:t>Do not imply a before-versus-after AI comparison that the sources do not contain. The source material does not provide the cost or timeline of a traditional non-AI alternative. The first two cases demonstrate modernization value pools, not isolated AI causality. Revalidate every metric immediately before release.</a:t>
            </a:r>
          </a:p>
          <a:p>
            <a:pPr algn="l">
              <a:spcBef>
                <a:spcPts val="60"/>
              </a:spcBef>
              <a:spcAft>
                <a:spcPts val="60"/>
              </a:spcAft>
              <a:buNone/>
            </a:pPr>
            <a:endParaRPr lang="en-US" sz="1000" b="0">
              <a:solidFill>
                <a:srgbClr val="000000"/>
              </a:solidFill>
              <a:latin typeface="Arial"/>
            </a:endParaRPr>
          </a:p>
          <a:p>
            <a:pPr algn="l">
              <a:spcBef>
                <a:spcPts val="60"/>
              </a:spcBef>
              <a:spcAft>
                <a:spcPts val="60"/>
              </a:spcAft>
              <a:buNone/>
            </a:pPr>
            <a:r>
              <a:rPr lang="en-US" sz="1000" b="0">
                <a:solidFill>
                  <a:srgbClr val="000000"/>
                </a:solidFill>
                <a:latin typeface="Arial"/>
              </a:rPr>
              <a:t>Transition: The next slide should make the historical sources of modernization cost, delay, and risk explicit, then show where AI can plausibly change the work with appropriate engineering and governance controls.</a:t>
            </a:r>
          </a:p>
          <a:p>
            <a:pPr algn="l">
              <a:spcBef>
                <a:spcPts val="60"/>
              </a:spcBef>
              <a:spcAft>
                <a:spcPts val="60"/>
              </a:spcAft>
              <a:buNone/>
            </a:pPr>
            <a:endParaRPr lang="en-US" sz="1000" b="0">
              <a:solidFill>
                <a:srgbClr val="000000"/>
              </a:solidFill>
              <a:latin typeface="Arial"/>
            </a:endParaRPr>
          </a:p>
          <a:p>
            <a:pPr algn="l">
              <a:spcBef>
                <a:spcPts val="60"/>
              </a:spcBef>
              <a:spcAft>
                <a:spcPts val="60"/>
              </a:spcAft>
              <a:buNone/>
            </a:pPr>
            <a:r>
              <a:rPr lang="en-US" sz="1000" b="0">
                <a:solidFill>
                  <a:srgbClr val="000000"/>
                </a:solidFill>
                <a:latin typeface="Arial"/>
              </a:rPr>
              <a:t>Working sources: West Monroe software modernization examples slide 9; large investor-owned utility client story slide 15; HR compliance software provider client story slide 25.</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buNone/>
            </a:pPr>
            <a:r>
              <a:rPr lang="en-US" sz="1200" dirty="0"/>
              <a:t>Poor documentation and concentrated expertise make discovery slow.</a:t>
            </a:r>
          </a:p>
          <a:p>
            <a:pPr marL="0" indent="0">
              <a:buNone/>
            </a:pPr>
            <a:r>
              <a:rPr lang="en-US" sz="1200" dirty="0"/>
              <a:t>Context can disappear when business intent moves into process designs, technical requirements, tests, training, and operating procedures.</a:t>
            </a:r>
          </a:p>
          <a:p>
            <a:pPr marL="0" indent="0">
              <a:buNone/>
            </a:pPr>
            <a:r>
              <a:rPr lang="en-US" sz="1200" dirty="0"/>
              <a:t>Hidden dependencies cause late rework.</a:t>
            </a:r>
          </a:p>
          <a:p>
            <a:pPr marL="0" indent="0">
              <a:buNone/>
            </a:pPr>
            <a:r>
              <a:rPr lang="en-US" sz="1200" dirty="0"/>
              <a:t>Validation and transition remain expensive because the business must continue operating while the system changes.</a:t>
            </a:r>
          </a:p>
          <a:p>
            <a:pPr marL="0" indent="0">
              <a:buNone/>
            </a:pPr>
            <a:r>
              <a:rPr lang="en-US" sz="1200" dirty="0"/>
              <a:t>These challenges affect custom rebuilds, packaged platform changes, replatforming, and portfolio consolidation in different proportions.</a:t>
            </a:r>
          </a:p>
          <a:p>
            <a:pPr marL="0" indent="0">
              <a:buNone/>
            </a:pPr>
            <a:r>
              <a:rPr lang="en-US" sz="1200" dirty="0"/>
              <a:t>Lower-cost analysis, building, and validation make a wider set of business outcomes economically credible.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buNone/>
            </a:pPr>
            <a:r>
              <a:rPr lang="en-US" sz="1200"/>
              <a:t>Choose the two or three outcomes that fit the audience.</a:t>
            </a:r>
          </a:p>
          <a:p>
            <a:pPr marL="0" indent="0">
              <a:buNone/>
            </a:pPr>
            <a:r>
              <a:rPr lang="en-US" sz="1200"/>
              <a:t>Connect each outcome to a measure and a specific application or business process.</a:t>
            </a:r>
          </a:p>
          <a:p>
            <a:pPr marL="0" indent="0">
              <a:buNone/>
            </a:pPr>
            <a:r>
              <a:rPr lang="en-US" sz="1200"/>
              <a:t>These are possible value directions. The relevant outcomes depend on the business context and modernization scope.</a:t>
            </a:r>
          </a:p>
          <a:p>
            <a:pPr marL="0" indent="0">
              <a:buNone/>
            </a:pPr>
            <a:r>
              <a:rPr lang="en-US" sz="1200"/>
              <a:t>These outcomes become concrete through specific modernization use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buNone/>
            </a:pPr>
            <a:r>
              <a:rPr lang="en-US" sz="1200"/>
              <a:t>Use case describes what may change.</a:t>
            </a:r>
          </a:p>
          <a:p>
            <a:pPr marL="0" indent="0">
              <a:buNone/>
            </a:pPr>
            <a:r>
              <a:rPr lang="en-US" sz="1200"/>
              <a:t>Catalyst describes why to act now.</a:t>
            </a:r>
          </a:p>
          <a:p>
            <a:pPr marL="0" indent="0">
              <a:buNone/>
            </a:pPr>
            <a:r>
              <a:rPr lang="en-US" sz="1200"/>
              <a:t>The modernization scope may be one application, a packaged platform, or an end-to-end capability with systems and human handoffs.</a:t>
            </a:r>
          </a:p>
          <a:p>
            <a:pPr marL="0" indent="0">
              <a:buNone/>
            </a:pPr>
            <a:r>
              <a:rPr lang="en-US" sz="1200"/>
              <a:t>A use case identifies what may change. The catalyst explains why the organization should act now.</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buNone/>
            </a:pPr>
            <a:r>
              <a:rPr lang="en-US" sz="1200"/>
              <a:t>Several catalysts may coexist, but one usually provides the clearest opening and first measure.</a:t>
            </a:r>
          </a:p>
          <a:p>
            <a:pPr marL="0" indent="0">
              <a:buNone/>
            </a:pPr>
            <a:r>
              <a:rPr lang="en-US" sz="1200"/>
              <a:t>The numbers support navigation and do not indicate priority.</a:t>
            </a:r>
          </a:p>
          <a:p>
            <a:pPr marL="0" indent="0">
              <a:buNone/>
            </a:pPr>
            <a:r>
              <a:rPr lang="en-US" sz="1200"/>
              <a:t>A catalyst creates urgency. The next slide shows how one business capability can span a mixed and fragmented application ecosystem.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buNone/>
            </a:pPr>
            <a:r>
              <a:rPr lang="en-US" sz="1200"/>
              <a:t>Start with the business capability and its ecosystem. Then choose the right modernization path for each part.</a:t>
            </a:r>
          </a:p>
          <a:p>
            <a:pPr marL="0" indent="0">
              <a:buNone/>
            </a:pPr>
            <a:r>
              <a:rPr lang="en-US" sz="1200"/>
              <a:t>The answer may combine custom software, packaged platforms, integration, retirement, and retained components.</a:t>
            </a:r>
          </a:p>
          <a:p>
            <a:pPr marL="0" indent="0">
              <a:buNone/>
            </a:pPr>
            <a:r>
              <a:rPr lang="en-US" sz="1200"/>
              <a:t>The current state is intentionally fragmented. Operators often provide the missing integration through manual review, correction, and reconciliation.</a:t>
            </a:r>
          </a:p>
          <a:p>
            <a:pPr marL="0" indent="0">
              <a:buNone/>
            </a:pPr>
            <a:r>
              <a:rPr lang="en-US" sz="1200"/>
              <a:t>West Monroe begins with the business outcome and capability, then selects the right path for each part of the ecosystem.</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Source deck: Software Modernization Walking Deck_04132026.pptx.</a:t>
            </a:r>
            <a:endParaRPr lang="en-US"/>
          </a:p>
          <a:p>
            <a:r>
              <a:rPr lang="en-US" dirty="0"/>
              <a:t>Insert source slides 9 through 11, 13 through 14, and 15 through 31 unchanged after this divider.</a:t>
            </a:r>
            <a:endParaRPr lang="en-US"/>
          </a:p>
          <a:p>
            <a:r>
              <a:rPr lang="en-US" dirty="0"/>
              <a:t>Omit source slide 12 because it is the old contact call to action.</a:t>
            </a:r>
            <a:endParaRPr lang="en-US"/>
          </a:p>
          <a:p>
            <a:r>
              <a:rPr lang="en-US" dirty="0"/>
              <a:t>Preserve source order, formatting, metrics, client descriptors, caveats, and notes.</a:t>
            </a:r>
            <a:endParaRPr lang="en-US"/>
          </a:p>
          <a:p>
            <a:r>
              <a:rPr lang="en-US" dirty="0"/>
              <a:t>The source is internal and verify-before-external-reuse.</a:t>
            </a:r>
            <a:endParaRPr lang="en-US"/>
          </a:p>
          <a:p>
            <a:r>
              <a:rPr lang="en-US" dirty="0"/>
              <a:t>Some outcomes may be modeled or identified rather than realized, and notes may contain names not visible on slides.</a:t>
            </a:r>
            <a:endParaRPr lang="en-US"/>
          </a:p>
          <a:p>
            <a:r>
              <a:rPr lang="en-US" dirty="0"/>
              <a:t>Transition: After a selected proof example, bring the audience back to one specific account action.</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buNone/>
            </a:pPr>
            <a:r>
              <a:rPr lang="en-US" sz="1200"/>
              <a:t>A technical refresh can create real business value when it addresses security, resilience, supportability, or a fixed end-of-life event.</a:t>
            </a:r>
          </a:p>
          <a:p>
            <a:pPr marL="0" indent="0">
              <a:buNone/>
            </a:pPr>
            <a:r>
              <a:rPr lang="en-US" sz="1200"/>
              <a:t>Value-first includes risk, total cost, and technical viability.</a:t>
            </a:r>
          </a:p>
          <a:p>
            <a:pPr marL="0" indent="0">
              <a:buNone/>
            </a:pPr>
            <a:r>
              <a:rPr lang="en-US" sz="1200"/>
              <a:t>Reproducing every legacy workflow can miss the opportunity to simplify work.</a:t>
            </a:r>
          </a:p>
          <a:p>
            <a:pPr marL="0" indent="0">
              <a:buNone/>
            </a:pPr>
            <a:r>
              <a:rPr lang="en-US" sz="1200"/>
              <a:t>Modernization continues after deployment.</a:t>
            </a:r>
          </a:p>
          <a:p>
            <a:pPr marL="0" indent="0">
              <a:buNone/>
            </a:pPr>
            <a:r>
              <a:rPr lang="en-US" sz="1200"/>
              <a:t>That point of view becomes practical when business value governs connected process, people, and technology work.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3200">
                <a:solidFill>
                  <a:schemeClr val="accent1"/>
                </a:solidFill>
              </a:rPr>
              <a:t>47% </a:t>
            </a:r>
            <a:r>
              <a:rPr lang="en-US" sz="1200"/>
              <a:t>of respondents to Gartner’s latest CIO and Technology Executive Survey selected “</a:t>
            </a:r>
            <a:r>
              <a:rPr lang="en-US" sz="1200">
                <a:solidFill>
                  <a:schemeClr val="accent1"/>
                </a:solidFill>
              </a:rPr>
              <a:t>integrate, innovate, and modernize enterprise applications</a:t>
            </a:r>
            <a:r>
              <a:rPr lang="en-US" sz="1200"/>
              <a:t>” as a focus for the next year, the third highest priority overall</a:t>
            </a:r>
            <a:r>
              <a:rPr lang="en-US" sz="1200" baseline="30000"/>
              <a:t>1</a:t>
            </a:r>
            <a:r>
              <a:rPr lang="en-US" sz="1200"/>
              <a:t> </a:t>
            </a:r>
            <a:endParaRPr lang="en-US"/>
          </a:p>
          <a:p>
            <a:pPr marL="171450" indent="-171450">
              <a:buFont typeface="Arial" panose="020B0604020202020204" pitchFamily="34" charset="0"/>
              <a:buChar char="•"/>
            </a:pPr>
            <a:r>
              <a:rPr lang="en-US"/>
              <a:t>Monolithic systems reduce time-to-market for new features. CTOs and engineering leaders struggle to adapt, grow, and scale when constrained by legacy tech, straining ability to capture new market opportunities.</a:t>
            </a:r>
          </a:p>
          <a:p>
            <a:pPr marL="171450" indent="-171450">
              <a:buFont typeface="Arial" panose="020B0604020202020204" pitchFamily="34" charset="0"/>
              <a:buChar char="•"/>
            </a:pPr>
            <a:r>
              <a:rPr lang="en-US"/>
              <a:t>Software portfolios can sprawl, and many are riddled with technical debt with 20-40% of technology value locked up in that debt</a:t>
            </a:r>
            <a:r>
              <a:rPr lang="en-US" baseline="30000"/>
              <a:t>2</a:t>
            </a:r>
            <a:r>
              <a:rPr lang="en-US"/>
              <a:t>. CIOs and IT leaders want to rationalize and reduce the sprawl and keep debt in check.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Security testing leader Black Duck </a:t>
            </a:r>
            <a:r>
              <a:rPr lang="en-US" sz="1200" b="0"/>
              <a:t>found 84% of codebases contained vulnerabilities, and 49%</a:t>
            </a:r>
            <a:r>
              <a:rPr lang="en-US" sz="1200"/>
              <a:t> included components with no activity for 2 years</a:t>
            </a:r>
            <a:r>
              <a:rPr lang="en-US" sz="1200" baseline="30000"/>
              <a:t>3</a:t>
            </a:r>
            <a:r>
              <a:rPr lang="en-US" sz="1200"/>
              <a:t>. CISOs want to modernize to drive more secure software supply chains.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aseline="3000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aseline="30000"/>
          </a:p>
          <a:p>
            <a:pPr marL="0" indent="0">
              <a:buFont typeface="Arial" panose="020B0604020202020204" pitchFamily="34" charset="0"/>
              <a:buNone/>
            </a:pPr>
            <a:r>
              <a:rPr lang="en-US" sz="1200"/>
              <a:t>1 </a:t>
            </a:r>
            <a:r>
              <a:rPr lang="en-US" sz="1200">
                <a:solidFill>
                  <a:schemeClr val="tx2"/>
                </a:solidFill>
                <a:hlinkClick r:id="rId3">
                  <a:extLst>
                    <a:ext uri="{A12FA001-AC4F-418D-AE19-62706E023703}">
                      <ahyp:hlinkClr xmlns:ahyp="http://schemas.microsoft.com/office/drawing/2018/hyperlinkcolor" val="tx"/>
                    </a:ext>
                  </a:extLst>
                </a:hlinkClick>
              </a:rPr>
              <a:t>Use Continuous Modernization to Optimize Legacy Applications</a:t>
            </a:r>
            <a:r>
              <a:rPr lang="en-US" sz="1200">
                <a:solidFill>
                  <a:schemeClr val="tx2"/>
                </a:solidFill>
              </a:rPr>
              <a:t>. </a:t>
            </a:r>
            <a:r>
              <a:rPr lang="en-US" sz="1200"/>
              <a:t>Gartner. 10 January 2024</a:t>
            </a:r>
            <a:br>
              <a:rPr lang="en-US" sz="1200"/>
            </a:br>
            <a:r>
              <a:rPr lang="en-US" sz="1200"/>
              <a:t>2 </a:t>
            </a:r>
            <a:r>
              <a:rPr lang="en-US" sz="1200">
                <a:solidFill>
                  <a:schemeClr val="tx2"/>
                </a:solidFill>
                <a:hlinkClick r:id="rId4">
                  <a:extLst>
                    <a:ext uri="{A12FA001-AC4F-418D-AE19-62706E023703}">
                      <ahyp:hlinkClr xmlns:ahyp="http://schemas.microsoft.com/office/drawing/2018/hyperlinkcolor" val="tx"/>
                    </a:ext>
                  </a:extLst>
                </a:hlinkClick>
              </a:rPr>
              <a:t>Tech Debt: Reclaiming Tech Equity</a:t>
            </a:r>
            <a:r>
              <a:rPr lang="en-US" sz="1200">
                <a:solidFill>
                  <a:schemeClr val="tx2"/>
                </a:solidFill>
              </a:rPr>
              <a:t>. </a:t>
            </a:r>
            <a:r>
              <a:rPr lang="en-US" sz="1200"/>
              <a:t>McKinsey. 2020</a:t>
            </a:r>
            <a:br>
              <a:rPr lang="en-US" sz="1200"/>
            </a:br>
            <a:r>
              <a:rPr lang="en-US" sz="1200"/>
              <a:t>3</a:t>
            </a:r>
            <a:r>
              <a:rPr lang="en-US" sz="1200">
                <a:solidFill>
                  <a:schemeClr val="tx2"/>
                </a:solidFill>
              </a:rPr>
              <a:t> </a:t>
            </a:r>
            <a:r>
              <a:rPr lang="en-US" sz="1200">
                <a:solidFill>
                  <a:schemeClr val="tx2"/>
                </a:solidFill>
                <a:hlinkClick r:id="rId5">
                  <a:extLst>
                    <a:ext uri="{A12FA001-AC4F-418D-AE19-62706E023703}">
                      <ahyp:hlinkClr xmlns:ahyp="http://schemas.microsoft.com/office/drawing/2018/hyperlinkcolor" val="tx"/>
                    </a:ext>
                  </a:extLst>
                </a:hlinkClick>
              </a:rPr>
              <a:t>Open Source Security and Risk Analysis</a:t>
            </a:r>
            <a:r>
              <a:rPr lang="en-US" sz="1200">
                <a:solidFill>
                  <a:schemeClr val="tx2"/>
                </a:solidFill>
              </a:rPr>
              <a:t>. </a:t>
            </a:r>
            <a:r>
              <a:rPr lang="en-US" sz="1200"/>
              <a:t>Black Duck. 2024</a:t>
            </a:r>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15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19639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buNone/>
            </a:pPr>
            <a:r>
              <a:rPr lang="en-US" sz="1200"/>
              <a:t>Business value governs architecture and engineering choices while quality, security, and operational risk remain nonnegotiable.</a:t>
            </a:r>
          </a:p>
          <a:p>
            <a:pPr marL="0" indent="0">
              <a:buNone/>
            </a:pPr>
            <a:r>
              <a:rPr lang="en-US" sz="1200"/>
              <a:t>Change management begins during Rationalize.</a:t>
            </a:r>
          </a:p>
          <a:p>
            <a:pPr marL="0" indent="0">
              <a:buNone/>
            </a:pPr>
            <a:r>
              <a:rPr lang="en-US" sz="1200"/>
              <a:t>A CFO should see the investment thesis and lifecycle economics.</a:t>
            </a:r>
          </a:p>
          <a:p>
            <a:pPr marL="0" indent="0">
              <a:buNone/>
            </a:pPr>
            <a:r>
              <a:rPr lang="en-US" sz="1200"/>
              <a:t>A COO should see process performance, continuity, controls, adoption, and ownership.</a:t>
            </a:r>
          </a:p>
          <a:p>
            <a:pPr marL="0" indent="0">
              <a:buNone/>
            </a:pPr>
            <a:r>
              <a:rPr lang="en-US" sz="1200"/>
              <a:t>A CIO should see evidence, feasibility, security, delivery, and maintainability.</a:t>
            </a:r>
          </a:p>
          <a:p>
            <a:pPr marL="0" indent="0">
              <a:buNone/>
            </a:pPr>
            <a:r>
              <a:rPr lang="en-US" sz="1200"/>
              <a:t>The lifecycle shows how these connected streams progress from an investable decision through delivery, operation, improvement, and retirement.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701AC-A425-7B23-0055-70A7DEE2D3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A7DB23-5531-44E2-58BC-FE8B7F0946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CCB534F-0B16-14FD-1770-F8A5022CEC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06CD1A-D21A-4D49-C0B4-658EF0932B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20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316119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Source deck: Software Modernization Walking Deck_04132026.pptx.</a:t>
            </a:r>
            <a:endParaRPr lang="en-US"/>
          </a:p>
          <a:p>
            <a:r>
              <a:rPr lang="en-US" dirty="0"/>
              <a:t>Insert source slides 9 through 11, 13 through 14, and 15 through 31 unchanged after this divider.</a:t>
            </a:r>
            <a:endParaRPr lang="en-US"/>
          </a:p>
          <a:p>
            <a:r>
              <a:rPr lang="en-US" dirty="0"/>
              <a:t>Omit source slide 12 because it is the old contact call to action.</a:t>
            </a:r>
            <a:endParaRPr lang="en-US"/>
          </a:p>
          <a:p>
            <a:r>
              <a:rPr lang="en-US" dirty="0"/>
              <a:t>Preserve source order, formatting, metrics, client descriptors, caveats, and notes.</a:t>
            </a:r>
            <a:endParaRPr lang="en-US"/>
          </a:p>
          <a:p>
            <a:r>
              <a:rPr lang="en-US" dirty="0"/>
              <a:t>The source is internal and verify-before-external-reuse.</a:t>
            </a:r>
            <a:endParaRPr lang="en-US"/>
          </a:p>
          <a:p>
            <a:r>
              <a:rPr lang="en-US" dirty="0"/>
              <a:t>Some outcomes may be modeled or identified rather than realized, and notes may contain names not visible on slides.</a:t>
            </a:r>
            <a:endParaRPr lang="en-US"/>
          </a:p>
          <a:p>
            <a:r>
              <a:rPr lang="en-US" dirty="0"/>
              <a:t>Transition: After a selected proof example, bring the audience back to one specific account action.</a:t>
            </a: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buNone/>
            </a:pPr>
            <a:r>
              <a:rPr lang="en-US" sz="1200"/>
              <a:t>The phases overlap as teams learn.</a:t>
            </a:r>
          </a:p>
          <a:p>
            <a:pPr marL="0" indent="0">
              <a:buNone/>
            </a:pPr>
            <a:r>
              <a:rPr lang="en-US" sz="1200"/>
              <a:t>Business value, process, people, and technology continue through each phase.</a:t>
            </a:r>
          </a:p>
          <a:p>
            <a:pPr marL="0" indent="0">
              <a:buNone/>
            </a:pPr>
            <a:r>
              <a:rPr lang="en-US" sz="1200"/>
              <a:t>Plan closes Rationalize with dispositions, economics, roadmap, and initial wave.</a:t>
            </a:r>
          </a:p>
          <a:p>
            <a:pPr marL="0" indent="0">
              <a:buNone/>
            </a:pPr>
            <a:r>
              <a:rPr lang="en-US" sz="1200"/>
              <a:t>Validation includes functional parity, security, performance, controls, data reconciliation, and business acceptance.</a:t>
            </a:r>
          </a:p>
          <a:p>
            <a:pPr marL="0" indent="0">
              <a:buNone/>
            </a:pPr>
            <a:r>
              <a:rPr lang="en-US" sz="1200"/>
              <a:t>Decommissioning is required to remove old cost and risk.</a:t>
            </a:r>
          </a:p>
          <a:p>
            <a:pPr marL="0" indent="0">
              <a:buNone/>
            </a:pPr>
            <a:r>
              <a:rPr lang="en-US" sz="1200"/>
              <a:t>The lifecycle defines when decisions and delivery occur. The Seven Rs define the path each application or capability should take.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701AC-A425-7B23-0055-70A7DEE2D3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A7DB23-5531-44E2-58BC-FE8B7F0946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CCB534F-0B16-14FD-1770-F8A5022CEC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06CD1A-D21A-4D49-C0B4-658EF0932B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23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316119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buNone/>
            </a:pPr>
            <a:r>
              <a:rPr lang="en-US" sz="1200"/>
              <a:t>AI accelerates evidence creation, carries context across handoffs, expands validation, and supports operating teams.</a:t>
            </a:r>
          </a:p>
          <a:p>
            <a:pPr marL="0" indent="0">
              <a:buNone/>
            </a:pPr>
            <a:r>
              <a:rPr lang="en-US" sz="1200"/>
              <a:t>Human judgment remains responsible for intent, architecture, risk, and acceptance.</a:t>
            </a:r>
          </a:p>
          <a:p>
            <a:pPr marL="0" indent="0">
              <a:buNone/>
            </a:pPr>
            <a:r>
              <a:rPr lang="en-US" sz="1200"/>
              <a:t>Create four moments of recognition rather than an exhaustive list.</a:t>
            </a:r>
          </a:p>
          <a:p>
            <a:pPr marL="0" indent="0">
              <a:buNone/>
            </a:pPr>
            <a:r>
              <a:rPr lang="en-US" sz="1200"/>
              <a:t>Start with the phase where uncertainty and expert dependency are often highest.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buNone/>
            </a:pPr>
            <a:r>
              <a:rPr lang="en-US" sz="1200" dirty="0"/>
              <a:t>Use slide 14 for lifecycle-oriented audiences.</a:t>
            </a:r>
          </a:p>
          <a:p>
            <a:pPr marL="0" indent="0">
              <a:buNone/>
            </a:pPr>
            <a:r>
              <a:rPr lang="en-US" sz="1200" dirty="0"/>
              <a:t>Use this version for company-wide transformation, operations, and change audiences.</a:t>
            </a:r>
          </a:p>
          <a:p>
            <a:pPr marL="0" indent="0">
              <a:buNone/>
            </a:pPr>
            <a:r>
              <a:rPr lang="en-US" sz="1200" dirty="0"/>
              <a:t>The two versions use the same evidence and accountability model and should not appear together in a shorter composed deck.</a:t>
            </a:r>
          </a:p>
          <a:p>
            <a:pPr marL="0" indent="0">
              <a:buNone/>
            </a:pPr>
            <a:r>
              <a:rPr lang="en-US" sz="1200" dirty="0"/>
              <a:t>Start with Rationalize, where expertise, process behavior, and technical structure must become a shared evidence base.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Source deck: Software Modernization Walking Deck_04132026.pptx.</a:t>
            </a:r>
            <a:endParaRPr lang="en-US"/>
          </a:p>
          <a:p>
            <a:r>
              <a:rPr lang="en-US" dirty="0"/>
              <a:t>Insert source slides 9 through 11, 13 through 14, and 15 through 31 unchanged after this divider.</a:t>
            </a:r>
            <a:endParaRPr lang="en-US"/>
          </a:p>
          <a:p>
            <a:r>
              <a:rPr lang="en-US" dirty="0"/>
              <a:t>Omit source slide 12 because it is the old contact call to action.</a:t>
            </a:r>
            <a:endParaRPr lang="en-US"/>
          </a:p>
          <a:p>
            <a:r>
              <a:rPr lang="en-US" dirty="0"/>
              <a:t>Preserve source order, formatting, metrics, client descriptors, caveats, and notes.</a:t>
            </a:r>
            <a:endParaRPr lang="en-US"/>
          </a:p>
          <a:p>
            <a:r>
              <a:rPr lang="en-US" dirty="0"/>
              <a:t>The source is internal and verify-before-external-reuse.</a:t>
            </a:r>
            <a:endParaRPr lang="en-US"/>
          </a:p>
          <a:p>
            <a:r>
              <a:rPr lang="en-US" dirty="0"/>
              <a:t>Some outcomes may be modeled or identified rather than realized, and notes may contain names not visible on slides.</a:t>
            </a:r>
            <a:endParaRPr lang="en-US"/>
          </a:p>
          <a:p>
            <a:r>
              <a:rPr lang="en-US" dirty="0"/>
              <a:t>Transition: After a selected proof example, bring the audience back to one specific account action.</a:t>
            </a:r>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buNone/>
            </a:pPr>
            <a:r>
              <a:rPr lang="en-US" sz="1200"/>
              <a:t>Rationalization operates at portfolio and application levels.</a:t>
            </a:r>
          </a:p>
          <a:p>
            <a:pPr marL="0" indent="0">
              <a:buNone/>
            </a:pPr>
            <a:r>
              <a:rPr lang="en-US" sz="1200"/>
              <a:t>Thesis alignment prevents a predetermined-platform start.</a:t>
            </a:r>
          </a:p>
          <a:p>
            <a:pPr marL="0" indent="0">
              <a:buNone/>
            </a:pPr>
            <a:r>
              <a:rPr lang="en-US" sz="1200"/>
              <a:t>Assessment combines business and technical evidence.</a:t>
            </a:r>
          </a:p>
          <a:p>
            <a:pPr marL="0" indent="0">
              <a:buNone/>
            </a:pPr>
            <a:r>
              <a:rPr lang="en-US" sz="1200"/>
              <a:t>The result is an investable decision with baseline, target process, disposition, economics, change impacts, roadmap, and first wave.</a:t>
            </a:r>
          </a:p>
          <a:p>
            <a:pPr marL="0" indent="0">
              <a:buNone/>
            </a:pPr>
            <a:r>
              <a:rPr lang="en-US" sz="1200"/>
              <a:t>The hardest assessment problem often involves connecting what people do with what the software actually enforces.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buNone/>
            </a:pPr>
            <a:r>
              <a:rPr lang="en-US" sz="1200"/>
              <a:t>The decision can apply at portfolio, system, domain, or component level.</a:t>
            </a:r>
          </a:p>
          <a:p>
            <a:pPr marL="0" indent="0">
              <a:buNone/>
            </a:pPr>
            <a:r>
              <a:rPr lang="en-US" sz="1200"/>
              <a:t>One disposition for a whole monolith can hide better options.</a:t>
            </a:r>
          </a:p>
          <a:p>
            <a:pPr marL="0" indent="0">
              <a:buNone/>
            </a:pPr>
            <a:r>
              <a:rPr lang="en-US" sz="1200"/>
              <a:t>Industry 7R labels vary, and this working set aligns to the internal West Monroe disposition model.</a:t>
            </a:r>
          </a:p>
          <a:p>
            <a:pPr marL="0" indent="0">
              <a:buNone/>
            </a:pPr>
            <a:r>
              <a:rPr lang="en-US" sz="1200"/>
              <a:t>The historical method and decision set remain. AI changes how teams perform the work across Rationalize, Build, and Sustain.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buNone/>
            </a:pPr>
            <a:r>
              <a:rPr lang="en-US" sz="1200"/>
              <a:t>Each evidence source has blind spots. AI accelerates extraction and synthesis.</a:t>
            </a:r>
          </a:p>
          <a:p>
            <a:pPr marL="0" indent="0">
              <a:buNone/>
            </a:pPr>
            <a:r>
              <a:rPr lang="en-US" sz="1200"/>
              <a:t>Experts establish meaning and decide which legacy behavior belongs in the future.</a:t>
            </a:r>
          </a:p>
          <a:p>
            <a:pPr marL="0" indent="0">
              <a:buNone/>
            </a:pPr>
            <a:r>
              <a:rPr lang="en-US" sz="1200"/>
              <a:t>Evolve contributes source-backed code, component, integration, dependency, and selected functional evidence.</a:t>
            </a:r>
          </a:p>
          <a:p>
            <a:pPr marL="0" indent="0">
              <a:buNone/>
            </a:pPr>
            <a:r>
              <a:rPr lang="en-US" sz="1200"/>
              <a:t>The wider delivery method supplies consented observation, interview synthesis, and business validation.</a:t>
            </a:r>
          </a:p>
          <a:p>
            <a:pPr marL="0" indent="0">
              <a:buNone/>
            </a:pPr>
            <a:r>
              <a:rPr lang="en-US" sz="1200"/>
              <a:t>Guardrail: Do not imply that Evolve watches employees. Any observation method requires consent plus privacy, security, access, retention, and workforce controls.</a:t>
            </a:r>
          </a:p>
          <a:p>
            <a:pPr marL="0" indent="0">
              <a:buNone/>
            </a:pPr>
            <a:r>
              <a:rPr lang="en-US" sz="1200"/>
              <a:t>Treat AI findings as candidates until qualified experts validate them.</a:t>
            </a:r>
          </a:p>
          <a:p>
            <a:pPr marL="0" indent="0">
              <a:buNone/>
            </a:pPr>
            <a:r>
              <a:rPr lang="en-US" sz="1200"/>
              <a:t>Once the organization approves a direction, the evidence should move directly into design and delivery.</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Source deck: Software Modernization Walking Deck_04132026.pptx.</a:t>
            </a:r>
            <a:endParaRPr lang="en-US"/>
          </a:p>
          <a:p>
            <a:r>
              <a:rPr lang="en-US" dirty="0"/>
              <a:t>Insert source slides 9 through 11, 13 through 14, and 15 through 31 unchanged after this divider.</a:t>
            </a:r>
            <a:endParaRPr lang="en-US"/>
          </a:p>
          <a:p>
            <a:r>
              <a:rPr lang="en-US" dirty="0"/>
              <a:t>Omit source slide 12 because it is the old contact call to action.</a:t>
            </a:r>
            <a:endParaRPr lang="en-US"/>
          </a:p>
          <a:p>
            <a:r>
              <a:rPr lang="en-US" dirty="0"/>
              <a:t>Preserve source order, formatting, metrics, client descriptors, caveats, and notes.</a:t>
            </a:r>
            <a:endParaRPr lang="en-US"/>
          </a:p>
          <a:p>
            <a:r>
              <a:rPr lang="en-US" dirty="0"/>
              <a:t>The source is internal and verify-before-external-reuse.</a:t>
            </a:r>
            <a:endParaRPr lang="en-US"/>
          </a:p>
          <a:p>
            <a:r>
              <a:rPr lang="en-US" dirty="0"/>
              <a:t>Some outcomes may be modeled or identified rather than realized, and notes may contain names not visible on slides.</a:t>
            </a:r>
            <a:endParaRPr lang="en-US"/>
          </a:p>
          <a:p>
            <a:r>
              <a:rPr lang="en-US" dirty="0"/>
              <a:t>Transition: After a selected proof example, bring the audience back to one specific account action.</a:t>
            </a:r>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AI-assisted building still requires production engineering, security, quality, and architecture discipline.</a:t>
            </a:r>
            <a:endParaRPr lang="en-US"/>
          </a:p>
          <a:p>
            <a:r>
              <a:rPr lang="en-US" dirty="0"/>
              <a:t>Validation begins during design and build.</a:t>
            </a:r>
            <a:endParaRPr lang="en-US"/>
          </a:p>
          <a:p>
            <a:r>
              <a:rPr lang="en-US" dirty="0"/>
              <a:t>Transition includes data, operating procedures, users, controls, and release work.</a:t>
            </a:r>
            <a:endParaRPr lang="en-US"/>
          </a:p>
          <a:p>
            <a:r>
              <a:rPr lang="en-US" dirty="0"/>
              <a:t>The unit of progress should be a viable process or capability slice the business can use and validate.</a:t>
            </a:r>
            <a:endParaRPr lang="en-US"/>
          </a:p>
          <a:p>
            <a:r>
              <a:rPr lang="en-US" dirty="0"/>
              <a:t>Transition: Reusing the evidence from rationalization can eliminate a large amount of rediscovery during build.</a:t>
            </a:r>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Unified context is the strategic idea.</a:t>
            </a:r>
            <a:endParaRPr lang="en-US"/>
          </a:p>
          <a:p>
            <a:r>
              <a:rPr lang="en-US" dirty="0"/>
              <a:t>A knowledge graph is one possible implementation pattern and is not a claim of a fully delivered product.</a:t>
            </a:r>
            <a:endParaRPr lang="en-US"/>
          </a:p>
          <a:p>
            <a:r>
              <a:rPr lang="en-US" dirty="0"/>
              <a:t>Context needs provenance, versioning, permissions, and clear separation of evidence from inference.</a:t>
            </a:r>
            <a:endParaRPr lang="en-US"/>
          </a:p>
          <a:p>
            <a:r>
              <a:rPr lang="en-US" dirty="0"/>
              <a:t>Stale context can accelerate the wrong work.</a:t>
            </a:r>
            <a:endParaRPr lang="en-US"/>
          </a:p>
          <a:p>
            <a:r>
              <a:rPr lang="en-US" dirty="0"/>
              <a:t>Human review and testing determine correctness.</a:t>
            </a:r>
            <a:endParaRPr lang="en-US"/>
          </a:p>
          <a:p>
            <a:r>
              <a:rPr lang="en-US" dirty="0"/>
              <a:t>Transition: Cutover is a high-value use of connected context because planning, preparation, and monitoring depend on business, data, control, and technology evidence.</a:t>
            </a:r>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A clean technical boundary may not be a viable end-to-end process.</a:t>
            </a:r>
            <a:endParaRPr lang="en-US"/>
          </a:p>
          <a:p>
            <a:r>
              <a:rPr lang="en-US" dirty="0"/>
              <a:t>Planning covers edge cases, dependencies, fallback, and decision evidence.</a:t>
            </a:r>
            <a:endParaRPr lang="en-US"/>
          </a:p>
          <a:p>
            <a:r>
              <a:rPr lang="en-US" dirty="0"/>
              <a:t>Preparation includes data quality and operational readiness.</a:t>
            </a:r>
            <a:endParaRPr lang="en-US"/>
          </a:p>
          <a:p>
            <a:r>
              <a:rPr lang="en-US" dirty="0"/>
              <a:t>Monitoring covers business outcomes and data health alongside technical signals.</a:t>
            </a:r>
            <a:endParaRPr lang="en-US"/>
          </a:p>
          <a:p>
            <a:r>
              <a:rPr lang="en-US" dirty="0"/>
              <a:t>AI surfaces evidence and recommendations. People decide release and fallback.</a:t>
            </a:r>
            <a:endParaRPr lang="en-US"/>
          </a:p>
          <a:p>
            <a:r>
              <a:rPr lang="en-US" dirty="0"/>
              <a:t>Transition: Once the first slice goes live, sustainment begins and decommissioning becomes part of the value case.</a:t>
            </a:r>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Source deck: Software Modernization Walking Deck_04132026.pptx.</a:t>
            </a:r>
            <a:endParaRPr lang="en-US"/>
          </a:p>
          <a:p>
            <a:r>
              <a:rPr lang="en-US" dirty="0"/>
              <a:t>Insert source slides 9 through 11, 13 through 14, and 15 through 31 unchanged after this divider.</a:t>
            </a:r>
            <a:endParaRPr lang="en-US"/>
          </a:p>
          <a:p>
            <a:r>
              <a:rPr lang="en-US" dirty="0"/>
              <a:t>Omit source slide 12 because it is the old contact call to action.</a:t>
            </a:r>
            <a:endParaRPr lang="en-US"/>
          </a:p>
          <a:p>
            <a:r>
              <a:rPr lang="en-US" dirty="0"/>
              <a:t>Preserve source order, formatting, metrics, client descriptors, caveats, and notes.</a:t>
            </a:r>
            <a:endParaRPr lang="en-US"/>
          </a:p>
          <a:p>
            <a:r>
              <a:rPr lang="en-US" dirty="0"/>
              <a:t>The source is internal and verify-before-external-reuse.</a:t>
            </a:r>
            <a:endParaRPr lang="en-US"/>
          </a:p>
          <a:p>
            <a:r>
              <a:rPr lang="en-US" dirty="0"/>
              <a:t>Some outcomes may be modeled or identified rather than realized, and notes may contain names not visible on slides.</a:t>
            </a:r>
            <a:endParaRPr lang="en-US"/>
          </a:p>
          <a:p>
            <a:r>
              <a:rPr lang="en-US" dirty="0"/>
              <a:t>Transition: After a selected proof example, bring the audience back to one specific account action.</a:t>
            </a:r>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Sustainment turns a project into a product capability.</a:t>
            </a:r>
            <a:endParaRPr lang="en-US"/>
          </a:p>
          <a:p>
            <a:r>
              <a:rPr lang="en-US" dirty="0"/>
              <a:t>Rich documented context prevents tribal knowledge from reappearing, lowers critical-person risk, and accelerates future change.</a:t>
            </a:r>
            <a:endParaRPr lang="en-US"/>
          </a:p>
          <a:p>
            <a:r>
              <a:rPr lang="en-US" dirty="0"/>
              <a:t>Agentic maintenance may change long-term labor economics, but that requires measured pilots and defined controls.</a:t>
            </a:r>
            <a:endParaRPr lang="en-US"/>
          </a:p>
          <a:p>
            <a:r>
              <a:rPr lang="en-US" dirty="0"/>
              <a:t>Transition: The cost case must include every phase, especially dual run, operation, and decommissioning.</a:t>
            </a:r>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Lower analysis, coding, testing, and maintenance cost can make business-fit build competitive across more capabilities.</a:t>
            </a:r>
            <a:endParaRPr lang="en-US"/>
          </a:p>
          <a:p>
            <a:r>
              <a:rPr lang="en-US" dirty="0"/>
              <a:t>Packaged software may remain best for standardized capabilities.</a:t>
            </a:r>
            <a:endParaRPr lang="en-US"/>
          </a:p>
          <a:p>
            <a:r>
              <a:rPr lang="en-US" dirty="0"/>
              <a:t>Business-fit software becomes more interesting when differentiation, customization, licensing, or integration burden is high.</a:t>
            </a:r>
            <a:endParaRPr lang="en-US"/>
          </a:p>
          <a:p>
            <a:r>
              <a:rPr lang="en-US" dirty="0"/>
              <a:t>Savings begin after transition and decommissioning.</a:t>
            </a:r>
            <a:endParaRPr lang="en-US"/>
          </a:p>
          <a:p>
            <a:r>
              <a:rPr lang="en-US" dirty="0"/>
              <a:t>Transition: The build-versus-buy calculus has changed, but the answer remains client-specific.</a:t>
            </a:r>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Source deck: Software Modernization Walking Deck_04132026.pptx.</a:t>
            </a:r>
            <a:endParaRPr lang="en-US"/>
          </a:p>
          <a:p>
            <a:r>
              <a:rPr lang="en-US" dirty="0"/>
              <a:t>Insert source slides 9 through 11, 13 through 14, and 15 through 31 unchanged after this divider.</a:t>
            </a:r>
            <a:endParaRPr lang="en-US"/>
          </a:p>
          <a:p>
            <a:r>
              <a:rPr lang="en-US" dirty="0"/>
              <a:t>Omit source slide 12 because it is the old contact call to action.</a:t>
            </a:r>
            <a:endParaRPr lang="en-US"/>
          </a:p>
          <a:p>
            <a:r>
              <a:rPr lang="en-US" dirty="0"/>
              <a:t>Preserve source order, formatting, metrics, client descriptors, caveats, and notes.</a:t>
            </a:r>
            <a:endParaRPr lang="en-US"/>
          </a:p>
          <a:p>
            <a:r>
              <a:rPr lang="en-US" dirty="0"/>
              <a:t>The source is internal and verify-before-external-reuse.</a:t>
            </a:r>
            <a:endParaRPr lang="en-US"/>
          </a:p>
          <a:p>
            <a:r>
              <a:rPr lang="en-US" dirty="0"/>
              <a:t>Some outcomes may be modeled or identified rather than realized, and notes may contain names not visible on slides.</a:t>
            </a:r>
            <a:endParaRPr lang="en-US"/>
          </a:p>
          <a:p>
            <a:r>
              <a:rPr lang="en-US" dirty="0"/>
              <a:t>Transition: After a selected proof example, bring the audience back to one specific account action.</a:t>
            </a:r>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Source deck: Software Modernization Walking Deck_04132026.pptx.</a:t>
            </a:r>
            <a:endParaRPr lang="en-US"/>
          </a:p>
          <a:p>
            <a:r>
              <a:rPr lang="en-US" dirty="0"/>
              <a:t>Insert source slides 9 through 11, 13 through 14, and 15 through 31 unchanged after this divider.</a:t>
            </a:r>
            <a:endParaRPr lang="en-US"/>
          </a:p>
          <a:p>
            <a:r>
              <a:rPr lang="en-US" dirty="0"/>
              <a:t>Omit source slide 12 because it is the old contact call to action.</a:t>
            </a:r>
            <a:endParaRPr lang="en-US"/>
          </a:p>
          <a:p>
            <a:r>
              <a:rPr lang="en-US" dirty="0"/>
              <a:t>Preserve source order, formatting, metrics, client descriptors, caveats, and notes.</a:t>
            </a:r>
            <a:endParaRPr lang="en-US"/>
          </a:p>
          <a:p>
            <a:r>
              <a:rPr lang="en-US" dirty="0"/>
              <a:t>The source is internal and verify-before-external-reuse.</a:t>
            </a:r>
            <a:endParaRPr lang="en-US"/>
          </a:p>
          <a:p>
            <a:r>
              <a:rPr lang="en-US" dirty="0"/>
              <a:t>Some outcomes may be modeled or identified rather than realized, and notes may contain names not visible on slides.</a:t>
            </a:r>
            <a:endParaRPr lang="en-US"/>
          </a:p>
          <a:p>
            <a:r>
              <a:rPr lang="en-US" dirty="0"/>
              <a:t>Transition: After a selected proof example, bring the audience back to one specific account action.</a:t>
            </a:r>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Source deck: Software Modernization Walking Deck_04132026.pptx.</a:t>
            </a:r>
            <a:endParaRPr lang="en-US"/>
          </a:p>
          <a:p>
            <a:r>
              <a:rPr lang="en-US" dirty="0"/>
              <a:t>Insert source slides 9 through 11, 13 through 14, and 15 through 31 unchanged after this divider.</a:t>
            </a:r>
            <a:endParaRPr lang="en-US"/>
          </a:p>
          <a:p>
            <a:r>
              <a:rPr lang="en-US" dirty="0"/>
              <a:t>Omit source slide 12 because it is the old contact call to action.</a:t>
            </a:r>
            <a:endParaRPr lang="en-US"/>
          </a:p>
          <a:p>
            <a:r>
              <a:rPr lang="en-US" dirty="0"/>
              <a:t>Preserve source order, formatting, metrics, client descriptors, caveats, and notes.</a:t>
            </a:r>
            <a:endParaRPr lang="en-US"/>
          </a:p>
          <a:p>
            <a:r>
              <a:rPr lang="en-US" dirty="0"/>
              <a:t>The source is internal and verify-before-external-reuse.</a:t>
            </a:r>
            <a:endParaRPr lang="en-US"/>
          </a:p>
          <a:p>
            <a:r>
              <a:rPr lang="en-US" dirty="0"/>
              <a:t>Some outcomes may be modeled or identified rather than realized, and notes may contain names not visible on slides.</a:t>
            </a:r>
            <a:endParaRPr lang="en-US"/>
          </a:p>
          <a:p>
            <a:r>
              <a:rPr lang="en-US" dirty="0"/>
              <a:t>Transition: After a selected proof example, bring the audience back to one specific account action.</a:t>
            </a:r>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Source deck: Software Modernization Walking Deck_04132026.pptx.</a:t>
            </a:r>
            <a:endParaRPr lang="en-US"/>
          </a:p>
          <a:p>
            <a:r>
              <a:rPr lang="en-US" dirty="0"/>
              <a:t>Insert source slides 9 through 11, 13 through 14, and 15 through 31 unchanged after this divider.</a:t>
            </a:r>
            <a:endParaRPr lang="en-US"/>
          </a:p>
          <a:p>
            <a:r>
              <a:rPr lang="en-US" dirty="0"/>
              <a:t>Omit source slide 12 because it is the old contact call to action.</a:t>
            </a:r>
            <a:endParaRPr lang="en-US"/>
          </a:p>
          <a:p>
            <a:r>
              <a:rPr lang="en-US" dirty="0"/>
              <a:t>Preserve source order, formatting, metrics, client descriptors, caveats, and notes.</a:t>
            </a:r>
            <a:endParaRPr lang="en-US"/>
          </a:p>
          <a:p>
            <a:r>
              <a:rPr lang="en-US" dirty="0"/>
              <a:t>The source is internal and verify-before-external-reuse.</a:t>
            </a:r>
            <a:endParaRPr lang="en-US"/>
          </a:p>
          <a:p>
            <a:r>
              <a:rPr lang="en-US" dirty="0"/>
              <a:t>Some outcomes may be modeled or identified rather than realized, and notes may contain names not visible on slides.</a:t>
            </a:r>
            <a:endParaRPr lang="en-US"/>
          </a:p>
          <a:p>
            <a:r>
              <a:rPr lang="en-US" dirty="0"/>
              <a:t>Transition: After a selected proof example, bring the audience back to one specific account action.</a:t>
            </a:r>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28600" indent="-228600">
              <a:buFont typeface="+mj-lt"/>
              <a:buAutoNum type="arabicPeriod"/>
            </a:pPr>
            <a:r>
              <a:rPr lang="en-US"/>
              <a:t>Coding agents help developers write code faster (improve developer efficiency). Intellio Evolve helps enterprises modernize entire systems—faster, smarter, and with better business outcomes (40-50% faster modernization timelines).</a:t>
            </a:r>
          </a:p>
          <a:p>
            <a:pPr marL="228600" indent="-228600">
              <a:buFont typeface="+mj-lt"/>
              <a:buAutoNum type="arabicPeriod"/>
            </a:pPr>
            <a:endParaRPr lang="en-US"/>
          </a:p>
          <a:p>
            <a:pPr marL="228600" indent="-228600">
              <a:buFont typeface="+mj-lt"/>
              <a:buAutoNum type="arabicPeriod"/>
            </a:pPr>
            <a:r>
              <a:rPr lang="en-US"/>
              <a:t>Intellio Evolve includes prompt-engineered purpose-built workflows for modernization. Coding agents require users to design prompts, workflows, and guardrails manually.</a:t>
            </a:r>
          </a:p>
          <a:p>
            <a:pPr marL="228600" indent="-228600">
              <a:buFont typeface="+mj-lt"/>
              <a:buAutoNum type="arabicPeriod"/>
            </a:pPr>
            <a:endParaRPr lang="en-US"/>
          </a:p>
          <a:p>
            <a:pPr marL="228600" indent="-228600">
              <a:buFont typeface="+mj-lt"/>
              <a:buAutoNum type="arabicPeriod"/>
            </a:pPr>
            <a:r>
              <a:rPr lang="en-US"/>
              <a:t>Intellio Evolve helps modernize software based on current business needs, not just converting old code into new code. Coding agents primarily generate or refactor code based on prompts.</a:t>
            </a:r>
          </a:p>
          <a:p>
            <a:pPr marL="228600" indent="-228600">
              <a:buFont typeface="+mj-lt"/>
              <a:buAutoNum type="arabicPeriod"/>
            </a:pPr>
            <a:endParaRPr lang="en-US"/>
          </a:p>
          <a:p>
            <a:pPr marL="228600" indent="-228600">
              <a:buFont typeface="+mj-lt"/>
              <a:buAutoNum type="arabicPeriod"/>
            </a:pPr>
            <a:r>
              <a:rPr lang="en-US"/>
              <a:t>Intellio Evolve deepens legacy software understanding (context at scale). It uses AI to analyze legacy codebases (COBOL, .NET, AngularJS, etc.), map dependencies and business logic and converts “tribal knowledge” into structured insight. Coding agents are limited to what fits within a prompt/context window.</a:t>
            </a:r>
          </a:p>
          <a:p>
            <a:pPr marL="228600" indent="-228600">
              <a:buFont typeface="+mj-lt"/>
              <a:buAutoNum type="arabicPeriod"/>
            </a:pPr>
            <a:endParaRPr lang="en-US"/>
          </a:p>
          <a:p>
            <a:pPr marL="228600" indent="-228600">
              <a:buFont typeface="+mj-lt"/>
              <a:buAutoNum type="arabicPeriod"/>
            </a:pPr>
            <a:r>
              <a:rPr lang="en-US"/>
              <a:t>Software modernization is as much architecture + change + business alignment as code modernization. Intellio Evolve combines agentic workflow + AI in SDLC delivery approach + co-creation with client teams. Coding agents are pure tools with no embedded delivery approach.</a:t>
            </a:r>
          </a:p>
        </p:txBody>
      </p:sp>
      <p:sp>
        <p:nvSpPr>
          <p:cNvPr id="4" name="Slide Number Placeholder 3"/>
          <p:cNvSpPr>
            <a:spLocks noGrp="1"/>
          </p:cNvSpPr>
          <p:nvPr>
            <p:ph type="sldNum" sz="quarter" idx="5"/>
          </p:nvPr>
        </p:nvSpPr>
        <p:spPr/>
        <p:txBody>
          <a:bodyPr/>
          <a:lstStyle/>
          <a:p>
            <a:fld id="{53BCCA8E-E054-4945-93F6-8F3E2A7D5A26}" type="slidenum">
              <a:rPr lang="en-US" smtClean="0"/>
              <a:pPr/>
              <a:t>44</a:t>
            </a:fld>
            <a:endParaRPr lang="en-US"/>
          </a:p>
        </p:txBody>
      </p:sp>
    </p:spTree>
    <p:extLst>
      <p:ext uri="{BB962C8B-B14F-4D97-AF65-F5344CB8AC3E}">
        <p14:creationId xmlns:p14="http://schemas.microsoft.com/office/powerpoint/2010/main" val="3869995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28600" indent="-228600">
              <a:buFont typeface="+mj-lt"/>
              <a:buAutoNum type="arabicPeriod"/>
            </a:pPr>
            <a:r>
              <a:rPr lang="en-US"/>
              <a:t>Coding agents help developers write code faster (improve developer efficiency). Intellio Evolve helps enterprises modernize entire systems—faster, smarter, and with better business outcomes (40-50% faster modernization timelines).</a:t>
            </a:r>
          </a:p>
          <a:p>
            <a:pPr marL="228600" indent="-228600">
              <a:buFont typeface="+mj-lt"/>
              <a:buAutoNum type="arabicPeriod"/>
            </a:pPr>
            <a:endParaRPr lang="en-US"/>
          </a:p>
          <a:p>
            <a:pPr marL="228600" indent="-228600">
              <a:buFont typeface="+mj-lt"/>
              <a:buAutoNum type="arabicPeriod"/>
            </a:pPr>
            <a:r>
              <a:rPr lang="en-US"/>
              <a:t>Intellio Evolve includes prompt-engineered purpose-built workflows for modernization. Coding agents require users to design prompts, workflows, and guardrails manually.</a:t>
            </a:r>
          </a:p>
          <a:p>
            <a:pPr marL="228600" indent="-228600">
              <a:buFont typeface="+mj-lt"/>
              <a:buAutoNum type="arabicPeriod"/>
            </a:pPr>
            <a:endParaRPr lang="en-US"/>
          </a:p>
          <a:p>
            <a:pPr marL="228600" indent="-228600">
              <a:buFont typeface="+mj-lt"/>
              <a:buAutoNum type="arabicPeriod"/>
            </a:pPr>
            <a:r>
              <a:rPr lang="en-US"/>
              <a:t>Intellio Evolve helps modernize software based on current business needs, not just converting old code into new code. Coding agents primarily generate or refactor code based on prompts.</a:t>
            </a:r>
          </a:p>
          <a:p>
            <a:pPr marL="228600" indent="-228600">
              <a:buFont typeface="+mj-lt"/>
              <a:buAutoNum type="arabicPeriod"/>
            </a:pPr>
            <a:endParaRPr lang="en-US"/>
          </a:p>
          <a:p>
            <a:pPr marL="228600" indent="-228600">
              <a:buFont typeface="+mj-lt"/>
              <a:buAutoNum type="arabicPeriod"/>
            </a:pPr>
            <a:r>
              <a:rPr lang="en-US"/>
              <a:t>Intellio Evolve deepens legacy software understanding (context at scale). It uses AI to analyze legacy codebases (COBOL, .NET, AngularJS, etc.), map dependencies and business logic and converts “tribal knowledge” into structured insight. Coding agents are limited to what fits within a prompt/context window.</a:t>
            </a:r>
          </a:p>
          <a:p>
            <a:pPr marL="228600" indent="-228600">
              <a:buFont typeface="+mj-lt"/>
              <a:buAutoNum type="arabicPeriod"/>
            </a:pPr>
            <a:endParaRPr lang="en-US"/>
          </a:p>
          <a:p>
            <a:pPr marL="228600" indent="-228600">
              <a:buFont typeface="+mj-lt"/>
              <a:buAutoNum type="arabicPeriod"/>
            </a:pPr>
            <a:r>
              <a:rPr lang="en-US"/>
              <a:t>Software modernization is as much architecture + change + business alignment as code modernization. Intellio Evolve combines agentic workflow + AI in SDLC delivery approach + co-creation with client teams. Coding agents are pure tools with no embedded delivery approach.</a:t>
            </a:r>
          </a:p>
        </p:txBody>
      </p:sp>
      <p:sp>
        <p:nvSpPr>
          <p:cNvPr id="4" name="Slide Number Placeholder 3"/>
          <p:cNvSpPr>
            <a:spLocks noGrp="1"/>
          </p:cNvSpPr>
          <p:nvPr>
            <p:ph type="sldNum" sz="quarter" idx="5"/>
          </p:nvPr>
        </p:nvSpPr>
        <p:spPr/>
        <p:txBody>
          <a:bodyPr/>
          <a:lstStyle/>
          <a:p>
            <a:fld id="{53BCCA8E-E054-4945-93F6-8F3E2A7D5A26}" type="slidenum">
              <a:rPr lang="en-US" smtClean="0"/>
              <a:pPr/>
              <a:t>45</a:t>
            </a:fld>
            <a:endParaRPr lang="en-US"/>
          </a:p>
        </p:txBody>
      </p:sp>
    </p:spTree>
    <p:extLst>
      <p:ext uri="{BB962C8B-B14F-4D97-AF65-F5344CB8AC3E}">
        <p14:creationId xmlns:p14="http://schemas.microsoft.com/office/powerpoint/2010/main" val="3869995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Evolve reduces uncertainty. It does not replace the method, delivery team, client experts, or governance.</a:t>
            </a:r>
            <a:endParaRPr lang="en-US"/>
          </a:p>
          <a:p>
            <a:r>
              <a:rPr lang="en-US" dirty="0"/>
              <a:t>Strong current workflows include workflow discovery, functional specification, QA extraction, workflow-to-wireframe, and integration rollup.</a:t>
            </a:r>
            <a:endParaRPr lang="en-US"/>
          </a:p>
          <a:p>
            <a:r>
              <a:rPr lang="en-US" dirty="0"/>
              <a:t>Security CVE triage is a pilot or scaffold, and several planning workflows are advisory.</a:t>
            </a:r>
            <a:endParaRPr lang="en-US"/>
          </a:p>
          <a:p>
            <a:r>
              <a:rPr lang="en-US" dirty="0"/>
              <a:t>Transition: Evolve's strongest and most direct role sits inside Rationalize, where it builds the source-backed evidence base for the modernization decision.</a:t>
            </a:r>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Assessment is Evolve's strongest current product position.</a:t>
            </a:r>
            <a:endParaRPr lang="en-US"/>
          </a:p>
          <a:p>
            <a:r>
              <a:rPr lang="en-US" dirty="0"/>
              <a:t>Evolve can help reconstruct candidate functional behavior from source.</a:t>
            </a:r>
            <a:endParaRPr lang="en-US"/>
          </a:p>
          <a:p>
            <a:r>
              <a:rPr lang="en-US" dirty="0"/>
              <a:t>It does not observe employee work or determine business purpose by itself.</a:t>
            </a:r>
            <a:endParaRPr lang="en-US"/>
          </a:p>
          <a:p>
            <a:r>
              <a:rPr lang="en-US" dirty="0"/>
              <a:t>It supports decisions and does not autonomously choose architecture, disposition, investment, or roadmap.</a:t>
            </a:r>
            <a:endParaRPr lang="en-US"/>
          </a:p>
          <a:p>
            <a:r>
              <a:rPr lang="en-US" dirty="0"/>
              <a:t>Transition: A security scan provides one concrete example of how code evidence can make a large technical inventory more actionable.</a:t>
            </a:r>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The value hypothesis is contextual triage.</a:t>
            </a:r>
            <a:endParaRPr lang="en-US"/>
          </a:p>
          <a:p>
            <a:r>
              <a:rPr lang="en-US" dirty="0"/>
              <a:t>Do not claim that Evolve automatically proves false positives, establishes exploitability, or generates production-ready remediation.</a:t>
            </a:r>
            <a:endParaRPr lang="en-US"/>
          </a:p>
          <a:p>
            <a:r>
              <a:rPr lang="en-US" dirty="0"/>
              <a:t>The same pattern can support diligence, technical-debt planning, post-close remediation, or a security-led catalyst.</a:t>
            </a:r>
            <a:endParaRPr lang="en-US"/>
          </a:p>
          <a:p>
            <a:r>
              <a:rPr lang="en-US" dirty="0"/>
              <a:t>Transition: The source-backed context built during Rationalize can continue creating value during Build and Sustain.</a:t>
            </a:r>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Evolve currently stores source-backed evidence and exposes targeted context through Hub APIs, reports, and MCP-connected tools.</a:t>
            </a:r>
            <a:endParaRPr lang="en-US"/>
          </a:p>
          <a:p>
            <a:r>
              <a:rPr lang="en-US" dirty="0"/>
              <a:t>The broader context also needs interviews, consented observation, target designs, requirements, decisions, change artifacts, and operational records.</a:t>
            </a:r>
            <a:endParaRPr lang="en-US"/>
          </a:p>
          <a:p>
            <a:r>
              <a:rPr lang="en-US" dirty="0"/>
              <a:t>Build continuity is the strongest near-term story.</a:t>
            </a:r>
            <a:endParaRPr lang="en-US"/>
          </a:p>
          <a:p>
            <a:r>
              <a:rPr lang="en-US" dirty="0"/>
              <a:t>Avoid saying Evolve modernizes the application. Say it creates and exposes evidence that helps people and agents make and execute modernization decisions.</a:t>
            </a:r>
            <a:endParaRPr lang="en-US"/>
          </a:p>
          <a:p>
            <a:r>
              <a:rPr lang="en-US" dirty="0"/>
              <a:t>Transition: The same lifecycle appears through different business processes in each target industry.</a:t>
            </a:r>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These are opportunity hypotheses, not claims that every company has the problem.</a:t>
            </a:r>
            <a:endParaRPr lang="en-US"/>
          </a:p>
          <a:p>
            <a:r>
              <a:rPr lang="en-US" dirty="0"/>
              <a:t>Evolve fit is strongest where meaningful custom or custom-modified source is available.</a:t>
            </a:r>
            <a:endParaRPr lang="en-US"/>
          </a:p>
          <a:p>
            <a:r>
              <a:rPr lang="en-US" dirty="0"/>
              <a:t>Packaged-platform opportunities may focus on custom extensions, satellite applications, integrations, batch jobs, and surrounding workflows.</a:t>
            </a:r>
            <a:endParaRPr lang="en-US"/>
          </a:p>
          <a:p>
            <a:r>
              <a:rPr lang="en-US" dirty="0"/>
              <a:t>Tailor this module to the audience in a composed deck.</a:t>
            </a:r>
            <a:endParaRPr lang="en-US"/>
          </a:p>
          <a:p>
            <a:r>
              <a:rPr lang="en-US" dirty="0"/>
              <a:t>Transition: Select the most relevant proof story from the case-study appendix to make the lifecycle and economic shift tangible.</a:t>
            </a:r>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Source deck: Software Modernization Walking Deck_04132026.pptx.</a:t>
            </a:r>
            <a:endParaRPr lang="en-US"/>
          </a:p>
          <a:p>
            <a:r>
              <a:rPr lang="en-US" dirty="0"/>
              <a:t>Insert source slides 9 through 11, 13 through 14, and 15 through 31 unchanged after this divider.</a:t>
            </a:r>
            <a:endParaRPr lang="en-US"/>
          </a:p>
          <a:p>
            <a:r>
              <a:rPr lang="en-US" dirty="0"/>
              <a:t>Omit source slide 12 because it is the old contact call to action.</a:t>
            </a:r>
            <a:endParaRPr lang="en-US"/>
          </a:p>
          <a:p>
            <a:r>
              <a:rPr lang="en-US" dirty="0"/>
              <a:t>Preserve source order, formatting, metrics, client descriptors, caveats, and notes.</a:t>
            </a:r>
            <a:endParaRPr lang="en-US"/>
          </a:p>
          <a:p>
            <a:r>
              <a:rPr lang="en-US" dirty="0"/>
              <a:t>The source is internal and verify-before-external-reuse.</a:t>
            </a:r>
            <a:endParaRPr lang="en-US"/>
          </a:p>
          <a:p>
            <a:r>
              <a:rPr lang="en-US" dirty="0"/>
              <a:t>Some outcomes may be modeled or identified rather than realized, and notes may contain names not visible on slides.</a:t>
            </a:r>
            <a:endParaRPr lang="en-US"/>
          </a:p>
          <a:p>
            <a:r>
              <a:rPr lang="en-US" dirty="0"/>
              <a:t>Transition: After a selected proof example, bring the audience back to one specific account action.</a:t>
            </a:r>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1092D-47AA-E014-3C40-BBF5D97E6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B0ED9-6021-5E6B-13FA-E4919E9C04A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763C30-1923-3A8D-E873-7157DED75577}"/>
              </a:ext>
            </a:extLst>
          </p:cNvPr>
          <p:cNvSpPr>
            <a:spLocks noGrp="1"/>
          </p:cNvSpPr>
          <p:nvPr>
            <p:ph type="body" idx="1"/>
          </p:nvPr>
        </p:nvSpPr>
        <p:spPr/>
        <p:txBody>
          <a:bodyPr/>
          <a:lstStyle/>
          <a:p>
            <a:pPr marL="171450" indent="-171450">
              <a:buFont typeface="Arial" panose="020B0604020202020204" pitchFamily="34" charset="0"/>
              <a:buChar char="•"/>
            </a:pPr>
            <a:r>
              <a:rPr lang="en-US"/>
              <a:t>Con Edison EDAP Admin modernization</a:t>
            </a:r>
          </a:p>
          <a:p>
            <a:pPr marL="171450" indent="-171450">
              <a:buFont typeface="Arial" panose="020B0604020202020204" pitchFamily="34" charset="0"/>
              <a:buChar char="•"/>
            </a:pPr>
            <a:r>
              <a:rPr lang="en-US"/>
              <a:t>Exelon Intellio Connect UI Modernization</a:t>
            </a:r>
          </a:p>
          <a:p>
            <a:pPr marL="171450" indent="-171450">
              <a:buFont typeface="Arial" panose="020B0604020202020204" pitchFamily="34" charset="0"/>
              <a:buChar char="•"/>
            </a:pPr>
            <a:r>
              <a:rPr lang="en-US"/>
              <a:t>American Airlines</a:t>
            </a:r>
          </a:p>
          <a:p>
            <a:pPr marL="171450" indent="-171450">
              <a:buFont typeface="Arial" panose="020B0604020202020204" pitchFamily="34" charset="0"/>
              <a:buChar char="•"/>
            </a:pPr>
            <a:r>
              <a:rPr lang="en-US"/>
              <a:t>CAP SCORES Strategy</a:t>
            </a:r>
          </a:p>
          <a:p>
            <a:pPr marL="171450" indent="-171450">
              <a:buFont typeface="Arial" panose="020B0604020202020204" pitchFamily="34" charset="0"/>
              <a:buChar char="•"/>
            </a:pPr>
            <a:r>
              <a:rPr lang="en-US"/>
              <a:t>CAP RFDE Rewrite</a:t>
            </a:r>
          </a:p>
          <a:p>
            <a:pPr marL="171450" indent="-171450">
              <a:buFont typeface="Arial" panose="020B0604020202020204" pitchFamily="34" charset="0"/>
              <a:buChar char="•"/>
            </a:pPr>
            <a:r>
              <a:rPr lang="en-US"/>
              <a:t>Renovo Modernization</a:t>
            </a:r>
          </a:p>
          <a:p>
            <a:pPr marL="171450" indent="-171450">
              <a:buFont typeface="Arial" panose="020B0604020202020204" pitchFamily="34" charset="0"/>
              <a:buChar char="•"/>
            </a:pPr>
            <a:endParaRPr lang="en-US"/>
          </a:p>
          <a:p>
            <a:pPr marL="228600" indent="-228600">
              <a:buFont typeface="+mj-lt"/>
              <a:buAutoNum type="arabicPeriod"/>
            </a:pPr>
            <a:endParaRPr lang="en-US"/>
          </a:p>
        </p:txBody>
      </p:sp>
      <p:sp>
        <p:nvSpPr>
          <p:cNvPr id="4" name="Slide Number Placeholder 3">
            <a:extLst>
              <a:ext uri="{FF2B5EF4-FFF2-40B4-BE49-F238E27FC236}">
                <a16:creationId xmlns:a16="http://schemas.microsoft.com/office/drawing/2014/main" id="{58B46097-C681-E854-207B-48B8378795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52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090318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01B56-50B5-E2B5-FF1C-52362248F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C8B17-4C9F-AE33-C128-889BF39104B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663159-063E-90AA-9F5E-CFD5316097AB}"/>
              </a:ext>
            </a:extLst>
          </p:cNvPr>
          <p:cNvSpPr>
            <a:spLocks noGrp="1"/>
          </p:cNvSpPr>
          <p:nvPr>
            <p:ph type="body" idx="1"/>
          </p:nvPr>
        </p:nvSpPr>
        <p:spPr/>
        <p:txBody>
          <a:bodyPr/>
          <a:lstStyle/>
          <a:p>
            <a:pPr marL="285750" indent="-285750">
              <a:spcAft>
                <a:spcPts val="0"/>
              </a:spcAft>
              <a:buFont typeface="Arial" panose="020B0604020202020204" pitchFamily="34" charset="0"/>
              <a:buChar char="•"/>
            </a:pPr>
            <a:r>
              <a:rPr lang="en-US" sz="1200" b="0" i="0" kern="1200">
                <a:solidFill>
                  <a:schemeClr val="bg1"/>
                </a:solidFill>
                <a:latin typeface="Arial" panose="020B0604020202020204" pitchFamily="34" charset="0"/>
                <a:ea typeface="Roboto" panose="02000000000000000000" pitchFamily="2" charset="0"/>
                <a:cs typeface="Segoe UI" panose="020B0502040204020203" pitchFamily="34" charset="0"/>
              </a:rPr>
              <a:t>Hulu Subscriptions</a:t>
            </a:r>
          </a:p>
          <a:p>
            <a:pPr marL="285750" indent="-285750">
              <a:spcAft>
                <a:spcPts val="0"/>
              </a:spcAft>
              <a:buFont typeface="Arial" panose="020B0604020202020204" pitchFamily="34" charset="0"/>
              <a:buChar char="•"/>
            </a:pPr>
            <a:r>
              <a:rPr lang="en-US" sz="1200">
                <a:solidFill>
                  <a:schemeClr val="bg1"/>
                </a:solidFill>
              </a:rPr>
              <a:t>Hulu iOS</a:t>
            </a:r>
          </a:p>
          <a:p>
            <a:pPr marL="285750" indent="-285750">
              <a:spcAft>
                <a:spcPts val="0"/>
              </a:spcAft>
              <a:buFont typeface="Arial" panose="020B0604020202020204" pitchFamily="34" charset="0"/>
              <a:buChar char="•"/>
            </a:pPr>
            <a:r>
              <a:rPr lang="en-US" sz="1200">
                <a:solidFill>
                  <a:schemeClr val="bg1"/>
                </a:solidFill>
              </a:rPr>
              <a:t>Exostar Tech Debt Remediation</a:t>
            </a:r>
          </a:p>
          <a:p>
            <a:pPr marL="285750" indent="-285750">
              <a:spcAft>
                <a:spcPts val="0"/>
              </a:spcAft>
              <a:buFont typeface="Arial" panose="020B0604020202020204" pitchFamily="34" charset="0"/>
              <a:buChar char="•"/>
            </a:pPr>
            <a:r>
              <a:rPr lang="en-US" sz="1200" err="1">
                <a:solidFill>
                  <a:schemeClr val="bg1"/>
                </a:solidFill>
              </a:rPr>
              <a:t>SAFEBuilt</a:t>
            </a:r>
            <a:endParaRPr lang="en-US" sz="1200">
              <a:solidFill>
                <a:schemeClr val="bg1"/>
              </a:solidFill>
            </a:endParaRPr>
          </a:p>
          <a:p>
            <a:pPr marL="285750" indent="-285750">
              <a:spcAft>
                <a:spcPts val="0"/>
              </a:spcAft>
              <a:buFont typeface="Arial" panose="020B0604020202020204" pitchFamily="34" charset="0"/>
              <a:buChar char="•"/>
            </a:pPr>
            <a:r>
              <a:rPr lang="en-US" sz="1200">
                <a:solidFill>
                  <a:schemeClr val="bg1"/>
                </a:solidFill>
              </a:rPr>
              <a:t>Vertafore Modernization</a:t>
            </a:r>
          </a:p>
          <a:p>
            <a:pPr marL="285750" indent="-285750">
              <a:spcAft>
                <a:spcPts val="0"/>
              </a:spcAft>
              <a:buFont typeface="Arial" panose="020B0604020202020204" pitchFamily="34" charset="0"/>
              <a:buChar char="•"/>
            </a:pPr>
            <a:r>
              <a:rPr lang="en-US" sz="1200" err="1">
                <a:solidFill>
                  <a:schemeClr val="bg1"/>
                </a:solidFill>
              </a:rPr>
              <a:t>Outsolve</a:t>
            </a:r>
            <a:endParaRPr lang="en-US" sz="1200">
              <a:solidFill>
                <a:schemeClr val="bg1"/>
              </a:solidFill>
            </a:endParaRPr>
          </a:p>
        </p:txBody>
      </p:sp>
      <p:sp>
        <p:nvSpPr>
          <p:cNvPr id="4" name="Slide Number Placeholder 3">
            <a:extLst>
              <a:ext uri="{FF2B5EF4-FFF2-40B4-BE49-F238E27FC236}">
                <a16:creationId xmlns:a16="http://schemas.microsoft.com/office/drawing/2014/main" id="{B8680389-84BC-14B6-3F8C-33E6C8D808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53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47666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3A2E3-4F41-49C6-222A-7624FEF39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1EF6A-BDC2-76BF-B20B-2D4E4E67A9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DB457B3-806A-B1A6-6608-6F8E8CE95B6B}"/>
              </a:ext>
            </a:extLst>
          </p:cNvPr>
          <p:cNvSpPr>
            <a:spLocks noGrp="1"/>
          </p:cNvSpPr>
          <p:nvPr>
            <p:ph type="body" idx="1"/>
          </p:nvPr>
        </p:nvSpPr>
        <p:spPr/>
        <p:txBody>
          <a:bodyPr/>
          <a:lstStyle/>
          <a:p>
            <a:pPr marL="285750" indent="-285750">
              <a:spcAft>
                <a:spcPts val="0"/>
              </a:spcAft>
              <a:buFont typeface="Arial" panose="020B0604020202020204" pitchFamily="34" charset="0"/>
              <a:buChar char="•"/>
            </a:pPr>
            <a:r>
              <a:rPr lang="en-US" sz="1200">
                <a:solidFill>
                  <a:schemeClr val="bg1"/>
                </a:solidFill>
              </a:rPr>
              <a:t>Uline App Modernization</a:t>
            </a:r>
          </a:p>
          <a:p>
            <a:pPr marL="285750" indent="-285750">
              <a:spcAft>
                <a:spcPts val="0"/>
              </a:spcAft>
              <a:buFont typeface="Arial" panose="020B0604020202020204" pitchFamily="34" charset="0"/>
              <a:buChar char="•"/>
            </a:pPr>
            <a:r>
              <a:rPr lang="en-US" sz="1200">
                <a:solidFill>
                  <a:schemeClr val="bg1"/>
                </a:solidFill>
              </a:rPr>
              <a:t>Troon Golf</a:t>
            </a:r>
          </a:p>
          <a:p>
            <a:pPr marL="285750" indent="-285750">
              <a:spcAft>
                <a:spcPts val="0"/>
              </a:spcAft>
              <a:buFont typeface="Arial" panose="020B0604020202020204" pitchFamily="34" charset="0"/>
              <a:buChar char="•"/>
            </a:pPr>
            <a:r>
              <a:rPr lang="en-US" sz="1200">
                <a:solidFill>
                  <a:schemeClr val="bg1"/>
                </a:solidFill>
              </a:rPr>
              <a:t>First American</a:t>
            </a:r>
          </a:p>
          <a:p>
            <a:pPr marL="285750" indent="-285750">
              <a:spcAft>
                <a:spcPts val="0"/>
              </a:spcAft>
              <a:buFont typeface="Arial" panose="020B0604020202020204" pitchFamily="34" charset="0"/>
              <a:buChar char="•"/>
            </a:pPr>
            <a:r>
              <a:rPr lang="en-US" sz="1200">
                <a:solidFill>
                  <a:schemeClr val="bg1"/>
                </a:solidFill>
              </a:rPr>
              <a:t>Experian Offers</a:t>
            </a:r>
          </a:p>
          <a:p>
            <a:pPr marL="285750" indent="-285750">
              <a:spcAft>
                <a:spcPts val="0"/>
              </a:spcAft>
              <a:buFont typeface="Arial" panose="020B0604020202020204" pitchFamily="34" charset="0"/>
              <a:buChar char="•"/>
            </a:pPr>
            <a:r>
              <a:rPr lang="en-US" sz="1200">
                <a:solidFill>
                  <a:schemeClr val="bg1"/>
                </a:solidFill>
              </a:rPr>
              <a:t>NASB Community Bank</a:t>
            </a:r>
          </a:p>
          <a:p>
            <a:pPr marL="285750" indent="-285750">
              <a:spcAft>
                <a:spcPts val="0"/>
              </a:spcAft>
              <a:buFont typeface="Arial" panose="020B0604020202020204" pitchFamily="34" charset="0"/>
              <a:buChar char="•"/>
            </a:pPr>
            <a:r>
              <a:rPr lang="en-US" sz="1200">
                <a:solidFill>
                  <a:schemeClr val="bg1"/>
                </a:solidFill>
              </a:rPr>
              <a:t>DISA</a:t>
            </a:r>
          </a:p>
          <a:p>
            <a:endParaRPr lang="en-US"/>
          </a:p>
        </p:txBody>
      </p:sp>
      <p:sp>
        <p:nvSpPr>
          <p:cNvPr id="4" name="Slide Number Placeholder 3">
            <a:extLst>
              <a:ext uri="{FF2B5EF4-FFF2-40B4-BE49-F238E27FC236}">
                <a16:creationId xmlns:a16="http://schemas.microsoft.com/office/drawing/2014/main" id="{F8470496-5EE4-5AB5-5D20-9AAE43F4AB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54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905516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FFFFFF"/>
                </a:solidFill>
                <a:effectLst/>
                <a:latin typeface="Helvetica" pitchFamily="2" charset="0"/>
              </a:rPr>
              <a:t>Con Edison EDAP Modernization</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56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15937761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FFFFFF"/>
                </a:solidFill>
                <a:effectLst/>
                <a:latin typeface="Helvetica" pitchFamily="2" charset="0"/>
              </a:rPr>
              <a:t>Exelon Intellio UI Modernization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57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22481855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63454-74B9-0B9F-8108-F8CD74256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4C4DE4-90F3-4F52-0659-79A07E37BD9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369BA5-3FC9-4082-7065-8EA64F8143A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FFFFFF"/>
                </a:solidFill>
                <a:effectLst/>
                <a:latin typeface="Helvetica" pitchFamily="2" charset="0"/>
              </a:rPr>
              <a:t>American Airlines</a:t>
            </a:r>
          </a:p>
        </p:txBody>
      </p:sp>
      <p:sp>
        <p:nvSpPr>
          <p:cNvPr id="4" name="Slide Number Placeholder 3">
            <a:extLst>
              <a:ext uri="{FF2B5EF4-FFF2-40B4-BE49-F238E27FC236}">
                <a16:creationId xmlns:a16="http://schemas.microsoft.com/office/drawing/2014/main" id="{06A7363C-CC7A-EFDC-6A9B-3D97F8F027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58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42557433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7E23F-1D4C-7714-8AC0-91CA18A8F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ACCB4-2D6D-81E7-D970-790F0DC0C0D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60FFD4C-F99B-4BC1-2DB3-6C03AA666F84}"/>
              </a:ext>
            </a:extLst>
          </p:cNvPr>
          <p:cNvSpPr>
            <a:spLocks noGrp="1"/>
          </p:cNvSpPr>
          <p:nvPr>
            <p:ph type="body" idx="1"/>
          </p:nvPr>
        </p:nvSpPr>
        <p:spPr/>
        <p:txBody>
          <a:bodyPr/>
          <a:lstStyle/>
          <a:p>
            <a:r>
              <a:rPr lang="en-US">
                <a:solidFill>
                  <a:srgbClr val="FFFFFF"/>
                </a:solidFill>
                <a:effectLst/>
                <a:latin typeface="Helvetica" pitchFamily="2" charset="0"/>
              </a:rPr>
              <a:t>CAP SCORES Strategy</a:t>
            </a:r>
          </a:p>
        </p:txBody>
      </p:sp>
      <p:sp>
        <p:nvSpPr>
          <p:cNvPr id="4" name="Slide Number Placeholder 3">
            <a:extLst>
              <a:ext uri="{FF2B5EF4-FFF2-40B4-BE49-F238E27FC236}">
                <a16:creationId xmlns:a16="http://schemas.microsoft.com/office/drawing/2014/main" id="{806613D1-A051-9DFF-3596-6351D82EF3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59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20881048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548FC-FF48-EF15-54EE-22ADE995C8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B1E05-3F10-CB3F-FD3A-761BFCF5D0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BFF23C-6043-654A-F92C-080BCC524AB0}"/>
              </a:ext>
            </a:extLst>
          </p:cNvPr>
          <p:cNvSpPr>
            <a:spLocks noGrp="1"/>
          </p:cNvSpPr>
          <p:nvPr>
            <p:ph type="body" idx="1"/>
          </p:nvPr>
        </p:nvSpPr>
        <p:spPr/>
        <p:txBody>
          <a:bodyPr/>
          <a:lstStyle/>
          <a:p>
            <a:r>
              <a:rPr lang="en-US">
                <a:solidFill>
                  <a:srgbClr val="FFFFFF"/>
                </a:solidFill>
                <a:effectLst/>
                <a:latin typeface="Helvetica" pitchFamily="2" charset="0"/>
              </a:rPr>
              <a:t>CAP Result Form Modernization Strategy and Build</a:t>
            </a:r>
          </a:p>
        </p:txBody>
      </p:sp>
      <p:sp>
        <p:nvSpPr>
          <p:cNvPr id="4" name="Slide Number Placeholder 3">
            <a:extLst>
              <a:ext uri="{FF2B5EF4-FFF2-40B4-BE49-F238E27FC236}">
                <a16:creationId xmlns:a16="http://schemas.microsoft.com/office/drawing/2014/main" id="{8BD418F8-76AE-B813-C81B-14B8A06D62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338328293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3CC61-1E45-B063-A574-9CA59BDD14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3F400-825E-13EC-1ED1-48D54763215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CC48028-B50C-38FE-47E0-536371A2C3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FFFFFF"/>
                </a:solidFill>
                <a:effectLst/>
                <a:latin typeface="Helvetica" pitchFamily="2" charset="0"/>
              </a:rPr>
              <a:t>Renovo Modernization</a:t>
            </a:r>
          </a:p>
          <a:p>
            <a:endParaRPr lang="en-US"/>
          </a:p>
        </p:txBody>
      </p:sp>
      <p:sp>
        <p:nvSpPr>
          <p:cNvPr id="4" name="Slide Number Placeholder 3">
            <a:extLst>
              <a:ext uri="{FF2B5EF4-FFF2-40B4-BE49-F238E27FC236}">
                <a16:creationId xmlns:a16="http://schemas.microsoft.com/office/drawing/2014/main" id="{E2A73533-93C2-93D3-98CF-25815DAB26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13540423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7E6D3-3A78-00A5-EB8D-100F0A1FA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C4FD0C-C76A-E7D3-15E4-45BD4C471D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8FC9B8A-6678-7BDA-0584-E1CED7C183F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FFFFFF"/>
                </a:solidFill>
                <a:effectLst/>
                <a:latin typeface="Helvetica" pitchFamily="2" charset="0"/>
              </a:rPr>
              <a:t>Hulu Subscriptions</a:t>
            </a:r>
            <a:endParaRPr lang="en-US"/>
          </a:p>
        </p:txBody>
      </p:sp>
      <p:sp>
        <p:nvSpPr>
          <p:cNvPr id="4" name="Slide Number Placeholder 3">
            <a:extLst>
              <a:ext uri="{FF2B5EF4-FFF2-40B4-BE49-F238E27FC236}">
                <a16:creationId xmlns:a16="http://schemas.microsoft.com/office/drawing/2014/main" id="{91AFFB92-6BCF-069A-5B01-7DF78467F4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29613293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6C324-8B62-B8B7-AEAB-06E2688D9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D8119-AD0C-8012-3E9C-90077D58F23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6B950B-E484-33A9-7ED5-BE094124124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FFFFFF"/>
                </a:solidFill>
                <a:effectLst/>
                <a:latin typeface="Helvetica" pitchFamily="2" charset="0"/>
              </a:rPr>
              <a:t>Hulu iOS</a:t>
            </a:r>
          </a:p>
          <a:p>
            <a:endParaRPr lang="en-US"/>
          </a:p>
        </p:txBody>
      </p:sp>
      <p:sp>
        <p:nvSpPr>
          <p:cNvPr id="4" name="Slide Number Placeholder 3">
            <a:extLst>
              <a:ext uri="{FF2B5EF4-FFF2-40B4-BE49-F238E27FC236}">
                <a16:creationId xmlns:a16="http://schemas.microsoft.com/office/drawing/2014/main" id="{3DE06ADD-8359-A09A-8D42-DCB0DADC97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164129660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0B7B6-E39E-B1C5-05EE-ABC6681921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771B8-945E-D666-12A7-988FAE0ED32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3ECA76-1264-28CA-3B03-487EF65BBFB0}"/>
              </a:ext>
            </a:extLst>
          </p:cNvPr>
          <p:cNvSpPr>
            <a:spLocks noGrp="1"/>
          </p:cNvSpPr>
          <p:nvPr>
            <p:ph type="body" idx="1"/>
          </p:nvPr>
        </p:nvSpPr>
        <p:spPr/>
        <p:txBody>
          <a:bodyPr/>
          <a:lstStyle/>
          <a:p>
            <a:r>
              <a:rPr lang="en-US">
                <a:solidFill>
                  <a:srgbClr val="FFFFFF"/>
                </a:solidFill>
                <a:effectLst/>
                <a:latin typeface="Helvetica" pitchFamily="2" charset="0"/>
              </a:rPr>
              <a:t>Exostar Tech Debt Remediation</a:t>
            </a:r>
          </a:p>
        </p:txBody>
      </p:sp>
      <p:sp>
        <p:nvSpPr>
          <p:cNvPr id="4" name="Slide Number Placeholder 3">
            <a:extLst>
              <a:ext uri="{FF2B5EF4-FFF2-40B4-BE49-F238E27FC236}">
                <a16:creationId xmlns:a16="http://schemas.microsoft.com/office/drawing/2014/main" id="{5A5434A9-FDCF-A916-1FCD-0F1F369A59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298342277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0BCDE-9E0F-DF04-EA1E-86D5DA05DC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B42819-F009-1678-16BC-10C1593827C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EF7396D-0737-DF27-696D-46A4029F01BA}"/>
              </a:ext>
            </a:extLst>
          </p:cNvPr>
          <p:cNvSpPr>
            <a:spLocks noGrp="1"/>
          </p:cNvSpPr>
          <p:nvPr>
            <p:ph type="body" idx="1"/>
          </p:nvPr>
        </p:nvSpPr>
        <p:spPr/>
        <p:txBody>
          <a:bodyPr/>
          <a:lstStyle/>
          <a:p>
            <a:r>
              <a:rPr lang="en-US">
                <a:solidFill>
                  <a:srgbClr val="FFFFFF"/>
                </a:solidFill>
                <a:effectLst/>
                <a:latin typeface="Helvetica" pitchFamily="2" charset="0"/>
              </a:rPr>
              <a:t>SAFe Built</a:t>
            </a:r>
          </a:p>
        </p:txBody>
      </p:sp>
      <p:sp>
        <p:nvSpPr>
          <p:cNvPr id="4" name="Slide Number Placeholder 3">
            <a:extLst>
              <a:ext uri="{FF2B5EF4-FFF2-40B4-BE49-F238E27FC236}">
                <a16:creationId xmlns:a16="http://schemas.microsoft.com/office/drawing/2014/main" id="{EDDBB131-C3D1-804B-A44F-9ABEE21565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384048543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D8251-E77C-E7A1-7201-9AD8CD7C5D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4E310-EE9A-8491-0477-5BA610573E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F053FC2-A48A-6157-E774-B811C3D28284}"/>
              </a:ext>
            </a:extLst>
          </p:cNvPr>
          <p:cNvSpPr>
            <a:spLocks noGrp="1"/>
          </p:cNvSpPr>
          <p:nvPr>
            <p:ph type="body" idx="1"/>
          </p:nvPr>
        </p:nvSpPr>
        <p:spPr/>
        <p:txBody>
          <a:bodyPr/>
          <a:lstStyle/>
          <a:p>
            <a:r>
              <a:rPr lang="en-US">
                <a:solidFill>
                  <a:srgbClr val="FFFFFF"/>
                </a:solidFill>
                <a:effectLst/>
                <a:latin typeface="Helvetica" pitchFamily="2" charset="0"/>
              </a:rPr>
              <a:t>Vertafore</a:t>
            </a:r>
          </a:p>
        </p:txBody>
      </p:sp>
      <p:sp>
        <p:nvSpPr>
          <p:cNvPr id="4" name="Slide Number Placeholder 3">
            <a:extLst>
              <a:ext uri="{FF2B5EF4-FFF2-40B4-BE49-F238E27FC236}">
                <a16:creationId xmlns:a16="http://schemas.microsoft.com/office/drawing/2014/main" id="{B9D7B667-3A8A-7310-9C21-CC5AE8089E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26896294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E6700-CAA0-B249-60D1-FDCA163E2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74A3F-B0D0-7357-0F96-748B27E508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A90A220-3FCC-BADA-DEAC-E23250E193B5}"/>
              </a:ext>
            </a:extLst>
          </p:cNvPr>
          <p:cNvSpPr>
            <a:spLocks noGrp="1"/>
          </p:cNvSpPr>
          <p:nvPr>
            <p:ph type="body" idx="1"/>
          </p:nvPr>
        </p:nvSpPr>
        <p:spPr/>
        <p:txBody>
          <a:bodyPr/>
          <a:lstStyle/>
          <a:p>
            <a:r>
              <a:rPr lang="en-US" err="1">
                <a:solidFill>
                  <a:srgbClr val="FFFFFF"/>
                </a:solidFill>
                <a:effectLst/>
                <a:latin typeface="Helvetica" pitchFamily="2" charset="0"/>
              </a:rPr>
              <a:t>Outsolve</a:t>
            </a:r>
            <a:endParaRPr lang="en-US">
              <a:solidFill>
                <a:srgbClr val="FFFFFF"/>
              </a:solidFill>
              <a:effectLst/>
              <a:latin typeface="Helvetica" pitchFamily="2" charset="0"/>
            </a:endParaRPr>
          </a:p>
        </p:txBody>
      </p:sp>
      <p:sp>
        <p:nvSpPr>
          <p:cNvPr id="4" name="Slide Number Placeholder 3">
            <a:extLst>
              <a:ext uri="{FF2B5EF4-FFF2-40B4-BE49-F238E27FC236}">
                <a16:creationId xmlns:a16="http://schemas.microsoft.com/office/drawing/2014/main" id="{20708587-41B9-42C6-D456-2D4E276D90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47551362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51443-00D3-E463-5994-0B60182D7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14DE97-DFD5-17C7-DBF8-116F4B38D75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882DF7-D2D6-8C39-D45B-6F8ABA764D0F}"/>
              </a:ext>
            </a:extLst>
          </p:cNvPr>
          <p:cNvSpPr>
            <a:spLocks noGrp="1"/>
          </p:cNvSpPr>
          <p:nvPr>
            <p:ph type="body" idx="1"/>
          </p:nvPr>
        </p:nvSpPr>
        <p:spPr/>
        <p:txBody>
          <a:bodyPr/>
          <a:lstStyle/>
          <a:p>
            <a:r>
              <a:rPr lang="en-US">
                <a:solidFill>
                  <a:srgbClr val="FFFFFF"/>
                </a:solidFill>
                <a:effectLst/>
                <a:latin typeface="Helvetica" pitchFamily="2" charset="0"/>
              </a:rPr>
              <a:t>Uline</a:t>
            </a:r>
          </a:p>
        </p:txBody>
      </p:sp>
      <p:sp>
        <p:nvSpPr>
          <p:cNvPr id="4" name="Slide Number Placeholder 3">
            <a:extLst>
              <a:ext uri="{FF2B5EF4-FFF2-40B4-BE49-F238E27FC236}">
                <a16:creationId xmlns:a16="http://schemas.microsoft.com/office/drawing/2014/main" id="{937CB4C9-A06A-D3CB-09BB-D343CD63E0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18608938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F9883-79E6-C5C2-0EBF-E1375A9DD8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FD439F-BE6C-B5EB-BBED-12DCC7CF8F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5E7E06-F62E-9BB9-3900-3B8F9131B437}"/>
              </a:ext>
            </a:extLst>
          </p:cNvPr>
          <p:cNvSpPr>
            <a:spLocks noGrp="1"/>
          </p:cNvSpPr>
          <p:nvPr>
            <p:ph type="body" idx="1"/>
          </p:nvPr>
        </p:nvSpPr>
        <p:spPr/>
        <p:txBody>
          <a:bodyPr/>
          <a:lstStyle/>
          <a:p>
            <a:r>
              <a:rPr lang="en-US">
                <a:solidFill>
                  <a:srgbClr val="FFFFFF"/>
                </a:solidFill>
                <a:effectLst/>
                <a:latin typeface="Helvetica" pitchFamily="2" charset="0"/>
              </a:rPr>
              <a:t>Troon Golf </a:t>
            </a:r>
            <a:r>
              <a:rPr lang="en-US" err="1">
                <a:solidFill>
                  <a:srgbClr val="FFFFFF"/>
                </a:solidFill>
                <a:effectLst/>
                <a:latin typeface="Helvetica" pitchFamily="2" charset="0"/>
              </a:rPr>
              <a:t>ClubUp</a:t>
            </a:r>
            <a:r>
              <a:rPr lang="en-US">
                <a:solidFill>
                  <a:srgbClr val="FFFFFF"/>
                </a:solidFill>
                <a:effectLst/>
                <a:latin typeface="Helvetica" pitchFamily="2" charset="0"/>
              </a:rPr>
              <a:t> Modernization</a:t>
            </a:r>
          </a:p>
        </p:txBody>
      </p:sp>
      <p:sp>
        <p:nvSpPr>
          <p:cNvPr id="4" name="Slide Number Placeholder 3">
            <a:extLst>
              <a:ext uri="{FF2B5EF4-FFF2-40B4-BE49-F238E27FC236}">
                <a16:creationId xmlns:a16="http://schemas.microsoft.com/office/drawing/2014/main" id="{707B33C4-88D0-6871-F69F-0A015B0858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611329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1D49C-FF95-5E2E-F8C3-38A857DDE7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71E0A-891F-0866-F99D-2C07B92FC85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692BE38-79AD-FADB-D750-C8C6B48D0DC2}"/>
              </a:ext>
            </a:extLst>
          </p:cNvPr>
          <p:cNvSpPr>
            <a:spLocks noGrp="1"/>
          </p:cNvSpPr>
          <p:nvPr>
            <p:ph type="body" idx="1"/>
          </p:nvPr>
        </p:nvSpPr>
        <p:spPr/>
        <p:txBody>
          <a:bodyPr/>
          <a:lstStyle/>
          <a:p>
            <a:r>
              <a:rPr lang="en-US">
                <a:solidFill>
                  <a:srgbClr val="FFFFFF"/>
                </a:solidFill>
                <a:effectLst/>
                <a:latin typeface="Helvetica" pitchFamily="2" charset="0"/>
              </a:rPr>
              <a:t>First American</a:t>
            </a:r>
          </a:p>
        </p:txBody>
      </p:sp>
      <p:sp>
        <p:nvSpPr>
          <p:cNvPr id="4" name="Slide Number Placeholder 3">
            <a:extLst>
              <a:ext uri="{FF2B5EF4-FFF2-40B4-BE49-F238E27FC236}">
                <a16:creationId xmlns:a16="http://schemas.microsoft.com/office/drawing/2014/main" id="{011CDBC4-74DF-A605-18AD-68FC4E5B6F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70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32684001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765A5-18AD-92E5-41BF-9EFF161C77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C82CF3-55E5-278A-ABC0-D281B5DEC9E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509EFB-8114-DD9E-F349-902A904EC149}"/>
              </a:ext>
            </a:extLst>
          </p:cNvPr>
          <p:cNvSpPr>
            <a:spLocks noGrp="1"/>
          </p:cNvSpPr>
          <p:nvPr>
            <p:ph type="body" idx="1"/>
          </p:nvPr>
        </p:nvSpPr>
        <p:spPr/>
        <p:txBody>
          <a:bodyPr/>
          <a:lstStyle/>
          <a:p>
            <a:r>
              <a:rPr lang="en-US" err="1">
                <a:solidFill>
                  <a:srgbClr val="FFFFFF"/>
                </a:solidFill>
                <a:effectLst/>
                <a:latin typeface="Helvetica" pitchFamily="2" charset="0"/>
              </a:rPr>
              <a:t>Outsolve</a:t>
            </a:r>
            <a:endParaRPr lang="en-US">
              <a:solidFill>
                <a:srgbClr val="FFFFFF"/>
              </a:solidFill>
              <a:effectLst/>
              <a:latin typeface="Helvetica" pitchFamily="2" charset="0"/>
            </a:endParaRPr>
          </a:p>
        </p:txBody>
      </p:sp>
      <p:sp>
        <p:nvSpPr>
          <p:cNvPr id="4" name="Slide Number Placeholder 3">
            <a:extLst>
              <a:ext uri="{FF2B5EF4-FFF2-40B4-BE49-F238E27FC236}">
                <a16:creationId xmlns:a16="http://schemas.microsoft.com/office/drawing/2014/main" id="{DF0B5850-FD96-98DE-0118-C30E74E070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71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110018683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A0D00-82E6-113D-62CE-A8DE37D128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18850-2D53-8983-BC11-17A0C04297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F61579-63F7-AE07-30D8-62FA961ABDAF}"/>
              </a:ext>
            </a:extLst>
          </p:cNvPr>
          <p:cNvSpPr>
            <a:spLocks noGrp="1"/>
          </p:cNvSpPr>
          <p:nvPr>
            <p:ph type="body" idx="1"/>
          </p:nvPr>
        </p:nvSpPr>
        <p:spPr/>
        <p:txBody>
          <a:bodyPr/>
          <a:lstStyle/>
          <a:p>
            <a:r>
              <a:rPr lang="en-US">
                <a:solidFill>
                  <a:srgbClr val="FFFFFF"/>
                </a:solidFill>
                <a:effectLst/>
                <a:latin typeface="Helvetica" pitchFamily="2" charset="0"/>
              </a:rPr>
              <a:t>NASB Application Rationalization</a:t>
            </a:r>
          </a:p>
        </p:txBody>
      </p:sp>
      <p:sp>
        <p:nvSpPr>
          <p:cNvPr id="4" name="Slide Number Placeholder 3">
            <a:extLst>
              <a:ext uri="{FF2B5EF4-FFF2-40B4-BE49-F238E27FC236}">
                <a16:creationId xmlns:a16="http://schemas.microsoft.com/office/drawing/2014/main" id="{84D2C25B-2970-4E67-62C3-6572C1015A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72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37013928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0EC26-CB86-317D-8521-0B6568878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30761-0D28-1D6B-6539-81BB599583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1DE1FBD-3C22-5ED8-0456-85CD92A2B7C0}"/>
              </a:ext>
            </a:extLst>
          </p:cNvPr>
          <p:cNvSpPr>
            <a:spLocks noGrp="1"/>
          </p:cNvSpPr>
          <p:nvPr>
            <p:ph type="body" idx="1"/>
          </p:nvPr>
        </p:nvSpPr>
        <p:spPr/>
        <p:txBody>
          <a:bodyPr/>
          <a:lstStyle/>
          <a:p>
            <a:r>
              <a:rPr lang="en-US">
                <a:solidFill>
                  <a:srgbClr val="FFFFFF"/>
                </a:solidFill>
                <a:effectLst/>
                <a:latin typeface="Helvetica" pitchFamily="2" charset="0"/>
              </a:rPr>
              <a:t>DISA</a:t>
            </a:r>
          </a:p>
        </p:txBody>
      </p:sp>
      <p:sp>
        <p:nvSpPr>
          <p:cNvPr id="4" name="Slide Number Placeholder 3">
            <a:extLst>
              <a:ext uri="{FF2B5EF4-FFF2-40B4-BE49-F238E27FC236}">
                <a16:creationId xmlns:a16="http://schemas.microsoft.com/office/drawing/2014/main" id="{4412DD28-4F1D-49C5-50CC-DD3F58BA14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73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279718674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The sprint establishes a baseline so AI-enabled gains can be measured rather than promised.</a:t>
            </a:r>
            <a:endParaRPr lang="en-US"/>
          </a:p>
          <a:p>
            <a:r>
              <a:rPr lang="en-US" dirty="0"/>
              <a:t>Some nominations will lead to retirement, packaged replacement, or a non-Evolve approach.</a:t>
            </a:r>
            <a:endParaRPr lang="en-US"/>
          </a:p>
          <a:p>
            <a:r>
              <a:rPr lang="en-US" dirty="0"/>
              <a:t>That is a successful decision if it is well supported.</a:t>
            </a:r>
            <a:endParaRPr lang="en-US"/>
          </a:p>
          <a:p>
            <a:r>
              <a:rPr lang="en-US" dirty="0"/>
              <a:t>Duration, price, owners, routing, and entry criteria still require confirmation before release.</a:t>
            </a:r>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Source deck: Software Modernization Walking Deck_04132026.pptx.</a:t>
            </a:r>
            <a:endParaRPr lang="en-US"/>
          </a:p>
          <a:p>
            <a:r>
              <a:rPr lang="en-US" dirty="0"/>
              <a:t>Insert source slides 9 through 11, 13 through 14, and 15 through 31 unchanged after this divider.</a:t>
            </a:r>
            <a:endParaRPr lang="en-US"/>
          </a:p>
          <a:p>
            <a:r>
              <a:rPr lang="en-US" dirty="0"/>
              <a:t>Omit source slide 12 because it is the old contact call to action.</a:t>
            </a:r>
            <a:endParaRPr lang="en-US"/>
          </a:p>
          <a:p>
            <a:r>
              <a:rPr lang="en-US" dirty="0"/>
              <a:t>Preserve source order, formatting, metrics, client descriptors, caveats, and notes.</a:t>
            </a:r>
            <a:endParaRPr lang="en-US"/>
          </a:p>
          <a:p>
            <a:r>
              <a:rPr lang="en-US" dirty="0"/>
              <a:t>The source is internal and verify-before-external-reuse.</a:t>
            </a:r>
            <a:endParaRPr lang="en-US"/>
          </a:p>
          <a:p>
            <a:r>
              <a:rPr lang="en-US" dirty="0"/>
              <a:t>Some outcomes may be modeled or identified rather than realized, and notes may contain names not visible on slides.</a:t>
            </a:r>
            <a:endParaRPr lang="en-US"/>
          </a:p>
          <a:p>
            <a:r>
              <a:rPr lang="en-US" dirty="0"/>
              <a:t>Transition: After a selected proof example, bring the audience back to one specific account action.</a:t>
            </a:r>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Show the default 12-month path and two optional expansion paths without implying that the base pod performs full discovery or modernization execution.</a:t>
            </a:r>
          </a:p>
          <a:p>
            <a:endParaRPr/>
          </a:p>
          <a:p>
            <a:r>
              <a:t>Sources: Plaud recording ac1680f492e61866bac7014b78fb3f54, especially 11:45–20:59; user-provided staffing screenshot /Users/rscott/Desktop/Screenshot 2026-09-16 at 3.55.07 PM.png; 2026-09-16-associated-materials-engagement-model-slide.md.</a:t>
            </a:r>
          </a:p>
          <a:p>
            <a:endParaRPr/>
          </a:p>
          <a:p>
            <a:r>
              <a:t>Commercial guardrails: Do not describe the base model as 24x7 support, managed operations, unlimited rescanning, unlimited application onboarding, or guaranteed response times. The client remains responsible for access, source and build artifacts, SME participation, acceptance, production approval, and deployment unless scoped otherwise. The Senior Architect allocation in sustainment is held to 0.5 day per week as requested.</a:t>
            </a:r>
          </a:p>
          <a:p>
            <a:endParaRPr/>
          </a:p>
          <a:p>
            <a:r>
              <a:t>Confidentiality: Restricted, client-derived material. Account-context-only. Sanitize and approve before reuse.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Make the subset relationship visible. CAST Highlight is strongest at portfolio assessment; CAST Imaging is strongest at deep application intelligence. </a:t>
            </a:r>
            <a:r>
              <a:rPr lang="en-US" err="1"/>
              <a:t>Intellio</a:t>
            </a:r>
            <a:r>
              <a:t> Evolve adds source-backed modernization understanding and decision-ready artifacts. The combined Evolve and West Monroe offer closes the value gap by adding expert architectural opinion, business-value alignment, bespoke gap analysis, approved scope and sequencing, and accountable support through execution. The intended buyer takeaway is: CAST gives me strong analysis assets, but Evolve and West Monroe tell me what to do with them and help me execute.</a:t>
            </a:r>
          </a:p>
          <a:p>
            <a:endParaRPr/>
          </a:p>
          <a:p>
            <a:r>
              <a:t>Sources: 02-evolve-vs-cast.md; 2026-09-14-cast-software-and-cast-ai-competitive-research.md; 2026-09-16-blitzy-cast-intellio-evolve-competitive-brief.md; current-product-</a:t>
            </a:r>
            <a:r>
              <a:rPr lang="en-US" err="1"/>
              <a:t>capabilities.md</a:t>
            </a:r>
            <a:r>
              <a:t>.</a:t>
            </a:r>
          </a:p>
          <a:p>
            <a:endParaRPr/>
          </a:p>
          <a:p>
            <a:r>
              <a:t>Claim guardrails: This compares CAST product outputs with the combined Evolve and West Monroe offer. CAST has services and partners, so do not claim CAST cannot support delivery. CAST Imaging includes AI summaries and business-rule extraction. Do not claim portfolio rationalization parity, broader technical mapping, or autonomous modernization for Evolve. West Monroe implementation remains separately scoped.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Working draft based on the Patterson Eaglesoft pursuit brief, the West Monroe modernization lifecycle working model, Intellio Evolve strategy material, and the user-provided AI-native PDLC working deck. The 4–8 week range and high-level 7R framing are planning assumptions, not commercial commitments.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activity plan intentionally shows overlap. The core path can close in approximately four weeks, while deeper slice validation, dependency analysis, or planning detail can extend the work through Week 8. The register is an initiative and epic view for program definition, not a detailed implementation backlog.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r>
              <a:rPr lang="en-US" dirty="0"/>
              <a:t>Source deck: Software Modernization Walking Deck_04132026.pptx.</a:t>
            </a:r>
            <a:endParaRPr lang="en-US"/>
          </a:p>
          <a:p>
            <a:r>
              <a:rPr lang="en-US" dirty="0"/>
              <a:t>Insert source slides 9 through 11, 13 through 14, and 15 through 31 unchanged after this divider.</a:t>
            </a:r>
            <a:endParaRPr lang="en-US"/>
          </a:p>
          <a:p>
            <a:r>
              <a:rPr lang="en-US" dirty="0"/>
              <a:t>Omit source slide 12 because it is the old contact call to action.</a:t>
            </a:r>
            <a:endParaRPr lang="en-US"/>
          </a:p>
          <a:p>
            <a:r>
              <a:rPr lang="en-US" dirty="0"/>
              <a:t>Preserve source order, formatting, metrics, client descriptors, caveats, and notes.</a:t>
            </a:r>
            <a:endParaRPr lang="en-US"/>
          </a:p>
          <a:p>
            <a:r>
              <a:rPr lang="en-US" dirty="0"/>
              <a:t>The source is internal and verify-before-external-reuse.</a:t>
            </a:r>
            <a:endParaRPr lang="en-US"/>
          </a:p>
          <a:p>
            <a:r>
              <a:rPr lang="en-US" dirty="0"/>
              <a:t>Some outcomes may be modeled or identified rather than realized, and notes may contain names not visible on slides.</a:t>
            </a:r>
            <a:endParaRPr lang="en-US"/>
          </a:p>
          <a:p>
            <a:r>
              <a:rPr lang="en-US" dirty="0"/>
              <a:t>Transition: After a selected proof example, bring the audience back to one specific account action.</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jpe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7.jpe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9.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svg"/><Relationship Id="rId1" Type="http://schemas.openxmlformats.org/officeDocument/2006/relationships/slideMaster" Target="../slideMasters/slideMaster1.xml"/><Relationship Id="rId4" Type="http://schemas.openxmlformats.org/officeDocument/2006/relationships/image" Target="../media/image24.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Master" Target="../slideMasters/slideMaster1.xml"/><Relationship Id="rId4" Type="http://schemas.openxmlformats.org/officeDocument/2006/relationships/image" Target="../media/image26.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Master" Target="../slideMasters/slideMaster1.xml"/><Relationship Id="rId4" Type="http://schemas.openxmlformats.org/officeDocument/2006/relationships/image" Target="../media/image26.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13.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jpeg"/><Relationship Id="rId1" Type="http://schemas.openxmlformats.org/officeDocument/2006/relationships/slideMaster" Target="../slideMasters/slideMaster2.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7.jpeg"/><Relationship Id="rId1" Type="http://schemas.openxmlformats.org/officeDocument/2006/relationships/slideMaster" Target="../slideMasters/slideMaster2.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sv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Master" Target="../slideMasters/slideMaster2.xml"/><Relationship Id="rId4" Type="http://schemas.openxmlformats.org/officeDocument/2006/relationships/image" Target="../media/image26.sv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jpeg"/><Relationship Id="rId1" Type="http://schemas.openxmlformats.org/officeDocument/2006/relationships/slideMaster" Target="../slideMasters/slideMaster2.xml"/><Relationship Id="rId4" Type="http://schemas.openxmlformats.org/officeDocument/2006/relationships/image" Target="../media/image33.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28.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29.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5.jpeg"/><Relationship Id="rId1" Type="http://schemas.openxmlformats.org/officeDocument/2006/relationships/slideMaster" Target="../slideMasters/slideMaster2.xml"/><Relationship Id="rId4" Type="http://schemas.openxmlformats.org/officeDocument/2006/relationships/image" Target="../media/image2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1_one_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hidden="1">
            <a:extLst>
              <a:ext uri="{FF2B5EF4-FFF2-40B4-BE49-F238E27FC236}">
                <a16:creationId xmlns:a16="http://schemas.microsoft.com/office/drawing/2014/main" id="{7EFE2CDD-AD51-E6E6-9801-DCCED248B4B9}"/>
              </a:ext>
            </a:extLst>
          </p:cNvPr>
          <p:cNvSpPr>
            <a:spLocks noGrp="1"/>
          </p:cNvSpPr>
          <p:nvPr>
            <p:ph type="body" sz="quarter" idx="23" hasCustomPrompt="1"/>
          </p:nvPr>
        </p:nvSpPr>
        <p:spPr>
          <a:xfrm>
            <a:off x="0" y="3240042"/>
            <a:ext cx="1739348" cy="586696"/>
          </a:xfrm>
          <a:prstGeom prst="rect">
            <a:avLst/>
          </a:prstGeom>
          <a:blipFill>
            <a:blip r:embed="rId3"/>
            <a:stretch>
              <a:fillRect/>
            </a:stretch>
          </a:blipFill>
        </p:spPr>
        <p:txBody>
          <a:bodyPr/>
          <a:lstStyle>
            <a:lvl1pPr>
              <a:defRPr sz="2800" b="0" i="0"/>
            </a:lvl1pPr>
          </a:lstStyle>
          <a:p>
            <a:pPr lvl="0"/>
            <a:r>
              <a:rPr lang="en-US"/>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5106989"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dirty="0"/>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tx1"/>
                </a:solidFill>
                <a:latin typeface="+mn-lt"/>
                <a:cs typeface="Segoe UI" panose="020B0502040204020203" pitchFamily="34" charset="0"/>
              </a:defRPr>
            </a:lvl1pPr>
            <a:lvl2pPr>
              <a:defRPr sz="1000" b="0" i="0">
                <a:solidFill>
                  <a:schemeClr val="tx1"/>
                </a:solidFill>
                <a:latin typeface="+mj-lt"/>
                <a:cs typeface="Segoe UI" panose="020B0502040204020203" pitchFamily="34" charset="0"/>
              </a:defRPr>
            </a:lvl2pPr>
            <a:lvl3pPr>
              <a:defRPr sz="1000" b="0" i="0">
                <a:solidFill>
                  <a:schemeClr val="tx1"/>
                </a:solidFill>
                <a:latin typeface="+mj-lt"/>
                <a:cs typeface="Segoe UI" panose="020B0502040204020203" pitchFamily="34" charset="0"/>
              </a:defRPr>
            </a:lvl3pPr>
            <a:lvl4pPr>
              <a:defRPr sz="1000" b="0" i="0">
                <a:solidFill>
                  <a:schemeClr val="tx1"/>
                </a:solidFill>
                <a:latin typeface="+mj-lt"/>
                <a:cs typeface="Segoe UI" panose="020B0502040204020203" pitchFamily="34" charset="0"/>
              </a:defRPr>
            </a:lvl4pPr>
            <a:lvl5pPr>
              <a:defRPr sz="1000" b="0" i="0">
                <a:solidFill>
                  <a:schemeClr val="tx1"/>
                </a:solidFill>
                <a:latin typeface="+mj-lt"/>
                <a:cs typeface="Segoe UI" panose="020B0502040204020203" pitchFamily="34" charset="0"/>
              </a:defRPr>
            </a:lvl5pPr>
            <a:lvl6pPr>
              <a:defRPr sz="1000" b="0" i="0">
                <a:solidFill>
                  <a:schemeClr val="tx1"/>
                </a:solidFill>
                <a:latin typeface="+mj-lt"/>
                <a:cs typeface="Segoe UI" panose="020B0502040204020203" pitchFamily="34" charset="0"/>
              </a:defRPr>
            </a:lvl6pPr>
            <a:lvl7pPr>
              <a:defRPr sz="1000" b="0" i="0">
                <a:solidFill>
                  <a:schemeClr val="tx1"/>
                </a:solidFill>
                <a:latin typeface="+mj-lt"/>
                <a:cs typeface="Segoe UI" panose="020B0502040204020203" pitchFamily="34" charset="0"/>
              </a:defRPr>
            </a:lvl7pPr>
            <a:lvl8pPr>
              <a:defRPr sz="1000" b="0" i="0">
                <a:solidFill>
                  <a:schemeClr val="tx1"/>
                </a:solidFill>
                <a:latin typeface="+mj-lt"/>
                <a:cs typeface="Segoe UI" panose="020B0502040204020203" pitchFamily="34" charset="0"/>
              </a:defRPr>
            </a:lvl8pPr>
            <a:lvl9pPr marL="0">
              <a:defRPr sz="1000" b="0" i="0">
                <a:solidFill>
                  <a:schemeClr val="tx1"/>
                </a:solidFill>
                <a:latin typeface="+mj-lt"/>
                <a:cs typeface="Segoe UI" panose="020B0502040204020203" pitchFamily="34" charset="0"/>
              </a:defRPr>
            </a:lvl9pPr>
          </a:lstStyle>
          <a:p>
            <a:pPr indent="-3200400"/>
            <a:endParaRPr lang="en-US"/>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nchorCtr="0"/>
          <a:lstStyle>
            <a:lvl1pPr>
              <a:defRPr sz="3200" b="1">
                <a:solidFill>
                  <a:schemeClr val="tx1"/>
                </a:solidFill>
              </a:defRPr>
            </a:lvl1pPr>
          </a:lstStyle>
          <a:p>
            <a:r>
              <a:rPr lang="en-US" dirty="0"/>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p:nvPr>
        </p:nvSpPr>
        <p:spPr>
          <a:xfrm>
            <a:off x="6533804" y="850900"/>
            <a:ext cx="5658196" cy="5716588"/>
          </a:xfrm>
          <a:prstGeom prst="rect">
            <a:avLst/>
          </a:prstGeom>
          <a:solidFill>
            <a:schemeClr val="accent2">
              <a:lumMod val="40000"/>
              <a:lumOff val="60000"/>
            </a:schemeClr>
          </a:solidFill>
        </p:spPr>
        <p:txBody>
          <a:bodyPr tIns="2377440"/>
          <a:lstStyle>
            <a:lvl1pPr algn="ctr">
              <a:defRPr b="0" i="0"/>
            </a:lvl1pPr>
          </a:lstStyle>
          <a:p>
            <a:r>
              <a:rPr lang="en-US"/>
              <a:t>Click icon to add picture</a:t>
            </a:r>
          </a:p>
        </p:txBody>
      </p:sp>
      <p:pic>
        <p:nvPicPr>
          <p:cNvPr id="8" name="Picture 7" descr="A blue text on a black background&#10;&#10;Description automatically generated">
            <a:extLst>
              <a:ext uri="{FF2B5EF4-FFF2-40B4-BE49-F238E27FC236}">
                <a16:creationId xmlns:a16="http://schemas.microsoft.com/office/drawing/2014/main" id="{99C39A15-0DF8-9994-72A6-86C1C28A16AA}"/>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6" y="350432"/>
            <a:ext cx="2330449" cy="487768"/>
          </a:xfrm>
          <a:prstGeom prst="rect">
            <a:avLst/>
          </a:prstGeom>
        </p:spPr>
      </p:pic>
    </p:spTree>
    <p:extLst>
      <p:ext uri="{BB962C8B-B14F-4D97-AF65-F5344CB8AC3E}">
        <p14:creationId xmlns:p14="http://schemas.microsoft.com/office/powerpoint/2010/main" val="9480229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2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EFE2CDD-AD51-E6E6-9801-DCCED248B4B9}"/>
              </a:ext>
            </a:extLst>
          </p:cNvPr>
          <p:cNvSpPr>
            <a:spLocks noGrp="1"/>
          </p:cNvSpPr>
          <p:nvPr>
            <p:ph type="body" sz="quarter" idx="23" hasCustomPrompt="1"/>
          </p:nvPr>
        </p:nvSpPr>
        <p:spPr>
          <a:xfrm>
            <a:off x="0" y="3240042"/>
            <a:ext cx="1739348" cy="586696"/>
          </a:xfrm>
          <a:prstGeom prst="rect">
            <a:avLst/>
          </a:prstGeom>
          <a:blipFill>
            <a:blip r:embed="rId3"/>
            <a:stretch>
              <a:fillRect/>
            </a:stretch>
          </a:blipFill>
        </p:spPr>
        <p:txBody>
          <a:bodyPr/>
          <a:lstStyle>
            <a:lvl1pPr>
              <a:defRPr sz="2800" b="0" i="0"/>
            </a:lvl1pPr>
          </a:lstStyle>
          <a:p>
            <a:pPr lvl="0"/>
            <a:r>
              <a:rPr lang="en-US"/>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5106989"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nchorCtr="0"/>
          <a:lstStyle>
            <a:lvl1pPr>
              <a:defRPr sz="3200" b="1">
                <a:solidFill>
                  <a:schemeClr val="tx1"/>
                </a:solidFill>
              </a:defRPr>
            </a:lvl1pPr>
          </a:lstStyle>
          <a:p>
            <a:r>
              <a:rPr lang="en-US"/>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hasCustomPrompt="1"/>
          </p:nvPr>
        </p:nvSpPr>
        <p:spPr>
          <a:xfrm>
            <a:off x="6520070" y="850900"/>
            <a:ext cx="5671929" cy="5716588"/>
          </a:xfrm>
          <a:prstGeom prst="rect">
            <a:avLst/>
          </a:prstGeom>
          <a:solidFill>
            <a:schemeClr val="accent2">
              <a:lumMod val="40000"/>
              <a:lumOff val="60000"/>
            </a:schemeClr>
          </a:solidFill>
        </p:spPr>
        <p:txBody>
          <a:bodyPr tIns="2377440"/>
          <a:lstStyle>
            <a:lvl1pPr marL="0" marR="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b="0" i="0"/>
            </a:lvl1pPr>
          </a:lstStyle>
          <a:p>
            <a:r>
              <a:rPr lang="en-US" dirty="0"/>
              <a:t>Industry/Functional image</a:t>
            </a:r>
          </a:p>
        </p:txBody>
      </p:sp>
      <p:pic>
        <p:nvPicPr>
          <p:cNvPr id="8" name="Picture 7" descr="A blue text on a black background&#10;&#10;Description automatically generated">
            <a:extLst>
              <a:ext uri="{FF2B5EF4-FFF2-40B4-BE49-F238E27FC236}">
                <a16:creationId xmlns:a16="http://schemas.microsoft.com/office/drawing/2014/main" id="{99C39A15-0DF8-9994-72A6-86C1C28A16AA}"/>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6" y="350432"/>
            <a:ext cx="2330449" cy="487768"/>
          </a:xfrm>
          <a:prstGeom prst="rect">
            <a:avLst/>
          </a:prstGeom>
        </p:spPr>
      </p:pic>
      <p:sp>
        <p:nvSpPr>
          <p:cNvPr id="3" name="Picture Placeholder 4">
            <a:extLst>
              <a:ext uri="{FF2B5EF4-FFF2-40B4-BE49-F238E27FC236}">
                <a16:creationId xmlns:a16="http://schemas.microsoft.com/office/drawing/2014/main" id="{F99506F5-C36B-BDCD-CE02-3F42CD24047A}"/>
              </a:ext>
            </a:extLst>
          </p:cNvPr>
          <p:cNvSpPr>
            <a:spLocks noGrp="1"/>
          </p:cNvSpPr>
          <p:nvPr>
            <p:ph type="pic" sz="quarter" idx="24" hasCustomPrompt="1"/>
          </p:nvPr>
        </p:nvSpPr>
        <p:spPr>
          <a:xfrm>
            <a:off x="5659161" y="2385392"/>
            <a:ext cx="2471048" cy="2445026"/>
          </a:xfrm>
          <a:prstGeom prst="rect">
            <a:avLst/>
          </a:prstGeom>
          <a:solidFill>
            <a:schemeClr val="accent2">
              <a:lumMod val="60000"/>
              <a:lumOff val="40000"/>
            </a:schemeClr>
          </a:solidFill>
        </p:spPr>
        <p:txBody>
          <a:bodyPr tIns="731520"/>
          <a:lstStyle>
            <a:lvl1pPr algn="ctr">
              <a:defRPr b="0" i="0"/>
            </a:lvl1pPr>
          </a:lstStyle>
          <a:p>
            <a:r>
              <a:rPr lang="en-US"/>
              <a:t>Abstract image</a:t>
            </a:r>
          </a:p>
        </p:txBody>
      </p:sp>
      <p:sp>
        <p:nvSpPr>
          <p:cNvPr id="4" name="Text Placeholder 9">
            <a:extLst>
              <a:ext uri="{FF2B5EF4-FFF2-40B4-BE49-F238E27FC236}">
                <a16:creationId xmlns:a16="http://schemas.microsoft.com/office/drawing/2014/main" id="{845B44C6-F3CB-894B-D0B3-F4A1C0020735}"/>
              </a:ext>
            </a:extLst>
          </p:cNvPr>
          <p:cNvSpPr>
            <a:spLocks noGrp="1"/>
          </p:cNvSpPr>
          <p:nvPr>
            <p:ph type="body" sz="quarter" idx="25" hasCustomPrompt="1"/>
          </p:nvPr>
        </p:nvSpPr>
        <p:spPr>
          <a:xfrm rot="10800000" flipH="1">
            <a:off x="5824330" y="1413507"/>
            <a:ext cx="1461053" cy="1419143"/>
          </a:xfrm>
          <a:prstGeom prst="rect">
            <a:avLst/>
          </a:prstGeom>
          <a:blipFill>
            <a:blip r:embed="rId5"/>
            <a:stretch>
              <a:fillRect/>
            </a:stretch>
          </a:blipFill>
        </p:spPr>
        <p:txBody>
          <a:bodyPr/>
          <a:lstStyle>
            <a:lvl1pPr>
              <a:defRPr sz="2800" b="0" i="0"/>
            </a:lvl1pPr>
          </a:lstStyle>
          <a:p>
            <a:pPr lvl="0"/>
            <a:r>
              <a:rPr lang="en-US"/>
              <a:t> </a:t>
            </a:r>
          </a:p>
        </p:txBody>
      </p:sp>
      <p:sp>
        <p:nvSpPr>
          <p:cNvPr id="6" name="Date Placeholder 6">
            <a:extLst>
              <a:ext uri="{FF2B5EF4-FFF2-40B4-BE49-F238E27FC236}">
                <a16:creationId xmlns:a16="http://schemas.microsoft.com/office/drawing/2014/main" id="{C837860D-6193-C889-B5AE-2132DFF5FA2A}"/>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tx1"/>
                </a:solidFill>
                <a:latin typeface="+mn-lt"/>
                <a:cs typeface="Segoe UI" panose="020B0502040204020203" pitchFamily="34" charset="0"/>
              </a:defRPr>
            </a:lvl1pPr>
            <a:lvl2pPr>
              <a:defRPr sz="1000" b="0" i="0">
                <a:solidFill>
                  <a:schemeClr val="tx1"/>
                </a:solidFill>
                <a:latin typeface="+mj-lt"/>
                <a:cs typeface="Segoe UI" panose="020B0502040204020203" pitchFamily="34" charset="0"/>
              </a:defRPr>
            </a:lvl2pPr>
            <a:lvl3pPr>
              <a:defRPr sz="1000" b="0" i="0">
                <a:solidFill>
                  <a:schemeClr val="tx1"/>
                </a:solidFill>
                <a:latin typeface="+mj-lt"/>
                <a:cs typeface="Segoe UI" panose="020B0502040204020203" pitchFamily="34" charset="0"/>
              </a:defRPr>
            </a:lvl3pPr>
            <a:lvl4pPr>
              <a:defRPr sz="1000" b="0" i="0">
                <a:solidFill>
                  <a:schemeClr val="tx1"/>
                </a:solidFill>
                <a:latin typeface="+mj-lt"/>
                <a:cs typeface="Segoe UI" panose="020B0502040204020203" pitchFamily="34" charset="0"/>
              </a:defRPr>
            </a:lvl4pPr>
            <a:lvl5pPr>
              <a:defRPr sz="1000" b="0" i="0">
                <a:solidFill>
                  <a:schemeClr val="tx1"/>
                </a:solidFill>
                <a:latin typeface="+mj-lt"/>
                <a:cs typeface="Segoe UI" panose="020B0502040204020203" pitchFamily="34" charset="0"/>
              </a:defRPr>
            </a:lvl5pPr>
            <a:lvl6pPr>
              <a:defRPr sz="1000" b="0" i="0">
                <a:solidFill>
                  <a:schemeClr val="tx1"/>
                </a:solidFill>
                <a:latin typeface="+mj-lt"/>
                <a:cs typeface="Segoe UI" panose="020B0502040204020203" pitchFamily="34" charset="0"/>
              </a:defRPr>
            </a:lvl6pPr>
            <a:lvl7pPr>
              <a:defRPr sz="1000" b="0" i="0">
                <a:solidFill>
                  <a:schemeClr val="tx1"/>
                </a:solidFill>
                <a:latin typeface="+mj-lt"/>
                <a:cs typeface="Segoe UI" panose="020B0502040204020203" pitchFamily="34" charset="0"/>
              </a:defRPr>
            </a:lvl7pPr>
            <a:lvl8pPr>
              <a:defRPr sz="1000" b="0" i="0">
                <a:solidFill>
                  <a:schemeClr val="tx1"/>
                </a:solidFill>
                <a:latin typeface="+mj-lt"/>
                <a:cs typeface="Segoe UI" panose="020B0502040204020203" pitchFamily="34" charset="0"/>
              </a:defRPr>
            </a:lvl8pPr>
            <a:lvl9pPr marL="0">
              <a:defRPr sz="1000" b="0" i="0">
                <a:solidFill>
                  <a:schemeClr val="tx1"/>
                </a:solidFill>
                <a:latin typeface="+mj-lt"/>
                <a:cs typeface="Segoe UI" panose="020B0502040204020203" pitchFamily="34" charset="0"/>
              </a:defRPr>
            </a:lvl9pPr>
          </a:lstStyle>
          <a:p>
            <a:pPr indent="-3200400"/>
            <a:endParaRPr lang="en-US"/>
          </a:p>
        </p:txBody>
      </p:sp>
    </p:spTree>
    <p:extLst>
      <p:ext uri="{BB962C8B-B14F-4D97-AF65-F5344CB8AC3E}">
        <p14:creationId xmlns:p14="http://schemas.microsoft.com/office/powerpoint/2010/main" val="392902216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3_one_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4884945"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dirty="0"/>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bg1"/>
                </a:solidFill>
                <a:latin typeface="+mn-lt"/>
                <a:cs typeface="Segoe UI" panose="020B0502040204020203" pitchFamily="34" charset="0"/>
              </a:defRPr>
            </a:lvl1pPr>
            <a:lvl2pPr>
              <a:defRPr sz="1000" b="0" i="0">
                <a:solidFill>
                  <a:schemeClr val="bg1"/>
                </a:solidFill>
                <a:latin typeface="+mj-lt"/>
                <a:cs typeface="Segoe UI" panose="020B0502040204020203" pitchFamily="34" charset="0"/>
              </a:defRPr>
            </a:lvl2pPr>
            <a:lvl3pPr>
              <a:defRPr sz="1000" b="0" i="0">
                <a:solidFill>
                  <a:schemeClr val="bg1"/>
                </a:solidFill>
                <a:latin typeface="+mj-lt"/>
                <a:cs typeface="Segoe UI" panose="020B0502040204020203" pitchFamily="34" charset="0"/>
              </a:defRPr>
            </a:lvl3pPr>
            <a:lvl4pPr>
              <a:defRPr sz="1000" b="0" i="0">
                <a:solidFill>
                  <a:schemeClr val="bg1"/>
                </a:solidFill>
                <a:latin typeface="+mj-lt"/>
                <a:cs typeface="Segoe UI" panose="020B0502040204020203" pitchFamily="34" charset="0"/>
              </a:defRPr>
            </a:lvl4pPr>
            <a:lvl5pPr>
              <a:defRPr sz="1000" b="0" i="0">
                <a:solidFill>
                  <a:schemeClr val="bg1"/>
                </a:solidFill>
                <a:latin typeface="+mj-lt"/>
                <a:cs typeface="Segoe UI" panose="020B0502040204020203" pitchFamily="34" charset="0"/>
              </a:defRPr>
            </a:lvl5pPr>
            <a:lvl6pPr>
              <a:defRPr sz="1000" b="0" i="0">
                <a:solidFill>
                  <a:schemeClr val="bg1"/>
                </a:solidFill>
                <a:latin typeface="+mj-lt"/>
                <a:cs typeface="Segoe UI" panose="020B0502040204020203" pitchFamily="34" charset="0"/>
              </a:defRPr>
            </a:lvl6pPr>
            <a:lvl7pPr>
              <a:defRPr sz="1000" b="0" i="0">
                <a:solidFill>
                  <a:schemeClr val="bg1"/>
                </a:solidFill>
                <a:latin typeface="+mj-lt"/>
                <a:cs typeface="Segoe UI" panose="020B0502040204020203" pitchFamily="34" charset="0"/>
              </a:defRPr>
            </a:lvl7pPr>
            <a:lvl8pPr>
              <a:defRPr sz="1000" b="0" i="0">
                <a:solidFill>
                  <a:schemeClr val="bg1"/>
                </a:solidFill>
                <a:latin typeface="+mj-lt"/>
                <a:cs typeface="Segoe UI" panose="020B0502040204020203" pitchFamily="34" charset="0"/>
              </a:defRPr>
            </a:lvl8pPr>
            <a:lvl9pPr marL="0">
              <a:defRPr sz="1000" b="0" i="0">
                <a:solidFill>
                  <a:schemeClr val="bg1"/>
                </a:solidFill>
                <a:latin typeface="+mj-lt"/>
                <a:cs typeface="Segoe UI" panose="020B0502040204020203" pitchFamily="34" charset="0"/>
              </a:defRPr>
            </a:lvl9pPr>
          </a:lstStyle>
          <a:p>
            <a:pPr indent="-3200400"/>
            <a:endParaRPr lang="en-US"/>
          </a:p>
        </p:txBody>
      </p:sp>
      <p:sp>
        <p:nvSpPr>
          <p:cNvPr id="2" name="Title 1">
            <a:extLst>
              <a:ext uri="{FF2B5EF4-FFF2-40B4-BE49-F238E27FC236}">
                <a16:creationId xmlns:a16="http://schemas.microsoft.com/office/drawing/2014/main" id="{196F23F1-5869-8449-565A-421EC2586840}"/>
              </a:ext>
            </a:extLst>
          </p:cNvPr>
          <p:cNvSpPr>
            <a:spLocks noGrp="1"/>
          </p:cNvSpPr>
          <p:nvPr>
            <p:ph type="title"/>
          </p:nvPr>
        </p:nvSpPr>
        <p:spPr>
          <a:xfrm>
            <a:off x="460376" y="1412875"/>
            <a:ext cx="4889499" cy="2333625"/>
          </a:xfrm>
          <a:prstGeom prst="rect">
            <a:avLst/>
          </a:prstGeom>
        </p:spPr>
        <p:txBody>
          <a:bodyPr anchor="b" anchorCtr="0"/>
          <a:lstStyle>
            <a:lvl1pPr>
              <a:defRPr sz="3200" b="1">
                <a:solidFill>
                  <a:schemeClr val="bg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p:nvPr>
        </p:nvSpPr>
        <p:spPr>
          <a:xfrm>
            <a:off x="5572126" y="1152939"/>
            <a:ext cx="4317309" cy="4343400"/>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pic>
        <p:nvPicPr>
          <p:cNvPr id="8" name="Picture 7">
            <a:extLst>
              <a:ext uri="{FF2B5EF4-FFF2-40B4-BE49-F238E27FC236}">
                <a16:creationId xmlns:a16="http://schemas.microsoft.com/office/drawing/2014/main" id="{99C39A15-0DF8-9994-72A6-86C1C28A16AA}"/>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7" y="350432"/>
            <a:ext cx="2330447" cy="487768"/>
          </a:xfrm>
          <a:prstGeom prst="rect">
            <a:avLst/>
          </a:prstGeom>
        </p:spPr>
      </p:pic>
    </p:spTree>
    <p:extLst>
      <p:ext uri="{BB962C8B-B14F-4D97-AF65-F5344CB8AC3E}">
        <p14:creationId xmlns:p14="http://schemas.microsoft.com/office/powerpoint/2010/main" val="249037358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_4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048FDED8-DCD9-3558-37D8-CCBB536FED5D}"/>
              </a:ext>
            </a:extLst>
          </p:cNvPr>
          <p:cNvSpPr>
            <a:spLocks noGrp="1"/>
          </p:cNvSpPr>
          <p:nvPr>
            <p:ph type="pic" sz="quarter" idx="22" hasCustomPrompt="1"/>
          </p:nvPr>
        </p:nvSpPr>
        <p:spPr>
          <a:xfrm>
            <a:off x="5572127" y="1152939"/>
            <a:ext cx="4317308" cy="4343400"/>
          </a:xfrm>
          <a:prstGeom prst="rect">
            <a:avLst/>
          </a:prstGeom>
          <a:solidFill>
            <a:schemeClr val="accent2">
              <a:lumMod val="40000"/>
              <a:lumOff val="60000"/>
            </a:schemeClr>
          </a:solidFill>
        </p:spPr>
        <p:txBody>
          <a:bodyPr tIns="1737360"/>
          <a:lstStyle>
            <a:lvl1pPr algn="ctr">
              <a:defRPr b="0" i="0"/>
            </a:lvl1p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lang="en-US" dirty="0"/>
              <a:t>Industry/Functional image</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4885430"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dirty="0"/>
              <a:t>Subhead</a:t>
            </a:r>
          </a:p>
        </p:txBody>
      </p:sp>
      <p:sp>
        <p:nvSpPr>
          <p:cNvPr id="3" name="Picture Placeholder 4">
            <a:extLst>
              <a:ext uri="{FF2B5EF4-FFF2-40B4-BE49-F238E27FC236}">
                <a16:creationId xmlns:a16="http://schemas.microsoft.com/office/drawing/2014/main" id="{F99506F5-C36B-BDCD-CE02-3F42CD24047A}"/>
              </a:ext>
            </a:extLst>
          </p:cNvPr>
          <p:cNvSpPr>
            <a:spLocks noGrp="1"/>
          </p:cNvSpPr>
          <p:nvPr>
            <p:ph type="pic" sz="quarter" idx="24" hasCustomPrompt="1"/>
          </p:nvPr>
        </p:nvSpPr>
        <p:spPr>
          <a:xfrm>
            <a:off x="10110995" y="2574234"/>
            <a:ext cx="1788490" cy="1779793"/>
          </a:xfrm>
          <a:prstGeom prst="rect">
            <a:avLst/>
          </a:prstGeom>
          <a:solidFill>
            <a:schemeClr val="accent2">
              <a:lumMod val="60000"/>
              <a:lumOff val="40000"/>
            </a:schemeClr>
          </a:solidFill>
        </p:spPr>
        <p:txBody>
          <a:bodyPr tIns="457200"/>
          <a:lstStyle>
            <a:lvl1pPr algn="ctr">
              <a:defRPr b="0" i="0"/>
            </a:lvl1pPr>
          </a:lstStyle>
          <a:p>
            <a:r>
              <a:rPr lang="en-US"/>
              <a:t>Abstract image</a:t>
            </a:r>
          </a:p>
        </p:txBody>
      </p:sp>
      <p:pic>
        <p:nvPicPr>
          <p:cNvPr id="6" name="Picture 5">
            <a:extLst>
              <a:ext uri="{FF2B5EF4-FFF2-40B4-BE49-F238E27FC236}">
                <a16:creationId xmlns:a16="http://schemas.microsoft.com/office/drawing/2014/main" id="{DC409858-A590-A05A-F7E6-371FAFEE5D1F}"/>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7" y="350432"/>
            <a:ext cx="2330447" cy="487768"/>
          </a:xfrm>
          <a:prstGeom prst="rect">
            <a:avLst/>
          </a:prstGeom>
        </p:spPr>
      </p:pic>
      <p:sp>
        <p:nvSpPr>
          <p:cNvPr id="9" name="Date Placeholder 6">
            <a:extLst>
              <a:ext uri="{FF2B5EF4-FFF2-40B4-BE49-F238E27FC236}">
                <a16:creationId xmlns:a16="http://schemas.microsoft.com/office/drawing/2014/main" id="{A0C19E44-9FDD-32D2-CA44-9C517501348A}"/>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bg1"/>
                </a:solidFill>
                <a:latin typeface="+mn-lt"/>
                <a:cs typeface="Segoe UI" panose="020B0502040204020203" pitchFamily="34" charset="0"/>
              </a:defRPr>
            </a:lvl1pPr>
            <a:lvl2pPr>
              <a:defRPr sz="1000" b="0" i="0">
                <a:solidFill>
                  <a:schemeClr val="bg1"/>
                </a:solidFill>
                <a:latin typeface="+mj-lt"/>
                <a:cs typeface="Segoe UI" panose="020B0502040204020203" pitchFamily="34" charset="0"/>
              </a:defRPr>
            </a:lvl2pPr>
            <a:lvl3pPr>
              <a:defRPr sz="1000" b="0" i="0">
                <a:solidFill>
                  <a:schemeClr val="bg1"/>
                </a:solidFill>
                <a:latin typeface="+mj-lt"/>
                <a:cs typeface="Segoe UI" panose="020B0502040204020203" pitchFamily="34" charset="0"/>
              </a:defRPr>
            </a:lvl3pPr>
            <a:lvl4pPr>
              <a:defRPr sz="1000" b="0" i="0">
                <a:solidFill>
                  <a:schemeClr val="bg1"/>
                </a:solidFill>
                <a:latin typeface="+mj-lt"/>
                <a:cs typeface="Segoe UI" panose="020B0502040204020203" pitchFamily="34" charset="0"/>
              </a:defRPr>
            </a:lvl4pPr>
            <a:lvl5pPr>
              <a:defRPr sz="1000" b="0" i="0">
                <a:solidFill>
                  <a:schemeClr val="bg1"/>
                </a:solidFill>
                <a:latin typeface="+mj-lt"/>
                <a:cs typeface="Segoe UI" panose="020B0502040204020203" pitchFamily="34" charset="0"/>
              </a:defRPr>
            </a:lvl5pPr>
            <a:lvl6pPr>
              <a:defRPr sz="1000" b="0" i="0">
                <a:solidFill>
                  <a:schemeClr val="bg1"/>
                </a:solidFill>
                <a:latin typeface="+mj-lt"/>
                <a:cs typeface="Segoe UI" panose="020B0502040204020203" pitchFamily="34" charset="0"/>
              </a:defRPr>
            </a:lvl6pPr>
            <a:lvl7pPr>
              <a:defRPr sz="1000" b="0" i="0">
                <a:solidFill>
                  <a:schemeClr val="bg1"/>
                </a:solidFill>
                <a:latin typeface="+mj-lt"/>
                <a:cs typeface="Segoe UI" panose="020B0502040204020203" pitchFamily="34" charset="0"/>
              </a:defRPr>
            </a:lvl7pPr>
            <a:lvl8pPr>
              <a:defRPr sz="1000" b="0" i="0">
                <a:solidFill>
                  <a:schemeClr val="bg1"/>
                </a:solidFill>
                <a:latin typeface="+mj-lt"/>
                <a:cs typeface="Segoe UI" panose="020B0502040204020203" pitchFamily="34" charset="0"/>
              </a:defRPr>
            </a:lvl8pPr>
            <a:lvl9pPr marL="0">
              <a:defRPr sz="1000" b="0" i="0">
                <a:solidFill>
                  <a:schemeClr val="bg1"/>
                </a:solidFill>
                <a:latin typeface="+mj-lt"/>
                <a:cs typeface="Segoe UI" panose="020B0502040204020203" pitchFamily="34" charset="0"/>
              </a:defRPr>
            </a:lvl9pPr>
          </a:lstStyle>
          <a:p>
            <a:pPr indent="-3200400"/>
            <a:endParaRPr lang="en-US"/>
          </a:p>
        </p:txBody>
      </p:sp>
      <p:sp>
        <p:nvSpPr>
          <p:cNvPr id="11" name="Title 1">
            <a:extLst>
              <a:ext uri="{FF2B5EF4-FFF2-40B4-BE49-F238E27FC236}">
                <a16:creationId xmlns:a16="http://schemas.microsoft.com/office/drawing/2014/main" id="{9244323D-D055-BCD3-DE22-B0A344D2BF9E}"/>
              </a:ext>
            </a:extLst>
          </p:cNvPr>
          <p:cNvSpPr>
            <a:spLocks noGrp="1"/>
          </p:cNvSpPr>
          <p:nvPr>
            <p:ph type="title"/>
          </p:nvPr>
        </p:nvSpPr>
        <p:spPr>
          <a:xfrm>
            <a:off x="460376" y="1412875"/>
            <a:ext cx="4889985" cy="2333625"/>
          </a:xfrm>
          <a:prstGeom prst="rect">
            <a:avLst/>
          </a:prstGeom>
        </p:spPr>
        <p:txBody>
          <a:bodyPr anchor="b" anchorCtr="0"/>
          <a:lstStyle>
            <a:lvl1pPr>
              <a:defRPr sz="3200" b="1">
                <a:solidFill>
                  <a:schemeClr val="bg1"/>
                </a:solidFill>
              </a:defRPr>
            </a:lvl1pPr>
          </a:lstStyle>
          <a:p>
            <a:r>
              <a:rPr lang="en-US"/>
              <a:t>Click to edit Master title style</a:t>
            </a:r>
            <a:endParaRPr lang="en-US" dirty="0"/>
          </a:p>
        </p:txBody>
      </p:sp>
      <p:sp>
        <p:nvSpPr>
          <p:cNvPr id="15" name="Text Placeholder 14">
            <a:extLst>
              <a:ext uri="{FF2B5EF4-FFF2-40B4-BE49-F238E27FC236}">
                <a16:creationId xmlns:a16="http://schemas.microsoft.com/office/drawing/2014/main" id="{963EF1FF-C264-2760-38A0-BB33456CC32B}"/>
              </a:ext>
            </a:extLst>
          </p:cNvPr>
          <p:cNvSpPr>
            <a:spLocks noGrp="1"/>
          </p:cNvSpPr>
          <p:nvPr>
            <p:ph type="body" sz="quarter" idx="25" hasCustomPrompt="1"/>
          </p:nvPr>
        </p:nvSpPr>
        <p:spPr>
          <a:xfrm flipH="1">
            <a:off x="9484277" y="3825875"/>
            <a:ext cx="1488523" cy="1463067"/>
          </a:xfrm>
          <a:prstGeom prst="rect">
            <a:avLst/>
          </a:prstGeom>
          <a:blipFill>
            <a:blip r:embed="rId4"/>
            <a:stretch>
              <a:fillRect/>
            </a:stretch>
          </a:blipFill>
        </p:spPr>
        <p:txBody>
          <a:bodyPr/>
          <a:lstStyle>
            <a:lvl1pPr>
              <a:defRPr b="0" i="0"/>
            </a:lvl1pPr>
          </a:lstStyle>
          <a:p>
            <a:pPr lvl="0"/>
            <a:r>
              <a:rPr lang="en-US"/>
              <a:t> </a:t>
            </a:r>
          </a:p>
        </p:txBody>
      </p:sp>
    </p:spTree>
    <p:extLst>
      <p:ext uri="{BB962C8B-B14F-4D97-AF65-F5344CB8AC3E}">
        <p14:creationId xmlns:p14="http://schemas.microsoft.com/office/powerpoint/2010/main" val="6508860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972B6A5-01FD-899A-FA5B-50AED31DFBE5}"/>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368B83A-3779-569C-36A3-CDD67449E482}"/>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sz="quarter" idx="22"/>
          </p:nvPr>
        </p:nvSpPr>
        <p:spPr>
          <a:xfrm>
            <a:off x="6248400" y="1508125"/>
            <a:ext cx="4470400" cy="4473575"/>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sp>
        <p:nvSpPr>
          <p:cNvPr id="5" name="Text Placeholder 3">
            <a:extLst>
              <a:ext uri="{FF2B5EF4-FFF2-40B4-BE49-F238E27FC236}">
                <a16:creationId xmlns:a16="http://schemas.microsoft.com/office/drawing/2014/main" id="{25FBCF55-BB8C-ECD8-868D-78FE6035F732}"/>
              </a:ext>
            </a:extLst>
          </p:cNvPr>
          <p:cNvSpPr>
            <a:spLocks noGrp="1"/>
          </p:cNvSpPr>
          <p:nvPr>
            <p:ph type="body" sz="quarter" idx="34" hasCustomPrompt="1"/>
          </p:nvPr>
        </p:nvSpPr>
        <p:spPr>
          <a:xfrm>
            <a:off x="460375" y="1508125"/>
            <a:ext cx="789691" cy="4511674"/>
          </a:xfrm>
          <a:prstGeom prst="rect">
            <a:avLst/>
          </a:prstGeom>
          <a:ln>
            <a:noFill/>
          </a:ln>
        </p:spPr>
        <p:txBody>
          <a:bodyPr tIns="0" anchor="ctr" anchorCtr="0"/>
          <a:lstStyle>
            <a:lvl1pPr>
              <a:lnSpc>
                <a:spcPct val="100000"/>
              </a:lnSpc>
              <a:spcBef>
                <a:spcPts val="0"/>
              </a:spcBef>
              <a:spcAft>
                <a:spcPts val="700"/>
              </a:spcAft>
              <a:defRPr sz="3600" b="1" i="0">
                <a:ln w="12700">
                  <a:noFill/>
                </a:ln>
                <a:solidFill>
                  <a:schemeClr val="accent1"/>
                </a:solidFill>
                <a:latin typeface="+mn-lt"/>
              </a:defRPr>
            </a:lvl1pPr>
            <a:lvl2pPr>
              <a:lnSpc>
                <a:spcPct val="100000"/>
              </a:lnSpc>
              <a:spcBef>
                <a:spcPts val="0"/>
              </a:spcBef>
              <a:spcAft>
                <a:spcPts val="700"/>
              </a:spcAft>
              <a:defRPr sz="3600" b="1" i="0" spc="0">
                <a:ln w="12700">
                  <a:noFill/>
                </a:ln>
                <a:solidFill>
                  <a:schemeClr val="accent1"/>
                </a:solidFill>
                <a:latin typeface="+mn-lt"/>
                <a:cs typeface="Calibri" panose="020F0502020204030204" pitchFamily="34" charset="0"/>
              </a:defRPr>
            </a:lvl2pPr>
            <a:lvl3pPr>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3pPr>
            <a:lvl4pPr marL="0">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4pPr>
            <a:lvl5pPr marL="0">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5pPr>
            <a:lvl6pPr>
              <a:lnSpc>
                <a:spcPct val="100000"/>
              </a:lnSpc>
              <a:spcAft>
                <a:spcPts val="700"/>
              </a:spcAft>
              <a:buNone/>
              <a:defRPr sz="3600" b="1">
                <a:ln w="12700">
                  <a:noFill/>
                </a:ln>
                <a:solidFill>
                  <a:schemeClr val="accent1"/>
                </a:solidFill>
                <a:latin typeface="+mn-lt"/>
                <a:cs typeface="Calibri" panose="020F0502020204030204" pitchFamily="34" charset="0"/>
              </a:defRPr>
            </a:lvl6pPr>
            <a:lvl7pPr marL="0">
              <a:lnSpc>
                <a:spcPct val="100000"/>
              </a:lnSpc>
              <a:spcAft>
                <a:spcPts val="700"/>
              </a:spcAft>
              <a:buNone/>
              <a:defRPr sz="3600" b="1">
                <a:ln w="12700">
                  <a:noFill/>
                </a:ln>
                <a:solidFill>
                  <a:schemeClr val="accent1"/>
                </a:solidFill>
                <a:latin typeface="+mn-lt"/>
                <a:cs typeface="Calibri" panose="020F0502020204030204" pitchFamily="34" charset="0"/>
              </a:defRPr>
            </a:lvl7pPr>
            <a:lvl8pPr marL="0">
              <a:lnSpc>
                <a:spcPct val="100000"/>
              </a:lnSpc>
              <a:spcAft>
                <a:spcPts val="700"/>
              </a:spcAft>
              <a:buNone/>
              <a:defRPr sz="3600" b="1">
                <a:ln w="12700">
                  <a:noFill/>
                </a:ln>
                <a:solidFill>
                  <a:schemeClr val="accent1"/>
                </a:solidFill>
                <a:latin typeface="+mn-lt"/>
                <a:cs typeface="Calibri" panose="020F0502020204030204" pitchFamily="34" charset="0"/>
              </a:defRPr>
            </a:lvl8pPr>
            <a:lvl9pPr>
              <a:lnSpc>
                <a:spcPct val="100000"/>
              </a:lnSpc>
              <a:spcAft>
                <a:spcPts val="700"/>
              </a:spcAft>
              <a:defRPr sz="3600" b="1">
                <a:ln w="12700">
                  <a:noFill/>
                </a:ln>
                <a:solidFill>
                  <a:schemeClr val="accent1"/>
                </a:solidFill>
                <a:latin typeface="+mn-lt"/>
                <a:cs typeface="Calibri" panose="020F0502020204030204" pitchFamily="34" charset="0"/>
              </a:defRPr>
            </a:lvl9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p:txBody>
      </p:sp>
      <p:sp>
        <p:nvSpPr>
          <p:cNvPr id="3" name="Rectangle 2">
            <a:extLst>
              <a:ext uri="{FF2B5EF4-FFF2-40B4-BE49-F238E27FC236}">
                <a16:creationId xmlns:a16="http://schemas.microsoft.com/office/drawing/2014/main" id="{F9D3A198-41C5-A389-D58D-6067B66B5EE8}"/>
              </a:ext>
            </a:extLst>
          </p:cNvPr>
          <p:cNvSpPr>
            <a:spLocks noGrp="1" noRot="1" noMove="1" noResize="1" noEditPoints="1" noAdjustHandles="1" noChangeArrowheads="1" noChangeShapeType="1"/>
          </p:cNvSpPr>
          <p:nvPr userDrawn="1"/>
        </p:nvSpPr>
        <p:spPr bwMode="auto">
          <a:xfrm>
            <a:off x="300446" y="966651"/>
            <a:ext cx="2050868" cy="195943"/>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Title 2">
            <a:extLst>
              <a:ext uri="{FF2B5EF4-FFF2-40B4-BE49-F238E27FC236}">
                <a16:creationId xmlns:a16="http://schemas.microsoft.com/office/drawing/2014/main" id="{92DD1241-B542-4023-F74B-C762BE058065}"/>
              </a:ext>
            </a:extLst>
          </p:cNvPr>
          <p:cNvSpPr>
            <a:spLocks noGrp="1"/>
          </p:cNvSpPr>
          <p:nvPr>
            <p:ph type="title" hasCustomPrompt="1"/>
          </p:nvPr>
        </p:nvSpPr>
        <p:spPr>
          <a:xfrm>
            <a:off x="460372" y="556953"/>
            <a:ext cx="11268077" cy="855922"/>
          </a:xfrm>
          <a:prstGeom prst="rect">
            <a:avLst/>
          </a:prstGeom>
        </p:spPr>
        <p:txBody>
          <a:bodyPr/>
          <a:lstStyle>
            <a:lvl1pPr>
              <a:defRPr sz="2200"/>
            </a:lvl1pPr>
          </a:lstStyle>
          <a:p>
            <a:r>
              <a:rPr lang="en-US" dirty="0"/>
              <a:t>Click to edit Agenda/Contents Title</a:t>
            </a:r>
          </a:p>
        </p:txBody>
      </p:sp>
      <p:sp>
        <p:nvSpPr>
          <p:cNvPr id="13" name="Content Placeholder 7">
            <a:extLst>
              <a:ext uri="{FF2B5EF4-FFF2-40B4-BE49-F238E27FC236}">
                <a16:creationId xmlns:a16="http://schemas.microsoft.com/office/drawing/2014/main" id="{2EBB998A-4A7F-95A1-ABAB-78ABF3E6EAAD}"/>
              </a:ext>
            </a:extLst>
          </p:cNvPr>
          <p:cNvSpPr>
            <a:spLocks noGrp="1"/>
          </p:cNvSpPr>
          <p:nvPr>
            <p:ph sz="quarter" idx="20" hasCustomPrompt="1"/>
          </p:nvPr>
        </p:nvSpPr>
        <p:spPr>
          <a:xfrm>
            <a:off x="1250065" y="1508125"/>
            <a:ext cx="4174689" cy="4511673"/>
          </a:xfrm>
          <a:prstGeom prst="rect">
            <a:avLst/>
          </a:prstGeom>
        </p:spPr>
        <p:txBody>
          <a:bodyPr anchor="ctr"/>
          <a:lstStyle>
            <a:lvl1pPr>
              <a:spcAft>
                <a:spcPts val="2900"/>
              </a:spcAft>
              <a:defRPr sz="1800" b="1" i="0"/>
            </a:lvl1pPr>
            <a:lvl2pPr marL="295275" indent="-285750">
              <a:spcAft>
                <a:spcPts val="2900"/>
              </a:spcAft>
              <a:buFont typeface="Arial" panose="020B0604020202020204" pitchFamily="34" charset="0"/>
              <a:buChar char="•"/>
              <a:tabLst/>
              <a:defRPr sz="1800" b="1" i="0"/>
            </a:lvl2pPr>
            <a:lvl3pPr marL="635000" indent="-287338">
              <a:spcAft>
                <a:spcPts val="2900"/>
              </a:spcAft>
              <a:tabLst/>
              <a:defRPr sz="1800" b="1" i="0"/>
            </a:lvl3pPr>
            <a:lvl4pPr marL="971550" indent="-285750">
              <a:spcAft>
                <a:spcPts val="2900"/>
              </a:spcAft>
              <a:tabLst/>
              <a:defRPr sz="1800" b="1" i="0"/>
            </a:lvl4pPr>
            <a:lvl5pPr marL="1320800" indent="-287338">
              <a:spcAft>
                <a:spcPts val="2900"/>
              </a:spcAft>
              <a:tabLst/>
              <a:defRPr sz="1800" b="1" i="0"/>
            </a:lvl5pPr>
            <a:lvl6pPr marL="1658938" indent="-287338">
              <a:spcAft>
                <a:spcPts val="2900"/>
              </a:spcAft>
              <a:tabLst/>
              <a:defRPr sz="1800" b="1"/>
            </a:lvl6pPr>
            <a:lvl7pPr marL="2006600" indent="-287338">
              <a:spcAft>
                <a:spcPts val="2900"/>
              </a:spcAft>
              <a:tabLst/>
              <a:defRPr sz="1800" b="1"/>
            </a:lvl7pPr>
            <a:lvl8pPr marL="2344738" indent="-266700">
              <a:tabLst/>
              <a:defRPr/>
            </a:lvl8pPr>
            <a:lvl9pPr marL="2692400" indent="-285750">
              <a:tabLst/>
              <a:defRPr/>
            </a:lvl9pPr>
          </a:lstStyle>
          <a:p>
            <a:pPr lvl="0"/>
            <a:r>
              <a:rPr lang="en-US" dirty="0"/>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dirty="0"/>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dirty="0"/>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dirty="0"/>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dirty="0"/>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dirty="0"/>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dirty="0"/>
              <a:t>Edit Master text styles</a:t>
            </a:r>
          </a:p>
        </p:txBody>
      </p:sp>
      <p:sp>
        <p:nvSpPr>
          <p:cNvPr id="8" name="Text Placeholder 9">
            <a:extLst>
              <a:ext uri="{FF2B5EF4-FFF2-40B4-BE49-F238E27FC236}">
                <a16:creationId xmlns:a16="http://schemas.microsoft.com/office/drawing/2014/main" id="{CD71F599-75FF-0AEF-010B-B70DBAA7A833}"/>
              </a:ext>
            </a:extLst>
          </p:cNvPr>
          <p:cNvSpPr>
            <a:spLocks noGrp="1"/>
          </p:cNvSpPr>
          <p:nvPr>
            <p:ph type="body" sz="quarter" idx="26" hasCustomPrompt="1"/>
          </p:nvPr>
        </p:nvSpPr>
        <p:spPr>
          <a:xfrm flipH="1" flipV="1">
            <a:off x="364794" y="855203"/>
            <a:ext cx="1381456" cy="192234"/>
          </a:xfrm>
          <a:prstGeom prst="rect">
            <a:avLst/>
          </a:prstGeom>
          <a:blipFill dpi="0" rotWithShape="0">
            <a:blip r:embed="rId4"/>
            <a:srcRect/>
            <a:stretch>
              <a:fillRect t="-317465" b="-325807"/>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363208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_2">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4836E44-27EF-D8DB-2ACB-DE3980E63D82}"/>
              </a:ext>
            </a:extLst>
          </p:cNvPr>
          <p:cNvSpPr>
            <a:spLocks noGrp="1" noRot="1" noMove="1" noResize="1" noEditPoints="1" noAdjustHandles="1" noChangeArrowheads="1" noChangeShapeType="1"/>
          </p:cNvSpPr>
          <p:nvPr userDrawn="1"/>
        </p:nvSpPr>
        <p:spPr bwMode="auto">
          <a:xfrm>
            <a:off x="300446" y="966651"/>
            <a:ext cx="2050868" cy="195943"/>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Rectangle 6">
            <a:extLst>
              <a:ext uri="{FF2B5EF4-FFF2-40B4-BE49-F238E27FC236}">
                <a16:creationId xmlns:a16="http://schemas.microsoft.com/office/drawing/2014/main" id="{2FBA661D-36AF-0575-B525-6804A0045D53}"/>
              </a:ext>
            </a:extLst>
          </p:cNvPr>
          <p:cNvSpPr/>
          <p:nvPr userDrawn="1"/>
        </p:nvSpPr>
        <p:spPr bwMode="auto">
          <a:xfrm>
            <a:off x="0" y="0"/>
            <a:ext cx="3935767" cy="6858000"/>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Footer Placeholder 3">
            <a:extLst>
              <a:ext uri="{FF2B5EF4-FFF2-40B4-BE49-F238E27FC236}">
                <a16:creationId xmlns:a16="http://schemas.microsoft.com/office/drawing/2014/main" id="{F972B6A5-01FD-899A-FA5B-50AED31DFBE5}"/>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368B83A-3779-569C-36A3-CDD67449E48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sz="quarter" idx="22"/>
          </p:nvPr>
        </p:nvSpPr>
        <p:spPr>
          <a:xfrm>
            <a:off x="610669" y="1508125"/>
            <a:ext cx="3913550" cy="3916330"/>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sp>
        <p:nvSpPr>
          <p:cNvPr id="13" name="Title 2">
            <a:extLst>
              <a:ext uri="{FF2B5EF4-FFF2-40B4-BE49-F238E27FC236}">
                <a16:creationId xmlns:a16="http://schemas.microsoft.com/office/drawing/2014/main" id="{439BE691-B1BB-8E34-2EA4-D0406BCBF408}"/>
              </a:ext>
            </a:extLst>
          </p:cNvPr>
          <p:cNvSpPr>
            <a:spLocks noGrp="1"/>
          </p:cNvSpPr>
          <p:nvPr>
            <p:ph type="title" hasCustomPrompt="1"/>
          </p:nvPr>
        </p:nvSpPr>
        <p:spPr>
          <a:xfrm>
            <a:off x="5168648" y="556953"/>
            <a:ext cx="6559800" cy="855922"/>
          </a:xfrm>
          <a:prstGeom prst="rect">
            <a:avLst/>
          </a:prstGeom>
        </p:spPr>
        <p:txBody>
          <a:bodyPr/>
          <a:lstStyle>
            <a:lvl1pPr>
              <a:defRPr sz="2200"/>
            </a:lvl1pPr>
          </a:lstStyle>
          <a:p>
            <a:r>
              <a:rPr lang="en-US" dirty="0"/>
              <a:t>Click to edit Agenda/Contents Title</a:t>
            </a:r>
          </a:p>
        </p:txBody>
      </p:sp>
      <p:sp>
        <p:nvSpPr>
          <p:cNvPr id="14" name="Content Placeholder 7">
            <a:extLst>
              <a:ext uri="{FF2B5EF4-FFF2-40B4-BE49-F238E27FC236}">
                <a16:creationId xmlns:a16="http://schemas.microsoft.com/office/drawing/2014/main" id="{501FEA8E-002C-6C24-1D7D-8DE43490479E}"/>
              </a:ext>
            </a:extLst>
          </p:cNvPr>
          <p:cNvSpPr>
            <a:spLocks noGrp="1"/>
          </p:cNvSpPr>
          <p:nvPr>
            <p:ph sz="quarter" idx="20" hasCustomPrompt="1"/>
          </p:nvPr>
        </p:nvSpPr>
        <p:spPr>
          <a:xfrm>
            <a:off x="5168649" y="1508125"/>
            <a:ext cx="6559800" cy="4511673"/>
          </a:xfrm>
          <a:prstGeom prst="rect">
            <a:avLst/>
          </a:prstGeom>
        </p:spPr>
        <p:txBody>
          <a:bodyPr anchor="t"/>
          <a:lstStyle>
            <a:lvl1pPr>
              <a:spcAft>
                <a:spcPts val="1200"/>
              </a:spcAft>
              <a:defRPr sz="1800" b="1" i="0"/>
            </a:lvl1pPr>
            <a:lvl2pPr marL="295275" indent="-285750">
              <a:spcAft>
                <a:spcPts val="1200"/>
              </a:spcAft>
              <a:buFont typeface="Arial" panose="020B0604020202020204" pitchFamily="34" charset="0"/>
              <a:buChar char="•"/>
              <a:tabLst/>
              <a:defRPr sz="1800" b="1" i="0"/>
            </a:lvl2pPr>
            <a:lvl3pPr marL="635000" indent="-287338">
              <a:spcAft>
                <a:spcPts val="1200"/>
              </a:spcAft>
              <a:tabLst/>
              <a:defRPr sz="1800" b="1" i="0"/>
            </a:lvl3pPr>
            <a:lvl4pPr marL="971550" indent="-285750">
              <a:spcAft>
                <a:spcPts val="1200"/>
              </a:spcAft>
              <a:tabLst/>
              <a:defRPr sz="1800" b="1" i="0"/>
            </a:lvl4pPr>
            <a:lvl5pPr marL="1320800" indent="-287338">
              <a:spcAft>
                <a:spcPts val="1200"/>
              </a:spcAft>
              <a:tabLst/>
              <a:defRPr sz="1800" b="1" i="0"/>
            </a:lvl5pPr>
            <a:lvl6pPr marL="1658938" indent="-287338">
              <a:spcAft>
                <a:spcPts val="1200"/>
              </a:spcAft>
              <a:tabLst/>
              <a:defRPr sz="1800" b="1"/>
            </a:lvl6pPr>
            <a:lvl7pPr marL="2006600" indent="-287338">
              <a:spcAft>
                <a:spcPts val="1200"/>
              </a:spcAft>
              <a:tabLst/>
              <a:defRPr sz="1800" b="1"/>
            </a:lvl7pPr>
            <a:lvl8pPr marL="2344738" indent="-266700">
              <a:tabLst/>
              <a:defRPr/>
            </a:lvl8pPr>
            <a:lvl9pPr marL="2692400" indent="-285750">
              <a:tabLst/>
              <a:defRPr/>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p:txBody>
      </p:sp>
      <p:sp>
        <p:nvSpPr>
          <p:cNvPr id="5" name="Text Placeholder 9">
            <a:extLst>
              <a:ext uri="{FF2B5EF4-FFF2-40B4-BE49-F238E27FC236}">
                <a16:creationId xmlns:a16="http://schemas.microsoft.com/office/drawing/2014/main" id="{5AC43BAF-6C08-503E-AB09-63A6DE719E03}"/>
              </a:ext>
            </a:extLst>
          </p:cNvPr>
          <p:cNvSpPr>
            <a:spLocks noGrp="1"/>
          </p:cNvSpPr>
          <p:nvPr>
            <p:ph type="body" sz="quarter" idx="26" hasCustomPrompt="1"/>
          </p:nvPr>
        </p:nvSpPr>
        <p:spPr>
          <a:xfrm flipH="1" flipV="1">
            <a:off x="5020644" y="857796"/>
            <a:ext cx="1381456" cy="192234"/>
          </a:xfrm>
          <a:prstGeom prst="rect">
            <a:avLst/>
          </a:prstGeom>
          <a:blipFill dpi="0" rotWithShape="0">
            <a:blip r:embed="rId3"/>
            <a:srcRect/>
            <a:stretch>
              <a:fillRect t="-317465" b="-325807"/>
            </a:stretch>
          </a:blipFill>
        </p:spPr>
        <p:txBody>
          <a:bodyPr/>
          <a:lstStyle>
            <a:lvl1pPr>
              <a:defRPr sz="2800" b="0" i="0"/>
            </a:lvl1pPr>
          </a:lstStyle>
          <a:p>
            <a:pPr lvl="0"/>
            <a:r>
              <a:rPr lang="en-US" dirty="0"/>
              <a:t> </a:t>
            </a:r>
          </a:p>
        </p:txBody>
      </p:sp>
      <p:pic>
        <p:nvPicPr>
          <p:cNvPr id="8" name="Picture 7">
            <a:extLst>
              <a:ext uri="{FF2B5EF4-FFF2-40B4-BE49-F238E27FC236}">
                <a16:creationId xmlns:a16="http://schemas.microsoft.com/office/drawing/2014/main" id="{F6EE3324-F78B-080E-CEED-7AF10A908BF8}"/>
              </a:ext>
            </a:extLst>
          </p:cNvPr>
          <p:cNvPicPr>
            <a:picLocks noChangeAspect="1"/>
          </p:cNvPicPr>
          <p:nvPr userDrawn="1"/>
        </p:nvPicPr>
        <p:blipFill>
          <a:blip r:embed="rId4"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Tree>
    <p:extLst>
      <p:ext uri="{BB962C8B-B14F-4D97-AF65-F5344CB8AC3E}">
        <p14:creationId xmlns:p14="http://schemas.microsoft.com/office/powerpoint/2010/main" val="1526032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1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F281B9B0-919B-7605-4D45-9E1F54B94E3A}"/>
              </a:ext>
            </a:extLst>
          </p:cNvPr>
          <p:cNvSpPr>
            <a:spLocks noGrp="1"/>
          </p:cNvSpPr>
          <p:nvPr>
            <p:ph idx="1" hasCustomPrompt="1"/>
          </p:nvPr>
        </p:nvSpPr>
        <p:spPr>
          <a:xfrm>
            <a:off x="460372" y="1770063"/>
            <a:ext cx="11268074" cy="4249738"/>
          </a:xfrm>
          <a:prstGeom prst="rect">
            <a:avLst/>
          </a:prstGeom>
        </p:spPr>
        <p:txBody>
          <a:bodyPr vert="horz" lIns="0" tIns="0" rIns="0" bIns="0" rtlCol="0">
            <a:noAutofit/>
          </a:bodyPr>
          <a:lstStyle>
            <a:lvl1pPr>
              <a:spcAft>
                <a:spcPts val="600"/>
              </a:spcAft>
              <a:defRPr/>
            </a:lvl1pPr>
            <a:lvl2pPr marL="295275" indent="-295275">
              <a:spcAft>
                <a:spcPts val="600"/>
              </a:spcAft>
              <a:tabLst/>
              <a:defRPr/>
            </a:lvl2pPr>
            <a:lvl3pPr>
              <a:spcAft>
                <a:spcPts val="600"/>
              </a:spcAft>
              <a:defRPr/>
            </a:lvl3pPr>
            <a:lvl4pPr>
              <a:spcAft>
                <a:spcPts val="600"/>
              </a:spcAft>
              <a:defRPr/>
            </a:lvl4pPr>
            <a:lvl5pPr>
              <a:spcAft>
                <a:spcPts val="600"/>
              </a:spcAft>
              <a:defRPr/>
            </a:lvl5pPr>
            <a:lvl6pPr>
              <a:spcAft>
                <a:spcPts val="600"/>
              </a:spcAft>
              <a:defRPr/>
            </a:lvl6pPr>
            <a:lvl7pPr>
              <a:spcAft>
                <a:spcPts val="600"/>
              </a:spcAft>
              <a:defRPr/>
            </a:lvl7pPr>
            <a:lvl8pPr>
              <a:spcAft>
                <a:spcPts val="600"/>
              </a:spcAft>
              <a:defRPr/>
            </a:lvl8pPr>
            <a:lvl9pPr>
              <a:spcAft>
                <a:spcPts val="6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Footer Placeholder 10">
            <a:extLst>
              <a:ext uri="{FF2B5EF4-FFF2-40B4-BE49-F238E27FC236}">
                <a16:creationId xmlns:a16="http://schemas.microsoft.com/office/drawing/2014/main" id="{F263E73F-DEF9-130F-B071-D10FB1CB5161}"/>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12" name="Slide Number Placeholder 11">
            <a:extLst>
              <a:ext uri="{FF2B5EF4-FFF2-40B4-BE49-F238E27FC236}">
                <a16:creationId xmlns:a16="http://schemas.microsoft.com/office/drawing/2014/main" id="{72307C66-749A-F18A-899A-DCE7C0FC87C7}"/>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3" name="Title 2">
            <a:extLst>
              <a:ext uri="{FF2B5EF4-FFF2-40B4-BE49-F238E27FC236}">
                <a16:creationId xmlns:a16="http://schemas.microsoft.com/office/drawing/2014/main" id="{039D28D3-7724-CABE-5E01-C686E737731A}"/>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5" name="Picture 4" descr="A blue text on a black background&#10;&#10;Description automatically generated">
            <a:extLst>
              <a:ext uri="{FF2B5EF4-FFF2-40B4-BE49-F238E27FC236}">
                <a16:creationId xmlns:a16="http://schemas.microsoft.com/office/drawing/2014/main" id="{08B542EB-5CB8-F0A6-4DB5-533C78B14DA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ext Placeholder 15">
            <a:extLst>
              <a:ext uri="{FF2B5EF4-FFF2-40B4-BE49-F238E27FC236}">
                <a16:creationId xmlns:a16="http://schemas.microsoft.com/office/drawing/2014/main" id="{BF08CDCA-7295-067B-E037-76ACEB96299C}"/>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813096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2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7AC6684-4917-893D-7978-45194F506A94}"/>
              </a:ext>
            </a:extLst>
          </p:cNvPr>
          <p:cNvSpPr>
            <a:spLocks noGrp="1"/>
          </p:cNvSpPr>
          <p:nvPr>
            <p:ph type="ftr" sz="quarter" idx="22"/>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B3050605-C097-CBBB-F6AE-D408F5C6B153}"/>
              </a:ext>
            </a:extLst>
          </p:cNvPr>
          <p:cNvSpPr>
            <a:spLocks noGrp="1"/>
          </p:cNvSpPr>
          <p:nvPr>
            <p:ph type="sldNum" sz="quarter" idx="23"/>
          </p:nvPr>
        </p:nvSpPr>
        <p:spPr/>
        <p:txBody>
          <a:bodyPr/>
          <a:lstStyle>
            <a:lvl1pPr>
              <a:defRPr b="0" i="0"/>
            </a:lvl1pPr>
          </a:lstStyle>
          <a:p>
            <a:fld id="{63DCA5C9-2E11-4C67-86EB-AE1DE127DC64}" type="slidenum">
              <a:rPr lang="en-US" smtClean="0"/>
              <a:pPr/>
              <a:t>‹#›</a:t>
            </a:fld>
            <a:endParaRPr lang="en-US"/>
          </a:p>
        </p:txBody>
      </p:sp>
      <p:sp>
        <p:nvSpPr>
          <p:cNvPr id="4" name="Title 3">
            <a:extLst>
              <a:ext uri="{FF2B5EF4-FFF2-40B4-BE49-F238E27FC236}">
                <a16:creationId xmlns:a16="http://schemas.microsoft.com/office/drawing/2014/main" id="{987FB2C3-7DEF-A787-97F3-478F892A584F}"/>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endParaRPr lang="en-US" dirty="0"/>
          </a:p>
        </p:txBody>
      </p:sp>
      <p:pic>
        <p:nvPicPr>
          <p:cNvPr id="7" name="Picture 6" descr="A blue text on a black background&#10;&#10;Description automatically generated">
            <a:extLst>
              <a:ext uri="{FF2B5EF4-FFF2-40B4-BE49-F238E27FC236}">
                <a16:creationId xmlns:a16="http://schemas.microsoft.com/office/drawing/2014/main" id="{BD0AB5E2-A78F-EF72-4306-83FB4F13DF1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Content Placeholder 7">
            <a:extLst>
              <a:ext uri="{FF2B5EF4-FFF2-40B4-BE49-F238E27FC236}">
                <a16:creationId xmlns:a16="http://schemas.microsoft.com/office/drawing/2014/main" id="{7EC1626D-C51D-F91B-9E51-AEACBDEBE7B9}"/>
              </a:ext>
            </a:extLst>
          </p:cNvPr>
          <p:cNvSpPr>
            <a:spLocks noGrp="1"/>
          </p:cNvSpPr>
          <p:nvPr>
            <p:ph sz="quarter" idx="20"/>
          </p:nvPr>
        </p:nvSpPr>
        <p:spPr>
          <a:xfrm>
            <a:off x="460375" y="1770063"/>
            <a:ext cx="5521325"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7">
            <a:extLst>
              <a:ext uri="{FF2B5EF4-FFF2-40B4-BE49-F238E27FC236}">
                <a16:creationId xmlns:a16="http://schemas.microsoft.com/office/drawing/2014/main" id="{800F75C6-D0DF-371B-63BB-406F6DC95786}"/>
              </a:ext>
            </a:extLst>
          </p:cNvPr>
          <p:cNvSpPr>
            <a:spLocks noGrp="1"/>
          </p:cNvSpPr>
          <p:nvPr>
            <p:ph sz="quarter" idx="24"/>
          </p:nvPr>
        </p:nvSpPr>
        <p:spPr>
          <a:xfrm>
            <a:off x="6210300" y="1770063"/>
            <a:ext cx="551815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15">
            <a:extLst>
              <a:ext uri="{FF2B5EF4-FFF2-40B4-BE49-F238E27FC236}">
                <a16:creationId xmlns:a16="http://schemas.microsoft.com/office/drawing/2014/main" id="{40D1E5F1-9491-BB3D-DC45-8C7C55783F5A}"/>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988714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3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sz="quarter" idx="15"/>
          </p:nvPr>
        </p:nvSpPr>
        <p:spPr/>
        <p:txBody>
          <a:bodyPr/>
          <a:lstStyle>
            <a:lvl1pPr>
              <a:defRPr b="0" i="0"/>
            </a:lvl1p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sz="quarter" idx="16"/>
          </p:nvPr>
        </p:nvSpPr>
        <p:spPr/>
        <p:txBody>
          <a:bodyPr/>
          <a:lstStyle>
            <a:lvl1pPr>
              <a:defRPr b="0" i="0"/>
            </a:lvl1pPr>
          </a:lstStyle>
          <a:p>
            <a:fld id="{63DCA5C9-2E11-4C67-86EB-AE1DE127DC64}" type="slidenum">
              <a:rPr lang="en-US" smtClean="0"/>
              <a:pPr/>
              <a:t>‹#›</a:t>
            </a:fld>
            <a:endParaRPr lang="en-US"/>
          </a:p>
        </p:txBody>
      </p:sp>
      <p:pic>
        <p:nvPicPr>
          <p:cNvPr id="8" name="Picture 7" descr="A blue text on a black background&#10;&#10;Description automatically generated">
            <a:extLst>
              <a:ext uri="{FF2B5EF4-FFF2-40B4-BE49-F238E27FC236}">
                <a16:creationId xmlns:a16="http://schemas.microsoft.com/office/drawing/2014/main" id="{3E9F9052-AA30-3941-3438-16032648210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Content Placeholder 7">
            <a:extLst>
              <a:ext uri="{FF2B5EF4-FFF2-40B4-BE49-F238E27FC236}">
                <a16:creationId xmlns:a16="http://schemas.microsoft.com/office/drawing/2014/main" id="{0056E07F-5641-0AC8-7606-9184F560AECF}"/>
              </a:ext>
            </a:extLst>
          </p:cNvPr>
          <p:cNvSpPr>
            <a:spLocks noGrp="1"/>
          </p:cNvSpPr>
          <p:nvPr>
            <p:ph sz="quarter" idx="20"/>
          </p:nvPr>
        </p:nvSpPr>
        <p:spPr>
          <a:xfrm>
            <a:off x="460375"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a:extLst>
              <a:ext uri="{FF2B5EF4-FFF2-40B4-BE49-F238E27FC236}">
                <a16:creationId xmlns:a16="http://schemas.microsoft.com/office/drawing/2014/main" id="{D82477B9-0A32-B6C4-2F46-122799F3984B}"/>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endParaRPr lang="en-US" dirty="0"/>
          </a:p>
        </p:txBody>
      </p:sp>
      <p:sp>
        <p:nvSpPr>
          <p:cNvPr id="12" name="Content Placeholder 7">
            <a:extLst>
              <a:ext uri="{FF2B5EF4-FFF2-40B4-BE49-F238E27FC236}">
                <a16:creationId xmlns:a16="http://schemas.microsoft.com/office/drawing/2014/main" id="{2951039B-3D00-6FDA-3076-5C33B65A3ABD}"/>
              </a:ext>
            </a:extLst>
          </p:cNvPr>
          <p:cNvSpPr>
            <a:spLocks noGrp="1"/>
          </p:cNvSpPr>
          <p:nvPr>
            <p:ph sz="quarter" idx="21"/>
          </p:nvPr>
        </p:nvSpPr>
        <p:spPr>
          <a:xfrm>
            <a:off x="8124827"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7">
            <a:extLst>
              <a:ext uri="{FF2B5EF4-FFF2-40B4-BE49-F238E27FC236}">
                <a16:creationId xmlns:a16="http://schemas.microsoft.com/office/drawing/2014/main" id="{7FE16D19-354D-731F-F73E-FA767DF68429}"/>
              </a:ext>
            </a:extLst>
          </p:cNvPr>
          <p:cNvSpPr>
            <a:spLocks noGrp="1"/>
          </p:cNvSpPr>
          <p:nvPr>
            <p:ph sz="quarter" idx="22"/>
          </p:nvPr>
        </p:nvSpPr>
        <p:spPr>
          <a:xfrm>
            <a:off x="4321019"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15">
            <a:extLst>
              <a:ext uri="{FF2B5EF4-FFF2-40B4-BE49-F238E27FC236}">
                <a16:creationId xmlns:a16="http://schemas.microsoft.com/office/drawing/2014/main" id="{3FEF5C62-2517-1AC3-C2A2-6FB57854A32F}"/>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360105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3col_capt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sz="quarter" idx="15"/>
          </p:nvPr>
        </p:nvSpPr>
        <p:spPr/>
        <p:txBody>
          <a:bodyPr/>
          <a:lstStyle>
            <a:lvl1pPr>
              <a:defRPr b="0" i="0"/>
            </a:lvl1p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sz="quarter" idx="16"/>
          </p:nvPr>
        </p:nvSpPr>
        <p:spPr/>
        <p:txBody>
          <a:bodyPr/>
          <a:lstStyle>
            <a:lvl1pPr>
              <a:defRPr b="0" i="0"/>
            </a:lvl1pPr>
          </a:lstStyle>
          <a:p>
            <a:fld id="{63DCA5C9-2E11-4C67-86EB-AE1DE127DC64}" type="slidenum">
              <a:rPr lang="en-US" smtClean="0"/>
              <a:pPr/>
              <a:t>‹#›</a:t>
            </a:fld>
            <a:endParaRPr lang="en-US"/>
          </a:p>
        </p:txBody>
      </p:sp>
      <p:sp>
        <p:nvSpPr>
          <p:cNvPr id="8" name="Text Placeholder 7">
            <a:extLst>
              <a:ext uri="{FF2B5EF4-FFF2-40B4-BE49-F238E27FC236}">
                <a16:creationId xmlns:a16="http://schemas.microsoft.com/office/drawing/2014/main" id="{F3286076-E0DB-E4CC-E8A2-BEEF556EB4A1}"/>
              </a:ext>
            </a:extLst>
          </p:cNvPr>
          <p:cNvSpPr>
            <a:spLocks noGrp="1"/>
          </p:cNvSpPr>
          <p:nvPr>
            <p:ph type="body" sz="quarter" idx="19"/>
          </p:nvPr>
        </p:nvSpPr>
        <p:spPr>
          <a:xfrm>
            <a:off x="460375"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0" name="Picture Placeholder 9">
            <a:extLst>
              <a:ext uri="{FF2B5EF4-FFF2-40B4-BE49-F238E27FC236}">
                <a16:creationId xmlns:a16="http://schemas.microsoft.com/office/drawing/2014/main" id="{9180B2BC-2194-6BE9-E9A2-C04BB80C88E8}"/>
              </a:ext>
            </a:extLst>
          </p:cNvPr>
          <p:cNvSpPr>
            <a:spLocks noGrp="1"/>
          </p:cNvSpPr>
          <p:nvPr>
            <p:ph type="pic" sz="quarter" idx="20"/>
          </p:nvPr>
        </p:nvSpPr>
        <p:spPr>
          <a:xfrm>
            <a:off x="460375"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11" name="Text Placeholder 7">
            <a:extLst>
              <a:ext uri="{FF2B5EF4-FFF2-40B4-BE49-F238E27FC236}">
                <a16:creationId xmlns:a16="http://schemas.microsoft.com/office/drawing/2014/main" id="{94FC2909-4B91-2381-4FE8-6075BBEADFCA}"/>
              </a:ext>
            </a:extLst>
          </p:cNvPr>
          <p:cNvSpPr>
            <a:spLocks noGrp="1"/>
          </p:cNvSpPr>
          <p:nvPr>
            <p:ph type="body" sz="quarter" idx="21"/>
          </p:nvPr>
        </p:nvSpPr>
        <p:spPr>
          <a:xfrm>
            <a:off x="4298950"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2" name="Picture Placeholder 9">
            <a:extLst>
              <a:ext uri="{FF2B5EF4-FFF2-40B4-BE49-F238E27FC236}">
                <a16:creationId xmlns:a16="http://schemas.microsoft.com/office/drawing/2014/main" id="{44FEA637-5129-BC73-5672-885823C9D06D}"/>
              </a:ext>
            </a:extLst>
          </p:cNvPr>
          <p:cNvSpPr>
            <a:spLocks noGrp="1"/>
          </p:cNvSpPr>
          <p:nvPr>
            <p:ph type="pic" sz="quarter" idx="22"/>
          </p:nvPr>
        </p:nvSpPr>
        <p:spPr>
          <a:xfrm>
            <a:off x="4298950"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13" name="Text Placeholder 7">
            <a:extLst>
              <a:ext uri="{FF2B5EF4-FFF2-40B4-BE49-F238E27FC236}">
                <a16:creationId xmlns:a16="http://schemas.microsoft.com/office/drawing/2014/main" id="{8F7C1D54-4D08-B846-D72D-58481B1CA9AA}"/>
              </a:ext>
            </a:extLst>
          </p:cNvPr>
          <p:cNvSpPr>
            <a:spLocks noGrp="1"/>
          </p:cNvSpPr>
          <p:nvPr>
            <p:ph type="body" sz="quarter" idx="23"/>
          </p:nvPr>
        </p:nvSpPr>
        <p:spPr>
          <a:xfrm>
            <a:off x="8121650"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4" name="Picture Placeholder 9">
            <a:extLst>
              <a:ext uri="{FF2B5EF4-FFF2-40B4-BE49-F238E27FC236}">
                <a16:creationId xmlns:a16="http://schemas.microsoft.com/office/drawing/2014/main" id="{AF8A9ABB-83F4-8553-6F94-7B3490556A79}"/>
              </a:ext>
            </a:extLst>
          </p:cNvPr>
          <p:cNvSpPr>
            <a:spLocks noGrp="1"/>
          </p:cNvSpPr>
          <p:nvPr>
            <p:ph type="pic" sz="quarter" idx="24"/>
          </p:nvPr>
        </p:nvSpPr>
        <p:spPr>
          <a:xfrm>
            <a:off x="8121650"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2" name="Title 1">
            <a:extLst>
              <a:ext uri="{FF2B5EF4-FFF2-40B4-BE49-F238E27FC236}">
                <a16:creationId xmlns:a16="http://schemas.microsoft.com/office/drawing/2014/main" id="{37073C04-F7C8-4626-A414-BE74337C9F01}"/>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endParaRPr lang="en-US" dirty="0"/>
          </a:p>
        </p:txBody>
      </p:sp>
      <p:pic>
        <p:nvPicPr>
          <p:cNvPr id="4" name="Picture 3" descr="A blue text on a black background&#10;&#10;Description automatically generated">
            <a:extLst>
              <a:ext uri="{FF2B5EF4-FFF2-40B4-BE49-F238E27FC236}">
                <a16:creationId xmlns:a16="http://schemas.microsoft.com/office/drawing/2014/main" id="{8518CA3C-FFE4-73E3-F3BB-66D14BA3889E}"/>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1" name="Text Placeholder 15">
            <a:extLst>
              <a:ext uri="{FF2B5EF4-FFF2-40B4-BE49-F238E27FC236}">
                <a16:creationId xmlns:a16="http://schemas.microsoft.com/office/drawing/2014/main" id="{23AC8427-599A-D3E6-AA33-38751B2C8D83}"/>
              </a:ext>
            </a:extLst>
          </p:cNvPr>
          <p:cNvSpPr>
            <a:spLocks noGrp="1"/>
          </p:cNvSpPr>
          <p:nvPr>
            <p:ph type="body" sz="quarter" idx="25"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291655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_ful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p:nvPr>
        </p:nvSpPr>
        <p:spPr>
          <a:xfrm>
            <a:off x="0" y="1"/>
            <a:ext cx="12191999" cy="6132512"/>
          </a:xfrm>
          <a:prstGeom prst="rect">
            <a:avLst/>
          </a:prstGeom>
          <a:solidFill>
            <a:schemeClr val="accent2">
              <a:lumMod val="40000"/>
              <a:lumOff val="60000"/>
            </a:schemeClr>
          </a:solidFill>
        </p:spPr>
        <p:txBody>
          <a:bodyPr tIns="2560320" rIns="0"/>
          <a:lstStyle>
            <a:lvl1pPr algn="ctr">
              <a:defRPr b="0" i="0">
                <a:solidFill>
                  <a:schemeClr val="tx1"/>
                </a:solidFill>
              </a:defRPr>
            </a:lvl1pPr>
          </a:lstStyle>
          <a:p>
            <a:r>
              <a:rPr lang="en-US"/>
              <a:t>Click icon to add picture</a:t>
            </a:r>
          </a:p>
        </p:txBody>
      </p:sp>
      <p:sp>
        <p:nvSpPr>
          <p:cNvPr id="5" name="Footer Placeholder 4">
            <a:extLst>
              <a:ext uri="{FF2B5EF4-FFF2-40B4-BE49-F238E27FC236}">
                <a16:creationId xmlns:a16="http://schemas.microsoft.com/office/drawing/2014/main" id="{D4389C8F-D452-9AD4-4144-B49736DC8CEB}"/>
              </a:ext>
            </a:extLst>
          </p:cNvPr>
          <p:cNvSpPr>
            <a:spLocks noGrp="1"/>
          </p:cNvSpPr>
          <p:nvPr>
            <p:ph type="ftr" sz="quarter" idx="11"/>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17A657E4-04D6-B96F-C916-7934FB6812BD}"/>
              </a:ext>
            </a:extLst>
          </p:cNvPr>
          <p:cNvSpPr>
            <a:spLocks noGrp="1"/>
          </p:cNvSpPr>
          <p:nvPr>
            <p:ph type="sldNum" sz="quarter" idx="12"/>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66B6FE5-A7B7-31A2-9906-5DCB55A82C7C}"/>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34550608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_full_head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p:nvPr>
        </p:nvSpPr>
        <p:spPr>
          <a:xfrm>
            <a:off x="460375" y="1770063"/>
            <a:ext cx="11268076" cy="4249737"/>
          </a:xfrm>
          <a:prstGeom prst="rect">
            <a:avLst/>
          </a:prstGeom>
          <a:solidFill>
            <a:schemeClr val="accent2">
              <a:lumMod val="40000"/>
              <a:lumOff val="60000"/>
            </a:schemeClr>
          </a:solidFill>
        </p:spPr>
        <p:txBody>
          <a:bodyPr tIns="2468880" rIns="0"/>
          <a:lstStyle>
            <a:lvl1pPr algn="ctr">
              <a:defRPr b="0" i="0">
                <a:solidFill>
                  <a:schemeClr val="tx1"/>
                </a:solidFill>
              </a:defRPr>
            </a:lvl1pPr>
          </a:lstStyle>
          <a:p>
            <a:r>
              <a:rPr lang="en-US"/>
              <a:t>Click icon to add picture</a:t>
            </a:r>
          </a:p>
        </p:txBody>
      </p:sp>
      <p:sp>
        <p:nvSpPr>
          <p:cNvPr id="6" name="Footer Placeholder 5">
            <a:extLst>
              <a:ext uri="{FF2B5EF4-FFF2-40B4-BE49-F238E27FC236}">
                <a16:creationId xmlns:a16="http://schemas.microsoft.com/office/drawing/2014/main" id="{D4479B74-17F1-EBC9-69EE-229D47AE65AC}"/>
              </a:ext>
            </a:extLst>
          </p:cNvPr>
          <p:cNvSpPr>
            <a:spLocks noGrp="1"/>
          </p:cNvSpPr>
          <p:nvPr>
            <p:ph type="ftr" sz="quarter" idx="16"/>
          </p:nvPr>
        </p:nvSpPr>
        <p:spPr/>
        <p:txBody>
          <a:bodyPr/>
          <a:lstStyle>
            <a:lvl1pPr>
              <a:defRPr b="0" i="0"/>
            </a:lvl1pPr>
          </a:lstStyle>
          <a:p>
            <a:r>
              <a:rPr lang="en-US"/>
              <a:t>© 2026 West Monroe Partners | Reproduction and/or distribution without West Monroe Partners’ prior consent is prohibited.</a:t>
            </a:r>
          </a:p>
        </p:txBody>
      </p:sp>
      <p:sp>
        <p:nvSpPr>
          <p:cNvPr id="7" name="Slide Number Placeholder 6">
            <a:extLst>
              <a:ext uri="{FF2B5EF4-FFF2-40B4-BE49-F238E27FC236}">
                <a16:creationId xmlns:a16="http://schemas.microsoft.com/office/drawing/2014/main" id="{7B5A2861-0858-0FB8-8FC6-453F5A493617}"/>
              </a:ext>
            </a:extLst>
          </p:cNvPr>
          <p:cNvSpPr>
            <a:spLocks noGrp="1"/>
          </p:cNvSpPr>
          <p:nvPr>
            <p:ph type="sldNum" sz="quarter" idx="17"/>
          </p:nvPr>
        </p:nvSpPr>
        <p:spPr/>
        <p:txBody>
          <a:bodyPr/>
          <a:lstStyle>
            <a:lvl1pPr>
              <a:defRPr b="0" i="0"/>
            </a:lvl1pPr>
          </a:lstStyle>
          <a:p>
            <a:fld id="{63DCA5C9-2E11-4C67-86EB-AE1DE127DC64}" type="slidenum">
              <a:rPr lang="en-US" smtClean="0"/>
              <a:pPr/>
              <a:t>‹#›</a:t>
            </a:fld>
            <a:endParaRPr lang="en-US"/>
          </a:p>
        </p:txBody>
      </p:sp>
      <p:sp>
        <p:nvSpPr>
          <p:cNvPr id="2" name="Title 1">
            <a:extLst>
              <a:ext uri="{FF2B5EF4-FFF2-40B4-BE49-F238E27FC236}">
                <a16:creationId xmlns:a16="http://schemas.microsoft.com/office/drawing/2014/main" id="{7AAE4AD5-D1B4-C05A-51DA-AA8783158CDF}"/>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endParaRPr lang="en-US" dirty="0"/>
          </a:p>
        </p:txBody>
      </p:sp>
      <p:pic>
        <p:nvPicPr>
          <p:cNvPr id="3" name="Picture 2" descr="A blue text on a black background&#10;&#10;Description automatically generated">
            <a:extLst>
              <a:ext uri="{FF2B5EF4-FFF2-40B4-BE49-F238E27FC236}">
                <a16:creationId xmlns:a16="http://schemas.microsoft.com/office/drawing/2014/main" id="{405238A7-736B-DB47-15BA-AFDAB063C38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ext Placeholder 15">
            <a:extLst>
              <a:ext uri="{FF2B5EF4-FFF2-40B4-BE49-F238E27FC236}">
                <a16:creationId xmlns:a16="http://schemas.microsoft.com/office/drawing/2014/main" id="{831A1A2D-C89C-6D53-136D-138D70CAF518}"/>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2358383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header_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endParaRPr lang="en-US" dirty="0"/>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endParaRPr lang="en-US" dirty="0"/>
          </a:p>
        </p:txBody>
      </p:sp>
      <p:pic>
        <p:nvPicPr>
          <p:cNvPr id="5" name="Picture 4" descr="A blue text on a black background&#10;&#10;Description automatically generated">
            <a:extLst>
              <a:ext uri="{FF2B5EF4-FFF2-40B4-BE49-F238E27FC236}">
                <a16:creationId xmlns:a16="http://schemas.microsoft.com/office/drawing/2014/main" id="{1AD17AF9-0181-A578-8688-456C5094B46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7512771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_footer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EC829E04-BCCD-010B-AD64-B2BB49639E85}"/>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38076461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_footer2">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EC829E04-BCCD-010B-AD64-B2BB49639E85}"/>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20522950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_video">
    <p:bg>
      <p:bgPr>
        <a:solidFill>
          <a:srgbClr val="000000"/>
        </a:solidFill>
        <a:effectLst/>
      </p:bgPr>
    </p:bg>
    <p:spTree>
      <p:nvGrpSpPr>
        <p:cNvPr id="1" name=""/>
        <p:cNvGrpSpPr/>
        <p:nvPr/>
      </p:nvGrpSpPr>
      <p:grpSpPr>
        <a:xfrm>
          <a:off x="0" y="0"/>
          <a:ext cx="0" cy="0"/>
          <a:chOff x="0" y="0"/>
          <a:chExt cx="0" cy="0"/>
        </a:xfrm>
      </p:grpSpPr>
      <p:sp>
        <p:nvSpPr>
          <p:cNvPr id="3" name="Media Placeholder 2"/>
          <p:cNvSpPr>
            <a:spLocks noGrp="1"/>
          </p:cNvSpPr>
          <p:nvPr>
            <p:ph type="media" sz="quarter" idx="10" hasCustomPrompt="1"/>
          </p:nvPr>
        </p:nvSpPr>
        <p:spPr>
          <a:xfrm>
            <a:off x="0" y="0"/>
            <a:ext cx="12192000" cy="6858000"/>
          </a:xfrm>
          <a:prstGeom prst="rect">
            <a:avLst/>
          </a:prstGeom>
          <a:solidFill>
            <a:srgbClr val="000000"/>
          </a:solidFill>
        </p:spPr>
        <p:txBody>
          <a:bodyPr tIns="731520" anchor="ctr" anchorCtr="0"/>
          <a:lstStyle>
            <a:lvl1pPr algn="ctr">
              <a:defRPr sz="2000" b="0" i="0">
                <a:solidFill>
                  <a:schemeClr val="bg1"/>
                </a:solidFill>
              </a:defRPr>
            </a:lvl1pPr>
          </a:lstStyle>
          <a:p>
            <a:r>
              <a:rPr lang="en-US"/>
              <a:t>Click icon to add video</a:t>
            </a:r>
          </a:p>
        </p:txBody>
      </p:sp>
    </p:spTree>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9">
            <a:extLst>
              <a:ext uri="{FF2B5EF4-FFF2-40B4-BE49-F238E27FC236}">
                <a16:creationId xmlns:a16="http://schemas.microsoft.com/office/drawing/2014/main" id="{E3D8E744-7A24-AE07-4B72-9BE3D3C4E03D}"/>
              </a:ext>
            </a:extLst>
          </p:cNvPr>
          <p:cNvSpPr>
            <a:spLocks noGrp="1"/>
          </p:cNvSpPr>
          <p:nvPr>
            <p:ph type="body" sz="quarter" idx="23" hasCustomPrompt="1"/>
          </p:nvPr>
        </p:nvSpPr>
        <p:spPr>
          <a:xfrm>
            <a:off x="711749" y="3465467"/>
            <a:ext cx="1381456" cy="586696"/>
          </a:xfrm>
          <a:prstGeom prst="rect">
            <a:avLst/>
          </a:prstGeom>
          <a:blipFill>
            <a:blip r:embed="rId3"/>
            <a:stretch>
              <a:fillRect/>
            </a:stretch>
          </a:blipFill>
        </p:spPr>
        <p:txBody>
          <a:bodyPr/>
          <a:lstStyle>
            <a:lvl1pPr>
              <a:defRPr sz="2800" b="0" i="0"/>
            </a:lvl1pPr>
          </a:lstStyle>
          <a:p>
            <a:pPr lvl="0"/>
            <a:r>
              <a:rPr lang="en-US"/>
              <a:t> </a:t>
            </a:r>
          </a:p>
        </p:txBody>
      </p:sp>
      <p:pic>
        <p:nvPicPr>
          <p:cNvPr id="7" name="Picture 6" descr="A blue lines in a black background&#10;&#10;Description automatically generated">
            <a:extLst>
              <a:ext uri="{FF2B5EF4-FFF2-40B4-BE49-F238E27FC236}">
                <a16:creationId xmlns:a16="http://schemas.microsoft.com/office/drawing/2014/main" id="{A310CFA1-867A-3E7A-1507-F7FCD5A5D7A0}"/>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91227" y="2216888"/>
            <a:ext cx="1421661" cy="1421661"/>
          </a:xfrm>
          <a:prstGeom prst="rect">
            <a:avLst/>
          </a:prstGeom>
        </p:spPr>
      </p:pic>
      <p:pic>
        <p:nvPicPr>
          <p:cNvPr id="2" name="Picture 1" descr="A blue text on a black background&#10;&#10;Description automatically generated">
            <a:extLst>
              <a:ext uri="{FF2B5EF4-FFF2-40B4-BE49-F238E27FC236}">
                <a16:creationId xmlns:a16="http://schemas.microsoft.com/office/drawing/2014/main" id="{7701E9E8-6CE3-3FD1-A880-33FA940FBCFA}"/>
              </a:ext>
            </a:extLst>
          </p:cNvPr>
          <p:cNvPicPr>
            <a:picLocks noChangeAspect="1"/>
          </p:cNvPicPr>
          <p:nvPr userDrawn="1"/>
        </p:nvPicPr>
        <p:blipFill>
          <a:blip r:embed="rId5" cstate="hqprint">
            <a:extLst>
              <a:ext uri="{28A0092B-C50C-407E-A947-70E740481C1C}">
                <a14:useLocalDpi xmlns:a14="http://schemas.microsoft.com/office/drawing/2010/main"/>
              </a:ext>
            </a:extLst>
          </a:blip>
          <a:stretch>
            <a:fillRect/>
          </a:stretch>
        </p:blipFill>
        <p:spPr>
          <a:xfrm>
            <a:off x="460376" y="6021389"/>
            <a:ext cx="2330449" cy="487768"/>
          </a:xfrm>
          <a:prstGeom prst="rect">
            <a:avLst/>
          </a:prstGeom>
        </p:spPr>
      </p:pic>
      <p:sp>
        <p:nvSpPr>
          <p:cNvPr id="3" name="Title 2">
            <a:extLst>
              <a:ext uri="{FF2B5EF4-FFF2-40B4-BE49-F238E27FC236}">
                <a16:creationId xmlns:a16="http://schemas.microsoft.com/office/drawing/2014/main" id="{E370F854-6EFF-21FF-B3FC-87FF997AA62F}"/>
              </a:ext>
            </a:extLst>
          </p:cNvPr>
          <p:cNvSpPr>
            <a:spLocks noGrp="1"/>
          </p:cNvSpPr>
          <p:nvPr>
            <p:ph type="title" hasCustomPrompt="1"/>
          </p:nvPr>
        </p:nvSpPr>
        <p:spPr>
          <a:xfrm>
            <a:off x="800717" y="2995922"/>
            <a:ext cx="5815983" cy="3023877"/>
          </a:xfrm>
          <a:prstGeom prst="rect">
            <a:avLst/>
          </a:prstGeom>
        </p:spPr>
        <p:txBody>
          <a:bodyPr lIns="0" anchor="t" anchorCtr="0"/>
          <a:lstStyle>
            <a:lvl1pPr>
              <a:defRPr sz="3200">
                <a:solidFill>
                  <a:schemeClr val="tx1"/>
                </a:solidFill>
              </a:defRPr>
            </a:lvl1pPr>
          </a:lstStyle>
          <a:p>
            <a:r>
              <a:rPr lang="en-US" dirty="0"/>
              <a:t>Closing statement goes here adjust highlight on text</a:t>
            </a:r>
          </a:p>
        </p:txBody>
      </p:sp>
    </p:spTree>
    <p:extLst>
      <p:ext uri="{BB962C8B-B14F-4D97-AF65-F5344CB8AC3E}">
        <p14:creationId xmlns:p14="http://schemas.microsoft.com/office/powerpoint/2010/main" val="16168165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dirty="0"/>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bg1"/>
                </a:solidFill>
              </a:defRPr>
            </a:lvl1pPr>
          </a:lstStyle>
          <a:p>
            <a:r>
              <a:rPr lang="en-US" dirty="0"/>
              <a:t>Divider title goes up to three lines lorem ipsum dolor </a:t>
            </a:r>
            <a:r>
              <a:rPr lang="en-US" dirty="0" err="1"/>
              <a:t>tatem</a:t>
            </a:r>
            <a:r>
              <a:rPr lang="en-US" dirty="0"/>
              <a:t> </a:t>
            </a:r>
            <a:r>
              <a:rPr lang="en-US" dirty="0" err="1"/>
              <a:t>voluptis</a:t>
            </a:r>
            <a:endParaRPr lang="en-US" dirty="0"/>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dirty="0"/>
              <a:t>Delete image </a:t>
            </a:r>
            <a:br>
              <a:rPr lang="en-US" dirty="0"/>
            </a:br>
            <a:r>
              <a:rPr lang="en-US" dirty="0"/>
              <a:t>placeholder </a:t>
            </a:r>
            <a:br>
              <a:rPr lang="en-US" dirty="0"/>
            </a:br>
            <a:r>
              <a:rPr lang="en-US" dirty="0"/>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1" name="Rectangle 10">
            <a:extLst>
              <a:ext uri="{FF2B5EF4-FFF2-40B4-BE49-F238E27FC236}">
                <a16:creationId xmlns:a16="http://schemas.microsoft.com/office/drawing/2014/main" id="{42C7BC3E-22B9-A296-42F7-5B7D706CE6B8}"/>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 name="Text Placeholder 15">
            <a:extLst>
              <a:ext uri="{FF2B5EF4-FFF2-40B4-BE49-F238E27FC236}">
                <a16:creationId xmlns:a16="http://schemas.microsoft.com/office/drawing/2014/main" id="{4B4ADB86-DEB5-499D-FF21-A738C7D1D5AC}"/>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dirty="0"/>
              <a:t>00</a:t>
            </a:r>
          </a:p>
        </p:txBody>
      </p:sp>
      <p:sp>
        <p:nvSpPr>
          <p:cNvPr id="12" name="Text Placeholder 9">
            <a:extLst>
              <a:ext uri="{FF2B5EF4-FFF2-40B4-BE49-F238E27FC236}">
                <a16:creationId xmlns:a16="http://schemas.microsoft.com/office/drawing/2014/main" id="{703A3625-ACCF-543A-C450-5CA908828445}"/>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a:srcRect/>
            <a:stretch>
              <a:fillRect t="20350"/>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5465217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dirty="0"/>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bg1"/>
                </a:solidFill>
              </a:defRPr>
            </a:lvl1pPr>
          </a:lstStyle>
          <a:p>
            <a:r>
              <a:rPr lang="en-US" dirty="0"/>
              <a:t>Divider title goes up to three lines lorem ipsum dolor </a:t>
            </a:r>
            <a:r>
              <a:rPr lang="en-US" dirty="0" err="1"/>
              <a:t>tatem</a:t>
            </a:r>
            <a:r>
              <a:rPr lang="en-US" dirty="0"/>
              <a:t> </a:t>
            </a:r>
            <a:r>
              <a:rPr lang="en-US" dirty="0" err="1"/>
              <a:t>voluptis</a:t>
            </a:r>
            <a:endParaRPr lang="en-US" dirty="0"/>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D6255CA2-1EF0-D45E-0F8C-D8FFCF0F48BF}"/>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dirty="0"/>
              <a:t>00</a:t>
            </a:r>
          </a:p>
        </p:txBody>
      </p:sp>
      <p:sp>
        <p:nvSpPr>
          <p:cNvPr id="11" name="Text Placeholder 9">
            <a:extLst>
              <a:ext uri="{FF2B5EF4-FFF2-40B4-BE49-F238E27FC236}">
                <a16:creationId xmlns:a16="http://schemas.microsoft.com/office/drawing/2014/main" id="{71F24330-E4EB-5F2D-3E9D-837E687DE41B}"/>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a:srcRect/>
            <a:stretch>
              <a:fillRect t="20350"/>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42429223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pic>
        <p:nvPicPr>
          <p:cNvPr id="6" name="Graphic 5">
            <a:extLst>
              <a:ext uri="{FF2B5EF4-FFF2-40B4-BE49-F238E27FC236}">
                <a16:creationId xmlns:a16="http://schemas.microsoft.com/office/drawing/2014/main" id="{CB739827-0EF1-5A90-C689-D8B5CCBE5DC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60375" y="2056147"/>
            <a:ext cx="1135813" cy="1135813"/>
          </a:xfrm>
          <a:prstGeom prst="rect">
            <a:avLst/>
          </a:prstGeom>
        </p:spPr>
      </p:pic>
      <p:sp>
        <p:nvSpPr>
          <p:cNvPr id="11" name="Text Placeholder 15">
            <a:extLst>
              <a:ext uri="{FF2B5EF4-FFF2-40B4-BE49-F238E27FC236}">
                <a16:creationId xmlns:a16="http://schemas.microsoft.com/office/drawing/2014/main" id="{538F5BB5-9720-46B1-5D3D-A302578A8824}"/>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Subtitle</a:t>
            </a:r>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tx1"/>
                </a:solidFill>
              </a:defRPr>
            </a:lvl1pPr>
          </a:lstStyle>
          <a:p>
            <a:r>
              <a:rPr lang="en-US" dirty="0"/>
              <a:t>Divider title goes up to three lines lorem ipsum dolor </a:t>
            </a:r>
            <a:r>
              <a:rPr lang="en-US" dirty="0" err="1"/>
              <a:t>tatem</a:t>
            </a:r>
            <a:r>
              <a:rPr lang="en-US" dirty="0"/>
              <a:t> </a:t>
            </a:r>
            <a:r>
              <a:rPr lang="en-US" dirty="0" err="1"/>
              <a:t>voluptis</a:t>
            </a:r>
            <a:endParaRPr lang="en-US" dirty="0"/>
          </a:p>
        </p:txBody>
      </p:sp>
      <p:sp>
        <p:nvSpPr>
          <p:cNvPr id="2" name="Rectangle 1">
            <a:extLst>
              <a:ext uri="{FF2B5EF4-FFF2-40B4-BE49-F238E27FC236}">
                <a16:creationId xmlns:a16="http://schemas.microsoft.com/office/drawing/2014/main" id="{0C051312-AC51-CC64-7366-205949959795}"/>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accent3"/>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3" name="Text Placeholder 15">
            <a:extLst>
              <a:ext uri="{FF2B5EF4-FFF2-40B4-BE49-F238E27FC236}">
                <a16:creationId xmlns:a16="http://schemas.microsoft.com/office/drawing/2014/main" id="{734E4BC5-1B66-30E6-F254-0A105D850529}"/>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00</a:t>
            </a:r>
          </a:p>
        </p:txBody>
      </p:sp>
      <p:sp>
        <p:nvSpPr>
          <p:cNvPr id="3" name="Text Placeholder 9">
            <a:extLst>
              <a:ext uri="{FF2B5EF4-FFF2-40B4-BE49-F238E27FC236}">
                <a16:creationId xmlns:a16="http://schemas.microsoft.com/office/drawing/2014/main" id="{E8FD128D-692A-2AB6-3921-483D465C6837}"/>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a:srcRect/>
            <a:stretch>
              <a:fillRect t="-317465" b="-325807"/>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642101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dirty="0"/>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bg1"/>
                </a:solidFill>
              </a:defRPr>
            </a:lvl1pPr>
          </a:lstStyle>
          <a:p>
            <a:r>
              <a:rPr lang="en-US" dirty="0"/>
              <a:t>Divider title goes up to three lines lorem ipsum dolor </a:t>
            </a:r>
            <a:r>
              <a:rPr lang="en-US" dirty="0" err="1"/>
              <a:t>tatem</a:t>
            </a:r>
            <a:r>
              <a:rPr lang="en-US" dirty="0"/>
              <a:t> </a:t>
            </a:r>
            <a:r>
              <a:rPr lang="en-US" dirty="0" err="1"/>
              <a:t>voluptis</a:t>
            </a:r>
            <a:endParaRPr lang="en-US" dirty="0"/>
          </a:p>
        </p:txBody>
      </p:sp>
      <p:pic>
        <p:nvPicPr>
          <p:cNvPr id="8" name="Picture 7">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95CBE2C9-5A5E-773A-E96D-1C621C1DE593}"/>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
        <p:nvSpPr>
          <p:cNvPr id="6" name="Text Placeholder 9">
            <a:extLst>
              <a:ext uri="{FF2B5EF4-FFF2-40B4-BE49-F238E27FC236}">
                <a16:creationId xmlns:a16="http://schemas.microsoft.com/office/drawing/2014/main" id="{EF039B7C-D581-90C0-FE95-E79986FE71E8}"/>
              </a:ext>
            </a:extLst>
          </p:cNvPr>
          <p:cNvSpPr>
            <a:spLocks noGrp="1"/>
          </p:cNvSpPr>
          <p:nvPr>
            <p:ph type="body" sz="quarter" idx="26" hasCustomPrompt="1"/>
          </p:nvPr>
        </p:nvSpPr>
        <p:spPr>
          <a:xfrm flipH="1" flipV="1">
            <a:off x="364794" y="2519917"/>
            <a:ext cx="1381456" cy="192234"/>
          </a:xfrm>
          <a:prstGeom prst="rect">
            <a:avLst/>
          </a:prstGeom>
          <a:blipFill dpi="0" rotWithShape="0">
            <a:blip r:embed="rId4"/>
            <a:srcRect/>
            <a:stretch>
              <a:fillRect t="20350"/>
            </a:stretch>
          </a:blipFill>
        </p:spPr>
        <p:txBody>
          <a:bodyPr/>
          <a:lstStyle>
            <a:lvl1pPr>
              <a:defRPr sz="2800" b="0" i="0"/>
            </a:lvl1pPr>
          </a:lstStyle>
          <a:p>
            <a:pPr lvl="0"/>
            <a:r>
              <a:rPr lang="en-US"/>
              <a:t> </a:t>
            </a: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dirty="0"/>
              <a:t>00</a:t>
            </a:r>
          </a:p>
        </p:txBody>
      </p:sp>
    </p:spTree>
    <p:extLst>
      <p:ext uri="{BB962C8B-B14F-4D97-AF65-F5344CB8AC3E}">
        <p14:creationId xmlns:p14="http://schemas.microsoft.com/office/powerpoint/2010/main" val="40457485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1E01929-6060-49E5-B70E-DC1D68D228F3}"/>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pic>
        <p:nvPicPr>
          <p:cNvPr id="13" name="Graphic 12">
            <a:extLst>
              <a:ext uri="{FF2B5EF4-FFF2-40B4-BE49-F238E27FC236}">
                <a16:creationId xmlns:a16="http://schemas.microsoft.com/office/drawing/2014/main" id="{D8BF26C2-CCEC-B240-E2B1-D98A7597DDE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14" name="Text Placeholder 15">
            <a:extLst>
              <a:ext uri="{FF2B5EF4-FFF2-40B4-BE49-F238E27FC236}">
                <a16:creationId xmlns:a16="http://schemas.microsoft.com/office/drawing/2014/main" id="{91349BA5-E5D7-8838-7AD9-8CD40C540304}"/>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dirty="0"/>
              <a:t>Subhead</a:t>
            </a:r>
          </a:p>
        </p:txBody>
      </p:sp>
      <p:sp>
        <p:nvSpPr>
          <p:cNvPr id="15" name="Title 1">
            <a:extLst>
              <a:ext uri="{FF2B5EF4-FFF2-40B4-BE49-F238E27FC236}">
                <a16:creationId xmlns:a16="http://schemas.microsoft.com/office/drawing/2014/main" id="{08D77ED4-A2DF-F309-9245-4D540E2DBEC0}"/>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17" name="Footer Placeholder 8">
            <a:extLst>
              <a:ext uri="{FF2B5EF4-FFF2-40B4-BE49-F238E27FC236}">
                <a16:creationId xmlns:a16="http://schemas.microsoft.com/office/drawing/2014/main" id="{0AE61501-EDB9-8CAF-0EF0-22A64141B31D}"/>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2" name="Rectangle 1">
            <a:extLst>
              <a:ext uri="{FF2B5EF4-FFF2-40B4-BE49-F238E27FC236}">
                <a16:creationId xmlns:a16="http://schemas.microsoft.com/office/drawing/2014/main" id="{B549349A-74DC-0FF5-41EC-9D501D64B9B5}"/>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8" name="Slide Number Placeholder 9">
            <a:extLst>
              <a:ext uri="{FF2B5EF4-FFF2-40B4-BE49-F238E27FC236}">
                <a16:creationId xmlns:a16="http://schemas.microsoft.com/office/drawing/2014/main" id="{8D3971E5-0157-0707-6BDF-E2F60F632232}"/>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
        <p:nvSpPr>
          <p:cNvPr id="16" name="Text Placeholder 15">
            <a:extLst>
              <a:ext uri="{FF2B5EF4-FFF2-40B4-BE49-F238E27FC236}">
                <a16:creationId xmlns:a16="http://schemas.microsoft.com/office/drawing/2014/main" id="{AD2D5AC6-08C3-1A7C-4E2C-A1DF593E06DA}"/>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dirty="0"/>
              <a:t>00</a:t>
            </a:r>
          </a:p>
        </p:txBody>
      </p:sp>
      <p:sp>
        <p:nvSpPr>
          <p:cNvPr id="3" name="Text Placeholder 9">
            <a:extLst>
              <a:ext uri="{FF2B5EF4-FFF2-40B4-BE49-F238E27FC236}">
                <a16:creationId xmlns:a16="http://schemas.microsoft.com/office/drawing/2014/main" id="{8F05334E-78D6-1BA6-A09B-6F37EB4BC5FC}"/>
              </a:ext>
            </a:extLst>
          </p:cNvPr>
          <p:cNvSpPr>
            <a:spLocks noGrp="1"/>
          </p:cNvSpPr>
          <p:nvPr>
            <p:ph type="body" sz="quarter" idx="26" hasCustomPrompt="1"/>
          </p:nvPr>
        </p:nvSpPr>
        <p:spPr>
          <a:xfrm flipH="1" flipV="1">
            <a:off x="364794" y="2519917"/>
            <a:ext cx="1381456" cy="192234"/>
          </a:xfrm>
          <a:prstGeom prst="rect">
            <a:avLst/>
          </a:prstGeom>
          <a:blipFill dpi="0" rotWithShape="0">
            <a:blip r:embed="rId4"/>
            <a:srcRect/>
            <a:stretch>
              <a:fillRect t="20350"/>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15669555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3"/>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tx1"/>
                </a:solidFill>
              </a:defRPr>
            </a:lvl1pPr>
          </a:lstStyle>
          <a:p>
            <a:r>
              <a:rPr lang="en-US" dirty="0"/>
              <a:t>Divider title goes up to three lines lorem ipsum dolor </a:t>
            </a:r>
            <a:r>
              <a:rPr lang="en-US" dirty="0" err="1"/>
              <a:t>tatem</a:t>
            </a:r>
            <a:r>
              <a:rPr lang="en-US" dirty="0"/>
              <a:t> </a:t>
            </a:r>
            <a:r>
              <a:rPr lang="en-US" dirty="0" err="1"/>
              <a:t>voluptis</a:t>
            </a:r>
            <a:endParaRPr lang="en-US" dirty="0"/>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4026A7AA-BD38-4791-4316-8DF767838FF4}"/>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accent3"/>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00</a:t>
            </a:r>
          </a:p>
        </p:txBody>
      </p:sp>
      <p:sp>
        <p:nvSpPr>
          <p:cNvPr id="13" name="Text Placeholder 9">
            <a:extLst>
              <a:ext uri="{FF2B5EF4-FFF2-40B4-BE49-F238E27FC236}">
                <a16:creationId xmlns:a16="http://schemas.microsoft.com/office/drawing/2014/main" id="{3B3FA78F-7164-1F04-B57D-BA7C3FDD53DC}"/>
              </a:ext>
            </a:extLst>
          </p:cNvPr>
          <p:cNvSpPr>
            <a:spLocks noGrp="1"/>
          </p:cNvSpPr>
          <p:nvPr>
            <p:ph type="body" sz="quarter" idx="26" hasCustomPrompt="1"/>
          </p:nvPr>
        </p:nvSpPr>
        <p:spPr>
          <a:xfrm flipH="1" flipV="1">
            <a:off x="364794" y="2519917"/>
            <a:ext cx="1381456" cy="192234"/>
          </a:xfrm>
          <a:prstGeom prst="rect">
            <a:avLst/>
          </a:prstGeom>
          <a:blipFill dpi="0" rotWithShape="0">
            <a:blip r:embed="rId4"/>
            <a:srcRect/>
            <a:stretch>
              <a:fillRect t="-317465" b="-325807"/>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25897377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ey_messag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3550629"/>
            <a:ext cx="2190750" cy="2210410"/>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1655763"/>
            <a:ext cx="4889503" cy="1727489"/>
          </a:xfrm>
          <a:prstGeom prst="rect">
            <a:avLst/>
          </a:prstGeom>
        </p:spPr>
        <p:txBody>
          <a:bodyPr tIns="45720" anchor="t" anchorCtr="0"/>
          <a:lstStyle>
            <a:lvl1pPr>
              <a:defRPr sz="2200">
                <a:solidFill>
                  <a:schemeClr val="tx1"/>
                </a:solidFill>
              </a:defRPr>
            </a:lvl1pPr>
          </a:lstStyle>
          <a:p>
            <a:r>
              <a:rPr lang="en-US" dirty="0"/>
              <a:t>Key message up to four lines</a:t>
            </a:r>
          </a:p>
        </p:txBody>
      </p:sp>
      <p:sp>
        <p:nvSpPr>
          <p:cNvPr id="6" name="Text Placeholder 10">
            <a:extLst>
              <a:ext uri="{FF2B5EF4-FFF2-40B4-BE49-F238E27FC236}">
                <a16:creationId xmlns:a16="http://schemas.microsoft.com/office/drawing/2014/main" id="{0BC4C2C2-2752-910D-3A89-477FA608D615}"/>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15">
            <a:extLst>
              <a:ext uri="{FF2B5EF4-FFF2-40B4-BE49-F238E27FC236}">
                <a16:creationId xmlns:a16="http://schemas.microsoft.com/office/drawing/2014/main" id="{66D47BD9-9D76-91EC-BFB6-6A3B1BD0C1DF}"/>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79251246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_messag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nchorCtr="0"/>
          <a:lstStyle>
            <a:lvl1pPr>
              <a:defRPr sz="2200">
                <a:solidFill>
                  <a:schemeClr val="bg1"/>
                </a:solidFill>
              </a:defRPr>
            </a:lvl1pPr>
          </a:lstStyle>
          <a:p>
            <a:r>
              <a:rPr lang="en-US" dirty="0"/>
              <a:t>Key message up to four lines long lorem ipsum dolor sit </a:t>
            </a:r>
            <a:r>
              <a:rPr lang="en-US" dirty="0" err="1"/>
              <a:t>amet</a:t>
            </a:r>
            <a:endParaRPr lang="en-US" dirty="0"/>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15">
            <a:extLst>
              <a:ext uri="{FF2B5EF4-FFF2-40B4-BE49-F238E27FC236}">
                <a16:creationId xmlns:a16="http://schemas.microsoft.com/office/drawing/2014/main" id="{5B72D3CC-6F75-2997-9493-09F5DEB0EBDD}"/>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539460087"/>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_message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nchorCtr="0"/>
          <a:lstStyle>
            <a:lvl1pPr>
              <a:defRPr sz="2200">
                <a:solidFill>
                  <a:schemeClr val="bg1"/>
                </a:solidFill>
              </a:defRPr>
            </a:lvl1pPr>
          </a:lstStyle>
          <a:p>
            <a:r>
              <a:rPr lang="en-US" dirty="0"/>
              <a:t>Key message up to four lines long lorem ipsum dolor sit </a:t>
            </a:r>
            <a:r>
              <a:rPr lang="en-US" dirty="0" err="1"/>
              <a:t>amet</a:t>
            </a:r>
            <a:endParaRPr lang="en-US" dirty="0"/>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15">
            <a:extLst>
              <a:ext uri="{FF2B5EF4-FFF2-40B4-BE49-F238E27FC236}">
                <a16:creationId xmlns:a16="http://schemas.microsoft.com/office/drawing/2014/main" id="{C85F9C23-4103-DAA2-9E40-C6DA8F9717CC}"/>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124714458"/>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ur_team">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CCB6E7-CA02-FD00-8FFE-0321B78D32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2565" y="135605"/>
            <a:ext cx="2425700" cy="2425700"/>
          </a:xfrm>
          <a:prstGeom prst="rect">
            <a:avLst/>
          </a:prstGeom>
        </p:spPr>
      </p:pic>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hasCustomPrompt="1"/>
          </p:nvPr>
        </p:nvSpPr>
        <p:spPr>
          <a:xfrm>
            <a:off x="460376"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5" name="TextBox 4">
            <a:extLst>
              <a:ext uri="{FF2B5EF4-FFF2-40B4-BE49-F238E27FC236}">
                <a16:creationId xmlns:a16="http://schemas.microsoft.com/office/drawing/2014/main" id="{055DE255-BAC4-98A8-8AB1-993F10F0E0B4}"/>
              </a:ext>
            </a:extLst>
          </p:cNvPr>
          <p:cNvSpPr txBox="1"/>
          <p:nvPr userDrawn="1"/>
        </p:nvSpPr>
        <p:spPr>
          <a:xfrm>
            <a:off x="460377" y="549275"/>
            <a:ext cx="2333625" cy="449296"/>
          </a:xfrm>
          <a:prstGeom prst="rect">
            <a:avLst/>
          </a:prstGeom>
          <a:noFill/>
        </p:spPr>
        <p:txBody>
          <a:bodyPr wrap="square" lIns="0" tIns="0" rIns="0" bIns="0" rtlCol="0" anchor="b" anchorCtr="0">
            <a:normAutofit/>
          </a:bodyPr>
          <a:lstStyle/>
          <a:p>
            <a:pPr marL="0" lvl="0" indent="-3657600" algn="l">
              <a:spcAft>
                <a:spcPts val="600"/>
              </a:spcAft>
            </a:pPr>
            <a:r>
              <a:rPr lang="en-US" sz="2200" b="1" i="0" dirty="0">
                <a:solidFill>
                  <a:schemeClr val="tx1"/>
                </a:solidFill>
                <a:latin typeface="+mn-lt"/>
                <a:ea typeface="Roboto" panose="02000000000000000000" pitchFamily="2" charset="0"/>
                <a:cs typeface="Segoe UI" panose="020B0502040204020203" pitchFamily="34" charset="0"/>
              </a:rPr>
              <a:t>OUR TEAM</a:t>
            </a:r>
          </a:p>
        </p:txBody>
      </p:sp>
      <p:sp>
        <p:nvSpPr>
          <p:cNvPr id="6" name="Picture Placeholder 7">
            <a:extLst>
              <a:ext uri="{FF2B5EF4-FFF2-40B4-BE49-F238E27FC236}">
                <a16:creationId xmlns:a16="http://schemas.microsoft.com/office/drawing/2014/main" id="{753585D2-035A-9C52-F792-68204444001D}"/>
              </a:ext>
            </a:extLst>
          </p:cNvPr>
          <p:cNvSpPr>
            <a:spLocks noGrp="1"/>
          </p:cNvSpPr>
          <p:nvPr>
            <p:ph type="pic" sz="quarter" idx="28" hasCustomPrompt="1"/>
          </p:nvPr>
        </p:nvSpPr>
        <p:spPr>
          <a:xfrm>
            <a:off x="29559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16" name="Picture Placeholder 7">
            <a:extLst>
              <a:ext uri="{FF2B5EF4-FFF2-40B4-BE49-F238E27FC236}">
                <a16:creationId xmlns:a16="http://schemas.microsoft.com/office/drawing/2014/main" id="{EC6EA86D-3D54-3C8B-9084-66965F19A952}"/>
              </a:ext>
            </a:extLst>
          </p:cNvPr>
          <p:cNvSpPr>
            <a:spLocks noGrp="1"/>
          </p:cNvSpPr>
          <p:nvPr>
            <p:ph type="pic" sz="quarter" idx="30" hasCustomPrompt="1"/>
          </p:nvPr>
        </p:nvSpPr>
        <p:spPr>
          <a:xfrm>
            <a:off x="54578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18" name="Picture Placeholder 7">
            <a:extLst>
              <a:ext uri="{FF2B5EF4-FFF2-40B4-BE49-F238E27FC236}">
                <a16:creationId xmlns:a16="http://schemas.microsoft.com/office/drawing/2014/main" id="{2B0C0247-3C2B-13E0-7861-209542696FE7}"/>
              </a:ext>
            </a:extLst>
          </p:cNvPr>
          <p:cNvSpPr>
            <a:spLocks noGrp="1"/>
          </p:cNvSpPr>
          <p:nvPr>
            <p:ph type="pic" sz="quarter" idx="32" hasCustomPrompt="1"/>
          </p:nvPr>
        </p:nvSpPr>
        <p:spPr>
          <a:xfrm>
            <a:off x="79597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0" name="Picture Placeholder 7">
            <a:extLst>
              <a:ext uri="{FF2B5EF4-FFF2-40B4-BE49-F238E27FC236}">
                <a16:creationId xmlns:a16="http://schemas.microsoft.com/office/drawing/2014/main" id="{702162B6-132E-1D51-55BE-F91BCE8149C2}"/>
              </a:ext>
            </a:extLst>
          </p:cNvPr>
          <p:cNvSpPr>
            <a:spLocks noGrp="1"/>
          </p:cNvSpPr>
          <p:nvPr>
            <p:ph type="pic" sz="quarter" idx="34" hasCustomPrompt="1"/>
          </p:nvPr>
        </p:nvSpPr>
        <p:spPr>
          <a:xfrm>
            <a:off x="104616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2" name="Picture Placeholder 7">
            <a:extLst>
              <a:ext uri="{FF2B5EF4-FFF2-40B4-BE49-F238E27FC236}">
                <a16:creationId xmlns:a16="http://schemas.microsoft.com/office/drawing/2014/main" id="{E4EC5019-E69A-00D2-92D7-8C5DC80BE9C4}"/>
              </a:ext>
            </a:extLst>
          </p:cNvPr>
          <p:cNvSpPr>
            <a:spLocks noGrp="1"/>
          </p:cNvSpPr>
          <p:nvPr>
            <p:ph type="pic" sz="quarter" idx="36" hasCustomPrompt="1"/>
          </p:nvPr>
        </p:nvSpPr>
        <p:spPr>
          <a:xfrm>
            <a:off x="460375"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4" name="Picture Placeholder 7">
            <a:extLst>
              <a:ext uri="{FF2B5EF4-FFF2-40B4-BE49-F238E27FC236}">
                <a16:creationId xmlns:a16="http://schemas.microsoft.com/office/drawing/2014/main" id="{52C7A6A6-5C73-77A5-2E6E-E7F3F7A014F3}"/>
              </a:ext>
            </a:extLst>
          </p:cNvPr>
          <p:cNvSpPr>
            <a:spLocks noGrp="1"/>
          </p:cNvSpPr>
          <p:nvPr>
            <p:ph type="pic" sz="quarter" idx="38" hasCustomPrompt="1"/>
          </p:nvPr>
        </p:nvSpPr>
        <p:spPr>
          <a:xfrm>
            <a:off x="29559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6" name="Picture Placeholder 7">
            <a:extLst>
              <a:ext uri="{FF2B5EF4-FFF2-40B4-BE49-F238E27FC236}">
                <a16:creationId xmlns:a16="http://schemas.microsoft.com/office/drawing/2014/main" id="{DDEF697F-461D-FA88-976C-A0BFC93DC4A6}"/>
              </a:ext>
            </a:extLst>
          </p:cNvPr>
          <p:cNvSpPr>
            <a:spLocks noGrp="1"/>
          </p:cNvSpPr>
          <p:nvPr>
            <p:ph type="pic" sz="quarter" idx="40" hasCustomPrompt="1"/>
          </p:nvPr>
        </p:nvSpPr>
        <p:spPr>
          <a:xfrm>
            <a:off x="54578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8" name="Picture Placeholder 7">
            <a:extLst>
              <a:ext uri="{FF2B5EF4-FFF2-40B4-BE49-F238E27FC236}">
                <a16:creationId xmlns:a16="http://schemas.microsoft.com/office/drawing/2014/main" id="{8753D85C-855C-CBB1-203A-B69A0492213A}"/>
              </a:ext>
            </a:extLst>
          </p:cNvPr>
          <p:cNvSpPr>
            <a:spLocks noGrp="1"/>
          </p:cNvSpPr>
          <p:nvPr>
            <p:ph type="pic" sz="quarter" idx="42" hasCustomPrompt="1"/>
          </p:nvPr>
        </p:nvSpPr>
        <p:spPr>
          <a:xfrm>
            <a:off x="79597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30" name="Picture Placeholder 7">
            <a:extLst>
              <a:ext uri="{FF2B5EF4-FFF2-40B4-BE49-F238E27FC236}">
                <a16:creationId xmlns:a16="http://schemas.microsoft.com/office/drawing/2014/main" id="{3B1EC1D9-EBE8-118C-7EBD-1188B4CE3126}"/>
              </a:ext>
            </a:extLst>
          </p:cNvPr>
          <p:cNvSpPr>
            <a:spLocks noGrp="1"/>
          </p:cNvSpPr>
          <p:nvPr>
            <p:ph type="pic" sz="quarter" idx="44" hasCustomPrompt="1"/>
          </p:nvPr>
        </p:nvSpPr>
        <p:spPr>
          <a:xfrm>
            <a:off x="104616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32" name="Text Placeholder 10">
            <a:extLst>
              <a:ext uri="{FF2B5EF4-FFF2-40B4-BE49-F238E27FC236}">
                <a16:creationId xmlns:a16="http://schemas.microsoft.com/office/drawing/2014/main" id="{40F17B41-3514-4548-9F64-BD0783E5043C}"/>
              </a:ext>
            </a:extLst>
          </p:cNvPr>
          <p:cNvSpPr>
            <a:spLocks noGrp="1"/>
          </p:cNvSpPr>
          <p:nvPr>
            <p:ph type="body" sz="quarter" idx="45" hasCustomPrompt="1"/>
          </p:nvPr>
        </p:nvSpPr>
        <p:spPr>
          <a:xfrm>
            <a:off x="460376"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33" name="Text Placeholder 10">
            <a:extLst>
              <a:ext uri="{FF2B5EF4-FFF2-40B4-BE49-F238E27FC236}">
                <a16:creationId xmlns:a16="http://schemas.microsoft.com/office/drawing/2014/main" id="{EB42D664-ABD7-6992-836F-019D706B3316}"/>
              </a:ext>
            </a:extLst>
          </p:cNvPr>
          <p:cNvSpPr>
            <a:spLocks noGrp="1"/>
          </p:cNvSpPr>
          <p:nvPr>
            <p:ph type="body" sz="quarter" idx="46" hasCustomPrompt="1"/>
          </p:nvPr>
        </p:nvSpPr>
        <p:spPr>
          <a:xfrm>
            <a:off x="29559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34" name="Text Placeholder 10">
            <a:extLst>
              <a:ext uri="{FF2B5EF4-FFF2-40B4-BE49-F238E27FC236}">
                <a16:creationId xmlns:a16="http://schemas.microsoft.com/office/drawing/2014/main" id="{57753F74-4729-CECF-7D00-79DE09C36AE2}"/>
              </a:ext>
            </a:extLst>
          </p:cNvPr>
          <p:cNvSpPr>
            <a:spLocks noGrp="1"/>
          </p:cNvSpPr>
          <p:nvPr>
            <p:ph type="body" sz="quarter" idx="47" hasCustomPrompt="1"/>
          </p:nvPr>
        </p:nvSpPr>
        <p:spPr>
          <a:xfrm>
            <a:off x="29559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35" name="Text Placeholder 10">
            <a:extLst>
              <a:ext uri="{FF2B5EF4-FFF2-40B4-BE49-F238E27FC236}">
                <a16:creationId xmlns:a16="http://schemas.microsoft.com/office/drawing/2014/main" id="{D963EBFA-BDB3-6ABA-B662-D773E665EF7D}"/>
              </a:ext>
            </a:extLst>
          </p:cNvPr>
          <p:cNvSpPr>
            <a:spLocks noGrp="1"/>
          </p:cNvSpPr>
          <p:nvPr>
            <p:ph type="body" sz="quarter" idx="48" hasCustomPrompt="1"/>
          </p:nvPr>
        </p:nvSpPr>
        <p:spPr>
          <a:xfrm>
            <a:off x="54578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36" name="Text Placeholder 10">
            <a:extLst>
              <a:ext uri="{FF2B5EF4-FFF2-40B4-BE49-F238E27FC236}">
                <a16:creationId xmlns:a16="http://schemas.microsoft.com/office/drawing/2014/main" id="{5C9260E7-C77B-2BE4-996E-B01E4A70536E}"/>
              </a:ext>
            </a:extLst>
          </p:cNvPr>
          <p:cNvSpPr>
            <a:spLocks noGrp="1"/>
          </p:cNvSpPr>
          <p:nvPr>
            <p:ph type="body" sz="quarter" idx="49" hasCustomPrompt="1"/>
          </p:nvPr>
        </p:nvSpPr>
        <p:spPr>
          <a:xfrm>
            <a:off x="54578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37" name="Text Placeholder 10">
            <a:extLst>
              <a:ext uri="{FF2B5EF4-FFF2-40B4-BE49-F238E27FC236}">
                <a16:creationId xmlns:a16="http://schemas.microsoft.com/office/drawing/2014/main" id="{4C415A5E-F122-67EA-DB56-8D538C16EC93}"/>
              </a:ext>
            </a:extLst>
          </p:cNvPr>
          <p:cNvSpPr>
            <a:spLocks noGrp="1"/>
          </p:cNvSpPr>
          <p:nvPr>
            <p:ph type="body" sz="quarter" idx="50" hasCustomPrompt="1"/>
          </p:nvPr>
        </p:nvSpPr>
        <p:spPr>
          <a:xfrm>
            <a:off x="79597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38" name="Text Placeholder 10">
            <a:extLst>
              <a:ext uri="{FF2B5EF4-FFF2-40B4-BE49-F238E27FC236}">
                <a16:creationId xmlns:a16="http://schemas.microsoft.com/office/drawing/2014/main" id="{197FC507-64A7-6845-D924-3EA93ED3F213}"/>
              </a:ext>
            </a:extLst>
          </p:cNvPr>
          <p:cNvSpPr>
            <a:spLocks noGrp="1"/>
          </p:cNvSpPr>
          <p:nvPr>
            <p:ph type="body" sz="quarter" idx="51" hasCustomPrompt="1"/>
          </p:nvPr>
        </p:nvSpPr>
        <p:spPr>
          <a:xfrm>
            <a:off x="79597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39" name="Text Placeholder 10">
            <a:extLst>
              <a:ext uri="{FF2B5EF4-FFF2-40B4-BE49-F238E27FC236}">
                <a16:creationId xmlns:a16="http://schemas.microsoft.com/office/drawing/2014/main" id="{A6263E65-C2F3-E85E-175C-3F8D04FD039A}"/>
              </a:ext>
            </a:extLst>
          </p:cNvPr>
          <p:cNvSpPr>
            <a:spLocks noGrp="1"/>
          </p:cNvSpPr>
          <p:nvPr>
            <p:ph type="body" sz="quarter" idx="52" hasCustomPrompt="1"/>
          </p:nvPr>
        </p:nvSpPr>
        <p:spPr>
          <a:xfrm>
            <a:off x="10461624" y="2805026"/>
            <a:ext cx="1730376"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40" name="Text Placeholder 10">
            <a:extLst>
              <a:ext uri="{FF2B5EF4-FFF2-40B4-BE49-F238E27FC236}">
                <a16:creationId xmlns:a16="http://schemas.microsoft.com/office/drawing/2014/main" id="{EACCA106-5A32-14F5-6436-3A8FA32128EB}"/>
              </a:ext>
            </a:extLst>
          </p:cNvPr>
          <p:cNvSpPr>
            <a:spLocks noGrp="1"/>
          </p:cNvSpPr>
          <p:nvPr>
            <p:ph type="body" sz="quarter" idx="53" hasCustomPrompt="1"/>
          </p:nvPr>
        </p:nvSpPr>
        <p:spPr>
          <a:xfrm>
            <a:off x="10461624" y="5116426"/>
            <a:ext cx="1730376"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2" name="Text Placeholder 15">
            <a:extLst>
              <a:ext uri="{FF2B5EF4-FFF2-40B4-BE49-F238E27FC236}">
                <a16:creationId xmlns:a16="http://schemas.microsoft.com/office/drawing/2014/main" id="{51E2F942-8396-45B5-EC6D-8AFC76FA1201}"/>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pic>
        <p:nvPicPr>
          <p:cNvPr id="13" name="Graphic 12">
            <a:extLst>
              <a:ext uri="{FF2B5EF4-FFF2-40B4-BE49-F238E27FC236}">
                <a16:creationId xmlns:a16="http://schemas.microsoft.com/office/drawing/2014/main" id="{C046B45C-75E2-A073-D781-6448DC83BFF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60375" y="541861"/>
            <a:ext cx="1457326" cy="1004710"/>
          </a:xfrm>
          <a:prstGeom prst="rect">
            <a:avLst/>
          </a:prstGeom>
        </p:spPr>
      </p:pic>
    </p:spTree>
    <p:extLst>
      <p:ext uri="{BB962C8B-B14F-4D97-AF65-F5344CB8AC3E}">
        <p14:creationId xmlns:p14="http://schemas.microsoft.com/office/powerpoint/2010/main" val="3400168677"/>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io">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1424072"/>
            <a:ext cx="1600199" cy="1589663"/>
          </a:xfrm>
          <a:prstGeom prst="rect">
            <a:avLst/>
          </a:prstGeom>
          <a:solidFill>
            <a:schemeClr val="accent2">
              <a:lumMod val="40000"/>
              <a:lumOff val="60000"/>
            </a:schemeClr>
          </a:solidFill>
        </p:spPr>
        <p:txBody>
          <a:bodyPr tIns="457200"/>
          <a:lstStyle>
            <a:lvl1pPr algn="ctr">
              <a:defRPr sz="1000" b="0" i="0"/>
            </a:lvl1pPr>
          </a:lstStyle>
          <a:p>
            <a:r>
              <a:rPr lang="en-US"/>
              <a:t>Headshot</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hasCustomPrompt="1"/>
          </p:nvPr>
        </p:nvSpPr>
        <p:spPr>
          <a:xfrm>
            <a:off x="460376" y="3077336"/>
            <a:ext cx="1600199" cy="955574"/>
          </a:xfrm>
          <a:prstGeom prst="rect">
            <a:avLst/>
          </a:prstGeom>
        </p:spPr>
        <p:txBody>
          <a:bodyPr tIns="0"/>
          <a:lstStyle>
            <a:lvl1pPr>
              <a:spcAft>
                <a:spcPts val="0"/>
              </a:spcAft>
              <a:defRPr sz="1600" b="1" i="0">
                <a:solidFill>
                  <a:schemeClr val="tx1"/>
                </a:solidFill>
              </a:defRPr>
            </a:lvl1pPr>
            <a:lvl2pPr>
              <a:defRPr sz="16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stStyle>
          <a:p>
            <a:pPr lvl="0"/>
            <a:r>
              <a:rPr lang="en-US" dirty="0"/>
              <a:t>Name Lastname</a:t>
            </a:r>
          </a:p>
          <a:p>
            <a:pPr lvl="0"/>
            <a:r>
              <a:rPr lang="en-US" dirty="0"/>
              <a:t>Title</a:t>
            </a:r>
          </a:p>
        </p:txBody>
      </p:sp>
      <p:sp>
        <p:nvSpPr>
          <p:cNvPr id="5" name="TextBox 4">
            <a:extLst>
              <a:ext uri="{FF2B5EF4-FFF2-40B4-BE49-F238E27FC236}">
                <a16:creationId xmlns:a16="http://schemas.microsoft.com/office/drawing/2014/main" id="{055DE255-BAC4-98A8-8AB1-993F10F0E0B4}"/>
              </a:ext>
            </a:extLst>
          </p:cNvPr>
          <p:cNvSpPr txBox="1"/>
          <p:nvPr userDrawn="1"/>
        </p:nvSpPr>
        <p:spPr>
          <a:xfrm>
            <a:off x="460377" y="549275"/>
            <a:ext cx="2333625" cy="449296"/>
          </a:xfrm>
          <a:prstGeom prst="rect">
            <a:avLst/>
          </a:prstGeom>
          <a:noFill/>
        </p:spPr>
        <p:txBody>
          <a:bodyPr wrap="square" lIns="0" tIns="0" rIns="0" bIns="0" rtlCol="0" anchor="b" anchorCtr="0">
            <a:normAutofit/>
          </a:bodyPr>
          <a:lstStyle/>
          <a:p>
            <a:pPr marL="0" lvl="0" indent="-3657600" algn="l">
              <a:spcAft>
                <a:spcPts val="600"/>
              </a:spcAft>
            </a:pPr>
            <a:r>
              <a:rPr lang="en-US" sz="2800" b="1" i="0">
                <a:solidFill>
                  <a:schemeClr val="tx1"/>
                </a:solidFill>
                <a:latin typeface="+mn-lt"/>
                <a:ea typeface="Roboto" panose="02000000000000000000" pitchFamily="2" charset="0"/>
                <a:cs typeface="Segoe UI" panose="020B0502040204020203" pitchFamily="34" charset="0"/>
              </a:rPr>
              <a:t>BIO</a:t>
            </a:r>
          </a:p>
        </p:txBody>
      </p:sp>
      <p:sp>
        <p:nvSpPr>
          <p:cNvPr id="4" name="TextBox 3">
            <a:extLst>
              <a:ext uri="{FF2B5EF4-FFF2-40B4-BE49-F238E27FC236}">
                <a16:creationId xmlns:a16="http://schemas.microsoft.com/office/drawing/2014/main" id="{C5F7974B-9D4B-FA7C-DB5D-C7B4A4D2A99D}"/>
              </a:ext>
            </a:extLst>
          </p:cNvPr>
          <p:cNvSpPr txBox="1"/>
          <p:nvPr userDrawn="1"/>
        </p:nvSpPr>
        <p:spPr>
          <a:xfrm>
            <a:off x="7315200" y="-1397000"/>
            <a:ext cx="0" cy="0"/>
          </a:xfrm>
          <a:prstGeom prst="rect">
            <a:avLst/>
          </a:prstGeom>
          <a:noFill/>
        </p:spPr>
        <p:txBody>
          <a:bodyPr wrap="none" lIns="0" tIns="0" rIns="0" bIns="0" rtlCol="0">
            <a:normAutofit fontScale="25000" lnSpcReduction="20000"/>
          </a:bodyPr>
          <a:lstStyle/>
          <a:p>
            <a:pPr marL="0" indent="-3657600" algn="l">
              <a:spcAft>
                <a:spcPts val="600"/>
              </a:spcAft>
            </a:pPr>
            <a:endParaRPr lang="en-US" sz="1600" b="0" i="0">
              <a:solidFill>
                <a:schemeClr val="bg1"/>
              </a:solidFill>
              <a:latin typeface="+mn-lt"/>
              <a:ea typeface="Roboto" panose="02000000000000000000" pitchFamily="2" charset="0"/>
              <a:cs typeface="Segoe UI" panose="020B0502040204020203" pitchFamily="34" charset="0"/>
            </a:endParaRPr>
          </a:p>
        </p:txBody>
      </p:sp>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2268071" y="1412875"/>
            <a:ext cx="5631329" cy="4606925"/>
          </a:xfrm>
          <a:prstGeom prst="rect">
            <a:avLst/>
          </a:prstGeom>
        </p:spPr>
        <p:txBody>
          <a:bodyPr/>
          <a:lstStyle>
            <a:lvl1pPr>
              <a:defRPr sz="1400" b="0" i="0"/>
            </a:lvl1pPr>
            <a:lvl2pPr>
              <a:defRPr sz="1400" b="0" i="0"/>
            </a:lvl2pPr>
            <a:lvl3pPr>
              <a:defRPr sz="1400" b="0" i="0"/>
            </a:lvl3pPr>
            <a:lvl4pPr>
              <a:defRPr sz="1400" b="0" i="0"/>
            </a:lvl4pPr>
            <a:lvl5pPr>
              <a:defRPr sz="14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2">
            <a:extLst>
              <a:ext uri="{FF2B5EF4-FFF2-40B4-BE49-F238E27FC236}">
                <a16:creationId xmlns:a16="http://schemas.microsoft.com/office/drawing/2014/main" id="{F12F582F-DFC3-8EA9-41A3-9E5797F985A9}"/>
              </a:ext>
            </a:extLst>
          </p:cNvPr>
          <p:cNvSpPr>
            <a:spLocks noGrp="1"/>
          </p:cNvSpPr>
          <p:nvPr>
            <p:ph type="body" sz="quarter" idx="29" hasCustomPrompt="1"/>
          </p:nvPr>
        </p:nvSpPr>
        <p:spPr>
          <a:xfrm>
            <a:off x="8076579" y="1347340"/>
            <a:ext cx="3459790" cy="2272161"/>
          </a:xfrm>
          <a:prstGeom prst="rect">
            <a:avLst/>
          </a:prstGeom>
          <a:solidFill>
            <a:schemeClr val="accent4"/>
          </a:solidFill>
        </p:spPr>
        <p:txBody>
          <a:bodyPr lIns="182880" tIns="182880" rIns="182880" bIns="182880"/>
          <a:lstStyle>
            <a:lvl1pPr>
              <a:defRPr sz="1400" b="1" i="0" u="sng">
                <a:solidFill>
                  <a:schemeClr val="accent2"/>
                </a:solidFill>
              </a:defRPr>
            </a:lvl1pPr>
            <a:lvl2pPr marL="228600" indent="-228600">
              <a:buClr>
                <a:schemeClr val="tx1"/>
              </a:buClr>
              <a:buFont typeface="Arial" panose="020B0604020202020204" pitchFamily="34" charset="0"/>
              <a:buChar char="•"/>
              <a:defRPr sz="1400" b="0" i="0">
                <a:solidFill>
                  <a:schemeClr val="tx1"/>
                </a:solidFill>
              </a:defRPr>
            </a:lvl2pPr>
            <a:lvl3pPr marL="457200">
              <a:defRPr/>
            </a:lvl3pPr>
            <a:lvl4pPr marL="685800">
              <a:defRPr sz="1400"/>
            </a:lvl4pPr>
            <a:lvl5pPr marL="914400">
              <a:defRPr/>
            </a:lvl5pPr>
          </a:lstStyle>
          <a:p>
            <a:pPr lvl="0"/>
            <a:r>
              <a:rPr lang="en-US"/>
              <a:t>Industries served</a:t>
            </a:r>
          </a:p>
          <a:p>
            <a:pPr lvl="1"/>
            <a:r>
              <a:rPr lang="en-US"/>
              <a:t>Bullet</a:t>
            </a:r>
          </a:p>
        </p:txBody>
      </p:sp>
      <p:sp>
        <p:nvSpPr>
          <p:cNvPr id="15" name="Text Placeholder 12">
            <a:extLst>
              <a:ext uri="{FF2B5EF4-FFF2-40B4-BE49-F238E27FC236}">
                <a16:creationId xmlns:a16="http://schemas.microsoft.com/office/drawing/2014/main" id="{90DCED2C-4702-3E26-08C4-BE0F781E7BCE}"/>
              </a:ext>
            </a:extLst>
          </p:cNvPr>
          <p:cNvSpPr>
            <a:spLocks noGrp="1"/>
          </p:cNvSpPr>
          <p:nvPr>
            <p:ph type="body" sz="quarter" idx="30" hasCustomPrompt="1"/>
          </p:nvPr>
        </p:nvSpPr>
        <p:spPr>
          <a:xfrm>
            <a:off x="8076579" y="3743441"/>
            <a:ext cx="3459790" cy="2272161"/>
          </a:xfrm>
          <a:prstGeom prst="rect">
            <a:avLst/>
          </a:prstGeom>
          <a:solidFill>
            <a:schemeClr val="accent4"/>
          </a:solidFill>
        </p:spPr>
        <p:txBody>
          <a:bodyPr lIns="182880" tIns="182880" rIns="182880" bIns="182880"/>
          <a:lstStyle>
            <a:lvl1pPr>
              <a:defRPr sz="1400" b="1" i="0" u="sng">
                <a:solidFill>
                  <a:schemeClr val="accent2"/>
                </a:solidFill>
              </a:defRPr>
            </a:lvl1pPr>
            <a:lvl2pPr marL="228600" indent="-228600">
              <a:buClr>
                <a:schemeClr val="tx1"/>
              </a:buClr>
              <a:buFont typeface="Arial" panose="020B0604020202020204" pitchFamily="34" charset="0"/>
              <a:buChar char="•"/>
              <a:defRPr sz="1400" b="0" i="0">
                <a:solidFill>
                  <a:schemeClr val="tx1"/>
                </a:solidFill>
              </a:defRPr>
            </a:lvl2pPr>
            <a:lvl3pPr marL="457200">
              <a:defRPr/>
            </a:lvl3pPr>
            <a:lvl4pPr marL="685800">
              <a:defRPr sz="1400"/>
            </a:lvl4pPr>
            <a:lvl5pPr marL="914400">
              <a:defRPr/>
            </a:lvl5pPr>
          </a:lstStyle>
          <a:p>
            <a:pPr lvl="0"/>
            <a:r>
              <a:rPr lang="en-US"/>
              <a:t>Skills &amp; Specialties</a:t>
            </a:r>
          </a:p>
          <a:p>
            <a:pPr lvl="1"/>
            <a:r>
              <a:rPr lang="en-US"/>
              <a:t>Bullet</a:t>
            </a:r>
          </a:p>
        </p:txBody>
      </p:sp>
      <p:sp>
        <p:nvSpPr>
          <p:cNvPr id="2" name="Text Placeholder 15">
            <a:extLst>
              <a:ext uri="{FF2B5EF4-FFF2-40B4-BE49-F238E27FC236}">
                <a16:creationId xmlns:a16="http://schemas.microsoft.com/office/drawing/2014/main" id="{8BBB8F65-14F9-B931-3059-9EFE5E3B97E1}"/>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pic>
        <p:nvPicPr>
          <p:cNvPr id="8" name="Graphic 7">
            <a:extLst>
              <a:ext uri="{FF2B5EF4-FFF2-40B4-BE49-F238E27FC236}">
                <a16:creationId xmlns:a16="http://schemas.microsoft.com/office/drawing/2014/main" id="{C8CE2BA2-584B-4A93-166E-E02AD04788F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530889"/>
            <a:ext cx="572778" cy="1004710"/>
          </a:xfrm>
          <a:prstGeom prst="rect">
            <a:avLst/>
          </a:prstGeom>
        </p:spPr>
      </p:pic>
    </p:spTree>
    <p:extLst>
      <p:ext uri="{BB962C8B-B14F-4D97-AF65-F5344CB8AC3E}">
        <p14:creationId xmlns:p14="http://schemas.microsoft.com/office/powerpoint/2010/main" val="69663175"/>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se_stud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Text Placeholder 15">
            <a:extLst>
              <a:ext uri="{FF2B5EF4-FFF2-40B4-BE49-F238E27FC236}">
                <a16:creationId xmlns:a16="http://schemas.microsoft.com/office/drawing/2014/main" id="{59819361-C169-F543-35DA-BD3C6C3B985E}"/>
              </a:ext>
            </a:extLst>
          </p:cNvPr>
          <p:cNvSpPr>
            <a:spLocks noGrp="1"/>
          </p:cNvSpPr>
          <p:nvPr>
            <p:ph type="body" sz="quarter" idx="33" hasCustomPrompt="1"/>
          </p:nvPr>
        </p:nvSpPr>
        <p:spPr>
          <a:xfrm>
            <a:off x="4298950" y="831591"/>
            <a:ext cx="3602038" cy="1436596"/>
          </a:xfrm>
          <a:prstGeom prst="rect">
            <a:avLst/>
          </a:prstGeo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460375" y="2202611"/>
            <a:ext cx="3606800" cy="3817189"/>
          </a:xfrm>
          <a:prstGeom prst="rect">
            <a:avLst/>
          </a:prstGeom>
        </p:spPr>
        <p:txBody>
          <a:bodyPr tIns="91440"/>
          <a:lstStyle>
            <a:lvl1pPr>
              <a:defRPr sz="1200" b="0" i="0"/>
            </a:lvl1pPr>
            <a:lvl2pPr marL="285750" indent="-276225">
              <a:tabLst/>
              <a:defRPr sz="1200" b="0" i="0"/>
            </a:lvl2pPr>
            <a:lvl3pPr marL="628650" indent="-285750">
              <a:tabLst/>
              <a:defRPr sz="1200" b="0" i="0"/>
            </a:lvl3pPr>
            <a:lvl4pPr marL="973138" indent="-276225">
              <a:buFont typeface="Arial" panose="020B0604020202020204" pitchFamily="34" charset="0"/>
              <a:buChar char="•"/>
              <a:tabLst/>
              <a:defRPr sz="1200" b="0" i="0"/>
            </a:lvl4pPr>
            <a:lvl5pPr marL="1317625" indent="-287338">
              <a:tabLst/>
              <a:defRPr sz="1200" b="0" i="0"/>
            </a:lvl5pPr>
            <a:lvl6pPr marL="182880" indent="-182880">
              <a:buAutoNum type="arabicPeriod"/>
              <a:defRPr sz="1200"/>
            </a:lvl6pPr>
            <a:lvl7pPr marL="365760" indent="-182880">
              <a:buAutoNum type="arabicPeriod"/>
              <a:defRPr sz="1200"/>
            </a:lvl7pPr>
            <a:lvl8pPr marL="548640" indent="-182880">
              <a:defRPr sz="1200"/>
            </a:lvl8pPr>
            <a:lvl9pPr>
              <a:defRPr sz="14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15">
            <a:extLst>
              <a:ext uri="{FF2B5EF4-FFF2-40B4-BE49-F238E27FC236}">
                <a16:creationId xmlns:a16="http://schemas.microsoft.com/office/drawing/2014/main" id="{F2F2811C-682B-50C7-DB15-23C006FAFC16}"/>
              </a:ext>
            </a:extLst>
          </p:cNvPr>
          <p:cNvSpPr>
            <a:spLocks noGrp="1"/>
          </p:cNvSpPr>
          <p:nvPr>
            <p:ph type="body" sz="quarter" idx="19" hasCustomPrompt="1"/>
          </p:nvPr>
        </p:nvSpPr>
        <p:spPr>
          <a:xfrm>
            <a:off x="465138" y="556953"/>
            <a:ext cx="3602038" cy="556953"/>
          </a:xfrm>
          <a:prstGeom prst="rect">
            <a:avLst/>
          </a:prstGeom>
        </p:spPr>
        <p:txBody>
          <a:bodyPr tIns="228600" rIns="0" bIns="0" anchor="t" anchorCtr="0"/>
          <a:lstStyle>
            <a:lvl1pPr>
              <a:spcAft>
                <a:spcPts val="0"/>
              </a:spcAft>
              <a:buFontTx/>
              <a:buNone/>
              <a:defRPr sz="1500" b="1" i="0" cap="all"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all"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dirty="0"/>
              <a:t>CLIENT NAME</a:t>
            </a:r>
          </a:p>
        </p:txBody>
      </p:sp>
      <p:sp>
        <p:nvSpPr>
          <p:cNvPr id="12" name="Title 11">
            <a:extLst>
              <a:ext uri="{FF2B5EF4-FFF2-40B4-BE49-F238E27FC236}">
                <a16:creationId xmlns:a16="http://schemas.microsoft.com/office/drawing/2014/main" id="{73D86145-91C7-C9AD-8439-02A6318C3553}"/>
              </a:ext>
            </a:extLst>
          </p:cNvPr>
          <p:cNvSpPr>
            <a:spLocks noGrp="1"/>
          </p:cNvSpPr>
          <p:nvPr>
            <p:ph type="title"/>
          </p:nvPr>
        </p:nvSpPr>
        <p:spPr>
          <a:xfrm>
            <a:off x="460375" y="1116054"/>
            <a:ext cx="3606800" cy="1086557"/>
          </a:xfrm>
          <a:prstGeom prst="rect">
            <a:avLst/>
          </a:prstGeom>
        </p:spPr>
        <p:txBody>
          <a:bodyPr tIns="45720"/>
          <a:lstStyle>
            <a:lvl1pPr>
              <a:defRPr sz="2200">
                <a:solidFill>
                  <a:schemeClr val="tx1"/>
                </a:solidFill>
              </a:defRPr>
            </a:lvl1pPr>
          </a:lstStyle>
          <a:p>
            <a:r>
              <a:rPr lang="en-US"/>
              <a:t>Click to edit Master title style</a:t>
            </a:r>
            <a:endParaRPr lang="en-US" dirty="0"/>
          </a:p>
        </p:txBody>
      </p:sp>
      <p:sp>
        <p:nvSpPr>
          <p:cNvPr id="16" name="Picture Placeholder 7">
            <a:extLst>
              <a:ext uri="{FF2B5EF4-FFF2-40B4-BE49-F238E27FC236}">
                <a16:creationId xmlns:a16="http://schemas.microsoft.com/office/drawing/2014/main" id="{85295369-BD35-627D-DCF3-70F052CE99AA}"/>
              </a:ext>
            </a:extLst>
          </p:cNvPr>
          <p:cNvSpPr>
            <a:spLocks noGrp="1"/>
          </p:cNvSpPr>
          <p:nvPr>
            <p:ph type="pic" sz="quarter" idx="10" hasCustomPrompt="1"/>
          </p:nvPr>
        </p:nvSpPr>
        <p:spPr>
          <a:xfrm>
            <a:off x="8124824" y="835429"/>
            <a:ext cx="3603625" cy="4854171"/>
          </a:xfrm>
          <a:prstGeom prst="rect">
            <a:avLst/>
          </a:prstGeom>
          <a:solidFill>
            <a:schemeClr val="accent2">
              <a:lumMod val="40000"/>
              <a:lumOff val="60000"/>
            </a:schemeClr>
          </a:solidFill>
        </p:spPr>
        <p:txBody>
          <a:bodyPr tIns="1828800"/>
          <a:lstStyle>
            <a:lvl1pPr algn="ctr">
              <a:defRPr b="0" i="0"/>
            </a:lvl1pPr>
          </a:lstStyle>
          <a:p>
            <a:r>
              <a:rPr lang="en-US" dirty="0"/>
              <a:t>Relevant image or </a:t>
            </a:r>
            <a:br>
              <a:rPr lang="en-US" dirty="0"/>
            </a:br>
            <a:r>
              <a:rPr lang="en-US" dirty="0"/>
              <a:t>product prototype</a:t>
            </a:r>
          </a:p>
        </p:txBody>
      </p:sp>
      <p:sp>
        <p:nvSpPr>
          <p:cNvPr id="17" name="Text Placeholder 15">
            <a:extLst>
              <a:ext uri="{FF2B5EF4-FFF2-40B4-BE49-F238E27FC236}">
                <a16:creationId xmlns:a16="http://schemas.microsoft.com/office/drawing/2014/main" id="{B2F81DA5-F8CF-9074-55A0-F820DE7FFD70}"/>
              </a:ext>
            </a:extLst>
          </p:cNvPr>
          <p:cNvSpPr>
            <a:spLocks noGrp="1"/>
          </p:cNvSpPr>
          <p:nvPr>
            <p:ph type="body" sz="quarter" idx="23" hasCustomPrompt="1"/>
          </p:nvPr>
        </p:nvSpPr>
        <p:spPr>
          <a:xfrm>
            <a:off x="4516834" y="1014960"/>
            <a:ext cx="1372790" cy="510741"/>
          </a:xfrm>
          <a:prstGeom prst="rect">
            <a:avLst/>
          </a:prstGeo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00</a:t>
            </a:r>
          </a:p>
        </p:txBody>
      </p:sp>
      <p:sp>
        <p:nvSpPr>
          <p:cNvPr id="18" name="Text Placeholder 15">
            <a:extLst>
              <a:ext uri="{FF2B5EF4-FFF2-40B4-BE49-F238E27FC236}">
                <a16:creationId xmlns:a16="http://schemas.microsoft.com/office/drawing/2014/main" id="{B61EB7FF-E196-443F-C2CC-DAFC7495AF6C}"/>
              </a:ext>
            </a:extLst>
          </p:cNvPr>
          <p:cNvSpPr>
            <a:spLocks noGrp="1"/>
          </p:cNvSpPr>
          <p:nvPr>
            <p:ph type="body" sz="quarter" idx="31" hasCustomPrompt="1"/>
          </p:nvPr>
        </p:nvSpPr>
        <p:spPr>
          <a:xfrm>
            <a:off x="4516834" y="1525702"/>
            <a:ext cx="1372791" cy="556953"/>
          </a:xfrm>
          <a:prstGeom prst="rect">
            <a:avLst/>
          </a:prstGeom>
        </p:spPr>
        <p:txBody>
          <a:bodyPr tIns="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Stat descriptor lorem ipsum</a:t>
            </a:r>
          </a:p>
        </p:txBody>
      </p:sp>
      <p:sp>
        <p:nvSpPr>
          <p:cNvPr id="19" name="Text Placeholder 15">
            <a:extLst>
              <a:ext uri="{FF2B5EF4-FFF2-40B4-BE49-F238E27FC236}">
                <a16:creationId xmlns:a16="http://schemas.microsoft.com/office/drawing/2014/main" id="{883E52D6-5A2B-54FE-B2FD-50F05B9B1649}"/>
              </a:ext>
            </a:extLst>
          </p:cNvPr>
          <p:cNvSpPr>
            <a:spLocks noGrp="1"/>
          </p:cNvSpPr>
          <p:nvPr>
            <p:ph type="body" sz="quarter" idx="32" hasCustomPrompt="1"/>
          </p:nvPr>
        </p:nvSpPr>
        <p:spPr>
          <a:xfrm>
            <a:off x="5981700" y="1014838"/>
            <a:ext cx="1786952" cy="1067817"/>
          </a:xfrm>
          <a:prstGeom prst="rect">
            <a:avLst/>
          </a:prstGeo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Lorem ipsum dolor sit </a:t>
            </a:r>
            <a:r>
              <a:rPr lang="en-US" dirty="0" err="1"/>
              <a:t>amet</a:t>
            </a:r>
            <a:endParaRPr lang="en-US" dirty="0"/>
          </a:p>
        </p:txBody>
      </p:sp>
      <p:sp>
        <p:nvSpPr>
          <p:cNvPr id="26" name="Text Placeholder 25">
            <a:extLst>
              <a:ext uri="{FF2B5EF4-FFF2-40B4-BE49-F238E27FC236}">
                <a16:creationId xmlns:a16="http://schemas.microsoft.com/office/drawing/2014/main" id="{145EC9BB-9EA6-882D-C1C8-A929A8D7679A}"/>
              </a:ext>
            </a:extLst>
          </p:cNvPr>
          <p:cNvSpPr>
            <a:spLocks noGrp="1"/>
          </p:cNvSpPr>
          <p:nvPr>
            <p:ph type="body" sz="quarter" idx="38" hasCustomPrompt="1"/>
          </p:nvPr>
        </p:nvSpPr>
        <p:spPr>
          <a:xfrm>
            <a:off x="4300536" y="4419803"/>
            <a:ext cx="803275" cy="269761"/>
          </a:xfrm>
          <a:prstGeom prst="rect">
            <a:avLst/>
          </a:prstGeom>
          <a:blipFill>
            <a:blip>
              <a:extLst>
                <a:ext uri="{96DAC541-7B7A-43D3-8B79-37D633B846F1}">
                  <asvg:svgBlip xmlns:asvg="http://schemas.microsoft.com/office/drawing/2016/SVG/main" r:embed="rId4"/>
                </a:ext>
              </a:extLst>
            </a:blip>
            <a:stretch>
              <a:fillRect/>
            </a:stretch>
          </a:blipFill>
        </p:spPr>
        <p:txBody>
          <a:bodyPr/>
          <a:lstStyle>
            <a:lvl1pPr>
              <a:defRPr b="0" i="0"/>
            </a:lvl1pPr>
          </a:lstStyle>
          <a:p>
            <a:pPr lvl="0"/>
            <a:r>
              <a:rPr lang="en-US"/>
              <a:t> </a:t>
            </a:r>
          </a:p>
        </p:txBody>
      </p:sp>
      <p:sp>
        <p:nvSpPr>
          <p:cNvPr id="27" name="Text Placeholder 15">
            <a:extLst>
              <a:ext uri="{FF2B5EF4-FFF2-40B4-BE49-F238E27FC236}">
                <a16:creationId xmlns:a16="http://schemas.microsoft.com/office/drawing/2014/main" id="{A32C7319-9E77-357E-1E6B-23D733A030D1}"/>
              </a:ext>
            </a:extLst>
          </p:cNvPr>
          <p:cNvSpPr>
            <a:spLocks noGrp="1"/>
          </p:cNvSpPr>
          <p:nvPr>
            <p:ph type="body" sz="quarter" idx="39" hasCustomPrompt="1"/>
          </p:nvPr>
        </p:nvSpPr>
        <p:spPr>
          <a:xfrm>
            <a:off x="4298950" y="4800601"/>
            <a:ext cx="3600450" cy="1219458"/>
          </a:xfrm>
          <a:prstGeom prst="rect">
            <a:avLst/>
          </a:prstGeom>
        </p:spPr>
        <p:txBody>
          <a:bodyPr tIns="0" rIns="0" bIns="0" anchor="t" anchorCtr="0"/>
          <a:lstStyle>
            <a:lvl1pPr>
              <a:spcAft>
                <a:spcPts val="100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Testimonial or project highlight goes here lorem ipsum dolor. Lorem </a:t>
            </a:r>
            <a:r>
              <a:rPr lang="en-US" dirty="0" err="1"/>
              <a:t>amet</a:t>
            </a:r>
            <a:r>
              <a:rPr lang="en-US" dirty="0"/>
              <a:t> </a:t>
            </a:r>
            <a:r>
              <a:rPr lang="en-US" dirty="0" err="1"/>
              <a:t>repudicae</a:t>
            </a:r>
            <a:r>
              <a:rPr lang="en-US" dirty="0"/>
              <a:t> </a:t>
            </a:r>
            <a:r>
              <a:rPr lang="en-US" dirty="0" err="1"/>
              <a:t>nihitatis</a:t>
            </a:r>
            <a:r>
              <a:rPr lang="en-US" dirty="0"/>
              <a:t> et </a:t>
            </a:r>
            <a:r>
              <a:rPr lang="en-US" dirty="0" err="1"/>
              <a:t>magnam</a:t>
            </a:r>
            <a:r>
              <a:rPr lang="en-US" dirty="0"/>
              <a:t>.</a:t>
            </a:r>
          </a:p>
        </p:txBody>
      </p:sp>
      <p:sp>
        <p:nvSpPr>
          <p:cNvPr id="30" name="Text Placeholder 15">
            <a:extLst>
              <a:ext uri="{FF2B5EF4-FFF2-40B4-BE49-F238E27FC236}">
                <a16:creationId xmlns:a16="http://schemas.microsoft.com/office/drawing/2014/main" id="{ABD1EAE9-28F1-F022-0886-6034CEE48011}"/>
              </a:ext>
            </a:extLst>
          </p:cNvPr>
          <p:cNvSpPr>
            <a:spLocks noGrp="1"/>
          </p:cNvSpPr>
          <p:nvPr>
            <p:ph type="body" sz="quarter" idx="40" hasCustomPrompt="1"/>
          </p:nvPr>
        </p:nvSpPr>
        <p:spPr>
          <a:xfrm>
            <a:off x="4298950" y="2506012"/>
            <a:ext cx="3602038" cy="1436596"/>
          </a:xfrm>
          <a:prstGeom prst="rect">
            <a:avLst/>
          </a:prstGeo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31" name="Text Placeholder 15">
            <a:extLst>
              <a:ext uri="{FF2B5EF4-FFF2-40B4-BE49-F238E27FC236}">
                <a16:creationId xmlns:a16="http://schemas.microsoft.com/office/drawing/2014/main" id="{C701D8AA-933D-5BE4-F7F1-E10444A625FD}"/>
              </a:ext>
            </a:extLst>
          </p:cNvPr>
          <p:cNvSpPr>
            <a:spLocks noGrp="1"/>
          </p:cNvSpPr>
          <p:nvPr>
            <p:ph type="body" sz="quarter" idx="41" hasCustomPrompt="1"/>
          </p:nvPr>
        </p:nvSpPr>
        <p:spPr>
          <a:xfrm>
            <a:off x="4516834" y="2689381"/>
            <a:ext cx="1372790" cy="510741"/>
          </a:xfrm>
          <a:prstGeom prst="rect">
            <a:avLst/>
          </a:prstGeo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32" name="Text Placeholder 15">
            <a:extLst>
              <a:ext uri="{FF2B5EF4-FFF2-40B4-BE49-F238E27FC236}">
                <a16:creationId xmlns:a16="http://schemas.microsoft.com/office/drawing/2014/main" id="{B7C2371B-53EA-E95C-F739-EFE9AE51735E}"/>
              </a:ext>
            </a:extLst>
          </p:cNvPr>
          <p:cNvSpPr>
            <a:spLocks noGrp="1"/>
          </p:cNvSpPr>
          <p:nvPr>
            <p:ph type="body" sz="quarter" idx="42" hasCustomPrompt="1"/>
          </p:nvPr>
        </p:nvSpPr>
        <p:spPr>
          <a:xfrm>
            <a:off x="4516834" y="3200123"/>
            <a:ext cx="1372791" cy="556953"/>
          </a:xfrm>
          <a:prstGeom prst="rect">
            <a:avLst/>
          </a:prstGeom>
        </p:spPr>
        <p:txBody>
          <a:bodyPr tIns="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Stat descriptor lorem ipsum</a:t>
            </a:r>
          </a:p>
        </p:txBody>
      </p:sp>
      <p:sp>
        <p:nvSpPr>
          <p:cNvPr id="33" name="Text Placeholder 15">
            <a:extLst>
              <a:ext uri="{FF2B5EF4-FFF2-40B4-BE49-F238E27FC236}">
                <a16:creationId xmlns:a16="http://schemas.microsoft.com/office/drawing/2014/main" id="{EF52418C-31BC-D8CA-DAA7-32470FE01E79}"/>
              </a:ext>
            </a:extLst>
          </p:cNvPr>
          <p:cNvSpPr>
            <a:spLocks noGrp="1"/>
          </p:cNvSpPr>
          <p:nvPr>
            <p:ph type="body" sz="quarter" idx="43" hasCustomPrompt="1"/>
          </p:nvPr>
        </p:nvSpPr>
        <p:spPr>
          <a:xfrm>
            <a:off x="5981700" y="2689259"/>
            <a:ext cx="1786952" cy="1067817"/>
          </a:xfrm>
          <a:prstGeom prst="rect">
            <a:avLst/>
          </a:prstGeo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Lorem ipsum dolor sit </a:t>
            </a:r>
            <a:r>
              <a:rPr lang="en-US" dirty="0" err="1"/>
              <a:t>amet</a:t>
            </a:r>
            <a:endParaRPr lang="en-US" dirty="0"/>
          </a:p>
        </p:txBody>
      </p:sp>
      <p:sp>
        <p:nvSpPr>
          <p:cNvPr id="2" name="Text Placeholder 15">
            <a:extLst>
              <a:ext uri="{FF2B5EF4-FFF2-40B4-BE49-F238E27FC236}">
                <a16:creationId xmlns:a16="http://schemas.microsoft.com/office/drawing/2014/main" id="{AD00B111-831B-7B8E-4399-AF47F1033036}"/>
              </a:ext>
            </a:extLst>
          </p:cNvPr>
          <p:cNvSpPr>
            <a:spLocks noGrp="1"/>
          </p:cNvSpPr>
          <p:nvPr>
            <p:ph type="body" sz="quarter" idx="44"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4256744228"/>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tx1"/>
                </a:solidFill>
              </a:defRPr>
            </a:lvl1pPr>
          </a:lstStyle>
          <a:p>
            <a:r>
              <a:rPr lang="en-US" dirty="0"/>
              <a:t>Statement lorem ipsum dolor sit </a:t>
            </a:r>
            <a:r>
              <a:rPr lang="en-US" dirty="0" err="1"/>
              <a:t>amet</a:t>
            </a:r>
            <a:r>
              <a:rPr lang="en-US" dirty="0"/>
              <a:t>, </a:t>
            </a:r>
            <a:r>
              <a:rPr lang="en-US" dirty="0" err="1"/>
              <a:t>consectetur</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amet</a:t>
            </a:r>
            <a:endParaRPr lang="en-US" dirty="0"/>
          </a:p>
        </p:txBody>
      </p:sp>
      <p:sp>
        <p:nvSpPr>
          <p:cNvPr id="2" name="Picture Placeholder 7">
            <a:extLst>
              <a:ext uri="{FF2B5EF4-FFF2-40B4-BE49-F238E27FC236}">
                <a16:creationId xmlns:a16="http://schemas.microsoft.com/office/drawing/2014/main" id="{83BAC274-EB05-8089-8DCA-82CC218E7B7D}"/>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Tree>
    <p:extLst>
      <p:ext uri="{BB962C8B-B14F-4D97-AF65-F5344CB8AC3E}">
        <p14:creationId xmlns:p14="http://schemas.microsoft.com/office/powerpoint/2010/main" val="18914104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tatement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678C184-31FA-D189-F5F1-A649E85A2BA7}"/>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bg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11" name="Picture Placeholder 7">
            <a:extLst>
              <a:ext uri="{FF2B5EF4-FFF2-40B4-BE49-F238E27FC236}">
                <a16:creationId xmlns:a16="http://schemas.microsoft.com/office/drawing/2014/main" id="{0A7DEA8A-BFCC-0AC5-D777-EE87427CC9B6}"/>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2" name="Footer Placeholder 8">
            <a:extLst>
              <a:ext uri="{FF2B5EF4-FFF2-40B4-BE49-F238E27FC236}">
                <a16:creationId xmlns:a16="http://schemas.microsoft.com/office/drawing/2014/main" id="{8657527A-CAEB-FEAB-3416-F225B5A68F7F}"/>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6129BC8C-D508-35AC-1FA3-37F936E3752F}"/>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16996086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tatement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A099A38-A8A2-7263-BB25-EE5337AAA98C}"/>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bg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11" name="Picture Placeholder 7">
            <a:extLst>
              <a:ext uri="{FF2B5EF4-FFF2-40B4-BE49-F238E27FC236}">
                <a16:creationId xmlns:a16="http://schemas.microsoft.com/office/drawing/2014/main" id="{4262223A-9D73-96F4-3DE6-CDEEF4F5878B}"/>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2" name="Footer Placeholder 8">
            <a:extLst>
              <a:ext uri="{FF2B5EF4-FFF2-40B4-BE49-F238E27FC236}">
                <a16:creationId xmlns:a16="http://schemas.microsoft.com/office/drawing/2014/main" id="{8E270589-B840-8D56-E32B-99AA9C396E34}"/>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0F30AAAB-5875-7313-E3C5-DDE3A87DE7E4}"/>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4463594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tatement_4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ext Placeholder 9">
            <a:extLst>
              <a:ext uri="{FF2B5EF4-FFF2-40B4-BE49-F238E27FC236}">
                <a16:creationId xmlns:a16="http://schemas.microsoft.com/office/drawing/2014/main" id="{567773C6-F57B-6E9F-F954-058B210A9903}"/>
              </a:ext>
            </a:extLst>
          </p:cNvPr>
          <p:cNvSpPr>
            <a:spLocks noGrp="1"/>
          </p:cNvSpPr>
          <p:nvPr>
            <p:ph type="body" sz="quarter" idx="23" hasCustomPrompt="1"/>
          </p:nvPr>
        </p:nvSpPr>
        <p:spPr>
          <a:xfrm>
            <a:off x="0" y="3240042"/>
            <a:ext cx="3441700" cy="586696"/>
          </a:xfrm>
          <a:prstGeom prst="rect">
            <a:avLst/>
          </a:prstGeom>
          <a:blipFill>
            <a:blip r:embed="rId3"/>
            <a:stretch>
              <a:fillRect/>
            </a:stretch>
          </a:blipFill>
        </p:spPr>
        <p:txBody>
          <a:bodyPr/>
          <a:lstStyle>
            <a:lvl1pPr>
              <a:defRPr sz="2800" b="0" i="0"/>
            </a:lvl1pPr>
          </a:lstStyle>
          <a:p>
            <a:pPr lvl="0"/>
            <a:r>
              <a:rPr lang="en-US"/>
              <a:t> </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4" name="Title 1">
            <a:extLst>
              <a:ext uri="{FF2B5EF4-FFF2-40B4-BE49-F238E27FC236}">
                <a16:creationId xmlns:a16="http://schemas.microsoft.com/office/drawing/2014/main" id="{561928D6-AF33-2FC3-7DA3-712B90A8FF99}"/>
              </a:ext>
            </a:extLst>
          </p:cNvPr>
          <p:cNvSpPr>
            <a:spLocks noGrp="1"/>
          </p:cNvSpPr>
          <p:nvPr>
            <p:ph type="title" hasCustomPrompt="1"/>
          </p:nvPr>
        </p:nvSpPr>
        <p:spPr>
          <a:xfrm>
            <a:off x="460377" y="1770064"/>
            <a:ext cx="6156323" cy="1962936"/>
          </a:xfrm>
          <a:prstGeom prst="rect">
            <a:avLst/>
          </a:prstGeom>
        </p:spPr>
        <p:txBody>
          <a:bodyPr anchor="b" anchorCtr="0"/>
          <a:lstStyle>
            <a:lvl1pPr>
              <a:defRPr sz="2800" b="1">
                <a:solidFill>
                  <a:schemeClr val="tx1"/>
                </a:solidFill>
              </a:defRPr>
            </a:lvl1pPr>
          </a:lstStyle>
          <a:p>
            <a:r>
              <a:rPr lang="en-US"/>
              <a:t>Statement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amet</a:t>
            </a:r>
            <a:r>
              <a:rPr lang="en-US"/>
              <a:t> adjust highlight et dolore. </a:t>
            </a:r>
          </a:p>
        </p:txBody>
      </p:sp>
      <p:sp>
        <p:nvSpPr>
          <p:cNvPr id="15" name="Picture Placeholder 7">
            <a:extLst>
              <a:ext uri="{FF2B5EF4-FFF2-40B4-BE49-F238E27FC236}">
                <a16:creationId xmlns:a16="http://schemas.microsoft.com/office/drawing/2014/main" id="{2B7400D2-037A-9FDF-16A4-0FD79008EAA7}"/>
              </a:ext>
            </a:extLst>
          </p:cNvPr>
          <p:cNvSpPr>
            <a:spLocks noGrp="1"/>
          </p:cNvSpPr>
          <p:nvPr>
            <p:ph type="pic" sz="quarter" idx="10" hasCustomPrompt="1"/>
          </p:nvPr>
        </p:nvSpPr>
        <p:spPr>
          <a:xfrm>
            <a:off x="7805583" y="1143000"/>
            <a:ext cx="2566219" cy="2569906"/>
          </a:xfrm>
          <a:prstGeom prst="rect">
            <a:avLst/>
          </a:prstGeom>
          <a:solidFill>
            <a:schemeClr val="accent2">
              <a:lumMod val="40000"/>
              <a:lumOff val="60000"/>
            </a:schemeClr>
          </a:solidFill>
        </p:spPr>
        <p:txBody>
          <a:bodyPr tIns="822960"/>
          <a:lstStyle>
            <a:lvl1pPr algn="ctr">
              <a:defRPr b="0" i="0"/>
            </a:lvl1pPr>
          </a:lstStyle>
          <a:p>
            <a:r>
              <a:rPr lang="en-US"/>
              <a:t>Picture</a:t>
            </a:r>
          </a:p>
        </p:txBody>
      </p:sp>
      <p:sp>
        <p:nvSpPr>
          <p:cNvPr id="16" name="Picture Placeholder 7">
            <a:extLst>
              <a:ext uri="{FF2B5EF4-FFF2-40B4-BE49-F238E27FC236}">
                <a16:creationId xmlns:a16="http://schemas.microsoft.com/office/drawing/2014/main" id="{2351EC89-08D0-926B-7E0B-EF30F37058AA}"/>
              </a:ext>
            </a:extLst>
          </p:cNvPr>
          <p:cNvSpPr>
            <a:spLocks noGrp="1"/>
          </p:cNvSpPr>
          <p:nvPr>
            <p:ph type="pic" sz="quarter" idx="26" hasCustomPrompt="1"/>
          </p:nvPr>
        </p:nvSpPr>
        <p:spPr>
          <a:xfrm>
            <a:off x="8465574" y="3900948"/>
            <a:ext cx="1906228" cy="1902542"/>
          </a:xfrm>
          <a:prstGeom prst="rect">
            <a:avLst/>
          </a:prstGeom>
          <a:solidFill>
            <a:schemeClr val="accent2">
              <a:lumMod val="40000"/>
              <a:lumOff val="60000"/>
            </a:schemeClr>
          </a:solidFill>
        </p:spPr>
        <p:txBody>
          <a:bodyPr tIns="548640"/>
          <a:lstStyle>
            <a:lvl1pPr algn="ctr">
              <a:defRPr b="0" i="0"/>
            </a:lvl1pPr>
          </a:lstStyle>
          <a:p>
            <a:r>
              <a:rPr lang="en-US"/>
              <a:t>Picture</a:t>
            </a:r>
          </a:p>
        </p:txBody>
      </p:sp>
    </p:spTree>
    <p:extLst>
      <p:ext uri="{BB962C8B-B14F-4D97-AF65-F5344CB8AC3E}">
        <p14:creationId xmlns:p14="http://schemas.microsoft.com/office/powerpoint/2010/main" val="16042934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divider_5">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p:spPr>
        <p:txBody>
          <a:bodyPr tIns="91440" rIns="0" bIns="0" anchor="t" anchorCtr="0"/>
          <a:lstStyle>
            <a:lvl1pPr>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1281113" cy="1219200"/>
          </a:xfr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pic>
        <p:nvPicPr>
          <p:cNvPr id="8" name="Picture 7">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25680468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Client Callou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Text Placeholder 15">
            <a:extLst>
              <a:ext uri="{FF2B5EF4-FFF2-40B4-BE49-F238E27FC236}">
                <a16:creationId xmlns:a16="http://schemas.microsoft.com/office/drawing/2014/main" id="{59819361-C169-F543-35DA-BD3C6C3B985E}"/>
              </a:ext>
            </a:extLst>
          </p:cNvPr>
          <p:cNvSpPr>
            <a:spLocks noGrp="1"/>
          </p:cNvSpPr>
          <p:nvPr>
            <p:ph type="body" sz="quarter" idx="33" hasCustomPrompt="1"/>
          </p:nvPr>
        </p:nvSpPr>
        <p:spPr>
          <a:xfrm>
            <a:off x="4298950" y="831591"/>
            <a:ext cx="3602038" cy="1436596"/>
          </a:xfr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460375" y="2202611"/>
            <a:ext cx="3606800" cy="3817189"/>
          </a:xfrm>
        </p:spPr>
        <p:txBody>
          <a:bodyPr tIns="91440"/>
          <a:lstStyle>
            <a:lvl1pPr>
              <a:defRPr sz="1400" b="0" i="0"/>
            </a:lvl1pPr>
            <a:lvl2pPr>
              <a:defRPr sz="1400" b="1" i="0"/>
            </a:lvl2pPr>
            <a:lvl3pPr marL="137160" indent="-137160">
              <a:defRPr sz="1200" b="0" i="0"/>
            </a:lvl3pPr>
            <a:lvl4pPr marL="274320" indent="-137160">
              <a:defRPr sz="1200" b="0" i="0"/>
            </a:lvl4pPr>
            <a:lvl5pPr marL="411480" indent="-137160">
              <a:defRPr sz="1200" b="0" i="0"/>
            </a:lvl5pPr>
            <a:lvl6pPr marL="182880" indent="-182880">
              <a:buAutoNum type="arabicPeriod"/>
              <a:defRPr sz="1200"/>
            </a:lvl6pPr>
            <a:lvl7pPr marL="365760" indent="-182880">
              <a:buAutoNum type="arabicPeriod"/>
              <a:defRPr sz="1200"/>
            </a:lvl7pPr>
            <a:lvl8pPr marL="548640" indent="-182880">
              <a:defRPr sz="1200"/>
            </a:lvl8pPr>
            <a:lvl9pPr>
              <a:defRPr sz="14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15">
            <a:extLst>
              <a:ext uri="{FF2B5EF4-FFF2-40B4-BE49-F238E27FC236}">
                <a16:creationId xmlns:a16="http://schemas.microsoft.com/office/drawing/2014/main" id="{F2F2811C-682B-50C7-DB15-23C006FAFC16}"/>
              </a:ext>
            </a:extLst>
          </p:cNvPr>
          <p:cNvSpPr>
            <a:spLocks noGrp="1"/>
          </p:cNvSpPr>
          <p:nvPr>
            <p:ph type="body" sz="quarter" idx="19" hasCustomPrompt="1"/>
          </p:nvPr>
        </p:nvSpPr>
        <p:spPr>
          <a:xfrm>
            <a:off x="465138" y="556953"/>
            <a:ext cx="3602038" cy="556953"/>
          </a:xfrm>
        </p:spPr>
        <p:txBody>
          <a:bodyPr tIns="228600" rIns="0" bIns="0" anchor="t" anchorCtr="0"/>
          <a:lstStyle>
            <a:lvl1pPr>
              <a:spcAft>
                <a:spcPts val="0"/>
              </a:spcAft>
              <a:buFontTx/>
              <a:buNone/>
              <a:defRPr sz="1600" b="1" i="0" cap="all"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all"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CLIENT NAME</a:t>
            </a:r>
          </a:p>
        </p:txBody>
      </p:sp>
      <p:sp>
        <p:nvSpPr>
          <p:cNvPr id="12" name="Title 11">
            <a:extLst>
              <a:ext uri="{FF2B5EF4-FFF2-40B4-BE49-F238E27FC236}">
                <a16:creationId xmlns:a16="http://schemas.microsoft.com/office/drawing/2014/main" id="{73D86145-91C7-C9AD-8439-02A6318C3553}"/>
              </a:ext>
            </a:extLst>
          </p:cNvPr>
          <p:cNvSpPr>
            <a:spLocks noGrp="1"/>
          </p:cNvSpPr>
          <p:nvPr>
            <p:ph type="title"/>
          </p:nvPr>
        </p:nvSpPr>
        <p:spPr>
          <a:xfrm>
            <a:off x="460375" y="1116054"/>
            <a:ext cx="3606800" cy="1086557"/>
          </a:xfrm>
        </p:spPr>
        <p:txBody>
          <a:bodyPr tIns="45720"/>
          <a:lstStyle>
            <a:lvl1pPr>
              <a:defRPr sz="2000">
                <a:solidFill>
                  <a:schemeClr val="tx1"/>
                </a:solidFill>
              </a:defRPr>
            </a:lvl1pPr>
          </a:lstStyle>
          <a:p>
            <a:r>
              <a:rPr lang="en-US"/>
              <a:t>Click to edit Master title style</a:t>
            </a:r>
          </a:p>
        </p:txBody>
      </p:sp>
      <p:sp>
        <p:nvSpPr>
          <p:cNvPr id="16" name="Picture Placeholder 7">
            <a:extLst>
              <a:ext uri="{FF2B5EF4-FFF2-40B4-BE49-F238E27FC236}">
                <a16:creationId xmlns:a16="http://schemas.microsoft.com/office/drawing/2014/main" id="{85295369-BD35-627D-DCF3-70F052CE99AA}"/>
              </a:ext>
            </a:extLst>
          </p:cNvPr>
          <p:cNvSpPr>
            <a:spLocks noGrp="1"/>
          </p:cNvSpPr>
          <p:nvPr>
            <p:ph type="pic" sz="quarter" idx="10" hasCustomPrompt="1"/>
          </p:nvPr>
        </p:nvSpPr>
        <p:spPr>
          <a:xfrm>
            <a:off x="8124824" y="835429"/>
            <a:ext cx="3603625" cy="4854171"/>
          </a:xfrm>
          <a:prstGeom prst="rect">
            <a:avLst/>
          </a:prstGeom>
          <a:solidFill>
            <a:schemeClr val="accent2">
              <a:lumMod val="40000"/>
              <a:lumOff val="60000"/>
            </a:schemeClr>
          </a:solidFill>
        </p:spPr>
        <p:txBody>
          <a:bodyPr tIns="1828800"/>
          <a:lstStyle>
            <a:lvl1pPr algn="ctr">
              <a:defRPr b="0" i="0"/>
            </a:lvl1pPr>
          </a:lstStyle>
          <a:p>
            <a:r>
              <a:rPr lang="en-US"/>
              <a:t>Relevant image or </a:t>
            </a:r>
            <a:br>
              <a:rPr lang="en-US"/>
            </a:br>
            <a:r>
              <a:rPr lang="en-US"/>
              <a:t>product prototype</a:t>
            </a:r>
          </a:p>
        </p:txBody>
      </p:sp>
      <p:sp>
        <p:nvSpPr>
          <p:cNvPr id="17" name="Text Placeholder 15">
            <a:extLst>
              <a:ext uri="{FF2B5EF4-FFF2-40B4-BE49-F238E27FC236}">
                <a16:creationId xmlns:a16="http://schemas.microsoft.com/office/drawing/2014/main" id="{B2F81DA5-F8CF-9074-55A0-F820DE7FFD70}"/>
              </a:ext>
            </a:extLst>
          </p:cNvPr>
          <p:cNvSpPr>
            <a:spLocks noGrp="1"/>
          </p:cNvSpPr>
          <p:nvPr>
            <p:ph type="body" sz="quarter" idx="23" hasCustomPrompt="1"/>
          </p:nvPr>
        </p:nvSpPr>
        <p:spPr>
          <a:xfrm>
            <a:off x="4516834" y="1014960"/>
            <a:ext cx="1372790" cy="510741"/>
          </a:xfr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18" name="Text Placeholder 15">
            <a:extLst>
              <a:ext uri="{FF2B5EF4-FFF2-40B4-BE49-F238E27FC236}">
                <a16:creationId xmlns:a16="http://schemas.microsoft.com/office/drawing/2014/main" id="{B61EB7FF-E196-443F-C2CC-DAFC7495AF6C}"/>
              </a:ext>
            </a:extLst>
          </p:cNvPr>
          <p:cNvSpPr>
            <a:spLocks noGrp="1"/>
          </p:cNvSpPr>
          <p:nvPr>
            <p:ph type="body" sz="quarter" idx="31" hasCustomPrompt="1"/>
          </p:nvPr>
        </p:nvSpPr>
        <p:spPr>
          <a:xfrm>
            <a:off x="4516834" y="1525702"/>
            <a:ext cx="1372791" cy="556953"/>
          </a:xfrm>
        </p:spPr>
        <p:txBody>
          <a:bodyPr tIns="0" rIns="0" bIns="0" anchor="t" anchorCtr="0"/>
          <a:lstStyle>
            <a:lvl1pPr>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19" name="Text Placeholder 15">
            <a:extLst>
              <a:ext uri="{FF2B5EF4-FFF2-40B4-BE49-F238E27FC236}">
                <a16:creationId xmlns:a16="http://schemas.microsoft.com/office/drawing/2014/main" id="{883E52D6-5A2B-54FE-B2FD-50F05B9B1649}"/>
              </a:ext>
            </a:extLst>
          </p:cNvPr>
          <p:cNvSpPr>
            <a:spLocks noGrp="1"/>
          </p:cNvSpPr>
          <p:nvPr>
            <p:ph type="body" sz="quarter" idx="32" hasCustomPrompt="1"/>
          </p:nvPr>
        </p:nvSpPr>
        <p:spPr>
          <a:xfrm>
            <a:off x="5981700" y="1014838"/>
            <a:ext cx="1786952" cy="1067817"/>
          </a:xfr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6" name="Text Placeholder 25">
            <a:extLst>
              <a:ext uri="{FF2B5EF4-FFF2-40B4-BE49-F238E27FC236}">
                <a16:creationId xmlns:a16="http://schemas.microsoft.com/office/drawing/2014/main" id="{145EC9BB-9EA6-882D-C1C8-A929A8D7679A}"/>
              </a:ext>
            </a:extLst>
          </p:cNvPr>
          <p:cNvSpPr>
            <a:spLocks noGrp="1"/>
          </p:cNvSpPr>
          <p:nvPr>
            <p:ph type="body" sz="quarter" idx="38" hasCustomPrompt="1"/>
          </p:nvPr>
        </p:nvSpPr>
        <p:spPr>
          <a:xfrm>
            <a:off x="4300536" y="4419803"/>
            <a:ext cx="803275" cy="269761"/>
          </a:xfrm>
          <a:blipFill>
            <a:blip>
              <a:extLst>
                <a:ext uri="{96DAC541-7B7A-43D3-8B79-37D633B846F1}">
                  <asvg:svgBlip xmlns:asvg="http://schemas.microsoft.com/office/drawing/2016/SVG/main" r:embed="rId4"/>
                </a:ext>
              </a:extLst>
            </a:blip>
            <a:stretch>
              <a:fillRect/>
            </a:stretch>
          </a:blipFill>
        </p:spPr>
        <p:txBody>
          <a:bodyPr/>
          <a:lstStyle>
            <a:lvl1pPr>
              <a:defRPr b="0" i="0"/>
            </a:lvl1pPr>
          </a:lstStyle>
          <a:p>
            <a:pPr lvl="0"/>
            <a:r>
              <a:rPr lang="en-US"/>
              <a:t> </a:t>
            </a:r>
          </a:p>
        </p:txBody>
      </p:sp>
      <p:sp>
        <p:nvSpPr>
          <p:cNvPr id="27" name="Text Placeholder 15">
            <a:extLst>
              <a:ext uri="{FF2B5EF4-FFF2-40B4-BE49-F238E27FC236}">
                <a16:creationId xmlns:a16="http://schemas.microsoft.com/office/drawing/2014/main" id="{A32C7319-9E77-357E-1E6B-23D733A030D1}"/>
              </a:ext>
            </a:extLst>
          </p:cNvPr>
          <p:cNvSpPr>
            <a:spLocks noGrp="1"/>
          </p:cNvSpPr>
          <p:nvPr>
            <p:ph type="body" sz="quarter" idx="39" hasCustomPrompt="1"/>
          </p:nvPr>
        </p:nvSpPr>
        <p:spPr>
          <a:xfrm>
            <a:off x="4298950" y="4800601"/>
            <a:ext cx="3600450" cy="1219458"/>
          </a:xfrm>
        </p:spPr>
        <p:txBody>
          <a:bodyPr tIns="0" rIns="0" bIns="0" anchor="t" anchorCtr="0"/>
          <a:lstStyle>
            <a:lvl1pPr>
              <a:spcAft>
                <a:spcPts val="1000"/>
              </a:spcAft>
              <a:buFontTx/>
              <a:buNone/>
              <a:defRPr sz="1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Testimonial or project highlight goes here lorem ipsum dolor. Lorem </a:t>
            </a:r>
            <a:r>
              <a:rPr lang="en-US" err="1"/>
              <a:t>amet</a:t>
            </a:r>
            <a:r>
              <a:rPr lang="en-US"/>
              <a:t> </a:t>
            </a:r>
            <a:r>
              <a:rPr lang="en-US" err="1"/>
              <a:t>repudicae</a:t>
            </a:r>
            <a:r>
              <a:rPr lang="en-US"/>
              <a:t> </a:t>
            </a:r>
            <a:r>
              <a:rPr lang="en-US" err="1"/>
              <a:t>nihitatis</a:t>
            </a:r>
            <a:r>
              <a:rPr lang="en-US"/>
              <a:t> et </a:t>
            </a:r>
            <a:r>
              <a:rPr lang="en-US" err="1"/>
              <a:t>magnam</a:t>
            </a:r>
            <a:r>
              <a:rPr lang="en-US"/>
              <a:t>.</a:t>
            </a:r>
          </a:p>
        </p:txBody>
      </p:sp>
      <p:sp>
        <p:nvSpPr>
          <p:cNvPr id="30" name="Text Placeholder 15">
            <a:extLst>
              <a:ext uri="{FF2B5EF4-FFF2-40B4-BE49-F238E27FC236}">
                <a16:creationId xmlns:a16="http://schemas.microsoft.com/office/drawing/2014/main" id="{ABD1EAE9-28F1-F022-0886-6034CEE48011}"/>
              </a:ext>
            </a:extLst>
          </p:cNvPr>
          <p:cNvSpPr>
            <a:spLocks noGrp="1"/>
          </p:cNvSpPr>
          <p:nvPr>
            <p:ph type="body" sz="quarter" idx="40" hasCustomPrompt="1"/>
          </p:nvPr>
        </p:nvSpPr>
        <p:spPr>
          <a:xfrm>
            <a:off x="4298950" y="2506012"/>
            <a:ext cx="3602038" cy="1436596"/>
          </a:xfr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31" name="Text Placeholder 15">
            <a:extLst>
              <a:ext uri="{FF2B5EF4-FFF2-40B4-BE49-F238E27FC236}">
                <a16:creationId xmlns:a16="http://schemas.microsoft.com/office/drawing/2014/main" id="{C701D8AA-933D-5BE4-F7F1-E10444A625FD}"/>
              </a:ext>
            </a:extLst>
          </p:cNvPr>
          <p:cNvSpPr>
            <a:spLocks noGrp="1"/>
          </p:cNvSpPr>
          <p:nvPr>
            <p:ph type="body" sz="quarter" idx="41" hasCustomPrompt="1"/>
          </p:nvPr>
        </p:nvSpPr>
        <p:spPr>
          <a:xfrm>
            <a:off x="4516834" y="2689381"/>
            <a:ext cx="1372790" cy="510741"/>
          </a:xfr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32" name="Text Placeholder 15">
            <a:extLst>
              <a:ext uri="{FF2B5EF4-FFF2-40B4-BE49-F238E27FC236}">
                <a16:creationId xmlns:a16="http://schemas.microsoft.com/office/drawing/2014/main" id="{B7C2371B-53EA-E95C-F739-EFE9AE51735E}"/>
              </a:ext>
            </a:extLst>
          </p:cNvPr>
          <p:cNvSpPr>
            <a:spLocks noGrp="1"/>
          </p:cNvSpPr>
          <p:nvPr>
            <p:ph type="body" sz="quarter" idx="42" hasCustomPrompt="1"/>
          </p:nvPr>
        </p:nvSpPr>
        <p:spPr>
          <a:xfrm>
            <a:off x="4516834" y="3200123"/>
            <a:ext cx="1372791" cy="556953"/>
          </a:xfrm>
        </p:spPr>
        <p:txBody>
          <a:bodyPr tIns="0" rIns="0" bIns="0" anchor="t" anchorCtr="0"/>
          <a:lstStyle>
            <a:lvl1pPr>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33" name="Text Placeholder 15">
            <a:extLst>
              <a:ext uri="{FF2B5EF4-FFF2-40B4-BE49-F238E27FC236}">
                <a16:creationId xmlns:a16="http://schemas.microsoft.com/office/drawing/2014/main" id="{EF52418C-31BC-D8CA-DAA7-32470FE01E79}"/>
              </a:ext>
            </a:extLst>
          </p:cNvPr>
          <p:cNvSpPr>
            <a:spLocks noGrp="1"/>
          </p:cNvSpPr>
          <p:nvPr>
            <p:ph type="body" sz="quarter" idx="43" hasCustomPrompt="1"/>
          </p:nvPr>
        </p:nvSpPr>
        <p:spPr>
          <a:xfrm>
            <a:off x="5981700" y="2689259"/>
            <a:ext cx="1786952" cy="1067817"/>
          </a:xfr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 name="Text Placeholder 15">
            <a:extLst>
              <a:ext uri="{FF2B5EF4-FFF2-40B4-BE49-F238E27FC236}">
                <a16:creationId xmlns:a16="http://schemas.microsoft.com/office/drawing/2014/main" id="{AD00B111-831B-7B8E-4399-AF47F1033036}"/>
              </a:ext>
            </a:extLst>
          </p:cNvPr>
          <p:cNvSpPr>
            <a:spLocks noGrp="1"/>
          </p:cNvSpPr>
          <p:nvPr>
            <p:ph type="body" sz="quarter" idx="44" hasCustomPrompt="1"/>
          </p:nvPr>
        </p:nvSpPr>
        <p:spPr>
          <a:xfrm>
            <a:off x="465137" y="0"/>
            <a:ext cx="5106989" cy="556953"/>
          </a:xfr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grpSp>
        <p:nvGrpSpPr>
          <p:cNvPr id="87" name="Group 86">
            <a:extLst>
              <a:ext uri="{FF2B5EF4-FFF2-40B4-BE49-F238E27FC236}">
                <a16:creationId xmlns:a16="http://schemas.microsoft.com/office/drawing/2014/main" id="{FCC55A77-7B5B-1E85-0BA0-D2C6FE0657DE}"/>
              </a:ext>
            </a:extLst>
          </p:cNvPr>
          <p:cNvGrpSpPr/>
          <p:nvPr userDrawn="1"/>
        </p:nvGrpSpPr>
        <p:grpSpPr>
          <a:xfrm>
            <a:off x="-1" y="7094960"/>
            <a:ext cx="12102536" cy="683063"/>
            <a:chOff x="-1" y="7094960"/>
            <a:chExt cx="12102536" cy="683063"/>
          </a:xfrm>
        </p:grpSpPr>
        <p:grpSp>
          <p:nvGrpSpPr>
            <p:cNvPr id="88" name="Group 87">
              <a:extLst>
                <a:ext uri="{FF2B5EF4-FFF2-40B4-BE49-F238E27FC236}">
                  <a16:creationId xmlns:a16="http://schemas.microsoft.com/office/drawing/2014/main" id="{CFF8E4E0-6ED9-59E5-21C6-C87636B52D83}"/>
                </a:ext>
              </a:extLst>
            </p:cNvPr>
            <p:cNvGrpSpPr/>
            <p:nvPr userDrawn="1"/>
          </p:nvGrpSpPr>
          <p:grpSpPr>
            <a:xfrm>
              <a:off x="-1" y="7100885"/>
              <a:ext cx="2273966" cy="677138"/>
              <a:chOff x="-1" y="7100885"/>
              <a:chExt cx="2273966" cy="677138"/>
            </a:xfrm>
          </p:grpSpPr>
          <p:sp>
            <p:nvSpPr>
              <p:cNvPr id="115" name="Rectangle 114">
                <a:extLst>
                  <a:ext uri="{FF2B5EF4-FFF2-40B4-BE49-F238E27FC236}">
                    <a16:creationId xmlns:a16="http://schemas.microsoft.com/office/drawing/2014/main" id="{6A5A636C-D502-1C90-FCF3-C6EC017433F4}"/>
                  </a:ext>
                </a:extLst>
              </p:cNvPr>
              <p:cNvSpPr/>
              <p:nvPr userDrawn="1"/>
            </p:nvSpPr>
            <p:spPr>
              <a:xfrm rot="16200000">
                <a:off x="12213" y="7088672"/>
                <a:ext cx="358001" cy="382428"/>
              </a:xfrm>
              <a:prstGeom prst="rect">
                <a:avLst/>
              </a:prstGeom>
              <a:solidFill>
                <a:schemeClr val="bg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6" name="Rectangle 115">
                <a:extLst>
                  <a:ext uri="{FF2B5EF4-FFF2-40B4-BE49-F238E27FC236}">
                    <a16:creationId xmlns:a16="http://schemas.microsoft.com/office/drawing/2014/main" id="{D12861DE-5389-498D-CCF3-72E4E56AF40C}"/>
                  </a:ext>
                </a:extLst>
              </p:cNvPr>
              <p:cNvSpPr/>
              <p:nvPr userDrawn="1"/>
            </p:nvSpPr>
            <p:spPr>
              <a:xfrm rot="16200000">
                <a:off x="957981" y="7088672"/>
                <a:ext cx="358001" cy="382428"/>
              </a:xfrm>
              <a:prstGeom prst="rect">
                <a:avLst/>
              </a:prstGeom>
              <a:solidFill>
                <a:srgbClr val="50658E"/>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7" name="Rectangle 116">
                <a:extLst>
                  <a:ext uri="{FF2B5EF4-FFF2-40B4-BE49-F238E27FC236}">
                    <a16:creationId xmlns:a16="http://schemas.microsoft.com/office/drawing/2014/main" id="{568522AD-6C0A-68DE-700A-2582CD2B0916}"/>
                  </a:ext>
                </a:extLst>
              </p:cNvPr>
              <p:cNvSpPr/>
              <p:nvPr userDrawn="1"/>
            </p:nvSpPr>
            <p:spPr>
              <a:xfrm rot="16200000">
                <a:off x="1430865" y="7088672"/>
                <a:ext cx="358001" cy="382428"/>
              </a:xfrm>
              <a:prstGeom prst="rect">
                <a:avLst/>
              </a:prstGeom>
              <a:solidFill>
                <a:srgbClr val="CED7E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8" name="Rectangle 117">
                <a:extLst>
                  <a:ext uri="{FF2B5EF4-FFF2-40B4-BE49-F238E27FC236}">
                    <a16:creationId xmlns:a16="http://schemas.microsoft.com/office/drawing/2014/main" id="{08388829-DB73-D379-29A8-78FF2A51CD05}"/>
                  </a:ext>
                </a:extLst>
              </p:cNvPr>
              <p:cNvSpPr/>
              <p:nvPr userDrawn="1"/>
            </p:nvSpPr>
            <p:spPr>
              <a:xfrm rot="16200000">
                <a:off x="1903750" y="7088672"/>
                <a:ext cx="358001" cy="382428"/>
              </a:xfrm>
              <a:prstGeom prst="rect">
                <a:avLst/>
              </a:prstGeom>
              <a:solidFill>
                <a:srgbClr val="E8EEF8"/>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9" name="TextBox 118">
                <a:extLst>
                  <a:ext uri="{FF2B5EF4-FFF2-40B4-BE49-F238E27FC236}">
                    <a16:creationId xmlns:a16="http://schemas.microsoft.com/office/drawing/2014/main" id="{BB35CCA4-1A8C-90CE-1A2E-990628A6C121}"/>
                  </a:ext>
                </a:extLst>
              </p:cNvPr>
              <p:cNvSpPr txBox="1"/>
              <p:nvPr userDrawn="1"/>
            </p:nvSpPr>
            <p:spPr>
              <a:xfrm>
                <a:off x="-1" y="7520200"/>
                <a:ext cx="540301" cy="257823"/>
              </a:xfrm>
              <a:prstGeom prst="rect">
                <a:avLst/>
              </a:prstGeom>
              <a:noFill/>
            </p:spPr>
            <p:txBody>
              <a:bodyPr wrap="square" lIns="0" tIns="0" rIns="0" bIns="36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Primary</a:t>
                </a:r>
              </a:p>
            </p:txBody>
          </p:sp>
          <p:sp>
            <p:nvSpPr>
              <p:cNvPr id="120" name="Rectangle 119">
                <a:extLst>
                  <a:ext uri="{FF2B5EF4-FFF2-40B4-BE49-F238E27FC236}">
                    <a16:creationId xmlns:a16="http://schemas.microsoft.com/office/drawing/2014/main" id="{06EDC3DC-92A9-7422-3483-2820DB2924CC}"/>
                  </a:ext>
                </a:extLst>
              </p:cNvPr>
              <p:cNvSpPr/>
              <p:nvPr userDrawn="1"/>
            </p:nvSpPr>
            <p:spPr>
              <a:xfrm rot="16200000">
                <a:off x="485097" y="7088672"/>
                <a:ext cx="358001" cy="382428"/>
              </a:xfrm>
              <a:prstGeom prst="rect">
                <a:avLst/>
              </a:prstGeom>
              <a:solidFill>
                <a:srgbClr val="070154"/>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89" name="Group 88">
              <a:extLst>
                <a:ext uri="{FF2B5EF4-FFF2-40B4-BE49-F238E27FC236}">
                  <a16:creationId xmlns:a16="http://schemas.microsoft.com/office/drawing/2014/main" id="{69788326-2E81-3D94-B5AB-FB4AFC78C494}"/>
                </a:ext>
              </a:extLst>
            </p:cNvPr>
            <p:cNvGrpSpPr/>
            <p:nvPr userDrawn="1"/>
          </p:nvGrpSpPr>
          <p:grpSpPr>
            <a:xfrm>
              <a:off x="2655911" y="7100885"/>
              <a:ext cx="1322942" cy="677138"/>
              <a:chOff x="2727944" y="7100885"/>
              <a:chExt cx="1322942" cy="677138"/>
            </a:xfrm>
          </p:grpSpPr>
          <p:sp>
            <p:nvSpPr>
              <p:cNvPr id="111" name="Rectangle 110">
                <a:extLst>
                  <a:ext uri="{FF2B5EF4-FFF2-40B4-BE49-F238E27FC236}">
                    <a16:creationId xmlns:a16="http://schemas.microsoft.com/office/drawing/2014/main" id="{78C9927B-E3F5-7632-44F1-625AF38A224E}"/>
                  </a:ext>
                </a:extLst>
              </p:cNvPr>
              <p:cNvSpPr/>
              <p:nvPr userDrawn="1"/>
            </p:nvSpPr>
            <p:spPr>
              <a:xfrm rot="16200000">
                <a:off x="2740159" y="7088672"/>
                <a:ext cx="358001" cy="382428"/>
              </a:xfrm>
              <a:prstGeom prst="rect">
                <a:avLst/>
              </a:prstGeom>
              <a:solidFill>
                <a:srgbClr val="F900D3"/>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2" name="Rectangle 111">
                <a:extLst>
                  <a:ext uri="{FF2B5EF4-FFF2-40B4-BE49-F238E27FC236}">
                    <a16:creationId xmlns:a16="http://schemas.microsoft.com/office/drawing/2014/main" id="{6FA4D2C2-CE4B-5211-5946-2605496B18D9}"/>
                  </a:ext>
                </a:extLst>
              </p:cNvPr>
              <p:cNvSpPr/>
              <p:nvPr userDrawn="1"/>
            </p:nvSpPr>
            <p:spPr>
              <a:xfrm rot="16200000">
                <a:off x="3680671" y="7088672"/>
                <a:ext cx="358001" cy="382428"/>
              </a:xfrm>
              <a:prstGeom prst="rect">
                <a:avLst/>
              </a:prstGeom>
              <a:solidFill>
                <a:srgbClr val="0047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3" name="TextBox 112">
                <a:extLst>
                  <a:ext uri="{FF2B5EF4-FFF2-40B4-BE49-F238E27FC236}">
                    <a16:creationId xmlns:a16="http://schemas.microsoft.com/office/drawing/2014/main" id="{6D6CBC16-4C7A-F1D1-4687-1022275A61FD}"/>
                  </a:ext>
                </a:extLst>
              </p:cNvPr>
              <p:cNvSpPr txBox="1"/>
              <p:nvPr userDrawn="1"/>
            </p:nvSpPr>
            <p:spPr>
              <a:xfrm>
                <a:off x="2727944" y="7520200"/>
                <a:ext cx="520281" cy="257823"/>
              </a:xfrm>
              <a:prstGeom prst="rect">
                <a:avLst/>
              </a:prstGeom>
              <a:noFill/>
            </p:spPr>
            <p:txBody>
              <a:bodyPr wrap="square" lIns="0" tIns="0" rIns="0" bIns="36000" rtlCol="0" anchor="t" anchorCtr="0">
                <a:noAutofit/>
              </a:bodyPr>
              <a:lstStyle/>
              <a:p>
                <a:r>
                  <a:rPr lang="en-US" sz="800" b="0" i="0" spc="0" baseline="0">
                    <a:solidFill>
                      <a:schemeClr val="tx1"/>
                    </a:solidFill>
                    <a:latin typeface="+mj-lt"/>
                    <a:ea typeface="Verdana" panose="020B0604030504040204" pitchFamily="34" charset="0"/>
                    <a:cs typeface="Arial" panose="020B0604020202020204" pitchFamily="34" charset="0"/>
                  </a:rPr>
                  <a:t>Accent</a:t>
                </a:r>
              </a:p>
            </p:txBody>
          </p:sp>
          <p:sp>
            <p:nvSpPr>
              <p:cNvPr id="114" name="Rectangle 113">
                <a:extLst>
                  <a:ext uri="{FF2B5EF4-FFF2-40B4-BE49-F238E27FC236}">
                    <a16:creationId xmlns:a16="http://schemas.microsoft.com/office/drawing/2014/main" id="{A03A540A-2F1E-684D-4C20-B3A23C60D92C}"/>
                  </a:ext>
                </a:extLst>
              </p:cNvPr>
              <p:cNvSpPr/>
              <p:nvPr userDrawn="1"/>
            </p:nvSpPr>
            <p:spPr>
              <a:xfrm rot="16200000">
                <a:off x="3210415" y="7088672"/>
                <a:ext cx="358001" cy="382428"/>
              </a:xfrm>
              <a:prstGeom prst="rect">
                <a:avLst/>
              </a:prstGeom>
              <a:solidFill>
                <a:srgbClr val="F6EB2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90" name="Group 89">
              <a:extLst>
                <a:ext uri="{FF2B5EF4-FFF2-40B4-BE49-F238E27FC236}">
                  <a16:creationId xmlns:a16="http://schemas.microsoft.com/office/drawing/2014/main" id="{8809A83F-38DF-F44C-9554-1884A6A6E2DC}"/>
                </a:ext>
              </a:extLst>
            </p:cNvPr>
            <p:cNvGrpSpPr/>
            <p:nvPr userDrawn="1"/>
          </p:nvGrpSpPr>
          <p:grpSpPr>
            <a:xfrm>
              <a:off x="10778614" y="7094960"/>
              <a:ext cx="1323921" cy="683063"/>
              <a:chOff x="10868079" y="7094960"/>
              <a:chExt cx="1323921" cy="683063"/>
            </a:xfrm>
          </p:grpSpPr>
          <p:sp>
            <p:nvSpPr>
              <p:cNvPr id="107" name="Rectangle 106">
                <a:extLst>
                  <a:ext uri="{FF2B5EF4-FFF2-40B4-BE49-F238E27FC236}">
                    <a16:creationId xmlns:a16="http://schemas.microsoft.com/office/drawing/2014/main" id="{34B989D6-4994-A5BD-B93D-183FECD9027E}"/>
                  </a:ext>
                </a:extLst>
              </p:cNvPr>
              <p:cNvSpPr/>
              <p:nvPr userDrawn="1"/>
            </p:nvSpPr>
            <p:spPr>
              <a:xfrm rot="16200000">
                <a:off x="10880293" y="7082747"/>
                <a:ext cx="358001" cy="382428"/>
              </a:xfrm>
              <a:prstGeom prst="rect">
                <a:avLst/>
              </a:prstGeom>
              <a:solidFill>
                <a:srgbClr val="1DD465"/>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08" name="Rectangle 107">
                <a:extLst>
                  <a:ext uri="{FF2B5EF4-FFF2-40B4-BE49-F238E27FC236}">
                    <a16:creationId xmlns:a16="http://schemas.microsoft.com/office/drawing/2014/main" id="{F591F43B-E1C2-7799-BD41-A4B75568924B}"/>
                  </a:ext>
                </a:extLst>
              </p:cNvPr>
              <p:cNvSpPr/>
              <p:nvPr userDrawn="1"/>
            </p:nvSpPr>
            <p:spPr>
              <a:xfrm rot="16200000">
                <a:off x="11821785" y="7082747"/>
                <a:ext cx="358001" cy="382428"/>
              </a:xfrm>
              <a:prstGeom prst="rect">
                <a:avLst/>
              </a:prstGeom>
              <a:solidFill>
                <a:srgbClr val="F52C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09" name="TextBox 108">
                <a:extLst>
                  <a:ext uri="{FF2B5EF4-FFF2-40B4-BE49-F238E27FC236}">
                    <a16:creationId xmlns:a16="http://schemas.microsoft.com/office/drawing/2014/main" id="{ED8E2B40-922E-4064-F636-2EA0495B0AF9}"/>
                  </a:ext>
                </a:extLst>
              </p:cNvPr>
              <p:cNvSpPr txBox="1"/>
              <p:nvPr userDrawn="1"/>
            </p:nvSpPr>
            <p:spPr>
              <a:xfrm>
                <a:off x="10868079" y="7520200"/>
                <a:ext cx="540301" cy="257823"/>
              </a:xfrm>
              <a:prstGeom prst="rect">
                <a:avLst/>
              </a:prstGeom>
              <a:noFill/>
            </p:spPr>
            <p:txBody>
              <a:bodyPr wrap="square" lIns="0" tIns="0" rIns="0" bIns="36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KPIs</a:t>
                </a:r>
              </a:p>
            </p:txBody>
          </p:sp>
          <p:sp>
            <p:nvSpPr>
              <p:cNvPr id="110" name="Rectangle 109">
                <a:extLst>
                  <a:ext uri="{FF2B5EF4-FFF2-40B4-BE49-F238E27FC236}">
                    <a16:creationId xmlns:a16="http://schemas.microsoft.com/office/drawing/2014/main" id="{70E1F5CC-86CF-ED2A-CE9F-1828EB2D25B5}"/>
                  </a:ext>
                </a:extLst>
              </p:cNvPr>
              <p:cNvSpPr/>
              <p:nvPr userDrawn="1"/>
            </p:nvSpPr>
            <p:spPr>
              <a:xfrm rot="16200000">
                <a:off x="11355036" y="7082747"/>
                <a:ext cx="358001" cy="382428"/>
              </a:xfrm>
              <a:prstGeom prst="rect">
                <a:avLst/>
              </a:prstGeom>
              <a:solidFill>
                <a:srgbClr val="FFC7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91" name="Group 90">
              <a:extLst>
                <a:ext uri="{FF2B5EF4-FFF2-40B4-BE49-F238E27FC236}">
                  <a16:creationId xmlns:a16="http://schemas.microsoft.com/office/drawing/2014/main" id="{1D0EAF8B-1F5D-13D2-2580-AFE65CE35A4E}"/>
                </a:ext>
              </a:extLst>
            </p:cNvPr>
            <p:cNvGrpSpPr/>
            <p:nvPr userDrawn="1"/>
          </p:nvGrpSpPr>
          <p:grpSpPr>
            <a:xfrm>
              <a:off x="9055231" y="7100885"/>
              <a:ext cx="1351453" cy="677138"/>
              <a:chOff x="7261018" y="7100885"/>
              <a:chExt cx="1351453" cy="677138"/>
            </a:xfrm>
          </p:grpSpPr>
          <p:sp>
            <p:nvSpPr>
              <p:cNvPr id="103" name="Rectangle 102">
                <a:extLst>
                  <a:ext uri="{FF2B5EF4-FFF2-40B4-BE49-F238E27FC236}">
                    <a16:creationId xmlns:a16="http://schemas.microsoft.com/office/drawing/2014/main" id="{97CD8EB0-2E5E-B0DF-D3F1-0F8A53C27C63}"/>
                  </a:ext>
                </a:extLst>
              </p:cNvPr>
              <p:cNvSpPr/>
              <p:nvPr userDrawn="1"/>
            </p:nvSpPr>
            <p:spPr>
              <a:xfrm rot="16200000">
                <a:off x="7273232" y="7088673"/>
                <a:ext cx="358001" cy="382428"/>
              </a:xfrm>
              <a:prstGeom prst="rect">
                <a:avLst/>
              </a:prstGeom>
              <a:solidFill>
                <a:srgbClr val="E8EEF8"/>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04" name="Rectangle 103">
                <a:extLst>
                  <a:ext uri="{FF2B5EF4-FFF2-40B4-BE49-F238E27FC236}">
                    <a16:creationId xmlns:a16="http://schemas.microsoft.com/office/drawing/2014/main" id="{F7CE2E08-9EE1-3C02-EF22-00B2CE587FF0}"/>
                  </a:ext>
                </a:extLst>
              </p:cNvPr>
              <p:cNvSpPr/>
              <p:nvPr userDrawn="1"/>
            </p:nvSpPr>
            <p:spPr>
              <a:xfrm rot="16200000">
                <a:off x="8242256" y="7088672"/>
                <a:ext cx="358001" cy="382428"/>
              </a:xfrm>
              <a:prstGeom prst="rect">
                <a:avLst/>
              </a:prstGeom>
              <a:solidFill>
                <a:srgbClr val="97A4BA"/>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05" name="TextBox 104">
                <a:extLst>
                  <a:ext uri="{FF2B5EF4-FFF2-40B4-BE49-F238E27FC236}">
                    <a16:creationId xmlns:a16="http://schemas.microsoft.com/office/drawing/2014/main" id="{0DD58ED1-DDA9-2E8A-B796-0F198B78FA79}"/>
                  </a:ext>
                </a:extLst>
              </p:cNvPr>
              <p:cNvSpPr txBox="1"/>
              <p:nvPr userDrawn="1"/>
            </p:nvSpPr>
            <p:spPr>
              <a:xfrm>
                <a:off x="7261018" y="7520200"/>
                <a:ext cx="1134831" cy="257823"/>
              </a:xfrm>
              <a:prstGeom prst="rect">
                <a:avLst/>
              </a:prstGeom>
              <a:noFill/>
            </p:spPr>
            <p:txBody>
              <a:bodyPr wrap="square" lIns="0" tIns="0" rIns="0" bIns="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Deemphasis Data Vis</a:t>
                </a:r>
              </a:p>
            </p:txBody>
          </p:sp>
          <p:sp>
            <p:nvSpPr>
              <p:cNvPr id="106" name="Rectangle 105">
                <a:extLst>
                  <a:ext uri="{FF2B5EF4-FFF2-40B4-BE49-F238E27FC236}">
                    <a16:creationId xmlns:a16="http://schemas.microsoft.com/office/drawing/2014/main" id="{509FE808-F3A8-6834-B622-A4768E805BB4}"/>
                  </a:ext>
                </a:extLst>
              </p:cNvPr>
              <p:cNvSpPr/>
              <p:nvPr userDrawn="1"/>
            </p:nvSpPr>
            <p:spPr>
              <a:xfrm rot="16200000">
                <a:off x="7757744" y="7088673"/>
                <a:ext cx="358001" cy="382428"/>
              </a:xfrm>
              <a:prstGeom prst="rect">
                <a:avLst/>
              </a:prstGeom>
              <a:solidFill>
                <a:srgbClr val="CED7E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92" name="Group 91">
              <a:extLst>
                <a:ext uri="{FF2B5EF4-FFF2-40B4-BE49-F238E27FC236}">
                  <a16:creationId xmlns:a16="http://schemas.microsoft.com/office/drawing/2014/main" id="{DB80208E-D970-93C2-DBB1-16A3CE90893F}"/>
                </a:ext>
              </a:extLst>
            </p:cNvPr>
            <p:cNvGrpSpPr/>
            <p:nvPr userDrawn="1"/>
          </p:nvGrpSpPr>
          <p:grpSpPr>
            <a:xfrm>
              <a:off x="4345020" y="7100883"/>
              <a:ext cx="4333458" cy="677140"/>
              <a:chOff x="12817101" y="7100883"/>
              <a:chExt cx="4333458" cy="677140"/>
            </a:xfrm>
          </p:grpSpPr>
          <p:sp>
            <p:nvSpPr>
              <p:cNvPr id="93" name="TextBox 92">
                <a:extLst>
                  <a:ext uri="{FF2B5EF4-FFF2-40B4-BE49-F238E27FC236}">
                    <a16:creationId xmlns:a16="http://schemas.microsoft.com/office/drawing/2014/main" id="{8E140823-449A-9951-3F1E-25230A1601A5}"/>
                  </a:ext>
                </a:extLst>
              </p:cNvPr>
              <p:cNvSpPr txBox="1"/>
              <p:nvPr userDrawn="1"/>
            </p:nvSpPr>
            <p:spPr>
              <a:xfrm>
                <a:off x="12817101" y="7520200"/>
                <a:ext cx="1480498" cy="257823"/>
              </a:xfrm>
              <a:prstGeom prst="rect">
                <a:avLst/>
              </a:prstGeom>
              <a:noFill/>
            </p:spPr>
            <p:txBody>
              <a:bodyPr wrap="square" lIns="0" tIns="0" rIns="0" bIns="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Categorical Data Vis</a:t>
                </a:r>
              </a:p>
            </p:txBody>
          </p:sp>
          <p:sp>
            <p:nvSpPr>
              <p:cNvPr id="94" name="Rectangle 93">
                <a:extLst>
                  <a:ext uri="{FF2B5EF4-FFF2-40B4-BE49-F238E27FC236}">
                    <a16:creationId xmlns:a16="http://schemas.microsoft.com/office/drawing/2014/main" id="{39E5EBA7-924D-EF2C-A255-7B4B3B3C4FC4}"/>
                  </a:ext>
                </a:extLst>
              </p:cNvPr>
              <p:cNvSpPr/>
              <p:nvPr userDrawn="1"/>
            </p:nvSpPr>
            <p:spPr>
              <a:xfrm>
                <a:off x="12817101" y="7100883"/>
                <a:ext cx="382428" cy="358001"/>
              </a:xfrm>
              <a:prstGeom prst="rect">
                <a:avLst/>
              </a:prstGeom>
              <a:solidFill>
                <a:srgbClr val="F900D3"/>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1</a:t>
                </a:r>
              </a:p>
            </p:txBody>
          </p:sp>
          <p:sp>
            <p:nvSpPr>
              <p:cNvPr id="95" name="Rectangle 94">
                <a:extLst>
                  <a:ext uri="{FF2B5EF4-FFF2-40B4-BE49-F238E27FC236}">
                    <a16:creationId xmlns:a16="http://schemas.microsoft.com/office/drawing/2014/main" id="{24BF95EC-F08B-B6C7-7FA9-B48C6A1E80F2}"/>
                  </a:ext>
                </a:extLst>
              </p:cNvPr>
              <p:cNvSpPr/>
              <p:nvPr userDrawn="1"/>
            </p:nvSpPr>
            <p:spPr>
              <a:xfrm>
                <a:off x="14298738" y="7100883"/>
                <a:ext cx="382428" cy="358001"/>
              </a:xfrm>
              <a:prstGeom prst="rect">
                <a:avLst/>
              </a:prstGeom>
              <a:solidFill>
                <a:srgbClr val="FFC7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4</a:t>
                </a:r>
              </a:p>
            </p:txBody>
          </p:sp>
          <p:sp>
            <p:nvSpPr>
              <p:cNvPr id="96" name="Rectangle 95">
                <a:extLst>
                  <a:ext uri="{FF2B5EF4-FFF2-40B4-BE49-F238E27FC236}">
                    <a16:creationId xmlns:a16="http://schemas.microsoft.com/office/drawing/2014/main" id="{8855FCE3-9748-0F17-E35A-AE22C0B621D0}"/>
                  </a:ext>
                </a:extLst>
              </p:cNvPr>
              <p:cNvSpPr/>
              <p:nvPr userDrawn="1"/>
            </p:nvSpPr>
            <p:spPr>
              <a:xfrm>
                <a:off x="15286496" y="7100883"/>
                <a:ext cx="382428" cy="358001"/>
              </a:xfrm>
              <a:prstGeom prst="rect">
                <a:avLst/>
              </a:prstGeom>
              <a:solidFill>
                <a:srgbClr val="00FCB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6</a:t>
                </a:r>
              </a:p>
            </p:txBody>
          </p:sp>
          <p:sp>
            <p:nvSpPr>
              <p:cNvPr id="97" name="Rectangle 96">
                <a:extLst>
                  <a:ext uri="{FF2B5EF4-FFF2-40B4-BE49-F238E27FC236}">
                    <a16:creationId xmlns:a16="http://schemas.microsoft.com/office/drawing/2014/main" id="{09ECF99B-0C24-5B91-E870-13347AC04FB1}"/>
                  </a:ext>
                </a:extLst>
              </p:cNvPr>
              <p:cNvSpPr/>
              <p:nvPr userDrawn="1"/>
            </p:nvSpPr>
            <p:spPr>
              <a:xfrm>
                <a:off x="13804859" y="7100883"/>
                <a:ext cx="382428" cy="358001"/>
              </a:xfrm>
              <a:prstGeom prst="rect">
                <a:avLst/>
              </a:prstGeom>
              <a:solidFill>
                <a:srgbClr val="1DD56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3</a:t>
                </a:r>
              </a:p>
            </p:txBody>
          </p:sp>
          <p:sp>
            <p:nvSpPr>
              <p:cNvPr id="98" name="Rectangle 97">
                <a:extLst>
                  <a:ext uri="{FF2B5EF4-FFF2-40B4-BE49-F238E27FC236}">
                    <a16:creationId xmlns:a16="http://schemas.microsoft.com/office/drawing/2014/main" id="{AD22B21C-293E-9585-A105-2208A7569426}"/>
                  </a:ext>
                </a:extLst>
              </p:cNvPr>
              <p:cNvSpPr/>
              <p:nvPr userDrawn="1"/>
            </p:nvSpPr>
            <p:spPr>
              <a:xfrm>
                <a:off x="13310980" y="7100883"/>
                <a:ext cx="382428" cy="358001"/>
              </a:xfrm>
              <a:prstGeom prst="rect">
                <a:avLst/>
              </a:prstGeom>
              <a:solidFill>
                <a:srgbClr val="00E8FA"/>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2</a:t>
                </a:r>
              </a:p>
            </p:txBody>
          </p:sp>
          <p:sp>
            <p:nvSpPr>
              <p:cNvPr id="99" name="Rectangle 98">
                <a:extLst>
                  <a:ext uri="{FF2B5EF4-FFF2-40B4-BE49-F238E27FC236}">
                    <a16:creationId xmlns:a16="http://schemas.microsoft.com/office/drawing/2014/main" id="{2892D20F-9755-C283-8644-BD52E28B1F29}"/>
                  </a:ext>
                </a:extLst>
              </p:cNvPr>
              <p:cNvSpPr/>
              <p:nvPr userDrawn="1"/>
            </p:nvSpPr>
            <p:spPr>
              <a:xfrm>
                <a:off x="14792617" y="7100883"/>
                <a:ext cx="382428" cy="358001"/>
              </a:xfrm>
              <a:prstGeom prst="rect">
                <a:avLst/>
              </a:prstGeom>
              <a:solidFill>
                <a:srgbClr val="B741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5</a:t>
                </a:r>
              </a:p>
            </p:txBody>
          </p:sp>
          <p:sp>
            <p:nvSpPr>
              <p:cNvPr id="100" name="Rectangle 99">
                <a:extLst>
                  <a:ext uri="{FF2B5EF4-FFF2-40B4-BE49-F238E27FC236}">
                    <a16:creationId xmlns:a16="http://schemas.microsoft.com/office/drawing/2014/main" id="{D10598D4-89A6-C2DA-883B-9E64BFA03A00}"/>
                  </a:ext>
                </a:extLst>
              </p:cNvPr>
              <p:cNvSpPr/>
              <p:nvPr userDrawn="1"/>
            </p:nvSpPr>
            <p:spPr>
              <a:xfrm>
                <a:off x="15780375" y="7100883"/>
                <a:ext cx="382428" cy="358001"/>
              </a:xfrm>
              <a:prstGeom prst="rect">
                <a:avLst/>
              </a:prstGeom>
              <a:solidFill>
                <a:srgbClr val="FF8A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7</a:t>
                </a:r>
              </a:p>
            </p:txBody>
          </p:sp>
          <p:sp>
            <p:nvSpPr>
              <p:cNvPr id="101" name="Rectangle 100">
                <a:extLst>
                  <a:ext uri="{FF2B5EF4-FFF2-40B4-BE49-F238E27FC236}">
                    <a16:creationId xmlns:a16="http://schemas.microsoft.com/office/drawing/2014/main" id="{F15EE1BB-F0B1-624E-6CF1-5C1506FD0FA9}"/>
                  </a:ext>
                </a:extLst>
              </p:cNvPr>
              <p:cNvSpPr/>
              <p:nvPr userDrawn="1"/>
            </p:nvSpPr>
            <p:spPr>
              <a:xfrm>
                <a:off x="16768131" y="7100883"/>
                <a:ext cx="382428" cy="358001"/>
              </a:xfrm>
              <a:prstGeom prst="rect">
                <a:avLst/>
              </a:prstGeom>
              <a:solidFill>
                <a:srgbClr val="F52C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9</a:t>
                </a:r>
              </a:p>
            </p:txBody>
          </p:sp>
          <p:sp>
            <p:nvSpPr>
              <p:cNvPr id="102" name="Rectangle 101">
                <a:extLst>
                  <a:ext uri="{FF2B5EF4-FFF2-40B4-BE49-F238E27FC236}">
                    <a16:creationId xmlns:a16="http://schemas.microsoft.com/office/drawing/2014/main" id="{66A24B20-98C9-3665-8857-49EAD655C110}"/>
                  </a:ext>
                </a:extLst>
              </p:cNvPr>
              <p:cNvSpPr/>
              <p:nvPr userDrawn="1"/>
            </p:nvSpPr>
            <p:spPr>
              <a:xfrm>
                <a:off x="16274254" y="7100883"/>
                <a:ext cx="382428" cy="358001"/>
              </a:xfrm>
              <a:prstGeom prst="rect">
                <a:avLst/>
              </a:prstGeom>
              <a:solidFill>
                <a:srgbClr val="00A3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8</a:t>
                </a:r>
              </a:p>
            </p:txBody>
          </p:sp>
        </p:grpSp>
      </p:grpSp>
    </p:spTree>
    <p:extLst>
      <p:ext uri="{BB962C8B-B14F-4D97-AF65-F5344CB8AC3E}">
        <p14:creationId xmlns:p14="http://schemas.microsoft.com/office/powerpoint/2010/main" val="30700177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6129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ver_1_one_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hidden="1">
            <a:extLst>
              <a:ext uri="{FF2B5EF4-FFF2-40B4-BE49-F238E27FC236}">
                <a16:creationId xmlns:a16="http://schemas.microsoft.com/office/drawing/2014/main" id="{7EFE2CDD-AD51-E6E6-9801-DCCED248B4B9}"/>
              </a:ext>
            </a:extLst>
          </p:cNvPr>
          <p:cNvSpPr>
            <a:spLocks noGrp="1"/>
          </p:cNvSpPr>
          <p:nvPr>
            <p:ph type="body" sz="quarter" idx="23" hasCustomPrompt="1"/>
          </p:nvPr>
        </p:nvSpPr>
        <p:spPr>
          <a:xfrm>
            <a:off x="0" y="3240042"/>
            <a:ext cx="1739348" cy="586696"/>
          </a:xfrm>
          <a:prstGeom prst="rect">
            <a:avLst/>
          </a:prstGeom>
          <a:blipFill>
            <a:blip r:embed="rId3"/>
            <a:stretch>
              <a:fillRect/>
            </a:stretch>
          </a:blipFill>
        </p:spPr>
        <p:txBody>
          <a:bodyPr/>
          <a:lstStyle>
            <a:lvl1pPr>
              <a:defRPr sz="2800" b="0" i="0"/>
            </a:lvl1pPr>
          </a:lstStyle>
          <a:p>
            <a:pPr lvl="0"/>
            <a:r>
              <a:rPr lang="en-US"/>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5106989"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tx1"/>
                </a:solidFill>
                <a:latin typeface="+mn-lt"/>
                <a:cs typeface="Segoe UI" panose="020B0502040204020203" pitchFamily="34" charset="0"/>
              </a:defRPr>
            </a:lvl1pPr>
            <a:lvl2pPr>
              <a:defRPr sz="1000" b="0" i="0">
                <a:solidFill>
                  <a:schemeClr val="tx1"/>
                </a:solidFill>
                <a:latin typeface="+mj-lt"/>
                <a:cs typeface="Segoe UI" panose="020B0502040204020203" pitchFamily="34" charset="0"/>
              </a:defRPr>
            </a:lvl2pPr>
            <a:lvl3pPr>
              <a:defRPr sz="1000" b="0" i="0">
                <a:solidFill>
                  <a:schemeClr val="tx1"/>
                </a:solidFill>
                <a:latin typeface="+mj-lt"/>
                <a:cs typeface="Segoe UI" panose="020B0502040204020203" pitchFamily="34" charset="0"/>
              </a:defRPr>
            </a:lvl3pPr>
            <a:lvl4pPr>
              <a:defRPr sz="1000" b="0" i="0">
                <a:solidFill>
                  <a:schemeClr val="tx1"/>
                </a:solidFill>
                <a:latin typeface="+mj-lt"/>
                <a:cs typeface="Segoe UI" panose="020B0502040204020203" pitchFamily="34" charset="0"/>
              </a:defRPr>
            </a:lvl4pPr>
            <a:lvl5pPr>
              <a:defRPr sz="1000" b="0" i="0">
                <a:solidFill>
                  <a:schemeClr val="tx1"/>
                </a:solidFill>
                <a:latin typeface="+mj-lt"/>
                <a:cs typeface="Segoe UI" panose="020B0502040204020203" pitchFamily="34" charset="0"/>
              </a:defRPr>
            </a:lvl5pPr>
            <a:lvl6pPr>
              <a:defRPr sz="1000" b="0" i="0">
                <a:solidFill>
                  <a:schemeClr val="tx1"/>
                </a:solidFill>
                <a:latin typeface="+mj-lt"/>
                <a:cs typeface="Segoe UI" panose="020B0502040204020203" pitchFamily="34" charset="0"/>
              </a:defRPr>
            </a:lvl6pPr>
            <a:lvl7pPr>
              <a:defRPr sz="1000" b="0" i="0">
                <a:solidFill>
                  <a:schemeClr val="tx1"/>
                </a:solidFill>
                <a:latin typeface="+mj-lt"/>
                <a:cs typeface="Segoe UI" panose="020B0502040204020203" pitchFamily="34" charset="0"/>
              </a:defRPr>
            </a:lvl7pPr>
            <a:lvl8pPr>
              <a:defRPr sz="1000" b="0" i="0">
                <a:solidFill>
                  <a:schemeClr val="tx1"/>
                </a:solidFill>
                <a:latin typeface="+mj-lt"/>
                <a:cs typeface="Segoe UI" panose="020B0502040204020203" pitchFamily="34" charset="0"/>
              </a:defRPr>
            </a:lvl8pPr>
            <a:lvl9pPr marL="0">
              <a:defRPr sz="1000" b="0" i="0">
                <a:solidFill>
                  <a:schemeClr val="tx1"/>
                </a:solidFill>
                <a:latin typeface="+mj-lt"/>
                <a:cs typeface="Segoe UI" panose="020B0502040204020203" pitchFamily="34" charset="0"/>
              </a:defRPr>
            </a:lvl9pPr>
          </a:lstStyle>
          <a:p>
            <a:pPr indent="-3200400"/>
            <a:endParaRPr lang="en-US"/>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nchorCtr="0"/>
          <a:lstStyle>
            <a:lvl1pPr>
              <a:defRPr sz="3200" b="1">
                <a:solidFill>
                  <a:schemeClr val="tx1"/>
                </a:solidFill>
              </a:defRPr>
            </a:lvl1pPr>
          </a:lstStyle>
          <a:p>
            <a:r>
              <a:rPr lang="en-US"/>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p:nvPr>
        </p:nvSpPr>
        <p:spPr>
          <a:xfrm>
            <a:off x="6533804" y="850900"/>
            <a:ext cx="5658196" cy="5716588"/>
          </a:xfrm>
          <a:prstGeom prst="rect">
            <a:avLst/>
          </a:prstGeom>
          <a:solidFill>
            <a:schemeClr val="accent2">
              <a:lumMod val="40000"/>
              <a:lumOff val="60000"/>
            </a:schemeClr>
          </a:solidFill>
        </p:spPr>
        <p:txBody>
          <a:bodyPr tIns="2377440"/>
          <a:lstStyle>
            <a:lvl1pPr algn="ctr">
              <a:defRPr b="0" i="0"/>
            </a:lvl1pPr>
          </a:lstStyle>
          <a:p>
            <a:r>
              <a:rPr lang="en-US"/>
              <a:t>Click icon to add picture</a:t>
            </a:r>
          </a:p>
        </p:txBody>
      </p:sp>
      <p:pic>
        <p:nvPicPr>
          <p:cNvPr id="8" name="Picture 7" descr="A blue text on a black background&#10;&#10;Description automatically generated">
            <a:extLst>
              <a:ext uri="{FF2B5EF4-FFF2-40B4-BE49-F238E27FC236}">
                <a16:creationId xmlns:a16="http://schemas.microsoft.com/office/drawing/2014/main" id="{99C39A15-0DF8-9994-72A6-86C1C28A16AA}"/>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6" y="350432"/>
            <a:ext cx="2330449" cy="487768"/>
          </a:xfrm>
          <a:prstGeom prst="rect">
            <a:avLst/>
          </a:prstGeom>
        </p:spPr>
      </p:pic>
    </p:spTree>
    <p:extLst>
      <p:ext uri="{BB962C8B-B14F-4D97-AF65-F5344CB8AC3E}">
        <p14:creationId xmlns:p14="http://schemas.microsoft.com/office/powerpoint/2010/main" val="39996550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ver_2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EFE2CDD-AD51-E6E6-9801-DCCED248B4B9}"/>
              </a:ext>
            </a:extLst>
          </p:cNvPr>
          <p:cNvSpPr>
            <a:spLocks noGrp="1"/>
          </p:cNvSpPr>
          <p:nvPr>
            <p:ph type="body" sz="quarter" idx="23" hasCustomPrompt="1"/>
          </p:nvPr>
        </p:nvSpPr>
        <p:spPr>
          <a:xfrm>
            <a:off x="0" y="3240042"/>
            <a:ext cx="1739348" cy="586696"/>
          </a:xfrm>
          <a:prstGeom prst="rect">
            <a:avLst/>
          </a:prstGeom>
          <a:blipFill>
            <a:blip r:embed="rId3"/>
            <a:stretch>
              <a:fillRect/>
            </a:stretch>
          </a:blipFill>
        </p:spPr>
        <p:txBody>
          <a:bodyPr/>
          <a:lstStyle>
            <a:lvl1pPr>
              <a:defRPr sz="2800" b="0" i="0"/>
            </a:lvl1pPr>
          </a:lstStyle>
          <a:p>
            <a:pPr lvl="0"/>
            <a:r>
              <a:rPr lang="en-US"/>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5106989"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nchorCtr="0"/>
          <a:lstStyle>
            <a:lvl1pPr>
              <a:defRPr sz="3200" b="1">
                <a:solidFill>
                  <a:schemeClr val="tx1"/>
                </a:solidFill>
              </a:defRPr>
            </a:lvl1pPr>
          </a:lstStyle>
          <a:p>
            <a:r>
              <a:rPr lang="en-US"/>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hasCustomPrompt="1"/>
          </p:nvPr>
        </p:nvSpPr>
        <p:spPr>
          <a:xfrm>
            <a:off x="6520070" y="850900"/>
            <a:ext cx="5671929" cy="5716588"/>
          </a:xfrm>
          <a:prstGeom prst="rect">
            <a:avLst/>
          </a:prstGeom>
          <a:solidFill>
            <a:schemeClr val="accent2">
              <a:lumMod val="40000"/>
              <a:lumOff val="60000"/>
            </a:schemeClr>
          </a:solidFill>
        </p:spPr>
        <p:txBody>
          <a:bodyPr tIns="2377440"/>
          <a:lstStyle>
            <a:lvl1pPr marL="0" marR="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b="0" i="0"/>
            </a:lvl1pPr>
          </a:lstStyle>
          <a:p>
            <a:r>
              <a:rPr lang="en-US"/>
              <a:t>Industry/Functional image</a:t>
            </a:r>
          </a:p>
        </p:txBody>
      </p:sp>
      <p:pic>
        <p:nvPicPr>
          <p:cNvPr id="8" name="Picture 7" descr="A blue text on a black background&#10;&#10;Description automatically generated">
            <a:extLst>
              <a:ext uri="{FF2B5EF4-FFF2-40B4-BE49-F238E27FC236}">
                <a16:creationId xmlns:a16="http://schemas.microsoft.com/office/drawing/2014/main" id="{99C39A15-0DF8-9994-72A6-86C1C28A16AA}"/>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6" y="350432"/>
            <a:ext cx="2330449" cy="487768"/>
          </a:xfrm>
          <a:prstGeom prst="rect">
            <a:avLst/>
          </a:prstGeom>
        </p:spPr>
      </p:pic>
      <p:sp>
        <p:nvSpPr>
          <p:cNvPr id="3" name="Picture Placeholder 4">
            <a:extLst>
              <a:ext uri="{FF2B5EF4-FFF2-40B4-BE49-F238E27FC236}">
                <a16:creationId xmlns:a16="http://schemas.microsoft.com/office/drawing/2014/main" id="{F99506F5-C36B-BDCD-CE02-3F42CD24047A}"/>
              </a:ext>
            </a:extLst>
          </p:cNvPr>
          <p:cNvSpPr>
            <a:spLocks noGrp="1"/>
          </p:cNvSpPr>
          <p:nvPr>
            <p:ph type="pic" sz="quarter" idx="24" hasCustomPrompt="1"/>
          </p:nvPr>
        </p:nvSpPr>
        <p:spPr>
          <a:xfrm>
            <a:off x="5659161" y="2385392"/>
            <a:ext cx="2471048" cy="2445026"/>
          </a:xfrm>
          <a:prstGeom prst="rect">
            <a:avLst/>
          </a:prstGeom>
          <a:solidFill>
            <a:schemeClr val="accent2">
              <a:lumMod val="60000"/>
              <a:lumOff val="40000"/>
            </a:schemeClr>
          </a:solidFill>
        </p:spPr>
        <p:txBody>
          <a:bodyPr tIns="731520"/>
          <a:lstStyle>
            <a:lvl1pPr algn="ctr">
              <a:defRPr b="0" i="0"/>
            </a:lvl1pPr>
          </a:lstStyle>
          <a:p>
            <a:r>
              <a:rPr lang="en-US"/>
              <a:t>Abstract image</a:t>
            </a:r>
          </a:p>
        </p:txBody>
      </p:sp>
      <p:sp>
        <p:nvSpPr>
          <p:cNvPr id="4" name="Text Placeholder 9">
            <a:extLst>
              <a:ext uri="{FF2B5EF4-FFF2-40B4-BE49-F238E27FC236}">
                <a16:creationId xmlns:a16="http://schemas.microsoft.com/office/drawing/2014/main" id="{845B44C6-F3CB-894B-D0B3-F4A1C0020735}"/>
              </a:ext>
            </a:extLst>
          </p:cNvPr>
          <p:cNvSpPr>
            <a:spLocks noGrp="1"/>
          </p:cNvSpPr>
          <p:nvPr>
            <p:ph type="body" sz="quarter" idx="25" hasCustomPrompt="1"/>
          </p:nvPr>
        </p:nvSpPr>
        <p:spPr>
          <a:xfrm rot="10800000" flipH="1">
            <a:off x="5824330" y="1413507"/>
            <a:ext cx="1461053" cy="1419143"/>
          </a:xfrm>
          <a:prstGeom prst="rect">
            <a:avLst/>
          </a:prstGeom>
          <a:blipFill>
            <a:blip r:embed="rId5"/>
            <a:stretch>
              <a:fillRect/>
            </a:stretch>
          </a:blipFill>
        </p:spPr>
        <p:txBody>
          <a:bodyPr/>
          <a:lstStyle>
            <a:lvl1pPr>
              <a:defRPr sz="2800" b="0" i="0"/>
            </a:lvl1pPr>
          </a:lstStyle>
          <a:p>
            <a:pPr lvl="0"/>
            <a:r>
              <a:rPr lang="en-US"/>
              <a:t> </a:t>
            </a:r>
          </a:p>
        </p:txBody>
      </p:sp>
      <p:sp>
        <p:nvSpPr>
          <p:cNvPr id="6" name="Date Placeholder 6">
            <a:extLst>
              <a:ext uri="{FF2B5EF4-FFF2-40B4-BE49-F238E27FC236}">
                <a16:creationId xmlns:a16="http://schemas.microsoft.com/office/drawing/2014/main" id="{C837860D-6193-C889-B5AE-2132DFF5FA2A}"/>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tx1"/>
                </a:solidFill>
                <a:latin typeface="+mn-lt"/>
                <a:cs typeface="Segoe UI" panose="020B0502040204020203" pitchFamily="34" charset="0"/>
              </a:defRPr>
            </a:lvl1pPr>
            <a:lvl2pPr>
              <a:defRPr sz="1000" b="0" i="0">
                <a:solidFill>
                  <a:schemeClr val="tx1"/>
                </a:solidFill>
                <a:latin typeface="+mj-lt"/>
                <a:cs typeface="Segoe UI" panose="020B0502040204020203" pitchFamily="34" charset="0"/>
              </a:defRPr>
            </a:lvl2pPr>
            <a:lvl3pPr>
              <a:defRPr sz="1000" b="0" i="0">
                <a:solidFill>
                  <a:schemeClr val="tx1"/>
                </a:solidFill>
                <a:latin typeface="+mj-lt"/>
                <a:cs typeface="Segoe UI" panose="020B0502040204020203" pitchFamily="34" charset="0"/>
              </a:defRPr>
            </a:lvl3pPr>
            <a:lvl4pPr>
              <a:defRPr sz="1000" b="0" i="0">
                <a:solidFill>
                  <a:schemeClr val="tx1"/>
                </a:solidFill>
                <a:latin typeface="+mj-lt"/>
                <a:cs typeface="Segoe UI" panose="020B0502040204020203" pitchFamily="34" charset="0"/>
              </a:defRPr>
            </a:lvl4pPr>
            <a:lvl5pPr>
              <a:defRPr sz="1000" b="0" i="0">
                <a:solidFill>
                  <a:schemeClr val="tx1"/>
                </a:solidFill>
                <a:latin typeface="+mj-lt"/>
                <a:cs typeface="Segoe UI" panose="020B0502040204020203" pitchFamily="34" charset="0"/>
              </a:defRPr>
            </a:lvl5pPr>
            <a:lvl6pPr>
              <a:defRPr sz="1000" b="0" i="0">
                <a:solidFill>
                  <a:schemeClr val="tx1"/>
                </a:solidFill>
                <a:latin typeface="+mj-lt"/>
                <a:cs typeface="Segoe UI" panose="020B0502040204020203" pitchFamily="34" charset="0"/>
              </a:defRPr>
            </a:lvl6pPr>
            <a:lvl7pPr>
              <a:defRPr sz="1000" b="0" i="0">
                <a:solidFill>
                  <a:schemeClr val="tx1"/>
                </a:solidFill>
                <a:latin typeface="+mj-lt"/>
                <a:cs typeface="Segoe UI" panose="020B0502040204020203" pitchFamily="34" charset="0"/>
              </a:defRPr>
            </a:lvl7pPr>
            <a:lvl8pPr>
              <a:defRPr sz="1000" b="0" i="0">
                <a:solidFill>
                  <a:schemeClr val="tx1"/>
                </a:solidFill>
                <a:latin typeface="+mj-lt"/>
                <a:cs typeface="Segoe UI" panose="020B0502040204020203" pitchFamily="34" charset="0"/>
              </a:defRPr>
            </a:lvl8pPr>
            <a:lvl9pPr marL="0">
              <a:defRPr sz="1000" b="0" i="0">
                <a:solidFill>
                  <a:schemeClr val="tx1"/>
                </a:solidFill>
                <a:latin typeface="+mj-lt"/>
                <a:cs typeface="Segoe UI" panose="020B0502040204020203" pitchFamily="34" charset="0"/>
              </a:defRPr>
            </a:lvl9pPr>
          </a:lstStyle>
          <a:p>
            <a:pPr indent="-3200400"/>
            <a:endParaRPr lang="en-US"/>
          </a:p>
        </p:txBody>
      </p:sp>
    </p:spTree>
    <p:extLst>
      <p:ext uri="{BB962C8B-B14F-4D97-AF65-F5344CB8AC3E}">
        <p14:creationId xmlns:p14="http://schemas.microsoft.com/office/powerpoint/2010/main" val="18171817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ver_3_one_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4884945"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bg1"/>
                </a:solidFill>
                <a:latin typeface="+mn-lt"/>
                <a:cs typeface="Segoe UI" panose="020B0502040204020203" pitchFamily="34" charset="0"/>
              </a:defRPr>
            </a:lvl1pPr>
            <a:lvl2pPr>
              <a:defRPr sz="1000" b="0" i="0">
                <a:solidFill>
                  <a:schemeClr val="bg1"/>
                </a:solidFill>
                <a:latin typeface="+mj-lt"/>
                <a:cs typeface="Segoe UI" panose="020B0502040204020203" pitchFamily="34" charset="0"/>
              </a:defRPr>
            </a:lvl2pPr>
            <a:lvl3pPr>
              <a:defRPr sz="1000" b="0" i="0">
                <a:solidFill>
                  <a:schemeClr val="bg1"/>
                </a:solidFill>
                <a:latin typeface="+mj-lt"/>
                <a:cs typeface="Segoe UI" panose="020B0502040204020203" pitchFamily="34" charset="0"/>
              </a:defRPr>
            </a:lvl3pPr>
            <a:lvl4pPr>
              <a:defRPr sz="1000" b="0" i="0">
                <a:solidFill>
                  <a:schemeClr val="bg1"/>
                </a:solidFill>
                <a:latin typeface="+mj-lt"/>
                <a:cs typeface="Segoe UI" panose="020B0502040204020203" pitchFamily="34" charset="0"/>
              </a:defRPr>
            </a:lvl4pPr>
            <a:lvl5pPr>
              <a:defRPr sz="1000" b="0" i="0">
                <a:solidFill>
                  <a:schemeClr val="bg1"/>
                </a:solidFill>
                <a:latin typeface="+mj-lt"/>
                <a:cs typeface="Segoe UI" panose="020B0502040204020203" pitchFamily="34" charset="0"/>
              </a:defRPr>
            </a:lvl5pPr>
            <a:lvl6pPr>
              <a:defRPr sz="1000" b="0" i="0">
                <a:solidFill>
                  <a:schemeClr val="bg1"/>
                </a:solidFill>
                <a:latin typeface="+mj-lt"/>
                <a:cs typeface="Segoe UI" panose="020B0502040204020203" pitchFamily="34" charset="0"/>
              </a:defRPr>
            </a:lvl6pPr>
            <a:lvl7pPr>
              <a:defRPr sz="1000" b="0" i="0">
                <a:solidFill>
                  <a:schemeClr val="bg1"/>
                </a:solidFill>
                <a:latin typeface="+mj-lt"/>
                <a:cs typeface="Segoe UI" panose="020B0502040204020203" pitchFamily="34" charset="0"/>
              </a:defRPr>
            </a:lvl7pPr>
            <a:lvl8pPr>
              <a:defRPr sz="1000" b="0" i="0">
                <a:solidFill>
                  <a:schemeClr val="bg1"/>
                </a:solidFill>
                <a:latin typeface="+mj-lt"/>
                <a:cs typeface="Segoe UI" panose="020B0502040204020203" pitchFamily="34" charset="0"/>
              </a:defRPr>
            </a:lvl8pPr>
            <a:lvl9pPr marL="0">
              <a:defRPr sz="1000" b="0" i="0">
                <a:solidFill>
                  <a:schemeClr val="bg1"/>
                </a:solidFill>
                <a:latin typeface="+mj-lt"/>
                <a:cs typeface="Segoe UI" panose="020B0502040204020203" pitchFamily="34" charset="0"/>
              </a:defRPr>
            </a:lvl9pPr>
          </a:lstStyle>
          <a:p>
            <a:pPr indent="-3200400"/>
            <a:endParaRPr lang="en-US"/>
          </a:p>
        </p:txBody>
      </p:sp>
      <p:sp>
        <p:nvSpPr>
          <p:cNvPr id="2" name="Title 1">
            <a:extLst>
              <a:ext uri="{FF2B5EF4-FFF2-40B4-BE49-F238E27FC236}">
                <a16:creationId xmlns:a16="http://schemas.microsoft.com/office/drawing/2014/main" id="{196F23F1-5869-8449-565A-421EC2586840}"/>
              </a:ext>
            </a:extLst>
          </p:cNvPr>
          <p:cNvSpPr>
            <a:spLocks noGrp="1"/>
          </p:cNvSpPr>
          <p:nvPr>
            <p:ph type="title"/>
          </p:nvPr>
        </p:nvSpPr>
        <p:spPr>
          <a:xfrm>
            <a:off x="460376" y="1412875"/>
            <a:ext cx="4889499" cy="2333625"/>
          </a:xfrm>
          <a:prstGeom prst="rect">
            <a:avLst/>
          </a:prstGeom>
        </p:spPr>
        <p:txBody>
          <a:bodyPr anchor="b" anchorCtr="0"/>
          <a:lstStyle>
            <a:lvl1pPr>
              <a:defRPr sz="3200" b="1">
                <a:solidFill>
                  <a:schemeClr val="bg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p:nvPr>
        </p:nvSpPr>
        <p:spPr>
          <a:xfrm>
            <a:off x="5572126" y="1152939"/>
            <a:ext cx="4317309" cy="4343400"/>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pic>
        <p:nvPicPr>
          <p:cNvPr id="8" name="Picture 7">
            <a:extLst>
              <a:ext uri="{FF2B5EF4-FFF2-40B4-BE49-F238E27FC236}">
                <a16:creationId xmlns:a16="http://schemas.microsoft.com/office/drawing/2014/main" id="{99C39A15-0DF8-9994-72A6-86C1C28A16AA}"/>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7" y="350432"/>
            <a:ext cx="2330447" cy="487768"/>
          </a:xfrm>
          <a:prstGeom prst="rect">
            <a:avLst/>
          </a:prstGeom>
        </p:spPr>
      </p:pic>
    </p:spTree>
    <p:extLst>
      <p:ext uri="{BB962C8B-B14F-4D97-AF65-F5344CB8AC3E}">
        <p14:creationId xmlns:p14="http://schemas.microsoft.com/office/powerpoint/2010/main" val="12439256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ver_4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048FDED8-DCD9-3558-37D8-CCBB536FED5D}"/>
              </a:ext>
            </a:extLst>
          </p:cNvPr>
          <p:cNvSpPr>
            <a:spLocks noGrp="1"/>
          </p:cNvSpPr>
          <p:nvPr>
            <p:ph type="pic" sz="quarter" idx="22" hasCustomPrompt="1"/>
          </p:nvPr>
        </p:nvSpPr>
        <p:spPr>
          <a:xfrm>
            <a:off x="5572127" y="1152939"/>
            <a:ext cx="4317308" cy="4343400"/>
          </a:xfrm>
          <a:prstGeom prst="rect">
            <a:avLst/>
          </a:prstGeom>
          <a:solidFill>
            <a:schemeClr val="accent2">
              <a:lumMod val="40000"/>
              <a:lumOff val="60000"/>
            </a:schemeClr>
          </a:solidFill>
        </p:spPr>
        <p:txBody>
          <a:bodyPr tIns="1737360"/>
          <a:lstStyle>
            <a:lvl1pPr algn="ctr">
              <a:defRPr b="0" i="0"/>
            </a:lvl1p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lang="en-US"/>
              <a:t>Industry/Functional image</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4885430"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Picture Placeholder 4">
            <a:extLst>
              <a:ext uri="{FF2B5EF4-FFF2-40B4-BE49-F238E27FC236}">
                <a16:creationId xmlns:a16="http://schemas.microsoft.com/office/drawing/2014/main" id="{F99506F5-C36B-BDCD-CE02-3F42CD24047A}"/>
              </a:ext>
            </a:extLst>
          </p:cNvPr>
          <p:cNvSpPr>
            <a:spLocks noGrp="1"/>
          </p:cNvSpPr>
          <p:nvPr>
            <p:ph type="pic" sz="quarter" idx="24" hasCustomPrompt="1"/>
          </p:nvPr>
        </p:nvSpPr>
        <p:spPr>
          <a:xfrm>
            <a:off x="10110995" y="2574234"/>
            <a:ext cx="1788490" cy="1779793"/>
          </a:xfrm>
          <a:prstGeom prst="rect">
            <a:avLst/>
          </a:prstGeom>
          <a:solidFill>
            <a:schemeClr val="accent2">
              <a:lumMod val="60000"/>
              <a:lumOff val="40000"/>
            </a:schemeClr>
          </a:solidFill>
        </p:spPr>
        <p:txBody>
          <a:bodyPr tIns="457200"/>
          <a:lstStyle>
            <a:lvl1pPr algn="ctr">
              <a:defRPr b="0" i="0"/>
            </a:lvl1pPr>
          </a:lstStyle>
          <a:p>
            <a:r>
              <a:rPr lang="en-US"/>
              <a:t>Abstract image</a:t>
            </a:r>
          </a:p>
        </p:txBody>
      </p:sp>
      <p:pic>
        <p:nvPicPr>
          <p:cNvPr id="6" name="Picture 5">
            <a:extLst>
              <a:ext uri="{FF2B5EF4-FFF2-40B4-BE49-F238E27FC236}">
                <a16:creationId xmlns:a16="http://schemas.microsoft.com/office/drawing/2014/main" id="{DC409858-A590-A05A-F7E6-371FAFEE5D1F}"/>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7" y="350432"/>
            <a:ext cx="2330447" cy="487768"/>
          </a:xfrm>
          <a:prstGeom prst="rect">
            <a:avLst/>
          </a:prstGeom>
        </p:spPr>
      </p:pic>
      <p:sp>
        <p:nvSpPr>
          <p:cNvPr id="9" name="Date Placeholder 6">
            <a:extLst>
              <a:ext uri="{FF2B5EF4-FFF2-40B4-BE49-F238E27FC236}">
                <a16:creationId xmlns:a16="http://schemas.microsoft.com/office/drawing/2014/main" id="{A0C19E44-9FDD-32D2-CA44-9C517501348A}"/>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bg1"/>
                </a:solidFill>
                <a:latin typeface="+mn-lt"/>
                <a:cs typeface="Segoe UI" panose="020B0502040204020203" pitchFamily="34" charset="0"/>
              </a:defRPr>
            </a:lvl1pPr>
            <a:lvl2pPr>
              <a:defRPr sz="1000" b="0" i="0">
                <a:solidFill>
                  <a:schemeClr val="bg1"/>
                </a:solidFill>
                <a:latin typeface="+mj-lt"/>
                <a:cs typeface="Segoe UI" panose="020B0502040204020203" pitchFamily="34" charset="0"/>
              </a:defRPr>
            </a:lvl2pPr>
            <a:lvl3pPr>
              <a:defRPr sz="1000" b="0" i="0">
                <a:solidFill>
                  <a:schemeClr val="bg1"/>
                </a:solidFill>
                <a:latin typeface="+mj-lt"/>
                <a:cs typeface="Segoe UI" panose="020B0502040204020203" pitchFamily="34" charset="0"/>
              </a:defRPr>
            </a:lvl3pPr>
            <a:lvl4pPr>
              <a:defRPr sz="1000" b="0" i="0">
                <a:solidFill>
                  <a:schemeClr val="bg1"/>
                </a:solidFill>
                <a:latin typeface="+mj-lt"/>
                <a:cs typeface="Segoe UI" panose="020B0502040204020203" pitchFamily="34" charset="0"/>
              </a:defRPr>
            </a:lvl4pPr>
            <a:lvl5pPr>
              <a:defRPr sz="1000" b="0" i="0">
                <a:solidFill>
                  <a:schemeClr val="bg1"/>
                </a:solidFill>
                <a:latin typeface="+mj-lt"/>
                <a:cs typeface="Segoe UI" panose="020B0502040204020203" pitchFamily="34" charset="0"/>
              </a:defRPr>
            </a:lvl5pPr>
            <a:lvl6pPr>
              <a:defRPr sz="1000" b="0" i="0">
                <a:solidFill>
                  <a:schemeClr val="bg1"/>
                </a:solidFill>
                <a:latin typeface="+mj-lt"/>
                <a:cs typeface="Segoe UI" panose="020B0502040204020203" pitchFamily="34" charset="0"/>
              </a:defRPr>
            </a:lvl6pPr>
            <a:lvl7pPr>
              <a:defRPr sz="1000" b="0" i="0">
                <a:solidFill>
                  <a:schemeClr val="bg1"/>
                </a:solidFill>
                <a:latin typeface="+mj-lt"/>
                <a:cs typeface="Segoe UI" panose="020B0502040204020203" pitchFamily="34" charset="0"/>
              </a:defRPr>
            </a:lvl7pPr>
            <a:lvl8pPr>
              <a:defRPr sz="1000" b="0" i="0">
                <a:solidFill>
                  <a:schemeClr val="bg1"/>
                </a:solidFill>
                <a:latin typeface="+mj-lt"/>
                <a:cs typeface="Segoe UI" panose="020B0502040204020203" pitchFamily="34" charset="0"/>
              </a:defRPr>
            </a:lvl8pPr>
            <a:lvl9pPr marL="0">
              <a:defRPr sz="1000" b="0" i="0">
                <a:solidFill>
                  <a:schemeClr val="bg1"/>
                </a:solidFill>
                <a:latin typeface="+mj-lt"/>
                <a:cs typeface="Segoe UI" panose="020B0502040204020203" pitchFamily="34" charset="0"/>
              </a:defRPr>
            </a:lvl9pPr>
          </a:lstStyle>
          <a:p>
            <a:pPr indent="-3200400"/>
            <a:endParaRPr lang="en-US"/>
          </a:p>
        </p:txBody>
      </p:sp>
      <p:sp>
        <p:nvSpPr>
          <p:cNvPr id="11" name="Title 1">
            <a:extLst>
              <a:ext uri="{FF2B5EF4-FFF2-40B4-BE49-F238E27FC236}">
                <a16:creationId xmlns:a16="http://schemas.microsoft.com/office/drawing/2014/main" id="{9244323D-D055-BCD3-DE22-B0A344D2BF9E}"/>
              </a:ext>
            </a:extLst>
          </p:cNvPr>
          <p:cNvSpPr>
            <a:spLocks noGrp="1"/>
          </p:cNvSpPr>
          <p:nvPr>
            <p:ph type="title"/>
          </p:nvPr>
        </p:nvSpPr>
        <p:spPr>
          <a:xfrm>
            <a:off x="460376" y="1412875"/>
            <a:ext cx="4889985" cy="2333625"/>
          </a:xfrm>
          <a:prstGeom prst="rect">
            <a:avLst/>
          </a:prstGeom>
        </p:spPr>
        <p:txBody>
          <a:bodyPr anchor="b" anchorCtr="0"/>
          <a:lstStyle>
            <a:lvl1pPr>
              <a:defRPr sz="3200" b="1">
                <a:solidFill>
                  <a:schemeClr val="bg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963EF1FF-C264-2760-38A0-BB33456CC32B}"/>
              </a:ext>
            </a:extLst>
          </p:cNvPr>
          <p:cNvSpPr>
            <a:spLocks noGrp="1"/>
          </p:cNvSpPr>
          <p:nvPr>
            <p:ph type="body" sz="quarter" idx="25" hasCustomPrompt="1"/>
          </p:nvPr>
        </p:nvSpPr>
        <p:spPr>
          <a:xfrm flipH="1">
            <a:off x="9484277" y="3825875"/>
            <a:ext cx="1488523" cy="1463067"/>
          </a:xfrm>
          <a:prstGeom prst="rect">
            <a:avLst/>
          </a:prstGeom>
          <a:blipFill>
            <a:blip r:embed="rId4"/>
            <a:stretch>
              <a:fillRect/>
            </a:stretch>
          </a:blipFill>
        </p:spPr>
        <p:txBody>
          <a:bodyPr/>
          <a:lstStyle>
            <a:lvl1pPr>
              <a:defRPr b="0" i="0"/>
            </a:lvl1pPr>
          </a:lstStyle>
          <a:p>
            <a:pPr lvl="0"/>
            <a:r>
              <a:rPr lang="en-US"/>
              <a:t> </a:t>
            </a:r>
          </a:p>
        </p:txBody>
      </p:sp>
    </p:spTree>
    <p:extLst>
      <p:ext uri="{BB962C8B-B14F-4D97-AF65-F5344CB8AC3E}">
        <p14:creationId xmlns:p14="http://schemas.microsoft.com/office/powerpoint/2010/main" val="18795647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genda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972B6A5-01FD-899A-FA5B-50AED31DFBE5}"/>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368B83A-3779-569C-36A3-CDD67449E482}"/>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sz="quarter" idx="22"/>
          </p:nvPr>
        </p:nvSpPr>
        <p:spPr>
          <a:xfrm>
            <a:off x="6248400" y="1508125"/>
            <a:ext cx="4470400" cy="4473575"/>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sp>
        <p:nvSpPr>
          <p:cNvPr id="5" name="Text Placeholder 3">
            <a:extLst>
              <a:ext uri="{FF2B5EF4-FFF2-40B4-BE49-F238E27FC236}">
                <a16:creationId xmlns:a16="http://schemas.microsoft.com/office/drawing/2014/main" id="{25FBCF55-BB8C-ECD8-868D-78FE6035F732}"/>
              </a:ext>
            </a:extLst>
          </p:cNvPr>
          <p:cNvSpPr>
            <a:spLocks noGrp="1"/>
          </p:cNvSpPr>
          <p:nvPr>
            <p:ph type="body" sz="quarter" idx="34" hasCustomPrompt="1"/>
          </p:nvPr>
        </p:nvSpPr>
        <p:spPr>
          <a:xfrm>
            <a:off x="460375" y="1508125"/>
            <a:ext cx="789691" cy="4511674"/>
          </a:xfrm>
          <a:prstGeom prst="rect">
            <a:avLst/>
          </a:prstGeom>
          <a:ln>
            <a:noFill/>
          </a:ln>
        </p:spPr>
        <p:txBody>
          <a:bodyPr tIns="0" anchor="ctr" anchorCtr="0"/>
          <a:lstStyle>
            <a:lvl1pPr>
              <a:lnSpc>
                <a:spcPct val="100000"/>
              </a:lnSpc>
              <a:spcBef>
                <a:spcPts val="0"/>
              </a:spcBef>
              <a:spcAft>
                <a:spcPts val="700"/>
              </a:spcAft>
              <a:defRPr sz="3600" b="1" i="0">
                <a:ln w="12700">
                  <a:noFill/>
                </a:ln>
                <a:solidFill>
                  <a:schemeClr val="accent1"/>
                </a:solidFill>
                <a:latin typeface="+mn-lt"/>
              </a:defRPr>
            </a:lvl1pPr>
            <a:lvl2pPr>
              <a:lnSpc>
                <a:spcPct val="100000"/>
              </a:lnSpc>
              <a:spcBef>
                <a:spcPts val="0"/>
              </a:spcBef>
              <a:spcAft>
                <a:spcPts val="700"/>
              </a:spcAft>
              <a:defRPr sz="3600" b="1" i="0" spc="0">
                <a:ln w="12700">
                  <a:noFill/>
                </a:ln>
                <a:solidFill>
                  <a:schemeClr val="accent1"/>
                </a:solidFill>
                <a:latin typeface="+mn-lt"/>
                <a:cs typeface="Calibri" panose="020F0502020204030204" pitchFamily="34" charset="0"/>
              </a:defRPr>
            </a:lvl2pPr>
            <a:lvl3pPr>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3pPr>
            <a:lvl4pPr marL="0">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4pPr>
            <a:lvl5pPr marL="0">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5pPr>
            <a:lvl6pPr>
              <a:lnSpc>
                <a:spcPct val="100000"/>
              </a:lnSpc>
              <a:spcAft>
                <a:spcPts val="700"/>
              </a:spcAft>
              <a:buNone/>
              <a:defRPr sz="3600" b="1">
                <a:ln w="12700">
                  <a:noFill/>
                </a:ln>
                <a:solidFill>
                  <a:schemeClr val="accent1"/>
                </a:solidFill>
                <a:latin typeface="+mn-lt"/>
                <a:cs typeface="Calibri" panose="020F0502020204030204" pitchFamily="34" charset="0"/>
              </a:defRPr>
            </a:lvl6pPr>
            <a:lvl7pPr marL="0">
              <a:lnSpc>
                <a:spcPct val="100000"/>
              </a:lnSpc>
              <a:spcAft>
                <a:spcPts val="700"/>
              </a:spcAft>
              <a:buNone/>
              <a:defRPr sz="3600" b="1">
                <a:ln w="12700">
                  <a:noFill/>
                </a:ln>
                <a:solidFill>
                  <a:schemeClr val="accent1"/>
                </a:solidFill>
                <a:latin typeface="+mn-lt"/>
                <a:cs typeface="Calibri" panose="020F0502020204030204" pitchFamily="34" charset="0"/>
              </a:defRPr>
            </a:lvl7pPr>
            <a:lvl8pPr marL="0">
              <a:lnSpc>
                <a:spcPct val="100000"/>
              </a:lnSpc>
              <a:spcAft>
                <a:spcPts val="700"/>
              </a:spcAft>
              <a:buNone/>
              <a:defRPr sz="3600" b="1">
                <a:ln w="12700">
                  <a:noFill/>
                </a:ln>
                <a:solidFill>
                  <a:schemeClr val="accent1"/>
                </a:solidFill>
                <a:latin typeface="+mn-lt"/>
                <a:cs typeface="Calibri" panose="020F0502020204030204" pitchFamily="34" charset="0"/>
              </a:defRPr>
            </a:lvl8pPr>
            <a:lvl9pPr>
              <a:lnSpc>
                <a:spcPct val="100000"/>
              </a:lnSpc>
              <a:spcAft>
                <a:spcPts val="700"/>
              </a:spcAft>
              <a:defRPr sz="3600" b="1">
                <a:ln w="12700">
                  <a:noFill/>
                </a:ln>
                <a:solidFill>
                  <a:schemeClr val="accent1"/>
                </a:solidFill>
                <a:latin typeface="+mn-lt"/>
                <a:cs typeface="Calibri" panose="020F0502020204030204" pitchFamily="34" charset="0"/>
              </a:defRPr>
            </a:lvl9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3" name="Rectangle 2">
            <a:extLst>
              <a:ext uri="{FF2B5EF4-FFF2-40B4-BE49-F238E27FC236}">
                <a16:creationId xmlns:a16="http://schemas.microsoft.com/office/drawing/2014/main" id="{F9D3A198-41C5-A389-D58D-6067B66B5EE8}"/>
              </a:ext>
            </a:extLst>
          </p:cNvPr>
          <p:cNvSpPr>
            <a:spLocks noGrp="1" noRot="1" noMove="1" noResize="1" noEditPoints="1" noAdjustHandles="1" noChangeArrowheads="1" noChangeShapeType="1"/>
          </p:cNvSpPr>
          <p:nvPr userDrawn="1"/>
        </p:nvSpPr>
        <p:spPr bwMode="auto">
          <a:xfrm>
            <a:off x="300446" y="966651"/>
            <a:ext cx="2050868" cy="195943"/>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Title 2">
            <a:extLst>
              <a:ext uri="{FF2B5EF4-FFF2-40B4-BE49-F238E27FC236}">
                <a16:creationId xmlns:a16="http://schemas.microsoft.com/office/drawing/2014/main" id="{92DD1241-B542-4023-F74B-C762BE058065}"/>
              </a:ext>
            </a:extLst>
          </p:cNvPr>
          <p:cNvSpPr>
            <a:spLocks noGrp="1"/>
          </p:cNvSpPr>
          <p:nvPr>
            <p:ph type="title" hasCustomPrompt="1"/>
          </p:nvPr>
        </p:nvSpPr>
        <p:spPr>
          <a:xfrm>
            <a:off x="460372" y="556953"/>
            <a:ext cx="11268077" cy="855922"/>
          </a:xfrm>
          <a:prstGeom prst="rect">
            <a:avLst/>
          </a:prstGeom>
        </p:spPr>
        <p:txBody>
          <a:bodyPr/>
          <a:lstStyle>
            <a:lvl1pPr>
              <a:defRPr sz="2200"/>
            </a:lvl1pPr>
          </a:lstStyle>
          <a:p>
            <a:r>
              <a:rPr lang="en-US"/>
              <a:t>Click to edit Agenda/Contents Title</a:t>
            </a:r>
          </a:p>
        </p:txBody>
      </p:sp>
      <p:sp>
        <p:nvSpPr>
          <p:cNvPr id="13" name="Content Placeholder 7">
            <a:extLst>
              <a:ext uri="{FF2B5EF4-FFF2-40B4-BE49-F238E27FC236}">
                <a16:creationId xmlns:a16="http://schemas.microsoft.com/office/drawing/2014/main" id="{2EBB998A-4A7F-95A1-ABAB-78ABF3E6EAAD}"/>
              </a:ext>
            </a:extLst>
          </p:cNvPr>
          <p:cNvSpPr>
            <a:spLocks noGrp="1"/>
          </p:cNvSpPr>
          <p:nvPr>
            <p:ph sz="quarter" idx="20" hasCustomPrompt="1"/>
          </p:nvPr>
        </p:nvSpPr>
        <p:spPr>
          <a:xfrm>
            <a:off x="1250065" y="1508125"/>
            <a:ext cx="4174689" cy="4511673"/>
          </a:xfrm>
          <a:prstGeom prst="rect">
            <a:avLst/>
          </a:prstGeom>
        </p:spPr>
        <p:txBody>
          <a:bodyPr anchor="ctr"/>
          <a:lstStyle>
            <a:lvl1pPr>
              <a:spcAft>
                <a:spcPts val="2900"/>
              </a:spcAft>
              <a:defRPr sz="1800" b="1" i="0"/>
            </a:lvl1pPr>
            <a:lvl2pPr marL="295275" indent="-285750">
              <a:spcAft>
                <a:spcPts val="2900"/>
              </a:spcAft>
              <a:buFont typeface="Arial" panose="020B0604020202020204" pitchFamily="34" charset="0"/>
              <a:buChar char="•"/>
              <a:tabLst/>
              <a:defRPr sz="1800" b="1" i="0"/>
            </a:lvl2pPr>
            <a:lvl3pPr marL="635000" indent="-287338">
              <a:spcAft>
                <a:spcPts val="2900"/>
              </a:spcAft>
              <a:tabLst/>
              <a:defRPr sz="1800" b="1" i="0"/>
            </a:lvl3pPr>
            <a:lvl4pPr marL="971550" indent="-285750">
              <a:spcAft>
                <a:spcPts val="2900"/>
              </a:spcAft>
              <a:tabLst/>
              <a:defRPr sz="1800" b="1" i="0"/>
            </a:lvl4pPr>
            <a:lvl5pPr marL="1320800" indent="-287338">
              <a:spcAft>
                <a:spcPts val="2900"/>
              </a:spcAft>
              <a:tabLst/>
              <a:defRPr sz="1800" b="1" i="0"/>
            </a:lvl5pPr>
            <a:lvl6pPr marL="1658938" indent="-287338">
              <a:spcAft>
                <a:spcPts val="2900"/>
              </a:spcAft>
              <a:tabLst/>
              <a:defRPr sz="1800" b="1"/>
            </a:lvl6pPr>
            <a:lvl7pPr marL="2006600" indent="-287338">
              <a:spcAft>
                <a:spcPts val="2900"/>
              </a:spcAft>
              <a:tabLst/>
              <a:defRPr sz="1800" b="1"/>
            </a:lvl7pPr>
            <a:lvl8pPr marL="2344738" indent="-266700">
              <a:tabLst/>
              <a:defRPr/>
            </a:lvl8pPr>
            <a:lvl9pPr marL="2692400" indent="-285750">
              <a:tabLst/>
              <a:defRPr/>
            </a:lvl9pPr>
          </a:lstStyle>
          <a:p>
            <a:pPr lvl="0"/>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p:txBody>
      </p:sp>
      <p:sp>
        <p:nvSpPr>
          <p:cNvPr id="8" name="Text Placeholder 9">
            <a:extLst>
              <a:ext uri="{FF2B5EF4-FFF2-40B4-BE49-F238E27FC236}">
                <a16:creationId xmlns:a16="http://schemas.microsoft.com/office/drawing/2014/main" id="{CD71F599-75FF-0AEF-010B-B70DBAA7A833}"/>
              </a:ext>
            </a:extLst>
          </p:cNvPr>
          <p:cNvSpPr>
            <a:spLocks noGrp="1"/>
          </p:cNvSpPr>
          <p:nvPr>
            <p:ph type="body" sz="quarter" idx="26" hasCustomPrompt="1"/>
          </p:nvPr>
        </p:nvSpPr>
        <p:spPr>
          <a:xfrm flipH="1" flipV="1">
            <a:off x="364794" y="855203"/>
            <a:ext cx="1381456" cy="192234"/>
          </a:xfrm>
          <a:prstGeom prst="rect">
            <a:avLst/>
          </a:prstGeom>
          <a:blipFill dpi="0" rotWithShape="0">
            <a:blip r:embed="rId4"/>
            <a:srcRect/>
            <a:stretch>
              <a:fillRect t="-317465" b="-325807"/>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5174486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genda_2">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4836E44-27EF-D8DB-2ACB-DE3980E63D82}"/>
              </a:ext>
            </a:extLst>
          </p:cNvPr>
          <p:cNvSpPr>
            <a:spLocks noGrp="1" noRot="1" noMove="1" noResize="1" noEditPoints="1" noAdjustHandles="1" noChangeArrowheads="1" noChangeShapeType="1"/>
          </p:cNvSpPr>
          <p:nvPr userDrawn="1"/>
        </p:nvSpPr>
        <p:spPr bwMode="auto">
          <a:xfrm>
            <a:off x="300446" y="966651"/>
            <a:ext cx="2050868" cy="195943"/>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Rectangle 6">
            <a:extLst>
              <a:ext uri="{FF2B5EF4-FFF2-40B4-BE49-F238E27FC236}">
                <a16:creationId xmlns:a16="http://schemas.microsoft.com/office/drawing/2014/main" id="{2FBA661D-36AF-0575-B525-6804A0045D53}"/>
              </a:ext>
            </a:extLst>
          </p:cNvPr>
          <p:cNvSpPr/>
          <p:nvPr userDrawn="1"/>
        </p:nvSpPr>
        <p:spPr bwMode="auto">
          <a:xfrm>
            <a:off x="0" y="0"/>
            <a:ext cx="3935767" cy="6858000"/>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Footer Placeholder 3">
            <a:extLst>
              <a:ext uri="{FF2B5EF4-FFF2-40B4-BE49-F238E27FC236}">
                <a16:creationId xmlns:a16="http://schemas.microsoft.com/office/drawing/2014/main" id="{F972B6A5-01FD-899A-FA5B-50AED31DFBE5}"/>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368B83A-3779-569C-36A3-CDD67449E48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sz="quarter" idx="22"/>
          </p:nvPr>
        </p:nvSpPr>
        <p:spPr>
          <a:xfrm>
            <a:off x="610669" y="1508125"/>
            <a:ext cx="3913550" cy="3916330"/>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sp>
        <p:nvSpPr>
          <p:cNvPr id="13" name="Title 2">
            <a:extLst>
              <a:ext uri="{FF2B5EF4-FFF2-40B4-BE49-F238E27FC236}">
                <a16:creationId xmlns:a16="http://schemas.microsoft.com/office/drawing/2014/main" id="{439BE691-B1BB-8E34-2EA4-D0406BCBF408}"/>
              </a:ext>
            </a:extLst>
          </p:cNvPr>
          <p:cNvSpPr>
            <a:spLocks noGrp="1"/>
          </p:cNvSpPr>
          <p:nvPr>
            <p:ph type="title" hasCustomPrompt="1"/>
          </p:nvPr>
        </p:nvSpPr>
        <p:spPr>
          <a:xfrm>
            <a:off x="5168648" y="556953"/>
            <a:ext cx="6559800" cy="855922"/>
          </a:xfrm>
          <a:prstGeom prst="rect">
            <a:avLst/>
          </a:prstGeom>
        </p:spPr>
        <p:txBody>
          <a:bodyPr/>
          <a:lstStyle>
            <a:lvl1pPr>
              <a:defRPr sz="2200"/>
            </a:lvl1pPr>
          </a:lstStyle>
          <a:p>
            <a:r>
              <a:rPr lang="en-US"/>
              <a:t>Click to edit Agenda/Contents Title</a:t>
            </a:r>
          </a:p>
        </p:txBody>
      </p:sp>
      <p:sp>
        <p:nvSpPr>
          <p:cNvPr id="14" name="Content Placeholder 7">
            <a:extLst>
              <a:ext uri="{FF2B5EF4-FFF2-40B4-BE49-F238E27FC236}">
                <a16:creationId xmlns:a16="http://schemas.microsoft.com/office/drawing/2014/main" id="{501FEA8E-002C-6C24-1D7D-8DE43490479E}"/>
              </a:ext>
            </a:extLst>
          </p:cNvPr>
          <p:cNvSpPr>
            <a:spLocks noGrp="1"/>
          </p:cNvSpPr>
          <p:nvPr>
            <p:ph sz="quarter" idx="20" hasCustomPrompt="1"/>
          </p:nvPr>
        </p:nvSpPr>
        <p:spPr>
          <a:xfrm>
            <a:off x="5168649" y="1508125"/>
            <a:ext cx="6559800" cy="4511673"/>
          </a:xfrm>
          <a:prstGeom prst="rect">
            <a:avLst/>
          </a:prstGeom>
        </p:spPr>
        <p:txBody>
          <a:bodyPr anchor="t"/>
          <a:lstStyle>
            <a:lvl1pPr>
              <a:spcAft>
                <a:spcPts val="1200"/>
              </a:spcAft>
              <a:defRPr sz="1800" b="1" i="0"/>
            </a:lvl1pPr>
            <a:lvl2pPr marL="295275" indent="-285750">
              <a:spcAft>
                <a:spcPts val="1200"/>
              </a:spcAft>
              <a:buFont typeface="Arial" panose="020B0604020202020204" pitchFamily="34" charset="0"/>
              <a:buChar char="•"/>
              <a:tabLst/>
              <a:defRPr sz="1800" b="1" i="0"/>
            </a:lvl2pPr>
            <a:lvl3pPr marL="635000" indent="-287338">
              <a:spcAft>
                <a:spcPts val="1200"/>
              </a:spcAft>
              <a:tabLst/>
              <a:defRPr sz="1800" b="1" i="0"/>
            </a:lvl3pPr>
            <a:lvl4pPr marL="971550" indent="-285750">
              <a:spcAft>
                <a:spcPts val="1200"/>
              </a:spcAft>
              <a:tabLst/>
              <a:defRPr sz="1800" b="1" i="0"/>
            </a:lvl4pPr>
            <a:lvl5pPr marL="1320800" indent="-287338">
              <a:spcAft>
                <a:spcPts val="1200"/>
              </a:spcAft>
              <a:tabLst/>
              <a:defRPr sz="1800" b="1" i="0"/>
            </a:lvl5pPr>
            <a:lvl6pPr marL="1658938" indent="-287338">
              <a:spcAft>
                <a:spcPts val="1200"/>
              </a:spcAft>
              <a:tabLst/>
              <a:defRPr sz="1800" b="1"/>
            </a:lvl6pPr>
            <a:lvl7pPr marL="2006600" indent="-287338">
              <a:spcAft>
                <a:spcPts val="1200"/>
              </a:spcAft>
              <a:tabLst/>
              <a:defRPr sz="1800" b="1"/>
            </a:lvl7pPr>
            <a:lvl8pPr marL="2344738" indent="-266700">
              <a:tabLst/>
              <a:defRPr/>
            </a:lvl8pPr>
            <a:lvl9pPr marL="2692400" indent="-285750">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9">
            <a:extLst>
              <a:ext uri="{FF2B5EF4-FFF2-40B4-BE49-F238E27FC236}">
                <a16:creationId xmlns:a16="http://schemas.microsoft.com/office/drawing/2014/main" id="{5AC43BAF-6C08-503E-AB09-63A6DE719E03}"/>
              </a:ext>
            </a:extLst>
          </p:cNvPr>
          <p:cNvSpPr>
            <a:spLocks noGrp="1"/>
          </p:cNvSpPr>
          <p:nvPr>
            <p:ph type="body" sz="quarter" idx="26" hasCustomPrompt="1"/>
          </p:nvPr>
        </p:nvSpPr>
        <p:spPr>
          <a:xfrm flipH="1" flipV="1">
            <a:off x="5020644" y="857796"/>
            <a:ext cx="1381456" cy="192234"/>
          </a:xfrm>
          <a:prstGeom prst="rect">
            <a:avLst/>
          </a:prstGeom>
          <a:blipFill dpi="0" rotWithShape="0">
            <a:blip r:embed="rId3"/>
            <a:srcRect/>
            <a:stretch>
              <a:fillRect t="-317465" b="-325807"/>
            </a:stretch>
          </a:blipFill>
        </p:spPr>
        <p:txBody>
          <a:bodyPr/>
          <a:lstStyle>
            <a:lvl1pPr>
              <a:defRPr sz="2800" b="0" i="0"/>
            </a:lvl1pPr>
          </a:lstStyle>
          <a:p>
            <a:pPr lvl="0"/>
            <a:r>
              <a:rPr lang="en-US"/>
              <a:t> </a:t>
            </a:r>
          </a:p>
        </p:txBody>
      </p:sp>
      <p:pic>
        <p:nvPicPr>
          <p:cNvPr id="8" name="Picture 7">
            <a:extLst>
              <a:ext uri="{FF2B5EF4-FFF2-40B4-BE49-F238E27FC236}">
                <a16:creationId xmlns:a16="http://schemas.microsoft.com/office/drawing/2014/main" id="{F6EE3324-F78B-080E-CEED-7AF10A908BF8}"/>
              </a:ext>
            </a:extLst>
          </p:cNvPr>
          <p:cNvPicPr>
            <a:picLocks noChangeAspect="1"/>
          </p:cNvPicPr>
          <p:nvPr userDrawn="1"/>
        </p:nvPicPr>
        <p:blipFill>
          <a:blip r:embed="rId4"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
        <p:nvSpPr>
          <p:cNvPr id="3" name="Text Placeholder 15">
            <a:extLst>
              <a:ext uri="{FF2B5EF4-FFF2-40B4-BE49-F238E27FC236}">
                <a16:creationId xmlns:a16="http://schemas.microsoft.com/office/drawing/2014/main" id="{71028BBC-69E5-0788-C3BE-9D5AA6E17B71}"/>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3">
                    <a:lumMod val="90000"/>
                  </a:schemeClr>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0726786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agenda_2">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4836E44-27EF-D8DB-2ACB-DE3980E63D82}"/>
              </a:ext>
            </a:extLst>
          </p:cNvPr>
          <p:cNvSpPr>
            <a:spLocks noGrp="1" noRot="1" noMove="1" noResize="1" noEditPoints="1" noAdjustHandles="1" noChangeArrowheads="1" noChangeShapeType="1"/>
          </p:cNvSpPr>
          <p:nvPr userDrawn="1"/>
        </p:nvSpPr>
        <p:spPr bwMode="auto">
          <a:xfrm>
            <a:off x="300446" y="966651"/>
            <a:ext cx="2050868" cy="195943"/>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Rectangle 6">
            <a:extLst>
              <a:ext uri="{FF2B5EF4-FFF2-40B4-BE49-F238E27FC236}">
                <a16:creationId xmlns:a16="http://schemas.microsoft.com/office/drawing/2014/main" id="{2FBA661D-36AF-0575-B525-6804A0045D53}"/>
              </a:ext>
            </a:extLst>
          </p:cNvPr>
          <p:cNvSpPr/>
          <p:nvPr userDrawn="1"/>
        </p:nvSpPr>
        <p:spPr bwMode="auto">
          <a:xfrm>
            <a:off x="0" y="0"/>
            <a:ext cx="3935767" cy="6858000"/>
          </a:xfrm>
          <a:prstGeom prst="rect">
            <a:avLst/>
          </a:prstGeom>
          <a:solidFill>
            <a:schemeClr val="accent4"/>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Footer Placeholder 3">
            <a:extLst>
              <a:ext uri="{FF2B5EF4-FFF2-40B4-BE49-F238E27FC236}">
                <a16:creationId xmlns:a16="http://schemas.microsoft.com/office/drawing/2014/main" id="{F972B6A5-01FD-899A-FA5B-50AED31DFBE5}"/>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368B83A-3779-569C-36A3-CDD67449E48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sz="quarter" idx="22"/>
          </p:nvPr>
        </p:nvSpPr>
        <p:spPr>
          <a:xfrm>
            <a:off x="610669" y="1508125"/>
            <a:ext cx="3913550" cy="3916330"/>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sp>
        <p:nvSpPr>
          <p:cNvPr id="13" name="Title 2">
            <a:extLst>
              <a:ext uri="{FF2B5EF4-FFF2-40B4-BE49-F238E27FC236}">
                <a16:creationId xmlns:a16="http://schemas.microsoft.com/office/drawing/2014/main" id="{439BE691-B1BB-8E34-2EA4-D0406BCBF408}"/>
              </a:ext>
            </a:extLst>
          </p:cNvPr>
          <p:cNvSpPr>
            <a:spLocks noGrp="1"/>
          </p:cNvSpPr>
          <p:nvPr>
            <p:ph type="title" hasCustomPrompt="1"/>
          </p:nvPr>
        </p:nvSpPr>
        <p:spPr>
          <a:xfrm>
            <a:off x="5168648" y="556953"/>
            <a:ext cx="6559800" cy="855922"/>
          </a:xfrm>
          <a:prstGeom prst="rect">
            <a:avLst/>
          </a:prstGeom>
        </p:spPr>
        <p:txBody>
          <a:bodyPr/>
          <a:lstStyle>
            <a:lvl1pPr>
              <a:defRPr sz="2200"/>
            </a:lvl1pPr>
          </a:lstStyle>
          <a:p>
            <a:r>
              <a:rPr lang="en-US"/>
              <a:t>Click to edit Agenda/Contents Title</a:t>
            </a:r>
          </a:p>
        </p:txBody>
      </p:sp>
      <p:sp>
        <p:nvSpPr>
          <p:cNvPr id="14" name="Content Placeholder 7">
            <a:extLst>
              <a:ext uri="{FF2B5EF4-FFF2-40B4-BE49-F238E27FC236}">
                <a16:creationId xmlns:a16="http://schemas.microsoft.com/office/drawing/2014/main" id="{501FEA8E-002C-6C24-1D7D-8DE43490479E}"/>
              </a:ext>
            </a:extLst>
          </p:cNvPr>
          <p:cNvSpPr>
            <a:spLocks noGrp="1"/>
          </p:cNvSpPr>
          <p:nvPr>
            <p:ph sz="quarter" idx="20" hasCustomPrompt="1"/>
          </p:nvPr>
        </p:nvSpPr>
        <p:spPr>
          <a:xfrm>
            <a:off x="5168649" y="1508125"/>
            <a:ext cx="6559800" cy="4511673"/>
          </a:xfrm>
          <a:prstGeom prst="rect">
            <a:avLst/>
          </a:prstGeom>
        </p:spPr>
        <p:txBody>
          <a:bodyPr anchor="t"/>
          <a:lstStyle>
            <a:lvl1pPr>
              <a:spcAft>
                <a:spcPts val="1200"/>
              </a:spcAft>
              <a:defRPr sz="1800" b="1" i="0"/>
            </a:lvl1pPr>
            <a:lvl2pPr marL="295275" indent="-285750">
              <a:spcAft>
                <a:spcPts val="1200"/>
              </a:spcAft>
              <a:buFont typeface="Arial" panose="020B0604020202020204" pitchFamily="34" charset="0"/>
              <a:buChar char="•"/>
              <a:tabLst/>
              <a:defRPr sz="1800" b="1" i="0"/>
            </a:lvl2pPr>
            <a:lvl3pPr marL="635000" indent="-287338">
              <a:spcAft>
                <a:spcPts val="1200"/>
              </a:spcAft>
              <a:tabLst/>
              <a:defRPr sz="1800" b="1" i="0"/>
            </a:lvl3pPr>
            <a:lvl4pPr marL="971550" indent="-285750">
              <a:spcAft>
                <a:spcPts val="1200"/>
              </a:spcAft>
              <a:tabLst/>
              <a:defRPr sz="1800" b="1" i="0"/>
            </a:lvl4pPr>
            <a:lvl5pPr marL="1320800" indent="-287338">
              <a:spcAft>
                <a:spcPts val="1200"/>
              </a:spcAft>
              <a:tabLst/>
              <a:defRPr sz="1800" b="1" i="0"/>
            </a:lvl5pPr>
            <a:lvl6pPr marL="1658938" indent="-287338">
              <a:spcAft>
                <a:spcPts val="1200"/>
              </a:spcAft>
              <a:tabLst/>
              <a:defRPr sz="1800" b="1"/>
            </a:lvl6pPr>
            <a:lvl7pPr marL="2006600" indent="-287338">
              <a:spcAft>
                <a:spcPts val="1200"/>
              </a:spcAft>
              <a:tabLst/>
              <a:defRPr sz="1800" b="1"/>
            </a:lvl7pPr>
            <a:lvl8pPr marL="2344738" indent="-266700">
              <a:tabLst/>
              <a:defRPr/>
            </a:lvl8pPr>
            <a:lvl9pPr marL="2692400" indent="-285750">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9">
            <a:extLst>
              <a:ext uri="{FF2B5EF4-FFF2-40B4-BE49-F238E27FC236}">
                <a16:creationId xmlns:a16="http://schemas.microsoft.com/office/drawing/2014/main" id="{5AC43BAF-6C08-503E-AB09-63A6DE719E03}"/>
              </a:ext>
            </a:extLst>
          </p:cNvPr>
          <p:cNvSpPr>
            <a:spLocks noGrp="1"/>
          </p:cNvSpPr>
          <p:nvPr>
            <p:ph type="body" sz="quarter" idx="26" hasCustomPrompt="1"/>
          </p:nvPr>
        </p:nvSpPr>
        <p:spPr>
          <a:xfrm flipH="1" flipV="1">
            <a:off x="5020644" y="857796"/>
            <a:ext cx="1381456" cy="192234"/>
          </a:xfrm>
          <a:prstGeom prst="rect">
            <a:avLst/>
          </a:prstGeom>
          <a:blipFill dpi="0" rotWithShape="0">
            <a:blip r:embed="rId3"/>
            <a:srcRect/>
            <a:stretch>
              <a:fillRect t="-317465" b="-325807"/>
            </a:stretch>
          </a:blipFill>
        </p:spPr>
        <p:txBody>
          <a:bodyPr/>
          <a:lstStyle>
            <a:lvl1pPr>
              <a:defRPr sz="2800" b="0" i="0"/>
            </a:lvl1pPr>
          </a:lstStyle>
          <a:p>
            <a:pPr lvl="0"/>
            <a:r>
              <a:rPr lang="en-US"/>
              <a:t> </a:t>
            </a:r>
          </a:p>
        </p:txBody>
      </p:sp>
      <p:sp>
        <p:nvSpPr>
          <p:cNvPr id="9" name="Text Placeholder 15">
            <a:extLst>
              <a:ext uri="{FF2B5EF4-FFF2-40B4-BE49-F238E27FC236}">
                <a16:creationId xmlns:a16="http://schemas.microsoft.com/office/drawing/2014/main" id="{89339D8E-B8D5-629B-925E-FEBAB46BEF4C}"/>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11057346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_1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F281B9B0-919B-7605-4D45-9E1F54B94E3A}"/>
              </a:ext>
            </a:extLst>
          </p:cNvPr>
          <p:cNvSpPr>
            <a:spLocks noGrp="1"/>
          </p:cNvSpPr>
          <p:nvPr>
            <p:ph idx="1" hasCustomPrompt="1"/>
          </p:nvPr>
        </p:nvSpPr>
        <p:spPr>
          <a:xfrm>
            <a:off x="460372" y="1770063"/>
            <a:ext cx="11268074" cy="4249738"/>
          </a:xfrm>
          <a:prstGeom prst="rect">
            <a:avLst/>
          </a:prstGeom>
        </p:spPr>
        <p:txBody>
          <a:bodyPr vert="horz" lIns="0" tIns="0" rIns="0" bIns="0" rtlCol="0">
            <a:noAutofit/>
          </a:bodyPr>
          <a:lstStyle>
            <a:lvl1pPr>
              <a:spcAft>
                <a:spcPts val="600"/>
              </a:spcAft>
              <a:defRPr/>
            </a:lvl1pPr>
            <a:lvl2pPr marL="295275" indent="-295275">
              <a:spcAft>
                <a:spcPts val="600"/>
              </a:spcAft>
              <a:tabLst/>
              <a:defRPr/>
            </a:lvl2pPr>
            <a:lvl3pPr>
              <a:spcAft>
                <a:spcPts val="600"/>
              </a:spcAft>
              <a:defRPr/>
            </a:lvl3pPr>
            <a:lvl4pPr>
              <a:spcAft>
                <a:spcPts val="600"/>
              </a:spcAft>
              <a:defRPr/>
            </a:lvl4pPr>
            <a:lvl5pPr>
              <a:spcAft>
                <a:spcPts val="600"/>
              </a:spcAft>
              <a:defRPr/>
            </a:lvl5pPr>
            <a:lvl6pPr>
              <a:spcAft>
                <a:spcPts val="600"/>
              </a:spcAft>
              <a:defRPr/>
            </a:lvl6pPr>
            <a:lvl7pPr>
              <a:spcAft>
                <a:spcPts val="600"/>
              </a:spcAft>
              <a:defRPr/>
            </a:lvl7pPr>
            <a:lvl8pPr>
              <a:spcAft>
                <a:spcPts val="600"/>
              </a:spcAft>
              <a:defRPr/>
            </a:lvl8pPr>
            <a:lvl9pPr>
              <a:spcAft>
                <a:spcPts val="600"/>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1" name="Footer Placeholder 10">
            <a:extLst>
              <a:ext uri="{FF2B5EF4-FFF2-40B4-BE49-F238E27FC236}">
                <a16:creationId xmlns:a16="http://schemas.microsoft.com/office/drawing/2014/main" id="{F263E73F-DEF9-130F-B071-D10FB1CB5161}"/>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12" name="Slide Number Placeholder 11">
            <a:extLst>
              <a:ext uri="{FF2B5EF4-FFF2-40B4-BE49-F238E27FC236}">
                <a16:creationId xmlns:a16="http://schemas.microsoft.com/office/drawing/2014/main" id="{72307C66-749A-F18A-899A-DCE7C0FC87C7}"/>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3" name="Title 2">
            <a:extLst>
              <a:ext uri="{FF2B5EF4-FFF2-40B4-BE49-F238E27FC236}">
                <a16:creationId xmlns:a16="http://schemas.microsoft.com/office/drawing/2014/main" id="{039D28D3-7724-CABE-5E01-C686E737731A}"/>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5" name="Picture 4" descr="A blue text on a black background&#10;&#10;Description automatically generated">
            <a:extLst>
              <a:ext uri="{FF2B5EF4-FFF2-40B4-BE49-F238E27FC236}">
                <a16:creationId xmlns:a16="http://schemas.microsoft.com/office/drawing/2014/main" id="{08B542EB-5CB8-F0A6-4DB5-533C78B14DA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ext Placeholder 15">
            <a:extLst>
              <a:ext uri="{FF2B5EF4-FFF2-40B4-BE49-F238E27FC236}">
                <a16:creationId xmlns:a16="http://schemas.microsoft.com/office/drawing/2014/main" id="{BF08CDCA-7295-067B-E037-76ACEB96299C}"/>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6837050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_2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7AC6684-4917-893D-7978-45194F506A94}"/>
              </a:ext>
            </a:extLst>
          </p:cNvPr>
          <p:cNvSpPr>
            <a:spLocks noGrp="1"/>
          </p:cNvSpPr>
          <p:nvPr>
            <p:ph type="ftr" sz="quarter" idx="22"/>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B3050605-C097-CBBB-F6AE-D408F5C6B153}"/>
              </a:ext>
            </a:extLst>
          </p:cNvPr>
          <p:cNvSpPr>
            <a:spLocks noGrp="1"/>
          </p:cNvSpPr>
          <p:nvPr>
            <p:ph type="sldNum" sz="quarter" idx="23"/>
          </p:nvPr>
        </p:nvSpPr>
        <p:spPr/>
        <p:txBody>
          <a:bodyPr/>
          <a:lstStyle>
            <a:lvl1pPr>
              <a:defRPr b="0" i="0"/>
            </a:lvl1pPr>
          </a:lstStyle>
          <a:p>
            <a:fld id="{63DCA5C9-2E11-4C67-86EB-AE1DE127DC64}" type="slidenum">
              <a:rPr lang="en-US" smtClean="0"/>
              <a:pPr/>
              <a:t>‹#›</a:t>
            </a:fld>
            <a:endParaRPr lang="en-US"/>
          </a:p>
        </p:txBody>
      </p:sp>
      <p:sp>
        <p:nvSpPr>
          <p:cNvPr id="4" name="Title 3">
            <a:extLst>
              <a:ext uri="{FF2B5EF4-FFF2-40B4-BE49-F238E27FC236}">
                <a16:creationId xmlns:a16="http://schemas.microsoft.com/office/drawing/2014/main" id="{987FB2C3-7DEF-A787-97F3-478F892A584F}"/>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7" name="Picture 6" descr="A blue text on a black background&#10;&#10;Description automatically generated">
            <a:extLst>
              <a:ext uri="{FF2B5EF4-FFF2-40B4-BE49-F238E27FC236}">
                <a16:creationId xmlns:a16="http://schemas.microsoft.com/office/drawing/2014/main" id="{BD0AB5E2-A78F-EF72-4306-83FB4F13DF1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Content Placeholder 7">
            <a:extLst>
              <a:ext uri="{FF2B5EF4-FFF2-40B4-BE49-F238E27FC236}">
                <a16:creationId xmlns:a16="http://schemas.microsoft.com/office/drawing/2014/main" id="{7EC1626D-C51D-F91B-9E51-AEACBDEBE7B9}"/>
              </a:ext>
            </a:extLst>
          </p:cNvPr>
          <p:cNvSpPr>
            <a:spLocks noGrp="1"/>
          </p:cNvSpPr>
          <p:nvPr>
            <p:ph sz="quarter" idx="20"/>
          </p:nvPr>
        </p:nvSpPr>
        <p:spPr>
          <a:xfrm>
            <a:off x="460375" y="1770063"/>
            <a:ext cx="5521325"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800F75C6-D0DF-371B-63BB-406F6DC95786}"/>
              </a:ext>
            </a:extLst>
          </p:cNvPr>
          <p:cNvSpPr>
            <a:spLocks noGrp="1"/>
          </p:cNvSpPr>
          <p:nvPr>
            <p:ph sz="quarter" idx="24"/>
          </p:nvPr>
        </p:nvSpPr>
        <p:spPr>
          <a:xfrm>
            <a:off x="6210300" y="1770063"/>
            <a:ext cx="551815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15">
            <a:extLst>
              <a:ext uri="{FF2B5EF4-FFF2-40B4-BE49-F238E27FC236}">
                <a16:creationId xmlns:a16="http://schemas.microsoft.com/office/drawing/2014/main" id="{40D1E5F1-9491-BB3D-DC45-8C7C55783F5A}"/>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1207009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_3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sz="quarter" idx="15"/>
          </p:nvPr>
        </p:nvSpPr>
        <p:spPr/>
        <p:txBody>
          <a:bodyPr/>
          <a:lstStyle>
            <a:lvl1pPr>
              <a:defRPr b="0" i="0"/>
            </a:lvl1p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sz="quarter" idx="16"/>
          </p:nvPr>
        </p:nvSpPr>
        <p:spPr/>
        <p:txBody>
          <a:bodyPr/>
          <a:lstStyle>
            <a:lvl1pPr>
              <a:defRPr b="0" i="0"/>
            </a:lvl1pPr>
          </a:lstStyle>
          <a:p>
            <a:fld id="{63DCA5C9-2E11-4C67-86EB-AE1DE127DC64}" type="slidenum">
              <a:rPr lang="en-US" smtClean="0"/>
              <a:pPr/>
              <a:t>‹#›</a:t>
            </a:fld>
            <a:endParaRPr lang="en-US"/>
          </a:p>
        </p:txBody>
      </p:sp>
      <p:pic>
        <p:nvPicPr>
          <p:cNvPr id="8" name="Picture 7" descr="A blue text on a black background&#10;&#10;Description automatically generated">
            <a:extLst>
              <a:ext uri="{FF2B5EF4-FFF2-40B4-BE49-F238E27FC236}">
                <a16:creationId xmlns:a16="http://schemas.microsoft.com/office/drawing/2014/main" id="{3E9F9052-AA30-3941-3438-16032648210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Content Placeholder 7">
            <a:extLst>
              <a:ext uri="{FF2B5EF4-FFF2-40B4-BE49-F238E27FC236}">
                <a16:creationId xmlns:a16="http://schemas.microsoft.com/office/drawing/2014/main" id="{0056E07F-5641-0AC8-7606-9184F560AECF}"/>
              </a:ext>
            </a:extLst>
          </p:cNvPr>
          <p:cNvSpPr>
            <a:spLocks noGrp="1"/>
          </p:cNvSpPr>
          <p:nvPr>
            <p:ph sz="quarter" idx="20"/>
          </p:nvPr>
        </p:nvSpPr>
        <p:spPr>
          <a:xfrm>
            <a:off x="460375"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D82477B9-0A32-B6C4-2F46-122799F3984B}"/>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sp>
        <p:nvSpPr>
          <p:cNvPr id="12" name="Content Placeholder 7">
            <a:extLst>
              <a:ext uri="{FF2B5EF4-FFF2-40B4-BE49-F238E27FC236}">
                <a16:creationId xmlns:a16="http://schemas.microsoft.com/office/drawing/2014/main" id="{2951039B-3D00-6FDA-3076-5C33B65A3ABD}"/>
              </a:ext>
            </a:extLst>
          </p:cNvPr>
          <p:cNvSpPr>
            <a:spLocks noGrp="1"/>
          </p:cNvSpPr>
          <p:nvPr>
            <p:ph sz="quarter" idx="21"/>
          </p:nvPr>
        </p:nvSpPr>
        <p:spPr>
          <a:xfrm>
            <a:off x="8124827"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7">
            <a:extLst>
              <a:ext uri="{FF2B5EF4-FFF2-40B4-BE49-F238E27FC236}">
                <a16:creationId xmlns:a16="http://schemas.microsoft.com/office/drawing/2014/main" id="{7FE16D19-354D-731F-F73E-FA767DF68429}"/>
              </a:ext>
            </a:extLst>
          </p:cNvPr>
          <p:cNvSpPr>
            <a:spLocks noGrp="1"/>
          </p:cNvSpPr>
          <p:nvPr>
            <p:ph sz="quarter" idx="22"/>
          </p:nvPr>
        </p:nvSpPr>
        <p:spPr>
          <a:xfrm>
            <a:off x="4321019"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Text Placeholder 15">
            <a:extLst>
              <a:ext uri="{FF2B5EF4-FFF2-40B4-BE49-F238E27FC236}">
                <a16:creationId xmlns:a16="http://schemas.microsoft.com/office/drawing/2014/main" id="{3FEF5C62-2517-1AC3-C2A2-6FB57854A32F}"/>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2199341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_3col_capt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sz="quarter" idx="15"/>
          </p:nvPr>
        </p:nvSpPr>
        <p:spPr/>
        <p:txBody>
          <a:bodyPr/>
          <a:lstStyle>
            <a:lvl1pPr>
              <a:defRPr b="0" i="0"/>
            </a:lvl1p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sz="quarter" idx="16"/>
          </p:nvPr>
        </p:nvSpPr>
        <p:spPr/>
        <p:txBody>
          <a:bodyPr/>
          <a:lstStyle>
            <a:lvl1pPr>
              <a:defRPr b="0" i="0"/>
            </a:lvl1pPr>
          </a:lstStyle>
          <a:p>
            <a:fld id="{63DCA5C9-2E11-4C67-86EB-AE1DE127DC64}" type="slidenum">
              <a:rPr lang="en-US" smtClean="0"/>
              <a:pPr/>
              <a:t>‹#›</a:t>
            </a:fld>
            <a:endParaRPr lang="en-US"/>
          </a:p>
        </p:txBody>
      </p:sp>
      <p:sp>
        <p:nvSpPr>
          <p:cNvPr id="8" name="Text Placeholder 7">
            <a:extLst>
              <a:ext uri="{FF2B5EF4-FFF2-40B4-BE49-F238E27FC236}">
                <a16:creationId xmlns:a16="http://schemas.microsoft.com/office/drawing/2014/main" id="{F3286076-E0DB-E4CC-E8A2-BEEF556EB4A1}"/>
              </a:ext>
            </a:extLst>
          </p:cNvPr>
          <p:cNvSpPr>
            <a:spLocks noGrp="1"/>
          </p:cNvSpPr>
          <p:nvPr>
            <p:ph type="body" sz="quarter" idx="19"/>
          </p:nvPr>
        </p:nvSpPr>
        <p:spPr>
          <a:xfrm>
            <a:off x="460375"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0" name="Picture Placeholder 9">
            <a:extLst>
              <a:ext uri="{FF2B5EF4-FFF2-40B4-BE49-F238E27FC236}">
                <a16:creationId xmlns:a16="http://schemas.microsoft.com/office/drawing/2014/main" id="{9180B2BC-2194-6BE9-E9A2-C04BB80C88E8}"/>
              </a:ext>
            </a:extLst>
          </p:cNvPr>
          <p:cNvSpPr>
            <a:spLocks noGrp="1"/>
          </p:cNvSpPr>
          <p:nvPr>
            <p:ph type="pic" sz="quarter" idx="20"/>
          </p:nvPr>
        </p:nvSpPr>
        <p:spPr>
          <a:xfrm>
            <a:off x="460375"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11" name="Text Placeholder 7">
            <a:extLst>
              <a:ext uri="{FF2B5EF4-FFF2-40B4-BE49-F238E27FC236}">
                <a16:creationId xmlns:a16="http://schemas.microsoft.com/office/drawing/2014/main" id="{94FC2909-4B91-2381-4FE8-6075BBEADFCA}"/>
              </a:ext>
            </a:extLst>
          </p:cNvPr>
          <p:cNvSpPr>
            <a:spLocks noGrp="1"/>
          </p:cNvSpPr>
          <p:nvPr>
            <p:ph type="body" sz="quarter" idx="21"/>
          </p:nvPr>
        </p:nvSpPr>
        <p:spPr>
          <a:xfrm>
            <a:off x="4298950"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2" name="Picture Placeholder 9">
            <a:extLst>
              <a:ext uri="{FF2B5EF4-FFF2-40B4-BE49-F238E27FC236}">
                <a16:creationId xmlns:a16="http://schemas.microsoft.com/office/drawing/2014/main" id="{44FEA637-5129-BC73-5672-885823C9D06D}"/>
              </a:ext>
            </a:extLst>
          </p:cNvPr>
          <p:cNvSpPr>
            <a:spLocks noGrp="1"/>
          </p:cNvSpPr>
          <p:nvPr>
            <p:ph type="pic" sz="quarter" idx="22"/>
          </p:nvPr>
        </p:nvSpPr>
        <p:spPr>
          <a:xfrm>
            <a:off x="4298950"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13" name="Text Placeholder 7">
            <a:extLst>
              <a:ext uri="{FF2B5EF4-FFF2-40B4-BE49-F238E27FC236}">
                <a16:creationId xmlns:a16="http://schemas.microsoft.com/office/drawing/2014/main" id="{8F7C1D54-4D08-B846-D72D-58481B1CA9AA}"/>
              </a:ext>
            </a:extLst>
          </p:cNvPr>
          <p:cNvSpPr>
            <a:spLocks noGrp="1"/>
          </p:cNvSpPr>
          <p:nvPr>
            <p:ph type="body" sz="quarter" idx="23"/>
          </p:nvPr>
        </p:nvSpPr>
        <p:spPr>
          <a:xfrm>
            <a:off x="8121650"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4" name="Picture Placeholder 9">
            <a:extLst>
              <a:ext uri="{FF2B5EF4-FFF2-40B4-BE49-F238E27FC236}">
                <a16:creationId xmlns:a16="http://schemas.microsoft.com/office/drawing/2014/main" id="{AF8A9ABB-83F4-8553-6F94-7B3490556A79}"/>
              </a:ext>
            </a:extLst>
          </p:cNvPr>
          <p:cNvSpPr>
            <a:spLocks noGrp="1"/>
          </p:cNvSpPr>
          <p:nvPr>
            <p:ph type="pic" sz="quarter" idx="24"/>
          </p:nvPr>
        </p:nvSpPr>
        <p:spPr>
          <a:xfrm>
            <a:off x="8121650"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2" name="Title 1">
            <a:extLst>
              <a:ext uri="{FF2B5EF4-FFF2-40B4-BE49-F238E27FC236}">
                <a16:creationId xmlns:a16="http://schemas.microsoft.com/office/drawing/2014/main" id="{37073C04-F7C8-4626-A414-BE74337C9F01}"/>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4" name="Picture 3" descr="A blue text on a black background&#10;&#10;Description automatically generated">
            <a:extLst>
              <a:ext uri="{FF2B5EF4-FFF2-40B4-BE49-F238E27FC236}">
                <a16:creationId xmlns:a16="http://schemas.microsoft.com/office/drawing/2014/main" id="{8518CA3C-FFE4-73E3-F3BB-66D14BA3889E}"/>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1" name="Text Placeholder 15">
            <a:extLst>
              <a:ext uri="{FF2B5EF4-FFF2-40B4-BE49-F238E27FC236}">
                <a16:creationId xmlns:a16="http://schemas.microsoft.com/office/drawing/2014/main" id="{23AC8427-599A-D3E6-AA33-38751B2C8D83}"/>
              </a:ext>
            </a:extLst>
          </p:cNvPr>
          <p:cNvSpPr>
            <a:spLocks noGrp="1"/>
          </p:cNvSpPr>
          <p:nvPr>
            <p:ph type="body" sz="quarter" idx="25"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6581727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mage_ful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p:nvPr>
        </p:nvSpPr>
        <p:spPr>
          <a:xfrm>
            <a:off x="0" y="1"/>
            <a:ext cx="12191999" cy="6132512"/>
          </a:xfrm>
          <a:prstGeom prst="rect">
            <a:avLst/>
          </a:prstGeom>
          <a:solidFill>
            <a:schemeClr val="accent2">
              <a:lumMod val="40000"/>
              <a:lumOff val="60000"/>
            </a:schemeClr>
          </a:solidFill>
        </p:spPr>
        <p:txBody>
          <a:bodyPr tIns="2560320" rIns="0"/>
          <a:lstStyle>
            <a:lvl1pPr algn="ctr">
              <a:defRPr b="0" i="0">
                <a:solidFill>
                  <a:schemeClr val="tx1"/>
                </a:solidFill>
              </a:defRPr>
            </a:lvl1pPr>
          </a:lstStyle>
          <a:p>
            <a:r>
              <a:rPr lang="en-US"/>
              <a:t>Click icon to add picture</a:t>
            </a:r>
          </a:p>
        </p:txBody>
      </p:sp>
      <p:sp>
        <p:nvSpPr>
          <p:cNvPr id="5" name="Footer Placeholder 4">
            <a:extLst>
              <a:ext uri="{FF2B5EF4-FFF2-40B4-BE49-F238E27FC236}">
                <a16:creationId xmlns:a16="http://schemas.microsoft.com/office/drawing/2014/main" id="{D4389C8F-D452-9AD4-4144-B49736DC8CEB}"/>
              </a:ext>
            </a:extLst>
          </p:cNvPr>
          <p:cNvSpPr>
            <a:spLocks noGrp="1"/>
          </p:cNvSpPr>
          <p:nvPr>
            <p:ph type="ftr" sz="quarter" idx="11"/>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17A657E4-04D6-B96F-C916-7934FB6812BD}"/>
              </a:ext>
            </a:extLst>
          </p:cNvPr>
          <p:cNvSpPr>
            <a:spLocks noGrp="1"/>
          </p:cNvSpPr>
          <p:nvPr>
            <p:ph type="sldNum" sz="quarter" idx="12"/>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66B6FE5-A7B7-31A2-9906-5DCB55A82C7C}"/>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4977067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_full_head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p:nvPr>
        </p:nvSpPr>
        <p:spPr>
          <a:xfrm>
            <a:off x="460375" y="1770063"/>
            <a:ext cx="11268076" cy="4249737"/>
          </a:xfrm>
          <a:prstGeom prst="rect">
            <a:avLst/>
          </a:prstGeom>
          <a:solidFill>
            <a:schemeClr val="accent2">
              <a:lumMod val="40000"/>
              <a:lumOff val="60000"/>
            </a:schemeClr>
          </a:solidFill>
        </p:spPr>
        <p:txBody>
          <a:bodyPr tIns="2468880" rIns="0"/>
          <a:lstStyle>
            <a:lvl1pPr algn="ctr">
              <a:defRPr b="0" i="0">
                <a:solidFill>
                  <a:schemeClr val="tx1"/>
                </a:solidFill>
              </a:defRPr>
            </a:lvl1pPr>
          </a:lstStyle>
          <a:p>
            <a:r>
              <a:rPr lang="en-US"/>
              <a:t>Click icon to add picture</a:t>
            </a:r>
          </a:p>
        </p:txBody>
      </p:sp>
      <p:sp>
        <p:nvSpPr>
          <p:cNvPr id="6" name="Footer Placeholder 5">
            <a:extLst>
              <a:ext uri="{FF2B5EF4-FFF2-40B4-BE49-F238E27FC236}">
                <a16:creationId xmlns:a16="http://schemas.microsoft.com/office/drawing/2014/main" id="{D4479B74-17F1-EBC9-69EE-229D47AE65AC}"/>
              </a:ext>
            </a:extLst>
          </p:cNvPr>
          <p:cNvSpPr>
            <a:spLocks noGrp="1"/>
          </p:cNvSpPr>
          <p:nvPr>
            <p:ph type="ftr" sz="quarter" idx="16"/>
          </p:nvPr>
        </p:nvSpPr>
        <p:spPr/>
        <p:txBody>
          <a:bodyPr/>
          <a:lstStyle>
            <a:lvl1pPr>
              <a:defRPr b="0" i="0"/>
            </a:lvl1pPr>
          </a:lstStyle>
          <a:p>
            <a:r>
              <a:rPr lang="en-US"/>
              <a:t>© 2026 West Monroe Partners | Reproduction and/or distribution without West Monroe Partners’ prior consent is prohibited.</a:t>
            </a:r>
          </a:p>
        </p:txBody>
      </p:sp>
      <p:sp>
        <p:nvSpPr>
          <p:cNvPr id="7" name="Slide Number Placeholder 6">
            <a:extLst>
              <a:ext uri="{FF2B5EF4-FFF2-40B4-BE49-F238E27FC236}">
                <a16:creationId xmlns:a16="http://schemas.microsoft.com/office/drawing/2014/main" id="{7B5A2861-0858-0FB8-8FC6-453F5A493617}"/>
              </a:ext>
            </a:extLst>
          </p:cNvPr>
          <p:cNvSpPr>
            <a:spLocks noGrp="1"/>
          </p:cNvSpPr>
          <p:nvPr>
            <p:ph type="sldNum" sz="quarter" idx="17"/>
          </p:nvPr>
        </p:nvSpPr>
        <p:spPr/>
        <p:txBody>
          <a:bodyPr/>
          <a:lstStyle>
            <a:lvl1pPr>
              <a:defRPr b="0" i="0"/>
            </a:lvl1pPr>
          </a:lstStyle>
          <a:p>
            <a:fld id="{63DCA5C9-2E11-4C67-86EB-AE1DE127DC64}" type="slidenum">
              <a:rPr lang="en-US" smtClean="0"/>
              <a:pPr/>
              <a:t>‹#›</a:t>
            </a:fld>
            <a:endParaRPr lang="en-US"/>
          </a:p>
        </p:txBody>
      </p:sp>
      <p:sp>
        <p:nvSpPr>
          <p:cNvPr id="2" name="Title 1">
            <a:extLst>
              <a:ext uri="{FF2B5EF4-FFF2-40B4-BE49-F238E27FC236}">
                <a16:creationId xmlns:a16="http://schemas.microsoft.com/office/drawing/2014/main" id="{7AAE4AD5-D1B4-C05A-51DA-AA8783158CDF}"/>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3" name="Picture 2" descr="A blue text on a black background&#10;&#10;Description automatically generated">
            <a:extLst>
              <a:ext uri="{FF2B5EF4-FFF2-40B4-BE49-F238E27FC236}">
                <a16:creationId xmlns:a16="http://schemas.microsoft.com/office/drawing/2014/main" id="{405238A7-736B-DB47-15BA-AFDAB063C38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ext Placeholder 15">
            <a:extLst>
              <a:ext uri="{FF2B5EF4-FFF2-40B4-BE49-F238E27FC236}">
                <a16:creationId xmlns:a16="http://schemas.microsoft.com/office/drawing/2014/main" id="{831A1A2D-C89C-6D53-136D-138D70CAF518}"/>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2879700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_header_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5" name="Picture 4" descr="A blue text on a black background&#10;&#10;Description automatically generated">
            <a:extLst>
              <a:ext uri="{FF2B5EF4-FFF2-40B4-BE49-F238E27FC236}">
                <a16:creationId xmlns:a16="http://schemas.microsoft.com/office/drawing/2014/main" id="{1AD17AF9-0181-A578-8688-456C5094B46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41348625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_footer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EC829E04-BCCD-010B-AD64-B2BB49639E85}"/>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5" name="Text Placeholder 15">
            <a:extLst>
              <a:ext uri="{FF2B5EF4-FFF2-40B4-BE49-F238E27FC236}">
                <a16:creationId xmlns:a16="http://schemas.microsoft.com/office/drawing/2014/main" id="{A7F89989-DD06-160E-9C04-04560569A8E2}"/>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9272855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_footer2">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EC829E04-BCCD-010B-AD64-B2BB49639E85}"/>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5" name="Text Placeholder 15">
            <a:extLst>
              <a:ext uri="{FF2B5EF4-FFF2-40B4-BE49-F238E27FC236}">
                <a16:creationId xmlns:a16="http://schemas.microsoft.com/office/drawing/2014/main" id="{8FA0ED44-BC1D-835E-5F3F-81A3B80CFED8}"/>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424283320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_video">
    <p:bg>
      <p:bgPr>
        <a:solidFill>
          <a:srgbClr val="000000"/>
        </a:solidFill>
        <a:effectLst/>
      </p:bgPr>
    </p:bg>
    <p:spTree>
      <p:nvGrpSpPr>
        <p:cNvPr id="1" name=""/>
        <p:cNvGrpSpPr/>
        <p:nvPr/>
      </p:nvGrpSpPr>
      <p:grpSpPr>
        <a:xfrm>
          <a:off x="0" y="0"/>
          <a:ext cx="0" cy="0"/>
          <a:chOff x="0" y="0"/>
          <a:chExt cx="0" cy="0"/>
        </a:xfrm>
      </p:grpSpPr>
      <p:sp>
        <p:nvSpPr>
          <p:cNvPr id="3" name="Media Placeholder 2"/>
          <p:cNvSpPr>
            <a:spLocks noGrp="1"/>
          </p:cNvSpPr>
          <p:nvPr>
            <p:ph type="media" sz="quarter" idx="10" hasCustomPrompt="1"/>
          </p:nvPr>
        </p:nvSpPr>
        <p:spPr>
          <a:xfrm>
            <a:off x="0" y="0"/>
            <a:ext cx="12192000" cy="6858000"/>
          </a:xfrm>
          <a:prstGeom prst="rect">
            <a:avLst/>
          </a:prstGeom>
          <a:solidFill>
            <a:srgbClr val="000000"/>
          </a:solidFill>
        </p:spPr>
        <p:txBody>
          <a:bodyPr tIns="731520" anchor="ctr" anchorCtr="0"/>
          <a:lstStyle>
            <a:lvl1pPr algn="ctr">
              <a:defRPr sz="2000" b="0" i="0">
                <a:solidFill>
                  <a:schemeClr val="bg1"/>
                </a:solidFill>
              </a:defRPr>
            </a:lvl1pPr>
          </a:lstStyle>
          <a:p>
            <a:r>
              <a:rPr lang="en-US"/>
              <a:t>Click icon to add video</a:t>
            </a:r>
          </a:p>
        </p:txBody>
      </p:sp>
    </p:spTree>
    <p:extLst>
      <p:ext uri="{BB962C8B-B14F-4D97-AF65-F5344CB8AC3E}">
        <p14:creationId xmlns:p14="http://schemas.microsoft.com/office/powerpoint/2010/main" val="292112802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9">
            <a:extLst>
              <a:ext uri="{FF2B5EF4-FFF2-40B4-BE49-F238E27FC236}">
                <a16:creationId xmlns:a16="http://schemas.microsoft.com/office/drawing/2014/main" id="{E3D8E744-7A24-AE07-4B72-9BE3D3C4E03D}"/>
              </a:ext>
            </a:extLst>
          </p:cNvPr>
          <p:cNvSpPr>
            <a:spLocks noGrp="1"/>
          </p:cNvSpPr>
          <p:nvPr>
            <p:ph type="body" sz="quarter" idx="23" hasCustomPrompt="1"/>
          </p:nvPr>
        </p:nvSpPr>
        <p:spPr>
          <a:xfrm>
            <a:off x="711749" y="3465467"/>
            <a:ext cx="1381456" cy="586696"/>
          </a:xfrm>
          <a:prstGeom prst="rect">
            <a:avLst/>
          </a:prstGeom>
          <a:blipFill>
            <a:blip r:embed="rId3"/>
            <a:stretch>
              <a:fillRect/>
            </a:stretch>
          </a:blipFill>
        </p:spPr>
        <p:txBody>
          <a:bodyPr/>
          <a:lstStyle>
            <a:lvl1pPr>
              <a:defRPr sz="2800" b="0" i="0"/>
            </a:lvl1pPr>
          </a:lstStyle>
          <a:p>
            <a:pPr lvl="0"/>
            <a:r>
              <a:rPr lang="en-US"/>
              <a:t> </a:t>
            </a:r>
          </a:p>
        </p:txBody>
      </p:sp>
      <p:pic>
        <p:nvPicPr>
          <p:cNvPr id="7" name="Picture 6" descr="A blue lines in a black background&#10;&#10;Description automatically generated">
            <a:extLst>
              <a:ext uri="{FF2B5EF4-FFF2-40B4-BE49-F238E27FC236}">
                <a16:creationId xmlns:a16="http://schemas.microsoft.com/office/drawing/2014/main" id="{A310CFA1-867A-3E7A-1507-F7FCD5A5D7A0}"/>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91227" y="2216888"/>
            <a:ext cx="1421661" cy="1421661"/>
          </a:xfrm>
          <a:prstGeom prst="rect">
            <a:avLst/>
          </a:prstGeom>
        </p:spPr>
      </p:pic>
      <p:pic>
        <p:nvPicPr>
          <p:cNvPr id="2" name="Picture 1" descr="A blue text on a black background&#10;&#10;Description automatically generated">
            <a:extLst>
              <a:ext uri="{FF2B5EF4-FFF2-40B4-BE49-F238E27FC236}">
                <a16:creationId xmlns:a16="http://schemas.microsoft.com/office/drawing/2014/main" id="{7701E9E8-6CE3-3FD1-A880-33FA940FBCFA}"/>
              </a:ext>
            </a:extLst>
          </p:cNvPr>
          <p:cNvPicPr>
            <a:picLocks noChangeAspect="1"/>
          </p:cNvPicPr>
          <p:nvPr userDrawn="1"/>
        </p:nvPicPr>
        <p:blipFill>
          <a:blip r:embed="rId5" cstate="hqprint">
            <a:extLst>
              <a:ext uri="{28A0092B-C50C-407E-A947-70E740481C1C}">
                <a14:useLocalDpi xmlns:a14="http://schemas.microsoft.com/office/drawing/2010/main"/>
              </a:ext>
            </a:extLst>
          </a:blip>
          <a:stretch>
            <a:fillRect/>
          </a:stretch>
        </p:blipFill>
        <p:spPr>
          <a:xfrm>
            <a:off x="460376" y="6021389"/>
            <a:ext cx="2330449" cy="487768"/>
          </a:xfrm>
          <a:prstGeom prst="rect">
            <a:avLst/>
          </a:prstGeom>
        </p:spPr>
      </p:pic>
      <p:sp>
        <p:nvSpPr>
          <p:cNvPr id="3" name="Title 2">
            <a:extLst>
              <a:ext uri="{FF2B5EF4-FFF2-40B4-BE49-F238E27FC236}">
                <a16:creationId xmlns:a16="http://schemas.microsoft.com/office/drawing/2014/main" id="{E370F854-6EFF-21FF-B3FC-87FF997AA62F}"/>
              </a:ext>
            </a:extLst>
          </p:cNvPr>
          <p:cNvSpPr>
            <a:spLocks noGrp="1"/>
          </p:cNvSpPr>
          <p:nvPr>
            <p:ph type="title" hasCustomPrompt="1"/>
          </p:nvPr>
        </p:nvSpPr>
        <p:spPr>
          <a:xfrm>
            <a:off x="800717" y="2995922"/>
            <a:ext cx="5815983" cy="3023877"/>
          </a:xfrm>
          <a:prstGeom prst="rect">
            <a:avLst/>
          </a:prstGeom>
        </p:spPr>
        <p:txBody>
          <a:bodyPr lIns="0" anchor="t" anchorCtr="0"/>
          <a:lstStyle>
            <a:lvl1pPr>
              <a:defRPr sz="3200">
                <a:solidFill>
                  <a:schemeClr val="tx1"/>
                </a:solidFill>
              </a:defRPr>
            </a:lvl1pPr>
          </a:lstStyle>
          <a:p>
            <a:r>
              <a:rPr lang="en-US"/>
              <a:t>Closing statement goes here adjust highlight on text</a:t>
            </a:r>
          </a:p>
        </p:txBody>
      </p:sp>
    </p:spTree>
    <p:extLst>
      <p:ext uri="{BB962C8B-B14F-4D97-AF65-F5344CB8AC3E}">
        <p14:creationId xmlns:p14="http://schemas.microsoft.com/office/powerpoint/2010/main" val="58684545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ivider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1" name="Rectangle 10">
            <a:extLst>
              <a:ext uri="{FF2B5EF4-FFF2-40B4-BE49-F238E27FC236}">
                <a16:creationId xmlns:a16="http://schemas.microsoft.com/office/drawing/2014/main" id="{42C7BC3E-22B9-A296-42F7-5B7D706CE6B8}"/>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 name="Text Placeholder 15">
            <a:extLst>
              <a:ext uri="{FF2B5EF4-FFF2-40B4-BE49-F238E27FC236}">
                <a16:creationId xmlns:a16="http://schemas.microsoft.com/office/drawing/2014/main" id="{4B4ADB86-DEB5-499D-FF21-A738C7D1D5AC}"/>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
        <p:nvSpPr>
          <p:cNvPr id="12" name="Text Placeholder 9">
            <a:extLst>
              <a:ext uri="{FF2B5EF4-FFF2-40B4-BE49-F238E27FC236}">
                <a16:creationId xmlns:a16="http://schemas.microsoft.com/office/drawing/2014/main" id="{703A3625-ACCF-543A-C450-5CA908828445}"/>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a:srcRect/>
            <a:stretch>
              <a:fillRect t="20350"/>
            </a:stretch>
          </a:blipFill>
        </p:spPr>
        <p:txBody>
          <a:bodyPr/>
          <a:lstStyle>
            <a:lvl1pPr>
              <a:defRPr sz="2800" b="0" i="0"/>
            </a:lvl1pPr>
          </a:lstStyle>
          <a:p>
            <a:pPr lvl="0"/>
            <a:r>
              <a:rPr lang="en-US"/>
              <a:t> </a:t>
            </a:r>
          </a:p>
        </p:txBody>
      </p:sp>
      <p:sp>
        <p:nvSpPr>
          <p:cNvPr id="5" name="Text Placeholder 15">
            <a:extLst>
              <a:ext uri="{FF2B5EF4-FFF2-40B4-BE49-F238E27FC236}">
                <a16:creationId xmlns:a16="http://schemas.microsoft.com/office/drawing/2014/main" id="{629F3B19-576C-291B-EF19-F2ECE5C19E13}"/>
              </a:ext>
            </a:extLst>
          </p:cNvPr>
          <p:cNvSpPr>
            <a:spLocks noGrp="1"/>
          </p:cNvSpPr>
          <p:nvPr>
            <p:ph type="body" sz="quarter" idx="27"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36912117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ivider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D6255CA2-1EF0-D45E-0F8C-D8FFCF0F48BF}"/>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
        <p:nvSpPr>
          <p:cNvPr id="11" name="Text Placeholder 9">
            <a:extLst>
              <a:ext uri="{FF2B5EF4-FFF2-40B4-BE49-F238E27FC236}">
                <a16:creationId xmlns:a16="http://schemas.microsoft.com/office/drawing/2014/main" id="{71F24330-E4EB-5F2D-3E9D-837E687DE41B}"/>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a:srcRect/>
            <a:stretch>
              <a:fillRect t="20350"/>
            </a:stretch>
          </a:blipFill>
        </p:spPr>
        <p:txBody>
          <a:bodyPr/>
          <a:lstStyle>
            <a:lvl1pPr>
              <a:defRPr sz="2800" b="0" i="0"/>
            </a:lvl1pPr>
          </a:lstStyle>
          <a:p>
            <a:pPr lvl="0"/>
            <a:r>
              <a:rPr lang="en-US"/>
              <a:t> </a:t>
            </a:r>
          </a:p>
        </p:txBody>
      </p:sp>
      <p:sp>
        <p:nvSpPr>
          <p:cNvPr id="12" name="Text Placeholder 15">
            <a:extLst>
              <a:ext uri="{FF2B5EF4-FFF2-40B4-BE49-F238E27FC236}">
                <a16:creationId xmlns:a16="http://schemas.microsoft.com/office/drawing/2014/main" id="{D7085E74-3C73-A684-22AE-3259A7E0728A}"/>
              </a:ext>
            </a:extLst>
          </p:cNvPr>
          <p:cNvSpPr>
            <a:spLocks noGrp="1"/>
          </p:cNvSpPr>
          <p:nvPr>
            <p:ph type="body" sz="quarter" idx="27"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51508690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ivider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7438D08-6BD6-5059-D0DB-D996759CC623}"/>
              </a:ext>
            </a:extLst>
          </p:cNvPr>
          <p:cNvSpPr/>
          <p:nvPr userDrawn="1"/>
        </p:nvSpPr>
        <p:spPr bwMode="auto">
          <a:xfrm>
            <a:off x="0" y="914400"/>
            <a:ext cx="6949440" cy="5029200"/>
          </a:xfrm>
          <a:prstGeom prst="rect">
            <a:avLst/>
          </a:prstGeom>
          <a:solidFill>
            <a:schemeClr val="accent4"/>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 name="Text Placeholder 9">
            <a:extLst>
              <a:ext uri="{FF2B5EF4-FFF2-40B4-BE49-F238E27FC236}">
                <a16:creationId xmlns:a16="http://schemas.microsoft.com/office/drawing/2014/main" id="{E8FD128D-692A-2AB6-3921-483D465C6837}"/>
              </a:ext>
            </a:extLst>
          </p:cNvPr>
          <p:cNvSpPr>
            <a:spLocks noGrp="1"/>
          </p:cNvSpPr>
          <p:nvPr>
            <p:ph type="body" sz="quarter" idx="26" hasCustomPrompt="1"/>
          </p:nvPr>
        </p:nvSpPr>
        <p:spPr>
          <a:xfrm flipH="1" flipV="1">
            <a:off x="364794" y="2519917"/>
            <a:ext cx="1381456" cy="192234"/>
          </a:xfrm>
          <a:prstGeom prst="rect">
            <a:avLst/>
          </a:prstGeom>
          <a:blipFill dpi="0" rotWithShape="0">
            <a:blip r:embed="rId3"/>
            <a:srcRect/>
            <a:stretch>
              <a:fillRect t="-317465" b="-325807"/>
            </a:stretch>
          </a:blipFill>
        </p:spPr>
        <p:txBody>
          <a:bodyPr/>
          <a:lstStyle>
            <a:lvl1pPr>
              <a:defRPr sz="2800" b="0" i="0"/>
            </a:lvl1pPr>
          </a:lstStyle>
          <a:p>
            <a:pPr lvl="0"/>
            <a:r>
              <a:rPr lang="en-US"/>
              <a:t> </a:t>
            </a:r>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1" name="Text Placeholder 15">
            <a:extLst>
              <a:ext uri="{FF2B5EF4-FFF2-40B4-BE49-F238E27FC236}">
                <a16:creationId xmlns:a16="http://schemas.microsoft.com/office/drawing/2014/main" id="{538F5BB5-9720-46B1-5D3D-A302578A8824}"/>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tx1"/>
                </a:solidFill>
              </a:defRPr>
            </a:lvl1pPr>
          </a:lstStyle>
          <a:p>
            <a:r>
              <a:rPr lang="en-US"/>
              <a:t>Divider title goes up to three lines lorem ipsum dolor </a:t>
            </a:r>
            <a:r>
              <a:rPr lang="en-US" err="1"/>
              <a:t>tatem</a:t>
            </a:r>
            <a:r>
              <a:rPr lang="en-US"/>
              <a:t> </a:t>
            </a:r>
            <a:r>
              <a:rPr lang="en-US" err="1"/>
              <a:t>voluptis</a:t>
            </a:r>
            <a:endParaRPr lang="en-US"/>
          </a:p>
        </p:txBody>
      </p:sp>
      <p:sp>
        <p:nvSpPr>
          <p:cNvPr id="13" name="Text Placeholder 15">
            <a:extLst>
              <a:ext uri="{FF2B5EF4-FFF2-40B4-BE49-F238E27FC236}">
                <a16:creationId xmlns:a16="http://schemas.microsoft.com/office/drawing/2014/main" id="{734E4BC5-1B66-30E6-F254-0A105D850529}"/>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7" name="Text Placeholder 15">
            <a:extLst>
              <a:ext uri="{FF2B5EF4-FFF2-40B4-BE49-F238E27FC236}">
                <a16:creationId xmlns:a16="http://schemas.microsoft.com/office/drawing/2014/main" id="{68180EF1-7414-0156-E6EC-CE66AE878F0D}"/>
              </a:ext>
            </a:extLst>
          </p:cNvPr>
          <p:cNvSpPr>
            <a:spLocks noGrp="1"/>
          </p:cNvSpPr>
          <p:nvPr>
            <p:ph type="body" sz="quarter" idx="27"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49047634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pic>
        <p:nvPicPr>
          <p:cNvPr id="8" name="Picture 7">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95CBE2C9-5A5E-773A-E96D-1C621C1DE593}"/>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
        <p:nvSpPr>
          <p:cNvPr id="6" name="Text Placeholder 9">
            <a:extLst>
              <a:ext uri="{FF2B5EF4-FFF2-40B4-BE49-F238E27FC236}">
                <a16:creationId xmlns:a16="http://schemas.microsoft.com/office/drawing/2014/main" id="{EF039B7C-D581-90C0-FE95-E79986FE71E8}"/>
              </a:ext>
            </a:extLst>
          </p:cNvPr>
          <p:cNvSpPr>
            <a:spLocks noGrp="1"/>
          </p:cNvSpPr>
          <p:nvPr>
            <p:ph type="body" sz="quarter" idx="26" hasCustomPrompt="1"/>
          </p:nvPr>
        </p:nvSpPr>
        <p:spPr>
          <a:xfrm flipH="1" flipV="1">
            <a:off x="364794" y="2519917"/>
            <a:ext cx="1381456" cy="192234"/>
          </a:xfrm>
          <a:prstGeom prst="rect">
            <a:avLst/>
          </a:prstGeom>
          <a:blipFill dpi="0" rotWithShape="0">
            <a:blip r:embed="rId4"/>
            <a:srcRect/>
            <a:stretch>
              <a:fillRect t="20350"/>
            </a:stretch>
          </a:blipFill>
        </p:spPr>
        <p:txBody>
          <a:bodyPr/>
          <a:lstStyle>
            <a:lvl1pPr>
              <a:defRPr sz="2800" b="0" i="0"/>
            </a:lvl1pPr>
          </a:lstStyle>
          <a:p>
            <a:pPr lvl="0"/>
            <a:r>
              <a:rPr lang="en-US"/>
              <a:t> </a:t>
            </a: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Tree>
    <p:extLst>
      <p:ext uri="{BB962C8B-B14F-4D97-AF65-F5344CB8AC3E}">
        <p14:creationId xmlns:p14="http://schemas.microsoft.com/office/powerpoint/2010/main" val="426293533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1E01929-6060-49E5-B70E-DC1D68D228F3}"/>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pic>
        <p:nvPicPr>
          <p:cNvPr id="13" name="Graphic 12">
            <a:extLst>
              <a:ext uri="{FF2B5EF4-FFF2-40B4-BE49-F238E27FC236}">
                <a16:creationId xmlns:a16="http://schemas.microsoft.com/office/drawing/2014/main" id="{D8BF26C2-CCEC-B240-E2B1-D98A7597DDE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14" name="Text Placeholder 15">
            <a:extLst>
              <a:ext uri="{FF2B5EF4-FFF2-40B4-BE49-F238E27FC236}">
                <a16:creationId xmlns:a16="http://schemas.microsoft.com/office/drawing/2014/main" id="{91349BA5-E5D7-8838-7AD9-8CD40C540304}"/>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15" name="Title 1">
            <a:extLst>
              <a:ext uri="{FF2B5EF4-FFF2-40B4-BE49-F238E27FC236}">
                <a16:creationId xmlns:a16="http://schemas.microsoft.com/office/drawing/2014/main" id="{08D77ED4-A2DF-F309-9245-4D540E2DBEC0}"/>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17" name="Footer Placeholder 8">
            <a:extLst>
              <a:ext uri="{FF2B5EF4-FFF2-40B4-BE49-F238E27FC236}">
                <a16:creationId xmlns:a16="http://schemas.microsoft.com/office/drawing/2014/main" id="{0AE61501-EDB9-8CAF-0EF0-22A64141B31D}"/>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2" name="Rectangle 1">
            <a:extLst>
              <a:ext uri="{FF2B5EF4-FFF2-40B4-BE49-F238E27FC236}">
                <a16:creationId xmlns:a16="http://schemas.microsoft.com/office/drawing/2014/main" id="{B549349A-74DC-0FF5-41EC-9D501D64B9B5}"/>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8" name="Slide Number Placeholder 9">
            <a:extLst>
              <a:ext uri="{FF2B5EF4-FFF2-40B4-BE49-F238E27FC236}">
                <a16:creationId xmlns:a16="http://schemas.microsoft.com/office/drawing/2014/main" id="{8D3971E5-0157-0707-6BDF-E2F60F632232}"/>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
        <p:nvSpPr>
          <p:cNvPr id="16" name="Text Placeholder 15">
            <a:extLst>
              <a:ext uri="{FF2B5EF4-FFF2-40B4-BE49-F238E27FC236}">
                <a16:creationId xmlns:a16="http://schemas.microsoft.com/office/drawing/2014/main" id="{AD2D5AC6-08C3-1A7C-4E2C-A1DF593E06DA}"/>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
        <p:nvSpPr>
          <p:cNvPr id="3" name="Text Placeholder 9">
            <a:extLst>
              <a:ext uri="{FF2B5EF4-FFF2-40B4-BE49-F238E27FC236}">
                <a16:creationId xmlns:a16="http://schemas.microsoft.com/office/drawing/2014/main" id="{8F05334E-78D6-1BA6-A09B-6F37EB4BC5FC}"/>
              </a:ext>
            </a:extLst>
          </p:cNvPr>
          <p:cNvSpPr>
            <a:spLocks noGrp="1"/>
          </p:cNvSpPr>
          <p:nvPr>
            <p:ph type="body" sz="quarter" idx="26" hasCustomPrompt="1"/>
          </p:nvPr>
        </p:nvSpPr>
        <p:spPr>
          <a:xfrm flipH="1" flipV="1">
            <a:off x="364794" y="2519917"/>
            <a:ext cx="1381456" cy="192234"/>
          </a:xfrm>
          <a:prstGeom prst="rect">
            <a:avLst/>
          </a:prstGeom>
          <a:blipFill dpi="0" rotWithShape="0">
            <a:blip r:embed="rId4"/>
            <a:srcRect/>
            <a:stretch>
              <a:fillRect t="20350"/>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265613930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4"/>
        </a:solidFill>
        <a:effectLst/>
      </p:bgPr>
    </p:bg>
    <p:spTree>
      <p:nvGrpSpPr>
        <p:cNvPr id="1" name=""/>
        <p:cNvGrpSpPr/>
        <p:nvPr/>
      </p:nvGrpSpPr>
      <p:grpSpPr>
        <a:xfrm>
          <a:off x="0" y="0"/>
          <a:ext cx="0" cy="0"/>
          <a:chOff x="0" y="0"/>
          <a:chExt cx="0" cy="0"/>
        </a:xfrm>
      </p:grpSpPr>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tx1"/>
                </a:solidFill>
              </a:defRPr>
            </a:lvl1pPr>
          </a:lstStyle>
          <a:p>
            <a:r>
              <a:rPr lang="en-US"/>
              <a:t>Divider title goes up to three lines lorem ipsum dolor </a:t>
            </a:r>
            <a:r>
              <a:rPr lang="en-US" err="1"/>
              <a:t>tatem</a:t>
            </a:r>
            <a:r>
              <a:rPr lang="en-US"/>
              <a:t> </a:t>
            </a:r>
            <a:r>
              <a:rPr lang="en-US" err="1"/>
              <a:t>voluptis</a:t>
            </a:r>
            <a:endParaRPr lang="en-US"/>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13" name="Text Placeholder 9">
            <a:extLst>
              <a:ext uri="{FF2B5EF4-FFF2-40B4-BE49-F238E27FC236}">
                <a16:creationId xmlns:a16="http://schemas.microsoft.com/office/drawing/2014/main" id="{3B3FA78F-7164-1F04-B57D-BA7C3FDD53DC}"/>
              </a:ext>
            </a:extLst>
          </p:cNvPr>
          <p:cNvSpPr>
            <a:spLocks noGrp="1"/>
          </p:cNvSpPr>
          <p:nvPr>
            <p:ph type="body" sz="quarter" idx="26" hasCustomPrompt="1"/>
          </p:nvPr>
        </p:nvSpPr>
        <p:spPr>
          <a:xfrm flipH="1" flipV="1">
            <a:off x="364794" y="2519917"/>
            <a:ext cx="1381456" cy="192234"/>
          </a:xfrm>
          <a:prstGeom prst="rect">
            <a:avLst/>
          </a:prstGeom>
          <a:blipFill dpi="0" rotWithShape="0">
            <a:blip r:embed="rId3"/>
            <a:srcRect/>
            <a:stretch>
              <a:fillRect t="-317465" b="-325807"/>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56181168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key_messag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3550629"/>
            <a:ext cx="2190750" cy="2210410"/>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1655763"/>
            <a:ext cx="4889503" cy="1727489"/>
          </a:xfrm>
          <a:prstGeom prst="rect">
            <a:avLst/>
          </a:prstGeom>
        </p:spPr>
        <p:txBody>
          <a:bodyPr tIns="45720" anchor="t" anchorCtr="0"/>
          <a:lstStyle>
            <a:lvl1pPr>
              <a:defRPr sz="2200">
                <a:solidFill>
                  <a:schemeClr val="tx1"/>
                </a:solidFill>
              </a:defRPr>
            </a:lvl1pPr>
          </a:lstStyle>
          <a:p>
            <a:r>
              <a:rPr lang="en-US"/>
              <a:t>Key message up to four lines</a:t>
            </a:r>
          </a:p>
        </p:txBody>
      </p:sp>
      <p:sp>
        <p:nvSpPr>
          <p:cNvPr id="6" name="Text Placeholder 10">
            <a:extLst>
              <a:ext uri="{FF2B5EF4-FFF2-40B4-BE49-F238E27FC236}">
                <a16:creationId xmlns:a16="http://schemas.microsoft.com/office/drawing/2014/main" id="{0BC4C2C2-2752-910D-3A89-477FA608D615}"/>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66D47BD9-9D76-91EC-BFB6-6A3B1BD0C1DF}"/>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97786060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key_messag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nchorCtr="0"/>
          <a:lstStyle>
            <a:lvl1pPr>
              <a:defRPr sz="2200">
                <a:solidFill>
                  <a:schemeClr val="bg1"/>
                </a:solidFill>
              </a:defRPr>
            </a:lvl1pPr>
          </a:lstStyle>
          <a:p>
            <a:r>
              <a:rPr lang="en-US"/>
              <a:t>Key message up to four lines long lorem ipsum dolor sit </a:t>
            </a:r>
            <a:r>
              <a:rPr lang="en-US" err="1"/>
              <a:t>amet</a:t>
            </a:r>
            <a:endParaRPr lang="en-US"/>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5B72D3CC-6F75-2997-9493-09F5DEB0EBDD}"/>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75686888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key_message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nchorCtr="0"/>
          <a:lstStyle>
            <a:lvl1pPr>
              <a:defRPr sz="2200">
                <a:solidFill>
                  <a:schemeClr val="bg1"/>
                </a:solidFill>
              </a:defRPr>
            </a:lvl1pPr>
          </a:lstStyle>
          <a:p>
            <a:r>
              <a:rPr lang="en-US"/>
              <a:t>Key message up to four lines long lorem ipsum dolor sit </a:t>
            </a:r>
            <a:r>
              <a:rPr lang="en-US" err="1"/>
              <a:t>amet</a:t>
            </a:r>
            <a:endParaRPr lang="en-US"/>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C85F9C23-4103-DAA2-9E40-C6DA8F9717CC}"/>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19875533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6_key_message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F37109C-1838-F851-C3A0-A6FADA75CF92}"/>
              </a:ext>
            </a:extLst>
          </p:cNvPr>
          <p:cNvSpPr/>
          <p:nvPr userDrawn="1"/>
        </p:nvSpPr>
        <p:spPr bwMode="auto">
          <a:xfrm>
            <a:off x="0" y="1824228"/>
            <a:ext cx="4226311" cy="4343400"/>
          </a:xfrm>
          <a:prstGeom prst="rect">
            <a:avLst/>
          </a:prstGeom>
          <a:solidFill>
            <a:schemeClr val="accent4"/>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nchorCtr="0"/>
          <a:lstStyle>
            <a:lvl1pPr>
              <a:defRPr sz="2200">
                <a:solidFill>
                  <a:schemeClr val="tx1"/>
                </a:solidFill>
              </a:defRPr>
            </a:lvl1pPr>
          </a:lstStyle>
          <a:p>
            <a:r>
              <a:rPr lang="en-US"/>
              <a:t>Key message up to four lines long lorem ipsum dolor sit </a:t>
            </a:r>
            <a:r>
              <a:rPr lang="en-US" err="1"/>
              <a:t>amet</a:t>
            </a:r>
            <a:endParaRPr lang="en-US"/>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C85F9C23-4103-DAA2-9E40-C6DA8F9717CC}"/>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75351319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ur_tea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hasCustomPrompt="1"/>
          </p:nvPr>
        </p:nvSpPr>
        <p:spPr>
          <a:xfrm>
            <a:off x="460376"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5" name="TextBox 4">
            <a:extLst>
              <a:ext uri="{FF2B5EF4-FFF2-40B4-BE49-F238E27FC236}">
                <a16:creationId xmlns:a16="http://schemas.microsoft.com/office/drawing/2014/main" id="{055DE255-BAC4-98A8-8AB1-993F10F0E0B4}"/>
              </a:ext>
            </a:extLst>
          </p:cNvPr>
          <p:cNvSpPr txBox="1"/>
          <p:nvPr userDrawn="1"/>
        </p:nvSpPr>
        <p:spPr>
          <a:xfrm>
            <a:off x="460377" y="549275"/>
            <a:ext cx="2333625" cy="449296"/>
          </a:xfrm>
          <a:prstGeom prst="rect">
            <a:avLst/>
          </a:prstGeom>
          <a:noFill/>
        </p:spPr>
        <p:txBody>
          <a:bodyPr wrap="square" lIns="0" tIns="0" rIns="0" bIns="0" rtlCol="0" anchor="b" anchorCtr="0">
            <a:normAutofit/>
          </a:bodyPr>
          <a:lstStyle/>
          <a:p>
            <a:pPr marL="0" lvl="0" indent="-3657600" algn="l">
              <a:spcAft>
                <a:spcPts val="600"/>
              </a:spcAft>
            </a:pPr>
            <a:r>
              <a:rPr lang="en-US" sz="2800" b="1" i="0">
                <a:solidFill>
                  <a:schemeClr val="tx1"/>
                </a:solidFill>
                <a:latin typeface="+mn-lt"/>
                <a:ea typeface="Roboto" panose="02000000000000000000" pitchFamily="2" charset="0"/>
                <a:cs typeface="Segoe UI" panose="020B0502040204020203" pitchFamily="34" charset="0"/>
              </a:rPr>
              <a:t>OUR TEAM</a:t>
            </a:r>
          </a:p>
        </p:txBody>
      </p:sp>
      <p:sp>
        <p:nvSpPr>
          <p:cNvPr id="6" name="Picture Placeholder 7">
            <a:extLst>
              <a:ext uri="{FF2B5EF4-FFF2-40B4-BE49-F238E27FC236}">
                <a16:creationId xmlns:a16="http://schemas.microsoft.com/office/drawing/2014/main" id="{753585D2-035A-9C52-F792-68204444001D}"/>
              </a:ext>
            </a:extLst>
          </p:cNvPr>
          <p:cNvSpPr>
            <a:spLocks noGrp="1"/>
          </p:cNvSpPr>
          <p:nvPr>
            <p:ph type="pic" sz="quarter" idx="28" hasCustomPrompt="1"/>
          </p:nvPr>
        </p:nvSpPr>
        <p:spPr>
          <a:xfrm>
            <a:off x="29559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16" name="Picture Placeholder 7">
            <a:extLst>
              <a:ext uri="{FF2B5EF4-FFF2-40B4-BE49-F238E27FC236}">
                <a16:creationId xmlns:a16="http://schemas.microsoft.com/office/drawing/2014/main" id="{EC6EA86D-3D54-3C8B-9084-66965F19A952}"/>
              </a:ext>
            </a:extLst>
          </p:cNvPr>
          <p:cNvSpPr>
            <a:spLocks noGrp="1"/>
          </p:cNvSpPr>
          <p:nvPr>
            <p:ph type="pic" sz="quarter" idx="30" hasCustomPrompt="1"/>
          </p:nvPr>
        </p:nvSpPr>
        <p:spPr>
          <a:xfrm>
            <a:off x="54578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18" name="Picture Placeholder 7">
            <a:extLst>
              <a:ext uri="{FF2B5EF4-FFF2-40B4-BE49-F238E27FC236}">
                <a16:creationId xmlns:a16="http://schemas.microsoft.com/office/drawing/2014/main" id="{2B0C0247-3C2B-13E0-7861-209542696FE7}"/>
              </a:ext>
            </a:extLst>
          </p:cNvPr>
          <p:cNvSpPr>
            <a:spLocks noGrp="1"/>
          </p:cNvSpPr>
          <p:nvPr>
            <p:ph type="pic" sz="quarter" idx="32" hasCustomPrompt="1"/>
          </p:nvPr>
        </p:nvSpPr>
        <p:spPr>
          <a:xfrm>
            <a:off x="79597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0" name="Picture Placeholder 7">
            <a:extLst>
              <a:ext uri="{FF2B5EF4-FFF2-40B4-BE49-F238E27FC236}">
                <a16:creationId xmlns:a16="http://schemas.microsoft.com/office/drawing/2014/main" id="{702162B6-132E-1D51-55BE-F91BCE8149C2}"/>
              </a:ext>
            </a:extLst>
          </p:cNvPr>
          <p:cNvSpPr>
            <a:spLocks noGrp="1"/>
          </p:cNvSpPr>
          <p:nvPr>
            <p:ph type="pic" sz="quarter" idx="34" hasCustomPrompt="1"/>
          </p:nvPr>
        </p:nvSpPr>
        <p:spPr>
          <a:xfrm>
            <a:off x="104616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2" name="Picture Placeholder 7">
            <a:extLst>
              <a:ext uri="{FF2B5EF4-FFF2-40B4-BE49-F238E27FC236}">
                <a16:creationId xmlns:a16="http://schemas.microsoft.com/office/drawing/2014/main" id="{E4EC5019-E69A-00D2-92D7-8C5DC80BE9C4}"/>
              </a:ext>
            </a:extLst>
          </p:cNvPr>
          <p:cNvSpPr>
            <a:spLocks noGrp="1"/>
          </p:cNvSpPr>
          <p:nvPr>
            <p:ph type="pic" sz="quarter" idx="36" hasCustomPrompt="1"/>
          </p:nvPr>
        </p:nvSpPr>
        <p:spPr>
          <a:xfrm>
            <a:off x="460375"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4" name="Picture Placeholder 7">
            <a:extLst>
              <a:ext uri="{FF2B5EF4-FFF2-40B4-BE49-F238E27FC236}">
                <a16:creationId xmlns:a16="http://schemas.microsoft.com/office/drawing/2014/main" id="{52C7A6A6-5C73-77A5-2E6E-E7F3F7A014F3}"/>
              </a:ext>
            </a:extLst>
          </p:cNvPr>
          <p:cNvSpPr>
            <a:spLocks noGrp="1"/>
          </p:cNvSpPr>
          <p:nvPr>
            <p:ph type="pic" sz="quarter" idx="38" hasCustomPrompt="1"/>
          </p:nvPr>
        </p:nvSpPr>
        <p:spPr>
          <a:xfrm>
            <a:off x="29559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6" name="Picture Placeholder 7">
            <a:extLst>
              <a:ext uri="{FF2B5EF4-FFF2-40B4-BE49-F238E27FC236}">
                <a16:creationId xmlns:a16="http://schemas.microsoft.com/office/drawing/2014/main" id="{DDEF697F-461D-FA88-976C-A0BFC93DC4A6}"/>
              </a:ext>
            </a:extLst>
          </p:cNvPr>
          <p:cNvSpPr>
            <a:spLocks noGrp="1"/>
          </p:cNvSpPr>
          <p:nvPr>
            <p:ph type="pic" sz="quarter" idx="40" hasCustomPrompt="1"/>
          </p:nvPr>
        </p:nvSpPr>
        <p:spPr>
          <a:xfrm>
            <a:off x="54578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8" name="Picture Placeholder 7">
            <a:extLst>
              <a:ext uri="{FF2B5EF4-FFF2-40B4-BE49-F238E27FC236}">
                <a16:creationId xmlns:a16="http://schemas.microsoft.com/office/drawing/2014/main" id="{8753D85C-855C-CBB1-203A-B69A0492213A}"/>
              </a:ext>
            </a:extLst>
          </p:cNvPr>
          <p:cNvSpPr>
            <a:spLocks noGrp="1"/>
          </p:cNvSpPr>
          <p:nvPr>
            <p:ph type="pic" sz="quarter" idx="42" hasCustomPrompt="1"/>
          </p:nvPr>
        </p:nvSpPr>
        <p:spPr>
          <a:xfrm>
            <a:off x="79597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30" name="Picture Placeholder 7">
            <a:extLst>
              <a:ext uri="{FF2B5EF4-FFF2-40B4-BE49-F238E27FC236}">
                <a16:creationId xmlns:a16="http://schemas.microsoft.com/office/drawing/2014/main" id="{3B1EC1D9-EBE8-118C-7EBD-1188B4CE3126}"/>
              </a:ext>
            </a:extLst>
          </p:cNvPr>
          <p:cNvSpPr>
            <a:spLocks noGrp="1"/>
          </p:cNvSpPr>
          <p:nvPr>
            <p:ph type="pic" sz="quarter" idx="44" hasCustomPrompt="1"/>
          </p:nvPr>
        </p:nvSpPr>
        <p:spPr>
          <a:xfrm>
            <a:off x="104616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32" name="Text Placeholder 10">
            <a:extLst>
              <a:ext uri="{FF2B5EF4-FFF2-40B4-BE49-F238E27FC236}">
                <a16:creationId xmlns:a16="http://schemas.microsoft.com/office/drawing/2014/main" id="{40F17B41-3514-4548-9F64-BD0783E5043C}"/>
              </a:ext>
            </a:extLst>
          </p:cNvPr>
          <p:cNvSpPr>
            <a:spLocks noGrp="1"/>
          </p:cNvSpPr>
          <p:nvPr>
            <p:ph type="body" sz="quarter" idx="45" hasCustomPrompt="1"/>
          </p:nvPr>
        </p:nvSpPr>
        <p:spPr>
          <a:xfrm>
            <a:off x="460376"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3" name="Text Placeholder 10">
            <a:extLst>
              <a:ext uri="{FF2B5EF4-FFF2-40B4-BE49-F238E27FC236}">
                <a16:creationId xmlns:a16="http://schemas.microsoft.com/office/drawing/2014/main" id="{EB42D664-ABD7-6992-836F-019D706B3316}"/>
              </a:ext>
            </a:extLst>
          </p:cNvPr>
          <p:cNvSpPr>
            <a:spLocks noGrp="1"/>
          </p:cNvSpPr>
          <p:nvPr>
            <p:ph type="body" sz="quarter" idx="46" hasCustomPrompt="1"/>
          </p:nvPr>
        </p:nvSpPr>
        <p:spPr>
          <a:xfrm>
            <a:off x="29559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4" name="Text Placeholder 10">
            <a:extLst>
              <a:ext uri="{FF2B5EF4-FFF2-40B4-BE49-F238E27FC236}">
                <a16:creationId xmlns:a16="http://schemas.microsoft.com/office/drawing/2014/main" id="{57753F74-4729-CECF-7D00-79DE09C36AE2}"/>
              </a:ext>
            </a:extLst>
          </p:cNvPr>
          <p:cNvSpPr>
            <a:spLocks noGrp="1"/>
          </p:cNvSpPr>
          <p:nvPr>
            <p:ph type="body" sz="quarter" idx="47" hasCustomPrompt="1"/>
          </p:nvPr>
        </p:nvSpPr>
        <p:spPr>
          <a:xfrm>
            <a:off x="29559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5" name="Text Placeholder 10">
            <a:extLst>
              <a:ext uri="{FF2B5EF4-FFF2-40B4-BE49-F238E27FC236}">
                <a16:creationId xmlns:a16="http://schemas.microsoft.com/office/drawing/2014/main" id="{D963EBFA-BDB3-6ABA-B662-D773E665EF7D}"/>
              </a:ext>
            </a:extLst>
          </p:cNvPr>
          <p:cNvSpPr>
            <a:spLocks noGrp="1"/>
          </p:cNvSpPr>
          <p:nvPr>
            <p:ph type="body" sz="quarter" idx="48" hasCustomPrompt="1"/>
          </p:nvPr>
        </p:nvSpPr>
        <p:spPr>
          <a:xfrm>
            <a:off x="54578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6" name="Text Placeholder 10">
            <a:extLst>
              <a:ext uri="{FF2B5EF4-FFF2-40B4-BE49-F238E27FC236}">
                <a16:creationId xmlns:a16="http://schemas.microsoft.com/office/drawing/2014/main" id="{5C9260E7-C77B-2BE4-996E-B01E4A70536E}"/>
              </a:ext>
            </a:extLst>
          </p:cNvPr>
          <p:cNvSpPr>
            <a:spLocks noGrp="1"/>
          </p:cNvSpPr>
          <p:nvPr>
            <p:ph type="body" sz="quarter" idx="49" hasCustomPrompt="1"/>
          </p:nvPr>
        </p:nvSpPr>
        <p:spPr>
          <a:xfrm>
            <a:off x="54578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7" name="Text Placeholder 10">
            <a:extLst>
              <a:ext uri="{FF2B5EF4-FFF2-40B4-BE49-F238E27FC236}">
                <a16:creationId xmlns:a16="http://schemas.microsoft.com/office/drawing/2014/main" id="{4C415A5E-F122-67EA-DB56-8D538C16EC93}"/>
              </a:ext>
            </a:extLst>
          </p:cNvPr>
          <p:cNvSpPr>
            <a:spLocks noGrp="1"/>
          </p:cNvSpPr>
          <p:nvPr>
            <p:ph type="body" sz="quarter" idx="50" hasCustomPrompt="1"/>
          </p:nvPr>
        </p:nvSpPr>
        <p:spPr>
          <a:xfrm>
            <a:off x="79597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8" name="Text Placeholder 10">
            <a:extLst>
              <a:ext uri="{FF2B5EF4-FFF2-40B4-BE49-F238E27FC236}">
                <a16:creationId xmlns:a16="http://schemas.microsoft.com/office/drawing/2014/main" id="{197FC507-64A7-6845-D924-3EA93ED3F213}"/>
              </a:ext>
            </a:extLst>
          </p:cNvPr>
          <p:cNvSpPr>
            <a:spLocks noGrp="1"/>
          </p:cNvSpPr>
          <p:nvPr>
            <p:ph type="body" sz="quarter" idx="51" hasCustomPrompt="1"/>
          </p:nvPr>
        </p:nvSpPr>
        <p:spPr>
          <a:xfrm>
            <a:off x="79597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9" name="Text Placeholder 10">
            <a:extLst>
              <a:ext uri="{FF2B5EF4-FFF2-40B4-BE49-F238E27FC236}">
                <a16:creationId xmlns:a16="http://schemas.microsoft.com/office/drawing/2014/main" id="{A6263E65-C2F3-E85E-175C-3F8D04FD039A}"/>
              </a:ext>
            </a:extLst>
          </p:cNvPr>
          <p:cNvSpPr>
            <a:spLocks noGrp="1"/>
          </p:cNvSpPr>
          <p:nvPr>
            <p:ph type="body" sz="quarter" idx="52" hasCustomPrompt="1"/>
          </p:nvPr>
        </p:nvSpPr>
        <p:spPr>
          <a:xfrm>
            <a:off x="10461624" y="2805026"/>
            <a:ext cx="1730376"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40" name="Text Placeholder 10">
            <a:extLst>
              <a:ext uri="{FF2B5EF4-FFF2-40B4-BE49-F238E27FC236}">
                <a16:creationId xmlns:a16="http://schemas.microsoft.com/office/drawing/2014/main" id="{EACCA106-5A32-14F5-6436-3A8FA32128EB}"/>
              </a:ext>
            </a:extLst>
          </p:cNvPr>
          <p:cNvSpPr>
            <a:spLocks noGrp="1"/>
          </p:cNvSpPr>
          <p:nvPr>
            <p:ph type="body" sz="quarter" idx="53" hasCustomPrompt="1"/>
          </p:nvPr>
        </p:nvSpPr>
        <p:spPr>
          <a:xfrm>
            <a:off x="10461624" y="5116426"/>
            <a:ext cx="1730376"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2" name="Text Placeholder 15">
            <a:extLst>
              <a:ext uri="{FF2B5EF4-FFF2-40B4-BE49-F238E27FC236}">
                <a16:creationId xmlns:a16="http://schemas.microsoft.com/office/drawing/2014/main" id="{51E2F942-8396-45B5-EC6D-8AFC76FA1201}"/>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83942030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i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1424072"/>
            <a:ext cx="1600199" cy="1589663"/>
          </a:xfrm>
          <a:prstGeom prst="rect">
            <a:avLst/>
          </a:prstGeom>
          <a:solidFill>
            <a:schemeClr val="accent2">
              <a:lumMod val="40000"/>
              <a:lumOff val="60000"/>
            </a:schemeClr>
          </a:solidFill>
        </p:spPr>
        <p:txBody>
          <a:bodyPr tIns="457200"/>
          <a:lstStyle>
            <a:lvl1pPr algn="ctr">
              <a:defRPr sz="1000" b="0" i="0"/>
            </a:lvl1pPr>
          </a:lstStyle>
          <a:p>
            <a:r>
              <a:rPr lang="en-US"/>
              <a:t>Headshot</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hasCustomPrompt="1"/>
          </p:nvPr>
        </p:nvSpPr>
        <p:spPr>
          <a:xfrm>
            <a:off x="460376" y="3077336"/>
            <a:ext cx="1600199" cy="955574"/>
          </a:xfrm>
          <a:prstGeom prst="rect">
            <a:avLst/>
          </a:prstGeom>
        </p:spPr>
        <p:txBody>
          <a:bodyPr tIns="0"/>
          <a:lstStyle>
            <a:lvl1pPr>
              <a:spcAft>
                <a:spcPts val="0"/>
              </a:spcAft>
              <a:defRPr sz="1600" b="1" i="0">
                <a:solidFill>
                  <a:schemeClr val="tx1"/>
                </a:solidFill>
              </a:defRPr>
            </a:lvl1pPr>
            <a:lvl2pPr>
              <a:defRPr sz="16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stStyle>
          <a:p>
            <a:pPr lvl="0"/>
            <a:r>
              <a:rPr lang="en-US"/>
              <a:t>Name Lastname</a:t>
            </a:r>
          </a:p>
          <a:p>
            <a:pPr lvl="0"/>
            <a:r>
              <a:rPr lang="en-US"/>
              <a:t>Title</a:t>
            </a:r>
          </a:p>
        </p:txBody>
      </p:sp>
      <p:sp>
        <p:nvSpPr>
          <p:cNvPr id="5" name="TextBox 4">
            <a:extLst>
              <a:ext uri="{FF2B5EF4-FFF2-40B4-BE49-F238E27FC236}">
                <a16:creationId xmlns:a16="http://schemas.microsoft.com/office/drawing/2014/main" id="{055DE255-BAC4-98A8-8AB1-993F10F0E0B4}"/>
              </a:ext>
            </a:extLst>
          </p:cNvPr>
          <p:cNvSpPr txBox="1"/>
          <p:nvPr userDrawn="1"/>
        </p:nvSpPr>
        <p:spPr>
          <a:xfrm>
            <a:off x="460377" y="549275"/>
            <a:ext cx="2333625" cy="449296"/>
          </a:xfrm>
          <a:prstGeom prst="rect">
            <a:avLst/>
          </a:prstGeom>
          <a:noFill/>
        </p:spPr>
        <p:txBody>
          <a:bodyPr wrap="square" lIns="0" tIns="0" rIns="0" bIns="0" rtlCol="0" anchor="b" anchorCtr="0">
            <a:normAutofit/>
          </a:bodyPr>
          <a:lstStyle/>
          <a:p>
            <a:pPr marL="0" lvl="0" indent="-3657600" algn="l">
              <a:spcAft>
                <a:spcPts val="600"/>
              </a:spcAft>
            </a:pPr>
            <a:r>
              <a:rPr lang="en-US" sz="2800" b="1" i="0">
                <a:solidFill>
                  <a:schemeClr val="tx1"/>
                </a:solidFill>
                <a:latin typeface="+mn-lt"/>
                <a:ea typeface="Roboto" panose="02000000000000000000" pitchFamily="2" charset="0"/>
                <a:cs typeface="Segoe UI" panose="020B0502040204020203" pitchFamily="34" charset="0"/>
              </a:rPr>
              <a:t>BIO</a:t>
            </a:r>
          </a:p>
        </p:txBody>
      </p:sp>
      <p:sp>
        <p:nvSpPr>
          <p:cNvPr id="4" name="TextBox 3">
            <a:extLst>
              <a:ext uri="{FF2B5EF4-FFF2-40B4-BE49-F238E27FC236}">
                <a16:creationId xmlns:a16="http://schemas.microsoft.com/office/drawing/2014/main" id="{C5F7974B-9D4B-FA7C-DB5D-C7B4A4D2A99D}"/>
              </a:ext>
            </a:extLst>
          </p:cNvPr>
          <p:cNvSpPr txBox="1"/>
          <p:nvPr userDrawn="1"/>
        </p:nvSpPr>
        <p:spPr>
          <a:xfrm>
            <a:off x="7315200" y="-1397000"/>
            <a:ext cx="0" cy="0"/>
          </a:xfrm>
          <a:prstGeom prst="rect">
            <a:avLst/>
          </a:prstGeom>
          <a:noFill/>
        </p:spPr>
        <p:txBody>
          <a:bodyPr wrap="none" lIns="0" tIns="0" rIns="0" bIns="0" rtlCol="0">
            <a:normAutofit fontScale="25000" lnSpcReduction="20000"/>
          </a:bodyPr>
          <a:lstStyle/>
          <a:p>
            <a:pPr marL="0" indent="-3657600" algn="l">
              <a:spcAft>
                <a:spcPts val="600"/>
              </a:spcAft>
            </a:pPr>
            <a:endParaRPr lang="en-US" sz="1600" b="0" i="0">
              <a:solidFill>
                <a:schemeClr val="bg1"/>
              </a:solidFill>
              <a:latin typeface="+mn-lt"/>
              <a:ea typeface="Roboto" panose="02000000000000000000" pitchFamily="2" charset="0"/>
              <a:cs typeface="Segoe UI" panose="020B0502040204020203" pitchFamily="34" charset="0"/>
            </a:endParaRPr>
          </a:p>
        </p:txBody>
      </p:sp>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2268071" y="1412875"/>
            <a:ext cx="5631329" cy="4606925"/>
          </a:xfrm>
          <a:prstGeom prst="rect">
            <a:avLst/>
          </a:prstGeom>
        </p:spPr>
        <p:txBody>
          <a:bodyPr/>
          <a:lstStyle>
            <a:lvl1pPr>
              <a:defRPr sz="1400" b="0" i="0"/>
            </a:lvl1pPr>
            <a:lvl2pPr>
              <a:defRPr sz="1400" b="0" i="0"/>
            </a:lvl2pPr>
            <a:lvl3pPr>
              <a:defRPr sz="1400" b="0" i="0"/>
            </a:lvl3pPr>
            <a:lvl4pPr>
              <a:defRPr sz="1400" b="0" i="0"/>
            </a:lvl4pPr>
            <a:lvl5pPr>
              <a:defRPr sz="14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2">
            <a:extLst>
              <a:ext uri="{FF2B5EF4-FFF2-40B4-BE49-F238E27FC236}">
                <a16:creationId xmlns:a16="http://schemas.microsoft.com/office/drawing/2014/main" id="{F12F582F-DFC3-8EA9-41A3-9E5797F985A9}"/>
              </a:ext>
            </a:extLst>
          </p:cNvPr>
          <p:cNvSpPr>
            <a:spLocks noGrp="1"/>
          </p:cNvSpPr>
          <p:nvPr>
            <p:ph type="body" sz="quarter" idx="29" hasCustomPrompt="1"/>
          </p:nvPr>
        </p:nvSpPr>
        <p:spPr>
          <a:xfrm>
            <a:off x="8076579" y="1347340"/>
            <a:ext cx="3459790" cy="2272161"/>
          </a:xfrm>
          <a:prstGeom prst="rect">
            <a:avLst/>
          </a:prstGeom>
          <a:solidFill>
            <a:schemeClr val="accent4"/>
          </a:solidFill>
        </p:spPr>
        <p:txBody>
          <a:bodyPr lIns="182880" tIns="182880" rIns="182880" bIns="182880"/>
          <a:lstStyle>
            <a:lvl1pPr>
              <a:defRPr sz="1400" b="1" i="0" u="sng">
                <a:solidFill>
                  <a:schemeClr val="accent2"/>
                </a:solidFill>
              </a:defRPr>
            </a:lvl1pPr>
            <a:lvl2pPr marL="228600" indent="-228600">
              <a:buClr>
                <a:schemeClr val="tx1"/>
              </a:buClr>
              <a:buFont typeface="Arial" panose="020B0604020202020204" pitchFamily="34" charset="0"/>
              <a:buChar char="•"/>
              <a:defRPr sz="1400" b="0" i="0">
                <a:solidFill>
                  <a:schemeClr val="tx1"/>
                </a:solidFill>
              </a:defRPr>
            </a:lvl2pPr>
            <a:lvl3pPr marL="457200">
              <a:defRPr/>
            </a:lvl3pPr>
            <a:lvl4pPr marL="685800">
              <a:defRPr sz="1400"/>
            </a:lvl4pPr>
            <a:lvl5pPr marL="914400">
              <a:defRPr/>
            </a:lvl5pPr>
          </a:lstStyle>
          <a:p>
            <a:pPr lvl="0"/>
            <a:r>
              <a:rPr lang="en-US"/>
              <a:t>Industries served</a:t>
            </a:r>
          </a:p>
          <a:p>
            <a:pPr lvl="1"/>
            <a:r>
              <a:rPr lang="en-US"/>
              <a:t>Bullet</a:t>
            </a:r>
          </a:p>
        </p:txBody>
      </p:sp>
      <p:sp>
        <p:nvSpPr>
          <p:cNvPr id="15" name="Text Placeholder 12">
            <a:extLst>
              <a:ext uri="{FF2B5EF4-FFF2-40B4-BE49-F238E27FC236}">
                <a16:creationId xmlns:a16="http://schemas.microsoft.com/office/drawing/2014/main" id="{90DCED2C-4702-3E26-08C4-BE0F781E7BCE}"/>
              </a:ext>
            </a:extLst>
          </p:cNvPr>
          <p:cNvSpPr>
            <a:spLocks noGrp="1"/>
          </p:cNvSpPr>
          <p:nvPr>
            <p:ph type="body" sz="quarter" idx="30" hasCustomPrompt="1"/>
          </p:nvPr>
        </p:nvSpPr>
        <p:spPr>
          <a:xfrm>
            <a:off x="8076579" y="3743441"/>
            <a:ext cx="3459790" cy="2272161"/>
          </a:xfrm>
          <a:prstGeom prst="rect">
            <a:avLst/>
          </a:prstGeom>
          <a:solidFill>
            <a:schemeClr val="accent4"/>
          </a:solidFill>
        </p:spPr>
        <p:txBody>
          <a:bodyPr lIns="182880" tIns="182880" rIns="182880" bIns="182880"/>
          <a:lstStyle>
            <a:lvl1pPr>
              <a:defRPr sz="1400" b="1" i="0" u="sng">
                <a:solidFill>
                  <a:schemeClr val="accent2"/>
                </a:solidFill>
              </a:defRPr>
            </a:lvl1pPr>
            <a:lvl2pPr marL="228600" indent="-228600">
              <a:buClr>
                <a:schemeClr val="tx1"/>
              </a:buClr>
              <a:buFont typeface="Arial" panose="020B0604020202020204" pitchFamily="34" charset="0"/>
              <a:buChar char="•"/>
              <a:defRPr sz="1400" b="0" i="0">
                <a:solidFill>
                  <a:schemeClr val="tx1"/>
                </a:solidFill>
              </a:defRPr>
            </a:lvl2pPr>
            <a:lvl3pPr marL="457200">
              <a:defRPr/>
            </a:lvl3pPr>
            <a:lvl4pPr marL="685800">
              <a:defRPr sz="1400"/>
            </a:lvl4pPr>
            <a:lvl5pPr marL="914400">
              <a:defRPr/>
            </a:lvl5pPr>
          </a:lstStyle>
          <a:p>
            <a:pPr lvl="0"/>
            <a:r>
              <a:rPr lang="en-US"/>
              <a:t>Skills &amp; Specialties</a:t>
            </a:r>
          </a:p>
          <a:p>
            <a:pPr lvl="1"/>
            <a:r>
              <a:rPr lang="en-US"/>
              <a:t>Bullet</a:t>
            </a:r>
          </a:p>
        </p:txBody>
      </p:sp>
      <p:sp>
        <p:nvSpPr>
          <p:cNvPr id="2" name="Text Placeholder 15">
            <a:extLst>
              <a:ext uri="{FF2B5EF4-FFF2-40B4-BE49-F238E27FC236}">
                <a16:creationId xmlns:a16="http://schemas.microsoft.com/office/drawing/2014/main" id="{8BBB8F65-14F9-B931-3059-9EFE5E3B97E1}"/>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77979474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ase_stud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Text Placeholder 15">
            <a:extLst>
              <a:ext uri="{FF2B5EF4-FFF2-40B4-BE49-F238E27FC236}">
                <a16:creationId xmlns:a16="http://schemas.microsoft.com/office/drawing/2014/main" id="{59819361-C169-F543-35DA-BD3C6C3B985E}"/>
              </a:ext>
            </a:extLst>
          </p:cNvPr>
          <p:cNvSpPr>
            <a:spLocks noGrp="1"/>
          </p:cNvSpPr>
          <p:nvPr>
            <p:ph type="body" sz="quarter" idx="33" hasCustomPrompt="1"/>
          </p:nvPr>
        </p:nvSpPr>
        <p:spPr>
          <a:xfrm>
            <a:off x="4298950" y="831591"/>
            <a:ext cx="3602038" cy="1436596"/>
          </a:xfrm>
          <a:prstGeom prst="rect">
            <a:avLst/>
          </a:prstGeo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460375" y="2202611"/>
            <a:ext cx="3606800" cy="3817189"/>
          </a:xfrm>
          <a:prstGeom prst="rect">
            <a:avLst/>
          </a:prstGeom>
        </p:spPr>
        <p:txBody>
          <a:bodyPr tIns="91440"/>
          <a:lstStyle>
            <a:lvl1pPr>
              <a:defRPr sz="1200" b="0" i="0"/>
            </a:lvl1pPr>
            <a:lvl2pPr marL="285750" indent="-276225">
              <a:tabLst/>
              <a:defRPr sz="1200" b="0" i="0"/>
            </a:lvl2pPr>
            <a:lvl3pPr marL="628650" indent="-285750">
              <a:tabLst/>
              <a:defRPr sz="1200" b="0" i="0"/>
            </a:lvl3pPr>
            <a:lvl4pPr marL="973138" indent="-276225">
              <a:buFont typeface="Arial" panose="020B0604020202020204" pitchFamily="34" charset="0"/>
              <a:buChar char="•"/>
              <a:tabLst/>
              <a:defRPr sz="1200" b="0" i="0"/>
            </a:lvl4pPr>
            <a:lvl5pPr marL="1317625" indent="-287338">
              <a:tabLst/>
              <a:defRPr sz="1200" b="0" i="0"/>
            </a:lvl5pPr>
            <a:lvl6pPr marL="182880" indent="-182880">
              <a:buAutoNum type="arabicPeriod"/>
              <a:defRPr sz="1200"/>
            </a:lvl6pPr>
            <a:lvl7pPr marL="365760" indent="-182880">
              <a:buAutoNum type="arabicPeriod"/>
              <a:defRPr sz="1200"/>
            </a:lvl7pPr>
            <a:lvl8pPr marL="548640" indent="-182880">
              <a:defRPr sz="1200"/>
            </a:lvl8pPr>
            <a:lvl9pPr>
              <a:defRPr sz="14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15">
            <a:extLst>
              <a:ext uri="{FF2B5EF4-FFF2-40B4-BE49-F238E27FC236}">
                <a16:creationId xmlns:a16="http://schemas.microsoft.com/office/drawing/2014/main" id="{F2F2811C-682B-50C7-DB15-23C006FAFC16}"/>
              </a:ext>
            </a:extLst>
          </p:cNvPr>
          <p:cNvSpPr>
            <a:spLocks noGrp="1"/>
          </p:cNvSpPr>
          <p:nvPr>
            <p:ph type="body" sz="quarter" idx="19" hasCustomPrompt="1"/>
          </p:nvPr>
        </p:nvSpPr>
        <p:spPr>
          <a:xfrm>
            <a:off x="465138" y="556953"/>
            <a:ext cx="3602038" cy="556953"/>
          </a:xfrm>
          <a:prstGeom prst="rect">
            <a:avLst/>
          </a:prstGeom>
        </p:spPr>
        <p:txBody>
          <a:bodyPr tIns="228600" rIns="0" bIns="0" anchor="t" anchorCtr="0"/>
          <a:lstStyle>
            <a:lvl1pPr>
              <a:spcAft>
                <a:spcPts val="0"/>
              </a:spcAft>
              <a:buFontTx/>
              <a:buNone/>
              <a:defRPr sz="1500" b="1" i="0" cap="all"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all"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CLIENT NAME</a:t>
            </a:r>
          </a:p>
        </p:txBody>
      </p:sp>
      <p:sp>
        <p:nvSpPr>
          <p:cNvPr id="12" name="Title 11">
            <a:extLst>
              <a:ext uri="{FF2B5EF4-FFF2-40B4-BE49-F238E27FC236}">
                <a16:creationId xmlns:a16="http://schemas.microsoft.com/office/drawing/2014/main" id="{73D86145-91C7-C9AD-8439-02A6318C3553}"/>
              </a:ext>
            </a:extLst>
          </p:cNvPr>
          <p:cNvSpPr>
            <a:spLocks noGrp="1"/>
          </p:cNvSpPr>
          <p:nvPr>
            <p:ph type="title"/>
          </p:nvPr>
        </p:nvSpPr>
        <p:spPr>
          <a:xfrm>
            <a:off x="460375" y="1116054"/>
            <a:ext cx="3606800" cy="1086557"/>
          </a:xfrm>
          <a:prstGeom prst="rect">
            <a:avLst/>
          </a:prstGeom>
        </p:spPr>
        <p:txBody>
          <a:bodyPr tIns="45720"/>
          <a:lstStyle>
            <a:lvl1pPr>
              <a:defRPr sz="2200">
                <a:solidFill>
                  <a:schemeClr val="tx1"/>
                </a:solidFill>
              </a:defRPr>
            </a:lvl1pPr>
          </a:lstStyle>
          <a:p>
            <a:r>
              <a:rPr lang="en-US"/>
              <a:t>Click to edit Master title style</a:t>
            </a:r>
          </a:p>
        </p:txBody>
      </p:sp>
      <p:sp>
        <p:nvSpPr>
          <p:cNvPr id="16" name="Picture Placeholder 7">
            <a:extLst>
              <a:ext uri="{FF2B5EF4-FFF2-40B4-BE49-F238E27FC236}">
                <a16:creationId xmlns:a16="http://schemas.microsoft.com/office/drawing/2014/main" id="{85295369-BD35-627D-DCF3-70F052CE99AA}"/>
              </a:ext>
            </a:extLst>
          </p:cNvPr>
          <p:cNvSpPr>
            <a:spLocks noGrp="1"/>
          </p:cNvSpPr>
          <p:nvPr>
            <p:ph type="pic" sz="quarter" idx="10" hasCustomPrompt="1"/>
          </p:nvPr>
        </p:nvSpPr>
        <p:spPr>
          <a:xfrm>
            <a:off x="8124824" y="835429"/>
            <a:ext cx="3603625" cy="4854171"/>
          </a:xfrm>
          <a:prstGeom prst="rect">
            <a:avLst/>
          </a:prstGeom>
          <a:solidFill>
            <a:schemeClr val="accent2">
              <a:lumMod val="40000"/>
              <a:lumOff val="60000"/>
            </a:schemeClr>
          </a:solidFill>
        </p:spPr>
        <p:txBody>
          <a:bodyPr tIns="1828800"/>
          <a:lstStyle>
            <a:lvl1pPr algn="ctr">
              <a:defRPr b="0" i="0"/>
            </a:lvl1pPr>
          </a:lstStyle>
          <a:p>
            <a:r>
              <a:rPr lang="en-US"/>
              <a:t>Relevant image or </a:t>
            </a:r>
            <a:br>
              <a:rPr lang="en-US"/>
            </a:br>
            <a:r>
              <a:rPr lang="en-US"/>
              <a:t>product prototype</a:t>
            </a:r>
          </a:p>
        </p:txBody>
      </p:sp>
      <p:sp>
        <p:nvSpPr>
          <p:cNvPr id="17" name="Text Placeholder 15">
            <a:extLst>
              <a:ext uri="{FF2B5EF4-FFF2-40B4-BE49-F238E27FC236}">
                <a16:creationId xmlns:a16="http://schemas.microsoft.com/office/drawing/2014/main" id="{B2F81DA5-F8CF-9074-55A0-F820DE7FFD70}"/>
              </a:ext>
            </a:extLst>
          </p:cNvPr>
          <p:cNvSpPr>
            <a:spLocks noGrp="1"/>
          </p:cNvSpPr>
          <p:nvPr>
            <p:ph type="body" sz="quarter" idx="23" hasCustomPrompt="1"/>
          </p:nvPr>
        </p:nvSpPr>
        <p:spPr>
          <a:xfrm>
            <a:off x="4516834" y="1014960"/>
            <a:ext cx="1372790" cy="510741"/>
          </a:xfrm>
          <a:prstGeom prst="rect">
            <a:avLst/>
          </a:prstGeo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18" name="Text Placeholder 15">
            <a:extLst>
              <a:ext uri="{FF2B5EF4-FFF2-40B4-BE49-F238E27FC236}">
                <a16:creationId xmlns:a16="http://schemas.microsoft.com/office/drawing/2014/main" id="{B61EB7FF-E196-443F-C2CC-DAFC7495AF6C}"/>
              </a:ext>
            </a:extLst>
          </p:cNvPr>
          <p:cNvSpPr>
            <a:spLocks noGrp="1"/>
          </p:cNvSpPr>
          <p:nvPr>
            <p:ph type="body" sz="quarter" idx="31" hasCustomPrompt="1"/>
          </p:nvPr>
        </p:nvSpPr>
        <p:spPr>
          <a:xfrm>
            <a:off x="4516834" y="1525702"/>
            <a:ext cx="1372791" cy="556953"/>
          </a:xfrm>
          <a:prstGeom prst="rect">
            <a:avLst/>
          </a:prstGeom>
        </p:spPr>
        <p:txBody>
          <a:bodyPr tIns="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19" name="Text Placeholder 15">
            <a:extLst>
              <a:ext uri="{FF2B5EF4-FFF2-40B4-BE49-F238E27FC236}">
                <a16:creationId xmlns:a16="http://schemas.microsoft.com/office/drawing/2014/main" id="{883E52D6-5A2B-54FE-B2FD-50F05B9B1649}"/>
              </a:ext>
            </a:extLst>
          </p:cNvPr>
          <p:cNvSpPr>
            <a:spLocks noGrp="1"/>
          </p:cNvSpPr>
          <p:nvPr>
            <p:ph type="body" sz="quarter" idx="32" hasCustomPrompt="1"/>
          </p:nvPr>
        </p:nvSpPr>
        <p:spPr>
          <a:xfrm>
            <a:off x="5981700" y="1014838"/>
            <a:ext cx="1786952" cy="1067817"/>
          </a:xfrm>
          <a:prstGeom prst="rect">
            <a:avLst/>
          </a:prstGeo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6" name="Text Placeholder 25">
            <a:extLst>
              <a:ext uri="{FF2B5EF4-FFF2-40B4-BE49-F238E27FC236}">
                <a16:creationId xmlns:a16="http://schemas.microsoft.com/office/drawing/2014/main" id="{145EC9BB-9EA6-882D-C1C8-A929A8D7679A}"/>
              </a:ext>
            </a:extLst>
          </p:cNvPr>
          <p:cNvSpPr>
            <a:spLocks noGrp="1"/>
          </p:cNvSpPr>
          <p:nvPr>
            <p:ph type="body" sz="quarter" idx="38" hasCustomPrompt="1"/>
          </p:nvPr>
        </p:nvSpPr>
        <p:spPr>
          <a:xfrm>
            <a:off x="4300536" y="4419803"/>
            <a:ext cx="803275" cy="269761"/>
          </a:xfrm>
          <a:prstGeom prst="rect">
            <a:avLst/>
          </a:prstGeom>
          <a:blipFill>
            <a:blip>
              <a:extLst>
                <a:ext uri="{96DAC541-7B7A-43D3-8B79-37D633B846F1}">
                  <asvg:svgBlip xmlns:asvg="http://schemas.microsoft.com/office/drawing/2016/SVG/main" r:embed="rId4"/>
                </a:ext>
              </a:extLst>
            </a:blip>
            <a:stretch>
              <a:fillRect/>
            </a:stretch>
          </a:blipFill>
        </p:spPr>
        <p:txBody>
          <a:bodyPr/>
          <a:lstStyle>
            <a:lvl1pPr>
              <a:defRPr b="0" i="0"/>
            </a:lvl1pPr>
          </a:lstStyle>
          <a:p>
            <a:pPr lvl="0"/>
            <a:r>
              <a:rPr lang="en-US"/>
              <a:t> </a:t>
            </a:r>
          </a:p>
        </p:txBody>
      </p:sp>
      <p:sp>
        <p:nvSpPr>
          <p:cNvPr id="27" name="Text Placeholder 15">
            <a:extLst>
              <a:ext uri="{FF2B5EF4-FFF2-40B4-BE49-F238E27FC236}">
                <a16:creationId xmlns:a16="http://schemas.microsoft.com/office/drawing/2014/main" id="{A32C7319-9E77-357E-1E6B-23D733A030D1}"/>
              </a:ext>
            </a:extLst>
          </p:cNvPr>
          <p:cNvSpPr>
            <a:spLocks noGrp="1"/>
          </p:cNvSpPr>
          <p:nvPr>
            <p:ph type="body" sz="quarter" idx="39" hasCustomPrompt="1"/>
          </p:nvPr>
        </p:nvSpPr>
        <p:spPr>
          <a:xfrm>
            <a:off x="4298950" y="4800601"/>
            <a:ext cx="3600450" cy="1219458"/>
          </a:xfrm>
          <a:prstGeom prst="rect">
            <a:avLst/>
          </a:prstGeom>
        </p:spPr>
        <p:txBody>
          <a:bodyPr tIns="0" rIns="0" bIns="0" anchor="t" anchorCtr="0"/>
          <a:lstStyle>
            <a:lvl1pPr>
              <a:spcAft>
                <a:spcPts val="100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Testimonial or project highlight goes here lorem ipsum dolor. Lorem </a:t>
            </a:r>
            <a:r>
              <a:rPr lang="en-US" err="1"/>
              <a:t>amet</a:t>
            </a:r>
            <a:r>
              <a:rPr lang="en-US"/>
              <a:t> </a:t>
            </a:r>
            <a:r>
              <a:rPr lang="en-US" err="1"/>
              <a:t>repudicae</a:t>
            </a:r>
            <a:r>
              <a:rPr lang="en-US"/>
              <a:t> </a:t>
            </a:r>
            <a:r>
              <a:rPr lang="en-US" err="1"/>
              <a:t>nihitatis</a:t>
            </a:r>
            <a:r>
              <a:rPr lang="en-US"/>
              <a:t> et </a:t>
            </a:r>
            <a:r>
              <a:rPr lang="en-US" err="1"/>
              <a:t>magnam</a:t>
            </a:r>
            <a:r>
              <a:rPr lang="en-US"/>
              <a:t>.</a:t>
            </a:r>
          </a:p>
        </p:txBody>
      </p:sp>
      <p:sp>
        <p:nvSpPr>
          <p:cNvPr id="30" name="Text Placeholder 15">
            <a:extLst>
              <a:ext uri="{FF2B5EF4-FFF2-40B4-BE49-F238E27FC236}">
                <a16:creationId xmlns:a16="http://schemas.microsoft.com/office/drawing/2014/main" id="{ABD1EAE9-28F1-F022-0886-6034CEE48011}"/>
              </a:ext>
            </a:extLst>
          </p:cNvPr>
          <p:cNvSpPr>
            <a:spLocks noGrp="1"/>
          </p:cNvSpPr>
          <p:nvPr>
            <p:ph type="body" sz="quarter" idx="40" hasCustomPrompt="1"/>
          </p:nvPr>
        </p:nvSpPr>
        <p:spPr>
          <a:xfrm>
            <a:off x="4298950" y="2506012"/>
            <a:ext cx="3602038" cy="1436596"/>
          </a:xfrm>
          <a:prstGeom prst="rect">
            <a:avLst/>
          </a:prstGeo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31" name="Text Placeholder 15">
            <a:extLst>
              <a:ext uri="{FF2B5EF4-FFF2-40B4-BE49-F238E27FC236}">
                <a16:creationId xmlns:a16="http://schemas.microsoft.com/office/drawing/2014/main" id="{C701D8AA-933D-5BE4-F7F1-E10444A625FD}"/>
              </a:ext>
            </a:extLst>
          </p:cNvPr>
          <p:cNvSpPr>
            <a:spLocks noGrp="1"/>
          </p:cNvSpPr>
          <p:nvPr>
            <p:ph type="body" sz="quarter" idx="41" hasCustomPrompt="1"/>
          </p:nvPr>
        </p:nvSpPr>
        <p:spPr>
          <a:xfrm>
            <a:off x="4516834" y="2689381"/>
            <a:ext cx="1372790" cy="510741"/>
          </a:xfrm>
          <a:prstGeom prst="rect">
            <a:avLst/>
          </a:prstGeo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32" name="Text Placeholder 15">
            <a:extLst>
              <a:ext uri="{FF2B5EF4-FFF2-40B4-BE49-F238E27FC236}">
                <a16:creationId xmlns:a16="http://schemas.microsoft.com/office/drawing/2014/main" id="{B7C2371B-53EA-E95C-F739-EFE9AE51735E}"/>
              </a:ext>
            </a:extLst>
          </p:cNvPr>
          <p:cNvSpPr>
            <a:spLocks noGrp="1"/>
          </p:cNvSpPr>
          <p:nvPr>
            <p:ph type="body" sz="quarter" idx="42" hasCustomPrompt="1"/>
          </p:nvPr>
        </p:nvSpPr>
        <p:spPr>
          <a:xfrm>
            <a:off x="4516834" y="3200123"/>
            <a:ext cx="1372791" cy="556953"/>
          </a:xfrm>
          <a:prstGeom prst="rect">
            <a:avLst/>
          </a:prstGeom>
        </p:spPr>
        <p:txBody>
          <a:bodyPr tIns="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33" name="Text Placeholder 15">
            <a:extLst>
              <a:ext uri="{FF2B5EF4-FFF2-40B4-BE49-F238E27FC236}">
                <a16:creationId xmlns:a16="http://schemas.microsoft.com/office/drawing/2014/main" id="{EF52418C-31BC-D8CA-DAA7-32470FE01E79}"/>
              </a:ext>
            </a:extLst>
          </p:cNvPr>
          <p:cNvSpPr>
            <a:spLocks noGrp="1"/>
          </p:cNvSpPr>
          <p:nvPr>
            <p:ph type="body" sz="quarter" idx="43" hasCustomPrompt="1"/>
          </p:nvPr>
        </p:nvSpPr>
        <p:spPr>
          <a:xfrm>
            <a:off x="5981700" y="2689259"/>
            <a:ext cx="1786952" cy="1067817"/>
          </a:xfrm>
          <a:prstGeom prst="rect">
            <a:avLst/>
          </a:prstGeo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 name="Text Placeholder 15">
            <a:extLst>
              <a:ext uri="{FF2B5EF4-FFF2-40B4-BE49-F238E27FC236}">
                <a16:creationId xmlns:a16="http://schemas.microsoft.com/office/drawing/2014/main" id="{AD00B111-831B-7B8E-4399-AF47F1033036}"/>
              </a:ext>
            </a:extLst>
          </p:cNvPr>
          <p:cNvSpPr>
            <a:spLocks noGrp="1"/>
          </p:cNvSpPr>
          <p:nvPr>
            <p:ph type="body" sz="quarter" idx="44"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72201487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tatement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5F1BAB3-2172-EDE0-D80B-DE96A3EB6491}"/>
              </a:ext>
            </a:extLst>
          </p:cNvPr>
          <p:cNvSpPr/>
          <p:nvPr userDrawn="1"/>
        </p:nvSpPr>
        <p:spPr bwMode="auto">
          <a:xfrm>
            <a:off x="376084" y="302342"/>
            <a:ext cx="3414251" cy="3414252"/>
          </a:xfrm>
          <a:prstGeom prst="rect">
            <a:avLst/>
          </a:prstGeom>
          <a:solidFill>
            <a:schemeClr val="bg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 name="Rectangle 2">
            <a:extLst>
              <a:ext uri="{FF2B5EF4-FFF2-40B4-BE49-F238E27FC236}">
                <a16:creationId xmlns:a16="http://schemas.microsoft.com/office/drawing/2014/main" id="{6245E236-EA46-B9A6-8C5E-E8A8DC476604}"/>
              </a:ext>
            </a:extLst>
          </p:cNvPr>
          <p:cNvSpPr/>
          <p:nvPr userDrawn="1"/>
        </p:nvSpPr>
        <p:spPr bwMode="auto">
          <a:xfrm>
            <a:off x="3870960" y="0"/>
            <a:ext cx="8321040" cy="6858000"/>
          </a:xfrm>
          <a:prstGeom prst="rect">
            <a:avLst/>
          </a:prstGeom>
          <a:solidFill>
            <a:schemeClr val="accent4"/>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tx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pic>
        <p:nvPicPr>
          <p:cNvPr id="7" name="Graphic 6">
            <a:extLst>
              <a:ext uri="{FF2B5EF4-FFF2-40B4-BE49-F238E27FC236}">
                <a16:creationId xmlns:a16="http://schemas.microsoft.com/office/drawing/2014/main" id="{482E7113-51BE-AA27-C34B-CFB42B25ADC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44656" y="418308"/>
            <a:ext cx="3246120" cy="3246120"/>
          </a:xfrm>
          <a:prstGeom prst="rect">
            <a:avLst/>
          </a:prstGeom>
        </p:spPr>
      </p:pic>
      <p:sp>
        <p:nvSpPr>
          <p:cNvPr id="2" name="Picture Placeholder 7">
            <a:extLst>
              <a:ext uri="{FF2B5EF4-FFF2-40B4-BE49-F238E27FC236}">
                <a16:creationId xmlns:a16="http://schemas.microsoft.com/office/drawing/2014/main" id="{83BAC274-EB05-8089-8DCA-82CC218E7B7D}"/>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4" name="Text Placeholder 15">
            <a:extLst>
              <a:ext uri="{FF2B5EF4-FFF2-40B4-BE49-F238E27FC236}">
                <a16:creationId xmlns:a16="http://schemas.microsoft.com/office/drawing/2014/main" id="{6C53D84F-90C6-E9E9-D69B-718ED8DB9172}"/>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98801362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tatement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AFD21C-DCE9-6B77-24D6-8A99C74D659B}"/>
              </a:ext>
            </a:extLst>
          </p:cNvPr>
          <p:cNvSpPr/>
          <p:nvPr userDrawn="1"/>
        </p:nvSpPr>
        <p:spPr bwMode="auto">
          <a:xfrm>
            <a:off x="376084" y="302342"/>
            <a:ext cx="3414251" cy="3414252"/>
          </a:xfrm>
          <a:prstGeom prst="rect">
            <a:avLst/>
          </a:prstGeom>
          <a:solidFill>
            <a:schemeClr val="bg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pic>
        <p:nvPicPr>
          <p:cNvPr id="3" name="Graphic 2">
            <a:extLst>
              <a:ext uri="{FF2B5EF4-FFF2-40B4-BE49-F238E27FC236}">
                <a16:creationId xmlns:a16="http://schemas.microsoft.com/office/drawing/2014/main" id="{5A53C03A-E712-957A-E2B2-89A26C36565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44656" y="418308"/>
            <a:ext cx="3246120" cy="3246120"/>
          </a:xfrm>
          <a:prstGeom prst="rect">
            <a:avLst/>
          </a:prstGeom>
        </p:spPr>
      </p:pic>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678C184-31FA-D189-F5F1-A649E85A2BA7}"/>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bg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11" name="Picture Placeholder 7">
            <a:extLst>
              <a:ext uri="{FF2B5EF4-FFF2-40B4-BE49-F238E27FC236}">
                <a16:creationId xmlns:a16="http://schemas.microsoft.com/office/drawing/2014/main" id="{0A7DEA8A-BFCC-0AC5-D777-EE87427CC9B6}"/>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2" name="Footer Placeholder 8">
            <a:extLst>
              <a:ext uri="{FF2B5EF4-FFF2-40B4-BE49-F238E27FC236}">
                <a16:creationId xmlns:a16="http://schemas.microsoft.com/office/drawing/2014/main" id="{8657527A-CAEB-FEAB-3416-F225B5A68F7F}"/>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6129BC8C-D508-35AC-1FA3-37F936E3752F}"/>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
        <p:nvSpPr>
          <p:cNvPr id="4" name="Text Placeholder 15">
            <a:extLst>
              <a:ext uri="{FF2B5EF4-FFF2-40B4-BE49-F238E27FC236}">
                <a16:creationId xmlns:a16="http://schemas.microsoft.com/office/drawing/2014/main" id="{7B791C9B-9F08-CDD4-1421-B566D68898B9}"/>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54691015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tatement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19AF66-47FB-88E9-78EF-C4D84FD09E07}"/>
              </a:ext>
            </a:extLst>
          </p:cNvPr>
          <p:cNvSpPr/>
          <p:nvPr userDrawn="1"/>
        </p:nvSpPr>
        <p:spPr bwMode="auto">
          <a:xfrm>
            <a:off x="376084" y="302342"/>
            <a:ext cx="3414251" cy="3414252"/>
          </a:xfrm>
          <a:prstGeom prst="rect">
            <a:avLst/>
          </a:prstGeom>
          <a:solidFill>
            <a:schemeClr val="bg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pic>
        <p:nvPicPr>
          <p:cNvPr id="3" name="Graphic 2">
            <a:extLst>
              <a:ext uri="{FF2B5EF4-FFF2-40B4-BE49-F238E27FC236}">
                <a16:creationId xmlns:a16="http://schemas.microsoft.com/office/drawing/2014/main" id="{35F8844D-35D4-B9ED-0FE9-01689BD1B7D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44656" y="418308"/>
            <a:ext cx="3246120" cy="3246120"/>
          </a:xfrm>
          <a:prstGeom prst="rect">
            <a:avLst/>
          </a:prstGeom>
        </p:spPr>
      </p:pic>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A099A38-A8A2-7263-BB25-EE5337AAA98C}"/>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bg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11" name="Picture Placeholder 7">
            <a:extLst>
              <a:ext uri="{FF2B5EF4-FFF2-40B4-BE49-F238E27FC236}">
                <a16:creationId xmlns:a16="http://schemas.microsoft.com/office/drawing/2014/main" id="{4262223A-9D73-96F4-3DE6-CDEEF4F5878B}"/>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2" name="Footer Placeholder 8">
            <a:extLst>
              <a:ext uri="{FF2B5EF4-FFF2-40B4-BE49-F238E27FC236}">
                <a16:creationId xmlns:a16="http://schemas.microsoft.com/office/drawing/2014/main" id="{8E270589-B840-8D56-E32B-99AA9C396E34}"/>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0F30AAAB-5875-7313-E3C5-DDE3A87DE7E4}"/>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
        <p:nvSpPr>
          <p:cNvPr id="4" name="Text Placeholder 15">
            <a:extLst>
              <a:ext uri="{FF2B5EF4-FFF2-40B4-BE49-F238E27FC236}">
                <a16:creationId xmlns:a16="http://schemas.microsoft.com/office/drawing/2014/main" id="{2BF86DA2-2428-258E-E7E5-94556623F363}"/>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18420363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tatement_4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ext Placeholder 9">
            <a:extLst>
              <a:ext uri="{FF2B5EF4-FFF2-40B4-BE49-F238E27FC236}">
                <a16:creationId xmlns:a16="http://schemas.microsoft.com/office/drawing/2014/main" id="{567773C6-F57B-6E9F-F954-058B210A9903}"/>
              </a:ext>
            </a:extLst>
          </p:cNvPr>
          <p:cNvSpPr>
            <a:spLocks noGrp="1"/>
          </p:cNvSpPr>
          <p:nvPr>
            <p:ph type="body" sz="quarter" idx="23" hasCustomPrompt="1"/>
          </p:nvPr>
        </p:nvSpPr>
        <p:spPr>
          <a:xfrm>
            <a:off x="0" y="3240042"/>
            <a:ext cx="3441700" cy="586696"/>
          </a:xfrm>
          <a:prstGeom prst="rect">
            <a:avLst/>
          </a:prstGeom>
          <a:blipFill>
            <a:blip r:embed="rId3"/>
            <a:stretch>
              <a:fillRect/>
            </a:stretch>
          </a:blipFill>
        </p:spPr>
        <p:txBody>
          <a:bodyPr/>
          <a:lstStyle>
            <a:lvl1pPr>
              <a:defRPr sz="2800" b="0" i="0"/>
            </a:lvl1pPr>
          </a:lstStyle>
          <a:p>
            <a:pPr lvl="0"/>
            <a:r>
              <a:rPr lang="en-US"/>
              <a:t> </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4" name="Title 1">
            <a:extLst>
              <a:ext uri="{FF2B5EF4-FFF2-40B4-BE49-F238E27FC236}">
                <a16:creationId xmlns:a16="http://schemas.microsoft.com/office/drawing/2014/main" id="{561928D6-AF33-2FC3-7DA3-712B90A8FF99}"/>
              </a:ext>
            </a:extLst>
          </p:cNvPr>
          <p:cNvSpPr>
            <a:spLocks noGrp="1"/>
          </p:cNvSpPr>
          <p:nvPr>
            <p:ph type="title" hasCustomPrompt="1"/>
          </p:nvPr>
        </p:nvSpPr>
        <p:spPr>
          <a:xfrm>
            <a:off x="460377" y="1770064"/>
            <a:ext cx="6156323" cy="1962936"/>
          </a:xfrm>
          <a:prstGeom prst="rect">
            <a:avLst/>
          </a:prstGeom>
        </p:spPr>
        <p:txBody>
          <a:bodyPr anchor="b" anchorCtr="0"/>
          <a:lstStyle>
            <a:lvl1pPr>
              <a:defRPr sz="2800" b="1">
                <a:solidFill>
                  <a:schemeClr val="tx1"/>
                </a:solidFill>
              </a:defRPr>
            </a:lvl1pPr>
          </a:lstStyle>
          <a:p>
            <a:r>
              <a:rPr lang="en-US"/>
              <a:t>Statement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amet</a:t>
            </a:r>
            <a:r>
              <a:rPr lang="en-US"/>
              <a:t> adjust highlight et dolore. </a:t>
            </a:r>
          </a:p>
        </p:txBody>
      </p:sp>
      <p:sp>
        <p:nvSpPr>
          <p:cNvPr id="15" name="Picture Placeholder 7">
            <a:extLst>
              <a:ext uri="{FF2B5EF4-FFF2-40B4-BE49-F238E27FC236}">
                <a16:creationId xmlns:a16="http://schemas.microsoft.com/office/drawing/2014/main" id="{2B7400D2-037A-9FDF-16A4-0FD79008EAA7}"/>
              </a:ext>
            </a:extLst>
          </p:cNvPr>
          <p:cNvSpPr>
            <a:spLocks noGrp="1"/>
          </p:cNvSpPr>
          <p:nvPr>
            <p:ph type="pic" sz="quarter" idx="10" hasCustomPrompt="1"/>
          </p:nvPr>
        </p:nvSpPr>
        <p:spPr>
          <a:xfrm>
            <a:off x="7805583" y="1143000"/>
            <a:ext cx="2566219" cy="2569906"/>
          </a:xfrm>
          <a:prstGeom prst="rect">
            <a:avLst/>
          </a:prstGeom>
          <a:solidFill>
            <a:schemeClr val="accent2">
              <a:lumMod val="40000"/>
              <a:lumOff val="60000"/>
            </a:schemeClr>
          </a:solidFill>
        </p:spPr>
        <p:txBody>
          <a:bodyPr tIns="822960"/>
          <a:lstStyle>
            <a:lvl1pPr algn="ctr">
              <a:defRPr b="0" i="0"/>
            </a:lvl1pPr>
          </a:lstStyle>
          <a:p>
            <a:r>
              <a:rPr lang="en-US"/>
              <a:t>Picture</a:t>
            </a:r>
          </a:p>
        </p:txBody>
      </p:sp>
      <p:sp>
        <p:nvSpPr>
          <p:cNvPr id="16" name="Picture Placeholder 7">
            <a:extLst>
              <a:ext uri="{FF2B5EF4-FFF2-40B4-BE49-F238E27FC236}">
                <a16:creationId xmlns:a16="http://schemas.microsoft.com/office/drawing/2014/main" id="{2351EC89-08D0-926B-7E0B-EF30F37058AA}"/>
              </a:ext>
            </a:extLst>
          </p:cNvPr>
          <p:cNvSpPr>
            <a:spLocks noGrp="1"/>
          </p:cNvSpPr>
          <p:nvPr>
            <p:ph type="pic" sz="quarter" idx="26" hasCustomPrompt="1"/>
          </p:nvPr>
        </p:nvSpPr>
        <p:spPr>
          <a:xfrm>
            <a:off x="8465574" y="3900948"/>
            <a:ext cx="1906228" cy="1902542"/>
          </a:xfrm>
          <a:prstGeom prst="rect">
            <a:avLst/>
          </a:prstGeom>
          <a:solidFill>
            <a:schemeClr val="accent2">
              <a:lumMod val="40000"/>
              <a:lumOff val="60000"/>
            </a:schemeClr>
          </a:solidFill>
        </p:spPr>
        <p:txBody>
          <a:bodyPr tIns="548640"/>
          <a:lstStyle>
            <a:lvl1pPr algn="ctr">
              <a:defRPr b="0" i="0"/>
            </a:lvl1pPr>
          </a:lstStyle>
          <a:p>
            <a:r>
              <a:rPr lang="en-US"/>
              <a:t>Picture</a:t>
            </a:r>
          </a:p>
        </p:txBody>
      </p:sp>
    </p:spTree>
    <p:extLst>
      <p:ext uri="{BB962C8B-B14F-4D97-AF65-F5344CB8AC3E}">
        <p14:creationId xmlns:p14="http://schemas.microsoft.com/office/powerpoint/2010/main" val="378389280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lient Callou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Text Placeholder 15">
            <a:extLst>
              <a:ext uri="{FF2B5EF4-FFF2-40B4-BE49-F238E27FC236}">
                <a16:creationId xmlns:a16="http://schemas.microsoft.com/office/drawing/2014/main" id="{59819361-C169-F543-35DA-BD3C6C3B985E}"/>
              </a:ext>
            </a:extLst>
          </p:cNvPr>
          <p:cNvSpPr>
            <a:spLocks noGrp="1"/>
          </p:cNvSpPr>
          <p:nvPr>
            <p:ph type="body" sz="quarter" idx="33" hasCustomPrompt="1"/>
          </p:nvPr>
        </p:nvSpPr>
        <p:spPr>
          <a:xfrm>
            <a:off x="4298950" y="831591"/>
            <a:ext cx="3602038" cy="1436596"/>
          </a:xfr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a:pPr/>
              <a:t>‹#›</a:t>
            </a:fld>
            <a:endParaRPr lang="en-US"/>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460375" y="2202611"/>
            <a:ext cx="3606800" cy="3817189"/>
          </a:xfrm>
        </p:spPr>
        <p:txBody>
          <a:bodyPr tIns="91440"/>
          <a:lstStyle>
            <a:lvl1pPr>
              <a:defRPr sz="1400" b="0" i="0"/>
            </a:lvl1pPr>
            <a:lvl2pPr>
              <a:defRPr sz="1400" b="1" i="0"/>
            </a:lvl2pPr>
            <a:lvl3pPr marL="137160" indent="-137160">
              <a:defRPr sz="1200" b="0" i="0"/>
            </a:lvl3pPr>
            <a:lvl4pPr marL="274320" indent="-137160">
              <a:defRPr sz="1200" b="0" i="0"/>
            </a:lvl4pPr>
            <a:lvl5pPr marL="411480" indent="-137160">
              <a:defRPr sz="1200" b="0" i="0"/>
            </a:lvl5pPr>
            <a:lvl6pPr marL="182880" indent="-182880">
              <a:buAutoNum type="arabicPeriod"/>
              <a:defRPr sz="1200"/>
            </a:lvl6pPr>
            <a:lvl7pPr marL="365760" indent="-182880">
              <a:buAutoNum type="arabicPeriod"/>
              <a:defRPr sz="1200"/>
            </a:lvl7pPr>
            <a:lvl8pPr marL="548640" indent="-182880">
              <a:defRPr sz="1200"/>
            </a:lvl8pPr>
            <a:lvl9pPr>
              <a:defRPr sz="14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15">
            <a:extLst>
              <a:ext uri="{FF2B5EF4-FFF2-40B4-BE49-F238E27FC236}">
                <a16:creationId xmlns:a16="http://schemas.microsoft.com/office/drawing/2014/main" id="{F2F2811C-682B-50C7-DB15-23C006FAFC16}"/>
              </a:ext>
            </a:extLst>
          </p:cNvPr>
          <p:cNvSpPr>
            <a:spLocks noGrp="1"/>
          </p:cNvSpPr>
          <p:nvPr>
            <p:ph type="body" sz="quarter" idx="19" hasCustomPrompt="1"/>
          </p:nvPr>
        </p:nvSpPr>
        <p:spPr>
          <a:xfrm>
            <a:off x="465138" y="556953"/>
            <a:ext cx="3602038" cy="556953"/>
          </a:xfrm>
        </p:spPr>
        <p:txBody>
          <a:bodyPr tIns="228600" rIns="0" bIns="0" anchor="t" anchorCtr="0"/>
          <a:lstStyle>
            <a:lvl1pPr>
              <a:spcAft>
                <a:spcPts val="0"/>
              </a:spcAft>
              <a:buFontTx/>
              <a:buNone/>
              <a:defRPr sz="1600" b="1" i="0" cap="all"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all"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CLIENT NAME</a:t>
            </a:r>
          </a:p>
        </p:txBody>
      </p:sp>
      <p:sp>
        <p:nvSpPr>
          <p:cNvPr id="12" name="Title 11">
            <a:extLst>
              <a:ext uri="{FF2B5EF4-FFF2-40B4-BE49-F238E27FC236}">
                <a16:creationId xmlns:a16="http://schemas.microsoft.com/office/drawing/2014/main" id="{73D86145-91C7-C9AD-8439-02A6318C3553}"/>
              </a:ext>
            </a:extLst>
          </p:cNvPr>
          <p:cNvSpPr>
            <a:spLocks noGrp="1"/>
          </p:cNvSpPr>
          <p:nvPr>
            <p:ph type="title"/>
          </p:nvPr>
        </p:nvSpPr>
        <p:spPr>
          <a:xfrm>
            <a:off x="460375" y="1116054"/>
            <a:ext cx="3606800" cy="1086557"/>
          </a:xfrm>
        </p:spPr>
        <p:txBody>
          <a:bodyPr tIns="45720"/>
          <a:lstStyle>
            <a:lvl1pPr>
              <a:defRPr sz="2000">
                <a:solidFill>
                  <a:schemeClr val="tx1"/>
                </a:solidFill>
              </a:defRPr>
            </a:lvl1pPr>
          </a:lstStyle>
          <a:p>
            <a:r>
              <a:rPr lang="en-US"/>
              <a:t>Click to edit Master title style</a:t>
            </a:r>
          </a:p>
        </p:txBody>
      </p:sp>
      <p:sp>
        <p:nvSpPr>
          <p:cNvPr id="16" name="Picture Placeholder 7">
            <a:extLst>
              <a:ext uri="{FF2B5EF4-FFF2-40B4-BE49-F238E27FC236}">
                <a16:creationId xmlns:a16="http://schemas.microsoft.com/office/drawing/2014/main" id="{85295369-BD35-627D-DCF3-70F052CE99AA}"/>
              </a:ext>
            </a:extLst>
          </p:cNvPr>
          <p:cNvSpPr>
            <a:spLocks noGrp="1"/>
          </p:cNvSpPr>
          <p:nvPr>
            <p:ph type="pic" sz="quarter" idx="10" hasCustomPrompt="1"/>
          </p:nvPr>
        </p:nvSpPr>
        <p:spPr>
          <a:xfrm>
            <a:off x="8124824" y="835429"/>
            <a:ext cx="3603625" cy="4854171"/>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7" name="Text Placeholder 15">
            <a:extLst>
              <a:ext uri="{FF2B5EF4-FFF2-40B4-BE49-F238E27FC236}">
                <a16:creationId xmlns:a16="http://schemas.microsoft.com/office/drawing/2014/main" id="{B2F81DA5-F8CF-9074-55A0-F820DE7FFD70}"/>
              </a:ext>
            </a:extLst>
          </p:cNvPr>
          <p:cNvSpPr>
            <a:spLocks noGrp="1"/>
          </p:cNvSpPr>
          <p:nvPr>
            <p:ph type="body" sz="quarter" idx="23" hasCustomPrompt="1"/>
          </p:nvPr>
        </p:nvSpPr>
        <p:spPr>
          <a:xfrm>
            <a:off x="4516834" y="1014960"/>
            <a:ext cx="1372790" cy="510741"/>
          </a:xfr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18" name="Text Placeholder 15">
            <a:extLst>
              <a:ext uri="{FF2B5EF4-FFF2-40B4-BE49-F238E27FC236}">
                <a16:creationId xmlns:a16="http://schemas.microsoft.com/office/drawing/2014/main" id="{B61EB7FF-E196-443F-C2CC-DAFC7495AF6C}"/>
              </a:ext>
            </a:extLst>
          </p:cNvPr>
          <p:cNvSpPr>
            <a:spLocks noGrp="1"/>
          </p:cNvSpPr>
          <p:nvPr>
            <p:ph type="body" sz="quarter" idx="31" hasCustomPrompt="1"/>
          </p:nvPr>
        </p:nvSpPr>
        <p:spPr>
          <a:xfrm>
            <a:off x="4516834" y="1525702"/>
            <a:ext cx="1372791" cy="556953"/>
          </a:xfrm>
        </p:spPr>
        <p:txBody>
          <a:bodyPr tIns="0" rIns="0" bIns="0" anchor="t" anchorCtr="0"/>
          <a:lstStyle>
            <a:lvl1pPr>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19" name="Text Placeholder 15">
            <a:extLst>
              <a:ext uri="{FF2B5EF4-FFF2-40B4-BE49-F238E27FC236}">
                <a16:creationId xmlns:a16="http://schemas.microsoft.com/office/drawing/2014/main" id="{883E52D6-5A2B-54FE-B2FD-50F05B9B1649}"/>
              </a:ext>
            </a:extLst>
          </p:cNvPr>
          <p:cNvSpPr>
            <a:spLocks noGrp="1"/>
          </p:cNvSpPr>
          <p:nvPr>
            <p:ph type="body" sz="quarter" idx="32" hasCustomPrompt="1"/>
          </p:nvPr>
        </p:nvSpPr>
        <p:spPr>
          <a:xfrm>
            <a:off x="5981700" y="1014838"/>
            <a:ext cx="1786952" cy="1067817"/>
          </a:xfr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6" name="Text Placeholder 25">
            <a:extLst>
              <a:ext uri="{FF2B5EF4-FFF2-40B4-BE49-F238E27FC236}">
                <a16:creationId xmlns:a16="http://schemas.microsoft.com/office/drawing/2014/main" id="{145EC9BB-9EA6-882D-C1C8-A929A8D7679A}"/>
              </a:ext>
            </a:extLst>
          </p:cNvPr>
          <p:cNvSpPr>
            <a:spLocks noGrp="1"/>
          </p:cNvSpPr>
          <p:nvPr>
            <p:ph type="body" sz="quarter" idx="38" hasCustomPrompt="1"/>
          </p:nvPr>
        </p:nvSpPr>
        <p:spPr>
          <a:xfrm>
            <a:off x="4300536" y="4419803"/>
            <a:ext cx="803275" cy="269761"/>
          </a:xfrm>
          <a:blipFill>
            <a:blip>
              <a:extLst>
                <a:ext uri="{96DAC541-7B7A-43D3-8B79-37D633B846F1}">
                  <asvg:svgBlip xmlns:asvg="http://schemas.microsoft.com/office/drawing/2016/SVG/main" r:embed="rId4"/>
                </a:ext>
              </a:extLst>
            </a:blip>
            <a:stretch>
              <a:fillRect/>
            </a:stretch>
          </a:blipFill>
        </p:spPr>
        <p:txBody>
          <a:bodyPr/>
          <a:lstStyle>
            <a:lvl1pPr>
              <a:defRPr b="0" i="0"/>
            </a:lvl1pPr>
          </a:lstStyle>
          <a:p>
            <a:pPr lvl="0"/>
            <a:r>
              <a:rPr lang="en-US"/>
              <a:t> </a:t>
            </a:r>
          </a:p>
        </p:txBody>
      </p:sp>
      <p:sp>
        <p:nvSpPr>
          <p:cNvPr id="27" name="Text Placeholder 15">
            <a:extLst>
              <a:ext uri="{FF2B5EF4-FFF2-40B4-BE49-F238E27FC236}">
                <a16:creationId xmlns:a16="http://schemas.microsoft.com/office/drawing/2014/main" id="{A32C7319-9E77-357E-1E6B-23D733A030D1}"/>
              </a:ext>
            </a:extLst>
          </p:cNvPr>
          <p:cNvSpPr>
            <a:spLocks noGrp="1"/>
          </p:cNvSpPr>
          <p:nvPr>
            <p:ph type="body" sz="quarter" idx="39" hasCustomPrompt="1"/>
          </p:nvPr>
        </p:nvSpPr>
        <p:spPr>
          <a:xfrm>
            <a:off x="4298950" y="4800601"/>
            <a:ext cx="3600450" cy="1219458"/>
          </a:xfrm>
        </p:spPr>
        <p:txBody>
          <a:bodyPr tIns="0" rIns="0" bIns="0" anchor="t" anchorCtr="0"/>
          <a:lstStyle>
            <a:lvl1pPr>
              <a:spcAft>
                <a:spcPts val="1000"/>
              </a:spcAft>
              <a:buFontTx/>
              <a:buNone/>
              <a:defRPr sz="1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Testimonial or project highlight goes here lorem ipsum dolor. Lorem </a:t>
            </a:r>
            <a:r>
              <a:rPr lang="en-US" err="1"/>
              <a:t>amet</a:t>
            </a:r>
            <a:r>
              <a:rPr lang="en-US"/>
              <a:t> </a:t>
            </a:r>
            <a:r>
              <a:rPr lang="en-US" err="1"/>
              <a:t>repudicae</a:t>
            </a:r>
            <a:r>
              <a:rPr lang="en-US"/>
              <a:t> </a:t>
            </a:r>
            <a:r>
              <a:rPr lang="en-US" err="1"/>
              <a:t>nihitatis</a:t>
            </a:r>
            <a:r>
              <a:rPr lang="en-US"/>
              <a:t> et </a:t>
            </a:r>
            <a:r>
              <a:rPr lang="en-US" err="1"/>
              <a:t>magnam</a:t>
            </a:r>
            <a:r>
              <a:rPr lang="en-US"/>
              <a:t>.</a:t>
            </a:r>
          </a:p>
        </p:txBody>
      </p:sp>
      <p:sp>
        <p:nvSpPr>
          <p:cNvPr id="30" name="Text Placeholder 15">
            <a:extLst>
              <a:ext uri="{FF2B5EF4-FFF2-40B4-BE49-F238E27FC236}">
                <a16:creationId xmlns:a16="http://schemas.microsoft.com/office/drawing/2014/main" id="{ABD1EAE9-28F1-F022-0886-6034CEE48011}"/>
              </a:ext>
            </a:extLst>
          </p:cNvPr>
          <p:cNvSpPr>
            <a:spLocks noGrp="1"/>
          </p:cNvSpPr>
          <p:nvPr>
            <p:ph type="body" sz="quarter" idx="40" hasCustomPrompt="1"/>
          </p:nvPr>
        </p:nvSpPr>
        <p:spPr>
          <a:xfrm>
            <a:off x="4298950" y="2506012"/>
            <a:ext cx="3602038" cy="1436596"/>
          </a:xfr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31" name="Text Placeholder 15">
            <a:extLst>
              <a:ext uri="{FF2B5EF4-FFF2-40B4-BE49-F238E27FC236}">
                <a16:creationId xmlns:a16="http://schemas.microsoft.com/office/drawing/2014/main" id="{C701D8AA-933D-5BE4-F7F1-E10444A625FD}"/>
              </a:ext>
            </a:extLst>
          </p:cNvPr>
          <p:cNvSpPr>
            <a:spLocks noGrp="1"/>
          </p:cNvSpPr>
          <p:nvPr>
            <p:ph type="body" sz="quarter" idx="41" hasCustomPrompt="1"/>
          </p:nvPr>
        </p:nvSpPr>
        <p:spPr>
          <a:xfrm>
            <a:off x="4516834" y="2689381"/>
            <a:ext cx="1372790" cy="510741"/>
          </a:xfr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32" name="Text Placeholder 15">
            <a:extLst>
              <a:ext uri="{FF2B5EF4-FFF2-40B4-BE49-F238E27FC236}">
                <a16:creationId xmlns:a16="http://schemas.microsoft.com/office/drawing/2014/main" id="{B7C2371B-53EA-E95C-F739-EFE9AE51735E}"/>
              </a:ext>
            </a:extLst>
          </p:cNvPr>
          <p:cNvSpPr>
            <a:spLocks noGrp="1"/>
          </p:cNvSpPr>
          <p:nvPr>
            <p:ph type="body" sz="quarter" idx="42" hasCustomPrompt="1"/>
          </p:nvPr>
        </p:nvSpPr>
        <p:spPr>
          <a:xfrm>
            <a:off x="4516834" y="3200123"/>
            <a:ext cx="1372791" cy="556953"/>
          </a:xfrm>
        </p:spPr>
        <p:txBody>
          <a:bodyPr tIns="0" rIns="0" bIns="0" anchor="t" anchorCtr="0"/>
          <a:lstStyle>
            <a:lvl1pPr>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33" name="Text Placeholder 15">
            <a:extLst>
              <a:ext uri="{FF2B5EF4-FFF2-40B4-BE49-F238E27FC236}">
                <a16:creationId xmlns:a16="http://schemas.microsoft.com/office/drawing/2014/main" id="{EF52418C-31BC-D8CA-DAA7-32470FE01E79}"/>
              </a:ext>
            </a:extLst>
          </p:cNvPr>
          <p:cNvSpPr>
            <a:spLocks noGrp="1"/>
          </p:cNvSpPr>
          <p:nvPr>
            <p:ph type="body" sz="quarter" idx="43" hasCustomPrompt="1"/>
          </p:nvPr>
        </p:nvSpPr>
        <p:spPr>
          <a:xfrm>
            <a:off x="5981700" y="2689259"/>
            <a:ext cx="1786952" cy="1067817"/>
          </a:xfr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4" name="Text Placeholder 15">
            <a:extLst>
              <a:ext uri="{FF2B5EF4-FFF2-40B4-BE49-F238E27FC236}">
                <a16:creationId xmlns:a16="http://schemas.microsoft.com/office/drawing/2014/main" id="{72A89313-2123-1F50-95A1-D5C96A21D1CD}"/>
              </a:ext>
            </a:extLst>
          </p:cNvPr>
          <p:cNvSpPr>
            <a:spLocks noGrp="1"/>
          </p:cNvSpPr>
          <p:nvPr>
            <p:ph type="body" sz="quarter" idx="44" hasCustomPrompt="1"/>
          </p:nvPr>
        </p:nvSpPr>
        <p:spPr>
          <a:xfrm>
            <a:off x="465137" y="0"/>
            <a:ext cx="5106989" cy="556953"/>
          </a:xfr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none"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none"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none"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9pPr>
          </a:lstStyle>
          <a:p>
            <a:pPr lvl="0"/>
            <a:r>
              <a:rPr lang="en-US"/>
              <a:t>EYEBROW LINE</a:t>
            </a:r>
          </a:p>
        </p:txBody>
      </p:sp>
    </p:spTree>
    <p:extLst>
      <p:ext uri="{BB962C8B-B14F-4D97-AF65-F5344CB8AC3E}">
        <p14:creationId xmlns:p14="http://schemas.microsoft.com/office/powerpoint/2010/main" val="227678293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21" Type="http://schemas.openxmlformats.org/officeDocument/2006/relationships/slideLayout" Target="../slideLayouts/slideLayout57.xml"/><Relationship Id="rId34" Type="http://schemas.openxmlformats.org/officeDocument/2006/relationships/slideLayout" Target="../slideLayouts/slideLayout70.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33" Type="http://schemas.openxmlformats.org/officeDocument/2006/relationships/slideLayout" Target="../slideLayouts/slideLayout69.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29" Type="http://schemas.openxmlformats.org/officeDocument/2006/relationships/slideLayout" Target="../slideLayouts/slideLayout65.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slideLayout" Target="../slideLayouts/slideLayout68.xml"/><Relationship Id="rId37" Type="http://schemas.openxmlformats.org/officeDocument/2006/relationships/theme" Target="../theme/theme2.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36" Type="http://schemas.openxmlformats.org/officeDocument/2006/relationships/slideLayout" Target="../slideLayouts/slideLayout72.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 Id="rId35" Type="http://schemas.openxmlformats.org/officeDocument/2006/relationships/slideLayout" Target="../slideLayouts/slideLayout71.xml"/><Relationship Id="rId8" Type="http://schemas.openxmlformats.org/officeDocument/2006/relationships/slideLayout" Target="../slideLayouts/slideLayout44.xml"/><Relationship Id="rId3"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0372" y="556953"/>
            <a:ext cx="11268077" cy="855922"/>
          </a:xfrm>
          <a:prstGeom prst="rect">
            <a:avLst/>
          </a:prstGeom>
        </p:spPr>
        <p:txBody>
          <a:bodyPr vert="horz" lIns="0" tIns="0" rIns="0" bIns="0" rtlCol="0" anchor="t" anchorCtr="0">
            <a:noAutofit/>
          </a:bodyPr>
          <a:lstStyle/>
          <a:p>
            <a:r>
              <a:rPr lang="en-US"/>
              <a:t>Click to edit Master title style</a:t>
            </a:r>
            <a:endParaRPr lang="en-US" dirty="0"/>
          </a:p>
        </p:txBody>
      </p:sp>
      <p:sp>
        <p:nvSpPr>
          <p:cNvPr id="5" name="Footer Placeholder 4"/>
          <p:cNvSpPr>
            <a:spLocks noGrp="1"/>
          </p:cNvSpPr>
          <p:nvPr>
            <p:ph type="ftr" sz="quarter" idx="3"/>
          </p:nvPr>
        </p:nvSpPr>
        <p:spPr>
          <a:xfrm>
            <a:off x="4321019" y="6400798"/>
            <a:ext cx="7102834" cy="167949"/>
          </a:xfrm>
          <a:prstGeom prst="rect">
            <a:avLst/>
          </a:prstGeom>
        </p:spPr>
        <p:txBody>
          <a:bodyPr vert="horz" lIns="0" tIns="0" rIns="0" bIns="0" rtlCol="0" anchor="ctr" anchorCtr="0"/>
          <a:lstStyle>
            <a:lvl1pPr marL="0" indent="9525" algn="r">
              <a:tabLst/>
              <a:defRPr sz="900" b="0" i="0" cap="none" baseline="0">
                <a:solidFill>
                  <a:schemeClr val="tx1"/>
                </a:solidFill>
                <a:latin typeface="+mn-lt"/>
                <a:ea typeface="Roboto" panose="02000000000000000000" pitchFamily="2" charset="0"/>
                <a:cs typeface="Arial" panose="020B0604020202020204" pitchFamily="34" charset="0"/>
              </a:defRPr>
            </a:lvl1pPr>
            <a:lvl2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2pPr>
            <a:lvl3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3pPr>
            <a:lvl4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4pPr>
            <a:lvl5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5pPr>
            <a:lvl6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6pPr>
            <a:lvl7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7pPr>
            <a:lvl8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8pPr>
            <a:lvl9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9pPr>
          </a:lstStyle>
          <a:p>
            <a:r>
              <a:rPr lang="en-US"/>
              <a:t>© 2026 West Monroe Partners | Reproduction and/or distribution without West Monroe Partners’ prior consent is prohibited.</a:t>
            </a:r>
          </a:p>
        </p:txBody>
      </p:sp>
      <p:sp>
        <p:nvSpPr>
          <p:cNvPr id="6" name="Slide Number Placeholder 5"/>
          <p:cNvSpPr>
            <a:spLocks noGrp="1"/>
          </p:cNvSpPr>
          <p:nvPr>
            <p:ph type="sldNum" sz="quarter" idx="4"/>
          </p:nvPr>
        </p:nvSpPr>
        <p:spPr>
          <a:xfrm>
            <a:off x="11509578" y="6400799"/>
            <a:ext cx="218871" cy="167949"/>
          </a:xfrm>
          <a:prstGeom prst="rect">
            <a:avLst/>
          </a:prstGeom>
        </p:spPr>
        <p:txBody>
          <a:bodyPr vert="horz" lIns="0" tIns="0" rIns="0" bIns="0" rtlCol="0" anchor="ctr" anchorCtr="0"/>
          <a:lstStyle>
            <a:lvl1pPr algn="r">
              <a:defRPr sz="900" b="0" i="0">
                <a:solidFill>
                  <a:schemeClr val="tx1"/>
                </a:solidFill>
                <a:latin typeface="+mn-lt"/>
                <a:ea typeface="Verdana" panose="020B0604030504040204" pitchFamily="34" charset="0"/>
                <a:cs typeface="Arial" panose="020B0604020202020204" pitchFamily="34" charset="0"/>
              </a:defRPr>
            </a:lvl1pPr>
            <a:lvl2pPr marL="0" algn="r">
              <a:defRPr sz="900" b="0" i="0">
                <a:solidFill>
                  <a:schemeClr val="tx1"/>
                </a:solidFill>
                <a:latin typeface="+mn-lt"/>
                <a:ea typeface="Verdana" panose="020B0604030504040204" pitchFamily="34" charset="0"/>
                <a:cs typeface="Verdana" panose="020B0604030504040204" pitchFamily="34" charset="0"/>
              </a:defRPr>
            </a:lvl2pPr>
            <a:lvl3pPr marL="0" algn="r">
              <a:defRPr sz="900" b="0" i="0">
                <a:solidFill>
                  <a:schemeClr val="tx1"/>
                </a:solidFill>
                <a:latin typeface="+mn-lt"/>
                <a:ea typeface="Verdana" panose="020B0604030504040204" pitchFamily="34" charset="0"/>
                <a:cs typeface="Verdana" panose="020B0604030504040204" pitchFamily="34" charset="0"/>
              </a:defRPr>
            </a:lvl3pPr>
            <a:lvl4pPr marL="0" algn="r">
              <a:defRPr sz="900" b="0" i="0">
                <a:solidFill>
                  <a:schemeClr val="tx1"/>
                </a:solidFill>
                <a:latin typeface="+mn-lt"/>
                <a:ea typeface="Verdana" panose="020B0604030504040204" pitchFamily="34" charset="0"/>
                <a:cs typeface="Verdana" panose="020B0604030504040204" pitchFamily="34" charset="0"/>
              </a:defRPr>
            </a:lvl4pPr>
            <a:lvl5pPr marL="0" algn="r">
              <a:defRPr sz="900" b="0" i="0">
                <a:solidFill>
                  <a:schemeClr val="tx1"/>
                </a:solidFill>
                <a:latin typeface="+mn-lt"/>
                <a:ea typeface="Verdana" panose="020B0604030504040204" pitchFamily="34" charset="0"/>
                <a:cs typeface="Verdana" panose="020B0604030504040204" pitchFamily="34" charset="0"/>
              </a:defRPr>
            </a:lvl5pPr>
            <a:lvl6pPr marL="0" algn="r">
              <a:defRPr sz="900" b="0" i="0">
                <a:solidFill>
                  <a:schemeClr val="tx1"/>
                </a:solidFill>
                <a:latin typeface="+mn-lt"/>
                <a:ea typeface="Verdana" panose="020B0604030504040204" pitchFamily="34" charset="0"/>
                <a:cs typeface="Verdana" panose="020B0604030504040204" pitchFamily="34" charset="0"/>
              </a:defRPr>
            </a:lvl6pPr>
            <a:lvl7pPr marL="0" algn="r">
              <a:defRPr sz="900" b="0" i="0">
                <a:solidFill>
                  <a:schemeClr val="tx1"/>
                </a:solidFill>
                <a:latin typeface="+mn-lt"/>
                <a:ea typeface="Verdana" panose="020B0604030504040204" pitchFamily="34" charset="0"/>
                <a:cs typeface="Verdana" panose="020B0604030504040204" pitchFamily="34" charset="0"/>
              </a:defRPr>
            </a:lvl7pPr>
            <a:lvl8pPr marL="0" algn="r">
              <a:defRPr sz="900" b="0" i="0">
                <a:solidFill>
                  <a:schemeClr val="tx1"/>
                </a:solidFill>
                <a:latin typeface="+mn-lt"/>
                <a:ea typeface="Verdana" panose="020B0604030504040204" pitchFamily="34" charset="0"/>
                <a:cs typeface="Verdana" panose="020B0604030504040204" pitchFamily="34" charset="0"/>
              </a:defRPr>
            </a:lvl8pPr>
            <a:lvl9pPr marL="0" algn="r">
              <a:defRPr sz="900" b="0" i="0">
                <a:solidFill>
                  <a:schemeClr val="tx1"/>
                </a:solidFill>
                <a:latin typeface="+mn-lt"/>
                <a:ea typeface="Verdana" panose="020B0604030504040204" pitchFamily="34" charset="0"/>
                <a:cs typeface="Verdana" panose="020B0604030504040204" pitchFamily="34" charset="0"/>
              </a:defRPr>
            </a:lvl9pPr>
          </a:lstStyle>
          <a:p>
            <a:fld id="{63DCA5C9-2E11-4C67-86EB-AE1DE127DC64}" type="slidenum">
              <a:rPr lang="en-US" smtClean="0"/>
              <a:pPr/>
              <a:t>‹#›</a:t>
            </a:fld>
            <a:endParaRPr lang="en-US"/>
          </a:p>
        </p:txBody>
      </p:sp>
      <p:sp>
        <p:nvSpPr>
          <p:cNvPr id="8" name="Text Placeholder 7">
            <a:extLst>
              <a:ext uri="{FF2B5EF4-FFF2-40B4-BE49-F238E27FC236}">
                <a16:creationId xmlns:a16="http://schemas.microsoft.com/office/drawing/2014/main" id="{1F3744DC-99FB-677C-5F62-49846C2E80F3}"/>
              </a:ext>
            </a:extLst>
          </p:cNvPr>
          <p:cNvSpPr>
            <a:spLocks noGrp="1"/>
          </p:cNvSpPr>
          <p:nvPr>
            <p:ph type="body" idx="1"/>
          </p:nvPr>
        </p:nvSpPr>
        <p:spPr>
          <a:xfrm>
            <a:off x="460372" y="1773936"/>
            <a:ext cx="11268076"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771477"/>
      </p:ext>
    </p:extLst>
  </p:cSld>
  <p:clrMap bg1="lt1" tx1="dk1" bg2="lt2" tx2="dk2" accent1="accent1" accent2="accent2" accent3="accent3" accent4="accent4" accent5="accent5" accent6="accent6" hlink="hlink" folHlink="folHlink"/>
  <p:sldLayoutIdLst>
    <p:sldLayoutId id="2147483733" r:id="rId1"/>
    <p:sldLayoutId id="2147483941" r:id="rId2"/>
    <p:sldLayoutId id="2147483942" r:id="rId3"/>
    <p:sldLayoutId id="2147483943" r:id="rId4"/>
    <p:sldLayoutId id="2147483869" r:id="rId5"/>
    <p:sldLayoutId id="2147484009" r:id="rId6"/>
    <p:sldLayoutId id="2147483745" r:id="rId7"/>
    <p:sldLayoutId id="2147483932" r:id="rId8"/>
    <p:sldLayoutId id="2147483933" r:id="rId9"/>
    <p:sldLayoutId id="2147483939" r:id="rId10"/>
    <p:sldLayoutId id="2147483801" r:id="rId11"/>
    <p:sldLayoutId id="2147483875" r:id="rId12"/>
    <p:sldLayoutId id="2147483760" r:id="rId13"/>
    <p:sldLayoutId id="2147483940" r:id="rId14"/>
    <p:sldLayoutId id="2147484016" r:id="rId15"/>
    <p:sldLayoutId id="2147483708" r:id="rId16"/>
    <p:sldLayoutId id="2147483881" r:id="rId17"/>
    <p:sldLayoutId id="2147483951" r:id="rId18"/>
    <p:sldLayoutId id="2147483985" r:id="rId19"/>
    <p:sldLayoutId id="2147483987" r:id="rId20"/>
    <p:sldLayoutId id="2147483989" r:id="rId21"/>
    <p:sldLayoutId id="2147483990" r:id="rId22"/>
    <p:sldLayoutId id="2147483991" r:id="rId23"/>
    <p:sldLayoutId id="2147483982" r:id="rId24"/>
    <p:sldLayoutId id="2147483998" r:id="rId25"/>
    <p:sldLayoutId id="2147484000" r:id="rId26"/>
    <p:sldLayoutId id="2147484001" r:id="rId27"/>
    <p:sldLayoutId id="2147484002" r:id="rId28"/>
    <p:sldLayoutId id="2147484003" r:id="rId29"/>
    <p:sldLayoutId id="2147484008" r:id="rId30"/>
    <p:sldLayoutId id="2147484004" r:id="rId31"/>
    <p:sldLayoutId id="2147484005" r:id="rId32"/>
    <p:sldLayoutId id="2147484007" r:id="rId33"/>
    <p:sldLayoutId id="2147484017" r:id="rId34"/>
    <p:sldLayoutId id="2147484018" r:id="rId35"/>
    <p:sldLayoutId id="2147484056" r:id="rId36"/>
  </p:sldLayoutIdLst>
  <p:hf hdr="0" dt="0"/>
  <p:txStyles>
    <p:titleStyle>
      <a:lvl1pPr algn="l" defTabSz="914400" rtl="0" eaLnBrk="1" latinLnBrk="0" hangingPunct="1">
        <a:lnSpc>
          <a:spcPct val="100000"/>
        </a:lnSpc>
        <a:spcBef>
          <a:spcPct val="0"/>
        </a:spcBef>
        <a:buNone/>
        <a:defRPr sz="2200" b="1" i="0" kern="1200">
          <a:solidFill>
            <a:schemeClr val="tx1"/>
          </a:solidFill>
          <a:latin typeface="+mj-lt"/>
          <a:ea typeface="Bernard MT Condensed" panose="02050806060905020404" pitchFamily="18" charset="77"/>
          <a:cs typeface="Arial" panose="020B0604020202020204" pitchFamily="34" charset="0"/>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25" orient="horz" pos="346" userDrawn="1">
          <p15:clr>
            <a:srgbClr val="F26B43"/>
          </p15:clr>
        </p15:guide>
        <p15:guide id="31" orient="horz" pos="4137" userDrawn="1">
          <p15:clr>
            <a:srgbClr val="F26B43"/>
          </p15:clr>
        </p15:guide>
        <p15:guide id="32" orient="horz" pos="4032" userDrawn="1">
          <p15:clr>
            <a:srgbClr val="F26B43"/>
          </p15:clr>
        </p15:guide>
        <p15:guide id="49" orient="horz" pos="890" userDrawn="1">
          <p15:clr>
            <a:srgbClr val="F26B43"/>
          </p15:clr>
        </p15:guide>
        <p15:guide id="50" orient="horz" pos="1115" userDrawn="1">
          <p15:clr>
            <a:srgbClr val="F26B43"/>
          </p15:clr>
        </p15:guide>
        <p15:guide id="51" pos="288" userDrawn="1">
          <p15:clr>
            <a:srgbClr val="F26B43"/>
          </p15:clr>
        </p15:guide>
        <p15:guide id="64" orient="horz" pos="3792" userDrawn="1">
          <p15:clr>
            <a:srgbClr val="F26B43"/>
          </p15:clr>
        </p15:guide>
        <p15:guide id="65" orient="horz" pos="3863" userDrawn="1">
          <p15:clr>
            <a:srgbClr val="F26B43"/>
          </p15:clr>
        </p15:guide>
        <p15:guide id="66" pos="739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0372" y="556953"/>
            <a:ext cx="11268077" cy="855922"/>
          </a:xfrm>
          <a:prstGeom prst="rect">
            <a:avLst/>
          </a:prstGeom>
        </p:spPr>
        <p:txBody>
          <a:bodyPr vert="horz" lIns="0" tIns="0" rIns="0" bIns="0" rtlCol="0" anchor="t" anchorCtr="0">
            <a:noAutofit/>
          </a:bodyPr>
          <a:lstStyle/>
          <a:p>
            <a:r>
              <a:rPr lang="en-US"/>
              <a:t>Click to edit Master title style</a:t>
            </a:r>
          </a:p>
        </p:txBody>
      </p:sp>
      <p:sp>
        <p:nvSpPr>
          <p:cNvPr id="5" name="Footer Placeholder 4"/>
          <p:cNvSpPr>
            <a:spLocks noGrp="1"/>
          </p:cNvSpPr>
          <p:nvPr>
            <p:ph type="ftr" sz="quarter" idx="3"/>
          </p:nvPr>
        </p:nvSpPr>
        <p:spPr>
          <a:xfrm>
            <a:off x="4321019" y="6400798"/>
            <a:ext cx="7102834" cy="167949"/>
          </a:xfrm>
          <a:prstGeom prst="rect">
            <a:avLst/>
          </a:prstGeom>
        </p:spPr>
        <p:txBody>
          <a:bodyPr vert="horz" lIns="0" tIns="0" rIns="0" bIns="0" rtlCol="0" anchor="ctr" anchorCtr="0"/>
          <a:lstStyle>
            <a:lvl1pPr marL="0" indent="9525" algn="r">
              <a:tabLst/>
              <a:defRPr sz="900" b="0" i="0" cap="none" baseline="0">
                <a:solidFill>
                  <a:schemeClr val="tx1"/>
                </a:solidFill>
                <a:latin typeface="+mn-lt"/>
                <a:ea typeface="Roboto" panose="02000000000000000000" pitchFamily="2" charset="0"/>
                <a:cs typeface="Arial" panose="020B0604020202020204" pitchFamily="34" charset="0"/>
              </a:defRPr>
            </a:lvl1pPr>
            <a:lvl2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2pPr>
            <a:lvl3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3pPr>
            <a:lvl4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4pPr>
            <a:lvl5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5pPr>
            <a:lvl6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6pPr>
            <a:lvl7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7pPr>
            <a:lvl8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8pPr>
            <a:lvl9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9pPr>
          </a:lstStyle>
          <a:p>
            <a:r>
              <a:rPr lang="en-US"/>
              <a:t>© 2026 West Monroe Partners | Reproduction and/or distribution without West Monroe Partners’ prior consent is prohibited.</a:t>
            </a:r>
          </a:p>
        </p:txBody>
      </p:sp>
      <p:sp>
        <p:nvSpPr>
          <p:cNvPr id="6" name="Slide Number Placeholder 5"/>
          <p:cNvSpPr>
            <a:spLocks noGrp="1"/>
          </p:cNvSpPr>
          <p:nvPr>
            <p:ph type="sldNum" sz="quarter" idx="4"/>
          </p:nvPr>
        </p:nvSpPr>
        <p:spPr>
          <a:xfrm>
            <a:off x="11509578" y="6400799"/>
            <a:ext cx="218871" cy="167949"/>
          </a:xfrm>
          <a:prstGeom prst="rect">
            <a:avLst/>
          </a:prstGeom>
        </p:spPr>
        <p:txBody>
          <a:bodyPr vert="horz" lIns="0" tIns="0" rIns="0" bIns="0" rtlCol="0" anchor="ctr" anchorCtr="0"/>
          <a:lstStyle>
            <a:lvl1pPr algn="r">
              <a:defRPr sz="900" b="0" i="0">
                <a:solidFill>
                  <a:schemeClr val="tx1"/>
                </a:solidFill>
                <a:latin typeface="+mn-lt"/>
                <a:ea typeface="Verdana" panose="020B0604030504040204" pitchFamily="34" charset="0"/>
                <a:cs typeface="Arial" panose="020B0604020202020204" pitchFamily="34" charset="0"/>
              </a:defRPr>
            </a:lvl1pPr>
            <a:lvl2pPr marL="0" algn="r">
              <a:defRPr sz="900" b="0" i="0">
                <a:solidFill>
                  <a:schemeClr val="tx1"/>
                </a:solidFill>
                <a:latin typeface="+mn-lt"/>
                <a:ea typeface="Verdana" panose="020B0604030504040204" pitchFamily="34" charset="0"/>
                <a:cs typeface="Verdana" panose="020B0604030504040204" pitchFamily="34" charset="0"/>
              </a:defRPr>
            </a:lvl2pPr>
            <a:lvl3pPr marL="0" algn="r">
              <a:defRPr sz="900" b="0" i="0">
                <a:solidFill>
                  <a:schemeClr val="tx1"/>
                </a:solidFill>
                <a:latin typeface="+mn-lt"/>
                <a:ea typeface="Verdana" panose="020B0604030504040204" pitchFamily="34" charset="0"/>
                <a:cs typeface="Verdana" panose="020B0604030504040204" pitchFamily="34" charset="0"/>
              </a:defRPr>
            </a:lvl3pPr>
            <a:lvl4pPr marL="0" algn="r">
              <a:defRPr sz="900" b="0" i="0">
                <a:solidFill>
                  <a:schemeClr val="tx1"/>
                </a:solidFill>
                <a:latin typeface="+mn-lt"/>
                <a:ea typeface="Verdana" panose="020B0604030504040204" pitchFamily="34" charset="0"/>
                <a:cs typeface="Verdana" panose="020B0604030504040204" pitchFamily="34" charset="0"/>
              </a:defRPr>
            </a:lvl4pPr>
            <a:lvl5pPr marL="0" algn="r">
              <a:defRPr sz="900" b="0" i="0">
                <a:solidFill>
                  <a:schemeClr val="tx1"/>
                </a:solidFill>
                <a:latin typeface="+mn-lt"/>
                <a:ea typeface="Verdana" panose="020B0604030504040204" pitchFamily="34" charset="0"/>
                <a:cs typeface="Verdana" panose="020B0604030504040204" pitchFamily="34" charset="0"/>
              </a:defRPr>
            </a:lvl5pPr>
            <a:lvl6pPr marL="0" algn="r">
              <a:defRPr sz="900" b="0" i="0">
                <a:solidFill>
                  <a:schemeClr val="tx1"/>
                </a:solidFill>
                <a:latin typeface="+mn-lt"/>
                <a:ea typeface="Verdana" panose="020B0604030504040204" pitchFamily="34" charset="0"/>
                <a:cs typeface="Verdana" panose="020B0604030504040204" pitchFamily="34" charset="0"/>
              </a:defRPr>
            </a:lvl6pPr>
            <a:lvl7pPr marL="0" algn="r">
              <a:defRPr sz="900" b="0" i="0">
                <a:solidFill>
                  <a:schemeClr val="tx1"/>
                </a:solidFill>
                <a:latin typeface="+mn-lt"/>
                <a:ea typeface="Verdana" panose="020B0604030504040204" pitchFamily="34" charset="0"/>
                <a:cs typeface="Verdana" panose="020B0604030504040204" pitchFamily="34" charset="0"/>
              </a:defRPr>
            </a:lvl7pPr>
            <a:lvl8pPr marL="0" algn="r">
              <a:defRPr sz="900" b="0" i="0">
                <a:solidFill>
                  <a:schemeClr val="tx1"/>
                </a:solidFill>
                <a:latin typeface="+mn-lt"/>
                <a:ea typeface="Verdana" panose="020B0604030504040204" pitchFamily="34" charset="0"/>
                <a:cs typeface="Verdana" panose="020B0604030504040204" pitchFamily="34" charset="0"/>
              </a:defRPr>
            </a:lvl8pPr>
            <a:lvl9pPr marL="0" algn="r">
              <a:defRPr sz="900" b="0" i="0">
                <a:solidFill>
                  <a:schemeClr val="tx1"/>
                </a:solidFill>
                <a:latin typeface="+mn-lt"/>
                <a:ea typeface="Verdana" panose="020B0604030504040204" pitchFamily="34" charset="0"/>
                <a:cs typeface="Verdana" panose="020B0604030504040204" pitchFamily="34" charset="0"/>
              </a:defRPr>
            </a:lvl9pPr>
          </a:lstStyle>
          <a:p>
            <a:fld id="{63DCA5C9-2E11-4C67-86EB-AE1DE127DC64}" type="slidenum">
              <a:rPr lang="en-US" smtClean="0"/>
              <a:pPr/>
              <a:t>‹#›</a:t>
            </a:fld>
            <a:endParaRPr lang="en-US"/>
          </a:p>
        </p:txBody>
      </p:sp>
      <p:sp>
        <p:nvSpPr>
          <p:cNvPr id="8" name="Text Placeholder 7">
            <a:extLst>
              <a:ext uri="{FF2B5EF4-FFF2-40B4-BE49-F238E27FC236}">
                <a16:creationId xmlns:a16="http://schemas.microsoft.com/office/drawing/2014/main" id="{1F3744DC-99FB-677C-5F62-49846C2E80F3}"/>
              </a:ext>
            </a:extLst>
          </p:cNvPr>
          <p:cNvSpPr>
            <a:spLocks noGrp="1"/>
          </p:cNvSpPr>
          <p:nvPr>
            <p:ph type="body" idx="1"/>
          </p:nvPr>
        </p:nvSpPr>
        <p:spPr>
          <a:xfrm>
            <a:off x="460372" y="1773936"/>
            <a:ext cx="11268076"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9900460"/>
      </p:ext>
    </p:extLst>
  </p:cSld>
  <p:clrMap bg1="lt1" tx1="dk1" bg2="lt2" tx2="dk2" accent1="accent1" accent2="accent2" accent3="accent3" accent4="accent4" accent5="accent5" accent6="accent6" hlink="hlink" folHlink="folHlink"/>
  <p:sldLayoutIdLst>
    <p:sldLayoutId id="2147484020" r:id="rId1"/>
    <p:sldLayoutId id="2147484021" r:id="rId2"/>
    <p:sldLayoutId id="2147484022" r:id="rId3"/>
    <p:sldLayoutId id="2147484023" r:id="rId4"/>
    <p:sldLayoutId id="2147484024" r:id="rId5"/>
    <p:sldLayoutId id="2147484025" r:id="rId6"/>
    <p:sldLayoutId id="2147484026" r:id="rId7"/>
    <p:sldLayoutId id="2147484027" r:id="rId8"/>
    <p:sldLayoutId id="2147484028" r:id="rId9"/>
    <p:sldLayoutId id="2147484029" r:id="rId10"/>
    <p:sldLayoutId id="2147484030" r:id="rId11"/>
    <p:sldLayoutId id="2147484031" r:id="rId12"/>
    <p:sldLayoutId id="2147484032" r:id="rId13"/>
    <p:sldLayoutId id="2147484033" r:id="rId14"/>
    <p:sldLayoutId id="2147484034" r:id="rId15"/>
    <p:sldLayoutId id="2147484035" r:id="rId16"/>
    <p:sldLayoutId id="2147484036" r:id="rId17"/>
    <p:sldLayoutId id="2147484037" r:id="rId18"/>
    <p:sldLayoutId id="2147484038" r:id="rId19"/>
    <p:sldLayoutId id="2147484039" r:id="rId20"/>
    <p:sldLayoutId id="2147484040" r:id="rId21"/>
    <p:sldLayoutId id="2147484041" r:id="rId22"/>
    <p:sldLayoutId id="2147484042" r:id="rId23"/>
    <p:sldLayoutId id="2147484043" r:id="rId24"/>
    <p:sldLayoutId id="2147484044" r:id="rId25"/>
    <p:sldLayoutId id="2147484045" r:id="rId26"/>
    <p:sldLayoutId id="2147484046" r:id="rId27"/>
    <p:sldLayoutId id="2147484047" r:id="rId28"/>
    <p:sldLayoutId id="2147484048" r:id="rId29"/>
    <p:sldLayoutId id="2147484049" r:id="rId30"/>
    <p:sldLayoutId id="2147484050" r:id="rId31"/>
    <p:sldLayoutId id="2147484051" r:id="rId32"/>
    <p:sldLayoutId id="2147484052" r:id="rId33"/>
    <p:sldLayoutId id="2147484053" r:id="rId34"/>
    <p:sldLayoutId id="2147484054" r:id="rId35"/>
    <p:sldLayoutId id="2147484055" r:id="rId36"/>
  </p:sldLayoutIdLst>
  <p:hf hdr="0" dt="0"/>
  <p:txStyles>
    <p:titleStyle>
      <a:lvl1pPr algn="l" defTabSz="914400" rtl="0" eaLnBrk="1" latinLnBrk="0" hangingPunct="1">
        <a:lnSpc>
          <a:spcPct val="100000"/>
        </a:lnSpc>
        <a:spcBef>
          <a:spcPct val="0"/>
        </a:spcBef>
        <a:buNone/>
        <a:defRPr sz="2200" b="1" i="0" kern="1200">
          <a:solidFill>
            <a:schemeClr val="tx1"/>
          </a:solidFill>
          <a:latin typeface="+mj-lt"/>
          <a:ea typeface="Bernard MT Condensed" panose="02050806060905020404" pitchFamily="18" charset="77"/>
          <a:cs typeface="Arial" panose="020B0604020202020204" pitchFamily="34" charset="0"/>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25" orient="horz" pos="346">
          <p15:clr>
            <a:srgbClr val="F26B43"/>
          </p15:clr>
        </p15:guide>
        <p15:guide id="31" orient="horz" pos="4137">
          <p15:clr>
            <a:srgbClr val="F26B43"/>
          </p15:clr>
        </p15:guide>
        <p15:guide id="32" orient="horz" pos="4032">
          <p15:clr>
            <a:srgbClr val="F26B43"/>
          </p15:clr>
        </p15:guide>
        <p15:guide id="49" orient="horz" pos="890">
          <p15:clr>
            <a:srgbClr val="F26B43"/>
          </p15:clr>
        </p15:guide>
        <p15:guide id="50" orient="horz" pos="1115">
          <p15:clr>
            <a:srgbClr val="F26B43"/>
          </p15:clr>
        </p15:guide>
        <p15:guide id="51" pos="288">
          <p15:clr>
            <a:srgbClr val="F26B43"/>
          </p15:clr>
        </p15:guide>
        <p15:guide id="64" orient="horz" pos="3792">
          <p15:clr>
            <a:srgbClr val="F26B43"/>
          </p15:clr>
        </p15:guide>
        <p15:guide id="65" orient="horz" pos="3863">
          <p15:clr>
            <a:srgbClr val="F26B43"/>
          </p15:clr>
        </p15:guide>
        <p15:guide id="66" pos="739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7.emf"/><Relationship Id="rId5" Type="http://schemas.openxmlformats.org/officeDocument/2006/relationships/oleObject" Target="../embeddings/oleObject1.bin"/><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hyperlink" Target="http://wmp.com/perspectives/quarterly-executive-poll" TargetMode="External"/><Relationship Id="rId1" Type="http://schemas.openxmlformats.org/officeDocument/2006/relationships/slideLayout" Target="../slideLayouts/slideLayout13.xml"/><Relationship Id="rId5" Type="http://schemas.openxmlformats.org/officeDocument/2006/relationships/image" Target="../media/image40.svg"/><Relationship Id="rId4" Type="http://schemas.openxmlformats.org/officeDocument/2006/relationships/image" Target="../media/image39.sv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42.svg"/><Relationship Id="rId7" Type="http://schemas.openxmlformats.org/officeDocument/2006/relationships/image" Target="../media/image46.svg"/><Relationship Id="rId2" Type="http://schemas.openxmlformats.org/officeDocument/2006/relationships/notesSlide" Target="../notesSlides/notesSlide14.xml"/><Relationship Id="rId1" Type="http://schemas.openxmlformats.org/officeDocument/2006/relationships/slideLayout" Target="../slideLayouts/slideLayout60.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16.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jpeg"/><Relationship Id="rId7" Type="http://schemas.openxmlformats.org/officeDocument/2006/relationships/image" Target="../media/image51.svg"/><Relationship Id="rId2" Type="http://schemas.openxmlformats.org/officeDocument/2006/relationships/slideLayout" Target="../slideLayouts/slideLayout61.xml"/><Relationship Id="rId1" Type="http://schemas.openxmlformats.org/officeDocument/2006/relationships/tags" Target="../tags/tag8.xml"/><Relationship Id="rId6" Type="http://schemas.openxmlformats.org/officeDocument/2006/relationships/image" Target="../media/image50.svg"/><Relationship Id="rId5" Type="http://schemas.openxmlformats.org/officeDocument/2006/relationships/image" Target="../media/image49.svg"/><Relationship Id="rId4" Type="http://schemas.openxmlformats.org/officeDocument/2006/relationships/image" Target="../media/image48.svg"/><Relationship Id="rId9" Type="http://schemas.openxmlformats.org/officeDocument/2006/relationships/image" Target="../media/image53.svg"/></Relationships>
</file>

<file path=ppt/slides/_rels/slide17.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jpeg"/><Relationship Id="rId7" Type="http://schemas.openxmlformats.org/officeDocument/2006/relationships/image" Target="../media/image58.svg"/><Relationship Id="rId2" Type="http://schemas.openxmlformats.org/officeDocument/2006/relationships/slideLayout" Target="../slideLayouts/slideLayout68.xml"/><Relationship Id="rId1" Type="http://schemas.openxmlformats.org/officeDocument/2006/relationships/tags" Target="../tags/tag9.xml"/><Relationship Id="rId6" Type="http://schemas.openxmlformats.org/officeDocument/2006/relationships/image" Target="../media/image57.svg"/><Relationship Id="rId5" Type="http://schemas.openxmlformats.org/officeDocument/2006/relationships/image" Target="../media/image56.svg"/><Relationship Id="rId4" Type="http://schemas.openxmlformats.org/officeDocument/2006/relationships/image" Target="../media/image55.svg"/></Relationships>
</file>

<file path=ppt/slides/_rels/slide18.xml.rels><?xml version="1.0" encoding="UTF-8" standalone="yes"?>
<Relationships xmlns="http://schemas.openxmlformats.org/package/2006/relationships"><Relationship Id="rId3" Type="http://schemas.openxmlformats.org/officeDocument/2006/relationships/image" Target="../media/image60.svg"/><Relationship Id="rId7" Type="http://schemas.openxmlformats.org/officeDocument/2006/relationships/image" Target="../media/image63.svg"/><Relationship Id="rId2" Type="http://schemas.openxmlformats.org/officeDocument/2006/relationships/image" Target="../media/image36.png"/><Relationship Id="rId1" Type="http://schemas.openxmlformats.org/officeDocument/2006/relationships/slideLayout" Target="../slideLayouts/slideLayout67.xml"/><Relationship Id="rId6" Type="http://schemas.openxmlformats.org/officeDocument/2006/relationships/image" Target="../media/image62.svg"/><Relationship Id="rId5" Type="http://schemas.openxmlformats.org/officeDocument/2006/relationships/image" Target="../media/image53.svg"/><Relationship Id="rId4" Type="http://schemas.openxmlformats.org/officeDocument/2006/relationships/image" Target="../media/image61.sv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53.svg"/></Relationships>
</file>

<file path=ppt/slides/_rels/slide20.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16.xml"/><Relationship Id="rId1" Type="http://schemas.openxmlformats.org/officeDocument/2006/relationships/slideLayout" Target="../slideLayouts/slideLayout61.xml"/><Relationship Id="rId5" Type="http://schemas.microsoft.com/office/2007/relationships/hdphoto" Target="../media/hdphoto1.wdp"/><Relationship Id="rId4" Type="http://schemas.openxmlformats.org/officeDocument/2006/relationships/image" Target="../media/image6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1.xml"/></Relationships>
</file>

<file path=ppt/slides/_rels/slide2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26.xml.rels><?xml version="1.0" encoding="UTF-8" standalone="yes"?>
<Relationships xmlns="http://schemas.openxmlformats.org/package/2006/relationships"><Relationship Id="rId2" Type="http://schemas.openxmlformats.org/officeDocument/2006/relationships/image" Target="../media/image66.svg"/><Relationship Id="rId1" Type="http://schemas.openxmlformats.org/officeDocument/2006/relationships/slideLayout" Target="../slideLayouts/slideLayout61.xml"/></Relationships>
</file>

<file path=ppt/slides/_rels/slide27.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image" Target="../media/image67.svg"/><Relationship Id="rId1" Type="http://schemas.openxmlformats.org/officeDocument/2006/relationships/slideLayout" Target="../slideLayouts/slideLayout61.xml"/><Relationship Id="rId4" Type="http://schemas.openxmlformats.org/officeDocument/2006/relationships/image" Target="../media/image69.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3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71.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image" Target="../media/image72.png"/><Relationship Id="rId7" Type="http://schemas.openxmlformats.org/officeDocument/2006/relationships/image" Target="../media/image75.svg"/><Relationship Id="rId2" Type="http://schemas.openxmlformats.org/officeDocument/2006/relationships/notesSlide" Target="../notesSlides/notesSlide37.xml"/><Relationship Id="rId1" Type="http://schemas.openxmlformats.org/officeDocument/2006/relationships/slideLayout" Target="../slideLayouts/slideLayout29.xml"/><Relationship Id="rId6" Type="http://schemas.openxmlformats.org/officeDocument/2006/relationships/image" Target="../media/image74.svg"/><Relationship Id="rId11" Type="http://schemas.openxmlformats.org/officeDocument/2006/relationships/image" Target="../media/image78.svg"/><Relationship Id="rId5" Type="http://schemas.openxmlformats.org/officeDocument/2006/relationships/image" Target="../media/image73.svg"/><Relationship Id="rId10" Type="http://schemas.openxmlformats.org/officeDocument/2006/relationships/image" Target="../media/image44.svg"/><Relationship Id="rId4" Type="http://schemas.openxmlformats.org/officeDocument/2006/relationships/image" Target="../media/image43.svg"/><Relationship Id="rId9" Type="http://schemas.openxmlformats.org/officeDocument/2006/relationships/image" Target="../media/image77.svg"/></Relationships>
</file>

<file path=ppt/slides/_rels/slide45.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image" Target="../media/image72.png"/><Relationship Id="rId7" Type="http://schemas.openxmlformats.org/officeDocument/2006/relationships/image" Target="../media/image75.svg"/><Relationship Id="rId2" Type="http://schemas.openxmlformats.org/officeDocument/2006/relationships/notesSlide" Target="../notesSlides/notesSlide38.xml"/><Relationship Id="rId1" Type="http://schemas.openxmlformats.org/officeDocument/2006/relationships/slideLayout" Target="../slideLayouts/slideLayout29.xml"/><Relationship Id="rId6" Type="http://schemas.openxmlformats.org/officeDocument/2006/relationships/image" Target="../media/image74.svg"/><Relationship Id="rId11" Type="http://schemas.openxmlformats.org/officeDocument/2006/relationships/image" Target="../media/image78.svg"/><Relationship Id="rId5" Type="http://schemas.openxmlformats.org/officeDocument/2006/relationships/image" Target="../media/image73.svg"/><Relationship Id="rId10" Type="http://schemas.openxmlformats.org/officeDocument/2006/relationships/image" Target="../media/image44.svg"/><Relationship Id="rId4" Type="http://schemas.openxmlformats.org/officeDocument/2006/relationships/image" Target="../media/image43.svg"/><Relationship Id="rId9" Type="http://schemas.openxmlformats.org/officeDocument/2006/relationships/image" Target="../media/image77.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6.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notesSlide" Target="../notesSlides/notesSlide48.xml"/><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43.svg"/><Relationship Id="rId2" Type="http://schemas.openxmlformats.org/officeDocument/2006/relationships/notesSlide" Target="../notesSlides/notesSlide49.xml"/><Relationship Id="rId1" Type="http://schemas.openxmlformats.org/officeDocument/2006/relationships/slideLayout" Target="../slideLayouts/slideLayout35.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5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0.xml"/><Relationship Id="rId1" Type="http://schemas.openxmlformats.org/officeDocument/2006/relationships/slideLayout" Target="../slideLayouts/slideLayout35.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3.xml"/><Relationship Id="rId1" Type="http://schemas.openxmlformats.org/officeDocument/2006/relationships/slideLayout" Target="../slideLayouts/slideLayout35.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6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4.xml"/><Relationship Id="rId1" Type="http://schemas.openxmlformats.org/officeDocument/2006/relationships/slideLayout" Target="../slideLayouts/slideLayout35.xml"/><Relationship Id="rId5" Type="http://schemas.openxmlformats.org/officeDocument/2006/relationships/image" Target="../media/image94.png"/><Relationship Id="rId4" Type="http://schemas.openxmlformats.org/officeDocument/2006/relationships/image" Target="../media/image93.png"/></Relationships>
</file>

<file path=ppt/slides/_rels/slide6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5.xml"/><Relationship Id="rId1" Type="http://schemas.openxmlformats.org/officeDocument/2006/relationships/slideLayout" Target="../slideLayouts/slideLayout35.xml"/><Relationship Id="rId4" Type="http://schemas.openxmlformats.org/officeDocument/2006/relationships/image" Target="../media/image92.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58.xml"/><Relationship Id="rId1" Type="http://schemas.openxmlformats.org/officeDocument/2006/relationships/slideLayout" Target="../slideLayouts/slideLayout35.xml"/><Relationship Id="rId6" Type="http://schemas.openxmlformats.org/officeDocument/2006/relationships/image" Target="../media/image99.jpeg"/><Relationship Id="rId5" Type="http://schemas.openxmlformats.org/officeDocument/2006/relationships/image" Target="../media/image98.png"/><Relationship Id="rId4" Type="http://schemas.openxmlformats.org/officeDocument/2006/relationships/image" Target="../media/image97.png"/></Relationships>
</file>

<file path=ppt/slides/_rels/slide6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9.xml"/><Relationship Id="rId1" Type="http://schemas.openxmlformats.org/officeDocument/2006/relationships/slideLayout" Target="../slideLayouts/slideLayout35.xml"/><Relationship Id="rId4" Type="http://schemas.openxmlformats.org/officeDocument/2006/relationships/image" Target="../media/image101.png"/></Relationships>
</file>

<file path=ppt/slides/_rels/slide6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0.xml"/><Relationship Id="rId1" Type="http://schemas.openxmlformats.org/officeDocument/2006/relationships/slideLayout" Target="../slideLayouts/slideLayout35.xml"/><Relationship Id="rId4" Type="http://schemas.openxmlformats.org/officeDocument/2006/relationships/image" Target="../media/image103.png"/></Relationships>
</file>

<file path=ppt/slides/_rels/slide6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61.xml"/><Relationship Id="rId1" Type="http://schemas.openxmlformats.org/officeDocument/2006/relationships/slideLayout" Target="../slideLayouts/slideLayout35.xml"/><Relationship Id="rId5" Type="http://schemas.openxmlformats.org/officeDocument/2006/relationships/image" Target="../media/image106.png"/><Relationship Id="rId4" Type="http://schemas.openxmlformats.org/officeDocument/2006/relationships/image" Target="../media/image105.png"/></Relationships>
</file>

<file path=ppt/slides/_rels/slide7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62.xml"/><Relationship Id="rId1" Type="http://schemas.openxmlformats.org/officeDocument/2006/relationships/slideLayout" Target="../slideLayouts/slideLayout35.xml"/><Relationship Id="rId4" Type="http://schemas.openxmlformats.org/officeDocument/2006/relationships/image" Target="../media/image108.png"/></Relationships>
</file>

<file path=ppt/slides/_rels/slide71.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9.png"/><Relationship Id="rId7" Type="http://schemas.microsoft.com/office/2007/relationships/hdphoto" Target="../media/hdphoto3.wdp"/><Relationship Id="rId12" Type="http://schemas.microsoft.com/office/2007/relationships/hdphoto" Target="../media/hdphoto5.wdp"/><Relationship Id="rId2" Type="http://schemas.openxmlformats.org/officeDocument/2006/relationships/notesSlide" Target="../notesSlides/notesSlide63.xml"/><Relationship Id="rId1" Type="http://schemas.openxmlformats.org/officeDocument/2006/relationships/slideLayout" Target="../slideLayouts/slideLayout35.xml"/><Relationship Id="rId6" Type="http://schemas.openxmlformats.org/officeDocument/2006/relationships/image" Target="../media/image111.png"/><Relationship Id="rId11" Type="http://schemas.openxmlformats.org/officeDocument/2006/relationships/image" Target="../media/image114.png"/><Relationship Id="rId5" Type="http://schemas.microsoft.com/office/2007/relationships/hdphoto" Target="../media/hdphoto2.wdp"/><Relationship Id="rId10" Type="http://schemas.microsoft.com/office/2007/relationships/hdphoto" Target="../media/hdphoto4.wdp"/><Relationship Id="rId4" Type="http://schemas.openxmlformats.org/officeDocument/2006/relationships/image" Target="../media/image110.png"/><Relationship Id="rId9" Type="http://schemas.openxmlformats.org/officeDocument/2006/relationships/image" Target="../media/image113.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70.xml"/><Relationship Id="rId1" Type="http://schemas.openxmlformats.org/officeDocument/2006/relationships/slideLayout" Target="../slideLayouts/slideLayout36.xml"/></Relationships>
</file>

<file path=ppt/slides/_rels/slide8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71.xml"/><Relationship Id="rId1" Type="http://schemas.openxmlformats.org/officeDocument/2006/relationships/slideLayout" Target="../slideLayouts/slideLayout3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8C-63DB-6EC0-54B3-BAD510DB5D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2D4D6B-E702-B14F-8CBF-3DB9404EA064}"/>
              </a:ext>
            </a:extLst>
          </p:cNvPr>
          <p:cNvSpPr/>
          <p:nvPr/>
        </p:nvSpPr>
        <p:spPr bwMode="auto">
          <a:xfrm>
            <a:off x="0" y="0"/>
            <a:ext cx="121920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3D957A41-9389-9041-99A2-9153DA0C87B2}"/>
              </a:ext>
            </a:extLst>
          </p:cNvPr>
          <p:cNvSpPr/>
          <p:nvPr/>
        </p:nvSpPr>
        <p:spPr bwMode="auto">
          <a:xfrm>
            <a:off x="0" y="0"/>
            <a:ext cx="2286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0716BB7-CA60-524A-8CA8-6B88AD30659B}"/>
              </a:ext>
            </a:extLst>
          </p:cNvPr>
          <p:cNvSpPr/>
          <p:nvPr/>
        </p:nvSpPr>
        <p:spPr bwMode="auto">
          <a:xfrm>
            <a:off x="457200" y="609600"/>
            <a:ext cx="15240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3C91333C-DD3E-9B4D-89FD-5B2ACB074E63}"/>
              </a:ext>
            </a:extLst>
          </p:cNvPr>
          <p:cNvSpPr txBox="1"/>
          <p:nvPr/>
        </p:nvSpPr>
        <p:spPr>
          <a:xfrm>
            <a:off x="609600" y="990600"/>
            <a:ext cx="228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INTERNAL ONLY</a:t>
            </a:r>
            <a:endParaRPr lang="en-US" sz="1000" b="1" dirty="0">
              <a:solidFill>
                <a:srgbClr val="0047FF"/>
              </a:solidFill>
              <a:latin typeface="Arial"/>
              <a:cs typeface="Arial"/>
            </a:endParaRPr>
          </a:p>
        </p:txBody>
      </p:sp>
      <p:sp>
        <p:nvSpPr>
          <p:cNvPr id="12" name="TextBox 11">
            <a:extLst>
              <a:ext uri="{FF2B5EF4-FFF2-40B4-BE49-F238E27FC236}">
                <a16:creationId xmlns:a16="http://schemas.microsoft.com/office/drawing/2014/main" id="{F8E1B792-659A-D74D-9D48-33D822D70F96}"/>
              </a:ext>
            </a:extLst>
          </p:cNvPr>
          <p:cNvSpPr txBox="1"/>
          <p:nvPr/>
        </p:nvSpPr>
        <p:spPr>
          <a:xfrm>
            <a:off x="609600" y="1473200"/>
            <a:ext cx="8001000" cy="149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900" b="1">
                <a:solidFill>
                  <a:srgbClr val="FFFFFF"/>
                </a:solidFill>
                <a:latin typeface="Arial"/>
                <a:cs typeface="Arial"/>
              </a:rPr>
              <a:t>How to Use This Pick Deck</a:t>
            </a:r>
            <a:endParaRPr lang="en-US" sz="2900" b="1" dirty="0">
              <a:solidFill>
                <a:srgbClr val="FFFFFF"/>
              </a:solidFill>
              <a:latin typeface="Arial"/>
              <a:cs typeface="Arial"/>
            </a:endParaRPr>
          </a:p>
        </p:txBody>
      </p:sp>
      <p:sp>
        <p:nvSpPr>
          <p:cNvPr id="14" name="TextBox 13">
            <a:extLst>
              <a:ext uri="{FF2B5EF4-FFF2-40B4-BE49-F238E27FC236}">
                <a16:creationId xmlns:a16="http://schemas.microsoft.com/office/drawing/2014/main" id="{F12B1E13-E8CD-BD43-96AA-519B3925EF9F}"/>
              </a:ext>
            </a:extLst>
          </p:cNvPr>
          <p:cNvSpPr txBox="1"/>
          <p:nvPr/>
        </p:nvSpPr>
        <p:spPr>
          <a:xfrm>
            <a:off x="609600" y="3149600"/>
            <a:ext cx="7874000" cy="685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a:solidFill>
                  <a:srgbClr val="FFFFFF"/>
                </a:solidFill>
                <a:latin typeface="Arial"/>
                <a:cs typeface="Arial"/>
              </a:rPr>
              <a:t>This deck is a library, not a linear presentation. Build a client-ready story by selecting only the slides that match the buyer, catalyst, lifecycle moment, and desired depth.</a:t>
            </a:r>
            <a:endParaRPr lang="en-US" sz="1300" dirty="0">
              <a:solidFill>
                <a:srgbClr val="FFFFFF"/>
              </a:solidFill>
              <a:latin typeface="Arial"/>
              <a:cs typeface="Arial"/>
            </a:endParaRPr>
          </a:p>
        </p:txBody>
      </p:sp>
      <p:sp>
        <p:nvSpPr>
          <p:cNvPr id="15" name="TextBox 14">
            <a:extLst>
              <a:ext uri="{FF2B5EF4-FFF2-40B4-BE49-F238E27FC236}">
                <a16:creationId xmlns:a16="http://schemas.microsoft.com/office/drawing/2014/main" id="{73F430C6-7897-2E44-A356-F000D6B34EA5}"/>
              </a:ext>
            </a:extLst>
          </p:cNvPr>
          <p:cNvSpPr txBox="1"/>
          <p:nvPr/>
        </p:nvSpPr>
        <p:spPr>
          <a:xfrm>
            <a:off x="9118600" y="11557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BUILD THE STORY</a:t>
            </a:r>
            <a:endParaRPr lang="en-US" sz="950" b="1" dirty="0">
              <a:solidFill>
                <a:srgbClr val="0047FF"/>
              </a:solidFill>
              <a:latin typeface="Arial"/>
              <a:cs typeface="Arial"/>
            </a:endParaRPr>
          </a:p>
        </p:txBody>
      </p:sp>
      <p:sp>
        <p:nvSpPr>
          <p:cNvPr id="16" name="Rectangle 15">
            <a:extLst>
              <a:ext uri="{FF2B5EF4-FFF2-40B4-BE49-F238E27FC236}">
                <a16:creationId xmlns:a16="http://schemas.microsoft.com/office/drawing/2014/main" id="{261D85DC-F9D6-6945-B534-E7FA1D31F122}"/>
              </a:ext>
            </a:extLst>
          </p:cNvPr>
          <p:cNvSpPr/>
          <p:nvPr/>
        </p:nvSpPr>
        <p:spPr bwMode="auto">
          <a:xfrm>
            <a:off x="9118600" y="15875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D01BF5B1-B24E-284C-9FC7-E80462316182}"/>
              </a:ext>
            </a:extLst>
          </p:cNvPr>
          <p:cNvSpPr txBox="1"/>
          <p:nvPr/>
        </p:nvSpPr>
        <p:spPr>
          <a:xfrm>
            <a:off x="9271000" y="17399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01</a:t>
            </a:r>
            <a:endParaRPr lang="en-US" sz="900" b="1" dirty="0">
              <a:solidFill>
                <a:srgbClr val="F900D3"/>
              </a:solidFill>
              <a:latin typeface="Arial"/>
              <a:cs typeface="Arial"/>
            </a:endParaRPr>
          </a:p>
        </p:txBody>
      </p:sp>
      <p:sp>
        <p:nvSpPr>
          <p:cNvPr id="21" name="TextBox 20">
            <a:extLst>
              <a:ext uri="{FF2B5EF4-FFF2-40B4-BE49-F238E27FC236}">
                <a16:creationId xmlns:a16="http://schemas.microsoft.com/office/drawing/2014/main" id="{F685F9EA-221F-3347-8288-97BD26237162}"/>
              </a:ext>
            </a:extLst>
          </p:cNvPr>
          <p:cNvSpPr txBox="1"/>
          <p:nvPr/>
        </p:nvSpPr>
        <p:spPr>
          <a:xfrm>
            <a:off x="9677400" y="16764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Start with buyer + catalyst</a:t>
            </a:r>
            <a:endParaRPr lang="en-US" sz="1000" b="1" dirty="0">
              <a:solidFill>
                <a:srgbClr val="070154"/>
              </a:solidFill>
              <a:latin typeface="Arial"/>
              <a:cs typeface="Arial"/>
            </a:endParaRPr>
          </a:p>
        </p:txBody>
      </p:sp>
      <p:sp>
        <p:nvSpPr>
          <p:cNvPr id="22" name="Rectangle 21">
            <a:extLst>
              <a:ext uri="{FF2B5EF4-FFF2-40B4-BE49-F238E27FC236}">
                <a16:creationId xmlns:a16="http://schemas.microsoft.com/office/drawing/2014/main" id="{07DBAAEE-5275-0B4F-8234-10AE0BF7AC50}"/>
              </a:ext>
            </a:extLst>
          </p:cNvPr>
          <p:cNvSpPr/>
          <p:nvPr/>
        </p:nvSpPr>
        <p:spPr bwMode="auto">
          <a:xfrm>
            <a:off x="9118600" y="23114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C1D6F0A2-F72D-C640-9D54-A4D4C9BE9626}"/>
              </a:ext>
            </a:extLst>
          </p:cNvPr>
          <p:cNvSpPr txBox="1"/>
          <p:nvPr/>
        </p:nvSpPr>
        <p:spPr>
          <a:xfrm>
            <a:off x="9271000" y="2463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02</a:t>
            </a:r>
            <a:endParaRPr lang="en-US" sz="900" b="1" dirty="0">
              <a:solidFill>
                <a:srgbClr val="F900D3"/>
              </a:solidFill>
              <a:latin typeface="Arial"/>
              <a:cs typeface="Arial"/>
            </a:endParaRPr>
          </a:p>
        </p:txBody>
      </p:sp>
      <p:sp>
        <p:nvSpPr>
          <p:cNvPr id="24" name="TextBox 23">
            <a:extLst>
              <a:ext uri="{FF2B5EF4-FFF2-40B4-BE49-F238E27FC236}">
                <a16:creationId xmlns:a16="http://schemas.microsoft.com/office/drawing/2014/main" id="{080B83FA-47AE-5546-B78A-3741943FCCAA}"/>
              </a:ext>
            </a:extLst>
          </p:cNvPr>
          <p:cNvSpPr txBox="1"/>
          <p:nvPr/>
        </p:nvSpPr>
        <p:spPr>
          <a:xfrm>
            <a:off x="9677400" y="24003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Follow the narrative spine</a:t>
            </a:r>
            <a:endParaRPr lang="en-US" sz="1000" b="1" dirty="0">
              <a:solidFill>
                <a:srgbClr val="070154"/>
              </a:solidFill>
              <a:latin typeface="Arial"/>
              <a:cs typeface="Arial"/>
            </a:endParaRPr>
          </a:p>
        </p:txBody>
      </p:sp>
      <p:sp>
        <p:nvSpPr>
          <p:cNvPr id="25" name="Rectangle 24">
            <a:extLst>
              <a:ext uri="{FF2B5EF4-FFF2-40B4-BE49-F238E27FC236}">
                <a16:creationId xmlns:a16="http://schemas.microsoft.com/office/drawing/2014/main" id="{5B5F2BF9-FA2F-E54E-9A25-DB5AD24F1FD1}"/>
              </a:ext>
            </a:extLst>
          </p:cNvPr>
          <p:cNvSpPr/>
          <p:nvPr/>
        </p:nvSpPr>
        <p:spPr bwMode="auto">
          <a:xfrm>
            <a:off x="9118600" y="30353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29292B1C-4A91-1946-99C8-A22EB49E9166}"/>
              </a:ext>
            </a:extLst>
          </p:cNvPr>
          <p:cNvSpPr txBox="1"/>
          <p:nvPr/>
        </p:nvSpPr>
        <p:spPr>
          <a:xfrm>
            <a:off x="92710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03</a:t>
            </a:r>
            <a:endParaRPr lang="en-US" sz="900" b="1" dirty="0">
              <a:solidFill>
                <a:srgbClr val="F900D3"/>
              </a:solidFill>
              <a:latin typeface="Arial"/>
              <a:cs typeface="Arial"/>
            </a:endParaRPr>
          </a:p>
        </p:txBody>
      </p:sp>
      <p:sp>
        <p:nvSpPr>
          <p:cNvPr id="27" name="TextBox 26">
            <a:extLst>
              <a:ext uri="{FF2B5EF4-FFF2-40B4-BE49-F238E27FC236}">
                <a16:creationId xmlns:a16="http://schemas.microsoft.com/office/drawing/2014/main" id="{6D3A6AC7-EA6A-544F-B9CC-F86023D2FAF4}"/>
              </a:ext>
            </a:extLst>
          </p:cNvPr>
          <p:cNvSpPr txBox="1"/>
          <p:nvPr/>
        </p:nvSpPr>
        <p:spPr>
          <a:xfrm>
            <a:off x="9677400" y="31242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Choose only relevant depth</a:t>
            </a:r>
            <a:endParaRPr lang="en-US" sz="1000" b="1" dirty="0">
              <a:solidFill>
                <a:srgbClr val="070154"/>
              </a:solidFill>
              <a:latin typeface="Arial"/>
              <a:cs typeface="Arial"/>
            </a:endParaRPr>
          </a:p>
        </p:txBody>
      </p:sp>
      <p:sp>
        <p:nvSpPr>
          <p:cNvPr id="28" name="Rectangle 27">
            <a:extLst>
              <a:ext uri="{FF2B5EF4-FFF2-40B4-BE49-F238E27FC236}">
                <a16:creationId xmlns:a16="http://schemas.microsoft.com/office/drawing/2014/main" id="{7D2CEE49-87AD-B74B-BCBB-6545318FEAE4}"/>
              </a:ext>
            </a:extLst>
          </p:cNvPr>
          <p:cNvSpPr/>
          <p:nvPr/>
        </p:nvSpPr>
        <p:spPr bwMode="auto">
          <a:xfrm>
            <a:off x="9118600" y="37592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A7BB059-7F53-E749-AC13-3FF96661BA83}"/>
              </a:ext>
            </a:extLst>
          </p:cNvPr>
          <p:cNvSpPr txBox="1"/>
          <p:nvPr/>
        </p:nvSpPr>
        <p:spPr>
          <a:xfrm>
            <a:off x="9271000" y="39116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04</a:t>
            </a:r>
            <a:endParaRPr lang="en-US" sz="900" b="1" dirty="0">
              <a:solidFill>
                <a:srgbClr val="F900D3"/>
              </a:solidFill>
              <a:latin typeface="Arial"/>
              <a:cs typeface="Arial"/>
            </a:endParaRPr>
          </a:p>
        </p:txBody>
      </p:sp>
      <p:sp>
        <p:nvSpPr>
          <p:cNvPr id="30" name="TextBox 29">
            <a:extLst>
              <a:ext uri="{FF2B5EF4-FFF2-40B4-BE49-F238E27FC236}">
                <a16:creationId xmlns:a16="http://schemas.microsoft.com/office/drawing/2014/main" id="{E81A1754-C62A-9340-828F-1507EB0BF98D}"/>
              </a:ext>
            </a:extLst>
          </p:cNvPr>
          <p:cNvSpPr txBox="1"/>
          <p:nvPr/>
        </p:nvSpPr>
        <p:spPr>
          <a:xfrm>
            <a:off x="9677400" y="38481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End with proof + next step</a:t>
            </a:r>
            <a:endParaRPr lang="en-US" sz="1000" b="1" dirty="0">
              <a:solidFill>
                <a:srgbClr val="070154"/>
              </a:solidFill>
              <a:latin typeface="Arial"/>
              <a:cs typeface="Arial"/>
            </a:endParaRPr>
          </a:p>
        </p:txBody>
      </p:sp>
      <p:sp>
        <p:nvSpPr>
          <p:cNvPr id="31" name="Rectangle 30">
            <a:extLst>
              <a:ext uri="{FF2B5EF4-FFF2-40B4-BE49-F238E27FC236}">
                <a16:creationId xmlns:a16="http://schemas.microsoft.com/office/drawing/2014/main" id="{3375BC94-8D43-EF4D-96D9-538EF700EFE6}"/>
              </a:ext>
            </a:extLst>
          </p:cNvPr>
          <p:cNvSpPr/>
          <p:nvPr/>
        </p:nvSpPr>
        <p:spPr bwMode="auto">
          <a:xfrm>
            <a:off x="609600" y="5270500"/>
            <a:ext cx="8255000" cy="571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A26CFF14-2BDE-1848-A022-DAC182E8D21B}"/>
              </a:ext>
            </a:extLst>
          </p:cNvPr>
          <p:cNvSpPr txBox="1"/>
          <p:nvPr/>
        </p:nvSpPr>
        <p:spPr>
          <a:xfrm>
            <a:off x="863600" y="5435600"/>
            <a:ext cx="7747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INTERNAL ONLY — Remove this slide and any internal section guides before sharing externally.</a:t>
            </a:r>
            <a:endParaRPr lang="en-US" sz="1000" b="1" dirty="0">
              <a:solidFill>
                <a:srgbClr val="070154"/>
              </a:solidFill>
              <a:latin typeface="Arial"/>
              <a:cs typeface="Arial"/>
            </a:endParaRPr>
          </a:p>
        </p:txBody>
      </p:sp>
      <p:sp>
        <p:nvSpPr>
          <p:cNvPr id="3" name="TextBox 2">
            <a:extLst>
              <a:ext uri="{FF2B5EF4-FFF2-40B4-BE49-F238E27FC236}">
                <a16:creationId xmlns:a16="http://schemas.microsoft.com/office/drawing/2014/main" id="{D9C2D31F-41C9-834B-806E-5C698A45F50E}"/>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D0847E0D-C3A0-6C47-8917-F1C8F445903B}"/>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endParaRPr lang="en-US" sz="550" dirty="0">
              <a:solidFill>
                <a:srgbClr val="070154"/>
              </a:solidFill>
              <a:latin typeface="Arial"/>
              <a:cs typeface="Arial"/>
            </a:endParaRPr>
          </a:p>
        </p:txBody>
      </p:sp>
    </p:spTree>
    <p:extLst>
      <p:ext uri="{BB962C8B-B14F-4D97-AF65-F5344CB8AC3E}">
        <p14:creationId xmlns:p14="http://schemas.microsoft.com/office/powerpoint/2010/main" val="1837914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8C-63DB-6EC0-54B3-BAD510DB5D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2D4D6B-E702-B14F-8CBF-3DB9404EA064}"/>
              </a:ext>
            </a:extLst>
          </p:cNvPr>
          <p:cNvSpPr/>
          <p:nvPr/>
        </p:nvSpPr>
        <p:spPr bwMode="auto">
          <a:xfrm>
            <a:off x="0" y="0"/>
            <a:ext cx="121920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3D957A41-9389-9041-99A2-9153DA0C87B2}"/>
              </a:ext>
            </a:extLst>
          </p:cNvPr>
          <p:cNvSpPr/>
          <p:nvPr/>
        </p:nvSpPr>
        <p:spPr bwMode="auto">
          <a:xfrm>
            <a:off x="0" y="0"/>
            <a:ext cx="2286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0716BB7-CA60-524A-8CA8-6B88AD30659B}"/>
              </a:ext>
            </a:extLst>
          </p:cNvPr>
          <p:cNvSpPr/>
          <p:nvPr/>
        </p:nvSpPr>
        <p:spPr bwMode="auto">
          <a:xfrm>
            <a:off x="457200" y="609600"/>
            <a:ext cx="15240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3C91333C-DD3E-9B4D-89FD-5B2ACB074E63}"/>
              </a:ext>
            </a:extLst>
          </p:cNvPr>
          <p:cNvSpPr txBox="1"/>
          <p:nvPr/>
        </p:nvSpPr>
        <p:spPr>
          <a:xfrm>
            <a:off x="609600" y="990600"/>
            <a:ext cx="228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INTERNAL PICK-DECK GUIDE</a:t>
            </a:r>
            <a:endParaRPr lang="en-US" sz="1000" b="1" dirty="0">
              <a:solidFill>
                <a:srgbClr val="0047FF"/>
              </a:solidFill>
              <a:latin typeface="Arial"/>
              <a:cs typeface="Arial"/>
            </a:endParaRPr>
          </a:p>
        </p:txBody>
      </p:sp>
      <p:sp>
        <p:nvSpPr>
          <p:cNvPr id="12" name="TextBox 11">
            <a:extLst>
              <a:ext uri="{FF2B5EF4-FFF2-40B4-BE49-F238E27FC236}">
                <a16:creationId xmlns:a16="http://schemas.microsoft.com/office/drawing/2014/main" id="{F8E1B792-659A-D74D-9D48-33D822D70F96}"/>
              </a:ext>
            </a:extLst>
          </p:cNvPr>
          <p:cNvSpPr txBox="1"/>
          <p:nvPr/>
        </p:nvSpPr>
        <p:spPr>
          <a:xfrm>
            <a:off x="609600" y="1473200"/>
            <a:ext cx="8001000" cy="149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900" b="1">
                <a:solidFill>
                  <a:srgbClr val="FFFFFF"/>
                </a:solidFill>
                <a:latin typeface="Arial"/>
                <a:cs typeface="Arial"/>
              </a:rPr>
              <a:t>Modernization Economics in the AI Age</a:t>
            </a:r>
            <a:endParaRPr lang="en-US" sz="2900" b="1" dirty="0">
              <a:solidFill>
                <a:srgbClr val="FFFFFF"/>
              </a:solidFill>
              <a:latin typeface="Arial"/>
              <a:cs typeface="Arial"/>
            </a:endParaRPr>
          </a:p>
        </p:txBody>
      </p:sp>
      <p:sp>
        <p:nvSpPr>
          <p:cNvPr id="14" name="TextBox 13">
            <a:extLst>
              <a:ext uri="{FF2B5EF4-FFF2-40B4-BE49-F238E27FC236}">
                <a16:creationId xmlns:a16="http://schemas.microsoft.com/office/drawing/2014/main" id="{F12B1E13-E8CD-BD43-96AA-519B3925EF9F}"/>
              </a:ext>
            </a:extLst>
          </p:cNvPr>
          <p:cNvSpPr txBox="1"/>
          <p:nvPr/>
        </p:nvSpPr>
        <p:spPr>
          <a:xfrm>
            <a:off x="609600" y="3149600"/>
            <a:ext cx="7874000" cy="685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a:solidFill>
                  <a:srgbClr val="FFFFFF"/>
                </a:solidFill>
                <a:latin typeface="Arial"/>
                <a:cs typeface="Arial"/>
              </a:rPr>
              <a:t>Set the stage by showing why modernization has historically been difficult, how AI changes the work, and what new choices that creates.</a:t>
            </a:r>
            <a:endParaRPr lang="en-US" sz="1300" dirty="0">
              <a:solidFill>
                <a:srgbClr val="FFFFFF"/>
              </a:solidFill>
              <a:latin typeface="Arial"/>
              <a:cs typeface="Arial"/>
            </a:endParaRPr>
          </a:p>
        </p:txBody>
      </p:sp>
      <p:sp>
        <p:nvSpPr>
          <p:cNvPr id="15" name="TextBox 14">
            <a:extLst>
              <a:ext uri="{FF2B5EF4-FFF2-40B4-BE49-F238E27FC236}">
                <a16:creationId xmlns:a16="http://schemas.microsoft.com/office/drawing/2014/main" id="{73F430C6-7897-2E44-A356-F000D6B34EA5}"/>
              </a:ext>
            </a:extLst>
          </p:cNvPr>
          <p:cNvSpPr txBox="1"/>
          <p:nvPr/>
        </p:nvSpPr>
        <p:spPr>
          <a:xfrm>
            <a:off x="9118600" y="11557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IN THIS SECTION</a:t>
            </a:r>
            <a:endParaRPr lang="en-US" sz="950" b="1" dirty="0">
              <a:solidFill>
                <a:srgbClr val="0047FF"/>
              </a:solidFill>
              <a:latin typeface="Arial"/>
              <a:cs typeface="Arial"/>
            </a:endParaRPr>
          </a:p>
        </p:txBody>
      </p:sp>
      <p:sp>
        <p:nvSpPr>
          <p:cNvPr id="16" name="Rectangle 15">
            <a:extLst>
              <a:ext uri="{FF2B5EF4-FFF2-40B4-BE49-F238E27FC236}">
                <a16:creationId xmlns:a16="http://schemas.microsoft.com/office/drawing/2014/main" id="{261D85DC-F9D6-6945-B534-E7FA1D31F122}"/>
              </a:ext>
            </a:extLst>
          </p:cNvPr>
          <p:cNvSpPr/>
          <p:nvPr/>
        </p:nvSpPr>
        <p:spPr bwMode="auto">
          <a:xfrm>
            <a:off x="9118600" y="15875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D01BF5B1-B24E-284C-9FC7-E80462316182}"/>
              </a:ext>
            </a:extLst>
          </p:cNvPr>
          <p:cNvSpPr txBox="1"/>
          <p:nvPr/>
        </p:nvSpPr>
        <p:spPr>
          <a:xfrm>
            <a:off x="9271000" y="17399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01</a:t>
            </a:r>
            <a:endParaRPr lang="en-US" sz="900" b="1" dirty="0">
              <a:solidFill>
                <a:srgbClr val="F900D3"/>
              </a:solidFill>
              <a:latin typeface="Arial"/>
              <a:cs typeface="Arial"/>
            </a:endParaRPr>
          </a:p>
        </p:txBody>
      </p:sp>
      <p:sp>
        <p:nvSpPr>
          <p:cNvPr id="21" name="TextBox 20">
            <a:extLst>
              <a:ext uri="{FF2B5EF4-FFF2-40B4-BE49-F238E27FC236}">
                <a16:creationId xmlns:a16="http://schemas.microsoft.com/office/drawing/2014/main" id="{F685F9EA-221F-3347-8288-97BD26237162}"/>
              </a:ext>
            </a:extLst>
          </p:cNvPr>
          <p:cNvSpPr txBox="1"/>
          <p:nvPr/>
        </p:nvSpPr>
        <p:spPr>
          <a:xfrm>
            <a:off x="9677400" y="16764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Economics shift</a:t>
            </a:r>
            <a:endParaRPr lang="en-US" sz="1000" b="1" dirty="0">
              <a:solidFill>
                <a:srgbClr val="070154"/>
              </a:solidFill>
              <a:latin typeface="Arial"/>
              <a:cs typeface="Arial"/>
            </a:endParaRPr>
          </a:p>
        </p:txBody>
      </p:sp>
      <p:sp>
        <p:nvSpPr>
          <p:cNvPr id="22" name="Rectangle 21">
            <a:extLst>
              <a:ext uri="{FF2B5EF4-FFF2-40B4-BE49-F238E27FC236}">
                <a16:creationId xmlns:a16="http://schemas.microsoft.com/office/drawing/2014/main" id="{07DBAAEE-5275-0B4F-8234-10AE0BF7AC50}"/>
              </a:ext>
            </a:extLst>
          </p:cNvPr>
          <p:cNvSpPr/>
          <p:nvPr/>
        </p:nvSpPr>
        <p:spPr bwMode="auto">
          <a:xfrm>
            <a:off x="9118600" y="23114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C1D6F0A2-F72D-C640-9D54-A4D4C9BE9626}"/>
              </a:ext>
            </a:extLst>
          </p:cNvPr>
          <p:cNvSpPr txBox="1"/>
          <p:nvPr/>
        </p:nvSpPr>
        <p:spPr>
          <a:xfrm>
            <a:off x="9271000" y="2463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02</a:t>
            </a:r>
            <a:endParaRPr lang="en-US" sz="900" b="1" dirty="0">
              <a:solidFill>
                <a:srgbClr val="F900D3"/>
              </a:solidFill>
              <a:latin typeface="Arial"/>
              <a:cs typeface="Arial"/>
            </a:endParaRPr>
          </a:p>
        </p:txBody>
      </p:sp>
      <p:sp>
        <p:nvSpPr>
          <p:cNvPr id="24" name="TextBox 23">
            <a:extLst>
              <a:ext uri="{FF2B5EF4-FFF2-40B4-BE49-F238E27FC236}">
                <a16:creationId xmlns:a16="http://schemas.microsoft.com/office/drawing/2014/main" id="{080B83FA-47AE-5546-B78A-3741943FCCAA}"/>
              </a:ext>
            </a:extLst>
          </p:cNvPr>
          <p:cNvSpPr txBox="1"/>
          <p:nvPr/>
        </p:nvSpPr>
        <p:spPr>
          <a:xfrm>
            <a:off x="9677400" y="24003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Business value unlocked</a:t>
            </a:r>
            <a:endParaRPr lang="en-US" sz="1000" b="1" dirty="0">
              <a:solidFill>
                <a:srgbClr val="070154"/>
              </a:solidFill>
              <a:latin typeface="Arial"/>
              <a:cs typeface="Arial"/>
            </a:endParaRPr>
          </a:p>
        </p:txBody>
      </p:sp>
      <p:sp>
        <p:nvSpPr>
          <p:cNvPr id="25" name="Rectangle 24">
            <a:extLst>
              <a:ext uri="{FF2B5EF4-FFF2-40B4-BE49-F238E27FC236}">
                <a16:creationId xmlns:a16="http://schemas.microsoft.com/office/drawing/2014/main" id="{5B5F2BF9-FA2F-E54E-9A25-DB5AD24F1FD1}"/>
              </a:ext>
            </a:extLst>
          </p:cNvPr>
          <p:cNvSpPr/>
          <p:nvPr/>
        </p:nvSpPr>
        <p:spPr bwMode="auto">
          <a:xfrm>
            <a:off x="9118600" y="30353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29292B1C-4A91-1946-99C8-A22EB49E9166}"/>
              </a:ext>
            </a:extLst>
          </p:cNvPr>
          <p:cNvSpPr txBox="1"/>
          <p:nvPr/>
        </p:nvSpPr>
        <p:spPr>
          <a:xfrm>
            <a:off x="92710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03</a:t>
            </a:r>
            <a:endParaRPr lang="en-US" sz="900" b="1" dirty="0">
              <a:solidFill>
                <a:srgbClr val="F900D3"/>
              </a:solidFill>
              <a:latin typeface="Arial"/>
              <a:cs typeface="Arial"/>
            </a:endParaRPr>
          </a:p>
        </p:txBody>
      </p:sp>
      <p:sp>
        <p:nvSpPr>
          <p:cNvPr id="27" name="TextBox 26">
            <a:extLst>
              <a:ext uri="{FF2B5EF4-FFF2-40B4-BE49-F238E27FC236}">
                <a16:creationId xmlns:a16="http://schemas.microsoft.com/office/drawing/2014/main" id="{6D3A6AC7-EA6A-544F-B9CC-F86023D2FAF4}"/>
              </a:ext>
            </a:extLst>
          </p:cNvPr>
          <p:cNvSpPr txBox="1"/>
          <p:nvPr/>
        </p:nvSpPr>
        <p:spPr>
          <a:xfrm>
            <a:off x="9677400" y="31242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Use cases + catalysts</a:t>
            </a:r>
            <a:endParaRPr lang="en-US" sz="1000" b="1" dirty="0">
              <a:solidFill>
                <a:srgbClr val="070154"/>
              </a:solidFill>
              <a:latin typeface="Arial"/>
              <a:cs typeface="Arial"/>
            </a:endParaRPr>
          </a:p>
        </p:txBody>
      </p:sp>
      <p:sp>
        <p:nvSpPr>
          <p:cNvPr id="28" name="Rectangle 27">
            <a:extLst>
              <a:ext uri="{FF2B5EF4-FFF2-40B4-BE49-F238E27FC236}">
                <a16:creationId xmlns:a16="http://schemas.microsoft.com/office/drawing/2014/main" id="{7D2CEE49-87AD-B74B-BCBB-6545318FEAE4}"/>
              </a:ext>
            </a:extLst>
          </p:cNvPr>
          <p:cNvSpPr/>
          <p:nvPr/>
        </p:nvSpPr>
        <p:spPr bwMode="auto">
          <a:xfrm>
            <a:off x="9118600" y="37592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A7BB059-7F53-E749-AC13-3FF96661BA83}"/>
              </a:ext>
            </a:extLst>
          </p:cNvPr>
          <p:cNvSpPr txBox="1"/>
          <p:nvPr/>
        </p:nvSpPr>
        <p:spPr>
          <a:xfrm>
            <a:off x="9271000" y="39116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04</a:t>
            </a:r>
            <a:endParaRPr lang="en-US" sz="900" b="1" dirty="0">
              <a:solidFill>
                <a:srgbClr val="F900D3"/>
              </a:solidFill>
              <a:latin typeface="Arial"/>
              <a:cs typeface="Arial"/>
            </a:endParaRPr>
          </a:p>
        </p:txBody>
      </p:sp>
      <p:sp>
        <p:nvSpPr>
          <p:cNvPr id="30" name="TextBox 29">
            <a:extLst>
              <a:ext uri="{FF2B5EF4-FFF2-40B4-BE49-F238E27FC236}">
                <a16:creationId xmlns:a16="http://schemas.microsoft.com/office/drawing/2014/main" id="{E81A1754-C62A-9340-828F-1507EB0BF98D}"/>
              </a:ext>
            </a:extLst>
          </p:cNvPr>
          <p:cNvSpPr txBox="1"/>
          <p:nvPr/>
        </p:nvSpPr>
        <p:spPr>
          <a:xfrm>
            <a:off x="9677400" y="38481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Ecosystem example</a:t>
            </a:r>
            <a:endParaRPr lang="en-US" sz="1000" b="1" dirty="0">
              <a:solidFill>
                <a:srgbClr val="070154"/>
              </a:solidFill>
              <a:latin typeface="Arial"/>
              <a:cs typeface="Arial"/>
            </a:endParaRPr>
          </a:p>
        </p:txBody>
      </p:sp>
      <p:sp>
        <p:nvSpPr>
          <p:cNvPr id="31" name="Rectangle 30">
            <a:extLst>
              <a:ext uri="{FF2B5EF4-FFF2-40B4-BE49-F238E27FC236}">
                <a16:creationId xmlns:a16="http://schemas.microsoft.com/office/drawing/2014/main" id="{3375BC94-8D43-EF4D-96D9-538EF700EFE6}"/>
              </a:ext>
            </a:extLst>
          </p:cNvPr>
          <p:cNvSpPr/>
          <p:nvPr/>
        </p:nvSpPr>
        <p:spPr bwMode="auto">
          <a:xfrm>
            <a:off x="609600" y="5270500"/>
            <a:ext cx="8255000" cy="571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A26CFF14-2BDE-1848-A022-DAC182E8D21B}"/>
              </a:ext>
            </a:extLst>
          </p:cNvPr>
          <p:cNvSpPr txBox="1"/>
          <p:nvPr/>
        </p:nvSpPr>
        <p:spPr>
          <a:xfrm>
            <a:off x="863600" y="5435600"/>
            <a:ext cx="7747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Recommended use: select 3–6 slides based on the buyer's urgency and familiarity with modernization.</a:t>
            </a:r>
            <a:endParaRPr lang="en-US" sz="1000" b="1" dirty="0">
              <a:solidFill>
                <a:srgbClr val="070154"/>
              </a:solidFill>
              <a:latin typeface="Arial"/>
              <a:cs typeface="Arial"/>
            </a:endParaRPr>
          </a:p>
        </p:txBody>
      </p:sp>
      <p:sp>
        <p:nvSpPr>
          <p:cNvPr id="3" name="TextBox 2">
            <a:extLst>
              <a:ext uri="{FF2B5EF4-FFF2-40B4-BE49-F238E27FC236}">
                <a16:creationId xmlns:a16="http://schemas.microsoft.com/office/drawing/2014/main" id="{D9C2D31F-41C9-834B-806E-5C698A45F50E}"/>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D0847E0D-C3A0-6C47-8917-F1C8F445903B}"/>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endParaRPr lang="en-US" sz="550" dirty="0">
              <a:solidFill>
                <a:srgbClr val="070154"/>
              </a:solidFill>
              <a:latin typeface="Arial"/>
              <a:cs typeface="Arial"/>
            </a:endParaRPr>
          </a:p>
        </p:txBody>
      </p:sp>
    </p:spTree>
    <p:extLst>
      <p:ext uri="{BB962C8B-B14F-4D97-AF65-F5344CB8AC3E}">
        <p14:creationId xmlns:p14="http://schemas.microsoft.com/office/powerpoint/2010/main" val="1875072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Unlock Card 4">
            <a:extLst>
              <a:ext uri="{FF2B5EF4-FFF2-40B4-BE49-F238E27FC236}">
                <a16:creationId xmlns:a16="http://schemas.microsoft.com/office/drawing/2014/main" id="{9B1AA030-8C3F-AC4E-9992-588E6655C1F0}"/>
              </a:ext>
            </a:extLst>
          </p:cNvPr>
          <p:cNvSpPr/>
          <p:nvPr/>
        </p:nvSpPr>
        <p:spPr bwMode="auto">
          <a:xfrm>
            <a:off x="8915400" y="4495800"/>
            <a:ext cx="2667000" cy="15494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Unlock Card 3">
            <a:extLst>
              <a:ext uri="{FF2B5EF4-FFF2-40B4-BE49-F238E27FC236}">
                <a16:creationId xmlns:a16="http://schemas.microsoft.com/office/drawing/2014/main" id="{3C5ECAED-9E78-DC4E-B92B-BF52652E5CA1}"/>
              </a:ext>
            </a:extLst>
          </p:cNvPr>
          <p:cNvSpPr/>
          <p:nvPr/>
        </p:nvSpPr>
        <p:spPr bwMode="auto">
          <a:xfrm>
            <a:off x="6146800" y="4495800"/>
            <a:ext cx="2667000" cy="1549400"/>
          </a:xfrm>
          <a:prstGeom prst="rect">
            <a:avLst/>
          </a:prstGeom>
          <a:solidFill>
            <a:srgbClr val="F1F3F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Unlock Card 2">
            <a:extLst>
              <a:ext uri="{FF2B5EF4-FFF2-40B4-BE49-F238E27FC236}">
                <a16:creationId xmlns:a16="http://schemas.microsoft.com/office/drawing/2014/main" id="{699374F3-117C-9D47-A616-DE6C34BDB586}"/>
              </a:ext>
            </a:extLst>
          </p:cNvPr>
          <p:cNvSpPr/>
          <p:nvPr/>
        </p:nvSpPr>
        <p:spPr bwMode="auto">
          <a:xfrm>
            <a:off x="3378200" y="4495800"/>
            <a:ext cx="2667000" cy="15494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 name="Unlock Card 1">
            <a:extLst>
              <a:ext uri="{FF2B5EF4-FFF2-40B4-BE49-F238E27FC236}">
                <a16:creationId xmlns:a16="http://schemas.microsoft.com/office/drawing/2014/main" id="{4E47DD65-D5ED-F149-BFD5-4A4DDE35A586}"/>
              </a:ext>
            </a:extLst>
          </p:cNvPr>
          <p:cNvSpPr/>
          <p:nvPr/>
        </p:nvSpPr>
        <p:spPr bwMode="auto">
          <a:xfrm>
            <a:off x="609600" y="4495800"/>
            <a:ext cx="2667000" cy="1549400"/>
          </a:xfrm>
          <a:prstGeom prst="rect">
            <a:avLst/>
          </a:prstGeom>
          <a:solidFill>
            <a:srgbClr val="F1F3F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pic>
        <p:nvPicPr>
          <p:cNvPr id="4" name="Picture 3" descr="A yellow rectangular object with black border&#10;&#10;Description automatically generated">
            <a:extLst>
              <a:ext uri="{FF2B5EF4-FFF2-40B4-BE49-F238E27FC236}">
                <a16:creationId xmlns:a16="http://schemas.microsoft.com/office/drawing/2014/main" id="{E4ABBC6D-EE6A-753A-E463-791350DA27E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65860" y="825500"/>
            <a:ext cx="3366008" cy="482600"/>
          </a:xfrm>
          <a:prstGeom prst="rect">
            <a:avLst/>
          </a:prstGeom>
        </p:spPr>
      </p:pic>
      <p:sp>
        <p:nvSpPr>
          <p:cNvPr id="2" name="Footer Placeholder 1">
            <a:extLst>
              <a:ext uri="{FF2B5EF4-FFF2-40B4-BE49-F238E27FC236}">
                <a16:creationId xmlns:a16="http://schemas.microsoft.com/office/drawing/2014/main" id="{AF157B4E-7BDD-4D13-8E74-DE47F6F2FE88}"/>
              </a:ext>
            </a:extLst>
          </p:cNvPr>
          <p:cNvSpPr>
            <a:spLocks noGrp="1"/>
          </p:cNvSpPr>
          <p:nvPr>
            <p:ph type="ftr" sz="quarter" idx="24"/>
          </p:nvPr>
        </p:nvSpPr>
        <p:spPr/>
        <p:txBody>
          <a:bodyPr/>
          <a:lstStyle/>
          <a:p>
            <a:r>
              <a:rPr lang="en-US"/>
              <a:t>© 2026 West Monroe Partners | Reproduction and/or distribution without West Monroe Partners’ prior consent is prohibited.</a:t>
            </a:r>
            <a:endParaRPr lang="en-US" dirty="0"/>
          </a:p>
        </p:txBody>
      </p:sp>
      <p:sp>
        <p:nvSpPr>
          <p:cNvPr id="3" name="Slide Number Placeholder 2">
            <a:extLst>
              <a:ext uri="{FF2B5EF4-FFF2-40B4-BE49-F238E27FC236}">
                <a16:creationId xmlns:a16="http://schemas.microsoft.com/office/drawing/2014/main" id="{E7531FAE-5BD8-EB6C-6DC6-7788CB02F4F5}"/>
              </a:ext>
            </a:extLst>
          </p:cNvPr>
          <p:cNvSpPr>
            <a:spLocks noGrp="1"/>
          </p:cNvSpPr>
          <p:nvPr>
            <p:ph type="sldNum" sz="quarter" idx="25"/>
          </p:nvPr>
        </p:nvSpPr>
        <p:spPr/>
        <p:txBody>
          <a:bodyPr/>
          <a:lstStyle/>
          <a:p>
            <a:fld id="{63DCA5C9-2E11-4C67-86EB-AE1DE127DC64}" type="slidenum">
              <a:rPr lang="en-US" smtClean="0"/>
              <a:pPr/>
              <a:t>3</a:t>
            </a:fld>
            <a:endParaRPr lang="en-US"/>
          </a:p>
        </p:txBody>
      </p:sp>
      <p:sp>
        <p:nvSpPr>
          <p:cNvPr id="10" name="Text Placeholder 9">
            <a:extLst>
              <a:ext uri="{FF2B5EF4-FFF2-40B4-BE49-F238E27FC236}">
                <a16:creationId xmlns:a16="http://schemas.microsoft.com/office/drawing/2014/main" id="{F231E294-316C-AC62-0454-584375045A68}"/>
              </a:ext>
            </a:extLst>
          </p:cNvPr>
          <p:cNvSpPr>
            <a:spLocks noGrp="1"/>
          </p:cNvSpPr>
          <p:nvPr>
            <p:ph type="body" sz="quarter" idx="19"/>
          </p:nvPr>
        </p:nvSpPr>
        <p:spPr>
          <a:xfrm>
            <a:off x="609600" y="355600"/>
            <a:ext cx="4572000" cy="228600"/>
          </a:xfrm>
        </p:spPr>
        <p:txBody>
          <a:bodyPr wrap="square">
            <a:noAutofit/>
          </a:bodyPr>
          <a:lstStyle/>
          <a:p>
            <a:r>
              <a:rPr lang="en-US" sz="1000">
                <a:solidFill>
                  <a:srgbClr val="0047FF"/>
                </a:solidFill>
                <a:latin typeface="Arial"/>
                <a:cs typeface="Arial"/>
              </a:rPr>
              <a:t>MODERNIZATION ECONOMICS</a:t>
            </a:r>
          </a:p>
        </p:txBody>
      </p:sp>
      <p:sp>
        <p:nvSpPr>
          <p:cNvPr id="5" name="Opening title line 1">
            <a:extLst>
              <a:ext uri="{FF2B5EF4-FFF2-40B4-BE49-F238E27FC236}">
                <a16:creationId xmlns:a16="http://schemas.microsoft.com/office/drawing/2014/main" id="{B5A1FCAD-77EC-F34B-95D0-96502F05FC6C}"/>
              </a:ext>
            </a:extLst>
          </p:cNvPr>
          <p:cNvSpPr txBox="1"/>
          <p:nvPr/>
        </p:nvSpPr>
        <p:spPr>
          <a:xfrm>
            <a:off x="609600" y="825500"/>
            <a:ext cx="7112000" cy="1168400"/>
          </a:xfrm>
          <a:prstGeom prst="rect">
            <a:avLst/>
          </a:prstGeom>
          <a:noFill/>
        </p:spPr>
        <p:txBody>
          <a:bodyPr vertOverflow="overflow" vert="horz" wrap="square" lIns="0" tIns="0" rIns="0" bIns="0" rtlCol="0" anchor="t">
            <a:normAutofit/>
          </a:bodyPr>
          <a:lstStyle/>
          <a:p>
            <a:r>
              <a:rPr lang="en-US" sz="2900" b="1" dirty="0">
                <a:solidFill>
                  <a:srgbClr val="070154"/>
                </a:solidFill>
                <a:latin typeface="Arial"/>
                <a:cs typeface="Arial"/>
              </a:rPr>
              <a:t>The script has flipped on application modernization</a:t>
            </a:r>
          </a:p>
        </p:txBody>
      </p:sp>
      <p:sp>
        <p:nvSpPr>
          <p:cNvPr id="12" name="Opening thesis">
            <a:extLst>
              <a:ext uri="{FF2B5EF4-FFF2-40B4-BE49-F238E27FC236}">
                <a16:creationId xmlns:a16="http://schemas.microsoft.com/office/drawing/2014/main" id="{98412691-B24C-A247-AF41-8DD0CC5AD9D2}"/>
              </a:ext>
            </a:extLst>
          </p:cNvPr>
          <p:cNvSpPr txBox="1"/>
          <p:nvPr/>
        </p:nvSpPr>
        <p:spPr>
          <a:xfrm>
            <a:off x="609600" y="2108200"/>
            <a:ext cx="10541000" cy="584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600" dirty="0">
                <a:solidFill>
                  <a:srgbClr val="070154"/>
                </a:solidFill>
                <a:latin typeface="Arial"/>
                <a:cs typeface="Arial"/>
              </a:rPr>
              <a:t>AI is significantly reducing the time and cost of complex modernization by changing how teams analyze, design, build, test, and transition systems.</a:t>
            </a:r>
          </a:p>
        </p:txBody>
      </p:sp>
      <p:sp>
        <p:nvSpPr>
          <p:cNvPr id="15" name="Provocation label">
            <a:extLst>
              <a:ext uri="{FF2B5EF4-FFF2-40B4-BE49-F238E27FC236}">
                <a16:creationId xmlns:a16="http://schemas.microsoft.com/office/drawing/2014/main" id="{23C74E50-3C5C-AB45-8F48-B4E6C73FA1ED}"/>
              </a:ext>
            </a:extLst>
          </p:cNvPr>
          <p:cNvSpPr txBox="1"/>
          <p:nvPr/>
        </p:nvSpPr>
        <p:spPr>
          <a:xfrm>
            <a:off x="609600" y="2997200"/>
            <a:ext cx="5461000" cy="355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b="1" dirty="0">
                <a:solidFill>
                  <a:srgbClr val="F900D3"/>
                </a:solidFill>
                <a:latin typeface="Arial"/>
                <a:cs typeface="Arial"/>
              </a:rPr>
              <a:t>How are your legacy systems holding your business back?</a:t>
            </a:r>
          </a:p>
        </p:txBody>
      </p:sp>
      <p:sp>
        <p:nvSpPr>
          <p:cNvPr id="17" name="Provocation question">
            <a:extLst>
              <a:ext uri="{FF2B5EF4-FFF2-40B4-BE49-F238E27FC236}">
                <a16:creationId xmlns:a16="http://schemas.microsoft.com/office/drawing/2014/main" id="{07331B31-1624-F343-B399-62FF930FB1AD}"/>
              </a:ext>
            </a:extLst>
          </p:cNvPr>
          <p:cNvSpPr txBox="1"/>
          <p:nvPr/>
        </p:nvSpPr>
        <p:spPr>
          <a:xfrm>
            <a:off x="609600" y="3467100"/>
            <a:ext cx="9652000" cy="787400"/>
          </a:xfrm>
          <a:prstGeom prst="rect">
            <a:avLst/>
          </a:prstGeom>
          <a:noFill/>
        </p:spPr>
        <p:txBody>
          <a:bodyPr vertOverflow="overflow" vert="horz" wrap="square" lIns="0" tIns="0" rIns="0" bIns="0" rtlCol="0" anchor="t">
            <a:normAutofit/>
          </a:bodyPr>
          <a:lstStyle/>
          <a:p>
            <a:pPr marL="0" indent="0" algn="l">
              <a:spcAft>
                <a:spcPts val="600"/>
              </a:spcAft>
              <a:tabLst/>
            </a:pPr>
            <a:r>
              <a:rPr lang="en-US" sz="2300" b="1">
                <a:solidFill>
                  <a:srgbClr val="070154"/>
                </a:solidFill>
                <a:latin typeface="Arial"/>
                <a:cs typeface="Arial"/>
              </a:rPr>
              <a:t>If modernizing your legacy software cost one-tenth of what you expect, what would that unlock for your business?</a:t>
            </a:r>
            <a:endParaRPr lang="en-US" sz="2300" b="1" dirty="0">
              <a:solidFill>
                <a:srgbClr val="070154"/>
              </a:solidFill>
              <a:latin typeface="Arial"/>
              <a:cs typeface="Arial"/>
            </a:endParaRPr>
          </a:p>
        </p:txBody>
      </p:sp>
      <p:sp>
        <p:nvSpPr>
          <p:cNvPr id="28" name="Possibility number 01">
            <a:extLst>
              <a:ext uri="{FF2B5EF4-FFF2-40B4-BE49-F238E27FC236}">
                <a16:creationId xmlns:a16="http://schemas.microsoft.com/office/drawing/2014/main" id="{20674C3E-3FBF-ED42-8196-3B8F940C9F6F}"/>
              </a:ext>
            </a:extLst>
          </p:cNvPr>
          <p:cNvSpPr txBox="1"/>
          <p:nvPr/>
        </p:nvSpPr>
        <p:spPr>
          <a:xfrm>
            <a:off x="787400" y="4686300"/>
            <a:ext cx="23114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dirty="0">
                <a:solidFill>
                  <a:srgbClr val="0047FF"/>
                </a:solidFill>
                <a:latin typeface="Arial"/>
                <a:cs typeface="Arial"/>
              </a:rPr>
              <a:t>AI-NATIVE READINESS</a:t>
            </a:r>
          </a:p>
        </p:txBody>
      </p:sp>
      <p:sp>
        <p:nvSpPr>
          <p:cNvPr id="29" name="Possibility text 01">
            <a:extLst>
              <a:ext uri="{FF2B5EF4-FFF2-40B4-BE49-F238E27FC236}">
                <a16:creationId xmlns:a16="http://schemas.microsoft.com/office/drawing/2014/main" id="{15AC0C8D-1D7F-7841-BEF4-F95A729E511A}"/>
              </a:ext>
            </a:extLst>
          </p:cNvPr>
          <p:cNvSpPr txBox="1"/>
          <p:nvPr/>
        </p:nvSpPr>
        <p:spPr>
          <a:xfrm>
            <a:off x="787400" y="5067300"/>
            <a:ext cx="2311400" cy="812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200">
                <a:solidFill>
                  <a:srgbClr val="070154"/>
                </a:solidFill>
                <a:latin typeface="Arial"/>
                <a:cs typeface="Arial"/>
              </a:rPr>
              <a:t>How can you make your business ready to become an AI-native enterprise?</a:t>
            </a:r>
            <a:endParaRPr lang="en-US" sz="1200" dirty="0">
              <a:solidFill>
                <a:srgbClr val="070154"/>
              </a:solidFill>
              <a:latin typeface="Arial"/>
              <a:cs typeface="Arial"/>
            </a:endParaRPr>
          </a:p>
        </p:txBody>
      </p:sp>
      <p:sp>
        <p:nvSpPr>
          <p:cNvPr id="32" name="Possibility number 02">
            <a:extLst>
              <a:ext uri="{FF2B5EF4-FFF2-40B4-BE49-F238E27FC236}">
                <a16:creationId xmlns:a16="http://schemas.microsoft.com/office/drawing/2014/main" id="{8FFBF089-3F77-7546-BE2B-760E746A230D}"/>
              </a:ext>
            </a:extLst>
          </p:cNvPr>
          <p:cNvSpPr txBox="1"/>
          <p:nvPr/>
        </p:nvSpPr>
        <p:spPr>
          <a:xfrm>
            <a:off x="3556000" y="4686300"/>
            <a:ext cx="23114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dirty="0">
                <a:solidFill>
                  <a:srgbClr val="FFFFFF"/>
                </a:solidFill>
                <a:latin typeface="Arial"/>
                <a:cs typeface="Arial"/>
              </a:rPr>
              <a:t>GROWTH VELOCITY</a:t>
            </a:r>
          </a:p>
        </p:txBody>
      </p:sp>
      <p:sp>
        <p:nvSpPr>
          <p:cNvPr id="33" name="Possibility text 02">
            <a:extLst>
              <a:ext uri="{FF2B5EF4-FFF2-40B4-BE49-F238E27FC236}">
                <a16:creationId xmlns:a16="http://schemas.microsoft.com/office/drawing/2014/main" id="{D9E00EEE-8C99-CE4C-B7B2-6BBD6E528B0B}"/>
              </a:ext>
            </a:extLst>
          </p:cNvPr>
          <p:cNvSpPr txBox="1"/>
          <p:nvPr/>
        </p:nvSpPr>
        <p:spPr>
          <a:xfrm>
            <a:off x="3556000" y="5067300"/>
            <a:ext cx="2311400" cy="812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200">
                <a:solidFill>
                  <a:srgbClr val="FFFFFF"/>
                </a:solidFill>
                <a:latin typeface="Arial"/>
                <a:cs typeface="Arial"/>
              </a:rPr>
              <a:t>What products could you launch—or which markets could you enter—without legacy release-cycle delays?</a:t>
            </a:r>
            <a:endParaRPr lang="en-US" sz="1200" dirty="0">
              <a:solidFill>
                <a:srgbClr val="FFFFFF"/>
              </a:solidFill>
              <a:latin typeface="Arial"/>
              <a:cs typeface="Arial"/>
            </a:endParaRPr>
          </a:p>
        </p:txBody>
      </p:sp>
      <p:sp>
        <p:nvSpPr>
          <p:cNvPr id="36" name="Possibility number 03">
            <a:extLst>
              <a:ext uri="{FF2B5EF4-FFF2-40B4-BE49-F238E27FC236}">
                <a16:creationId xmlns:a16="http://schemas.microsoft.com/office/drawing/2014/main" id="{45A9E86A-E4F9-EC40-B335-1513F3CCD21F}"/>
              </a:ext>
            </a:extLst>
          </p:cNvPr>
          <p:cNvSpPr txBox="1"/>
          <p:nvPr/>
        </p:nvSpPr>
        <p:spPr>
          <a:xfrm>
            <a:off x="9093200" y="4686300"/>
            <a:ext cx="23114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dirty="0">
                <a:solidFill>
                  <a:srgbClr val="FFFFFF"/>
                </a:solidFill>
                <a:latin typeface="Arial"/>
                <a:cs typeface="Arial"/>
              </a:rPr>
              <a:t>CUSTOMER MOAT</a:t>
            </a:r>
          </a:p>
        </p:txBody>
      </p:sp>
      <p:sp>
        <p:nvSpPr>
          <p:cNvPr id="37" name="Possibility text 03">
            <a:extLst>
              <a:ext uri="{FF2B5EF4-FFF2-40B4-BE49-F238E27FC236}">
                <a16:creationId xmlns:a16="http://schemas.microsoft.com/office/drawing/2014/main" id="{070A932A-8683-5F4A-95CD-0177CE48CA4E}"/>
              </a:ext>
            </a:extLst>
          </p:cNvPr>
          <p:cNvSpPr txBox="1"/>
          <p:nvPr/>
        </p:nvSpPr>
        <p:spPr>
          <a:xfrm>
            <a:off x="9093200" y="5067300"/>
            <a:ext cx="2311400" cy="812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200" dirty="0">
                <a:solidFill>
                  <a:srgbClr val="FFFFFF"/>
                </a:solidFill>
                <a:latin typeface="Arial"/>
                <a:cs typeface="Arial"/>
              </a:rPr>
              <a:t>How could you strengthen your customer moat by giving them a more integrated experience?</a:t>
            </a:r>
          </a:p>
        </p:txBody>
      </p:sp>
      <p:sp>
        <p:nvSpPr>
          <p:cNvPr id="40" name="Possibility number 04">
            <a:extLst>
              <a:ext uri="{FF2B5EF4-FFF2-40B4-BE49-F238E27FC236}">
                <a16:creationId xmlns:a16="http://schemas.microsoft.com/office/drawing/2014/main" id="{7A1035E0-1C17-C244-9D68-76639CAB26EA}"/>
              </a:ext>
            </a:extLst>
          </p:cNvPr>
          <p:cNvSpPr txBox="1"/>
          <p:nvPr/>
        </p:nvSpPr>
        <p:spPr>
          <a:xfrm>
            <a:off x="6324600" y="4686300"/>
            <a:ext cx="23114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dirty="0">
                <a:solidFill>
                  <a:srgbClr val="0047FF"/>
                </a:solidFill>
                <a:latin typeface="Arial"/>
                <a:cs typeface="Arial"/>
              </a:rPr>
              <a:t>COST EFFICIENCY</a:t>
            </a:r>
          </a:p>
        </p:txBody>
      </p:sp>
      <p:sp>
        <p:nvSpPr>
          <p:cNvPr id="41" name="Possibility text 04">
            <a:extLst>
              <a:ext uri="{FF2B5EF4-FFF2-40B4-BE49-F238E27FC236}">
                <a16:creationId xmlns:a16="http://schemas.microsoft.com/office/drawing/2014/main" id="{472F5094-E6AA-B241-BFC5-48F2379F889D}"/>
              </a:ext>
            </a:extLst>
          </p:cNvPr>
          <p:cNvSpPr txBox="1"/>
          <p:nvPr/>
        </p:nvSpPr>
        <p:spPr>
          <a:xfrm>
            <a:off x="6324600" y="5067300"/>
            <a:ext cx="2311400" cy="812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200">
                <a:solidFill>
                  <a:srgbClr val="070154"/>
                </a:solidFill>
                <a:latin typeface="Arial"/>
                <a:cs typeface="Arial"/>
              </a:rPr>
              <a:t>Where would streamlined integrations and fewer handoffs unlock efficiencies across your business?</a:t>
            </a:r>
            <a:endParaRPr lang="en-US" sz="1200" dirty="0">
              <a:solidFill>
                <a:srgbClr val="070154"/>
              </a:solidFill>
              <a:latin typeface="Arial"/>
              <a:cs typeface="Arial"/>
            </a:endParaRPr>
          </a:p>
        </p:txBody>
      </p:sp>
    </p:spTree>
    <p:extLst>
      <p:ext uri="{BB962C8B-B14F-4D97-AF65-F5344CB8AC3E}">
        <p14:creationId xmlns:p14="http://schemas.microsoft.com/office/powerpoint/2010/main" val="3136955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Decision Shift Panel">
            <a:extLst>
              <a:ext uri="{FF2B5EF4-FFF2-40B4-BE49-F238E27FC236}">
                <a16:creationId xmlns:a16="http://schemas.microsoft.com/office/drawing/2014/main" id="{8D751335-FB4B-2F4F-9B18-23F5D2EF5918}"/>
              </a:ext>
            </a:extLst>
          </p:cNvPr>
          <p:cNvSpPr/>
          <p:nvPr/>
        </p:nvSpPr>
        <p:spPr bwMode="auto">
          <a:xfrm>
            <a:off x="7416800" y="2095500"/>
            <a:ext cx="4165600" cy="3429000"/>
          </a:xfrm>
          <a:prstGeom prst="rect">
            <a:avLst/>
          </a:prstGeom>
          <a:solidFill>
            <a:srgbClr val="F5F1F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Rectangle 22">
            <a:extLst>
              <a:ext uri="{FF2B5EF4-FFF2-40B4-BE49-F238E27FC236}">
                <a16:creationId xmlns:a16="http://schemas.microsoft.com/office/drawing/2014/main" id="{8D440A72-888B-034C-B000-809CFB6692CE}"/>
              </a:ext>
            </a:extLst>
          </p:cNvPr>
          <p:cNvSpPr/>
          <p:nvPr/>
        </p:nvSpPr>
        <p:spPr bwMode="auto">
          <a:xfrm>
            <a:off x="3937000" y="2095500"/>
            <a:ext cx="3149600" cy="3429000"/>
          </a:xfrm>
          <a:prstGeom prst="rect">
            <a:avLst/>
          </a:prstGeom>
          <a:solidFill>
            <a:srgbClr val="EDF3FF"/>
          </a:solidFill>
          <a:ln w="19050">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2" name="Rectangle 21">
            <a:extLst>
              <a:ext uri="{FF2B5EF4-FFF2-40B4-BE49-F238E27FC236}">
                <a16:creationId xmlns:a16="http://schemas.microsoft.com/office/drawing/2014/main" id="{FA4148B2-63D3-9349-95B7-8E1AA94EAE4B}"/>
              </a:ext>
            </a:extLst>
          </p:cNvPr>
          <p:cNvSpPr/>
          <p:nvPr/>
        </p:nvSpPr>
        <p:spPr bwMode="auto">
          <a:xfrm>
            <a:off x="609600" y="2095500"/>
            <a:ext cx="3149600" cy="3429000"/>
          </a:xfrm>
          <a:prstGeom prst="rect">
            <a:avLst/>
          </a:prstGeom>
          <a:solidFill>
            <a:srgbClr val="F1F4FA"/>
          </a:solidFill>
          <a:ln w="19050">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graphicFrame>
        <p:nvGraphicFramePr>
          <p:cNvPr id="7" name="think-cell data - do not delete" hidden="1">
            <a:extLst>
              <a:ext uri="{FF2B5EF4-FFF2-40B4-BE49-F238E27FC236}">
                <a16:creationId xmlns:a16="http://schemas.microsoft.com/office/drawing/2014/main" id="{5F6C4E9A-958F-484A-AC55-B79BC29C7DDB}"/>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7" name="think-cell data - do not delete" hidden="1">
                        <a:extLst>
                          <a:ext uri="{FF2B5EF4-FFF2-40B4-BE49-F238E27FC236}">
                            <a16:creationId xmlns:a16="http://schemas.microsoft.com/office/drawing/2014/main" id="{5F6C4E9A-958F-484A-AC55-B79BC29C7DD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AC67361D-465F-4004-B56D-B30B47D09041}"/>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4</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4" name="Title 3">
            <a:extLst>
              <a:ext uri="{FF2B5EF4-FFF2-40B4-BE49-F238E27FC236}">
                <a16:creationId xmlns:a16="http://schemas.microsoft.com/office/drawing/2014/main" id="{9369D3C7-A39F-4D28-A3F5-200C2F4D8C32}"/>
              </a:ext>
            </a:extLst>
          </p:cNvPr>
          <p:cNvSpPr>
            <a:spLocks noGrp="1"/>
          </p:cNvSpPr>
          <p:nvPr>
            <p:ph type="title"/>
          </p:nvPr>
        </p:nvSpPr>
        <p:spPr>
          <a:xfrm>
            <a:off x="609600" y="508000"/>
            <a:ext cx="10972800" cy="685800"/>
          </a:xfrm>
        </p:spPr>
        <p:txBody>
          <a:bodyPr vert="horz" wrap="square">
            <a:normAutofit fontScale="90000"/>
          </a:bodyPr>
          <a:lstStyle/>
          <a:p>
            <a:r>
              <a:rPr lang="en-US" sz="2400" dirty="0">
                <a:solidFill>
                  <a:srgbClr val="070154"/>
                </a:solidFill>
                <a:latin typeface="Arial"/>
                <a:cs typeface="Arial"/>
              </a:rPr>
              <a:t>AI is lowering modernization costs – and shifting the traditional equation on buy vs build decision-making.</a:t>
            </a:r>
          </a:p>
        </p:txBody>
      </p:sp>
      <p:sp>
        <p:nvSpPr>
          <p:cNvPr id="8" name="Footer Placeholder 1">
            <a:extLst>
              <a:ext uri="{FF2B5EF4-FFF2-40B4-BE49-F238E27FC236}">
                <a16:creationId xmlns:a16="http://schemas.microsoft.com/office/drawing/2014/main" id="{7A4D0ABB-9F1B-D8FE-D450-C1F4CE711FBA}"/>
              </a:ext>
            </a:extLst>
          </p:cNvPr>
          <p:cNvSpPr>
            <a:spLocks noGrp="1"/>
          </p:cNvSpPr>
          <p:nvPr>
            <p:ph type="ftr" sz="quarter" idx="10"/>
          </p:nvPr>
        </p:nvSpPr>
        <p:spPr>
          <a:xfrm>
            <a:off x="4321019" y="6400798"/>
            <a:ext cx="7102834" cy="167949"/>
          </a:xfrm>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endPar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Arial" panose="020B0604020202020204" pitchFamily="34" charset="0"/>
            </a:endParaRPr>
          </a:p>
        </p:txBody>
      </p:sp>
      <p:sp>
        <p:nvSpPr>
          <p:cNvPr id="2" name="TextBox 1">
            <a:extLst>
              <a:ext uri="{FF2B5EF4-FFF2-40B4-BE49-F238E27FC236}">
                <a16:creationId xmlns:a16="http://schemas.microsoft.com/office/drawing/2014/main" id="{22EB6586-AEC6-0D44-9E46-E3560C22F456}"/>
              </a:ext>
            </a:extLst>
          </p:cNvPr>
          <p:cNvSpPr txBox="1"/>
          <p:nvPr/>
        </p:nvSpPr>
        <p:spPr>
          <a:xfrm>
            <a:off x="609600" y="1320800"/>
            <a:ext cx="10972800" cy="5461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dirty="0">
                <a:solidFill>
                  <a:srgbClr val="526078"/>
                </a:solidFill>
                <a:latin typeface="Arial"/>
                <a:cs typeface="Arial"/>
              </a:rPr>
              <a:t>Planning, implementation, and legacy maintenance are all getting cheaper, making strategic fit—not technical feasibility—the defining choice.</a:t>
            </a:r>
          </a:p>
        </p:txBody>
      </p:sp>
      <p:sp>
        <p:nvSpPr>
          <p:cNvPr id="28" name="Rectangle 27">
            <a:extLst>
              <a:ext uri="{FF2B5EF4-FFF2-40B4-BE49-F238E27FC236}">
                <a16:creationId xmlns:a16="http://schemas.microsoft.com/office/drawing/2014/main" id="{2C9E8F9F-75C8-7549-9058-419F106A0753}"/>
              </a:ext>
            </a:extLst>
          </p:cNvPr>
          <p:cNvSpPr/>
          <p:nvPr/>
        </p:nvSpPr>
        <p:spPr bwMode="auto">
          <a:xfrm>
            <a:off x="609600" y="5740400"/>
            <a:ext cx="10972800" cy="4699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7BC51F59-9AB1-9243-A5C7-7AFE7A619374}"/>
              </a:ext>
            </a:extLst>
          </p:cNvPr>
          <p:cNvSpPr txBox="1"/>
          <p:nvPr/>
        </p:nvSpPr>
        <p:spPr>
          <a:xfrm>
            <a:off x="863600" y="5816600"/>
            <a:ext cx="10464800" cy="228600"/>
          </a:xfrm>
          <a:prstGeom prst="rect">
            <a:avLst/>
          </a:prstGeom>
          <a:noFill/>
        </p:spPr>
        <p:txBody>
          <a:bodyPr vertOverflow="overflow" vert="horz" wrap="square" lIns="0" tIns="0" rIns="0" bIns="0" rtlCol="0" anchor="t">
            <a:normAutofit/>
          </a:bodyPr>
          <a:lstStyle/>
          <a:p>
            <a:pPr marL="0" indent="0" algn="ctr">
              <a:spcAft>
                <a:spcPts val="600"/>
              </a:spcAft>
              <a:tabLst/>
            </a:pPr>
            <a:r>
              <a:rPr lang="en-US" sz="1050" b="1">
                <a:solidFill>
                  <a:srgbClr val="FFFFFF"/>
                </a:solidFill>
                <a:latin typeface="Arial"/>
                <a:cs typeface="Arial"/>
              </a:rPr>
              <a:t>As AI lowers planning, build and legacy run costs, choose buy versus build based on strategic fit, differentiation and ownership.</a:t>
            </a:r>
            <a:endParaRPr lang="en-US" sz="1050" b="1" dirty="0">
              <a:solidFill>
                <a:srgbClr val="FFFFFF"/>
              </a:solidFill>
              <a:latin typeface="Arial"/>
              <a:cs typeface="Arial"/>
            </a:endParaRPr>
          </a:p>
        </p:txBody>
      </p:sp>
      <p:sp>
        <p:nvSpPr>
          <p:cNvPr id="24" name="Rectangle 23">
            <a:extLst>
              <a:ext uri="{FF2B5EF4-FFF2-40B4-BE49-F238E27FC236}">
                <a16:creationId xmlns:a16="http://schemas.microsoft.com/office/drawing/2014/main" id="{A8221FBE-7652-B645-8B8F-D5BA5A9BC4F6}"/>
              </a:ext>
            </a:extLst>
          </p:cNvPr>
          <p:cNvSpPr/>
          <p:nvPr/>
        </p:nvSpPr>
        <p:spPr bwMode="auto">
          <a:xfrm>
            <a:off x="609600" y="2095500"/>
            <a:ext cx="3149600" cy="50800"/>
          </a:xfrm>
          <a:prstGeom prst="rect">
            <a:avLst/>
          </a:prstGeom>
          <a:solidFill>
            <a:srgbClr val="17126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5" name="Rectangle 24">
            <a:extLst>
              <a:ext uri="{FF2B5EF4-FFF2-40B4-BE49-F238E27FC236}">
                <a16:creationId xmlns:a16="http://schemas.microsoft.com/office/drawing/2014/main" id="{058E1899-9BBA-9448-B1EF-D9C6B5BC3BCE}"/>
              </a:ext>
            </a:extLst>
          </p:cNvPr>
          <p:cNvSpPr/>
          <p:nvPr/>
        </p:nvSpPr>
        <p:spPr bwMode="auto">
          <a:xfrm>
            <a:off x="3937000" y="2095500"/>
            <a:ext cx="3149600" cy="50800"/>
          </a:xfrm>
          <a:prstGeom prst="rect">
            <a:avLst/>
          </a:prstGeom>
          <a:solidFill>
            <a:srgbClr val="2155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 name="OTS Label">
            <a:extLst>
              <a:ext uri="{FF2B5EF4-FFF2-40B4-BE49-F238E27FC236}">
                <a16:creationId xmlns:a16="http://schemas.microsoft.com/office/drawing/2014/main" id="{F0A3E057-C801-7F47-988A-36AB056A56CA}"/>
              </a:ext>
            </a:extLst>
          </p:cNvPr>
          <p:cNvSpPr txBox="1"/>
          <p:nvPr/>
        </p:nvSpPr>
        <p:spPr>
          <a:xfrm>
            <a:off x="863600" y="2374900"/>
            <a:ext cx="26416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dirty="0">
                <a:solidFill>
                  <a:srgbClr val="1455FF"/>
                </a:solidFill>
                <a:latin typeface="Arial"/>
                <a:cs typeface="Arial"/>
              </a:rPr>
              <a:t>BUY</a:t>
            </a:r>
          </a:p>
        </p:txBody>
      </p:sp>
      <p:sp>
        <p:nvSpPr>
          <p:cNvPr id="6" name="OTS Heading">
            <a:extLst>
              <a:ext uri="{FF2B5EF4-FFF2-40B4-BE49-F238E27FC236}">
                <a16:creationId xmlns:a16="http://schemas.microsoft.com/office/drawing/2014/main" id="{72E32718-EA1B-2045-832D-76E0B771FB32}"/>
              </a:ext>
            </a:extLst>
          </p:cNvPr>
          <p:cNvSpPr txBox="1"/>
          <p:nvPr/>
        </p:nvSpPr>
        <p:spPr>
          <a:xfrm>
            <a:off x="863600" y="2755900"/>
            <a:ext cx="2641600" cy="317500"/>
          </a:xfrm>
          <a:prstGeom prst="rect">
            <a:avLst/>
          </a:prstGeom>
          <a:noFill/>
        </p:spPr>
        <p:txBody>
          <a:bodyPr vertOverflow="overflow" vert="horz" wrap="square" lIns="0" tIns="0" rIns="0" bIns="0" rtlCol="0" anchor="t">
            <a:normAutofit fontScale="77500" lnSpcReduction="20000"/>
          </a:bodyPr>
          <a:lstStyle/>
          <a:p>
            <a:pPr marL="0" indent="0" algn="l">
              <a:spcAft>
                <a:spcPts val="600"/>
              </a:spcAft>
              <a:tabLst/>
            </a:pPr>
            <a:r>
              <a:rPr lang="en-US" sz="1600" b="1">
                <a:solidFill>
                  <a:srgbClr val="17126B"/>
                </a:solidFill>
                <a:latin typeface="Arial"/>
                <a:cs typeface="Arial"/>
              </a:rPr>
              <a:t>Accelerate standard capabilities</a:t>
            </a:r>
            <a:endParaRPr lang="en-US" sz="1600" b="1" dirty="0">
              <a:solidFill>
                <a:srgbClr val="17126B"/>
              </a:solidFill>
              <a:latin typeface="Arial"/>
              <a:cs typeface="Arial"/>
            </a:endParaRPr>
          </a:p>
        </p:txBody>
      </p:sp>
      <p:sp>
        <p:nvSpPr>
          <p:cNvPr id="9" name="OTS Upside Label">
            <a:extLst>
              <a:ext uri="{FF2B5EF4-FFF2-40B4-BE49-F238E27FC236}">
                <a16:creationId xmlns:a16="http://schemas.microsoft.com/office/drawing/2014/main" id="{46E6DE69-701E-2E47-8147-67E0802AA8CE}"/>
              </a:ext>
            </a:extLst>
          </p:cNvPr>
          <p:cNvSpPr txBox="1"/>
          <p:nvPr/>
        </p:nvSpPr>
        <p:spPr>
          <a:xfrm>
            <a:off x="863600" y="3289300"/>
            <a:ext cx="88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1455FF"/>
                </a:solidFill>
                <a:latin typeface="Arial"/>
                <a:cs typeface="Arial"/>
              </a:rPr>
              <a:t>BEST WHEN</a:t>
            </a:r>
            <a:endParaRPr lang="en-US" sz="950" b="1" dirty="0">
              <a:solidFill>
                <a:srgbClr val="1455FF"/>
              </a:solidFill>
              <a:latin typeface="Arial"/>
              <a:cs typeface="Arial"/>
            </a:endParaRPr>
          </a:p>
        </p:txBody>
      </p:sp>
      <p:sp>
        <p:nvSpPr>
          <p:cNvPr id="10" name="OTS Upside">
            <a:extLst>
              <a:ext uri="{FF2B5EF4-FFF2-40B4-BE49-F238E27FC236}">
                <a16:creationId xmlns:a16="http://schemas.microsoft.com/office/drawing/2014/main" id="{49DB2AEF-4D65-8C4E-BB8D-2F138CCEF099}"/>
              </a:ext>
            </a:extLst>
          </p:cNvPr>
          <p:cNvSpPr txBox="1"/>
          <p:nvPr/>
        </p:nvSpPr>
        <p:spPr>
          <a:xfrm>
            <a:off x="863600" y="3530600"/>
            <a:ext cx="2641600" cy="5461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a:solidFill>
                  <a:srgbClr val="070154"/>
                </a:solidFill>
                <a:latin typeface="Arial"/>
                <a:cs typeface="Arial"/>
              </a:rPr>
              <a:t>Needs are common across the market
Time-to-value outweighs customization</a:t>
            </a:r>
            <a:endParaRPr lang="en-US" sz="1100" dirty="0">
              <a:solidFill>
                <a:srgbClr val="070154"/>
              </a:solidFill>
              <a:latin typeface="Arial"/>
              <a:cs typeface="Arial"/>
            </a:endParaRPr>
          </a:p>
        </p:txBody>
      </p:sp>
      <p:sp>
        <p:nvSpPr>
          <p:cNvPr id="17" name="OTS Tradeoff Label">
            <a:extLst>
              <a:ext uri="{FF2B5EF4-FFF2-40B4-BE49-F238E27FC236}">
                <a16:creationId xmlns:a16="http://schemas.microsoft.com/office/drawing/2014/main" id="{0795D6F3-D18D-794B-90D8-BAB95EFA1A2B}"/>
              </a:ext>
            </a:extLst>
          </p:cNvPr>
          <p:cNvSpPr txBox="1"/>
          <p:nvPr/>
        </p:nvSpPr>
        <p:spPr>
          <a:xfrm>
            <a:off x="863600" y="4254500"/>
            <a:ext cx="10795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D000B5"/>
                </a:solidFill>
                <a:latin typeface="Arial"/>
                <a:cs typeface="Arial"/>
              </a:rPr>
              <a:t>TRADE-OFFS</a:t>
            </a:r>
            <a:endParaRPr lang="en-US" sz="950" b="1" dirty="0">
              <a:solidFill>
                <a:srgbClr val="D000B5"/>
              </a:solidFill>
              <a:latin typeface="Arial"/>
              <a:cs typeface="Arial"/>
            </a:endParaRPr>
          </a:p>
        </p:txBody>
      </p:sp>
      <p:sp>
        <p:nvSpPr>
          <p:cNvPr id="18" name="OTS Tradeoff">
            <a:extLst>
              <a:ext uri="{FF2B5EF4-FFF2-40B4-BE49-F238E27FC236}">
                <a16:creationId xmlns:a16="http://schemas.microsoft.com/office/drawing/2014/main" id="{9BB27CF0-5026-744E-826D-FC6400F309F8}"/>
              </a:ext>
            </a:extLst>
          </p:cNvPr>
          <p:cNvSpPr txBox="1"/>
          <p:nvPr/>
        </p:nvSpPr>
        <p:spPr>
          <a:xfrm>
            <a:off x="863600" y="4495800"/>
            <a:ext cx="2641600" cy="7239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a:solidFill>
                  <a:srgbClr val="070154"/>
                </a:solidFill>
                <a:latin typeface="Arial"/>
                <a:cs typeface="Arial"/>
              </a:rPr>
              <a:t>Fit gaps can force process compromise
Licensing and vendor roadmaps constrain change</a:t>
            </a:r>
            <a:endParaRPr lang="en-US" sz="1100" dirty="0">
              <a:solidFill>
                <a:srgbClr val="070154"/>
              </a:solidFill>
              <a:latin typeface="Arial"/>
              <a:cs typeface="Arial"/>
            </a:endParaRPr>
          </a:p>
        </p:txBody>
      </p:sp>
      <p:sp>
        <p:nvSpPr>
          <p:cNvPr id="21" name="Custom Label">
            <a:extLst>
              <a:ext uri="{FF2B5EF4-FFF2-40B4-BE49-F238E27FC236}">
                <a16:creationId xmlns:a16="http://schemas.microsoft.com/office/drawing/2014/main" id="{6000F552-862F-B643-A49A-FAB9B29AD91C}"/>
              </a:ext>
            </a:extLst>
          </p:cNvPr>
          <p:cNvSpPr txBox="1"/>
          <p:nvPr/>
        </p:nvSpPr>
        <p:spPr>
          <a:xfrm>
            <a:off x="4191000" y="2374900"/>
            <a:ext cx="26416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1455FF"/>
                </a:solidFill>
                <a:latin typeface="Arial"/>
                <a:cs typeface="Arial"/>
              </a:rPr>
              <a:t>BUILD</a:t>
            </a:r>
            <a:endParaRPr lang="en-US" sz="1000" b="1" dirty="0">
              <a:solidFill>
                <a:srgbClr val="1455FF"/>
              </a:solidFill>
              <a:latin typeface="Arial"/>
              <a:cs typeface="Arial"/>
            </a:endParaRPr>
          </a:p>
        </p:txBody>
      </p:sp>
      <p:sp>
        <p:nvSpPr>
          <p:cNvPr id="26" name="Custom Heading">
            <a:extLst>
              <a:ext uri="{FF2B5EF4-FFF2-40B4-BE49-F238E27FC236}">
                <a16:creationId xmlns:a16="http://schemas.microsoft.com/office/drawing/2014/main" id="{228BB1F5-938B-F64D-AB3D-65845381D6C9}"/>
              </a:ext>
            </a:extLst>
          </p:cNvPr>
          <p:cNvSpPr txBox="1"/>
          <p:nvPr/>
        </p:nvSpPr>
        <p:spPr>
          <a:xfrm>
            <a:off x="4191000" y="2755900"/>
            <a:ext cx="2641600" cy="317500"/>
          </a:xfrm>
          <a:prstGeom prst="rect">
            <a:avLst/>
          </a:prstGeom>
          <a:noFill/>
        </p:spPr>
        <p:txBody>
          <a:bodyPr vertOverflow="overflow" vert="horz" wrap="square" lIns="0" tIns="0" rIns="0" bIns="0" rtlCol="0" anchor="t">
            <a:normAutofit fontScale="85000" lnSpcReduction="10000"/>
          </a:bodyPr>
          <a:lstStyle/>
          <a:p>
            <a:pPr marL="0" indent="0" algn="l">
              <a:spcAft>
                <a:spcPts val="600"/>
              </a:spcAft>
              <a:tabLst/>
            </a:pPr>
            <a:r>
              <a:rPr lang="en-US" sz="1600" b="1">
                <a:solidFill>
                  <a:srgbClr val="17126B"/>
                </a:solidFill>
                <a:latin typeface="Arial"/>
                <a:cs typeface="Arial"/>
              </a:rPr>
              <a:t>Own differentiated capabilities</a:t>
            </a:r>
            <a:endParaRPr lang="en-US" sz="1600" b="1" dirty="0">
              <a:solidFill>
                <a:srgbClr val="17126B"/>
              </a:solidFill>
              <a:latin typeface="Arial"/>
              <a:cs typeface="Arial"/>
            </a:endParaRPr>
          </a:p>
        </p:txBody>
      </p:sp>
      <p:sp>
        <p:nvSpPr>
          <p:cNvPr id="32" name="Custom Upside Label">
            <a:extLst>
              <a:ext uri="{FF2B5EF4-FFF2-40B4-BE49-F238E27FC236}">
                <a16:creationId xmlns:a16="http://schemas.microsoft.com/office/drawing/2014/main" id="{DEFDE15D-4AEB-8041-950F-BF3D9FC35F79}"/>
              </a:ext>
            </a:extLst>
          </p:cNvPr>
          <p:cNvSpPr txBox="1"/>
          <p:nvPr/>
        </p:nvSpPr>
        <p:spPr>
          <a:xfrm>
            <a:off x="4191000" y="3289300"/>
            <a:ext cx="88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1455FF"/>
                </a:solidFill>
                <a:latin typeface="Arial"/>
                <a:cs typeface="Arial"/>
              </a:rPr>
              <a:t>BEST WHEN</a:t>
            </a:r>
            <a:endParaRPr lang="en-US" sz="950" b="1" dirty="0">
              <a:solidFill>
                <a:srgbClr val="1455FF"/>
              </a:solidFill>
              <a:latin typeface="Arial"/>
              <a:cs typeface="Arial"/>
            </a:endParaRPr>
          </a:p>
        </p:txBody>
      </p:sp>
      <p:sp>
        <p:nvSpPr>
          <p:cNvPr id="33" name="Custom Upside">
            <a:extLst>
              <a:ext uri="{FF2B5EF4-FFF2-40B4-BE49-F238E27FC236}">
                <a16:creationId xmlns:a16="http://schemas.microsoft.com/office/drawing/2014/main" id="{0371F555-ACD0-6740-8641-F2A607431D78}"/>
              </a:ext>
            </a:extLst>
          </p:cNvPr>
          <p:cNvSpPr txBox="1"/>
          <p:nvPr/>
        </p:nvSpPr>
        <p:spPr>
          <a:xfrm>
            <a:off x="4191000" y="3530600"/>
            <a:ext cx="2641600" cy="546100"/>
          </a:xfrm>
          <a:prstGeom prst="rect">
            <a:avLst/>
          </a:prstGeom>
          <a:noFill/>
        </p:spPr>
        <p:txBody>
          <a:bodyPr vertOverflow="overflow" vert="horz" wrap="square" lIns="0" tIns="0" rIns="0" bIns="0" rtlCol="0" anchor="t">
            <a:normAutofit lnSpcReduction="10000"/>
          </a:bodyPr>
          <a:lstStyle/>
          <a:p>
            <a:pPr marL="0" indent="0" algn="l">
              <a:spcAft>
                <a:spcPts val="600"/>
              </a:spcAft>
              <a:tabLst/>
            </a:pPr>
            <a:r>
              <a:rPr lang="en-US" sz="1100">
                <a:solidFill>
                  <a:srgbClr val="070154"/>
                </a:solidFill>
                <a:latin typeface="Arial"/>
                <a:cs typeface="Arial"/>
              </a:rPr>
              <a:t>Workflows create competitive advantage
Control of data, experience and roadmap matters</a:t>
            </a:r>
            <a:endParaRPr lang="en-US" sz="1100" dirty="0">
              <a:solidFill>
                <a:srgbClr val="070154"/>
              </a:solidFill>
              <a:latin typeface="Arial"/>
              <a:cs typeface="Arial"/>
            </a:endParaRPr>
          </a:p>
        </p:txBody>
      </p:sp>
      <p:sp>
        <p:nvSpPr>
          <p:cNvPr id="34" name="Custom Tradeoff Label">
            <a:extLst>
              <a:ext uri="{FF2B5EF4-FFF2-40B4-BE49-F238E27FC236}">
                <a16:creationId xmlns:a16="http://schemas.microsoft.com/office/drawing/2014/main" id="{1D9C689E-A0C8-7942-BF42-630BA76B7D9B}"/>
              </a:ext>
            </a:extLst>
          </p:cNvPr>
          <p:cNvSpPr txBox="1"/>
          <p:nvPr/>
        </p:nvSpPr>
        <p:spPr>
          <a:xfrm>
            <a:off x="4191000" y="4254500"/>
            <a:ext cx="10795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D000B5"/>
                </a:solidFill>
                <a:latin typeface="Arial"/>
                <a:cs typeface="Arial"/>
              </a:rPr>
              <a:t>TRADE-OFFS</a:t>
            </a:r>
            <a:endParaRPr lang="en-US" sz="950" b="1" dirty="0">
              <a:solidFill>
                <a:srgbClr val="D000B5"/>
              </a:solidFill>
              <a:latin typeface="Arial"/>
              <a:cs typeface="Arial"/>
            </a:endParaRPr>
          </a:p>
        </p:txBody>
      </p:sp>
      <p:sp>
        <p:nvSpPr>
          <p:cNvPr id="35" name="Custom Tradeoff">
            <a:extLst>
              <a:ext uri="{FF2B5EF4-FFF2-40B4-BE49-F238E27FC236}">
                <a16:creationId xmlns:a16="http://schemas.microsoft.com/office/drawing/2014/main" id="{D8CB46A6-85A4-0544-A8B0-D3272128B4C0}"/>
              </a:ext>
            </a:extLst>
          </p:cNvPr>
          <p:cNvSpPr txBox="1"/>
          <p:nvPr/>
        </p:nvSpPr>
        <p:spPr>
          <a:xfrm>
            <a:off x="4191000" y="4495800"/>
            <a:ext cx="2641600" cy="7239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a:solidFill>
                  <a:srgbClr val="070154"/>
                </a:solidFill>
                <a:latin typeface="Arial"/>
                <a:cs typeface="Arial"/>
              </a:rPr>
              <a:t>Requires durable product and engineering capability
Ownership includes ongoing maintenance</a:t>
            </a:r>
            <a:endParaRPr lang="en-US" sz="1100" dirty="0">
              <a:solidFill>
                <a:srgbClr val="070154"/>
              </a:solidFill>
              <a:latin typeface="Arial"/>
              <a:cs typeface="Arial"/>
            </a:endParaRPr>
          </a:p>
        </p:txBody>
      </p:sp>
      <p:sp>
        <p:nvSpPr>
          <p:cNvPr id="37" name="Decision Shift Label">
            <a:extLst>
              <a:ext uri="{FF2B5EF4-FFF2-40B4-BE49-F238E27FC236}">
                <a16:creationId xmlns:a16="http://schemas.microsoft.com/office/drawing/2014/main" id="{6BAF06CC-868F-5D45-A939-025DD0EEF039}"/>
              </a:ext>
            </a:extLst>
          </p:cNvPr>
          <p:cNvSpPr txBox="1"/>
          <p:nvPr/>
        </p:nvSpPr>
        <p:spPr>
          <a:xfrm>
            <a:off x="7721600" y="2374900"/>
            <a:ext cx="355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dirty="0">
                <a:solidFill>
                  <a:srgbClr val="D000B5"/>
                </a:solidFill>
                <a:latin typeface="Arial"/>
                <a:cs typeface="Arial"/>
              </a:rPr>
              <a:t>MODERNIZATION ECONOMICS</a:t>
            </a:r>
          </a:p>
        </p:txBody>
      </p:sp>
      <p:sp>
        <p:nvSpPr>
          <p:cNvPr id="38" name="Decision Shift Heading">
            <a:extLst>
              <a:ext uri="{FF2B5EF4-FFF2-40B4-BE49-F238E27FC236}">
                <a16:creationId xmlns:a16="http://schemas.microsoft.com/office/drawing/2014/main" id="{82A16409-AEC2-084D-A2C7-047698E0C52A}"/>
              </a:ext>
            </a:extLst>
          </p:cNvPr>
          <p:cNvSpPr txBox="1"/>
          <p:nvPr/>
        </p:nvSpPr>
        <p:spPr>
          <a:xfrm>
            <a:off x="7721600" y="2755900"/>
            <a:ext cx="3556000" cy="533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700" b="1" dirty="0">
                <a:solidFill>
                  <a:srgbClr val="17126B"/>
                </a:solidFill>
                <a:latin typeface="Arial"/>
                <a:cs typeface="Arial"/>
              </a:rPr>
              <a:t>AI lowers cost at every stage of the modernization journey</a:t>
            </a:r>
          </a:p>
        </p:txBody>
      </p:sp>
      <p:sp>
        <p:nvSpPr>
          <p:cNvPr id="39" name="Old Equation Label">
            <a:extLst>
              <a:ext uri="{FF2B5EF4-FFF2-40B4-BE49-F238E27FC236}">
                <a16:creationId xmlns:a16="http://schemas.microsoft.com/office/drawing/2014/main" id="{6B248FF8-0E92-FB4B-B5BA-BB3EE09F16ED}"/>
              </a:ext>
            </a:extLst>
          </p:cNvPr>
          <p:cNvSpPr txBox="1"/>
          <p:nvPr/>
        </p:nvSpPr>
        <p:spPr>
          <a:xfrm>
            <a:off x="7721600" y="3390900"/>
            <a:ext cx="1143000" cy="203200"/>
          </a:xfrm>
          <a:prstGeom prst="rect">
            <a:avLst/>
          </a:prstGeom>
          <a:noFill/>
        </p:spPr>
        <p:txBody>
          <a:bodyPr vertOverflow="overflow" vert="horz" wrap="square" lIns="0" tIns="0" rIns="0" bIns="0" rtlCol="0" anchor="t">
            <a:normAutofit fontScale="85000" lnSpcReduction="10000"/>
          </a:bodyPr>
          <a:lstStyle/>
          <a:p>
            <a:pPr marL="0" indent="0" algn="l">
              <a:spcAft>
                <a:spcPts val="600"/>
              </a:spcAft>
              <a:tabLst/>
            </a:pPr>
            <a:r>
              <a:rPr lang="en-US" sz="950" b="1">
                <a:solidFill>
                  <a:srgbClr val="1455FF"/>
                </a:solidFill>
                <a:latin typeface="Arial"/>
                <a:cs typeface="Arial"/>
              </a:rPr>
              <a:t>PLAN &amp; UNDERSTAND</a:t>
            </a:r>
            <a:endParaRPr lang="en-US" sz="950" b="1" dirty="0">
              <a:solidFill>
                <a:srgbClr val="1455FF"/>
              </a:solidFill>
              <a:latin typeface="Arial"/>
              <a:cs typeface="Arial"/>
            </a:endParaRPr>
          </a:p>
        </p:txBody>
      </p:sp>
      <p:sp>
        <p:nvSpPr>
          <p:cNvPr id="40" name="Old Equation">
            <a:extLst>
              <a:ext uri="{FF2B5EF4-FFF2-40B4-BE49-F238E27FC236}">
                <a16:creationId xmlns:a16="http://schemas.microsoft.com/office/drawing/2014/main" id="{1C91A667-FE7A-4B45-9706-BB54B74A1201}"/>
              </a:ext>
            </a:extLst>
          </p:cNvPr>
          <p:cNvSpPr txBox="1"/>
          <p:nvPr/>
        </p:nvSpPr>
        <p:spPr>
          <a:xfrm>
            <a:off x="7721600" y="3632200"/>
            <a:ext cx="3251200" cy="3810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dirty="0">
                <a:solidFill>
                  <a:srgbClr val="070154"/>
                </a:solidFill>
                <a:latin typeface="Arial"/>
                <a:cs typeface="Arial"/>
              </a:rPr>
              <a:t>Faster discovery, mapping and requirements</a:t>
            </a:r>
          </a:p>
        </p:txBody>
      </p:sp>
      <p:sp>
        <p:nvSpPr>
          <p:cNvPr id="41" name="Old Outcome">
            <a:extLst>
              <a:ext uri="{FF2B5EF4-FFF2-40B4-BE49-F238E27FC236}">
                <a16:creationId xmlns:a16="http://schemas.microsoft.com/office/drawing/2014/main" id="{5DB7290F-24B6-0F4C-989D-99DBF0FCF202}"/>
              </a:ext>
            </a:extLst>
          </p:cNvPr>
          <p:cNvSpPr txBox="1"/>
          <p:nvPr/>
        </p:nvSpPr>
        <p:spPr>
          <a:xfrm>
            <a:off x="7721600" y="4038600"/>
            <a:ext cx="2159000" cy="12700"/>
          </a:xfrm>
          <a:prstGeom prst="rect">
            <a:avLst/>
          </a:prstGeom>
          <a:noFill/>
        </p:spPr>
        <p:txBody>
          <a:bodyPr vertOverflow="overflow" vert="horz" wrap="square" lIns="0" tIns="0" rIns="0" bIns="0" rtlCol="0" anchor="t">
            <a:normAutofit fontScale="25000" lnSpcReduction="20000"/>
          </a:bodyPr>
          <a:lstStyle/>
          <a:p>
            <a:pPr marL="0" indent="0" algn="l">
              <a:spcAft>
                <a:spcPts val="600"/>
              </a:spcAft>
              <a:tabLst/>
            </a:pPr>
            <a:endParaRPr lang="en-US" sz="1000" b="1" dirty="0">
              <a:solidFill>
                <a:srgbClr val="526078"/>
              </a:solidFill>
              <a:latin typeface="Arial"/>
              <a:cs typeface="Arial"/>
            </a:endParaRPr>
          </a:p>
        </p:txBody>
      </p:sp>
      <p:sp>
        <p:nvSpPr>
          <p:cNvPr id="42" name="Old Rule">
            <a:extLst>
              <a:ext uri="{FF2B5EF4-FFF2-40B4-BE49-F238E27FC236}">
                <a16:creationId xmlns:a16="http://schemas.microsoft.com/office/drawing/2014/main" id="{EF24BA5B-F813-3041-9CEB-E651A656C697}"/>
              </a:ext>
            </a:extLst>
          </p:cNvPr>
          <p:cNvSpPr/>
          <p:nvPr/>
        </p:nvSpPr>
        <p:spPr bwMode="auto">
          <a:xfrm>
            <a:off x="7721600" y="4140200"/>
            <a:ext cx="3251200" cy="25400"/>
          </a:xfrm>
          <a:prstGeom prst="rect">
            <a:avLst/>
          </a:prstGeom>
          <a:solidFill>
            <a:srgbClr val="C9D3E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3" name="New Equation Label">
            <a:extLst>
              <a:ext uri="{FF2B5EF4-FFF2-40B4-BE49-F238E27FC236}">
                <a16:creationId xmlns:a16="http://schemas.microsoft.com/office/drawing/2014/main" id="{B702DF91-CD0A-AA4F-9D46-5F9EB847334C}"/>
              </a:ext>
            </a:extLst>
          </p:cNvPr>
          <p:cNvSpPr txBox="1"/>
          <p:nvPr/>
        </p:nvSpPr>
        <p:spPr>
          <a:xfrm>
            <a:off x="7721600" y="4279900"/>
            <a:ext cx="1270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1455FF"/>
                </a:solidFill>
                <a:latin typeface="Arial"/>
                <a:cs typeface="Arial"/>
              </a:rPr>
              <a:t>IMPLEMENT &amp; BUILD</a:t>
            </a:r>
            <a:endParaRPr lang="en-US" sz="950" b="1" dirty="0">
              <a:solidFill>
                <a:srgbClr val="1455FF"/>
              </a:solidFill>
              <a:latin typeface="Arial"/>
              <a:cs typeface="Arial"/>
            </a:endParaRPr>
          </a:p>
        </p:txBody>
      </p:sp>
      <p:sp>
        <p:nvSpPr>
          <p:cNvPr id="44" name="New Equation">
            <a:extLst>
              <a:ext uri="{FF2B5EF4-FFF2-40B4-BE49-F238E27FC236}">
                <a16:creationId xmlns:a16="http://schemas.microsoft.com/office/drawing/2014/main" id="{67159F7D-E2C8-B14E-8FE1-2992E6B778DB}"/>
              </a:ext>
            </a:extLst>
          </p:cNvPr>
          <p:cNvSpPr txBox="1"/>
          <p:nvPr/>
        </p:nvSpPr>
        <p:spPr>
          <a:xfrm>
            <a:off x="7721600" y="4521200"/>
            <a:ext cx="3251200" cy="355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a:solidFill>
                  <a:srgbClr val="070154"/>
                </a:solidFill>
                <a:latin typeface="Arial"/>
                <a:cs typeface="Arial"/>
              </a:rPr>
              <a:t>Accelerate coding, testing and migration</a:t>
            </a:r>
            <a:endParaRPr lang="en-US" sz="1100" b="1" dirty="0">
              <a:solidFill>
                <a:srgbClr val="070154"/>
              </a:solidFill>
              <a:latin typeface="Arial"/>
              <a:cs typeface="Arial"/>
            </a:endParaRPr>
          </a:p>
        </p:txBody>
      </p:sp>
      <p:sp>
        <p:nvSpPr>
          <p:cNvPr id="45" name="New Outcome">
            <a:extLst>
              <a:ext uri="{FF2B5EF4-FFF2-40B4-BE49-F238E27FC236}">
                <a16:creationId xmlns:a16="http://schemas.microsoft.com/office/drawing/2014/main" id="{202234A5-1102-AC46-8845-919B7253A612}"/>
              </a:ext>
            </a:extLst>
          </p:cNvPr>
          <p:cNvSpPr txBox="1"/>
          <p:nvPr/>
        </p:nvSpPr>
        <p:spPr>
          <a:xfrm>
            <a:off x="7721600" y="4940300"/>
            <a:ext cx="2921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b="1" dirty="0">
                <a:solidFill>
                  <a:srgbClr val="1455FF"/>
                </a:solidFill>
                <a:latin typeface="Arial"/>
                <a:cs typeface="Arial"/>
              </a:rPr>
              <a:t>MAINTAIN LEGACY</a:t>
            </a:r>
          </a:p>
        </p:txBody>
      </p:sp>
      <p:sp>
        <p:nvSpPr>
          <p:cNvPr id="46" name="Decision Shift Note">
            <a:extLst>
              <a:ext uri="{FF2B5EF4-FFF2-40B4-BE49-F238E27FC236}">
                <a16:creationId xmlns:a16="http://schemas.microsoft.com/office/drawing/2014/main" id="{19A2229F-3354-AD44-8E51-610F313F032C}"/>
              </a:ext>
            </a:extLst>
          </p:cNvPr>
          <p:cNvSpPr txBox="1"/>
          <p:nvPr/>
        </p:nvSpPr>
        <p:spPr>
          <a:xfrm>
            <a:off x="7721600" y="5181600"/>
            <a:ext cx="3251200" cy="304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dirty="0">
                <a:solidFill>
                  <a:srgbClr val="526078"/>
                </a:solidFill>
                <a:latin typeface="Arial"/>
                <a:cs typeface="Arial"/>
              </a:rPr>
              <a:t>Reduce run cost and reliance on scarce legacy skills</a:t>
            </a:r>
          </a:p>
        </p:txBody>
      </p:sp>
      <p:sp>
        <p:nvSpPr>
          <p:cNvPr id="47" name="Economics Accent">
            <a:extLst>
              <a:ext uri="{FF2B5EF4-FFF2-40B4-BE49-F238E27FC236}">
                <a16:creationId xmlns:a16="http://schemas.microsoft.com/office/drawing/2014/main" id="{379D50F9-5487-5644-A2DB-DA48521AE0F1}"/>
              </a:ext>
            </a:extLst>
          </p:cNvPr>
          <p:cNvSpPr/>
          <p:nvPr/>
        </p:nvSpPr>
        <p:spPr bwMode="auto">
          <a:xfrm>
            <a:off x="7416800" y="2095500"/>
            <a:ext cx="4165600" cy="50800"/>
          </a:xfrm>
          <a:prstGeom prst="rect">
            <a:avLst/>
          </a:prstGeom>
          <a:solidFill>
            <a:srgbClr val="B0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Tree>
    <p:custDataLst>
      <p:tags r:id="rId1"/>
    </p:custDataLst>
    <p:extLst>
      <p:ext uri="{BB962C8B-B14F-4D97-AF65-F5344CB8AC3E}">
        <p14:creationId xmlns:p14="http://schemas.microsoft.com/office/powerpoint/2010/main" val="2493838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Change Bridge Arrow">
            <a:extLst>
              <a:ext uri="{FF2B5EF4-FFF2-40B4-BE49-F238E27FC236}">
                <a16:creationId xmlns:a16="http://schemas.microsoft.com/office/drawing/2014/main" id="{BE97B9B9-8F8A-D443-83F2-46B0709FE6D4}"/>
              </a:ext>
            </a:extLst>
          </p:cNvPr>
          <p:cNvSpPr/>
          <p:nvPr/>
        </p:nvSpPr>
        <p:spPr bwMode="auto">
          <a:xfrm>
            <a:off x="4749800" y="3175000"/>
            <a:ext cx="2108200" cy="1320800"/>
          </a:xfrm>
          <a:prstGeom prst="rightArrow">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itle">
            <a:extLst>
              <a:ext uri="{FF2B5EF4-FFF2-40B4-BE49-F238E27FC236}">
                <a16:creationId xmlns:a16="http://schemas.microsoft.com/office/drawing/2014/main" id="{94536891-C609-914B-BCDE-6D6A6B383F46}"/>
              </a:ext>
            </a:extLst>
          </p:cNvPr>
          <p:cNvSpPr txBox="1"/>
          <p:nvPr/>
        </p:nvSpPr>
        <p:spPr>
          <a:xfrm>
            <a:off x="609600" y="508000"/>
            <a:ext cx="10972800" cy="685800"/>
          </a:xfrm>
          <a:prstGeom prst="rect">
            <a:avLst/>
          </a:prstGeom>
          <a:noFill/>
        </p:spPr>
        <p:txBody>
          <a:bodyPr vertOverflow="overflow" vert="horz" wrap="square" lIns="0" tIns="0" rIns="0" bIns="0" rtlCol="0" anchor="t">
            <a:normAutofit lnSpcReduction="10000"/>
          </a:bodyPr>
          <a:lstStyle/>
          <a:p>
            <a:pPr marL="0" indent="0" algn="l">
              <a:spcAft>
                <a:spcPts val="600"/>
              </a:spcAft>
              <a:tabLst/>
            </a:pPr>
            <a:r>
              <a:rPr lang="en-US" sz="2300" b="1" dirty="0">
                <a:solidFill>
                  <a:srgbClr val="070154"/>
                </a:solidFill>
                <a:latin typeface="Arial"/>
                <a:cs typeface="Arial"/>
              </a:rPr>
              <a:t>Lower-cost custom software scales what makes you unique—while minimizing workflow, role and vocabulary disruption</a:t>
            </a:r>
          </a:p>
        </p:txBody>
      </p:sp>
      <p:sp>
        <p:nvSpPr>
          <p:cNvPr id="12" name="Subtitle">
            <a:extLst>
              <a:ext uri="{FF2B5EF4-FFF2-40B4-BE49-F238E27FC236}">
                <a16:creationId xmlns:a16="http://schemas.microsoft.com/office/drawing/2014/main" id="{01C3EFFF-F8A1-9448-BC1C-34F211AC8DA1}"/>
              </a:ext>
            </a:extLst>
          </p:cNvPr>
          <p:cNvSpPr txBox="1"/>
          <p:nvPr/>
        </p:nvSpPr>
        <p:spPr>
          <a:xfrm>
            <a:off x="609600" y="1320800"/>
            <a:ext cx="10972800" cy="5461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dirty="0">
                <a:solidFill>
                  <a:srgbClr val="526078"/>
                </a:solidFill>
                <a:latin typeface="Arial"/>
                <a:cs typeface="Arial"/>
              </a:rPr>
              <a:t>Unlike off-the-shelf platforms, a bespoke build can preserve the processes and language that work—while changing only what modernization needs to improve.</a:t>
            </a:r>
          </a:p>
        </p:txBody>
      </p:sp>
      <p:sp>
        <p:nvSpPr>
          <p:cNvPr id="13" name="Business Fit Inputs">
            <a:extLst>
              <a:ext uri="{FF2B5EF4-FFF2-40B4-BE49-F238E27FC236}">
                <a16:creationId xmlns:a16="http://schemas.microsoft.com/office/drawing/2014/main" id="{16DE771B-F44C-0F4A-89C2-2F776B6F5283}"/>
              </a:ext>
            </a:extLst>
          </p:cNvPr>
          <p:cNvSpPr/>
          <p:nvPr/>
        </p:nvSpPr>
        <p:spPr bwMode="auto">
          <a:xfrm>
            <a:off x="609600" y="2159000"/>
            <a:ext cx="3987800" cy="3365500"/>
          </a:xfrm>
          <a:prstGeom prst="rect">
            <a:avLst/>
          </a:prstGeom>
          <a:solidFill>
            <a:srgbClr val="EEF3F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4" name="Business Fit Accent">
            <a:extLst>
              <a:ext uri="{FF2B5EF4-FFF2-40B4-BE49-F238E27FC236}">
                <a16:creationId xmlns:a16="http://schemas.microsoft.com/office/drawing/2014/main" id="{2771413B-35CE-0442-BD60-ADCAF52BAF33}"/>
              </a:ext>
            </a:extLst>
          </p:cNvPr>
          <p:cNvSpPr/>
          <p:nvPr/>
        </p:nvSpPr>
        <p:spPr bwMode="auto">
          <a:xfrm>
            <a:off x="609600" y="2159000"/>
            <a:ext cx="3987800" cy="508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Inputs Label">
            <a:extLst>
              <a:ext uri="{FF2B5EF4-FFF2-40B4-BE49-F238E27FC236}">
                <a16:creationId xmlns:a16="http://schemas.microsoft.com/office/drawing/2014/main" id="{46AAEDA3-531A-7F45-8DDD-8C7CA6C1E715}"/>
              </a:ext>
            </a:extLst>
          </p:cNvPr>
          <p:cNvSpPr txBox="1"/>
          <p:nvPr/>
        </p:nvSpPr>
        <p:spPr>
          <a:xfrm>
            <a:off x="914400" y="2438400"/>
            <a:ext cx="33782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WHY BUILD</a:t>
            </a:r>
            <a:endParaRPr lang="en-US" sz="1000" b="1" dirty="0">
              <a:solidFill>
                <a:srgbClr val="0047FF"/>
              </a:solidFill>
              <a:latin typeface="Arial"/>
              <a:cs typeface="Arial"/>
            </a:endParaRPr>
          </a:p>
        </p:txBody>
      </p:sp>
      <p:sp>
        <p:nvSpPr>
          <p:cNvPr id="16" name="Inputs Heading">
            <a:extLst>
              <a:ext uri="{FF2B5EF4-FFF2-40B4-BE49-F238E27FC236}">
                <a16:creationId xmlns:a16="http://schemas.microsoft.com/office/drawing/2014/main" id="{218F36C3-3336-A04B-B15F-2637CBD1096E}"/>
              </a:ext>
            </a:extLst>
          </p:cNvPr>
          <p:cNvSpPr txBox="1"/>
          <p:nvPr/>
        </p:nvSpPr>
        <p:spPr>
          <a:xfrm>
            <a:off x="914400" y="2806700"/>
            <a:ext cx="3378200" cy="533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600" b="1" dirty="0">
                <a:solidFill>
                  <a:srgbClr val="070154"/>
                </a:solidFill>
                <a:latin typeface="Arial"/>
                <a:cs typeface="Arial"/>
              </a:rPr>
              <a:t>Make software conform to the business—not the reverse</a:t>
            </a:r>
          </a:p>
        </p:txBody>
      </p:sp>
      <p:sp>
        <p:nvSpPr>
          <p:cNvPr id="19" name="Language Label">
            <a:extLst>
              <a:ext uri="{FF2B5EF4-FFF2-40B4-BE49-F238E27FC236}">
                <a16:creationId xmlns:a16="http://schemas.microsoft.com/office/drawing/2014/main" id="{BB052259-357E-4B42-8B8B-564909338148}"/>
              </a:ext>
            </a:extLst>
          </p:cNvPr>
          <p:cNvSpPr txBox="1"/>
          <p:nvPr/>
        </p:nvSpPr>
        <p:spPr>
          <a:xfrm>
            <a:off x="914400" y="3530600"/>
            <a:ext cx="1905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dirty="0">
                <a:solidFill>
                  <a:srgbClr val="526078"/>
                </a:solidFill>
                <a:latin typeface="Arial"/>
                <a:cs typeface="Arial"/>
              </a:rPr>
              <a:t>01  UNIQUE PROCESSES</a:t>
            </a:r>
          </a:p>
        </p:txBody>
      </p:sp>
      <p:sp>
        <p:nvSpPr>
          <p:cNvPr id="20" name="Language Body">
            <a:extLst>
              <a:ext uri="{FF2B5EF4-FFF2-40B4-BE49-F238E27FC236}">
                <a16:creationId xmlns:a16="http://schemas.microsoft.com/office/drawing/2014/main" id="{EE48C6F6-251E-6B4C-A5B6-9125F1F6D4B9}"/>
              </a:ext>
            </a:extLst>
          </p:cNvPr>
          <p:cNvSpPr txBox="1"/>
          <p:nvPr/>
        </p:nvSpPr>
        <p:spPr>
          <a:xfrm>
            <a:off x="914400" y="3784600"/>
            <a:ext cx="3378200" cy="3937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a:solidFill>
                  <a:srgbClr val="070154"/>
                </a:solidFill>
                <a:latin typeface="Arial"/>
                <a:cs typeface="Arial"/>
              </a:rPr>
              <a:t>Encode the workflows, controls and decisions that make the business distinct.</a:t>
            </a:r>
            <a:endParaRPr lang="en-US" sz="1050" dirty="0">
              <a:solidFill>
                <a:srgbClr val="070154"/>
              </a:solidFill>
              <a:latin typeface="Arial"/>
              <a:cs typeface="Arial"/>
            </a:endParaRPr>
          </a:p>
        </p:txBody>
      </p:sp>
      <p:sp>
        <p:nvSpPr>
          <p:cNvPr id="27" name="Process Label">
            <a:extLst>
              <a:ext uri="{FF2B5EF4-FFF2-40B4-BE49-F238E27FC236}">
                <a16:creationId xmlns:a16="http://schemas.microsoft.com/office/drawing/2014/main" id="{E00246EF-D8B8-324E-B273-8DED24606A47}"/>
              </a:ext>
            </a:extLst>
          </p:cNvPr>
          <p:cNvSpPr txBox="1"/>
          <p:nvPr/>
        </p:nvSpPr>
        <p:spPr>
          <a:xfrm>
            <a:off x="914400" y="4292600"/>
            <a:ext cx="1905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dirty="0">
                <a:solidFill>
                  <a:srgbClr val="526078"/>
                </a:solidFill>
                <a:latin typeface="Arial"/>
                <a:cs typeface="Arial"/>
              </a:rPr>
              <a:t>02  FAMILIAR LANGUAGE</a:t>
            </a:r>
          </a:p>
        </p:txBody>
      </p:sp>
      <p:sp>
        <p:nvSpPr>
          <p:cNvPr id="30" name="Process Body">
            <a:extLst>
              <a:ext uri="{FF2B5EF4-FFF2-40B4-BE49-F238E27FC236}">
                <a16:creationId xmlns:a16="http://schemas.microsoft.com/office/drawing/2014/main" id="{EEB45B7B-A945-3A4B-8CED-BA3B82DDB580}"/>
              </a:ext>
            </a:extLst>
          </p:cNvPr>
          <p:cNvSpPr txBox="1"/>
          <p:nvPr/>
        </p:nvSpPr>
        <p:spPr>
          <a:xfrm>
            <a:off x="914400" y="4546600"/>
            <a:ext cx="3378200" cy="3937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a:solidFill>
                  <a:srgbClr val="070154"/>
                </a:solidFill>
                <a:latin typeface="Arial"/>
                <a:cs typeface="Arial"/>
              </a:rPr>
              <a:t>Retain the vocabulary people use to understand and run the business.</a:t>
            </a:r>
            <a:endParaRPr lang="en-US" sz="1050" dirty="0">
              <a:solidFill>
                <a:srgbClr val="070154"/>
              </a:solidFill>
              <a:latin typeface="Arial"/>
              <a:cs typeface="Arial"/>
            </a:endParaRPr>
          </a:p>
        </p:txBody>
      </p:sp>
      <p:sp>
        <p:nvSpPr>
          <p:cNvPr id="31" name="Knowhow Label">
            <a:extLst>
              <a:ext uri="{FF2B5EF4-FFF2-40B4-BE49-F238E27FC236}">
                <a16:creationId xmlns:a16="http://schemas.microsoft.com/office/drawing/2014/main" id="{0D328DE5-5712-6648-968B-4384C2C64AC4}"/>
              </a:ext>
            </a:extLst>
          </p:cNvPr>
          <p:cNvSpPr txBox="1"/>
          <p:nvPr/>
        </p:nvSpPr>
        <p:spPr>
          <a:xfrm>
            <a:off x="914400" y="50546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dirty="0">
                <a:solidFill>
                  <a:srgbClr val="526078"/>
                </a:solidFill>
                <a:latin typeface="Arial"/>
                <a:cs typeface="Arial"/>
              </a:rPr>
              <a:t>03  SELECTIVE MODERNIZATION</a:t>
            </a:r>
          </a:p>
        </p:txBody>
      </p:sp>
      <p:sp>
        <p:nvSpPr>
          <p:cNvPr id="47" name="Knowhow Body">
            <a:extLst>
              <a:ext uri="{FF2B5EF4-FFF2-40B4-BE49-F238E27FC236}">
                <a16:creationId xmlns:a16="http://schemas.microsoft.com/office/drawing/2014/main" id="{05D25D5F-4A77-0B42-A19A-8C82C9B655CD}"/>
              </a:ext>
            </a:extLst>
          </p:cNvPr>
          <p:cNvSpPr txBox="1"/>
          <p:nvPr/>
        </p:nvSpPr>
        <p:spPr>
          <a:xfrm>
            <a:off x="914400" y="5308600"/>
            <a:ext cx="3378200" cy="2159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a:solidFill>
                  <a:srgbClr val="070154"/>
                </a:solidFill>
                <a:latin typeface="Arial"/>
                <a:cs typeface="Arial"/>
              </a:rPr>
              <a:t>Change selectively; preserve proven ways of working.</a:t>
            </a:r>
            <a:endParaRPr lang="en-US" sz="1050" dirty="0">
              <a:solidFill>
                <a:srgbClr val="070154"/>
              </a:solidFill>
              <a:latin typeface="Arial"/>
              <a:cs typeface="Arial"/>
            </a:endParaRPr>
          </a:p>
        </p:txBody>
      </p:sp>
      <p:sp>
        <p:nvSpPr>
          <p:cNvPr id="49" name="Change Bridge Heading">
            <a:extLst>
              <a:ext uri="{FF2B5EF4-FFF2-40B4-BE49-F238E27FC236}">
                <a16:creationId xmlns:a16="http://schemas.microsoft.com/office/drawing/2014/main" id="{071B495C-6AE8-3B4F-B90D-010CA7CB413E}"/>
              </a:ext>
            </a:extLst>
          </p:cNvPr>
          <p:cNvSpPr txBox="1"/>
          <p:nvPr/>
        </p:nvSpPr>
        <p:spPr>
          <a:xfrm>
            <a:off x="4876800" y="3568700"/>
            <a:ext cx="1320800" cy="457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50" b="1">
                <a:solidFill>
                  <a:srgbClr val="FFFFFF"/>
                </a:solidFill>
                <a:latin typeface="Arial"/>
                <a:cs typeface="Arial"/>
              </a:rPr>
              <a:t>CHANGE
ON YOUR TERMS</a:t>
            </a:r>
            <a:endParaRPr lang="en-US" sz="1150" b="1" dirty="0">
              <a:solidFill>
                <a:srgbClr val="FFFFFF"/>
              </a:solidFill>
              <a:latin typeface="Arial"/>
              <a:cs typeface="Arial"/>
            </a:endParaRPr>
          </a:p>
        </p:txBody>
      </p:sp>
      <p:sp>
        <p:nvSpPr>
          <p:cNvPr id="50" name="Change Bridge Detail">
            <a:extLst>
              <a:ext uri="{FF2B5EF4-FFF2-40B4-BE49-F238E27FC236}">
                <a16:creationId xmlns:a16="http://schemas.microsoft.com/office/drawing/2014/main" id="{CFBDBA21-942A-FD49-B891-6DFA63849F20}"/>
              </a:ext>
            </a:extLst>
          </p:cNvPr>
          <p:cNvSpPr txBox="1"/>
          <p:nvPr/>
        </p:nvSpPr>
        <p:spPr>
          <a:xfrm>
            <a:off x="4724400" y="4749800"/>
            <a:ext cx="2159000" cy="406400"/>
          </a:xfrm>
          <a:prstGeom prst="rect">
            <a:avLst/>
          </a:prstGeom>
          <a:noFill/>
        </p:spPr>
        <p:txBody>
          <a:bodyPr vertOverflow="overflow" vert="horz" wrap="square" lIns="0" tIns="0" rIns="0" bIns="0" rtlCol="0" anchor="t">
            <a:normAutofit fontScale="92500" lnSpcReduction="20000"/>
          </a:bodyPr>
          <a:lstStyle/>
          <a:p>
            <a:pPr marL="0" indent="0" algn="l">
              <a:spcAft>
                <a:spcPts val="600"/>
              </a:spcAft>
              <a:tabLst/>
            </a:pPr>
            <a:r>
              <a:rPr lang="en-US" sz="950">
                <a:solidFill>
                  <a:srgbClr val="526078"/>
                </a:solidFill>
                <a:latin typeface="Arial"/>
                <a:cs typeface="Arial"/>
              </a:rPr>
              <a:t>Less process translation  •  Less vocabulary shift
Focused retraining</a:t>
            </a:r>
            <a:endParaRPr lang="en-US" sz="950" dirty="0">
              <a:solidFill>
                <a:srgbClr val="526078"/>
              </a:solidFill>
              <a:latin typeface="Arial"/>
              <a:cs typeface="Arial"/>
            </a:endParaRPr>
          </a:p>
        </p:txBody>
      </p:sp>
      <p:sp>
        <p:nvSpPr>
          <p:cNvPr id="51" name="People Outcome">
            <a:extLst>
              <a:ext uri="{FF2B5EF4-FFF2-40B4-BE49-F238E27FC236}">
                <a16:creationId xmlns:a16="http://schemas.microsoft.com/office/drawing/2014/main" id="{E40C9B19-184C-EE4D-B3B4-63012E37BB05}"/>
              </a:ext>
            </a:extLst>
          </p:cNvPr>
          <p:cNvSpPr/>
          <p:nvPr/>
        </p:nvSpPr>
        <p:spPr bwMode="auto">
          <a:xfrm>
            <a:off x="7010400" y="2159000"/>
            <a:ext cx="4572000" cy="1562100"/>
          </a:xfrm>
          <a:prstGeom prst="rect">
            <a:avLst/>
          </a:prstGeom>
          <a:solidFill>
            <a:srgbClr val="F7F9FD"/>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2" name="People Accent">
            <a:extLst>
              <a:ext uri="{FF2B5EF4-FFF2-40B4-BE49-F238E27FC236}">
                <a16:creationId xmlns:a16="http://schemas.microsoft.com/office/drawing/2014/main" id="{A0628F98-663A-B14B-9773-506B4B3A9CD2}"/>
              </a:ext>
            </a:extLst>
          </p:cNvPr>
          <p:cNvSpPr/>
          <p:nvPr/>
        </p:nvSpPr>
        <p:spPr bwMode="auto">
          <a:xfrm>
            <a:off x="7010400" y="2159000"/>
            <a:ext cx="63500" cy="1562100"/>
          </a:xfrm>
          <a:prstGeom prst="rect">
            <a:avLst/>
          </a:prstGeom>
          <a:solidFill>
            <a:srgbClr val="F0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3" name="People Label">
            <a:extLst>
              <a:ext uri="{FF2B5EF4-FFF2-40B4-BE49-F238E27FC236}">
                <a16:creationId xmlns:a16="http://schemas.microsoft.com/office/drawing/2014/main" id="{F11F9FB3-6F29-9A49-B2FE-83DE161108BE}"/>
              </a:ext>
            </a:extLst>
          </p:cNvPr>
          <p:cNvSpPr txBox="1"/>
          <p:nvPr/>
        </p:nvSpPr>
        <p:spPr>
          <a:xfrm>
            <a:off x="7340600" y="2413000"/>
            <a:ext cx="3886200" cy="2159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F000C8"/>
                </a:solidFill>
                <a:latin typeface="Arial"/>
                <a:cs typeface="Arial"/>
              </a:rPr>
              <a:t>ADVANTAGE 01  |  OPERATIONAL DIFFERENTIATION</a:t>
            </a:r>
            <a:endParaRPr lang="en-US" sz="1000" b="1" dirty="0">
              <a:solidFill>
                <a:srgbClr val="F000C8"/>
              </a:solidFill>
              <a:latin typeface="Arial"/>
              <a:cs typeface="Arial"/>
            </a:endParaRPr>
          </a:p>
        </p:txBody>
      </p:sp>
      <p:sp>
        <p:nvSpPr>
          <p:cNvPr id="54" name="People Heading">
            <a:extLst>
              <a:ext uri="{FF2B5EF4-FFF2-40B4-BE49-F238E27FC236}">
                <a16:creationId xmlns:a16="http://schemas.microsoft.com/office/drawing/2014/main" id="{D1A0A6DF-58B1-4046-9890-ED938DB35F13}"/>
              </a:ext>
            </a:extLst>
          </p:cNvPr>
          <p:cNvSpPr txBox="1"/>
          <p:nvPr/>
        </p:nvSpPr>
        <p:spPr>
          <a:xfrm>
            <a:off x="7340600" y="2768600"/>
            <a:ext cx="3886200" cy="304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550" b="1" dirty="0">
                <a:solidFill>
                  <a:srgbClr val="070154"/>
                </a:solidFill>
                <a:latin typeface="Arial"/>
                <a:cs typeface="Arial"/>
              </a:rPr>
              <a:t>Scale what makes the business unique</a:t>
            </a:r>
          </a:p>
        </p:txBody>
      </p:sp>
      <p:sp>
        <p:nvSpPr>
          <p:cNvPr id="55" name="People Body">
            <a:extLst>
              <a:ext uri="{FF2B5EF4-FFF2-40B4-BE49-F238E27FC236}">
                <a16:creationId xmlns:a16="http://schemas.microsoft.com/office/drawing/2014/main" id="{B9AD9A73-1D66-9F40-9C73-5725DA1A54CE}"/>
              </a:ext>
            </a:extLst>
          </p:cNvPr>
          <p:cNvSpPr txBox="1"/>
          <p:nvPr/>
        </p:nvSpPr>
        <p:spPr>
          <a:xfrm>
            <a:off x="7340600" y="3225800"/>
            <a:ext cx="3886200" cy="3810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a:solidFill>
                  <a:srgbClr val="526078"/>
                </a:solidFill>
                <a:latin typeface="Arial"/>
                <a:cs typeface="Arial"/>
              </a:rPr>
              <a:t>Turn distinctive processes and capabilities into repeatable, software-enabled operations.</a:t>
            </a:r>
            <a:endParaRPr lang="en-US" sz="1050" dirty="0">
              <a:solidFill>
                <a:srgbClr val="526078"/>
              </a:solidFill>
              <a:latin typeface="Arial"/>
              <a:cs typeface="Arial"/>
            </a:endParaRPr>
          </a:p>
        </p:txBody>
      </p:sp>
      <p:sp>
        <p:nvSpPr>
          <p:cNvPr id="56" name="Customer Outcome">
            <a:extLst>
              <a:ext uri="{FF2B5EF4-FFF2-40B4-BE49-F238E27FC236}">
                <a16:creationId xmlns:a16="http://schemas.microsoft.com/office/drawing/2014/main" id="{E067A151-6CB1-7F47-8CA1-04AF7C2ECE53}"/>
              </a:ext>
            </a:extLst>
          </p:cNvPr>
          <p:cNvSpPr/>
          <p:nvPr/>
        </p:nvSpPr>
        <p:spPr bwMode="auto">
          <a:xfrm>
            <a:off x="7010400" y="3962400"/>
            <a:ext cx="4572000" cy="1562100"/>
          </a:xfrm>
          <a:prstGeom prst="rect">
            <a:avLst/>
          </a:prstGeom>
          <a:solidFill>
            <a:srgbClr val="F7F9FD"/>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7" name="Customer Accent">
            <a:extLst>
              <a:ext uri="{FF2B5EF4-FFF2-40B4-BE49-F238E27FC236}">
                <a16:creationId xmlns:a16="http://schemas.microsoft.com/office/drawing/2014/main" id="{FD60D1EB-9A54-F44D-96B7-E7487E507FE5}"/>
              </a:ext>
            </a:extLst>
          </p:cNvPr>
          <p:cNvSpPr/>
          <p:nvPr/>
        </p:nvSpPr>
        <p:spPr bwMode="auto">
          <a:xfrm>
            <a:off x="7010400" y="3962400"/>
            <a:ext cx="63500" cy="15621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8" name="Customer Label">
            <a:extLst>
              <a:ext uri="{FF2B5EF4-FFF2-40B4-BE49-F238E27FC236}">
                <a16:creationId xmlns:a16="http://schemas.microsoft.com/office/drawing/2014/main" id="{1CAB6135-6F4B-E449-88F6-4679EC0BAFE2}"/>
              </a:ext>
            </a:extLst>
          </p:cNvPr>
          <p:cNvSpPr txBox="1"/>
          <p:nvPr/>
        </p:nvSpPr>
        <p:spPr>
          <a:xfrm>
            <a:off x="7340600" y="4216400"/>
            <a:ext cx="3886200" cy="2159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ADVANTAGE 02  |  LOWER CHANGE IMPACT</a:t>
            </a:r>
            <a:endParaRPr lang="en-US" sz="1000" b="1" dirty="0">
              <a:solidFill>
                <a:srgbClr val="0047FF"/>
              </a:solidFill>
              <a:latin typeface="Arial"/>
              <a:cs typeface="Arial"/>
            </a:endParaRPr>
          </a:p>
        </p:txBody>
      </p:sp>
      <p:sp>
        <p:nvSpPr>
          <p:cNvPr id="59" name="Customer Heading">
            <a:extLst>
              <a:ext uri="{FF2B5EF4-FFF2-40B4-BE49-F238E27FC236}">
                <a16:creationId xmlns:a16="http://schemas.microsoft.com/office/drawing/2014/main" id="{FE7704B2-3BFE-D140-AF17-450BADD2400C}"/>
              </a:ext>
            </a:extLst>
          </p:cNvPr>
          <p:cNvSpPr txBox="1"/>
          <p:nvPr/>
        </p:nvSpPr>
        <p:spPr>
          <a:xfrm>
            <a:off x="7340600" y="4572000"/>
            <a:ext cx="3886200" cy="482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550" b="1" dirty="0">
                <a:solidFill>
                  <a:srgbClr val="070154"/>
                </a:solidFill>
                <a:latin typeface="Arial"/>
                <a:cs typeface="Arial"/>
              </a:rPr>
              <a:t>Modernize without forcing wholesale reinvention</a:t>
            </a:r>
          </a:p>
        </p:txBody>
      </p:sp>
      <p:sp>
        <p:nvSpPr>
          <p:cNvPr id="60" name="Customer Body">
            <a:extLst>
              <a:ext uri="{FF2B5EF4-FFF2-40B4-BE49-F238E27FC236}">
                <a16:creationId xmlns:a16="http://schemas.microsoft.com/office/drawing/2014/main" id="{00E4D162-BDEB-8043-A2F8-5D3994778039}"/>
              </a:ext>
            </a:extLst>
          </p:cNvPr>
          <p:cNvSpPr txBox="1"/>
          <p:nvPr/>
        </p:nvSpPr>
        <p:spPr>
          <a:xfrm>
            <a:off x="7340600" y="5143500"/>
            <a:ext cx="3886200" cy="355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a:solidFill>
                  <a:srgbClr val="526078"/>
                </a:solidFill>
                <a:latin typeface="Arial"/>
                <a:cs typeface="Arial"/>
              </a:rPr>
              <a:t>Preserve familiar processes, roles and vocabulary where they still create value.</a:t>
            </a:r>
            <a:endParaRPr lang="en-US" sz="1050" dirty="0">
              <a:solidFill>
                <a:srgbClr val="526078"/>
              </a:solidFill>
              <a:latin typeface="Arial"/>
              <a:cs typeface="Arial"/>
            </a:endParaRPr>
          </a:p>
        </p:txBody>
      </p:sp>
      <p:sp>
        <p:nvSpPr>
          <p:cNvPr id="61" name="Value Band">
            <a:extLst>
              <a:ext uri="{FF2B5EF4-FFF2-40B4-BE49-F238E27FC236}">
                <a16:creationId xmlns:a16="http://schemas.microsoft.com/office/drawing/2014/main" id="{4B65A564-596E-7841-8CAF-346DFC3F9113}"/>
              </a:ext>
            </a:extLst>
          </p:cNvPr>
          <p:cNvSpPr/>
          <p:nvPr/>
        </p:nvSpPr>
        <p:spPr bwMode="auto">
          <a:xfrm>
            <a:off x="609600" y="5740400"/>
            <a:ext cx="10972800" cy="4699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2" name="Value Band Text">
            <a:extLst>
              <a:ext uri="{FF2B5EF4-FFF2-40B4-BE49-F238E27FC236}">
                <a16:creationId xmlns:a16="http://schemas.microsoft.com/office/drawing/2014/main" id="{9EB1B182-407A-D741-8AD8-68E3E3CFCDA3}"/>
              </a:ext>
            </a:extLst>
          </p:cNvPr>
          <p:cNvSpPr txBox="1"/>
          <p:nvPr/>
        </p:nvSpPr>
        <p:spPr>
          <a:xfrm>
            <a:off x="863600" y="5854700"/>
            <a:ext cx="104648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b="1">
                <a:solidFill>
                  <a:srgbClr val="FFFFFF"/>
                </a:solidFill>
                <a:latin typeface="Arial"/>
                <a:cs typeface="Arial"/>
              </a:rPr>
              <a:t>BUILD WHEN: Differentiation matters and you want to choose deliberately where the business changes—and where the software adapts.</a:t>
            </a:r>
            <a:endParaRPr lang="en-US" sz="1050" b="1" dirty="0">
              <a:solidFill>
                <a:srgbClr val="FFFFFF"/>
              </a:solidFill>
              <a:latin typeface="Arial"/>
              <a:cs typeface="Arial"/>
            </a:endParaRPr>
          </a:p>
        </p:txBody>
      </p:sp>
      <p:sp>
        <p:nvSpPr>
          <p:cNvPr id="2" name="Rectangle 1">
            <a:extLst>
              <a:ext uri="{FF2B5EF4-FFF2-40B4-BE49-F238E27FC236}">
                <a16:creationId xmlns:a16="http://schemas.microsoft.com/office/drawing/2014/main" id="{B66B320B-8A7B-01C4-9002-D7B2F57696A6}"/>
              </a:ext>
            </a:extLst>
          </p:cNvPr>
          <p:cNvSpPr/>
          <p:nvPr/>
        </p:nvSpPr>
        <p:spPr bwMode="auto">
          <a:xfrm>
            <a:off x="9584987" y="110247"/>
            <a:ext cx="2380034" cy="992221"/>
          </a:xfrm>
          <a:prstGeom prst="rect">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rPr>
              <a:t>@Rachel is going to wordsmith/expand</a:t>
            </a:r>
          </a:p>
        </p:txBody>
      </p:sp>
    </p:spTree>
    <p:custDataLst>
      <p:tags r:id="rId1"/>
    </p:custDataLst>
    <p:extLst>
      <p:ext uri="{BB962C8B-B14F-4D97-AF65-F5344CB8AC3E}">
        <p14:creationId xmlns:p14="http://schemas.microsoft.com/office/powerpoint/2010/main" val="1650423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ection title">
            <a:extLst>
              <a:ext uri="{FF2B5EF4-FFF2-40B4-BE49-F238E27FC236}">
                <a16:creationId xmlns:a16="http://schemas.microsoft.com/office/drawing/2014/main" id="{7C3F92ED-16BC-B942-8963-5DB98697FBC5}"/>
              </a:ext>
            </a:extLst>
          </p:cNvPr>
          <p:cNvSpPr txBox="1"/>
          <p:nvPr/>
        </p:nvSpPr>
        <p:spPr>
          <a:xfrm>
            <a:off x="609600" y="342900"/>
            <a:ext cx="10972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0057FF"/>
                </a:solidFill>
                <a:latin typeface="Arial"/>
                <a:cs typeface="Arial"/>
              </a:rPr>
              <a:t>WEST MONROE MODERNIZATION IMPACT</a:t>
            </a:r>
            <a:endParaRPr lang="en-US" sz="850" b="1" dirty="0">
              <a:solidFill>
                <a:srgbClr val="0057FF"/>
              </a:solidFill>
              <a:latin typeface="Arial"/>
              <a:cs typeface="Arial"/>
            </a:endParaRPr>
          </a:p>
        </p:txBody>
      </p:sp>
      <p:sp>
        <p:nvSpPr>
          <p:cNvPr id="6" name="Slide title">
            <a:extLst>
              <a:ext uri="{FF2B5EF4-FFF2-40B4-BE49-F238E27FC236}">
                <a16:creationId xmlns:a16="http://schemas.microsoft.com/office/drawing/2014/main" id="{9DA42C4A-DC0D-0D46-9F3D-B18CEA92E68F}"/>
              </a:ext>
            </a:extLst>
          </p:cNvPr>
          <p:cNvSpPr txBox="1"/>
          <p:nvPr/>
        </p:nvSpPr>
        <p:spPr>
          <a:xfrm>
            <a:off x="609600" y="609600"/>
            <a:ext cx="10972800" cy="685800"/>
          </a:xfrm>
          <a:prstGeom prst="rect">
            <a:avLst/>
          </a:prstGeom>
          <a:noFill/>
        </p:spPr>
        <p:txBody>
          <a:bodyPr vertOverflow="overflow" vert="horz" wrap="square" lIns="0" tIns="0" rIns="0" bIns="0" rtlCol="0" anchor="t">
            <a:noAutofit/>
          </a:bodyPr>
          <a:lstStyle/>
          <a:p>
            <a:pPr marL="0" indent="0" algn="l">
              <a:spcAft>
                <a:spcPts val="600"/>
              </a:spcAft>
              <a:tabLst/>
            </a:pPr>
            <a:r>
              <a:rPr lang="en-US" sz="2300" b="1">
                <a:solidFill>
                  <a:srgbClr val="0B075A"/>
                </a:solidFill>
                <a:latin typeface="Arial"/>
                <a:cs typeface="Arial"/>
              </a:rPr>
              <a:t>West Monroe modernization programs accelerate delivery, protect continuity, and lower operating effort</a:t>
            </a:r>
            <a:endParaRPr lang="en-US" sz="2300" b="1" dirty="0">
              <a:solidFill>
                <a:srgbClr val="0B075A"/>
              </a:solidFill>
              <a:latin typeface="Arial"/>
              <a:cs typeface="Arial"/>
            </a:endParaRPr>
          </a:p>
        </p:txBody>
      </p:sp>
      <p:sp>
        <p:nvSpPr>
          <p:cNvPr id="7" name="Slide subtitle">
            <a:extLst>
              <a:ext uri="{FF2B5EF4-FFF2-40B4-BE49-F238E27FC236}">
                <a16:creationId xmlns:a16="http://schemas.microsoft.com/office/drawing/2014/main" id="{06608D26-67A0-9747-85B1-1C8A487E65C4}"/>
              </a:ext>
            </a:extLst>
          </p:cNvPr>
          <p:cNvSpPr txBox="1"/>
          <p:nvPr/>
        </p:nvSpPr>
        <p:spPr>
          <a:xfrm>
            <a:off x="609600" y="1409700"/>
            <a:ext cx="10972800" cy="279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a:solidFill>
                  <a:srgbClr val="55657E"/>
                </a:solidFill>
                <a:latin typeface="Arial"/>
                <a:cs typeface="Arial"/>
              </a:rPr>
              <a:t>Three client stories show how focused modernization converts technical execution into measurable business outcomes.</a:t>
            </a:r>
            <a:endParaRPr lang="en-US" sz="1050" dirty="0">
              <a:solidFill>
                <a:srgbClr val="55657E"/>
              </a:solidFill>
              <a:latin typeface="Arial"/>
              <a:cs typeface="Arial"/>
            </a:endParaRPr>
          </a:p>
        </p:txBody>
      </p:sp>
      <p:sp>
        <p:nvSpPr>
          <p:cNvPr id="8" name="Card 01">
            <a:extLst>
              <a:ext uri="{FF2B5EF4-FFF2-40B4-BE49-F238E27FC236}">
                <a16:creationId xmlns:a16="http://schemas.microsoft.com/office/drawing/2014/main" id="{4FEB7E91-C13B-8542-A296-41D8D8D0A837}"/>
              </a:ext>
            </a:extLst>
          </p:cNvPr>
          <p:cNvSpPr/>
          <p:nvPr/>
        </p:nvSpPr>
        <p:spPr bwMode="auto">
          <a:xfrm>
            <a:off x="609600" y="1917700"/>
            <a:ext cx="3454400" cy="3873500"/>
          </a:xfrm>
          <a:prstGeom prst="rect">
            <a:avLst/>
          </a:prstGeom>
          <a:solidFill>
            <a:srgbClr val="FFFFFF"/>
          </a:solidFill>
          <a:ln w="12700">
            <a:solidFill>
              <a:srgbClr val="CBD6E6"/>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 name="Card accent 01">
            <a:extLst>
              <a:ext uri="{FF2B5EF4-FFF2-40B4-BE49-F238E27FC236}">
                <a16:creationId xmlns:a16="http://schemas.microsoft.com/office/drawing/2014/main" id="{2D369404-6158-C14F-B41D-B892846C527A}"/>
              </a:ext>
            </a:extLst>
          </p:cNvPr>
          <p:cNvSpPr/>
          <p:nvPr/>
        </p:nvSpPr>
        <p:spPr bwMode="auto">
          <a:xfrm>
            <a:off x="609600" y="1917700"/>
            <a:ext cx="3454400" cy="88900"/>
          </a:xfrm>
          <a:prstGeom prst="rect">
            <a:avLst/>
          </a:prstGeom>
          <a:solidFill>
            <a:srgbClr val="0B075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Number 01">
            <a:extLst>
              <a:ext uri="{FF2B5EF4-FFF2-40B4-BE49-F238E27FC236}">
                <a16:creationId xmlns:a16="http://schemas.microsoft.com/office/drawing/2014/main" id="{DECEA6CC-F49B-CA40-B0B4-E844E91AD9B5}"/>
              </a:ext>
            </a:extLst>
          </p:cNvPr>
          <p:cNvSpPr txBox="1"/>
          <p:nvPr/>
        </p:nvSpPr>
        <p:spPr>
          <a:xfrm>
            <a:off x="812800" y="2159000"/>
            <a:ext cx="3302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F000D8"/>
                </a:solidFill>
                <a:latin typeface="Arial"/>
                <a:cs typeface="Arial"/>
              </a:rPr>
              <a:t>01</a:t>
            </a:r>
            <a:endParaRPr lang="en-US" sz="950" b="1" dirty="0">
              <a:solidFill>
                <a:srgbClr val="F000D8"/>
              </a:solidFill>
              <a:latin typeface="Arial"/>
              <a:cs typeface="Arial"/>
            </a:endParaRPr>
          </a:p>
        </p:txBody>
      </p:sp>
      <p:sp>
        <p:nvSpPr>
          <p:cNvPr id="11" name="Story label 01">
            <a:extLst>
              <a:ext uri="{FF2B5EF4-FFF2-40B4-BE49-F238E27FC236}">
                <a16:creationId xmlns:a16="http://schemas.microsoft.com/office/drawing/2014/main" id="{60F7C3B6-879C-0F4C-B562-59DEEE690925}"/>
              </a:ext>
            </a:extLst>
          </p:cNvPr>
          <p:cNvSpPr txBox="1"/>
          <p:nvPr/>
        </p:nvSpPr>
        <p:spPr>
          <a:xfrm>
            <a:off x="1219200" y="2133600"/>
            <a:ext cx="2641600" cy="2413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B075A"/>
                </a:solidFill>
                <a:latin typeface="Arial"/>
                <a:cs typeface="Arial"/>
              </a:rPr>
              <a:t>CUSTOMER APPLICATION REWRITE</a:t>
            </a:r>
            <a:endParaRPr lang="en-US" sz="950" b="1" dirty="0">
              <a:solidFill>
                <a:srgbClr val="0B075A"/>
              </a:solidFill>
              <a:latin typeface="Arial"/>
              <a:cs typeface="Arial"/>
            </a:endParaRPr>
          </a:p>
        </p:txBody>
      </p:sp>
      <p:sp>
        <p:nvSpPr>
          <p:cNvPr id="12" name="Client 01">
            <a:extLst>
              <a:ext uri="{FF2B5EF4-FFF2-40B4-BE49-F238E27FC236}">
                <a16:creationId xmlns:a16="http://schemas.microsoft.com/office/drawing/2014/main" id="{510F2842-E98A-3241-93C3-AE30A96207B0}"/>
              </a:ext>
            </a:extLst>
          </p:cNvPr>
          <p:cNvSpPr txBox="1"/>
          <p:nvPr/>
        </p:nvSpPr>
        <p:spPr>
          <a:xfrm>
            <a:off x="812800" y="2425700"/>
            <a:ext cx="2171700" cy="254000"/>
          </a:xfrm>
          <a:prstGeom prst="rect">
            <a:avLst/>
          </a:prstGeom>
          <a:solidFill>
            <a:srgbClr val="EDF2FA"/>
          </a:solidFill>
          <a:ln>
            <a:noFill/>
          </a:ln>
        </p:spPr>
        <p:txBody>
          <a:bodyPr vertOverflow="overflow" vert="horz" wrap="none" lIns="0" tIns="0" rIns="0" bIns="0" rtlCol="0" anchor="ctr" anchorCtr="0">
            <a:normAutofit/>
          </a:bodyPr>
          <a:lstStyle/>
          <a:p>
            <a:pPr marL="0" indent="0" algn="l">
              <a:spcAft>
                <a:spcPts val="600"/>
              </a:spcAft>
              <a:tabLst/>
            </a:pPr>
            <a:r>
              <a:rPr lang="en-US" sz="800" b="1">
                <a:solidFill>
                  <a:srgbClr val="0B075A"/>
                </a:solidFill>
                <a:latin typeface="Arial"/>
                <a:cs typeface="Arial"/>
              </a:rPr>
              <a:t>Healthcare professional association</a:t>
            </a:r>
            <a:endParaRPr lang="en-US" sz="800" b="1" dirty="0">
              <a:solidFill>
                <a:srgbClr val="0B075A"/>
              </a:solidFill>
              <a:latin typeface="Arial"/>
              <a:cs typeface="Arial"/>
            </a:endParaRPr>
          </a:p>
        </p:txBody>
      </p:sp>
      <p:sp>
        <p:nvSpPr>
          <p:cNvPr id="13" name="Headline 01">
            <a:extLst>
              <a:ext uri="{FF2B5EF4-FFF2-40B4-BE49-F238E27FC236}">
                <a16:creationId xmlns:a16="http://schemas.microsoft.com/office/drawing/2014/main" id="{A928B04B-B074-7546-A8E1-03C03C52F960}"/>
              </a:ext>
            </a:extLst>
          </p:cNvPr>
          <p:cNvSpPr txBox="1"/>
          <p:nvPr/>
        </p:nvSpPr>
        <p:spPr>
          <a:xfrm>
            <a:off x="812800" y="2781300"/>
            <a:ext cx="3048000" cy="977900"/>
          </a:xfrm>
          <a:prstGeom prst="rect">
            <a:avLst/>
          </a:prstGeom>
          <a:noFill/>
        </p:spPr>
        <p:txBody>
          <a:bodyPr vertOverflow="overflow" vert="horz" wrap="square" lIns="0" tIns="0" rIns="0" bIns="0" rtlCol="0" anchor="t">
            <a:normAutofit/>
          </a:bodyPr>
          <a:lstStyle/>
          <a:p>
            <a:pPr marL="0" indent="0" algn="l">
              <a:spcAft>
                <a:spcPts val="600"/>
              </a:spcAft>
              <a:tabLst/>
            </a:pPr>
            <a:r>
              <a:rPr lang="en-US" sz="1220" b="1">
                <a:solidFill>
                  <a:srgbClr val="11113F"/>
                </a:solidFill>
                <a:latin typeface="Arial"/>
                <a:cs typeface="Arial"/>
              </a:rPr>
              <a:t>A critical customer-facing application was assessed and rewritten in less than half the traditional timeline.</a:t>
            </a:r>
            <a:endParaRPr lang="en-US" sz="1220" b="1" dirty="0">
              <a:solidFill>
                <a:srgbClr val="11113F"/>
              </a:solidFill>
              <a:latin typeface="Arial"/>
              <a:cs typeface="Arial"/>
            </a:endParaRPr>
          </a:p>
        </p:txBody>
      </p:sp>
      <p:sp>
        <p:nvSpPr>
          <p:cNvPr id="14" name="Metric panel 01">
            <a:extLst>
              <a:ext uri="{FF2B5EF4-FFF2-40B4-BE49-F238E27FC236}">
                <a16:creationId xmlns:a16="http://schemas.microsoft.com/office/drawing/2014/main" id="{8EFE5403-AA82-504F-A2E1-589BBCDB2B28}"/>
              </a:ext>
            </a:extLst>
          </p:cNvPr>
          <p:cNvSpPr/>
          <p:nvPr/>
        </p:nvSpPr>
        <p:spPr bwMode="auto">
          <a:xfrm>
            <a:off x="812800" y="3898900"/>
            <a:ext cx="3048000" cy="850900"/>
          </a:xfrm>
          <a:prstGeom prst="rect">
            <a:avLst/>
          </a:prstGeom>
          <a:solidFill>
            <a:srgbClr val="EDF2F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Metric one 01">
            <a:extLst>
              <a:ext uri="{FF2B5EF4-FFF2-40B4-BE49-F238E27FC236}">
                <a16:creationId xmlns:a16="http://schemas.microsoft.com/office/drawing/2014/main" id="{A9CA3348-F7A3-0147-AA80-7BA3B1D8AD6A}"/>
              </a:ext>
            </a:extLst>
          </p:cNvPr>
          <p:cNvSpPr txBox="1"/>
          <p:nvPr/>
        </p:nvSpPr>
        <p:spPr>
          <a:xfrm>
            <a:off x="965200" y="4013200"/>
            <a:ext cx="1219200" cy="317500"/>
          </a:xfrm>
          <a:prstGeom prst="rect">
            <a:avLst/>
          </a:prstGeom>
          <a:noFill/>
        </p:spPr>
        <p:txBody>
          <a:bodyPr vertOverflow="overflow" vert="horz" wrap="square" lIns="0" tIns="0" rIns="0" bIns="0" rtlCol="0" anchor="t">
            <a:normAutofit/>
          </a:bodyPr>
          <a:lstStyle/>
          <a:p>
            <a:pPr marL="0" indent="0" algn="l">
              <a:spcAft>
                <a:spcPts val="600"/>
              </a:spcAft>
              <a:tabLst/>
            </a:pPr>
            <a:r>
              <a:rPr lang="en-US" sz="1800" b="1" dirty="0">
                <a:solidFill>
                  <a:srgbClr val="F000D8"/>
                </a:solidFill>
                <a:latin typeface="Arial"/>
                <a:cs typeface="Arial"/>
              </a:rPr>
              <a:t>12 → 5</a:t>
            </a:r>
          </a:p>
        </p:txBody>
      </p:sp>
      <p:sp>
        <p:nvSpPr>
          <p:cNvPr id="16" name="Metric label one 01">
            <a:extLst>
              <a:ext uri="{FF2B5EF4-FFF2-40B4-BE49-F238E27FC236}">
                <a16:creationId xmlns:a16="http://schemas.microsoft.com/office/drawing/2014/main" id="{A6A43A66-036D-3141-BC0B-148B5A942860}"/>
              </a:ext>
            </a:extLst>
          </p:cNvPr>
          <p:cNvSpPr txBox="1"/>
          <p:nvPr/>
        </p:nvSpPr>
        <p:spPr>
          <a:xfrm>
            <a:off x="965200" y="4368800"/>
            <a:ext cx="1219200" cy="241300"/>
          </a:xfrm>
          <a:prstGeom prst="rect">
            <a:avLst/>
          </a:prstGeom>
          <a:noFill/>
        </p:spPr>
        <p:txBody>
          <a:bodyPr vertOverflow="overflow" vert="horz" wrap="square" lIns="0" tIns="0" rIns="0" bIns="0" rtlCol="0" anchor="t">
            <a:normAutofit/>
          </a:bodyPr>
          <a:lstStyle/>
          <a:p>
            <a:pPr marL="0" indent="0" algn="l">
              <a:spcAft>
                <a:spcPts val="600"/>
              </a:spcAft>
              <a:tabLst/>
            </a:pPr>
            <a:r>
              <a:rPr lang="en-US" sz="750" b="1">
                <a:solidFill>
                  <a:srgbClr val="0B075A"/>
                </a:solidFill>
                <a:latin typeface="Arial"/>
                <a:cs typeface="Arial"/>
              </a:rPr>
              <a:t>MONTHS</a:t>
            </a:r>
            <a:endParaRPr lang="en-US" sz="750" b="1" dirty="0">
              <a:solidFill>
                <a:srgbClr val="0B075A"/>
              </a:solidFill>
              <a:latin typeface="Arial"/>
              <a:cs typeface="Arial"/>
            </a:endParaRPr>
          </a:p>
        </p:txBody>
      </p:sp>
      <p:sp>
        <p:nvSpPr>
          <p:cNvPr id="17" name="Metric divider 01">
            <a:extLst>
              <a:ext uri="{FF2B5EF4-FFF2-40B4-BE49-F238E27FC236}">
                <a16:creationId xmlns:a16="http://schemas.microsoft.com/office/drawing/2014/main" id="{6D692B7E-7110-AF44-9FA2-1C0FFD454D19}"/>
              </a:ext>
            </a:extLst>
          </p:cNvPr>
          <p:cNvSpPr/>
          <p:nvPr/>
        </p:nvSpPr>
        <p:spPr bwMode="auto">
          <a:xfrm>
            <a:off x="2324100" y="4038600"/>
            <a:ext cx="12700" cy="54610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8" name="Metric two 01">
            <a:extLst>
              <a:ext uri="{FF2B5EF4-FFF2-40B4-BE49-F238E27FC236}">
                <a16:creationId xmlns:a16="http://schemas.microsoft.com/office/drawing/2014/main" id="{E1537D74-3B1E-764E-B9C9-28AE49D80ABC}"/>
              </a:ext>
            </a:extLst>
          </p:cNvPr>
          <p:cNvSpPr txBox="1"/>
          <p:nvPr/>
        </p:nvSpPr>
        <p:spPr>
          <a:xfrm>
            <a:off x="2514600" y="4013200"/>
            <a:ext cx="1193800" cy="317500"/>
          </a:xfrm>
          <a:prstGeom prst="rect">
            <a:avLst/>
          </a:prstGeom>
          <a:noFill/>
        </p:spPr>
        <p:txBody>
          <a:bodyPr vertOverflow="overflow" vert="horz" wrap="square" lIns="0" tIns="0" rIns="0" bIns="0" rtlCol="0" anchor="t">
            <a:normAutofit/>
          </a:bodyPr>
          <a:lstStyle/>
          <a:p>
            <a:pPr marL="0" indent="0" algn="l">
              <a:spcAft>
                <a:spcPts val="600"/>
              </a:spcAft>
              <a:tabLst/>
            </a:pPr>
            <a:r>
              <a:rPr lang="en-US" sz="1800" b="1" dirty="0">
                <a:solidFill>
                  <a:srgbClr val="F000D8"/>
                </a:solidFill>
                <a:latin typeface="Arial"/>
                <a:cs typeface="Arial"/>
              </a:rPr>
              <a:t>58%</a:t>
            </a:r>
          </a:p>
        </p:txBody>
      </p:sp>
      <p:sp>
        <p:nvSpPr>
          <p:cNvPr id="19" name="Metric label two 01">
            <a:extLst>
              <a:ext uri="{FF2B5EF4-FFF2-40B4-BE49-F238E27FC236}">
                <a16:creationId xmlns:a16="http://schemas.microsoft.com/office/drawing/2014/main" id="{24AE591A-A5AB-E343-9C3F-43DD2EA991F8}"/>
              </a:ext>
            </a:extLst>
          </p:cNvPr>
          <p:cNvSpPr txBox="1"/>
          <p:nvPr/>
        </p:nvSpPr>
        <p:spPr>
          <a:xfrm>
            <a:off x="2514600" y="4368800"/>
            <a:ext cx="1193800" cy="241300"/>
          </a:xfrm>
          <a:prstGeom prst="rect">
            <a:avLst/>
          </a:prstGeom>
          <a:noFill/>
        </p:spPr>
        <p:txBody>
          <a:bodyPr vertOverflow="overflow" vert="horz" wrap="square" lIns="0" tIns="0" rIns="0" bIns="0" rtlCol="0" anchor="t">
            <a:normAutofit/>
          </a:bodyPr>
          <a:lstStyle/>
          <a:p>
            <a:pPr marL="0" indent="0" algn="l">
              <a:spcAft>
                <a:spcPts val="600"/>
              </a:spcAft>
              <a:tabLst/>
            </a:pPr>
            <a:r>
              <a:rPr lang="en-US" sz="750" b="1">
                <a:solidFill>
                  <a:srgbClr val="0B075A"/>
                </a:solidFill>
                <a:latin typeface="Arial"/>
                <a:cs typeface="Arial"/>
              </a:rPr>
              <a:t>FASTER DELIVERY</a:t>
            </a:r>
            <a:endParaRPr lang="en-US" sz="750" b="1" dirty="0">
              <a:solidFill>
                <a:srgbClr val="0B075A"/>
              </a:solidFill>
              <a:latin typeface="Arial"/>
              <a:cs typeface="Arial"/>
            </a:endParaRPr>
          </a:p>
        </p:txBody>
      </p:sp>
      <p:sp>
        <p:nvSpPr>
          <p:cNvPr id="23" name="Value panel 01">
            <a:extLst>
              <a:ext uri="{FF2B5EF4-FFF2-40B4-BE49-F238E27FC236}">
                <a16:creationId xmlns:a16="http://schemas.microsoft.com/office/drawing/2014/main" id="{244F3823-EE61-864E-8CDE-DBEE4725ACB7}"/>
              </a:ext>
            </a:extLst>
          </p:cNvPr>
          <p:cNvSpPr/>
          <p:nvPr/>
        </p:nvSpPr>
        <p:spPr bwMode="auto">
          <a:xfrm>
            <a:off x="812800" y="4889500"/>
            <a:ext cx="3048000" cy="723900"/>
          </a:xfrm>
          <a:prstGeom prst="rect">
            <a:avLst/>
          </a:prstGeom>
          <a:solidFill>
            <a:srgbClr val="0B075A"/>
          </a:solidFill>
          <a:ln w="9525">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5" name="Value kicker 01">
            <a:extLst>
              <a:ext uri="{FF2B5EF4-FFF2-40B4-BE49-F238E27FC236}">
                <a16:creationId xmlns:a16="http://schemas.microsoft.com/office/drawing/2014/main" id="{9FCFBCB8-256A-1349-BAA2-851781655C01}"/>
              </a:ext>
            </a:extLst>
          </p:cNvPr>
          <p:cNvSpPr txBox="1"/>
          <p:nvPr/>
        </p:nvSpPr>
        <p:spPr>
          <a:xfrm>
            <a:off x="952500" y="5003800"/>
            <a:ext cx="27686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750" b="1">
                <a:solidFill>
                  <a:srgbClr val="F000D8"/>
                </a:solidFill>
                <a:latin typeface="Arial"/>
                <a:cs typeface="Arial"/>
              </a:rPr>
              <a:t>BUSINESS VALUE</a:t>
            </a:r>
            <a:endParaRPr lang="en-US" sz="750" b="1" dirty="0">
              <a:solidFill>
                <a:srgbClr val="F000D8"/>
              </a:solidFill>
              <a:latin typeface="Arial"/>
              <a:cs typeface="Arial"/>
            </a:endParaRPr>
          </a:p>
        </p:txBody>
      </p:sp>
      <p:sp>
        <p:nvSpPr>
          <p:cNvPr id="26" name="Value text 01">
            <a:extLst>
              <a:ext uri="{FF2B5EF4-FFF2-40B4-BE49-F238E27FC236}">
                <a16:creationId xmlns:a16="http://schemas.microsoft.com/office/drawing/2014/main" id="{FE7E10C5-E89E-534E-8B7D-6ED1C076781A}"/>
              </a:ext>
            </a:extLst>
          </p:cNvPr>
          <p:cNvSpPr txBox="1"/>
          <p:nvPr/>
        </p:nvSpPr>
        <p:spPr>
          <a:xfrm>
            <a:off x="952500" y="5207000"/>
            <a:ext cx="27686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880">
                <a:solidFill>
                  <a:srgbClr val="FFFFFF"/>
                </a:solidFill>
                <a:latin typeface="Arial"/>
                <a:cs typeface="Arial"/>
              </a:rPr>
              <a:t>Strengthened security and restored a maintainable delivery path while reducing deadline and release risk.</a:t>
            </a:r>
            <a:endParaRPr lang="en-US" sz="880" dirty="0">
              <a:solidFill>
                <a:srgbClr val="FFFFFF"/>
              </a:solidFill>
              <a:latin typeface="Arial"/>
              <a:cs typeface="Arial"/>
            </a:endParaRPr>
          </a:p>
        </p:txBody>
      </p:sp>
      <p:sp>
        <p:nvSpPr>
          <p:cNvPr id="27" name="Card 02">
            <a:extLst>
              <a:ext uri="{FF2B5EF4-FFF2-40B4-BE49-F238E27FC236}">
                <a16:creationId xmlns:a16="http://schemas.microsoft.com/office/drawing/2014/main" id="{922A42F7-871B-384D-B3D8-265BD236D1AA}"/>
              </a:ext>
            </a:extLst>
          </p:cNvPr>
          <p:cNvSpPr/>
          <p:nvPr/>
        </p:nvSpPr>
        <p:spPr bwMode="auto">
          <a:xfrm>
            <a:off x="4368800" y="1917700"/>
            <a:ext cx="3454400" cy="3873500"/>
          </a:xfrm>
          <a:prstGeom prst="rect">
            <a:avLst/>
          </a:prstGeom>
          <a:solidFill>
            <a:srgbClr val="FFFFFF"/>
          </a:solidFill>
          <a:ln w="12700">
            <a:solidFill>
              <a:srgbClr val="CBD6E6"/>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Card accent 02">
            <a:extLst>
              <a:ext uri="{FF2B5EF4-FFF2-40B4-BE49-F238E27FC236}">
                <a16:creationId xmlns:a16="http://schemas.microsoft.com/office/drawing/2014/main" id="{B519A29B-7E83-464B-BE2F-E08E3E704211}"/>
              </a:ext>
            </a:extLst>
          </p:cNvPr>
          <p:cNvSpPr/>
          <p:nvPr/>
        </p:nvSpPr>
        <p:spPr bwMode="auto">
          <a:xfrm>
            <a:off x="4368800" y="1917700"/>
            <a:ext cx="3454400" cy="88900"/>
          </a:xfrm>
          <a:prstGeom prst="rect">
            <a:avLst/>
          </a:prstGeom>
          <a:solidFill>
            <a:srgbClr val="0B075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Number 02">
            <a:extLst>
              <a:ext uri="{FF2B5EF4-FFF2-40B4-BE49-F238E27FC236}">
                <a16:creationId xmlns:a16="http://schemas.microsoft.com/office/drawing/2014/main" id="{225D11BD-3989-F940-B582-19079A9F0056}"/>
              </a:ext>
            </a:extLst>
          </p:cNvPr>
          <p:cNvSpPr txBox="1"/>
          <p:nvPr/>
        </p:nvSpPr>
        <p:spPr>
          <a:xfrm>
            <a:off x="4572000" y="2159000"/>
            <a:ext cx="3302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F000D8"/>
                </a:solidFill>
                <a:latin typeface="Arial"/>
                <a:cs typeface="Arial"/>
              </a:rPr>
              <a:t>02</a:t>
            </a:r>
            <a:endParaRPr lang="en-US" sz="950" b="1" dirty="0">
              <a:solidFill>
                <a:srgbClr val="F000D8"/>
              </a:solidFill>
              <a:latin typeface="Arial"/>
              <a:cs typeface="Arial"/>
            </a:endParaRPr>
          </a:p>
        </p:txBody>
      </p:sp>
      <p:sp>
        <p:nvSpPr>
          <p:cNvPr id="30" name="Story label 02">
            <a:extLst>
              <a:ext uri="{FF2B5EF4-FFF2-40B4-BE49-F238E27FC236}">
                <a16:creationId xmlns:a16="http://schemas.microsoft.com/office/drawing/2014/main" id="{B31EA6A4-DF0A-8D46-86A3-CB09D228A124}"/>
              </a:ext>
            </a:extLst>
          </p:cNvPr>
          <p:cNvSpPr txBox="1"/>
          <p:nvPr/>
        </p:nvSpPr>
        <p:spPr>
          <a:xfrm>
            <a:off x="4978400" y="2133600"/>
            <a:ext cx="2641600" cy="2413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B075A"/>
                </a:solidFill>
                <a:latin typeface="Arial"/>
                <a:cs typeface="Arial"/>
              </a:rPr>
              <a:t>INTERCONNECTION PLATFORM</a:t>
            </a:r>
            <a:endParaRPr lang="en-US" sz="950" b="1" dirty="0">
              <a:solidFill>
                <a:srgbClr val="0B075A"/>
              </a:solidFill>
              <a:latin typeface="Arial"/>
              <a:cs typeface="Arial"/>
            </a:endParaRPr>
          </a:p>
        </p:txBody>
      </p:sp>
      <p:sp>
        <p:nvSpPr>
          <p:cNvPr id="31" name="Client 02">
            <a:extLst>
              <a:ext uri="{FF2B5EF4-FFF2-40B4-BE49-F238E27FC236}">
                <a16:creationId xmlns:a16="http://schemas.microsoft.com/office/drawing/2014/main" id="{7FB30FE2-AF1B-8843-BF5B-3C379236ED20}"/>
              </a:ext>
            </a:extLst>
          </p:cNvPr>
          <p:cNvSpPr txBox="1"/>
          <p:nvPr/>
        </p:nvSpPr>
        <p:spPr>
          <a:xfrm>
            <a:off x="4572000" y="2425700"/>
            <a:ext cx="1917700" cy="254000"/>
          </a:xfrm>
          <a:prstGeom prst="rect">
            <a:avLst/>
          </a:prstGeom>
          <a:solidFill>
            <a:srgbClr val="EDF2FA"/>
          </a:solidFill>
          <a:ln>
            <a:noFill/>
          </a:ln>
        </p:spPr>
        <p:txBody>
          <a:bodyPr vertOverflow="overflow" vert="horz" wrap="none" lIns="0" tIns="0" rIns="0" bIns="0" rtlCol="0" anchor="ctr" anchorCtr="0">
            <a:normAutofit/>
          </a:bodyPr>
          <a:lstStyle/>
          <a:p>
            <a:pPr marL="0" indent="0" algn="l">
              <a:spcAft>
                <a:spcPts val="600"/>
              </a:spcAft>
              <a:tabLst/>
            </a:pPr>
            <a:r>
              <a:rPr lang="en-US" sz="800" b="1">
                <a:solidFill>
                  <a:srgbClr val="0B075A"/>
                </a:solidFill>
                <a:latin typeface="Arial"/>
                <a:cs typeface="Arial"/>
              </a:rPr>
              <a:t>Large investor-owned utility</a:t>
            </a:r>
            <a:endParaRPr lang="en-US" sz="800" b="1" dirty="0">
              <a:solidFill>
                <a:srgbClr val="0B075A"/>
              </a:solidFill>
              <a:latin typeface="Arial"/>
              <a:cs typeface="Arial"/>
            </a:endParaRPr>
          </a:p>
        </p:txBody>
      </p:sp>
      <p:sp>
        <p:nvSpPr>
          <p:cNvPr id="32" name="Headline 02">
            <a:extLst>
              <a:ext uri="{FF2B5EF4-FFF2-40B4-BE49-F238E27FC236}">
                <a16:creationId xmlns:a16="http://schemas.microsoft.com/office/drawing/2014/main" id="{9983A2D7-756A-C142-8CF4-8FA45E41A7EA}"/>
              </a:ext>
            </a:extLst>
          </p:cNvPr>
          <p:cNvSpPr txBox="1"/>
          <p:nvPr/>
        </p:nvSpPr>
        <p:spPr>
          <a:xfrm>
            <a:off x="4572000" y="2781300"/>
            <a:ext cx="3048000" cy="977900"/>
          </a:xfrm>
          <a:prstGeom prst="rect">
            <a:avLst/>
          </a:prstGeom>
          <a:noFill/>
        </p:spPr>
        <p:txBody>
          <a:bodyPr vertOverflow="overflow" vert="horz" wrap="square" lIns="0" tIns="0" rIns="0" bIns="0" rtlCol="0" anchor="t">
            <a:normAutofit/>
          </a:bodyPr>
          <a:lstStyle/>
          <a:p>
            <a:pPr marL="0" indent="0" algn="l">
              <a:spcAft>
                <a:spcPts val="600"/>
              </a:spcAft>
              <a:tabLst/>
            </a:pPr>
            <a:r>
              <a:rPr lang="en-US" sz="1220" b="1">
                <a:solidFill>
                  <a:srgbClr val="11113F"/>
                </a:solidFill>
                <a:latin typeface="Arial"/>
                <a:cs typeface="Arial"/>
              </a:rPr>
              <a:t>A mission-critical interconnection platform was modernized across six operating companies without disrupting service.</a:t>
            </a:r>
            <a:endParaRPr lang="en-US" sz="1220" b="1" dirty="0">
              <a:solidFill>
                <a:srgbClr val="11113F"/>
              </a:solidFill>
              <a:latin typeface="Arial"/>
              <a:cs typeface="Arial"/>
            </a:endParaRPr>
          </a:p>
        </p:txBody>
      </p:sp>
      <p:sp>
        <p:nvSpPr>
          <p:cNvPr id="33" name="Metric panel 02">
            <a:extLst>
              <a:ext uri="{FF2B5EF4-FFF2-40B4-BE49-F238E27FC236}">
                <a16:creationId xmlns:a16="http://schemas.microsoft.com/office/drawing/2014/main" id="{D1B3BC4D-DD9D-4F49-A980-A52013BD1CA5}"/>
              </a:ext>
            </a:extLst>
          </p:cNvPr>
          <p:cNvSpPr/>
          <p:nvPr/>
        </p:nvSpPr>
        <p:spPr bwMode="auto">
          <a:xfrm>
            <a:off x="4572000" y="3898900"/>
            <a:ext cx="3048000" cy="850900"/>
          </a:xfrm>
          <a:prstGeom prst="rect">
            <a:avLst/>
          </a:prstGeom>
          <a:solidFill>
            <a:srgbClr val="EDF2F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6" name="Metric one 02">
            <a:extLst>
              <a:ext uri="{FF2B5EF4-FFF2-40B4-BE49-F238E27FC236}">
                <a16:creationId xmlns:a16="http://schemas.microsoft.com/office/drawing/2014/main" id="{C9F470B0-37FE-504C-893D-CC4BCC786276}"/>
              </a:ext>
            </a:extLst>
          </p:cNvPr>
          <p:cNvSpPr txBox="1"/>
          <p:nvPr/>
        </p:nvSpPr>
        <p:spPr>
          <a:xfrm>
            <a:off x="4724400" y="4013200"/>
            <a:ext cx="1219200" cy="317500"/>
          </a:xfrm>
          <a:prstGeom prst="rect">
            <a:avLst/>
          </a:prstGeom>
          <a:noFill/>
        </p:spPr>
        <p:txBody>
          <a:bodyPr vertOverflow="overflow" vert="horz" wrap="square" lIns="0" tIns="0" rIns="0" bIns="0" rtlCol="0" anchor="t">
            <a:normAutofit/>
          </a:bodyPr>
          <a:lstStyle/>
          <a:p>
            <a:pPr marL="0" indent="0" algn="l">
              <a:spcAft>
                <a:spcPts val="600"/>
              </a:spcAft>
              <a:tabLst/>
            </a:pPr>
            <a:r>
              <a:rPr lang="en-US" sz="1800" b="1">
                <a:solidFill>
                  <a:srgbClr val="F000D8"/>
                </a:solidFill>
                <a:latin typeface="Arial"/>
                <a:cs typeface="Arial"/>
              </a:rPr>
              <a:t>6</a:t>
            </a:r>
            <a:endParaRPr lang="en-US" sz="1800" b="1" dirty="0">
              <a:solidFill>
                <a:srgbClr val="F000D8"/>
              </a:solidFill>
              <a:latin typeface="Arial"/>
              <a:cs typeface="Arial"/>
            </a:endParaRPr>
          </a:p>
        </p:txBody>
      </p:sp>
      <p:sp>
        <p:nvSpPr>
          <p:cNvPr id="38" name="Metric label one 02">
            <a:extLst>
              <a:ext uri="{FF2B5EF4-FFF2-40B4-BE49-F238E27FC236}">
                <a16:creationId xmlns:a16="http://schemas.microsoft.com/office/drawing/2014/main" id="{7DC80982-A8A9-8046-B08A-ABA25AF6CB0C}"/>
              </a:ext>
            </a:extLst>
          </p:cNvPr>
          <p:cNvSpPr txBox="1"/>
          <p:nvPr/>
        </p:nvSpPr>
        <p:spPr>
          <a:xfrm>
            <a:off x="4724400" y="4368800"/>
            <a:ext cx="1219200" cy="241300"/>
          </a:xfrm>
          <a:prstGeom prst="rect">
            <a:avLst/>
          </a:prstGeom>
          <a:noFill/>
        </p:spPr>
        <p:txBody>
          <a:bodyPr vertOverflow="overflow" vert="horz" wrap="square" lIns="0" tIns="0" rIns="0" bIns="0" rtlCol="0" anchor="t">
            <a:normAutofit/>
          </a:bodyPr>
          <a:lstStyle/>
          <a:p>
            <a:pPr marL="0" indent="0" algn="l">
              <a:spcAft>
                <a:spcPts val="600"/>
              </a:spcAft>
              <a:tabLst/>
            </a:pPr>
            <a:r>
              <a:rPr lang="en-US" sz="750" b="1">
                <a:solidFill>
                  <a:srgbClr val="0B075A"/>
                </a:solidFill>
                <a:latin typeface="Arial"/>
                <a:cs typeface="Arial"/>
              </a:rPr>
              <a:t>OPERATING COS.</a:t>
            </a:r>
            <a:endParaRPr lang="en-US" sz="750" b="1" dirty="0">
              <a:solidFill>
                <a:srgbClr val="0B075A"/>
              </a:solidFill>
              <a:latin typeface="Arial"/>
              <a:cs typeface="Arial"/>
            </a:endParaRPr>
          </a:p>
        </p:txBody>
      </p:sp>
      <p:sp>
        <p:nvSpPr>
          <p:cNvPr id="39" name="Metric divider 02">
            <a:extLst>
              <a:ext uri="{FF2B5EF4-FFF2-40B4-BE49-F238E27FC236}">
                <a16:creationId xmlns:a16="http://schemas.microsoft.com/office/drawing/2014/main" id="{5509151D-9C3A-E04B-8E48-A22A7A41DC93}"/>
              </a:ext>
            </a:extLst>
          </p:cNvPr>
          <p:cNvSpPr/>
          <p:nvPr/>
        </p:nvSpPr>
        <p:spPr bwMode="auto">
          <a:xfrm>
            <a:off x="6083300" y="4038600"/>
            <a:ext cx="12700" cy="54610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0" name="Metric two 02">
            <a:extLst>
              <a:ext uri="{FF2B5EF4-FFF2-40B4-BE49-F238E27FC236}">
                <a16:creationId xmlns:a16="http://schemas.microsoft.com/office/drawing/2014/main" id="{A3F42743-9F10-F046-A178-988A05961DFA}"/>
              </a:ext>
            </a:extLst>
          </p:cNvPr>
          <p:cNvSpPr txBox="1"/>
          <p:nvPr/>
        </p:nvSpPr>
        <p:spPr>
          <a:xfrm>
            <a:off x="6273800" y="4013200"/>
            <a:ext cx="1193800" cy="317500"/>
          </a:xfrm>
          <a:prstGeom prst="rect">
            <a:avLst/>
          </a:prstGeom>
          <a:noFill/>
        </p:spPr>
        <p:txBody>
          <a:bodyPr vertOverflow="overflow" vert="horz" wrap="square" lIns="0" tIns="0" rIns="0" bIns="0" rtlCol="0" anchor="t">
            <a:normAutofit/>
          </a:bodyPr>
          <a:lstStyle/>
          <a:p>
            <a:pPr marL="0" indent="0" algn="l">
              <a:spcAft>
                <a:spcPts val="600"/>
              </a:spcAft>
              <a:tabLst/>
            </a:pPr>
            <a:r>
              <a:rPr lang="en-US" sz="1800" b="1" dirty="0">
                <a:solidFill>
                  <a:srgbClr val="F000D8"/>
                </a:solidFill>
                <a:latin typeface="Arial"/>
                <a:cs typeface="Arial"/>
              </a:rPr>
              <a:t>~700K</a:t>
            </a:r>
          </a:p>
        </p:txBody>
      </p:sp>
      <p:sp>
        <p:nvSpPr>
          <p:cNvPr id="43" name="Metric label two 02">
            <a:extLst>
              <a:ext uri="{FF2B5EF4-FFF2-40B4-BE49-F238E27FC236}">
                <a16:creationId xmlns:a16="http://schemas.microsoft.com/office/drawing/2014/main" id="{3671C0BD-AE2F-BF41-95A9-E3724FDF9A4B}"/>
              </a:ext>
            </a:extLst>
          </p:cNvPr>
          <p:cNvSpPr txBox="1"/>
          <p:nvPr/>
        </p:nvSpPr>
        <p:spPr>
          <a:xfrm>
            <a:off x="6273800" y="4368800"/>
            <a:ext cx="1193800" cy="241300"/>
          </a:xfrm>
          <a:prstGeom prst="rect">
            <a:avLst/>
          </a:prstGeom>
          <a:noFill/>
        </p:spPr>
        <p:txBody>
          <a:bodyPr vertOverflow="overflow" vert="horz" wrap="square" lIns="0" tIns="0" rIns="0" bIns="0" rtlCol="0" anchor="t">
            <a:normAutofit/>
          </a:bodyPr>
          <a:lstStyle/>
          <a:p>
            <a:pPr marL="0" indent="0" algn="l">
              <a:spcAft>
                <a:spcPts val="600"/>
              </a:spcAft>
              <a:tabLst/>
            </a:pPr>
            <a:r>
              <a:rPr lang="en-US" sz="750" b="1">
                <a:solidFill>
                  <a:srgbClr val="0B075A"/>
                </a:solidFill>
                <a:latin typeface="Arial"/>
                <a:cs typeface="Arial"/>
              </a:rPr>
              <a:t>LINES MODERNIZED</a:t>
            </a:r>
            <a:endParaRPr lang="en-US" sz="750" b="1" dirty="0">
              <a:solidFill>
                <a:srgbClr val="0B075A"/>
              </a:solidFill>
              <a:latin typeface="Arial"/>
              <a:cs typeface="Arial"/>
            </a:endParaRPr>
          </a:p>
        </p:txBody>
      </p:sp>
      <p:sp>
        <p:nvSpPr>
          <p:cNvPr id="44" name="Value panel 02">
            <a:extLst>
              <a:ext uri="{FF2B5EF4-FFF2-40B4-BE49-F238E27FC236}">
                <a16:creationId xmlns:a16="http://schemas.microsoft.com/office/drawing/2014/main" id="{D9624B01-5DF3-6244-AAA5-2C99114B3396}"/>
              </a:ext>
            </a:extLst>
          </p:cNvPr>
          <p:cNvSpPr/>
          <p:nvPr/>
        </p:nvSpPr>
        <p:spPr bwMode="auto">
          <a:xfrm>
            <a:off x="4572000" y="4889500"/>
            <a:ext cx="3048000" cy="723900"/>
          </a:xfrm>
          <a:prstGeom prst="rect">
            <a:avLst/>
          </a:prstGeom>
          <a:solidFill>
            <a:srgbClr val="0B075A"/>
          </a:solidFill>
          <a:ln w="9525">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5" name="Value kicker 02">
            <a:extLst>
              <a:ext uri="{FF2B5EF4-FFF2-40B4-BE49-F238E27FC236}">
                <a16:creationId xmlns:a16="http://schemas.microsoft.com/office/drawing/2014/main" id="{89FCC086-29EB-2546-B568-0F7AA97907FB}"/>
              </a:ext>
            </a:extLst>
          </p:cNvPr>
          <p:cNvSpPr txBox="1"/>
          <p:nvPr/>
        </p:nvSpPr>
        <p:spPr>
          <a:xfrm>
            <a:off x="4711700" y="5003800"/>
            <a:ext cx="27686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750" b="1">
                <a:solidFill>
                  <a:srgbClr val="F000D8"/>
                </a:solidFill>
                <a:latin typeface="Arial"/>
                <a:cs typeface="Arial"/>
              </a:rPr>
              <a:t>BUSINESS VALUE</a:t>
            </a:r>
            <a:endParaRPr lang="en-US" sz="750" b="1" dirty="0">
              <a:solidFill>
                <a:srgbClr val="F000D8"/>
              </a:solidFill>
              <a:latin typeface="Arial"/>
              <a:cs typeface="Arial"/>
            </a:endParaRPr>
          </a:p>
        </p:txBody>
      </p:sp>
      <p:sp>
        <p:nvSpPr>
          <p:cNvPr id="46" name="Value text 02">
            <a:extLst>
              <a:ext uri="{FF2B5EF4-FFF2-40B4-BE49-F238E27FC236}">
                <a16:creationId xmlns:a16="http://schemas.microsoft.com/office/drawing/2014/main" id="{139305E1-4816-D644-96CC-E59CB79636A3}"/>
              </a:ext>
            </a:extLst>
          </p:cNvPr>
          <p:cNvSpPr txBox="1"/>
          <p:nvPr/>
        </p:nvSpPr>
        <p:spPr>
          <a:xfrm>
            <a:off x="4711700" y="5207000"/>
            <a:ext cx="2768600" cy="330200"/>
          </a:xfrm>
          <a:prstGeom prst="rect">
            <a:avLst/>
          </a:prstGeom>
          <a:noFill/>
        </p:spPr>
        <p:txBody>
          <a:bodyPr vertOverflow="overflow" vert="horz" wrap="square" lIns="0" tIns="0" rIns="0" bIns="0" rtlCol="0" anchor="t">
            <a:normAutofit fontScale="92500" lnSpcReduction="10000"/>
          </a:bodyPr>
          <a:lstStyle/>
          <a:p>
            <a:pPr marL="0" indent="0" algn="l">
              <a:spcAft>
                <a:spcPts val="600"/>
              </a:spcAft>
              <a:tabLst/>
            </a:pPr>
            <a:r>
              <a:rPr lang="en-US" sz="880">
                <a:solidFill>
                  <a:srgbClr val="FFFFFF"/>
                </a:solidFill>
                <a:latin typeface="Arial"/>
                <a:cs typeface="Arial"/>
              </a:rPr>
              <a:t>Protected critical workflows, reduced cutover risk, and created a scalable foundation for future interconnection demand.</a:t>
            </a:r>
            <a:endParaRPr lang="en-US" sz="880" dirty="0">
              <a:solidFill>
                <a:srgbClr val="FFFFFF"/>
              </a:solidFill>
              <a:latin typeface="Arial"/>
              <a:cs typeface="Arial"/>
            </a:endParaRPr>
          </a:p>
        </p:txBody>
      </p:sp>
      <p:sp>
        <p:nvSpPr>
          <p:cNvPr id="47" name="Card 03">
            <a:extLst>
              <a:ext uri="{FF2B5EF4-FFF2-40B4-BE49-F238E27FC236}">
                <a16:creationId xmlns:a16="http://schemas.microsoft.com/office/drawing/2014/main" id="{C6A2F6B8-1F29-174E-B521-1550BFDFC15A}"/>
              </a:ext>
            </a:extLst>
          </p:cNvPr>
          <p:cNvSpPr/>
          <p:nvPr/>
        </p:nvSpPr>
        <p:spPr bwMode="auto">
          <a:xfrm>
            <a:off x="8128000" y="1917700"/>
            <a:ext cx="3454400" cy="3873500"/>
          </a:xfrm>
          <a:prstGeom prst="rect">
            <a:avLst/>
          </a:prstGeom>
          <a:solidFill>
            <a:srgbClr val="FFFFFF"/>
          </a:solidFill>
          <a:ln w="12700">
            <a:solidFill>
              <a:srgbClr val="CBD6E6"/>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8" name="Card accent 03">
            <a:extLst>
              <a:ext uri="{FF2B5EF4-FFF2-40B4-BE49-F238E27FC236}">
                <a16:creationId xmlns:a16="http://schemas.microsoft.com/office/drawing/2014/main" id="{881BCA9D-CD09-164B-82F3-8A9797265E63}"/>
              </a:ext>
            </a:extLst>
          </p:cNvPr>
          <p:cNvSpPr/>
          <p:nvPr/>
        </p:nvSpPr>
        <p:spPr bwMode="auto">
          <a:xfrm>
            <a:off x="8128000" y="1917700"/>
            <a:ext cx="3454400" cy="88900"/>
          </a:xfrm>
          <a:prstGeom prst="rect">
            <a:avLst/>
          </a:prstGeom>
          <a:solidFill>
            <a:srgbClr val="0B075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9" name="Number 03">
            <a:extLst>
              <a:ext uri="{FF2B5EF4-FFF2-40B4-BE49-F238E27FC236}">
                <a16:creationId xmlns:a16="http://schemas.microsoft.com/office/drawing/2014/main" id="{04E8D80C-AAB1-0B4A-BC3E-74FB013716AA}"/>
              </a:ext>
            </a:extLst>
          </p:cNvPr>
          <p:cNvSpPr txBox="1"/>
          <p:nvPr/>
        </p:nvSpPr>
        <p:spPr>
          <a:xfrm>
            <a:off x="8331200" y="2159000"/>
            <a:ext cx="3302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F000D8"/>
                </a:solidFill>
                <a:latin typeface="Arial"/>
                <a:cs typeface="Arial"/>
              </a:rPr>
              <a:t>03</a:t>
            </a:r>
            <a:endParaRPr lang="en-US" sz="950" b="1" dirty="0">
              <a:solidFill>
                <a:srgbClr val="F000D8"/>
              </a:solidFill>
              <a:latin typeface="Arial"/>
              <a:cs typeface="Arial"/>
            </a:endParaRPr>
          </a:p>
        </p:txBody>
      </p:sp>
      <p:sp>
        <p:nvSpPr>
          <p:cNvPr id="50" name="Story label 03">
            <a:extLst>
              <a:ext uri="{FF2B5EF4-FFF2-40B4-BE49-F238E27FC236}">
                <a16:creationId xmlns:a16="http://schemas.microsoft.com/office/drawing/2014/main" id="{1EDB9D44-CC86-B748-A886-002D5E3D9702}"/>
              </a:ext>
            </a:extLst>
          </p:cNvPr>
          <p:cNvSpPr txBox="1"/>
          <p:nvPr/>
        </p:nvSpPr>
        <p:spPr>
          <a:xfrm>
            <a:off x="8737600" y="2133600"/>
            <a:ext cx="2641600" cy="2413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B075A"/>
                </a:solidFill>
                <a:latin typeface="Arial"/>
                <a:cs typeface="Arial"/>
              </a:rPr>
              <a:t>COMPLIANCE REPORTING PLATFORM</a:t>
            </a:r>
            <a:endParaRPr lang="en-US" sz="950" b="1" dirty="0">
              <a:solidFill>
                <a:srgbClr val="0B075A"/>
              </a:solidFill>
              <a:latin typeface="Arial"/>
              <a:cs typeface="Arial"/>
            </a:endParaRPr>
          </a:p>
        </p:txBody>
      </p:sp>
      <p:sp>
        <p:nvSpPr>
          <p:cNvPr id="51" name="Client 03">
            <a:extLst>
              <a:ext uri="{FF2B5EF4-FFF2-40B4-BE49-F238E27FC236}">
                <a16:creationId xmlns:a16="http://schemas.microsoft.com/office/drawing/2014/main" id="{41EA2000-B1D8-894A-A7CD-2F0F1655A9D4}"/>
              </a:ext>
            </a:extLst>
          </p:cNvPr>
          <p:cNvSpPr txBox="1"/>
          <p:nvPr/>
        </p:nvSpPr>
        <p:spPr>
          <a:xfrm>
            <a:off x="8331200" y="2425700"/>
            <a:ext cx="2146300" cy="254000"/>
          </a:xfrm>
          <a:prstGeom prst="rect">
            <a:avLst/>
          </a:prstGeom>
          <a:solidFill>
            <a:srgbClr val="EDF2FA"/>
          </a:solidFill>
          <a:ln>
            <a:noFill/>
          </a:ln>
        </p:spPr>
        <p:txBody>
          <a:bodyPr vertOverflow="overflow" vert="horz" wrap="none" lIns="0" tIns="0" rIns="0" bIns="0" rtlCol="0" anchor="ctr" anchorCtr="0">
            <a:normAutofit/>
          </a:bodyPr>
          <a:lstStyle/>
          <a:p>
            <a:pPr marL="0" indent="0" algn="l">
              <a:spcAft>
                <a:spcPts val="600"/>
              </a:spcAft>
              <a:tabLst/>
            </a:pPr>
            <a:r>
              <a:rPr lang="en-US" sz="800" b="1">
                <a:solidFill>
                  <a:srgbClr val="0B075A"/>
                </a:solidFill>
                <a:latin typeface="Arial"/>
                <a:cs typeface="Arial"/>
              </a:rPr>
              <a:t>HR compliance software provider</a:t>
            </a:r>
            <a:endParaRPr lang="en-US" sz="800" b="1" dirty="0">
              <a:solidFill>
                <a:srgbClr val="0B075A"/>
              </a:solidFill>
              <a:latin typeface="Arial"/>
              <a:cs typeface="Arial"/>
            </a:endParaRPr>
          </a:p>
        </p:txBody>
      </p:sp>
      <p:sp>
        <p:nvSpPr>
          <p:cNvPr id="52" name="Headline 03">
            <a:extLst>
              <a:ext uri="{FF2B5EF4-FFF2-40B4-BE49-F238E27FC236}">
                <a16:creationId xmlns:a16="http://schemas.microsoft.com/office/drawing/2014/main" id="{6477B769-2950-FE4E-8E4E-D1131C724A01}"/>
              </a:ext>
            </a:extLst>
          </p:cNvPr>
          <p:cNvSpPr txBox="1"/>
          <p:nvPr/>
        </p:nvSpPr>
        <p:spPr>
          <a:xfrm>
            <a:off x="8331200" y="2781300"/>
            <a:ext cx="3048000" cy="977900"/>
          </a:xfrm>
          <a:prstGeom prst="rect">
            <a:avLst/>
          </a:prstGeom>
          <a:noFill/>
        </p:spPr>
        <p:txBody>
          <a:bodyPr vertOverflow="overflow" vert="horz" wrap="square" lIns="0" tIns="0" rIns="0" bIns="0" rtlCol="0" anchor="t">
            <a:normAutofit/>
          </a:bodyPr>
          <a:lstStyle/>
          <a:p>
            <a:pPr marL="0" indent="0" algn="l">
              <a:spcAft>
                <a:spcPts val="600"/>
              </a:spcAft>
              <a:tabLst/>
            </a:pPr>
            <a:r>
              <a:rPr lang="en-US" sz="1220" b="1">
                <a:solidFill>
                  <a:srgbClr val="11113F"/>
                </a:solidFill>
                <a:latin typeface="Arial"/>
                <a:cs typeface="Arial"/>
              </a:rPr>
              <a:t>A legacy compliance platform was redesigned to deliver customer reports faster and at lower operating cost.</a:t>
            </a:r>
            <a:endParaRPr lang="en-US" sz="1220" b="1" dirty="0">
              <a:solidFill>
                <a:srgbClr val="11113F"/>
              </a:solidFill>
              <a:latin typeface="Arial"/>
              <a:cs typeface="Arial"/>
            </a:endParaRPr>
          </a:p>
        </p:txBody>
      </p:sp>
      <p:sp>
        <p:nvSpPr>
          <p:cNvPr id="53" name="Metric panel 03">
            <a:extLst>
              <a:ext uri="{FF2B5EF4-FFF2-40B4-BE49-F238E27FC236}">
                <a16:creationId xmlns:a16="http://schemas.microsoft.com/office/drawing/2014/main" id="{35520E96-53F0-D743-AC96-11551EA69546}"/>
              </a:ext>
            </a:extLst>
          </p:cNvPr>
          <p:cNvSpPr/>
          <p:nvPr/>
        </p:nvSpPr>
        <p:spPr bwMode="auto">
          <a:xfrm>
            <a:off x="8331200" y="3898900"/>
            <a:ext cx="3048000" cy="850900"/>
          </a:xfrm>
          <a:prstGeom prst="rect">
            <a:avLst/>
          </a:prstGeom>
          <a:solidFill>
            <a:srgbClr val="EDF2F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4" name="Metric one 03">
            <a:extLst>
              <a:ext uri="{FF2B5EF4-FFF2-40B4-BE49-F238E27FC236}">
                <a16:creationId xmlns:a16="http://schemas.microsoft.com/office/drawing/2014/main" id="{858EBF7D-7091-D746-9DEA-641C6714D001}"/>
              </a:ext>
            </a:extLst>
          </p:cNvPr>
          <p:cNvSpPr txBox="1"/>
          <p:nvPr/>
        </p:nvSpPr>
        <p:spPr>
          <a:xfrm>
            <a:off x="8483600" y="4013200"/>
            <a:ext cx="1219200" cy="317500"/>
          </a:xfrm>
          <a:prstGeom prst="rect">
            <a:avLst/>
          </a:prstGeom>
          <a:noFill/>
        </p:spPr>
        <p:txBody>
          <a:bodyPr vertOverflow="overflow" vert="horz" wrap="square" lIns="0" tIns="0" rIns="0" bIns="0" rtlCol="0" anchor="t">
            <a:normAutofit/>
          </a:bodyPr>
          <a:lstStyle/>
          <a:p>
            <a:pPr marL="0" indent="0" algn="l">
              <a:spcAft>
                <a:spcPts val="600"/>
              </a:spcAft>
              <a:tabLst/>
            </a:pPr>
            <a:r>
              <a:rPr lang="en-US" sz="1800" b="1" dirty="0">
                <a:solidFill>
                  <a:srgbClr val="F000D8"/>
                </a:solidFill>
                <a:latin typeface="Arial"/>
                <a:cs typeface="Arial"/>
              </a:rPr>
              <a:t>65%</a:t>
            </a:r>
          </a:p>
        </p:txBody>
      </p:sp>
      <p:sp>
        <p:nvSpPr>
          <p:cNvPr id="55" name="Metric label one 03">
            <a:extLst>
              <a:ext uri="{FF2B5EF4-FFF2-40B4-BE49-F238E27FC236}">
                <a16:creationId xmlns:a16="http://schemas.microsoft.com/office/drawing/2014/main" id="{BAB388EA-A68C-D741-8DEA-C9E7A7EA4808}"/>
              </a:ext>
            </a:extLst>
          </p:cNvPr>
          <p:cNvSpPr txBox="1"/>
          <p:nvPr/>
        </p:nvSpPr>
        <p:spPr>
          <a:xfrm>
            <a:off x="8483600" y="4368800"/>
            <a:ext cx="1219200" cy="241300"/>
          </a:xfrm>
          <a:prstGeom prst="rect">
            <a:avLst/>
          </a:prstGeom>
          <a:noFill/>
        </p:spPr>
        <p:txBody>
          <a:bodyPr vertOverflow="overflow" vert="horz" wrap="square" lIns="0" tIns="0" rIns="0" bIns="0" rtlCol="0" anchor="t">
            <a:normAutofit/>
          </a:bodyPr>
          <a:lstStyle/>
          <a:p>
            <a:pPr marL="0" indent="0" algn="l">
              <a:spcAft>
                <a:spcPts val="600"/>
              </a:spcAft>
              <a:tabLst/>
            </a:pPr>
            <a:r>
              <a:rPr lang="en-US" sz="750" b="1">
                <a:solidFill>
                  <a:srgbClr val="0B075A"/>
                </a:solidFill>
                <a:latin typeface="Arial"/>
                <a:cs typeface="Arial"/>
              </a:rPr>
              <a:t>FASTER REPORTS</a:t>
            </a:r>
            <a:endParaRPr lang="en-US" sz="750" b="1" dirty="0">
              <a:solidFill>
                <a:srgbClr val="0B075A"/>
              </a:solidFill>
              <a:latin typeface="Arial"/>
              <a:cs typeface="Arial"/>
            </a:endParaRPr>
          </a:p>
        </p:txBody>
      </p:sp>
      <p:sp>
        <p:nvSpPr>
          <p:cNvPr id="56" name="Metric divider 03">
            <a:extLst>
              <a:ext uri="{FF2B5EF4-FFF2-40B4-BE49-F238E27FC236}">
                <a16:creationId xmlns:a16="http://schemas.microsoft.com/office/drawing/2014/main" id="{6BE7CA2B-C7A7-924D-9816-C59A4423156E}"/>
              </a:ext>
            </a:extLst>
          </p:cNvPr>
          <p:cNvSpPr/>
          <p:nvPr/>
        </p:nvSpPr>
        <p:spPr bwMode="auto">
          <a:xfrm>
            <a:off x="9842500" y="4038600"/>
            <a:ext cx="12700" cy="54610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7" name="Metric two 03">
            <a:extLst>
              <a:ext uri="{FF2B5EF4-FFF2-40B4-BE49-F238E27FC236}">
                <a16:creationId xmlns:a16="http://schemas.microsoft.com/office/drawing/2014/main" id="{1B2E6113-2D75-7E45-B13B-AF4BAA5FB5F2}"/>
              </a:ext>
            </a:extLst>
          </p:cNvPr>
          <p:cNvSpPr txBox="1"/>
          <p:nvPr/>
        </p:nvSpPr>
        <p:spPr>
          <a:xfrm>
            <a:off x="10033000" y="4013200"/>
            <a:ext cx="1193800" cy="317500"/>
          </a:xfrm>
          <a:prstGeom prst="rect">
            <a:avLst/>
          </a:prstGeom>
          <a:noFill/>
        </p:spPr>
        <p:txBody>
          <a:bodyPr vertOverflow="overflow" vert="horz" wrap="square" lIns="0" tIns="0" rIns="0" bIns="0" rtlCol="0" anchor="t">
            <a:normAutofit/>
          </a:bodyPr>
          <a:lstStyle/>
          <a:p>
            <a:pPr marL="0" indent="0" algn="l">
              <a:spcAft>
                <a:spcPts val="600"/>
              </a:spcAft>
              <a:tabLst/>
            </a:pPr>
            <a:r>
              <a:rPr lang="en-US" sz="1800" b="1">
                <a:solidFill>
                  <a:srgbClr val="F000D8"/>
                </a:solidFill>
                <a:latin typeface="Arial"/>
                <a:cs typeface="Arial"/>
              </a:rPr>
              <a:t>$30K</a:t>
            </a:r>
            <a:endParaRPr lang="en-US" sz="1800" b="1" dirty="0">
              <a:solidFill>
                <a:srgbClr val="F000D8"/>
              </a:solidFill>
              <a:latin typeface="Arial"/>
              <a:cs typeface="Arial"/>
            </a:endParaRPr>
          </a:p>
        </p:txBody>
      </p:sp>
      <p:sp>
        <p:nvSpPr>
          <p:cNvPr id="58" name="Metric label two 03">
            <a:extLst>
              <a:ext uri="{FF2B5EF4-FFF2-40B4-BE49-F238E27FC236}">
                <a16:creationId xmlns:a16="http://schemas.microsoft.com/office/drawing/2014/main" id="{6846AEC4-F81C-C647-91CF-252FE5E9B022}"/>
              </a:ext>
            </a:extLst>
          </p:cNvPr>
          <p:cNvSpPr txBox="1"/>
          <p:nvPr/>
        </p:nvSpPr>
        <p:spPr>
          <a:xfrm>
            <a:off x="10033000" y="4368800"/>
            <a:ext cx="1193800" cy="241300"/>
          </a:xfrm>
          <a:prstGeom prst="rect">
            <a:avLst/>
          </a:prstGeom>
          <a:noFill/>
        </p:spPr>
        <p:txBody>
          <a:bodyPr vertOverflow="overflow" vert="horz" wrap="square" lIns="0" tIns="0" rIns="0" bIns="0" rtlCol="0" anchor="t">
            <a:normAutofit/>
          </a:bodyPr>
          <a:lstStyle/>
          <a:p>
            <a:pPr marL="0" indent="0" algn="l">
              <a:spcAft>
                <a:spcPts val="600"/>
              </a:spcAft>
              <a:tabLst/>
            </a:pPr>
            <a:r>
              <a:rPr lang="en-US" sz="750" b="1">
                <a:solidFill>
                  <a:srgbClr val="0B075A"/>
                </a:solidFill>
                <a:latin typeface="Arial"/>
                <a:cs typeface="Arial"/>
              </a:rPr>
              <a:t>AVG. SAVINGS / CLIENT</a:t>
            </a:r>
            <a:endParaRPr lang="en-US" sz="750" b="1" dirty="0">
              <a:solidFill>
                <a:srgbClr val="0B075A"/>
              </a:solidFill>
              <a:latin typeface="Arial"/>
              <a:cs typeface="Arial"/>
            </a:endParaRPr>
          </a:p>
        </p:txBody>
      </p:sp>
      <p:sp>
        <p:nvSpPr>
          <p:cNvPr id="59" name="Value panel 03">
            <a:extLst>
              <a:ext uri="{FF2B5EF4-FFF2-40B4-BE49-F238E27FC236}">
                <a16:creationId xmlns:a16="http://schemas.microsoft.com/office/drawing/2014/main" id="{928FAAB0-EEB6-ED41-A6A7-4BA60549B550}"/>
              </a:ext>
            </a:extLst>
          </p:cNvPr>
          <p:cNvSpPr/>
          <p:nvPr/>
        </p:nvSpPr>
        <p:spPr bwMode="auto">
          <a:xfrm>
            <a:off x="8331200" y="4889500"/>
            <a:ext cx="3048000" cy="723900"/>
          </a:xfrm>
          <a:prstGeom prst="rect">
            <a:avLst/>
          </a:prstGeom>
          <a:solidFill>
            <a:srgbClr val="0B075A"/>
          </a:solidFill>
          <a:ln w="9525">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0" name="Value kicker 03">
            <a:extLst>
              <a:ext uri="{FF2B5EF4-FFF2-40B4-BE49-F238E27FC236}">
                <a16:creationId xmlns:a16="http://schemas.microsoft.com/office/drawing/2014/main" id="{198108D3-CC41-D246-898A-A6E164420A3E}"/>
              </a:ext>
            </a:extLst>
          </p:cNvPr>
          <p:cNvSpPr txBox="1"/>
          <p:nvPr/>
        </p:nvSpPr>
        <p:spPr>
          <a:xfrm>
            <a:off x="8470900" y="5003800"/>
            <a:ext cx="27686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750" b="1">
                <a:solidFill>
                  <a:srgbClr val="F000D8"/>
                </a:solidFill>
                <a:latin typeface="Arial"/>
                <a:cs typeface="Arial"/>
              </a:rPr>
              <a:t>BUSINESS VALUE</a:t>
            </a:r>
            <a:endParaRPr lang="en-US" sz="750" b="1" dirty="0">
              <a:solidFill>
                <a:srgbClr val="F000D8"/>
              </a:solidFill>
              <a:latin typeface="Arial"/>
              <a:cs typeface="Arial"/>
            </a:endParaRPr>
          </a:p>
        </p:txBody>
      </p:sp>
      <p:sp>
        <p:nvSpPr>
          <p:cNvPr id="61" name="Value text 03">
            <a:extLst>
              <a:ext uri="{FF2B5EF4-FFF2-40B4-BE49-F238E27FC236}">
                <a16:creationId xmlns:a16="http://schemas.microsoft.com/office/drawing/2014/main" id="{1F1D8348-9170-7241-8711-343EE826112F}"/>
              </a:ext>
            </a:extLst>
          </p:cNvPr>
          <p:cNvSpPr txBox="1"/>
          <p:nvPr/>
        </p:nvSpPr>
        <p:spPr>
          <a:xfrm>
            <a:off x="8470900" y="5207000"/>
            <a:ext cx="2768600" cy="330200"/>
          </a:xfrm>
          <a:prstGeom prst="rect">
            <a:avLst/>
          </a:prstGeom>
          <a:noFill/>
        </p:spPr>
        <p:txBody>
          <a:bodyPr vertOverflow="overflow" vert="horz" wrap="square" lIns="0" tIns="0" rIns="0" bIns="0" rtlCol="0" anchor="t">
            <a:normAutofit fontScale="92500"/>
          </a:bodyPr>
          <a:lstStyle/>
          <a:p>
            <a:pPr marL="0" indent="0" algn="l">
              <a:spcAft>
                <a:spcPts val="600"/>
              </a:spcAft>
              <a:tabLst/>
            </a:pPr>
            <a:r>
              <a:rPr lang="en-US" sz="880">
                <a:solidFill>
                  <a:srgbClr val="FFFFFF"/>
                </a:solidFill>
                <a:latin typeface="Arial"/>
                <a:cs typeface="Arial"/>
              </a:rPr>
              <a:t>Reduced consultant effort, accelerated customer reporting, and established a scalable cloud platform for growth.</a:t>
            </a:r>
            <a:endParaRPr lang="en-US" sz="880" dirty="0">
              <a:solidFill>
                <a:srgbClr val="FFFFFF"/>
              </a:solidFill>
              <a:latin typeface="Arial"/>
              <a:cs typeface="Arial"/>
            </a:endParaRPr>
          </a:p>
        </p:txBody>
      </p:sp>
      <p:sp>
        <p:nvSpPr>
          <p:cNvPr id="62" name="Source note">
            <a:extLst>
              <a:ext uri="{FF2B5EF4-FFF2-40B4-BE49-F238E27FC236}">
                <a16:creationId xmlns:a16="http://schemas.microsoft.com/office/drawing/2014/main" id="{29730225-1787-444F-9E7A-71C1F9C2BED9}"/>
              </a:ext>
            </a:extLst>
          </p:cNvPr>
          <p:cNvSpPr txBox="1"/>
          <p:nvPr/>
        </p:nvSpPr>
        <p:spPr>
          <a:xfrm>
            <a:off x="609600" y="5943600"/>
            <a:ext cx="10972800" cy="215900"/>
          </a:xfrm>
          <a:prstGeom prst="rect">
            <a:avLst/>
          </a:prstGeom>
          <a:noFill/>
        </p:spPr>
        <p:txBody>
          <a:bodyPr vertOverflow="overflow" vert="horz" wrap="square" lIns="0" tIns="0" rIns="0" bIns="0" rtlCol="0" anchor="t">
            <a:normAutofit/>
          </a:bodyPr>
          <a:lstStyle/>
          <a:p>
            <a:pPr marL="0" indent="0" algn="l">
              <a:spcAft>
                <a:spcPts val="600"/>
              </a:spcAft>
              <a:tabLst/>
            </a:pPr>
            <a:r>
              <a:rPr lang="en-US" sz="800">
                <a:solidFill>
                  <a:srgbClr val="55657E"/>
                </a:solidFill>
                <a:latin typeface="Arial"/>
                <a:cs typeface="Arial"/>
              </a:rPr>
              <a:t>Illustrative West Monroe client outcomes; the 12-month comparison baseline is directional and should be validated before external use.</a:t>
            </a:r>
            <a:endParaRPr lang="en-US" sz="800" dirty="0">
              <a:solidFill>
                <a:srgbClr val="55657E"/>
              </a:solidFill>
              <a:latin typeface="Arial"/>
              <a:cs typeface="Arial"/>
            </a:endParaRPr>
          </a:p>
        </p:txBody>
      </p:sp>
      <p:sp>
        <p:nvSpPr>
          <p:cNvPr id="63" name="TextBox 62">
            <a:extLst>
              <a:ext uri="{FF2B5EF4-FFF2-40B4-BE49-F238E27FC236}">
                <a16:creationId xmlns:a16="http://schemas.microsoft.com/office/drawing/2014/main" id="{9B4B46F3-B11D-C44B-8F01-106BE2728E17}"/>
              </a:ext>
            </a:extLst>
          </p:cNvPr>
          <p:cNvSpPr txBox="1"/>
          <p:nvPr/>
        </p:nvSpPr>
        <p:spPr>
          <a:xfrm>
            <a:off x="4318000" y="6426200"/>
            <a:ext cx="7112000" cy="152400"/>
          </a:xfrm>
          <a:prstGeom prst="rect">
            <a:avLst/>
          </a:prstGeom>
          <a:noFill/>
        </p:spPr>
        <p:txBody>
          <a:bodyPr vertOverflow="overflow" vert="horz" wrap="none" lIns="0" tIns="0" rIns="0" bIns="0" rtlCol="0" anchor="t">
            <a:normAutofit/>
          </a:bodyPr>
          <a:lstStyle/>
          <a:p>
            <a:pPr marL="0" indent="0" algn="l">
              <a:spcAft>
                <a:spcPts val="600"/>
              </a:spcAft>
              <a:tabLst/>
            </a:pPr>
            <a:r>
              <a:rPr lang="en-US" sz="550">
                <a:solidFill>
                  <a:srgbClr val="0B075A"/>
                </a:solidFill>
                <a:latin typeface="Arial"/>
                <a:cs typeface="Arial"/>
              </a:rPr>
              <a:t>© 2026 West Monroe Partners | Reproduction and/or distribution without West Monroe Partners’ prior consent is prohibited.</a:t>
            </a:r>
            <a:endParaRPr lang="en-US" sz="550" dirty="0">
              <a:solidFill>
                <a:srgbClr val="0B075A"/>
              </a:solidFill>
              <a:latin typeface="Arial"/>
              <a:cs typeface="Arial"/>
            </a:endParaRPr>
          </a:p>
        </p:txBody>
      </p:sp>
      <p:sp>
        <p:nvSpPr>
          <p:cNvPr id="64" name="TextBox 63">
            <a:extLst>
              <a:ext uri="{FF2B5EF4-FFF2-40B4-BE49-F238E27FC236}">
                <a16:creationId xmlns:a16="http://schemas.microsoft.com/office/drawing/2014/main" id="{EA33BDD8-C03B-B743-805F-06AE72BCDF54}"/>
              </a:ext>
            </a:extLst>
          </p:cNvPr>
          <p:cNvSpPr txBox="1"/>
          <p:nvPr/>
        </p:nvSpPr>
        <p:spPr>
          <a:xfrm>
            <a:off x="11506200" y="6426200"/>
            <a:ext cx="228600" cy="152400"/>
          </a:xfrm>
          <a:prstGeom prst="rect">
            <a:avLst/>
          </a:prstGeom>
          <a:noFill/>
        </p:spPr>
        <p:txBody>
          <a:bodyPr vertOverflow="overflow" vert="horz" wrap="none" lIns="0" tIns="0" rIns="0" bIns="0" rtlCol="0" anchor="t">
            <a:normAutofit/>
          </a:bodyPr>
          <a:lstStyle/>
          <a:p>
            <a:pPr marL="0" indent="0" algn="l">
              <a:spcAft>
                <a:spcPts val="600"/>
              </a:spcAft>
              <a:tabLst/>
            </a:pPr>
            <a:r>
              <a:rPr lang="en-US" sz="600">
                <a:solidFill>
                  <a:srgbClr val="0B075A"/>
                </a:solidFill>
                <a:latin typeface="Arial"/>
                <a:cs typeface="Arial"/>
              </a:rPr>
              <a:t>4</a:t>
            </a:r>
            <a:endParaRPr lang="en-US" sz="600" dirty="0">
              <a:solidFill>
                <a:srgbClr val="0B075A"/>
              </a:solidFill>
              <a:latin typeface="Arial"/>
              <a:cs typeface="Arial"/>
            </a:endParaRPr>
          </a:p>
        </p:txBody>
      </p:sp>
    </p:spTree>
    <p:extLst>
      <p:ext uri="{BB962C8B-B14F-4D97-AF65-F5344CB8AC3E}">
        <p14:creationId xmlns:p14="http://schemas.microsoft.com/office/powerpoint/2010/main" val="1481910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D6B35740-5100-E128-35DB-5E179D2F7217}"/>
              </a:ext>
            </a:extLst>
          </p:cNvPr>
          <p:cNvSpPr/>
          <p:nvPr/>
        </p:nvSpPr>
        <p:spPr>
          <a:xfrm>
            <a:off x="609600" y="4351655"/>
            <a:ext cx="10972800" cy="1715770"/>
          </a:xfrm>
          <a:prstGeom prst="rect">
            <a:avLst/>
          </a:prstGeom>
          <a:solidFill>
            <a:schemeClr val="tx1"/>
          </a:solidFill>
        </p:spPr>
        <p:txBody>
          <a:bodyPr wrap="square" tIns="91440">
            <a:noAutofit/>
          </a:bodyPr>
          <a:lstStyle/>
          <a:p>
            <a:pPr algn="ctr" defTabSz="457200"/>
            <a:r>
              <a:rPr lang="en-US" sz="1200" b="1" dirty="0">
                <a:solidFill>
                  <a:schemeClr val="bg1"/>
                </a:solidFill>
                <a:latin typeface="+mj-lt"/>
              </a:rPr>
              <a:t>CALLOUT HEADLINE</a:t>
            </a:r>
          </a:p>
        </p:txBody>
      </p:sp>
      <p:sp>
        <p:nvSpPr>
          <p:cNvPr id="2" name="Footer Placeholder 1">
            <a:extLst>
              <a:ext uri="{FF2B5EF4-FFF2-40B4-BE49-F238E27FC236}">
                <a16:creationId xmlns:a16="http://schemas.microsoft.com/office/drawing/2014/main" id="{4708DA19-7BCE-8912-C268-6F19E5E6A759}"/>
              </a:ext>
            </a:extLst>
          </p:cNvPr>
          <p:cNvSpPr>
            <a:spLocks noGrp="1"/>
          </p:cNvSpPr>
          <p:nvPr>
            <p:ph type="ftr" sz="quarter" idx="10"/>
          </p:nvPr>
        </p:nvSpPr>
        <p:spPr/>
        <p:txBody>
          <a:bodyPr/>
          <a:lstStyle/>
          <a:p>
            <a:r>
              <a:rPr lang="en-US">
                <a:latin typeface="+mj-lt"/>
              </a:rPr>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8D9237B6-EC42-95E3-8E76-D562DF0E28B5}"/>
              </a:ext>
            </a:extLst>
          </p:cNvPr>
          <p:cNvSpPr>
            <a:spLocks noGrp="1"/>
          </p:cNvSpPr>
          <p:nvPr>
            <p:ph type="sldNum" sz="quarter" idx="11"/>
          </p:nvPr>
        </p:nvSpPr>
        <p:spPr/>
        <p:txBody>
          <a:bodyPr/>
          <a:lstStyle/>
          <a:p>
            <a:fld id="{63DCA5C9-2E11-4C67-86EB-AE1DE127DC64}" type="slidenum">
              <a:rPr lang="en-US" smtClean="0">
                <a:latin typeface="+mj-lt"/>
              </a:rPr>
              <a:pPr/>
              <a:t>7</a:t>
            </a:fld>
            <a:endParaRPr lang="en-US">
              <a:latin typeface="+mj-lt"/>
            </a:endParaRPr>
          </a:p>
        </p:txBody>
      </p:sp>
      <p:sp>
        <p:nvSpPr>
          <p:cNvPr id="4" name="Title 3">
            <a:extLst>
              <a:ext uri="{FF2B5EF4-FFF2-40B4-BE49-F238E27FC236}">
                <a16:creationId xmlns:a16="http://schemas.microsoft.com/office/drawing/2014/main" id="{05575ECF-DECA-8CD2-CB18-95EE6B503E98}"/>
              </a:ext>
            </a:extLst>
          </p:cNvPr>
          <p:cNvSpPr>
            <a:spLocks noGrp="1"/>
          </p:cNvSpPr>
          <p:nvPr>
            <p:ph type="title"/>
          </p:nvPr>
        </p:nvSpPr>
        <p:spPr/>
        <p:txBody>
          <a:bodyPr/>
          <a:lstStyle/>
          <a:p>
            <a:r>
              <a:rPr lang="en-US" sz="2400" dirty="0"/>
              <a:t>Three Points with Data/Metrics Callout</a:t>
            </a:r>
          </a:p>
        </p:txBody>
      </p:sp>
      <p:sp>
        <p:nvSpPr>
          <p:cNvPr id="21" name="Text Placeholder 20">
            <a:extLst>
              <a:ext uri="{FF2B5EF4-FFF2-40B4-BE49-F238E27FC236}">
                <a16:creationId xmlns:a16="http://schemas.microsoft.com/office/drawing/2014/main" id="{F7B96598-DEB0-81C9-A177-8A54038EFDD2}"/>
              </a:ext>
            </a:extLst>
          </p:cNvPr>
          <p:cNvSpPr>
            <a:spLocks noGrp="1"/>
          </p:cNvSpPr>
          <p:nvPr>
            <p:ph type="body" sz="quarter" idx="19"/>
          </p:nvPr>
        </p:nvSpPr>
        <p:spPr/>
        <p:txBody>
          <a:bodyPr/>
          <a:lstStyle/>
          <a:p>
            <a:endParaRPr lang="en-US"/>
          </a:p>
        </p:txBody>
      </p:sp>
      <p:grpSp>
        <p:nvGrpSpPr>
          <p:cNvPr id="11" name="Group 10">
            <a:extLst>
              <a:ext uri="{FF2B5EF4-FFF2-40B4-BE49-F238E27FC236}">
                <a16:creationId xmlns:a16="http://schemas.microsoft.com/office/drawing/2014/main" id="{6ACB9AA7-5203-3BA7-17E4-4A5B9BFAB763}"/>
              </a:ext>
            </a:extLst>
          </p:cNvPr>
          <p:cNvGrpSpPr/>
          <p:nvPr/>
        </p:nvGrpSpPr>
        <p:grpSpPr>
          <a:xfrm>
            <a:off x="781561" y="4647777"/>
            <a:ext cx="1737360" cy="1072679"/>
            <a:chOff x="581536" y="4647777"/>
            <a:chExt cx="1737360" cy="1072679"/>
          </a:xfrm>
        </p:grpSpPr>
        <p:sp>
          <p:nvSpPr>
            <p:cNvPr id="12" name="TextBox 204">
              <a:extLst>
                <a:ext uri="{FF2B5EF4-FFF2-40B4-BE49-F238E27FC236}">
                  <a16:creationId xmlns:a16="http://schemas.microsoft.com/office/drawing/2014/main" id="{A5DBA9F5-ABC5-6F3F-36E6-D7CE70BD054C}"/>
                </a:ext>
              </a:extLst>
            </p:cNvPr>
            <p:cNvSpPr txBox="1"/>
            <p:nvPr/>
          </p:nvSpPr>
          <p:spPr>
            <a:xfrm>
              <a:off x="685602" y="5171816"/>
              <a:ext cx="1529229" cy="548640"/>
            </a:xfrm>
            <a:prstGeom prst="rect">
              <a:avLst/>
            </a:prstGeom>
            <a:noFill/>
          </p:spPr>
          <p:txBody>
            <a:bodyPr wrap="square" rtlCol="0" anchor="t">
              <a:noAutofit/>
            </a:bodyPr>
            <a:lstStyle>
              <a:defPPr>
                <a:defRPr lang="en-US"/>
              </a:defPPr>
              <a:lvl1pPr>
                <a:defRPr sz="1050">
                  <a:solidFill>
                    <a:schemeClr val="tx2"/>
                  </a:solidFill>
                  <a:cs typeface="Avenir Book"/>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latin typeface="+mj-lt"/>
                </a:rPr>
                <a:t>data point</a:t>
              </a:r>
              <a:endParaRPr kumimoji="0" lang="en-US" sz="1100" b="0" i="0" u="none" strike="noStrike" kern="1200" cap="none" spc="0" normalizeH="0" baseline="0" noProof="0" dirty="0">
                <a:ln>
                  <a:noFill/>
                </a:ln>
                <a:solidFill>
                  <a:schemeClr val="bg1"/>
                </a:solidFill>
                <a:effectLst/>
                <a:uLnTx/>
                <a:uFillTx/>
                <a:latin typeface="+mj-lt"/>
                <a:ea typeface="+mn-ea"/>
              </a:endParaRPr>
            </a:p>
          </p:txBody>
        </p:sp>
        <p:sp>
          <p:nvSpPr>
            <p:cNvPr id="13" name="TextBox 155">
              <a:extLst>
                <a:ext uri="{FF2B5EF4-FFF2-40B4-BE49-F238E27FC236}">
                  <a16:creationId xmlns:a16="http://schemas.microsoft.com/office/drawing/2014/main" id="{E1250788-30D1-E577-C308-57DF30C3E198}"/>
                </a:ext>
              </a:extLst>
            </p:cNvPr>
            <p:cNvSpPr txBox="1"/>
            <p:nvPr/>
          </p:nvSpPr>
          <p:spPr>
            <a:xfrm>
              <a:off x="581536" y="4647777"/>
              <a:ext cx="1737360" cy="646331"/>
            </a:xfrm>
            <a:prstGeom prst="rect">
              <a:avLst/>
            </a:prstGeom>
            <a:noFill/>
          </p:spPr>
          <p:txBody>
            <a:bodyPr wrap="square" rtlCol="0">
              <a:spAutoFit/>
            </a:bodyPr>
            <a:lstStyle>
              <a:defPPr>
                <a:defRPr lang="en-US"/>
              </a:defPPr>
              <a:lvl1pPr>
                <a:defRPr sz="3200" b="1">
                  <a:solidFill>
                    <a:schemeClr val="bg2"/>
                  </a:solidFill>
                  <a:cs typeface="Avenir Black"/>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0" dirty="0">
                  <a:solidFill>
                    <a:schemeClr val="bg1"/>
                  </a:solidFill>
                  <a:latin typeface="+mj-lt"/>
                </a:rPr>
                <a:t>XX</a:t>
              </a:r>
              <a:r>
                <a:rPr kumimoji="0" lang="en-US" sz="3600" b="0" i="0" u="none" strike="noStrike" kern="1200" cap="none" spc="0" normalizeH="0" baseline="0" noProof="0" dirty="0">
                  <a:ln>
                    <a:noFill/>
                  </a:ln>
                  <a:solidFill>
                    <a:schemeClr val="bg1"/>
                  </a:solidFill>
                  <a:effectLst/>
                  <a:uLnTx/>
                  <a:uFillTx/>
                  <a:latin typeface="+mj-lt"/>
                  <a:ea typeface="+mn-ea"/>
                </a:rPr>
                <a:t>%</a:t>
              </a:r>
            </a:p>
          </p:txBody>
        </p:sp>
      </p:grpSp>
      <p:grpSp>
        <p:nvGrpSpPr>
          <p:cNvPr id="6" name="Group 5">
            <a:extLst>
              <a:ext uri="{FF2B5EF4-FFF2-40B4-BE49-F238E27FC236}">
                <a16:creationId xmlns:a16="http://schemas.microsoft.com/office/drawing/2014/main" id="{6A0C1DAF-337F-0E70-D717-45D7F9DC0204}"/>
              </a:ext>
            </a:extLst>
          </p:cNvPr>
          <p:cNvGrpSpPr/>
          <p:nvPr/>
        </p:nvGrpSpPr>
        <p:grpSpPr>
          <a:xfrm>
            <a:off x="2566397" y="4647777"/>
            <a:ext cx="1737360" cy="1072679"/>
            <a:chOff x="2435345" y="4647777"/>
            <a:chExt cx="1737360" cy="1072679"/>
          </a:xfrm>
        </p:grpSpPr>
        <p:sp>
          <p:nvSpPr>
            <p:cNvPr id="14" name="TextBox 204">
              <a:extLst>
                <a:ext uri="{FF2B5EF4-FFF2-40B4-BE49-F238E27FC236}">
                  <a16:creationId xmlns:a16="http://schemas.microsoft.com/office/drawing/2014/main" id="{32367DFF-472D-5D9B-33B0-5B34A185B0F9}"/>
                </a:ext>
              </a:extLst>
            </p:cNvPr>
            <p:cNvSpPr txBox="1"/>
            <p:nvPr/>
          </p:nvSpPr>
          <p:spPr>
            <a:xfrm>
              <a:off x="2435345" y="5171816"/>
              <a:ext cx="1737360" cy="548640"/>
            </a:xfrm>
            <a:prstGeom prst="rect">
              <a:avLst/>
            </a:prstGeom>
            <a:noFill/>
          </p:spPr>
          <p:txBody>
            <a:bodyPr wrap="square" rtlCol="0" anchor="t">
              <a:noAutofit/>
            </a:bodyPr>
            <a:lstStyle>
              <a:defPPr>
                <a:defRPr lang="en-US"/>
              </a:defPPr>
              <a:lvl1pPr>
                <a:defRPr sz="1050">
                  <a:solidFill>
                    <a:schemeClr val="tx2"/>
                  </a:solidFill>
                  <a:cs typeface="Avenir Book"/>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latin typeface="+mj-lt"/>
                </a:rPr>
                <a:t>data point</a:t>
              </a:r>
              <a:endParaRPr kumimoji="0" lang="en-US" sz="1100" b="0" i="0" u="none" strike="noStrike" kern="1200" cap="none" spc="0" normalizeH="0" baseline="0" noProof="0" dirty="0">
                <a:ln>
                  <a:noFill/>
                </a:ln>
                <a:solidFill>
                  <a:schemeClr val="bg1"/>
                </a:solidFill>
                <a:effectLst/>
                <a:uLnTx/>
                <a:uFillTx/>
                <a:latin typeface="+mj-lt"/>
                <a:ea typeface="+mn-ea"/>
              </a:endParaRPr>
            </a:p>
          </p:txBody>
        </p:sp>
        <p:sp>
          <p:nvSpPr>
            <p:cNvPr id="15" name="TextBox 203">
              <a:extLst>
                <a:ext uri="{FF2B5EF4-FFF2-40B4-BE49-F238E27FC236}">
                  <a16:creationId xmlns:a16="http://schemas.microsoft.com/office/drawing/2014/main" id="{619FBA85-F790-0D2B-88C8-FBD1A9970A6F}"/>
                </a:ext>
              </a:extLst>
            </p:cNvPr>
            <p:cNvSpPr txBox="1"/>
            <p:nvPr/>
          </p:nvSpPr>
          <p:spPr>
            <a:xfrm>
              <a:off x="2435345" y="4647777"/>
              <a:ext cx="1737360" cy="646331"/>
            </a:xfrm>
            <a:prstGeom prst="rect">
              <a:avLst/>
            </a:prstGeom>
            <a:noFill/>
          </p:spPr>
          <p:txBody>
            <a:bodyPr wrap="square" rtlCol="0">
              <a:spAutoFit/>
            </a:bodyPr>
            <a:lstStyle>
              <a:defPPr>
                <a:defRPr lang="en-US"/>
              </a:defPPr>
              <a:lvl1pPr>
                <a:defRPr sz="3200" b="1">
                  <a:solidFill>
                    <a:schemeClr val="bg2"/>
                  </a:solidFill>
                  <a:cs typeface="Avenir Black"/>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0" dirty="0">
                  <a:solidFill>
                    <a:schemeClr val="bg1"/>
                  </a:solidFill>
                  <a:latin typeface="+mj-lt"/>
                </a:rPr>
                <a:t>XX</a:t>
              </a:r>
              <a:endParaRPr kumimoji="0" lang="en-US" sz="3600" b="0" i="0" u="none" strike="noStrike" kern="1200" cap="none" spc="0" normalizeH="0" baseline="0" noProof="0" dirty="0">
                <a:ln>
                  <a:noFill/>
                </a:ln>
                <a:solidFill>
                  <a:schemeClr val="bg1"/>
                </a:solidFill>
                <a:effectLst/>
                <a:uLnTx/>
                <a:uFillTx/>
                <a:latin typeface="+mj-lt"/>
                <a:ea typeface="+mn-ea"/>
              </a:endParaRPr>
            </a:p>
          </p:txBody>
        </p:sp>
      </p:grpSp>
      <p:grpSp>
        <p:nvGrpSpPr>
          <p:cNvPr id="10" name="Group 9">
            <a:extLst>
              <a:ext uri="{FF2B5EF4-FFF2-40B4-BE49-F238E27FC236}">
                <a16:creationId xmlns:a16="http://schemas.microsoft.com/office/drawing/2014/main" id="{0C18D107-128F-066E-632F-1F1E1A3F5AA8}"/>
              </a:ext>
            </a:extLst>
          </p:cNvPr>
          <p:cNvGrpSpPr/>
          <p:nvPr/>
        </p:nvGrpSpPr>
        <p:grpSpPr>
          <a:xfrm>
            <a:off x="4351233" y="4647777"/>
            <a:ext cx="1737360" cy="1072679"/>
            <a:chOff x="4357075" y="4647777"/>
            <a:chExt cx="1737360" cy="1072679"/>
          </a:xfrm>
        </p:grpSpPr>
        <p:sp>
          <p:nvSpPr>
            <p:cNvPr id="16" name="TextBox 204">
              <a:extLst>
                <a:ext uri="{FF2B5EF4-FFF2-40B4-BE49-F238E27FC236}">
                  <a16:creationId xmlns:a16="http://schemas.microsoft.com/office/drawing/2014/main" id="{1EB50693-CA2D-972E-1E3D-EDAA67FB2307}"/>
                </a:ext>
              </a:extLst>
            </p:cNvPr>
            <p:cNvSpPr txBox="1"/>
            <p:nvPr/>
          </p:nvSpPr>
          <p:spPr>
            <a:xfrm>
              <a:off x="4357075" y="5171816"/>
              <a:ext cx="1737360" cy="548640"/>
            </a:xfrm>
            <a:prstGeom prst="rect">
              <a:avLst/>
            </a:prstGeom>
            <a:noFill/>
          </p:spPr>
          <p:txBody>
            <a:bodyPr wrap="square" rtlCol="0" anchor="t">
              <a:noAutofit/>
            </a:bodyPr>
            <a:lstStyle>
              <a:defPPr>
                <a:defRPr lang="en-US"/>
              </a:defPPr>
              <a:lvl1pPr>
                <a:defRPr sz="1050">
                  <a:solidFill>
                    <a:schemeClr val="tx2"/>
                  </a:solidFill>
                  <a:cs typeface="Avenir Book"/>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latin typeface="+mj-lt"/>
                </a:rPr>
                <a:t>data point</a:t>
              </a:r>
              <a:endParaRPr kumimoji="0" lang="en-US" sz="1100" b="0" i="0" u="none" strike="noStrike" kern="1200" cap="none" spc="0" normalizeH="0" baseline="0" noProof="0" dirty="0">
                <a:ln>
                  <a:noFill/>
                </a:ln>
                <a:solidFill>
                  <a:schemeClr val="bg1"/>
                </a:solidFill>
                <a:effectLst/>
                <a:uLnTx/>
                <a:uFillTx/>
                <a:latin typeface="+mj-lt"/>
                <a:ea typeface="+mn-ea"/>
              </a:endParaRPr>
            </a:p>
          </p:txBody>
        </p:sp>
        <p:sp>
          <p:nvSpPr>
            <p:cNvPr id="17" name="TextBox 203">
              <a:extLst>
                <a:ext uri="{FF2B5EF4-FFF2-40B4-BE49-F238E27FC236}">
                  <a16:creationId xmlns:a16="http://schemas.microsoft.com/office/drawing/2014/main" id="{CAB689FD-8273-2049-D5BD-F06BC660A16E}"/>
                </a:ext>
              </a:extLst>
            </p:cNvPr>
            <p:cNvSpPr txBox="1"/>
            <p:nvPr/>
          </p:nvSpPr>
          <p:spPr>
            <a:xfrm>
              <a:off x="4357075" y="4647777"/>
              <a:ext cx="1737360" cy="646331"/>
            </a:xfrm>
            <a:prstGeom prst="rect">
              <a:avLst/>
            </a:prstGeom>
            <a:noFill/>
          </p:spPr>
          <p:txBody>
            <a:bodyPr wrap="square" rtlCol="0">
              <a:spAutoFit/>
            </a:bodyPr>
            <a:lstStyle>
              <a:defPPr>
                <a:defRPr lang="en-US"/>
              </a:defPPr>
              <a:lvl1pPr>
                <a:defRPr sz="3200" b="1">
                  <a:solidFill>
                    <a:schemeClr val="bg2"/>
                  </a:solidFill>
                  <a:cs typeface="Avenir Black"/>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0" dirty="0">
                  <a:solidFill>
                    <a:schemeClr val="bg1"/>
                  </a:solidFill>
                  <a:latin typeface="+mj-lt"/>
                </a:rPr>
                <a:t>XX</a:t>
              </a:r>
              <a:endParaRPr kumimoji="0" lang="en-US" sz="3600" b="0" i="0" u="none" strike="noStrike" kern="1200" cap="none" spc="0" normalizeH="0" baseline="0" noProof="0" dirty="0">
                <a:ln>
                  <a:noFill/>
                </a:ln>
                <a:solidFill>
                  <a:schemeClr val="bg1"/>
                </a:solidFill>
                <a:effectLst/>
                <a:uLnTx/>
                <a:uFillTx/>
                <a:latin typeface="+mj-lt"/>
                <a:ea typeface="+mn-ea"/>
              </a:endParaRPr>
            </a:p>
          </p:txBody>
        </p:sp>
      </p:grpSp>
      <p:grpSp>
        <p:nvGrpSpPr>
          <p:cNvPr id="9" name="Group 8">
            <a:extLst>
              <a:ext uri="{FF2B5EF4-FFF2-40B4-BE49-F238E27FC236}">
                <a16:creationId xmlns:a16="http://schemas.microsoft.com/office/drawing/2014/main" id="{643F8ECF-E2B7-5A26-ABE6-DA583256C233}"/>
              </a:ext>
            </a:extLst>
          </p:cNvPr>
          <p:cNvGrpSpPr/>
          <p:nvPr/>
        </p:nvGrpSpPr>
        <p:grpSpPr>
          <a:xfrm>
            <a:off x="6136069" y="4647777"/>
            <a:ext cx="1737360" cy="1072679"/>
            <a:chOff x="6161917" y="4647777"/>
            <a:chExt cx="1737360" cy="1072679"/>
          </a:xfrm>
        </p:grpSpPr>
        <p:sp>
          <p:nvSpPr>
            <p:cNvPr id="18" name="TextBox 156">
              <a:extLst>
                <a:ext uri="{FF2B5EF4-FFF2-40B4-BE49-F238E27FC236}">
                  <a16:creationId xmlns:a16="http://schemas.microsoft.com/office/drawing/2014/main" id="{D5370046-5AD7-29D5-83FF-E672741CB874}"/>
                </a:ext>
              </a:extLst>
            </p:cNvPr>
            <p:cNvSpPr txBox="1"/>
            <p:nvPr/>
          </p:nvSpPr>
          <p:spPr>
            <a:xfrm>
              <a:off x="6161917" y="5171816"/>
              <a:ext cx="1737360" cy="548640"/>
            </a:xfrm>
            <a:prstGeom prst="rect">
              <a:avLst/>
            </a:prstGeom>
            <a:noFill/>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latin typeface="+mj-lt"/>
                </a:rPr>
                <a:t>data point</a:t>
              </a:r>
              <a:endParaRPr kumimoji="0" lang="en-US" sz="1100" b="0" i="0" u="none" strike="noStrike" kern="1200" cap="none" spc="0" normalizeH="0" baseline="0" noProof="0" dirty="0">
                <a:ln>
                  <a:noFill/>
                </a:ln>
                <a:solidFill>
                  <a:schemeClr val="bg1"/>
                </a:solidFill>
                <a:effectLst/>
                <a:uLnTx/>
                <a:uFillTx/>
                <a:latin typeface="+mj-lt"/>
                <a:ea typeface="+mn-ea"/>
              </a:endParaRPr>
            </a:p>
          </p:txBody>
        </p:sp>
        <p:sp>
          <p:nvSpPr>
            <p:cNvPr id="19" name="TextBox 155">
              <a:extLst>
                <a:ext uri="{FF2B5EF4-FFF2-40B4-BE49-F238E27FC236}">
                  <a16:creationId xmlns:a16="http://schemas.microsoft.com/office/drawing/2014/main" id="{B5BD6AB8-8979-AFB5-9044-4D210E6A2AF9}"/>
                </a:ext>
              </a:extLst>
            </p:cNvPr>
            <p:cNvSpPr txBox="1"/>
            <p:nvPr/>
          </p:nvSpPr>
          <p:spPr>
            <a:xfrm>
              <a:off x="6161917" y="4647777"/>
              <a:ext cx="173736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i="0" u="none" strike="noStrike" kern="1200" cap="none" spc="0" normalizeH="0" baseline="0" noProof="0" dirty="0">
                  <a:ln>
                    <a:noFill/>
                  </a:ln>
                  <a:solidFill>
                    <a:schemeClr val="bg1"/>
                  </a:solidFill>
                  <a:effectLst/>
                  <a:uLnTx/>
                  <a:uFillTx/>
                  <a:latin typeface="+mj-lt"/>
                  <a:ea typeface="+mn-ea"/>
                  <a:cs typeface="Avenir Black"/>
                </a:rPr>
                <a:t>XXXX</a:t>
              </a:r>
            </a:p>
          </p:txBody>
        </p:sp>
      </p:grpSp>
      <p:sp>
        <p:nvSpPr>
          <p:cNvPr id="20" name="Rectangle 19">
            <a:extLst>
              <a:ext uri="{FF2B5EF4-FFF2-40B4-BE49-F238E27FC236}">
                <a16:creationId xmlns:a16="http://schemas.microsoft.com/office/drawing/2014/main" id="{6A9DD201-4ED6-600B-BD61-E2C1F9596B1D}"/>
              </a:ext>
            </a:extLst>
          </p:cNvPr>
          <p:cNvSpPr/>
          <p:nvPr/>
        </p:nvSpPr>
        <p:spPr>
          <a:xfrm>
            <a:off x="4353941" y="2038685"/>
            <a:ext cx="3474720" cy="21630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bIns="182880" rtlCol="0" anchor="b"/>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50" b="0" i="0" u="none" strike="noStrike" kern="1200" cap="none" spc="0" normalizeH="0" baseline="0" noProof="0" dirty="0">
                <a:ln>
                  <a:noFill/>
                </a:ln>
                <a:solidFill>
                  <a:srgbClr val="070154"/>
                </a:solidFill>
                <a:effectLst/>
                <a:uLnTx/>
                <a:uFillTx/>
                <a:latin typeface="Arial" panose="020B0604020202020204"/>
                <a:ea typeface="+mn-ea"/>
                <a:cs typeface="+mn-cs"/>
              </a:rPr>
              <a:t>Placeholder copy here</a:t>
            </a:r>
            <a:br>
              <a:rPr kumimoji="0" lang="en-US" sz="1050" b="0" i="0" u="none" strike="noStrike" kern="1200" cap="none" spc="0" normalizeH="0" baseline="0" noProof="0" dirty="0">
                <a:ln>
                  <a:noFill/>
                </a:ln>
                <a:solidFill>
                  <a:srgbClr val="070154"/>
                </a:solidFill>
                <a:effectLst/>
                <a:uLnTx/>
                <a:uFillTx/>
                <a:latin typeface="Arial" panose="020B0604020202020204"/>
                <a:ea typeface="+mn-ea"/>
                <a:cs typeface="+mn-cs"/>
              </a:rPr>
            </a:br>
            <a:r>
              <a:rPr kumimoji="0" lang="en-US" sz="1050" b="0" i="0" u="none" strike="noStrike" kern="1200" cap="none" spc="0" normalizeH="0" baseline="0" noProof="0" dirty="0">
                <a:ln>
                  <a:noFill/>
                </a:ln>
                <a:solidFill>
                  <a:srgbClr val="070154"/>
                </a:solidFill>
                <a:effectLst/>
                <a:uLnTx/>
                <a:uFillTx/>
                <a:latin typeface="Arial" panose="020B0604020202020204"/>
                <a:ea typeface="+mn-ea"/>
                <a:cs typeface="+mn-cs"/>
              </a:rPr>
              <a:t>…</a:t>
            </a:r>
            <a:br>
              <a:rPr kumimoji="0" lang="en-US" sz="1050" b="0" i="0" u="none" strike="noStrike" kern="1200" cap="none" spc="0" normalizeH="0" baseline="0" noProof="0" dirty="0">
                <a:ln>
                  <a:noFill/>
                </a:ln>
                <a:solidFill>
                  <a:srgbClr val="070154"/>
                </a:solidFill>
                <a:effectLst/>
                <a:uLnTx/>
                <a:uFillTx/>
                <a:latin typeface="Arial" panose="020B0604020202020204"/>
                <a:ea typeface="+mn-ea"/>
                <a:cs typeface="+mn-cs"/>
              </a:rPr>
            </a:br>
            <a:r>
              <a:rPr kumimoji="0" lang="en-US" sz="1050" b="0" i="0" u="none" strike="noStrike" kern="1200" cap="none" spc="0" normalizeH="0" baseline="0" noProof="0" dirty="0">
                <a:ln>
                  <a:noFill/>
                </a:ln>
                <a:solidFill>
                  <a:srgbClr val="070154"/>
                </a:solidFill>
                <a:effectLst/>
                <a:uLnTx/>
                <a:uFillTx/>
                <a:latin typeface="Arial" panose="020B0604020202020204"/>
                <a:ea typeface="+mn-ea"/>
                <a:cs typeface="+mn-cs"/>
              </a:rPr>
              <a:t>…</a:t>
            </a:r>
            <a:br>
              <a:rPr kumimoji="0" lang="en-US" sz="1050" b="0" i="0" u="none" strike="noStrike" kern="1200" cap="none" spc="0" normalizeH="0" baseline="0" noProof="0" dirty="0">
                <a:ln>
                  <a:noFill/>
                </a:ln>
                <a:solidFill>
                  <a:srgbClr val="070154"/>
                </a:solidFill>
                <a:effectLst/>
                <a:uLnTx/>
                <a:uFillTx/>
                <a:latin typeface="Arial" panose="020B0604020202020204"/>
                <a:ea typeface="+mn-ea"/>
                <a:cs typeface="+mn-cs"/>
              </a:rPr>
            </a:br>
            <a:r>
              <a:rPr kumimoji="0" lang="en-US" sz="1050" b="0" i="0" u="none" strike="noStrike" kern="1200" cap="none" spc="0" normalizeH="0" baseline="0" noProof="0" dirty="0">
                <a:ln>
                  <a:noFill/>
                </a:ln>
                <a:solidFill>
                  <a:srgbClr val="070154"/>
                </a:solidFill>
                <a:effectLst/>
                <a:uLnTx/>
                <a:uFillTx/>
                <a:latin typeface="Arial" panose="020B0604020202020204"/>
                <a:ea typeface="+mn-ea"/>
                <a:cs typeface="+mn-cs"/>
              </a:rPr>
              <a:t>…</a:t>
            </a:r>
          </a:p>
        </p:txBody>
      </p:sp>
      <p:sp>
        <p:nvSpPr>
          <p:cNvPr id="22" name="Rectangle 21">
            <a:extLst>
              <a:ext uri="{FF2B5EF4-FFF2-40B4-BE49-F238E27FC236}">
                <a16:creationId xmlns:a16="http://schemas.microsoft.com/office/drawing/2014/main" id="{6B1346BC-0055-0F72-B458-66A40D4D3762}"/>
              </a:ext>
            </a:extLst>
          </p:cNvPr>
          <p:cNvSpPr/>
          <p:nvPr/>
        </p:nvSpPr>
        <p:spPr>
          <a:xfrm>
            <a:off x="8112595" y="2031845"/>
            <a:ext cx="3474720" cy="2182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182880" rtlCol="0" anchor="b"/>
          <a:lstStyle/>
          <a:p>
            <a:r>
              <a:rPr lang="en-US" sz="1050" dirty="0">
                <a:solidFill>
                  <a:schemeClr val="tx1"/>
                </a:solidFill>
                <a:latin typeface="+mj-lt"/>
              </a:rPr>
              <a:t>Placeholder copy here</a:t>
            </a:r>
            <a:br>
              <a:rPr lang="en-US" sz="1050" dirty="0">
                <a:solidFill>
                  <a:schemeClr val="tx1"/>
                </a:solidFill>
                <a:latin typeface="+mj-lt"/>
              </a:rPr>
            </a:br>
            <a:r>
              <a:rPr lang="en-US" sz="1050" dirty="0">
                <a:solidFill>
                  <a:schemeClr val="tx1"/>
                </a:solidFill>
                <a:latin typeface="+mj-lt"/>
              </a:rPr>
              <a:t>…</a:t>
            </a:r>
            <a:br>
              <a:rPr lang="en-US" sz="1050" dirty="0">
                <a:solidFill>
                  <a:schemeClr val="tx1"/>
                </a:solidFill>
                <a:latin typeface="+mj-lt"/>
              </a:rPr>
            </a:br>
            <a:r>
              <a:rPr lang="en-US" sz="1050" dirty="0">
                <a:solidFill>
                  <a:schemeClr val="tx1"/>
                </a:solidFill>
                <a:latin typeface="+mj-lt"/>
              </a:rPr>
              <a:t>…</a:t>
            </a:r>
            <a:br>
              <a:rPr lang="en-US" sz="1050" dirty="0">
                <a:solidFill>
                  <a:schemeClr val="tx1"/>
                </a:solidFill>
                <a:latin typeface="+mj-lt"/>
              </a:rPr>
            </a:br>
            <a:r>
              <a:rPr lang="en-US" sz="1050" dirty="0">
                <a:solidFill>
                  <a:schemeClr val="tx1"/>
                </a:solidFill>
                <a:latin typeface="+mj-lt"/>
              </a:rPr>
              <a:t>…</a:t>
            </a:r>
          </a:p>
        </p:txBody>
      </p:sp>
      <p:cxnSp>
        <p:nvCxnSpPr>
          <p:cNvPr id="25" name="Straight Connector 24">
            <a:extLst>
              <a:ext uri="{FF2B5EF4-FFF2-40B4-BE49-F238E27FC236}">
                <a16:creationId xmlns:a16="http://schemas.microsoft.com/office/drawing/2014/main" id="{92923F52-24F3-F434-EA02-BB5F6069F642}"/>
              </a:ext>
            </a:extLst>
          </p:cNvPr>
          <p:cNvCxnSpPr>
            <a:cxnSpLocks/>
          </p:cNvCxnSpPr>
          <p:nvPr/>
        </p:nvCxnSpPr>
        <p:spPr>
          <a:xfrm>
            <a:off x="2472538" y="4837179"/>
            <a:ext cx="0" cy="708617"/>
          </a:xfrm>
          <a:prstGeom prst="line">
            <a:avLst/>
          </a:prstGeom>
          <a:ln w="6350" cmpd="sng">
            <a:solidFill>
              <a:schemeClr val="accent4"/>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DBAE1131-0C92-2DBA-72B9-6E32A790CF56}"/>
              </a:ext>
            </a:extLst>
          </p:cNvPr>
          <p:cNvCxnSpPr>
            <a:cxnSpLocks/>
          </p:cNvCxnSpPr>
          <p:nvPr/>
        </p:nvCxnSpPr>
        <p:spPr>
          <a:xfrm>
            <a:off x="4258191" y="4836421"/>
            <a:ext cx="0" cy="710133"/>
          </a:xfrm>
          <a:prstGeom prst="line">
            <a:avLst/>
          </a:prstGeom>
          <a:ln w="6350" cmpd="sng">
            <a:solidFill>
              <a:schemeClr val="accent4"/>
            </a:solidFill>
          </a:ln>
          <a:effectLst/>
        </p:spPr>
        <p:style>
          <a:lnRef idx="2">
            <a:schemeClr val="accent1"/>
          </a:lnRef>
          <a:fillRef idx="0">
            <a:schemeClr val="accent1"/>
          </a:fillRef>
          <a:effectRef idx="1">
            <a:schemeClr val="accent1"/>
          </a:effectRef>
          <a:fontRef idx="minor">
            <a:schemeClr val="tx1"/>
          </a:fontRef>
        </p:style>
      </p:cxnSp>
      <p:grpSp>
        <p:nvGrpSpPr>
          <p:cNvPr id="8" name="Group 7">
            <a:extLst>
              <a:ext uri="{FF2B5EF4-FFF2-40B4-BE49-F238E27FC236}">
                <a16:creationId xmlns:a16="http://schemas.microsoft.com/office/drawing/2014/main" id="{753E50F0-B77D-AFBC-E5F8-74A0ABF22B71}"/>
              </a:ext>
            </a:extLst>
          </p:cNvPr>
          <p:cNvGrpSpPr/>
          <p:nvPr/>
        </p:nvGrpSpPr>
        <p:grpSpPr>
          <a:xfrm>
            <a:off x="7920905" y="4647777"/>
            <a:ext cx="1737360" cy="1072679"/>
            <a:chOff x="7983536" y="4647777"/>
            <a:chExt cx="1737360" cy="1072679"/>
          </a:xfrm>
        </p:grpSpPr>
        <p:sp>
          <p:nvSpPr>
            <p:cNvPr id="27" name="TextBox 204">
              <a:extLst>
                <a:ext uri="{FF2B5EF4-FFF2-40B4-BE49-F238E27FC236}">
                  <a16:creationId xmlns:a16="http://schemas.microsoft.com/office/drawing/2014/main" id="{62E9449D-F042-7F7D-8FC9-1DAC23F96906}"/>
                </a:ext>
              </a:extLst>
            </p:cNvPr>
            <p:cNvSpPr txBox="1"/>
            <p:nvPr/>
          </p:nvSpPr>
          <p:spPr>
            <a:xfrm>
              <a:off x="7983536" y="5171816"/>
              <a:ext cx="1737360" cy="548640"/>
            </a:xfrm>
            <a:prstGeom prst="rect">
              <a:avLst/>
            </a:prstGeom>
            <a:noFill/>
          </p:spPr>
          <p:txBody>
            <a:bodyPr wrap="square" rtlCol="0" anchor="t">
              <a:noAutofit/>
            </a:bodyPr>
            <a:lstStyle>
              <a:defPPr>
                <a:defRPr lang="en-US"/>
              </a:defPPr>
              <a:lvl1pPr>
                <a:defRPr sz="1050">
                  <a:solidFill>
                    <a:schemeClr val="tx2"/>
                  </a:solidFill>
                  <a:cs typeface="Avenir Book"/>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latin typeface="+mj-lt"/>
                </a:rPr>
                <a:t>data point</a:t>
              </a:r>
              <a:endParaRPr kumimoji="0" lang="en-US" sz="1100" b="0" i="0" u="none" strike="noStrike" kern="1200" cap="none" spc="0" normalizeH="0" baseline="0" noProof="0" dirty="0">
                <a:ln>
                  <a:noFill/>
                </a:ln>
                <a:solidFill>
                  <a:schemeClr val="bg1"/>
                </a:solidFill>
                <a:effectLst/>
                <a:uLnTx/>
                <a:uFillTx/>
                <a:latin typeface="+mj-lt"/>
                <a:ea typeface="+mn-ea"/>
              </a:endParaRPr>
            </a:p>
          </p:txBody>
        </p:sp>
        <p:sp>
          <p:nvSpPr>
            <p:cNvPr id="28" name="TextBox 155">
              <a:extLst>
                <a:ext uri="{FF2B5EF4-FFF2-40B4-BE49-F238E27FC236}">
                  <a16:creationId xmlns:a16="http://schemas.microsoft.com/office/drawing/2014/main" id="{354D4C40-7A34-6635-B262-D08A4F4EADBE}"/>
                </a:ext>
              </a:extLst>
            </p:cNvPr>
            <p:cNvSpPr txBox="1"/>
            <p:nvPr/>
          </p:nvSpPr>
          <p:spPr>
            <a:xfrm>
              <a:off x="7983536" y="4647777"/>
              <a:ext cx="173736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i="0" u="none" strike="noStrike" kern="1200" cap="none" spc="0" normalizeH="0" baseline="0" noProof="0" dirty="0">
                  <a:ln>
                    <a:noFill/>
                  </a:ln>
                  <a:solidFill>
                    <a:schemeClr val="bg1"/>
                  </a:solidFill>
                  <a:effectLst/>
                  <a:uLnTx/>
                  <a:uFillTx/>
                  <a:latin typeface="+mj-lt"/>
                  <a:ea typeface="+mn-ea"/>
                  <a:cs typeface="Avenir Black"/>
                </a:rPr>
                <a:t>XX</a:t>
              </a:r>
            </a:p>
          </p:txBody>
        </p:sp>
      </p:grpSp>
      <p:grpSp>
        <p:nvGrpSpPr>
          <p:cNvPr id="7" name="Group 6">
            <a:extLst>
              <a:ext uri="{FF2B5EF4-FFF2-40B4-BE49-F238E27FC236}">
                <a16:creationId xmlns:a16="http://schemas.microsoft.com/office/drawing/2014/main" id="{6A0CEBD0-EEBA-A514-E75E-BE764793E85F}"/>
              </a:ext>
            </a:extLst>
          </p:cNvPr>
          <p:cNvGrpSpPr/>
          <p:nvPr/>
        </p:nvGrpSpPr>
        <p:grpSpPr>
          <a:xfrm>
            <a:off x="9705739" y="4647777"/>
            <a:ext cx="1737360" cy="1072679"/>
            <a:chOff x="9858139" y="4647777"/>
            <a:chExt cx="1737360" cy="1072679"/>
          </a:xfrm>
        </p:grpSpPr>
        <p:sp>
          <p:nvSpPr>
            <p:cNvPr id="29" name="TextBox 155">
              <a:extLst>
                <a:ext uri="{FF2B5EF4-FFF2-40B4-BE49-F238E27FC236}">
                  <a16:creationId xmlns:a16="http://schemas.microsoft.com/office/drawing/2014/main" id="{2D9F4D07-7332-368B-ED2D-C75C1AD483F9}"/>
                </a:ext>
              </a:extLst>
            </p:cNvPr>
            <p:cNvSpPr txBox="1"/>
            <p:nvPr/>
          </p:nvSpPr>
          <p:spPr>
            <a:xfrm>
              <a:off x="9858139" y="4647777"/>
              <a:ext cx="173736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dirty="0">
                  <a:solidFill>
                    <a:schemeClr val="bg1"/>
                  </a:solidFill>
                  <a:latin typeface="+mj-lt"/>
                  <a:cs typeface="Avenir Black"/>
                </a:rPr>
                <a:t>XX</a:t>
              </a:r>
              <a:endParaRPr kumimoji="0" lang="en-US" sz="3600" i="0" u="none" strike="noStrike" kern="1200" cap="none" spc="0" normalizeH="0" baseline="0" noProof="0" dirty="0">
                <a:ln>
                  <a:noFill/>
                </a:ln>
                <a:solidFill>
                  <a:schemeClr val="bg1"/>
                </a:solidFill>
                <a:effectLst/>
                <a:uLnTx/>
                <a:uFillTx/>
                <a:latin typeface="+mj-lt"/>
                <a:ea typeface="+mn-ea"/>
                <a:cs typeface="Avenir Black"/>
              </a:endParaRPr>
            </a:p>
          </p:txBody>
        </p:sp>
        <p:sp>
          <p:nvSpPr>
            <p:cNvPr id="30" name="TextBox 204">
              <a:extLst>
                <a:ext uri="{FF2B5EF4-FFF2-40B4-BE49-F238E27FC236}">
                  <a16:creationId xmlns:a16="http://schemas.microsoft.com/office/drawing/2014/main" id="{F54E138A-5111-FD9C-E70A-67DCAE98571E}"/>
                </a:ext>
              </a:extLst>
            </p:cNvPr>
            <p:cNvSpPr txBox="1"/>
            <p:nvPr/>
          </p:nvSpPr>
          <p:spPr>
            <a:xfrm>
              <a:off x="9858139" y="5171816"/>
              <a:ext cx="1737360" cy="548640"/>
            </a:xfrm>
            <a:prstGeom prst="rect">
              <a:avLst/>
            </a:prstGeom>
            <a:noFill/>
          </p:spPr>
          <p:txBody>
            <a:bodyPr wrap="square" rtlCol="0" anchor="t">
              <a:noAutofit/>
            </a:bodyPr>
            <a:lstStyle>
              <a:defPPr>
                <a:defRPr lang="en-US"/>
              </a:defPPr>
              <a:lvl1pPr>
                <a:defRPr sz="1050">
                  <a:solidFill>
                    <a:schemeClr val="tx2"/>
                  </a:solidFill>
                  <a:cs typeface="Avenir Book"/>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latin typeface="+mj-lt"/>
                </a:rPr>
                <a:t>data point</a:t>
              </a:r>
              <a:endParaRPr kumimoji="0" lang="en-US" sz="1100" b="0" i="0" u="none" strike="noStrike" kern="1200" cap="none" spc="0" normalizeH="0" baseline="0" noProof="0" dirty="0">
                <a:ln>
                  <a:noFill/>
                </a:ln>
                <a:solidFill>
                  <a:schemeClr val="bg1"/>
                </a:solidFill>
                <a:effectLst/>
                <a:uLnTx/>
                <a:uFillTx/>
                <a:latin typeface="+mj-lt"/>
                <a:ea typeface="+mn-ea"/>
              </a:endParaRPr>
            </a:p>
          </p:txBody>
        </p:sp>
      </p:grpSp>
      <p:cxnSp>
        <p:nvCxnSpPr>
          <p:cNvPr id="31" name="Straight Connector 30">
            <a:extLst>
              <a:ext uri="{FF2B5EF4-FFF2-40B4-BE49-F238E27FC236}">
                <a16:creationId xmlns:a16="http://schemas.microsoft.com/office/drawing/2014/main" id="{2CD61A34-576F-6399-46CF-6E23CCB40469}"/>
              </a:ext>
            </a:extLst>
          </p:cNvPr>
          <p:cNvCxnSpPr>
            <a:cxnSpLocks/>
          </p:cNvCxnSpPr>
          <p:nvPr/>
        </p:nvCxnSpPr>
        <p:spPr>
          <a:xfrm>
            <a:off x="9700875" y="4843478"/>
            <a:ext cx="0" cy="696018"/>
          </a:xfrm>
          <a:prstGeom prst="line">
            <a:avLst/>
          </a:prstGeom>
          <a:ln w="6350" cmpd="sng">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32" name="Rectangle 31">
            <a:hlinkClick r:id="rId2"/>
            <a:extLst>
              <a:ext uri="{FF2B5EF4-FFF2-40B4-BE49-F238E27FC236}">
                <a16:creationId xmlns:a16="http://schemas.microsoft.com/office/drawing/2014/main" id="{0D1FD1F5-A9F3-06CA-F54A-D88988E544D7}"/>
              </a:ext>
            </a:extLst>
          </p:cNvPr>
          <p:cNvSpPr>
            <a:spLocks noChangeArrowheads="1"/>
          </p:cNvSpPr>
          <p:nvPr/>
        </p:nvSpPr>
        <p:spPr bwMode="auto">
          <a:xfrm>
            <a:off x="4156438" y="5665368"/>
            <a:ext cx="3846740" cy="332509"/>
          </a:xfrm>
          <a:prstGeom prst="rect">
            <a:avLst/>
          </a:prstGeom>
          <a:noFill/>
          <a:ln w="25400" cap="flat" cmpd="sng" algn="ctr">
            <a:noFill/>
            <a:prstDash val="solid"/>
          </a:ln>
          <a:effectLst/>
        </p:spPr>
        <p:txBody>
          <a:bodyPr tIns="105508" bIns="105508" anchor="ctr"/>
          <a:lstStyle/>
          <a:p>
            <a:pPr marL="0" marR="0" lvl="0" indent="0" defTabSz="904538" rtl="0" eaLnBrk="0" fontAlgn="auto" latinLnBrk="0" hangingPunct="0">
              <a:lnSpc>
                <a:spcPct val="100000"/>
              </a:lnSpc>
              <a:spcBef>
                <a:spcPts val="0"/>
              </a:spcBef>
              <a:spcAft>
                <a:spcPts val="0"/>
              </a:spcAft>
              <a:buClrTx/>
              <a:buSzTx/>
              <a:buFontTx/>
              <a:buNone/>
              <a:tabLst/>
              <a:defRPr/>
            </a:pPr>
            <a:r>
              <a:rPr kumimoji="0" lang="en-GB" sz="1200" b="0" i="0" u="none" strike="noStrike" kern="0" cap="none" spc="0" normalizeH="0" baseline="0" noProof="0" dirty="0">
                <a:ln>
                  <a:noFill/>
                </a:ln>
                <a:solidFill>
                  <a:schemeClr val="accent1"/>
                </a:solidFill>
                <a:effectLst/>
                <a:uLnTx/>
                <a:uFillTx/>
                <a:latin typeface="+mj-lt"/>
                <a:ea typeface="+mn-ea"/>
                <a:cs typeface="+mn-cs"/>
              </a:rPr>
              <a:t>See more results at </a:t>
            </a:r>
            <a:r>
              <a:rPr kumimoji="0" lang="en-GB" sz="1200" b="1" i="0" u="none" strike="noStrike" kern="0" cap="none" spc="0" normalizeH="0" baseline="0" noProof="0" dirty="0" err="1">
                <a:ln>
                  <a:noFill/>
                </a:ln>
                <a:solidFill>
                  <a:schemeClr val="accent1"/>
                </a:solidFill>
                <a:effectLst/>
                <a:uLnTx/>
                <a:uFillTx/>
                <a:latin typeface="+mj-lt"/>
                <a:ea typeface="+mn-ea"/>
                <a:cs typeface="+mn-cs"/>
              </a:rPr>
              <a:t>westmonroe.com</a:t>
            </a:r>
            <a:r>
              <a:rPr kumimoji="0" lang="en-GB" sz="1200" b="1" i="0" u="none" strike="noStrike" kern="0" cap="none" spc="0" normalizeH="0" baseline="0" noProof="0" dirty="0">
                <a:ln>
                  <a:noFill/>
                </a:ln>
                <a:solidFill>
                  <a:schemeClr val="accent1"/>
                </a:solidFill>
                <a:effectLst/>
                <a:uLnTx/>
                <a:uFillTx/>
                <a:latin typeface="+mj-lt"/>
                <a:ea typeface="+mn-ea"/>
                <a:cs typeface="+mn-cs"/>
              </a:rPr>
              <a:t>/</a:t>
            </a:r>
            <a:r>
              <a:rPr kumimoji="0" lang="en-GB" sz="1200" b="1" i="0" u="none" strike="noStrike" kern="0" cap="none" spc="0" normalizeH="0" baseline="0" noProof="0" dirty="0" err="1">
                <a:ln>
                  <a:noFill/>
                </a:ln>
                <a:solidFill>
                  <a:schemeClr val="accent1"/>
                </a:solidFill>
                <a:effectLst/>
                <a:uLnTx/>
                <a:uFillTx/>
                <a:latin typeface="+mj-lt"/>
                <a:ea typeface="+mn-ea"/>
                <a:cs typeface="+mn-cs"/>
              </a:rPr>
              <a:t>clientstories</a:t>
            </a:r>
            <a:endParaRPr kumimoji="0" lang="en-GB" sz="1200" b="1" i="0" u="none" strike="noStrike" kern="0" cap="none" spc="0" normalizeH="0" baseline="0" noProof="0" dirty="0">
              <a:ln>
                <a:noFill/>
              </a:ln>
              <a:solidFill>
                <a:schemeClr val="accent1"/>
              </a:solidFill>
              <a:effectLst/>
              <a:uLnTx/>
              <a:uFillTx/>
              <a:latin typeface="+mj-lt"/>
              <a:ea typeface="+mn-ea"/>
              <a:cs typeface="+mn-cs"/>
            </a:endParaRPr>
          </a:p>
        </p:txBody>
      </p:sp>
      <p:sp>
        <p:nvSpPr>
          <p:cNvPr id="33" name="TextBox 204">
            <a:extLst>
              <a:ext uri="{FF2B5EF4-FFF2-40B4-BE49-F238E27FC236}">
                <a16:creationId xmlns:a16="http://schemas.microsoft.com/office/drawing/2014/main" id="{6B63626A-72B9-3FB2-69C0-9C43497AAA99}"/>
              </a:ext>
            </a:extLst>
          </p:cNvPr>
          <p:cNvSpPr txBox="1"/>
          <p:nvPr/>
        </p:nvSpPr>
        <p:spPr>
          <a:xfrm>
            <a:off x="609601" y="5781687"/>
            <a:ext cx="2838993" cy="1846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accent3"/>
                </a:solidFill>
                <a:effectLst/>
                <a:uLnTx/>
                <a:uFillTx/>
                <a:latin typeface="+mj-lt"/>
                <a:ea typeface="+mn-ea"/>
                <a:cs typeface="Avenir Book"/>
              </a:rPr>
              <a:t>*enter sources here</a:t>
            </a:r>
            <a:endParaRPr lang="en-US" sz="600" dirty="0">
              <a:solidFill>
                <a:schemeClr val="accent3"/>
              </a:solidFill>
              <a:latin typeface="+mj-lt"/>
              <a:cs typeface="Avenir Book"/>
            </a:endParaRPr>
          </a:p>
        </p:txBody>
      </p:sp>
      <p:sp>
        <p:nvSpPr>
          <p:cNvPr id="34" name="Rectangle 33">
            <a:extLst>
              <a:ext uri="{FF2B5EF4-FFF2-40B4-BE49-F238E27FC236}">
                <a16:creationId xmlns:a16="http://schemas.microsoft.com/office/drawing/2014/main" id="{9A636A56-A4CB-5CFA-AED2-D1082421825D}"/>
              </a:ext>
            </a:extLst>
          </p:cNvPr>
          <p:cNvSpPr/>
          <p:nvPr/>
        </p:nvSpPr>
        <p:spPr>
          <a:xfrm>
            <a:off x="609600" y="1518385"/>
            <a:ext cx="10972800"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1" dirty="0">
                <a:solidFill>
                  <a:schemeClr val="tx2"/>
                </a:solidFill>
                <a:latin typeface="+mj-lt"/>
                <a:ea typeface="+mn-ea"/>
                <a:cs typeface="+mn-cs"/>
              </a:rPr>
              <a:t>Placeholder subhead</a:t>
            </a:r>
            <a:endParaRPr kumimoji="0" lang="en-US" sz="1400" b="1" i="0" u="none" strike="noStrike" kern="1200" cap="none" normalizeH="0" baseline="0" noProof="0" dirty="0">
              <a:ln>
                <a:noFill/>
              </a:ln>
              <a:solidFill>
                <a:schemeClr val="tx2"/>
              </a:solidFill>
              <a:effectLst/>
              <a:uLnTx/>
              <a:uFillTx/>
              <a:latin typeface="+mj-lt"/>
              <a:ea typeface="+mn-ea"/>
              <a:cs typeface="+mn-cs"/>
            </a:endParaRPr>
          </a:p>
        </p:txBody>
      </p:sp>
      <p:sp>
        <p:nvSpPr>
          <p:cNvPr id="35" name="Rectangle 34">
            <a:extLst>
              <a:ext uri="{FF2B5EF4-FFF2-40B4-BE49-F238E27FC236}">
                <a16:creationId xmlns:a16="http://schemas.microsoft.com/office/drawing/2014/main" id="{EAC6E3A3-D5BB-A485-3B58-060F6973D1CE}"/>
              </a:ext>
            </a:extLst>
          </p:cNvPr>
          <p:cNvSpPr/>
          <p:nvPr/>
        </p:nvSpPr>
        <p:spPr>
          <a:xfrm>
            <a:off x="605542" y="2051181"/>
            <a:ext cx="3474720" cy="21630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182880" rtlCol="0" anchor="b"/>
          <a:lstStyle/>
          <a:p>
            <a:r>
              <a:rPr lang="en-US" sz="1050" dirty="0">
                <a:solidFill>
                  <a:schemeClr val="tx1"/>
                </a:solidFill>
                <a:latin typeface="+mj-lt"/>
              </a:rPr>
              <a:t>Placeholder copy here</a:t>
            </a:r>
            <a:br>
              <a:rPr lang="en-US" sz="1050" dirty="0">
                <a:solidFill>
                  <a:schemeClr val="tx1"/>
                </a:solidFill>
                <a:latin typeface="+mj-lt"/>
              </a:rPr>
            </a:br>
            <a:r>
              <a:rPr lang="en-US" sz="1050" dirty="0">
                <a:solidFill>
                  <a:schemeClr val="tx1"/>
                </a:solidFill>
                <a:latin typeface="+mj-lt"/>
              </a:rPr>
              <a:t>…</a:t>
            </a:r>
            <a:br>
              <a:rPr lang="en-US" sz="1050" dirty="0">
                <a:solidFill>
                  <a:schemeClr val="tx1"/>
                </a:solidFill>
                <a:latin typeface="+mj-lt"/>
              </a:rPr>
            </a:br>
            <a:r>
              <a:rPr lang="en-US" sz="1050" dirty="0">
                <a:solidFill>
                  <a:schemeClr val="tx1"/>
                </a:solidFill>
                <a:latin typeface="+mj-lt"/>
              </a:rPr>
              <a:t>…</a:t>
            </a:r>
            <a:br>
              <a:rPr lang="en-US" sz="1050" dirty="0">
                <a:solidFill>
                  <a:schemeClr val="tx1"/>
                </a:solidFill>
                <a:latin typeface="+mj-lt"/>
              </a:rPr>
            </a:br>
            <a:r>
              <a:rPr lang="en-US" sz="1050" dirty="0">
                <a:solidFill>
                  <a:schemeClr val="tx1"/>
                </a:solidFill>
                <a:latin typeface="+mj-lt"/>
              </a:rPr>
              <a:t>…</a:t>
            </a:r>
          </a:p>
        </p:txBody>
      </p:sp>
      <p:sp>
        <p:nvSpPr>
          <p:cNvPr id="37" name="Rectangle 36">
            <a:extLst>
              <a:ext uri="{FF2B5EF4-FFF2-40B4-BE49-F238E27FC236}">
                <a16:creationId xmlns:a16="http://schemas.microsoft.com/office/drawing/2014/main" id="{CB697731-785F-FF63-CE13-ED49ADDC3C18}"/>
              </a:ext>
            </a:extLst>
          </p:cNvPr>
          <p:cNvSpPr/>
          <p:nvPr/>
        </p:nvSpPr>
        <p:spPr>
          <a:xfrm>
            <a:off x="1572782" y="2258609"/>
            <a:ext cx="2372202" cy="724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27517">
              <a:buClr>
                <a:srgbClr val="F9AB26"/>
              </a:buClr>
              <a:buSzPct val="70000"/>
              <a:defRPr/>
            </a:pPr>
            <a:endParaRPr lang="en-US" sz="1400" b="1" dirty="0">
              <a:solidFill>
                <a:schemeClr val="bg1"/>
              </a:solidFill>
              <a:latin typeface="+mj-lt"/>
            </a:endParaRPr>
          </a:p>
          <a:p>
            <a:pPr defTabSz="527517">
              <a:buClr>
                <a:srgbClr val="F9AB26"/>
              </a:buClr>
              <a:buSzPct val="70000"/>
              <a:defRPr/>
            </a:pPr>
            <a:r>
              <a:rPr lang="en-US" sz="1400" b="1" dirty="0">
                <a:solidFill>
                  <a:schemeClr val="tx1"/>
                </a:solidFill>
                <a:latin typeface="+mj-lt"/>
              </a:rPr>
              <a:t>Topic 1</a:t>
            </a:r>
          </a:p>
          <a:p>
            <a:pPr algn="ctr" defTabSz="527517">
              <a:buClr>
                <a:srgbClr val="F9AB26"/>
              </a:buClr>
              <a:buSzPct val="70000"/>
              <a:defRPr/>
            </a:pPr>
            <a:endParaRPr lang="en-US" sz="1400" dirty="0">
              <a:solidFill>
                <a:schemeClr val="bg1"/>
              </a:solidFill>
              <a:latin typeface="+mj-lt"/>
            </a:endParaRPr>
          </a:p>
        </p:txBody>
      </p:sp>
      <p:sp>
        <p:nvSpPr>
          <p:cNvPr id="41" name="Rectangle 40">
            <a:extLst>
              <a:ext uri="{FF2B5EF4-FFF2-40B4-BE49-F238E27FC236}">
                <a16:creationId xmlns:a16="http://schemas.microsoft.com/office/drawing/2014/main" id="{C12C1793-7E42-4EAA-AC45-C7B4C68B9581}"/>
              </a:ext>
            </a:extLst>
          </p:cNvPr>
          <p:cNvSpPr/>
          <p:nvPr/>
        </p:nvSpPr>
        <p:spPr>
          <a:xfrm>
            <a:off x="5313875" y="2293254"/>
            <a:ext cx="3467614" cy="6556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27517">
              <a:buClr>
                <a:srgbClr val="F9AB26"/>
              </a:buClr>
              <a:buSzPct val="70000"/>
              <a:defRPr/>
            </a:pPr>
            <a:r>
              <a:rPr lang="en-US" sz="1400" b="1" dirty="0">
                <a:solidFill>
                  <a:schemeClr val="tx1"/>
                </a:solidFill>
                <a:latin typeface="+mj-lt"/>
              </a:rPr>
              <a:t>Topic 2</a:t>
            </a:r>
          </a:p>
        </p:txBody>
      </p:sp>
      <p:sp>
        <p:nvSpPr>
          <p:cNvPr id="42" name="Rectangle 41">
            <a:extLst>
              <a:ext uri="{FF2B5EF4-FFF2-40B4-BE49-F238E27FC236}">
                <a16:creationId xmlns:a16="http://schemas.microsoft.com/office/drawing/2014/main" id="{EA6D4151-C055-9F2B-59F4-2A27AD5776C3}"/>
              </a:ext>
            </a:extLst>
          </p:cNvPr>
          <p:cNvSpPr/>
          <p:nvPr/>
        </p:nvSpPr>
        <p:spPr>
          <a:xfrm>
            <a:off x="9187544" y="2258609"/>
            <a:ext cx="2107474" cy="724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27517">
              <a:buClr>
                <a:srgbClr val="F9AB26"/>
              </a:buClr>
              <a:buSzPct val="70000"/>
              <a:defRPr/>
            </a:pPr>
            <a:r>
              <a:rPr lang="en-US" sz="1400" b="1" dirty="0">
                <a:solidFill>
                  <a:schemeClr val="tx1"/>
                </a:solidFill>
                <a:latin typeface="+mj-lt"/>
              </a:rPr>
              <a:t>Topic 3</a:t>
            </a:r>
          </a:p>
        </p:txBody>
      </p:sp>
      <p:cxnSp>
        <p:nvCxnSpPr>
          <p:cNvPr id="43" name="Straight Connector 42">
            <a:extLst>
              <a:ext uri="{FF2B5EF4-FFF2-40B4-BE49-F238E27FC236}">
                <a16:creationId xmlns:a16="http://schemas.microsoft.com/office/drawing/2014/main" id="{4A591232-AFC1-991C-0981-8C5FE059B235}"/>
              </a:ext>
            </a:extLst>
          </p:cNvPr>
          <p:cNvCxnSpPr>
            <a:cxnSpLocks/>
          </p:cNvCxnSpPr>
          <p:nvPr/>
        </p:nvCxnSpPr>
        <p:spPr>
          <a:xfrm>
            <a:off x="6110519" y="4844711"/>
            <a:ext cx="0" cy="693553"/>
          </a:xfrm>
          <a:prstGeom prst="line">
            <a:avLst/>
          </a:prstGeom>
          <a:ln w="6350" cmpd="sng">
            <a:solidFill>
              <a:schemeClr val="accent4"/>
            </a:solidFill>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DA5383AF-2F0E-9CA0-BC96-0C80C3339339}"/>
              </a:ext>
            </a:extLst>
          </p:cNvPr>
          <p:cNvCxnSpPr>
            <a:cxnSpLocks/>
          </p:cNvCxnSpPr>
          <p:nvPr/>
        </p:nvCxnSpPr>
        <p:spPr>
          <a:xfrm>
            <a:off x="7819972" y="4843478"/>
            <a:ext cx="0" cy="696018"/>
          </a:xfrm>
          <a:prstGeom prst="line">
            <a:avLst/>
          </a:prstGeom>
          <a:ln w="6350" cmpd="sng">
            <a:solidFill>
              <a:schemeClr val="accent4"/>
            </a:solidFill>
          </a:ln>
          <a:effectLst/>
        </p:spPr>
        <p:style>
          <a:lnRef idx="2">
            <a:schemeClr val="accent1"/>
          </a:lnRef>
          <a:fillRef idx="0">
            <a:schemeClr val="accent1"/>
          </a:fillRef>
          <a:effectRef idx="1">
            <a:schemeClr val="accent1"/>
          </a:effectRef>
          <a:fontRef idx="minor">
            <a:schemeClr val="tx1"/>
          </a:fontRef>
        </p:style>
      </p:cxnSp>
      <p:pic>
        <p:nvPicPr>
          <p:cNvPr id="46" name="Graphic 45">
            <a:extLst>
              <a:ext uri="{FF2B5EF4-FFF2-40B4-BE49-F238E27FC236}">
                <a16:creationId xmlns:a16="http://schemas.microsoft.com/office/drawing/2014/main" id="{AFECBE81-2528-256A-945E-A47B240F35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3801" y="2244211"/>
            <a:ext cx="723900" cy="723900"/>
          </a:xfrm>
          <a:prstGeom prst="rect">
            <a:avLst/>
          </a:prstGeom>
        </p:spPr>
      </p:pic>
      <p:pic>
        <p:nvPicPr>
          <p:cNvPr id="48" name="Graphic 47">
            <a:extLst>
              <a:ext uri="{FF2B5EF4-FFF2-40B4-BE49-F238E27FC236}">
                <a16:creationId xmlns:a16="http://schemas.microsoft.com/office/drawing/2014/main" id="{372C216F-C074-0670-5BDD-0FB5A8F244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71958" y="2244211"/>
            <a:ext cx="723900" cy="723900"/>
          </a:xfrm>
          <a:prstGeom prst="rect">
            <a:avLst/>
          </a:prstGeom>
        </p:spPr>
      </p:pic>
      <p:pic>
        <p:nvPicPr>
          <p:cNvPr id="50" name="Graphic 49">
            <a:extLst>
              <a:ext uri="{FF2B5EF4-FFF2-40B4-BE49-F238E27FC236}">
                <a16:creationId xmlns:a16="http://schemas.microsoft.com/office/drawing/2014/main" id="{DC7D367A-5078-7614-0D2D-23824AB908D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48909" y="2244211"/>
            <a:ext cx="723900" cy="723900"/>
          </a:xfrm>
          <a:prstGeom prst="rect">
            <a:avLst/>
          </a:prstGeom>
        </p:spPr>
      </p:pic>
    </p:spTree>
    <p:extLst>
      <p:ext uri="{BB962C8B-B14F-4D97-AF65-F5344CB8AC3E}">
        <p14:creationId xmlns:p14="http://schemas.microsoft.com/office/powerpoint/2010/main" val="2683735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9DA69074-0978-5A43-9DF2-96E8326B5F62}"/>
              </a:ext>
            </a:extLst>
          </p:cNvPr>
          <p:cNvSpPr txBox="1"/>
          <p:nvPr/>
        </p:nvSpPr>
        <p:spPr>
          <a:xfrm>
            <a:off x="609600" y="482600"/>
            <a:ext cx="10972800" cy="431800"/>
          </a:xfrm>
          <a:prstGeom prst="rect">
            <a:avLst/>
          </a:prstGeom>
          <a:noFill/>
        </p:spPr>
        <p:txBody>
          <a:bodyPr vertOverflow="overflow" vert="horz" wrap="square" lIns="0" tIns="0" rIns="0" bIns="0" rtlCol="0" anchor="t">
            <a:spAutoFit/>
          </a:bodyPr>
          <a:lstStyle/>
          <a:p>
            <a:pPr marL="0" indent="0" algn="l">
              <a:spcAft>
                <a:spcPts val="600"/>
              </a:spcAft>
              <a:tabLst/>
            </a:pPr>
            <a:r>
              <a:rPr lang="en-US" sz="2200" b="1">
                <a:solidFill>
                  <a:srgbClr val="09095B"/>
                </a:solidFill>
                <a:latin typeface="Arial"/>
                <a:cs typeface="Arial"/>
              </a:rPr>
              <a:t>Why complex modernization has historically been slow and expensive</a:t>
            </a:r>
            <a:endParaRPr lang="en-US" sz="2200" b="1" dirty="0">
              <a:solidFill>
                <a:srgbClr val="09095B"/>
              </a:solidFill>
              <a:latin typeface="Arial"/>
              <a:cs typeface="Arial"/>
            </a:endParaRPr>
          </a:p>
        </p:txBody>
      </p:sp>
      <p:sp>
        <p:nvSpPr>
          <p:cNvPr id="34" name="TextBox 33">
            <a:extLst>
              <a:ext uri="{FF2B5EF4-FFF2-40B4-BE49-F238E27FC236}">
                <a16:creationId xmlns:a16="http://schemas.microsoft.com/office/drawing/2014/main" id="{E192BFC3-6AB4-2943-AF32-8116667E0384}"/>
              </a:ext>
            </a:extLst>
          </p:cNvPr>
          <p:cNvSpPr txBox="1"/>
          <p:nvPr/>
        </p:nvSpPr>
        <p:spPr>
          <a:xfrm>
            <a:off x="609600" y="1041400"/>
            <a:ext cx="10972800" cy="533400"/>
          </a:xfrm>
          <a:prstGeom prst="rect">
            <a:avLst/>
          </a:prstGeom>
          <a:noFill/>
        </p:spPr>
        <p:txBody>
          <a:bodyPr vertOverflow="overflow" vert="horz" wrap="square" lIns="0" tIns="0" rIns="0" bIns="0" rtlCol="0" anchor="t">
            <a:spAutoFit/>
          </a:bodyPr>
          <a:lstStyle/>
          <a:p>
            <a:pPr marL="0" indent="0" algn="l">
              <a:spcAft>
                <a:spcPts val="600"/>
              </a:spcAft>
              <a:tabLst/>
            </a:pPr>
            <a:r>
              <a:rPr lang="en-US" sz="1250">
                <a:solidFill>
                  <a:srgbClr val="20205E"/>
                </a:solidFill>
                <a:latin typeface="Arial"/>
                <a:cs typeface="Arial"/>
              </a:rPr>
              <a:t>Coding is only one part. The harder work is rediscovering how the business runs, deciding what should change, aligning operators and technical teams, cleaning and migrating data, validating the target, and executing a safe cutover.</a:t>
            </a:r>
            <a:endParaRPr lang="en-US" sz="1250" dirty="0">
              <a:solidFill>
                <a:srgbClr val="20205E"/>
              </a:solidFill>
              <a:latin typeface="Arial"/>
              <a:cs typeface="Arial"/>
            </a:endParaRPr>
          </a:p>
        </p:txBody>
      </p:sp>
      <p:sp>
        <p:nvSpPr>
          <p:cNvPr id="35" name="TextBox 34">
            <a:extLst>
              <a:ext uri="{FF2B5EF4-FFF2-40B4-BE49-F238E27FC236}">
                <a16:creationId xmlns:a16="http://schemas.microsoft.com/office/drawing/2014/main" id="{16993988-5169-0B41-8C85-6A7C99C41302}"/>
              </a:ext>
            </a:extLst>
          </p:cNvPr>
          <p:cNvSpPr txBox="1"/>
          <p:nvPr/>
        </p:nvSpPr>
        <p:spPr>
          <a:xfrm>
            <a:off x="609600" y="1727200"/>
            <a:ext cx="5080000" cy="203200"/>
          </a:xfrm>
          <a:prstGeom prst="rect">
            <a:avLst/>
          </a:prstGeom>
          <a:noFill/>
        </p:spPr>
        <p:txBody>
          <a:bodyPr vertOverflow="overflow" vert="horz" wrap="square" lIns="0" tIns="0" rIns="0" bIns="0" rtlCol="0" anchor="t">
            <a:spAutoFit/>
          </a:bodyPr>
          <a:lstStyle/>
          <a:p>
            <a:pPr marL="0" indent="0" algn="l">
              <a:spcAft>
                <a:spcPts val="600"/>
              </a:spcAft>
              <a:tabLst/>
            </a:pPr>
            <a:r>
              <a:rPr lang="en-US" sz="1050" b="1">
                <a:solidFill>
                  <a:srgbClr val="0057FF"/>
                </a:solidFill>
                <a:latin typeface="Arial"/>
                <a:cs typeface="Arial"/>
              </a:rPr>
              <a:t>DISCOVER AND DEFINE</a:t>
            </a:r>
            <a:endParaRPr lang="en-US" sz="1050" b="1" dirty="0">
              <a:solidFill>
                <a:srgbClr val="0057FF"/>
              </a:solidFill>
              <a:latin typeface="Arial"/>
              <a:cs typeface="Arial"/>
            </a:endParaRPr>
          </a:p>
        </p:txBody>
      </p:sp>
      <p:sp>
        <p:nvSpPr>
          <p:cNvPr id="36" name="TextBox 35">
            <a:extLst>
              <a:ext uri="{FF2B5EF4-FFF2-40B4-BE49-F238E27FC236}">
                <a16:creationId xmlns:a16="http://schemas.microsoft.com/office/drawing/2014/main" id="{9280086F-9CA6-FA46-A8C6-30B55BC127BE}"/>
              </a:ext>
            </a:extLst>
          </p:cNvPr>
          <p:cNvSpPr txBox="1"/>
          <p:nvPr/>
        </p:nvSpPr>
        <p:spPr>
          <a:xfrm>
            <a:off x="6375400" y="1727200"/>
            <a:ext cx="5207000" cy="203200"/>
          </a:xfrm>
          <a:prstGeom prst="rect">
            <a:avLst/>
          </a:prstGeom>
          <a:noFill/>
        </p:spPr>
        <p:txBody>
          <a:bodyPr vertOverflow="overflow" vert="horz" wrap="square" lIns="0" tIns="0" rIns="0" bIns="0" rtlCol="0" anchor="t">
            <a:spAutoFit/>
          </a:bodyPr>
          <a:lstStyle/>
          <a:p>
            <a:pPr marL="0" indent="0" algn="l">
              <a:spcAft>
                <a:spcPts val="600"/>
              </a:spcAft>
              <a:tabLst/>
            </a:pPr>
            <a:r>
              <a:rPr lang="en-US" sz="1050" b="1">
                <a:solidFill>
                  <a:srgbClr val="0057FF"/>
                </a:solidFill>
                <a:latin typeface="Arial"/>
                <a:cs typeface="Arial"/>
              </a:rPr>
              <a:t>DELIVER AND TRANSITION</a:t>
            </a:r>
            <a:endParaRPr lang="en-US" sz="1050" b="1" dirty="0">
              <a:solidFill>
                <a:srgbClr val="0057FF"/>
              </a:solidFill>
              <a:latin typeface="Arial"/>
              <a:cs typeface="Arial"/>
            </a:endParaRPr>
          </a:p>
        </p:txBody>
      </p:sp>
      <p:sp>
        <p:nvSpPr>
          <p:cNvPr id="37" name="Rectangle 36">
            <a:extLst>
              <a:ext uri="{FF2B5EF4-FFF2-40B4-BE49-F238E27FC236}">
                <a16:creationId xmlns:a16="http://schemas.microsoft.com/office/drawing/2014/main" id="{C78805B6-FAE8-E240-8141-4DDC33957D32}"/>
              </a:ext>
            </a:extLst>
          </p:cNvPr>
          <p:cNvSpPr/>
          <p:nvPr/>
        </p:nvSpPr>
        <p:spPr bwMode="auto">
          <a:xfrm>
            <a:off x="6032500" y="1727200"/>
            <a:ext cx="12700" cy="3898900"/>
          </a:xfrm>
          <a:prstGeom prst="rect">
            <a:avLst/>
          </a:prstGeom>
          <a:solidFill>
            <a:srgbClr val="C8D5E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8" name="Rectangle 37">
            <a:extLst>
              <a:ext uri="{FF2B5EF4-FFF2-40B4-BE49-F238E27FC236}">
                <a16:creationId xmlns:a16="http://schemas.microsoft.com/office/drawing/2014/main" id="{A9C5D71B-BC10-F348-B7C2-B6591AC9FD5C}"/>
              </a:ext>
            </a:extLst>
          </p:cNvPr>
          <p:cNvSpPr/>
          <p:nvPr/>
        </p:nvSpPr>
        <p:spPr bwMode="auto">
          <a:xfrm>
            <a:off x="609600" y="2057400"/>
            <a:ext cx="5080000" cy="1016000"/>
          </a:xfrm>
          <a:prstGeom prst="rect">
            <a:avLst/>
          </a:prstGeom>
          <a:solidFill>
            <a:srgbClr val="F5F8F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9" name="Rectangle 38">
            <a:extLst>
              <a:ext uri="{FF2B5EF4-FFF2-40B4-BE49-F238E27FC236}">
                <a16:creationId xmlns:a16="http://schemas.microsoft.com/office/drawing/2014/main" id="{EE25EF1C-716E-8B48-B501-63E9558D944C}"/>
              </a:ext>
            </a:extLst>
          </p:cNvPr>
          <p:cNvSpPr/>
          <p:nvPr/>
        </p:nvSpPr>
        <p:spPr bwMode="auto">
          <a:xfrm>
            <a:off x="609600" y="2057400"/>
            <a:ext cx="50800" cy="10160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0" name="TextBox 39">
            <a:extLst>
              <a:ext uri="{FF2B5EF4-FFF2-40B4-BE49-F238E27FC236}">
                <a16:creationId xmlns:a16="http://schemas.microsoft.com/office/drawing/2014/main" id="{62FC0DE5-B585-1148-BE3C-FA8036708CB5}"/>
              </a:ext>
            </a:extLst>
          </p:cNvPr>
          <p:cNvSpPr txBox="1"/>
          <p:nvPr/>
        </p:nvSpPr>
        <p:spPr>
          <a:xfrm>
            <a:off x="812800" y="2209800"/>
            <a:ext cx="431800" cy="254000"/>
          </a:xfrm>
          <a:prstGeom prst="rect">
            <a:avLst/>
          </a:prstGeom>
          <a:noFill/>
        </p:spPr>
        <p:txBody>
          <a:bodyPr vertOverflow="overflow" vert="horz" wrap="square" lIns="0" tIns="0" rIns="0" bIns="0" rtlCol="0" anchor="ctr" anchorCtr="0">
            <a:spAutoFit/>
          </a:bodyPr>
          <a:lstStyle/>
          <a:p>
            <a:pPr marL="0" indent="0" algn="l">
              <a:spcAft>
                <a:spcPts val="600"/>
              </a:spcAft>
              <a:tabLst/>
            </a:pPr>
            <a:r>
              <a:rPr lang="en-US" sz="1050" b="1">
                <a:solidFill>
                  <a:srgbClr val="E600A9"/>
                </a:solidFill>
                <a:latin typeface="Arial"/>
                <a:cs typeface="Arial"/>
              </a:rPr>
              <a:t>01</a:t>
            </a:r>
            <a:endParaRPr lang="en-US" sz="1050" b="1" dirty="0">
              <a:solidFill>
                <a:srgbClr val="E600A9"/>
              </a:solidFill>
              <a:latin typeface="Arial"/>
              <a:cs typeface="Arial"/>
            </a:endParaRPr>
          </a:p>
        </p:txBody>
      </p:sp>
      <p:sp>
        <p:nvSpPr>
          <p:cNvPr id="41" name="TextBox 40">
            <a:extLst>
              <a:ext uri="{FF2B5EF4-FFF2-40B4-BE49-F238E27FC236}">
                <a16:creationId xmlns:a16="http://schemas.microsoft.com/office/drawing/2014/main" id="{8320896D-FF92-7347-B464-4697F9152E05}"/>
              </a:ext>
            </a:extLst>
          </p:cNvPr>
          <p:cNvSpPr txBox="1"/>
          <p:nvPr/>
        </p:nvSpPr>
        <p:spPr>
          <a:xfrm>
            <a:off x="1397000" y="2209800"/>
            <a:ext cx="4089400" cy="254000"/>
          </a:xfrm>
          <a:prstGeom prst="rect">
            <a:avLst/>
          </a:prstGeom>
          <a:noFill/>
        </p:spPr>
        <p:txBody>
          <a:bodyPr vertOverflow="overflow" vert="horz" wrap="square" lIns="0" tIns="0" rIns="0" bIns="0" rtlCol="0" anchor="ctr" anchorCtr="0">
            <a:spAutoFit/>
          </a:bodyPr>
          <a:lstStyle/>
          <a:p>
            <a:pPr marL="0" indent="0" algn="l">
              <a:spcAft>
                <a:spcPts val="600"/>
              </a:spcAft>
              <a:tabLst/>
            </a:pPr>
            <a:r>
              <a:rPr lang="en-US" sz="1150" b="1">
                <a:solidFill>
                  <a:srgbClr val="09095B"/>
                </a:solidFill>
                <a:latin typeface="Arial"/>
                <a:cs typeface="Arial"/>
              </a:rPr>
              <a:t>RECONSTRUCT BUSINESS BEHAVIOR</a:t>
            </a:r>
            <a:endParaRPr lang="en-US" sz="1150" b="1" dirty="0">
              <a:solidFill>
                <a:srgbClr val="09095B"/>
              </a:solidFill>
              <a:latin typeface="Arial"/>
              <a:cs typeface="Arial"/>
            </a:endParaRPr>
          </a:p>
        </p:txBody>
      </p:sp>
      <p:sp>
        <p:nvSpPr>
          <p:cNvPr id="42" name="TextBox 41">
            <a:extLst>
              <a:ext uri="{FF2B5EF4-FFF2-40B4-BE49-F238E27FC236}">
                <a16:creationId xmlns:a16="http://schemas.microsoft.com/office/drawing/2014/main" id="{BB3C1202-A557-BC4D-8DCC-5ADA7CE8D82D}"/>
              </a:ext>
            </a:extLst>
          </p:cNvPr>
          <p:cNvSpPr txBox="1"/>
          <p:nvPr/>
        </p:nvSpPr>
        <p:spPr>
          <a:xfrm>
            <a:off x="1397000" y="2540000"/>
            <a:ext cx="4089400" cy="406400"/>
          </a:xfrm>
          <a:prstGeom prst="rect">
            <a:avLst/>
          </a:prstGeom>
          <a:noFill/>
        </p:spPr>
        <p:txBody>
          <a:bodyPr vertOverflow="overflow" vert="horz" wrap="square" lIns="0" tIns="0" rIns="0" bIns="0" rtlCol="0" anchor="t">
            <a:spAutoFit/>
          </a:bodyPr>
          <a:lstStyle/>
          <a:p>
            <a:pPr marL="0" indent="0" algn="l">
              <a:spcAft>
                <a:spcPts val="600"/>
              </a:spcAft>
              <a:tabLst/>
            </a:pPr>
            <a:r>
              <a:rPr lang="en-US" sz="1050">
                <a:solidFill>
                  <a:srgbClr val="20205E"/>
                </a:solidFill>
                <a:latin typeface="Arial"/>
                <a:cs typeface="Arial"/>
              </a:rPr>
              <a:t>Document current processes, rules, exceptions, and workarounds—and the business outcomes and controls they support.</a:t>
            </a:r>
            <a:endParaRPr lang="en-US" sz="1050" dirty="0">
              <a:solidFill>
                <a:srgbClr val="20205E"/>
              </a:solidFill>
              <a:latin typeface="Arial"/>
              <a:cs typeface="Arial"/>
            </a:endParaRPr>
          </a:p>
        </p:txBody>
      </p:sp>
      <p:sp>
        <p:nvSpPr>
          <p:cNvPr id="43" name="Rectangle 42">
            <a:extLst>
              <a:ext uri="{FF2B5EF4-FFF2-40B4-BE49-F238E27FC236}">
                <a16:creationId xmlns:a16="http://schemas.microsoft.com/office/drawing/2014/main" id="{B512A451-F8EA-914E-9B59-90FD740612FA}"/>
              </a:ext>
            </a:extLst>
          </p:cNvPr>
          <p:cNvSpPr/>
          <p:nvPr/>
        </p:nvSpPr>
        <p:spPr bwMode="auto">
          <a:xfrm>
            <a:off x="609600" y="3225800"/>
            <a:ext cx="5080000" cy="1016000"/>
          </a:xfrm>
          <a:prstGeom prst="rect">
            <a:avLst/>
          </a:prstGeom>
          <a:solidFill>
            <a:srgbClr val="F5F8F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4" name="Rectangle 43">
            <a:extLst>
              <a:ext uri="{FF2B5EF4-FFF2-40B4-BE49-F238E27FC236}">
                <a16:creationId xmlns:a16="http://schemas.microsoft.com/office/drawing/2014/main" id="{94DFD89F-510E-D24E-8EC6-6160F3C9016C}"/>
              </a:ext>
            </a:extLst>
          </p:cNvPr>
          <p:cNvSpPr/>
          <p:nvPr/>
        </p:nvSpPr>
        <p:spPr bwMode="auto">
          <a:xfrm>
            <a:off x="609600" y="3225800"/>
            <a:ext cx="50800" cy="10160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5" name="TextBox 44">
            <a:extLst>
              <a:ext uri="{FF2B5EF4-FFF2-40B4-BE49-F238E27FC236}">
                <a16:creationId xmlns:a16="http://schemas.microsoft.com/office/drawing/2014/main" id="{506469F1-016D-E24B-8BE2-6BB0A641EF11}"/>
              </a:ext>
            </a:extLst>
          </p:cNvPr>
          <p:cNvSpPr txBox="1"/>
          <p:nvPr/>
        </p:nvSpPr>
        <p:spPr>
          <a:xfrm>
            <a:off x="812800" y="3378200"/>
            <a:ext cx="431800" cy="254000"/>
          </a:xfrm>
          <a:prstGeom prst="rect">
            <a:avLst/>
          </a:prstGeom>
          <a:noFill/>
        </p:spPr>
        <p:txBody>
          <a:bodyPr vertOverflow="overflow" vert="horz" wrap="square" lIns="0" tIns="0" rIns="0" bIns="0" rtlCol="0" anchor="ctr" anchorCtr="0">
            <a:spAutoFit/>
          </a:bodyPr>
          <a:lstStyle/>
          <a:p>
            <a:pPr marL="0" indent="0" algn="l">
              <a:spcAft>
                <a:spcPts val="600"/>
              </a:spcAft>
              <a:tabLst/>
            </a:pPr>
            <a:r>
              <a:rPr lang="en-US" sz="1050" b="1">
                <a:solidFill>
                  <a:srgbClr val="E600A9"/>
                </a:solidFill>
                <a:latin typeface="Arial"/>
                <a:cs typeface="Arial"/>
              </a:rPr>
              <a:t>02</a:t>
            </a:r>
            <a:endParaRPr lang="en-US" sz="1050" b="1" dirty="0">
              <a:solidFill>
                <a:srgbClr val="E600A9"/>
              </a:solidFill>
              <a:latin typeface="Arial"/>
              <a:cs typeface="Arial"/>
            </a:endParaRPr>
          </a:p>
        </p:txBody>
      </p:sp>
      <p:sp>
        <p:nvSpPr>
          <p:cNvPr id="46" name="TextBox 45">
            <a:extLst>
              <a:ext uri="{FF2B5EF4-FFF2-40B4-BE49-F238E27FC236}">
                <a16:creationId xmlns:a16="http://schemas.microsoft.com/office/drawing/2014/main" id="{081576CA-D6E8-EB47-B262-169F5A630F76}"/>
              </a:ext>
            </a:extLst>
          </p:cNvPr>
          <p:cNvSpPr txBox="1"/>
          <p:nvPr/>
        </p:nvSpPr>
        <p:spPr>
          <a:xfrm>
            <a:off x="1397000" y="3378200"/>
            <a:ext cx="4089400" cy="254000"/>
          </a:xfrm>
          <a:prstGeom prst="rect">
            <a:avLst/>
          </a:prstGeom>
          <a:noFill/>
        </p:spPr>
        <p:txBody>
          <a:bodyPr vertOverflow="overflow" vert="horz" wrap="square" lIns="0" tIns="0" rIns="0" bIns="0" rtlCol="0" anchor="ctr" anchorCtr="0">
            <a:spAutoFit/>
          </a:bodyPr>
          <a:lstStyle/>
          <a:p>
            <a:pPr marL="0" indent="0" algn="l">
              <a:spcAft>
                <a:spcPts val="600"/>
              </a:spcAft>
              <a:tabLst/>
            </a:pPr>
            <a:r>
              <a:rPr lang="en-US" sz="1150" b="1">
                <a:solidFill>
                  <a:srgbClr val="09095B"/>
                </a:solidFill>
                <a:latin typeface="Arial"/>
                <a:cs typeface="Arial"/>
              </a:rPr>
              <a:t>DECIDE WHAT TO RETAIN OR REIMAGINE</a:t>
            </a:r>
            <a:endParaRPr lang="en-US" sz="1150" b="1" dirty="0">
              <a:solidFill>
                <a:srgbClr val="09095B"/>
              </a:solidFill>
              <a:latin typeface="Arial"/>
              <a:cs typeface="Arial"/>
            </a:endParaRPr>
          </a:p>
        </p:txBody>
      </p:sp>
      <p:sp>
        <p:nvSpPr>
          <p:cNvPr id="47" name="TextBox 46">
            <a:extLst>
              <a:ext uri="{FF2B5EF4-FFF2-40B4-BE49-F238E27FC236}">
                <a16:creationId xmlns:a16="http://schemas.microsoft.com/office/drawing/2014/main" id="{C341766E-AC79-A94B-AB14-006749F7E90D}"/>
              </a:ext>
            </a:extLst>
          </p:cNvPr>
          <p:cNvSpPr txBox="1"/>
          <p:nvPr/>
        </p:nvSpPr>
        <p:spPr>
          <a:xfrm>
            <a:off x="1397000" y="3708400"/>
            <a:ext cx="4089400" cy="406400"/>
          </a:xfrm>
          <a:prstGeom prst="rect">
            <a:avLst/>
          </a:prstGeom>
          <a:noFill/>
        </p:spPr>
        <p:txBody>
          <a:bodyPr vertOverflow="overflow" vert="horz" wrap="square" lIns="0" tIns="0" rIns="0" bIns="0" rtlCol="0" anchor="t">
            <a:spAutoFit/>
          </a:bodyPr>
          <a:lstStyle/>
          <a:p>
            <a:pPr marL="0" indent="0" algn="l">
              <a:spcAft>
                <a:spcPts val="600"/>
              </a:spcAft>
              <a:tabLst/>
            </a:pPr>
            <a:r>
              <a:rPr lang="en-US" sz="1050">
                <a:solidFill>
                  <a:srgbClr val="20205E"/>
                </a:solidFill>
                <a:latin typeface="Arial"/>
                <a:cs typeface="Arial"/>
              </a:rPr>
              <a:t>Separate essential processes and controls from obsolete features, defects, duplication, and workarounds.</a:t>
            </a:r>
            <a:endParaRPr lang="en-US" sz="1050" dirty="0">
              <a:solidFill>
                <a:srgbClr val="20205E"/>
              </a:solidFill>
              <a:latin typeface="Arial"/>
              <a:cs typeface="Arial"/>
            </a:endParaRPr>
          </a:p>
        </p:txBody>
      </p:sp>
      <p:sp>
        <p:nvSpPr>
          <p:cNvPr id="48" name="Rectangle 47">
            <a:extLst>
              <a:ext uri="{FF2B5EF4-FFF2-40B4-BE49-F238E27FC236}">
                <a16:creationId xmlns:a16="http://schemas.microsoft.com/office/drawing/2014/main" id="{BABF05C6-8534-C848-A12B-9DC09AE9DF7D}"/>
              </a:ext>
            </a:extLst>
          </p:cNvPr>
          <p:cNvSpPr/>
          <p:nvPr/>
        </p:nvSpPr>
        <p:spPr bwMode="auto">
          <a:xfrm>
            <a:off x="609600" y="4394200"/>
            <a:ext cx="5080000" cy="1016000"/>
          </a:xfrm>
          <a:prstGeom prst="rect">
            <a:avLst/>
          </a:prstGeom>
          <a:solidFill>
            <a:srgbClr val="F5F8F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9" name="Rectangle 48">
            <a:extLst>
              <a:ext uri="{FF2B5EF4-FFF2-40B4-BE49-F238E27FC236}">
                <a16:creationId xmlns:a16="http://schemas.microsoft.com/office/drawing/2014/main" id="{698F3389-93A9-7C46-A759-EDECF985E0CD}"/>
              </a:ext>
            </a:extLst>
          </p:cNvPr>
          <p:cNvSpPr/>
          <p:nvPr/>
        </p:nvSpPr>
        <p:spPr bwMode="auto">
          <a:xfrm>
            <a:off x="609600" y="4394200"/>
            <a:ext cx="50800" cy="10160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0" name="TextBox 49">
            <a:extLst>
              <a:ext uri="{FF2B5EF4-FFF2-40B4-BE49-F238E27FC236}">
                <a16:creationId xmlns:a16="http://schemas.microsoft.com/office/drawing/2014/main" id="{A8AC4F85-B4EC-594A-948B-7729BFB3B8A1}"/>
              </a:ext>
            </a:extLst>
          </p:cNvPr>
          <p:cNvSpPr txBox="1"/>
          <p:nvPr/>
        </p:nvSpPr>
        <p:spPr>
          <a:xfrm>
            <a:off x="812800" y="4546600"/>
            <a:ext cx="431800" cy="254000"/>
          </a:xfrm>
          <a:prstGeom prst="rect">
            <a:avLst/>
          </a:prstGeom>
          <a:noFill/>
        </p:spPr>
        <p:txBody>
          <a:bodyPr vertOverflow="overflow" vert="horz" wrap="square" lIns="0" tIns="0" rIns="0" bIns="0" rtlCol="0" anchor="ctr" anchorCtr="0">
            <a:spAutoFit/>
          </a:bodyPr>
          <a:lstStyle/>
          <a:p>
            <a:pPr marL="0" indent="0" algn="l">
              <a:spcAft>
                <a:spcPts val="600"/>
              </a:spcAft>
              <a:tabLst/>
            </a:pPr>
            <a:r>
              <a:rPr lang="en-US" sz="1050" b="1">
                <a:solidFill>
                  <a:srgbClr val="E600A9"/>
                </a:solidFill>
                <a:latin typeface="Arial"/>
                <a:cs typeface="Arial"/>
              </a:rPr>
              <a:t>03</a:t>
            </a:r>
            <a:endParaRPr lang="en-US" sz="1050" b="1" dirty="0">
              <a:solidFill>
                <a:srgbClr val="E600A9"/>
              </a:solidFill>
              <a:latin typeface="Arial"/>
              <a:cs typeface="Arial"/>
            </a:endParaRPr>
          </a:p>
        </p:txBody>
      </p:sp>
      <p:sp>
        <p:nvSpPr>
          <p:cNvPr id="51" name="TextBox 50">
            <a:extLst>
              <a:ext uri="{FF2B5EF4-FFF2-40B4-BE49-F238E27FC236}">
                <a16:creationId xmlns:a16="http://schemas.microsoft.com/office/drawing/2014/main" id="{8F5BD97E-5DC9-1F44-A093-4AEFED0CCAA1}"/>
              </a:ext>
            </a:extLst>
          </p:cNvPr>
          <p:cNvSpPr txBox="1"/>
          <p:nvPr/>
        </p:nvSpPr>
        <p:spPr>
          <a:xfrm>
            <a:off x="1397000" y="4546600"/>
            <a:ext cx="4089400" cy="254000"/>
          </a:xfrm>
          <a:prstGeom prst="rect">
            <a:avLst/>
          </a:prstGeom>
          <a:noFill/>
        </p:spPr>
        <p:txBody>
          <a:bodyPr vertOverflow="overflow" vert="horz" wrap="square" lIns="0" tIns="0" rIns="0" bIns="0" rtlCol="0" anchor="ctr" anchorCtr="0">
            <a:spAutoFit/>
          </a:bodyPr>
          <a:lstStyle/>
          <a:p>
            <a:pPr marL="0" indent="0" algn="l">
              <a:spcAft>
                <a:spcPts val="600"/>
              </a:spcAft>
              <a:tabLst/>
            </a:pPr>
            <a:r>
              <a:rPr lang="en-US" sz="1150" b="1">
                <a:solidFill>
                  <a:srgbClr val="09095B"/>
                </a:solidFill>
                <a:latin typeface="Arial"/>
                <a:cs typeface="Arial"/>
              </a:rPr>
              <a:t>ALIGN BUSINESS AND TECHNICAL TEAMS</a:t>
            </a:r>
            <a:endParaRPr lang="en-US" sz="1150" b="1" dirty="0">
              <a:solidFill>
                <a:srgbClr val="09095B"/>
              </a:solidFill>
              <a:latin typeface="Arial"/>
              <a:cs typeface="Arial"/>
            </a:endParaRPr>
          </a:p>
        </p:txBody>
      </p:sp>
      <p:sp>
        <p:nvSpPr>
          <p:cNvPr id="52" name="TextBox 51">
            <a:extLst>
              <a:ext uri="{FF2B5EF4-FFF2-40B4-BE49-F238E27FC236}">
                <a16:creationId xmlns:a16="http://schemas.microsoft.com/office/drawing/2014/main" id="{C2C403FA-29D4-AC47-AF01-F2DFE300A958}"/>
              </a:ext>
            </a:extLst>
          </p:cNvPr>
          <p:cNvSpPr txBox="1"/>
          <p:nvPr/>
        </p:nvSpPr>
        <p:spPr>
          <a:xfrm>
            <a:off x="1397000" y="4876800"/>
            <a:ext cx="4089400" cy="406400"/>
          </a:xfrm>
          <a:prstGeom prst="rect">
            <a:avLst/>
          </a:prstGeom>
          <a:noFill/>
        </p:spPr>
        <p:txBody>
          <a:bodyPr vertOverflow="overflow" vert="horz" wrap="square" lIns="0" tIns="0" rIns="0" bIns="0" rtlCol="0" anchor="t">
            <a:spAutoFit/>
          </a:bodyPr>
          <a:lstStyle/>
          <a:p>
            <a:pPr marL="0" indent="0" algn="l">
              <a:spcAft>
                <a:spcPts val="600"/>
              </a:spcAft>
              <a:tabLst/>
            </a:pPr>
            <a:r>
              <a:rPr lang="en-US" sz="1050">
                <a:solidFill>
                  <a:srgbClr val="20205E"/>
                </a:solidFill>
                <a:latin typeface="Arial"/>
                <a:cs typeface="Arial"/>
              </a:rPr>
              <a:t>Translate operator intent into shared process designs, requirements, architecture, tests, training, and operating procedures.</a:t>
            </a:r>
            <a:endParaRPr lang="en-US" sz="1050" dirty="0">
              <a:solidFill>
                <a:srgbClr val="20205E"/>
              </a:solidFill>
              <a:latin typeface="Arial"/>
              <a:cs typeface="Arial"/>
            </a:endParaRPr>
          </a:p>
        </p:txBody>
      </p:sp>
      <p:sp>
        <p:nvSpPr>
          <p:cNvPr id="53" name="Rectangle 52">
            <a:extLst>
              <a:ext uri="{FF2B5EF4-FFF2-40B4-BE49-F238E27FC236}">
                <a16:creationId xmlns:a16="http://schemas.microsoft.com/office/drawing/2014/main" id="{781E9D72-4ADD-D349-9024-08D9C4B07D1A}"/>
              </a:ext>
            </a:extLst>
          </p:cNvPr>
          <p:cNvSpPr/>
          <p:nvPr/>
        </p:nvSpPr>
        <p:spPr bwMode="auto">
          <a:xfrm>
            <a:off x="6375400" y="2057400"/>
            <a:ext cx="5207000" cy="1016000"/>
          </a:xfrm>
          <a:prstGeom prst="rect">
            <a:avLst/>
          </a:prstGeom>
          <a:solidFill>
            <a:srgbClr val="F5F8F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4" name="Rectangle 53">
            <a:extLst>
              <a:ext uri="{FF2B5EF4-FFF2-40B4-BE49-F238E27FC236}">
                <a16:creationId xmlns:a16="http://schemas.microsoft.com/office/drawing/2014/main" id="{E6835307-A2B3-DB4D-BFAD-398A8EF32D60}"/>
              </a:ext>
            </a:extLst>
          </p:cNvPr>
          <p:cNvSpPr/>
          <p:nvPr/>
        </p:nvSpPr>
        <p:spPr bwMode="auto">
          <a:xfrm>
            <a:off x="6375400" y="2057400"/>
            <a:ext cx="50800" cy="10160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5" name="TextBox 54">
            <a:extLst>
              <a:ext uri="{FF2B5EF4-FFF2-40B4-BE49-F238E27FC236}">
                <a16:creationId xmlns:a16="http://schemas.microsoft.com/office/drawing/2014/main" id="{0B57ACA7-75C3-D445-9937-952BFA5DDDC8}"/>
              </a:ext>
            </a:extLst>
          </p:cNvPr>
          <p:cNvSpPr txBox="1"/>
          <p:nvPr/>
        </p:nvSpPr>
        <p:spPr>
          <a:xfrm>
            <a:off x="6578600" y="2209800"/>
            <a:ext cx="431800" cy="254000"/>
          </a:xfrm>
          <a:prstGeom prst="rect">
            <a:avLst/>
          </a:prstGeom>
          <a:noFill/>
        </p:spPr>
        <p:txBody>
          <a:bodyPr vertOverflow="overflow" vert="horz" wrap="square" lIns="0" tIns="0" rIns="0" bIns="0" rtlCol="0" anchor="ctr" anchorCtr="0">
            <a:spAutoFit/>
          </a:bodyPr>
          <a:lstStyle/>
          <a:p>
            <a:pPr marL="0" indent="0" algn="l">
              <a:spcAft>
                <a:spcPts val="600"/>
              </a:spcAft>
              <a:tabLst/>
            </a:pPr>
            <a:r>
              <a:rPr lang="en-US" sz="1050" b="1">
                <a:solidFill>
                  <a:srgbClr val="E600A9"/>
                </a:solidFill>
                <a:latin typeface="Arial"/>
                <a:cs typeface="Arial"/>
              </a:rPr>
              <a:t>04</a:t>
            </a:r>
            <a:endParaRPr lang="en-US" sz="1050" b="1" dirty="0">
              <a:solidFill>
                <a:srgbClr val="E600A9"/>
              </a:solidFill>
              <a:latin typeface="Arial"/>
              <a:cs typeface="Arial"/>
            </a:endParaRPr>
          </a:p>
        </p:txBody>
      </p:sp>
      <p:sp>
        <p:nvSpPr>
          <p:cNvPr id="56" name="TextBox 55">
            <a:extLst>
              <a:ext uri="{FF2B5EF4-FFF2-40B4-BE49-F238E27FC236}">
                <a16:creationId xmlns:a16="http://schemas.microsoft.com/office/drawing/2014/main" id="{2EE41C17-B10E-5646-ABC5-517520723C04}"/>
              </a:ext>
            </a:extLst>
          </p:cNvPr>
          <p:cNvSpPr txBox="1"/>
          <p:nvPr/>
        </p:nvSpPr>
        <p:spPr>
          <a:xfrm>
            <a:off x="7162800" y="2209800"/>
            <a:ext cx="4216400" cy="254000"/>
          </a:xfrm>
          <a:prstGeom prst="rect">
            <a:avLst/>
          </a:prstGeom>
          <a:noFill/>
        </p:spPr>
        <p:txBody>
          <a:bodyPr vertOverflow="overflow" vert="horz" wrap="square" lIns="0" tIns="0" rIns="0" bIns="0" rtlCol="0" anchor="ctr" anchorCtr="0">
            <a:spAutoFit/>
          </a:bodyPr>
          <a:lstStyle/>
          <a:p>
            <a:pPr marL="0" indent="0" algn="l">
              <a:spcAft>
                <a:spcPts val="600"/>
              </a:spcAft>
              <a:tabLst/>
            </a:pPr>
            <a:r>
              <a:rPr lang="en-US" sz="1150" b="1">
                <a:solidFill>
                  <a:srgbClr val="09095B"/>
                </a:solidFill>
                <a:latin typeface="Arial"/>
                <a:cs typeface="Arial"/>
              </a:rPr>
              <a:t>UNTANGLE DEPENDENCIES AND CLEAN DATA</a:t>
            </a:r>
            <a:endParaRPr lang="en-US" sz="1150" b="1" dirty="0">
              <a:solidFill>
                <a:srgbClr val="09095B"/>
              </a:solidFill>
              <a:latin typeface="Arial"/>
              <a:cs typeface="Arial"/>
            </a:endParaRPr>
          </a:p>
        </p:txBody>
      </p:sp>
      <p:sp>
        <p:nvSpPr>
          <p:cNvPr id="57" name="TextBox 56">
            <a:extLst>
              <a:ext uri="{FF2B5EF4-FFF2-40B4-BE49-F238E27FC236}">
                <a16:creationId xmlns:a16="http://schemas.microsoft.com/office/drawing/2014/main" id="{0A14A761-747D-154A-B2A8-D0F5ECB46381}"/>
              </a:ext>
            </a:extLst>
          </p:cNvPr>
          <p:cNvSpPr txBox="1"/>
          <p:nvPr/>
        </p:nvSpPr>
        <p:spPr>
          <a:xfrm>
            <a:off x="7162800" y="2540000"/>
            <a:ext cx="4216400" cy="406400"/>
          </a:xfrm>
          <a:prstGeom prst="rect">
            <a:avLst/>
          </a:prstGeom>
          <a:noFill/>
        </p:spPr>
        <p:txBody>
          <a:bodyPr vertOverflow="overflow" vert="horz" wrap="square" lIns="0" tIns="0" rIns="0" bIns="0" rtlCol="0" anchor="t">
            <a:spAutoFit/>
          </a:bodyPr>
          <a:lstStyle/>
          <a:p>
            <a:pPr marL="0" indent="0" algn="l">
              <a:spcAft>
                <a:spcPts val="600"/>
              </a:spcAft>
              <a:tabLst/>
            </a:pPr>
            <a:r>
              <a:rPr lang="en-US" sz="1050">
                <a:solidFill>
                  <a:srgbClr val="20205E"/>
                </a:solidFill>
                <a:latin typeface="Arial"/>
                <a:cs typeface="Arial"/>
              </a:rPr>
              <a:t>Map integrations and shared data, then resolve dirty, duplicate, incomplete, and inconsistent records before migration.</a:t>
            </a:r>
            <a:endParaRPr lang="en-US" sz="1050" dirty="0">
              <a:solidFill>
                <a:srgbClr val="20205E"/>
              </a:solidFill>
              <a:latin typeface="Arial"/>
              <a:cs typeface="Arial"/>
            </a:endParaRPr>
          </a:p>
        </p:txBody>
      </p:sp>
      <p:sp>
        <p:nvSpPr>
          <p:cNvPr id="58" name="Rectangle 57">
            <a:extLst>
              <a:ext uri="{FF2B5EF4-FFF2-40B4-BE49-F238E27FC236}">
                <a16:creationId xmlns:a16="http://schemas.microsoft.com/office/drawing/2014/main" id="{C0D0E9CB-C03A-2241-8A30-9C26D654E217}"/>
              </a:ext>
            </a:extLst>
          </p:cNvPr>
          <p:cNvSpPr/>
          <p:nvPr/>
        </p:nvSpPr>
        <p:spPr bwMode="auto">
          <a:xfrm>
            <a:off x="6375400" y="3225800"/>
            <a:ext cx="5207000" cy="1016000"/>
          </a:xfrm>
          <a:prstGeom prst="rect">
            <a:avLst/>
          </a:prstGeom>
          <a:solidFill>
            <a:srgbClr val="F5F8F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9" name="Rectangle 58">
            <a:extLst>
              <a:ext uri="{FF2B5EF4-FFF2-40B4-BE49-F238E27FC236}">
                <a16:creationId xmlns:a16="http://schemas.microsoft.com/office/drawing/2014/main" id="{E0C0C2F3-93F1-3941-8942-516825C4440F}"/>
              </a:ext>
            </a:extLst>
          </p:cNvPr>
          <p:cNvSpPr/>
          <p:nvPr/>
        </p:nvSpPr>
        <p:spPr bwMode="auto">
          <a:xfrm>
            <a:off x="6375400" y="3225800"/>
            <a:ext cx="50800" cy="1016000"/>
          </a:xfrm>
          <a:prstGeom prst="rect">
            <a:avLst/>
          </a:prstGeom>
          <a:solidFill>
            <a:srgbClr val="E600A9"/>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0" name="TextBox 59">
            <a:extLst>
              <a:ext uri="{FF2B5EF4-FFF2-40B4-BE49-F238E27FC236}">
                <a16:creationId xmlns:a16="http://schemas.microsoft.com/office/drawing/2014/main" id="{3C3DDF87-B113-D940-AFC2-6FFA3A250C24}"/>
              </a:ext>
            </a:extLst>
          </p:cNvPr>
          <p:cNvSpPr txBox="1"/>
          <p:nvPr/>
        </p:nvSpPr>
        <p:spPr>
          <a:xfrm>
            <a:off x="6578600" y="3378200"/>
            <a:ext cx="431800" cy="254000"/>
          </a:xfrm>
          <a:prstGeom prst="rect">
            <a:avLst/>
          </a:prstGeom>
          <a:noFill/>
        </p:spPr>
        <p:txBody>
          <a:bodyPr vertOverflow="overflow" vert="horz" wrap="square" lIns="0" tIns="0" rIns="0" bIns="0" rtlCol="0" anchor="ctr" anchorCtr="0">
            <a:spAutoFit/>
          </a:bodyPr>
          <a:lstStyle/>
          <a:p>
            <a:pPr marL="0" indent="0" algn="l">
              <a:spcAft>
                <a:spcPts val="600"/>
              </a:spcAft>
              <a:tabLst/>
            </a:pPr>
            <a:r>
              <a:rPr lang="en-US" sz="1050" b="1">
                <a:solidFill>
                  <a:srgbClr val="E600A9"/>
                </a:solidFill>
                <a:latin typeface="Arial"/>
                <a:cs typeface="Arial"/>
              </a:rPr>
              <a:t>05</a:t>
            </a:r>
            <a:endParaRPr lang="en-US" sz="1050" b="1" dirty="0">
              <a:solidFill>
                <a:srgbClr val="E600A9"/>
              </a:solidFill>
              <a:latin typeface="Arial"/>
              <a:cs typeface="Arial"/>
            </a:endParaRPr>
          </a:p>
        </p:txBody>
      </p:sp>
      <p:sp>
        <p:nvSpPr>
          <p:cNvPr id="61" name="TextBox 60">
            <a:extLst>
              <a:ext uri="{FF2B5EF4-FFF2-40B4-BE49-F238E27FC236}">
                <a16:creationId xmlns:a16="http://schemas.microsoft.com/office/drawing/2014/main" id="{758E3959-11F3-3E42-9755-0A135D93F615}"/>
              </a:ext>
            </a:extLst>
          </p:cNvPr>
          <p:cNvSpPr txBox="1"/>
          <p:nvPr/>
        </p:nvSpPr>
        <p:spPr>
          <a:xfrm>
            <a:off x="7162800" y="3378200"/>
            <a:ext cx="4216400" cy="254000"/>
          </a:xfrm>
          <a:prstGeom prst="rect">
            <a:avLst/>
          </a:prstGeom>
          <a:noFill/>
        </p:spPr>
        <p:txBody>
          <a:bodyPr vertOverflow="overflow" vert="horz" wrap="square" lIns="0" tIns="0" rIns="0" bIns="0" rtlCol="0" anchor="ctr" anchorCtr="0">
            <a:spAutoFit/>
          </a:bodyPr>
          <a:lstStyle/>
          <a:p>
            <a:pPr marL="0" indent="0" algn="l">
              <a:spcAft>
                <a:spcPts val="600"/>
              </a:spcAft>
              <a:tabLst/>
            </a:pPr>
            <a:r>
              <a:rPr lang="en-US" sz="1150" b="1">
                <a:solidFill>
                  <a:srgbClr val="09095B"/>
                </a:solidFill>
                <a:latin typeface="Arial"/>
                <a:cs typeface="Arial"/>
              </a:rPr>
              <a:t>VALIDATE DURING PARTIAL CUTOVER</a:t>
            </a:r>
            <a:endParaRPr lang="en-US" sz="1150" b="1" dirty="0">
              <a:solidFill>
                <a:srgbClr val="09095B"/>
              </a:solidFill>
              <a:latin typeface="Arial"/>
              <a:cs typeface="Arial"/>
            </a:endParaRPr>
          </a:p>
        </p:txBody>
      </p:sp>
      <p:sp>
        <p:nvSpPr>
          <p:cNvPr id="62" name="TextBox 61">
            <a:extLst>
              <a:ext uri="{FF2B5EF4-FFF2-40B4-BE49-F238E27FC236}">
                <a16:creationId xmlns:a16="http://schemas.microsoft.com/office/drawing/2014/main" id="{E9A08AA0-A697-C648-BA07-1E45C8A9C31F}"/>
              </a:ext>
            </a:extLst>
          </p:cNvPr>
          <p:cNvSpPr txBox="1"/>
          <p:nvPr/>
        </p:nvSpPr>
        <p:spPr>
          <a:xfrm>
            <a:off x="7162800" y="3708400"/>
            <a:ext cx="4216400" cy="406400"/>
          </a:xfrm>
          <a:prstGeom prst="rect">
            <a:avLst/>
          </a:prstGeom>
          <a:noFill/>
        </p:spPr>
        <p:txBody>
          <a:bodyPr vertOverflow="overflow" vert="horz" wrap="square" lIns="0" tIns="0" rIns="0" bIns="0" rtlCol="0" anchor="t">
            <a:spAutoFit/>
          </a:bodyPr>
          <a:lstStyle/>
          <a:p>
            <a:pPr marL="0" indent="0" algn="l">
              <a:spcAft>
                <a:spcPts val="600"/>
              </a:spcAft>
              <a:tabLst/>
            </a:pPr>
            <a:r>
              <a:rPr lang="en-US" sz="1050">
                <a:solidFill>
                  <a:srgbClr val="20205E"/>
                </a:solidFill>
                <a:latin typeface="Arial"/>
                <a:cs typeface="Arial"/>
              </a:rPr>
              <a:t>Run UAT while legacy and modern modules coexist, reconciling results and validating end-to-end behavior across both environments.</a:t>
            </a:r>
            <a:endParaRPr lang="en-US" sz="1050" dirty="0">
              <a:solidFill>
                <a:srgbClr val="20205E"/>
              </a:solidFill>
              <a:latin typeface="Arial"/>
              <a:cs typeface="Arial"/>
            </a:endParaRPr>
          </a:p>
        </p:txBody>
      </p:sp>
      <p:sp>
        <p:nvSpPr>
          <p:cNvPr id="63" name="Rectangle 62">
            <a:extLst>
              <a:ext uri="{FF2B5EF4-FFF2-40B4-BE49-F238E27FC236}">
                <a16:creationId xmlns:a16="http://schemas.microsoft.com/office/drawing/2014/main" id="{7B72E289-C6C0-9641-A8AF-D1D36005D75B}"/>
              </a:ext>
            </a:extLst>
          </p:cNvPr>
          <p:cNvSpPr/>
          <p:nvPr/>
        </p:nvSpPr>
        <p:spPr bwMode="auto">
          <a:xfrm>
            <a:off x="6375400" y="4394200"/>
            <a:ext cx="5207000" cy="1016000"/>
          </a:xfrm>
          <a:prstGeom prst="rect">
            <a:avLst/>
          </a:prstGeom>
          <a:solidFill>
            <a:srgbClr val="F5F8F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4" name="Rectangle 63">
            <a:extLst>
              <a:ext uri="{FF2B5EF4-FFF2-40B4-BE49-F238E27FC236}">
                <a16:creationId xmlns:a16="http://schemas.microsoft.com/office/drawing/2014/main" id="{15257C1B-BC14-4545-AF99-58F5BBC7E70F}"/>
              </a:ext>
            </a:extLst>
          </p:cNvPr>
          <p:cNvSpPr/>
          <p:nvPr/>
        </p:nvSpPr>
        <p:spPr bwMode="auto">
          <a:xfrm>
            <a:off x="6375400" y="4394200"/>
            <a:ext cx="50800" cy="1016000"/>
          </a:xfrm>
          <a:prstGeom prst="rect">
            <a:avLst/>
          </a:prstGeom>
          <a:solidFill>
            <a:srgbClr val="E600A9"/>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5" name="TextBox 64">
            <a:extLst>
              <a:ext uri="{FF2B5EF4-FFF2-40B4-BE49-F238E27FC236}">
                <a16:creationId xmlns:a16="http://schemas.microsoft.com/office/drawing/2014/main" id="{41FAC4B5-9A9C-554A-9444-69A6E9793D43}"/>
              </a:ext>
            </a:extLst>
          </p:cNvPr>
          <p:cNvSpPr txBox="1"/>
          <p:nvPr/>
        </p:nvSpPr>
        <p:spPr>
          <a:xfrm>
            <a:off x="6578600" y="4546600"/>
            <a:ext cx="431800" cy="254000"/>
          </a:xfrm>
          <a:prstGeom prst="rect">
            <a:avLst/>
          </a:prstGeom>
          <a:noFill/>
        </p:spPr>
        <p:txBody>
          <a:bodyPr vertOverflow="overflow" vert="horz" wrap="square" lIns="0" tIns="0" rIns="0" bIns="0" rtlCol="0" anchor="ctr" anchorCtr="0">
            <a:spAutoFit/>
          </a:bodyPr>
          <a:lstStyle/>
          <a:p>
            <a:pPr marL="0" indent="0" algn="l">
              <a:spcAft>
                <a:spcPts val="600"/>
              </a:spcAft>
              <a:tabLst/>
            </a:pPr>
            <a:r>
              <a:rPr lang="en-US" sz="1050" b="1">
                <a:solidFill>
                  <a:srgbClr val="E600A9"/>
                </a:solidFill>
                <a:latin typeface="Arial"/>
                <a:cs typeface="Arial"/>
              </a:rPr>
              <a:t>06</a:t>
            </a:r>
            <a:endParaRPr lang="en-US" sz="1050" b="1" dirty="0">
              <a:solidFill>
                <a:srgbClr val="E600A9"/>
              </a:solidFill>
              <a:latin typeface="Arial"/>
              <a:cs typeface="Arial"/>
            </a:endParaRPr>
          </a:p>
        </p:txBody>
      </p:sp>
      <p:sp>
        <p:nvSpPr>
          <p:cNvPr id="66" name="TextBox 65">
            <a:extLst>
              <a:ext uri="{FF2B5EF4-FFF2-40B4-BE49-F238E27FC236}">
                <a16:creationId xmlns:a16="http://schemas.microsoft.com/office/drawing/2014/main" id="{D712ADB9-69FA-3C44-A72A-FE1578215EC7}"/>
              </a:ext>
            </a:extLst>
          </p:cNvPr>
          <p:cNvSpPr txBox="1"/>
          <p:nvPr/>
        </p:nvSpPr>
        <p:spPr>
          <a:xfrm>
            <a:off x="7162800" y="4546600"/>
            <a:ext cx="4216400" cy="254000"/>
          </a:xfrm>
          <a:prstGeom prst="rect">
            <a:avLst/>
          </a:prstGeom>
          <a:noFill/>
        </p:spPr>
        <p:txBody>
          <a:bodyPr vertOverflow="overflow" vert="horz" wrap="square" lIns="0" tIns="0" rIns="0" bIns="0" rtlCol="0" anchor="ctr" anchorCtr="0">
            <a:spAutoFit/>
          </a:bodyPr>
          <a:lstStyle/>
          <a:p>
            <a:pPr marL="0" indent="0" algn="l">
              <a:spcAft>
                <a:spcPts val="600"/>
              </a:spcAft>
              <a:tabLst/>
            </a:pPr>
            <a:r>
              <a:rPr lang="en-US" sz="1150" b="1">
                <a:solidFill>
                  <a:srgbClr val="09095B"/>
                </a:solidFill>
                <a:latin typeface="Arial"/>
                <a:cs typeface="Arial"/>
              </a:rPr>
              <a:t>EXECUTE A SAFE CUTOVER</a:t>
            </a:r>
            <a:endParaRPr lang="en-US" sz="1150" b="1" dirty="0">
              <a:solidFill>
                <a:srgbClr val="09095B"/>
              </a:solidFill>
              <a:latin typeface="Arial"/>
              <a:cs typeface="Arial"/>
            </a:endParaRPr>
          </a:p>
        </p:txBody>
      </p:sp>
      <p:sp>
        <p:nvSpPr>
          <p:cNvPr id="67" name="TextBox 66">
            <a:extLst>
              <a:ext uri="{FF2B5EF4-FFF2-40B4-BE49-F238E27FC236}">
                <a16:creationId xmlns:a16="http://schemas.microsoft.com/office/drawing/2014/main" id="{F28F9E27-C8A1-0A45-888E-64A492F711F4}"/>
              </a:ext>
            </a:extLst>
          </p:cNvPr>
          <p:cNvSpPr txBox="1"/>
          <p:nvPr/>
        </p:nvSpPr>
        <p:spPr>
          <a:xfrm>
            <a:off x="7162800" y="4876800"/>
            <a:ext cx="4216400" cy="406400"/>
          </a:xfrm>
          <a:prstGeom prst="rect">
            <a:avLst/>
          </a:prstGeom>
          <a:noFill/>
        </p:spPr>
        <p:txBody>
          <a:bodyPr vertOverflow="overflow" vert="horz" wrap="square" lIns="0" tIns="0" rIns="0" bIns="0" rtlCol="0" anchor="t">
            <a:spAutoFit/>
          </a:bodyPr>
          <a:lstStyle/>
          <a:p>
            <a:pPr marL="0" indent="0" algn="l">
              <a:spcAft>
                <a:spcPts val="600"/>
              </a:spcAft>
              <a:tabLst/>
            </a:pPr>
            <a:r>
              <a:rPr lang="en-US" sz="1050">
                <a:solidFill>
                  <a:srgbClr val="20205E"/>
                </a:solidFill>
                <a:latin typeface="Arial"/>
                <a:cs typeface="Arial"/>
              </a:rPr>
              <a:t>Sequence data and user migration, manage rollback and controls, and protect ongoing operations through the transition.</a:t>
            </a:r>
            <a:endParaRPr lang="en-US" sz="1050" dirty="0">
              <a:solidFill>
                <a:srgbClr val="20205E"/>
              </a:solidFill>
              <a:latin typeface="Arial"/>
              <a:cs typeface="Arial"/>
            </a:endParaRPr>
          </a:p>
        </p:txBody>
      </p:sp>
      <p:sp>
        <p:nvSpPr>
          <p:cNvPr id="68" name="TextBox 67">
            <a:extLst>
              <a:ext uri="{FF2B5EF4-FFF2-40B4-BE49-F238E27FC236}">
                <a16:creationId xmlns:a16="http://schemas.microsoft.com/office/drawing/2014/main" id="{81DBDA0F-0A11-724B-8FE2-D533F51D81A9}"/>
              </a:ext>
            </a:extLst>
          </p:cNvPr>
          <p:cNvSpPr txBox="1"/>
          <p:nvPr/>
        </p:nvSpPr>
        <p:spPr>
          <a:xfrm>
            <a:off x="4318000" y="6388100"/>
            <a:ext cx="7112000" cy="177800"/>
          </a:xfrm>
          <a:prstGeom prst="rect">
            <a:avLst/>
          </a:prstGeom>
          <a:noFill/>
        </p:spPr>
        <p:txBody>
          <a:bodyPr vertOverflow="overflow" vert="horz" wrap="square" lIns="0" tIns="0" rIns="0" bIns="0" rtlCol="0" anchor="t">
            <a:spAutoFit/>
          </a:bodyPr>
          <a:lstStyle/>
          <a:p>
            <a:pPr marL="0" indent="0" algn="l">
              <a:spcAft>
                <a:spcPts val="600"/>
              </a:spcAft>
              <a:tabLst/>
            </a:pPr>
            <a:r>
              <a:rPr lang="en-US" sz="650">
                <a:solidFill>
                  <a:srgbClr val="09095B"/>
                </a:solidFill>
                <a:latin typeface="Arial"/>
                <a:cs typeface="Arial"/>
              </a:rPr>
              <a:t>© 2026 West Monroe Partners | Reproduction and/or distribution without West Monroe Partners’ prior consent is prohibited.</a:t>
            </a:r>
            <a:endParaRPr lang="en-US" sz="650" dirty="0">
              <a:solidFill>
                <a:srgbClr val="09095B"/>
              </a:solidFill>
              <a:latin typeface="Arial"/>
              <a:cs typeface="Arial"/>
            </a:endParaRPr>
          </a:p>
        </p:txBody>
      </p:sp>
      <p:sp>
        <p:nvSpPr>
          <p:cNvPr id="69" name="TextBox 68">
            <a:extLst>
              <a:ext uri="{FF2B5EF4-FFF2-40B4-BE49-F238E27FC236}">
                <a16:creationId xmlns:a16="http://schemas.microsoft.com/office/drawing/2014/main" id="{74F32295-64D4-4949-875B-5AB445E9C74A}"/>
              </a:ext>
            </a:extLst>
          </p:cNvPr>
          <p:cNvSpPr txBox="1"/>
          <p:nvPr/>
        </p:nvSpPr>
        <p:spPr>
          <a:xfrm>
            <a:off x="11633200" y="6388100"/>
            <a:ext cx="152400" cy="177800"/>
          </a:xfrm>
          <a:prstGeom prst="rect">
            <a:avLst/>
          </a:prstGeom>
          <a:noFill/>
        </p:spPr>
        <p:txBody>
          <a:bodyPr vertOverflow="overflow" vert="horz" wrap="square" lIns="0" tIns="0" rIns="0" bIns="0" rtlCol="0" anchor="t">
            <a:spAutoFit/>
          </a:bodyPr>
          <a:lstStyle/>
          <a:p>
            <a:pPr marL="0" indent="0" algn="l">
              <a:spcAft>
                <a:spcPts val="600"/>
              </a:spcAft>
              <a:tabLst/>
            </a:pPr>
            <a:r>
              <a:rPr lang="en-US" sz="650">
                <a:solidFill>
                  <a:srgbClr val="09095B"/>
                </a:solidFill>
                <a:latin typeface="Arial"/>
                <a:cs typeface="Arial"/>
              </a:rPr>
              <a:t>6</a:t>
            </a:r>
            <a:endParaRPr lang="en-US" sz="650" dirty="0">
              <a:solidFill>
                <a:srgbClr val="09095B"/>
              </a:solidFill>
              <a:latin typeface="Arial"/>
              <a:cs typeface="Arial"/>
            </a:endParaRPr>
          </a:p>
        </p:txBody>
      </p:sp>
    </p:spTree>
    <p:custDataLst>
      <p:tags r:id="rId1"/>
    </p:custDataLst>
    <p:extLst>
      <p:ext uri="{BB962C8B-B14F-4D97-AF65-F5344CB8AC3E}">
        <p14:creationId xmlns:p14="http://schemas.microsoft.com/office/powerpoint/2010/main" val="3731873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4015E5-7F77-BA4D-B7F9-3CF4FDC44842}"/>
              </a:ext>
            </a:extLst>
          </p:cNvPr>
          <p:cNvSpPr/>
          <p:nvPr/>
        </p:nvSpPr>
        <p:spPr bwMode="auto">
          <a:xfrm>
            <a:off x="8178800" y="3581400"/>
            <a:ext cx="3556000" cy="1473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Rectangle 10">
            <a:extLst>
              <a:ext uri="{FF2B5EF4-FFF2-40B4-BE49-F238E27FC236}">
                <a16:creationId xmlns:a16="http://schemas.microsoft.com/office/drawing/2014/main" id="{DAEDADC0-C1D7-3546-A9EC-2E96EBDFBBDE}"/>
              </a:ext>
            </a:extLst>
          </p:cNvPr>
          <p:cNvSpPr/>
          <p:nvPr/>
        </p:nvSpPr>
        <p:spPr bwMode="auto">
          <a:xfrm>
            <a:off x="4318000" y="3581400"/>
            <a:ext cx="3556000" cy="1473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 name="Rectangle 8">
            <a:extLst>
              <a:ext uri="{FF2B5EF4-FFF2-40B4-BE49-F238E27FC236}">
                <a16:creationId xmlns:a16="http://schemas.microsoft.com/office/drawing/2014/main" id="{53B203A6-273B-1843-90B7-0F096F15D297}"/>
              </a:ext>
            </a:extLst>
          </p:cNvPr>
          <p:cNvSpPr/>
          <p:nvPr/>
        </p:nvSpPr>
        <p:spPr bwMode="auto">
          <a:xfrm>
            <a:off x="457200" y="3581400"/>
            <a:ext cx="3556000" cy="1473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Rectangle 6">
            <a:extLst>
              <a:ext uri="{FF2B5EF4-FFF2-40B4-BE49-F238E27FC236}">
                <a16:creationId xmlns:a16="http://schemas.microsoft.com/office/drawing/2014/main" id="{7C87620F-80DC-524B-8A02-D08F17F21315}"/>
              </a:ext>
            </a:extLst>
          </p:cNvPr>
          <p:cNvSpPr/>
          <p:nvPr/>
        </p:nvSpPr>
        <p:spPr bwMode="auto">
          <a:xfrm>
            <a:off x="8178800" y="1905000"/>
            <a:ext cx="3556000" cy="1473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FCC04569-6D6F-8B46-B13D-8234578DB869}"/>
              </a:ext>
            </a:extLst>
          </p:cNvPr>
          <p:cNvSpPr/>
          <p:nvPr/>
        </p:nvSpPr>
        <p:spPr bwMode="auto">
          <a:xfrm>
            <a:off x="4318000" y="1905000"/>
            <a:ext cx="3556000" cy="1473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 name="Rectangle 1">
            <a:extLst>
              <a:ext uri="{FF2B5EF4-FFF2-40B4-BE49-F238E27FC236}">
                <a16:creationId xmlns:a16="http://schemas.microsoft.com/office/drawing/2014/main" id="{ADBE1240-5BA6-5F45-9E93-C570D5FF84A5}"/>
              </a:ext>
            </a:extLst>
          </p:cNvPr>
          <p:cNvSpPr/>
          <p:nvPr/>
        </p:nvSpPr>
        <p:spPr bwMode="auto">
          <a:xfrm>
            <a:off x="457200" y="1905000"/>
            <a:ext cx="3556000" cy="1473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 name="TextBox 4">
            <a:extLst>
              <a:ext uri="{FF2B5EF4-FFF2-40B4-BE49-F238E27FC236}">
                <a16:creationId xmlns:a16="http://schemas.microsoft.com/office/drawing/2014/main" id="{EC4EB8B5-055C-614A-9AB3-846DD096C3A7}"/>
              </a:ext>
            </a:extLst>
          </p:cNvPr>
          <p:cNvSpPr txBox="1"/>
          <p:nvPr/>
        </p:nvSpPr>
        <p:spPr>
          <a:xfrm>
            <a:off x="457200" y="533400"/>
            <a:ext cx="11277600" cy="6096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2400" b="1" dirty="0">
                <a:solidFill>
                  <a:srgbClr val="10006B"/>
                </a:solidFill>
                <a:latin typeface="Arial"/>
                <a:cs typeface="Arial"/>
              </a:rPr>
              <a:t>What modernization can unlock for the business</a:t>
            </a:r>
          </a:p>
        </p:txBody>
      </p:sp>
      <p:sp>
        <p:nvSpPr>
          <p:cNvPr id="26" name="Rectangle 25">
            <a:extLst>
              <a:ext uri="{FF2B5EF4-FFF2-40B4-BE49-F238E27FC236}">
                <a16:creationId xmlns:a16="http://schemas.microsoft.com/office/drawing/2014/main" id="{DABA98CA-9CFF-734E-B750-2B26B96736AC}"/>
              </a:ext>
            </a:extLst>
          </p:cNvPr>
          <p:cNvSpPr/>
          <p:nvPr/>
        </p:nvSpPr>
        <p:spPr bwMode="auto">
          <a:xfrm>
            <a:off x="457200" y="1295400"/>
            <a:ext cx="2413000" cy="2794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b="1" i="0" u="none" strike="noStrike" kern="1200" cap="none" spc="0" normalizeH="0" baseline="0" noProof="0">
                <a:ln>
                  <a:noFill/>
                </a:ln>
                <a:solidFill>
                  <a:srgbClr val="F000C8"/>
                </a:solidFill>
                <a:effectLst/>
                <a:uLnTx/>
                <a:uFillTx/>
                <a:latin typeface="Arial"/>
                <a:ea typeface="Roboto" panose="02000000000000000000" pitchFamily="2" charset="0"/>
                <a:cs typeface="Arial"/>
              </a:rPr>
              <a:t>POSSIBLE VALUE DIRECTIONS</a:t>
            </a:r>
            <a:endParaRPr kumimoji="0" lang="en-US" sz="1000" b="1" i="0" u="none" strike="noStrike" kern="1200" cap="none" spc="0" normalizeH="0" baseline="0" noProof="0" dirty="0">
              <a:ln>
                <a:noFill/>
              </a:ln>
              <a:solidFill>
                <a:srgbClr val="F000C8"/>
              </a:solidFill>
              <a:effectLst/>
              <a:uLnTx/>
              <a:uFillTx/>
              <a:latin typeface="Arial"/>
              <a:ea typeface="Roboto" panose="02000000000000000000" pitchFamily="2" charset="0"/>
              <a:cs typeface="Arial"/>
            </a:endParaRPr>
          </a:p>
        </p:txBody>
      </p:sp>
      <p:sp>
        <p:nvSpPr>
          <p:cNvPr id="27" name="TextBox 26">
            <a:extLst>
              <a:ext uri="{FF2B5EF4-FFF2-40B4-BE49-F238E27FC236}">
                <a16:creationId xmlns:a16="http://schemas.microsoft.com/office/drawing/2014/main" id="{40C1E8CA-0FAC-5C47-A1B0-C667F390C7D0}"/>
              </a:ext>
            </a:extLst>
          </p:cNvPr>
          <p:cNvSpPr txBox="1"/>
          <p:nvPr/>
        </p:nvSpPr>
        <p:spPr>
          <a:xfrm>
            <a:off x="3022600" y="1257300"/>
            <a:ext cx="8712200" cy="381000"/>
          </a:xfrm>
          <a:prstGeom prst="rect">
            <a:avLst/>
          </a:prstGeom>
          <a:solidFill>
            <a:srgbClr val="FFFFFF"/>
          </a:solidFill>
          <a:ln>
            <a:noFill/>
          </a:ln>
        </p:spPr>
        <p:txBody>
          <a:bodyPr vertOverflow="overflow" vert="horz" wrap="square" lIns="0" tIns="0" rIns="0" bIns="0" rtlCol="0" anchor="ctr" anchorCtr="0">
            <a:spAutoFit/>
          </a:bodyPr>
          <a:lstStyle/>
          <a:p>
            <a:pPr marL="0" indent="0" algn="l">
              <a:spcAft>
                <a:spcPts val="600"/>
              </a:spcAft>
              <a:tabLst/>
            </a:pPr>
            <a:r>
              <a:rPr lang="en-US" b="1">
                <a:solidFill>
                  <a:srgbClr val="100069"/>
                </a:solidFill>
                <a:latin typeface="Arial"/>
                <a:cs typeface="Arial"/>
              </a:rPr>
              <a:t>Modernization can change how the business grows, operates, and serves people.</a:t>
            </a:r>
            <a:endParaRPr lang="en-US" b="1" dirty="0">
              <a:solidFill>
                <a:srgbClr val="100069"/>
              </a:solidFill>
              <a:latin typeface="Arial"/>
              <a:cs typeface="Arial"/>
            </a:endParaRPr>
          </a:p>
        </p:txBody>
      </p:sp>
      <p:sp>
        <p:nvSpPr>
          <p:cNvPr id="31" name="TextBox 30">
            <a:extLst>
              <a:ext uri="{FF2B5EF4-FFF2-40B4-BE49-F238E27FC236}">
                <a16:creationId xmlns:a16="http://schemas.microsoft.com/office/drawing/2014/main" id="{FDCB9276-6AAF-3147-85C9-26273EAAEC48}"/>
              </a:ext>
            </a:extLst>
          </p:cNvPr>
          <p:cNvSpPr txBox="1"/>
          <p:nvPr/>
        </p:nvSpPr>
        <p:spPr>
          <a:xfrm>
            <a:off x="1066800" y="1968500"/>
            <a:ext cx="2794000" cy="381000"/>
          </a:xfrm>
          <a:prstGeom prst="rect">
            <a:avLst/>
          </a:prstGeom>
          <a:solidFill>
            <a:srgbClr val="E8EEF8"/>
          </a:solidFill>
          <a:ln>
            <a:noFill/>
          </a:ln>
        </p:spPr>
        <p:txBody>
          <a:bodyPr vertOverflow="overflow" vert="horz" wrap="square" lIns="0" tIns="0" rIns="0" bIns="0" rtlCol="0" anchor="ctr" anchorCtr="0">
            <a:spAutoFit/>
          </a:bodyPr>
          <a:lstStyle/>
          <a:p>
            <a:pPr marL="0" indent="0" algn="l">
              <a:spcAft>
                <a:spcPts val="600"/>
              </a:spcAft>
              <a:tabLst/>
            </a:pPr>
            <a:r>
              <a:rPr lang="en-US" sz="1000" b="1">
                <a:solidFill>
                  <a:srgbClr val="10006B"/>
                </a:solidFill>
                <a:latin typeface="Arial"/>
                <a:cs typeface="Arial"/>
              </a:rPr>
              <a:t>GROWTH</a:t>
            </a:r>
            <a:endParaRPr lang="en-US" sz="1000" b="1" dirty="0">
              <a:solidFill>
                <a:srgbClr val="10006B"/>
              </a:solidFill>
              <a:latin typeface="Arial"/>
              <a:cs typeface="Arial"/>
            </a:endParaRPr>
          </a:p>
        </p:txBody>
      </p:sp>
      <p:sp>
        <p:nvSpPr>
          <p:cNvPr id="32" name="TextBox 31">
            <a:extLst>
              <a:ext uri="{FF2B5EF4-FFF2-40B4-BE49-F238E27FC236}">
                <a16:creationId xmlns:a16="http://schemas.microsoft.com/office/drawing/2014/main" id="{0D76FE8C-5D15-A043-98CC-82F4FD787F43}"/>
              </a:ext>
            </a:extLst>
          </p:cNvPr>
          <p:cNvSpPr txBox="1"/>
          <p:nvPr/>
        </p:nvSpPr>
        <p:spPr>
          <a:xfrm>
            <a:off x="1066800" y="2451100"/>
            <a:ext cx="2794000" cy="762000"/>
          </a:xfrm>
          <a:prstGeom prst="rect">
            <a:avLst/>
          </a:prstGeom>
          <a:solidFill>
            <a:srgbClr val="E8EEF8"/>
          </a:solidFill>
          <a:ln>
            <a:noFill/>
          </a:ln>
        </p:spPr>
        <p:txBody>
          <a:bodyPr vertOverflow="overflow" vert="horz" wrap="square" lIns="0" tIns="0" rIns="0" bIns="0" rtlCol="0" anchor="t" anchorCtr="0">
            <a:spAutoFit/>
          </a:bodyPr>
          <a:lstStyle/>
          <a:p>
            <a:pPr marL="0" indent="0" algn="l">
              <a:spcAft>
                <a:spcPts val="600"/>
              </a:spcAft>
              <a:tabLst/>
            </a:pPr>
            <a:r>
              <a:rPr lang="en-US" sz="1050">
                <a:solidFill>
                  <a:srgbClr val="10006B"/>
                </a:solidFill>
                <a:latin typeface="Arial"/>
                <a:cs typeface="Arial"/>
              </a:rPr>
              <a:t>New markets, products, channels, and acquired customers</a:t>
            </a:r>
            <a:endParaRPr lang="en-US" sz="1050" dirty="0">
              <a:solidFill>
                <a:srgbClr val="10006B"/>
              </a:solidFill>
              <a:latin typeface="Arial"/>
              <a:cs typeface="Arial"/>
            </a:endParaRPr>
          </a:p>
        </p:txBody>
      </p:sp>
      <p:sp>
        <p:nvSpPr>
          <p:cNvPr id="39" name="TextBox 38">
            <a:extLst>
              <a:ext uri="{FF2B5EF4-FFF2-40B4-BE49-F238E27FC236}">
                <a16:creationId xmlns:a16="http://schemas.microsoft.com/office/drawing/2014/main" id="{6322A41B-2F60-AB46-8FE4-B0C46692CCF0}"/>
              </a:ext>
            </a:extLst>
          </p:cNvPr>
          <p:cNvSpPr txBox="1"/>
          <p:nvPr/>
        </p:nvSpPr>
        <p:spPr>
          <a:xfrm>
            <a:off x="4927600" y="1968500"/>
            <a:ext cx="2794000" cy="381000"/>
          </a:xfrm>
          <a:prstGeom prst="rect">
            <a:avLst/>
          </a:prstGeom>
          <a:solidFill>
            <a:srgbClr val="E8EEF8"/>
          </a:solidFill>
          <a:ln>
            <a:noFill/>
          </a:ln>
        </p:spPr>
        <p:txBody>
          <a:bodyPr vertOverflow="overflow" vert="horz" wrap="square" lIns="0" tIns="0" rIns="0" bIns="0" rtlCol="0" anchor="ctr" anchorCtr="0">
            <a:spAutoFit/>
          </a:bodyPr>
          <a:lstStyle/>
          <a:p>
            <a:pPr marL="0" indent="0" algn="l">
              <a:spcAft>
                <a:spcPts val="600"/>
              </a:spcAft>
              <a:tabLst/>
            </a:pPr>
            <a:r>
              <a:rPr lang="en-US" sz="1000" b="1" dirty="0">
                <a:solidFill>
                  <a:srgbClr val="10006B"/>
                </a:solidFill>
                <a:latin typeface="Arial"/>
                <a:cs typeface="Arial"/>
              </a:rPr>
              <a:t>OPERATING PERFORMANCE</a:t>
            </a:r>
          </a:p>
        </p:txBody>
      </p:sp>
      <p:sp>
        <p:nvSpPr>
          <p:cNvPr id="40" name="TextBox 39">
            <a:extLst>
              <a:ext uri="{FF2B5EF4-FFF2-40B4-BE49-F238E27FC236}">
                <a16:creationId xmlns:a16="http://schemas.microsoft.com/office/drawing/2014/main" id="{63E7AB0E-9E8F-444D-81B8-7F75BEFDD640}"/>
              </a:ext>
            </a:extLst>
          </p:cNvPr>
          <p:cNvSpPr txBox="1"/>
          <p:nvPr/>
        </p:nvSpPr>
        <p:spPr>
          <a:xfrm>
            <a:off x="4927600" y="2451100"/>
            <a:ext cx="2794000" cy="762000"/>
          </a:xfrm>
          <a:prstGeom prst="rect">
            <a:avLst/>
          </a:prstGeom>
          <a:solidFill>
            <a:srgbClr val="E8EEF8"/>
          </a:solidFill>
          <a:ln>
            <a:noFill/>
          </a:ln>
        </p:spPr>
        <p:txBody>
          <a:bodyPr vertOverflow="overflow" vert="horz" wrap="square" lIns="0" tIns="0" rIns="0" bIns="0" rtlCol="0" anchor="t" anchorCtr="0">
            <a:spAutoFit/>
          </a:bodyPr>
          <a:lstStyle/>
          <a:p>
            <a:pPr marL="0" indent="0" algn="l">
              <a:spcAft>
                <a:spcPts val="600"/>
              </a:spcAft>
              <a:tabLst/>
            </a:pPr>
            <a:r>
              <a:rPr lang="en-US" sz="1050">
                <a:solidFill>
                  <a:srgbClr val="10006B"/>
                </a:solidFill>
                <a:latin typeface="Arial"/>
                <a:cs typeface="Arial"/>
              </a:rPr>
              <a:t>Less manual work, fewer errors, shorter cycles</a:t>
            </a:r>
            <a:endParaRPr lang="en-US" sz="1050" dirty="0">
              <a:solidFill>
                <a:srgbClr val="10006B"/>
              </a:solidFill>
              <a:latin typeface="Arial"/>
              <a:cs typeface="Arial"/>
            </a:endParaRPr>
          </a:p>
        </p:txBody>
      </p:sp>
      <p:sp>
        <p:nvSpPr>
          <p:cNvPr id="42" name="TextBox 41">
            <a:extLst>
              <a:ext uri="{FF2B5EF4-FFF2-40B4-BE49-F238E27FC236}">
                <a16:creationId xmlns:a16="http://schemas.microsoft.com/office/drawing/2014/main" id="{151B470F-2D49-D449-8791-49CACD427FA8}"/>
              </a:ext>
            </a:extLst>
          </p:cNvPr>
          <p:cNvSpPr txBox="1"/>
          <p:nvPr/>
        </p:nvSpPr>
        <p:spPr>
          <a:xfrm>
            <a:off x="8788400" y="1968500"/>
            <a:ext cx="2794000" cy="381000"/>
          </a:xfrm>
          <a:prstGeom prst="rect">
            <a:avLst/>
          </a:prstGeom>
          <a:solidFill>
            <a:srgbClr val="E8EEF8"/>
          </a:solidFill>
          <a:ln>
            <a:noFill/>
          </a:ln>
        </p:spPr>
        <p:txBody>
          <a:bodyPr vertOverflow="overflow" vert="horz" wrap="square" lIns="0" tIns="0" rIns="0" bIns="0" rtlCol="0" anchor="ctr" anchorCtr="0">
            <a:spAutoFit/>
          </a:bodyPr>
          <a:lstStyle/>
          <a:p>
            <a:pPr marL="0" indent="0" algn="l">
              <a:spcAft>
                <a:spcPts val="600"/>
              </a:spcAft>
              <a:tabLst/>
            </a:pPr>
            <a:r>
              <a:rPr lang="en-US" sz="1000" b="1">
                <a:solidFill>
                  <a:srgbClr val="10006B"/>
                </a:solidFill>
                <a:latin typeface="Arial"/>
                <a:cs typeface="Arial"/>
              </a:rPr>
              <a:t>CUSTOMER AND EMPLOYEE EXPERIENCE</a:t>
            </a:r>
            <a:endParaRPr lang="en-US" sz="1000" b="1" dirty="0">
              <a:solidFill>
                <a:srgbClr val="10006B"/>
              </a:solidFill>
              <a:latin typeface="Arial"/>
              <a:cs typeface="Arial"/>
            </a:endParaRPr>
          </a:p>
        </p:txBody>
      </p:sp>
      <p:sp>
        <p:nvSpPr>
          <p:cNvPr id="43" name="TextBox 42">
            <a:extLst>
              <a:ext uri="{FF2B5EF4-FFF2-40B4-BE49-F238E27FC236}">
                <a16:creationId xmlns:a16="http://schemas.microsoft.com/office/drawing/2014/main" id="{C9858FA7-0A22-8D4D-8B97-DE457113AE99}"/>
              </a:ext>
            </a:extLst>
          </p:cNvPr>
          <p:cNvSpPr txBox="1"/>
          <p:nvPr/>
        </p:nvSpPr>
        <p:spPr>
          <a:xfrm>
            <a:off x="8788400" y="2451100"/>
            <a:ext cx="2794000" cy="762000"/>
          </a:xfrm>
          <a:prstGeom prst="rect">
            <a:avLst/>
          </a:prstGeom>
          <a:solidFill>
            <a:srgbClr val="E8EEF8"/>
          </a:solidFill>
          <a:ln>
            <a:noFill/>
          </a:ln>
        </p:spPr>
        <p:txBody>
          <a:bodyPr vertOverflow="overflow" vert="horz" wrap="square" lIns="0" tIns="0" rIns="0" bIns="0" rtlCol="0" anchor="t" anchorCtr="0">
            <a:spAutoFit/>
          </a:bodyPr>
          <a:lstStyle/>
          <a:p>
            <a:pPr marL="0" indent="0" algn="l">
              <a:spcAft>
                <a:spcPts val="600"/>
              </a:spcAft>
              <a:tabLst/>
            </a:pPr>
            <a:r>
              <a:rPr lang="en-US" sz="1050">
                <a:solidFill>
                  <a:srgbClr val="10006B"/>
                </a:solidFill>
                <a:latin typeface="Arial"/>
                <a:cs typeface="Arial"/>
              </a:rPr>
              <a:t>Connected journeys, self-service, faster decisions</a:t>
            </a:r>
            <a:endParaRPr lang="en-US" sz="1050" dirty="0">
              <a:solidFill>
                <a:srgbClr val="10006B"/>
              </a:solidFill>
              <a:latin typeface="Arial"/>
              <a:cs typeface="Arial"/>
            </a:endParaRPr>
          </a:p>
        </p:txBody>
      </p:sp>
      <p:sp>
        <p:nvSpPr>
          <p:cNvPr id="45" name="TextBox 44">
            <a:extLst>
              <a:ext uri="{FF2B5EF4-FFF2-40B4-BE49-F238E27FC236}">
                <a16:creationId xmlns:a16="http://schemas.microsoft.com/office/drawing/2014/main" id="{E28227E9-7DB2-E644-8ABC-451788EAEB6B}"/>
              </a:ext>
            </a:extLst>
          </p:cNvPr>
          <p:cNvSpPr txBox="1"/>
          <p:nvPr/>
        </p:nvSpPr>
        <p:spPr>
          <a:xfrm>
            <a:off x="1066800" y="3644900"/>
            <a:ext cx="2794000" cy="381000"/>
          </a:xfrm>
          <a:prstGeom prst="rect">
            <a:avLst/>
          </a:prstGeom>
          <a:solidFill>
            <a:srgbClr val="E8EEF8"/>
          </a:solidFill>
          <a:ln>
            <a:noFill/>
          </a:ln>
        </p:spPr>
        <p:txBody>
          <a:bodyPr vertOverflow="overflow" vert="horz" wrap="square" lIns="0" tIns="0" rIns="0" bIns="0" rtlCol="0" anchor="ctr" anchorCtr="0">
            <a:spAutoFit/>
          </a:bodyPr>
          <a:lstStyle/>
          <a:p>
            <a:pPr marL="0" indent="0" algn="l">
              <a:spcAft>
                <a:spcPts val="600"/>
              </a:spcAft>
              <a:tabLst/>
            </a:pPr>
            <a:r>
              <a:rPr lang="en-US" sz="1000" b="1" dirty="0">
                <a:solidFill>
                  <a:srgbClr val="10006B"/>
                </a:solidFill>
                <a:latin typeface="Arial"/>
                <a:cs typeface="Arial"/>
              </a:rPr>
              <a:t>RISK AND RESILIENCE</a:t>
            </a:r>
          </a:p>
        </p:txBody>
      </p:sp>
      <p:sp>
        <p:nvSpPr>
          <p:cNvPr id="46" name="TextBox 45">
            <a:extLst>
              <a:ext uri="{FF2B5EF4-FFF2-40B4-BE49-F238E27FC236}">
                <a16:creationId xmlns:a16="http://schemas.microsoft.com/office/drawing/2014/main" id="{D1187894-A3C7-1249-8807-EA9ACD2DA05F}"/>
              </a:ext>
            </a:extLst>
          </p:cNvPr>
          <p:cNvSpPr txBox="1"/>
          <p:nvPr/>
        </p:nvSpPr>
        <p:spPr>
          <a:xfrm>
            <a:off x="1066800" y="4127500"/>
            <a:ext cx="2794000" cy="762000"/>
          </a:xfrm>
          <a:prstGeom prst="rect">
            <a:avLst/>
          </a:prstGeom>
          <a:solidFill>
            <a:srgbClr val="E8EEF8"/>
          </a:solidFill>
          <a:ln>
            <a:noFill/>
          </a:ln>
        </p:spPr>
        <p:txBody>
          <a:bodyPr vertOverflow="overflow" vert="horz" wrap="square" lIns="0" tIns="0" rIns="0" bIns="0" rtlCol="0" anchor="t" anchorCtr="0">
            <a:spAutoFit/>
          </a:bodyPr>
          <a:lstStyle/>
          <a:p>
            <a:pPr marL="0" indent="0" algn="l">
              <a:spcAft>
                <a:spcPts val="600"/>
              </a:spcAft>
              <a:tabLst/>
            </a:pPr>
            <a:r>
              <a:rPr lang="en-US" sz="1050">
                <a:solidFill>
                  <a:srgbClr val="10006B"/>
                </a:solidFill>
                <a:latin typeface="Arial"/>
                <a:cs typeface="Arial"/>
              </a:rPr>
              <a:t>Supported technology, stronger controls, less fragility</a:t>
            </a:r>
            <a:endParaRPr lang="en-US" sz="1050" dirty="0">
              <a:solidFill>
                <a:srgbClr val="10006B"/>
              </a:solidFill>
              <a:latin typeface="Arial"/>
              <a:cs typeface="Arial"/>
            </a:endParaRPr>
          </a:p>
        </p:txBody>
      </p:sp>
      <p:sp>
        <p:nvSpPr>
          <p:cNvPr id="48" name="TextBox 47">
            <a:extLst>
              <a:ext uri="{FF2B5EF4-FFF2-40B4-BE49-F238E27FC236}">
                <a16:creationId xmlns:a16="http://schemas.microsoft.com/office/drawing/2014/main" id="{9CE84FB0-775A-3843-A14B-3EFC8E1234FA}"/>
              </a:ext>
            </a:extLst>
          </p:cNvPr>
          <p:cNvSpPr txBox="1"/>
          <p:nvPr/>
        </p:nvSpPr>
        <p:spPr>
          <a:xfrm>
            <a:off x="4927600" y="3644900"/>
            <a:ext cx="2794000" cy="381000"/>
          </a:xfrm>
          <a:prstGeom prst="rect">
            <a:avLst/>
          </a:prstGeom>
          <a:solidFill>
            <a:srgbClr val="E8EEF8"/>
          </a:solidFill>
          <a:ln>
            <a:noFill/>
          </a:ln>
        </p:spPr>
        <p:txBody>
          <a:bodyPr vertOverflow="overflow" vert="horz" wrap="square" lIns="0" tIns="0" rIns="0" bIns="0" rtlCol="0" anchor="ctr" anchorCtr="0">
            <a:spAutoFit/>
          </a:bodyPr>
          <a:lstStyle/>
          <a:p>
            <a:pPr marL="0" indent="0" algn="l">
              <a:spcAft>
                <a:spcPts val="600"/>
              </a:spcAft>
              <a:tabLst/>
            </a:pPr>
            <a:r>
              <a:rPr lang="en-US" sz="1000" b="1" dirty="0">
                <a:solidFill>
                  <a:srgbClr val="10006B"/>
                </a:solidFill>
                <a:latin typeface="Arial"/>
                <a:cs typeface="Arial"/>
              </a:rPr>
              <a:t>STRATEGIC FLEXIBILITY</a:t>
            </a:r>
          </a:p>
        </p:txBody>
      </p:sp>
      <p:sp>
        <p:nvSpPr>
          <p:cNvPr id="49" name="TextBox 48">
            <a:extLst>
              <a:ext uri="{FF2B5EF4-FFF2-40B4-BE49-F238E27FC236}">
                <a16:creationId xmlns:a16="http://schemas.microsoft.com/office/drawing/2014/main" id="{53EE57B9-F57C-F440-BC34-B09302A8F989}"/>
              </a:ext>
            </a:extLst>
          </p:cNvPr>
          <p:cNvSpPr txBox="1"/>
          <p:nvPr/>
        </p:nvSpPr>
        <p:spPr>
          <a:xfrm>
            <a:off x="4927600" y="4127500"/>
            <a:ext cx="2794000" cy="762000"/>
          </a:xfrm>
          <a:prstGeom prst="rect">
            <a:avLst/>
          </a:prstGeom>
          <a:solidFill>
            <a:srgbClr val="E8EEF8"/>
          </a:solidFill>
          <a:ln>
            <a:noFill/>
          </a:ln>
        </p:spPr>
        <p:txBody>
          <a:bodyPr vertOverflow="overflow" vert="horz" wrap="square" lIns="0" tIns="0" rIns="0" bIns="0" rtlCol="0" anchor="t" anchorCtr="0">
            <a:spAutoFit/>
          </a:bodyPr>
          <a:lstStyle/>
          <a:p>
            <a:pPr marL="0" indent="0" algn="l">
              <a:spcAft>
                <a:spcPts val="600"/>
              </a:spcAft>
              <a:tabLst/>
            </a:pPr>
            <a:r>
              <a:rPr lang="en-US" sz="1050" dirty="0">
                <a:solidFill>
                  <a:srgbClr val="10006B"/>
                </a:solidFill>
                <a:latin typeface="Arial"/>
                <a:cs typeface="Arial"/>
              </a:rPr>
              <a:t>Faster integration, governed APIs and data, AI readiness</a:t>
            </a:r>
          </a:p>
        </p:txBody>
      </p:sp>
      <p:sp>
        <p:nvSpPr>
          <p:cNvPr id="51" name="TextBox 50">
            <a:extLst>
              <a:ext uri="{FF2B5EF4-FFF2-40B4-BE49-F238E27FC236}">
                <a16:creationId xmlns:a16="http://schemas.microsoft.com/office/drawing/2014/main" id="{E8ABDEEC-3CC3-BC42-B188-9E04AE70D0DC}"/>
              </a:ext>
            </a:extLst>
          </p:cNvPr>
          <p:cNvSpPr txBox="1"/>
          <p:nvPr/>
        </p:nvSpPr>
        <p:spPr>
          <a:xfrm>
            <a:off x="8788400" y="3644900"/>
            <a:ext cx="2794000" cy="381000"/>
          </a:xfrm>
          <a:prstGeom prst="rect">
            <a:avLst/>
          </a:prstGeom>
          <a:solidFill>
            <a:srgbClr val="E8EEF8"/>
          </a:solidFill>
          <a:ln>
            <a:noFill/>
          </a:ln>
        </p:spPr>
        <p:txBody>
          <a:bodyPr vertOverflow="overflow" vert="horz" wrap="square" lIns="0" tIns="0" rIns="0" bIns="0" rtlCol="0" anchor="ctr" anchorCtr="0">
            <a:spAutoFit/>
          </a:bodyPr>
          <a:lstStyle/>
          <a:p>
            <a:pPr marL="0" indent="0" algn="l">
              <a:spcAft>
                <a:spcPts val="600"/>
              </a:spcAft>
              <a:tabLst/>
            </a:pPr>
            <a:r>
              <a:rPr lang="en-US" sz="1000" b="1" dirty="0">
                <a:solidFill>
                  <a:srgbClr val="10006B"/>
                </a:solidFill>
                <a:latin typeface="Arial"/>
                <a:cs typeface="Arial"/>
              </a:rPr>
              <a:t>LONG-TERM ECONOMICS</a:t>
            </a:r>
          </a:p>
        </p:txBody>
      </p:sp>
      <p:sp>
        <p:nvSpPr>
          <p:cNvPr id="52" name="TextBox 51">
            <a:extLst>
              <a:ext uri="{FF2B5EF4-FFF2-40B4-BE49-F238E27FC236}">
                <a16:creationId xmlns:a16="http://schemas.microsoft.com/office/drawing/2014/main" id="{5364CB49-9630-904F-8BE3-6B0C66598E0B}"/>
              </a:ext>
            </a:extLst>
          </p:cNvPr>
          <p:cNvSpPr txBox="1"/>
          <p:nvPr/>
        </p:nvSpPr>
        <p:spPr>
          <a:xfrm>
            <a:off x="8788400" y="4127500"/>
            <a:ext cx="2794000" cy="762000"/>
          </a:xfrm>
          <a:prstGeom prst="rect">
            <a:avLst/>
          </a:prstGeom>
          <a:solidFill>
            <a:srgbClr val="E8EEF8"/>
          </a:solidFill>
          <a:ln>
            <a:noFill/>
          </a:ln>
        </p:spPr>
        <p:txBody>
          <a:bodyPr vertOverflow="overflow" vert="horz" wrap="square" lIns="0" tIns="0" rIns="0" bIns="0" rtlCol="0" anchor="t" anchorCtr="0">
            <a:spAutoFit/>
          </a:bodyPr>
          <a:lstStyle/>
          <a:p>
            <a:pPr marL="0" indent="0" algn="l">
              <a:spcAft>
                <a:spcPts val="600"/>
              </a:spcAft>
              <a:tabLst/>
            </a:pPr>
            <a:r>
              <a:rPr lang="en-US" sz="1050">
                <a:solidFill>
                  <a:srgbClr val="10006B"/>
                </a:solidFill>
                <a:latin typeface="Arial"/>
                <a:cs typeface="Arial"/>
              </a:rPr>
              <a:t>Retire licenses, duplicated platforms, infrastructure, and legacy support burden</a:t>
            </a:r>
            <a:endParaRPr lang="en-US" sz="1050" dirty="0">
              <a:solidFill>
                <a:srgbClr val="10006B"/>
              </a:solidFill>
              <a:latin typeface="Arial"/>
              <a:cs typeface="Arial"/>
            </a:endParaRPr>
          </a:p>
        </p:txBody>
      </p:sp>
      <p:sp>
        <p:nvSpPr>
          <p:cNvPr id="53" name="Rectangle 52">
            <a:extLst>
              <a:ext uri="{FF2B5EF4-FFF2-40B4-BE49-F238E27FC236}">
                <a16:creationId xmlns:a16="http://schemas.microsoft.com/office/drawing/2014/main" id="{93340E28-4D16-CD44-A93E-33362BE7DB2A}"/>
              </a:ext>
            </a:extLst>
          </p:cNvPr>
          <p:cNvSpPr/>
          <p:nvPr/>
        </p:nvSpPr>
        <p:spPr bwMode="auto">
          <a:xfrm>
            <a:off x="457200" y="5308600"/>
            <a:ext cx="11277600" cy="5080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100" i="0" u="none" strike="noStrike" kern="1200" cap="none" spc="0" normalizeH="0" baseline="0" noProof="0">
                <a:ln>
                  <a:noFill/>
                </a:ln>
                <a:solidFill>
                  <a:srgbClr val="10006B"/>
                </a:solidFill>
                <a:effectLst/>
                <a:uLnTx/>
                <a:uFillTx/>
                <a:latin typeface="Arial"/>
                <a:ea typeface="Roboto" panose="02000000000000000000" pitchFamily="2" charset="0"/>
                <a:cs typeface="Arial"/>
              </a:rPr>
              <a:t>Select the outcomes that fit the business context, then connect each to a measure and a specific capability.</a:t>
            </a:r>
            <a:endParaRPr kumimoji="0" lang="en-US" sz="1100" i="0" u="none" strike="noStrike" kern="1200" cap="none" spc="0" normalizeH="0" baseline="0" noProof="0" dirty="0">
              <a:ln>
                <a:noFill/>
              </a:ln>
              <a:solidFill>
                <a:srgbClr val="10006B"/>
              </a:solidFill>
              <a:effectLst/>
              <a:uLnTx/>
              <a:uFillTx/>
              <a:latin typeface="Arial"/>
              <a:ea typeface="Roboto" panose="02000000000000000000" pitchFamily="2" charset="0"/>
              <a:cs typeface="Arial"/>
            </a:endParaRPr>
          </a:p>
        </p:txBody>
      </p:sp>
      <p:sp>
        <p:nvSpPr>
          <p:cNvPr id="54" name="TextBox 53">
            <a:extLst>
              <a:ext uri="{FF2B5EF4-FFF2-40B4-BE49-F238E27FC236}">
                <a16:creationId xmlns:a16="http://schemas.microsoft.com/office/drawing/2014/main" id="{D5B8A22A-586A-2648-ABF1-737A764EB6B3}"/>
              </a:ext>
            </a:extLst>
          </p:cNvPr>
          <p:cNvSpPr txBox="1"/>
          <p:nvPr/>
        </p:nvSpPr>
        <p:spPr>
          <a:xfrm>
            <a:off x="4321048" y="6400800"/>
            <a:ext cx="7102856" cy="167894"/>
          </a:xfrm>
          <a:prstGeom prst="rect">
            <a:avLst/>
          </a:prstGeom>
          <a:noFill/>
        </p:spPr>
        <p:txBody>
          <a:bodyPr vertOverflow="overflow" vert="horz" wrap="square" lIns="0" tIns="0" rIns="0" bIns="0" rtlCol="0" anchor="ctr" anchorCtr="0">
            <a:spAutoFit/>
          </a:bodyPr>
          <a:lstStyle/>
          <a:p>
            <a:pPr marL="0" indent="0" algn="l">
              <a:spcAft>
                <a:spcPts val="600"/>
              </a:spcAft>
              <a:tabLst/>
            </a:pPr>
            <a:r>
              <a:rPr lang="en-US" sz="600">
                <a:solidFill>
                  <a:srgbClr val="10006B"/>
                </a:solidFill>
                <a:latin typeface="Arial"/>
                <a:cs typeface="Arial"/>
              </a:rPr>
              <a:t>© 2026 West Monroe Partners | Reproduction and/or distribution without West Monroe Partners’ prior consent is prohibited.</a:t>
            </a:r>
            <a:endParaRPr lang="en-US" sz="600" dirty="0">
              <a:solidFill>
                <a:srgbClr val="10006B"/>
              </a:solidFill>
              <a:latin typeface="Arial"/>
              <a:cs typeface="Arial"/>
            </a:endParaRPr>
          </a:p>
        </p:txBody>
      </p:sp>
      <p:sp>
        <p:nvSpPr>
          <p:cNvPr id="55" name="TextBox 54">
            <a:extLst>
              <a:ext uri="{FF2B5EF4-FFF2-40B4-BE49-F238E27FC236}">
                <a16:creationId xmlns:a16="http://schemas.microsoft.com/office/drawing/2014/main" id="{8AB00BEE-868F-FB42-8CCD-0EDC0CB18243}"/>
              </a:ext>
            </a:extLst>
          </p:cNvPr>
          <p:cNvSpPr txBox="1"/>
          <p:nvPr/>
        </p:nvSpPr>
        <p:spPr>
          <a:xfrm>
            <a:off x="11509629" y="6400800"/>
            <a:ext cx="218821" cy="167894"/>
          </a:xfrm>
          <a:prstGeom prst="rect">
            <a:avLst/>
          </a:prstGeom>
          <a:noFill/>
        </p:spPr>
        <p:txBody>
          <a:bodyPr vertOverflow="overflow" vert="horz" wrap="square" lIns="0" tIns="0" rIns="0" bIns="0" rtlCol="0" anchor="ctr" anchorCtr="0">
            <a:spAutoFit/>
          </a:bodyPr>
          <a:lstStyle/>
          <a:p>
            <a:pPr marL="0" indent="0" algn="l">
              <a:spcAft>
                <a:spcPts val="600"/>
              </a:spcAft>
              <a:tabLst/>
            </a:pPr>
            <a:r>
              <a:rPr lang="en-US" sz="600">
                <a:solidFill>
                  <a:srgbClr val="10006B"/>
                </a:solidFill>
                <a:latin typeface="Arial"/>
                <a:cs typeface="Arial"/>
              </a:rPr>
              <a:t>6</a:t>
            </a:r>
            <a:endParaRPr lang="en-US" sz="600" dirty="0">
              <a:solidFill>
                <a:srgbClr val="10006B"/>
              </a:solidFill>
              <a:latin typeface="Arial"/>
              <a:cs typeface="Arial"/>
            </a:endParaRPr>
          </a:p>
        </p:txBody>
      </p:sp>
      <p:sp>
        <p:nvSpPr>
          <p:cNvPr id="3" name="Rectangle 2">
            <a:extLst>
              <a:ext uri="{FF2B5EF4-FFF2-40B4-BE49-F238E27FC236}">
                <a16:creationId xmlns:a16="http://schemas.microsoft.com/office/drawing/2014/main" id="{3FD060BA-8752-A645-A0C3-812B5206B16B}"/>
              </a:ext>
            </a:extLst>
          </p:cNvPr>
          <p:cNvSpPr/>
          <p:nvPr/>
        </p:nvSpPr>
        <p:spPr bwMode="auto">
          <a:xfrm>
            <a:off x="457200" y="1905000"/>
            <a:ext cx="457200" cy="457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1" i="0" u="none" strike="noStrike" kern="1200" cap="none" spc="0" normalizeH="0" baseline="0" noProof="0">
                <a:ln>
                  <a:noFill/>
                </a:ln>
                <a:solidFill>
                  <a:srgbClr val="F000C8"/>
                </a:solidFill>
                <a:effectLst/>
                <a:uLnTx/>
                <a:uFillTx/>
                <a:latin typeface="Arial" panose="020B0604020202020204"/>
                <a:ea typeface="Roboto" panose="02000000000000000000" pitchFamily="2" charset="0"/>
                <a:cs typeface="Segoe UI" panose="020B0502040204020203" pitchFamily="34" charset="0"/>
              </a:rPr>
              <a:t>01</a:t>
            </a:r>
            <a:endParaRPr kumimoji="0" lang="en-US" sz="1400" b="1" i="0" u="none" strike="noStrike" kern="1200" cap="none" spc="0" normalizeH="0" baseline="0" noProof="0" dirty="0">
              <a:ln>
                <a:noFill/>
              </a:ln>
              <a:solidFill>
                <a:srgbClr val="F000C8"/>
              </a:solidFill>
              <a:effectLst/>
              <a:uLnTx/>
              <a:uFillTx/>
              <a:latin typeface="Arial" panose="020B0604020202020204"/>
              <a:ea typeface="Roboto" panose="02000000000000000000" pitchFamily="2" charset="0"/>
              <a:cs typeface="Segoe UI" panose="020B0502040204020203" pitchFamily="34" charset="0"/>
            </a:endParaRPr>
          </a:p>
        </p:txBody>
      </p:sp>
      <p:sp>
        <p:nvSpPr>
          <p:cNvPr id="6" name="Rectangle 5">
            <a:extLst>
              <a:ext uri="{FF2B5EF4-FFF2-40B4-BE49-F238E27FC236}">
                <a16:creationId xmlns:a16="http://schemas.microsoft.com/office/drawing/2014/main" id="{AC334563-DB74-054E-858A-31F0E2DCEC6C}"/>
              </a:ext>
            </a:extLst>
          </p:cNvPr>
          <p:cNvSpPr/>
          <p:nvPr/>
        </p:nvSpPr>
        <p:spPr bwMode="auto">
          <a:xfrm>
            <a:off x="4318000" y="1905000"/>
            <a:ext cx="457200" cy="457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1" i="0" u="none" strike="noStrike" kern="1200" cap="none" spc="0" normalizeH="0" baseline="0" noProof="0" dirty="0">
                <a:ln>
                  <a:noFill/>
                </a:ln>
                <a:solidFill>
                  <a:srgbClr val="F000C8"/>
                </a:solidFill>
                <a:effectLst/>
                <a:uLnTx/>
                <a:uFillTx/>
                <a:latin typeface="Arial" panose="020B0604020202020204"/>
                <a:ea typeface="Roboto" panose="02000000000000000000" pitchFamily="2" charset="0"/>
                <a:cs typeface="Segoe UI" panose="020B0502040204020203" pitchFamily="34" charset="0"/>
              </a:rPr>
              <a:t>02</a:t>
            </a:r>
          </a:p>
        </p:txBody>
      </p:sp>
      <p:sp>
        <p:nvSpPr>
          <p:cNvPr id="8" name="Rectangle 7">
            <a:extLst>
              <a:ext uri="{FF2B5EF4-FFF2-40B4-BE49-F238E27FC236}">
                <a16:creationId xmlns:a16="http://schemas.microsoft.com/office/drawing/2014/main" id="{1FC0D720-D408-B441-9A16-BEE5F5108067}"/>
              </a:ext>
            </a:extLst>
          </p:cNvPr>
          <p:cNvSpPr/>
          <p:nvPr/>
        </p:nvSpPr>
        <p:spPr bwMode="auto">
          <a:xfrm>
            <a:off x="8178800" y="1905000"/>
            <a:ext cx="457200" cy="457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1" i="0" u="none" strike="noStrike" kern="1200" cap="none" spc="0" normalizeH="0" baseline="0" noProof="0">
                <a:ln>
                  <a:noFill/>
                </a:ln>
                <a:solidFill>
                  <a:srgbClr val="F000C8"/>
                </a:solidFill>
                <a:effectLst/>
                <a:uLnTx/>
                <a:uFillTx/>
                <a:latin typeface="Arial" panose="020B0604020202020204"/>
                <a:ea typeface="Roboto" panose="02000000000000000000" pitchFamily="2" charset="0"/>
                <a:cs typeface="Segoe UI" panose="020B0502040204020203" pitchFamily="34" charset="0"/>
              </a:rPr>
              <a:t>03</a:t>
            </a:r>
            <a:endParaRPr kumimoji="0" lang="en-US" sz="1400" b="1" i="0" u="none" strike="noStrike" kern="1200" cap="none" spc="0" normalizeH="0" baseline="0" noProof="0" dirty="0">
              <a:ln>
                <a:noFill/>
              </a:ln>
              <a:solidFill>
                <a:srgbClr val="F000C8"/>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Rectangle 9">
            <a:extLst>
              <a:ext uri="{FF2B5EF4-FFF2-40B4-BE49-F238E27FC236}">
                <a16:creationId xmlns:a16="http://schemas.microsoft.com/office/drawing/2014/main" id="{727BFBDE-AC76-C44C-9E66-91959EADB302}"/>
              </a:ext>
            </a:extLst>
          </p:cNvPr>
          <p:cNvSpPr/>
          <p:nvPr/>
        </p:nvSpPr>
        <p:spPr bwMode="auto">
          <a:xfrm>
            <a:off x="457200" y="3581400"/>
            <a:ext cx="457200" cy="457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1" i="0" u="none" strike="noStrike" kern="1200" cap="none" spc="0" normalizeH="0" baseline="0" noProof="0">
                <a:ln>
                  <a:noFill/>
                </a:ln>
                <a:solidFill>
                  <a:srgbClr val="F000C8"/>
                </a:solidFill>
                <a:effectLst/>
                <a:uLnTx/>
                <a:uFillTx/>
                <a:latin typeface="Arial" panose="020B0604020202020204"/>
                <a:ea typeface="Roboto" panose="02000000000000000000" pitchFamily="2" charset="0"/>
                <a:cs typeface="Segoe UI" panose="020B0502040204020203" pitchFamily="34" charset="0"/>
              </a:rPr>
              <a:t>04</a:t>
            </a:r>
            <a:endParaRPr kumimoji="0" lang="en-US" sz="1400" b="1" i="0" u="none" strike="noStrike" kern="1200" cap="none" spc="0" normalizeH="0" baseline="0" noProof="0" dirty="0">
              <a:ln>
                <a:noFill/>
              </a:ln>
              <a:solidFill>
                <a:srgbClr val="F000C8"/>
              </a:solidFill>
              <a:effectLst/>
              <a:uLnTx/>
              <a:uFillTx/>
              <a:latin typeface="Arial" panose="020B0604020202020204"/>
              <a:ea typeface="Roboto" panose="02000000000000000000" pitchFamily="2" charset="0"/>
              <a:cs typeface="Segoe UI" panose="020B0502040204020203" pitchFamily="34" charset="0"/>
            </a:endParaRPr>
          </a:p>
        </p:txBody>
      </p:sp>
      <p:sp>
        <p:nvSpPr>
          <p:cNvPr id="12" name="Rectangle 11">
            <a:extLst>
              <a:ext uri="{FF2B5EF4-FFF2-40B4-BE49-F238E27FC236}">
                <a16:creationId xmlns:a16="http://schemas.microsoft.com/office/drawing/2014/main" id="{B3226C10-F0D6-A548-845B-8945363B8598}"/>
              </a:ext>
            </a:extLst>
          </p:cNvPr>
          <p:cNvSpPr/>
          <p:nvPr/>
        </p:nvSpPr>
        <p:spPr bwMode="auto">
          <a:xfrm>
            <a:off x="4318000" y="3581400"/>
            <a:ext cx="457200" cy="457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1" i="0" u="none" strike="noStrike" kern="1200" cap="none" spc="0" normalizeH="0" baseline="0" noProof="0">
                <a:ln>
                  <a:noFill/>
                </a:ln>
                <a:solidFill>
                  <a:srgbClr val="F000C8"/>
                </a:solidFill>
                <a:effectLst/>
                <a:uLnTx/>
                <a:uFillTx/>
                <a:latin typeface="Arial" panose="020B0604020202020204"/>
                <a:ea typeface="Roboto" panose="02000000000000000000" pitchFamily="2" charset="0"/>
                <a:cs typeface="Segoe UI" panose="020B0502040204020203" pitchFamily="34" charset="0"/>
              </a:rPr>
              <a:t>05</a:t>
            </a:r>
            <a:endParaRPr kumimoji="0" lang="en-US" sz="1400" b="1" i="0" u="none" strike="noStrike" kern="1200" cap="none" spc="0" normalizeH="0" baseline="0" noProof="0" dirty="0">
              <a:ln>
                <a:noFill/>
              </a:ln>
              <a:solidFill>
                <a:srgbClr val="F000C8"/>
              </a:solidFill>
              <a:effectLst/>
              <a:uLnTx/>
              <a:uFillTx/>
              <a:latin typeface="Arial" panose="020B0604020202020204"/>
              <a:ea typeface="Roboto" panose="02000000000000000000" pitchFamily="2" charset="0"/>
              <a:cs typeface="Segoe UI" panose="020B0502040204020203" pitchFamily="34" charset="0"/>
            </a:endParaRPr>
          </a:p>
        </p:txBody>
      </p:sp>
      <p:sp>
        <p:nvSpPr>
          <p:cNvPr id="14" name="Rectangle 13">
            <a:extLst>
              <a:ext uri="{FF2B5EF4-FFF2-40B4-BE49-F238E27FC236}">
                <a16:creationId xmlns:a16="http://schemas.microsoft.com/office/drawing/2014/main" id="{490F4599-87E4-504E-8F31-ADD0CCC23489}"/>
              </a:ext>
            </a:extLst>
          </p:cNvPr>
          <p:cNvSpPr/>
          <p:nvPr/>
        </p:nvSpPr>
        <p:spPr bwMode="auto">
          <a:xfrm>
            <a:off x="8178800" y="3581400"/>
            <a:ext cx="457200" cy="457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1" i="0" u="none" strike="noStrike" kern="1200" cap="none" spc="0" normalizeH="0" baseline="0" noProof="0">
                <a:ln>
                  <a:noFill/>
                </a:ln>
                <a:solidFill>
                  <a:srgbClr val="F000C8"/>
                </a:solidFill>
                <a:effectLst/>
                <a:uLnTx/>
                <a:uFillTx/>
                <a:latin typeface="Arial" panose="020B0604020202020204"/>
                <a:ea typeface="Roboto" panose="02000000000000000000" pitchFamily="2" charset="0"/>
                <a:cs typeface="Segoe UI" panose="020B0502040204020203" pitchFamily="34" charset="0"/>
              </a:rPr>
              <a:t>06</a:t>
            </a:r>
            <a:endParaRPr kumimoji="0" lang="en-US" sz="1400" b="1" i="0" u="none" strike="noStrike" kern="1200" cap="none" spc="0" normalizeH="0" baseline="0" noProof="0" dirty="0">
              <a:ln>
                <a:noFill/>
              </a:ln>
              <a:solidFill>
                <a:srgbClr val="F000C8"/>
              </a:solidFill>
              <a:effectLst/>
              <a:uLnTx/>
              <a:uFillTx/>
              <a:latin typeface="Arial" panose="020B0604020202020204"/>
              <a:ea typeface="Roboto" panose="02000000000000000000" pitchFamily="2" charset="0"/>
              <a:cs typeface="Segoe UI" panose="020B0502040204020203" pitchFamily="34" charset="0"/>
            </a:endParaRPr>
          </a:p>
        </p:txBody>
      </p:sp>
    </p:spTree>
    <p:custDataLst>
      <p:tags r:id="rId1"/>
    </p:custDataLst>
    <p:extLst>
      <p:ext uri="{BB962C8B-B14F-4D97-AF65-F5344CB8AC3E}">
        <p14:creationId xmlns:p14="http://schemas.microsoft.com/office/powerpoint/2010/main" val="851741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B62358-9B4F-D24B-8220-47325CFF8160}"/>
              </a:ext>
            </a:extLst>
          </p:cNvPr>
          <p:cNvSpPr/>
          <p:nvPr/>
        </p:nvSpPr>
        <p:spPr bwMode="auto">
          <a:xfrm>
            <a:off x="0" y="6146800"/>
            <a:ext cx="12192000" cy="711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 name="TextBox 5">
            <a:extLst>
              <a:ext uri="{FF2B5EF4-FFF2-40B4-BE49-F238E27FC236}">
                <a16:creationId xmlns:a16="http://schemas.microsoft.com/office/drawing/2014/main" id="{0A032692-9AFE-B84E-A539-0B2D7E6098BA}"/>
              </a:ext>
            </a:extLst>
          </p:cNvPr>
          <p:cNvSpPr txBox="1"/>
          <p:nvPr/>
        </p:nvSpPr>
        <p:spPr>
          <a:xfrm>
            <a:off x="457200" y="533400"/>
            <a:ext cx="11277600" cy="5334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2400" b="1">
                <a:solidFill>
                  <a:srgbClr val="10006B"/>
                </a:solidFill>
                <a:latin typeface="Arial"/>
                <a:cs typeface="Arial"/>
              </a:rPr>
              <a:t>Common software modernization use cases</a:t>
            </a:r>
            <a:endParaRPr lang="en-US" sz="2400" b="1" dirty="0">
              <a:solidFill>
                <a:srgbClr val="10006B"/>
              </a:solidFill>
              <a:latin typeface="Arial"/>
              <a:cs typeface="Arial"/>
            </a:endParaRPr>
          </a:p>
        </p:txBody>
      </p:sp>
      <p:sp>
        <p:nvSpPr>
          <p:cNvPr id="7" name="TextBox 6">
            <a:extLst>
              <a:ext uri="{FF2B5EF4-FFF2-40B4-BE49-F238E27FC236}">
                <a16:creationId xmlns:a16="http://schemas.microsoft.com/office/drawing/2014/main" id="{794A68A1-A2AE-AD47-930C-963420059CD7}"/>
              </a:ext>
            </a:extLst>
          </p:cNvPr>
          <p:cNvSpPr txBox="1"/>
          <p:nvPr/>
        </p:nvSpPr>
        <p:spPr>
          <a:xfrm>
            <a:off x="457200" y="1168400"/>
            <a:ext cx="11277600" cy="8001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250" b="1">
                <a:solidFill>
                  <a:srgbClr val="100069"/>
                </a:solidFill>
                <a:latin typeface="Arial"/>
                <a:cs typeface="Arial"/>
              </a:rPr>
              <a:t>Intentional change to software, architecture, data, and the work around them—across one application, a packaged platform, or an end-to-end capability—to reduce constraint, manage risk, or create new capability.</a:t>
            </a:r>
            <a:endParaRPr lang="en-US" sz="1250" b="1" dirty="0">
              <a:solidFill>
                <a:srgbClr val="100069"/>
              </a:solidFill>
              <a:latin typeface="Arial"/>
              <a:cs typeface="Arial"/>
            </a:endParaRPr>
          </a:p>
        </p:txBody>
      </p:sp>
      <p:sp>
        <p:nvSpPr>
          <p:cNvPr id="9" name="Rectangle 8">
            <a:extLst>
              <a:ext uri="{FF2B5EF4-FFF2-40B4-BE49-F238E27FC236}">
                <a16:creationId xmlns:a16="http://schemas.microsoft.com/office/drawing/2014/main" id="{4792B1CB-11F0-F44A-B5C5-A143704C1C63}"/>
              </a:ext>
            </a:extLst>
          </p:cNvPr>
          <p:cNvSpPr/>
          <p:nvPr/>
        </p:nvSpPr>
        <p:spPr bwMode="auto">
          <a:xfrm>
            <a:off x="457200" y="2552700"/>
            <a:ext cx="533400" cy="355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1" i="0" u="none" strike="noStrike" kern="1200" cap="none" spc="0" normalizeH="0" baseline="0" noProof="0">
                <a:ln>
                  <a:noFill/>
                </a:ln>
                <a:solidFill>
                  <a:srgbClr val="F000D8"/>
                </a:solidFill>
                <a:effectLst/>
                <a:uLnTx/>
                <a:uFillTx/>
                <a:latin typeface="Arial"/>
                <a:ea typeface="Roboto" panose="02000000000000000000" pitchFamily="2" charset="0"/>
                <a:cs typeface="Arial"/>
              </a:rPr>
              <a:t>01</a:t>
            </a:r>
            <a:endParaRPr kumimoji="0" lang="en-US" sz="1400" b="1" i="0" u="none" strike="noStrike" kern="1200" cap="none" spc="0" normalizeH="0" baseline="0" noProof="0" dirty="0">
              <a:ln>
                <a:noFill/>
              </a:ln>
              <a:solidFill>
                <a:srgbClr val="F000D8"/>
              </a:solidFill>
              <a:effectLst/>
              <a:uLnTx/>
              <a:uFillTx/>
              <a:latin typeface="Arial"/>
              <a:ea typeface="Roboto" panose="02000000000000000000" pitchFamily="2" charset="0"/>
              <a:cs typeface="Arial"/>
            </a:endParaRPr>
          </a:p>
        </p:txBody>
      </p:sp>
      <p:sp>
        <p:nvSpPr>
          <p:cNvPr id="10" name="TextBox 9">
            <a:extLst>
              <a:ext uri="{FF2B5EF4-FFF2-40B4-BE49-F238E27FC236}">
                <a16:creationId xmlns:a16="http://schemas.microsoft.com/office/drawing/2014/main" id="{AE1D801A-1678-7243-9047-024C6EEB0FB6}"/>
              </a:ext>
            </a:extLst>
          </p:cNvPr>
          <p:cNvSpPr txBox="1"/>
          <p:nvPr/>
        </p:nvSpPr>
        <p:spPr>
          <a:xfrm>
            <a:off x="1092200" y="2552700"/>
            <a:ext cx="2984500" cy="368300"/>
          </a:xfrm>
          <a:prstGeom prst="rect">
            <a:avLst/>
          </a:prstGeom>
          <a:solidFill>
            <a:srgbClr val="FFFFFF"/>
          </a:solidFill>
          <a:ln>
            <a:noFill/>
          </a:ln>
        </p:spPr>
        <p:txBody>
          <a:bodyPr vertOverflow="overflow" vert="horz" wrap="square" lIns="0" tIns="0" rIns="0" bIns="0" rtlCol="0" anchor="ctr" anchorCtr="0">
            <a:spAutoFit/>
          </a:bodyPr>
          <a:lstStyle/>
          <a:p>
            <a:pPr marL="0" indent="0" algn="l">
              <a:spcAft>
                <a:spcPts val="600"/>
              </a:spcAft>
              <a:tabLst/>
            </a:pPr>
            <a:r>
              <a:rPr lang="en-US" sz="1100" b="1">
                <a:solidFill>
                  <a:srgbClr val="10006B"/>
                </a:solidFill>
                <a:latin typeface="Arial"/>
                <a:cs typeface="Arial"/>
              </a:rPr>
              <a:t>LEGACY PLATFORM EXIT</a:t>
            </a:r>
            <a:endParaRPr lang="en-US" sz="1100" b="1" dirty="0">
              <a:solidFill>
                <a:srgbClr val="10006B"/>
              </a:solidFill>
              <a:latin typeface="Arial"/>
              <a:cs typeface="Arial"/>
            </a:endParaRPr>
          </a:p>
        </p:txBody>
      </p:sp>
      <p:sp>
        <p:nvSpPr>
          <p:cNvPr id="11" name="Rectangle 10">
            <a:extLst>
              <a:ext uri="{FF2B5EF4-FFF2-40B4-BE49-F238E27FC236}">
                <a16:creationId xmlns:a16="http://schemas.microsoft.com/office/drawing/2014/main" id="{2B1848B6-D5DC-854A-ABB4-3E716C89FD31}"/>
              </a:ext>
            </a:extLst>
          </p:cNvPr>
          <p:cNvSpPr/>
          <p:nvPr/>
        </p:nvSpPr>
        <p:spPr bwMode="auto">
          <a:xfrm>
            <a:off x="457200" y="2959100"/>
            <a:ext cx="3632200" cy="939800"/>
          </a:xfrm>
          <a:prstGeom prst="rect">
            <a:avLst/>
          </a:prstGeom>
          <a:solidFill>
            <a:srgbClr val="FFFFFF"/>
          </a:solidFill>
          <a:ln w="12700">
            <a:solidFill>
              <a:srgbClr val="B8C5D9"/>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rPr>
              <a:t>Move essential business behavior off a mainframe, unsupported language, aging runtime, or fragile application.</a:t>
            </a:r>
          </a:p>
        </p:txBody>
      </p:sp>
      <p:sp>
        <p:nvSpPr>
          <p:cNvPr id="12" name="Rectangle 11">
            <a:extLst>
              <a:ext uri="{FF2B5EF4-FFF2-40B4-BE49-F238E27FC236}">
                <a16:creationId xmlns:a16="http://schemas.microsoft.com/office/drawing/2014/main" id="{053C5B0D-AFA0-754E-A666-7BC1243645B9}"/>
              </a:ext>
            </a:extLst>
          </p:cNvPr>
          <p:cNvSpPr/>
          <p:nvPr/>
        </p:nvSpPr>
        <p:spPr bwMode="auto">
          <a:xfrm>
            <a:off x="4279900" y="2552700"/>
            <a:ext cx="533400" cy="355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1" i="0" u="none" strike="noStrike" kern="1200" cap="none" spc="0" normalizeH="0" baseline="0" noProof="0">
                <a:ln>
                  <a:noFill/>
                </a:ln>
                <a:solidFill>
                  <a:srgbClr val="F000D8"/>
                </a:solidFill>
                <a:effectLst/>
                <a:uLnTx/>
                <a:uFillTx/>
                <a:latin typeface="Arial"/>
                <a:ea typeface="Roboto" panose="02000000000000000000" pitchFamily="2" charset="0"/>
                <a:cs typeface="Arial"/>
              </a:rPr>
              <a:t>02</a:t>
            </a:r>
            <a:endParaRPr kumimoji="0" lang="en-US" sz="1400" b="1" i="0" u="none" strike="noStrike" kern="1200" cap="none" spc="0" normalizeH="0" baseline="0" noProof="0" dirty="0">
              <a:ln>
                <a:noFill/>
              </a:ln>
              <a:solidFill>
                <a:srgbClr val="F000D8"/>
              </a:solidFill>
              <a:effectLst/>
              <a:uLnTx/>
              <a:uFillTx/>
              <a:latin typeface="Arial"/>
              <a:ea typeface="Roboto" panose="02000000000000000000" pitchFamily="2" charset="0"/>
              <a:cs typeface="Arial"/>
            </a:endParaRPr>
          </a:p>
        </p:txBody>
      </p:sp>
      <p:sp>
        <p:nvSpPr>
          <p:cNvPr id="13" name="TextBox 12">
            <a:extLst>
              <a:ext uri="{FF2B5EF4-FFF2-40B4-BE49-F238E27FC236}">
                <a16:creationId xmlns:a16="http://schemas.microsoft.com/office/drawing/2014/main" id="{525E7E01-45F7-AC45-A625-5B4D9FB12105}"/>
              </a:ext>
            </a:extLst>
          </p:cNvPr>
          <p:cNvSpPr txBox="1"/>
          <p:nvPr/>
        </p:nvSpPr>
        <p:spPr>
          <a:xfrm>
            <a:off x="4914900" y="2552700"/>
            <a:ext cx="2984500" cy="368300"/>
          </a:xfrm>
          <a:prstGeom prst="rect">
            <a:avLst/>
          </a:prstGeom>
          <a:solidFill>
            <a:srgbClr val="FFFFFF"/>
          </a:solidFill>
          <a:ln>
            <a:noFill/>
          </a:ln>
        </p:spPr>
        <p:txBody>
          <a:bodyPr vertOverflow="overflow" vert="horz" wrap="square" lIns="0" tIns="0" rIns="0" bIns="0" rtlCol="0" anchor="ctr" anchorCtr="0">
            <a:spAutoFit/>
          </a:bodyPr>
          <a:lstStyle/>
          <a:p>
            <a:pPr marL="0" indent="0" algn="l">
              <a:spcAft>
                <a:spcPts val="600"/>
              </a:spcAft>
              <a:tabLst/>
            </a:pPr>
            <a:r>
              <a:rPr lang="en-US" sz="1100" b="1">
                <a:solidFill>
                  <a:srgbClr val="10006B"/>
                </a:solidFill>
                <a:latin typeface="Arial"/>
                <a:cs typeface="Arial"/>
              </a:rPr>
              <a:t>CORE PLATFORM AND ERP CHANGE</a:t>
            </a:r>
            <a:endParaRPr lang="en-US" sz="1100" b="1" dirty="0">
              <a:solidFill>
                <a:srgbClr val="10006B"/>
              </a:solidFill>
              <a:latin typeface="Arial"/>
              <a:cs typeface="Arial"/>
            </a:endParaRPr>
          </a:p>
        </p:txBody>
      </p:sp>
      <p:sp>
        <p:nvSpPr>
          <p:cNvPr id="14" name="Rectangle 13">
            <a:extLst>
              <a:ext uri="{FF2B5EF4-FFF2-40B4-BE49-F238E27FC236}">
                <a16:creationId xmlns:a16="http://schemas.microsoft.com/office/drawing/2014/main" id="{97929F0D-8B5E-D242-8A57-8EFFF70241D9}"/>
              </a:ext>
            </a:extLst>
          </p:cNvPr>
          <p:cNvSpPr/>
          <p:nvPr/>
        </p:nvSpPr>
        <p:spPr bwMode="auto">
          <a:xfrm>
            <a:off x="4279900" y="2959100"/>
            <a:ext cx="3632200" cy="939800"/>
          </a:xfrm>
          <a:prstGeom prst="rect">
            <a:avLst/>
          </a:prstGeom>
          <a:solidFill>
            <a:srgbClr val="FFFFFF"/>
          </a:solidFill>
          <a:ln w="12700">
            <a:solidFill>
              <a:srgbClr val="B8C5D9"/>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rPr>
              <a:t>Replace, </a:t>
            </a:r>
            <a:r>
              <a:rPr kumimoji="0" lang="en-US" sz="1000" i="0" u="none" strike="noStrike" kern="1200" cap="none" spc="0" normalizeH="0" baseline="0" noProof="0" dirty="0" err="1">
                <a:ln>
                  <a:noFill/>
                </a:ln>
                <a:solidFill>
                  <a:srgbClr val="10006B"/>
                </a:solidFill>
                <a:effectLst/>
                <a:uLnTx/>
                <a:uFillTx/>
                <a:latin typeface="Arial"/>
                <a:ea typeface="Roboto" panose="02000000000000000000" pitchFamily="2" charset="0"/>
                <a:cs typeface="Arial"/>
              </a:rPr>
              <a:t>replatform</a:t>
            </a:r>
            <a:r>
              <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rPr>
              <a:t>, or reshape a system of record and its custom extensions.</a:t>
            </a:r>
          </a:p>
        </p:txBody>
      </p:sp>
      <p:sp>
        <p:nvSpPr>
          <p:cNvPr id="15" name="Rectangle 14">
            <a:extLst>
              <a:ext uri="{FF2B5EF4-FFF2-40B4-BE49-F238E27FC236}">
                <a16:creationId xmlns:a16="http://schemas.microsoft.com/office/drawing/2014/main" id="{3CE5564B-B835-9944-B81D-08F286473C05}"/>
              </a:ext>
            </a:extLst>
          </p:cNvPr>
          <p:cNvSpPr/>
          <p:nvPr/>
        </p:nvSpPr>
        <p:spPr bwMode="auto">
          <a:xfrm>
            <a:off x="8102600" y="2552700"/>
            <a:ext cx="533400" cy="355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1" i="0" u="none" strike="noStrike" kern="1200" cap="none" spc="0" normalizeH="0" baseline="0" noProof="0">
                <a:ln>
                  <a:noFill/>
                </a:ln>
                <a:solidFill>
                  <a:srgbClr val="F000D8"/>
                </a:solidFill>
                <a:effectLst/>
                <a:uLnTx/>
                <a:uFillTx/>
                <a:latin typeface="Arial"/>
                <a:ea typeface="Roboto" panose="02000000000000000000" pitchFamily="2" charset="0"/>
                <a:cs typeface="Arial"/>
              </a:rPr>
              <a:t>03</a:t>
            </a:r>
            <a:endParaRPr kumimoji="0" lang="en-US" sz="1400" b="1" i="0" u="none" strike="noStrike" kern="1200" cap="none" spc="0" normalizeH="0" baseline="0" noProof="0" dirty="0">
              <a:ln>
                <a:noFill/>
              </a:ln>
              <a:solidFill>
                <a:srgbClr val="F000D8"/>
              </a:solidFill>
              <a:effectLst/>
              <a:uLnTx/>
              <a:uFillTx/>
              <a:latin typeface="Arial"/>
              <a:ea typeface="Roboto" panose="02000000000000000000" pitchFamily="2" charset="0"/>
              <a:cs typeface="Arial"/>
            </a:endParaRPr>
          </a:p>
        </p:txBody>
      </p:sp>
      <p:sp>
        <p:nvSpPr>
          <p:cNvPr id="16" name="TextBox 15">
            <a:extLst>
              <a:ext uri="{FF2B5EF4-FFF2-40B4-BE49-F238E27FC236}">
                <a16:creationId xmlns:a16="http://schemas.microsoft.com/office/drawing/2014/main" id="{AE0E006D-B38E-CB42-B236-1C32141ADEC2}"/>
              </a:ext>
            </a:extLst>
          </p:cNvPr>
          <p:cNvSpPr txBox="1"/>
          <p:nvPr/>
        </p:nvSpPr>
        <p:spPr>
          <a:xfrm>
            <a:off x="8737600" y="2552700"/>
            <a:ext cx="2984500" cy="368300"/>
          </a:xfrm>
          <a:prstGeom prst="rect">
            <a:avLst/>
          </a:prstGeom>
          <a:solidFill>
            <a:srgbClr val="FFFFFF"/>
          </a:solidFill>
          <a:ln>
            <a:noFill/>
          </a:ln>
        </p:spPr>
        <p:txBody>
          <a:bodyPr vertOverflow="overflow" vert="horz" wrap="square" lIns="0" tIns="0" rIns="0" bIns="0" rtlCol="0" anchor="ctr" anchorCtr="0">
            <a:spAutoFit/>
          </a:bodyPr>
          <a:lstStyle/>
          <a:p>
            <a:pPr marL="0" indent="0" algn="l">
              <a:spcAft>
                <a:spcPts val="600"/>
              </a:spcAft>
              <a:tabLst/>
            </a:pPr>
            <a:r>
              <a:rPr lang="en-US" sz="1100" b="1">
                <a:solidFill>
                  <a:srgbClr val="10006B"/>
                </a:solidFill>
                <a:latin typeface="Arial"/>
                <a:cs typeface="Arial"/>
              </a:rPr>
              <a:t>CUSTOM APPLICATION MODERNIZATION</a:t>
            </a:r>
            <a:endParaRPr lang="en-US" sz="1100" b="1" dirty="0">
              <a:solidFill>
                <a:srgbClr val="10006B"/>
              </a:solidFill>
              <a:latin typeface="Arial"/>
              <a:cs typeface="Arial"/>
            </a:endParaRPr>
          </a:p>
        </p:txBody>
      </p:sp>
      <p:sp>
        <p:nvSpPr>
          <p:cNvPr id="17" name="Rectangle 16">
            <a:extLst>
              <a:ext uri="{FF2B5EF4-FFF2-40B4-BE49-F238E27FC236}">
                <a16:creationId xmlns:a16="http://schemas.microsoft.com/office/drawing/2014/main" id="{4AC6A94F-7A32-0647-82D6-995CC53FA9B5}"/>
              </a:ext>
            </a:extLst>
          </p:cNvPr>
          <p:cNvSpPr/>
          <p:nvPr/>
        </p:nvSpPr>
        <p:spPr bwMode="auto">
          <a:xfrm>
            <a:off x="8102600" y="2959100"/>
            <a:ext cx="3632200" cy="939800"/>
          </a:xfrm>
          <a:prstGeom prst="rect">
            <a:avLst/>
          </a:prstGeom>
          <a:solidFill>
            <a:srgbClr val="FFFFFF"/>
          </a:solidFill>
          <a:ln w="12700">
            <a:solidFill>
              <a:srgbClr val="B8C5D9"/>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i="0" u="none" strike="noStrike" kern="1200" cap="none" spc="0" normalizeH="0" baseline="0" noProof="0">
                <a:ln>
                  <a:noFill/>
                </a:ln>
                <a:solidFill>
                  <a:srgbClr val="10006B"/>
                </a:solidFill>
                <a:effectLst/>
                <a:uLnTx/>
                <a:uFillTx/>
                <a:latin typeface="Arial"/>
                <a:ea typeface="Roboto" panose="02000000000000000000" pitchFamily="2" charset="0"/>
                <a:cs typeface="Arial"/>
              </a:rPr>
              <a:t>Rebuild differentiated software around current business needs, rules, controls, and experiences.</a:t>
            </a:r>
            <a:endPar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endParaRPr>
          </a:p>
        </p:txBody>
      </p:sp>
      <p:sp>
        <p:nvSpPr>
          <p:cNvPr id="18" name="Rectangle 17">
            <a:extLst>
              <a:ext uri="{FF2B5EF4-FFF2-40B4-BE49-F238E27FC236}">
                <a16:creationId xmlns:a16="http://schemas.microsoft.com/office/drawing/2014/main" id="{08135847-767F-724C-8898-11B63BEC0EF1}"/>
              </a:ext>
            </a:extLst>
          </p:cNvPr>
          <p:cNvSpPr/>
          <p:nvPr/>
        </p:nvSpPr>
        <p:spPr bwMode="auto">
          <a:xfrm>
            <a:off x="457200" y="4013200"/>
            <a:ext cx="533400" cy="355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1" i="0" u="none" strike="noStrike" kern="1200" cap="none" spc="0" normalizeH="0" baseline="0" noProof="0">
                <a:ln>
                  <a:noFill/>
                </a:ln>
                <a:solidFill>
                  <a:srgbClr val="F000D8"/>
                </a:solidFill>
                <a:effectLst/>
                <a:uLnTx/>
                <a:uFillTx/>
                <a:latin typeface="Arial"/>
                <a:ea typeface="Roboto" panose="02000000000000000000" pitchFamily="2" charset="0"/>
                <a:cs typeface="Arial"/>
              </a:rPr>
              <a:t>04</a:t>
            </a:r>
            <a:endParaRPr kumimoji="0" lang="en-US" sz="1400" b="1" i="0" u="none" strike="noStrike" kern="1200" cap="none" spc="0" normalizeH="0" baseline="0" noProof="0" dirty="0">
              <a:ln>
                <a:noFill/>
              </a:ln>
              <a:solidFill>
                <a:srgbClr val="F000D8"/>
              </a:solidFill>
              <a:effectLst/>
              <a:uLnTx/>
              <a:uFillTx/>
              <a:latin typeface="Arial"/>
              <a:ea typeface="Roboto" panose="02000000000000000000" pitchFamily="2" charset="0"/>
              <a:cs typeface="Arial"/>
            </a:endParaRPr>
          </a:p>
        </p:txBody>
      </p:sp>
      <p:sp>
        <p:nvSpPr>
          <p:cNvPr id="19" name="TextBox 18">
            <a:extLst>
              <a:ext uri="{FF2B5EF4-FFF2-40B4-BE49-F238E27FC236}">
                <a16:creationId xmlns:a16="http://schemas.microsoft.com/office/drawing/2014/main" id="{01E81B43-30A6-F741-8ED8-A970D643125C}"/>
              </a:ext>
            </a:extLst>
          </p:cNvPr>
          <p:cNvSpPr txBox="1"/>
          <p:nvPr/>
        </p:nvSpPr>
        <p:spPr>
          <a:xfrm>
            <a:off x="1092200" y="4013200"/>
            <a:ext cx="2984500" cy="368300"/>
          </a:xfrm>
          <a:prstGeom prst="rect">
            <a:avLst/>
          </a:prstGeom>
          <a:solidFill>
            <a:srgbClr val="FFFFFF"/>
          </a:solidFill>
          <a:ln>
            <a:noFill/>
          </a:ln>
        </p:spPr>
        <p:txBody>
          <a:bodyPr vertOverflow="overflow" vert="horz" wrap="square" lIns="0" tIns="0" rIns="0" bIns="0" rtlCol="0" anchor="ctr" anchorCtr="0">
            <a:spAutoFit/>
          </a:bodyPr>
          <a:lstStyle/>
          <a:p>
            <a:pPr marL="0" indent="0" algn="l">
              <a:spcAft>
                <a:spcPts val="600"/>
              </a:spcAft>
              <a:tabLst/>
            </a:pPr>
            <a:r>
              <a:rPr lang="en-US" sz="1100" b="1">
                <a:solidFill>
                  <a:srgbClr val="10006B"/>
                </a:solidFill>
                <a:latin typeface="Arial"/>
                <a:cs typeface="Arial"/>
              </a:rPr>
              <a:t>POST-ACQUISITION INTEGRATION</a:t>
            </a:r>
            <a:endParaRPr lang="en-US" sz="1100" b="1" dirty="0">
              <a:solidFill>
                <a:srgbClr val="10006B"/>
              </a:solidFill>
              <a:latin typeface="Arial"/>
              <a:cs typeface="Arial"/>
            </a:endParaRPr>
          </a:p>
        </p:txBody>
      </p:sp>
      <p:sp>
        <p:nvSpPr>
          <p:cNvPr id="20" name="Rectangle 19">
            <a:extLst>
              <a:ext uri="{FF2B5EF4-FFF2-40B4-BE49-F238E27FC236}">
                <a16:creationId xmlns:a16="http://schemas.microsoft.com/office/drawing/2014/main" id="{61A4F9EF-2BB2-1041-9A57-FBB5B914A152}"/>
              </a:ext>
            </a:extLst>
          </p:cNvPr>
          <p:cNvSpPr/>
          <p:nvPr/>
        </p:nvSpPr>
        <p:spPr bwMode="auto">
          <a:xfrm>
            <a:off x="457200" y="4419600"/>
            <a:ext cx="3632200" cy="939800"/>
          </a:xfrm>
          <a:prstGeom prst="rect">
            <a:avLst/>
          </a:prstGeom>
          <a:solidFill>
            <a:srgbClr val="FFFFFF"/>
          </a:solidFill>
          <a:ln w="12700">
            <a:solidFill>
              <a:srgbClr val="B8C5D9"/>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i="0" u="none" strike="noStrike" kern="1200" cap="none" spc="0" normalizeH="0" baseline="0" noProof="0">
                <a:ln>
                  <a:noFill/>
                </a:ln>
                <a:solidFill>
                  <a:srgbClr val="10006B"/>
                </a:solidFill>
                <a:effectLst/>
                <a:uLnTx/>
                <a:uFillTx/>
                <a:latin typeface="Arial"/>
                <a:ea typeface="Roboto" panose="02000000000000000000" pitchFamily="2" charset="0"/>
                <a:cs typeface="Arial"/>
              </a:rPr>
              <a:t>Connect or consolidate acquired systems, data, and workflows so the combined company can operate as one.</a:t>
            </a:r>
            <a:endPar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endParaRPr>
          </a:p>
        </p:txBody>
      </p:sp>
      <p:sp>
        <p:nvSpPr>
          <p:cNvPr id="21" name="Rectangle 20">
            <a:extLst>
              <a:ext uri="{FF2B5EF4-FFF2-40B4-BE49-F238E27FC236}">
                <a16:creationId xmlns:a16="http://schemas.microsoft.com/office/drawing/2014/main" id="{6F8691C2-BECB-6048-9C96-E688A6884B95}"/>
              </a:ext>
            </a:extLst>
          </p:cNvPr>
          <p:cNvSpPr/>
          <p:nvPr/>
        </p:nvSpPr>
        <p:spPr bwMode="auto">
          <a:xfrm>
            <a:off x="4279900" y="4013200"/>
            <a:ext cx="533400" cy="355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1" i="0" u="none" strike="noStrike" kern="1200" cap="none" spc="0" normalizeH="0" baseline="0" noProof="0">
                <a:ln>
                  <a:noFill/>
                </a:ln>
                <a:solidFill>
                  <a:srgbClr val="F000D8"/>
                </a:solidFill>
                <a:effectLst/>
                <a:uLnTx/>
                <a:uFillTx/>
                <a:latin typeface="Arial"/>
                <a:ea typeface="Roboto" panose="02000000000000000000" pitchFamily="2" charset="0"/>
                <a:cs typeface="Arial"/>
              </a:rPr>
              <a:t>05</a:t>
            </a:r>
            <a:endParaRPr kumimoji="0" lang="en-US" sz="1400" b="1" i="0" u="none" strike="noStrike" kern="1200" cap="none" spc="0" normalizeH="0" baseline="0" noProof="0" dirty="0">
              <a:ln>
                <a:noFill/>
              </a:ln>
              <a:solidFill>
                <a:srgbClr val="F000D8"/>
              </a:solidFill>
              <a:effectLst/>
              <a:uLnTx/>
              <a:uFillTx/>
              <a:latin typeface="Arial"/>
              <a:ea typeface="Roboto" panose="02000000000000000000" pitchFamily="2" charset="0"/>
              <a:cs typeface="Arial"/>
            </a:endParaRPr>
          </a:p>
        </p:txBody>
      </p:sp>
      <p:sp>
        <p:nvSpPr>
          <p:cNvPr id="22" name="TextBox 21">
            <a:extLst>
              <a:ext uri="{FF2B5EF4-FFF2-40B4-BE49-F238E27FC236}">
                <a16:creationId xmlns:a16="http://schemas.microsoft.com/office/drawing/2014/main" id="{1F593478-BB2A-2C42-B523-48B870E0361B}"/>
              </a:ext>
            </a:extLst>
          </p:cNvPr>
          <p:cNvSpPr txBox="1"/>
          <p:nvPr/>
        </p:nvSpPr>
        <p:spPr>
          <a:xfrm>
            <a:off x="4914900" y="4013200"/>
            <a:ext cx="2984500" cy="368300"/>
          </a:xfrm>
          <a:prstGeom prst="rect">
            <a:avLst/>
          </a:prstGeom>
          <a:solidFill>
            <a:srgbClr val="FFFFFF"/>
          </a:solidFill>
          <a:ln>
            <a:noFill/>
          </a:ln>
        </p:spPr>
        <p:txBody>
          <a:bodyPr vertOverflow="overflow" vert="horz" wrap="square" lIns="0" tIns="0" rIns="0" bIns="0" rtlCol="0" anchor="ctr" anchorCtr="0">
            <a:spAutoFit/>
          </a:bodyPr>
          <a:lstStyle/>
          <a:p>
            <a:pPr marL="0" indent="0" algn="l">
              <a:spcAft>
                <a:spcPts val="600"/>
              </a:spcAft>
              <a:tabLst/>
            </a:pPr>
            <a:r>
              <a:rPr lang="en-US" sz="1100" b="1">
                <a:solidFill>
                  <a:srgbClr val="10006B"/>
                </a:solidFill>
                <a:latin typeface="Arial"/>
                <a:cs typeface="Arial"/>
              </a:rPr>
              <a:t>APPLICATION PORTFOLIO RATIONALIZATION</a:t>
            </a:r>
            <a:endParaRPr lang="en-US" sz="1100" b="1" dirty="0">
              <a:solidFill>
                <a:srgbClr val="10006B"/>
              </a:solidFill>
              <a:latin typeface="Arial"/>
              <a:cs typeface="Arial"/>
            </a:endParaRPr>
          </a:p>
        </p:txBody>
      </p:sp>
      <p:sp>
        <p:nvSpPr>
          <p:cNvPr id="23" name="Rectangle 22">
            <a:extLst>
              <a:ext uri="{FF2B5EF4-FFF2-40B4-BE49-F238E27FC236}">
                <a16:creationId xmlns:a16="http://schemas.microsoft.com/office/drawing/2014/main" id="{3ED5A8AA-B01E-E345-8B01-BD6369731993}"/>
              </a:ext>
            </a:extLst>
          </p:cNvPr>
          <p:cNvSpPr/>
          <p:nvPr/>
        </p:nvSpPr>
        <p:spPr bwMode="auto">
          <a:xfrm>
            <a:off x="4279900" y="4419600"/>
            <a:ext cx="3632200" cy="939800"/>
          </a:xfrm>
          <a:prstGeom prst="rect">
            <a:avLst/>
          </a:prstGeom>
          <a:solidFill>
            <a:srgbClr val="FFFFFF"/>
          </a:solidFill>
          <a:ln w="12700">
            <a:solidFill>
              <a:srgbClr val="B8C5D9"/>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i="0" u="none" strike="noStrike" kern="1200" cap="none" spc="0" normalizeH="0" baseline="0" noProof="0">
                <a:ln>
                  <a:noFill/>
                </a:ln>
                <a:solidFill>
                  <a:srgbClr val="10006B"/>
                </a:solidFill>
                <a:effectLst/>
                <a:uLnTx/>
                <a:uFillTx/>
                <a:latin typeface="Arial"/>
                <a:ea typeface="Roboto" panose="02000000000000000000" pitchFamily="2" charset="0"/>
                <a:cs typeface="Arial"/>
              </a:rPr>
              <a:t>Remove duplication and sequence investment across the portfolio.</a:t>
            </a:r>
            <a:endPar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endParaRPr>
          </a:p>
        </p:txBody>
      </p:sp>
      <p:sp>
        <p:nvSpPr>
          <p:cNvPr id="24" name="Rectangle 23">
            <a:extLst>
              <a:ext uri="{FF2B5EF4-FFF2-40B4-BE49-F238E27FC236}">
                <a16:creationId xmlns:a16="http://schemas.microsoft.com/office/drawing/2014/main" id="{017798EA-5B83-C745-AFF0-FB0C0ADEC29E}"/>
              </a:ext>
            </a:extLst>
          </p:cNvPr>
          <p:cNvSpPr/>
          <p:nvPr/>
        </p:nvSpPr>
        <p:spPr bwMode="auto">
          <a:xfrm>
            <a:off x="8102600" y="4013200"/>
            <a:ext cx="533400" cy="355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1" i="0" u="none" strike="noStrike" kern="1200" cap="none" spc="0" normalizeH="0" baseline="0" noProof="0">
                <a:ln>
                  <a:noFill/>
                </a:ln>
                <a:solidFill>
                  <a:srgbClr val="F000D8"/>
                </a:solidFill>
                <a:effectLst/>
                <a:uLnTx/>
                <a:uFillTx/>
                <a:latin typeface="Arial"/>
                <a:ea typeface="Roboto" panose="02000000000000000000" pitchFamily="2" charset="0"/>
                <a:cs typeface="Arial"/>
              </a:rPr>
              <a:t>06</a:t>
            </a:r>
            <a:endParaRPr kumimoji="0" lang="en-US" sz="1400" b="1" i="0" u="none" strike="noStrike" kern="1200" cap="none" spc="0" normalizeH="0" baseline="0" noProof="0" dirty="0">
              <a:ln>
                <a:noFill/>
              </a:ln>
              <a:solidFill>
                <a:srgbClr val="F000D8"/>
              </a:solidFill>
              <a:effectLst/>
              <a:uLnTx/>
              <a:uFillTx/>
              <a:latin typeface="Arial"/>
              <a:ea typeface="Roboto" panose="02000000000000000000" pitchFamily="2" charset="0"/>
              <a:cs typeface="Arial"/>
            </a:endParaRPr>
          </a:p>
        </p:txBody>
      </p:sp>
      <p:sp>
        <p:nvSpPr>
          <p:cNvPr id="25" name="TextBox 24">
            <a:extLst>
              <a:ext uri="{FF2B5EF4-FFF2-40B4-BE49-F238E27FC236}">
                <a16:creationId xmlns:a16="http://schemas.microsoft.com/office/drawing/2014/main" id="{635C908E-74BF-A14E-97D1-EFEBB00A827D}"/>
              </a:ext>
            </a:extLst>
          </p:cNvPr>
          <p:cNvSpPr txBox="1"/>
          <p:nvPr/>
        </p:nvSpPr>
        <p:spPr>
          <a:xfrm>
            <a:off x="8737600" y="4013200"/>
            <a:ext cx="2984500" cy="368300"/>
          </a:xfrm>
          <a:prstGeom prst="rect">
            <a:avLst/>
          </a:prstGeom>
          <a:solidFill>
            <a:srgbClr val="FFFFFF"/>
          </a:solidFill>
          <a:ln>
            <a:noFill/>
          </a:ln>
        </p:spPr>
        <p:txBody>
          <a:bodyPr vertOverflow="overflow" vert="horz" wrap="square" lIns="0" tIns="0" rIns="0" bIns="0" rtlCol="0" anchor="ctr" anchorCtr="0">
            <a:spAutoFit/>
          </a:bodyPr>
          <a:lstStyle/>
          <a:p>
            <a:pPr marL="0" indent="0" algn="l">
              <a:spcAft>
                <a:spcPts val="600"/>
              </a:spcAft>
              <a:tabLst/>
            </a:pPr>
            <a:r>
              <a:rPr lang="en-US" sz="1100" b="1">
                <a:solidFill>
                  <a:srgbClr val="10006B"/>
                </a:solidFill>
                <a:latin typeface="Arial"/>
                <a:cs typeface="Arial"/>
              </a:rPr>
              <a:t>AI-NATIVE BUSINESS READINESS</a:t>
            </a:r>
            <a:endParaRPr lang="en-US" sz="1100" b="1" dirty="0">
              <a:solidFill>
                <a:srgbClr val="10006B"/>
              </a:solidFill>
              <a:latin typeface="Arial"/>
              <a:cs typeface="Arial"/>
            </a:endParaRPr>
          </a:p>
        </p:txBody>
      </p:sp>
      <p:sp>
        <p:nvSpPr>
          <p:cNvPr id="26" name="Rectangle 25">
            <a:extLst>
              <a:ext uri="{FF2B5EF4-FFF2-40B4-BE49-F238E27FC236}">
                <a16:creationId xmlns:a16="http://schemas.microsoft.com/office/drawing/2014/main" id="{E694D46E-3FCB-A04A-B04C-4705380E8EA6}"/>
              </a:ext>
            </a:extLst>
          </p:cNvPr>
          <p:cNvSpPr/>
          <p:nvPr/>
        </p:nvSpPr>
        <p:spPr bwMode="auto">
          <a:xfrm>
            <a:off x="8102600" y="4419600"/>
            <a:ext cx="3632200" cy="939800"/>
          </a:xfrm>
          <a:prstGeom prst="rect">
            <a:avLst/>
          </a:prstGeom>
          <a:solidFill>
            <a:srgbClr val="FFFFFF"/>
          </a:solidFill>
          <a:ln w="12700">
            <a:solidFill>
              <a:srgbClr val="B8C5D9"/>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i="0" u="none" strike="noStrike" kern="1200" cap="none" spc="0" normalizeH="0" baseline="0" noProof="0">
                <a:ln>
                  <a:noFill/>
                </a:ln>
                <a:solidFill>
                  <a:srgbClr val="10006B"/>
                </a:solidFill>
                <a:effectLst/>
                <a:uLnTx/>
                <a:uFillTx/>
                <a:latin typeface="Arial"/>
                <a:ea typeface="Roboto" panose="02000000000000000000" pitchFamily="2" charset="0"/>
                <a:cs typeface="Arial"/>
              </a:rPr>
              <a:t>Create governed APIs, data, event flows, permissions, and controls for internal, customer, and partner agents.</a:t>
            </a:r>
            <a:endPar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endParaRPr>
          </a:p>
        </p:txBody>
      </p:sp>
      <p:sp>
        <p:nvSpPr>
          <p:cNvPr id="27" name="Rectangle 26">
            <a:extLst>
              <a:ext uri="{FF2B5EF4-FFF2-40B4-BE49-F238E27FC236}">
                <a16:creationId xmlns:a16="http://schemas.microsoft.com/office/drawing/2014/main" id="{05109100-DAF3-4F43-AF48-52B58F5371C1}"/>
              </a:ext>
            </a:extLst>
          </p:cNvPr>
          <p:cNvSpPr/>
          <p:nvPr/>
        </p:nvSpPr>
        <p:spPr bwMode="auto">
          <a:xfrm>
            <a:off x="457200" y="5562600"/>
            <a:ext cx="11277600" cy="4826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0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EXAMPLE BUSINESS INTENT   Security   Process friction   Growth   Acquisition integration   AI readiness   Expertise risk   Lifecycle cost</a:t>
            </a:r>
            <a:endParaRPr kumimoji="0" lang="en-US" sz="90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3" name="TextBox 2">
            <a:extLst>
              <a:ext uri="{FF2B5EF4-FFF2-40B4-BE49-F238E27FC236}">
                <a16:creationId xmlns:a16="http://schemas.microsoft.com/office/drawing/2014/main" id="{D972C8BF-5238-914A-AD6E-617162472A47}"/>
              </a:ext>
            </a:extLst>
          </p:cNvPr>
          <p:cNvSpPr txBox="1"/>
          <p:nvPr/>
        </p:nvSpPr>
        <p:spPr>
          <a:xfrm>
            <a:off x="4321048" y="6400800"/>
            <a:ext cx="7102856" cy="167894"/>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4" name="TextBox 3">
            <a:extLst>
              <a:ext uri="{FF2B5EF4-FFF2-40B4-BE49-F238E27FC236}">
                <a16:creationId xmlns:a16="http://schemas.microsoft.com/office/drawing/2014/main" id="{927F2BE1-33DE-C441-BCD8-6EE4F0A0E028}"/>
              </a:ext>
            </a:extLst>
          </p:cNvPr>
          <p:cNvSpPr txBox="1"/>
          <p:nvPr/>
        </p:nvSpPr>
        <p:spPr>
          <a:xfrm>
            <a:off x="11509629" y="6400800"/>
            <a:ext cx="218821" cy="167894"/>
          </a:xfrm>
          <a:prstGeom prst="rect">
            <a:avLst/>
          </a:prstGeom>
          <a:noFill/>
        </p:spPr>
        <p:txBody>
          <a:bodyPr vertOverflow="overflow" vert="horz" wrap="square" lIns="0" tIns="0" rIns="0" bIns="0" rtlCol="0" anchor="t">
            <a:spAutoFit/>
          </a:bodyPr>
          <a:lstStyle/>
          <a:p>
            <a:pPr marL="0" indent="0" algn="l">
              <a:spcAft>
                <a:spcPts val="600"/>
              </a:spcAft>
              <a:tabLst/>
            </a:pPr>
            <a:r>
              <a:rPr lang="en-US" sz="550">
                <a:solidFill>
                  <a:srgbClr val="070154"/>
                </a:solidFill>
                <a:latin typeface="Arial"/>
                <a:cs typeface="Arial"/>
              </a:rPr>
              <a:t>7</a:t>
            </a:r>
            <a:endParaRPr lang="en-US" sz="550" dirty="0">
              <a:solidFill>
                <a:srgbClr val="070154"/>
              </a:solidFill>
              <a:latin typeface="Arial"/>
              <a:cs typeface="Arial"/>
            </a:endParaRPr>
          </a:p>
        </p:txBody>
      </p:sp>
      <p:pic>
        <p:nvPicPr>
          <p:cNvPr id="5" name="West Monroe Footer Logo" descr="West Monroe logo"/>
          <p:cNvPicPr>
            <a:picLocks noChangeAspect="1"/>
          </p:cNvPicPr>
          <p:nvPr userDrawn="1"/>
        </p:nvPicPr>
        <p:blipFill>
          <a:blip r:embed="rId3" cstate="hqprint"/>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1610337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FEDF95-2339-3646-AE3C-C658B58BEAAD}"/>
              </a:ext>
            </a:extLst>
          </p:cNvPr>
          <p:cNvSpPr txBox="1"/>
          <p:nvPr/>
        </p:nvSpPr>
        <p:spPr>
          <a:xfrm>
            <a:off x="457200" y="533400"/>
            <a:ext cx="11277600" cy="6350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2400" b="1" dirty="0">
                <a:solidFill>
                  <a:srgbClr val="10006B"/>
                </a:solidFill>
                <a:latin typeface="Arial"/>
                <a:cs typeface="Arial"/>
              </a:rPr>
              <a:t>The catalyst determines why modernization matters now</a:t>
            </a:r>
          </a:p>
        </p:txBody>
      </p:sp>
      <p:sp>
        <p:nvSpPr>
          <p:cNvPr id="15" name="Rectangle 14">
            <a:extLst>
              <a:ext uri="{FF2B5EF4-FFF2-40B4-BE49-F238E27FC236}">
                <a16:creationId xmlns:a16="http://schemas.microsoft.com/office/drawing/2014/main" id="{DE90BFD8-7401-9D4C-870D-B9477BE2A6D2}"/>
              </a:ext>
            </a:extLst>
          </p:cNvPr>
          <p:cNvSpPr/>
          <p:nvPr/>
        </p:nvSpPr>
        <p:spPr bwMode="auto">
          <a:xfrm>
            <a:off x="457200" y="2057400"/>
            <a:ext cx="609600" cy="838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600" b="1" i="0" u="none" strike="noStrike" kern="1200" cap="none" spc="0" normalizeH="0" baseline="0" noProof="0">
                <a:ln>
                  <a:noFill/>
                </a:ln>
                <a:solidFill>
                  <a:srgbClr val="F000D8"/>
                </a:solidFill>
                <a:effectLst/>
                <a:uLnTx/>
                <a:uFillTx/>
                <a:latin typeface="Arial"/>
                <a:ea typeface="Roboto" panose="02000000000000000000" pitchFamily="2" charset="0"/>
                <a:cs typeface="Arial"/>
              </a:rPr>
              <a:t>01</a:t>
            </a:r>
            <a:endParaRPr kumimoji="0" lang="en-US" sz="1600" b="1" i="0" u="none" strike="noStrike" kern="1200" cap="none" spc="0" normalizeH="0" baseline="0" noProof="0" dirty="0">
              <a:ln>
                <a:noFill/>
              </a:ln>
              <a:solidFill>
                <a:srgbClr val="F000D8"/>
              </a:solidFill>
              <a:effectLst/>
              <a:uLnTx/>
              <a:uFillTx/>
              <a:latin typeface="Arial"/>
              <a:ea typeface="Roboto" panose="02000000000000000000" pitchFamily="2" charset="0"/>
              <a:cs typeface="Arial"/>
            </a:endParaRPr>
          </a:p>
        </p:txBody>
      </p:sp>
      <p:sp>
        <p:nvSpPr>
          <p:cNvPr id="16" name="Rectangle 15">
            <a:extLst>
              <a:ext uri="{FF2B5EF4-FFF2-40B4-BE49-F238E27FC236}">
                <a16:creationId xmlns:a16="http://schemas.microsoft.com/office/drawing/2014/main" id="{4B5D258D-7DD1-5249-8472-EB29C2DBA0E2}"/>
              </a:ext>
            </a:extLst>
          </p:cNvPr>
          <p:cNvSpPr/>
          <p:nvPr/>
        </p:nvSpPr>
        <p:spPr bwMode="auto">
          <a:xfrm>
            <a:off x="1066800" y="2057400"/>
            <a:ext cx="5080000" cy="838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endParaRPr>
          </a:p>
        </p:txBody>
      </p:sp>
      <p:sp>
        <p:nvSpPr>
          <p:cNvPr id="17" name="TextBox 16">
            <a:extLst>
              <a:ext uri="{FF2B5EF4-FFF2-40B4-BE49-F238E27FC236}">
                <a16:creationId xmlns:a16="http://schemas.microsoft.com/office/drawing/2014/main" id="{6CDFDF39-713B-6840-A0FA-ED22929A2ED1}"/>
              </a:ext>
            </a:extLst>
          </p:cNvPr>
          <p:cNvSpPr txBox="1"/>
          <p:nvPr/>
        </p:nvSpPr>
        <p:spPr>
          <a:xfrm>
            <a:off x="1193800" y="2120900"/>
            <a:ext cx="4826000" cy="2159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000" b="1" dirty="0">
                <a:solidFill>
                  <a:srgbClr val="10006B"/>
                </a:solidFill>
                <a:latin typeface="Arial"/>
                <a:cs typeface="Arial"/>
              </a:rPr>
              <a:t>SECURITY EXPOSURE OR AN END-OF-LIFE DEADLINE</a:t>
            </a:r>
          </a:p>
        </p:txBody>
      </p:sp>
      <p:sp>
        <p:nvSpPr>
          <p:cNvPr id="18" name="TextBox 17">
            <a:extLst>
              <a:ext uri="{FF2B5EF4-FFF2-40B4-BE49-F238E27FC236}">
                <a16:creationId xmlns:a16="http://schemas.microsoft.com/office/drawing/2014/main" id="{F98BA746-47B9-8F4D-B583-C1C15C950B5C}"/>
              </a:ext>
            </a:extLst>
          </p:cNvPr>
          <p:cNvSpPr txBox="1"/>
          <p:nvPr/>
        </p:nvSpPr>
        <p:spPr>
          <a:xfrm>
            <a:off x="1193800" y="2349500"/>
            <a:ext cx="4826000" cy="2413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920">
                <a:solidFill>
                  <a:srgbClr val="10006B"/>
                </a:solidFill>
                <a:latin typeface="Arial"/>
                <a:cs typeface="Arial"/>
              </a:rPr>
              <a:t>Hear: unsupported technology, vulnerabilities, audit findings, vendor deadline</a:t>
            </a:r>
            <a:endParaRPr lang="en-US" sz="920" dirty="0">
              <a:solidFill>
                <a:srgbClr val="10006B"/>
              </a:solidFill>
              <a:latin typeface="Arial"/>
              <a:cs typeface="Arial"/>
            </a:endParaRPr>
          </a:p>
        </p:txBody>
      </p:sp>
      <p:sp>
        <p:nvSpPr>
          <p:cNvPr id="19" name="TextBox 18">
            <a:extLst>
              <a:ext uri="{FF2B5EF4-FFF2-40B4-BE49-F238E27FC236}">
                <a16:creationId xmlns:a16="http://schemas.microsoft.com/office/drawing/2014/main" id="{F77C5059-AF6D-FF45-9F1A-2F3ABF6BDE8B}"/>
              </a:ext>
            </a:extLst>
          </p:cNvPr>
          <p:cNvSpPr txBox="1"/>
          <p:nvPr/>
        </p:nvSpPr>
        <p:spPr>
          <a:xfrm>
            <a:off x="1193800" y="2616200"/>
            <a:ext cx="4826000" cy="2286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880" b="1">
                <a:solidFill>
                  <a:srgbClr val="0B4BFF"/>
                </a:solidFill>
                <a:latin typeface="Arial"/>
                <a:cs typeface="Arial"/>
              </a:rPr>
              <a:t>Measure: exposure, incidents, recovery risk, support horizon</a:t>
            </a:r>
            <a:endParaRPr lang="en-US" sz="880" b="1" dirty="0">
              <a:solidFill>
                <a:srgbClr val="0B4BFF"/>
              </a:solidFill>
              <a:latin typeface="Arial"/>
              <a:cs typeface="Arial"/>
            </a:endParaRPr>
          </a:p>
        </p:txBody>
      </p:sp>
      <p:sp>
        <p:nvSpPr>
          <p:cNvPr id="20" name="Rectangle 19">
            <a:extLst>
              <a:ext uri="{FF2B5EF4-FFF2-40B4-BE49-F238E27FC236}">
                <a16:creationId xmlns:a16="http://schemas.microsoft.com/office/drawing/2014/main" id="{3BD2DEB4-704B-2944-885B-C0C8BA5E5C89}"/>
              </a:ext>
            </a:extLst>
          </p:cNvPr>
          <p:cNvSpPr/>
          <p:nvPr/>
        </p:nvSpPr>
        <p:spPr bwMode="auto">
          <a:xfrm>
            <a:off x="457200" y="2997200"/>
            <a:ext cx="609600" cy="838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600" b="1" i="0" u="none" strike="noStrike" kern="1200" cap="none" spc="0" normalizeH="0" baseline="0" noProof="0">
                <a:ln>
                  <a:noFill/>
                </a:ln>
                <a:solidFill>
                  <a:srgbClr val="F000D8"/>
                </a:solidFill>
                <a:effectLst/>
                <a:uLnTx/>
                <a:uFillTx/>
                <a:latin typeface="Arial"/>
                <a:ea typeface="Roboto" panose="02000000000000000000" pitchFamily="2" charset="0"/>
                <a:cs typeface="Arial"/>
              </a:rPr>
              <a:t>02</a:t>
            </a:r>
            <a:endParaRPr kumimoji="0" lang="en-US" sz="1600" b="1" i="0" u="none" strike="noStrike" kern="1200" cap="none" spc="0" normalizeH="0" baseline="0" noProof="0" dirty="0">
              <a:ln>
                <a:noFill/>
              </a:ln>
              <a:solidFill>
                <a:srgbClr val="F000D8"/>
              </a:solidFill>
              <a:effectLst/>
              <a:uLnTx/>
              <a:uFillTx/>
              <a:latin typeface="Arial"/>
              <a:ea typeface="Roboto" panose="02000000000000000000" pitchFamily="2" charset="0"/>
              <a:cs typeface="Arial"/>
            </a:endParaRPr>
          </a:p>
        </p:txBody>
      </p:sp>
      <p:sp>
        <p:nvSpPr>
          <p:cNvPr id="21" name="Rectangle 20">
            <a:extLst>
              <a:ext uri="{FF2B5EF4-FFF2-40B4-BE49-F238E27FC236}">
                <a16:creationId xmlns:a16="http://schemas.microsoft.com/office/drawing/2014/main" id="{2300DF18-6B38-0F43-929C-BCD30FAC9F72}"/>
              </a:ext>
            </a:extLst>
          </p:cNvPr>
          <p:cNvSpPr/>
          <p:nvPr/>
        </p:nvSpPr>
        <p:spPr bwMode="auto">
          <a:xfrm>
            <a:off x="1066800" y="2997200"/>
            <a:ext cx="5080000" cy="838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endParaRPr>
          </a:p>
        </p:txBody>
      </p:sp>
      <p:sp>
        <p:nvSpPr>
          <p:cNvPr id="22" name="TextBox 21">
            <a:extLst>
              <a:ext uri="{FF2B5EF4-FFF2-40B4-BE49-F238E27FC236}">
                <a16:creationId xmlns:a16="http://schemas.microsoft.com/office/drawing/2014/main" id="{2671CA58-BDA7-B540-BAB0-26623E283839}"/>
              </a:ext>
            </a:extLst>
          </p:cNvPr>
          <p:cNvSpPr txBox="1"/>
          <p:nvPr/>
        </p:nvSpPr>
        <p:spPr>
          <a:xfrm>
            <a:off x="1193800" y="3060700"/>
            <a:ext cx="4826000" cy="2159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000" b="1">
                <a:solidFill>
                  <a:srgbClr val="10006B"/>
                </a:solidFill>
                <a:latin typeface="Arial"/>
                <a:cs typeface="Arial"/>
              </a:rPr>
              <a:t>PROCESS FRICTION LIMITS PERFORMANCE</a:t>
            </a:r>
            <a:endParaRPr lang="en-US" sz="1000" b="1" dirty="0">
              <a:solidFill>
                <a:srgbClr val="10006B"/>
              </a:solidFill>
              <a:latin typeface="Arial"/>
              <a:cs typeface="Arial"/>
            </a:endParaRPr>
          </a:p>
        </p:txBody>
      </p:sp>
      <p:sp>
        <p:nvSpPr>
          <p:cNvPr id="23" name="TextBox 22">
            <a:extLst>
              <a:ext uri="{FF2B5EF4-FFF2-40B4-BE49-F238E27FC236}">
                <a16:creationId xmlns:a16="http://schemas.microsoft.com/office/drawing/2014/main" id="{88205189-B971-4942-898D-960A0053BDED}"/>
              </a:ext>
            </a:extLst>
          </p:cNvPr>
          <p:cNvSpPr txBox="1"/>
          <p:nvPr/>
        </p:nvSpPr>
        <p:spPr>
          <a:xfrm>
            <a:off x="1193800" y="3289300"/>
            <a:ext cx="4826000" cy="2413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920">
                <a:solidFill>
                  <a:srgbClr val="10006B"/>
                </a:solidFill>
                <a:latin typeface="Arial"/>
                <a:cs typeface="Arial"/>
              </a:rPr>
              <a:t>Hear: manual work, duplicate entry, long queues, workarounds</a:t>
            </a:r>
            <a:endParaRPr lang="en-US" sz="920" dirty="0">
              <a:solidFill>
                <a:srgbClr val="10006B"/>
              </a:solidFill>
              <a:latin typeface="Arial"/>
              <a:cs typeface="Arial"/>
            </a:endParaRPr>
          </a:p>
        </p:txBody>
      </p:sp>
      <p:sp>
        <p:nvSpPr>
          <p:cNvPr id="24" name="TextBox 23">
            <a:extLst>
              <a:ext uri="{FF2B5EF4-FFF2-40B4-BE49-F238E27FC236}">
                <a16:creationId xmlns:a16="http://schemas.microsoft.com/office/drawing/2014/main" id="{2983BA4E-9E2E-5742-BF95-C66CD68CED11}"/>
              </a:ext>
            </a:extLst>
          </p:cNvPr>
          <p:cNvSpPr txBox="1"/>
          <p:nvPr/>
        </p:nvSpPr>
        <p:spPr>
          <a:xfrm>
            <a:off x="1193800" y="3556000"/>
            <a:ext cx="4826000" cy="2286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880" b="1">
                <a:solidFill>
                  <a:srgbClr val="0B4BFF"/>
                </a:solidFill>
                <a:latin typeface="Arial"/>
                <a:cs typeface="Arial"/>
              </a:rPr>
              <a:t>Measure: cycle time, touches, exceptions, errors</a:t>
            </a:r>
            <a:endParaRPr lang="en-US" sz="880" b="1" dirty="0">
              <a:solidFill>
                <a:srgbClr val="0B4BFF"/>
              </a:solidFill>
              <a:latin typeface="Arial"/>
              <a:cs typeface="Arial"/>
            </a:endParaRPr>
          </a:p>
        </p:txBody>
      </p:sp>
      <p:sp>
        <p:nvSpPr>
          <p:cNvPr id="25" name="Rectangle 24">
            <a:extLst>
              <a:ext uri="{FF2B5EF4-FFF2-40B4-BE49-F238E27FC236}">
                <a16:creationId xmlns:a16="http://schemas.microsoft.com/office/drawing/2014/main" id="{238FFA65-7BC4-BB4D-BADD-006D888C986A}"/>
              </a:ext>
            </a:extLst>
          </p:cNvPr>
          <p:cNvSpPr/>
          <p:nvPr/>
        </p:nvSpPr>
        <p:spPr bwMode="auto">
          <a:xfrm>
            <a:off x="457200" y="3937000"/>
            <a:ext cx="609600" cy="838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600" b="1" i="0" u="none" strike="noStrike" kern="1200" cap="none" spc="0" normalizeH="0" baseline="0" noProof="0">
                <a:ln>
                  <a:noFill/>
                </a:ln>
                <a:solidFill>
                  <a:srgbClr val="F000D8"/>
                </a:solidFill>
                <a:effectLst/>
                <a:uLnTx/>
                <a:uFillTx/>
                <a:latin typeface="Arial"/>
                <a:ea typeface="Roboto" panose="02000000000000000000" pitchFamily="2" charset="0"/>
                <a:cs typeface="Arial"/>
              </a:rPr>
              <a:t>03</a:t>
            </a:r>
            <a:endParaRPr kumimoji="0" lang="en-US" sz="1600" b="1" i="0" u="none" strike="noStrike" kern="1200" cap="none" spc="0" normalizeH="0" baseline="0" noProof="0" dirty="0">
              <a:ln>
                <a:noFill/>
              </a:ln>
              <a:solidFill>
                <a:srgbClr val="F000D8"/>
              </a:solidFill>
              <a:effectLst/>
              <a:uLnTx/>
              <a:uFillTx/>
              <a:latin typeface="Arial"/>
              <a:ea typeface="Roboto" panose="02000000000000000000" pitchFamily="2" charset="0"/>
              <a:cs typeface="Arial"/>
            </a:endParaRPr>
          </a:p>
        </p:txBody>
      </p:sp>
      <p:sp>
        <p:nvSpPr>
          <p:cNvPr id="26" name="Rectangle 25">
            <a:extLst>
              <a:ext uri="{FF2B5EF4-FFF2-40B4-BE49-F238E27FC236}">
                <a16:creationId xmlns:a16="http://schemas.microsoft.com/office/drawing/2014/main" id="{33AD17F9-1187-1248-9FC9-8C45E2723D37}"/>
              </a:ext>
            </a:extLst>
          </p:cNvPr>
          <p:cNvSpPr/>
          <p:nvPr/>
        </p:nvSpPr>
        <p:spPr bwMode="auto">
          <a:xfrm>
            <a:off x="1066800" y="3937000"/>
            <a:ext cx="5080000" cy="838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endParaRPr>
          </a:p>
        </p:txBody>
      </p:sp>
      <p:sp>
        <p:nvSpPr>
          <p:cNvPr id="27" name="TextBox 26">
            <a:extLst>
              <a:ext uri="{FF2B5EF4-FFF2-40B4-BE49-F238E27FC236}">
                <a16:creationId xmlns:a16="http://schemas.microsoft.com/office/drawing/2014/main" id="{E5226E89-35F7-3C49-A551-43BC54CFDB34}"/>
              </a:ext>
            </a:extLst>
          </p:cNvPr>
          <p:cNvSpPr txBox="1"/>
          <p:nvPr/>
        </p:nvSpPr>
        <p:spPr>
          <a:xfrm>
            <a:off x="1193800" y="4000500"/>
            <a:ext cx="4826000" cy="2159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000" b="1">
                <a:solidFill>
                  <a:srgbClr val="10006B"/>
                </a:solidFill>
                <a:latin typeface="Arial"/>
                <a:cs typeface="Arial"/>
              </a:rPr>
              <a:t>CURRENT SYSTEMS CONSTRAIN GROWTH</a:t>
            </a:r>
            <a:endParaRPr lang="en-US" sz="1000" b="1" dirty="0">
              <a:solidFill>
                <a:srgbClr val="10006B"/>
              </a:solidFill>
              <a:latin typeface="Arial"/>
              <a:cs typeface="Arial"/>
            </a:endParaRPr>
          </a:p>
        </p:txBody>
      </p:sp>
      <p:sp>
        <p:nvSpPr>
          <p:cNvPr id="28" name="TextBox 27">
            <a:extLst>
              <a:ext uri="{FF2B5EF4-FFF2-40B4-BE49-F238E27FC236}">
                <a16:creationId xmlns:a16="http://schemas.microsoft.com/office/drawing/2014/main" id="{3A95BCE4-4A6B-B94A-B3F3-9AF48A35B858}"/>
              </a:ext>
            </a:extLst>
          </p:cNvPr>
          <p:cNvSpPr txBox="1"/>
          <p:nvPr/>
        </p:nvSpPr>
        <p:spPr>
          <a:xfrm>
            <a:off x="1193800" y="4229100"/>
            <a:ext cx="4826000" cy="2413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920">
                <a:solidFill>
                  <a:srgbClr val="10006B"/>
                </a:solidFill>
                <a:latin typeface="Arial"/>
                <a:cs typeface="Arial"/>
              </a:rPr>
              <a:t>Hear: slow launches, limited channels, acquisition complexity</a:t>
            </a:r>
            <a:endParaRPr lang="en-US" sz="920" dirty="0">
              <a:solidFill>
                <a:srgbClr val="10006B"/>
              </a:solidFill>
              <a:latin typeface="Arial"/>
              <a:cs typeface="Arial"/>
            </a:endParaRPr>
          </a:p>
        </p:txBody>
      </p:sp>
      <p:sp>
        <p:nvSpPr>
          <p:cNvPr id="29" name="TextBox 28">
            <a:extLst>
              <a:ext uri="{FF2B5EF4-FFF2-40B4-BE49-F238E27FC236}">
                <a16:creationId xmlns:a16="http://schemas.microsoft.com/office/drawing/2014/main" id="{80F2BA24-8115-9A40-8018-827EC189349D}"/>
              </a:ext>
            </a:extLst>
          </p:cNvPr>
          <p:cNvSpPr txBox="1"/>
          <p:nvPr/>
        </p:nvSpPr>
        <p:spPr>
          <a:xfrm>
            <a:off x="1193800" y="4495800"/>
            <a:ext cx="4826000" cy="2286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880" b="1">
                <a:solidFill>
                  <a:srgbClr val="0B4BFF"/>
                </a:solidFill>
                <a:latin typeface="Arial"/>
                <a:cs typeface="Arial"/>
              </a:rPr>
              <a:t>Measure: time to market, delayed revenue, conversion, capacity</a:t>
            </a:r>
            <a:endParaRPr lang="en-US" sz="880" b="1" dirty="0">
              <a:solidFill>
                <a:srgbClr val="0B4BFF"/>
              </a:solidFill>
              <a:latin typeface="Arial"/>
              <a:cs typeface="Arial"/>
            </a:endParaRPr>
          </a:p>
        </p:txBody>
      </p:sp>
      <p:sp>
        <p:nvSpPr>
          <p:cNvPr id="30" name="Rectangle 29">
            <a:extLst>
              <a:ext uri="{FF2B5EF4-FFF2-40B4-BE49-F238E27FC236}">
                <a16:creationId xmlns:a16="http://schemas.microsoft.com/office/drawing/2014/main" id="{EE93ADD3-FAB3-B848-BE55-566567A47D9C}"/>
              </a:ext>
            </a:extLst>
          </p:cNvPr>
          <p:cNvSpPr/>
          <p:nvPr/>
        </p:nvSpPr>
        <p:spPr bwMode="auto">
          <a:xfrm>
            <a:off x="457200" y="4876800"/>
            <a:ext cx="609600" cy="838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600" b="1" i="0" u="none" strike="noStrike" kern="1200" cap="none" spc="0" normalizeH="0" baseline="0" noProof="0">
                <a:ln>
                  <a:noFill/>
                </a:ln>
                <a:solidFill>
                  <a:srgbClr val="F000D8"/>
                </a:solidFill>
                <a:effectLst/>
                <a:uLnTx/>
                <a:uFillTx/>
                <a:latin typeface="Arial"/>
                <a:ea typeface="Roboto" panose="02000000000000000000" pitchFamily="2" charset="0"/>
                <a:cs typeface="Arial"/>
              </a:rPr>
              <a:t>04</a:t>
            </a:r>
            <a:endParaRPr kumimoji="0" lang="en-US" sz="1600" b="1" i="0" u="none" strike="noStrike" kern="1200" cap="none" spc="0" normalizeH="0" baseline="0" noProof="0" dirty="0">
              <a:ln>
                <a:noFill/>
              </a:ln>
              <a:solidFill>
                <a:srgbClr val="F000D8"/>
              </a:solidFill>
              <a:effectLst/>
              <a:uLnTx/>
              <a:uFillTx/>
              <a:latin typeface="Arial"/>
              <a:ea typeface="Roboto" panose="02000000000000000000" pitchFamily="2" charset="0"/>
              <a:cs typeface="Arial"/>
            </a:endParaRPr>
          </a:p>
        </p:txBody>
      </p:sp>
      <p:sp>
        <p:nvSpPr>
          <p:cNvPr id="31" name="Rectangle 30">
            <a:extLst>
              <a:ext uri="{FF2B5EF4-FFF2-40B4-BE49-F238E27FC236}">
                <a16:creationId xmlns:a16="http://schemas.microsoft.com/office/drawing/2014/main" id="{D195D3FB-6201-5C47-AFFE-646470240E61}"/>
              </a:ext>
            </a:extLst>
          </p:cNvPr>
          <p:cNvSpPr/>
          <p:nvPr/>
        </p:nvSpPr>
        <p:spPr bwMode="auto">
          <a:xfrm>
            <a:off x="1066800" y="4876800"/>
            <a:ext cx="5080000" cy="838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endParaRPr>
          </a:p>
        </p:txBody>
      </p:sp>
      <p:sp>
        <p:nvSpPr>
          <p:cNvPr id="32" name="TextBox 31">
            <a:extLst>
              <a:ext uri="{FF2B5EF4-FFF2-40B4-BE49-F238E27FC236}">
                <a16:creationId xmlns:a16="http://schemas.microsoft.com/office/drawing/2014/main" id="{D9F1CDEB-0868-F149-AE3A-98B892687073}"/>
              </a:ext>
            </a:extLst>
          </p:cNvPr>
          <p:cNvSpPr txBox="1"/>
          <p:nvPr/>
        </p:nvSpPr>
        <p:spPr>
          <a:xfrm>
            <a:off x="1193800" y="4940300"/>
            <a:ext cx="4826000" cy="2159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000" b="1">
                <a:solidFill>
                  <a:srgbClr val="10006B"/>
                </a:solidFill>
                <a:latin typeface="Arial"/>
                <a:cs typeface="Arial"/>
              </a:rPr>
              <a:t>AI AMBITIONS EXCEED CURRENT READINESS</a:t>
            </a:r>
            <a:endParaRPr lang="en-US" sz="1000" b="1" dirty="0">
              <a:solidFill>
                <a:srgbClr val="10006B"/>
              </a:solidFill>
              <a:latin typeface="Arial"/>
              <a:cs typeface="Arial"/>
            </a:endParaRPr>
          </a:p>
        </p:txBody>
      </p:sp>
      <p:sp>
        <p:nvSpPr>
          <p:cNvPr id="33" name="TextBox 32">
            <a:extLst>
              <a:ext uri="{FF2B5EF4-FFF2-40B4-BE49-F238E27FC236}">
                <a16:creationId xmlns:a16="http://schemas.microsoft.com/office/drawing/2014/main" id="{80BF4135-7318-9A4F-9A94-D4DACDF7E04E}"/>
              </a:ext>
            </a:extLst>
          </p:cNvPr>
          <p:cNvSpPr txBox="1"/>
          <p:nvPr/>
        </p:nvSpPr>
        <p:spPr>
          <a:xfrm>
            <a:off x="1193800" y="5168900"/>
            <a:ext cx="4826000" cy="2413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920">
                <a:solidFill>
                  <a:srgbClr val="10006B"/>
                </a:solidFill>
                <a:latin typeface="Arial"/>
                <a:cs typeface="Arial"/>
              </a:rPr>
              <a:t>Hear: data, interfaces, rules, or controls block AI-enabled workflows</a:t>
            </a:r>
            <a:endParaRPr lang="en-US" sz="920" dirty="0">
              <a:solidFill>
                <a:srgbClr val="10006B"/>
              </a:solidFill>
              <a:latin typeface="Arial"/>
              <a:cs typeface="Arial"/>
            </a:endParaRPr>
          </a:p>
        </p:txBody>
      </p:sp>
      <p:sp>
        <p:nvSpPr>
          <p:cNvPr id="34" name="TextBox 33">
            <a:extLst>
              <a:ext uri="{FF2B5EF4-FFF2-40B4-BE49-F238E27FC236}">
                <a16:creationId xmlns:a16="http://schemas.microsoft.com/office/drawing/2014/main" id="{DEFA7A90-2CBE-4545-9A54-8F2E475AE6CA}"/>
              </a:ext>
            </a:extLst>
          </p:cNvPr>
          <p:cNvSpPr txBox="1"/>
          <p:nvPr/>
        </p:nvSpPr>
        <p:spPr>
          <a:xfrm>
            <a:off x="1193800" y="5435600"/>
            <a:ext cx="4826000" cy="2286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880" b="1">
                <a:solidFill>
                  <a:srgbClr val="0B4BFF"/>
                </a:solidFill>
                <a:latin typeface="Arial"/>
                <a:cs typeface="Arial"/>
              </a:rPr>
              <a:t>Measure: blocked use cases, manual decision load, control gaps</a:t>
            </a:r>
            <a:endParaRPr lang="en-US" sz="880" b="1" dirty="0">
              <a:solidFill>
                <a:srgbClr val="0B4BFF"/>
              </a:solidFill>
              <a:latin typeface="Arial"/>
              <a:cs typeface="Arial"/>
            </a:endParaRPr>
          </a:p>
        </p:txBody>
      </p:sp>
      <p:sp>
        <p:nvSpPr>
          <p:cNvPr id="35" name="Rectangle 34">
            <a:extLst>
              <a:ext uri="{FF2B5EF4-FFF2-40B4-BE49-F238E27FC236}">
                <a16:creationId xmlns:a16="http://schemas.microsoft.com/office/drawing/2014/main" id="{BA9F1B58-0E80-CE43-99F8-7056DDBECC84}"/>
              </a:ext>
            </a:extLst>
          </p:cNvPr>
          <p:cNvSpPr/>
          <p:nvPr/>
        </p:nvSpPr>
        <p:spPr bwMode="auto">
          <a:xfrm>
            <a:off x="6172200" y="2057400"/>
            <a:ext cx="609600" cy="838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600" b="1" i="0" u="none" strike="noStrike" kern="1200" cap="none" spc="0" normalizeH="0" baseline="0" noProof="0">
                <a:ln>
                  <a:noFill/>
                </a:ln>
                <a:solidFill>
                  <a:srgbClr val="F000D8"/>
                </a:solidFill>
                <a:effectLst/>
                <a:uLnTx/>
                <a:uFillTx/>
                <a:latin typeface="Arial"/>
                <a:ea typeface="Roboto" panose="02000000000000000000" pitchFamily="2" charset="0"/>
                <a:cs typeface="Arial"/>
              </a:rPr>
              <a:t>05</a:t>
            </a:r>
            <a:endParaRPr kumimoji="0" lang="en-US" sz="1600" b="1" i="0" u="none" strike="noStrike" kern="1200" cap="none" spc="0" normalizeH="0" baseline="0" noProof="0" dirty="0">
              <a:ln>
                <a:noFill/>
              </a:ln>
              <a:solidFill>
                <a:srgbClr val="F000D8"/>
              </a:solidFill>
              <a:effectLst/>
              <a:uLnTx/>
              <a:uFillTx/>
              <a:latin typeface="Arial"/>
              <a:ea typeface="Roboto" panose="02000000000000000000" pitchFamily="2" charset="0"/>
              <a:cs typeface="Arial"/>
            </a:endParaRPr>
          </a:p>
        </p:txBody>
      </p:sp>
      <p:sp>
        <p:nvSpPr>
          <p:cNvPr id="36" name="Rectangle 35">
            <a:extLst>
              <a:ext uri="{FF2B5EF4-FFF2-40B4-BE49-F238E27FC236}">
                <a16:creationId xmlns:a16="http://schemas.microsoft.com/office/drawing/2014/main" id="{1EE5B3B3-AF94-6046-AAF4-D10A5AD3821E}"/>
              </a:ext>
            </a:extLst>
          </p:cNvPr>
          <p:cNvSpPr/>
          <p:nvPr/>
        </p:nvSpPr>
        <p:spPr bwMode="auto">
          <a:xfrm>
            <a:off x="6781800" y="2057400"/>
            <a:ext cx="5080000" cy="838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endParaRPr>
          </a:p>
        </p:txBody>
      </p:sp>
      <p:sp>
        <p:nvSpPr>
          <p:cNvPr id="37" name="TextBox 36">
            <a:extLst>
              <a:ext uri="{FF2B5EF4-FFF2-40B4-BE49-F238E27FC236}">
                <a16:creationId xmlns:a16="http://schemas.microsoft.com/office/drawing/2014/main" id="{EB6C2A7D-044E-424F-9D47-0FB7D1F232D0}"/>
              </a:ext>
            </a:extLst>
          </p:cNvPr>
          <p:cNvSpPr txBox="1"/>
          <p:nvPr/>
        </p:nvSpPr>
        <p:spPr>
          <a:xfrm>
            <a:off x="6908800" y="2120900"/>
            <a:ext cx="4826000" cy="2159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000" b="1" dirty="0">
                <a:solidFill>
                  <a:srgbClr val="10006B"/>
                </a:solidFill>
                <a:latin typeface="Arial"/>
                <a:cs typeface="Arial"/>
              </a:rPr>
              <a:t>CRITICAL EXPERTISE IS CONCENTRATED</a:t>
            </a:r>
          </a:p>
        </p:txBody>
      </p:sp>
      <p:sp>
        <p:nvSpPr>
          <p:cNvPr id="38" name="TextBox 37">
            <a:extLst>
              <a:ext uri="{FF2B5EF4-FFF2-40B4-BE49-F238E27FC236}">
                <a16:creationId xmlns:a16="http://schemas.microsoft.com/office/drawing/2014/main" id="{47B55387-ADB1-6148-A0A4-AED69430B9C2}"/>
              </a:ext>
            </a:extLst>
          </p:cNvPr>
          <p:cNvSpPr txBox="1"/>
          <p:nvPr/>
        </p:nvSpPr>
        <p:spPr>
          <a:xfrm>
            <a:off x="6908800" y="2349500"/>
            <a:ext cx="4826000" cy="2413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920" dirty="0">
                <a:solidFill>
                  <a:srgbClr val="10006B"/>
                </a:solidFill>
                <a:latin typeface="Arial"/>
                <a:cs typeface="Arial"/>
              </a:rPr>
              <a:t>Hear: critical rules and support knowledge sit with a few people</a:t>
            </a:r>
          </a:p>
        </p:txBody>
      </p:sp>
      <p:sp>
        <p:nvSpPr>
          <p:cNvPr id="39" name="TextBox 38">
            <a:extLst>
              <a:ext uri="{FF2B5EF4-FFF2-40B4-BE49-F238E27FC236}">
                <a16:creationId xmlns:a16="http://schemas.microsoft.com/office/drawing/2014/main" id="{5C29F21E-2300-494F-ADAC-AEFFC244234B}"/>
              </a:ext>
            </a:extLst>
          </p:cNvPr>
          <p:cNvSpPr txBox="1"/>
          <p:nvPr/>
        </p:nvSpPr>
        <p:spPr>
          <a:xfrm>
            <a:off x="6908800" y="2616200"/>
            <a:ext cx="4826000" cy="2286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880" b="1">
                <a:solidFill>
                  <a:srgbClr val="0B4BFF"/>
                </a:solidFill>
                <a:latin typeface="Arial"/>
                <a:cs typeface="Arial"/>
              </a:rPr>
              <a:t>Measure: concentration risk, retirement horizon, recovery time</a:t>
            </a:r>
            <a:endParaRPr lang="en-US" sz="880" b="1" dirty="0">
              <a:solidFill>
                <a:srgbClr val="0B4BFF"/>
              </a:solidFill>
              <a:latin typeface="Arial"/>
              <a:cs typeface="Arial"/>
            </a:endParaRPr>
          </a:p>
        </p:txBody>
      </p:sp>
      <p:sp>
        <p:nvSpPr>
          <p:cNvPr id="40" name="Rectangle 39">
            <a:extLst>
              <a:ext uri="{FF2B5EF4-FFF2-40B4-BE49-F238E27FC236}">
                <a16:creationId xmlns:a16="http://schemas.microsoft.com/office/drawing/2014/main" id="{B74CDD9A-ACDB-BE46-8924-A4073D927F2D}"/>
              </a:ext>
            </a:extLst>
          </p:cNvPr>
          <p:cNvSpPr/>
          <p:nvPr/>
        </p:nvSpPr>
        <p:spPr bwMode="auto">
          <a:xfrm>
            <a:off x="6172200" y="2997200"/>
            <a:ext cx="609600" cy="838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600" b="1" i="0" u="none" strike="noStrike" kern="1200" cap="none" spc="0" normalizeH="0" baseline="0" noProof="0">
                <a:ln>
                  <a:noFill/>
                </a:ln>
                <a:solidFill>
                  <a:srgbClr val="F000D8"/>
                </a:solidFill>
                <a:effectLst/>
                <a:uLnTx/>
                <a:uFillTx/>
                <a:latin typeface="Arial"/>
                <a:ea typeface="Roboto" panose="02000000000000000000" pitchFamily="2" charset="0"/>
                <a:cs typeface="Arial"/>
              </a:rPr>
              <a:t>06</a:t>
            </a:r>
            <a:endParaRPr kumimoji="0" lang="en-US" sz="1600" b="1" i="0" u="none" strike="noStrike" kern="1200" cap="none" spc="0" normalizeH="0" baseline="0" noProof="0" dirty="0">
              <a:ln>
                <a:noFill/>
              </a:ln>
              <a:solidFill>
                <a:srgbClr val="F000D8"/>
              </a:solidFill>
              <a:effectLst/>
              <a:uLnTx/>
              <a:uFillTx/>
              <a:latin typeface="Arial"/>
              <a:ea typeface="Roboto" panose="02000000000000000000" pitchFamily="2" charset="0"/>
              <a:cs typeface="Arial"/>
            </a:endParaRPr>
          </a:p>
        </p:txBody>
      </p:sp>
      <p:sp>
        <p:nvSpPr>
          <p:cNvPr id="41" name="Rectangle 40">
            <a:extLst>
              <a:ext uri="{FF2B5EF4-FFF2-40B4-BE49-F238E27FC236}">
                <a16:creationId xmlns:a16="http://schemas.microsoft.com/office/drawing/2014/main" id="{767DAE05-1A4F-4749-A2D1-97C886559176}"/>
              </a:ext>
            </a:extLst>
          </p:cNvPr>
          <p:cNvSpPr/>
          <p:nvPr/>
        </p:nvSpPr>
        <p:spPr bwMode="auto">
          <a:xfrm>
            <a:off x="6781800" y="2997200"/>
            <a:ext cx="5080000" cy="838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endParaRPr>
          </a:p>
        </p:txBody>
      </p:sp>
      <p:sp>
        <p:nvSpPr>
          <p:cNvPr id="42" name="TextBox 41">
            <a:extLst>
              <a:ext uri="{FF2B5EF4-FFF2-40B4-BE49-F238E27FC236}">
                <a16:creationId xmlns:a16="http://schemas.microsoft.com/office/drawing/2014/main" id="{8DAB970E-6C31-574D-83E4-C905E9E3C4B2}"/>
              </a:ext>
            </a:extLst>
          </p:cNvPr>
          <p:cNvSpPr txBox="1"/>
          <p:nvPr/>
        </p:nvSpPr>
        <p:spPr>
          <a:xfrm>
            <a:off x="6908800" y="3060700"/>
            <a:ext cx="4826000" cy="2159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000" b="1" dirty="0">
                <a:solidFill>
                  <a:srgbClr val="10006B"/>
                </a:solidFill>
                <a:latin typeface="Arial"/>
                <a:cs typeface="Arial"/>
              </a:rPr>
              <a:t>A LICENSE OR PLATFORM EVENT FORCES A DECISION</a:t>
            </a:r>
          </a:p>
        </p:txBody>
      </p:sp>
      <p:sp>
        <p:nvSpPr>
          <p:cNvPr id="43" name="TextBox 42">
            <a:extLst>
              <a:ext uri="{FF2B5EF4-FFF2-40B4-BE49-F238E27FC236}">
                <a16:creationId xmlns:a16="http://schemas.microsoft.com/office/drawing/2014/main" id="{6683D7C3-AB0C-CB43-B53B-827E15D2A33C}"/>
              </a:ext>
            </a:extLst>
          </p:cNvPr>
          <p:cNvSpPr txBox="1"/>
          <p:nvPr/>
        </p:nvSpPr>
        <p:spPr>
          <a:xfrm>
            <a:off x="6908800" y="3289300"/>
            <a:ext cx="4826000" cy="2413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920">
                <a:solidFill>
                  <a:srgbClr val="10006B"/>
                </a:solidFill>
                <a:latin typeface="Arial"/>
                <a:cs typeface="Arial"/>
              </a:rPr>
              <a:t>Hear: renewal, forced upgrade, expensive customization, vendor product change</a:t>
            </a:r>
            <a:endParaRPr lang="en-US" sz="920" dirty="0">
              <a:solidFill>
                <a:srgbClr val="10006B"/>
              </a:solidFill>
              <a:latin typeface="Arial"/>
              <a:cs typeface="Arial"/>
            </a:endParaRPr>
          </a:p>
        </p:txBody>
      </p:sp>
      <p:sp>
        <p:nvSpPr>
          <p:cNvPr id="44" name="TextBox 43">
            <a:extLst>
              <a:ext uri="{FF2B5EF4-FFF2-40B4-BE49-F238E27FC236}">
                <a16:creationId xmlns:a16="http://schemas.microsoft.com/office/drawing/2014/main" id="{CFA151D9-E6E4-EB46-8322-B314BF0031E7}"/>
              </a:ext>
            </a:extLst>
          </p:cNvPr>
          <p:cNvSpPr txBox="1"/>
          <p:nvPr/>
        </p:nvSpPr>
        <p:spPr>
          <a:xfrm>
            <a:off x="6908800" y="3556000"/>
            <a:ext cx="4826000" cy="2286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880" b="1">
                <a:solidFill>
                  <a:srgbClr val="0B4BFF"/>
                </a:solidFill>
                <a:latin typeface="Arial"/>
                <a:cs typeface="Arial"/>
              </a:rPr>
              <a:t>Measure: five-year cost, renewal exposure, break-even</a:t>
            </a:r>
            <a:endParaRPr lang="en-US" sz="880" b="1" dirty="0">
              <a:solidFill>
                <a:srgbClr val="0B4BFF"/>
              </a:solidFill>
              <a:latin typeface="Arial"/>
              <a:cs typeface="Arial"/>
            </a:endParaRPr>
          </a:p>
        </p:txBody>
      </p:sp>
      <p:sp>
        <p:nvSpPr>
          <p:cNvPr id="45" name="Rectangle 44">
            <a:extLst>
              <a:ext uri="{FF2B5EF4-FFF2-40B4-BE49-F238E27FC236}">
                <a16:creationId xmlns:a16="http://schemas.microsoft.com/office/drawing/2014/main" id="{200A02E0-F317-854E-AFAC-E99505865F7B}"/>
              </a:ext>
            </a:extLst>
          </p:cNvPr>
          <p:cNvSpPr/>
          <p:nvPr/>
        </p:nvSpPr>
        <p:spPr bwMode="auto">
          <a:xfrm>
            <a:off x="6172200" y="3937000"/>
            <a:ext cx="609600" cy="838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600" b="1" i="0" u="none" strike="noStrike" kern="1200" cap="none" spc="0" normalizeH="0" baseline="0" noProof="0">
                <a:ln>
                  <a:noFill/>
                </a:ln>
                <a:solidFill>
                  <a:srgbClr val="F000D8"/>
                </a:solidFill>
                <a:effectLst/>
                <a:uLnTx/>
                <a:uFillTx/>
                <a:latin typeface="Arial"/>
                <a:ea typeface="Roboto" panose="02000000000000000000" pitchFamily="2" charset="0"/>
                <a:cs typeface="Arial"/>
              </a:rPr>
              <a:t>07</a:t>
            </a:r>
            <a:endParaRPr kumimoji="0" lang="en-US" sz="1600" b="1" i="0" u="none" strike="noStrike" kern="1200" cap="none" spc="0" normalizeH="0" baseline="0" noProof="0" dirty="0">
              <a:ln>
                <a:noFill/>
              </a:ln>
              <a:solidFill>
                <a:srgbClr val="F000D8"/>
              </a:solidFill>
              <a:effectLst/>
              <a:uLnTx/>
              <a:uFillTx/>
              <a:latin typeface="Arial"/>
              <a:ea typeface="Roboto" panose="02000000000000000000" pitchFamily="2" charset="0"/>
              <a:cs typeface="Arial"/>
            </a:endParaRPr>
          </a:p>
        </p:txBody>
      </p:sp>
      <p:sp>
        <p:nvSpPr>
          <p:cNvPr id="46" name="Rectangle 45">
            <a:extLst>
              <a:ext uri="{FF2B5EF4-FFF2-40B4-BE49-F238E27FC236}">
                <a16:creationId xmlns:a16="http://schemas.microsoft.com/office/drawing/2014/main" id="{11CEEE29-9065-E947-A1CE-F2DBF4AEF668}"/>
              </a:ext>
            </a:extLst>
          </p:cNvPr>
          <p:cNvSpPr/>
          <p:nvPr/>
        </p:nvSpPr>
        <p:spPr bwMode="auto">
          <a:xfrm>
            <a:off x="6781800" y="3937000"/>
            <a:ext cx="5080000" cy="838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endParaRPr>
          </a:p>
        </p:txBody>
      </p:sp>
      <p:sp>
        <p:nvSpPr>
          <p:cNvPr id="47" name="TextBox 46">
            <a:extLst>
              <a:ext uri="{FF2B5EF4-FFF2-40B4-BE49-F238E27FC236}">
                <a16:creationId xmlns:a16="http://schemas.microsoft.com/office/drawing/2014/main" id="{E4BBC391-103A-7A41-A510-8C506C1FA4F3}"/>
              </a:ext>
            </a:extLst>
          </p:cNvPr>
          <p:cNvSpPr txBox="1"/>
          <p:nvPr/>
        </p:nvSpPr>
        <p:spPr>
          <a:xfrm>
            <a:off x="6908800" y="4000500"/>
            <a:ext cx="4826000" cy="2159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000" b="1" dirty="0">
                <a:solidFill>
                  <a:srgbClr val="10006B"/>
                </a:solidFill>
                <a:latin typeface="Arial"/>
                <a:cs typeface="Arial"/>
              </a:rPr>
              <a:t>SUPPORT COST IS BECOMING UNSUSTAINABLE</a:t>
            </a:r>
          </a:p>
        </p:txBody>
      </p:sp>
      <p:sp>
        <p:nvSpPr>
          <p:cNvPr id="48" name="TextBox 47">
            <a:extLst>
              <a:ext uri="{FF2B5EF4-FFF2-40B4-BE49-F238E27FC236}">
                <a16:creationId xmlns:a16="http://schemas.microsoft.com/office/drawing/2014/main" id="{AECAB05E-E475-B048-8A84-914A3A274308}"/>
              </a:ext>
            </a:extLst>
          </p:cNvPr>
          <p:cNvSpPr txBox="1"/>
          <p:nvPr/>
        </p:nvSpPr>
        <p:spPr>
          <a:xfrm>
            <a:off x="6908800" y="4229100"/>
            <a:ext cx="4826000" cy="2413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920">
                <a:solidFill>
                  <a:srgbClr val="10006B"/>
                </a:solidFill>
                <a:latin typeface="Arial"/>
                <a:cs typeface="Arial"/>
              </a:rPr>
              <a:t>Hear: scarce legacy skills, expensive contracts, heavy incident burden</a:t>
            </a:r>
            <a:endParaRPr lang="en-US" sz="920" dirty="0">
              <a:solidFill>
                <a:srgbClr val="10006B"/>
              </a:solidFill>
              <a:latin typeface="Arial"/>
              <a:cs typeface="Arial"/>
            </a:endParaRPr>
          </a:p>
        </p:txBody>
      </p:sp>
      <p:sp>
        <p:nvSpPr>
          <p:cNvPr id="49" name="TextBox 48">
            <a:extLst>
              <a:ext uri="{FF2B5EF4-FFF2-40B4-BE49-F238E27FC236}">
                <a16:creationId xmlns:a16="http://schemas.microsoft.com/office/drawing/2014/main" id="{F7AAA112-0AE0-0A40-B35E-B8888D4AF197}"/>
              </a:ext>
            </a:extLst>
          </p:cNvPr>
          <p:cNvSpPr txBox="1"/>
          <p:nvPr/>
        </p:nvSpPr>
        <p:spPr>
          <a:xfrm>
            <a:off x="6908800" y="4495800"/>
            <a:ext cx="4826000" cy="2286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880" b="1">
                <a:solidFill>
                  <a:srgbClr val="0B4BFF"/>
                </a:solidFill>
                <a:latin typeface="Arial"/>
                <a:cs typeface="Arial"/>
              </a:rPr>
              <a:t>Measure: support labor, contract cost, incidents, enhancement cost</a:t>
            </a:r>
            <a:endParaRPr lang="en-US" sz="880" b="1" dirty="0">
              <a:solidFill>
                <a:srgbClr val="0B4BFF"/>
              </a:solidFill>
              <a:latin typeface="Arial"/>
              <a:cs typeface="Arial"/>
            </a:endParaRPr>
          </a:p>
        </p:txBody>
      </p:sp>
      <p:sp>
        <p:nvSpPr>
          <p:cNvPr id="50" name="Rectangle 49">
            <a:extLst>
              <a:ext uri="{FF2B5EF4-FFF2-40B4-BE49-F238E27FC236}">
                <a16:creationId xmlns:a16="http://schemas.microsoft.com/office/drawing/2014/main" id="{B2F70D5E-0FC1-F146-9625-0AD3F513CFE1}"/>
              </a:ext>
            </a:extLst>
          </p:cNvPr>
          <p:cNvSpPr/>
          <p:nvPr/>
        </p:nvSpPr>
        <p:spPr bwMode="auto">
          <a:xfrm>
            <a:off x="457200" y="5765800"/>
            <a:ext cx="11277600" cy="381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2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What happens if nothing changes in the next 12 to 24 months?</a:t>
            </a:r>
            <a:endParaRPr kumimoji="0" lang="en-US" sz="12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2" name="TextBox 1">
            <a:extLst>
              <a:ext uri="{FF2B5EF4-FFF2-40B4-BE49-F238E27FC236}">
                <a16:creationId xmlns:a16="http://schemas.microsoft.com/office/drawing/2014/main" id="{83078B67-03DD-BC4D-84CE-19F3B379670F}"/>
              </a:ext>
            </a:extLst>
          </p:cNvPr>
          <p:cNvSpPr txBox="1"/>
          <p:nvPr/>
        </p:nvSpPr>
        <p:spPr>
          <a:xfrm>
            <a:off x="4321048" y="6400800"/>
            <a:ext cx="7102856" cy="167894"/>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3" name="TextBox 2">
            <a:extLst>
              <a:ext uri="{FF2B5EF4-FFF2-40B4-BE49-F238E27FC236}">
                <a16:creationId xmlns:a16="http://schemas.microsoft.com/office/drawing/2014/main" id="{7BAD9681-865C-F045-BFFD-E6D684618FC6}"/>
              </a:ext>
            </a:extLst>
          </p:cNvPr>
          <p:cNvSpPr txBox="1"/>
          <p:nvPr/>
        </p:nvSpPr>
        <p:spPr>
          <a:xfrm>
            <a:off x="11509629" y="6400800"/>
            <a:ext cx="218821" cy="167894"/>
          </a:xfrm>
          <a:prstGeom prst="rect">
            <a:avLst/>
          </a:prstGeom>
          <a:noFill/>
        </p:spPr>
        <p:txBody>
          <a:bodyPr vertOverflow="overflow" vert="horz" wrap="square" lIns="0" tIns="0" rIns="0" bIns="0" rtlCol="0" anchor="t">
            <a:spAutoFit/>
          </a:bodyPr>
          <a:lstStyle/>
          <a:p>
            <a:pPr marL="0" indent="0" algn="l">
              <a:spcAft>
                <a:spcPts val="600"/>
              </a:spcAft>
              <a:tabLst/>
            </a:pPr>
            <a:r>
              <a:rPr lang="en-US" sz="550">
                <a:solidFill>
                  <a:srgbClr val="070154"/>
                </a:solidFill>
                <a:latin typeface="Arial"/>
                <a:cs typeface="Arial"/>
              </a:rPr>
              <a:t>8</a:t>
            </a:r>
            <a:endParaRPr lang="en-US" sz="550" dirty="0">
              <a:solidFill>
                <a:srgbClr val="070154"/>
              </a:solidFill>
              <a:latin typeface="Arial"/>
              <a:cs typeface="Arial"/>
            </a:endParaRPr>
          </a:p>
        </p:txBody>
      </p:sp>
      <p:sp>
        <p:nvSpPr>
          <p:cNvPr id="4" name="Rectangle 3">
            <a:extLst>
              <a:ext uri="{FF2B5EF4-FFF2-40B4-BE49-F238E27FC236}">
                <a16:creationId xmlns:a16="http://schemas.microsoft.com/office/drawing/2014/main" id="{316D9D1B-A952-1242-8099-0FB25F07286E}"/>
              </a:ext>
            </a:extLst>
          </p:cNvPr>
          <p:cNvSpPr/>
          <p:nvPr/>
        </p:nvSpPr>
        <p:spPr bwMode="auto">
          <a:xfrm>
            <a:off x="6172200" y="4876800"/>
            <a:ext cx="609600" cy="838200"/>
          </a:xfrm>
          <a:prstGeom prst="rect">
            <a:avLst/>
          </a:prstGeom>
          <a:solidFill>
            <a:srgbClr val="100069"/>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1" i="0" u="none" strike="noStrike" kern="1200" cap="none" spc="0" normalizeH="0" baseline="0" noProof="0">
                <a:ln>
                  <a:noFill/>
                </a:ln>
                <a:solidFill>
                  <a:srgbClr val="F000C8"/>
                </a:solidFill>
                <a:effectLst/>
                <a:uLnTx/>
                <a:uFillTx/>
                <a:latin typeface="Arial" panose="020B0604020202020204"/>
                <a:ea typeface="Roboto" panose="02000000000000000000" pitchFamily="2" charset="0"/>
                <a:cs typeface="Segoe UI" panose="020B0502040204020203" pitchFamily="34" charset="0"/>
              </a:rPr>
              <a:t>08</a:t>
            </a:r>
            <a:endParaRPr kumimoji="0" lang="en-US" sz="1400" b="1" i="0" u="none" strike="noStrike" kern="1200" cap="none" spc="0" normalizeH="0" baseline="0" noProof="0" dirty="0">
              <a:ln>
                <a:noFill/>
              </a:ln>
              <a:solidFill>
                <a:srgbClr val="F000C8"/>
              </a:solidFill>
              <a:effectLst/>
              <a:uLnTx/>
              <a:uFillTx/>
              <a:latin typeface="Arial" panose="020B0604020202020204"/>
              <a:ea typeface="Roboto" panose="02000000000000000000" pitchFamily="2" charset="0"/>
              <a:cs typeface="Segoe UI" panose="020B0502040204020203" pitchFamily="34" charset="0"/>
            </a:endParaRPr>
          </a:p>
        </p:txBody>
      </p:sp>
      <p:sp>
        <p:nvSpPr>
          <p:cNvPr id="6" name="Rectangle 5">
            <a:extLst>
              <a:ext uri="{FF2B5EF4-FFF2-40B4-BE49-F238E27FC236}">
                <a16:creationId xmlns:a16="http://schemas.microsoft.com/office/drawing/2014/main" id="{3FA3FDEF-3700-5B43-8362-64FC47002979}"/>
              </a:ext>
            </a:extLst>
          </p:cNvPr>
          <p:cNvSpPr/>
          <p:nvPr/>
        </p:nvSpPr>
        <p:spPr bwMode="auto">
          <a:xfrm>
            <a:off x="6781800" y="4876800"/>
            <a:ext cx="5080000" cy="838200"/>
          </a:xfrm>
          <a:prstGeom prst="rect">
            <a:avLst/>
          </a:prstGeom>
          <a:solidFill>
            <a:srgbClr val="E8EEF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b="1" i="0" u="none" strike="noStrike" kern="1200" cap="none" spc="0" normalizeH="0" baseline="0" noProof="0" dirty="0">
                <a:ln>
                  <a:noFill/>
                </a:ln>
                <a:solidFill>
                  <a:srgbClr val="F000C8"/>
                </a:solidFill>
                <a:effectLst/>
                <a:uLnTx/>
                <a:uFillTx/>
                <a:latin typeface="Arial" panose="020B0604020202020204"/>
                <a:ea typeface="Roboto" panose="02000000000000000000" pitchFamily="2" charset="0"/>
                <a:cs typeface="Segoe UI" panose="020B0502040204020203" pitchFamily="34" charset="0"/>
              </a:rPr>
              <a:t>WHAT'S THE CATALYST FOR YOU?</a:t>
            </a:r>
          </a:p>
        </p:txBody>
      </p:sp>
      <p:sp>
        <p:nvSpPr>
          <p:cNvPr id="7" name="TextBox 6">
            <a:extLst>
              <a:ext uri="{FF2B5EF4-FFF2-40B4-BE49-F238E27FC236}">
                <a16:creationId xmlns:a16="http://schemas.microsoft.com/office/drawing/2014/main" id="{A3DD629B-6030-FD44-BC0F-F5C950A8A069}"/>
              </a:ext>
            </a:extLst>
          </p:cNvPr>
          <p:cNvSpPr txBox="1"/>
          <p:nvPr/>
        </p:nvSpPr>
        <p:spPr>
          <a:xfrm>
            <a:off x="457200" y="1320800"/>
            <a:ext cx="11277600" cy="355600"/>
          </a:xfrm>
          <a:prstGeom prst="rect">
            <a:avLst/>
          </a:prstGeom>
          <a:noFill/>
        </p:spPr>
        <p:txBody>
          <a:bodyPr vertOverflow="overflow" vert="horz" wrap="square" lIns="0" tIns="0" rIns="0" bIns="0" rtlCol="0" anchor="t">
            <a:spAutoFit/>
          </a:bodyPr>
          <a:lstStyle/>
          <a:p>
            <a:pPr marL="0" indent="0" algn="l">
              <a:spcAft>
                <a:spcPts val="600"/>
              </a:spcAft>
              <a:tabLst/>
            </a:pPr>
            <a:r>
              <a:rPr lang="en-US" sz="1200" dirty="0">
                <a:solidFill>
                  <a:srgbClr val="4B5B73"/>
                </a:solidFill>
              </a:rPr>
              <a:t>The use case defines what may change; the catalyst creates urgency; outcomes show how value will be measured.</a:t>
            </a:r>
          </a:p>
        </p:txBody>
      </p:sp>
    </p:spTree>
    <p:custDataLst>
      <p:tags r:id="rId1"/>
    </p:custDataLst>
    <p:extLst>
      <p:ext uri="{BB962C8B-B14F-4D97-AF65-F5344CB8AC3E}">
        <p14:creationId xmlns:p14="http://schemas.microsoft.com/office/powerpoint/2010/main" val="428903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E33574D8-3A27-9D4B-9233-1C0A2192C899}"/>
              </a:ext>
            </a:extLst>
          </p:cNvPr>
          <p:cNvSpPr/>
          <p:nvPr/>
        </p:nvSpPr>
        <p:spPr bwMode="auto">
          <a:xfrm>
            <a:off x="4191000" y="4114800"/>
            <a:ext cx="3429000" cy="7366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1" name="Rectangle 30">
            <a:extLst>
              <a:ext uri="{FF2B5EF4-FFF2-40B4-BE49-F238E27FC236}">
                <a16:creationId xmlns:a16="http://schemas.microsoft.com/office/drawing/2014/main" id="{D231209B-1450-4A41-B9B1-3BF3B7DA0D30}"/>
              </a:ext>
            </a:extLst>
          </p:cNvPr>
          <p:cNvSpPr/>
          <p:nvPr/>
        </p:nvSpPr>
        <p:spPr bwMode="auto">
          <a:xfrm>
            <a:off x="8890000" y="4191000"/>
            <a:ext cx="2667000" cy="660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0" name="Rectangle 29">
            <a:extLst>
              <a:ext uri="{FF2B5EF4-FFF2-40B4-BE49-F238E27FC236}">
                <a16:creationId xmlns:a16="http://schemas.microsoft.com/office/drawing/2014/main" id="{BDE7BBD6-C984-9647-9A7C-2EC92299956B}"/>
              </a:ext>
            </a:extLst>
          </p:cNvPr>
          <p:cNvSpPr/>
          <p:nvPr/>
        </p:nvSpPr>
        <p:spPr bwMode="auto">
          <a:xfrm>
            <a:off x="571500" y="4102100"/>
            <a:ext cx="2857500" cy="660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Rectangle 28">
            <a:extLst>
              <a:ext uri="{FF2B5EF4-FFF2-40B4-BE49-F238E27FC236}">
                <a16:creationId xmlns:a16="http://schemas.microsoft.com/office/drawing/2014/main" id="{706FBF7A-825A-BE43-8CC1-7A4A08D735BB}"/>
              </a:ext>
            </a:extLst>
          </p:cNvPr>
          <p:cNvSpPr/>
          <p:nvPr/>
        </p:nvSpPr>
        <p:spPr bwMode="auto">
          <a:xfrm>
            <a:off x="8128000" y="3365500"/>
            <a:ext cx="3175000" cy="7366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Rectangle 27">
            <a:extLst>
              <a:ext uri="{FF2B5EF4-FFF2-40B4-BE49-F238E27FC236}">
                <a16:creationId xmlns:a16="http://schemas.microsoft.com/office/drawing/2014/main" id="{8043D697-4357-A24D-BB43-537B053DE847}"/>
              </a:ext>
            </a:extLst>
          </p:cNvPr>
          <p:cNvSpPr/>
          <p:nvPr/>
        </p:nvSpPr>
        <p:spPr bwMode="auto">
          <a:xfrm>
            <a:off x="4953000" y="2984500"/>
            <a:ext cx="2603500" cy="914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7" name="Rectangle 26">
            <a:extLst>
              <a:ext uri="{FF2B5EF4-FFF2-40B4-BE49-F238E27FC236}">
                <a16:creationId xmlns:a16="http://schemas.microsoft.com/office/drawing/2014/main" id="{32476A5F-3BC5-A644-8632-FE59A49EEBA3}"/>
              </a:ext>
            </a:extLst>
          </p:cNvPr>
          <p:cNvSpPr/>
          <p:nvPr/>
        </p:nvSpPr>
        <p:spPr bwMode="auto">
          <a:xfrm>
            <a:off x="1206500" y="3136900"/>
            <a:ext cx="3111500" cy="838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Rectangle 25">
            <a:extLst>
              <a:ext uri="{FF2B5EF4-FFF2-40B4-BE49-F238E27FC236}">
                <a16:creationId xmlns:a16="http://schemas.microsoft.com/office/drawing/2014/main" id="{06D7F714-6995-6142-9FAE-6509156BC0A3}"/>
              </a:ext>
            </a:extLst>
          </p:cNvPr>
          <p:cNvSpPr/>
          <p:nvPr/>
        </p:nvSpPr>
        <p:spPr bwMode="auto">
          <a:xfrm>
            <a:off x="8763000" y="2260600"/>
            <a:ext cx="2819400" cy="787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4" name="Rectangle 23">
            <a:extLst>
              <a:ext uri="{FF2B5EF4-FFF2-40B4-BE49-F238E27FC236}">
                <a16:creationId xmlns:a16="http://schemas.microsoft.com/office/drawing/2014/main" id="{B9CAD5B9-078D-1244-BD10-CFBE9F2E4798}"/>
              </a:ext>
            </a:extLst>
          </p:cNvPr>
          <p:cNvSpPr/>
          <p:nvPr/>
        </p:nvSpPr>
        <p:spPr bwMode="auto">
          <a:xfrm>
            <a:off x="4000500" y="1968500"/>
            <a:ext cx="3175000" cy="838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Rectangle 22">
            <a:extLst>
              <a:ext uri="{FF2B5EF4-FFF2-40B4-BE49-F238E27FC236}">
                <a16:creationId xmlns:a16="http://schemas.microsoft.com/office/drawing/2014/main" id="{25406CE3-2AE3-D745-B901-26B168158DCA}"/>
              </a:ext>
            </a:extLst>
          </p:cNvPr>
          <p:cNvSpPr/>
          <p:nvPr/>
        </p:nvSpPr>
        <p:spPr bwMode="auto">
          <a:xfrm>
            <a:off x="533400" y="2108200"/>
            <a:ext cx="2794000" cy="7366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 name="TextBox 1">
            <a:extLst>
              <a:ext uri="{FF2B5EF4-FFF2-40B4-BE49-F238E27FC236}">
                <a16:creationId xmlns:a16="http://schemas.microsoft.com/office/drawing/2014/main" id="{5FD1DA6A-4557-5A4F-B1DE-96F2721327FE}"/>
              </a:ext>
            </a:extLst>
          </p:cNvPr>
          <p:cNvSpPr txBox="1"/>
          <p:nvPr/>
        </p:nvSpPr>
        <p:spPr>
          <a:xfrm>
            <a:off x="457200" y="533400"/>
            <a:ext cx="11277600" cy="6858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2400" b="1">
                <a:solidFill>
                  <a:srgbClr val="10006B"/>
                </a:solidFill>
                <a:latin typeface="Arial"/>
                <a:cs typeface="Arial"/>
              </a:rPr>
              <a:t>Example: quote-to-cash modernization requires untangling the full ecosystem</a:t>
            </a:r>
            <a:endParaRPr lang="en-US" sz="2400" b="1" dirty="0">
              <a:solidFill>
                <a:srgbClr val="10006B"/>
              </a:solidFill>
              <a:latin typeface="Arial"/>
              <a:cs typeface="Arial"/>
            </a:endParaRPr>
          </a:p>
        </p:txBody>
      </p:sp>
      <p:sp>
        <p:nvSpPr>
          <p:cNvPr id="5" name="Rectangle 4">
            <a:extLst>
              <a:ext uri="{FF2B5EF4-FFF2-40B4-BE49-F238E27FC236}">
                <a16:creationId xmlns:a16="http://schemas.microsoft.com/office/drawing/2014/main" id="{27FB76B1-8468-9F4E-B69E-35A40BCB04B0}"/>
              </a:ext>
            </a:extLst>
          </p:cNvPr>
          <p:cNvSpPr/>
          <p:nvPr/>
        </p:nvSpPr>
        <p:spPr bwMode="auto">
          <a:xfrm>
            <a:off x="457200" y="1308100"/>
            <a:ext cx="1727200" cy="3429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Account setup</a:t>
            </a:r>
            <a:endParaRPr kumimoji="0" lang="en-US" sz="95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10" name="Rectangle 9">
            <a:extLst>
              <a:ext uri="{FF2B5EF4-FFF2-40B4-BE49-F238E27FC236}">
                <a16:creationId xmlns:a16="http://schemas.microsoft.com/office/drawing/2014/main" id="{1A56E17A-B510-9947-9F57-FB0A982798AA}"/>
              </a:ext>
            </a:extLst>
          </p:cNvPr>
          <p:cNvSpPr/>
          <p:nvPr/>
        </p:nvSpPr>
        <p:spPr bwMode="auto">
          <a:xfrm>
            <a:off x="2311400" y="1308100"/>
            <a:ext cx="1727200" cy="3429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Quote</a:t>
            </a:r>
            <a:endParaRPr kumimoji="0" lang="en-US" sz="95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11" name="Rectangle 10">
            <a:extLst>
              <a:ext uri="{FF2B5EF4-FFF2-40B4-BE49-F238E27FC236}">
                <a16:creationId xmlns:a16="http://schemas.microsoft.com/office/drawing/2014/main" id="{33D0FA21-618E-F348-9520-D490C2544B16}"/>
              </a:ext>
            </a:extLst>
          </p:cNvPr>
          <p:cNvSpPr/>
          <p:nvPr/>
        </p:nvSpPr>
        <p:spPr bwMode="auto">
          <a:xfrm>
            <a:off x="4165600" y="1308100"/>
            <a:ext cx="1727200" cy="3429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Price and approve</a:t>
            </a:r>
            <a:endParaRPr kumimoji="0" lang="en-US" sz="95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13" name="Rectangle 12">
            <a:extLst>
              <a:ext uri="{FF2B5EF4-FFF2-40B4-BE49-F238E27FC236}">
                <a16:creationId xmlns:a16="http://schemas.microsoft.com/office/drawing/2014/main" id="{C61466CA-C28D-1748-A25B-7E29F87C5C0E}"/>
              </a:ext>
            </a:extLst>
          </p:cNvPr>
          <p:cNvSpPr/>
          <p:nvPr/>
        </p:nvSpPr>
        <p:spPr bwMode="auto">
          <a:xfrm>
            <a:off x="6019800" y="1308100"/>
            <a:ext cx="1727200" cy="3429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Order</a:t>
            </a:r>
            <a:endParaRPr kumimoji="0" lang="en-US" sz="95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14" name="Rectangle 13">
            <a:extLst>
              <a:ext uri="{FF2B5EF4-FFF2-40B4-BE49-F238E27FC236}">
                <a16:creationId xmlns:a16="http://schemas.microsoft.com/office/drawing/2014/main" id="{5340DE78-C26A-6E44-BDFF-E9024C8DC0B2}"/>
              </a:ext>
            </a:extLst>
          </p:cNvPr>
          <p:cNvSpPr/>
          <p:nvPr/>
        </p:nvSpPr>
        <p:spPr bwMode="auto">
          <a:xfrm>
            <a:off x="7874000" y="1308100"/>
            <a:ext cx="1727200" cy="3429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Fulfill</a:t>
            </a:r>
            <a:endParaRPr kumimoji="0" lang="en-US" sz="95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16" name="Rectangle 15">
            <a:extLst>
              <a:ext uri="{FF2B5EF4-FFF2-40B4-BE49-F238E27FC236}">
                <a16:creationId xmlns:a16="http://schemas.microsoft.com/office/drawing/2014/main" id="{720C9AA7-CDF5-374E-BED9-020FC11D7B3B}"/>
              </a:ext>
            </a:extLst>
          </p:cNvPr>
          <p:cNvSpPr/>
          <p:nvPr/>
        </p:nvSpPr>
        <p:spPr bwMode="auto">
          <a:xfrm>
            <a:off x="9728200" y="1308100"/>
            <a:ext cx="1727200" cy="3429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Invoice and service</a:t>
            </a:r>
            <a:endParaRPr kumimoji="0" lang="en-US" sz="95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17" name="TextBox 16">
            <a:extLst>
              <a:ext uri="{FF2B5EF4-FFF2-40B4-BE49-F238E27FC236}">
                <a16:creationId xmlns:a16="http://schemas.microsoft.com/office/drawing/2014/main" id="{898D65B3-12F4-524D-AFE8-1C82B9B7D8DF}"/>
              </a:ext>
            </a:extLst>
          </p:cNvPr>
          <p:cNvSpPr txBox="1"/>
          <p:nvPr/>
        </p:nvSpPr>
        <p:spPr>
          <a:xfrm>
            <a:off x="457200" y="1701800"/>
            <a:ext cx="5461000" cy="2413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950" b="1">
                <a:solidFill>
                  <a:srgbClr val="F000D8"/>
                </a:solidFill>
                <a:latin typeface="Arial"/>
                <a:cs typeface="Arial"/>
              </a:rPr>
              <a:t>ILLUSTRATIVE CURRENT STATE — FRAGMENTED POST-ACQUISITION QUOTE-TO-CASH</a:t>
            </a:r>
            <a:endParaRPr lang="en-US" sz="950" b="1" dirty="0">
              <a:solidFill>
                <a:srgbClr val="F000D8"/>
              </a:solidFill>
              <a:latin typeface="Arial"/>
              <a:cs typeface="Arial"/>
            </a:endParaRPr>
          </a:p>
        </p:txBody>
      </p:sp>
      <p:sp>
        <p:nvSpPr>
          <p:cNvPr id="19" name="TextBox 18">
            <a:extLst>
              <a:ext uri="{FF2B5EF4-FFF2-40B4-BE49-F238E27FC236}">
                <a16:creationId xmlns:a16="http://schemas.microsoft.com/office/drawing/2014/main" id="{E007AC0E-91AC-6F40-824F-4440B169A0A1}"/>
              </a:ext>
            </a:extLst>
          </p:cNvPr>
          <p:cNvSpPr txBox="1"/>
          <p:nvPr/>
        </p:nvSpPr>
        <p:spPr>
          <a:xfrm>
            <a:off x="8763000" y="1701800"/>
            <a:ext cx="1320800" cy="2413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900" b="1">
                <a:solidFill>
                  <a:srgbClr val="10006B"/>
                </a:solidFill>
                <a:latin typeface="Arial"/>
                <a:cs typeface="Arial"/>
              </a:rPr>
              <a:t>Connection types</a:t>
            </a:r>
            <a:endParaRPr lang="en-US" sz="900" b="1" dirty="0">
              <a:solidFill>
                <a:srgbClr val="10006B"/>
              </a:solidFill>
              <a:latin typeface="Arial"/>
              <a:cs typeface="Arial"/>
            </a:endParaRPr>
          </a:p>
        </p:txBody>
      </p:sp>
      <p:sp>
        <p:nvSpPr>
          <p:cNvPr id="25" name="TextBox 24">
            <a:extLst>
              <a:ext uri="{FF2B5EF4-FFF2-40B4-BE49-F238E27FC236}">
                <a16:creationId xmlns:a16="http://schemas.microsoft.com/office/drawing/2014/main" id="{BBE1EC26-D7B1-E84E-BCD0-9CDA3D7A6956}"/>
              </a:ext>
            </a:extLst>
          </p:cNvPr>
          <p:cNvSpPr txBox="1"/>
          <p:nvPr/>
        </p:nvSpPr>
        <p:spPr>
          <a:xfrm>
            <a:off x="10134600" y="1701800"/>
            <a:ext cx="381000" cy="2413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900" b="1">
                <a:solidFill>
                  <a:srgbClr val="0B4BFF"/>
                </a:solidFill>
                <a:latin typeface="Arial"/>
                <a:cs typeface="Arial"/>
              </a:rPr>
              <a:t>API</a:t>
            </a:r>
            <a:endParaRPr lang="en-US" sz="900" b="1" dirty="0">
              <a:solidFill>
                <a:srgbClr val="0B4BFF"/>
              </a:solidFill>
              <a:latin typeface="Arial"/>
              <a:cs typeface="Arial"/>
            </a:endParaRPr>
          </a:p>
        </p:txBody>
      </p:sp>
      <p:sp>
        <p:nvSpPr>
          <p:cNvPr id="34" name="TextBox 33">
            <a:extLst>
              <a:ext uri="{FF2B5EF4-FFF2-40B4-BE49-F238E27FC236}">
                <a16:creationId xmlns:a16="http://schemas.microsoft.com/office/drawing/2014/main" id="{34752A75-0D91-4148-A444-5435CF1D055D}"/>
              </a:ext>
            </a:extLst>
          </p:cNvPr>
          <p:cNvSpPr txBox="1"/>
          <p:nvPr/>
        </p:nvSpPr>
        <p:spPr>
          <a:xfrm>
            <a:off x="10541000" y="1701800"/>
            <a:ext cx="482600" cy="2413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900" b="1">
                <a:solidFill>
                  <a:srgbClr val="10006B"/>
                </a:solidFill>
                <a:latin typeface="Arial"/>
                <a:cs typeface="Arial"/>
              </a:rPr>
              <a:t>Batch</a:t>
            </a:r>
            <a:endParaRPr lang="en-US" sz="900" b="1" dirty="0">
              <a:solidFill>
                <a:srgbClr val="10006B"/>
              </a:solidFill>
              <a:latin typeface="Arial"/>
              <a:cs typeface="Arial"/>
            </a:endParaRPr>
          </a:p>
        </p:txBody>
      </p:sp>
      <p:sp>
        <p:nvSpPr>
          <p:cNvPr id="35" name="TextBox 34">
            <a:extLst>
              <a:ext uri="{FF2B5EF4-FFF2-40B4-BE49-F238E27FC236}">
                <a16:creationId xmlns:a16="http://schemas.microsoft.com/office/drawing/2014/main" id="{B809AE8E-1BC4-DC4E-8277-70C8C46076DF}"/>
              </a:ext>
            </a:extLst>
          </p:cNvPr>
          <p:cNvSpPr txBox="1"/>
          <p:nvPr/>
        </p:nvSpPr>
        <p:spPr>
          <a:xfrm>
            <a:off x="11049000" y="1701800"/>
            <a:ext cx="355600" cy="2413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900" b="1">
                <a:solidFill>
                  <a:srgbClr val="F000D8"/>
                </a:solidFill>
                <a:latin typeface="Arial"/>
                <a:cs typeface="Arial"/>
              </a:rPr>
              <a:t>EDI</a:t>
            </a:r>
            <a:endParaRPr lang="en-US" sz="900" b="1" dirty="0">
              <a:solidFill>
                <a:srgbClr val="F000D8"/>
              </a:solidFill>
              <a:latin typeface="Arial"/>
              <a:cs typeface="Arial"/>
            </a:endParaRPr>
          </a:p>
        </p:txBody>
      </p:sp>
      <p:sp>
        <p:nvSpPr>
          <p:cNvPr id="44" name="TextBox 43">
            <a:extLst>
              <a:ext uri="{FF2B5EF4-FFF2-40B4-BE49-F238E27FC236}">
                <a16:creationId xmlns:a16="http://schemas.microsoft.com/office/drawing/2014/main" id="{B88229E7-6236-984C-AE46-6468452E5A2F}"/>
              </a:ext>
            </a:extLst>
          </p:cNvPr>
          <p:cNvSpPr txBox="1"/>
          <p:nvPr/>
        </p:nvSpPr>
        <p:spPr>
          <a:xfrm>
            <a:off x="11430000" y="1701800"/>
            <a:ext cx="635000" cy="2413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900" b="1">
                <a:solidFill>
                  <a:srgbClr val="58657A"/>
                </a:solidFill>
                <a:latin typeface="Arial"/>
                <a:cs typeface="Arial"/>
              </a:rPr>
              <a:t>Manual</a:t>
            </a:r>
            <a:endParaRPr lang="en-US" sz="900" b="1" dirty="0">
              <a:solidFill>
                <a:srgbClr val="58657A"/>
              </a:solidFill>
              <a:latin typeface="Arial"/>
              <a:cs typeface="Arial"/>
            </a:endParaRPr>
          </a:p>
        </p:txBody>
      </p:sp>
      <p:sp>
        <p:nvSpPr>
          <p:cNvPr id="81" name="TextBox 80">
            <a:extLst>
              <a:ext uri="{FF2B5EF4-FFF2-40B4-BE49-F238E27FC236}">
                <a16:creationId xmlns:a16="http://schemas.microsoft.com/office/drawing/2014/main" id="{1EFEAD14-0B73-0E46-AF8F-573DD9FBF1C4}"/>
              </a:ext>
            </a:extLst>
          </p:cNvPr>
          <p:cNvSpPr txBox="1"/>
          <p:nvPr/>
        </p:nvSpPr>
        <p:spPr>
          <a:xfrm>
            <a:off x="660400" y="2197100"/>
            <a:ext cx="2540000" cy="2159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000" b="1">
                <a:solidFill>
                  <a:srgbClr val="10006B"/>
                </a:solidFill>
                <a:latin typeface="Arial"/>
                <a:cs typeface="Arial"/>
              </a:rPr>
              <a:t>CRM</a:t>
            </a:r>
            <a:endParaRPr lang="en-US" sz="1000" b="1" dirty="0">
              <a:solidFill>
                <a:srgbClr val="10006B"/>
              </a:solidFill>
              <a:latin typeface="Arial"/>
              <a:cs typeface="Arial"/>
            </a:endParaRPr>
          </a:p>
        </p:txBody>
      </p:sp>
      <p:sp>
        <p:nvSpPr>
          <p:cNvPr id="82" name="TextBox 81">
            <a:extLst>
              <a:ext uri="{FF2B5EF4-FFF2-40B4-BE49-F238E27FC236}">
                <a16:creationId xmlns:a16="http://schemas.microsoft.com/office/drawing/2014/main" id="{ED2620D6-DF30-3541-A735-35B89FA85401}"/>
              </a:ext>
            </a:extLst>
          </p:cNvPr>
          <p:cNvSpPr txBox="1"/>
          <p:nvPr/>
        </p:nvSpPr>
        <p:spPr>
          <a:xfrm>
            <a:off x="660400" y="2438400"/>
            <a:ext cx="2540000" cy="3429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920">
                <a:solidFill>
                  <a:srgbClr val="10006B"/>
                </a:solidFill>
                <a:latin typeface="Arial"/>
                <a:cs typeface="Arial"/>
              </a:rPr>
              <a:t>Customer hierarchy does not match either ERP</a:t>
            </a:r>
            <a:endParaRPr lang="en-US" sz="920" dirty="0">
              <a:solidFill>
                <a:srgbClr val="10006B"/>
              </a:solidFill>
              <a:latin typeface="Arial"/>
              <a:cs typeface="Arial"/>
            </a:endParaRPr>
          </a:p>
        </p:txBody>
      </p:sp>
      <p:sp>
        <p:nvSpPr>
          <p:cNvPr id="84" name="TextBox 83">
            <a:extLst>
              <a:ext uri="{FF2B5EF4-FFF2-40B4-BE49-F238E27FC236}">
                <a16:creationId xmlns:a16="http://schemas.microsoft.com/office/drawing/2014/main" id="{FFEB5907-A5DB-7C47-B79F-4947AF72E188}"/>
              </a:ext>
            </a:extLst>
          </p:cNvPr>
          <p:cNvSpPr txBox="1"/>
          <p:nvPr/>
        </p:nvSpPr>
        <p:spPr>
          <a:xfrm>
            <a:off x="4127500" y="2057400"/>
            <a:ext cx="2921000" cy="2159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000" b="1">
                <a:solidFill>
                  <a:srgbClr val="10006B"/>
                </a:solidFill>
                <a:latin typeface="Arial"/>
                <a:cs typeface="Arial"/>
              </a:rPr>
              <a:t>CUSTOM PRICING ENGINE</a:t>
            </a:r>
            <a:endParaRPr lang="en-US" sz="1000" b="1" dirty="0">
              <a:solidFill>
                <a:srgbClr val="10006B"/>
              </a:solidFill>
              <a:latin typeface="Arial"/>
              <a:cs typeface="Arial"/>
            </a:endParaRPr>
          </a:p>
        </p:txBody>
      </p:sp>
      <p:sp>
        <p:nvSpPr>
          <p:cNvPr id="85" name="TextBox 84">
            <a:extLst>
              <a:ext uri="{FF2B5EF4-FFF2-40B4-BE49-F238E27FC236}">
                <a16:creationId xmlns:a16="http://schemas.microsoft.com/office/drawing/2014/main" id="{B38BFA93-9E78-B64A-A3A2-F806AC8D73A3}"/>
              </a:ext>
            </a:extLst>
          </p:cNvPr>
          <p:cNvSpPr txBox="1"/>
          <p:nvPr/>
        </p:nvSpPr>
        <p:spPr>
          <a:xfrm>
            <a:off x="4127500" y="2298700"/>
            <a:ext cx="2921000" cy="4445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920">
                <a:solidFill>
                  <a:srgbClr val="10006B"/>
                </a:solidFill>
                <a:latin typeface="Arial"/>
                <a:cs typeface="Arial"/>
              </a:rPr>
              <a:t>Differentiated contract, bundle, discount, and approval logic</a:t>
            </a:r>
            <a:endParaRPr lang="en-US" sz="920" dirty="0">
              <a:solidFill>
                <a:srgbClr val="10006B"/>
              </a:solidFill>
              <a:latin typeface="Arial"/>
              <a:cs typeface="Arial"/>
            </a:endParaRPr>
          </a:p>
        </p:txBody>
      </p:sp>
      <p:sp>
        <p:nvSpPr>
          <p:cNvPr id="87" name="TextBox 86">
            <a:extLst>
              <a:ext uri="{FF2B5EF4-FFF2-40B4-BE49-F238E27FC236}">
                <a16:creationId xmlns:a16="http://schemas.microsoft.com/office/drawing/2014/main" id="{61D2EAA5-D3A4-A644-973D-3744B6350B60}"/>
              </a:ext>
            </a:extLst>
          </p:cNvPr>
          <p:cNvSpPr txBox="1"/>
          <p:nvPr/>
        </p:nvSpPr>
        <p:spPr>
          <a:xfrm>
            <a:off x="8890000" y="2349500"/>
            <a:ext cx="2565400" cy="2159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000" b="1">
                <a:solidFill>
                  <a:srgbClr val="10006B"/>
                </a:solidFill>
                <a:latin typeface="Arial"/>
                <a:cs typeface="Arial"/>
              </a:rPr>
              <a:t>PARTNER AND EDI GATEWAY</a:t>
            </a:r>
            <a:endParaRPr lang="en-US" sz="1000" b="1" dirty="0">
              <a:solidFill>
                <a:srgbClr val="10006B"/>
              </a:solidFill>
              <a:latin typeface="Arial"/>
              <a:cs typeface="Arial"/>
            </a:endParaRPr>
          </a:p>
        </p:txBody>
      </p:sp>
      <p:sp>
        <p:nvSpPr>
          <p:cNvPr id="88" name="TextBox 87">
            <a:extLst>
              <a:ext uri="{FF2B5EF4-FFF2-40B4-BE49-F238E27FC236}">
                <a16:creationId xmlns:a16="http://schemas.microsoft.com/office/drawing/2014/main" id="{BA3D46F4-263A-4F41-B71E-BCCDA52E94A8}"/>
              </a:ext>
            </a:extLst>
          </p:cNvPr>
          <p:cNvSpPr txBox="1"/>
          <p:nvPr/>
        </p:nvSpPr>
        <p:spPr>
          <a:xfrm>
            <a:off x="8890000" y="2590800"/>
            <a:ext cx="2565400" cy="3937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920">
                <a:solidFill>
                  <a:srgbClr val="10006B"/>
                </a:solidFill>
                <a:latin typeface="Arial"/>
                <a:cs typeface="Arial"/>
              </a:rPr>
              <a:t>Partner-specific mappings bypass the nominal workflow</a:t>
            </a:r>
            <a:endParaRPr lang="en-US" sz="920" dirty="0">
              <a:solidFill>
                <a:srgbClr val="10006B"/>
              </a:solidFill>
              <a:latin typeface="Arial"/>
              <a:cs typeface="Arial"/>
            </a:endParaRPr>
          </a:p>
        </p:txBody>
      </p:sp>
      <p:sp>
        <p:nvSpPr>
          <p:cNvPr id="94" name="TextBox 93">
            <a:extLst>
              <a:ext uri="{FF2B5EF4-FFF2-40B4-BE49-F238E27FC236}">
                <a16:creationId xmlns:a16="http://schemas.microsoft.com/office/drawing/2014/main" id="{1AF3D7BD-4BF7-9C46-9AB5-D1F62A1A1D5A}"/>
              </a:ext>
            </a:extLst>
          </p:cNvPr>
          <p:cNvSpPr txBox="1"/>
          <p:nvPr/>
        </p:nvSpPr>
        <p:spPr>
          <a:xfrm>
            <a:off x="1333500" y="3225800"/>
            <a:ext cx="2857500" cy="2159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000" b="1">
                <a:solidFill>
                  <a:srgbClr val="10006B"/>
                </a:solidFill>
                <a:latin typeface="Arial"/>
                <a:cs typeface="Arial"/>
              </a:rPr>
              <a:t>LEGACY ERP A</a:t>
            </a:r>
            <a:endParaRPr lang="en-US" sz="1000" b="1" dirty="0">
              <a:solidFill>
                <a:srgbClr val="10006B"/>
              </a:solidFill>
              <a:latin typeface="Arial"/>
              <a:cs typeface="Arial"/>
            </a:endParaRPr>
          </a:p>
        </p:txBody>
      </p:sp>
      <p:sp>
        <p:nvSpPr>
          <p:cNvPr id="95" name="TextBox 94">
            <a:extLst>
              <a:ext uri="{FF2B5EF4-FFF2-40B4-BE49-F238E27FC236}">
                <a16:creationId xmlns:a16="http://schemas.microsoft.com/office/drawing/2014/main" id="{5486CC78-2181-2A4A-974D-1DA237324BF9}"/>
              </a:ext>
            </a:extLst>
          </p:cNvPr>
          <p:cNvSpPr txBox="1"/>
          <p:nvPr/>
        </p:nvSpPr>
        <p:spPr>
          <a:xfrm>
            <a:off x="1333500" y="3467100"/>
            <a:ext cx="2857500" cy="4445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920">
                <a:solidFill>
                  <a:srgbClr val="10006B"/>
                </a:solidFill>
                <a:latin typeface="Arial"/>
                <a:cs typeface="Arial"/>
              </a:rPr>
              <a:t>Original customer, product, order, inventory, and invoice model</a:t>
            </a:r>
            <a:endParaRPr lang="en-US" sz="920" dirty="0">
              <a:solidFill>
                <a:srgbClr val="10006B"/>
              </a:solidFill>
              <a:latin typeface="Arial"/>
              <a:cs typeface="Arial"/>
            </a:endParaRPr>
          </a:p>
        </p:txBody>
      </p:sp>
      <p:sp>
        <p:nvSpPr>
          <p:cNvPr id="97" name="TextBox 96">
            <a:extLst>
              <a:ext uri="{FF2B5EF4-FFF2-40B4-BE49-F238E27FC236}">
                <a16:creationId xmlns:a16="http://schemas.microsoft.com/office/drawing/2014/main" id="{FEB9C4DD-E44F-1F4C-BB23-669C2F25A226}"/>
              </a:ext>
            </a:extLst>
          </p:cNvPr>
          <p:cNvSpPr txBox="1"/>
          <p:nvPr/>
        </p:nvSpPr>
        <p:spPr>
          <a:xfrm>
            <a:off x="5080000" y="3073400"/>
            <a:ext cx="2349500" cy="2159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000" b="1">
                <a:solidFill>
                  <a:srgbClr val="10006B"/>
                </a:solidFill>
                <a:latin typeface="Arial"/>
                <a:cs typeface="Arial"/>
              </a:rPr>
              <a:t>CUSTOM ORDER WORKBENCH</a:t>
            </a:r>
            <a:endParaRPr lang="en-US" sz="1000" b="1" dirty="0">
              <a:solidFill>
                <a:srgbClr val="10006B"/>
              </a:solidFill>
              <a:latin typeface="Arial"/>
              <a:cs typeface="Arial"/>
            </a:endParaRPr>
          </a:p>
        </p:txBody>
      </p:sp>
      <p:sp>
        <p:nvSpPr>
          <p:cNvPr id="98" name="TextBox 97">
            <a:extLst>
              <a:ext uri="{FF2B5EF4-FFF2-40B4-BE49-F238E27FC236}">
                <a16:creationId xmlns:a16="http://schemas.microsoft.com/office/drawing/2014/main" id="{F715DAAB-9C7E-074B-914D-F5B438199B8C}"/>
              </a:ext>
            </a:extLst>
          </p:cNvPr>
          <p:cNvSpPr txBox="1"/>
          <p:nvPr/>
        </p:nvSpPr>
        <p:spPr>
          <a:xfrm>
            <a:off x="5080000" y="3314700"/>
            <a:ext cx="2349500" cy="5207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920">
                <a:solidFill>
                  <a:srgbClr val="10006B"/>
                </a:solidFill>
                <a:latin typeface="Arial"/>
                <a:cs typeface="Arial"/>
              </a:rPr>
              <a:t>Operators route exceptions and repair failed orders</a:t>
            </a:r>
            <a:endParaRPr lang="en-US" sz="920" dirty="0">
              <a:solidFill>
                <a:srgbClr val="10006B"/>
              </a:solidFill>
              <a:latin typeface="Arial"/>
              <a:cs typeface="Arial"/>
            </a:endParaRPr>
          </a:p>
        </p:txBody>
      </p:sp>
      <p:sp>
        <p:nvSpPr>
          <p:cNvPr id="100" name="TextBox 99">
            <a:extLst>
              <a:ext uri="{FF2B5EF4-FFF2-40B4-BE49-F238E27FC236}">
                <a16:creationId xmlns:a16="http://schemas.microsoft.com/office/drawing/2014/main" id="{B9318CDD-9F49-A243-A527-AC7A934A45B6}"/>
              </a:ext>
            </a:extLst>
          </p:cNvPr>
          <p:cNvSpPr txBox="1"/>
          <p:nvPr/>
        </p:nvSpPr>
        <p:spPr>
          <a:xfrm>
            <a:off x="8255000" y="3454400"/>
            <a:ext cx="2921000" cy="1905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000" b="1">
                <a:solidFill>
                  <a:srgbClr val="10006B"/>
                </a:solidFill>
                <a:latin typeface="Arial"/>
                <a:cs typeface="Arial"/>
              </a:rPr>
              <a:t>ACQUIRED ERP B</a:t>
            </a:r>
            <a:endParaRPr lang="en-US" sz="1000" b="1" dirty="0">
              <a:solidFill>
                <a:srgbClr val="10006B"/>
              </a:solidFill>
              <a:latin typeface="Arial"/>
              <a:cs typeface="Arial"/>
            </a:endParaRPr>
          </a:p>
        </p:txBody>
      </p:sp>
      <p:sp>
        <p:nvSpPr>
          <p:cNvPr id="101" name="TextBox 100">
            <a:extLst>
              <a:ext uri="{FF2B5EF4-FFF2-40B4-BE49-F238E27FC236}">
                <a16:creationId xmlns:a16="http://schemas.microsoft.com/office/drawing/2014/main" id="{99BB1621-4D7E-1A47-906F-B0B8994F3D24}"/>
              </a:ext>
            </a:extLst>
          </p:cNvPr>
          <p:cNvSpPr txBox="1"/>
          <p:nvPr/>
        </p:nvSpPr>
        <p:spPr>
          <a:xfrm>
            <a:off x="8255000" y="3670300"/>
            <a:ext cx="2921000" cy="3683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920">
                <a:solidFill>
                  <a:srgbClr val="10006B"/>
                </a:solidFill>
                <a:latin typeface="Arial"/>
                <a:cs typeface="Arial"/>
              </a:rPr>
              <a:t>Different identifiers, tax logic, and fulfillment states</a:t>
            </a:r>
            <a:endParaRPr lang="en-US" sz="920" dirty="0">
              <a:solidFill>
                <a:srgbClr val="10006B"/>
              </a:solidFill>
              <a:latin typeface="Arial"/>
              <a:cs typeface="Arial"/>
            </a:endParaRPr>
          </a:p>
        </p:txBody>
      </p:sp>
      <p:sp>
        <p:nvSpPr>
          <p:cNvPr id="103" name="TextBox 102">
            <a:extLst>
              <a:ext uri="{FF2B5EF4-FFF2-40B4-BE49-F238E27FC236}">
                <a16:creationId xmlns:a16="http://schemas.microsoft.com/office/drawing/2014/main" id="{0443873B-1C88-544A-8498-EBCABC2C68D0}"/>
              </a:ext>
            </a:extLst>
          </p:cNvPr>
          <p:cNvSpPr txBox="1"/>
          <p:nvPr/>
        </p:nvSpPr>
        <p:spPr>
          <a:xfrm>
            <a:off x="698500" y="4191000"/>
            <a:ext cx="2603500" cy="1905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900" b="1">
                <a:solidFill>
                  <a:srgbClr val="10006B"/>
                </a:solidFill>
                <a:latin typeface="Arial"/>
                <a:cs typeface="Arial"/>
              </a:rPr>
              <a:t>CUSTOMER PORTAL AND SERVICE APP</a:t>
            </a:r>
            <a:endParaRPr lang="en-US" sz="900" b="1" dirty="0">
              <a:solidFill>
                <a:srgbClr val="10006B"/>
              </a:solidFill>
              <a:latin typeface="Arial"/>
              <a:cs typeface="Arial"/>
            </a:endParaRPr>
          </a:p>
        </p:txBody>
      </p:sp>
      <p:sp>
        <p:nvSpPr>
          <p:cNvPr id="104" name="TextBox 103">
            <a:extLst>
              <a:ext uri="{FF2B5EF4-FFF2-40B4-BE49-F238E27FC236}">
                <a16:creationId xmlns:a16="http://schemas.microsoft.com/office/drawing/2014/main" id="{42D81F41-7C57-AD48-B457-E6245F20B7E8}"/>
              </a:ext>
            </a:extLst>
          </p:cNvPr>
          <p:cNvSpPr txBox="1"/>
          <p:nvPr/>
        </p:nvSpPr>
        <p:spPr>
          <a:xfrm>
            <a:off x="698500" y="4406900"/>
            <a:ext cx="2603500" cy="3048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800">
                <a:solidFill>
                  <a:srgbClr val="10006B"/>
                </a:solidFill>
                <a:latin typeface="Arial"/>
                <a:cs typeface="Arial"/>
              </a:rPr>
              <a:t>Duplicated entitlement and incomplete order visibility</a:t>
            </a:r>
            <a:endParaRPr lang="en-US" sz="800" dirty="0">
              <a:solidFill>
                <a:srgbClr val="10006B"/>
              </a:solidFill>
              <a:latin typeface="Arial"/>
              <a:cs typeface="Arial"/>
            </a:endParaRPr>
          </a:p>
        </p:txBody>
      </p:sp>
      <p:sp>
        <p:nvSpPr>
          <p:cNvPr id="106" name="TextBox 105">
            <a:extLst>
              <a:ext uri="{FF2B5EF4-FFF2-40B4-BE49-F238E27FC236}">
                <a16:creationId xmlns:a16="http://schemas.microsoft.com/office/drawing/2014/main" id="{A0FACC86-8134-CC42-8769-3712BFF65881}"/>
              </a:ext>
            </a:extLst>
          </p:cNvPr>
          <p:cNvSpPr txBox="1"/>
          <p:nvPr/>
        </p:nvSpPr>
        <p:spPr>
          <a:xfrm>
            <a:off x="9017000" y="4279900"/>
            <a:ext cx="2413000" cy="1905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900" b="1">
                <a:solidFill>
                  <a:srgbClr val="10006B"/>
                </a:solidFill>
                <a:latin typeface="Arial"/>
                <a:cs typeface="Arial"/>
              </a:rPr>
              <a:t>WAREHOUSE AND REPORTING TOOLS</a:t>
            </a:r>
            <a:endParaRPr lang="en-US" sz="900" b="1" dirty="0">
              <a:solidFill>
                <a:srgbClr val="10006B"/>
              </a:solidFill>
              <a:latin typeface="Arial"/>
              <a:cs typeface="Arial"/>
            </a:endParaRPr>
          </a:p>
        </p:txBody>
      </p:sp>
      <p:sp>
        <p:nvSpPr>
          <p:cNvPr id="107" name="TextBox 106">
            <a:extLst>
              <a:ext uri="{FF2B5EF4-FFF2-40B4-BE49-F238E27FC236}">
                <a16:creationId xmlns:a16="http://schemas.microsoft.com/office/drawing/2014/main" id="{0839A263-74C8-D74B-87B4-B203AFBDFD87}"/>
              </a:ext>
            </a:extLst>
          </p:cNvPr>
          <p:cNvSpPr txBox="1"/>
          <p:nvPr/>
        </p:nvSpPr>
        <p:spPr>
          <a:xfrm>
            <a:off x="9017000" y="4495800"/>
            <a:ext cx="2413000" cy="3048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800">
                <a:solidFill>
                  <a:srgbClr val="10006B"/>
                </a:solidFill>
                <a:latin typeface="Arial"/>
                <a:cs typeface="Arial"/>
              </a:rPr>
              <a:t>Inconsistent measures and delayed exception visibility</a:t>
            </a:r>
            <a:endParaRPr lang="en-US" sz="800" dirty="0">
              <a:solidFill>
                <a:srgbClr val="10006B"/>
              </a:solidFill>
              <a:latin typeface="Arial"/>
              <a:cs typeface="Arial"/>
            </a:endParaRPr>
          </a:p>
        </p:txBody>
      </p:sp>
      <p:sp>
        <p:nvSpPr>
          <p:cNvPr id="109" name="TextBox 108">
            <a:extLst>
              <a:ext uri="{FF2B5EF4-FFF2-40B4-BE49-F238E27FC236}">
                <a16:creationId xmlns:a16="http://schemas.microsoft.com/office/drawing/2014/main" id="{0D9CD838-B9B3-AD45-A751-B71A5DB7287F}"/>
              </a:ext>
            </a:extLst>
          </p:cNvPr>
          <p:cNvSpPr txBox="1"/>
          <p:nvPr/>
        </p:nvSpPr>
        <p:spPr>
          <a:xfrm>
            <a:off x="4318000" y="4203700"/>
            <a:ext cx="3175000" cy="1905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900" b="1">
                <a:solidFill>
                  <a:srgbClr val="F000D8"/>
                </a:solidFill>
                <a:latin typeface="Arial"/>
                <a:cs typeface="Arial"/>
              </a:rPr>
              <a:t>SPREADSHEETS, EMAIL, AND OPERATOR KNOWLEDGE</a:t>
            </a:r>
            <a:endParaRPr lang="en-US" sz="900" b="1" dirty="0">
              <a:solidFill>
                <a:srgbClr val="F000D8"/>
              </a:solidFill>
              <a:latin typeface="Arial"/>
              <a:cs typeface="Arial"/>
            </a:endParaRPr>
          </a:p>
        </p:txBody>
      </p:sp>
      <p:sp>
        <p:nvSpPr>
          <p:cNvPr id="110" name="TextBox 109">
            <a:extLst>
              <a:ext uri="{FF2B5EF4-FFF2-40B4-BE49-F238E27FC236}">
                <a16:creationId xmlns:a16="http://schemas.microsoft.com/office/drawing/2014/main" id="{90CC7211-B4A6-5040-9A94-4594B0D5B71A}"/>
              </a:ext>
            </a:extLst>
          </p:cNvPr>
          <p:cNvSpPr txBox="1"/>
          <p:nvPr/>
        </p:nvSpPr>
        <p:spPr>
          <a:xfrm>
            <a:off x="4318000" y="4419600"/>
            <a:ext cx="3175000" cy="381000"/>
          </a:xfrm>
          <a:prstGeom prst="rect">
            <a:avLst/>
          </a:prstGeom>
          <a:noFill/>
          <a:ln>
            <a:noFill/>
          </a:ln>
        </p:spPr>
        <p:txBody>
          <a:bodyPr vertOverflow="overflow" vert="horz" wrap="square" lIns="0" tIns="0" rIns="0" bIns="0" rtlCol="0" anchor="t" anchorCtr="0">
            <a:spAutoFit/>
          </a:bodyPr>
          <a:lstStyle/>
          <a:p>
            <a:pPr marL="0" indent="0" algn="l">
              <a:spcAft>
                <a:spcPts val="600"/>
              </a:spcAft>
              <a:tabLst/>
            </a:pPr>
            <a:r>
              <a:rPr lang="en-US" sz="800">
                <a:solidFill>
                  <a:srgbClr val="10006B"/>
                </a:solidFill>
                <a:latin typeface="Arial"/>
                <a:cs typeface="Arial"/>
              </a:rPr>
              <a:t>Approvals, matching, corrections, and reconciliation. Operators often serve as the missing integration layer.</a:t>
            </a:r>
            <a:endParaRPr lang="en-US" sz="800" dirty="0">
              <a:solidFill>
                <a:srgbClr val="10006B"/>
              </a:solidFill>
              <a:latin typeface="Arial"/>
              <a:cs typeface="Arial"/>
            </a:endParaRPr>
          </a:p>
        </p:txBody>
      </p:sp>
      <p:sp>
        <p:nvSpPr>
          <p:cNvPr id="111" name="Rectangle 110">
            <a:extLst>
              <a:ext uri="{FF2B5EF4-FFF2-40B4-BE49-F238E27FC236}">
                <a16:creationId xmlns:a16="http://schemas.microsoft.com/office/drawing/2014/main" id="{A2278036-45FB-814A-80E5-977C0AF2A5EE}"/>
              </a:ext>
            </a:extLst>
          </p:cNvPr>
          <p:cNvSpPr/>
          <p:nvPr/>
        </p:nvSpPr>
        <p:spPr bwMode="auto">
          <a:xfrm>
            <a:off x="457200" y="5041900"/>
            <a:ext cx="2641600" cy="457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WHAT MODERNIZATION COULD CHANGE</a:t>
            </a: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112" name="Rectangle 111">
            <a:extLst>
              <a:ext uri="{FF2B5EF4-FFF2-40B4-BE49-F238E27FC236}">
                <a16:creationId xmlns:a16="http://schemas.microsoft.com/office/drawing/2014/main" id="{EB2C5F0C-0173-FD44-A8FB-CE85D48A88FC}"/>
              </a:ext>
            </a:extLst>
          </p:cNvPr>
          <p:cNvSpPr/>
          <p:nvPr/>
        </p:nvSpPr>
        <p:spPr bwMode="auto">
          <a:xfrm>
            <a:off x="3098800" y="5041900"/>
            <a:ext cx="8636000" cy="457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850" b="1" i="0" u="none" strike="noStrike" kern="1200" cap="none" spc="0" normalizeH="0" baseline="0" noProof="0" dirty="0">
              <a:ln>
                <a:noFill/>
              </a:ln>
              <a:solidFill>
                <a:srgbClr val="10006B"/>
              </a:solidFill>
              <a:effectLst/>
              <a:uLnTx/>
              <a:uFillTx/>
              <a:latin typeface="Arial"/>
              <a:ea typeface="Roboto" panose="02000000000000000000" pitchFamily="2" charset="0"/>
              <a:cs typeface="Arial"/>
            </a:endParaRPr>
          </a:p>
        </p:txBody>
      </p:sp>
      <p:sp>
        <p:nvSpPr>
          <p:cNvPr id="113" name="TextBox 112">
            <a:extLst>
              <a:ext uri="{FF2B5EF4-FFF2-40B4-BE49-F238E27FC236}">
                <a16:creationId xmlns:a16="http://schemas.microsoft.com/office/drawing/2014/main" id="{047D7F3D-485B-2F4D-9A6C-C6B44BB8BBAC}"/>
              </a:ext>
            </a:extLst>
          </p:cNvPr>
          <p:cNvSpPr txBox="1"/>
          <p:nvPr/>
        </p:nvSpPr>
        <p:spPr>
          <a:xfrm>
            <a:off x="457200" y="5562600"/>
            <a:ext cx="11277600" cy="3048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100" b="1">
                <a:solidFill>
                  <a:srgbClr val="10006B"/>
                </a:solidFill>
                <a:latin typeface="Arial"/>
                <a:cs typeface="Arial"/>
              </a:rPr>
              <a:t>Modernization scope includes applications, platforms, integrations, data, business process, and human handoffs.</a:t>
            </a:r>
            <a:endParaRPr lang="en-US" sz="1100" b="1" dirty="0">
              <a:solidFill>
                <a:srgbClr val="10006B"/>
              </a:solidFill>
              <a:latin typeface="Arial"/>
              <a:cs typeface="Arial"/>
            </a:endParaRPr>
          </a:p>
        </p:txBody>
      </p:sp>
      <p:sp>
        <p:nvSpPr>
          <p:cNvPr id="114" name="TextBox 113">
            <a:extLst>
              <a:ext uri="{FF2B5EF4-FFF2-40B4-BE49-F238E27FC236}">
                <a16:creationId xmlns:a16="http://schemas.microsoft.com/office/drawing/2014/main" id="{92B7B6A5-F614-C043-B333-78154BEAE177}"/>
              </a:ext>
            </a:extLst>
          </p:cNvPr>
          <p:cNvSpPr txBox="1"/>
          <p:nvPr/>
        </p:nvSpPr>
        <p:spPr>
          <a:xfrm>
            <a:off x="457200" y="5943600"/>
            <a:ext cx="11277600" cy="2540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950">
                <a:solidFill>
                  <a:srgbClr val="58657A"/>
                </a:solidFill>
                <a:latin typeface="Arial"/>
                <a:cs typeface="Arial"/>
              </a:rPr>
              <a:t>The same business capability is split across platforms, custom logic, point integrations, manual workarounds, and inconsistent data.</a:t>
            </a:r>
            <a:endParaRPr lang="en-US" sz="950" dirty="0">
              <a:solidFill>
                <a:srgbClr val="58657A"/>
              </a:solidFill>
              <a:latin typeface="Arial"/>
              <a:cs typeface="Arial"/>
            </a:endParaRPr>
          </a:p>
        </p:txBody>
      </p:sp>
      <p:sp>
        <p:nvSpPr>
          <p:cNvPr id="21" name="TextBox 20">
            <a:extLst>
              <a:ext uri="{FF2B5EF4-FFF2-40B4-BE49-F238E27FC236}">
                <a16:creationId xmlns:a16="http://schemas.microsoft.com/office/drawing/2014/main" id="{FC677B69-72F7-C64C-9808-BAD07F902866}"/>
              </a:ext>
            </a:extLst>
          </p:cNvPr>
          <p:cNvSpPr txBox="1"/>
          <p:nvPr/>
        </p:nvSpPr>
        <p:spPr>
          <a:xfrm>
            <a:off x="3200400" y="5105400"/>
            <a:ext cx="8432800" cy="1651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850" b="1">
                <a:solidFill>
                  <a:srgbClr val="10006B"/>
                </a:solidFill>
                <a:latin typeface="Arial"/>
                <a:cs typeface="Arial"/>
              </a:rPr>
              <a:t>Shared business vocabulary   Connected workflow   Retain differentiated pricing</a:t>
            </a:r>
            <a:endParaRPr lang="en-US" sz="850" b="1" dirty="0">
              <a:solidFill>
                <a:srgbClr val="10006B"/>
              </a:solidFill>
              <a:latin typeface="Arial"/>
              <a:cs typeface="Arial"/>
            </a:endParaRPr>
          </a:p>
        </p:txBody>
      </p:sp>
      <p:sp>
        <p:nvSpPr>
          <p:cNvPr id="22" name="TextBox 21">
            <a:extLst>
              <a:ext uri="{FF2B5EF4-FFF2-40B4-BE49-F238E27FC236}">
                <a16:creationId xmlns:a16="http://schemas.microsoft.com/office/drawing/2014/main" id="{3AC0224A-18A8-5F45-8906-4B1AC71D6BE9}"/>
              </a:ext>
            </a:extLst>
          </p:cNvPr>
          <p:cNvSpPr txBox="1"/>
          <p:nvPr/>
        </p:nvSpPr>
        <p:spPr>
          <a:xfrm>
            <a:off x="3200400" y="5295900"/>
            <a:ext cx="8432800" cy="165100"/>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850" b="1">
                <a:solidFill>
                  <a:srgbClr val="10006B"/>
                </a:solidFill>
                <a:latin typeface="Arial"/>
                <a:cs typeface="Arial"/>
              </a:rPr>
              <a:t>Standardize commodity capabilities   Retire duplication   Sequence migration by capability</a:t>
            </a:r>
            <a:endParaRPr lang="en-US" sz="850" b="1" dirty="0">
              <a:solidFill>
                <a:srgbClr val="10006B"/>
              </a:solidFill>
              <a:latin typeface="Arial"/>
              <a:cs typeface="Arial"/>
            </a:endParaRPr>
          </a:p>
        </p:txBody>
      </p:sp>
      <p:sp>
        <p:nvSpPr>
          <p:cNvPr id="33" name="TextBox 32">
            <a:extLst>
              <a:ext uri="{FF2B5EF4-FFF2-40B4-BE49-F238E27FC236}">
                <a16:creationId xmlns:a16="http://schemas.microsoft.com/office/drawing/2014/main" id="{D523EC8C-8E7B-5C4B-91C7-3C66EB0BF796}"/>
              </a:ext>
            </a:extLst>
          </p:cNvPr>
          <p:cNvSpPr txBox="1"/>
          <p:nvPr/>
        </p:nvSpPr>
        <p:spPr>
          <a:xfrm>
            <a:off x="4321048" y="6400800"/>
            <a:ext cx="7102856" cy="167894"/>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36" name="TextBox 35">
            <a:extLst>
              <a:ext uri="{FF2B5EF4-FFF2-40B4-BE49-F238E27FC236}">
                <a16:creationId xmlns:a16="http://schemas.microsoft.com/office/drawing/2014/main" id="{F3346032-ACED-3146-8099-B751D871D583}"/>
              </a:ext>
            </a:extLst>
          </p:cNvPr>
          <p:cNvSpPr txBox="1"/>
          <p:nvPr/>
        </p:nvSpPr>
        <p:spPr>
          <a:xfrm>
            <a:off x="11509629" y="6400800"/>
            <a:ext cx="218821" cy="167894"/>
          </a:xfrm>
          <a:prstGeom prst="rect">
            <a:avLst/>
          </a:prstGeom>
          <a:noFill/>
        </p:spPr>
        <p:txBody>
          <a:bodyPr vertOverflow="overflow" vert="horz" wrap="square" lIns="0" tIns="0" rIns="0" bIns="0" rtlCol="0" anchor="t">
            <a:spAutoFit/>
          </a:bodyPr>
          <a:lstStyle/>
          <a:p>
            <a:pPr marL="0" indent="0" algn="l">
              <a:spcAft>
                <a:spcPts val="600"/>
              </a:spcAft>
              <a:tabLst/>
            </a:pPr>
            <a:r>
              <a:rPr lang="en-US" sz="550">
                <a:solidFill>
                  <a:srgbClr val="070154"/>
                </a:solidFill>
                <a:latin typeface="Arial"/>
                <a:cs typeface="Arial"/>
              </a:rPr>
              <a:t>9</a:t>
            </a:r>
            <a:endParaRPr lang="en-US" sz="550" dirty="0">
              <a:solidFill>
                <a:srgbClr val="070154"/>
              </a:solidFill>
              <a:latin typeface="Arial"/>
              <a:cs typeface="Arial"/>
            </a:endParaRPr>
          </a:p>
        </p:txBody>
      </p:sp>
      <p:sp>
        <p:nvSpPr>
          <p:cNvPr id="3" name="Rectangle 2">
            <a:extLst>
              <a:ext uri="{FF2B5EF4-FFF2-40B4-BE49-F238E27FC236}">
                <a16:creationId xmlns:a16="http://schemas.microsoft.com/office/drawing/2014/main" id="{4409C6FB-AD74-6CFC-9A1B-D9D67F820E40}"/>
              </a:ext>
            </a:extLst>
          </p:cNvPr>
          <p:cNvSpPr/>
          <p:nvPr/>
        </p:nvSpPr>
        <p:spPr bwMode="auto">
          <a:xfrm>
            <a:off x="9176426" y="175098"/>
            <a:ext cx="2333203" cy="1322962"/>
          </a:xfrm>
          <a:prstGeom prst="rect">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rPr>
              <a:t>This slide is still</a:t>
            </a:r>
            <a:r>
              <a:rPr kumimoji="0" lang="en-US" sz="1400" b="0" i="0" u="none" strike="noStrike" kern="1200" cap="none" spc="0" normalizeH="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rPr>
              <a:t> a mess. Rachel thinks she has a good replacement slide.</a:t>
            </a: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1406807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8C-63DB-6EC0-54B3-BAD510DB5D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2D4D6B-E702-B14F-8CBF-3DB9404EA064}"/>
              </a:ext>
            </a:extLst>
          </p:cNvPr>
          <p:cNvSpPr/>
          <p:nvPr/>
        </p:nvSpPr>
        <p:spPr bwMode="auto">
          <a:xfrm>
            <a:off x="0" y="0"/>
            <a:ext cx="121920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3D957A41-9389-9041-99A2-9153DA0C87B2}"/>
              </a:ext>
            </a:extLst>
          </p:cNvPr>
          <p:cNvSpPr/>
          <p:nvPr/>
        </p:nvSpPr>
        <p:spPr bwMode="auto">
          <a:xfrm>
            <a:off x="0" y="0"/>
            <a:ext cx="2286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0716BB7-CA60-524A-8CA8-6B88AD30659B}"/>
              </a:ext>
            </a:extLst>
          </p:cNvPr>
          <p:cNvSpPr/>
          <p:nvPr/>
        </p:nvSpPr>
        <p:spPr bwMode="auto">
          <a:xfrm>
            <a:off x="457200" y="609600"/>
            <a:ext cx="15240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3C91333C-DD3E-9B4D-89FD-5B2ACB074E63}"/>
              </a:ext>
            </a:extLst>
          </p:cNvPr>
          <p:cNvSpPr txBox="1"/>
          <p:nvPr/>
        </p:nvSpPr>
        <p:spPr>
          <a:xfrm>
            <a:off x="609600" y="990600"/>
            <a:ext cx="228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INTERNAL PICK-DECK GUIDE</a:t>
            </a:r>
            <a:endParaRPr lang="en-US" sz="1000" b="1" dirty="0">
              <a:solidFill>
                <a:srgbClr val="0047FF"/>
              </a:solidFill>
              <a:latin typeface="Arial"/>
              <a:cs typeface="Arial"/>
            </a:endParaRPr>
          </a:p>
        </p:txBody>
      </p:sp>
      <p:sp>
        <p:nvSpPr>
          <p:cNvPr id="12" name="TextBox 11">
            <a:extLst>
              <a:ext uri="{FF2B5EF4-FFF2-40B4-BE49-F238E27FC236}">
                <a16:creationId xmlns:a16="http://schemas.microsoft.com/office/drawing/2014/main" id="{F8E1B792-659A-D74D-9D48-33D822D70F96}"/>
              </a:ext>
            </a:extLst>
          </p:cNvPr>
          <p:cNvSpPr txBox="1"/>
          <p:nvPr/>
        </p:nvSpPr>
        <p:spPr>
          <a:xfrm>
            <a:off x="609600" y="1473200"/>
            <a:ext cx="8001000" cy="149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900" b="1">
                <a:solidFill>
                  <a:srgbClr val="FFFFFF"/>
                </a:solidFill>
                <a:latin typeface="Arial"/>
                <a:cs typeface="Arial"/>
              </a:rPr>
              <a:t>West Monroe's Perspective on Modernization</a:t>
            </a:r>
            <a:endParaRPr lang="en-US" sz="2900" b="1" dirty="0">
              <a:solidFill>
                <a:srgbClr val="FFFFFF"/>
              </a:solidFill>
              <a:latin typeface="Arial"/>
              <a:cs typeface="Arial"/>
            </a:endParaRPr>
          </a:p>
        </p:txBody>
      </p:sp>
      <p:sp>
        <p:nvSpPr>
          <p:cNvPr id="14" name="TextBox 13">
            <a:extLst>
              <a:ext uri="{FF2B5EF4-FFF2-40B4-BE49-F238E27FC236}">
                <a16:creationId xmlns:a16="http://schemas.microsoft.com/office/drawing/2014/main" id="{F12B1E13-E8CD-BD43-96AA-519B3925EF9F}"/>
              </a:ext>
            </a:extLst>
          </p:cNvPr>
          <p:cNvSpPr txBox="1"/>
          <p:nvPr/>
        </p:nvSpPr>
        <p:spPr>
          <a:xfrm>
            <a:off x="609600" y="3149600"/>
            <a:ext cx="7874000" cy="685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a:solidFill>
                  <a:srgbClr val="FFFFFF"/>
                </a:solidFill>
                <a:latin typeface="Arial"/>
                <a:cs typeface="Arial"/>
              </a:rPr>
              <a:t>Anchor the conversation in holistic modernization: align business value, people, process, and technology—then deliver with an AI-accelerated, adaptable model.</a:t>
            </a:r>
            <a:endParaRPr lang="en-US" sz="1300" dirty="0">
              <a:solidFill>
                <a:srgbClr val="FFFFFF"/>
              </a:solidFill>
              <a:latin typeface="Arial"/>
              <a:cs typeface="Arial"/>
            </a:endParaRPr>
          </a:p>
        </p:txBody>
      </p:sp>
      <p:sp>
        <p:nvSpPr>
          <p:cNvPr id="15" name="TextBox 14">
            <a:extLst>
              <a:ext uri="{FF2B5EF4-FFF2-40B4-BE49-F238E27FC236}">
                <a16:creationId xmlns:a16="http://schemas.microsoft.com/office/drawing/2014/main" id="{73F430C6-7897-2E44-A356-F000D6B34EA5}"/>
              </a:ext>
            </a:extLst>
          </p:cNvPr>
          <p:cNvSpPr txBox="1"/>
          <p:nvPr/>
        </p:nvSpPr>
        <p:spPr>
          <a:xfrm>
            <a:off x="9118600" y="11557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IN THIS SECTION</a:t>
            </a:r>
            <a:endParaRPr lang="en-US" sz="950" b="1" dirty="0">
              <a:solidFill>
                <a:srgbClr val="0047FF"/>
              </a:solidFill>
              <a:latin typeface="Arial"/>
              <a:cs typeface="Arial"/>
            </a:endParaRPr>
          </a:p>
        </p:txBody>
      </p:sp>
      <p:sp>
        <p:nvSpPr>
          <p:cNvPr id="16" name="Rectangle 15">
            <a:extLst>
              <a:ext uri="{FF2B5EF4-FFF2-40B4-BE49-F238E27FC236}">
                <a16:creationId xmlns:a16="http://schemas.microsoft.com/office/drawing/2014/main" id="{261D85DC-F9D6-6945-B534-E7FA1D31F122}"/>
              </a:ext>
            </a:extLst>
          </p:cNvPr>
          <p:cNvSpPr/>
          <p:nvPr/>
        </p:nvSpPr>
        <p:spPr bwMode="auto">
          <a:xfrm>
            <a:off x="9118600" y="15875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D01BF5B1-B24E-284C-9FC7-E80462316182}"/>
              </a:ext>
            </a:extLst>
          </p:cNvPr>
          <p:cNvSpPr txBox="1"/>
          <p:nvPr/>
        </p:nvSpPr>
        <p:spPr>
          <a:xfrm>
            <a:off x="9271000" y="17399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01</a:t>
            </a:r>
            <a:endParaRPr lang="en-US" sz="900" b="1" dirty="0">
              <a:solidFill>
                <a:srgbClr val="F900D3"/>
              </a:solidFill>
              <a:latin typeface="Arial"/>
              <a:cs typeface="Arial"/>
            </a:endParaRPr>
          </a:p>
        </p:txBody>
      </p:sp>
      <p:sp>
        <p:nvSpPr>
          <p:cNvPr id="21" name="TextBox 20">
            <a:extLst>
              <a:ext uri="{FF2B5EF4-FFF2-40B4-BE49-F238E27FC236}">
                <a16:creationId xmlns:a16="http://schemas.microsoft.com/office/drawing/2014/main" id="{F685F9EA-221F-3347-8288-97BD26237162}"/>
              </a:ext>
            </a:extLst>
          </p:cNvPr>
          <p:cNvSpPr txBox="1"/>
          <p:nvPr/>
        </p:nvSpPr>
        <p:spPr>
          <a:xfrm>
            <a:off x="9677400" y="16764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AI-age imperative</a:t>
            </a:r>
            <a:endParaRPr lang="en-US" sz="1000" b="1" dirty="0">
              <a:solidFill>
                <a:srgbClr val="070154"/>
              </a:solidFill>
              <a:latin typeface="Arial"/>
              <a:cs typeface="Arial"/>
            </a:endParaRPr>
          </a:p>
        </p:txBody>
      </p:sp>
      <p:sp>
        <p:nvSpPr>
          <p:cNvPr id="22" name="Rectangle 21">
            <a:extLst>
              <a:ext uri="{FF2B5EF4-FFF2-40B4-BE49-F238E27FC236}">
                <a16:creationId xmlns:a16="http://schemas.microsoft.com/office/drawing/2014/main" id="{07DBAAEE-5275-0B4F-8234-10AE0BF7AC50}"/>
              </a:ext>
            </a:extLst>
          </p:cNvPr>
          <p:cNvSpPr/>
          <p:nvPr/>
        </p:nvSpPr>
        <p:spPr bwMode="auto">
          <a:xfrm>
            <a:off x="9118600" y="23114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C1D6F0A2-F72D-C640-9D54-A4D4C9BE9626}"/>
              </a:ext>
            </a:extLst>
          </p:cNvPr>
          <p:cNvSpPr txBox="1"/>
          <p:nvPr/>
        </p:nvSpPr>
        <p:spPr>
          <a:xfrm>
            <a:off x="9271000" y="2463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02</a:t>
            </a:r>
            <a:endParaRPr lang="en-US" sz="900" b="1" dirty="0">
              <a:solidFill>
                <a:srgbClr val="F900D3"/>
              </a:solidFill>
              <a:latin typeface="Arial"/>
              <a:cs typeface="Arial"/>
            </a:endParaRPr>
          </a:p>
        </p:txBody>
      </p:sp>
      <p:sp>
        <p:nvSpPr>
          <p:cNvPr id="24" name="TextBox 23">
            <a:extLst>
              <a:ext uri="{FF2B5EF4-FFF2-40B4-BE49-F238E27FC236}">
                <a16:creationId xmlns:a16="http://schemas.microsoft.com/office/drawing/2014/main" id="{080B83FA-47AE-5546-B78A-3741943FCCAA}"/>
              </a:ext>
            </a:extLst>
          </p:cNvPr>
          <p:cNvSpPr txBox="1"/>
          <p:nvPr/>
        </p:nvSpPr>
        <p:spPr>
          <a:xfrm>
            <a:off x="9677400" y="24003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Value-first model</a:t>
            </a:r>
            <a:endParaRPr lang="en-US" sz="1000" b="1" dirty="0">
              <a:solidFill>
                <a:srgbClr val="070154"/>
              </a:solidFill>
              <a:latin typeface="Arial"/>
              <a:cs typeface="Arial"/>
            </a:endParaRPr>
          </a:p>
        </p:txBody>
      </p:sp>
      <p:sp>
        <p:nvSpPr>
          <p:cNvPr id="25" name="Rectangle 24">
            <a:extLst>
              <a:ext uri="{FF2B5EF4-FFF2-40B4-BE49-F238E27FC236}">
                <a16:creationId xmlns:a16="http://schemas.microsoft.com/office/drawing/2014/main" id="{5B5F2BF9-FA2F-E54E-9A25-DB5AD24F1FD1}"/>
              </a:ext>
            </a:extLst>
          </p:cNvPr>
          <p:cNvSpPr/>
          <p:nvPr/>
        </p:nvSpPr>
        <p:spPr bwMode="auto">
          <a:xfrm>
            <a:off x="9118600" y="30353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29292B1C-4A91-1946-99C8-A22EB49E9166}"/>
              </a:ext>
            </a:extLst>
          </p:cNvPr>
          <p:cNvSpPr txBox="1"/>
          <p:nvPr/>
        </p:nvSpPr>
        <p:spPr>
          <a:xfrm>
            <a:off x="92710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03</a:t>
            </a:r>
            <a:endParaRPr lang="en-US" sz="900" b="1" dirty="0">
              <a:solidFill>
                <a:srgbClr val="F900D3"/>
              </a:solidFill>
              <a:latin typeface="Arial"/>
              <a:cs typeface="Arial"/>
            </a:endParaRPr>
          </a:p>
        </p:txBody>
      </p:sp>
      <p:sp>
        <p:nvSpPr>
          <p:cNvPr id="27" name="TextBox 26">
            <a:extLst>
              <a:ext uri="{FF2B5EF4-FFF2-40B4-BE49-F238E27FC236}">
                <a16:creationId xmlns:a16="http://schemas.microsoft.com/office/drawing/2014/main" id="{6D3A6AC7-EA6A-544F-B9CC-F86023D2FAF4}"/>
              </a:ext>
            </a:extLst>
          </p:cNvPr>
          <p:cNvSpPr txBox="1"/>
          <p:nvPr/>
        </p:nvSpPr>
        <p:spPr>
          <a:xfrm>
            <a:off x="9677400" y="31242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People + process + technology</a:t>
            </a:r>
            <a:endParaRPr lang="en-US" sz="1000" b="1" dirty="0">
              <a:solidFill>
                <a:srgbClr val="070154"/>
              </a:solidFill>
              <a:latin typeface="Arial"/>
              <a:cs typeface="Arial"/>
            </a:endParaRPr>
          </a:p>
        </p:txBody>
      </p:sp>
      <p:sp>
        <p:nvSpPr>
          <p:cNvPr id="28" name="Rectangle 27">
            <a:extLst>
              <a:ext uri="{FF2B5EF4-FFF2-40B4-BE49-F238E27FC236}">
                <a16:creationId xmlns:a16="http://schemas.microsoft.com/office/drawing/2014/main" id="{7D2CEE49-87AD-B74B-BCBB-6545318FEAE4}"/>
              </a:ext>
            </a:extLst>
          </p:cNvPr>
          <p:cNvSpPr/>
          <p:nvPr/>
        </p:nvSpPr>
        <p:spPr bwMode="auto">
          <a:xfrm>
            <a:off x="9118600" y="37592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A7BB059-7F53-E749-AC13-3FF96661BA83}"/>
              </a:ext>
            </a:extLst>
          </p:cNvPr>
          <p:cNvSpPr txBox="1"/>
          <p:nvPr/>
        </p:nvSpPr>
        <p:spPr>
          <a:xfrm>
            <a:off x="9271000" y="39116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04</a:t>
            </a:r>
            <a:endParaRPr lang="en-US" sz="900" b="1" dirty="0">
              <a:solidFill>
                <a:srgbClr val="F900D3"/>
              </a:solidFill>
              <a:latin typeface="Arial"/>
              <a:cs typeface="Arial"/>
            </a:endParaRPr>
          </a:p>
        </p:txBody>
      </p:sp>
      <p:sp>
        <p:nvSpPr>
          <p:cNvPr id="30" name="TextBox 29">
            <a:extLst>
              <a:ext uri="{FF2B5EF4-FFF2-40B4-BE49-F238E27FC236}">
                <a16:creationId xmlns:a16="http://schemas.microsoft.com/office/drawing/2014/main" id="{E81A1754-C62A-9340-828F-1507EB0BF98D}"/>
              </a:ext>
            </a:extLst>
          </p:cNvPr>
          <p:cNvSpPr txBox="1"/>
          <p:nvPr/>
        </p:nvSpPr>
        <p:spPr>
          <a:xfrm>
            <a:off x="9677400" y="38481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Co-build + scale</a:t>
            </a:r>
            <a:endParaRPr lang="en-US" sz="1000" b="1" dirty="0">
              <a:solidFill>
                <a:srgbClr val="070154"/>
              </a:solidFill>
              <a:latin typeface="Arial"/>
              <a:cs typeface="Arial"/>
            </a:endParaRPr>
          </a:p>
        </p:txBody>
      </p:sp>
      <p:sp>
        <p:nvSpPr>
          <p:cNvPr id="31" name="Rectangle 30">
            <a:extLst>
              <a:ext uri="{FF2B5EF4-FFF2-40B4-BE49-F238E27FC236}">
                <a16:creationId xmlns:a16="http://schemas.microsoft.com/office/drawing/2014/main" id="{3375BC94-8D43-EF4D-96D9-538EF700EFE6}"/>
              </a:ext>
            </a:extLst>
          </p:cNvPr>
          <p:cNvSpPr/>
          <p:nvPr/>
        </p:nvSpPr>
        <p:spPr bwMode="auto">
          <a:xfrm>
            <a:off x="609600" y="5270500"/>
            <a:ext cx="8255000" cy="571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A26CFF14-2BDE-1848-A022-DAC182E8D21B}"/>
              </a:ext>
            </a:extLst>
          </p:cNvPr>
          <p:cNvSpPr txBox="1"/>
          <p:nvPr/>
        </p:nvSpPr>
        <p:spPr>
          <a:xfrm>
            <a:off x="863600" y="5435600"/>
            <a:ext cx="7747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Use this section to explain how West Monroe approaches modernization differently—not just what work gets done.</a:t>
            </a:r>
            <a:endParaRPr lang="en-US" sz="1000" b="1" dirty="0">
              <a:solidFill>
                <a:srgbClr val="070154"/>
              </a:solidFill>
              <a:latin typeface="Arial"/>
              <a:cs typeface="Arial"/>
            </a:endParaRPr>
          </a:p>
        </p:txBody>
      </p:sp>
      <p:sp>
        <p:nvSpPr>
          <p:cNvPr id="3" name="TextBox 2">
            <a:extLst>
              <a:ext uri="{FF2B5EF4-FFF2-40B4-BE49-F238E27FC236}">
                <a16:creationId xmlns:a16="http://schemas.microsoft.com/office/drawing/2014/main" id="{D9C2D31F-41C9-834B-806E-5C698A45F50E}"/>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D0847E0D-C3A0-6C47-8917-F1C8F445903B}"/>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endParaRPr lang="en-US" sz="550" dirty="0">
              <a:solidFill>
                <a:srgbClr val="070154"/>
              </a:solidFill>
              <a:latin typeface="Arial"/>
              <a:cs typeface="Arial"/>
            </a:endParaRPr>
          </a:p>
        </p:txBody>
      </p:sp>
    </p:spTree>
    <p:extLst>
      <p:ext uri="{BB962C8B-B14F-4D97-AF65-F5344CB8AC3E}">
        <p14:creationId xmlns:p14="http://schemas.microsoft.com/office/powerpoint/2010/main" val="3892617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36FF56E-A312-2558-5382-DDA93DAF01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0213" y="1260073"/>
            <a:ext cx="5135322" cy="405014"/>
          </a:xfrm>
          <a:prstGeom prst="rect">
            <a:avLst/>
          </a:prstGeom>
        </p:spPr>
      </p:pic>
      <p:sp>
        <p:nvSpPr>
          <p:cNvPr id="5" name="TextBox 4">
            <a:extLst>
              <a:ext uri="{FF2B5EF4-FFF2-40B4-BE49-F238E27FC236}">
                <a16:creationId xmlns:a16="http://schemas.microsoft.com/office/drawing/2014/main" id="{7C60C487-233D-BF46-9533-E3BAB4D252EC}"/>
              </a:ext>
            </a:extLst>
          </p:cNvPr>
          <p:cNvSpPr txBox="1"/>
          <p:nvPr/>
        </p:nvSpPr>
        <p:spPr>
          <a:xfrm>
            <a:off x="457200" y="681623"/>
            <a:ext cx="11277600" cy="338554"/>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2200" b="1" dirty="0">
                <a:solidFill>
                  <a:srgbClr val="10006B"/>
                </a:solidFill>
                <a:latin typeface="Arial"/>
                <a:cs typeface="Arial"/>
              </a:rPr>
              <a:t>Software modernization is an AI-age imperative</a:t>
            </a:r>
          </a:p>
        </p:txBody>
      </p:sp>
      <p:sp>
        <p:nvSpPr>
          <p:cNvPr id="9" name="Rectangle 8">
            <a:extLst>
              <a:ext uri="{FF2B5EF4-FFF2-40B4-BE49-F238E27FC236}">
                <a16:creationId xmlns:a16="http://schemas.microsoft.com/office/drawing/2014/main" id="{3E535085-F48C-4347-A048-1A21918F546E}"/>
              </a:ext>
            </a:extLst>
          </p:cNvPr>
          <p:cNvSpPr/>
          <p:nvPr/>
        </p:nvSpPr>
        <p:spPr bwMode="auto">
          <a:xfrm>
            <a:off x="457200" y="1333500"/>
            <a:ext cx="76200" cy="546100"/>
          </a:xfrm>
          <a:prstGeom prst="rect">
            <a:avLst/>
          </a:prstGeom>
          <a:solidFill>
            <a:srgbClr val="F900D3"/>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000" i="0" u="none" strike="noStrike" kern="1200" cap="none" spc="0" normalizeH="0" baseline="0" noProof="0" dirty="0">
              <a:ln>
                <a:noFill/>
              </a:ln>
              <a:solidFill>
                <a:srgbClr val="10006B"/>
              </a:solidFill>
              <a:effectLst/>
              <a:uLnTx/>
              <a:uFillTx/>
              <a:latin typeface="Arial"/>
              <a:ea typeface="Roboto" panose="02000000000000000000" pitchFamily="2" charset="0"/>
              <a:cs typeface="Arial"/>
            </a:endParaRPr>
          </a:p>
        </p:txBody>
      </p:sp>
      <p:sp>
        <p:nvSpPr>
          <p:cNvPr id="10" name="TextBox 9">
            <a:extLst>
              <a:ext uri="{FF2B5EF4-FFF2-40B4-BE49-F238E27FC236}">
                <a16:creationId xmlns:a16="http://schemas.microsoft.com/office/drawing/2014/main" id="{739F7422-111C-4B40-8C7F-562595496454}"/>
              </a:ext>
            </a:extLst>
          </p:cNvPr>
          <p:cNvSpPr txBox="1"/>
          <p:nvPr/>
        </p:nvSpPr>
        <p:spPr>
          <a:xfrm>
            <a:off x="660400" y="1361673"/>
            <a:ext cx="11074400" cy="477054"/>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1550" b="1" dirty="0">
                <a:solidFill>
                  <a:srgbClr val="10006B"/>
                </a:solidFill>
                <a:latin typeface="Arial"/>
                <a:cs typeface="Arial"/>
              </a:rPr>
              <a:t>Constant AI innovation is making modernization faster, easier, cheaper, and more necessary than ever — raising the cost of delay and the premium on agentic readiness.</a:t>
            </a:r>
          </a:p>
        </p:txBody>
      </p:sp>
      <p:sp>
        <p:nvSpPr>
          <p:cNvPr id="11" name="Rectangle 10">
            <a:extLst>
              <a:ext uri="{FF2B5EF4-FFF2-40B4-BE49-F238E27FC236}">
                <a16:creationId xmlns:a16="http://schemas.microsoft.com/office/drawing/2014/main" id="{E674219C-39A8-154E-B278-E7B1DB4026B9}"/>
              </a:ext>
            </a:extLst>
          </p:cNvPr>
          <p:cNvSpPr/>
          <p:nvPr/>
        </p:nvSpPr>
        <p:spPr bwMode="auto">
          <a:xfrm>
            <a:off x="457200" y="2006600"/>
            <a:ext cx="812800" cy="838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23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1</a:t>
            </a:r>
            <a:endParaRPr kumimoji="0" lang="en-US" sz="23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21" name="Rectangle 20">
            <a:extLst>
              <a:ext uri="{FF2B5EF4-FFF2-40B4-BE49-F238E27FC236}">
                <a16:creationId xmlns:a16="http://schemas.microsoft.com/office/drawing/2014/main" id="{9EA94E76-1C0E-CD4A-B55C-7F44C1FF98AB}"/>
              </a:ext>
            </a:extLst>
          </p:cNvPr>
          <p:cNvSpPr/>
          <p:nvPr/>
        </p:nvSpPr>
        <p:spPr bwMode="auto">
          <a:xfrm>
            <a:off x="1270000" y="2006600"/>
            <a:ext cx="3302000" cy="8382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nSpc>
                <a:spcPct val="100000"/>
              </a:lnSpc>
              <a:buNone/>
            </a:pPr>
            <a:r>
              <a:rPr lang="en-US" sz="1100" b="1">
                <a:solidFill>
                  <a:srgbClr val="070154"/>
                </a:solidFill>
                <a:latin typeface="Arial"/>
                <a:cs typeface="Arial"/>
              </a:rPr>
              <a:t>Prepare for the agentic future—or fall behind</a:t>
            </a:r>
          </a:p>
        </p:txBody>
      </p:sp>
      <p:sp>
        <p:nvSpPr>
          <p:cNvPr id="22" name="Rectangle 21">
            <a:extLst>
              <a:ext uri="{FF2B5EF4-FFF2-40B4-BE49-F238E27FC236}">
                <a16:creationId xmlns:a16="http://schemas.microsoft.com/office/drawing/2014/main" id="{33C385B1-669C-7F4F-9B9A-CEBE6FEE7A0C}"/>
              </a:ext>
            </a:extLst>
          </p:cNvPr>
          <p:cNvSpPr/>
          <p:nvPr/>
        </p:nvSpPr>
        <p:spPr bwMode="auto">
          <a:xfrm>
            <a:off x="4572000" y="2006600"/>
            <a:ext cx="7162800" cy="838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nSpc>
                <a:spcPct val="100000"/>
              </a:lnSpc>
              <a:buNone/>
            </a:pPr>
            <a:r>
              <a:rPr lang="en-US" sz="1050">
                <a:solidFill>
                  <a:srgbClr val="10006B"/>
                </a:solidFill>
                <a:latin typeface="Arial"/>
                <a:cs typeface="Arial"/>
              </a:rPr>
              <a:t>Delay creates four compounding risks: moat erosion by AI-native disruptors; structural cost disadvantage as competitors automate operations; slower innovation; and loss of relevance in agent-led ecosystems.</a:t>
            </a:r>
          </a:p>
        </p:txBody>
      </p:sp>
      <p:sp>
        <p:nvSpPr>
          <p:cNvPr id="23" name="Rectangle 22">
            <a:extLst>
              <a:ext uri="{FF2B5EF4-FFF2-40B4-BE49-F238E27FC236}">
                <a16:creationId xmlns:a16="http://schemas.microsoft.com/office/drawing/2014/main" id="{CED90AEA-7D23-4F4B-B4B9-97F98B7386AB}"/>
              </a:ext>
            </a:extLst>
          </p:cNvPr>
          <p:cNvSpPr/>
          <p:nvPr/>
        </p:nvSpPr>
        <p:spPr bwMode="auto">
          <a:xfrm>
            <a:off x="457200" y="2946400"/>
            <a:ext cx="812800" cy="838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23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2</a:t>
            </a:r>
            <a:endParaRPr kumimoji="0" lang="en-US" sz="23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24" name="Rectangle 23">
            <a:extLst>
              <a:ext uri="{FF2B5EF4-FFF2-40B4-BE49-F238E27FC236}">
                <a16:creationId xmlns:a16="http://schemas.microsoft.com/office/drawing/2014/main" id="{70B67C46-052E-FB4F-96E0-28EB366AA5D9}"/>
              </a:ext>
            </a:extLst>
          </p:cNvPr>
          <p:cNvSpPr/>
          <p:nvPr/>
        </p:nvSpPr>
        <p:spPr bwMode="auto">
          <a:xfrm>
            <a:off x="1270000" y="2946400"/>
            <a:ext cx="3302000" cy="8382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nSpc>
                <a:spcPct val="100000"/>
              </a:lnSpc>
              <a:buNone/>
            </a:pPr>
            <a:r>
              <a:rPr lang="en-US" sz="1100" b="1" dirty="0">
                <a:solidFill>
                  <a:srgbClr val="070154"/>
                </a:solidFill>
                <a:latin typeface="Arial"/>
                <a:cs typeface="Arial"/>
              </a:rPr>
              <a:t>Start with the value thesis, not the technology path</a:t>
            </a:r>
          </a:p>
        </p:txBody>
      </p:sp>
      <p:sp>
        <p:nvSpPr>
          <p:cNvPr id="25" name="Rectangle 24">
            <a:extLst>
              <a:ext uri="{FF2B5EF4-FFF2-40B4-BE49-F238E27FC236}">
                <a16:creationId xmlns:a16="http://schemas.microsoft.com/office/drawing/2014/main" id="{A6E766AE-0295-924A-9802-C1C526ACC57A}"/>
              </a:ext>
            </a:extLst>
          </p:cNvPr>
          <p:cNvSpPr/>
          <p:nvPr/>
        </p:nvSpPr>
        <p:spPr bwMode="auto">
          <a:xfrm>
            <a:off x="4572000" y="2946400"/>
            <a:ext cx="7162800" cy="838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nSpc>
                <a:spcPct val="100000"/>
              </a:lnSpc>
              <a:buNone/>
            </a:pPr>
            <a:r>
              <a:rPr lang="en-US" sz="1050">
                <a:solidFill>
                  <a:srgbClr val="10006B"/>
                </a:solidFill>
                <a:latin typeface="Arial"/>
                <a:cs typeface="Arial"/>
              </a:rPr>
              <a:t>Treat modernization as an investment thesis tied to strategic advantage, measurable outcomes, lifecycle economics, resilience, and the cost of inaction.</a:t>
            </a:r>
          </a:p>
        </p:txBody>
      </p:sp>
      <p:sp>
        <p:nvSpPr>
          <p:cNvPr id="26" name="Rectangle 25">
            <a:extLst>
              <a:ext uri="{FF2B5EF4-FFF2-40B4-BE49-F238E27FC236}">
                <a16:creationId xmlns:a16="http://schemas.microsoft.com/office/drawing/2014/main" id="{3FED94EA-9CFC-964E-8F38-076CBC8BF5E0}"/>
              </a:ext>
            </a:extLst>
          </p:cNvPr>
          <p:cNvSpPr/>
          <p:nvPr/>
        </p:nvSpPr>
        <p:spPr bwMode="auto">
          <a:xfrm>
            <a:off x="457200" y="3886200"/>
            <a:ext cx="812800" cy="838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23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3</a:t>
            </a:r>
            <a:endParaRPr kumimoji="0" lang="en-US" sz="23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27" name="Rectangle 26">
            <a:extLst>
              <a:ext uri="{FF2B5EF4-FFF2-40B4-BE49-F238E27FC236}">
                <a16:creationId xmlns:a16="http://schemas.microsoft.com/office/drawing/2014/main" id="{7BC67D17-9BC6-564F-AA23-F1CF51911F60}"/>
              </a:ext>
            </a:extLst>
          </p:cNvPr>
          <p:cNvSpPr/>
          <p:nvPr/>
        </p:nvSpPr>
        <p:spPr bwMode="auto">
          <a:xfrm>
            <a:off x="1270000" y="3886200"/>
            <a:ext cx="3302000" cy="8382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nSpc>
                <a:spcPct val="100000"/>
              </a:lnSpc>
              <a:buNone/>
            </a:pPr>
            <a:r>
              <a:rPr lang="en-US" sz="1100" b="1" dirty="0">
                <a:solidFill>
                  <a:srgbClr val="070154"/>
                </a:solidFill>
                <a:latin typeface="Arial"/>
                <a:cs typeface="Arial"/>
              </a:rPr>
              <a:t>Compress understanding before committing the path</a:t>
            </a:r>
          </a:p>
        </p:txBody>
      </p:sp>
      <p:sp>
        <p:nvSpPr>
          <p:cNvPr id="28" name="Rectangle 27">
            <a:extLst>
              <a:ext uri="{FF2B5EF4-FFF2-40B4-BE49-F238E27FC236}">
                <a16:creationId xmlns:a16="http://schemas.microsoft.com/office/drawing/2014/main" id="{664DCB9D-D0D7-DF48-BF24-AED16B2D049E}"/>
              </a:ext>
            </a:extLst>
          </p:cNvPr>
          <p:cNvSpPr/>
          <p:nvPr/>
        </p:nvSpPr>
        <p:spPr bwMode="auto">
          <a:xfrm>
            <a:off x="4572000" y="3886200"/>
            <a:ext cx="7162800" cy="838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nSpc>
                <a:spcPct val="100000"/>
              </a:lnSpc>
              <a:buNone/>
            </a:pPr>
            <a:r>
              <a:rPr lang="en-US" sz="1050">
                <a:solidFill>
                  <a:srgbClr val="10006B"/>
                </a:solidFill>
                <a:latin typeface="Arial"/>
                <a:cs typeface="Arial"/>
              </a:rPr>
              <a:t>Surface undocumented code, hidden dependencies, knowledge gaps, and business–technology misalignment to decide what to modernize, how, and in what order.</a:t>
            </a:r>
          </a:p>
        </p:txBody>
      </p:sp>
      <p:sp>
        <p:nvSpPr>
          <p:cNvPr id="2" name="TextBox 1">
            <a:extLst>
              <a:ext uri="{FF2B5EF4-FFF2-40B4-BE49-F238E27FC236}">
                <a16:creationId xmlns:a16="http://schemas.microsoft.com/office/drawing/2014/main" id="{6FB3D0B0-E69F-4B48-BBF6-CF5E76184481}"/>
              </a:ext>
            </a:extLst>
          </p:cNvPr>
          <p:cNvSpPr txBox="1"/>
          <p:nvPr/>
        </p:nvSpPr>
        <p:spPr>
          <a:xfrm>
            <a:off x="4321048" y="6400800"/>
            <a:ext cx="7102856" cy="167894"/>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600">
                <a:solidFill>
                  <a:srgbClr val="10006B"/>
                </a:solidFill>
                <a:latin typeface="Arial"/>
                <a:cs typeface="Arial"/>
              </a:rPr>
              <a:t>© 2026 West Monroe Partners | Reproduction and/or distribution without West Monroe Partners’ prior consent is prohibited.</a:t>
            </a:r>
            <a:endParaRPr lang="en-US" sz="600" dirty="0">
              <a:solidFill>
                <a:srgbClr val="10006B"/>
              </a:solidFill>
              <a:latin typeface="Arial"/>
              <a:cs typeface="Arial"/>
            </a:endParaRPr>
          </a:p>
        </p:txBody>
      </p:sp>
      <p:sp>
        <p:nvSpPr>
          <p:cNvPr id="3" name="TextBox 2">
            <a:extLst>
              <a:ext uri="{FF2B5EF4-FFF2-40B4-BE49-F238E27FC236}">
                <a16:creationId xmlns:a16="http://schemas.microsoft.com/office/drawing/2014/main" id="{40429C0F-BC9B-E642-9440-A0686877909D}"/>
              </a:ext>
            </a:extLst>
          </p:cNvPr>
          <p:cNvSpPr txBox="1"/>
          <p:nvPr/>
        </p:nvSpPr>
        <p:spPr>
          <a:xfrm>
            <a:off x="11509629" y="6400800"/>
            <a:ext cx="218821" cy="167894"/>
          </a:xfrm>
          <a:prstGeom prst="rect">
            <a:avLst/>
          </a:prstGeom>
          <a:noFill/>
          <a:ln>
            <a:noFill/>
          </a:ln>
        </p:spPr>
        <p:txBody>
          <a:bodyPr vertOverflow="overflow" vert="horz" wrap="square" lIns="0" tIns="0" rIns="0" bIns="0" rtlCol="0" anchor="ctr" anchorCtr="0">
            <a:spAutoFit/>
          </a:bodyPr>
          <a:lstStyle/>
          <a:p>
            <a:pPr marL="0" indent="0" algn="l">
              <a:spcAft>
                <a:spcPts val="600"/>
              </a:spcAft>
              <a:tabLst/>
            </a:pPr>
            <a:r>
              <a:rPr lang="en-US" sz="600">
                <a:solidFill>
                  <a:srgbClr val="10006B"/>
                </a:solidFill>
                <a:latin typeface="Arial"/>
                <a:cs typeface="Arial"/>
              </a:rPr>
              <a:t>10</a:t>
            </a:r>
            <a:endParaRPr lang="en-US" sz="600" dirty="0">
              <a:solidFill>
                <a:srgbClr val="10006B"/>
              </a:solidFill>
              <a:latin typeface="Arial"/>
              <a:cs typeface="Arial"/>
            </a:endParaRPr>
          </a:p>
        </p:txBody>
      </p:sp>
      <p:sp>
        <p:nvSpPr>
          <p:cNvPr id="4" name="Modernization Principle 4 Number">
            <a:extLst>
              <a:ext uri="{FF2B5EF4-FFF2-40B4-BE49-F238E27FC236}">
                <a16:creationId xmlns:a16="http://schemas.microsoft.com/office/drawing/2014/main" id="{73E1A1A6-AAA3-F84B-993E-15B2572DA544}"/>
              </a:ext>
            </a:extLst>
          </p:cNvPr>
          <p:cNvSpPr/>
          <p:nvPr/>
        </p:nvSpPr>
        <p:spPr bwMode="auto">
          <a:xfrm>
            <a:off x="457200" y="4826000"/>
            <a:ext cx="812800" cy="838200"/>
          </a:xfrm>
          <a:prstGeom prst="rect">
            <a:avLst/>
          </a:prstGeom>
          <a:solidFill>
            <a:srgbClr val="10006B"/>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2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4</a:t>
            </a:r>
            <a:endParaRPr kumimoji="0" lang="en-US" sz="2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6" name="Modernization Principle 4 Heading">
            <a:extLst>
              <a:ext uri="{FF2B5EF4-FFF2-40B4-BE49-F238E27FC236}">
                <a16:creationId xmlns:a16="http://schemas.microsoft.com/office/drawing/2014/main" id="{E48B8437-F9F6-BB4A-9CFA-D34E9B3F59E9}"/>
              </a:ext>
            </a:extLst>
          </p:cNvPr>
          <p:cNvSpPr/>
          <p:nvPr/>
        </p:nvSpPr>
        <p:spPr bwMode="auto">
          <a:xfrm>
            <a:off x="1270000" y="4826000"/>
            <a:ext cx="3302000" cy="8382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nSpc>
                <a:spcPct val="100000"/>
              </a:lnSpc>
              <a:buNone/>
            </a:pPr>
            <a:r>
              <a:rPr lang="en-US" sz="1100" b="1" dirty="0">
                <a:solidFill>
                  <a:srgbClr val="070154"/>
                </a:solidFill>
                <a:latin typeface="Arial"/>
                <a:cs typeface="Arial"/>
              </a:rPr>
              <a:t>Rearchitect selectively and realize value continuously</a:t>
            </a:r>
          </a:p>
        </p:txBody>
      </p:sp>
      <p:sp>
        <p:nvSpPr>
          <p:cNvPr id="7" name="Modernization Principle 4 Proof">
            <a:extLst>
              <a:ext uri="{FF2B5EF4-FFF2-40B4-BE49-F238E27FC236}">
                <a16:creationId xmlns:a16="http://schemas.microsoft.com/office/drawing/2014/main" id="{139DE5FB-E450-8C4C-8A2E-7FC751138901}"/>
              </a:ext>
            </a:extLst>
          </p:cNvPr>
          <p:cNvSpPr/>
          <p:nvPr/>
        </p:nvSpPr>
        <p:spPr bwMode="auto">
          <a:xfrm>
            <a:off x="4572000" y="4826000"/>
            <a:ext cx="7162800" cy="838200"/>
          </a:xfrm>
          <a:prstGeom prst="rect">
            <a:avLst/>
          </a:prstGeom>
          <a:solidFill>
            <a:srgbClr val="E7EDF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nSpc>
                <a:spcPct val="100000"/>
              </a:lnSpc>
              <a:buNone/>
            </a:pPr>
            <a:r>
              <a:rPr lang="en-US" sz="1050">
                <a:solidFill>
                  <a:srgbClr val="10006B"/>
                </a:solidFill>
                <a:latin typeface="Arial"/>
                <a:cs typeface="Arial"/>
              </a:rPr>
              <a:t>Avoid lift-and-shift. Sequence by value and risk; redesign business, process, and technology together; measure through adoption and decommissioning.</a:t>
            </a:r>
          </a:p>
        </p:txBody>
      </p:sp>
    </p:spTree>
    <p:custDataLst>
      <p:tags r:id="rId1"/>
    </p:custDataLst>
    <p:extLst>
      <p:ext uri="{BB962C8B-B14F-4D97-AF65-F5344CB8AC3E}">
        <p14:creationId xmlns:p14="http://schemas.microsoft.com/office/powerpoint/2010/main" val="3308876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C5E68AC-5B32-9364-42A4-1FF5204A9F53}"/>
              </a:ext>
            </a:extLst>
          </p:cNvPr>
          <p:cNvSpPr/>
          <p:nvPr/>
        </p:nvSpPr>
        <p:spPr bwMode="auto">
          <a:xfrm>
            <a:off x="460376" y="2948828"/>
            <a:ext cx="7631129" cy="2505456"/>
          </a:xfrm>
          <a:prstGeom prst="rect">
            <a:avLst/>
          </a:prstGeom>
          <a:solidFill>
            <a:schemeClr val="bg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Footer Placeholder 3">
            <a:extLst>
              <a:ext uri="{FF2B5EF4-FFF2-40B4-BE49-F238E27FC236}">
                <a16:creationId xmlns:a16="http://schemas.microsoft.com/office/drawing/2014/main" id="{2C3E5EF0-3BCC-52C0-08FD-61505E0E5E2E}"/>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CAA5B3ED-7C25-EB30-B9C4-0F6113B1A8E2}"/>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15</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14" name="Text Placeholder 11">
            <a:extLst>
              <a:ext uri="{FF2B5EF4-FFF2-40B4-BE49-F238E27FC236}">
                <a16:creationId xmlns:a16="http://schemas.microsoft.com/office/drawing/2014/main" id="{E45037B4-CFA6-17C0-2D82-03C2BF949E8E}"/>
              </a:ext>
            </a:extLst>
          </p:cNvPr>
          <p:cNvSpPr txBox="1">
            <a:spLocks/>
          </p:cNvSpPr>
          <p:nvPr/>
        </p:nvSpPr>
        <p:spPr>
          <a:xfrm>
            <a:off x="465137" y="0"/>
            <a:ext cx="5106989" cy="556953"/>
          </a:xfrm>
          <a:prstGeom prst="rect">
            <a:avLst/>
          </a:prstGeom>
        </p:spPr>
        <p:txBody>
          <a:bodyPr lIns="0" tIns="0" rIns="0" bIns="91440" anchor="b"/>
          <a:ls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1" i="0" u="none" strike="noStrike" kern="1200" cap="none" spc="100" normalizeH="0" baseline="0" noProof="0">
                <a:ln>
                  <a:noFill/>
                </a:ln>
                <a:solidFill>
                  <a:srgbClr val="50658E"/>
                </a:solidFill>
                <a:effectLst/>
                <a:uLnTx/>
                <a:uFillTx/>
                <a:latin typeface="Arial" panose="020B0604020202020204"/>
                <a:ea typeface="+mn-ea"/>
                <a:cs typeface="+mn-cs"/>
              </a:rPr>
              <a:t>SOFTWARE MODERNIZATION</a:t>
            </a:r>
          </a:p>
        </p:txBody>
      </p:sp>
      <p:sp>
        <p:nvSpPr>
          <p:cNvPr id="16" name="Title 4">
            <a:extLst>
              <a:ext uri="{FF2B5EF4-FFF2-40B4-BE49-F238E27FC236}">
                <a16:creationId xmlns:a16="http://schemas.microsoft.com/office/drawing/2014/main" id="{1F5C4EB9-E7F3-13C6-B308-92269FC11EB3}"/>
              </a:ext>
            </a:extLst>
          </p:cNvPr>
          <p:cNvSpPr>
            <a:spLocks noGrp="1"/>
          </p:cNvSpPr>
          <p:nvPr>
            <p:ph type="title"/>
          </p:nvPr>
        </p:nvSpPr>
        <p:spPr>
          <a:xfrm>
            <a:off x="466899" y="1355120"/>
            <a:ext cx="11261550" cy="1204998"/>
          </a:xfrm>
        </p:spPr>
        <p:txBody>
          <a:bodyPr/>
          <a:lstStyle/>
          <a:p>
            <a:r>
              <a:rPr lang="en-US" sz="2400">
                <a:solidFill>
                  <a:schemeClr val="tx1"/>
                </a:solidFill>
              </a:rPr>
              <a:t>With constant AI innovations, software modernization is faster, easier, cheaper, and more necessary than ever before. </a:t>
            </a:r>
            <a:br>
              <a:rPr lang="en-US" sz="2400">
                <a:solidFill>
                  <a:schemeClr val="tx1"/>
                </a:solidFill>
              </a:rPr>
            </a:br>
            <a:br>
              <a:rPr lang="en-US" sz="1600" b="0">
                <a:solidFill>
                  <a:schemeClr val="tx1"/>
                </a:solidFill>
              </a:rPr>
            </a:br>
            <a:r>
              <a:rPr lang="en-US" sz="1600" b="0">
                <a:solidFill>
                  <a:schemeClr val="tx1"/>
                </a:solidFill>
              </a:rPr>
              <a:t>But most organizations don’t understand how to </a:t>
            </a:r>
            <a:r>
              <a:rPr lang="en-US" sz="1600">
                <a:solidFill>
                  <a:schemeClr val="tx2"/>
                </a:solidFill>
              </a:rPr>
              <a:t>capitalize on AI’s value</a:t>
            </a:r>
            <a:r>
              <a:rPr lang="en-US" sz="1600">
                <a:solidFill>
                  <a:schemeClr val="tx1"/>
                </a:solidFill>
              </a:rPr>
              <a:t> </a:t>
            </a:r>
            <a:r>
              <a:rPr lang="en-US" sz="1600" b="0">
                <a:solidFill>
                  <a:schemeClr val="tx1"/>
                </a:solidFill>
              </a:rPr>
              <a:t>in the modernization lifecycle.</a:t>
            </a:r>
          </a:p>
        </p:txBody>
      </p:sp>
      <p:pic>
        <p:nvPicPr>
          <p:cNvPr id="19" name="Graphic 18">
            <a:extLst>
              <a:ext uri="{FF2B5EF4-FFF2-40B4-BE49-F238E27FC236}">
                <a16:creationId xmlns:a16="http://schemas.microsoft.com/office/drawing/2014/main" id="{E51F8722-2736-8A80-2372-25A45EBF95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31490" y="2162430"/>
            <a:ext cx="2174791" cy="843308"/>
          </a:xfrm>
          <a:prstGeom prst="rect">
            <a:avLst/>
          </a:prstGeom>
        </p:spPr>
      </p:pic>
      <p:sp>
        <p:nvSpPr>
          <p:cNvPr id="26" name="TextBox 25">
            <a:extLst>
              <a:ext uri="{FF2B5EF4-FFF2-40B4-BE49-F238E27FC236}">
                <a16:creationId xmlns:a16="http://schemas.microsoft.com/office/drawing/2014/main" id="{79BA1666-82D1-C256-E4D5-8024B06EDF31}"/>
              </a:ext>
            </a:extLst>
          </p:cNvPr>
          <p:cNvSpPr txBox="1"/>
          <p:nvPr/>
        </p:nvSpPr>
        <p:spPr>
          <a:xfrm>
            <a:off x="744560" y="3801460"/>
            <a:ext cx="3086036" cy="1434239"/>
          </a:xfrm>
          <a:prstGeom prst="rect">
            <a:avLst/>
          </a:prstGeom>
          <a:noFill/>
        </p:spPr>
        <p:txBody>
          <a:bodyPr wrap="square" lIns="0" tIns="0" rIns="0" bIns="0">
            <a:spAutoFit/>
          </a:bodyPr>
          <a:lstStyle/>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70154"/>
                </a:solidFill>
                <a:effectLst/>
                <a:uLnTx/>
                <a:uFillTx/>
                <a:latin typeface="Arial" panose="020B0604020202020204"/>
                <a:ea typeface="+mn-ea"/>
                <a:cs typeface="+mn-cs"/>
              </a:rPr>
              <a:t>Legacy Systems Are </a:t>
            </a:r>
            <a:br>
              <a:rPr kumimoji="0" lang="en-US" sz="1400" b="1" i="0" u="none" strike="noStrike" kern="1200" cap="none" spc="0" normalizeH="0" baseline="0" noProof="0">
                <a:ln>
                  <a:noFill/>
                </a:ln>
                <a:solidFill>
                  <a:srgbClr val="070154"/>
                </a:solidFill>
                <a:effectLst/>
                <a:uLnTx/>
                <a:uFillTx/>
                <a:latin typeface="Arial" panose="020B0604020202020204"/>
                <a:ea typeface="+mn-ea"/>
                <a:cs typeface="+mn-cs"/>
              </a:rPr>
            </a:br>
            <a:r>
              <a:rPr kumimoji="0" lang="en-US" sz="1400" b="1" i="0" u="none" strike="noStrike" kern="1200" cap="none" spc="0" normalizeH="0" baseline="0" noProof="0">
                <a:ln>
                  <a:noFill/>
                </a:ln>
                <a:solidFill>
                  <a:srgbClr val="070154"/>
                </a:solidFill>
                <a:effectLst/>
                <a:uLnTx/>
                <a:uFillTx/>
                <a:latin typeface="Arial" panose="020B0604020202020204"/>
                <a:ea typeface="+mn-ea"/>
                <a:cs typeface="+mn-cs"/>
              </a:rPr>
              <a:t>Holding the Business Back</a:t>
            </a:r>
          </a:p>
          <a:p>
            <a:pPr marL="0" marR="0" lvl="0" indent="0" algn="l" defTabSz="914400" rtl="0" eaLnBrk="1" fontAlgn="auto" latinLnBrk="0" hangingPunct="1">
              <a:lnSpc>
                <a:spcPct val="90000"/>
              </a:lnSpc>
              <a:spcBef>
                <a:spcPts val="0"/>
              </a:spcBef>
              <a:spcAft>
                <a:spcPts val="24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70154"/>
                </a:solidFill>
                <a:effectLst/>
                <a:uLnTx/>
                <a:uFillTx/>
                <a:latin typeface="Arial" panose="020B0604020202020204"/>
                <a:ea typeface="+mn-ea"/>
                <a:cs typeface="+mn-cs"/>
              </a:rPr>
              <a:t>Legacy architecture and environments are expensive to maintain, increasingly vulnerable, slowing innovation and time-to-market, and a drag on developer productivity.</a:t>
            </a:r>
          </a:p>
        </p:txBody>
      </p:sp>
      <p:sp>
        <p:nvSpPr>
          <p:cNvPr id="27" name="Rectangle 26">
            <a:extLst>
              <a:ext uri="{FF2B5EF4-FFF2-40B4-BE49-F238E27FC236}">
                <a16:creationId xmlns:a16="http://schemas.microsoft.com/office/drawing/2014/main" id="{A806FDA6-6576-684F-F6AD-4B148CBBB9CA}"/>
              </a:ext>
            </a:extLst>
          </p:cNvPr>
          <p:cNvSpPr/>
          <p:nvPr/>
        </p:nvSpPr>
        <p:spPr bwMode="auto">
          <a:xfrm>
            <a:off x="7726302" y="3549449"/>
            <a:ext cx="2834640" cy="2176272"/>
          </a:xfrm>
          <a:prstGeom prst="rect">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TextBox 27">
            <a:extLst>
              <a:ext uri="{FF2B5EF4-FFF2-40B4-BE49-F238E27FC236}">
                <a16:creationId xmlns:a16="http://schemas.microsoft.com/office/drawing/2014/main" id="{57E3072B-C904-C057-D410-917E29BBE9AE}"/>
              </a:ext>
            </a:extLst>
          </p:cNvPr>
          <p:cNvSpPr txBox="1"/>
          <p:nvPr/>
        </p:nvSpPr>
        <p:spPr>
          <a:xfrm>
            <a:off x="7989307" y="3817239"/>
            <a:ext cx="2337688" cy="1705082"/>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12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F900D3"/>
                </a:solidFill>
                <a:effectLst/>
                <a:uLnTx/>
                <a:uFillTx/>
                <a:latin typeface="Arial" panose="020B0604020202020204"/>
                <a:ea typeface="+mn-ea"/>
                <a:cs typeface="+mn-cs"/>
              </a:rPr>
              <a:t>MOST MODERNIZATIONS FAIL</a:t>
            </a: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4000" b="1" i="0" u="none" strike="noStrike" kern="1200" cap="none" spc="0" normalizeH="0" baseline="0" noProof="0">
                <a:ln>
                  <a:noFill/>
                </a:ln>
                <a:solidFill>
                  <a:srgbClr val="FFFFFF"/>
                </a:solidFill>
                <a:effectLst/>
                <a:uLnTx/>
                <a:uFillTx/>
                <a:latin typeface="Arial" panose="020B0604020202020204"/>
                <a:ea typeface="+mn-ea"/>
                <a:cs typeface="+mn-cs"/>
              </a:rPr>
              <a:t>60-75%</a:t>
            </a: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E8EEF8"/>
                </a:solidFill>
                <a:effectLst/>
                <a:uLnTx/>
                <a:uFillTx/>
                <a:latin typeface="Arial" panose="020B0604020202020204"/>
                <a:ea typeface="+mn-ea"/>
                <a:cs typeface="+mn-cs"/>
              </a:rPr>
              <a:t>of software modernization efforts go over budget or exceed timeline, are partially abandoned or scaled back, and/or deliver less business value than promised.</a:t>
            </a:r>
          </a:p>
        </p:txBody>
      </p:sp>
      <p:grpSp>
        <p:nvGrpSpPr>
          <p:cNvPr id="31" name="Group 30">
            <a:extLst>
              <a:ext uri="{FF2B5EF4-FFF2-40B4-BE49-F238E27FC236}">
                <a16:creationId xmlns:a16="http://schemas.microsoft.com/office/drawing/2014/main" id="{F2FCE84A-CDEB-5644-6831-B775DAA50549}"/>
              </a:ext>
            </a:extLst>
          </p:cNvPr>
          <p:cNvGrpSpPr>
            <a:grpSpLocks noChangeAspect="1"/>
          </p:cNvGrpSpPr>
          <p:nvPr/>
        </p:nvGrpSpPr>
        <p:grpSpPr>
          <a:xfrm rot="20779185">
            <a:off x="7604215" y="3005482"/>
            <a:ext cx="1091512" cy="971236"/>
            <a:chOff x="8529910" y="3097600"/>
            <a:chExt cx="1091512" cy="971236"/>
          </a:xfrm>
        </p:grpSpPr>
        <p:pic>
          <p:nvPicPr>
            <p:cNvPr id="29" name="Graphic 28">
              <a:extLst>
                <a:ext uri="{FF2B5EF4-FFF2-40B4-BE49-F238E27FC236}">
                  <a16:creationId xmlns:a16="http://schemas.microsoft.com/office/drawing/2014/main" id="{AE6ECD25-715B-324E-9E23-DDB8B15FD6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4341159" flipV="1">
              <a:off x="8529910" y="3097600"/>
              <a:ext cx="971236" cy="971236"/>
            </a:xfrm>
            <a:prstGeom prst="rect">
              <a:avLst/>
            </a:prstGeom>
          </p:spPr>
        </p:pic>
        <p:pic>
          <p:nvPicPr>
            <p:cNvPr id="30" name="Graphic 29">
              <a:extLst>
                <a:ext uri="{FF2B5EF4-FFF2-40B4-BE49-F238E27FC236}">
                  <a16:creationId xmlns:a16="http://schemas.microsoft.com/office/drawing/2014/main" id="{44058D77-0EF8-28C5-2703-4B8279ED0630}"/>
                </a:ext>
              </a:extLst>
            </p:cNvPr>
            <p:cNvPicPr>
              <a:picLocks noChangeAspect="1"/>
            </p:cNvPicPr>
            <p:nvPr/>
          </p:nvPicPr>
          <p:blipFill>
            <a:blip>
              <a:extLst>
                <a:ext uri="{96DAC541-7B7A-43D3-8B79-37D633B846F1}">
                  <asvg:svgBlip xmlns:asvg="http://schemas.microsoft.com/office/drawing/2016/SVG/main" r:embed="rId5"/>
                </a:ext>
              </a:extLst>
            </a:blip>
            <a:srcRect l="81699"/>
            <a:stretch>
              <a:fillRect/>
            </a:stretch>
          </p:blipFill>
          <p:spPr>
            <a:xfrm rot="4341159" flipV="1">
              <a:off x="9046931" y="3475674"/>
              <a:ext cx="177746" cy="971236"/>
            </a:xfrm>
            <a:prstGeom prst="rect">
              <a:avLst/>
            </a:prstGeom>
          </p:spPr>
        </p:pic>
      </p:grpSp>
      <p:pic>
        <p:nvPicPr>
          <p:cNvPr id="32" name="Graphic 31">
            <a:extLst>
              <a:ext uri="{FF2B5EF4-FFF2-40B4-BE49-F238E27FC236}">
                <a16:creationId xmlns:a16="http://schemas.microsoft.com/office/drawing/2014/main" id="{408F4889-597A-8374-B217-DEA89071BB9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4559" y="3229628"/>
            <a:ext cx="457200" cy="457200"/>
          </a:xfrm>
          <a:prstGeom prst="rect">
            <a:avLst/>
          </a:prstGeom>
        </p:spPr>
      </p:pic>
      <p:sp>
        <p:nvSpPr>
          <p:cNvPr id="33" name="TextBox 32">
            <a:extLst>
              <a:ext uri="{FF2B5EF4-FFF2-40B4-BE49-F238E27FC236}">
                <a16:creationId xmlns:a16="http://schemas.microsoft.com/office/drawing/2014/main" id="{3E9C0CE3-00C0-8D9D-29A0-2E1841616E58}"/>
              </a:ext>
            </a:extLst>
          </p:cNvPr>
          <p:cNvSpPr txBox="1"/>
          <p:nvPr/>
        </p:nvSpPr>
        <p:spPr>
          <a:xfrm>
            <a:off x="4268706" y="3801460"/>
            <a:ext cx="3008376" cy="1434239"/>
          </a:xfrm>
          <a:prstGeom prst="rect">
            <a:avLst/>
          </a:prstGeom>
          <a:noFill/>
        </p:spPr>
        <p:txBody>
          <a:bodyPr wrap="square" lIns="0" tIns="0" rIns="0" bIns="0">
            <a:spAutoFit/>
          </a:bodyPr>
          <a:lstStyle/>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70154"/>
                </a:solidFill>
                <a:effectLst/>
                <a:uLnTx/>
                <a:uFillTx/>
                <a:latin typeface="Arial" panose="020B0604020202020204"/>
                <a:ea typeface="+mn-ea"/>
                <a:cs typeface="+mn-cs"/>
              </a:rPr>
              <a:t>Most Orgs Don’t Know How to Optimize What They Have</a:t>
            </a:r>
          </a:p>
          <a:p>
            <a:pPr marL="0" marR="0" lvl="0" indent="0" algn="l" defTabSz="914400" rtl="0" eaLnBrk="1" fontAlgn="auto" latinLnBrk="0" hangingPunct="1">
              <a:lnSpc>
                <a:spcPct val="90000"/>
              </a:lnSpc>
              <a:spcBef>
                <a:spcPts val="0"/>
              </a:spcBef>
              <a:spcAft>
                <a:spcPts val="240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70154"/>
                </a:solidFill>
                <a:effectLst/>
                <a:uLnTx/>
                <a:uFillTx/>
                <a:latin typeface="Arial" panose="020B0604020202020204"/>
                <a:ea typeface="+mn-ea"/>
                <a:cs typeface="+mn-cs"/>
              </a:rPr>
              <a:t>The majority of modernization efforts become “lift-and-shift” exercises that replicate the past instead of reimaging systems for AI and rearchitecting them to create future value. </a:t>
            </a:r>
          </a:p>
        </p:txBody>
      </p:sp>
      <p:pic>
        <p:nvPicPr>
          <p:cNvPr id="35" name="Graphic 34">
            <a:extLst>
              <a:ext uri="{FF2B5EF4-FFF2-40B4-BE49-F238E27FC236}">
                <a16:creationId xmlns:a16="http://schemas.microsoft.com/office/drawing/2014/main" id="{27D76FB8-116D-A790-7287-F7A9DC18E6C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68706" y="3229628"/>
            <a:ext cx="457200" cy="457200"/>
          </a:xfrm>
          <a:prstGeom prst="rect">
            <a:avLst/>
          </a:prstGeom>
        </p:spPr>
      </p:pic>
      <p:sp>
        <p:nvSpPr>
          <p:cNvPr id="2" name="Rectangle 1">
            <a:extLst>
              <a:ext uri="{FF2B5EF4-FFF2-40B4-BE49-F238E27FC236}">
                <a16:creationId xmlns:a16="http://schemas.microsoft.com/office/drawing/2014/main" id="{180C3BCC-63C7-E016-BB9F-D085BF738B93}"/>
              </a:ext>
            </a:extLst>
          </p:cNvPr>
          <p:cNvSpPr/>
          <p:nvPr/>
        </p:nvSpPr>
        <p:spPr bwMode="auto">
          <a:xfrm>
            <a:off x="7865823" y="3688970"/>
            <a:ext cx="2834640" cy="2176272"/>
          </a:xfrm>
          <a:prstGeom prst="rect">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3" name="TextBox 2">
            <a:extLst>
              <a:ext uri="{FF2B5EF4-FFF2-40B4-BE49-F238E27FC236}">
                <a16:creationId xmlns:a16="http://schemas.microsoft.com/office/drawing/2014/main" id="{738B78DF-042E-91FE-426C-5F5557A5DFBD}"/>
              </a:ext>
            </a:extLst>
          </p:cNvPr>
          <p:cNvSpPr txBox="1"/>
          <p:nvPr/>
        </p:nvSpPr>
        <p:spPr>
          <a:xfrm>
            <a:off x="8128828" y="3956760"/>
            <a:ext cx="2337688" cy="1705082"/>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12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F900D3"/>
                </a:solidFill>
                <a:effectLst/>
                <a:uLnTx/>
                <a:uFillTx/>
                <a:latin typeface="Arial" panose="020B0604020202020204"/>
                <a:ea typeface="+mn-ea"/>
                <a:cs typeface="+mn-cs"/>
              </a:rPr>
              <a:t>MOST MODERNIZATIONS FAIL</a:t>
            </a: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4000" b="1" i="0" u="none" strike="noStrike" kern="1200" cap="none" spc="0" normalizeH="0" baseline="0" noProof="0">
                <a:ln>
                  <a:noFill/>
                </a:ln>
                <a:solidFill>
                  <a:srgbClr val="FFFFFF"/>
                </a:solidFill>
                <a:effectLst/>
                <a:uLnTx/>
                <a:uFillTx/>
                <a:latin typeface="Arial" panose="020B0604020202020204"/>
                <a:ea typeface="+mn-ea"/>
                <a:cs typeface="+mn-cs"/>
              </a:rPr>
              <a:t>60-75%</a:t>
            </a: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E8EEF8"/>
                </a:solidFill>
                <a:effectLst/>
                <a:uLnTx/>
                <a:uFillTx/>
                <a:latin typeface="Arial" panose="020B0604020202020204"/>
                <a:ea typeface="+mn-ea"/>
                <a:cs typeface="+mn-cs"/>
              </a:rPr>
              <a:t>of software modernization efforts go over budget or exceed timeline, are partially abandoned or scaled back, and/or deliver less business value than promised.</a:t>
            </a:r>
          </a:p>
        </p:txBody>
      </p:sp>
    </p:spTree>
    <p:extLst>
      <p:ext uri="{BB962C8B-B14F-4D97-AF65-F5344CB8AC3E}">
        <p14:creationId xmlns:p14="http://schemas.microsoft.com/office/powerpoint/2010/main" val="2632243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515703-137E-4222-1511-5BA675821CF0}"/>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B930F17A-2116-E417-6E9A-5AB75A961747}"/>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16</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pic>
        <p:nvPicPr>
          <p:cNvPr id="35" name="Picture Placeholder 25">
            <a:extLst>
              <a:ext uri="{FF2B5EF4-FFF2-40B4-BE49-F238E27FC236}">
                <a16:creationId xmlns:a16="http://schemas.microsoft.com/office/drawing/2014/main" id="{221D56A8-671B-6E65-2948-AA74ECC334CE}"/>
              </a:ext>
            </a:extLst>
          </p:cNvPr>
          <p:cNvPicPr>
            <a:picLocks noGrp="1" noChangeAspect="1"/>
          </p:cNvPicPr>
          <p:nvPr>
            <p:ph type="pic" sz="quarter" idx="10"/>
            <p:custDataLst>
              <p:tags r:id="rId1"/>
            </p:custDataLst>
          </p:nvPr>
        </p:nvPicPr>
        <p:blipFill rotWithShape="1">
          <a:blip r:embed="rId3">
            <a:extLst>
              <a:ext uri="{28A0092B-C50C-407E-A947-70E740481C1C}">
                <a14:useLocalDpi xmlns:a14="http://schemas.microsoft.com/office/drawing/2010/main" val="0"/>
              </a:ext>
            </a:extLst>
          </a:blip>
          <a:srcRect t="16376" b="16376"/>
          <a:stretch>
            <a:fillRect/>
          </a:stretch>
        </p:blipFill>
        <p:spPr>
          <a:xfrm>
            <a:off x="460375" y="3961950"/>
            <a:ext cx="1875201" cy="1892030"/>
          </a:xfrm>
        </p:spPr>
      </p:pic>
      <p:sp>
        <p:nvSpPr>
          <p:cNvPr id="5" name="Title 4">
            <a:extLst>
              <a:ext uri="{FF2B5EF4-FFF2-40B4-BE49-F238E27FC236}">
                <a16:creationId xmlns:a16="http://schemas.microsoft.com/office/drawing/2014/main" id="{B5E0EEC8-20FD-33C0-66FB-750D9D75539F}"/>
              </a:ext>
            </a:extLst>
          </p:cNvPr>
          <p:cNvSpPr>
            <a:spLocks noGrp="1"/>
          </p:cNvSpPr>
          <p:nvPr>
            <p:ph type="title"/>
          </p:nvPr>
        </p:nvSpPr>
        <p:spPr>
          <a:xfrm>
            <a:off x="460375" y="556953"/>
            <a:ext cx="5015008" cy="2877711"/>
          </a:xfrm>
        </p:spPr>
        <p:txBody>
          <a:bodyPr wrap="square">
            <a:spAutoFit/>
          </a:bodyPr>
          <a:lstStyle/>
          <a:p>
            <a:r>
              <a:rPr lang="en-US" sz="2400"/>
              <a:t>The longest, riskiest step is understanding what to modernize, how to do it, and in what order.</a:t>
            </a:r>
            <a:br>
              <a:rPr lang="en-US" sz="2400"/>
            </a:br>
            <a:br>
              <a:rPr lang="en-US" sz="1600" b="0"/>
            </a:br>
            <a:r>
              <a:rPr lang="en-US" sz="1600" b="0"/>
              <a:t>Organizations who don’t have the bandwidth or AI expertise often spend months analyzing the current state and then make conservative, suboptimal decisions to avoid risk. </a:t>
            </a:r>
            <a:r>
              <a:rPr lang="en-US" sz="1600">
                <a:solidFill>
                  <a:schemeClr val="tx2"/>
                </a:solidFill>
              </a:rPr>
              <a:t>The result is a slow, expensive program with limited business impact. </a:t>
            </a:r>
            <a:br>
              <a:rPr lang="en-US" sz="1600">
                <a:solidFill>
                  <a:schemeClr val="tx2"/>
                </a:solidFill>
              </a:rPr>
            </a:br>
            <a:endParaRPr lang="en-US" sz="1600">
              <a:solidFill>
                <a:schemeClr val="tx2"/>
              </a:solidFill>
            </a:endParaRPr>
          </a:p>
        </p:txBody>
      </p:sp>
      <p:sp>
        <p:nvSpPr>
          <p:cNvPr id="7" name="Text Placeholder 6">
            <a:extLst>
              <a:ext uri="{FF2B5EF4-FFF2-40B4-BE49-F238E27FC236}">
                <a16:creationId xmlns:a16="http://schemas.microsoft.com/office/drawing/2014/main" id="{DD120A8A-364F-BECA-1B64-B1BA1FD45BC0}"/>
              </a:ext>
            </a:extLst>
          </p:cNvPr>
          <p:cNvSpPr>
            <a:spLocks noGrp="1"/>
          </p:cNvSpPr>
          <p:nvPr>
            <p:ph type="body" sz="quarter" idx="19"/>
          </p:nvPr>
        </p:nvSpPr>
        <p:spPr/>
        <p:txBody>
          <a:bodyPr/>
          <a:lstStyle/>
          <a:p>
            <a:r>
              <a:rPr lang="en-US"/>
              <a:t>SOFTWARE MODERNIZATION</a:t>
            </a:r>
          </a:p>
        </p:txBody>
      </p:sp>
      <p:sp>
        <p:nvSpPr>
          <p:cNvPr id="8" name="Rectangle 7">
            <a:extLst>
              <a:ext uri="{FF2B5EF4-FFF2-40B4-BE49-F238E27FC236}">
                <a16:creationId xmlns:a16="http://schemas.microsoft.com/office/drawing/2014/main" id="{0DE11FCE-2ED4-A0C9-8BBF-80B125B1C123}"/>
              </a:ext>
            </a:extLst>
          </p:cNvPr>
          <p:cNvSpPr/>
          <p:nvPr/>
        </p:nvSpPr>
        <p:spPr bwMode="auto">
          <a:xfrm>
            <a:off x="6449438" y="638979"/>
            <a:ext cx="5742562" cy="3756752"/>
          </a:xfrm>
          <a:prstGeom prst="rect">
            <a:avLst/>
          </a:prstGeom>
          <a:solidFill>
            <a:schemeClr val="accent4"/>
          </a:solidFill>
          <a:ln>
            <a:noFill/>
          </a:ln>
          <a:effectLst/>
        </p:spPr>
        <p:txBody>
          <a:bodyPr rot="0" spcFirstLastPara="0" vertOverflow="overflow" horzOverflow="overflow" vert="horz" wrap="square" lIns="365760" tIns="365760" rIns="365760" bIns="182880" numCol="1" spcCol="0" rtlCol="0" fromWordArt="0" anchor="t" anchorCtr="0" forceAA="0" compatLnSpc="1">
            <a:prstTxWarp prst="textNoShape">
              <a:avLst/>
            </a:prstTxWarp>
            <a:noAutofit/>
          </a:bodyPr>
          <a:lstStyle/>
          <a:p>
            <a:pPr marL="9525" marR="0" lvl="0" indent="0" algn="l" defTabSz="914400" rtl="0" eaLnBrk="1" fontAlgn="auto" latinLnBrk="0" hangingPunct="1">
              <a:lnSpc>
                <a:spcPct val="100000"/>
              </a:lnSpc>
              <a:spcBef>
                <a:spcPts val="0"/>
              </a:spcBef>
              <a:spcAft>
                <a:spcPts val="30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MOST COMMON COMPLICATING FACTORS</a:t>
            </a:r>
            <a:endParaRPr kumimoji="0" lang="en-US" sz="14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a:p>
            <a:pPr marL="627063" marR="0" lvl="0" indent="0" algn="l" defTabSz="914400" rtl="0" eaLnBrk="1" fontAlgn="auto" latinLnBrk="0" hangingPunct="1">
              <a:lnSpc>
                <a:spcPct val="100000"/>
              </a:lnSpc>
              <a:spcBef>
                <a:spcPts val="0"/>
              </a:spcBef>
              <a:spcAft>
                <a:spcPts val="30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Massive, undocumented codebases </a:t>
            </a:r>
          </a:p>
          <a:p>
            <a:pPr marL="627063" marR="0" lvl="0" indent="0" algn="l" defTabSz="914400" rtl="0" eaLnBrk="1" fontAlgn="auto" latinLnBrk="0" hangingPunct="1">
              <a:lnSpc>
                <a:spcPct val="100000"/>
              </a:lnSpc>
              <a:spcBef>
                <a:spcPts val="0"/>
              </a:spcBef>
              <a:spcAft>
                <a:spcPts val="32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Lack of institutional knowledge or understanding </a:t>
            </a:r>
            <a:br>
              <a:rPr kumimoji="0" lang="en-US" sz="14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br>
            <a:r>
              <a:rPr kumimoji="0" lang="en-US" sz="14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of legacy systems</a:t>
            </a:r>
          </a:p>
          <a:p>
            <a:pPr marL="627063" marR="0" lvl="0" indent="0" algn="l" defTabSz="914400" rtl="0" eaLnBrk="1" fontAlgn="auto" latinLnBrk="0" hangingPunct="1">
              <a:lnSpc>
                <a:spcPct val="100000"/>
              </a:lnSpc>
              <a:spcBef>
                <a:spcPts val="0"/>
              </a:spcBef>
              <a:spcAft>
                <a:spcPts val="28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Hidden dependencies and risks </a:t>
            </a:r>
          </a:p>
          <a:p>
            <a:pPr marL="627063" marR="0" lvl="0" indent="0" algn="l" defTabSz="914400" rtl="0" eaLnBrk="1" fontAlgn="auto" latinLnBrk="0" hangingPunct="1">
              <a:lnSpc>
                <a:spcPct val="100000"/>
              </a:lnSpc>
              <a:spcBef>
                <a:spcPts val="0"/>
              </a:spcBef>
              <a:spcAft>
                <a:spcPts val="38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Misalignment between those setting business priorities and those making technical decisions </a:t>
            </a:r>
          </a:p>
        </p:txBody>
      </p:sp>
      <p:pic>
        <p:nvPicPr>
          <p:cNvPr id="9" name="Graphic 8">
            <a:extLst>
              <a:ext uri="{FF2B5EF4-FFF2-40B4-BE49-F238E27FC236}">
                <a16:creationId xmlns:a16="http://schemas.microsoft.com/office/drawing/2014/main" id="{C69D4E2F-67E4-7FEF-F298-77133675B5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33845" y="809993"/>
            <a:ext cx="3176757" cy="753008"/>
          </a:xfrm>
          <a:prstGeom prst="rect">
            <a:avLst/>
          </a:prstGeom>
        </p:spPr>
      </p:pic>
      <p:pic>
        <p:nvPicPr>
          <p:cNvPr id="36" name="Graphic 35">
            <a:extLst>
              <a:ext uri="{FF2B5EF4-FFF2-40B4-BE49-F238E27FC236}">
                <a16:creationId xmlns:a16="http://schemas.microsoft.com/office/drawing/2014/main" id="{53803B6B-1E7B-CB1E-2489-07EE8320F4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16670" y="1449749"/>
            <a:ext cx="457200" cy="457200"/>
          </a:xfrm>
          <a:prstGeom prst="rect">
            <a:avLst/>
          </a:prstGeom>
        </p:spPr>
      </p:pic>
      <p:pic>
        <p:nvPicPr>
          <p:cNvPr id="42" name="Graphic 41">
            <a:extLst>
              <a:ext uri="{FF2B5EF4-FFF2-40B4-BE49-F238E27FC236}">
                <a16:creationId xmlns:a16="http://schemas.microsoft.com/office/drawing/2014/main" id="{19C3AE70-ED47-ED56-41DB-726743B961A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15293" y="2143157"/>
            <a:ext cx="459954" cy="457200"/>
          </a:xfrm>
          <a:prstGeom prst="rect">
            <a:avLst/>
          </a:prstGeom>
        </p:spPr>
      </p:pic>
      <p:pic>
        <p:nvPicPr>
          <p:cNvPr id="43" name="Graphic 42">
            <a:extLst>
              <a:ext uri="{FF2B5EF4-FFF2-40B4-BE49-F238E27FC236}">
                <a16:creationId xmlns:a16="http://schemas.microsoft.com/office/drawing/2014/main" id="{8413AE0A-95EF-4976-B7CD-BC59C722C4D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16670" y="2847582"/>
            <a:ext cx="457200" cy="457200"/>
          </a:xfrm>
          <a:prstGeom prst="rect">
            <a:avLst/>
          </a:prstGeom>
        </p:spPr>
      </p:pic>
      <p:pic>
        <p:nvPicPr>
          <p:cNvPr id="44" name="Graphic 43">
            <a:extLst>
              <a:ext uri="{FF2B5EF4-FFF2-40B4-BE49-F238E27FC236}">
                <a16:creationId xmlns:a16="http://schemas.microsoft.com/office/drawing/2014/main" id="{1E5267D0-8C81-9294-8F4F-F1D1AA32DDC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816670" y="3550187"/>
            <a:ext cx="457200" cy="457200"/>
          </a:xfrm>
          <a:prstGeom prst="rect">
            <a:avLst/>
          </a:prstGeom>
        </p:spPr>
      </p:pic>
      <p:sp>
        <p:nvSpPr>
          <p:cNvPr id="45" name="Rectangle 44">
            <a:extLst>
              <a:ext uri="{FF2B5EF4-FFF2-40B4-BE49-F238E27FC236}">
                <a16:creationId xmlns:a16="http://schemas.microsoft.com/office/drawing/2014/main" id="{215DB093-AB8A-5D05-D67E-821840AEDB6F}"/>
              </a:ext>
            </a:extLst>
          </p:cNvPr>
          <p:cNvSpPr/>
          <p:nvPr/>
        </p:nvSpPr>
        <p:spPr bwMode="auto">
          <a:xfrm>
            <a:off x="7499832" y="4503009"/>
            <a:ext cx="4692168" cy="1467068"/>
          </a:xfrm>
          <a:prstGeom prst="rect">
            <a:avLst/>
          </a:prstGeom>
          <a:solidFill>
            <a:schemeClr val="tx1"/>
          </a:solidFill>
          <a:ln>
            <a:noFill/>
          </a:ln>
          <a:effectLst/>
        </p:spPr>
        <p:txBody>
          <a:bodyPr rot="0" spcFirstLastPara="0" vertOverflow="overflow" horzOverflow="overflow" vert="horz" wrap="square" lIns="182880" tIns="182880" rIns="457200" bIns="182880" numCol="1" spcCol="0" rtlCol="0" fromWordArt="0" anchor="ctr" anchorCtr="0" forceAA="0" compatLnSpc="1">
            <a:prstTxWarp prst="textNoShape">
              <a:avLst/>
            </a:prstTxWarp>
            <a:spAutoFit/>
          </a:bodyPr>
          <a:lstStyle/>
          <a:p>
            <a:pPr marL="9525" marR="0" lvl="0" indent="0" algn="l"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THE KEY TO SUCCESS</a:t>
            </a:r>
          </a:p>
          <a:p>
            <a:pPr marL="9525" marR="0" lvl="0" indent="0" algn="l"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E8EEF8"/>
                </a:solidFill>
                <a:effectLst/>
                <a:uLnTx/>
                <a:uFillTx/>
                <a:latin typeface="Arial" panose="020B0604020202020204"/>
                <a:ea typeface="Roboto" panose="02000000000000000000" pitchFamily="2" charset="0"/>
                <a:cs typeface="Segoe UI" panose="020B0502040204020203" pitchFamily="34" charset="0"/>
              </a:rPr>
              <a:t>That’s why you need </a:t>
            </a:r>
            <a:r>
              <a:rPr kumimoji="0" lang="en-US" sz="1400" b="1"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the right partner</a:t>
            </a:r>
            <a:r>
              <a:rPr kumimoji="0" lang="en-US" sz="1400" b="0" i="0" u="none" strike="noStrike" kern="1200" cap="none" spc="0" normalizeH="0" baseline="0" noProof="0">
                <a:ln>
                  <a:noFill/>
                </a:ln>
                <a:solidFill>
                  <a:srgbClr val="E8EEF8"/>
                </a:solidFill>
                <a:effectLst/>
                <a:uLnTx/>
                <a:uFillTx/>
                <a:latin typeface="Arial" panose="020B0604020202020204"/>
                <a:ea typeface="Roboto" panose="02000000000000000000" pitchFamily="2" charset="0"/>
                <a:cs typeface="Segoe UI" panose="020B0502040204020203" pitchFamily="34" charset="0"/>
              </a:rPr>
              <a:t>—one that can help you compress and improve understanding to unlock speed, confidence, and better decision-making across the modernization lifecycle.</a:t>
            </a:r>
          </a:p>
        </p:txBody>
      </p:sp>
      <p:pic>
        <p:nvPicPr>
          <p:cNvPr id="46" name="Graphic 45">
            <a:extLst>
              <a:ext uri="{FF2B5EF4-FFF2-40B4-BE49-F238E27FC236}">
                <a16:creationId xmlns:a16="http://schemas.microsoft.com/office/drawing/2014/main" id="{C9E09717-B361-3DC2-71DD-63E1B5B04B4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74266" y="4106246"/>
            <a:ext cx="908448" cy="908448"/>
          </a:xfrm>
          <a:prstGeom prst="rect">
            <a:avLst/>
          </a:prstGeom>
        </p:spPr>
      </p:pic>
      <p:sp>
        <p:nvSpPr>
          <p:cNvPr id="4" name="Rectangle 3">
            <a:extLst>
              <a:ext uri="{FF2B5EF4-FFF2-40B4-BE49-F238E27FC236}">
                <a16:creationId xmlns:a16="http://schemas.microsoft.com/office/drawing/2014/main" id="{BC14142A-D296-4B9B-60EE-F44DB3224915}"/>
              </a:ext>
            </a:extLst>
          </p:cNvPr>
          <p:cNvSpPr/>
          <p:nvPr/>
        </p:nvSpPr>
        <p:spPr bwMode="auto">
          <a:xfrm>
            <a:off x="10629089" y="175098"/>
            <a:ext cx="1206230" cy="1193259"/>
          </a:xfrm>
          <a:prstGeom prst="rect">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rPr>
              <a:t>Needs some business language</a:t>
            </a:r>
          </a:p>
        </p:txBody>
      </p:sp>
    </p:spTree>
    <p:extLst>
      <p:ext uri="{BB962C8B-B14F-4D97-AF65-F5344CB8AC3E}">
        <p14:creationId xmlns:p14="http://schemas.microsoft.com/office/powerpoint/2010/main" val="2443855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rrow: Pentagon 4">
            <a:extLst>
              <a:ext uri="{FF2B5EF4-FFF2-40B4-BE49-F238E27FC236}">
                <a16:creationId xmlns:a16="http://schemas.microsoft.com/office/drawing/2014/main" id="{85B91DE0-E55B-6D9B-2EED-6D73A071FFA5}"/>
              </a:ext>
            </a:extLst>
          </p:cNvPr>
          <p:cNvSpPr/>
          <p:nvPr/>
        </p:nvSpPr>
        <p:spPr bwMode="auto">
          <a:xfrm>
            <a:off x="5225144" y="4933268"/>
            <a:ext cx="6966856" cy="871149"/>
          </a:xfrm>
          <a:prstGeom prst="homePlate">
            <a:avLst>
              <a:gd name="adj" fmla="val 0"/>
            </a:avLst>
          </a:prstGeom>
          <a:solidFill>
            <a:schemeClr val="tx1"/>
          </a:solidFill>
          <a:ln>
            <a:noFill/>
          </a:ln>
          <a:effectLst/>
        </p:spPr>
        <p:txBody>
          <a:bodyPr rot="0" spcFirstLastPara="0" vertOverflow="overflow" horzOverflow="overflow" vert="horz" wrap="square" lIns="182880" tIns="182880" rIns="457200" bIns="182880" numCol="1" spcCol="0" rtlCol="0" fromWordArt="0" anchor="ctr" anchorCtr="0" forceAA="0" compatLnSpc="1">
            <a:prstTxWarp prst="textNoShape">
              <a:avLst/>
            </a:prstTxWarp>
            <a:noAutofit/>
          </a:bodyPr>
          <a:lstStyle/>
          <a:p>
            <a:pPr marL="9525" marR="0" lvl="0" indent="0" algn="l"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And critically, the right partner will leverage </a:t>
            </a:r>
            <a:r>
              <a:rPr kumimoji="0" lang="en-US" sz="1600" b="1" i="0" u="none" strike="noStrike" kern="1200" cap="none"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an adaptable approach, </a:t>
            </a:r>
            <a:r>
              <a:rPr kumimoji="0" lang="en-US" sz="16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not a one-size-fits-all methodology.</a:t>
            </a:r>
          </a:p>
        </p:txBody>
      </p:sp>
      <p:sp>
        <p:nvSpPr>
          <p:cNvPr id="2" name="Footer Placeholder 1">
            <a:extLst>
              <a:ext uri="{FF2B5EF4-FFF2-40B4-BE49-F238E27FC236}">
                <a16:creationId xmlns:a16="http://schemas.microsoft.com/office/drawing/2014/main" id="{E4D7D91B-99D9-1CAE-16B4-FB8BF0ACB64E}"/>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77997F40-A3E8-1A9A-B598-FA461B5DE3EF}"/>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17</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8" name="Title 7">
            <a:extLst>
              <a:ext uri="{FF2B5EF4-FFF2-40B4-BE49-F238E27FC236}">
                <a16:creationId xmlns:a16="http://schemas.microsoft.com/office/drawing/2014/main" id="{7DD9D13F-AB5E-4296-211C-038FA198F4AD}"/>
              </a:ext>
            </a:extLst>
          </p:cNvPr>
          <p:cNvSpPr>
            <a:spLocks noGrp="1"/>
          </p:cNvSpPr>
          <p:nvPr>
            <p:ph type="title"/>
          </p:nvPr>
        </p:nvSpPr>
        <p:spPr>
          <a:xfrm>
            <a:off x="5225143" y="784849"/>
            <a:ext cx="6503306" cy="1520675"/>
          </a:xfrm>
        </p:spPr>
        <p:txBody>
          <a:bodyPr/>
          <a:lstStyle/>
          <a:p>
            <a:r>
              <a:rPr lang="en-US" sz="2400"/>
              <a:t>You don’t need another re-platforming vendor. You need a partner that understands this effort is more than an IT renovation. </a:t>
            </a:r>
            <a:br>
              <a:rPr lang="en-US" sz="2400"/>
            </a:br>
            <a:r>
              <a:rPr lang="en-US" sz="2400"/>
              <a:t>It’s a </a:t>
            </a:r>
            <a:r>
              <a:rPr lang="en-US" sz="2400">
                <a:solidFill>
                  <a:schemeClr val="tx2"/>
                </a:solidFill>
              </a:rPr>
              <a:t>business transformation.</a:t>
            </a:r>
          </a:p>
        </p:txBody>
      </p:sp>
      <p:pic>
        <p:nvPicPr>
          <p:cNvPr id="26" name="Picture Placeholder 15">
            <a:extLst>
              <a:ext uri="{FF2B5EF4-FFF2-40B4-BE49-F238E27FC236}">
                <a16:creationId xmlns:a16="http://schemas.microsoft.com/office/drawing/2014/main" id="{CE482DE7-C5EB-72BE-EE2B-DBD8DC4AA55E}"/>
              </a:ext>
            </a:extLst>
          </p:cNvPr>
          <p:cNvPicPr>
            <a:picLocks noGrp="1" noChangeAspect="1"/>
          </p:cNvPicPr>
          <p:nvPr>
            <p:ph type="pic" sz="quarter" idx="10"/>
            <p:custDataLst>
              <p:tags r:id="rId1"/>
            </p:custDataLst>
          </p:nvPr>
        </p:nvPicPr>
        <p:blipFill rotWithShape="1">
          <a:blip r:embed="rId3">
            <a:extLst>
              <a:ext uri="{28A0092B-C50C-407E-A947-70E740481C1C}">
                <a14:useLocalDpi xmlns:a14="http://schemas.microsoft.com/office/drawing/2010/main" val="0"/>
              </a:ext>
            </a:extLst>
          </a:blip>
          <a:srcRect l="16650" r="16650"/>
          <a:stretch>
            <a:fillRect/>
          </a:stretch>
        </p:blipFill>
        <p:spPr>
          <a:xfrm flipH="1">
            <a:off x="902923" y="883478"/>
            <a:ext cx="3730038" cy="3730040"/>
          </a:xfrm>
          <a:ln>
            <a:solidFill>
              <a:schemeClr val="accent4"/>
            </a:solidFill>
          </a:ln>
        </p:spPr>
      </p:pic>
      <p:sp>
        <p:nvSpPr>
          <p:cNvPr id="10" name="Text Placeholder 9">
            <a:extLst>
              <a:ext uri="{FF2B5EF4-FFF2-40B4-BE49-F238E27FC236}">
                <a16:creationId xmlns:a16="http://schemas.microsoft.com/office/drawing/2014/main" id="{963E4576-BCA7-5E08-F8A5-52782E4BE65D}"/>
              </a:ext>
            </a:extLst>
          </p:cNvPr>
          <p:cNvSpPr txBox="1">
            <a:spLocks/>
          </p:cNvSpPr>
          <p:nvPr/>
        </p:nvSpPr>
        <p:spPr>
          <a:xfrm>
            <a:off x="465137" y="0"/>
            <a:ext cx="5106989" cy="556953"/>
          </a:xfrm>
          <a:prstGeom prst="rect">
            <a:avLst/>
          </a:prstGeom>
        </p:spPr>
        <p:txBody>
          <a:bodyPr lIns="0" tIns="0" rIns="0" bIns="91440" anchor="b"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1" i="0" u="none" strike="noStrike" kern="1200" cap="none" spc="100" normalizeH="0" baseline="0" noProof="0">
                <a:ln>
                  <a:noFill/>
                </a:ln>
                <a:solidFill>
                  <a:srgbClr val="50658E"/>
                </a:solidFill>
                <a:effectLst/>
                <a:uLnTx/>
                <a:uFillTx/>
                <a:latin typeface="Arial" panose="020B0604020202020204"/>
                <a:ea typeface="+mn-ea"/>
                <a:cs typeface="+mn-cs"/>
              </a:rPr>
              <a:t>SOFTWARE MODERNIZATION</a:t>
            </a:r>
          </a:p>
        </p:txBody>
      </p:sp>
      <p:pic>
        <p:nvPicPr>
          <p:cNvPr id="6" name="Graphic 5">
            <a:extLst>
              <a:ext uri="{FF2B5EF4-FFF2-40B4-BE49-F238E27FC236}">
                <a16:creationId xmlns:a16="http://schemas.microsoft.com/office/drawing/2014/main" id="{9A126883-28AE-9098-58ED-6FE24D0966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60000">
            <a:off x="5990244" y="1638808"/>
            <a:ext cx="3594053" cy="1267015"/>
          </a:xfrm>
          <a:prstGeom prst="rect">
            <a:avLst/>
          </a:prstGeom>
        </p:spPr>
      </p:pic>
      <p:sp>
        <p:nvSpPr>
          <p:cNvPr id="7" name="TextBox 6">
            <a:extLst>
              <a:ext uri="{FF2B5EF4-FFF2-40B4-BE49-F238E27FC236}">
                <a16:creationId xmlns:a16="http://schemas.microsoft.com/office/drawing/2014/main" id="{86EF01E5-2042-EE2D-1B88-A350876B5B15}"/>
              </a:ext>
            </a:extLst>
          </p:cNvPr>
          <p:cNvSpPr txBox="1"/>
          <p:nvPr/>
        </p:nvSpPr>
        <p:spPr>
          <a:xfrm>
            <a:off x="5225143" y="2761620"/>
            <a:ext cx="3135086" cy="21544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70154"/>
                </a:solidFill>
                <a:effectLst/>
                <a:uLnTx/>
                <a:uFillTx/>
                <a:latin typeface="Arial" panose="020B0604020202020204"/>
                <a:ea typeface="+mn-ea"/>
                <a:cs typeface="+mn-cs"/>
              </a:rPr>
              <a:t>The right partner for you will be able to:</a:t>
            </a:r>
          </a:p>
        </p:txBody>
      </p:sp>
      <p:sp>
        <p:nvSpPr>
          <p:cNvPr id="9" name="TextBox 8">
            <a:extLst>
              <a:ext uri="{FF2B5EF4-FFF2-40B4-BE49-F238E27FC236}">
                <a16:creationId xmlns:a16="http://schemas.microsoft.com/office/drawing/2014/main" id="{809C527F-DB16-1A44-8310-755415AA3082}"/>
              </a:ext>
            </a:extLst>
          </p:cNvPr>
          <p:cNvSpPr txBox="1"/>
          <p:nvPr/>
        </p:nvSpPr>
        <p:spPr>
          <a:xfrm>
            <a:off x="5821678" y="3167632"/>
            <a:ext cx="2656114" cy="43088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70154"/>
                </a:solidFill>
                <a:effectLst/>
                <a:uLnTx/>
                <a:uFillTx/>
                <a:latin typeface="Arial" panose="020B0604020202020204"/>
                <a:ea typeface="+mn-ea"/>
                <a:cs typeface="+mn-cs"/>
              </a:rPr>
              <a:t>Help you understand your current state quickly and accurately</a:t>
            </a:r>
          </a:p>
        </p:txBody>
      </p:sp>
      <p:sp>
        <p:nvSpPr>
          <p:cNvPr id="11" name="TextBox 10">
            <a:extLst>
              <a:ext uri="{FF2B5EF4-FFF2-40B4-BE49-F238E27FC236}">
                <a16:creationId xmlns:a16="http://schemas.microsoft.com/office/drawing/2014/main" id="{526A4B1D-3141-7E06-0AE4-1DEC1EC31067}"/>
              </a:ext>
            </a:extLst>
          </p:cNvPr>
          <p:cNvSpPr txBox="1"/>
          <p:nvPr/>
        </p:nvSpPr>
        <p:spPr>
          <a:xfrm>
            <a:off x="9496696" y="3167632"/>
            <a:ext cx="2231751" cy="43088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70154"/>
                </a:solidFill>
                <a:effectLst/>
                <a:uLnTx/>
                <a:uFillTx/>
                <a:latin typeface="Arial" panose="020B0604020202020204"/>
                <a:ea typeface="+mn-ea"/>
                <a:cs typeface="+mn-cs"/>
              </a:rPr>
              <a:t>Prioritize based on business value, not just tech debt</a:t>
            </a:r>
          </a:p>
        </p:txBody>
      </p:sp>
      <p:sp>
        <p:nvSpPr>
          <p:cNvPr id="16" name="TextBox 15">
            <a:extLst>
              <a:ext uri="{FF2B5EF4-FFF2-40B4-BE49-F238E27FC236}">
                <a16:creationId xmlns:a16="http://schemas.microsoft.com/office/drawing/2014/main" id="{60C37715-3DD6-6986-2320-55611DACB500}"/>
              </a:ext>
            </a:extLst>
          </p:cNvPr>
          <p:cNvSpPr txBox="1"/>
          <p:nvPr/>
        </p:nvSpPr>
        <p:spPr>
          <a:xfrm>
            <a:off x="5821676" y="3848336"/>
            <a:ext cx="2656115" cy="43088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70154"/>
                </a:solidFill>
                <a:effectLst/>
                <a:uLnTx/>
                <a:uFillTx/>
                <a:latin typeface="Arial" panose="020B0604020202020204"/>
                <a:ea typeface="+mn-ea"/>
                <a:cs typeface="+mn-cs"/>
              </a:rPr>
              <a:t>Move iteratively, balancing speed with control to reduce risk</a:t>
            </a:r>
          </a:p>
        </p:txBody>
      </p:sp>
      <p:sp>
        <p:nvSpPr>
          <p:cNvPr id="17" name="TextBox 16">
            <a:extLst>
              <a:ext uri="{FF2B5EF4-FFF2-40B4-BE49-F238E27FC236}">
                <a16:creationId xmlns:a16="http://schemas.microsoft.com/office/drawing/2014/main" id="{D235FD84-7A58-88BA-D3E8-3651835AE92E}"/>
              </a:ext>
            </a:extLst>
          </p:cNvPr>
          <p:cNvSpPr txBox="1"/>
          <p:nvPr/>
        </p:nvSpPr>
        <p:spPr>
          <a:xfrm>
            <a:off x="9496696" y="3848336"/>
            <a:ext cx="2231753" cy="43088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70154"/>
                </a:solidFill>
                <a:effectLst/>
                <a:uLnTx/>
                <a:uFillTx/>
                <a:latin typeface="Arial" panose="020B0604020202020204"/>
                <a:ea typeface="+mn-ea"/>
                <a:cs typeface="+mn-cs"/>
              </a:rPr>
              <a:t>Modernize and build new value simultaneously</a:t>
            </a:r>
          </a:p>
        </p:txBody>
      </p:sp>
      <p:pic>
        <p:nvPicPr>
          <p:cNvPr id="18" name="Graphic 17">
            <a:extLst>
              <a:ext uri="{FF2B5EF4-FFF2-40B4-BE49-F238E27FC236}">
                <a16:creationId xmlns:a16="http://schemas.microsoft.com/office/drawing/2014/main" id="{D9227997-02BB-CBCA-3E60-17DDFB4BB6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25143" y="3154475"/>
            <a:ext cx="457200" cy="457200"/>
          </a:xfrm>
          <a:prstGeom prst="rect">
            <a:avLst/>
          </a:prstGeom>
        </p:spPr>
      </p:pic>
      <p:pic>
        <p:nvPicPr>
          <p:cNvPr id="19" name="Graphic 18">
            <a:extLst>
              <a:ext uri="{FF2B5EF4-FFF2-40B4-BE49-F238E27FC236}">
                <a16:creationId xmlns:a16="http://schemas.microsoft.com/office/drawing/2014/main" id="{F025994B-8E59-A3C3-14C0-8F9ECD1D59E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00058" y="3835179"/>
            <a:ext cx="457200" cy="457200"/>
          </a:xfrm>
          <a:prstGeom prst="rect">
            <a:avLst/>
          </a:prstGeom>
        </p:spPr>
      </p:pic>
      <p:pic>
        <p:nvPicPr>
          <p:cNvPr id="20" name="Graphic 19">
            <a:extLst>
              <a:ext uri="{FF2B5EF4-FFF2-40B4-BE49-F238E27FC236}">
                <a16:creationId xmlns:a16="http://schemas.microsoft.com/office/drawing/2014/main" id="{3A959FB0-3BD5-452C-7932-189BB7506D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00058" y="3154475"/>
            <a:ext cx="457200" cy="457200"/>
          </a:xfrm>
          <a:prstGeom prst="rect">
            <a:avLst/>
          </a:prstGeom>
        </p:spPr>
      </p:pic>
      <p:pic>
        <p:nvPicPr>
          <p:cNvPr id="27" name="Graphic 26">
            <a:extLst>
              <a:ext uri="{FF2B5EF4-FFF2-40B4-BE49-F238E27FC236}">
                <a16:creationId xmlns:a16="http://schemas.microsoft.com/office/drawing/2014/main" id="{0EFCEB10-D731-43E9-D216-F5EBB7EEDEC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225143" y="3835179"/>
            <a:ext cx="454462" cy="457200"/>
          </a:xfrm>
          <a:prstGeom prst="rect">
            <a:avLst/>
          </a:prstGeom>
        </p:spPr>
      </p:pic>
    </p:spTree>
    <p:extLst>
      <p:ext uri="{BB962C8B-B14F-4D97-AF65-F5344CB8AC3E}">
        <p14:creationId xmlns:p14="http://schemas.microsoft.com/office/powerpoint/2010/main" val="1242772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0E0A8-5731-81EE-CD33-AB7398730961}"/>
            </a:ext>
          </a:extLst>
        </p:cNvPr>
        <p:cNvGrpSpPr/>
        <p:nvPr/>
      </p:nvGrpSpPr>
      <p:grpSpPr>
        <a:xfrm>
          <a:off x="0" y="0"/>
          <a:ext cx="0" cy="0"/>
          <a:chOff x="0" y="0"/>
          <a:chExt cx="0" cy="0"/>
        </a:xfrm>
      </p:grpSpPr>
      <p:pic>
        <p:nvPicPr>
          <p:cNvPr id="3" name="Picture 2" descr="A yellow rectangular object with black border&#10;&#10;Description automatically generated">
            <a:extLst>
              <a:ext uri="{FF2B5EF4-FFF2-40B4-BE49-F238E27FC236}">
                <a16:creationId xmlns:a16="http://schemas.microsoft.com/office/drawing/2014/main" id="{29F5A890-4305-3AE4-9806-198AFEB2B3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60000">
            <a:off x="7545906" y="567444"/>
            <a:ext cx="4060671" cy="435736"/>
          </a:xfrm>
          <a:prstGeom prst="rect">
            <a:avLst/>
          </a:prstGeom>
        </p:spPr>
      </p:pic>
      <p:sp>
        <p:nvSpPr>
          <p:cNvPr id="5" name="Footer Placeholder 4">
            <a:extLst>
              <a:ext uri="{FF2B5EF4-FFF2-40B4-BE49-F238E27FC236}">
                <a16:creationId xmlns:a16="http://schemas.microsoft.com/office/drawing/2014/main" id="{DD8F9138-C244-8043-476D-3AF6A2CDC908}"/>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1DE9F105-E3CB-7806-1703-E987210C0687}"/>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18</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23" name="Text Placeholder 22">
            <a:extLst>
              <a:ext uri="{FF2B5EF4-FFF2-40B4-BE49-F238E27FC236}">
                <a16:creationId xmlns:a16="http://schemas.microsoft.com/office/drawing/2014/main" id="{275734B7-7381-CECE-912F-03C7733250F2}"/>
              </a:ext>
            </a:extLst>
          </p:cNvPr>
          <p:cNvSpPr>
            <a:spLocks noGrp="1"/>
          </p:cNvSpPr>
          <p:nvPr>
            <p:ph type="body" sz="quarter" idx="44"/>
          </p:nvPr>
        </p:nvSpPr>
        <p:spPr/>
        <p:txBody>
          <a:bodyPr/>
          <a:lstStyle/>
          <a:p>
            <a:r>
              <a:rPr lang="en-US"/>
              <a:t>Software Modernization</a:t>
            </a:r>
          </a:p>
        </p:txBody>
      </p:sp>
      <p:sp>
        <p:nvSpPr>
          <p:cNvPr id="2" name="Title 6">
            <a:extLst>
              <a:ext uri="{FF2B5EF4-FFF2-40B4-BE49-F238E27FC236}">
                <a16:creationId xmlns:a16="http://schemas.microsoft.com/office/drawing/2014/main" id="{80B73DD4-C934-F5EF-F00A-4F7865C9E8C9}"/>
              </a:ext>
            </a:extLst>
          </p:cNvPr>
          <p:cNvSpPr txBox="1">
            <a:spLocks/>
          </p:cNvSpPr>
          <p:nvPr/>
        </p:nvSpPr>
        <p:spPr>
          <a:xfrm>
            <a:off x="460371" y="607057"/>
            <a:ext cx="11268078" cy="738664"/>
          </a:xfrm>
          <a:prstGeom prst="rect">
            <a:avLst/>
          </a:prstGeom>
        </p:spPr>
        <p:txBody>
          <a:bodyPr vert="horz" lIns="0" tIns="0" rIns="0" bIns="0" rtlCol="0" anchor="t" anchorCtr="0">
            <a:spAutoFit/>
          </a:bodyPr>
          <a:lstStyle>
            <a:lvl1pPr algn="l" defTabSz="914400" rtl="0" eaLnBrk="1" latinLnBrk="0" hangingPunct="1">
              <a:lnSpc>
                <a:spcPct val="100000"/>
              </a:lnSpc>
              <a:spcBef>
                <a:spcPct val="0"/>
              </a:spcBef>
              <a:buNone/>
              <a:defRPr sz="22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That’s where West Monroe comes in. We offer an AI-powered modernization model that compresses timelines, reduces risk, and increases value.</a:t>
            </a:r>
          </a:p>
        </p:txBody>
      </p:sp>
      <p:sp>
        <p:nvSpPr>
          <p:cNvPr id="10" name="Rectangle 9">
            <a:extLst>
              <a:ext uri="{FF2B5EF4-FFF2-40B4-BE49-F238E27FC236}">
                <a16:creationId xmlns:a16="http://schemas.microsoft.com/office/drawing/2014/main" id="{1AC5C3FE-D2D1-9439-8CBB-A0ED56780FF0}"/>
              </a:ext>
            </a:extLst>
          </p:cNvPr>
          <p:cNvSpPr/>
          <p:nvPr/>
        </p:nvSpPr>
        <p:spPr bwMode="auto">
          <a:xfrm>
            <a:off x="460372" y="1851701"/>
            <a:ext cx="2622796" cy="3045449"/>
          </a:xfrm>
          <a:prstGeom prst="rect">
            <a:avLst/>
          </a:prstGeom>
          <a:solidFill>
            <a:schemeClr val="accent4"/>
          </a:solidFill>
          <a:ln>
            <a:noFill/>
          </a:ln>
          <a:effectLst/>
        </p:spPr>
        <p:txBody>
          <a:bodyPr rot="0" spcFirstLastPara="0" vertOverflow="overflow" horzOverflow="overflow" vert="horz" wrap="square" lIns="137160" tIns="411480" rIns="137160" bIns="182880" numCol="1" spcCol="0" rtlCol="0" fromWordArt="0" anchor="t" anchorCtr="0" forceAA="0" compatLnSpc="1">
            <a:prstTxWarp prst="textNoShape">
              <a:avLst/>
            </a:prstTxWarp>
            <a:spAutoFit/>
          </a:bodyPr>
          <a:lstStyle/>
          <a:p>
            <a:pPr marL="9525" marR="0" lvl="0" indent="0" algn="l" defTabSz="914400" rtl="0" eaLnBrk="1" fontAlgn="auto" latinLnBrk="0" hangingPunct="1">
              <a:lnSpc>
                <a:spcPct val="90000"/>
              </a:lnSpc>
              <a:spcBef>
                <a:spcPts val="0"/>
              </a:spcBef>
              <a:spcAft>
                <a:spcPts val="90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47FF"/>
                </a:solidFill>
                <a:effectLst/>
                <a:uLnTx/>
                <a:uFillTx/>
                <a:latin typeface="Arial" panose="020B0604020202020204"/>
                <a:ea typeface="+mn-ea"/>
                <a:cs typeface="+mn-cs"/>
              </a:rPr>
              <a:t>Value-First, Not Tech-First</a:t>
            </a:r>
          </a:p>
          <a:p>
            <a:pPr marL="118872" marR="0" lvl="0" indent="-118872"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We prioritize business value, not just technical elegance. </a:t>
            </a:r>
          </a:p>
          <a:p>
            <a:pPr marL="118872" marR="0" lvl="0" indent="-118872"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All decisions are made through a value vs. complexity lens. We invest where ROI is highest and risk is manageable.</a:t>
            </a:r>
          </a:p>
          <a:p>
            <a:pPr marL="118872" marR="0" lvl="0" indent="-118872"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Our model is built around a Rationalize → Modernize → Sustain loop, not a one-time program.</a:t>
            </a:r>
          </a:p>
          <a:p>
            <a:pPr marL="118872" marR="0" lvl="0" indent="-118872"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We embed technical debt reduction </a:t>
            </a:r>
            <a:b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b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into ongoing delivery, ensuring modernization continues alongside feature development</a:t>
            </a:r>
          </a:p>
          <a:p>
            <a:pPr marL="0" marR="0" lvl="0" indent="0" algn="l" defTabSz="914400" rtl="0" eaLnBrk="1" fontAlgn="auto" latinLnBrk="0" hangingPunct="1">
              <a:lnSpc>
                <a:spcPct val="90000"/>
              </a:lnSpc>
              <a:spcBef>
                <a:spcPts val="0"/>
              </a:spcBef>
              <a:spcAft>
                <a:spcPts val="1200"/>
              </a:spcAft>
              <a:buClrTx/>
              <a:buSzTx/>
              <a:buFont typeface="Arial" panose="020B0604020202020204" pitchFamily="34" charset="0"/>
              <a:buNone/>
              <a:tabLst/>
              <a:defRPr/>
            </a:pPr>
            <a:endParaRPr kumimoji="0" lang="en-US" sz="12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Rectangle 10">
            <a:extLst>
              <a:ext uri="{FF2B5EF4-FFF2-40B4-BE49-F238E27FC236}">
                <a16:creationId xmlns:a16="http://schemas.microsoft.com/office/drawing/2014/main" id="{162358C0-6A79-3AAF-09FD-32A7F51850B1}"/>
              </a:ext>
            </a:extLst>
          </p:cNvPr>
          <p:cNvSpPr>
            <a:spLocks noChangeAspect="1"/>
          </p:cNvSpPr>
          <p:nvPr/>
        </p:nvSpPr>
        <p:spPr bwMode="auto">
          <a:xfrm>
            <a:off x="643244" y="1578409"/>
            <a:ext cx="548640" cy="548640"/>
          </a:xfrm>
          <a:prstGeom prst="rect">
            <a:avLst/>
          </a:prstGeom>
          <a:solidFill>
            <a:schemeClr val="bg1"/>
          </a:solidFill>
          <a:ln w="38100" cap="sq">
            <a:solidFill>
              <a:schemeClr val="bg1"/>
            </a:solidFill>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0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
        <p:nvSpPr>
          <p:cNvPr id="16" name="Rectangle 15">
            <a:extLst>
              <a:ext uri="{FF2B5EF4-FFF2-40B4-BE49-F238E27FC236}">
                <a16:creationId xmlns:a16="http://schemas.microsoft.com/office/drawing/2014/main" id="{F72D235D-A6DD-949F-56EF-3BF434078221}"/>
              </a:ext>
            </a:extLst>
          </p:cNvPr>
          <p:cNvSpPr/>
          <p:nvPr/>
        </p:nvSpPr>
        <p:spPr bwMode="auto">
          <a:xfrm>
            <a:off x="6223893" y="1851701"/>
            <a:ext cx="2622796" cy="3045449"/>
          </a:xfrm>
          <a:prstGeom prst="rect">
            <a:avLst/>
          </a:prstGeom>
          <a:solidFill>
            <a:schemeClr val="accent4"/>
          </a:solidFill>
          <a:ln>
            <a:noFill/>
          </a:ln>
          <a:effectLst/>
        </p:spPr>
        <p:txBody>
          <a:bodyPr rot="0" spcFirstLastPara="0" vertOverflow="overflow" horzOverflow="overflow" vert="horz" wrap="square" lIns="137160" tIns="411480" rIns="137160" bIns="182880" numCol="1" spcCol="0" rtlCol="0" fromWordArt="0" anchor="t" anchorCtr="0" forceAA="0" compatLnSpc="1">
            <a:prstTxWarp prst="textNoShape">
              <a:avLst/>
            </a:prstTxWarp>
            <a:noAutofit/>
          </a:bodyPr>
          <a:lstStyle/>
          <a:p>
            <a:pPr marL="9525" marR="0" lvl="0" indent="0" algn="l" defTabSz="914400" rtl="0" eaLnBrk="1" fontAlgn="auto" latinLnBrk="0" hangingPunct="1">
              <a:lnSpc>
                <a:spcPct val="90000"/>
              </a:lnSpc>
              <a:spcBef>
                <a:spcPts val="0"/>
              </a:spcBef>
              <a:spcAft>
                <a:spcPts val="90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47FF"/>
                </a:solidFill>
                <a:effectLst/>
                <a:uLnTx/>
                <a:uFillTx/>
                <a:latin typeface="Arial" panose="020B0604020202020204"/>
                <a:ea typeface="+mn-ea"/>
                <a:cs typeface="+mn-cs"/>
              </a:rPr>
              <a:t>AI-Accelerated Delivery</a:t>
            </a:r>
          </a:p>
          <a:p>
            <a:pPr marL="118872" marR="0" lvl="0" indent="-118872"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Our proprietary asset, Intellio</a:t>
            </a:r>
            <a:r>
              <a:rPr kumimoji="0" lang="en-US" sz="1000" b="0" i="0" u="none" strike="noStrike" kern="1200" cap="none" spc="0" normalizeH="0" baseline="30000" noProof="0">
                <a:ln>
                  <a:noFill/>
                </a:ln>
                <a:solidFill>
                  <a:srgbClr val="070154"/>
                </a:solidFill>
                <a:effectLst/>
                <a:uLnTx/>
                <a:uFillTx/>
                <a:latin typeface="Arial" panose="020B0604020202020204"/>
                <a:ea typeface="+mn-ea"/>
                <a:cs typeface="+mn-cs"/>
              </a:rPr>
              <a:t>®</a:t>
            </a: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 Evolve, uses agentic AI to scan, interpret, and contextualize codebases at scale. </a:t>
            </a:r>
          </a:p>
          <a:p>
            <a:pPr marL="118872" marR="0" lvl="0" indent="-118872"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Intellio</a:t>
            </a:r>
            <a:r>
              <a:rPr kumimoji="0" lang="en-US" sz="1000" b="0" i="0" u="none" strike="noStrike" kern="1200" cap="none" spc="0" normalizeH="0" baseline="30000" noProof="0">
                <a:ln>
                  <a:noFill/>
                </a:ln>
                <a:solidFill>
                  <a:srgbClr val="070154"/>
                </a:solidFill>
                <a:effectLst/>
                <a:uLnTx/>
                <a:uFillTx/>
                <a:latin typeface="Arial" panose="020B0604020202020204"/>
                <a:ea typeface="+mn-ea"/>
                <a:cs typeface="+mn-cs"/>
              </a:rPr>
              <a:t>®</a:t>
            </a: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 Evolve centralizes evidence, analysis, and planning—and integrates with developer tools (e.g., GitHub, Jira, CI/CD) to connect insight directly to execution.</a:t>
            </a:r>
          </a:p>
          <a:p>
            <a:pPr marL="118872" marR="0" lvl="0" indent="-118872"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We embed AI across the full lifecycle </a:t>
            </a:r>
            <a:b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b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to accelerate discovery and planning, optimize build, and sustain value. </a:t>
            </a:r>
          </a:p>
        </p:txBody>
      </p:sp>
      <p:sp>
        <p:nvSpPr>
          <p:cNvPr id="17" name="Rectangle 16">
            <a:extLst>
              <a:ext uri="{FF2B5EF4-FFF2-40B4-BE49-F238E27FC236}">
                <a16:creationId xmlns:a16="http://schemas.microsoft.com/office/drawing/2014/main" id="{338C0466-34D2-68ED-39C2-CABAB0025758}"/>
              </a:ext>
            </a:extLst>
          </p:cNvPr>
          <p:cNvSpPr>
            <a:spLocks noChangeAspect="1"/>
          </p:cNvSpPr>
          <p:nvPr/>
        </p:nvSpPr>
        <p:spPr bwMode="auto">
          <a:xfrm>
            <a:off x="6406765" y="1578409"/>
            <a:ext cx="548640" cy="548640"/>
          </a:xfrm>
          <a:prstGeom prst="rect">
            <a:avLst/>
          </a:prstGeom>
          <a:solidFill>
            <a:schemeClr val="bg1"/>
          </a:solidFill>
          <a:ln w="38100" cap="sq">
            <a:solidFill>
              <a:schemeClr val="bg1"/>
            </a:solidFill>
            <a:miter lim="800000"/>
          </a:ln>
          <a:effectLst/>
        </p:spPr>
        <p:txBody>
          <a:bodyPr rot="0" spcFirstLastPara="0" vertOverflow="overflow" horzOverflow="overflow" vert="horz" wrap="square" lIns="91440" tIns="41148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9" name="Rectangle 18">
            <a:extLst>
              <a:ext uri="{FF2B5EF4-FFF2-40B4-BE49-F238E27FC236}">
                <a16:creationId xmlns:a16="http://schemas.microsoft.com/office/drawing/2014/main" id="{8A0A52C0-D56B-108B-0C4D-F629FC628DE8}"/>
              </a:ext>
            </a:extLst>
          </p:cNvPr>
          <p:cNvSpPr/>
          <p:nvPr/>
        </p:nvSpPr>
        <p:spPr bwMode="auto">
          <a:xfrm>
            <a:off x="9105653" y="1851701"/>
            <a:ext cx="2624328" cy="3045449"/>
          </a:xfrm>
          <a:prstGeom prst="rect">
            <a:avLst/>
          </a:prstGeom>
          <a:solidFill>
            <a:schemeClr val="accent4"/>
          </a:solidFill>
          <a:ln>
            <a:noFill/>
          </a:ln>
          <a:effectLst/>
        </p:spPr>
        <p:txBody>
          <a:bodyPr rot="0" spcFirstLastPara="0" vertOverflow="overflow" horzOverflow="overflow" vert="horz" wrap="square" lIns="137160" tIns="411480" rIns="137160" bIns="91440" numCol="1" spcCol="0" rtlCol="0" fromWordArt="0" anchor="t" anchorCtr="0" forceAA="0" compatLnSpc="1">
            <a:prstTxWarp prst="textNoShape">
              <a:avLst/>
            </a:prstTxWarp>
            <a:noAutofit/>
          </a:bodyPr>
          <a:lstStyle/>
          <a:p>
            <a:pPr marL="9525" marR="0" lvl="0" indent="0" algn="l" defTabSz="914400" rtl="0" eaLnBrk="1" fontAlgn="auto" latinLnBrk="0" hangingPunct="1">
              <a:lnSpc>
                <a:spcPct val="90000"/>
              </a:lnSpc>
              <a:spcBef>
                <a:spcPts val="0"/>
              </a:spcBef>
              <a:spcAft>
                <a:spcPts val="90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47FF"/>
                </a:solidFill>
                <a:effectLst/>
                <a:uLnTx/>
                <a:uFillTx/>
                <a:latin typeface="Arial" panose="020B0604020202020204"/>
                <a:ea typeface="+mn-ea"/>
                <a:cs typeface="+mn-cs"/>
              </a:rPr>
              <a:t>Co-Build &amp; Scale</a:t>
            </a:r>
            <a:endParaRPr kumimoji="0" lang="en-US" sz="1400" b="1" i="0" u="none" strike="noStrike" kern="1200" cap="none" spc="0" normalizeH="0" baseline="30000" noProof="0">
              <a:ln>
                <a:noFill/>
              </a:ln>
              <a:solidFill>
                <a:srgbClr val="0047FF"/>
              </a:solidFill>
              <a:effectLst/>
              <a:uLnTx/>
              <a:uFillTx/>
              <a:latin typeface="Arial" panose="020B0604020202020204"/>
              <a:ea typeface="+mn-ea"/>
              <a:cs typeface="+mn-cs"/>
            </a:endParaRPr>
          </a:p>
          <a:p>
            <a:pPr marL="118872" marR="0" lvl="0" indent="-118872"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We embed co-sourced teams to work directly with your stakeholders, operating as a true extension of your team, not a separate delivery arm.</a:t>
            </a:r>
          </a:p>
          <a:p>
            <a:pPr marL="118872" marR="0" lvl="0" indent="-118872" algn="l" defTabSz="914400" rtl="0" eaLnBrk="1" fontAlgn="auto" latinLnBrk="0" hangingPunct="1">
              <a:lnSpc>
                <a:spcPct val="90000"/>
              </a:lnSpc>
              <a:spcBef>
                <a:spcPts val="0"/>
              </a:spcBef>
              <a:spcAft>
                <a:spcPts val="12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We blend onshore and nearshore talent and scale up or down based on program phase and demand</a:t>
            </a:r>
          </a:p>
          <a:p>
            <a:pPr marL="118872" marR="0" lvl="0" indent="-118872" algn="l" defTabSz="914400" rtl="0" eaLnBrk="1" fontAlgn="auto" latinLnBrk="0" hangingPunct="1">
              <a:lnSpc>
                <a:spcPct val="90000"/>
              </a:lnSpc>
              <a:spcBef>
                <a:spcPts val="0"/>
              </a:spcBef>
              <a:spcAft>
                <a:spcPts val="12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We build in knowledge transfer, coaching, and enablement at every stage, so you get long-term capability, not just a delivered solution.</a:t>
            </a:r>
          </a:p>
        </p:txBody>
      </p:sp>
      <p:sp>
        <p:nvSpPr>
          <p:cNvPr id="20" name="Rectangle 19">
            <a:extLst>
              <a:ext uri="{FF2B5EF4-FFF2-40B4-BE49-F238E27FC236}">
                <a16:creationId xmlns:a16="http://schemas.microsoft.com/office/drawing/2014/main" id="{19F23B6E-F1AD-DB6B-6FEF-1EE494D0DA42}"/>
              </a:ext>
            </a:extLst>
          </p:cNvPr>
          <p:cNvSpPr>
            <a:spLocks noChangeAspect="1"/>
          </p:cNvSpPr>
          <p:nvPr/>
        </p:nvSpPr>
        <p:spPr bwMode="auto">
          <a:xfrm>
            <a:off x="9288526" y="1577382"/>
            <a:ext cx="548640" cy="548640"/>
          </a:xfrm>
          <a:prstGeom prst="rect">
            <a:avLst/>
          </a:prstGeom>
          <a:solidFill>
            <a:schemeClr val="bg1"/>
          </a:solidFill>
          <a:ln w="38100" cap="sq">
            <a:solidFill>
              <a:schemeClr val="bg1"/>
            </a:solidFill>
            <a:miter lim="800000"/>
          </a:ln>
          <a:effectLst/>
        </p:spPr>
        <p:txBody>
          <a:bodyPr rot="0" spcFirstLastPara="0" vertOverflow="overflow" horzOverflow="overflow" vert="horz" wrap="square" lIns="91440" tIns="41148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2" name="Rectangle 21">
            <a:extLst>
              <a:ext uri="{FF2B5EF4-FFF2-40B4-BE49-F238E27FC236}">
                <a16:creationId xmlns:a16="http://schemas.microsoft.com/office/drawing/2014/main" id="{9FCC2D3F-BA19-9E39-C451-FA747DF48D02}"/>
              </a:ext>
            </a:extLst>
          </p:cNvPr>
          <p:cNvSpPr/>
          <p:nvPr/>
        </p:nvSpPr>
        <p:spPr bwMode="auto">
          <a:xfrm>
            <a:off x="3340601" y="1851701"/>
            <a:ext cx="2622796" cy="3045449"/>
          </a:xfrm>
          <a:prstGeom prst="rect">
            <a:avLst/>
          </a:prstGeom>
          <a:solidFill>
            <a:schemeClr val="accent4"/>
          </a:solidFill>
          <a:ln>
            <a:noFill/>
          </a:ln>
          <a:effectLst/>
        </p:spPr>
        <p:txBody>
          <a:bodyPr rot="0" spcFirstLastPara="0" vertOverflow="overflow" horzOverflow="overflow" vert="horz" wrap="square" lIns="137160" tIns="411480" rIns="137160" bIns="182880" numCol="1" spcCol="0" rtlCol="0" fromWordArt="0" anchor="t" anchorCtr="0" forceAA="0" compatLnSpc="1">
            <a:prstTxWarp prst="textNoShape">
              <a:avLst/>
            </a:prstTxWarp>
            <a:noAutofit/>
          </a:bodyPr>
          <a:lstStyle/>
          <a:p>
            <a:pPr marL="9525" marR="0" lvl="0" indent="0" algn="l" defTabSz="914400" rtl="0" eaLnBrk="1" fontAlgn="auto" latinLnBrk="0" hangingPunct="1">
              <a:lnSpc>
                <a:spcPct val="90000"/>
              </a:lnSpc>
              <a:spcBef>
                <a:spcPts val="0"/>
              </a:spcBef>
              <a:spcAft>
                <a:spcPts val="90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47FF"/>
                </a:solidFill>
                <a:effectLst/>
                <a:uLnTx/>
                <a:uFillTx/>
                <a:latin typeface="Arial" panose="020B0604020202020204"/>
                <a:ea typeface="+mn-ea"/>
                <a:cs typeface="+mn-cs"/>
              </a:rPr>
              <a:t>Purpose-Built Approach</a:t>
            </a:r>
          </a:p>
          <a:p>
            <a:pPr marL="118872" marR="0" lvl="0" indent="-118872"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We don’t default to “rip-and-replace” </a:t>
            </a:r>
            <a:b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b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or “lift-and-shift.” We apply the right disposition strategy—retain, retire, rehost, re-platform, rewrite, or reimagine—based on the best fit.</a:t>
            </a:r>
          </a:p>
          <a:p>
            <a:pPr marL="118872" marR="0" lvl="0" indent="-118872"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We preserve stable, high-performing components while targeting modernization where it unlocks the most impact, supporting side-by-side deployment and feature flagging while minimizing disruption to the business.</a:t>
            </a:r>
          </a:p>
          <a:p>
            <a:pPr marL="118872" marR="0" lvl="0" indent="-118872"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24" name="Rectangle 23">
            <a:extLst>
              <a:ext uri="{FF2B5EF4-FFF2-40B4-BE49-F238E27FC236}">
                <a16:creationId xmlns:a16="http://schemas.microsoft.com/office/drawing/2014/main" id="{B8D2B110-19E8-64BD-BF2D-43D6003CA7F4}"/>
              </a:ext>
            </a:extLst>
          </p:cNvPr>
          <p:cNvSpPr>
            <a:spLocks noChangeAspect="1"/>
          </p:cNvSpPr>
          <p:nvPr/>
        </p:nvSpPr>
        <p:spPr bwMode="auto">
          <a:xfrm>
            <a:off x="3523473" y="1578409"/>
            <a:ext cx="548640" cy="548640"/>
          </a:xfrm>
          <a:prstGeom prst="rect">
            <a:avLst/>
          </a:prstGeom>
          <a:solidFill>
            <a:schemeClr val="bg1"/>
          </a:solidFill>
          <a:ln w="38100" cap="sq">
            <a:solidFill>
              <a:schemeClr val="bg1"/>
            </a:solidFill>
            <a:miter lim="800000"/>
          </a:ln>
          <a:effectLst/>
        </p:spPr>
        <p:txBody>
          <a:bodyPr rot="0" spcFirstLastPara="0" vertOverflow="overflow" horzOverflow="overflow" vert="horz" wrap="square" lIns="91440" tIns="41148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pic>
        <p:nvPicPr>
          <p:cNvPr id="26" name="Graphic 25">
            <a:extLst>
              <a:ext uri="{FF2B5EF4-FFF2-40B4-BE49-F238E27FC236}">
                <a16:creationId xmlns:a16="http://schemas.microsoft.com/office/drawing/2014/main" id="{FC8CF754-3289-65C8-0F72-DE248C92DB4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66104" y="1601269"/>
            <a:ext cx="502920" cy="502920"/>
          </a:xfrm>
          <a:prstGeom prst="rect">
            <a:avLst/>
          </a:prstGeom>
        </p:spPr>
      </p:pic>
      <p:pic>
        <p:nvPicPr>
          <p:cNvPr id="27" name="Graphic 26">
            <a:extLst>
              <a:ext uri="{FF2B5EF4-FFF2-40B4-BE49-F238E27FC236}">
                <a16:creationId xmlns:a16="http://schemas.microsoft.com/office/drawing/2014/main" id="{CF3126B2-DAFF-6BAB-B9EF-22C6BAFB72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46333" y="1601269"/>
            <a:ext cx="502920" cy="502920"/>
          </a:xfrm>
          <a:prstGeom prst="rect">
            <a:avLst/>
          </a:prstGeom>
        </p:spPr>
      </p:pic>
      <p:sp>
        <p:nvSpPr>
          <p:cNvPr id="4" name="TextBox 3">
            <a:extLst>
              <a:ext uri="{FF2B5EF4-FFF2-40B4-BE49-F238E27FC236}">
                <a16:creationId xmlns:a16="http://schemas.microsoft.com/office/drawing/2014/main" id="{EDF41E25-2B6C-39AA-6CED-8B14FAFFB960}"/>
              </a:ext>
            </a:extLst>
          </p:cNvPr>
          <p:cNvSpPr txBox="1"/>
          <p:nvPr/>
        </p:nvSpPr>
        <p:spPr>
          <a:xfrm>
            <a:off x="1213380" y="4614071"/>
            <a:ext cx="1866726" cy="1446405"/>
          </a:xfrm>
          <a:prstGeom prst="rect">
            <a:avLst/>
          </a:prstGeom>
          <a:solidFill>
            <a:srgbClr val="070154"/>
          </a:solidFill>
        </p:spPr>
        <p:txBody>
          <a:bodyPr wrap="square" lIns="137160" tIns="137160" rIns="137160" bIns="137160">
            <a:no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F900D3"/>
                </a:solidFill>
                <a:effectLst/>
                <a:uLnTx/>
                <a:uFillTx/>
                <a:latin typeface="Arial" panose="020B0604020202020204"/>
                <a:ea typeface="+mn-ea"/>
                <a:cs typeface="+mn-cs"/>
              </a:rPr>
              <a:t>WHY THIS MATTERS</a:t>
            </a:r>
            <a:endParaRPr kumimoji="0" lang="en-US" sz="1100" b="1" i="0" u="none" strike="noStrike" kern="1200" cap="none" spc="0" normalizeH="0" baseline="0" noProof="0">
              <a:ln>
                <a:noFill/>
              </a:ln>
              <a:solidFill>
                <a:srgbClr val="FFFFF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t>Anchoring your software modernization efforts in outcomes means that we ensure you truly </a:t>
            </a:r>
            <a:r>
              <a:rPr kumimoji="0" lang="en-US" sz="1000" b="1" i="0" u="none" strike="noStrike" kern="1200" cap="none" spc="0" normalizeH="0" baseline="0" noProof="0">
                <a:ln>
                  <a:noFill/>
                </a:ln>
                <a:solidFill>
                  <a:srgbClr val="FFFFFF"/>
                </a:solidFill>
                <a:effectLst/>
                <a:uLnTx/>
                <a:uFillTx/>
                <a:latin typeface="Arial" panose="020B0604020202020204"/>
                <a:ea typeface="+mn-ea"/>
                <a:cs typeface="+mn-cs"/>
              </a:rPr>
              <a:t>achieve the business value that’s been promised.</a:t>
            </a:r>
          </a:p>
        </p:txBody>
      </p:sp>
      <p:pic>
        <p:nvPicPr>
          <p:cNvPr id="7" name="Graphic 6">
            <a:extLst>
              <a:ext uri="{FF2B5EF4-FFF2-40B4-BE49-F238E27FC236}">
                <a16:creationId xmlns:a16="http://schemas.microsoft.com/office/drawing/2014/main" id="{3018FB21-574C-B93B-4D8D-146BD7FE46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6380" y="4613926"/>
            <a:ext cx="753008" cy="753008"/>
          </a:xfrm>
          <a:prstGeom prst="rect">
            <a:avLst/>
          </a:prstGeom>
        </p:spPr>
      </p:pic>
      <p:sp>
        <p:nvSpPr>
          <p:cNvPr id="15" name="TextBox 14">
            <a:extLst>
              <a:ext uri="{FF2B5EF4-FFF2-40B4-BE49-F238E27FC236}">
                <a16:creationId xmlns:a16="http://schemas.microsoft.com/office/drawing/2014/main" id="{E1F74660-175E-A87C-B830-533EFED9B11D}"/>
              </a:ext>
            </a:extLst>
          </p:cNvPr>
          <p:cNvSpPr txBox="1"/>
          <p:nvPr/>
        </p:nvSpPr>
        <p:spPr>
          <a:xfrm>
            <a:off x="3939612" y="4614071"/>
            <a:ext cx="2023786" cy="1446550"/>
          </a:xfrm>
          <a:prstGeom prst="rect">
            <a:avLst/>
          </a:prstGeom>
          <a:solidFill>
            <a:srgbClr val="070154"/>
          </a:solidFill>
        </p:spPr>
        <p:txBody>
          <a:bodyPr wrap="square" lIns="137160" tIns="137160" rIns="137160" bIns="137160">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F900D3"/>
                </a:solidFill>
                <a:effectLst/>
                <a:uLnTx/>
                <a:uFillTx/>
                <a:latin typeface="Arial" panose="020B0604020202020204"/>
                <a:ea typeface="+mn-ea"/>
                <a:cs typeface="+mn-cs"/>
              </a:rPr>
              <a:t>WHY THIS MATTERS</a:t>
            </a:r>
            <a:endParaRPr kumimoji="0" lang="en-US" sz="1100" b="1" i="0" u="none" strike="noStrike" kern="1200" cap="none" spc="0" normalizeH="0" baseline="0" noProof="0">
              <a:ln>
                <a:noFill/>
              </a:ln>
              <a:solidFill>
                <a:srgbClr val="FFFFF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t>Most firms force a predefined approach. We engineer the approach around your portfolio and business goals—</a:t>
            </a:r>
            <a:r>
              <a:rPr kumimoji="0" lang="en-US" sz="1000" b="1" i="0" u="none" strike="noStrike" kern="1200" cap="none" spc="0" normalizeH="0" baseline="0" noProof="0">
                <a:ln>
                  <a:noFill/>
                </a:ln>
                <a:solidFill>
                  <a:srgbClr val="FFFFFF"/>
                </a:solidFill>
                <a:effectLst/>
                <a:uLnTx/>
                <a:uFillTx/>
                <a:latin typeface="Arial" panose="020B0604020202020204"/>
                <a:ea typeface="+mn-ea"/>
                <a:cs typeface="+mn-cs"/>
              </a:rPr>
              <a:t>keeping what works and modernizing what drives value.</a:t>
            </a:r>
          </a:p>
        </p:txBody>
      </p:sp>
      <p:pic>
        <p:nvPicPr>
          <p:cNvPr id="18" name="Graphic 17">
            <a:extLst>
              <a:ext uri="{FF2B5EF4-FFF2-40B4-BE49-F238E27FC236}">
                <a16:creationId xmlns:a16="http://schemas.microsoft.com/office/drawing/2014/main" id="{84233C4A-0E0E-6840-E01E-52965AD8919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01156" y="4613926"/>
            <a:ext cx="753008" cy="753008"/>
          </a:xfrm>
          <a:prstGeom prst="rect">
            <a:avLst/>
          </a:prstGeom>
        </p:spPr>
      </p:pic>
      <p:pic>
        <p:nvPicPr>
          <p:cNvPr id="21" name="Graphic 20">
            <a:extLst>
              <a:ext uri="{FF2B5EF4-FFF2-40B4-BE49-F238E27FC236}">
                <a16:creationId xmlns:a16="http://schemas.microsoft.com/office/drawing/2014/main" id="{6A857B41-85DD-5373-AB7D-725E70E2FB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29625" y="1601269"/>
            <a:ext cx="502920" cy="502920"/>
          </a:xfrm>
          <a:prstGeom prst="rect">
            <a:avLst/>
          </a:prstGeom>
        </p:spPr>
      </p:pic>
      <p:sp>
        <p:nvSpPr>
          <p:cNvPr id="29" name="TextBox 28">
            <a:extLst>
              <a:ext uri="{FF2B5EF4-FFF2-40B4-BE49-F238E27FC236}">
                <a16:creationId xmlns:a16="http://schemas.microsoft.com/office/drawing/2014/main" id="{C95CCA7A-D521-D7E5-2BB9-548C493B3416}"/>
              </a:ext>
            </a:extLst>
          </p:cNvPr>
          <p:cNvSpPr txBox="1"/>
          <p:nvPr/>
        </p:nvSpPr>
        <p:spPr>
          <a:xfrm>
            <a:off x="6822904" y="4614071"/>
            <a:ext cx="2023786" cy="1446550"/>
          </a:xfrm>
          <a:prstGeom prst="rect">
            <a:avLst/>
          </a:prstGeom>
          <a:solidFill>
            <a:srgbClr val="070154"/>
          </a:solidFill>
        </p:spPr>
        <p:txBody>
          <a:bodyPr wrap="square" lIns="137160" tIns="137160" rIns="137160" bIns="137160">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F900D3"/>
                </a:solidFill>
                <a:effectLst/>
                <a:uLnTx/>
                <a:uFillTx/>
                <a:latin typeface="Arial" panose="020B0604020202020204"/>
                <a:ea typeface="+mn-ea"/>
                <a:cs typeface="+mn-cs"/>
              </a:rPr>
              <a:t>WHY THIS MATTERS</a:t>
            </a:r>
            <a:endParaRPr kumimoji="0" lang="en-US" sz="1100" b="1" i="0" u="none" strike="noStrike" kern="1200" cap="none" spc="0" normalizeH="0" baseline="0" noProof="0">
              <a:ln>
                <a:noFill/>
              </a:ln>
              <a:solidFill>
                <a:srgbClr val="FFFFF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t>We accelerate insights by </a:t>
            </a:r>
            <a:r>
              <a:rPr kumimoji="0" lang="en-US" sz="1000" b="1" i="0" u="none" strike="noStrike" kern="1200" cap="none" spc="0" normalizeH="0" baseline="0" noProof="0">
                <a:ln>
                  <a:noFill/>
                </a:ln>
                <a:solidFill>
                  <a:srgbClr val="FFFFFF"/>
                </a:solidFill>
                <a:effectLst/>
                <a:uLnTx/>
                <a:uFillTx/>
                <a:latin typeface="Arial" panose="020B0604020202020204"/>
                <a:ea typeface="+mn-ea"/>
                <a:cs typeface="+mn-cs"/>
              </a:rPr>
              <a:t>completing in days analysis that typically takes months.</a:t>
            </a:r>
            <a: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t> And we dramatically reduce reliance on tribal knowledge and manual code review.</a:t>
            </a:r>
            <a:endParaRPr kumimoji="0" lang="en-US" sz="1000" b="1"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30" name="Graphic 29">
            <a:extLst>
              <a:ext uri="{FF2B5EF4-FFF2-40B4-BE49-F238E27FC236}">
                <a16:creationId xmlns:a16="http://schemas.microsoft.com/office/drawing/2014/main" id="{036A983D-C6B2-1C60-CFC3-C7065C23F91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84448" y="4613926"/>
            <a:ext cx="753008" cy="753008"/>
          </a:xfrm>
          <a:prstGeom prst="rect">
            <a:avLst/>
          </a:prstGeom>
        </p:spPr>
      </p:pic>
      <p:sp>
        <p:nvSpPr>
          <p:cNvPr id="31" name="TextBox 30">
            <a:extLst>
              <a:ext uri="{FF2B5EF4-FFF2-40B4-BE49-F238E27FC236}">
                <a16:creationId xmlns:a16="http://schemas.microsoft.com/office/drawing/2014/main" id="{90DA1BB4-B237-CFC7-AD5E-6E8986E8D6FC}"/>
              </a:ext>
            </a:extLst>
          </p:cNvPr>
          <p:cNvSpPr txBox="1"/>
          <p:nvPr/>
        </p:nvSpPr>
        <p:spPr>
          <a:xfrm>
            <a:off x="9704663" y="4614071"/>
            <a:ext cx="2023786" cy="1446550"/>
          </a:xfrm>
          <a:prstGeom prst="rect">
            <a:avLst/>
          </a:prstGeom>
          <a:solidFill>
            <a:srgbClr val="070154"/>
          </a:solidFill>
        </p:spPr>
        <p:txBody>
          <a:bodyPr wrap="square" lIns="137160" tIns="137160" rIns="137160" bIns="137160">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F900D3"/>
                </a:solidFill>
                <a:effectLst/>
                <a:uLnTx/>
                <a:uFillTx/>
                <a:latin typeface="Arial" panose="020B0604020202020204"/>
                <a:ea typeface="+mn-ea"/>
                <a:cs typeface="+mn-cs"/>
              </a:rPr>
              <a:t>WHY THIS MATTERS</a:t>
            </a:r>
            <a:endParaRPr kumimoji="0" lang="en-US" sz="1100" b="1" i="0" u="none" strike="noStrike" kern="1200" cap="none" spc="0" normalizeH="0" baseline="0" noProof="0">
              <a:ln>
                <a:noFill/>
              </a:ln>
              <a:solidFill>
                <a:srgbClr val="FFFFF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t>We provide the capacity and skill sets needed to modernize without disrupting operations. And we </a:t>
            </a:r>
            <a:r>
              <a:rPr kumimoji="0" lang="en-US" sz="1000" b="1" i="0" u="none" strike="noStrike" kern="1200" cap="none" spc="0" normalizeH="0" baseline="0" noProof="0">
                <a:ln>
                  <a:noFill/>
                </a:ln>
                <a:solidFill>
                  <a:srgbClr val="FFFFFF"/>
                </a:solidFill>
                <a:effectLst/>
                <a:uLnTx/>
                <a:uFillTx/>
                <a:latin typeface="Arial" panose="020B0604020202020204"/>
                <a:ea typeface="+mn-ea"/>
                <a:cs typeface="+mn-cs"/>
              </a:rPr>
              <a:t>intentionally build toward client self-sufficiency and sustained velocity. </a:t>
            </a:r>
          </a:p>
        </p:txBody>
      </p:sp>
      <p:pic>
        <p:nvPicPr>
          <p:cNvPr id="32" name="Graphic 31">
            <a:extLst>
              <a:ext uri="{FF2B5EF4-FFF2-40B4-BE49-F238E27FC236}">
                <a16:creationId xmlns:a16="http://schemas.microsoft.com/office/drawing/2014/main" id="{04BF63E4-9824-4AF4-FC7C-552A4282EDB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66207" y="4613926"/>
            <a:ext cx="753008" cy="753008"/>
          </a:xfrm>
          <a:prstGeom prst="rect">
            <a:avLst/>
          </a:prstGeom>
        </p:spPr>
      </p:pic>
      <p:pic>
        <p:nvPicPr>
          <p:cNvPr id="33" name="Graphic 32">
            <a:extLst>
              <a:ext uri="{FF2B5EF4-FFF2-40B4-BE49-F238E27FC236}">
                <a16:creationId xmlns:a16="http://schemas.microsoft.com/office/drawing/2014/main" id="{53F0EA7C-BEF5-865A-AC1C-51E2C0B3D4A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11386" y="1600242"/>
            <a:ext cx="502920" cy="502920"/>
          </a:xfrm>
          <a:prstGeom prst="rect">
            <a:avLst/>
          </a:prstGeom>
        </p:spPr>
      </p:pic>
    </p:spTree>
    <p:extLst>
      <p:ext uri="{BB962C8B-B14F-4D97-AF65-F5344CB8AC3E}">
        <p14:creationId xmlns:p14="http://schemas.microsoft.com/office/powerpoint/2010/main" val="3169403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ection Label">
            <a:extLst>
              <a:ext uri="{FF2B5EF4-FFF2-40B4-BE49-F238E27FC236}">
                <a16:creationId xmlns:a16="http://schemas.microsoft.com/office/drawing/2014/main" id="{EA83A431-818C-4646-BA7B-8C07236C5D88}"/>
              </a:ext>
            </a:extLst>
          </p:cNvPr>
          <p:cNvSpPr txBox="1"/>
          <p:nvPr/>
        </p:nvSpPr>
        <p:spPr>
          <a:xfrm>
            <a:off x="457200" y="88900"/>
            <a:ext cx="4191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4F6693"/>
                </a:solidFill>
                <a:latin typeface="Arial"/>
                <a:cs typeface="Arial"/>
              </a:rPr>
              <a:t>SOFTWARE MODERNIZATION</a:t>
            </a:r>
            <a:endParaRPr lang="en-US" sz="950" b="1" dirty="0">
              <a:solidFill>
                <a:srgbClr val="4F6693"/>
              </a:solidFill>
              <a:latin typeface="Arial"/>
              <a:cs typeface="Arial"/>
            </a:endParaRPr>
          </a:p>
        </p:txBody>
      </p:sp>
      <p:sp>
        <p:nvSpPr>
          <p:cNvPr id="7" name="Modernization Pillars Title">
            <a:extLst>
              <a:ext uri="{FF2B5EF4-FFF2-40B4-BE49-F238E27FC236}">
                <a16:creationId xmlns:a16="http://schemas.microsoft.com/office/drawing/2014/main" id="{65E25CBB-A24F-E44E-9016-AB2A88349933}"/>
              </a:ext>
            </a:extLst>
          </p:cNvPr>
          <p:cNvSpPr txBox="1"/>
          <p:nvPr/>
        </p:nvSpPr>
        <p:spPr>
          <a:xfrm>
            <a:off x="457200" y="558800"/>
            <a:ext cx="11277600" cy="736600"/>
          </a:xfrm>
          <a:prstGeom prst="rect">
            <a:avLst/>
          </a:prstGeom>
          <a:noFill/>
        </p:spPr>
        <p:txBody>
          <a:bodyPr vertOverflow="overflow" vert="horz" wrap="square" lIns="0" tIns="0" rIns="0" bIns="0" rtlCol="0" anchor="t">
            <a:normAutofit lnSpcReduction="10000"/>
          </a:bodyPr>
          <a:lstStyle/>
          <a:p>
            <a:pPr marL="0" indent="0" algn="l">
              <a:spcAft>
                <a:spcPts val="600"/>
              </a:spcAft>
              <a:tabLst/>
            </a:pPr>
            <a:r>
              <a:rPr lang="en-US" sz="2500" b="1" dirty="0">
                <a:solidFill>
                  <a:srgbClr val="0B0560"/>
                </a:solidFill>
                <a:latin typeface="Arial"/>
                <a:cs typeface="Arial"/>
              </a:rPr>
              <a:t>Modernization succeeds when people, process, and technology advance together.</a:t>
            </a:r>
          </a:p>
        </p:txBody>
      </p:sp>
      <p:sp>
        <p:nvSpPr>
          <p:cNvPr id="8" name="Modernization Pillars Subtitle">
            <a:extLst>
              <a:ext uri="{FF2B5EF4-FFF2-40B4-BE49-F238E27FC236}">
                <a16:creationId xmlns:a16="http://schemas.microsoft.com/office/drawing/2014/main" id="{FBCFCE0F-D23E-F148-A820-1A0E98CB5E0B}"/>
              </a:ext>
            </a:extLst>
          </p:cNvPr>
          <p:cNvSpPr txBox="1"/>
          <p:nvPr/>
        </p:nvSpPr>
        <p:spPr>
          <a:xfrm>
            <a:off x="457200" y="1371600"/>
            <a:ext cx="11277600" cy="457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250">
                <a:solidFill>
                  <a:srgbClr val="5B6475"/>
                </a:solidFill>
                <a:latin typeface="Arial"/>
                <a:cs typeface="Arial"/>
              </a:rPr>
              <a:t>West Monroe integrates all three lenses—supporting adoption, reimagining the work, and preparing a technology posture that can keep pace with accelerating change.</a:t>
            </a:r>
            <a:endParaRPr lang="en-US" sz="1250" dirty="0">
              <a:solidFill>
                <a:srgbClr val="5B6475"/>
              </a:solidFill>
              <a:latin typeface="Arial"/>
              <a:cs typeface="Arial"/>
            </a:endParaRPr>
          </a:p>
        </p:txBody>
      </p:sp>
      <p:sp>
        <p:nvSpPr>
          <p:cNvPr id="9" name="Process Panel">
            <a:extLst>
              <a:ext uri="{FF2B5EF4-FFF2-40B4-BE49-F238E27FC236}">
                <a16:creationId xmlns:a16="http://schemas.microsoft.com/office/drawing/2014/main" id="{50A03742-1146-8049-A6B4-B073946C1A4C}"/>
              </a:ext>
            </a:extLst>
          </p:cNvPr>
          <p:cNvSpPr/>
          <p:nvPr/>
        </p:nvSpPr>
        <p:spPr bwMode="auto">
          <a:xfrm>
            <a:off x="4292600" y="2298700"/>
            <a:ext cx="3606800" cy="2997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Process Marker">
            <a:extLst>
              <a:ext uri="{FF2B5EF4-FFF2-40B4-BE49-F238E27FC236}">
                <a16:creationId xmlns:a16="http://schemas.microsoft.com/office/drawing/2014/main" id="{A4E4E9D3-E716-B248-859E-BE828EC134E6}"/>
              </a:ext>
            </a:extLst>
          </p:cNvPr>
          <p:cNvSpPr/>
          <p:nvPr/>
        </p:nvSpPr>
        <p:spPr bwMode="auto">
          <a:xfrm>
            <a:off x="4470400" y="2019300"/>
            <a:ext cx="546100" cy="546100"/>
          </a:xfrm>
          <a:prstGeom prst="rect">
            <a:avLst/>
          </a:prstGeom>
          <a:solidFill>
            <a:srgbClr val="FFFFFF"/>
          </a:solidFill>
          <a:ln w="15875">
            <a:solidFill>
              <a:srgbClr val="0B0560"/>
            </a:solid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800" b="1" i="0" u="none" strike="noStrike" kern="1200" cap="none" spc="0" normalizeH="0" baseline="0" noProof="0" dirty="0">
              <a:ln>
                <a:noFill/>
              </a:ln>
              <a:solidFill>
                <a:srgbClr val="0B0560"/>
              </a:solidFill>
              <a:effectLst/>
              <a:uLnTx/>
              <a:uFillTx/>
              <a:latin typeface="Arial"/>
              <a:ea typeface="Roboto" panose="02000000000000000000" pitchFamily="2" charset="0"/>
              <a:cs typeface="Arial"/>
            </a:endParaRPr>
          </a:p>
        </p:txBody>
      </p:sp>
      <p:sp>
        <p:nvSpPr>
          <p:cNvPr id="12" name="Process Heading">
            <a:extLst>
              <a:ext uri="{FF2B5EF4-FFF2-40B4-BE49-F238E27FC236}">
                <a16:creationId xmlns:a16="http://schemas.microsoft.com/office/drawing/2014/main" id="{B1AB9CA8-2D2F-5247-9F26-0749EBD5F876}"/>
              </a:ext>
            </a:extLst>
          </p:cNvPr>
          <p:cNvSpPr txBox="1"/>
          <p:nvPr/>
        </p:nvSpPr>
        <p:spPr>
          <a:xfrm>
            <a:off x="4495800" y="2654300"/>
            <a:ext cx="3200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650" b="1">
                <a:solidFill>
                  <a:srgbClr val="0A49FF"/>
                </a:solidFill>
                <a:latin typeface="Arial"/>
                <a:cs typeface="Arial"/>
              </a:rPr>
              <a:t>Process</a:t>
            </a:r>
            <a:endParaRPr lang="en-US" sz="1650" b="1" dirty="0">
              <a:solidFill>
                <a:srgbClr val="0A49FF"/>
              </a:solidFill>
              <a:latin typeface="Arial"/>
              <a:cs typeface="Arial"/>
            </a:endParaRPr>
          </a:p>
        </p:txBody>
      </p:sp>
      <p:sp>
        <p:nvSpPr>
          <p:cNvPr id="13" name="Process Lead">
            <a:extLst>
              <a:ext uri="{FF2B5EF4-FFF2-40B4-BE49-F238E27FC236}">
                <a16:creationId xmlns:a16="http://schemas.microsoft.com/office/drawing/2014/main" id="{611D9603-3276-8F44-B233-4A1EDB6FB3E3}"/>
              </a:ext>
            </a:extLst>
          </p:cNvPr>
          <p:cNvSpPr txBox="1"/>
          <p:nvPr/>
        </p:nvSpPr>
        <p:spPr>
          <a:xfrm>
            <a:off x="4495800" y="3098800"/>
            <a:ext cx="3200400" cy="736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200" b="1">
                <a:solidFill>
                  <a:srgbClr val="0B0560"/>
                </a:solidFill>
                <a:latin typeface="Arial"/>
                <a:cs typeface="Arial"/>
              </a:rPr>
              <a:t>Reimagine how work gets done before changing the systems that support it.</a:t>
            </a:r>
            <a:endParaRPr lang="en-US" sz="1200" b="1" dirty="0">
              <a:solidFill>
                <a:srgbClr val="0B0560"/>
              </a:solidFill>
              <a:latin typeface="Arial"/>
              <a:cs typeface="Arial"/>
            </a:endParaRPr>
          </a:p>
        </p:txBody>
      </p:sp>
      <p:sp>
        <p:nvSpPr>
          <p:cNvPr id="14" name="Process Bullets">
            <a:extLst>
              <a:ext uri="{FF2B5EF4-FFF2-40B4-BE49-F238E27FC236}">
                <a16:creationId xmlns:a16="http://schemas.microsoft.com/office/drawing/2014/main" id="{91151F40-3C15-4B46-854A-F4C35B36F15C}"/>
              </a:ext>
            </a:extLst>
          </p:cNvPr>
          <p:cNvSpPr txBox="1"/>
          <p:nvPr/>
        </p:nvSpPr>
        <p:spPr>
          <a:xfrm>
            <a:off x="4495800" y="3937000"/>
            <a:ext cx="3200400" cy="1041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a:solidFill>
                  <a:srgbClr val="0B0560"/>
                </a:solidFill>
                <a:latin typeface="Arial"/>
                <a:cs typeface="Arial"/>
              </a:rPr>
              <a:t>• Assess workflows, handoffs, controls, and friction
• Design simpler processes around measurable business outcomes</a:t>
            </a:r>
            <a:endParaRPr lang="en-US" sz="1100" dirty="0">
              <a:solidFill>
                <a:srgbClr val="0B0560"/>
              </a:solidFill>
              <a:latin typeface="Arial"/>
              <a:cs typeface="Arial"/>
            </a:endParaRPr>
          </a:p>
        </p:txBody>
      </p:sp>
      <p:sp>
        <p:nvSpPr>
          <p:cNvPr id="16" name="Process Callout">
            <a:extLst>
              <a:ext uri="{FF2B5EF4-FFF2-40B4-BE49-F238E27FC236}">
                <a16:creationId xmlns:a16="http://schemas.microsoft.com/office/drawing/2014/main" id="{82F55388-CECA-B44F-A073-5A99990FFB90}"/>
              </a:ext>
            </a:extLst>
          </p:cNvPr>
          <p:cNvSpPr/>
          <p:nvPr/>
        </p:nvSpPr>
        <p:spPr bwMode="auto">
          <a:xfrm>
            <a:off x="5283200" y="4978400"/>
            <a:ext cx="2616200" cy="1066800"/>
          </a:xfrm>
          <a:prstGeom prst="rect">
            <a:avLst/>
          </a:prstGeom>
          <a:solidFill>
            <a:srgbClr val="0B056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7" name="Process Callout Label">
            <a:extLst>
              <a:ext uri="{FF2B5EF4-FFF2-40B4-BE49-F238E27FC236}">
                <a16:creationId xmlns:a16="http://schemas.microsoft.com/office/drawing/2014/main" id="{466D7093-7079-FD4A-8788-79ECE2C62D57}"/>
              </a:ext>
            </a:extLst>
          </p:cNvPr>
          <p:cNvSpPr txBox="1"/>
          <p:nvPr/>
        </p:nvSpPr>
        <p:spPr>
          <a:xfrm>
            <a:off x="5461000" y="5130800"/>
            <a:ext cx="2260600" cy="1905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F400C8"/>
                </a:solidFill>
                <a:latin typeface="Arial"/>
                <a:cs typeface="Arial"/>
              </a:rPr>
              <a:t>WEST MONROE BRINGS</a:t>
            </a:r>
            <a:endParaRPr lang="en-US" sz="950" b="1" dirty="0">
              <a:solidFill>
                <a:srgbClr val="F400C8"/>
              </a:solidFill>
              <a:latin typeface="Arial"/>
              <a:cs typeface="Arial"/>
            </a:endParaRPr>
          </a:p>
        </p:txBody>
      </p:sp>
      <p:sp>
        <p:nvSpPr>
          <p:cNvPr id="18" name="Process Callout Text">
            <a:extLst>
              <a:ext uri="{FF2B5EF4-FFF2-40B4-BE49-F238E27FC236}">
                <a16:creationId xmlns:a16="http://schemas.microsoft.com/office/drawing/2014/main" id="{452735A7-8EF3-B741-9F49-EB7CCEB4F6CE}"/>
              </a:ext>
            </a:extLst>
          </p:cNvPr>
          <p:cNvSpPr txBox="1"/>
          <p:nvPr/>
        </p:nvSpPr>
        <p:spPr>
          <a:xfrm>
            <a:off x="5461000" y="5410200"/>
            <a:ext cx="2260600" cy="482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a:solidFill>
                  <a:srgbClr val="FFFFFF"/>
                </a:solidFill>
                <a:latin typeface="Arial"/>
                <a:cs typeface="Arial"/>
              </a:rPr>
              <a:t>Process reimagination grounded in business outcomes.</a:t>
            </a:r>
            <a:endParaRPr lang="en-US" sz="1100" b="1" dirty="0">
              <a:solidFill>
                <a:srgbClr val="FFFFFF"/>
              </a:solidFill>
              <a:latin typeface="Arial"/>
              <a:cs typeface="Arial"/>
            </a:endParaRPr>
          </a:p>
        </p:txBody>
      </p:sp>
      <p:sp>
        <p:nvSpPr>
          <p:cNvPr id="21" name="People Panel">
            <a:extLst>
              <a:ext uri="{FF2B5EF4-FFF2-40B4-BE49-F238E27FC236}">
                <a16:creationId xmlns:a16="http://schemas.microsoft.com/office/drawing/2014/main" id="{FEE3C480-EC04-C64A-839B-59CD6ADF4B37}"/>
              </a:ext>
            </a:extLst>
          </p:cNvPr>
          <p:cNvSpPr/>
          <p:nvPr/>
        </p:nvSpPr>
        <p:spPr bwMode="auto">
          <a:xfrm>
            <a:off x="457200" y="2298700"/>
            <a:ext cx="3606800" cy="2997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2" name="People Marker">
            <a:extLst>
              <a:ext uri="{FF2B5EF4-FFF2-40B4-BE49-F238E27FC236}">
                <a16:creationId xmlns:a16="http://schemas.microsoft.com/office/drawing/2014/main" id="{45B73A76-ED2E-2F41-B500-A84FF81A776E}"/>
              </a:ext>
            </a:extLst>
          </p:cNvPr>
          <p:cNvSpPr/>
          <p:nvPr/>
        </p:nvSpPr>
        <p:spPr bwMode="auto">
          <a:xfrm>
            <a:off x="635000" y="2019300"/>
            <a:ext cx="546100" cy="546100"/>
          </a:xfrm>
          <a:prstGeom prst="rect">
            <a:avLst/>
          </a:prstGeom>
          <a:solidFill>
            <a:srgbClr val="FFFFFF"/>
          </a:solidFill>
          <a:ln>
            <a:solidFill>
              <a:srgbClr val="0B0560"/>
            </a:solid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800" b="1" i="0" u="none" strike="noStrike" kern="1200" cap="none" spc="0" normalizeH="0" baseline="0" noProof="0" dirty="0">
              <a:ln>
                <a:noFill/>
              </a:ln>
              <a:solidFill>
                <a:srgbClr val="0B0560"/>
              </a:solidFill>
              <a:effectLst/>
              <a:uLnTx/>
              <a:uFillTx/>
              <a:latin typeface="Arial"/>
              <a:ea typeface="Roboto" panose="02000000000000000000" pitchFamily="2" charset="0"/>
              <a:cs typeface="Arial"/>
            </a:endParaRPr>
          </a:p>
        </p:txBody>
      </p:sp>
      <p:sp>
        <p:nvSpPr>
          <p:cNvPr id="41" name="People Heading">
            <a:extLst>
              <a:ext uri="{FF2B5EF4-FFF2-40B4-BE49-F238E27FC236}">
                <a16:creationId xmlns:a16="http://schemas.microsoft.com/office/drawing/2014/main" id="{00646588-5EC0-C249-A8E0-870D213B2668}"/>
              </a:ext>
            </a:extLst>
          </p:cNvPr>
          <p:cNvSpPr txBox="1"/>
          <p:nvPr/>
        </p:nvSpPr>
        <p:spPr>
          <a:xfrm>
            <a:off x="660400" y="2654300"/>
            <a:ext cx="3200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650" b="1">
                <a:solidFill>
                  <a:srgbClr val="0A49FF"/>
                </a:solidFill>
                <a:latin typeface="Arial"/>
                <a:cs typeface="Arial"/>
              </a:rPr>
              <a:t>People</a:t>
            </a:r>
            <a:endParaRPr lang="en-US" sz="1650" b="1" dirty="0">
              <a:solidFill>
                <a:srgbClr val="0A49FF"/>
              </a:solidFill>
              <a:latin typeface="Arial"/>
              <a:cs typeface="Arial"/>
            </a:endParaRPr>
          </a:p>
        </p:txBody>
      </p:sp>
      <p:sp>
        <p:nvSpPr>
          <p:cNvPr id="42" name="People Lead">
            <a:extLst>
              <a:ext uri="{FF2B5EF4-FFF2-40B4-BE49-F238E27FC236}">
                <a16:creationId xmlns:a16="http://schemas.microsoft.com/office/drawing/2014/main" id="{5FC80C10-FD71-C148-8DAC-CBFF55CCC077}"/>
              </a:ext>
            </a:extLst>
          </p:cNvPr>
          <p:cNvSpPr txBox="1"/>
          <p:nvPr/>
        </p:nvSpPr>
        <p:spPr>
          <a:xfrm>
            <a:off x="660400" y="3098800"/>
            <a:ext cx="3200400" cy="736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200" b="1">
                <a:solidFill>
                  <a:srgbClr val="0B0560"/>
                </a:solidFill>
                <a:latin typeface="Arial"/>
                <a:cs typeface="Arial"/>
              </a:rPr>
              <a:t>Bring employees and leaders into the journey so the new capability is adopted and sustained.</a:t>
            </a:r>
            <a:endParaRPr lang="en-US" sz="1200" b="1" dirty="0">
              <a:solidFill>
                <a:srgbClr val="0B0560"/>
              </a:solidFill>
              <a:latin typeface="Arial"/>
              <a:cs typeface="Arial"/>
            </a:endParaRPr>
          </a:p>
        </p:txBody>
      </p:sp>
      <p:sp>
        <p:nvSpPr>
          <p:cNvPr id="43" name="People Bullets">
            <a:extLst>
              <a:ext uri="{FF2B5EF4-FFF2-40B4-BE49-F238E27FC236}">
                <a16:creationId xmlns:a16="http://schemas.microsoft.com/office/drawing/2014/main" id="{B2C5F48D-987A-7E40-934A-DE87BEC60F45}"/>
              </a:ext>
            </a:extLst>
          </p:cNvPr>
          <p:cNvSpPr txBox="1"/>
          <p:nvPr/>
        </p:nvSpPr>
        <p:spPr>
          <a:xfrm>
            <a:off x="660400" y="3937000"/>
            <a:ext cx="3200400" cy="1041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a:solidFill>
                  <a:srgbClr val="0B0560"/>
                </a:solidFill>
                <a:latin typeface="Arial"/>
                <a:cs typeface="Arial"/>
              </a:rPr>
              <a:t>• Assess change impacts and readiness early
• Build roles, skills, training, ownership, and adoption into delivery</a:t>
            </a:r>
            <a:endParaRPr lang="en-US" sz="1100" dirty="0">
              <a:solidFill>
                <a:srgbClr val="0B0560"/>
              </a:solidFill>
              <a:latin typeface="Arial"/>
              <a:cs typeface="Arial"/>
            </a:endParaRPr>
          </a:p>
        </p:txBody>
      </p:sp>
      <p:sp>
        <p:nvSpPr>
          <p:cNvPr id="44" name="People Callout">
            <a:extLst>
              <a:ext uri="{FF2B5EF4-FFF2-40B4-BE49-F238E27FC236}">
                <a16:creationId xmlns:a16="http://schemas.microsoft.com/office/drawing/2014/main" id="{5590E471-C271-AC44-AE8D-7F04AA4166D7}"/>
              </a:ext>
            </a:extLst>
          </p:cNvPr>
          <p:cNvSpPr/>
          <p:nvPr/>
        </p:nvSpPr>
        <p:spPr bwMode="auto">
          <a:xfrm>
            <a:off x="1447800" y="4978400"/>
            <a:ext cx="2616200" cy="1066800"/>
          </a:xfrm>
          <a:prstGeom prst="rect">
            <a:avLst/>
          </a:prstGeom>
          <a:solidFill>
            <a:srgbClr val="0B056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5" name="People Callout Label">
            <a:extLst>
              <a:ext uri="{FF2B5EF4-FFF2-40B4-BE49-F238E27FC236}">
                <a16:creationId xmlns:a16="http://schemas.microsoft.com/office/drawing/2014/main" id="{2E434A59-52A9-5B41-B019-0A55761CCEAC}"/>
              </a:ext>
            </a:extLst>
          </p:cNvPr>
          <p:cNvSpPr txBox="1"/>
          <p:nvPr/>
        </p:nvSpPr>
        <p:spPr>
          <a:xfrm>
            <a:off x="1625600" y="5130800"/>
            <a:ext cx="2260600" cy="1905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F400C8"/>
                </a:solidFill>
                <a:latin typeface="Arial"/>
                <a:cs typeface="Arial"/>
              </a:rPr>
              <a:t>WEST MONROE BRINGS</a:t>
            </a:r>
            <a:endParaRPr lang="en-US" sz="950" b="1" dirty="0">
              <a:solidFill>
                <a:srgbClr val="F400C8"/>
              </a:solidFill>
              <a:latin typeface="Arial"/>
              <a:cs typeface="Arial"/>
            </a:endParaRPr>
          </a:p>
        </p:txBody>
      </p:sp>
      <p:sp>
        <p:nvSpPr>
          <p:cNvPr id="46" name="People Callout Text">
            <a:extLst>
              <a:ext uri="{FF2B5EF4-FFF2-40B4-BE49-F238E27FC236}">
                <a16:creationId xmlns:a16="http://schemas.microsoft.com/office/drawing/2014/main" id="{C5043CFC-F8CD-C443-9E5F-67BD59604D24}"/>
              </a:ext>
            </a:extLst>
          </p:cNvPr>
          <p:cNvSpPr txBox="1"/>
          <p:nvPr/>
        </p:nvSpPr>
        <p:spPr>
          <a:xfrm>
            <a:off x="1625600" y="5410200"/>
            <a:ext cx="2260600" cy="482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a:solidFill>
                  <a:srgbClr val="FFFFFF"/>
                </a:solidFill>
                <a:latin typeface="Arial"/>
                <a:cs typeface="Arial"/>
              </a:rPr>
              <a:t>Change assessment and support from design through adoption.</a:t>
            </a:r>
            <a:endParaRPr lang="en-US" sz="1100" b="1" dirty="0">
              <a:solidFill>
                <a:srgbClr val="FFFFFF"/>
              </a:solidFill>
              <a:latin typeface="Arial"/>
              <a:cs typeface="Arial"/>
            </a:endParaRPr>
          </a:p>
        </p:txBody>
      </p:sp>
      <p:sp>
        <p:nvSpPr>
          <p:cNvPr id="49" name="Technology Panel">
            <a:extLst>
              <a:ext uri="{FF2B5EF4-FFF2-40B4-BE49-F238E27FC236}">
                <a16:creationId xmlns:a16="http://schemas.microsoft.com/office/drawing/2014/main" id="{C752C5CD-40B2-BF4D-8477-0BCF86BA6109}"/>
              </a:ext>
            </a:extLst>
          </p:cNvPr>
          <p:cNvSpPr/>
          <p:nvPr/>
        </p:nvSpPr>
        <p:spPr bwMode="auto">
          <a:xfrm>
            <a:off x="8128000" y="2298700"/>
            <a:ext cx="3606800" cy="2997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0" name="Technology Marker">
            <a:extLst>
              <a:ext uri="{FF2B5EF4-FFF2-40B4-BE49-F238E27FC236}">
                <a16:creationId xmlns:a16="http://schemas.microsoft.com/office/drawing/2014/main" id="{C200C981-C121-F944-9CDD-4EAD2CFF024C}"/>
              </a:ext>
            </a:extLst>
          </p:cNvPr>
          <p:cNvSpPr/>
          <p:nvPr/>
        </p:nvSpPr>
        <p:spPr bwMode="auto">
          <a:xfrm>
            <a:off x="8305800" y="2019300"/>
            <a:ext cx="546100" cy="546100"/>
          </a:xfrm>
          <a:prstGeom prst="rect">
            <a:avLst/>
          </a:prstGeom>
          <a:solidFill>
            <a:srgbClr val="FFFFFF"/>
          </a:solidFill>
          <a:ln>
            <a:solidFill>
              <a:srgbClr val="0B0560"/>
            </a:solid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800" b="1" i="0" u="none" strike="noStrike" kern="1200" cap="none" spc="0" normalizeH="0" baseline="0" noProof="0" dirty="0">
              <a:ln>
                <a:noFill/>
              </a:ln>
              <a:solidFill>
                <a:srgbClr val="0B0560"/>
              </a:solidFill>
              <a:effectLst/>
              <a:uLnTx/>
              <a:uFillTx/>
              <a:latin typeface="Arial"/>
              <a:ea typeface="Roboto" panose="02000000000000000000" pitchFamily="2" charset="0"/>
              <a:cs typeface="Arial"/>
            </a:endParaRPr>
          </a:p>
        </p:txBody>
      </p:sp>
      <p:sp>
        <p:nvSpPr>
          <p:cNvPr id="52" name="Technology Heading">
            <a:extLst>
              <a:ext uri="{FF2B5EF4-FFF2-40B4-BE49-F238E27FC236}">
                <a16:creationId xmlns:a16="http://schemas.microsoft.com/office/drawing/2014/main" id="{01FB1711-A286-7A4A-B9B6-357F1B000DC5}"/>
              </a:ext>
            </a:extLst>
          </p:cNvPr>
          <p:cNvSpPr txBox="1"/>
          <p:nvPr/>
        </p:nvSpPr>
        <p:spPr>
          <a:xfrm>
            <a:off x="8331200" y="2654300"/>
            <a:ext cx="3200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650" b="1">
                <a:solidFill>
                  <a:srgbClr val="0A49FF"/>
                </a:solidFill>
                <a:latin typeface="Arial"/>
                <a:cs typeface="Arial"/>
              </a:rPr>
              <a:t>Technology</a:t>
            </a:r>
            <a:endParaRPr lang="en-US" sz="1650" b="1" dirty="0">
              <a:solidFill>
                <a:srgbClr val="0A49FF"/>
              </a:solidFill>
              <a:latin typeface="Arial"/>
              <a:cs typeface="Arial"/>
            </a:endParaRPr>
          </a:p>
        </p:txBody>
      </p:sp>
      <p:sp>
        <p:nvSpPr>
          <p:cNvPr id="53" name="Technology Lead">
            <a:extLst>
              <a:ext uri="{FF2B5EF4-FFF2-40B4-BE49-F238E27FC236}">
                <a16:creationId xmlns:a16="http://schemas.microsoft.com/office/drawing/2014/main" id="{24D4140A-28A6-A84B-9CCA-4E641B29BF2F}"/>
              </a:ext>
            </a:extLst>
          </p:cNvPr>
          <p:cNvSpPr txBox="1"/>
          <p:nvPr/>
        </p:nvSpPr>
        <p:spPr>
          <a:xfrm>
            <a:off x="8331200" y="3098800"/>
            <a:ext cx="3200400" cy="736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200" b="1">
                <a:solidFill>
                  <a:srgbClr val="0B0560"/>
                </a:solidFill>
                <a:latin typeface="Arial"/>
                <a:cs typeface="Arial"/>
              </a:rPr>
              <a:t>Create the architecture and delivery posture to keep pace with accelerating change.</a:t>
            </a:r>
            <a:endParaRPr lang="en-US" sz="1200" b="1" dirty="0">
              <a:solidFill>
                <a:srgbClr val="0B0560"/>
              </a:solidFill>
              <a:latin typeface="Arial"/>
              <a:cs typeface="Arial"/>
            </a:endParaRPr>
          </a:p>
        </p:txBody>
      </p:sp>
      <p:sp>
        <p:nvSpPr>
          <p:cNvPr id="54" name="Technology Bullets">
            <a:extLst>
              <a:ext uri="{FF2B5EF4-FFF2-40B4-BE49-F238E27FC236}">
                <a16:creationId xmlns:a16="http://schemas.microsoft.com/office/drawing/2014/main" id="{EDF8CDFE-A699-0348-AF42-CD3E5976A38C}"/>
              </a:ext>
            </a:extLst>
          </p:cNvPr>
          <p:cNvSpPr txBox="1"/>
          <p:nvPr/>
        </p:nvSpPr>
        <p:spPr>
          <a:xfrm>
            <a:off x="8331200" y="3937000"/>
            <a:ext cx="3200400" cy="1041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a:solidFill>
                  <a:srgbClr val="0B0560"/>
                </a:solidFill>
                <a:latin typeface="Arial"/>
                <a:cs typeface="Arial"/>
              </a:rPr>
              <a:t>• Choose the right modernization path and sequence
• Build secure, resilient, maintainable platforms</a:t>
            </a:r>
            <a:endParaRPr lang="en-US" sz="1100" dirty="0">
              <a:solidFill>
                <a:srgbClr val="0B0560"/>
              </a:solidFill>
              <a:latin typeface="Arial"/>
              <a:cs typeface="Arial"/>
            </a:endParaRPr>
          </a:p>
        </p:txBody>
      </p:sp>
      <p:sp>
        <p:nvSpPr>
          <p:cNvPr id="55" name="Technology Callout">
            <a:extLst>
              <a:ext uri="{FF2B5EF4-FFF2-40B4-BE49-F238E27FC236}">
                <a16:creationId xmlns:a16="http://schemas.microsoft.com/office/drawing/2014/main" id="{16E9A697-0451-4C4C-8DB0-EB91EDAD47A6}"/>
              </a:ext>
            </a:extLst>
          </p:cNvPr>
          <p:cNvSpPr/>
          <p:nvPr/>
        </p:nvSpPr>
        <p:spPr bwMode="auto">
          <a:xfrm>
            <a:off x="9118600" y="4978400"/>
            <a:ext cx="2616200" cy="1066800"/>
          </a:xfrm>
          <a:prstGeom prst="rect">
            <a:avLst/>
          </a:prstGeom>
          <a:solidFill>
            <a:srgbClr val="0B056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6" name="Technology Callout Label">
            <a:extLst>
              <a:ext uri="{FF2B5EF4-FFF2-40B4-BE49-F238E27FC236}">
                <a16:creationId xmlns:a16="http://schemas.microsoft.com/office/drawing/2014/main" id="{46169719-7269-984B-8739-20CBEC5320B9}"/>
              </a:ext>
            </a:extLst>
          </p:cNvPr>
          <p:cNvSpPr txBox="1"/>
          <p:nvPr/>
        </p:nvSpPr>
        <p:spPr>
          <a:xfrm>
            <a:off x="9296400" y="5130800"/>
            <a:ext cx="2260600" cy="1905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F400C8"/>
                </a:solidFill>
                <a:latin typeface="Arial"/>
                <a:cs typeface="Arial"/>
              </a:rPr>
              <a:t>WEST MONROE BRINGS</a:t>
            </a:r>
            <a:endParaRPr lang="en-US" sz="950" b="1" dirty="0">
              <a:solidFill>
                <a:srgbClr val="F400C8"/>
              </a:solidFill>
              <a:latin typeface="Arial"/>
              <a:cs typeface="Arial"/>
            </a:endParaRPr>
          </a:p>
        </p:txBody>
      </p:sp>
      <p:sp>
        <p:nvSpPr>
          <p:cNvPr id="57" name="Technology Callout Text">
            <a:extLst>
              <a:ext uri="{FF2B5EF4-FFF2-40B4-BE49-F238E27FC236}">
                <a16:creationId xmlns:a16="http://schemas.microsoft.com/office/drawing/2014/main" id="{8638E077-0894-2A48-851A-4DE4A25A64E3}"/>
              </a:ext>
            </a:extLst>
          </p:cNvPr>
          <p:cNvSpPr txBox="1"/>
          <p:nvPr/>
        </p:nvSpPr>
        <p:spPr>
          <a:xfrm>
            <a:off x="9296400" y="5410200"/>
            <a:ext cx="2260600" cy="482600"/>
          </a:xfrm>
          <a:prstGeom prst="rect">
            <a:avLst/>
          </a:prstGeom>
          <a:noFill/>
        </p:spPr>
        <p:txBody>
          <a:bodyPr vertOverflow="overflow" vert="horz" wrap="square" lIns="0" tIns="0" rIns="0" bIns="0" rtlCol="0" anchor="t">
            <a:normAutofit lnSpcReduction="10000"/>
          </a:bodyPr>
          <a:lstStyle/>
          <a:p>
            <a:pPr marL="0" indent="0" algn="l">
              <a:spcAft>
                <a:spcPts val="600"/>
              </a:spcAft>
              <a:tabLst/>
            </a:pPr>
            <a:r>
              <a:rPr lang="en-US" sz="1100" b="1">
                <a:solidFill>
                  <a:srgbClr val="FFFFFF"/>
                </a:solidFill>
                <a:latin typeface="Arial"/>
                <a:cs typeface="Arial"/>
              </a:rPr>
              <a:t>A future-ready technology posture built for continuous evolution.</a:t>
            </a:r>
            <a:endParaRPr lang="en-US" sz="1100" b="1" dirty="0">
              <a:solidFill>
                <a:srgbClr val="FFFFFF"/>
              </a:solidFill>
              <a:latin typeface="Arial"/>
              <a:cs typeface="Arial"/>
            </a:endParaRPr>
          </a:p>
        </p:txBody>
      </p:sp>
      <p:sp>
        <p:nvSpPr>
          <p:cNvPr id="61" name="Footer Copyright">
            <a:extLst>
              <a:ext uri="{FF2B5EF4-FFF2-40B4-BE49-F238E27FC236}">
                <a16:creationId xmlns:a16="http://schemas.microsoft.com/office/drawing/2014/main" id="{F2A7DBCE-83D4-5140-B6AD-5D107681A5ED}"/>
              </a:ext>
            </a:extLst>
          </p:cNvPr>
          <p:cNvSpPr txBox="1"/>
          <p:nvPr/>
        </p:nvSpPr>
        <p:spPr>
          <a:xfrm>
            <a:off x="4321048" y="6400800"/>
            <a:ext cx="7102856" cy="167894"/>
          </a:xfrm>
          <a:prstGeom prst="rect">
            <a:avLst/>
          </a:prstGeom>
          <a:noFill/>
        </p:spPr>
        <p:txBody>
          <a:bodyPr vertOverflow="overflow" vert="horz" wrap="none" lIns="0" tIns="0" rIns="0" bIns="0" rtlCol="0" anchor="t">
            <a:normAutofit/>
          </a:bodyPr>
          <a:lstStyle/>
          <a:p>
            <a:pPr marL="0" indent="0" algn="l">
              <a:spcAft>
                <a:spcPts val="600"/>
              </a:spcAft>
              <a:tabLst/>
            </a:pPr>
            <a:r>
              <a:rPr lang="en-US" sz="650">
                <a:solidFill>
                  <a:srgbClr val="0B0560"/>
                </a:solidFill>
                <a:latin typeface="Arial"/>
                <a:cs typeface="Arial"/>
              </a:rPr>
              <a:t>© 2026 West Monroe Partners | Reproduction and/or distribution without West Monroe Partners’ prior consent is prohibited.</a:t>
            </a:r>
            <a:endParaRPr lang="en-US" sz="650" dirty="0">
              <a:solidFill>
                <a:srgbClr val="0B0560"/>
              </a:solidFill>
              <a:latin typeface="Arial"/>
              <a:cs typeface="Arial"/>
            </a:endParaRPr>
          </a:p>
        </p:txBody>
      </p:sp>
      <p:sp>
        <p:nvSpPr>
          <p:cNvPr id="62" name="Slide Number 16">
            <a:extLst>
              <a:ext uri="{FF2B5EF4-FFF2-40B4-BE49-F238E27FC236}">
                <a16:creationId xmlns:a16="http://schemas.microsoft.com/office/drawing/2014/main" id="{DAF78A38-A32B-0A4D-A09B-6C786414DDC6}"/>
              </a:ext>
            </a:extLst>
          </p:cNvPr>
          <p:cNvSpPr txBox="1"/>
          <p:nvPr/>
        </p:nvSpPr>
        <p:spPr>
          <a:xfrm>
            <a:off x="11509629" y="6400800"/>
            <a:ext cx="218821" cy="167894"/>
          </a:xfrm>
          <a:prstGeom prst="rect">
            <a:avLst/>
          </a:prstGeom>
          <a:noFill/>
        </p:spPr>
        <p:txBody>
          <a:bodyPr vertOverflow="overflow" vert="horz" wrap="none" lIns="0" tIns="0" rIns="0" bIns="0" rtlCol="0" anchor="t">
            <a:normAutofit/>
          </a:bodyPr>
          <a:lstStyle/>
          <a:p>
            <a:pPr marL="0" indent="0" algn="l">
              <a:spcAft>
                <a:spcPts val="600"/>
              </a:spcAft>
              <a:tabLst/>
            </a:pPr>
            <a:r>
              <a:rPr lang="en-US" sz="700">
                <a:solidFill>
                  <a:srgbClr val="0B0560"/>
                </a:solidFill>
                <a:latin typeface="Arial"/>
                <a:cs typeface="Arial"/>
              </a:rPr>
              <a:t>16</a:t>
            </a:r>
            <a:endParaRPr lang="en-US" sz="700" dirty="0">
              <a:solidFill>
                <a:srgbClr val="0B0560"/>
              </a:solidFill>
              <a:latin typeface="Arial"/>
              <a:cs typeface="Arial"/>
            </a:endParaRPr>
          </a:p>
        </p:txBody>
      </p:sp>
      <p:pic>
        <p:nvPicPr>
          <p:cNvPr id="63" name="Slide 15 Arrow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6326" y="5016500"/>
            <a:ext cx="753008" cy="753008"/>
          </a:xfrm>
          <a:prstGeom prst="rect">
            <a:avLst/>
          </a:prstGeom>
        </p:spPr>
      </p:pic>
      <p:pic>
        <p:nvPicPr>
          <p:cNvPr id="64" name="Slide 15 Arrow 2"/>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11726" y="5016500"/>
            <a:ext cx="753008" cy="753008"/>
          </a:xfrm>
          <a:prstGeom prst="rect">
            <a:avLst/>
          </a:prstGeom>
        </p:spPr>
      </p:pic>
      <p:pic>
        <p:nvPicPr>
          <p:cNvPr id="65" name="Slide 15 Arrow 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47126" y="5016500"/>
            <a:ext cx="753008" cy="753008"/>
          </a:xfrm>
          <a:prstGeom prst="rect">
            <a:avLst/>
          </a:prstGeom>
        </p:spPr>
      </p:pic>
      <p:sp>
        <p:nvSpPr>
          <p:cNvPr id="2" name="Placeholder Icon Ring 1">
            <a:extLst>
              <a:ext uri="{FF2B5EF4-FFF2-40B4-BE49-F238E27FC236}">
                <a16:creationId xmlns:a16="http://schemas.microsoft.com/office/drawing/2014/main" id="{9F304AC5-CE80-8841-A85B-E492F893E237}"/>
              </a:ext>
            </a:extLst>
          </p:cNvPr>
          <p:cNvSpPr/>
          <p:nvPr/>
        </p:nvSpPr>
        <p:spPr bwMode="auto">
          <a:xfrm>
            <a:off x="781050" y="2165350"/>
            <a:ext cx="254000" cy="254000"/>
          </a:xfrm>
          <a:prstGeom prst="ellipse">
            <a:avLst/>
          </a:prstGeom>
          <a:solidFill>
            <a:srgbClr val="FFFFFF"/>
          </a:solidFill>
          <a:ln w="15875">
            <a:solidFill>
              <a:srgbClr val="0B0560"/>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 name="Placeholder Icon Dot 1">
            <a:extLst>
              <a:ext uri="{FF2B5EF4-FFF2-40B4-BE49-F238E27FC236}">
                <a16:creationId xmlns:a16="http://schemas.microsoft.com/office/drawing/2014/main" id="{39C05815-9DF6-4947-B8B2-3C720C7C2435}"/>
              </a:ext>
            </a:extLst>
          </p:cNvPr>
          <p:cNvSpPr/>
          <p:nvPr/>
        </p:nvSpPr>
        <p:spPr bwMode="auto">
          <a:xfrm>
            <a:off x="876300" y="2260600"/>
            <a:ext cx="63500" cy="63500"/>
          </a:xfrm>
          <a:prstGeom prst="ellipse">
            <a:avLst/>
          </a:prstGeom>
          <a:solidFill>
            <a:srgbClr val="0B056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Placeholder Icon Ring 2">
            <a:extLst>
              <a:ext uri="{FF2B5EF4-FFF2-40B4-BE49-F238E27FC236}">
                <a16:creationId xmlns:a16="http://schemas.microsoft.com/office/drawing/2014/main" id="{12EE2E2C-1565-4142-AA28-BDA62841FAEB}"/>
              </a:ext>
            </a:extLst>
          </p:cNvPr>
          <p:cNvSpPr/>
          <p:nvPr/>
        </p:nvSpPr>
        <p:spPr bwMode="auto">
          <a:xfrm>
            <a:off x="4616450" y="2165350"/>
            <a:ext cx="254000" cy="254000"/>
          </a:xfrm>
          <a:prstGeom prst="ellipse">
            <a:avLst/>
          </a:prstGeom>
          <a:solidFill>
            <a:srgbClr val="FFFFFF"/>
          </a:solidFill>
          <a:ln w="15875">
            <a:solidFill>
              <a:srgbClr val="0B0560"/>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 name="Placeholder Icon Dot 2">
            <a:extLst>
              <a:ext uri="{FF2B5EF4-FFF2-40B4-BE49-F238E27FC236}">
                <a16:creationId xmlns:a16="http://schemas.microsoft.com/office/drawing/2014/main" id="{D84465C4-5646-9447-B303-53209EA65D8F}"/>
              </a:ext>
            </a:extLst>
          </p:cNvPr>
          <p:cNvSpPr/>
          <p:nvPr/>
        </p:nvSpPr>
        <p:spPr bwMode="auto">
          <a:xfrm>
            <a:off x="4711700" y="2260600"/>
            <a:ext cx="63500" cy="63500"/>
          </a:xfrm>
          <a:prstGeom prst="ellipse">
            <a:avLst/>
          </a:prstGeom>
          <a:solidFill>
            <a:srgbClr val="0B056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Placeholder Icon Ring 3">
            <a:extLst>
              <a:ext uri="{FF2B5EF4-FFF2-40B4-BE49-F238E27FC236}">
                <a16:creationId xmlns:a16="http://schemas.microsoft.com/office/drawing/2014/main" id="{1761A61E-D411-4245-BB25-409A1B558EC0}"/>
              </a:ext>
            </a:extLst>
          </p:cNvPr>
          <p:cNvSpPr/>
          <p:nvPr/>
        </p:nvSpPr>
        <p:spPr bwMode="auto">
          <a:xfrm>
            <a:off x="8451850" y="2165350"/>
            <a:ext cx="254000" cy="254000"/>
          </a:xfrm>
          <a:prstGeom prst="ellipse">
            <a:avLst/>
          </a:prstGeom>
          <a:solidFill>
            <a:srgbClr val="FFFFFF"/>
          </a:solidFill>
          <a:ln w="15875">
            <a:solidFill>
              <a:srgbClr val="0B0560"/>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Placeholder Icon Dot 3">
            <a:extLst>
              <a:ext uri="{FF2B5EF4-FFF2-40B4-BE49-F238E27FC236}">
                <a16:creationId xmlns:a16="http://schemas.microsoft.com/office/drawing/2014/main" id="{2CEC4360-3FD4-844F-B785-4EF375D80380}"/>
              </a:ext>
            </a:extLst>
          </p:cNvPr>
          <p:cNvSpPr/>
          <p:nvPr/>
        </p:nvSpPr>
        <p:spPr bwMode="auto">
          <a:xfrm>
            <a:off x="8547100" y="2260600"/>
            <a:ext cx="63500" cy="63500"/>
          </a:xfrm>
          <a:prstGeom prst="ellipse">
            <a:avLst/>
          </a:prstGeom>
          <a:solidFill>
            <a:srgbClr val="0B056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Tree>
    <p:custDataLst>
      <p:tags r:id="rId1"/>
    </p:custDataLst>
    <p:extLst>
      <p:ext uri="{BB962C8B-B14F-4D97-AF65-F5344CB8AC3E}">
        <p14:creationId xmlns:p14="http://schemas.microsoft.com/office/powerpoint/2010/main" val="2864631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3FE49A2-F34D-AEB7-C932-9E57C7A2AB24}"/>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E200563-9581-85FC-B4A1-EC1B6F2927A2}"/>
              </a:ext>
            </a:extLst>
          </p:cNvPr>
          <p:cNvSpPr/>
          <p:nvPr/>
        </p:nvSpPr>
        <p:spPr bwMode="auto">
          <a:xfrm>
            <a:off x="5708043" y="1626603"/>
            <a:ext cx="5983950" cy="4553480"/>
          </a:xfrm>
          <a:prstGeom prst="rect">
            <a:avLst/>
          </a:prstGeom>
          <a:solidFill>
            <a:schemeClr val="accent4"/>
          </a:solidFill>
          <a:ln>
            <a:noFill/>
          </a:ln>
          <a:effectLst/>
        </p:spPr>
        <p:txBody>
          <a:bodyPr rot="0" spcFirstLastPara="0" vertOverflow="overflow" horzOverflow="overflow" vert="horz" wrap="square" lIns="182880" tIns="182880" rIns="91440" bIns="18288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tab pos="3605213" algn="l"/>
              </a:tabLst>
              <a:defRPr/>
            </a:pPr>
            <a:r>
              <a:rPr kumimoji="0" lang="en-US" sz="14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Modernization Execution &amp; Sustainment	</a:t>
            </a:r>
            <a:r>
              <a:rPr kumimoji="0" lang="en-US" sz="1000" b="1" i="0" u="none" strike="noStrike" kern="1200" cap="none" spc="0" normalizeH="0" baseline="0" noProof="0">
                <a:ln>
                  <a:noFill/>
                </a:ln>
                <a:solidFill>
                  <a:srgbClr val="070154"/>
                </a:solidFill>
                <a:effectLst/>
                <a:uLnTx/>
                <a:uFillTx/>
                <a:latin typeface="Arial" panose="020B0604020202020204"/>
                <a:ea typeface="+mn-ea"/>
                <a:cs typeface="+mn-cs"/>
              </a:rPr>
              <a:t>Timeline: </a:t>
            </a: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2-Week Sprints </a:t>
            </a:r>
            <a:b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b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	</a:t>
            </a:r>
            <a:r>
              <a:rPr kumimoji="0" lang="en-US" sz="900" b="0" i="1" u="none" strike="noStrike" kern="1200" cap="none" spc="0" normalizeH="0" baseline="0" noProof="0">
                <a:ln>
                  <a:noFill/>
                </a:ln>
                <a:solidFill>
                  <a:srgbClr val="070154"/>
                </a:solidFill>
                <a:effectLst/>
                <a:uLnTx/>
                <a:uFillTx/>
                <a:latin typeface="Arial" panose="020B0604020202020204"/>
                <a:ea typeface="+mn-ea"/>
                <a:cs typeface="+mn-cs"/>
              </a:rPr>
              <a:t>(duration depends on scope)</a:t>
            </a:r>
            <a:endParaRPr kumimoji="0" lang="en-US" sz="900" b="0" i="1"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grpSp>
        <p:nvGrpSpPr>
          <p:cNvPr id="61" name="Group 60">
            <a:extLst>
              <a:ext uri="{FF2B5EF4-FFF2-40B4-BE49-F238E27FC236}">
                <a16:creationId xmlns:a16="http://schemas.microsoft.com/office/drawing/2014/main" id="{366C132E-FA56-0158-FD1A-09ACCAAC6244}"/>
              </a:ext>
            </a:extLst>
          </p:cNvPr>
          <p:cNvGrpSpPr>
            <a:grpSpLocks noChangeAspect="1"/>
          </p:cNvGrpSpPr>
          <p:nvPr/>
        </p:nvGrpSpPr>
        <p:grpSpPr>
          <a:xfrm>
            <a:off x="6063580" y="2129685"/>
            <a:ext cx="521222" cy="521222"/>
            <a:chOff x="4329326" y="1905167"/>
            <a:chExt cx="1280160" cy="1280160"/>
          </a:xfrm>
        </p:grpSpPr>
        <p:sp>
          <p:nvSpPr>
            <p:cNvPr id="62" name="Block Arc 61">
              <a:extLst>
                <a:ext uri="{FF2B5EF4-FFF2-40B4-BE49-F238E27FC236}">
                  <a16:creationId xmlns:a16="http://schemas.microsoft.com/office/drawing/2014/main" id="{18EC6205-C89D-5AAD-1FE6-4CD97C9F58A8}"/>
                </a:ext>
              </a:extLst>
            </p:cNvPr>
            <p:cNvSpPr/>
            <p:nvPr/>
          </p:nvSpPr>
          <p:spPr bwMode="auto">
            <a:xfrm>
              <a:off x="4329326" y="1905167"/>
              <a:ext cx="1280160" cy="1280160"/>
            </a:xfrm>
            <a:prstGeom prst="blockArc">
              <a:avLst>
                <a:gd name="adj1" fmla="val 10800000"/>
                <a:gd name="adj2" fmla="val 5226641"/>
                <a:gd name="adj3" fmla="val 29667"/>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63" name="Isosceles Triangle 62">
              <a:extLst>
                <a:ext uri="{FF2B5EF4-FFF2-40B4-BE49-F238E27FC236}">
                  <a16:creationId xmlns:a16="http://schemas.microsoft.com/office/drawing/2014/main" id="{F17CA8B5-AA8A-2BCD-A253-B9CC5BC509AC}"/>
                </a:ext>
              </a:extLst>
            </p:cNvPr>
            <p:cNvSpPr/>
            <p:nvPr/>
          </p:nvSpPr>
          <p:spPr bwMode="auto">
            <a:xfrm flipV="1">
              <a:off x="4330970" y="2530118"/>
              <a:ext cx="379461" cy="189730"/>
            </a:xfrm>
            <a:prstGeom prst="triangle">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grpSp>
      <p:sp>
        <p:nvSpPr>
          <p:cNvPr id="10" name="Rectangle 9">
            <a:extLst>
              <a:ext uri="{FF2B5EF4-FFF2-40B4-BE49-F238E27FC236}">
                <a16:creationId xmlns:a16="http://schemas.microsoft.com/office/drawing/2014/main" id="{FF47307E-8CE8-1115-5547-3599FB583B71}"/>
              </a:ext>
            </a:extLst>
          </p:cNvPr>
          <p:cNvSpPr/>
          <p:nvPr/>
        </p:nvSpPr>
        <p:spPr bwMode="auto">
          <a:xfrm>
            <a:off x="830245" y="1626602"/>
            <a:ext cx="4781986" cy="4553481"/>
          </a:xfrm>
          <a:prstGeom prst="rect">
            <a:avLst/>
          </a:prstGeom>
          <a:solidFill>
            <a:schemeClr val="accent4"/>
          </a:solidFill>
          <a:ln>
            <a:noFill/>
          </a:ln>
          <a:effectLst/>
        </p:spPr>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pPr marL="9525"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tab pos="3657600" algn="l"/>
              </a:tabLst>
              <a:defRPr/>
            </a:pPr>
            <a:r>
              <a:rPr kumimoji="0" lang="en-US" sz="14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Rationalization &amp; Modernization Strategy	</a:t>
            </a:r>
            <a:r>
              <a:rPr kumimoji="0" lang="en-US" sz="1000" b="1" i="0" u="none" strike="noStrike" kern="1200" cap="none" spc="0" normalizeH="0" baseline="0" noProof="0">
                <a:ln>
                  <a:noFill/>
                </a:ln>
                <a:solidFill>
                  <a:srgbClr val="070154"/>
                </a:solidFill>
                <a:effectLst/>
                <a:uLnTx/>
                <a:uFillTx/>
                <a:latin typeface="Arial" panose="020B0604020202020204"/>
                <a:ea typeface="+mn-ea"/>
                <a:cs typeface="+mn-cs"/>
              </a:rPr>
              <a:t>Timeline:</a:t>
            </a:r>
          </a:p>
          <a:p>
            <a:pPr marL="9525"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tab pos="3657600" algn="l"/>
              </a:tabLst>
              <a:defRPr/>
            </a:pPr>
            <a:r>
              <a:rPr kumimoji="0" lang="en-US" sz="1000" b="1" i="0" u="none" strike="noStrike" kern="1200" cap="none" spc="0" normalizeH="0" baseline="0" noProof="0">
                <a:ln>
                  <a:noFill/>
                </a:ln>
                <a:solidFill>
                  <a:srgbClr val="070154"/>
                </a:solidFill>
                <a:effectLst/>
                <a:uLnTx/>
                <a:uFillTx/>
                <a:latin typeface="Arial" panose="020B0604020202020204"/>
                <a:ea typeface="+mn-ea"/>
                <a:cs typeface="+mn-cs"/>
              </a:rPr>
              <a:t>	</a:t>
            </a: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rPr>
              <a:t>~4-8 Weeks</a:t>
            </a:r>
          </a:p>
          <a:p>
            <a:pPr marL="9525"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  </a:t>
            </a:r>
            <a:endPar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grpSp>
        <p:nvGrpSpPr>
          <p:cNvPr id="32" name="Group 31">
            <a:extLst>
              <a:ext uri="{FF2B5EF4-FFF2-40B4-BE49-F238E27FC236}">
                <a16:creationId xmlns:a16="http://schemas.microsoft.com/office/drawing/2014/main" id="{637D6AA3-7B40-4978-6D99-9D1BE7D49E93}"/>
              </a:ext>
            </a:extLst>
          </p:cNvPr>
          <p:cNvGrpSpPr>
            <a:grpSpLocks noChangeAspect="1"/>
          </p:cNvGrpSpPr>
          <p:nvPr/>
        </p:nvGrpSpPr>
        <p:grpSpPr>
          <a:xfrm>
            <a:off x="6700419" y="2129685"/>
            <a:ext cx="521222" cy="521222"/>
            <a:chOff x="4329326" y="1905167"/>
            <a:chExt cx="1280160" cy="1280160"/>
          </a:xfrm>
        </p:grpSpPr>
        <p:sp>
          <p:nvSpPr>
            <p:cNvPr id="28" name="Block Arc 27">
              <a:extLst>
                <a:ext uri="{FF2B5EF4-FFF2-40B4-BE49-F238E27FC236}">
                  <a16:creationId xmlns:a16="http://schemas.microsoft.com/office/drawing/2014/main" id="{56CBAE46-E20C-A8BD-D3C8-9A83D2A2D0A1}"/>
                </a:ext>
              </a:extLst>
            </p:cNvPr>
            <p:cNvSpPr/>
            <p:nvPr/>
          </p:nvSpPr>
          <p:spPr bwMode="auto">
            <a:xfrm>
              <a:off x="4329326" y="1905167"/>
              <a:ext cx="1280160" cy="1280160"/>
            </a:xfrm>
            <a:prstGeom prst="blockArc">
              <a:avLst>
                <a:gd name="adj1" fmla="val 10800000"/>
                <a:gd name="adj2" fmla="val 5226641"/>
                <a:gd name="adj3" fmla="val 29667"/>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31" name="Isosceles Triangle 30">
              <a:extLst>
                <a:ext uri="{FF2B5EF4-FFF2-40B4-BE49-F238E27FC236}">
                  <a16:creationId xmlns:a16="http://schemas.microsoft.com/office/drawing/2014/main" id="{BF073858-8876-C84C-B812-8A0F7E0F4E3A}"/>
                </a:ext>
              </a:extLst>
            </p:cNvPr>
            <p:cNvSpPr/>
            <p:nvPr/>
          </p:nvSpPr>
          <p:spPr bwMode="auto">
            <a:xfrm flipV="1">
              <a:off x="4330970" y="2530118"/>
              <a:ext cx="379461" cy="189730"/>
            </a:xfrm>
            <a:prstGeom prst="triangle">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grpSp>
      <p:sp>
        <p:nvSpPr>
          <p:cNvPr id="2" name="Footer Placeholder 1">
            <a:extLst>
              <a:ext uri="{FF2B5EF4-FFF2-40B4-BE49-F238E27FC236}">
                <a16:creationId xmlns:a16="http://schemas.microsoft.com/office/drawing/2014/main" id="{F7685E6A-C5F5-2B61-50F1-FB8841AD7782}"/>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1CFDC9FD-8650-C704-83B5-162A45DC8407}"/>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20</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5" name="Title 4">
            <a:extLst>
              <a:ext uri="{FF2B5EF4-FFF2-40B4-BE49-F238E27FC236}">
                <a16:creationId xmlns:a16="http://schemas.microsoft.com/office/drawing/2014/main" id="{A9352F6E-3E42-D7C4-B01B-CED4EB2BF377}"/>
              </a:ext>
            </a:extLst>
          </p:cNvPr>
          <p:cNvSpPr>
            <a:spLocks noGrp="1"/>
          </p:cNvSpPr>
          <p:nvPr>
            <p:ph type="title"/>
          </p:nvPr>
        </p:nvSpPr>
        <p:spPr>
          <a:xfrm>
            <a:off x="460374" y="556953"/>
            <a:ext cx="11266489" cy="784830"/>
          </a:xfrm>
        </p:spPr>
        <p:txBody>
          <a:bodyPr wrap="square">
            <a:spAutoFit/>
          </a:bodyPr>
          <a:lstStyle/>
          <a:p>
            <a:r>
              <a:rPr lang="en-US" sz="2400"/>
              <a:t>Based on your current progress, we can rationalize applications and define the modernization strategy or get started directly with execution.</a:t>
            </a:r>
            <a:endParaRPr lang="en-US" sz="1600">
              <a:solidFill>
                <a:schemeClr val="tx2"/>
              </a:solidFill>
            </a:endParaRPr>
          </a:p>
        </p:txBody>
      </p:sp>
      <p:sp>
        <p:nvSpPr>
          <p:cNvPr id="7" name="Text Placeholder 6">
            <a:extLst>
              <a:ext uri="{FF2B5EF4-FFF2-40B4-BE49-F238E27FC236}">
                <a16:creationId xmlns:a16="http://schemas.microsoft.com/office/drawing/2014/main" id="{E0BF2076-C390-A6EE-F3BD-401967C55753}"/>
              </a:ext>
            </a:extLst>
          </p:cNvPr>
          <p:cNvSpPr>
            <a:spLocks noGrp="1"/>
          </p:cNvSpPr>
          <p:nvPr>
            <p:ph type="body" sz="quarter" idx="19"/>
          </p:nvPr>
        </p:nvSpPr>
        <p:spPr/>
        <p:txBody>
          <a:bodyPr/>
          <a:lstStyle/>
          <a:p>
            <a:r>
              <a:rPr lang="en-US"/>
              <a:t>SOFTWARE MODERNIZATION</a:t>
            </a:r>
          </a:p>
        </p:txBody>
      </p:sp>
      <p:grpSp>
        <p:nvGrpSpPr>
          <p:cNvPr id="18" name="Group 17">
            <a:extLst>
              <a:ext uri="{FF2B5EF4-FFF2-40B4-BE49-F238E27FC236}">
                <a16:creationId xmlns:a16="http://schemas.microsoft.com/office/drawing/2014/main" id="{A5E97AEB-A345-2741-1D61-43888023A56B}"/>
              </a:ext>
            </a:extLst>
          </p:cNvPr>
          <p:cNvGrpSpPr/>
          <p:nvPr/>
        </p:nvGrpSpPr>
        <p:grpSpPr>
          <a:xfrm>
            <a:off x="842702" y="1459077"/>
            <a:ext cx="1130628" cy="344787"/>
            <a:chOff x="472831" y="1631129"/>
            <a:chExt cx="1130628" cy="344787"/>
          </a:xfrm>
        </p:grpSpPr>
        <p:pic>
          <p:nvPicPr>
            <p:cNvPr id="14" name="Graphic 13">
              <a:extLst>
                <a:ext uri="{FF2B5EF4-FFF2-40B4-BE49-F238E27FC236}">
                  <a16:creationId xmlns:a16="http://schemas.microsoft.com/office/drawing/2014/main" id="{1596E371-AFAA-0C73-5892-C3EEC2194EBC}"/>
                </a:ext>
              </a:extLst>
            </p:cNvPr>
            <p:cNvPicPr>
              <a:picLocks noChangeAspect="1"/>
            </p:cNvPicPr>
            <p:nvPr/>
          </p:nvPicPr>
          <p:blipFill>
            <a:blip>
              <a:extLst>
                <a:ext uri="{96DAC541-7B7A-43D3-8B79-37D633B846F1}">
                  <asvg:svgBlip xmlns:asvg="http://schemas.microsoft.com/office/drawing/2016/SVG/main" r:embed="rId3"/>
                </a:ext>
              </a:extLst>
            </a:blip>
            <a:srcRect l="86522" t="80198"/>
            <a:stretch>
              <a:fillRect/>
            </a:stretch>
          </p:blipFill>
          <p:spPr>
            <a:xfrm rot="15105626" flipH="1" flipV="1">
              <a:off x="503539" y="1814302"/>
              <a:ext cx="130906" cy="192321"/>
            </a:xfrm>
            <a:prstGeom prst="rect">
              <a:avLst/>
            </a:prstGeom>
          </p:spPr>
        </p:pic>
        <p:sp>
          <p:nvSpPr>
            <p:cNvPr id="15" name="TextBox 14">
              <a:extLst>
                <a:ext uri="{FF2B5EF4-FFF2-40B4-BE49-F238E27FC236}">
                  <a16:creationId xmlns:a16="http://schemas.microsoft.com/office/drawing/2014/main" id="{0A7032DB-190D-171B-7F28-DAC6650AD400}"/>
                </a:ext>
              </a:extLst>
            </p:cNvPr>
            <p:cNvSpPr txBox="1"/>
            <p:nvPr/>
          </p:nvSpPr>
          <p:spPr>
            <a:xfrm>
              <a:off x="780499" y="1631129"/>
              <a:ext cx="822960" cy="12681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800" b="1" i="0" u="none" strike="noStrike" kern="1200" cap="none" spc="0" normalizeH="0" baseline="0" noProof="0">
                  <a:ln>
                    <a:noFill/>
                  </a:ln>
                  <a:solidFill>
                    <a:srgbClr val="070154"/>
                  </a:solidFill>
                  <a:effectLst/>
                  <a:uLnTx/>
                  <a:uFillTx/>
                  <a:latin typeface="Arial" panose="020B0604020202020204"/>
                  <a:ea typeface="+mn-ea"/>
                  <a:cs typeface="+mn-cs"/>
                </a:rPr>
                <a:t>START HERE…</a:t>
              </a:r>
            </a:p>
          </p:txBody>
        </p:sp>
        <p:sp>
          <p:nvSpPr>
            <p:cNvPr id="17" name="Flowchart: Terminator 16">
              <a:extLst>
                <a:ext uri="{FF2B5EF4-FFF2-40B4-BE49-F238E27FC236}">
                  <a16:creationId xmlns:a16="http://schemas.microsoft.com/office/drawing/2014/main" id="{9C2FA6A3-FD52-3DD9-A5BB-0236E336FFA8}"/>
                </a:ext>
              </a:extLst>
            </p:cNvPr>
            <p:cNvSpPr/>
            <p:nvPr/>
          </p:nvSpPr>
          <p:spPr bwMode="auto">
            <a:xfrm rot="3075744">
              <a:off x="505539" y="1861058"/>
              <a:ext cx="91440" cy="45719"/>
            </a:xfrm>
            <a:prstGeom prst="flowChartTerminator">
              <a:avLst/>
            </a:prstGeom>
            <a:solidFill>
              <a:schemeClr val="accent4"/>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6" name="Arc 15">
              <a:extLst>
                <a:ext uri="{FF2B5EF4-FFF2-40B4-BE49-F238E27FC236}">
                  <a16:creationId xmlns:a16="http://schemas.microsoft.com/office/drawing/2014/main" id="{A1AC22F8-95A0-03DF-8E3F-16A350C7C9A4}"/>
                </a:ext>
              </a:extLst>
            </p:cNvPr>
            <p:cNvSpPr/>
            <p:nvPr/>
          </p:nvSpPr>
          <p:spPr>
            <a:xfrm rot="1890552">
              <a:off x="540064" y="1683652"/>
              <a:ext cx="278381" cy="274320"/>
            </a:xfrm>
            <a:prstGeom prst="arc">
              <a:avLst>
                <a:gd name="adj1" fmla="val 5804545"/>
                <a:gd name="adj2" fmla="val 15507723"/>
              </a:avLst>
            </a:prstGeom>
            <a:ln w="25400" cap="rnd">
              <a:solidFill>
                <a:schemeClr val="tx1"/>
              </a:solidFill>
              <a:prstDash val="solid"/>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500" b="0" i="0" u="none" strike="noStrike" kern="1200" cap="none" spc="0" normalizeH="0" baseline="0" noProof="0">
                <a:ln>
                  <a:noFill/>
                </a:ln>
                <a:solidFill>
                  <a:srgbClr val="070154"/>
                </a:solidFill>
                <a:effectLst/>
                <a:uLnTx/>
                <a:uFillTx/>
                <a:latin typeface="Arial" panose="020B0604020202020204"/>
                <a:ea typeface="+mn-ea"/>
                <a:cs typeface="+mn-cs"/>
              </a:endParaRPr>
            </a:p>
          </p:txBody>
        </p:sp>
      </p:grpSp>
      <p:grpSp>
        <p:nvGrpSpPr>
          <p:cNvPr id="19" name="Group 18">
            <a:extLst>
              <a:ext uri="{FF2B5EF4-FFF2-40B4-BE49-F238E27FC236}">
                <a16:creationId xmlns:a16="http://schemas.microsoft.com/office/drawing/2014/main" id="{E843BADC-0365-98A3-D842-2799FBFD3EB5}"/>
              </a:ext>
            </a:extLst>
          </p:cNvPr>
          <p:cNvGrpSpPr/>
          <p:nvPr/>
        </p:nvGrpSpPr>
        <p:grpSpPr>
          <a:xfrm>
            <a:off x="5722811" y="1459077"/>
            <a:ext cx="908314" cy="344787"/>
            <a:chOff x="472831" y="1631129"/>
            <a:chExt cx="908314" cy="344787"/>
          </a:xfrm>
        </p:grpSpPr>
        <p:pic>
          <p:nvPicPr>
            <p:cNvPr id="20" name="Graphic 19">
              <a:extLst>
                <a:ext uri="{FF2B5EF4-FFF2-40B4-BE49-F238E27FC236}">
                  <a16:creationId xmlns:a16="http://schemas.microsoft.com/office/drawing/2014/main" id="{3320A4D7-8B4C-D2B4-55A9-A1A0C994FAEC}"/>
                </a:ext>
              </a:extLst>
            </p:cNvPr>
            <p:cNvPicPr>
              <a:picLocks noChangeAspect="1"/>
            </p:cNvPicPr>
            <p:nvPr/>
          </p:nvPicPr>
          <p:blipFill>
            <a:blip>
              <a:extLst>
                <a:ext uri="{96DAC541-7B7A-43D3-8B79-37D633B846F1}">
                  <asvg:svgBlip xmlns:asvg="http://schemas.microsoft.com/office/drawing/2016/SVG/main" r:embed="rId3"/>
                </a:ext>
              </a:extLst>
            </a:blip>
            <a:srcRect l="86522" t="80198"/>
            <a:stretch>
              <a:fillRect/>
            </a:stretch>
          </p:blipFill>
          <p:spPr>
            <a:xfrm rot="15105626" flipH="1" flipV="1">
              <a:off x="503539" y="1814302"/>
              <a:ext cx="130906" cy="192321"/>
            </a:xfrm>
            <a:prstGeom prst="rect">
              <a:avLst/>
            </a:prstGeom>
          </p:spPr>
        </p:pic>
        <p:sp>
          <p:nvSpPr>
            <p:cNvPr id="21" name="TextBox 20">
              <a:extLst>
                <a:ext uri="{FF2B5EF4-FFF2-40B4-BE49-F238E27FC236}">
                  <a16:creationId xmlns:a16="http://schemas.microsoft.com/office/drawing/2014/main" id="{16E90923-EA5D-74F2-A40A-503B038A5228}"/>
                </a:ext>
              </a:extLst>
            </p:cNvPr>
            <p:cNvSpPr txBox="1"/>
            <p:nvPr/>
          </p:nvSpPr>
          <p:spPr>
            <a:xfrm>
              <a:off x="780499" y="1631129"/>
              <a:ext cx="600646" cy="12681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800" b="1" i="0" u="none" strike="noStrike" kern="1200" cap="none" spc="0" normalizeH="0" baseline="0" noProof="0">
                  <a:ln>
                    <a:noFill/>
                  </a:ln>
                  <a:solidFill>
                    <a:srgbClr val="070154"/>
                  </a:solidFill>
                  <a:effectLst/>
                  <a:uLnTx/>
                  <a:uFillTx/>
                  <a:latin typeface="Arial" panose="020B0604020202020204"/>
                  <a:ea typeface="+mn-ea"/>
                  <a:cs typeface="+mn-cs"/>
                </a:rPr>
                <a:t>…OR HERE</a:t>
              </a:r>
            </a:p>
          </p:txBody>
        </p:sp>
        <p:sp>
          <p:nvSpPr>
            <p:cNvPr id="22" name="Flowchart: Terminator 21">
              <a:extLst>
                <a:ext uri="{FF2B5EF4-FFF2-40B4-BE49-F238E27FC236}">
                  <a16:creationId xmlns:a16="http://schemas.microsoft.com/office/drawing/2014/main" id="{4A62AAA4-53DF-839D-119E-6DB2D8D652FB}"/>
                </a:ext>
              </a:extLst>
            </p:cNvPr>
            <p:cNvSpPr/>
            <p:nvPr/>
          </p:nvSpPr>
          <p:spPr bwMode="auto">
            <a:xfrm rot="3075744">
              <a:off x="505539" y="1861058"/>
              <a:ext cx="91440" cy="45719"/>
            </a:xfrm>
            <a:prstGeom prst="flowChartTerminator">
              <a:avLst/>
            </a:prstGeom>
            <a:solidFill>
              <a:schemeClr val="accent4"/>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Arc 22">
              <a:extLst>
                <a:ext uri="{FF2B5EF4-FFF2-40B4-BE49-F238E27FC236}">
                  <a16:creationId xmlns:a16="http://schemas.microsoft.com/office/drawing/2014/main" id="{578D813C-008F-2C1E-8F63-DFE277EC11CA}"/>
                </a:ext>
              </a:extLst>
            </p:cNvPr>
            <p:cNvSpPr/>
            <p:nvPr/>
          </p:nvSpPr>
          <p:spPr>
            <a:xfrm rot="1890552">
              <a:off x="540064" y="1683652"/>
              <a:ext cx="278381" cy="274320"/>
            </a:xfrm>
            <a:prstGeom prst="arc">
              <a:avLst>
                <a:gd name="adj1" fmla="val 5804545"/>
                <a:gd name="adj2" fmla="val 15507723"/>
              </a:avLst>
            </a:prstGeom>
            <a:ln w="25400" cap="rnd">
              <a:solidFill>
                <a:schemeClr val="tx1"/>
              </a:solidFill>
              <a:prstDash val="solid"/>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500" b="0" i="0" u="none" strike="noStrike" kern="1200" cap="none" spc="0" normalizeH="0" baseline="0" noProof="0">
                <a:ln>
                  <a:noFill/>
                </a:ln>
                <a:solidFill>
                  <a:srgbClr val="070154"/>
                </a:solidFill>
                <a:effectLst/>
                <a:uLnTx/>
                <a:uFillTx/>
                <a:latin typeface="Arial" panose="020B0604020202020204"/>
                <a:ea typeface="+mn-ea"/>
                <a:cs typeface="+mn-cs"/>
              </a:endParaRPr>
            </a:p>
          </p:txBody>
        </p:sp>
      </p:grpSp>
      <p:grpSp>
        <p:nvGrpSpPr>
          <p:cNvPr id="50" name="Group 49">
            <a:extLst>
              <a:ext uri="{FF2B5EF4-FFF2-40B4-BE49-F238E27FC236}">
                <a16:creationId xmlns:a16="http://schemas.microsoft.com/office/drawing/2014/main" id="{4459B82C-B0C7-CC16-7A99-687E0764C696}"/>
              </a:ext>
            </a:extLst>
          </p:cNvPr>
          <p:cNvGrpSpPr>
            <a:grpSpLocks noChangeAspect="1"/>
          </p:cNvGrpSpPr>
          <p:nvPr/>
        </p:nvGrpSpPr>
        <p:grpSpPr>
          <a:xfrm>
            <a:off x="7337258" y="2129685"/>
            <a:ext cx="521222" cy="521222"/>
            <a:chOff x="4329326" y="1905167"/>
            <a:chExt cx="1280160" cy="1280160"/>
          </a:xfrm>
        </p:grpSpPr>
        <p:sp>
          <p:nvSpPr>
            <p:cNvPr id="51" name="Block Arc 50">
              <a:extLst>
                <a:ext uri="{FF2B5EF4-FFF2-40B4-BE49-F238E27FC236}">
                  <a16:creationId xmlns:a16="http://schemas.microsoft.com/office/drawing/2014/main" id="{FEBDA81D-ED4A-3C35-7399-3139E00FB00A}"/>
                </a:ext>
              </a:extLst>
            </p:cNvPr>
            <p:cNvSpPr/>
            <p:nvPr/>
          </p:nvSpPr>
          <p:spPr bwMode="auto">
            <a:xfrm>
              <a:off x="4329326" y="1905167"/>
              <a:ext cx="1280160" cy="1280160"/>
            </a:xfrm>
            <a:prstGeom prst="blockArc">
              <a:avLst>
                <a:gd name="adj1" fmla="val 10800000"/>
                <a:gd name="adj2" fmla="val 5226641"/>
                <a:gd name="adj3" fmla="val 29667"/>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52" name="Isosceles Triangle 51">
              <a:extLst>
                <a:ext uri="{FF2B5EF4-FFF2-40B4-BE49-F238E27FC236}">
                  <a16:creationId xmlns:a16="http://schemas.microsoft.com/office/drawing/2014/main" id="{5D037BE2-7CAA-62B4-3B9F-0DC5E80A9D1D}"/>
                </a:ext>
              </a:extLst>
            </p:cNvPr>
            <p:cNvSpPr/>
            <p:nvPr/>
          </p:nvSpPr>
          <p:spPr bwMode="auto">
            <a:xfrm flipV="1">
              <a:off x="4330970" y="2530118"/>
              <a:ext cx="379461" cy="189730"/>
            </a:xfrm>
            <a:prstGeom prst="triangle">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grpSp>
      <p:sp>
        <p:nvSpPr>
          <p:cNvPr id="60" name="TextBox 59">
            <a:extLst>
              <a:ext uri="{FF2B5EF4-FFF2-40B4-BE49-F238E27FC236}">
                <a16:creationId xmlns:a16="http://schemas.microsoft.com/office/drawing/2014/main" id="{6E100662-00C5-4187-1135-62FF4DB85954}"/>
              </a:ext>
            </a:extLst>
          </p:cNvPr>
          <p:cNvSpPr txBox="1"/>
          <p:nvPr/>
        </p:nvSpPr>
        <p:spPr>
          <a:xfrm>
            <a:off x="992948" y="4242360"/>
            <a:ext cx="4516482" cy="1845633"/>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070154"/>
                </a:solidFill>
                <a:effectLst/>
                <a:uLnTx/>
                <a:uFillTx/>
                <a:latin typeface="Arial" panose="020B0604020202020204"/>
                <a:ea typeface="+mn-ea"/>
                <a:cs typeface="+mn-cs"/>
              </a:rPr>
              <a:t>OBJECTIVES</a:t>
            </a:r>
          </a:p>
          <a:p>
            <a:pPr marL="118872" marR="0" lvl="0" indent="-118872"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Prioritize application list and understand costs, roadmaps, and planned changes</a:t>
            </a:r>
          </a:p>
          <a:p>
            <a:pPr marL="118872" marR="0" lvl="0" indent="-118872"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Determine initial understanding of business value, technical health, and risks per application, and the enterprise architectural strategy</a:t>
            </a:r>
          </a:p>
          <a:p>
            <a:pPr marL="118872" marR="0" lvl="0" indent="-118872"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Interview application owners, evaluate app technologies for pain points and risks, create and socialize initial dispositions</a:t>
            </a:r>
          </a:p>
          <a:p>
            <a:pPr marL="118872" marR="0" lvl="0" indent="-118872"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Prioritize key modernization targets and document modernization roadmap</a:t>
            </a:r>
          </a:p>
          <a:p>
            <a:pPr marL="118872" marR="0" lvl="0" indent="-118872" algn="l" defTabSz="914400" rtl="0" eaLnBrk="1" fontAlgn="auto" latinLnBrk="0" hangingPunct="1">
              <a:lnSpc>
                <a:spcPct val="90000"/>
              </a:lnSpc>
              <a:spcBef>
                <a:spcPts val="0"/>
              </a:spcBef>
              <a:spcAft>
                <a:spcPts val="12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For priority apps, define future-state architecture with interim phases as necessary, contributing to product business case and plans that de-risk business impact.</a:t>
            </a:r>
          </a:p>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070154"/>
                </a:solidFill>
                <a:effectLst/>
                <a:uLnTx/>
                <a:uFillTx/>
                <a:latin typeface="Arial" panose="020B0604020202020204"/>
                <a:ea typeface="+mn-ea"/>
                <a:cs typeface="+mn-cs"/>
              </a:rPr>
              <a:t>OUTPUTS</a:t>
            </a:r>
          </a:p>
          <a:p>
            <a:pPr marL="118872" marR="0" lvl="0" indent="-118872" algn="l" defTabSz="914400"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App Disposition, Modernization Roadmap, Conceptual Architecture</a:t>
            </a:r>
            <a:endParaRPr kumimoji="0" lang="en-US" sz="1500" b="0"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64" name="Rectangle: Top Corners Rounded 63">
            <a:extLst>
              <a:ext uri="{FF2B5EF4-FFF2-40B4-BE49-F238E27FC236}">
                <a16:creationId xmlns:a16="http://schemas.microsoft.com/office/drawing/2014/main" id="{667D12BB-4375-59B1-8A6F-98316D224ECE}"/>
              </a:ext>
            </a:extLst>
          </p:cNvPr>
          <p:cNvSpPr/>
          <p:nvPr/>
        </p:nvSpPr>
        <p:spPr bwMode="auto">
          <a:xfrm>
            <a:off x="992948" y="2768035"/>
            <a:ext cx="4473354" cy="512064"/>
          </a:xfrm>
          <a:prstGeom prst="round2SameRect">
            <a:avLst>
              <a:gd name="adj1" fmla="val 0"/>
              <a:gd name="adj2" fmla="val 20884"/>
            </a:avLst>
          </a:prstGeom>
          <a:solidFill>
            <a:schemeClr val="accent3"/>
          </a:solidFill>
          <a:ln w="19050">
            <a:solidFill>
              <a:schemeClr val="accent3"/>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Modernization Candidate Assessment</a:t>
            </a:r>
          </a:p>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Application Dispositions</a:t>
            </a:r>
          </a:p>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Modernization Strategy</a:t>
            </a:r>
          </a:p>
        </p:txBody>
      </p:sp>
      <p:sp>
        <p:nvSpPr>
          <p:cNvPr id="76" name="TextBox 75">
            <a:extLst>
              <a:ext uri="{FF2B5EF4-FFF2-40B4-BE49-F238E27FC236}">
                <a16:creationId xmlns:a16="http://schemas.microsoft.com/office/drawing/2014/main" id="{1AE30C39-0A24-7772-BEBD-C348E5AD1C63}"/>
              </a:ext>
            </a:extLst>
          </p:cNvPr>
          <p:cNvSpPr txBox="1"/>
          <p:nvPr/>
        </p:nvSpPr>
        <p:spPr>
          <a:xfrm>
            <a:off x="5867251" y="4242360"/>
            <a:ext cx="5701801" cy="1845633"/>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070154"/>
                </a:solidFill>
                <a:effectLst/>
                <a:uLnTx/>
                <a:uFillTx/>
                <a:latin typeface="Arial" panose="020B0604020202020204"/>
                <a:ea typeface="+mn-ea"/>
                <a:cs typeface="+mn-cs"/>
              </a:rPr>
              <a:t>OBJECTIVES</a:t>
            </a:r>
          </a:p>
          <a:p>
            <a:pPr marL="118872" marR="0" lvl="0" indent="-118872"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For priority applications to be modernized, document backlog of requirements</a:t>
            </a:r>
          </a:p>
          <a:p>
            <a:pPr marL="118872" marR="0" lvl="0" indent="-118872"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Plan and execute iterative design &amp; build sprints accelerated by GenAI to upgrade/rebuild features using the modern tech stack</a:t>
            </a:r>
          </a:p>
          <a:p>
            <a:pPr marL="118872" marR="0" lvl="0" indent="-118872"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Conduct QA and facilitate UAT of the modernized software</a:t>
            </a:r>
          </a:p>
          <a:p>
            <a:pPr marL="118872" marR="0" lvl="0" indent="-118872"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Conduct releases of the modernized application per release plan, prioritizing side-by-side releases of the legacy and modern experiences where needed</a:t>
            </a:r>
          </a:p>
          <a:p>
            <a:pPr marL="118872" marR="0" lvl="0" indent="-118872" algn="l" defTabSz="914400" rtl="0" eaLnBrk="1" fontAlgn="auto" latinLnBrk="0" hangingPunct="1">
              <a:lnSpc>
                <a:spcPct val="90000"/>
              </a:lnSpc>
              <a:spcBef>
                <a:spcPts val="0"/>
              </a:spcBef>
              <a:spcAft>
                <a:spcPts val="12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Continuously transfer knowledge to client team about the new codebase and supporting tools/processes; document in Enablement Playbook.</a:t>
            </a:r>
          </a:p>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070154"/>
                </a:solidFill>
                <a:effectLst/>
                <a:uLnTx/>
                <a:uFillTx/>
                <a:latin typeface="Arial" panose="020B0604020202020204"/>
                <a:ea typeface="+mn-ea"/>
                <a:cs typeface="+mn-cs"/>
              </a:rPr>
              <a:t>OUTPUTS</a:t>
            </a:r>
          </a:p>
          <a:p>
            <a:pPr marL="118872" marR="0" lvl="0" indent="-118872" algn="l" defTabSz="914400"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Iterative releases of modernized software, Developer Enablement Playbook</a:t>
            </a:r>
            <a:endParaRPr kumimoji="0" lang="en-US" sz="1500" b="0" i="0" u="none" strike="noStrike" kern="1200" cap="none" spc="0" normalizeH="0" baseline="0" noProof="0">
              <a:ln>
                <a:noFill/>
              </a:ln>
              <a:solidFill>
                <a:srgbClr val="070154"/>
              </a:solidFill>
              <a:effectLst/>
              <a:uLnTx/>
              <a:uFillTx/>
              <a:latin typeface="Arial" panose="020B0604020202020204"/>
              <a:ea typeface="+mn-ea"/>
              <a:cs typeface="+mn-cs"/>
            </a:endParaRPr>
          </a:p>
        </p:txBody>
      </p:sp>
      <p:cxnSp>
        <p:nvCxnSpPr>
          <p:cNvPr id="78" name="Straight Connector 77">
            <a:extLst>
              <a:ext uri="{FF2B5EF4-FFF2-40B4-BE49-F238E27FC236}">
                <a16:creationId xmlns:a16="http://schemas.microsoft.com/office/drawing/2014/main" id="{F897AC3E-BA4E-E13F-37D8-B2FAF78DF809}"/>
              </a:ext>
            </a:extLst>
          </p:cNvPr>
          <p:cNvCxnSpPr>
            <a:cxnSpLocks/>
          </p:cNvCxnSpPr>
          <p:nvPr/>
        </p:nvCxnSpPr>
        <p:spPr>
          <a:xfrm>
            <a:off x="9393699" y="1823327"/>
            <a:ext cx="0" cy="182880"/>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6" name="Rectangle: Top Corners Rounded 5">
            <a:extLst>
              <a:ext uri="{FF2B5EF4-FFF2-40B4-BE49-F238E27FC236}">
                <a16:creationId xmlns:a16="http://schemas.microsoft.com/office/drawing/2014/main" id="{BA797371-BEC3-0E4F-39D9-6596C5A09998}"/>
              </a:ext>
            </a:extLst>
          </p:cNvPr>
          <p:cNvSpPr/>
          <p:nvPr/>
        </p:nvSpPr>
        <p:spPr bwMode="auto">
          <a:xfrm>
            <a:off x="5867251" y="2768035"/>
            <a:ext cx="2853876" cy="512064"/>
          </a:xfrm>
          <a:prstGeom prst="round2SameRect">
            <a:avLst>
              <a:gd name="adj1" fmla="val 0"/>
              <a:gd name="adj2" fmla="val 20884"/>
            </a:avLst>
          </a:prstGeom>
          <a:solidFill>
            <a:schemeClr val="accent3"/>
          </a:solidFill>
          <a:ln w="19050">
            <a:solidFill>
              <a:schemeClr val="accent3"/>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Monolithic Application Decomposition</a:t>
            </a:r>
          </a:p>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Iterative Modernization Sprints</a:t>
            </a:r>
          </a:p>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Release Management &amp; Experience</a:t>
            </a:r>
          </a:p>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Top Corners Rounded 7">
            <a:extLst>
              <a:ext uri="{FF2B5EF4-FFF2-40B4-BE49-F238E27FC236}">
                <a16:creationId xmlns:a16="http://schemas.microsoft.com/office/drawing/2014/main" id="{FE68C331-B47D-59A0-2CF8-F63D8B66C2EC}"/>
              </a:ext>
            </a:extLst>
          </p:cNvPr>
          <p:cNvSpPr/>
          <p:nvPr/>
        </p:nvSpPr>
        <p:spPr bwMode="auto">
          <a:xfrm>
            <a:off x="9136562" y="2768035"/>
            <a:ext cx="2432491" cy="512064"/>
          </a:xfrm>
          <a:prstGeom prst="round2SameRect">
            <a:avLst>
              <a:gd name="adj1" fmla="val 0"/>
              <a:gd name="adj2" fmla="val 20884"/>
            </a:avLst>
          </a:prstGeom>
          <a:solidFill>
            <a:schemeClr val="accent3"/>
          </a:solidFill>
          <a:ln w="19050">
            <a:solidFill>
              <a:schemeClr val="accent3"/>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Continuous Modernization</a:t>
            </a:r>
          </a:p>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err="1">
                <a:ln>
                  <a:noFill/>
                </a:ln>
                <a:solidFill>
                  <a:srgbClr val="070154"/>
                </a:solidFill>
                <a:effectLst/>
                <a:uLnTx/>
                <a:uFillTx/>
                <a:latin typeface="Arial" panose="020B0604020202020204"/>
                <a:ea typeface="Roboto" panose="02000000000000000000" pitchFamily="2" charset="0"/>
                <a:cs typeface="Segoe UI" panose="020B0502040204020203" pitchFamily="34" charset="0"/>
              </a:rPr>
              <a:t>DevSecOps</a:t>
            </a: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 Enablement</a:t>
            </a:r>
          </a:p>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Enable Next Gen Product Roadmaps</a:t>
            </a:r>
          </a:p>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cxnSp>
        <p:nvCxnSpPr>
          <p:cNvPr id="9" name="Straight Connector 8">
            <a:extLst>
              <a:ext uri="{FF2B5EF4-FFF2-40B4-BE49-F238E27FC236}">
                <a16:creationId xmlns:a16="http://schemas.microsoft.com/office/drawing/2014/main" id="{B38A7E33-C4E4-9609-59B9-059285F87B8A}"/>
              </a:ext>
            </a:extLst>
          </p:cNvPr>
          <p:cNvCxnSpPr>
            <a:cxnSpLocks/>
          </p:cNvCxnSpPr>
          <p:nvPr/>
        </p:nvCxnSpPr>
        <p:spPr>
          <a:xfrm>
            <a:off x="4570891" y="1823327"/>
            <a:ext cx="0" cy="182880"/>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1AA2181A-E31E-02B7-E55A-37456EAFDBA3}"/>
              </a:ext>
            </a:extLst>
          </p:cNvPr>
          <p:cNvSpPr/>
          <p:nvPr/>
        </p:nvSpPr>
        <p:spPr bwMode="auto">
          <a:xfrm>
            <a:off x="1200780" y="3396510"/>
            <a:ext cx="1996102" cy="731520"/>
          </a:xfrm>
          <a:prstGeom prst="roundRect">
            <a:avLst>
              <a:gd name="adj" fmla="val 19440"/>
            </a:avLst>
          </a:prstGeom>
          <a:solidFill>
            <a:schemeClr val="bg1"/>
          </a:solidFill>
          <a:ln w="19050">
            <a:solidFill>
              <a:schemeClr val="tx2"/>
            </a:solid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Scan the codebase and generate system-wide structural and semantic understanding</a:t>
            </a: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700" b="0" i="1"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System Inventory, Dependency Mapping, Business Semantics</a:t>
            </a:r>
          </a:p>
        </p:txBody>
      </p:sp>
      <p:sp>
        <p:nvSpPr>
          <p:cNvPr id="35" name="Arrow: Pentagon 34">
            <a:extLst>
              <a:ext uri="{FF2B5EF4-FFF2-40B4-BE49-F238E27FC236}">
                <a16:creationId xmlns:a16="http://schemas.microsoft.com/office/drawing/2014/main" id="{B6FF54F1-B02B-8DB9-18ED-83DE995DFAC8}"/>
              </a:ext>
            </a:extLst>
          </p:cNvPr>
          <p:cNvSpPr/>
          <p:nvPr/>
        </p:nvSpPr>
        <p:spPr bwMode="auto">
          <a:xfrm>
            <a:off x="0" y="3394677"/>
            <a:ext cx="1278662" cy="516456"/>
          </a:xfrm>
          <a:prstGeom prst="homePlate">
            <a:avLst>
              <a:gd name="adj" fmla="val 37066"/>
            </a:avLst>
          </a:prstGeom>
          <a:solidFill>
            <a:schemeClr val="tx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800" b="1"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pic>
        <p:nvPicPr>
          <p:cNvPr id="42" name="Picture 41">
            <a:extLst>
              <a:ext uri="{FF2B5EF4-FFF2-40B4-BE49-F238E27FC236}">
                <a16:creationId xmlns:a16="http://schemas.microsoft.com/office/drawing/2014/main" id="{0202505D-230C-7A44-2E2C-EA72F3A6BDF5}"/>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l="46729" t="57574"/>
          <a:stretch>
            <a:fillRect/>
          </a:stretch>
        </p:blipFill>
        <p:spPr>
          <a:xfrm>
            <a:off x="168382" y="3527160"/>
            <a:ext cx="933977" cy="251491"/>
          </a:xfrm>
          <a:prstGeom prst="rect">
            <a:avLst/>
          </a:prstGeom>
        </p:spPr>
      </p:pic>
      <p:sp>
        <p:nvSpPr>
          <p:cNvPr id="43" name="Rectangle: Rounded Corners 42">
            <a:extLst>
              <a:ext uri="{FF2B5EF4-FFF2-40B4-BE49-F238E27FC236}">
                <a16:creationId xmlns:a16="http://schemas.microsoft.com/office/drawing/2014/main" id="{AA26F0D8-BCAE-EFC1-EEAE-1B6EF8B0B8F0}"/>
              </a:ext>
            </a:extLst>
          </p:cNvPr>
          <p:cNvSpPr/>
          <p:nvPr/>
        </p:nvSpPr>
        <p:spPr bwMode="auto">
          <a:xfrm>
            <a:off x="3291274" y="3396510"/>
            <a:ext cx="2175028" cy="731520"/>
          </a:xfrm>
          <a:prstGeom prst="roundRect">
            <a:avLst>
              <a:gd name="adj" fmla="val 17616"/>
            </a:avLst>
          </a:prstGeom>
          <a:solidFill>
            <a:schemeClr val="bg1"/>
          </a:solidFill>
          <a:ln w="19050">
            <a:solidFill>
              <a:schemeClr val="tx2"/>
            </a:solid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Convert evidence into modernization reports, target-state direction, and execution planning.</a:t>
            </a: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700" b="0" i="1"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First-Pass Report, North Star HLD, </a:t>
            </a:r>
            <a:br>
              <a:rPr kumimoji="0" lang="en-US" sz="700" b="0" i="1"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br>
            <a:r>
              <a:rPr kumimoji="0" lang="en-US" sz="700" b="0" i="1"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Wave Planning</a:t>
            </a:r>
          </a:p>
        </p:txBody>
      </p:sp>
      <p:sp>
        <p:nvSpPr>
          <p:cNvPr id="44" name="Rectangle: Rounded Corners 43">
            <a:extLst>
              <a:ext uri="{FF2B5EF4-FFF2-40B4-BE49-F238E27FC236}">
                <a16:creationId xmlns:a16="http://schemas.microsoft.com/office/drawing/2014/main" id="{56F5F789-71AF-7525-48D0-4F386B10C4E8}"/>
              </a:ext>
            </a:extLst>
          </p:cNvPr>
          <p:cNvSpPr/>
          <p:nvPr/>
        </p:nvSpPr>
        <p:spPr bwMode="auto">
          <a:xfrm>
            <a:off x="5867251" y="3396510"/>
            <a:ext cx="2853876" cy="731520"/>
          </a:xfrm>
          <a:prstGeom prst="roundRect">
            <a:avLst>
              <a:gd name="adj" fmla="val 17159"/>
            </a:avLst>
          </a:prstGeom>
          <a:solidFill>
            <a:schemeClr val="bg1"/>
          </a:solidFill>
          <a:ln w="19050">
            <a:solidFill>
              <a:schemeClr val="tx2"/>
            </a:solid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4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Carry forward validated context, guardrails, and acceptance criteria into implementation.</a:t>
            </a:r>
            <a:b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br>
            <a:endPar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700" b="0" i="1"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Agent-Ready Context, Validation Criteria, Tool Integration</a:t>
            </a:r>
          </a:p>
        </p:txBody>
      </p:sp>
      <p:grpSp>
        <p:nvGrpSpPr>
          <p:cNvPr id="45" name="Group 44">
            <a:extLst>
              <a:ext uri="{FF2B5EF4-FFF2-40B4-BE49-F238E27FC236}">
                <a16:creationId xmlns:a16="http://schemas.microsoft.com/office/drawing/2014/main" id="{EAEE04B7-9601-0DD9-5A51-8622F9155BD2}"/>
              </a:ext>
            </a:extLst>
          </p:cNvPr>
          <p:cNvGrpSpPr>
            <a:grpSpLocks noChangeAspect="1"/>
          </p:cNvGrpSpPr>
          <p:nvPr/>
        </p:nvGrpSpPr>
        <p:grpSpPr>
          <a:xfrm>
            <a:off x="7974097" y="2131290"/>
            <a:ext cx="521222" cy="521222"/>
            <a:chOff x="4329326" y="1905167"/>
            <a:chExt cx="1280160" cy="1280160"/>
          </a:xfrm>
        </p:grpSpPr>
        <p:sp>
          <p:nvSpPr>
            <p:cNvPr id="46" name="Block Arc 45">
              <a:extLst>
                <a:ext uri="{FF2B5EF4-FFF2-40B4-BE49-F238E27FC236}">
                  <a16:creationId xmlns:a16="http://schemas.microsoft.com/office/drawing/2014/main" id="{1EB65603-3CF6-FCB4-B1B8-9164106D745D}"/>
                </a:ext>
              </a:extLst>
            </p:cNvPr>
            <p:cNvSpPr/>
            <p:nvPr/>
          </p:nvSpPr>
          <p:spPr bwMode="auto">
            <a:xfrm>
              <a:off x="4329326" y="1905167"/>
              <a:ext cx="1280160" cy="1280160"/>
            </a:xfrm>
            <a:prstGeom prst="blockArc">
              <a:avLst>
                <a:gd name="adj1" fmla="val 10800000"/>
                <a:gd name="adj2" fmla="val 5226641"/>
                <a:gd name="adj3" fmla="val 29667"/>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47" name="Isosceles Triangle 46">
              <a:extLst>
                <a:ext uri="{FF2B5EF4-FFF2-40B4-BE49-F238E27FC236}">
                  <a16:creationId xmlns:a16="http://schemas.microsoft.com/office/drawing/2014/main" id="{B47CF7E3-74D5-49A8-D6C2-FD736E48B979}"/>
                </a:ext>
              </a:extLst>
            </p:cNvPr>
            <p:cNvSpPr/>
            <p:nvPr/>
          </p:nvSpPr>
          <p:spPr bwMode="auto">
            <a:xfrm flipV="1">
              <a:off x="4330970" y="2530118"/>
              <a:ext cx="379461" cy="189730"/>
            </a:xfrm>
            <a:prstGeom prst="triangle">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grpSp>
      <p:sp>
        <p:nvSpPr>
          <p:cNvPr id="26" name="Arrow: Chevron 25">
            <a:extLst>
              <a:ext uri="{FF2B5EF4-FFF2-40B4-BE49-F238E27FC236}">
                <a16:creationId xmlns:a16="http://schemas.microsoft.com/office/drawing/2014/main" id="{403EB867-A0D8-AB6B-28AA-47D52B858F2D}"/>
              </a:ext>
            </a:extLst>
          </p:cNvPr>
          <p:cNvSpPr/>
          <p:nvPr/>
        </p:nvSpPr>
        <p:spPr bwMode="auto">
          <a:xfrm>
            <a:off x="8962868" y="2493718"/>
            <a:ext cx="2858431" cy="274320"/>
          </a:xfrm>
          <a:prstGeom prst="chevron">
            <a:avLst/>
          </a:prstGeom>
          <a:solidFill>
            <a:schemeClr val="tx1"/>
          </a:solidFill>
          <a:ln>
            <a:noFill/>
          </a:ln>
          <a:effectLst/>
        </p:spPr>
        <p:txBody>
          <a:bodyPr rot="0" spcFirstLastPara="0" vertOverflow="overflow" horzOverflow="overflow" vert="horz" wrap="square" lIns="91440" tIns="91440" rIns="1005840" bIns="91440" numCol="1" spcCol="0" rtlCol="0" fromWordArt="0" anchor="ctr" anchorCtr="0" forceAA="0" compatLnSpc="1">
            <a:prstTxWarp prst="textNoShape">
              <a:avLst/>
            </a:prstTxWarp>
            <a:noAutofit/>
          </a:bodyPr>
          <a:lstStyle/>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03   </a:t>
            </a:r>
            <a:r>
              <a:rPr kumimoji="0" lang="en-US" sz="1200" b="1"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Sustain</a:t>
            </a:r>
            <a:endParaRPr kumimoji="0" lang="en-US" sz="1400" b="1"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4" name="Arrow: Chevron 23">
            <a:extLst>
              <a:ext uri="{FF2B5EF4-FFF2-40B4-BE49-F238E27FC236}">
                <a16:creationId xmlns:a16="http://schemas.microsoft.com/office/drawing/2014/main" id="{23367AFC-3041-D928-A2FD-21FFEEF84F15}"/>
              </a:ext>
            </a:extLst>
          </p:cNvPr>
          <p:cNvSpPr/>
          <p:nvPr/>
        </p:nvSpPr>
        <p:spPr bwMode="auto">
          <a:xfrm>
            <a:off x="5644187" y="2493718"/>
            <a:ext cx="3346704" cy="274320"/>
          </a:xfrm>
          <a:prstGeom prst="chevron">
            <a:avLst/>
          </a:prstGeom>
          <a:solidFill>
            <a:schemeClr val="tx1"/>
          </a:solidFill>
          <a:ln>
            <a:noFill/>
          </a:ln>
          <a:effectLst/>
        </p:spPr>
        <p:txBody>
          <a:bodyPr rot="0" spcFirstLastPara="0" vertOverflow="overflow" horzOverflow="overflow" vert="horz" wrap="square" lIns="91440" tIns="91440" rIns="1371600" bIns="91440" numCol="1" spcCol="0" rtlCol="0" fromWordArt="0" anchor="ctr" anchorCtr="0" forceAA="0" compatLnSpc="1">
            <a:prstTxWarp prst="textNoShape">
              <a:avLst/>
            </a:prstTxWarp>
            <a:noAutofit/>
          </a:bodyPr>
          <a:lstStyle/>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02   </a:t>
            </a:r>
            <a:r>
              <a:rPr kumimoji="0" lang="en-US" sz="1200" b="1"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Modernize</a:t>
            </a:r>
          </a:p>
        </p:txBody>
      </p:sp>
      <p:sp>
        <p:nvSpPr>
          <p:cNvPr id="12" name="Arrow: Pentagon 11">
            <a:extLst>
              <a:ext uri="{FF2B5EF4-FFF2-40B4-BE49-F238E27FC236}">
                <a16:creationId xmlns:a16="http://schemas.microsoft.com/office/drawing/2014/main" id="{C8FB818C-8C5D-B0C2-FAF4-BDFE4DC70AE5}"/>
              </a:ext>
            </a:extLst>
          </p:cNvPr>
          <p:cNvSpPr/>
          <p:nvPr/>
        </p:nvSpPr>
        <p:spPr bwMode="auto">
          <a:xfrm>
            <a:off x="827046" y="2493718"/>
            <a:ext cx="4838491" cy="274320"/>
          </a:xfrm>
          <a:prstGeom prst="homePlate">
            <a:avLst/>
          </a:prstGeom>
          <a:solidFill>
            <a:schemeClr val="tx1"/>
          </a:solidFill>
          <a:ln>
            <a:noFill/>
          </a:ln>
          <a:effectLst/>
        </p:spPr>
        <p:txBody>
          <a:bodyPr rot="0" spcFirstLastPara="0" vertOverflow="overflow" horzOverflow="overflow" vert="horz" wrap="square" lIns="182880" tIns="91440" rIns="91440" bIns="91440" numCol="1" spcCol="0" rtlCol="0" fromWordArt="0" anchor="ctr" anchorCtr="0" forceAA="0" compatLnSpc="1">
            <a:prstTxWarp prst="textNoShape">
              <a:avLst/>
            </a:prstTxWarp>
            <a:noAutofit/>
          </a:bodyPr>
          <a:lstStyle/>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01   </a:t>
            </a:r>
            <a:r>
              <a:rPr kumimoji="0" lang="en-US" sz="1200" b="1"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Rationalize</a:t>
            </a:r>
          </a:p>
        </p:txBody>
      </p:sp>
    </p:spTree>
    <p:extLst>
      <p:ext uri="{BB962C8B-B14F-4D97-AF65-F5344CB8AC3E}">
        <p14:creationId xmlns:p14="http://schemas.microsoft.com/office/powerpoint/2010/main" val="750496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8C-63DB-6EC0-54B3-BAD510DB5D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2D4D6B-E702-B14F-8CBF-3DB9404EA064}"/>
              </a:ext>
            </a:extLst>
          </p:cNvPr>
          <p:cNvSpPr/>
          <p:nvPr/>
        </p:nvSpPr>
        <p:spPr bwMode="auto">
          <a:xfrm>
            <a:off x="0" y="0"/>
            <a:ext cx="121920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3D957A41-9389-9041-99A2-9153DA0C87B2}"/>
              </a:ext>
            </a:extLst>
          </p:cNvPr>
          <p:cNvSpPr/>
          <p:nvPr/>
        </p:nvSpPr>
        <p:spPr bwMode="auto">
          <a:xfrm>
            <a:off x="0" y="0"/>
            <a:ext cx="2286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0716BB7-CA60-524A-8CA8-6B88AD30659B}"/>
              </a:ext>
            </a:extLst>
          </p:cNvPr>
          <p:cNvSpPr/>
          <p:nvPr/>
        </p:nvSpPr>
        <p:spPr bwMode="auto">
          <a:xfrm>
            <a:off x="457200" y="609600"/>
            <a:ext cx="15240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3C91333C-DD3E-9B4D-89FD-5B2ACB074E63}"/>
              </a:ext>
            </a:extLst>
          </p:cNvPr>
          <p:cNvSpPr txBox="1"/>
          <p:nvPr/>
        </p:nvSpPr>
        <p:spPr>
          <a:xfrm>
            <a:off x="609600" y="990600"/>
            <a:ext cx="228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INTERNAL PICK-DECK GUIDE</a:t>
            </a:r>
            <a:endParaRPr lang="en-US" sz="1000" b="1" dirty="0">
              <a:solidFill>
                <a:srgbClr val="0047FF"/>
              </a:solidFill>
              <a:latin typeface="Arial"/>
              <a:cs typeface="Arial"/>
            </a:endParaRPr>
          </a:p>
        </p:txBody>
      </p:sp>
      <p:sp>
        <p:nvSpPr>
          <p:cNvPr id="12" name="TextBox 11">
            <a:extLst>
              <a:ext uri="{FF2B5EF4-FFF2-40B4-BE49-F238E27FC236}">
                <a16:creationId xmlns:a16="http://schemas.microsoft.com/office/drawing/2014/main" id="{F8E1B792-659A-D74D-9D48-33D822D70F96}"/>
              </a:ext>
            </a:extLst>
          </p:cNvPr>
          <p:cNvSpPr txBox="1"/>
          <p:nvPr/>
        </p:nvSpPr>
        <p:spPr>
          <a:xfrm>
            <a:off x="609600" y="1473200"/>
            <a:ext cx="8001000" cy="149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900" b="1">
                <a:solidFill>
                  <a:srgbClr val="FFFFFF"/>
                </a:solidFill>
                <a:latin typeface="Arial"/>
                <a:cs typeface="Arial"/>
              </a:rPr>
              <a:t>The Modernization Lifecycle</a:t>
            </a:r>
            <a:endParaRPr lang="en-US" sz="2900" b="1" dirty="0">
              <a:solidFill>
                <a:srgbClr val="FFFFFF"/>
              </a:solidFill>
              <a:latin typeface="Arial"/>
              <a:cs typeface="Arial"/>
            </a:endParaRPr>
          </a:p>
        </p:txBody>
      </p:sp>
      <p:sp>
        <p:nvSpPr>
          <p:cNvPr id="14" name="TextBox 13">
            <a:extLst>
              <a:ext uri="{FF2B5EF4-FFF2-40B4-BE49-F238E27FC236}">
                <a16:creationId xmlns:a16="http://schemas.microsoft.com/office/drawing/2014/main" id="{F12B1E13-E8CD-BD43-96AA-519B3925EF9F}"/>
              </a:ext>
            </a:extLst>
          </p:cNvPr>
          <p:cNvSpPr txBox="1"/>
          <p:nvPr/>
        </p:nvSpPr>
        <p:spPr>
          <a:xfrm>
            <a:off x="609600" y="3149600"/>
            <a:ext cx="7874000" cy="685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a:solidFill>
                  <a:srgbClr val="FFFFFF"/>
                </a:solidFill>
                <a:latin typeface="Arial"/>
                <a:cs typeface="Arial"/>
              </a:rPr>
              <a:t>Introduce Rationalize, Modernize / Build, and Sustain as an integrated lifecycle, and show how AI accelerates work across every phase.</a:t>
            </a:r>
            <a:endParaRPr lang="en-US" sz="1300" dirty="0">
              <a:solidFill>
                <a:srgbClr val="FFFFFF"/>
              </a:solidFill>
              <a:latin typeface="Arial"/>
              <a:cs typeface="Arial"/>
            </a:endParaRPr>
          </a:p>
        </p:txBody>
      </p:sp>
      <p:sp>
        <p:nvSpPr>
          <p:cNvPr id="15" name="TextBox 14">
            <a:extLst>
              <a:ext uri="{FF2B5EF4-FFF2-40B4-BE49-F238E27FC236}">
                <a16:creationId xmlns:a16="http://schemas.microsoft.com/office/drawing/2014/main" id="{73F430C6-7897-2E44-A356-F000D6B34EA5}"/>
              </a:ext>
            </a:extLst>
          </p:cNvPr>
          <p:cNvSpPr txBox="1"/>
          <p:nvPr/>
        </p:nvSpPr>
        <p:spPr>
          <a:xfrm>
            <a:off x="9118600" y="11557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IN THIS SECTION</a:t>
            </a:r>
            <a:endParaRPr lang="en-US" sz="950" b="1" dirty="0">
              <a:solidFill>
                <a:srgbClr val="0047FF"/>
              </a:solidFill>
              <a:latin typeface="Arial"/>
              <a:cs typeface="Arial"/>
            </a:endParaRPr>
          </a:p>
        </p:txBody>
      </p:sp>
      <p:sp>
        <p:nvSpPr>
          <p:cNvPr id="16" name="Rectangle 15">
            <a:extLst>
              <a:ext uri="{FF2B5EF4-FFF2-40B4-BE49-F238E27FC236}">
                <a16:creationId xmlns:a16="http://schemas.microsoft.com/office/drawing/2014/main" id="{261D85DC-F9D6-6945-B534-E7FA1D31F122}"/>
              </a:ext>
            </a:extLst>
          </p:cNvPr>
          <p:cNvSpPr/>
          <p:nvPr/>
        </p:nvSpPr>
        <p:spPr bwMode="auto">
          <a:xfrm>
            <a:off x="9118600" y="15875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D01BF5B1-B24E-284C-9FC7-E80462316182}"/>
              </a:ext>
            </a:extLst>
          </p:cNvPr>
          <p:cNvSpPr txBox="1"/>
          <p:nvPr/>
        </p:nvSpPr>
        <p:spPr>
          <a:xfrm>
            <a:off x="9271000" y="17399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01</a:t>
            </a:r>
            <a:endParaRPr lang="en-US" sz="900" b="1" dirty="0">
              <a:solidFill>
                <a:srgbClr val="F900D3"/>
              </a:solidFill>
              <a:latin typeface="Arial"/>
              <a:cs typeface="Arial"/>
            </a:endParaRPr>
          </a:p>
        </p:txBody>
      </p:sp>
      <p:sp>
        <p:nvSpPr>
          <p:cNvPr id="21" name="TextBox 20">
            <a:extLst>
              <a:ext uri="{FF2B5EF4-FFF2-40B4-BE49-F238E27FC236}">
                <a16:creationId xmlns:a16="http://schemas.microsoft.com/office/drawing/2014/main" id="{F685F9EA-221F-3347-8288-97BD26237162}"/>
              </a:ext>
            </a:extLst>
          </p:cNvPr>
          <p:cNvSpPr txBox="1"/>
          <p:nvPr/>
        </p:nvSpPr>
        <p:spPr>
          <a:xfrm>
            <a:off x="9677400" y="16764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Engagement starting points</a:t>
            </a:r>
            <a:endParaRPr lang="en-US" sz="1000" b="1" dirty="0">
              <a:solidFill>
                <a:srgbClr val="070154"/>
              </a:solidFill>
              <a:latin typeface="Arial"/>
              <a:cs typeface="Arial"/>
            </a:endParaRPr>
          </a:p>
        </p:txBody>
      </p:sp>
      <p:sp>
        <p:nvSpPr>
          <p:cNvPr id="22" name="Rectangle 21">
            <a:extLst>
              <a:ext uri="{FF2B5EF4-FFF2-40B4-BE49-F238E27FC236}">
                <a16:creationId xmlns:a16="http://schemas.microsoft.com/office/drawing/2014/main" id="{07DBAAEE-5275-0B4F-8234-10AE0BF7AC50}"/>
              </a:ext>
            </a:extLst>
          </p:cNvPr>
          <p:cNvSpPr/>
          <p:nvPr/>
        </p:nvSpPr>
        <p:spPr bwMode="auto">
          <a:xfrm>
            <a:off x="9118600" y="23114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C1D6F0A2-F72D-C640-9D54-A4D4C9BE9626}"/>
              </a:ext>
            </a:extLst>
          </p:cNvPr>
          <p:cNvSpPr txBox="1"/>
          <p:nvPr/>
        </p:nvSpPr>
        <p:spPr>
          <a:xfrm>
            <a:off x="9271000" y="2463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02</a:t>
            </a:r>
            <a:endParaRPr lang="en-US" sz="900" b="1" dirty="0">
              <a:solidFill>
                <a:srgbClr val="F900D3"/>
              </a:solidFill>
              <a:latin typeface="Arial"/>
              <a:cs typeface="Arial"/>
            </a:endParaRPr>
          </a:p>
        </p:txBody>
      </p:sp>
      <p:sp>
        <p:nvSpPr>
          <p:cNvPr id="24" name="TextBox 23">
            <a:extLst>
              <a:ext uri="{FF2B5EF4-FFF2-40B4-BE49-F238E27FC236}">
                <a16:creationId xmlns:a16="http://schemas.microsoft.com/office/drawing/2014/main" id="{080B83FA-47AE-5546-B78A-3741943FCCAA}"/>
              </a:ext>
            </a:extLst>
          </p:cNvPr>
          <p:cNvSpPr txBox="1"/>
          <p:nvPr/>
        </p:nvSpPr>
        <p:spPr>
          <a:xfrm>
            <a:off x="9677400" y="24003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End-to-end lifecycle</a:t>
            </a:r>
            <a:endParaRPr lang="en-US" sz="1000" b="1" dirty="0">
              <a:solidFill>
                <a:srgbClr val="070154"/>
              </a:solidFill>
              <a:latin typeface="Arial"/>
              <a:cs typeface="Arial"/>
            </a:endParaRPr>
          </a:p>
        </p:txBody>
      </p:sp>
      <p:sp>
        <p:nvSpPr>
          <p:cNvPr id="25" name="Rectangle 24">
            <a:extLst>
              <a:ext uri="{FF2B5EF4-FFF2-40B4-BE49-F238E27FC236}">
                <a16:creationId xmlns:a16="http://schemas.microsoft.com/office/drawing/2014/main" id="{5B5F2BF9-FA2F-E54E-9A25-DB5AD24F1FD1}"/>
              </a:ext>
            </a:extLst>
          </p:cNvPr>
          <p:cNvSpPr/>
          <p:nvPr/>
        </p:nvSpPr>
        <p:spPr bwMode="auto">
          <a:xfrm>
            <a:off x="9118600" y="30353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29292B1C-4A91-1946-99C8-A22EB49E9166}"/>
              </a:ext>
            </a:extLst>
          </p:cNvPr>
          <p:cNvSpPr txBox="1"/>
          <p:nvPr/>
        </p:nvSpPr>
        <p:spPr>
          <a:xfrm>
            <a:off x="92710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03</a:t>
            </a:r>
            <a:endParaRPr lang="en-US" sz="900" b="1" dirty="0">
              <a:solidFill>
                <a:srgbClr val="F900D3"/>
              </a:solidFill>
              <a:latin typeface="Arial"/>
              <a:cs typeface="Arial"/>
            </a:endParaRPr>
          </a:p>
        </p:txBody>
      </p:sp>
      <p:sp>
        <p:nvSpPr>
          <p:cNvPr id="27" name="TextBox 26">
            <a:extLst>
              <a:ext uri="{FF2B5EF4-FFF2-40B4-BE49-F238E27FC236}">
                <a16:creationId xmlns:a16="http://schemas.microsoft.com/office/drawing/2014/main" id="{6D3A6AC7-EA6A-544F-B9CC-F86023D2FAF4}"/>
              </a:ext>
            </a:extLst>
          </p:cNvPr>
          <p:cNvSpPr txBox="1"/>
          <p:nvPr/>
        </p:nvSpPr>
        <p:spPr>
          <a:xfrm>
            <a:off x="9677400" y="31242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AI across the lifecycle</a:t>
            </a:r>
            <a:endParaRPr lang="en-US" sz="1000" b="1" dirty="0">
              <a:solidFill>
                <a:srgbClr val="070154"/>
              </a:solidFill>
              <a:latin typeface="Arial"/>
              <a:cs typeface="Arial"/>
            </a:endParaRPr>
          </a:p>
        </p:txBody>
      </p:sp>
      <p:sp>
        <p:nvSpPr>
          <p:cNvPr id="28" name="Rectangle 27">
            <a:extLst>
              <a:ext uri="{FF2B5EF4-FFF2-40B4-BE49-F238E27FC236}">
                <a16:creationId xmlns:a16="http://schemas.microsoft.com/office/drawing/2014/main" id="{7D2CEE49-87AD-B74B-BCBB-6545318FEAE4}"/>
              </a:ext>
            </a:extLst>
          </p:cNvPr>
          <p:cNvSpPr/>
          <p:nvPr/>
        </p:nvSpPr>
        <p:spPr bwMode="auto">
          <a:xfrm>
            <a:off x="9118600" y="37592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A7BB059-7F53-E749-AC13-3FF96661BA83}"/>
              </a:ext>
            </a:extLst>
          </p:cNvPr>
          <p:cNvSpPr txBox="1"/>
          <p:nvPr/>
        </p:nvSpPr>
        <p:spPr>
          <a:xfrm>
            <a:off x="9271000" y="39116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04</a:t>
            </a:r>
            <a:endParaRPr lang="en-US" sz="900" b="1" dirty="0">
              <a:solidFill>
                <a:srgbClr val="F900D3"/>
              </a:solidFill>
              <a:latin typeface="Arial"/>
              <a:cs typeface="Arial"/>
            </a:endParaRPr>
          </a:p>
        </p:txBody>
      </p:sp>
      <p:sp>
        <p:nvSpPr>
          <p:cNvPr id="30" name="TextBox 29">
            <a:extLst>
              <a:ext uri="{FF2B5EF4-FFF2-40B4-BE49-F238E27FC236}">
                <a16:creationId xmlns:a16="http://schemas.microsoft.com/office/drawing/2014/main" id="{E81A1754-C62A-9340-828F-1507EB0BF98D}"/>
              </a:ext>
            </a:extLst>
          </p:cNvPr>
          <p:cNvSpPr txBox="1"/>
          <p:nvPr/>
        </p:nvSpPr>
        <p:spPr>
          <a:xfrm>
            <a:off x="9677400" y="38481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Teaming + sustainment</a:t>
            </a:r>
            <a:endParaRPr lang="en-US" sz="1000" b="1" dirty="0">
              <a:solidFill>
                <a:srgbClr val="070154"/>
              </a:solidFill>
              <a:latin typeface="Arial"/>
              <a:cs typeface="Arial"/>
            </a:endParaRPr>
          </a:p>
        </p:txBody>
      </p:sp>
      <p:sp>
        <p:nvSpPr>
          <p:cNvPr id="31" name="Rectangle 30">
            <a:extLst>
              <a:ext uri="{FF2B5EF4-FFF2-40B4-BE49-F238E27FC236}">
                <a16:creationId xmlns:a16="http://schemas.microsoft.com/office/drawing/2014/main" id="{3375BC94-8D43-EF4D-96D9-538EF700EFE6}"/>
              </a:ext>
            </a:extLst>
          </p:cNvPr>
          <p:cNvSpPr/>
          <p:nvPr/>
        </p:nvSpPr>
        <p:spPr bwMode="auto">
          <a:xfrm>
            <a:off x="609600" y="5270500"/>
            <a:ext cx="8255000" cy="571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A26CFF14-2BDE-1848-A022-DAC182E8D21B}"/>
              </a:ext>
            </a:extLst>
          </p:cNvPr>
          <p:cNvSpPr txBox="1"/>
          <p:nvPr/>
        </p:nvSpPr>
        <p:spPr>
          <a:xfrm>
            <a:off x="863600" y="5435600"/>
            <a:ext cx="7747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Use the lifecycle overview before selecting a deeper phase-specific section.</a:t>
            </a:r>
            <a:endParaRPr lang="en-US" sz="1000" b="1" dirty="0">
              <a:solidFill>
                <a:srgbClr val="070154"/>
              </a:solidFill>
              <a:latin typeface="Arial"/>
              <a:cs typeface="Arial"/>
            </a:endParaRPr>
          </a:p>
        </p:txBody>
      </p:sp>
      <p:sp>
        <p:nvSpPr>
          <p:cNvPr id="3" name="TextBox 2">
            <a:extLst>
              <a:ext uri="{FF2B5EF4-FFF2-40B4-BE49-F238E27FC236}">
                <a16:creationId xmlns:a16="http://schemas.microsoft.com/office/drawing/2014/main" id="{D9C2D31F-41C9-834B-806E-5C698A45F50E}"/>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D0847E0D-C3A0-6C47-8917-F1C8F445903B}"/>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endParaRPr lang="en-US" sz="550" dirty="0">
              <a:solidFill>
                <a:srgbClr val="070154"/>
              </a:solidFill>
              <a:latin typeface="Arial"/>
              <a:cs typeface="Arial"/>
            </a:endParaRPr>
          </a:p>
        </p:txBody>
      </p:sp>
    </p:spTree>
    <p:extLst>
      <p:ext uri="{BB962C8B-B14F-4D97-AF65-F5344CB8AC3E}">
        <p14:creationId xmlns:p14="http://schemas.microsoft.com/office/powerpoint/2010/main" val="1420321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13B7B-0D7B-B231-91B0-3883BFED26F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26A8EEC-7A41-F142-BE8A-AE1283F5A898}"/>
              </a:ext>
            </a:extLst>
          </p:cNvPr>
          <p:cNvSpPr txBox="1"/>
          <p:nvPr/>
        </p:nvSpPr>
        <p:spPr>
          <a:xfrm>
            <a:off x="457200" y="393700"/>
            <a:ext cx="11277600" cy="355600"/>
          </a:xfrm>
          <a:prstGeom prst="rect">
            <a:avLst/>
          </a:prstGeom>
          <a:noFill/>
        </p:spPr>
        <p:txBody>
          <a:bodyPr vertOverflow="overflow" vert="horz" wrap="square" lIns="0" tIns="0" rIns="0" bIns="0" rtlCol="0" anchor="t">
            <a:noAutofit/>
          </a:bodyPr>
          <a:lstStyle/>
          <a:p>
            <a:pPr marL="0" indent="0" algn="l">
              <a:spcAft>
                <a:spcPts val="600"/>
              </a:spcAft>
              <a:tabLst/>
            </a:pPr>
            <a:r>
              <a:rPr lang="en-US" sz="2200" b="1">
                <a:solidFill>
                  <a:srgbClr val="100664"/>
                </a:solidFill>
                <a:latin typeface="Arial"/>
                <a:cs typeface="Arial"/>
              </a:rPr>
              <a:t>Modernization follows a standard lifecycle from strategy through sustained value.</a:t>
            </a:r>
            <a:endParaRPr lang="en-US" sz="2200" b="1" dirty="0">
              <a:solidFill>
                <a:srgbClr val="100664"/>
              </a:solidFill>
              <a:latin typeface="Arial"/>
              <a:cs typeface="Arial"/>
            </a:endParaRPr>
          </a:p>
        </p:txBody>
      </p:sp>
      <p:sp>
        <p:nvSpPr>
          <p:cNvPr id="12" name="TextBox 11">
            <a:extLst>
              <a:ext uri="{FF2B5EF4-FFF2-40B4-BE49-F238E27FC236}">
                <a16:creationId xmlns:a16="http://schemas.microsoft.com/office/drawing/2014/main" id="{1DEF009D-8D5D-1741-998B-C15514DB1BEE}"/>
              </a:ext>
            </a:extLst>
          </p:cNvPr>
          <p:cNvSpPr txBox="1"/>
          <p:nvPr/>
        </p:nvSpPr>
        <p:spPr>
          <a:xfrm>
            <a:off x="457200" y="889000"/>
            <a:ext cx="11277600" cy="304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50">
                <a:solidFill>
                  <a:srgbClr val="51627A"/>
                </a:solidFill>
                <a:latin typeface="Arial"/>
                <a:cs typeface="Arial"/>
              </a:rPr>
              <a:t>Rationalize, Build, and Sustain organize connected subphases, each with a clear purpose and value contribution.</a:t>
            </a:r>
            <a:endParaRPr lang="en-US" sz="1150" dirty="0">
              <a:solidFill>
                <a:srgbClr val="51627A"/>
              </a:solidFill>
              <a:latin typeface="Arial"/>
              <a:cs typeface="Arial"/>
            </a:endParaRPr>
          </a:p>
        </p:txBody>
      </p:sp>
      <p:sp>
        <p:nvSpPr>
          <p:cNvPr id="13" name="Rectangle 12">
            <a:extLst>
              <a:ext uri="{FF2B5EF4-FFF2-40B4-BE49-F238E27FC236}">
                <a16:creationId xmlns:a16="http://schemas.microsoft.com/office/drawing/2014/main" id="{01DCF7E1-E5A0-C843-B329-2433BD15E6F4}"/>
              </a:ext>
            </a:extLst>
          </p:cNvPr>
          <p:cNvSpPr/>
          <p:nvPr/>
        </p:nvSpPr>
        <p:spPr bwMode="auto">
          <a:xfrm>
            <a:off x="457200" y="2197100"/>
            <a:ext cx="3657600" cy="3238500"/>
          </a:xfrm>
          <a:prstGeom prst="rect">
            <a:avLst/>
          </a:prstGeom>
          <a:solidFill>
            <a:srgbClr val="F5F7F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Rectangle 14">
            <a:extLst>
              <a:ext uri="{FF2B5EF4-FFF2-40B4-BE49-F238E27FC236}">
                <a16:creationId xmlns:a16="http://schemas.microsoft.com/office/drawing/2014/main" id="{B2440354-5BDE-464B-B4CB-32BDB217187F}"/>
              </a:ext>
            </a:extLst>
          </p:cNvPr>
          <p:cNvSpPr/>
          <p:nvPr/>
        </p:nvSpPr>
        <p:spPr bwMode="auto">
          <a:xfrm>
            <a:off x="4267200" y="2197100"/>
            <a:ext cx="3657600" cy="3238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6" name="Rectangle 15">
            <a:extLst>
              <a:ext uri="{FF2B5EF4-FFF2-40B4-BE49-F238E27FC236}">
                <a16:creationId xmlns:a16="http://schemas.microsoft.com/office/drawing/2014/main" id="{B35DE629-B892-C646-B753-C7DACF35CB7F}"/>
              </a:ext>
            </a:extLst>
          </p:cNvPr>
          <p:cNvSpPr/>
          <p:nvPr/>
        </p:nvSpPr>
        <p:spPr bwMode="auto">
          <a:xfrm>
            <a:off x="8077200" y="2197100"/>
            <a:ext cx="3657600" cy="3238500"/>
          </a:xfrm>
          <a:prstGeom prst="rect">
            <a:avLst/>
          </a:prstGeom>
          <a:solidFill>
            <a:srgbClr val="F5F7F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7" name="Rectangle 16">
            <a:extLst>
              <a:ext uri="{FF2B5EF4-FFF2-40B4-BE49-F238E27FC236}">
                <a16:creationId xmlns:a16="http://schemas.microsoft.com/office/drawing/2014/main" id="{4148B6C1-C476-F841-AEE9-D782DFC24334}"/>
              </a:ext>
            </a:extLst>
          </p:cNvPr>
          <p:cNvSpPr/>
          <p:nvPr/>
        </p:nvSpPr>
        <p:spPr bwMode="auto">
          <a:xfrm>
            <a:off x="457200" y="1511300"/>
            <a:ext cx="3657600" cy="685800"/>
          </a:xfrm>
          <a:prstGeom prst="rect">
            <a:avLst/>
          </a:prstGeom>
          <a:solidFill>
            <a:srgbClr val="10066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Rectangle 22">
            <a:extLst>
              <a:ext uri="{FF2B5EF4-FFF2-40B4-BE49-F238E27FC236}">
                <a16:creationId xmlns:a16="http://schemas.microsoft.com/office/drawing/2014/main" id="{451B7953-770F-CE4C-9ADE-89A930414506}"/>
              </a:ext>
            </a:extLst>
          </p:cNvPr>
          <p:cNvSpPr/>
          <p:nvPr/>
        </p:nvSpPr>
        <p:spPr bwMode="auto">
          <a:xfrm>
            <a:off x="457200" y="1511300"/>
            <a:ext cx="88900" cy="685800"/>
          </a:xfrm>
          <a:prstGeom prst="rect">
            <a:avLst/>
          </a:prstGeom>
          <a:solidFill>
            <a:srgbClr val="F0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TextBox 27">
            <a:extLst>
              <a:ext uri="{FF2B5EF4-FFF2-40B4-BE49-F238E27FC236}">
                <a16:creationId xmlns:a16="http://schemas.microsoft.com/office/drawing/2014/main" id="{A776B987-BC8E-DE41-90B2-A8E9D46A4D10}"/>
              </a:ext>
            </a:extLst>
          </p:cNvPr>
          <p:cNvSpPr txBox="1"/>
          <p:nvPr/>
        </p:nvSpPr>
        <p:spPr>
          <a:xfrm>
            <a:off x="685800" y="1625600"/>
            <a:ext cx="3302000" cy="241300"/>
          </a:xfrm>
          <a:prstGeom prst="rect">
            <a:avLst/>
          </a:prstGeom>
          <a:noFill/>
        </p:spPr>
        <p:txBody>
          <a:bodyPr vertOverflow="overflow" vert="horz" wrap="square" lIns="0" tIns="0" rIns="0" bIns="0" rtlCol="0" anchor="t">
            <a:normAutofit/>
          </a:bodyPr>
          <a:lstStyle/>
          <a:p>
            <a:pPr marL="0" indent="0" algn="l">
              <a:spcAft>
                <a:spcPts val="600"/>
              </a:spcAft>
              <a:tabLst/>
            </a:pPr>
            <a:r>
              <a:rPr lang="en-US" b="1">
                <a:solidFill>
                  <a:srgbClr val="FFFFFF"/>
                </a:solidFill>
                <a:latin typeface="Arial"/>
                <a:cs typeface="Arial"/>
              </a:rPr>
              <a:t>RATIONALIZE</a:t>
            </a:r>
            <a:endParaRPr lang="en-US" b="1" dirty="0">
              <a:solidFill>
                <a:srgbClr val="FFFFFF"/>
              </a:solidFill>
              <a:latin typeface="Arial"/>
              <a:cs typeface="Arial"/>
            </a:endParaRPr>
          </a:p>
        </p:txBody>
      </p:sp>
      <p:sp>
        <p:nvSpPr>
          <p:cNvPr id="30" name="TextBox 29">
            <a:extLst>
              <a:ext uri="{FF2B5EF4-FFF2-40B4-BE49-F238E27FC236}">
                <a16:creationId xmlns:a16="http://schemas.microsoft.com/office/drawing/2014/main" id="{D7759EFD-26B4-FD4F-9BFB-5387E1FB4731}"/>
              </a:ext>
            </a:extLst>
          </p:cNvPr>
          <p:cNvSpPr txBox="1"/>
          <p:nvPr/>
        </p:nvSpPr>
        <p:spPr>
          <a:xfrm>
            <a:off x="685800" y="1892300"/>
            <a:ext cx="3302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a:solidFill>
                  <a:srgbClr val="FFFFFF"/>
                </a:solidFill>
                <a:latin typeface="Arial"/>
                <a:cs typeface="Arial"/>
              </a:rPr>
              <a:t>Decide what should change and why</a:t>
            </a:r>
            <a:endParaRPr lang="en-US" sz="850" dirty="0">
              <a:solidFill>
                <a:srgbClr val="FFFFFF"/>
              </a:solidFill>
              <a:latin typeface="Arial"/>
              <a:cs typeface="Arial"/>
            </a:endParaRPr>
          </a:p>
        </p:txBody>
      </p:sp>
      <p:sp>
        <p:nvSpPr>
          <p:cNvPr id="31" name="Rectangle 30">
            <a:extLst>
              <a:ext uri="{FF2B5EF4-FFF2-40B4-BE49-F238E27FC236}">
                <a16:creationId xmlns:a16="http://schemas.microsoft.com/office/drawing/2014/main" id="{F5833E5E-24FA-1540-8283-A3DC77AD93E8}"/>
              </a:ext>
            </a:extLst>
          </p:cNvPr>
          <p:cNvSpPr/>
          <p:nvPr/>
        </p:nvSpPr>
        <p:spPr bwMode="auto">
          <a:xfrm>
            <a:off x="4267200" y="1511300"/>
            <a:ext cx="3657600" cy="685800"/>
          </a:xfrm>
          <a:prstGeom prst="rect">
            <a:avLst/>
          </a:prstGeom>
          <a:solidFill>
            <a:srgbClr val="10066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3" name="Rectangle 32">
            <a:extLst>
              <a:ext uri="{FF2B5EF4-FFF2-40B4-BE49-F238E27FC236}">
                <a16:creationId xmlns:a16="http://schemas.microsoft.com/office/drawing/2014/main" id="{4F2CF67F-0225-FF4D-80AA-892EF65933B5}"/>
              </a:ext>
            </a:extLst>
          </p:cNvPr>
          <p:cNvSpPr/>
          <p:nvPr/>
        </p:nvSpPr>
        <p:spPr bwMode="auto">
          <a:xfrm>
            <a:off x="4267200" y="1511300"/>
            <a:ext cx="88900" cy="685800"/>
          </a:xfrm>
          <a:prstGeom prst="rect">
            <a:avLst/>
          </a:prstGeom>
          <a:solidFill>
            <a:srgbClr val="075B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6" name="TextBox 35">
            <a:extLst>
              <a:ext uri="{FF2B5EF4-FFF2-40B4-BE49-F238E27FC236}">
                <a16:creationId xmlns:a16="http://schemas.microsoft.com/office/drawing/2014/main" id="{A40E7351-C7AC-B040-9A9D-CA89F523BF11}"/>
              </a:ext>
            </a:extLst>
          </p:cNvPr>
          <p:cNvSpPr txBox="1"/>
          <p:nvPr/>
        </p:nvSpPr>
        <p:spPr>
          <a:xfrm>
            <a:off x="4495800" y="1625600"/>
            <a:ext cx="3302000" cy="241300"/>
          </a:xfrm>
          <a:prstGeom prst="rect">
            <a:avLst/>
          </a:prstGeom>
          <a:noFill/>
        </p:spPr>
        <p:txBody>
          <a:bodyPr vertOverflow="overflow" vert="horz" wrap="square" lIns="0" tIns="0" rIns="0" bIns="0" rtlCol="0" anchor="t">
            <a:normAutofit/>
          </a:bodyPr>
          <a:lstStyle/>
          <a:p>
            <a:pPr marL="0" indent="0" algn="l">
              <a:spcAft>
                <a:spcPts val="600"/>
              </a:spcAft>
              <a:tabLst/>
            </a:pPr>
            <a:r>
              <a:rPr lang="en-US" b="1">
                <a:solidFill>
                  <a:srgbClr val="FFFFFF"/>
                </a:solidFill>
                <a:latin typeface="Arial"/>
                <a:cs typeface="Arial"/>
              </a:rPr>
              <a:t>BUILD</a:t>
            </a:r>
            <a:endParaRPr lang="en-US" b="1" dirty="0">
              <a:solidFill>
                <a:srgbClr val="FFFFFF"/>
              </a:solidFill>
              <a:latin typeface="Arial"/>
              <a:cs typeface="Arial"/>
            </a:endParaRPr>
          </a:p>
        </p:txBody>
      </p:sp>
      <p:sp>
        <p:nvSpPr>
          <p:cNvPr id="38" name="TextBox 37">
            <a:extLst>
              <a:ext uri="{FF2B5EF4-FFF2-40B4-BE49-F238E27FC236}">
                <a16:creationId xmlns:a16="http://schemas.microsoft.com/office/drawing/2014/main" id="{D109FC1B-31D7-7349-A1EB-40538D92B0CA}"/>
              </a:ext>
            </a:extLst>
          </p:cNvPr>
          <p:cNvSpPr txBox="1"/>
          <p:nvPr/>
        </p:nvSpPr>
        <p:spPr>
          <a:xfrm>
            <a:off x="4495800" y="1892300"/>
            <a:ext cx="3302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a:solidFill>
                  <a:srgbClr val="FFFFFF"/>
                </a:solidFill>
                <a:latin typeface="Arial"/>
                <a:cs typeface="Arial"/>
              </a:rPr>
              <a:t>Deliver capability in controlled waves</a:t>
            </a:r>
            <a:endParaRPr lang="en-US" sz="850" dirty="0">
              <a:solidFill>
                <a:srgbClr val="FFFFFF"/>
              </a:solidFill>
              <a:latin typeface="Arial"/>
              <a:cs typeface="Arial"/>
            </a:endParaRPr>
          </a:p>
        </p:txBody>
      </p:sp>
      <p:sp>
        <p:nvSpPr>
          <p:cNvPr id="39" name="Rectangle 38">
            <a:extLst>
              <a:ext uri="{FF2B5EF4-FFF2-40B4-BE49-F238E27FC236}">
                <a16:creationId xmlns:a16="http://schemas.microsoft.com/office/drawing/2014/main" id="{E55176F3-E150-3C48-9959-CE4604AFF82F}"/>
              </a:ext>
            </a:extLst>
          </p:cNvPr>
          <p:cNvSpPr/>
          <p:nvPr/>
        </p:nvSpPr>
        <p:spPr bwMode="auto">
          <a:xfrm>
            <a:off x="8077200" y="1511300"/>
            <a:ext cx="3657600" cy="685800"/>
          </a:xfrm>
          <a:prstGeom prst="rect">
            <a:avLst/>
          </a:prstGeom>
          <a:solidFill>
            <a:srgbClr val="10066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2" name="Rectangle 41">
            <a:extLst>
              <a:ext uri="{FF2B5EF4-FFF2-40B4-BE49-F238E27FC236}">
                <a16:creationId xmlns:a16="http://schemas.microsoft.com/office/drawing/2014/main" id="{4AFBAEAC-2A95-6E4C-A49F-D5A3E79F3AC8}"/>
              </a:ext>
            </a:extLst>
          </p:cNvPr>
          <p:cNvSpPr/>
          <p:nvPr/>
        </p:nvSpPr>
        <p:spPr bwMode="auto">
          <a:xfrm>
            <a:off x="8077200" y="1511300"/>
            <a:ext cx="88900" cy="685800"/>
          </a:xfrm>
          <a:prstGeom prst="rect">
            <a:avLst/>
          </a:prstGeom>
          <a:solidFill>
            <a:srgbClr val="F0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3" name="TextBox 42">
            <a:extLst>
              <a:ext uri="{FF2B5EF4-FFF2-40B4-BE49-F238E27FC236}">
                <a16:creationId xmlns:a16="http://schemas.microsoft.com/office/drawing/2014/main" id="{44CEE6DC-1F3F-2D4A-A880-76164F3305A3}"/>
              </a:ext>
            </a:extLst>
          </p:cNvPr>
          <p:cNvSpPr txBox="1"/>
          <p:nvPr/>
        </p:nvSpPr>
        <p:spPr>
          <a:xfrm>
            <a:off x="8305800" y="1625600"/>
            <a:ext cx="3302000" cy="241300"/>
          </a:xfrm>
          <a:prstGeom prst="rect">
            <a:avLst/>
          </a:prstGeom>
          <a:noFill/>
        </p:spPr>
        <p:txBody>
          <a:bodyPr vertOverflow="overflow" vert="horz" wrap="square" lIns="0" tIns="0" rIns="0" bIns="0" rtlCol="0" anchor="t">
            <a:normAutofit/>
          </a:bodyPr>
          <a:lstStyle/>
          <a:p>
            <a:pPr marL="0" indent="0" algn="l">
              <a:spcAft>
                <a:spcPts val="600"/>
              </a:spcAft>
              <a:tabLst/>
            </a:pPr>
            <a:r>
              <a:rPr lang="en-US" b="1">
                <a:solidFill>
                  <a:srgbClr val="FFFFFF"/>
                </a:solidFill>
                <a:latin typeface="Arial"/>
                <a:cs typeface="Arial"/>
              </a:rPr>
              <a:t>SUSTAIN</a:t>
            </a:r>
            <a:endParaRPr lang="en-US" b="1" dirty="0">
              <a:solidFill>
                <a:srgbClr val="FFFFFF"/>
              </a:solidFill>
              <a:latin typeface="Arial"/>
              <a:cs typeface="Arial"/>
            </a:endParaRPr>
          </a:p>
        </p:txBody>
      </p:sp>
      <p:sp>
        <p:nvSpPr>
          <p:cNvPr id="45" name="TextBox 44">
            <a:extLst>
              <a:ext uri="{FF2B5EF4-FFF2-40B4-BE49-F238E27FC236}">
                <a16:creationId xmlns:a16="http://schemas.microsoft.com/office/drawing/2014/main" id="{2BAFEA0A-CFBC-EF49-9BA5-D879A6A06D2F}"/>
              </a:ext>
            </a:extLst>
          </p:cNvPr>
          <p:cNvSpPr txBox="1"/>
          <p:nvPr/>
        </p:nvSpPr>
        <p:spPr>
          <a:xfrm>
            <a:off x="8305800" y="1892300"/>
            <a:ext cx="3302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a:solidFill>
                  <a:srgbClr val="FFFFFF"/>
                </a:solidFill>
                <a:latin typeface="Arial"/>
                <a:cs typeface="Arial"/>
              </a:rPr>
              <a:t>Operate, evolve, and retire legacy</a:t>
            </a:r>
            <a:endParaRPr lang="en-US" sz="850" dirty="0">
              <a:solidFill>
                <a:srgbClr val="FFFFFF"/>
              </a:solidFill>
              <a:latin typeface="Arial"/>
              <a:cs typeface="Arial"/>
            </a:endParaRPr>
          </a:p>
        </p:txBody>
      </p:sp>
      <p:sp>
        <p:nvSpPr>
          <p:cNvPr id="47" name="TextBox 46">
            <a:extLst>
              <a:ext uri="{FF2B5EF4-FFF2-40B4-BE49-F238E27FC236}">
                <a16:creationId xmlns:a16="http://schemas.microsoft.com/office/drawing/2014/main" id="{F3F9140E-EE76-9846-936C-7FD2B2594F1A}"/>
              </a:ext>
            </a:extLst>
          </p:cNvPr>
          <p:cNvSpPr txBox="1"/>
          <p:nvPr/>
        </p:nvSpPr>
        <p:spPr>
          <a:xfrm>
            <a:off x="660400" y="23622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000C8"/>
                </a:solidFill>
                <a:latin typeface="Arial"/>
                <a:cs typeface="Arial"/>
              </a:rPr>
              <a:t>01</a:t>
            </a:r>
            <a:endParaRPr lang="en-US" sz="850" b="1" dirty="0">
              <a:solidFill>
                <a:srgbClr val="F000C8"/>
              </a:solidFill>
              <a:latin typeface="Arial"/>
              <a:cs typeface="Arial"/>
            </a:endParaRPr>
          </a:p>
        </p:txBody>
      </p:sp>
      <p:sp>
        <p:nvSpPr>
          <p:cNvPr id="48" name="TextBox 47">
            <a:extLst>
              <a:ext uri="{FF2B5EF4-FFF2-40B4-BE49-F238E27FC236}">
                <a16:creationId xmlns:a16="http://schemas.microsoft.com/office/drawing/2014/main" id="{FF080CF2-663C-4447-8EB8-99DCA25F4588}"/>
              </a:ext>
            </a:extLst>
          </p:cNvPr>
          <p:cNvSpPr txBox="1"/>
          <p:nvPr/>
        </p:nvSpPr>
        <p:spPr>
          <a:xfrm>
            <a:off x="1016000" y="2349500"/>
            <a:ext cx="28956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120B63"/>
                </a:solidFill>
                <a:latin typeface="Arial"/>
                <a:cs typeface="Arial"/>
              </a:rPr>
              <a:t>THESIS ALIGNMENT</a:t>
            </a:r>
            <a:endParaRPr lang="en-US" sz="1000" b="1" dirty="0">
              <a:solidFill>
                <a:srgbClr val="120B63"/>
              </a:solidFill>
              <a:latin typeface="Arial"/>
              <a:cs typeface="Arial"/>
            </a:endParaRPr>
          </a:p>
        </p:txBody>
      </p:sp>
      <p:sp>
        <p:nvSpPr>
          <p:cNvPr id="49" name="TextBox 48">
            <a:extLst>
              <a:ext uri="{FF2B5EF4-FFF2-40B4-BE49-F238E27FC236}">
                <a16:creationId xmlns:a16="http://schemas.microsoft.com/office/drawing/2014/main" id="{4631CACB-CFB6-9448-9831-543E539F360A}"/>
              </a:ext>
            </a:extLst>
          </p:cNvPr>
          <p:cNvSpPr txBox="1"/>
          <p:nvPr/>
        </p:nvSpPr>
        <p:spPr>
          <a:xfrm>
            <a:off x="1016000" y="2590800"/>
            <a:ext cx="2895600" cy="3937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120B63"/>
                </a:solidFill>
                <a:latin typeface="Arial"/>
                <a:cs typeface="Arial"/>
              </a:rPr>
              <a:t>Define the business outcome and questions that justify action.</a:t>
            </a:r>
            <a:endParaRPr lang="en-US" sz="950" dirty="0">
              <a:solidFill>
                <a:srgbClr val="120B63"/>
              </a:solidFill>
              <a:latin typeface="Arial"/>
              <a:cs typeface="Arial"/>
            </a:endParaRPr>
          </a:p>
        </p:txBody>
      </p:sp>
      <p:sp>
        <p:nvSpPr>
          <p:cNvPr id="50" name="TextBox 49">
            <a:extLst>
              <a:ext uri="{FF2B5EF4-FFF2-40B4-BE49-F238E27FC236}">
                <a16:creationId xmlns:a16="http://schemas.microsoft.com/office/drawing/2014/main" id="{FF4358E7-B693-9B44-956F-823EC6FD012F}"/>
              </a:ext>
            </a:extLst>
          </p:cNvPr>
          <p:cNvSpPr txBox="1"/>
          <p:nvPr/>
        </p:nvSpPr>
        <p:spPr>
          <a:xfrm>
            <a:off x="660400" y="31115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000C8"/>
                </a:solidFill>
                <a:latin typeface="Arial"/>
                <a:cs typeface="Arial"/>
              </a:rPr>
              <a:t>02</a:t>
            </a:r>
            <a:endParaRPr lang="en-US" sz="850" b="1" dirty="0">
              <a:solidFill>
                <a:srgbClr val="F000C8"/>
              </a:solidFill>
              <a:latin typeface="Arial"/>
              <a:cs typeface="Arial"/>
            </a:endParaRPr>
          </a:p>
        </p:txBody>
      </p:sp>
      <p:sp>
        <p:nvSpPr>
          <p:cNvPr id="51" name="TextBox 50">
            <a:extLst>
              <a:ext uri="{FF2B5EF4-FFF2-40B4-BE49-F238E27FC236}">
                <a16:creationId xmlns:a16="http://schemas.microsoft.com/office/drawing/2014/main" id="{91C0ECCA-0480-254E-88D4-11DEFFE579F2}"/>
              </a:ext>
            </a:extLst>
          </p:cNvPr>
          <p:cNvSpPr txBox="1"/>
          <p:nvPr/>
        </p:nvSpPr>
        <p:spPr>
          <a:xfrm>
            <a:off x="1016000" y="3098800"/>
            <a:ext cx="28956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120B63"/>
                </a:solidFill>
                <a:latin typeface="Arial"/>
                <a:cs typeface="Arial"/>
              </a:rPr>
              <a:t>ASSESSMENT</a:t>
            </a:r>
            <a:endParaRPr lang="en-US" sz="1000" b="1" dirty="0">
              <a:solidFill>
                <a:srgbClr val="120B63"/>
              </a:solidFill>
              <a:latin typeface="Arial"/>
              <a:cs typeface="Arial"/>
            </a:endParaRPr>
          </a:p>
        </p:txBody>
      </p:sp>
      <p:sp>
        <p:nvSpPr>
          <p:cNvPr id="52" name="TextBox 51">
            <a:extLst>
              <a:ext uri="{FF2B5EF4-FFF2-40B4-BE49-F238E27FC236}">
                <a16:creationId xmlns:a16="http://schemas.microsoft.com/office/drawing/2014/main" id="{4C0E0A75-4AE3-3348-AB7D-A361549771D1}"/>
              </a:ext>
            </a:extLst>
          </p:cNvPr>
          <p:cNvSpPr txBox="1"/>
          <p:nvPr/>
        </p:nvSpPr>
        <p:spPr>
          <a:xfrm>
            <a:off x="1016000" y="3340100"/>
            <a:ext cx="2895600" cy="3937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120B63"/>
                </a:solidFill>
                <a:latin typeface="Arial"/>
                <a:cs typeface="Arial"/>
              </a:rPr>
              <a:t>Establish how work, systems, risks, and dependencies operate today.</a:t>
            </a:r>
            <a:endParaRPr lang="en-US" sz="950" dirty="0">
              <a:solidFill>
                <a:srgbClr val="120B63"/>
              </a:solidFill>
              <a:latin typeface="Arial"/>
              <a:cs typeface="Arial"/>
            </a:endParaRPr>
          </a:p>
        </p:txBody>
      </p:sp>
      <p:sp>
        <p:nvSpPr>
          <p:cNvPr id="53" name="TextBox 52">
            <a:extLst>
              <a:ext uri="{FF2B5EF4-FFF2-40B4-BE49-F238E27FC236}">
                <a16:creationId xmlns:a16="http://schemas.microsoft.com/office/drawing/2014/main" id="{6E37E0BF-E57C-544D-8217-B506EF9779CC}"/>
              </a:ext>
            </a:extLst>
          </p:cNvPr>
          <p:cNvSpPr txBox="1"/>
          <p:nvPr/>
        </p:nvSpPr>
        <p:spPr>
          <a:xfrm>
            <a:off x="660400" y="3860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000C8"/>
                </a:solidFill>
                <a:latin typeface="Arial"/>
                <a:cs typeface="Arial"/>
              </a:rPr>
              <a:t>03</a:t>
            </a:r>
            <a:endParaRPr lang="en-US" sz="850" b="1" dirty="0">
              <a:solidFill>
                <a:srgbClr val="F000C8"/>
              </a:solidFill>
              <a:latin typeface="Arial"/>
              <a:cs typeface="Arial"/>
            </a:endParaRPr>
          </a:p>
        </p:txBody>
      </p:sp>
      <p:sp>
        <p:nvSpPr>
          <p:cNvPr id="54" name="TextBox 53">
            <a:extLst>
              <a:ext uri="{FF2B5EF4-FFF2-40B4-BE49-F238E27FC236}">
                <a16:creationId xmlns:a16="http://schemas.microsoft.com/office/drawing/2014/main" id="{E8A4D20A-30B8-E849-B28F-05E6E9E41A7B}"/>
              </a:ext>
            </a:extLst>
          </p:cNvPr>
          <p:cNvSpPr txBox="1"/>
          <p:nvPr/>
        </p:nvSpPr>
        <p:spPr>
          <a:xfrm>
            <a:off x="1016000" y="3848100"/>
            <a:ext cx="28956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120B63"/>
                </a:solidFill>
                <a:latin typeface="Arial"/>
                <a:cs typeface="Arial"/>
              </a:rPr>
              <a:t>REIMAGINE</a:t>
            </a:r>
            <a:endParaRPr lang="en-US" sz="1000" b="1" dirty="0">
              <a:solidFill>
                <a:srgbClr val="120B63"/>
              </a:solidFill>
              <a:latin typeface="Arial"/>
              <a:cs typeface="Arial"/>
            </a:endParaRPr>
          </a:p>
        </p:txBody>
      </p:sp>
      <p:sp>
        <p:nvSpPr>
          <p:cNvPr id="55" name="TextBox 54">
            <a:extLst>
              <a:ext uri="{FF2B5EF4-FFF2-40B4-BE49-F238E27FC236}">
                <a16:creationId xmlns:a16="http://schemas.microsoft.com/office/drawing/2014/main" id="{F6358829-8E77-C04D-BA6B-40D255E41871}"/>
              </a:ext>
            </a:extLst>
          </p:cNvPr>
          <p:cNvSpPr txBox="1"/>
          <p:nvPr/>
        </p:nvSpPr>
        <p:spPr>
          <a:xfrm>
            <a:off x="1016000" y="4089400"/>
            <a:ext cx="2895600" cy="3937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120B63"/>
                </a:solidFill>
                <a:latin typeface="Arial"/>
                <a:cs typeface="Arial"/>
              </a:rPr>
              <a:t>Test future process and experience options before target design hardens.</a:t>
            </a:r>
            <a:endParaRPr lang="en-US" sz="950" dirty="0">
              <a:solidFill>
                <a:srgbClr val="120B63"/>
              </a:solidFill>
              <a:latin typeface="Arial"/>
              <a:cs typeface="Arial"/>
            </a:endParaRPr>
          </a:p>
        </p:txBody>
      </p:sp>
      <p:sp>
        <p:nvSpPr>
          <p:cNvPr id="56" name="TextBox 55">
            <a:extLst>
              <a:ext uri="{FF2B5EF4-FFF2-40B4-BE49-F238E27FC236}">
                <a16:creationId xmlns:a16="http://schemas.microsoft.com/office/drawing/2014/main" id="{0E419062-1060-1244-A322-5AA680EE2F2A}"/>
              </a:ext>
            </a:extLst>
          </p:cNvPr>
          <p:cNvSpPr txBox="1"/>
          <p:nvPr/>
        </p:nvSpPr>
        <p:spPr>
          <a:xfrm>
            <a:off x="660400" y="46101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000C8"/>
                </a:solidFill>
                <a:latin typeface="Arial"/>
                <a:cs typeface="Arial"/>
              </a:rPr>
              <a:t>04</a:t>
            </a:r>
            <a:endParaRPr lang="en-US" sz="850" b="1" dirty="0">
              <a:solidFill>
                <a:srgbClr val="F000C8"/>
              </a:solidFill>
              <a:latin typeface="Arial"/>
              <a:cs typeface="Arial"/>
            </a:endParaRPr>
          </a:p>
        </p:txBody>
      </p:sp>
      <p:sp>
        <p:nvSpPr>
          <p:cNvPr id="57" name="TextBox 56">
            <a:extLst>
              <a:ext uri="{FF2B5EF4-FFF2-40B4-BE49-F238E27FC236}">
                <a16:creationId xmlns:a16="http://schemas.microsoft.com/office/drawing/2014/main" id="{7E9A6C5B-71AC-7B42-B74E-E8EE4ADD6CA3}"/>
              </a:ext>
            </a:extLst>
          </p:cNvPr>
          <p:cNvSpPr txBox="1"/>
          <p:nvPr/>
        </p:nvSpPr>
        <p:spPr>
          <a:xfrm>
            <a:off x="1016000" y="4597400"/>
            <a:ext cx="28956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120B63"/>
                </a:solidFill>
                <a:latin typeface="Arial"/>
                <a:cs typeface="Arial"/>
              </a:rPr>
              <a:t>PLAN</a:t>
            </a:r>
            <a:endParaRPr lang="en-US" sz="1000" b="1" dirty="0">
              <a:solidFill>
                <a:srgbClr val="120B63"/>
              </a:solidFill>
              <a:latin typeface="Arial"/>
              <a:cs typeface="Arial"/>
            </a:endParaRPr>
          </a:p>
        </p:txBody>
      </p:sp>
      <p:sp>
        <p:nvSpPr>
          <p:cNvPr id="58" name="TextBox 57">
            <a:extLst>
              <a:ext uri="{FF2B5EF4-FFF2-40B4-BE49-F238E27FC236}">
                <a16:creationId xmlns:a16="http://schemas.microsoft.com/office/drawing/2014/main" id="{3CE49182-1226-6A40-B5E3-784EBEA0B2DD}"/>
              </a:ext>
            </a:extLst>
          </p:cNvPr>
          <p:cNvSpPr txBox="1"/>
          <p:nvPr/>
        </p:nvSpPr>
        <p:spPr>
          <a:xfrm>
            <a:off x="1016000" y="4838700"/>
            <a:ext cx="2895600" cy="3937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120B63"/>
                </a:solidFill>
                <a:latin typeface="Arial"/>
                <a:cs typeface="Arial"/>
              </a:rPr>
              <a:t>Select dispositions, economics, roadmap, and the first investable wave.</a:t>
            </a:r>
            <a:endParaRPr lang="en-US" sz="950" dirty="0">
              <a:solidFill>
                <a:srgbClr val="120B63"/>
              </a:solidFill>
              <a:latin typeface="Arial"/>
              <a:cs typeface="Arial"/>
            </a:endParaRPr>
          </a:p>
        </p:txBody>
      </p:sp>
      <p:sp>
        <p:nvSpPr>
          <p:cNvPr id="59" name="TextBox 58">
            <a:extLst>
              <a:ext uri="{FF2B5EF4-FFF2-40B4-BE49-F238E27FC236}">
                <a16:creationId xmlns:a16="http://schemas.microsoft.com/office/drawing/2014/main" id="{F8C0EDAD-C639-F84D-A9BF-198E6C5F07A9}"/>
              </a:ext>
            </a:extLst>
          </p:cNvPr>
          <p:cNvSpPr txBox="1"/>
          <p:nvPr/>
        </p:nvSpPr>
        <p:spPr>
          <a:xfrm>
            <a:off x="4470400" y="23622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075BFF"/>
                </a:solidFill>
                <a:latin typeface="Arial"/>
                <a:cs typeface="Arial"/>
              </a:rPr>
              <a:t>01</a:t>
            </a:r>
            <a:endParaRPr lang="en-US" sz="850" b="1" dirty="0">
              <a:solidFill>
                <a:srgbClr val="075BFF"/>
              </a:solidFill>
              <a:latin typeface="Arial"/>
              <a:cs typeface="Arial"/>
            </a:endParaRPr>
          </a:p>
        </p:txBody>
      </p:sp>
      <p:sp>
        <p:nvSpPr>
          <p:cNvPr id="60" name="TextBox 59">
            <a:extLst>
              <a:ext uri="{FF2B5EF4-FFF2-40B4-BE49-F238E27FC236}">
                <a16:creationId xmlns:a16="http://schemas.microsoft.com/office/drawing/2014/main" id="{834DFAC3-3DC7-EC4B-AD75-57E5F3EF3B46}"/>
              </a:ext>
            </a:extLst>
          </p:cNvPr>
          <p:cNvSpPr txBox="1"/>
          <p:nvPr/>
        </p:nvSpPr>
        <p:spPr>
          <a:xfrm>
            <a:off x="4826000" y="2349500"/>
            <a:ext cx="28956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120B63"/>
                </a:solidFill>
                <a:latin typeface="Arial"/>
                <a:cs typeface="Arial"/>
              </a:rPr>
              <a:t>DESIGN</a:t>
            </a:r>
            <a:endParaRPr lang="en-US" sz="1000" b="1" dirty="0">
              <a:solidFill>
                <a:srgbClr val="120B63"/>
              </a:solidFill>
              <a:latin typeface="Arial"/>
              <a:cs typeface="Arial"/>
            </a:endParaRPr>
          </a:p>
        </p:txBody>
      </p:sp>
      <p:sp>
        <p:nvSpPr>
          <p:cNvPr id="61" name="TextBox 60">
            <a:extLst>
              <a:ext uri="{FF2B5EF4-FFF2-40B4-BE49-F238E27FC236}">
                <a16:creationId xmlns:a16="http://schemas.microsoft.com/office/drawing/2014/main" id="{86F15BBF-9B5E-F442-92B2-8B865F23F724}"/>
              </a:ext>
            </a:extLst>
          </p:cNvPr>
          <p:cNvSpPr txBox="1"/>
          <p:nvPr/>
        </p:nvSpPr>
        <p:spPr>
          <a:xfrm>
            <a:off x="4826000" y="2590800"/>
            <a:ext cx="2895600" cy="3937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dirty="0">
                <a:solidFill>
                  <a:srgbClr val="120B63"/>
                </a:solidFill>
                <a:latin typeface="Arial"/>
                <a:cs typeface="Arial"/>
              </a:rPr>
              <a:t>Turn high-level plans into target processes, architecture, and working prototypes.</a:t>
            </a:r>
          </a:p>
        </p:txBody>
      </p:sp>
      <p:sp>
        <p:nvSpPr>
          <p:cNvPr id="62" name="TextBox 61">
            <a:extLst>
              <a:ext uri="{FF2B5EF4-FFF2-40B4-BE49-F238E27FC236}">
                <a16:creationId xmlns:a16="http://schemas.microsoft.com/office/drawing/2014/main" id="{8DF81956-9A0E-2F40-B0BA-81DCA0E78A27}"/>
              </a:ext>
            </a:extLst>
          </p:cNvPr>
          <p:cNvSpPr txBox="1"/>
          <p:nvPr/>
        </p:nvSpPr>
        <p:spPr>
          <a:xfrm>
            <a:off x="4470400" y="31115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075BFF"/>
                </a:solidFill>
                <a:latin typeface="Arial"/>
                <a:cs typeface="Arial"/>
              </a:rPr>
              <a:t>02</a:t>
            </a:r>
            <a:endParaRPr lang="en-US" sz="850" b="1" dirty="0">
              <a:solidFill>
                <a:srgbClr val="075BFF"/>
              </a:solidFill>
              <a:latin typeface="Arial"/>
              <a:cs typeface="Arial"/>
            </a:endParaRPr>
          </a:p>
        </p:txBody>
      </p:sp>
      <p:sp>
        <p:nvSpPr>
          <p:cNvPr id="63" name="TextBox 62">
            <a:extLst>
              <a:ext uri="{FF2B5EF4-FFF2-40B4-BE49-F238E27FC236}">
                <a16:creationId xmlns:a16="http://schemas.microsoft.com/office/drawing/2014/main" id="{B44D06F4-9E81-ED45-8A4F-097F647080FF}"/>
              </a:ext>
            </a:extLst>
          </p:cNvPr>
          <p:cNvSpPr txBox="1"/>
          <p:nvPr/>
        </p:nvSpPr>
        <p:spPr>
          <a:xfrm>
            <a:off x="4826000" y="3098800"/>
            <a:ext cx="28956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120B63"/>
                </a:solidFill>
                <a:latin typeface="Arial"/>
                <a:cs typeface="Arial"/>
              </a:rPr>
              <a:t>BUILD</a:t>
            </a:r>
            <a:endParaRPr lang="en-US" sz="1000" b="1" dirty="0">
              <a:solidFill>
                <a:srgbClr val="120B63"/>
              </a:solidFill>
              <a:latin typeface="Arial"/>
              <a:cs typeface="Arial"/>
            </a:endParaRPr>
          </a:p>
        </p:txBody>
      </p:sp>
      <p:sp>
        <p:nvSpPr>
          <p:cNvPr id="64" name="TextBox 63">
            <a:extLst>
              <a:ext uri="{FF2B5EF4-FFF2-40B4-BE49-F238E27FC236}">
                <a16:creationId xmlns:a16="http://schemas.microsoft.com/office/drawing/2014/main" id="{36ACFE36-4BDB-E147-B081-9A8C713D6D67}"/>
              </a:ext>
            </a:extLst>
          </p:cNvPr>
          <p:cNvSpPr txBox="1"/>
          <p:nvPr/>
        </p:nvSpPr>
        <p:spPr>
          <a:xfrm>
            <a:off x="4826000" y="3340100"/>
            <a:ext cx="2895600" cy="3937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120B63"/>
                </a:solidFill>
                <a:latin typeface="Arial"/>
                <a:cs typeface="Arial"/>
              </a:rPr>
              <a:t>Create bounded software and integration increments from approved rules and decisions.</a:t>
            </a:r>
            <a:endParaRPr lang="en-US" sz="950" dirty="0">
              <a:solidFill>
                <a:srgbClr val="120B63"/>
              </a:solidFill>
              <a:latin typeface="Arial"/>
              <a:cs typeface="Arial"/>
            </a:endParaRPr>
          </a:p>
        </p:txBody>
      </p:sp>
      <p:sp>
        <p:nvSpPr>
          <p:cNvPr id="65" name="TextBox 64">
            <a:extLst>
              <a:ext uri="{FF2B5EF4-FFF2-40B4-BE49-F238E27FC236}">
                <a16:creationId xmlns:a16="http://schemas.microsoft.com/office/drawing/2014/main" id="{143B6E85-9D44-4F45-996F-3AB0E5AD579C}"/>
              </a:ext>
            </a:extLst>
          </p:cNvPr>
          <p:cNvSpPr txBox="1"/>
          <p:nvPr/>
        </p:nvSpPr>
        <p:spPr>
          <a:xfrm>
            <a:off x="4470400" y="3860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075BFF"/>
                </a:solidFill>
                <a:latin typeface="Arial"/>
                <a:cs typeface="Arial"/>
              </a:rPr>
              <a:t>03</a:t>
            </a:r>
            <a:endParaRPr lang="en-US" sz="850" b="1" dirty="0">
              <a:solidFill>
                <a:srgbClr val="075BFF"/>
              </a:solidFill>
              <a:latin typeface="Arial"/>
              <a:cs typeface="Arial"/>
            </a:endParaRPr>
          </a:p>
        </p:txBody>
      </p:sp>
      <p:sp>
        <p:nvSpPr>
          <p:cNvPr id="66" name="TextBox 65">
            <a:extLst>
              <a:ext uri="{FF2B5EF4-FFF2-40B4-BE49-F238E27FC236}">
                <a16:creationId xmlns:a16="http://schemas.microsoft.com/office/drawing/2014/main" id="{82EFF2FA-9840-F241-B9FA-7B4F7026FC2B}"/>
              </a:ext>
            </a:extLst>
          </p:cNvPr>
          <p:cNvSpPr txBox="1"/>
          <p:nvPr/>
        </p:nvSpPr>
        <p:spPr>
          <a:xfrm>
            <a:off x="4826000" y="3848100"/>
            <a:ext cx="28956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120B63"/>
                </a:solidFill>
                <a:latin typeface="Arial"/>
                <a:cs typeface="Arial"/>
              </a:rPr>
              <a:t>VALIDATE</a:t>
            </a:r>
            <a:endParaRPr lang="en-US" sz="1000" b="1" dirty="0">
              <a:solidFill>
                <a:srgbClr val="120B63"/>
              </a:solidFill>
              <a:latin typeface="Arial"/>
              <a:cs typeface="Arial"/>
            </a:endParaRPr>
          </a:p>
        </p:txBody>
      </p:sp>
      <p:sp>
        <p:nvSpPr>
          <p:cNvPr id="67" name="TextBox 66">
            <a:extLst>
              <a:ext uri="{FF2B5EF4-FFF2-40B4-BE49-F238E27FC236}">
                <a16:creationId xmlns:a16="http://schemas.microsoft.com/office/drawing/2014/main" id="{CD79255B-DDA6-2443-AAB9-2F40AB727BAC}"/>
              </a:ext>
            </a:extLst>
          </p:cNvPr>
          <p:cNvSpPr txBox="1"/>
          <p:nvPr/>
        </p:nvSpPr>
        <p:spPr>
          <a:xfrm>
            <a:off x="4826000" y="4089400"/>
            <a:ext cx="2895600" cy="3937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120B63"/>
                </a:solidFill>
                <a:latin typeface="Arial"/>
                <a:cs typeface="Arial"/>
              </a:rPr>
              <a:t>Prove parity, controls, performance, and acceptance with traceable evidence.</a:t>
            </a:r>
            <a:endParaRPr lang="en-US" sz="950" dirty="0">
              <a:solidFill>
                <a:srgbClr val="120B63"/>
              </a:solidFill>
              <a:latin typeface="Arial"/>
              <a:cs typeface="Arial"/>
            </a:endParaRPr>
          </a:p>
        </p:txBody>
      </p:sp>
      <p:sp>
        <p:nvSpPr>
          <p:cNvPr id="68" name="TextBox 67">
            <a:extLst>
              <a:ext uri="{FF2B5EF4-FFF2-40B4-BE49-F238E27FC236}">
                <a16:creationId xmlns:a16="http://schemas.microsoft.com/office/drawing/2014/main" id="{7B0D3E69-26EC-2141-B9BE-75CF286B8BAB}"/>
              </a:ext>
            </a:extLst>
          </p:cNvPr>
          <p:cNvSpPr txBox="1"/>
          <p:nvPr/>
        </p:nvSpPr>
        <p:spPr>
          <a:xfrm>
            <a:off x="4470400" y="46101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075BFF"/>
                </a:solidFill>
                <a:latin typeface="Arial"/>
                <a:cs typeface="Arial"/>
              </a:rPr>
              <a:t>04</a:t>
            </a:r>
            <a:endParaRPr lang="en-US" sz="850" b="1" dirty="0">
              <a:solidFill>
                <a:srgbClr val="075BFF"/>
              </a:solidFill>
              <a:latin typeface="Arial"/>
              <a:cs typeface="Arial"/>
            </a:endParaRPr>
          </a:p>
        </p:txBody>
      </p:sp>
      <p:sp>
        <p:nvSpPr>
          <p:cNvPr id="69" name="TextBox 68">
            <a:extLst>
              <a:ext uri="{FF2B5EF4-FFF2-40B4-BE49-F238E27FC236}">
                <a16:creationId xmlns:a16="http://schemas.microsoft.com/office/drawing/2014/main" id="{BE0B0559-7B24-1E41-B755-EEC0E4176D1F}"/>
              </a:ext>
            </a:extLst>
          </p:cNvPr>
          <p:cNvSpPr txBox="1"/>
          <p:nvPr/>
        </p:nvSpPr>
        <p:spPr>
          <a:xfrm>
            <a:off x="4826000" y="4597400"/>
            <a:ext cx="28956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120B63"/>
                </a:solidFill>
                <a:latin typeface="Arial"/>
                <a:cs typeface="Arial"/>
              </a:rPr>
              <a:t>TRANSITION</a:t>
            </a:r>
            <a:endParaRPr lang="en-US" sz="1000" b="1" dirty="0">
              <a:solidFill>
                <a:srgbClr val="120B63"/>
              </a:solidFill>
              <a:latin typeface="Arial"/>
              <a:cs typeface="Arial"/>
            </a:endParaRPr>
          </a:p>
        </p:txBody>
      </p:sp>
      <p:sp>
        <p:nvSpPr>
          <p:cNvPr id="70" name="TextBox 69">
            <a:extLst>
              <a:ext uri="{FF2B5EF4-FFF2-40B4-BE49-F238E27FC236}">
                <a16:creationId xmlns:a16="http://schemas.microsoft.com/office/drawing/2014/main" id="{E846C0DD-EA64-AB42-89B2-49D0948ADF82}"/>
              </a:ext>
            </a:extLst>
          </p:cNvPr>
          <p:cNvSpPr txBox="1"/>
          <p:nvPr/>
        </p:nvSpPr>
        <p:spPr>
          <a:xfrm>
            <a:off x="4826000" y="4838700"/>
            <a:ext cx="2895600" cy="3937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dirty="0">
                <a:solidFill>
                  <a:srgbClr val="120B63"/>
                </a:solidFill>
                <a:latin typeface="Arial"/>
                <a:cs typeface="Arial"/>
              </a:rPr>
              <a:t>Move data, operations, and people through controlled release waves.</a:t>
            </a:r>
          </a:p>
        </p:txBody>
      </p:sp>
      <p:sp>
        <p:nvSpPr>
          <p:cNvPr id="71" name="TextBox 70">
            <a:extLst>
              <a:ext uri="{FF2B5EF4-FFF2-40B4-BE49-F238E27FC236}">
                <a16:creationId xmlns:a16="http://schemas.microsoft.com/office/drawing/2014/main" id="{D44563AB-2037-FC40-B84E-49652D2D46BF}"/>
              </a:ext>
            </a:extLst>
          </p:cNvPr>
          <p:cNvSpPr txBox="1"/>
          <p:nvPr/>
        </p:nvSpPr>
        <p:spPr>
          <a:xfrm>
            <a:off x="8280400" y="24130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000C8"/>
                </a:solidFill>
                <a:latin typeface="Arial"/>
                <a:cs typeface="Arial"/>
              </a:rPr>
              <a:t>01</a:t>
            </a:r>
            <a:endParaRPr lang="en-US" sz="850" b="1" dirty="0">
              <a:solidFill>
                <a:srgbClr val="F000C8"/>
              </a:solidFill>
              <a:latin typeface="Arial"/>
              <a:cs typeface="Arial"/>
            </a:endParaRPr>
          </a:p>
        </p:txBody>
      </p:sp>
      <p:sp>
        <p:nvSpPr>
          <p:cNvPr id="72" name="TextBox 71">
            <a:extLst>
              <a:ext uri="{FF2B5EF4-FFF2-40B4-BE49-F238E27FC236}">
                <a16:creationId xmlns:a16="http://schemas.microsoft.com/office/drawing/2014/main" id="{F95AD320-85F3-CA4C-AF41-1C5D6D3DCF89}"/>
              </a:ext>
            </a:extLst>
          </p:cNvPr>
          <p:cNvSpPr txBox="1"/>
          <p:nvPr/>
        </p:nvSpPr>
        <p:spPr>
          <a:xfrm>
            <a:off x="8636000" y="2400300"/>
            <a:ext cx="28956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120B63"/>
                </a:solidFill>
                <a:latin typeface="Arial"/>
                <a:cs typeface="Arial"/>
              </a:rPr>
              <a:t>OPERATE</a:t>
            </a:r>
            <a:endParaRPr lang="en-US" sz="1000" b="1" dirty="0">
              <a:solidFill>
                <a:srgbClr val="120B63"/>
              </a:solidFill>
              <a:latin typeface="Arial"/>
              <a:cs typeface="Arial"/>
            </a:endParaRPr>
          </a:p>
        </p:txBody>
      </p:sp>
      <p:sp>
        <p:nvSpPr>
          <p:cNvPr id="73" name="TextBox 72">
            <a:extLst>
              <a:ext uri="{FF2B5EF4-FFF2-40B4-BE49-F238E27FC236}">
                <a16:creationId xmlns:a16="http://schemas.microsoft.com/office/drawing/2014/main" id="{F6C3DB0F-5F9C-EE45-AF4A-E56C4BEE83C8}"/>
              </a:ext>
            </a:extLst>
          </p:cNvPr>
          <p:cNvSpPr txBox="1"/>
          <p:nvPr/>
        </p:nvSpPr>
        <p:spPr>
          <a:xfrm>
            <a:off x="8636000" y="2641600"/>
            <a:ext cx="2895600" cy="431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120B63"/>
                </a:solidFill>
                <a:latin typeface="Arial"/>
                <a:cs typeface="Arial"/>
              </a:rPr>
              <a:t>Establish ownership, service levels, observability, security, and cost control.</a:t>
            </a:r>
            <a:endParaRPr lang="en-US" sz="950" dirty="0">
              <a:solidFill>
                <a:srgbClr val="120B63"/>
              </a:solidFill>
              <a:latin typeface="Arial"/>
              <a:cs typeface="Arial"/>
            </a:endParaRPr>
          </a:p>
        </p:txBody>
      </p:sp>
      <p:sp>
        <p:nvSpPr>
          <p:cNvPr id="74" name="TextBox 73">
            <a:extLst>
              <a:ext uri="{FF2B5EF4-FFF2-40B4-BE49-F238E27FC236}">
                <a16:creationId xmlns:a16="http://schemas.microsoft.com/office/drawing/2014/main" id="{9797ECB8-C585-FE47-8AC6-8BC5D5D3DBEE}"/>
              </a:ext>
            </a:extLst>
          </p:cNvPr>
          <p:cNvSpPr txBox="1"/>
          <p:nvPr/>
        </p:nvSpPr>
        <p:spPr>
          <a:xfrm>
            <a:off x="82804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000C8"/>
                </a:solidFill>
                <a:latin typeface="Arial"/>
                <a:cs typeface="Arial"/>
              </a:rPr>
              <a:t>02</a:t>
            </a:r>
            <a:endParaRPr lang="en-US" sz="850" b="1" dirty="0">
              <a:solidFill>
                <a:srgbClr val="F000C8"/>
              </a:solidFill>
              <a:latin typeface="Arial"/>
              <a:cs typeface="Arial"/>
            </a:endParaRPr>
          </a:p>
        </p:txBody>
      </p:sp>
      <p:sp>
        <p:nvSpPr>
          <p:cNvPr id="75" name="TextBox 74">
            <a:extLst>
              <a:ext uri="{FF2B5EF4-FFF2-40B4-BE49-F238E27FC236}">
                <a16:creationId xmlns:a16="http://schemas.microsoft.com/office/drawing/2014/main" id="{F862FDD9-52DB-6C4F-9A5C-D1469590B413}"/>
              </a:ext>
            </a:extLst>
          </p:cNvPr>
          <p:cNvSpPr txBox="1"/>
          <p:nvPr/>
        </p:nvSpPr>
        <p:spPr>
          <a:xfrm>
            <a:off x="8636000" y="3175000"/>
            <a:ext cx="28956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120B63"/>
                </a:solidFill>
                <a:latin typeface="Arial"/>
                <a:cs typeface="Arial"/>
              </a:rPr>
              <a:t>EVOLVE</a:t>
            </a:r>
            <a:endParaRPr lang="en-US" sz="1000" b="1" dirty="0">
              <a:solidFill>
                <a:srgbClr val="120B63"/>
              </a:solidFill>
              <a:latin typeface="Arial"/>
              <a:cs typeface="Arial"/>
            </a:endParaRPr>
          </a:p>
        </p:txBody>
      </p:sp>
      <p:sp>
        <p:nvSpPr>
          <p:cNvPr id="76" name="TextBox 75">
            <a:extLst>
              <a:ext uri="{FF2B5EF4-FFF2-40B4-BE49-F238E27FC236}">
                <a16:creationId xmlns:a16="http://schemas.microsoft.com/office/drawing/2014/main" id="{6634F9EF-7FD5-BC40-B4F4-88C06DD08AFD}"/>
              </a:ext>
            </a:extLst>
          </p:cNvPr>
          <p:cNvSpPr txBox="1"/>
          <p:nvPr/>
        </p:nvSpPr>
        <p:spPr>
          <a:xfrm>
            <a:off x="8636000" y="3416300"/>
            <a:ext cx="2895600" cy="4826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120B63"/>
                </a:solidFill>
                <a:latin typeface="Arial"/>
                <a:cs typeface="Arial"/>
              </a:rPr>
              <a:t>Keep knowledge and the product backlog current so the capability improves with measured performance.</a:t>
            </a:r>
            <a:endParaRPr lang="en-US" sz="950" dirty="0">
              <a:solidFill>
                <a:srgbClr val="120B63"/>
              </a:solidFill>
              <a:latin typeface="Arial"/>
              <a:cs typeface="Arial"/>
            </a:endParaRPr>
          </a:p>
        </p:txBody>
      </p:sp>
      <p:sp>
        <p:nvSpPr>
          <p:cNvPr id="77" name="Rectangle 76">
            <a:extLst>
              <a:ext uri="{FF2B5EF4-FFF2-40B4-BE49-F238E27FC236}">
                <a16:creationId xmlns:a16="http://schemas.microsoft.com/office/drawing/2014/main" id="{4A1082B6-DEEB-E546-80E4-51D8D87B38A5}"/>
              </a:ext>
            </a:extLst>
          </p:cNvPr>
          <p:cNvSpPr/>
          <p:nvPr/>
        </p:nvSpPr>
        <p:spPr bwMode="auto">
          <a:xfrm>
            <a:off x="457200" y="5562600"/>
            <a:ext cx="11277600" cy="508000"/>
          </a:xfrm>
          <a:prstGeom prst="rect">
            <a:avLst/>
          </a:prstGeom>
          <a:solidFill>
            <a:srgbClr val="10066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8" name="TextBox 77">
            <a:extLst>
              <a:ext uri="{FF2B5EF4-FFF2-40B4-BE49-F238E27FC236}">
                <a16:creationId xmlns:a16="http://schemas.microsoft.com/office/drawing/2014/main" id="{D9D17846-8E1D-D540-896E-A5AFF38A9D94}"/>
              </a:ext>
            </a:extLst>
          </p:cNvPr>
          <p:cNvSpPr txBox="1"/>
          <p:nvPr/>
        </p:nvSpPr>
        <p:spPr>
          <a:xfrm>
            <a:off x="660400" y="5676900"/>
            <a:ext cx="39370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000C8"/>
                </a:solidFill>
                <a:latin typeface="Arial"/>
                <a:cs typeface="Arial"/>
              </a:rPr>
              <a:t>FOUR THREADS SHAPE EVERY PHASE GATE AND DELIVERY DECISION</a:t>
            </a:r>
            <a:endParaRPr lang="en-US" sz="850" b="1" dirty="0">
              <a:solidFill>
                <a:srgbClr val="F000C8"/>
              </a:solidFill>
              <a:latin typeface="Arial"/>
              <a:cs typeface="Arial"/>
            </a:endParaRPr>
          </a:p>
        </p:txBody>
      </p:sp>
      <p:sp>
        <p:nvSpPr>
          <p:cNvPr id="79" name="TextBox 78">
            <a:extLst>
              <a:ext uri="{FF2B5EF4-FFF2-40B4-BE49-F238E27FC236}">
                <a16:creationId xmlns:a16="http://schemas.microsoft.com/office/drawing/2014/main" id="{F02721CD-11F4-3D47-A19B-4F10172EC978}"/>
              </a:ext>
            </a:extLst>
          </p:cNvPr>
          <p:cNvSpPr txBox="1"/>
          <p:nvPr/>
        </p:nvSpPr>
        <p:spPr>
          <a:xfrm>
            <a:off x="4635500" y="5651500"/>
            <a:ext cx="6896100" cy="2794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FFFFFF"/>
                </a:solidFill>
                <a:latin typeface="Arial"/>
                <a:cs typeface="Arial"/>
              </a:rPr>
              <a:t>Business value &amp; economics   •   Process &amp; experience   •   People &amp; change   •   Technology &amp; delivery</a:t>
            </a:r>
            <a:endParaRPr lang="en-US" sz="950" b="1" dirty="0">
              <a:solidFill>
                <a:srgbClr val="FFFFFF"/>
              </a:solidFill>
              <a:latin typeface="Arial"/>
              <a:cs typeface="Arial"/>
            </a:endParaRPr>
          </a:p>
        </p:txBody>
      </p:sp>
      <p:sp>
        <p:nvSpPr>
          <p:cNvPr id="80" name="TextBox 79">
            <a:extLst>
              <a:ext uri="{FF2B5EF4-FFF2-40B4-BE49-F238E27FC236}">
                <a16:creationId xmlns:a16="http://schemas.microsoft.com/office/drawing/2014/main" id="{9FC41020-AA6C-0242-BB8F-484369B90A34}"/>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500">
                <a:solidFill>
                  <a:srgbClr val="100664"/>
                </a:solidFill>
                <a:latin typeface="Arial"/>
                <a:cs typeface="Arial"/>
              </a:rPr>
              <a:t>© 2026 West Monroe Partners | Reproduction and/or distribution without West Monroe Partners’ prior consent is prohibited.</a:t>
            </a:r>
            <a:endParaRPr lang="en-US" sz="500" dirty="0">
              <a:solidFill>
                <a:srgbClr val="100664"/>
              </a:solidFill>
              <a:latin typeface="Arial"/>
              <a:cs typeface="Arial"/>
            </a:endParaRPr>
          </a:p>
        </p:txBody>
      </p:sp>
      <p:sp>
        <p:nvSpPr>
          <p:cNvPr id="81" name="TextBox 80">
            <a:extLst>
              <a:ext uri="{FF2B5EF4-FFF2-40B4-BE49-F238E27FC236}">
                <a16:creationId xmlns:a16="http://schemas.microsoft.com/office/drawing/2014/main" id="{E9DCB4CA-6A7D-0A44-8AAB-8449B050DB6D}"/>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r>
              <a:rPr lang="en-US" sz="500">
                <a:solidFill>
                  <a:srgbClr val="100664"/>
                </a:solidFill>
                <a:latin typeface="Arial"/>
                <a:cs typeface="Arial"/>
              </a:rPr>
              <a:t>12</a:t>
            </a:r>
            <a:endParaRPr lang="en-US" sz="500" dirty="0">
              <a:solidFill>
                <a:srgbClr val="100664"/>
              </a:solidFill>
              <a:latin typeface="Arial"/>
              <a:cs typeface="Arial"/>
            </a:endParaRPr>
          </a:p>
        </p:txBody>
      </p:sp>
      <p:sp>
        <p:nvSpPr>
          <p:cNvPr id="82" name="TextBox 81">
            <a:extLst>
              <a:ext uri="{FF2B5EF4-FFF2-40B4-BE49-F238E27FC236}">
                <a16:creationId xmlns:a16="http://schemas.microsoft.com/office/drawing/2014/main" id="{0460E3CA-0B70-CA43-97F0-E8F5DEC77083}"/>
              </a:ext>
            </a:extLst>
          </p:cNvPr>
          <p:cNvSpPr txBox="1"/>
          <p:nvPr/>
        </p:nvSpPr>
        <p:spPr>
          <a:xfrm>
            <a:off x="8280400" y="40132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000C8"/>
                </a:solidFill>
                <a:latin typeface="Arial"/>
                <a:cs typeface="Arial"/>
              </a:rPr>
              <a:t>03</a:t>
            </a:r>
            <a:endParaRPr lang="en-US" sz="850" b="1" dirty="0">
              <a:solidFill>
                <a:srgbClr val="F000C8"/>
              </a:solidFill>
              <a:latin typeface="Arial"/>
              <a:cs typeface="Arial"/>
            </a:endParaRPr>
          </a:p>
        </p:txBody>
      </p:sp>
      <p:sp>
        <p:nvSpPr>
          <p:cNvPr id="83" name="TextBox 82">
            <a:extLst>
              <a:ext uri="{FF2B5EF4-FFF2-40B4-BE49-F238E27FC236}">
                <a16:creationId xmlns:a16="http://schemas.microsoft.com/office/drawing/2014/main" id="{82AAFF91-C7AA-FD40-97CF-39DD73FC299F}"/>
              </a:ext>
            </a:extLst>
          </p:cNvPr>
          <p:cNvSpPr txBox="1"/>
          <p:nvPr/>
        </p:nvSpPr>
        <p:spPr>
          <a:xfrm>
            <a:off x="8636000" y="4000500"/>
            <a:ext cx="28956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120B63"/>
                </a:solidFill>
                <a:latin typeface="Arial"/>
                <a:cs typeface="Arial"/>
              </a:rPr>
              <a:t>DECOMMISSION</a:t>
            </a:r>
            <a:endParaRPr lang="en-US" sz="1000" b="1" dirty="0">
              <a:solidFill>
                <a:srgbClr val="120B63"/>
              </a:solidFill>
              <a:latin typeface="Arial"/>
              <a:cs typeface="Arial"/>
            </a:endParaRPr>
          </a:p>
        </p:txBody>
      </p:sp>
      <p:sp>
        <p:nvSpPr>
          <p:cNvPr id="84" name="TextBox 83">
            <a:extLst>
              <a:ext uri="{FF2B5EF4-FFF2-40B4-BE49-F238E27FC236}">
                <a16:creationId xmlns:a16="http://schemas.microsoft.com/office/drawing/2014/main" id="{5C7AF822-AD45-FE45-8D9C-2B232B9DB0ED}"/>
              </a:ext>
            </a:extLst>
          </p:cNvPr>
          <p:cNvSpPr txBox="1"/>
          <p:nvPr/>
        </p:nvSpPr>
        <p:spPr>
          <a:xfrm>
            <a:off x="8636000" y="4241800"/>
            <a:ext cx="2895600" cy="4826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120B63"/>
                </a:solidFill>
                <a:latin typeface="Arial"/>
                <a:cs typeface="Arial"/>
              </a:rPr>
              <a:t>Clear remaining dependencies, then retire legacy code, data paths, controls, contracts, and cost.</a:t>
            </a:r>
            <a:endParaRPr lang="en-US" sz="950" dirty="0">
              <a:solidFill>
                <a:srgbClr val="120B63"/>
              </a:solidFill>
              <a:latin typeface="Arial"/>
              <a:cs typeface="Arial"/>
            </a:endParaRPr>
          </a:p>
        </p:txBody>
      </p:sp>
    </p:spTree>
    <p:extLst>
      <p:ext uri="{BB962C8B-B14F-4D97-AF65-F5344CB8AC3E}">
        <p14:creationId xmlns:p14="http://schemas.microsoft.com/office/powerpoint/2010/main" val="2731389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E49A2-F34D-AEB7-C932-9E57C7A2AB2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A5FF5DA-6B33-7F42-A1F8-ABE1A3507B64}"/>
              </a:ext>
            </a:extLst>
          </p:cNvPr>
          <p:cNvSpPr/>
          <p:nvPr/>
        </p:nvSpPr>
        <p:spPr bwMode="auto">
          <a:xfrm>
            <a:off x="9164943" y="1625600"/>
            <a:ext cx="2566683" cy="4559300"/>
          </a:xfrm>
          <a:prstGeom prst="rect">
            <a:avLst/>
          </a:prstGeom>
          <a:solidFill>
            <a:srgbClr val="E8EEF7"/>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Rectangle 10">
            <a:extLst>
              <a:ext uri="{FF2B5EF4-FFF2-40B4-BE49-F238E27FC236}">
                <a16:creationId xmlns:a16="http://schemas.microsoft.com/office/drawing/2014/main" id="{AE200563-9581-85FC-B4A1-EC1B6F2927A2}"/>
              </a:ext>
            </a:extLst>
          </p:cNvPr>
          <p:cNvSpPr/>
          <p:nvPr/>
        </p:nvSpPr>
        <p:spPr bwMode="auto">
          <a:xfrm>
            <a:off x="5336752" y="1625600"/>
            <a:ext cx="3733800" cy="4553480"/>
          </a:xfrm>
          <a:prstGeom prst="rect">
            <a:avLst/>
          </a:prstGeom>
          <a:solidFill>
            <a:schemeClr val="accent4"/>
          </a:solidFill>
          <a:ln>
            <a:noFill/>
          </a:ln>
          <a:effectLst/>
        </p:spPr>
        <p:txBody>
          <a:bodyPr rot="0" spcFirstLastPara="0" vertOverflow="overflow" horzOverflow="overflow" vert="horz" wrap="square" lIns="182880" tIns="182880" rIns="91440" bIns="18288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tab pos="3605213" algn="l"/>
              </a:tabLst>
              <a:defRPr/>
            </a:pPr>
            <a:r>
              <a:rPr kumimoji="0" lang="en-US" sz="1400" b="1"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Build</a:t>
            </a:r>
            <a:endParaRPr kumimoji="0" lang="en-US" sz="900" b="0" i="1"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Rectangle 9">
            <a:extLst>
              <a:ext uri="{FF2B5EF4-FFF2-40B4-BE49-F238E27FC236}">
                <a16:creationId xmlns:a16="http://schemas.microsoft.com/office/drawing/2014/main" id="{FF47307E-8CE8-1115-5547-3599FB583B71}"/>
              </a:ext>
            </a:extLst>
          </p:cNvPr>
          <p:cNvSpPr/>
          <p:nvPr/>
        </p:nvSpPr>
        <p:spPr bwMode="auto">
          <a:xfrm>
            <a:off x="460374" y="1626602"/>
            <a:ext cx="4781986" cy="4553481"/>
          </a:xfrm>
          <a:prstGeom prst="rect">
            <a:avLst/>
          </a:prstGeom>
          <a:solidFill>
            <a:schemeClr val="accent4"/>
          </a:solidFill>
          <a:ln>
            <a:noFill/>
          </a:ln>
          <a:effectLst/>
        </p:spPr>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pPr marL="9525"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tab pos="3657600" algn="l"/>
              </a:tabLst>
              <a:defRPr/>
            </a:pPr>
            <a:r>
              <a:rPr kumimoji="0" lang="en-US" sz="1400" b="1"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Rationalization</a:t>
            </a:r>
            <a:endParaRPr kumimoji="0" lang="en-US" sz="12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
        <p:nvSpPr>
          <p:cNvPr id="2" name="Footer Placeholder 1">
            <a:extLst>
              <a:ext uri="{FF2B5EF4-FFF2-40B4-BE49-F238E27FC236}">
                <a16:creationId xmlns:a16="http://schemas.microsoft.com/office/drawing/2014/main" id="{F7685E6A-C5F5-2B61-50F1-FB8841AD7782}"/>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1CFDC9FD-8650-C704-83B5-162A45DC8407}"/>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23</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5" name="Title 4">
            <a:extLst>
              <a:ext uri="{FF2B5EF4-FFF2-40B4-BE49-F238E27FC236}">
                <a16:creationId xmlns:a16="http://schemas.microsoft.com/office/drawing/2014/main" id="{A9352F6E-3E42-D7C4-B01B-CED4EB2BF377}"/>
              </a:ext>
            </a:extLst>
          </p:cNvPr>
          <p:cNvSpPr>
            <a:spLocks noGrp="1"/>
          </p:cNvSpPr>
          <p:nvPr>
            <p:ph type="title"/>
          </p:nvPr>
        </p:nvSpPr>
        <p:spPr>
          <a:xfrm>
            <a:off x="460374" y="556953"/>
            <a:ext cx="11266489" cy="784830"/>
          </a:xfrm>
        </p:spPr>
        <p:txBody>
          <a:bodyPr wrap="square">
            <a:spAutoFit/>
          </a:bodyPr>
          <a:lstStyle/>
          <a:p>
            <a:r>
              <a:rPr lang="en-US" sz="2400" dirty="0"/>
              <a:t>West Monroe recommends starting your modernization initiative with an effective Rationalization phase that lays the groundwork for what follows.</a:t>
            </a:r>
            <a:endParaRPr lang="en-US" sz="1600" dirty="0">
              <a:solidFill>
                <a:schemeClr val="tx2"/>
              </a:solidFill>
            </a:endParaRPr>
          </a:p>
        </p:txBody>
      </p:sp>
      <p:sp>
        <p:nvSpPr>
          <p:cNvPr id="7" name="Text Placeholder 6">
            <a:extLst>
              <a:ext uri="{FF2B5EF4-FFF2-40B4-BE49-F238E27FC236}">
                <a16:creationId xmlns:a16="http://schemas.microsoft.com/office/drawing/2014/main" id="{E0BF2076-C390-A6EE-F3BD-401967C55753}"/>
              </a:ext>
            </a:extLst>
          </p:cNvPr>
          <p:cNvSpPr>
            <a:spLocks noGrp="1"/>
          </p:cNvSpPr>
          <p:nvPr>
            <p:ph type="body" sz="quarter" idx="19"/>
          </p:nvPr>
        </p:nvSpPr>
        <p:spPr/>
        <p:txBody>
          <a:bodyPr/>
          <a:lstStyle/>
          <a:p>
            <a:r>
              <a:rPr lang="en-US"/>
              <a:t>SOFTWARE MODERNIZATION</a:t>
            </a:r>
          </a:p>
        </p:txBody>
      </p:sp>
      <p:sp>
        <p:nvSpPr>
          <p:cNvPr id="60" name="TextBox 59">
            <a:extLst>
              <a:ext uri="{FF2B5EF4-FFF2-40B4-BE49-F238E27FC236}">
                <a16:creationId xmlns:a16="http://schemas.microsoft.com/office/drawing/2014/main" id="{6E100662-00C5-4187-1135-62FF4DB85954}"/>
              </a:ext>
            </a:extLst>
          </p:cNvPr>
          <p:cNvSpPr txBox="1"/>
          <p:nvPr/>
        </p:nvSpPr>
        <p:spPr>
          <a:xfrm>
            <a:off x="623077" y="4242360"/>
            <a:ext cx="4516482" cy="1845633"/>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070154"/>
                </a:solidFill>
                <a:effectLst/>
                <a:uLnTx/>
                <a:uFillTx/>
                <a:latin typeface="Arial" panose="020B0604020202020204"/>
                <a:ea typeface="+mn-ea"/>
                <a:cs typeface="+mn-cs"/>
              </a:rPr>
              <a:t>OBJECTIVES</a:t>
            </a:r>
          </a:p>
          <a:p>
            <a:pPr marL="118872" marR="0" lvl="0" indent="-118872"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Prioritize application list and understand costs, roadmaps, and planned changes</a:t>
            </a:r>
          </a:p>
          <a:p>
            <a:pPr marL="118872" marR="0" lvl="0" indent="-118872"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Determine initial understanding of business value, technical health, and risks per application, and the enterprise architectural strategy</a:t>
            </a:r>
          </a:p>
          <a:p>
            <a:pPr marL="118872" marR="0" lvl="0" indent="-118872"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Interview application owners, evaluate app technologies for pain points and risks, create and socialize initial dispositions</a:t>
            </a:r>
          </a:p>
          <a:p>
            <a:pPr marL="118872" marR="0" lvl="0" indent="-118872"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Prioritize key modernization targets and document modernization roadmap</a:t>
            </a:r>
          </a:p>
          <a:p>
            <a:pPr marL="118872" marR="0" lvl="0" indent="-118872" algn="l" defTabSz="914400" rtl="0" eaLnBrk="1" fontAlgn="auto" latinLnBrk="0" hangingPunct="1">
              <a:lnSpc>
                <a:spcPct val="90000"/>
              </a:lnSpc>
              <a:spcBef>
                <a:spcPts val="0"/>
              </a:spcBef>
              <a:spcAft>
                <a:spcPts val="12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For priority apps, define future-state architecture with interim phases as necessary, contributing to product business case and plans that de-risk business impact.</a:t>
            </a:r>
          </a:p>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070154"/>
                </a:solidFill>
                <a:effectLst/>
                <a:uLnTx/>
                <a:uFillTx/>
                <a:latin typeface="Arial" panose="020B0604020202020204"/>
                <a:ea typeface="+mn-ea"/>
                <a:cs typeface="+mn-cs"/>
              </a:rPr>
              <a:t>OUTPUTS</a:t>
            </a:r>
          </a:p>
          <a:p>
            <a:pPr marL="118872" marR="0" lvl="0" indent="-118872" algn="l" defTabSz="914400"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70154"/>
                </a:solidFill>
                <a:effectLst/>
                <a:uLnTx/>
                <a:uFillTx/>
                <a:latin typeface="Arial" panose="020B0604020202020204"/>
                <a:ea typeface="+mn-ea"/>
                <a:cs typeface="+mn-cs"/>
              </a:rPr>
              <a:t>App Disposition, Modernization Roadmap, Conceptual Architecture</a:t>
            </a:r>
            <a:endParaRPr kumimoji="0" lang="en-US" sz="1500" b="0"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64" name="Rectangle: Top Corners Rounded 63">
            <a:extLst>
              <a:ext uri="{FF2B5EF4-FFF2-40B4-BE49-F238E27FC236}">
                <a16:creationId xmlns:a16="http://schemas.microsoft.com/office/drawing/2014/main" id="{667D12BB-4375-59B1-8A6F-98316D224ECE}"/>
              </a:ext>
            </a:extLst>
          </p:cNvPr>
          <p:cNvSpPr/>
          <p:nvPr/>
        </p:nvSpPr>
        <p:spPr bwMode="auto">
          <a:xfrm>
            <a:off x="474135" y="2511000"/>
            <a:ext cx="4622296" cy="512064"/>
          </a:xfrm>
          <a:prstGeom prst="round2SameRect">
            <a:avLst>
              <a:gd name="adj1" fmla="val 0"/>
              <a:gd name="adj2" fmla="val 20884"/>
            </a:avLst>
          </a:prstGeom>
          <a:solidFill>
            <a:schemeClr val="accent3"/>
          </a:solidFill>
          <a:ln w="19050">
            <a:solidFill>
              <a:schemeClr val="accent3"/>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Modernization Candidate Assessment</a:t>
            </a:r>
          </a:p>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Application Dispositions</a:t>
            </a:r>
          </a:p>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Modernization Strategy</a:t>
            </a:r>
          </a:p>
        </p:txBody>
      </p:sp>
      <p:sp>
        <p:nvSpPr>
          <p:cNvPr id="76" name="TextBox 75">
            <a:extLst>
              <a:ext uri="{FF2B5EF4-FFF2-40B4-BE49-F238E27FC236}">
                <a16:creationId xmlns:a16="http://schemas.microsoft.com/office/drawing/2014/main" id="{1AE30C39-0A24-7772-BEBD-C348E5AD1C63}"/>
              </a:ext>
            </a:extLst>
          </p:cNvPr>
          <p:cNvSpPr txBox="1"/>
          <p:nvPr/>
        </p:nvSpPr>
        <p:spPr>
          <a:xfrm>
            <a:off x="5496137" y="4241357"/>
            <a:ext cx="3429000" cy="1583510"/>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900" b="1" i="0" u="none" strike="noStrike" kern="1200" cap="none" spc="0" normalizeH="0" baseline="0" noProof="0" dirty="0">
                <a:ln>
                  <a:noFill/>
                </a:ln>
                <a:solidFill>
                  <a:srgbClr val="070154"/>
                </a:solidFill>
                <a:effectLst/>
                <a:uLnTx/>
                <a:uFillTx/>
                <a:latin typeface="Arial" panose="020B0604020202020204"/>
                <a:ea typeface="+mn-ea"/>
                <a:cs typeface="+mn-cs"/>
              </a:rPr>
              <a:t>OBJECTIVES</a:t>
            </a:r>
          </a:p>
          <a:p>
            <a:pPr marL="171450" marR="0" lvl="0" indent="-17145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900" i="0" u="none" strike="noStrike" kern="1200" cap="none" spc="0" normalizeH="0" baseline="0" noProof="0" dirty="0">
                <a:ln>
                  <a:noFill/>
                </a:ln>
                <a:solidFill>
                  <a:srgbClr val="070154"/>
                </a:solidFill>
                <a:effectLst/>
                <a:uLnTx/>
                <a:uFillTx/>
                <a:latin typeface="Arial" panose="020B0604020202020204"/>
                <a:ea typeface="+mn-ea"/>
                <a:cs typeface="+mn-cs"/>
              </a:rPr>
              <a:t>Define the priority backlog and future-state design</a:t>
            </a:r>
          </a:p>
          <a:p>
            <a:pPr marL="171450" marR="0" lvl="0" indent="-17145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900" i="0" u="none" strike="noStrike" kern="1200" cap="none" spc="0" normalizeH="0" baseline="0" noProof="0" dirty="0">
                <a:ln>
                  <a:noFill/>
                </a:ln>
                <a:solidFill>
                  <a:srgbClr val="070154"/>
                </a:solidFill>
                <a:effectLst/>
                <a:uLnTx/>
                <a:uFillTx/>
                <a:latin typeface="Arial" panose="020B0604020202020204"/>
                <a:ea typeface="+mn-ea"/>
                <a:cs typeface="+mn-cs"/>
              </a:rPr>
              <a:t>Execute iterative build, QA, UAT, and controlled releases</a:t>
            </a:r>
          </a:p>
          <a:p>
            <a:pPr marL="171450" marR="0" lvl="0" indent="-17145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900" i="0" u="none" strike="noStrike" kern="1200" cap="none" spc="0" normalizeH="0" baseline="0" noProof="0" dirty="0">
                <a:ln>
                  <a:noFill/>
                </a:ln>
                <a:solidFill>
                  <a:srgbClr val="070154"/>
                </a:solidFill>
                <a:effectLst/>
                <a:uLnTx/>
                <a:uFillTx/>
                <a:latin typeface="Arial" panose="020B0604020202020204"/>
                <a:ea typeface="+mn-ea"/>
                <a:cs typeface="+mn-cs"/>
              </a:rPr>
              <a:t>Transition users, operations, and ownership without disrupting the business</a:t>
            </a:r>
          </a:p>
          <a:p>
            <a:pPr marL="171450" marR="0" lvl="0" indent="-17145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900" i="0" u="none" strike="noStrike" kern="1200" cap="none" spc="0" normalizeH="0" baseline="0" noProof="0" dirty="0">
                <a:ln>
                  <a:noFill/>
                </a:ln>
                <a:solidFill>
                  <a:srgbClr val="070154"/>
                </a:solidFill>
                <a:effectLst/>
                <a:uLnTx/>
                <a:uFillTx/>
                <a:latin typeface="Arial" panose="020B0604020202020204"/>
                <a:ea typeface="+mn-ea"/>
                <a:cs typeface="+mn-cs"/>
              </a:rPr>
              <a:t>Transfer knowledge and establish the modern delivery toolchain</a:t>
            </a:r>
          </a:p>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900" b="1" i="0" u="none" strike="noStrike" kern="1200" cap="none" spc="0" normalizeH="0" baseline="0" noProof="0" dirty="0">
                <a:ln>
                  <a:noFill/>
                </a:ln>
                <a:solidFill>
                  <a:srgbClr val="070154"/>
                </a:solidFill>
                <a:effectLst/>
                <a:uLnTx/>
                <a:uFillTx/>
                <a:latin typeface="Arial" panose="020B0604020202020204"/>
                <a:ea typeface="+mn-ea"/>
                <a:cs typeface="+mn-cs"/>
              </a:rPr>
              <a:t>OUTPUTS</a:t>
            </a:r>
          </a:p>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900" i="0" u="none" strike="noStrike" kern="1200" cap="none" spc="0" normalizeH="0" baseline="0" noProof="0" dirty="0">
                <a:ln>
                  <a:noFill/>
                </a:ln>
                <a:solidFill>
                  <a:srgbClr val="070154"/>
                </a:solidFill>
                <a:effectLst/>
                <a:uLnTx/>
                <a:uFillTx/>
                <a:latin typeface="Arial" panose="020B0604020202020204"/>
                <a:ea typeface="+mn-ea"/>
                <a:cs typeface="+mn-cs"/>
              </a:rPr>
              <a:t>Modernized releases, validation evidence, transition plan, Developer Enablement Playbook</a:t>
            </a:r>
            <a:endParaRPr kumimoji="0" lang="en-US" sz="1500" i="0" u="none" strike="noStrike" kern="1200" cap="none" spc="0" normalizeH="0" baseline="0" noProof="0" dirty="0">
              <a:ln>
                <a:noFill/>
              </a:ln>
              <a:solidFill>
                <a:srgbClr val="070154"/>
              </a:solidFill>
              <a:effectLst/>
              <a:uLnTx/>
              <a:uFillTx/>
              <a:latin typeface="Arial" panose="020B0604020202020204"/>
              <a:ea typeface="+mn-ea"/>
              <a:cs typeface="+mn-cs"/>
            </a:endParaRPr>
          </a:p>
        </p:txBody>
      </p:sp>
      <p:sp>
        <p:nvSpPr>
          <p:cNvPr id="6" name="Rectangle: Top Corners Rounded 5">
            <a:extLst>
              <a:ext uri="{FF2B5EF4-FFF2-40B4-BE49-F238E27FC236}">
                <a16:creationId xmlns:a16="http://schemas.microsoft.com/office/drawing/2014/main" id="{BA797371-BEC3-0E4F-39D9-6596C5A09998}"/>
              </a:ext>
            </a:extLst>
          </p:cNvPr>
          <p:cNvSpPr/>
          <p:nvPr/>
        </p:nvSpPr>
        <p:spPr bwMode="auto">
          <a:xfrm>
            <a:off x="5335781" y="2511000"/>
            <a:ext cx="3589355" cy="512064"/>
          </a:xfrm>
          <a:prstGeom prst="round2SameRect">
            <a:avLst>
              <a:gd name="adj1" fmla="val 0"/>
              <a:gd name="adj2" fmla="val 20884"/>
            </a:avLst>
          </a:prstGeom>
          <a:solidFill>
            <a:schemeClr val="accent3"/>
          </a:solidFill>
          <a:ln w="19050">
            <a:solidFill>
              <a:schemeClr val="accent3"/>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Monolithic Application Decomposition</a:t>
            </a:r>
          </a:p>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Iterative Modernization Sprints</a:t>
            </a:r>
          </a:p>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Release Management &amp; Transition</a:t>
            </a:r>
          </a:p>
        </p:txBody>
      </p:sp>
      <p:sp>
        <p:nvSpPr>
          <p:cNvPr id="8" name="Rectangle: Top Corners Rounded 7">
            <a:extLst>
              <a:ext uri="{FF2B5EF4-FFF2-40B4-BE49-F238E27FC236}">
                <a16:creationId xmlns:a16="http://schemas.microsoft.com/office/drawing/2014/main" id="{FE68C331-B47D-59A0-2CF8-F63D8B66C2EC}"/>
              </a:ext>
            </a:extLst>
          </p:cNvPr>
          <p:cNvSpPr/>
          <p:nvPr/>
        </p:nvSpPr>
        <p:spPr bwMode="auto">
          <a:xfrm>
            <a:off x="9160179" y="2504205"/>
            <a:ext cx="2430199" cy="512064"/>
          </a:xfrm>
          <a:prstGeom prst="round2SameRect">
            <a:avLst>
              <a:gd name="adj1" fmla="val 0"/>
              <a:gd name="adj2" fmla="val 20884"/>
            </a:avLst>
          </a:prstGeom>
          <a:solidFill>
            <a:schemeClr val="accent3"/>
          </a:solidFill>
          <a:ln w="19050">
            <a:solidFill>
              <a:schemeClr val="accent3"/>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Continuous Improvement</a:t>
            </a:r>
          </a:p>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err="1">
                <a:ln>
                  <a:noFill/>
                </a:ln>
                <a:solidFill>
                  <a:srgbClr val="070154"/>
                </a:solidFill>
                <a:effectLst/>
                <a:uLnTx/>
                <a:uFillTx/>
                <a:latin typeface="Arial" panose="020B0604020202020204"/>
                <a:ea typeface="Roboto" panose="02000000000000000000" pitchFamily="2" charset="0"/>
                <a:cs typeface="Segoe UI" panose="020B0502040204020203" pitchFamily="34" charset="0"/>
              </a:rPr>
              <a:t>DevSecOps</a:t>
            </a:r>
            <a:r>
              <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 &amp; Operations</a:t>
            </a:r>
          </a:p>
          <a:p>
            <a:pPr marL="118872" marR="0" lvl="0" indent="-11887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Legacy Decommissioning</a:t>
            </a:r>
          </a:p>
        </p:txBody>
      </p:sp>
      <p:sp>
        <p:nvSpPr>
          <p:cNvPr id="29" name="Rectangle: Rounded Corners 28">
            <a:extLst>
              <a:ext uri="{FF2B5EF4-FFF2-40B4-BE49-F238E27FC236}">
                <a16:creationId xmlns:a16="http://schemas.microsoft.com/office/drawing/2014/main" id="{1AA2181A-E31E-02B7-E55A-37456EAFDBA3}"/>
              </a:ext>
            </a:extLst>
          </p:cNvPr>
          <p:cNvSpPr/>
          <p:nvPr/>
        </p:nvSpPr>
        <p:spPr bwMode="auto">
          <a:xfrm>
            <a:off x="594858" y="3144579"/>
            <a:ext cx="1996102" cy="731520"/>
          </a:xfrm>
          <a:prstGeom prst="roundRect">
            <a:avLst>
              <a:gd name="adj" fmla="val 19440"/>
            </a:avLst>
          </a:prstGeom>
          <a:solidFill>
            <a:schemeClr val="bg1"/>
          </a:solidFill>
          <a:ln w="19050">
            <a:solidFill>
              <a:schemeClr val="tx2"/>
            </a:solid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Scan the codebase and generate system-wide structural and semantic understanding</a:t>
            </a: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700" b="0" i="1"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System Inventory, Dependency Mapping, Business Semantics</a:t>
            </a:r>
          </a:p>
        </p:txBody>
      </p:sp>
      <p:sp>
        <p:nvSpPr>
          <p:cNvPr id="43" name="Rectangle: Rounded Corners 42">
            <a:extLst>
              <a:ext uri="{FF2B5EF4-FFF2-40B4-BE49-F238E27FC236}">
                <a16:creationId xmlns:a16="http://schemas.microsoft.com/office/drawing/2014/main" id="{AA26F0D8-BCAE-EFC1-EEAE-1B6EF8B0B8F0}"/>
              </a:ext>
            </a:extLst>
          </p:cNvPr>
          <p:cNvSpPr/>
          <p:nvPr/>
        </p:nvSpPr>
        <p:spPr bwMode="auto">
          <a:xfrm>
            <a:off x="2851367" y="3145795"/>
            <a:ext cx="2175028" cy="731520"/>
          </a:xfrm>
          <a:prstGeom prst="roundRect">
            <a:avLst>
              <a:gd name="adj" fmla="val 17616"/>
            </a:avLst>
          </a:prstGeom>
          <a:solidFill>
            <a:schemeClr val="bg1"/>
          </a:solidFill>
          <a:ln w="19050">
            <a:solidFill>
              <a:schemeClr val="tx2"/>
            </a:solid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Convert evidence into modernization reports, target-state direction, and execution planning.</a:t>
            </a: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700" b="0" i="1"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First-Pass Report, North Star HLD, </a:t>
            </a:r>
            <a:br>
              <a:rPr kumimoji="0" lang="en-US" sz="700" b="0" i="1"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br>
            <a:r>
              <a:rPr kumimoji="0" lang="en-US" sz="700" b="0" i="1"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Wave Planning</a:t>
            </a:r>
          </a:p>
        </p:txBody>
      </p:sp>
      <p:sp>
        <p:nvSpPr>
          <p:cNvPr id="44" name="Rectangle: Rounded Corners 43">
            <a:extLst>
              <a:ext uri="{FF2B5EF4-FFF2-40B4-BE49-F238E27FC236}">
                <a16:creationId xmlns:a16="http://schemas.microsoft.com/office/drawing/2014/main" id="{56F5F789-71AF-7525-48D0-4F386B10C4E8}"/>
              </a:ext>
            </a:extLst>
          </p:cNvPr>
          <p:cNvSpPr/>
          <p:nvPr/>
        </p:nvSpPr>
        <p:spPr bwMode="auto">
          <a:xfrm>
            <a:off x="5489151" y="3170820"/>
            <a:ext cx="3429000" cy="731520"/>
          </a:xfrm>
          <a:prstGeom prst="roundRect">
            <a:avLst>
              <a:gd name="adj" fmla="val 17159"/>
            </a:avLst>
          </a:prstGeom>
          <a:solidFill>
            <a:schemeClr val="bg1"/>
          </a:solidFill>
          <a:ln w="19050">
            <a:solidFill>
              <a:schemeClr val="tx2"/>
            </a:solid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400"/>
              </a:spcAft>
              <a:buClrTx/>
              <a:buSzTx/>
              <a:buFont typeface="Arial" panose="020B0604020202020204" pitchFamily="34" charset="0"/>
              <a:buNone/>
              <a:tabLst/>
              <a:defRPr/>
            </a:pPr>
            <a:r>
              <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Carry forward validated context, guardrails, and acceptance criteria into implementation.</a:t>
            </a:r>
            <a:br>
              <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br>
            <a:endPar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a:p>
            <a:pPr marL="0" marR="0" lvl="0" indent="0" algn="l" defTabSz="914400" rtl="0" eaLnBrk="1" fontAlgn="auto" latinLnBrk="0" hangingPunct="1">
              <a:lnSpc>
                <a:spcPct val="90000"/>
              </a:lnSpc>
              <a:spcBef>
                <a:spcPts val="0"/>
              </a:spcBef>
              <a:spcAft>
                <a:spcPts val="400"/>
              </a:spcAft>
              <a:buClrTx/>
              <a:buSzTx/>
              <a:buFont typeface="Arial" panose="020B0604020202020204" pitchFamily="34" charset="0"/>
              <a:buNone/>
              <a:tabLst/>
              <a:defRPr/>
            </a:pPr>
            <a:r>
              <a:rPr kumimoji="0" lang="en-US" sz="900" b="0" i="0"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Agent-Ready Context, Validation Criteria, Tool Integration</a:t>
            </a:r>
            <a:endParaRPr kumimoji="0" lang="en-US" sz="700" b="0" i="1"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Arrow: Chevron 25">
            <a:extLst>
              <a:ext uri="{FF2B5EF4-FFF2-40B4-BE49-F238E27FC236}">
                <a16:creationId xmlns:a16="http://schemas.microsoft.com/office/drawing/2014/main" id="{403EB867-A0D8-AB6B-28AA-47D52B858F2D}"/>
              </a:ext>
            </a:extLst>
          </p:cNvPr>
          <p:cNvSpPr/>
          <p:nvPr/>
        </p:nvSpPr>
        <p:spPr bwMode="auto">
          <a:xfrm>
            <a:off x="9164943" y="2229885"/>
            <a:ext cx="2561920" cy="274320"/>
          </a:xfrm>
          <a:prstGeom prst="chevron">
            <a:avLst/>
          </a:prstGeom>
          <a:solidFill>
            <a:schemeClr val="tx1"/>
          </a:solidFill>
          <a:ln>
            <a:noFill/>
          </a:ln>
          <a:effectLst/>
        </p:spPr>
        <p:txBody>
          <a:bodyPr rot="0" spcFirstLastPara="0" vertOverflow="overflow" horzOverflow="overflow" vert="horz" wrap="square" lIns="91440" tIns="91440" rIns="1005840" bIns="91440" numCol="1" spcCol="0" rtlCol="0" fromWordArt="0" anchor="ctr" anchorCtr="0" forceAA="0" compatLnSpc="1">
            <a:prstTxWarp prst="textNoShape">
              <a:avLst/>
            </a:prstTxWarp>
            <a:noAutofit/>
          </a:bodyPr>
          <a:lstStyle/>
          <a:p>
            <a:pPr marL="0" marR="0" lvl="0" indent="0" algn="ctr" defTabSz="914400" rtl="0" eaLnBrk="1" fontAlgn="ctr" latinLnBrk="0" hangingPunct="1">
              <a:lnSpc>
                <a:spcPct val="100000"/>
              </a:lnSpc>
              <a:spcBef>
                <a:spcPts val="0"/>
              </a:spcBef>
              <a:spcAft>
                <a:spcPts val="0"/>
              </a:spcAft>
              <a:buNone/>
              <a:defRPr/>
            </a:pPr>
            <a:r>
              <a:rPr lang="en-US" sz="900" b="1" kern="900" dirty="0">
                <a:solidFill>
                  <a:srgbClr val="F900D3"/>
                </a:solidFill>
                <a:latin typeface="Arial"/>
              </a:rPr>
              <a:t>03 </a:t>
            </a:r>
            <a:r>
              <a:rPr lang="en-US" sz="1200" b="1" dirty="0">
                <a:solidFill>
                  <a:srgbClr val="FFFFFF"/>
                </a:solidFill>
                <a:latin typeface="Arial" panose="020B0604020202020204"/>
                <a:ea typeface="Roboto" panose="02000000000000000000" pitchFamily="2" charset="0"/>
                <a:cs typeface="Segoe UI" panose="020B0502040204020203" pitchFamily="34" charset="0"/>
              </a:rPr>
              <a:t>Sustain</a:t>
            </a:r>
          </a:p>
        </p:txBody>
      </p:sp>
      <p:sp>
        <p:nvSpPr>
          <p:cNvPr id="24" name="Arrow: Chevron 23">
            <a:extLst>
              <a:ext uri="{FF2B5EF4-FFF2-40B4-BE49-F238E27FC236}">
                <a16:creationId xmlns:a16="http://schemas.microsoft.com/office/drawing/2014/main" id="{23367AFC-3041-D928-A2FD-21FFEEF84F15}"/>
              </a:ext>
            </a:extLst>
          </p:cNvPr>
          <p:cNvSpPr/>
          <p:nvPr/>
        </p:nvSpPr>
        <p:spPr bwMode="auto">
          <a:xfrm>
            <a:off x="5335782" y="2229885"/>
            <a:ext cx="3708400" cy="274320"/>
          </a:xfrm>
          <a:prstGeom prst="chevron">
            <a:avLst/>
          </a:prstGeom>
          <a:solidFill>
            <a:schemeClr val="tx1"/>
          </a:solidFill>
          <a:ln>
            <a:noFill/>
          </a:ln>
          <a:effectLst/>
        </p:spPr>
        <p:txBody>
          <a:bodyPr rot="0" spcFirstLastPara="0" vertOverflow="overflow" horzOverflow="overflow" vert="horz" wrap="square" lIns="91440" tIns="91440" rIns="1371600" bIns="91440" numCol="1" spcCol="0" rtlCol="0" fromWordArt="0" anchor="ctr" anchorCtr="0" forceAA="0" compatLnSpc="1">
            <a:prstTxWarp prst="textNoShape">
              <a:avLst/>
            </a:prstTxWarp>
            <a:noAutofit/>
          </a:bodyPr>
          <a:lstStyle/>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02   </a:t>
            </a:r>
            <a:r>
              <a:rPr kumimoji="0" lang="en-US" sz="1200" b="1"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Modernize</a:t>
            </a:r>
          </a:p>
        </p:txBody>
      </p:sp>
      <p:sp>
        <p:nvSpPr>
          <p:cNvPr id="12" name="Arrow: Pentagon 11">
            <a:extLst>
              <a:ext uri="{FF2B5EF4-FFF2-40B4-BE49-F238E27FC236}">
                <a16:creationId xmlns:a16="http://schemas.microsoft.com/office/drawing/2014/main" id="{C8FB818C-8C5D-B0C2-FAF4-BDFE4DC70AE5}"/>
              </a:ext>
            </a:extLst>
          </p:cNvPr>
          <p:cNvSpPr/>
          <p:nvPr/>
        </p:nvSpPr>
        <p:spPr bwMode="auto">
          <a:xfrm>
            <a:off x="460374" y="2230888"/>
            <a:ext cx="4762500" cy="274320"/>
          </a:xfrm>
          <a:prstGeom prst="homePlate">
            <a:avLst/>
          </a:prstGeom>
          <a:solidFill>
            <a:schemeClr val="tx1"/>
          </a:solidFill>
          <a:ln>
            <a:noFill/>
          </a:ln>
          <a:effectLst/>
        </p:spPr>
        <p:txBody>
          <a:bodyPr rot="0" spcFirstLastPara="0" vertOverflow="overflow" horzOverflow="overflow" vert="horz" wrap="square" lIns="182880" tIns="91440" rIns="91440" bIns="91440" numCol="1" spcCol="0" rtlCol="0" fromWordArt="0" anchor="ctr" anchorCtr="0" forceAA="0" compatLnSpc="1">
            <a:prstTxWarp prst="textNoShape">
              <a:avLst/>
            </a:prstTxWarp>
            <a:noAutofit/>
          </a:bodyPr>
          <a:lstStyle/>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01   </a:t>
            </a:r>
            <a:r>
              <a:rPr kumimoji="0" lang="en-US" sz="1200" b="1"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Rationalize</a:t>
            </a:r>
          </a:p>
        </p:txBody>
      </p:sp>
      <p:sp>
        <p:nvSpPr>
          <p:cNvPr id="13" name="TextBox 12">
            <a:extLst>
              <a:ext uri="{FF2B5EF4-FFF2-40B4-BE49-F238E27FC236}">
                <a16:creationId xmlns:a16="http://schemas.microsoft.com/office/drawing/2014/main" id="{FA9B5F9D-05AE-794E-9BB7-A3164A0A4139}"/>
              </a:ext>
            </a:extLst>
          </p:cNvPr>
          <p:cNvSpPr txBox="1"/>
          <p:nvPr/>
        </p:nvSpPr>
        <p:spPr>
          <a:xfrm>
            <a:off x="9230507" y="1820191"/>
            <a:ext cx="1854200" cy="184666"/>
          </a:xfrm>
          <a:prstGeom prst="rect">
            <a:avLst/>
          </a:prstGeom>
          <a:noFill/>
        </p:spPr>
        <p:txBody>
          <a:bodyPr vertOverflow="overflow" vert="horz" wrap="square" lIns="0" tIns="0" rIns="0" bIns="0" rtlCol="0" anchor="t">
            <a:spAutoFit/>
          </a:bodyPr>
          <a:lstStyle/>
          <a:p>
            <a:pPr marL="0" indent="0" algn="l">
              <a:spcAft>
                <a:spcPts val="600"/>
              </a:spcAft>
              <a:tabLst/>
            </a:pPr>
            <a:r>
              <a:rPr lang="en-US" sz="1200" b="1" dirty="0">
                <a:solidFill>
                  <a:srgbClr val="100069"/>
                </a:solidFill>
              </a:rPr>
              <a:t>Sustain</a:t>
            </a:r>
          </a:p>
        </p:txBody>
      </p:sp>
      <p:sp>
        <p:nvSpPr>
          <p:cNvPr id="25" name="TextBox 24">
            <a:extLst>
              <a:ext uri="{FF2B5EF4-FFF2-40B4-BE49-F238E27FC236}">
                <a16:creationId xmlns:a16="http://schemas.microsoft.com/office/drawing/2014/main" id="{D6DCFE6F-3900-284E-B4C3-C9B571ADDD30}"/>
              </a:ext>
            </a:extLst>
          </p:cNvPr>
          <p:cNvSpPr txBox="1"/>
          <p:nvPr/>
        </p:nvSpPr>
        <p:spPr>
          <a:xfrm>
            <a:off x="9331537" y="4241800"/>
            <a:ext cx="2237386" cy="1783565"/>
          </a:xfrm>
          <a:prstGeom prst="rect">
            <a:avLst/>
          </a:prstGeom>
          <a:noFill/>
        </p:spPr>
        <p:txBody>
          <a:bodyPr vertOverflow="overflow" vert="horz" wrap="square" lIns="0" tIns="0" rIns="0" bIns="0" rtlCol="0" anchor="t">
            <a:spAutoFit/>
          </a:bodyPr>
          <a:lstStyle/>
          <a:p>
            <a:pPr marL="0" indent="0" algn="l">
              <a:spcAft>
                <a:spcPts val="600"/>
              </a:spcAft>
              <a:tabLst/>
            </a:pPr>
            <a:r>
              <a:rPr lang="en-US" sz="900" b="1" dirty="0">
                <a:solidFill>
                  <a:srgbClr val="070154"/>
                </a:solidFill>
                <a:latin typeface="Arial" panose="020B0604020202020204"/>
              </a:rPr>
              <a:t>OBJECTIVES</a:t>
            </a:r>
          </a:p>
          <a:p>
            <a:pPr marL="171450" indent="-171450">
              <a:lnSpc>
                <a:spcPct val="90000"/>
              </a:lnSpc>
              <a:buFont typeface="Arial" panose="020B0604020202020204" pitchFamily="34" charset="0"/>
              <a:buChar char="•"/>
              <a:defRPr/>
            </a:pPr>
            <a:r>
              <a:rPr lang="en-US" sz="900" dirty="0">
                <a:solidFill>
                  <a:srgbClr val="070154"/>
                </a:solidFill>
                <a:latin typeface="Arial" panose="020B0604020202020204"/>
              </a:rPr>
              <a:t>Track business value, reliability, security, and adoption</a:t>
            </a:r>
          </a:p>
          <a:p>
            <a:pPr marL="171450" indent="-171450">
              <a:lnSpc>
                <a:spcPct val="90000"/>
              </a:lnSpc>
              <a:buFont typeface="Arial" panose="020B0604020202020204" pitchFamily="34" charset="0"/>
              <a:buChar char="•"/>
              <a:defRPr/>
            </a:pPr>
            <a:r>
              <a:rPr lang="en-US" sz="900" dirty="0">
                <a:solidFill>
                  <a:srgbClr val="070154"/>
                </a:solidFill>
                <a:latin typeface="Arial" panose="020B0604020202020204"/>
              </a:rPr>
              <a:t>Operate and improve the modern capability through product and platform roadmaps</a:t>
            </a:r>
          </a:p>
          <a:p>
            <a:pPr marL="171450" indent="-171450">
              <a:lnSpc>
                <a:spcPct val="90000"/>
              </a:lnSpc>
              <a:buFont typeface="Arial" panose="020B0604020202020204" pitchFamily="34" charset="0"/>
              <a:buChar char="•"/>
              <a:defRPr/>
            </a:pPr>
            <a:r>
              <a:rPr lang="en-US" sz="900" dirty="0">
                <a:solidFill>
                  <a:srgbClr val="070154"/>
                </a:solidFill>
                <a:latin typeface="Arial" panose="020B0604020202020204"/>
              </a:rPr>
              <a:t>Retire legacy systems, contracts, and operating cost</a:t>
            </a:r>
          </a:p>
          <a:p>
            <a:pPr marL="0" indent="0" algn="l">
              <a:spcAft>
                <a:spcPts val="600"/>
              </a:spcAft>
              <a:tabLst/>
            </a:pPr>
            <a:r>
              <a:rPr lang="en-US" sz="900" b="1" dirty="0">
                <a:solidFill>
                  <a:srgbClr val="070154"/>
                </a:solidFill>
                <a:latin typeface="Arial" panose="020B0604020202020204"/>
              </a:rPr>
              <a:t>OUTPUTS</a:t>
            </a:r>
          </a:p>
          <a:p>
            <a:pPr>
              <a:lnSpc>
                <a:spcPct val="90000"/>
              </a:lnSpc>
              <a:defRPr/>
            </a:pPr>
            <a:r>
              <a:rPr lang="en-US" sz="900" dirty="0">
                <a:solidFill>
                  <a:srgbClr val="070154"/>
                </a:solidFill>
                <a:latin typeface="Arial" panose="020B0604020202020204"/>
              </a:rPr>
              <a:t>Benefits tracking, operating model, improvement backlog, decommission plan</a:t>
            </a:r>
          </a:p>
        </p:txBody>
      </p:sp>
      <p:sp>
        <p:nvSpPr>
          <p:cNvPr id="27" name="TextBox 26">
            <a:extLst>
              <a:ext uri="{FF2B5EF4-FFF2-40B4-BE49-F238E27FC236}">
                <a16:creationId xmlns:a16="http://schemas.microsoft.com/office/drawing/2014/main" id="{97032EEA-E4E7-EA44-AF73-B4B3476CB9CD}"/>
              </a:ext>
            </a:extLst>
          </p:cNvPr>
          <p:cNvSpPr txBox="1"/>
          <p:nvPr/>
        </p:nvSpPr>
        <p:spPr>
          <a:xfrm>
            <a:off x="3885292" y="1681692"/>
            <a:ext cx="1254267" cy="138499"/>
          </a:xfrm>
          <a:prstGeom prst="rect">
            <a:avLst/>
          </a:prstGeom>
          <a:noFill/>
        </p:spPr>
        <p:txBody>
          <a:bodyPr vertOverflow="overflow" vert="horz" wrap="square" lIns="0" tIns="0" rIns="0" bIns="0" rtlCol="0" anchor="t">
            <a:spAutoFit/>
          </a:bodyPr>
          <a:lstStyle/>
          <a:p>
            <a:pPr marL="0" indent="0" algn="l">
              <a:spcAft>
                <a:spcPts val="600"/>
              </a:spcAft>
              <a:tabLst/>
            </a:pPr>
            <a:r>
              <a:rPr lang="en-US" sz="900" b="1" dirty="0">
                <a:solidFill>
                  <a:srgbClr val="100069"/>
                </a:solidFill>
              </a:rPr>
              <a:t>Timeline: ~4–12 weeks</a:t>
            </a:r>
          </a:p>
        </p:txBody>
      </p:sp>
      <p:sp>
        <p:nvSpPr>
          <p:cNvPr id="30" name="TextBox 29">
            <a:extLst>
              <a:ext uri="{FF2B5EF4-FFF2-40B4-BE49-F238E27FC236}">
                <a16:creationId xmlns:a16="http://schemas.microsoft.com/office/drawing/2014/main" id="{FD2C0FB6-1F62-2046-84D1-88130CAB37E6}"/>
              </a:ext>
            </a:extLst>
          </p:cNvPr>
          <p:cNvSpPr txBox="1"/>
          <p:nvPr/>
        </p:nvSpPr>
        <p:spPr>
          <a:xfrm>
            <a:off x="7616012" y="1702494"/>
            <a:ext cx="1370003" cy="138499"/>
          </a:xfrm>
          <a:prstGeom prst="rect">
            <a:avLst/>
          </a:prstGeom>
          <a:noFill/>
        </p:spPr>
        <p:txBody>
          <a:bodyPr vertOverflow="overflow" vert="horz" wrap="square" lIns="0" tIns="0" rIns="0" bIns="0" rtlCol="0" anchor="t">
            <a:spAutoFit/>
          </a:bodyPr>
          <a:lstStyle/>
          <a:p>
            <a:pPr marL="0" indent="0" algn="l">
              <a:spcAft>
                <a:spcPts val="600"/>
              </a:spcAft>
              <a:tabLst/>
            </a:pPr>
            <a:r>
              <a:rPr lang="en-US" sz="900" b="1" dirty="0">
                <a:solidFill>
                  <a:srgbClr val="100069"/>
                </a:solidFill>
              </a:rPr>
              <a:t>Timeline: 2-week sprints</a:t>
            </a:r>
          </a:p>
        </p:txBody>
      </p:sp>
      <p:sp>
        <p:nvSpPr>
          <p:cNvPr id="33" name="TextBox 32">
            <a:extLst>
              <a:ext uri="{FF2B5EF4-FFF2-40B4-BE49-F238E27FC236}">
                <a16:creationId xmlns:a16="http://schemas.microsoft.com/office/drawing/2014/main" id="{27F4A0A7-D8C4-9C4B-AB0D-D40ECDA78367}"/>
              </a:ext>
            </a:extLst>
          </p:cNvPr>
          <p:cNvSpPr txBox="1"/>
          <p:nvPr/>
        </p:nvSpPr>
        <p:spPr>
          <a:xfrm>
            <a:off x="10587812" y="1697791"/>
            <a:ext cx="1002566" cy="138499"/>
          </a:xfrm>
          <a:prstGeom prst="rect">
            <a:avLst/>
          </a:prstGeom>
          <a:noFill/>
        </p:spPr>
        <p:txBody>
          <a:bodyPr vertOverflow="overflow" vert="horz" wrap="square" lIns="0" tIns="0" rIns="0" bIns="0" rtlCol="0" anchor="t">
            <a:spAutoFit/>
          </a:bodyPr>
          <a:lstStyle/>
          <a:p>
            <a:pPr marL="0" indent="0" algn="l">
              <a:spcAft>
                <a:spcPts val="600"/>
              </a:spcAft>
              <a:tabLst/>
            </a:pPr>
            <a:r>
              <a:rPr lang="en-US" sz="900" b="1" dirty="0">
                <a:solidFill>
                  <a:srgbClr val="100069"/>
                </a:solidFill>
              </a:rPr>
              <a:t>Timeline: ongoing</a:t>
            </a:r>
          </a:p>
        </p:txBody>
      </p:sp>
      <p:sp>
        <p:nvSpPr>
          <p:cNvPr id="34" name="TextBox 33">
            <a:extLst>
              <a:ext uri="{FF2B5EF4-FFF2-40B4-BE49-F238E27FC236}">
                <a16:creationId xmlns:a16="http://schemas.microsoft.com/office/drawing/2014/main" id="{FAA0AF74-E901-B642-8370-8DC83293BE68}"/>
              </a:ext>
            </a:extLst>
          </p:cNvPr>
          <p:cNvSpPr txBox="1"/>
          <p:nvPr/>
        </p:nvSpPr>
        <p:spPr>
          <a:xfrm>
            <a:off x="474135" y="1471628"/>
            <a:ext cx="1016000" cy="177800"/>
          </a:xfrm>
          <a:prstGeom prst="rect">
            <a:avLst/>
          </a:prstGeom>
          <a:noFill/>
        </p:spPr>
        <p:txBody>
          <a:bodyPr vertOverflow="overflow" vert="horz" wrap="square" lIns="0" tIns="0" rIns="0" bIns="0" rtlCol="0" anchor="t">
            <a:spAutoFit/>
          </a:bodyPr>
          <a:lstStyle/>
          <a:p>
            <a:pPr marL="0" indent="0" algn="l">
              <a:spcAft>
                <a:spcPts val="600"/>
              </a:spcAft>
              <a:tabLst/>
            </a:pPr>
            <a:r>
              <a:rPr lang="en-US" sz="800" b="1" dirty="0">
                <a:solidFill>
                  <a:srgbClr val="100069"/>
                </a:solidFill>
              </a:rPr>
              <a:t>START HERE…</a:t>
            </a:r>
          </a:p>
        </p:txBody>
      </p:sp>
      <p:sp>
        <p:nvSpPr>
          <p:cNvPr id="14" name="Rectangle: Rounded Corners 43">
            <a:extLst>
              <a:ext uri="{FF2B5EF4-FFF2-40B4-BE49-F238E27FC236}">
                <a16:creationId xmlns:a16="http://schemas.microsoft.com/office/drawing/2014/main" id="{9C8B7DB6-9F5A-4544-0566-468C907EA66F}"/>
              </a:ext>
            </a:extLst>
          </p:cNvPr>
          <p:cNvSpPr/>
          <p:nvPr/>
        </p:nvSpPr>
        <p:spPr bwMode="auto">
          <a:xfrm>
            <a:off x="9340632" y="3170820"/>
            <a:ext cx="2168945" cy="731520"/>
          </a:xfrm>
          <a:prstGeom prst="roundRect">
            <a:avLst>
              <a:gd name="adj" fmla="val 17159"/>
            </a:avLst>
          </a:prstGeom>
          <a:solidFill>
            <a:schemeClr val="bg1"/>
          </a:solidFill>
          <a:ln w="19050">
            <a:solidFill>
              <a:schemeClr val="tx2"/>
            </a:solid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400"/>
              </a:spcAft>
              <a:buClrTx/>
              <a:buSzTx/>
              <a:buFont typeface="Arial" panose="020B0604020202020204" pitchFamily="34" charset="0"/>
              <a:buNone/>
              <a:tabLst/>
              <a:defRPr/>
            </a:pPr>
            <a:r>
              <a:rPr lang="en-US" sz="900" dirty="0">
                <a:solidFill>
                  <a:srgbClr val="070154"/>
                </a:solidFill>
                <a:latin typeface="Arial" panose="020B0604020202020204"/>
                <a:ea typeface="Roboto" panose="02000000000000000000" pitchFamily="2" charset="0"/>
                <a:cs typeface="Segoe UI" panose="020B0502040204020203" pitchFamily="34" charset="0"/>
              </a:rPr>
              <a:t>NEEDS CONTENT</a:t>
            </a:r>
            <a:endParaRPr kumimoji="0" lang="en-US" sz="700" b="0" i="1" u="none" strike="noStrike" kern="1200" cap="none" spc="0" normalizeH="0" baseline="0" noProof="0" dirty="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3851056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68EEAE-29B8-C041-8DEB-47D4AA6DC786}"/>
              </a:ext>
            </a:extLst>
          </p:cNvPr>
          <p:cNvSpPr txBox="1"/>
          <p:nvPr/>
        </p:nvSpPr>
        <p:spPr>
          <a:xfrm>
            <a:off x="457200" y="431800"/>
            <a:ext cx="11277600" cy="508000"/>
          </a:xfrm>
          <a:prstGeom prst="rect">
            <a:avLst/>
          </a:prstGeom>
          <a:noFill/>
          <a:ln>
            <a:noFill/>
          </a:ln>
        </p:spPr>
        <p:txBody>
          <a:bodyPr vertOverflow="overflow" vert="horz" wrap="square" lIns="0" tIns="0" rIns="0" bIns="0" rtlCol="0" anchor="ctr" anchorCtr="0">
            <a:normAutofit/>
          </a:bodyPr>
          <a:lstStyle/>
          <a:p>
            <a:pPr marL="0" indent="0" algn="l">
              <a:spcAft>
                <a:spcPts val="0"/>
              </a:spcAft>
              <a:tabLst/>
            </a:pPr>
            <a:r>
              <a:rPr lang="en-US" sz="2400" b="1">
                <a:solidFill>
                  <a:srgbClr val="070154"/>
                </a:solidFill>
                <a:latin typeface="Arial"/>
                <a:cs typeface="Arial"/>
              </a:rPr>
              <a:t>AI is transforming work across the entire life cycle.</a:t>
            </a:r>
          </a:p>
        </p:txBody>
      </p:sp>
      <p:sp>
        <p:nvSpPr>
          <p:cNvPr id="6" name="Rectangle 5">
            <a:extLst>
              <a:ext uri="{FF2B5EF4-FFF2-40B4-BE49-F238E27FC236}">
                <a16:creationId xmlns:a16="http://schemas.microsoft.com/office/drawing/2014/main" id="{E5AB3533-2E35-BA47-909A-13D309D5FCAB}"/>
              </a:ext>
            </a:extLst>
          </p:cNvPr>
          <p:cNvSpPr/>
          <p:nvPr/>
        </p:nvSpPr>
        <p:spPr bwMode="auto">
          <a:xfrm>
            <a:off x="457200" y="1498600"/>
            <a:ext cx="5562600" cy="279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0" indent="0" algn="l">
              <a:spcAft>
                <a:spcPts val="0"/>
              </a:spcAft>
              <a:tabLst/>
            </a:pPr>
            <a:r>
              <a:rPr lang="en-US" sz="1050" b="1">
                <a:solidFill>
                  <a:srgbClr val="070154"/>
                </a:solidFill>
                <a:latin typeface="Arial"/>
                <a:cs typeface="Arial"/>
              </a:rPr>
              <a:t>Rationalize</a:t>
            </a:r>
          </a:p>
        </p:txBody>
      </p:sp>
      <p:sp>
        <p:nvSpPr>
          <p:cNvPr id="8" name="Rectangle 7">
            <a:extLst>
              <a:ext uri="{FF2B5EF4-FFF2-40B4-BE49-F238E27FC236}">
                <a16:creationId xmlns:a16="http://schemas.microsoft.com/office/drawing/2014/main" id="{58FF266D-78CE-D14A-9557-937F14BD1D05}"/>
              </a:ext>
            </a:extLst>
          </p:cNvPr>
          <p:cNvSpPr/>
          <p:nvPr/>
        </p:nvSpPr>
        <p:spPr bwMode="auto">
          <a:xfrm>
            <a:off x="6172200" y="1498600"/>
            <a:ext cx="2667000" cy="279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0" indent="0" algn="l">
              <a:spcAft>
                <a:spcPts val="0"/>
              </a:spcAft>
              <a:tabLst/>
            </a:pPr>
            <a:r>
              <a:rPr lang="en-US" sz="1050" b="1">
                <a:solidFill>
                  <a:srgbClr val="070154"/>
                </a:solidFill>
                <a:latin typeface="Arial"/>
                <a:cs typeface="Arial"/>
              </a:rPr>
              <a:t>Build</a:t>
            </a:r>
          </a:p>
        </p:txBody>
      </p:sp>
      <p:sp>
        <p:nvSpPr>
          <p:cNvPr id="9" name="Rectangle 8">
            <a:extLst>
              <a:ext uri="{FF2B5EF4-FFF2-40B4-BE49-F238E27FC236}">
                <a16:creationId xmlns:a16="http://schemas.microsoft.com/office/drawing/2014/main" id="{8109F280-14C5-FD4E-A5BF-CFE6BE596A30}"/>
              </a:ext>
            </a:extLst>
          </p:cNvPr>
          <p:cNvSpPr/>
          <p:nvPr/>
        </p:nvSpPr>
        <p:spPr bwMode="auto">
          <a:xfrm>
            <a:off x="8991600" y="1498600"/>
            <a:ext cx="2743200" cy="279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0" indent="0" algn="l">
              <a:spcAft>
                <a:spcPts val="0"/>
              </a:spcAft>
              <a:tabLst/>
            </a:pPr>
            <a:r>
              <a:rPr lang="en-US" sz="1050" b="1">
                <a:solidFill>
                  <a:srgbClr val="070154"/>
                </a:solidFill>
                <a:latin typeface="Arial"/>
                <a:cs typeface="Arial"/>
              </a:rPr>
              <a:t>Sustain</a:t>
            </a:r>
          </a:p>
        </p:txBody>
      </p:sp>
      <p:sp>
        <p:nvSpPr>
          <p:cNvPr id="10" name="Rectangle 9">
            <a:extLst>
              <a:ext uri="{FF2B5EF4-FFF2-40B4-BE49-F238E27FC236}">
                <a16:creationId xmlns:a16="http://schemas.microsoft.com/office/drawing/2014/main" id="{8FDCAB80-F04F-BB48-B7BF-611B4DA12F90}"/>
              </a:ext>
            </a:extLst>
          </p:cNvPr>
          <p:cNvSpPr/>
          <p:nvPr/>
        </p:nvSpPr>
        <p:spPr bwMode="auto">
          <a:xfrm>
            <a:off x="457200" y="1981200"/>
            <a:ext cx="203200" cy="3556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0" indent="0" algn="l">
              <a:spcAft>
                <a:spcPts val="0"/>
              </a:spcAft>
              <a:tabLst/>
            </a:pPr>
            <a:r>
              <a:rPr lang="en-US" sz="1100" b="1">
                <a:solidFill>
                  <a:srgbClr val="F900D3"/>
                </a:solidFill>
                <a:latin typeface="Arial"/>
                <a:cs typeface="Arial"/>
              </a:rPr>
              <a:t>1</a:t>
            </a:r>
          </a:p>
        </p:txBody>
      </p:sp>
      <p:sp>
        <p:nvSpPr>
          <p:cNvPr id="14" name="Rectangle 13">
            <a:extLst>
              <a:ext uri="{FF2B5EF4-FFF2-40B4-BE49-F238E27FC236}">
                <a16:creationId xmlns:a16="http://schemas.microsoft.com/office/drawing/2014/main" id="{7E2743D7-0CF8-DD4B-ADF1-D40126C3FA3E}"/>
              </a:ext>
            </a:extLst>
          </p:cNvPr>
          <p:cNvSpPr/>
          <p:nvPr/>
        </p:nvSpPr>
        <p:spPr bwMode="auto">
          <a:xfrm>
            <a:off x="711200" y="1955800"/>
            <a:ext cx="2336800" cy="4064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0" indent="0" algn="l">
              <a:spcAft>
                <a:spcPts val="0"/>
              </a:spcAft>
              <a:tabLst/>
            </a:pPr>
            <a:r>
              <a:rPr lang="en-US" sz="1350" b="1" dirty="0">
                <a:solidFill>
                  <a:srgbClr val="070154"/>
                </a:solidFill>
                <a:latin typeface="Arial"/>
                <a:cs typeface="Arial"/>
              </a:rPr>
              <a:t>Reconstruct the current</a:t>
            </a:r>
          </a:p>
        </p:txBody>
      </p:sp>
      <p:sp>
        <p:nvSpPr>
          <p:cNvPr id="15" name="Rectangle 14">
            <a:extLst>
              <a:ext uri="{FF2B5EF4-FFF2-40B4-BE49-F238E27FC236}">
                <a16:creationId xmlns:a16="http://schemas.microsoft.com/office/drawing/2014/main" id="{77F48A85-CEB3-4D43-B346-C57B741181FC}"/>
              </a:ext>
            </a:extLst>
          </p:cNvPr>
          <p:cNvSpPr/>
          <p:nvPr/>
        </p:nvSpPr>
        <p:spPr bwMode="auto">
          <a:xfrm>
            <a:off x="457200" y="2514600"/>
            <a:ext cx="2590800" cy="34544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rmAutofit/>
          </a:bodyPr>
          <a:lstStyle/>
          <a:p>
            <a:pPr marL="171450" indent="-123825" algn="l">
              <a:lnSpc>
                <a:spcPct val="103000"/>
              </a:lnSpc>
              <a:spcAft>
                <a:spcPts val="350"/>
              </a:spcAft>
              <a:buChar char="•"/>
            </a:pPr>
            <a:r>
              <a:rPr lang="en-US" sz="1000" dirty="0">
                <a:solidFill>
                  <a:srgbClr val="11134F"/>
                </a:solidFill>
                <a:latin typeface="Arial"/>
                <a:cs typeface="Arial"/>
              </a:rPr>
              <a:t>Observe business operators and capture how work is actually performed</a:t>
            </a:r>
            <a:endParaRPr lang="en-US" sz="1000" dirty="0"/>
          </a:p>
          <a:p>
            <a:pPr marL="171450" indent="-123825" algn="l">
              <a:lnSpc>
                <a:spcPct val="103000"/>
              </a:lnSpc>
              <a:spcAft>
                <a:spcPts val="350"/>
              </a:spcAft>
              <a:buChar char="•"/>
            </a:pPr>
            <a:r>
              <a:rPr lang="en-US" sz="1000" dirty="0">
                <a:solidFill>
                  <a:srgbClr val="11134F"/>
                </a:solidFill>
                <a:latin typeface="Arial"/>
                <a:cs typeface="Arial"/>
              </a:rPr>
              <a:t>Reconstruct processes, decisions, handoffs, and exceptions</a:t>
            </a:r>
            <a:endParaRPr lang="en-US" sz="1000" dirty="0"/>
          </a:p>
          <a:p>
            <a:pPr marL="171450" indent="-123825" algn="l">
              <a:lnSpc>
                <a:spcPct val="103000"/>
              </a:lnSpc>
              <a:spcAft>
                <a:spcPts val="350"/>
              </a:spcAft>
              <a:buChar char="•"/>
            </a:pPr>
            <a:r>
              <a:rPr lang="en-US" sz="1000" dirty="0">
                <a:solidFill>
                  <a:srgbClr val="11134F"/>
                </a:solidFill>
                <a:latin typeface="Arial"/>
                <a:cs typeface="Arial"/>
              </a:rPr>
              <a:t>Connect business context to applications, data, integrations, and code</a:t>
            </a:r>
            <a:endParaRPr lang="en-US" sz="1000" dirty="0"/>
          </a:p>
          <a:p>
            <a:pPr marL="171450" indent="-123825" algn="l">
              <a:lnSpc>
                <a:spcPct val="103000"/>
              </a:lnSpc>
              <a:buChar char="•"/>
            </a:pPr>
            <a:r>
              <a:rPr lang="en-US" sz="1000" dirty="0">
                <a:solidFill>
                  <a:srgbClr val="11134F"/>
                </a:solidFill>
                <a:latin typeface="Arial"/>
                <a:cs typeface="Arial"/>
              </a:rPr>
              <a:t>Surface pain points, controls, dependencies, and modernization priorities</a:t>
            </a:r>
            <a:endParaRPr lang="en-US" sz="1000" dirty="0"/>
          </a:p>
        </p:txBody>
      </p:sp>
      <p:sp>
        <p:nvSpPr>
          <p:cNvPr id="16" name="Rectangle 15">
            <a:extLst>
              <a:ext uri="{FF2B5EF4-FFF2-40B4-BE49-F238E27FC236}">
                <a16:creationId xmlns:a16="http://schemas.microsoft.com/office/drawing/2014/main" id="{B6F5B560-09D3-8748-86DF-D59C4B668B70}"/>
              </a:ext>
            </a:extLst>
          </p:cNvPr>
          <p:cNvSpPr/>
          <p:nvPr/>
        </p:nvSpPr>
        <p:spPr bwMode="auto">
          <a:xfrm>
            <a:off x="3276600" y="1981200"/>
            <a:ext cx="203200" cy="3556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0" indent="0" algn="l">
              <a:spcAft>
                <a:spcPts val="0"/>
              </a:spcAft>
              <a:tabLst/>
            </a:pPr>
            <a:r>
              <a:rPr lang="en-US" sz="1100" b="1">
                <a:solidFill>
                  <a:srgbClr val="F900D3"/>
                </a:solidFill>
                <a:latin typeface="Arial"/>
                <a:cs typeface="Arial"/>
              </a:rPr>
              <a:t>2</a:t>
            </a:r>
          </a:p>
        </p:txBody>
      </p:sp>
      <p:sp>
        <p:nvSpPr>
          <p:cNvPr id="17" name="Rectangle 16">
            <a:extLst>
              <a:ext uri="{FF2B5EF4-FFF2-40B4-BE49-F238E27FC236}">
                <a16:creationId xmlns:a16="http://schemas.microsoft.com/office/drawing/2014/main" id="{E885A8BA-0BF6-0841-A287-CA1999D28592}"/>
              </a:ext>
            </a:extLst>
          </p:cNvPr>
          <p:cNvSpPr/>
          <p:nvPr/>
        </p:nvSpPr>
        <p:spPr bwMode="auto">
          <a:xfrm>
            <a:off x="3530600" y="1955800"/>
            <a:ext cx="2336800" cy="4064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0" indent="0" algn="l">
              <a:spcAft>
                <a:spcPts val="0"/>
              </a:spcAft>
              <a:tabLst/>
            </a:pPr>
            <a:r>
              <a:rPr lang="en-US" sz="1350" b="1" dirty="0">
                <a:solidFill>
                  <a:srgbClr val="070154"/>
                </a:solidFill>
                <a:latin typeface="Arial"/>
                <a:cs typeface="Arial"/>
              </a:rPr>
              <a:t>Explore possible futures</a:t>
            </a:r>
          </a:p>
        </p:txBody>
      </p:sp>
      <p:sp>
        <p:nvSpPr>
          <p:cNvPr id="19" name="Rectangle 18">
            <a:extLst>
              <a:ext uri="{FF2B5EF4-FFF2-40B4-BE49-F238E27FC236}">
                <a16:creationId xmlns:a16="http://schemas.microsoft.com/office/drawing/2014/main" id="{88467596-1DA2-A24D-9179-9574917B226C}"/>
              </a:ext>
            </a:extLst>
          </p:cNvPr>
          <p:cNvSpPr/>
          <p:nvPr/>
        </p:nvSpPr>
        <p:spPr bwMode="auto">
          <a:xfrm>
            <a:off x="3276600" y="2514600"/>
            <a:ext cx="2590800" cy="34544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rmAutofit/>
          </a:bodyPr>
          <a:lstStyle/>
          <a:p>
            <a:pPr marL="171450" indent="-123825" algn="l">
              <a:lnSpc>
                <a:spcPct val="103000"/>
              </a:lnSpc>
              <a:spcAft>
                <a:spcPts val="350"/>
              </a:spcAft>
              <a:buChar char="•"/>
            </a:pPr>
            <a:r>
              <a:rPr lang="en-US" sz="1000" dirty="0">
                <a:solidFill>
                  <a:srgbClr val="11134F"/>
                </a:solidFill>
                <a:latin typeface="Arial"/>
                <a:cs typeface="Arial"/>
              </a:rPr>
              <a:t>Generate alternative workflows, experiences, and target architectures</a:t>
            </a:r>
            <a:endParaRPr lang="en-US" sz="1000" dirty="0"/>
          </a:p>
          <a:p>
            <a:pPr marL="171450" indent="-123825" algn="l">
              <a:lnSpc>
                <a:spcPct val="103000"/>
              </a:lnSpc>
              <a:spcAft>
                <a:spcPts val="350"/>
              </a:spcAft>
              <a:buChar char="•"/>
            </a:pPr>
            <a:r>
              <a:rPr lang="en-US" sz="1000" dirty="0">
                <a:solidFill>
                  <a:srgbClr val="11134F"/>
                </a:solidFill>
                <a:latin typeface="Arial"/>
                <a:cs typeface="Arial"/>
              </a:rPr>
              <a:t>Create rapid prototypes that make options tangible</a:t>
            </a:r>
            <a:endParaRPr lang="en-US" sz="1000" dirty="0"/>
          </a:p>
          <a:p>
            <a:pPr marL="171450" indent="-123825" algn="l">
              <a:lnSpc>
                <a:spcPct val="103000"/>
              </a:lnSpc>
              <a:spcAft>
                <a:spcPts val="350"/>
              </a:spcAft>
              <a:buChar char="•"/>
            </a:pPr>
            <a:r>
              <a:rPr lang="en-US" sz="1000" dirty="0">
                <a:solidFill>
                  <a:srgbClr val="11134F"/>
                </a:solidFill>
                <a:latin typeface="Arial"/>
                <a:cs typeface="Arial"/>
              </a:rPr>
              <a:t>Simulate process changes and compare trade-offs before committing</a:t>
            </a:r>
            <a:endParaRPr lang="en-US" sz="1000" dirty="0"/>
          </a:p>
          <a:p>
            <a:pPr marL="171450" indent="-123825" algn="l">
              <a:lnSpc>
                <a:spcPct val="103000"/>
              </a:lnSpc>
              <a:buChar char="•"/>
            </a:pPr>
            <a:r>
              <a:rPr lang="en-US" sz="1000" dirty="0">
                <a:solidFill>
                  <a:srgbClr val="11134F"/>
                </a:solidFill>
                <a:latin typeface="Arial"/>
                <a:cs typeface="Arial"/>
              </a:rPr>
              <a:t>Enable users and leaders to validate direction before major investment</a:t>
            </a:r>
            <a:endParaRPr lang="en-US" sz="1000" dirty="0"/>
          </a:p>
        </p:txBody>
      </p:sp>
      <p:sp>
        <p:nvSpPr>
          <p:cNvPr id="20" name="Rectangle 19">
            <a:extLst>
              <a:ext uri="{FF2B5EF4-FFF2-40B4-BE49-F238E27FC236}">
                <a16:creationId xmlns:a16="http://schemas.microsoft.com/office/drawing/2014/main" id="{414FABB6-1643-7945-9345-C497E781CBC4}"/>
              </a:ext>
            </a:extLst>
          </p:cNvPr>
          <p:cNvSpPr/>
          <p:nvPr/>
        </p:nvSpPr>
        <p:spPr bwMode="auto">
          <a:xfrm>
            <a:off x="6172200" y="1981200"/>
            <a:ext cx="203200" cy="3556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0" indent="0" algn="l">
              <a:spcAft>
                <a:spcPts val="0"/>
              </a:spcAft>
              <a:tabLst/>
            </a:pPr>
            <a:r>
              <a:rPr lang="en-US" sz="1100" b="1">
                <a:solidFill>
                  <a:srgbClr val="F900D3"/>
                </a:solidFill>
                <a:latin typeface="Arial"/>
                <a:cs typeface="Arial"/>
              </a:rPr>
              <a:t>3</a:t>
            </a:r>
          </a:p>
        </p:txBody>
      </p:sp>
      <p:sp>
        <p:nvSpPr>
          <p:cNvPr id="21" name="Rectangle 20">
            <a:extLst>
              <a:ext uri="{FF2B5EF4-FFF2-40B4-BE49-F238E27FC236}">
                <a16:creationId xmlns:a16="http://schemas.microsoft.com/office/drawing/2014/main" id="{EA6778E7-2D1C-2A48-B610-15EDBEE3AE5A}"/>
              </a:ext>
            </a:extLst>
          </p:cNvPr>
          <p:cNvSpPr/>
          <p:nvPr/>
        </p:nvSpPr>
        <p:spPr bwMode="auto">
          <a:xfrm>
            <a:off x="6426200" y="1955800"/>
            <a:ext cx="2336800" cy="4064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0" indent="0" algn="l">
              <a:spcAft>
                <a:spcPts val="0"/>
              </a:spcAft>
              <a:tabLst/>
            </a:pPr>
            <a:r>
              <a:rPr lang="en-US" sz="1350" b="1" dirty="0">
                <a:solidFill>
                  <a:srgbClr val="070154"/>
                </a:solidFill>
                <a:latin typeface="Arial"/>
                <a:cs typeface="Arial"/>
              </a:rPr>
              <a:t>Build and prove</a:t>
            </a:r>
          </a:p>
        </p:txBody>
      </p:sp>
      <p:sp>
        <p:nvSpPr>
          <p:cNvPr id="22" name="Rectangle 21">
            <a:extLst>
              <a:ext uri="{FF2B5EF4-FFF2-40B4-BE49-F238E27FC236}">
                <a16:creationId xmlns:a16="http://schemas.microsoft.com/office/drawing/2014/main" id="{9E4236A7-418B-144E-9719-64D6A2E70238}"/>
              </a:ext>
            </a:extLst>
          </p:cNvPr>
          <p:cNvSpPr/>
          <p:nvPr/>
        </p:nvSpPr>
        <p:spPr bwMode="auto">
          <a:xfrm>
            <a:off x="6172200" y="2514600"/>
            <a:ext cx="2590800" cy="34544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rmAutofit/>
          </a:bodyPr>
          <a:lstStyle/>
          <a:p>
            <a:pPr marL="171450" indent="-123825" algn="l">
              <a:lnSpc>
                <a:spcPct val="103000"/>
              </a:lnSpc>
              <a:spcAft>
                <a:spcPts val="350"/>
              </a:spcAft>
              <a:buChar char="•"/>
            </a:pPr>
            <a:r>
              <a:rPr lang="en-US" sz="1000">
                <a:solidFill>
                  <a:srgbClr val="11134F"/>
                </a:solidFill>
                <a:latin typeface="Arial"/>
                <a:cs typeface="Arial"/>
              </a:rPr>
              <a:t>Agents write code, documentation, and change records</a:t>
            </a:r>
            <a:endParaRPr lang="en-US" sz="1000"/>
          </a:p>
          <a:p>
            <a:pPr marL="171450" indent="-123825" algn="l">
              <a:lnSpc>
                <a:spcPct val="103000"/>
              </a:lnSpc>
              <a:spcAft>
                <a:spcPts val="350"/>
              </a:spcAft>
              <a:buChar char="•"/>
            </a:pPr>
            <a:r>
              <a:rPr lang="en-US" sz="1000">
                <a:solidFill>
                  <a:srgbClr val="11134F"/>
                </a:solidFill>
                <a:latin typeface="Arial"/>
                <a:cs typeface="Arial"/>
              </a:rPr>
              <a:t>Accelerate test design and automated test creation</a:t>
            </a:r>
            <a:endParaRPr lang="en-US" sz="1000"/>
          </a:p>
          <a:p>
            <a:pPr marL="171450" indent="-123825" algn="l">
              <a:lnSpc>
                <a:spcPct val="103000"/>
              </a:lnSpc>
              <a:spcAft>
                <a:spcPts val="350"/>
              </a:spcAft>
              <a:buChar char="•"/>
            </a:pPr>
            <a:r>
              <a:rPr lang="en-US" sz="1000">
                <a:solidFill>
                  <a:srgbClr val="11134F"/>
                </a:solidFill>
                <a:latin typeface="Arial"/>
                <a:cs typeface="Arial"/>
              </a:rPr>
              <a:t>Clean, transform, and analyze data for migration and validation</a:t>
            </a:r>
            <a:endParaRPr lang="en-US" sz="1000"/>
          </a:p>
          <a:p>
            <a:pPr marL="171450" indent="-123825" algn="l">
              <a:lnSpc>
                <a:spcPct val="103000"/>
              </a:lnSpc>
              <a:buChar char="•"/>
            </a:pPr>
            <a:r>
              <a:rPr lang="en-US" sz="1000">
                <a:solidFill>
                  <a:srgbClr val="11134F"/>
                </a:solidFill>
                <a:latin typeface="Arial"/>
                <a:cs typeface="Arial"/>
              </a:rPr>
              <a:t>Build bounded increments and compare legacy and modern behavior</a:t>
            </a:r>
            <a:endParaRPr lang="en-US" sz="1000"/>
          </a:p>
        </p:txBody>
      </p:sp>
      <p:sp>
        <p:nvSpPr>
          <p:cNvPr id="23" name="Rectangle 22">
            <a:extLst>
              <a:ext uri="{FF2B5EF4-FFF2-40B4-BE49-F238E27FC236}">
                <a16:creationId xmlns:a16="http://schemas.microsoft.com/office/drawing/2014/main" id="{2846861D-DA03-4349-BFB0-7017D86070A4}"/>
              </a:ext>
            </a:extLst>
          </p:cNvPr>
          <p:cNvSpPr/>
          <p:nvPr/>
        </p:nvSpPr>
        <p:spPr bwMode="auto">
          <a:xfrm>
            <a:off x="8991600" y="1981200"/>
            <a:ext cx="203200" cy="3556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0" indent="0" algn="l">
              <a:spcAft>
                <a:spcPts val="0"/>
              </a:spcAft>
              <a:tabLst/>
            </a:pPr>
            <a:r>
              <a:rPr lang="en-US" sz="1100" b="1">
                <a:solidFill>
                  <a:srgbClr val="F900D3"/>
                </a:solidFill>
                <a:latin typeface="Arial"/>
                <a:cs typeface="Arial"/>
              </a:rPr>
              <a:t>4</a:t>
            </a:r>
          </a:p>
        </p:txBody>
      </p:sp>
      <p:sp>
        <p:nvSpPr>
          <p:cNvPr id="24" name="Rectangle 23">
            <a:extLst>
              <a:ext uri="{FF2B5EF4-FFF2-40B4-BE49-F238E27FC236}">
                <a16:creationId xmlns:a16="http://schemas.microsoft.com/office/drawing/2014/main" id="{11402424-B04D-D44D-AD36-FF04652B6758}"/>
              </a:ext>
            </a:extLst>
          </p:cNvPr>
          <p:cNvSpPr/>
          <p:nvPr/>
        </p:nvSpPr>
        <p:spPr bwMode="auto">
          <a:xfrm>
            <a:off x="9245600" y="1955800"/>
            <a:ext cx="2336800" cy="4064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0" indent="0" algn="l">
              <a:spcAft>
                <a:spcPts val="0"/>
              </a:spcAft>
              <a:tabLst/>
            </a:pPr>
            <a:r>
              <a:rPr lang="en-US" sz="1350" b="1" dirty="0">
                <a:solidFill>
                  <a:srgbClr val="070154"/>
                </a:solidFill>
                <a:latin typeface="Arial"/>
                <a:cs typeface="Arial"/>
              </a:rPr>
              <a:t>Preserve and improve</a:t>
            </a:r>
          </a:p>
        </p:txBody>
      </p:sp>
      <p:sp>
        <p:nvSpPr>
          <p:cNvPr id="25" name="Rectangle 24">
            <a:extLst>
              <a:ext uri="{FF2B5EF4-FFF2-40B4-BE49-F238E27FC236}">
                <a16:creationId xmlns:a16="http://schemas.microsoft.com/office/drawing/2014/main" id="{48C6A9C4-942A-214F-8A4A-7777B7AB9A5E}"/>
              </a:ext>
            </a:extLst>
          </p:cNvPr>
          <p:cNvSpPr/>
          <p:nvPr/>
        </p:nvSpPr>
        <p:spPr bwMode="auto">
          <a:xfrm>
            <a:off x="8991600" y="2514600"/>
            <a:ext cx="2590800" cy="34544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rmAutofit/>
          </a:bodyPr>
          <a:lstStyle/>
          <a:p>
            <a:pPr marL="171450" indent="-123825" algn="l">
              <a:lnSpc>
                <a:spcPct val="103000"/>
              </a:lnSpc>
              <a:spcAft>
                <a:spcPts val="350"/>
              </a:spcAft>
              <a:buChar char="•"/>
            </a:pPr>
            <a:r>
              <a:rPr lang="en-US" sz="1000">
                <a:solidFill>
                  <a:srgbClr val="11134F"/>
                </a:solidFill>
                <a:latin typeface="Arial"/>
                <a:cs typeface="Arial"/>
              </a:rPr>
              <a:t>Preserve process, technical, test, and decision context</a:t>
            </a:r>
            <a:endParaRPr lang="en-US" sz="1000"/>
          </a:p>
          <a:p>
            <a:pPr marL="171450" indent="-123825" algn="l">
              <a:lnSpc>
                <a:spcPct val="103000"/>
              </a:lnSpc>
              <a:spcAft>
                <a:spcPts val="350"/>
              </a:spcAft>
              <a:buChar char="•"/>
            </a:pPr>
            <a:r>
              <a:rPr lang="en-US" sz="1000">
                <a:solidFill>
                  <a:srgbClr val="11134F"/>
                </a:solidFill>
                <a:latin typeface="Arial"/>
                <a:cs typeface="Arial"/>
              </a:rPr>
              <a:t>Automate low-level maintenance, dependency updates, and routine remediation</a:t>
            </a:r>
            <a:endParaRPr lang="en-US" sz="1000"/>
          </a:p>
          <a:p>
            <a:pPr marL="171450" indent="-123825" algn="l">
              <a:lnSpc>
                <a:spcPct val="103000"/>
              </a:lnSpc>
              <a:spcAft>
                <a:spcPts val="350"/>
              </a:spcAft>
              <a:buChar char="•"/>
            </a:pPr>
            <a:r>
              <a:rPr lang="en-US" sz="1000">
                <a:solidFill>
                  <a:srgbClr val="11134F"/>
                </a:solidFill>
                <a:latin typeface="Arial"/>
                <a:cs typeface="Arial"/>
              </a:rPr>
              <a:t>Monitor production signals and investigate incidents with human oversight</a:t>
            </a:r>
            <a:endParaRPr lang="en-US" sz="1000"/>
          </a:p>
          <a:p>
            <a:pPr marL="171450" indent="-123825" algn="l">
              <a:lnSpc>
                <a:spcPct val="103000"/>
              </a:lnSpc>
              <a:buChar char="•"/>
            </a:pPr>
            <a:r>
              <a:rPr lang="en-US" sz="1000">
                <a:solidFill>
                  <a:srgbClr val="11134F"/>
                </a:solidFill>
                <a:latin typeface="Arial"/>
                <a:cs typeface="Arial"/>
              </a:rPr>
              <a:t>Carry operational learning into continuous improvement and the next change</a:t>
            </a:r>
            <a:endParaRPr lang="en-US" sz="1000"/>
          </a:p>
        </p:txBody>
      </p:sp>
      <p:sp>
        <p:nvSpPr>
          <p:cNvPr id="26" name="Rectangle 25">
            <a:extLst>
              <a:ext uri="{FF2B5EF4-FFF2-40B4-BE49-F238E27FC236}">
                <a16:creationId xmlns:a16="http://schemas.microsoft.com/office/drawing/2014/main" id="{7EF91C94-C067-1A4F-A915-DB2017C78F6F}"/>
              </a:ext>
            </a:extLst>
          </p:cNvPr>
          <p:cNvSpPr/>
          <p:nvPr/>
        </p:nvSpPr>
        <p:spPr bwMode="auto">
          <a:xfrm>
            <a:off x="457200" y="990600"/>
            <a:ext cx="11277600" cy="3810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0" marR="0" indent="0" algn="l">
              <a:lnSpc>
                <a:spcPct val="100000"/>
              </a:lnSpc>
              <a:spcAft>
                <a:spcPts val="0"/>
              </a:spcAft>
              <a:tabLst/>
            </a:pPr>
            <a:r>
              <a:rPr lang="en-US" sz="1150" dirty="0">
                <a:solidFill>
                  <a:srgbClr val="31325F"/>
                </a:solidFill>
                <a:latin typeface="Arial"/>
                <a:cs typeface="Arial"/>
              </a:rPr>
              <a:t>AI agents can observe how work happens, generate and build alternatives, automate testing, and manage routine maintenance—while leaders retain accountability.</a:t>
            </a:r>
          </a:p>
        </p:txBody>
      </p:sp>
      <p:sp>
        <p:nvSpPr>
          <p:cNvPr id="3" name="TextBox 2">
            <a:extLst>
              <a:ext uri="{FF2B5EF4-FFF2-40B4-BE49-F238E27FC236}">
                <a16:creationId xmlns:a16="http://schemas.microsoft.com/office/drawing/2014/main" id="{3B118952-8CCB-5947-84FD-16673B7942DD}"/>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4" name="TextBox 3">
            <a:extLst>
              <a:ext uri="{FF2B5EF4-FFF2-40B4-BE49-F238E27FC236}">
                <a16:creationId xmlns:a16="http://schemas.microsoft.com/office/drawing/2014/main" id="{6E029E31-FE8D-AE4E-942C-9D7FAE61660A}"/>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r">
              <a:spcAft>
                <a:spcPts val="0"/>
              </a:spcAft>
              <a:tabLst/>
            </a:pPr>
            <a:r>
              <a:rPr lang="en-US" sz="550">
                <a:solidFill>
                  <a:srgbClr val="070154"/>
                </a:solidFill>
                <a:latin typeface="Arial"/>
                <a:cs typeface="Arial"/>
              </a:rPr>
              <a:t>20</a:t>
            </a:r>
          </a:p>
        </p:txBody>
      </p:sp>
      <p:pic>
        <p:nvPicPr>
          <p:cNvPr id="5" name="Picture 4">
            <a:extLst>
              <a:ext uri="{FF2B5EF4-FFF2-40B4-BE49-F238E27FC236}">
                <a16:creationId xmlns:a16="http://schemas.microsoft.com/office/drawing/2014/main" id="{5A450314-83A4-E03B-9C83-8DFFFA65D983}"/>
              </a:ext>
            </a:extLst>
          </p:cNvPr>
          <p:cNvPicPr>
            <a:picLocks noChangeAspect="1"/>
          </p:cNvPicPr>
          <p:nvPr/>
        </p:nvPicPr>
        <p:blipFill>
          <a:blip r:embed="rId3"/>
          <a:stretch>
            <a:fillRect/>
          </a:stretch>
        </p:blipFill>
        <p:spPr>
          <a:xfrm>
            <a:off x="1033346" y="3727605"/>
            <a:ext cx="9790771" cy="3263590"/>
          </a:xfrm>
          <a:prstGeom prst="rect">
            <a:avLst/>
          </a:prstGeom>
        </p:spPr>
      </p:pic>
    </p:spTree>
    <p:extLst>
      <p:ext uri="{BB962C8B-B14F-4D97-AF65-F5344CB8AC3E}">
        <p14:creationId xmlns:p14="http://schemas.microsoft.com/office/powerpoint/2010/main" val="8101695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029531-9FBA-3A44-9FB2-D89E4F659783}"/>
              </a:ext>
            </a:extLst>
          </p:cNvPr>
          <p:cNvSpPr txBox="1"/>
          <p:nvPr/>
        </p:nvSpPr>
        <p:spPr>
          <a:xfrm>
            <a:off x="457200" y="469900"/>
            <a:ext cx="11277600" cy="736600"/>
          </a:xfrm>
          <a:prstGeom prst="rect">
            <a:avLst/>
          </a:prstGeom>
          <a:noFill/>
          <a:ln>
            <a:noFill/>
          </a:ln>
        </p:spPr>
        <p:txBody>
          <a:bodyPr vertOverflow="overflow" vert="horz" wrap="square" lIns="0" tIns="0" rIns="0" bIns="0" rtlCol="0" anchor="ctr" anchorCtr="0">
            <a:normAutofit/>
          </a:bodyPr>
          <a:lstStyle/>
          <a:p>
            <a:pPr marL="0" indent="0" algn="l">
              <a:spcAft>
                <a:spcPts val="600"/>
              </a:spcAft>
              <a:tabLst/>
            </a:pPr>
            <a:r>
              <a:rPr lang="en-US" sz="2700" b="1">
                <a:solidFill>
                  <a:srgbClr val="08005F"/>
                </a:solidFill>
                <a:latin typeface="Arial"/>
                <a:cs typeface="Arial"/>
              </a:rPr>
              <a:t>AI turns operational evidence into durable capability.</a:t>
            </a:r>
            <a:endParaRPr lang="en-US" sz="2700" b="1" dirty="0">
              <a:solidFill>
                <a:srgbClr val="08005F"/>
              </a:solidFill>
              <a:latin typeface="Arial"/>
              <a:cs typeface="Arial"/>
            </a:endParaRPr>
          </a:p>
        </p:txBody>
      </p:sp>
      <p:sp>
        <p:nvSpPr>
          <p:cNvPr id="5" name="TextBox 4">
            <a:extLst>
              <a:ext uri="{FF2B5EF4-FFF2-40B4-BE49-F238E27FC236}">
                <a16:creationId xmlns:a16="http://schemas.microsoft.com/office/drawing/2014/main" id="{117783C1-3557-8D45-BD2E-61FDBF45AC51}"/>
              </a:ext>
            </a:extLst>
          </p:cNvPr>
          <p:cNvSpPr txBox="1"/>
          <p:nvPr/>
        </p:nvSpPr>
        <p:spPr>
          <a:xfrm>
            <a:off x="457200" y="1295400"/>
            <a:ext cx="11277600" cy="304800"/>
          </a:xfrm>
          <a:prstGeom prst="rect">
            <a:avLst/>
          </a:prstGeom>
          <a:noFill/>
          <a:ln>
            <a:noFill/>
          </a:ln>
        </p:spPr>
        <p:txBody>
          <a:bodyPr vertOverflow="overflow" vert="horz" wrap="square" lIns="0" tIns="0" rIns="0" bIns="0" rtlCol="0" anchor="ctr" anchorCtr="0">
            <a:normAutofit/>
          </a:bodyPr>
          <a:lstStyle/>
          <a:p>
            <a:pPr marL="0" indent="0" algn="l">
              <a:spcAft>
                <a:spcPts val="600"/>
              </a:spcAft>
              <a:tabLst/>
            </a:pPr>
            <a:r>
              <a:rPr lang="en-US" sz="1150">
                <a:solidFill>
                  <a:srgbClr val="52657A"/>
                </a:solidFill>
                <a:latin typeface="Arial"/>
                <a:cs typeface="Arial"/>
              </a:rPr>
              <a:t>A human-led progression from capturing expertise to shared understanding and lasting capability.</a:t>
            </a:r>
            <a:endParaRPr lang="en-US" sz="1150" dirty="0">
              <a:solidFill>
                <a:srgbClr val="52657A"/>
              </a:solidFill>
              <a:latin typeface="Arial"/>
              <a:cs typeface="Arial"/>
            </a:endParaRPr>
          </a:p>
        </p:txBody>
      </p:sp>
      <p:sp>
        <p:nvSpPr>
          <p:cNvPr id="3" name="TextBox 2">
            <a:extLst>
              <a:ext uri="{FF2B5EF4-FFF2-40B4-BE49-F238E27FC236}">
                <a16:creationId xmlns:a16="http://schemas.microsoft.com/office/drawing/2014/main" id="{F9622A2C-56E9-984F-8A5D-2F9975366C25}"/>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4" name="TextBox 3">
            <a:extLst>
              <a:ext uri="{FF2B5EF4-FFF2-40B4-BE49-F238E27FC236}">
                <a16:creationId xmlns:a16="http://schemas.microsoft.com/office/drawing/2014/main" id="{D4AEF6A3-3A37-4344-9551-05280BF538D3}"/>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r>
              <a:rPr lang="en-US" sz="550">
                <a:solidFill>
                  <a:srgbClr val="070154"/>
                </a:solidFill>
                <a:latin typeface="Arial"/>
                <a:cs typeface="Arial"/>
              </a:rPr>
              <a:t>15</a:t>
            </a:r>
            <a:endParaRPr lang="en-US" sz="550" dirty="0">
              <a:solidFill>
                <a:srgbClr val="070154"/>
              </a:solidFill>
              <a:latin typeface="Arial"/>
              <a:cs typeface="Arial"/>
            </a:endParaRPr>
          </a:p>
        </p:txBody>
      </p:sp>
      <p:sp>
        <p:nvSpPr>
          <p:cNvPr id="6" name="Rectangle 5">
            <a:extLst>
              <a:ext uri="{FF2B5EF4-FFF2-40B4-BE49-F238E27FC236}">
                <a16:creationId xmlns:a16="http://schemas.microsoft.com/office/drawing/2014/main" id="{38EAF9E2-8B31-3042-B785-7FB18EC30DB4}"/>
              </a:ext>
            </a:extLst>
          </p:cNvPr>
          <p:cNvSpPr/>
          <p:nvPr/>
        </p:nvSpPr>
        <p:spPr bwMode="auto">
          <a:xfrm>
            <a:off x="457200" y="1739900"/>
            <a:ext cx="11074400" cy="381000"/>
          </a:xfrm>
          <a:prstGeom prst="rect">
            <a:avLst/>
          </a:prstGeom>
          <a:solidFill>
            <a:srgbClr val="10006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TextBox 6">
            <a:extLst>
              <a:ext uri="{FF2B5EF4-FFF2-40B4-BE49-F238E27FC236}">
                <a16:creationId xmlns:a16="http://schemas.microsoft.com/office/drawing/2014/main" id="{A102558A-1491-F547-90CB-0ADBCF85C9B3}"/>
              </a:ext>
            </a:extLst>
          </p:cNvPr>
          <p:cNvSpPr txBox="1"/>
          <p:nvPr/>
        </p:nvSpPr>
        <p:spPr>
          <a:xfrm>
            <a:off x="1295400" y="1739900"/>
            <a:ext cx="2260600" cy="3810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050" b="1">
                <a:solidFill>
                  <a:srgbClr val="FFFFFF"/>
                </a:solidFill>
                <a:latin typeface="Arial"/>
                <a:cs typeface="Arial"/>
              </a:rPr>
              <a:t>Focus</a:t>
            </a:r>
            <a:endParaRPr lang="en-US" sz="1050" b="1" dirty="0">
              <a:solidFill>
                <a:srgbClr val="FFFFFF"/>
              </a:solidFill>
              <a:latin typeface="Arial"/>
              <a:cs typeface="Arial"/>
            </a:endParaRPr>
          </a:p>
        </p:txBody>
      </p:sp>
      <p:sp>
        <p:nvSpPr>
          <p:cNvPr id="29" name="TextBox 28">
            <a:extLst>
              <a:ext uri="{FF2B5EF4-FFF2-40B4-BE49-F238E27FC236}">
                <a16:creationId xmlns:a16="http://schemas.microsoft.com/office/drawing/2014/main" id="{3A2ED6FD-280B-214E-8BB3-AFCCE4976136}"/>
              </a:ext>
            </a:extLst>
          </p:cNvPr>
          <p:cNvSpPr txBox="1"/>
          <p:nvPr/>
        </p:nvSpPr>
        <p:spPr>
          <a:xfrm>
            <a:off x="3708400" y="1739900"/>
            <a:ext cx="4267200" cy="3810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050" b="1">
                <a:solidFill>
                  <a:srgbClr val="FFFFFF"/>
                </a:solidFill>
                <a:latin typeface="Arial"/>
                <a:cs typeface="Arial"/>
              </a:rPr>
              <a:t>What AI helps do</a:t>
            </a:r>
            <a:endParaRPr lang="en-US" sz="1050" b="1" dirty="0">
              <a:solidFill>
                <a:srgbClr val="FFFFFF"/>
              </a:solidFill>
              <a:latin typeface="Arial"/>
              <a:cs typeface="Arial"/>
            </a:endParaRPr>
          </a:p>
        </p:txBody>
      </p:sp>
      <p:sp>
        <p:nvSpPr>
          <p:cNvPr id="30" name="TextBox 29">
            <a:extLst>
              <a:ext uri="{FF2B5EF4-FFF2-40B4-BE49-F238E27FC236}">
                <a16:creationId xmlns:a16="http://schemas.microsoft.com/office/drawing/2014/main" id="{95B1C2F4-00D3-2546-83D0-C7BD45DE9AB5}"/>
              </a:ext>
            </a:extLst>
          </p:cNvPr>
          <p:cNvSpPr txBox="1"/>
          <p:nvPr/>
        </p:nvSpPr>
        <p:spPr>
          <a:xfrm>
            <a:off x="8128000" y="1739900"/>
            <a:ext cx="3352800" cy="3810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050" b="1">
                <a:solidFill>
                  <a:srgbClr val="FFFFFF"/>
                </a:solidFill>
                <a:latin typeface="Arial"/>
                <a:cs typeface="Arial"/>
              </a:rPr>
              <a:t>Human judgment that matters</a:t>
            </a:r>
            <a:endParaRPr lang="en-US" sz="1050" b="1" dirty="0">
              <a:solidFill>
                <a:srgbClr val="FFFFFF"/>
              </a:solidFill>
              <a:latin typeface="Arial"/>
              <a:cs typeface="Arial"/>
            </a:endParaRPr>
          </a:p>
        </p:txBody>
      </p:sp>
      <p:sp>
        <p:nvSpPr>
          <p:cNvPr id="31" name="Rectangle 30">
            <a:extLst>
              <a:ext uri="{FF2B5EF4-FFF2-40B4-BE49-F238E27FC236}">
                <a16:creationId xmlns:a16="http://schemas.microsoft.com/office/drawing/2014/main" id="{6C2A7C49-93C4-8349-9410-2A0EAF5EBC71}"/>
              </a:ext>
            </a:extLst>
          </p:cNvPr>
          <p:cNvSpPr/>
          <p:nvPr/>
        </p:nvSpPr>
        <p:spPr bwMode="auto">
          <a:xfrm>
            <a:off x="457200" y="2120900"/>
            <a:ext cx="11074400" cy="660400"/>
          </a:xfrm>
          <a:prstGeom prst="rect">
            <a:avLst/>
          </a:prstGeom>
          <a:solidFill>
            <a:srgbClr val="F2F5F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Rectangle 31">
            <a:extLst>
              <a:ext uri="{FF2B5EF4-FFF2-40B4-BE49-F238E27FC236}">
                <a16:creationId xmlns:a16="http://schemas.microsoft.com/office/drawing/2014/main" id="{835D993B-4942-7943-A965-329902476F5F}"/>
              </a:ext>
            </a:extLst>
          </p:cNvPr>
          <p:cNvSpPr/>
          <p:nvPr/>
        </p:nvSpPr>
        <p:spPr bwMode="auto">
          <a:xfrm>
            <a:off x="457200" y="2768600"/>
            <a:ext cx="11074400" cy="12700"/>
          </a:xfrm>
          <a:prstGeom prst="rect">
            <a:avLst/>
          </a:prstGeom>
          <a:solidFill>
            <a:srgbClr val="D9E1E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3" name="Rounded Rectangle 32">
            <a:extLst>
              <a:ext uri="{FF2B5EF4-FFF2-40B4-BE49-F238E27FC236}">
                <a16:creationId xmlns:a16="http://schemas.microsoft.com/office/drawing/2014/main" id="{1E899B00-C2B2-AD41-B0B5-3208E366B4C1}"/>
              </a:ext>
            </a:extLst>
          </p:cNvPr>
          <p:cNvSpPr/>
          <p:nvPr/>
        </p:nvSpPr>
        <p:spPr bwMode="auto">
          <a:xfrm>
            <a:off x="596900" y="2222500"/>
            <a:ext cx="457200" cy="457200"/>
          </a:xfrm>
          <a:prstGeom prst="roundRect">
            <a:avLst/>
          </a:prstGeom>
          <a:solidFill>
            <a:srgbClr val="10006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4" name="Oval 33">
            <a:extLst>
              <a:ext uri="{FF2B5EF4-FFF2-40B4-BE49-F238E27FC236}">
                <a16:creationId xmlns:a16="http://schemas.microsoft.com/office/drawing/2014/main" id="{B394FD23-1A04-7547-9B78-B1F19BCB11BA}"/>
              </a:ext>
            </a:extLst>
          </p:cNvPr>
          <p:cNvSpPr/>
          <p:nvPr/>
        </p:nvSpPr>
        <p:spPr bwMode="auto">
          <a:xfrm>
            <a:off x="774700" y="2311400"/>
            <a:ext cx="101600" cy="101600"/>
          </a:xfrm>
          <a:prstGeom prst="ellipse">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5" name="Oval 34">
            <a:extLst>
              <a:ext uri="{FF2B5EF4-FFF2-40B4-BE49-F238E27FC236}">
                <a16:creationId xmlns:a16="http://schemas.microsoft.com/office/drawing/2014/main" id="{1E2A0B35-4899-564C-BD9F-A893A596482E}"/>
              </a:ext>
            </a:extLst>
          </p:cNvPr>
          <p:cNvSpPr/>
          <p:nvPr/>
        </p:nvSpPr>
        <p:spPr bwMode="auto">
          <a:xfrm>
            <a:off x="673100" y="2362200"/>
            <a:ext cx="76200" cy="76200"/>
          </a:xfrm>
          <a:prstGeom prst="ellipse">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6" name="Oval 35">
            <a:extLst>
              <a:ext uri="{FF2B5EF4-FFF2-40B4-BE49-F238E27FC236}">
                <a16:creationId xmlns:a16="http://schemas.microsoft.com/office/drawing/2014/main" id="{C8FA40AA-242D-3140-9BD0-114708F0F0AB}"/>
              </a:ext>
            </a:extLst>
          </p:cNvPr>
          <p:cNvSpPr/>
          <p:nvPr/>
        </p:nvSpPr>
        <p:spPr bwMode="auto">
          <a:xfrm>
            <a:off x="901700" y="2362200"/>
            <a:ext cx="76200" cy="76200"/>
          </a:xfrm>
          <a:prstGeom prst="ellipse">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7" name="Rounded Rectangle 36">
            <a:extLst>
              <a:ext uri="{FF2B5EF4-FFF2-40B4-BE49-F238E27FC236}">
                <a16:creationId xmlns:a16="http://schemas.microsoft.com/office/drawing/2014/main" id="{BFF34EB3-D879-0E43-8638-D12950862AB8}"/>
              </a:ext>
            </a:extLst>
          </p:cNvPr>
          <p:cNvSpPr/>
          <p:nvPr/>
        </p:nvSpPr>
        <p:spPr bwMode="auto">
          <a:xfrm>
            <a:off x="685800" y="2451100"/>
            <a:ext cx="279400" cy="101600"/>
          </a:xfrm>
          <a:prstGeom prst="round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8" name="TextBox 37">
            <a:extLst>
              <a:ext uri="{FF2B5EF4-FFF2-40B4-BE49-F238E27FC236}">
                <a16:creationId xmlns:a16="http://schemas.microsoft.com/office/drawing/2014/main" id="{BBF4BEEA-9EB0-8A4E-A50E-5893DF4E63CD}"/>
              </a:ext>
            </a:extLst>
          </p:cNvPr>
          <p:cNvSpPr txBox="1"/>
          <p:nvPr/>
        </p:nvSpPr>
        <p:spPr>
          <a:xfrm>
            <a:off x="1295400" y="2120900"/>
            <a:ext cx="22606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200" b="1" dirty="0">
                <a:solidFill>
                  <a:srgbClr val="08005F"/>
                </a:solidFill>
                <a:latin typeface="Arial"/>
                <a:cs typeface="Arial"/>
              </a:rPr>
              <a:t>Capture expertise</a:t>
            </a:r>
          </a:p>
        </p:txBody>
      </p:sp>
      <p:sp>
        <p:nvSpPr>
          <p:cNvPr id="39" name="TextBox 38">
            <a:extLst>
              <a:ext uri="{FF2B5EF4-FFF2-40B4-BE49-F238E27FC236}">
                <a16:creationId xmlns:a16="http://schemas.microsoft.com/office/drawing/2014/main" id="{EDF440F3-922D-B146-9B6D-F8E7E0B52F8A}"/>
              </a:ext>
            </a:extLst>
          </p:cNvPr>
          <p:cNvSpPr txBox="1"/>
          <p:nvPr/>
        </p:nvSpPr>
        <p:spPr>
          <a:xfrm>
            <a:off x="3708400" y="2120900"/>
            <a:ext cx="42672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100">
                <a:solidFill>
                  <a:srgbClr val="17233C"/>
                </a:solidFill>
                <a:latin typeface="Arial"/>
                <a:cs typeface="Arial"/>
              </a:rPr>
              <a:t>Structure interviews and surface knowledge gaps without asking experts to write every artifact from scratch.</a:t>
            </a:r>
            <a:endParaRPr lang="en-US" sz="1100" dirty="0">
              <a:solidFill>
                <a:srgbClr val="17233C"/>
              </a:solidFill>
              <a:latin typeface="Arial"/>
              <a:cs typeface="Arial"/>
            </a:endParaRPr>
          </a:p>
        </p:txBody>
      </p:sp>
      <p:sp>
        <p:nvSpPr>
          <p:cNvPr id="40" name="TextBox 39">
            <a:extLst>
              <a:ext uri="{FF2B5EF4-FFF2-40B4-BE49-F238E27FC236}">
                <a16:creationId xmlns:a16="http://schemas.microsoft.com/office/drawing/2014/main" id="{455BE81F-55AB-4C4E-998C-97A00DC86248}"/>
              </a:ext>
            </a:extLst>
          </p:cNvPr>
          <p:cNvSpPr txBox="1"/>
          <p:nvPr/>
        </p:nvSpPr>
        <p:spPr>
          <a:xfrm>
            <a:off x="8128000" y="2120900"/>
            <a:ext cx="33528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100">
                <a:solidFill>
                  <a:srgbClr val="17233C"/>
                </a:solidFill>
                <a:latin typeface="Arial"/>
                <a:cs typeface="Arial"/>
              </a:rPr>
              <a:t>Experts validate context, nuance, and meaning.</a:t>
            </a:r>
            <a:endParaRPr lang="en-US" sz="1100" dirty="0">
              <a:solidFill>
                <a:srgbClr val="17233C"/>
              </a:solidFill>
              <a:latin typeface="Arial"/>
              <a:cs typeface="Arial"/>
            </a:endParaRPr>
          </a:p>
        </p:txBody>
      </p:sp>
      <p:sp>
        <p:nvSpPr>
          <p:cNvPr id="41" name="Rectangle 40">
            <a:extLst>
              <a:ext uri="{FF2B5EF4-FFF2-40B4-BE49-F238E27FC236}">
                <a16:creationId xmlns:a16="http://schemas.microsoft.com/office/drawing/2014/main" id="{E88485B9-0AE7-7347-BABB-A7C5EA00FD50}"/>
              </a:ext>
            </a:extLst>
          </p:cNvPr>
          <p:cNvSpPr/>
          <p:nvPr/>
        </p:nvSpPr>
        <p:spPr bwMode="auto">
          <a:xfrm>
            <a:off x="457200" y="2781300"/>
            <a:ext cx="11074400" cy="6604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2" name="Rectangle 41">
            <a:extLst>
              <a:ext uri="{FF2B5EF4-FFF2-40B4-BE49-F238E27FC236}">
                <a16:creationId xmlns:a16="http://schemas.microsoft.com/office/drawing/2014/main" id="{B128AF5B-2E73-2B4A-AE45-36D476D38C5F}"/>
              </a:ext>
            </a:extLst>
          </p:cNvPr>
          <p:cNvSpPr/>
          <p:nvPr/>
        </p:nvSpPr>
        <p:spPr bwMode="auto">
          <a:xfrm>
            <a:off x="457200" y="3429000"/>
            <a:ext cx="11074400" cy="12700"/>
          </a:xfrm>
          <a:prstGeom prst="rect">
            <a:avLst/>
          </a:prstGeom>
          <a:solidFill>
            <a:srgbClr val="D9E1E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3" name="Rounded Rectangle 42">
            <a:extLst>
              <a:ext uri="{FF2B5EF4-FFF2-40B4-BE49-F238E27FC236}">
                <a16:creationId xmlns:a16="http://schemas.microsoft.com/office/drawing/2014/main" id="{5F9CFDA8-B5DE-E745-B05D-0CC03DB4B45F}"/>
              </a:ext>
            </a:extLst>
          </p:cNvPr>
          <p:cNvSpPr/>
          <p:nvPr/>
        </p:nvSpPr>
        <p:spPr bwMode="auto">
          <a:xfrm>
            <a:off x="596900" y="2882900"/>
            <a:ext cx="457200" cy="457200"/>
          </a:xfrm>
          <a:prstGeom prst="roundRect">
            <a:avLst/>
          </a:prstGeom>
          <a:solidFill>
            <a:srgbClr val="10006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4" name="Rounded Rectangle 43">
            <a:extLst>
              <a:ext uri="{FF2B5EF4-FFF2-40B4-BE49-F238E27FC236}">
                <a16:creationId xmlns:a16="http://schemas.microsoft.com/office/drawing/2014/main" id="{4BB9E1B4-C300-9348-A769-C842F20B0E5C}"/>
              </a:ext>
            </a:extLst>
          </p:cNvPr>
          <p:cNvSpPr/>
          <p:nvPr/>
        </p:nvSpPr>
        <p:spPr bwMode="auto">
          <a:xfrm>
            <a:off x="685800" y="2984500"/>
            <a:ext cx="114300" cy="114300"/>
          </a:xfrm>
          <a:prstGeom prst="round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5" name="Rounded Rectangle 44">
            <a:extLst>
              <a:ext uri="{FF2B5EF4-FFF2-40B4-BE49-F238E27FC236}">
                <a16:creationId xmlns:a16="http://schemas.microsoft.com/office/drawing/2014/main" id="{58745BC8-5E52-4E44-BA03-CBEA3AE922A9}"/>
              </a:ext>
            </a:extLst>
          </p:cNvPr>
          <p:cNvSpPr/>
          <p:nvPr/>
        </p:nvSpPr>
        <p:spPr bwMode="auto">
          <a:xfrm>
            <a:off x="850900" y="3136900"/>
            <a:ext cx="114300" cy="114300"/>
          </a:xfrm>
          <a:prstGeom prst="round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6" name="Rectangle 45">
            <a:extLst>
              <a:ext uri="{FF2B5EF4-FFF2-40B4-BE49-F238E27FC236}">
                <a16:creationId xmlns:a16="http://schemas.microsoft.com/office/drawing/2014/main" id="{1ABE6E16-B475-C34A-82AE-540204348F46}"/>
              </a:ext>
            </a:extLst>
          </p:cNvPr>
          <p:cNvSpPr/>
          <p:nvPr/>
        </p:nvSpPr>
        <p:spPr bwMode="auto">
          <a:xfrm>
            <a:off x="787400" y="3060700"/>
            <a:ext cx="38100" cy="1270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7" name="Rectangle 46">
            <a:extLst>
              <a:ext uri="{FF2B5EF4-FFF2-40B4-BE49-F238E27FC236}">
                <a16:creationId xmlns:a16="http://schemas.microsoft.com/office/drawing/2014/main" id="{F1244BCD-1751-E54C-B8A9-209246045115}"/>
              </a:ext>
            </a:extLst>
          </p:cNvPr>
          <p:cNvSpPr/>
          <p:nvPr/>
        </p:nvSpPr>
        <p:spPr bwMode="auto">
          <a:xfrm>
            <a:off x="800100" y="3149600"/>
            <a:ext cx="76200" cy="381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8" name="TextBox 47">
            <a:extLst>
              <a:ext uri="{FF2B5EF4-FFF2-40B4-BE49-F238E27FC236}">
                <a16:creationId xmlns:a16="http://schemas.microsoft.com/office/drawing/2014/main" id="{3E0F8F23-E3D1-B445-A184-FC8893681DBA}"/>
              </a:ext>
            </a:extLst>
          </p:cNvPr>
          <p:cNvSpPr txBox="1"/>
          <p:nvPr/>
        </p:nvSpPr>
        <p:spPr>
          <a:xfrm>
            <a:off x="1295400" y="2781300"/>
            <a:ext cx="22606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200" b="1" dirty="0">
                <a:solidFill>
                  <a:srgbClr val="08005F"/>
                </a:solidFill>
                <a:latin typeface="Arial"/>
                <a:cs typeface="Arial"/>
              </a:rPr>
              <a:t>Observe the work</a:t>
            </a:r>
          </a:p>
        </p:txBody>
      </p:sp>
      <p:sp>
        <p:nvSpPr>
          <p:cNvPr id="49" name="TextBox 48">
            <a:extLst>
              <a:ext uri="{FF2B5EF4-FFF2-40B4-BE49-F238E27FC236}">
                <a16:creationId xmlns:a16="http://schemas.microsoft.com/office/drawing/2014/main" id="{2FD904E6-3738-394C-9247-033FE782FFA0}"/>
              </a:ext>
            </a:extLst>
          </p:cNvPr>
          <p:cNvSpPr txBox="1"/>
          <p:nvPr/>
        </p:nvSpPr>
        <p:spPr>
          <a:xfrm>
            <a:off x="3708400" y="2781300"/>
            <a:ext cx="42672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100">
                <a:solidFill>
                  <a:srgbClr val="17233C"/>
                </a:solidFill>
                <a:latin typeface="Arial"/>
                <a:cs typeface="Arial"/>
              </a:rPr>
              <a:t>Use consented recordings and work artifacts to map steps, handoffs, exceptions, and workarounds.</a:t>
            </a:r>
            <a:endParaRPr lang="en-US" sz="1100" dirty="0">
              <a:solidFill>
                <a:srgbClr val="17233C"/>
              </a:solidFill>
              <a:latin typeface="Arial"/>
              <a:cs typeface="Arial"/>
            </a:endParaRPr>
          </a:p>
        </p:txBody>
      </p:sp>
      <p:sp>
        <p:nvSpPr>
          <p:cNvPr id="50" name="TextBox 49">
            <a:extLst>
              <a:ext uri="{FF2B5EF4-FFF2-40B4-BE49-F238E27FC236}">
                <a16:creationId xmlns:a16="http://schemas.microsoft.com/office/drawing/2014/main" id="{B8FE0FBC-2A9B-C84E-8AF6-9AC80BCCFC1D}"/>
              </a:ext>
            </a:extLst>
          </p:cNvPr>
          <p:cNvSpPr txBox="1"/>
          <p:nvPr/>
        </p:nvSpPr>
        <p:spPr>
          <a:xfrm>
            <a:off x="8128000" y="2781300"/>
            <a:ext cx="33528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100">
                <a:solidFill>
                  <a:srgbClr val="17233C"/>
                </a:solidFill>
                <a:latin typeface="Arial"/>
                <a:cs typeface="Arial"/>
              </a:rPr>
              <a:t>Teams explain why the work happens that way.</a:t>
            </a:r>
            <a:endParaRPr lang="en-US" sz="1100" dirty="0">
              <a:solidFill>
                <a:srgbClr val="17233C"/>
              </a:solidFill>
              <a:latin typeface="Arial"/>
              <a:cs typeface="Arial"/>
            </a:endParaRPr>
          </a:p>
        </p:txBody>
      </p:sp>
      <p:sp>
        <p:nvSpPr>
          <p:cNvPr id="51" name="Rectangle 50">
            <a:extLst>
              <a:ext uri="{FF2B5EF4-FFF2-40B4-BE49-F238E27FC236}">
                <a16:creationId xmlns:a16="http://schemas.microsoft.com/office/drawing/2014/main" id="{CAA47C49-F066-C042-A70A-4DDF27964FF1}"/>
              </a:ext>
            </a:extLst>
          </p:cNvPr>
          <p:cNvSpPr/>
          <p:nvPr/>
        </p:nvSpPr>
        <p:spPr bwMode="auto">
          <a:xfrm>
            <a:off x="457200" y="3441700"/>
            <a:ext cx="11074400" cy="660400"/>
          </a:xfrm>
          <a:prstGeom prst="rect">
            <a:avLst/>
          </a:prstGeom>
          <a:solidFill>
            <a:srgbClr val="F2F5F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2" name="Rectangle 51">
            <a:extLst>
              <a:ext uri="{FF2B5EF4-FFF2-40B4-BE49-F238E27FC236}">
                <a16:creationId xmlns:a16="http://schemas.microsoft.com/office/drawing/2014/main" id="{7602E225-FA52-474C-9A62-DE51A4DDA3DF}"/>
              </a:ext>
            </a:extLst>
          </p:cNvPr>
          <p:cNvSpPr/>
          <p:nvPr/>
        </p:nvSpPr>
        <p:spPr bwMode="auto">
          <a:xfrm>
            <a:off x="457200" y="4089400"/>
            <a:ext cx="11074400" cy="12700"/>
          </a:xfrm>
          <a:prstGeom prst="rect">
            <a:avLst/>
          </a:prstGeom>
          <a:solidFill>
            <a:srgbClr val="D9E1E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3" name="Rounded Rectangle 52">
            <a:extLst>
              <a:ext uri="{FF2B5EF4-FFF2-40B4-BE49-F238E27FC236}">
                <a16:creationId xmlns:a16="http://schemas.microsoft.com/office/drawing/2014/main" id="{2BB7FAED-9EC7-454E-A02E-55CFD26669E1}"/>
              </a:ext>
            </a:extLst>
          </p:cNvPr>
          <p:cNvSpPr/>
          <p:nvPr/>
        </p:nvSpPr>
        <p:spPr bwMode="auto">
          <a:xfrm>
            <a:off x="596900" y="3543300"/>
            <a:ext cx="457200" cy="457200"/>
          </a:xfrm>
          <a:prstGeom prst="roundRect">
            <a:avLst/>
          </a:prstGeom>
          <a:solidFill>
            <a:srgbClr val="10006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4" name="Rectangle 53">
            <a:extLst>
              <a:ext uri="{FF2B5EF4-FFF2-40B4-BE49-F238E27FC236}">
                <a16:creationId xmlns:a16="http://schemas.microsoft.com/office/drawing/2014/main" id="{28BD287F-494D-9D4F-A976-BE1D94DB906E}"/>
              </a:ext>
            </a:extLst>
          </p:cNvPr>
          <p:cNvSpPr/>
          <p:nvPr/>
        </p:nvSpPr>
        <p:spPr bwMode="auto">
          <a:xfrm>
            <a:off x="698500" y="3644900"/>
            <a:ext cx="254000" cy="254000"/>
          </a:xfrm>
          <a:prstGeom prst="rect">
            <a:avLst/>
          </a:prstGeom>
          <a:solidFill>
            <a:srgbClr val="10006B"/>
          </a:solidFill>
          <a:ln w="19050">
            <a:solidFill>
              <a:srgbClr val="FFFFFF"/>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5" name="Rounded Rectangle 54">
            <a:extLst>
              <a:ext uri="{FF2B5EF4-FFF2-40B4-BE49-F238E27FC236}">
                <a16:creationId xmlns:a16="http://schemas.microsoft.com/office/drawing/2014/main" id="{230DFB7E-CFC0-D145-A30E-C8ADF8D5378B}"/>
              </a:ext>
            </a:extLst>
          </p:cNvPr>
          <p:cNvSpPr/>
          <p:nvPr/>
        </p:nvSpPr>
        <p:spPr bwMode="auto">
          <a:xfrm>
            <a:off x="774700" y="3721100"/>
            <a:ext cx="101600" cy="101600"/>
          </a:xfrm>
          <a:prstGeom prst="round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6" name="TextBox 55">
            <a:extLst>
              <a:ext uri="{FF2B5EF4-FFF2-40B4-BE49-F238E27FC236}">
                <a16:creationId xmlns:a16="http://schemas.microsoft.com/office/drawing/2014/main" id="{783E4576-5FCA-F244-94FB-27A2AC6A0F58}"/>
              </a:ext>
            </a:extLst>
          </p:cNvPr>
          <p:cNvSpPr txBox="1"/>
          <p:nvPr/>
        </p:nvSpPr>
        <p:spPr>
          <a:xfrm>
            <a:off x="1295400" y="3441700"/>
            <a:ext cx="22606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200" b="1" dirty="0">
                <a:solidFill>
                  <a:srgbClr val="08005F"/>
                </a:solidFill>
                <a:latin typeface="Arial"/>
                <a:cs typeface="Arial"/>
              </a:rPr>
              <a:t>Analyze the systems</a:t>
            </a:r>
          </a:p>
        </p:txBody>
      </p:sp>
      <p:sp>
        <p:nvSpPr>
          <p:cNvPr id="57" name="TextBox 56">
            <a:extLst>
              <a:ext uri="{FF2B5EF4-FFF2-40B4-BE49-F238E27FC236}">
                <a16:creationId xmlns:a16="http://schemas.microsoft.com/office/drawing/2014/main" id="{21B3ADE0-2CD0-3548-8D1C-D674F8374718}"/>
              </a:ext>
            </a:extLst>
          </p:cNvPr>
          <p:cNvSpPr txBox="1"/>
          <p:nvPr/>
        </p:nvSpPr>
        <p:spPr>
          <a:xfrm>
            <a:off x="3708400" y="3441700"/>
            <a:ext cx="42672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100">
                <a:solidFill>
                  <a:srgbClr val="17233C"/>
                </a:solidFill>
                <a:latin typeface="Arial"/>
                <a:cs typeface="Arial"/>
              </a:rPr>
              <a:t>Examine source, architecture, data, integrations, risk, and cost to reveal constraints.</a:t>
            </a:r>
            <a:endParaRPr lang="en-US" sz="1100" dirty="0">
              <a:solidFill>
                <a:srgbClr val="17233C"/>
              </a:solidFill>
              <a:latin typeface="Arial"/>
              <a:cs typeface="Arial"/>
            </a:endParaRPr>
          </a:p>
        </p:txBody>
      </p:sp>
      <p:sp>
        <p:nvSpPr>
          <p:cNvPr id="58" name="TextBox 57">
            <a:extLst>
              <a:ext uri="{FF2B5EF4-FFF2-40B4-BE49-F238E27FC236}">
                <a16:creationId xmlns:a16="http://schemas.microsoft.com/office/drawing/2014/main" id="{68988B53-BD94-D443-871D-EA7A7B9B2E3F}"/>
              </a:ext>
            </a:extLst>
          </p:cNvPr>
          <p:cNvSpPr txBox="1"/>
          <p:nvPr/>
        </p:nvSpPr>
        <p:spPr>
          <a:xfrm>
            <a:off x="8128000" y="3441700"/>
            <a:ext cx="33528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100">
                <a:solidFill>
                  <a:srgbClr val="17233C"/>
                </a:solidFill>
                <a:latin typeface="Arial"/>
                <a:cs typeface="Arial"/>
              </a:rPr>
              <a:t>Technology leaders confirm trade-offs and boundaries.</a:t>
            </a:r>
            <a:endParaRPr lang="en-US" sz="1100" dirty="0">
              <a:solidFill>
                <a:srgbClr val="17233C"/>
              </a:solidFill>
              <a:latin typeface="Arial"/>
              <a:cs typeface="Arial"/>
            </a:endParaRPr>
          </a:p>
        </p:txBody>
      </p:sp>
      <p:sp>
        <p:nvSpPr>
          <p:cNvPr id="59" name="Rectangle 58">
            <a:extLst>
              <a:ext uri="{FF2B5EF4-FFF2-40B4-BE49-F238E27FC236}">
                <a16:creationId xmlns:a16="http://schemas.microsoft.com/office/drawing/2014/main" id="{E1A993F8-6880-E54A-9619-1A0F6C1DD1E4}"/>
              </a:ext>
            </a:extLst>
          </p:cNvPr>
          <p:cNvSpPr/>
          <p:nvPr/>
        </p:nvSpPr>
        <p:spPr bwMode="auto">
          <a:xfrm>
            <a:off x="457200" y="4102100"/>
            <a:ext cx="11074400" cy="6604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0" name="Rectangle 59">
            <a:extLst>
              <a:ext uri="{FF2B5EF4-FFF2-40B4-BE49-F238E27FC236}">
                <a16:creationId xmlns:a16="http://schemas.microsoft.com/office/drawing/2014/main" id="{CCB73C02-CB6B-E745-82CE-EBE148415968}"/>
              </a:ext>
            </a:extLst>
          </p:cNvPr>
          <p:cNvSpPr/>
          <p:nvPr/>
        </p:nvSpPr>
        <p:spPr bwMode="auto">
          <a:xfrm>
            <a:off x="457200" y="4749800"/>
            <a:ext cx="11074400" cy="12700"/>
          </a:xfrm>
          <a:prstGeom prst="rect">
            <a:avLst/>
          </a:prstGeom>
          <a:solidFill>
            <a:srgbClr val="D9E1E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1" name="Rounded Rectangle 60">
            <a:extLst>
              <a:ext uri="{FF2B5EF4-FFF2-40B4-BE49-F238E27FC236}">
                <a16:creationId xmlns:a16="http://schemas.microsoft.com/office/drawing/2014/main" id="{4531ADC5-5F41-0A46-97D2-C5AB09977487}"/>
              </a:ext>
            </a:extLst>
          </p:cNvPr>
          <p:cNvSpPr/>
          <p:nvPr/>
        </p:nvSpPr>
        <p:spPr bwMode="auto">
          <a:xfrm>
            <a:off x="596900" y="4203700"/>
            <a:ext cx="457200" cy="457200"/>
          </a:xfrm>
          <a:prstGeom prst="roundRect">
            <a:avLst/>
          </a:prstGeom>
          <a:solidFill>
            <a:srgbClr val="10006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2" name="Oval 61">
            <a:extLst>
              <a:ext uri="{FF2B5EF4-FFF2-40B4-BE49-F238E27FC236}">
                <a16:creationId xmlns:a16="http://schemas.microsoft.com/office/drawing/2014/main" id="{FF0B146C-68D4-5846-BB96-83D32EA4E28F}"/>
              </a:ext>
            </a:extLst>
          </p:cNvPr>
          <p:cNvSpPr/>
          <p:nvPr/>
        </p:nvSpPr>
        <p:spPr bwMode="auto">
          <a:xfrm>
            <a:off x="685800" y="4343400"/>
            <a:ext cx="177800" cy="177800"/>
          </a:xfrm>
          <a:prstGeom prst="ellipse">
            <a:avLst/>
          </a:prstGeom>
          <a:solidFill>
            <a:srgbClr val="10006B"/>
          </a:solidFill>
          <a:ln w="19050">
            <a:solidFill>
              <a:srgbClr val="FFFFFF"/>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3" name="Oval 62">
            <a:extLst>
              <a:ext uri="{FF2B5EF4-FFF2-40B4-BE49-F238E27FC236}">
                <a16:creationId xmlns:a16="http://schemas.microsoft.com/office/drawing/2014/main" id="{7C76928A-BF99-C148-8D23-6863727D59B8}"/>
              </a:ext>
            </a:extLst>
          </p:cNvPr>
          <p:cNvSpPr/>
          <p:nvPr/>
        </p:nvSpPr>
        <p:spPr bwMode="auto">
          <a:xfrm>
            <a:off x="863600" y="4343400"/>
            <a:ext cx="177800" cy="177800"/>
          </a:xfrm>
          <a:prstGeom prst="ellipse">
            <a:avLst/>
          </a:prstGeom>
          <a:solidFill>
            <a:srgbClr val="10006B"/>
          </a:solidFill>
          <a:ln w="19050">
            <a:solidFill>
              <a:srgbClr val="FFFFFF"/>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4" name="TextBox 63">
            <a:extLst>
              <a:ext uri="{FF2B5EF4-FFF2-40B4-BE49-F238E27FC236}">
                <a16:creationId xmlns:a16="http://schemas.microsoft.com/office/drawing/2014/main" id="{F3CC8888-1C1F-0B4E-B377-EE4F4E9E84A4}"/>
              </a:ext>
            </a:extLst>
          </p:cNvPr>
          <p:cNvSpPr txBox="1"/>
          <p:nvPr/>
        </p:nvSpPr>
        <p:spPr>
          <a:xfrm>
            <a:off x="1295400" y="4102100"/>
            <a:ext cx="22606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200" b="1">
                <a:solidFill>
                  <a:srgbClr val="08005F"/>
                </a:solidFill>
                <a:latin typeface="Arial"/>
                <a:cs typeface="Arial"/>
              </a:rPr>
              <a:t>Co-design and validate</a:t>
            </a:r>
            <a:endParaRPr lang="en-US" sz="1200" b="1" dirty="0">
              <a:solidFill>
                <a:srgbClr val="08005F"/>
              </a:solidFill>
              <a:latin typeface="Arial"/>
              <a:cs typeface="Arial"/>
            </a:endParaRPr>
          </a:p>
        </p:txBody>
      </p:sp>
      <p:sp>
        <p:nvSpPr>
          <p:cNvPr id="65" name="TextBox 64">
            <a:extLst>
              <a:ext uri="{FF2B5EF4-FFF2-40B4-BE49-F238E27FC236}">
                <a16:creationId xmlns:a16="http://schemas.microsoft.com/office/drawing/2014/main" id="{F5766D3B-C5A1-3843-A2A2-3DCF3A7F38F9}"/>
              </a:ext>
            </a:extLst>
          </p:cNvPr>
          <p:cNvSpPr txBox="1"/>
          <p:nvPr/>
        </p:nvSpPr>
        <p:spPr>
          <a:xfrm>
            <a:off x="3708400" y="4102100"/>
            <a:ext cx="42672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100">
                <a:solidFill>
                  <a:srgbClr val="17233C"/>
                </a:solidFill>
                <a:latin typeface="Arial"/>
                <a:cs typeface="Arial"/>
              </a:rPr>
              <a:t>Create process alternatives and working prototypes, then test them with users and leaders.</a:t>
            </a:r>
            <a:endParaRPr lang="en-US" sz="1100" dirty="0">
              <a:solidFill>
                <a:srgbClr val="17233C"/>
              </a:solidFill>
              <a:latin typeface="Arial"/>
              <a:cs typeface="Arial"/>
            </a:endParaRPr>
          </a:p>
        </p:txBody>
      </p:sp>
      <p:sp>
        <p:nvSpPr>
          <p:cNvPr id="66" name="TextBox 65">
            <a:extLst>
              <a:ext uri="{FF2B5EF4-FFF2-40B4-BE49-F238E27FC236}">
                <a16:creationId xmlns:a16="http://schemas.microsoft.com/office/drawing/2014/main" id="{10C23970-3C15-6844-B5FA-3CEB61AE2DDF}"/>
              </a:ext>
            </a:extLst>
          </p:cNvPr>
          <p:cNvSpPr txBox="1"/>
          <p:nvPr/>
        </p:nvSpPr>
        <p:spPr>
          <a:xfrm>
            <a:off x="8128000" y="4102100"/>
            <a:ext cx="33528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100">
                <a:solidFill>
                  <a:srgbClr val="17233C"/>
                </a:solidFill>
                <a:latin typeface="Arial"/>
                <a:cs typeface="Arial"/>
              </a:rPr>
              <a:t>People decide what should change and what will work.</a:t>
            </a:r>
            <a:endParaRPr lang="en-US" sz="1100" dirty="0">
              <a:solidFill>
                <a:srgbClr val="17233C"/>
              </a:solidFill>
              <a:latin typeface="Arial"/>
              <a:cs typeface="Arial"/>
            </a:endParaRPr>
          </a:p>
        </p:txBody>
      </p:sp>
      <p:sp>
        <p:nvSpPr>
          <p:cNvPr id="67" name="Rectangle 66">
            <a:extLst>
              <a:ext uri="{FF2B5EF4-FFF2-40B4-BE49-F238E27FC236}">
                <a16:creationId xmlns:a16="http://schemas.microsoft.com/office/drawing/2014/main" id="{FC0D6817-88C7-B54A-9CE8-5003F0117C86}"/>
              </a:ext>
            </a:extLst>
          </p:cNvPr>
          <p:cNvSpPr/>
          <p:nvPr/>
        </p:nvSpPr>
        <p:spPr bwMode="auto">
          <a:xfrm>
            <a:off x="457200" y="4762500"/>
            <a:ext cx="11074400" cy="660400"/>
          </a:xfrm>
          <a:prstGeom prst="rect">
            <a:avLst/>
          </a:prstGeom>
          <a:solidFill>
            <a:srgbClr val="F2F5F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8" name="Rectangle 67">
            <a:extLst>
              <a:ext uri="{FF2B5EF4-FFF2-40B4-BE49-F238E27FC236}">
                <a16:creationId xmlns:a16="http://schemas.microsoft.com/office/drawing/2014/main" id="{CA32B378-6DB0-AC40-A6B9-02D710D7D6B7}"/>
              </a:ext>
            </a:extLst>
          </p:cNvPr>
          <p:cNvSpPr/>
          <p:nvPr/>
        </p:nvSpPr>
        <p:spPr bwMode="auto">
          <a:xfrm>
            <a:off x="457200" y="5410200"/>
            <a:ext cx="11074400" cy="12700"/>
          </a:xfrm>
          <a:prstGeom prst="rect">
            <a:avLst/>
          </a:prstGeom>
          <a:solidFill>
            <a:srgbClr val="D9E1E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9" name="Rounded Rectangle 68">
            <a:extLst>
              <a:ext uri="{FF2B5EF4-FFF2-40B4-BE49-F238E27FC236}">
                <a16:creationId xmlns:a16="http://schemas.microsoft.com/office/drawing/2014/main" id="{780B8092-F19C-CF43-8390-9E7E2578B672}"/>
              </a:ext>
            </a:extLst>
          </p:cNvPr>
          <p:cNvSpPr/>
          <p:nvPr/>
        </p:nvSpPr>
        <p:spPr bwMode="auto">
          <a:xfrm>
            <a:off x="596900" y="4864100"/>
            <a:ext cx="457200" cy="457200"/>
          </a:xfrm>
          <a:prstGeom prst="roundRect">
            <a:avLst/>
          </a:prstGeom>
          <a:solidFill>
            <a:srgbClr val="10006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0" name="Rectangle 69">
            <a:extLst>
              <a:ext uri="{FF2B5EF4-FFF2-40B4-BE49-F238E27FC236}">
                <a16:creationId xmlns:a16="http://schemas.microsoft.com/office/drawing/2014/main" id="{754A4869-434F-A145-9497-955FAF9A6382}"/>
              </a:ext>
            </a:extLst>
          </p:cNvPr>
          <p:cNvSpPr/>
          <p:nvPr/>
        </p:nvSpPr>
        <p:spPr bwMode="auto">
          <a:xfrm>
            <a:off x="685800" y="4965700"/>
            <a:ext cx="63500" cy="2540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1" name="Rectangle 70">
            <a:extLst>
              <a:ext uri="{FF2B5EF4-FFF2-40B4-BE49-F238E27FC236}">
                <a16:creationId xmlns:a16="http://schemas.microsoft.com/office/drawing/2014/main" id="{C28711AB-813B-354E-AF2B-62FDEB939A02}"/>
              </a:ext>
            </a:extLst>
          </p:cNvPr>
          <p:cNvSpPr/>
          <p:nvPr/>
        </p:nvSpPr>
        <p:spPr bwMode="auto">
          <a:xfrm>
            <a:off x="787400" y="5003800"/>
            <a:ext cx="63500" cy="2159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2" name="Rectangle 71">
            <a:extLst>
              <a:ext uri="{FF2B5EF4-FFF2-40B4-BE49-F238E27FC236}">
                <a16:creationId xmlns:a16="http://schemas.microsoft.com/office/drawing/2014/main" id="{D7DEF7D4-EA2A-C649-B74D-994CC9D46AC0}"/>
              </a:ext>
            </a:extLst>
          </p:cNvPr>
          <p:cNvSpPr/>
          <p:nvPr/>
        </p:nvSpPr>
        <p:spPr bwMode="auto">
          <a:xfrm>
            <a:off x="889000" y="4953000"/>
            <a:ext cx="63500" cy="2667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3" name="TextBox 72">
            <a:extLst>
              <a:ext uri="{FF2B5EF4-FFF2-40B4-BE49-F238E27FC236}">
                <a16:creationId xmlns:a16="http://schemas.microsoft.com/office/drawing/2014/main" id="{AF311DBB-4A9C-0F4B-82A5-2692DCA27023}"/>
              </a:ext>
            </a:extLst>
          </p:cNvPr>
          <p:cNvSpPr txBox="1"/>
          <p:nvPr/>
        </p:nvSpPr>
        <p:spPr>
          <a:xfrm>
            <a:off x="1295400" y="4762500"/>
            <a:ext cx="22606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200" b="1" dirty="0">
                <a:solidFill>
                  <a:srgbClr val="08005F"/>
                </a:solidFill>
                <a:latin typeface="Arial"/>
                <a:cs typeface="Arial"/>
              </a:rPr>
              <a:t>Transfer durable capability</a:t>
            </a:r>
          </a:p>
        </p:txBody>
      </p:sp>
      <p:sp>
        <p:nvSpPr>
          <p:cNvPr id="74" name="TextBox 73">
            <a:extLst>
              <a:ext uri="{FF2B5EF4-FFF2-40B4-BE49-F238E27FC236}">
                <a16:creationId xmlns:a16="http://schemas.microsoft.com/office/drawing/2014/main" id="{0BEA0B23-659E-D645-9DE4-807EE303D93B}"/>
              </a:ext>
            </a:extLst>
          </p:cNvPr>
          <p:cNvSpPr txBox="1"/>
          <p:nvPr/>
        </p:nvSpPr>
        <p:spPr>
          <a:xfrm>
            <a:off x="3708400" y="4762500"/>
            <a:ext cx="42672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100">
                <a:solidFill>
                  <a:srgbClr val="17233C"/>
                </a:solidFill>
                <a:latin typeface="Arial"/>
                <a:cs typeface="Arial"/>
              </a:rPr>
              <a:t>Preserve operating knowledge, prepare people for new roles, and retain technical context.</a:t>
            </a:r>
            <a:endParaRPr lang="en-US" sz="1100" dirty="0">
              <a:solidFill>
                <a:srgbClr val="17233C"/>
              </a:solidFill>
              <a:latin typeface="Arial"/>
              <a:cs typeface="Arial"/>
            </a:endParaRPr>
          </a:p>
        </p:txBody>
      </p:sp>
      <p:sp>
        <p:nvSpPr>
          <p:cNvPr id="75" name="TextBox 74">
            <a:extLst>
              <a:ext uri="{FF2B5EF4-FFF2-40B4-BE49-F238E27FC236}">
                <a16:creationId xmlns:a16="http://schemas.microsoft.com/office/drawing/2014/main" id="{F1DC4B54-028A-234C-9308-F3860286FFA5}"/>
              </a:ext>
            </a:extLst>
          </p:cNvPr>
          <p:cNvSpPr txBox="1"/>
          <p:nvPr/>
        </p:nvSpPr>
        <p:spPr>
          <a:xfrm>
            <a:off x="8128000" y="4762500"/>
            <a:ext cx="3352800" cy="660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100">
                <a:solidFill>
                  <a:srgbClr val="17233C"/>
                </a:solidFill>
                <a:latin typeface="Arial"/>
                <a:cs typeface="Arial"/>
              </a:rPr>
              <a:t>Leaders own adoption, readiness, and accountability.</a:t>
            </a:r>
            <a:endParaRPr lang="en-US" sz="1100" dirty="0">
              <a:solidFill>
                <a:srgbClr val="17233C"/>
              </a:solidFill>
              <a:latin typeface="Arial"/>
              <a:cs typeface="Arial"/>
            </a:endParaRPr>
          </a:p>
        </p:txBody>
      </p:sp>
      <p:sp>
        <p:nvSpPr>
          <p:cNvPr id="76" name="Rectangle 75">
            <a:extLst>
              <a:ext uri="{FF2B5EF4-FFF2-40B4-BE49-F238E27FC236}">
                <a16:creationId xmlns:a16="http://schemas.microsoft.com/office/drawing/2014/main" id="{DCE4FDDC-87B0-BA48-941A-B2FAFE127532}"/>
              </a:ext>
            </a:extLst>
          </p:cNvPr>
          <p:cNvSpPr/>
          <p:nvPr/>
        </p:nvSpPr>
        <p:spPr bwMode="auto">
          <a:xfrm>
            <a:off x="457200" y="5549900"/>
            <a:ext cx="11074400" cy="482600"/>
          </a:xfrm>
          <a:prstGeom prst="rect">
            <a:avLst/>
          </a:prstGeom>
          <a:solidFill>
            <a:srgbClr val="E7EDF7"/>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7" name="Rectangle 76">
            <a:extLst>
              <a:ext uri="{FF2B5EF4-FFF2-40B4-BE49-F238E27FC236}">
                <a16:creationId xmlns:a16="http://schemas.microsoft.com/office/drawing/2014/main" id="{7B78E685-005E-EC41-BCC0-29A3A9BDB29D}"/>
              </a:ext>
            </a:extLst>
          </p:cNvPr>
          <p:cNvSpPr/>
          <p:nvPr/>
        </p:nvSpPr>
        <p:spPr bwMode="auto">
          <a:xfrm>
            <a:off x="457200" y="5549900"/>
            <a:ext cx="76200" cy="482600"/>
          </a:xfrm>
          <a:prstGeom prst="rect">
            <a:avLst/>
          </a:prstGeom>
          <a:solidFill>
            <a:srgbClr val="EE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8" name="TextBox 77">
            <a:extLst>
              <a:ext uri="{FF2B5EF4-FFF2-40B4-BE49-F238E27FC236}">
                <a16:creationId xmlns:a16="http://schemas.microsoft.com/office/drawing/2014/main" id="{BE7F86EC-7488-7A4D-997C-EA649F8B51B3}"/>
              </a:ext>
            </a:extLst>
          </p:cNvPr>
          <p:cNvSpPr txBox="1"/>
          <p:nvPr/>
        </p:nvSpPr>
        <p:spPr>
          <a:xfrm>
            <a:off x="685800" y="5549900"/>
            <a:ext cx="10718800" cy="4826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150" b="1">
                <a:solidFill>
                  <a:srgbClr val="08005F"/>
                </a:solidFill>
                <a:latin typeface="Arial"/>
                <a:cs typeface="Arial"/>
              </a:rPr>
              <a:t>AI prepares evidence and first drafts; people decide what is true, what should change, and when the business is ready.</a:t>
            </a:r>
            <a:endParaRPr lang="en-US" sz="1150" b="1" dirty="0">
              <a:solidFill>
                <a:srgbClr val="08005F"/>
              </a:solidFill>
              <a:latin typeface="Arial"/>
              <a:cs typeface="Arial"/>
            </a:endParaRPr>
          </a:p>
        </p:txBody>
      </p:sp>
    </p:spTree>
    <p:custDataLst>
      <p:tags r:id="rId1"/>
    </p:custDataLst>
    <p:extLst>
      <p:ext uri="{BB962C8B-B14F-4D97-AF65-F5344CB8AC3E}">
        <p14:creationId xmlns:p14="http://schemas.microsoft.com/office/powerpoint/2010/main" val="2484531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F895656-A5D1-0775-8EEC-12C85D3C6806}"/>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114A9B7A-B384-E2DD-DA1C-27384A42B27B}"/>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26</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10" name="Title 9">
            <a:extLst>
              <a:ext uri="{FF2B5EF4-FFF2-40B4-BE49-F238E27FC236}">
                <a16:creationId xmlns:a16="http://schemas.microsoft.com/office/drawing/2014/main" id="{50A391D0-F670-BDD3-DCB3-2F2668F3ADC9}"/>
              </a:ext>
            </a:extLst>
          </p:cNvPr>
          <p:cNvSpPr>
            <a:spLocks noGrp="1"/>
          </p:cNvSpPr>
          <p:nvPr>
            <p:ph type="title"/>
          </p:nvPr>
        </p:nvSpPr>
        <p:spPr>
          <a:xfrm>
            <a:off x="460372" y="556953"/>
            <a:ext cx="11266491" cy="1277273"/>
          </a:xfrm>
        </p:spPr>
        <p:txBody>
          <a:bodyPr>
            <a:spAutoFit/>
          </a:bodyPr>
          <a:lstStyle/>
          <a:p>
            <a:r>
              <a:rPr lang="en-US" sz="2400"/>
              <a:t>We build together alongside your teams and can scale up or down with both onshore and near-shore talent, based on your needs.</a:t>
            </a:r>
            <a:br>
              <a:rPr lang="en-US" sz="2400"/>
            </a:br>
            <a:br>
              <a:rPr lang="en-US" sz="1600"/>
            </a:br>
            <a:r>
              <a:rPr lang="en-US" sz="1600" b="0"/>
              <a:t>We slowly step back over time as we enable your teams to </a:t>
            </a:r>
            <a:r>
              <a:rPr lang="en-US" sz="1600">
                <a:solidFill>
                  <a:schemeClr val="accent1"/>
                </a:solidFill>
              </a:rPr>
              <a:t>move forward with and sustain your modernization program.</a:t>
            </a:r>
          </a:p>
        </p:txBody>
      </p:sp>
      <p:sp>
        <p:nvSpPr>
          <p:cNvPr id="12" name="Text Placeholder 11">
            <a:extLst>
              <a:ext uri="{FF2B5EF4-FFF2-40B4-BE49-F238E27FC236}">
                <a16:creationId xmlns:a16="http://schemas.microsoft.com/office/drawing/2014/main" id="{801C9F66-13F7-711E-AA4B-8E8A844DFF64}"/>
              </a:ext>
            </a:extLst>
          </p:cNvPr>
          <p:cNvSpPr>
            <a:spLocks noGrp="1"/>
          </p:cNvSpPr>
          <p:nvPr>
            <p:ph type="body" sz="quarter" idx="19"/>
          </p:nvPr>
        </p:nvSpPr>
        <p:spPr/>
        <p:txBody>
          <a:bodyPr/>
          <a:lstStyle/>
          <a:p>
            <a:r>
              <a:rPr lang="en-US"/>
              <a:t>Software Modernization</a:t>
            </a:r>
          </a:p>
        </p:txBody>
      </p:sp>
      <p:sp>
        <p:nvSpPr>
          <p:cNvPr id="14" name="Freeform 28">
            <a:extLst>
              <a:ext uri="{FF2B5EF4-FFF2-40B4-BE49-F238E27FC236}">
                <a16:creationId xmlns:a16="http://schemas.microsoft.com/office/drawing/2014/main" id="{B8FB1387-D97F-DDEE-FC86-79EF649FA435}"/>
              </a:ext>
            </a:extLst>
          </p:cNvPr>
          <p:cNvSpPr/>
          <p:nvPr/>
        </p:nvSpPr>
        <p:spPr bwMode="auto">
          <a:xfrm>
            <a:off x="5930" y="3011774"/>
            <a:ext cx="11975057" cy="3118091"/>
          </a:xfrm>
          <a:custGeom>
            <a:avLst/>
            <a:gdLst>
              <a:gd name="connsiteX0" fmla="*/ 7024594 w 12186072"/>
              <a:gd name="connsiteY0" fmla="*/ 270 h 3118091"/>
              <a:gd name="connsiteX1" fmla="*/ 8312852 w 12186072"/>
              <a:gd name="connsiteY1" fmla="*/ 132829 h 3118091"/>
              <a:gd name="connsiteX2" fmla="*/ 9297532 w 12186072"/>
              <a:gd name="connsiteY2" fmla="*/ 428491 h 3118091"/>
              <a:gd name="connsiteX3" fmla="*/ 10341494 w 12186072"/>
              <a:gd name="connsiteY3" fmla="*/ 835381 h 3118091"/>
              <a:gd name="connsiteX4" fmla="*/ 10969217 w 12186072"/>
              <a:gd name="connsiteY4" fmla="*/ 1018810 h 3118091"/>
              <a:gd name="connsiteX5" fmla="*/ 11563934 w 12186072"/>
              <a:gd name="connsiteY5" fmla="*/ 1133420 h 3118091"/>
              <a:gd name="connsiteX6" fmla="*/ 12186072 w 12186072"/>
              <a:gd name="connsiteY6" fmla="*/ 1168698 h 3118091"/>
              <a:gd name="connsiteX7" fmla="*/ 12186072 w 12186072"/>
              <a:gd name="connsiteY7" fmla="*/ 3118091 h 3118091"/>
              <a:gd name="connsiteX8" fmla="*/ 0 w 12186072"/>
              <a:gd name="connsiteY8" fmla="*/ 3118091 h 3118091"/>
              <a:gd name="connsiteX9" fmla="*/ 0 w 12186072"/>
              <a:gd name="connsiteY9" fmla="*/ 939114 h 3118091"/>
              <a:gd name="connsiteX10" fmla="*/ 612363 w 12186072"/>
              <a:gd name="connsiteY10" fmla="*/ 946517 h 3118091"/>
              <a:gd name="connsiteX11" fmla="*/ 1759782 w 12186072"/>
              <a:gd name="connsiteY11" fmla="*/ 903653 h 3118091"/>
              <a:gd name="connsiteX12" fmla="*/ 3968807 w 12186072"/>
              <a:gd name="connsiteY12" fmla="*/ 484882 h 3118091"/>
              <a:gd name="connsiteX13" fmla="*/ 5236312 w 12186072"/>
              <a:gd name="connsiteY13" fmla="*/ 184101 h 3118091"/>
              <a:gd name="connsiteX14" fmla="*/ 6587471 w 12186072"/>
              <a:gd name="connsiteY14" fmla="*/ 9629 h 3118091"/>
              <a:gd name="connsiteX15" fmla="*/ 7024594 w 12186072"/>
              <a:gd name="connsiteY15" fmla="*/ 270 h 3118091"/>
              <a:gd name="csX0" fmla="*/ 7024594 w 12186072"/>
              <a:gd name="csY0" fmla="*/ 270 h 3118091"/>
              <a:gd name="csX1" fmla="*/ 8312852 w 12186072"/>
              <a:gd name="csY1" fmla="*/ 132829 h 3118091"/>
              <a:gd name="csX2" fmla="*/ 9297532 w 12186072"/>
              <a:gd name="csY2" fmla="*/ 428491 h 3118091"/>
              <a:gd name="csX3" fmla="*/ 10341494 w 12186072"/>
              <a:gd name="csY3" fmla="*/ 835381 h 3118091"/>
              <a:gd name="csX4" fmla="*/ 10969217 w 12186072"/>
              <a:gd name="csY4" fmla="*/ 1018810 h 3118091"/>
              <a:gd name="csX5" fmla="*/ 11563934 w 12186072"/>
              <a:gd name="csY5" fmla="*/ 1133420 h 3118091"/>
              <a:gd name="csX6" fmla="*/ 12186072 w 12186072"/>
              <a:gd name="csY6" fmla="*/ 1168698 h 3118091"/>
              <a:gd name="csX7" fmla="*/ 12186072 w 12186072"/>
              <a:gd name="csY7" fmla="*/ 3118091 h 3118091"/>
              <a:gd name="csX8" fmla="*/ 0 w 12186072"/>
              <a:gd name="csY8" fmla="*/ 3118091 h 3118091"/>
              <a:gd name="csX9" fmla="*/ 211015 w 12186072"/>
              <a:gd name="csY9" fmla="*/ 939114 h 3118091"/>
              <a:gd name="csX10" fmla="*/ 612363 w 12186072"/>
              <a:gd name="csY10" fmla="*/ 946517 h 3118091"/>
              <a:gd name="csX11" fmla="*/ 1759782 w 12186072"/>
              <a:gd name="csY11" fmla="*/ 903653 h 3118091"/>
              <a:gd name="csX12" fmla="*/ 3968807 w 12186072"/>
              <a:gd name="csY12" fmla="*/ 484882 h 3118091"/>
              <a:gd name="csX13" fmla="*/ 5236312 w 12186072"/>
              <a:gd name="csY13" fmla="*/ 184101 h 3118091"/>
              <a:gd name="csX14" fmla="*/ 6587471 w 12186072"/>
              <a:gd name="csY14" fmla="*/ 9629 h 3118091"/>
              <a:gd name="csX15" fmla="*/ 7024594 w 12186072"/>
              <a:gd name="csY15" fmla="*/ 270 h 3118091"/>
              <a:gd name="csX0" fmla="*/ 7024594 w 12186072"/>
              <a:gd name="csY0" fmla="*/ 270 h 3118091"/>
              <a:gd name="csX1" fmla="*/ 8312852 w 12186072"/>
              <a:gd name="csY1" fmla="*/ 132829 h 3118091"/>
              <a:gd name="csX2" fmla="*/ 9297532 w 12186072"/>
              <a:gd name="csY2" fmla="*/ 428491 h 3118091"/>
              <a:gd name="csX3" fmla="*/ 10341494 w 12186072"/>
              <a:gd name="csY3" fmla="*/ 835381 h 3118091"/>
              <a:gd name="csX4" fmla="*/ 10969217 w 12186072"/>
              <a:gd name="csY4" fmla="*/ 1018810 h 3118091"/>
              <a:gd name="csX5" fmla="*/ 11563934 w 12186072"/>
              <a:gd name="csY5" fmla="*/ 1133420 h 3118091"/>
              <a:gd name="csX6" fmla="*/ 12186072 w 12186072"/>
              <a:gd name="csY6" fmla="*/ 1168698 h 3118091"/>
              <a:gd name="csX7" fmla="*/ 12186072 w 12186072"/>
              <a:gd name="csY7" fmla="*/ 3118091 h 3118091"/>
              <a:gd name="csX8" fmla="*/ 0 w 12186072"/>
              <a:gd name="csY8" fmla="*/ 3118091 h 3118091"/>
              <a:gd name="csX9" fmla="*/ 211015 w 12186072"/>
              <a:gd name="csY9" fmla="*/ 939114 h 3118091"/>
              <a:gd name="csX10" fmla="*/ 612363 w 12186072"/>
              <a:gd name="csY10" fmla="*/ 946517 h 3118091"/>
              <a:gd name="csX11" fmla="*/ 1749734 w 12186072"/>
              <a:gd name="csY11" fmla="*/ 943846 h 3118091"/>
              <a:gd name="csX12" fmla="*/ 3968807 w 12186072"/>
              <a:gd name="csY12" fmla="*/ 484882 h 3118091"/>
              <a:gd name="csX13" fmla="*/ 5236312 w 12186072"/>
              <a:gd name="csY13" fmla="*/ 184101 h 3118091"/>
              <a:gd name="csX14" fmla="*/ 6587471 w 12186072"/>
              <a:gd name="csY14" fmla="*/ 9629 h 3118091"/>
              <a:gd name="csX15" fmla="*/ 7024594 w 12186072"/>
              <a:gd name="csY15" fmla="*/ 270 h 3118091"/>
              <a:gd name="csX0" fmla="*/ 6813579 w 11975057"/>
              <a:gd name="csY0" fmla="*/ 270 h 3118091"/>
              <a:gd name="csX1" fmla="*/ 8101837 w 11975057"/>
              <a:gd name="csY1" fmla="*/ 132829 h 3118091"/>
              <a:gd name="csX2" fmla="*/ 9086517 w 11975057"/>
              <a:gd name="csY2" fmla="*/ 428491 h 3118091"/>
              <a:gd name="csX3" fmla="*/ 10130479 w 11975057"/>
              <a:gd name="csY3" fmla="*/ 835381 h 3118091"/>
              <a:gd name="csX4" fmla="*/ 10758202 w 11975057"/>
              <a:gd name="csY4" fmla="*/ 1018810 h 3118091"/>
              <a:gd name="csX5" fmla="*/ 11352919 w 11975057"/>
              <a:gd name="csY5" fmla="*/ 1133420 h 3118091"/>
              <a:gd name="csX6" fmla="*/ 11975057 w 11975057"/>
              <a:gd name="csY6" fmla="*/ 1168698 h 3118091"/>
              <a:gd name="csX7" fmla="*/ 11975057 w 11975057"/>
              <a:gd name="csY7" fmla="*/ 3118091 h 3118091"/>
              <a:gd name="csX8" fmla="*/ 1 w 11975057"/>
              <a:gd name="csY8" fmla="*/ 3118091 h 3118091"/>
              <a:gd name="csX9" fmla="*/ 0 w 11975057"/>
              <a:gd name="csY9" fmla="*/ 939114 h 3118091"/>
              <a:gd name="csX10" fmla="*/ 401348 w 11975057"/>
              <a:gd name="csY10" fmla="*/ 946517 h 3118091"/>
              <a:gd name="csX11" fmla="*/ 1538719 w 11975057"/>
              <a:gd name="csY11" fmla="*/ 943846 h 3118091"/>
              <a:gd name="csX12" fmla="*/ 3757792 w 11975057"/>
              <a:gd name="csY12" fmla="*/ 484882 h 3118091"/>
              <a:gd name="csX13" fmla="*/ 5025297 w 11975057"/>
              <a:gd name="csY13" fmla="*/ 184101 h 3118091"/>
              <a:gd name="csX14" fmla="*/ 6376456 w 11975057"/>
              <a:gd name="csY14" fmla="*/ 9629 h 3118091"/>
              <a:gd name="csX15" fmla="*/ 6813579 w 11975057"/>
              <a:gd name="csY15" fmla="*/ 270 h 3118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1975057" h="3118091">
                <a:moveTo>
                  <a:pt x="6813579" y="270"/>
                </a:moveTo>
                <a:cubicBezTo>
                  <a:pt x="7250389" y="4048"/>
                  <a:pt x="7684645" y="47489"/>
                  <a:pt x="8101837" y="132829"/>
                </a:cubicBezTo>
                <a:cubicBezTo>
                  <a:pt x="8448639" y="203843"/>
                  <a:pt x="8779701" y="303280"/>
                  <a:pt x="9086517" y="428491"/>
                </a:cubicBezTo>
                <a:cubicBezTo>
                  <a:pt x="9419610" y="578836"/>
                  <a:pt x="9767936" y="714740"/>
                  <a:pt x="10130479" y="835381"/>
                </a:cubicBezTo>
                <a:cubicBezTo>
                  <a:pt x="10334854" y="903379"/>
                  <a:pt x="10543164" y="966441"/>
                  <a:pt x="10758202" y="1018810"/>
                </a:cubicBezTo>
                <a:cubicBezTo>
                  <a:pt x="10951914" y="1065879"/>
                  <a:pt x="11150576" y="1104173"/>
                  <a:pt x="11352919" y="1133420"/>
                </a:cubicBezTo>
                <a:lnTo>
                  <a:pt x="11975057" y="1168698"/>
                </a:lnTo>
                <a:lnTo>
                  <a:pt x="11975057" y="3118091"/>
                </a:lnTo>
                <a:lnTo>
                  <a:pt x="1" y="3118091"/>
                </a:lnTo>
                <a:cubicBezTo>
                  <a:pt x="1" y="2391765"/>
                  <a:pt x="0" y="1665440"/>
                  <a:pt x="0" y="939114"/>
                </a:cubicBezTo>
                <a:lnTo>
                  <a:pt x="401348" y="946517"/>
                </a:lnTo>
                <a:cubicBezTo>
                  <a:pt x="785217" y="950996"/>
                  <a:pt x="1158404" y="976839"/>
                  <a:pt x="1538719" y="943846"/>
                </a:cubicBezTo>
                <a:cubicBezTo>
                  <a:pt x="2304807" y="877402"/>
                  <a:pt x="3060125" y="695913"/>
                  <a:pt x="3757792" y="484882"/>
                </a:cubicBezTo>
                <a:cubicBezTo>
                  <a:pt x="4170985" y="367074"/>
                  <a:pt x="4594333" y="266814"/>
                  <a:pt x="5025297" y="184101"/>
                </a:cubicBezTo>
                <a:cubicBezTo>
                  <a:pt x="5467432" y="99379"/>
                  <a:pt x="5917692" y="33117"/>
                  <a:pt x="6376456" y="9629"/>
                </a:cubicBezTo>
                <a:cubicBezTo>
                  <a:pt x="6522089" y="2157"/>
                  <a:pt x="6667976" y="-990"/>
                  <a:pt x="6813579" y="270"/>
                </a:cubicBezTo>
                <a:close/>
              </a:path>
            </a:pathLst>
          </a:custGeom>
          <a:solidFill>
            <a:schemeClr val="accent3"/>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TextBox 14">
            <a:extLst>
              <a:ext uri="{FF2B5EF4-FFF2-40B4-BE49-F238E27FC236}">
                <a16:creationId xmlns:a16="http://schemas.microsoft.com/office/drawing/2014/main" id="{9F60AC95-E6FA-2743-5480-2B80F108F270}"/>
              </a:ext>
            </a:extLst>
          </p:cNvPr>
          <p:cNvSpPr txBox="1"/>
          <p:nvPr/>
        </p:nvSpPr>
        <p:spPr>
          <a:xfrm>
            <a:off x="465364" y="2448334"/>
            <a:ext cx="2837744" cy="95822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spcAft>
                <a:spcPts val="600"/>
              </a:spcAft>
              <a:defRPr sz="1200">
                <a:solidFill>
                  <a:schemeClr val="bg2"/>
                </a:solidFill>
                <a:ea typeface="+mn-lt"/>
                <a:cs typeface="+mn-lt"/>
              </a:defRPr>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70154"/>
                </a:solidFill>
                <a:effectLst/>
                <a:uLnTx/>
                <a:uFillTx/>
                <a:latin typeface="Arial" panose="020B0604020202020204"/>
                <a:cs typeface="Segoe UI"/>
              </a:rPr>
              <a:t>We meet you wherever you’re at. </a:t>
            </a:r>
            <a:r>
              <a:rPr kumimoji="0" lang="en-US" sz="1000" b="0" i="0" u="none" strike="noStrike" kern="1200" cap="none" spc="0" normalizeH="0" baseline="0" noProof="0">
                <a:ln>
                  <a:noFill/>
                </a:ln>
                <a:solidFill>
                  <a:srgbClr val="070154"/>
                </a:solidFill>
                <a:effectLst/>
                <a:uLnTx/>
                <a:uFillTx/>
                <a:latin typeface="Arial" panose="020B0604020202020204"/>
                <a:cs typeface="Segoe UI"/>
              </a:rPr>
              <a:t>We often take a lead role in standing up the modern architecture and technology stack aligned to best practices, leaning on our onshore resources for deeper engagement with your team members.</a:t>
            </a:r>
          </a:p>
        </p:txBody>
      </p:sp>
      <p:sp>
        <p:nvSpPr>
          <p:cNvPr id="16" name="TextBox 15">
            <a:extLst>
              <a:ext uri="{FF2B5EF4-FFF2-40B4-BE49-F238E27FC236}">
                <a16:creationId xmlns:a16="http://schemas.microsoft.com/office/drawing/2014/main" id="{0AE9690A-AD2E-7B9F-42B3-F7B4765E870B}"/>
              </a:ext>
            </a:extLst>
          </p:cNvPr>
          <p:cNvSpPr txBox="1"/>
          <p:nvPr/>
        </p:nvSpPr>
        <p:spPr>
          <a:xfrm>
            <a:off x="3973391" y="2117183"/>
            <a:ext cx="4481131" cy="59724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lt"/>
                <a:cs typeface="Segoe UI"/>
              </a:rPr>
              <a:t>Once the foundation and structure is in place, we begin to step back into a supporting role as your teams take the lead, </a:t>
            </a:r>
            <a:r>
              <a:rPr kumimoji="0" lang="en-US" sz="1000" b="1" i="0" u="none" strike="noStrike" kern="1200" cap="none" spc="0" normalizeH="0" baseline="0" noProof="0">
                <a:ln>
                  <a:noFill/>
                </a:ln>
                <a:solidFill>
                  <a:srgbClr val="070154"/>
                </a:solidFill>
                <a:effectLst/>
                <a:uLnTx/>
                <a:uFillTx/>
                <a:latin typeface="Arial" panose="020B0604020202020204"/>
                <a:ea typeface="+mn-lt"/>
                <a:cs typeface="Segoe UI"/>
              </a:rPr>
              <a:t>often augmenting with </a:t>
            </a:r>
            <a:br>
              <a:rPr kumimoji="0" lang="en-US" sz="1000" b="1" i="0" u="none" strike="noStrike" kern="1200" cap="none" spc="0" normalizeH="0" baseline="0" noProof="0">
                <a:ln>
                  <a:noFill/>
                </a:ln>
                <a:solidFill>
                  <a:srgbClr val="070154"/>
                </a:solidFill>
                <a:effectLst/>
                <a:uLnTx/>
                <a:uFillTx/>
                <a:latin typeface="Arial" panose="020B0604020202020204"/>
                <a:ea typeface="+mn-lt"/>
                <a:cs typeface="Segoe UI"/>
              </a:rPr>
            </a:br>
            <a:r>
              <a:rPr kumimoji="0" lang="en-US" sz="1000" b="1" i="0" u="none" strike="noStrike" kern="1200" cap="none" spc="0" normalizeH="0" baseline="0" noProof="0">
                <a:ln>
                  <a:noFill/>
                </a:ln>
                <a:solidFill>
                  <a:srgbClr val="070154"/>
                </a:solidFill>
                <a:effectLst/>
                <a:uLnTx/>
                <a:uFillTx/>
                <a:latin typeface="Arial" panose="020B0604020202020204"/>
                <a:ea typeface="+mn-lt"/>
                <a:cs typeface="Segoe UI"/>
              </a:rPr>
              <a:t>near-shore resources to scale up and build faster</a:t>
            </a:r>
            <a:r>
              <a:rPr kumimoji="0" lang="en-US" sz="1000" b="0" i="0" u="none" strike="noStrike" kern="1200" cap="none" spc="0" normalizeH="0" baseline="0" noProof="0">
                <a:ln>
                  <a:noFill/>
                </a:ln>
                <a:solidFill>
                  <a:srgbClr val="070154"/>
                </a:solidFill>
                <a:effectLst/>
                <a:uLnTx/>
                <a:uFillTx/>
                <a:latin typeface="Arial" panose="020B0604020202020204"/>
                <a:ea typeface="+mn-lt"/>
                <a:cs typeface="Segoe UI"/>
              </a:rPr>
              <a:t> at an attractive price point while coaching and mentoring your team members on the modern platform.</a:t>
            </a:r>
            <a:endParaRPr kumimoji="0" lang="en-US" sz="1000" b="0"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17" name="TextBox 16">
            <a:extLst>
              <a:ext uri="{FF2B5EF4-FFF2-40B4-BE49-F238E27FC236}">
                <a16:creationId xmlns:a16="http://schemas.microsoft.com/office/drawing/2014/main" id="{3CCCD919-0AA7-4E07-80FC-A7A1BB531662}"/>
              </a:ext>
            </a:extLst>
          </p:cNvPr>
          <p:cNvSpPr txBox="1"/>
          <p:nvPr/>
        </p:nvSpPr>
        <p:spPr>
          <a:xfrm>
            <a:off x="9116974" y="2117183"/>
            <a:ext cx="2667648" cy="7381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lt"/>
                <a:cs typeface="Segoe UI"/>
              </a:rPr>
              <a:t>As your team gains a level of comfort and assurance in maintaining the effort, </a:t>
            </a:r>
            <a:r>
              <a:rPr kumimoji="0" lang="en-US" sz="1000" b="1" i="0" u="none" strike="noStrike" kern="1200" cap="none" spc="0" normalizeH="0" baseline="0" noProof="0">
                <a:ln>
                  <a:noFill/>
                </a:ln>
                <a:solidFill>
                  <a:srgbClr val="070154"/>
                </a:solidFill>
                <a:effectLst/>
                <a:uLnTx/>
                <a:uFillTx/>
                <a:latin typeface="Arial" panose="020B0604020202020204"/>
                <a:ea typeface="+mn-lt"/>
                <a:cs typeface="Segoe UI"/>
              </a:rPr>
              <a:t>we fade into the background</a:t>
            </a:r>
            <a:r>
              <a:rPr kumimoji="0" lang="en-US" sz="1000" b="0" i="0" u="none" strike="noStrike" kern="1200" cap="none" spc="0" normalizeH="0" baseline="0" noProof="0">
                <a:ln>
                  <a:noFill/>
                </a:ln>
                <a:solidFill>
                  <a:srgbClr val="070154"/>
                </a:solidFill>
                <a:effectLst/>
                <a:uLnTx/>
                <a:uFillTx/>
                <a:latin typeface="Arial" panose="020B0604020202020204"/>
                <a:ea typeface="+mn-lt"/>
                <a:cs typeface="Segoe UI"/>
              </a:rPr>
              <a:t>, often moving on to new problems to solve within the organization.</a:t>
            </a:r>
          </a:p>
        </p:txBody>
      </p:sp>
      <p:sp>
        <p:nvSpPr>
          <p:cNvPr id="18" name="Google Shape;145;p33">
            <a:extLst>
              <a:ext uri="{FF2B5EF4-FFF2-40B4-BE49-F238E27FC236}">
                <a16:creationId xmlns:a16="http://schemas.microsoft.com/office/drawing/2014/main" id="{A321F1EB-E54F-C45C-2912-C8EC01564B55}"/>
              </a:ext>
            </a:extLst>
          </p:cNvPr>
          <p:cNvSpPr/>
          <p:nvPr/>
        </p:nvSpPr>
        <p:spPr>
          <a:xfrm>
            <a:off x="513469" y="2983791"/>
            <a:ext cx="10824120" cy="1186640"/>
          </a:xfrm>
          <a:custGeom>
            <a:avLst/>
            <a:gdLst/>
            <a:ahLst/>
            <a:cxnLst/>
            <a:rect l="l" t="t" r="r" b="b"/>
            <a:pathLst>
              <a:path w="21600" h="21221" extrusionOk="0">
                <a:moveTo>
                  <a:pt x="0" y="17722"/>
                </a:moveTo>
                <a:cubicBezTo>
                  <a:pt x="757" y="17805"/>
                  <a:pt x="1513" y="17537"/>
                  <a:pt x="2263" y="16920"/>
                </a:cubicBezTo>
                <a:cubicBezTo>
                  <a:pt x="3774" y="15676"/>
                  <a:pt x="5244" y="13031"/>
                  <a:pt x="6620" y="9079"/>
                </a:cubicBezTo>
                <a:cubicBezTo>
                  <a:pt x="7435" y="6874"/>
                  <a:pt x="8270" y="4996"/>
                  <a:pt x="9120" y="3448"/>
                </a:cubicBezTo>
                <a:cubicBezTo>
                  <a:pt x="9992" y="1861"/>
                  <a:pt x="10880" y="621"/>
                  <a:pt x="11785" y="181"/>
                </a:cubicBezTo>
                <a:cubicBezTo>
                  <a:pt x="12934" y="-379"/>
                  <a:pt x="14091" y="357"/>
                  <a:pt x="15188" y="2487"/>
                </a:cubicBezTo>
                <a:cubicBezTo>
                  <a:pt x="15872" y="3817"/>
                  <a:pt x="16525" y="5678"/>
                  <a:pt x="17130" y="8022"/>
                </a:cubicBezTo>
                <a:cubicBezTo>
                  <a:pt x="17787" y="10837"/>
                  <a:pt x="18474" y="13382"/>
                  <a:pt x="19189" y="15640"/>
                </a:cubicBezTo>
                <a:cubicBezTo>
                  <a:pt x="19592" y="16913"/>
                  <a:pt x="20003" y="18094"/>
                  <a:pt x="20427" y="19075"/>
                </a:cubicBezTo>
                <a:cubicBezTo>
                  <a:pt x="20809" y="19956"/>
                  <a:pt x="21201" y="20674"/>
                  <a:pt x="21600" y="21221"/>
                </a:cubicBezTo>
              </a:path>
            </a:pathLst>
          </a:custGeom>
          <a:noFill/>
          <a:ln w="41275" cap="flat" cmpd="sng">
            <a:solidFill>
              <a:schemeClr val="tx1"/>
            </a:solidFill>
            <a:prstDash val="dash"/>
            <a:miter lim="400000"/>
            <a:headEnd type="none" w="sm" len="sm"/>
            <a:tailEnd type="none" w="sm" len="sm"/>
          </a:ln>
        </p:spPr>
        <p:txBody>
          <a:bodyPr spcFirstLastPara="1" wrap="square" lIns="26800" tIns="26800" rIns="26800" bIns="26800" anchor="ctr" anchorCtr="0">
            <a:noAutofit/>
          </a:bodyPr>
          <a:lstStyle/>
          <a:p>
            <a:pPr marL="0" marR="0" lvl="0" indent="0" algn="ctr" defTabSz="914400" rtl="0" eaLnBrk="1" fontAlgn="auto" latinLnBrk="0" hangingPunct="1">
              <a:lnSpc>
                <a:spcPct val="100000"/>
              </a:lnSpc>
              <a:spcBef>
                <a:spcPts val="0"/>
              </a:spcBef>
              <a:spcAft>
                <a:spcPts val="0"/>
              </a:spcAft>
              <a:buClrTx/>
              <a:buSzPts val="1100"/>
              <a:buFontTx/>
              <a:buNone/>
              <a:tabLst/>
              <a:defRPr/>
            </a:pPr>
            <a:endParaRPr kumimoji="0" sz="1467" b="0" i="0" u="none" strike="noStrike" kern="1200" cap="none" spc="0" normalizeH="0" baseline="0" noProof="0">
              <a:ln>
                <a:noFill/>
              </a:ln>
              <a:solidFill>
                <a:srgbClr val="4E5766"/>
              </a:solidFill>
              <a:effectLst/>
              <a:uLnTx/>
              <a:uFillTx/>
              <a:latin typeface="Arial" panose="020B0604020202020204"/>
              <a:ea typeface="Helvetica Neue Light"/>
              <a:cs typeface="Helvetica Neue Light"/>
              <a:sym typeface="Helvetica Neue Light"/>
            </a:endParaRPr>
          </a:p>
        </p:txBody>
      </p:sp>
      <p:sp>
        <p:nvSpPr>
          <p:cNvPr id="31" name="Graphic 18">
            <a:extLst>
              <a:ext uri="{FF2B5EF4-FFF2-40B4-BE49-F238E27FC236}">
                <a16:creationId xmlns:a16="http://schemas.microsoft.com/office/drawing/2014/main" id="{CEA446BF-DE2E-E7E4-2ECB-A5EFDD192E79}"/>
              </a:ext>
            </a:extLst>
          </p:cNvPr>
          <p:cNvSpPr/>
          <p:nvPr/>
        </p:nvSpPr>
        <p:spPr>
          <a:xfrm>
            <a:off x="1" y="2928176"/>
            <a:ext cx="12197293" cy="3234561"/>
          </a:xfrm>
          <a:custGeom>
            <a:avLst/>
            <a:gdLst>
              <a:gd name="csX0" fmla="*/ 631103 w 12197293"/>
              <a:gd name="csY0" fmla="*/ 1437818 h 3224511"/>
              <a:gd name="csX1" fmla="*/ 4339450 w 12197293"/>
              <a:gd name="csY1" fmla="*/ 970229 h 3224511"/>
              <a:gd name="csX2" fmla="*/ 4554561 w 12197293"/>
              <a:gd name="csY2" fmla="*/ 905354 h 3224511"/>
              <a:gd name="csX3" fmla="*/ 6595258 w 12197293"/>
              <a:gd name="csY3" fmla="*/ 429632 h 3224511"/>
              <a:gd name="csX4" fmla="*/ 8993371 w 12197293"/>
              <a:gd name="csY4" fmla="*/ 338031 h 3224511"/>
              <a:gd name="csX5" fmla="*/ 9233386 w 12197293"/>
              <a:gd name="csY5" fmla="*/ 340161 h 3224511"/>
              <a:gd name="csX6" fmla="*/ 11566191 w 12197293"/>
              <a:gd name="csY6" fmla="*/ 97604 h 3224511"/>
              <a:gd name="csX7" fmla="*/ 12197293 w 12197293"/>
              <a:gd name="csY7" fmla="*/ 0 h 3224511"/>
              <a:gd name="csX8" fmla="*/ 12197293 w 12197293"/>
              <a:gd name="csY8" fmla="*/ 3172418 h 3224511"/>
              <a:gd name="csX9" fmla="*/ 0 w 12197293"/>
              <a:gd name="csY9" fmla="*/ 3224512 h 3224511"/>
              <a:gd name="csX10" fmla="*/ 0 w 12197293"/>
              <a:gd name="csY10" fmla="*/ 1426973 h 3224511"/>
              <a:gd name="csX11" fmla="*/ 631103 w 12197293"/>
              <a:gd name="csY11" fmla="*/ 1437818 h 3224511"/>
              <a:gd name="csX0" fmla="*/ 631103 w 12398260"/>
              <a:gd name="csY0" fmla="*/ 1488060 h 3274754"/>
              <a:gd name="csX1" fmla="*/ 4339450 w 12398260"/>
              <a:gd name="csY1" fmla="*/ 1020471 h 3274754"/>
              <a:gd name="csX2" fmla="*/ 4554561 w 12398260"/>
              <a:gd name="csY2" fmla="*/ 955596 h 3274754"/>
              <a:gd name="csX3" fmla="*/ 6595258 w 12398260"/>
              <a:gd name="csY3" fmla="*/ 479874 h 3274754"/>
              <a:gd name="csX4" fmla="*/ 8993371 w 12398260"/>
              <a:gd name="csY4" fmla="*/ 388273 h 3274754"/>
              <a:gd name="csX5" fmla="*/ 9233386 w 12398260"/>
              <a:gd name="csY5" fmla="*/ 390403 h 3274754"/>
              <a:gd name="csX6" fmla="*/ 11566191 w 12398260"/>
              <a:gd name="csY6" fmla="*/ 147846 h 3274754"/>
              <a:gd name="csX7" fmla="*/ 12398260 w 12398260"/>
              <a:gd name="csY7" fmla="*/ 0 h 3274754"/>
              <a:gd name="csX8" fmla="*/ 12197293 w 12398260"/>
              <a:gd name="csY8" fmla="*/ 3222660 h 3274754"/>
              <a:gd name="csX9" fmla="*/ 0 w 12398260"/>
              <a:gd name="csY9" fmla="*/ 3274754 h 3274754"/>
              <a:gd name="csX10" fmla="*/ 0 w 12398260"/>
              <a:gd name="csY10" fmla="*/ 1477215 h 3274754"/>
              <a:gd name="csX11" fmla="*/ 631103 w 12398260"/>
              <a:gd name="csY11" fmla="*/ 1488060 h 3274754"/>
              <a:gd name="csX0" fmla="*/ 631103 w 12398260"/>
              <a:gd name="csY0" fmla="*/ 1488060 h 3274754"/>
              <a:gd name="csX1" fmla="*/ 4339450 w 12398260"/>
              <a:gd name="csY1" fmla="*/ 1020471 h 3274754"/>
              <a:gd name="csX2" fmla="*/ 4554561 w 12398260"/>
              <a:gd name="csY2" fmla="*/ 955596 h 3274754"/>
              <a:gd name="csX3" fmla="*/ 6595258 w 12398260"/>
              <a:gd name="csY3" fmla="*/ 479874 h 3274754"/>
              <a:gd name="csX4" fmla="*/ 8993371 w 12398260"/>
              <a:gd name="csY4" fmla="*/ 388273 h 3274754"/>
              <a:gd name="csX5" fmla="*/ 9233386 w 12398260"/>
              <a:gd name="csY5" fmla="*/ 390403 h 3274754"/>
              <a:gd name="csX6" fmla="*/ 11566191 w 12398260"/>
              <a:gd name="csY6" fmla="*/ 147846 h 3274754"/>
              <a:gd name="csX7" fmla="*/ 12398260 w 12398260"/>
              <a:gd name="csY7" fmla="*/ 0 h 3274754"/>
              <a:gd name="csX8" fmla="*/ 12197293 w 12398260"/>
              <a:gd name="csY8" fmla="*/ 3222660 h 3274754"/>
              <a:gd name="csX9" fmla="*/ 0 w 12398260"/>
              <a:gd name="csY9" fmla="*/ 3274754 h 3274754"/>
              <a:gd name="csX10" fmla="*/ 0 w 12398260"/>
              <a:gd name="csY10" fmla="*/ 1477215 h 3274754"/>
              <a:gd name="csX11" fmla="*/ 631103 w 12398260"/>
              <a:gd name="csY11" fmla="*/ 1488060 h 3274754"/>
              <a:gd name="csX0" fmla="*/ 631103 w 12398260"/>
              <a:gd name="csY0" fmla="*/ 1488060 h 3274754"/>
              <a:gd name="csX1" fmla="*/ 4339450 w 12398260"/>
              <a:gd name="csY1" fmla="*/ 1020471 h 3274754"/>
              <a:gd name="csX2" fmla="*/ 4554561 w 12398260"/>
              <a:gd name="csY2" fmla="*/ 955596 h 3274754"/>
              <a:gd name="csX3" fmla="*/ 6595258 w 12398260"/>
              <a:gd name="csY3" fmla="*/ 479874 h 3274754"/>
              <a:gd name="csX4" fmla="*/ 8993371 w 12398260"/>
              <a:gd name="csY4" fmla="*/ 388273 h 3274754"/>
              <a:gd name="csX5" fmla="*/ 9263531 w 12398260"/>
              <a:gd name="csY5" fmla="*/ 420548 h 3274754"/>
              <a:gd name="csX6" fmla="*/ 11566191 w 12398260"/>
              <a:gd name="csY6" fmla="*/ 147846 h 3274754"/>
              <a:gd name="csX7" fmla="*/ 12398260 w 12398260"/>
              <a:gd name="csY7" fmla="*/ 0 h 3274754"/>
              <a:gd name="csX8" fmla="*/ 12197293 w 12398260"/>
              <a:gd name="csY8" fmla="*/ 3222660 h 3274754"/>
              <a:gd name="csX9" fmla="*/ 0 w 12398260"/>
              <a:gd name="csY9" fmla="*/ 3274754 h 3274754"/>
              <a:gd name="csX10" fmla="*/ 0 w 12398260"/>
              <a:gd name="csY10" fmla="*/ 1477215 h 3274754"/>
              <a:gd name="csX11" fmla="*/ 631103 w 12398260"/>
              <a:gd name="csY11" fmla="*/ 1488060 h 3274754"/>
              <a:gd name="csX0" fmla="*/ 631103 w 12398260"/>
              <a:gd name="csY0" fmla="*/ 1488060 h 3274754"/>
              <a:gd name="csX1" fmla="*/ 4339450 w 12398260"/>
              <a:gd name="csY1" fmla="*/ 1020471 h 3274754"/>
              <a:gd name="csX2" fmla="*/ 4554561 w 12398260"/>
              <a:gd name="csY2" fmla="*/ 955596 h 3274754"/>
              <a:gd name="csX3" fmla="*/ 6595258 w 12398260"/>
              <a:gd name="csY3" fmla="*/ 479874 h 3274754"/>
              <a:gd name="csX4" fmla="*/ 8993371 w 12398260"/>
              <a:gd name="csY4" fmla="*/ 388273 h 3274754"/>
              <a:gd name="csX5" fmla="*/ 9263531 w 12398260"/>
              <a:gd name="csY5" fmla="*/ 420548 h 3274754"/>
              <a:gd name="csX6" fmla="*/ 11566191 w 12398260"/>
              <a:gd name="csY6" fmla="*/ 147846 h 3274754"/>
              <a:gd name="csX7" fmla="*/ 12398260 w 12398260"/>
              <a:gd name="csY7" fmla="*/ 0 h 3274754"/>
              <a:gd name="csX8" fmla="*/ 12197293 w 12398260"/>
              <a:gd name="csY8" fmla="*/ 3222660 h 3274754"/>
              <a:gd name="csX9" fmla="*/ 0 w 12398260"/>
              <a:gd name="csY9" fmla="*/ 3274754 h 3274754"/>
              <a:gd name="csX10" fmla="*/ 0 w 12398260"/>
              <a:gd name="csY10" fmla="*/ 1477215 h 3274754"/>
              <a:gd name="csX11" fmla="*/ 631103 w 12398260"/>
              <a:gd name="csY11" fmla="*/ 1488060 h 3274754"/>
              <a:gd name="csX0" fmla="*/ 631103 w 12398260"/>
              <a:gd name="csY0" fmla="*/ 1488060 h 3274754"/>
              <a:gd name="csX1" fmla="*/ 4339450 w 12398260"/>
              <a:gd name="csY1" fmla="*/ 1020471 h 3274754"/>
              <a:gd name="csX2" fmla="*/ 4554561 w 12398260"/>
              <a:gd name="csY2" fmla="*/ 955596 h 3274754"/>
              <a:gd name="csX3" fmla="*/ 6595258 w 12398260"/>
              <a:gd name="csY3" fmla="*/ 479874 h 3274754"/>
              <a:gd name="csX4" fmla="*/ 8993371 w 12398260"/>
              <a:gd name="csY4" fmla="*/ 388273 h 3274754"/>
              <a:gd name="csX5" fmla="*/ 9263531 w 12398260"/>
              <a:gd name="csY5" fmla="*/ 420548 h 3274754"/>
              <a:gd name="csX6" fmla="*/ 11546094 w 12398260"/>
              <a:gd name="csY6" fmla="*/ 177991 h 3274754"/>
              <a:gd name="csX7" fmla="*/ 12398260 w 12398260"/>
              <a:gd name="csY7" fmla="*/ 0 h 3274754"/>
              <a:gd name="csX8" fmla="*/ 12197293 w 12398260"/>
              <a:gd name="csY8" fmla="*/ 3222660 h 3274754"/>
              <a:gd name="csX9" fmla="*/ 0 w 12398260"/>
              <a:gd name="csY9" fmla="*/ 3274754 h 3274754"/>
              <a:gd name="csX10" fmla="*/ 0 w 12398260"/>
              <a:gd name="csY10" fmla="*/ 1477215 h 3274754"/>
              <a:gd name="csX11" fmla="*/ 631103 w 12398260"/>
              <a:gd name="csY11" fmla="*/ 1488060 h 3274754"/>
              <a:gd name="csX0" fmla="*/ 631103 w 12398260"/>
              <a:gd name="csY0" fmla="*/ 1488060 h 3274754"/>
              <a:gd name="csX1" fmla="*/ 4339450 w 12398260"/>
              <a:gd name="csY1" fmla="*/ 1020471 h 3274754"/>
              <a:gd name="csX2" fmla="*/ 4554561 w 12398260"/>
              <a:gd name="csY2" fmla="*/ 955596 h 3274754"/>
              <a:gd name="csX3" fmla="*/ 6595258 w 12398260"/>
              <a:gd name="csY3" fmla="*/ 479874 h 3274754"/>
              <a:gd name="csX4" fmla="*/ 8993371 w 12398260"/>
              <a:gd name="csY4" fmla="*/ 388273 h 3274754"/>
              <a:gd name="csX5" fmla="*/ 10147786 w 12398260"/>
              <a:gd name="csY5" fmla="*/ 370306 h 3274754"/>
              <a:gd name="csX6" fmla="*/ 11546094 w 12398260"/>
              <a:gd name="csY6" fmla="*/ 177991 h 3274754"/>
              <a:gd name="csX7" fmla="*/ 12398260 w 12398260"/>
              <a:gd name="csY7" fmla="*/ 0 h 3274754"/>
              <a:gd name="csX8" fmla="*/ 12197293 w 12398260"/>
              <a:gd name="csY8" fmla="*/ 3222660 h 3274754"/>
              <a:gd name="csX9" fmla="*/ 0 w 12398260"/>
              <a:gd name="csY9" fmla="*/ 3274754 h 3274754"/>
              <a:gd name="csX10" fmla="*/ 0 w 12398260"/>
              <a:gd name="csY10" fmla="*/ 1477215 h 3274754"/>
              <a:gd name="csX11" fmla="*/ 631103 w 12398260"/>
              <a:gd name="csY11" fmla="*/ 1488060 h 3274754"/>
              <a:gd name="csX0" fmla="*/ 631103 w 12398260"/>
              <a:gd name="csY0" fmla="*/ 1488060 h 3274754"/>
              <a:gd name="csX1" fmla="*/ 4339450 w 12398260"/>
              <a:gd name="csY1" fmla="*/ 1020471 h 3274754"/>
              <a:gd name="csX2" fmla="*/ 4554561 w 12398260"/>
              <a:gd name="csY2" fmla="*/ 955596 h 3274754"/>
              <a:gd name="csX3" fmla="*/ 6595258 w 12398260"/>
              <a:gd name="csY3" fmla="*/ 479874 h 3274754"/>
              <a:gd name="csX4" fmla="*/ 8993371 w 12398260"/>
              <a:gd name="csY4" fmla="*/ 388273 h 3274754"/>
              <a:gd name="csX5" fmla="*/ 10147786 w 12398260"/>
              <a:gd name="csY5" fmla="*/ 370306 h 3274754"/>
              <a:gd name="csX6" fmla="*/ 11546094 w 12398260"/>
              <a:gd name="csY6" fmla="*/ 177991 h 3274754"/>
              <a:gd name="csX7" fmla="*/ 12398260 w 12398260"/>
              <a:gd name="csY7" fmla="*/ 0 h 3274754"/>
              <a:gd name="csX8" fmla="*/ 12197293 w 12398260"/>
              <a:gd name="csY8" fmla="*/ 3222660 h 3274754"/>
              <a:gd name="csX9" fmla="*/ 0 w 12398260"/>
              <a:gd name="csY9" fmla="*/ 3274754 h 3274754"/>
              <a:gd name="csX10" fmla="*/ 0 w 12398260"/>
              <a:gd name="csY10" fmla="*/ 1477215 h 3274754"/>
              <a:gd name="csX11" fmla="*/ 631103 w 12398260"/>
              <a:gd name="csY11" fmla="*/ 1488060 h 3274754"/>
              <a:gd name="csX0" fmla="*/ 631103 w 12398260"/>
              <a:gd name="csY0" fmla="*/ 1488060 h 3274754"/>
              <a:gd name="csX1" fmla="*/ 4339450 w 12398260"/>
              <a:gd name="csY1" fmla="*/ 1020471 h 3274754"/>
              <a:gd name="csX2" fmla="*/ 4554561 w 12398260"/>
              <a:gd name="csY2" fmla="*/ 955596 h 3274754"/>
              <a:gd name="csX3" fmla="*/ 6595258 w 12398260"/>
              <a:gd name="csY3" fmla="*/ 479874 h 3274754"/>
              <a:gd name="csX4" fmla="*/ 8993371 w 12398260"/>
              <a:gd name="csY4" fmla="*/ 388273 h 3274754"/>
              <a:gd name="csX5" fmla="*/ 10147786 w 12398260"/>
              <a:gd name="csY5" fmla="*/ 370306 h 3274754"/>
              <a:gd name="csX6" fmla="*/ 11546094 w 12398260"/>
              <a:gd name="csY6" fmla="*/ 177991 h 3274754"/>
              <a:gd name="csX7" fmla="*/ 12398260 w 12398260"/>
              <a:gd name="csY7" fmla="*/ 0 h 3274754"/>
              <a:gd name="csX8" fmla="*/ 12197293 w 12398260"/>
              <a:gd name="csY8" fmla="*/ 3222660 h 3274754"/>
              <a:gd name="csX9" fmla="*/ 0 w 12398260"/>
              <a:gd name="csY9" fmla="*/ 3274754 h 3274754"/>
              <a:gd name="csX10" fmla="*/ 0 w 12398260"/>
              <a:gd name="csY10" fmla="*/ 1477215 h 3274754"/>
              <a:gd name="csX11" fmla="*/ 631103 w 12398260"/>
              <a:gd name="csY11" fmla="*/ 1488060 h 3274754"/>
              <a:gd name="csX0" fmla="*/ 631103 w 12398260"/>
              <a:gd name="csY0" fmla="*/ 1488060 h 3274754"/>
              <a:gd name="csX1" fmla="*/ 4339450 w 12398260"/>
              <a:gd name="csY1" fmla="*/ 1020471 h 3274754"/>
              <a:gd name="csX2" fmla="*/ 4554561 w 12398260"/>
              <a:gd name="csY2" fmla="*/ 955596 h 3274754"/>
              <a:gd name="csX3" fmla="*/ 6595258 w 12398260"/>
              <a:gd name="csY3" fmla="*/ 479874 h 3274754"/>
              <a:gd name="csX4" fmla="*/ 8993371 w 12398260"/>
              <a:gd name="csY4" fmla="*/ 388273 h 3274754"/>
              <a:gd name="csX5" fmla="*/ 10147786 w 12398260"/>
              <a:gd name="csY5" fmla="*/ 370306 h 3274754"/>
              <a:gd name="csX6" fmla="*/ 11546094 w 12398260"/>
              <a:gd name="csY6" fmla="*/ 177991 h 3274754"/>
              <a:gd name="csX7" fmla="*/ 12398260 w 12398260"/>
              <a:gd name="csY7" fmla="*/ 0 h 3274754"/>
              <a:gd name="csX8" fmla="*/ 12388212 w 12398260"/>
              <a:gd name="csY8" fmla="*/ 3222660 h 3274754"/>
              <a:gd name="csX9" fmla="*/ 0 w 12398260"/>
              <a:gd name="csY9" fmla="*/ 3274754 h 3274754"/>
              <a:gd name="csX10" fmla="*/ 0 w 12398260"/>
              <a:gd name="csY10" fmla="*/ 1477215 h 3274754"/>
              <a:gd name="csX11" fmla="*/ 631103 w 12398260"/>
              <a:gd name="csY11" fmla="*/ 1488060 h 3274754"/>
              <a:gd name="csX0" fmla="*/ 631103 w 12398260"/>
              <a:gd name="csY0" fmla="*/ 1488060 h 3264706"/>
              <a:gd name="csX1" fmla="*/ 4339450 w 12398260"/>
              <a:gd name="csY1" fmla="*/ 1020471 h 3264706"/>
              <a:gd name="csX2" fmla="*/ 4554561 w 12398260"/>
              <a:gd name="csY2" fmla="*/ 955596 h 3264706"/>
              <a:gd name="csX3" fmla="*/ 6595258 w 12398260"/>
              <a:gd name="csY3" fmla="*/ 479874 h 3264706"/>
              <a:gd name="csX4" fmla="*/ 8993371 w 12398260"/>
              <a:gd name="csY4" fmla="*/ 388273 h 3264706"/>
              <a:gd name="csX5" fmla="*/ 10147786 w 12398260"/>
              <a:gd name="csY5" fmla="*/ 370306 h 3264706"/>
              <a:gd name="csX6" fmla="*/ 11546094 w 12398260"/>
              <a:gd name="csY6" fmla="*/ 177991 h 3264706"/>
              <a:gd name="csX7" fmla="*/ 12398260 w 12398260"/>
              <a:gd name="csY7" fmla="*/ 0 h 3264706"/>
              <a:gd name="csX8" fmla="*/ 12388212 w 12398260"/>
              <a:gd name="csY8" fmla="*/ 3222660 h 3264706"/>
              <a:gd name="csX9" fmla="*/ 200967 w 12398260"/>
              <a:gd name="csY9" fmla="*/ 3264706 h 3264706"/>
              <a:gd name="csX10" fmla="*/ 0 w 12398260"/>
              <a:gd name="csY10" fmla="*/ 1477215 h 3264706"/>
              <a:gd name="csX11" fmla="*/ 631103 w 12398260"/>
              <a:gd name="csY11" fmla="*/ 1488060 h 3264706"/>
              <a:gd name="csX0" fmla="*/ 631103 w 12398260"/>
              <a:gd name="csY0" fmla="*/ 1488060 h 3234561"/>
              <a:gd name="csX1" fmla="*/ 4339450 w 12398260"/>
              <a:gd name="csY1" fmla="*/ 1020471 h 3234561"/>
              <a:gd name="csX2" fmla="*/ 4554561 w 12398260"/>
              <a:gd name="csY2" fmla="*/ 955596 h 3234561"/>
              <a:gd name="csX3" fmla="*/ 6595258 w 12398260"/>
              <a:gd name="csY3" fmla="*/ 479874 h 3234561"/>
              <a:gd name="csX4" fmla="*/ 8993371 w 12398260"/>
              <a:gd name="csY4" fmla="*/ 388273 h 3234561"/>
              <a:gd name="csX5" fmla="*/ 10147786 w 12398260"/>
              <a:gd name="csY5" fmla="*/ 370306 h 3234561"/>
              <a:gd name="csX6" fmla="*/ 11546094 w 12398260"/>
              <a:gd name="csY6" fmla="*/ 177991 h 3234561"/>
              <a:gd name="csX7" fmla="*/ 12398260 w 12398260"/>
              <a:gd name="csY7" fmla="*/ 0 h 3234561"/>
              <a:gd name="csX8" fmla="*/ 12388212 w 12398260"/>
              <a:gd name="csY8" fmla="*/ 3222660 h 3234561"/>
              <a:gd name="csX9" fmla="*/ 200967 w 12398260"/>
              <a:gd name="csY9" fmla="*/ 3234561 h 3234561"/>
              <a:gd name="csX10" fmla="*/ 0 w 12398260"/>
              <a:gd name="csY10" fmla="*/ 1477215 h 3234561"/>
              <a:gd name="csX11" fmla="*/ 631103 w 12398260"/>
              <a:gd name="csY11" fmla="*/ 1488060 h 3234561"/>
              <a:gd name="csX0" fmla="*/ 430136 w 12197293"/>
              <a:gd name="csY0" fmla="*/ 1488060 h 3234561"/>
              <a:gd name="csX1" fmla="*/ 4138483 w 12197293"/>
              <a:gd name="csY1" fmla="*/ 1020471 h 3234561"/>
              <a:gd name="csX2" fmla="*/ 4353594 w 12197293"/>
              <a:gd name="csY2" fmla="*/ 955596 h 3234561"/>
              <a:gd name="csX3" fmla="*/ 6394291 w 12197293"/>
              <a:gd name="csY3" fmla="*/ 479874 h 3234561"/>
              <a:gd name="csX4" fmla="*/ 8792404 w 12197293"/>
              <a:gd name="csY4" fmla="*/ 388273 h 3234561"/>
              <a:gd name="csX5" fmla="*/ 9946819 w 12197293"/>
              <a:gd name="csY5" fmla="*/ 370306 h 3234561"/>
              <a:gd name="csX6" fmla="*/ 11345127 w 12197293"/>
              <a:gd name="csY6" fmla="*/ 177991 h 3234561"/>
              <a:gd name="csX7" fmla="*/ 12197293 w 12197293"/>
              <a:gd name="csY7" fmla="*/ 0 h 3234561"/>
              <a:gd name="csX8" fmla="*/ 12187245 w 12197293"/>
              <a:gd name="csY8" fmla="*/ 3222660 h 3234561"/>
              <a:gd name="csX9" fmla="*/ 0 w 12197293"/>
              <a:gd name="csY9" fmla="*/ 3234561 h 3234561"/>
              <a:gd name="csX10" fmla="*/ 0 w 12197293"/>
              <a:gd name="csY10" fmla="*/ 1477215 h 3234561"/>
              <a:gd name="csX11" fmla="*/ 430136 w 12197293"/>
              <a:gd name="csY11" fmla="*/ 1488060 h 32345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197293" h="3234561">
                <a:moveTo>
                  <a:pt x="430136" y="1488060"/>
                </a:moveTo>
                <a:cubicBezTo>
                  <a:pt x="1702379" y="1520304"/>
                  <a:pt x="2969539" y="1360633"/>
                  <a:pt x="4138483" y="1020471"/>
                </a:cubicBezTo>
                <a:cubicBezTo>
                  <a:pt x="4210907" y="999459"/>
                  <a:pt x="4282314" y="977867"/>
                  <a:pt x="4353594" y="955596"/>
                </a:cubicBezTo>
                <a:cubicBezTo>
                  <a:pt x="5000071" y="737536"/>
                  <a:pt x="5686063" y="577671"/>
                  <a:pt x="6394291" y="479874"/>
                </a:cubicBezTo>
                <a:cubicBezTo>
                  <a:pt x="7183074" y="370941"/>
                  <a:pt x="7990535" y="340052"/>
                  <a:pt x="8792404" y="388273"/>
                </a:cubicBezTo>
                <a:cubicBezTo>
                  <a:pt x="8882457" y="399031"/>
                  <a:pt x="9489806" y="395207"/>
                  <a:pt x="9946819" y="370306"/>
                </a:cubicBezTo>
                <a:cubicBezTo>
                  <a:pt x="10381705" y="346611"/>
                  <a:pt x="10970048" y="239709"/>
                  <a:pt x="11345127" y="177991"/>
                </a:cubicBezTo>
                <a:cubicBezTo>
                  <a:pt x="11720206" y="116273"/>
                  <a:pt x="11913238" y="59330"/>
                  <a:pt x="12197293" y="0"/>
                </a:cubicBezTo>
                <a:cubicBezTo>
                  <a:pt x="12193944" y="1074220"/>
                  <a:pt x="12190594" y="2148440"/>
                  <a:pt x="12187245" y="3222660"/>
                </a:cubicBezTo>
                <a:lnTo>
                  <a:pt x="0" y="3234561"/>
                </a:lnTo>
                <a:lnTo>
                  <a:pt x="0" y="1477215"/>
                </a:lnTo>
                <a:lnTo>
                  <a:pt x="430136" y="1488060"/>
                </a:lnTo>
                <a:close/>
              </a:path>
            </a:pathLst>
          </a:custGeom>
          <a:solidFill>
            <a:schemeClr val="accent4"/>
          </a:solidFill>
          <a:ln w="12700" cap="flat">
            <a:noFill/>
            <a:prstDash val="solid"/>
            <a:miter/>
          </a:ln>
        </p:spPr>
        <p: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500" b="0" i="0" u="none" strike="noStrike" kern="1200" cap="none" spc="0" normalizeH="0" baseline="0" noProof="0">
              <a:ln>
                <a:noFill/>
              </a:ln>
              <a:solidFill>
                <a:srgbClr val="070154"/>
              </a:solidFill>
              <a:effectLst/>
              <a:uLnTx/>
              <a:uFillTx/>
              <a:latin typeface="Arial" panose="020B0604020202020204"/>
              <a:ea typeface="+mn-ea"/>
              <a:cs typeface="+mn-cs"/>
            </a:endParaRPr>
          </a:p>
        </p:txBody>
      </p:sp>
      <p:cxnSp>
        <p:nvCxnSpPr>
          <p:cNvPr id="20" name="Google Shape;148;p33">
            <a:extLst>
              <a:ext uri="{FF2B5EF4-FFF2-40B4-BE49-F238E27FC236}">
                <a16:creationId xmlns:a16="http://schemas.microsoft.com/office/drawing/2014/main" id="{4D6CA540-0C12-A8BB-F5D1-E62C5CC8E0EC}"/>
              </a:ext>
            </a:extLst>
          </p:cNvPr>
          <p:cNvCxnSpPr>
            <a:cxnSpLocks/>
          </p:cNvCxnSpPr>
          <p:nvPr/>
        </p:nvCxnSpPr>
        <p:spPr>
          <a:xfrm>
            <a:off x="8742933" y="3587262"/>
            <a:ext cx="0" cy="2195339"/>
          </a:xfrm>
          <a:prstGeom prst="straightConnector1">
            <a:avLst/>
          </a:prstGeom>
          <a:noFill/>
          <a:ln w="12700" cap="rnd" cmpd="sng">
            <a:solidFill>
              <a:schemeClr val="accent3">
                <a:lumMod val="75000"/>
              </a:schemeClr>
            </a:solidFill>
            <a:prstDash val="solid"/>
            <a:round/>
            <a:headEnd type="none" w="sm" len="sm"/>
            <a:tailEnd type="none" w="sm" len="sm"/>
          </a:ln>
        </p:spPr>
      </p:cxnSp>
      <p:sp>
        <p:nvSpPr>
          <p:cNvPr id="21" name="Google Shape;157;p33">
            <a:extLst>
              <a:ext uri="{FF2B5EF4-FFF2-40B4-BE49-F238E27FC236}">
                <a16:creationId xmlns:a16="http://schemas.microsoft.com/office/drawing/2014/main" id="{C5D06DCA-83C5-FA75-0357-F47BA64BBBE6}"/>
              </a:ext>
            </a:extLst>
          </p:cNvPr>
          <p:cNvSpPr txBox="1"/>
          <p:nvPr/>
        </p:nvSpPr>
        <p:spPr>
          <a:xfrm>
            <a:off x="476475" y="3820142"/>
            <a:ext cx="1188720" cy="270861"/>
          </a:xfrm>
          <a:prstGeom prst="rect">
            <a:avLst/>
          </a:prstGeom>
          <a:solidFill>
            <a:schemeClr val="tx1"/>
          </a:solidFill>
          <a:ln>
            <a:solidFill>
              <a:schemeClr val="accent2"/>
            </a:solidFill>
          </a:ln>
        </p:spPr>
        <p:txBody>
          <a:bodyPr spcFirstLastPara="1" wrap="square" lIns="91440" tIns="26800" rIns="26800" bIns="2680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000"/>
              <a:buFontTx/>
              <a:buNone/>
              <a:tabLst/>
              <a:defRPr/>
            </a:pPr>
            <a:r>
              <a:rPr kumimoji="0" lang="en" sz="1200" b="1" i="0" u="none" strike="noStrike" kern="1200" cap="none" spc="0" normalizeH="0" baseline="0" noProof="0">
                <a:ln>
                  <a:noFill/>
                </a:ln>
                <a:solidFill>
                  <a:srgbClr val="FFFFFF"/>
                </a:solidFill>
                <a:effectLst/>
                <a:uLnTx/>
                <a:uFillTx/>
                <a:latin typeface="Arial" panose="020B0604020202020204"/>
                <a:ea typeface="Slabo 13px"/>
                <a:cs typeface="Slabo 13px"/>
                <a:sym typeface="Slabo 13px"/>
              </a:rPr>
              <a:t>West Monroe</a:t>
            </a:r>
            <a:endParaRPr kumimoji="0" sz="1200" b="1" i="0" u="none" strike="noStrike" kern="1200" cap="none" spc="0" normalizeH="0" baseline="0" noProof="0">
              <a:ln>
                <a:noFill/>
              </a:ln>
              <a:solidFill>
                <a:srgbClr val="FFFFFF"/>
              </a:solidFill>
              <a:effectLst/>
              <a:uLnTx/>
              <a:uFillTx/>
              <a:latin typeface="Arial" panose="020B0604020202020204"/>
              <a:ea typeface="Slabo 13px"/>
              <a:cs typeface="Slabo 13px"/>
              <a:sym typeface="Slabo 13px"/>
            </a:endParaRPr>
          </a:p>
        </p:txBody>
      </p:sp>
      <p:sp>
        <p:nvSpPr>
          <p:cNvPr id="22" name="Google Shape;156;p33">
            <a:extLst>
              <a:ext uri="{FF2B5EF4-FFF2-40B4-BE49-F238E27FC236}">
                <a16:creationId xmlns:a16="http://schemas.microsoft.com/office/drawing/2014/main" id="{1A94667A-ACA2-CDE6-2034-432B66DFF7C1}"/>
              </a:ext>
            </a:extLst>
          </p:cNvPr>
          <p:cNvSpPr txBox="1"/>
          <p:nvPr/>
        </p:nvSpPr>
        <p:spPr>
          <a:xfrm>
            <a:off x="633382" y="5116808"/>
            <a:ext cx="2501708" cy="61555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1000"/>
              <a:buFontTx/>
              <a:buNone/>
              <a:tabLst/>
              <a:defRPr/>
            </a:pPr>
            <a:r>
              <a:rPr kumimoji="0" lang="en" sz="1000" b="0" i="0" u="none" strike="noStrike" kern="1200" cap="none" spc="0" normalizeH="0" baseline="0" noProof="0">
                <a:ln>
                  <a:noFill/>
                </a:ln>
                <a:solidFill>
                  <a:srgbClr val="070154"/>
                </a:solidFill>
                <a:effectLst/>
                <a:uLnTx/>
                <a:uFillTx/>
                <a:latin typeface="Arial" panose="020B0604020202020204"/>
                <a:ea typeface="Slabo 13px"/>
                <a:cs typeface="Slabo 13px"/>
              </a:rPr>
              <a:t>We will fill gaps in your team and take a leadership role in establishing processes, architecture, and technologies—</a:t>
            </a:r>
            <a:r>
              <a:rPr kumimoji="0" lang="en" sz="1000" b="1" i="0" u="none" strike="noStrike" kern="1200" cap="none" spc="0" normalizeH="0" baseline="0" noProof="0">
                <a:ln>
                  <a:noFill/>
                </a:ln>
                <a:solidFill>
                  <a:srgbClr val="070154"/>
                </a:solidFill>
                <a:effectLst/>
                <a:uLnTx/>
                <a:uFillTx/>
                <a:latin typeface="Arial" panose="020B0604020202020204"/>
                <a:ea typeface="Slabo 13px"/>
                <a:cs typeface="Slabo 13px"/>
              </a:rPr>
              <a:t>getting the modernization effort off to solid start.</a:t>
            </a:r>
          </a:p>
        </p:txBody>
      </p:sp>
      <p:sp>
        <p:nvSpPr>
          <p:cNvPr id="23" name="Google Shape;161;p33">
            <a:extLst>
              <a:ext uri="{FF2B5EF4-FFF2-40B4-BE49-F238E27FC236}">
                <a16:creationId xmlns:a16="http://schemas.microsoft.com/office/drawing/2014/main" id="{615B39AF-1D9D-4F03-1235-7143E5BF63AA}"/>
              </a:ext>
            </a:extLst>
          </p:cNvPr>
          <p:cNvSpPr txBox="1"/>
          <p:nvPr/>
        </p:nvSpPr>
        <p:spPr>
          <a:xfrm>
            <a:off x="4730877" y="4962920"/>
            <a:ext cx="2966160" cy="769441"/>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mn-lt"/>
                <a:cs typeface="Segoe UI"/>
                <a:sym typeface="Slabo 13px"/>
              </a:rPr>
              <a:t>As we continue to partner with you on the modernization roadmap—measuring progress and reprioritizing at each planning horizon—</a:t>
            </a:r>
            <a:r>
              <a:rPr kumimoji="0" lang="en-US" sz="1000" b="1" i="0" u="none" strike="noStrike" kern="1200" cap="none" spc="0" normalizeH="0" baseline="0" noProof="0">
                <a:ln>
                  <a:noFill/>
                </a:ln>
                <a:solidFill>
                  <a:srgbClr val="070154"/>
                </a:solidFill>
                <a:effectLst/>
                <a:uLnTx/>
                <a:uFillTx/>
                <a:latin typeface="Arial" panose="020B0604020202020204"/>
                <a:ea typeface="+mn-lt"/>
                <a:cs typeface="Segoe UI"/>
                <a:sym typeface="Slabo 13px"/>
              </a:rPr>
              <a:t>we continually evaluate the balance of assistance required to successfully provide value.</a:t>
            </a:r>
            <a:endParaRPr kumimoji="0" lang="en-US" sz="1000" b="1" i="0" u="none" strike="noStrike" kern="1200" cap="none" spc="0" normalizeH="0" baseline="0" noProof="0">
              <a:ln>
                <a:noFill/>
              </a:ln>
              <a:solidFill>
                <a:srgbClr val="070154"/>
              </a:solidFill>
              <a:effectLst/>
              <a:uLnTx/>
              <a:uFillTx/>
              <a:latin typeface="Arial" panose="020B0604020202020204"/>
              <a:ea typeface="+mn-lt"/>
              <a:cs typeface="Segoe UI"/>
            </a:endParaRPr>
          </a:p>
        </p:txBody>
      </p:sp>
      <p:sp>
        <p:nvSpPr>
          <p:cNvPr id="24" name="Google Shape;165;p33">
            <a:extLst>
              <a:ext uri="{FF2B5EF4-FFF2-40B4-BE49-F238E27FC236}">
                <a16:creationId xmlns:a16="http://schemas.microsoft.com/office/drawing/2014/main" id="{D41F6DC3-F731-3E3C-A1B2-CE65814FDF1C}"/>
              </a:ext>
            </a:extLst>
          </p:cNvPr>
          <p:cNvSpPr txBox="1"/>
          <p:nvPr/>
        </p:nvSpPr>
        <p:spPr>
          <a:xfrm>
            <a:off x="9140027" y="4962920"/>
            <a:ext cx="2559296" cy="769441"/>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000" b="0" i="0" u="none" strike="noStrike" kern="1200" cap="none" spc="0" normalizeH="0" baseline="0" noProof="0">
                <a:ln>
                  <a:noFill/>
                </a:ln>
                <a:solidFill>
                  <a:srgbClr val="070154"/>
                </a:solidFill>
                <a:effectLst/>
                <a:uLnTx/>
                <a:uFillTx/>
                <a:latin typeface="Arial" panose="020B0604020202020204"/>
                <a:ea typeface="+mn-ea"/>
                <a:cs typeface="+mn-cs"/>
                <a:sym typeface="Slabo 13px"/>
              </a:rPr>
              <a:t>As </a:t>
            </a:r>
            <a:r>
              <a:rPr kumimoji="0" lang="en-US" sz="1000" b="0" i="0" u="none" strike="noStrike" kern="1200" cap="none" spc="0" normalizeH="0" baseline="0" noProof="0">
                <a:ln>
                  <a:noFill/>
                </a:ln>
                <a:solidFill>
                  <a:srgbClr val="070154"/>
                </a:solidFill>
                <a:effectLst/>
                <a:uLnTx/>
                <a:uFillTx/>
                <a:latin typeface="Arial" panose="020B0604020202020204"/>
                <a:ea typeface="+mn-ea"/>
                <a:cs typeface="+mn-cs"/>
                <a:sym typeface="Slabo 13px"/>
              </a:rPr>
              <a:t>your teams </a:t>
            </a:r>
            <a:r>
              <a:rPr kumimoji="0" lang="en" sz="1000" b="0" i="0" u="none" strike="noStrike" kern="1200" cap="none" spc="0" normalizeH="0" baseline="0" noProof="0">
                <a:ln>
                  <a:noFill/>
                </a:ln>
                <a:solidFill>
                  <a:srgbClr val="070154"/>
                </a:solidFill>
                <a:effectLst/>
                <a:uLnTx/>
                <a:uFillTx/>
                <a:latin typeface="Arial" panose="020B0604020202020204"/>
                <a:ea typeface="+mn-ea"/>
                <a:cs typeface="+mn-cs"/>
                <a:sym typeface="Slabo 13px"/>
              </a:rPr>
              <a:t>grow confident in handling modernization efforts, we plan the roll off strategy based on your goals, while you</a:t>
            </a:r>
            <a:r>
              <a:rPr kumimoji="0" lang="en" sz="1000" b="1" i="0" u="none" strike="noStrike" kern="1200" cap="none" spc="0" normalizeH="0" baseline="0" noProof="0">
                <a:ln>
                  <a:noFill/>
                </a:ln>
                <a:solidFill>
                  <a:srgbClr val="070154"/>
                </a:solidFill>
                <a:effectLst/>
                <a:uLnTx/>
                <a:uFillTx/>
                <a:latin typeface="Arial" panose="020B0604020202020204"/>
                <a:ea typeface="+mn-ea"/>
                <a:cs typeface="+mn-cs"/>
                <a:sym typeface="Slabo 13px"/>
              </a:rPr>
              <a:t> </a:t>
            </a:r>
            <a:br>
              <a:rPr kumimoji="0" lang="en" sz="1000" b="1" i="0" u="none" strike="noStrike" kern="1200" cap="none" spc="0" normalizeH="0" baseline="0" noProof="0">
                <a:ln>
                  <a:noFill/>
                </a:ln>
                <a:solidFill>
                  <a:srgbClr val="070154"/>
                </a:solidFill>
                <a:effectLst/>
                <a:uLnTx/>
                <a:uFillTx/>
                <a:latin typeface="Arial" panose="020B0604020202020204"/>
                <a:ea typeface="+mn-ea"/>
                <a:cs typeface="+mn-cs"/>
                <a:sym typeface="Slabo 13px"/>
              </a:rPr>
            </a:br>
            <a:r>
              <a:rPr kumimoji="0" lang="en" sz="1000" b="1" i="0" u="none" strike="noStrike" kern="1200" cap="none" spc="0" normalizeH="0" baseline="0" noProof="0">
                <a:ln>
                  <a:noFill/>
                </a:ln>
                <a:solidFill>
                  <a:srgbClr val="070154"/>
                </a:solidFill>
                <a:effectLst/>
                <a:uLnTx/>
                <a:uFillTx/>
                <a:latin typeface="Arial" panose="020B0604020202020204"/>
                <a:ea typeface="+mn-ea"/>
                <a:cs typeface="+mn-cs"/>
                <a:sym typeface="Slabo 13px"/>
              </a:rPr>
              <a:t>take on long-term sustainment of the modernized software.</a:t>
            </a:r>
            <a:endParaRPr kumimoji="0" lang="en-US" sz="1000" b="1"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25" name="Google Shape;151;p33">
            <a:extLst>
              <a:ext uri="{FF2B5EF4-FFF2-40B4-BE49-F238E27FC236}">
                <a16:creationId xmlns:a16="http://schemas.microsoft.com/office/drawing/2014/main" id="{5AC1C033-F692-DFD8-A30A-0186E42246E7}"/>
              </a:ext>
            </a:extLst>
          </p:cNvPr>
          <p:cNvSpPr txBox="1"/>
          <p:nvPr/>
        </p:nvSpPr>
        <p:spPr>
          <a:xfrm>
            <a:off x="5060791" y="4644981"/>
            <a:ext cx="2306329" cy="184666"/>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1100"/>
              <a:buFontTx/>
              <a:buNone/>
              <a:tabLst/>
              <a:defRPr/>
            </a:pPr>
            <a:r>
              <a:rPr kumimoji="0" lang="en-US" sz="1200" b="1" i="0" u="none" strike="noStrike" kern="1200" cap="none" spc="0" normalizeH="0" baseline="0" noProof="0">
                <a:ln>
                  <a:noFill/>
                </a:ln>
                <a:solidFill>
                  <a:srgbClr val="070154"/>
                </a:solidFill>
                <a:effectLst/>
                <a:uLnTx/>
                <a:uFillTx/>
                <a:latin typeface="Arial" panose="020B0604020202020204"/>
                <a:ea typeface="Slabo 13px"/>
                <a:cs typeface="Slabo 13px"/>
                <a:sym typeface="Slabo 13px"/>
              </a:rPr>
              <a:t>NORMING &amp; PERFORMING</a:t>
            </a:r>
          </a:p>
        </p:txBody>
      </p:sp>
      <p:sp>
        <p:nvSpPr>
          <p:cNvPr id="26" name="Google Shape;152;p33">
            <a:extLst>
              <a:ext uri="{FF2B5EF4-FFF2-40B4-BE49-F238E27FC236}">
                <a16:creationId xmlns:a16="http://schemas.microsoft.com/office/drawing/2014/main" id="{71241494-BF60-2351-E496-915A7073E028}"/>
              </a:ext>
            </a:extLst>
          </p:cNvPr>
          <p:cNvSpPr txBox="1"/>
          <p:nvPr/>
        </p:nvSpPr>
        <p:spPr>
          <a:xfrm>
            <a:off x="1315745" y="4827275"/>
            <a:ext cx="1136982" cy="184666"/>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200" b="1" i="0" u="none" strike="noStrike" kern="1200" cap="none" spc="0" normalizeH="0" baseline="0" noProof="0">
                <a:ln>
                  <a:noFill/>
                </a:ln>
                <a:solidFill>
                  <a:srgbClr val="070154"/>
                </a:solidFill>
                <a:effectLst/>
                <a:uLnTx/>
                <a:uFillTx/>
                <a:latin typeface="Arial" panose="020B0604020202020204"/>
                <a:ea typeface="+mn-ea"/>
                <a:cs typeface="Segoe UI"/>
                <a:sym typeface="Slabo 13px"/>
              </a:rPr>
              <a:t>FORMING</a:t>
            </a:r>
            <a:endParaRPr kumimoji="0" lang="en-US" sz="1200" b="1" i="0" u="none" strike="noStrike" kern="1200" cap="none" spc="0" normalizeH="0" baseline="0" noProof="0">
              <a:ln>
                <a:noFill/>
              </a:ln>
              <a:solidFill>
                <a:srgbClr val="070154"/>
              </a:solidFill>
              <a:effectLst/>
              <a:uLnTx/>
              <a:uFillTx/>
              <a:latin typeface="Arial" panose="020B0604020202020204"/>
              <a:ea typeface="+mn-ea"/>
              <a:cs typeface="Segoe UI"/>
            </a:endParaRPr>
          </a:p>
        </p:txBody>
      </p:sp>
      <p:sp>
        <p:nvSpPr>
          <p:cNvPr id="27" name="Google Shape;154;p33">
            <a:extLst>
              <a:ext uri="{FF2B5EF4-FFF2-40B4-BE49-F238E27FC236}">
                <a16:creationId xmlns:a16="http://schemas.microsoft.com/office/drawing/2014/main" id="{D8207761-3294-5B56-615E-0ADF0AB34B9F}"/>
              </a:ext>
            </a:extLst>
          </p:cNvPr>
          <p:cNvSpPr txBox="1"/>
          <p:nvPr/>
        </p:nvSpPr>
        <p:spPr>
          <a:xfrm>
            <a:off x="9202274" y="4644981"/>
            <a:ext cx="2497049" cy="184666"/>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1100"/>
              <a:buFontTx/>
              <a:buNone/>
              <a:tabLst/>
              <a:defRPr/>
            </a:pPr>
            <a:r>
              <a:rPr kumimoji="0" lang="en-US" sz="1200" b="1" i="0" u="none" strike="noStrike" kern="1200" cap="none" spc="0" normalizeH="0" baseline="0" noProof="0">
                <a:ln>
                  <a:noFill/>
                </a:ln>
                <a:solidFill>
                  <a:srgbClr val="070154"/>
                </a:solidFill>
                <a:effectLst/>
                <a:uLnTx/>
                <a:uFillTx/>
                <a:latin typeface="Arial" panose="020B0604020202020204"/>
                <a:ea typeface="Slabo 13px"/>
                <a:cs typeface="Slabo 13px"/>
                <a:sym typeface="Slabo 13px"/>
              </a:rPr>
              <a:t>OPTIMIZING &amp; SUSTAINING</a:t>
            </a:r>
          </a:p>
        </p:txBody>
      </p:sp>
      <p:cxnSp>
        <p:nvCxnSpPr>
          <p:cNvPr id="28" name="Google Shape;148;p33">
            <a:extLst>
              <a:ext uri="{FF2B5EF4-FFF2-40B4-BE49-F238E27FC236}">
                <a16:creationId xmlns:a16="http://schemas.microsoft.com/office/drawing/2014/main" id="{841D4A6F-EB69-8B2E-637A-5C34178566FF}"/>
              </a:ext>
            </a:extLst>
          </p:cNvPr>
          <p:cNvCxnSpPr>
            <a:cxnSpLocks/>
          </p:cNvCxnSpPr>
          <p:nvPr/>
        </p:nvCxnSpPr>
        <p:spPr>
          <a:xfrm>
            <a:off x="3802288" y="4340888"/>
            <a:ext cx="0" cy="1441713"/>
          </a:xfrm>
          <a:prstGeom prst="straightConnector1">
            <a:avLst/>
          </a:prstGeom>
          <a:noFill/>
          <a:ln w="12700" cap="rnd" cmpd="sng">
            <a:solidFill>
              <a:schemeClr val="accent3">
                <a:lumMod val="75000"/>
              </a:schemeClr>
            </a:solidFill>
            <a:prstDash val="solid"/>
            <a:round/>
            <a:headEnd type="none" w="sm" len="sm"/>
            <a:tailEnd type="none" w="sm" len="sm"/>
          </a:ln>
        </p:spPr>
      </p:cxnSp>
      <p:pic>
        <p:nvPicPr>
          <p:cNvPr id="30" name="Graphic 29">
            <a:extLst>
              <a:ext uri="{FF2B5EF4-FFF2-40B4-BE49-F238E27FC236}">
                <a16:creationId xmlns:a16="http://schemas.microsoft.com/office/drawing/2014/main" id="{4927DB9D-4A6B-F861-87DD-A02E2400B0F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6469" y="3047788"/>
            <a:ext cx="10469816" cy="1381434"/>
          </a:xfrm>
          <a:prstGeom prst="rect">
            <a:avLst/>
          </a:prstGeom>
        </p:spPr>
      </p:pic>
      <p:sp>
        <p:nvSpPr>
          <p:cNvPr id="29" name="Google Shape;157;p33">
            <a:extLst>
              <a:ext uri="{FF2B5EF4-FFF2-40B4-BE49-F238E27FC236}">
                <a16:creationId xmlns:a16="http://schemas.microsoft.com/office/drawing/2014/main" id="{43EF5746-09C5-67EC-50B3-0512F1355B01}"/>
              </a:ext>
            </a:extLst>
          </p:cNvPr>
          <p:cNvSpPr txBox="1"/>
          <p:nvPr/>
        </p:nvSpPr>
        <p:spPr>
          <a:xfrm>
            <a:off x="476474" y="4269582"/>
            <a:ext cx="977325" cy="270861"/>
          </a:xfrm>
          <a:prstGeom prst="rect">
            <a:avLst/>
          </a:prstGeom>
          <a:solidFill>
            <a:schemeClr val="tx2"/>
          </a:solidFill>
          <a:ln>
            <a:noFill/>
          </a:ln>
        </p:spPr>
        <p:txBody>
          <a:bodyPr spcFirstLastPara="1" wrap="square" lIns="91440" tIns="26800" rIns="26800" bIns="26800" anchor="ctr"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000"/>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Slabo 13px"/>
                <a:cs typeface="Slabo 13px"/>
                <a:sym typeface="Slabo 13px"/>
              </a:rPr>
              <a:t>Your Team</a:t>
            </a:r>
          </a:p>
        </p:txBody>
      </p:sp>
      <p:sp>
        <p:nvSpPr>
          <p:cNvPr id="38" name="Rectangle 37">
            <a:extLst>
              <a:ext uri="{FF2B5EF4-FFF2-40B4-BE49-F238E27FC236}">
                <a16:creationId xmlns:a16="http://schemas.microsoft.com/office/drawing/2014/main" id="{FC1194BE-EAE9-B33B-9ED5-5916B5133ADA}"/>
              </a:ext>
            </a:extLst>
          </p:cNvPr>
          <p:cNvSpPr>
            <a:spLocks noGrp="1" noRot="1" noMove="1" noResize="1" noEditPoints="1" noAdjustHandles="1" noChangeArrowheads="1" noChangeShapeType="1"/>
          </p:cNvSpPr>
          <p:nvPr/>
        </p:nvSpPr>
        <p:spPr bwMode="auto">
          <a:xfrm>
            <a:off x="-1" y="5955153"/>
            <a:ext cx="12186069" cy="270861"/>
          </a:xfrm>
          <a:prstGeom prst="rect">
            <a:avLst/>
          </a:prstGeom>
          <a:solidFill>
            <a:schemeClr val="bg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1774840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F895656-A5D1-0775-8EEC-12C85D3C6806}"/>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114A9B7A-B384-E2DD-DA1C-27384A42B27B}"/>
              </a:ext>
            </a:extLst>
          </p:cNvPr>
          <p:cNvSpPr>
            <a:spLocks noGrp="1"/>
          </p:cNvSpPr>
          <p:nvPr>
            <p:ph type="sldNum" sz="quarter" idx="25"/>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rPr>
              <a:t>4</a:t>
            </a:r>
          </a:p>
        </p:txBody>
      </p:sp>
      <p:sp>
        <p:nvSpPr>
          <p:cNvPr id="10" name="Title 9">
            <a:extLst>
              <a:ext uri="{FF2B5EF4-FFF2-40B4-BE49-F238E27FC236}">
                <a16:creationId xmlns:a16="http://schemas.microsoft.com/office/drawing/2014/main" id="{50A391D0-F670-BDD3-DCB3-2F2668F3ADC9}"/>
              </a:ext>
            </a:extLst>
          </p:cNvPr>
          <p:cNvSpPr>
            <a:spLocks noGrp="1"/>
          </p:cNvSpPr>
          <p:nvPr>
            <p:ph type="title"/>
          </p:nvPr>
        </p:nvSpPr>
        <p:spPr>
          <a:xfrm>
            <a:off x="460372" y="556953"/>
            <a:ext cx="11266491" cy="1277273"/>
          </a:xfrm>
        </p:spPr>
        <p:txBody>
          <a:bodyPr>
            <a:normAutofit/>
          </a:bodyPr>
          <a:lstStyle/>
          <a:p>
            <a:r>
              <a:rPr lang="en-US" sz="1800" dirty="0"/>
              <a:t>West Monroe leads the modernization build—then transitions into an AI-enabled sustainment partner.
Your team provides the business context and validates outcomes throughout the journey.</a:t>
            </a:r>
            <a:endParaRPr lang="en-US" sz="1800" dirty="0">
              <a:solidFill>
                <a:schemeClr val="accent1"/>
              </a:solidFill>
            </a:endParaRPr>
          </a:p>
        </p:txBody>
      </p:sp>
      <p:sp>
        <p:nvSpPr>
          <p:cNvPr id="12" name="Text Placeholder 11">
            <a:extLst>
              <a:ext uri="{FF2B5EF4-FFF2-40B4-BE49-F238E27FC236}">
                <a16:creationId xmlns:a16="http://schemas.microsoft.com/office/drawing/2014/main" id="{801C9F66-13F7-711E-AA4B-8E8A844DFF64}"/>
              </a:ext>
            </a:extLst>
          </p:cNvPr>
          <p:cNvSpPr>
            <a:spLocks noGrp="1"/>
          </p:cNvSpPr>
          <p:nvPr>
            <p:ph type="body" sz="quarter" idx="19"/>
          </p:nvPr>
        </p:nvSpPr>
        <p:spPr/>
        <p:txBody>
          <a:bodyPr/>
          <a:lstStyle/>
          <a:p>
            <a:r>
              <a:rPr lang="en-US"/>
              <a:t>Software Modernization</a:t>
            </a:r>
          </a:p>
        </p:txBody>
      </p:sp>
      <p:sp>
        <p:nvSpPr>
          <p:cNvPr id="38" name="Rectangle 37">
            <a:extLst>
              <a:ext uri="{FF2B5EF4-FFF2-40B4-BE49-F238E27FC236}">
                <a16:creationId xmlns:a16="http://schemas.microsoft.com/office/drawing/2014/main" id="{FC1194BE-EAE9-B33B-9ED5-5916B5133ADA}"/>
              </a:ext>
            </a:extLst>
          </p:cNvPr>
          <p:cNvSpPr>
            <a:spLocks noGrp="1" noRot="1" noMove="1" noResize="1" noEditPoints="1" noAdjustHandles="1" noChangeArrowheads="1" noChangeShapeType="1"/>
          </p:cNvSpPr>
          <p:nvPr/>
        </p:nvSpPr>
        <p:spPr bwMode="auto">
          <a:xfrm>
            <a:off x="0" y="5955153"/>
            <a:ext cx="12185650" cy="270861"/>
          </a:xfrm>
          <a:prstGeom prst="rect">
            <a:avLst/>
          </a:prstGeom>
          <a:solidFill>
            <a:schemeClr val="bg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graphicFrame>
        <p:nvGraphicFramePr>
          <p:cNvPr id="6" name="Table 5">
            <a:extLst>
              <a:ext uri="{FF2B5EF4-FFF2-40B4-BE49-F238E27FC236}">
                <a16:creationId xmlns:a16="http://schemas.microsoft.com/office/drawing/2014/main" id="{15688005-923A-2B46-BC42-3EE28C760348}"/>
              </a:ext>
            </a:extLst>
          </p:cNvPr>
          <p:cNvGraphicFramePr>
            <a:graphicFrameLocks noGrp="1"/>
          </p:cNvGraphicFramePr>
          <p:nvPr/>
        </p:nvGraphicFramePr>
        <p:xfrm>
          <a:off x="457200" y="1905000"/>
          <a:ext cx="11277600" cy="361696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635573642"/>
                    </a:ext>
                  </a:extLst>
                </a:gridCol>
                <a:gridCol w="3124200">
                  <a:extLst>
                    <a:ext uri="{9D8B030D-6E8A-4147-A177-3AD203B41FA5}">
                      <a16:colId xmlns:a16="http://schemas.microsoft.com/office/drawing/2014/main" val="1233817207"/>
                    </a:ext>
                  </a:extLst>
                </a:gridCol>
                <a:gridCol w="3124200">
                  <a:extLst>
                    <a:ext uri="{9D8B030D-6E8A-4147-A177-3AD203B41FA5}">
                      <a16:colId xmlns:a16="http://schemas.microsoft.com/office/drawing/2014/main" val="4101541489"/>
                    </a:ext>
                  </a:extLst>
                </a:gridCol>
                <a:gridCol w="3124200">
                  <a:extLst>
                    <a:ext uri="{9D8B030D-6E8A-4147-A177-3AD203B41FA5}">
                      <a16:colId xmlns:a16="http://schemas.microsoft.com/office/drawing/2014/main" val="3389699994"/>
                    </a:ext>
                  </a:extLst>
                </a:gridCol>
              </a:tblGrid>
              <a:tr h="381000">
                <a:tc>
                  <a:txBody>
                    <a:bodyPr/>
                    <a:lstStyle/>
                    <a:p>
                      <a:pPr algn="l"/>
                      <a:endParaRPr lang="en-US" sz="1400" b="1">
                        <a:solidFill>
                          <a:srgbClr val="070154"/>
                        </a:solidFill>
                        <a:latin typeface="Arial"/>
                        <a:cs typeface="Arial"/>
                      </a:endParaRPr>
                    </a:p>
                  </a:txBody>
                  <a:tcPr marL="558800" marR="127000" marT="76200" marB="76200" anchor="ctr">
                    <a:solidFill>
                      <a:srgbClr val="FFFFFF"/>
                    </a:solidFill>
                  </a:tcPr>
                </a:tc>
                <a:tc>
                  <a:txBody>
                    <a:bodyPr/>
                    <a:lstStyle/>
                    <a:p>
                      <a:pPr algn="l"/>
                      <a:r>
                        <a:rPr lang="en-US" sz="1400" b="1">
                          <a:solidFill>
                            <a:srgbClr val="FFFFFF"/>
                          </a:solidFill>
                          <a:latin typeface="Arial"/>
                          <a:cs typeface="Arial"/>
                        </a:rPr>
                        <a:t>RATIONALIZE</a:t>
                      </a:r>
                    </a:p>
                  </a:txBody>
                  <a:tcPr marL="127000" marR="127000" marT="101600" marB="101600" anchor="ctr">
                    <a:solidFill>
                      <a:srgbClr val="070154"/>
                    </a:solidFill>
                  </a:tcPr>
                </a:tc>
                <a:tc>
                  <a:txBody>
                    <a:bodyPr/>
                    <a:lstStyle/>
                    <a:p>
                      <a:pPr algn="l"/>
                      <a:r>
                        <a:rPr lang="en-US" sz="1400" b="1">
                          <a:solidFill>
                            <a:srgbClr val="FFFFFF"/>
                          </a:solidFill>
                          <a:latin typeface="Arial"/>
                          <a:cs typeface="Arial"/>
                        </a:rPr>
                        <a:t>BUILD</a:t>
                      </a:r>
                    </a:p>
                  </a:txBody>
                  <a:tcPr marL="127000" marR="127000" marT="101600" marB="101600" anchor="ctr">
                    <a:solidFill>
                      <a:srgbClr val="070154"/>
                    </a:solidFill>
                  </a:tcPr>
                </a:tc>
                <a:tc>
                  <a:txBody>
                    <a:bodyPr/>
                    <a:lstStyle/>
                    <a:p>
                      <a:pPr algn="l"/>
                      <a:r>
                        <a:rPr lang="en-US" sz="1400" b="1">
                          <a:solidFill>
                            <a:srgbClr val="FFFFFF"/>
                          </a:solidFill>
                          <a:latin typeface="Arial"/>
                          <a:cs typeface="Arial"/>
                        </a:rPr>
                        <a:t>SUSTAIN</a:t>
                      </a:r>
                    </a:p>
                  </a:txBody>
                  <a:tcPr marL="127000" marR="127000" marT="101600" marB="101600" anchor="ctr">
                    <a:solidFill>
                      <a:srgbClr val="070154"/>
                    </a:solidFill>
                  </a:tcPr>
                </a:tc>
                <a:extLst>
                  <a:ext uri="{0D108BD9-81ED-4DB2-BD59-A6C34878D82A}">
                    <a16:rowId xmlns:a16="http://schemas.microsoft.com/office/drawing/2014/main" val="2645433125"/>
                  </a:ext>
                </a:extLst>
              </a:tr>
              <a:tr h="1066800">
                <a:tc>
                  <a:txBody>
                    <a:bodyPr/>
                    <a:lstStyle/>
                    <a:p>
                      <a:pPr algn="l"/>
                      <a:r>
                        <a:rPr lang="en-US" sz="1400" b="1" dirty="0">
                          <a:solidFill>
                            <a:srgbClr val="070154"/>
                          </a:solidFill>
                          <a:latin typeface="Arial"/>
                          <a:cs typeface="Arial"/>
                        </a:rPr>
                        <a:t>West Monroe</a:t>
                      </a:r>
                    </a:p>
                  </a:txBody>
                  <a:tcPr marL="609600" marR="127000" marT="76200" marB="76200" anchor="ctr">
                    <a:solidFill>
                      <a:srgbClr val="FFFFFF"/>
                    </a:solidFill>
                  </a:tcPr>
                </a:tc>
                <a:tc>
                  <a:txBody>
                    <a:bodyPr/>
                    <a:lstStyle/>
                    <a:p>
                      <a:pPr marL="128000" indent="-128000">
                        <a:lnSpc>
                          <a:spcPts val="1600"/>
                        </a:lnSpc>
                        <a:spcBef>
                          <a:spcPts val="200"/>
                        </a:spcBef>
                        <a:buFont typeface="Arial"/>
                        <a:buChar char="•"/>
                      </a:pPr>
                      <a:r>
                        <a:rPr lang="en-US" sz="1400" dirty="0">
                          <a:solidFill>
                            <a:srgbClr val="070154"/>
                          </a:solidFill>
                          <a:latin typeface="Arial"/>
                        </a:rPr>
                        <a:t>Portfolio and architecture review</a:t>
                      </a:r>
                    </a:p>
                    <a:p>
                      <a:pPr marL="128000" indent="-128000">
                        <a:lnSpc>
                          <a:spcPts val="1600"/>
                        </a:lnSpc>
                        <a:spcBef>
                          <a:spcPts val="200"/>
                        </a:spcBef>
                        <a:buFont typeface="Arial"/>
                        <a:buChar char="•"/>
                      </a:pPr>
                      <a:r>
                        <a:rPr lang="en-US" sz="1400" dirty="0">
                          <a:solidFill>
                            <a:srgbClr val="070154"/>
                          </a:solidFill>
                          <a:latin typeface="Arial"/>
                        </a:rPr>
                        <a:t>Business case and roadmap</a:t>
                      </a:r>
                    </a:p>
                  </a:txBody>
                  <a:tcPr marL="152400" marR="127000" marT="482600" marB="76200">
                    <a:solidFill>
                      <a:srgbClr val="FFFFFF"/>
                    </a:solidFill>
                  </a:tcPr>
                </a:tc>
                <a:tc>
                  <a:txBody>
                    <a:bodyPr/>
                    <a:lstStyle/>
                    <a:p>
                      <a:pPr marL="128000" indent="-128000">
                        <a:lnSpc>
                          <a:spcPts val="1600"/>
                        </a:lnSpc>
                        <a:spcBef>
                          <a:spcPts val="200"/>
                        </a:spcBef>
                        <a:buFont typeface="Arial"/>
                        <a:buChar char="•"/>
                      </a:pPr>
                      <a:r>
                        <a:rPr lang="en-US" sz="1400" dirty="0">
                          <a:solidFill>
                            <a:srgbClr val="070154"/>
                          </a:solidFill>
                          <a:latin typeface="Arial"/>
                        </a:rPr>
                        <a:t>Onshore + nearshore + offshore</a:t>
                      </a:r>
                    </a:p>
                    <a:p>
                      <a:pPr marL="128000" indent="-128000">
                        <a:lnSpc>
                          <a:spcPts val="1600"/>
                        </a:lnSpc>
                        <a:spcBef>
                          <a:spcPts val="200"/>
                        </a:spcBef>
                        <a:buFont typeface="Arial"/>
                        <a:buChar char="•"/>
                      </a:pPr>
                      <a:r>
                        <a:rPr lang="en-US" sz="1400" dirty="0">
                          <a:solidFill>
                            <a:srgbClr val="070154"/>
                          </a:solidFill>
                          <a:latin typeface="Arial"/>
                        </a:rPr>
                        <a:t>Design, build, test and release</a:t>
                      </a:r>
                    </a:p>
                  </a:txBody>
                  <a:tcPr marL="152400" marR="127000" marT="482600" marB="76200">
                    <a:solidFill>
                      <a:srgbClr val="FFFFFF"/>
                    </a:solidFill>
                  </a:tcPr>
                </a:tc>
                <a:tc>
                  <a:txBody>
                    <a:bodyPr/>
                    <a:lstStyle/>
                    <a:p>
                      <a:pPr marL="128000" indent="-128000">
                        <a:lnSpc>
                          <a:spcPts val="1600"/>
                        </a:lnSpc>
                        <a:spcBef>
                          <a:spcPts val="200"/>
                        </a:spcBef>
                        <a:buFont typeface="Arial"/>
                        <a:buChar char="•"/>
                      </a:pPr>
                      <a:r>
                        <a:rPr lang="en-US" sz="1400" dirty="0">
                          <a:solidFill>
                            <a:srgbClr val="070154"/>
                          </a:solidFill>
                          <a:latin typeface="Arial"/>
                        </a:rPr>
                        <a:t>Part-time expert support</a:t>
                      </a:r>
                    </a:p>
                    <a:p>
                      <a:pPr marL="128000" indent="-128000">
                        <a:lnSpc>
                          <a:spcPts val="1600"/>
                        </a:lnSpc>
                        <a:spcBef>
                          <a:spcPts val="200"/>
                        </a:spcBef>
                        <a:buFont typeface="Arial"/>
                        <a:buChar char="•"/>
                      </a:pPr>
                      <a:r>
                        <a:rPr lang="en-US" sz="1400" dirty="0">
                          <a:solidFill>
                            <a:srgbClr val="070154"/>
                          </a:solidFill>
                          <a:latin typeface="Arial"/>
                        </a:rPr>
                        <a:t>AI oversight and validation</a:t>
                      </a:r>
                    </a:p>
                  </a:txBody>
                  <a:tcPr marL="152400" marR="127000" marT="482600" marB="76200">
                    <a:solidFill>
                      <a:srgbClr val="FFFFFF"/>
                    </a:solidFill>
                  </a:tcPr>
                </a:tc>
                <a:extLst>
                  <a:ext uri="{0D108BD9-81ED-4DB2-BD59-A6C34878D82A}">
                    <a16:rowId xmlns:a16="http://schemas.microsoft.com/office/drawing/2014/main" val="2706294464"/>
                  </a:ext>
                </a:extLst>
              </a:tr>
              <a:tr h="1066800">
                <a:tc>
                  <a:txBody>
                    <a:bodyPr/>
                    <a:lstStyle/>
                    <a:p>
                      <a:pPr algn="l"/>
                      <a:r>
                        <a:rPr lang="en-US" sz="1400" b="1" dirty="0">
                          <a:solidFill>
                            <a:srgbClr val="070154"/>
                          </a:solidFill>
                          <a:latin typeface="Arial"/>
                          <a:cs typeface="Arial"/>
                        </a:rPr>
                        <a:t>Your team</a:t>
                      </a:r>
                    </a:p>
                  </a:txBody>
                  <a:tcPr marL="609600" marR="127000" marT="76200" marB="76200" anchor="ctr">
                    <a:solidFill>
                      <a:srgbClr val="E8EEF8"/>
                    </a:solidFill>
                  </a:tcPr>
                </a:tc>
                <a:tc>
                  <a:txBody>
                    <a:bodyPr/>
                    <a:lstStyle/>
                    <a:p>
                      <a:pPr marL="128000" indent="-128000">
                        <a:lnSpc>
                          <a:spcPts val="1600"/>
                        </a:lnSpc>
                        <a:spcBef>
                          <a:spcPts val="200"/>
                        </a:spcBef>
                        <a:buFont typeface="Arial"/>
                        <a:buChar char="•"/>
                      </a:pPr>
                      <a:r>
                        <a:rPr lang="en-US" sz="1400" dirty="0">
                          <a:solidFill>
                            <a:srgbClr val="070154"/>
                          </a:solidFill>
                          <a:latin typeface="Arial"/>
                        </a:rPr>
                        <a:t>Priorities and target outcomes</a:t>
                      </a:r>
                    </a:p>
                    <a:p>
                      <a:pPr marL="128000" indent="-128000">
                        <a:lnSpc>
                          <a:spcPts val="1600"/>
                        </a:lnSpc>
                        <a:spcBef>
                          <a:spcPts val="200"/>
                        </a:spcBef>
                        <a:buFont typeface="Arial"/>
                        <a:buChar char="•"/>
                      </a:pPr>
                      <a:r>
                        <a:rPr lang="en-US" sz="1400" dirty="0">
                          <a:solidFill>
                            <a:srgbClr val="070154"/>
                          </a:solidFill>
                          <a:latin typeface="Arial"/>
                        </a:rPr>
                        <a:t>Process and data context</a:t>
                      </a:r>
                    </a:p>
                  </a:txBody>
                  <a:tcPr marL="152400" marR="127000" marT="482600" marB="76200">
                    <a:solidFill>
                      <a:srgbClr val="E8EEF8"/>
                    </a:solidFill>
                  </a:tcPr>
                </a:tc>
                <a:tc>
                  <a:txBody>
                    <a:bodyPr/>
                    <a:lstStyle/>
                    <a:p>
                      <a:pPr marL="128000" indent="-128000">
                        <a:lnSpc>
                          <a:spcPts val="1600"/>
                        </a:lnSpc>
                        <a:spcBef>
                          <a:spcPts val="200"/>
                        </a:spcBef>
                        <a:buFont typeface="Arial"/>
                        <a:buChar char="•"/>
                      </a:pPr>
                      <a:r>
                        <a:rPr lang="en-US" sz="1400" dirty="0">
                          <a:solidFill>
                            <a:srgbClr val="070154"/>
                          </a:solidFill>
                          <a:latin typeface="Arial"/>
                        </a:rPr>
                        <a:t>Validates workflows and decisions</a:t>
                      </a:r>
                    </a:p>
                    <a:p>
                      <a:pPr marL="128000" indent="-128000">
                        <a:lnSpc>
                          <a:spcPts val="1600"/>
                        </a:lnSpc>
                        <a:spcBef>
                          <a:spcPts val="200"/>
                        </a:spcBef>
                        <a:buFont typeface="Arial"/>
                        <a:buChar char="•"/>
                      </a:pPr>
                      <a:r>
                        <a:rPr lang="en-US" sz="1400" dirty="0">
                          <a:solidFill>
                            <a:srgbClr val="070154"/>
                          </a:solidFill>
                          <a:latin typeface="Arial"/>
                        </a:rPr>
                        <a:t>Owns business trade-offs</a:t>
                      </a:r>
                    </a:p>
                  </a:txBody>
                  <a:tcPr marL="152400" marR="127000" marT="482600" marB="76200">
                    <a:solidFill>
                      <a:srgbClr val="E8EEF8"/>
                    </a:solidFill>
                  </a:tcPr>
                </a:tc>
                <a:tc>
                  <a:txBody>
                    <a:bodyPr/>
                    <a:lstStyle/>
                    <a:p>
                      <a:pPr marL="128000" indent="-128000">
                        <a:lnSpc>
                          <a:spcPts val="1600"/>
                        </a:lnSpc>
                        <a:spcBef>
                          <a:spcPts val="200"/>
                        </a:spcBef>
                        <a:buFont typeface="Arial"/>
                        <a:buChar char="•"/>
                      </a:pPr>
                      <a:r>
                        <a:rPr lang="en-US" sz="1400" dirty="0">
                          <a:solidFill>
                            <a:srgbClr val="070154"/>
                          </a:solidFill>
                          <a:latin typeface="Arial"/>
                        </a:rPr>
                        <a:t>Owns the product roadmap</a:t>
                      </a:r>
                    </a:p>
                    <a:p>
                      <a:pPr marL="128000" indent="-128000">
                        <a:lnSpc>
                          <a:spcPts val="1600"/>
                        </a:lnSpc>
                        <a:spcBef>
                          <a:spcPts val="200"/>
                        </a:spcBef>
                        <a:buFont typeface="Arial"/>
                        <a:buChar char="•"/>
                      </a:pPr>
                      <a:r>
                        <a:rPr lang="en-US" sz="1400" dirty="0">
                          <a:solidFill>
                            <a:srgbClr val="070154"/>
                          </a:solidFill>
                          <a:latin typeface="Arial"/>
                        </a:rPr>
                        <a:t>Accepts enhancements</a:t>
                      </a:r>
                    </a:p>
                  </a:txBody>
                  <a:tcPr marL="152400" marR="127000" marT="482600" marB="76200">
                    <a:solidFill>
                      <a:srgbClr val="E8EEF8"/>
                    </a:solidFill>
                  </a:tcPr>
                </a:tc>
                <a:extLst>
                  <a:ext uri="{0D108BD9-81ED-4DB2-BD59-A6C34878D82A}">
                    <a16:rowId xmlns:a16="http://schemas.microsoft.com/office/drawing/2014/main" val="1129682791"/>
                  </a:ext>
                </a:extLst>
              </a:tr>
              <a:tr h="1066800">
                <a:tc>
                  <a:txBody>
                    <a:bodyPr/>
                    <a:lstStyle/>
                    <a:p>
                      <a:pPr algn="l"/>
                      <a:r>
                        <a:rPr lang="en-US" sz="1400" b="1" dirty="0">
                          <a:solidFill>
                            <a:srgbClr val="070154"/>
                          </a:solidFill>
                          <a:latin typeface="Arial"/>
                          <a:cs typeface="Arial"/>
                        </a:rPr>
                        <a:t>AI agents</a:t>
                      </a:r>
                    </a:p>
                  </a:txBody>
                  <a:tcPr marL="609600" marR="127000" marT="76200" marB="76200" anchor="ctr">
                    <a:solidFill>
                      <a:srgbClr val="FFFFFF"/>
                    </a:solidFill>
                  </a:tcPr>
                </a:tc>
                <a:tc>
                  <a:txBody>
                    <a:bodyPr/>
                    <a:lstStyle/>
                    <a:p>
                      <a:pPr marL="128000" indent="-128000">
                        <a:lnSpc>
                          <a:spcPts val="1600"/>
                        </a:lnSpc>
                        <a:spcBef>
                          <a:spcPts val="200"/>
                        </a:spcBef>
                        <a:buFont typeface="Arial"/>
                        <a:buChar char="•"/>
                      </a:pPr>
                      <a:r>
                        <a:rPr lang="en-US" sz="1400" dirty="0">
                          <a:solidFill>
                            <a:srgbClr val="070154"/>
                          </a:solidFill>
                          <a:latin typeface="Arial"/>
                        </a:rPr>
                        <a:t>Code and dependency analysis</a:t>
                      </a:r>
                    </a:p>
                    <a:p>
                      <a:pPr marL="128000" indent="-128000">
                        <a:lnSpc>
                          <a:spcPts val="1600"/>
                        </a:lnSpc>
                        <a:spcBef>
                          <a:spcPts val="200"/>
                        </a:spcBef>
                        <a:buFont typeface="Arial"/>
                        <a:buChar char="•"/>
                      </a:pPr>
                      <a:r>
                        <a:rPr lang="en-US" sz="1400" dirty="0">
                          <a:solidFill>
                            <a:srgbClr val="070154"/>
                          </a:solidFill>
                          <a:latin typeface="Arial"/>
                        </a:rPr>
                        <a:t>Candidate scoring</a:t>
                      </a:r>
                    </a:p>
                  </a:txBody>
                  <a:tcPr marL="152400" marR="127000" marT="482600" marB="76200">
                    <a:solidFill>
                      <a:srgbClr val="FFFFFF"/>
                    </a:solidFill>
                  </a:tcPr>
                </a:tc>
                <a:tc>
                  <a:txBody>
                    <a:bodyPr/>
                    <a:lstStyle/>
                    <a:p>
                      <a:pPr marL="128000" indent="-128000">
                        <a:lnSpc>
                          <a:spcPts val="1600"/>
                        </a:lnSpc>
                        <a:spcBef>
                          <a:spcPts val="200"/>
                        </a:spcBef>
                        <a:buFont typeface="Arial"/>
                        <a:buChar char="•"/>
                      </a:pPr>
                      <a:r>
                        <a:rPr lang="en-US" sz="1400" dirty="0">
                          <a:solidFill>
                            <a:srgbClr val="070154"/>
                          </a:solidFill>
                          <a:latin typeface="Arial"/>
                        </a:rPr>
                        <a:t>Code generation and testing</a:t>
                      </a:r>
                    </a:p>
                    <a:p>
                      <a:pPr marL="128000" indent="-128000">
                        <a:lnSpc>
                          <a:spcPts val="1600"/>
                        </a:lnSpc>
                        <a:spcBef>
                          <a:spcPts val="200"/>
                        </a:spcBef>
                        <a:buFont typeface="Arial"/>
                        <a:buChar char="•"/>
                      </a:pPr>
                      <a:r>
                        <a:rPr lang="en-US" sz="1400" dirty="0">
                          <a:solidFill>
                            <a:srgbClr val="070154"/>
                          </a:solidFill>
                          <a:latin typeface="Arial"/>
                        </a:rPr>
                        <a:t>Documentation at speed</a:t>
                      </a:r>
                    </a:p>
                  </a:txBody>
                  <a:tcPr marL="152400" marR="127000" marT="482600" marB="76200">
                    <a:solidFill>
                      <a:srgbClr val="FFFFFF"/>
                    </a:solidFill>
                  </a:tcPr>
                </a:tc>
                <a:tc>
                  <a:txBody>
                    <a:bodyPr/>
                    <a:lstStyle/>
                    <a:p>
                      <a:pPr marL="128000" indent="-128000">
                        <a:lnSpc>
                          <a:spcPts val="1600"/>
                        </a:lnSpc>
                        <a:spcBef>
                          <a:spcPts val="200"/>
                        </a:spcBef>
                        <a:buFont typeface="Arial"/>
                        <a:buChar char="•"/>
                      </a:pPr>
                      <a:r>
                        <a:rPr lang="en-US" sz="1400" dirty="0">
                          <a:solidFill>
                            <a:srgbClr val="070154"/>
                          </a:solidFill>
                          <a:latin typeface="Arial"/>
                        </a:rPr>
                        <a:t>Routine sustainment automated</a:t>
                      </a:r>
                    </a:p>
                    <a:p>
                      <a:pPr marL="128000" indent="-128000">
                        <a:lnSpc>
                          <a:spcPts val="1600"/>
                        </a:lnSpc>
                        <a:spcBef>
                          <a:spcPts val="200"/>
                        </a:spcBef>
                        <a:buFont typeface="Arial"/>
                        <a:buChar char="•"/>
                      </a:pPr>
                      <a:r>
                        <a:rPr lang="en-US" sz="1400" dirty="0">
                          <a:solidFill>
                            <a:srgbClr val="070154"/>
                          </a:solidFill>
                          <a:latin typeface="Arial"/>
                        </a:rPr>
                        <a:t>On call, expert-validated</a:t>
                      </a:r>
                    </a:p>
                  </a:txBody>
                  <a:tcPr marL="152400" marR="127000" marT="482600" marB="76200">
                    <a:solidFill>
                      <a:srgbClr val="FFFFFF"/>
                    </a:solidFill>
                  </a:tcPr>
                </a:tc>
                <a:extLst>
                  <a:ext uri="{0D108BD9-81ED-4DB2-BD59-A6C34878D82A}">
                    <a16:rowId xmlns:a16="http://schemas.microsoft.com/office/drawing/2014/main" val="1777245924"/>
                  </a:ext>
                </a:extLst>
              </a:tr>
            </a:tbl>
          </a:graphicData>
        </a:graphic>
      </p:graphicFrame>
      <p:sp>
        <p:nvSpPr>
          <p:cNvPr id="7" name="dot_0_0_0">
            <a:extLst>
              <a:ext uri="{FF2B5EF4-FFF2-40B4-BE49-F238E27FC236}">
                <a16:creationId xmlns:a16="http://schemas.microsoft.com/office/drawing/2014/main" id="{09D51AA5-C08C-1640-83C4-6E0EEF376A0A}"/>
              </a:ext>
            </a:extLst>
          </p:cNvPr>
          <p:cNvSpPr/>
          <p:nvPr/>
        </p:nvSpPr>
        <p:spPr bwMode="auto">
          <a:xfrm>
            <a:off x="2514600" y="2505682"/>
            <a:ext cx="101600" cy="101600"/>
          </a:xfrm>
          <a:prstGeom prst="ellipse">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dot_0_0_1">
            <a:extLst>
              <a:ext uri="{FF2B5EF4-FFF2-40B4-BE49-F238E27FC236}">
                <a16:creationId xmlns:a16="http://schemas.microsoft.com/office/drawing/2014/main" id="{8D9CB32E-9CFF-6F47-A3F4-440F36EFFEC6}"/>
              </a:ext>
            </a:extLst>
          </p:cNvPr>
          <p:cNvSpPr/>
          <p:nvPr/>
        </p:nvSpPr>
        <p:spPr bwMode="auto">
          <a:xfrm>
            <a:off x="2679700" y="2505682"/>
            <a:ext cx="101600" cy="101600"/>
          </a:xfrm>
          <a:prstGeom prst="ellipse">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 name="dot_0_0_2">
            <a:extLst>
              <a:ext uri="{FF2B5EF4-FFF2-40B4-BE49-F238E27FC236}">
                <a16:creationId xmlns:a16="http://schemas.microsoft.com/office/drawing/2014/main" id="{2924F9C8-8A1D-B34A-9ED4-B76C90848632}"/>
              </a:ext>
            </a:extLst>
          </p:cNvPr>
          <p:cNvSpPr/>
          <p:nvPr/>
        </p:nvSpPr>
        <p:spPr bwMode="auto">
          <a:xfrm>
            <a:off x="2844800" y="2505682"/>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dot_0_0_3">
            <a:extLst>
              <a:ext uri="{FF2B5EF4-FFF2-40B4-BE49-F238E27FC236}">
                <a16:creationId xmlns:a16="http://schemas.microsoft.com/office/drawing/2014/main" id="{0A12772C-8264-B747-B540-B11AEB69C892}"/>
              </a:ext>
            </a:extLst>
          </p:cNvPr>
          <p:cNvSpPr/>
          <p:nvPr/>
        </p:nvSpPr>
        <p:spPr bwMode="auto">
          <a:xfrm>
            <a:off x="3009900" y="2505682"/>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3" name="dot_0_0_4">
            <a:extLst>
              <a:ext uri="{FF2B5EF4-FFF2-40B4-BE49-F238E27FC236}">
                <a16:creationId xmlns:a16="http://schemas.microsoft.com/office/drawing/2014/main" id="{9EFC8D77-1066-FA46-90DE-7E95C0F78FD1}"/>
              </a:ext>
            </a:extLst>
          </p:cNvPr>
          <p:cNvSpPr/>
          <p:nvPr/>
        </p:nvSpPr>
        <p:spPr bwMode="auto">
          <a:xfrm>
            <a:off x="3175000" y="2505682"/>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4" name="dot_0_1_0">
            <a:extLst>
              <a:ext uri="{FF2B5EF4-FFF2-40B4-BE49-F238E27FC236}">
                <a16:creationId xmlns:a16="http://schemas.microsoft.com/office/drawing/2014/main" id="{EC4F0461-FADA-AA46-A2BD-489556A6030F}"/>
              </a:ext>
            </a:extLst>
          </p:cNvPr>
          <p:cNvSpPr/>
          <p:nvPr/>
        </p:nvSpPr>
        <p:spPr bwMode="auto">
          <a:xfrm>
            <a:off x="5638800" y="2505682"/>
            <a:ext cx="101600" cy="101600"/>
          </a:xfrm>
          <a:prstGeom prst="ellipse">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8" name="dot_0_1_1">
            <a:extLst>
              <a:ext uri="{FF2B5EF4-FFF2-40B4-BE49-F238E27FC236}">
                <a16:creationId xmlns:a16="http://schemas.microsoft.com/office/drawing/2014/main" id="{B9E71457-0305-DA48-B646-3016EA35BAC0}"/>
              </a:ext>
            </a:extLst>
          </p:cNvPr>
          <p:cNvSpPr/>
          <p:nvPr/>
        </p:nvSpPr>
        <p:spPr bwMode="auto">
          <a:xfrm>
            <a:off x="5803900" y="2505682"/>
            <a:ext cx="101600" cy="101600"/>
          </a:xfrm>
          <a:prstGeom prst="ellipse">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9" name="dot_0_1_2">
            <a:extLst>
              <a:ext uri="{FF2B5EF4-FFF2-40B4-BE49-F238E27FC236}">
                <a16:creationId xmlns:a16="http://schemas.microsoft.com/office/drawing/2014/main" id="{C1C78221-1A98-6646-BA24-AD7CE153CDE3}"/>
              </a:ext>
            </a:extLst>
          </p:cNvPr>
          <p:cNvSpPr/>
          <p:nvPr/>
        </p:nvSpPr>
        <p:spPr bwMode="auto">
          <a:xfrm>
            <a:off x="5969000" y="2505682"/>
            <a:ext cx="101600" cy="101600"/>
          </a:xfrm>
          <a:prstGeom prst="ellipse">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dot_0_1_3">
            <a:extLst>
              <a:ext uri="{FF2B5EF4-FFF2-40B4-BE49-F238E27FC236}">
                <a16:creationId xmlns:a16="http://schemas.microsoft.com/office/drawing/2014/main" id="{59696507-3A2D-7A4C-A0D9-8DDA48A17AFD}"/>
              </a:ext>
            </a:extLst>
          </p:cNvPr>
          <p:cNvSpPr/>
          <p:nvPr/>
        </p:nvSpPr>
        <p:spPr bwMode="auto">
          <a:xfrm>
            <a:off x="6134100" y="2505682"/>
            <a:ext cx="101600" cy="101600"/>
          </a:xfrm>
          <a:prstGeom prst="ellipse">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1" name="dot_0_1_4">
            <a:extLst>
              <a:ext uri="{FF2B5EF4-FFF2-40B4-BE49-F238E27FC236}">
                <a16:creationId xmlns:a16="http://schemas.microsoft.com/office/drawing/2014/main" id="{84BF7F71-46E1-8249-A2FB-D0643DEA4CBF}"/>
              </a:ext>
            </a:extLst>
          </p:cNvPr>
          <p:cNvSpPr/>
          <p:nvPr/>
        </p:nvSpPr>
        <p:spPr bwMode="auto">
          <a:xfrm>
            <a:off x="6299200" y="2505682"/>
            <a:ext cx="101600" cy="101600"/>
          </a:xfrm>
          <a:prstGeom prst="ellipse">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2" name="dot_0_2_0">
            <a:extLst>
              <a:ext uri="{FF2B5EF4-FFF2-40B4-BE49-F238E27FC236}">
                <a16:creationId xmlns:a16="http://schemas.microsoft.com/office/drawing/2014/main" id="{DDA26126-CBD4-8A4A-8A81-7A08C32108CF}"/>
              </a:ext>
            </a:extLst>
          </p:cNvPr>
          <p:cNvSpPr/>
          <p:nvPr/>
        </p:nvSpPr>
        <p:spPr bwMode="auto">
          <a:xfrm>
            <a:off x="8763000" y="2505682"/>
            <a:ext cx="101600" cy="101600"/>
          </a:xfrm>
          <a:prstGeom prst="ellipse">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dot_0_2_1">
            <a:extLst>
              <a:ext uri="{FF2B5EF4-FFF2-40B4-BE49-F238E27FC236}">
                <a16:creationId xmlns:a16="http://schemas.microsoft.com/office/drawing/2014/main" id="{95C125E4-54DA-CE4F-A743-F666AF90BC51}"/>
              </a:ext>
            </a:extLst>
          </p:cNvPr>
          <p:cNvSpPr/>
          <p:nvPr/>
        </p:nvSpPr>
        <p:spPr bwMode="auto">
          <a:xfrm>
            <a:off x="8928100" y="2505682"/>
            <a:ext cx="101600" cy="101600"/>
          </a:xfrm>
          <a:prstGeom prst="ellipse">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4" name="dot_0_2_2">
            <a:extLst>
              <a:ext uri="{FF2B5EF4-FFF2-40B4-BE49-F238E27FC236}">
                <a16:creationId xmlns:a16="http://schemas.microsoft.com/office/drawing/2014/main" id="{CC2ED6BC-137E-AA40-B2A6-9404CAE1F9A1}"/>
              </a:ext>
            </a:extLst>
          </p:cNvPr>
          <p:cNvSpPr/>
          <p:nvPr/>
        </p:nvSpPr>
        <p:spPr bwMode="auto">
          <a:xfrm>
            <a:off x="9093200" y="2505682"/>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dot_0_2_3">
            <a:extLst>
              <a:ext uri="{FF2B5EF4-FFF2-40B4-BE49-F238E27FC236}">
                <a16:creationId xmlns:a16="http://schemas.microsoft.com/office/drawing/2014/main" id="{3AFB16B3-DA66-A646-BC11-DCF8CD473FF7}"/>
              </a:ext>
            </a:extLst>
          </p:cNvPr>
          <p:cNvSpPr/>
          <p:nvPr/>
        </p:nvSpPr>
        <p:spPr bwMode="auto">
          <a:xfrm>
            <a:off x="9258300" y="2505682"/>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dot_0_2_4">
            <a:extLst>
              <a:ext uri="{FF2B5EF4-FFF2-40B4-BE49-F238E27FC236}">
                <a16:creationId xmlns:a16="http://schemas.microsoft.com/office/drawing/2014/main" id="{3D9661D1-69A8-6243-95CA-E74AC1A6408E}"/>
              </a:ext>
            </a:extLst>
          </p:cNvPr>
          <p:cNvSpPr/>
          <p:nvPr/>
        </p:nvSpPr>
        <p:spPr bwMode="auto">
          <a:xfrm>
            <a:off x="9423400" y="2505682"/>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0" name="dot_1_0_0">
            <a:extLst>
              <a:ext uri="{FF2B5EF4-FFF2-40B4-BE49-F238E27FC236}">
                <a16:creationId xmlns:a16="http://schemas.microsoft.com/office/drawing/2014/main" id="{0AA01241-639E-5B42-A6AF-1CDC165910D8}"/>
              </a:ext>
            </a:extLst>
          </p:cNvPr>
          <p:cNvSpPr/>
          <p:nvPr/>
        </p:nvSpPr>
        <p:spPr bwMode="auto">
          <a:xfrm>
            <a:off x="2514600" y="3583075"/>
            <a:ext cx="101600" cy="101600"/>
          </a:xfrm>
          <a:prstGeom prst="ellipse">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1" name="dot_1_0_1">
            <a:extLst>
              <a:ext uri="{FF2B5EF4-FFF2-40B4-BE49-F238E27FC236}">
                <a16:creationId xmlns:a16="http://schemas.microsoft.com/office/drawing/2014/main" id="{47F1FAB4-C76D-9248-8B01-5B6E74C98885}"/>
              </a:ext>
            </a:extLst>
          </p:cNvPr>
          <p:cNvSpPr/>
          <p:nvPr/>
        </p:nvSpPr>
        <p:spPr bwMode="auto">
          <a:xfrm>
            <a:off x="2679700" y="3583075"/>
            <a:ext cx="101600" cy="101600"/>
          </a:xfrm>
          <a:prstGeom prst="ellipse">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dot_1_0_2">
            <a:extLst>
              <a:ext uri="{FF2B5EF4-FFF2-40B4-BE49-F238E27FC236}">
                <a16:creationId xmlns:a16="http://schemas.microsoft.com/office/drawing/2014/main" id="{B5BEE52D-94AC-E342-932D-CE8760B06CC6}"/>
              </a:ext>
            </a:extLst>
          </p:cNvPr>
          <p:cNvSpPr/>
          <p:nvPr/>
        </p:nvSpPr>
        <p:spPr bwMode="auto">
          <a:xfrm>
            <a:off x="2844800" y="3583075"/>
            <a:ext cx="101600" cy="101600"/>
          </a:xfrm>
          <a:prstGeom prst="ellipse">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3" name="dot_1_0_3">
            <a:extLst>
              <a:ext uri="{FF2B5EF4-FFF2-40B4-BE49-F238E27FC236}">
                <a16:creationId xmlns:a16="http://schemas.microsoft.com/office/drawing/2014/main" id="{9B235E8C-EF9C-1A45-B162-895D6F6291D7}"/>
              </a:ext>
            </a:extLst>
          </p:cNvPr>
          <p:cNvSpPr/>
          <p:nvPr/>
        </p:nvSpPr>
        <p:spPr bwMode="auto">
          <a:xfrm>
            <a:off x="3009900" y="3583075"/>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4" name="dot_1_0_4">
            <a:extLst>
              <a:ext uri="{FF2B5EF4-FFF2-40B4-BE49-F238E27FC236}">
                <a16:creationId xmlns:a16="http://schemas.microsoft.com/office/drawing/2014/main" id="{59376FA3-B075-E94B-A197-AB43542D3212}"/>
              </a:ext>
            </a:extLst>
          </p:cNvPr>
          <p:cNvSpPr/>
          <p:nvPr/>
        </p:nvSpPr>
        <p:spPr bwMode="auto">
          <a:xfrm>
            <a:off x="3175000" y="3583075"/>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5" name="dot_1_1_0">
            <a:extLst>
              <a:ext uri="{FF2B5EF4-FFF2-40B4-BE49-F238E27FC236}">
                <a16:creationId xmlns:a16="http://schemas.microsoft.com/office/drawing/2014/main" id="{3FB66BDD-C6A8-5441-B644-837E21CF168D}"/>
              </a:ext>
            </a:extLst>
          </p:cNvPr>
          <p:cNvSpPr/>
          <p:nvPr/>
        </p:nvSpPr>
        <p:spPr bwMode="auto">
          <a:xfrm>
            <a:off x="5638800" y="3583075"/>
            <a:ext cx="101600" cy="101600"/>
          </a:xfrm>
          <a:prstGeom prst="ellipse">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6" name="dot_1_1_1">
            <a:extLst>
              <a:ext uri="{FF2B5EF4-FFF2-40B4-BE49-F238E27FC236}">
                <a16:creationId xmlns:a16="http://schemas.microsoft.com/office/drawing/2014/main" id="{CC3D1633-6326-2E49-B5C8-ABB969938C6A}"/>
              </a:ext>
            </a:extLst>
          </p:cNvPr>
          <p:cNvSpPr/>
          <p:nvPr/>
        </p:nvSpPr>
        <p:spPr bwMode="auto">
          <a:xfrm>
            <a:off x="5803900" y="3583075"/>
            <a:ext cx="101600" cy="101600"/>
          </a:xfrm>
          <a:prstGeom prst="ellipse">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7" name="dot_1_1_2">
            <a:extLst>
              <a:ext uri="{FF2B5EF4-FFF2-40B4-BE49-F238E27FC236}">
                <a16:creationId xmlns:a16="http://schemas.microsoft.com/office/drawing/2014/main" id="{43D7FD71-6F31-A746-9AB3-BC1C473E0D0D}"/>
              </a:ext>
            </a:extLst>
          </p:cNvPr>
          <p:cNvSpPr/>
          <p:nvPr/>
        </p:nvSpPr>
        <p:spPr bwMode="auto">
          <a:xfrm>
            <a:off x="5969000" y="3583075"/>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9" name="dot_1_1_3">
            <a:extLst>
              <a:ext uri="{FF2B5EF4-FFF2-40B4-BE49-F238E27FC236}">
                <a16:creationId xmlns:a16="http://schemas.microsoft.com/office/drawing/2014/main" id="{121D3F8A-DF3A-D744-BF07-1B03DC9321BC}"/>
              </a:ext>
            </a:extLst>
          </p:cNvPr>
          <p:cNvSpPr/>
          <p:nvPr/>
        </p:nvSpPr>
        <p:spPr bwMode="auto">
          <a:xfrm>
            <a:off x="6134100" y="3583075"/>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0" name="dot_1_1_4">
            <a:extLst>
              <a:ext uri="{FF2B5EF4-FFF2-40B4-BE49-F238E27FC236}">
                <a16:creationId xmlns:a16="http://schemas.microsoft.com/office/drawing/2014/main" id="{FE757C16-6609-2A40-901D-B3A4DF8546E3}"/>
              </a:ext>
            </a:extLst>
          </p:cNvPr>
          <p:cNvSpPr/>
          <p:nvPr/>
        </p:nvSpPr>
        <p:spPr bwMode="auto">
          <a:xfrm>
            <a:off x="6299200" y="3583075"/>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1" name="dot_1_2_0">
            <a:extLst>
              <a:ext uri="{FF2B5EF4-FFF2-40B4-BE49-F238E27FC236}">
                <a16:creationId xmlns:a16="http://schemas.microsoft.com/office/drawing/2014/main" id="{85AD86EE-D356-D347-A348-A6BBB360964B}"/>
              </a:ext>
            </a:extLst>
          </p:cNvPr>
          <p:cNvSpPr/>
          <p:nvPr/>
        </p:nvSpPr>
        <p:spPr bwMode="auto">
          <a:xfrm>
            <a:off x="8763000" y="3583075"/>
            <a:ext cx="101600" cy="101600"/>
          </a:xfrm>
          <a:prstGeom prst="ellipse">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2" name="dot_1_2_1">
            <a:extLst>
              <a:ext uri="{FF2B5EF4-FFF2-40B4-BE49-F238E27FC236}">
                <a16:creationId xmlns:a16="http://schemas.microsoft.com/office/drawing/2014/main" id="{98E03E4C-B28C-E045-9A1B-F86E93BEAA65}"/>
              </a:ext>
            </a:extLst>
          </p:cNvPr>
          <p:cNvSpPr/>
          <p:nvPr/>
        </p:nvSpPr>
        <p:spPr bwMode="auto">
          <a:xfrm>
            <a:off x="8928100" y="3583075"/>
            <a:ext cx="101600" cy="101600"/>
          </a:xfrm>
          <a:prstGeom prst="ellipse">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3" name="dot_1_2_2">
            <a:extLst>
              <a:ext uri="{FF2B5EF4-FFF2-40B4-BE49-F238E27FC236}">
                <a16:creationId xmlns:a16="http://schemas.microsoft.com/office/drawing/2014/main" id="{26D37308-09A4-5F41-839D-7A1DFC73C829}"/>
              </a:ext>
            </a:extLst>
          </p:cNvPr>
          <p:cNvSpPr/>
          <p:nvPr/>
        </p:nvSpPr>
        <p:spPr bwMode="auto">
          <a:xfrm>
            <a:off x="9093200" y="3583075"/>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4" name="dot_1_2_3">
            <a:extLst>
              <a:ext uri="{FF2B5EF4-FFF2-40B4-BE49-F238E27FC236}">
                <a16:creationId xmlns:a16="http://schemas.microsoft.com/office/drawing/2014/main" id="{D9469D72-6C59-F144-B480-1C30D87FDD10}"/>
              </a:ext>
            </a:extLst>
          </p:cNvPr>
          <p:cNvSpPr/>
          <p:nvPr/>
        </p:nvSpPr>
        <p:spPr bwMode="auto">
          <a:xfrm>
            <a:off x="9258300" y="3583075"/>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5" name="dot_1_2_4">
            <a:extLst>
              <a:ext uri="{FF2B5EF4-FFF2-40B4-BE49-F238E27FC236}">
                <a16:creationId xmlns:a16="http://schemas.microsoft.com/office/drawing/2014/main" id="{D8145AD6-E1BD-9941-BBD8-6F9BCD14AEBA}"/>
              </a:ext>
            </a:extLst>
          </p:cNvPr>
          <p:cNvSpPr/>
          <p:nvPr/>
        </p:nvSpPr>
        <p:spPr bwMode="auto">
          <a:xfrm>
            <a:off x="9423400" y="3583075"/>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6" name="dot_2_0_0">
            <a:extLst>
              <a:ext uri="{FF2B5EF4-FFF2-40B4-BE49-F238E27FC236}">
                <a16:creationId xmlns:a16="http://schemas.microsoft.com/office/drawing/2014/main" id="{6BC689C1-C2BE-884D-B95E-CB621A0BC45D}"/>
              </a:ext>
            </a:extLst>
          </p:cNvPr>
          <p:cNvSpPr/>
          <p:nvPr/>
        </p:nvSpPr>
        <p:spPr bwMode="auto">
          <a:xfrm>
            <a:off x="2514600" y="4660467"/>
            <a:ext cx="101600" cy="101600"/>
          </a:xfrm>
          <a:prstGeom prst="ellipse">
            <a:avLst/>
          </a:prstGeom>
          <a:solidFill>
            <a:srgbClr val="F900D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7" name="dot_2_0_1">
            <a:extLst>
              <a:ext uri="{FF2B5EF4-FFF2-40B4-BE49-F238E27FC236}">
                <a16:creationId xmlns:a16="http://schemas.microsoft.com/office/drawing/2014/main" id="{A6EC07A1-B54C-064C-8253-DC3BD454E875}"/>
              </a:ext>
            </a:extLst>
          </p:cNvPr>
          <p:cNvSpPr/>
          <p:nvPr/>
        </p:nvSpPr>
        <p:spPr bwMode="auto">
          <a:xfrm>
            <a:off x="2679700" y="4660467"/>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8" name="dot_2_0_2">
            <a:extLst>
              <a:ext uri="{FF2B5EF4-FFF2-40B4-BE49-F238E27FC236}">
                <a16:creationId xmlns:a16="http://schemas.microsoft.com/office/drawing/2014/main" id="{E89628F8-CC9D-5040-A5FB-7FF0F20209F5}"/>
              </a:ext>
            </a:extLst>
          </p:cNvPr>
          <p:cNvSpPr/>
          <p:nvPr/>
        </p:nvSpPr>
        <p:spPr bwMode="auto">
          <a:xfrm>
            <a:off x="2844800" y="4660467"/>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9" name="dot_2_0_3">
            <a:extLst>
              <a:ext uri="{FF2B5EF4-FFF2-40B4-BE49-F238E27FC236}">
                <a16:creationId xmlns:a16="http://schemas.microsoft.com/office/drawing/2014/main" id="{B28BCCF5-69E7-F249-92D9-1A14FF0E0D4F}"/>
              </a:ext>
            </a:extLst>
          </p:cNvPr>
          <p:cNvSpPr/>
          <p:nvPr/>
        </p:nvSpPr>
        <p:spPr bwMode="auto">
          <a:xfrm>
            <a:off x="3009900" y="4660467"/>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0" name="dot_2_0_4">
            <a:extLst>
              <a:ext uri="{FF2B5EF4-FFF2-40B4-BE49-F238E27FC236}">
                <a16:creationId xmlns:a16="http://schemas.microsoft.com/office/drawing/2014/main" id="{24110D34-52D1-8043-99F8-6FCADC713995}"/>
              </a:ext>
            </a:extLst>
          </p:cNvPr>
          <p:cNvSpPr/>
          <p:nvPr/>
        </p:nvSpPr>
        <p:spPr bwMode="auto">
          <a:xfrm>
            <a:off x="3175000" y="4660467"/>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1" name="dot_2_1_0">
            <a:extLst>
              <a:ext uri="{FF2B5EF4-FFF2-40B4-BE49-F238E27FC236}">
                <a16:creationId xmlns:a16="http://schemas.microsoft.com/office/drawing/2014/main" id="{2CC54D22-CDE8-B346-80C7-685FB72F922B}"/>
              </a:ext>
            </a:extLst>
          </p:cNvPr>
          <p:cNvSpPr/>
          <p:nvPr/>
        </p:nvSpPr>
        <p:spPr bwMode="auto">
          <a:xfrm>
            <a:off x="5638800" y="4660467"/>
            <a:ext cx="101600" cy="101600"/>
          </a:xfrm>
          <a:prstGeom prst="ellipse">
            <a:avLst/>
          </a:prstGeom>
          <a:solidFill>
            <a:srgbClr val="F900D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2" name="dot_2_1_1">
            <a:extLst>
              <a:ext uri="{FF2B5EF4-FFF2-40B4-BE49-F238E27FC236}">
                <a16:creationId xmlns:a16="http://schemas.microsoft.com/office/drawing/2014/main" id="{6B862881-9D65-7D4F-AC41-A5DB7107EFCF}"/>
              </a:ext>
            </a:extLst>
          </p:cNvPr>
          <p:cNvSpPr/>
          <p:nvPr/>
        </p:nvSpPr>
        <p:spPr bwMode="auto">
          <a:xfrm>
            <a:off x="5803900" y="4660467"/>
            <a:ext cx="101600" cy="101600"/>
          </a:xfrm>
          <a:prstGeom prst="ellipse">
            <a:avLst/>
          </a:prstGeom>
          <a:solidFill>
            <a:srgbClr val="F900D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3" name="dot_2_1_2">
            <a:extLst>
              <a:ext uri="{FF2B5EF4-FFF2-40B4-BE49-F238E27FC236}">
                <a16:creationId xmlns:a16="http://schemas.microsoft.com/office/drawing/2014/main" id="{CD57946D-0E2F-2847-B59E-5AE18040FE6E}"/>
              </a:ext>
            </a:extLst>
          </p:cNvPr>
          <p:cNvSpPr/>
          <p:nvPr/>
        </p:nvSpPr>
        <p:spPr bwMode="auto">
          <a:xfrm>
            <a:off x="5969000" y="4660467"/>
            <a:ext cx="101600" cy="101600"/>
          </a:xfrm>
          <a:prstGeom prst="ellipse">
            <a:avLst/>
          </a:prstGeom>
          <a:solidFill>
            <a:srgbClr val="F900D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4" name="dot_2_1_3">
            <a:extLst>
              <a:ext uri="{FF2B5EF4-FFF2-40B4-BE49-F238E27FC236}">
                <a16:creationId xmlns:a16="http://schemas.microsoft.com/office/drawing/2014/main" id="{915E7B1A-3591-AD4C-B759-68BB6B8DA285}"/>
              </a:ext>
            </a:extLst>
          </p:cNvPr>
          <p:cNvSpPr/>
          <p:nvPr/>
        </p:nvSpPr>
        <p:spPr bwMode="auto">
          <a:xfrm>
            <a:off x="6134100" y="4660467"/>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5" name="dot_2_1_4">
            <a:extLst>
              <a:ext uri="{FF2B5EF4-FFF2-40B4-BE49-F238E27FC236}">
                <a16:creationId xmlns:a16="http://schemas.microsoft.com/office/drawing/2014/main" id="{18762D96-E58B-EC43-B9BD-7AD43DF48135}"/>
              </a:ext>
            </a:extLst>
          </p:cNvPr>
          <p:cNvSpPr/>
          <p:nvPr/>
        </p:nvSpPr>
        <p:spPr bwMode="auto">
          <a:xfrm>
            <a:off x="6299200" y="4660467"/>
            <a:ext cx="101600" cy="101600"/>
          </a:xfrm>
          <a:prstGeom prst="ellipse">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6" name="dot_2_2_0">
            <a:extLst>
              <a:ext uri="{FF2B5EF4-FFF2-40B4-BE49-F238E27FC236}">
                <a16:creationId xmlns:a16="http://schemas.microsoft.com/office/drawing/2014/main" id="{D004196E-23C8-E041-AD85-D45A4A6706CA}"/>
              </a:ext>
            </a:extLst>
          </p:cNvPr>
          <p:cNvSpPr/>
          <p:nvPr/>
        </p:nvSpPr>
        <p:spPr bwMode="auto">
          <a:xfrm>
            <a:off x="8763000" y="4660467"/>
            <a:ext cx="101600" cy="101600"/>
          </a:xfrm>
          <a:prstGeom prst="ellipse">
            <a:avLst/>
          </a:prstGeom>
          <a:solidFill>
            <a:srgbClr val="F900D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7" name="dot_2_2_1">
            <a:extLst>
              <a:ext uri="{FF2B5EF4-FFF2-40B4-BE49-F238E27FC236}">
                <a16:creationId xmlns:a16="http://schemas.microsoft.com/office/drawing/2014/main" id="{5006CF20-BAFF-1141-807A-23E45EF0FB23}"/>
              </a:ext>
            </a:extLst>
          </p:cNvPr>
          <p:cNvSpPr/>
          <p:nvPr/>
        </p:nvSpPr>
        <p:spPr bwMode="auto">
          <a:xfrm>
            <a:off x="8928100" y="4660467"/>
            <a:ext cx="101600" cy="101600"/>
          </a:xfrm>
          <a:prstGeom prst="ellipse">
            <a:avLst/>
          </a:prstGeom>
          <a:solidFill>
            <a:srgbClr val="F900D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8" name="dot_2_2_2">
            <a:extLst>
              <a:ext uri="{FF2B5EF4-FFF2-40B4-BE49-F238E27FC236}">
                <a16:creationId xmlns:a16="http://schemas.microsoft.com/office/drawing/2014/main" id="{73AC4921-3C97-6244-B32A-54D492927098}"/>
              </a:ext>
            </a:extLst>
          </p:cNvPr>
          <p:cNvSpPr/>
          <p:nvPr/>
        </p:nvSpPr>
        <p:spPr bwMode="auto">
          <a:xfrm>
            <a:off x="9093200" y="4660467"/>
            <a:ext cx="101600" cy="101600"/>
          </a:xfrm>
          <a:prstGeom prst="ellipse">
            <a:avLst/>
          </a:prstGeom>
          <a:solidFill>
            <a:srgbClr val="F900D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9" name="dot_2_2_3">
            <a:extLst>
              <a:ext uri="{FF2B5EF4-FFF2-40B4-BE49-F238E27FC236}">
                <a16:creationId xmlns:a16="http://schemas.microsoft.com/office/drawing/2014/main" id="{EF0DF61F-A917-3B4F-958A-5C4689CDF357}"/>
              </a:ext>
            </a:extLst>
          </p:cNvPr>
          <p:cNvSpPr/>
          <p:nvPr/>
        </p:nvSpPr>
        <p:spPr bwMode="auto">
          <a:xfrm>
            <a:off x="9258300" y="4660467"/>
            <a:ext cx="101600" cy="101600"/>
          </a:xfrm>
          <a:prstGeom prst="ellipse">
            <a:avLst/>
          </a:prstGeom>
          <a:solidFill>
            <a:srgbClr val="F900D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0" name="dot_2_2_4">
            <a:extLst>
              <a:ext uri="{FF2B5EF4-FFF2-40B4-BE49-F238E27FC236}">
                <a16:creationId xmlns:a16="http://schemas.microsoft.com/office/drawing/2014/main" id="{457D79EF-EEBD-0B43-BFE8-3A97CD0265A3}"/>
              </a:ext>
            </a:extLst>
          </p:cNvPr>
          <p:cNvSpPr/>
          <p:nvPr/>
        </p:nvSpPr>
        <p:spPr bwMode="auto">
          <a:xfrm>
            <a:off x="9423400" y="4660467"/>
            <a:ext cx="101600" cy="101600"/>
          </a:xfrm>
          <a:prstGeom prst="ellipse">
            <a:avLst/>
          </a:prstGeom>
          <a:solidFill>
            <a:srgbClr val="F900D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pic>
        <p:nvPicPr>
          <p:cNvPr id="61" name="Graphic 61" descr="West Monroe team"/>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8000" y="2650679"/>
            <a:ext cx="355600" cy="355600"/>
          </a:xfrm>
          <a:prstGeom prst="rect">
            <a:avLst/>
          </a:prstGeom>
        </p:spPr>
      </p:pic>
      <p:pic>
        <p:nvPicPr>
          <p:cNvPr id="62" name="Graphic 62" descr="Client team"/>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8000" y="3728071"/>
            <a:ext cx="355600" cy="355600"/>
          </a:xfrm>
          <a:prstGeom prst="rect">
            <a:avLst/>
          </a:prstGeom>
        </p:spPr>
      </p:pic>
      <p:pic>
        <p:nvPicPr>
          <p:cNvPr id="63" name="Graphic 63" descr="AI agent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8000" y="4805463"/>
            <a:ext cx="355600" cy="355600"/>
          </a:xfrm>
          <a:prstGeom prst="rect">
            <a:avLst/>
          </a:prstGeom>
        </p:spPr>
      </p:pic>
      <p:sp>
        <p:nvSpPr>
          <p:cNvPr id="2" name="dot_legend">
            <a:extLst>
              <a:ext uri="{FF2B5EF4-FFF2-40B4-BE49-F238E27FC236}">
                <a16:creationId xmlns:a16="http://schemas.microsoft.com/office/drawing/2014/main" id="{E9E3AB6F-1A20-204E-89DB-59B7E7029A84}"/>
              </a:ext>
            </a:extLst>
          </p:cNvPr>
          <p:cNvSpPr txBox="1"/>
          <p:nvPr/>
        </p:nvSpPr>
        <p:spPr>
          <a:xfrm>
            <a:off x="457200" y="5648960"/>
            <a:ext cx="6350000" cy="279400"/>
          </a:xfrm>
          <a:prstGeom prst="rect">
            <a:avLst/>
          </a:prstGeom>
          <a:noFill/>
        </p:spPr>
        <p:txBody>
          <a:bodyPr vertOverflow="overflow" vert="horz" wrap="square" lIns="0" tIns="0" rIns="0" bIns="0" rtlCol="0" anchor="t">
            <a:noAutofit/>
          </a:bodyPr>
          <a:lstStyle/>
          <a:p>
            <a:pPr marL="0" indent="0" algn="l">
              <a:spcAft>
                <a:spcPts val="600"/>
              </a:spcAft>
              <a:tabLst/>
            </a:pPr>
            <a:r>
              <a:rPr lang="en-US" sz="1400" i="1">
                <a:solidFill>
                  <a:srgbClr val="070154"/>
                </a:solidFill>
                <a:latin typeface="Arial"/>
                <a:cs typeface="Arial"/>
              </a:rPr>
              <a:t>Dot scale indicates relative team size at each phase.</a:t>
            </a:r>
            <a:endParaRPr lang="en-US" sz="1400" i="1" dirty="0">
              <a:solidFill>
                <a:srgbClr val="070154"/>
              </a:solidFill>
              <a:latin typeface="Arial"/>
              <a:cs typeface="Arial"/>
            </a:endParaRPr>
          </a:p>
        </p:txBody>
      </p:sp>
    </p:spTree>
    <p:extLst>
      <p:ext uri="{BB962C8B-B14F-4D97-AF65-F5344CB8AC3E}">
        <p14:creationId xmlns:p14="http://schemas.microsoft.com/office/powerpoint/2010/main" val="621017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8C-63DB-6EC0-54B3-BAD510DB5D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2D4D6B-E702-B14F-8CBF-3DB9404EA064}"/>
              </a:ext>
            </a:extLst>
          </p:cNvPr>
          <p:cNvSpPr/>
          <p:nvPr/>
        </p:nvSpPr>
        <p:spPr bwMode="auto">
          <a:xfrm>
            <a:off x="0" y="0"/>
            <a:ext cx="121920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3D957A41-9389-9041-99A2-9153DA0C87B2}"/>
              </a:ext>
            </a:extLst>
          </p:cNvPr>
          <p:cNvSpPr/>
          <p:nvPr/>
        </p:nvSpPr>
        <p:spPr bwMode="auto">
          <a:xfrm>
            <a:off x="0" y="0"/>
            <a:ext cx="2286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0716BB7-CA60-524A-8CA8-6B88AD30659B}"/>
              </a:ext>
            </a:extLst>
          </p:cNvPr>
          <p:cNvSpPr/>
          <p:nvPr/>
        </p:nvSpPr>
        <p:spPr bwMode="auto">
          <a:xfrm>
            <a:off x="457200" y="609600"/>
            <a:ext cx="15240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3C91333C-DD3E-9B4D-89FD-5B2ACB074E63}"/>
              </a:ext>
            </a:extLst>
          </p:cNvPr>
          <p:cNvSpPr txBox="1"/>
          <p:nvPr/>
        </p:nvSpPr>
        <p:spPr>
          <a:xfrm>
            <a:off x="609600" y="990600"/>
            <a:ext cx="228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INTERNAL PICK-DECK GUIDE</a:t>
            </a:r>
            <a:endParaRPr lang="en-US" sz="1000" b="1" dirty="0">
              <a:solidFill>
                <a:srgbClr val="0047FF"/>
              </a:solidFill>
              <a:latin typeface="Arial"/>
              <a:cs typeface="Arial"/>
            </a:endParaRPr>
          </a:p>
        </p:txBody>
      </p:sp>
      <p:sp>
        <p:nvSpPr>
          <p:cNvPr id="12" name="TextBox 11">
            <a:extLst>
              <a:ext uri="{FF2B5EF4-FFF2-40B4-BE49-F238E27FC236}">
                <a16:creationId xmlns:a16="http://schemas.microsoft.com/office/drawing/2014/main" id="{F8E1B792-659A-D74D-9D48-33D822D70F96}"/>
              </a:ext>
            </a:extLst>
          </p:cNvPr>
          <p:cNvSpPr txBox="1"/>
          <p:nvPr/>
        </p:nvSpPr>
        <p:spPr>
          <a:xfrm>
            <a:off x="609600" y="1473200"/>
            <a:ext cx="8001000" cy="149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900" b="1">
                <a:solidFill>
                  <a:srgbClr val="FFFFFF"/>
                </a:solidFill>
                <a:latin typeface="Arial"/>
                <a:cs typeface="Arial"/>
              </a:rPr>
              <a:t>Double-Click: Rationalize</a:t>
            </a:r>
            <a:endParaRPr lang="en-US" sz="2900" b="1" dirty="0">
              <a:solidFill>
                <a:srgbClr val="FFFFFF"/>
              </a:solidFill>
              <a:latin typeface="Arial"/>
              <a:cs typeface="Arial"/>
            </a:endParaRPr>
          </a:p>
        </p:txBody>
      </p:sp>
      <p:sp>
        <p:nvSpPr>
          <p:cNvPr id="14" name="TextBox 13">
            <a:extLst>
              <a:ext uri="{FF2B5EF4-FFF2-40B4-BE49-F238E27FC236}">
                <a16:creationId xmlns:a16="http://schemas.microsoft.com/office/drawing/2014/main" id="{F12B1E13-E8CD-BD43-96AA-519B3925EF9F}"/>
              </a:ext>
            </a:extLst>
          </p:cNvPr>
          <p:cNvSpPr txBox="1"/>
          <p:nvPr/>
        </p:nvSpPr>
        <p:spPr>
          <a:xfrm>
            <a:off x="609600" y="3149600"/>
            <a:ext cx="7874000" cy="685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a:solidFill>
                  <a:srgbClr val="FFFFFF"/>
                </a:solidFill>
                <a:latin typeface="Arial"/>
                <a:cs typeface="Arial"/>
              </a:rPr>
              <a:t>Show how teams align the value thesis, reconstruct reality, reimagine the capability, and plan an investable modernization path.</a:t>
            </a:r>
            <a:endParaRPr lang="en-US" sz="1300" dirty="0">
              <a:solidFill>
                <a:srgbClr val="FFFFFF"/>
              </a:solidFill>
              <a:latin typeface="Arial"/>
              <a:cs typeface="Arial"/>
            </a:endParaRPr>
          </a:p>
        </p:txBody>
      </p:sp>
      <p:sp>
        <p:nvSpPr>
          <p:cNvPr id="15" name="TextBox 14">
            <a:extLst>
              <a:ext uri="{FF2B5EF4-FFF2-40B4-BE49-F238E27FC236}">
                <a16:creationId xmlns:a16="http://schemas.microsoft.com/office/drawing/2014/main" id="{73F430C6-7897-2E44-A356-F000D6B34EA5}"/>
              </a:ext>
            </a:extLst>
          </p:cNvPr>
          <p:cNvSpPr txBox="1"/>
          <p:nvPr/>
        </p:nvSpPr>
        <p:spPr>
          <a:xfrm>
            <a:off x="9118600" y="11557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IN THIS SECTION</a:t>
            </a:r>
            <a:endParaRPr lang="en-US" sz="950" b="1" dirty="0">
              <a:solidFill>
                <a:srgbClr val="0047FF"/>
              </a:solidFill>
              <a:latin typeface="Arial"/>
              <a:cs typeface="Arial"/>
            </a:endParaRPr>
          </a:p>
        </p:txBody>
      </p:sp>
      <p:sp>
        <p:nvSpPr>
          <p:cNvPr id="16" name="Rectangle 15">
            <a:extLst>
              <a:ext uri="{FF2B5EF4-FFF2-40B4-BE49-F238E27FC236}">
                <a16:creationId xmlns:a16="http://schemas.microsoft.com/office/drawing/2014/main" id="{261D85DC-F9D6-6945-B534-E7FA1D31F122}"/>
              </a:ext>
            </a:extLst>
          </p:cNvPr>
          <p:cNvSpPr/>
          <p:nvPr/>
        </p:nvSpPr>
        <p:spPr bwMode="auto">
          <a:xfrm>
            <a:off x="9118600" y="15875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D01BF5B1-B24E-284C-9FC7-E80462316182}"/>
              </a:ext>
            </a:extLst>
          </p:cNvPr>
          <p:cNvSpPr txBox="1"/>
          <p:nvPr/>
        </p:nvSpPr>
        <p:spPr>
          <a:xfrm>
            <a:off x="9271000" y="17399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01</a:t>
            </a:r>
            <a:endParaRPr lang="en-US" sz="900" b="1" dirty="0">
              <a:solidFill>
                <a:srgbClr val="F900D3"/>
              </a:solidFill>
              <a:latin typeface="Arial"/>
              <a:cs typeface="Arial"/>
            </a:endParaRPr>
          </a:p>
        </p:txBody>
      </p:sp>
      <p:sp>
        <p:nvSpPr>
          <p:cNvPr id="21" name="TextBox 20">
            <a:extLst>
              <a:ext uri="{FF2B5EF4-FFF2-40B4-BE49-F238E27FC236}">
                <a16:creationId xmlns:a16="http://schemas.microsoft.com/office/drawing/2014/main" id="{F685F9EA-221F-3347-8288-97BD26237162}"/>
              </a:ext>
            </a:extLst>
          </p:cNvPr>
          <p:cNvSpPr txBox="1"/>
          <p:nvPr/>
        </p:nvSpPr>
        <p:spPr>
          <a:xfrm>
            <a:off x="9677400" y="16764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Phase + outputs</a:t>
            </a:r>
            <a:endParaRPr lang="en-US" sz="1000" b="1" dirty="0">
              <a:solidFill>
                <a:srgbClr val="070154"/>
              </a:solidFill>
              <a:latin typeface="Arial"/>
              <a:cs typeface="Arial"/>
            </a:endParaRPr>
          </a:p>
        </p:txBody>
      </p:sp>
      <p:sp>
        <p:nvSpPr>
          <p:cNvPr id="22" name="Rectangle 21">
            <a:extLst>
              <a:ext uri="{FF2B5EF4-FFF2-40B4-BE49-F238E27FC236}">
                <a16:creationId xmlns:a16="http://schemas.microsoft.com/office/drawing/2014/main" id="{07DBAAEE-5275-0B4F-8234-10AE0BF7AC50}"/>
              </a:ext>
            </a:extLst>
          </p:cNvPr>
          <p:cNvSpPr/>
          <p:nvPr/>
        </p:nvSpPr>
        <p:spPr bwMode="auto">
          <a:xfrm>
            <a:off x="9118600" y="23114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C1D6F0A2-F72D-C640-9D54-A4D4C9BE9626}"/>
              </a:ext>
            </a:extLst>
          </p:cNvPr>
          <p:cNvSpPr txBox="1"/>
          <p:nvPr/>
        </p:nvSpPr>
        <p:spPr>
          <a:xfrm>
            <a:off x="9271000" y="2463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02</a:t>
            </a:r>
            <a:endParaRPr lang="en-US" sz="900" b="1" dirty="0">
              <a:solidFill>
                <a:srgbClr val="F900D3"/>
              </a:solidFill>
              <a:latin typeface="Arial"/>
              <a:cs typeface="Arial"/>
            </a:endParaRPr>
          </a:p>
        </p:txBody>
      </p:sp>
      <p:sp>
        <p:nvSpPr>
          <p:cNvPr id="24" name="TextBox 23">
            <a:extLst>
              <a:ext uri="{FF2B5EF4-FFF2-40B4-BE49-F238E27FC236}">
                <a16:creationId xmlns:a16="http://schemas.microsoft.com/office/drawing/2014/main" id="{080B83FA-47AE-5546-B78A-3741943FCCAA}"/>
              </a:ext>
            </a:extLst>
          </p:cNvPr>
          <p:cNvSpPr txBox="1"/>
          <p:nvPr/>
        </p:nvSpPr>
        <p:spPr>
          <a:xfrm>
            <a:off x="9677400" y="24003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7Rs decision framework</a:t>
            </a:r>
            <a:endParaRPr lang="en-US" sz="1000" b="1" dirty="0">
              <a:solidFill>
                <a:srgbClr val="070154"/>
              </a:solidFill>
              <a:latin typeface="Arial"/>
              <a:cs typeface="Arial"/>
            </a:endParaRPr>
          </a:p>
        </p:txBody>
      </p:sp>
      <p:sp>
        <p:nvSpPr>
          <p:cNvPr id="25" name="Rectangle 24">
            <a:extLst>
              <a:ext uri="{FF2B5EF4-FFF2-40B4-BE49-F238E27FC236}">
                <a16:creationId xmlns:a16="http://schemas.microsoft.com/office/drawing/2014/main" id="{5B5F2BF9-FA2F-E54E-9A25-DB5AD24F1FD1}"/>
              </a:ext>
            </a:extLst>
          </p:cNvPr>
          <p:cNvSpPr/>
          <p:nvPr/>
        </p:nvSpPr>
        <p:spPr bwMode="auto">
          <a:xfrm>
            <a:off x="9118600" y="30353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29292B1C-4A91-1946-99C8-A22EB49E9166}"/>
              </a:ext>
            </a:extLst>
          </p:cNvPr>
          <p:cNvSpPr txBox="1"/>
          <p:nvPr/>
        </p:nvSpPr>
        <p:spPr>
          <a:xfrm>
            <a:off x="92710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03</a:t>
            </a:r>
            <a:endParaRPr lang="en-US" sz="900" b="1" dirty="0">
              <a:solidFill>
                <a:srgbClr val="F900D3"/>
              </a:solidFill>
              <a:latin typeface="Arial"/>
              <a:cs typeface="Arial"/>
            </a:endParaRPr>
          </a:p>
        </p:txBody>
      </p:sp>
      <p:sp>
        <p:nvSpPr>
          <p:cNvPr id="27" name="TextBox 26">
            <a:extLst>
              <a:ext uri="{FF2B5EF4-FFF2-40B4-BE49-F238E27FC236}">
                <a16:creationId xmlns:a16="http://schemas.microsoft.com/office/drawing/2014/main" id="{6D3A6AC7-EA6A-544F-B9CC-F86023D2FAF4}"/>
              </a:ext>
            </a:extLst>
          </p:cNvPr>
          <p:cNvSpPr txBox="1"/>
          <p:nvPr/>
        </p:nvSpPr>
        <p:spPr>
          <a:xfrm>
            <a:off x="9677400" y="31242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Process + system evidence</a:t>
            </a:r>
            <a:endParaRPr lang="en-US" sz="1000" b="1" dirty="0">
              <a:solidFill>
                <a:srgbClr val="070154"/>
              </a:solidFill>
              <a:latin typeface="Arial"/>
              <a:cs typeface="Arial"/>
            </a:endParaRPr>
          </a:p>
        </p:txBody>
      </p:sp>
      <p:sp>
        <p:nvSpPr>
          <p:cNvPr id="28" name="Rectangle 27">
            <a:extLst>
              <a:ext uri="{FF2B5EF4-FFF2-40B4-BE49-F238E27FC236}">
                <a16:creationId xmlns:a16="http://schemas.microsoft.com/office/drawing/2014/main" id="{7D2CEE49-87AD-B74B-BCBB-6545318FEAE4}"/>
              </a:ext>
            </a:extLst>
          </p:cNvPr>
          <p:cNvSpPr/>
          <p:nvPr/>
        </p:nvSpPr>
        <p:spPr bwMode="auto">
          <a:xfrm>
            <a:off x="9118600" y="37592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A7BB059-7F53-E749-AC13-3FF96661BA83}"/>
              </a:ext>
            </a:extLst>
          </p:cNvPr>
          <p:cNvSpPr txBox="1"/>
          <p:nvPr/>
        </p:nvSpPr>
        <p:spPr>
          <a:xfrm>
            <a:off x="9271000" y="39116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04</a:t>
            </a:r>
            <a:endParaRPr lang="en-US" sz="900" b="1" dirty="0">
              <a:solidFill>
                <a:srgbClr val="F900D3"/>
              </a:solidFill>
              <a:latin typeface="Arial"/>
              <a:cs typeface="Arial"/>
            </a:endParaRPr>
          </a:p>
        </p:txBody>
      </p:sp>
      <p:sp>
        <p:nvSpPr>
          <p:cNvPr id="30" name="TextBox 29">
            <a:extLst>
              <a:ext uri="{FF2B5EF4-FFF2-40B4-BE49-F238E27FC236}">
                <a16:creationId xmlns:a16="http://schemas.microsoft.com/office/drawing/2014/main" id="{E81A1754-C62A-9340-828F-1507EB0BF98D}"/>
              </a:ext>
            </a:extLst>
          </p:cNvPr>
          <p:cNvSpPr txBox="1"/>
          <p:nvPr/>
        </p:nvSpPr>
        <p:spPr>
          <a:xfrm>
            <a:off x="9677400" y="38481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Roadmap + first wave</a:t>
            </a:r>
            <a:endParaRPr lang="en-US" sz="1000" b="1" dirty="0">
              <a:solidFill>
                <a:srgbClr val="070154"/>
              </a:solidFill>
              <a:latin typeface="Arial"/>
              <a:cs typeface="Arial"/>
            </a:endParaRPr>
          </a:p>
        </p:txBody>
      </p:sp>
      <p:sp>
        <p:nvSpPr>
          <p:cNvPr id="31" name="Rectangle 30">
            <a:extLst>
              <a:ext uri="{FF2B5EF4-FFF2-40B4-BE49-F238E27FC236}">
                <a16:creationId xmlns:a16="http://schemas.microsoft.com/office/drawing/2014/main" id="{3375BC94-8D43-EF4D-96D9-538EF700EFE6}"/>
              </a:ext>
            </a:extLst>
          </p:cNvPr>
          <p:cNvSpPr/>
          <p:nvPr/>
        </p:nvSpPr>
        <p:spPr bwMode="auto">
          <a:xfrm>
            <a:off x="609600" y="5270500"/>
            <a:ext cx="8255000" cy="571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A26CFF14-2BDE-1848-A022-DAC182E8D21B}"/>
              </a:ext>
            </a:extLst>
          </p:cNvPr>
          <p:cNvSpPr txBox="1"/>
          <p:nvPr/>
        </p:nvSpPr>
        <p:spPr>
          <a:xfrm>
            <a:off x="863600" y="5435600"/>
            <a:ext cx="7747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Best for buyers deciding what to modernize, which path to take, and where to start.</a:t>
            </a:r>
            <a:endParaRPr lang="en-US" sz="1000" b="1" dirty="0">
              <a:solidFill>
                <a:srgbClr val="070154"/>
              </a:solidFill>
              <a:latin typeface="Arial"/>
              <a:cs typeface="Arial"/>
            </a:endParaRPr>
          </a:p>
        </p:txBody>
      </p:sp>
      <p:sp>
        <p:nvSpPr>
          <p:cNvPr id="3" name="TextBox 2">
            <a:extLst>
              <a:ext uri="{FF2B5EF4-FFF2-40B4-BE49-F238E27FC236}">
                <a16:creationId xmlns:a16="http://schemas.microsoft.com/office/drawing/2014/main" id="{D9C2D31F-41C9-834B-806E-5C698A45F50E}"/>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D0847E0D-C3A0-6C47-8917-F1C8F445903B}"/>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endParaRPr lang="en-US" sz="550" dirty="0">
              <a:solidFill>
                <a:srgbClr val="070154"/>
              </a:solidFill>
              <a:latin typeface="Arial"/>
              <a:cs typeface="Arial"/>
            </a:endParaRPr>
          </a:p>
        </p:txBody>
      </p:sp>
    </p:spTree>
    <p:extLst>
      <p:ext uri="{BB962C8B-B14F-4D97-AF65-F5344CB8AC3E}">
        <p14:creationId xmlns:p14="http://schemas.microsoft.com/office/powerpoint/2010/main" val="6842567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935183-3740-D141-93BF-ACF77F523972}"/>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450" b="0" i="0" u="none" strike="noStrike" kern="1200" cap="none" spc="0" normalizeH="0" baseline="0" noProof="0">
                <a:ln>
                  <a:noFill/>
                </a:ln>
                <a:solidFill>
                  <a:srgbClr val="070154"/>
                </a:solidFill>
                <a:effectLst/>
                <a:uLnTx/>
                <a:uFillTx/>
                <a:latin typeface="Arial"/>
                <a:ea typeface="+mn-ea"/>
                <a:cs typeface="Arial"/>
              </a:rPr>
              <a:t>© 2026 West Monroe Partners | Reproduction and/or distribution without West Monroe Partners’ prior consent is prohibited.</a:t>
            </a:r>
            <a:endParaRPr kumimoji="0" lang="en-US" sz="450" b="0" i="0" u="none" strike="noStrike" kern="1200" cap="none" spc="0" normalizeH="0" baseline="0" noProof="0" dirty="0">
              <a:ln>
                <a:noFill/>
              </a:ln>
              <a:solidFill>
                <a:srgbClr val="070154"/>
              </a:solidFill>
              <a:effectLst/>
              <a:uLnTx/>
              <a:uFillTx/>
              <a:latin typeface="Arial"/>
              <a:ea typeface="+mn-ea"/>
              <a:cs typeface="Arial"/>
            </a:endParaRPr>
          </a:p>
        </p:txBody>
      </p:sp>
      <p:sp>
        <p:nvSpPr>
          <p:cNvPr id="4" name="TextBox 3">
            <a:extLst>
              <a:ext uri="{FF2B5EF4-FFF2-40B4-BE49-F238E27FC236}">
                <a16:creationId xmlns:a16="http://schemas.microsoft.com/office/drawing/2014/main" id="{F874331C-6F99-1249-8B7A-7B6338B49670}"/>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550" b="0" i="0" u="none" strike="noStrike" kern="1200" cap="none" spc="0" normalizeH="0" baseline="0" noProof="0">
                <a:ln>
                  <a:noFill/>
                </a:ln>
                <a:solidFill>
                  <a:srgbClr val="070154"/>
                </a:solidFill>
                <a:effectLst/>
                <a:uLnTx/>
                <a:uFillTx/>
                <a:latin typeface="Arial"/>
                <a:ea typeface="+mn-ea"/>
                <a:cs typeface="Arial"/>
              </a:rPr>
              <a:t>16</a:t>
            </a:r>
            <a:endParaRPr kumimoji="0" lang="en-US" sz="550" b="0" i="0" u="none" strike="noStrike" kern="1200" cap="none" spc="0" normalizeH="0" baseline="0" noProof="0" dirty="0">
              <a:ln>
                <a:noFill/>
              </a:ln>
              <a:solidFill>
                <a:srgbClr val="070154"/>
              </a:solidFill>
              <a:effectLst/>
              <a:uLnTx/>
              <a:uFillTx/>
              <a:latin typeface="Arial"/>
              <a:ea typeface="+mn-ea"/>
              <a:cs typeface="Arial"/>
            </a:endParaRPr>
          </a:p>
        </p:txBody>
      </p:sp>
      <p:sp>
        <p:nvSpPr>
          <p:cNvPr id="6" name="TextBox 5">
            <a:extLst>
              <a:ext uri="{FF2B5EF4-FFF2-40B4-BE49-F238E27FC236}">
                <a16:creationId xmlns:a16="http://schemas.microsoft.com/office/drawing/2014/main" id="{6EA6F95C-A307-DD44-8A62-7892488C3A7F}"/>
              </a:ext>
            </a:extLst>
          </p:cNvPr>
          <p:cNvSpPr txBox="1"/>
          <p:nvPr/>
        </p:nvSpPr>
        <p:spPr>
          <a:xfrm>
            <a:off x="457200" y="457200"/>
            <a:ext cx="11277600" cy="736600"/>
          </a:xfrm>
          <a:prstGeom prst="rect">
            <a:avLst/>
          </a:prstGeom>
          <a:noFill/>
        </p:spPr>
        <p:txBody>
          <a:bodyPr vertOverflow="overflow" vert="horz" wrap="square" lIns="0" tIns="0" rIns="0" bIns="0" rtlCol="0" anchor="ctr" anchorCtr="0">
            <a:normAutofit lnSpcReduction="10000"/>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500" b="1" i="0" u="none" strike="noStrike" kern="1200" cap="none" spc="0" normalizeH="0" baseline="0" noProof="0">
                <a:ln>
                  <a:noFill/>
                </a:ln>
                <a:solidFill>
                  <a:srgbClr val="070154"/>
                </a:solidFill>
                <a:effectLst/>
                <a:uLnTx/>
                <a:uFillTx/>
                <a:latin typeface="Arial"/>
                <a:ea typeface="+mn-ea"/>
                <a:cs typeface="Arial"/>
              </a:rPr>
              <a:t>Rationalization makes the portfolio clear, the modernization path actionable, and delivery ready to accelerate.</a:t>
            </a:r>
            <a:endParaRPr kumimoji="0" lang="en-US" sz="2500" b="1" i="0" u="none" strike="noStrike" kern="1200" cap="none" spc="0" normalizeH="0" baseline="0" noProof="0" dirty="0">
              <a:ln>
                <a:noFill/>
              </a:ln>
              <a:solidFill>
                <a:srgbClr val="070154"/>
              </a:solidFill>
              <a:effectLst/>
              <a:uLnTx/>
              <a:uFillTx/>
              <a:latin typeface="Arial"/>
              <a:ea typeface="+mn-ea"/>
              <a:cs typeface="Arial"/>
            </a:endParaRPr>
          </a:p>
        </p:txBody>
      </p:sp>
      <p:sp>
        <p:nvSpPr>
          <p:cNvPr id="7" name="TextBox 6">
            <a:extLst>
              <a:ext uri="{FF2B5EF4-FFF2-40B4-BE49-F238E27FC236}">
                <a16:creationId xmlns:a16="http://schemas.microsoft.com/office/drawing/2014/main" id="{7F9B1C3E-E5F1-E648-9F34-81A9F396B53C}"/>
              </a:ext>
            </a:extLst>
          </p:cNvPr>
          <p:cNvSpPr txBox="1"/>
          <p:nvPr/>
        </p:nvSpPr>
        <p:spPr>
          <a:xfrm>
            <a:off x="457200" y="1219200"/>
            <a:ext cx="11277600" cy="431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50658E"/>
                </a:solidFill>
                <a:effectLst/>
                <a:uLnTx/>
                <a:uFillTx/>
                <a:latin typeface="Arial"/>
                <a:ea typeface="+mn-ea"/>
                <a:cs typeface="Arial"/>
              </a:rPr>
              <a:t>It aligns outcomes, reconstructs how work and systems operate, tests the future state, and captures context that teams and AI agents can use through build.</a:t>
            </a:r>
            <a:endParaRPr kumimoji="0" lang="en-US" sz="1200" b="0" i="0" u="none" strike="noStrike" kern="1200" cap="none" spc="0" normalizeH="0" baseline="0" noProof="0" dirty="0">
              <a:ln>
                <a:noFill/>
              </a:ln>
              <a:solidFill>
                <a:srgbClr val="50658E"/>
              </a:solidFill>
              <a:effectLst/>
              <a:uLnTx/>
              <a:uFillTx/>
              <a:latin typeface="Arial"/>
              <a:ea typeface="+mn-ea"/>
              <a:cs typeface="Arial"/>
            </a:endParaRPr>
          </a:p>
        </p:txBody>
      </p:sp>
      <p:sp>
        <p:nvSpPr>
          <p:cNvPr id="8" name="Rectangle 7">
            <a:extLst>
              <a:ext uri="{FF2B5EF4-FFF2-40B4-BE49-F238E27FC236}">
                <a16:creationId xmlns:a16="http://schemas.microsoft.com/office/drawing/2014/main" id="{690DA0BE-DBDB-BE40-8C32-C2B6A6F9D084}"/>
              </a:ext>
            </a:extLst>
          </p:cNvPr>
          <p:cNvSpPr/>
          <p:nvPr/>
        </p:nvSpPr>
        <p:spPr bwMode="auto">
          <a:xfrm>
            <a:off x="457200" y="1841500"/>
            <a:ext cx="1676400" cy="355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RATIONALIZATION</a:t>
            </a:r>
            <a:endParaRPr kumimoji="0" lang="en-US" sz="11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9" name="TextBox 8">
            <a:extLst>
              <a:ext uri="{FF2B5EF4-FFF2-40B4-BE49-F238E27FC236}">
                <a16:creationId xmlns:a16="http://schemas.microsoft.com/office/drawing/2014/main" id="{10B801E7-B1AC-784F-838D-7D64828B163D}"/>
              </a:ext>
            </a:extLst>
          </p:cNvPr>
          <p:cNvSpPr txBox="1"/>
          <p:nvPr/>
        </p:nvSpPr>
        <p:spPr>
          <a:xfrm>
            <a:off x="2336800" y="1841500"/>
            <a:ext cx="4635500" cy="355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Arial"/>
              </a:rPr>
              <a:t>Build the shared context that makes modernization actionable</a:t>
            </a:r>
            <a:endParaRPr kumimoji="0" lang="en-US" sz="1200" b="1" i="0" u="none" strike="noStrike" kern="1200" cap="none" spc="0" normalizeH="0" baseline="0" noProof="0" dirty="0">
              <a:ln>
                <a:noFill/>
              </a:ln>
              <a:solidFill>
                <a:srgbClr val="070154"/>
              </a:solidFill>
              <a:effectLst/>
              <a:uLnTx/>
              <a:uFillTx/>
              <a:latin typeface="Arial"/>
              <a:ea typeface="+mn-ea"/>
              <a:cs typeface="Arial"/>
            </a:endParaRPr>
          </a:p>
        </p:txBody>
      </p:sp>
      <p:sp>
        <p:nvSpPr>
          <p:cNvPr id="10" name="TextBox 9">
            <a:extLst>
              <a:ext uri="{FF2B5EF4-FFF2-40B4-BE49-F238E27FC236}">
                <a16:creationId xmlns:a16="http://schemas.microsoft.com/office/drawing/2014/main" id="{A7715092-07DD-6F45-AED9-CA7D30580BDE}"/>
              </a:ext>
            </a:extLst>
          </p:cNvPr>
          <p:cNvSpPr txBox="1"/>
          <p:nvPr/>
        </p:nvSpPr>
        <p:spPr>
          <a:xfrm>
            <a:off x="7747000" y="1841500"/>
            <a:ext cx="3987800" cy="355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50658E"/>
                </a:solidFill>
                <a:effectLst/>
                <a:uLnTx/>
                <a:uFillTx/>
                <a:latin typeface="Arial"/>
                <a:ea typeface="+mn-ea"/>
                <a:cs typeface="Arial"/>
              </a:rPr>
              <a:t>Decide at the right level: portfolio, application, capability, or module</a:t>
            </a:r>
            <a:endParaRPr kumimoji="0" lang="en-US" sz="1100" b="0" i="0" u="none" strike="noStrike" kern="1200" cap="none" spc="0" normalizeH="0" baseline="0" noProof="0" dirty="0">
              <a:ln>
                <a:noFill/>
              </a:ln>
              <a:solidFill>
                <a:srgbClr val="50658E"/>
              </a:solidFill>
              <a:effectLst/>
              <a:uLnTx/>
              <a:uFillTx/>
              <a:latin typeface="Arial"/>
              <a:ea typeface="+mn-ea"/>
              <a:cs typeface="Arial"/>
            </a:endParaRPr>
          </a:p>
        </p:txBody>
      </p:sp>
      <p:sp>
        <p:nvSpPr>
          <p:cNvPr id="11" name="Rectangle 10">
            <a:extLst>
              <a:ext uri="{FF2B5EF4-FFF2-40B4-BE49-F238E27FC236}">
                <a16:creationId xmlns:a16="http://schemas.microsoft.com/office/drawing/2014/main" id="{E1E695E1-B358-AA47-AE18-994963B4172E}"/>
              </a:ext>
            </a:extLst>
          </p:cNvPr>
          <p:cNvSpPr/>
          <p:nvPr/>
        </p:nvSpPr>
        <p:spPr bwMode="auto">
          <a:xfrm>
            <a:off x="1143000" y="2781300"/>
            <a:ext cx="9652000" cy="508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2" name="Oval 11">
            <a:extLst>
              <a:ext uri="{FF2B5EF4-FFF2-40B4-BE49-F238E27FC236}">
                <a16:creationId xmlns:a16="http://schemas.microsoft.com/office/drawing/2014/main" id="{29F57558-97AD-9D4B-89FB-F0A56EF22112}"/>
              </a:ext>
            </a:extLst>
          </p:cNvPr>
          <p:cNvSpPr/>
          <p:nvPr/>
        </p:nvSpPr>
        <p:spPr bwMode="auto">
          <a:xfrm>
            <a:off x="914400" y="2514600"/>
            <a:ext cx="584200" cy="584200"/>
          </a:xfrm>
          <a:prstGeom prst="ellipse">
            <a:avLst/>
          </a:prstGeom>
          <a:solidFill>
            <a:srgbClr val="F900D3"/>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30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01</a:t>
            </a:r>
            <a:endParaRPr kumimoji="0" lang="en-US" sz="130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13" name="TextBox 12">
            <a:extLst>
              <a:ext uri="{FF2B5EF4-FFF2-40B4-BE49-F238E27FC236}">
                <a16:creationId xmlns:a16="http://schemas.microsoft.com/office/drawing/2014/main" id="{315BC383-2C2C-8849-AACA-9A6DF50E80CA}"/>
              </a:ext>
            </a:extLst>
          </p:cNvPr>
          <p:cNvSpPr txBox="1"/>
          <p:nvPr/>
        </p:nvSpPr>
        <p:spPr>
          <a:xfrm>
            <a:off x="685800" y="3200400"/>
            <a:ext cx="2336800" cy="381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Arial"/>
              </a:rPr>
              <a:t>ALIGN THE THESIS</a:t>
            </a:r>
            <a:endParaRPr kumimoji="0" lang="en-US" sz="1200" b="1" i="0" u="none" strike="noStrike" kern="1200" cap="none" spc="0" normalizeH="0" baseline="0" noProof="0" dirty="0">
              <a:ln>
                <a:noFill/>
              </a:ln>
              <a:solidFill>
                <a:srgbClr val="070154"/>
              </a:solidFill>
              <a:effectLst/>
              <a:uLnTx/>
              <a:uFillTx/>
              <a:latin typeface="Arial"/>
              <a:ea typeface="+mn-ea"/>
              <a:cs typeface="Arial"/>
            </a:endParaRPr>
          </a:p>
        </p:txBody>
      </p:sp>
      <p:sp>
        <p:nvSpPr>
          <p:cNvPr id="15" name="TextBox 14">
            <a:extLst>
              <a:ext uri="{FF2B5EF4-FFF2-40B4-BE49-F238E27FC236}">
                <a16:creationId xmlns:a16="http://schemas.microsoft.com/office/drawing/2014/main" id="{2AA7EA5A-01A9-F14D-9952-1F02AFDB58C4}"/>
              </a:ext>
            </a:extLst>
          </p:cNvPr>
          <p:cNvSpPr txBox="1"/>
          <p:nvPr/>
        </p:nvSpPr>
        <p:spPr>
          <a:xfrm>
            <a:off x="685800" y="3644900"/>
            <a:ext cx="2336800" cy="558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Arial"/>
              </a:rPr>
              <a:t>What outcome would justify action?</a:t>
            </a:r>
            <a:endParaRPr kumimoji="0" lang="en-US" sz="1200" b="1" i="0" u="none" strike="noStrike" kern="1200" cap="none" spc="0" normalizeH="0" baseline="0" noProof="0" dirty="0">
              <a:ln>
                <a:noFill/>
              </a:ln>
              <a:solidFill>
                <a:srgbClr val="070154"/>
              </a:solidFill>
              <a:effectLst/>
              <a:uLnTx/>
              <a:uFillTx/>
              <a:latin typeface="Arial"/>
              <a:ea typeface="+mn-ea"/>
              <a:cs typeface="Arial"/>
            </a:endParaRPr>
          </a:p>
        </p:txBody>
      </p:sp>
      <p:sp>
        <p:nvSpPr>
          <p:cNvPr id="17" name="TextBox 16">
            <a:extLst>
              <a:ext uri="{FF2B5EF4-FFF2-40B4-BE49-F238E27FC236}">
                <a16:creationId xmlns:a16="http://schemas.microsoft.com/office/drawing/2014/main" id="{EB3B350D-DF8D-5F4A-A08B-0795C12AADA4}"/>
              </a:ext>
            </a:extLst>
          </p:cNvPr>
          <p:cNvSpPr txBox="1"/>
          <p:nvPr/>
        </p:nvSpPr>
        <p:spPr>
          <a:xfrm>
            <a:off x="685800" y="4445000"/>
            <a:ext cx="2336800" cy="685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a:ln>
                  <a:noFill/>
                </a:ln>
                <a:solidFill>
                  <a:srgbClr val="50658E"/>
                </a:solidFill>
                <a:effectLst/>
                <a:uLnTx/>
                <a:uFillTx/>
                <a:latin typeface="Arial"/>
                <a:ea typeface="+mn-ea"/>
                <a:cs typeface="Arial"/>
              </a:rPr>
              <a:t>Decision thesis + assessment questions</a:t>
            </a:r>
            <a:endParaRPr kumimoji="0" lang="en-US" sz="1050" b="0" i="0" u="none" strike="noStrike" kern="1200" cap="none" spc="0" normalizeH="0" baseline="0" noProof="0" dirty="0">
              <a:ln>
                <a:noFill/>
              </a:ln>
              <a:solidFill>
                <a:srgbClr val="50658E"/>
              </a:solidFill>
              <a:effectLst/>
              <a:uLnTx/>
              <a:uFillTx/>
              <a:latin typeface="Arial"/>
              <a:ea typeface="+mn-ea"/>
              <a:cs typeface="Arial"/>
            </a:endParaRPr>
          </a:p>
        </p:txBody>
      </p:sp>
      <p:sp>
        <p:nvSpPr>
          <p:cNvPr id="18" name="Oval 17">
            <a:extLst>
              <a:ext uri="{FF2B5EF4-FFF2-40B4-BE49-F238E27FC236}">
                <a16:creationId xmlns:a16="http://schemas.microsoft.com/office/drawing/2014/main" id="{FD0CDBA1-4993-9C4D-B964-4D730A86EF7F}"/>
              </a:ext>
            </a:extLst>
          </p:cNvPr>
          <p:cNvSpPr/>
          <p:nvPr/>
        </p:nvSpPr>
        <p:spPr bwMode="auto">
          <a:xfrm>
            <a:off x="3708400" y="2514600"/>
            <a:ext cx="584200" cy="584200"/>
          </a:xfrm>
          <a:prstGeom prst="ellipse">
            <a:avLst/>
          </a:prstGeom>
          <a:solidFill>
            <a:srgbClr val="004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3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02</a:t>
            </a:r>
            <a:endParaRPr kumimoji="0" lang="en-US" sz="13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41" name="TextBox 40">
            <a:extLst>
              <a:ext uri="{FF2B5EF4-FFF2-40B4-BE49-F238E27FC236}">
                <a16:creationId xmlns:a16="http://schemas.microsoft.com/office/drawing/2014/main" id="{04E5BC5F-2870-8649-9D0F-594673F7CA8E}"/>
              </a:ext>
            </a:extLst>
          </p:cNvPr>
          <p:cNvSpPr txBox="1"/>
          <p:nvPr/>
        </p:nvSpPr>
        <p:spPr>
          <a:xfrm>
            <a:off x="3479800" y="3200400"/>
            <a:ext cx="2336800" cy="381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Arial"/>
              </a:rPr>
              <a:t>RECONSTRUCT REALITY</a:t>
            </a:r>
            <a:endParaRPr kumimoji="0" lang="en-US" sz="1200" b="1" i="0" u="none" strike="noStrike" kern="1200" cap="none" spc="0" normalizeH="0" baseline="0" noProof="0" dirty="0">
              <a:ln>
                <a:noFill/>
              </a:ln>
              <a:solidFill>
                <a:srgbClr val="070154"/>
              </a:solidFill>
              <a:effectLst/>
              <a:uLnTx/>
              <a:uFillTx/>
              <a:latin typeface="Arial"/>
              <a:ea typeface="+mn-ea"/>
              <a:cs typeface="Arial"/>
            </a:endParaRPr>
          </a:p>
        </p:txBody>
      </p:sp>
      <p:sp>
        <p:nvSpPr>
          <p:cNvPr id="42" name="TextBox 41">
            <a:extLst>
              <a:ext uri="{FF2B5EF4-FFF2-40B4-BE49-F238E27FC236}">
                <a16:creationId xmlns:a16="http://schemas.microsoft.com/office/drawing/2014/main" id="{2DDE70FD-3BFE-9049-B5B7-1441254A0F53}"/>
              </a:ext>
            </a:extLst>
          </p:cNvPr>
          <p:cNvSpPr txBox="1"/>
          <p:nvPr/>
        </p:nvSpPr>
        <p:spPr>
          <a:xfrm>
            <a:off x="3479800" y="3644900"/>
            <a:ext cx="2336800" cy="558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Arial"/>
              </a:rPr>
              <a:t>How do work and systems operate today?</a:t>
            </a:r>
            <a:endParaRPr kumimoji="0" lang="en-US" sz="1200" b="1" i="0" u="none" strike="noStrike" kern="1200" cap="none" spc="0" normalizeH="0" baseline="0" noProof="0" dirty="0">
              <a:ln>
                <a:noFill/>
              </a:ln>
              <a:solidFill>
                <a:srgbClr val="070154"/>
              </a:solidFill>
              <a:effectLst/>
              <a:uLnTx/>
              <a:uFillTx/>
              <a:latin typeface="Arial"/>
              <a:ea typeface="+mn-ea"/>
              <a:cs typeface="Arial"/>
            </a:endParaRPr>
          </a:p>
        </p:txBody>
      </p:sp>
      <p:sp>
        <p:nvSpPr>
          <p:cNvPr id="44" name="TextBox 43">
            <a:extLst>
              <a:ext uri="{FF2B5EF4-FFF2-40B4-BE49-F238E27FC236}">
                <a16:creationId xmlns:a16="http://schemas.microsoft.com/office/drawing/2014/main" id="{4AD072C2-24C8-6349-B028-37222A85C332}"/>
              </a:ext>
            </a:extLst>
          </p:cNvPr>
          <p:cNvSpPr txBox="1"/>
          <p:nvPr/>
        </p:nvSpPr>
        <p:spPr>
          <a:xfrm>
            <a:off x="3479800" y="4445000"/>
            <a:ext cx="2336800" cy="685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a:ln>
                  <a:noFill/>
                </a:ln>
                <a:solidFill>
                  <a:srgbClr val="50658E"/>
                </a:solidFill>
                <a:effectLst/>
                <a:uLnTx/>
                <a:uFillTx/>
                <a:latin typeface="Arial"/>
                <a:ea typeface="+mn-ea"/>
                <a:cs typeface="Arial"/>
              </a:rPr>
              <a:t>Current-state process, logic, risk, and cost baseline</a:t>
            </a:r>
            <a:endParaRPr kumimoji="0" lang="en-US" sz="1050" b="0" i="0" u="none" strike="noStrike" kern="1200" cap="none" spc="0" normalizeH="0" baseline="0" noProof="0" dirty="0">
              <a:ln>
                <a:noFill/>
              </a:ln>
              <a:solidFill>
                <a:srgbClr val="50658E"/>
              </a:solidFill>
              <a:effectLst/>
              <a:uLnTx/>
              <a:uFillTx/>
              <a:latin typeface="Arial"/>
              <a:ea typeface="+mn-ea"/>
              <a:cs typeface="Arial"/>
            </a:endParaRPr>
          </a:p>
        </p:txBody>
      </p:sp>
      <p:sp>
        <p:nvSpPr>
          <p:cNvPr id="45" name="Oval 44">
            <a:extLst>
              <a:ext uri="{FF2B5EF4-FFF2-40B4-BE49-F238E27FC236}">
                <a16:creationId xmlns:a16="http://schemas.microsoft.com/office/drawing/2014/main" id="{E09B2177-75A3-3644-9F15-0D060F160655}"/>
              </a:ext>
            </a:extLst>
          </p:cNvPr>
          <p:cNvSpPr/>
          <p:nvPr/>
        </p:nvSpPr>
        <p:spPr bwMode="auto">
          <a:xfrm>
            <a:off x="6502400" y="2514600"/>
            <a:ext cx="584200" cy="584200"/>
          </a:xfrm>
          <a:prstGeom prst="ellipse">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3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03</a:t>
            </a:r>
            <a:endParaRPr kumimoji="0" lang="en-US" sz="13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46" name="TextBox 45">
            <a:extLst>
              <a:ext uri="{FF2B5EF4-FFF2-40B4-BE49-F238E27FC236}">
                <a16:creationId xmlns:a16="http://schemas.microsoft.com/office/drawing/2014/main" id="{194D5808-6DA4-D649-BC9D-9BE04933B042}"/>
              </a:ext>
            </a:extLst>
          </p:cNvPr>
          <p:cNvSpPr txBox="1"/>
          <p:nvPr/>
        </p:nvSpPr>
        <p:spPr>
          <a:xfrm>
            <a:off x="6273800" y="3200400"/>
            <a:ext cx="2336800" cy="381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Arial"/>
              </a:rPr>
              <a:t>REIMAGINE THE CAPABILITY</a:t>
            </a:r>
            <a:endParaRPr kumimoji="0" lang="en-US" sz="1200" b="1" i="0" u="none" strike="noStrike" kern="1200" cap="none" spc="0" normalizeH="0" baseline="0" noProof="0" dirty="0">
              <a:ln>
                <a:noFill/>
              </a:ln>
              <a:solidFill>
                <a:srgbClr val="070154"/>
              </a:solidFill>
              <a:effectLst/>
              <a:uLnTx/>
              <a:uFillTx/>
              <a:latin typeface="Arial"/>
              <a:ea typeface="+mn-ea"/>
              <a:cs typeface="Arial"/>
            </a:endParaRPr>
          </a:p>
        </p:txBody>
      </p:sp>
      <p:sp>
        <p:nvSpPr>
          <p:cNvPr id="47" name="TextBox 46">
            <a:extLst>
              <a:ext uri="{FF2B5EF4-FFF2-40B4-BE49-F238E27FC236}">
                <a16:creationId xmlns:a16="http://schemas.microsoft.com/office/drawing/2014/main" id="{BCB6095F-BD41-5B49-894F-2CB85C923320}"/>
              </a:ext>
            </a:extLst>
          </p:cNvPr>
          <p:cNvSpPr txBox="1"/>
          <p:nvPr/>
        </p:nvSpPr>
        <p:spPr>
          <a:xfrm>
            <a:off x="6273800" y="3644900"/>
            <a:ext cx="2336800" cy="558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Arial"/>
              </a:rPr>
              <a:t>What should the future capability become?</a:t>
            </a:r>
            <a:endParaRPr kumimoji="0" lang="en-US" sz="1200" b="1" i="0" u="none" strike="noStrike" kern="1200" cap="none" spc="0" normalizeH="0" baseline="0" noProof="0" dirty="0">
              <a:ln>
                <a:noFill/>
              </a:ln>
              <a:solidFill>
                <a:srgbClr val="070154"/>
              </a:solidFill>
              <a:effectLst/>
              <a:uLnTx/>
              <a:uFillTx/>
              <a:latin typeface="Arial"/>
              <a:ea typeface="+mn-ea"/>
              <a:cs typeface="Arial"/>
            </a:endParaRPr>
          </a:p>
        </p:txBody>
      </p:sp>
      <p:sp>
        <p:nvSpPr>
          <p:cNvPr id="49" name="TextBox 48">
            <a:extLst>
              <a:ext uri="{FF2B5EF4-FFF2-40B4-BE49-F238E27FC236}">
                <a16:creationId xmlns:a16="http://schemas.microsoft.com/office/drawing/2014/main" id="{2EC1E4DB-D38E-7A41-9D55-D0E16258E8DA}"/>
              </a:ext>
            </a:extLst>
          </p:cNvPr>
          <p:cNvSpPr txBox="1"/>
          <p:nvPr/>
        </p:nvSpPr>
        <p:spPr>
          <a:xfrm>
            <a:off x="6273800" y="4445000"/>
            <a:ext cx="2336800" cy="685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a:ln>
                  <a:noFill/>
                </a:ln>
                <a:solidFill>
                  <a:srgbClr val="50658E"/>
                </a:solidFill>
                <a:effectLst/>
                <a:uLnTx/>
                <a:uFillTx/>
                <a:latin typeface="Arial"/>
                <a:ea typeface="+mn-ea"/>
                <a:cs typeface="Arial"/>
              </a:rPr>
              <a:t>Testable process and experience alternatives</a:t>
            </a:r>
            <a:endParaRPr kumimoji="0" lang="en-US" sz="1050" b="0" i="0" u="none" strike="noStrike" kern="1200" cap="none" spc="0" normalizeH="0" baseline="0" noProof="0" dirty="0">
              <a:ln>
                <a:noFill/>
              </a:ln>
              <a:solidFill>
                <a:srgbClr val="50658E"/>
              </a:solidFill>
              <a:effectLst/>
              <a:uLnTx/>
              <a:uFillTx/>
              <a:latin typeface="Arial"/>
              <a:ea typeface="+mn-ea"/>
              <a:cs typeface="Arial"/>
            </a:endParaRPr>
          </a:p>
        </p:txBody>
      </p:sp>
      <p:sp>
        <p:nvSpPr>
          <p:cNvPr id="50" name="Oval 49">
            <a:extLst>
              <a:ext uri="{FF2B5EF4-FFF2-40B4-BE49-F238E27FC236}">
                <a16:creationId xmlns:a16="http://schemas.microsoft.com/office/drawing/2014/main" id="{FEFA81DF-10A3-CC44-B913-80B112A1B6F2}"/>
              </a:ext>
            </a:extLst>
          </p:cNvPr>
          <p:cNvSpPr/>
          <p:nvPr/>
        </p:nvSpPr>
        <p:spPr bwMode="auto">
          <a:xfrm>
            <a:off x="9296400" y="2514600"/>
            <a:ext cx="584200" cy="584200"/>
          </a:xfrm>
          <a:prstGeom prst="ellipse">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3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04</a:t>
            </a:r>
            <a:endParaRPr kumimoji="0" lang="en-US" sz="13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51" name="TextBox 50">
            <a:extLst>
              <a:ext uri="{FF2B5EF4-FFF2-40B4-BE49-F238E27FC236}">
                <a16:creationId xmlns:a16="http://schemas.microsoft.com/office/drawing/2014/main" id="{5C7926FE-63F0-B441-BA2A-7BB0BBC88305}"/>
              </a:ext>
            </a:extLst>
          </p:cNvPr>
          <p:cNvSpPr txBox="1"/>
          <p:nvPr/>
        </p:nvSpPr>
        <p:spPr>
          <a:xfrm>
            <a:off x="9067800" y="3200400"/>
            <a:ext cx="2336800" cy="381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Arial"/>
              </a:rPr>
              <a:t>PLAN THE PATH</a:t>
            </a:r>
            <a:endParaRPr kumimoji="0" lang="en-US" sz="1200" b="1" i="0" u="none" strike="noStrike" kern="1200" cap="none" spc="0" normalizeH="0" baseline="0" noProof="0" dirty="0">
              <a:ln>
                <a:noFill/>
              </a:ln>
              <a:solidFill>
                <a:srgbClr val="070154"/>
              </a:solidFill>
              <a:effectLst/>
              <a:uLnTx/>
              <a:uFillTx/>
              <a:latin typeface="Arial"/>
              <a:ea typeface="+mn-ea"/>
              <a:cs typeface="Arial"/>
            </a:endParaRPr>
          </a:p>
        </p:txBody>
      </p:sp>
      <p:sp>
        <p:nvSpPr>
          <p:cNvPr id="52" name="TextBox 51">
            <a:extLst>
              <a:ext uri="{FF2B5EF4-FFF2-40B4-BE49-F238E27FC236}">
                <a16:creationId xmlns:a16="http://schemas.microsoft.com/office/drawing/2014/main" id="{53A64578-1B55-4246-A6CC-BA69A2CDB8A7}"/>
              </a:ext>
            </a:extLst>
          </p:cNvPr>
          <p:cNvSpPr txBox="1"/>
          <p:nvPr/>
        </p:nvSpPr>
        <p:spPr>
          <a:xfrm>
            <a:off x="9067800" y="3644900"/>
            <a:ext cx="2336800" cy="558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Arial"/>
              </a:rPr>
              <a:t>Which disposition and first wave make sense?</a:t>
            </a:r>
            <a:endParaRPr kumimoji="0" lang="en-US" sz="1200" b="1" i="0" u="none" strike="noStrike" kern="1200" cap="none" spc="0" normalizeH="0" baseline="0" noProof="0" dirty="0">
              <a:ln>
                <a:noFill/>
              </a:ln>
              <a:solidFill>
                <a:srgbClr val="070154"/>
              </a:solidFill>
              <a:effectLst/>
              <a:uLnTx/>
              <a:uFillTx/>
              <a:latin typeface="Arial"/>
              <a:ea typeface="+mn-ea"/>
              <a:cs typeface="Arial"/>
            </a:endParaRPr>
          </a:p>
        </p:txBody>
      </p:sp>
      <p:sp>
        <p:nvSpPr>
          <p:cNvPr id="54" name="TextBox 53">
            <a:extLst>
              <a:ext uri="{FF2B5EF4-FFF2-40B4-BE49-F238E27FC236}">
                <a16:creationId xmlns:a16="http://schemas.microsoft.com/office/drawing/2014/main" id="{5B8715FD-612A-CB4B-A070-5F5C79F811E7}"/>
              </a:ext>
            </a:extLst>
          </p:cNvPr>
          <p:cNvSpPr txBox="1"/>
          <p:nvPr/>
        </p:nvSpPr>
        <p:spPr>
          <a:xfrm>
            <a:off x="9067800" y="4445000"/>
            <a:ext cx="2336800" cy="685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a:ln>
                  <a:noFill/>
                </a:ln>
                <a:solidFill>
                  <a:srgbClr val="50658E"/>
                </a:solidFill>
                <a:effectLst/>
                <a:uLnTx/>
                <a:uFillTx/>
                <a:latin typeface="Arial"/>
                <a:ea typeface="+mn-ea"/>
                <a:cs typeface="Arial"/>
              </a:rPr>
              <a:t>Disposition, economics, roadmap, and first wave</a:t>
            </a:r>
            <a:endParaRPr kumimoji="0" lang="en-US" sz="1050" b="0" i="0" u="none" strike="noStrike" kern="1200" cap="none" spc="0" normalizeH="0" baseline="0" noProof="0" dirty="0">
              <a:ln>
                <a:noFill/>
              </a:ln>
              <a:solidFill>
                <a:srgbClr val="50658E"/>
              </a:solidFill>
              <a:effectLst/>
              <a:uLnTx/>
              <a:uFillTx/>
              <a:latin typeface="Arial"/>
              <a:ea typeface="+mn-ea"/>
              <a:cs typeface="Arial"/>
            </a:endParaRPr>
          </a:p>
        </p:txBody>
      </p:sp>
      <p:sp>
        <p:nvSpPr>
          <p:cNvPr id="55" name="Rectangle 54">
            <a:extLst>
              <a:ext uri="{FF2B5EF4-FFF2-40B4-BE49-F238E27FC236}">
                <a16:creationId xmlns:a16="http://schemas.microsoft.com/office/drawing/2014/main" id="{FDF54A2B-9C22-E743-B854-F046088EB525}"/>
              </a:ext>
            </a:extLst>
          </p:cNvPr>
          <p:cNvSpPr/>
          <p:nvPr/>
        </p:nvSpPr>
        <p:spPr bwMode="auto">
          <a:xfrm>
            <a:off x="457200" y="5422900"/>
            <a:ext cx="1676400" cy="609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DECISION PACKAGE</a:t>
            </a:r>
            <a:endParaRPr kumimoji="0" lang="en-US" sz="11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56" name="Rectangle 55">
            <a:extLst>
              <a:ext uri="{FF2B5EF4-FFF2-40B4-BE49-F238E27FC236}">
                <a16:creationId xmlns:a16="http://schemas.microsoft.com/office/drawing/2014/main" id="{50F9FC96-B7EF-3A4C-97BD-1FC095E6FEDF}"/>
              </a:ext>
            </a:extLst>
          </p:cNvPr>
          <p:cNvSpPr/>
          <p:nvPr/>
        </p:nvSpPr>
        <p:spPr bwMode="auto">
          <a:xfrm>
            <a:off x="2133600" y="5422900"/>
            <a:ext cx="9601200" cy="6096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Shared baseline  •  target process  •  disposition choices  •  economics  •  roadmap  •  first wave  •  reusable context for teams and AI agents</a:t>
            </a:r>
            <a:endParaRPr kumimoji="0" lang="en-US" sz="120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pic>
        <p:nvPicPr>
          <p:cNvPr id="101" name="Hand-drawn underline 1"/>
          <p:cNvPicPr>
            <a:picLocks noChangeAspect="1"/>
          </p:cNvPicPr>
          <p:nvPr/>
        </p:nvPicPr>
        <p:blipFill>
          <a:blip r:embed="rId3"/>
          <a:srcRect t="41000" b="41000"/>
          <a:stretch>
            <a:fillRect/>
          </a:stretch>
        </p:blipFill>
        <p:spPr>
          <a:xfrm>
            <a:off x="2227354" y="3886200"/>
            <a:ext cx="525421" cy="152400"/>
          </a:xfrm>
          <a:prstGeom prst="rect">
            <a:avLst/>
          </a:prstGeom>
          <a:ln>
            <a:noFill/>
          </a:ln>
        </p:spPr>
      </p:pic>
      <p:pic>
        <p:nvPicPr>
          <p:cNvPr id="102" name="Hand-drawn underline 2"/>
          <p:cNvPicPr>
            <a:picLocks noChangeAspect="1"/>
          </p:cNvPicPr>
          <p:nvPr/>
        </p:nvPicPr>
        <p:blipFill>
          <a:blip r:embed="rId3"/>
          <a:srcRect t="41000" b="41000"/>
          <a:stretch>
            <a:fillRect/>
          </a:stretch>
        </p:blipFill>
        <p:spPr>
          <a:xfrm>
            <a:off x="3479800" y="3873500"/>
            <a:ext cx="388447" cy="152400"/>
          </a:xfrm>
          <a:prstGeom prst="rect">
            <a:avLst/>
          </a:prstGeom>
          <a:ln>
            <a:noFill/>
          </a:ln>
        </p:spPr>
      </p:pic>
      <p:pic>
        <p:nvPicPr>
          <p:cNvPr id="103" name="Hand-drawn underline 3"/>
          <p:cNvPicPr>
            <a:picLocks noChangeAspect="1"/>
          </p:cNvPicPr>
          <p:nvPr/>
        </p:nvPicPr>
        <p:blipFill>
          <a:blip r:embed="rId3"/>
          <a:srcRect t="41000" b="41000"/>
          <a:stretch>
            <a:fillRect/>
          </a:stretch>
        </p:blipFill>
        <p:spPr>
          <a:xfrm>
            <a:off x="7188200" y="4241800"/>
            <a:ext cx="965200" cy="152400"/>
          </a:xfrm>
          <a:prstGeom prst="rect">
            <a:avLst/>
          </a:prstGeom>
          <a:ln>
            <a:noFill/>
          </a:ln>
        </p:spPr>
      </p:pic>
      <p:pic>
        <p:nvPicPr>
          <p:cNvPr id="104" name="Hand-drawn underline 4"/>
          <p:cNvPicPr>
            <a:picLocks noChangeAspect="1"/>
          </p:cNvPicPr>
          <p:nvPr/>
        </p:nvPicPr>
        <p:blipFill>
          <a:blip r:embed="rId3"/>
          <a:srcRect t="41000" b="41000"/>
          <a:stretch>
            <a:fillRect/>
          </a:stretch>
        </p:blipFill>
        <p:spPr>
          <a:xfrm>
            <a:off x="9982200" y="4241800"/>
            <a:ext cx="965200" cy="152400"/>
          </a:xfrm>
          <a:prstGeom prst="rect">
            <a:avLst/>
          </a:prstGeom>
          <a:ln>
            <a:noFill/>
          </a:ln>
        </p:spPr>
      </p:pic>
    </p:spTree>
    <p:extLst>
      <p:ext uri="{BB962C8B-B14F-4D97-AF65-F5344CB8AC3E}">
        <p14:creationId xmlns:p14="http://schemas.microsoft.com/office/powerpoint/2010/main" val="3161633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68">
            <a:extLst>
              <a:ext uri="{FF2B5EF4-FFF2-40B4-BE49-F238E27FC236}">
                <a16:creationId xmlns:a16="http://schemas.microsoft.com/office/drawing/2014/main" id="{BA81A6F6-8916-CA44-A129-30DABE81B6E0}"/>
              </a:ext>
            </a:extLst>
          </p:cNvPr>
          <p:cNvSpPr/>
          <p:nvPr/>
        </p:nvSpPr>
        <p:spPr bwMode="auto">
          <a:xfrm>
            <a:off x="457200" y="4927600"/>
            <a:ext cx="2794000" cy="952500"/>
          </a:xfrm>
          <a:prstGeom prst="rect">
            <a:avLst/>
          </a:prstGeom>
          <a:solidFill>
            <a:srgbClr val="E9EF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3" name="TextBox 2">
            <a:extLst>
              <a:ext uri="{FF2B5EF4-FFF2-40B4-BE49-F238E27FC236}">
                <a16:creationId xmlns:a16="http://schemas.microsoft.com/office/drawing/2014/main" id="{C545CFF7-D70B-FA4E-8046-438DED5FAF49}"/>
              </a:ext>
            </a:extLst>
          </p:cNvPr>
          <p:cNvSpPr txBox="1"/>
          <p:nvPr/>
        </p:nvSpPr>
        <p:spPr>
          <a:xfrm>
            <a:off x="4321048" y="6400800"/>
            <a:ext cx="7102856" cy="167894"/>
          </a:xfrm>
          <a:prstGeom prst="rect">
            <a:avLst/>
          </a:prstGeom>
          <a:noFill/>
          <a:ln>
            <a:noFill/>
          </a:ln>
        </p:spPr>
        <p:txBody>
          <a:bodyPr vertOverflow="overflow"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600" b="0" i="0" u="none" strike="noStrike" kern="1200" cap="none" spc="0" normalizeH="0" baseline="0" noProof="0">
                <a:ln>
                  <a:noFill/>
                </a:ln>
                <a:solidFill>
                  <a:srgbClr val="10006B"/>
                </a:solidFill>
                <a:effectLst/>
                <a:uLnTx/>
                <a:uFillTx/>
                <a:latin typeface="Arial"/>
                <a:ea typeface="+mn-ea"/>
                <a:cs typeface="Arial"/>
              </a:rPr>
              <a:t>© 2026 West Monroe Partners | Reproduction and/or distribution without West Monroe Partners’ prior consent is prohibited.</a:t>
            </a:r>
            <a:endParaRPr kumimoji="0" lang="en-US" sz="600" b="0" i="0" u="none" strike="noStrike" kern="1200" cap="none" spc="0" normalizeH="0" baseline="0" noProof="0" dirty="0">
              <a:ln>
                <a:noFill/>
              </a:ln>
              <a:solidFill>
                <a:srgbClr val="10006B"/>
              </a:solidFill>
              <a:effectLst/>
              <a:uLnTx/>
              <a:uFillTx/>
              <a:latin typeface="Arial"/>
              <a:ea typeface="+mn-ea"/>
              <a:cs typeface="Arial"/>
            </a:endParaRPr>
          </a:p>
        </p:txBody>
      </p:sp>
      <p:sp>
        <p:nvSpPr>
          <p:cNvPr id="4" name="TextBox 3">
            <a:extLst>
              <a:ext uri="{FF2B5EF4-FFF2-40B4-BE49-F238E27FC236}">
                <a16:creationId xmlns:a16="http://schemas.microsoft.com/office/drawing/2014/main" id="{7760AF55-4ED3-F649-AC8C-8700F30E858B}"/>
              </a:ext>
            </a:extLst>
          </p:cNvPr>
          <p:cNvSpPr txBox="1"/>
          <p:nvPr/>
        </p:nvSpPr>
        <p:spPr>
          <a:xfrm>
            <a:off x="11509629" y="6400800"/>
            <a:ext cx="218821" cy="167894"/>
          </a:xfrm>
          <a:prstGeom prst="rect">
            <a:avLst/>
          </a:prstGeom>
          <a:noFill/>
          <a:ln>
            <a:noFill/>
          </a:ln>
        </p:spPr>
        <p:txBody>
          <a:bodyPr vertOverflow="overflow"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600" b="0" i="0" u="none" strike="noStrike" kern="1200" cap="none" spc="0" normalizeH="0" baseline="0" noProof="0">
                <a:ln>
                  <a:noFill/>
                </a:ln>
                <a:solidFill>
                  <a:srgbClr val="10006B"/>
                </a:solidFill>
                <a:effectLst/>
                <a:uLnTx/>
                <a:uFillTx/>
                <a:latin typeface="Arial"/>
                <a:ea typeface="+mn-ea"/>
                <a:cs typeface="Arial"/>
              </a:rPr>
              <a:t>13</a:t>
            </a:r>
            <a:endParaRPr kumimoji="0" lang="en-US" sz="600" b="0" i="0" u="none" strike="noStrike" kern="1200" cap="none" spc="0" normalizeH="0" baseline="0" noProof="0" dirty="0">
              <a:ln>
                <a:noFill/>
              </a:ln>
              <a:solidFill>
                <a:srgbClr val="10006B"/>
              </a:solidFill>
              <a:effectLst/>
              <a:uLnTx/>
              <a:uFillTx/>
              <a:latin typeface="Arial"/>
              <a:ea typeface="+mn-ea"/>
              <a:cs typeface="Arial"/>
            </a:endParaRPr>
          </a:p>
        </p:txBody>
      </p:sp>
      <p:sp>
        <p:nvSpPr>
          <p:cNvPr id="5" name="TextBox 4">
            <a:extLst>
              <a:ext uri="{FF2B5EF4-FFF2-40B4-BE49-F238E27FC236}">
                <a16:creationId xmlns:a16="http://schemas.microsoft.com/office/drawing/2014/main" id="{6C3C739D-98D3-3F49-928E-E577E3A8C108}"/>
              </a:ext>
            </a:extLst>
          </p:cNvPr>
          <p:cNvSpPr txBox="1"/>
          <p:nvPr/>
        </p:nvSpPr>
        <p:spPr>
          <a:xfrm>
            <a:off x="457200" y="457200"/>
            <a:ext cx="11277600" cy="787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400" b="1" i="0" u="none" strike="noStrike" kern="1200" cap="none" spc="0" normalizeH="0" baseline="0" noProof="0">
                <a:ln>
                  <a:noFill/>
                </a:ln>
                <a:solidFill>
                  <a:srgbClr val="070154"/>
                </a:solidFill>
                <a:effectLst/>
                <a:uLnTx/>
                <a:uFillTx/>
                <a:latin typeface="Arial"/>
                <a:ea typeface="+mn-ea"/>
                <a:cs typeface="Arial"/>
              </a:rPr>
              <a:t>The 7Rs provide a common decision language—and AI makes deeper modernization paths more affordable.</a:t>
            </a:r>
            <a:endParaRPr kumimoji="0" lang="en-US" sz="2400" b="1" i="0" u="none" strike="noStrike" kern="1200" cap="none" spc="0" normalizeH="0" baseline="0" noProof="0" dirty="0">
              <a:ln>
                <a:noFill/>
              </a:ln>
              <a:solidFill>
                <a:srgbClr val="070154"/>
              </a:solidFill>
              <a:effectLst/>
              <a:uLnTx/>
              <a:uFillTx/>
              <a:latin typeface="Arial"/>
              <a:ea typeface="+mn-ea"/>
              <a:cs typeface="Arial"/>
            </a:endParaRPr>
          </a:p>
        </p:txBody>
      </p:sp>
      <p:sp>
        <p:nvSpPr>
          <p:cNvPr id="6" name="TextBox 5">
            <a:extLst>
              <a:ext uri="{FF2B5EF4-FFF2-40B4-BE49-F238E27FC236}">
                <a16:creationId xmlns:a16="http://schemas.microsoft.com/office/drawing/2014/main" id="{A686C4C1-D614-F54E-B7AF-600A61431D65}"/>
              </a:ext>
            </a:extLst>
          </p:cNvPr>
          <p:cNvSpPr txBox="1"/>
          <p:nvPr/>
        </p:nvSpPr>
        <p:spPr>
          <a:xfrm>
            <a:off x="457200" y="1282700"/>
            <a:ext cx="11277600" cy="381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50658E"/>
                </a:solidFill>
                <a:effectLst/>
                <a:uLnTx/>
                <a:uFillTx/>
                <a:latin typeface="Arial"/>
                <a:ea typeface="+mn-ea"/>
                <a:cs typeface="Arial"/>
              </a:rPr>
              <a:t>Apply the framework at the application, capability, or module level; it is a neutral choice set, not a sequence or maturity model.</a:t>
            </a:r>
            <a:endParaRPr kumimoji="0" lang="en-US" sz="1200" b="0" i="0" u="none" strike="noStrike" kern="1200" cap="none" spc="0" normalizeH="0" baseline="0" noProof="0" dirty="0">
              <a:ln>
                <a:noFill/>
              </a:ln>
              <a:solidFill>
                <a:srgbClr val="50658E"/>
              </a:solidFill>
              <a:effectLst/>
              <a:uLnTx/>
              <a:uFillTx/>
              <a:latin typeface="Arial"/>
              <a:ea typeface="+mn-ea"/>
              <a:cs typeface="Arial"/>
            </a:endParaRPr>
          </a:p>
        </p:txBody>
      </p:sp>
      <p:sp>
        <p:nvSpPr>
          <p:cNvPr id="7" name="TextBox 6">
            <a:extLst>
              <a:ext uri="{FF2B5EF4-FFF2-40B4-BE49-F238E27FC236}">
                <a16:creationId xmlns:a16="http://schemas.microsoft.com/office/drawing/2014/main" id="{25C614BD-F0A0-FF49-B4F1-FADC95116255}"/>
              </a:ext>
            </a:extLst>
          </p:cNvPr>
          <p:cNvSpPr txBox="1"/>
          <p:nvPr/>
        </p:nvSpPr>
        <p:spPr>
          <a:xfrm>
            <a:off x="457200" y="1968500"/>
            <a:ext cx="3708400" cy="279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50658E"/>
                </a:solidFill>
                <a:effectLst/>
                <a:uLnTx/>
                <a:uFillTx/>
                <a:latin typeface="Arial"/>
                <a:ea typeface="+mn-ea"/>
                <a:cs typeface="Arial"/>
              </a:rPr>
              <a:t>PRESERVE OR MOVE</a:t>
            </a:r>
            <a:endParaRPr kumimoji="0" lang="en-US" sz="1100" b="1" i="0" u="none" strike="noStrike" kern="1200" cap="none" spc="0" normalizeH="0" baseline="0" noProof="0" dirty="0">
              <a:ln>
                <a:noFill/>
              </a:ln>
              <a:solidFill>
                <a:srgbClr val="50658E"/>
              </a:solidFill>
              <a:effectLst/>
              <a:uLnTx/>
              <a:uFillTx/>
              <a:latin typeface="Arial"/>
              <a:ea typeface="+mn-ea"/>
              <a:cs typeface="Arial"/>
            </a:endParaRPr>
          </a:p>
        </p:txBody>
      </p:sp>
      <p:sp>
        <p:nvSpPr>
          <p:cNvPr id="8" name="TextBox 7">
            <a:extLst>
              <a:ext uri="{FF2B5EF4-FFF2-40B4-BE49-F238E27FC236}">
                <a16:creationId xmlns:a16="http://schemas.microsoft.com/office/drawing/2014/main" id="{EE6C697C-228D-0249-8CE9-90E50AACD23C}"/>
              </a:ext>
            </a:extLst>
          </p:cNvPr>
          <p:cNvSpPr txBox="1"/>
          <p:nvPr/>
        </p:nvSpPr>
        <p:spPr>
          <a:xfrm>
            <a:off x="4394200" y="1968500"/>
            <a:ext cx="3149600" cy="279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50658E"/>
                </a:solidFill>
                <a:effectLst/>
                <a:uLnTx/>
                <a:uFillTx/>
                <a:latin typeface="Arial"/>
                <a:ea typeface="+mn-ea"/>
                <a:cs typeface="Arial"/>
              </a:rPr>
              <a:t>REMOVE OR REPLACE</a:t>
            </a:r>
            <a:endParaRPr kumimoji="0" lang="en-US" sz="1100" b="1" i="0" u="none" strike="noStrike" kern="1200" cap="none" spc="0" normalizeH="0" baseline="0" noProof="0" dirty="0">
              <a:ln>
                <a:noFill/>
              </a:ln>
              <a:solidFill>
                <a:srgbClr val="50658E"/>
              </a:solidFill>
              <a:effectLst/>
              <a:uLnTx/>
              <a:uFillTx/>
              <a:latin typeface="Arial"/>
              <a:ea typeface="+mn-ea"/>
              <a:cs typeface="Arial"/>
            </a:endParaRPr>
          </a:p>
        </p:txBody>
      </p:sp>
      <p:sp>
        <p:nvSpPr>
          <p:cNvPr id="9" name="TextBox 8">
            <a:extLst>
              <a:ext uri="{FF2B5EF4-FFF2-40B4-BE49-F238E27FC236}">
                <a16:creationId xmlns:a16="http://schemas.microsoft.com/office/drawing/2014/main" id="{09E00F9E-960F-5A40-8626-683CB5F45BC6}"/>
              </a:ext>
            </a:extLst>
          </p:cNvPr>
          <p:cNvSpPr txBox="1"/>
          <p:nvPr/>
        </p:nvSpPr>
        <p:spPr>
          <a:xfrm>
            <a:off x="7772400" y="1968500"/>
            <a:ext cx="3962400" cy="279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50658E"/>
                </a:solidFill>
                <a:effectLst/>
                <a:uLnTx/>
                <a:uFillTx/>
                <a:latin typeface="Arial"/>
                <a:ea typeface="+mn-ea"/>
                <a:cs typeface="Arial"/>
              </a:rPr>
              <a:t>REBUILD OR REIMAGINE</a:t>
            </a:r>
            <a:endParaRPr kumimoji="0" lang="en-US" sz="1100" b="1" i="0" u="none" strike="noStrike" kern="1200" cap="none" spc="0" normalizeH="0" baseline="0" noProof="0" dirty="0">
              <a:ln>
                <a:noFill/>
              </a:ln>
              <a:solidFill>
                <a:srgbClr val="50658E"/>
              </a:solidFill>
              <a:effectLst/>
              <a:uLnTx/>
              <a:uFillTx/>
              <a:latin typeface="Arial"/>
              <a:ea typeface="+mn-ea"/>
              <a:cs typeface="Arial"/>
            </a:endParaRPr>
          </a:p>
        </p:txBody>
      </p:sp>
      <p:sp>
        <p:nvSpPr>
          <p:cNvPr id="10" name="Rectangle 9">
            <a:extLst>
              <a:ext uri="{FF2B5EF4-FFF2-40B4-BE49-F238E27FC236}">
                <a16:creationId xmlns:a16="http://schemas.microsoft.com/office/drawing/2014/main" id="{34DCED60-612F-7944-9A5D-1B110E4AFF69}"/>
              </a:ext>
            </a:extLst>
          </p:cNvPr>
          <p:cNvSpPr/>
          <p:nvPr/>
        </p:nvSpPr>
        <p:spPr bwMode="auto">
          <a:xfrm>
            <a:off x="457200" y="2298700"/>
            <a:ext cx="3708400" cy="381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Rectangle 10">
            <a:extLst>
              <a:ext uri="{FF2B5EF4-FFF2-40B4-BE49-F238E27FC236}">
                <a16:creationId xmlns:a16="http://schemas.microsoft.com/office/drawing/2014/main" id="{DD3985B8-7A90-E04B-BC42-AC8F3D23F539}"/>
              </a:ext>
            </a:extLst>
          </p:cNvPr>
          <p:cNvSpPr/>
          <p:nvPr/>
        </p:nvSpPr>
        <p:spPr bwMode="auto">
          <a:xfrm>
            <a:off x="4394200" y="2298700"/>
            <a:ext cx="3149600" cy="38100"/>
          </a:xfrm>
          <a:prstGeom prst="rect">
            <a:avLst/>
          </a:prstGeom>
          <a:solidFill>
            <a:srgbClr val="F900D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2" name="Rectangle 11">
            <a:extLst>
              <a:ext uri="{FF2B5EF4-FFF2-40B4-BE49-F238E27FC236}">
                <a16:creationId xmlns:a16="http://schemas.microsoft.com/office/drawing/2014/main" id="{618A1C1A-A248-2F45-9833-CC96C177E975}"/>
              </a:ext>
            </a:extLst>
          </p:cNvPr>
          <p:cNvSpPr/>
          <p:nvPr/>
        </p:nvSpPr>
        <p:spPr bwMode="auto">
          <a:xfrm>
            <a:off x="7772400" y="2298700"/>
            <a:ext cx="3962400" cy="381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3" name="Oval 12">
            <a:extLst>
              <a:ext uri="{FF2B5EF4-FFF2-40B4-BE49-F238E27FC236}">
                <a16:creationId xmlns:a16="http://schemas.microsoft.com/office/drawing/2014/main" id="{B9D0DE41-B9B9-F54A-BE71-B3EBEE8CDFDC}"/>
              </a:ext>
            </a:extLst>
          </p:cNvPr>
          <p:cNvSpPr/>
          <p:nvPr/>
        </p:nvSpPr>
        <p:spPr bwMode="auto">
          <a:xfrm>
            <a:off x="457200" y="2565400"/>
            <a:ext cx="355600" cy="355600"/>
          </a:xfrm>
          <a:prstGeom prst="ellipse">
            <a:avLst/>
          </a:prstGeom>
          <a:solidFill>
            <a:srgbClr val="004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1</a:t>
            </a:r>
            <a:endParaRPr kumimoji="0" lang="en-US" sz="11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14" name="TextBox 13">
            <a:extLst>
              <a:ext uri="{FF2B5EF4-FFF2-40B4-BE49-F238E27FC236}">
                <a16:creationId xmlns:a16="http://schemas.microsoft.com/office/drawing/2014/main" id="{0654E446-507E-AE4E-B262-097298B35EE6}"/>
              </a:ext>
            </a:extLst>
          </p:cNvPr>
          <p:cNvSpPr txBox="1"/>
          <p:nvPr/>
        </p:nvSpPr>
        <p:spPr>
          <a:xfrm>
            <a:off x="457200" y="3022600"/>
            <a:ext cx="1168400" cy="406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70154"/>
                </a:solidFill>
                <a:effectLst/>
                <a:uLnTx/>
                <a:uFillTx/>
                <a:latin typeface="Arial"/>
                <a:ea typeface="+mn-ea"/>
                <a:cs typeface="Arial"/>
              </a:rPr>
              <a:t>RETAIN</a:t>
            </a:r>
            <a:endParaRPr kumimoji="0" lang="en-US" sz="1050" b="1" i="0" u="none" strike="noStrike" kern="1200" cap="none" spc="0" normalizeH="0" baseline="0" noProof="0" dirty="0">
              <a:ln>
                <a:noFill/>
              </a:ln>
              <a:solidFill>
                <a:srgbClr val="070154"/>
              </a:solidFill>
              <a:effectLst/>
              <a:uLnTx/>
              <a:uFillTx/>
              <a:latin typeface="Arial"/>
              <a:ea typeface="+mn-ea"/>
              <a:cs typeface="Arial"/>
            </a:endParaRPr>
          </a:p>
        </p:txBody>
      </p:sp>
      <p:sp>
        <p:nvSpPr>
          <p:cNvPr id="15" name="TextBox 14">
            <a:extLst>
              <a:ext uri="{FF2B5EF4-FFF2-40B4-BE49-F238E27FC236}">
                <a16:creationId xmlns:a16="http://schemas.microsoft.com/office/drawing/2014/main" id="{85A65B70-BCFE-1546-93B2-2F5694412330}"/>
              </a:ext>
            </a:extLst>
          </p:cNvPr>
          <p:cNvSpPr txBox="1"/>
          <p:nvPr/>
        </p:nvSpPr>
        <p:spPr>
          <a:xfrm>
            <a:off x="457200" y="3454400"/>
            <a:ext cx="1168400" cy="736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50658E"/>
                </a:solidFill>
                <a:effectLst/>
                <a:uLnTx/>
                <a:uFillTx/>
                <a:latin typeface="Arial"/>
                <a:ea typeface="+mn-ea"/>
                <a:cs typeface="Arial"/>
              </a:rPr>
              <a:t>Keep and manage deliberately</a:t>
            </a:r>
            <a:endParaRPr kumimoji="0" lang="en-US" sz="950" b="0" i="0" u="none" strike="noStrike" kern="1200" cap="none" spc="0" normalizeH="0" baseline="0" noProof="0" dirty="0">
              <a:ln>
                <a:noFill/>
              </a:ln>
              <a:solidFill>
                <a:srgbClr val="50658E"/>
              </a:solidFill>
              <a:effectLst/>
              <a:uLnTx/>
              <a:uFillTx/>
              <a:latin typeface="Arial"/>
              <a:ea typeface="+mn-ea"/>
              <a:cs typeface="Arial"/>
            </a:endParaRPr>
          </a:p>
        </p:txBody>
      </p:sp>
      <p:sp>
        <p:nvSpPr>
          <p:cNvPr id="16" name="Oval 15">
            <a:extLst>
              <a:ext uri="{FF2B5EF4-FFF2-40B4-BE49-F238E27FC236}">
                <a16:creationId xmlns:a16="http://schemas.microsoft.com/office/drawing/2014/main" id="{AF3F7B9A-A959-4F42-8378-C0CD908DF3CA}"/>
              </a:ext>
            </a:extLst>
          </p:cNvPr>
          <p:cNvSpPr/>
          <p:nvPr/>
        </p:nvSpPr>
        <p:spPr bwMode="auto">
          <a:xfrm>
            <a:off x="1676400" y="2565400"/>
            <a:ext cx="355600" cy="355600"/>
          </a:xfrm>
          <a:prstGeom prst="ellipse">
            <a:avLst/>
          </a:prstGeom>
          <a:solidFill>
            <a:srgbClr val="004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4</a:t>
            </a:r>
            <a:endParaRPr kumimoji="0" lang="en-US" sz="11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24" name="TextBox 23">
            <a:extLst>
              <a:ext uri="{FF2B5EF4-FFF2-40B4-BE49-F238E27FC236}">
                <a16:creationId xmlns:a16="http://schemas.microsoft.com/office/drawing/2014/main" id="{CE7F1900-37CD-E54B-BD6B-1D0C5BAFB509}"/>
              </a:ext>
            </a:extLst>
          </p:cNvPr>
          <p:cNvSpPr txBox="1"/>
          <p:nvPr/>
        </p:nvSpPr>
        <p:spPr>
          <a:xfrm>
            <a:off x="1676400" y="3022600"/>
            <a:ext cx="1168400" cy="406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70154"/>
                </a:solidFill>
                <a:effectLst/>
                <a:uLnTx/>
                <a:uFillTx/>
                <a:latin typeface="Arial"/>
                <a:ea typeface="+mn-ea"/>
                <a:cs typeface="Arial"/>
              </a:rPr>
              <a:t>REHOST</a:t>
            </a:r>
            <a:endParaRPr kumimoji="0" lang="en-US" sz="1050" b="1" i="0" u="none" strike="noStrike" kern="1200" cap="none" spc="0" normalizeH="0" baseline="0" noProof="0" dirty="0">
              <a:ln>
                <a:noFill/>
              </a:ln>
              <a:solidFill>
                <a:srgbClr val="070154"/>
              </a:solidFill>
              <a:effectLst/>
              <a:uLnTx/>
              <a:uFillTx/>
              <a:latin typeface="Arial"/>
              <a:ea typeface="+mn-ea"/>
              <a:cs typeface="Arial"/>
            </a:endParaRPr>
          </a:p>
        </p:txBody>
      </p:sp>
      <p:sp>
        <p:nvSpPr>
          <p:cNvPr id="25" name="TextBox 24">
            <a:extLst>
              <a:ext uri="{FF2B5EF4-FFF2-40B4-BE49-F238E27FC236}">
                <a16:creationId xmlns:a16="http://schemas.microsoft.com/office/drawing/2014/main" id="{EF73C1D3-15C2-B34E-B647-7951873A9EA1}"/>
              </a:ext>
            </a:extLst>
          </p:cNvPr>
          <p:cNvSpPr txBox="1"/>
          <p:nvPr/>
        </p:nvSpPr>
        <p:spPr>
          <a:xfrm>
            <a:off x="1676400" y="3454400"/>
            <a:ext cx="1168400" cy="736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50658E"/>
                </a:solidFill>
                <a:effectLst/>
                <a:uLnTx/>
                <a:uFillTx/>
                <a:latin typeface="Arial"/>
                <a:ea typeface="+mn-ea"/>
                <a:cs typeface="Arial"/>
              </a:rPr>
              <a:t>Move infrastructure; limit functional change</a:t>
            </a:r>
            <a:endParaRPr kumimoji="0" lang="en-US" sz="950" b="0" i="0" u="none" strike="noStrike" kern="1200" cap="none" spc="0" normalizeH="0" baseline="0" noProof="0" dirty="0">
              <a:ln>
                <a:noFill/>
              </a:ln>
              <a:solidFill>
                <a:srgbClr val="50658E"/>
              </a:solidFill>
              <a:effectLst/>
              <a:uLnTx/>
              <a:uFillTx/>
              <a:latin typeface="Arial"/>
              <a:ea typeface="+mn-ea"/>
              <a:cs typeface="Arial"/>
            </a:endParaRPr>
          </a:p>
        </p:txBody>
      </p:sp>
      <p:sp>
        <p:nvSpPr>
          <p:cNvPr id="26" name="Oval 25">
            <a:extLst>
              <a:ext uri="{FF2B5EF4-FFF2-40B4-BE49-F238E27FC236}">
                <a16:creationId xmlns:a16="http://schemas.microsoft.com/office/drawing/2014/main" id="{98D10127-1F66-4640-BBDD-40D20D913B02}"/>
              </a:ext>
            </a:extLst>
          </p:cNvPr>
          <p:cNvSpPr/>
          <p:nvPr/>
        </p:nvSpPr>
        <p:spPr bwMode="auto">
          <a:xfrm>
            <a:off x="2895600" y="2565400"/>
            <a:ext cx="355600" cy="355600"/>
          </a:xfrm>
          <a:prstGeom prst="ellipse">
            <a:avLst/>
          </a:prstGeom>
          <a:solidFill>
            <a:srgbClr val="004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5</a:t>
            </a:r>
            <a:endParaRPr kumimoji="0" lang="en-US" sz="11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27" name="TextBox 26">
            <a:extLst>
              <a:ext uri="{FF2B5EF4-FFF2-40B4-BE49-F238E27FC236}">
                <a16:creationId xmlns:a16="http://schemas.microsoft.com/office/drawing/2014/main" id="{9C374344-9073-8A42-9BF1-0A0983E0ED8D}"/>
              </a:ext>
            </a:extLst>
          </p:cNvPr>
          <p:cNvSpPr txBox="1"/>
          <p:nvPr/>
        </p:nvSpPr>
        <p:spPr>
          <a:xfrm>
            <a:off x="2895600" y="3022600"/>
            <a:ext cx="1270000" cy="406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70154"/>
                </a:solidFill>
                <a:effectLst/>
                <a:uLnTx/>
                <a:uFillTx/>
                <a:latin typeface="Arial"/>
                <a:ea typeface="+mn-ea"/>
                <a:cs typeface="Arial"/>
              </a:rPr>
              <a:t>REPLATFORM</a:t>
            </a:r>
            <a:endParaRPr kumimoji="0" lang="en-US" sz="1050" b="1" i="0" u="none" strike="noStrike" kern="1200" cap="none" spc="0" normalizeH="0" baseline="0" noProof="0" dirty="0">
              <a:ln>
                <a:noFill/>
              </a:ln>
              <a:solidFill>
                <a:srgbClr val="070154"/>
              </a:solidFill>
              <a:effectLst/>
              <a:uLnTx/>
              <a:uFillTx/>
              <a:latin typeface="Arial"/>
              <a:ea typeface="+mn-ea"/>
              <a:cs typeface="Arial"/>
            </a:endParaRPr>
          </a:p>
        </p:txBody>
      </p:sp>
      <p:sp>
        <p:nvSpPr>
          <p:cNvPr id="28" name="TextBox 27">
            <a:extLst>
              <a:ext uri="{FF2B5EF4-FFF2-40B4-BE49-F238E27FC236}">
                <a16:creationId xmlns:a16="http://schemas.microsoft.com/office/drawing/2014/main" id="{9E9120D6-184B-2443-87AD-D097F8F5A1ED}"/>
              </a:ext>
            </a:extLst>
          </p:cNvPr>
          <p:cNvSpPr txBox="1"/>
          <p:nvPr/>
        </p:nvSpPr>
        <p:spPr>
          <a:xfrm>
            <a:off x="2895600" y="3454400"/>
            <a:ext cx="1270000" cy="736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50658E"/>
                </a:solidFill>
                <a:effectLst/>
                <a:uLnTx/>
                <a:uFillTx/>
                <a:latin typeface="Arial"/>
                <a:ea typeface="+mn-ea"/>
                <a:cs typeface="Arial"/>
              </a:rPr>
              <a:t>Change runtime; preserve most behavior</a:t>
            </a:r>
            <a:endParaRPr kumimoji="0" lang="en-US" sz="950" b="0" i="0" u="none" strike="noStrike" kern="1200" cap="none" spc="0" normalizeH="0" baseline="0" noProof="0" dirty="0">
              <a:ln>
                <a:noFill/>
              </a:ln>
              <a:solidFill>
                <a:srgbClr val="50658E"/>
              </a:solidFill>
              <a:effectLst/>
              <a:uLnTx/>
              <a:uFillTx/>
              <a:latin typeface="Arial"/>
              <a:ea typeface="+mn-ea"/>
              <a:cs typeface="Arial"/>
            </a:endParaRPr>
          </a:p>
        </p:txBody>
      </p:sp>
      <p:sp>
        <p:nvSpPr>
          <p:cNvPr id="29" name="Oval 28">
            <a:extLst>
              <a:ext uri="{FF2B5EF4-FFF2-40B4-BE49-F238E27FC236}">
                <a16:creationId xmlns:a16="http://schemas.microsoft.com/office/drawing/2014/main" id="{B336EFDF-E4A0-9C4D-9E08-839AA288F693}"/>
              </a:ext>
            </a:extLst>
          </p:cNvPr>
          <p:cNvSpPr/>
          <p:nvPr/>
        </p:nvSpPr>
        <p:spPr bwMode="auto">
          <a:xfrm>
            <a:off x="4394200" y="2565400"/>
            <a:ext cx="355600" cy="355600"/>
          </a:xfrm>
          <a:prstGeom prst="ellipse">
            <a:avLst/>
          </a:prstGeom>
          <a:solidFill>
            <a:srgbClr val="F900D3"/>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2</a:t>
            </a:r>
            <a:endParaRPr kumimoji="0" lang="en-US" sz="110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30" name="TextBox 29">
            <a:extLst>
              <a:ext uri="{FF2B5EF4-FFF2-40B4-BE49-F238E27FC236}">
                <a16:creationId xmlns:a16="http://schemas.microsoft.com/office/drawing/2014/main" id="{0025BC74-445D-7244-B0D3-0A477A15C558}"/>
              </a:ext>
            </a:extLst>
          </p:cNvPr>
          <p:cNvSpPr txBox="1"/>
          <p:nvPr/>
        </p:nvSpPr>
        <p:spPr>
          <a:xfrm>
            <a:off x="4394200" y="3022600"/>
            <a:ext cx="1473200" cy="406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70154"/>
                </a:solidFill>
                <a:effectLst/>
                <a:uLnTx/>
                <a:uFillTx/>
                <a:latin typeface="Arial"/>
                <a:ea typeface="+mn-ea"/>
                <a:cs typeface="Arial"/>
              </a:rPr>
              <a:t>RETIRE</a:t>
            </a:r>
            <a:endParaRPr kumimoji="0" lang="en-US" sz="1050" b="1" i="0" u="none" strike="noStrike" kern="1200" cap="none" spc="0" normalizeH="0" baseline="0" noProof="0" dirty="0">
              <a:ln>
                <a:noFill/>
              </a:ln>
              <a:solidFill>
                <a:srgbClr val="070154"/>
              </a:solidFill>
              <a:effectLst/>
              <a:uLnTx/>
              <a:uFillTx/>
              <a:latin typeface="Arial"/>
              <a:ea typeface="+mn-ea"/>
              <a:cs typeface="Arial"/>
            </a:endParaRPr>
          </a:p>
        </p:txBody>
      </p:sp>
      <p:sp>
        <p:nvSpPr>
          <p:cNvPr id="50" name="TextBox 49">
            <a:extLst>
              <a:ext uri="{FF2B5EF4-FFF2-40B4-BE49-F238E27FC236}">
                <a16:creationId xmlns:a16="http://schemas.microsoft.com/office/drawing/2014/main" id="{156AF32A-2C79-CE42-B7D3-D2981708EC8D}"/>
              </a:ext>
            </a:extLst>
          </p:cNvPr>
          <p:cNvSpPr txBox="1"/>
          <p:nvPr/>
        </p:nvSpPr>
        <p:spPr>
          <a:xfrm>
            <a:off x="4394200" y="3454400"/>
            <a:ext cx="1473200" cy="736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50658E"/>
                </a:solidFill>
                <a:effectLst/>
                <a:uLnTx/>
                <a:uFillTx/>
                <a:latin typeface="Arial"/>
                <a:ea typeface="+mn-ea"/>
                <a:cs typeface="Arial"/>
              </a:rPr>
              <a:t>Remove obsolete software or work</a:t>
            </a:r>
            <a:endParaRPr kumimoji="0" lang="en-US" sz="950" b="0" i="0" u="none" strike="noStrike" kern="1200" cap="none" spc="0" normalizeH="0" baseline="0" noProof="0" dirty="0">
              <a:ln>
                <a:noFill/>
              </a:ln>
              <a:solidFill>
                <a:srgbClr val="50658E"/>
              </a:solidFill>
              <a:effectLst/>
              <a:uLnTx/>
              <a:uFillTx/>
              <a:latin typeface="Arial"/>
              <a:ea typeface="+mn-ea"/>
              <a:cs typeface="Arial"/>
            </a:endParaRPr>
          </a:p>
        </p:txBody>
      </p:sp>
      <p:sp>
        <p:nvSpPr>
          <p:cNvPr id="51" name="Oval 50">
            <a:extLst>
              <a:ext uri="{FF2B5EF4-FFF2-40B4-BE49-F238E27FC236}">
                <a16:creationId xmlns:a16="http://schemas.microsoft.com/office/drawing/2014/main" id="{EEDD47EC-3C0C-1249-8044-97E7525E6F07}"/>
              </a:ext>
            </a:extLst>
          </p:cNvPr>
          <p:cNvSpPr/>
          <p:nvPr/>
        </p:nvSpPr>
        <p:spPr bwMode="auto">
          <a:xfrm>
            <a:off x="6019800" y="2565400"/>
            <a:ext cx="355600" cy="355600"/>
          </a:xfrm>
          <a:prstGeom prst="ellipse">
            <a:avLst/>
          </a:prstGeom>
          <a:solidFill>
            <a:srgbClr val="F900D3"/>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3</a:t>
            </a:r>
            <a:endParaRPr kumimoji="0" lang="en-US" sz="110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52" name="TextBox 51">
            <a:extLst>
              <a:ext uri="{FF2B5EF4-FFF2-40B4-BE49-F238E27FC236}">
                <a16:creationId xmlns:a16="http://schemas.microsoft.com/office/drawing/2014/main" id="{7504AA9B-C9D3-0C47-B83C-8FA2B5C06760}"/>
              </a:ext>
            </a:extLst>
          </p:cNvPr>
          <p:cNvSpPr txBox="1"/>
          <p:nvPr/>
        </p:nvSpPr>
        <p:spPr>
          <a:xfrm>
            <a:off x="6019800" y="3022600"/>
            <a:ext cx="1524000" cy="406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70154"/>
                </a:solidFill>
                <a:effectLst/>
                <a:uLnTx/>
                <a:uFillTx/>
                <a:latin typeface="Arial"/>
                <a:ea typeface="+mn-ea"/>
                <a:cs typeface="Arial"/>
              </a:rPr>
              <a:t>REPURCHASE</a:t>
            </a:r>
            <a:endParaRPr kumimoji="0" lang="en-US" sz="1050" b="1" i="0" u="none" strike="noStrike" kern="1200" cap="none" spc="0" normalizeH="0" baseline="0" noProof="0" dirty="0">
              <a:ln>
                <a:noFill/>
              </a:ln>
              <a:solidFill>
                <a:srgbClr val="070154"/>
              </a:solidFill>
              <a:effectLst/>
              <a:uLnTx/>
              <a:uFillTx/>
              <a:latin typeface="Arial"/>
              <a:ea typeface="+mn-ea"/>
              <a:cs typeface="Arial"/>
            </a:endParaRPr>
          </a:p>
        </p:txBody>
      </p:sp>
      <p:sp>
        <p:nvSpPr>
          <p:cNvPr id="53" name="TextBox 52">
            <a:extLst>
              <a:ext uri="{FF2B5EF4-FFF2-40B4-BE49-F238E27FC236}">
                <a16:creationId xmlns:a16="http://schemas.microsoft.com/office/drawing/2014/main" id="{4E890F19-CB07-1C4C-9357-1EA1A5899EA5}"/>
              </a:ext>
            </a:extLst>
          </p:cNvPr>
          <p:cNvSpPr txBox="1"/>
          <p:nvPr/>
        </p:nvSpPr>
        <p:spPr>
          <a:xfrm>
            <a:off x="6019800" y="3454400"/>
            <a:ext cx="1524000" cy="736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50658E"/>
                </a:solidFill>
                <a:effectLst/>
                <a:uLnTx/>
                <a:uFillTx/>
                <a:latin typeface="Arial"/>
                <a:ea typeface="+mn-ea"/>
                <a:cs typeface="Arial"/>
              </a:rPr>
              <a:t>Move the capability to packaged software</a:t>
            </a:r>
            <a:endParaRPr kumimoji="0" lang="en-US" sz="950" b="0" i="0" u="none" strike="noStrike" kern="1200" cap="none" spc="0" normalizeH="0" baseline="0" noProof="0" dirty="0">
              <a:ln>
                <a:noFill/>
              </a:ln>
              <a:solidFill>
                <a:srgbClr val="50658E"/>
              </a:solidFill>
              <a:effectLst/>
              <a:uLnTx/>
              <a:uFillTx/>
              <a:latin typeface="Arial"/>
              <a:ea typeface="+mn-ea"/>
              <a:cs typeface="Arial"/>
            </a:endParaRPr>
          </a:p>
        </p:txBody>
      </p:sp>
      <p:sp>
        <p:nvSpPr>
          <p:cNvPr id="54" name="Oval 53">
            <a:extLst>
              <a:ext uri="{FF2B5EF4-FFF2-40B4-BE49-F238E27FC236}">
                <a16:creationId xmlns:a16="http://schemas.microsoft.com/office/drawing/2014/main" id="{415F6873-0CE0-9940-8362-7530B00B0E9A}"/>
              </a:ext>
            </a:extLst>
          </p:cNvPr>
          <p:cNvSpPr/>
          <p:nvPr/>
        </p:nvSpPr>
        <p:spPr bwMode="auto">
          <a:xfrm>
            <a:off x="7772400" y="2565400"/>
            <a:ext cx="355600" cy="355600"/>
          </a:xfrm>
          <a:prstGeom prst="ellipse">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6</a:t>
            </a:r>
            <a:endParaRPr kumimoji="0" lang="en-US" sz="11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55" name="TextBox 54">
            <a:extLst>
              <a:ext uri="{FF2B5EF4-FFF2-40B4-BE49-F238E27FC236}">
                <a16:creationId xmlns:a16="http://schemas.microsoft.com/office/drawing/2014/main" id="{359311C7-80C9-EC4C-9C46-CAA2D001FCBC}"/>
              </a:ext>
            </a:extLst>
          </p:cNvPr>
          <p:cNvSpPr txBox="1"/>
          <p:nvPr/>
        </p:nvSpPr>
        <p:spPr>
          <a:xfrm>
            <a:off x="7772400" y="3022600"/>
            <a:ext cx="1854200" cy="406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70154"/>
                </a:solidFill>
                <a:effectLst/>
                <a:uLnTx/>
                <a:uFillTx/>
                <a:latin typeface="Arial"/>
                <a:ea typeface="+mn-ea"/>
                <a:cs typeface="Arial"/>
              </a:rPr>
              <a:t>REWRITE / REARCHITECT</a:t>
            </a:r>
            <a:endParaRPr kumimoji="0" lang="en-US" sz="1050" b="1" i="0" u="none" strike="noStrike" kern="1200" cap="none" spc="0" normalizeH="0" baseline="0" noProof="0" dirty="0">
              <a:ln>
                <a:noFill/>
              </a:ln>
              <a:solidFill>
                <a:srgbClr val="070154"/>
              </a:solidFill>
              <a:effectLst/>
              <a:uLnTx/>
              <a:uFillTx/>
              <a:latin typeface="Arial"/>
              <a:ea typeface="+mn-ea"/>
              <a:cs typeface="Arial"/>
            </a:endParaRPr>
          </a:p>
        </p:txBody>
      </p:sp>
      <p:sp>
        <p:nvSpPr>
          <p:cNvPr id="56" name="TextBox 55">
            <a:extLst>
              <a:ext uri="{FF2B5EF4-FFF2-40B4-BE49-F238E27FC236}">
                <a16:creationId xmlns:a16="http://schemas.microsoft.com/office/drawing/2014/main" id="{2027B0AC-C4BA-DF4F-A2F4-5802CBB666C6}"/>
              </a:ext>
            </a:extLst>
          </p:cNvPr>
          <p:cNvSpPr txBox="1"/>
          <p:nvPr/>
        </p:nvSpPr>
        <p:spPr>
          <a:xfrm>
            <a:off x="7772400" y="3454400"/>
            <a:ext cx="1854200" cy="736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50658E"/>
                </a:solidFill>
                <a:effectLst/>
                <a:uLnTx/>
                <a:uFillTx/>
                <a:latin typeface="Arial"/>
                <a:ea typeface="+mn-ea"/>
                <a:cs typeface="Arial"/>
              </a:rPr>
              <a:t>Rebuild software or materially change structure</a:t>
            </a:r>
            <a:endParaRPr kumimoji="0" lang="en-US" sz="950" b="0" i="0" u="none" strike="noStrike" kern="1200" cap="none" spc="0" normalizeH="0" baseline="0" noProof="0" dirty="0">
              <a:ln>
                <a:noFill/>
              </a:ln>
              <a:solidFill>
                <a:srgbClr val="50658E"/>
              </a:solidFill>
              <a:effectLst/>
              <a:uLnTx/>
              <a:uFillTx/>
              <a:latin typeface="Arial"/>
              <a:ea typeface="+mn-ea"/>
              <a:cs typeface="Arial"/>
            </a:endParaRPr>
          </a:p>
        </p:txBody>
      </p:sp>
      <p:sp>
        <p:nvSpPr>
          <p:cNvPr id="57" name="Oval 56">
            <a:extLst>
              <a:ext uri="{FF2B5EF4-FFF2-40B4-BE49-F238E27FC236}">
                <a16:creationId xmlns:a16="http://schemas.microsoft.com/office/drawing/2014/main" id="{812F81A1-E877-274B-9CE0-349779C86C68}"/>
              </a:ext>
            </a:extLst>
          </p:cNvPr>
          <p:cNvSpPr/>
          <p:nvPr/>
        </p:nvSpPr>
        <p:spPr bwMode="auto">
          <a:xfrm>
            <a:off x="9829800" y="2565400"/>
            <a:ext cx="355600" cy="355600"/>
          </a:xfrm>
          <a:prstGeom prst="ellipse">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7</a:t>
            </a:r>
            <a:endParaRPr kumimoji="0" lang="en-US" sz="11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58" name="TextBox 57">
            <a:extLst>
              <a:ext uri="{FF2B5EF4-FFF2-40B4-BE49-F238E27FC236}">
                <a16:creationId xmlns:a16="http://schemas.microsoft.com/office/drawing/2014/main" id="{29C80192-BAC9-EF44-B81B-7DF3279294FE}"/>
              </a:ext>
            </a:extLst>
          </p:cNvPr>
          <p:cNvSpPr txBox="1"/>
          <p:nvPr/>
        </p:nvSpPr>
        <p:spPr>
          <a:xfrm>
            <a:off x="9829800" y="3022600"/>
            <a:ext cx="1905000" cy="406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70154"/>
                </a:solidFill>
                <a:effectLst/>
                <a:uLnTx/>
                <a:uFillTx/>
                <a:latin typeface="Arial"/>
                <a:ea typeface="+mn-ea"/>
                <a:cs typeface="Arial"/>
              </a:rPr>
              <a:t>REIMAGINE</a:t>
            </a:r>
            <a:endParaRPr kumimoji="0" lang="en-US" sz="1050" b="1" i="0" u="none" strike="noStrike" kern="1200" cap="none" spc="0" normalizeH="0" baseline="0" noProof="0" dirty="0">
              <a:ln>
                <a:noFill/>
              </a:ln>
              <a:solidFill>
                <a:srgbClr val="070154"/>
              </a:solidFill>
              <a:effectLst/>
              <a:uLnTx/>
              <a:uFillTx/>
              <a:latin typeface="Arial"/>
              <a:ea typeface="+mn-ea"/>
              <a:cs typeface="Arial"/>
            </a:endParaRPr>
          </a:p>
        </p:txBody>
      </p:sp>
      <p:sp>
        <p:nvSpPr>
          <p:cNvPr id="59" name="TextBox 58">
            <a:extLst>
              <a:ext uri="{FF2B5EF4-FFF2-40B4-BE49-F238E27FC236}">
                <a16:creationId xmlns:a16="http://schemas.microsoft.com/office/drawing/2014/main" id="{D07B8DBA-9E74-B645-84BC-1B6AA67482EE}"/>
              </a:ext>
            </a:extLst>
          </p:cNvPr>
          <p:cNvSpPr txBox="1"/>
          <p:nvPr/>
        </p:nvSpPr>
        <p:spPr>
          <a:xfrm>
            <a:off x="9829800" y="3454400"/>
            <a:ext cx="1905000" cy="736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50658E"/>
                </a:solidFill>
                <a:effectLst/>
                <a:uLnTx/>
                <a:uFillTx/>
                <a:latin typeface="Arial"/>
                <a:ea typeface="+mn-ea"/>
                <a:cs typeface="Arial"/>
              </a:rPr>
              <a:t>Redesign the capability and experience</a:t>
            </a:r>
            <a:endParaRPr kumimoji="0" lang="en-US" sz="950" b="0" i="0" u="none" strike="noStrike" kern="1200" cap="none" spc="0" normalizeH="0" baseline="0" noProof="0" dirty="0">
              <a:ln>
                <a:noFill/>
              </a:ln>
              <a:solidFill>
                <a:srgbClr val="50658E"/>
              </a:solidFill>
              <a:effectLst/>
              <a:uLnTx/>
              <a:uFillTx/>
              <a:latin typeface="Arial"/>
              <a:ea typeface="+mn-ea"/>
              <a:cs typeface="Arial"/>
            </a:endParaRPr>
          </a:p>
        </p:txBody>
      </p:sp>
      <p:sp>
        <p:nvSpPr>
          <p:cNvPr id="60" name="Rectangle 59">
            <a:extLst>
              <a:ext uri="{FF2B5EF4-FFF2-40B4-BE49-F238E27FC236}">
                <a16:creationId xmlns:a16="http://schemas.microsoft.com/office/drawing/2014/main" id="{95D4B106-140F-7E4C-B7CE-D6B1C9F3CD4E}"/>
              </a:ext>
            </a:extLst>
          </p:cNvPr>
          <p:cNvSpPr/>
          <p:nvPr/>
        </p:nvSpPr>
        <p:spPr bwMode="auto">
          <a:xfrm>
            <a:off x="457200" y="4533900"/>
            <a:ext cx="2794000" cy="3937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AI CHANGES THE ECONOMICS</a:t>
            </a:r>
            <a:endParaRPr kumimoji="0" lang="en-US" sz="11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61" name="TextBox 60">
            <a:extLst>
              <a:ext uri="{FF2B5EF4-FFF2-40B4-BE49-F238E27FC236}">
                <a16:creationId xmlns:a16="http://schemas.microsoft.com/office/drawing/2014/main" id="{6133D73B-BBDE-D244-8884-9566811194D5}"/>
              </a:ext>
            </a:extLst>
          </p:cNvPr>
          <p:cNvSpPr txBox="1"/>
          <p:nvPr/>
        </p:nvSpPr>
        <p:spPr>
          <a:xfrm>
            <a:off x="660400" y="5041900"/>
            <a:ext cx="2387600" cy="660400"/>
          </a:xfrm>
          <a:prstGeom prst="rect">
            <a:avLst/>
          </a:prstGeom>
          <a:solidFill>
            <a:srgbClr val="E8EEF8"/>
          </a:solid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a:ln>
                  <a:noFill/>
                </a:ln>
                <a:solidFill>
                  <a:srgbClr val="070154"/>
                </a:solidFill>
                <a:effectLst/>
                <a:uLnTx/>
                <a:uFillTx/>
                <a:latin typeface="Arial"/>
                <a:ea typeface="+mn-ea"/>
                <a:cs typeface="Arial"/>
              </a:rPr>
              <a:t>AI accelerates the evidence and delivery work that historically made high-change paths slow and expensive.</a:t>
            </a:r>
            <a:endParaRPr kumimoji="0" lang="en-US" sz="1050" b="0" i="0" u="none" strike="noStrike" kern="1200" cap="none" spc="0" normalizeH="0" baseline="0" noProof="0" dirty="0">
              <a:ln>
                <a:noFill/>
              </a:ln>
              <a:solidFill>
                <a:srgbClr val="070154"/>
              </a:solidFill>
              <a:effectLst/>
              <a:uLnTx/>
              <a:uFillTx/>
              <a:latin typeface="Arial"/>
              <a:ea typeface="+mn-ea"/>
              <a:cs typeface="Arial"/>
            </a:endParaRPr>
          </a:p>
        </p:txBody>
      </p:sp>
      <p:sp>
        <p:nvSpPr>
          <p:cNvPr id="62" name="Rectangle 61">
            <a:extLst>
              <a:ext uri="{FF2B5EF4-FFF2-40B4-BE49-F238E27FC236}">
                <a16:creationId xmlns:a16="http://schemas.microsoft.com/office/drawing/2014/main" id="{19DA809F-116F-E049-9A2C-26D5309BA432}"/>
              </a:ext>
            </a:extLst>
          </p:cNvPr>
          <p:cNvSpPr/>
          <p:nvPr/>
        </p:nvSpPr>
        <p:spPr bwMode="auto">
          <a:xfrm>
            <a:off x="3479800" y="4533900"/>
            <a:ext cx="2514600" cy="3937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UNDERSTAND</a:t>
            </a:r>
            <a:endParaRPr kumimoji="0" lang="en-US" sz="110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63" name="TextBox 62">
            <a:extLst>
              <a:ext uri="{FF2B5EF4-FFF2-40B4-BE49-F238E27FC236}">
                <a16:creationId xmlns:a16="http://schemas.microsoft.com/office/drawing/2014/main" id="{A8731356-BC77-A947-8F4C-8D71996B1D06}"/>
              </a:ext>
            </a:extLst>
          </p:cNvPr>
          <p:cNvSpPr txBox="1"/>
          <p:nvPr/>
        </p:nvSpPr>
        <p:spPr>
          <a:xfrm>
            <a:off x="3479800" y="5029200"/>
            <a:ext cx="2514600" cy="685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70154"/>
                </a:solidFill>
                <a:effectLst/>
                <a:uLnTx/>
                <a:uFillTx/>
                <a:latin typeface="Arial"/>
                <a:ea typeface="+mn-ea"/>
                <a:cs typeface="Arial"/>
              </a:rPr>
              <a:t>Map code, dependencies, process evidence, and business rules faster.</a:t>
            </a:r>
            <a:endParaRPr kumimoji="0" lang="en-US" sz="1100" b="0" i="0" u="none" strike="noStrike" kern="1200" cap="none" spc="0" normalizeH="0" baseline="0" noProof="0" dirty="0">
              <a:ln>
                <a:noFill/>
              </a:ln>
              <a:solidFill>
                <a:srgbClr val="070154"/>
              </a:solidFill>
              <a:effectLst/>
              <a:uLnTx/>
              <a:uFillTx/>
              <a:latin typeface="Arial"/>
              <a:ea typeface="+mn-ea"/>
              <a:cs typeface="Arial"/>
            </a:endParaRPr>
          </a:p>
        </p:txBody>
      </p:sp>
      <p:sp>
        <p:nvSpPr>
          <p:cNvPr id="64" name="Rectangle 63">
            <a:extLst>
              <a:ext uri="{FF2B5EF4-FFF2-40B4-BE49-F238E27FC236}">
                <a16:creationId xmlns:a16="http://schemas.microsoft.com/office/drawing/2014/main" id="{ECD0E961-4DE6-B74E-9CDC-E53E5E7C4379}"/>
              </a:ext>
            </a:extLst>
          </p:cNvPr>
          <p:cNvSpPr/>
          <p:nvPr/>
        </p:nvSpPr>
        <p:spPr bwMode="auto">
          <a:xfrm>
            <a:off x="6223000" y="4533900"/>
            <a:ext cx="2514600" cy="3937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GENERATE</a:t>
            </a:r>
            <a:endParaRPr kumimoji="0" lang="en-US" sz="110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65" name="TextBox 64">
            <a:extLst>
              <a:ext uri="{FF2B5EF4-FFF2-40B4-BE49-F238E27FC236}">
                <a16:creationId xmlns:a16="http://schemas.microsoft.com/office/drawing/2014/main" id="{CFE34ADF-B95F-1A44-9E6E-668A5AF53A1F}"/>
              </a:ext>
            </a:extLst>
          </p:cNvPr>
          <p:cNvSpPr txBox="1"/>
          <p:nvPr/>
        </p:nvSpPr>
        <p:spPr>
          <a:xfrm>
            <a:off x="6223000" y="5029200"/>
            <a:ext cx="2514600" cy="685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70154"/>
                </a:solidFill>
                <a:effectLst/>
                <a:uLnTx/>
                <a:uFillTx/>
                <a:latin typeface="Arial"/>
                <a:ea typeface="+mn-ea"/>
                <a:cs typeface="Arial"/>
              </a:rPr>
              <a:t>Draft target designs, code, tests, migration assets, and documentation.</a:t>
            </a:r>
            <a:endParaRPr kumimoji="0" lang="en-US" sz="1100" b="0" i="0" u="none" strike="noStrike" kern="1200" cap="none" spc="0" normalizeH="0" baseline="0" noProof="0" dirty="0">
              <a:ln>
                <a:noFill/>
              </a:ln>
              <a:solidFill>
                <a:srgbClr val="070154"/>
              </a:solidFill>
              <a:effectLst/>
              <a:uLnTx/>
              <a:uFillTx/>
              <a:latin typeface="Arial"/>
              <a:ea typeface="+mn-ea"/>
              <a:cs typeface="Arial"/>
            </a:endParaRPr>
          </a:p>
        </p:txBody>
      </p:sp>
      <p:sp>
        <p:nvSpPr>
          <p:cNvPr id="66" name="Rectangle 65">
            <a:extLst>
              <a:ext uri="{FF2B5EF4-FFF2-40B4-BE49-F238E27FC236}">
                <a16:creationId xmlns:a16="http://schemas.microsoft.com/office/drawing/2014/main" id="{398886B5-2FC4-4242-8F76-3A4F17B6FB6F}"/>
              </a:ext>
            </a:extLst>
          </p:cNvPr>
          <p:cNvSpPr/>
          <p:nvPr/>
        </p:nvSpPr>
        <p:spPr bwMode="auto">
          <a:xfrm>
            <a:off x="8966200" y="4533900"/>
            <a:ext cx="2514600" cy="3937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VALIDATE</a:t>
            </a:r>
            <a:endParaRPr kumimoji="0" lang="en-US" sz="110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67" name="TextBox 66">
            <a:extLst>
              <a:ext uri="{FF2B5EF4-FFF2-40B4-BE49-F238E27FC236}">
                <a16:creationId xmlns:a16="http://schemas.microsoft.com/office/drawing/2014/main" id="{BB2480E1-58F6-E542-94C6-4A604DED4686}"/>
              </a:ext>
            </a:extLst>
          </p:cNvPr>
          <p:cNvSpPr txBox="1"/>
          <p:nvPr/>
        </p:nvSpPr>
        <p:spPr>
          <a:xfrm>
            <a:off x="8966200" y="5029200"/>
            <a:ext cx="2514600" cy="685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70154"/>
                </a:solidFill>
                <a:effectLst/>
                <a:uLnTx/>
                <a:uFillTx/>
                <a:latin typeface="Arial"/>
                <a:ea typeface="+mn-ea"/>
                <a:cs typeface="Arial"/>
              </a:rPr>
              <a:t>Compare options, expose risk, and expand regression coverage before release.</a:t>
            </a:r>
            <a:endParaRPr kumimoji="0" lang="en-US" sz="1100" b="0" i="0" u="none" strike="noStrike" kern="1200" cap="none" spc="0" normalizeH="0" baseline="0" noProof="0" dirty="0">
              <a:ln>
                <a:noFill/>
              </a:ln>
              <a:solidFill>
                <a:srgbClr val="070154"/>
              </a:solidFill>
              <a:effectLst/>
              <a:uLnTx/>
              <a:uFillTx/>
              <a:latin typeface="Arial"/>
              <a:ea typeface="+mn-ea"/>
              <a:cs typeface="Arial"/>
            </a:endParaRPr>
          </a:p>
        </p:txBody>
      </p:sp>
      <p:sp>
        <p:nvSpPr>
          <p:cNvPr id="68" name="TextBox 67">
            <a:extLst>
              <a:ext uri="{FF2B5EF4-FFF2-40B4-BE49-F238E27FC236}">
                <a16:creationId xmlns:a16="http://schemas.microsoft.com/office/drawing/2014/main" id="{2A903D58-8DCE-6F40-92EC-8D4338240689}"/>
              </a:ext>
            </a:extLst>
          </p:cNvPr>
          <p:cNvSpPr txBox="1"/>
          <p:nvPr/>
        </p:nvSpPr>
        <p:spPr>
          <a:xfrm>
            <a:off x="3479800" y="5740400"/>
            <a:ext cx="8001000" cy="317500"/>
          </a:xfrm>
          <a:prstGeom prst="rect">
            <a:avLst/>
          </a:prstGeom>
          <a:noFill/>
        </p:spPr>
        <p:txBody>
          <a:bodyPr vertOverflow="overflow" vert="horz"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50658E"/>
                </a:solidFill>
                <a:effectLst/>
                <a:uLnTx/>
                <a:uFillTx/>
                <a:latin typeface="Arial"/>
                <a:ea typeface="+mn-ea"/>
                <a:cs typeface="Arial"/>
              </a:rPr>
              <a:t>The framework still guides the decision; AI broadens the feasible set. Business and technology leaders remain accountable for the choice.</a:t>
            </a:r>
            <a:endParaRPr kumimoji="0" lang="en-US" sz="1050" b="1" i="0" u="none" strike="noStrike" kern="1200" cap="none" spc="0" normalizeH="0" baseline="0" noProof="0" dirty="0">
              <a:ln>
                <a:noFill/>
              </a:ln>
              <a:solidFill>
                <a:srgbClr val="50658E"/>
              </a:solidFill>
              <a:effectLst/>
              <a:uLnTx/>
              <a:uFillTx/>
              <a:latin typeface="Arial"/>
              <a:ea typeface="+mn-ea"/>
              <a:cs typeface="Arial"/>
            </a:endParaRPr>
          </a:p>
        </p:txBody>
      </p:sp>
    </p:spTree>
    <p:custDataLst>
      <p:tags r:id="rId1"/>
    </p:custDataLst>
    <p:extLst>
      <p:ext uri="{BB962C8B-B14F-4D97-AF65-F5344CB8AC3E}">
        <p14:creationId xmlns:p14="http://schemas.microsoft.com/office/powerpoint/2010/main" val="3221650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8F770-20D5-45AF-2ADE-B43E2CE782D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7482814-2F93-3F4C-8EC9-727B7FDE2891}"/>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450" b="0" i="0" u="none" strike="noStrike" kern="1200" cap="none" spc="0" normalizeH="0" baseline="0" noProof="0">
                <a:ln>
                  <a:noFill/>
                </a:ln>
                <a:solidFill>
                  <a:srgbClr val="070154"/>
                </a:solidFill>
                <a:effectLst/>
                <a:uLnTx/>
                <a:uFillTx/>
                <a:latin typeface="Arial"/>
                <a:ea typeface="+mn-ea"/>
                <a:cs typeface="Arial"/>
              </a:rPr>
              <a:t>© 2026 West Monroe Partners | Reproduction and/or distribution without West Monroe Partners’ prior consent is prohibited.</a:t>
            </a:r>
            <a:endParaRPr kumimoji="0" lang="en-US" sz="450" b="0" i="0" u="none" strike="noStrike" kern="1200" cap="none" spc="0" normalizeH="0" baseline="0" noProof="0" dirty="0">
              <a:ln>
                <a:noFill/>
              </a:ln>
              <a:solidFill>
                <a:srgbClr val="070154"/>
              </a:solidFill>
              <a:effectLst/>
              <a:uLnTx/>
              <a:uFillTx/>
              <a:latin typeface="Arial"/>
              <a:ea typeface="+mn-ea"/>
              <a:cs typeface="Arial"/>
            </a:endParaRPr>
          </a:p>
        </p:txBody>
      </p:sp>
      <p:sp>
        <p:nvSpPr>
          <p:cNvPr id="9" name="TextBox 8">
            <a:extLst>
              <a:ext uri="{FF2B5EF4-FFF2-40B4-BE49-F238E27FC236}">
                <a16:creationId xmlns:a16="http://schemas.microsoft.com/office/drawing/2014/main" id="{F6E922FB-20AA-9944-8863-E79A5C626E57}"/>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550" b="0" i="0" u="none" strike="noStrike" kern="1200" cap="none" spc="0" normalizeH="0" baseline="0" noProof="0">
                <a:ln>
                  <a:noFill/>
                </a:ln>
                <a:solidFill>
                  <a:srgbClr val="070154"/>
                </a:solidFill>
                <a:effectLst/>
                <a:uLnTx/>
                <a:uFillTx/>
                <a:latin typeface="Arial"/>
                <a:ea typeface="+mn-ea"/>
                <a:cs typeface="Arial"/>
              </a:rPr>
              <a:t>17</a:t>
            </a:r>
            <a:endParaRPr kumimoji="0" lang="en-US" sz="550" b="0" i="0" u="none" strike="noStrike" kern="1200" cap="none" spc="0" normalizeH="0" baseline="0" noProof="0" dirty="0">
              <a:ln>
                <a:noFill/>
              </a:ln>
              <a:solidFill>
                <a:srgbClr val="070154"/>
              </a:solidFill>
              <a:effectLst/>
              <a:uLnTx/>
              <a:uFillTx/>
              <a:latin typeface="Arial"/>
              <a:ea typeface="+mn-ea"/>
              <a:cs typeface="Arial"/>
            </a:endParaRPr>
          </a:p>
        </p:txBody>
      </p:sp>
      <p:sp>
        <p:nvSpPr>
          <p:cNvPr id="10" name="TextBox 9">
            <a:extLst>
              <a:ext uri="{FF2B5EF4-FFF2-40B4-BE49-F238E27FC236}">
                <a16:creationId xmlns:a16="http://schemas.microsoft.com/office/drawing/2014/main" id="{C2FBF54A-4EA8-DF4E-8DF9-F18C00E347FA}"/>
              </a:ext>
            </a:extLst>
          </p:cNvPr>
          <p:cNvSpPr txBox="1"/>
          <p:nvPr/>
        </p:nvSpPr>
        <p:spPr>
          <a:xfrm>
            <a:off x="457200" y="457200"/>
            <a:ext cx="11277600" cy="787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400" b="1" i="0" u="none" strike="noStrike" kern="1200" cap="none" spc="0" normalizeH="0" baseline="0" noProof="0">
                <a:ln>
                  <a:noFill/>
                </a:ln>
                <a:solidFill>
                  <a:srgbClr val="070154"/>
                </a:solidFill>
                <a:effectLst/>
                <a:uLnTx/>
                <a:uFillTx/>
                <a:latin typeface="Arial"/>
                <a:ea typeface="+mn-ea"/>
                <a:cs typeface="Arial"/>
              </a:rPr>
              <a:t>AI reconstructs business processes by tracing work, encoded logic, and expert intent into one validated model.</a:t>
            </a:r>
            <a:endParaRPr kumimoji="0" lang="en-US" sz="2400" b="1" i="0" u="none" strike="noStrike" kern="1200" cap="none" spc="0" normalizeH="0" baseline="0" noProof="0" dirty="0">
              <a:ln>
                <a:noFill/>
              </a:ln>
              <a:solidFill>
                <a:srgbClr val="070154"/>
              </a:solidFill>
              <a:effectLst/>
              <a:uLnTx/>
              <a:uFillTx/>
              <a:latin typeface="Arial"/>
              <a:ea typeface="+mn-ea"/>
              <a:cs typeface="Arial"/>
            </a:endParaRPr>
          </a:p>
        </p:txBody>
      </p:sp>
      <p:sp>
        <p:nvSpPr>
          <p:cNvPr id="13" name="TextBox 12">
            <a:extLst>
              <a:ext uri="{FF2B5EF4-FFF2-40B4-BE49-F238E27FC236}">
                <a16:creationId xmlns:a16="http://schemas.microsoft.com/office/drawing/2014/main" id="{9EC14A2D-9042-614C-9706-CD70A46D70EB}"/>
              </a:ext>
            </a:extLst>
          </p:cNvPr>
          <p:cNvSpPr txBox="1"/>
          <p:nvPr/>
        </p:nvSpPr>
        <p:spPr>
          <a:xfrm>
            <a:off x="457200" y="1282700"/>
            <a:ext cx="11277600" cy="406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50658E"/>
                </a:solidFill>
                <a:effectLst/>
                <a:uLnTx/>
                <a:uFillTx/>
                <a:latin typeface="Arial"/>
                <a:ea typeface="+mn-ea"/>
                <a:cs typeface="Arial"/>
              </a:rPr>
              <a:t>Each evidence stream has blind spots; the value comes from linking sources, surfacing contradictions, and keeping experts in the validation loop.</a:t>
            </a:r>
            <a:endParaRPr kumimoji="0" lang="en-US" sz="1200" b="0" i="0" u="none" strike="noStrike" kern="1200" cap="none" spc="0" normalizeH="0" baseline="0" noProof="0" dirty="0">
              <a:ln>
                <a:noFill/>
              </a:ln>
              <a:solidFill>
                <a:srgbClr val="50658E"/>
              </a:solidFill>
              <a:effectLst/>
              <a:uLnTx/>
              <a:uFillTx/>
              <a:latin typeface="Arial"/>
              <a:ea typeface="+mn-ea"/>
              <a:cs typeface="Arial"/>
            </a:endParaRPr>
          </a:p>
        </p:txBody>
      </p:sp>
      <p:sp>
        <p:nvSpPr>
          <p:cNvPr id="14" name="TextBox 13">
            <a:extLst>
              <a:ext uri="{FF2B5EF4-FFF2-40B4-BE49-F238E27FC236}">
                <a16:creationId xmlns:a16="http://schemas.microsoft.com/office/drawing/2014/main" id="{8ED790FF-CA0E-7C46-95D6-F0C385F39F59}"/>
              </a:ext>
            </a:extLst>
          </p:cNvPr>
          <p:cNvSpPr txBox="1"/>
          <p:nvPr/>
        </p:nvSpPr>
        <p:spPr>
          <a:xfrm>
            <a:off x="457200" y="1917700"/>
            <a:ext cx="2794000" cy="279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50658E"/>
                </a:solidFill>
                <a:effectLst/>
                <a:uLnTx/>
                <a:uFillTx/>
                <a:latin typeface="Arial"/>
                <a:ea typeface="+mn-ea"/>
                <a:cs typeface="Arial"/>
              </a:rPr>
              <a:t>1  GATHER EVIDENCE</a:t>
            </a:r>
            <a:endParaRPr kumimoji="0" lang="en-US" sz="1100" b="1" i="0" u="none" strike="noStrike" kern="1200" cap="none" spc="0" normalizeH="0" baseline="0" noProof="0" dirty="0">
              <a:ln>
                <a:noFill/>
              </a:ln>
              <a:solidFill>
                <a:srgbClr val="50658E"/>
              </a:solidFill>
              <a:effectLst/>
              <a:uLnTx/>
              <a:uFillTx/>
              <a:latin typeface="Arial"/>
              <a:ea typeface="+mn-ea"/>
              <a:cs typeface="Arial"/>
            </a:endParaRPr>
          </a:p>
        </p:txBody>
      </p:sp>
      <p:sp>
        <p:nvSpPr>
          <p:cNvPr id="15" name="TextBox 14">
            <a:extLst>
              <a:ext uri="{FF2B5EF4-FFF2-40B4-BE49-F238E27FC236}">
                <a16:creationId xmlns:a16="http://schemas.microsoft.com/office/drawing/2014/main" id="{5C42F829-56B2-F64E-986B-D2EC0A1EE3FD}"/>
              </a:ext>
            </a:extLst>
          </p:cNvPr>
          <p:cNvSpPr txBox="1"/>
          <p:nvPr/>
        </p:nvSpPr>
        <p:spPr>
          <a:xfrm>
            <a:off x="3924300" y="1917700"/>
            <a:ext cx="2159000" cy="279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50658E"/>
                </a:solidFill>
                <a:effectLst/>
                <a:uLnTx/>
                <a:uFillTx/>
                <a:latin typeface="Arial"/>
                <a:ea typeface="+mn-ea"/>
                <a:cs typeface="Arial"/>
              </a:rPr>
              <a:t>2  SYNTHESIZE</a:t>
            </a:r>
            <a:endParaRPr kumimoji="0" lang="en-US" sz="1100" b="1" i="0" u="none" strike="noStrike" kern="1200" cap="none" spc="0" normalizeH="0" baseline="0" noProof="0" dirty="0">
              <a:ln>
                <a:noFill/>
              </a:ln>
              <a:solidFill>
                <a:srgbClr val="50658E"/>
              </a:solidFill>
              <a:effectLst/>
              <a:uLnTx/>
              <a:uFillTx/>
              <a:latin typeface="Arial"/>
              <a:ea typeface="+mn-ea"/>
              <a:cs typeface="Arial"/>
            </a:endParaRPr>
          </a:p>
        </p:txBody>
      </p:sp>
      <p:sp>
        <p:nvSpPr>
          <p:cNvPr id="16" name="TextBox 15">
            <a:extLst>
              <a:ext uri="{FF2B5EF4-FFF2-40B4-BE49-F238E27FC236}">
                <a16:creationId xmlns:a16="http://schemas.microsoft.com/office/drawing/2014/main" id="{127750D7-B295-4843-890D-BDAA14AD3341}"/>
              </a:ext>
            </a:extLst>
          </p:cNvPr>
          <p:cNvSpPr txBox="1"/>
          <p:nvPr/>
        </p:nvSpPr>
        <p:spPr>
          <a:xfrm>
            <a:off x="6959600" y="1917700"/>
            <a:ext cx="1905000" cy="279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50658E"/>
                </a:solidFill>
                <a:effectLst/>
                <a:uLnTx/>
                <a:uFillTx/>
                <a:latin typeface="Arial"/>
                <a:ea typeface="+mn-ea"/>
                <a:cs typeface="Arial"/>
              </a:rPr>
              <a:t>3  VALIDATE</a:t>
            </a:r>
            <a:endParaRPr kumimoji="0" lang="en-US" sz="1100" b="1" i="0" u="none" strike="noStrike" kern="1200" cap="none" spc="0" normalizeH="0" baseline="0" noProof="0" dirty="0">
              <a:ln>
                <a:noFill/>
              </a:ln>
              <a:solidFill>
                <a:srgbClr val="50658E"/>
              </a:solidFill>
              <a:effectLst/>
              <a:uLnTx/>
              <a:uFillTx/>
              <a:latin typeface="Arial"/>
              <a:ea typeface="+mn-ea"/>
              <a:cs typeface="Arial"/>
            </a:endParaRPr>
          </a:p>
        </p:txBody>
      </p:sp>
      <p:sp>
        <p:nvSpPr>
          <p:cNvPr id="17" name="TextBox 16">
            <a:extLst>
              <a:ext uri="{FF2B5EF4-FFF2-40B4-BE49-F238E27FC236}">
                <a16:creationId xmlns:a16="http://schemas.microsoft.com/office/drawing/2014/main" id="{29CFE79B-8A13-884C-9130-5049B1B4AA8D}"/>
              </a:ext>
            </a:extLst>
          </p:cNvPr>
          <p:cNvSpPr txBox="1"/>
          <p:nvPr/>
        </p:nvSpPr>
        <p:spPr>
          <a:xfrm>
            <a:off x="9728200" y="1917700"/>
            <a:ext cx="2006600" cy="279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50658E"/>
                </a:solidFill>
                <a:effectLst/>
                <a:uLnTx/>
                <a:uFillTx/>
                <a:latin typeface="Arial"/>
                <a:ea typeface="+mn-ea"/>
                <a:cs typeface="Arial"/>
              </a:rPr>
              <a:t>4  ACTIVATE</a:t>
            </a:r>
            <a:endParaRPr kumimoji="0" lang="en-US" sz="1100" b="1" i="0" u="none" strike="noStrike" kern="1200" cap="none" spc="0" normalizeH="0" baseline="0" noProof="0" dirty="0">
              <a:ln>
                <a:noFill/>
              </a:ln>
              <a:solidFill>
                <a:srgbClr val="50658E"/>
              </a:solidFill>
              <a:effectLst/>
              <a:uLnTx/>
              <a:uFillTx/>
              <a:latin typeface="Arial"/>
              <a:ea typeface="+mn-ea"/>
              <a:cs typeface="Arial"/>
            </a:endParaRPr>
          </a:p>
        </p:txBody>
      </p:sp>
      <p:sp>
        <p:nvSpPr>
          <p:cNvPr id="18" name="Rectangle 17">
            <a:extLst>
              <a:ext uri="{FF2B5EF4-FFF2-40B4-BE49-F238E27FC236}">
                <a16:creationId xmlns:a16="http://schemas.microsoft.com/office/drawing/2014/main" id="{30BF1AC1-5CA2-5A41-8A0F-9AD4B38462A3}"/>
              </a:ext>
            </a:extLst>
          </p:cNvPr>
          <p:cNvSpPr/>
          <p:nvPr/>
        </p:nvSpPr>
        <p:spPr bwMode="auto">
          <a:xfrm>
            <a:off x="457200" y="2413000"/>
            <a:ext cx="88900" cy="787400"/>
          </a:xfrm>
          <a:prstGeom prst="rect">
            <a:avLst/>
          </a:prstGeom>
          <a:solidFill>
            <a:srgbClr val="F900D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9" name="TextBox 18">
            <a:extLst>
              <a:ext uri="{FF2B5EF4-FFF2-40B4-BE49-F238E27FC236}">
                <a16:creationId xmlns:a16="http://schemas.microsoft.com/office/drawing/2014/main" id="{00F4B64C-939F-0044-97D8-7CA4BE7DDFE3}"/>
              </a:ext>
            </a:extLst>
          </p:cNvPr>
          <p:cNvSpPr txBox="1"/>
          <p:nvPr/>
        </p:nvSpPr>
        <p:spPr>
          <a:xfrm>
            <a:off x="685800" y="2413000"/>
            <a:ext cx="22352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070154"/>
                </a:solidFill>
                <a:effectLst/>
                <a:uLnTx/>
                <a:uFillTx/>
                <a:latin typeface="Arial"/>
                <a:ea typeface="+mn-ea"/>
                <a:cs typeface="Arial"/>
              </a:rPr>
              <a:t>OBSERVED WORK</a:t>
            </a:r>
            <a:endParaRPr kumimoji="0" lang="en-US" sz="1100" b="1" i="0" u="none" strike="noStrike" kern="1200" cap="none" spc="0" normalizeH="0" baseline="0" noProof="0" dirty="0">
              <a:ln>
                <a:noFill/>
              </a:ln>
              <a:solidFill>
                <a:srgbClr val="070154"/>
              </a:solidFill>
              <a:effectLst/>
              <a:uLnTx/>
              <a:uFillTx/>
              <a:latin typeface="Arial"/>
              <a:ea typeface="+mn-ea"/>
              <a:cs typeface="Arial"/>
            </a:endParaRPr>
          </a:p>
        </p:txBody>
      </p:sp>
      <p:sp>
        <p:nvSpPr>
          <p:cNvPr id="20" name="TextBox 19">
            <a:extLst>
              <a:ext uri="{FF2B5EF4-FFF2-40B4-BE49-F238E27FC236}">
                <a16:creationId xmlns:a16="http://schemas.microsoft.com/office/drawing/2014/main" id="{95703868-C0F6-9E48-928A-3ED8D3565889}"/>
              </a:ext>
            </a:extLst>
          </p:cNvPr>
          <p:cNvSpPr txBox="1"/>
          <p:nvPr/>
        </p:nvSpPr>
        <p:spPr>
          <a:xfrm>
            <a:off x="685800" y="2679700"/>
            <a:ext cx="22352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50658E"/>
                </a:solidFill>
                <a:effectLst/>
                <a:uLnTx/>
                <a:uFillTx/>
                <a:latin typeface="Arial"/>
                <a:ea typeface="+mn-ea"/>
                <a:cs typeface="Arial"/>
              </a:rPr>
              <a:t>Consented recordings, traces, artifacts</a:t>
            </a:r>
            <a:endParaRPr kumimoji="0" lang="en-US" sz="950" b="0" i="0" u="none" strike="noStrike" kern="1200" cap="none" spc="0" normalizeH="0" baseline="0" noProof="0" dirty="0">
              <a:ln>
                <a:noFill/>
              </a:ln>
              <a:solidFill>
                <a:srgbClr val="50658E"/>
              </a:solidFill>
              <a:effectLst/>
              <a:uLnTx/>
              <a:uFillTx/>
              <a:latin typeface="Arial"/>
              <a:ea typeface="+mn-ea"/>
              <a:cs typeface="Arial"/>
            </a:endParaRPr>
          </a:p>
        </p:txBody>
      </p:sp>
      <p:sp>
        <p:nvSpPr>
          <p:cNvPr id="21" name="TextBox 20">
            <a:extLst>
              <a:ext uri="{FF2B5EF4-FFF2-40B4-BE49-F238E27FC236}">
                <a16:creationId xmlns:a16="http://schemas.microsoft.com/office/drawing/2014/main" id="{A7B8B80A-7D72-C546-A09B-7A8C9C214BDC}"/>
              </a:ext>
            </a:extLst>
          </p:cNvPr>
          <p:cNvSpPr txBox="1"/>
          <p:nvPr/>
        </p:nvSpPr>
        <p:spPr>
          <a:xfrm>
            <a:off x="685800" y="2946400"/>
            <a:ext cx="2603500" cy="228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50658E"/>
                </a:solidFill>
                <a:effectLst/>
                <a:uLnTx/>
                <a:uFillTx/>
                <a:latin typeface="Arial"/>
                <a:ea typeface="+mn-ea"/>
                <a:cs typeface="Arial"/>
              </a:rPr>
              <a:t>Steps • handoffs • exceptions • workarounds</a:t>
            </a:r>
            <a:endParaRPr kumimoji="0" lang="en-US" sz="900" b="0" i="0" u="none" strike="noStrike" kern="1200" cap="none" spc="0" normalizeH="0" baseline="0" noProof="0" dirty="0">
              <a:ln>
                <a:noFill/>
              </a:ln>
              <a:solidFill>
                <a:srgbClr val="50658E"/>
              </a:solidFill>
              <a:effectLst/>
              <a:uLnTx/>
              <a:uFillTx/>
              <a:latin typeface="Arial"/>
              <a:ea typeface="+mn-ea"/>
              <a:cs typeface="Arial"/>
            </a:endParaRPr>
          </a:p>
        </p:txBody>
      </p:sp>
      <p:sp>
        <p:nvSpPr>
          <p:cNvPr id="22" name="Rectangle 21">
            <a:extLst>
              <a:ext uri="{FF2B5EF4-FFF2-40B4-BE49-F238E27FC236}">
                <a16:creationId xmlns:a16="http://schemas.microsoft.com/office/drawing/2014/main" id="{657B4CAA-F010-0D47-AAF3-D3458E208BFC}"/>
              </a:ext>
            </a:extLst>
          </p:cNvPr>
          <p:cNvSpPr/>
          <p:nvPr/>
        </p:nvSpPr>
        <p:spPr bwMode="auto">
          <a:xfrm>
            <a:off x="457200" y="3429000"/>
            <a:ext cx="88900" cy="7874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0C37E254-D88E-804B-91D8-BB07BB3F3246}"/>
              </a:ext>
            </a:extLst>
          </p:cNvPr>
          <p:cNvSpPr txBox="1"/>
          <p:nvPr/>
        </p:nvSpPr>
        <p:spPr>
          <a:xfrm>
            <a:off x="685800" y="3429000"/>
            <a:ext cx="22352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070154"/>
                </a:solidFill>
                <a:effectLst/>
                <a:uLnTx/>
                <a:uFillTx/>
                <a:latin typeface="Arial"/>
                <a:ea typeface="+mn-ea"/>
                <a:cs typeface="Arial"/>
              </a:rPr>
              <a:t>ENCODED BEHAVIOR</a:t>
            </a:r>
            <a:endParaRPr kumimoji="0" lang="en-US" sz="1100" b="1" i="0" u="none" strike="noStrike" kern="1200" cap="none" spc="0" normalizeH="0" baseline="0" noProof="0" dirty="0">
              <a:ln>
                <a:noFill/>
              </a:ln>
              <a:solidFill>
                <a:srgbClr val="070154"/>
              </a:solidFill>
              <a:effectLst/>
              <a:uLnTx/>
              <a:uFillTx/>
              <a:latin typeface="Arial"/>
              <a:ea typeface="+mn-ea"/>
              <a:cs typeface="Arial"/>
            </a:endParaRPr>
          </a:p>
        </p:txBody>
      </p:sp>
      <p:sp>
        <p:nvSpPr>
          <p:cNvPr id="24" name="TextBox 23">
            <a:extLst>
              <a:ext uri="{FF2B5EF4-FFF2-40B4-BE49-F238E27FC236}">
                <a16:creationId xmlns:a16="http://schemas.microsoft.com/office/drawing/2014/main" id="{73B55CE9-2807-884A-B263-E5ACADAE1290}"/>
              </a:ext>
            </a:extLst>
          </p:cNvPr>
          <p:cNvSpPr txBox="1"/>
          <p:nvPr/>
        </p:nvSpPr>
        <p:spPr>
          <a:xfrm>
            <a:off x="685800" y="3695700"/>
            <a:ext cx="2235200" cy="254000"/>
          </a:xfrm>
          <a:prstGeom prst="rect">
            <a:avLst/>
          </a:prstGeom>
          <a:noFill/>
        </p:spPr>
        <p:txBody>
          <a:bodyPr vertOverflow="overflow" vert="horz"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50658E"/>
                </a:solidFill>
                <a:effectLst/>
                <a:uLnTx/>
                <a:uFillTx/>
                <a:latin typeface="Arial"/>
                <a:ea typeface="+mn-ea"/>
                <a:cs typeface="Arial"/>
              </a:rPr>
              <a:t>Source, configuration, data, jobs, interfaces</a:t>
            </a:r>
            <a:endParaRPr kumimoji="0" lang="en-US" sz="950" b="0" i="0" u="none" strike="noStrike" kern="1200" cap="none" spc="0" normalizeH="0" baseline="0" noProof="0" dirty="0">
              <a:ln>
                <a:noFill/>
              </a:ln>
              <a:solidFill>
                <a:srgbClr val="50658E"/>
              </a:solidFill>
              <a:effectLst/>
              <a:uLnTx/>
              <a:uFillTx/>
              <a:latin typeface="Arial"/>
              <a:ea typeface="+mn-ea"/>
              <a:cs typeface="Arial"/>
            </a:endParaRPr>
          </a:p>
        </p:txBody>
      </p:sp>
      <p:sp>
        <p:nvSpPr>
          <p:cNvPr id="26" name="TextBox 25">
            <a:extLst>
              <a:ext uri="{FF2B5EF4-FFF2-40B4-BE49-F238E27FC236}">
                <a16:creationId xmlns:a16="http://schemas.microsoft.com/office/drawing/2014/main" id="{D2B46DF8-4ACA-5A49-BE9F-6A5F6E9876DC}"/>
              </a:ext>
            </a:extLst>
          </p:cNvPr>
          <p:cNvSpPr txBox="1"/>
          <p:nvPr/>
        </p:nvSpPr>
        <p:spPr>
          <a:xfrm>
            <a:off x="685800" y="3962400"/>
            <a:ext cx="2603500" cy="228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50658E"/>
                </a:solidFill>
                <a:effectLst/>
                <a:uLnTx/>
                <a:uFillTx/>
                <a:latin typeface="Arial"/>
                <a:ea typeface="+mn-ea"/>
                <a:cs typeface="Arial"/>
              </a:rPr>
              <a:t>Rules • states • validations • dependencies</a:t>
            </a:r>
            <a:endParaRPr kumimoji="0" lang="en-US" sz="900" b="0" i="0" u="none" strike="noStrike" kern="1200" cap="none" spc="0" normalizeH="0" baseline="0" noProof="0" dirty="0">
              <a:ln>
                <a:noFill/>
              </a:ln>
              <a:solidFill>
                <a:srgbClr val="50658E"/>
              </a:solidFill>
              <a:effectLst/>
              <a:uLnTx/>
              <a:uFillTx/>
              <a:latin typeface="Arial"/>
              <a:ea typeface="+mn-ea"/>
              <a:cs typeface="Arial"/>
            </a:endParaRPr>
          </a:p>
        </p:txBody>
      </p:sp>
      <p:sp>
        <p:nvSpPr>
          <p:cNvPr id="27" name="Rectangle 26">
            <a:extLst>
              <a:ext uri="{FF2B5EF4-FFF2-40B4-BE49-F238E27FC236}">
                <a16:creationId xmlns:a16="http://schemas.microsoft.com/office/drawing/2014/main" id="{767EC4E2-370F-5A47-B9A1-7EAA4E5B71D6}"/>
              </a:ext>
            </a:extLst>
          </p:cNvPr>
          <p:cNvSpPr/>
          <p:nvPr/>
        </p:nvSpPr>
        <p:spPr bwMode="auto">
          <a:xfrm>
            <a:off x="457200" y="4445000"/>
            <a:ext cx="88900" cy="7874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TextBox 27">
            <a:extLst>
              <a:ext uri="{FF2B5EF4-FFF2-40B4-BE49-F238E27FC236}">
                <a16:creationId xmlns:a16="http://schemas.microsoft.com/office/drawing/2014/main" id="{AB873B5F-593E-C04E-BE58-81B66C9BECF3}"/>
              </a:ext>
            </a:extLst>
          </p:cNvPr>
          <p:cNvSpPr txBox="1"/>
          <p:nvPr/>
        </p:nvSpPr>
        <p:spPr>
          <a:xfrm>
            <a:off x="685800" y="4445000"/>
            <a:ext cx="22352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070154"/>
                </a:solidFill>
                <a:effectLst/>
                <a:uLnTx/>
                <a:uFillTx/>
                <a:latin typeface="Arial"/>
                <a:ea typeface="+mn-ea"/>
                <a:cs typeface="Arial"/>
              </a:rPr>
              <a:t>EXPERT CONTEXT</a:t>
            </a:r>
            <a:endParaRPr kumimoji="0" lang="en-US" sz="1100" b="1" i="0" u="none" strike="noStrike" kern="1200" cap="none" spc="0" normalizeH="0" baseline="0" noProof="0" dirty="0">
              <a:ln>
                <a:noFill/>
              </a:ln>
              <a:solidFill>
                <a:srgbClr val="070154"/>
              </a:solidFill>
              <a:effectLst/>
              <a:uLnTx/>
              <a:uFillTx/>
              <a:latin typeface="Arial"/>
              <a:ea typeface="+mn-ea"/>
              <a:cs typeface="Arial"/>
            </a:endParaRPr>
          </a:p>
        </p:txBody>
      </p:sp>
      <p:sp>
        <p:nvSpPr>
          <p:cNvPr id="29" name="TextBox 28">
            <a:extLst>
              <a:ext uri="{FF2B5EF4-FFF2-40B4-BE49-F238E27FC236}">
                <a16:creationId xmlns:a16="http://schemas.microsoft.com/office/drawing/2014/main" id="{4DFF9F43-486E-6C43-9D63-F440BD62CDA9}"/>
              </a:ext>
            </a:extLst>
          </p:cNvPr>
          <p:cNvSpPr txBox="1"/>
          <p:nvPr/>
        </p:nvSpPr>
        <p:spPr>
          <a:xfrm>
            <a:off x="685800" y="4711700"/>
            <a:ext cx="2235200" cy="254000"/>
          </a:xfrm>
          <a:prstGeom prst="rect">
            <a:avLst/>
          </a:prstGeom>
          <a:noFill/>
        </p:spPr>
        <p:txBody>
          <a:bodyPr vertOverflow="overflow" vert="horz"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50658E"/>
                </a:solidFill>
                <a:effectLst/>
                <a:uLnTx/>
                <a:uFillTx/>
                <a:latin typeface="Arial"/>
                <a:ea typeface="+mn-ea"/>
                <a:cs typeface="Arial"/>
              </a:rPr>
              <a:t>Interviews, policies, procedures, documents</a:t>
            </a:r>
            <a:endParaRPr kumimoji="0" lang="en-US" sz="950" b="0" i="0" u="none" strike="noStrike" kern="1200" cap="none" spc="0" normalizeH="0" baseline="0" noProof="0" dirty="0">
              <a:ln>
                <a:noFill/>
              </a:ln>
              <a:solidFill>
                <a:srgbClr val="50658E"/>
              </a:solidFill>
              <a:effectLst/>
              <a:uLnTx/>
              <a:uFillTx/>
              <a:latin typeface="Arial"/>
              <a:ea typeface="+mn-ea"/>
              <a:cs typeface="Arial"/>
            </a:endParaRPr>
          </a:p>
        </p:txBody>
      </p:sp>
      <p:sp>
        <p:nvSpPr>
          <p:cNvPr id="30" name="TextBox 29">
            <a:extLst>
              <a:ext uri="{FF2B5EF4-FFF2-40B4-BE49-F238E27FC236}">
                <a16:creationId xmlns:a16="http://schemas.microsoft.com/office/drawing/2014/main" id="{B1AAF0F0-7BC5-E64C-AD22-84821CAFEF44}"/>
              </a:ext>
            </a:extLst>
          </p:cNvPr>
          <p:cNvSpPr txBox="1"/>
          <p:nvPr/>
        </p:nvSpPr>
        <p:spPr>
          <a:xfrm>
            <a:off x="685800" y="4978400"/>
            <a:ext cx="2603500" cy="228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50658E"/>
                </a:solidFill>
                <a:effectLst/>
                <a:uLnTx/>
                <a:uFillTx/>
                <a:latin typeface="Arial"/>
                <a:ea typeface="+mn-ea"/>
                <a:cs typeface="Arial"/>
              </a:rPr>
              <a:t>Intent • vocabulary • variation • judgment</a:t>
            </a:r>
            <a:endParaRPr kumimoji="0" lang="en-US" sz="900" b="0" i="0" u="none" strike="noStrike" kern="1200" cap="none" spc="0" normalizeH="0" baseline="0" noProof="0" dirty="0">
              <a:ln>
                <a:noFill/>
              </a:ln>
              <a:solidFill>
                <a:srgbClr val="50658E"/>
              </a:solidFill>
              <a:effectLst/>
              <a:uLnTx/>
              <a:uFillTx/>
              <a:latin typeface="Arial"/>
              <a:ea typeface="+mn-ea"/>
              <a:cs typeface="Arial"/>
            </a:endParaRPr>
          </a:p>
        </p:txBody>
      </p:sp>
      <p:sp>
        <p:nvSpPr>
          <p:cNvPr id="33" name="Rounded Rectangle 32">
            <a:extLst>
              <a:ext uri="{FF2B5EF4-FFF2-40B4-BE49-F238E27FC236}">
                <a16:creationId xmlns:a16="http://schemas.microsoft.com/office/drawing/2014/main" id="{D41D435F-85E7-1A4D-83D3-786952BF6A64}"/>
              </a:ext>
            </a:extLst>
          </p:cNvPr>
          <p:cNvSpPr/>
          <p:nvPr/>
        </p:nvSpPr>
        <p:spPr bwMode="auto">
          <a:xfrm>
            <a:off x="3924300" y="2578100"/>
            <a:ext cx="2311400" cy="1625600"/>
          </a:xfrm>
          <a:prstGeom prst="round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AI builds a candidate process + business-logic model</a:t>
            </a:r>
            <a:endParaRPr kumimoji="0" lang="en-US" sz="16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37" name="Rectangle 36">
            <a:extLst>
              <a:ext uri="{FF2B5EF4-FFF2-40B4-BE49-F238E27FC236}">
                <a16:creationId xmlns:a16="http://schemas.microsoft.com/office/drawing/2014/main" id="{FC7D793A-CEB5-384C-AB51-3FC324958768}"/>
              </a:ext>
            </a:extLst>
          </p:cNvPr>
          <p:cNvSpPr/>
          <p:nvPr/>
        </p:nvSpPr>
        <p:spPr bwMode="auto">
          <a:xfrm>
            <a:off x="3924300" y="4394200"/>
            <a:ext cx="2311400" cy="5080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85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Source-linked • confidence-scored • gaps flagged</a:t>
            </a:r>
            <a:endParaRPr kumimoji="0" lang="en-US" sz="85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44" name="Rectangle 43">
            <a:extLst>
              <a:ext uri="{FF2B5EF4-FFF2-40B4-BE49-F238E27FC236}">
                <a16:creationId xmlns:a16="http://schemas.microsoft.com/office/drawing/2014/main" id="{79954937-1983-7F4A-B1C8-9F1C77DA5471}"/>
              </a:ext>
            </a:extLst>
          </p:cNvPr>
          <p:cNvSpPr/>
          <p:nvPr/>
        </p:nvSpPr>
        <p:spPr bwMode="auto">
          <a:xfrm>
            <a:off x="6959600" y="2578100"/>
            <a:ext cx="2057400" cy="533400"/>
          </a:xfrm>
          <a:prstGeom prst="rect">
            <a:avLst/>
          </a:prstGeom>
          <a:solidFill>
            <a:srgbClr val="F900D3"/>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EXPERT REVIEW</a:t>
            </a:r>
            <a:endParaRPr kumimoji="0" lang="en-US" sz="120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46" name="TextBox 45">
            <a:extLst>
              <a:ext uri="{FF2B5EF4-FFF2-40B4-BE49-F238E27FC236}">
                <a16:creationId xmlns:a16="http://schemas.microsoft.com/office/drawing/2014/main" id="{E256B21A-5CCE-6F42-9B0C-CF743C39FAE2}"/>
              </a:ext>
            </a:extLst>
          </p:cNvPr>
          <p:cNvSpPr txBox="1"/>
          <p:nvPr/>
        </p:nvSpPr>
        <p:spPr>
          <a:xfrm>
            <a:off x="6959600" y="3238500"/>
            <a:ext cx="2057400" cy="609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70154"/>
                </a:solidFill>
                <a:effectLst/>
                <a:uLnTx/>
                <a:uFillTx/>
                <a:latin typeface="Arial"/>
                <a:ea typeface="+mn-ea"/>
                <a:cs typeface="Arial"/>
              </a:rPr>
              <a:t>Operators and business + technology experts decide what is:</a:t>
            </a:r>
            <a:endParaRPr kumimoji="0" lang="en-US" sz="1050" b="1" i="0" u="none" strike="noStrike" kern="1200" cap="none" spc="0" normalizeH="0" baseline="0" noProof="0" dirty="0">
              <a:ln>
                <a:noFill/>
              </a:ln>
              <a:solidFill>
                <a:srgbClr val="070154"/>
              </a:solidFill>
              <a:effectLst/>
              <a:uLnTx/>
              <a:uFillTx/>
              <a:latin typeface="Arial"/>
              <a:ea typeface="+mn-ea"/>
              <a:cs typeface="Arial"/>
            </a:endParaRPr>
          </a:p>
        </p:txBody>
      </p:sp>
      <p:sp>
        <p:nvSpPr>
          <p:cNvPr id="47" name="TextBox 46">
            <a:extLst>
              <a:ext uri="{FF2B5EF4-FFF2-40B4-BE49-F238E27FC236}">
                <a16:creationId xmlns:a16="http://schemas.microsoft.com/office/drawing/2014/main" id="{C4EBBD21-8490-AF47-BDAB-92906AA1995E}"/>
              </a:ext>
            </a:extLst>
          </p:cNvPr>
          <p:cNvSpPr txBox="1"/>
          <p:nvPr/>
        </p:nvSpPr>
        <p:spPr>
          <a:xfrm>
            <a:off x="6959600" y="3937000"/>
            <a:ext cx="2057400" cy="5969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070154"/>
                </a:solidFill>
                <a:effectLst/>
                <a:uLnTx/>
                <a:uFillTx/>
                <a:latin typeface="Arial"/>
                <a:ea typeface="+mn-ea"/>
                <a:cs typeface="Arial"/>
              </a:rPr>
              <a:t>accurate  •  obsolete
material  •  missing</a:t>
            </a:r>
            <a:endParaRPr kumimoji="0" lang="en-US" sz="1100" b="1" i="0" u="none" strike="noStrike" kern="1200" cap="none" spc="0" normalizeH="0" baseline="0" noProof="0" dirty="0">
              <a:ln>
                <a:noFill/>
              </a:ln>
              <a:solidFill>
                <a:srgbClr val="070154"/>
              </a:solidFill>
              <a:effectLst/>
              <a:uLnTx/>
              <a:uFillTx/>
              <a:latin typeface="Arial"/>
              <a:ea typeface="+mn-ea"/>
              <a:cs typeface="Arial"/>
            </a:endParaRPr>
          </a:p>
        </p:txBody>
      </p:sp>
      <p:sp>
        <p:nvSpPr>
          <p:cNvPr id="48" name="Rectangle 47">
            <a:extLst>
              <a:ext uri="{FF2B5EF4-FFF2-40B4-BE49-F238E27FC236}">
                <a16:creationId xmlns:a16="http://schemas.microsoft.com/office/drawing/2014/main" id="{8ABD1544-1BAA-9741-AD4E-F6E627FF7E5C}"/>
              </a:ext>
            </a:extLst>
          </p:cNvPr>
          <p:cNvSpPr/>
          <p:nvPr/>
        </p:nvSpPr>
        <p:spPr bwMode="auto">
          <a:xfrm>
            <a:off x="7416800" y="4711700"/>
            <a:ext cx="1143000" cy="38100"/>
          </a:xfrm>
          <a:prstGeom prst="rect">
            <a:avLst/>
          </a:prstGeom>
          <a:solidFill>
            <a:srgbClr val="F900D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49" name="TextBox 48">
            <a:extLst>
              <a:ext uri="{FF2B5EF4-FFF2-40B4-BE49-F238E27FC236}">
                <a16:creationId xmlns:a16="http://schemas.microsoft.com/office/drawing/2014/main" id="{7B0B19E4-73BC-AD41-B4C9-AE98368B97C8}"/>
              </a:ext>
            </a:extLst>
          </p:cNvPr>
          <p:cNvSpPr txBox="1"/>
          <p:nvPr/>
        </p:nvSpPr>
        <p:spPr>
          <a:xfrm>
            <a:off x="6959600" y="4838700"/>
            <a:ext cx="2057400" cy="381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070154"/>
                </a:solidFill>
                <a:effectLst/>
                <a:uLnTx/>
                <a:uFillTx/>
                <a:latin typeface="Arial"/>
                <a:ea typeface="+mn-ea"/>
                <a:cs typeface="Arial"/>
              </a:rPr>
              <a:t>Human judgment governs the model</a:t>
            </a:r>
            <a:endParaRPr kumimoji="0" lang="en-US" sz="950" b="0" i="0" u="none" strike="noStrike" kern="1200" cap="none" spc="0" normalizeH="0" baseline="0" noProof="0" dirty="0">
              <a:ln>
                <a:noFill/>
              </a:ln>
              <a:solidFill>
                <a:srgbClr val="070154"/>
              </a:solidFill>
              <a:effectLst/>
              <a:uLnTx/>
              <a:uFillTx/>
              <a:latin typeface="Arial"/>
              <a:ea typeface="+mn-ea"/>
              <a:cs typeface="Arial"/>
            </a:endParaRPr>
          </a:p>
        </p:txBody>
      </p:sp>
      <p:sp>
        <p:nvSpPr>
          <p:cNvPr id="51" name="Rectangle 50">
            <a:extLst>
              <a:ext uri="{FF2B5EF4-FFF2-40B4-BE49-F238E27FC236}">
                <a16:creationId xmlns:a16="http://schemas.microsoft.com/office/drawing/2014/main" id="{3A826F01-7AF7-9642-A994-481B6FA43A89}"/>
              </a:ext>
            </a:extLst>
          </p:cNvPr>
          <p:cNvSpPr/>
          <p:nvPr/>
        </p:nvSpPr>
        <p:spPr bwMode="auto">
          <a:xfrm>
            <a:off x="9728200" y="2578100"/>
            <a:ext cx="2006600" cy="5334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VALIDATED MODEL</a:t>
            </a:r>
            <a:endParaRPr kumimoji="0" lang="en-US" sz="12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52" name="TextBox 51">
            <a:extLst>
              <a:ext uri="{FF2B5EF4-FFF2-40B4-BE49-F238E27FC236}">
                <a16:creationId xmlns:a16="http://schemas.microsoft.com/office/drawing/2014/main" id="{31FB087A-AF9C-304F-A052-C1F53EB8F616}"/>
              </a:ext>
            </a:extLst>
          </p:cNvPr>
          <p:cNvSpPr txBox="1"/>
          <p:nvPr/>
        </p:nvSpPr>
        <p:spPr>
          <a:xfrm>
            <a:off x="9893300" y="3289300"/>
            <a:ext cx="1676400" cy="279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70154"/>
                </a:solidFill>
                <a:effectLst/>
                <a:uLnTx/>
                <a:uFillTx/>
                <a:latin typeface="Arial"/>
                <a:ea typeface="+mn-ea"/>
                <a:cs typeface="Arial"/>
              </a:rPr>
              <a:t>Current-state process</a:t>
            </a:r>
            <a:endParaRPr kumimoji="0" lang="en-US" sz="1050" b="1" i="0" u="none" strike="noStrike" kern="1200" cap="none" spc="0" normalizeH="0" baseline="0" noProof="0" dirty="0">
              <a:ln>
                <a:noFill/>
              </a:ln>
              <a:solidFill>
                <a:srgbClr val="070154"/>
              </a:solidFill>
              <a:effectLst/>
              <a:uLnTx/>
              <a:uFillTx/>
              <a:latin typeface="Arial"/>
              <a:ea typeface="+mn-ea"/>
              <a:cs typeface="Arial"/>
            </a:endParaRPr>
          </a:p>
        </p:txBody>
      </p:sp>
      <p:sp>
        <p:nvSpPr>
          <p:cNvPr id="53" name="TextBox 52">
            <a:extLst>
              <a:ext uri="{FF2B5EF4-FFF2-40B4-BE49-F238E27FC236}">
                <a16:creationId xmlns:a16="http://schemas.microsoft.com/office/drawing/2014/main" id="{CE0B3A15-7143-2B40-B52D-52A8C9CAD296}"/>
              </a:ext>
            </a:extLst>
          </p:cNvPr>
          <p:cNvSpPr txBox="1"/>
          <p:nvPr/>
        </p:nvSpPr>
        <p:spPr>
          <a:xfrm>
            <a:off x="9893300" y="3657600"/>
            <a:ext cx="1676400" cy="406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70154"/>
                </a:solidFill>
                <a:effectLst/>
                <a:uLnTx/>
                <a:uFillTx/>
                <a:latin typeface="Arial"/>
                <a:ea typeface="+mn-ea"/>
                <a:cs typeface="Arial"/>
              </a:rPr>
              <a:t>Business rules + exceptions</a:t>
            </a:r>
            <a:endParaRPr kumimoji="0" lang="en-US" sz="1050" b="1" i="0" u="none" strike="noStrike" kern="1200" cap="none" spc="0" normalizeH="0" baseline="0" noProof="0" dirty="0">
              <a:ln>
                <a:noFill/>
              </a:ln>
              <a:solidFill>
                <a:srgbClr val="070154"/>
              </a:solidFill>
              <a:effectLst/>
              <a:uLnTx/>
              <a:uFillTx/>
              <a:latin typeface="Arial"/>
              <a:ea typeface="+mn-ea"/>
              <a:cs typeface="Arial"/>
            </a:endParaRPr>
          </a:p>
        </p:txBody>
      </p:sp>
      <p:sp>
        <p:nvSpPr>
          <p:cNvPr id="54" name="TextBox 53">
            <a:extLst>
              <a:ext uri="{FF2B5EF4-FFF2-40B4-BE49-F238E27FC236}">
                <a16:creationId xmlns:a16="http://schemas.microsoft.com/office/drawing/2014/main" id="{72F0A0F1-7B8C-3B43-8B86-84F5603A8B32}"/>
              </a:ext>
            </a:extLst>
          </p:cNvPr>
          <p:cNvSpPr txBox="1"/>
          <p:nvPr/>
        </p:nvSpPr>
        <p:spPr>
          <a:xfrm>
            <a:off x="9893300" y="4152900"/>
            <a:ext cx="1676400" cy="279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70154"/>
                </a:solidFill>
                <a:effectLst/>
                <a:uLnTx/>
                <a:uFillTx/>
                <a:latin typeface="Arial"/>
                <a:ea typeface="+mn-ea"/>
                <a:cs typeface="Arial"/>
              </a:rPr>
              <a:t>Dependencies + risks</a:t>
            </a:r>
            <a:endParaRPr kumimoji="0" lang="en-US" sz="1050" b="1" i="0" u="none" strike="noStrike" kern="1200" cap="none" spc="0" normalizeH="0" baseline="0" noProof="0" dirty="0">
              <a:ln>
                <a:noFill/>
              </a:ln>
              <a:solidFill>
                <a:srgbClr val="070154"/>
              </a:solidFill>
              <a:effectLst/>
              <a:uLnTx/>
              <a:uFillTx/>
              <a:latin typeface="Arial"/>
              <a:ea typeface="+mn-ea"/>
              <a:cs typeface="Arial"/>
            </a:endParaRPr>
          </a:p>
        </p:txBody>
      </p:sp>
      <p:sp>
        <p:nvSpPr>
          <p:cNvPr id="55" name="TextBox 54">
            <a:extLst>
              <a:ext uri="{FF2B5EF4-FFF2-40B4-BE49-F238E27FC236}">
                <a16:creationId xmlns:a16="http://schemas.microsoft.com/office/drawing/2014/main" id="{57E3A46D-20FC-9F4A-A78E-BCD068E4C98C}"/>
              </a:ext>
            </a:extLst>
          </p:cNvPr>
          <p:cNvSpPr txBox="1"/>
          <p:nvPr/>
        </p:nvSpPr>
        <p:spPr>
          <a:xfrm>
            <a:off x="9893300" y="4521200"/>
            <a:ext cx="1676400" cy="431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70154"/>
                </a:solidFill>
                <a:effectLst/>
                <a:uLnTx/>
                <a:uFillTx/>
                <a:latin typeface="Arial"/>
                <a:ea typeface="+mn-ea"/>
                <a:cs typeface="Arial"/>
              </a:rPr>
              <a:t>Open decisions for target design</a:t>
            </a:r>
            <a:endParaRPr kumimoji="0" lang="en-US" sz="1050" b="1" i="0" u="none" strike="noStrike" kern="1200" cap="none" spc="0" normalizeH="0" baseline="0" noProof="0" dirty="0">
              <a:ln>
                <a:noFill/>
              </a:ln>
              <a:solidFill>
                <a:srgbClr val="070154"/>
              </a:solidFill>
              <a:effectLst/>
              <a:uLnTx/>
              <a:uFillTx/>
              <a:latin typeface="Arial"/>
              <a:ea typeface="+mn-ea"/>
              <a:cs typeface="Arial"/>
            </a:endParaRPr>
          </a:p>
        </p:txBody>
      </p:sp>
      <p:sp>
        <p:nvSpPr>
          <p:cNvPr id="56" name="Rectangle 55">
            <a:extLst>
              <a:ext uri="{FF2B5EF4-FFF2-40B4-BE49-F238E27FC236}">
                <a16:creationId xmlns:a16="http://schemas.microsoft.com/office/drawing/2014/main" id="{7386CE78-DEDD-D64B-A217-1F489A565403}"/>
              </a:ext>
            </a:extLst>
          </p:cNvPr>
          <p:cNvSpPr/>
          <p:nvPr/>
        </p:nvSpPr>
        <p:spPr bwMode="auto">
          <a:xfrm>
            <a:off x="3924300" y="5486400"/>
            <a:ext cx="2311400" cy="4826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070154"/>
                </a:solidFill>
                <a:effectLst/>
                <a:uLnTx/>
                <a:uFillTx/>
                <a:latin typeface="Arial"/>
                <a:ea typeface="Roboto" panose="02000000000000000000" pitchFamily="2" charset="0"/>
                <a:cs typeface="Arial"/>
              </a:rPr>
              <a:t>DESIGN HANDOFF</a:t>
            </a:r>
            <a:endParaRPr kumimoji="0" lang="en-US" sz="110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58" name="Rectangle 57">
            <a:extLst>
              <a:ext uri="{FF2B5EF4-FFF2-40B4-BE49-F238E27FC236}">
                <a16:creationId xmlns:a16="http://schemas.microsoft.com/office/drawing/2014/main" id="{A41B8CEF-1AA9-7F48-B616-5854F9E01602}"/>
              </a:ext>
            </a:extLst>
          </p:cNvPr>
          <p:cNvSpPr/>
          <p:nvPr/>
        </p:nvSpPr>
        <p:spPr bwMode="auto">
          <a:xfrm>
            <a:off x="6959600" y="5372100"/>
            <a:ext cx="4775200" cy="7112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Evidence moves directly into target-process design, experience prototyping, backlog creation, and test planning.</a:t>
            </a:r>
            <a:endParaRPr kumimoji="0" lang="en-US" sz="11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59" name="TextBox 58">
            <a:extLst>
              <a:ext uri="{FF2B5EF4-FFF2-40B4-BE49-F238E27FC236}">
                <a16:creationId xmlns:a16="http://schemas.microsoft.com/office/drawing/2014/main" id="{80F3BE45-502A-CB43-8EDA-D9DC3926C225}"/>
              </a:ext>
            </a:extLst>
          </p:cNvPr>
          <p:cNvSpPr txBox="1"/>
          <p:nvPr/>
        </p:nvSpPr>
        <p:spPr>
          <a:xfrm>
            <a:off x="457200" y="5969000"/>
            <a:ext cx="6350000" cy="228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50658E"/>
                </a:solidFill>
                <a:effectLst/>
                <a:uLnTx/>
                <a:uFillTx/>
                <a:latin typeface="Arial"/>
                <a:ea typeface="+mn-ea"/>
                <a:cs typeface="Arial"/>
              </a:rPr>
              <a:t>Guardrail: observation requires consent and appropriate privacy, security, access, retention, and workforce controls.</a:t>
            </a:r>
            <a:endParaRPr kumimoji="0" lang="en-US" sz="900" b="0" i="0" u="none" strike="noStrike" kern="1200" cap="none" spc="0" normalizeH="0" baseline="0" noProof="0" dirty="0">
              <a:ln>
                <a:noFill/>
              </a:ln>
              <a:solidFill>
                <a:srgbClr val="50658E"/>
              </a:solidFill>
              <a:effectLst/>
              <a:uLnTx/>
              <a:uFillTx/>
              <a:latin typeface="Arial"/>
              <a:ea typeface="+mn-ea"/>
              <a:cs typeface="Arial"/>
            </a:endParaRPr>
          </a:p>
        </p:txBody>
      </p:sp>
      <p:pic>
        <p:nvPicPr>
          <p:cNvPr id="101" name="WM connecting arrow"/>
          <p:cNvPicPr>
            <a:picLocks noChangeAspect="1"/>
          </p:cNvPicPr>
          <p:nvPr/>
        </p:nvPicPr>
        <p:blipFill>
          <a:blip r:embed="rId3"/>
          <a:srcRect l="21000" t="12000" r="21000" b="12000"/>
          <a:stretch>
            <a:fillRect/>
          </a:stretch>
        </p:blipFill>
        <p:spPr>
          <a:xfrm>
            <a:off x="3327400" y="2908300"/>
            <a:ext cx="546100" cy="609600"/>
          </a:xfrm>
          <a:prstGeom prst="rect">
            <a:avLst/>
          </a:prstGeom>
          <a:ln>
            <a:noFill/>
          </a:ln>
        </p:spPr>
      </p:pic>
      <p:pic>
        <p:nvPicPr>
          <p:cNvPr id="102" name="WM right-angle arrow"/>
          <p:cNvPicPr>
            <a:picLocks noChangeAspect="1"/>
          </p:cNvPicPr>
          <p:nvPr/>
        </p:nvPicPr>
        <p:blipFill>
          <a:blip r:embed="rId4"/>
          <a:srcRect l="21000" t="13000" r="21000" b="13000"/>
          <a:stretch>
            <a:fillRect/>
          </a:stretch>
        </p:blipFill>
        <p:spPr>
          <a:xfrm>
            <a:off x="6337300" y="2921000"/>
            <a:ext cx="558800" cy="571500"/>
          </a:xfrm>
          <a:prstGeom prst="rect">
            <a:avLst/>
          </a:prstGeom>
          <a:ln>
            <a:noFill/>
          </a:ln>
        </p:spPr>
      </p:pic>
      <p:pic>
        <p:nvPicPr>
          <p:cNvPr id="103" name="WM double arrow"/>
          <p:cNvPicPr>
            <a:picLocks noChangeAspect="1"/>
          </p:cNvPicPr>
          <p:nvPr/>
        </p:nvPicPr>
        <p:blipFill>
          <a:blip r:embed="rId5"/>
          <a:srcRect t="33000" b="33000"/>
          <a:stretch>
            <a:fillRect/>
          </a:stretch>
        </p:blipFill>
        <p:spPr>
          <a:xfrm>
            <a:off x="9105900" y="3035300"/>
            <a:ext cx="533400" cy="317500"/>
          </a:xfrm>
          <a:prstGeom prst="rect">
            <a:avLst/>
          </a:prstGeom>
          <a:ln>
            <a:noFill/>
          </a:ln>
        </p:spPr>
      </p:pic>
      <p:pic>
        <p:nvPicPr>
          <p:cNvPr id="104" name="WM dashed arrow"/>
          <p:cNvPicPr>
            <a:picLocks noChangeAspect="1"/>
          </p:cNvPicPr>
          <p:nvPr/>
        </p:nvPicPr>
        <p:blipFill>
          <a:blip r:embed="rId6"/>
          <a:srcRect/>
          <a:stretch>
            <a:fillRect/>
          </a:stretch>
        </p:blipFill>
        <p:spPr>
          <a:xfrm>
            <a:off x="6273800" y="5308600"/>
            <a:ext cx="635000" cy="609600"/>
          </a:xfrm>
          <a:prstGeom prst="rect">
            <a:avLst/>
          </a:prstGeom>
          <a:ln>
            <a:noFill/>
          </a:ln>
        </p:spPr>
      </p:pic>
    </p:spTree>
    <p:extLst>
      <p:ext uri="{BB962C8B-B14F-4D97-AF65-F5344CB8AC3E}">
        <p14:creationId xmlns:p14="http://schemas.microsoft.com/office/powerpoint/2010/main" val="12917729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8C-63DB-6EC0-54B3-BAD510DB5D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2D4D6B-E702-B14F-8CBF-3DB9404EA064}"/>
              </a:ext>
            </a:extLst>
          </p:cNvPr>
          <p:cNvSpPr/>
          <p:nvPr/>
        </p:nvSpPr>
        <p:spPr bwMode="auto">
          <a:xfrm>
            <a:off x="0" y="0"/>
            <a:ext cx="121920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3D957A41-9389-9041-99A2-9153DA0C87B2}"/>
              </a:ext>
            </a:extLst>
          </p:cNvPr>
          <p:cNvSpPr/>
          <p:nvPr/>
        </p:nvSpPr>
        <p:spPr bwMode="auto">
          <a:xfrm>
            <a:off x="0" y="0"/>
            <a:ext cx="2286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0716BB7-CA60-524A-8CA8-6B88AD30659B}"/>
              </a:ext>
            </a:extLst>
          </p:cNvPr>
          <p:cNvSpPr/>
          <p:nvPr/>
        </p:nvSpPr>
        <p:spPr bwMode="auto">
          <a:xfrm>
            <a:off x="457200" y="609600"/>
            <a:ext cx="15240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3C91333C-DD3E-9B4D-89FD-5B2ACB074E63}"/>
              </a:ext>
            </a:extLst>
          </p:cNvPr>
          <p:cNvSpPr txBox="1"/>
          <p:nvPr/>
        </p:nvSpPr>
        <p:spPr>
          <a:xfrm>
            <a:off x="609600" y="990600"/>
            <a:ext cx="228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INTERNAL PICK-DECK GUIDE</a:t>
            </a:r>
            <a:endParaRPr lang="en-US" sz="1000" b="1" dirty="0">
              <a:solidFill>
                <a:srgbClr val="0047FF"/>
              </a:solidFill>
              <a:latin typeface="Arial"/>
              <a:cs typeface="Arial"/>
            </a:endParaRPr>
          </a:p>
        </p:txBody>
      </p:sp>
      <p:sp>
        <p:nvSpPr>
          <p:cNvPr id="12" name="TextBox 11">
            <a:extLst>
              <a:ext uri="{FF2B5EF4-FFF2-40B4-BE49-F238E27FC236}">
                <a16:creationId xmlns:a16="http://schemas.microsoft.com/office/drawing/2014/main" id="{F8E1B792-659A-D74D-9D48-33D822D70F96}"/>
              </a:ext>
            </a:extLst>
          </p:cNvPr>
          <p:cNvSpPr txBox="1"/>
          <p:nvPr/>
        </p:nvSpPr>
        <p:spPr>
          <a:xfrm>
            <a:off x="609600" y="1473200"/>
            <a:ext cx="8001000" cy="149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900" b="1">
                <a:solidFill>
                  <a:srgbClr val="FFFFFF"/>
                </a:solidFill>
                <a:latin typeface="Arial"/>
                <a:cs typeface="Arial"/>
              </a:rPr>
              <a:t>Double-Click: Modernize / Build</a:t>
            </a:r>
            <a:endParaRPr lang="en-US" sz="2900" b="1" dirty="0">
              <a:solidFill>
                <a:srgbClr val="FFFFFF"/>
              </a:solidFill>
              <a:latin typeface="Arial"/>
              <a:cs typeface="Arial"/>
            </a:endParaRPr>
          </a:p>
        </p:txBody>
      </p:sp>
      <p:sp>
        <p:nvSpPr>
          <p:cNvPr id="14" name="TextBox 13">
            <a:extLst>
              <a:ext uri="{FF2B5EF4-FFF2-40B4-BE49-F238E27FC236}">
                <a16:creationId xmlns:a16="http://schemas.microsoft.com/office/drawing/2014/main" id="{F12B1E13-E8CD-BD43-96AA-519B3925EF9F}"/>
              </a:ext>
            </a:extLst>
          </p:cNvPr>
          <p:cNvSpPr txBox="1"/>
          <p:nvPr/>
        </p:nvSpPr>
        <p:spPr>
          <a:xfrm>
            <a:off x="609600" y="3149600"/>
            <a:ext cx="7874000" cy="685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a:solidFill>
                  <a:srgbClr val="FFFFFF"/>
                </a:solidFill>
                <a:latin typeface="Arial"/>
                <a:cs typeface="Arial"/>
              </a:rPr>
              <a:t>Show how approved outcomes and evidence become working capability through design, build, validation, transition, and controlled cutover.</a:t>
            </a:r>
            <a:endParaRPr lang="en-US" sz="1300" dirty="0">
              <a:solidFill>
                <a:srgbClr val="FFFFFF"/>
              </a:solidFill>
              <a:latin typeface="Arial"/>
              <a:cs typeface="Arial"/>
            </a:endParaRPr>
          </a:p>
        </p:txBody>
      </p:sp>
      <p:sp>
        <p:nvSpPr>
          <p:cNvPr id="15" name="TextBox 14">
            <a:extLst>
              <a:ext uri="{FF2B5EF4-FFF2-40B4-BE49-F238E27FC236}">
                <a16:creationId xmlns:a16="http://schemas.microsoft.com/office/drawing/2014/main" id="{73F430C6-7897-2E44-A356-F000D6B34EA5}"/>
              </a:ext>
            </a:extLst>
          </p:cNvPr>
          <p:cNvSpPr txBox="1"/>
          <p:nvPr/>
        </p:nvSpPr>
        <p:spPr>
          <a:xfrm>
            <a:off x="9118600" y="11557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IN THIS SECTION</a:t>
            </a:r>
            <a:endParaRPr lang="en-US" sz="950" b="1" dirty="0">
              <a:solidFill>
                <a:srgbClr val="0047FF"/>
              </a:solidFill>
              <a:latin typeface="Arial"/>
              <a:cs typeface="Arial"/>
            </a:endParaRPr>
          </a:p>
        </p:txBody>
      </p:sp>
      <p:sp>
        <p:nvSpPr>
          <p:cNvPr id="16" name="Rectangle 15">
            <a:extLst>
              <a:ext uri="{FF2B5EF4-FFF2-40B4-BE49-F238E27FC236}">
                <a16:creationId xmlns:a16="http://schemas.microsoft.com/office/drawing/2014/main" id="{261D85DC-F9D6-6945-B534-E7FA1D31F122}"/>
              </a:ext>
            </a:extLst>
          </p:cNvPr>
          <p:cNvSpPr/>
          <p:nvPr/>
        </p:nvSpPr>
        <p:spPr bwMode="auto">
          <a:xfrm>
            <a:off x="9118600" y="15875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D01BF5B1-B24E-284C-9FC7-E80462316182}"/>
              </a:ext>
            </a:extLst>
          </p:cNvPr>
          <p:cNvSpPr txBox="1"/>
          <p:nvPr/>
        </p:nvSpPr>
        <p:spPr>
          <a:xfrm>
            <a:off x="9271000" y="17399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01</a:t>
            </a:r>
            <a:endParaRPr lang="en-US" sz="900" b="1" dirty="0">
              <a:solidFill>
                <a:srgbClr val="F900D3"/>
              </a:solidFill>
              <a:latin typeface="Arial"/>
              <a:cs typeface="Arial"/>
            </a:endParaRPr>
          </a:p>
        </p:txBody>
      </p:sp>
      <p:sp>
        <p:nvSpPr>
          <p:cNvPr id="21" name="TextBox 20">
            <a:extLst>
              <a:ext uri="{FF2B5EF4-FFF2-40B4-BE49-F238E27FC236}">
                <a16:creationId xmlns:a16="http://schemas.microsoft.com/office/drawing/2014/main" id="{F685F9EA-221F-3347-8288-97BD26237162}"/>
              </a:ext>
            </a:extLst>
          </p:cNvPr>
          <p:cNvSpPr txBox="1"/>
          <p:nvPr/>
        </p:nvSpPr>
        <p:spPr>
          <a:xfrm>
            <a:off x="9677400" y="16764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Four subphases</a:t>
            </a:r>
            <a:endParaRPr lang="en-US" sz="1000" b="1" dirty="0">
              <a:solidFill>
                <a:srgbClr val="070154"/>
              </a:solidFill>
              <a:latin typeface="Arial"/>
              <a:cs typeface="Arial"/>
            </a:endParaRPr>
          </a:p>
        </p:txBody>
      </p:sp>
      <p:sp>
        <p:nvSpPr>
          <p:cNvPr id="22" name="Rectangle 21">
            <a:extLst>
              <a:ext uri="{FF2B5EF4-FFF2-40B4-BE49-F238E27FC236}">
                <a16:creationId xmlns:a16="http://schemas.microsoft.com/office/drawing/2014/main" id="{07DBAAEE-5275-0B4F-8234-10AE0BF7AC50}"/>
              </a:ext>
            </a:extLst>
          </p:cNvPr>
          <p:cNvSpPr/>
          <p:nvPr/>
        </p:nvSpPr>
        <p:spPr bwMode="auto">
          <a:xfrm>
            <a:off x="9118600" y="23114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C1D6F0A2-F72D-C640-9D54-A4D4C9BE9626}"/>
              </a:ext>
            </a:extLst>
          </p:cNvPr>
          <p:cNvSpPr txBox="1"/>
          <p:nvPr/>
        </p:nvSpPr>
        <p:spPr>
          <a:xfrm>
            <a:off x="9271000" y="2463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02</a:t>
            </a:r>
            <a:endParaRPr lang="en-US" sz="900" b="1" dirty="0">
              <a:solidFill>
                <a:srgbClr val="F900D3"/>
              </a:solidFill>
              <a:latin typeface="Arial"/>
              <a:cs typeface="Arial"/>
            </a:endParaRPr>
          </a:p>
        </p:txBody>
      </p:sp>
      <p:sp>
        <p:nvSpPr>
          <p:cNvPr id="24" name="TextBox 23">
            <a:extLst>
              <a:ext uri="{FF2B5EF4-FFF2-40B4-BE49-F238E27FC236}">
                <a16:creationId xmlns:a16="http://schemas.microsoft.com/office/drawing/2014/main" id="{080B83FA-47AE-5546-B78A-3741943FCCAA}"/>
              </a:ext>
            </a:extLst>
          </p:cNvPr>
          <p:cNvSpPr txBox="1"/>
          <p:nvPr/>
        </p:nvSpPr>
        <p:spPr>
          <a:xfrm>
            <a:off x="9677400" y="24003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Agent-ready context</a:t>
            </a:r>
            <a:endParaRPr lang="en-US" sz="1000" b="1" dirty="0">
              <a:solidFill>
                <a:srgbClr val="070154"/>
              </a:solidFill>
              <a:latin typeface="Arial"/>
              <a:cs typeface="Arial"/>
            </a:endParaRPr>
          </a:p>
        </p:txBody>
      </p:sp>
      <p:sp>
        <p:nvSpPr>
          <p:cNvPr id="25" name="Rectangle 24">
            <a:extLst>
              <a:ext uri="{FF2B5EF4-FFF2-40B4-BE49-F238E27FC236}">
                <a16:creationId xmlns:a16="http://schemas.microsoft.com/office/drawing/2014/main" id="{5B5F2BF9-FA2F-E54E-9A25-DB5AD24F1FD1}"/>
              </a:ext>
            </a:extLst>
          </p:cNvPr>
          <p:cNvSpPr/>
          <p:nvPr/>
        </p:nvSpPr>
        <p:spPr bwMode="auto">
          <a:xfrm>
            <a:off x="9118600" y="30353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29292B1C-4A91-1946-99C8-A22EB49E9166}"/>
              </a:ext>
            </a:extLst>
          </p:cNvPr>
          <p:cNvSpPr txBox="1"/>
          <p:nvPr/>
        </p:nvSpPr>
        <p:spPr>
          <a:xfrm>
            <a:off x="92710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03</a:t>
            </a:r>
            <a:endParaRPr lang="en-US" sz="900" b="1" dirty="0">
              <a:solidFill>
                <a:srgbClr val="F900D3"/>
              </a:solidFill>
              <a:latin typeface="Arial"/>
              <a:cs typeface="Arial"/>
            </a:endParaRPr>
          </a:p>
        </p:txBody>
      </p:sp>
      <p:sp>
        <p:nvSpPr>
          <p:cNvPr id="27" name="TextBox 26">
            <a:extLst>
              <a:ext uri="{FF2B5EF4-FFF2-40B4-BE49-F238E27FC236}">
                <a16:creationId xmlns:a16="http://schemas.microsoft.com/office/drawing/2014/main" id="{6D3A6AC7-EA6A-544F-B9CC-F86023D2FAF4}"/>
              </a:ext>
            </a:extLst>
          </p:cNvPr>
          <p:cNvSpPr txBox="1"/>
          <p:nvPr/>
        </p:nvSpPr>
        <p:spPr>
          <a:xfrm>
            <a:off x="9677400" y="31242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Phased cutover</a:t>
            </a:r>
            <a:endParaRPr lang="en-US" sz="1000" b="1" dirty="0">
              <a:solidFill>
                <a:srgbClr val="070154"/>
              </a:solidFill>
              <a:latin typeface="Arial"/>
              <a:cs typeface="Arial"/>
            </a:endParaRPr>
          </a:p>
        </p:txBody>
      </p:sp>
      <p:sp>
        <p:nvSpPr>
          <p:cNvPr id="28" name="Rectangle 27">
            <a:extLst>
              <a:ext uri="{FF2B5EF4-FFF2-40B4-BE49-F238E27FC236}">
                <a16:creationId xmlns:a16="http://schemas.microsoft.com/office/drawing/2014/main" id="{7D2CEE49-87AD-B74B-BCBB-6545318FEAE4}"/>
              </a:ext>
            </a:extLst>
          </p:cNvPr>
          <p:cNvSpPr/>
          <p:nvPr/>
        </p:nvSpPr>
        <p:spPr bwMode="auto">
          <a:xfrm>
            <a:off x="9118600" y="37592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A7BB059-7F53-E749-AC13-3FF96661BA83}"/>
              </a:ext>
            </a:extLst>
          </p:cNvPr>
          <p:cNvSpPr txBox="1"/>
          <p:nvPr/>
        </p:nvSpPr>
        <p:spPr>
          <a:xfrm>
            <a:off x="9271000" y="39116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04</a:t>
            </a:r>
            <a:endParaRPr lang="en-US" sz="900" b="1" dirty="0">
              <a:solidFill>
                <a:srgbClr val="F900D3"/>
              </a:solidFill>
              <a:latin typeface="Arial"/>
              <a:cs typeface="Arial"/>
            </a:endParaRPr>
          </a:p>
        </p:txBody>
      </p:sp>
      <p:sp>
        <p:nvSpPr>
          <p:cNvPr id="30" name="TextBox 29">
            <a:extLst>
              <a:ext uri="{FF2B5EF4-FFF2-40B4-BE49-F238E27FC236}">
                <a16:creationId xmlns:a16="http://schemas.microsoft.com/office/drawing/2014/main" id="{E81A1754-C62A-9340-828F-1507EB0BF98D}"/>
              </a:ext>
            </a:extLst>
          </p:cNvPr>
          <p:cNvSpPr txBox="1"/>
          <p:nvPr/>
        </p:nvSpPr>
        <p:spPr>
          <a:xfrm>
            <a:off x="9677400" y="38481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Human decision gates</a:t>
            </a:r>
            <a:endParaRPr lang="en-US" sz="1000" b="1" dirty="0">
              <a:solidFill>
                <a:srgbClr val="070154"/>
              </a:solidFill>
              <a:latin typeface="Arial"/>
              <a:cs typeface="Arial"/>
            </a:endParaRPr>
          </a:p>
        </p:txBody>
      </p:sp>
      <p:sp>
        <p:nvSpPr>
          <p:cNvPr id="31" name="Rectangle 30">
            <a:extLst>
              <a:ext uri="{FF2B5EF4-FFF2-40B4-BE49-F238E27FC236}">
                <a16:creationId xmlns:a16="http://schemas.microsoft.com/office/drawing/2014/main" id="{3375BC94-8D43-EF4D-96D9-538EF700EFE6}"/>
              </a:ext>
            </a:extLst>
          </p:cNvPr>
          <p:cNvSpPr/>
          <p:nvPr/>
        </p:nvSpPr>
        <p:spPr bwMode="auto">
          <a:xfrm>
            <a:off x="609600" y="5270500"/>
            <a:ext cx="8255000" cy="571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A26CFF14-2BDE-1848-A022-DAC182E8D21B}"/>
              </a:ext>
            </a:extLst>
          </p:cNvPr>
          <p:cNvSpPr txBox="1"/>
          <p:nvPr/>
        </p:nvSpPr>
        <p:spPr>
          <a:xfrm>
            <a:off x="863600" y="5435600"/>
            <a:ext cx="7747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Best for buyers focused on execution speed, delivery risk, validation, and transition.</a:t>
            </a:r>
            <a:endParaRPr lang="en-US" sz="1000" b="1" dirty="0">
              <a:solidFill>
                <a:srgbClr val="070154"/>
              </a:solidFill>
              <a:latin typeface="Arial"/>
              <a:cs typeface="Arial"/>
            </a:endParaRPr>
          </a:p>
        </p:txBody>
      </p:sp>
      <p:sp>
        <p:nvSpPr>
          <p:cNvPr id="3" name="TextBox 2">
            <a:extLst>
              <a:ext uri="{FF2B5EF4-FFF2-40B4-BE49-F238E27FC236}">
                <a16:creationId xmlns:a16="http://schemas.microsoft.com/office/drawing/2014/main" id="{D9C2D31F-41C9-834B-806E-5C698A45F50E}"/>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D0847E0D-C3A0-6C47-8917-F1C8F445903B}"/>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endParaRPr lang="en-US" sz="550" dirty="0">
              <a:solidFill>
                <a:srgbClr val="070154"/>
              </a:solidFill>
              <a:latin typeface="Arial"/>
              <a:cs typeface="Arial"/>
            </a:endParaRPr>
          </a:p>
        </p:txBody>
      </p:sp>
    </p:spTree>
    <p:extLst>
      <p:ext uri="{BB962C8B-B14F-4D97-AF65-F5344CB8AC3E}">
        <p14:creationId xmlns:p14="http://schemas.microsoft.com/office/powerpoint/2010/main" val="20379200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CA3129A-AB56-034F-9FBC-FF7EDE955100}"/>
              </a:ext>
            </a:extLst>
          </p:cNvPr>
          <p:cNvSpPr txBox="1"/>
          <p:nvPr/>
        </p:nvSpPr>
        <p:spPr>
          <a:xfrm>
            <a:off x="660400" y="2082800"/>
            <a:ext cx="2413000" cy="2032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1" i="0" u="none" strike="noStrike" kern="1200" cap="none" spc="0" normalizeH="0" baseline="0" noProof="0">
                <a:ln>
                  <a:noFill/>
                </a:ln>
                <a:solidFill>
                  <a:srgbClr val="F500C8"/>
                </a:solidFill>
                <a:effectLst/>
                <a:uLnTx/>
                <a:uFillTx/>
                <a:latin typeface="Arial"/>
                <a:ea typeface="+mn-ea"/>
                <a:cs typeface="Arial"/>
              </a:rPr>
              <a:t>TESTABLE PROTOTYPES</a:t>
            </a:r>
            <a:endParaRPr kumimoji="0" lang="en-US" sz="950" b="1" i="0" u="none" strike="noStrike" kern="1200" cap="none" spc="0" normalizeH="0" baseline="0" noProof="0" dirty="0">
              <a:ln>
                <a:noFill/>
              </a:ln>
              <a:solidFill>
                <a:srgbClr val="F500C8"/>
              </a:solidFill>
              <a:effectLst/>
              <a:uLnTx/>
              <a:uFillTx/>
              <a:latin typeface="Arial"/>
              <a:ea typeface="+mn-ea"/>
              <a:cs typeface="Arial"/>
            </a:endParaRPr>
          </a:p>
        </p:txBody>
      </p:sp>
      <p:sp>
        <p:nvSpPr>
          <p:cNvPr id="11" name="TextBox 10">
            <a:extLst>
              <a:ext uri="{FF2B5EF4-FFF2-40B4-BE49-F238E27FC236}">
                <a16:creationId xmlns:a16="http://schemas.microsoft.com/office/drawing/2014/main" id="{119C8BCE-B51E-B643-AB2C-979DB40AC8E2}"/>
              </a:ext>
            </a:extLst>
          </p:cNvPr>
          <p:cNvSpPr txBox="1"/>
          <p:nvPr/>
        </p:nvSpPr>
        <p:spPr>
          <a:xfrm>
            <a:off x="1168400" y="2413000"/>
            <a:ext cx="1905000" cy="304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B075B"/>
                </a:solidFill>
                <a:effectLst/>
                <a:uLnTx/>
                <a:uFillTx/>
                <a:latin typeface="Arial"/>
                <a:ea typeface="+mn-ea"/>
                <a:cs typeface="Arial"/>
              </a:rPr>
              <a:t>DESIGN</a:t>
            </a:r>
            <a:endParaRPr kumimoji="0" lang="en-US" sz="1400" b="1" i="0" u="none" strike="noStrike" kern="1200" cap="none" spc="0" normalizeH="0" baseline="0" noProof="0" dirty="0">
              <a:ln>
                <a:noFill/>
              </a:ln>
              <a:solidFill>
                <a:srgbClr val="0B075B"/>
              </a:solidFill>
              <a:effectLst/>
              <a:uLnTx/>
              <a:uFillTx/>
              <a:latin typeface="Arial"/>
              <a:ea typeface="+mn-ea"/>
              <a:cs typeface="Arial"/>
            </a:endParaRPr>
          </a:p>
        </p:txBody>
      </p:sp>
      <p:sp>
        <p:nvSpPr>
          <p:cNvPr id="15" name="TextBox 14">
            <a:extLst>
              <a:ext uri="{FF2B5EF4-FFF2-40B4-BE49-F238E27FC236}">
                <a16:creationId xmlns:a16="http://schemas.microsoft.com/office/drawing/2014/main" id="{DC4532B9-6E45-6448-A792-DAA9C41973EE}"/>
              </a:ext>
            </a:extLst>
          </p:cNvPr>
          <p:cNvSpPr txBox="1"/>
          <p:nvPr/>
        </p:nvSpPr>
        <p:spPr>
          <a:xfrm>
            <a:off x="660400" y="3187700"/>
            <a:ext cx="2413000" cy="1168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0B075B"/>
                </a:solidFill>
                <a:effectLst/>
                <a:uLnTx/>
                <a:uFillTx/>
                <a:latin typeface="Arial"/>
                <a:ea typeface="+mn-ea"/>
                <a:cs typeface="Arial"/>
              </a:rPr>
              <a:t>Translate approved outcomes, process evidence, and constraints into target journeys, architecture choices, and prototypes users can test.</a:t>
            </a:r>
            <a:endParaRPr kumimoji="0" lang="en-US" sz="1050" b="0" i="0" u="none" strike="noStrike" kern="1200" cap="none" spc="0" normalizeH="0" baseline="0" noProof="0" dirty="0">
              <a:ln>
                <a:noFill/>
              </a:ln>
              <a:solidFill>
                <a:srgbClr val="0B075B"/>
              </a:solidFill>
              <a:effectLst/>
              <a:uLnTx/>
              <a:uFillTx/>
              <a:latin typeface="Arial"/>
              <a:ea typeface="+mn-ea"/>
              <a:cs typeface="Arial"/>
            </a:endParaRPr>
          </a:p>
        </p:txBody>
      </p:sp>
      <p:sp>
        <p:nvSpPr>
          <p:cNvPr id="18" name="TextBox 17">
            <a:extLst>
              <a:ext uri="{FF2B5EF4-FFF2-40B4-BE49-F238E27FC236}">
                <a16:creationId xmlns:a16="http://schemas.microsoft.com/office/drawing/2014/main" id="{330D2F88-49B1-3040-9E81-9DDFCC243BFE}"/>
              </a:ext>
            </a:extLst>
          </p:cNvPr>
          <p:cNvSpPr txBox="1"/>
          <p:nvPr/>
        </p:nvSpPr>
        <p:spPr>
          <a:xfrm>
            <a:off x="3530600" y="2082800"/>
            <a:ext cx="2413000" cy="2032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1" i="0" u="none" strike="noStrike" kern="1200" cap="none" spc="0" normalizeH="0" baseline="0" noProof="0">
                <a:ln>
                  <a:noFill/>
                </a:ln>
                <a:solidFill>
                  <a:srgbClr val="0057FF"/>
                </a:solidFill>
                <a:effectLst/>
                <a:uLnTx/>
                <a:uFillTx/>
                <a:latin typeface="Arial"/>
                <a:ea typeface="+mn-ea"/>
                <a:cs typeface="Arial"/>
              </a:rPr>
              <a:t>BOUNDED INCREMENTS</a:t>
            </a:r>
            <a:endParaRPr kumimoji="0" lang="en-US" sz="950" b="1" i="0" u="none" strike="noStrike" kern="1200" cap="none" spc="0" normalizeH="0" baseline="0" noProof="0" dirty="0">
              <a:ln>
                <a:noFill/>
              </a:ln>
              <a:solidFill>
                <a:srgbClr val="0057FF"/>
              </a:solidFill>
              <a:effectLst/>
              <a:uLnTx/>
              <a:uFillTx/>
              <a:latin typeface="Arial"/>
              <a:ea typeface="+mn-ea"/>
              <a:cs typeface="Arial"/>
            </a:endParaRPr>
          </a:p>
        </p:txBody>
      </p:sp>
      <p:sp>
        <p:nvSpPr>
          <p:cNvPr id="19" name="TextBox 18">
            <a:extLst>
              <a:ext uri="{FF2B5EF4-FFF2-40B4-BE49-F238E27FC236}">
                <a16:creationId xmlns:a16="http://schemas.microsoft.com/office/drawing/2014/main" id="{949131A1-D2CB-9042-9419-02BB24C7FDA6}"/>
              </a:ext>
            </a:extLst>
          </p:cNvPr>
          <p:cNvSpPr txBox="1"/>
          <p:nvPr/>
        </p:nvSpPr>
        <p:spPr>
          <a:xfrm>
            <a:off x="4038600" y="2413000"/>
            <a:ext cx="1905000" cy="304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B075B"/>
                </a:solidFill>
                <a:effectLst/>
                <a:uLnTx/>
                <a:uFillTx/>
                <a:latin typeface="Arial"/>
                <a:ea typeface="+mn-ea"/>
                <a:cs typeface="Arial"/>
              </a:rPr>
              <a:t>BUILD</a:t>
            </a:r>
            <a:endParaRPr kumimoji="0" lang="en-US" sz="1400" b="1" i="0" u="none" strike="noStrike" kern="1200" cap="none" spc="0" normalizeH="0" baseline="0" noProof="0" dirty="0">
              <a:ln>
                <a:noFill/>
              </a:ln>
              <a:solidFill>
                <a:srgbClr val="0B075B"/>
              </a:solidFill>
              <a:effectLst/>
              <a:uLnTx/>
              <a:uFillTx/>
              <a:latin typeface="Arial"/>
              <a:ea typeface="+mn-ea"/>
              <a:cs typeface="Arial"/>
            </a:endParaRPr>
          </a:p>
        </p:txBody>
      </p:sp>
      <p:sp>
        <p:nvSpPr>
          <p:cNvPr id="20" name="TextBox 19">
            <a:extLst>
              <a:ext uri="{FF2B5EF4-FFF2-40B4-BE49-F238E27FC236}">
                <a16:creationId xmlns:a16="http://schemas.microsoft.com/office/drawing/2014/main" id="{4F15989D-0A30-8948-B29C-788D8EEB8B95}"/>
              </a:ext>
            </a:extLst>
          </p:cNvPr>
          <p:cNvSpPr txBox="1"/>
          <p:nvPr/>
        </p:nvSpPr>
        <p:spPr>
          <a:xfrm>
            <a:off x="3530600" y="3187700"/>
            <a:ext cx="2413000" cy="1168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0B075B"/>
                </a:solidFill>
                <a:effectLst/>
                <a:uLnTx/>
                <a:uFillTx/>
                <a:latin typeface="Arial"/>
                <a:ea typeface="+mn-ea"/>
                <a:cs typeface="Arial"/>
              </a:rPr>
              <a:t>Give delivery teams and agents bounded requirements, rules, dependencies, and decisions to create software, integration, and data increments.</a:t>
            </a:r>
            <a:endParaRPr kumimoji="0" lang="en-US" sz="1050" b="0" i="0" u="none" strike="noStrike" kern="1200" cap="none" spc="0" normalizeH="0" baseline="0" noProof="0" dirty="0">
              <a:ln>
                <a:noFill/>
              </a:ln>
              <a:solidFill>
                <a:srgbClr val="0B075B"/>
              </a:solidFill>
              <a:effectLst/>
              <a:uLnTx/>
              <a:uFillTx/>
              <a:latin typeface="Arial"/>
              <a:ea typeface="+mn-ea"/>
              <a:cs typeface="Arial"/>
            </a:endParaRPr>
          </a:p>
        </p:txBody>
      </p:sp>
      <p:sp>
        <p:nvSpPr>
          <p:cNvPr id="24" name="TextBox 23">
            <a:extLst>
              <a:ext uri="{FF2B5EF4-FFF2-40B4-BE49-F238E27FC236}">
                <a16:creationId xmlns:a16="http://schemas.microsoft.com/office/drawing/2014/main" id="{661B8D60-667A-FD45-8BE6-646C9DB38160}"/>
              </a:ext>
            </a:extLst>
          </p:cNvPr>
          <p:cNvSpPr txBox="1"/>
          <p:nvPr/>
        </p:nvSpPr>
        <p:spPr>
          <a:xfrm>
            <a:off x="6400800" y="2082800"/>
            <a:ext cx="2413000" cy="2032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1" i="0" u="none" strike="noStrike" kern="1200" cap="none" spc="0" normalizeH="0" baseline="0" noProof="0">
                <a:ln>
                  <a:noFill/>
                </a:ln>
                <a:solidFill>
                  <a:srgbClr val="0057FF"/>
                </a:solidFill>
                <a:effectLst/>
                <a:uLnTx/>
                <a:uFillTx/>
                <a:latin typeface="Arial"/>
                <a:ea typeface="+mn-ea"/>
                <a:cs typeface="Arial"/>
              </a:rPr>
              <a:t>TRACEABLE EVIDENCE</a:t>
            </a:r>
            <a:endParaRPr kumimoji="0" lang="en-US" sz="950" b="1" i="0" u="none" strike="noStrike" kern="1200" cap="none" spc="0" normalizeH="0" baseline="0" noProof="0" dirty="0">
              <a:ln>
                <a:noFill/>
              </a:ln>
              <a:solidFill>
                <a:srgbClr val="0057FF"/>
              </a:solidFill>
              <a:effectLst/>
              <a:uLnTx/>
              <a:uFillTx/>
              <a:latin typeface="Arial"/>
              <a:ea typeface="+mn-ea"/>
              <a:cs typeface="Arial"/>
            </a:endParaRPr>
          </a:p>
        </p:txBody>
      </p:sp>
      <p:sp>
        <p:nvSpPr>
          <p:cNvPr id="25" name="TextBox 24">
            <a:extLst>
              <a:ext uri="{FF2B5EF4-FFF2-40B4-BE49-F238E27FC236}">
                <a16:creationId xmlns:a16="http://schemas.microsoft.com/office/drawing/2014/main" id="{FBA3D55D-FD86-104F-8AFF-B6C4495E5AB9}"/>
              </a:ext>
            </a:extLst>
          </p:cNvPr>
          <p:cNvSpPr txBox="1"/>
          <p:nvPr/>
        </p:nvSpPr>
        <p:spPr>
          <a:xfrm>
            <a:off x="6908800" y="2413000"/>
            <a:ext cx="1905000" cy="304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B075B"/>
                </a:solidFill>
                <a:effectLst/>
                <a:uLnTx/>
                <a:uFillTx/>
                <a:latin typeface="Arial"/>
                <a:ea typeface="+mn-ea"/>
                <a:cs typeface="Arial"/>
              </a:rPr>
              <a:t>VALIDATE</a:t>
            </a:r>
            <a:endParaRPr kumimoji="0" lang="en-US" sz="1400" b="1" i="0" u="none" strike="noStrike" kern="1200" cap="none" spc="0" normalizeH="0" baseline="0" noProof="0" dirty="0">
              <a:ln>
                <a:noFill/>
              </a:ln>
              <a:solidFill>
                <a:srgbClr val="0B075B"/>
              </a:solidFill>
              <a:effectLst/>
              <a:uLnTx/>
              <a:uFillTx/>
              <a:latin typeface="Arial"/>
              <a:ea typeface="+mn-ea"/>
              <a:cs typeface="Arial"/>
            </a:endParaRPr>
          </a:p>
        </p:txBody>
      </p:sp>
      <p:sp>
        <p:nvSpPr>
          <p:cNvPr id="26" name="TextBox 25">
            <a:extLst>
              <a:ext uri="{FF2B5EF4-FFF2-40B4-BE49-F238E27FC236}">
                <a16:creationId xmlns:a16="http://schemas.microsoft.com/office/drawing/2014/main" id="{B5C36F70-7D38-6E4E-AF45-8E72B750D4EE}"/>
              </a:ext>
            </a:extLst>
          </p:cNvPr>
          <p:cNvSpPr txBox="1"/>
          <p:nvPr/>
        </p:nvSpPr>
        <p:spPr>
          <a:xfrm>
            <a:off x="6400800" y="3187700"/>
            <a:ext cx="2413000" cy="1168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0B075B"/>
                </a:solidFill>
                <a:effectLst/>
                <a:uLnTx/>
                <a:uFillTx/>
                <a:latin typeface="Arial"/>
                <a:ea typeface="+mn-ea"/>
                <a:cs typeface="Arial"/>
              </a:rPr>
              <a:t>Convert legacy behavior, controls, and edge cases into tests; compare old and new outcomes; resolve gaps with traceable evidence.</a:t>
            </a:r>
            <a:endParaRPr kumimoji="0" lang="en-US" sz="1050" b="0" i="0" u="none" strike="noStrike" kern="1200" cap="none" spc="0" normalizeH="0" baseline="0" noProof="0" dirty="0">
              <a:ln>
                <a:noFill/>
              </a:ln>
              <a:solidFill>
                <a:srgbClr val="0B075B"/>
              </a:solidFill>
              <a:effectLst/>
              <a:uLnTx/>
              <a:uFillTx/>
              <a:latin typeface="Arial"/>
              <a:ea typeface="+mn-ea"/>
              <a:cs typeface="Arial"/>
            </a:endParaRPr>
          </a:p>
        </p:txBody>
      </p:sp>
      <p:sp>
        <p:nvSpPr>
          <p:cNvPr id="30" name="TextBox 29">
            <a:extLst>
              <a:ext uri="{FF2B5EF4-FFF2-40B4-BE49-F238E27FC236}">
                <a16:creationId xmlns:a16="http://schemas.microsoft.com/office/drawing/2014/main" id="{0116D00B-A462-E54D-B0F2-C4E6BDEEE9EF}"/>
              </a:ext>
            </a:extLst>
          </p:cNvPr>
          <p:cNvSpPr txBox="1"/>
          <p:nvPr/>
        </p:nvSpPr>
        <p:spPr>
          <a:xfrm>
            <a:off x="9271000" y="2082800"/>
            <a:ext cx="2260600" cy="2032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1" i="0" u="none" strike="noStrike" kern="1200" cap="none" spc="0" normalizeH="0" baseline="0" noProof="0">
                <a:ln>
                  <a:noFill/>
                </a:ln>
                <a:solidFill>
                  <a:srgbClr val="0057FF"/>
                </a:solidFill>
                <a:effectLst/>
                <a:uLnTx/>
                <a:uFillTx/>
                <a:latin typeface="Arial"/>
                <a:ea typeface="+mn-ea"/>
                <a:cs typeface="Arial"/>
              </a:rPr>
              <a:t>CONTROLLED WAVES</a:t>
            </a:r>
            <a:endParaRPr kumimoji="0" lang="en-US" sz="950" b="1" i="0" u="none" strike="noStrike" kern="1200" cap="none" spc="0" normalizeH="0" baseline="0" noProof="0" dirty="0">
              <a:ln>
                <a:noFill/>
              </a:ln>
              <a:solidFill>
                <a:srgbClr val="0057FF"/>
              </a:solidFill>
              <a:effectLst/>
              <a:uLnTx/>
              <a:uFillTx/>
              <a:latin typeface="Arial"/>
              <a:ea typeface="+mn-ea"/>
              <a:cs typeface="Arial"/>
            </a:endParaRPr>
          </a:p>
        </p:txBody>
      </p:sp>
      <p:sp>
        <p:nvSpPr>
          <p:cNvPr id="31" name="TextBox 30">
            <a:extLst>
              <a:ext uri="{FF2B5EF4-FFF2-40B4-BE49-F238E27FC236}">
                <a16:creationId xmlns:a16="http://schemas.microsoft.com/office/drawing/2014/main" id="{1F579D87-6EC3-F74B-A694-602AAFA45C9B}"/>
              </a:ext>
            </a:extLst>
          </p:cNvPr>
          <p:cNvSpPr txBox="1"/>
          <p:nvPr/>
        </p:nvSpPr>
        <p:spPr>
          <a:xfrm>
            <a:off x="9779000" y="2413000"/>
            <a:ext cx="1752600" cy="304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B075B"/>
                </a:solidFill>
                <a:effectLst/>
                <a:uLnTx/>
                <a:uFillTx/>
                <a:latin typeface="Arial"/>
                <a:ea typeface="+mn-ea"/>
                <a:cs typeface="Arial"/>
              </a:rPr>
              <a:t>TRANSITION</a:t>
            </a:r>
            <a:endParaRPr kumimoji="0" lang="en-US" sz="1400" b="1" i="0" u="none" strike="noStrike" kern="1200" cap="none" spc="0" normalizeH="0" baseline="0" noProof="0" dirty="0">
              <a:ln>
                <a:noFill/>
              </a:ln>
              <a:solidFill>
                <a:srgbClr val="0B075B"/>
              </a:solidFill>
              <a:effectLst/>
              <a:uLnTx/>
              <a:uFillTx/>
              <a:latin typeface="Arial"/>
              <a:ea typeface="+mn-ea"/>
              <a:cs typeface="Arial"/>
            </a:endParaRPr>
          </a:p>
        </p:txBody>
      </p:sp>
      <p:sp>
        <p:nvSpPr>
          <p:cNvPr id="32" name="TextBox 31">
            <a:extLst>
              <a:ext uri="{FF2B5EF4-FFF2-40B4-BE49-F238E27FC236}">
                <a16:creationId xmlns:a16="http://schemas.microsoft.com/office/drawing/2014/main" id="{40794179-10C1-4C44-AC2C-680F90E3B4AE}"/>
              </a:ext>
            </a:extLst>
          </p:cNvPr>
          <p:cNvSpPr txBox="1"/>
          <p:nvPr/>
        </p:nvSpPr>
        <p:spPr>
          <a:xfrm>
            <a:off x="9271000" y="3187700"/>
            <a:ext cx="2260600" cy="1168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0B075B"/>
                </a:solidFill>
                <a:effectLst/>
                <a:uLnTx/>
                <a:uFillTx/>
                <a:latin typeface="Arial"/>
                <a:ea typeface="+mn-ea"/>
                <a:cs typeface="Arial"/>
              </a:rPr>
              <a:t>Move viable capability slices into use through phased cutover, data preparation, runbooks, learning, support, and monitored release.</a:t>
            </a:r>
            <a:endParaRPr kumimoji="0" lang="en-US" sz="1050" b="0" i="0" u="none" strike="noStrike" kern="1200" cap="none" spc="0" normalizeH="0" baseline="0" noProof="0" dirty="0">
              <a:ln>
                <a:noFill/>
              </a:ln>
              <a:solidFill>
                <a:srgbClr val="0B075B"/>
              </a:solidFill>
              <a:effectLst/>
              <a:uLnTx/>
              <a:uFillTx/>
              <a:latin typeface="Arial"/>
              <a:ea typeface="+mn-ea"/>
              <a:cs typeface="Arial"/>
            </a:endParaRPr>
          </a:p>
        </p:txBody>
      </p:sp>
      <p:sp>
        <p:nvSpPr>
          <p:cNvPr id="35" name="TextBox 34">
            <a:extLst>
              <a:ext uri="{FF2B5EF4-FFF2-40B4-BE49-F238E27FC236}">
                <a16:creationId xmlns:a16="http://schemas.microsoft.com/office/drawing/2014/main" id="{E635A602-8678-B344-B066-439DA9AB5921}"/>
              </a:ext>
            </a:extLst>
          </p:cNvPr>
          <p:cNvSpPr txBox="1"/>
          <p:nvPr/>
        </p:nvSpPr>
        <p:spPr>
          <a:xfrm>
            <a:off x="838200" y="5638800"/>
            <a:ext cx="1371600" cy="228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F500C8"/>
                </a:solidFill>
                <a:effectLst/>
                <a:uLnTx/>
                <a:uFillTx/>
                <a:latin typeface="Arial"/>
                <a:ea typeface="+mn-ea"/>
                <a:cs typeface="Arial"/>
              </a:rPr>
              <a:t>DECISION GATES</a:t>
            </a:r>
            <a:endParaRPr kumimoji="0" lang="en-US" sz="1000" b="1" i="0" u="none" strike="noStrike" kern="1200" cap="none" spc="0" normalizeH="0" baseline="0" noProof="0" dirty="0">
              <a:ln>
                <a:noFill/>
              </a:ln>
              <a:solidFill>
                <a:srgbClr val="F500C8"/>
              </a:solidFill>
              <a:effectLst/>
              <a:uLnTx/>
              <a:uFillTx/>
              <a:latin typeface="Arial"/>
              <a:ea typeface="+mn-ea"/>
              <a:cs typeface="Arial"/>
            </a:endParaRPr>
          </a:p>
        </p:txBody>
      </p:sp>
      <p:sp>
        <p:nvSpPr>
          <p:cNvPr id="36" name="TextBox 35">
            <a:extLst>
              <a:ext uri="{FF2B5EF4-FFF2-40B4-BE49-F238E27FC236}">
                <a16:creationId xmlns:a16="http://schemas.microsoft.com/office/drawing/2014/main" id="{1FD5346A-46E1-434D-9871-36F28FC07BFB}"/>
              </a:ext>
            </a:extLst>
          </p:cNvPr>
          <p:cNvSpPr txBox="1"/>
          <p:nvPr/>
        </p:nvSpPr>
        <p:spPr>
          <a:xfrm>
            <a:off x="2311400" y="5588000"/>
            <a:ext cx="9220200" cy="3429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B075B"/>
                </a:solidFill>
                <a:effectLst/>
                <a:uLnTx/>
                <a:uFillTx/>
                <a:latin typeface="Arial"/>
                <a:ea typeface="+mn-ea"/>
                <a:cs typeface="Arial"/>
              </a:rPr>
              <a:t>Leaders approve architecture, security, quality, acceptance, release, and fallback decisions at the appropriate point in each wave.</a:t>
            </a:r>
            <a:endParaRPr kumimoji="0" lang="en-US" sz="1050" b="1" i="0" u="none" strike="noStrike" kern="1200" cap="none" spc="0" normalizeH="0" baseline="0" noProof="0" dirty="0">
              <a:ln>
                <a:noFill/>
              </a:ln>
              <a:solidFill>
                <a:srgbClr val="0B075B"/>
              </a:solidFill>
              <a:effectLst/>
              <a:uLnTx/>
              <a:uFillTx/>
              <a:latin typeface="Arial"/>
              <a:ea typeface="+mn-ea"/>
              <a:cs typeface="Arial"/>
            </a:endParaRPr>
          </a:p>
        </p:txBody>
      </p:sp>
      <p:sp>
        <p:nvSpPr>
          <p:cNvPr id="2" name="TextBox 1">
            <a:extLst>
              <a:ext uri="{FF2B5EF4-FFF2-40B4-BE49-F238E27FC236}">
                <a16:creationId xmlns:a16="http://schemas.microsoft.com/office/drawing/2014/main" id="{0060E5EC-B5BA-1D47-AED9-65E6EFDF33C3}"/>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450" b="0" i="0" u="none" strike="noStrike" kern="1200" cap="none" spc="0" normalizeH="0" baseline="0" noProof="0">
                <a:ln>
                  <a:noFill/>
                </a:ln>
                <a:solidFill>
                  <a:srgbClr val="070154"/>
                </a:solidFill>
                <a:effectLst/>
                <a:uLnTx/>
                <a:uFillTx/>
                <a:latin typeface="Arial"/>
                <a:ea typeface="+mn-ea"/>
                <a:cs typeface="Arial"/>
              </a:rPr>
              <a:t>© 2026 West Monroe Partners | Reproduction and/or distribution without West Monroe Partners’ prior consent is prohibited.</a:t>
            </a:r>
            <a:endParaRPr kumimoji="0" lang="en-US" sz="450" b="0" i="0" u="none" strike="noStrike" kern="1200" cap="none" spc="0" normalizeH="0" baseline="0" noProof="0" dirty="0">
              <a:ln>
                <a:noFill/>
              </a:ln>
              <a:solidFill>
                <a:srgbClr val="070154"/>
              </a:solidFill>
              <a:effectLst/>
              <a:uLnTx/>
              <a:uFillTx/>
              <a:latin typeface="Arial"/>
              <a:ea typeface="+mn-ea"/>
              <a:cs typeface="Arial"/>
            </a:endParaRPr>
          </a:p>
        </p:txBody>
      </p:sp>
      <p:sp>
        <p:nvSpPr>
          <p:cNvPr id="3" name="TextBox 2">
            <a:extLst>
              <a:ext uri="{FF2B5EF4-FFF2-40B4-BE49-F238E27FC236}">
                <a16:creationId xmlns:a16="http://schemas.microsoft.com/office/drawing/2014/main" id="{8E500C2B-D418-044F-8455-329E72E39E78}"/>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550" b="0" i="0" u="none" strike="noStrike" kern="1200" cap="none" spc="0" normalizeH="0" baseline="0" noProof="0">
                <a:ln>
                  <a:noFill/>
                </a:ln>
                <a:solidFill>
                  <a:srgbClr val="070154"/>
                </a:solidFill>
                <a:effectLst/>
                <a:uLnTx/>
                <a:uFillTx/>
                <a:latin typeface="Arial"/>
                <a:ea typeface="+mn-ea"/>
                <a:cs typeface="Arial"/>
              </a:rPr>
              <a:t>18</a:t>
            </a:r>
            <a:endParaRPr kumimoji="0" lang="en-US" sz="550" b="0" i="0" u="none" strike="noStrike" kern="1200" cap="none" spc="0" normalizeH="0" baseline="0" noProof="0" dirty="0">
              <a:ln>
                <a:noFill/>
              </a:ln>
              <a:solidFill>
                <a:srgbClr val="070154"/>
              </a:solidFill>
              <a:effectLst/>
              <a:uLnTx/>
              <a:uFillTx/>
              <a:latin typeface="Arial"/>
              <a:ea typeface="+mn-ea"/>
              <a:cs typeface="Arial"/>
            </a:endParaRPr>
          </a:p>
        </p:txBody>
      </p:sp>
      <p:sp>
        <p:nvSpPr>
          <p:cNvPr id="4" name="Oval 3">
            <a:extLst>
              <a:ext uri="{FF2B5EF4-FFF2-40B4-BE49-F238E27FC236}">
                <a16:creationId xmlns:a16="http://schemas.microsoft.com/office/drawing/2014/main" id="{79093BEF-C6CA-4142-AE10-F8B9852E976A}"/>
              </a:ext>
            </a:extLst>
          </p:cNvPr>
          <p:cNvSpPr/>
          <p:nvPr/>
        </p:nvSpPr>
        <p:spPr bwMode="auto">
          <a:xfrm>
            <a:off x="660400" y="2387600"/>
            <a:ext cx="355600" cy="355600"/>
          </a:xfrm>
          <a:prstGeom prst="ellipse">
            <a:avLst/>
          </a:prstGeom>
          <a:solidFill>
            <a:srgbClr val="F500C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1</a:t>
            </a: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5" name="Rectangle 4">
            <a:extLst>
              <a:ext uri="{FF2B5EF4-FFF2-40B4-BE49-F238E27FC236}">
                <a16:creationId xmlns:a16="http://schemas.microsoft.com/office/drawing/2014/main" id="{8D97EC24-440E-B946-B491-FB892DC9CEFC}"/>
              </a:ext>
            </a:extLst>
          </p:cNvPr>
          <p:cNvSpPr/>
          <p:nvPr/>
        </p:nvSpPr>
        <p:spPr bwMode="auto">
          <a:xfrm>
            <a:off x="660400" y="4584700"/>
            <a:ext cx="2413000" cy="25400"/>
          </a:xfrm>
          <a:prstGeom prst="rect">
            <a:avLst/>
          </a:prstGeom>
          <a:solidFill>
            <a:srgbClr val="F5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37" name="Oval 36">
            <a:extLst>
              <a:ext uri="{FF2B5EF4-FFF2-40B4-BE49-F238E27FC236}">
                <a16:creationId xmlns:a16="http://schemas.microsoft.com/office/drawing/2014/main" id="{134FE02A-7292-C84F-8F35-20D56EDD9102}"/>
              </a:ext>
            </a:extLst>
          </p:cNvPr>
          <p:cNvSpPr/>
          <p:nvPr/>
        </p:nvSpPr>
        <p:spPr bwMode="auto">
          <a:xfrm>
            <a:off x="3530600" y="2387600"/>
            <a:ext cx="355600" cy="355600"/>
          </a:xfrm>
          <a:prstGeom prst="ellipse">
            <a:avLst/>
          </a:prstGeom>
          <a:solidFill>
            <a:srgbClr val="0B075B"/>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2</a:t>
            </a: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38" name="Rectangle 37">
            <a:extLst>
              <a:ext uri="{FF2B5EF4-FFF2-40B4-BE49-F238E27FC236}">
                <a16:creationId xmlns:a16="http://schemas.microsoft.com/office/drawing/2014/main" id="{BCA70A42-94C3-354E-A8EA-BF1DE3D5000C}"/>
              </a:ext>
            </a:extLst>
          </p:cNvPr>
          <p:cNvSpPr/>
          <p:nvPr/>
        </p:nvSpPr>
        <p:spPr bwMode="auto">
          <a:xfrm>
            <a:off x="3530600" y="4584700"/>
            <a:ext cx="2413000" cy="254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39" name="Oval 38">
            <a:extLst>
              <a:ext uri="{FF2B5EF4-FFF2-40B4-BE49-F238E27FC236}">
                <a16:creationId xmlns:a16="http://schemas.microsoft.com/office/drawing/2014/main" id="{BEB1F497-671E-AA4D-B117-4F11C774BDEE}"/>
              </a:ext>
            </a:extLst>
          </p:cNvPr>
          <p:cNvSpPr/>
          <p:nvPr/>
        </p:nvSpPr>
        <p:spPr bwMode="auto">
          <a:xfrm>
            <a:off x="6400800" y="2387600"/>
            <a:ext cx="355600" cy="355600"/>
          </a:xfrm>
          <a:prstGeom prst="ellipse">
            <a:avLst/>
          </a:prstGeom>
          <a:solidFill>
            <a:srgbClr val="0B075B"/>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3</a:t>
            </a: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40" name="Rectangle 39">
            <a:extLst>
              <a:ext uri="{FF2B5EF4-FFF2-40B4-BE49-F238E27FC236}">
                <a16:creationId xmlns:a16="http://schemas.microsoft.com/office/drawing/2014/main" id="{824B8A01-8BDB-034D-A2FD-6A9ABF15B171}"/>
              </a:ext>
            </a:extLst>
          </p:cNvPr>
          <p:cNvSpPr/>
          <p:nvPr/>
        </p:nvSpPr>
        <p:spPr bwMode="auto">
          <a:xfrm>
            <a:off x="6400800" y="4584700"/>
            <a:ext cx="2413000" cy="254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41" name="Oval 40">
            <a:extLst>
              <a:ext uri="{FF2B5EF4-FFF2-40B4-BE49-F238E27FC236}">
                <a16:creationId xmlns:a16="http://schemas.microsoft.com/office/drawing/2014/main" id="{59AC6FA3-1C59-7040-A1B0-4ABE95BF4F41}"/>
              </a:ext>
            </a:extLst>
          </p:cNvPr>
          <p:cNvSpPr/>
          <p:nvPr/>
        </p:nvSpPr>
        <p:spPr bwMode="auto">
          <a:xfrm>
            <a:off x="9271000" y="2387600"/>
            <a:ext cx="355600" cy="355600"/>
          </a:xfrm>
          <a:prstGeom prst="ellipse">
            <a:avLst/>
          </a:prstGeom>
          <a:solidFill>
            <a:srgbClr val="0B075B"/>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4</a:t>
            </a: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42" name="Rectangle 41">
            <a:extLst>
              <a:ext uri="{FF2B5EF4-FFF2-40B4-BE49-F238E27FC236}">
                <a16:creationId xmlns:a16="http://schemas.microsoft.com/office/drawing/2014/main" id="{DD6C60E9-3531-D149-B42E-C2750ECEC109}"/>
              </a:ext>
            </a:extLst>
          </p:cNvPr>
          <p:cNvSpPr/>
          <p:nvPr/>
        </p:nvSpPr>
        <p:spPr bwMode="auto">
          <a:xfrm>
            <a:off x="9271000" y="4584700"/>
            <a:ext cx="2260600" cy="254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43" name="Chevron 42">
            <a:extLst>
              <a:ext uri="{FF2B5EF4-FFF2-40B4-BE49-F238E27FC236}">
                <a16:creationId xmlns:a16="http://schemas.microsoft.com/office/drawing/2014/main" id="{8A836F03-D24D-BF4E-A804-7D59246156B5}"/>
              </a:ext>
            </a:extLst>
          </p:cNvPr>
          <p:cNvSpPr/>
          <p:nvPr/>
        </p:nvSpPr>
        <p:spPr bwMode="auto">
          <a:xfrm>
            <a:off x="3175000" y="2425700"/>
            <a:ext cx="177800" cy="279400"/>
          </a:xfrm>
          <a:prstGeom prst="chevron">
            <a:avLst/>
          </a:prstGeom>
          <a:solidFill>
            <a:srgbClr val="C9D5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44" name="Chevron 43">
            <a:extLst>
              <a:ext uri="{FF2B5EF4-FFF2-40B4-BE49-F238E27FC236}">
                <a16:creationId xmlns:a16="http://schemas.microsoft.com/office/drawing/2014/main" id="{B2A5CEFB-8613-FA4E-9DA5-480CB6D75F99}"/>
              </a:ext>
            </a:extLst>
          </p:cNvPr>
          <p:cNvSpPr/>
          <p:nvPr/>
        </p:nvSpPr>
        <p:spPr bwMode="auto">
          <a:xfrm>
            <a:off x="6045200" y="2425700"/>
            <a:ext cx="177800" cy="279400"/>
          </a:xfrm>
          <a:prstGeom prst="chevron">
            <a:avLst/>
          </a:prstGeom>
          <a:solidFill>
            <a:srgbClr val="C9D5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45" name="Chevron 44">
            <a:extLst>
              <a:ext uri="{FF2B5EF4-FFF2-40B4-BE49-F238E27FC236}">
                <a16:creationId xmlns:a16="http://schemas.microsoft.com/office/drawing/2014/main" id="{979EA23B-0B82-7645-A456-0DA52CA93F2E}"/>
              </a:ext>
            </a:extLst>
          </p:cNvPr>
          <p:cNvSpPr/>
          <p:nvPr/>
        </p:nvSpPr>
        <p:spPr bwMode="auto">
          <a:xfrm>
            <a:off x="8915400" y="2425700"/>
            <a:ext cx="177800" cy="279400"/>
          </a:xfrm>
          <a:prstGeom prst="chevron">
            <a:avLst/>
          </a:prstGeom>
          <a:solidFill>
            <a:srgbClr val="C9D5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46" name="TextBox 45">
            <a:extLst>
              <a:ext uri="{FF2B5EF4-FFF2-40B4-BE49-F238E27FC236}">
                <a16:creationId xmlns:a16="http://schemas.microsoft.com/office/drawing/2014/main" id="{C695EA3F-D148-A448-98E0-CAA20AF28489}"/>
              </a:ext>
            </a:extLst>
          </p:cNvPr>
          <p:cNvSpPr txBox="1"/>
          <p:nvPr/>
        </p:nvSpPr>
        <p:spPr>
          <a:xfrm>
            <a:off x="660400" y="4711700"/>
            <a:ext cx="2413000" cy="482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20" b="0" i="0" u="none" strike="noStrike" kern="1200" cap="none" spc="0" normalizeH="0" baseline="0" noProof="0">
                <a:ln>
                  <a:noFill/>
                </a:ln>
                <a:solidFill>
                  <a:srgbClr val="50627A"/>
                </a:solidFill>
                <a:effectLst/>
                <a:uLnTx/>
                <a:uFillTx/>
                <a:latin typeface="Arial"/>
                <a:ea typeface="+mn-ea"/>
                <a:cs typeface="Arial"/>
              </a:rPr>
              <a:t>User feedback shapes the target before change becomes expensive.</a:t>
            </a:r>
            <a:endParaRPr kumimoji="0" lang="en-US" sz="920" b="0" i="0" u="none" strike="noStrike" kern="1200" cap="none" spc="0" normalizeH="0" baseline="0" noProof="0" dirty="0">
              <a:ln>
                <a:noFill/>
              </a:ln>
              <a:solidFill>
                <a:srgbClr val="50627A"/>
              </a:solidFill>
              <a:effectLst/>
              <a:uLnTx/>
              <a:uFillTx/>
              <a:latin typeface="Arial"/>
              <a:ea typeface="+mn-ea"/>
              <a:cs typeface="Arial"/>
            </a:endParaRPr>
          </a:p>
        </p:txBody>
      </p:sp>
      <p:sp>
        <p:nvSpPr>
          <p:cNvPr id="47" name="TextBox 46">
            <a:extLst>
              <a:ext uri="{FF2B5EF4-FFF2-40B4-BE49-F238E27FC236}">
                <a16:creationId xmlns:a16="http://schemas.microsoft.com/office/drawing/2014/main" id="{0B216D12-F6BB-D741-9320-B518395DD958}"/>
              </a:ext>
            </a:extLst>
          </p:cNvPr>
          <p:cNvSpPr txBox="1"/>
          <p:nvPr/>
        </p:nvSpPr>
        <p:spPr>
          <a:xfrm>
            <a:off x="3530600" y="4711700"/>
            <a:ext cx="2413000" cy="482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20" b="0" i="0" u="none" strike="noStrike" kern="1200" cap="none" spc="0" normalizeH="0" baseline="0" noProof="0">
                <a:ln>
                  <a:noFill/>
                </a:ln>
                <a:solidFill>
                  <a:srgbClr val="50627A"/>
                </a:solidFill>
                <a:effectLst/>
                <a:uLnTx/>
                <a:uFillTx/>
                <a:latin typeface="Arial"/>
                <a:ea typeface="+mn-ea"/>
                <a:cs typeface="Arial"/>
              </a:rPr>
              <a:t>Work is delivered in bounded, reviewable capability increments.</a:t>
            </a:r>
            <a:endParaRPr kumimoji="0" lang="en-US" sz="920" b="0" i="0" u="none" strike="noStrike" kern="1200" cap="none" spc="0" normalizeH="0" baseline="0" noProof="0" dirty="0">
              <a:ln>
                <a:noFill/>
              </a:ln>
              <a:solidFill>
                <a:srgbClr val="50627A"/>
              </a:solidFill>
              <a:effectLst/>
              <a:uLnTx/>
              <a:uFillTx/>
              <a:latin typeface="Arial"/>
              <a:ea typeface="+mn-ea"/>
              <a:cs typeface="Arial"/>
            </a:endParaRPr>
          </a:p>
        </p:txBody>
      </p:sp>
      <p:sp>
        <p:nvSpPr>
          <p:cNvPr id="48" name="TextBox 47">
            <a:extLst>
              <a:ext uri="{FF2B5EF4-FFF2-40B4-BE49-F238E27FC236}">
                <a16:creationId xmlns:a16="http://schemas.microsoft.com/office/drawing/2014/main" id="{272ED63C-5E80-634F-A8C0-856D2A944411}"/>
              </a:ext>
            </a:extLst>
          </p:cNvPr>
          <p:cNvSpPr txBox="1"/>
          <p:nvPr/>
        </p:nvSpPr>
        <p:spPr>
          <a:xfrm>
            <a:off x="6400800" y="4711700"/>
            <a:ext cx="2413000" cy="482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20" b="0" i="0" u="none" strike="noStrike" kern="1200" cap="none" spc="0" normalizeH="0" baseline="0" noProof="0">
                <a:ln>
                  <a:noFill/>
                </a:ln>
                <a:solidFill>
                  <a:srgbClr val="50627A"/>
                </a:solidFill>
                <a:effectLst/>
                <a:uLnTx/>
                <a:uFillTx/>
                <a:latin typeface="Arial"/>
                <a:ea typeface="+mn-ea"/>
                <a:cs typeface="Arial"/>
              </a:rPr>
              <a:t>Known rules and edge cases become traceable acceptance evidence.</a:t>
            </a:r>
            <a:endParaRPr kumimoji="0" lang="en-US" sz="920" b="0" i="0" u="none" strike="noStrike" kern="1200" cap="none" spc="0" normalizeH="0" baseline="0" noProof="0" dirty="0">
              <a:ln>
                <a:noFill/>
              </a:ln>
              <a:solidFill>
                <a:srgbClr val="50627A"/>
              </a:solidFill>
              <a:effectLst/>
              <a:uLnTx/>
              <a:uFillTx/>
              <a:latin typeface="Arial"/>
              <a:ea typeface="+mn-ea"/>
              <a:cs typeface="Arial"/>
            </a:endParaRPr>
          </a:p>
        </p:txBody>
      </p:sp>
      <p:sp>
        <p:nvSpPr>
          <p:cNvPr id="49" name="TextBox 48">
            <a:extLst>
              <a:ext uri="{FF2B5EF4-FFF2-40B4-BE49-F238E27FC236}">
                <a16:creationId xmlns:a16="http://schemas.microsoft.com/office/drawing/2014/main" id="{5203DD94-8C88-4B4A-83DF-7832DE7EAFE2}"/>
              </a:ext>
            </a:extLst>
          </p:cNvPr>
          <p:cNvSpPr txBox="1"/>
          <p:nvPr/>
        </p:nvSpPr>
        <p:spPr>
          <a:xfrm>
            <a:off x="9271000" y="4711700"/>
            <a:ext cx="2260600" cy="482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20" b="0" i="0" u="none" strike="noStrike" kern="1200" cap="none" spc="0" normalizeH="0" baseline="0" noProof="0">
                <a:ln>
                  <a:noFill/>
                </a:ln>
                <a:solidFill>
                  <a:srgbClr val="50627A"/>
                </a:solidFill>
                <a:effectLst/>
                <a:uLnTx/>
                <a:uFillTx/>
                <a:latin typeface="Arial"/>
                <a:ea typeface="+mn-ea"/>
                <a:cs typeface="Arial"/>
              </a:rPr>
              <a:t>Each viable slice moves through readiness, release, and support.</a:t>
            </a:r>
            <a:endParaRPr kumimoji="0" lang="en-US" sz="920" b="0" i="0" u="none" strike="noStrike" kern="1200" cap="none" spc="0" normalizeH="0" baseline="0" noProof="0" dirty="0">
              <a:ln>
                <a:noFill/>
              </a:ln>
              <a:solidFill>
                <a:srgbClr val="50627A"/>
              </a:solidFill>
              <a:effectLst/>
              <a:uLnTx/>
              <a:uFillTx/>
              <a:latin typeface="Arial"/>
              <a:ea typeface="+mn-ea"/>
              <a:cs typeface="Arial"/>
            </a:endParaRPr>
          </a:p>
        </p:txBody>
      </p:sp>
      <p:sp>
        <p:nvSpPr>
          <p:cNvPr id="50" name="Rectangle 49">
            <a:extLst>
              <a:ext uri="{FF2B5EF4-FFF2-40B4-BE49-F238E27FC236}">
                <a16:creationId xmlns:a16="http://schemas.microsoft.com/office/drawing/2014/main" id="{EA5766A0-FD4B-6648-A750-662D4C0AF8FD}"/>
              </a:ext>
            </a:extLst>
          </p:cNvPr>
          <p:cNvSpPr/>
          <p:nvPr/>
        </p:nvSpPr>
        <p:spPr bwMode="auto">
          <a:xfrm>
            <a:off x="660400" y="5461000"/>
            <a:ext cx="10871200" cy="19050"/>
          </a:xfrm>
          <a:prstGeom prst="rect">
            <a:avLst/>
          </a:prstGeom>
          <a:solidFill>
            <a:srgbClr val="C9D5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51" name="Rectangle 50">
            <a:extLst>
              <a:ext uri="{FF2B5EF4-FFF2-40B4-BE49-F238E27FC236}">
                <a16:creationId xmlns:a16="http://schemas.microsoft.com/office/drawing/2014/main" id="{0BC0C296-5485-E04E-8B1B-219084BCD6F6}"/>
              </a:ext>
            </a:extLst>
          </p:cNvPr>
          <p:cNvSpPr/>
          <p:nvPr/>
        </p:nvSpPr>
        <p:spPr bwMode="auto">
          <a:xfrm>
            <a:off x="660400" y="5588000"/>
            <a:ext cx="63500" cy="342900"/>
          </a:xfrm>
          <a:prstGeom prst="rect">
            <a:avLst/>
          </a:prstGeom>
          <a:solidFill>
            <a:srgbClr val="F5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6" name="TextBox 5">
            <a:extLst>
              <a:ext uri="{FF2B5EF4-FFF2-40B4-BE49-F238E27FC236}">
                <a16:creationId xmlns:a16="http://schemas.microsoft.com/office/drawing/2014/main" id="{FDC4693F-AB0B-AA43-963B-CABA7ABE43C3}"/>
              </a:ext>
            </a:extLst>
          </p:cNvPr>
          <p:cNvSpPr txBox="1"/>
          <p:nvPr/>
        </p:nvSpPr>
        <p:spPr>
          <a:xfrm>
            <a:off x="457200" y="533400"/>
            <a:ext cx="11277600" cy="482600"/>
          </a:xfrm>
          <a:prstGeom prst="rect">
            <a:avLst/>
          </a:prstGeom>
          <a:noFill/>
        </p:spPr>
        <p:txBody>
          <a:bodyPr vertOverflow="overflow" vert="horz" wrap="square" lIns="0" tIns="0" rIns="0" bIns="0" rtlCol="0" anchor="t">
            <a:normAutofit fontScale="85000" lnSpcReduction="20000"/>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200" b="1" i="0" u="none" strike="noStrike" kern="1200" cap="none" spc="0" normalizeH="0" baseline="0" noProof="0" dirty="0">
                <a:ln>
                  <a:noFill/>
                </a:ln>
                <a:solidFill>
                  <a:srgbClr val="0B075B"/>
                </a:solidFill>
                <a:effectLst/>
                <a:uLnTx/>
                <a:uFillTx/>
                <a:latin typeface="Arial"/>
                <a:ea typeface="+mn-ea"/>
                <a:cs typeface="Arial"/>
              </a:rPr>
              <a:t>Build converts rationalization outputs and evidence into working capability through four connected subphases.</a:t>
            </a:r>
          </a:p>
        </p:txBody>
      </p:sp>
      <p:sp>
        <p:nvSpPr>
          <p:cNvPr id="7" name="TextBox 6">
            <a:extLst>
              <a:ext uri="{FF2B5EF4-FFF2-40B4-BE49-F238E27FC236}">
                <a16:creationId xmlns:a16="http://schemas.microsoft.com/office/drawing/2014/main" id="{24A41F81-B8B7-A342-9344-02EA5DB9417F}"/>
              </a:ext>
            </a:extLst>
          </p:cNvPr>
          <p:cNvSpPr txBox="1"/>
          <p:nvPr/>
        </p:nvSpPr>
        <p:spPr>
          <a:xfrm>
            <a:off x="457200" y="1143000"/>
            <a:ext cx="11049000" cy="2794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50" b="0" i="0" u="none" strike="noStrike" kern="1200" cap="none" spc="0" normalizeH="0" baseline="0" noProof="0">
                <a:ln>
                  <a:noFill/>
                </a:ln>
                <a:solidFill>
                  <a:srgbClr val="50627A"/>
                </a:solidFill>
                <a:effectLst/>
                <a:uLnTx/>
                <a:uFillTx/>
                <a:latin typeface="Arial"/>
                <a:ea typeface="+mn-ea"/>
                <a:cs typeface="Arial"/>
              </a:rPr>
              <a:t>Design, build, validate, and transition repeat in waves—while leaders retain authority over architecture, quality, release, and fallback.</a:t>
            </a:r>
            <a:endParaRPr kumimoji="0" lang="en-US" sz="1250" b="0" i="0" u="none" strike="noStrike" kern="1200" cap="none" spc="0" normalizeH="0" baseline="0" noProof="0" dirty="0">
              <a:ln>
                <a:noFill/>
              </a:ln>
              <a:solidFill>
                <a:srgbClr val="50627A"/>
              </a:solidFill>
              <a:effectLst/>
              <a:uLnTx/>
              <a:uFillTx/>
              <a:latin typeface="Arial"/>
              <a:ea typeface="+mn-ea"/>
              <a:cs typeface="Arial"/>
            </a:endParaRPr>
          </a:p>
        </p:txBody>
      </p:sp>
    </p:spTree>
    <p:extLst>
      <p:ext uri="{BB962C8B-B14F-4D97-AF65-F5344CB8AC3E}">
        <p14:creationId xmlns:p14="http://schemas.microsoft.com/office/powerpoint/2010/main" val="16320856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1B531C-29FB-994E-9C57-B0197552E385}"/>
              </a:ext>
            </a:extLst>
          </p:cNvPr>
          <p:cNvSpPr txBox="1"/>
          <p:nvPr/>
        </p:nvSpPr>
        <p:spPr>
          <a:xfrm>
            <a:off x="457200" y="533400"/>
            <a:ext cx="11277600" cy="635000"/>
          </a:xfrm>
          <a:prstGeom prst="rect">
            <a:avLst/>
          </a:prstGeom>
          <a:noFill/>
        </p:spPr>
        <p:txBody>
          <a:bodyPr vertOverflow="overflow" vert="horz" wrap="square" lIns="0" tIns="0" rIns="0" bIns="0" rtlCol="0" anchor="ctr" anchorCtr="0">
            <a:normAutofit lnSpcReduction="10000"/>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150" b="1" i="0" u="none" strike="noStrike" kern="1200" cap="none" spc="0" normalizeH="0" baseline="0" noProof="0">
                <a:ln>
                  <a:noFill/>
                </a:ln>
                <a:solidFill>
                  <a:srgbClr val="0B075B"/>
                </a:solidFill>
                <a:effectLst/>
                <a:uLnTx/>
                <a:uFillTx/>
                <a:latin typeface="Arial"/>
                <a:ea typeface="+mn-ea"/>
                <a:cs typeface="Arial"/>
              </a:rPr>
              <a:t>Persistent, agent-ready context from rationalization can compress the path from prototype to production during build.</a:t>
            </a:r>
            <a:endParaRPr kumimoji="0" lang="en-US" sz="2150" b="1" i="0" u="none" strike="noStrike" kern="1200" cap="none" spc="0" normalizeH="0" baseline="0" noProof="0" dirty="0">
              <a:ln>
                <a:noFill/>
              </a:ln>
              <a:solidFill>
                <a:srgbClr val="0B075B"/>
              </a:solidFill>
              <a:effectLst/>
              <a:uLnTx/>
              <a:uFillTx/>
              <a:latin typeface="Arial"/>
              <a:ea typeface="+mn-ea"/>
              <a:cs typeface="Arial"/>
            </a:endParaRPr>
          </a:p>
        </p:txBody>
      </p:sp>
      <p:sp>
        <p:nvSpPr>
          <p:cNvPr id="7" name="TextBox 6">
            <a:extLst>
              <a:ext uri="{FF2B5EF4-FFF2-40B4-BE49-F238E27FC236}">
                <a16:creationId xmlns:a16="http://schemas.microsoft.com/office/drawing/2014/main" id="{68CBAC99-A385-5A41-B4FF-4CA3FEC8D2C2}"/>
              </a:ext>
            </a:extLst>
          </p:cNvPr>
          <p:cNvSpPr txBox="1"/>
          <p:nvPr/>
        </p:nvSpPr>
        <p:spPr>
          <a:xfrm>
            <a:off x="457200" y="1219200"/>
            <a:ext cx="11277600" cy="304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150" b="0" i="0" u="none" strike="noStrike" kern="1200" cap="none" spc="0" normalizeH="0" baseline="0" noProof="0">
                <a:ln>
                  <a:noFill/>
                </a:ln>
                <a:solidFill>
                  <a:srgbClr val="50627A"/>
                </a:solidFill>
                <a:effectLst/>
                <a:uLnTx/>
                <a:uFillTx/>
                <a:latin typeface="Arial"/>
                <a:ea typeface="+mn-ea"/>
                <a:cs typeface="Arial"/>
              </a:rPr>
              <a:t>A governed evidence base and business process map reduce rediscovery by giving teams and AI agents bounded, source-linked context for each delivery task.</a:t>
            </a:r>
            <a:endParaRPr kumimoji="0" lang="en-US" sz="1150" b="0" i="0" u="none" strike="noStrike" kern="1200" cap="none" spc="0" normalizeH="0" baseline="0" noProof="0" dirty="0">
              <a:ln>
                <a:noFill/>
              </a:ln>
              <a:solidFill>
                <a:srgbClr val="50627A"/>
              </a:solidFill>
              <a:effectLst/>
              <a:uLnTx/>
              <a:uFillTx/>
              <a:latin typeface="Arial"/>
              <a:ea typeface="+mn-ea"/>
              <a:cs typeface="Arial"/>
            </a:endParaRPr>
          </a:p>
        </p:txBody>
      </p:sp>
      <p:sp>
        <p:nvSpPr>
          <p:cNvPr id="3" name="TextBox 2">
            <a:extLst>
              <a:ext uri="{FF2B5EF4-FFF2-40B4-BE49-F238E27FC236}">
                <a16:creationId xmlns:a16="http://schemas.microsoft.com/office/drawing/2014/main" id="{07E6C0BD-AB66-2B4E-BDAE-9C1B0FAAE9A6}"/>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450" b="0" i="0" u="none" strike="noStrike" kern="1200" cap="none" spc="0" normalizeH="0" baseline="0" noProof="0">
                <a:ln>
                  <a:noFill/>
                </a:ln>
                <a:solidFill>
                  <a:srgbClr val="070154"/>
                </a:solidFill>
                <a:effectLst/>
                <a:uLnTx/>
                <a:uFillTx/>
                <a:latin typeface="Arial"/>
                <a:ea typeface="+mn-ea"/>
                <a:cs typeface="Arial"/>
              </a:rPr>
              <a:t>© 2026 West Monroe Partners | Reproduction and/or distribution without West Monroe Partners’ prior consent is prohibited.</a:t>
            </a:r>
            <a:endParaRPr kumimoji="0" lang="en-US" sz="450" b="0" i="0" u="none" strike="noStrike" kern="1200" cap="none" spc="0" normalizeH="0" baseline="0" noProof="0" dirty="0">
              <a:ln>
                <a:noFill/>
              </a:ln>
              <a:solidFill>
                <a:srgbClr val="070154"/>
              </a:solidFill>
              <a:effectLst/>
              <a:uLnTx/>
              <a:uFillTx/>
              <a:latin typeface="Arial"/>
              <a:ea typeface="+mn-ea"/>
              <a:cs typeface="Arial"/>
            </a:endParaRPr>
          </a:p>
        </p:txBody>
      </p:sp>
      <p:sp>
        <p:nvSpPr>
          <p:cNvPr id="4" name="TextBox 3">
            <a:extLst>
              <a:ext uri="{FF2B5EF4-FFF2-40B4-BE49-F238E27FC236}">
                <a16:creationId xmlns:a16="http://schemas.microsoft.com/office/drawing/2014/main" id="{64C789C8-80F4-B34C-88CC-011347B3E7F7}"/>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550" b="0" i="0" u="none" strike="noStrike" kern="1200" cap="none" spc="0" normalizeH="0" baseline="0" noProof="0">
                <a:ln>
                  <a:noFill/>
                </a:ln>
                <a:solidFill>
                  <a:srgbClr val="070154"/>
                </a:solidFill>
                <a:effectLst/>
                <a:uLnTx/>
                <a:uFillTx/>
                <a:latin typeface="Arial"/>
                <a:ea typeface="+mn-ea"/>
                <a:cs typeface="Arial"/>
              </a:rPr>
              <a:t>19</a:t>
            </a:r>
            <a:endParaRPr kumimoji="0" lang="en-US" sz="550" b="0" i="0" u="none" strike="noStrike" kern="1200" cap="none" spc="0" normalizeH="0" baseline="0" noProof="0" dirty="0">
              <a:ln>
                <a:noFill/>
              </a:ln>
              <a:solidFill>
                <a:srgbClr val="070154"/>
              </a:solidFill>
              <a:effectLst/>
              <a:uLnTx/>
              <a:uFillTx/>
              <a:latin typeface="Arial"/>
              <a:ea typeface="+mn-ea"/>
              <a:cs typeface="Arial"/>
            </a:endParaRPr>
          </a:p>
        </p:txBody>
      </p:sp>
      <p:sp>
        <p:nvSpPr>
          <p:cNvPr id="5" name="TextBox 4">
            <a:extLst>
              <a:ext uri="{FF2B5EF4-FFF2-40B4-BE49-F238E27FC236}">
                <a16:creationId xmlns:a16="http://schemas.microsoft.com/office/drawing/2014/main" id="{F93F7B96-02F5-C04E-9EEB-FA7594CC45C9}"/>
              </a:ext>
            </a:extLst>
          </p:cNvPr>
          <p:cNvSpPr txBox="1"/>
          <p:nvPr/>
        </p:nvSpPr>
        <p:spPr>
          <a:xfrm>
            <a:off x="609600" y="1803400"/>
            <a:ext cx="2921000" cy="228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57FF"/>
                </a:solidFill>
                <a:effectLst/>
                <a:uLnTx/>
                <a:uFillTx/>
                <a:latin typeface="Arial"/>
                <a:ea typeface="+mn-ea"/>
                <a:cs typeface="Arial"/>
              </a:rPr>
              <a:t>CONTEXT CARRIED FORWARD</a:t>
            </a:r>
            <a:endParaRPr kumimoji="0" lang="en-US" sz="1000" b="1" i="0" u="none" strike="noStrike" kern="1200" cap="none" spc="0" normalizeH="0" baseline="0" noProof="0" dirty="0">
              <a:ln>
                <a:noFill/>
              </a:ln>
              <a:solidFill>
                <a:srgbClr val="0057FF"/>
              </a:solidFill>
              <a:effectLst/>
              <a:uLnTx/>
              <a:uFillTx/>
              <a:latin typeface="Arial"/>
              <a:ea typeface="+mn-ea"/>
              <a:cs typeface="Arial"/>
            </a:endParaRPr>
          </a:p>
        </p:txBody>
      </p:sp>
      <p:sp>
        <p:nvSpPr>
          <p:cNvPr id="6" name="Rectangle 5">
            <a:extLst>
              <a:ext uri="{FF2B5EF4-FFF2-40B4-BE49-F238E27FC236}">
                <a16:creationId xmlns:a16="http://schemas.microsoft.com/office/drawing/2014/main" id="{0D61016C-4471-A146-AE09-5B50F372C288}"/>
              </a:ext>
            </a:extLst>
          </p:cNvPr>
          <p:cNvSpPr/>
          <p:nvPr/>
        </p:nvSpPr>
        <p:spPr bwMode="auto">
          <a:xfrm>
            <a:off x="609600" y="2133600"/>
            <a:ext cx="50800" cy="3136900"/>
          </a:xfrm>
          <a:prstGeom prst="rect">
            <a:avLst/>
          </a:prstGeom>
          <a:solidFill>
            <a:srgbClr val="F5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TextBox 9">
            <a:extLst>
              <a:ext uri="{FF2B5EF4-FFF2-40B4-BE49-F238E27FC236}">
                <a16:creationId xmlns:a16="http://schemas.microsoft.com/office/drawing/2014/main" id="{4AE40F5B-FDE6-3A4B-AB0F-EB6574C1F972}"/>
              </a:ext>
            </a:extLst>
          </p:cNvPr>
          <p:cNvSpPr txBox="1"/>
          <p:nvPr/>
        </p:nvSpPr>
        <p:spPr>
          <a:xfrm>
            <a:off x="838200" y="2133600"/>
            <a:ext cx="24130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300" b="1" i="0" u="none" strike="noStrike" kern="1200" cap="none" spc="0" normalizeH="0" baseline="0" noProof="0">
                <a:ln>
                  <a:noFill/>
                </a:ln>
                <a:solidFill>
                  <a:srgbClr val="0B075B"/>
                </a:solidFill>
                <a:effectLst/>
                <a:uLnTx/>
                <a:uFillTx/>
                <a:latin typeface="Arial"/>
                <a:ea typeface="+mn-ea"/>
                <a:cs typeface="Arial"/>
              </a:rPr>
              <a:t>Evidence database</a:t>
            </a:r>
            <a:endParaRPr kumimoji="0" lang="en-US" sz="1300" b="1" i="0" u="none" strike="noStrike" kern="1200" cap="none" spc="0" normalizeH="0" baseline="0" noProof="0" dirty="0">
              <a:ln>
                <a:noFill/>
              </a:ln>
              <a:solidFill>
                <a:srgbClr val="0B075B"/>
              </a:solidFill>
              <a:effectLst/>
              <a:uLnTx/>
              <a:uFillTx/>
              <a:latin typeface="Arial"/>
              <a:ea typeface="+mn-ea"/>
              <a:cs typeface="Arial"/>
            </a:endParaRPr>
          </a:p>
        </p:txBody>
      </p:sp>
      <p:sp>
        <p:nvSpPr>
          <p:cNvPr id="12" name="TextBox 11">
            <a:extLst>
              <a:ext uri="{FF2B5EF4-FFF2-40B4-BE49-F238E27FC236}">
                <a16:creationId xmlns:a16="http://schemas.microsoft.com/office/drawing/2014/main" id="{F80B3D77-B0B7-7E45-963C-19B9AFEED7C7}"/>
              </a:ext>
            </a:extLst>
          </p:cNvPr>
          <p:cNvSpPr txBox="1"/>
          <p:nvPr/>
        </p:nvSpPr>
        <p:spPr>
          <a:xfrm>
            <a:off x="838200" y="2438400"/>
            <a:ext cx="2413000" cy="533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50627A"/>
                </a:solidFill>
                <a:effectLst/>
                <a:uLnTx/>
                <a:uFillTx/>
                <a:latin typeface="Arial"/>
                <a:ea typeface="+mn-ea"/>
                <a:cs typeface="Arial"/>
              </a:rPr>
              <a:t>Source code, components, data, integrations, controls, dependencies, and confidence.</a:t>
            </a:r>
            <a:endParaRPr kumimoji="0" lang="en-US" sz="950" b="0" i="0" u="none" strike="noStrike" kern="1200" cap="none" spc="0" normalizeH="0" baseline="0" noProof="0" dirty="0">
              <a:ln>
                <a:noFill/>
              </a:ln>
              <a:solidFill>
                <a:srgbClr val="50627A"/>
              </a:solidFill>
              <a:effectLst/>
              <a:uLnTx/>
              <a:uFillTx/>
              <a:latin typeface="Arial"/>
              <a:ea typeface="+mn-ea"/>
              <a:cs typeface="Arial"/>
            </a:endParaRPr>
          </a:p>
        </p:txBody>
      </p:sp>
      <p:sp>
        <p:nvSpPr>
          <p:cNvPr id="16" name="Rectangle 15">
            <a:extLst>
              <a:ext uri="{FF2B5EF4-FFF2-40B4-BE49-F238E27FC236}">
                <a16:creationId xmlns:a16="http://schemas.microsoft.com/office/drawing/2014/main" id="{F130D3DC-E258-D240-9D97-851723703D79}"/>
              </a:ext>
            </a:extLst>
          </p:cNvPr>
          <p:cNvSpPr/>
          <p:nvPr/>
        </p:nvSpPr>
        <p:spPr bwMode="auto">
          <a:xfrm>
            <a:off x="838200" y="3098800"/>
            <a:ext cx="2286000" cy="1905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7" name="TextBox 16">
            <a:extLst>
              <a:ext uri="{FF2B5EF4-FFF2-40B4-BE49-F238E27FC236}">
                <a16:creationId xmlns:a16="http://schemas.microsoft.com/office/drawing/2014/main" id="{9C34126E-AD55-5E49-BEED-A45011593727}"/>
              </a:ext>
            </a:extLst>
          </p:cNvPr>
          <p:cNvSpPr txBox="1"/>
          <p:nvPr/>
        </p:nvSpPr>
        <p:spPr>
          <a:xfrm>
            <a:off x="838200" y="3251200"/>
            <a:ext cx="24130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300" b="1" i="0" u="none" strike="noStrike" kern="1200" cap="none" spc="0" normalizeH="0" baseline="0" noProof="0">
                <a:ln>
                  <a:noFill/>
                </a:ln>
                <a:solidFill>
                  <a:srgbClr val="0B075B"/>
                </a:solidFill>
                <a:effectLst/>
                <a:uLnTx/>
                <a:uFillTx/>
                <a:latin typeface="Arial"/>
                <a:ea typeface="+mn-ea"/>
                <a:cs typeface="Arial"/>
              </a:rPr>
              <a:t>Business process map</a:t>
            </a:r>
            <a:endParaRPr kumimoji="0" lang="en-US" sz="1300" b="1" i="0" u="none" strike="noStrike" kern="1200" cap="none" spc="0" normalizeH="0" baseline="0" noProof="0" dirty="0">
              <a:ln>
                <a:noFill/>
              </a:ln>
              <a:solidFill>
                <a:srgbClr val="0B075B"/>
              </a:solidFill>
              <a:effectLst/>
              <a:uLnTx/>
              <a:uFillTx/>
              <a:latin typeface="Arial"/>
              <a:ea typeface="+mn-ea"/>
              <a:cs typeface="Arial"/>
            </a:endParaRPr>
          </a:p>
        </p:txBody>
      </p:sp>
      <p:sp>
        <p:nvSpPr>
          <p:cNvPr id="19" name="TextBox 18">
            <a:extLst>
              <a:ext uri="{FF2B5EF4-FFF2-40B4-BE49-F238E27FC236}">
                <a16:creationId xmlns:a16="http://schemas.microsoft.com/office/drawing/2014/main" id="{694E037B-16E2-4547-AB42-EDFDBB044FB2}"/>
              </a:ext>
            </a:extLst>
          </p:cNvPr>
          <p:cNvSpPr txBox="1"/>
          <p:nvPr/>
        </p:nvSpPr>
        <p:spPr>
          <a:xfrm>
            <a:off x="838200" y="3556000"/>
            <a:ext cx="2413000" cy="533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50627A"/>
                </a:solidFill>
                <a:effectLst/>
                <a:uLnTx/>
                <a:uFillTx/>
                <a:latin typeface="Arial"/>
                <a:ea typeface="+mn-ea"/>
                <a:cs typeface="Arial"/>
              </a:rPr>
              <a:t>Process steps, rules, exceptions, users, outcomes, and pain points linked to technology.</a:t>
            </a:r>
            <a:endParaRPr kumimoji="0" lang="en-US" sz="950" b="0" i="0" u="none" strike="noStrike" kern="1200" cap="none" spc="0" normalizeH="0" baseline="0" noProof="0" dirty="0">
              <a:ln>
                <a:noFill/>
              </a:ln>
              <a:solidFill>
                <a:srgbClr val="50627A"/>
              </a:solidFill>
              <a:effectLst/>
              <a:uLnTx/>
              <a:uFillTx/>
              <a:latin typeface="Arial"/>
              <a:ea typeface="+mn-ea"/>
              <a:cs typeface="Arial"/>
            </a:endParaRPr>
          </a:p>
        </p:txBody>
      </p:sp>
      <p:sp>
        <p:nvSpPr>
          <p:cNvPr id="20" name="Rectangle 19">
            <a:extLst>
              <a:ext uri="{FF2B5EF4-FFF2-40B4-BE49-F238E27FC236}">
                <a16:creationId xmlns:a16="http://schemas.microsoft.com/office/drawing/2014/main" id="{C872576F-98C7-5643-88CE-DF537AF2FC9A}"/>
              </a:ext>
            </a:extLst>
          </p:cNvPr>
          <p:cNvSpPr/>
          <p:nvPr/>
        </p:nvSpPr>
        <p:spPr bwMode="auto">
          <a:xfrm>
            <a:off x="838200" y="4216400"/>
            <a:ext cx="2286000" cy="1905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1" name="TextBox 20">
            <a:extLst>
              <a:ext uri="{FF2B5EF4-FFF2-40B4-BE49-F238E27FC236}">
                <a16:creationId xmlns:a16="http://schemas.microsoft.com/office/drawing/2014/main" id="{1569E844-8FFF-AF46-8233-307B9FCD689F}"/>
              </a:ext>
            </a:extLst>
          </p:cNvPr>
          <p:cNvSpPr txBox="1"/>
          <p:nvPr/>
        </p:nvSpPr>
        <p:spPr>
          <a:xfrm>
            <a:off x="838200" y="4368800"/>
            <a:ext cx="24130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300" b="1" i="0" u="none" strike="noStrike" kern="1200" cap="none" spc="0" normalizeH="0" baseline="0" noProof="0">
                <a:ln>
                  <a:noFill/>
                </a:ln>
                <a:solidFill>
                  <a:srgbClr val="0B075B"/>
                </a:solidFill>
                <a:effectLst/>
                <a:uLnTx/>
                <a:uFillTx/>
                <a:latin typeface="Arial"/>
                <a:ea typeface="+mn-ea"/>
                <a:cs typeface="Arial"/>
              </a:rPr>
              <a:t>Decision trail</a:t>
            </a:r>
            <a:endParaRPr kumimoji="0" lang="en-US" sz="1300" b="1" i="0" u="none" strike="noStrike" kern="1200" cap="none" spc="0" normalizeH="0" baseline="0" noProof="0" dirty="0">
              <a:ln>
                <a:noFill/>
              </a:ln>
              <a:solidFill>
                <a:srgbClr val="0B075B"/>
              </a:solidFill>
              <a:effectLst/>
              <a:uLnTx/>
              <a:uFillTx/>
              <a:latin typeface="Arial"/>
              <a:ea typeface="+mn-ea"/>
              <a:cs typeface="Arial"/>
            </a:endParaRPr>
          </a:p>
        </p:txBody>
      </p:sp>
      <p:sp>
        <p:nvSpPr>
          <p:cNvPr id="22" name="TextBox 21">
            <a:extLst>
              <a:ext uri="{FF2B5EF4-FFF2-40B4-BE49-F238E27FC236}">
                <a16:creationId xmlns:a16="http://schemas.microsoft.com/office/drawing/2014/main" id="{643BB068-93C3-1640-884F-9B63BCFC62CB}"/>
              </a:ext>
            </a:extLst>
          </p:cNvPr>
          <p:cNvSpPr txBox="1"/>
          <p:nvPr/>
        </p:nvSpPr>
        <p:spPr>
          <a:xfrm>
            <a:off x="838200" y="4673600"/>
            <a:ext cx="2413000" cy="533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50627A"/>
                </a:solidFill>
                <a:effectLst/>
                <a:uLnTx/>
                <a:uFillTx/>
                <a:latin typeface="Arial"/>
                <a:ea typeface="+mn-ea"/>
                <a:cs typeface="Arial"/>
              </a:rPr>
              <a:t>Approved outcomes, architecture choices, open questions, and expert rationale with provenance.</a:t>
            </a:r>
            <a:endParaRPr kumimoji="0" lang="en-US" sz="950" b="0" i="0" u="none" strike="noStrike" kern="1200" cap="none" spc="0" normalizeH="0" baseline="0" noProof="0" dirty="0">
              <a:ln>
                <a:noFill/>
              </a:ln>
              <a:solidFill>
                <a:srgbClr val="50627A"/>
              </a:solidFill>
              <a:effectLst/>
              <a:uLnTx/>
              <a:uFillTx/>
              <a:latin typeface="Arial"/>
              <a:ea typeface="+mn-ea"/>
              <a:cs typeface="Arial"/>
            </a:endParaRPr>
          </a:p>
        </p:txBody>
      </p:sp>
      <p:sp>
        <p:nvSpPr>
          <p:cNvPr id="27" name="Rectangle 26">
            <a:extLst>
              <a:ext uri="{FF2B5EF4-FFF2-40B4-BE49-F238E27FC236}">
                <a16:creationId xmlns:a16="http://schemas.microsoft.com/office/drawing/2014/main" id="{20918DEE-229E-8E41-8AF7-7FB7B3D32783}"/>
              </a:ext>
            </a:extLst>
          </p:cNvPr>
          <p:cNvSpPr/>
          <p:nvPr/>
        </p:nvSpPr>
        <p:spPr bwMode="auto">
          <a:xfrm>
            <a:off x="3886200" y="1879600"/>
            <a:ext cx="3530600" cy="3390900"/>
          </a:xfrm>
          <a:prstGeom prst="rect">
            <a:avLst/>
          </a:prstGeom>
          <a:solidFill>
            <a:srgbClr val="F4F7F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Rectangle 27">
            <a:extLst>
              <a:ext uri="{FF2B5EF4-FFF2-40B4-BE49-F238E27FC236}">
                <a16:creationId xmlns:a16="http://schemas.microsoft.com/office/drawing/2014/main" id="{D6BB9E26-072C-E446-B512-0C0306D6CC12}"/>
              </a:ext>
            </a:extLst>
          </p:cNvPr>
          <p:cNvSpPr/>
          <p:nvPr/>
        </p:nvSpPr>
        <p:spPr bwMode="auto">
          <a:xfrm>
            <a:off x="3886200" y="1879600"/>
            <a:ext cx="3530600" cy="76200"/>
          </a:xfrm>
          <a:prstGeom prst="rect">
            <a:avLst/>
          </a:prstGeom>
          <a:solidFill>
            <a:srgbClr val="0B075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58A976DD-36C2-3F40-9EA0-DD856D5ABC5F}"/>
              </a:ext>
            </a:extLst>
          </p:cNvPr>
          <p:cNvSpPr txBox="1"/>
          <p:nvPr/>
        </p:nvSpPr>
        <p:spPr>
          <a:xfrm>
            <a:off x="4140200" y="2146300"/>
            <a:ext cx="30226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B075B"/>
                </a:solidFill>
                <a:effectLst/>
                <a:uLnTx/>
                <a:uFillTx/>
                <a:latin typeface="Arial"/>
                <a:ea typeface="+mn-ea"/>
                <a:cs typeface="Arial"/>
              </a:rPr>
              <a:t>AGENT-READY CONTEXT LAYER</a:t>
            </a:r>
            <a:endParaRPr kumimoji="0" lang="en-US" sz="1200" b="1" i="0" u="none" strike="noStrike" kern="1200" cap="none" spc="0" normalizeH="0" baseline="0" noProof="0" dirty="0">
              <a:ln>
                <a:noFill/>
              </a:ln>
              <a:solidFill>
                <a:srgbClr val="0B075B"/>
              </a:solidFill>
              <a:effectLst/>
              <a:uLnTx/>
              <a:uFillTx/>
              <a:latin typeface="Arial"/>
              <a:ea typeface="+mn-ea"/>
              <a:cs typeface="Arial"/>
            </a:endParaRPr>
          </a:p>
        </p:txBody>
      </p:sp>
      <p:sp>
        <p:nvSpPr>
          <p:cNvPr id="30" name="TextBox 29">
            <a:extLst>
              <a:ext uri="{FF2B5EF4-FFF2-40B4-BE49-F238E27FC236}">
                <a16:creationId xmlns:a16="http://schemas.microsoft.com/office/drawing/2014/main" id="{6F7653BB-BB96-0B47-8414-BCB0D08BEFC5}"/>
              </a:ext>
            </a:extLst>
          </p:cNvPr>
          <p:cNvSpPr txBox="1"/>
          <p:nvPr/>
        </p:nvSpPr>
        <p:spPr>
          <a:xfrm>
            <a:off x="4140200" y="2514600"/>
            <a:ext cx="3022600" cy="406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50627A"/>
                </a:solidFill>
                <a:effectLst/>
                <a:uLnTx/>
                <a:uFillTx/>
                <a:latin typeface="Arial"/>
                <a:ea typeface="+mn-ea"/>
                <a:cs typeface="Arial"/>
              </a:rPr>
              <a:t>Connect the evidence so an agent can traverse the work:</a:t>
            </a:r>
            <a:endParaRPr kumimoji="0" lang="en-US" sz="1000" b="0" i="0" u="none" strike="noStrike" kern="1200" cap="none" spc="0" normalizeH="0" baseline="0" noProof="0" dirty="0">
              <a:ln>
                <a:noFill/>
              </a:ln>
              <a:solidFill>
                <a:srgbClr val="50627A"/>
              </a:solidFill>
              <a:effectLst/>
              <a:uLnTx/>
              <a:uFillTx/>
              <a:latin typeface="Arial"/>
              <a:ea typeface="+mn-ea"/>
              <a:cs typeface="Arial"/>
            </a:endParaRPr>
          </a:p>
        </p:txBody>
      </p:sp>
      <p:sp>
        <p:nvSpPr>
          <p:cNvPr id="31" name="Rectangle 30">
            <a:extLst>
              <a:ext uri="{FF2B5EF4-FFF2-40B4-BE49-F238E27FC236}">
                <a16:creationId xmlns:a16="http://schemas.microsoft.com/office/drawing/2014/main" id="{3ECBD1C4-1F7A-584B-A289-20FA40363CCB}"/>
              </a:ext>
            </a:extLst>
          </p:cNvPr>
          <p:cNvSpPr/>
          <p:nvPr/>
        </p:nvSpPr>
        <p:spPr bwMode="auto">
          <a:xfrm>
            <a:off x="4368799" y="3098800"/>
            <a:ext cx="45719" cy="15748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Oval 31">
            <a:extLst>
              <a:ext uri="{FF2B5EF4-FFF2-40B4-BE49-F238E27FC236}">
                <a16:creationId xmlns:a16="http://schemas.microsoft.com/office/drawing/2014/main" id="{5070811F-7CFA-0B40-ADC1-4E1BB7A863AC}"/>
              </a:ext>
            </a:extLst>
          </p:cNvPr>
          <p:cNvSpPr/>
          <p:nvPr/>
        </p:nvSpPr>
        <p:spPr bwMode="auto">
          <a:xfrm>
            <a:off x="4279900" y="3035300"/>
            <a:ext cx="215900" cy="215900"/>
          </a:xfrm>
          <a:prstGeom prst="ellipse">
            <a:avLst/>
          </a:prstGeom>
          <a:solidFill>
            <a:srgbClr val="005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33" name="TextBox 32">
            <a:extLst>
              <a:ext uri="{FF2B5EF4-FFF2-40B4-BE49-F238E27FC236}">
                <a16:creationId xmlns:a16="http://schemas.microsoft.com/office/drawing/2014/main" id="{54ED0F86-4AB6-0346-9DBF-D7B75D135C7D}"/>
              </a:ext>
            </a:extLst>
          </p:cNvPr>
          <p:cNvSpPr txBox="1"/>
          <p:nvPr/>
        </p:nvSpPr>
        <p:spPr>
          <a:xfrm>
            <a:off x="4635500" y="2997200"/>
            <a:ext cx="1092200" cy="2413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PROCESS</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34" name="TextBox 33">
            <a:extLst>
              <a:ext uri="{FF2B5EF4-FFF2-40B4-BE49-F238E27FC236}">
                <a16:creationId xmlns:a16="http://schemas.microsoft.com/office/drawing/2014/main" id="{DCA66783-2F9B-3F40-BA3A-D8187E0FA4CE}"/>
              </a:ext>
            </a:extLst>
          </p:cNvPr>
          <p:cNvSpPr txBox="1"/>
          <p:nvPr/>
        </p:nvSpPr>
        <p:spPr>
          <a:xfrm>
            <a:off x="5727700" y="2997200"/>
            <a:ext cx="1371600" cy="2413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50627A"/>
                </a:solidFill>
                <a:effectLst/>
                <a:uLnTx/>
                <a:uFillTx/>
                <a:latin typeface="Arial"/>
                <a:ea typeface="+mn-ea"/>
                <a:cs typeface="Arial"/>
              </a:rPr>
              <a:t>what the business does</a:t>
            </a:r>
            <a:endParaRPr kumimoji="0" lang="en-US" sz="900" b="0" i="0" u="none" strike="noStrike" kern="1200" cap="none" spc="0" normalizeH="0" baseline="0" noProof="0" dirty="0">
              <a:ln>
                <a:noFill/>
              </a:ln>
              <a:solidFill>
                <a:srgbClr val="50627A"/>
              </a:solidFill>
              <a:effectLst/>
              <a:uLnTx/>
              <a:uFillTx/>
              <a:latin typeface="Arial"/>
              <a:ea typeface="+mn-ea"/>
              <a:cs typeface="Arial"/>
            </a:endParaRPr>
          </a:p>
        </p:txBody>
      </p:sp>
      <p:sp>
        <p:nvSpPr>
          <p:cNvPr id="35" name="Oval 34">
            <a:extLst>
              <a:ext uri="{FF2B5EF4-FFF2-40B4-BE49-F238E27FC236}">
                <a16:creationId xmlns:a16="http://schemas.microsoft.com/office/drawing/2014/main" id="{003FF44F-ABA8-1B45-A62B-2BC767A47250}"/>
              </a:ext>
            </a:extLst>
          </p:cNvPr>
          <p:cNvSpPr/>
          <p:nvPr/>
        </p:nvSpPr>
        <p:spPr bwMode="auto">
          <a:xfrm>
            <a:off x="4279900" y="3441700"/>
            <a:ext cx="215900" cy="215900"/>
          </a:xfrm>
          <a:prstGeom prst="ellipse">
            <a:avLst/>
          </a:prstGeom>
          <a:solidFill>
            <a:srgbClr val="005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36" name="TextBox 35">
            <a:extLst>
              <a:ext uri="{FF2B5EF4-FFF2-40B4-BE49-F238E27FC236}">
                <a16:creationId xmlns:a16="http://schemas.microsoft.com/office/drawing/2014/main" id="{6C63859A-13F8-434A-93E5-45EBA8532467}"/>
              </a:ext>
            </a:extLst>
          </p:cNvPr>
          <p:cNvSpPr txBox="1"/>
          <p:nvPr/>
        </p:nvSpPr>
        <p:spPr>
          <a:xfrm>
            <a:off x="4635500" y="3403600"/>
            <a:ext cx="1092200" cy="2413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RULE</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37" name="TextBox 36">
            <a:extLst>
              <a:ext uri="{FF2B5EF4-FFF2-40B4-BE49-F238E27FC236}">
                <a16:creationId xmlns:a16="http://schemas.microsoft.com/office/drawing/2014/main" id="{EA9D53E4-D0B9-3A42-830B-27CC795940FE}"/>
              </a:ext>
            </a:extLst>
          </p:cNvPr>
          <p:cNvSpPr txBox="1"/>
          <p:nvPr/>
        </p:nvSpPr>
        <p:spPr>
          <a:xfrm>
            <a:off x="5727700" y="3403600"/>
            <a:ext cx="1371600" cy="2413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50627A"/>
                </a:solidFill>
                <a:effectLst/>
                <a:uLnTx/>
                <a:uFillTx/>
                <a:latin typeface="Arial"/>
                <a:ea typeface="+mn-ea"/>
                <a:cs typeface="Arial"/>
              </a:rPr>
              <a:t>what must remain true</a:t>
            </a:r>
            <a:endParaRPr kumimoji="0" lang="en-US" sz="900" b="0" i="0" u="none" strike="noStrike" kern="1200" cap="none" spc="0" normalizeH="0" baseline="0" noProof="0" dirty="0">
              <a:ln>
                <a:noFill/>
              </a:ln>
              <a:solidFill>
                <a:srgbClr val="50627A"/>
              </a:solidFill>
              <a:effectLst/>
              <a:uLnTx/>
              <a:uFillTx/>
              <a:latin typeface="Arial"/>
              <a:ea typeface="+mn-ea"/>
              <a:cs typeface="Arial"/>
            </a:endParaRPr>
          </a:p>
        </p:txBody>
      </p:sp>
      <p:sp>
        <p:nvSpPr>
          <p:cNvPr id="38" name="Oval 37">
            <a:extLst>
              <a:ext uri="{FF2B5EF4-FFF2-40B4-BE49-F238E27FC236}">
                <a16:creationId xmlns:a16="http://schemas.microsoft.com/office/drawing/2014/main" id="{EABC54A2-15F0-F34A-BD90-7050712CED75}"/>
              </a:ext>
            </a:extLst>
          </p:cNvPr>
          <p:cNvSpPr/>
          <p:nvPr/>
        </p:nvSpPr>
        <p:spPr bwMode="auto">
          <a:xfrm>
            <a:off x="4279900" y="3848100"/>
            <a:ext cx="215900" cy="215900"/>
          </a:xfrm>
          <a:prstGeom prst="ellipse">
            <a:avLst/>
          </a:prstGeom>
          <a:solidFill>
            <a:srgbClr val="005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39" name="TextBox 38">
            <a:extLst>
              <a:ext uri="{FF2B5EF4-FFF2-40B4-BE49-F238E27FC236}">
                <a16:creationId xmlns:a16="http://schemas.microsoft.com/office/drawing/2014/main" id="{CA969A6B-8F1D-6F4C-B174-5D85CB5FB956}"/>
              </a:ext>
            </a:extLst>
          </p:cNvPr>
          <p:cNvSpPr txBox="1"/>
          <p:nvPr/>
        </p:nvSpPr>
        <p:spPr>
          <a:xfrm>
            <a:off x="4635500" y="3810000"/>
            <a:ext cx="1092200" cy="2413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COMPONENT</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40" name="TextBox 39">
            <a:extLst>
              <a:ext uri="{FF2B5EF4-FFF2-40B4-BE49-F238E27FC236}">
                <a16:creationId xmlns:a16="http://schemas.microsoft.com/office/drawing/2014/main" id="{96C2C5E1-8907-FC4B-8634-A342D8D53A9F}"/>
              </a:ext>
            </a:extLst>
          </p:cNvPr>
          <p:cNvSpPr txBox="1"/>
          <p:nvPr/>
        </p:nvSpPr>
        <p:spPr>
          <a:xfrm>
            <a:off x="5727700" y="3810000"/>
            <a:ext cx="1371600" cy="2413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50627A"/>
                </a:solidFill>
                <a:effectLst/>
                <a:uLnTx/>
                <a:uFillTx/>
                <a:latin typeface="Arial"/>
                <a:ea typeface="+mn-ea"/>
                <a:cs typeface="Arial"/>
              </a:rPr>
              <a:t>where behavior lives</a:t>
            </a:r>
            <a:endParaRPr kumimoji="0" lang="en-US" sz="900" b="0" i="0" u="none" strike="noStrike" kern="1200" cap="none" spc="0" normalizeH="0" baseline="0" noProof="0" dirty="0">
              <a:ln>
                <a:noFill/>
              </a:ln>
              <a:solidFill>
                <a:srgbClr val="50627A"/>
              </a:solidFill>
              <a:effectLst/>
              <a:uLnTx/>
              <a:uFillTx/>
              <a:latin typeface="Arial"/>
              <a:ea typeface="+mn-ea"/>
              <a:cs typeface="Arial"/>
            </a:endParaRPr>
          </a:p>
        </p:txBody>
      </p:sp>
      <p:sp>
        <p:nvSpPr>
          <p:cNvPr id="58" name="Oval 57">
            <a:extLst>
              <a:ext uri="{FF2B5EF4-FFF2-40B4-BE49-F238E27FC236}">
                <a16:creationId xmlns:a16="http://schemas.microsoft.com/office/drawing/2014/main" id="{0B63C7B3-2EE6-5649-AEB9-C1C75D219DAF}"/>
              </a:ext>
            </a:extLst>
          </p:cNvPr>
          <p:cNvSpPr/>
          <p:nvPr/>
        </p:nvSpPr>
        <p:spPr bwMode="auto">
          <a:xfrm>
            <a:off x="4279900" y="4254500"/>
            <a:ext cx="215900" cy="215900"/>
          </a:xfrm>
          <a:prstGeom prst="ellipse">
            <a:avLst/>
          </a:prstGeom>
          <a:solidFill>
            <a:srgbClr val="F500C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59" name="TextBox 58">
            <a:extLst>
              <a:ext uri="{FF2B5EF4-FFF2-40B4-BE49-F238E27FC236}">
                <a16:creationId xmlns:a16="http://schemas.microsoft.com/office/drawing/2014/main" id="{05E7085B-CFCB-C74D-9117-CF56A3F09865}"/>
              </a:ext>
            </a:extLst>
          </p:cNvPr>
          <p:cNvSpPr txBox="1"/>
          <p:nvPr/>
        </p:nvSpPr>
        <p:spPr>
          <a:xfrm>
            <a:off x="4635500" y="4216400"/>
            <a:ext cx="1092200" cy="2413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REQUIREMENT</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60" name="TextBox 59">
            <a:extLst>
              <a:ext uri="{FF2B5EF4-FFF2-40B4-BE49-F238E27FC236}">
                <a16:creationId xmlns:a16="http://schemas.microsoft.com/office/drawing/2014/main" id="{E015CF4A-C9E3-9A47-8FEE-9C24653EF5A9}"/>
              </a:ext>
            </a:extLst>
          </p:cNvPr>
          <p:cNvSpPr txBox="1"/>
          <p:nvPr/>
        </p:nvSpPr>
        <p:spPr>
          <a:xfrm>
            <a:off x="5727700" y="4216400"/>
            <a:ext cx="1371600" cy="2413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50627A"/>
                </a:solidFill>
                <a:effectLst/>
                <a:uLnTx/>
                <a:uFillTx/>
                <a:latin typeface="Arial"/>
                <a:ea typeface="+mn-ea"/>
                <a:cs typeface="Arial"/>
              </a:rPr>
              <a:t>what must change</a:t>
            </a:r>
            <a:endParaRPr kumimoji="0" lang="en-US" sz="900" b="0" i="0" u="none" strike="noStrike" kern="1200" cap="none" spc="0" normalizeH="0" baseline="0" noProof="0" dirty="0">
              <a:ln>
                <a:noFill/>
              </a:ln>
              <a:solidFill>
                <a:srgbClr val="50627A"/>
              </a:solidFill>
              <a:effectLst/>
              <a:uLnTx/>
              <a:uFillTx/>
              <a:latin typeface="Arial"/>
              <a:ea typeface="+mn-ea"/>
              <a:cs typeface="Arial"/>
            </a:endParaRPr>
          </a:p>
        </p:txBody>
      </p:sp>
      <p:sp>
        <p:nvSpPr>
          <p:cNvPr id="61" name="Oval 60">
            <a:extLst>
              <a:ext uri="{FF2B5EF4-FFF2-40B4-BE49-F238E27FC236}">
                <a16:creationId xmlns:a16="http://schemas.microsoft.com/office/drawing/2014/main" id="{868D3DEE-60B1-EE48-919A-83F35FCDFD4F}"/>
              </a:ext>
            </a:extLst>
          </p:cNvPr>
          <p:cNvSpPr/>
          <p:nvPr/>
        </p:nvSpPr>
        <p:spPr bwMode="auto">
          <a:xfrm>
            <a:off x="4279900" y="4660900"/>
            <a:ext cx="215900" cy="215900"/>
          </a:xfrm>
          <a:prstGeom prst="ellipse">
            <a:avLst/>
          </a:prstGeom>
          <a:solidFill>
            <a:srgbClr val="005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62" name="TextBox 61">
            <a:extLst>
              <a:ext uri="{FF2B5EF4-FFF2-40B4-BE49-F238E27FC236}">
                <a16:creationId xmlns:a16="http://schemas.microsoft.com/office/drawing/2014/main" id="{17EB73C5-DB1B-6A40-8C1E-331046F4A595}"/>
              </a:ext>
            </a:extLst>
          </p:cNvPr>
          <p:cNvSpPr txBox="1"/>
          <p:nvPr/>
        </p:nvSpPr>
        <p:spPr>
          <a:xfrm>
            <a:off x="4635500" y="4622800"/>
            <a:ext cx="1092200" cy="2413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TEST</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63" name="TextBox 62">
            <a:extLst>
              <a:ext uri="{FF2B5EF4-FFF2-40B4-BE49-F238E27FC236}">
                <a16:creationId xmlns:a16="http://schemas.microsoft.com/office/drawing/2014/main" id="{31CF644E-E13D-8141-B129-FA7E9EC80E96}"/>
              </a:ext>
            </a:extLst>
          </p:cNvPr>
          <p:cNvSpPr txBox="1"/>
          <p:nvPr/>
        </p:nvSpPr>
        <p:spPr>
          <a:xfrm>
            <a:off x="5727700" y="4622800"/>
            <a:ext cx="1371600" cy="2413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50627A"/>
                </a:solidFill>
                <a:effectLst/>
                <a:uLnTx/>
                <a:uFillTx/>
                <a:latin typeface="Arial"/>
                <a:ea typeface="+mn-ea"/>
                <a:cs typeface="Arial"/>
              </a:rPr>
              <a:t>how correctness is proven</a:t>
            </a:r>
            <a:endParaRPr kumimoji="0" lang="en-US" sz="900" b="0" i="0" u="none" strike="noStrike" kern="1200" cap="none" spc="0" normalizeH="0" baseline="0" noProof="0" dirty="0">
              <a:ln>
                <a:noFill/>
              </a:ln>
              <a:solidFill>
                <a:srgbClr val="50627A"/>
              </a:solidFill>
              <a:effectLst/>
              <a:uLnTx/>
              <a:uFillTx/>
              <a:latin typeface="Arial"/>
              <a:ea typeface="+mn-ea"/>
              <a:cs typeface="Arial"/>
            </a:endParaRPr>
          </a:p>
        </p:txBody>
      </p:sp>
      <p:sp>
        <p:nvSpPr>
          <p:cNvPr id="64" name="TextBox 63">
            <a:extLst>
              <a:ext uri="{FF2B5EF4-FFF2-40B4-BE49-F238E27FC236}">
                <a16:creationId xmlns:a16="http://schemas.microsoft.com/office/drawing/2014/main" id="{13F9C39D-784E-2C4A-8D6E-D571BEEC0E64}"/>
              </a:ext>
            </a:extLst>
          </p:cNvPr>
          <p:cNvSpPr txBox="1"/>
          <p:nvPr/>
        </p:nvSpPr>
        <p:spPr>
          <a:xfrm>
            <a:off x="4140200" y="4876800"/>
            <a:ext cx="3022600" cy="2794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80" b="1" i="0" u="none" strike="noStrike" kern="1200" cap="none" spc="0" normalizeH="0" baseline="0" noProof="0">
                <a:ln>
                  <a:noFill/>
                </a:ln>
                <a:solidFill>
                  <a:srgbClr val="0B075B"/>
                </a:solidFill>
                <a:effectLst/>
                <a:uLnTx/>
                <a:uFillTx/>
                <a:latin typeface="Arial"/>
                <a:ea typeface="+mn-ea"/>
                <a:cs typeface="Arial"/>
              </a:rPr>
              <a:t>Bounded retrieval • source links • versions • approvals • permissions • uncertainty</a:t>
            </a:r>
            <a:endParaRPr kumimoji="0" lang="en-US" sz="880" b="1" i="0" u="none" strike="noStrike" kern="1200" cap="none" spc="0" normalizeH="0" baseline="0" noProof="0" dirty="0">
              <a:ln>
                <a:noFill/>
              </a:ln>
              <a:solidFill>
                <a:srgbClr val="0B075B"/>
              </a:solidFill>
              <a:effectLst/>
              <a:uLnTx/>
              <a:uFillTx/>
              <a:latin typeface="Arial"/>
              <a:ea typeface="+mn-ea"/>
              <a:cs typeface="Arial"/>
            </a:endParaRPr>
          </a:p>
        </p:txBody>
      </p:sp>
      <p:sp>
        <p:nvSpPr>
          <p:cNvPr id="66" name="TextBox 65">
            <a:extLst>
              <a:ext uri="{FF2B5EF4-FFF2-40B4-BE49-F238E27FC236}">
                <a16:creationId xmlns:a16="http://schemas.microsoft.com/office/drawing/2014/main" id="{12F8F7EF-2081-4C4F-8B95-C0BB2A7D7D6B}"/>
              </a:ext>
            </a:extLst>
          </p:cNvPr>
          <p:cNvSpPr txBox="1"/>
          <p:nvPr/>
        </p:nvSpPr>
        <p:spPr>
          <a:xfrm>
            <a:off x="8178800" y="1803400"/>
            <a:ext cx="3352800" cy="228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57FF"/>
                </a:solidFill>
                <a:effectLst/>
                <a:uLnTx/>
                <a:uFillTx/>
                <a:latin typeface="Arial"/>
                <a:ea typeface="+mn-ea"/>
                <a:cs typeface="Arial"/>
              </a:rPr>
              <a:t>BUILD WORK ACCELERATED</a:t>
            </a:r>
            <a:endParaRPr kumimoji="0" lang="en-US" sz="1000" b="1" i="0" u="none" strike="noStrike" kern="1200" cap="none" spc="0" normalizeH="0" baseline="0" noProof="0" dirty="0">
              <a:ln>
                <a:noFill/>
              </a:ln>
              <a:solidFill>
                <a:srgbClr val="0057FF"/>
              </a:solidFill>
              <a:effectLst/>
              <a:uLnTx/>
              <a:uFillTx/>
              <a:latin typeface="Arial"/>
              <a:ea typeface="+mn-ea"/>
              <a:cs typeface="Arial"/>
            </a:endParaRPr>
          </a:p>
        </p:txBody>
      </p:sp>
      <p:sp>
        <p:nvSpPr>
          <p:cNvPr id="67" name="Oval 66">
            <a:extLst>
              <a:ext uri="{FF2B5EF4-FFF2-40B4-BE49-F238E27FC236}">
                <a16:creationId xmlns:a16="http://schemas.microsoft.com/office/drawing/2014/main" id="{044F7533-DDF7-9340-8608-B7094897EB52}"/>
              </a:ext>
            </a:extLst>
          </p:cNvPr>
          <p:cNvSpPr/>
          <p:nvPr/>
        </p:nvSpPr>
        <p:spPr bwMode="auto">
          <a:xfrm>
            <a:off x="8178800" y="2197100"/>
            <a:ext cx="304800" cy="304800"/>
          </a:xfrm>
          <a:prstGeom prst="ellipse">
            <a:avLst/>
          </a:prstGeom>
          <a:solidFill>
            <a:srgbClr val="005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1</a:t>
            </a: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68" name="TextBox 67">
            <a:extLst>
              <a:ext uri="{FF2B5EF4-FFF2-40B4-BE49-F238E27FC236}">
                <a16:creationId xmlns:a16="http://schemas.microsoft.com/office/drawing/2014/main" id="{0140ADA7-4CBD-4548-9BB8-EDCA7E16FD7B}"/>
              </a:ext>
            </a:extLst>
          </p:cNvPr>
          <p:cNvSpPr txBox="1"/>
          <p:nvPr/>
        </p:nvSpPr>
        <p:spPr>
          <a:xfrm>
            <a:off x="8636000" y="2171700"/>
            <a:ext cx="1397000" cy="2032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B075B"/>
                </a:solidFill>
                <a:effectLst/>
                <a:uLnTx/>
                <a:uFillTx/>
                <a:latin typeface="Arial"/>
                <a:ea typeface="+mn-ea"/>
                <a:cs typeface="Arial"/>
              </a:rPr>
              <a:t>PROTOTYPE</a:t>
            </a:r>
            <a:endParaRPr kumimoji="0" lang="en-US" sz="1050" b="1" i="0" u="none" strike="noStrike" kern="1200" cap="none" spc="0" normalizeH="0" baseline="0" noProof="0" dirty="0">
              <a:ln>
                <a:noFill/>
              </a:ln>
              <a:solidFill>
                <a:srgbClr val="0B075B"/>
              </a:solidFill>
              <a:effectLst/>
              <a:uLnTx/>
              <a:uFillTx/>
              <a:latin typeface="Arial"/>
              <a:ea typeface="+mn-ea"/>
              <a:cs typeface="Arial"/>
            </a:endParaRPr>
          </a:p>
        </p:txBody>
      </p:sp>
      <p:sp>
        <p:nvSpPr>
          <p:cNvPr id="69" name="TextBox 68">
            <a:extLst>
              <a:ext uri="{FF2B5EF4-FFF2-40B4-BE49-F238E27FC236}">
                <a16:creationId xmlns:a16="http://schemas.microsoft.com/office/drawing/2014/main" id="{A9288BB2-C989-DB4A-A6F8-B9A227ADAE24}"/>
              </a:ext>
            </a:extLst>
          </p:cNvPr>
          <p:cNvSpPr txBox="1"/>
          <p:nvPr/>
        </p:nvSpPr>
        <p:spPr>
          <a:xfrm>
            <a:off x="8636000" y="2413000"/>
            <a:ext cx="2895600" cy="355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30" b="0" i="0" u="none" strike="noStrike" kern="1200" cap="none" spc="0" normalizeH="0" baseline="0" noProof="0">
                <a:ln>
                  <a:noFill/>
                </a:ln>
                <a:solidFill>
                  <a:srgbClr val="50627A"/>
                </a:solidFill>
                <a:effectLst/>
                <a:uLnTx/>
                <a:uFillTx/>
                <a:latin typeface="Arial"/>
                <a:ea typeface="+mn-ea"/>
                <a:cs typeface="Arial"/>
              </a:rPr>
              <a:t>Generate options grounded in current behavior, constraints, and target outcomes.</a:t>
            </a:r>
            <a:endParaRPr kumimoji="0" lang="en-US" sz="930" b="0" i="0" u="none" strike="noStrike" kern="1200" cap="none" spc="0" normalizeH="0" baseline="0" noProof="0" dirty="0">
              <a:ln>
                <a:noFill/>
              </a:ln>
              <a:solidFill>
                <a:srgbClr val="50627A"/>
              </a:solidFill>
              <a:effectLst/>
              <a:uLnTx/>
              <a:uFillTx/>
              <a:latin typeface="Arial"/>
              <a:ea typeface="+mn-ea"/>
              <a:cs typeface="Arial"/>
            </a:endParaRPr>
          </a:p>
        </p:txBody>
      </p:sp>
      <p:sp>
        <p:nvSpPr>
          <p:cNvPr id="70" name="TextBox 69">
            <a:extLst>
              <a:ext uri="{FF2B5EF4-FFF2-40B4-BE49-F238E27FC236}">
                <a16:creationId xmlns:a16="http://schemas.microsoft.com/office/drawing/2014/main" id="{178B71AE-974F-5741-B555-55207423BD97}"/>
              </a:ext>
            </a:extLst>
          </p:cNvPr>
          <p:cNvSpPr txBox="1"/>
          <p:nvPr/>
        </p:nvSpPr>
        <p:spPr>
          <a:xfrm>
            <a:off x="8636000" y="2781300"/>
            <a:ext cx="2895600" cy="177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30" b="1" i="0" u="none" strike="noStrike" kern="1200" cap="none" spc="0" normalizeH="0" baseline="0" noProof="0">
                <a:ln>
                  <a:noFill/>
                </a:ln>
                <a:solidFill>
                  <a:srgbClr val="0057FF"/>
                </a:solidFill>
                <a:effectLst/>
                <a:uLnTx/>
                <a:uFillTx/>
                <a:latin typeface="Arial"/>
                <a:ea typeface="+mn-ea"/>
                <a:cs typeface="Arial"/>
              </a:rPr>
              <a:t>Faster user feedback</a:t>
            </a:r>
            <a:endParaRPr kumimoji="0" lang="en-US" sz="930" b="1" i="0" u="none" strike="noStrike" kern="1200" cap="none" spc="0" normalizeH="0" baseline="0" noProof="0" dirty="0">
              <a:ln>
                <a:noFill/>
              </a:ln>
              <a:solidFill>
                <a:srgbClr val="0057FF"/>
              </a:solidFill>
              <a:effectLst/>
              <a:uLnTx/>
              <a:uFillTx/>
              <a:latin typeface="Arial"/>
              <a:ea typeface="+mn-ea"/>
              <a:cs typeface="Arial"/>
            </a:endParaRPr>
          </a:p>
        </p:txBody>
      </p:sp>
      <p:sp>
        <p:nvSpPr>
          <p:cNvPr id="71" name="Rectangle 70">
            <a:extLst>
              <a:ext uri="{FF2B5EF4-FFF2-40B4-BE49-F238E27FC236}">
                <a16:creationId xmlns:a16="http://schemas.microsoft.com/office/drawing/2014/main" id="{D34EC86D-0C1C-D24F-84E7-B0A1AA541DCD}"/>
              </a:ext>
            </a:extLst>
          </p:cNvPr>
          <p:cNvSpPr/>
          <p:nvPr/>
        </p:nvSpPr>
        <p:spPr bwMode="auto">
          <a:xfrm>
            <a:off x="8178800" y="2971800"/>
            <a:ext cx="3352800" cy="1524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72" name="Oval 71">
            <a:extLst>
              <a:ext uri="{FF2B5EF4-FFF2-40B4-BE49-F238E27FC236}">
                <a16:creationId xmlns:a16="http://schemas.microsoft.com/office/drawing/2014/main" id="{4DDF53A1-4272-AE41-B5E4-4029637789BE}"/>
              </a:ext>
            </a:extLst>
          </p:cNvPr>
          <p:cNvSpPr/>
          <p:nvPr/>
        </p:nvSpPr>
        <p:spPr bwMode="auto">
          <a:xfrm>
            <a:off x="8178800" y="3009900"/>
            <a:ext cx="304800" cy="304800"/>
          </a:xfrm>
          <a:prstGeom prst="ellipse">
            <a:avLst/>
          </a:prstGeom>
          <a:solidFill>
            <a:srgbClr val="005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2</a:t>
            </a: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73" name="TextBox 72">
            <a:extLst>
              <a:ext uri="{FF2B5EF4-FFF2-40B4-BE49-F238E27FC236}">
                <a16:creationId xmlns:a16="http://schemas.microsoft.com/office/drawing/2014/main" id="{CE63C1DC-C94D-BB49-8816-0E9C5A7B11D1}"/>
              </a:ext>
            </a:extLst>
          </p:cNvPr>
          <p:cNvSpPr txBox="1"/>
          <p:nvPr/>
        </p:nvSpPr>
        <p:spPr>
          <a:xfrm>
            <a:off x="8636000" y="2984500"/>
            <a:ext cx="1397000" cy="2032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B075B"/>
                </a:solidFill>
                <a:effectLst/>
                <a:uLnTx/>
                <a:uFillTx/>
                <a:latin typeface="Arial"/>
                <a:ea typeface="+mn-ea"/>
                <a:cs typeface="Arial"/>
              </a:rPr>
              <a:t>REQUIREMENTS</a:t>
            </a:r>
            <a:endParaRPr kumimoji="0" lang="en-US" sz="1050" b="1" i="0" u="none" strike="noStrike" kern="1200" cap="none" spc="0" normalizeH="0" baseline="0" noProof="0" dirty="0">
              <a:ln>
                <a:noFill/>
              </a:ln>
              <a:solidFill>
                <a:srgbClr val="0B075B"/>
              </a:solidFill>
              <a:effectLst/>
              <a:uLnTx/>
              <a:uFillTx/>
              <a:latin typeface="Arial"/>
              <a:ea typeface="+mn-ea"/>
              <a:cs typeface="Arial"/>
            </a:endParaRPr>
          </a:p>
        </p:txBody>
      </p:sp>
      <p:sp>
        <p:nvSpPr>
          <p:cNvPr id="74" name="TextBox 73">
            <a:extLst>
              <a:ext uri="{FF2B5EF4-FFF2-40B4-BE49-F238E27FC236}">
                <a16:creationId xmlns:a16="http://schemas.microsoft.com/office/drawing/2014/main" id="{45D9C434-D239-4C4C-B504-88008E09728C}"/>
              </a:ext>
            </a:extLst>
          </p:cNvPr>
          <p:cNvSpPr txBox="1"/>
          <p:nvPr/>
        </p:nvSpPr>
        <p:spPr>
          <a:xfrm>
            <a:off x="8636000" y="3225800"/>
            <a:ext cx="2895600" cy="355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30" b="0" i="0" u="none" strike="noStrike" kern="1200" cap="none" spc="0" normalizeH="0" baseline="0" noProof="0">
                <a:ln>
                  <a:noFill/>
                </a:ln>
                <a:solidFill>
                  <a:srgbClr val="50627A"/>
                </a:solidFill>
                <a:effectLst/>
                <a:uLnTx/>
                <a:uFillTx/>
                <a:latin typeface="Arial"/>
                <a:ea typeface="+mn-ea"/>
                <a:cs typeface="Arial"/>
              </a:rPr>
              <a:t>Draft traceable stories, acceptance criteria, and edge cases from known evidence.</a:t>
            </a:r>
            <a:endParaRPr kumimoji="0" lang="en-US" sz="930" b="0" i="0" u="none" strike="noStrike" kern="1200" cap="none" spc="0" normalizeH="0" baseline="0" noProof="0" dirty="0">
              <a:ln>
                <a:noFill/>
              </a:ln>
              <a:solidFill>
                <a:srgbClr val="50627A"/>
              </a:solidFill>
              <a:effectLst/>
              <a:uLnTx/>
              <a:uFillTx/>
              <a:latin typeface="Arial"/>
              <a:ea typeface="+mn-ea"/>
              <a:cs typeface="Arial"/>
            </a:endParaRPr>
          </a:p>
        </p:txBody>
      </p:sp>
      <p:sp>
        <p:nvSpPr>
          <p:cNvPr id="75" name="TextBox 74">
            <a:extLst>
              <a:ext uri="{FF2B5EF4-FFF2-40B4-BE49-F238E27FC236}">
                <a16:creationId xmlns:a16="http://schemas.microsoft.com/office/drawing/2014/main" id="{DBD2D227-A137-A849-B91A-E747BC2E1B3A}"/>
              </a:ext>
            </a:extLst>
          </p:cNvPr>
          <p:cNvSpPr txBox="1"/>
          <p:nvPr/>
        </p:nvSpPr>
        <p:spPr>
          <a:xfrm>
            <a:off x="8636000" y="3594100"/>
            <a:ext cx="2895600" cy="177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30" b="1" i="0" u="none" strike="noStrike" kern="1200" cap="none" spc="0" normalizeH="0" baseline="0" noProof="0">
                <a:ln>
                  <a:noFill/>
                </a:ln>
                <a:solidFill>
                  <a:srgbClr val="0057FF"/>
                </a:solidFill>
                <a:effectLst/>
                <a:uLnTx/>
                <a:uFillTx/>
                <a:latin typeface="Arial"/>
                <a:ea typeface="+mn-ea"/>
                <a:cs typeface="Arial"/>
              </a:rPr>
              <a:t>Less rediscovery</a:t>
            </a:r>
            <a:endParaRPr kumimoji="0" lang="en-US" sz="930" b="1" i="0" u="none" strike="noStrike" kern="1200" cap="none" spc="0" normalizeH="0" baseline="0" noProof="0" dirty="0">
              <a:ln>
                <a:noFill/>
              </a:ln>
              <a:solidFill>
                <a:srgbClr val="0057FF"/>
              </a:solidFill>
              <a:effectLst/>
              <a:uLnTx/>
              <a:uFillTx/>
              <a:latin typeface="Arial"/>
              <a:ea typeface="+mn-ea"/>
              <a:cs typeface="Arial"/>
            </a:endParaRPr>
          </a:p>
        </p:txBody>
      </p:sp>
      <p:sp>
        <p:nvSpPr>
          <p:cNvPr id="76" name="Rectangle 75">
            <a:extLst>
              <a:ext uri="{FF2B5EF4-FFF2-40B4-BE49-F238E27FC236}">
                <a16:creationId xmlns:a16="http://schemas.microsoft.com/office/drawing/2014/main" id="{D4FD9D3D-7AEE-6543-8ABE-5A39BF41F046}"/>
              </a:ext>
            </a:extLst>
          </p:cNvPr>
          <p:cNvSpPr/>
          <p:nvPr/>
        </p:nvSpPr>
        <p:spPr bwMode="auto">
          <a:xfrm>
            <a:off x="8178800" y="3784600"/>
            <a:ext cx="3352800" cy="1524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77" name="Oval 76">
            <a:extLst>
              <a:ext uri="{FF2B5EF4-FFF2-40B4-BE49-F238E27FC236}">
                <a16:creationId xmlns:a16="http://schemas.microsoft.com/office/drawing/2014/main" id="{317AC63F-13D1-F848-A038-B523DEF8C051}"/>
              </a:ext>
            </a:extLst>
          </p:cNvPr>
          <p:cNvSpPr/>
          <p:nvPr/>
        </p:nvSpPr>
        <p:spPr bwMode="auto">
          <a:xfrm>
            <a:off x="8178800" y="3822700"/>
            <a:ext cx="304800" cy="304800"/>
          </a:xfrm>
          <a:prstGeom prst="ellipse">
            <a:avLst/>
          </a:prstGeom>
          <a:solidFill>
            <a:srgbClr val="005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3</a:t>
            </a: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78" name="TextBox 77">
            <a:extLst>
              <a:ext uri="{FF2B5EF4-FFF2-40B4-BE49-F238E27FC236}">
                <a16:creationId xmlns:a16="http://schemas.microsoft.com/office/drawing/2014/main" id="{406B7576-0940-CD47-8BFC-2090A571D6DA}"/>
              </a:ext>
            </a:extLst>
          </p:cNvPr>
          <p:cNvSpPr txBox="1"/>
          <p:nvPr/>
        </p:nvSpPr>
        <p:spPr>
          <a:xfrm>
            <a:off x="8636000" y="3797300"/>
            <a:ext cx="1397000" cy="2032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B075B"/>
                </a:solidFill>
                <a:effectLst/>
                <a:uLnTx/>
                <a:uFillTx/>
                <a:latin typeface="Arial"/>
                <a:ea typeface="+mn-ea"/>
                <a:cs typeface="Arial"/>
              </a:rPr>
              <a:t>IMPLEMENTATION</a:t>
            </a:r>
            <a:endParaRPr kumimoji="0" lang="en-US" sz="1050" b="1" i="0" u="none" strike="noStrike" kern="1200" cap="none" spc="0" normalizeH="0" baseline="0" noProof="0" dirty="0">
              <a:ln>
                <a:noFill/>
              </a:ln>
              <a:solidFill>
                <a:srgbClr val="0B075B"/>
              </a:solidFill>
              <a:effectLst/>
              <a:uLnTx/>
              <a:uFillTx/>
              <a:latin typeface="Arial"/>
              <a:ea typeface="+mn-ea"/>
              <a:cs typeface="Arial"/>
            </a:endParaRPr>
          </a:p>
        </p:txBody>
      </p:sp>
      <p:sp>
        <p:nvSpPr>
          <p:cNvPr id="79" name="TextBox 78">
            <a:extLst>
              <a:ext uri="{FF2B5EF4-FFF2-40B4-BE49-F238E27FC236}">
                <a16:creationId xmlns:a16="http://schemas.microsoft.com/office/drawing/2014/main" id="{34E24171-F186-4544-A19D-62C7C9223A98}"/>
              </a:ext>
            </a:extLst>
          </p:cNvPr>
          <p:cNvSpPr txBox="1"/>
          <p:nvPr/>
        </p:nvSpPr>
        <p:spPr>
          <a:xfrm>
            <a:off x="8636000" y="4038600"/>
            <a:ext cx="2895600" cy="355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30" b="0" i="0" u="none" strike="noStrike" kern="1200" cap="none" spc="0" normalizeH="0" baseline="0" noProof="0">
                <a:ln>
                  <a:noFill/>
                </a:ln>
                <a:solidFill>
                  <a:srgbClr val="50627A"/>
                </a:solidFill>
                <a:effectLst/>
                <a:uLnTx/>
                <a:uFillTx/>
                <a:latin typeface="Arial"/>
                <a:ea typeface="+mn-ea"/>
                <a:cs typeface="Arial"/>
              </a:rPr>
              <a:t>Provide teams and agents the relevant rules, dependencies, and design decisions.</a:t>
            </a:r>
            <a:endParaRPr kumimoji="0" lang="en-US" sz="930" b="0" i="0" u="none" strike="noStrike" kern="1200" cap="none" spc="0" normalizeH="0" baseline="0" noProof="0" dirty="0">
              <a:ln>
                <a:noFill/>
              </a:ln>
              <a:solidFill>
                <a:srgbClr val="50627A"/>
              </a:solidFill>
              <a:effectLst/>
              <a:uLnTx/>
              <a:uFillTx/>
              <a:latin typeface="Arial"/>
              <a:ea typeface="+mn-ea"/>
              <a:cs typeface="Arial"/>
            </a:endParaRPr>
          </a:p>
        </p:txBody>
      </p:sp>
      <p:sp>
        <p:nvSpPr>
          <p:cNvPr id="80" name="TextBox 79">
            <a:extLst>
              <a:ext uri="{FF2B5EF4-FFF2-40B4-BE49-F238E27FC236}">
                <a16:creationId xmlns:a16="http://schemas.microsoft.com/office/drawing/2014/main" id="{B07FA23A-9734-C041-AA7C-00219B6613E7}"/>
              </a:ext>
            </a:extLst>
          </p:cNvPr>
          <p:cNvSpPr txBox="1"/>
          <p:nvPr/>
        </p:nvSpPr>
        <p:spPr>
          <a:xfrm>
            <a:off x="8636000" y="4406900"/>
            <a:ext cx="2895600" cy="177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30" b="1" i="0" u="none" strike="noStrike" kern="1200" cap="none" spc="0" normalizeH="0" baseline="0" noProof="0">
                <a:ln>
                  <a:noFill/>
                </a:ln>
                <a:solidFill>
                  <a:srgbClr val="0057FF"/>
                </a:solidFill>
                <a:effectLst/>
                <a:uLnTx/>
                <a:uFillTx/>
                <a:latin typeface="Arial"/>
                <a:ea typeface="+mn-ea"/>
                <a:cs typeface="Arial"/>
              </a:rPr>
              <a:t>Higher first-pass relevance</a:t>
            </a:r>
            <a:endParaRPr kumimoji="0" lang="en-US" sz="930" b="1" i="0" u="none" strike="noStrike" kern="1200" cap="none" spc="0" normalizeH="0" baseline="0" noProof="0" dirty="0">
              <a:ln>
                <a:noFill/>
              </a:ln>
              <a:solidFill>
                <a:srgbClr val="0057FF"/>
              </a:solidFill>
              <a:effectLst/>
              <a:uLnTx/>
              <a:uFillTx/>
              <a:latin typeface="Arial"/>
              <a:ea typeface="+mn-ea"/>
              <a:cs typeface="Arial"/>
            </a:endParaRPr>
          </a:p>
        </p:txBody>
      </p:sp>
      <p:sp>
        <p:nvSpPr>
          <p:cNvPr id="81" name="Rectangle 80">
            <a:extLst>
              <a:ext uri="{FF2B5EF4-FFF2-40B4-BE49-F238E27FC236}">
                <a16:creationId xmlns:a16="http://schemas.microsoft.com/office/drawing/2014/main" id="{B5C8AE28-6F40-1947-8E48-56BFA3858CE7}"/>
              </a:ext>
            </a:extLst>
          </p:cNvPr>
          <p:cNvSpPr/>
          <p:nvPr/>
        </p:nvSpPr>
        <p:spPr bwMode="auto">
          <a:xfrm>
            <a:off x="8178800" y="4597400"/>
            <a:ext cx="3352800" cy="1524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82" name="Oval 81">
            <a:extLst>
              <a:ext uri="{FF2B5EF4-FFF2-40B4-BE49-F238E27FC236}">
                <a16:creationId xmlns:a16="http://schemas.microsoft.com/office/drawing/2014/main" id="{2FF65AA2-B19A-A147-BD07-9541AAC9170F}"/>
              </a:ext>
            </a:extLst>
          </p:cNvPr>
          <p:cNvSpPr/>
          <p:nvPr/>
        </p:nvSpPr>
        <p:spPr bwMode="auto">
          <a:xfrm>
            <a:off x="8178800" y="4635500"/>
            <a:ext cx="304800" cy="304800"/>
          </a:xfrm>
          <a:prstGeom prst="ellipse">
            <a:avLst/>
          </a:prstGeom>
          <a:solidFill>
            <a:srgbClr val="F500C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4</a:t>
            </a: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83" name="TextBox 82">
            <a:extLst>
              <a:ext uri="{FF2B5EF4-FFF2-40B4-BE49-F238E27FC236}">
                <a16:creationId xmlns:a16="http://schemas.microsoft.com/office/drawing/2014/main" id="{57947931-001F-2F41-8DBA-334BCC862F7B}"/>
              </a:ext>
            </a:extLst>
          </p:cNvPr>
          <p:cNvSpPr txBox="1"/>
          <p:nvPr/>
        </p:nvSpPr>
        <p:spPr>
          <a:xfrm>
            <a:off x="8636000" y="4610100"/>
            <a:ext cx="1397000" cy="2032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B075B"/>
                </a:solidFill>
                <a:effectLst/>
                <a:uLnTx/>
                <a:uFillTx/>
                <a:latin typeface="Arial"/>
                <a:ea typeface="+mn-ea"/>
                <a:cs typeface="Arial"/>
              </a:rPr>
              <a:t>VALIDATION</a:t>
            </a:r>
            <a:endParaRPr kumimoji="0" lang="en-US" sz="1050" b="1" i="0" u="none" strike="noStrike" kern="1200" cap="none" spc="0" normalizeH="0" baseline="0" noProof="0" dirty="0">
              <a:ln>
                <a:noFill/>
              </a:ln>
              <a:solidFill>
                <a:srgbClr val="0B075B"/>
              </a:solidFill>
              <a:effectLst/>
              <a:uLnTx/>
              <a:uFillTx/>
              <a:latin typeface="Arial"/>
              <a:ea typeface="+mn-ea"/>
              <a:cs typeface="Arial"/>
            </a:endParaRPr>
          </a:p>
        </p:txBody>
      </p:sp>
      <p:sp>
        <p:nvSpPr>
          <p:cNvPr id="84" name="TextBox 83">
            <a:extLst>
              <a:ext uri="{FF2B5EF4-FFF2-40B4-BE49-F238E27FC236}">
                <a16:creationId xmlns:a16="http://schemas.microsoft.com/office/drawing/2014/main" id="{37EC6DA3-8D0B-424E-8A2E-D8FC14484EDF}"/>
              </a:ext>
            </a:extLst>
          </p:cNvPr>
          <p:cNvSpPr txBox="1"/>
          <p:nvPr/>
        </p:nvSpPr>
        <p:spPr>
          <a:xfrm>
            <a:off x="8636000" y="4851400"/>
            <a:ext cx="2895600" cy="355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30" b="0" i="0" u="none" strike="noStrike" kern="1200" cap="none" spc="0" normalizeH="0" baseline="0" noProof="0">
                <a:ln>
                  <a:noFill/>
                </a:ln>
                <a:solidFill>
                  <a:srgbClr val="50627A"/>
                </a:solidFill>
                <a:effectLst/>
                <a:uLnTx/>
                <a:uFillTx/>
                <a:latin typeface="Arial"/>
                <a:ea typeface="+mn-ea"/>
                <a:cs typeface="Arial"/>
              </a:rPr>
              <a:t>Turn known states, controls, and exceptions into tests and comparison evidence.</a:t>
            </a:r>
            <a:endParaRPr kumimoji="0" lang="en-US" sz="930" b="0" i="0" u="none" strike="noStrike" kern="1200" cap="none" spc="0" normalizeH="0" baseline="0" noProof="0" dirty="0">
              <a:ln>
                <a:noFill/>
              </a:ln>
              <a:solidFill>
                <a:srgbClr val="50627A"/>
              </a:solidFill>
              <a:effectLst/>
              <a:uLnTx/>
              <a:uFillTx/>
              <a:latin typeface="Arial"/>
              <a:ea typeface="+mn-ea"/>
              <a:cs typeface="Arial"/>
            </a:endParaRPr>
          </a:p>
        </p:txBody>
      </p:sp>
      <p:sp>
        <p:nvSpPr>
          <p:cNvPr id="85" name="TextBox 84">
            <a:extLst>
              <a:ext uri="{FF2B5EF4-FFF2-40B4-BE49-F238E27FC236}">
                <a16:creationId xmlns:a16="http://schemas.microsoft.com/office/drawing/2014/main" id="{EA7394DD-4775-D646-9462-3DC034275E1B}"/>
              </a:ext>
            </a:extLst>
          </p:cNvPr>
          <p:cNvSpPr txBox="1"/>
          <p:nvPr/>
        </p:nvSpPr>
        <p:spPr>
          <a:xfrm>
            <a:off x="8636000" y="5219700"/>
            <a:ext cx="2895600" cy="177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30" b="1" i="0" u="none" strike="noStrike" kern="1200" cap="none" spc="0" normalizeH="0" baseline="0" noProof="0">
                <a:ln>
                  <a:noFill/>
                </a:ln>
                <a:solidFill>
                  <a:srgbClr val="0057FF"/>
                </a:solidFill>
                <a:effectLst/>
                <a:uLnTx/>
                <a:uFillTx/>
                <a:latin typeface="Arial"/>
                <a:ea typeface="+mn-ea"/>
                <a:cs typeface="Arial"/>
              </a:rPr>
              <a:t>Earlier defect discovery</a:t>
            </a:r>
            <a:endParaRPr kumimoji="0" lang="en-US" sz="930" b="1" i="0" u="none" strike="noStrike" kern="1200" cap="none" spc="0" normalizeH="0" baseline="0" noProof="0" dirty="0">
              <a:ln>
                <a:noFill/>
              </a:ln>
              <a:solidFill>
                <a:srgbClr val="0057FF"/>
              </a:solidFill>
              <a:effectLst/>
              <a:uLnTx/>
              <a:uFillTx/>
              <a:latin typeface="Arial"/>
              <a:ea typeface="+mn-ea"/>
              <a:cs typeface="Arial"/>
            </a:endParaRPr>
          </a:p>
        </p:txBody>
      </p:sp>
      <p:sp>
        <p:nvSpPr>
          <p:cNvPr id="86" name="Rectangle 85">
            <a:extLst>
              <a:ext uri="{FF2B5EF4-FFF2-40B4-BE49-F238E27FC236}">
                <a16:creationId xmlns:a16="http://schemas.microsoft.com/office/drawing/2014/main" id="{D9BAF033-38F0-A347-94FA-0F446F508DDF}"/>
              </a:ext>
            </a:extLst>
          </p:cNvPr>
          <p:cNvSpPr/>
          <p:nvPr/>
        </p:nvSpPr>
        <p:spPr bwMode="auto">
          <a:xfrm>
            <a:off x="609600" y="5499100"/>
            <a:ext cx="10922000" cy="609600"/>
          </a:xfrm>
          <a:prstGeom prst="rect">
            <a:avLst/>
          </a:prstGeom>
          <a:solidFill>
            <a:srgbClr val="E8EEF7"/>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87" name="Rectangle 86">
            <a:extLst>
              <a:ext uri="{FF2B5EF4-FFF2-40B4-BE49-F238E27FC236}">
                <a16:creationId xmlns:a16="http://schemas.microsoft.com/office/drawing/2014/main" id="{CA353B95-EBDC-AD41-A108-113F990BF6B9}"/>
              </a:ext>
            </a:extLst>
          </p:cNvPr>
          <p:cNvSpPr/>
          <p:nvPr/>
        </p:nvSpPr>
        <p:spPr bwMode="auto">
          <a:xfrm>
            <a:off x="609600" y="5499100"/>
            <a:ext cx="76200" cy="609600"/>
          </a:xfrm>
          <a:prstGeom prst="rect">
            <a:avLst/>
          </a:prstGeom>
          <a:solidFill>
            <a:srgbClr val="F5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88" name="TextBox 87">
            <a:extLst>
              <a:ext uri="{FF2B5EF4-FFF2-40B4-BE49-F238E27FC236}">
                <a16:creationId xmlns:a16="http://schemas.microsoft.com/office/drawing/2014/main" id="{EA3E882D-2CB3-3947-83A7-14A9A2616851}"/>
              </a:ext>
            </a:extLst>
          </p:cNvPr>
          <p:cNvSpPr txBox="1"/>
          <p:nvPr/>
        </p:nvSpPr>
        <p:spPr>
          <a:xfrm>
            <a:off x="850900" y="5638800"/>
            <a:ext cx="1079500" cy="2032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F500C8"/>
                </a:solidFill>
                <a:effectLst/>
                <a:uLnTx/>
                <a:uFillTx/>
                <a:latin typeface="Arial"/>
                <a:ea typeface="+mn-ea"/>
                <a:cs typeface="Arial"/>
              </a:rPr>
              <a:t>THE SHIFT</a:t>
            </a:r>
            <a:endParaRPr kumimoji="0" lang="en-US" sz="950" b="1" i="0" u="none" strike="noStrike" kern="1200" cap="none" spc="0" normalizeH="0" baseline="0" noProof="0" dirty="0">
              <a:ln>
                <a:noFill/>
              </a:ln>
              <a:solidFill>
                <a:srgbClr val="F500C8"/>
              </a:solidFill>
              <a:effectLst/>
              <a:uLnTx/>
              <a:uFillTx/>
              <a:latin typeface="Arial"/>
              <a:ea typeface="+mn-ea"/>
              <a:cs typeface="Arial"/>
            </a:endParaRPr>
          </a:p>
        </p:txBody>
      </p:sp>
      <p:sp>
        <p:nvSpPr>
          <p:cNvPr id="89" name="TextBox 88">
            <a:extLst>
              <a:ext uri="{FF2B5EF4-FFF2-40B4-BE49-F238E27FC236}">
                <a16:creationId xmlns:a16="http://schemas.microsoft.com/office/drawing/2014/main" id="{224FD329-51EA-784F-BBCB-5CD96AA7AB47}"/>
              </a:ext>
            </a:extLst>
          </p:cNvPr>
          <p:cNvSpPr txBox="1"/>
          <p:nvPr/>
        </p:nvSpPr>
        <p:spPr>
          <a:xfrm>
            <a:off x="1993900" y="5600700"/>
            <a:ext cx="9271000" cy="304800"/>
          </a:xfrm>
          <a:prstGeom prst="rect">
            <a:avLst/>
          </a:prstGeom>
          <a:noFill/>
        </p:spPr>
        <p:txBody>
          <a:bodyPr vertOverflow="overflow" vert="horz" wrap="square" lIns="0" tIns="0" rIns="0" bIns="0" rtlCol="0" anchor="ctr" anchorCtr="0">
            <a:normAutofit lnSpcReduction="10000"/>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B075B"/>
                </a:solidFill>
                <a:effectLst/>
                <a:uLnTx/>
                <a:uFillTx/>
                <a:latin typeface="Arial"/>
                <a:ea typeface="+mn-ea"/>
                <a:cs typeface="Arial"/>
              </a:rPr>
              <a:t>Move from rediscovering context for every task to retrieving the right context for the next task—while human review and testing remain authoritative.</a:t>
            </a:r>
            <a:endParaRPr kumimoji="0" lang="en-US" sz="1050" b="1" i="0" u="none" strike="noStrike" kern="1200" cap="none" spc="0" normalizeH="0" baseline="0" noProof="0" dirty="0">
              <a:ln>
                <a:noFill/>
              </a:ln>
              <a:solidFill>
                <a:srgbClr val="0B075B"/>
              </a:solidFill>
              <a:effectLst/>
              <a:uLnTx/>
              <a:uFillTx/>
              <a:latin typeface="Arial"/>
              <a:ea typeface="+mn-ea"/>
              <a:cs typeface="Arial"/>
            </a:endParaRPr>
          </a:p>
        </p:txBody>
      </p:sp>
      <p:pic>
        <p:nvPicPr>
          <p:cNvPr id="90" name="WM hand-drawn arrow 1"/>
          <p:cNvPicPr>
            <a:picLocks noChangeAspect="1"/>
          </p:cNvPicPr>
          <p:nvPr/>
        </p:nvPicPr>
        <p:blipFill>
          <a:blip r:embed="rId3"/>
          <a:srcRect l="18000" t="8000" r="18000" b="8000"/>
          <a:stretch>
            <a:fillRect/>
          </a:stretch>
        </p:blipFill>
        <p:spPr>
          <a:xfrm>
            <a:off x="3276600" y="3276600"/>
            <a:ext cx="609600" cy="609600"/>
          </a:xfrm>
          <a:prstGeom prst="rect">
            <a:avLst/>
          </a:prstGeom>
          <a:ln>
            <a:noFill/>
          </a:ln>
        </p:spPr>
      </p:pic>
      <p:pic>
        <p:nvPicPr>
          <p:cNvPr id="91" name="WM hand-drawn arrow 2"/>
          <p:cNvPicPr>
            <a:picLocks noChangeAspect="1"/>
          </p:cNvPicPr>
          <p:nvPr/>
        </p:nvPicPr>
        <p:blipFill>
          <a:blip r:embed="rId3"/>
          <a:srcRect l="18000" t="8000" r="18000" b="8000"/>
          <a:stretch>
            <a:fillRect/>
          </a:stretch>
        </p:blipFill>
        <p:spPr>
          <a:xfrm>
            <a:off x="7429500" y="3276600"/>
            <a:ext cx="685800" cy="609600"/>
          </a:xfrm>
          <a:prstGeom prst="rect">
            <a:avLst/>
          </a:prstGeom>
          <a:ln>
            <a:noFill/>
          </a:ln>
        </p:spPr>
      </p:pic>
    </p:spTree>
    <p:extLst>
      <p:ext uri="{BB962C8B-B14F-4D97-AF65-F5344CB8AC3E}">
        <p14:creationId xmlns:p14="http://schemas.microsoft.com/office/powerpoint/2010/main" val="12641756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82B7A3-F41C-2D42-9935-F47BD03C7C23}"/>
              </a:ext>
            </a:extLst>
          </p:cNvPr>
          <p:cNvSpPr txBox="1"/>
          <p:nvPr/>
        </p:nvSpPr>
        <p:spPr>
          <a:xfrm>
            <a:off x="457200" y="533400"/>
            <a:ext cx="11277600" cy="635000"/>
          </a:xfrm>
          <a:prstGeom prst="rect">
            <a:avLst/>
          </a:prstGeom>
          <a:noFill/>
        </p:spPr>
        <p:txBody>
          <a:bodyPr vertOverflow="overflow" vert="horz" wrap="square" lIns="0" tIns="0" rIns="0" bIns="0" rtlCol="0" anchor="ctr" anchorCtr="0">
            <a:normAutofit lnSpcReduction="10000"/>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150" b="1" i="0" u="none" strike="noStrike" kern="1200" cap="none" spc="0" normalizeH="0" baseline="0" noProof="0">
                <a:ln>
                  <a:noFill/>
                </a:ln>
                <a:solidFill>
                  <a:srgbClr val="0B075B"/>
                </a:solidFill>
                <a:effectLst/>
                <a:uLnTx/>
                <a:uFillTx/>
                <a:latin typeface="Arial"/>
                <a:ea typeface="+mn-ea"/>
                <a:cs typeface="Arial"/>
              </a:rPr>
              <a:t>AI can orchestrate phased cutover by sequencing capability slices, preparing each wave, and monitoring legacy–modern coexistence.</a:t>
            </a:r>
            <a:endParaRPr kumimoji="0" lang="en-US" sz="2150" b="1" i="0" u="none" strike="noStrike" kern="1200" cap="none" spc="0" normalizeH="0" baseline="0" noProof="0" dirty="0">
              <a:ln>
                <a:noFill/>
              </a:ln>
              <a:solidFill>
                <a:srgbClr val="0B075B"/>
              </a:solidFill>
              <a:effectLst/>
              <a:uLnTx/>
              <a:uFillTx/>
              <a:latin typeface="Arial"/>
              <a:ea typeface="+mn-ea"/>
              <a:cs typeface="Arial"/>
            </a:endParaRPr>
          </a:p>
        </p:txBody>
      </p:sp>
      <p:sp>
        <p:nvSpPr>
          <p:cNvPr id="7" name="Rectangle 6">
            <a:extLst>
              <a:ext uri="{FF2B5EF4-FFF2-40B4-BE49-F238E27FC236}">
                <a16:creationId xmlns:a16="http://schemas.microsoft.com/office/drawing/2014/main" id="{5F3D65EC-E622-9F4A-972D-96B1398AF44C}"/>
              </a:ext>
            </a:extLst>
          </p:cNvPr>
          <p:cNvSpPr/>
          <p:nvPr/>
        </p:nvSpPr>
        <p:spPr bwMode="auto">
          <a:xfrm>
            <a:off x="457200" y="1282700"/>
            <a:ext cx="11277600" cy="4953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1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8" name="TextBox 7">
            <a:extLst>
              <a:ext uri="{FF2B5EF4-FFF2-40B4-BE49-F238E27FC236}">
                <a16:creationId xmlns:a16="http://schemas.microsoft.com/office/drawing/2014/main" id="{3ACFA4FC-B0FE-D944-B9A5-DAC12D6B3B98}"/>
              </a:ext>
            </a:extLst>
          </p:cNvPr>
          <p:cNvSpPr txBox="1"/>
          <p:nvPr/>
        </p:nvSpPr>
        <p:spPr>
          <a:xfrm>
            <a:off x="685800" y="1409700"/>
            <a:ext cx="10795000" cy="228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mn-ea"/>
                <a:cs typeface="Arial"/>
              </a:rPr>
              <a:t>Because modernization rarely happens in one big bang, cutover decisions must combine process, data, control, user, and technical evidence across every wave.</a:t>
            </a:r>
            <a:endParaRPr kumimoji="0" lang="en-US" sz="1100" b="1" i="0" u="none" strike="noStrike" kern="1200" cap="none" spc="0" normalizeH="0" baseline="0" noProof="0" dirty="0">
              <a:ln>
                <a:noFill/>
              </a:ln>
              <a:solidFill>
                <a:srgbClr val="FFFFFF"/>
              </a:solidFill>
              <a:effectLst/>
              <a:uLnTx/>
              <a:uFillTx/>
              <a:latin typeface="Arial"/>
              <a:ea typeface="+mn-ea"/>
              <a:cs typeface="Arial"/>
            </a:endParaRPr>
          </a:p>
        </p:txBody>
      </p:sp>
      <p:sp>
        <p:nvSpPr>
          <p:cNvPr id="2" name="TextBox 1">
            <a:extLst>
              <a:ext uri="{FF2B5EF4-FFF2-40B4-BE49-F238E27FC236}">
                <a16:creationId xmlns:a16="http://schemas.microsoft.com/office/drawing/2014/main" id="{AB0E30E5-F34A-3C47-B287-D7FE76F12B97}"/>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450" b="0" i="0" u="none" strike="noStrike" kern="1200" cap="none" spc="0" normalizeH="0" baseline="0" noProof="0">
                <a:ln>
                  <a:noFill/>
                </a:ln>
                <a:solidFill>
                  <a:srgbClr val="070154"/>
                </a:solidFill>
                <a:effectLst/>
                <a:uLnTx/>
                <a:uFillTx/>
                <a:latin typeface="Arial"/>
                <a:ea typeface="+mn-ea"/>
                <a:cs typeface="Arial"/>
              </a:rPr>
              <a:t>© 2026 West Monroe Partners | Reproduction and/or distribution without West Monroe Partners’ prior consent is prohibited.</a:t>
            </a:r>
            <a:endParaRPr kumimoji="0" lang="en-US" sz="450" b="0" i="0" u="none" strike="noStrike" kern="1200" cap="none" spc="0" normalizeH="0" baseline="0" noProof="0" dirty="0">
              <a:ln>
                <a:noFill/>
              </a:ln>
              <a:solidFill>
                <a:srgbClr val="070154"/>
              </a:solidFill>
              <a:effectLst/>
              <a:uLnTx/>
              <a:uFillTx/>
              <a:latin typeface="Arial"/>
              <a:ea typeface="+mn-ea"/>
              <a:cs typeface="Arial"/>
            </a:endParaRPr>
          </a:p>
        </p:txBody>
      </p:sp>
      <p:sp>
        <p:nvSpPr>
          <p:cNvPr id="4" name="TextBox 3">
            <a:extLst>
              <a:ext uri="{FF2B5EF4-FFF2-40B4-BE49-F238E27FC236}">
                <a16:creationId xmlns:a16="http://schemas.microsoft.com/office/drawing/2014/main" id="{CE2E69EC-1BDA-F64D-8BED-3740F7E0B2CA}"/>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550" b="0" i="0" u="none" strike="noStrike" kern="1200" cap="none" spc="0" normalizeH="0" baseline="0" noProof="0">
                <a:ln>
                  <a:noFill/>
                </a:ln>
                <a:solidFill>
                  <a:srgbClr val="070154"/>
                </a:solidFill>
                <a:effectLst/>
                <a:uLnTx/>
                <a:uFillTx/>
                <a:latin typeface="Arial"/>
                <a:ea typeface="+mn-ea"/>
                <a:cs typeface="Arial"/>
              </a:rPr>
              <a:t>20</a:t>
            </a:r>
            <a:endParaRPr kumimoji="0" lang="en-US" sz="550" b="0" i="0" u="none" strike="noStrike" kern="1200" cap="none" spc="0" normalizeH="0" baseline="0" noProof="0" dirty="0">
              <a:ln>
                <a:noFill/>
              </a:ln>
              <a:solidFill>
                <a:srgbClr val="070154"/>
              </a:solidFill>
              <a:effectLst/>
              <a:uLnTx/>
              <a:uFillTx/>
              <a:latin typeface="Arial"/>
              <a:ea typeface="+mn-ea"/>
              <a:cs typeface="Arial"/>
            </a:endParaRPr>
          </a:p>
        </p:txBody>
      </p:sp>
      <p:sp>
        <p:nvSpPr>
          <p:cNvPr id="5" name="TextBox 4">
            <a:extLst>
              <a:ext uri="{FF2B5EF4-FFF2-40B4-BE49-F238E27FC236}">
                <a16:creationId xmlns:a16="http://schemas.microsoft.com/office/drawing/2014/main" id="{9B60B4FE-442E-3145-90DE-BA6935D0EC64}"/>
              </a:ext>
            </a:extLst>
          </p:cNvPr>
          <p:cNvSpPr txBox="1"/>
          <p:nvPr/>
        </p:nvSpPr>
        <p:spPr>
          <a:xfrm>
            <a:off x="609600" y="1943100"/>
            <a:ext cx="3302000" cy="228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57FF"/>
                </a:solidFill>
                <a:effectLst/>
                <a:uLnTx/>
                <a:uFillTx/>
                <a:latin typeface="Arial"/>
                <a:ea typeface="+mn-ea"/>
                <a:cs typeface="Arial"/>
              </a:rPr>
              <a:t>AI SUPPORT ACROSS EVERY WAVE</a:t>
            </a:r>
            <a:endParaRPr kumimoji="0" lang="en-US" sz="1000" b="1" i="0" u="none" strike="noStrike" kern="1200" cap="none" spc="0" normalizeH="0" baseline="0" noProof="0" dirty="0">
              <a:ln>
                <a:noFill/>
              </a:ln>
              <a:solidFill>
                <a:srgbClr val="0057FF"/>
              </a:solidFill>
              <a:effectLst/>
              <a:uLnTx/>
              <a:uFillTx/>
              <a:latin typeface="Arial"/>
              <a:ea typeface="+mn-ea"/>
              <a:cs typeface="Arial"/>
            </a:endParaRPr>
          </a:p>
        </p:txBody>
      </p:sp>
      <p:sp>
        <p:nvSpPr>
          <p:cNvPr id="6" name="Oval 5">
            <a:extLst>
              <a:ext uri="{FF2B5EF4-FFF2-40B4-BE49-F238E27FC236}">
                <a16:creationId xmlns:a16="http://schemas.microsoft.com/office/drawing/2014/main" id="{060F48E7-91D1-E242-A55A-CC45C96716B1}"/>
              </a:ext>
            </a:extLst>
          </p:cNvPr>
          <p:cNvSpPr/>
          <p:nvPr/>
        </p:nvSpPr>
        <p:spPr bwMode="auto">
          <a:xfrm>
            <a:off x="609600" y="2311400"/>
            <a:ext cx="355600" cy="355600"/>
          </a:xfrm>
          <a:prstGeom prst="ellipse">
            <a:avLst/>
          </a:prstGeom>
          <a:solidFill>
            <a:srgbClr val="0B075B"/>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1</a:t>
            </a: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19" name="TextBox 18">
            <a:extLst>
              <a:ext uri="{FF2B5EF4-FFF2-40B4-BE49-F238E27FC236}">
                <a16:creationId xmlns:a16="http://schemas.microsoft.com/office/drawing/2014/main" id="{FC7224F3-76FC-3041-BFCB-E453190ECD11}"/>
              </a:ext>
            </a:extLst>
          </p:cNvPr>
          <p:cNvSpPr txBox="1"/>
          <p:nvPr/>
        </p:nvSpPr>
        <p:spPr>
          <a:xfrm>
            <a:off x="1117600" y="2286000"/>
            <a:ext cx="14986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50" b="1" i="0" u="none" strike="noStrike" kern="1200" cap="none" spc="0" normalizeH="0" baseline="0" noProof="0">
                <a:ln>
                  <a:noFill/>
                </a:ln>
                <a:solidFill>
                  <a:srgbClr val="0B075B"/>
                </a:solidFill>
                <a:effectLst/>
                <a:uLnTx/>
                <a:uFillTx/>
                <a:latin typeface="Arial"/>
                <a:ea typeface="+mn-ea"/>
                <a:cs typeface="Arial"/>
              </a:rPr>
              <a:t>SEQUENCE</a:t>
            </a:r>
            <a:endParaRPr kumimoji="0" lang="en-US" sz="1250" b="1" i="0" u="none" strike="noStrike" kern="1200" cap="none" spc="0" normalizeH="0" baseline="0" noProof="0" dirty="0">
              <a:ln>
                <a:noFill/>
              </a:ln>
              <a:solidFill>
                <a:srgbClr val="0B075B"/>
              </a:solidFill>
              <a:effectLst/>
              <a:uLnTx/>
              <a:uFillTx/>
              <a:latin typeface="Arial"/>
              <a:ea typeface="+mn-ea"/>
              <a:cs typeface="Arial"/>
            </a:endParaRPr>
          </a:p>
        </p:txBody>
      </p:sp>
      <p:sp>
        <p:nvSpPr>
          <p:cNvPr id="37" name="TextBox 36">
            <a:extLst>
              <a:ext uri="{FF2B5EF4-FFF2-40B4-BE49-F238E27FC236}">
                <a16:creationId xmlns:a16="http://schemas.microsoft.com/office/drawing/2014/main" id="{796EE0BC-1C75-4249-A29B-CBD9AD9AD1A3}"/>
              </a:ext>
            </a:extLst>
          </p:cNvPr>
          <p:cNvSpPr txBox="1"/>
          <p:nvPr/>
        </p:nvSpPr>
        <p:spPr>
          <a:xfrm>
            <a:off x="1117600" y="2628900"/>
            <a:ext cx="2946400" cy="6223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60" b="0" i="0" u="none" strike="noStrike" kern="1200" cap="none" spc="0" normalizeH="0" baseline="0" noProof="0">
                <a:ln>
                  <a:noFill/>
                </a:ln>
                <a:solidFill>
                  <a:srgbClr val="50627A"/>
                </a:solidFill>
                <a:effectLst/>
                <a:uLnTx/>
                <a:uFillTx/>
                <a:latin typeface="Arial"/>
                <a:ea typeface="+mn-ea"/>
                <a:cs typeface="Arial"/>
              </a:rPr>
              <a:t>Identify viable capability slices, expose hidden dependencies, and simulate fallback paths.</a:t>
            </a:r>
            <a:endParaRPr kumimoji="0" lang="en-US" sz="960" b="0" i="0" u="none" strike="noStrike" kern="1200" cap="none" spc="0" normalizeH="0" baseline="0" noProof="0" dirty="0">
              <a:ln>
                <a:noFill/>
              </a:ln>
              <a:solidFill>
                <a:srgbClr val="50627A"/>
              </a:solidFill>
              <a:effectLst/>
              <a:uLnTx/>
              <a:uFillTx/>
              <a:latin typeface="Arial"/>
              <a:ea typeface="+mn-ea"/>
              <a:cs typeface="Arial"/>
            </a:endParaRPr>
          </a:p>
        </p:txBody>
      </p:sp>
      <p:sp>
        <p:nvSpPr>
          <p:cNvPr id="38" name="Oval 37">
            <a:extLst>
              <a:ext uri="{FF2B5EF4-FFF2-40B4-BE49-F238E27FC236}">
                <a16:creationId xmlns:a16="http://schemas.microsoft.com/office/drawing/2014/main" id="{79CF16BA-BE23-8B48-AFB8-64FFB6F682AC}"/>
              </a:ext>
            </a:extLst>
          </p:cNvPr>
          <p:cNvSpPr/>
          <p:nvPr/>
        </p:nvSpPr>
        <p:spPr bwMode="auto">
          <a:xfrm>
            <a:off x="4445000" y="2311400"/>
            <a:ext cx="355600" cy="355600"/>
          </a:xfrm>
          <a:prstGeom prst="ellipse">
            <a:avLst/>
          </a:prstGeom>
          <a:solidFill>
            <a:srgbClr val="005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2</a:t>
            </a: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39" name="TextBox 38">
            <a:extLst>
              <a:ext uri="{FF2B5EF4-FFF2-40B4-BE49-F238E27FC236}">
                <a16:creationId xmlns:a16="http://schemas.microsoft.com/office/drawing/2014/main" id="{0548FAED-B65F-924D-AD12-AE8F843B0D6C}"/>
              </a:ext>
            </a:extLst>
          </p:cNvPr>
          <p:cNvSpPr txBox="1"/>
          <p:nvPr/>
        </p:nvSpPr>
        <p:spPr>
          <a:xfrm>
            <a:off x="4953000" y="2286000"/>
            <a:ext cx="14986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50" b="1" i="0" u="none" strike="noStrike" kern="1200" cap="none" spc="0" normalizeH="0" baseline="0" noProof="0">
                <a:ln>
                  <a:noFill/>
                </a:ln>
                <a:solidFill>
                  <a:srgbClr val="0B075B"/>
                </a:solidFill>
                <a:effectLst/>
                <a:uLnTx/>
                <a:uFillTx/>
                <a:latin typeface="Arial"/>
                <a:ea typeface="+mn-ea"/>
                <a:cs typeface="Arial"/>
              </a:rPr>
              <a:t>PREPARE</a:t>
            </a:r>
            <a:endParaRPr kumimoji="0" lang="en-US" sz="1250" b="1" i="0" u="none" strike="noStrike" kern="1200" cap="none" spc="0" normalizeH="0" baseline="0" noProof="0" dirty="0">
              <a:ln>
                <a:noFill/>
              </a:ln>
              <a:solidFill>
                <a:srgbClr val="0B075B"/>
              </a:solidFill>
              <a:effectLst/>
              <a:uLnTx/>
              <a:uFillTx/>
              <a:latin typeface="Arial"/>
              <a:ea typeface="+mn-ea"/>
              <a:cs typeface="Arial"/>
            </a:endParaRPr>
          </a:p>
        </p:txBody>
      </p:sp>
      <p:sp>
        <p:nvSpPr>
          <p:cNvPr id="40" name="TextBox 39">
            <a:extLst>
              <a:ext uri="{FF2B5EF4-FFF2-40B4-BE49-F238E27FC236}">
                <a16:creationId xmlns:a16="http://schemas.microsoft.com/office/drawing/2014/main" id="{B69C49B0-E638-7C41-8E62-EE08B1BF396D}"/>
              </a:ext>
            </a:extLst>
          </p:cNvPr>
          <p:cNvSpPr txBox="1"/>
          <p:nvPr/>
        </p:nvSpPr>
        <p:spPr>
          <a:xfrm>
            <a:off x="4953000" y="2628900"/>
            <a:ext cx="2946400" cy="6223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60" b="0" i="0" u="none" strike="noStrike" kern="1200" cap="none" spc="0" normalizeH="0" baseline="0" noProof="0">
                <a:ln>
                  <a:noFill/>
                </a:ln>
                <a:solidFill>
                  <a:srgbClr val="50627A"/>
                </a:solidFill>
                <a:effectLst/>
                <a:uLnTx/>
                <a:uFillTx/>
                <a:latin typeface="Arial"/>
                <a:ea typeface="+mn-ea"/>
                <a:cs typeface="Arial"/>
              </a:rPr>
              <a:t>Profile and map data; generate UAT scenarios, runbooks, communications, learning, and support drafts.</a:t>
            </a:r>
            <a:endParaRPr kumimoji="0" lang="en-US" sz="960" b="0" i="0" u="none" strike="noStrike" kern="1200" cap="none" spc="0" normalizeH="0" baseline="0" noProof="0" dirty="0">
              <a:ln>
                <a:noFill/>
              </a:ln>
              <a:solidFill>
                <a:srgbClr val="50627A"/>
              </a:solidFill>
              <a:effectLst/>
              <a:uLnTx/>
              <a:uFillTx/>
              <a:latin typeface="Arial"/>
              <a:ea typeface="+mn-ea"/>
              <a:cs typeface="Arial"/>
            </a:endParaRPr>
          </a:p>
        </p:txBody>
      </p:sp>
      <p:sp>
        <p:nvSpPr>
          <p:cNvPr id="41" name="Oval 40">
            <a:extLst>
              <a:ext uri="{FF2B5EF4-FFF2-40B4-BE49-F238E27FC236}">
                <a16:creationId xmlns:a16="http://schemas.microsoft.com/office/drawing/2014/main" id="{28B6988F-AD2F-D644-975D-32058B0D1455}"/>
              </a:ext>
            </a:extLst>
          </p:cNvPr>
          <p:cNvSpPr/>
          <p:nvPr/>
        </p:nvSpPr>
        <p:spPr bwMode="auto">
          <a:xfrm>
            <a:off x="8280400" y="2311400"/>
            <a:ext cx="355600" cy="355600"/>
          </a:xfrm>
          <a:prstGeom prst="ellipse">
            <a:avLst/>
          </a:prstGeom>
          <a:solidFill>
            <a:srgbClr val="F500C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3</a:t>
            </a: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42" name="TextBox 41">
            <a:extLst>
              <a:ext uri="{FF2B5EF4-FFF2-40B4-BE49-F238E27FC236}">
                <a16:creationId xmlns:a16="http://schemas.microsoft.com/office/drawing/2014/main" id="{3322E0B4-9DEE-BC43-A111-82629BB5440A}"/>
              </a:ext>
            </a:extLst>
          </p:cNvPr>
          <p:cNvSpPr txBox="1"/>
          <p:nvPr/>
        </p:nvSpPr>
        <p:spPr>
          <a:xfrm>
            <a:off x="8788400" y="2286000"/>
            <a:ext cx="14986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50" b="1" i="0" u="none" strike="noStrike" kern="1200" cap="none" spc="0" normalizeH="0" baseline="0" noProof="0">
                <a:ln>
                  <a:noFill/>
                </a:ln>
                <a:solidFill>
                  <a:srgbClr val="0B075B"/>
                </a:solidFill>
                <a:effectLst/>
                <a:uLnTx/>
                <a:uFillTx/>
                <a:latin typeface="Arial"/>
                <a:ea typeface="+mn-ea"/>
                <a:cs typeface="Arial"/>
              </a:rPr>
              <a:t>MONITOR</a:t>
            </a:r>
            <a:endParaRPr kumimoji="0" lang="en-US" sz="1250" b="1" i="0" u="none" strike="noStrike" kern="1200" cap="none" spc="0" normalizeH="0" baseline="0" noProof="0" dirty="0">
              <a:ln>
                <a:noFill/>
              </a:ln>
              <a:solidFill>
                <a:srgbClr val="0B075B"/>
              </a:solidFill>
              <a:effectLst/>
              <a:uLnTx/>
              <a:uFillTx/>
              <a:latin typeface="Arial"/>
              <a:ea typeface="+mn-ea"/>
              <a:cs typeface="Arial"/>
            </a:endParaRPr>
          </a:p>
        </p:txBody>
      </p:sp>
      <p:sp>
        <p:nvSpPr>
          <p:cNvPr id="43" name="TextBox 42">
            <a:extLst>
              <a:ext uri="{FF2B5EF4-FFF2-40B4-BE49-F238E27FC236}">
                <a16:creationId xmlns:a16="http://schemas.microsoft.com/office/drawing/2014/main" id="{B786CF6F-6ACC-7745-8D0A-7610659A4701}"/>
              </a:ext>
            </a:extLst>
          </p:cNvPr>
          <p:cNvSpPr txBox="1"/>
          <p:nvPr/>
        </p:nvSpPr>
        <p:spPr>
          <a:xfrm>
            <a:off x="8788400" y="2628900"/>
            <a:ext cx="2946400" cy="6223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60" b="0" i="0" u="none" strike="noStrike" kern="1200" cap="none" spc="0" normalizeH="0" baseline="0" noProof="0">
                <a:ln>
                  <a:noFill/>
                </a:ln>
                <a:solidFill>
                  <a:srgbClr val="50627A"/>
                </a:solidFill>
                <a:effectLst/>
                <a:uLnTx/>
                <a:uFillTx/>
                <a:latin typeface="Arial"/>
                <a:ea typeface="+mn-ea"/>
                <a:cs typeface="Arial"/>
              </a:rPr>
              <a:t>Compare transactions and outcomes, flag exceptions, and trace anomalies to known dependencies.</a:t>
            </a:r>
            <a:endParaRPr kumimoji="0" lang="en-US" sz="960" b="0" i="0" u="none" strike="noStrike" kern="1200" cap="none" spc="0" normalizeH="0" baseline="0" noProof="0" dirty="0">
              <a:ln>
                <a:noFill/>
              </a:ln>
              <a:solidFill>
                <a:srgbClr val="50627A"/>
              </a:solidFill>
              <a:effectLst/>
              <a:uLnTx/>
              <a:uFillTx/>
              <a:latin typeface="Arial"/>
              <a:ea typeface="+mn-ea"/>
              <a:cs typeface="Arial"/>
            </a:endParaRPr>
          </a:p>
        </p:txBody>
      </p:sp>
      <p:sp>
        <p:nvSpPr>
          <p:cNvPr id="44" name="Rectangle 43">
            <a:extLst>
              <a:ext uri="{FF2B5EF4-FFF2-40B4-BE49-F238E27FC236}">
                <a16:creationId xmlns:a16="http://schemas.microsoft.com/office/drawing/2014/main" id="{71BF0E03-9559-C741-BD4C-B9D625CA0546}"/>
              </a:ext>
            </a:extLst>
          </p:cNvPr>
          <p:cNvSpPr/>
          <p:nvPr/>
        </p:nvSpPr>
        <p:spPr bwMode="auto">
          <a:xfrm>
            <a:off x="609600" y="3416300"/>
            <a:ext cx="10922000" cy="1905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45" name="TextBox 44">
            <a:extLst>
              <a:ext uri="{FF2B5EF4-FFF2-40B4-BE49-F238E27FC236}">
                <a16:creationId xmlns:a16="http://schemas.microsoft.com/office/drawing/2014/main" id="{4D49BDE4-3CA2-2F4A-A66F-C3AFF4FB3113}"/>
              </a:ext>
            </a:extLst>
          </p:cNvPr>
          <p:cNvSpPr txBox="1"/>
          <p:nvPr/>
        </p:nvSpPr>
        <p:spPr>
          <a:xfrm>
            <a:off x="609600" y="3606800"/>
            <a:ext cx="3302000" cy="2286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57FF"/>
                </a:solidFill>
                <a:effectLst/>
                <a:uLnTx/>
                <a:uFillTx/>
                <a:latin typeface="Arial"/>
                <a:ea typeface="+mn-ea"/>
                <a:cs typeface="Arial"/>
              </a:rPr>
              <a:t>ILLUSTRATIVE PHASED CUTOVER</a:t>
            </a:r>
            <a:endParaRPr kumimoji="0" lang="en-US" sz="1000" b="1" i="0" u="none" strike="noStrike" kern="1200" cap="none" spc="0" normalizeH="0" baseline="0" noProof="0" dirty="0">
              <a:ln>
                <a:noFill/>
              </a:ln>
              <a:solidFill>
                <a:srgbClr val="0057FF"/>
              </a:solidFill>
              <a:effectLst/>
              <a:uLnTx/>
              <a:uFillTx/>
              <a:latin typeface="Arial"/>
              <a:ea typeface="+mn-ea"/>
              <a:cs typeface="Arial"/>
            </a:endParaRPr>
          </a:p>
        </p:txBody>
      </p:sp>
      <p:sp>
        <p:nvSpPr>
          <p:cNvPr id="46" name="TextBox 45">
            <a:extLst>
              <a:ext uri="{FF2B5EF4-FFF2-40B4-BE49-F238E27FC236}">
                <a16:creationId xmlns:a16="http://schemas.microsoft.com/office/drawing/2014/main" id="{236751D6-48BE-C34B-9136-36A7A3FDF99D}"/>
              </a:ext>
            </a:extLst>
          </p:cNvPr>
          <p:cNvSpPr txBox="1"/>
          <p:nvPr/>
        </p:nvSpPr>
        <p:spPr>
          <a:xfrm>
            <a:off x="2971800" y="3848100"/>
            <a:ext cx="19812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CURRENT STATE</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47" name="TextBox 46">
            <a:extLst>
              <a:ext uri="{FF2B5EF4-FFF2-40B4-BE49-F238E27FC236}">
                <a16:creationId xmlns:a16="http://schemas.microsoft.com/office/drawing/2014/main" id="{239C4D02-D0C6-CC4C-B393-87F0E626DA67}"/>
              </a:ext>
            </a:extLst>
          </p:cNvPr>
          <p:cNvSpPr txBox="1"/>
          <p:nvPr/>
        </p:nvSpPr>
        <p:spPr>
          <a:xfrm>
            <a:off x="5054600" y="3848100"/>
            <a:ext cx="19812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WAVE 1</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48" name="TextBox 47">
            <a:extLst>
              <a:ext uri="{FF2B5EF4-FFF2-40B4-BE49-F238E27FC236}">
                <a16:creationId xmlns:a16="http://schemas.microsoft.com/office/drawing/2014/main" id="{D9C3527F-007F-2B4C-9F79-0457D394C956}"/>
              </a:ext>
            </a:extLst>
          </p:cNvPr>
          <p:cNvSpPr txBox="1"/>
          <p:nvPr/>
        </p:nvSpPr>
        <p:spPr>
          <a:xfrm>
            <a:off x="7137400" y="3848100"/>
            <a:ext cx="19812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WAVE 2</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49" name="TextBox 48">
            <a:extLst>
              <a:ext uri="{FF2B5EF4-FFF2-40B4-BE49-F238E27FC236}">
                <a16:creationId xmlns:a16="http://schemas.microsoft.com/office/drawing/2014/main" id="{F51CD78E-BB1F-9945-B613-225047FFED83}"/>
              </a:ext>
            </a:extLst>
          </p:cNvPr>
          <p:cNvSpPr txBox="1"/>
          <p:nvPr/>
        </p:nvSpPr>
        <p:spPr>
          <a:xfrm>
            <a:off x="9220200" y="3848100"/>
            <a:ext cx="1981200" cy="2540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WAVE 3</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50" name="TextBox 49">
            <a:extLst>
              <a:ext uri="{FF2B5EF4-FFF2-40B4-BE49-F238E27FC236}">
                <a16:creationId xmlns:a16="http://schemas.microsoft.com/office/drawing/2014/main" id="{51447AD2-3557-1A4D-BE94-9D3000573B86}"/>
              </a:ext>
            </a:extLst>
          </p:cNvPr>
          <p:cNvSpPr txBox="1"/>
          <p:nvPr/>
        </p:nvSpPr>
        <p:spPr>
          <a:xfrm>
            <a:off x="609600" y="4191000"/>
            <a:ext cx="2159000" cy="4572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B075B"/>
                </a:solidFill>
                <a:effectLst/>
                <a:uLnTx/>
                <a:uFillTx/>
                <a:latin typeface="Arial"/>
                <a:ea typeface="+mn-ea"/>
                <a:cs typeface="Arial"/>
              </a:rPr>
              <a:t>CAPABILITY SLICE A</a:t>
            </a:r>
            <a:endParaRPr kumimoji="0" lang="en-US" sz="1000" b="1" i="0" u="none" strike="noStrike" kern="1200" cap="none" spc="0" normalizeH="0" baseline="0" noProof="0" dirty="0">
              <a:ln>
                <a:noFill/>
              </a:ln>
              <a:solidFill>
                <a:srgbClr val="0B075B"/>
              </a:solidFill>
              <a:effectLst/>
              <a:uLnTx/>
              <a:uFillTx/>
              <a:latin typeface="Arial"/>
              <a:ea typeface="+mn-ea"/>
              <a:cs typeface="Arial"/>
            </a:endParaRPr>
          </a:p>
        </p:txBody>
      </p:sp>
      <p:sp>
        <p:nvSpPr>
          <p:cNvPr id="51" name="Rectangle 50">
            <a:extLst>
              <a:ext uri="{FF2B5EF4-FFF2-40B4-BE49-F238E27FC236}">
                <a16:creationId xmlns:a16="http://schemas.microsoft.com/office/drawing/2014/main" id="{289B12D6-383D-5A49-81F6-F7FFCB187561}"/>
              </a:ext>
            </a:extLst>
          </p:cNvPr>
          <p:cNvSpPr/>
          <p:nvPr/>
        </p:nvSpPr>
        <p:spPr bwMode="auto">
          <a:xfrm>
            <a:off x="2971800" y="4191000"/>
            <a:ext cx="2006600" cy="45720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52" name="TextBox 51">
            <a:extLst>
              <a:ext uri="{FF2B5EF4-FFF2-40B4-BE49-F238E27FC236}">
                <a16:creationId xmlns:a16="http://schemas.microsoft.com/office/drawing/2014/main" id="{D73C72F7-0F75-ED46-9D16-42D46B3C665A}"/>
              </a:ext>
            </a:extLst>
          </p:cNvPr>
          <p:cNvSpPr txBox="1"/>
          <p:nvPr/>
        </p:nvSpPr>
        <p:spPr>
          <a:xfrm>
            <a:off x="3073400" y="4203700"/>
            <a:ext cx="1803400" cy="431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LEGACY</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53" name="Rectangle 52">
            <a:extLst>
              <a:ext uri="{FF2B5EF4-FFF2-40B4-BE49-F238E27FC236}">
                <a16:creationId xmlns:a16="http://schemas.microsoft.com/office/drawing/2014/main" id="{E3478D91-6E04-E04D-82C6-B2E9FD2EC8E0}"/>
              </a:ext>
            </a:extLst>
          </p:cNvPr>
          <p:cNvSpPr/>
          <p:nvPr/>
        </p:nvSpPr>
        <p:spPr bwMode="auto">
          <a:xfrm>
            <a:off x="5054600" y="4191000"/>
            <a:ext cx="2006600" cy="457200"/>
          </a:xfrm>
          <a:prstGeom prst="rect">
            <a:avLst/>
          </a:prstGeom>
          <a:solidFill>
            <a:srgbClr val="E9B7E2"/>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54" name="TextBox 53">
            <a:extLst>
              <a:ext uri="{FF2B5EF4-FFF2-40B4-BE49-F238E27FC236}">
                <a16:creationId xmlns:a16="http://schemas.microsoft.com/office/drawing/2014/main" id="{13C0B4CF-2C43-E540-8417-9BF2A892CB01}"/>
              </a:ext>
            </a:extLst>
          </p:cNvPr>
          <p:cNvSpPr txBox="1"/>
          <p:nvPr/>
        </p:nvSpPr>
        <p:spPr>
          <a:xfrm>
            <a:off x="5156200" y="4203700"/>
            <a:ext cx="1803400" cy="431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COEXISTENCE</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55" name="Rectangle 54">
            <a:extLst>
              <a:ext uri="{FF2B5EF4-FFF2-40B4-BE49-F238E27FC236}">
                <a16:creationId xmlns:a16="http://schemas.microsoft.com/office/drawing/2014/main" id="{E7D71B08-149E-CD41-AC14-F9759DE22CFC}"/>
              </a:ext>
            </a:extLst>
          </p:cNvPr>
          <p:cNvSpPr/>
          <p:nvPr/>
        </p:nvSpPr>
        <p:spPr bwMode="auto">
          <a:xfrm>
            <a:off x="7137400" y="4191000"/>
            <a:ext cx="2006600" cy="457200"/>
          </a:xfrm>
          <a:prstGeom prst="rect">
            <a:avLst/>
          </a:prstGeom>
          <a:solidFill>
            <a:srgbClr val="0B075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56" name="TextBox 55">
            <a:extLst>
              <a:ext uri="{FF2B5EF4-FFF2-40B4-BE49-F238E27FC236}">
                <a16:creationId xmlns:a16="http://schemas.microsoft.com/office/drawing/2014/main" id="{9633B939-6AE2-F148-B7E9-F4A3C5638D5B}"/>
              </a:ext>
            </a:extLst>
          </p:cNvPr>
          <p:cNvSpPr txBox="1"/>
          <p:nvPr/>
        </p:nvSpPr>
        <p:spPr>
          <a:xfrm>
            <a:off x="7239000" y="4203700"/>
            <a:ext cx="1803400" cy="431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FFFFFF"/>
                </a:solidFill>
                <a:effectLst/>
                <a:uLnTx/>
                <a:uFillTx/>
                <a:latin typeface="Arial"/>
                <a:ea typeface="+mn-ea"/>
                <a:cs typeface="Arial"/>
              </a:rPr>
              <a:t>MODERN</a:t>
            </a:r>
            <a:endParaRPr kumimoji="0" lang="en-US" sz="950" b="1" i="0" u="none" strike="noStrike" kern="1200" cap="none" spc="0" normalizeH="0" baseline="0" noProof="0" dirty="0">
              <a:ln>
                <a:noFill/>
              </a:ln>
              <a:solidFill>
                <a:srgbClr val="FFFFFF"/>
              </a:solidFill>
              <a:effectLst/>
              <a:uLnTx/>
              <a:uFillTx/>
              <a:latin typeface="Arial"/>
              <a:ea typeface="+mn-ea"/>
              <a:cs typeface="Arial"/>
            </a:endParaRPr>
          </a:p>
        </p:txBody>
      </p:sp>
      <p:sp>
        <p:nvSpPr>
          <p:cNvPr id="57" name="Rectangle 56">
            <a:extLst>
              <a:ext uri="{FF2B5EF4-FFF2-40B4-BE49-F238E27FC236}">
                <a16:creationId xmlns:a16="http://schemas.microsoft.com/office/drawing/2014/main" id="{E3783FAE-02D8-DE4B-8FC3-7A3B630CE574}"/>
              </a:ext>
            </a:extLst>
          </p:cNvPr>
          <p:cNvSpPr/>
          <p:nvPr/>
        </p:nvSpPr>
        <p:spPr bwMode="auto">
          <a:xfrm>
            <a:off x="9220200" y="4191000"/>
            <a:ext cx="2006600" cy="457200"/>
          </a:xfrm>
          <a:prstGeom prst="rect">
            <a:avLst/>
          </a:prstGeom>
          <a:solidFill>
            <a:srgbClr val="0B075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58" name="TextBox 57">
            <a:extLst>
              <a:ext uri="{FF2B5EF4-FFF2-40B4-BE49-F238E27FC236}">
                <a16:creationId xmlns:a16="http://schemas.microsoft.com/office/drawing/2014/main" id="{1D9F908A-BA4B-BD49-9E4E-DFFC0D92B3AF}"/>
              </a:ext>
            </a:extLst>
          </p:cNvPr>
          <p:cNvSpPr txBox="1"/>
          <p:nvPr/>
        </p:nvSpPr>
        <p:spPr>
          <a:xfrm>
            <a:off x="9321800" y="4203700"/>
            <a:ext cx="1803400" cy="431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FFFFFF"/>
                </a:solidFill>
                <a:effectLst/>
                <a:uLnTx/>
                <a:uFillTx/>
                <a:latin typeface="Arial"/>
                <a:ea typeface="+mn-ea"/>
                <a:cs typeface="Arial"/>
              </a:rPr>
              <a:t>MODERN</a:t>
            </a:r>
            <a:endParaRPr kumimoji="0" lang="en-US" sz="950" b="1" i="0" u="none" strike="noStrike" kern="1200" cap="none" spc="0" normalizeH="0" baseline="0" noProof="0" dirty="0">
              <a:ln>
                <a:noFill/>
              </a:ln>
              <a:solidFill>
                <a:srgbClr val="FFFFFF"/>
              </a:solidFill>
              <a:effectLst/>
              <a:uLnTx/>
              <a:uFillTx/>
              <a:latin typeface="Arial"/>
              <a:ea typeface="+mn-ea"/>
              <a:cs typeface="Arial"/>
            </a:endParaRPr>
          </a:p>
        </p:txBody>
      </p:sp>
      <p:sp>
        <p:nvSpPr>
          <p:cNvPr id="59" name="TextBox 58">
            <a:extLst>
              <a:ext uri="{FF2B5EF4-FFF2-40B4-BE49-F238E27FC236}">
                <a16:creationId xmlns:a16="http://schemas.microsoft.com/office/drawing/2014/main" id="{CC715A5D-9C81-4C45-A7CE-40A3115A7B5C}"/>
              </a:ext>
            </a:extLst>
          </p:cNvPr>
          <p:cNvSpPr txBox="1"/>
          <p:nvPr/>
        </p:nvSpPr>
        <p:spPr>
          <a:xfrm>
            <a:off x="609600" y="4711700"/>
            <a:ext cx="2159000" cy="4572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B075B"/>
                </a:solidFill>
                <a:effectLst/>
                <a:uLnTx/>
                <a:uFillTx/>
                <a:latin typeface="Arial"/>
                <a:ea typeface="+mn-ea"/>
                <a:cs typeface="Arial"/>
              </a:rPr>
              <a:t>CAPABILITY SLICE B</a:t>
            </a:r>
            <a:endParaRPr kumimoji="0" lang="en-US" sz="1000" b="1" i="0" u="none" strike="noStrike" kern="1200" cap="none" spc="0" normalizeH="0" baseline="0" noProof="0" dirty="0">
              <a:ln>
                <a:noFill/>
              </a:ln>
              <a:solidFill>
                <a:srgbClr val="0B075B"/>
              </a:solidFill>
              <a:effectLst/>
              <a:uLnTx/>
              <a:uFillTx/>
              <a:latin typeface="Arial"/>
              <a:ea typeface="+mn-ea"/>
              <a:cs typeface="Arial"/>
            </a:endParaRPr>
          </a:p>
        </p:txBody>
      </p:sp>
      <p:sp>
        <p:nvSpPr>
          <p:cNvPr id="60" name="Rectangle 59">
            <a:extLst>
              <a:ext uri="{FF2B5EF4-FFF2-40B4-BE49-F238E27FC236}">
                <a16:creationId xmlns:a16="http://schemas.microsoft.com/office/drawing/2014/main" id="{313BB131-A62F-C04A-92C0-8B6D53633648}"/>
              </a:ext>
            </a:extLst>
          </p:cNvPr>
          <p:cNvSpPr/>
          <p:nvPr/>
        </p:nvSpPr>
        <p:spPr bwMode="auto">
          <a:xfrm>
            <a:off x="2971800" y="4711700"/>
            <a:ext cx="2006600" cy="45720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61" name="TextBox 60">
            <a:extLst>
              <a:ext uri="{FF2B5EF4-FFF2-40B4-BE49-F238E27FC236}">
                <a16:creationId xmlns:a16="http://schemas.microsoft.com/office/drawing/2014/main" id="{03F3BAE4-70C9-D545-A119-9B5F120E86E4}"/>
              </a:ext>
            </a:extLst>
          </p:cNvPr>
          <p:cNvSpPr txBox="1"/>
          <p:nvPr/>
        </p:nvSpPr>
        <p:spPr>
          <a:xfrm>
            <a:off x="3073400" y="4724400"/>
            <a:ext cx="1803400" cy="431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LEGACY</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62" name="Rectangle 61">
            <a:extLst>
              <a:ext uri="{FF2B5EF4-FFF2-40B4-BE49-F238E27FC236}">
                <a16:creationId xmlns:a16="http://schemas.microsoft.com/office/drawing/2014/main" id="{5775525C-7E3A-324A-A961-6A3DDB161586}"/>
              </a:ext>
            </a:extLst>
          </p:cNvPr>
          <p:cNvSpPr/>
          <p:nvPr/>
        </p:nvSpPr>
        <p:spPr bwMode="auto">
          <a:xfrm>
            <a:off x="5054600" y="4711700"/>
            <a:ext cx="2006600" cy="45720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63" name="TextBox 62">
            <a:extLst>
              <a:ext uri="{FF2B5EF4-FFF2-40B4-BE49-F238E27FC236}">
                <a16:creationId xmlns:a16="http://schemas.microsoft.com/office/drawing/2014/main" id="{27A08402-893B-6C4B-A373-7BEB4A8EB58F}"/>
              </a:ext>
            </a:extLst>
          </p:cNvPr>
          <p:cNvSpPr txBox="1"/>
          <p:nvPr/>
        </p:nvSpPr>
        <p:spPr>
          <a:xfrm>
            <a:off x="5156200" y="4724400"/>
            <a:ext cx="1803400" cy="431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LEGACY</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64" name="Rectangle 63">
            <a:extLst>
              <a:ext uri="{FF2B5EF4-FFF2-40B4-BE49-F238E27FC236}">
                <a16:creationId xmlns:a16="http://schemas.microsoft.com/office/drawing/2014/main" id="{59369C3C-4480-E141-8A13-F3FF93947B51}"/>
              </a:ext>
            </a:extLst>
          </p:cNvPr>
          <p:cNvSpPr/>
          <p:nvPr/>
        </p:nvSpPr>
        <p:spPr bwMode="auto">
          <a:xfrm>
            <a:off x="7137400" y="4711700"/>
            <a:ext cx="2006600" cy="457200"/>
          </a:xfrm>
          <a:prstGeom prst="rect">
            <a:avLst/>
          </a:prstGeom>
          <a:solidFill>
            <a:srgbClr val="E9B7E2"/>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65" name="TextBox 64">
            <a:extLst>
              <a:ext uri="{FF2B5EF4-FFF2-40B4-BE49-F238E27FC236}">
                <a16:creationId xmlns:a16="http://schemas.microsoft.com/office/drawing/2014/main" id="{BD11FD6C-1A68-8E4E-BFA8-9AD881F490E8}"/>
              </a:ext>
            </a:extLst>
          </p:cNvPr>
          <p:cNvSpPr txBox="1"/>
          <p:nvPr/>
        </p:nvSpPr>
        <p:spPr>
          <a:xfrm>
            <a:off x="7239000" y="4724400"/>
            <a:ext cx="1803400" cy="431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COEXISTENCE</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66" name="Rectangle 65">
            <a:extLst>
              <a:ext uri="{FF2B5EF4-FFF2-40B4-BE49-F238E27FC236}">
                <a16:creationId xmlns:a16="http://schemas.microsoft.com/office/drawing/2014/main" id="{1976DC4A-197A-E04B-B9C6-B38DA0B60333}"/>
              </a:ext>
            </a:extLst>
          </p:cNvPr>
          <p:cNvSpPr/>
          <p:nvPr/>
        </p:nvSpPr>
        <p:spPr bwMode="auto">
          <a:xfrm>
            <a:off x="9220200" y="4711700"/>
            <a:ext cx="2006600" cy="457200"/>
          </a:xfrm>
          <a:prstGeom prst="rect">
            <a:avLst/>
          </a:prstGeom>
          <a:solidFill>
            <a:srgbClr val="0B075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67" name="TextBox 66">
            <a:extLst>
              <a:ext uri="{FF2B5EF4-FFF2-40B4-BE49-F238E27FC236}">
                <a16:creationId xmlns:a16="http://schemas.microsoft.com/office/drawing/2014/main" id="{25D4F5AD-7B42-C043-9170-C9DF3891D493}"/>
              </a:ext>
            </a:extLst>
          </p:cNvPr>
          <p:cNvSpPr txBox="1"/>
          <p:nvPr/>
        </p:nvSpPr>
        <p:spPr>
          <a:xfrm>
            <a:off x="9321800" y="4724400"/>
            <a:ext cx="1803400" cy="431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FFFFFF"/>
                </a:solidFill>
                <a:effectLst/>
                <a:uLnTx/>
                <a:uFillTx/>
                <a:latin typeface="Arial"/>
                <a:ea typeface="+mn-ea"/>
                <a:cs typeface="Arial"/>
              </a:rPr>
              <a:t>MODERN</a:t>
            </a:r>
            <a:endParaRPr kumimoji="0" lang="en-US" sz="950" b="1" i="0" u="none" strike="noStrike" kern="1200" cap="none" spc="0" normalizeH="0" baseline="0" noProof="0" dirty="0">
              <a:ln>
                <a:noFill/>
              </a:ln>
              <a:solidFill>
                <a:srgbClr val="FFFFFF"/>
              </a:solidFill>
              <a:effectLst/>
              <a:uLnTx/>
              <a:uFillTx/>
              <a:latin typeface="Arial"/>
              <a:ea typeface="+mn-ea"/>
              <a:cs typeface="Arial"/>
            </a:endParaRPr>
          </a:p>
        </p:txBody>
      </p:sp>
      <p:sp>
        <p:nvSpPr>
          <p:cNvPr id="68" name="TextBox 67">
            <a:extLst>
              <a:ext uri="{FF2B5EF4-FFF2-40B4-BE49-F238E27FC236}">
                <a16:creationId xmlns:a16="http://schemas.microsoft.com/office/drawing/2014/main" id="{81202B31-0481-FA48-BC6D-93302B12A91F}"/>
              </a:ext>
            </a:extLst>
          </p:cNvPr>
          <p:cNvSpPr txBox="1"/>
          <p:nvPr/>
        </p:nvSpPr>
        <p:spPr>
          <a:xfrm>
            <a:off x="609600" y="5232400"/>
            <a:ext cx="2159000" cy="4572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B075B"/>
                </a:solidFill>
                <a:effectLst/>
                <a:uLnTx/>
                <a:uFillTx/>
                <a:latin typeface="Arial"/>
                <a:ea typeface="+mn-ea"/>
                <a:cs typeface="Arial"/>
              </a:rPr>
              <a:t>CAPABILITY SLICE C</a:t>
            </a:r>
            <a:endParaRPr kumimoji="0" lang="en-US" sz="1000" b="1" i="0" u="none" strike="noStrike" kern="1200" cap="none" spc="0" normalizeH="0" baseline="0" noProof="0" dirty="0">
              <a:ln>
                <a:noFill/>
              </a:ln>
              <a:solidFill>
                <a:srgbClr val="0B075B"/>
              </a:solidFill>
              <a:effectLst/>
              <a:uLnTx/>
              <a:uFillTx/>
              <a:latin typeface="Arial"/>
              <a:ea typeface="+mn-ea"/>
              <a:cs typeface="Arial"/>
            </a:endParaRPr>
          </a:p>
        </p:txBody>
      </p:sp>
      <p:sp>
        <p:nvSpPr>
          <p:cNvPr id="69" name="Rectangle 68">
            <a:extLst>
              <a:ext uri="{FF2B5EF4-FFF2-40B4-BE49-F238E27FC236}">
                <a16:creationId xmlns:a16="http://schemas.microsoft.com/office/drawing/2014/main" id="{779743E4-81DB-124C-A4B5-3574716C07EE}"/>
              </a:ext>
            </a:extLst>
          </p:cNvPr>
          <p:cNvSpPr/>
          <p:nvPr/>
        </p:nvSpPr>
        <p:spPr bwMode="auto">
          <a:xfrm>
            <a:off x="2971800" y="5232400"/>
            <a:ext cx="2006600" cy="45720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70" name="TextBox 69">
            <a:extLst>
              <a:ext uri="{FF2B5EF4-FFF2-40B4-BE49-F238E27FC236}">
                <a16:creationId xmlns:a16="http://schemas.microsoft.com/office/drawing/2014/main" id="{F42B2019-1342-2746-B239-39680FD1265D}"/>
              </a:ext>
            </a:extLst>
          </p:cNvPr>
          <p:cNvSpPr txBox="1"/>
          <p:nvPr/>
        </p:nvSpPr>
        <p:spPr>
          <a:xfrm>
            <a:off x="3073400" y="5245100"/>
            <a:ext cx="1803400" cy="431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LEGACY</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71" name="Rectangle 70">
            <a:extLst>
              <a:ext uri="{FF2B5EF4-FFF2-40B4-BE49-F238E27FC236}">
                <a16:creationId xmlns:a16="http://schemas.microsoft.com/office/drawing/2014/main" id="{34200B2B-4197-1A4D-8796-80F06D14FE52}"/>
              </a:ext>
            </a:extLst>
          </p:cNvPr>
          <p:cNvSpPr/>
          <p:nvPr/>
        </p:nvSpPr>
        <p:spPr bwMode="auto">
          <a:xfrm>
            <a:off x="5054600" y="5232400"/>
            <a:ext cx="2006600" cy="45720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72" name="TextBox 71">
            <a:extLst>
              <a:ext uri="{FF2B5EF4-FFF2-40B4-BE49-F238E27FC236}">
                <a16:creationId xmlns:a16="http://schemas.microsoft.com/office/drawing/2014/main" id="{6C0B3B83-D15E-D547-8682-94097839B19B}"/>
              </a:ext>
            </a:extLst>
          </p:cNvPr>
          <p:cNvSpPr txBox="1"/>
          <p:nvPr/>
        </p:nvSpPr>
        <p:spPr>
          <a:xfrm>
            <a:off x="5156200" y="5245100"/>
            <a:ext cx="1803400" cy="431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LEGACY</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73" name="Rectangle 72">
            <a:extLst>
              <a:ext uri="{FF2B5EF4-FFF2-40B4-BE49-F238E27FC236}">
                <a16:creationId xmlns:a16="http://schemas.microsoft.com/office/drawing/2014/main" id="{E344DC98-89DF-C44E-AA84-9AE95B2FE114}"/>
              </a:ext>
            </a:extLst>
          </p:cNvPr>
          <p:cNvSpPr/>
          <p:nvPr/>
        </p:nvSpPr>
        <p:spPr bwMode="auto">
          <a:xfrm>
            <a:off x="7137400" y="5232400"/>
            <a:ext cx="2006600" cy="457200"/>
          </a:xfrm>
          <a:prstGeom prst="rect">
            <a:avLst/>
          </a:prstGeom>
          <a:solidFill>
            <a:srgbClr val="CBD6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74" name="TextBox 73">
            <a:extLst>
              <a:ext uri="{FF2B5EF4-FFF2-40B4-BE49-F238E27FC236}">
                <a16:creationId xmlns:a16="http://schemas.microsoft.com/office/drawing/2014/main" id="{6F5BFDA4-B080-BC40-A74F-202E58F8B070}"/>
              </a:ext>
            </a:extLst>
          </p:cNvPr>
          <p:cNvSpPr txBox="1"/>
          <p:nvPr/>
        </p:nvSpPr>
        <p:spPr>
          <a:xfrm>
            <a:off x="7239000" y="5245100"/>
            <a:ext cx="1803400" cy="431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LEGACY</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75" name="Rectangle 74">
            <a:extLst>
              <a:ext uri="{FF2B5EF4-FFF2-40B4-BE49-F238E27FC236}">
                <a16:creationId xmlns:a16="http://schemas.microsoft.com/office/drawing/2014/main" id="{5F00A652-383D-D849-B08F-8C97064CCAB6}"/>
              </a:ext>
            </a:extLst>
          </p:cNvPr>
          <p:cNvSpPr/>
          <p:nvPr/>
        </p:nvSpPr>
        <p:spPr bwMode="auto">
          <a:xfrm>
            <a:off x="9220200" y="5232400"/>
            <a:ext cx="2006600" cy="457200"/>
          </a:xfrm>
          <a:prstGeom prst="rect">
            <a:avLst/>
          </a:prstGeom>
          <a:solidFill>
            <a:srgbClr val="E9B7E2"/>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76" name="TextBox 75">
            <a:extLst>
              <a:ext uri="{FF2B5EF4-FFF2-40B4-BE49-F238E27FC236}">
                <a16:creationId xmlns:a16="http://schemas.microsoft.com/office/drawing/2014/main" id="{E842D836-A578-7D4C-B43D-3E0663FEF113}"/>
              </a:ext>
            </a:extLst>
          </p:cNvPr>
          <p:cNvSpPr txBox="1"/>
          <p:nvPr/>
        </p:nvSpPr>
        <p:spPr>
          <a:xfrm>
            <a:off x="9321800" y="5245100"/>
            <a:ext cx="1803400" cy="431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COEXISTENCE</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77" name="Rectangle 76">
            <a:extLst>
              <a:ext uri="{FF2B5EF4-FFF2-40B4-BE49-F238E27FC236}">
                <a16:creationId xmlns:a16="http://schemas.microsoft.com/office/drawing/2014/main" id="{47EF1716-5DB1-5349-987A-F61B94A2D0B9}"/>
              </a:ext>
            </a:extLst>
          </p:cNvPr>
          <p:cNvSpPr/>
          <p:nvPr/>
        </p:nvSpPr>
        <p:spPr bwMode="auto">
          <a:xfrm>
            <a:off x="609600" y="5816600"/>
            <a:ext cx="10922000" cy="304800"/>
          </a:xfrm>
          <a:prstGeom prst="rect">
            <a:avLst/>
          </a:prstGeom>
          <a:solidFill>
            <a:srgbClr val="E8EEF7"/>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78" name="Rectangle 77">
            <a:extLst>
              <a:ext uri="{FF2B5EF4-FFF2-40B4-BE49-F238E27FC236}">
                <a16:creationId xmlns:a16="http://schemas.microsoft.com/office/drawing/2014/main" id="{568261D7-3C5E-174A-9DE5-EB49C7AE79DF}"/>
              </a:ext>
            </a:extLst>
          </p:cNvPr>
          <p:cNvSpPr/>
          <p:nvPr/>
        </p:nvSpPr>
        <p:spPr bwMode="auto">
          <a:xfrm>
            <a:off x="609600" y="5816600"/>
            <a:ext cx="76200" cy="304800"/>
          </a:xfrm>
          <a:prstGeom prst="rect">
            <a:avLst/>
          </a:prstGeom>
          <a:solidFill>
            <a:srgbClr val="F5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79" name="TextBox 78">
            <a:extLst>
              <a:ext uri="{FF2B5EF4-FFF2-40B4-BE49-F238E27FC236}">
                <a16:creationId xmlns:a16="http://schemas.microsoft.com/office/drawing/2014/main" id="{F3BCEF09-91F9-4040-96F6-74858447E195}"/>
              </a:ext>
            </a:extLst>
          </p:cNvPr>
          <p:cNvSpPr txBox="1"/>
          <p:nvPr/>
        </p:nvSpPr>
        <p:spPr>
          <a:xfrm>
            <a:off x="838200" y="5854700"/>
            <a:ext cx="10490200" cy="2159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B075B"/>
                </a:solidFill>
                <a:effectLst/>
                <a:uLnTx/>
                <a:uFillTx/>
                <a:latin typeface="Arial"/>
                <a:ea typeface="+mn-ea"/>
                <a:cs typeface="Arial"/>
              </a:rPr>
              <a:t>PEOPLE CONTROL GO / NO-GO, FALLBACK, DATA CHANGES, RISK ACCEPTANCE, AND RETIREMENT; AI SURFACES EVIDENCE AND RECOMMENDATIONS.</a:t>
            </a:r>
            <a:endParaRPr kumimoji="0" lang="en-US" sz="950" b="1" i="0" u="none" strike="noStrike" kern="1200" cap="none" spc="0" normalizeH="0" baseline="0" noProof="0" dirty="0">
              <a:ln>
                <a:noFill/>
              </a:ln>
              <a:solidFill>
                <a:srgbClr val="0B075B"/>
              </a:solidFill>
              <a:effectLst/>
              <a:uLnTx/>
              <a:uFillTx/>
              <a:latin typeface="Arial"/>
              <a:ea typeface="+mn-ea"/>
              <a:cs typeface="Arial"/>
            </a:endParaRPr>
          </a:p>
        </p:txBody>
      </p:sp>
      <p:sp>
        <p:nvSpPr>
          <p:cNvPr id="80" name="TextBox 79">
            <a:extLst>
              <a:ext uri="{FF2B5EF4-FFF2-40B4-BE49-F238E27FC236}">
                <a16:creationId xmlns:a16="http://schemas.microsoft.com/office/drawing/2014/main" id="{AA76D9EE-12E4-AF45-A1DA-23E015944CE8}"/>
              </a:ext>
            </a:extLst>
          </p:cNvPr>
          <p:cNvSpPr txBox="1"/>
          <p:nvPr/>
        </p:nvSpPr>
        <p:spPr>
          <a:xfrm>
            <a:off x="609600" y="6172200"/>
            <a:ext cx="10922000" cy="177800"/>
          </a:xfrm>
          <a:prstGeom prst="rect">
            <a:avLst/>
          </a:prstGeom>
          <a:noFill/>
        </p:spPr>
        <p:txBody>
          <a:bodyPr vertOverflow="overflow" vert="horz" wrap="square" lIns="0" tIns="0" rIns="0" bIns="0" rtlCol="0" anchor="ctr" anchorCtr="0">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0" i="0" u="none" strike="noStrike" kern="1200" cap="none" spc="0" normalizeH="0" baseline="0" noProof="0">
                <a:ln>
                  <a:noFill/>
                </a:ln>
                <a:solidFill>
                  <a:srgbClr val="50627A"/>
                </a:solidFill>
                <a:effectLst/>
                <a:uLnTx/>
                <a:uFillTx/>
                <a:latin typeface="Arial"/>
                <a:ea typeface="+mn-ea"/>
                <a:cs typeface="Arial"/>
              </a:rPr>
              <a:t>The migration unit is a business-viable capability slice—not simply a technical component.</a:t>
            </a:r>
            <a:endParaRPr kumimoji="0" lang="en-US" sz="950" b="0" i="0" u="none" strike="noStrike" kern="1200" cap="none" spc="0" normalizeH="0" baseline="0" noProof="0" dirty="0">
              <a:ln>
                <a:noFill/>
              </a:ln>
              <a:solidFill>
                <a:srgbClr val="50627A"/>
              </a:solidFill>
              <a:effectLst/>
              <a:uLnTx/>
              <a:uFillTx/>
              <a:latin typeface="Arial"/>
              <a:ea typeface="+mn-ea"/>
              <a:cs typeface="Arial"/>
            </a:endParaRPr>
          </a:p>
        </p:txBody>
      </p:sp>
    </p:spTree>
    <p:custDataLst>
      <p:tags r:id="rId1"/>
    </p:custDataLst>
    <p:extLst>
      <p:ext uri="{BB962C8B-B14F-4D97-AF65-F5344CB8AC3E}">
        <p14:creationId xmlns:p14="http://schemas.microsoft.com/office/powerpoint/2010/main" val="20007333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8C-63DB-6EC0-54B3-BAD510DB5D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2D4D6B-E702-B14F-8CBF-3DB9404EA064}"/>
              </a:ext>
            </a:extLst>
          </p:cNvPr>
          <p:cNvSpPr/>
          <p:nvPr/>
        </p:nvSpPr>
        <p:spPr bwMode="auto">
          <a:xfrm>
            <a:off x="0" y="0"/>
            <a:ext cx="121920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3D957A41-9389-9041-99A2-9153DA0C87B2}"/>
              </a:ext>
            </a:extLst>
          </p:cNvPr>
          <p:cNvSpPr/>
          <p:nvPr/>
        </p:nvSpPr>
        <p:spPr bwMode="auto">
          <a:xfrm>
            <a:off x="0" y="0"/>
            <a:ext cx="2286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0716BB7-CA60-524A-8CA8-6B88AD30659B}"/>
              </a:ext>
            </a:extLst>
          </p:cNvPr>
          <p:cNvSpPr/>
          <p:nvPr/>
        </p:nvSpPr>
        <p:spPr bwMode="auto">
          <a:xfrm>
            <a:off x="457200" y="609600"/>
            <a:ext cx="15240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3C91333C-DD3E-9B4D-89FD-5B2ACB074E63}"/>
              </a:ext>
            </a:extLst>
          </p:cNvPr>
          <p:cNvSpPr txBox="1"/>
          <p:nvPr/>
        </p:nvSpPr>
        <p:spPr>
          <a:xfrm>
            <a:off x="609600" y="990600"/>
            <a:ext cx="228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INTERNAL PICK-DECK GUIDE</a:t>
            </a:r>
            <a:endParaRPr lang="en-US" sz="1000" b="1" dirty="0">
              <a:solidFill>
                <a:srgbClr val="0047FF"/>
              </a:solidFill>
              <a:latin typeface="Arial"/>
              <a:cs typeface="Arial"/>
            </a:endParaRPr>
          </a:p>
        </p:txBody>
      </p:sp>
      <p:sp>
        <p:nvSpPr>
          <p:cNvPr id="12" name="TextBox 11">
            <a:extLst>
              <a:ext uri="{FF2B5EF4-FFF2-40B4-BE49-F238E27FC236}">
                <a16:creationId xmlns:a16="http://schemas.microsoft.com/office/drawing/2014/main" id="{F8E1B792-659A-D74D-9D48-33D822D70F96}"/>
              </a:ext>
            </a:extLst>
          </p:cNvPr>
          <p:cNvSpPr txBox="1"/>
          <p:nvPr/>
        </p:nvSpPr>
        <p:spPr>
          <a:xfrm>
            <a:off x="609600" y="1473200"/>
            <a:ext cx="8001000" cy="149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900" b="1">
                <a:solidFill>
                  <a:srgbClr val="FFFFFF"/>
                </a:solidFill>
                <a:latin typeface="Arial"/>
                <a:cs typeface="Arial"/>
              </a:rPr>
              <a:t>Double-Click: Sustain</a:t>
            </a:r>
            <a:endParaRPr lang="en-US" sz="2900" b="1" dirty="0">
              <a:solidFill>
                <a:srgbClr val="FFFFFF"/>
              </a:solidFill>
              <a:latin typeface="Arial"/>
              <a:cs typeface="Arial"/>
            </a:endParaRPr>
          </a:p>
        </p:txBody>
      </p:sp>
      <p:sp>
        <p:nvSpPr>
          <p:cNvPr id="14" name="TextBox 13">
            <a:extLst>
              <a:ext uri="{FF2B5EF4-FFF2-40B4-BE49-F238E27FC236}">
                <a16:creationId xmlns:a16="http://schemas.microsoft.com/office/drawing/2014/main" id="{F12B1E13-E8CD-BD43-96AA-519B3925EF9F}"/>
              </a:ext>
            </a:extLst>
          </p:cNvPr>
          <p:cNvSpPr txBox="1"/>
          <p:nvPr/>
        </p:nvSpPr>
        <p:spPr>
          <a:xfrm>
            <a:off x="609600" y="3149600"/>
            <a:ext cx="7874000" cy="685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a:solidFill>
                  <a:srgbClr val="FFFFFF"/>
                </a:solidFill>
                <a:latin typeface="Arial"/>
                <a:cs typeface="Arial"/>
              </a:rPr>
              <a:t>Show how modernization value is sustained through operating discipline, continuous evolution, knowledge retention, and verified decommissioning.</a:t>
            </a:r>
            <a:endParaRPr lang="en-US" sz="1300" dirty="0">
              <a:solidFill>
                <a:srgbClr val="FFFFFF"/>
              </a:solidFill>
              <a:latin typeface="Arial"/>
              <a:cs typeface="Arial"/>
            </a:endParaRPr>
          </a:p>
        </p:txBody>
      </p:sp>
      <p:sp>
        <p:nvSpPr>
          <p:cNvPr id="15" name="TextBox 14">
            <a:extLst>
              <a:ext uri="{FF2B5EF4-FFF2-40B4-BE49-F238E27FC236}">
                <a16:creationId xmlns:a16="http://schemas.microsoft.com/office/drawing/2014/main" id="{73F430C6-7897-2E44-A356-F000D6B34EA5}"/>
              </a:ext>
            </a:extLst>
          </p:cNvPr>
          <p:cNvSpPr txBox="1"/>
          <p:nvPr/>
        </p:nvSpPr>
        <p:spPr>
          <a:xfrm>
            <a:off x="9118600" y="11557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IN THIS SECTION</a:t>
            </a:r>
            <a:endParaRPr lang="en-US" sz="950" b="1" dirty="0">
              <a:solidFill>
                <a:srgbClr val="0047FF"/>
              </a:solidFill>
              <a:latin typeface="Arial"/>
              <a:cs typeface="Arial"/>
            </a:endParaRPr>
          </a:p>
        </p:txBody>
      </p:sp>
      <p:sp>
        <p:nvSpPr>
          <p:cNvPr id="16" name="Rectangle 15">
            <a:extLst>
              <a:ext uri="{FF2B5EF4-FFF2-40B4-BE49-F238E27FC236}">
                <a16:creationId xmlns:a16="http://schemas.microsoft.com/office/drawing/2014/main" id="{261D85DC-F9D6-6945-B534-E7FA1D31F122}"/>
              </a:ext>
            </a:extLst>
          </p:cNvPr>
          <p:cNvSpPr/>
          <p:nvPr/>
        </p:nvSpPr>
        <p:spPr bwMode="auto">
          <a:xfrm>
            <a:off x="9118600" y="15875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D01BF5B1-B24E-284C-9FC7-E80462316182}"/>
              </a:ext>
            </a:extLst>
          </p:cNvPr>
          <p:cNvSpPr txBox="1"/>
          <p:nvPr/>
        </p:nvSpPr>
        <p:spPr>
          <a:xfrm>
            <a:off x="9271000" y="17399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01</a:t>
            </a:r>
            <a:endParaRPr lang="en-US" sz="900" b="1" dirty="0">
              <a:solidFill>
                <a:srgbClr val="F900D3"/>
              </a:solidFill>
              <a:latin typeface="Arial"/>
              <a:cs typeface="Arial"/>
            </a:endParaRPr>
          </a:p>
        </p:txBody>
      </p:sp>
      <p:sp>
        <p:nvSpPr>
          <p:cNvPr id="21" name="TextBox 20">
            <a:extLst>
              <a:ext uri="{FF2B5EF4-FFF2-40B4-BE49-F238E27FC236}">
                <a16:creationId xmlns:a16="http://schemas.microsoft.com/office/drawing/2014/main" id="{F685F9EA-221F-3347-8288-97BD26237162}"/>
              </a:ext>
            </a:extLst>
          </p:cNvPr>
          <p:cNvSpPr txBox="1"/>
          <p:nvPr/>
        </p:nvSpPr>
        <p:spPr>
          <a:xfrm>
            <a:off x="9677400" y="16764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Operate + evolve</a:t>
            </a:r>
            <a:endParaRPr lang="en-US" sz="1000" b="1" dirty="0">
              <a:solidFill>
                <a:srgbClr val="070154"/>
              </a:solidFill>
              <a:latin typeface="Arial"/>
              <a:cs typeface="Arial"/>
            </a:endParaRPr>
          </a:p>
        </p:txBody>
      </p:sp>
      <p:sp>
        <p:nvSpPr>
          <p:cNvPr id="22" name="Rectangle 21">
            <a:extLst>
              <a:ext uri="{FF2B5EF4-FFF2-40B4-BE49-F238E27FC236}">
                <a16:creationId xmlns:a16="http://schemas.microsoft.com/office/drawing/2014/main" id="{07DBAAEE-5275-0B4F-8234-10AE0BF7AC50}"/>
              </a:ext>
            </a:extLst>
          </p:cNvPr>
          <p:cNvSpPr/>
          <p:nvPr/>
        </p:nvSpPr>
        <p:spPr bwMode="auto">
          <a:xfrm>
            <a:off x="9118600" y="23114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C1D6F0A2-F72D-C640-9D54-A4D4C9BE9626}"/>
              </a:ext>
            </a:extLst>
          </p:cNvPr>
          <p:cNvSpPr txBox="1"/>
          <p:nvPr/>
        </p:nvSpPr>
        <p:spPr>
          <a:xfrm>
            <a:off x="9271000" y="2463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02</a:t>
            </a:r>
            <a:endParaRPr lang="en-US" sz="900" b="1" dirty="0">
              <a:solidFill>
                <a:srgbClr val="F900D3"/>
              </a:solidFill>
              <a:latin typeface="Arial"/>
              <a:cs typeface="Arial"/>
            </a:endParaRPr>
          </a:p>
        </p:txBody>
      </p:sp>
      <p:sp>
        <p:nvSpPr>
          <p:cNvPr id="24" name="TextBox 23">
            <a:extLst>
              <a:ext uri="{FF2B5EF4-FFF2-40B4-BE49-F238E27FC236}">
                <a16:creationId xmlns:a16="http://schemas.microsoft.com/office/drawing/2014/main" id="{080B83FA-47AE-5546-B78A-3741943FCCAA}"/>
              </a:ext>
            </a:extLst>
          </p:cNvPr>
          <p:cNvSpPr txBox="1"/>
          <p:nvPr/>
        </p:nvSpPr>
        <p:spPr>
          <a:xfrm>
            <a:off x="9677400" y="24003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Living knowledge base</a:t>
            </a:r>
            <a:endParaRPr lang="en-US" sz="1000" b="1" dirty="0">
              <a:solidFill>
                <a:srgbClr val="070154"/>
              </a:solidFill>
              <a:latin typeface="Arial"/>
              <a:cs typeface="Arial"/>
            </a:endParaRPr>
          </a:p>
        </p:txBody>
      </p:sp>
      <p:sp>
        <p:nvSpPr>
          <p:cNvPr id="25" name="Rectangle 24">
            <a:extLst>
              <a:ext uri="{FF2B5EF4-FFF2-40B4-BE49-F238E27FC236}">
                <a16:creationId xmlns:a16="http://schemas.microsoft.com/office/drawing/2014/main" id="{5B5F2BF9-FA2F-E54E-9A25-DB5AD24F1FD1}"/>
              </a:ext>
            </a:extLst>
          </p:cNvPr>
          <p:cNvSpPr/>
          <p:nvPr/>
        </p:nvSpPr>
        <p:spPr bwMode="auto">
          <a:xfrm>
            <a:off x="9118600" y="30353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29292B1C-4A91-1946-99C8-A22EB49E9166}"/>
              </a:ext>
            </a:extLst>
          </p:cNvPr>
          <p:cNvSpPr txBox="1"/>
          <p:nvPr/>
        </p:nvSpPr>
        <p:spPr>
          <a:xfrm>
            <a:off x="92710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03</a:t>
            </a:r>
            <a:endParaRPr lang="en-US" sz="900" b="1" dirty="0">
              <a:solidFill>
                <a:srgbClr val="F900D3"/>
              </a:solidFill>
              <a:latin typeface="Arial"/>
              <a:cs typeface="Arial"/>
            </a:endParaRPr>
          </a:p>
        </p:txBody>
      </p:sp>
      <p:sp>
        <p:nvSpPr>
          <p:cNvPr id="27" name="TextBox 26">
            <a:extLst>
              <a:ext uri="{FF2B5EF4-FFF2-40B4-BE49-F238E27FC236}">
                <a16:creationId xmlns:a16="http://schemas.microsoft.com/office/drawing/2014/main" id="{6D3A6AC7-EA6A-544F-B9CC-F86023D2FAF4}"/>
              </a:ext>
            </a:extLst>
          </p:cNvPr>
          <p:cNvSpPr txBox="1"/>
          <p:nvPr/>
        </p:nvSpPr>
        <p:spPr>
          <a:xfrm>
            <a:off x="9677400" y="31242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Decommission legacy</a:t>
            </a:r>
            <a:endParaRPr lang="en-US" sz="1000" b="1" dirty="0">
              <a:solidFill>
                <a:srgbClr val="070154"/>
              </a:solidFill>
              <a:latin typeface="Arial"/>
              <a:cs typeface="Arial"/>
            </a:endParaRPr>
          </a:p>
        </p:txBody>
      </p:sp>
      <p:sp>
        <p:nvSpPr>
          <p:cNvPr id="28" name="Rectangle 27">
            <a:extLst>
              <a:ext uri="{FF2B5EF4-FFF2-40B4-BE49-F238E27FC236}">
                <a16:creationId xmlns:a16="http://schemas.microsoft.com/office/drawing/2014/main" id="{7D2CEE49-87AD-B74B-BCBB-6545318FEAE4}"/>
              </a:ext>
            </a:extLst>
          </p:cNvPr>
          <p:cNvSpPr/>
          <p:nvPr/>
        </p:nvSpPr>
        <p:spPr bwMode="auto">
          <a:xfrm>
            <a:off x="9118600" y="37592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A7BB059-7F53-E749-AC13-3FF96661BA83}"/>
              </a:ext>
            </a:extLst>
          </p:cNvPr>
          <p:cNvSpPr txBox="1"/>
          <p:nvPr/>
        </p:nvSpPr>
        <p:spPr>
          <a:xfrm>
            <a:off x="9271000" y="39116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04</a:t>
            </a:r>
            <a:endParaRPr lang="en-US" sz="900" b="1" dirty="0">
              <a:solidFill>
                <a:srgbClr val="F900D3"/>
              </a:solidFill>
              <a:latin typeface="Arial"/>
              <a:cs typeface="Arial"/>
            </a:endParaRPr>
          </a:p>
        </p:txBody>
      </p:sp>
      <p:sp>
        <p:nvSpPr>
          <p:cNvPr id="30" name="TextBox 29">
            <a:extLst>
              <a:ext uri="{FF2B5EF4-FFF2-40B4-BE49-F238E27FC236}">
                <a16:creationId xmlns:a16="http://schemas.microsoft.com/office/drawing/2014/main" id="{E81A1754-C62A-9340-828F-1507EB0BF98D}"/>
              </a:ext>
            </a:extLst>
          </p:cNvPr>
          <p:cNvSpPr txBox="1"/>
          <p:nvPr/>
        </p:nvSpPr>
        <p:spPr>
          <a:xfrm>
            <a:off x="9677400" y="38481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Realize full economics</a:t>
            </a:r>
            <a:endParaRPr lang="en-US" sz="1000" b="1" dirty="0">
              <a:solidFill>
                <a:srgbClr val="070154"/>
              </a:solidFill>
              <a:latin typeface="Arial"/>
              <a:cs typeface="Arial"/>
            </a:endParaRPr>
          </a:p>
        </p:txBody>
      </p:sp>
      <p:sp>
        <p:nvSpPr>
          <p:cNvPr id="31" name="Rectangle 30">
            <a:extLst>
              <a:ext uri="{FF2B5EF4-FFF2-40B4-BE49-F238E27FC236}">
                <a16:creationId xmlns:a16="http://schemas.microsoft.com/office/drawing/2014/main" id="{3375BC94-8D43-EF4D-96D9-538EF700EFE6}"/>
              </a:ext>
            </a:extLst>
          </p:cNvPr>
          <p:cNvSpPr/>
          <p:nvPr/>
        </p:nvSpPr>
        <p:spPr bwMode="auto">
          <a:xfrm>
            <a:off x="609600" y="5270500"/>
            <a:ext cx="8255000" cy="571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A26CFF14-2BDE-1848-A022-DAC182E8D21B}"/>
              </a:ext>
            </a:extLst>
          </p:cNvPr>
          <p:cNvSpPr txBox="1"/>
          <p:nvPr/>
        </p:nvSpPr>
        <p:spPr>
          <a:xfrm>
            <a:off x="863600" y="5435600"/>
            <a:ext cx="7747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Best for buyers concerned with long-term ownership, support cost, resilience, and continuous improvement.</a:t>
            </a:r>
            <a:endParaRPr lang="en-US" sz="1000" b="1" dirty="0">
              <a:solidFill>
                <a:srgbClr val="070154"/>
              </a:solidFill>
              <a:latin typeface="Arial"/>
              <a:cs typeface="Arial"/>
            </a:endParaRPr>
          </a:p>
        </p:txBody>
      </p:sp>
      <p:sp>
        <p:nvSpPr>
          <p:cNvPr id="3" name="TextBox 2">
            <a:extLst>
              <a:ext uri="{FF2B5EF4-FFF2-40B4-BE49-F238E27FC236}">
                <a16:creationId xmlns:a16="http://schemas.microsoft.com/office/drawing/2014/main" id="{D9C2D31F-41C9-834B-806E-5C698A45F50E}"/>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D0847E0D-C3A0-6C47-8917-F1C8F445903B}"/>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endParaRPr lang="en-US" sz="550" dirty="0">
              <a:solidFill>
                <a:srgbClr val="070154"/>
              </a:solidFill>
              <a:latin typeface="Arial"/>
              <a:cs typeface="Arial"/>
            </a:endParaRPr>
          </a:p>
        </p:txBody>
      </p:sp>
    </p:spTree>
    <p:extLst>
      <p:ext uri="{BB962C8B-B14F-4D97-AF65-F5344CB8AC3E}">
        <p14:creationId xmlns:p14="http://schemas.microsoft.com/office/powerpoint/2010/main" val="34950999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5AE41-579D-C8B3-5BA9-E040D4577F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5E1CA9-4816-724F-A640-88FD1432E93B}"/>
              </a:ext>
            </a:extLst>
          </p:cNvPr>
          <p:cNvSpPr txBox="1"/>
          <p:nvPr/>
        </p:nvSpPr>
        <p:spPr>
          <a:xfrm>
            <a:off x="457200" y="533400"/>
            <a:ext cx="11277600" cy="635000"/>
          </a:xfrm>
          <a:prstGeom prst="rect">
            <a:avLst/>
          </a:prstGeom>
          <a:noFill/>
        </p:spPr>
        <p:txBody>
          <a:bodyPr vertOverflow="overflow" vert="horz" wrap="square" lIns="0" tIns="0" rIns="0" bIns="0" rtlCol="0" anchor="t">
            <a:normAutofit/>
          </a:bodyPr>
          <a:lstStyle/>
          <a:p>
            <a:pPr marL="0" indent="0" algn="l">
              <a:spcAft>
                <a:spcPts val="600"/>
              </a:spcAft>
              <a:tabLst/>
            </a:pPr>
            <a:r>
              <a:rPr lang="en-US" sz="2400" b="1">
                <a:solidFill>
                  <a:srgbClr val="070154"/>
                </a:solidFill>
                <a:latin typeface="Arial"/>
                <a:cs typeface="Arial"/>
              </a:rPr>
              <a:t>Sustain: operate, evolve, and finish decommissioning</a:t>
            </a:r>
            <a:endParaRPr lang="en-US" sz="2400" b="1" dirty="0">
              <a:solidFill>
                <a:srgbClr val="070154"/>
              </a:solidFill>
              <a:latin typeface="Arial"/>
              <a:cs typeface="Arial"/>
            </a:endParaRPr>
          </a:p>
        </p:txBody>
      </p:sp>
      <p:sp>
        <p:nvSpPr>
          <p:cNvPr id="5" name="TextBox 4">
            <a:extLst>
              <a:ext uri="{FF2B5EF4-FFF2-40B4-BE49-F238E27FC236}">
                <a16:creationId xmlns:a16="http://schemas.microsoft.com/office/drawing/2014/main" id="{F36261A6-0825-4A46-ACAB-0987937307E4}"/>
              </a:ext>
            </a:extLst>
          </p:cNvPr>
          <p:cNvSpPr txBox="1"/>
          <p:nvPr/>
        </p:nvSpPr>
        <p:spPr>
          <a:xfrm>
            <a:off x="457200" y="1219200"/>
            <a:ext cx="11277600" cy="3175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50" b="1">
                <a:solidFill>
                  <a:srgbClr val="070154"/>
                </a:solidFill>
                <a:latin typeface="Arial"/>
                <a:cs typeface="Arial"/>
              </a:rPr>
              <a:t>A living knowledge base reduces dependence on a few experts and gives the next change a stronger starting point.</a:t>
            </a:r>
            <a:endParaRPr lang="en-US" sz="1150" b="1" dirty="0">
              <a:solidFill>
                <a:srgbClr val="070154"/>
              </a:solidFill>
              <a:latin typeface="Arial"/>
              <a:cs typeface="Arial"/>
            </a:endParaRPr>
          </a:p>
        </p:txBody>
      </p:sp>
      <p:sp>
        <p:nvSpPr>
          <p:cNvPr id="6" name="Rectangle 5">
            <a:extLst>
              <a:ext uri="{FF2B5EF4-FFF2-40B4-BE49-F238E27FC236}">
                <a16:creationId xmlns:a16="http://schemas.microsoft.com/office/drawing/2014/main" id="{805262B8-4FC3-9E45-AB2A-69CCBE25E7FA}"/>
              </a:ext>
            </a:extLst>
          </p:cNvPr>
          <p:cNvSpPr/>
          <p:nvPr/>
        </p:nvSpPr>
        <p:spPr bwMode="auto">
          <a:xfrm>
            <a:off x="457200" y="1765300"/>
            <a:ext cx="5410200" cy="3746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Rectangle 6">
            <a:extLst>
              <a:ext uri="{FF2B5EF4-FFF2-40B4-BE49-F238E27FC236}">
                <a16:creationId xmlns:a16="http://schemas.microsoft.com/office/drawing/2014/main" id="{42821951-DB88-E04F-8B83-290A84D9B79D}"/>
              </a:ext>
            </a:extLst>
          </p:cNvPr>
          <p:cNvSpPr/>
          <p:nvPr/>
        </p:nvSpPr>
        <p:spPr bwMode="auto">
          <a:xfrm>
            <a:off x="457200" y="1765300"/>
            <a:ext cx="5410200" cy="114300"/>
          </a:xfrm>
          <a:prstGeom prst="rect">
            <a:avLst/>
          </a:prstGeom>
          <a:solidFill>
            <a:srgbClr val="F900D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TextBox 7">
            <a:extLst>
              <a:ext uri="{FF2B5EF4-FFF2-40B4-BE49-F238E27FC236}">
                <a16:creationId xmlns:a16="http://schemas.microsoft.com/office/drawing/2014/main" id="{0EDC33A0-1C4B-314F-89B0-C11B618467D1}"/>
              </a:ext>
            </a:extLst>
          </p:cNvPr>
          <p:cNvSpPr txBox="1"/>
          <p:nvPr/>
        </p:nvSpPr>
        <p:spPr>
          <a:xfrm>
            <a:off x="711200" y="2044700"/>
            <a:ext cx="4902200" cy="355600"/>
          </a:xfrm>
          <a:prstGeom prst="rect">
            <a:avLst/>
          </a:prstGeom>
          <a:noFill/>
        </p:spPr>
        <p:txBody>
          <a:bodyPr vertOverflow="overflow" vert="horz" wrap="square" lIns="0" tIns="0" rIns="0" bIns="0" rtlCol="0" anchor="t">
            <a:normAutofit/>
          </a:bodyPr>
          <a:lstStyle/>
          <a:p>
            <a:pPr marL="0" indent="0" algn="l">
              <a:spcAft>
                <a:spcPts val="600"/>
              </a:spcAft>
              <a:tabLst/>
            </a:pPr>
            <a:r>
              <a:rPr lang="en-US" b="1">
                <a:solidFill>
                  <a:srgbClr val="070154"/>
                </a:solidFill>
                <a:latin typeface="Arial"/>
                <a:cs typeface="Arial"/>
              </a:rPr>
              <a:t>OPERATE AND EVOLVE</a:t>
            </a:r>
            <a:endParaRPr lang="en-US" b="1" dirty="0">
              <a:solidFill>
                <a:srgbClr val="070154"/>
              </a:solidFill>
              <a:latin typeface="Arial"/>
              <a:cs typeface="Arial"/>
            </a:endParaRPr>
          </a:p>
        </p:txBody>
      </p:sp>
      <p:sp>
        <p:nvSpPr>
          <p:cNvPr id="10" name="TextBox 9">
            <a:extLst>
              <a:ext uri="{FF2B5EF4-FFF2-40B4-BE49-F238E27FC236}">
                <a16:creationId xmlns:a16="http://schemas.microsoft.com/office/drawing/2014/main" id="{CE751A68-DF51-A641-87D1-8C2542A93B10}"/>
              </a:ext>
            </a:extLst>
          </p:cNvPr>
          <p:cNvSpPr txBox="1"/>
          <p:nvPr/>
        </p:nvSpPr>
        <p:spPr>
          <a:xfrm>
            <a:off x="711200" y="2603500"/>
            <a:ext cx="1270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CORE WORK</a:t>
            </a:r>
            <a:endParaRPr lang="en-US" sz="900" b="1" dirty="0">
              <a:solidFill>
                <a:srgbClr val="0047FF"/>
              </a:solidFill>
              <a:latin typeface="Arial"/>
              <a:cs typeface="Arial"/>
            </a:endParaRPr>
          </a:p>
        </p:txBody>
      </p:sp>
      <p:sp>
        <p:nvSpPr>
          <p:cNvPr id="11" name="TextBox 10">
            <a:extLst>
              <a:ext uri="{FF2B5EF4-FFF2-40B4-BE49-F238E27FC236}">
                <a16:creationId xmlns:a16="http://schemas.microsoft.com/office/drawing/2014/main" id="{343F3F5A-E832-514A-B5BF-932E73E17B35}"/>
              </a:ext>
            </a:extLst>
          </p:cNvPr>
          <p:cNvSpPr txBox="1"/>
          <p:nvPr/>
        </p:nvSpPr>
        <p:spPr>
          <a:xfrm>
            <a:off x="711200" y="2895600"/>
            <a:ext cx="4902200" cy="1295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a:solidFill>
                  <a:srgbClr val="070154"/>
                </a:solidFill>
                <a:latin typeface="Arial"/>
                <a:cs typeface="Arial"/>
              </a:rPr>
              <a:t>Establish ownership, service levels, observability, security, cost management, and a product backlog.
Keep process, rule, architecture, decision, test, runbook, and operating knowledge current.</a:t>
            </a:r>
            <a:endParaRPr lang="en-US" sz="1050" dirty="0">
              <a:solidFill>
                <a:srgbClr val="070154"/>
              </a:solidFill>
              <a:latin typeface="Arial"/>
              <a:cs typeface="Arial"/>
            </a:endParaRPr>
          </a:p>
        </p:txBody>
      </p:sp>
      <p:sp>
        <p:nvSpPr>
          <p:cNvPr id="15" name="Rectangle 14">
            <a:extLst>
              <a:ext uri="{FF2B5EF4-FFF2-40B4-BE49-F238E27FC236}">
                <a16:creationId xmlns:a16="http://schemas.microsoft.com/office/drawing/2014/main" id="{09FDEE8C-F9AC-1A4F-8064-C1877772EDFD}"/>
              </a:ext>
            </a:extLst>
          </p:cNvPr>
          <p:cNvSpPr/>
          <p:nvPr/>
        </p:nvSpPr>
        <p:spPr bwMode="auto">
          <a:xfrm>
            <a:off x="711200" y="4343400"/>
            <a:ext cx="4902200" cy="6096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900"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17" name="TextBox 16">
            <a:extLst>
              <a:ext uri="{FF2B5EF4-FFF2-40B4-BE49-F238E27FC236}">
                <a16:creationId xmlns:a16="http://schemas.microsoft.com/office/drawing/2014/main" id="{52E8B863-B635-7544-B8B3-9388F36FBFDB}"/>
              </a:ext>
            </a:extLst>
          </p:cNvPr>
          <p:cNvSpPr txBox="1"/>
          <p:nvPr/>
        </p:nvSpPr>
        <p:spPr>
          <a:xfrm>
            <a:off x="863600" y="4457700"/>
            <a:ext cx="13970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900D3"/>
                </a:solidFill>
                <a:latin typeface="Arial"/>
                <a:cs typeface="Arial"/>
              </a:rPr>
              <a:t>AI CONTRIBUTION</a:t>
            </a:r>
            <a:endParaRPr lang="en-US" sz="850" b="1" dirty="0">
              <a:solidFill>
                <a:srgbClr val="F900D3"/>
              </a:solidFill>
              <a:latin typeface="Arial"/>
              <a:cs typeface="Arial"/>
            </a:endParaRPr>
          </a:p>
        </p:txBody>
      </p:sp>
      <p:sp>
        <p:nvSpPr>
          <p:cNvPr id="18" name="TextBox 17">
            <a:extLst>
              <a:ext uri="{FF2B5EF4-FFF2-40B4-BE49-F238E27FC236}">
                <a16:creationId xmlns:a16="http://schemas.microsoft.com/office/drawing/2014/main" id="{03398DFB-C067-714B-84D3-CE498048000D}"/>
              </a:ext>
            </a:extLst>
          </p:cNvPr>
          <p:cNvSpPr txBox="1"/>
          <p:nvPr/>
        </p:nvSpPr>
        <p:spPr>
          <a:xfrm>
            <a:off x="863600" y="4648200"/>
            <a:ext cx="4597400" cy="241300"/>
          </a:xfrm>
          <a:prstGeom prst="rect">
            <a:avLst/>
          </a:prstGeom>
          <a:noFill/>
        </p:spPr>
        <p:txBody>
          <a:bodyPr vertOverflow="overflow" vert="horz" wrap="square" lIns="0" tIns="0" rIns="0" bIns="0" rtlCol="0" anchor="t">
            <a:noAutofit/>
          </a:bodyPr>
          <a:lstStyle/>
          <a:p>
            <a:pPr marL="0" indent="0" algn="l">
              <a:spcAft>
                <a:spcPts val="600"/>
              </a:spcAft>
              <a:tabLst/>
            </a:pPr>
            <a:r>
              <a:rPr lang="en-US" sz="850">
                <a:solidFill>
                  <a:srgbClr val="070154"/>
                </a:solidFill>
                <a:latin typeface="Arial"/>
                <a:cs typeface="Arial"/>
              </a:rPr>
              <a:t>Assist incident triage, impact analysis, documentation, test maintenance, and backlog development using governed context.</a:t>
            </a:r>
            <a:endParaRPr lang="en-US" sz="850" dirty="0">
              <a:solidFill>
                <a:srgbClr val="070154"/>
              </a:solidFill>
              <a:latin typeface="Arial"/>
              <a:cs typeface="Arial"/>
            </a:endParaRPr>
          </a:p>
        </p:txBody>
      </p:sp>
      <p:sp>
        <p:nvSpPr>
          <p:cNvPr id="19" name="Rectangle 18">
            <a:extLst>
              <a:ext uri="{FF2B5EF4-FFF2-40B4-BE49-F238E27FC236}">
                <a16:creationId xmlns:a16="http://schemas.microsoft.com/office/drawing/2014/main" id="{21427B7B-8F99-E949-8CDC-16461F225652}"/>
              </a:ext>
            </a:extLst>
          </p:cNvPr>
          <p:cNvSpPr/>
          <p:nvPr/>
        </p:nvSpPr>
        <p:spPr bwMode="auto">
          <a:xfrm>
            <a:off x="457200" y="5080000"/>
            <a:ext cx="5410200" cy="4318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9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20" name="TextBox 19">
            <a:extLst>
              <a:ext uri="{FF2B5EF4-FFF2-40B4-BE49-F238E27FC236}">
                <a16:creationId xmlns:a16="http://schemas.microsoft.com/office/drawing/2014/main" id="{A5B6CD32-0B84-EE4D-9870-17DFD8D8980E}"/>
              </a:ext>
            </a:extLst>
          </p:cNvPr>
          <p:cNvSpPr txBox="1"/>
          <p:nvPr/>
        </p:nvSpPr>
        <p:spPr>
          <a:xfrm>
            <a:off x="685800" y="5181600"/>
            <a:ext cx="736600" cy="1651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FFFFF"/>
                </a:solidFill>
                <a:latin typeface="Arial"/>
                <a:cs typeface="Arial"/>
              </a:rPr>
              <a:t>OUTPUT</a:t>
            </a:r>
            <a:endParaRPr lang="en-US" sz="850" b="1" dirty="0">
              <a:solidFill>
                <a:srgbClr val="FFFFFF"/>
              </a:solidFill>
              <a:latin typeface="Arial"/>
              <a:cs typeface="Arial"/>
            </a:endParaRPr>
          </a:p>
        </p:txBody>
      </p:sp>
      <p:sp>
        <p:nvSpPr>
          <p:cNvPr id="21" name="TextBox 20">
            <a:extLst>
              <a:ext uri="{FF2B5EF4-FFF2-40B4-BE49-F238E27FC236}">
                <a16:creationId xmlns:a16="http://schemas.microsoft.com/office/drawing/2014/main" id="{7D70A56C-BF87-B642-BB7F-263A9D87E572}"/>
              </a:ext>
            </a:extLst>
          </p:cNvPr>
          <p:cNvSpPr txBox="1"/>
          <p:nvPr/>
        </p:nvSpPr>
        <p:spPr>
          <a:xfrm>
            <a:off x="1447800" y="5143500"/>
            <a:ext cx="4191000" cy="279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FFFFF"/>
                </a:solidFill>
                <a:latin typeface="Arial"/>
                <a:cs typeface="Arial"/>
              </a:rPr>
              <a:t>Operating model, product roadmap, and measured service and business performance</a:t>
            </a:r>
            <a:endParaRPr lang="en-US" sz="850" b="1" dirty="0">
              <a:solidFill>
                <a:srgbClr val="FFFFFF"/>
              </a:solidFill>
              <a:latin typeface="Arial"/>
              <a:cs typeface="Arial"/>
            </a:endParaRPr>
          </a:p>
        </p:txBody>
      </p:sp>
      <p:sp>
        <p:nvSpPr>
          <p:cNvPr id="24" name="Rectangle 23">
            <a:extLst>
              <a:ext uri="{FF2B5EF4-FFF2-40B4-BE49-F238E27FC236}">
                <a16:creationId xmlns:a16="http://schemas.microsoft.com/office/drawing/2014/main" id="{4B1DC3D8-6498-A343-BE5B-FD2C8B0CACEC}"/>
              </a:ext>
            </a:extLst>
          </p:cNvPr>
          <p:cNvSpPr/>
          <p:nvPr/>
        </p:nvSpPr>
        <p:spPr bwMode="auto">
          <a:xfrm>
            <a:off x="6172200" y="1765300"/>
            <a:ext cx="5562600" cy="3746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5" name="Rectangle 24">
            <a:extLst>
              <a:ext uri="{FF2B5EF4-FFF2-40B4-BE49-F238E27FC236}">
                <a16:creationId xmlns:a16="http://schemas.microsoft.com/office/drawing/2014/main" id="{353852C1-095B-1244-BACE-8F65AA179B69}"/>
              </a:ext>
            </a:extLst>
          </p:cNvPr>
          <p:cNvSpPr/>
          <p:nvPr/>
        </p:nvSpPr>
        <p:spPr bwMode="auto">
          <a:xfrm>
            <a:off x="6172200" y="1765300"/>
            <a:ext cx="5562600" cy="1143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42DA0CA9-B184-1643-823E-CD2226CC6DA1}"/>
              </a:ext>
            </a:extLst>
          </p:cNvPr>
          <p:cNvSpPr txBox="1"/>
          <p:nvPr/>
        </p:nvSpPr>
        <p:spPr>
          <a:xfrm>
            <a:off x="6426200" y="2044700"/>
            <a:ext cx="5054600" cy="355600"/>
          </a:xfrm>
          <a:prstGeom prst="rect">
            <a:avLst/>
          </a:prstGeom>
          <a:noFill/>
        </p:spPr>
        <p:txBody>
          <a:bodyPr vertOverflow="overflow" vert="horz" wrap="square" lIns="0" tIns="0" rIns="0" bIns="0" rtlCol="0" anchor="t">
            <a:normAutofit/>
          </a:bodyPr>
          <a:lstStyle/>
          <a:p>
            <a:pPr marL="0" indent="0" algn="l">
              <a:spcAft>
                <a:spcPts val="600"/>
              </a:spcAft>
              <a:tabLst/>
            </a:pPr>
            <a:r>
              <a:rPr lang="en-US" b="1">
                <a:solidFill>
                  <a:srgbClr val="070154"/>
                </a:solidFill>
                <a:latin typeface="Arial"/>
                <a:cs typeface="Arial"/>
              </a:rPr>
              <a:t>DECOMMISSION</a:t>
            </a:r>
            <a:endParaRPr lang="en-US" b="1" dirty="0">
              <a:solidFill>
                <a:srgbClr val="070154"/>
              </a:solidFill>
              <a:latin typeface="Arial"/>
              <a:cs typeface="Arial"/>
            </a:endParaRPr>
          </a:p>
        </p:txBody>
      </p:sp>
      <p:sp>
        <p:nvSpPr>
          <p:cNvPr id="27" name="TextBox 26">
            <a:extLst>
              <a:ext uri="{FF2B5EF4-FFF2-40B4-BE49-F238E27FC236}">
                <a16:creationId xmlns:a16="http://schemas.microsoft.com/office/drawing/2014/main" id="{FA624EF4-ACBA-ED43-9E69-A514D246999C}"/>
              </a:ext>
            </a:extLst>
          </p:cNvPr>
          <p:cNvSpPr txBox="1"/>
          <p:nvPr/>
        </p:nvSpPr>
        <p:spPr>
          <a:xfrm>
            <a:off x="6426200" y="2603500"/>
            <a:ext cx="1270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CORE WORK</a:t>
            </a:r>
            <a:endParaRPr lang="en-US" sz="900" b="1" dirty="0">
              <a:solidFill>
                <a:srgbClr val="0047FF"/>
              </a:solidFill>
              <a:latin typeface="Arial"/>
              <a:cs typeface="Arial"/>
            </a:endParaRPr>
          </a:p>
        </p:txBody>
      </p:sp>
      <p:sp>
        <p:nvSpPr>
          <p:cNvPr id="28" name="TextBox 27">
            <a:extLst>
              <a:ext uri="{FF2B5EF4-FFF2-40B4-BE49-F238E27FC236}">
                <a16:creationId xmlns:a16="http://schemas.microsoft.com/office/drawing/2014/main" id="{0FF0FFDB-40A8-6F48-AB8A-05F8AAFE34EE}"/>
              </a:ext>
            </a:extLst>
          </p:cNvPr>
          <p:cNvSpPr txBox="1"/>
          <p:nvPr/>
        </p:nvSpPr>
        <p:spPr>
          <a:xfrm>
            <a:off x="6426200" y="2895600"/>
            <a:ext cx="5054600" cy="1295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a:solidFill>
                  <a:srgbClr val="070154"/>
                </a:solidFill>
                <a:latin typeface="Arial"/>
                <a:cs typeface="Arial"/>
              </a:rPr>
              <a:t>Remove old code, infrastructure, data paths, interfaces, jobs, licenses, support arrangements, and manual controls.
Find remaining dependencies and consumers before retirement decisions.</a:t>
            </a:r>
            <a:endParaRPr lang="en-US" sz="1050" dirty="0">
              <a:solidFill>
                <a:srgbClr val="070154"/>
              </a:solidFill>
              <a:latin typeface="Arial"/>
              <a:cs typeface="Arial"/>
            </a:endParaRPr>
          </a:p>
        </p:txBody>
      </p:sp>
      <p:sp>
        <p:nvSpPr>
          <p:cNvPr id="29" name="Rectangle 28">
            <a:extLst>
              <a:ext uri="{FF2B5EF4-FFF2-40B4-BE49-F238E27FC236}">
                <a16:creationId xmlns:a16="http://schemas.microsoft.com/office/drawing/2014/main" id="{99E849D1-6942-2348-989F-76B11C2BCC4B}"/>
              </a:ext>
            </a:extLst>
          </p:cNvPr>
          <p:cNvSpPr/>
          <p:nvPr/>
        </p:nvSpPr>
        <p:spPr bwMode="auto">
          <a:xfrm>
            <a:off x="6426200" y="4343400"/>
            <a:ext cx="5054600" cy="6096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900"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30" name="TextBox 29">
            <a:extLst>
              <a:ext uri="{FF2B5EF4-FFF2-40B4-BE49-F238E27FC236}">
                <a16:creationId xmlns:a16="http://schemas.microsoft.com/office/drawing/2014/main" id="{81A7612A-25A0-F944-8727-22109702A749}"/>
              </a:ext>
            </a:extLst>
          </p:cNvPr>
          <p:cNvSpPr txBox="1"/>
          <p:nvPr/>
        </p:nvSpPr>
        <p:spPr>
          <a:xfrm>
            <a:off x="6578600" y="4457700"/>
            <a:ext cx="13970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0047FF"/>
                </a:solidFill>
                <a:latin typeface="Arial"/>
                <a:cs typeface="Arial"/>
              </a:rPr>
              <a:t>AI CONTRIBUTION</a:t>
            </a:r>
            <a:endParaRPr lang="en-US" sz="850" b="1" dirty="0">
              <a:solidFill>
                <a:srgbClr val="0047FF"/>
              </a:solidFill>
              <a:latin typeface="Arial"/>
              <a:cs typeface="Arial"/>
            </a:endParaRPr>
          </a:p>
        </p:txBody>
      </p:sp>
      <p:sp>
        <p:nvSpPr>
          <p:cNvPr id="31" name="TextBox 30">
            <a:extLst>
              <a:ext uri="{FF2B5EF4-FFF2-40B4-BE49-F238E27FC236}">
                <a16:creationId xmlns:a16="http://schemas.microsoft.com/office/drawing/2014/main" id="{6614A5A5-5196-C74D-8270-92BF781E2F79}"/>
              </a:ext>
            </a:extLst>
          </p:cNvPr>
          <p:cNvSpPr txBox="1"/>
          <p:nvPr/>
        </p:nvSpPr>
        <p:spPr>
          <a:xfrm>
            <a:off x="6578600" y="4648200"/>
            <a:ext cx="4749800" cy="241300"/>
          </a:xfrm>
          <a:prstGeom prst="rect">
            <a:avLst/>
          </a:prstGeom>
          <a:noFill/>
        </p:spPr>
        <p:txBody>
          <a:bodyPr vertOverflow="overflow" vert="horz" wrap="square" lIns="0" tIns="0" rIns="0" bIns="0" rtlCol="0" anchor="t">
            <a:noAutofit/>
          </a:bodyPr>
          <a:lstStyle/>
          <a:p>
            <a:pPr marL="0" indent="0" algn="l">
              <a:spcAft>
                <a:spcPts val="600"/>
              </a:spcAft>
              <a:tabLst/>
            </a:pPr>
            <a:r>
              <a:rPr lang="en-US" sz="850">
                <a:solidFill>
                  <a:srgbClr val="070154"/>
                </a:solidFill>
                <a:latin typeface="Arial"/>
                <a:cs typeface="Arial"/>
              </a:rPr>
              <a:t>Trace dependencies and transfer the business, control, data, and support knowledge that must survive.</a:t>
            </a:r>
            <a:endParaRPr lang="en-US" sz="850" dirty="0">
              <a:solidFill>
                <a:srgbClr val="070154"/>
              </a:solidFill>
              <a:latin typeface="Arial"/>
              <a:cs typeface="Arial"/>
            </a:endParaRPr>
          </a:p>
        </p:txBody>
      </p:sp>
      <p:sp>
        <p:nvSpPr>
          <p:cNvPr id="33" name="Rectangle 32">
            <a:extLst>
              <a:ext uri="{FF2B5EF4-FFF2-40B4-BE49-F238E27FC236}">
                <a16:creationId xmlns:a16="http://schemas.microsoft.com/office/drawing/2014/main" id="{D1800A52-3D09-1D45-A967-B0540018C5EC}"/>
              </a:ext>
            </a:extLst>
          </p:cNvPr>
          <p:cNvSpPr/>
          <p:nvPr/>
        </p:nvSpPr>
        <p:spPr bwMode="auto">
          <a:xfrm>
            <a:off x="6172200" y="5080000"/>
            <a:ext cx="5562600" cy="4318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9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36" name="TextBox 35">
            <a:extLst>
              <a:ext uri="{FF2B5EF4-FFF2-40B4-BE49-F238E27FC236}">
                <a16:creationId xmlns:a16="http://schemas.microsoft.com/office/drawing/2014/main" id="{E5035804-9978-FD44-9470-C0467D8BC26B}"/>
              </a:ext>
            </a:extLst>
          </p:cNvPr>
          <p:cNvSpPr txBox="1"/>
          <p:nvPr/>
        </p:nvSpPr>
        <p:spPr>
          <a:xfrm>
            <a:off x="6400800" y="5181600"/>
            <a:ext cx="736600" cy="1651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FFFFF"/>
                </a:solidFill>
                <a:latin typeface="Arial"/>
                <a:cs typeface="Arial"/>
              </a:rPr>
              <a:t>OUTPUT</a:t>
            </a:r>
            <a:endParaRPr lang="en-US" sz="850" b="1" dirty="0">
              <a:solidFill>
                <a:srgbClr val="FFFFFF"/>
              </a:solidFill>
              <a:latin typeface="Arial"/>
              <a:cs typeface="Arial"/>
            </a:endParaRPr>
          </a:p>
        </p:txBody>
      </p:sp>
      <p:sp>
        <p:nvSpPr>
          <p:cNvPr id="37" name="TextBox 36">
            <a:extLst>
              <a:ext uri="{FF2B5EF4-FFF2-40B4-BE49-F238E27FC236}">
                <a16:creationId xmlns:a16="http://schemas.microsoft.com/office/drawing/2014/main" id="{514C7098-A532-3F42-8175-635CF1C61F4A}"/>
              </a:ext>
            </a:extLst>
          </p:cNvPr>
          <p:cNvSpPr txBox="1"/>
          <p:nvPr/>
        </p:nvSpPr>
        <p:spPr>
          <a:xfrm>
            <a:off x="7162800" y="5143500"/>
            <a:ext cx="4343400" cy="279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FFFFF"/>
                </a:solidFill>
                <a:latin typeface="Arial"/>
                <a:cs typeface="Arial"/>
              </a:rPr>
              <a:t>Verified retirement, closed controls, ended dual run, and realized savings</a:t>
            </a:r>
            <a:endParaRPr lang="en-US" sz="850" b="1" dirty="0">
              <a:solidFill>
                <a:srgbClr val="FFFFFF"/>
              </a:solidFill>
              <a:latin typeface="Arial"/>
              <a:cs typeface="Arial"/>
            </a:endParaRPr>
          </a:p>
        </p:txBody>
      </p:sp>
      <p:sp>
        <p:nvSpPr>
          <p:cNvPr id="38" name="Rectangle 37">
            <a:extLst>
              <a:ext uri="{FF2B5EF4-FFF2-40B4-BE49-F238E27FC236}">
                <a16:creationId xmlns:a16="http://schemas.microsoft.com/office/drawing/2014/main" id="{CF4989F4-4E51-BD4F-891B-A0567A716564}"/>
              </a:ext>
            </a:extLst>
          </p:cNvPr>
          <p:cNvSpPr/>
          <p:nvPr/>
        </p:nvSpPr>
        <p:spPr bwMode="auto">
          <a:xfrm>
            <a:off x="457200" y="5702300"/>
            <a:ext cx="11277600" cy="457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100" b="1"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39" name="TextBox 38">
            <a:extLst>
              <a:ext uri="{FF2B5EF4-FFF2-40B4-BE49-F238E27FC236}">
                <a16:creationId xmlns:a16="http://schemas.microsoft.com/office/drawing/2014/main" id="{3685B856-8316-8146-AF4E-A6E02B59EFB9}"/>
              </a:ext>
            </a:extLst>
          </p:cNvPr>
          <p:cNvSpPr txBox="1"/>
          <p:nvPr/>
        </p:nvSpPr>
        <p:spPr>
          <a:xfrm>
            <a:off x="685800" y="5829300"/>
            <a:ext cx="108204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a:solidFill>
                  <a:srgbClr val="070154"/>
                </a:solidFill>
                <a:latin typeface="Arial"/>
                <a:cs typeface="Arial"/>
              </a:rPr>
              <a:t>Full value requires both improvement and verified retirement.</a:t>
            </a:r>
            <a:endParaRPr lang="en-US" sz="1100" b="1" dirty="0">
              <a:solidFill>
                <a:srgbClr val="070154"/>
              </a:solidFill>
              <a:latin typeface="Arial"/>
              <a:cs typeface="Arial"/>
            </a:endParaRPr>
          </a:p>
        </p:txBody>
      </p:sp>
      <p:sp>
        <p:nvSpPr>
          <p:cNvPr id="3" name="TextBox 2">
            <a:extLst>
              <a:ext uri="{FF2B5EF4-FFF2-40B4-BE49-F238E27FC236}">
                <a16:creationId xmlns:a16="http://schemas.microsoft.com/office/drawing/2014/main" id="{739E80F5-CCDC-554E-810C-BC1D8FE4EC30}"/>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4" name="TextBox 3">
            <a:extLst>
              <a:ext uri="{FF2B5EF4-FFF2-40B4-BE49-F238E27FC236}">
                <a16:creationId xmlns:a16="http://schemas.microsoft.com/office/drawing/2014/main" id="{FC29F103-2029-2447-9500-6937ACC3D3A1}"/>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r>
              <a:rPr lang="en-US" sz="550">
                <a:solidFill>
                  <a:srgbClr val="070154"/>
                </a:solidFill>
                <a:latin typeface="Arial"/>
                <a:cs typeface="Arial"/>
              </a:rPr>
              <a:t>21</a:t>
            </a:r>
            <a:endParaRPr lang="en-US" sz="550" dirty="0">
              <a:solidFill>
                <a:srgbClr val="070154"/>
              </a:solidFill>
              <a:latin typeface="Arial"/>
              <a:cs typeface="Arial"/>
            </a:endParaRPr>
          </a:p>
        </p:txBody>
      </p:sp>
    </p:spTree>
    <p:extLst>
      <p:ext uri="{BB962C8B-B14F-4D97-AF65-F5344CB8AC3E}">
        <p14:creationId xmlns:p14="http://schemas.microsoft.com/office/powerpoint/2010/main" val="22471400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4810B34-0A9E-554E-9472-D9ECA2C20EE9}"/>
              </a:ext>
            </a:extLst>
          </p:cNvPr>
          <p:cNvSpPr txBox="1"/>
          <p:nvPr/>
        </p:nvSpPr>
        <p:spPr>
          <a:xfrm>
            <a:off x="457200" y="533400"/>
            <a:ext cx="11277600" cy="482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400" b="1">
                <a:solidFill>
                  <a:srgbClr val="070154"/>
                </a:solidFill>
                <a:latin typeface="Arial"/>
                <a:cs typeface="Arial"/>
              </a:rPr>
              <a:t>Maintain, buy, and build economics</a:t>
            </a:r>
            <a:endParaRPr lang="en-US" sz="2400" b="1" dirty="0">
              <a:solidFill>
                <a:srgbClr val="070154"/>
              </a:solidFill>
              <a:latin typeface="Arial"/>
              <a:cs typeface="Arial"/>
            </a:endParaRPr>
          </a:p>
        </p:txBody>
      </p:sp>
      <p:sp>
        <p:nvSpPr>
          <p:cNvPr id="7" name="TextBox 6">
            <a:extLst>
              <a:ext uri="{FF2B5EF4-FFF2-40B4-BE49-F238E27FC236}">
                <a16:creationId xmlns:a16="http://schemas.microsoft.com/office/drawing/2014/main" id="{77C8E6CE-4ED2-7944-BD95-BCAD8E125EFC}"/>
              </a:ext>
            </a:extLst>
          </p:cNvPr>
          <p:cNvSpPr txBox="1"/>
          <p:nvPr/>
        </p:nvSpPr>
        <p:spPr>
          <a:xfrm>
            <a:off x="457200" y="1143000"/>
            <a:ext cx="11277600" cy="279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a:solidFill>
                  <a:srgbClr val="50627A"/>
                </a:solidFill>
                <a:latin typeface="Arial"/>
                <a:cs typeface="Arial"/>
              </a:rPr>
              <a:t>Three valid paths. One consistent view of transition cost, operating cost, value, and risk.</a:t>
            </a:r>
            <a:endParaRPr lang="en-US" sz="1100" dirty="0">
              <a:solidFill>
                <a:srgbClr val="50627A"/>
              </a:solidFill>
              <a:latin typeface="Arial"/>
              <a:cs typeface="Arial"/>
            </a:endParaRPr>
          </a:p>
        </p:txBody>
      </p:sp>
      <p:sp>
        <p:nvSpPr>
          <p:cNvPr id="8" name="Rectangle 7">
            <a:extLst>
              <a:ext uri="{FF2B5EF4-FFF2-40B4-BE49-F238E27FC236}">
                <a16:creationId xmlns:a16="http://schemas.microsoft.com/office/drawing/2014/main" id="{E4E7297C-BF81-CC46-A577-E20562016355}"/>
              </a:ext>
            </a:extLst>
          </p:cNvPr>
          <p:cNvSpPr/>
          <p:nvPr/>
        </p:nvSpPr>
        <p:spPr bwMode="auto">
          <a:xfrm>
            <a:off x="457200" y="1993900"/>
            <a:ext cx="3581400" cy="1473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 name="Rectangle 8">
            <a:extLst>
              <a:ext uri="{FF2B5EF4-FFF2-40B4-BE49-F238E27FC236}">
                <a16:creationId xmlns:a16="http://schemas.microsoft.com/office/drawing/2014/main" id="{591E6FE8-4113-DC4E-BC54-E35FD1C8D19A}"/>
              </a:ext>
            </a:extLst>
          </p:cNvPr>
          <p:cNvSpPr/>
          <p:nvPr/>
        </p:nvSpPr>
        <p:spPr bwMode="auto">
          <a:xfrm>
            <a:off x="457200" y="1993900"/>
            <a:ext cx="3581400" cy="101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TextBox 9">
            <a:extLst>
              <a:ext uri="{FF2B5EF4-FFF2-40B4-BE49-F238E27FC236}">
                <a16:creationId xmlns:a16="http://schemas.microsoft.com/office/drawing/2014/main" id="{E7B8C4B5-675C-5B42-8006-239751A4C760}"/>
              </a:ext>
            </a:extLst>
          </p:cNvPr>
          <p:cNvSpPr txBox="1"/>
          <p:nvPr/>
        </p:nvSpPr>
        <p:spPr>
          <a:xfrm>
            <a:off x="685800" y="2235200"/>
            <a:ext cx="4318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01</a:t>
            </a:r>
            <a:endParaRPr lang="en-US" sz="1000" b="1" dirty="0">
              <a:solidFill>
                <a:srgbClr val="0047FF"/>
              </a:solidFill>
              <a:latin typeface="Arial"/>
              <a:cs typeface="Arial"/>
            </a:endParaRPr>
          </a:p>
        </p:txBody>
      </p:sp>
      <p:sp>
        <p:nvSpPr>
          <p:cNvPr id="11" name="TextBox 10">
            <a:extLst>
              <a:ext uri="{FF2B5EF4-FFF2-40B4-BE49-F238E27FC236}">
                <a16:creationId xmlns:a16="http://schemas.microsoft.com/office/drawing/2014/main" id="{9FEDA5EE-0771-8448-993B-9850A0D1BA9E}"/>
              </a:ext>
            </a:extLst>
          </p:cNvPr>
          <p:cNvSpPr txBox="1"/>
          <p:nvPr/>
        </p:nvSpPr>
        <p:spPr>
          <a:xfrm>
            <a:off x="685800" y="2603500"/>
            <a:ext cx="3124200" cy="304800"/>
          </a:xfrm>
          <a:prstGeom prst="rect">
            <a:avLst/>
          </a:prstGeom>
          <a:noFill/>
        </p:spPr>
        <p:txBody>
          <a:bodyPr vertOverflow="overflow" vert="horz" wrap="square" lIns="0" tIns="0" rIns="0" bIns="0" rtlCol="0" anchor="t">
            <a:normAutofit/>
          </a:bodyPr>
          <a:lstStyle/>
          <a:p>
            <a:pPr marL="0" indent="0" algn="l">
              <a:spcAft>
                <a:spcPts val="600"/>
              </a:spcAft>
              <a:tabLst/>
            </a:pPr>
            <a:r>
              <a:rPr lang="en-US" b="1">
                <a:solidFill>
                  <a:srgbClr val="070154"/>
                </a:solidFill>
                <a:latin typeface="Arial"/>
                <a:cs typeface="Arial"/>
              </a:rPr>
              <a:t>MAINTAIN AND REPAIR</a:t>
            </a:r>
            <a:endParaRPr lang="en-US" b="1" dirty="0">
              <a:solidFill>
                <a:srgbClr val="070154"/>
              </a:solidFill>
              <a:latin typeface="Arial"/>
              <a:cs typeface="Arial"/>
            </a:endParaRPr>
          </a:p>
        </p:txBody>
      </p:sp>
      <p:sp>
        <p:nvSpPr>
          <p:cNvPr id="12" name="TextBox 11">
            <a:extLst>
              <a:ext uri="{FF2B5EF4-FFF2-40B4-BE49-F238E27FC236}">
                <a16:creationId xmlns:a16="http://schemas.microsoft.com/office/drawing/2014/main" id="{932DFF6D-8459-114F-9065-E0C0253E6A81}"/>
              </a:ext>
            </a:extLst>
          </p:cNvPr>
          <p:cNvSpPr txBox="1"/>
          <p:nvPr/>
        </p:nvSpPr>
        <p:spPr>
          <a:xfrm>
            <a:off x="685800" y="3009900"/>
            <a:ext cx="31242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b="1">
                <a:solidFill>
                  <a:srgbClr val="50627A"/>
                </a:solidFill>
                <a:latin typeface="Arial"/>
                <a:cs typeface="Arial"/>
              </a:rPr>
              <a:t>THE LEGACY SYSTEM</a:t>
            </a:r>
            <a:endParaRPr lang="en-US" sz="1050" b="1" dirty="0">
              <a:solidFill>
                <a:srgbClr val="50627A"/>
              </a:solidFill>
              <a:latin typeface="Arial"/>
              <a:cs typeface="Arial"/>
            </a:endParaRPr>
          </a:p>
        </p:txBody>
      </p:sp>
      <p:sp>
        <p:nvSpPr>
          <p:cNvPr id="13" name="Rectangle 12">
            <a:extLst>
              <a:ext uri="{FF2B5EF4-FFF2-40B4-BE49-F238E27FC236}">
                <a16:creationId xmlns:a16="http://schemas.microsoft.com/office/drawing/2014/main" id="{DF43B857-6A83-FC4B-84C9-CD783537959E}"/>
              </a:ext>
            </a:extLst>
          </p:cNvPr>
          <p:cNvSpPr/>
          <p:nvPr/>
        </p:nvSpPr>
        <p:spPr bwMode="auto">
          <a:xfrm>
            <a:off x="4267200" y="1993900"/>
            <a:ext cx="3581400" cy="1473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4" name="Rectangle 13">
            <a:extLst>
              <a:ext uri="{FF2B5EF4-FFF2-40B4-BE49-F238E27FC236}">
                <a16:creationId xmlns:a16="http://schemas.microsoft.com/office/drawing/2014/main" id="{D5516816-86DA-184C-9D9B-C30E8EAE5374}"/>
              </a:ext>
            </a:extLst>
          </p:cNvPr>
          <p:cNvSpPr/>
          <p:nvPr/>
        </p:nvSpPr>
        <p:spPr bwMode="auto">
          <a:xfrm>
            <a:off x="4267200" y="1993900"/>
            <a:ext cx="35814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TextBox 14">
            <a:extLst>
              <a:ext uri="{FF2B5EF4-FFF2-40B4-BE49-F238E27FC236}">
                <a16:creationId xmlns:a16="http://schemas.microsoft.com/office/drawing/2014/main" id="{C1101314-1279-DA4D-98E0-F61E88D319B7}"/>
              </a:ext>
            </a:extLst>
          </p:cNvPr>
          <p:cNvSpPr txBox="1"/>
          <p:nvPr/>
        </p:nvSpPr>
        <p:spPr>
          <a:xfrm>
            <a:off x="4495800" y="2235200"/>
            <a:ext cx="4318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02</a:t>
            </a:r>
            <a:endParaRPr lang="en-US" sz="1000" b="1" dirty="0">
              <a:solidFill>
                <a:srgbClr val="0047FF"/>
              </a:solidFill>
              <a:latin typeface="Arial"/>
              <a:cs typeface="Arial"/>
            </a:endParaRPr>
          </a:p>
        </p:txBody>
      </p:sp>
      <p:sp>
        <p:nvSpPr>
          <p:cNvPr id="16" name="TextBox 15">
            <a:extLst>
              <a:ext uri="{FF2B5EF4-FFF2-40B4-BE49-F238E27FC236}">
                <a16:creationId xmlns:a16="http://schemas.microsoft.com/office/drawing/2014/main" id="{9B8EAB6C-47B4-9B4C-B0D9-BCA242B2D427}"/>
              </a:ext>
            </a:extLst>
          </p:cNvPr>
          <p:cNvSpPr txBox="1"/>
          <p:nvPr/>
        </p:nvSpPr>
        <p:spPr>
          <a:xfrm>
            <a:off x="4495800" y="2603500"/>
            <a:ext cx="3124200" cy="304800"/>
          </a:xfrm>
          <a:prstGeom prst="rect">
            <a:avLst/>
          </a:prstGeom>
          <a:noFill/>
        </p:spPr>
        <p:txBody>
          <a:bodyPr vertOverflow="overflow" vert="horz" wrap="square" lIns="0" tIns="0" rIns="0" bIns="0" rtlCol="0" anchor="t">
            <a:normAutofit/>
          </a:bodyPr>
          <a:lstStyle/>
          <a:p>
            <a:pPr marL="0" indent="0" algn="l">
              <a:spcAft>
                <a:spcPts val="600"/>
              </a:spcAft>
              <a:tabLst/>
            </a:pPr>
            <a:r>
              <a:rPr lang="en-US" b="1">
                <a:solidFill>
                  <a:srgbClr val="070154"/>
                </a:solidFill>
                <a:latin typeface="Arial"/>
                <a:cs typeface="Arial"/>
              </a:rPr>
              <a:t>BUY AND ADAPT</a:t>
            </a:r>
            <a:endParaRPr lang="en-US" b="1" dirty="0">
              <a:solidFill>
                <a:srgbClr val="070154"/>
              </a:solidFill>
              <a:latin typeface="Arial"/>
              <a:cs typeface="Arial"/>
            </a:endParaRPr>
          </a:p>
        </p:txBody>
      </p:sp>
      <p:sp>
        <p:nvSpPr>
          <p:cNvPr id="17" name="TextBox 16">
            <a:extLst>
              <a:ext uri="{FF2B5EF4-FFF2-40B4-BE49-F238E27FC236}">
                <a16:creationId xmlns:a16="http://schemas.microsoft.com/office/drawing/2014/main" id="{88980557-E2DF-1647-ABD8-FA59715519B6}"/>
              </a:ext>
            </a:extLst>
          </p:cNvPr>
          <p:cNvSpPr txBox="1"/>
          <p:nvPr/>
        </p:nvSpPr>
        <p:spPr>
          <a:xfrm>
            <a:off x="4495800" y="3009900"/>
            <a:ext cx="31242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b="1">
                <a:solidFill>
                  <a:srgbClr val="50627A"/>
                </a:solidFill>
                <a:latin typeface="Arial"/>
                <a:cs typeface="Arial"/>
              </a:rPr>
              <a:t>A PACKAGED PLATFORM</a:t>
            </a:r>
            <a:endParaRPr lang="en-US" sz="1050" b="1" dirty="0">
              <a:solidFill>
                <a:srgbClr val="50627A"/>
              </a:solidFill>
              <a:latin typeface="Arial"/>
              <a:cs typeface="Arial"/>
            </a:endParaRPr>
          </a:p>
        </p:txBody>
      </p:sp>
      <p:sp>
        <p:nvSpPr>
          <p:cNvPr id="18" name="Rectangle 17">
            <a:extLst>
              <a:ext uri="{FF2B5EF4-FFF2-40B4-BE49-F238E27FC236}">
                <a16:creationId xmlns:a16="http://schemas.microsoft.com/office/drawing/2014/main" id="{1C616B21-B57F-794B-8F69-CB9149E66246}"/>
              </a:ext>
            </a:extLst>
          </p:cNvPr>
          <p:cNvSpPr/>
          <p:nvPr/>
        </p:nvSpPr>
        <p:spPr bwMode="auto">
          <a:xfrm>
            <a:off x="8077200" y="1993900"/>
            <a:ext cx="3657600" cy="14732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9" name="Rectangle 18">
            <a:extLst>
              <a:ext uri="{FF2B5EF4-FFF2-40B4-BE49-F238E27FC236}">
                <a16:creationId xmlns:a16="http://schemas.microsoft.com/office/drawing/2014/main" id="{10ED845D-D744-C147-8D56-7127BAB37C43}"/>
              </a:ext>
            </a:extLst>
          </p:cNvPr>
          <p:cNvSpPr/>
          <p:nvPr/>
        </p:nvSpPr>
        <p:spPr bwMode="auto">
          <a:xfrm>
            <a:off x="8077200" y="1993900"/>
            <a:ext cx="3657600" cy="101600"/>
          </a:xfrm>
          <a:prstGeom prst="rect">
            <a:avLst/>
          </a:prstGeom>
          <a:solidFill>
            <a:srgbClr val="F900D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7E15A976-EC22-AB40-A3B4-E9E4A2DAEAD4}"/>
              </a:ext>
            </a:extLst>
          </p:cNvPr>
          <p:cNvSpPr txBox="1"/>
          <p:nvPr/>
        </p:nvSpPr>
        <p:spPr>
          <a:xfrm>
            <a:off x="8305800" y="2235200"/>
            <a:ext cx="4318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03</a:t>
            </a:r>
            <a:endParaRPr lang="en-US" sz="1000" b="1" dirty="0">
              <a:solidFill>
                <a:srgbClr val="0047FF"/>
              </a:solidFill>
              <a:latin typeface="Arial"/>
              <a:cs typeface="Arial"/>
            </a:endParaRPr>
          </a:p>
        </p:txBody>
      </p:sp>
      <p:sp>
        <p:nvSpPr>
          <p:cNvPr id="21" name="TextBox 20">
            <a:extLst>
              <a:ext uri="{FF2B5EF4-FFF2-40B4-BE49-F238E27FC236}">
                <a16:creationId xmlns:a16="http://schemas.microsoft.com/office/drawing/2014/main" id="{314C701E-5B2E-3F47-A729-1E371D0FBD1B}"/>
              </a:ext>
            </a:extLst>
          </p:cNvPr>
          <p:cNvSpPr txBox="1"/>
          <p:nvPr/>
        </p:nvSpPr>
        <p:spPr>
          <a:xfrm>
            <a:off x="8305800" y="2603500"/>
            <a:ext cx="3200400" cy="304800"/>
          </a:xfrm>
          <a:prstGeom prst="rect">
            <a:avLst/>
          </a:prstGeom>
          <a:noFill/>
        </p:spPr>
        <p:txBody>
          <a:bodyPr vertOverflow="overflow" vert="horz" wrap="square" lIns="0" tIns="0" rIns="0" bIns="0" rtlCol="0" anchor="t">
            <a:normAutofit/>
          </a:bodyPr>
          <a:lstStyle/>
          <a:p>
            <a:pPr marL="0" indent="0" algn="l">
              <a:spcAft>
                <a:spcPts val="600"/>
              </a:spcAft>
              <a:tabLst/>
            </a:pPr>
            <a:r>
              <a:rPr lang="en-US" b="1">
                <a:solidFill>
                  <a:srgbClr val="070154"/>
                </a:solidFill>
                <a:latin typeface="Arial"/>
                <a:cs typeface="Arial"/>
              </a:rPr>
              <a:t>BUILD OR REBUILD</a:t>
            </a:r>
            <a:endParaRPr lang="en-US" b="1" dirty="0">
              <a:solidFill>
                <a:srgbClr val="070154"/>
              </a:solidFill>
              <a:latin typeface="Arial"/>
              <a:cs typeface="Arial"/>
            </a:endParaRPr>
          </a:p>
        </p:txBody>
      </p:sp>
      <p:sp>
        <p:nvSpPr>
          <p:cNvPr id="22" name="TextBox 21">
            <a:extLst>
              <a:ext uri="{FF2B5EF4-FFF2-40B4-BE49-F238E27FC236}">
                <a16:creationId xmlns:a16="http://schemas.microsoft.com/office/drawing/2014/main" id="{03D0E5BB-0E70-3646-A7F2-601D96DCD9CB}"/>
              </a:ext>
            </a:extLst>
          </p:cNvPr>
          <p:cNvSpPr txBox="1"/>
          <p:nvPr/>
        </p:nvSpPr>
        <p:spPr>
          <a:xfrm>
            <a:off x="8305800" y="3009900"/>
            <a:ext cx="32004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b="1">
                <a:solidFill>
                  <a:srgbClr val="50627A"/>
                </a:solidFill>
                <a:latin typeface="Arial"/>
                <a:cs typeface="Arial"/>
              </a:rPr>
              <a:t>BUSINESS-FIT SOFTWARE</a:t>
            </a:r>
            <a:endParaRPr lang="en-US" sz="1050" b="1" dirty="0">
              <a:solidFill>
                <a:srgbClr val="50627A"/>
              </a:solidFill>
              <a:latin typeface="Arial"/>
              <a:cs typeface="Arial"/>
            </a:endParaRPr>
          </a:p>
        </p:txBody>
      </p:sp>
      <p:sp>
        <p:nvSpPr>
          <p:cNvPr id="23" name="TextBox 22">
            <a:extLst>
              <a:ext uri="{FF2B5EF4-FFF2-40B4-BE49-F238E27FC236}">
                <a16:creationId xmlns:a16="http://schemas.microsoft.com/office/drawing/2014/main" id="{7FE5AA1B-953A-8949-8FD2-0BB9EA415C47}"/>
              </a:ext>
            </a:extLst>
          </p:cNvPr>
          <p:cNvSpPr txBox="1"/>
          <p:nvPr/>
        </p:nvSpPr>
        <p:spPr>
          <a:xfrm>
            <a:off x="457200" y="3708400"/>
            <a:ext cx="3810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SHARED COST AND VALUE LENS</a:t>
            </a:r>
            <a:endParaRPr lang="en-US" sz="1000" b="1" dirty="0">
              <a:solidFill>
                <a:srgbClr val="0047FF"/>
              </a:solidFill>
              <a:latin typeface="Arial"/>
              <a:cs typeface="Arial"/>
            </a:endParaRPr>
          </a:p>
        </p:txBody>
      </p:sp>
      <p:sp>
        <p:nvSpPr>
          <p:cNvPr id="24" name="Rectangle 23">
            <a:extLst>
              <a:ext uri="{FF2B5EF4-FFF2-40B4-BE49-F238E27FC236}">
                <a16:creationId xmlns:a16="http://schemas.microsoft.com/office/drawing/2014/main" id="{14C600D1-80D5-9344-98C3-CCE367ED45B4}"/>
              </a:ext>
            </a:extLst>
          </p:cNvPr>
          <p:cNvSpPr/>
          <p:nvPr/>
        </p:nvSpPr>
        <p:spPr bwMode="auto">
          <a:xfrm>
            <a:off x="457200" y="4064000"/>
            <a:ext cx="3581400" cy="6350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5" name="TextBox 24">
            <a:extLst>
              <a:ext uri="{FF2B5EF4-FFF2-40B4-BE49-F238E27FC236}">
                <a16:creationId xmlns:a16="http://schemas.microsoft.com/office/drawing/2014/main" id="{6B835A86-3E77-B548-9EA5-BB92B9C9F4EA}"/>
              </a:ext>
            </a:extLst>
          </p:cNvPr>
          <p:cNvSpPr txBox="1"/>
          <p:nvPr/>
        </p:nvSpPr>
        <p:spPr>
          <a:xfrm>
            <a:off x="609600" y="4229100"/>
            <a:ext cx="254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1</a:t>
            </a:r>
            <a:endParaRPr lang="en-US" sz="900" b="1" dirty="0">
              <a:solidFill>
                <a:srgbClr val="0047FF"/>
              </a:solidFill>
              <a:latin typeface="Arial"/>
              <a:cs typeface="Arial"/>
            </a:endParaRPr>
          </a:p>
        </p:txBody>
      </p:sp>
      <p:sp>
        <p:nvSpPr>
          <p:cNvPr id="26" name="TextBox 25">
            <a:extLst>
              <a:ext uri="{FF2B5EF4-FFF2-40B4-BE49-F238E27FC236}">
                <a16:creationId xmlns:a16="http://schemas.microsoft.com/office/drawing/2014/main" id="{AE17C676-CBB8-AC4E-BB8B-6DF7B8C37826}"/>
              </a:ext>
            </a:extLst>
          </p:cNvPr>
          <p:cNvSpPr txBox="1"/>
          <p:nvPr/>
        </p:nvSpPr>
        <p:spPr>
          <a:xfrm>
            <a:off x="927100" y="4178300"/>
            <a:ext cx="2946400" cy="4191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Analysis, design, implementation, and testing</a:t>
            </a:r>
            <a:endParaRPr lang="en-US" sz="950" dirty="0">
              <a:solidFill>
                <a:srgbClr val="070154"/>
              </a:solidFill>
              <a:latin typeface="Arial"/>
              <a:cs typeface="Arial"/>
            </a:endParaRPr>
          </a:p>
        </p:txBody>
      </p:sp>
      <p:sp>
        <p:nvSpPr>
          <p:cNvPr id="27" name="Rectangle 26">
            <a:extLst>
              <a:ext uri="{FF2B5EF4-FFF2-40B4-BE49-F238E27FC236}">
                <a16:creationId xmlns:a16="http://schemas.microsoft.com/office/drawing/2014/main" id="{973E8490-2345-7347-A3A4-1BF4371C79FD}"/>
              </a:ext>
            </a:extLst>
          </p:cNvPr>
          <p:cNvSpPr/>
          <p:nvPr/>
        </p:nvSpPr>
        <p:spPr bwMode="auto">
          <a:xfrm>
            <a:off x="4267200" y="4064000"/>
            <a:ext cx="3581400" cy="6350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TextBox 27">
            <a:extLst>
              <a:ext uri="{FF2B5EF4-FFF2-40B4-BE49-F238E27FC236}">
                <a16:creationId xmlns:a16="http://schemas.microsoft.com/office/drawing/2014/main" id="{5AD54A14-F6B7-104D-8466-6EA7F374313A}"/>
              </a:ext>
            </a:extLst>
          </p:cNvPr>
          <p:cNvSpPr txBox="1"/>
          <p:nvPr/>
        </p:nvSpPr>
        <p:spPr>
          <a:xfrm>
            <a:off x="4419600" y="4229100"/>
            <a:ext cx="254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2</a:t>
            </a:r>
            <a:endParaRPr lang="en-US" sz="900" b="1" dirty="0">
              <a:solidFill>
                <a:srgbClr val="0047FF"/>
              </a:solidFill>
              <a:latin typeface="Arial"/>
              <a:cs typeface="Arial"/>
            </a:endParaRPr>
          </a:p>
        </p:txBody>
      </p:sp>
      <p:sp>
        <p:nvSpPr>
          <p:cNvPr id="29" name="TextBox 28">
            <a:extLst>
              <a:ext uri="{FF2B5EF4-FFF2-40B4-BE49-F238E27FC236}">
                <a16:creationId xmlns:a16="http://schemas.microsoft.com/office/drawing/2014/main" id="{B7D69572-DFF5-0641-AE71-B97FD5F9BC1D}"/>
              </a:ext>
            </a:extLst>
          </p:cNvPr>
          <p:cNvSpPr txBox="1"/>
          <p:nvPr/>
        </p:nvSpPr>
        <p:spPr>
          <a:xfrm>
            <a:off x="4737100" y="4178300"/>
            <a:ext cx="2946400" cy="4191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Data migration, integrations, security, compliance, and controls</a:t>
            </a:r>
            <a:endParaRPr lang="en-US" sz="950" dirty="0">
              <a:solidFill>
                <a:srgbClr val="070154"/>
              </a:solidFill>
              <a:latin typeface="Arial"/>
              <a:cs typeface="Arial"/>
            </a:endParaRPr>
          </a:p>
        </p:txBody>
      </p:sp>
      <p:sp>
        <p:nvSpPr>
          <p:cNvPr id="30" name="Rectangle 29">
            <a:extLst>
              <a:ext uri="{FF2B5EF4-FFF2-40B4-BE49-F238E27FC236}">
                <a16:creationId xmlns:a16="http://schemas.microsoft.com/office/drawing/2014/main" id="{0A492212-FECF-E449-86A6-463459374832}"/>
              </a:ext>
            </a:extLst>
          </p:cNvPr>
          <p:cNvSpPr/>
          <p:nvPr/>
        </p:nvSpPr>
        <p:spPr bwMode="auto">
          <a:xfrm>
            <a:off x="8077200" y="4064000"/>
            <a:ext cx="3581400" cy="6350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1" name="TextBox 30">
            <a:extLst>
              <a:ext uri="{FF2B5EF4-FFF2-40B4-BE49-F238E27FC236}">
                <a16:creationId xmlns:a16="http://schemas.microsoft.com/office/drawing/2014/main" id="{A18F8AA4-6166-0343-8428-3C625A06A603}"/>
              </a:ext>
            </a:extLst>
          </p:cNvPr>
          <p:cNvSpPr txBox="1"/>
          <p:nvPr/>
        </p:nvSpPr>
        <p:spPr>
          <a:xfrm>
            <a:off x="8229600" y="4229100"/>
            <a:ext cx="254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3</a:t>
            </a:r>
            <a:endParaRPr lang="en-US" sz="900" b="1" dirty="0">
              <a:solidFill>
                <a:srgbClr val="0047FF"/>
              </a:solidFill>
              <a:latin typeface="Arial"/>
              <a:cs typeface="Arial"/>
            </a:endParaRPr>
          </a:p>
        </p:txBody>
      </p:sp>
      <p:sp>
        <p:nvSpPr>
          <p:cNvPr id="32" name="TextBox 31">
            <a:extLst>
              <a:ext uri="{FF2B5EF4-FFF2-40B4-BE49-F238E27FC236}">
                <a16:creationId xmlns:a16="http://schemas.microsoft.com/office/drawing/2014/main" id="{6737ADCB-6DB8-C54B-B4A3-73404947A9B8}"/>
              </a:ext>
            </a:extLst>
          </p:cNvPr>
          <p:cNvSpPr txBox="1"/>
          <p:nvPr/>
        </p:nvSpPr>
        <p:spPr>
          <a:xfrm>
            <a:off x="8547100" y="4178300"/>
            <a:ext cx="2946400" cy="4191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Licensing, infrastructure, labor, support, and model or tooling cost</a:t>
            </a:r>
            <a:endParaRPr lang="en-US" sz="950" dirty="0">
              <a:solidFill>
                <a:srgbClr val="070154"/>
              </a:solidFill>
              <a:latin typeface="Arial"/>
              <a:cs typeface="Arial"/>
            </a:endParaRPr>
          </a:p>
        </p:txBody>
      </p:sp>
      <p:sp>
        <p:nvSpPr>
          <p:cNvPr id="33" name="Rectangle 32">
            <a:extLst>
              <a:ext uri="{FF2B5EF4-FFF2-40B4-BE49-F238E27FC236}">
                <a16:creationId xmlns:a16="http://schemas.microsoft.com/office/drawing/2014/main" id="{688D88F6-F162-DF43-B477-290698F75149}"/>
              </a:ext>
            </a:extLst>
          </p:cNvPr>
          <p:cNvSpPr/>
          <p:nvPr/>
        </p:nvSpPr>
        <p:spPr bwMode="auto">
          <a:xfrm>
            <a:off x="457200" y="4826000"/>
            <a:ext cx="3581400" cy="6350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4" name="TextBox 33">
            <a:extLst>
              <a:ext uri="{FF2B5EF4-FFF2-40B4-BE49-F238E27FC236}">
                <a16:creationId xmlns:a16="http://schemas.microsoft.com/office/drawing/2014/main" id="{EC50087E-FA09-2441-A0FB-E1A95510E46F}"/>
              </a:ext>
            </a:extLst>
          </p:cNvPr>
          <p:cNvSpPr txBox="1"/>
          <p:nvPr/>
        </p:nvSpPr>
        <p:spPr>
          <a:xfrm>
            <a:off x="609600" y="4991100"/>
            <a:ext cx="254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4</a:t>
            </a:r>
            <a:endParaRPr lang="en-US" sz="900" b="1" dirty="0">
              <a:solidFill>
                <a:srgbClr val="0047FF"/>
              </a:solidFill>
              <a:latin typeface="Arial"/>
              <a:cs typeface="Arial"/>
            </a:endParaRPr>
          </a:p>
        </p:txBody>
      </p:sp>
      <p:sp>
        <p:nvSpPr>
          <p:cNvPr id="35" name="TextBox 34">
            <a:extLst>
              <a:ext uri="{FF2B5EF4-FFF2-40B4-BE49-F238E27FC236}">
                <a16:creationId xmlns:a16="http://schemas.microsoft.com/office/drawing/2014/main" id="{5B4742D2-36B2-B842-9A48-46AD617F9A61}"/>
              </a:ext>
            </a:extLst>
          </p:cNvPr>
          <p:cNvSpPr txBox="1"/>
          <p:nvPr/>
        </p:nvSpPr>
        <p:spPr>
          <a:xfrm>
            <a:off x="927100" y="4940300"/>
            <a:ext cx="2946400" cy="4191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Process change, customization, training, adoption, and workarounds</a:t>
            </a:r>
            <a:endParaRPr lang="en-US" sz="950" dirty="0">
              <a:solidFill>
                <a:srgbClr val="070154"/>
              </a:solidFill>
              <a:latin typeface="Arial"/>
              <a:cs typeface="Arial"/>
            </a:endParaRPr>
          </a:p>
        </p:txBody>
      </p:sp>
      <p:sp>
        <p:nvSpPr>
          <p:cNvPr id="36" name="Rectangle 35">
            <a:extLst>
              <a:ext uri="{FF2B5EF4-FFF2-40B4-BE49-F238E27FC236}">
                <a16:creationId xmlns:a16="http://schemas.microsoft.com/office/drawing/2014/main" id="{6CD3ADE0-0591-D04F-9B16-09DBB69BDA7B}"/>
              </a:ext>
            </a:extLst>
          </p:cNvPr>
          <p:cNvSpPr/>
          <p:nvPr/>
        </p:nvSpPr>
        <p:spPr bwMode="auto">
          <a:xfrm>
            <a:off x="4267200" y="4826000"/>
            <a:ext cx="3581400" cy="6350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7" name="TextBox 36">
            <a:extLst>
              <a:ext uri="{FF2B5EF4-FFF2-40B4-BE49-F238E27FC236}">
                <a16:creationId xmlns:a16="http://schemas.microsoft.com/office/drawing/2014/main" id="{EC6ED659-6A94-9C49-9F9C-350FA14355C6}"/>
              </a:ext>
            </a:extLst>
          </p:cNvPr>
          <p:cNvSpPr txBox="1"/>
          <p:nvPr/>
        </p:nvSpPr>
        <p:spPr>
          <a:xfrm>
            <a:off x="4419600" y="4991100"/>
            <a:ext cx="254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5</a:t>
            </a:r>
            <a:endParaRPr lang="en-US" sz="900" b="1" dirty="0">
              <a:solidFill>
                <a:srgbClr val="0047FF"/>
              </a:solidFill>
              <a:latin typeface="Arial"/>
              <a:cs typeface="Arial"/>
            </a:endParaRPr>
          </a:p>
        </p:txBody>
      </p:sp>
      <p:sp>
        <p:nvSpPr>
          <p:cNvPr id="38" name="TextBox 37">
            <a:extLst>
              <a:ext uri="{FF2B5EF4-FFF2-40B4-BE49-F238E27FC236}">
                <a16:creationId xmlns:a16="http://schemas.microsoft.com/office/drawing/2014/main" id="{B483EBF4-560D-E247-AD71-6ACE2ABDCE8A}"/>
              </a:ext>
            </a:extLst>
          </p:cNvPr>
          <p:cNvSpPr txBox="1"/>
          <p:nvPr/>
        </p:nvSpPr>
        <p:spPr>
          <a:xfrm>
            <a:off x="4737100" y="4940300"/>
            <a:ext cx="2946400" cy="4191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Transition, dual run, operational risk, decommissioning, and time to value</a:t>
            </a:r>
            <a:endParaRPr lang="en-US" sz="950" dirty="0">
              <a:solidFill>
                <a:srgbClr val="070154"/>
              </a:solidFill>
              <a:latin typeface="Arial"/>
              <a:cs typeface="Arial"/>
            </a:endParaRPr>
          </a:p>
        </p:txBody>
      </p:sp>
      <p:sp>
        <p:nvSpPr>
          <p:cNvPr id="39" name="Rectangle 38">
            <a:extLst>
              <a:ext uri="{FF2B5EF4-FFF2-40B4-BE49-F238E27FC236}">
                <a16:creationId xmlns:a16="http://schemas.microsoft.com/office/drawing/2014/main" id="{79BAB6BE-9ADD-D240-83A3-924E128DEB4D}"/>
              </a:ext>
            </a:extLst>
          </p:cNvPr>
          <p:cNvSpPr/>
          <p:nvPr/>
        </p:nvSpPr>
        <p:spPr bwMode="auto">
          <a:xfrm>
            <a:off x="8077200" y="4826000"/>
            <a:ext cx="3581400" cy="6350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0" name="TextBox 39">
            <a:extLst>
              <a:ext uri="{FF2B5EF4-FFF2-40B4-BE49-F238E27FC236}">
                <a16:creationId xmlns:a16="http://schemas.microsoft.com/office/drawing/2014/main" id="{90B8F33C-66F1-EF40-987E-1B0F48DF6DAF}"/>
              </a:ext>
            </a:extLst>
          </p:cNvPr>
          <p:cNvSpPr txBox="1"/>
          <p:nvPr/>
        </p:nvSpPr>
        <p:spPr>
          <a:xfrm>
            <a:off x="8229600" y="4991100"/>
            <a:ext cx="254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6</a:t>
            </a:r>
            <a:endParaRPr lang="en-US" sz="900" b="1" dirty="0">
              <a:solidFill>
                <a:srgbClr val="0047FF"/>
              </a:solidFill>
              <a:latin typeface="Arial"/>
              <a:cs typeface="Arial"/>
            </a:endParaRPr>
          </a:p>
        </p:txBody>
      </p:sp>
      <p:sp>
        <p:nvSpPr>
          <p:cNvPr id="41" name="TextBox 40">
            <a:extLst>
              <a:ext uri="{FF2B5EF4-FFF2-40B4-BE49-F238E27FC236}">
                <a16:creationId xmlns:a16="http://schemas.microsoft.com/office/drawing/2014/main" id="{AF3F6C74-BAB8-2A48-9218-1297D5E2BBA2}"/>
              </a:ext>
            </a:extLst>
          </p:cNvPr>
          <p:cNvSpPr txBox="1"/>
          <p:nvPr/>
        </p:nvSpPr>
        <p:spPr>
          <a:xfrm>
            <a:off x="8547100" y="4940300"/>
            <a:ext cx="2946400" cy="4191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Enhancements, maintenance, incidents, flexibility, and opportunity cost</a:t>
            </a:r>
            <a:endParaRPr lang="en-US" sz="950" dirty="0">
              <a:solidFill>
                <a:srgbClr val="070154"/>
              </a:solidFill>
              <a:latin typeface="Arial"/>
              <a:cs typeface="Arial"/>
            </a:endParaRPr>
          </a:p>
        </p:txBody>
      </p:sp>
      <p:sp>
        <p:nvSpPr>
          <p:cNvPr id="42" name="Rectangle 41">
            <a:extLst>
              <a:ext uri="{FF2B5EF4-FFF2-40B4-BE49-F238E27FC236}">
                <a16:creationId xmlns:a16="http://schemas.microsoft.com/office/drawing/2014/main" id="{AC653CE9-7B3E-DE49-8702-143BE0135403}"/>
              </a:ext>
            </a:extLst>
          </p:cNvPr>
          <p:cNvSpPr/>
          <p:nvPr/>
        </p:nvSpPr>
        <p:spPr bwMode="auto">
          <a:xfrm>
            <a:off x="457200" y="5689600"/>
            <a:ext cx="11277600" cy="4699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05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43" name="TextBox 42">
            <a:extLst>
              <a:ext uri="{FF2B5EF4-FFF2-40B4-BE49-F238E27FC236}">
                <a16:creationId xmlns:a16="http://schemas.microsoft.com/office/drawing/2014/main" id="{37C287F5-5BCE-2A4F-AA31-CBCFD81C1286}"/>
              </a:ext>
            </a:extLst>
          </p:cNvPr>
          <p:cNvSpPr txBox="1"/>
          <p:nvPr/>
        </p:nvSpPr>
        <p:spPr>
          <a:xfrm>
            <a:off x="685800" y="5816600"/>
            <a:ext cx="10820400" cy="2159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b="1">
                <a:solidFill>
                  <a:srgbClr val="FFFFFF"/>
                </a:solidFill>
                <a:latin typeface="Arial"/>
                <a:cs typeface="Arial"/>
              </a:rPr>
              <a:t>Apply measured AI gains to the workstreams they affect, then compare the full transition and operating economics.</a:t>
            </a:r>
            <a:endParaRPr lang="en-US" sz="1050" b="1" dirty="0">
              <a:solidFill>
                <a:srgbClr val="FFFFFF"/>
              </a:solidFill>
              <a:latin typeface="Arial"/>
              <a:cs typeface="Arial"/>
            </a:endParaRPr>
          </a:p>
        </p:txBody>
      </p:sp>
      <p:sp>
        <p:nvSpPr>
          <p:cNvPr id="2" name="TextBox 1">
            <a:extLst>
              <a:ext uri="{FF2B5EF4-FFF2-40B4-BE49-F238E27FC236}">
                <a16:creationId xmlns:a16="http://schemas.microsoft.com/office/drawing/2014/main" id="{87F6A7CA-9EAE-0E40-A29C-50DAB6BB211B}"/>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3" name="TextBox 2">
            <a:extLst>
              <a:ext uri="{FF2B5EF4-FFF2-40B4-BE49-F238E27FC236}">
                <a16:creationId xmlns:a16="http://schemas.microsoft.com/office/drawing/2014/main" id="{F3B7EE26-588D-C842-BC34-3FE6472E99C4}"/>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r>
              <a:rPr lang="en-US" sz="550">
                <a:solidFill>
                  <a:srgbClr val="070154"/>
                </a:solidFill>
                <a:latin typeface="Arial"/>
                <a:cs typeface="Arial"/>
              </a:rPr>
              <a:t>22</a:t>
            </a:r>
            <a:endParaRPr lang="en-US" sz="550" dirty="0">
              <a:solidFill>
                <a:srgbClr val="070154"/>
              </a:solidFill>
              <a:latin typeface="Arial"/>
              <a:cs typeface="Arial"/>
            </a:endParaRPr>
          </a:p>
        </p:txBody>
      </p:sp>
    </p:spTree>
    <p:extLst>
      <p:ext uri="{BB962C8B-B14F-4D97-AF65-F5344CB8AC3E}">
        <p14:creationId xmlns:p14="http://schemas.microsoft.com/office/powerpoint/2010/main" val="36861471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8C-63DB-6EC0-54B3-BAD510DB5D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2D4D6B-E702-B14F-8CBF-3DB9404EA064}"/>
              </a:ext>
            </a:extLst>
          </p:cNvPr>
          <p:cNvSpPr/>
          <p:nvPr/>
        </p:nvSpPr>
        <p:spPr bwMode="auto">
          <a:xfrm>
            <a:off x="0" y="0"/>
            <a:ext cx="121920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3D957A41-9389-9041-99A2-9153DA0C87B2}"/>
              </a:ext>
            </a:extLst>
          </p:cNvPr>
          <p:cNvSpPr/>
          <p:nvPr/>
        </p:nvSpPr>
        <p:spPr bwMode="auto">
          <a:xfrm>
            <a:off x="0" y="0"/>
            <a:ext cx="2286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0716BB7-CA60-524A-8CA8-6B88AD30659B}"/>
              </a:ext>
            </a:extLst>
          </p:cNvPr>
          <p:cNvSpPr/>
          <p:nvPr/>
        </p:nvSpPr>
        <p:spPr bwMode="auto">
          <a:xfrm>
            <a:off x="457200" y="609600"/>
            <a:ext cx="15240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3C91333C-DD3E-9B4D-89FD-5B2ACB074E63}"/>
              </a:ext>
            </a:extLst>
          </p:cNvPr>
          <p:cNvSpPr txBox="1"/>
          <p:nvPr/>
        </p:nvSpPr>
        <p:spPr>
          <a:xfrm>
            <a:off x="609600" y="990600"/>
            <a:ext cx="228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INTERNAL PICK-DECK GUIDE</a:t>
            </a:r>
            <a:endParaRPr lang="en-US" sz="1000" b="1" dirty="0">
              <a:solidFill>
                <a:srgbClr val="0047FF"/>
              </a:solidFill>
              <a:latin typeface="Arial"/>
              <a:cs typeface="Arial"/>
            </a:endParaRPr>
          </a:p>
        </p:txBody>
      </p:sp>
      <p:sp>
        <p:nvSpPr>
          <p:cNvPr id="12" name="TextBox 11">
            <a:extLst>
              <a:ext uri="{FF2B5EF4-FFF2-40B4-BE49-F238E27FC236}">
                <a16:creationId xmlns:a16="http://schemas.microsoft.com/office/drawing/2014/main" id="{F8E1B792-659A-D74D-9D48-33D822D70F96}"/>
              </a:ext>
            </a:extLst>
          </p:cNvPr>
          <p:cNvSpPr txBox="1"/>
          <p:nvPr/>
        </p:nvSpPr>
        <p:spPr>
          <a:xfrm>
            <a:off x="609600" y="1473200"/>
            <a:ext cx="8001000" cy="149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900" b="1">
                <a:solidFill>
                  <a:srgbClr val="FFFFFF"/>
                </a:solidFill>
                <a:latin typeface="Arial"/>
                <a:cs typeface="Arial"/>
              </a:rPr>
              <a:t>Modernization Accelerators &amp; Assets</a:t>
            </a:r>
            <a:endParaRPr lang="en-US" sz="2900" b="1" dirty="0">
              <a:solidFill>
                <a:srgbClr val="FFFFFF"/>
              </a:solidFill>
              <a:latin typeface="Arial"/>
              <a:cs typeface="Arial"/>
            </a:endParaRPr>
          </a:p>
        </p:txBody>
      </p:sp>
      <p:sp>
        <p:nvSpPr>
          <p:cNvPr id="14" name="TextBox 13">
            <a:extLst>
              <a:ext uri="{FF2B5EF4-FFF2-40B4-BE49-F238E27FC236}">
                <a16:creationId xmlns:a16="http://schemas.microsoft.com/office/drawing/2014/main" id="{F12B1E13-E8CD-BD43-96AA-519B3925EF9F}"/>
              </a:ext>
            </a:extLst>
          </p:cNvPr>
          <p:cNvSpPr txBox="1"/>
          <p:nvPr/>
        </p:nvSpPr>
        <p:spPr>
          <a:xfrm>
            <a:off x="609600" y="3149600"/>
            <a:ext cx="7874000" cy="685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a:solidFill>
                  <a:srgbClr val="FFFFFF"/>
                </a:solidFill>
                <a:latin typeface="Arial"/>
                <a:cs typeface="Arial"/>
              </a:rPr>
              <a:t>Provide one view of the methods, platforms, and reusable assets that accelerate modernization across people, process, technology, and delivery.</a:t>
            </a:r>
            <a:endParaRPr lang="en-US" sz="1300" dirty="0">
              <a:solidFill>
                <a:srgbClr val="FFFFFF"/>
              </a:solidFill>
              <a:latin typeface="Arial"/>
              <a:cs typeface="Arial"/>
            </a:endParaRPr>
          </a:p>
        </p:txBody>
      </p:sp>
      <p:sp>
        <p:nvSpPr>
          <p:cNvPr id="15" name="TextBox 14">
            <a:extLst>
              <a:ext uri="{FF2B5EF4-FFF2-40B4-BE49-F238E27FC236}">
                <a16:creationId xmlns:a16="http://schemas.microsoft.com/office/drawing/2014/main" id="{73F430C6-7897-2E44-A356-F000D6B34EA5}"/>
              </a:ext>
            </a:extLst>
          </p:cNvPr>
          <p:cNvSpPr txBox="1"/>
          <p:nvPr/>
        </p:nvSpPr>
        <p:spPr>
          <a:xfrm>
            <a:off x="9118600" y="11557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SECTION PLACEHOLDERS</a:t>
            </a:r>
            <a:endParaRPr lang="en-US" sz="950" b="1" dirty="0">
              <a:solidFill>
                <a:srgbClr val="0047FF"/>
              </a:solidFill>
              <a:latin typeface="Arial"/>
              <a:cs typeface="Arial"/>
            </a:endParaRPr>
          </a:p>
        </p:txBody>
      </p:sp>
      <p:sp>
        <p:nvSpPr>
          <p:cNvPr id="16" name="Rectangle 15">
            <a:extLst>
              <a:ext uri="{FF2B5EF4-FFF2-40B4-BE49-F238E27FC236}">
                <a16:creationId xmlns:a16="http://schemas.microsoft.com/office/drawing/2014/main" id="{261D85DC-F9D6-6945-B534-E7FA1D31F122}"/>
              </a:ext>
            </a:extLst>
          </p:cNvPr>
          <p:cNvSpPr/>
          <p:nvPr/>
        </p:nvSpPr>
        <p:spPr bwMode="auto">
          <a:xfrm>
            <a:off x="9118600" y="15875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D01BF5B1-B24E-284C-9FC7-E80462316182}"/>
              </a:ext>
            </a:extLst>
          </p:cNvPr>
          <p:cNvSpPr txBox="1"/>
          <p:nvPr/>
        </p:nvSpPr>
        <p:spPr>
          <a:xfrm>
            <a:off x="9271000" y="17399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01</a:t>
            </a:r>
            <a:endParaRPr lang="en-US" sz="900" b="1" dirty="0">
              <a:solidFill>
                <a:srgbClr val="F900D3"/>
              </a:solidFill>
              <a:latin typeface="Arial"/>
              <a:cs typeface="Arial"/>
            </a:endParaRPr>
          </a:p>
        </p:txBody>
      </p:sp>
      <p:sp>
        <p:nvSpPr>
          <p:cNvPr id="21" name="TextBox 20">
            <a:extLst>
              <a:ext uri="{FF2B5EF4-FFF2-40B4-BE49-F238E27FC236}">
                <a16:creationId xmlns:a16="http://schemas.microsoft.com/office/drawing/2014/main" id="{F685F9EA-221F-3347-8288-97BD26237162}"/>
              </a:ext>
            </a:extLst>
          </p:cNvPr>
          <p:cNvSpPr txBox="1"/>
          <p:nvPr/>
        </p:nvSpPr>
        <p:spPr>
          <a:xfrm>
            <a:off x="9677400" y="16764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OCM AI Studio</a:t>
            </a:r>
            <a:endParaRPr lang="en-US" sz="1000" b="1" dirty="0">
              <a:solidFill>
                <a:srgbClr val="070154"/>
              </a:solidFill>
              <a:latin typeface="Arial"/>
              <a:cs typeface="Arial"/>
            </a:endParaRPr>
          </a:p>
        </p:txBody>
      </p:sp>
      <p:sp>
        <p:nvSpPr>
          <p:cNvPr id="22" name="Rectangle 21">
            <a:extLst>
              <a:ext uri="{FF2B5EF4-FFF2-40B4-BE49-F238E27FC236}">
                <a16:creationId xmlns:a16="http://schemas.microsoft.com/office/drawing/2014/main" id="{07DBAAEE-5275-0B4F-8234-10AE0BF7AC50}"/>
              </a:ext>
            </a:extLst>
          </p:cNvPr>
          <p:cNvSpPr/>
          <p:nvPr/>
        </p:nvSpPr>
        <p:spPr bwMode="auto">
          <a:xfrm>
            <a:off x="9118600" y="23114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C1D6F0A2-F72D-C640-9D54-A4D4C9BE9626}"/>
              </a:ext>
            </a:extLst>
          </p:cNvPr>
          <p:cNvSpPr txBox="1"/>
          <p:nvPr/>
        </p:nvSpPr>
        <p:spPr>
          <a:xfrm>
            <a:off x="9271000" y="2463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02</a:t>
            </a:r>
            <a:endParaRPr lang="en-US" sz="900" b="1" dirty="0">
              <a:solidFill>
                <a:srgbClr val="F900D3"/>
              </a:solidFill>
              <a:latin typeface="Arial"/>
              <a:cs typeface="Arial"/>
            </a:endParaRPr>
          </a:p>
        </p:txBody>
      </p:sp>
      <p:sp>
        <p:nvSpPr>
          <p:cNvPr id="24" name="TextBox 23">
            <a:extLst>
              <a:ext uri="{FF2B5EF4-FFF2-40B4-BE49-F238E27FC236}">
                <a16:creationId xmlns:a16="http://schemas.microsoft.com/office/drawing/2014/main" id="{080B83FA-47AE-5546-B78A-3741943FCCAA}"/>
              </a:ext>
            </a:extLst>
          </p:cNvPr>
          <p:cNvSpPr txBox="1"/>
          <p:nvPr/>
        </p:nvSpPr>
        <p:spPr>
          <a:xfrm>
            <a:off x="9677400" y="24003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Intellio Hopper</a:t>
            </a:r>
            <a:endParaRPr lang="en-US" sz="1000" b="1" dirty="0">
              <a:solidFill>
                <a:srgbClr val="070154"/>
              </a:solidFill>
              <a:latin typeface="Arial"/>
              <a:cs typeface="Arial"/>
            </a:endParaRPr>
          </a:p>
        </p:txBody>
      </p:sp>
      <p:sp>
        <p:nvSpPr>
          <p:cNvPr id="25" name="Rectangle 24">
            <a:extLst>
              <a:ext uri="{FF2B5EF4-FFF2-40B4-BE49-F238E27FC236}">
                <a16:creationId xmlns:a16="http://schemas.microsoft.com/office/drawing/2014/main" id="{5B5F2BF9-FA2F-E54E-9A25-DB5AD24F1FD1}"/>
              </a:ext>
            </a:extLst>
          </p:cNvPr>
          <p:cNvSpPr/>
          <p:nvPr/>
        </p:nvSpPr>
        <p:spPr bwMode="auto">
          <a:xfrm>
            <a:off x="9118600" y="30353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29292B1C-4A91-1946-99C8-A22EB49E9166}"/>
              </a:ext>
            </a:extLst>
          </p:cNvPr>
          <p:cNvSpPr txBox="1"/>
          <p:nvPr/>
        </p:nvSpPr>
        <p:spPr>
          <a:xfrm>
            <a:off x="92710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03</a:t>
            </a:r>
            <a:endParaRPr lang="en-US" sz="900" b="1" dirty="0">
              <a:solidFill>
                <a:srgbClr val="F900D3"/>
              </a:solidFill>
              <a:latin typeface="Arial"/>
              <a:cs typeface="Arial"/>
            </a:endParaRPr>
          </a:p>
        </p:txBody>
      </p:sp>
      <p:sp>
        <p:nvSpPr>
          <p:cNvPr id="27" name="TextBox 26">
            <a:extLst>
              <a:ext uri="{FF2B5EF4-FFF2-40B4-BE49-F238E27FC236}">
                <a16:creationId xmlns:a16="http://schemas.microsoft.com/office/drawing/2014/main" id="{6D3A6AC7-EA6A-544F-B9CC-F86023D2FAF4}"/>
              </a:ext>
            </a:extLst>
          </p:cNvPr>
          <p:cNvSpPr txBox="1"/>
          <p:nvPr/>
        </p:nvSpPr>
        <p:spPr>
          <a:xfrm>
            <a:off x="9677400" y="31242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Intellio Evolve</a:t>
            </a:r>
            <a:endParaRPr lang="en-US" sz="1000" b="1" dirty="0">
              <a:solidFill>
                <a:srgbClr val="070154"/>
              </a:solidFill>
              <a:latin typeface="Arial"/>
              <a:cs typeface="Arial"/>
            </a:endParaRPr>
          </a:p>
        </p:txBody>
      </p:sp>
      <p:sp>
        <p:nvSpPr>
          <p:cNvPr id="28" name="Rectangle 27">
            <a:extLst>
              <a:ext uri="{FF2B5EF4-FFF2-40B4-BE49-F238E27FC236}">
                <a16:creationId xmlns:a16="http://schemas.microsoft.com/office/drawing/2014/main" id="{7D2CEE49-87AD-B74B-BCBB-6545318FEAE4}"/>
              </a:ext>
            </a:extLst>
          </p:cNvPr>
          <p:cNvSpPr/>
          <p:nvPr/>
        </p:nvSpPr>
        <p:spPr bwMode="auto">
          <a:xfrm>
            <a:off x="9118600" y="37592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A7BB059-7F53-E749-AC13-3FF96661BA83}"/>
              </a:ext>
            </a:extLst>
          </p:cNvPr>
          <p:cNvSpPr txBox="1"/>
          <p:nvPr/>
        </p:nvSpPr>
        <p:spPr>
          <a:xfrm>
            <a:off x="9271000" y="39116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04</a:t>
            </a:r>
            <a:endParaRPr lang="en-US" sz="900" b="1" dirty="0">
              <a:solidFill>
                <a:srgbClr val="F900D3"/>
              </a:solidFill>
              <a:latin typeface="Arial"/>
              <a:cs typeface="Arial"/>
            </a:endParaRPr>
          </a:p>
        </p:txBody>
      </p:sp>
      <p:sp>
        <p:nvSpPr>
          <p:cNvPr id="30" name="TextBox 29">
            <a:extLst>
              <a:ext uri="{FF2B5EF4-FFF2-40B4-BE49-F238E27FC236}">
                <a16:creationId xmlns:a16="http://schemas.microsoft.com/office/drawing/2014/main" id="{E81A1754-C62A-9340-828F-1507EB0BF98D}"/>
              </a:ext>
            </a:extLst>
          </p:cNvPr>
          <p:cNvSpPr txBox="1"/>
          <p:nvPr/>
        </p:nvSpPr>
        <p:spPr>
          <a:xfrm>
            <a:off x="9677400" y="38481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Supporting assets</a:t>
            </a:r>
            <a:endParaRPr lang="en-US" sz="1000" b="1" dirty="0">
              <a:solidFill>
                <a:srgbClr val="070154"/>
              </a:solidFill>
              <a:latin typeface="Arial"/>
              <a:cs typeface="Arial"/>
            </a:endParaRPr>
          </a:p>
        </p:txBody>
      </p:sp>
      <p:sp>
        <p:nvSpPr>
          <p:cNvPr id="31" name="Rectangle 30">
            <a:extLst>
              <a:ext uri="{FF2B5EF4-FFF2-40B4-BE49-F238E27FC236}">
                <a16:creationId xmlns:a16="http://schemas.microsoft.com/office/drawing/2014/main" id="{3375BC94-8D43-EF4D-96D9-538EF700EFE6}"/>
              </a:ext>
            </a:extLst>
          </p:cNvPr>
          <p:cNvSpPr/>
          <p:nvPr/>
        </p:nvSpPr>
        <p:spPr bwMode="auto">
          <a:xfrm>
            <a:off x="609600" y="5270500"/>
            <a:ext cx="8255000" cy="571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A26CFF14-2BDE-1848-A022-DAC182E8D21B}"/>
              </a:ext>
            </a:extLst>
          </p:cNvPr>
          <p:cNvSpPr txBox="1"/>
          <p:nvPr/>
        </p:nvSpPr>
        <p:spPr>
          <a:xfrm>
            <a:off x="863600" y="5435600"/>
            <a:ext cx="7747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PLACEHOLDER SECTION — Confirm the complete asset inventory, lifecycle fit, owners, maturity, and approved claims.</a:t>
            </a:r>
            <a:endParaRPr lang="en-US" sz="1000" b="1" dirty="0">
              <a:solidFill>
                <a:srgbClr val="070154"/>
              </a:solidFill>
              <a:latin typeface="Arial"/>
              <a:cs typeface="Arial"/>
            </a:endParaRPr>
          </a:p>
        </p:txBody>
      </p:sp>
      <p:sp>
        <p:nvSpPr>
          <p:cNvPr id="3" name="TextBox 2">
            <a:extLst>
              <a:ext uri="{FF2B5EF4-FFF2-40B4-BE49-F238E27FC236}">
                <a16:creationId xmlns:a16="http://schemas.microsoft.com/office/drawing/2014/main" id="{D9C2D31F-41C9-834B-806E-5C698A45F50E}"/>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D0847E0D-C3A0-6C47-8917-F1C8F445903B}"/>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endParaRPr lang="en-US" sz="550" dirty="0">
              <a:solidFill>
                <a:srgbClr val="070154"/>
              </a:solidFill>
              <a:latin typeface="Arial"/>
              <a:cs typeface="Arial"/>
            </a:endParaRPr>
          </a:p>
        </p:txBody>
      </p:sp>
    </p:spTree>
    <p:extLst>
      <p:ext uri="{BB962C8B-B14F-4D97-AF65-F5344CB8AC3E}">
        <p14:creationId xmlns:p14="http://schemas.microsoft.com/office/powerpoint/2010/main" val="3368934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8C-63DB-6EC0-54B3-BAD510DB5D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2D4D6B-E702-B14F-8CBF-3DB9404EA064}"/>
              </a:ext>
            </a:extLst>
          </p:cNvPr>
          <p:cNvSpPr/>
          <p:nvPr/>
        </p:nvSpPr>
        <p:spPr bwMode="auto">
          <a:xfrm>
            <a:off x="0" y="0"/>
            <a:ext cx="121920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3D957A41-9389-9041-99A2-9153DA0C87B2}"/>
              </a:ext>
            </a:extLst>
          </p:cNvPr>
          <p:cNvSpPr/>
          <p:nvPr/>
        </p:nvSpPr>
        <p:spPr bwMode="auto">
          <a:xfrm>
            <a:off x="0" y="0"/>
            <a:ext cx="2286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0716BB7-CA60-524A-8CA8-6B88AD30659B}"/>
              </a:ext>
            </a:extLst>
          </p:cNvPr>
          <p:cNvSpPr/>
          <p:nvPr/>
        </p:nvSpPr>
        <p:spPr bwMode="auto">
          <a:xfrm>
            <a:off x="457200" y="609600"/>
            <a:ext cx="15240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3C91333C-DD3E-9B4D-89FD-5B2ACB074E63}"/>
              </a:ext>
            </a:extLst>
          </p:cNvPr>
          <p:cNvSpPr txBox="1"/>
          <p:nvPr/>
        </p:nvSpPr>
        <p:spPr>
          <a:xfrm>
            <a:off x="609600" y="990600"/>
            <a:ext cx="228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INTERNAL PICK-DECK GUIDE</a:t>
            </a:r>
            <a:endParaRPr lang="en-US" sz="1000" b="1" dirty="0">
              <a:solidFill>
                <a:srgbClr val="0047FF"/>
              </a:solidFill>
              <a:latin typeface="Arial"/>
              <a:cs typeface="Arial"/>
            </a:endParaRPr>
          </a:p>
        </p:txBody>
      </p:sp>
      <p:sp>
        <p:nvSpPr>
          <p:cNvPr id="12" name="TextBox 11">
            <a:extLst>
              <a:ext uri="{FF2B5EF4-FFF2-40B4-BE49-F238E27FC236}">
                <a16:creationId xmlns:a16="http://schemas.microsoft.com/office/drawing/2014/main" id="{F8E1B792-659A-D74D-9D48-33D822D70F96}"/>
              </a:ext>
            </a:extLst>
          </p:cNvPr>
          <p:cNvSpPr txBox="1"/>
          <p:nvPr/>
        </p:nvSpPr>
        <p:spPr>
          <a:xfrm>
            <a:off x="609600" y="1473200"/>
            <a:ext cx="8001000" cy="149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900" b="1">
                <a:solidFill>
                  <a:srgbClr val="FFFFFF"/>
                </a:solidFill>
                <a:latin typeface="Arial"/>
                <a:cs typeface="Arial"/>
              </a:rPr>
              <a:t>OCM AI Studio</a:t>
            </a:r>
            <a:endParaRPr lang="en-US" sz="2900" b="1" dirty="0">
              <a:solidFill>
                <a:srgbClr val="FFFFFF"/>
              </a:solidFill>
              <a:latin typeface="Arial"/>
              <a:cs typeface="Arial"/>
            </a:endParaRPr>
          </a:p>
        </p:txBody>
      </p:sp>
      <p:sp>
        <p:nvSpPr>
          <p:cNvPr id="14" name="TextBox 13">
            <a:extLst>
              <a:ext uri="{FF2B5EF4-FFF2-40B4-BE49-F238E27FC236}">
                <a16:creationId xmlns:a16="http://schemas.microsoft.com/office/drawing/2014/main" id="{F12B1E13-E8CD-BD43-96AA-519B3925EF9F}"/>
              </a:ext>
            </a:extLst>
          </p:cNvPr>
          <p:cNvSpPr txBox="1"/>
          <p:nvPr/>
        </p:nvSpPr>
        <p:spPr>
          <a:xfrm>
            <a:off x="609600" y="3149600"/>
            <a:ext cx="7874000" cy="685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a:solidFill>
                  <a:srgbClr val="FFFFFF"/>
                </a:solidFill>
                <a:latin typeface="Arial"/>
                <a:cs typeface="Arial"/>
              </a:rPr>
              <a:t>Placeholder for how OCM AI Studio supports people and change outcomes within modernization programs.</a:t>
            </a:r>
            <a:endParaRPr lang="en-US" sz="1300" dirty="0">
              <a:solidFill>
                <a:srgbClr val="FFFFFF"/>
              </a:solidFill>
              <a:latin typeface="Arial"/>
              <a:cs typeface="Arial"/>
            </a:endParaRPr>
          </a:p>
        </p:txBody>
      </p:sp>
      <p:sp>
        <p:nvSpPr>
          <p:cNvPr id="15" name="TextBox 14">
            <a:extLst>
              <a:ext uri="{FF2B5EF4-FFF2-40B4-BE49-F238E27FC236}">
                <a16:creationId xmlns:a16="http://schemas.microsoft.com/office/drawing/2014/main" id="{73F430C6-7897-2E44-A356-F000D6B34EA5}"/>
              </a:ext>
            </a:extLst>
          </p:cNvPr>
          <p:cNvSpPr txBox="1"/>
          <p:nvPr/>
        </p:nvSpPr>
        <p:spPr>
          <a:xfrm>
            <a:off x="9118600" y="11557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CONTENT TO DEVELOP</a:t>
            </a:r>
            <a:endParaRPr lang="en-US" sz="950" b="1" dirty="0">
              <a:solidFill>
                <a:srgbClr val="0047FF"/>
              </a:solidFill>
              <a:latin typeface="Arial"/>
              <a:cs typeface="Arial"/>
            </a:endParaRPr>
          </a:p>
        </p:txBody>
      </p:sp>
      <p:sp>
        <p:nvSpPr>
          <p:cNvPr id="16" name="Rectangle 15">
            <a:extLst>
              <a:ext uri="{FF2B5EF4-FFF2-40B4-BE49-F238E27FC236}">
                <a16:creationId xmlns:a16="http://schemas.microsoft.com/office/drawing/2014/main" id="{261D85DC-F9D6-6945-B534-E7FA1D31F122}"/>
              </a:ext>
            </a:extLst>
          </p:cNvPr>
          <p:cNvSpPr/>
          <p:nvPr/>
        </p:nvSpPr>
        <p:spPr bwMode="auto">
          <a:xfrm>
            <a:off x="9118600" y="15875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D01BF5B1-B24E-284C-9FC7-E80462316182}"/>
              </a:ext>
            </a:extLst>
          </p:cNvPr>
          <p:cNvSpPr txBox="1"/>
          <p:nvPr/>
        </p:nvSpPr>
        <p:spPr>
          <a:xfrm>
            <a:off x="9271000" y="17399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01</a:t>
            </a:r>
            <a:endParaRPr lang="en-US" sz="900" b="1" dirty="0">
              <a:solidFill>
                <a:srgbClr val="F900D3"/>
              </a:solidFill>
              <a:latin typeface="Arial"/>
              <a:cs typeface="Arial"/>
            </a:endParaRPr>
          </a:p>
        </p:txBody>
      </p:sp>
      <p:sp>
        <p:nvSpPr>
          <p:cNvPr id="21" name="TextBox 20">
            <a:extLst>
              <a:ext uri="{FF2B5EF4-FFF2-40B4-BE49-F238E27FC236}">
                <a16:creationId xmlns:a16="http://schemas.microsoft.com/office/drawing/2014/main" id="{F685F9EA-221F-3347-8288-97BD26237162}"/>
              </a:ext>
            </a:extLst>
          </p:cNvPr>
          <p:cNvSpPr txBox="1"/>
          <p:nvPr/>
        </p:nvSpPr>
        <p:spPr>
          <a:xfrm>
            <a:off x="9677400" y="16764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Change impacts (TBD)</a:t>
            </a:r>
            <a:endParaRPr lang="en-US" sz="1000" b="1" dirty="0">
              <a:solidFill>
                <a:srgbClr val="070154"/>
              </a:solidFill>
              <a:latin typeface="Arial"/>
              <a:cs typeface="Arial"/>
            </a:endParaRPr>
          </a:p>
        </p:txBody>
      </p:sp>
      <p:sp>
        <p:nvSpPr>
          <p:cNvPr id="22" name="Rectangle 21">
            <a:extLst>
              <a:ext uri="{FF2B5EF4-FFF2-40B4-BE49-F238E27FC236}">
                <a16:creationId xmlns:a16="http://schemas.microsoft.com/office/drawing/2014/main" id="{07DBAAEE-5275-0B4F-8234-10AE0BF7AC50}"/>
              </a:ext>
            </a:extLst>
          </p:cNvPr>
          <p:cNvSpPr/>
          <p:nvPr/>
        </p:nvSpPr>
        <p:spPr bwMode="auto">
          <a:xfrm>
            <a:off x="9118600" y="23114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C1D6F0A2-F72D-C640-9D54-A4D4C9BE9626}"/>
              </a:ext>
            </a:extLst>
          </p:cNvPr>
          <p:cNvSpPr txBox="1"/>
          <p:nvPr/>
        </p:nvSpPr>
        <p:spPr>
          <a:xfrm>
            <a:off x="9271000" y="2463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02</a:t>
            </a:r>
            <a:endParaRPr lang="en-US" sz="900" b="1" dirty="0">
              <a:solidFill>
                <a:srgbClr val="F900D3"/>
              </a:solidFill>
              <a:latin typeface="Arial"/>
              <a:cs typeface="Arial"/>
            </a:endParaRPr>
          </a:p>
        </p:txBody>
      </p:sp>
      <p:sp>
        <p:nvSpPr>
          <p:cNvPr id="24" name="TextBox 23">
            <a:extLst>
              <a:ext uri="{FF2B5EF4-FFF2-40B4-BE49-F238E27FC236}">
                <a16:creationId xmlns:a16="http://schemas.microsoft.com/office/drawing/2014/main" id="{080B83FA-47AE-5546-B78A-3741943FCCAA}"/>
              </a:ext>
            </a:extLst>
          </p:cNvPr>
          <p:cNvSpPr txBox="1"/>
          <p:nvPr/>
        </p:nvSpPr>
        <p:spPr>
          <a:xfrm>
            <a:off x="9677400" y="24003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Role + readiness insights</a:t>
            </a:r>
            <a:endParaRPr lang="en-US" sz="1000" b="1" dirty="0">
              <a:solidFill>
                <a:srgbClr val="070154"/>
              </a:solidFill>
              <a:latin typeface="Arial"/>
              <a:cs typeface="Arial"/>
            </a:endParaRPr>
          </a:p>
        </p:txBody>
      </p:sp>
      <p:sp>
        <p:nvSpPr>
          <p:cNvPr id="25" name="Rectangle 24">
            <a:extLst>
              <a:ext uri="{FF2B5EF4-FFF2-40B4-BE49-F238E27FC236}">
                <a16:creationId xmlns:a16="http://schemas.microsoft.com/office/drawing/2014/main" id="{5B5F2BF9-FA2F-E54E-9A25-DB5AD24F1FD1}"/>
              </a:ext>
            </a:extLst>
          </p:cNvPr>
          <p:cNvSpPr/>
          <p:nvPr/>
        </p:nvSpPr>
        <p:spPr bwMode="auto">
          <a:xfrm>
            <a:off x="9118600" y="30353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29292B1C-4A91-1946-99C8-A22EB49E9166}"/>
              </a:ext>
            </a:extLst>
          </p:cNvPr>
          <p:cNvSpPr txBox="1"/>
          <p:nvPr/>
        </p:nvSpPr>
        <p:spPr>
          <a:xfrm>
            <a:off x="92710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03</a:t>
            </a:r>
            <a:endParaRPr lang="en-US" sz="900" b="1" dirty="0">
              <a:solidFill>
                <a:srgbClr val="F900D3"/>
              </a:solidFill>
              <a:latin typeface="Arial"/>
              <a:cs typeface="Arial"/>
            </a:endParaRPr>
          </a:p>
        </p:txBody>
      </p:sp>
      <p:sp>
        <p:nvSpPr>
          <p:cNvPr id="27" name="TextBox 26">
            <a:extLst>
              <a:ext uri="{FF2B5EF4-FFF2-40B4-BE49-F238E27FC236}">
                <a16:creationId xmlns:a16="http://schemas.microsoft.com/office/drawing/2014/main" id="{6D3A6AC7-EA6A-544F-B9CC-F86023D2FAF4}"/>
              </a:ext>
            </a:extLst>
          </p:cNvPr>
          <p:cNvSpPr txBox="1"/>
          <p:nvPr/>
        </p:nvSpPr>
        <p:spPr>
          <a:xfrm>
            <a:off x="9677400" y="31242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Communications + learning</a:t>
            </a:r>
            <a:endParaRPr lang="en-US" sz="1000" b="1" dirty="0">
              <a:solidFill>
                <a:srgbClr val="070154"/>
              </a:solidFill>
              <a:latin typeface="Arial"/>
              <a:cs typeface="Arial"/>
            </a:endParaRPr>
          </a:p>
        </p:txBody>
      </p:sp>
      <p:sp>
        <p:nvSpPr>
          <p:cNvPr id="28" name="Rectangle 27">
            <a:extLst>
              <a:ext uri="{FF2B5EF4-FFF2-40B4-BE49-F238E27FC236}">
                <a16:creationId xmlns:a16="http://schemas.microsoft.com/office/drawing/2014/main" id="{7D2CEE49-87AD-B74B-BCBB-6545318FEAE4}"/>
              </a:ext>
            </a:extLst>
          </p:cNvPr>
          <p:cNvSpPr/>
          <p:nvPr/>
        </p:nvSpPr>
        <p:spPr bwMode="auto">
          <a:xfrm>
            <a:off x="9118600" y="37592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A7BB059-7F53-E749-AC13-3FF96661BA83}"/>
              </a:ext>
            </a:extLst>
          </p:cNvPr>
          <p:cNvSpPr txBox="1"/>
          <p:nvPr/>
        </p:nvSpPr>
        <p:spPr>
          <a:xfrm>
            <a:off x="9271000" y="39116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04</a:t>
            </a:r>
            <a:endParaRPr lang="en-US" sz="900" b="1" dirty="0">
              <a:solidFill>
                <a:srgbClr val="F900D3"/>
              </a:solidFill>
              <a:latin typeface="Arial"/>
              <a:cs typeface="Arial"/>
            </a:endParaRPr>
          </a:p>
        </p:txBody>
      </p:sp>
      <p:sp>
        <p:nvSpPr>
          <p:cNvPr id="30" name="TextBox 29">
            <a:extLst>
              <a:ext uri="{FF2B5EF4-FFF2-40B4-BE49-F238E27FC236}">
                <a16:creationId xmlns:a16="http://schemas.microsoft.com/office/drawing/2014/main" id="{E81A1754-C62A-9340-828F-1507EB0BF98D}"/>
              </a:ext>
            </a:extLst>
          </p:cNvPr>
          <p:cNvSpPr txBox="1"/>
          <p:nvPr/>
        </p:nvSpPr>
        <p:spPr>
          <a:xfrm>
            <a:off x="9677400" y="38481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Adoption measures</a:t>
            </a:r>
            <a:endParaRPr lang="en-US" sz="1000" b="1" dirty="0">
              <a:solidFill>
                <a:srgbClr val="070154"/>
              </a:solidFill>
              <a:latin typeface="Arial"/>
              <a:cs typeface="Arial"/>
            </a:endParaRPr>
          </a:p>
        </p:txBody>
      </p:sp>
      <p:sp>
        <p:nvSpPr>
          <p:cNvPr id="31" name="Rectangle 30">
            <a:extLst>
              <a:ext uri="{FF2B5EF4-FFF2-40B4-BE49-F238E27FC236}">
                <a16:creationId xmlns:a16="http://schemas.microsoft.com/office/drawing/2014/main" id="{3375BC94-8D43-EF4D-96D9-538EF700EFE6}"/>
              </a:ext>
            </a:extLst>
          </p:cNvPr>
          <p:cNvSpPr/>
          <p:nvPr/>
        </p:nvSpPr>
        <p:spPr bwMode="auto">
          <a:xfrm>
            <a:off x="609600" y="5270500"/>
            <a:ext cx="8255000" cy="571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A26CFF14-2BDE-1848-A022-DAC182E8D21B}"/>
              </a:ext>
            </a:extLst>
          </p:cNvPr>
          <p:cNvSpPr txBox="1"/>
          <p:nvPr/>
        </p:nvSpPr>
        <p:spPr>
          <a:xfrm>
            <a:off x="863600" y="5435600"/>
            <a:ext cx="7747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PLACEHOLDER SECTION — Confirm product positioning, modernization use cases, demo assets, owner, maturity, and proof.</a:t>
            </a:r>
            <a:endParaRPr lang="en-US" sz="1000" b="1" dirty="0">
              <a:solidFill>
                <a:srgbClr val="070154"/>
              </a:solidFill>
              <a:latin typeface="Arial"/>
              <a:cs typeface="Arial"/>
            </a:endParaRPr>
          </a:p>
        </p:txBody>
      </p:sp>
      <p:sp>
        <p:nvSpPr>
          <p:cNvPr id="3" name="TextBox 2">
            <a:extLst>
              <a:ext uri="{FF2B5EF4-FFF2-40B4-BE49-F238E27FC236}">
                <a16:creationId xmlns:a16="http://schemas.microsoft.com/office/drawing/2014/main" id="{D9C2D31F-41C9-834B-806E-5C698A45F50E}"/>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D0847E0D-C3A0-6C47-8917-F1C8F445903B}"/>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endParaRPr lang="en-US" sz="550" dirty="0">
              <a:solidFill>
                <a:srgbClr val="070154"/>
              </a:solidFill>
              <a:latin typeface="Arial"/>
              <a:cs typeface="Arial"/>
            </a:endParaRPr>
          </a:p>
        </p:txBody>
      </p:sp>
    </p:spTree>
    <p:extLst>
      <p:ext uri="{BB962C8B-B14F-4D97-AF65-F5344CB8AC3E}">
        <p14:creationId xmlns:p14="http://schemas.microsoft.com/office/powerpoint/2010/main" val="21664178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8C-63DB-6EC0-54B3-BAD510DB5D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2D4D6B-E702-B14F-8CBF-3DB9404EA064}"/>
              </a:ext>
            </a:extLst>
          </p:cNvPr>
          <p:cNvSpPr/>
          <p:nvPr/>
        </p:nvSpPr>
        <p:spPr bwMode="auto">
          <a:xfrm>
            <a:off x="0" y="0"/>
            <a:ext cx="121920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3D957A41-9389-9041-99A2-9153DA0C87B2}"/>
              </a:ext>
            </a:extLst>
          </p:cNvPr>
          <p:cNvSpPr/>
          <p:nvPr/>
        </p:nvSpPr>
        <p:spPr bwMode="auto">
          <a:xfrm>
            <a:off x="0" y="0"/>
            <a:ext cx="2286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0716BB7-CA60-524A-8CA8-6B88AD30659B}"/>
              </a:ext>
            </a:extLst>
          </p:cNvPr>
          <p:cNvSpPr/>
          <p:nvPr/>
        </p:nvSpPr>
        <p:spPr bwMode="auto">
          <a:xfrm>
            <a:off x="457200" y="609600"/>
            <a:ext cx="15240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3C91333C-DD3E-9B4D-89FD-5B2ACB074E63}"/>
              </a:ext>
            </a:extLst>
          </p:cNvPr>
          <p:cNvSpPr txBox="1"/>
          <p:nvPr/>
        </p:nvSpPr>
        <p:spPr>
          <a:xfrm>
            <a:off x="609600" y="990600"/>
            <a:ext cx="228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INTERNAL PICK-DECK GUIDE</a:t>
            </a:r>
            <a:endParaRPr lang="en-US" sz="1000" b="1" dirty="0">
              <a:solidFill>
                <a:srgbClr val="0047FF"/>
              </a:solidFill>
              <a:latin typeface="Arial"/>
              <a:cs typeface="Arial"/>
            </a:endParaRPr>
          </a:p>
        </p:txBody>
      </p:sp>
      <p:sp>
        <p:nvSpPr>
          <p:cNvPr id="12" name="TextBox 11">
            <a:extLst>
              <a:ext uri="{FF2B5EF4-FFF2-40B4-BE49-F238E27FC236}">
                <a16:creationId xmlns:a16="http://schemas.microsoft.com/office/drawing/2014/main" id="{F8E1B792-659A-D74D-9D48-33D822D70F96}"/>
              </a:ext>
            </a:extLst>
          </p:cNvPr>
          <p:cNvSpPr txBox="1"/>
          <p:nvPr/>
        </p:nvSpPr>
        <p:spPr>
          <a:xfrm>
            <a:off x="609600" y="1473200"/>
            <a:ext cx="8001000" cy="149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900" b="1">
                <a:solidFill>
                  <a:srgbClr val="FFFFFF"/>
                </a:solidFill>
                <a:latin typeface="Arial"/>
                <a:cs typeface="Arial"/>
              </a:rPr>
              <a:t>Intellio Hopper</a:t>
            </a:r>
            <a:endParaRPr lang="en-US" sz="2900" b="1" dirty="0">
              <a:solidFill>
                <a:srgbClr val="FFFFFF"/>
              </a:solidFill>
              <a:latin typeface="Arial"/>
              <a:cs typeface="Arial"/>
            </a:endParaRPr>
          </a:p>
        </p:txBody>
      </p:sp>
      <p:sp>
        <p:nvSpPr>
          <p:cNvPr id="14" name="TextBox 13">
            <a:extLst>
              <a:ext uri="{FF2B5EF4-FFF2-40B4-BE49-F238E27FC236}">
                <a16:creationId xmlns:a16="http://schemas.microsoft.com/office/drawing/2014/main" id="{F12B1E13-E8CD-BD43-96AA-519B3925EF9F}"/>
              </a:ext>
            </a:extLst>
          </p:cNvPr>
          <p:cNvSpPr txBox="1"/>
          <p:nvPr/>
        </p:nvSpPr>
        <p:spPr>
          <a:xfrm>
            <a:off x="609600" y="3149600"/>
            <a:ext cx="7874000" cy="685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a:solidFill>
                  <a:srgbClr val="FFFFFF"/>
                </a:solidFill>
                <a:latin typeface="Arial"/>
                <a:cs typeface="Arial"/>
              </a:rPr>
              <a:t>Placeholder for Intellio Hopper's role in modernization and how it complements other West Monroe accelerators.</a:t>
            </a:r>
            <a:endParaRPr lang="en-US" sz="1300" dirty="0">
              <a:solidFill>
                <a:srgbClr val="FFFFFF"/>
              </a:solidFill>
              <a:latin typeface="Arial"/>
              <a:cs typeface="Arial"/>
            </a:endParaRPr>
          </a:p>
        </p:txBody>
      </p:sp>
      <p:sp>
        <p:nvSpPr>
          <p:cNvPr id="15" name="TextBox 14">
            <a:extLst>
              <a:ext uri="{FF2B5EF4-FFF2-40B4-BE49-F238E27FC236}">
                <a16:creationId xmlns:a16="http://schemas.microsoft.com/office/drawing/2014/main" id="{73F430C6-7897-2E44-A356-F000D6B34EA5}"/>
              </a:ext>
            </a:extLst>
          </p:cNvPr>
          <p:cNvSpPr txBox="1"/>
          <p:nvPr/>
        </p:nvSpPr>
        <p:spPr>
          <a:xfrm>
            <a:off x="9118600" y="11557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CONTENT TO DEVELOP</a:t>
            </a:r>
            <a:endParaRPr lang="en-US" sz="950" b="1" dirty="0">
              <a:solidFill>
                <a:srgbClr val="0047FF"/>
              </a:solidFill>
              <a:latin typeface="Arial"/>
              <a:cs typeface="Arial"/>
            </a:endParaRPr>
          </a:p>
        </p:txBody>
      </p:sp>
      <p:sp>
        <p:nvSpPr>
          <p:cNvPr id="16" name="Rectangle 15">
            <a:extLst>
              <a:ext uri="{FF2B5EF4-FFF2-40B4-BE49-F238E27FC236}">
                <a16:creationId xmlns:a16="http://schemas.microsoft.com/office/drawing/2014/main" id="{261D85DC-F9D6-6945-B534-E7FA1D31F122}"/>
              </a:ext>
            </a:extLst>
          </p:cNvPr>
          <p:cNvSpPr/>
          <p:nvPr/>
        </p:nvSpPr>
        <p:spPr bwMode="auto">
          <a:xfrm>
            <a:off x="9118600" y="15875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D01BF5B1-B24E-284C-9FC7-E80462316182}"/>
              </a:ext>
            </a:extLst>
          </p:cNvPr>
          <p:cNvSpPr txBox="1"/>
          <p:nvPr/>
        </p:nvSpPr>
        <p:spPr>
          <a:xfrm>
            <a:off x="9271000" y="17399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01</a:t>
            </a:r>
            <a:endParaRPr lang="en-US" sz="900" b="1" dirty="0">
              <a:solidFill>
                <a:srgbClr val="F900D3"/>
              </a:solidFill>
              <a:latin typeface="Arial"/>
              <a:cs typeface="Arial"/>
            </a:endParaRPr>
          </a:p>
        </p:txBody>
      </p:sp>
      <p:sp>
        <p:nvSpPr>
          <p:cNvPr id="21" name="TextBox 20">
            <a:extLst>
              <a:ext uri="{FF2B5EF4-FFF2-40B4-BE49-F238E27FC236}">
                <a16:creationId xmlns:a16="http://schemas.microsoft.com/office/drawing/2014/main" id="{F685F9EA-221F-3347-8288-97BD26237162}"/>
              </a:ext>
            </a:extLst>
          </p:cNvPr>
          <p:cNvSpPr txBox="1"/>
          <p:nvPr/>
        </p:nvSpPr>
        <p:spPr>
          <a:xfrm>
            <a:off x="9677400" y="16764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Positioning (TBD)</a:t>
            </a:r>
            <a:endParaRPr lang="en-US" sz="1000" b="1" dirty="0">
              <a:solidFill>
                <a:srgbClr val="070154"/>
              </a:solidFill>
              <a:latin typeface="Arial"/>
              <a:cs typeface="Arial"/>
            </a:endParaRPr>
          </a:p>
        </p:txBody>
      </p:sp>
      <p:sp>
        <p:nvSpPr>
          <p:cNvPr id="22" name="Rectangle 21">
            <a:extLst>
              <a:ext uri="{FF2B5EF4-FFF2-40B4-BE49-F238E27FC236}">
                <a16:creationId xmlns:a16="http://schemas.microsoft.com/office/drawing/2014/main" id="{07DBAAEE-5275-0B4F-8234-10AE0BF7AC50}"/>
              </a:ext>
            </a:extLst>
          </p:cNvPr>
          <p:cNvSpPr/>
          <p:nvPr/>
        </p:nvSpPr>
        <p:spPr bwMode="auto">
          <a:xfrm>
            <a:off x="9118600" y="23114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C1D6F0A2-F72D-C640-9D54-A4D4C9BE9626}"/>
              </a:ext>
            </a:extLst>
          </p:cNvPr>
          <p:cNvSpPr txBox="1"/>
          <p:nvPr/>
        </p:nvSpPr>
        <p:spPr>
          <a:xfrm>
            <a:off x="9271000" y="2463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02</a:t>
            </a:r>
            <a:endParaRPr lang="en-US" sz="900" b="1" dirty="0">
              <a:solidFill>
                <a:srgbClr val="F900D3"/>
              </a:solidFill>
              <a:latin typeface="Arial"/>
              <a:cs typeface="Arial"/>
            </a:endParaRPr>
          </a:p>
        </p:txBody>
      </p:sp>
      <p:sp>
        <p:nvSpPr>
          <p:cNvPr id="24" name="TextBox 23">
            <a:extLst>
              <a:ext uri="{FF2B5EF4-FFF2-40B4-BE49-F238E27FC236}">
                <a16:creationId xmlns:a16="http://schemas.microsoft.com/office/drawing/2014/main" id="{080B83FA-47AE-5546-B78A-3741943FCCAA}"/>
              </a:ext>
            </a:extLst>
          </p:cNvPr>
          <p:cNvSpPr txBox="1"/>
          <p:nvPr/>
        </p:nvSpPr>
        <p:spPr>
          <a:xfrm>
            <a:off x="9677400" y="24003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Modernization use cases</a:t>
            </a:r>
            <a:endParaRPr lang="en-US" sz="1000" b="1" dirty="0">
              <a:solidFill>
                <a:srgbClr val="070154"/>
              </a:solidFill>
              <a:latin typeface="Arial"/>
              <a:cs typeface="Arial"/>
            </a:endParaRPr>
          </a:p>
        </p:txBody>
      </p:sp>
      <p:sp>
        <p:nvSpPr>
          <p:cNvPr id="25" name="Rectangle 24">
            <a:extLst>
              <a:ext uri="{FF2B5EF4-FFF2-40B4-BE49-F238E27FC236}">
                <a16:creationId xmlns:a16="http://schemas.microsoft.com/office/drawing/2014/main" id="{5B5F2BF9-FA2F-E54E-9A25-DB5AD24F1FD1}"/>
              </a:ext>
            </a:extLst>
          </p:cNvPr>
          <p:cNvSpPr/>
          <p:nvPr/>
        </p:nvSpPr>
        <p:spPr bwMode="auto">
          <a:xfrm>
            <a:off x="9118600" y="30353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29292B1C-4A91-1946-99C8-A22EB49E9166}"/>
              </a:ext>
            </a:extLst>
          </p:cNvPr>
          <p:cNvSpPr txBox="1"/>
          <p:nvPr/>
        </p:nvSpPr>
        <p:spPr>
          <a:xfrm>
            <a:off x="92710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03</a:t>
            </a:r>
            <a:endParaRPr lang="en-US" sz="900" b="1" dirty="0">
              <a:solidFill>
                <a:srgbClr val="F900D3"/>
              </a:solidFill>
              <a:latin typeface="Arial"/>
              <a:cs typeface="Arial"/>
            </a:endParaRPr>
          </a:p>
        </p:txBody>
      </p:sp>
      <p:sp>
        <p:nvSpPr>
          <p:cNvPr id="27" name="TextBox 26">
            <a:extLst>
              <a:ext uri="{FF2B5EF4-FFF2-40B4-BE49-F238E27FC236}">
                <a16:creationId xmlns:a16="http://schemas.microsoft.com/office/drawing/2014/main" id="{6D3A6AC7-EA6A-544F-B9CC-F86023D2FAF4}"/>
              </a:ext>
            </a:extLst>
          </p:cNvPr>
          <p:cNvSpPr txBox="1"/>
          <p:nvPr/>
        </p:nvSpPr>
        <p:spPr>
          <a:xfrm>
            <a:off x="9677400" y="31242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Lifecycle fit</a:t>
            </a:r>
            <a:endParaRPr lang="en-US" sz="1000" b="1" dirty="0">
              <a:solidFill>
                <a:srgbClr val="070154"/>
              </a:solidFill>
              <a:latin typeface="Arial"/>
              <a:cs typeface="Arial"/>
            </a:endParaRPr>
          </a:p>
        </p:txBody>
      </p:sp>
      <p:sp>
        <p:nvSpPr>
          <p:cNvPr id="28" name="Rectangle 27">
            <a:extLst>
              <a:ext uri="{FF2B5EF4-FFF2-40B4-BE49-F238E27FC236}">
                <a16:creationId xmlns:a16="http://schemas.microsoft.com/office/drawing/2014/main" id="{7D2CEE49-87AD-B74B-BCBB-6545318FEAE4}"/>
              </a:ext>
            </a:extLst>
          </p:cNvPr>
          <p:cNvSpPr/>
          <p:nvPr/>
        </p:nvSpPr>
        <p:spPr bwMode="auto">
          <a:xfrm>
            <a:off x="9118600" y="37592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A7BB059-7F53-E749-AC13-3FF96661BA83}"/>
              </a:ext>
            </a:extLst>
          </p:cNvPr>
          <p:cNvSpPr txBox="1"/>
          <p:nvPr/>
        </p:nvSpPr>
        <p:spPr>
          <a:xfrm>
            <a:off x="9271000" y="39116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04</a:t>
            </a:r>
            <a:endParaRPr lang="en-US" sz="900" b="1" dirty="0">
              <a:solidFill>
                <a:srgbClr val="F900D3"/>
              </a:solidFill>
              <a:latin typeface="Arial"/>
              <a:cs typeface="Arial"/>
            </a:endParaRPr>
          </a:p>
        </p:txBody>
      </p:sp>
      <p:sp>
        <p:nvSpPr>
          <p:cNvPr id="30" name="TextBox 29">
            <a:extLst>
              <a:ext uri="{FF2B5EF4-FFF2-40B4-BE49-F238E27FC236}">
                <a16:creationId xmlns:a16="http://schemas.microsoft.com/office/drawing/2014/main" id="{E81A1754-C62A-9340-828F-1507EB0BF98D}"/>
              </a:ext>
            </a:extLst>
          </p:cNvPr>
          <p:cNvSpPr txBox="1"/>
          <p:nvPr/>
        </p:nvSpPr>
        <p:spPr>
          <a:xfrm>
            <a:off x="9677400" y="38481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Proof + owner</a:t>
            </a:r>
            <a:endParaRPr lang="en-US" sz="1000" b="1" dirty="0">
              <a:solidFill>
                <a:srgbClr val="070154"/>
              </a:solidFill>
              <a:latin typeface="Arial"/>
              <a:cs typeface="Arial"/>
            </a:endParaRPr>
          </a:p>
        </p:txBody>
      </p:sp>
      <p:sp>
        <p:nvSpPr>
          <p:cNvPr id="31" name="Rectangle 30">
            <a:extLst>
              <a:ext uri="{FF2B5EF4-FFF2-40B4-BE49-F238E27FC236}">
                <a16:creationId xmlns:a16="http://schemas.microsoft.com/office/drawing/2014/main" id="{3375BC94-8D43-EF4D-96D9-538EF700EFE6}"/>
              </a:ext>
            </a:extLst>
          </p:cNvPr>
          <p:cNvSpPr/>
          <p:nvPr/>
        </p:nvSpPr>
        <p:spPr bwMode="auto">
          <a:xfrm>
            <a:off x="609600" y="5270500"/>
            <a:ext cx="8255000" cy="571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A26CFF14-2BDE-1848-A022-DAC182E8D21B}"/>
              </a:ext>
            </a:extLst>
          </p:cNvPr>
          <p:cNvSpPr txBox="1"/>
          <p:nvPr/>
        </p:nvSpPr>
        <p:spPr>
          <a:xfrm>
            <a:off x="863600" y="5435600"/>
            <a:ext cx="7747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PLACEHOLDER SECTION — Add approved capabilities, inputs / outputs, maturity, buyer relevance, and case evidence.</a:t>
            </a:r>
            <a:endParaRPr lang="en-US" sz="1000" b="1" dirty="0">
              <a:solidFill>
                <a:srgbClr val="070154"/>
              </a:solidFill>
              <a:latin typeface="Arial"/>
              <a:cs typeface="Arial"/>
            </a:endParaRPr>
          </a:p>
        </p:txBody>
      </p:sp>
      <p:sp>
        <p:nvSpPr>
          <p:cNvPr id="3" name="TextBox 2">
            <a:extLst>
              <a:ext uri="{FF2B5EF4-FFF2-40B4-BE49-F238E27FC236}">
                <a16:creationId xmlns:a16="http://schemas.microsoft.com/office/drawing/2014/main" id="{D9C2D31F-41C9-834B-806E-5C698A45F50E}"/>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D0847E0D-C3A0-6C47-8917-F1C8F445903B}"/>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endParaRPr lang="en-US" sz="550" dirty="0">
              <a:solidFill>
                <a:srgbClr val="070154"/>
              </a:solidFill>
              <a:latin typeface="Arial"/>
              <a:cs typeface="Arial"/>
            </a:endParaRPr>
          </a:p>
        </p:txBody>
      </p:sp>
    </p:spTree>
    <p:extLst>
      <p:ext uri="{BB962C8B-B14F-4D97-AF65-F5344CB8AC3E}">
        <p14:creationId xmlns:p14="http://schemas.microsoft.com/office/powerpoint/2010/main" val="23158940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2286C6F-D388-ECDA-70CF-00BB4C0D8A7C}"/>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endParaRPr lang="en-US" dirty="0"/>
          </a:p>
        </p:txBody>
      </p:sp>
      <p:sp>
        <p:nvSpPr>
          <p:cNvPr id="3" name="Slide Number Placeholder 2">
            <a:extLst>
              <a:ext uri="{FF2B5EF4-FFF2-40B4-BE49-F238E27FC236}">
                <a16:creationId xmlns:a16="http://schemas.microsoft.com/office/drawing/2014/main" id="{C20F9D75-7DE6-CB3E-F075-EF43B048B825}"/>
              </a:ext>
            </a:extLst>
          </p:cNvPr>
          <p:cNvSpPr>
            <a:spLocks noGrp="1"/>
          </p:cNvSpPr>
          <p:nvPr>
            <p:ph type="sldNum" sz="quarter" idx="11"/>
          </p:nvPr>
        </p:nvSpPr>
        <p:spPr/>
        <p:txBody>
          <a:bodyPr/>
          <a:lstStyle/>
          <a:p>
            <a:fld id="{63DCA5C9-2E11-4C67-86EB-AE1DE127DC64}" type="slidenum">
              <a:rPr lang="en-US" smtClean="0"/>
              <a:pPr/>
              <a:t>42</a:t>
            </a:fld>
            <a:endParaRPr lang="en-US"/>
          </a:p>
        </p:txBody>
      </p:sp>
      <p:sp>
        <p:nvSpPr>
          <p:cNvPr id="4" name="Title 3">
            <a:extLst>
              <a:ext uri="{FF2B5EF4-FFF2-40B4-BE49-F238E27FC236}">
                <a16:creationId xmlns:a16="http://schemas.microsoft.com/office/drawing/2014/main" id="{D8DDB483-6C4C-B50A-E79C-448C1E15D499}"/>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9522DF9F-6321-0681-CDB6-613B8D2F4AC5}"/>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15304756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8C-63DB-6EC0-54B3-BAD510DB5D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2D4D6B-E702-B14F-8CBF-3DB9404EA064}"/>
              </a:ext>
            </a:extLst>
          </p:cNvPr>
          <p:cNvSpPr/>
          <p:nvPr/>
        </p:nvSpPr>
        <p:spPr bwMode="auto">
          <a:xfrm>
            <a:off x="0" y="0"/>
            <a:ext cx="121920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3D957A41-9389-9041-99A2-9153DA0C87B2}"/>
              </a:ext>
            </a:extLst>
          </p:cNvPr>
          <p:cNvSpPr/>
          <p:nvPr/>
        </p:nvSpPr>
        <p:spPr bwMode="auto">
          <a:xfrm>
            <a:off x="0" y="0"/>
            <a:ext cx="2286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0716BB7-CA60-524A-8CA8-6B88AD30659B}"/>
              </a:ext>
            </a:extLst>
          </p:cNvPr>
          <p:cNvSpPr/>
          <p:nvPr/>
        </p:nvSpPr>
        <p:spPr bwMode="auto">
          <a:xfrm>
            <a:off x="457200" y="609600"/>
            <a:ext cx="15240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3C91333C-DD3E-9B4D-89FD-5B2ACB074E63}"/>
              </a:ext>
            </a:extLst>
          </p:cNvPr>
          <p:cNvSpPr txBox="1"/>
          <p:nvPr/>
        </p:nvSpPr>
        <p:spPr>
          <a:xfrm>
            <a:off x="609600" y="990600"/>
            <a:ext cx="228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INTERNAL PICK-DECK GUIDE</a:t>
            </a:r>
            <a:endParaRPr lang="en-US" sz="1000" b="1" dirty="0">
              <a:solidFill>
                <a:srgbClr val="0047FF"/>
              </a:solidFill>
              <a:latin typeface="Arial"/>
              <a:cs typeface="Arial"/>
            </a:endParaRPr>
          </a:p>
        </p:txBody>
      </p:sp>
      <p:sp>
        <p:nvSpPr>
          <p:cNvPr id="12" name="TextBox 11">
            <a:extLst>
              <a:ext uri="{FF2B5EF4-FFF2-40B4-BE49-F238E27FC236}">
                <a16:creationId xmlns:a16="http://schemas.microsoft.com/office/drawing/2014/main" id="{F8E1B792-659A-D74D-9D48-33D822D70F96}"/>
              </a:ext>
            </a:extLst>
          </p:cNvPr>
          <p:cNvSpPr txBox="1"/>
          <p:nvPr/>
        </p:nvSpPr>
        <p:spPr>
          <a:xfrm>
            <a:off x="609600" y="1473200"/>
            <a:ext cx="8001000" cy="149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900" b="1">
                <a:solidFill>
                  <a:srgbClr val="FFFFFF"/>
                </a:solidFill>
                <a:latin typeface="Arial"/>
                <a:cs typeface="Arial"/>
              </a:rPr>
              <a:t>Intellio Evolve</a:t>
            </a:r>
            <a:endParaRPr lang="en-US" sz="2900" b="1" dirty="0">
              <a:solidFill>
                <a:srgbClr val="FFFFFF"/>
              </a:solidFill>
              <a:latin typeface="Arial"/>
              <a:cs typeface="Arial"/>
            </a:endParaRPr>
          </a:p>
        </p:txBody>
      </p:sp>
      <p:sp>
        <p:nvSpPr>
          <p:cNvPr id="14" name="TextBox 13">
            <a:extLst>
              <a:ext uri="{FF2B5EF4-FFF2-40B4-BE49-F238E27FC236}">
                <a16:creationId xmlns:a16="http://schemas.microsoft.com/office/drawing/2014/main" id="{F12B1E13-E8CD-BD43-96AA-519B3925EF9F}"/>
              </a:ext>
            </a:extLst>
          </p:cNvPr>
          <p:cNvSpPr txBox="1"/>
          <p:nvPr/>
        </p:nvSpPr>
        <p:spPr>
          <a:xfrm>
            <a:off x="609600" y="3149600"/>
            <a:ext cx="7874000" cy="685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a:solidFill>
                  <a:srgbClr val="FFFFFF"/>
                </a:solidFill>
                <a:latin typeface="Arial"/>
                <a:cs typeface="Arial"/>
              </a:rPr>
              <a:t>Explain how Evolve turns source-backed application evidence into modernization recommendations, sequencing, and reusable context for delivery.</a:t>
            </a:r>
            <a:endParaRPr lang="en-US" sz="1300" dirty="0">
              <a:solidFill>
                <a:srgbClr val="FFFFFF"/>
              </a:solidFill>
              <a:latin typeface="Arial"/>
              <a:cs typeface="Arial"/>
            </a:endParaRPr>
          </a:p>
        </p:txBody>
      </p:sp>
      <p:sp>
        <p:nvSpPr>
          <p:cNvPr id="15" name="TextBox 14">
            <a:extLst>
              <a:ext uri="{FF2B5EF4-FFF2-40B4-BE49-F238E27FC236}">
                <a16:creationId xmlns:a16="http://schemas.microsoft.com/office/drawing/2014/main" id="{73F430C6-7897-2E44-A356-F000D6B34EA5}"/>
              </a:ext>
            </a:extLst>
          </p:cNvPr>
          <p:cNvSpPr txBox="1"/>
          <p:nvPr/>
        </p:nvSpPr>
        <p:spPr>
          <a:xfrm>
            <a:off x="9118600" y="11557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IN THIS SECTION</a:t>
            </a:r>
            <a:endParaRPr lang="en-US" sz="950" b="1" dirty="0">
              <a:solidFill>
                <a:srgbClr val="0047FF"/>
              </a:solidFill>
              <a:latin typeface="Arial"/>
              <a:cs typeface="Arial"/>
            </a:endParaRPr>
          </a:p>
        </p:txBody>
      </p:sp>
      <p:sp>
        <p:nvSpPr>
          <p:cNvPr id="16" name="Rectangle 15">
            <a:extLst>
              <a:ext uri="{FF2B5EF4-FFF2-40B4-BE49-F238E27FC236}">
                <a16:creationId xmlns:a16="http://schemas.microsoft.com/office/drawing/2014/main" id="{261D85DC-F9D6-6945-B534-E7FA1D31F122}"/>
              </a:ext>
            </a:extLst>
          </p:cNvPr>
          <p:cNvSpPr/>
          <p:nvPr/>
        </p:nvSpPr>
        <p:spPr bwMode="auto">
          <a:xfrm>
            <a:off x="9118600" y="15875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D01BF5B1-B24E-284C-9FC7-E80462316182}"/>
              </a:ext>
            </a:extLst>
          </p:cNvPr>
          <p:cNvSpPr txBox="1"/>
          <p:nvPr/>
        </p:nvSpPr>
        <p:spPr>
          <a:xfrm>
            <a:off x="9271000" y="17399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01</a:t>
            </a:r>
            <a:endParaRPr lang="en-US" sz="900" b="1" dirty="0">
              <a:solidFill>
                <a:srgbClr val="F900D3"/>
              </a:solidFill>
              <a:latin typeface="Arial"/>
              <a:cs typeface="Arial"/>
            </a:endParaRPr>
          </a:p>
        </p:txBody>
      </p:sp>
      <p:sp>
        <p:nvSpPr>
          <p:cNvPr id="21" name="TextBox 20">
            <a:extLst>
              <a:ext uri="{FF2B5EF4-FFF2-40B4-BE49-F238E27FC236}">
                <a16:creationId xmlns:a16="http://schemas.microsoft.com/office/drawing/2014/main" id="{F685F9EA-221F-3347-8288-97BD26237162}"/>
              </a:ext>
            </a:extLst>
          </p:cNvPr>
          <p:cNvSpPr txBox="1"/>
          <p:nvPr/>
        </p:nvSpPr>
        <p:spPr>
          <a:xfrm>
            <a:off x="9677400" y="16764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Platform overview</a:t>
            </a:r>
            <a:endParaRPr lang="en-US" sz="1000" b="1" dirty="0">
              <a:solidFill>
                <a:srgbClr val="070154"/>
              </a:solidFill>
              <a:latin typeface="Arial"/>
              <a:cs typeface="Arial"/>
            </a:endParaRPr>
          </a:p>
        </p:txBody>
      </p:sp>
      <p:sp>
        <p:nvSpPr>
          <p:cNvPr id="22" name="Rectangle 21">
            <a:extLst>
              <a:ext uri="{FF2B5EF4-FFF2-40B4-BE49-F238E27FC236}">
                <a16:creationId xmlns:a16="http://schemas.microsoft.com/office/drawing/2014/main" id="{07DBAAEE-5275-0B4F-8234-10AE0BF7AC50}"/>
              </a:ext>
            </a:extLst>
          </p:cNvPr>
          <p:cNvSpPr/>
          <p:nvPr/>
        </p:nvSpPr>
        <p:spPr bwMode="auto">
          <a:xfrm>
            <a:off x="9118600" y="23114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C1D6F0A2-F72D-C640-9D54-A4D4C9BE9626}"/>
              </a:ext>
            </a:extLst>
          </p:cNvPr>
          <p:cNvSpPr txBox="1"/>
          <p:nvPr/>
        </p:nvSpPr>
        <p:spPr>
          <a:xfrm>
            <a:off x="9271000" y="2463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02</a:t>
            </a:r>
            <a:endParaRPr lang="en-US" sz="900" b="1" dirty="0">
              <a:solidFill>
                <a:srgbClr val="F900D3"/>
              </a:solidFill>
              <a:latin typeface="Arial"/>
              <a:cs typeface="Arial"/>
            </a:endParaRPr>
          </a:p>
        </p:txBody>
      </p:sp>
      <p:sp>
        <p:nvSpPr>
          <p:cNvPr id="24" name="TextBox 23">
            <a:extLst>
              <a:ext uri="{FF2B5EF4-FFF2-40B4-BE49-F238E27FC236}">
                <a16:creationId xmlns:a16="http://schemas.microsoft.com/office/drawing/2014/main" id="{080B83FA-47AE-5546-B78A-3741943FCCAA}"/>
              </a:ext>
            </a:extLst>
          </p:cNvPr>
          <p:cNvSpPr txBox="1"/>
          <p:nvPr/>
        </p:nvSpPr>
        <p:spPr>
          <a:xfrm>
            <a:off x="9677400" y="24003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Business-led rationalization</a:t>
            </a:r>
            <a:endParaRPr lang="en-US" sz="1000" b="1" dirty="0">
              <a:solidFill>
                <a:srgbClr val="070154"/>
              </a:solidFill>
              <a:latin typeface="Arial"/>
              <a:cs typeface="Arial"/>
            </a:endParaRPr>
          </a:p>
        </p:txBody>
      </p:sp>
      <p:sp>
        <p:nvSpPr>
          <p:cNvPr id="25" name="Rectangle 24">
            <a:extLst>
              <a:ext uri="{FF2B5EF4-FFF2-40B4-BE49-F238E27FC236}">
                <a16:creationId xmlns:a16="http://schemas.microsoft.com/office/drawing/2014/main" id="{5B5F2BF9-FA2F-E54E-9A25-DB5AD24F1FD1}"/>
              </a:ext>
            </a:extLst>
          </p:cNvPr>
          <p:cNvSpPr/>
          <p:nvPr/>
        </p:nvSpPr>
        <p:spPr bwMode="auto">
          <a:xfrm>
            <a:off x="9118600" y="30353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29292B1C-4A91-1946-99C8-A22EB49E9166}"/>
              </a:ext>
            </a:extLst>
          </p:cNvPr>
          <p:cNvSpPr txBox="1"/>
          <p:nvPr/>
        </p:nvSpPr>
        <p:spPr>
          <a:xfrm>
            <a:off x="92710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03</a:t>
            </a:r>
            <a:endParaRPr lang="en-US" sz="900" b="1" dirty="0">
              <a:solidFill>
                <a:srgbClr val="F900D3"/>
              </a:solidFill>
              <a:latin typeface="Arial"/>
              <a:cs typeface="Arial"/>
            </a:endParaRPr>
          </a:p>
        </p:txBody>
      </p:sp>
      <p:sp>
        <p:nvSpPr>
          <p:cNvPr id="27" name="TextBox 26">
            <a:extLst>
              <a:ext uri="{FF2B5EF4-FFF2-40B4-BE49-F238E27FC236}">
                <a16:creationId xmlns:a16="http://schemas.microsoft.com/office/drawing/2014/main" id="{6D3A6AC7-EA6A-544F-B9CC-F86023D2FAF4}"/>
              </a:ext>
            </a:extLst>
          </p:cNvPr>
          <p:cNvSpPr txBox="1"/>
          <p:nvPr/>
        </p:nvSpPr>
        <p:spPr>
          <a:xfrm>
            <a:off x="9677400" y="31242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Evidence to recommendations</a:t>
            </a:r>
            <a:endParaRPr lang="en-US" sz="1000" b="1" dirty="0">
              <a:solidFill>
                <a:srgbClr val="070154"/>
              </a:solidFill>
              <a:latin typeface="Arial"/>
              <a:cs typeface="Arial"/>
            </a:endParaRPr>
          </a:p>
        </p:txBody>
      </p:sp>
      <p:sp>
        <p:nvSpPr>
          <p:cNvPr id="28" name="Rectangle 27">
            <a:extLst>
              <a:ext uri="{FF2B5EF4-FFF2-40B4-BE49-F238E27FC236}">
                <a16:creationId xmlns:a16="http://schemas.microsoft.com/office/drawing/2014/main" id="{7D2CEE49-87AD-B74B-BCBB-6545318FEAE4}"/>
              </a:ext>
            </a:extLst>
          </p:cNvPr>
          <p:cNvSpPr/>
          <p:nvPr/>
        </p:nvSpPr>
        <p:spPr bwMode="auto">
          <a:xfrm>
            <a:off x="9118600" y="37592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A7BB059-7F53-E749-AC13-3FF96661BA83}"/>
              </a:ext>
            </a:extLst>
          </p:cNvPr>
          <p:cNvSpPr txBox="1"/>
          <p:nvPr/>
        </p:nvSpPr>
        <p:spPr>
          <a:xfrm>
            <a:off x="9271000" y="39116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04</a:t>
            </a:r>
            <a:endParaRPr lang="en-US" sz="900" b="1" dirty="0">
              <a:solidFill>
                <a:srgbClr val="F900D3"/>
              </a:solidFill>
              <a:latin typeface="Arial"/>
              <a:cs typeface="Arial"/>
            </a:endParaRPr>
          </a:p>
        </p:txBody>
      </p:sp>
      <p:sp>
        <p:nvSpPr>
          <p:cNvPr id="30" name="TextBox 29">
            <a:extLst>
              <a:ext uri="{FF2B5EF4-FFF2-40B4-BE49-F238E27FC236}">
                <a16:creationId xmlns:a16="http://schemas.microsoft.com/office/drawing/2014/main" id="{E81A1754-C62A-9340-828F-1507EB0BF98D}"/>
              </a:ext>
            </a:extLst>
          </p:cNvPr>
          <p:cNvSpPr txBox="1"/>
          <p:nvPr/>
        </p:nvSpPr>
        <p:spPr>
          <a:xfrm>
            <a:off x="9677400" y="38481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Build + Sustain context</a:t>
            </a:r>
            <a:endParaRPr lang="en-US" sz="1000" b="1" dirty="0">
              <a:solidFill>
                <a:srgbClr val="070154"/>
              </a:solidFill>
              <a:latin typeface="Arial"/>
              <a:cs typeface="Arial"/>
            </a:endParaRPr>
          </a:p>
        </p:txBody>
      </p:sp>
      <p:sp>
        <p:nvSpPr>
          <p:cNvPr id="31" name="Rectangle 30">
            <a:extLst>
              <a:ext uri="{FF2B5EF4-FFF2-40B4-BE49-F238E27FC236}">
                <a16:creationId xmlns:a16="http://schemas.microsoft.com/office/drawing/2014/main" id="{3375BC94-8D43-EF4D-96D9-538EF700EFE6}"/>
              </a:ext>
            </a:extLst>
          </p:cNvPr>
          <p:cNvSpPr/>
          <p:nvPr/>
        </p:nvSpPr>
        <p:spPr bwMode="auto">
          <a:xfrm>
            <a:off x="609600" y="5270500"/>
            <a:ext cx="8255000" cy="571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A26CFF14-2BDE-1848-A022-DAC182E8D21B}"/>
              </a:ext>
            </a:extLst>
          </p:cNvPr>
          <p:cNvSpPr txBox="1"/>
          <p:nvPr/>
        </p:nvSpPr>
        <p:spPr>
          <a:xfrm>
            <a:off x="863600" y="5435600"/>
            <a:ext cx="7747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Use this section when software rationalization, legacy understanding, sequencing, or agent-ready context is central.</a:t>
            </a:r>
            <a:endParaRPr lang="en-US" sz="1000" b="1" dirty="0">
              <a:solidFill>
                <a:srgbClr val="070154"/>
              </a:solidFill>
              <a:latin typeface="Arial"/>
              <a:cs typeface="Arial"/>
            </a:endParaRPr>
          </a:p>
        </p:txBody>
      </p:sp>
      <p:sp>
        <p:nvSpPr>
          <p:cNvPr id="3" name="TextBox 2">
            <a:extLst>
              <a:ext uri="{FF2B5EF4-FFF2-40B4-BE49-F238E27FC236}">
                <a16:creationId xmlns:a16="http://schemas.microsoft.com/office/drawing/2014/main" id="{D9C2D31F-41C9-834B-806E-5C698A45F50E}"/>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D0847E0D-C3A0-6C47-8917-F1C8F445903B}"/>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endParaRPr lang="en-US" sz="550" dirty="0">
              <a:solidFill>
                <a:srgbClr val="070154"/>
              </a:solidFill>
              <a:latin typeface="Arial"/>
              <a:cs typeface="Arial"/>
            </a:endParaRPr>
          </a:p>
        </p:txBody>
      </p:sp>
    </p:spTree>
    <p:extLst>
      <p:ext uri="{BB962C8B-B14F-4D97-AF65-F5344CB8AC3E}">
        <p14:creationId xmlns:p14="http://schemas.microsoft.com/office/powerpoint/2010/main" val="14080162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ACDA29F-95E2-B529-991C-A6007288B862}"/>
              </a:ext>
            </a:extLst>
          </p:cNvPr>
          <p:cNvSpPr/>
          <p:nvPr/>
        </p:nvSpPr>
        <p:spPr bwMode="auto">
          <a:xfrm>
            <a:off x="-1" y="2362200"/>
            <a:ext cx="9052383" cy="3067050"/>
          </a:xfrm>
          <a:prstGeom prst="rect">
            <a:avLst/>
          </a:prstGeom>
          <a:solidFill>
            <a:schemeClr val="accent4"/>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7" name="Rectangle: Rounded Corners 26">
            <a:extLst>
              <a:ext uri="{FF2B5EF4-FFF2-40B4-BE49-F238E27FC236}">
                <a16:creationId xmlns:a16="http://schemas.microsoft.com/office/drawing/2014/main" id="{B7C4FB2C-01A6-D537-CA5F-A1C87F42C80B}"/>
              </a:ext>
            </a:extLst>
          </p:cNvPr>
          <p:cNvSpPr/>
          <p:nvPr/>
        </p:nvSpPr>
        <p:spPr bwMode="auto">
          <a:xfrm>
            <a:off x="2602243" y="2670309"/>
            <a:ext cx="3543297" cy="2581039"/>
          </a:xfrm>
          <a:prstGeom prst="roundRect">
            <a:avLst>
              <a:gd name="adj" fmla="val 6012"/>
            </a:avLst>
          </a:prstGeom>
          <a:solidFill>
            <a:schemeClr val="accent3"/>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pic>
        <p:nvPicPr>
          <p:cNvPr id="63" name="Picture 62">
            <a:extLst>
              <a:ext uri="{FF2B5EF4-FFF2-40B4-BE49-F238E27FC236}">
                <a16:creationId xmlns:a16="http://schemas.microsoft.com/office/drawing/2014/main" id="{3A0ADBB3-6142-0891-1E98-1A80CFD6D9D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35240" y="2765151"/>
            <a:ext cx="1278386" cy="431863"/>
          </a:xfrm>
          <a:prstGeom prst="rect">
            <a:avLst/>
          </a:prstGeom>
        </p:spPr>
      </p:pic>
      <p:pic>
        <p:nvPicPr>
          <p:cNvPr id="48" name="Graphic 47">
            <a:extLst>
              <a:ext uri="{FF2B5EF4-FFF2-40B4-BE49-F238E27FC236}">
                <a16:creationId xmlns:a16="http://schemas.microsoft.com/office/drawing/2014/main" id="{B76516E3-9BB1-E027-5B3A-88A1182853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710200" flipV="1">
            <a:off x="8177609" y="1940726"/>
            <a:ext cx="971236" cy="971236"/>
          </a:xfrm>
          <a:prstGeom prst="rect">
            <a:avLst/>
          </a:prstGeom>
        </p:spPr>
      </p:pic>
      <p:sp>
        <p:nvSpPr>
          <p:cNvPr id="2" name="Footer Placeholder 1">
            <a:extLst>
              <a:ext uri="{FF2B5EF4-FFF2-40B4-BE49-F238E27FC236}">
                <a16:creationId xmlns:a16="http://schemas.microsoft.com/office/drawing/2014/main" id="{B84A8006-FA77-FE3B-7C75-217F91A86023}"/>
              </a:ext>
            </a:extLst>
          </p:cNvPr>
          <p:cNvSpPr>
            <a:spLocks noGrp="1"/>
          </p:cNvSpPr>
          <p:nvPr>
            <p:ph type="ftr" sz="quarter" idx="24"/>
          </p:nvPr>
        </p:nvSpPr>
        <p:spPr/>
        <p:txBody>
          <a:bodyPr/>
          <a:lstStyle/>
          <a:p>
            <a:r>
              <a:rPr lang="en-US"/>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DF5DD677-8E14-F860-0D08-7EE0D06E46FB}"/>
              </a:ext>
            </a:extLst>
          </p:cNvPr>
          <p:cNvSpPr>
            <a:spLocks noGrp="1"/>
          </p:cNvSpPr>
          <p:nvPr>
            <p:ph type="sldNum" sz="quarter" idx="25"/>
          </p:nvPr>
        </p:nvSpPr>
        <p:spPr>
          <a:xfrm>
            <a:off x="11509578" y="6400799"/>
            <a:ext cx="218871" cy="167949"/>
          </a:xfrm>
        </p:spPr>
        <p:txBody>
          <a:bodyPr/>
          <a:lstStyle/>
          <a:p>
            <a:fld id="{63DCA5C9-2E11-4C67-86EB-AE1DE127DC64}" type="slidenum">
              <a:rPr lang="en-US" smtClean="0"/>
              <a:pPr/>
              <a:t>44</a:t>
            </a:fld>
            <a:endParaRPr lang="en-US"/>
          </a:p>
        </p:txBody>
      </p:sp>
      <p:sp>
        <p:nvSpPr>
          <p:cNvPr id="22" name="Text Placeholder 21">
            <a:extLst>
              <a:ext uri="{FF2B5EF4-FFF2-40B4-BE49-F238E27FC236}">
                <a16:creationId xmlns:a16="http://schemas.microsoft.com/office/drawing/2014/main" id="{39E3EBF9-D748-3B62-78A3-9D03C8A5DC88}"/>
              </a:ext>
            </a:extLst>
          </p:cNvPr>
          <p:cNvSpPr>
            <a:spLocks noGrp="1"/>
          </p:cNvSpPr>
          <p:nvPr>
            <p:ph type="body" sz="quarter" idx="44"/>
          </p:nvPr>
        </p:nvSpPr>
        <p:spPr/>
        <p:txBody>
          <a:bodyPr/>
          <a:lstStyle/>
          <a:p>
            <a:r>
              <a:rPr lang="en-US"/>
              <a:t>SOFTWARE MODERNIZATION</a:t>
            </a:r>
          </a:p>
        </p:txBody>
      </p:sp>
      <p:sp>
        <p:nvSpPr>
          <p:cNvPr id="23" name="Title 4">
            <a:extLst>
              <a:ext uri="{FF2B5EF4-FFF2-40B4-BE49-F238E27FC236}">
                <a16:creationId xmlns:a16="http://schemas.microsoft.com/office/drawing/2014/main" id="{7604765D-55DF-1E93-0013-798EF55AC448}"/>
              </a:ext>
            </a:extLst>
          </p:cNvPr>
          <p:cNvSpPr>
            <a:spLocks noGrp="1"/>
          </p:cNvSpPr>
          <p:nvPr>
            <p:ph type="title"/>
          </p:nvPr>
        </p:nvSpPr>
        <p:spPr>
          <a:xfrm>
            <a:off x="460374" y="556953"/>
            <a:ext cx="11266489" cy="784830"/>
          </a:xfrm>
        </p:spPr>
        <p:txBody>
          <a:bodyPr wrap="square">
            <a:spAutoFit/>
          </a:bodyPr>
          <a:lstStyle/>
          <a:p>
            <a:r>
              <a:rPr lang="en-US" sz="2400"/>
              <a:t>Intellio</a:t>
            </a:r>
            <a:r>
              <a:rPr lang="en-US" sz="2400" baseline="30000"/>
              <a:t>®</a:t>
            </a:r>
            <a:r>
              <a:rPr lang="en-US" sz="2400"/>
              <a:t> Evolve combines AI with advanced code analysis to guide modernization that not only rebuilds code but enhances the product itself.</a:t>
            </a:r>
            <a:endParaRPr lang="en-US" sz="1600">
              <a:solidFill>
                <a:schemeClr val="tx2"/>
              </a:solidFill>
            </a:endParaRPr>
          </a:p>
        </p:txBody>
      </p:sp>
      <p:sp>
        <p:nvSpPr>
          <p:cNvPr id="25" name="Rectangle 24">
            <a:extLst>
              <a:ext uri="{FF2B5EF4-FFF2-40B4-BE49-F238E27FC236}">
                <a16:creationId xmlns:a16="http://schemas.microsoft.com/office/drawing/2014/main" id="{43A7BEAB-CD81-1434-783B-431EEA81CDB3}"/>
              </a:ext>
            </a:extLst>
          </p:cNvPr>
          <p:cNvSpPr/>
          <p:nvPr/>
        </p:nvSpPr>
        <p:spPr bwMode="auto">
          <a:xfrm>
            <a:off x="465137" y="2670310"/>
            <a:ext cx="1892194" cy="2472472"/>
          </a:xfrm>
          <a:prstGeom prst="rect">
            <a:avLst/>
          </a:prstGeom>
          <a:solidFill>
            <a:schemeClr val="bg1">
              <a:alpha val="60000"/>
            </a:schemeClr>
          </a:solidFill>
          <a:ln>
            <a:noFill/>
          </a:ln>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spAutoFit/>
          </a:bodyPr>
          <a:lstStyle/>
          <a:p>
            <a:pPr marL="9525" marR="0" indent="0" defTabSz="914400" rtl="0" eaLnBrk="1" fontAlgn="auto" latinLnBrk="0" hangingPunct="1">
              <a:spcBef>
                <a:spcPts val="0"/>
              </a:spcBef>
              <a:spcAft>
                <a:spcPts val="400"/>
              </a:spcAft>
              <a:buClrTx/>
              <a:buSzTx/>
              <a:buFont typeface="Arial" panose="020B0604020202020204" pitchFamily="34" charset="0"/>
              <a:buNone/>
              <a:tabLst/>
            </a:pPr>
            <a:r>
              <a:rPr kumimoji="0" lang="en-US" sz="900" b="1" i="0" u="none" strike="noStrike" kern="1200" cap="none" spc="0" normalizeH="0" baseline="0" noProof="0">
                <a:ln>
                  <a:noFill/>
                </a:ln>
                <a:solidFill>
                  <a:schemeClr val="accent2"/>
                </a:solidFill>
                <a:effectLst/>
                <a:uLnTx/>
                <a:uFillTx/>
                <a:latin typeface="Arial" panose="020B0604020202020204"/>
                <a:ea typeface="Roboto" panose="02000000000000000000" pitchFamily="2" charset="0"/>
                <a:cs typeface="Segoe UI" panose="020B0502040204020203" pitchFamily="34" charset="0"/>
              </a:rPr>
              <a:t>ANALYSIS INPUTS</a:t>
            </a:r>
          </a:p>
          <a:p>
            <a:pPr marL="9525" marR="0" indent="0" defTabSz="914400" rtl="0" eaLnBrk="1" fontAlgn="auto" latinLnBrk="0" hangingPunct="1">
              <a:spcBef>
                <a:spcPts val="0"/>
              </a:spcBef>
              <a:spcAft>
                <a:spcPts val="400"/>
              </a:spcAft>
              <a:buClrTx/>
              <a:buSzTx/>
              <a:buFont typeface="Arial" panose="020B0604020202020204" pitchFamily="34" charset="0"/>
              <a:buNone/>
              <a:tabLst/>
            </a:pPr>
            <a:endParaRPr kumimoji="0" lang="en-US" sz="900" b="0"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a:p>
            <a:pPr marL="9525" marR="0" indent="0" defTabSz="914400" rtl="0" eaLnBrk="1" fontAlgn="auto" latinLnBrk="0" hangingPunct="1">
              <a:spcBef>
                <a:spcPts val="0"/>
              </a:spcBef>
              <a:spcAft>
                <a:spcPts val="0"/>
              </a:spcAft>
              <a:buClrTx/>
              <a:buSzTx/>
              <a:buFont typeface="Arial" panose="020B0604020202020204" pitchFamily="34" charset="0"/>
              <a:buNone/>
              <a:tabLst/>
            </a:pPr>
            <a:r>
              <a:rPr lang="en-US" sz="1200" b="1">
                <a:latin typeface="Arial" panose="020B0604020202020204"/>
                <a:ea typeface="Roboto" panose="02000000000000000000" pitchFamily="2" charset="0"/>
                <a:cs typeface="Segoe UI" panose="020B0502040204020203" pitchFamily="34" charset="0"/>
              </a:rPr>
              <a:t>Source Code</a:t>
            </a:r>
          </a:p>
          <a:p>
            <a:pPr marL="9525" marR="0" indent="0" defTabSz="914400" rtl="0" eaLnBrk="1" fontAlgn="auto" latinLnBrk="0" hangingPunct="1">
              <a:spcBef>
                <a:spcPts val="0"/>
              </a:spcBef>
              <a:spcAft>
                <a:spcPts val="0"/>
              </a:spcAft>
              <a:buClrTx/>
              <a:buSzTx/>
              <a:buFont typeface="Arial" panose="020B0604020202020204" pitchFamily="34" charset="0"/>
              <a:buNone/>
              <a:tabLst/>
            </a:pPr>
            <a:r>
              <a:rPr lang="en-US" sz="1100">
                <a:latin typeface="Arial" panose="020B0604020202020204"/>
                <a:ea typeface="Roboto" panose="02000000000000000000" pitchFamily="2" charset="0"/>
                <a:cs typeface="Segoe UI" panose="020B0502040204020203" pitchFamily="34" charset="0"/>
              </a:rPr>
              <a:t>OOABL / </a:t>
            </a:r>
            <a:r>
              <a:rPr lang="en-US" sz="1100" err="1">
                <a:latin typeface="Arial" panose="020B0604020202020204"/>
                <a:ea typeface="Roboto" panose="02000000000000000000" pitchFamily="2" charset="0"/>
                <a:cs typeface="Segoe UI" panose="020B0502040204020203" pitchFamily="34" charset="0"/>
              </a:rPr>
              <a:t>OpenEdge</a:t>
            </a:r>
            <a:endParaRPr lang="en-US" sz="1100">
              <a:latin typeface="Arial" panose="020B0604020202020204"/>
              <a:ea typeface="Roboto" panose="02000000000000000000" pitchFamily="2" charset="0"/>
              <a:cs typeface="Segoe UI" panose="020B0502040204020203" pitchFamily="34" charset="0"/>
            </a:endParaRPr>
          </a:p>
          <a:p>
            <a:pPr marL="9525" marR="0" indent="0" defTabSz="914400" rtl="0" eaLnBrk="1" fontAlgn="auto" latinLnBrk="0" hangingPunct="1">
              <a:spcBef>
                <a:spcPts val="0"/>
              </a:spcBef>
              <a:spcAft>
                <a:spcPts val="0"/>
              </a:spcAft>
              <a:buClrTx/>
              <a:buSzTx/>
              <a:buFont typeface="Arial" panose="020B0604020202020204" pitchFamily="34" charset="0"/>
              <a:buNone/>
              <a:tabLst/>
            </a:pPr>
            <a:r>
              <a:rPr lang="en-US" sz="1100">
                <a:latin typeface="Arial" panose="020B0604020202020204"/>
                <a:ea typeface="Roboto" panose="02000000000000000000" pitchFamily="2" charset="0"/>
                <a:cs typeface="Segoe UI" panose="020B0502040204020203" pitchFamily="34" charset="0"/>
              </a:rPr>
              <a:t>C# / .NET</a:t>
            </a:r>
          </a:p>
          <a:p>
            <a:pPr marL="9525" marR="0" indent="0" defTabSz="914400" rtl="0" eaLnBrk="1" fontAlgn="auto" latinLnBrk="0" hangingPunct="1">
              <a:spcBef>
                <a:spcPts val="0"/>
              </a:spcBef>
              <a:spcAft>
                <a:spcPts val="0"/>
              </a:spcAft>
              <a:buClrTx/>
              <a:buSzTx/>
              <a:buFont typeface="Arial" panose="020B0604020202020204" pitchFamily="34" charset="0"/>
              <a:buNone/>
              <a:tabLst/>
            </a:pPr>
            <a:r>
              <a:rPr lang="en-US" sz="1100" err="1">
                <a:latin typeface="Arial" panose="020B0604020202020204"/>
                <a:ea typeface="Roboto" panose="02000000000000000000" pitchFamily="2" charset="0"/>
                <a:cs typeface="Segoe UI" panose="020B0502040204020203" pitchFamily="34" charset="0"/>
              </a:rPr>
              <a:t>PowerHouse</a:t>
            </a:r>
            <a:endParaRPr lang="en-US" sz="1100">
              <a:latin typeface="Arial" panose="020B0604020202020204"/>
              <a:ea typeface="Roboto" panose="02000000000000000000" pitchFamily="2" charset="0"/>
              <a:cs typeface="Segoe UI" panose="020B0502040204020203" pitchFamily="34" charset="0"/>
            </a:endParaRPr>
          </a:p>
          <a:p>
            <a:pPr marL="9525">
              <a:spcAft>
                <a:spcPts val="0"/>
              </a:spcAft>
            </a:pPr>
            <a:r>
              <a:rPr lang="en-US" sz="1100">
                <a:latin typeface="Arial" panose="020B0604020202020204"/>
                <a:ea typeface="Roboto" panose="02000000000000000000" pitchFamily="2" charset="0"/>
                <a:cs typeface="Segoe UI" panose="020B0502040204020203" pitchFamily="34" charset="0"/>
              </a:rPr>
              <a:t>Java </a:t>
            </a:r>
            <a:r>
              <a:rPr lang="en-US" sz="1100">
                <a:latin typeface="Arial" panose="020B0604020202020204"/>
                <a:ea typeface="Roboto" panose="02000000000000000000" pitchFamily="2" charset="0"/>
                <a:cs typeface="Segoe UI" panose="020B0502040204020203" pitchFamily="34" charset="0"/>
                <a:sym typeface="Wingdings" panose="05000000000000000000" pitchFamily="2" charset="2"/>
              </a:rPr>
              <a:t></a:t>
            </a:r>
            <a:r>
              <a:rPr lang="en-US" sz="1100">
                <a:latin typeface="Arial" panose="020B0604020202020204"/>
                <a:ea typeface="Roboto" panose="02000000000000000000" pitchFamily="2" charset="0"/>
                <a:cs typeface="Segoe UI" panose="020B0502040204020203" pitchFamily="34" charset="0"/>
                <a:sym typeface="Symbol" panose="05050102010706020507" pitchFamily="18" charset="2"/>
              </a:rPr>
              <a:t> Python </a:t>
            </a:r>
            <a:r>
              <a:rPr lang="en-US" sz="1100">
                <a:ea typeface="Roboto" panose="02000000000000000000" pitchFamily="2" charset="0"/>
                <a:cs typeface="Segoe UI" panose="020B0502040204020203" pitchFamily="34" charset="0"/>
                <a:sym typeface="Wingdings" panose="05000000000000000000" pitchFamily="2" charset="2"/>
              </a:rPr>
              <a:t> COBOL</a:t>
            </a:r>
          </a:p>
          <a:p>
            <a:pPr marL="9525">
              <a:spcAft>
                <a:spcPts val="0"/>
              </a:spcAft>
            </a:pPr>
            <a:endParaRPr lang="en-US" sz="1100">
              <a:latin typeface="Arial" panose="020B0604020202020204"/>
              <a:ea typeface="Roboto" panose="02000000000000000000" pitchFamily="2" charset="0"/>
              <a:cs typeface="Segoe UI" panose="020B0502040204020203" pitchFamily="34" charset="0"/>
              <a:sym typeface="Wingdings" panose="05000000000000000000" pitchFamily="2" charset="2"/>
            </a:endParaRPr>
          </a:p>
          <a:p>
            <a:pPr marL="9525">
              <a:spcAft>
                <a:spcPts val="0"/>
              </a:spcAft>
            </a:pPr>
            <a:r>
              <a:rPr lang="en-US" sz="1200" b="1">
                <a:latin typeface="Arial" panose="020B0604020202020204"/>
                <a:ea typeface="Roboto" panose="02000000000000000000" pitchFamily="2" charset="0"/>
                <a:cs typeface="Segoe UI" panose="020B0502040204020203" pitchFamily="34" charset="0"/>
                <a:sym typeface="Wingdings" panose="05000000000000000000" pitchFamily="2" charset="2"/>
              </a:rPr>
              <a:t>Documentation</a:t>
            </a:r>
          </a:p>
          <a:p>
            <a:pPr marL="9525">
              <a:spcAft>
                <a:spcPts val="0"/>
              </a:spcAft>
            </a:pPr>
            <a:r>
              <a:rPr lang="en-US" sz="1100">
                <a:latin typeface="Arial" panose="020B0604020202020204"/>
                <a:ea typeface="Roboto" panose="02000000000000000000" pitchFamily="2" charset="0"/>
                <a:cs typeface="Segoe UI" panose="020B0502040204020203" pitchFamily="34" charset="0"/>
                <a:sym typeface="Wingdings" panose="05000000000000000000" pitchFamily="2" charset="2"/>
              </a:rPr>
              <a:t>Specs, runbooks, wiki</a:t>
            </a:r>
          </a:p>
          <a:p>
            <a:pPr marL="9525">
              <a:spcAft>
                <a:spcPts val="0"/>
              </a:spcAft>
            </a:pPr>
            <a:endParaRPr lang="en-US" sz="1100">
              <a:latin typeface="Arial" panose="020B0604020202020204"/>
              <a:ea typeface="Roboto" panose="02000000000000000000" pitchFamily="2" charset="0"/>
              <a:cs typeface="Segoe UI" panose="020B0502040204020203" pitchFamily="34" charset="0"/>
              <a:sym typeface="Wingdings" panose="05000000000000000000" pitchFamily="2" charset="2"/>
            </a:endParaRPr>
          </a:p>
          <a:p>
            <a:pPr marL="9525">
              <a:spcAft>
                <a:spcPts val="0"/>
              </a:spcAft>
            </a:pPr>
            <a:r>
              <a:rPr lang="en-US" sz="1200" b="1">
                <a:latin typeface="Arial" panose="020B0604020202020204"/>
                <a:ea typeface="Roboto" panose="02000000000000000000" pitchFamily="2" charset="0"/>
                <a:cs typeface="Segoe UI" panose="020B0502040204020203" pitchFamily="34" charset="0"/>
                <a:sym typeface="Wingdings" panose="05000000000000000000" pitchFamily="2" charset="2"/>
              </a:rPr>
              <a:t>Data Dictionaries</a:t>
            </a:r>
          </a:p>
          <a:p>
            <a:pPr marL="9525">
              <a:spcAft>
                <a:spcPts val="0"/>
              </a:spcAft>
            </a:pPr>
            <a:r>
              <a:rPr lang="en-US" sz="1100">
                <a:latin typeface="Arial" panose="020B0604020202020204"/>
                <a:ea typeface="Roboto" panose="02000000000000000000" pitchFamily="2" charset="0"/>
                <a:cs typeface="Segoe UI" panose="020B0502040204020203" pitchFamily="34" charset="0"/>
                <a:sym typeface="Wingdings" panose="05000000000000000000" pitchFamily="2" charset="2"/>
              </a:rPr>
              <a:t>Schemas, ERDs, configs</a:t>
            </a:r>
            <a:endParaRPr kumimoji="0" lang="en-US" sz="1200" b="0"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sp>
        <p:nvSpPr>
          <p:cNvPr id="29" name="Rectangle: Rounded Corners 28">
            <a:extLst>
              <a:ext uri="{FF2B5EF4-FFF2-40B4-BE49-F238E27FC236}">
                <a16:creationId xmlns:a16="http://schemas.microsoft.com/office/drawing/2014/main" id="{C4326F80-7298-8CFE-F36F-092FAEC154B9}"/>
              </a:ext>
            </a:extLst>
          </p:cNvPr>
          <p:cNvSpPr/>
          <p:nvPr/>
        </p:nvSpPr>
        <p:spPr bwMode="auto">
          <a:xfrm>
            <a:off x="2746840" y="3297349"/>
            <a:ext cx="3254103" cy="431863"/>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Agentic Intelligence: </a:t>
            </a:r>
            <a:r>
              <a:rPr kumimoji="0" lang="en-US" sz="1000"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Queries, enriches, and updates evidence from user input and source analysis</a:t>
            </a:r>
          </a:p>
        </p:txBody>
      </p:sp>
      <p:sp>
        <p:nvSpPr>
          <p:cNvPr id="30" name="Rectangle: Rounded Corners 29">
            <a:extLst>
              <a:ext uri="{FF2B5EF4-FFF2-40B4-BE49-F238E27FC236}">
                <a16:creationId xmlns:a16="http://schemas.microsoft.com/office/drawing/2014/main" id="{EA3F9FC3-4074-BC4D-245B-4A6F17A1CA01}"/>
              </a:ext>
            </a:extLst>
          </p:cNvPr>
          <p:cNvSpPr/>
          <p:nvPr/>
        </p:nvSpPr>
        <p:spPr bwMode="auto">
          <a:xfrm>
            <a:off x="2746840" y="3824200"/>
            <a:ext cx="3254103" cy="538404"/>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kumimoji="0" lang="en-US" sz="12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Evidence Database</a:t>
            </a:r>
          </a:p>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lang="en-US" sz="1000">
                <a:latin typeface="Arial" panose="020B0604020202020204"/>
                <a:ea typeface="Roboto" panose="02000000000000000000" pitchFamily="2" charset="0"/>
                <a:cs typeface="Segoe UI" panose="020B0502040204020203" pitchFamily="34" charset="0"/>
              </a:rPr>
              <a:t>SQLite  </a:t>
            </a:r>
            <a:r>
              <a:rPr lang="en-US" sz="1000">
                <a:latin typeface="Arial" panose="020B0604020202020204"/>
                <a:ea typeface="Roboto" panose="02000000000000000000" pitchFamily="2" charset="0"/>
                <a:cs typeface="Segoe UI" panose="020B0502040204020203" pitchFamily="34" charset="0"/>
                <a:sym typeface="Symbol" panose="05050102010706020507" pitchFamily="18" charset="2"/>
              </a:rPr>
              <a:t>  PostgreSQL    Neo4j</a:t>
            </a:r>
            <a:endParaRPr kumimoji="0" lang="en-US" sz="1000"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sp>
        <p:nvSpPr>
          <p:cNvPr id="31" name="Rectangle: Rounded Corners 30">
            <a:extLst>
              <a:ext uri="{FF2B5EF4-FFF2-40B4-BE49-F238E27FC236}">
                <a16:creationId xmlns:a16="http://schemas.microsoft.com/office/drawing/2014/main" id="{CF66EEEC-9D67-B0BE-0EBD-FED7A4978626}"/>
              </a:ext>
            </a:extLst>
          </p:cNvPr>
          <p:cNvSpPr/>
          <p:nvPr/>
        </p:nvSpPr>
        <p:spPr bwMode="auto">
          <a:xfrm>
            <a:off x="2746841" y="4453008"/>
            <a:ext cx="1581609" cy="293327"/>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Analysis engine</a:t>
            </a:r>
          </a:p>
        </p:txBody>
      </p:sp>
      <p:sp>
        <p:nvSpPr>
          <p:cNvPr id="32" name="Rectangle: Rounded Corners 31">
            <a:extLst>
              <a:ext uri="{FF2B5EF4-FFF2-40B4-BE49-F238E27FC236}">
                <a16:creationId xmlns:a16="http://schemas.microsoft.com/office/drawing/2014/main" id="{63F800E1-739E-7018-249E-593C469B53BB}"/>
              </a:ext>
            </a:extLst>
          </p:cNvPr>
          <p:cNvSpPr/>
          <p:nvPr/>
        </p:nvSpPr>
        <p:spPr bwMode="auto">
          <a:xfrm>
            <a:off x="2746840" y="4837019"/>
            <a:ext cx="1581609" cy="293327"/>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Reports &amp; chat</a:t>
            </a:r>
          </a:p>
        </p:txBody>
      </p:sp>
      <p:sp>
        <p:nvSpPr>
          <p:cNvPr id="33" name="Rectangle: Rounded Corners 32">
            <a:extLst>
              <a:ext uri="{FF2B5EF4-FFF2-40B4-BE49-F238E27FC236}">
                <a16:creationId xmlns:a16="http://schemas.microsoft.com/office/drawing/2014/main" id="{3FE2FC74-29AE-AB4F-FC5A-DAD9C2228024}"/>
              </a:ext>
            </a:extLst>
          </p:cNvPr>
          <p:cNvSpPr/>
          <p:nvPr/>
        </p:nvSpPr>
        <p:spPr bwMode="auto">
          <a:xfrm>
            <a:off x="4419334" y="4453008"/>
            <a:ext cx="1581609" cy="293327"/>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MCP server</a:t>
            </a:r>
          </a:p>
        </p:txBody>
      </p:sp>
      <p:sp>
        <p:nvSpPr>
          <p:cNvPr id="34" name="Rectangle: Rounded Corners 33">
            <a:extLst>
              <a:ext uri="{FF2B5EF4-FFF2-40B4-BE49-F238E27FC236}">
                <a16:creationId xmlns:a16="http://schemas.microsoft.com/office/drawing/2014/main" id="{EF10B802-7D41-35B5-09EF-89144669EF76}"/>
              </a:ext>
            </a:extLst>
          </p:cNvPr>
          <p:cNvSpPr/>
          <p:nvPr/>
        </p:nvSpPr>
        <p:spPr bwMode="auto">
          <a:xfrm>
            <a:off x="4419333" y="4837019"/>
            <a:ext cx="1581609" cy="293327"/>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Planning tools</a:t>
            </a:r>
          </a:p>
        </p:txBody>
      </p:sp>
      <p:pic>
        <p:nvPicPr>
          <p:cNvPr id="35" name="Graphic 34">
            <a:extLst>
              <a:ext uri="{FF2B5EF4-FFF2-40B4-BE49-F238E27FC236}">
                <a16:creationId xmlns:a16="http://schemas.microsoft.com/office/drawing/2014/main" id="{718251FF-735A-8A6B-AB89-858E09FA30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09998" y="2540103"/>
            <a:ext cx="605103" cy="605103"/>
          </a:xfrm>
          <a:prstGeom prst="rect">
            <a:avLst/>
          </a:prstGeom>
        </p:spPr>
      </p:pic>
      <p:sp>
        <p:nvSpPr>
          <p:cNvPr id="36" name="Rectangle 35">
            <a:extLst>
              <a:ext uri="{FF2B5EF4-FFF2-40B4-BE49-F238E27FC236}">
                <a16:creationId xmlns:a16="http://schemas.microsoft.com/office/drawing/2014/main" id="{FCC4CF3B-E8C0-E57B-B651-30A473721D85}"/>
              </a:ext>
            </a:extLst>
          </p:cNvPr>
          <p:cNvSpPr/>
          <p:nvPr/>
        </p:nvSpPr>
        <p:spPr bwMode="auto">
          <a:xfrm>
            <a:off x="6396302" y="2670310"/>
            <a:ext cx="1606062" cy="2472472"/>
          </a:xfrm>
          <a:prstGeom prst="rect">
            <a:avLst/>
          </a:prstGeom>
          <a:solidFill>
            <a:schemeClr val="bg1">
              <a:alpha val="60000"/>
            </a:schemeClr>
          </a:solidFill>
          <a:ln>
            <a:noFill/>
          </a:ln>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spAutoFit/>
          </a:bodyPr>
          <a:lstStyle/>
          <a:p>
            <a:pPr marL="9525" marR="0" indent="0" algn="r" defTabSz="914400" rtl="0" eaLnBrk="1" fontAlgn="auto" latinLnBrk="0" hangingPunct="1">
              <a:spcBef>
                <a:spcPts val="0"/>
              </a:spcBef>
              <a:spcAft>
                <a:spcPts val="400"/>
              </a:spcAft>
              <a:buClrTx/>
              <a:buSzTx/>
              <a:buFont typeface="Arial" panose="020B0604020202020204" pitchFamily="34" charset="0"/>
              <a:buNone/>
              <a:tabLst/>
            </a:pPr>
            <a:r>
              <a:rPr kumimoji="0" lang="en-US" sz="900" b="1" i="0" u="none" strike="noStrike" kern="1200" cap="none" spc="0" normalizeH="0" baseline="0" noProof="0">
                <a:ln>
                  <a:noFill/>
                </a:ln>
                <a:solidFill>
                  <a:schemeClr val="accent2"/>
                </a:solidFill>
                <a:effectLst/>
                <a:uLnTx/>
                <a:uFillTx/>
                <a:latin typeface="Arial" panose="020B0604020202020204"/>
                <a:ea typeface="Roboto" panose="02000000000000000000" pitchFamily="2" charset="0"/>
                <a:cs typeface="Segoe UI" panose="020B0502040204020203" pitchFamily="34" charset="0"/>
              </a:rPr>
              <a:t>INTEGRATIONS</a:t>
            </a:r>
          </a:p>
          <a:p>
            <a:pPr marL="9525" marR="0" indent="0" algn="r" defTabSz="914400" rtl="0" eaLnBrk="1" fontAlgn="auto" latinLnBrk="0" hangingPunct="1">
              <a:spcBef>
                <a:spcPts val="0"/>
              </a:spcBef>
              <a:spcAft>
                <a:spcPts val="400"/>
              </a:spcAft>
              <a:buClrTx/>
              <a:buSzTx/>
              <a:buFont typeface="Arial" panose="020B0604020202020204" pitchFamily="34" charset="0"/>
              <a:buNone/>
              <a:tabLst/>
            </a:pPr>
            <a:endParaRPr kumimoji="0" lang="en-US" sz="900" b="0"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a:p>
            <a:pPr marL="9525" marR="0" indent="0" algn="r" defTabSz="914400" rtl="0" eaLnBrk="1" fontAlgn="auto" latinLnBrk="0" hangingPunct="1">
              <a:spcBef>
                <a:spcPts val="0"/>
              </a:spcBef>
              <a:spcAft>
                <a:spcPts val="0"/>
              </a:spcAft>
              <a:buClrTx/>
              <a:buSzTx/>
              <a:buFont typeface="Arial" panose="020B0604020202020204" pitchFamily="34" charset="0"/>
              <a:buNone/>
              <a:tabLst/>
            </a:pPr>
            <a:r>
              <a:rPr lang="en-US" sz="1200" b="1">
                <a:latin typeface="Arial" panose="020B0604020202020204"/>
                <a:ea typeface="Roboto" panose="02000000000000000000" pitchFamily="2" charset="0"/>
                <a:cs typeface="Segoe UI" panose="020B0502040204020203" pitchFamily="34" charset="0"/>
              </a:rPr>
              <a:t>Coding Agents</a:t>
            </a:r>
          </a:p>
          <a:p>
            <a:pPr marL="9525" marR="0" indent="0" algn="r" defTabSz="914400" rtl="0" eaLnBrk="1" fontAlgn="auto" latinLnBrk="0" hangingPunct="1">
              <a:spcBef>
                <a:spcPts val="0"/>
              </a:spcBef>
              <a:spcAft>
                <a:spcPts val="0"/>
              </a:spcAft>
              <a:buClrTx/>
              <a:buSzTx/>
              <a:buFont typeface="Arial" panose="020B0604020202020204" pitchFamily="34" charset="0"/>
              <a:buNone/>
              <a:tabLst/>
            </a:pPr>
            <a:r>
              <a:rPr lang="en-US" sz="1100">
                <a:latin typeface="Arial" panose="020B0604020202020204"/>
                <a:ea typeface="Roboto" panose="02000000000000000000" pitchFamily="2" charset="0"/>
                <a:cs typeface="Segoe UI" panose="020B0502040204020203" pitchFamily="34" charset="0"/>
              </a:rPr>
              <a:t>Claude / Anthropic</a:t>
            </a:r>
          </a:p>
          <a:p>
            <a:pPr marL="9525" marR="0" indent="0" algn="r" defTabSz="914400" rtl="0" eaLnBrk="1" fontAlgn="auto" latinLnBrk="0" hangingPunct="1">
              <a:spcBef>
                <a:spcPts val="0"/>
              </a:spcBef>
              <a:spcAft>
                <a:spcPts val="0"/>
              </a:spcAft>
              <a:buClrTx/>
              <a:buSzTx/>
              <a:buFont typeface="Arial" panose="020B0604020202020204" pitchFamily="34" charset="0"/>
              <a:buNone/>
              <a:tabLst/>
            </a:pPr>
            <a:r>
              <a:rPr lang="en-US" sz="1100">
                <a:latin typeface="Arial" panose="020B0604020202020204"/>
                <a:ea typeface="Roboto" panose="02000000000000000000" pitchFamily="2" charset="0"/>
                <a:cs typeface="Segoe UI" panose="020B0502040204020203" pitchFamily="34" charset="0"/>
                <a:sym typeface="Wingdings" panose="05000000000000000000" pitchFamily="2" charset="2"/>
              </a:rPr>
              <a:t>Codex / OpenAI</a:t>
            </a:r>
          </a:p>
          <a:p>
            <a:pPr marL="9525" marR="0" indent="0" algn="r" defTabSz="914400" rtl="0" eaLnBrk="1" fontAlgn="auto" latinLnBrk="0" hangingPunct="1">
              <a:spcBef>
                <a:spcPts val="0"/>
              </a:spcBef>
              <a:spcAft>
                <a:spcPts val="0"/>
              </a:spcAft>
              <a:buClrTx/>
              <a:buSzTx/>
              <a:buFont typeface="Arial" panose="020B0604020202020204" pitchFamily="34" charset="0"/>
              <a:buNone/>
              <a:tabLst/>
            </a:pPr>
            <a:r>
              <a:rPr lang="en-US" sz="1100">
                <a:latin typeface="Arial" panose="020B0604020202020204"/>
                <a:ea typeface="Roboto" panose="02000000000000000000" pitchFamily="2" charset="0"/>
                <a:cs typeface="Segoe UI" panose="020B0502040204020203" pitchFamily="34" charset="0"/>
                <a:sym typeface="Wingdings" panose="05000000000000000000" pitchFamily="2" charset="2"/>
              </a:rPr>
              <a:t>Cursor</a:t>
            </a:r>
            <a:endParaRPr lang="en-US" sz="1100">
              <a:ea typeface="Roboto" panose="02000000000000000000" pitchFamily="2" charset="0"/>
              <a:cs typeface="Segoe UI" panose="020B0502040204020203" pitchFamily="34" charset="0"/>
              <a:sym typeface="Wingdings" panose="05000000000000000000" pitchFamily="2" charset="2"/>
            </a:endParaRPr>
          </a:p>
          <a:p>
            <a:pPr marL="9525" algn="r">
              <a:spcAft>
                <a:spcPts val="0"/>
              </a:spcAft>
            </a:pPr>
            <a:endParaRPr lang="en-US" sz="1100">
              <a:latin typeface="Arial" panose="020B0604020202020204"/>
              <a:ea typeface="Roboto" panose="02000000000000000000" pitchFamily="2" charset="0"/>
              <a:cs typeface="Segoe UI" panose="020B0502040204020203" pitchFamily="34" charset="0"/>
              <a:sym typeface="Wingdings" panose="05000000000000000000" pitchFamily="2" charset="2"/>
            </a:endParaRPr>
          </a:p>
          <a:p>
            <a:pPr marL="9525" algn="r">
              <a:spcAft>
                <a:spcPts val="0"/>
              </a:spcAft>
            </a:pPr>
            <a:r>
              <a:rPr lang="en-US" sz="1200" b="1">
                <a:latin typeface="Arial" panose="020B0604020202020204"/>
                <a:ea typeface="Roboto" panose="02000000000000000000" pitchFamily="2" charset="0"/>
                <a:cs typeface="Segoe UI" panose="020B0502040204020203" pitchFamily="34" charset="0"/>
                <a:sym typeface="Wingdings" panose="05000000000000000000" pitchFamily="2" charset="2"/>
              </a:rPr>
              <a:t>Project Trackers</a:t>
            </a:r>
          </a:p>
          <a:p>
            <a:pPr marL="9525" algn="r">
              <a:spcAft>
                <a:spcPts val="0"/>
              </a:spcAft>
            </a:pPr>
            <a:r>
              <a:rPr lang="en-US" sz="1100">
                <a:latin typeface="Arial" panose="020B0604020202020204"/>
                <a:ea typeface="Roboto" panose="02000000000000000000" pitchFamily="2" charset="0"/>
                <a:cs typeface="Segoe UI" panose="020B0502040204020203" pitchFamily="34" charset="0"/>
                <a:sym typeface="Wingdings" panose="05000000000000000000" pitchFamily="2" charset="2"/>
              </a:rPr>
              <a:t>Jira, Azure DevOps</a:t>
            </a:r>
          </a:p>
          <a:p>
            <a:pPr marL="9525" algn="r">
              <a:spcAft>
                <a:spcPts val="0"/>
              </a:spcAft>
            </a:pPr>
            <a:endParaRPr lang="en-US" sz="1100">
              <a:latin typeface="Arial" panose="020B0604020202020204"/>
              <a:ea typeface="Roboto" panose="02000000000000000000" pitchFamily="2" charset="0"/>
              <a:cs typeface="Segoe UI" panose="020B0502040204020203" pitchFamily="34" charset="0"/>
              <a:sym typeface="Wingdings" panose="05000000000000000000" pitchFamily="2" charset="2"/>
            </a:endParaRPr>
          </a:p>
          <a:p>
            <a:pPr marL="9525" algn="r">
              <a:spcAft>
                <a:spcPts val="0"/>
              </a:spcAft>
            </a:pPr>
            <a:r>
              <a:rPr lang="en-US" sz="1200" b="1">
                <a:latin typeface="Arial" panose="020B0604020202020204"/>
                <a:ea typeface="Roboto" panose="02000000000000000000" pitchFamily="2" charset="0"/>
                <a:cs typeface="Segoe UI" panose="020B0502040204020203" pitchFamily="34" charset="0"/>
                <a:sym typeface="Wingdings" panose="05000000000000000000" pitchFamily="2" charset="2"/>
              </a:rPr>
              <a:t>CI / CD</a:t>
            </a:r>
          </a:p>
          <a:p>
            <a:pPr marL="9525" algn="r">
              <a:spcAft>
                <a:spcPts val="0"/>
              </a:spcAft>
            </a:pPr>
            <a:r>
              <a:rPr lang="en-US" sz="1100">
                <a:latin typeface="Arial" panose="020B0604020202020204"/>
                <a:ea typeface="Roboto" panose="02000000000000000000" pitchFamily="2" charset="0"/>
                <a:cs typeface="Segoe UI" panose="020B0502040204020203" pitchFamily="34" charset="0"/>
                <a:sym typeface="Wingdings" panose="05000000000000000000" pitchFamily="2" charset="2"/>
              </a:rPr>
              <a:t>GitHub Actions</a:t>
            </a:r>
          </a:p>
          <a:p>
            <a:pPr marL="9525" algn="r">
              <a:spcAft>
                <a:spcPts val="0"/>
              </a:spcAft>
            </a:pPr>
            <a:r>
              <a:rPr lang="en-US" sz="1100">
                <a:latin typeface="Arial" panose="020B0604020202020204"/>
                <a:ea typeface="Roboto" panose="02000000000000000000" pitchFamily="2" charset="0"/>
                <a:cs typeface="Segoe UI" panose="020B0502040204020203" pitchFamily="34" charset="0"/>
                <a:sym typeface="Wingdings" panose="05000000000000000000" pitchFamily="2" charset="2"/>
              </a:rPr>
              <a:t>Azure Pipelines</a:t>
            </a:r>
            <a:endParaRPr lang="en-US" sz="1100">
              <a:latin typeface="Arial" panose="020B0604020202020204"/>
              <a:ea typeface="Roboto" panose="02000000000000000000" pitchFamily="2" charset="0"/>
              <a:cs typeface="Segoe UI" panose="020B0502040204020203" pitchFamily="34" charset="0"/>
            </a:endParaRPr>
          </a:p>
        </p:txBody>
      </p:sp>
      <p:pic>
        <p:nvPicPr>
          <p:cNvPr id="37" name="Graphic 36">
            <a:extLst>
              <a:ext uri="{FF2B5EF4-FFF2-40B4-BE49-F238E27FC236}">
                <a16:creationId xmlns:a16="http://schemas.microsoft.com/office/drawing/2014/main" id="{5F5DA1A4-61DF-27D7-1CD1-6099763EAB7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5931878" y="2540103"/>
            <a:ext cx="605103" cy="605103"/>
          </a:xfrm>
          <a:prstGeom prst="rect">
            <a:avLst/>
          </a:prstGeom>
        </p:spPr>
      </p:pic>
      <p:grpSp>
        <p:nvGrpSpPr>
          <p:cNvPr id="41" name="Group 40">
            <a:extLst>
              <a:ext uri="{FF2B5EF4-FFF2-40B4-BE49-F238E27FC236}">
                <a16:creationId xmlns:a16="http://schemas.microsoft.com/office/drawing/2014/main" id="{C08F7B79-C2FF-0A7C-0CB1-1DF4687357FC}"/>
              </a:ext>
            </a:extLst>
          </p:cNvPr>
          <p:cNvGrpSpPr/>
          <p:nvPr/>
        </p:nvGrpSpPr>
        <p:grpSpPr>
          <a:xfrm>
            <a:off x="8571448" y="2354434"/>
            <a:ext cx="3157001" cy="3652282"/>
            <a:chOff x="8190937" y="1474840"/>
            <a:chExt cx="3157001" cy="3652282"/>
          </a:xfrm>
        </p:grpSpPr>
        <p:sp>
          <p:nvSpPr>
            <p:cNvPr id="42" name="TextBox 41">
              <a:extLst>
                <a:ext uri="{FF2B5EF4-FFF2-40B4-BE49-F238E27FC236}">
                  <a16:creationId xmlns:a16="http://schemas.microsoft.com/office/drawing/2014/main" id="{133D0CEF-8A69-E210-D038-F2AAF983ADDA}"/>
                </a:ext>
              </a:extLst>
            </p:cNvPr>
            <p:cNvSpPr txBox="1"/>
            <p:nvPr/>
          </p:nvSpPr>
          <p:spPr>
            <a:xfrm>
              <a:off x="8190937" y="1474840"/>
              <a:ext cx="3157001" cy="3652282"/>
            </a:xfrm>
            <a:prstGeom prst="rect">
              <a:avLst/>
            </a:prstGeom>
            <a:solidFill>
              <a:srgbClr val="070154"/>
            </a:solidFill>
          </p:spPr>
          <p:txBody>
            <a:bodyPr wrap="square" lIns="182880" tIns="182880" rIns="182880" bIns="182880">
              <a:spAutoFit/>
            </a:bodyPr>
            <a:lstStyle/>
            <a:p>
              <a:pPr>
                <a:spcAft>
                  <a:spcPts val="1800"/>
                </a:spcAft>
              </a:pPr>
              <a:r>
                <a:rPr lang="en-US" sz="1200" b="1">
                  <a:solidFill>
                    <a:schemeClr val="accent1"/>
                  </a:solidFill>
                </a:rPr>
                <a:t>PURPOSE-BUILT TO ACCELERATE</a:t>
              </a:r>
              <a:endParaRPr lang="en-US" sz="1200" b="1">
                <a:solidFill>
                  <a:schemeClr val="bg1"/>
                </a:solidFill>
              </a:endParaRPr>
            </a:p>
            <a:p>
              <a:pPr marL="688975">
                <a:spcAft>
                  <a:spcPts val="400"/>
                </a:spcAft>
              </a:pPr>
              <a:r>
                <a:rPr lang="en-US" sz="1200" b="1">
                  <a:solidFill>
                    <a:schemeClr val="bg1"/>
                  </a:solidFill>
                </a:rPr>
                <a:t>Multiple Engagement Modes</a:t>
              </a:r>
            </a:p>
            <a:p>
              <a:pPr marL="688975">
                <a:spcAft>
                  <a:spcPts val="1800"/>
                </a:spcAft>
              </a:pPr>
              <a:r>
                <a:rPr lang="en-US" sz="1000">
                  <a:solidFill>
                    <a:schemeClr val="accent4"/>
                  </a:solidFill>
                </a:rPr>
                <a:t>CLI, Hub UI, MCP, and API—local </a:t>
              </a:r>
              <a:br>
                <a:rPr lang="en-US" sz="1000">
                  <a:solidFill>
                    <a:schemeClr val="accent4"/>
                  </a:solidFill>
                </a:rPr>
              </a:br>
              <a:r>
                <a:rPr lang="en-US" sz="1000">
                  <a:solidFill>
                    <a:schemeClr val="accent4"/>
                  </a:solidFill>
                </a:rPr>
                <a:t>or cloud</a:t>
              </a:r>
            </a:p>
            <a:p>
              <a:pPr marL="688975">
                <a:spcAft>
                  <a:spcPts val="400"/>
                </a:spcAft>
              </a:pPr>
              <a:r>
                <a:rPr lang="en-US" sz="1200" b="1">
                  <a:solidFill>
                    <a:schemeClr val="bg1"/>
                  </a:solidFill>
                </a:rPr>
                <a:t>Agentic Intelligence</a:t>
              </a:r>
            </a:p>
            <a:p>
              <a:pPr marL="688975">
                <a:spcAft>
                  <a:spcPts val="1800"/>
                </a:spcAft>
              </a:pPr>
              <a:r>
                <a:rPr lang="en-US" sz="1000">
                  <a:solidFill>
                    <a:schemeClr val="accent4"/>
                  </a:solidFill>
                </a:rPr>
                <a:t>Queries and updates evidence from </a:t>
              </a:r>
              <a:br>
                <a:rPr lang="en-US" sz="1000">
                  <a:solidFill>
                    <a:schemeClr val="accent4"/>
                  </a:solidFill>
                </a:rPr>
              </a:br>
              <a:r>
                <a:rPr lang="en-US" sz="1000">
                  <a:solidFill>
                    <a:schemeClr val="accent4"/>
                  </a:solidFill>
                </a:rPr>
                <a:t>user input and code findings</a:t>
              </a:r>
            </a:p>
            <a:p>
              <a:pPr marL="688975">
                <a:spcAft>
                  <a:spcPts val="400"/>
                </a:spcAft>
              </a:pPr>
              <a:r>
                <a:rPr lang="en-US" sz="1200" b="1">
                  <a:solidFill>
                    <a:schemeClr val="bg1"/>
                  </a:solidFill>
                </a:rPr>
                <a:t>Flexible Storage</a:t>
              </a:r>
            </a:p>
            <a:p>
              <a:pPr marL="688975">
                <a:spcAft>
                  <a:spcPts val="1800"/>
                </a:spcAft>
              </a:pPr>
              <a:r>
                <a:rPr lang="en-US" sz="1000">
                  <a:solidFill>
                    <a:schemeClr val="accent4"/>
                  </a:solidFill>
                </a:rPr>
                <a:t>SQLite for portability, PostgreSQL, </a:t>
              </a:r>
              <a:br>
                <a:rPr lang="en-US" sz="1000">
                  <a:solidFill>
                    <a:schemeClr val="accent4"/>
                  </a:solidFill>
                </a:rPr>
              </a:br>
              <a:r>
                <a:rPr lang="en-US" sz="1000">
                  <a:solidFill>
                    <a:schemeClr val="accent4"/>
                  </a:solidFill>
                </a:rPr>
                <a:t>or Neo4j for scale</a:t>
              </a:r>
            </a:p>
            <a:p>
              <a:pPr marL="688975">
                <a:spcAft>
                  <a:spcPts val="400"/>
                </a:spcAft>
              </a:pPr>
              <a:r>
                <a:rPr lang="en-US" sz="1200" b="1">
                  <a:solidFill>
                    <a:schemeClr val="bg1"/>
                  </a:solidFill>
                </a:rPr>
                <a:t>Built for Delivery Teams</a:t>
              </a:r>
            </a:p>
            <a:p>
              <a:pPr marL="688975">
                <a:spcAft>
                  <a:spcPts val="1200"/>
                </a:spcAft>
              </a:pPr>
              <a:r>
                <a:rPr lang="en-US" sz="1000">
                  <a:solidFill>
                    <a:schemeClr val="accent4"/>
                  </a:solidFill>
                </a:rPr>
                <a:t>Consultants, engineers, and coding agents working together</a:t>
              </a:r>
            </a:p>
          </p:txBody>
        </p:sp>
        <p:pic>
          <p:nvPicPr>
            <p:cNvPr id="43" name="Graphic 42">
              <a:extLst>
                <a:ext uri="{FF2B5EF4-FFF2-40B4-BE49-F238E27FC236}">
                  <a16:creationId xmlns:a16="http://schemas.microsoft.com/office/drawing/2014/main" id="{82DD81BE-5F00-5763-FFEE-6DFAD7736B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96093" y="2883615"/>
              <a:ext cx="457200" cy="457200"/>
            </a:xfrm>
            <a:prstGeom prst="rect">
              <a:avLst/>
            </a:prstGeom>
          </p:spPr>
        </p:pic>
        <p:pic>
          <p:nvPicPr>
            <p:cNvPr id="44" name="Graphic 43">
              <a:extLst>
                <a:ext uri="{FF2B5EF4-FFF2-40B4-BE49-F238E27FC236}">
                  <a16:creationId xmlns:a16="http://schemas.microsoft.com/office/drawing/2014/main" id="{5AB8584A-9CB5-1A9B-6172-DA66B9C9C76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96093" y="2115528"/>
              <a:ext cx="457200" cy="457200"/>
            </a:xfrm>
            <a:prstGeom prst="rect">
              <a:avLst/>
            </a:prstGeom>
          </p:spPr>
        </p:pic>
        <p:pic>
          <p:nvPicPr>
            <p:cNvPr id="45" name="Graphic 44">
              <a:extLst>
                <a:ext uri="{FF2B5EF4-FFF2-40B4-BE49-F238E27FC236}">
                  <a16:creationId xmlns:a16="http://schemas.microsoft.com/office/drawing/2014/main" id="{7AE7CC28-B29E-4FCC-6EEC-4032762F97C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96093" y="3671129"/>
              <a:ext cx="457200" cy="457200"/>
            </a:xfrm>
            <a:prstGeom prst="rect">
              <a:avLst/>
            </a:prstGeom>
          </p:spPr>
        </p:pic>
        <p:pic>
          <p:nvPicPr>
            <p:cNvPr id="46" name="Graphic 45">
              <a:extLst>
                <a:ext uri="{FF2B5EF4-FFF2-40B4-BE49-F238E27FC236}">
                  <a16:creationId xmlns:a16="http://schemas.microsoft.com/office/drawing/2014/main" id="{EC130572-3603-89E8-B993-4A5D531D4FD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96093" y="4436993"/>
              <a:ext cx="457200" cy="457200"/>
            </a:xfrm>
            <a:prstGeom prst="rect">
              <a:avLst/>
            </a:prstGeom>
          </p:spPr>
        </p:pic>
      </p:grpSp>
      <p:pic>
        <p:nvPicPr>
          <p:cNvPr id="49" name="Graphic 48">
            <a:extLst>
              <a:ext uri="{FF2B5EF4-FFF2-40B4-BE49-F238E27FC236}">
                <a16:creationId xmlns:a16="http://schemas.microsoft.com/office/drawing/2014/main" id="{FF85E462-0F1E-9AB0-511D-B08347E958B1}"/>
              </a:ext>
            </a:extLst>
          </p:cNvPr>
          <p:cNvPicPr>
            <a:picLocks noChangeAspect="1"/>
          </p:cNvPicPr>
          <p:nvPr/>
        </p:nvPicPr>
        <p:blipFill>
          <a:blip>
            <a:extLst>
              <a:ext uri="{96DAC541-7B7A-43D3-8B79-37D633B846F1}">
                <asvg:svgBlip xmlns:asvg="http://schemas.microsoft.com/office/drawing/2016/SVG/main" r:embed="rId10"/>
              </a:ext>
            </a:extLst>
          </a:blip>
          <a:srcRect l="81699"/>
          <a:stretch>
            <a:fillRect/>
          </a:stretch>
        </p:blipFill>
        <p:spPr>
          <a:xfrm rot="2710200" flipV="1">
            <a:off x="8854061" y="2222098"/>
            <a:ext cx="177746" cy="971236"/>
          </a:xfrm>
          <a:prstGeom prst="rect">
            <a:avLst/>
          </a:prstGeom>
        </p:spPr>
      </p:pic>
      <p:sp>
        <p:nvSpPr>
          <p:cNvPr id="50" name="TextBox 38">
            <a:extLst>
              <a:ext uri="{FF2B5EF4-FFF2-40B4-BE49-F238E27FC236}">
                <a16:creationId xmlns:a16="http://schemas.microsoft.com/office/drawing/2014/main" id="{88DE084C-12F1-0E3F-7D67-9E33A3B518E3}"/>
              </a:ext>
            </a:extLst>
          </p:cNvPr>
          <p:cNvSpPr txBox="1"/>
          <p:nvPr/>
        </p:nvSpPr>
        <p:spPr>
          <a:xfrm>
            <a:off x="4140851" y="5624304"/>
            <a:ext cx="1858407" cy="418576"/>
          </a:xfrm>
          <a:prstGeom prst="rect">
            <a:avLst/>
          </a:prstGeom>
          <a:noFill/>
        </p:spPr>
        <p:txBody>
          <a:bodyPr wrap="square" lIns="0" tIns="0" rIns="0" bIns="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a:lstStyle>
          <a:p>
            <a:pPr marL="0" marR="0" lvl="0" indent="0" algn="ctr" defTabSz="914400" rtl="0" eaLnBrk="1" fontAlgn="auto" latinLnBrk="0" hangingPunct="1">
              <a:lnSpc>
                <a:spcPct val="85000"/>
              </a:lnSpc>
              <a:spcBef>
                <a:spcPts val="0"/>
              </a:spcBef>
              <a:spcAft>
                <a:spcPts val="400"/>
              </a:spcAft>
              <a:buClrTx/>
              <a:buSzTx/>
              <a:buFont typeface="Arial" panose="020B0604020202020204" pitchFamily="34" charset="0"/>
              <a:buNone/>
              <a:tabLst/>
              <a:defRPr/>
            </a:pPr>
            <a:r>
              <a:rPr kumimoji="0" lang="en-US" sz="12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10+ pre-built workflows</a:t>
            </a:r>
            <a:br>
              <a:rPr kumimoji="0" lang="en-US" sz="12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br>
            <a:r>
              <a:rPr kumimoji="0" lang="en-US" sz="1000" b="0"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leveraging AI for code understanding and rebuild</a:t>
            </a:r>
          </a:p>
        </p:txBody>
      </p:sp>
      <p:sp>
        <p:nvSpPr>
          <p:cNvPr id="51" name="TextBox 39">
            <a:extLst>
              <a:ext uri="{FF2B5EF4-FFF2-40B4-BE49-F238E27FC236}">
                <a16:creationId xmlns:a16="http://schemas.microsoft.com/office/drawing/2014/main" id="{9ABE43D1-E157-7066-2DBB-DB622F922223}"/>
              </a:ext>
            </a:extLst>
          </p:cNvPr>
          <p:cNvSpPr txBox="1"/>
          <p:nvPr/>
        </p:nvSpPr>
        <p:spPr>
          <a:xfrm>
            <a:off x="6526703" y="5624304"/>
            <a:ext cx="1475661" cy="418576"/>
          </a:xfrm>
          <a:prstGeom prst="rect">
            <a:avLst/>
          </a:prstGeom>
          <a:noFill/>
        </p:spPr>
        <p:txBody>
          <a:bodyPr wrap="square" lIns="0" tIns="0" rIns="0" bIns="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a:lstStyle>
          <a:p>
            <a:pPr marL="0" marR="0" lvl="0" indent="0" algn="ctr" defTabSz="914400" rtl="0" eaLnBrk="1" fontAlgn="auto" latinLnBrk="0" hangingPunct="1">
              <a:lnSpc>
                <a:spcPct val="85000"/>
              </a:lnSpc>
              <a:spcBef>
                <a:spcPts val="0"/>
              </a:spcBef>
              <a:spcAft>
                <a:spcPts val="400"/>
              </a:spcAft>
              <a:buClrTx/>
              <a:buSzTx/>
              <a:buFont typeface="Arial" panose="020B0604020202020204" pitchFamily="34" charset="0"/>
              <a:buNone/>
              <a:tabLst/>
              <a:defRPr/>
            </a:pPr>
            <a:r>
              <a:rPr kumimoji="0" lang="en-US" sz="12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Up to 80% savings</a:t>
            </a:r>
            <a:br>
              <a:rPr kumimoji="0" lang="en-US" sz="1200" b="0"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br>
            <a:r>
              <a:rPr kumimoji="0" lang="en-US" sz="1000" b="0"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in migration and re-engineering effort</a:t>
            </a:r>
          </a:p>
        </p:txBody>
      </p:sp>
      <p:sp>
        <p:nvSpPr>
          <p:cNvPr id="52" name="TextBox 20">
            <a:extLst>
              <a:ext uri="{FF2B5EF4-FFF2-40B4-BE49-F238E27FC236}">
                <a16:creationId xmlns:a16="http://schemas.microsoft.com/office/drawing/2014/main" id="{D69FF4C3-EC87-2F56-93DB-FD9D0BAB47E6}"/>
              </a:ext>
            </a:extLst>
          </p:cNvPr>
          <p:cNvSpPr txBox="1"/>
          <p:nvPr/>
        </p:nvSpPr>
        <p:spPr>
          <a:xfrm>
            <a:off x="2043260" y="5630844"/>
            <a:ext cx="1528306" cy="405496"/>
          </a:xfrm>
          <a:prstGeom prst="rect">
            <a:avLst/>
          </a:prstGeom>
          <a:noFill/>
        </p:spPr>
        <p:txBody>
          <a:bodyPr wrap="square" lIns="0" tIns="0" rIns="0" bIns="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a:lstStyle>
          <a:p>
            <a:pPr marL="0" marR="0" lvl="0" indent="0" algn="ctr" defTabSz="914400" rtl="0" eaLnBrk="1" fontAlgn="auto" latinLnBrk="0" hangingPunct="1">
              <a:lnSpc>
                <a:spcPct val="85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Less than 12 months </a:t>
            </a:r>
            <a:br>
              <a:rPr kumimoji="0" lang="en-US" sz="1000" b="0"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br>
            <a:r>
              <a:rPr kumimoji="0" lang="en-US" sz="1000" b="0"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to modernize, where it used to take 3–5 years</a:t>
            </a:r>
          </a:p>
        </p:txBody>
      </p:sp>
      <p:sp>
        <p:nvSpPr>
          <p:cNvPr id="53" name="Text Placeholder 9">
            <a:extLst>
              <a:ext uri="{FF2B5EF4-FFF2-40B4-BE49-F238E27FC236}">
                <a16:creationId xmlns:a16="http://schemas.microsoft.com/office/drawing/2014/main" id="{E691D416-7631-B5C3-7414-8673703BA102}"/>
              </a:ext>
            </a:extLst>
          </p:cNvPr>
          <p:cNvSpPr txBox="1">
            <a:spLocks/>
          </p:cNvSpPr>
          <p:nvPr/>
        </p:nvSpPr>
        <p:spPr>
          <a:xfrm>
            <a:off x="469230" y="5674317"/>
            <a:ext cx="1173680" cy="3323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0" i="0" kern="1200">
                <a:solidFill>
                  <a:schemeClr val="tx1"/>
                </a:solidFill>
                <a:latin typeface="+mn-lt"/>
                <a:ea typeface="+mn-ea"/>
                <a:cs typeface="+mn-cs"/>
              </a:defRPr>
            </a:lvl1pPr>
            <a:lvl2pPr marL="285750" indent="-276225" algn="l" defTabSz="914400" rtl="0" eaLnBrk="1" latinLnBrk="0" hangingPunct="1">
              <a:lnSpc>
                <a:spcPct val="100000"/>
              </a:lnSpc>
              <a:spcBef>
                <a:spcPts val="0"/>
              </a:spcBef>
              <a:spcAft>
                <a:spcPts val="600"/>
              </a:spcAft>
              <a:buFont typeface="Arial" panose="020B0604020202020204" pitchFamily="34" charset="0"/>
              <a:buChar char="•"/>
              <a:tabLst/>
              <a:defRPr sz="1200" b="0" i="0" kern="1200">
                <a:solidFill>
                  <a:schemeClr val="tx1"/>
                </a:solidFill>
                <a:latin typeface="+mn-lt"/>
                <a:ea typeface="+mn-ea"/>
                <a:cs typeface="+mn-cs"/>
              </a:defRPr>
            </a:lvl2pPr>
            <a:lvl3pPr marL="628650" indent="-285750" algn="l" defTabSz="914400" rtl="0" eaLnBrk="1" latinLnBrk="0" hangingPunct="1">
              <a:lnSpc>
                <a:spcPct val="100000"/>
              </a:lnSpc>
              <a:spcBef>
                <a:spcPts val="0"/>
              </a:spcBef>
              <a:spcAft>
                <a:spcPts val="600"/>
              </a:spcAft>
              <a:buFont typeface="Arial" panose="020B0604020202020204" pitchFamily="34" charset="0"/>
              <a:buChar char="•"/>
              <a:tabLst/>
              <a:defRPr sz="1200" b="0" i="0" kern="1200">
                <a:solidFill>
                  <a:schemeClr val="tx1"/>
                </a:solidFill>
                <a:latin typeface="+mn-lt"/>
                <a:ea typeface="+mn-ea"/>
                <a:cs typeface="+mn-cs"/>
              </a:defRPr>
            </a:lvl3pPr>
            <a:lvl4pPr marL="973138" indent="-276225" algn="l" defTabSz="914400" rtl="0" eaLnBrk="1" latinLnBrk="0" hangingPunct="1">
              <a:lnSpc>
                <a:spcPct val="100000"/>
              </a:lnSpc>
              <a:spcBef>
                <a:spcPts val="0"/>
              </a:spcBef>
              <a:spcAft>
                <a:spcPts val="600"/>
              </a:spcAft>
              <a:buFont typeface="Arial" panose="020B0604020202020204" pitchFamily="34" charset="0"/>
              <a:buChar char="•"/>
              <a:tabLst/>
              <a:defRPr sz="1200" b="0" i="0" kern="1200">
                <a:solidFill>
                  <a:schemeClr val="tx1"/>
                </a:solidFill>
                <a:latin typeface="+mn-lt"/>
                <a:ea typeface="+mn-ea"/>
                <a:cs typeface="+mn-cs"/>
              </a:defRPr>
            </a:lvl4pPr>
            <a:lvl5pPr marL="1317625" indent="-287338" algn="l" defTabSz="914400" rtl="0" eaLnBrk="1" latinLnBrk="0" hangingPunct="1">
              <a:lnSpc>
                <a:spcPct val="100000"/>
              </a:lnSpc>
              <a:spcBef>
                <a:spcPts val="0"/>
              </a:spcBef>
              <a:spcAft>
                <a:spcPts val="600"/>
              </a:spcAft>
              <a:buFont typeface="Arial" panose="020B0604020202020204" pitchFamily="34" charset="0"/>
              <a:buChar char="•"/>
              <a:tabLst/>
              <a:defRPr sz="1200" b="0" i="0" kern="1200">
                <a:solidFill>
                  <a:schemeClr val="tx1"/>
                </a:solidFill>
                <a:latin typeface="+mn-lt"/>
                <a:ea typeface="+mn-ea"/>
                <a:cs typeface="+mn-cs"/>
              </a:defRPr>
            </a:lvl5pPr>
            <a:lvl6pPr marL="182880" indent="-182880" algn="l" defTabSz="914400" rtl="0" eaLnBrk="1" latinLnBrk="0" hangingPunct="1">
              <a:lnSpc>
                <a:spcPct val="100000"/>
              </a:lnSpc>
              <a:spcBef>
                <a:spcPts val="0"/>
              </a:spcBef>
              <a:spcAft>
                <a:spcPts val="400"/>
              </a:spcAft>
              <a:buFont typeface="Arial" panose="020B0604020202020204" pitchFamily="34" charset="0"/>
              <a:buAutoNum type="arabicPeriod"/>
              <a:defRPr sz="1200" kern="1200">
                <a:solidFill>
                  <a:schemeClr val="tx1"/>
                </a:solidFill>
                <a:latin typeface="+mn-lt"/>
                <a:ea typeface="+mn-ea"/>
                <a:cs typeface="+mn-cs"/>
              </a:defRPr>
            </a:lvl6pPr>
            <a:lvl7pPr marL="365760" indent="-182880" algn="l" defTabSz="914400" rtl="0" eaLnBrk="1" latinLnBrk="0" hangingPunct="1">
              <a:lnSpc>
                <a:spcPct val="100000"/>
              </a:lnSpc>
              <a:spcBef>
                <a:spcPts val="0"/>
              </a:spcBef>
              <a:spcAft>
                <a:spcPts val="600"/>
              </a:spcAft>
              <a:buFont typeface="Arial" panose="020B0604020202020204" pitchFamily="34" charset="0"/>
              <a:buAutoNum type="arabicPeriod"/>
              <a:defRPr sz="1200" kern="1200">
                <a:solidFill>
                  <a:schemeClr val="tx1"/>
                </a:solidFill>
                <a:latin typeface="+mn-lt"/>
                <a:ea typeface="+mn-ea"/>
                <a:cs typeface="+mn-cs"/>
              </a:defRPr>
            </a:lvl7pPr>
            <a:lvl8pPr marL="548640" indent="-18288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400" b="1"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lang="en-US" b="1">
                <a:latin typeface="Arial" panose="020B0604020202020204"/>
              </a:rPr>
              <a:t>VALUE</a:t>
            </a:r>
          </a:p>
          <a:p>
            <a:pPr marL="0" marR="0" lvl="0" indent="0"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b="1" i="0" u="none" strike="noStrike" kern="1200" cap="none" spc="0" normalizeH="0" baseline="0" noProof="0">
                <a:ln>
                  <a:noFill/>
                </a:ln>
                <a:effectLst/>
                <a:uLnTx/>
                <a:uFillTx/>
                <a:latin typeface="Arial" panose="020B0604020202020204"/>
                <a:ea typeface="+mn-ea"/>
                <a:cs typeface="+mn-cs"/>
              </a:rPr>
              <a:t>DELIVERED</a:t>
            </a:r>
          </a:p>
        </p:txBody>
      </p:sp>
      <p:cxnSp>
        <p:nvCxnSpPr>
          <p:cNvPr id="54" name="Straight Connector 53">
            <a:extLst>
              <a:ext uri="{FF2B5EF4-FFF2-40B4-BE49-F238E27FC236}">
                <a16:creationId xmlns:a16="http://schemas.microsoft.com/office/drawing/2014/main" id="{61729B3F-2230-81A7-2B65-37F25274CBA9}"/>
              </a:ext>
            </a:extLst>
          </p:cNvPr>
          <p:cNvCxnSpPr>
            <a:cxnSpLocks/>
          </p:cNvCxnSpPr>
          <p:nvPr/>
        </p:nvCxnSpPr>
        <p:spPr>
          <a:xfrm>
            <a:off x="3867141" y="5650712"/>
            <a:ext cx="0" cy="365760"/>
          </a:xfrm>
          <a:prstGeom prst="line">
            <a:avLst/>
          </a:prstGeom>
          <a:ln w="12700" cap="rnd">
            <a:solidFill>
              <a:schemeClr val="accent3"/>
            </a:soli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2AB9C0A-42A3-BD4A-B584-19385F2D863D}"/>
              </a:ext>
            </a:extLst>
          </p:cNvPr>
          <p:cNvCxnSpPr>
            <a:cxnSpLocks/>
          </p:cNvCxnSpPr>
          <p:nvPr/>
        </p:nvCxnSpPr>
        <p:spPr>
          <a:xfrm>
            <a:off x="6284198" y="5650712"/>
            <a:ext cx="0" cy="365760"/>
          </a:xfrm>
          <a:prstGeom prst="line">
            <a:avLst/>
          </a:prstGeom>
          <a:ln w="127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56" name="Isosceles Triangle 55">
            <a:extLst>
              <a:ext uri="{FF2B5EF4-FFF2-40B4-BE49-F238E27FC236}">
                <a16:creationId xmlns:a16="http://schemas.microsoft.com/office/drawing/2014/main" id="{3F936A74-68EE-83E3-6B0C-148B1CB60BC7}"/>
              </a:ext>
            </a:extLst>
          </p:cNvPr>
          <p:cNvSpPr/>
          <p:nvPr/>
        </p:nvSpPr>
        <p:spPr bwMode="auto">
          <a:xfrm rot="5400000">
            <a:off x="1450968" y="5771937"/>
            <a:ext cx="274320" cy="137160"/>
          </a:xfrm>
          <a:prstGeom prst="triangle">
            <a:avLst/>
          </a:prstGeom>
          <a:solidFill>
            <a:schemeClr val="tx2"/>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8" name="TextBox 57">
            <a:extLst>
              <a:ext uri="{FF2B5EF4-FFF2-40B4-BE49-F238E27FC236}">
                <a16:creationId xmlns:a16="http://schemas.microsoft.com/office/drawing/2014/main" id="{1CC81542-038A-F802-F498-E842F7E6ABF2}"/>
              </a:ext>
            </a:extLst>
          </p:cNvPr>
          <p:cNvSpPr txBox="1"/>
          <p:nvPr/>
        </p:nvSpPr>
        <p:spPr>
          <a:xfrm>
            <a:off x="469230" y="1441202"/>
            <a:ext cx="10801744" cy="646331"/>
          </a:xfrm>
          <a:prstGeom prst="rect">
            <a:avLst/>
          </a:prstGeom>
          <a:noFill/>
        </p:spPr>
        <p:txBody>
          <a:bodyPr wrap="square" lIns="0" tIns="0" rIns="0" bIns="0">
            <a:spAutoFit/>
          </a:bodyPr>
          <a:lstStyle/>
          <a:p>
            <a:r>
              <a:rPr kumimoji="0" lang="en-US" sz="1400" b="0"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Unlike coding agents, Intellio</a:t>
            </a:r>
            <a:r>
              <a:rPr kumimoji="0" lang="en-US" sz="1400" b="0" i="0" u="none" strike="noStrike" kern="1200" cap="none" spc="0" normalizeH="0" baseline="30000" noProof="0">
                <a:ln>
                  <a:noFill/>
                </a:ln>
                <a:solidFill>
                  <a:srgbClr val="070154"/>
                </a:solidFill>
                <a:effectLst/>
                <a:uLnTx/>
                <a:uFillTx/>
                <a:latin typeface="Arial" panose="020B0604020202020204"/>
                <a:cs typeface="Arial" panose="020B0604020202020204" pitchFamily="34" charset="0"/>
              </a:rPr>
              <a:t>®</a:t>
            </a:r>
            <a:r>
              <a:rPr kumimoji="0" lang="en-US" sz="1400" b="0"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 Evolve goes </a:t>
            </a:r>
            <a:r>
              <a:rPr kumimoji="0" lang="en-US" sz="1400" b="1" i="0" u="none" strike="noStrike" kern="1200" cap="none" spc="0" normalizeH="0" baseline="0" noProof="0">
                <a:ln>
                  <a:noFill/>
                </a:ln>
                <a:solidFill>
                  <a:schemeClr val="tx2"/>
                </a:solidFill>
                <a:effectLst/>
                <a:uLnTx/>
                <a:uFillTx/>
                <a:latin typeface="Arial" panose="020B0604020202020204"/>
                <a:cs typeface="Arial" panose="020B0604020202020204" pitchFamily="34" charset="0"/>
              </a:rPr>
              <a:t>beyond just code modernization</a:t>
            </a:r>
            <a:r>
              <a:rPr kumimoji="0" lang="en-US" sz="1400" b="0"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 It deepens legacy software understanding—converting “tribal knowledge” into structured insight. And it combines agentic workflows and an AI-powered SDLC delivery approach with co-creation alongside client teams to ensure a successful and sustained transformation.</a:t>
            </a:r>
            <a:endParaRPr lang="en-US" sz="1400"/>
          </a:p>
        </p:txBody>
      </p:sp>
      <p:pic>
        <p:nvPicPr>
          <p:cNvPr id="64" name="Graphic 63">
            <a:extLst>
              <a:ext uri="{FF2B5EF4-FFF2-40B4-BE49-F238E27FC236}">
                <a16:creationId xmlns:a16="http://schemas.microsoft.com/office/drawing/2014/main" id="{1DAF3648-4266-9F63-D912-79CA3E40FFE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rot="120000">
            <a:off x="4419452" y="1782411"/>
            <a:ext cx="778713" cy="583516"/>
          </a:xfrm>
          <a:prstGeom prst="rect">
            <a:avLst/>
          </a:prstGeom>
        </p:spPr>
      </p:pic>
    </p:spTree>
    <p:extLst>
      <p:ext uri="{BB962C8B-B14F-4D97-AF65-F5344CB8AC3E}">
        <p14:creationId xmlns:p14="http://schemas.microsoft.com/office/powerpoint/2010/main" val="30126652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ACDA29F-95E2-B529-991C-A6007288B862}"/>
              </a:ext>
            </a:extLst>
          </p:cNvPr>
          <p:cNvSpPr/>
          <p:nvPr/>
        </p:nvSpPr>
        <p:spPr bwMode="auto">
          <a:xfrm>
            <a:off x="-1" y="2362200"/>
            <a:ext cx="9052383" cy="3067050"/>
          </a:xfrm>
          <a:prstGeom prst="rect">
            <a:avLst/>
          </a:prstGeom>
          <a:solidFill>
            <a:schemeClr val="accent4"/>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7" name="Rectangle: Rounded Corners 26">
            <a:extLst>
              <a:ext uri="{FF2B5EF4-FFF2-40B4-BE49-F238E27FC236}">
                <a16:creationId xmlns:a16="http://schemas.microsoft.com/office/drawing/2014/main" id="{B7C4FB2C-01A6-D537-CA5F-A1C87F42C80B}"/>
              </a:ext>
            </a:extLst>
          </p:cNvPr>
          <p:cNvSpPr/>
          <p:nvPr/>
        </p:nvSpPr>
        <p:spPr bwMode="auto">
          <a:xfrm>
            <a:off x="2602243" y="2670309"/>
            <a:ext cx="3543297" cy="2581039"/>
          </a:xfrm>
          <a:prstGeom prst="roundRect">
            <a:avLst>
              <a:gd name="adj" fmla="val 6012"/>
            </a:avLst>
          </a:prstGeom>
          <a:solidFill>
            <a:schemeClr val="accent3"/>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pic>
        <p:nvPicPr>
          <p:cNvPr id="63" name="Picture 62">
            <a:extLst>
              <a:ext uri="{FF2B5EF4-FFF2-40B4-BE49-F238E27FC236}">
                <a16:creationId xmlns:a16="http://schemas.microsoft.com/office/drawing/2014/main" id="{3A0ADBB3-6142-0891-1E98-1A80CFD6D9D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35240" y="2765151"/>
            <a:ext cx="1278386" cy="431863"/>
          </a:xfrm>
          <a:prstGeom prst="rect">
            <a:avLst/>
          </a:prstGeom>
        </p:spPr>
      </p:pic>
      <p:pic>
        <p:nvPicPr>
          <p:cNvPr id="48" name="Graphic 47">
            <a:extLst>
              <a:ext uri="{FF2B5EF4-FFF2-40B4-BE49-F238E27FC236}">
                <a16:creationId xmlns:a16="http://schemas.microsoft.com/office/drawing/2014/main" id="{B76516E3-9BB1-E027-5B3A-88A1182853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710200" flipV="1">
            <a:off x="8177609" y="1940726"/>
            <a:ext cx="971236" cy="971236"/>
          </a:xfrm>
          <a:prstGeom prst="rect">
            <a:avLst/>
          </a:prstGeom>
        </p:spPr>
      </p:pic>
      <p:sp>
        <p:nvSpPr>
          <p:cNvPr id="2" name="Footer Placeholder 1">
            <a:extLst>
              <a:ext uri="{FF2B5EF4-FFF2-40B4-BE49-F238E27FC236}">
                <a16:creationId xmlns:a16="http://schemas.microsoft.com/office/drawing/2014/main" id="{B84A8006-FA77-FE3B-7C75-217F91A86023}"/>
              </a:ext>
            </a:extLst>
          </p:cNvPr>
          <p:cNvSpPr>
            <a:spLocks noGrp="1"/>
          </p:cNvSpPr>
          <p:nvPr>
            <p:ph type="ftr" sz="quarter" idx="24"/>
          </p:nvPr>
        </p:nvSpPr>
        <p:spPr/>
        <p:txBody>
          <a:bodyPr/>
          <a:lstStyle/>
          <a:p>
            <a:r>
              <a:rPr lang="en-US"/>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DF5DD677-8E14-F860-0D08-7EE0D06E46FB}"/>
              </a:ext>
            </a:extLst>
          </p:cNvPr>
          <p:cNvSpPr>
            <a:spLocks noGrp="1"/>
          </p:cNvSpPr>
          <p:nvPr>
            <p:ph type="sldNum" sz="quarter" idx="25"/>
          </p:nvPr>
        </p:nvSpPr>
        <p:spPr>
          <a:xfrm>
            <a:off x="11509578" y="6400799"/>
            <a:ext cx="218871" cy="167949"/>
          </a:xfrm>
        </p:spPr>
        <p:txBody>
          <a:bodyPr/>
          <a:lstStyle/>
          <a:p>
            <a:fld id="{63DCA5C9-2E11-4C67-86EB-AE1DE127DC64}" type="slidenum">
              <a:rPr lang="en-US" smtClean="0"/>
              <a:pPr/>
              <a:t>45</a:t>
            </a:fld>
            <a:endParaRPr lang="en-US"/>
          </a:p>
        </p:txBody>
      </p:sp>
      <p:sp>
        <p:nvSpPr>
          <p:cNvPr id="22" name="Text Placeholder 21">
            <a:extLst>
              <a:ext uri="{FF2B5EF4-FFF2-40B4-BE49-F238E27FC236}">
                <a16:creationId xmlns:a16="http://schemas.microsoft.com/office/drawing/2014/main" id="{39E3EBF9-D748-3B62-78A3-9D03C8A5DC88}"/>
              </a:ext>
            </a:extLst>
          </p:cNvPr>
          <p:cNvSpPr>
            <a:spLocks noGrp="1"/>
          </p:cNvSpPr>
          <p:nvPr>
            <p:ph type="body" sz="quarter" idx="44"/>
          </p:nvPr>
        </p:nvSpPr>
        <p:spPr/>
        <p:txBody>
          <a:bodyPr/>
          <a:lstStyle/>
          <a:p>
            <a:pPr algn="l"/>
            <a:r>
              <a:rPr lang="en-US" sz="900" b="1">
                <a:solidFill>
                  <a:srgbClr val="50627A"/>
                </a:solidFill>
                <a:latin typeface="Arial"/>
              </a:rPr>
              <a:t>BUSINESS-LED MODERNIZATION</a:t>
            </a:r>
            <a:endParaRPr lang="en-US" sz="900"/>
          </a:p>
        </p:txBody>
      </p:sp>
      <p:sp>
        <p:nvSpPr>
          <p:cNvPr id="23" name="Title 4">
            <a:extLst>
              <a:ext uri="{FF2B5EF4-FFF2-40B4-BE49-F238E27FC236}">
                <a16:creationId xmlns:a16="http://schemas.microsoft.com/office/drawing/2014/main" id="{7604765D-55DF-1E93-0013-798EF55AC448}"/>
              </a:ext>
            </a:extLst>
          </p:cNvPr>
          <p:cNvSpPr>
            <a:spLocks noGrp="1"/>
          </p:cNvSpPr>
          <p:nvPr>
            <p:ph type="title"/>
          </p:nvPr>
        </p:nvSpPr>
        <p:spPr>
          <a:xfrm>
            <a:off x="460374" y="556953"/>
            <a:ext cx="11266489" cy="784830"/>
          </a:xfrm>
        </p:spPr>
        <p:txBody>
          <a:bodyPr wrap="square">
            <a:spAutoFit/>
          </a:bodyPr>
          <a:lstStyle/>
          <a:p>
            <a:pPr algn="l"/>
            <a:r>
              <a:rPr lang="en-US" sz="2200">
                <a:solidFill>
                  <a:srgbClr val="070154"/>
                </a:solidFill>
                <a:latin typeface="Arial"/>
              </a:rPr>
              <a:t>Intellio® Evolve turns legacy-system complexity into a business-led modernization roadmap.</a:t>
            </a:r>
            <a:endParaRPr lang="en-US" sz="2200"/>
          </a:p>
        </p:txBody>
      </p:sp>
      <p:sp>
        <p:nvSpPr>
          <p:cNvPr id="25" name="Rectangle 24">
            <a:extLst>
              <a:ext uri="{FF2B5EF4-FFF2-40B4-BE49-F238E27FC236}">
                <a16:creationId xmlns:a16="http://schemas.microsoft.com/office/drawing/2014/main" id="{43A7BEAB-CD81-1434-783B-431EEA81CDB3}"/>
              </a:ext>
            </a:extLst>
          </p:cNvPr>
          <p:cNvSpPr/>
          <p:nvPr/>
        </p:nvSpPr>
        <p:spPr bwMode="auto">
          <a:xfrm>
            <a:off x="465137" y="2670310"/>
            <a:ext cx="1892194" cy="2472472"/>
          </a:xfrm>
          <a:prstGeom prst="rect">
            <a:avLst/>
          </a:prstGeom>
          <a:solidFill>
            <a:schemeClr val="bg1">
              <a:alpha val="60000"/>
            </a:schemeClr>
          </a:solidFill>
          <a:ln>
            <a:noFill/>
          </a:ln>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spAutoFit/>
          </a:bodyPr>
          <a:lstStyle/>
          <a:p>
            <a:pPr algn="l"/>
            <a:r>
              <a:rPr lang="en-US" sz="850" b="1" dirty="0">
                <a:solidFill>
                  <a:srgbClr val="50627A"/>
                </a:solidFill>
                <a:latin typeface="Arial"/>
              </a:rPr>
              <a:t>BUSINESS PRIORITIES</a:t>
            </a:r>
            <a:endParaRPr lang="en-US" sz="850" dirty="0"/>
          </a:p>
          <a:p>
            <a:pPr algn="l"/>
            <a:endParaRPr lang="en-US" sz="700" dirty="0"/>
          </a:p>
          <a:p>
            <a:pPr algn="l"/>
            <a:r>
              <a:rPr lang="en-US" sz="1100" b="1" dirty="0">
                <a:solidFill>
                  <a:srgbClr val="070154"/>
                </a:solidFill>
                <a:latin typeface="Arial"/>
              </a:rPr>
              <a:t>Service &amp; experience</a:t>
            </a:r>
            <a:endParaRPr lang="en-US" sz="1100" dirty="0"/>
          </a:p>
          <a:p>
            <a:pPr algn="l"/>
            <a:r>
              <a:rPr lang="en-US" sz="950" dirty="0">
                <a:solidFill>
                  <a:srgbClr val="070154"/>
                </a:solidFill>
                <a:latin typeface="Arial"/>
              </a:rPr>
              <a:t>Speed, access, accuracy</a:t>
            </a:r>
            <a:endParaRPr lang="en-US" sz="950" dirty="0"/>
          </a:p>
          <a:p>
            <a:pPr algn="l"/>
            <a:endParaRPr lang="en-US" sz="650" dirty="0"/>
          </a:p>
          <a:p>
            <a:pPr algn="l"/>
            <a:r>
              <a:rPr lang="en-US" sz="1100" b="1" dirty="0">
                <a:solidFill>
                  <a:srgbClr val="070154"/>
                </a:solidFill>
                <a:latin typeface="Arial"/>
              </a:rPr>
              <a:t>Operational performance</a:t>
            </a:r>
            <a:endParaRPr lang="en-US" sz="1100" dirty="0"/>
          </a:p>
          <a:p>
            <a:pPr algn="l"/>
            <a:r>
              <a:rPr lang="en-US" sz="950" dirty="0">
                <a:solidFill>
                  <a:srgbClr val="070154"/>
                </a:solidFill>
                <a:latin typeface="Arial"/>
              </a:rPr>
              <a:t>Cycle time, productivity</a:t>
            </a:r>
            <a:endParaRPr lang="en-US" sz="950" dirty="0"/>
          </a:p>
          <a:p>
            <a:pPr algn="l"/>
            <a:endParaRPr lang="en-US" sz="650" dirty="0"/>
          </a:p>
          <a:p>
            <a:pPr algn="l"/>
            <a:r>
              <a:rPr lang="en-US" sz="1100" b="1" dirty="0">
                <a:solidFill>
                  <a:srgbClr val="070154"/>
                </a:solidFill>
                <a:latin typeface="Arial"/>
              </a:rPr>
              <a:t>Risk &amp; constraints</a:t>
            </a:r>
            <a:endParaRPr lang="en-US" sz="1100" dirty="0"/>
          </a:p>
          <a:p>
            <a:pPr algn="l"/>
            <a:r>
              <a:rPr lang="en-US" sz="950" dirty="0">
                <a:solidFill>
                  <a:srgbClr val="070154"/>
                </a:solidFill>
                <a:latin typeface="Arial"/>
              </a:rPr>
              <a:t>Controls, regulation, budget</a:t>
            </a:r>
            <a:endParaRPr lang="en-US" sz="950" dirty="0"/>
          </a:p>
        </p:txBody>
      </p:sp>
      <p:sp>
        <p:nvSpPr>
          <p:cNvPr id="29" name="Rectangle: Rounded Corners 28">
            <a:extLst>
              <a:ext uri="{FF2B5EF4-FFF2-40B4-BE49-F238E27FC236}">
                <a16:creationId xmlns:a16="http://schemas.microsoft.com/office/drawing/2014/main" id="{C4326F80-7298-8CFE-F36F-092FAEC154B9}"/>
              </a:ext>
            </a:extLst>
          </p:cNvPr>
          <p:cNvSpPr/>
          <p:nvPr/>
        </p:nvSpPr>
        <p:spPr bwMode="auto">
          <a:xfrm>
            <a:off x="2746840" y="3297349"/>
            <a:ext cx="3254103" cy="431863"/>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r>
              <a:rPr lang="en-US" sz="950" b="1">
                <a:latin typeface="Arial"/>
              </a:rPr>
              <a:t>Decision Intelligence: </a:t>
            </a:r>
            <a:r>
              <a:rPr lang="en-US" sz="950">
                <a:latin typeface="Arial"/>
              </a:rPr>
              <a:t>Connects priorities to evidence, tradeoffs, and choices</a:t>
            </a:r>
          </a:p>
        </p:txBody>
      </p:sp>
      <p:sp>
        <p:nvSpPr>
          <p:cNvPr id="30" name="Rectangle: Rounded Corners 29">
            <a:extLst>
              <a:ext uri="{FF2B5EF4-FFF2-40B4-BE49-F238E27FC236}">
                <a16:creationId xmlns:a16="http://schemas.microsoft.com/office/drawing/2014/main" id="{EA3F9FC3-4074-BC4D-245B-4A6F17A1CA01}"/>
              </a:ext>
            </a:extLst>
          </p:cNvPr>
          <p:cNvSpPr/>
          <p:nvPr/>
        </p:nvSpPr>
        <p:spPr bwMode="auto">
          <a:xfrm>
            <a:off x="2746840" y="3824200"/>
            <a:ext cx="3254103" cy="538404"/>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r>
              <a:rPr lang="en-US" sz="1200" b="1">
                <a:solidFill>
                  <a:srgbClr val="070154"/>
                </a:solidFill>
                <a:latin typeface="Arial"/>
              </a:rPr>
              <a:t>Shared Modernization View</a:t>
            </a:r>
            <a:endParaRPr lang="en-US" sz="1200"/>
          </a:p>
          <a:p>
            <a:pPr algn="ctr"/>
            <a:r>
              <a:rPr lang="en-US" sz="1000">
                <a:solidFill>
                  <a:srgbClr val="070154"/>
                </a:solidFill>
                <a:latin typeface="Arial"/>
              </a:rPr>
              <a:t>Processes  |  systems  |  dependencies</a:t>
            </a:r>
            <a:endParaRPr lang="en-US" sz="1000"/>
          </a:p>
        </p:txBody>
      </p:sp>
      <p:sp>
        <p:nvSpPr>
          <p:cNvPr id="31" name="Rectangle: Rounded Corners 30">
            <a:extLst>
              <a:ext uri="{FF2B5EF4-FFF2-40B4-BE49-F238E27FC236}">
                <a16:creationId xmlns:a16="http://schemas.microsoft.com/office/drawing/2014/main" id="{CF66EEEC-9D67-B0BE-0EBD-FED7A4978626}"/>
              </a:ext>
            </a:extLst>
          </p:cNvPr>
          <p:cNvSpPr/>
          <p:nvPr/>
        </p:nvSpPr>
        <p:spPr bwMode="auto">
          <a:xfrm>
            <a:off x="2746841" y="4453008"/>
            <a:ext cx="1581609" cy="293327"/>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r>
              <a:rPr lang="en-US" sz="1000">
                <a:solidFill>
                  <a:srgbClr val="070154"/>
                </a:solidFill>
                <a:latin typeface="Arial"/>
              </a:rPr>
              <a:t>Process insights</a:t>
            </a:r>
            <a:endParaRPr lang="en-US" sz="1000"/>
          </a:p>
        </p:txBody>
      </p:sp>
      <p:sp>
        <p:nvSpPr>
          <p:cNvPr id="32" name="Rectangle: Rounded Corners 31">
            <a:extLst>
              <a:ext uri="{FF2B5EF4-FFF2-40B4-BE49-F238E27FC236}">
                <a16:creationId xmlns:a16="http://schemas.microsoft.com/office/drawing/2014/main" id="{63F800E1-739E-7018-249E-593C469B53BB}"/>
              </a:ext>
            </a:extLst>
          </p:cNvPr>
          <p:cNvSpPr/>
          <p:nvPr/>
        </p:nvSpPr>
        <p:spPr bwMode="auto">
          <a:xfrm>
            <a:off x="2746840" y="4837019"/>
            <a:ext cx="1581609" cy="293327"/>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r>
              <a:rPr lang="en-US" sz="1000">
                <a:solidFill>
                  <a:srgbClr val="070154"/>
                </a:solidFill>
                <a:latin typeface="Arial"/>
              </a:rPr>
              <a:t>Recommendations</a:t>
            </a:r>
            <a:endParaRPr lang="en-US" sz="1000"/>
          </a:p>
        </p:txBody>
      </p:sp>
      <p:sp>
        <p:nvSpPr>
          <p:cNvPr id="33" name="Rectangle: Rounded Corners 32">
            <a:extLst>
              <a:ext uri="{FF2B5EF4-FFF2-40B4-BE49-F238E27FC236}">
                <a16:creationId xmlns:a16="http://schemas.microsoft.com/office/drawing/2014/main" id="{3FE2FC74-29AE-AB4F-FC5A-DAD9C2228024}"/>
              </a:ext>
            </a:extLst>
          </p:cNvPr>
          <p:cNvSpPr/>
          <p:nvPr/>
        </p:nvSpPr>
        <p:spPr bwMode="auto">
          <a:xfrm>
            <a:off x="4419334" y="4453008"/>
            <a:ext cx="1581609" cy="293327"/>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r>
              <a:rPr lang="en-US" sz="1000">
                <a:solidFill>
                  <a:srgbClr val="070154"/>
                </a:solidFill>
                <a:latin typeface="Arial"/>
              </a:rPr>
              <a:t>Risk &amp; dependencies</a:t>
            </a:r>
            <a:endParaRPr lang="en-US" sz="1000"/>
          </a:p>
        </p:txBody>
      </p:sp>
      <p:sp>
        <p:nvSpPr>
          <p:cNvPr id="34" name="Rectangle: Rounded Corners 33">
            <a:extLst>
              <a:ext uri="{FF2B5EF4-FFF2-40B4-BE49-F238E27FC236}">
                <a16:creationId xmlns:a16="http://schemas.microsoft.com/office/drawing/2014/main" id="{EF10B802-7D41-35B5-09EF-89144669EF76}"/>
              </a:ext>
            </a:extLst>
          </p:cNvPr>
          <p:cNvSpPr/>
          <p:nvPr/>
        </p:nvSpPr>
        <p:spPr bwMode="auto">
          <a:xfrm>
            <a:off x="4419333" y="4837019"/>
            <a:ext cx="1581609" cy="293327"/>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r>
              <a:rPr lang="en-US" sz="1000">
                <a:solidFill>
                  <a:srgbClr val="070154"/>
                </a:solidFill>
                <a:latin typeface="Arial"/>
              </a:rPr>
              <a:t>Sequencing tools</a:t>
            </a:r>
            <a:endParaRPr lang="en-US" sz="1000"/>
          </a:p>
        </p:txBody>
      </p:sp>
      <p:pic>
        <p:nvPicPr>
          <p:cNvPr id="35" name="Graphic 34">
            <a:extLst>
              <a:ext uri="{FF2B5EF4-FFF2-40B4-BE49-F238E27FC236}">
                <a16:creationId xmlns:a16="http://schemas.microsoft.com/office/drawing/2014/main" id="{718251FF-735A-8A6B-AB89-858E09FA30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09998" y="2540103"/>
            <a:ext cx="605103" cy="605103"/>
          </a:xfrm>
          <a:prstGeom prst="rect">
            <a:avLst/>
          </a:prstGeom>
        </p:spPr>
      </p:pic>
      <p:sp>
        <p:nvSpPr>
          <p:cNvPr id="36" name="Rectangle 35">
            <a:extLst>
              <a:ext uri="{FF2B5EF4-FFF2-40B4-BE49-F238E27FC236}">
                <a16:creationId xmlns:a16="http://schemas.microsoft.com/office/drawing/2014/main" id="{FCC4CF3B-E8C0-E57B-B651-30A473721D85}"/>
              </a:ext>
            </a:extLst>
          </p:cNvPr>
          <p:cNvSpPr/>
          <p:nvPr/>
        </p:nvSpPr>
        <p:spPr bwMode="auto">
          <a:xfrm>
            <a:off x="6396302" y="2670310"/>
            <a:ext cx="1606062" cy="2631490"/>
          </a:xfrm>
          <a:prstGeom prst="rect">
            <a:avLst/>
          </a:prstGeom>
          <a:solidFill>
            <a:schemeClr val="bg1">
              <a:alpha val="60000"/>
            </a:schemeClr>
          </a:solidFill>
          <a:ln>
            <a:noFill/>
          </a:ln>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spAutoFit/>
          </a:bodyPr>
          <a:lstStyle/>
          <a:p>
            <a:pPr algn="r"/>
            <a:r>
              <a:rPr lang="en-US" sz="850" b="1" dirty="0">
                <a:solidFill>
                  <a:srgbClr val="50627A"/>
                </a:solidFill>
                <a:latin typeface="Arial"/>
              </a:rPr>
              <a:t>BUSINESS OUTPUTS</a:t>
            </a:r>
            <a:endParaRPr lang="en-US" sz="850" dirty="0"/>
          </a:p>
          <a:p>
            <a:pPr algn="r"/>
            <a:endParaRPr lang="en-US" sz="700" dirty="0"/>
          </a:p>
          <a:p>
            <a:pPr algn="r"/>
            <a:r>
              <a:rPr lang="en-US" sz="1100" b="1" dirty="0">
                <a:solidFill>
                  <a:srgbClr val="070154"/>
                </a:solidFill>
                <a:latin typeface="Arial"/>
              </a:rPr>
              <a:t>Roadmap</a:t>
            </a:r>
            <a:endParaRPr lang="en-US" sz="1100" dirty="0"/>
          </a:p>
          <a:p>
            <a:pPr algn="r"/>
            <a:r>
              <a:rPr lang="en-US" sz="950" dirty="0">
                <a:solidFill>
                  <a:srgbClr val="070154"/>
                </a:solidFill>
                <a:latin typeface="Arial"/>
              </a:rPr>
              <a:t>Prioritized work packages</a:t>
            </a:r>
            <a:endParaRPr lang="en-US" sz="950" dirty="0"/>
          </a:p>
          <a:p>
            <a:pPr algn="r"/>
            <a:r>
              <a:rPr lang="en-US" sz="950" dirty="0">
                <a:solidFill>
                  <a:srgbClr val="070154"/>
                </a:solidFill>
                <a:latin typeface="Arial"/>
              </a:rPr>
              <a:t>Sequenced releases</a:t>
            </a:r>
            <a:endParaRPr lang="en-US" sz="950" dirty="0"/>
          </a:p>
          <a:p>
            <a:pPr algn="r"/>
            <a:endParaRPr lang="en-US" sz="650" dirty="0"/>
          </a:p>
          <a:p>
            <a:pPr algn="r"/>
            <a:r>
              <a:rPr lang="en-US" sz="1100" b="1" dirty="0">
                <a:solidFill>
                  <a:srgbClr val="070154"/>
                </a:solidFill>
                <a:latin typeface="Arial"/>
              </a:rPr>
              <a:t>Investment Case</a:t>
            </a:r>
            <a:endParaRPr lang="en-US" sz="1100" dirty="0"/>
          </a:p>
          <a:p>
            <a:pPr algn="r"/>
            <a:r>
              <a:rPr lang="en-US" sz="950" dirty="0">
                <a:solidFill>
                  <a:srgbClr val="070154"/>
                </a:solidFill>
                <a:latin typeface="Arial"/>
              </a:rPr>
              <a:t>Value, effort, risk</a:t>
            </a:r>
            <a:endParaRPr lang="en-US" sz="950" dirty="0"/>
          </a:p>
          <a:p>
            <a:pPr algn="r"/>
            <a:endParaRPr lang="en-US" sz="650" dirty="0"/>
          </a:p>
          <a:p>
            <a:pPr algn="r"/>
            <a:r>
              <a:rPr lang="en-US" sz="1100" b="1" dirty="0">
                <a:solidFill>
                  <a:srgbClr val="070154"/>
                </a:solidFill>
                <a:latin typeface="Arial"/>
              </a:rPr>
              <a:t>Execution Alignment</a:t>
            </a:r>
            <a:endParaRPr lang="en-US" sz="1100" dirty="0"/>
          </a:p>
          <a:p>
            <a:pPr algn="r"/>
            <a:r>
              <a:rPr lang="en-US" sz="950" dirty="0">
                <a:solidFill>
                  <a:srgbClr val="070154"/>
                </a:solidFill>
                <a:latin typeface="Arial"/>
              </a:rPr>
              <a:t>Owners, decisions, milestones</a:t>
            </a:r>
            <a:endParaRPr lang="en-US" sz="950" dirty="0"/>
          </a:p>
        </p:txBody>
      </p:sp>
      <p:pic>
        <p:nvPicPr>
          <p:cNvPr id="37" name="Graphic 36">
            <a:extLst>
              <a:ext uri="{FF2B5EF4-FFF2-40B4-BE49-F238E27FC236}">
                <a16:creationId xmlns:a16="http://schemas.microsoft.com/office/drawing/2014/main" id="{5F5DA1A4-61DF-27D7-1CD1-6099763EAB7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5931878" y="2540103"/>
            <a:ext cx="605103" cy="605103"/>
          </a:xfrm>
          <a:prstGeom prst="rect">
            <a:avLst/>
          </a:prstGeom>
        </p:spPr>
      </p:pic>
      <p:grpSp>
        <p:nvGrpSpPr>
          <p:cNvPr id="41" name="Group 40">
            <a:extLst>
              <a:ext uri="{FF2B5EF4-FFF2-40B4-BE49-F238E27FC236}">
                <a16:creationId xmlns:a16="http://schemas.microsoft.com/office/drawing/2014/main" id="{C08F7B79-C2FF-0A7C-0CB1-1DF4687357FC}"/>
              </a:ext>
            </a:extLst>
          </p:cNvPr>
          <p:cNvGrpSpPr/>
          <p:nvPr/>
        </p:nvGrpSpPr>
        <p:grpSpPr>
          <a:xfrm>
            <a:off x="8571448" y="2354434"/>
            <a:ext cx="3157001" cy="3529171"/>
            <a:chOff x="8190937" y="1474840"/>
            <a:chExt cx="3157001" cy="3529171"/>
          </a:xfrm>
        </p:grpSpPr>
        <p:sp>
          <p:nvSpPr>
            <p:cNvPr id="42" name="TextBox 41">
              <a:extLst>
                <a:ext uri="{FF2B5EF4-FFF2-40B4-BE49-F238E27FC236}">
                  <a16:creationId xmlns:a16="http://schemas.microsoft.com/office/drawing/2014/main" id="{133D0CEF-8A69-E210-D038-F2AAF983ADDA}"/>
                </a:ext>
              </a:extLst>
            </p:cNvPr>
            <p:cNvSpPr txBox="1"/>
            <p:nvPr/>
          </p:nvSpPr>
          <p:spPr>
            <a:xfrm>
              <a:off x="8190937" y="1474840"/>
              <a:ext cx="3157001" cy="3529171"/>
            </a:xfrm>
            <a:prstGeom prst="rect">
              <a:avLst/>
            </a:prstGeom>
            <a:solidFill>
              <a:srgbClr val="070154"/>
            </a:solidFill>
          </p:spPr>
          <p:txBody>
            <a:bodyPr wrap="square" lIns="182880" tIns="182880" rIns="182880" bIns="182880">
              <a:spAutoFit/>
            </a:bodyPr>
            <a:lstStyle/>
            <a:p>
              <a:pPr>
                <a:spcAft>
                  <a:spcPts val="1800"/>
                </a:spcAft>
              </a:pPr>
              <a:r>
                <a:rPr lang="en-US" sz="1200" b="1" dirty="0">
                  <a:solidFill>
                    <a:schemeClr val="accent1"/>
                  </a:solidFill>
                </a:rPr>
                <a:t>BUILT FOR OUTCOME-LED CHANGE</a:t>
              </a:r>
              <a:endParaRPr lang="en-US" sz="1200" b="1" dirty="0">
                <a:solidFill>
                  <a:schemeClr val="bg1"/>
                </a:solidFill>
              </a:endParaRPr>
            </a:p>
            <a:p>
              <a:pPr marL="688975">
                <a:spcAft>
                  <a:spcPts val="400"/>
                </a:spcAft>
              </a:pPr>
              <a:r>
                <a:rPr lang="en-US" sz="1200" b="1" dirty="0">
                  <a:solidFill>
                    <a:schemeClr val="bg1"/>
                  </a:solidFill>
                </a:rPr>
                <a:t>Start with outcomes</a:t>
              </a:r>
            </a:p>
            <a:p>
              <a:pPr marL="688975">
                <a:spcAft>
                  <a:spcPts val="1800"/>
                </a:spcAft>
              </a:pPr>
              <a:r>
                <a:rPr lang="en-US" sz="1000" dirty="0">
                  <a:solidFill>
                    <a:schemeClr val="accent4"/>
                  </a:solidFill>
                </a:rPr>
                <a:t>Anchor decisions in service, speed, accuracy, resilience, and cost</a:t>
              </a:r>
            </a:p>
            <a:p>
              <a:pPr marL="688975">
                <a:spcAft>
                  <a:spcPts val="400"/>
                </a:spcAft>
              </a:pPr>
              <a:r>
                <a:rPr lang="en-US" sz="1200" b="1" dirty="0">
                  <a:solidFill>
                    <a:schemeClr val="bg1"/>
                  </a:solidFill>
                </a:rPr>
                <a:t>Explain the why</a:t>
              </a:r>
            </a:p>
            <a:p>
              <a:pPr marL="688975">
                <a:spcAft>
                  <a:spcPts val="1800"/>
                </a:spcAft>
              </a:pPr>
              <a:r>
                <a:rPr lang="en-US" sz="1000" dirty="0">
                  <a:solidFill>
                    <a:schemeClr val="accent4"/>
                  </a:solidFill>
                </a:rPr>
                <a:t>Make evidence, assumptions, tradeoffs, and rationale reviewable</a:t>
              </a:r>
            </a:p>
            <a:p>
              <a:pPr marL="688975">
                <a:spcAft>
                  <a:spcPts val="400"/>
                </a:spcAft>
              </a:pPr>
              <a:r>
                <a:rPr lang="en-US" sz="1200" b="1" dirty="0">
                  <a:solidFill>
                    <a:schemeClr val="bg1"/>
                  </a:solidFill>
                </a:rPr>
                <a:t>Sequence the change</a:t>
              </a:r>
            </a:p>
            <a:p>
              <a:pPr marL="688975">
                <a:spcAft>
                  <a:spcPts val="1800"/>
                </a:spcAft>
              </a:pPr>
              <a:r>
                <a:rPr lang="en-US" sz="1000" dirty="0">
                  <a:solidFill>
                    <a:schemeClr val="accent4"/>
                  </a:solidFill>
                </a:rPr>
                <a:t>Show what moves first, what moves together, and what can follow</a:t>
              </a:r>
            </a:p>
            <a:p>
              <a:pPr marL="688975">
                <a:spcAft>
                  <a:spcPts val="400"/>
                </a:spcAft>
              </a:pPr>
              <a:r>
                <a:rPr lang="en-US" sz="1200" b="1" dirty="0">
                  <a:solidFill>
                    <a:schemeClr val="bg1"/>
                  </a:solidFill>
                </a:rPr>
                <a:t>Align business &amp; technology</a:t>
              </a:r>
            </a:p>
            <a:p>
              <a:pPr marL="688975">
                <a:spcAft>
                  <a:spcPts val="1200"/>
                </a:spcAft>
              </a:pPr>
              <a:endParaRPr lang="en-US" sz="1200" b="1" dirty="0">
                <a:solidFill>
                  <a:schemeClr val="bg1"/>
                </a:solidFill>
              </a:endParaRPr>
            </a:p>
          </p:txBody>
        </p:sp>
        <p:pic>
          <p:nvPicPr>
            <p:cNvPr id="43" name="Graphic 42">
              <a:extLst>
                <a:ext uri="{FF2B5EF4-FFF2-40B4-BE49-F238E27FC236}">
                  <a16:creationId xmlns:a16="http://schemas.microsoft.com/office/drawing/2014/main" id="{82DD81BE-5F00-5763-FFEE-6DFAD7736B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96093" y="2883615"/>
              <a:ext cx="457200" cy="457200"/>
            </a:xfrm>
            <a:prstGeom prst="rect">
              <a:avLst/>
            </a:prstGeom>
          </p:spPr>
        </p:pic>
        <p:pic>
          <p:nvPicPr>
            <p:cNvPr id="44" name="Graphic 43">
              <a:extLst>
                <a:ext uri="{FF2B5EF4-FFF2-40B4-BE49-F238E27FC236}">
                  <a16:creationId xmlns:a16="http://schemas.microsoft.com/office/drawing/2014/main" id="{5AB8584A-9CB5-1A9B-6172-DA66B9C9C76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96093" y="2115528"/>
              <a:ext cx="457200" cy="457200"/>
            </a:xfrm>
            <a:prstGeom prst="rect">
              <a:avLst/>
            </a:prstGeom>
          </p:spPr>
        </p:pic>
        <p:pic>
          <p:nvPicPr>
            <p:cNvPr id="45" name="Graphic 44">
              <a:extLst>
                <a:ext uri="{FF2B5EF4-FFF2-40B4-BE49-F238E27FC236}">
                  <a16:creationId xmlns:a16="http://schemas.microsoft.com/office/drawing/2014/main" id="{7AE7CC28-B29E-4FCC-6EEC-4032762F97C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96093" y="3671129"/>
              <a:ext cx="457200" cy="457200"/>
            </a:xfrm>
            <a:prstGeom prst="rect">
              <a:avLst/>
            </a:prstGeom>
          </p:spPr>
        </p:pic>
        <p:pic>
          <p:nvPicPr>
            <p:cNvPr id="46" name="Graphic 45">
              <a:extLst>
                <a:ext uri="{FF2B5EF4-FFF2-40B4-BE49-F238E27FC236}">
                  <a16:creationId xmlns:a16="http://schemas.microsoft.com/office/drawing/2014/main" id="{EC130572-3603-89E8-B993-4A5D531D4FD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96093" y="4436993"/>
              <a:ext cx="457200" cy="457200"/>
            </a:xfrm>
            <a:prstGeom prst="rect">
              <a:avLst/>
            </a:prstGeom>
          </p:spPr>
        </p:pic>
      </p:grpSp>
      <p:pic>
        <p:nvPicPr>
          <p:cNvPr id="49" name="Graphic 48">
            <a:extLst>
              <a:ext uri="{FF2B5EF4-FFF2-40B4-BE49-F238E27FC236}">
                <a16:creationId xmlns:a16="http://schemas.microsoft.com/office/drawing/2014/main" id="{FF85E462-0F1E-9AB0-511D-B08347E958B1}"/>
              </a:ext>
            </a:extLst>
          </p:cNvPr>
          <p:cNvPicPr>
            <a:picLocks noChangeAspect="1"/>
          </p:cNvPicPr>
          <p:nvPr/>
        </p:nvPicPr>
        <p:blipFill>
          <a:blip>
            <a:extLst>
              <a:ext uri="{96DAC541-7B7A-43D3-8B79-37D633B846F1}">
                <asvg:svgBlip xmlns:asvg="http://schemas.microsoft.com/office/drawing/2016/SVG/main" r:embed="rId10"/>
              </a:ext>
            </a:extLst>
          </a:blip>
          <a:srcRect l="81699"/>
          <a:stretch>
            <a:fillRect/>
          </a:stretch>
        </p:blipFill>
        <p:spPr>
          <a:xfrm rot="2710200" flipV="1">
            <a:off x="8854061" y="2222098"/>
            <a:ext cx="177746" cy="971236"/>
          </a:xfrm>
          <a:prstGeom prst="rect">
            <a:avLst/>
          </a:prstGeom>
        </p:spPr>
      </p:pic>
      <p:sp>
        <p:nvSpPr>
          <p:cNvPr id="50" name="TextBox 38">
            <a:extLst>
              <a:ext uri="{FF2B5EF4-FFF2-40B4-BE49-F238E27FC236}">
                <a16:creationId xmlns:a16="http://schemas.microsoft.com/office/drawing/2014/main" id="{88DE084C-12F1-0E3F-7D67-9E33A3B518E3}"/>
              </a:ext>
            </a:extLst>
          </p:cNvPr>
          <p:cNvSpPr txBox="1"/>
          <p:nvPr/>
        </p:nvSpPr>
        <p:spPr>
          <a:xfrm>
            <a:off x="4140851" y="5624304"/>
            <a:ext cx="1858407" cy="418576"/>
          </a:xfrm>
          <a:prstGeom prst="rect">
            <a:avLst/>
          </a:prstGeom>
          <a:noFill/>
        </p:spPr>
        <p:txBody>
          <a:bodyPr wrap="square" lIns="0" tIns="0" rIns="0" bIns="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a:lstStyle>
          <a:p>
            <a:pPr algn="ctr">
              <a:lnSpc>
                <a:spcPct val="85000"/>
              </a:lnSpc>
            </a:pPr>
            <a:r>
              <a:rPr lang="en-US" sz="1150" b="1">
                <a:latin typeface="Arial"/>
              </a:rPr>
              <a:t>Lower delivery risk</a:t>
            </a:r>
            <a:br/>
            <a:r>
              <a:rPr lang="en-US" sz="900">
                <a:latin typeface="Arial"/>
              </a:rPr>
              <a:t>surface dependencies before execution</a:t>
            </a:r>
          </a:p>
        </p:txBody>
      </p:sp>
      <p:sp>
        <p:nvSpPr>
          <p:cNvPr id="51" name="TextBox 39">
            <a:extLst>
              <a:ext uri="{FF2B5EF4-FFF2-40B4-BE49-F238E27FC236}">
                <a16:creationId xmlns:a16="http://schemas.microsoft.com/office/drawing/2014/main" id="{9ABE43D1-E157-7066-2DBB-DB622F922223}"/>
              </a:ext>
            </a:extLst>
          </p:cNvPr>
          <p:cNvSpPr txBox="1"/>
          <p:nvPr/>
        </p:nvSpPr>
        <p:spPr>
          <a:xfrm>
            <a:off x="6526703" y="5624304"/>
            <a:ext cx="1475661" cy="418576"/>
          </a:xfrm>
          <a:prstGeom prst="rect">
            <a:avLst/>
          </a:prstGeom>
          <a:noFill/>
        </p:spPr>
        <p:txBody>
          <a:bodyPr wrap="square" lIns="0" tIns="0" rIns="0" bIns="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a:lstStyle>
          <a:p>
            <a:pPr algn="ctr">
              <a:lnSpc>
                <a:spcPct val="85000"/>
              </a:lnSpc>
            </a:pPr>
            <a:r>
              <a:rPr lang="en-US" sz="1150" b="1">
                <a:latin typeface="Arial"/>
              </a:rPr>
              <a:t>Stronger adoption</a:t>
            </a:r>
            <a:br/>
            <a:r>
              <a:rPr lang="en-US" sz="900">
                <a:latin typeface="Arial"/>
              </a:rPr>
              <a:t>coordinate process and technology change</a:t>
            </a:r>
          </a:p>
        </p:txBody>
      </p:sp>
      <p:sp>
        <p:nvSpPr>
          <p:cNvPr id="52" name="TextBox 20">
            <a:extLst>
              <a:ext uri="{FF2B5EF4-FFF2-40B4-BE49-F238E27FC236}">
                <a16:creationId xmlns:a16="http://schemas.microsoft.com/office/drawing/2014/main" id="{D69FF4C3-EC87-2F56-93DB-FD9D0BAB47E6}"/>
              </a:ext>
            </a:extLst>
          </p:cNvPr>
          <p:cNvSpPr txBox="1"/>
          <p:nvPr/>
        </p:nvSpPr>
        <p:spPr>
          <a:xfrm>
            <a:off x="2043260" y="5630844"/>
            <a:ext cx="1528306" cy="405496"/>
          </a:xfrm>
          <a:prstGeom prst="rect">
            <a:avLst/>
          </a:prstGeom>
          <a:noFill/>
        </p:spPr>
        <p:txBody>
          <a:bodyPr wrap="square" lIns="0" tIns="0" rIns="0" bIns="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a:lstStyle>
          <a:p>
            <a:pPr algn="ctr">
              <a:lnSpc>
                <a:spcPct val="85000"/>
              </a:lnSpc>
            </a:pPr>
            <a:r>
              <a:rPr lang="en-US" sz="1150" b="1">
                <a:latin typeface="Arial"/>
              </a:rPr>
              <a:t>Faster time to value</a:t>
            </a:r>
            <a:br/>
            <a:r>
              <a:rPr lang="en-US" sz="900">
                <a:latin typeface="Arial"/>
              </a:rPr>
              <a:t>focus investment on highest-value work</a:t>
            </a:r>
          </a:p>
        </p:txBody>
      </p:sp>
      <p:sp>
        <p:nvSpPr>
          <p:cNvPr id="53" name="Text Placeholder 9">
            <a:extLst>
              <a:ext uri="{FF2B5EF4-FFF2-40B4-BE49-F238E27FC236}">
                <a16:creationId xmlns:a16="http://schemas.microsoft.com/office/drawing/2014/main" id="{E691D416-7631-B5C3-7414-8673703BA102}"/>
              </a:ext>
            </a:extLst>
          </p:cNvPr>
          <p:cNvSpPr txBox="1">
            <a:spLocks/>
          </p:cNvSpPr>
          <p:nvPr/>
        </p:nvSpPr>
        <p:spPr>
          <a:xfrm>
            <a:off x="469230" y="5674317"/>
            <a:ext cx="1173680" cy="3323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0" i="0" kern="1200">
                <a:solidFill>
                  <a:schemeClr val="tx1"/>
                </a:solidFill>
                <a:latin typeface="+mn-lt"/>
                <a:ea typeface="+mn-ea"/>
                <a:cs typeface="+mn-cs"/>
              </a:defRPr>
            </a:lvl1pPr>
            <a:lvl2pPr marL="285750" indent="-276225" algn="l" defTabSz="914400" rtl="0" eaLnBrk="1" latinLnBrk="0" hangingPunct="1">
              <a:lnSpc>
                <a:spcPct val="100000"/>
              </a:lnSpc>
              <a:spcBef>
                <a:spcPts val="0"/>
              </a:spcBef>
              <a:spcAft>
                <a:spcPts val="600"/>
              </a:spcAft>
              <a:buFont typeface="Arial" panose="020B0604020202020204" pitchFamily="34" charset="0"/>
              <a:buChar char="•"/>
              <a:tabLst/>
              <a:defRPr sz="1200" b="0" i="0" kern="1200">
                <a:solidFill>
                  <a:schemeClr val="tx1"/>
                </a:solidFill>
                <a:latin typeface="+mn-lt"/>
                <a:ea typeface="+mn-ea"/>
                <a:cs typeface="+mn-cs"/>
              </a:defRPr>
            </a:lvl2pPr>
            <a:lvl3pPr marL="628650" indent="-285750" algn="l" defTabSz="914400" rtl="0" eaLnBrk="1" latinLnBrk="0" hangingPunct="1">
              <a:lnSpc>
                <a:spcPct val="100000"/>
              </a:lnSpc>
              <a:spcBef>
                <a:spcPts val="0"/>
              </a:spcBef>
              <a:spcAft>
                <a:spcPts val="600"/>
              </a:spcAft>
              <a:buFont typeface="Arial" panose="020B0604020202020204" pitchFamily="34" charset="0"/>
              <a:buChar char="•"/>
              <a:tabLst/>
              <a:defRPr sz="1200" b="0" i="0" kern="1200">
                <a:solidFill>
                  <a:schemeClr val="tx1"/>
                </a:solidFill>
                <a:latin typeface="+mn-lt"/>
                <a:ea typeface="+mn-ea"/>
                <a:cs typeface="+mn-cs"/>
              </a:defRPr>
            </a:lvl3pPr>
            <a:lvl4pPr marL="973138" indent="-276225" algn="l" defTabSz="914400" rtl="0" eaLnBrk="1" latinLnBrk="0" hangingPunct="1">
              <a:lnSpc>
                <a:spcPct val="100000"/>
              </a:lnSpc>
              <a:spcBef>
                <a:spcPts val="0"/>
              </a:spcBef>
              <a:spcAft>
                <a:spcPts val="600"/>
              </a:spcAft>
              <a:buFont typeface="Arial" panose="020B0604020202020204" pitchFamily="34" charset="0"/>
              <a:buChar char="•"/>
              <a:tabLst/>
              <a:defRPr sz="1200" b="0" i="0" kern="1200">
                <a:solidFill>
                  <a:schemeClr val="tx1"/>
                </a:solidFill>
                <a:latin typeface="+mn-lt"/>
                <a:ea typeface="+mn-ea"/>
                <a:cs typeface="+mn-cs"/>
              </a:defRPr>
            </a:lvl4pPr>
            <a:lvl5pPr marL="1317625" indent="-287338" algn="l" defTabSz="914400" rtl="0" eaLnBrk="1" latinLnBrk="0" hangingPunct="1">
              <a:lnSpc>
                <a:spcPct val="100000"/>
              </a:lnSpc>
              <a:spcBef>
                <a:spcPts val="0"/>
              </a:spcBef>
              <a:spcAft>
                <a:spcPts val="600"/>
              </a:spcAft>
              <a:buFont typeface="Arial" panose="020B0604020202020204" pitchFamily="34" charset="0"/>
              <a:buChar char="•"/>
              <a:tabLst/>
              <a:defRPr sz="1200" b="0" i="0" kern="1200">
                <a:solidFill>
                  <a:schemeClr val="tx1"/>
                </a:solidFill>
                <a:latin typeface="+mn-lt"/>
                <a:ea typeface="+mn-ea"/>
                <a:cs typeface="+mn-cs"/>
              </a:defRPr>
            </a:lvl5pPr>
            <a:lvl6pPr marL="182880" indent="-182880" algn="l" defTabSz="914400" rtl="0" eaLnBrk="1" latinLnBrk="0" hangingPunct="1">
              <a:lnSpc>
                <a:spcPct val="100000"/>
              </a:lnSpc>
              <a:spcBef>
                <a:spcPts val="0"/>
              </a:spcBef>
              <a:spcAft>
                <a:spcPts val="400"/>
              </a:spcAft>
              <a:buFont typeface="Arial" panose="020B0604020202020204" pitchFamily="34" charset="0"/>
              <a:buAutoNum type="arabicPeriod"/>
              <a:defRPr sz="1200" kern="1200">
                <a:solidFill>
                  <a:schemeClr val="tx1"/>
                </a:solidFill>
                <a:latin typeface="+mn-lt"/>
                <a:ea typeface="+mn-ea"/>
                <a:cs typeface="+mn-cs"/>
              </a:defRPr>
            </a:lvl6pPr>
            <a:lvl7pPr marL="365760" indent="-182880" algn="l" defTabSz="914400" rtl="0" eaLnBrk="1" latinLnBrk="0" hangingPunct="1">
              <a:lnSpc>
                <a:spcPct val="100000"/>
              </a:lnSpc>
              <a:spcBef>
                <a:spcPts val="0"/>
              </a:spcBef>
              <a:spcAft>
                <a:spcPts val="600"/>
              </a:spcAft>
              <a:buFont typeface="Arial" panose="020B0604020202020204" pitchFamily="34" charset="0"/>
              <a:buAutoNum type="arabicPeriod"/>
              <a:defRPr sz="1200" kern="1200">
                <a:solidFill>
                  <a:schemeClr val="tx1"/>
                </a:solidFill>
                <a:latin typeface="+mn-lt"/>
                <a:ea typeface="+mn-ea"/>
                <a:cs typeface="+mn-cs"/>
              </a:defRPr>
            </a:lvl7pPr>
            <a:lvl8pPr marL="548640" indent="-18288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400" b="1" kern="1200">
                <a:solidFill>
                  <a:schemeClr val="tx1"/>
                </a:solidFill>
                <a:latin typeface="+mn-lt"/>
                <a:ea typeface="+mn-ea"/>
                <a:cs typeface="+mn-cs"/>
              </a:defRPr>
            </a:lvl9pPr>
          </a:lstStyle>
          <a:p>
            <a:pPr algn="l"/>
            <a:r>
              <a:rPr lang="en-US" sz="1200" b="1">
                <a:solidFill>
                  <a:srgbClr val="070154"/>
                </a:solidFill>
                <a:latin typeface="Arial"/>
              </a:rPr>
              <a:t>VALUE</a:t>
            </a:r>
            <a:endParaRPr lang="en-US" sz="1200"/>
          </a:p>
          <a:p>
            <a:pPr algn="l"/>
            <a:r>
              <a:rPr lang="en-US" sz="1200" b="1">
                <a:solidFill>
                  <a:srgbClr val="070154"/>
                </a:solidFill>
                <a:latin typeface="Arial"/>
              </a:rPr>
              <a:t>DELIVERED</a:t>
            </a:r>
            <a:endParaRPr lang="en-US" sz="1200"/>
          </a:p>
        </p:txBody>
      </p:sp>
      <p:cxnSp>
        <p:nvCxnSpPr>
          <p:cNvPr id="54" name="Straight Connector 53">
            <a:extLst>
              <a:ext uri="{FF2B5EF4-FFF2-40B4-BE49-F238E27FC236}">
                <a16:creationId xmlns:a16="http://schemas.microsoft.com/office/drawing/2014/main" id="{61729B3F-2230-81A7-2B65-37F25274CBA9}"/>
              </a:ext>
            </a:extLst>
          </p:cNvPr>
          <p:cNvCxnSpPr>
            <a:cxnSpLocks/>
          </p:cNvCxnSpPr>
          <p:nvPr/>
        </p:nvCxnSpPr>
        <p:spPr>
          <a:xfrm>
            <a:off x="3867141" y="5650712"/>
            <a:ext cx="0" cy="365760"/>
          </a:xfrm>
          <a:prstGeom prst="line">
            <a:avLst/>
          </a:prstGeom>
          <a:ln w="12700" cap="rnd">
            <a:solidFill>
              <a:schemeClr val="accent3"/>
            </a:soli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2AB9C0A-42A3-BD4A-B584-19385F2D863D}"/>
              </a:ext>
            </a:extLst>
          </p:cNvPr>
          <p:cNvCxnSpPr>
            <a:cxnSpLocks/>
          </p:cNvCxnSpPr>
          <p:nvPr/>
        </p:nvCxnSpPr>
        <p:spPr>
          <a:xfrm>
            <a:off x="6284198" y="5650712"/>
            <a:ext cx="0" cy="365760"/>
          </a:xfrm>
          <a:prstGeom prst="line">
            <a:avLst/>
          </a:prstGeom>
          <a:ln w="127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56" name="Isosceles Triangle 55">
            <a:extLst>
              <a:ext uri="{FF2B5EF4-FFF2-40B4-BE49-F238E27FC236}">
                <a16:creationId xmlns:a16="http://schemas.microsoft.com/office/drawing/2014/main" id="{3F936A74-68EE-83E3-6B0C-148B1CB60BC7}"/>
              </a:ext>
            </a:extLst>
          </p:cNvPr>
          <p:cNvSpPr/>
          <p:nvPr/>
        </p:nvSpPr>
        <p:spPr bwMode="auto">
          <a:xfrm rot="5400000">
            <a:off x="1450968" y="5771937"/>
            <a:ext cx="274320" cy="137160"/>
          </a:xfrm>
          <a:prstGeom prst="triangle">
            <a:avLst/>
          </a:prstGeom>
          <a:solidFill>
            <a:schemeClr val="tx2"/>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8" name="TextBox 57">
            <a:extLst>
              <a:ext uri="{FF2B5EF4-FFF2-40B4-BE49-F238E27FC236}">
                <a16:creationId xmlns:a16="http://schemas.microsoft.com/office/drawing/2014/main" id="{1CC81542-038A-F802-F498-E842F7E6ABF2}"/>
              </a:ext>
            </a:extLst>
          </p:cNvPr>
          <p:cNvSpPr txBox="1"/>
          <p:nvPr/>
        </p:nvSpPr>
        <p:spPr>
          <a:xfrm>
            <a:off x="469230" y="1441202"/>
            <a:ext cx="10801744" cy="646331"/>
          </a:xfrm>
          <a:prstGeom prst="rect">
            <a:avLst/>
          </a:prstGeom>
          <a:noFill/>
        </p:spPr>
        <p:txBody>
          <a:bodyPr wrap="square" lIns="0" tIns="0" rIns="0" bIns="0">
            <a:spAutoFit/>
          </a:bodyPr>
          <a:lstStyle/>
          <a:p>
            <a:r>
              <a:rPr lang="en-US" sz="1350">
                <a:solidFill>
                  <a:srgbClr val="070154"/>
                </a:solidFill>
                <a:latin typeface="Arial"/>
              </a:rPr>
              <a:t>Evolve connects business priorities to the processes, systems, and dependencies behind them—then recommends </a:t>
            </a:r>
            <a:r>
              <a:rPr lang="en-US" sz="1350" b="1">
                <a:solidFill>
                  <a:srgbClr val="0047FF"/>
                </a:solidFill>
                <a:latin typeface="Arial"/>
              </a:rPr>
              <a:t>where to start, what to change, and how to sequence the work.</a:t>
            </a:r>
            <a:r>
              <a:rPr lang="en-US" sz="1350">
                <a:solidFill>
                  <a:srgbClr val="070154"/>
                </a:solidFill>
                <a:latin typeface="Arial"/>
              </a:rPr>
              <a:t> The result is a practical starting point for operational, finance, product, and technology leaders.</a:t>
            </a:r>
          </a:p>
        </p:txBody>
      </p:sp>
      <p:pic>
        <p:nvPicPr>
          <p:cNvPr id="64" name="Graphic 63">
            <a:extLst>
              <a:ext uri="{FF2B5EF4-FFF2-40B4-BE49-F238E27FC236}">
                <a16:creationId xmlns:a16="http://schemas.microsoft.com/office/drawing/2014/main" id="{1DAF3648-4266-9F63-D912-79CA3E40FFE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rot="120000">
            <a:off x="4419452" y="1782411"/>
            <a:ext cx="778713" cy="583516"/>
          </a:xfrm>
          <a:prstGeom prst="rect">
            <a:avLst/>
          </a:prstGeom>
        </p:spPr>
      </p:pic>
    </p:spTree>
    <p:extLst>
      <p:ext uri="{BB962C8B-B14F-4D97-AF65-F5344CB8AC3E}">
        <p14:creationId xmlns:p14="http://schemas.microsoft.com/office/powerpoint/2010/main" val="11963523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E418BB-D1F0-7146-87B4-66AAB4A58F43}"/>
              </a:ext>
            </a:extLst>
          </p:cNvPr>
          <p:cNvSpPr txBox="1"/>
          <p:nvPr/>
        </p:nvSpPr>
        <p:spPr>
          <a:xfrm>
            <a:off x="457200" y="533400"/>
            <a:ext cx="11277600" cy="635000"/>
          </a:xfrm>
          <a:prstGeom prst="rect">
            <a:avLst/>
          </a:prstGeom>
          <a:noFill/>
        </p:spPr>
        <p:txBody>
          <a:bodyPr vertOverflow="overflow" vert="horz" wrap="square" lIns="0" tIns="0" rIns="0" bIns="0" rtlCol="0" anchor="t">
            <a:normAutofit fontScale="92500" lnSpcReduction="10000"/>
          </a:bodyPr>
          <a:lstStyle/>
          <a:p>
            <a:pPr marL="0" indent="0" algn="l">
              <a:spcAft>
                <a:spcPts val="600"/>
              </a:spcAft>
              <a:tabLst/>
            </a:pPr>
            <a:r>
              <a:rPr lang="en-US" sz="2400" b="1">
                <a:solidFill>
                  <a:srgbClr val="070154"/>
                </a:solidFill>
                <a:latin typeface="Arial"/>
                <a:cs typeface="Arial"/>
              </a:rPr>
              <a:t>Intellio Evolve turns application evidence into modernization guidance and sequencing</a:t>
            </a:r>
            <a:endParaRPr lang="en-US" sz="2400" b="1" dirty="0">
              <a:solidFill>
                <a:srgbClr val="070154"/>
              </a:solidFill>
              <a:latin typeface="Arial"/>
              <a:cs typeface="Arial"/>
            </a:endParaRPr>
          </a:p>
        </p:txBody>
      </p:sp>
      <p:sp>
        <p:nvSpPr>
          <p:cNvPr id="4" name="TextBox 3">
            <a:extLst>
              <a:ext uri="{FF2B5EF4-FFF2-40B4-BE49-F238E27FC236}">
                <a16:creationId xmlns:a16="http://schemas.microsoft.com/office/drawing/2014/main" id="{DAE77117-029B-1640-94C4-08E6A800D67F}"/>
              </a:ext>
            </a:extLst>
          </p:cNvPr>
          <p:cNvSpPr txBox="1"/>
          <p:nvPr/>
        </p:nvSpPr>
        <p:spPr>
          <a:xfrm>
            <a:off x="457200" y="1320800"/>
            <a:ext cx="3632200" cy="14605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50" b="1">
                <a:solidFill>
                  <a:srgbClr val="070154"/>
                </a:solidFill>
                <a:latin typeface="Arial"/>
                <a:cs typeface="Arial"/>
              </a:rPr>
              <a:t>Evolve treats evidence as more than reports: source code, dependency and call graphs, data use, integrations, and functional boundaries. It uses that evidence to recommend modernization options and a sequenced starting point for human review.</a:t>
            </a:r>
            <a:endParaRPr lang="en-US" sz="1150" b="1" dirty="0">
              <a:solidFill>
                <a:srgbClr val="070154"/>
              </a:solidFill>
              <a:latin typeface="Arial"/>
              <a:cs typeface="Arial"/>
            </a:endParaRPr>
          </a:p>
        </p:txBody>
      </p:sp>
      <p:sp>
        <p:nvSpPr>
          <p:cNvPr id="6" name="TextBox 5">
            <a:extLst>
              <a:ext uri="{FF2B5EF4-FFF2-40B4-BE49-F238E27FC236}">
                <a16:creationId xmlns:a16="http://schemas.microsoft.com/office/drawing/2014/main" id="{B1612C3A-DBBC-0649-BB88-421870CC12A4}"/>
              </a:ext>
            </a:extLst>
          </p:cNvPr>
          <p:cNvSpPr txBox="1"/>
          <p:nvPr/>
        </p:nvSpPr>
        <p:spPr>
          <a:xfrm>
            <a:off x="457200" y="2870200"/>
            <a:ext cx="2286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EVIDENCE TO GUIDED ACTION</a:t>
            </a:r>
            <a:endParaRPr lang="en-US" sz="950" b="1" dirty="0">
              <a:solidFill>
                <a:srgbClr val="0047FF"/>
              </a:solidFill>
              <a:latin typeface="Arial"/>
              <a:cs typeface="Arial"/>
            </a:endParaRPr>
          </a:p>
        </p:txBody>
      </p:sp>
      <p:sp>
        <p:nvSpPr>
          <p:cNvPr id="8" name="Rectangle 7">
            <a:extLst>
              <a:ext uri="{FF2B5EF4-FFF2-40B4-BE49-F238E27FC236}">
                <a16:creationId xmlns:a16="http://schemas.microsoft.com/office/drawing/2014/main" id="{B41E477F-0D38-044A-AC81-79A5F544E702}"/>
              </a:ext>
            </a:extLst>
          </p:cNvPr>
          <p:cNvSpPr/>
          <p:nvPr/>
        </p:nvSpPr>
        <p:spPr bwMode="auto">
          <a:xfrm>
            <a:off x="457200" y="3149600"/>
            <a:ext cx="3632200" cy="4318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TextBox 9">
            <a:extLst>
              <a:ext uri="{FF2B5EF4-FFF2-40B4-BE49-F238E27FC236}">
                <a16:creationId xmlns:a16="http://schemas.microsoft.com/office/drawing/2014/main" id="{ED8187D2-042A-C449-A164-A3565A3EBD89}"/>
              </a:ext>
            </a:extLst>
          </p:cNvPr>
          <p:cNvSpPr txBox="1"/>
          <p:nvPr/>
        </p:nvSpPr>
        <p:spPr>
          <a:xfrm>
            <a:off x="622300" y="3276600"/>
            <a:ext cx="3302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70154"/>
                </a:solidFill>
                <a:latin typeface="Arial"/>
                <a:cs typeface="Arial"/>
              </a:rPr>
              <a:t>SOURCE CODE AND APPLICATION METADATA</a:t>
            </a:r>
            <a:endParaRPr lang="en-US" sz="950" b="1" dirty="0">
              <a:solidFill>
                <a:srgbClr val="070154"/>
              </a:solidFill>
              <a:latin typeface="Arial"/>
              <a:cs typeface="Arial"/>
            </a:endParaRPr>
          </a:p>
        </p:txBody>
      </p:sp>
      <p:sp>
        <p:nvSpPr>
          <p:cNvPr id="13" name="Rectangle 12">
            <a:extLst>
              <a:ext uri="{FF2B5EF4-FFF2-40B4-BE49-F238E27FC236}">
                <a16:creationId xmlns:a16="http://schemas.microsoft.com/office/drawing/2014/main" id="{0A161581-0456-AC42-9BC9-997B8C101FA5}"/>
              </a:ext>
            </a:extLst>
          </p:cNvPr>
          <p:cNvSpPr/>
          <p:nvPr/>
        </p:nvSpPr>
        <p:spPr bwMode="auto">
          <a:xfrm>
            <a:off x="774700" y="3581400"/>
            <a:ext cx="25400" cy="889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Rectangle 14">
            <a:extLst>
              <a:ext uri="{FF2B5EF4-FFF2-40B4-BE49-F238E27FC236}">
                <a16:creationId xmlns:a16="http://schemas.microsoft.com/office/drawing/2014/main" id="{FB0D91B4-57C3-6643-A2F8-9D5C94786CE6}"/>
              </a:ext>
            </a:extLst>
          </p:cNvPr>
          <p:cNvSpPr/>
          <p:nvPr/>
        </p:nvSpPr>
        <p:spPr bwMode="auto">
          <a:xfrm>
            <a:off x="457200" y="3670300"/>
            <a:ext cx="3632200" cy="4318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6" name="TextBox 15">
            <a:extLst>
              <a:ext uri="{FF2B5EF4-FFF2-40B4-BE49-F238E27FC236}">
                <a16:creationId xmlns:a16="http://schemas.microsoft.com/office/drawing/2014/main" id="{0F31F2D8-7C61-6641-8C55-7A86A931FC07}"/>
              </a:ext>
            </a:extLst>
          </p:cNvPr>
          <p:cNvSpPr txBox="1"/>
          <p:nvPr/>
        </p:nvSpPr>
        <p:spPr>
          <a:xfrm>
            <a:off x="622300" y="3797300"/>
            <a:ext cx="3302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70154"/>
                </a:solidFill>
                <a:latin typeface="Arial"/>
                <a:cs typeface="Arial"/>
              </a:rPr>
              <a:t>STRUCTURAL + DEPENDENCY GRAPHS</a:t>
            </a:r>
            <a:endParaRPr lang="en-US" sz="950" b="1" dirty="0">
              <a:solidFill>
                <a:srgbClr val="070154"/>
              </a:solidFill>
              <a:latin typeface="Arial"/>
              <a:cs typeface="Arial"/>
            </a:endParaRPr>
          </a:p>
        </p:txBody>
      </p:sp>
      <p:sp>
        <p:nvSpPr>
          <p:cNvPr id="17" name="Rectangle 16">
            <a:extLst>
              <a:ext uri="{FF2B5EF4-FFF2-40B4-BE49-F238E27FC236}">
                <a16:creationId xmlns:a16="http://schemas.microsoft.com/office/drawing/2014/main" id="{E4C77BFA-D73C-5643-B10E-0A5927B246FA}"/>
              </a:ext>
            </a:extLst>
          </p:cNvPr>
          <p:cNvSpPr/>
          <p:nvPr/>
        </p:nvSpPr>
        <p:spPr bwMode="auto">
          <a:xfrm>
            <a:off x="774700" y="4102100"/>
            <a:ext cx="25400" cy="889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8" name="Rectangle 17">
            <a:extLst>
              <a:ext uri="{FF2B5EF4-FFF2-40B4-BE49-F238E27FC236}">
                <a16:creationId xmlns:a16="http://schemas.microsoft.com/office/drawing/2014/main" id="{982D7127-FAE7-824C-A925-8930490CABC2}"/>
              </a:ext>
            </a:extLst>
          </p:cNvPr>
          <p:cNvSpPr/>
          <p:nvPr/>
        </p:nvSpPr>
        <p:spPr bwMode="auto">
          <a:xfrm>
            <a:off x="457200" y="4191000"/>
            <a:ext cx="3632200" cy="4318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F260600D-377C-5145-99D8-9A712121F7CD}"/>
              </a:ext>
            </a:extLst>
          </p:cNvPr>
          <p:cNvSpPr txBox="1"/>
          <p:nvPr/>
        </p:nvSpPr>
        <p:spPr>
          <a:xfrm>
            <a:off x="622300" y="4318000"/>
            <a:ext cx="3302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70154"/>
                </a:solidFill>
                <a:latin typeface="Arial"/>
                <a:cs typeface="Arial"/>
              </a:rPr>
              <a:t>MODERNIZATION RECOMMENDATIONS AND OPTIONS</a:t>
            </a:r>
            <a:endParaRPr lang="en-US" sz="950" b="1" dirty="0">
              <a:solidFill>
                <a:srgbClr val="070154"/>
              </a:solidFill>
              <a:latin typeface="Arial"/>
              <a:cs typeface="Arial"/>
            </a:endParaRPr>
          </a:p>
        </p:txBody>
      </p:sp>
      <p:sp>
        <p:nvSpPr>
          <p:cNvPr id="21" name="Rectangle 20">
            <a:extLst>
              <a:ext uri="{FF2B5EF4-FFF2-40B4-BE49-F238E27FC236}">
                <a16:creationId xmlns:a16="http://schemas.microsoft.com/office/drawing/2014/main" id="{3EB8A7D0-2A32-F247-A43C-BA8274D74990}"/>
              </a:ext>
            </a:extLst>
          </p:cNvPr>
          <p:cNvSpPr/>
          <p:nvPr/>
        </p:nvSpPr>
        <p:spPr bwMode="auto">
          <a:xfrm>
            <a:off x="774700" y="4622800"/>
            <a:ext cx="25400" cy="889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7" name="Rectangle 26">
            <a:extLst>
              <a:ext uri="{FF2B5EF4-FFF2-40B4-BE49-F238E27FC236}">
                <a16:creationId xmlns:a16="http://schemas.microsoft.com/office/drawing/2014/main" id="{A554CAB9-D844-014A-8E3F-42712B67068E}"/>
              </a:ext>
            </a:extLst>
          </p:cNvPr>
          <p:cNvSpPr/>
          <p:nvPr/>
        </p:nvSpPr>
        <p:spPr bwMode="auto">
          <a:xfrm>
            <a:off x="457200" y="4711700"/>
            <a:ext cx="3632200" cy="4318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TextBox 27">
            <a:extLst>
              <a:ext uri="{FF2B5EF4-FFF2-40B4-BE49-F238E27FC236}">
                <a16:creationId xmlns:a16="http://schemas.microsoft.com/office/drawing/2014/main" id="{B77EC021-6722-D04E-B4DE-FCAA0BF63CAC}"/>
              </a:ext>
            </a:extLst>
          </p:cNvPr>
          <p:cNvSpPr txBox="1"/>
          <p:nvPr/>
        </p:nvSpPr>
        <p:spPr>
          <a:xfrm>
            <a:off x="622300" y="4838700"/>
            <a:ext cx="3302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70154"/>
                </a:solidFill>
                <a:latin typeface="Arial"/>
                <a:cs typeface="Arial"/>
              </a:rPr>
              <a:t>SEQUENCED PLAN FOR HUMAN REVIEW</a:t>
            </a:r>
            <a:endParaRPr lang="en-US" sz="950" b="1" dirty="0">
              <a:solidFill>
                <a:srgbClr val="070154"/>
              </a:solidFill>
              <a:latin typeface="Arial"/>
              <a:cs typeface="Arial"/>
            </a:endParaRPr>
          </a:p>
        </p:txBody>
      </p:sp>
      <p:sp>
        <p:nvSpPr>
          <p:cNvPr id="29" name="Rectangle 28">
            <a:extLst>
              <a:ext uri="{FF2B5EF4-FFF2-40B4-BE49-F238E27FC236}">
                <a16:creationId xmlns:a16="http://schemas.microsoft.com/office/drawing/2014/main" id="{D9E74DBB-02B0-B54D-9050-C0EB651BB826}"/>
              </a:ext>
            </a:extLst>
          </p:cNvPr>
          <p:cNvSpPr/>
          <p:nvPr/>
        </p:nvSpPr>
        <p:spPr bwMode="auto">
          <a:xfrm>
            <a:off x="4419600" y="1320800"/>
            <a:ext cx="7315200" cy="37338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0" name="TextBox 29">
            <a:extLst>
              <a:ext uri="{FF2B5EF4-FFF2-40B4-BE49-F238E27FC236}">
                <a16:creationId xmlns:a16="http://schemas.microsoft.com/office/drawing/2014/main" id="{E3F2B5A1-0485-2142-88D8-F89B38CED73B}"/>
              </a:ext>
            </a:extLst>
          </p:cNvPr>
          <p:cNvSpPr txBox="1"/>
          <p:nvPr/>
        </p:nvSpPr>
        <p:spPr>
          <a:xfrm>
            <a:off x="4673600" y="1511300"/>
            <a:ext cx="342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50627A"/>
                </a:solidFill>
                <a:latin typeface="Arial"/>
                <a:cs typeface="Arial"/>
              </a:rPr>
              <a:t>HOW EVOLVE SUPPORTS DECISIONS</a:t>
            </a:r>
            <a:endParaRPr lang="en-US" sz="950" b="1" dirty="0">
              <a:solidFill>
                <a:srgbClr val="50627A"/>
              </a:solidFill>
              <a:latin typeface="Arial"/>
              <a:cs typeface="Arial"/>
            </a:endParaRPr>
          </a:p>
        </p:txBody>
      </p:sp>
      <p:sp>
        <p:nvSpPr>
          <p:cNvPr id="31" name="Rectangle 30">
            <a:extLst>
              <a:ext uri="{FF2B5EF4-FFF2-40B4-BE49-F238E27FC236}">
                <a16:creationId xmlns:a16="http://schemas.microsoft.com/office/drawing/2014/main" id="{3CA808EA-A677-3D45-9388-5BEC4228EB1E}"/>
              </a:ext>
            </a:extLst>
          </p:cNvPr>
          <p:cNvSpPr/>
          <p:nvPr/>
        </p:nvSpPr>
        <p:spPr bwMode="auto">
          <a:xfrm>
            <a:off x="4673600" y="1892300"/>
            <a:ext cx="6807200" cy="8255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Rectangle 31">
            <a:extLst>
              <a:ext uri="{FF2B5EF4-FFF2-40B4-BE49-F238E27FC236}">
                <a16:creationId xmlns:a16="http://schemas.microsoft.com/office/drawing/2014/main" id="{A8EEA5BE-FE70-B342-9206-7837E3FF9D8B}"/>
              </a:ext>
            </a:extLst>
          </p:cNvPr>
          <p:cNvSpPr/>
          <p:nvPr/>
        </p:nvSpPr>
        <p:spPr bwMode="auto">
          <a:xfrm>
            <a:off x="4673600" y="1892300"/>
            <a:ext cx="88900" cy="8255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3" name="TextBox 32">
            <a:extLst>
              <a:ext uri="{FF2B5EF4-FFF2-40B4-BE49-F238E27FC236}">
                <a16:creationId xmlns:a16="http://schemas.microsoft.com/office/drawing/2014/main" id="{382931AB-1897-2A4B-ACC9-92C6A4410BCD}"/>
              </a:ext>
            </a:extLst>
          </p:cNvPr>
          <p:cNvSpPr txBox="1"/>
          <p:nvPr/>
        </p:nvSpPr>
        <p:spPr>
          <a:xfrm>
            <a:off x="4927600" y="2006600"/>
            <a:ext cx="292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b="1">
                <a:solidFill>
                  <a:srgbClr val="0047FF"/>
                </a:solidFill>
                <a:latin typeface="Arial"/>
                <a:cs typeface="Arial"/>
              </a:rPr>
              <a:t>BUILD AN EVIDENCE BASE</a:t>
            </a:r>
            <a:endParaRPr lang="en-US" sz="1050" b="1" dirty="0">
              <a:solidFill>
                <a:srgbClr val="0047FF"/>
              </a:solidFill>
              <a:latin typeface="Arial"/>
              <a:cs typeface="Arial"/>
            </a:endParaRPr>
          </a:p>
        </p:txBody>
      </p:sp>
      <p:sp>
        <p:nvSpPr>
          <p:cNvPr id="34" name="TextBox 33">
            <a:extLst>
              <a:ext uri="{FF2B5EF4-FFF2-40B4-BE49-F238E27FC236}">
                <a16:creationId xmlns:a16="http://schemas.microsoft.com/office/drawing/2014/main" id="{118C1CD3-4757-9845-94DD-2DF66366F3AF}"/>
              </a:ext>
            </a:extLst>
          </p:cNvPr>
          <p:cNvSpPr txBox="1"/>
          <p:nvPr/>
        </p:nvSpPr>
        <p:spPr>
          <a:xfrm>
            <a:off x="4927600" y="2247900"/>
            <a:ext cx="6299200" cy="3683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Inventory source code, languages, frameworks, files, calls, dependencies, data use, integrations, components, and functional boundaries.</a:t>
            </a:r>
            <a:endParaRPr lang="en-US" sz="950" dirty="0">
              <a:solidFill>
                <a:srgbClr val="070154"/>
              </a:solidFill>
              <a:latin typeface="Arial"/>
              <a:cs typeface="Arial"/>
            </a:endParaRPr>
          </a:p>
        </p:txBody>
      </p:sp>
      <p:sp>
        <p:nvSpPr>
          <p:cNvPr id="35" name="Rectangle 34">
            <a:extLst>
              <a:ext uri="{FF2B5EF4-FFF2-40B4-BE49-F238E27FC236}">
                <a16:creationId xmlns:a16="http://schemas.microsoft.com/office/drawing/2014/main" id="{B15FDD90-86DD-B246-82D6-98131A8A22F3}"/>
              </a:ext>
            </a:extLst>
          </p:cNvPr>
          <p:cNvSpPr/>
          <p:nvPr/>
        </p:nvSpPr>
        <p:spPr bwMode="auto">
          <a:xfrm>
            <a:off x="4673600" y="2870200"/>
            <a:ext cx="6807200" cy="8255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6" name="Rectangle 35">
            <a:extLst>
              <a:ext uri="{FF2B5EF4-FFF2-40B4-BE49-F238E27FC236}">
                <a16:creationId xmlns:a16="http://schemas.microsoft.com/office/drawing/2014/main" id="{7C47ECB5-473A-2A4E-8CB2-BE4C1ADAD83C}"/>
              </a:ext>
            </a:extLst>
          </p:cNvPr>
          <p:cNvSpPr/>
          <p:nvPr/>
        </p:nvSpPr>
        <p:spPr bwMode="auto">
          <a:xfrm>
            <a:off x="4673600" y="2870200"/>
            <a:ext cx="88900" cy="8255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7" name="TextBox 36">
            <a:extLst>
              <a:ext uri="{FF2B5EF4-FFF2-40B4-BE49-F238E27FC236}">
                <a16:creationId xmlns:a16="http://schemas.microsoft.com/office/drawing/2014/main" id="{38BF2714-4678-8543-AF0F-B6BD09F9732C}"/>
              </a:ext>
            </a:extLst>
          </p:cNvPr>
          <p:cNvSpPr txBox="1"/>
          <p:nvPr/>
        </p:nvSpPr>
        <p:spPr>
          <a:xfrm>
            <a:off x="4927600" y="2984500"/>
            <a:ext cx="292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b="1">
                <a:solidFill>
                  <a:srgbClr val="F900D3"/>
                </a:solidFill>
                <a:latin typeface="Arial"/>
                <a:cs typeface="Arial"/>
              </a:rPr>
              <a:t>GENERATE RECOMMENDATIONS</a:t>
            </a:r>
            <a:endParaRPr lang="en-US" sz="1050" b="1" dirty="0">
              <a:solidFill>
                <a:srgbClr val="F900D3"/>
              </a:solidFill>
              <a:latin typeface="Arial"/>
              <a:cs typeface="Arial"/>
            </a:endParaRPr>
          </a:p>
        </p:txBody>
      </p:sp>
      <p:sp>
        <p:nvSpPr>
          <p:cNvPr id="38" name="TextBox 37">
            <a:extLst>
              <a:ext uri="{FF2B5EF4-FFF2-40B4-BE49-F238E27FC236}">
                <a16:creationId xmlns:a16="http://schemas.microsoft.com/office/drawing/2014/main" id="{EFE13C05-E47A-854B-9692-713C9A0E4963}"/>
              </a:ext>
            </a:extLst>
          </p:cNvPr>
          <p:cNvSpPr txBox="1"/>
          <p:nvPr/>
        </p:nvSpPr>
        <p:spPr>
          <a:xfrm>
            <a:off x="4927600" y="3225800"/>
            <a:ext cx="6299200" cy="3683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Translate evidence into modernization options, target-state considerations, risks, dependencies, and candidate work packages.</a:t>
            </a:r>
            <a:endParaRPr lang="en-US" sz="950" dirty="0">
              <a:solidFill>
                <a:srgbClr val="070154"/>
              </a:solidFill>
              <a:latin typeface="Arial"/>
              <a:cs typeface="Arial"/>
            </a:endParaRPr>
          </a:p>
        </p:txBody>
      </p:sp>
      <p:sp>
        <p:nvSpPr>
          <p:cNvPr id="39" name="Rectangle 38">
            <a:extLst>
              <a:ext uri="{FF2B5EF4-FFF2-40B4-BE49-F238E27FC236}">
                <a16:creationId xmlns:a16="http://schemas.microsoft.com/office/drawing/2014/main" id="{8479313C-698A-B34B-B49D-7F75B05E2357}"/>
              </a:ext>
            </a:extLst>
          </p:cNvPr>
          <p:cNvSpPr/>
          <p:nvPr/>
        </p:nvSpPr>
        <p:spPr bwMode="auto">
          <a:xfrm>
            <a:off x="4673600" y="3848100"/>
            <a:ext cx="6807200" cy="8255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0" name="Rectangle 39">
            <a:extLst>
              <a:ext uri="{FF2B5EF4-FFF2-40B4-BE49-F238E27FC236}">
                <a16:creationId xmlns:a16="http://schemas.microsoft.com/office/drawing/2014/main" id="{6D4B6793-EF30-1D4C-A9A8-7FDFC71E593E}"/>
              </a:ext>
            </a:extLst>
          </p:cNvPr>
          <p:cNvSpPr/>
          <p:nvPr/>
        </p:nvSpPr>
        <p:spPr bwMode="auto">
          <a:xfrm>
            <a:off x="4673600" y="3848100"/>
            <a:ext cx="88900" cy="8255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1" name="TextBox 40">
            <a:extLst>
              <a:ext uri="{FF2B5EF4-FFF2-40B4-BE49-F238E27FC236}">
                <a16:creationId xmlns:a16="http://schemas.microsoft.com/office/drawing/2014/main" id="{6DF9B2C4-FF0E-AE4B-AFDB-A150BE4F485F}"/>
              </a:ext>
            </a:extLst>
          </p:cNvPr>
          <p:cNvSpPr txBox="1"/>
          <p:nvPr/>
        </p:nvSpPr>
        <p:spPr>
          <a:xfrm>
            <a:off x="4927600" y="3962400"/>
            <a:ext cx="292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b="1">
                <a:solidFill>
                  <a:srgbClr val="0047FF"/>
                </a:solidFill>
                <a:latin typeface="Arial"/>
                <a:cs typeface="Arial"/>
              </a:rPr>
              <a:t>PROPOSE SEQUENCING</a:t>
            </a:r>
            <a:endParaRPr lang="en-US" sz="1050" b="1" dirty="0">
              <a:solidFill>
                <a:srgbClr val="0047FF"/>
              </a:solidFill>
              <a:latin typeface="Arial"/>
              <a:cs typeface="Arial"/>
            </a:endParaRPr>
          </a:p>
        </p:txBody>
      </p:sp>
      <p:sp>
        <p:nvSpPr>
          <p:cNvPr id="42" name="TextBox 41">
            <a:extLst>
              <a:ext uri="{FF2B5EF4-FFF2-40B4-BE49-F238E27FC236}">
                <a16:creationId xmlns:a16="http://schemas.microsoft.com/office/drawing/2014/main" id="{6D726653-A327-B74A-B78A-385A4D0E70F7}"/>
              </a:ext>
            </a:extLst>
          </p:cNvPr>
          <p:cNvSpPr txBox="1"/>
          <p:nvPr/>
        </p:nvSpPr>
        <p:spPr>
          <a:xfrm>
            <a:off x="4927600" y="4203700"/>
            <a:ext cx="6299200" cy="3683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Suggest where to start and how initiatives may sequence based on coupling, blast radius, feasibility, and value—while preserving assumptions and uncertainty.</a:t>
            </a:r>
            <a:endParaRPr lang="en-US" sz="950" dirty="0">
              <a:solidFill>
                <a:srgbClr val="070154"/>
              </a:solidFill>
              <a:latin typeface="Arial"/>
              <a:cs typeface="Arial"/>
            </a:endParaRPr>
          </a:p>
        </p:txBody>
      </p:sp>
      <p:sp>
        <p:nvSpPr>
          <p:cNvPr id="43" name="TextBox 42">
            <a:extLst>
              <a:ext uri="{FF2B5EF4-FFF2-40B4-BE49-F238E27FC236}">
                <a16:creationId xmlns:a16="http://schemas.microsoft.com/office/drawing/2014/main" id="{25A3AE37-F21B-7B49-9E9E-B5A7950BC770}"/>
              </a:ext>
            </a:extLst>
          </p:cNvPr>
          <p:cNvSpPr txBox="1"/>
          <p:nvPr/>
        </p:nvSpPr>
        <p:spPr>
          <a:xfrm>
            <a:off x="4673600" y="4749800"/>
            <a:ext cx="6807200" cy="228600"/>
          </a:xfrm>
          <a:prstGeom prst="rect">
            <a:avLst/>
          </a:prstGeom>
          <a:noFill/>
        </p:spPr>
        <p:txBody>
          <a:bodyPr vertOverflow="overflow" vert="horz" wrap="square" lIns="0" tIns="0" rIns="0" bIns="0" rtlCol="0" anchor="t">
            <a:noAutofit/>
          </a:bodyPr>
          <a:lstStyle/>
          <a:p>
            <a:pPr marL="0" indent="0" algn="l">
              <a:spcAft>
                <a:spcPts val="600"/>
              </a:spcAft>
              <a:tabLst/>
            </a:pPr>
            <a:r>
              <a:rPr lang="en-US" sz="850">
                <a:solidFill>
                  <a:srgbClr val="50627A"/>
                </a:solidFill>
                <a:latin typeface="Arial"/>
                <a:cs typeface="Arial"/>
              </a:rPr>
              <a:t>Recommendations are transparent, reviewable starting points—not final decisions.</a:t>
            </a:r>
            <a:endParaRPr lang="en-US" sz="850" dirty="0">
              <a:solidFill>
                <a:srgbClr val="50627A"/>
              </a:solidFill>
              <a:latin typeface="Arial"/>
              <a:cs typeface="Arial"/>
            </a:endParaRPr>
          </a:p>
        </p:txBody>
      </p:sp>
      <p:sp>
        <p:nvSpPr>
          <p:cNvPr id="44" name="Rectangle 43">
            <a:extLst>
              <a:ext uri="{FF2B5EF4-FFF2-40B4-BE49-F238E27FC236}">
                <a16:creationId xmlns:a16="http://schemas.microsoft.com/office/drawing/2014/main" id="{BB3F30DD-F418-AE41-B2A3-C38132C371C2}"/>
              </a:ext>
            </a:extLst>
          </p:cNvPr>
          <p:cNvSpPr/>
          <p:nvPr/>
        </p:nvSpPr>
        <p:spPr bwMode="auto">
          <a:xfrm>
            <a:off x="457200" y="5283200"/>
            <a:ext cx="11277600" cy="8763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5" name="TextBox 44">
            <a:extLst>
              <a:ext uri="{FF2B5EF4-FFF2-40B4-BE49-F238E27FC236}">
                <a16:creationId xmlns:a16="http://schemas.microsoft.com/office/drawing/2014/main" id="{9184CDF5-84F2-5042-BE7A-A9FD1F78348E}"/>
              </a:ext>
            </a:extLst>
          </p:cNvPr>
          <p:cNvSpPr txBox="1"/>
          <p:nvPr/>
        </p:nvSpPr>
        <p:spPr>
          <a:xfrm>
            <a:off x="685800" y="5435600"/>
            <a:ext cx="2794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F900D3"/>
                </a:solidFill>
                <a:latin typeface="Arial"/>
                <a:cs typeface="Arial"/>
              </a:rPr>
              <a:t>HUMAN JUDGMENT REMAINS CENTRAL</a:t>
            </a:r>
            <a:endParaRPr lang="en-US" sz="950" b="1" dirty="0">
              <a:solidFill>
                <a:srgbClr val="F900D3"/>
              </a:solidFill>
              <a:latin typeface="Arial"/>
              <a:cs typeface="Arial"/>
            </a:endParaRPr>
          </a:p>
        </p:txBody>
      </p:sp>
      <p:sp>
        <p:nvSpPr>
          <p:cNvPr id="46" name="TextBox 45">
            <a:extLst>
              <a:ext uri="{FF2B5EF4-FFF2-40B4-BE49-F238E27FC236}">
                <a16:creationId xmlns:a16="http://schemas.microsoft.com/office/drawing/2014/main" id="{2B613BAE-C200-9845-9D50-83C7AB77F373}"/>
              </a:ext>
            </a:extLst>
          </p:cNvPr>
          <p:cNvSpPr txBox="1"/>
          <p:nvPr/>
        </p:nvSpPr>
        <p:spPr>
          <a:xfrm>
            <a:off x="685800" y="5702300"/>
            <a:ext cx="10795000" cy="342900"/>
          </a:xfrm>
          <a:prstGeom prst="rect">
            <a:avLst/>
          </a:prstGeom>
          <a:noFill/>
        </p:spPr>
        <p:txBody>
          <a:bodyPr vertOverflow="overflow" vert="horz" wrap="square" lIns="0" tIns="0" rIns="0" bIns="0" rtlCol="0" anchor="t">
            <a:noAutofit/>
          </a:bodyPr>
          <a:lstStyle/>
          <a:p>
            <a:pPr marL="0" indent="0" algn="l">
              <a:spcAft>
                <a:spcPts val="600"/>
              </a:spcAft>
              <a:tabLst/>
            </a:pPr>
            <a:r>
              <a:rPr lang="en-US" sz="1050" b="1">
                <a:solidFill>
                  <a:srgbClr val="070154"/>
                </a:solidFill>
                <a:latin typeface="Arial"/>
                <a:cs typeface="Arial"/>
              </a:rPr>
              <a:t>Product managers and architects validate context, weigh business priorities and constraints, and guide the final modernization roadmap. Evolve accelerates judgment; it does not replace it.</a:t>
            </a:r>
            <a:endParaRPr lang="en-US" sz="1050" b="1" dirty="0">
              <a:solidFill>
                <a:srgbClr val="070154"/>
              </a:solidFill>
              <a:latin typeface="Arial"/>
              <a:cs typeface="Arial"/>
            </a:endParaRPr>
          </a:p>
        </p:txBody>
      </p:sp>
      <p:sp>
        <p:nvSpPr>
          <p:cNvPr id="3" name="TextBox 2">
            <a:extLst>
              <a:ext uri="{FF2B5EF4-FFF2-40B4-BE49-F238E27FC236}">
                <a16:creationId xmlns:a16="http://schemas.microsoft.com/office/drawing/2014/main" id="{A4BEDF11-C862-304C-8F40-A18B72125BFB}"/>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7A339BBF-337E-2F45-98E0-AF5D606D40F8}"/>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r>
              <a:rPr lang="en-US" sz="550">
                <a:solidFill>
                  <a:srgbClr val="070154"/>
                </a:solidFill>
                <a:latin typeface="Arial"/>
                <a:cs typeface="Arial"/>
              </a:rPr>
              <a:t>23</a:t>
            </a:r>
            <a:endParaRPr lang="en-US" sz="550" dirty="0">
              <a:solidFill>
                <a:srgbClr val="070154"/>
              </a:solidFill>
              <a:latin typeface="Arial"/>
              <a:cs typeface="Arial"/>
            </a:endParaRPr>
          </a:p>
        </p:txBody>
      </p:sp>
    </p:spTree>
    <p:extLst>
      <p:ext uri="{BB962C8B-B14F-4D97-AF65-F5344CB8AC3E}">
        <p14:creationId xmlns:p14="http://schemas.microsoft.com/office/powerpoint/2010/main" val="38745457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5F6A7D-08EE-E649-A39E-606D7E9AD0BC}"/>
              </a:ext>
            </a:extLst>
          </p:cNvPr>
          <p:cNvSpPr txBox="1"/>
          <p:nvPr/>
        </p:nvSpPr>
        <p:spPr>
          <a:xfrm>
            <a:off x="457200" y="533400"/>
            <a:ext cx="11277600" cy="635000"/>
          </a:xfrm>
          <a:prstGeom prst="rect">
            <a:avLst/>
          </a:prstGeom>
          <a:noFill/>
        </p:spPr>
        <p:txBody>
          <a:bodyPr vertOverflow="overflow" vert="horz" wrap="square" lIns="0" tIns="0" rIns="0" bIns="0" rtlCol="0" anchor="t">
            <a:normAutofit fontScale="92500" lnSpcReduction="10000"/>
          </a:bodyPr>
          <a:lstStyle/>
          <a:p>
            <a:pPr marL="0" indent="0" algn="l">
              <a:spcAft>
                <a:spcPts val="600"/>
              </a:spcAft>
              <a:tabLst/>
            </a:pPr>
            <a:r>
              <a:rPr lang="en-US" sz="2400" b="1" dirty="0">
                <a:solidFill>
                  <a:srgbClr val="070154"/>
                </a:solidFill>
                <a:latin typeface="Arial"/>
                <a:cs typeface="Arial"/>
              </a:rPr>
              <a:t>Evolve builds an evidence base during Rationalize, runs analysis workflows, and develops a context database used during the Build phase.</a:t>
            </a:r>
          </a:p>
        </p:txBody>
      </p:sp>
      <p:sp>
        <p:nvSpPr>
          <p:cNvPr id="5" name="TextBox 4">
            <a:extLst>
              <a:ext uri="{FF2B5EF4-FFF2-40B4-BE49-F238E27FC236}">
                <a16:creationId xmlns:a16="http://schemas.microsoft.com/office/drawing/2014/main" id="{013857A2-B045-D143-BC33-80102F69C925}"/>
              </a:ext>
            </a:extLst>
          </p:cNvPr>
          <p:cNvSpPr txBox="1"/>
          <p:nvPr/>
        </p:nvSpPr>
        <p:spPr>
          <a:xfrm>
            <a:off x="457200" y="1219200"/>
            <a:ext cx="11277600" cy="279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a:solidFill>
                  <a:srgbClr val="50627A"/>
                </a:solidFill>
                <a:latin typeface="Arial"/>
                <a:cs typeface="Arial"/>
              </a:rPr>
              <a:t>A connected journey from source-backed findings to business-owned decisions.</a:t>
            </a:r>
            <a:endParaRPr lang="en-US" sz="1100" dirty="0">
              <a:solidFill>
                <a:srgbClr val="50627A"/>
              </a:solidFill>
              <a:latin typeface="Arial"/>
              <a:cs typeface="Arial"/>
            </a:endParaRPr>
          </a:p>
        </p:txBody>
      </p:sp>
      <p:sp>
        <p:nvSpPr>
          <p:cNvPr id="8" name="Rectangle 7">
            <a:extLst>
              <a:ext uri="{FF2B5EF4-FFF2-40B4-BE49-F238E27FC236}">
                <a16:creationId xmlns:a16="http://schemas.microsoft.com/office/drawing/2014/main" id="{9668BF0A-4E04-4147-AA07-2A514FD3E1BE}"/>
              </a:ext>
            </a:extLst>
          </p:cNvPr>
          <p:cNvSpPr/>
          <p:nvPr/>
        </p:nvSpPr>
        <p:spPr bwMode="auto">
          <a:xfrm>
            <a:off x="457200" y="1765300"/>
            <a:ext cx="2590800" cy="3581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 name="Rectangle 8">
            <a:extLst>
              <a:ext uri="{FF2B5EF4-FFF2-40B4-BE49-F238E27FC236}">
                <a16:creationId xmlns:a16="http://schemas.microsoft.com/office/drawing/2014/main" id="{BFA12922-24FF-C149-8AB3-1F4A07565BF7}"/>
              </a:ext>
            </a:extLst>
          </p:cNvPr>
          <p:cNvSpPr/>
          <p:nvPr/>
        </p:nvSpPr>
        <p:spPr bwMode="auto">
          <a:xfrm>
            <a:off x="457200" y="1765300"/>
            <a:ext cx="2590800" cy="1143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TextBox 9">
            <a:extLst>
              <a:ext uri="{FF2B5EF4-FFF2-40B4-BE49-F238E27FC236}">
                <a16:creationId xmlns:a16="http://schemas.microsoft.com/office/drawing/2014/main" id="{A87CB217-40D1-554D-BC0B-0497EBE0C61E}"/>
              </a:ext>
            </a:extLst>
          </p:cNvPr>
          <p:cNvSpPr txBox="1"/>
          <p:nvPr/>
        </p:nvSpPr>
        <p:spPr>
          <a:xfrm>
            <a:off x="635000" y="2006600"/>
            <a:ext cx="38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01</a:t>
            </a:r>
            <a:endParaRPr lang="en-US" sz="900" b="1" dirty="0">
              <a:solidFill>
                <a:srgbClr val="0047FF"/>
              </a:solidFill>
              <a:latin typeface="Arial"/>
              <a:cs typeface="Arial"/>
            </a:endParaRPr>
          </a:p>
        </p:txBody>
      </p:sp>
      <p:sp>
        <p:nvSpPr>
          <p:cNvPr id="11" name="TextBox 10">
            <a:extLst>
              <a:ext uri="{FF2B5EF4-FFF2-40B4-BE49-F238E27FC236}">
                <a16:creationId xmlns:a16="http://schemas.microsoft.com/office/drawing/2014/main" id="{5CD32D8B-99A5-464A-B12F-3D0B12022585}"/>
              </a:ext>
            </a:extLst>
          </p:cNvPr>
          <p:cNvSpPr txBox="1"/>
          <p:nvPr/>
        </p:nvSpPr>
        <p:spPr>
          <a:xfrm>
            <a:off x="635000" y="2311400"/>
            <a:ext cx="2235200" cy="304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b="1">
                <a:solidFill>
                  <a:srgbClr val="070154"/>
                </a:solidFill>
                <a:latin typeface="Arial"/>
                <a:cs typeface="Arial"/>
              </a:rPr>
              <a:t>THESIS ALIGNMENT</a:t>
            </a:r>
            <a:endParaRPr lang="en-US" sz="1300" b="1" dirty="0">
              <a:solidFill>
                <a:srgbClr val="070154"/>
              </a:solidFill>
              <a:latin typeface="Arial"/>
              <a:cs typeface="Arial"/>
            </a:endParaRPr>
          </a:p>
        </p:txBody>
      </p:sp>
      <p:sp>
        <p:nvSpPr>
          <p:cNvPr id="12" name="TextBox 11">
            <a:extLst>
              <a:ext uri="{FF2B5EF4-FFF2-40B4-BE49-F238E27FC236}">
                <a16:creationId xmlns:a16="http://schemas.microsoft.com/office/drawing/2014/main" id="{61F1218B-17C8-6948-A705-6A76B2728D52}"/>
              </a:ext>
            </a:extLst>
          </p:cNvPr>
          <p:cNvSpPr txBox="1"/>
          <p:nvPr/>
        </p:nvSpPr>
        <p:spPr>
          <a:xfrm>
            <a:off x="635000" y="2806700"/>
            <a:ext cx="22352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EVOLVE EVIDENCE</a:t>
            </a:r>
            <a:endParaRPr lang="en-US" sz="900" b="1" dirty="0">
              <a:solidFill>
                <a:srgbClr val="0047FF"/>
              </a:solidFill>
              <a:latin typeface="Arial"/>
              <a:cs typeface="Arial"/>
            </a:endParaRPr>
          </a:p>
        </p:txBody>
      </p:sp>
      <p:sp>
        <p:nvSpPr>
          <p:cNvPr id="13" name="TextBox 12">
            <a:extLst>
              <a:ext uri="{FF2B5EF4-FFF2-40B4-BE49-F238E27FC236}">
                <a16:creationId xmlns:a16="http://schemas.microsoft.com/office/drawing/2014/main" id="{9C955729-4318-1040-9723-477694ECA22F}"/>
              </a:ext>
            </a:extLst>
          </p:cNvPr>
          <p:cNvSpPr txBox="1"/>
          <p:nvPr/>
        </p:nvSpPr>
        <p:spPr>
          <a:xfrm>
            <a:off x="635000" y="3048000"/>
            <a:ext cx="2235200" cy="8890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Repository scope, technology signals, available evidence, known uncertainty.</a:t>
            </a:r>
            <a:endParaRPr lang="en-US" sz="950" dirty="0">
              <a:solidFill>
                <a:srgbClr val="070154"/>
              </a:solidFill>
              <a:latin typeface="Arial"/>
              <a:cs typeface="Arial"/>
            </a:endParaRPr>
          </a:p>
        </p:txBody>
      </p:sp>
      <p:sp>
        <p:nvSpPr>
          <p:cNvPr id="14" name="Rectangle 13">
            <a:extLst>
              <a:ext uri="{FF2B5EF4-FFF2-40B4-BE49-F238E27FC236}">
                <a16:creationId xmlns:a16="http://schemas.microsoft.com/office/drawing/2014/main" id="{E7B47A48-5A0E-4C45-A446-FA0C455F1711}"/>
              </a:ext>
            </a:extLst>
          </p:cNvPr>
          <p:cNvSpPr/>
          <p:nvPr/>
        </p:nvSpPr>
        <p:spPr bwMode="auto">
          <a:xfrm>
            <a:off x="635000" y="4064000"/>
            <a:ext cx="2235200" cy="12700"/>
          </a:xfrm>
          <a:prstGeom prst="rect">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TextBox 14">
            <a:extLst>
              <a:ext uri="{FF2B5EF4-FFF2-40B4-BE49-F238E27FC236}">
                <a16:creationId xmlns:a16="http://schemas.microsoft.com/office/drawing/2014/main" id="{B8AB4E55-33E9-5349-B4C6-41839CDA2BC6}"/>
              </a:ext>
            </a:extLst>
          </p:cNvPr>
          <p:cNvSpPr txBox="1"/>
          <p:nvPr/>
        </p:nvSpPr>
        <p:spPr>
          <a:xfrm>
            <a:off x="635000" y="4216400"/>
            <a:ext cx="22352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70154"/>
                </a:solidFill>
                <a:latin typeface="Arial"/>
                <a:cs typeface="Arial"/>
              </a:rPr>
              <a:t>WIDER-TEAM DECISION</a:t>
            </a:r>
            <a:endParaRPr lang="en-US" sz="900" b="1" dirty="0">
              <a:solidFill>
                <a:srgbClr val="070154"/>
              </a:solidFill>
              <a:latin typeface="Arial"/>
              <a:cs typeface="Arial"/>
            </a:endParaRPr>
          </a:p>
        </p:txBody>
      </p:sp>
      <p:sp>
        <p:nvSpPr>
          <p:cNvPr id="16" name="TextBox 15">
            <a:extLst>
              <a:ext uri="{FF2B5EF4-FFF2-40B4-BE49-F238E27FC236}">
                <a16:creationId xmlns:a16="http://schemas.microsoft.com/office/drawing/2014/main" id="{91F9EC28-4F27-C643-ABFB-A9494958A154}"/>
              </a:ext>
            </a:extLst>
          </p:cNvPr>
          <p:cNvSpPr txBox="1"/>
          <p:nvPr/>
        </p:nvSpPr>
        <p:spPr>
          <a:xfrm>
            <a:off x="635000" y="4457700"/>
            <a:ext cx="2235200" cy="7366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Set catalyst, outcome, criteria, business scope, measures, and the investment question.</a:t>
            </a:r>
            <a:endParaRPr lang="en-US" sz="950" dirty="0">
              <a:solidFill>
                <a:srgbClr val="070154"/>
              </a:solidFill>
              <a:latin typeface="Arial"/>
              <a:cs typeface="Arial"/>
            </a:endParaRPr>
          </a:p>
        </p:txBody>
      </p:sp>
      <p:sp>
        <p:nvSpPr>
          <p:cNvPr id="17" name="Rectangle 16">
            <a:extLst>
              <a:ext uri="{FF2B5EF4-FFF2-40B4-BE49-F238E27FC236}">
                <a16:creationId xmlns:a16="http://schemas.microsoft.com/office/drawing/2014/main" id="{82B2F295-0C48-F04A-8CE4-DC2D68CECAAA}"/>
              </a:ext>
            </a:extLst>
          </p:cNvPr>
          <p:cNvSpPr/>
          <p:nvPr/>
        </p:nvSpPr>
        <p:spPr bwMode="auto">
          <a:xfrm>
            <a:off x="3276600" y="1765300"/>
            <a:ext cx="2590800" cy="3581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8" name="Rectangle 17">
            <a:extLst>
              <a:ext uri="{FF2B5EF4-FFF2-40B4-BE49-F238E27FC236}">
                <a16:creationId xmlns:a16="http://schemas.microsoft.com/office/drawing/2014/main" id="{A0EF2113-8075-224C-BC9A-0AF6BFE156FA}"/>
              </a:ext>
            </a:extLst>
          </p:cNvPr>
          <p:cNvSpPr/>
          <p:nvPr/>
        </p:nvSpPr>
        <p:spPr bwMode="auto">
          <a:xfrm>
            <a:off x="3276600" y="1765300"/>
            <a:ext cx="2590800" cy="1143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9" name="TextBox 18">
            <a:extLst>
              <a:ext uri="{FF2B5EF4-FFF2-40B4-BE49-F238E27FC236}">
                <a16:creationId xmlns:a16="http://schemas.microsoft.com/office/drawing/2014/main" id="{65760410-1512-F14D-86C0-BB2D9BEF2400}"/>
              </a:ext>
            </a:extLst>
          </p:cNvPr>
          <p:cNvSpPr txBox="1"/>
          <p:nvPr/>
        </p:nvSpPr>
        <p:spPr>
          <a:xfrm>
            <a:off x="3454400" y="2006600"/>
            <a:ext cx="38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02</a:t>
            </a:r>
            <a:endParaRPr lang="en-US" sz="900" b="1" dirty="0">
              <a:solidFill>
                <a:srgbClr val="0047FF"/>
              </a:solidFill>
              <a:latin typeface="Arial"/>
              <a:cs typeface="Arial"/>
            </a:endParaRPr>
          </a:p>
        </p:txBody>
      </p:sp>
      <p:sp>
        <p:nvSpPr>
          <p:cNvPr id="20" name="TextBox 19">
            <a:extLst>
              <a:ext uri="{FF2B5EF4-FFF2-40B4-BE49-F238E27FC236}">
                <a16:creationId xmlns:a16="http://schemas.microsoft.com/office/drawing/2014/main" id="{14B3C173-C994-1F41-BBCB-8F025582CC8D}"/>
              </a:ext>
            </a:extLst>
          </p:cNvPr>
          <p:cNvSpPr txBox="1"/>
          <p:nvPr/>
        </p:nvSpPr>
        <p:spPr>
          <a:xfrm>
            <a:off x="3454400" y="2311400"/>
            <a:ext cx="2235200" cy="304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b="1">
                <a:solidFill>
                  <a:srgbClr val="070154"/>
                </a:solidFill>
                <a:latin typeface="Arial"/>
                <a:cs typeface="Arial"/>
              </a:rPr>
              <a:t>ASSESSMENT</a:t>
            </a:r>
            <a:endParaRPr lang="en-US" sz="1300" b="1" dirty="0">
              <a:solidFill>
                <a:srgbClr val="070154"/>
              </a:solidFill>
              <a:latin typeface="Arial"/>
              <a:cs typeface="Arial"/>
            </a:endParaRPr>
          </a:p>
        </p:txBody>
      </p:sp>
      <p:sp>
        <p:nvSpPr>
          <p:cNvPr id="21" name="TextBox 20">
            <a:extLst>
              <a:ext uri="{FF2B5EF4-FFF2-40B4-BE49-F238E27FC236}">
                <a16:creationId xmlns:a16="http://schemas.microsoft.com/office/drawing/2014/main" id="{5B6984C0-0D08-2F4A-BD23-5174B5733B8C}"/>
              </a:ext>
            </a:extLst>
          </p:cNvPr>
          <p:cNvSpPr txBox="1"/>
          <p:nvPr/>
        </p:nvSpPr>
        <p:spPr>
          <a:xfrm>
            <a:off x="3454400" y="2806700"/>
            <a:ext cx="22352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EVOLVE EVIDENCE</a:t>
            </a:r>
            <a:endParaRPr lang="en-US" sz="900" b="1" dirty="0">
              <a:solidFill>
                <a:srgbClr val="0047FF"/>
              </a:solidFill>
              <a:latin typeface="Arial"/>
              <a:cs typeface="Arial"/>
            </a:endParaRPr>
          </a:p>
        </p:txBody>
      </p:sp>
      <p:sp>
        <p:nvSpPr>
          <p:cNvPr id="22" name="TextBox 21">
            <a:extLst>
              <a:ext uri="{FF2B5EF4-FFF2-40B4-BE49-F238E27FC236}">
                <a16:creationId xmlns:a16="http://schemas.microsoft.com/office/drawing/2014/main" id="{023FF7FF-6827-C341-8C70-41574D98905F}"/>
              </a:ext>
            </a:extLst>
          </p:cNvPr>
          <p:cNvSpPr txBox="1"/>
          <p:nvPr/>
        </p:nvSpPr>
        <p:spPr>
          <a:xfrm>
            <a:off x="3454400" y="3048000"/>
            <a:ext cx="2235200" cy="8890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Source inventory, structure, routines, calls, data use, dependencies, integrations, components, functional boundaries, coverage, and ambiguity.</a:t>
            </a:r>
            <a:endParaRPr lang="en-US" sz="950" dirty="0">
              <a:solidFill>
                <a:srgbClr val="070154"/>
              </a:solidFill>
              <a:latin typeface="Arial"/>
              <a:cs typeface="Arial"/>
            </a:endParaRPr>
          </a:p>
        </p:txBody>
      </p:sp>
      <p:sp>
        <p:nvSpPr>
          <p:cNvPr id="23" name="Rectangle 22">
            <a:extLst>
              <a:ext uri="{FF2B5EF4-FFF2-40B4-BE49-F238E27FC236}">
                <a16:creationId xmlns:a16="http://schemas.microsoft.com/office/drawing/2014/main" id="{1F4C6852-0D72-E44C-B33C-163E29CFAD52}"/>
              </a:ext>
            </a:extLst>
          </p:cNvPr>
          <p:cNvSpPr/>
          <p:nvPr/>
        </p:nvSpPr>
        <p:spPr bwMode="auto">
          <a:xfrm>
            <a:off x="3454400" y="4064000"/>
            <a:ext cx="2235200" cy="12700"/>
          </a:xfrm>
          <a:prstGeom prst="rect">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4" name="TextBox 23">
            <a:extLst>
              <a:ext uri="{FF2B5EF4-FFF2-40B4-BE49-F238E27FC236}">
                <a16:creationId xmlns:a16="http://schemas.microsoft.com/office/drawing/2014/main" id="{5EE3E468-637C-994A-82FE-B8B182BC3E44}"/>
              </a:ext>
            </a:extLst>
          </p:cNvPr>
          <p:cNvSpPr txBox="1"/>
          <p:nvPr/>
        </p:nvSpPr>
        <p:spPr>
          <a:xfrm>
            <a:off x="3454400" y="4216400"/>
            <a:ext cx="22352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70154"/>
                </a:solidFill>
                <a:latin typeface="Arial"/>
                <a:cs typeface="Arial"/>
              </a:rPr>
              <a:t>WIDER-TEAM DECISION</a:t>
            </a:r>
            <a:endParaRPr lang="en-US" sz="900" b="1" dirty="0">
              <a:solidFill>
                <a:srgbClr val="070154"/>
              </a:solidFill>
              <a:latin typeface="Arial"/>
              <a:cs typeface="Arial"/>
            </a:endParaRPr>
          </a:p>
        </p:txBody>
      </p:sp>
      <p:sp>
        <p:nvSpPr>
          <p:cNvPr id="25" name="TextBox 24">
            <a:extLst>
              <a:ext uri="{FF2B5EF4-FFF2-40B4-BE49-F238E27FC236}">
                <a16:creationId xmlns:a16="http://schemas.microsoft.com/office/drawing/2014/main" id="{7FC1622D-3FBA-1B40-A6D9-0A5ED1446F27}"/>
              </a:ext>
            </a:extLst>
          </p:cNvPr>
          <p:cNvSpPr txBox="1"/>
          <p:nvPr/>
        </p:nvSpPr>
        <p:spPr>
          <a:xfrm>
            <a:off x="3454400" y="4457700"/>
            <a:ext cx="2235200" cy="7366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Observe work, interview experts, assess process, business value, risk and cost, and validate what findings mean.</a:t>
            </a:r>
            <a:endParaRPr lang="en-US" sz="950" dirty="0">
              <a:solidFill>
                <a:srgbClr val="070154"/>
              </a:solidFill>
              <a:latin typeface="Arial"/>
              <a:cs typeface="Arial"/>
            </a:endParaRPr>
          </a:p>
        </p:txBody>
      </p:sp>
      <p:sp>
        <p:nvSpPr>
          <p:cNvPr id="26" name="Rectangle 25">
            <a:extLst>
              <a:ext uri="{FF2B5EF4-FFF2-40B4-BE49-F238E27FC236}">
                <a16:creationId xmlns:a16="http://schemas.microsoft.com/office/drawing/2014/main" id="{0E3F93D3-BD88-A141-A361-DE26670A44A6}"/>
              </a:ext>
            </a:extLst>
          </p:cNvPr>
          <p:cNvSpPr/>
          <p:nvPr/>
        </p:nvSpPr>
        <p:spPr bwMode="auto">
          <a:xfrm>
            <a:off x="6096000" y="1765300"/>
            <a:ext cx="2590800" cy="3581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7" name="Rectangle 26">
            <a:extLst>
              <a:ext uri="{FF2B5EF4-FFF2-40B4-BE49-F238E27FC236}">
                <a16:creationId xmlns:a16="http://schemas.microsoft.com/office/drawing/2014/main" id="{A43A6215-C141-3548-8F5A-6862D34DAE01}"/>
              </a:ext>
            </a:extLst>
          </p:cNvPr>
          <p:cNvSpPr/>
          <p:nvPr/>
        </p:nvSpPr>
        <p:spPr bwMode="auto">
          <a:xfrm>
            <a:off x="6096000" y="1765300"/>
            <a:ext cx="2590800" cy="1143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TextBox 27">
            <a:extLst>
              <a:ext uri="{FF2B5EF4-FFF2-40B4-BE49-F238E27FC236}">
                <a16:creationId xmlns:a16="http://schemas.microsoft.com/office/drawing/2014/main" id="{5B1F1815-F50E-AA4E-9D50-CFE7FA4037CE}"/>
              </a:ext>
            </a:extLst>
          </p:cNvPr>
          <p:cNvSpPr txBox="1"/>
          <p:nvPr/>
        </p:nvSpPr>
        <p:spPr>
          <a:xfrm>
            <a:off x="6273800" y="2006600"/>
            <a:ext cx="38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03</a:t>
            </a:r>
            <a:endParaRPr lang="en-US" sz="900" b="1" dirty="0">
              <a:solidFill>
                <a:srgbClr val="0047FF"/>
              </a:solidFill>
              <a:latin typeface="Arial"/>
              <a:cs typeface="Arial"/>
            </a:endParaRPr>
          </a:p>
        </p:txBody>
      </p:sp>
      <p:sp>
        <p:nvSpPr>
          <p:cNvPr id="29" name="TextBox 28">
            <a:extLst>
              <a:ext uri="{FF2B5EF4-FFF2-40B4-BE49-F238E27FC236}">
                <a16:creationId xmlns:a16="http://schemas.microsoft.com/office/drawing/2014/main" id="{4FB1D03F-1EE0-4D46-8FEF-071838877142}"/>
              </a:ext>
            </a:extLst>
          </p:cNvPr>
          <p:cNvSpPr txBox="1"/>
          <p:nvPr/>
        </p:nvSpPr>
        <p:spPr>
          <a:xfrm>
            <a:off x="6273800" y="2311400"/>
            <a:ext cx="2235200" cy="304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b="1">
                <a:solidFill>
                  <a:srgbClr val="070154"/>
                </a:solidFill>
                <a:latin typeface="Arial"/>
                <a:cs typeface="Arial"/>
              </a:rPr>
              <a:t>REIMAGINE</a:t>
            </a:r>
            <a:endParaRPr lang="en-US" sz="1300" b="1" dirty="0">
              <a:solidFill>
                <a:srgbClr val="070154"/>
              </a:solidFill>
              <a:latin typeface="Arial"/>
              <a:cs typeface="Arial"/>
            </a:endParaRPr>
          </a:p>
        </p:txBody>
      </p:sp>
      <p:sp>
        <p:nvSpPr>
          <p:cNvPr id="30" name="TextBox 29">
            <a:extLst>
              <a:ext uri="{FF2B5EF4-FFF2-40B4-BE49-F238E27FC236}">
                <a16:creationId xmlns:a16="http://schemas.microsoft.com/office/drawing/2014/main" id="{5D9EA02E-694C-7245-BC80-312E2EDF28A4}"/>
              </a:ext>
            </a:extLst>
          </p:cNvPr>
          <p:cNvSpPr txBox="1"/>
          <p:nvPr/>
        </p:nvSpPr>
        <p:spPr>
          <a:xfrm>
            <a:off x="6273800" y="2806700"/>
            <a:ext cx="22352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EVOLVE EVIDENCE</a:t>
            </a:r>
            <a:endParaRPr lang="en-US" sz="900" b="1" dirty="0">
              <a:solidFill>
                <a:srgbClr val="0047FF"/>
              </a:solidFill>
              <a:latin typeface="Arial"/>
              <a:cs typeface="Arial"/>
            </a:endParaRPr>
          </a:p>
        </p:txBody>
      </p:sp>
      <p:sp>
        <p:nvSpPr>
          <p:cNvPr id="31" name="TextBox 30">
            <a:extLst>
              <a:ext uri="{FF2B5EF4-FFF2-40B4-BE49-F238E27FC236}">
                <a16:creationId xmlns:a16="http://schemas.microsoft.com/office/drawing/2014/main" id="{90621B92-9CCA-3741-8F69-8D18D092E819}"/>
              </a:ext>
            </a:extLst>
          </p:cNvPr>
          <p:cNvSpPr txBox="1"/>
          <p:nvPr/>
        </p:nvSpPr>
        <p:spPr>
          <a:xfrm>
            <a:off x="6273800" y="3048000"/>
            <a:ext cx="2235200" cy="8890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Validated current behavior and constraints available to selected functional specification and workflow or wireframe activities.</a:t>
            </a:r>
            <a:endParaRPr lang="en-US" sz="950" dirty="0">
              <a:solidFill>
                <a:srgbClr val="070154"/>
              </a:solidFill>
              <a:latin typeface="Arial"/>
              <a:cs typeface="Arial"/>
            </a:endParaRPr>
          </a:p>
        </p:txBody>
      </p:sp>
      <p:sp>
        <p:nvSpPr>
          <p:cNvPr id="32" name="Rectangle 31">
            <a:extLst>
              <a:ext uri="{FF2B5EF4-FFF2-40B4-BE49-F238E27FC236}">
                <a16:creationId xmlns:a16="http://schemas.microsoft.com/office/drawing/2014/main" id="{9D19916B-B401-2040-8AA6-508747C57107}"/>
              </a:ext>
            </a:extLst>
          </p:cNvPr>
          <p:cNvSpPr/>
          <p:nvPr/>
        </p:nvSpPr>
        <p:spPr bwMode="auto">
          <a:xfrm>
            <a:off x="6273800" y="4064000"/>
            <a:ext cx="2235200" cy="12700"/>
          </a:xfrm>
          <a:prstGeom prst="rect">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3" name="TextBox 32">
            <a:extLst>
              <a:ext uri="{FF2B5EF4-FFF2-40B4-BE49-F238E27FC236}">
                <a16:creationId xmlns:a16="http://schemas.microsoft.com/office/drawing/2014/main" id="{55E3E58D-AA1F-634E-BBED-FA7DA4E709DC}"/>
              </a:ext>
            </a:extLst>
          </p:cNvPr>
          <p:cNvSpPr txBox="1"/>
          <p:nvPr/>
        </p:nvSpPr>
        <p:spPr>
          <a:xfrm>
            <a:off x="6273800" y="4216400"/>
            <a:ext cx="22352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70154"/>
                </a:solidFill>
                <a:latin typeface="Arial"/>
                <a:cs typeface="Arial"/>
              </a:rPr>
              <a:t>WIDER-TEAM DECISION</a:t>
            </a:r>
            <a:endParaRPr lang="en-US" sz="900" b="1" dirty="0">
              <a:solidFill>
                <a:srgbClr val="070154"/>
              </a:solidFill>
              <a:latin typeface="Arial"/>
              <a:cs typeface="Arial"/>
            </a:endParaRPr>
          </a:p>
        </p:txBody>
      </p:sp>
      <p:sp>
        <p:nvSpPr>
          <p:cNvPr id="34" name="TextBox 33">
            <a:extLst>
              <a:ext uri="{FF2B5EF4-FFF2-40B4-BE49-F238E27FC236}">
                <a16:creationId xmlns:a16="http://schemas.microsoft.com/office/drawing/2014/main" id="{037DAE3D-74E2-F741-8D7B-6BD3021F884E}"/>
              </a:ext>
            </a:extLst>
          </p:cNvPr>
          <p:cNvSpPr txBox="1"/>
          <p:nvPr/>
        </p:nvSpPr>
        <p:spPr>
          <a:xfrm>
            <a:off x="6273800" y="4457700"/>
            <a:ext cx="2235200" cy="7366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Choose what to preserve, remove, redesign, automate, buy, or build. Test target process, experience, architecture, and value hypotheses.</a:t>
            </a:r>
            <a:endParaRPr lang="en-US" sz="950" dirty="0">
              <a:solidFill>
                <a:srgbClr val="070154"/>
              </a:solidFill>
              <a:latin typeface="Arial"/>
              <a:cs typeface="Arial"/>
            </a:endParaRPr>
          </a:p>
        </p:txBody>
      </p:sp>
      <p:sp>
        <p:nvSpPr>
          <p:cNvPr id="35" name="Rectangle 34">
            <a:extLst>
              <a:ext uri="{FF2B5EF4-FFF2-40B4-BE49-F238E27FC236}">
                <a16:creationId xmlns:a16="http://schemas.microsoft.com/office/drawing/2014/main" id="{A0C675AF-29B0-2449-96D4-46AE5C5D5DA9}"/>
              </a:ext>
            </a:extLst>
          </p:cNvPr>
          <p:cNvSpPr/>
          <p:nvPr/>
        </p:nvSpPr>
        <p:spPr bwMode="auto">
          <a:xfrm>
            <a:off x="8915400" y="1765300"/>
            <a:ext cx="2819400" cy="3581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6" name="Rectangle 35">
            <a:extLst>
              <a:ext uri="{FF2B5EF4-FFF2-40B4-BE49-F238E27FC236}">
                <a16:creationId xmlns:a16="http://schemas.microsoft.com/office/drawing/2014/main" id="{7F413DAB-4D14-B741-81A8-8AC373683950}"/>
              </a:ext>
            </a:extLst>
          </p:cNvPr>
          <p:cNvSpPr/>
          <p:nvPr/>
        </p:nvSpPr>
        <p:spPr bwMode="auto">
          <a:xfrm>
            <a:off x="8915400" y="1765300"/>
            <a:ext cx="2819400" cy="1143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7" name="TextBox 36">
            <a:extLst>
              <a:ext uri="{FF2B5EF4-FFF2-40B4-BE49-F238E27FC236}">
                <a16:creationId xmlns:a16="http://schemas.microsoft.com/office/drawing/2014/main" id="{F8773582-4353-4E46-B58D-72555187BF65}"/>
              </a:ext>
            </a:extLst>
          </p:cNvPr>
          <p:cNvSpPr txBox="1"/>
          <p:nvPr/>
        </p:nvSpPr>
        <p:spPr>
          <a:xfrm>
            <a:off x="9093200" y="2006600"/>
            <a:ext cx="38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04</a:t>
            </a:r>
            <a:endParaRPr lang="en-US" sz="900" b="1" dirty="0">
              <a:solidFill>
                <a:srgbClr val="0047FF"/>
              </a:solidFill>
              <a:latin typeface="Arial"/>
              <a:cs typeface="Arial"/>
            </a:endParaRPr>
          </a:p>
        </p:txBody>
      </p:sp>
      <p:sp>
        <p:nvSpPr>
          <p:cNvPr id="39" name="TextBox 38">
            <a:extLst>
              <a:ext uri="{FF2B5EF4-FFF2-40B4-BE49-F238E27FC236}">
                <a16:creationId xmlns:a16="http://schemas.microsoft.com/office/drawing/2014/main" id="{467C4D8D-BDD4-474A-B553-E5DC6501582B}"/>
              </a:ext>
            </a:extLst>
          </p:cNvPr>
          <p:cNvSpPr txBox="1"/>
          <p:nvPr/>
        </p:nvSpPr>
        <p:spPr>
          <a:xfrm>
            <a:off x="9093200" y="2311400"/>
            <a:ext cx="2463800" cy="304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b="1">
                <a:solidFill>
                  <a:srgbClr val="070154"/>
                </a:solidFill>
                <a:latin typeface="Arial"/>
                <a:cs typeface="Arial"/>
              </a:rPr>
              <a:t>PLAN</a:t>
            </a:r>
            <a:endParaRPr lang="en-US" sz="1300" b="1" dirty="0">
              <a:solidFill>
                <a:srgbClr val="070154"/>
              </a:solidFill>
              <a:latin typeface="Arial"/>
              <a:cs typeface="Arial"/>
            </a:endParaRPr>
          </a:p>
        </p:txBody>
      </p:sp>
      <p:sp>
        <p:nvSpPr>
          <p:cNvPr id="44" name="TextBox 43">
            <a:extLst>
              <a:ext uri="{FF2B5EF4-FFF2-40B4-BE49-F238E27FC236}">
                <a16:creationId xmlns:a16="http://schemas.microsoft.com/office/drawing/2014/main" id="{B0E158DB-6428-0B4F-A7F5-03CA4E75255B}"/>
              </a:ext>
            </a:extLst>
          </p:cNvPr>
          <p:cNvSpPr txBox="1"/>
          <p:nvPr/>
        </p:nvSpPr>
        <p:spPr>
          <a:xfrm>
            <a:off x="9093200" y="2806700"/>
            <a:ext cx="2463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EVOLVE EVIDENCE</a:t>
            </a:r>
            <a:endParaRPr lang="en-US" sz="900" b="1" dirty="0">
              <a:solidFill>
                <a:srgbClr val="0047FF"/>
              </a:solidFill>
              <a:latin typeface="Arial"/>
              <a:cs typeface="Arial"/>
            </a:endParaRPr>
          </a:p>
        </p:txBody>
      </p:sp>
      <p:sp>
        <p:nvSpPr>
          <p:cNvPr id="45" name="TextBox 44">
            <a:extLst>
              <a:ext uri="{FF2B5EF4-FFF2-40B4-BE49-F238E27FC236}">
                <a16:creationId xmlns:a16="http://schemas.microsoft.com/office/drawing/2014/main" id="{E0B5CD0C-DEA5-1C40-A74D-7DB728421CD1}"/>
              </a:ext>
            </a:extLst>
          </p:cNvPr>
          <p:cNvSpPr txBox="1"/>
          <p:nvPr/>
        </p:nvSpPr>
        <p:spPr>
          <a:xfrm>
            <a:off x="9093200" y="3048000"/>
            <a:ext cx="2463800" cy="8890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Source references, dependency and impact evidence, reports, scenarios, and planning artifacts.</a:t>
            </a:r>
            <a:endParaRPr lang="en-US" sz="950" dirty="0">
              <a:solidFill>
                <a:srgbClr val="070154"/>
              </a:solidFill>
              <a:latin typeface="Arial"/>
              <a:cs typeface="Arial"/>
            </a:endParaRPr>
          </a:p>
        </p:txBody>
      </p:sp>
      <p:sp>
        <p:nvSpPr>
          <p:cNvPr id="51" name="Rectangle 50">
            <a:extLst>
              <a:ext uri="{FF2B5EF4-FFF2-40B4-BE49-F238E27FC236}">
                <a16:creationId xmlns:a16="http://schemas.microsoft.com/office/drawing/2014/main" id="{A83BF09A-F2A5-D84A-A6C6-57A75311CE6A}"/>
              </a:ext>
            </a:extLst>
          </p:cNvPr>
          <p:cNvSpPr/>
          <p:nvPr/>
        </p:nvSpPr>
        <p:spPr bwMode="auto">
          <a:xfrm>
            <a:off x="9093200" y="4064000"/>
            <a:ext cx="2463800" cy="12700"/>
          </a:xfrm>
          <a:prstGeom prst="rect">
            <a:avLst/>
          </a:prstGeom>
          <a:solidFill>
            <a:srgbClr val="CED7E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2" name="TextBox 51">
            <a:extLst>
              <a:ext uri="{FF2B5EF4-FFF2-40B4-BE49-F238E27FC236}">
                <a16:creationId xmlns:a16="http://schemas.microsoft.com/office/drawing/2014/main" id="{7B36110C-A9DB-BC4C-A766-4F0C9429DC19}"/>
              </a:ext>
            </a:extLst>
          </p:cNvPr>
          <p:cNvSpPr txBox="1"/>
          <p:nvPr/>
        </p:nvSpPr>
        <p:spPr>
          <a:xfrm>
            <a:off x="9093200" y="4216400"/>
            <a:ext cx="2463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70154"/>
                </a:solidFill>
                <a:latin typeface="Arial"/>
                <a:cs typeface="Arial"/>
              </a:rPr>
              <a:t>WIDER-TEAM DECISION</a:t>
            </a:r>
            <a:endParaRPr lang="en-US" sz="900" b="1" dirty="0">
              <a:solidFill>
                <a:srgbClr val="070154"/>
              </a:solidFill>
              <a:latin typeface="Arial"/>
              <a:cs typeface="Arial"/>
            </a:endParaRPr>
          </a:p>
        </p:txBody>
      </p:sp>
      <p:sp>
        <p:nvSpPr>
          <p:cNvPr id="53" name="TextBox 52">
            <a:extLst>
              <a:ext uri="{FF2B5EF4-FFF2-40B4-BE49-F238E27FC236}">
                <a16:creationId xmlns:a16="http://schemas.microsoft.com/office/drawing/2014/main" id="{2132168B-4903-F945-846C-A5BED0F7606B}"/>
              </a:ext>
            </a:extLst>
          </p:cNvPr>
          <p:cNvSpPr txBox="1"/>
          <p:nvPr/>
        </p:nvSpPr>
        <p:spPr>
          <a:xfrm>
            <a:off x="9093200" y="4457700"/>
            <a:ext cx="2463800" cy="7366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Select dispositions, build the business case, set roadmap and governance, and approve the first viable wave.</a:t>
            </a:r>
            <a:endParaRPr lang="en-US" sz="950" dirty="0">
              <a:solidFill>
                <a:srgbClr val="070154"/>
              </a:solidFill>
              <a:latin typeface="Arial"/>
              <a:cs typeface="Arial"/>
            </a:endParaRPr>
          </a:p>
        </p:txBody>
      </p:sp>
      <p:sp>
        <p:nvSpPr>
          <p:cNvPr id="54" name="Rectangle 53">
            <a:extLst>
              <a:ext uri="{FF2B5EF4-FFF2-40B4-BE49-F238E27FC236}">
                <a16:creationId xmlns:a16="http://schemas.microsoft.com/office/drawing/2014/main" id="{A2E944A6-4665-4642-B4F2-A419AC98A7F7}"/>
              </a:ext>
            </a:extLst>
          </p:cNvPr>
          <p:cNvSpPr/>
          <p:nvPr/>
        </p:nvSpPr>
        <p:spPr bwMode="auto">
          <a:xfrm>
            <a:off x="457200" y="5562600"/>
            <a:ext cx="11277600" cy="5969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60" name="TextBox 59">
            <a:extLst>
              <a:ext uri="{FF2B5EF4-FFF2-40B4-BE49-F238E27FC236}">
                <a16:creationId xmlns:a16="http://schemas.microsoft.com/office/drawing/2014/main" id="{77DD4F3F-D4B4-6B47-AD46-7EAD8CA44ABD}"/>
              </a:ext>
            </a:extLst>
          </p:cNvPr>
          <p:cNvSpPr txBox="1"/>
          <p:nvPr/>
        </p:nvSpPr>
        <p:spPr>
          <a:xfrm>
            <a:off x="685800" y="5702300"/>
            <a:ext cx="10820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FFFFFF"/>
                </a:solidFill>
                <a:latin typeface="Arial"/>
                <a:cs typeface="Arial"/>
              </a:rPr>
              <a:t>Evolve builds the technical and functional evidence layer. West Monroe and client experts connect that evidence to business intent and make the modernization decisions.</a:t>
            </a:r>
            <a:endParaRPr lang="en-US" sz="1000" b="1" dirty="0">
              <a:solidFill>
                <a:srgbClr val="FFFFFF"/>
              </a:solidFill>
              <a:latin typeface="Arial"/>
              <a:cs typeface="Arial"/>
            </a:endParaRPr>
          </a:p>
        </p:txBody>
      </p:sp>
      <p:sp>
        <p:nvSpPr>
          <p:cNvPr id="3" name="TextBox 2">
            <a:extLst>
              <a:ext uri="{FF2B5EF4-FFF2-40B4-BE49-F238E27FC236}">
                <a16:creationId xmlns:a16="http://schemas.microsoft.com/office/drawing/2014/main" id="{219AA00B-8C76-3249-81A3-C159285ACAD6}"/>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4" name="TextBox 3">
            <a:extLst>
              <a:ext uri="{FF2B5EF4-FFF2-40B4-BE49-F238E27FC236}">
                <a16:creationId xmlns:a16="http://schemas.microsoft.com/office/drawing/2014/main" id="{7888832C-617D-7F49-877A-20D8E6C3BC30}"/>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r>
              <a:rPr lang="en-US" sz="550">
                <a:solidFill>
                  <a:srgbClr val="070154"/>
                </a:solidFill>
                <a:latin typeface="Arial"/>
                <a:cs typeface="Arial"/>
              </a:rPr>
              <a:t>24</a:t>
            </a:r>
            <a:endParaRPr lang="en-US" sz="550" dirty="0">
              <a:solidFill>
                <a:srgbClr val="070154"/>
              </a:solidFill>
              <a:latin typeface="Arial"/>
              <a:cs typeface="Arial"/>
            </a:endParaRPr>
          </a:p>
        </p:txBody>
      </p:sp>
    </p:spTree>
    <p:custDataLst>
      <p:tags r:id="rId1"/>
    </p:custDataLst>
    <p:extLst>
      <p:ext uri="{BB962C8B-B14F-4D97-AF65-F5344CB8AC3E}">
        <p14:creationId xmlns:p14="http://schemas.microsoft.com/office/powerpoint/2010/main" val="14835704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18585F-E4AD-154C-BCCF-F7D1849A91F9}"/>
              </a:ext>
            </a:extLst>
          </p:cNvPr>
          <p:cNvSpPr txBox="1"/>
          <p:nvPr/>
        </p:nvSpPr>
        <p:spPr>
          <a:xfrm>
            <a:off x="457200" y="533400"/>
            <a:ext cx="11277600" cy="635000"/>
          </a:xfrm>
          <a:prstGeom prst="rect">
            <a:avLst/>
          </a:prstGeom>
          <a:noFill/>
        </p:spPr>
        <p:txBody>
          <a:bodyPr vertOverflow="overflow" vert="horz" wrap="square" lIns="0" tIns="0" rIns="0" bIns="0" rtlCol="0" anchor="t">
            <a:normAutofit/>
          </a:bodyPr>
          <a:lstStyle/>
          <a:p>
            <a:pPr marL="0" indent="0" algn="l">
              <a:spcAft>
                <a:spcPts val="600"/>
              </a:spcAft>
              <a:tabLst/>
            </a:pPr>
            <a:r>
              <a:rPr lang="en-US" sz="2400" b="1">
                <a:solidFill>
                  <a:srgbClr val="070154"/>
                </a:solidFill>
                <a:latin typeface="Arial"/>
                <a:cs typeface="Arial"/>
              </a:rPr>
              <a:t>From security scan findings to a reviewable remediation plan</a:t>
            </a:r>
            <a:endParaRPr lang="en-US" sz="2400" b="1" dirty="0">
              <a:solidFill>
                <a:srgbClr val="070154"/>
              </a:solidFill>
              <a:latin typeface="Arial"/>
              <a:cs typeface="Arial"/>
            </a:endParaRPr>
          </a:p>
        </p:txBody>
      </p:sp>
      <p:sp>
        <p:nvSpPr>
          <p:cNvPr id="15" name="Rectangle 14">
            <a:extLst>
              <a:ext uri="{FF2B5EF4-FFF2-40B4-BE49-F238E27FC236}">
                <a16:creationId xmlns:a16="http://schemas.microsoft.com/office/drawing/2014/main" id="{BA1E9CDC-A007-6F48-AB29-01A95C9A378B}"/>
              </a:ext>
            </a:extLst>
          </p:cNvPr>
          <p:cNvSpPr/>
          <p:nvPr/>
        </p:nvSpPr>
        <p:spPr bwMode="auto">
          <a:xfrm>
            <a:off x="457200" y="1282700"/>
            <a:ext cx="1127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950"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16" name="TextBox 15">
            <a:extLst>
              <a:ext uri="{FF2B5EF4-FFF2-40B4-BE49-F238E27FC236}">
                <a16:creationId xmlns:a16="http://schemas.microsoft.com/office/drawing/2014/main" id="{411D6F3B-2281-9B45-9C76-98D27B06E885}"/>
              </a:ext>
            </a:extLst>
          </p:cNvPr>
          <p:cNvSpPr txBox="1"/>
          <p:nvPr/>
        </p:nvSpPr>
        <p:spPr>
          <a:xfrm>
            <a:off x="660400" y="1447800"/>
            <a:ext cx="6604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INPUTS</a:t>
            </a:r>
            <a:endParaRPr lang="en-US" sz="900" b="1" dirty="0">
              <a:solidFill>
                <a:srgbClr val="0047FF"/>
              </a:solidFill>
              <a:latin typeface="Arial"/>
              <a:cs typeface="Arial"/>
            </a:endParaRPr>
          </a:p>
        </p:txBody>
      </p:sp>
      <p:sp>
        <p:nvSpPr>
          <p:cNvPr id="17" name="TextBox 16">
            <a:extLst>
              <a:ext uri="{FF2B5EF4-FFF2-40B4-BE49-F238E27FC236}">
                <a16:creationId xmlns:a16="http://schemas.microsoft.com/office/drawing/2014/main" id="{EA12D218-B881-2E47-8271-679E166767ED}"/>
              </a:ext>
            </a:extLst>
          </p:cNvPr>
          <p:cNvSpPr txBox="1"/>
          <p:nvPr/>
        </p:nvSpPr>
        <p:spPr>
          <a:xfrm>
            <a:off x="1422400" y="1397000"/>
            <a:ext cx="10033000" cy="304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a:solidFill>
                  <a:srgbClr val="070154"/>
                </a:solidFill>
                <a:latin typeface="Arial"/>
                <a:cs typeface="Arial"/>
              </a:rPr>
              <a:t>Structured CVE or scanner findings  •  relevant source repository and Evolve evidence store  •  component, dependency, integration, and business-criticality context</a:t>
            </a:r>
            <a:endParaRPr lang="en-US" sz="900" dirty="0">
              <a:solidFill>
                <a:srgbClr val="070154"/>
              </a:solidFill>
              <a:latin typeface="Arial"/>
              <a:cs typeface="Arial"/>
            </a:endParaRPr>
          </a:p>
        </p:txBody>
      </p:sp>
      <p:sp>
        <p:nvSpPr>
          <p:cNvPr id="18" name="Rectangle 17">
            <a:extLst>
              <a:ext uri="{FF2B5EF4-FFF2-40B4-BE49-F238E27FC236}">
                <a16:creationId xmlns:a16="http://schemas.microsoft.com/office/drawing/2014/main" id="{07795B89-7C03-0242-9F47-2DA6C60E6E13}"/>
              </a:ext>
            </a:extLst>
          </p:cNvPr>
          <p:cNvSpPr/>
          <p:nvPr/>
        </p:nvSpPr>
        <p:spPr bwMode="auto">
          <a:xfrm>
            <a:off x="457200" y="2057400"/>
            <a:ext cx="2032000" cy="2603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9" name="Rectangle 18">
            <a:extLst>
              <a:ext uri="{FF2B5EF4-FFF2-40B4-BE49-F238E27FC236}">
                <a16:creationId xmlns:a16="http://schemas.microsoft.com/office/drawing/2014/main" id="{A99C6778-4ADF-3B41-878C-BB25EE8938EC}"/>
              </a:ext>
            </a:extLst>
          </p:cNvPr>
          <p:cNvSpPr/>
          <p:nvPr/>
        </p:nvSpPr>
        <p:spPr bwMode="auto">
          <a:xfrm>
            <a:off x="457200" y="2057400"/>
            <a:ext cx="2032000" cy="101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5" name="TextBox 24">
            <a:extLst>
              <a:ext uri="{FF2B5EF4-FFF2-40B4-BE49-F238E27FC236}">
                <a16:creationId xmlns:a16="http://schemas.microsoft.com/office/drawing/2014/main" id="{6668B9A0-DA7F-C246-9A79-BA9760B1E1BC}"/>
              </a:ext>
            </a:extLst>
          </p:cNvPr>
          <p:cNvSpPr txBox="1"/>
          <p:nvPr/>
        </p:nvSpPr>
        <p:spPr>
          <a:xfrm>
            <a:off x="609600" y="2260600"/>
            <a:ext cx="38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50627A"/>
                </a:solidFill>
                <a:latin typeface="Arial"/>
                <a:cs typeface="Arial"/>
              </a:rPr>
              <a:t>01</a:t>
            </a:r>
            <a:endParaRPr lang="en-US" sz="900" b="1" dirty="0">
              <a:solidFill>
                <a:srgbClr val="50627A"/>
              </a:solidFill>
              <a:latin typeface="Arial"/>
              <a:cs typeface="Arial"/>
            </a:endParaRPr>
          </a:p>
        </p:txBody>
      </p:sp>
      <p:sp>
        <p:nvSpPr>
          <p:cNvPr id="26" name="TextBox 25">
            <a:extLst>
              <a:ext uri="{FF2B5EF4-FFF2-40B4-BE49-F238E27FC236}">
                <a16:creationId xmlns:a16="http://schemas.microsoft.com/office/drawing/2014/main" id="{0808FA21-6FF4-A34E-80BE-99790801BD38}"/>
              </a:ext>
            </a:extLst>
          </p:cNvPr>
          <p:cNvSpPr txBox="1"/>
          <p:nvPr/>
        </p:nvSpPr>
        <p:spPr>
          <a:xfrm>
            <a:off x="609600" y="2565400"/>
            <a:ext cx="1727200" cy="533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50" b="1">
                <a:solidFill>
                  <a:srgbClr val="070154"/>
                </a:solidFill>
                <a:latin typeface="Arial"/>
                <a:cs typeface="Arial"/>
              </a:rPr>
              <a:t>NORMALIZE THE INVENTORY</a:t>
            </a:r>
            <a:endParaRPr lang="en-US" sz="1150" b="1" dirty="0">
              <a:solidFill>
                <a:srgbClr val="070154"/>
              </a:solidFill>
              <a:latin typeface="Arial"/>
              <a:cs typeface="Arial"/>
            </a:endParaRPr>
          </a:p>
        </p:txBody>
      </p:sp>
      <p:sp>
        <p:nvSpPr>
          <p:cNvPr id="27" name="TextBox 26">
            <a:extLst>
              <a:ext uri="{FF2B5EF4-FFF2-40B4-BE49-F238E27FC236}">
                <a16:creationId xmlns:a16="http://schemas.microsoft.com/office/drawing/2014/main" id="{CA85996A-267A-494D-8EE3-733FA84A656A}"/>
              </a:ext>
            </a:extLst>
          </p:cNvPr>
          <p:cNvSpPr txBox="1"/>
          <p:nvPr/>
        </p:nvSpPr>
        <p:spPr>
          <a:xfrm>
            <a:off x="609600" y="3213100"/>
            <a:ext cx="1727200" cy="12827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Organize findings, affected packages or components, severity, scanner evidence, and missing information.</a:t>
            </a:r>
            <a:endParaRPr lang="en-US" sz="950" dirty="0">
              <a:solidFill>
                <a:srgbClr val="070154"/>
              </a:solidFill>
              <a:latin typeface="Arial"/>
              <a:cs typeface="Arial"/>
            </a:endParaRPr>
          </a:p>
        </p:txBody>
      </p:sp>
      <p:sp>
        <p:nvSpPr>
          <p:cNvPr id="28" name="Rectangle 27">
            <a:extLst>
              <a:ext uri="{FF2B5EF4-FFF2-40B4-BE49-F238E27FC236}">
                <a16:creationId xmlns:a16="http://schemas.microsoft.com/office/drawing/2014/main" id="{7BA671C9-6859-0A4C-85C3-8F21AA863D22}"/>
              </a:ext>
            </a:extLst>
          </p:cNvPr>
          <p:cNvSpPr/>
          <p:nvPr/>
        </p:nvSpPr>
        <p:spPr bwMode="auto">
          <a:xfrm>
            <a:off x="2717800" y="2057400"/>
            <a:ext cx="2032000" cy="2603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Rectangle 28">
            <a:extLst>
              <a:ext uri="{FF2B5EF4-FFF2-40B4-BE49-F238E27FC236}">
                <a16:creationId xmlns:a16="http://schemas.microsoft.com/office/drawing/2014/main" id="{5DD4E731-B458-3248-81CE-EBA2B6C86461}"/>
              </a:ext>
            </a:extLst>
          </p:cNvPr>
          <p:cNvSpPr/>
          <p:nvPr/>
        </p:nvSpPr>
        <p:spPr bwMode="auto">
          <a:xfrm>
            <a:off x="2717800" y="2057400"/>
            <a:ext cx="2032000" cy="101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0" name="TextBox 29">
            <a:extLst>
              <a:ext uri="{FF2B5EF4-FFF2-40B4-BE49-F238E27FC236}">
                <a16:creationId xmlns:a16="http://schemas.microsoft.com/office/drawing/2014/main" id="{EFA298D2-2E16-CE41-BF4C-4CA4B06CB538}"/>
              </a:ext>
            </a:extLst>
          </p:cNvPr>
          <p:cNvSpPr txBox="1"/>
          <p:nvPr/>
        </p:nvSpPr>
        <p:spPr>
          <a:xfrm>
            <a:off x="2870200" y="2260600"/>
            <a:ext cx="38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50627A"/>
                </a:solidFill>
                <a:latin typeface="Arial"/>
                <a:cs typeface="Arial"/>
              </a:rPr>
              <a:t>02</a:t>
            </a:r>
            <a:endParaRPr lang="en-US" sz="900" b="1" dirty="0">
              <a:solidFill>
                <a:srgbClr val="50627A"/>
              </a:solidFill>
              <a:latin typeface="Arial"/>
              <a:cs typeface="Arial"/>
            </a:endParaRPr>
          </a:p>
        </p:txBody>
      </p:sp>
      <p:sp>
        <p:nvSpPr>
          <p:cNvPr id="31" name="TextBox 30">
            <a:extLst>
              <a:ext uri="{FF2B5EF4-FFF2-40B4-BE49-F238E27FC236}">
                <a16:creationId xmlns:a16="http://schemas.microsoft.com/office/drawing/2014/main" id="{BF2080FB-D472-9045-B627-B81F321CCF3F}"/>
              </a:ext>
            </a:extLst>
          </p:cNvPr>
          <p:cNvSpPr txBox="1"/>
          <p:nvPr/>
        </p:nvSpPr>
        <p:spPr>
          <a:xfrm>
            <a:off x="2870200" y="2565400"/>
            <a:ext cx="1727200" cy="533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50" b="1">
                <a:solidFill>
                  <a:srgbClr val="070154"/>
                </a:solidFill>
                <a:latin typeface="Arial"/>
                <a:cs typeface="Arial"/>
              </a:rPr>
              <a:t>CONNECT FINDINGS TO THE SYSTEM</a:t>
            </a:r>
            <a:endParaRPr lang="en-US" sz="1150" b="1" dirty="0">
              <a:solidFill>
                <a:srgbClr val="070154"/>
              </a:solidFill>
              <a:latin typeface="Arial"/>
              <a:cs typeface="Arial"/>
            </a:endParaRPr>
          </a:p>
        </p:txBody>
      </p:sp>
      <p:sp>
        <p:nvSpPr>
          <p:cNvPr id="32" name="TextBox 31">
            <a:extLst>
              <a:ext uri="{FF2B5EF4-FFF2-40B4-BE49-F238E27FC236}">
                <a16:creationId xmlns:a16="http://schemas.microsoft.com/office/drawing/2014/main" id="{CD27696F-F68F-6049-BFA0-367215DDFE18}"/>
              </a:ext>
            </a:extLst>
          </p:cNvPr>
          <p:cNvSpPr txBox="1"/>
          <p:nvPr/>
        </p:nvSpPr>
        <p:spPr>
          <a:xfrm>
            <a:off x="2870200" y="3213100"/>
            <a:ext cx="1727200" cy="12827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Map candidate issues to source-linked components, dependencies, code paths, integrations, and potential blast radius where evidence supports it.</a:t>
            </a:r>
            <a:endParaRPr lang="en-US" sz="950" dirty="0">
              <a:solidFill>
                <a:srgbClr val="070154"/>
              </a:solidFill>
              <a:latin typeface="Arial"/>
              <a:cs typeface="Arial"/>
            </a:endParaRPr>
          </a:p>
        </p:txBody>
      </p:sp>
      <p:sp>
        <p:nvSpPr>
          <p:cNvPr id="33" name="Rectangle 32">
            <a:extLst>
              <a:ext uri="{FF2B5EF4-FFF2-40B4-BE49-F238E27FC236}">
                <a16:creationId xmlns:a16="http://schemas.microsoft.com/office/drawing/2014/main" id="{C22810EA-0997-DC4D-A9B0-CFA423F788B3}"/>
              </a:ext>
            </a:extLst>
          </p:cNvPr>
          <p:cNvSpPr/>
          <p:nvPr/>
        </p:nvSpPr>
        <p:spPr bwMode="auto">
          <a:xfrm>
            <a:off x="4978400" y="2057400"/>
            <a:ext cx="2032000" cy="2603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4" name="Rectangle 33">
            <a:extLst>
              <a:ext uri="{FF2B5EF4-FFF2-40B4-BE49-F238E27FC236}">
                <a16:creationId xmlns:a16="http://schemas.microsoft.com/office/drawing/2014/main" id="{F80789E3-BD39-CE43-BB26-21F0AD64F936}"/>
              </a:ext>
            </a:extLst>
          </p:cNvPr>
          <p:cNvSpPr/>
          <p:nvPr/>
        </p:nvSpPr>
        <p:spPr bwMode="auto">
          <a:xfrm>
            <a:off x="4978400" y="2057400"/>
            <a:ext cx="2032000" cy="101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5" name="TextBox 34">
            <a:extLst>
              <a:ext uri="{FF2B5EF4-FFF2-40B4-BE49-F238E27FC236}">
                <a16:creationId xmlns:a16="http://schemas.microsoft.com/office/drawing/2014/main" id="{C37D5A22-7974-9745-9C14-C0A572630D99}"/>
              </a:ext>
            </a:extLst>
          </p:cNvPr>
          <p:cNvSpPr txBox="1"/>
          <p:nvPr/>
        </p:nvSpPr>
        <p:spPr>
          <a:xfrm>
            <a:off x="5130800" y="2260600"/>
            <a:ext cx="38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50627A"/>
                </a:solidFill>
                <a:latin typeface="Arial"/>
                <a:cs typeface="Arial"/>
              </a:rPr>
              <a:t>03</a:t>
            </a:r>
            <a:endParaRPr lang="en-US" sz="900" b="1" dirty="0">
              <a:solidFill>
                <a:srgbClr val="50627A"/>
              </a:solidFill>
              <a:latin typeface="Arial"/>
              <a:cs typeface="Arial"/>
            </a:endParaRPr>
          </a:p>
        </p:txBody>
      </p:sp>
      <p:sp>
        <p:nvSpPr>
          <p:cNvPr id="36" name="TextBox 35">
            <a:extLst>
              <a:ext uri="{FF2B5EF4-FFF2-40B4-BE49-F238E27FC236}">
                <a16:creationId xmlns:a16="http://schemas.microsoft.com/office/drawing/2014/main" id="{9800B319-2DD1-6846-9FED-FBBFC3D82D83}"/>
              </a:ext>
            </a:extLst>
          </p:cNvPr>
          <p:cNvSpPr txBox="1"/>
          <p:nvPr/>
        </p:nvSpPr>
        <p:spPr>
          <a:xfrm>
            <a:off x="5130800" y="2565400"/>
            <a:ext cx="1727200" cy="533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50" b="1">
                <a:solidFill>
                  <a:srgbClr val="070154"/>
                </a:solidFill>
                <a:latin typeface="Arial"/>
                <a:cs typeface="Arial"/>
              </a:rPr>
              <a:t>REVIEW APPLICABILITY</a:t>
            </a:r>
            <a:endParaRPr lang="en-US" sz="1150" b="1" dirty="0">
              <a:solidFill>
                <a:srgbClr val="070154"/>
              </a:solidFill>
              <a:latin typeface="Arial"/>
              <a:cs typeface="Arial"/>
            </a:endParaRPr>
          </a:p>
        </p:txBody>
      </p:sp>
      <p:sp>
        <p:nvSpPr>
          <p:cNvPr id="37" name="TextBox 36">
            <a:extLst>
              <a:ext uri="{FF2B5EF4-FFF2-40B4-BE49-F238E27FC236}">
                <a16:creationId xmlns:a16="http://schemas.microsoft.com/office/drawing/2014/main" id="{7E85FCEB-A991-0F48-A61E-8C21AC58EAA3}"/>
              </a:ext>
            </a:extLst>
          </p:cNvPr>
          <p:cNvSpPr txBox="1"/>
          <p:nvPr/>
        </p:nvSpPr>
        <p:spPr>
          <a:xfrm>
            <a:off x="5130800" y="3213100"/>
            <a:ext cx="1727200" cy="12827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Flag supporting evidence, possible duplication, uncertain reachability, compensating controls, and false-positive questions for a security specialist.</a:t>
            </a:r>
            <a:endParaRPr lang="en-US" sz="950" dirty="0">
              <a:solidFill>
                <a:srgbClr val="070154"/>
              </a:solidFill>
              <a:latin typeface="Arial"/>
              <a:cs typeface="Arial"/>
            </a:endParaRPr>
          </a:p>
        </p:txBody>
      </p:sp>
      <p:sp>
        <p:nvSpPr>
          <p:cNvPr id="38" name="Rectangle 37">
            <a:extLst>
              <a:ext uri="{FF2B5EF4-FFF2-40B4-BE49-F238E27FC236}">
                <a16:creationId xmlns:a16="http://schemas.microsoft.com/office/drawing/2014/main" id="{0DC201EF-57AE-5040-A1D1-90A9A22DAEAF}"/>
              </a:ext>
            </a:extLst>
          </p:cNvPr>
          <p:cNvSpPr/>
          <p:nvPr/>
        </p:nvSpPr>
        <p:spPr bwMode="auto">
          <a:xfrm>
            <a:off x="7239000" y="2057400"/>
            <a:ext cx="2032000" cy="2603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9" name="Rectangle 38">
            <a:extLst>
              <a:ext uri="{FF2B5EF4-FFF2-40B4-BE49-F238E27FC236}">
                <a16:creationId xmlns:a16="http://schemas.microsoft.com/office/drawing/2014/main" id="{8BEBD5E9-C479-2E4D-A04C-ECFFFE71DCD7}"/>
              </a:ext>
            </a:extLst>
          </p:cNvPr>
          <p:cNvSpPr/>
          <p:nvPr/>
        </p:nvSpPr>
        <p:spPr bwMode="auto">
          <a:xfrm>
            <a:off x="7239000" y="2057400"/>
            <a:ext cx="2032000" cy="101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0" name="TextBox 39">
            <a:extLst>
              <a:ext uri="{FF2B5EF4-FFF2-40B4-BE49-F238E27FC236}">
                <a16:creationId xmlns:a16="http://schemas.microsoft.com/office/drawing/2014/main" id="{0AC33B00-8C58-F048-9E72-9E572DD91CC3}"/>
              </a:ext>
            </a:extLst>
          </p:cNvPr>
          <p:cNvSpPr txBox="1"/>
          <p:nvPr/>
        </p:nvSpPr>
        <p:spPr>
          <a:xfrm>
            <a:off x="7391400" y="2260600"/>
            <a:ext cx="38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50627A"/>
                </a:solidFill>
                <a:latin typeface="Arial"/>
                <a:cs typeface="Arial"/>
              </a:rPr>
              <a:t>04</a:t>
            </a:r>
            <a:endParaRPr lang="en-US" sz="900" b="1" dirty="0">
              <a:solidFill>
                <a:srgbClr val="50627A"/>
              </a:solidFill>
              <a:latin typeface="Arial"/>
              <a:cs typeface="Arial"/>
            </a:endParaRPr>
          </a:p>
        </p:txBody>
      </p:sp>
      <p:sp>
        <p:nvSpPr>
          <p:cNvPr id="41" name="TextBox 40">
            <a:extLst>
              <a:ext uri="{FF2B5EF4-FFF2-40B4-BE49-F238E27FC236}">
                <a16:creationId xmlns:a16="http://schemas.microsoft.com/office/drawing/2014/main" id="{6EAFDC5F-20C4-F34C-BA18-A05F1E79B4E7}"/>
              </a:ext>
            </a:extLst>
          </p:cNvPr>
          <p:cNvSpPr txBox="1"/>
          <p:nvPr/>
        </p:nvSpPr>
        <p:spPr>
          <a:xfrm>
            <a:off x="7391400" y="2565400"/>
            <a:ext cx="1727200" cy="533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50" b="1">
                <a:solidFill>
                  <a:srgbClr val="070154"/>
                </a:solidFill>
                <a:latin typeface="Arial"/>
                <a:cs typeface="Arial"/>
              </a:rPr>
              <a:t>PRIORITIZE REMEDIATION</a:t>
            </a:r>
            <a:endParaRPr lang="en-US" sz="1150" b="1" dirty="0">
              <a:solidFill>
                <a:srgbClr val="070154"/>
              </a:solidFill>
              <a:latin typeface="Arial"/>
              <a:cs typeface="Arial"/>
            </a:endParaRPr>
          </a:p>
        </p:txBody>
      </p:sp>
      <p:sp>
        <p:nvSpPr>
          <p:cNvPr id="42" name="TextBox 41">
            <a:extLst>
              <a:ext uri="{FF2B5EF4-FFF2-40B4-BE49-F238E27FC236}">
                <a16:creationId xmlns:a16="http://schemas.microsoft.com/office/drawing/2014/main" id="{3944434E-9407-1A46-8FF5-22F1DF8787B8}"/>
              </a:ext>
            </a:extLst>
          </p:cNvPr>
          <p:cNvSpPr txBox="1"/>
          <p:nvPr/>
        </p:nvSpPr>
        <p:spPr>
          <a:xfrm>
            <a:off x="7391400" y="3213100"/>
            <a:ext cx="1727200" cy="12827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Consider severity with business criticality, exposure, dependencies, operational risk, and cost of delay.</a:t>
            </a:r>
            <a:endParaRPr lang="en-US" sz="950" dirty="0">
              <a:solidFill>
                <a:srgbClr val="070154"/>
              </a:solidFill>
              <a:latin typeface="Arial"/>
              <a:cs typeface="Arial"/>
            </a:endParaRPr>
          </a:p>
        </p:txBody>
      </p:sp>
      <p:sp>
        <p:nvSpPr>
          <p:cNvPr id="43" name="Rectangle 42">
            <a:extLst>
              <a:ext uri="{FF2B5EF4-FFF2-40B4-BE49-F238E27FC236}">
                <a16:creationId xmlns:a16="http://schemas.microsoft.com/office/drawing/2014/main" id="{02A3BF6C-B22B-FF44-BEA0-595EFF6F3D31}"/>
              </a:ext>
            </a:extLst>
          </p:cNvPr>
          <p:cNvSpPr/>
          <p:nvPr/>
        </p:nvSpPr>
        <p:spPr bwMode="auto">
          <a:xfrm>
            <a:off x="9499600" y="2057400"/>
            <a:ext cx="2235200" cy="2603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4" name="Rectangle 43">
            <a:extLst>
              <a:ext uri="{FF2B5EF4-FFF2-40B4-BE49-F238E27FC236}">
                <a16:creationId xmlns:a16="http://schemas.microsoft.com/office/drawing/2014/main" id="{6793BE70-B99F-4745-BD06-694B3AD16D14}"/>
              </a:ext>
            </a:extLst>
          </p:cNvPr>
          <p:cNvSpPr/>
          <p:nvPr/>
        </p:nvSpPr>
        <p:spPr bwMode="auto">
          <a:xfrm>
            <a:off x="9499600" y="2057400"/>
            <a:ext cx="2235200" cy="101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5" name="TextBox 44">
            <a:extLst>
              <a:ext uri="{FF2B5EF4-FFF2-40B4-BE49-F238E27FC236}">
                <a16:creationId xmlns:a16="http://schemas.microsoft.com/office/drawing/2014/main" id="{E1B205D1-F812-9C41-96BC-B8C1CDE9DB50}"/>
              </a:ext>
            </a:extLst>
          </p:cNvPr>
          <p:cNvSpPr txBox="1"/>
          <p:nvPr/>
        </p:nvSpPr>
        <p:spPr>
          <a:xfrm>
            <a:off x="9652000" y="2260600"/>
            <a:ext cx="38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50627A"/>
                </a:solidFill>
                <a:latin typeface="Arial"/>
                <a:cs typeface="Arial"/>
              </a:rPr>
              <a:t>05</a:t>
            </a:r>
            <a:endParaRPr lang="en-US" sz="900" b="1" dirty="0">
              <a:solidFill>
                <a:srgbClr val="50627A"/>
              </a:solidFill>
              <a:latin typeface="Arial"/>
              <a:cs typeface="Arial"/>
            </a:endParaRPr>
          </a:p>
        </p:txBody>
      </p:sp>
      <p:sp>
        <p:nvSpPr>
          <p:cNvPr id="46" name="TextBox 45">
            <a:extLst>
              <a:ext uri="{FF2B5EF4-FFF2-40B4-BE49-F238E27FC236}">
                <a16:creationId xmlns:a16="http://schemas.microsoft.com/office/drawing/2014/main" id="{15647E81-7390-AF43-93E4-16EBFE8A4562}"/>
              </a:ext>
            </a:extLst>
          </p:cNvPr>
          <p:cNvSpPr txBox="1"/>
          <p:nvPr/>
        </p:nvSpPr>
        <p:spPr>
          <a:xfrm>
            <a:off x="9652000" y="2565400"/>
            <a:ext cx="1930400" cy="533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50" b="1">
                <a:solidFill>
                  <a:srgbClr val="070154"/>
                </a:solidFill>
                <a:latin typeface="Arial"/>
                <a:cs typeface="Arial"/>
              </a:rPr>
              <a:t>PREPARE THE PLAN</a:t>
            </a:r>
            <a:endParaRPr lang="en-US" sz="1150" b="1" dirty="0">
              <a:solidFill>
                <a:srgbClr val="070154"/>
              </a:solidFill>
              <a:latin typeface="Arial"/>
              <a:cs typeface="Arial"/>
            </a:endParaRPr>
          </a:p>
        </p:txBody>
      </p:sp>
      <p:sp>
        <p:nvSpPr>
          <p:cNvPr id="47" name="TextBox 46">
            <a:extLst>
              <a:ext uri="{FF2B5EF4-FFF2-40B4-BE49-F238E27FC236}">
                <a16:creationId xmlns:a16="http://schemas.microsoft.com/office/drawing/2014/main" id="{CF8DB0AD-07AA-7D49-B641-1E7C93307E77}"/>
              </a:ext>
            </a:extLst>
          </p:cNvPr>
          <p:cNvSpPr txBox="1"/>
          <p:nvPr/>
        </p:nvSpPr>
        <p:spPr>
          <a:xfrm>
            <a:off x="9652000" y="3213100"/>
            <a:ext cx="1930400" cy="12827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Produce a reviewable package with evidence links, affected areas, candidate actions, sequencing, validation tests, estimation questions, and owners.</a:t>
            </a:r>
            <a:endParaRPr lang="en-US" sz="950" dirty="0">
              <a:solidFill>
                <a:srgbClr val="070154"/>
              </a:solidFill>
              <a:latin typeface="Arial"/>
              <a:cs typeface="Arial"/>
            </a:endParaRPr>
          </a:p>
        </p:txBody>
      </p:sp>
      <p:sp>
        <p:nvSpPr>
          <p:cNvPr id="48" name="Rectangle 47">
            <a:extLst>
              <a:ext uri="{FF2B5EF4-FFF2-40B4-BE49-F238E27FC236}">
                <a16:creationId xmlns:a16="http://schemas.microsoft.com/office/drawing/2014/main" id="{C9D03FD8-C10D-0144-92F2-08685F1907EA}"/>
              </a:ext>
            </a:extLst>
          </p:cNvPr>
          <p:cNvSpPr/>
          <p:nvPr/>
        </p:nvSpPr>
        <p:spPr bwMode="auto">
          <a:xfrm>
            <a:off x="457200" y="4864100"/>
            <a:ext cx="11277600" cy="5588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95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49" name="TextBox 48">
            <a:extLst>
              <a:ext uri="{FF2B5EF4-FFF2-40B4-BE49-F238E27FC236}">
                <a16:creationId xmlns:a16="http://schemas.microsoft.com/office/drawing/2014/main" id="{F2201826-E3BD-C745-ADD0-8C0DAFF0C4A1}"/>
              </a:ext>
            </a:extLst>
          </p:cNvPr>
          <p:cNvSpPr txBox="1"/>
          <p:nvPr/>
        </p:nvSpPr>
        <p:spPr>
          <a:xfrm>
            <a:off x="660400" y="5003800"/>
            <a:ext cx="13716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HUMAN CONTROL</a:t>
            </a:r>
            <a:endParaRPr lang="en-US" sz="900" b="1" dirty="0">
              <a:solidFill>
                <a:srgbClr val="F900D3"/>
              </a:solidFill>
              <a:latin typeface="Arial"/>
              <a:cs typeface="Arial"/>
            </a:endParaRPr>
          </a:p>
        </p:txBody>
      </p:sp>
      <p:sp>
        <p:nvSpPr>
          <p:cNvPr id="50" name="TextBox 49">
            <a:extLst>
              <a:ext uri="{FF2B5EF4-FFF2-40B4-BE49-F238E27FC236}">
                <a16:creationId xmlns:a16="http://schemas.microsoft.com/office/drawing/2014/main" id="{1FED28D9-8C8D-7040-B5DC-8CA2986FA3BC}"/>
              </a:ext>
            </a:extLst>
          </p:cNvPr>
          <p:cNvSpPr txBox="1"/>
          <p:nvPr/>
        </p:nvSpPr>
        <p:spPr>
          <a:xfrm>
            <a:off x="2159000" y="4978400"/>
            <a:ext cx="93218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FFFFFF"/>
                </a:solidFill>
                <a:latin typeface="Arial"/>
                <a:cs typeface="Arial"/>
              </a:rPr>
              <a:t>Security and engineering specialists confirm applicability, exploitability, remediation, testing, and risk acceptance.</a:t>
            </a:r>
            <a:endParaRPr lang="en-US" sz="1000" b="1" dirty="0">
              <a:solidFill>
                <a:srgbClr val="FFFFFF"/>
              </a:solidFill>
              <a:latin typeface="Arial"/>
              <a:cs typeface="Arial"/>
            </a:endParaRPr>
          </a:p>
        </p:txBody>
      </p:sp>
      <p:sp>
        <p:nvSpPr>
          <p:cNvPr id="51" name="Rectangle 50">
            <a:extLst>
              <a:ext uri="{FF2B5EF4-FFF2-40B4-BE49-F238E27FC236}">
                <a16:creationId xmlns:a16="http://schemas.microsoft.com/office/drawing/2014/main" id="{F179C01A-E95C-2548-9A79-CE5E4AC2F892}"/>
              </a:ext>
            </a:extLst>
          </p:cNvPr>
          <p:cNvSpPr/>
          <p:nvPr/>
        </p:nvSpPr>
        <p:spPr bwMode="auto">
          <a:xfrm>
            <a:off x="457200" y="5562600"/>
            <a:ext cx="11277600" cy="5969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900" i="0" u="none" strike="noStrike" kern="1200" cap="none" spc="0" normalizeH="0" baseline="0" noProof="0" dirty="0">
              <a:ln>
                <a:noFill/>
              </a:ln>
              <a:solidFill>
                <a:srgbClr val="070154"/>
              </a:solidFill>
              <a:effectLst/>
              <a:uLnTx/>
              <a:uFillTx/>
              <a:latin typeface="Arial"/>
              <a:ea typeface="Roboto" panose="02000000000000000000" pitchFamily="2" charset="0"/>
              <a:cs typeface="Arial"/>
            </a:endParaRPr>
          </a:p>
        </p:txBody>
      </p:sp>
      <p:sp>
        <p:nvSpPr>
          <p:cNvPr id="52" name="TextBox 51">
            <a:extLst>
              <a:ext uri="{FF2B5EF4-FFF2-40B4-BE49-F238E27FC236}">
                <a16:creationId xmlns:a16="http://schemas.microsoft.com/office/drawing/2014/main" id="{0A2CA092-F1B2-2E40-B2B1-9A99543D8448}"/>
              </a:ext>
            </a:extLst>
          </p:cNvPr>
          <p:cNvSpPr txBox="1"/>
          <p:nvPr/>
        </p:nvSpPr>
        <p:spPr>
          <a:xfrm>
            <a:off x="660400" y="5702300"/>
            <a:ext cx="1905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PILOT OR SCAFFOLD</a:t>
            </a:r>
            <a:endParaRPr lang="en-US" sz="900" b="1" dirty="0">
              <a:solidFill>
                <a:srgbClr val="F900D3"/>
              </a:solidFill>
              <a:latin typeface="Arial"/>
              <a:cs typeface="Arial"/>
            </a:endParaRPr>
          </a:p>
        </p:txBody>
      </p:sp>
      <p:sp>
        <p:nvSpPr>
          <p:cNvPr id="53" name="TextBox 52">
            <a:extLst>
              <a:ext uri="{FF2B5EF4-FFF2-40B4-BE49-F238E27FC236}">
                <a16:creationId xmlns:a16="http://schemas.microsoft.com/office/drawing/2014/main" id="{25C4E99A-EB49-6B47-BA0B-BEC5DFC53B0B}"/>
              </a:ext>
            </a:extLst>
          </p:cNvPr>
          <p:cNvSpPr txBox="1"/>
          <p:nvPr/>
        </p:nvSpPr>
        <p:spPr>
          <a:xfrm>
            <a:off x="2628900" y="5651500"/>
            <a:ext cx="8851900" cy="3937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a:solidFill>
                  <a:srgbClr val="070154"/>
                </a:solidFill>
                <a:latin typeface="Arial"/>
                <a:cs typeface="Arial"/>
              </a:rPr>
              <a:t>The audited product accepts structured CVE inputs and includes a triage handler and artifact outputs, but the default production runner is unavailable. Position as a pilot until the product owner confirms a production-ready execution path and evidence from real use.</a:t>
            </a:r>
            <a:endParaRPr lang="en-US" sz="850" dirty="0">
              <a:solidFill>
                <a:srgbClr val="070154"/>
              </a:solidFill>
              <a:latin typeface="Arial"/>
              <a:cs typeface="Arial"/>
            </a:endParaRPr>
          </a:p>
        </p:txBody>
      </p:sp>
      <p:sp>
        <p:nvSpPr>
          <p:cNvPr id="3" name="TextBox 2">
            <a:extLst>
              <a:ext uri="{FF2B5EF4-FFF2-40B4-BE49-F238E27FC236}">
                <a16:creationId xmlns:a16="http://schemas.microsoft.com/office/drawing/2014/main" id="{A7CCD368-6E91-654F-A815-8DF9EA7F3673}"/>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4" name="TextBox 3">
            <a:extLst>
              <a:ext uri="{FF2B5EF4-FFF2-40B4-BE49-F238E27FC236}">
                <a16:creationId xmlns:a16="http://schemas.microsoft.com/office/drawing/2014/main" id="{DBA08F3F-28A7-4547-85A0-16F2A4E6572F}"/>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r>
              <a:rPr lang="en-US" sz="550">
                <a:solidFill>
                  <a:srgbClr val="070154"/>
                </a:solidFill>
                <a:latin typeface="Arial"/>
                <a:cs typeface="Arial"/>
              </a:rPr>
              <a:t>25</a:t>
            </a:r>
            <a:endParaRPr lang="en-US" sz="550" dirty="0">
              <a:solidFill>
                <a:srgbClr val="070154"/>
              </a:solidFill>
              <a:latin typeface="Arial"/>
              <a:cs typeface="Arial"/>
            </a:endParaRPr>
          </a:p>
        </p:txBody>
      </p:sp>
    </p:spTree>
    <p:custDataLst>
      <p:tags r:id="rId1"/>
    </p:custDataLst>
    <p:extLst>
      <p:ext uri="{BB962C8B-B14F-4D97-AF65-F5344CB8AC3E}">
        <p14:creationId xmlns:p14="http://schemas.microsoft.com/office/powerpoint/2010/main" val="20334665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3DC42D-172A-5345-ABE3-B9E83A1D36C4}"/>
              </a:ext>
            </a:extLst>
          </p:cNvPr>
          <p:cNvSpPr txBox="1"/>
          <p:nvPr/>
        </p:nvSpPr>
        <p:spPr>
          <a:xfrm>
            <a:off x="457200" y="533400"/>
            <a:ext cx="11277600" cy="635000"/>
          </a:xfrm>
          <a:prstGeom prst="rect">
            <a:avLst/>
          </a:prstGeom>
          <a:noFill/>
        </p:spPr>
        <p:txBody>
          <a:bodyPr vertOverflow="overflow" vert="horz" wrap="square" lIns="0" tIns="0" rIns="0" bIns="0" rtlCol="0" anchor="t">
            <a:normAutofit/>
          </a:bodyPr>
          <a:lstStyle/>
          <a:p>
            <a:pPr marL="0" indent="0" algn="l">
              <a:spcAft>
                <a:spcPts val="600"/>
              </a:spcAft>
              <a:tabLst/>
            </a:pPr>
            <a:r>
              <a:rPr lang="en-US" sz="2400" b="1">
                <a:solidFill>
                  <a:srgbClr val="070154"/>
                </a:solidFill>
                <a:latin typeface="Arial"/>
                <a:cs typeface="Arial"/>
              </a:rPr>
              <a:t>Evolve context supports Build and Sustain</a:t>
            </a:r>
            <a:endParaRPr lang="en-US" sz="2400" b="1" dirty="0">
              <a:solidFill>
                <a:srgbClr val="070154"/>
              </a:solidFill>
              <a:latin typeface="Arial"/>
              <a:cs typeface="Arial"/>
            </a:endParaRPr>
          </a:p>
        </p:txBody>
      </p:sp>
      <p:sp>
        <p:nvSpPr>
          <p:cNvPr id="7" name="TextBox 6">
            <a:extLst>
              <a:ext uri="{FF2B5EF4-FFF2-40B4-BE49-F238E27FC236}">
                <a16:creationId xmlns:a16="http://schemas.microsoft.com/office/drawing/2014/main" id="{2070B8E8-A42D-7B4E-8796-0F9B9BA030B6}"/>
              </a:ext>
            </a:extLst>
          </p:cNvPr>
          <p:cNvSpPr txBox="1"/>
          <p:nvPr/>
        </p:nvSpPr>
        <p:spPr>
          <a:xfrm>
            <a:off x="457200" y="1219200"/>
            <a:ext cx="11277600" cy="279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a:solidFill>
                  <a:srgbClr val="50627A"/>
                </a:solidFill>
                <a:latin typeface="Arial"/>
                <a:cs typeface="Arial"/>
              </a:rPr>
              <a:t>Source-linked context can carry approved evidence forward when each task retrieves only what it needs.</a:t>
            </a:r>
            <a:endParaRPr lang="en-US" sz="1100" dirty="0">
              <a:solidFill>
                <a:srgbClr val="50627A"/>
              </a:solidFill>
              <a:latin typeface="Arial"/>
              <a:cs typeface="Arial"/>
            </a:endParaRPr>
          </a:p>
        </p:txBody>
      </p:sp>
      <p:sp>
        <p:nvSpPr>
          <p:cNvPr id="8" name="Rectangle 7">
            <a:extLst>
              <a:ext uri="{FF2B5EF4-FFF2-40B4-BE49-F238E27FC236}">
                <a16:creationId xmlns:a16="http://schemas.microsoft.com/office/drawing/2014/main" id="{097B0A4C-A8A4-AB48-AC92-F458DBE972AA}"/>
              </a:ext>
            </a:extLst>
          </p:cNvPr>
          <p:cNvSpPr/>
          <p:nvPr/>
        </p:nvSpPr>
        <p:spPr bwMode="auto">
          <a:xfrm>
            <a:off x="457200" y="1765300"/>
            <a:ext cx="3429000" cy="35306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 name="Rectangle 8">
            <a:extLst>
              <a:ext uri="{FF2B5EF4-FFF2-40B4-BE49-F238E27FC236}">
                <a16:creationId xmlns:a16="http://schemas.microsoft.com/office/drawing/2014/main" id="{878EFCC6-0CDD-4B40-8538-C4E32E981A49}"/>
              </a:ext>
            </a:extLst>
          </p:cNvPr>
          <p:cNvSpPr/>
          <p:nvPr/>
        </p:nvSpPr>
        <p:spPr bwMode="auto">
          <a:xfrm>
            <a:off x="457200" y="1765300"/>
            <a:ext cx="101600" cy="3530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C5CDA75E-FAD9-4445-B8BC-1DAFFEE43A2D}"/>
              </a:ext>
            </a:extLst>
          </p:cNvPr>
          <p:cNvSpPr txBox="1"/>
          <p:nvPr/>
        </p:nvSpPr>
        <p:spPr>
          <a:xfrm>
            <a:off x="711200" y="2006600"/>
            <a:ext cx="2794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a:solidFill>
                  <a:srgbClr val="0047FF"/>
                </a:solidFill>
                <a:latin typeface="Arial"/>
                <a:cs typeface="Arial"/>
              </a:rPr>
              <a:t>SHARED FOUNDATION</a:t>
            </a:r>
            <a:endParaRPr lang="en-US" sz="1100" b="1" dirty="0">
              <a:solidFill>
                <a:srgbClr val="0047FF"/>
              </a:solidFill>
              <a:latin typeface="Arial"/>
              <a:cs typeface="Arial"/>
            </a:endParaRPr>
          </a:p>
        </p:txBody>
      </p:sp>
      <p:sp>
        <p:nvSpPr>
          <p:cNvPr id="13" name="TextBox 12">
            <a:extLst>
              <a:ext uri="{FF2B5EF4-FFF2-40B4-BE49-F238E27FC236}">
                <a16:creationId xmlns:a16="http://schemas.microsoft.com/office/drawing/2014/main" id="{C8FBA4F9-3E45-B64C-BDC9-E56578BC5947}"/>
              </a:ext>
            </a:extLst>
          </p:cNvPr>
          <p:cNvSpPr txBox="1"/>
          <p:nvPr/>
        </p:nvSpPr>
        <p:spPr>
          <a:xfrm>
            <a:off x="711200" y="2501900"/>
            <a:ext cx="2794000" cy="3937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a:solidFill>
                  <a:srgbClr val="070154"/>
                </a:solidFill>
                <a:latin typeface="Arial"/>
                <a:cs typeface="Arial"/>
              </a:rPr>
              <a:t>Source-backed Evolve evidence</a:t>
            </a:r>
            <a:endParaRPr lang="en-US" sz="1100" b="1" dirty="0">
              <a:solidFill>
                <a:srgbClr val="070154"/>
              </a:solidFill>
              <a:latin typeface="Arial"/>
              <a:cs typeface="Arial"/>
            </a:endParaRPr>
          </a:p>
        </p:txBody>
      </p:sp>
      <p:sp>
        <p:nvSpPr>
          <p:cNvPr id="14" name="TextBox 13">
            <a:extLst>
              <a:ext uri="{FF2B5EF4-FFF2-40B4-BE49-F238E27FC236}">
                <a16:creationId xmlns:a16="http://schemas.microsoft.com/office/drawing/2014/main" id="{F73BC3B3-1F35-7C41-AD65-04ECC1193793}"/>
              </a:ext>
            </a:extLst>
          </p:cNvPr>
          <p:cNvSpPr txBox="1"/>
          <p:nvPr/>
        </p:nvSpPr>
        <p:spPr>
          <a:xfrm>
            <a:off x="711200" y="3048000"/>
            <a:ext cx="2794000" cy="431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a:solidFill>
                  <a:srgbClr val="070154"/>
                </a:solidFill>
                <a:latin typeface="Arial"/>
                <a:cs typeface="Arial"/>
              </a:rPr>
              <a:t>Validated business-process context</a:t>
            </a:r>
            <a:endParaRPr lang="en-US" sz="1100" b="1" dirty="0">
              <a:solidFill>
                <a:srgbClr val="070154"/>
              </a:solidFill>
              <a:latin typeface="Arial"/>
              <a:cs typeface="Arial"/>
            </a:endParaRPr>
          </a:p>
        </p:txBody>
      </p:sp>
      <p:sp>
        <p:nvSpPr>
          <p:cNvPr id="15" name="TextBox 14">
            <a:extLst>
              <a:ext uri="{FF2B5EF4-FFF2-40B4-BE49-F238E27FC236}">
                <a16:creationId xmlns:a16="http://schemas.microsoft.com/office/drawing/2014/main" id="{E7A18E2B-A3E4-1C49-AADB-D409DDE0E076}"/>
              </a:ext>
            </a:extLst>
          </p:cNvPr>
          <p:cNvSpPr txBox="1"/>
          <p:nvPr/>
        </p:nvSpPr>
        <p:spPr>
          <a:xfrm>
            <a:off x="711200" y="3632200"/>
            <a:ext cx="2794000" cy="279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a:solidFill>
                  <a:srgbClr val="070154"/>
                </a:solidFill>
                <a:latin typeface="Arial"/>
                <a:cs typeface="Arial"/>
              </a:rPr>
              <a:t>Approved decisions</a:t>
            </a:r>
            <a:endParaRPr lang="en-US" sz="1100" b="1" dirty="0">
              <a:solidFill>
                <a:srgbClr val="070154"/>
              </a:solidFill>
              <a:latin typeface="Arial"/>
              <a:cs typeface="Arial"/>
            </a:endParaRPr>
          </a:p>
        </p:txBody>
      </p:sp>
      <p:sp>
        <p:nvSpPr>
          <p:cNvPr id="18" name="TextBox 17">
            <a:extLst>
              <a:ext uri="{FF2B5EF4-FFF2-40B4-BE49-F238E27FC236}">
                <a16:creationId xmlns:a16="http://schemas.microsoft.com/office/drawing/2014/main" id="{EC7A280C-FAC9-EE4E-A770-28A1E4C0509C}"/>
              </a:ext>
            </a:extLst>
          </p:cNvPr>
          <p:cNvSpPr txBox="1"/>
          <p:nvPr/>
        </p:nvSpPr>
        <p:spPr>
          <a:xfrm>
            <a:off x="711200" y="4089400"/>
            <a:ext cx="2794000" cy="304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a:solidFill>
                  <a:srgbClr val="070154"/>
                </a:solidFill>
                <a:latin typeface="Arial"/>
                <a:cs typeface="Arial"/>
              </a:rPr>
              <a:t>Current delivery artifacts</a:t>
            </a:r>
            <a:endParaRPr lang="en-US" sz="1100" b="1" dirty="0">
              <a:solidFill>
                <a:srgbClr val="070154"/>
              </a:solidFill>
              <a:latin typeface="Arial"/>
              <a:cs typeface="Arial"/>
            </a:endParaRPr>
          </a:p>
        </p:txBody>
      </p:sp>
      <p:sp>
        <p:nvSpPr>
          <p:cNvPr id="23" name="TextBox 22">
            <a:extLst>
              <a:ext uri="{FF2B5EF4-FFF2-40B4-BE49-F238E27FC236}">
                <a16:creationId xmlns:a16="http://schemas.microsoft.com/office/drawing/2014/main" id="{281B24C4-ACF7-E04D-8DE9-8D69C781D528}"/>
              </a:ext>
            </a:extLst>
          </p:cNvPr>
          <p:cNvSpPr txBox="1"/>
          <p:nvPr/>
        </p:nvSpPr>
        <p:spPr>
          <a:xfrm>
            <a:off x="711200" y="4711700"/>
            <a:ext cx="2794000" cy="3810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50627A"/>
                </a:solidFill>
                <a:latin typeface="Arial"/>
                <a:cs typeface="Arial"/>
              </a:rPr>
              <a:t>Governed retrieval connects the foundation to bounded work.</a:t>
            </a:r>
            <a:endParaRPr lang="en-US" sz="950" dirty="0">
              <a:solidFill>
                <a:srgbClr val="50627A"/>
              </a:solidFill>
              <a:latin typeface="Arial"/>
              <a:cs typeface="Arial"/>
            </a:endParaRPr>
          </a:p>
        </p:txBody>
      </p:sp>
      <p:sp>
        <p:nvSpPr>
          <p:cNvPr id="25" name="Rectangle 24">
            <a:extLst>
              <a:ext uri="{FF2B5EF4-FFF2-40B4-BE49-F238E27FC236}">
                <a16:creationId xmlns:a16="http://schemas.microsoft.com/office/drawing/2014/main" id="{D68BCF88-434C-454C-81DC-014AC0397EC2}"/>
              </a:ext>
            </a:extLst>
          </p:cNvPr>
          <p:cNvSpPr/>
          <p:nvPr/>
        </p:nvSpPr>
        <p:spPr bwMode="auto">
          <a:xfrm>
            <a:off x="4114800" y="1765300"/>
            <a:ext cx="7620000" cy="16891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98180E80-DB6D-8C4B-AB08-B866F4A00821}"/>
              </a:ext>
            </a:extLst>
          </p:cNvPr>
          <p:cNvSpPr txBox="1"/>
          <p:nvPr/>
        </p:nvSpPr>
        <p:spPr>
          <a:xfrm>
            <a:off x="4368800" y="1981200"/>
            <a:ext cx="10160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b="1">
                <a:solidFill>
                  <a:srgbClr val="FFFFFF"/>
                </a:solidFill>
                <a:latin typeface="Arial"/>
                <a:cs typeface="Arial"/>
              </a:rPr>
              <a:t>BUILD</a:t>
            </a:r>
            <a:endParaRPr lang="en-US" sz="1300" b="1" dirty="0">
              <a:solidFill>
                <a:srgbClr val="FFFFFF"/>
              </a:solidFill>
              <a:latin typeface="Arial"/>
              <a:cs typeface="Arial"/>
            </a:endParaRPr>
          </a:p>
        </p:txBody>
      </p:sp>
      <p:sp>
        <p:nvSpPr>
          <p:cNvPr id="41" name="TextBox 40">
            <a:extLst>
              <a:ext uri="{FF2B5EF4-FFF2-40B4-BE49-F238E27FC236}">
                <a16:creationId xmlns:a16="http://schemas.microsoft.com/office/drawing/2014/main" id="{3481853F-1499-004F-8657-CBE76E552CA5}"/>
              </a:ext>
            </a:extLst>
          </p:cNvPr>
          <p:cNvSpPr txBox="1"/>
          <p:nvPr/>
        </p:nvSpPr>
        <p:spPr>
          <a:xfrm>
            <a:off x="4368800" y="2374900"/>
            <a:ext cx="1905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HOW CONTEXT IS USED</a:t>
            </a:r>
            <a:endParaRPr lang="en-US" sz="900" b="1" dirty="0">
              <a:solidFill>
                <a:srgbClr val="0047FF"/>
              </a:solidFill>
              <a:latin typeface="Arial"/>
              <a:cs typeface="Arial"/>
            </a:endParaRPr>
          </a:p>
        </p:txBody>
      </p:sp>
      <p:sp>
        <p:nvSpPr>
          <p:cNvPr id="42" name="TextBox 41">
            <a:extLst>
              <a:ext uri="{FF2B5EF4-FFF2-40B4-BE49-F238E27FC236}">
                <a16:creationId xmlns:a16="http://schemas.microsoft.com/office/drawing/2014/main" id="{870A3503-4397-B640-AAF8-89115F8EC10D}"/>
              </a:ext>
            </a:extLst>
          </p:cNvPr>
          <p:cNvSpPr txBox="1"/>
          <p:nvPr/>
        </p:nvSpPr>
        <p:spPr>
          <a:xfrm>
            <a:off x="4368800" y="2603500"/>
            <a:ext cx="4470400" cy="6223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FFFFFF"/>
                </a:solidFill>
                <a:latin typeface="Arial"/>
                <a:cs typeface="Arial"/>
              </a:rPr>
              <a:t>Retrieve relevant process, rules, requirements, source references, components, data, integrations, dependencies, acceptance criteria, and open questions for a bounded design, coding, testing, migration, or cutover task.</a:t>
            </a:r>
            <a:endParaRPr lang="en-US" sz="950" dirty="0">
              <a:solidFill>
                <a:srgbClr val="FFFFFF"/>
              </a:solidFill>
              <a:latin typeface="Arial"/>
              <a:cs typeface="Arial"/>
            </a:endParaRPr>
          </a:p>
        </p:txBody>
      </p:sp>
      <p:sp>
        <p:nvSpPr>
          <p:cNvPr id="43" name="TextBox 42">
            <a:extLst>
              <a:ext uri="{FF2B5EF4-FFF2-40B4-BE49-F238E27FC236}">
                <a16:creationId xmlns:a16="http://schemas.microsoft.com/office/drawing/2014/main" id="{3E82F94C-574D-D745-A2F9-674C09E458E3}"/>
              </a:ext>
            </a:extLst>
          </p:cNvPr>
          <p:cNvSpPr txBox="1"/>
          <p:nvPr/>
        </p:nvSpPr>
        <p:spPr>
          <a:xfrm>
            <a:off x="9093200" y="2374900"/>
            <a:ext cx="1905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FFFFF"/>
                </a:solidFill>
                <a:latin typeface="Arial"/>
                <a:cs typeface="Arial"/>
              </a:rPr>
              <a:t>VALUE OPPORTUNITY</a:t>
            </a:r>
            <a:endParaRPr lang="en-US" sz="900" b="1" dirty="0">
              <a:solidFill>
                <a:srgbClr val="FFFFFF"/>
              </a:solidFill>
              <a:latin typeface="Arial"/>
              <a:cs typeface="Arial"/>
            </a:endParaRPr>
          </a:p>
        </p:txBody>
      </p:sp>
      <p:sp>
        <p:nvSpPr>
          <p:cNvPr id="44" name="TextBox 43">
            <a:extLst>
              <a:ext uri="{FF2B5EF4-FFF2-40B4-BE49-F238E27FC236}">
                <a16:creationId xmlns:a16="http://schemas.microsoft.com/office/drawing/2014/main" id="{3889E77E-5C53-6443-8E05-8A0D4E61B163}"/>
              </a:ext>
            </a:extLst>
          </p:cNvPr>
          <p:cNvSpPr txBox="1"/>
          <p:nvPr/>
        </p:nvSpPr>
        <p:spPr>
          <a:xfrm>
            <a:off x="9093200" y="2603500"/>
            <a:ext cx="2362200" cy="622300"/>
          </a:xfrm>
          <a:prstGeom prst="rect">
            <a:avLst/>
          </a:prstGeom>
          <a:noFill/>
        </p:spPr>
        <p:txBody>
          <a:bodyPr vertOverflow="overflow" vert="horz" wrap="square" lIns="0" tIns="0" rIns="0" bIns="0" rtlCol="0" anchor="t">
            <a:noAutofit/>
          </a:bodyPr>
          <a:lstStyle/>
          <a:p>
            <a:pPr marL="0" indent="0" algn="l">
              <a:spcAft>
                <a:spcPts val="600"/>
              </a:spcAft>
              <a:tabLst/>
            </a:pPr>
            <a:r>
              <a:rPr lang="en-US" sz="950">
                <a:solidFill>
                  <a:srgbClr val="FFFFFF"/>
                </a:solidFill>
                <a:latin typeface="Arial"/>
                <a:cs typeface="Arial"/>
              </a:rPr>
              <a:t>Warmer handoffs, less repeated discovery, faster prototyping, more targeted agent prompts, stronger traceability, earlier identification of impacts and gaps.</a:t>
            </a:r>
            <a:endParaRPr lang="en-US" sz="950" dirty="0">
              <a:solidFill>
                <a:srgbClr val="FFFFFF"/>
              </a:solidFill>
              <a:latin typeface="Arial"/>
              <a:cs typeface="Arial"/>
            </a:endParaRPr>
          </a:p>
        </p:txBody>
      </p:sp>
      <p:sp>
        <p:nvSpPr>
          <p:cNvPr id="45" name="Rectangle 44">
            <a:extLst>
              <a:ext uri="{FF2B5EF4-FFF2-40B4-BE49-F238E27FC236}">
                <a16:creationId xmlns:a16="http://schemas.microsoft.com/office/drawing/2014/main" id="{5C4FBEAF-0FF9-0448-954A-508A4B8156BC}"/>
              </a:ext>
            </a:extLst>
          </p:cNvPr>
          <p:cNvSpPr/>
          <p:nvPr/>
        </p:nvSpPr>
        <p:spPr bwMode="auto">
          <a:xfrm>
            <a:off x="4114800" y="3606800"/>
            <a:ext cx="7620000" cy="1689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6" name="TextBox 45">
            <a:extLst>
              <a:ext uri="{FF2B5EF4-FFF2-40B4-BE49-F238E27FC236}">
                <a16:creationId xmlns:a16="http://schemas.microsoft.com/office/drawing/2014/main" id="{00C75104-E7AE-394E-BC22-902D4FDB6DDB}"/>
              </a:ext>
            </a:extLst>
          </p:cNvPr>
          <p:cNvSpPr txBox="1"/>
          <p:nvPr/>
        </p:nvSpPr>
        <p:spPr>
          <a:xfrm>
            <a:off x="4368800" y="3822700"/>
            <a:ext cx="12700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b="1">
                <a:solidFill>
                  <a:srgbClr val="070154"/>
                </a:solidFill>
                <a:latin typeface="Arial"/>
                <a:cs typeface="Arial"/>
              </a:rPr>
              <a:t>SUSTAIN</a:t>
            </a:r>
            <a:endParaRPr lang="en-US" sz="1300" b="1" dirty="0">
              <a:solidFill>
                <a:srgbClr val="070154"/>
              </a:solidFill>
              <a:latin typeface="Arial"/>
              <a:cs typeface="Arial"/>
            </a:endParaRPr>
          </a:p>
        </p:txBody>
      </p:sp>
      <p:sp>
        <p:nvSpPr>
          <p:cNvPr id="47" name="TextBox 46">
            <a:extLst>
              <a:ext uri="{FF2B5EF4-FFF2-40B4-BE49-F238E27FC236}">
                <a16:creationId xmlns:a16="http://schemas.microsoft.com/office/drawing/2014/main" id="{5A701E49-336B-EF42-8DFD-4B654873E7BD}"/>
              </a:ext>
            </a:extLst>
          </p:cNvPr>
          <p:cNvSpPr txBox="1"/>
          <p:nvPr/>
        </p:nvSpPr>
        <p:spPr>
          <a:xfrm>
            <a:off x="4368800" y="4216400"/>
            <a:ext cx="1905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HOW CONTEXT IS USED</a:t>
            </a:r>
            <a:endParaRPr lang="en-US" sz="900" b="1" dirty="0">
              <a:solidFill>
                <a:srgbClr val="0047FF"/>
              </a:solidFill>
              <a:latin typeface="Arial"/>
              <a:cs typeface="Arial"/>
            </a:endParaRPr>
          </a:p>
        </p:txBody>
      </p:sp>
      <p:sp>
        <p:nvSpPr>
          <p:cNvPr id="48" name="TextBox 47">
            <a:extLst>
              <a:ext uri="{FF2B5EF4-FFF2-40B4-BE49-F238E27FC236}">
                <a16:creationId xmlns:a16="http://schemas.microsoft.com/office/drawing/2014/main" id="{55239E26-2F13-B946-8DD2-AAB1C43F325F}"/>
              </a:ext>
            </a:extLst>
          </p:cNvPr>
          <p:cNvSpPr txBox="1"/>
          <p:nvPr/>
        </p:nvSpPr>
        <p:spPr>
          <a:xfrm>
            <a:off x="4368800" y="4445000"/>
            <a:ext cx="4470400" cy="6477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Connect bug reports and feature requests to documented intent, process behavior, architecture, dependencies, prior decisions, tests, and operating knowledge. Support impact analysis, code investigation, regression-test maintenance, documentation, and backlog refinement.</a:t>
            </a:r>
            <a:endParaRPr lang="en-US" sz="950" dirty="0">
              <a:solidFill>
                <a:srgbClr val="070154"/>
              </a:solidFill>
              <a:latin typeface="Arial"/>
              <a:cs typeface="Arial"/>
            </a:endParaRPr>
          </a:p>
        </p:txBody>
      </p:sp>
      <p:sp>
        <p:nvSpPr>
          <p:cNvPr id="49" name="TextBox 48">
            <a:extLst>
              <a:ext uri="{FF2B5EF4-FFF2-40B4-BE49-F238E27FC236}">
                <a16:creationId xmlns:a16="http://schemas.microsoft.com/office/drawing/2014/main" id="{9BDC1512-2C9B-4341-A743-C1662DB16D5A}"/>
              </a:ext>
            </a:extLst>
          </p:cNvPr>
          <p:cNvSpPr txBox="1"/>
          <p:nvPr/>
        </p:nvSpPr>
        <p:spPr>
          <a:xfrm>
            <a:off x="9093200" y="4216400"/>
            <a:ext cx="1905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VALUE OPPORTUNITY</a:t>
            </a:r>
            <a:endParaRPr lang="en-US" sz="900" b="1" dirty="0">
              <a:solidFill>
                <a:srgbClr val="F900D3"/>
              </a:solidFill>
              <a:latin typeface="Arial"/>
              <a:cs typeface="Arial"/>
            </a:endParaRPr>
          </a:p>
        </p:txBody>
      </p:sp>
      <p:sp>
        <p:nvSpPr>
          <p:cNvPr id="50" name="TextBox 49">
            <a:extLst>
              <a:ext uri="{FF2B5EF4-FFF2-40B4-BE49-F238E27FC236}">
                <a16:creationId xmlns:a16="http://schemas.microsoft.com/office/drawing/2014/main" id="{60EC51F5-9927-714B-95BF-080D06752A43}"/>
              </a:ext>
            </a:extLst>
          </p:cNvPr>
          <p:cNvSpPr txBox="1"/>
          <p:nvPr/>
        </p:nvSpPr>
        <p:spPr>
          <a:xfrm>
            <a:off x="9093200" y="4445000"/>
            <a:ext cx="2362200" cy="571500"/>
          </a:xfrm>
          <a:prstGeom prst="rect">
            <a:avLst/>
          </a:prstGeom>
          <a:noFill/>
        </p:spPr>
        <p:txBody>
          <a:bodyPr vertOverflow="overflow" vert="horz" wrap="square" lIns="0" tIns="0" rIns="0" bIns="0" rtlCol="0" anchor="t">
            <a:noAutofit/>
          </a:bodyPr>
          <a:lstStyle/>
          <a:p>
            <a:pPr marL="0" indent="0" algn="l">
              <a:spcAft>
                <a:spcPts val="600"/>
              </a:spcAft>
              <a:tabLst/>
            </a:pPr>
            <a:r>
              <a:rPr lang="en-US" sz="950">
                <a:solidFill>
                  <a:srgbClr val="070154"/>
                </a:solidFill>
                <a:latin typeface="Arial"/>
                <a:cs typeface="Arial"/>
              </a:rPr>
              <a:t>Faster investigation and change, better knowledge preservation, and a potential reduction in maintenance and evolution labor.</a:t>
            </a:r>
            <a:endParaRPr lang="en-US" sz="950" dirty="0">
              <a:solidFill>
                <a:srgbClr val="070154"/>
              </a:solidFill>
              <a:latin typeface="Arial"/>
              <a:cs typeface="Arial"/>
            </a:endParaRPr>
          </a:p>
        </p:txBody>
      </p:sp>
      <p:sp>
        <p:nvSpPr>
          <p:cNvPr id="51" name="TextBox 50">
            <a:extLst>
              <a:ext uri="{FF2B5EF4-FFF2-40B4-BE49-F238E27FC236}">
                <a16:creationId xmlns:a16="http://schemas.microsoft.com/office/drawing/2014/main" id="{98F3E1B0-5CF7-0D41-AD70-5650F3FAC5C2}"/>
              </a:ext>
            </a:extLst>
          </p:cNvPr>
          <p:cNvSpPr txBox="1"/>
          <p:nvPr/>
        </p:nvSpPr>
        <p:spPr>
          <a:xfrm>
            <a:off x="457200" y="5448300"/>
            <a:ext cx="29337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0047FF"/>
                </a:solidFill>
                <a:latin typeface="Arial"/>
                <a:cs typeface="Arial"/>
              </a:rPr>
              <a:t>CURRENT EVOLVE CAPABILITY</a:t>
            </a:r>
            <a:endParaRPr lang="en-US" sz="850" b="1" dirty="0">
              <a:solidFill>
                <a:srgbClr val="0047FF"/>
              </a:solidFill>
              <a:latin typeface="Arial"/>
              <a:cs typeface="Arial"/>
            </a:endParaRPr>
          </a:p>
        </p:txBody>
      </p:sp>
      <p:sp>
        <p:nvSpPr>
          <p:cNvPr id="52" name="TextBox 51">
            <a:extLst>
              <a:ext uri="{FF2B5EF4-FFF2-40B4-BE49-F238E27FC236}">
                <a16:creationId xmlns:a16="http://schemas.microsoft.com/office/drawing/2014/main" id="{5CFAC698-F761-2548-94C3-17C33B89ED21}"/>
              </a:ext>
            </a:extLst>
          </p:cNvPr>
          <p:cNvSpPr txBox="1"/>
          <p:nvPr/>
        </p:nvSpPr>
        <p:spPr>
          <a:xfrm>
            <a:off x="3619500" y="5448300"/>
            <a:ext cx="38481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070154"/>
                </a:solidFill>
                <a:latin typeface="Arial"/>
                <a:cs typeface="Arial"/>
              </a:rPr>
              <a:t>AI-ENABLED WEST MONROE DELIVERY METHOD</a:t>
            </a:r>
            <a:endParaRPr lang="en-US" sz="850" b="1" dirty="0">
              <a:solidFill>
                <a:srgbClr val="070154"/>
              </a:solidFill>
              <a:latin typeface="Arial"/>
              <a:cs typeface="Arial"/>
            </a:endParaRPr>
          </a:p>
        </p:txBody>
      </p:sp>
      <p:sp>
        <p:nvSpPr>
          <p:cNvPr id="53" name="TextBox 52">
            <a:extLst>
              <a:ext uri="{FF2B5EF4-FFF2-40B4-BE49-F238E27FC236}">
                <a16:creationId xmlns:a16="http://schemas.microsoft.com/office/drawing/2014/main" id="{34061D8F-2771-5A40-BBC3-8F461CC24DAC}"/>
              </a:ext>
            </a:extLst>
          </p:cNvPr>
          <p:cNvSpPr txBox="1"/>
          <p:nvPr/>
        </p:nvSpPr>
        <p:spPr>
          <a:xfrm>
            <a:off x="7696200" y="5448300"/>
            <a:ext cx="40386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900D3"/>
                </a:solidFill>
                <a:latin typeface="Arial"/>
                <a:cs typeface="Arial"/>
              </a:rPr>
              <a:t>FUTURE OR PILOT CAPABILITY REQUIRING PROOF</a:t>
            </a:r>
            <a:endParaRPr lang="en-US" sz="850" b="1" dirty="0">
              <a:solidFill>
                <a:srgbClr val="F900D3"/>
              </a:solidFill>
              <a:latin typeface="Arial"/>
              <a:cs typeface="Arial"/>
            </a:endParaRPr>
          </a:p>
        </p:txBody>
      </p:sp>
      <p:sp>
        <p:nvSpPr>
          <p:cNvPr id="54" name="Rectangle 53">
            <a:extLst>
              <a:ext uri="{FF2B5EF4-FFF2-40B4-BE49-F238E27FC236}">
                <a16:creationId xmlns:a16="http://schemas.microsoft.com/office/drawing/2014/main" id="{86A65D6D-AA2C-AF47-A03F-FE5FB06A6D50}"/>
              </a:ext>
            </a:extLst>
          </p:cNvPr>
          <p:cNvSpPr/>
          <p:nvPr/>
        </p:nvSpPr>
        <p:spPr bwMode="auto">
          <a:xfrm>
            <a:off x="457200" y="5689600"/>
            <a:ext cx="11277600" cy="4699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00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55" name="TextBox 54">
            <a:extLst>
              <a:ext uri="{FF2B5EF4-FFF2-40B4-BE49-F238E27FC236}">
                <a16:creationId xmlns:a16="http://schemas.microsoft.com/office/drawing/2014/main" id="{179E0664-A61B-2245-917F-F9786B000834}"/>
              </a:ext>
            </a:extLst>
          </p:cNvPr>
          <p:cNvSpPr txBox="1"/>
          <p:nvPr/>
        </p:nvSpPr>
        <p:spPr>
          <a:xfrm>
            <a:off x="685800" y="5803900"/>
            <a:ext cx="108204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FFFFFF"/>
                </a:solidFill>
                <a:latin typeface="Arial"/>
                <a:cs typeface="Arial"/>
              </a:rPr>
              <a:t>The context layer compounds in value only when teams keep it current, governed, source-linked, and available through retrieval tools.</a:t>
            </a:r>
            <a:endParaRPr lang="en-US" sz="1000" b="1" dirty="0">
              <a:solidFill>
                <a:srgbClr val="FFFFFF"/>
              </a:solidFill>
              <a:latin typeface="Arial"/>
              <a:cs typeface="Arial"/>
            </a:endParaRPr>
          </a:p>
        </p:txBody>
      </p:sp>
      <p:sp>
        <p:nvSpPr>
          <p:cNvPr id="3" name="TextBox 2">
            <a:extLst>
              <a:ext uri="{FF2B5EF4-FFF2-40B4-BE49-F238E27FC236}">
                <a16:creationId xmlns:a16="http://schemas.microsoft.com/office/drawing/2014/main" id="{37134AE2-535E-4544-9D33-0E476C952B6D}"/>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4" name="TextBox 3">
            <a:extLst>
              <a:ext uri="{FF2B5EF4-FFF2-40B4-BE49-F238E27FC236}">
                <a16:creationId xmlns:a16="http://schemas.microsoft.com/office/drawing/2014/main" id="{31A01FCC-073E-7E40-8B3D-1696678630FF}"/>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r>
              <a:rPr lang="en-US" sz="550">
                <a:solidFill>
                  <a:srgbClr val="070154"/>
                </a:solidFill>
                <a:latin typeface="Arial"/>
                <a:cs typeface="Arial"/>
              </a:rPr>
              <a:t>26</a:t>
            </a:r>
            <a:endParaRPr lang="en-US" sz="550" dirty="0">
              <a:solidFill>
                <a:srgbClr val="070154"/>
              </a:solidFill>
              <a:latin typeface="Arial"/>
              <a:cs typeface="Arial"/>
            </a:endParaRPr>
          </a:p>
        </p:txBody>
      </p:sp>
    </p:spTree>
    <p:extLst>
      <p:ext uri="{BB962C8B-B14F-4D97-AF65-F5344CB8AC3E}">
        <p14:creationId xmlns:p14="http://schemas.microsoft.com/office/powerpoint/2010/main" val="34329872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F99B13-4905-E045-993B-21828D023250}"/>
              </a:ext>
            </a:extLst>
          </p:cNvPr>
          <p:cNvSpPr txBox="1"/>
          <p:nvPr/>
        </p:nvSpPr>
        <p:spPr>
          <a:xfrm>
            <a:off x="457200" y="533400"/>
            <a:ext cx="11277600" cy="635000"/>
          </a:xfrm>
          <a:prstGeom prst="rect">
            <a:avLst/>
          </a:prstGeom>
          <a:noFill/>
        </p:spPr>
        <p:txBody>
          <a:bodyPr vertOverflow="overflow" vert="horz" wrap="square" lIns="0" tIns="0" rIns="0" bIns="0" rtlCol="0" anchor="t">
            <a:normAutofit/>
          </a:bodyPr>
          <a:lstStyle/>
          <a:p>
            <a:pPr marL="0" indent="0" algn="l">
              <a:spcAft>
                <a:spcPts val="600"/>
              </a:spcAft>
              <a:tabLst/>
            </a:pPr>
            <a:r>
              <a:rPr lang="en-US" sz="2400" b="1">
                <a:solidFill>
                  <a:srgbClr val="070154"/>
                </a:solidFill>
                <a:latin typeface="Arial"/>
                <a:cs typeface="Arial"/>
              </a:rPr>
              <a:t>Industry patterns make the opportunity concrete</a:t>
            </a:r>
            <a:endParaRPr lang="en-US" sz="2400" b="1" dirty="0">
              <a:solidFill>
                <a:srgbClr val="070154"/>
              </a:solidFill>
              <a:latin typeface="Arial"/>
              <a:cs typeface="Arial"/>
            </a:endParaRPr>
          </a:p>
        </p:txBody>
      </p:sp>
      <p:sp>
        <p:nvSpPr>
          <p:cNvPr id="8" name="TextBox 7">
            <a:extLst>
              <a:ext uri="{FF2B5EF4-FFF2-40B4-BE49-F238E27FC236}">
                <a16:creationId xmlns:a16="http://schemas.microsoft.com/office/drawing/2014/main" id="{3440E82D-3571-A24E-A656-2DE0BDC52F08}"/>
              </a:ext>
            </a:extLst>
          </p:cNvPr>
          <p:cNvSpPr txBox="1"/>
          <p:nvPr/>
        </p:nvSpPr>
        <p:spPr>
          <a:xfrm>
            <a:off x="457200" y="1219200"/>
            <a:ext cx="11277600" cy="2794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a:solidFill>
                  <a:srgbClr val="50627A"/>
                </a:solidFill>
                <a:latin typeface="Arial"/>
                <a:cs typeface="Arial"/>
              </a:rPr>
              <a:t>Representative patterns help connect the lifecycle to real processes without assuming every company has the same need.</a:t>
            </a:r>
            <a:endParaRPr lang="en-US" sz="1100" dirty="0">
              <a:solidFill>
                <a:srgbClr val="50627A"/>
              </a:solidFill>
              <a:latin typeface="Arial"/>
              <a:cs typeface="Arial"/>
            </a:endParaRPr>
          </a:p>
        </p:txBody>
      </p:sp>
      <p:sp>
        <p:nvSpPr>
          <p:cNvPr id="9" name="Rectangle 8">
            <a:extLst>
              <a:ext uri="{FF2B5EF4-FFF2-40B4-BE49-F238E27FC236}">
                <a16:creationId xmlns:a16="http://schemas.microsoft.com/office/drawing/2014/main" id="{F09F368D-ED6A-E645-9F30-31CDA72A3004}"/>
              </a:ext>
            </a:extLst>
          </p:cNvPr>
          <p:cNvSpPr/>
          <p:nvPr/>
        </p:nvSpPr>
        <p:spPr bwMode="auto">
          <a:xfrm>
            <a:off x="457200" y="1765300"/>
            <a:ext cx="11277600" cy="660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Rectangle 9">
            <a:extLst>
              <a:ext uri="{FF2B5EF4-FFF2-40B4-BE49-F238E27FC236}">
                <a16:creationId xmlns:a16="http://schemas.microsoft.com/office/drawing/2014/main" id="{74F52156-E85A-FD40-8861-E31F3BDF0D55}"/>
              </a:ext>
            </a:extLst>
          </p:cNvPr>
          <p:cNvSpPr/>
          <p:nvPr/>
        </p:nvSpPr>
        <p:spPr bwMode="auto">
          <a:xfrm>
            <a:off x="457200" y="1765300"/>
            <a:ext cx="101600" cy="6604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54565DDA-EC37-BD48-961E-5F6CA729BB36}"/>
              </a:ext>
            </a:extLst>
          </p:cNvPr>
          <p:cNvSpPr txBox="1"/>
          <p:nvPr/>
        </p:nvSpPr>
        <p:spPr>
          <a:xfrm>
            <a:off x="711200" y="1879600"/>
            <a:ext cx="2413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a:solidFill>
                  <a:srgbClr val="070154"/>
                </a:solidFill>
                <a:latin typeface="Arial"/>
                <a:cs typeface="Arial"/>
              </a:rPr>
              <a:t>HEALTHCARE DELIVERY</a:t>
            </a:r>
            <a:endParaRPr lang="en-US" sz="1100" b="1" dirty="0">
              <a:solidFill>
                <a:srgbClr val="070154"/>
              </a:solidFill>
              <a:latin typeface="Arial"/>
              <a:cs typeface="Arial"/>
            </a:endParaRPr>
          </a:p>
        </p:txBody>
      </p:sp>
      <p:sp>
        <p:nvSpPr>
          <p:cNvPr id="12" name="TextBox 11">
            <a:extLst>
              <a:ext uri="{FF2B5EF4-FFF2-40B4-BE49-F238E27FC236}">
                <a16:creationId xmlns:a16="http://schemas.microsoft.com/office/drawing/2014/main" id="{CC887831-B016-484E-A254-CC643D63C756}"/>
              </a:ext>
            </a:extLst>
          </p:cNvPr>
          <p:cNvSpPr txBox="1"/>
          <p:nvPr/>
        </p:nvSpPr>
        <p:spPr>
          <a:xfrm>
            <a:off x="3340100" y="1866900"/>
            <a:ext cx="7366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0047FF"/>
                </a:solidFill>
                <a:latin typeface="Arial"/>
                <a:cs typeface="Arial"/>
              </a:rPr>
              <a:t>PATTERN</a:t>
            </a:r>
            <a:endParaRPr lang="en-US" sz="850" b="1" dirty="0">
              <a:solidFill>
                <a:srgbClr val="0047FF"/>
              </a:solidFill>
              <a:latin typeface="Arial"/>
              <a:cs typeface="Arial"/>
            </a:endParaRPr>
          </a:p>
        </p:txBody>
      </p:sp>
      <p:sp>
        <p:nvSpPr>
          <p:cNvPr id="13" name="TextBox 12">
            <a:extLst>
              <a:ext uri="{FF2B5EF4-FFF2-40B4-BE49-F238E27FC236}">
                <a16:creationId xmlns:a16="http://schemas.microsoft.com/office/drawing/2014/main" id="{FBF315A6-74AF-694D-8E12-789C00CA3521}"/>
              </a:ext>
            </a:extLst>
          </p:cNvPr>
          <p:cNvSpPr txBox="1"/>
          <p:nvPr/>
        </p:nvSpPr>
        <p:spPr>
          <a:xfrm>
            <a:off x="4140200" y="1854200"/>
            <a:ext cx="4279900" cy="4445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a:solidFill>
                  <a:srgbClr val="070154"/>
                </a:solidFill>
                <a:latin typeface="Arial"/>
                <a:cs typeface="Arial"/>
              </a:rPr>
              <a:t>Patient access, referral, and scheduling orchestration. Revenue-cycle and authorization work queues.</a:t>
            </a:r>
            <a:endParaRPr lang="en-US" sz="900" dirty="0">
              <a:solidFill>
                <a:srgbClr val="070154"/>
              </a:solidFill>
              <a:latin typeface="Arial"/>
              <a:cs typeface="Arial"/>
            </a:endParaRPr>
          </a:p>
        </p:txBody>
      </p:sp>
      <p:sp>
        <p:nvSpPr>
          <p:cNvPr id="25" name="TextBox 24">
            <a:extLst>
              <a:ext uri="{FF2B5EF4-FFF2-40B4-BE49-F238E27FC236}">
                <a16:creationId xmlns:a16="http://schemas.microsoft.com/office/drawing/2014/main" id="{51D5D02F-853C-544F-9D94-D88FCA84A21B}"/>
              </a:ext>
            </a:extLst>
          </p:cNvPr>
          <p:cNvSpPr txBox="1"/>
          <p:nvPr/>
        </p:nvSpPr>
        <p:spPr>
          <a:xfrm>
            <a:off x="8648700" y="1866900"/>
            <a:ext cx="7366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900D3"/>
                </a:solidFill>
                <a:latin typeface="Arial"/>
                <a:cs typeface="Arial"/>
              </a:rPr>
              <a:t>CATALYST</a:t>
            </a:r>
            <a:endParaRPr lang="en-US" sz="850" b="1" dirty="0">
              <a:solidFill>
                <a:srgbClr val="F900D3"/>
              </a:solidFill>
              <a:latin typeface="Arial"/>
              <a:cs typeface="Arial"/>
            </a:endParaRPr>
          </a:p>
        </p:txBody>
      </p:sp>
      <p:sp>
        <p:nvSpPr>
          <p:cNvPr id="26" name="TextBox 25">
            <a:extLst>
              <a:ext uri="{FF2B5EF4-FFF2-40B4-BE49-F238E27FC236}">
                <a16:creationId xmlns:a16="http://schemas.microsoft.com/office/drawing/2014/main" id="{50B460AB-01BE-E346-BE55-7A3637D85FF2}"/>
              </a:ext>
            </a:extLst>
          </p:cNvPr>
          <p:cNvSpPr txBox="1"/>
          <p:nvPr/>
        </p:nvSpPr>
        <p:spPr>
          <a:xfrm>
            <a:off x="9448800" y="1854200"/>
            <a:ext cx="2057400" cy="457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a:solidFill>
                  <a:srgbClr val="070154"/>
                </a:solidFill>
                <a:latin typeface="Arial"/>
                <a:cs typeface="Arial"/>
              </a:rPr>
              <a:t>Process friction, acquisition complexity, staffing pressure, patient experience.</a:t>
            </a:r>
            <a:endParaRPr lang="en-US" sz="900" dirty="0">
              <a:solidFill>
                <a:srgbClr val="070154"/>
              </a:solidFill>
              <a:latin typeface="Arial"/>
              <a:cs typeface="Arial"/>
            </a:endParaRPr>
          </a:p>
        </p:txBody>
      </p:sp>
      <p:sp>
        <p:nvSpPr>
          <p:cNvPr id="27" name="Rectangle 26">
            <a:extLst>
              <a:ext uri="{FF2B5EF4-FFF2-40B4-BE49-F238E27FC236}">
                <a16:creationId xmlns:a16="http://schemas.microsoft.com/office/drawing/2014/main" id="{4DA8F913-28C4-174A-97E2-CAC50C6E0C10}"/>
              </a:ext>
            </a:extLst>
          </p:cNvPr>
          <p:cNvSpPr/>
          <p:nvPr/>
        </p:nvSpPr>
        <p:spPr bwMode="auto">
          <a:xfrm>
            <a:off x="457200" y="2540000"/>
            <a:ext cx="11277600" cy="660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Rectangle 27">
            <a:extLst>
              <a:ext uri="{FF2B5EF4-FFF2-40B4-BE49-F238E27FC236}">
                <a16:creationId xmlns:a16="http://schemas.microsoft.com/office/drawing/2014/main" id="{440C75D5-6DE1-1B49-9467-D8E4F2EDA7C2}"/>
              </a:ext>
            </a:extLst>
          </p:cNvPr>
          <p:cNvSpPr/>
          <p:nvPr/>
        </p:nvSpPr>
        <p:spPr bwMode="auto">
          <a:xfrm>
            <a:off x="457200" y="2540000"/>
            <a:ext cx="101600" cy="6604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7C82302-0924-BC41-A222-15E73857E996}"/>
              </a:ext>
            </a:extLst>
          </p:cNvPr>
          <p:cNvSpPr txBox="1"/>
          <p:nvPr/>
        </p:nvSpPr>
        <p:spPr>
          <a:xfrm>
            <a:off x="711200" y="2654300"/>
            <a:ext cx="2413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a:solidFill>
                  <a:srgbClr val="070154"/>
                </a:solidFill>
                <a:latin typeface="Arial"/>
                <a:cs typeface="Arial"/>
              </a:rPr>
              <a:t>HEALTH PLANS</a:t>
            </a:r>
            <a:endParaRPr lang="en-US" sz="1100" b="1" dirty="0">
              <a:solidFill>
                <a:srgbClr val="070154"/>
              </a:solidFill>
              <a:latin typeface="Arial"/>
              <a:cs typeface="Arial"/>
            </a:endParaRPr>
          </a:p>
        </p:txBody>
      </p:sp>
      <p:sp>
        <p:nvSpPr>
          <p:cNvPr id="30" name="TextBox 29">
            <a:extLst>
              <a:ext uri="{FF2B5EF4-FFF2-40B4-BE49-F238E27FC236}">
                <a16:creationId xmlns:a16="http://schemas.microsoft.com/office/drawing/2014/main" id="{5556E130-AFC7-AA44-8916-BB9A2B1D7D81}"/>
              </a:ext>
            </a:extLst>
          </p:cNvPr>
          <p:cNvSpPr txBox="1"/>
          <p:nvPr/>
        </p:nvSpPr>
        <p:spPr>
          <a:xfrm>
            <a:off x="3340100" y="2641600"/>
            <a:ext cx="7366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0047FF"/>
                </a:solidFill>
                <a:latin typeface="Arial"/>
                <a:cs typeface="Arial"/>
              </a:rPr>
              <a:t>PATTERN</a:t>
            </a:r>
            <a:endParaRPr lang="en-US" sz="850" b="1" dirty="0">
              <a:solidFill>
                <a:srgbClr val="0047FF"/>
              </a:solidFill>
              <a:latin typeface="Arial"/>
              <a:cs typeface="Arial"/>
            </a:endParaRPr>
          </a:p>
        </p:txBody>
      </p:sp>
      <p:sp>
        <p:nvSpPr>
          <p:cNvPr id="31" name="TextBox 30">
            <a:extLst>
              <a:ext uri="{FF2B5EF4-FFF2-40B4-BE49-F238E27FC236}">
                <a16:creationId xmlns:a16="http://schemas.microsoft.com/office/drawing/2014/main" id="{2B1E5926-8479-5B4B-B712-C53544687A39}"/>
              </a:ext>
            </a:extLst>
          </p:cNvPr>
          <p:cNvSpPr txBox="1"/>
          <p:nvPr/>
        </p:nvSpPr>
        <p:spPr>
          <a:xfrm>
            <a:off x="4140200" y="2628900"/>
            <a:ext cx="4279900" cy="4445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a:solidFill>
                  <a:srgbClr val="070154"/>
                </a:solidFill>
                <a:latin typeface="Arial"/>
                <a:cs typeface="Arial"/>
              </a:rPr>
              <a:t>Claims and benefit-rule logic, enrollment and billing, prior authorization, provider data.</a:t>
            </a:r>
            <a:endParaRPr lang="en-US" sz="900" dirty="0">
              <a:solidFill>
                <a:srgbClr val="070154"/>
              </a:solidFill>
              <a:latin typeface="Arial"/>
              <a:cs typeface="Arial"/>
            </a:endParaRPr>
          </a:p>
        </p:txBody>
      </p:sp>
      <p:sp>
        <p:nvSpPr>
          <p:cNvPr id="32" name="TextBox 31">
            <a:extLst>
              <a:ext uri="{FF2B5EF4-FFF2-40B4-BE49-F238E27FC236}">
                <a16:creationId xmlns:a16="http://schemas.microsoft.com/office/drawing/2014/main" id="{15F94EE4-8774-8145-9B1D-28B70BAFFE38}"/>
              </a:ext>
            </a:extLst>
          </p:cNvPr>
          <p:cNvSpPr txBox="1"/>
          <p:nvPr/>
        </p:nvSpPr>
        <p:spPr>
          <a:xfrm>
            <a:off x="8648700" y="2641600"/>
            <a:ext cx="7366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900D3"/>
                </a:solidFill>
                <a:latin typeface="Arial"/>
                <a:cs typeface="Arial"/>
              </a:rPr>
              <a:t>CATALYST</a:t>
            </a:r>
            <a:endParaRPr lang="en-US" sz="850" b="1" dirty="0">
              <a:solidFill>
                <a:srgbClr val="F900D3"/>
              </a:solidFill>
              <a:latin typeface="Arial"/>
              <a:cs typeface="Arial"/>
            </a:endParaRPr>
          </a:p>
        </p:txBody>
      </p:sp>
      <p:sp>
        <p:nvSpPr>
          <p:cNvPr id="33" name="TextBox 32">
            <a:extLst>
              <a:ext uri="{FF2B5EF4-FFF2-40B4-BE49-F238E27FC236}">
                <a16:creationId xmlns:a16="http://schemas.microsoft.com/office/drawing/2014/main" id="{E4AA7EB6-999F-A947-9469-00D39DC7FBCD}"/>
              </a:ext>
            </a:extLst>
          </p:cNvPr>
          <p:cNvSpPr txBox="1"/>
          <p:nvPr/>
        </p:nvSpPr>
        <p:spPr>
          <a:xfrm>
            <a:off x="9448800" y="2628900"/>
            <a:ext cx="2057400" cy="457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a:solidFill>
                  <a:srgbClr val="070154"/>
                </a:solidFill>
                <a:latin typeface="Arial"/>
                <a:cs typeface="Arial"/>
              </a:rPr>
              <a:t>Product-change speed, regulatory change, manual exceptions, AI readiness.</a:t>
            </a:r>
            <a:endParaRPr lang="en-US" sz="900" dirty="0">
              <a:solidFill>
                <a:srgbClr val="070154"/>
              </a:solidFill>
              <a:latin typeface="Arial"/>
              <a:cs typeface="Arial"/>
            </a:endParaRPr>
          </a:p>
        </p:txBody>
      </p:sp>
      <p:sp>
        <p:nvSpPr>
          <p:cNvPr id="34" name="Rectangle 33">
            <a:extLst>
              <a:ext uri="{FF2B5EF4-FFF2-40B4-BE49-F238E27FC236}">
                <a16:creationId xmlns:a16="http://schemas.microsoft.com/office/drawing/2014/main" id="{791570B0-EE2D-E540-9696-A21D3C205267}"/>
              </a:ext>
            </a:extLst>
          </p:cNvPr>
          <p:cNvSpPr/>
          <p:nvPr/>
        </p:nvSpPr>
        <p:spPr bwMode="auto">
          <a:xfrm>
            <a:off x="457200" y="3314700"/>
            <a:ext cx="11277600" cy="660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5" name="Rectangle 34">
            <a:extLst>
              <a:ext uri="{FF2B5EF4-FFF2-40B4-BE49-F238E27FC236}">
                <a16:creationId xmlns:a16="http://schemas.microsoft.com/office/drawing/2014/main" id="{E5F89411-2BC3-9947-8267-D1C54C406A72}"/>
              </a:ext>
            </a:extLst>
          </p:cNvPr>
          <p:cNvSpPr/>
          <p:nvPr/>
        </p:nvSpPr>
        <p:spPr bwMode="auto">
          <a:xfrm>
            <a:off x="457200" y="3314700"/>
            <a:ext cx="101600" cy="6604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6" name="TextBox 35">
            <a:extLst>
              <a:ext uri="{FF2B5EF4-FFF2-40B4-BE49-F238E27FC236}">
                <a16:creationId xmlns:a16="http://schemas.microsoft.com/office/drawing/2014/main" id="{1FCEC5EF-A229-C54F-9E27-91719199410E}"/>
              </a:ext>
            </a:extLst>
          </p:cNvPr>
          <p:cNvSpPr txBox="1"/>
          <p:nvPr/>
        </p:nvSpPr>
        <p:spPr>
          <a:xfrm>
            <a:off x="711200" y="3429000"/>
            <a:ext cx="2413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a:solidFill>
                  <a:srgbClr val="070154"/>
                </a:solidFill>
                <a:latin typeface="Arial"/>
                <a:cs typeface="Arial"/>
              </a:rPr>
              <a:t>TRADITIONAL INSURANCE</a:t>
            </a:r>
            <a:endParaRPr lang="en-US" sz="1100" b="1" dirty="0">
              <a:solidFill>
                <a:srgbClr val="070154"/>
              </a:solidFill>
              <a:latin typeface="Arial"/>
              <a:cs typeface="Arial"/>
            </a:endParaRPr>
          </a:p>
        </p:txBody>
      </p:sp>
      <p:sp>
        <p:nvSpPr>
          <p:cNvPr id="37" name="TextBox 36">
            <a:extLst>
              <a:ext uri="{FF2B5EF4-FFF2-40B4-BE49-F238E27FC236}">
                <a16:creationId xmlns:a16="http://schemas.microsoft.com/office/drawing/2014/main" id="{380EE1C4-2EB7-1841-BE9F-239DA1DCFE53}"/>
              </a:ext>
            </a:extLst>
          </p:cNvPr>
          <p:cNvSpPr txBox="1"/>
          <p:nvPr/>
        </p:nvSpPr>
        <p:spPr>
          <a:xfrm>
            <a:off x="3340100" y="3416300"/>
            <a:ext cx="7366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0047FF"/>
                </a:solidFill>
                <a:latin typeface="Arial"/>
                <a:cs typeface="Arial"/>
              </a:rPr>
              <a:t>PATTERN</a:t>
            </a:r>
            <a:endParaRPr lang="en-US" sz="850" b="1" dirty="0">
              <a:solidFill>
                <a:srgbClr val="0047FF"/>
              </a:solidFill>
              <a:latin typeface="Arial"/>
              <a:cs typeface="Arial"/>
            </a:endParaRPr>
          </a:p>
        </p:txBody>
      </p:sp>
      <p:sp>
        <p:nvSpPr>
          <p:cNvPr id="38" name="TextBox 37">
            <a:extLst>
              <a:ext uri="{FF2B5EF4-FFF2-40B4-BE49-F238E27FC236}">
                <a16:creationId xmlns:a16="http://schemas.microsoft.com/office/drawing/2014/main" id="{A845BE52-15AA-EC43-BFBC-1DF1A07AA6F0}"/>
              </a:ext>
            </a:extLst>
          </p:cNvPr>
          <p:cNvSpPr txBox="1"/>
          <p:nvPr/>
        </p:nvSpPr>
        <p:spPr>
          <a:xfrm>
            <a:off x="4140200" y="3403600"/>
            <a:ext cx="4279900" cy="4445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a:solidFill>
                  <a:srgbClr val="070154"/>
                </a:solidFill>
                <a:latin typeface="Arial"/>
                <a:cs typeface="Arial"/>
              </a:rPr>
              <a:t>Policy administration and rating, underwriting workbench, claims orchestration, commissions.</a:t>
            </a:r>
            <a:endParaRPr lang="en-US" sz="900" dirty="0">
              <a:solidFill>
                <a:srgbClr val="070154"/>
              </a:solidFill>
              <a:latin typeface="Arial"/>
              <a:cs typeface="Arial"/>
            </a:endParaRPr>
          </a:p>
        </p:txBody>
      </p:sp>
      <p:sp>
        <p:nvSpPr>
          <p:cNvPr id="39" name="TextBox 38">
            <a:extLst>
              <a:ext uri="{FF2B5EF4-FFF2-40B4-BE49-F238E27FC236}">
                <a16:creationId xmlns:a16="http://schemas.microsoft.com/office/drawing/2014/main" id="{A9082CD7-3857-CB40-9BCB-5558C3B55D73}"/>
              </a:ext>
            </a:extLst>
          </p:cNvPr>
          <p:cNvSpPr txBox="1"/>
          <p:nvPr/>
        </p:nvSpPr>
        <p:spPr>
          <a:xfrm>
            <a:off x="8648700" y="3416300"/>
            <a:ext cx="7366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900D3"/>
                </a:solidFill>
                <a:latin typeface="Arial"/>
                <a:cs typeface="Arial"/>
              </a:rPr>
              <a:t>CATALYST</a:t>
            </a:r>
            <a:endParaRPr lang="en-US" sz="850" b="1" dirty="0">
              <a:solidFill>
                <a:srgbClr val="F900D3"/>
              </a:solidFill>
              <a:latin typeface="Arial"/>
              <a:cs typeface="Arial"/>
            </a:endParaRPr>
          </a:p>
        </p:txBody>
      </p:sp>
      <p:sp>
        <p:nvSpPr>
          <p:cNvPr id="40" name="TextBox 39">
            <a:extLst>
              <a:ext uri="{FF2B5EF4-FFF2-40B4-BE49-F238E27FC236}">
                <a16:creationId xmlns:a16="http://schemas.microsoft.com/office/drawing/2014/main" id="{E8EDEFCD-6D3C-0845-956E-D3A7FC71646D}"/>
              </a:ext>
            </a:extLst>
          </p:cNvPr>
          <p:cNvSpPr txBox="1"/>
          <p:nvPr/>
        </p:nvSpPr>
        <p:spPr>
          <a:xfrm>
            <a:off x="9448800" y="3403600"/>
            <a:ext cx="2057400" cy="457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a:solidFill>
                  <a:srgbClr val="070154"/>
                </a:solidFill>
                <a:latin typeface="Arial"/>
                <a:cs typeface="Arial"/>
              </a:rPr>
              <a:t>Growth, product speed, expert dependency, platform end of life.</a:t>
            </a:r>
            <a:endParaRPr lang="en-US" sz="900" dirty="0">
              <a:solidFill>
                <a:srgbClr val="070154"/>
              </a:solidFill>
              <a:latin typeface="Arial"/>
              <a:cs typeface="Arial"/>
            </a:endParaRPr>
          </a:p>
        </p:txBody>
      </p:sp>
      <p:sp>
        <p:nvSpPr>
          <p:cNvPr id="41" name="Rectangle 40">
            <a:extLst>
              <a:ext uri="{FF2B5EF4-FFF2-40B4-BE49-F238E27FC236}">
                <a16:creationId xmlns:a16="http://schemas.microsoft.com/office/drawing/2014/main" id="{A89A710C-EF26-B34D-A7D5-24265F44A638}"/>
              </a:ext>
            </a:extLst>
          </p:cNvPr>
          <p:cNvSpPr/>
          <p:nvPr/>
        </p:nvSpPr>
        <p:spPr bwMode="auto">
          <a:xfrm>
            <a:off x="457200" y="4089400"/>
            <a:ext cx="11277600" cy="660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2" name="Rectangle 41">
            <a:extLst>
              <a:ext uri="{FF2B5EF4-FFF2-40B4-BE49-F238E27FC236}">
                <a16:creationId xmlns:a16="http://schemas.microsoft.com/office/drawing/2014/main" id="{D7351C1D-63B9-0949-AF23-37E5DE435C91}"/>
              </a:ext>
            </a:extLst>
          </p:cNvPr>
          <p:cNvSpPr/>
          <p:nvPr/>
        </p:nvSpPr>
        <p:spPr bwMode="auto">
          <a:xfrm>
            <a:off x="457200" y="4089400"/>
            <a:ext cx="101600" cy="6604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3" name="TextBox 42">
            <a:extLst>
              <a:ext uri="{FF2B5EF4-FFF2-40B4-BE49-F238E27FC236}">
                <a16:creationId xmlns:a16="http://schemas.microsoft.com/office/drawing/2014/main" id="{A7F1F6C4-591E-2F4F-BCAE-15774BBB1D52}"/>
              </a:ext>
            </a:extLst>
          </p:cNvPr>
          <p:cNvSpPr txBox="1"/>
          <p:nvPr/>
        </p:nvSpPr>
        <p:spPr>
          <a:xfrm>
            <a:off x="711200" y="4203700"/>
            <a:ext cx="2413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a:solidFill>
                  <a:srgbClr val="070154"/>
                </a:solidFill>
                <a:latin typeface="Arial"/>
                <a:cs typeface="Arial"/>
              </a:rPr>
              <a:t>CONSUMER PRODUCTS</a:t>
            </a:r>
            <a:endParaRPr lang="en-US" sz="1100" b="1" dirty="0">
              <a:solidFill>
                <a:srgbClr val="070154"/>
              </a:solidFill>
              <a:latin typeface="Arial"/>
              <a:cs typeface="Arial"/>
            </a:endParaRPr>
          </a:p>
        </p:txBody>
      </p:sp>
      <p:sp>
        <p:nvSpPr>
          <p:cNvPr id="44" name="TextBox 43">
            <a:extLst>
              <a:ext uri="{FF2B5EF4-FFF2-40B4-BE49-F238E27FC236}">
                <a16:creationId xmlns:a16="http://schemas.microsoft.com/office/drawing/2014/main" id="{0C210865-5F52-744D-8E9C-192C9F1A18A1}"/>
              </a:ext>
            </a:extLst>
          </p:cNvPr>
          <p:cNvSpPr txBox="1"/>
          <p:nvPr/>
        </p:nvSpPr>
        <p:spPr>
          <a:xfrm>
            <a:off x="3340100" y="4191000"/>
            <a:ext cx="7366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0047FF"/>
                </a:solidFill>
                <a:latin typeface="Arial"/>
                <a:cs typeface="Arial"/>
              </a:rPr>
              <a:t>PATTERN</a:t>
            </a:r>
            <a:endParaRPr lang="en-US" sz="850" b="1" dirty="0">
              <a:solidFill>
                <a:srgbClr val="0047FF"/>
              </a:solidFill>
              <a:latin typeface="Arial"/>
              <a:cs typeface="Arial"/>
            </a:endParaRPr>
          </a:p>
        </p:txBody>
      </p:sp>
      <p:sp>
        <p:nvSpPr>
          <p:cNvPr id="45" name="TextBox 44">
            <a:extLst>
              <a:ext uri="{FF2B5EF4-FFF2-40B4-BE49-F238E27FC236}">
                <a16:creationId xmlns:a16="http://schemas.microsoft.com/office/drawing/2014/main" id="{32452007-5032-0A41-ACE5-C7258275C9E4}"/>
              </a:ext>
            </a:extLst>
          </p:cNvPr>
          <p:cNvSpPr txBox="1"/>
          <p:nvPr/>
        </p:nvSpPr>
        <p:spPr>
          <a:xfrm>
            <a:off x="4140200" y="4178300"/>
            <a:ext cx="4279900" cy="4445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a:solidFill>
                  <a:srgbClr val="070154"/>
                </a:solidFill>
                <a:latin typeface="Arial"/>
                <a:cs typeface="Arial"/>
              </a:rPr>
              <a:t>Pricing and trade promotion, order allocation and returns, product data and labeling.</a:t>
            </a:r>
            <a:endParaRPr lang="en-US" sz="900" dirty="0">
              <a:solidFill>
                <a:srgbClr val="070154"/>
              </a:solidFill>
              <a:latin typeface="Arial"/>
              <a:cs typeface="Arial"/>
            </a:endParaRPr>
          </a:p>
        </p:txBody>
      </p:sp>
      <p:sp>
        <p:nvSpPr>
          <p:cNvPr id="46" name="TextBox 45">
            <a:extLst>
              <a:ext uri="{FF2B5EF4-FFF2-40B4-BE49-F238E27FC236}">
                <a16:creationId xmlns:a16="http://schemas.microsoft.com/office/drawing/2014/main" id="{2D9B8436-6E18-774A-B6D1-E6B3C06D3593}"/>
              </a:ext>
            </a:extLst>
          </p:cNvPr>
          <p:cNvSpPr txBox="1"/>
          <p:nvPr/>
        </p:nvSpPr>
        <p:spPr>
          <a:xfrm>
            <a:off x="8648700" y="4191000"/>
            <a:ext cx="7366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900D3"/>
                </a:solidFill>
                <a:latin typeface="Arial"/>
                <a:cs typeface="Arial"/>
              </a:rPr>
              <a:t>CATALYST</a:t>
            </a:r>
            <a:endParaRPr lang="en-US" sz="850" b="1" dirty="0">
              <a:solidFill>
                <a:srgbClr val="F900D3"/>
              </a:solidFill>
              <a:latin typeface="Arial"/>
              <a:cs typeface="Arial"/>
            </a:endParaRPr>
          </a:p>
        </p:txBody>
      </p:sp>
      <p:sp>
        <p:nvSpPr>
          <p:cNvPr id="47" name="TextBox 46">
            <a:extLst>
              <a:ext uri="{FF2B5EF4-FFF2-40B4-BE49-F238E27FC236}">
                <a16:creationId xmlns:a16="http://schemas.microsoft.com/office/drawing/2014/main" id="{7E4DBA88-78AF-2346-BAAC-E72CB7F2A0FE}"/>
              </a:ext>
            </a:extLst>
          </p:cNvPr>
          <p:cNvSpPr txBox="1"/>
          <p:nvPr/>
        </p:nvSpPr>
        <p:spPr>
          <a:xfrm>
            <a:off x="9448800" y="4178300"/>
            <a:ext cx="2057400" cy="457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a:solidFill>
                  <a:srgbClr val="070154"/>
                </a:solidFill>
                <a:latin typeface="Arial"/>
                <a:cs typeface="Arial"/>
              </a:rPr>
              <a:t>Margin leakage, slow change, channel growth, ERP customization burden.</a:t>
            </a:r>
            <a:endParaRPr lang="en-US" sz="900" dirty="0">
              <a:solidFill>
                <a:srgbClr val="070154"/>
              </a:solidFill>
              <a:latin typeface="Arial"/>
              <a:cs typeface="Arial"/>
            </a:endParaRPr>
          </a:p>
        </p:txBody>
      </p:sp>
      <p:sp>
        <p:nvSpPr>
          <p:cNvPr id="48" name="Rectangle 47">
            <a:extLst>
              <a:ext uri="{FF2B5EF4-FFF2-40B4-BE49-F238E27FC236}">
                <a16:creationId xmlns:a16="http://schemas.microsoft.com/office/drawing/2014/main" id="{453F7707-01F4-0E4A-8833-3291C33BFCAF}"/>
              </a:ext>
            </a:extLst>
          </p:cNvPr>
          <p:cNvSpPr/>
          <p:nvPr/>
        </p:nvSpPr>
        <p:spPr bwMode="auto">
          <a:xfrm>
            <a:off x="457200" y="4864100"/>
            <a:ext cx="11277600" cy="6604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9" name="Rectangle 48">
            <a:extLst>
              <a:ext uri="{FF2B5EF4-FFF2-40B4-BE49-F238E27FC236}">
                <a16:creationId xmlns:a16="http://schemas.microsoft.com/office/drawing/2014/main" id="{6E1DB92A-5B49-ED4E-861B-C10C77244203}"/>
              </a:ext>
            </a:extLst>
          </p:cNvPr>
          <p:cNvSpPr/>
          <p:nvPr/>
        </p:nvSpPr>
        <p:spPr bwMode="auto">
          <a:xfrm>
            <a:off x="457200" y="4864100"/>
            <a:ext cx="101600" cy="6604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0" name="TextBox 49">
            <a:extLst>
              <a:ext uri="{FF2B5EF4-FFF2-40B4-BE49-F238E27FC236}">
                <a16:creationId xmlns:a16="http://schemas.microsoft.com/office/drawing/2014/main" id="{9491A335-938B-564B-95DA-2A8FCF0947B0}"/>
              </a:ext>
            </a:extLst>
          </p:cNvPr>
          <p:cNvSpPr txBox="1"/>
          <p:nvPr/>
        </p:nvSpPr>
        <p:spPr>
          <a:xfrm>
            <a:off x="711200" y="4978400"/>
            <a:ext cx="2413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100" b="1">
                <a:solidFill>
                  <a:srgbClr val="070154"/>
                </a:solidFill>
                <a:latin typeface="Arial"/>
                <a:cs typeface="Arial"/>
              </a:rPr>
              <a:t>INDUSTRIAL PRODUCTS</a:t>
            </a:r>
            <a:endParaRPr lang="en-US" sz="1100" b="1" dirty="0">
              <a:solidFill>
                <a:srgbClr val="070154"/>
              </a:solidFill>
              <a:latin typeface="Arial"/>
              <a:cs typeface="Arial"/>
            </a:endParaRPr>
          </a:p>
        </p:txBody>
      </p:sp>
      <p:sp>
        <p:nvSpPr>
          <p:cNvPr id="51" name="TextBox 50">
            <a:extLst>
              <a:ext uri="{FF2B5EF4-FFF2-40B4-BE49-F238E27FC236}">
                <a16:creationId xmlns:a16="http://schemas.microsoft.com/office/drawing/2014/main" id="{5DAB7F8A-96DA-4C44-922B-2E03C908A037}"/>
              </a:ext>
            </a:extLst>
          </p:cNvPr>
          <p:cNvSpPr txBox="1"/>
          <p:nvPr/>
        </p:nvSpPr>
        <p:spPr>
          <a:xfrm>
            <a:off x="3340100" y="4965700"/>
            <a:ext cx="7366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0047FF"/>
                </a:solidFill>
                <a:latin typeface="Arial"/>
                <a:cs typeface="Arial"/>
              </a:rPr>
              <a:t>PATTERN</a:t>
            </a:r>
            <a:endParaRPr lang="en-US" sz="850" b="1" dirty="0">
              <a:solidFill>
                <a:srgbClr val="0047FF"/>
              </a:solidFill>
              <a:latin typeface="Arial"/>
              <a:cs typeface="Arial"/>
            </a:endParaRPr>
          </a:p>
        </p:txBody>
      </p:sp>
      <p:sp>
        <p:nvSpPr>
          <p:cNvPr id="52" name="TextBox 51">
            <a:extLst>
              <a:ext uri="{FF2B5EF4-FFF2-40B4-BE49-F238E27FC236}">
                <a16:creationId xmlns:a16="http://schemas.microsoft.com/office/drawing/2014/main" id="{0D7590B1-2132-A94E-8DF5-4A08A0252FF7}"/>
              </a:ext>
            </a:extLst>
          </p:cNvPr>
          <p:cNvSpPr txBox="1"/>
          <p:nvPr/>
        </p:nvSpPr>
        <p:spPr>
          <a:xfrm>
            <a:off x="4140200" y="4953000"/>
            <a:ext cx="4279900" cy="4445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a:solidFill>
                  <a:srgbClr val="070154"/>
                </a:solidFill>
                <a:latin typeface="Arial"/>
                <a:cs typeface="Arial"/>
              </a:rPr>
              <a:t>Configure-price-quote and engineer-to-order, production planning, field service, quality and traceability.</a:t>
            </a:r>
            <a:endParaRPr lang="en-US" sz="900" dirty="0">
              <a:solidFill>
                <a:srgbClr val="070154"/>
              </a:solidFill>
              <a:latin typeface="Arial"/>
              <a:cs typeface="Arial"/>
            </a:endParaRPr>
          </a:p>
        </p:txBody>
      </p:sp>
      <p:sp>
        <p:nvSpPr>
          <p:cNvPr id="53" name="TextBox 52">
            <a:extLst>
              <a:ext uri="{FF2B5EF4-FFF2-40B4-BE49-F238E27FC236}">
                <a16:creationId xmlns:a16="http://schemas.microsoft.com/office/drawing/2014/main" id="{E5E6BD6F-70A9-0946-9387-05C43DB6729B}"/>
              </a:ext>
            </a:extLst>
          </p:cNvPr>
          <p:cNvSpPr txBox="1"/>
          <p:nvPr/>
        </p:nvSpPr>
        <p:spPr>
          <a:xfrm>
            <a:off x="8648700" y="4965700"/>
            <a:ext cx="736600" cy="152400"/>
          </a:xfrm>
          <a:prstGeom prst="rect">
            <a:avLst/>
          </a:prstGeom>
          <a:noFill/>
        </p:spPr>
        <p:txBody>
          <a:bodyPr vertOverflow="overflow" vert="horz" wrap="square" lIns="0" tIns="0" rIns="0" bIns="0" rtlCol="0" anchor="t">
            <a:normAutofit/>
          </a:bodyPr>
          <a:lstStyle/>
          <a:p>
            <a:pPr marL="0" indent="0" algn="l">
              <a:spcAft>
                <a:spcPts val="600"/>
              </a:spcAft>
              <a:tabLst/>
            </a:pPr>
            <a:r>
              <a:rPr lang="en-US" sz="850" b="1">
                <a:solidFill>
                  <a:srgbClr val="F900D3"/>
                </a:solidFill>
                <a:latin typeface="Arial"/>
                <a:cs typeface="Arial"/>
              </a:rPr>
              <a:t>CATALYST</a:t>
            </a:r>
            <a:endParaRPr lang="en-US" sz="850" b="1" dirty="0">
              <a:solidFill>
                <a:srgbClr val="F900D3"/>
              </a:solidFill>
              <a:latin typeface="Arial"/>
              <a:cs typeface="Arial"/>
            </a:endParaRPr>
          </a:p>
        </p:txBody>
      </p:sp>
      <p:sp>
        <p:nvSpPr>
          <p:cNvPr id="54" name="TextBox 53">
            <a:extLst>
              <a:ext uri="{FF2B5EF4-FFF2-40B4-BE49-F238E27FC236}">
                <a16:creationId xmlns:a16="http://schemas.microsoft.com/office/drawing/2014/main" id="{B1860A45-F7C7-4C4E-BEDC-9F289416AA55}"/>
              </a:ext>
            </a:extLst>
          </p:cNvPr>
          <p:cNvSpPr txBox="1"/>
          <p:nvPr/>
        </p:nvSpPr>
        <p:spPr>
          <a:xfrm>
            <a:off x="9448800" y="4953000"/>
            <a:ext cx="2057400" cy="457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a:solidFill>
                  <a:srgbClr val="070154"/>
                </a:solidFill>
                <a:latin typeface="Arial"/>
                <a:cs typeface="Arial"/>
              </a:rPr>
              <a:t>Expert concentration, downtime, service growth, plant-system complexity.</a:t>
            </a:r>
            <a:endParaRPr lang="en-US" sz="900" dirty="0">
              <a:solidFill>
                <a:srgbClr val="070154"/>
              </a:solidFill>
              <a:latin typeface="Arial"/>
              <a:cs typeface="Arial"/>
            </a:endParaRPr>
          </a:p>
        </p:txBody>
      </p:sp>
      <p:sp>
        <p:nvSpPr>
          <p:cNvPr id="55" name="Rectangle 54">
            <a:extLst>
              <a:ext uri="{FF2B5EF4-FFF2-40B4-BE49-F238E27FC236}">
                <a16:creationId xmlns:a16="http://schemas.microsoft.com/office/drawing/2014/main" id="{8D93C767-DF11-6147-AA0A-E6915C13E68D}"/>
              </a:ext>
            </a:extLst>
          </p:cNvPr>
          <p:cNvSpPr/>
          <p:nvPr/>
        </p:nvSpPr>
        <p:spPr bwMode="auto">
          <a:xfrm>
            <a:off x="457200" y="5689600"/>
            <a:ext cx="11277600" cy="4699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950" b="1" i="0" u="none" strike="noStrike" kern="1200" cap="none" spc="0" normalizeH="0" baseline="0" noProof="0" dirty="0">
              <a:ln>
                <a:noFill/>
              </a:ln>
              <a:solidFill>
                <a:srgbClr val="FFFFFF"/>
              </a:solidFill>
              <a:effectLst/>
              <a:uLnTx/>
              <a:uFillTx/>
              <a:latin typeface="Arial"/>
              <a:ea typeface="Roboto" panose="02000000000000000000" pitchFamily="2" charset="0"/>
              <a:cs typeface="Arial"/>
            </a:endParaRPr>
          </a:p>
        </p:txBody>
      </p:sp>
      <p:sp>
        <p:nvSpPr>
          <p:cNvPr id="56" name="TextBox 55">
            <a:extLst>
              <a:ext uri="{FF2B5EF4-FFF2-40B4-BE49-F238E27FC236}">
                <a16:creationId xmlns:a16="http://schemas.microsoft.com/office/drawing/2014/main" id="{C99D3A34-E09D-BD40-A043-572A1D6F3307}"/>
              </a:ext>
            </a:extLst>
          </p:cNvPr>
          <p:cNvSpPr txBox="1"/>
          <p:nvPr/>
        </p:nvSpPr>
        <p:spPr>
          <a:xfrm>
            <a:off x="685800" y="5803900"/>
            <a:ext cx="108204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FFFFFF"/>
                </a:solidFill>
                <a:latin typeface="Arial"/>
                <a:cs typeface="Arial"/>
              </a:rPr>
              <a:t>Consequential process + modernization catalyst + opaque logic or dependencies + access to source and experts + a real choice among paths.</a:t>
            </a:r>
            <a:endParaRPr lang="en-US" sz="950" b="1" dirty="0">
              <a:solidFill>
                <a:srgbClr val="FFFFFF"/>
              </a:solidFill>
              <a:latin typeface="Arial"/>
              <a:cs typeface="Arial"/>
            </a:endParaRPr>
          </a:p>
        </p:txBody>
      </p:sp>
      <p:sp>
        <p:nvSpPr>
          <p:cNvPr id="2" name="TextBox 1">
            <a:extLst>
              <a:ext uri="{FF2B5EF4-FFF2-40B4-BE49-F238E27FC236}">
                <a16:creationId xmlns:a16="http://schemas.microsoft.com/office/drawing/2014/main" id="{A48B8765-B240-8549-A806-CD128E804C0A}"/>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3" name="TextBox 2">
            <a:extLst>
              <a:ext uri="{FF2B5EF4-FFF2-40B4-BE49-F238E27FC236}">
                <a16:creationId xmlns:a16="http://schemas.microsoft.com/office/drawing/2014/main" id="{5B9FDF4A-8553-B54D-AD74-44D5E2533C8A}"/>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r>
              <a:rPr lang="en-US" sz="550">
                <a:solidFill>
                  <a:srgbClr val="070154"/>
                </a:solidFill>
                <a:latin typeface="Arial"/>
                <a:cs typeface="Arial"/>
              </a:rPr>
              <a:t>27</a:t>
            </a:r>
            <a:endParaRPr lang="en-US" sz="550" dirty="0">
              <a:solidFill>
                <a:srgbClr val="070154"/>
              </a:solidFill>
              <a:latin typeface="Arial"/>
              <a:cs typeface="Arial"/>
            </a:endParaRPr>
          </a:p>
        </p:txBody>
      </p:sp>
    </p:spTree>
    <p:custDataLst>
      <p:tags r:id="rId1"/>
    </p:custDataLst>
    <p:extLst>
      <p:ext uri="{BB962C8B-B14F-4D97-AF65-F5344CB8AC3E}">
        <p14:creationId xmlns:p14="http://schemas.microsoft.com/office/powerpoint/2010/main" val="5893033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8C-63DB-6EC0-54B3-BAD510DB5D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2D4D6B-E702-B14F-8CBF-3DB9404EA064}"/>
              </a:ext>
            </a:extLst>
          </p:cNvPr>
          <p:cNvSpPr/>
          <p:nvPr/>
        </p:nvSpPr>
        <p:spPr bwMode="auto">
          <a:xfrm>
            <a:off x="0" y="0"/>
            <a:ext cx="121920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3D957A41-9389-9041-99A2-9153DA0C87B2}"/>
              </a:ext>
            </a:extLst>
          </p:cNvPr>
          <p:cNvSpPr/>
          <p:nvPr/>
        </p:nvSpPr>
        <p:spPr bwMode="auto">
          <a:xfrm>
            <a:off x="0" y="0"/>
            <a:ext cx="2286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0716BB7-CA60-524A-8CA8-6B88AD30659B}"/>
              </a:ext>
            </a:extLst>
          </p:cNvPr>
          <p:cNvSpPr/>
          <p:nvPr/>
        </p:nvSpPr>
        <p:spPr bwMode="auto">
          <a:xfrm>
            <a:off x="457200" y="609600"/>
            <a:ext cx="15240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3C91333C-DD3E-9B4D-89FD-5B2ACB074E63}"/>
              </a:ext>
            </a:extLst>
          </p:cNvPr>
          <p:cNvSpPr txBox="1"/>
          <p:nvPr/>
        </p:nvSpPr>
        <p:spPr>
          <a:xfrm>
            <a:off x="609600" y="990600"/>
            <a:ext cx="228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APPENDIX</a:t>
            </a:r>
            <a:endParaRPr lang="en-US" sz="1000" b="1" dirty="0">
              <a:solidFill>
                <a:srgbClr val="0047FF"/>
              </a:solidFill>
              <a:latin typeface="Arial"/>
              <a:cs typeface="Arial"/>
            </a:endParaRPr>
          </a:p>
        </p:txBody>
      </p:sp>
      <p:sp>
        <p:nvSpPr>
          <p:cNvPr id="12" name="TextBox 11">
            <a:extLst>
              <a:ext uri="{FF2B5EF4-FFF2-40B4-BE49-F238E27FC236}">
                <a16:creationId xmlns:a16="http://schemas.microsoft.com/office/drawing/2014/main" id="{F8E1B792-659A-D74D-9D48-33D822D70F96}"/>
              </a:ext>
            </a:extLst>
          </p:cNvPr>
          <p:cNvSpPr txBox="1"/>
          <p:nvPr/>
        </p:nvSpPr>
        <p:spPr>
          <a:xfrm>
            <a:off x="609600" y="1473200"/>
            <a:ext cx="8001000" cy="149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900" b="1">
                <a:solidFill>
                  <a:srgbClr val="FFFFFF"/>
                </a:solidFill>
                <a:latin typeface="Arial"/>
                <a:cs typeface="Arial"/>
              </a:rPr>
              <a:t>Existing West Monroe modernization case-study library</a:t>
            </a:r>
            <a:endParaRPr lang="en-US" sz="2900" b="1" dirty="0">
              <a:solidFill>
                <a:srgbClr val="FFFFFF"/>
              </a:solidFill>
              <a:latin typeface="Arial"/>
              <a:cs typeface="Arial"/>
            </a:endParaRPr>
          </a:p>
        </p:txBody>
      </p:sp>
      <p:sp>
        <p:nvSpPr>
          <p:cNvPr id="14" name="TextBox 13">
            <a:extLst>
              <a:ext uri="{FF2B5EF4-FFF2-40B4-BE49-F238E27FC236}">
                <a16:creationId xmlns:a16="http://schemas.microsoft.com/office/drawing/2014/main" id="{F12B1E13-E8CD-BD43-96AA-519B3925EF9F}"/>
              </a:ext>
            </a:extLst>
          </p:cNvPr>
          <p:cNvSpPr txBox="1"/>
          <p:nvPr/>
        </p:nvSpPr>
        <p:spPr>
          <a:xfrm>
            <a:off x="609600" y="3149600"/>
            <a:ext cx="7874000" cy="685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a:solidFill>
                  <a:srgbClr val="FFFFFF"/>
                </a:solidFill>
                <a:latin typeface="Arial"/>
                <a:cs typeface="Arial"/>
              </a:rPr>
              <a:t>Select the one or two proof stories that best match the audience, catalyst, and modernization pattern.</a:t>
            </a:r>
            <a:endParaRPr lang="en-US" sz="1300" dirty="0">
              <a:solidFill>
                <a:srgbClr val="FFFFFF"/>
              </a:solidFill>
              <a:latin typeface="Arial"/>
              <a:cs typeface="Arial"/>
            </a:endParaRPr>
          </a:p>
        </p:txBody>
      </p:sp>
      <p:sp>
        <p:nvSpPr>
          <p:cNvPr id="15" name="TextBox 14">
            <a:extLst>
              <a:ext uri="{FF2B5EF4-FFF2-40B4-BE49-F238E27FC236}">
                <a16:creationId xmlns:a16="http://schemas.microsoft.com/office/drawing/2014/main" id="{73F430C6-7897-2E44-A356-F000D6B34EA5}"/>
              </a:ext>
            </a:extLst>
          </p:cNvPr>
          <p:cNvSpPr txBox="1"/>
          <p:nvPr/>
        </p:nvSpPr>
        <p:spPr>
          <a:xfrm>
            <a:off x="9118600" y="11557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SELECTION CUES</a:t>
            </a:r>
            <a:endParaRPr lang="en-US" sz="950" b="1" dirty="0">
              <a:solidFill>
                <a:srgbClr val="0047FF"/>
              </a:solidFill>
              <a:latin typeface="Arial"/>
              <a:cs typeface="Arial"/>
            </a:endParaRPr>
          </a:p>
        </p:txBody>
      </p:sp>
      <p:sp>
        <p:nvSpPr>
          <p:cNvPr id="16" name="Rectangle 15">
            <a:extLst>
              <a:ext uri="{FF2B5EF4-FFF2-40B4-BE49-F238E27FC236}">
                <a16:creationId xmlns:a16="http://schemas.microsoft.com/office/drawing/2014/main" id="{261D85DC-F9D6-6945-B534-E7FA1D31F122}"/>
              </a:ext>
            </a:extLst>
          </p:cNvPr>
          <p:cNvSpPr/>
          <p:nvPr/>
        </p:nvSpPr>
        <p:spPr bwMode="auto">
          <a:xfrm>
            <a:off x="9118600" y="15875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D01BF5B1-B24E-284C-9FC7-E80462316182}"/>
              </a:ext>
            </a:extLst>
          </p:cNvPr>
          <p:cNvSpPr txBox="1"/>
          <p:nvPr/>
        </p:nvSpPr>
        <p:spPr>
          <a:xfrm>
            <a:off x="9271000" y="17399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01</a:t>
            </a:r>
            <a:endParaRPr lang="en-US" sz="900" b="1" dirty="0">
              <a:solidFill>
                <a:srgbClr val="F900D3"/>
              </a:solidFill>
              <a:latin typeface="Arial"/>
              <a:cs typeface="Arial"/>
            </a:endParaRPr>
          </a:p>
        </p:txBody>
      </p:sp>
      <p:sp>
        <p:nvSpPr>
          <p:cNvPr id="21" name="TextBox 20">
            <a:extLst>
              <a:ext uri="{FF2B5EF4-FFF2-40B4-BE49-F238E27FC236}">
                <a16:creationId xmlns:a16="http://schemas.microsoft.com/office/drawing/2014/main" id="{F685F9EA-221F-3347-8288-97BD26237162}"/>
              </a:ext>
            </a:extLst>
          </p:cNvPr>
          <p:cNvSpPr txBox="1"/>
          <p:nvPr/>
        </p:nvSpPr>
        <p:spPr>
          <a:xfrm>
            <a:off x="9677400" y="16764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Industry and operating model</a:t>
            </a:r>
            <a:endParaRPr lang="en-US" sz="1000" b="1" dirty="0">
              <a:solidFill>
                <a:srgbClr val="070154"/>
              </a:solidFill>
              <a:latin typeface="Arial"/>
              <a:cs typeface="Arial"/>
            </a:endParaRPr>
          </a:p>
        </p:txBody>
      </p:sp>
      <p:sp>
        <p:nvSpPr>
          <p:cNvPr id="22" name="Rectangle 21">
            <a:extLst>
              <a:ext uri="{FF2B5EF4-FFF2-40B4-BE49-F238E27FC236}">
                <a16:creationId xmlns:a16="http://schemas.microsoft.com/office/drawing/2014/main" id="{07DBAAEE-5275-0B4F-8234-10AE0BF7AC50}"/>
              </a:ext>
            </a:extLst>
          </p:cNvPr>
          <p:cNvSpPr/>
          <p:nvPr/>
        </p:nvSpPr>
        <p:spPr bwMode="auto">
          <a:xfrm>
            <a:off x="9118600" y="23114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C1D6F0A2-F72D-C640-9D54-A4D4C9BE9626}"/>
              </a:ext>
            </a:extLst>
          </p:cNvPr>
          <p:cNvSpPr txBox="1"/>
          <p:nvPr/>
        </p:nvSpPr>
        <p:spPr>
          <a:xfrm>
            <a:off x="9271000" y="2463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02</a:t>
            </a:r>
            <a:endParaRPr lang="en-US" sz="900" b="1" dirty="0">
              <a:solidFill>
                <a:srgbClr val="F900D3"/>
              </a:solidFill>
              <a:latin typeface="Arial"/>
              <a:cs typeface="Arial"/>
            </a:endParaRPr>
          </a:p>
        </p:txBody>
      </p:sp>
      <p:sp>
        <p:nvSpPr>
          <p:cNvPr id="24" name="TextBox 23">
            <a:extLst>
              <a:ext uri="{FF2B5EF4-FFF2-40B4-BE49-F238E27FC236}">
                <a16:creationId xmlns:a16="http://schemas.microsoft.com/office/drawing/2014/main" id="{080B83FA-47AE-5546-B78A-3741943FCCAA}"/>
              </a:ext>
            </a:extLst>
          </p:cNvPr>
          <p:cNvSpPr txBox="1"/>
          <p:nvPr/>
        </p:nvSpPr>
        <p:spPr>
          <a:xfrm>
            <a:off x="9677400" y="24003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Catalyst and decision window</a:t>
            </a:r>
            <a:endParaRPr lang="en-US" sz="1000" b="1" dirty="0">
              <a:solidFill>
                <a:srgbClr val="070154"/>
              </a:solidFill>
              <a:latin typeface="Arial"/>
              <a:cs typeface="Arial"/>
            </a:endParaRPr>
          </a:p>
        </p:txBody>
      </p:sp>
      <p:sp>
        <p:nvSpPr>
          <p:cNvPr id="25" name="Rectangle 24">
            <a:extLst>
              <a:ext uri="{FF2B5EF4-FFF2-40B4-BE49-F238E27FC236}">
                <a16:creationId xmlns:a16="http://schemas.microsoft.com/office/drawing/2014/main" id="{5B5F2BF9-FA2F-E54E-9A25-DB5AD24F1FD1}"/>
              </a:ext>
            </a:extLst>
          </p:cNvPr>
          <p:cNvSpPr/>
          <p:nvPr/>
        </p:nvSpPr>
        <p:spPr bwMode="auto">
          <a:xfrm>
            <a:off x="9118600" y="30353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29292B1C-4A91-1946-99C8-A22EB49E9166}"/>
              </a:ext>
            </a:extLst>
          </p:cNvPr>
          <p:cNvSpPr txBox="1"/>
          <p:nvPr/>
        </p:nvSpPr>
        <p:spPr>
          <a:xfrm>
            <a:off x="92710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03</a:t>
            </a:r>
            <a:endParaRPr lang="en-US" sz="900" b="1" dirty="0">
              <a:solidFill>
                <a:srgbClr val="F900D3"/>
              </a:solidFill>
              <a:latin typeface="Arial"/>
              <a:cs typeface="Arial"/>
            </a:endParaRPr>
          </a:p>
        </p:txBody>
      </p:sp>
      <p:sp>
        <p:nvSpPr>
          <p:cNvPr id="27" name="TextBox 26">
            <a:extLst>
              <a:ext uri="{FF2B5EF4-FFF2-40B4-BE49-F238E27FC236}">
                <a16:creationId xmlns:a16="http://schemas.microsoft.com/office/drawing/2014/main" id="{6D3A6AC7-EA6A-544F-B9CC-F86023D2FAF4}"/>
              </a:ext>
            </a:extLst>
          </p:cNvPr>
          <p:cNvSpPr txBox="1"/>
          <p:nvPr/>
        </p:nvSpPr>
        <p:spPr>
          <a:xfrm>
            <a:off x="9677400" y="31242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Technology pattern and lifecycle stage</a:t>
            </a:r>
            <a:endParaRPr lang="en-US" sz="1000" b="1" dirty="0">
              <a:solidFill>
                <a:srgbClr val="070154"/>
              </a:solidFill>
              <a:latin typeface="Arial"/>
              <a:cs typeface="Arial"/>
            </a:endParaRPr>
          </a:p>
        </p:txBody>
      </p:sp>
      <p:sp>
        <p:nvSpPr>
          <p:cNvPr id="28" name="Rectangle 27">
            <a:extLst>
              <a:ext uri="{FF2B5EF4-FFF2-40B4-BE49-F238E27FC236}">
                <a16:creationId xmlns:a16="http://schemas.microsoft.com/office/drawing/2014/main" id="{7D2CEE49-87AD-B74B-BCBB-6545318FEAE4}"/>
              </a:ext>
            </a:extLst>
          </p:cNvPr>
          <p:cNvSpPr/>
          <p:nvPr/>
        </p:nvSpPr>
        <p:spPr bwMode="auto">
          <a:xfrm>
            <a:off x="9118600" y="37592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A7BB059-7F53-E749-AC13-3FF96661BA83}"/>
              </a:ext>
            </a:extLst>
          </p:cNvPr>
          <p:cNvSpPr txBox="1"/>
          <p:nvPr/>
        </p:nvSpPr>
        <p:spPr>
          <a:xfrm>
            <a:off x="9271000" y="39116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04</a:t>
            </a:r>
            <a:endParaRPr lang="en-US" sz="900" b="1" dirty="0">
              <a:solidFill>
                <a:srgbClr val="F900D3"/>
              </a:solidFill>
              <a:latin typeface="Arial"/>
              <a:cs typeface="Arial"/>
            </a:endParaRPr>
          </a:p>
        </p:txBody>
      </p:sp>
      <p:sp>
        <p:nvSpPr>
          <p:cNvPr id="30" name="TextBox 29">
            <a:extLst>
              <a:ext uri="{FF2B5EF4-FFF2-40B4-BE49-F238E27FC236}">
                <a16:creationId xmlns:a16="http://schemas.microsoft.com/office/drawing/2014/main" id="{E81A1754-C62A-9340-828F-1507EB0BF98D}"/>
              </a:ext>
            </a:extLst>
          </p:cNvPr>
          <p:cNvSpPr txBox="1"/>
          <p:nvPr/>
        </p:nvSpPr>
        <p:spPr>
          <a:xfrm>
            <a:off x="9677400" y="38481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Evidence and reuse status</a:t>
            </a:r>
            <a:endParaRPr lang="en-US" sz="1000" b="1" dirty="0">
              <a:solidFill>
                <a:srgbClr val="070154"/>
              </a:solidFill>
              <a:latin typeface="Arial"/>
              <a:cs typeface="Arial"/>
            </a:endParaRPr>
          </a:p>
        </p:txBody>
      </p:sp>
      <p:sp>
        <p:nvSpPr>
          <p:cNvPr id="31" name="Rectangle 30">
            <a:extLst>
              <a:ext uri="{FF2B5EF4-FFF2-40B4-BE49-F238E27FC236}">
                <a16:creationId xmlns:a16="http://schemas.microsoft.com/office/drawing/2014/main" id="{3375BC94-8D43-EF4D-96D9-538EF700EFE6}"/>
              </a:ext>
            </a:extLst>
          </p:cNvPr>
          <p:cNvSpPr/>
          <p:nvPr/>
        </p:nvSpPr>
        <p:spPr bwMode="auto">
          <a:xfrm>
            <a:off x="609600" y="5270500"/>
            <a:ext cx="8255000" cy="571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A26CFF14-2BDE-1848-A022-DAC182E8D21B}"/>
              </a:ext>
            </a:extLst>
          </p:cNvPr>
          <p:cNvSpPr txBox="1"/>
          <p:nvPr/>
        </p:nvSpPr>
        <p:spPr>
          <a:xfrm>
            <a:off x="863600" y="5435600"/>
            <a:ext cx="7747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Internal pick-deck appendix. Verify every case before external reuse.</a:t>
            </a:r>
            <a:endParaRPr lang="en-US" sz="1000" b="1" dirty="0">
              <a:solidFill>
                <a:srgbClr val="070154"/>
              </a:solidFill>
              <a:latin typeface="Arial"/>
              <a:cs typeface="Arial"/>
            </a:endParaRPr>
          </a:p>
        </p:txBody>
      </p:sp>
      <p:sp>
        <p:nvSpPr>
          <p:cNvPr id="3" name="TextBox 2">
            <a:extLst>
              <a:ext uri="{FF2B5EF4-FFF2-40B4-BE49-F238E27FC236}">
                <a16:creationId xmlns:a16="http://schemas.microsoft.com/office/drawing/2014/main" id="{D9C2D31F-41C9-834B-806E-5C698A45F50E}"/>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D0847E0D-C3A0-6C47-8917-F1C8F445903B}"/>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r>
              <a:rPr lang="en-US" sz="550">
                <a:solidFill>
                  <a:srgbClr val="070154"/>
                </a:solidFill>
                <a:latin typeface="Arial"/>
                <a:cs typeface="Arial"/>
              </a:rPr>
              <a:t>28</a:t>
            </a:r>
            <a:endParaRPr lang="en-US" sz="550" dirty="0">
              <a:solidFill>
                <a:srgbClr val="070154"/>
              </a:solidFill>
              <a:latin typeface="Arial"/>
              <a:cs typeface="Arial"/>
            </a:endParaRPr>
          </a:p>
        </p:txBody>
      </p:sp>
    </p:spTree>
    <p:extLst>
      <p:ext uri="{BB962C8B-B14F-4D97-AF65-F5344CB8AC3E}">
        <p14:creationId xmlns:p14="http://schemas.microsoft.com/office/powerpoint/2010/main" val="11125489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97D6B-8B1E-720C-E1D6-AC091F30B15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6D0FF84-9937-534B-23AD-B0B862023413}"/>
              </a:ext>
            </a:extLst>
          </p:cNvPr>
          <p:cNvSpPr>
            <a:spLocks noGrp="1"/>
          </p:cNvSpPr>
          <p:nvPr>
            <p:ph type="ftr" sz="quarter" idx="24"/>
          </p:nvPr>
        </p:nvSpPr>
        <p:spPr/>
        <p:txBody>
          <a:bodyPr wrap="square"/>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450" i="0" u="none" strike="noStrike" kern="1200" cap="none" spc="0" normalizeH="0" baseline="0" noProof="0">
                <a:ln>
                  <a:noFill/>
                </a:ln>
                <a:solidFill>
                  <a:srgbClr val="070154"/>
                </a:solidFill>
                <a:effectLst/>
                <a:uLnTx/>
                <a:uFillTx/>
                <a:latin typeface="Arial"/>
                <a:cs typeface="Arial"/>
              </a:rPr>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7E98B2AE-F1E2-2098-9EF2-0754D44DDCB8}"/>
              </a:ext>
            </a:extLst>
          </p:cNvPr>
          <p:cNvSpPr>
            <a:spLocks noGrp="1"/>
          </p:cNvSpPr>
          <p:nvPr>
            <p:ph type="sldNum" sz="quarter" idx="25"/>
          </p:nvPr>
        </p:nvSpPr>
        <p:spPr>
          <a:xfrm>
            <a:off x="11509578" y="6400799"/>
            <a:ext cx="218871" cy="167949"/>
          </a:xfrm>
        </p:spPr>
        <p:txBody>
          <a:bodyPr wrap="square"/>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550" i="0" u="none" strike="noStrike" kern="1200" cap="none" spc="0" normalizeH="0" baseline="0" noProof="0">
                <a:ln>
                  <a:noFill/>
                </a:ln>
                <a:solidFill>
                  <a:srgbClr val="070154"/>
                </a:solidFill>
                <a:effectLst/>
                <a:uLnTx/>
                <a:uFillTx/>
                <a:latin typeface="Arial"/>
                <a:cs typeface="Arial"/>
              </a:rPr>
              <a:t>29</a:t>
            </a:r>
          </a:p>
        </p:txBody>
      </p:sp>
      <p:sp>
        <p:nvSpPr>
          <p:cNvPr id="22" name="Text Placeholder 21">
            <a:extLst>
              <a:ext uri="{FF2B5EF4-FFF2-40B4-BE49-F238E27FC236}">
                <a16:creationId xmlns:a16="http://schemas.microsoft.com/office/drawing/2014/main" id="{B124E455-3EBC-A28A-608F-A680AAEF1509}"/>
              </a:ext>
            </a:extLst>
          </p:cNvPr>
          <p:cNvSpPr>
            <a:spLocks noGrp="1"/>
          </p:cNvSpPr>
          <p:nvPr>
            <p:ph type="body" sz="quarter" idx="44"/>
          </p:nvPr>
        </p:nvSpPr>
        <p:spPr/>
        <p:txBody>
          <a:bodyPr wrap="square">
            <a:normAutofit/>
          </a:bodyPr>
          <a:lstStyle/>
          <a:p>
            <a:r>
              <a:rPr lang="en-US" sz="850">
                <a:solidFill>
                  <a:srgbClr val="50627A"/>
                </a:solidFill>
                <a:latin typeface="Arial"/>
                <a:cs typeface="Arial"/>
              </a:rPr>
              <a:t>SOFTWARE MODERNIZATION</a:t>
            </a:r>
          </a:p>
        </p:txBody>
      </p:sp>
      <p:sp>
        <p:nvSpPr>
          <p:cNvPr id="23" name="Title 4">
            <a:extLst>
              <a:ext uri="{FF2B5EF4-FFF2-40B4-BE49-F238E27FC236}">
                <a16:creationId xmlns:a16="http://schemas.microsoft.com/office/drawing/2014/main" id="{798E56C0-5424-8627-39C3-687624AD6393}"/>
              </a:ext>
            </a:extLst>
          </p:cNvPr>
          <p:cNvSpPr>
            <a:spLocks noGrp="1"/>
          </p:cNvSpPr>
          <p:nvPr>
            <p:ph type="title"/>
          </p:nvPr>
        </p:nvSpPr>
        <p:spPr>
          <a:xfrm>
            <a:off x="460374" y="556953"/>
            <a:ext cx="11266489" cy="784830"/>
          </a:xfrm>
        </p:spPr>
        <p:txBody>
          <a:bodyPr wrap="square">
            <a:spAutoFit/>
          </a:bodyPr>
          <a:lstStyle/>
          <a:p>
            <a:r>
              <a:rPr lang="en-US" sz="2100">
                <a:solidFill>
                  <a:srgbClr val="070154"/>
                </a:solidFill>
                <a:latin typeface="Arial"/>
                <a:cs typeface="Arial"/>
              </a:rPr>
              <a:t>Our team has executed dozens of software modernization strategy and build engagements across industries. </a:t>
            </a:r>
            <a:r>
              <a:rPr lang="en-US" sz="2100" i="1">
                <a:solidFill>
                  <a:srgbClr val="070154"/>
                </a:solidFill>
                <a:latin typeface="Arial"/>
                <a:cs typeface="Arial"/>
              </a:rPr>
              <a:t>(1 of 3)</a:t>
            </a:r>
          </a:p>
        </p:txBody>
      </p:sp>
      <p:sp>
        <p:nvSpPr>
          <p:cNvPr id="5" name="Rectangle 4">
            <a:extLst>
              <a:ext uri="{FF2B5EF4-FFF2-40B4-BE49-F238E27FC236}">
                <a16:creationId xmlns:a16="http://schemas.microsoft.com/office/drawing/2014/main" id="{756E21B5-B365-272A-4ADA-4004E95C865F}"/>
              </a:ext>
            </a:extLst>
          </p:cNvPr>
          <p:cNvSpPr/>
          <p:nvPr/>
        </p:nvSpPr>
        <p:spPr>
          <a:xfrm>
            <a:off x="460372" y="1671289"/>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50" b="1" i="0" u="none" strike="noStrike" kern="1200" cap="none" spc="0" normalizeH="0" baseline="0" noProof="0">
                <a:ln>
                  <a:noFill/>
                </a:ln>
                <a:solidFill>
                  <a:srgbClr val="070154"/>
                </a:solidFill>
                <a:effectLst/>
                <a:uLnTx/>
                <a:uFillTx/>
                <a:latin typeface="Arial"/>
                <a:cs typeface="Arial"/>
              </a:rPr>
              <a:t>East Coast Electric &amp; Gas Utility: Energy &amp; Utilities</a:t>
            </a:r>
            <a:endParaRPr kumimoji="0" lang="en-US" altLang="ja-JP" sz="1050" b="1" i="1"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endParaRPr>
          </a:p>
        </p:txBody>
      </p:sp>
      <p:sp>
        <p:nvSpPr>
          <p:cNvPr id="6" name="Rectangle 5">
            <a:extLst>
              <a:ext uri="{FF2B5EF4-FFF2-40B4-BE49-F238E27FC236}">
                <a16:creationId xmlns:a16="http://schemas.microsoft.com/office/drawing/2014/main" id="{F12332A8-C823-E598-F818-50AC05915A0C}"/>
              </a:ext>
            </a:extLst>
          </p:cNvPr>
          <p:cNvSpPr/>
          <p:nvPr/>
        </p:nvSpPr>
        <p:spPr>
          <a:xfrm>
            <a:off x="460372" y="1950456"/>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altLang="ja-JP" sz="1000" i="0"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rPr>
              <a:t>Modernized client’s data staging platform administration app which was 7 years old. Rewrote core presentation layer from AngularJS to Angular, upgraded web servers, upgraded .NET API layer, and created DevOps CI/CD pipelines.</a:t>
            </a:r>
          </a:p>
        </p:txBody>
      </p:sp>
      <p:sp>
        <p:nvSpPr>
          <p:cNvPr id="7" name="Rectangle 6">
            <a:extLst>
              <a:ext uri="{FF2B5EF4-FFF2-40B4-BE49-F238E27FC236}">
                <a16:creationId xmlns:a16="http://schemas.microsoft.com/office/drawing/2014/main" id="{4D5A38D3-7C8E-2D5E-E3ED-CACA7AD4E0CF}"/>
              </a:ext>
            </a:extLst>
          </p:cNvPr>
          <p:cNvSpPr/>
          <p:nvPr/>
        </p:nvSpPr>
        <p:spPr>
          <a:xfrm>
            <a:off x="6220493" y="1671289"/>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Healthcare Professional Association: Life Sciences</a:t>
            </a:r>
          </a:p>
        </p:txBody>
      </p:sp>
      <p:sp>
        <p:nvSpPr>
          <p:cNvPr id="8" name="Rectangle 7">
            <a:extLst>
              <a:ext uri="{FF2B5EF4-FFF2-40B4-BE49-F238E27FC236}">
                <a16:creationId xmlns:a16="http://schemas.microsoft.com/office/drawing/2014/main" id="{4CDBE78E-08E4-113D-A14E-1E3AB10C6C4B}"/>
              </a:ext>
            </a:extLst>
          </p:cNvPr>
          <p:cNvSpPr/>
          <p:nvPr/>
        </p:nvSpPr>
        <p:spPr>
          <a:xfrm>
            <a:off x="6220493" y="1950456"/>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00" i="0" u="none" strike="noStrike" kern="1200" cap="none" spc="0" normalizeH="0" baseline="0" noProof="0">
                <a:ln>
                  <a:noFill/>
                </a:ln>
                <a:solidFill>
                  <a:srgbClr val="070154"/>
                </a:solidFill>
                <a:effectLst/>
                <a:uLnTx/>
                <a:uFillTx/>
                <a:latin typeface="Arial"/>
                <a:cs typeface="Arial"/>
              </a:rPr>
              <a:t>Created modernization strategy for decades-old COBOL application at the center of client’s business, which was hindering innovation and agility. Designed modern microservices architecture with implementation plan to decompose application and deploy services.</a:t>
            </a:r>
          </a:p>
        </p:txBody>
      </p:sp>
      <p:sp>
        <p:nvSpPr>
          <p:cNvPr id="12" name="Rectangle 11">
            <a:extLst>
              <a:ext uri="{FF2B5EF4-FFF2-40B4-BE49-F238E27FC236}">
                <a16:creationId xmlns:a16="http://schemas.microsoft.com/office/drawing/2014/main" id="{C920DDB5-5390-7B08-0210-A3C2CEECE3ED}"/>
              </a:ext>
            </a:extLst>
          </p:cNvPr>
          <p:cNvSpPr/>
          <p:nvPr/>
        </p:nvSpPr>
        <p:spPr>
          <a:xfrm>
            <a:off x="460372" y="3180353"/>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Fortune 200 Electric &amp; Gas Utility: Energy &amp; Utilities</a:t>
            </a:r>
          </a:p>
        </p:txBody>
      </p:sp>
      <p:sp>
        <p:nvSpPr>
          <p:cNvPr id="13" name="Rectangle 12">
            <a:extLst>
              <a:ext uri="{FF2B5EF4-FFF2-40B4-BE49-F238E27FC236}">
                <a16:creationId xmlns:a16="http://schemas.microsoft.com/office/drawing/2014/main" id="{B32A7A95-35F4-E63E-476A-D43D884205F8}"/>
              </a:ext>
            </a:extLst>
          </p:cNvPr>
          <p:cNvSpPr/>
          <p:nvPr/>
        </p:nvSpPr>
        <p:spPr>
          <a:xfrm>
            <a:off x="460372" y="3459519"/>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00" i="0" u="none" strike="noStrike" kern="1200" cap="none" spc="0" normalizeH="0" baseline="0" noProof="0">
                <a:ln>
                  <a:noFill/>
                </a:ln>
                <a:solidFill>
                  <a:srgbClr val="070154"/>
                </a:solidFill>
                <a:effectLst/>
                <a:uLnTx/>
                <a:uFillTx/>
                <a:latin typeface="Arial"/>
                <a:cs typeface="Arial"/>
              </a:rPr>
              <a:t>Modernized a solar interconnection web app from AngularJS to Angular, improving maintainability and efficiency. Re-wrote pages using Agile methods, driving feature parity alongside stakeholder input. Executed a pilot phase with parallel legacy and modern UIs to ensure seamless business user transition.</a:t>
            </a:r>
          </a:p>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endParaRPr kumimoji="0" lang="en-US" sz="1000" i="0" u="none" strike="noStrike" kern="1200" cap="none" spc="0" normalizeH="0" baseline="0" noProof="0">
              <a:ln>
                <a:noFill/>
              </a:ln>
              <a:solidFill>
                <a:srgbClr val="070154"/>
              </a:solidFill>
              <a:effectLst/>
              <a:uLnTx/>
              <a:uFillTx/>
              <a:latin typeface="Arial"/>
              <a:cs typeface="Arial"/>
            </a:endParaRPr>
          </a:p>
        </p:txBody>
      </p:sp>
      <p:sp>
        <p:nvSpPr>
          <p:cNvPr id="14" name="Rectangle 13">
            <a:extLst>
              <a:ext uri="{FF2B5EF4-FFF2-40B4-BE49-F238E27FC236}">
                <a16:creationId xmlns:a16="http://schemas.microsoft.com/office/drawing/2014/main" id="{E33A523F-74C8-68A1-7A26-3312E15543C3}"/>
              </a:ext>
            </a:extLst>
          </p:cNvPr>
          <p:cNvSpPr/>
          <p:nvPr/>
        </p:nvSpPr>
        <p:spPr>
          <a:xfrm>
            <a:off x="6220494" y="3180353"/>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Healthcare Professional Association: Life Sciences</a:t>
            </a:r>
          </a:p>
        </p:txBody>
      </p:sp>
      <p:sp>
        <p:nvSpPr>
          <p:cNvPr id="15" name="Rectangle 14">
            <a:extLst>
              <a:ext uri="{FF2B5EF4-FFF2-40B4-BE49-F238E27FC236}">
                <a16:creationId xmlns:a16="http://schemas.microsoft.com/office/drawing/2014/main" id="{6194164B-9339-783E-B210-4EB2C1E90DF0}"/>
              </a:ext>
            </a:extLst>
          </p:cNvPr>
          <p:cNvSpPr/>
          <p:nvPr/>
        </p:nvSpPr>
        <p:spPr>
          <a:xfrm>
            <a:off x="6220493" y="3459519"/>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00" i="0" u="none" strike="noStrike" kern="1200" cap="none" spc="0" normalizeH="0" baseline="0" noProof="0">
                <a:ln>
                  <a:noFill/>
                </a:ln>
                <a:solidFill>
                  <a:srgbClr val="070154"/>
                </a:solidFill>
                <a:effectLst/>
                <a:uLnTx/>
                <a:uFillTx/>
                <a:latin typeface="Arial"/>
                <a:cs typeface="Arial"/>
              </a:rPr>
              <a:t>Assessed and rewrote a critical customer-facing app ahead of an urgent AngularJS end-of-life deadline within five months. Conducted architecture reviews, built backlog, and led iterative development. Enhanced security and repeatable patterns with a modern codebase ready for future enhancements.</a:t>
            </a:r>
          </a:p>
        </p:txBody>
      </p:sp>
      <p:sp>
        <p:nvSpPr>
          <p:cNvPr id="19" name="Rectangle 18">
            <a:extLst>
              <a:ext uri="{FF2B5EF4-FFF2-40B4-BE49-F238E27FC236}">
                <a16:creationId xmlns:a16="http://schemas.microsoft.com/office/drawing/2014/main" id="{466305DA-F7D2-26F5-B378-652154BC28F2}"/>
              </a:ext>
            </a:extLst>
          </p:cNvPr>
          <p:cNvSpPr/>
          <p:nvPr/>
        </p:nvSpPr>
        <p:spPr>
          <a:xfrm>
            <a:off x="460372" y="4689416"/>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Large Airline: Aviation</a:t>
            </a:r>
          </a:p>
        </p:txBody>
      </p:sp>
      <p:sp>
        <p:nvSpPr>
          <p:cNvPr id="20" name="Rectangle 19">
            <a:extLst>
              <a:ext uri="{FF2B5EF4-FFF2-40B4-BE49-F238E27FC236}">
                <a16:creationId xmlns:a16="http://schemas.microsoft.com/office/drawing/2014/main" id="{AEB1766C-EF45-BD8A-FAA3-17373613C954}"/>
              </a:ext>
            </a:extLst>
          </p:cNvPr>
          <p:cNvSpPr/>
          <p:nvPr/>
        </p:nvSpPr>
        <p:spPr>
          <a:xfrm>
            <a:off x="460372" y="4968583"/>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00" i="0" u="none" strike="noStrike" kern="1200" cap="none" spc="0" normalizeH="0" baseline="0" noProof="0">
                <a:ln>
                  <a:noFill/>
                </a:ln>
                <a:solidFill>
                  <a:srgbClr val="070154"/>
                </a:solidFill>
                <a:effectLst/>
                <a:uLnTx/>
                <a:uFillTx/>
                <a:latin typeface="Arial"/>
                <a:cs typeface="Arial"/>
              </a:rPr>
              <a:t>Transformed client’s app dev practices by refactoring core reservation system into microservices. Improve scalability through IBM Garage methodologies, Cloud Foundry, and Google Kubernetes Engine. Established end-to-end CI/CD pipeline in Jenkins to achieve instant blue/green deployments.</a:t>
            </a:r>
          </a:p>
        </p:txBody>
      </p:sp>
      <p:sp>
        <p:nvSpPr>
          <p:cNvPr id="21" name="Rectangle 20">
            <a:extLst>
              <a:ext uri="{FF2B5EF4-FFF2-40B4-BE49-F238E27FC236}">
                <a16:creationId xmlns:a16="http://schemas.microsoft.com/office/drawing/2014/main" id="{98D1FF45-C30E-26F8-85D5-E4919F2E8650}"/>
              </a:ext>
            </a:extLst>
          </p:cNvPr>
          <p:cNvSpPr/>
          <p:nvPr/>
        </p:nvSpPr>
        <p:spPr>
          <a:xfrm>
            <a:off x="6220494" y="4689416"/>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Lab &amp; Diagnostic Testing Provider: Life Sciences</a:t>
            </a:r>
          </a:p>
        </p:txBody>
      </p:sp>
      <p:sp>
        <p:nvSpPr>
          <p:cNvPr id="26" name="Rectangle 25">
            <a:extLst>
              <a:ext uri="{FF2B5EF4-FFF2-40B4-BE49-F238E27FC236}">
                <a16:creationId xmlns:a16="http://schemas.microsoft.com/office/drawing/2014/main" id="{BAD69107-0B81-E29B-3EBE-5C31834A8F57}"/>
              </a:ext>
            </a:extLst>
          </p:cNvPr>
          <p:cNvSpPr/>
          <p:nvPr/>
        </p:nvSpPr>
        <p:spPr>
          <a:xfrm>
            <a:off x="6220493" y="4968583"/>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altLang="ja-JP" sz="1000" i="0"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rPr>
              <a:t>Redesigned and converted large sections of legacy .NET MVC codebase to .NET Core and Angular.  Worked with customer success team to provide supporting documentation and advised on transition plan to cutover to new UX and functionality.</a:t>
            </a:r>
          </a:p>
        </p:txBody>
      </p:sp>
    </p:spTree>
    <p:extLst>
      <p:ext uri="{BB962C8B-B14F-4D97-AF65-F5344CB8AC3E}">
        <p14:creationId xmlns:p14="http://schemas.microsoft.com/office/powerpoint/2010/main" val="32694885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CDD27-C11B-354E-F699-DA0FBA138C8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D059021-7901-B452-01D0-FB08364DB747}"/>
              </a:ext>
            </a:extLst>
          </p:cNvPr>
          <p:cNvSpPr>
            <a:spLocks noGrp="1"/>
          </p:cNvSpPr>
          <p:nvPr>
            <p:ph type="ftr" sz="quarter" idx="24"/>
          </p:nvPr>
        </p:nvSpPr>
        <p:spPr/>
        <p:txBody>
          <a:bodyPr wrap="square"/>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450" i="0" u="none" strike="noStrike" kern="1200" cap="none" spc="0" normalizeH="0" baseline="0" noProof="0">
                <a:ln>
                  <a:noFill/>
                </a:ln>
                <a:solidFill>
                  <a:srgbClr val="070154"/>
                </a:solidFill>
                <a:effectLst/>
                <a:uLnTx/>
                <a:uFillTx/>
                <a:latin typeface="Arial"/>
                <a:cs typeface="Arial"/>
              </a:rPr>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F08A29D0-2590-1EC0-734C-C99D86218EC3}"/>
              </a:ext>
            </a:extLst>
          </p:cNvPr>
          <p:cNvSpPr>
            <a:spLocks noGrp="1"/>
          </p:cNvSpPr>
          <p:nvPr>
            <p:ph type="sldNum" sz="quarter" idx="25"/>
          </p:nvPr>
        </p:nvSpPr>
        <p:spPr>
          <a:xfrm>
            <a:off x="11509578" y="6400799"/>
            <a:ext cx="218871" cy="167949"/>
          </a:xfrm>
        </p:spPr>
        <p:txBody>
          <a:bodyPr wrap="square"/>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550" i="0" u="none" strike="noStrike" kern="1200" cap="none" spc="0" normalizeH="0" baseline="0" noProof="0">
                <a:ln>
                  <a:noFill/>
                </a:ln>
                <a:solidFill>
                  <a:srgbClr val="070154"/>
                </a:solidFill>
                <a:effectLst/>
                <a:uLnTx/>
                <a:uFillTx/>
                <a:latin typeface="Arial"/>
                <a:cs typeface="Arial"/>
              </a:rPr>
              <a:t>30</a:t>
            </a:r>
          </a:p>
        </p:txBody>
      </p:sp>
      <p:sp>
        <p:nvSpPr>
          <p:cNvPr id="22" name="Text Placeholder 21">
            <a:extLst>
              <a:ext uri="{FF2B5EF4-FFF2-40B4-BE49-F238E27FC236}">
                <a16:creationId xmlns:a16="http://schemas.microsoft.com/office/drawing/2014/main" id="{844F93A5-50C1-774C-94CE-694A4ACD2CD0}"/>
              </a:ext>
            </a:extLst>
          </p:cNvPr>
          <p:cNvSpPr>
            <a:spLocks noGrp="1"/>
          </p:cNvSpPr>
          <p:nvPr>
            <p:ph type="body" sz="quarter" idx="44"/>
          </p:nvPr>
        </p:nvSpPr>
        <p:spPr/>
        <p:txBody>
          <a:bodyPr wrap="square">
            <a:normAutofit/>
          </a:bodyPr>
          <a:lstStyle/>
          <a:p>
            <a:r>
              <a:rPr lang="en-US" sz="850">
                <a:solidFill>
                  <a:srgbClr val="50627A"/>
                </a:solidFill>
                <a:latin typeface="Arial"/>
                <a:cs typeface="Arial"/>
              </a:rPr>
              <a:t>SOFTWARE MODERNIZATION</a:t>
            </a:r>
          </a:p>
        </p:txBody>
      </p:sp>
      <p:sp>
        <p:nvSpPr>
          <p:cNvPr id="23" name="Title 4">
            <a:extLst>
              <a:ext uri="{FF2B5EF4-FFF2-40B4-BE49-F238E27FC236}">
                <a16:creationId xmlns:a16="http://schemas.microsoft.com/office/drawing/2014/main" id="{512C12D8-8943-1195-EA08-E5613C95BCEF}"/>
              </a:ext>
            </a:extLst>
          </p:cNvPr>
          <p:cNvSpPr>
            <a:spLocks noGrp="1"/>
          </p:cNvSpPr>
          <p:nvPr>
            <p:ph type="title"/>
          </p:nvPr>
        </p:nvSpPr>
        <p:spPr>
          <a:xfrm>
            <a:off x="460374" y="556953"/>
            <a:ext cx="11266489" cy="784830"/>
          </a:xfrm>
        </p:spPr>
        <p:txBody>
          <a:bodyPr wrap="square">
            <a:spAutoFit/>
          </a:bodyPr>
          <a:lstStyle/>
          <a:p>
            <a:r>
              <a:rPr lang="en-US" sz="2100">
                <a:solidFill>
                  <a:srgbClr val="070154"/>
                </a:solidFill>
                <a:latin typeface="Arial"/>
                <a:cs typeface="Arial"/>
              </a:rPr>
              <a:t>Our team has executed dozens of software modernization strategy and build engagements across industries. </a:t>
            </a:r>
            <a:r>
              <a:rPr lang="en-US" sz="2100" i="1">
                <a:solidFill>
                  <a:srgbClr val="070154"/>
                </a:solidFill>
                <a:latin typeface="Arial"/>
                <a:cs typeface="Arial"/>
              </a:rPr>
              <a:t>(2 of 3)</a:t>
            </a:r>
          </a:p>
        </p:txBody>
      </p:sp>
      <p:sp>
        <p:nvSpPr>
          <p:cNvPr id="5" name="Rectangle 4">
            <a:extLst>
              <a:ext uri="{FF2B5EF4-FFF2-40B4-BE49-F238E27FC236}">
                <a16:creationId xmlns:a16="http://schemas.microsoft.com/office/drawing/2014/main" id="{AE33B3A2-0AAA-C248-785F-F73A0FFEF3EA}"/>
              </a:ext>
            </a:extLst>
          </p:cNvPr>
          <p:cNvSpPr/>
          <p:nvPr/>
        </p:nvSpPr>
        <p:spPr>
          <a:xfrm>
            <a:off x="460372" y="1671289"/>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50" b="1" i="0" u="none" strike="noStrike" kern="1200" cap="none" spc="0" normalizeH="0" baseline="0" noProof="0">
                <a:ln>
                  <a:noFill/>
                </a:ln>
                <a:solidFill>
                  <a:srgbClr val="070154"/>
                </a:solidFill>
                <a:effectLst/>
                <a:uLnTx/>
                <a:uFillTx/>
                <a:latin typeface="Arial"/>
                <a:cs typeface="Arial"/>
              </a:rPr>
              <a:t>Large Video Streaming Platform Provider: High Tech &amp; Software</a:t>
            </a:r>
            <a:endParaRPr kumimoji="0" lang="en-US" altLang="ja-JP" sz="1050" b="1" i="1"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endParaRPr>
          </a:p>
        </p:txBody>
      </p:sp>
      <p:sp>
        <p:nvSpPr>
          <p:cNvPr id="6" name="Rectangle 5">
            <a:extLst>
              <a:ext uri="{FF2B5EF4-FFF2-40B4-BE49-F238E27FC236}">
                <a16:creationId xmlns:a16="http://schemas.microsoft.com/office/drawing/2014/main" id="{FD93651E-28B3-C593-EFCB-F8CEB5057DB8}"/>
              </a:ext>
            </a:extLst>
          </p:cNvPr>
          <p:cNvSpPr/>
          <p:nvPr/>
        </p:nvSpPr>
        <p:spPr>
          <a:xfrm>
            <a:off x="460372" y="1950456"/>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altLang="ja-JP" sz="1000" i="0"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rPr>
              <a:t>Worked with Billing &amp; Subscriptions team to simplify platform management. Established domain model to promote shared understanding, modernized the platform architecture, and updated APIs to centralize business logic, improve test coverage, and enhance communications.</a:t>
            </a:r>
          </a:p>
        </p:txBody>
      </p:sp>
      <p:sp>
        <p:nvSpPr>
          <p:cNvPr id="7" name="Rectangle 6">
            <a:extLst>
              <a:ext uri="{FF2B5EF4-FFF2-40B4-BE49-F238E27FC236}">
                <a16:creationId xmlns:a16="http://schemas.microsoft.com/office/drawing/2014/main" id="{E82396F0-F573-EB9D-5C98-C966E2A533F2}"/>
              </a:ext>
            </a:extLst>
          </p:cNvPr>
          <p:cNvSpPr/>
          <p:nvPr/>
        </p:nvSpPr>
        <p:spPr>
          <a:xfrm>
            <a:off x="6220493" y="1671289"/>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Construction Company Software Provider: High Tech &amp; Software</a:t>
            </a:r>
          </a:p>
        </p:txBody>
      </p:sp>
      <p:sp>
        <p:nvSpPr>
          <p:cNvPr id="8" name="Rectangle 7">
            <a:extLst>
              <a:ext uri="{FF2B5EF4-FFF2-40B4-BE49-F238E27FC236}">
                <a16:creationId xmlns:a16="http://schemas.microsoft.com/office/drawing/2014/main" id="{7692435C-54DF-7522-8BB3-34536D572F69}"/>
              </a:ext>
            </a:extLst>
          </p:cNvPr>
          <p:cNvSpPr/>
          <p:nvPr/>
        </p:nvSpPr>
        <p:spPr>
          <a:xfrm>
            <a:off x="6220493" y="1950456"/>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00" i="0" u="none" strike="noStrike" kern="1200" cap="none" spc="0" normalizeH="0" baseline="0" noProof="0">
                <a:ln>
                  <a:noFill/>
                </a:ln>
                <a:solidFill>
                  <a:srgbClr val="070154"/>
                </a:solidFill>
                <a:effectLst/>
                <a:uLnTx/>
                <a:uFillTx/>
                <a:latin typeface="Arial"/>
                <a:cs typeface="Arial"/>
              </a:rPr>
              <a:t>Modernized client's PRO App, integrating AI to enhance operational efficiency and cost savings. Prioritized features to reduce maintenance costs, increase usability, and improve user productivity. De-risked initial $5 million investment and identified opportunities for significant productivity improvement.</a:t>
            </a:r>
          </a:p>
        </p:txBody>
      </p:sp>
      <p:sp>
        <p:nvSpPr>
          <p:cNvPr id="12" name="Rectangle 11">
            <a:extLst>
              <a:ext uri="{FF2B5EF4-FFF2-40B4-BE49-F238E27FC236}">
                <a16:creationId xmlns:a16="http://schemas.microsoft.com/office/drawing/2014/main" id="{49B011F2-81BD-5316-D26F-2637DFCE3733}"/>
              </a:ext>
            </a:extLst>
          </p:cNvPr>
          <p:cNvSpPr/>
          <p:nvPr/>
        </p:nvSpPr>
        <p:spPr>
          <a:xfrm>
            <a:off x="460372" y="3180353"/>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Large Video Streaming Platform Provider: High Tech &amp; Software</a:t>
            </a:r>
            <a:endParaRPr kumimoji="0" lang="en-US" altLang="ja-JP" sz="1050" b="1" i="1"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endParaRPr>
          </a:p>
        </p:txBody>
      </p:sp>
      <p:sp>
        <p:nvSpPr>
          <p:cNvPr id="13" name="Rectangle 12">
            <a:extLst>
              <a:ext uri="{FF2B5EF4-FFF2-40B4-BE49-F238E27FC236}">
                <a16:creationId xmlns:a16="http://schemas.microsoft.com/office/drawing/2014/main" id="{B2D4396C-9D3B-04EA-DF70-4330C557D62F}"/>
              </a:ext>
            </a:extLst>
          </p:cNvPr>
          <p:cNvSpPr/>
          <p:nvPr/>
        </p:nvSpPr>
        <p:spPr>
          <a:xfrm>
            <a:off x="460372" y="3459519"/>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00" i="0" u="none" strike="noStrike" kern="1200" cap="none" spc="0" normalizeH="0" baseline="0" noProof="0">
                <a:ln>
                  <a:noFill/>
                </a:ln>
                <a:solidFill>
                  <a:srgbClr val="070154"/>
                </a:solidFill>
                <a:effectLst/>
                <a:uLnTx/>
                <a:uFillTx/>
                <a:latin typeface="Arial"/>
                <a:cs typeface="Arial"/>
              </a:rPr>
              <a:t>Collaborated with client teams to develop both iOS and Apple TV apps. Re-wrote and modernized the iOS app while simultaneously building the Apple TV app resulting in a successful rollout to millions of Apple TV users, with quick and efficient updates.</a:t>
            </a:r>
          </a:p>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endParaRPr kumimoji="0" lang="en-US" sz="1000" i="0" u="none" strike="noStrike" kern="1200" cap="none" spc="0" normalizeH="0" baseline="0" noProof="0">
              <a:ln>
                <a:noFill/>
              </a:ln>
              <a:solidFill>
                <a:srgbClr val="070154"/>
              </a:solidFill>
              <a:effectLst/>
              <a:uLnTx/>
              <a:uFillTx/>
              <a:latin typeface="Arial"/>
              <a:cs typeface="Arial"/>
            </a:endParaRPr>
          </a:p>
        </p:txBody>
      </p:sp>
      <p:sp>
        <p:nvSpPr>
          <p:cNvPr id="14" name="Rectangle 13">
            <a:extLst>
              <a:ext uri="{FF2B5EF4-FFF2-40B4-BE49-F238E27FC236}">
                <a16:creationId xmlns:a16="http://schemas.microsoft.com/office/drawing/2014/main" id="{D6026C64-6DEA-B207-1752-1F73F884B2F8}"/>
              </a:ext>
            </a:extLst>
          </p:cNvPr>
          <p:cNvSpPr/>
          <p:nvPr/>
        </p:nvSpPr>
        <p:spPr>
          <a:xfrm>
            <a:off x="6220494" y="3180353"/>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Insurance Management Software Provider: High Tech &amp; Software</a:t>
            </a:r>
            <a:endParaRPr kumimoji="0" lang="en-US" altLang="ja-JP" sz="1050" b="1" i="1"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endParaRPr>
          </a:p>
        </p:txBody>
      </p:sp>
      <p:sp>
        <p:nvSpPr>
          <p:cNvPr id="15" name="Rectangle 14">
            <a:extLst>
              <a:ext uri="{FF2B5EF4-FFF2-40B4-BE49-F238E27FC236}">
                <a16:creationId xmlns:a16="http://schemas.microsoft.com/office/drawing/2014/main" id="{3B8FF96D-6775-AB84-C3E7-57ED25E56A88}"/>
              </a:ext>
            </a:extLst>
          </p:cNvPr>
          <p:cNvSpPr/>
          <p:nvPr/>
        </p:nvSpPr>
        <p:spPr>
          <a:xfrm>
            <a:off x="6220493" y="3459519"/>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00" i="0" u="none" strike="noStrike" kern="1200" cap="none" spc="0" normalizeH="0" baseline="0" noProof="0">
                <a:ln>
                  <a:noFill/>
                </a:ln>
                <a:solidFill>
                  <a:srgbClr val="070154"/>
                </a:solidFill>
                <a:effectLst/>
                <a:uLnTx/>
                <a:uFillTx/>
                <a:latin typeface="Arial"/>
                <a:cs typeface="Arial"/>
              </a:rPr>
              <a:t>Modernized client's software to enhance performance and user experience. Prioritized key features, streamlined workflows, and integrated advanced technologies to drive efficiency and innovation. Achieved significant improvements in operational capabilities and customer satisfaction.</a:t>
            </a:r>
          </a:p>
        </p:txBody>
      </p:sp>
      <p:sp>
        <p:nvSpPr>
          <p:cNvPr id="19" name="Rectangle 18">
            <a:extLst>
              <a:ext uri="{FF2B5EF4-FFF2-40B4-BE49-F238E27FC236}">
                <a16:creationId xmlns:a16="http://schemas.microsoft.com/office/drawing/2014/main" id="{47A5A2B7-BE61-E331-7397-6FC1CC13889B}"/>
              </a:ext>
            </a:extLst>
          </p:cNvPr>
          <p:cNvSpPr/>
          <p:nvPr/>
        </p:nvSpPr>
        <p:spPr>
          <a:xfrm>
            <a:off x="460371" y="4689416"/>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Identity &amp; Access Management Provider: High Tech &amp; Software</a:t>
            </a:r>
          </a:p>
        </p:txBody>
      </p:sp>
      <p:sp>
        <p:nvSpPr>
          <p:cNvPr id="20" name="Rectangle 19">
            <a:extLst>
              <a:ext uri="{FF2B5EF4-FFF2-40B4-BE49-F238E27FC236}">
                <a16:creationId xmlns:a16="http://schemas.microsoft.com/office/drawing/2014/main" id="{A9CEBBFB-6B69-017F-2D9D-820932CF7236}"/>
              </a:ext>
            </a:extLst>
          </p:cNvPr>
          <p:cNvSpPr/>
          <p:nvPr/>
        </p:nvSpPr>
        <p:spPr>
          <a:xfrm>
            <a:off x="460372" y="4968583"/>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00" i="0" u="none" strike="noStrike" kern="1200" cap="none" spc="0" normalizeH="0" baseline="0" noProof="0">
                <a:ln>
                  <a:noFill/>
                </a:ln>
                <a:solidFill>
                  <a:srgbClr val="070154"/>
                </a:solidFill>
                <a:effectLst/>
                <a:uLnTx/>
                <a:uFillTx/>
                <a:latin typeface="Arial"/>
                <a:cs typeface="Arial"/>
              </a:rPr>
              <a:t>Created product modernization strategy through collaborative workshops and interviews while analyzing 1.2M+ lines of code. Identified 25 tech debt reduction initiatives organized into a comprehensive 2-year roadmap, with opportunities to free up 30K hours of annual developer capacity.</a:t>
            </a:r>
          </a:p>
        </p:txBody>
      </p:sp>
      <p:sp>
        <p:nvSpPr>
          <p:cNvPr id="21" name="Rectangle 20">
            <a:extLst>
              <a:ext uri="{FF2B5EF4-FFF2-40B4-BE49-F238E27FC236}">
                <a16:creationId xmlns:a16="http://schemas.microsoft.com/office/drawing/2014/main" id="{D3E66CC2-06C2-F973-D402-463B2F202193}"/>
              </a:ext>
            </a:extLst>
          </p:cNvPr>
          <p:cNvSpPr/>
          <p:nvPr/>
        </p:nvSpPr>
        <p:spPr>
          <a:xfrm>
            <a:off x="6220494" y="4689416"/>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HR Compliance Software Provider: High Tech &amp; Software</a:t>
            </a:r>
            <a:endParaRPr kumimoji="0" lang="en-US" altLang="ja-JP" sz="1050" b="1" i="1"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endParaRPr>
          </a:p>
        </p:txBody>
      </p:sp>
      <p:sp>
        <p:nvSpPr>
          <p:cNvPr id="26" name="Rectangle 25">
            <a:extLst>
              <a:ext uri="{FF2B5EF4-FFF2-40B4-BE49-F238E27FC236}">
                <a16:creationId xmlns:a16="http://schemas.microsoft.com/office/drawing/2014/main" id="{1E7C0422-FF53-1FC7-295B-D64DCBEA2863}"/>
              </a:ext>
            </a:extLst>
          </p:cNvPr>
          <p:cNvSpPr/>
          <p:nvPr/>
        </p:nvSpPr>
        <p:spPr>
          <a:xfrm>
            <a:off x="6220493" y="4968583"/>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altLang="ja-JP" sz="1000" i="0"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rPr>
              <a:t>Transformed a leading compliance solutions provider's legacy platform by addressing slow report processing, limited integrations, and security issues. Our agile team modernized the system using Azure and AI/ML to automate tasks and streamline workflows, reducing tech debt and optimizing costs.</a:t>
            </a:r>
          </a:p>
        </p:txBody>
      </p:sp>
    </p:spTree>
    <p:extLst>
      <p:ext uri="{BB962C8B-B14F-4D97-AF65-F5344CB8AC3E}">
        <p14:creationId xmlns:p14="http://schemas.microsoft.com/office/powerpoint/2010/main" val="20337766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60C77-6FF5-1BA5-839C-762726F4F09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F3BC05F-3FB4-F80E-518A-33E26B46516D}"/>
              </a:ext>
            </a:extLst>
          </p:cNvPr>
          <p:cNvSpPr>
            <a:spLocks noGrp="1"/>
          </p:cNvSpPr>
          <p:nvPr>
            <p:ph type="ftr" sz="quarter" idx="24"/>
          </p:nvPr>
        </p:nvSpPr>
        <p:spPr/>
        <p:txBody>
          <a:bodyPr wrap="square"/>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450" i="0" u="none" strike="noStrike" kern="1200" cap="none" spc="0" normalizeH="0" baseline="0" noProof="0">
                <a:ln>
                  <a:noFill/>
                </a:ln>
                <a:solidFill>
                  <a:srgbClr val="070154"/>
                </a:solidFill>
                <a:effectLst/>
                <a:uLnTx/>
                <a:uFillTx/>
                <a:latin typeface="Arial"/>
                <a:cs typeface="Arial"/>
              </a:rPr>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0FD81ADB-7C47-A61C-E6EB-FDCEA4B2A692}"/>
              </a:ext>
            </a:extLst>
          </p:cNvPr>
          <p:cNvSpPr>
            <a:spLocks noGrp="1"/>
          </p:cNvSpPr>
          <p:nvPr>
            <p:ph type="sldNum" sz="quarter" idx="25"/>
          </p:nvPr>
        </p:nvSpPr>
        <p:spPr>
          <a:xfrm>
            <a:off x="11509578" y="6400799"/>
            <a:ext cx="218871" cy="167949"/>
          </a:xfrm>
        </p:spPr>
        <p:txBody>
          <a:bodyPr wrap="square"/>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550" i="0" u="none" strike="noStrike" kern="1200" cap="none" spc="0" normalizeH="0" baseline="0" noProof="0">
                <a:ln>
                  <a:noFill/>
                </a:ln>
                <a:solidFill>
                  <a:srgbClr val="070154"/>
                </a:solidFill>
                <a:effectLst/>
                <a:uLnTx/>
                <a:uFillTx/>
                <a:latin typeface="Arial"/>
                <a:cs typeface="Arial"/>
              </a:rPr>
              <a:t>31</a:t>
            </a:r>
          </a:p>
        </p:txBody>
      </p:sp>
      <p:sp>
        <p:nvSpPr>
          <p:cNvPr id="22" name="Text Placeholder 21">
            <a:extLst>
              <a:ext uri="{FF2B5EF4-FFF2-40B4-BE49-F238E27FC236}">
                <a16:creationId xmlns:a16="http://schemas.microsoft.com/office/drawing/2014/main" id="{F4CC7EA9-AE9A-71D6-387D-551AC7AC89A9}"/>
              </a:ext>
            </a:extLst>
          </p:cNvPr>
          <p:cNvSpPr>
            <a:spLocks noGrp="1"/>
          </p:cNvSpPr>
          <p:nvPr>
            <p:ph type="body" sz="quarter" idx="44"/>
          </p:nvPr>
        </p:nvSpPr>
        <p:spPr/>
        <p:txBody>
          <a:bodyPr wrap="square">
            <a:normAutofit/>
          </a:bodyPr>
          <a:lstStyle/>
          <a:p>
            <a:r>
              <a:rPr lang="en-US" sz="850">
                <a:solidFill>
                  <a:srgbClr val="50627A"/>
                </a:solidFill>
                <a:latin typeface="Arial"/>
                <a:cs typeface="Arial"/>
              </a:rPr>
              <a:t>SOFTWARE MODERNIZATION</a:t>
            </a:r>
          </a:p>
        </p:txBody>
      </p:sp>
      <p:sp>
        <p:nvSpPr>
          <p:cNvPr id="23" name="Title 4">
            <a:extLst>
              <a:ext uri="{FF2B5EF4-FFF2-40B4-BE49-F238E27FC236}">
                <a16:creationId xmlns:a16="http://schemas.microsoft.com/office/drawing/2014/main" id="{7C385169-279B-02D4-AD16-2F6371FDB01E}"/>
              </a:ext>
            </a:extLst>
          </p:cNvPr>
          <p:cNvSpPr>
            <a:spLocks noGrp="1"/>
          </p:cNvSpPr>
          <p:nvPr>
            <p:ph type="title"/>
          </p:nvPr>
        </p:nvSpPr>
        <p:spPr>
          <a:xfrm>
            <a:off x="460374" y="556953"/>
            <a:ext cx="11266489" cy="784830"/>
          </a:xfrm>
        </p:spPr>
        <p:txBody>
          <a:bodyPr wrap="square">
            <a:spAutoFit/>
          </a:bodyPr>
          <a:lstStyle/>
          <a:p>
            <a:r>
              <a:rPr lang="en-US" sz="2100">
                <a:solidFill>
                  <a:srgbClr val="070154"/>
                </a:solidFill>
                <a:latin typeface="Arial"/>
                <a:cs typeface="Arial"/>
              </a:rPr>
              <a:t>Our team has executed dozens of software modernization strategy and build engagements across industries. </a:t>
            </a:r>
            <a:r>
              <a:rPr lang="en-US" sz="2100" i="1">
                <a:solidFill>
                  <a:srgbClr val="070154"/>
                </a:solidFill>
                <a:latin typeface="Arial"/>
                <a:cs typeface="Arial"/>
              </a:rPr>
              <a:t>(3 of 3)</a:t>
            </a:r>
          </a:p>
        </p:txBody>
      </p:sp>
      <p:sp>
        <p:nvSpPr>
          <p:cNvPr id="5" name="Rectangle 4">
            <a:extLst>
              <a:ext uri="{FF2B5EF4-FFF2-40B4-BE49-F238E27FC236}">
                <a16:creationId xmlns:a16="http://schemas.microsoft.com/office/drawing/2014/main" id="{7BD0EF39-41C3-4161-B4B1-56DB7A724895}"/>
              </a:ext>
            </a:extLst>
          </p:cNvPr>
          <p:cNvSpPr/>
          <p:nvPr/>
        </p:nvSpPr>
        <p:spPr>
          <a:xfrm>
            <a:off x="460372" y="1671289"/>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50" b="1" i="0" u="none" strike="noStrike" kern="1200" cap="none" spc="0" normalizeH="0" baseline="0" noProof="0">
                <a:ln>
                  <a:noFill/>
                </a:ln>
                <a:solidFill>
                  <a:srgbClr val="070154"/>
                </a:solidFill>
                <a:effectLst/>
                <a:uLnTx/>
                <a:uFillTx/>
                <a:latin typeface="Arial"/>
                <a:cs typeface="Arial"/>
              </a:rPr>
              <a:t>Large Packaging/Shipping Materials Provider: Consumer &amp; Industrial Products</a:t>
            </a:r>
            <a:endParaRPr kumimoji="0" lang="en-US" altLang="ja-JP" sz="1050" b="1" i="1"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endParaRPr>
          </a:p>
        </p:txBody>
      </p:sp>
      <p:sp>
        <p:nvSpPr>
          <p:cNvPr id="6" name="Rectangle 5">
            <a:extLst>
              <a:ext uri="{FF2B5EF4-FFF2-40B4-BE49-F238E27FC236}">
                <a16:creationId xmlns:a16="http://schemas.microsoft.com/office/drawing/2014/main" id="{3B7B3C9F-A1F4-D2E8-47DC-D94000F65497}"/>
              </a:ext>
            </a:extLst>
          </p:cNvPr>
          <p:cNvSpPr/>
          <p:nvPr/>
        </p:nvSpPr>
        <p:spPr>
          <a:xfrm>
            <a:off x="460372" y="1950456"/>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altLang="ja-JP" sz="1000" i="0"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rPr>
              <a:t>Identified key modernization targets, accelerating shift to modern services. Architected custom Java Spring microservices tier, integrating with new and legacy systems. Embedded teams quickly revamped development processes for efficiency. Accelerated client's roadmap, paving way for system retirement.</a:t>
            </a:r>
          </a:p>
        </p:txBody>
      </p:sp>
      <p:sp>
        <p:nvSpPr>
          <p:cNvPr id="7" name="Rectangle 6">
            <a:extLst>
              <a:ext uri="{FF2B5EF4-FFF2-40B4-BE49-F238E27FC236}">
                <a16:creationId xmlns:a16="http://schemas.microsoft.com/office/drawing/2014/main" id="{FF9EF1E5-424D-07EE-CB06-63E619E5703A}"/>
              </a:ext>
            </a:extLst>
          </p:cNvPr>
          <p:cNvSpPr/>
          <p:nvPr/>
        </p:nvSpPr>
        <p:spPr>
          <a:xfrm>
            <a:off x="6220493" y="1671289"/>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Large Credit Reporting Agency: High Tech &amp; Software</a:t>
            </a:r>
          </a:p>
        </p:txBody>
      </p:sp>
      <p:sp>
        <p:nvSpPr>
          <p:cNvPr id="8" name="Rectangle 7">
            <a:extLst>
              <a:ext uri="{FF2B5EF4-FFF2-40B4-BE49-F238E27FC236}">
                <a16:creationId xmlns:a16="http://schemas.microsoft.com/office/drawing/2014/main" id="{C3E28B7A-5AA9-826B-5090-57746853B171}"/>
              </a:ext>
            </a:extLst>
          </p:cNvPr>
          <p:cNvSpPr/>
          <p:nvPr/>
        </p:nvSpPr>
        <p:spPr>
          <a:xfrm>
            <a:off x="6220493" y="1950456"/>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00" i="0" u="none" strike="noStrike" kern="1200" cap="none" spc="0" normalizeH="0" baseline="0" noProof="0">
                <a:ln>
                  <a:noFill/>
                </a:ln>
                <a:solidFill>
                  <a:srgbClr val="070154"/>
                </a:solidFill>
                <a:effectLst/>
                <a:uLnTx/>
                <a:uFillTx/>
                <a:latin typeface="Arial"/>
                <a:cs typeface="Arial"/>
              </a:rPr>
              <a:t>Transformed client's offer management by modernizing their outdated system. Embedded product and development team members to design and build a system that personalizes offers using user demographics. This cut publishing and update times from 6-8 weeks to under 24 hours.</a:t>
            </a:r>
          </a:p>
        </p:txBody>
      </p:sp>
      <p:sp>
        <p:nvSpPr>
          <p:cNvPr id="12" name="Rectangle 11">
            <a:extLst>
              <a:ext uri="{FF2B5EF4-FFF2-40B4-BE49-F238E27FC236}">
                <a16:creationId xmlns:a16="http://schemas.microsoft.com/office/drawing/2014/main" id="{8358353D-CA79-08DE-9E6D-5388901B9351}"/>
              </a:ext>
            </a:extLst>
          </p:cNvPr>
          <p:cNvSpPr/>
          <p:nvPr/>
        </p:nvSpPr>
        <p:spPr>
          <a:xfrm>
            <a:off x="460372" y="3180353"/>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Golf Club Owner/Operator: Consumer &amp; Industrial Products</a:t>
            </a:r>
            <a:endParaRPr kumimoji="0" lang="en-US" altLang="ja-JP" sz="1050" b="1" i="1"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endParaRPr>
          </a:p>
        </p:txBody>
      </p:sp>
      <p:sp>
        <p:nvSpPr>
          <p:cNvPr id="13" name="Rectangle 12">
            <a:extLst>
              <a:ext uri="{FF2B5EF4-FFF2-40B4-BE49-F238E27FC236}">
                <a16:creationId xmlns:a16="http://schemas.microsoft.com/office/drawing/2014/main" id="{B0A7700E-DF2C-6DD2-44D5-50D93F4439BF}"/>
              </a:ext>
            </a:extLst>
          </p:cNvPr>
          <p:cNvSpPr/>
          <p:nvPr/>
        </p:nvSpPr>
        <p:spPr>
          <a:xfrm>
            <a:off x="460372" y="3459519"/>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00" i="0" u="none" strike="noStrike" kern="1200" cap="none" spc="0" normalizeH="0" baseline="0" noProof="0">
                <a:ln>
                  <a:noFill/>
                </a:ln>
                <a:solidFill>
                  <a:srgbClr val="070154"/>
                </a:solidFill>
                <a:effectLst/>
                <a:uLnTx/>
                <a:uFillTx/>
                <a:latin typeface="Arial"/>
                <a:cs typeface="Arial"/>
              </a:rPr>
              <a:t>Assessed and remediated key issues in caddie booking system. Established reusable tests and metrics to measure improvement effectiveness. Implemented fixes over 10 sprints, achieving 10X performance gains. Updated to long-term support versions and added CI/CD with gatekeeping.</a:t>
            </a:r>
          </a:p>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endParaRPr kumimoji="0" lang="en-US" sz="1000" i="0" u="none" strike="noStrike" kern="1200" cap="none" spc="0" normalizeH="0" baseline="0" noProof="0">
              <a:ln>
                <a:noFill/>
              </a:ln>
              <a:solidFill>
                <a:srgbClr val="070154"/>
              </a:solidFill>
              <a:effectLst/>
              <a:uLnTx/>
              <a:uFillTx/>
              <a:latin typeface="Arial"/>
              <a:cs typeface="Arial"/>
            </a:endParaRPr>
          </a:p>
        </p:txBody>
      </p:sp>
      <p:sp>
        <p:nvSpPr>
          <p:cNvPr id="14" name="Rectangle 13">
            <a:extLst>
              <a:ext uri="{FF2B5EF4-FFF2-40B4-BE49-F238E27FC236}">
                <a16:creationId xmlns:a16="http://schemas.microsoft.com/office/drawing/2014/main" id="{E688D619-FC9B-06DF-5102-DDC9FB2643D9}"/>
              </a:ext>
            </a:extLst>
          </p:cNvPr>
          <p:cNvSpPr/>
          <p:nvPr/>
        </p:nvSpPr>
        <p:spPr>
          <a:xfrm>
            <a:off x="6220494" y="3180353"/>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Community Bank: Banking</a:t>
            </a:r>
            <a:endParaRPr kumimoji="0" lang="en-US" altLang="ja-JP" sz="1050" b="1" i="1"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endParaRPr>
          </a:p>
        </p:txBody>
      </p:sp>
      <p:sp>
        <p:nvSpPr>
          <p:cNvPr id="15" name="Rectangle 14">
            <a:extLst>
              <a:ext uri="{FF2B5EF4-FFF2-40B4-BE49-F238E27FC236}">
                <a16:creationId xmlns:a16="http://schemas.microsoft.com/office/drawing/2014/main" id="{3EF90DAC-036F-1C7E-5596-43A397E41D0A}"/>
              </a:ext>
            </a:extLst>
          </p:cNvPr>
          <p:cNvSpPr/>
          <p:nvPr/>
        </p:nvSpPr>
        <p:spPr>
          <a:xfrm>
            <a:off x="6220493" y="3459519"/>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00" i="0" u="none" strike="noStrike" kern="1200" cap="none" spc="0" normalizeH="0" baseline="0" noProof="0">
                <a:ln>
                  <a:noFill/>
                </a:ln>
                <a:solidFill>
                  <a:srgbClr val="070154"/>
                </a:solidFill>
                <a:effectLst/>
                <a:uLnTx/>
                <a:uFillTx/>
                <a:latin typeface="Arial"/>
                <a:cs typeface="Arial"/>
              </a:rPr>
              <a:t>Assessed client’s tech landscape, identifying risks and scalability issues. Rationalized applications; developed future state architecture and roadmap. Established maturity framework for digital. Recommended initiatives to enhance data analytics, IT governance, and technology solutions.</a:t>
            </a:r>
          </a:p>
        </p:txBody>
      </p:sp>
      <p:sp>
        <p:nvSpPr>
          <p:cNvPr id="19" name="Rectangle 18">
            <a:extLst>
              <a:ext uri="{FF2B5EF4-FFF2-40B4-BE49-F238E27FC236}">
                <a16:creationId xmlns:a16="http://schemas.microsoft.com/office/drawing/2014/main" id="{A1A94855-BD82-09AC-7AFC-427354549C69}"/>
              </a:ext>
            </a:extLst>
          </p:cNvPr>
          <p:cNvSpPr/>
          <p:nvPr/>
        </p:nvSpPr>
        <p:spPr>
          <a:xfrm>
            <a:off x="460371" y="4689416"/>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Large Property &amp; Casualty Insurance Provider: Insurance</a:t>
            </a:r>
          </a:p>
        </p:txBody>
      </p:sp>
      <p:sp>
        <p:nvSpPr>
          <p:cNvPr id="20" name="Rectangle 19">
            <a:extLst>
              <a:ext uri="{FF2B5EF4-FFF2-40B4-BE49-F238E27FC236}">
                <a16:creationId xmlns:a16="http://schemas.microsoft.com/office/drawing/2014/main" id="{E77260CB-8DB3-1080-70F2-96EDF118ABA2}"/>
              </a:ext>
            </a:extLst>
          </p:cNvPr>
          <p:cNvSpPr/>
          <p:nvPr/>
        </p:nvSpPr>
        <p:spPr>
          <a:xfrm>
            <a:off x="460372" y="4968583"/>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sz="1000" i="0" u="none" strike="noStrike" kern="1200" cap="none" spc="0" normalizeH="0" baseline="0" noProof="0">
                <a:ln>
                  <a:noFill/>
                </a:ln>
                <a:solidFill>
                  <a:srgbClr val="070154"/>
                </a:solidFill>
                <a:effectLst/>
                <a:uLnTx/>
                <a:uFillTx/>
                <a:latin typeface="Arial"/>
                <a:cs typeface="Arial"/>
              </a:rPr>
              <a:t>Re-platformed the client's legacy, Windows-only applications to a cloud-first tech stack. Unified the customer experience by modernizing workflows and integrated five applications into a single solution. Simplified processes and improved access to support and pricing specials.</a:t>
            </a:r>
          </a:p>
        </p:txBody>
      </p:sp>
      <p:sp>
        <p:nvSpPr>
          <p:cNvPr id="21" name="Rectangle 20">
            <a:extLst>
              <a:ext uri="{FF2B5EF4-FFF2-40B4-BE49-F238E27FC236}">
                <a16:creationId xmlns:a16="http://schemas.microsoft.com/office/drawing/2014/main" id="{B1652ED9-E3EE-8F83-D48A-D5CEC3893215}"/>
              </a:ext>
            </a:extLst>
          </p:cNvPr>
          <p:cNvSpPr/>
          <p:nvPr/>
        </p:nvSpPr>
        <p:spPr>
          <a:xfrm>
            <a:off x="6220494" y="4689416"/>
            <a:ext cx="5511134" cy="26703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b="1" i="0" u="none" strike="noStrike" kern="1200" cap="none" spc="0" normalizeH="0" baseline="0" noProof="0">
                <a:ln>
                  <a:noFill/>
                </a:ln>
                <a:solidFill>
                  <a:srgbClr val="070154"/>
                </a:solidFill>
                <a:effectLst/>
                <a:uLnTx/>
                <a:uFillTx/>
                <a:latin typeface="Arial"/>
                <a:cs typeface="Arial"/>
              </a:rPr>
              <a:t>Workplace Safety &amp; Compliance Provider: Healthcare</a:t>
            </a:r>
            <a:endParaRPr kumimoji="0" lang="en-US" altLang="ja-JP" sz="1050" b="1" i="1"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endParaRPr>
          </a:p>
        </p:txBody>
      </p:sp>
      <p:sp>
        <p:nvSpPr>
          <p:cNvPr id="26" name="Rectangle 25">
            <a:extLst>
              <a:ext uri="{FF2B5EF4-FFF2-40B4-BE49-F238E27FC236}">
                <a16:creationId xmlns:a16="http://schemas.microsoft.com/office/drawing/2014/main" id="{5BFD4ED3-91ED-6BC5-5067-1869D7AEAC30}"/>
              </a:ext>
            </a:extLst>
          </p:cNvPr>
          <p:cNvSpPr/>
          <p:nvPr/>
        </p:nvSpPr>
        <p:spPr>
          <a:xfrm>
            <a:off x="6220493" y="4968583"/>
            <a:ext cx="5511134" cy="1005840"/>
          </a:xfrm>
          <a:prstGeom prst="rect">
            <a:avLst/>
          </a:prstGeom>
          <a:solidFill>
            <a:srgbClr val="E8EEF8"/>
          </a:solidFill>
          <a:ln w="12700" cap="flat" cmpd="sng" algn="ctr">
            <a:no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91440" rIns="87023" bIns="182880" numCol="1" spcCol="1270" anchor="t" anchorCtr="0">
            <a:noAutofit/>
          </a:bodyPr>
          <a:lstStyle/>
          <a:p>
            <a:pPr marL="3663" marR="0" lvl="1" indent="0" algn="l" defTabSz="914400" rtl="0" eaLnBrk="1" fontAlgn="auto" latinLnBrk="0" hangingPunct="1">
              <a:lnSpc>
                <a:spcPct val="100000"/>
              </a:lnSpc>
              <a:spcBef>
                <a:spcPts val="0"/>
              </a:spcBef>
              <a:spcAft>
                <a:spcPts val="600"/>
              </a:spcAft>
              <a:buClr>
                <a:srgbClr val="F900D3"/>
              </a:buClr>
              <a:buSzTx/>
              <a:buFontTx/>
              <a:buNone/>
              <a:tabLst>
                <a:tab pos="280988" algn="l"/>
              </a:tabLst>
              <a:defRPr/>
            </a:pPr>
            <a:r>
              <a:rPr kumimoji="0" lang="en-US" altLang="ja-JP" sz="1000" i="0" u="none" strike="noStrike" kern="1200" cap="none" spc="0" normalizeH="0" baseline="0" noProof="0">
                <a:ln>
                  <a:noFill/>
                </a:ln>
                <a:solidFill>
                  <a:srgbClr val="070154"/>
                </a:solidFill>
                <a:effectLst/>
                <a:uLnTx/>
                <a:uFillTx/>
                <a:latin typeface="Arial"/>
                <a:ea typeface="ＭＳ Ｐゴシック" panose="020B0600070205080204" pitchFamily="34" charset="-128"/>
                <a:cs typeface="Arial"/>
              </a:rPr>
              <a:t>Modernized outdated architecture to reduce risks and enable faster releases. Implemented Agile delivery process. Created .NET Core microservice and Azure-hosted SQL database to decouple occupational health domain. Replacing ASP.NET web pages with React for improved user experiences.</a:t>
            </a:r>
          </a:p>
        </p:txBody>
      </p:sp>
    </p:spTree>
    <p:extLst>
      <p:ext uri="{BB962C8B-B14F-4D97-AF65-F5344CB8AC3E}">
        <p14:creationId xmlns:p14="http://schemas.microsoft.com/office/powerpoint/2010/main" val="21469136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78FBE-50F4-7B52-42F4-4C59A96CC44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4BB4804-5B22-C9F8-1B09-656B37AB498F}"/>
              </a:ext>
            </a:extLst>
          </p:cNvPr>
          <p:cNvSpPr>
            <a:spLocks noGrp="1"/>
          </p:cNvSpPr>
          <p:nvPr>
            <p:ph type="body" sz="quarter" idx="19"/>
          </p:nvPr>
        </p:nvSpPr>
        <p:spPr/>
        <p:txBody>
          <a:bodyPr/>
          <a:lstStyle/>
          <a:p>
            <a:endParaRPr lang="en-US"/>
          </a:p>
        </p:txBody>
      </p:sp>
      <p:sp>
        <p:nvSpPr>
          <p:cNvPr id="2" name="Title 1">
            <a:extLst>
              <a:ext uri="{FF2B5EF4-FFF2-40B4-BE49-F238E27FC236}">
                <a16:creationId xmlns:a16="http://schemas.microsoft.com/office/drawing/2014/main" id="{3C2A2A2E-DD73-E742-3661-649E3738E3EB}"/>
              </a:ext>
            </a:extLst>
          </p:cNvPr>
          <p:cNvSpPr>
            <a:spLocks noGrp="1"/>
          </p:cNvSpPr>
          <p:nvPr>
            <p:ph type="title"/>
          </p:nvPr>
        </p:nvSpPr>
        <p:spPr/>
        <p:txBody>
          <a:bodyPr wrap="square"/>
          <a:lstStyle/>
          <a:p>
            <a:r>
              <a:rPr lang="en-US" sz="2700">
                <a:solidFill>
                  <a:srgbClr val="FFFFFF"/>
                </a:solidFill>
                <a:latin typeface="Arial"/>
                <a:cs typeface="Arial"/>
              </a:rPr>
              <a:t>Appendix:</a:t>
            </a:r>
            <a:br>
              <a:rPr lang="en-US" sz="2700">
                <a:solidFill>
                  <a:srgbClr val="FFFFFF"/>
                </a:solidFill>
                <a:latin typeface="Arial"/>
                <a:cs typeface="Arial"/>
              </a:rPr>
            </a:br>
            <a:r>
              <a:rPr lang="en-US" sz="2700">
                <a:solidFill>
                  <a:srgbClr val="FFFFFF"/>
                </a:solidFill>
                <a:latin typeface="Arial"/>
                <a:cs typeface="Arial"/>
              </a:rPr>
              <a:t>Detailed Modernization Client Stories</a:t>
            </a:r>
          </a:p>
        </p:txBody>
      </p:sp>
      <p:sp>
        <p:nvSpPr>
          <p:cNvPr id="4" name="Text Placeholder 3">
            <a:extLst>
              <a:ext uri="{FF2B5EF4-FFF2-40B4-BE49-F238E27FC236}">
                <a16:creationId xmlns:a16="http://schemas.microsoft.com/office/drawing/2014/main" id="{D2231B52-6D9A-99E6-E539-8C125AD286C2}"/>
              </a:ext>
            </a:extLst>
          </p:cNvPr>
          <p:cNvSpPr>
            <a:spLocks noGrp="1"/>
          </p:cNvSpPr>
          <p:nvPr>
            <p:ph type="body" sz="quarter" idx="23"/>
          </p:nvPr>
        </p:nvSpPr>
        <p:spPr/>
        <p:txBody>
          <a:bodyPr wrap="square">
            <a:normAutofit/>
          </a:bodyPr>
          <a:lstStyle/>
          <a:p>
            <a:r>
              <a:rPr lang="en-US" sz="4600">
                <a:solidFill>
                  <a:srgbClr val="FFFFFF"/>
                </a:solidFill>
                <a:latin typeface="Arial"/>
                <a:cs typeface="Arial"/>
              </a:rPr>
              <a:t>01</a:t>
            </a:r>
          </a:p>
        </p:txBody>
      </p:sp>
      <p:sp>
        <p:nvSpPr>
          <p:cNvPr id="6" name="Footer Placeholder 5">
            <a:extLst>
              <a:ext uri="{FF2B5EF4-FFF2-40B4-BE49-F238E27FC236}">
                <a16:creationId xmlns:a16="http://schemas.microsoft.com/office/drawing/2014/main" id="{F2FC0A7D-B30D-F6B5-A417-E68F92018B74}"/>
              </a:ext>
            </a:extLst>
          </p:cNvPr>
          <p:cNvSpPr>
            <a:spLocks noGrp="1"/>
          </p:cNvSpPr>
          <p:nvPr>
            <p:ph type="ftr" sz="quarter" idx="24"/>
          </p:nvPr>
        </p:nvSpPr>
        <p:spPr/>
        <p:txBody>
          <a:bodyPr wrap="square"/>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450" i="0" u="none" strike="noStrike" kern="1200" cap="none" spc="0" normalizeH="0" baseline="0" noProof="0">
                <a:ln>
                  <a:noFill/>
                </a:ln>
                <a:solidFill>
                  <a:srgbClr val="FFFFFF"/>
                </a:solidFill>
                <a:effectLst/>
                <a:uLnTx/>
                <a:uFillTx/>
                <a:latin typeface="Arial"/>
                <a:cs typeface="Arial"/>
              </a:rPr>
              <a:t>© 2026 West Monroe Partners | Reproduction and/or distribution without West Monroe Partners’ prior consent is prohibited.</a:t>
            </a:r>
          </a:p>
        </p:txBody>
      </p:sp>
      <p:sp>
        <p:nvSpPr>
          <p:cNvPr id="7" name="Slide Number Placeholder 6">
            <a:extLst>
              <a:ext uri="{FF2B5EF4-FFF2-40B4-BE49-F238E27FC236}">
                <a16:creationId xmlns:a16="http://schemas.microsoft.com/office/drawing/2014/main" id="{A0E49602-FA27-FBE0-D652-E1B63E73F882}"/>
              </a:ext>
            </a:extLst>
          </p:cNvPr>
          <p:cNvSpPr>
            <a:spLocks noGrp="1"/>
          </p:cNvSpPr>
          <p:nvPr>
            <p:ph type="sldNum" sz="quarter" idx="25"/>
          </p:nvPr>
        </p:nvSpPr>
        <p:spPr/>
        <p:txBody>
          <a:bodyPr wrap="square"/>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550" i="0" u="none" strike="noStrike" kern="1200" cap="none" spc="0" normalizeH="0" baseline="0" noProof="0">
                <a:ln>
                  <a:noFill/>
                </a:ln>
                <a:solidFill>
                  <a:srgbClr val="FFFFFF"/>
                </a:solidFill>
                <a:effectLst/>
                <a:uLnTx/>
                <a:uFillTx/>
                <a:latin typeface="Arial"/>
                <a:cs typeface="Arial"/>
              </a:rPr>
              <a:t>32</a:t>
            </a:r>
          </a:p>
        </p:txBody>
      </p:sp>
    </p:spTree>
    <p:extLst>
      <p:ext uri="{BB962C8B-B14F-4D97-AF65-F5344CB8AC3E}">
        <p14:creationId xmlns:p14="http://schemas.microsoft.com/office/powerpoint/2010/main" val="17401308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B9D05-8229-E192-328B-074C39270828}"/>
            </a:ext>
          </a:extLst>
        </p:cNvPr>
        <p:cNvGrpSpPr/>
        <p:nvPr/>
      </p:nvGrpSpPr>
      <p:grpSpPr>
        <a:xfrm>
          <a:off x="0" y="0"/>
          <a:ext cx="0" cy="0"/>
          <a:chOff x="0" y="0"/>
          <a:chExt cx="0" cy="0"/>
        </a:xfrm>
      </p:grpSpPr>
      <p:sp>
        <p:nvSpPr>
          <p:cNvPr id="19" name="Text Placeholder 18">
            <a:extLst>
              <a:ext uri="{FF2B5EF4-FFF2-40B4-BE49-F238E27FC236}">
                <a16:creationId xmlns:a16="http://schemas.microsoft.com/office/drawing/2014/main" id="{9287B411-9C9D-D1B7-D0BA-A560FF519B26}"/>
              </a:ext>
            </a:extLst>
          </p:cNvPr>
          <p:cNvSpPr>
            <a:spLocks noGrp="1"/>
          </p:cNvSpPr>
          <p:nvPr>
            <p:ph type="body" sz="quarter" idx="33"/>
          </p:nvPr>
        </p:nvSpPr>
        <p:spPr>
          <a:xfrm>
            <a:off x="6616700" y="1714500"/>
            <a:ext cx="5111749" cy="1435608"/>
          </a:xfrm>
        </p:spPr>
        <p:txBody>
          <a:bodyPr/>
          <a:lstStyle/>
          <a:p>
            <a:endParaRPr lang="en-US"/>
          </a:p>
        </p:txBody>
      </p:sp>
      <p:sp>
        <p:nvSpPr>
          <p:cNvPr id="3" name="Footer Placeholder 2">
            <a:extLst>
              <a:ext uri="{FF2B5EF4-FFF2-40B4-BE49-F238E27FC236}">
                <a16:creationId xmlns:a16="http://schemas.microsoft.com/office/drawing/2014/main" id="{B933A75F-A48B-46DD-C2B6-FF9696F6C88F}"/>
              </a:ext>
            </a:extLst>
          </p:cNvPr>
          <p:cNvSpPr>
            <a:spLocks noGrp="1"/>
          </p:cNvSpPr>
          <p:nvPr>
            <p:ph type="ftr" sz="quarter" idx="24"/>
          </p:nvPr>
        </p:nvSpPr>
        <p:spPr>
          <a:xfrm>
            <a:off x="4321019" y="6400798"/>
            <a:ext cx="7102834" cy="167949"/>
          </a:xfrm>
        </p:spPr>
        <p:txBody>
          <a:bodyPr wrap="square"/>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450" i="0" u="none" strike="noStrike" kern="1200" cap="none" spc="0" normalizeH="0" baseline="0" noProof="0">
                <a:ln>
                  <a:noFill/>
                </a:ln>
                <a:solidFill>
                  <a:srgbClr val="070154"/>
                </a:solidFill>
                <a:effectLst/>
                <a:uLnTx/>
                <a:uFillTx/>
                <a:latin typeface="Arial"/>
                <a:cs typeface="Arial"/>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AAC7E765-EDBE-7A88-DFA9-38B31B122EE0}"/>
              </a:ext>
            </a:extLst>
          </p:cNvPr>
          <p:cNvSpPr>
            <a:spLocks noGrp="1"/>
          </p:cNvSpPr>
          <p:nvPr>
            <p:ph type="sldNum" sz="quarter" idx="25"/>
          </p:nvPr>
        </p:nvSpPr>
        <p:spPr>
          <a:xfrm>
            <a:off x="11509578" y="6400799"/>
            <a:ext cx="218871" cy="167949"/>
          </a:xfrm>
        </p:spPr>
        <p:txBody>
          <a:bodyPr wrap="square"/>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550" i="0" u="none" strike="noStrike" kern="1200" cap="none" spc="0" normalizeH="0" baseline="0" noProof="0">
                <a:ln>
                  <a:noFill/>
                </a:ln>
                <a:solidFill>
                  <a:srgbClr val="070154"/>
                </a:solidFill>
                <a:effectLst/>
                <a:uLnTx/>
                <a:uFillTx/>
                <a:latin typeface="Arial"/>
                <a:cs typeface="Arial"/>
              </a:rPr>
              <a:t>33</a:t>
            </a:r>
          </a:p>
        </p:txBody>
      </p:sp>
      <p:sp>
        <p:nvSpPr>
          <p:cNvPr id="6" name="Text Placeholder 5">
            <a:extLst>
              <a:ext uri="{FF2B5EF4-FFF2-40B4-BE49-F238E27FC236}">
                <a16:creationId xmlns:a16="http://schemas.microsoft.com/office/drawing/2014/main" id="{A4EEFCBF-2909-785A-9362-8AA1301908EB}"/>
              </a:ext>
            </a:extLst>
          </p:cNvPr>
          <p:cNvSpPr>
            <a:spLocks noGrp="1"/>
          </p:cNvSpPr>
          <p:nvPr>
            <p:ph type="body" sz="quarter" idx="28"/>
          </p:nvPr>
        </p:nvSpPr>
        <p:spPr>
          <a:xfrm>
            <a:off x="460374" y="1714500"/>
            <a:ext cx="5749926" cy="915491"/>
          </a:xfrm>
        </p:spPr>
        <p:txBody>
          <a:bodyPr wrap="square" tIns="0">
            <a:normAutofit/>
          </a:bodyPr>
          <a:lstStyle/>
          <a:p>
            <a:r>
              <a:rPr lang="en-US" sz="1050">
                <a:solidFill>
                  <a:srgbClr val="070154"/>
                </a:solidFill>
                <a:latin typeface="Arial"/>
                <a:cs typeface="Arial"/>
              </a:rPr>
              <a:t>Client identified the need for the data staging platform to be upgraded with modern and supportable technology given the end-of-life status of AngularJS, reducing technical debt and updating unsupported dependencies to modern supportable standards across the UI, API, and data layers.</a:t>
            </a:r>
          </a:p>
        </p:txBody>
      </p:sp>
      <p:sp>
        <p:nvSpPr>
          <p:cNvPr id="18" name="Text Placeholder 17">
            <a:extLst>
              <a:ext uri="{FF2B5EF4-FFF2-40B4-BE49-F238E27FC236}">
                <a16:creationId xmlns:a16="http://schemas.microsoft.com/office/drawing/2014/main" id="{7FB1DD74-1590-158E-E2C6-9E8821C592AE}"/>
              </a:ext>
            </a:extLst>
          </p:cNvPr>
          <p:cNvSpPr>
            <a:spLocks noGrp="1"/>
          </p:cNvSpPr>
          <p:nvPr>
            <p:ph type="body" sz="quarter" idx="19"/>
          </p:nvPr>
        </p:nvSpPr>
        <p:spPr>
          <a:xfrm>
            <a:off x="465138" y="556955"/>
            <a:ext cx="3602038" cy="206660"/>
          </a:xfrm>
        </p:spPr>
        <p:txBody>
          <a:bodyPr wrap="square" tIns="0">
            <a:normAutofit/>
          </a:bodyPr>
          <a:lstStyle/>
          <a:p>
            <a:r>
              <a:rPr lang="en-US" sz="1050">
                <a:solidFill>
                  <a:srgbClr val="F900D3"/>
                </a:solidFill>
                <a:latin typeface="Arial"/>
                <a:cs typeface="Arial"/>
              </a:rPr>
              <a:t>LARGE EAST COAST UTILITY </a:t>
            </a:r>
          </a:p>
        </p:txBody>
      </p:sp>
      <p:sp>
        <p:nvSpPr>
          <p:cNvPr id="8" name="Title 7">
            <a:extLst>
              <a:ext uri="{FF2B5EF4-FFF2-40B4-BE49-F238E27FC236}">
                <a16:creationId xmlns:a16="http://schemas.microsoft.com/office/drawing/2014/main" id="{4BAE6C11-689C-9F2D-9D3B-04CE0534CFBE}"/>
              </a:ext>
            </a:extLst>
          </p:cNvPr>
          <p:cNvSpPr>
            <a:spLocks noGrp="1"/>
          </p:cNvSpPr>
          <p:nvPr>
            <p:ph type="title"/>
          </p:nvPr>
        </p:nvSpPr>
        <p:spPr>
          <a:xfrm>
            <a:off x="460374" y="762000"/>
            <a:ext cx="5521326" cy="649409"/>
          </a:xfrm>
        </p:spPr>
        <p:txBody>
          <a:bodyPr wrap="square" tIns="0"/>
          <a:lstStyle/>
          <a:p>
            <a:r>
              <a:rPr lang="en-US">
                <a:solidFill>
                  <a:srgbClr val="070154"/>
                </a:solidFill>
                <a:latin typeface="Arial"/>
                <a:cs typeface="Arial"/>
              </a:rPr>
              <a:t>How do we avoid security risk and reduce technical debt?</a:t>
            </a:r>
          </a:p>
        </p:txBody>
      </p:sp>
      <p:sp>
        <p:nvSpPr>
          <p:cNvPr id="25" name="Text Placeholder 24">
            <a:extLst>
              <a:ext uri="{FF2B5EF4-FFF2-40B4-BE49-F238E27FC236}">
                <a16:creationId xmlns:a16="http://schemas.microsoft.com/office/drawing/2014/main" id="{189F7765-A1A8-9746-C04B-69E9A9E9560B}"/>
              </a:ext>
            </a:extLst>
          </p:cNvPr>
          <p:cNvSpPr>
            <a:spLocks noGrp="1"/>
          </p:cNvSpPr>
          <p:nvPr>
            <p:ph type="body" sz="quarter" idx="23"/>
          </p:nvPr>
        </p:nvSpPr>
        <p:spPr>
          <a:xfrm>
            <a:off x="6842125" y="1866873"/>
            <a:ext cx="1372790" cy="510741"/>
          </a:xfrm>
        </p:spPr>
        <p:txBody>
          <a:bodyPr wrap="square">
            <a:normAutofit/>
          </a:bodyPr>
          <a:lstStyle/>
          <a:p>
            <a:r>
              <a:rPr lang="en-US" sz="2800">
                <a:solidFill>
                  <a:srgbClr val="070154"/>
                </a:solidFill>
                <a:latin typeface="Arial"/>
                <a:cs typeface="Arial"/>
              </a:rPr>
              <a:t>57</a:t>
            </a:r>
          </a:p>
        </p:txBody>
      </p:sp>
      <p:sp>
        <p:nvSpPr>
          <p:cNvPr id="27" name="Text Placeholder 26">
            <a:extLst>
              <a:ext uri="{FF2B5EF4-FFF2-40B4-BE49-F238E27FC236}">
                <a16:creationId xmlns:a16="http://schemas.microsoft.com/office/drawing/2014/main" id="{17A2E236-DED4-6721-78F2-5FFBA3432B43}"/>
              </a:ext>
            </a:extLst>
          </p:cNvPr>
          <p:cNvSpPr>
            <a:spLocks noGrp="1"/>
          </p:cNvSpPr>
          <p:nvPr>
            <p:ph type="body" sz="quarter" idx="31"/>
          </p:nvPr>
        </p:nvSpPr>
        <p:spPr>
          <a:xfrm>
            <a:off x="6842125" y="2501376"/>
            <a:ext cx="1372791" cy="556953"/>
          </a:xfrm>
        </p:spPr>
        <p:txBody>
          <a:bodyPr wrap="square">
            <a:normAutofit/>
          </a:bodyPr>
          <a:lstStyle/>
          <a:p>
            <a:r>
              <a:rPr lang="en-US" sz="1100">
                <a:solidFill>
                  <a:srgbClr val="070154"/>
                </a:solidFill>
                <a:latin typeface="Arial"/>
                <a:cs typeface="Arial"/>
              </a:rPr>
              <a:t>App Features Identified</a:t>
            </a:r>
          </a:p>
        </p:txBody>
      </p:sp>
      <p:sp>
        <p:nvSpPr>
          <p:cNvPr id="28" name="Text Placeholder 27">
            <a:extLst>
              <a:ext uri="{FF2B5EF4-FFF2-40B4-BE49-F238E27FC236}">
                <a16:creationId xmlns:a16="http://schemas.microsoft.com/office/drawing/2014/main" id="{D3E7DFCC-1639-C59D-1740-73AED1463963}"/>
              </a:ext>
            </a:extLst>
          </p:cNvPr>
          <p:cNvSpPr>
            <a:spLocks noGrp="1"/>
          </p:cNvSpPr>
          <p:nvPr>
            <p:ph type="body" sz="quarter" idx="32"/>
          </p:nvPr>
        </p:nvSpPr>
        <p:spPr>
          <a:xfrm>
            <a:off x="8214916" y="1714501"/>
            <a:ext cx="3294662" cy="1436596"/>
          </a:xfrm>
        </p:spPr>
        <p:txBody>
          <a:bodyPr wrap="square" lIns="0" tIns="0" anchor="ctr" anchorCtr="0">
            <a:normAutofit/>
          </a:bodyPr>
          <a:lstStyle/>
          <a:p>
            <a:r>
              <a:rPr lang="en-US" sz="1050">
                <a:solidFill>
                  <a:srgbClr val="070154"/>
                </a:solidFill>
                <a:latin typeface="Arial"/>
                <a:cs typeface="Arial"/>
              </a:rPr>
              <a:t>Initial modernization inventory included 57 application features to be prioritized for modernization</a:t>
            </a:r>
          </a:p>
        </p:txBody>
      </p:sp>
      <p:sp>
        <p:nvSpPr>
          <p:cNvPr id="22" name="Text Placeholder 21">
            <a:extLst>
              <a:ext uri="{FF2B5EF4-FFF2-40B4-BE49-F238E27FC236}">
                <a16:creationId xmlns:a16="http://schemas.microsoft.com/office/drawing/2014/main" id="{D503C2F1-2B78-3FC1-32C5-0D69BBC03680}"/>
              </a:ext>
            </a:extLst>
          </p:cNvPr>
          <p:cNvSpPr>
            <a:spLocks noGrp="1"/>
          </p:cNvSpPr>
          <p:nvPr>
            <p:ph type="body" sz="quarter" idx="44"/>
          </p:nvPr>
        </p:nvSpPr>
        <p:spPr/>
        <p:txBody>
          <a:bodyPr wrap="square">
            <a:normAutofit/>
          </a:bodyPr>
          <a:lstStyle/>
          <a:p>
            <a:r>
              <a:rPr lang="en-US" sz="850">
                <a:solidFill>
                  <a:srgbClr val="50627A"/>
                </a:solidFill>
                <a:latin typeface="Arial"/>
                <a:cs typeface="Arial"/>
              </a:rPr>
              <a:t>CLIENT STORIES</a:t>
            </a:r>
          </a:p>
        </p:txBody>
      </p:sp>
      <p:sp>
        <p:nvSpPr>
          <p:cNvPr id="2" name="Text Placeholder 5">
            <a:extLst>
              <a:ext uri="{FF2B5EF4-FFF2-40B4-BE49-F238E27FC236}">
                <a16:creationId xmlns:a16="http://schemas.microsoft.com/office/drawing/2014/main" id="{91956B3E-0316-C135-1851-8F8548D6E138}"/>
              </a:ext>
            </a:extLst>
          </p:cNvPr>
          <p:cNvSpPr txBox="1">
            <a:spLocks/>
          </p:cNvSpPr>
          <p:nvPr/>
        </p:nvSpPr>
        <p:spPr>
          <a:xfrm>
            <a:off x="460375" y="2611241"/>
            <a:ext cx="5749926" cy="3389809"/>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950" b="0" i="0" u="none" strike="noStrike" kern="1200" cap="none" spc="0" normalizeH="0" baseline="0" noProof="0">
                <a:ln>
                  <a:noFill/>
                </a:ln>
                <a:solidFill>
                  <a:srgbClr val="070154"/>
                </a:solidFill>
                <a:effectLst/>
                <a:uLnTx/>
                <a:uFillTx/>
                <a:latin typeface="Arial"/>
                <a:cs typeface="Arial"/>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Mobilized for the project to review existing application codebase, known issues, </a:t>
            </a:r>
            <a:r>
              <a:rPr kumimoji="0" lang="en-US" sz="950" i="0" u="none" strike="noStrike" kern="1200" cap="none" spc="0" normalizeH="0" baseline="0" noProof="0" err="1">
                <a:ln>
                  <a:noFill/>
                </a:ln>
                <a:solidFill>
                  <a:srgbClr val="070154"/>
                </a:solidFill>
                <a:effectLst/>
                <a:uLnTx/>
                <a:uFillTx/>
                <a:latin typeface="Arial"/>
                <a:cs typeface="Arial"/>
              </a:rPr>
              <a:t>npgsql</a:t>
            </a:r>
            <a:r>
              <a:rPr kumimoji="0" lang="en-US" sz="950" i="0" u="none" strike="noStrike" kern="1200" cap="none" spc="0" normalizeH="0" baseline="0" noProof="0">
                <a:ln>
                  <a:noFill/>
                </a:ln>
                <a:solidFill>
                  <a:srgbClr val="070154"/>
                </a:solidFill>
                <a:effectLst/>
                <a:uLnTx/>
                <a:uFillTx/>
                <a:latin typeface="Arial"/>
                <a:cs typeface="Arial"/>
              </a:rPr>
              <a:t>, and other dependencies; setup local development environments and source code repositories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Determined target .NET version for upgrade, migrated data from existing PostgreSQL instance to new one, and refactored API functionality based on data testing</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Iteratively designed, built, and tested rewritten UI functionality in the new Angular code base, reviewing and deploying code for review with client along the way</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Facilitated client acceptance testing and knowledge transfer, prepared and validated Production deployment checklist, and supported client with production release planning including internal security compliance and code scanning activities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Deployed new solution to PROD environment including Staging PostgreSQL migration to new instance, finalized client acceptance testing and retrospective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endParaRPr kumimoji="0" lang="en-US" sz="950" i="0" u="none" strike="noStrike" kern="1200" cap="none" spc="0" normalizeH="0" baseline="0" noProof="0">
              <a:ln>
                <a:noFill/>
              </a:ln>
              <a:solidFill>
                <a:srgbClr val="070154"/>
              </a:solidFill>
              <a:effectLst/>
              <a:uLnTx/>
              <a:uFillTx/>
              <a:latin typeface="Arial"/>
              <a:cs typeface="Arial"/>
            </a:endParaRP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endParaRPr kumimoji="0" lang="en-US" sz="950" i="0" u="none" strike="noStrike" kern="1200" cap="none" spc="0" normalizeH="0" baseline="0" noProof="0">
              <a:ln>
                <a:noFill/>
              </a:ln>
              <a:solidFill>
                <a:srgbClr val="070154"/>
              </a:solidFill>
              <a:effectLst/>
              <a:uLnTx/>
              <a:uFillTx/>
              <a:latin typeface="Arial"/>
              <a:cs typeface="Arial"/>
            </a:endParaRPr>
          </a:p>
        </p:txBody>
      </p:sp>
      <p:pic>
        <p:nvPicPr>
          <p:cNvPr id="11" name="Graphic 10">
            <a:extLst>
              <a:ext uri="{FF2B5EF4-FFF2-40B4-BE49-F238E27FC236}">
                <a16:creationId xmlns:a16="http://schemas.microsoft.com/office/drawing/2014/main" id="{FEE81683-8E1E-01D5-4B28-50545064F6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700000" flipH="1">
            <a:off x="11112500" y="1016000"/>
            <a:ext cx="635000" cy="635000"/>
          </a:xfrm>
          <a:prstGeom prst="rect">
            <a:avLst/>
          </a:prstGeom>
        </p:spPr>
      </p:pic>
    </p:spTree>
    <p:extLst>
      <p:ext uri="{BB962C8B-B14F-4D97-AF65-F5344CB8AC3E}">
        <p14:creationId xmlns:p14="http://schemas.microsoft.com/office/powerpoint/2010/main" val="7347849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48">
            <a:extLst>
              <a:ext uri="{FF2B5EF4-FFF2-40B4-BE49-F238E27FC236}">
                <a16:creationId xmlns:a16="http://schemas.microsoft.com/office/drawing/2014/main" id="{E344C73D-96E4-2273-67B5-1F1E3EB7BF32}"/>
              </a:ext>
            </a:extLst>
          </p:cNvPr>
          <p:cNvSpPr txBox="1">
            <a:spLocks/>
          </p:cNvSpPr>
          <p:nvPr/>
        </p:nvSpPr>
        <p:spPr>
          <a:xfrm>
            <a:off x="9166225" y="774937"/>
            <a:ext cx="2084832" cy="1435608"/>
          </a:xfrm>
          <a:prstGeom prst="rect">
            <a:avLst/>
          </a:prstGeom>
          <a:solidFill>
            <a:schemeClr val="accent4"/>
          </a:solidFill>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200" b="0" i="0" kern="1200" cap="none" baseline="0">
                <a:solidFill>
                  <a:schemeClr val="bg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200" b="0" i="0" kern="1200" cap="none" baseline="0">
                <a:solidFill>
                  <a:schemeClr val="bg1"/>
                </a:solidFill>
                <a:latin typeface="+mn-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200" b="0" i="0" kern="1200" cap="none" baseline="0">
                <a:solidFill>
                  <a:schemeClr val="bg1"/>
                </a:solidFill>
                <a:latin typeface="+mn-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200" b="0" i="0" kern="1200" cap="none" baseline="0">
                <a:solidFill>
                  <a:schemeClr val="bg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3" name="Footer Placeholder 2">
            <a:extLst>
              <a:ext uri="{FF2B5EF4-FFF2-40B4-BE49-F238E27FC236}">
                <a16:creationId xmlns:a16="http://schemas.microsoft.com/office/drawing/2014/main" id="{38762B8E-13BA-FCCC-3821-EF97601AA83E}"/>
              </a:ext>
            </a:extLst>
          </p:cNvPr>
          <p:cNvSpPr>
            <a:spLocks noGrp="1"/>
          </p:cNvSpPr>
          <p:nvPr>
            <p:ph type="ftr" sz="quarter" idx="24"/>
          </p:nvPr>
        </p:nvSpPr>
        <p:spPr/>
        <p:txBody>
          <a:bodyPr wrap="square"/>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450" i="0" u="none" strike="noStrike" kern="1200" cap="none" spc="0" normalizeH="0" baseline="0" noProof="0">
                <a:ln>
                  <a:noFill/>
                </a:ln>
                <a:solidFill>
                  <a:srgbClr val="070154"/>
                </a:solidFill>
                <a:effectLst/>
                <a:uLnTx/>
                <a:uFillTx/>
                <a:latin typeface="Arial"/>
                <a:cs typeface="Arial"/>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1826D02C-AB22-E590-D9DA-0151DCE0453C}"/>
              </a:ext>
            </a:extLst>
          </p:cNvPr>
          <p:cNvSpPr>
            <a:spLocks noGrp="1"/>
          </p:cNvSpPr>
          <p:nvPr>
            <p:ph type="sldNum" sz="quarter" idx="25"/>
          </p:nvPr>
        </p:nvSpPr>
        <p:spPr/>
        <p:txBody>
          <a:bodyPr wrap="square"/>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550" i="0" u="none" strike="noStrike" kern="1200" cap="none" spc="0" normalizeH="0" baseline="0" noProof="0">
                <a:ln>
                  <a:noFill/>
                </a:ln>
                <a:solidFill>
                  <a:srgbClr val="070154"/>
                </a:solidFill>
                <a:effectLst/>
                <a:uLnTx/>
                <a:uFillTx/>
                <a:latin typeface="Arial"/>
                <a:cs typeface="Arial"/>
              </a:rPr>
              <a:t>34</a:t>
            </a:r>
          </a:p>
        </p:txBody>
      </p:sp>
      <p:sp>
        <p:nvSpPr>
          <p:cNvPr id="18" name="Text Placeholder 17">
            <a:extLst>
              <a:ext uri="{FF2B5EF4-FFF2-40B4-BE49-F238E27FC236}">
                <a16:creationId xmlns:a16="http://schemas.microsoft.com/office/drawing/2014/main" id="{B336EC13-34AE-0E80-C005-D624689C7B55}"/>
              </a:ext>
            </a:extLst>
          </p:cNvPr>
          <p:cNvSpPr>
            <a:spLocks noGrp="1"/>
          </p:cNvSpPr>
          <p:nvPr>
            <p:ph type="body" sz="quarter" idx="44"/>
          </p:nvPr>
        </p:nvSpPr>
        <p:spPr/>
        <p:txBody>
          <a:bodyPr wrap="square">
            <a:normAutofit/>
          </a:bodyPr>
          <a:lstStyle/>
          <a:p>
            <a:r>
              <a:rPr lang="en-US" sz="850">
                <a:solidFill>
                  <a:srgbClr val="50627A"/>
                </a:solidFill>
                <a:latin typeface="Arial"/>
                <a:cs typeface="Arial"/>
              </a:rPr>
              <a:t>CLIENT STORIES</a:t>
            </a:r>
          </a:p>
        </p:txBody>
      </p:sp>
      <p:sp>
        <p:nvSpPr>
          <p:cNvPr id="19" name="Text Placeholder 48">
            <a:extLst>
              <a:ext uri="{FF2B5EF4-FFF2-40B4-BE49-F238E27FC236}">
                <a16:creationId xmlns:a16="http://schemas.microsoft.com/office/drawing/2014/main" id="{9EE4C7F7-8A83-F840-82C6-3A36F19394CF}"/>
              </a:ext>
            </a:extLst>
          </p:cNvPr>
          <p:cNvSpPr>
            <a:spLocks noGrp="1"/>
          </p:cNvSpPr>
          <p:nvPr>
            <p:ph type="body" sz="quarter" idx="33"/>
          </p:nvPr>
        </p:nvSpPr>
        <p:spPr>
          <a:xfrm>
            <a:off x="6625026" y="774937"/>
            <a:ext cx="2084832" cy="1435608"/>
          </a:xfrm>
        </p:spPr>
        <p:txBody>
          <a:bodyPr/>
          <a:lstStyle/>
          <a:p>
            <a:endParaRPr lang="en-US"/>
          </a:p>
        </p:txBody>
      </p:sp>
      <p:pic>
        <p:nvPicPr>
          <p:cNvPr id="31" name="Picture 30" descr="A screenshot of a computer&#10;&#10;Description automatically generated">
            <a:extLst>
              <a:ext uri="{FF2B5EF4-FFF2-40B4-BE49-F238E27FC236}">
                <a16:creationId xmlns:a16="http://schemas.microsoft.com/office/drawing/2014/main" id="{1474F81B-18D9-98BC-3BCC-4D9D8D614333}"/>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9091629" y="3417709"/>
            <a:ext cx="2843558" cy="1656315"/>
          </a:xfrm>
          <a:prstGeom prst="rect">
            <a:avLst/>
          </a:prstGeom>
        </p:spPr>
      </p:pic>
      <p:pic>
        <p:nvPicPr>
          <p:cNvPr id="32" name="Picture 31" descr="A screenshot of a computer&#10;&#10;Description automatically generated">
            <a:extLst>
              <a:ext uri="{FF2B5EF4-FFF2-40B4-BE49-F238E27FC236}">
                <a16:creationId xmlns:a16="http://schemas.microsoft.com/office/drawing/2014/main" id="{2AA003C2-5FDC-D33C-A110-53D96F95F637}"/>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6649523" y="4886253"/>
            <a:ext cx="1579913" cy="1005786"/>
          </a:xfrm>
          <a:prstGeom prst="rect">
            <a:avLst/>
          </a:prstGeom>
          <a:ln>
            <a:solidFill>
              <a:schemeClr val="tx1"/>
            </a:solidFill>
          </a:ln>
          <a:effectLst/>
        </p:spPr>
      </p:pic>
      <p:pic>
        <p:nvPicPr>
          <p:cNvPr id="33" name="Picture 32" descr="A screenshot of a computer&#10;&#10;Description automatically generated">
            <a:extLst>
              <a:ext uri="{FF2B5EF4-FFF2-40B4-BE49-F238E27FC236}">
                <a16:creationId xmlns:a16="http://schemas.microsoft.com/office/drawing/2014/main" id="{E0581706-94AA-BB5F-6A99-35B303DE7CB2}"/>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032197" y="4756108"/>
            <a:ext cx="1906855" cy="1254509"/>
          </a:xfrm>
          <a:prstGeom prst="rect">
            <a:avLst/>
          </a:prstGeom>
          <a:ln>
            <a:solidFill>
              <a:schemeClr val="tx1"/>
            </a:solidFill>
          </a:ln>
          <a:effectLst/>
        </p:spPr>
      </p:pic>
      <p:pic>
        <p:nvPicPr>
          <p:cNvPr id="34" name="Picture 33">
            <a:extLst>
              <a:ext uri="{FF2B5EF4-FFF2-40B4-BE49-F238E27FC236}">
                <a16:creationId xmlns:a16="http://schemas.microsoft.com/office/drawing/2014/main" id="{EB42C351-605D-2675-257E-EC3395F6382D}"/>
              </a:ext>
            </a:extLst>
          </p:cNvPr>
          <p:cNvPicPr>
            <a:picLocks noChangeAspect="1"/>
          </p:cNvPicPr>
          <p:nvPr/>
        </p:nvPicPr>
        <p:blipFill>
          <a:blip r:embed="rId6"/>
          <a:stretch>
            <a:fillRect/>
          </a:stretch>
        </p:blipFill>
        <p:spPr>
          <a:xfrm>
            <a:off x="6657956" y="2709754"/>
            <a:ext cx="2050180" cy="1462307"/>
          </a:xfrm>
          <a:prstGeom prst="rect">
            <a:avLst/>
          </a:prstGeom>
          <a:ln>
            <a:solidFill>
              <a:schemeClr val="tx1"/>
            </a:solidFill>
          </a:ln>
          <a:effectLst/>
        </p:spPr>
      </p:pic>
      <p:pic>
        <p:nvPicPr>
          <p:cNvPr id="9" name="Graphic 8">
            <a:extLst>
              <a:ext uri="{FF2B5EF4-FFF2-40B4-BE49-F238E27FC236}">
                <a16:creationId xmlns:a16="http://schemas.microsoft.com/office/drawing/2014/main" id="{9BDD6D36-BBC0-564D-8CF0-52BE177CAE3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5527020" flipH="1">
            <a:off x="8778821" y="2520270"/>
            <a:ext cx="781192" cy="781192"/>
          </a:xfrm>
          <a:prstGeom prst="rect">
            <a:avLst/>
          </a:prstGeom>
        </p:spPr>
      </p:pic>
      <p:sp>
        <p:nvSpPr>
          <p:cNvPr id="11" name="TextBox 10">
            <a:extLst>
              <a:ext uri="{FF2B5EF4-FFF2-40B4-BE49-F238E27FC236}">
                <a16:creationId xmlns:a16="http://schemas.microsoft.com/office/drawing/2014/main" id="{04D5CA08-A90D-A946-19D1-BA648350101E}"/>
              </a:ext>
            </a:extLst>
          </p:cNvPr>
          <p:cNvSpPr txBox="1"/>
          <p:nvPr/>
        </p:nvSpPr>
        <p:spPr>
          <a:xfrm>
            <a:off x="6657956" y="2397742"/>
            <a:ext cx="914400" cy="257420"/>
          </a:xfrm>
          <a:prstGeom prst="rect">
            <a:avLst/>
          </a:prstGeom>
          <a:noFill/>
        </p:spPr>
        <p:txBody>
          <a:bodyPr wrap="square" lIns="0" tIns="0" rIns="0" bIns="0" rtlCol="0">
            <a:normAutofit/>
          </a:bodyPr>
          <a:lstStyle/>
          <a:p>
            <a:pPr marL="0" marR="0" lvl="0" indent="-3657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i="0" u="none" strike="noStrike" kern="1200" cap="none" spc="0" normalizeH="0" baseline="0" noProof="0">
                <a:ln>
                  <a:noFill/>
                </a:ln>
                <a:solidFill>
                  <a:srgbClr val="070154"/>
                </a:solidFill>
                <a:effectLst/>
                <a:uLnTx/>
                <a:uFillTx/>
                <a:latin typeface="Arial"/>
                <a:ea typeface="Roboto" panose="02000000000000000000" pitchFamily="2" charset="0"/>
                <a:cs typeface="Arial"/>
              </a:rPr>
              <a:t>From this…</a:t>
            </a:r>
          </a:p>
        </p:txBody>
      </p:sp>
      <p:sp>
        <p:nvSpPr>
          <p:cNvPr id="12" name="TextBox 11">
            <a:extLst>
              <a:ext uri="{FF2B5EF4-FFF2-40B4-BE49-F238E27FC236}">
                <a16:creationId xmlns:a16="http://schemas.microsoft.com/office/drawing/2014/main" id="{4B47ED5A-9A50-EFE6-6528-22B4750672B3}"/>
              </a:ext>
            </a:extLst>
          </p:cNvPr>
          <p:cNvSpPr txBox="1"/>
          <p:nvPr/>
        </p:nvSpPr>
        <p:spPr>
          <a:xfrm>
            <a:off x="9694463" y="3100646"/>
            <a:ext cx="914400" cy="257420"/>
          </a:xfrm>
          <a:prstGeom prst="rect">
            <a:avLst/>
          </a:prstGeom>
          <a:noFill/>
        </p:spPr>
        <p:txBody>
          <a:bodyPr wrap="square" lIns="0" tIns="0" rIns="0" bIns="0" rtlCol="0">
            <a:normAutofit/>
          </a:bodyPr>
          <a:lstStyle/>
          <a:p>
            <a:pPr marL="0" marR="0" lvl="0" indent="-3657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i="0" u="none" strike="noStrike" kern="1200" cap="none" spc="0" normalizeH="0" baseline="0" noProof="0">
                <a:ln>
                  <a:noFill/>
                </a:ln>
                <a:solidFill>
                  <a:srgbClr val="070154"/>
                </a:solidFill>
                <a:effectLst/>
                <a:uLnTx/>
                <a:uFillTx/>
                <a:latin typeface="Arial"/>
                <a:ea typeface="Roboto" panose="02000000000000000000" pitchFamily="2" charset="0"/>
                <a:cs typeface="Arial"/>
              </a:rPr>
              <a:t>…to this</a:t>
            </a:r>
          </a:p>
        </p:txBody>
      </p:sp>
      <p:sp>
        <p:nvSpPr>
          <p:cNvPr id="2" name="Text Placeholder 5">
            <a:extLst>
              <a:ext uri="{FF2B5EF4-FFF2-40B4-BE49-F238E27FC236}">
                <a16:creationId xmlns:a16="http://schemas.microsoft.com/office/drawing/2014/main" id="{F5C1E28D-8079-79EB-F9CB-0C7A669CDB55}"/>
              </a:ext>
            </a:extLst>
          </p:cNvPr>
          <p:cNvSpPr txBox="1">
            <a:spLocks/>
          </p:cNvSpPr>
          <p:nvPr/>
        </p:nvSpPr>
        <p:spPr>
          <a:xfrm>
            <a:off x="460374" y="1717487"/>
            <a:ext cx="5749926" cy="835516"/>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i="0" u="none" strike="noStrike" kern="1200" cap="none" spc="0" normalizeH="0" baseline="0" noProof="0">
                <a:ln>
                  <a:noFill/>
                </a:ln>
                <a:solidFill>
                  <a:srgbClr val="070154"/>
                </a:solidFill>
                <a:effectLst/>
                <a:uLnTx/>
                <a:uFillTx/>
                <a:latin typeface="Arial"/>
                <a:cs typeface="Arial"/>
              </a:rPr>
              <a:t>Client needed to modernize a decade-old solution that powers workflows for solar interconnection across their six operating companies. The application’s AngularJS front-end technology was nearing end-of-life and slowing down development team efficiency.</a:t>
            </a:r>
          </a:p>
        </p:txBody>
      </p:sp>
      <p:sp>
        <p:nvSpPr>
          <p:cNvPr id="8" name="Text Placeholder 17">
            <a:extLst>
              <a:ext uri="{FF2B5EF4-FFF2-40B4-BE49-F238E27FC236}">
                <a16:creationId xmlns:a16="http://schemas.microsoft.com/office/drawing/2014/main" id="{A752CBC9-1D89-08C5-89E7-DF39C2177B95}"/>
              </a:ext>
            </a:extLst>
          </p:cNvPr>
          <p:cNvSpPr txBox="1">
            <a:spLocks/>
          </p:cNvSpPr>
          <p:nvPr/>
        </p:nvSpPr>
        <p:spPr>
          <a:xfrm>
            <a:off x="465138" y="556955"/>
            <a:ext cx="3602038" cy="206660"/>
          </a:xfrm>
          <a:prstGeom prst="rect">
            <a:avLst/>
          </a:prstGeom>
        </p:spPr>
        <p:txBody>
          <a:bodyPr vert="horz" wrap="square"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i="0" u="none" strike="noStrike" kern="1200" cap="all" spc="0" normalizeH="0" baseline="0" noProof="0">
                <a:ln>
                  <a:noFill/>
                </a:ln>
                <a:solidFill>
                  <a:srgbClr val="F900D3"/>
                </a:solidFill>
                <a:effectLst/>
                <a:uLnTx/>
                <a:uFillTx/>
                <a:latin typeface="Arial"/>
                <a:cs typeface="Arial"/>
              </a:rPr>
              <a:t>LARGE INVESTOR-OWNED UTILITY</a:t>
            </a:r>
          </a:p>
        </p:txBody>
      </p:sp>
      <p:sp>
        <p:nvSpPr>
          <p:cNvPr id="10" name="Title 7">
            <a:extLst>
              <a:ext uri="{FF2B5EF4-FFF2-40B4-BE49-F238E27FC236}">
                <a16:creationId xmlns:a16="http://schemas.microsoft.com/office/drawing/2014/main" id="{EAF008E0-4901-33FF-E34F-952B6CB21E2B}"/>
              </a:ext>
            </a:extLst>
          </p:cNvPr>
          <p:cNvSpPr txBox="1">
            <a:spLocks/>
          </p:cNvSpPr>
          <p:nvPr/>
        </p:nvSpPr>
        <p:spPr>
          <a:xfrm>
            <a:off x="460374" y="763616"/>
            <a:ext cx="5162428" cy="929460"/>
          </a:xfrm>
          <a:prstGeom prst="rect">
            <a:avLst/>
          </a:prstGeom>
        </p:spPr>
        <p:txBody>
          <a:bodyPr vert="horz" wrap="square"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900" i="0" u="none" strike="noStrike" kern="1200" cap="none" spc="0" normalizeH="0" baseline="0" noProof="0">
                <a:ln>
                  <a:noFill/>
                </a:ln>
                <a:solidFill>
                  <a:srgbClr val="070154"/>
                </a:solidFill>
                <a:effectLst/>
                <a:uLnTx/>
                <a:uFillTx/>
                <a:latin typeface="Arial"/>
                <a:cs typeface="Arial"/>
              </a:rPr>
              <a:t>How can we accelerate innovation and increase security maturity on our solar interconnection solution?</a:t>
            </a:r>
          </a:p>
        </p:txBody>
      </p:sp>
      <p:sp>
        <p:nvSpPr>
          <p:cNvPr id="13" name="Text Placeholder 5">
            <a:extLst>
              <a:ext uri="{FF2B5EF4-FFF2-40B4-BE49-F238E27FC236}">
                <a16:creationId xmlns:a16="http://schemas.microsoft.com/office/drawing/2014/main" id="{78468CD2-DA08-4E1F-6A8E-F6A95E0F676E}"/>
              </a:ext>
            </a:extLst>
          </p:cNvPr>
          <p:cNvSpPr txBox="1">
            <a:spLocks/>
          </p:cNvSpPr>
          <p:nvPr/>
        </p:nvSpPr>
        <p:spPr>
          <a:xfrm>
            <a:off x="460375" y="2646947"/>
            <a:ext cx="5749926" cy="3383280"/>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930" b="0" i="0" u="none" strike="noStrike" kern="1200" cap="none" spc="0" normalizeH="0" baseline="0" noProof="0">
                <a:ln>
                  <a:noFill/>
                </a:ln>
                <a:solidFill>
                  <a:srgbClr val="070154"/>
                </a:solidFill>
                <a:effectLst/>
                <a:uLnTx/>
                <a:uFillTx/>
                <a:latin typeface="Arial"/>
                <a:cs typeface="Arial"/>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30" i="0" u="none" strike="noStrike" kern="1200" cap="none" spc="0" normalizeH="0" baseline="0" noProof="0">
                <a:ln>
                  <a:noFill/>
                </a:ln>
                <a:solidFill>
                  <a:srgbClr val="070154"/>
                </a:solidFill>
                <a:effectLst/>
                <a:uLnTx/>
                <a:uFillTx/>
                <a:latin typeface="Arial"/>
                <a:cs typeface="Arial"/>
              </a:rPr>
              <a:t>Assessed leading frameworks and recommended Angular based on key business priorities of maintainability, theming, and dynamic forms. Angular enhances maintainability with its opinionated defaults, facilitating quick project initiation and simplifying new developer onboarding. Additionally, Angular Material and </a:t>
            </a:r>
            <a:r>
              <a:rPr kumimoji="0" lang="en-US" sz="930" i="0" u="none" strike="noStrike" kern="1200" cap="none" spc="0" normalizeH="0" baseline="0" noProof="0" err="1">
                <a:ln>
                  <a:noFill/>
                </a:ln>
                <a:solidFill>
                  <a:srgbClr val="070154"/>
                </a:solidFill>
                <a:effectLst/>
                <a:uLnTx/>
                <a:uFillTx/>
                <a:latin typeface="Arial"/>
                <a:cs typeface="Arial"/>
              </a:rPr>
              <a:t>Formly</a:t>
            </a:r>
            <a:r>
              <a:rPr kumimoji="0" lang="en-US" sz="930" i="0" u="none" strike="noStrike" kern="1200" cap="none" spc="0" normalizeH="0" baseline="0" noProof="0">
                <a:ln>
                  <a:noFill/>
                </a:ln>
                <a:solidFill>
                  <a:srgbClr val="070154"/>
                </a:solidFill>
                <a:effectLst/>
                <a:uLnTx/>
                <a:uFillTx/>
                <a:latin typeface="Arial"/>
                <a:cs typeface="Arial"/>
              </a:rPr>
              <a:t> support dynamic theming and form generation, respectively, accelerating front-end development with robust components and JSON-based configurations.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30" i="0" u="none" strike="noStrike" kern="1200" cap="none" spc="0" normalizeH="0" baseline="0" noProof="0">
                <a:ln>
                  <a:noFill/>
                </a:ln>
                <a:solidFill>
                  <a:srgbClr val="070154"/>
                </a:solidFill>
                <a:effectLst/>
                <a:uLnTx/>
                <a:uFillTx/>
                <a:latin typeface="Arial"/>
                <a:cs typeface="Arial"/>
              </a:rPr>
              <a:t>Our team inventoried all existing pages, rationalized which pages should carry over to the new Angular UI, re-wrote them leveraging an Agile development process, and engaged business stakeholders to validate feature parity prior to final cutover.</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30" i="0" u="none" strike="noStrike" kern="1200" cap="none" spc="0" normalizeH="0" baseline="0" noProof="0">
                <a:ln>
                  <a:noFill/>
                </a:ln>
                <a:solidFill>
                  <a:srgbClr val="070154"/>
                </a:solidFill>
                <a:effectLst/>
                <a:uLnTx/>
                <a:uFillTx/>
                <a:latin typeface="Arial"/>
                <a:cs typeface="Arial"/>
              </a:rPr>
              <a:t>Conducted pilot phase where the old and new UIs were running side by side in production to enable a seamless transition for the business.</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930" i="0" u="none" strike="noStrike" kern="1200" cap="none" spc="0" normalizeH="0" baseline="0" noProof="0">
              <a:ln>
                <a:noFill/>
              </a:ln>
              <a:solidFill>
                <a:srgbClr val="070154"/>
              </a:solidFill>
              <a:effectLst/>
              <a:uLnTx/>
              <a:uFillTx/>
              <a:latin typeface="Arial"/>
              <a:cs typeface="Arial"/>
            </a:endParaRP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endParaRPr kumimoji="0" lang="en-US" sz="930" i="0" u="none" strike="noStrike" kern="1200" cap="none" spc="0" normalizeH="0" baseline="0" noProof="0">
              <a:ln>
                <a:noFill/>
              </a:ln>
              <a:solidFill>
                <a:srgbClr val="070154"/>
              </a:solidFill>
              <a:effectLst/>
              <a:uLnTx/>
              <a:uFillTx/>
              <a:latin typeface="Arial"/>
              <a:cs typeface="Arial"/>
            </a:endParaRPr>
          </a:p>
        </p:txBody>
      </p:sp>
      <p:sp>
        <p:nvSpPr>
          <p:cNvPr id="24" name="Text Placeholder 24">
            <a:extLst>
              <a:ext uri="{FF2B5EF4-FFF2-40B4-BE49-F238E27FC236}">
                <a16:creationId xmlns:a16="http://schemas.microsoft.com/office/drawing/2014/main" id="{3F729C7B-E3EE-EBB4-D44A-059C8A3D56CA}"/>
              </a:ext>
            </a:extLst>
          </p:cNvPr>
          <p:cNvSpPr txBox="1">
            <a:spLocks/>
          </p:cNvSpPr>
          <p:nvPr/>
        </p:nvSpPr>
        <p:spPr>
          <a:xfrm>
            <a:off x="6840376" y="927310"/>
            <a:ext cx="1756421" cy="510741"/>
          </a:xfrm>
          <a:prstGeom prst="rect">
            <a:avLst/>
          </a:prstGeom>
        </p:spPr>
        <p:txBody>
          <a:bodyPr vert="horz" wrap="square"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36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36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3600" b="1"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36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i="0" u="none" strike="noStrike" kern="1200" cap="none" spc="0" normalizeH="0" baseline="0" noProof="0">
                <a:ln>
                  <a:noFill/>
                </a:ln>
                <a:solidFill>
                  <a:srgbClr val="070154"/>
                </a:solidFill>
                <a:effectLst/>
                <a:uLnTx/>
                <a:uFillTx/>
                <a:latin typeface="Arial"/>
                <a:cs typeface="Arial"/>
              </a:rPr>
              <a:t>675K+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i="0" u="none" strike="noStrike" kern="1200" cap="none" spc="0" normalizeH="0" baseline="0" noProof="0">
              <a:ln>
                <a:noFill/>
              </a:ln>
              <a:solidFill>
                <a:srgbClr val="070154"/>
              </a:solidFill>
              <a:effectLst/>
              <a:uLnTx/>
              <a:uFillTx/>
              <a:latin typeface="Arial"/>
              <a:cs typeface="Arial"/>
            </a:endParaRPr>
          </a:p>
        </p:txBody>
      </p:sp>
      <p:sp>
        <p:nvSpPr>
          <p:cNvPr id="25" name="Text Placeholder 26">
            <a:extLst>
              <a:ext uri="{FF2B5EF4-FFF2-40B4-BE49-F238E27FC236}">
                <a16:creationId xmlns:a16="http://schemas.microsoft.com/office/drawing/2014/main" id="{A8AD5DFD-584D-669A-0B47-E90AC492A1CC}"/>
              </a:ext>
            </a:extLst>
          </p:cNvPr>
          <p:cNvSpPr txBox="1">
            <a:spLocks/>
          </p:cNvSpPr>
          <p:nvPr/>
        </p:nvSpPr>
        <p:spPr>
          <a:xfrm>
            <a:off x="6840377" y="1505331"/>
            <a:ext cx="1372791" cy="556953"/>
          </a:xfrm>
          <a:prstGeom prst="rect">
            <a:avLst/>
          </a:prstGeom>
        </p:spPr>
        <p:txBody>
          <a:bodyPr vert="horz" wrap="square"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4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400" b="1"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4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rgbClr val="070154"/>
                </a:solidFill>
                <a:effectLst/>
                <a:uLnTx/>
                <a:uFillTx/>
                <a:latin typeface="Arial"/>
                <a:cs typeface="Arial"/>
              </a:rPr>
              <a:t>Lines of code migrated</a:t>
            </a:r>
          </a:p>
        </p:txBody>
      </p:sp>
      <p:sp>
        <p:nvSpPr>
          <p:cNvPr id="16" name="Text Placeholder 24">
            <a:extLst>
              <a:ext uri="{FF2B5EF4-FFF2-40B4-BE49-F238E27FC236}">
                <a16:creationId xmlns:a16="http://schemas.microsoft.com/office/drawing/2014/main" id="{EB520863-55AA-983B-908A-9137C1C1F164}"/>
              </a:ext>
            </a:extLst>
          </p:cNvPr>
          <p:cNvSpPr txBox="1">
            <a:spLocks/>
          </p:cNvSpPr>
          <p:nvPr/>
        </p:nvSpPr>
        <p:spPr>
          <a:xfrm>
            <a:off x="9380254" y="927310"/>
            <a:ext cx="1372790" cy="510741"/>
          </a:xfrm>
          <a:prstGeom prst="rect">
            <a:avLst/>
          </a:prstGeom>
        </p:spPr>
        <p:txBody>
          <a:bodyPr vert="horz" wrap="square"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36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36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3600" b="1"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36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i="0" u="none" strike="noStrike" kern="1200" cap="none" spc="0" normalizeH="0" baseline="0" noProof="0">
                <a:ln>
                  <a:noFill/>
                </a:ln>
                <a:solidFill>
                  <a:srgbClr val="070154"/>
                </a:solidFill>
                <a:effectLst/>
                <a:uLnTx/>
                <a:uFillTx/>
                <a:latin typeface="Arial"/>
                <a:cs typeface="Arial"/>
              </a:rPr>
              <a:t>800+</a:t>
            </a:r>
          </a:p>
        </p:txBody>
      </p:sp>
      <p:sp>
        <p:nvSpPr>
          <p:cNvPr id="17" name="Text Placeholder 26">
            <a:extLst>
              <a:ext uri="{FF2B5EF4-FFF2-40B4-BE49-F238E27FC236}">
                <a16:creationId xmlns:a16="http://schemas.microsoft.com/office/drawing/2014/main" id="{B0BC131F-9B42-B5F3-3193-16A54131BC0C}"/>
              </a:ext>
            </a:extLst>
          </p:cNvPr>
          <p:cNvSpPr txBox="1">
            <a:spLocks/>
          </p:cNvSpPr>
          <p:nvPr/>
        </p:nvSpPr>
        <p:spPr>
          <a:xfrm>
            <a:off x="9380254" y="1505331"/>
            <a:ext cx="1372791" cy="556953"/>
          </a:xfrm>
          <a:prstGeom prst="rect">
            <a:avLst/>
          </a:prstGeom>
        </p:spPr>
        <p:txBody>
          <a:bodyPr vert="horz" wrap="square"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4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400" b="1"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4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rgbClr val="070154"/>
                </a:solidFill>
                <a:effectLst/>
                <a:uLnTx/>
                <a:uFillTx/>
                <a:latin typeface="Arial"/>
                <a:cs typeface="Arial"/>
              </a:rPr>
              <a:t>Files </a:t>
            </a:r>
            <a:br>
              <a:rPr kumimoji="0" lang="en-US" sz="1100" i="0" u="none" strike="noStrike" kern="1200" cap="none" spc="0" normalizeH="0" baseline="0" noProof="0">
                <a:ln>
                  <a:noFill/>
                </a:ln>
                <a:solidFill>
                  <a:srgbClr val="070154"/>
                </a:solidFill>
                <a:effectLst/>
                <a:uLnTx/>
                <a:uFillTx/>
                <a:latin typeface="Arial"/>
                <a:cs typeface="Arial"/>
              </a:rPr>
            </a:br>
            <a:r>
              <a:rPr kumimoji="0" lang="en-US" sz="1100" i="0" u="none" strike="noStrike" kern="1200" cap="none" spc="0" normalizeH="0" baseline="0" noProof="0">
                <a:ln>
                  <a:noFill/>
                </a:ln>
                <a:solidFill>
                  <a:srgbClr val="070154"/>
                </a:solidFill>
                <a:effectLst/>
                <a:uLnTx/>
                <a:uFillTx/>
                <a:latin typeface="Arial"/>
                <a:cs typeface="Arial"/>
              </a:rPr>
              <a:t>modified</a:t>
            </a:r>
          </a:p>
        </p:txBody>
      </p:sp>
    </p:spTree>
    <p:extLst>
      <p:ext uri="{BB962C8B-B14F-4D97-AF65-F5344CB8AC3E}">
        <p14:creationId xmlns:p14="http://schemas.microsoft.com/office/powerpoint/2010/main" val="38854879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7AF69-A2E6-2BDA-81C1-E71DE5CEAC7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385710D-DA5D-E28A-D27D-25767066F6D2}"/>
              </a:ext>
            </a:extLst>
          </p:cNvPr>
          <p:cNvSpPr>
            <a:spLocks noGrp="1"/>
          </p:cNvSpPr>
          <p:nvPr>
            <p:ph type="ftr" sz="quarter" idx="24"/>
          </p:nvPr>
        </p:nvSpPr>
        <p:spPr/>
        <p:txBody>
          <a:bodyPr wrap="square"/>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450" i="0" u="none" strike="noStrike" kern="1200" cap="none" spc="0" normalizeH="0" baseline="0" noProof="0">
                <a:ln>
                  <a:noFill/>
                </a:ln>
                <a:solidFill>
                  <a:srgbClr val="070154"/>
                </a:solidFill>
                <a:effectLst/>
                <a:uLnTx/>
                <a:uFillTx/>
                <a:latin typeface="Arial"/>
                <a:cs typeface="Arial"/>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A8727623-4DE6-425E-24F0-0558C0129758}"/>
              </a:ext>
            </a:extLst>
          </p:cNvPr>
          <p:cNvSpPr>
            <a:spLocks noGrp="1"/>
          </p:cNvSpPr>
          <p:nvPr>
            <p:ph type="sldNum" sz="quarter" idx="25"/>
          </p:nvPr>
        </p:nvSpPr>
        <p:spPr/>
        <p:txBody>
          <a:bodyPr wrap="square"/>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550" i="0" u="none" strike="noStrike" kern="1200" cap="none" spc="0" normalizeH="0" baseline="0" noProof="0">
                <a:ln>
                  <a:noFill/>
                </a:ln>
                <a:solidFill>
                  <a:srgbClr val="070154"/>
                </a:solidFill>
                <a:effectLst/>
                <a:uLnTx/>
                <a:uFillTx/>
                <a:latin typeface="Arial"/>
                <a:cs typeface="Arial"/>
              </a:rPr>
              <a:t>35</a:t>
            </a:r>
          </a:p>
        </p:txBody>
      </p:sp>
      <p:sp>
        <p:nvSpPr>
          <p:cNvPr id="18" name="Text Placeholder 17">
            <a:extLst>
              <a:ext uri="{FF2B5EF4-FFF2-40B4-BE49-F238E27FC236}">
                <a16:creationId xmlns:a16="http://schemas.microsoft.com/office/drawing/2014/main" id="{A7AB8D45-41F7-10DF-9B2A-0149ECEA5C18}"/>
              </a:ext>
            </a:extLst>
          </p:cNvPr>
          <p:cNvSpPr>
            <a:spLocks noGrp="1"/>
          </p:cNvSpPr>
          <p:nvPr>
            <p:ph type="body" sz="quarter" idx="44"/>
          </p:nvPr>
        </p:nvSpPr>
        <p:spPr/>
        <p:txBody>
          <a:bodyPr wrap="square">
            <a:normAutofit/>
          </a:bodyPr>
          <a:lstStyle/>
          <a:p>
            <a:r>
              <a:rPr lang="en-US" sz="850">
                <a:solidFill>
                  <a:srgbClr val="50627A"/>
                </a:solidFill>
                <a:latin typeface="Arial"/>
                <a:cs typeface="Arial"/>
              </a:rPr>
              <a:t>CLIENT STORIES</a:t>
            </a:r>
          </a:p>
        </p:txBody>
      </p:sp>
      <p:grpSp>
        <p:nvGrpSpPr>
          <p:cNvPr id="36" name="Group 35">
            <a:extLst>
              <a:ext uri="{FF2B5EF4-FFF2-40B4-BE49-F238E27FC236}">
                <a16:creationId xmlns:a16="http://schemas.microsoft.com/office/drawing/2014/main" id="{4F40CE57-3B97-BDD2-6C48-D55D52422DB7}"/>
              </a:ext>
            </a:extLst>
          </p:cNvPr>
          <p:cNvGrpSpPr/>
          <p:nvPr/>
        </p:nvGrpSpPr>
        <p:grpSpPr>
          <a:xfrm>
            <a:off x="6306735" y="762000"/>
            <a:ext cx="5553713" cy="2870662"/>
            <a:chOff x="5333752" y="1260614"/>
            <a:chExt cx="5153050" cy="2663563"/>
          </a:xfrm>
        </p:grpSpPr>
        <p:pic>
          <p:nvPicPr>
            <p:cNvPr id="37" name="Picture 7" descr="Graphical user interface, text, application&#10;&#10;Description automatically generated">
              <a:extLst>
                <a:ext uri="{FF2B5EF4-FFF2-40B4-BE49-F238E27FC236}">
                  <a16:creationId xmlns:a16="http://schemas.microsoft.com/office/drawing/2014/main" id="{6D5F3777-A135-8448-3533-19BDA8D9DD9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235700" y="1398465"/>
              <a:ext cx="3263900" cy="2491772"/>
            </a:xfrm>
            <a:prstGeom prst="rect">
              <a:avLst/>
            </a:prstGeom>
          </p:spPr>
        </p:pic>
        <p:pic>
          <p:nvPicPr>
            <p:cNvPr id="38" name="Google Shape;184;p41">
              <a:extLst>
                <a:ext uri="{FF2B5EF4-FFF2-40B4-BE49-F238E27FC236}">
                  <a16:creationId xmlns:a16="http://schemas.microsoft.com/office/drawing/2014/main" id="{1AA79245-8A9D-C8D6-7C23-92B8CECEEC7E}"/>
                </a:ext>
              </a:extLst>
            </p:cNvPr>
            <p:cNvPicPr preferRelativeResize="0"/>
            <p:nvPr/>
          </p:nvPicPr>
          <p:blipFill>
            <a:blip r:embed="rId4">
              <a:alphaModFix/>
            </a:blip>
            <a:stretch>
              <a:fillRect/>
            </a:stretch>
          </p:blipFill>
          <p:spPr>
            <a:xfrm>
              <a:off x="5333752" y="1260614"/>
              <a:ext cx="5153050" cy="2663563"/>
            </a:xfrm>
            <a:prstGeom prst="rect">
              <a:avLst/>
            </a:prstGeom>
            <a:noFill/>
            <a:ln>
              <a:noFill/>
            </a:ln>
          </p:spPr>
        </p:pic>
      </p:grpSp>
      <p:grpSp>
        <p:nvGrpSpPr>
          <p:cNvPr id="10" name="Group 9">
            <a:extLst>
              <a:ext uri="{FF2B5EF4-FFF2-40B4-BE49-F238E27FC236}">
                <a16:creationId xmlns:a16="http://schemas.microsoft.com/office/drawing/2014/main" id="{8EF48BA5-B109-B7F6-0D68-B01A4FB43DA5}"/>
              </a:ext>
            </a:extLst>
          </p:cNvPr>
          <p:cNvGrpSpPr/>
          <p:nvPr/>
        </p:nvGrpSpPr>
        <p:grpSpPr>
          <a:xfrm>
            <a:off x="7278813" y="965603"/>
            <a:ext cx="4852658" cy="5384845"/>
            <a:chOff x="6755593" y="535898"/>
            <a:chExt cx="4668260" cy="5180223"/>
          </a:xfrm>
        </p:grpSpPr>
        <p:grpSp>
          <p:nvGrpSpPr>
            <p:cNvPr id="39" name="Group 38">
              <a:extLst>
                <a:ext uri="{FF2B5EF4-FFF2-40B4-BE49-F238E27FC236}">
                  <a16:creationId xmlns:a16="http://schemas.microsoft.com/office/drawing/2014/main" id="{9CC78172-BE5E-438F-5563-D21E41DA206D}"/>
                </a:ext>
              </a:extLst>
            </p:cNvPr>
            <p:cNvGrpSpPr/>
            <p:nvPr/>
          </p:nvGrpSpPr>
          <p:grpSpPr>
            <a:xfrm>
              <a:off x="8909781" y="1592836"/>
              <a:ext cx="2514072" cy="4123285"/>
              <a:chOff x="9672249" y="2316038"/>
              <a:chExt cx="2056738" cy="3373219"/>
            </a:xfrm>
          </p:grpSpPr>
          <p:pic>
            <p:nvPicPr>
              <p:cNvPr id="40" name="Picture 8" descr="Graphical user interface, application&#10;&#10;Description automatically generated">
                <a:extLst>
                  <a:ext uri="{FF2B5EF4-FFF2-40B4-BE49-F238E27FC236}">
                    <a16:creationId xmlns:a16="http://schemas.microsoft.com/office/drawing/2014/main" id="{7F43B683-C0AA-0165-BDB4-572C21FC9E8B}"/>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b="23187"/>
              <a:stretch/>
            </p:blipFill>
            <p:spPr>
              <a:xfrm>
                <a:off x="10121900" y="2868450"/>
                <a:ext cx="1164753" cy="2404336"/>
              </a:xfrm>
              <a:prstGeom prst="rect">
                <a:avLst/>
              </a:prstGeom>
              <a:ln>
                <a:solidFill>
                  <a:schemeClr val="tx2"/>
                </a:solidFill>
              </a:ln>
            </p:spPr>
          </p:pic>
          <p:pic>
            <p:nvPicPr>
              <p:cNvPr id="41" name="Google Shape;187;p41" descr="iPhone-6S-Plus-.png">
                <a:extLst>
                  <a:ext uri="{FF2B5EF4-FFF2-40B4-BE49-F238E27FC236}">
                    <a16:creationId xmlns:a16="http://schemas.microsoft.com/office/drawing/2014/main" id="{FDAB4343-5505-3C51-972B-68103AD18A91}"/>
                  </a:ext>
                </a:extLst>
              </p:cNvPr>
              <p:cNvPicPr preferRelativeResize="0"/>
              <p:nvPr/>
            </p:nvPicPr>
            <p:blipFill rotWithShape="1">
              <a:blip r:embed="rId6">
                <a:alphaModFix/>
              </a:blip>
              <a:srcRect/>
              <a:stretch/>
            </p:blipFill>
            <p:spPr>
              <a:xfrm>
                <a:off x="9672249" y="2316038"/>
                <a:ext cx="2056738" cy="3373219"/>
              </a:xfrm>
              <a:prstGeom prst="rect">
                <a:avLst/>
              </a:prstGeom>
              <a:noFill/>
              <a:ln>
                <a:noFill/>
              </a:ln>
            </p:spPr>
          </p:pic>
        </p:grpSp>
        <p:sp>
          <p:nvSpPr>
            <p:cNvPr id="2" name="Rectangle 1">
              <a:extLst>
                <a:ext uri="{FF2B5EF4-FFF2-40B4-BE49-F238E27FC236}">
                  <a16:creationId xmlns:a16="http://schemas.microsoft.com/office/drawing/2014/main" id="{DE048E02-0701-0197-FB4B-3E2EF3CA0FFC}"/>
                </a:ext>
              </a:extLst>
            </p:cNvPr>
            <p:cNvSpPr/>
            <p:nvPr/>
          </p:nvSpPr>
          <p:spPr bwMode="auto">
            <a:xfrm>
              <a:off x="6755593" y="535898"/>
              <a:ext cx="1066168" cy="235965"/>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EA3EA095-754D-A6C2-3377-82149FDA3F31}"/>
                </a:ext>
              </a:extLst>
            </p:cNvPr>
            <p:cNvSpPr/>
            <p:nvPr/>
          </p:nvSpPr>
          <p:spPr bwMode="auto">
            <a:xfrm>
              <a:off x="9459416" y="2343972"/>
              <a:ext cx="1066168" cy="203286"/>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9" name="Rectangle 8">
              <a:extLst>
                <a:ext uri="{FF2B5EF4-FFF2-40B4-BE49-F238E27FC236}">
                  <a16:creationId xmlns:a16="http://schemas.microsoft.com/office/drawing/2014/main" id="{26D70CC4-452A-6754-3FC6-C2078F6155BA}"/>
                </a:ext>
              </a:extLst>
            </p:cNvPr>
            <p:cNvSpPr/>
            <p:nvPr/>
          </p:nvSpPr>
          <p:spPr bwMode="auto">
            <a:xfrm>
              <a:off x="9554256" y="4352832"/>
              <a:ext cx="1066168" cy="203286"/>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grpSp>
      <p:sp>
        <p:nvSpPr>
          <p:cNvPr id="11" name="Text Placeholder 5">
            <a:extLst>
              <a:ext uri="{FF2B5EF4-FFF2-40B4-BE49-F238E27FC236}">
                <a16:creationId xmlns:a16="http://schemas.microsoft.com/office/drawing/2014/main" id="{13A77AF1-094C-AF3F-FF18-F640EDF1912A}"/>
              </a:ext>
            </a:extLst>
          </p:cNvPr>
          <p:cNvSpPr txBox="1">
            <a:spLocks/>
          </p:cNvSpPr>
          <p:nvPr/>
        </p:nvSpPr>
        <p:spPr>
          <a:xfrm>
            <a:off x="460374" y="1714500"/>
            <a:ext cx="5749926" cy="915491"/>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i="0" u="none" strike="noStrike" kern="1200" cap="none" spc="0" normalizeH="0" baseline="0" noProof="0">
                <a:ln>
                  <a:noFill/>
                </a:ln>
                <a:solidFill>
                  <a:srgbClr val="070154"/>
                </a:solidFill>
                <a:effectLst/>
                <a:uLnTx/>
                <a:uFillTx/>
                <a:latin typeface="Arial"/>
                <a:cs typeface="Arial"/>
              </a:rPr>
              <a:t>Our developers &amp; Product Analysts got trained in IBM Garage methodologies to accelerate the transformation of American Airline’s application development. The Garage method excels at helping teams quickly design, build, and deploy an MVP to optimize the time to market. Operational excellence is key to the success of MVP. We emphasize on 100% test automation to get full code coverage.</a:t>
            </a:r>
          </a:p>
        </p:txBody>
      </p:sp>
      <p:sp>
        <p:nvSpPr>
          <p:cNvPr id="12" name="Text Placeholder 17">
            <a:extLst>
              <a:ext uri="{FF2B5EF4-FFF2-40B4-BE49-F238E27FC236}">
                <a16:creationId xmlns:a16="http://schemas.microsoft.com/office/drawing/2014/main" id="{B359A55C-7F6F-2B87-FDDD-73F48216EB9B}"/>
              </a:ext>
            </a:extLst>
          </p:cNvPr>
          <p:cNvSpPr txBox="1">
            <a:spLocks/>
          </p:cNvSpPr>
          <p:nvPr/>
        </p:nvSpPr>
        <p:spPr>
          <a:xfrm>
            <a:off x="465138" y="556955"/>
            <a:ext cx="3602038" cy="206660"/>
          </a:xfrm>
          <a:prstGeom prst="rect">
            <a:avLst/>
          </a:prstGeom>
        </p:spPr>
        <p:txBody>
          <a:bodyPr vert="horz" wrap="square"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i="0" u="none" strike="noStrike" kern="1200" cap="all" spc="50" normalizeH="0" baseline="0" noProof="0">
                <a:ln>
                  <a:noFill/>
                </a:ln>
                <a:solidFill>
                  <a:srgbClr val="F900D3"/>
                </a:solidFill>
                <a:effectLst/>
                <a:uLnTx/>
                <a:uFillTx/>
                <a:latin typeface="Arial"/>
                <a:cs typeface="Arial"/>
              </a:rPr>
              <a:t>LARGE AIRLINE</a:t>
            </a:r>
          </a:p>
        </p:txBody>
      </p:sp>
      <p:sp>
        <p:nvSpPr>
          <p:cNvPr id="13" name="Title 7">
            <a:extLst>
              <a:ext uri="{FF2B5EF4-FFF2-40B4-BE49-F238E27FC236}">
                <a16:creationId xmlns:a16="http://schemas.microsoft.com/office/drawing/2014/main" id="{13DE982D-E9AB-A68C-6899-3D33E7F62879}"/>
              </a:ext>
            </a:extLst>
          </p:cNvPr>
          <p:cNvSpPr txBox="1">
            <a:spLocks/>
          </p:cNvSpPr>
          <p:nvPr/>
        </p:nvSpPr>
        <p:spPr>
          <a:xfrm>
            <a:off x="460373" y="763616"/>
            <a:ext cx="5952744" cy="649260"/>
          </a:xfrm>
          <a:prstGeom prst="rect">
            <a:avLst/>
          </a:prstGeom>
        </p:spPr>
        <p:txBody>
          <a:bodyPr vert="horz" wrap="square"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i="0" u="none" strike="noStrike" kern="1200" cap="none" spc="0" normalizeH="0" baseline="0" noProof="0">
                <a:ln>
                  <a:noFill/>
                </a:ln>
                <a:solidFill>
                  <a:srgbClr val="070154"/>
                </a:solidFill>
                <a:effectLst/>
                <a:uLnTx/>
                <a:uFillTx/>
                <a:latin typeface="Arial"/>
                <a:cs typeface="Arial"/>
              </a:rPr>
              <a:t>How can we modernize our legacy reservation management system?</a:t>
            </a:r>
          </a:p>
        </p:txBody>
      </p:sp>
      <p:sp>
        <p:nvSpPr>
          <p:cNvPr id="14" name="Text Placeholder 5">
            <a:extLst>
              <a:ext uri="{FF2B5EF4-FFF2-40B4-BE49-F238E27FC236}">
                <a16:creationId xmlns:a16="http://schemas.microsoft.com/office/drawing/2014/main" id="{BA546765-C161-6AD1-F38B-5C8241C8E9C4}"/>
              </a:ext>
            </a:extLst>
          </p:cNvPr>
          <p:cNvSpPr txBox="1">
            <a:spLocks/>
          </p:cNvSpPr>
          <p:nvPr/>
        </p:nvSpPr>
        <p:spPr>
          <a:xfrm>
            <a:off x="460375" y="2825192"/>
            <a:ext cx="5759944" cy="3242733"/>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950" b="0" i="0" u="none" strike="noStrike" kern="1200" cap="none" spc="0" normalizeH="0" baseline="0" noProof="0">
                <a:ln>
                  <a:noFill/>
                </a:ln>
                <a:solidFill>
                  <a:srgbClr val="070154"/>
                </a:solidFill>
                <a:effectLst/>
                <a:uLnTx/>
                <a:uFillTx/>
                <a:latin typeface="Arial"/>
                <a:cs typeface="Arial"/>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Refactored large parts of the reservation systems from a monolith to microservices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Utilized Cloud Foundry (open source PAAS) to manage their application platform independently of their IBM infrastructure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Implemented Google Kubernetes Engine (GKE), a managed container service, to support horizontal scaling of their reservation system</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Jenkins was used to set up end to end CI/CD pipeline shifting their delivery frequency from every 2 weeks to an instantaneous deployment capability using a blue/green approach.  </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950" i="0" u="none" strike="noStrike" kern="1200" cap="none" spc="0" normalizeH="0" baseline="0" noProof="0">
              <a:ln>
                <a:noFill/>
              </a:ln>
              <a:solidFill>
                <a:srgbClr val="070154"/>
              </a:solidFill>
              <a:effectLst/>
              <a:uLnTx/>
              <a:uFillTx/>
              <a:latin typeface="Arial"/>
              <a:cs typeface="Arial"/>
            </a:endParaRP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endParaRPr kumimoji="0" lang="en-US" sz="950" i="0" u="none" strike="noStrike" kern="1200" cap="none" spc="0" normalizeH="0" baseline="0" noProof="0">
              <a:ln>
                <a:noFill/>
              </a:ln>
              <a:solidFill>
                <a:srgbClr val="070154"/>
              </a:solidFill>
              <a:effectLst/>
              <a:uLnTx/>
              <a:uFillTx/>
              <a:latin typeface="Arial"/>
              <a:cs typeface="Arial"/>
            </a:endParaRPr>
          </a:p>
        </p:txBody>
      </p:sp>
    </p:spTree>
    <p:extLst>
      <p:ext uri="{BB962C8B-B14F-4D97-AF65-F5344CB8AC3E}">
        <p14:creationId xmlns:p14="http://schemas.microsoft.com/office/powerpoint/2010/main" val="10187976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1AFCC-630F-91AD-04D9-72BB71DDFDF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617F18F-DC75-D55B-F975-4B4BF72386C7}"/>
              </a:ext>
            </a:extLst>
          </p:cNvPr>
          <p:cNvSpPr>
            <a:spLocks noGrp="1"/>
          </p:cNvSpPr>
          <p:nvPr>
            <p:ph type="ftr" sz="quarter" idx="24"/>
          </p:nvPr>
        </p:nvSpPr>
        <p:spPr/>
        <p:txBody>
          <a:bodyPr wrap="square"/>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450" i="0" u="none" strike="noStrike" kern="1200" cap="none" spc="0" normalizeH="0" baseline="0" noProof="0">
                <a:ln>
                  <a:noFill/>
                </a:ln>
                <a:solidFill>
                  <a:srgbClr val="070154"/>
                </a:solidFill>
                <a:effectLst/>
                <a:uLnTx/>
                <a:uFillTx/>
                <a:latin typeface="Arial"/>
                <a:cs typeface="Arial"/>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1D0B7111-AA93-790B-E5EF-BBA474AA030E}"/>
              </a:ext>
            </a:extLst>
          </p:cNvPr>
          <p:cNvSpPr>
            <a:spLocks noGrp="1"/>
          </p:cNvSpPr>
          <p:nvPr>
            <p:ph type="sldNum" sz="quarter" idx="25"/>
          </p:nvPr>
        </p:nvSpPr>
        <p:spPr/>
        <p:txBody>
          <a:bodyPr wrap="square"/>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550" i="0" u="none" strike="noStrike" kern="1200" cap="none" spc="0" normalizeH="0" baseline="0" noProof="0">
                <a:ln>
                  <a:noFill/>
                </a:ln>
                <a:solidFill>
                  <a:srgbClr val="070154"/>
                </a:solidFill>
                <a:effectLst/>
                <a:uLnTx/>
                <a:uFillTx/>
                <a:latin typeface="Arial"/>
                <a:cs typeface="Arial"/>
              </a:rPr>
              <a:t>36</a:t>
            </a:r>
          </a:p>
        </p:txBody>
      </p:sp>
      <p:sp>
        <p:nvSpPr>
          <p:cNvPr id="18" name="Text Placeholder 17">
            <a:extLst>
              <a:ext uri="{FF2B5EF4-FFF2-40B4-BE49-F238E27FC236}">
                <a16:creationId xmlns:a16="http://schemas.microsoft.com/office/drawing/2014/main" id="{E6147721-8E6E-5F0F-DA57-A4318FE0EA6D}"/>
              </a:ext>
            </a:extLst>
          </p:cNvPr>
          <p:cNvSpPr>
            <a:spLocks noGrp="1"/>
          </p:cNvSpPr>
          <p:nvPr>
            <p:ph type="body" sz="quarter" idx="44"/>
          </p:nvPr>
        </p:nvSpPr>
        <p:spPr/>
        <p:txBody>
          <a:bodyPr wrap="square">
            <a:normAutofit/>
          </a:bodyPr>
          <a:lstStyle/>
          <a:p>
            <a:r>
              <a:rPr lang="en-US" sz="850">
                <a:solidFill>
                  <a:srgbClr val="50627A"/>
                </a:solidFill>
                <a:latin typeface="Arial"/>
                <a:cs typeface="Arial"/>
              </a:rPr>
              <a:t>CLIENT STORIES</a:t>
            </a:r>
          </a:p>
        </p:txBody>
      </p:sp>
      <p:sp>
        <p:nvSpPr>
          <p:cNvPr id="24" name="Text Placeholder 49">
            <a:extLst>
              <a:ext uri="{FF2B5EF4-FFF2-40B4-BE49-F238E27FC236}">
                <a16:creationId xmlns:a16="http://schemas.microsoft.com/office/drawing/2014/main" id="{A4EE6745-EF5A-784C-AC0E-F3A402A77C1A}"/>
              </a:ext>
            </a:extLst>
          </p:cNvPr>
          <p:cNvSpPr>
            <a:spLocks noGrp="1"/>
          </p:cNvSpPr>
          <p:nvPr>
            <p:ph type="body" sz="quarter" idx="38"/>
          </p:nvPr>
        </p:nvSpPr>
        <p:spPr>
          <a:xfrm>
            <a:off x="6632074" y="4341591"/>
            <a:ext cx="803275" cy="269761"/>
          </a:xfrm>
        </p:spPr>
        <p:txBody>
          <a:bodyPr/>
          <a:lstStyle/>
          <a:p>
            <a:endParaRPr lang="en-US"/>
          </a:p>
        </p:txBody>
      </p:sp>
      <p:sp>
        <p:nvSpPr>
          <p:cNvPr id="25" name="Text Placeholder 30">
            <a:extLst>
              <a:ext uri="{FF2B5EF4-FFF2-40B4-BE49-F238E27FC236}">
                <a16:creationId xmlns:a16="http://schemas.microsoft.com/office/drawing/2014/main" id="{EA5721CB-682D-A808-3675-74158B981130}"/>
              </a:ext>
            </a:extLst>
          </p:cNvPr>
          <p:cNvSpPr>
            <a:spLocks noGrp="1"/>
          </p:cNvSpPr>
          <p:nvPr>
            <p:ph type="body" sz="quarter" idx="39"/>
          </p:nvPr>
        </p:nvSpPr>
        <p:spPr>
          <a:xfrm>
            <a:off x="6632074" y="4789623"/>
            <a:ext cx="4877504" cy="1219458"/>
          </a:xfrm>
        </p:spPr>
        <p:txBody>
          <a:bodyPr wrap="square">
            <a:normAutofit/>
          </a:bodyPr>
          <a:lstStyle/>
          <a:p>
            <a:pPr>
              <a:spcAft>
                <a:spcPts val="1200"/>
              </a:spcAft>
            </a:pPr>
            <a:r>
              <a:rPr lang="en-US" sz="1100" b="0">
                <a:solidFill>
                  <a:srgbClr val="070154"/>
                </a:solidFill>
                <a:latin typeface="Arial"/>
                <a:cs typeface="Arial"/>
              </a:rPr>
              <a:t>We have been very happy with the services we get from WMP, most importantly the thought leadership we get from your on-site team.</a:t>
            </a:r>
            <a:br>
              <a:rPr lang="en-US" sz="1100" b="0">
                <a:solidFill>
                  <a:srgbClr val="070154"/>
                </a:solidFill>
                <a:latin typeface="Arial"/>
                <a:cs typeface="Arial"/>
              </a:rPr>
            </a:br>
            <a:r>
              <a:rPr lang="en-US" sz="1100" b="0">
                <a:solidFill>
                  <a:srgbClr val="070154"/>
                </a:solidFill>
                <a:latin typeface="Arial"/>
                <a:cs typeface="Arial"/>
              </a:rPr>
              <a:t>— Chief Information Officer</a:t>
            </a:r>
          </a:p>
        </p:txBody>
      </p:sp>
      <p:sp>
        <p:nvSpPr>
          <p:cNvPr id="2" name="Text Placeholder 18">
            <a:extLst>
              <a:ext uri="{FF2B5EF4-FFF2-40B4-BE49-F238E27FC236}">
                <a16:creationId xmlns:a16="http://schemas.microsoft.com/office/drawing/2014/main" id="{B70348CF-C405-B99E-8E68-971D8CE8FB1A}"/>
              </a:ext>
            </a:extLst>
          </p:cNvPr>
          <p:cNvSpPr>
            <a:spLocks noGrp="1"/>
          </p:cNvSpPr>
          <p:nvPr>
            <p:ph type="body" sz="quarter" idx="33"/>
          </p:nvPr>
        </p:nvSpPr>
        <p:spPr>
          <a:xfrm>
            <a:off x="6616699" y="764636"/>
            <a:ext cx="5111749" cy="1436596"/>
          </a:xfrm>
        </p:spPr>
        <p:txBody>
          <a:bodyPr/>
          <a:lstStyle/>
          <a:p>
            <a:endParaRPr lang="en-US"/>
          </a:p>
        </p:txBody>
      </p:sp>
      <p:sp>
        <p:nvSpPr>
          <p:cNvPr id="8" name="Text Placeholder 24">
            <a:extLst>
              <a:ext uri="{FF2B5EF4-FFF2-40B4-BE49-F238E27FC236}">
                <a16:creationId xmlns:a16="http://schemas.microsoft.com/office/drawing/2014/main" id="{36A36EC4-D7C6-A08B-5443-7139461D5554}"/>
              </a:ext>
            </a:extLst>
          </p:cNvPr>
          <p:cNvSpPr>
            <a:spLocks noGrp="1"/>
          </p:cNvSpPr>
          <p:nvPr>
            <p:ph type="body" sz="quarter" idx="23"/>
          </p:nvPr>
        </p:nvSpPr>
        <p:spPr>
          <a:xfrm>
            <a:off x="6834584" y="894817"/>
            <a:ext cx="1372790" cy="510741"/>
          </a:xfrm>
        </p:spPr>
        <p:txBody>
          <a:bodyPr vert="horz" wrap="square" lIns="0" tIns="0" rIns="0" bIns="0" rtlCol="0" anchor="t" anchorCtr="0">
            <a:noAutofit/>
          </a:bodyPr>
          <a:lstStyle/>
          <a:p>
            <a:r>
              <a:rPr lang="en-US" sz="2700">
                <a:solidFill>
                  <a:srgbClr val="070154"/>
                </a:solidFill>
                <a:latin typeface="Arial"/>
                <a:cs typeface="Arial"/>
              </a:rPr>
              <a:t>54</a:t>
            </a:r>
          </a:p>
        </p:txBody>
      </p:sp>
      <p:sp>
        <p:nvSpPr>
          <p:cNvPr id="9" name="Text Placeholder 26">
            <a:extLst>
              <a:ext uri="{FF2B5EF4-FFF2-40B4-BE49-F238E27FC236}">
                <a16:creationId xmlns:a16="http://schemas.microsoft.com/office/drawing/2014/main" id="{92CD36A3-08A4-4F4B-5DB1-3119B539953F}"/>
              </a:ext>
            </a:extLst>
          </p:cNvPr>
          <p:cNvSpPr>
            <a:spLocks noGrp="1"/>
          </p:cNvSpPr>
          <p:nvPr>
            <p:ph type="body" sz="quarter" idx="31"/>
          </p:nvPr>
        </p:nvSpPr>
        <p:spPr>
          <a:xfrm>
            <a:off x="6834584" y="1505331"/>
            <a:ext cx="1372791" cy="556953"/>
          </a:xfrm>
        </p:spPr>
        <p:txBody>
          <a:bodyPr wrap="square">
            <a:normAutofit/>
          </a:bodyPr>
          <a:lstStyle/>
          <a:p>
            <a:r>
              <a:rPr lang="en-US" sz="1050">
                <a:solidFill>
                  <a:srgbClr val="070154"/>
                </a:solidFill>
                <a:latin typeface="Arial"/>
                <a:cs typeface="Arial"/>
              </a:rPr>
              <a:t>Business Capabilities Elaborated</a:t>
            </a:r>
          </a:p>
        </p:txBody>
      </p:sp>
      <p:sp>
        <p:nvSpPr>
          <p:cNvPr id="10" name="Text Placeholder 27">
            <a:extLst>
              <a:ext uri="{FF2B5EF4-FFF2-40B4-BE49-F238E27FC236}">
                <a16:creationId xmlns:a16="http://schemas.microsoft.com/office/drawing/2014/main" id="{E461D370-9ED7-17E5-FD2C-87C8D4E1A193}"/>
              </a:ext>
            </a:extLst>
          </p:cNvPr>
          <p:cNvSpPr>
            <a:spLocks noGrp="1"/>
          </p:cNvSpPr>
          <p:nvPr>
            <p:ph type="body" sz="quarter" idx="32"/>
          </p:nvPr>
        </p:nvSpPr>
        <p:spPr>
          <a:xfrm>
            <a:off x="8278313" y="764636"/>
            <a:ext cx="3379195" cy="1436596"/>
          </a:xfrm>
        </p:spPr>
        <p:txBody>
          <a:bodyPr vert="horz" wrap="square" lIns="0" tIns="0" rIns="0" bIns="0" rtlCol="0" anchor="ctr" anchorCtr="0">
            <a:noAutofit/>
          </a:bodyPr>
          <a:lstStyle/>
          <a:p>
            <a:r>
              <a:rPr lang="en-US" sz="1000">
                <a:solidFill>
                  <a:srgbClr val="070154"/>
                </a:solidFill>
                <a:latin typeface="Arial"/>
                <a:cs typeface="Arial"/>
              </a:rPr>
              <a:t>We discovered and documented business capabilities around which future services would be created, supporting 250 business processes</a:t>
            </a:r>
          </a:p>
        </p:txBody>
      </p:sp>
      <p:sp>
        <p:nvSpPr>
          <p:cNvPr id="11" name="Text Placeholder 20">
            <a:extLst>
              <a:ext uri="{FF2B5EF4-FFF2-40B4-BE49-F238E27FC236}">
                <a16:creationId xmlns:a16="http://schemas.microsoft.com/office/drawing/2014/main" id="{BFC097A7-28F6-CF83-C1D6-687044123F67}"/>
              </a:ext>
            </a:extLst>
          </p:cNvPr>
          <p:cNvSpPr>
            <a:spLocks noGrp="1"/>
          </p:cNvSpPr>
          <p:nvPr>
            <p:ph type="body" sz="quarter" idx="40"/>
          </p:nvPr>
        </p:nvSpPr>
        <p:spPr>
          <a:xfrm>
            <a:off x="6616699" y="2544728"/>
            <a:ext cx="5111749" cy="1436596"/>
          </a:xfrm>
        </p:spPr>
        <p:txBody>
          <a:bodyPr/>
          <a:lstStyle/>
          <a:p>
            <a:endParaRPr lang="en-US"/>
          </a:p>
        </p:txBody>
      </p:sp>
      <p:sp>
        <p:nvSpPr>
          <p:cNvPr id="12" name="Text Placeholder 32">
            <a:extLst>
              <a:ext uri="{FF2B5EF4-FFF2-40B4-BE49-F238E27FC236}">
                <a16:creationId xmlns:a16="http://schemas.microsoft.com/office/drawing/2014/main" id="{D73739A1-BA50-C5C9-CF4F-B38A55E28B53}"/>
              </a:ext>
            </a:extLst>
          </p:cNvPr>
          <p:cNvSpPr>
            <a:spLocks noGrp="1"/>
          </p:cNvSpPr>
          <p:nvPr>
            <p:ph type="body" sz="quarter" idx="41"/>
          </p:nvPr>
        </p:nvSpPr>
        <p:spPr>
          <a:xfrm>
            <a:off x="6834584" y="2698620"/>
            <a:ext cx="1372790" cy="510741"/>
          </a:xfrm>
        </p:spPr>
        <p:txBody>
          <a:bodyPr vert="horz" wrap="square" lIns="0" tIns="0" rIns="0" bIns="0" rtlCol="0" anchor="t" anchorCtr="0">
            <a:noAutofit/>
          </a:bodyPr>
          <a:lstStyle/>
          <a:p>
            <a:r>
              <a:rPr lang="en-US" sz="2700">
                <a:solidFill>
                  <a:srgbClr val="070154"/>
                </a:solidFill>
                <a:latin typeface="Arial"/>
                <a:cs typeface="Arial"/>
              </a:rPr>
              <a:t>45</a:t>
            </a:r>
          </a:p>
        </p:txBody>
      </p:sp>
      <p:sp>
        <p:nvSpPr>
          <p:cNvPr id="13" name="Text Placeholder 33">
            <a:extLst>
              <a:ext uri="{FF2B5EF4-FFF2-40B4-BE49-F238E27FC236}">
                <a16:creationId xmlns:a16="http://schemas.microsoft.com/office/drawing/2014/main" id="{8FA1613E-2D49-3B4F-F722-422E5E2497E3}"/>
              </a:ext>
            </a:extLst>
          </p:cNvPr>
          <p:cNvSpPr>
            <a:spLocks noGrp="1"/>
          </p:cNvSpPr>
          <p:nvPr>
            <p:ph type="body" sz="quarter" idx="42"/>
          </p:nvPr>
        </p:nvSpPr>
        <p:spPr>
          <a:xfrm>
            <a:off x="6834584" y="3300972"/>
            <a:ext cx="1372790" cy="556953"/>
          </a:xfrm>
        </p:spPr>
        <p:txBody>
          <a:bodyPr wrap="square">
            <a:normAutofit/>
          </a:bodyPr>
          <a:lstStyle/>
          <a:p>
            <a:pPr lvl="1"/>
            <a:r>
              <a:rPr lang="en-US" sz="1050">
                <a:solidFill>
                  <a:srgbClr val="070154"/>
                </a:solidFill>
                <a:latin typeface="Arial"/>
                <a:cs typeface="Arial"/>
              </a:rPr>
              <a:t>Related Apps to be Modernized</a:t>
            </a:r>
          </a:p>
        </p:txBody>
      </p:sp>
      <p:sp>
        <p:nvSpPr>
          <p:cNvPr id="14" name="Text Placeholder 34">
            <a:extLst>
              <a:ext uri="{FF2B5EF4-FFF2-40B4-BE49-F238E27FC236}">
                <a16:creationId xmlns:a16="http://schemas.microsoft.com/office/drawing/2014/main" id="{CC5CDCB5-8E2D-4450-F159-305B5693A6CA}"/>
              </a:ext>
            </a:extLst>
          </p:cNvPr>
          <p:cNvSpPr>
            <a:spLocks noGrp="1"/>
          </p:cNvSpPr>
          <p:nvPr>
            <p:ph type="body" sz="quarter" idx="43"/>
          </p:nvPr>
        </p:nvSpPr>
        <p:spPr>
          <a:xfrm>
            <a:off x="8280482" y="2554025"/>
            <a:ext cx="3292493" cy="1427299"/>
          </a:xfrm>
        </p:spPr>
        <p:txBody>
          <a:bodyPr vert="horz" wrap="square" lIns="0" tIns="0" rIns="0" bIns="0" rtlCol="0" anchor="ctr" anchorCtr="0">
            <a:noAutofit/>
          </a:bodyPr>
          <a:lstStyle/>
          <a:p>
            <a:r>
              <a:rPr lang="en-US" sz="1000">
                <a:solidFill>
                  <a:srgbClr val="070154"/>
                </a:solidFill>
                <a:latin typeface="Arial"/>
                <a:cs typeface="Arial"/>
              </a:rPr>
              <a:t>We defined the modernization roadmap and initial disposition approaches for 45 related applications</a:t>
            </a:r>
          </a:p>
        </p:txBody>
      </p:sp>
      <p:sp>
        <p:nvSpPr>
          <p:cNvPr id="15" name="Text Placeholder 5">
            <a:extLst>
              <a:ext uri="{FF2B5EF4-FFF2-40B4-BE49-F238E27FC236}">
                <a16:creationId xmlns:a16="http://schemas.microsoft.com/office/drawing/2014/main" id="{19F4DACF-083C-AF31-F66B-60D8C115CD62}"/>
              </a:ext>
            </a:extLst>
          </p:cNvPr>
          <p:cNvSpPr txBox="1">
            <a:spLocks/>
          </p:cNvSpPr>
          <p:nvPr/>
        </p:nvSpPr>
        <p:spPr>
          <a:xfrm>
            <a:off x="460374" y="1714500"/>
            <a:ext cx="5749925" cy="1392623"/>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00" i="0" u="none" strike="noStrike" kern="1200" cap="none" spc="0" normalizeH="0" baseline="0" noProof="0">
                <a:ln>
                  <a:noFill/>
                </a:ln>
                <a:solidFill>
                  <a:srgbClr val="070154"/>
                </a:solidFill>
                <a:effectLst/>
                <a:uLnTx/>
                <a:uFillTx/>
                <a:latin typeface="Arial"/>
                <a:cs typeface="Arial"/>
              </a:rPr>
              <a:t>Client’s 20-year-old custom COBOL application is the “beating heart” of business operations, but the aging system and associated technologies have increasingly unpredictable negative impacts on customer/user experience and hamper ability to enhance digital experience. This solution prevented the client from developing new innovations due to complexity and technical debt. West Monroe was engaged to translate strategic objectives into an architecture and modernization roadmap to target cloud-based technologies and a microservices platform.</a:t>
            </a:r>
          </a:p>
        </p:txBody>
      </p:sp>
      <p:sp>
        <p:nvSpPr>
          <p:cNvPr id="16" name="Text Placeholder 17">
            <a:extLst>
              <a:ext uri="{FF2B5EF4-FFF2-40B4-BE49-F238E27FC236}">
                <a16:creationId xmlns:a16="http://schemas.microsoft.com/office/drawing/2014/main" id="{4150E94C-2B1C-73FA-F28C-7FF56AD3C63E}"/>
              </a:ext>
            </a:extLst>
          </p:cNvPr>
          <p:cNvSpPr txBox="1">
            <a:spLocks/>
          </p:cNvSpPr>
          <p:nvPr/>
        </p:nvSpPr>
        <p:spPr>
          <a:xfrm>
            <a:off x="465138" y="556955"/>
            <a:ext cx="3602038" cy="206660"/>
          </a:xfrm>
          <a:prstGeom prst="rect">
            <a:avLst/>
          </a:prstGeom>
        </p:spPr>
        <p:txBody>
          <a:bodyPr vert="horz" wrap="square"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i="0" u="none" strike="noStrike" kern="1200" cap="all" spc="50" normalizeH="0" baseline="0" noProof="0">
                <a:ln>
                  <a:noFill/>
                </a:ln>
                <a:solidFill>
                  <a:srgbClr val="F900D3"/>
                </a:solidFill>
                <a:effectLst/>
                <a:uLnTx/>
                <a:uFillTx/>
                <a:latin typeface="Arial"/>
                <a:cs typeface="Arial"/>
              </a:rPr>
              <a:t>Healthcare Professional Association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i="0" u="none" strike="noStrike" kern="1200" cap="all" spc="0" normalizeH="0" baseline="0" noProof="0">
              <a:ln>
                <a:noFill/>
              </a:ln>
              <a:solidFill>
                <a:srgbClr val="F900D3"/>
              </a:solidFill>
              <a:effectLst/>
              <a:uLnTx/>
              <a:uFillTx/>
              <a:latin typeface="Arial"/>
              <a:cs typeface="Arial"/>
            </a:endParaRPr>
          </a:p>
        </p:txBody>
      </p:sp>
      <p:sp>
        <p:nvSpPr>
          <p:cNvPr id="17" name="Title 7">
            <a:extLst>
              <a:ext uri="{FF2B5EF4-FFF2-40B4-BE49-F238E27FC236}">
                <a16:creationId xmlns:a16="http://schemas.microsoft.com/office/drawing/2014/main" id="{159200E5-C426-8807-CFAB-6C043267128E}"/>
              </a:ext>
            </a:extLst>
          </p:cNvPr>
          <p:cNvSpPr txBox="1">
            <a:spLocks/>
          </p:cNvSpPr>
          <p:nvPr/>
        </p:nvSpPr>
        <p:spPr>
          <a:xfrm>
            <a:off x="460374" y="763616"/>
            <a:ext cx="5521326" cy="649260"/>
          </a:xfrm>
          <a:prstGeom prst="rect">
            <a:avLst/>
          </a:prstGeom>
        </p:spPr>
        <p:txBody>
          <a:bodyPr vert="horz" wrap="square"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900" i="0" u="none" strike="noStrike" kern="1200" cap="none" spc="0" normalizeH="0" baseline="0" noProof="0">
                <a:ln>
                  <a:noFill/>
                </a:ln>
                <a:solidFill>
                  <a:srgbClr val="070154"/>
                </a:solidFill>
                <a:effectLst/>
                <a:uLnTx/>
                <a:uFillTx/>
                <a:latin typeface="Arial"/>
                <a:cs typeface="Arial"/>
              </a:rPr>
              <a:t>How can we address aging tech, monolithic apps, and our waterfall methodology so we can </a:t>
            </a:r>
            <a:br>
              <a:rPr kumimoji="0" lang="en-US" sz="1900" i="0" u="none" strike="noStrike" kern="1200" cap="none" spc="0" normalizeH="0" baseline="0" noProof="0">
                <a:ln>
                  <a:noFill/>
                </a:ln>
                <a:solidFill>
                  <a:srgbClr val="070154"/>
                </a:solidFill>
                <a:effectLst/>
                <a:uLnTx/>
                <a:uFillTx/>
                <a:latin typeface="Arial"/>
                <a:cs typeface="Arial"/>
              </a:rPr>
            </a:br>
            <a:r>
              <a:rPr kumimoji="0" lang="en-US" sz="1900" i="0" u="none" strike="noStrike" kern="1200" cap="none" spc="0" normalizeH="0" baseline="0" noProof="0">
                <a:ln>
                  <a:noFill/>
                </a:ln>
                <a:solidFill>
                  <a:srgbClr val="070154"/>
                </a:solidFill>
                <a:effectLst/>
                <a:uLnTx/>
                <a:uFillTx/>
                <a:latin typeface="Arial"/>
                <a:cs typeface="Arial"/>
              </a:rPr>
              <a:t>innovate faster?</a:t>
            </a:r>
          </a:p>
        </p:txBody>
      </p:sp>
      <p:sp>
        <p:nvSpPr>
          <p:cNvPr id="19" name="Text Placeholder 5">
            <a:extLst>
              <a:ext uri="{FF2B5EF4-FFF2-40B4-BE49-F238E27FC236}">
                <a16:creationId xmlns:a16="http://schemas.microsoft.com/office/drawing/2014/main" id="{53444FB0-BDC7-6C6F-B936-D7C7CE010624}"/>
              </a:ext>
            </a:extLst>
          </p:cNvPr>
          <p:cNvSpPr txBox="1">
            <a:spLocks/>
          </p:cNvSpPr>
          <p:nvPr/>
        </p:nvSpPr>
        <p:spPr>
          <a:xfrm>
            <a:off x="460375" y="3116748"/>
            <a:ext cx="5937454" cy="2912677"/>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880" b="0" i="0" u="none" strike="noStrike" kern="1200" cap="none" spc="0" normalizeH="0" baseline="0" noProof="0">
                <a:ln>
                  <a:noFill/>
                </a:ln>
                <a:solidFill>
                  <a:srgbClr val="070154"/>
                </a:solidFill>
                <a:effectLst/>
                <a:uLnTx/>
                <a:uFillTx/>
                <a:latin typeface="Arial"/>
                <a:cs typeface="Arial"/>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880" i="0" u="none" strike="noStrike" kern="1200" cap="none" spc="0" normalizeH="0" baseline="0" noProof="0">
                <a:ln>
                  <a:noFill/>
                </a:ln>
                <a:solidFill>
                  <a:srgbClr val="070154"/>
                </a:solidFill>
                <a:effectLst/>
                <a:uLnTx/>
                <a:uFillTx/>
                <a:latin typeface="Arial"/>
                <a:cs typeface="Arial"/>
              </a:rPr>
              <a:t>Took a holistic approach to technology strategy and planning that incorporated program management, organizational change management, and human-centered design (HCD) alongside core technology disciplines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880" i="0" u="none" strike="noStrike" kern="1200" cap="none" spc="0" normalizeH="0" baseline="0" noProof="0">
                <a:ln>
                  <a:noFill/>
                </a:ln>
                <a:solidFill>
                  <a:srgbClr val="070154"/>
                </a:solidFill>
                <a:effectLst/>
                <a:uLnTx/>
                <a:uFillTx/>
                <a:latin typeface="Arial"/>
                <a:cs typeface="Arial"/>
              </a:rPr>
              <a:t>Developed architecture and guiding principles to address strategic goals, such as increased customer &amp; member engagement as well as improved system performance and availability</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880" i="0" u="none" strike="noStrike" kern="1200" cap="none" spc="0" normalizeH="0" baseline="0" noProof="0">
                <a:ln>
                  <a:noFill/>
                </a:ln>
                <a:solidFill>
                  <a:srgbClr val="070154"/>
                </a:solidFill>
                <a:effectLst/>
                <a:uLnTx/>
                <a:uFillTx/>
                <a:latin typeface="Arial"/>
                <a:cs typeface="Arial"/>
              </a:rPr>
              <a:t>Educated client team on HCD and developed customer research plan to gather feedback for more impactful requirements and prioritization of roadmap initiative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880" i="0" u="none" strike="noStrike" kern="1200" cap="none" spc="0" normalizeH="0" baseline="0" noProof="0">
                <a:ln>
                  <a:noFill/>
                </a:ln>
                <a:solidFill>
                  <a:srgbClr val="070154"/>
                </a:solidFill>
                <a:effectLst/>
                <a:uLnTx/>
                <a:uFillTx/>
                <a:latin typeface="Arial"/>
                <a:cs typeface="Arial"/>
              </a:rPr>
              <a:t>Partnered with Client to define governance structures that would allow them to train their team on Agile methodologies without compromising their ability to deliver</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880" i="0" u="none" strike="noStrike" kern="1200" cap="none" spc="0" normalizeH="0" baseline="0" noProof="0">
                <a:ln>
                  <a:noFill/>
                </a:ln>
                <a:solidFill>
                  <a:srgbClr val="070154"/>
                </a:solidFill>
                <a:effectLst/>
                <a:uLnTx/>
                <a:uFillTx/>
                <a:latin typeface="Arial"/>
                <a:cs typeface="Arial"/>
              </a:rPr>
              <a:t>Delivered a tactical roadmap to begin a digital transformation and develop a microservice architecture platform</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880" i="0" u="none" strike="noStrike" kern="1200" cap="none" spc="0" normalizeH="0" baseline="0" noProof="0">
                <a:ln>
                  <a:noFill/>
                </a:ln>
                <a:solidFill>
                  <a:srgbClr val="070154"/>
                </a:solidFill>
                <a:effectLst/>
                <a:uLnTx/>
                <a:uFillTx/>
                <a:latin typeface="Arial"/>
                <a:cs typeface="Arial"/>
              </a:rPr>
              <a:t>Educated client resources on concepts critical to program success such as Agile scrum, HCD, and DevOps </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880" i="0" u="none" strike="noStrike" kern="1200" cap="none" spc="0" normalizeH="0" baseline="0" noProof="0">
                <a:ln>
                  <a:noFill/>
                </a:ln>
                <a:solidFill>
                  <a:srgbClr val="070154"/>
                </a:solidFill>
                <a:effectLst/>
                <a:uLnTx/>
                <a:uFillTx/>
                <a:latin typeface="Arial"/>
                <a:cs typeface="Arial"/>
              </a:rPr>
              <a:t>Delivered reference architecture to guide teams through the design and build of microservices, data platform, and sunsetting monolithic applications</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880" i="0" u="none" strike="noStrike" kern="1200" cap="none" spc="0" normalizeH="0" baseline="0" noProof="0">
              <a:ln>
                <a:noFill/>
              </a:ln>
              <a:solidFill>
                <a:srgbClr val="070154"/>
              </a:solidFill>
              <a:effectLst/>
              <a:uLnTx/>
              <a:uFillTx/>
              <a:latin typeface="Arial"/>
              <a:cs typeface="Arial"/>
            </a:endParaRPr>
          </a:p>
        </p:txBody>
      </p:sp>
    </p:spTree>
    <p:extLst>
      <p:ext uri="{BB962C8B-B14F-4D97-AF65-F5344CB8AC3E}">
        <p14:creationId xmlns:p14="http://schemas.microsoft.com/office/powerpoint/2010/main" val="16382509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66004-2689-2286-AF5F-6D1A52BAC37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B49763E-7D7B-3719-45D5-99D7EA23BB5B}"/>
              </a:ext>
            </a:extLst>
          </p:cNvPr>
          <p:cNvSpPr>
            <a:spLocks noGrp="1"/>
          </p:cNvSpPr>
          <p:nvPr>
            <p:ph type="ftr" sz="quarter" idx="24"/>
          </p:nvPr>
        </p:nvSpPr>
        <p:spPr/>
        <p:txBody>
          <a:bodyPr wrap="square"/>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450" i="0" u="none" strike="noStrike" kern="1200" cap="none" spc="0" normalizeH="0" baseline="0" noProof="0">
                <a:ln>
                  <a:noFill/>
                </a:ln>
                <a:solidFill>
                  <a:srgbClr val="070154"/>
                </a:solidFill>
                <a:effectLst/>
                <a:uLnTx/>
                <a:uFillTx/>
                <a:latin typeface="Arial"/>
                <a:cs typeface="Arial"/>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F2D4A91D-0369-2976-DD0B-FA6E343B85A7}"/>
              </a:ext>
            </a:extLst>
          </p:cNvPr>
          <p:cNvSpPr>
            <a:spLocks noGrp="1"/>
          </p:cNvSpPr>
          <p:nvPr>
            <p:ph type="sldNum" sz="quarter" idx="25"/>
          </p:nvPr>
        </p:nvSpPr>
        <p:spPr/>
        <p:txBody>
          <a:bodyPr wrap="square"/>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550" i="0" u="none" strike="noStrike" kern="1200" cap="none" spc="0" normalizeH="0" baseline="0" noProof="0">
                <a:ln>
                  <a:noFill/>
                </a:ln>
                <a:solidFill>
                  <a:srgbClr val="070154"/>
                </a:solidFill>
                <a:effectLst/>
                <a:uLnTx/>
                <a:uFillTx/>
                <a:latin typeface="Arial"/>
                <a:cs typeface="Arial"/>
              </a:rPr>
              <a:t>37</a:t>
            </a:r>
          </a:p>
        </p:txBody>
      </p:sp>
      <p:sp>
        <p:nvSpPr>
          <p:cNvPr id="18" name="Text Placeholder 17">
            <a:extLst>
              <a:ext uri="{FF2B5EF4-FFF2-40B4-BE49-F238E27FC236}">
                <a16:creationId xmlns:a16="http://schemas.microsoft.com/office/drawing/2014/main" id="{B35AEF19-6932-F1F2-BB19-B5A411F44B39}"/>
              </a:ext>
            </a:extLst>
          </p:cNvPr>
          <p:cNvSpPr>
            <a:spLocks noGrp="1"/>
          </p:cNvSpPr>
          <p:nvPr>
            <p:ph type="body" sz="quarter" idx="44"/>
          </p:nvPr>
        </p:nvSpPr>
        <p:spPr/>
        <p:txBody>
          <a:bodyPr wrap="square">
            <a:normAutofit/>
          </a:bodyPr>
          <a:lstStyle/>
          <a:p>
            <a:r>
              <a:rPr lang="en-US" sz="850">
                <a:solidFill>
                  <a:srgbClr val="50627A"/>
                </a:solidFill>
                <a:latin typeface="Arial"/>
                <a:cs typeface="Arial"/>
              </a:rPr>
              <a:t>CLIENT STORIES</a:t>
            </a:r>
          </a:p>
        </p:txBody>
      </p:sp>
      <p:sp>
        <p:nvSpPr>
          <p:cNvPr id="24" name="Text Placeholder 49">
            <a:extLst>
              <a:ext uri="{FF2B5EF4-FFF2-40B4-BE49-F238E27FC236}">
                <a16:creationId xmlns:a16="http://schemas.microsoft.com/office/drawing/2014/main" id="{C4D69052-B5D1-A2F6-1350-CBBACE9D1200}"/>
              </a:ext>
            </a:extLst>
          </p:cNvPr>
          <p:cNvSpPr>
            <a:spLocks noGrp="1"/>
          </p:cNvSpPr>
          <p:nvPr>
            <p:ph type="body" sz="quarter" idx="38"/>
          </p:nvPr>
        </p:nvSpPr>
        <p:spPr>
          <a:xfrm>
            <a:off x="6629400" y="4374879"/>
            <a:ext cx="803275" cy="269761"/>
          </a:xfrm>
        </p:spPr>
        <p:txBody>
          <a:bodyPr/>
          <a:lstStyle/>
          <a:p>
            <a:endParaRPr lang="en-US"/>
          </a:p>
        </p:txBody>
      </p:sp>
      <p:sp>
        <p:nvSpPr>
          <p:cNvPr id="25" name="Text Placeholder 30">
            <a:extLst>
              <a:ext uri="{FF2B5EF4-FFF2-40B4-BE49-F238E27FC236}">
                <a16:creationId xmlns:a16="http://schemas.microsoft.com/office/drawing/2014/main" id="{C2B07799-75C6-2506-E2D3-942A08470AD8}"/>
              </a:ext>
            </a:extLst>
          </p:cNvPr>
          <p:cNvSpPr>
            <a:spLocks noGrp="1"/>
          </p:cNvSpPr>
          <p:nvPr>
            <p:ph type="body" sz="quarter" idx="39"/>
          </p:nvPr>
        </p:nvSpPr>
        <p:spPr>
          <a:xfrm>
            <a:off x="6629400" y="3695700"/>
            <a:ext cx="4902200" cy="1600200"/>
          </a:xfrm>
          <a:solidFill>
            <a:srgbClr val="E8EEF8"/>
          </a:solidFill>
          <a:ln>
            <a:noFill/>
          </a:ln>
        </p:spPr>
        <p:txBody>
          <a:bodyPr wrap="square">
            <a:normAutofit/>
          </a:bodyPr>
          <a:lstStyle/>
          <a:p>
            <a:pPr>
              <a:spcAft>
                <a:spcPts val="1200"/>
              </a:spcAft>
            </a:pPr>
            <a:r>
              <a:rPr lang="en-US" sz="1200">
                <a:solidFill>
                  <a:srgbClr val="070154"/>
                </a:solidFill>
                <a:latin typeface="Arial"/>
                <a:cs typeface="Arial"/>
              </a:rPr>
              <a:t>I particularly appreciate all the thought leadership and discussion on various strategies helping us to move our agenda forward</a:t>
            </a:r>
            <a:br>
              <a:rPr lang="en-US" sz="1200">
                <a:solidFill>
                  <a:srgbClr val="070154"/>
                </a:solidFill>
                <a:latin typeface="Arial"/>
                <a:cs typeface="Arial"/>
              </a:rPr>
            </a:br>
            <a:r>
              <a:rPr lang="en-US" sz="1200">
                <a:solidFill>
                  <a:srgbClr val="070154"/>
                </a:solidFill>
                <a:latin typeface="Arial"/>
                <a:cs typeface="Arial"/>
              </a:rPr>
              <a:t>— Chief Information Officer</a:t>
            </a:r>
          </a:p>
        </p:txBody>
      </p:sp>
      <p:sp>
        <p:nvSpPr>
          <p:cNvPr id="34" name="Text Placeholder 30">
            <a:extLst>
              <a:ext uri="{FF2B5EF4-FFF2-40B4-BE49-F238E27FC236}">
                <a16:creationId xmlns:a16="http://schemas.microsoft.com/office/drawing/2014/main" id="{ECC5024D-2DD7-A0F1-6DC7-07214F07C28D}"/>
              </a:ext>
            </a:extLst>
          </p:cNvPr>
          <p:cNvSpPr txBox="1">
            <a:spLocks/>
          </p:cNvSpPr>
          <p:nvPr/>
        </p:nvSpPr>
        <p:spPr>
          <a:xfrm>
            <a:off x="6629400" y="1841500"/>
            <a:ext cx="4902200" cy="1600200"/>
          </a:xfrm>
          <a:prstGeom prst="rect">
            <a:avLst/>
          </a:prstGeom>
          <a:solidFill>
            <a:srgbClr val="E8EEF8"/>
          </a:solidFill>
          <a:ln>
            <a:noFill/>
          </a:ln>
        </p:spPr>
        <p:txBody>
          <a:bodyPr vert="horz" wrap="square" lIns="0" tIns="0" rIns="0" bIns="0" rtlCol="0" anchor="t" anchorCtr="0">
            <a:noAutofit/>
          </a:bodyPr>
          <a:lstStyle>
            <a:lvl1pPr marL="0" indent="0" algn="l" defTabSz="914400" rtl="0" eaLnBrk="1" latinLnBrk="0" hangingPunct="1">
              <a:lnSpc>
                <a:spcPct val="100000"/>
              </a:lnSpc>
              <a:spcBef>
                <a:spcPts val="0"/>
              </a:spcBef>
              <a:spcAft>
                <a:spcPts val="1000"/>
              </a:spcAft>
              <a:buFontTx/>
              <a:buNone/>
              <a:defRPr sz="16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200" b="0"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200" b="0"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200" b="0"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200" b="0"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200" b="0" i="0" kern="1200" cap="none" baseline="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i="0" u="none" strike="noStrike" kern="1200" cap="none" spc="0" normalizeH="0" baseline="0" noProof="0">
                <a:ln>
                  <a:noFill/>
                </a:ln>
                <a:solidFill>
                  <a:srgbClr val="070154"/>
                </a:solidFill>
                <a:effectLst/>
                <a:uLnTx/>
                <a:uFillTx/>
                <a:latin typeface="Arial"/>
                <a:cs typeface="Arial"/>
              </a:rPr>
              <a:t>The WMP team are dedicated, smart, and always top-notch professionals.</a:t>
            </a:r>
            <a:br>
              <a:rPr kumimoji="0" lang="en-US" sz="1200" i="0" u="none" strike="noStrike" kern="1200" cap="none" spc="0" normalizeH="0" baseline="0" noProof="0">
                <a:ln>
                  <a:noFill/>
                </a:ln>
                <a:solidFill>
                  <a:srgbClr val="070154"/>
                </a:solidFill>
                <a:effectLst/>
                <a:uLnTx/>
                <a:uFillTx/>
                <a:latin typeface="Arial"/>
                <a:cs typeface="Arial"/>
              </a:rPr>
            </a:br>
            <a:r>
              <a:rPr kumimoji="0" lang="en-US" sz="1200" i="0" u="none" strike="noStrike" kern="1200" cap="none" spc="0" normalizeH="0" baseline="0" noProof="0">
                <a:ln>
                  <a:noFill/>
                </a:ln>
                <a:solidFill>
                  <a:srgbClr val="070154"/>
                </a:solidFill>
                <a:effectLst/>
                <a:uLnTx/>
                <a:uFillTx/>
                <a:latin typeface="Arial"/>
                <a:cs typeface="Arial"/>
              </a:rPr>
              <a:t>— VP, Integrated Services, Laboratory Quality Solutions</a:t>
            </a:r>
          </a:p>
        </p:txBody>
      </p:sp>
      <p:sp>
        <p:nvSpPr>
          <p:cNvPr id="9" name="Text Placeholder 5">
            <a:extLst>
              <a:ext uri="{FF2B5EF4-FFF2-40B4-BE49-F238E27FC236}">
                <a16:creationId xmlns:a16="http://schemas.microsoft.com/office/drawing/2014/main" id="{D19EFFF1-4606-35AF-6A7D-54610C4AA897}"/>
              </a:ext>
            </a:extLst>
          </p:cNvPr>
          <p:cNvSpPr txBox="1">
            <a:spLocks/>
          </p:cNvSpPr>
          <p:nvPr/>
        </p:nvSpPr>
        <p:spPr>
          <a:xfrm>
            <a:off x="460374" y="1714500"/>
            <a:ext cx="5749925" cy="915491"/>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20" i="0" u="none" strike="noStrike" kern="1200" cap="none" spc="0" normalizeH="0" baseline="0" noProof="0">
                <a:ln>
                  <a:noFill/>
                </a:ln>
                <a:solidFill>
                  <a:srgbClr val="070154"/>
                </a:solidFill>
                <a:effectLst/>
                <a:uLnTx/>
                <a:uFillTx/>
                <a:latin typeface="Arial"/>
                <a:cs typeface="Arial"/>
              </a:rPr>
              <a:t>End of life technologies put a spotlight on risks to a key customer-facing application, prompting a rebuild and </a:t>
            </a:r>
            <a:r>
              <a:rPr kumimoji="0" lang="en-US" sz="1020" i="0" u="none" strike="noStrike" kern="1200" cap="none" spc="0" normalizeH="0" baseline="0" noProof="0" err="1">
                <a:ln>
                  <a:noFill/>
                </a:ln>
                <a:solidFill>
                  <a:srgbClr val="070154"/>
                </a:solidFill>
                <a:effectLst/>
                <a:uLnTx/>
                <a:uFillTx/>
                <a:latin typeface="Arial"/>
                <a:cs typeface="Arial"/>
              </a:rPr>
              <a:t>replatform</a:t>
            </a:r>
            <a:r>
              <a:rPr kumimoji="0" lang="en-US" sz="1020" i="0" u="none" strike="noStrike" kern="1200" cap="none" spc="0" normalizeH="0" baseline="0" noProof="0">
                <a:ln>
                  <a:noFill/>
                </a:ln>
                <a:solidFill>
                  <a:srgbClr val="070154"/>
                </a:solidFill>
                <a:effectLst/>
                <a:uLnTx/>
                <a:uFillTx/>
                <a:latin typeface="Arial"/>
                <a:cs typeface="Arial"/>
              </a:rPr>
              <a:t> onto AWS. West Monroe was tasked with assessing the feasibility of their goal and investment required to do so. From there, West Monroe led the creation of the development backlog, developed the solution, led testing efforts, and supported the deployment.</a:t>
            </a:r>
          </a:p>
        </p:txBody>
      </p:sp>
      <p:sp>
        <p:nvSpPr>
          <p:cNvPr id="10" name="Text Placeholder 17">
            <a:extLst>
              <a:ext uri="{FF2B5EF4-FFF2-40B4-BE49-F238E27FC236}">
                <a16:creationId xmlns:a16="http://schemas.microsoft.com/office/drawing/2014/main" id="{96B21708-7433-5AEB-200B-857AE2636BF0}"/>
              </a:ext>
            </a:extLst>
          </p:cNvPr>
          <p:cNvSpPr txBox="1">
            <a:spLocks/>
          </p:cNvSpPr>
          <p:nvPr/>
        </p:nvSpPr>
        <p:spPr>
          <a:xfrm>
            <a:off x="465138" y="556955"/>
            <a:ext cx="3602038" cy="206660"/>
          </a:xfrm>
          <a:prstGeom prst="rect">
            <a:avLst/>
          </a:prstGeom>
        </p:spPr>
        <p:txBody>
          <a:bodyPr vert="horz" wrap="square"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i="0" u="none" strike="noStrike" kern="1200" cap="all" spc="50" normalizeH="0" baseline="0" noProof="0">
                <a:ln>
                  <a:noFill/>
                </a:ln>
                <a:solidFill>
                  <a:srgbClr val="F900D3"/>
                </a:solidFill>
                <a:effectLst/>
                <a:uLnTx/>
                <a:uFillTx/>
                <a:latin typeface="Arial"/>
                <a:cs typeface="Arial"/>
              </a:rPr>
              <a:t>Healthcare Professional Association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i="0" u="none" strike="noStrike" kern="1200" cap="all" spc="0" normalizeH="0" baseline="0" noProof="0">
              <a:ln>
                <a:noFill/>
              </a:ln>
              <a:solidFill>
                <a:srgbClr val="F900D3"/>
              </a:solidFill>
              <a:effectLst/>
              <a:uLnTx/>
              <a:uFillTx/>
              <a:latin typeface="Arial"/>
              <a:cs typeface="Arial"/>
            </a:endParaRPr>
          </a:p>
        </p:txBody>
      </p:sp>
      <p:sp>
        <p:nvSpPr>
          <p:cNvPr id="11" name="Title 7">
            <a:extLst>
              <a:ext uri="{FF2B5EF4-FFF2-40B4-BE49-F238E27FC236}">
                <a16:creationId xmlns:a16="http://schemas.microsoft.com/office/drawing/2014/main" id="{CAAD6E54-B1A5-8D3E-D0FC-D2A6C02E2C2D}"/>
              </a:ext>
            </a:extLst>
          </p:cNvPr>
          <p:cNvSpPr txBox="1">
            <a:spLocks/>
          </p:cNvSpPr>
          <p:nvPr/>
        </p:nvSpPr>
        <p:spPr>
          <a:xfrm>
            <a:off x="460373" y="763616"/>
            <a:ext cx="5749925" cy="649260"/>
          </a:xfrm>
          <a:prstGeom prst="rect">
            <a:avLst/>
          </a:prstGeom>
        </p:spPr>
        <p:txBody>
          <a:bodyPr vert="horz" wrap="square"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50" i="0" u="none" strike="noStrike" kern="1200" cap="none" spc="0" normalizeH="0" baseline="0" noProof="0">
                <a:ln>
                  <a:noFill/>
                </a:ln>
                <a:solidFill>
                  <a:srgbClr val="070154"/>
                </a:solidFill>
                <a:effectLst/>
                <a:uLnTx/>
                <a:uFillTx/>
                <a:latin typeface="Arial"/>
                <a:cs typeface="Arial"/>
              </a:rPr>
              <a:t>How can we resolve customer security concerns due to end-of-life technologies? How can we move to the cloud?</a:t>
            </a:r>
          </a:p>
        </p:txBody>
      </p:sp>
      <p:sp>
        <p:nvSpPr>
          <p:cNvPr id="12" name="Text Placeholder 5">
            <a:extLst>
              <a:ext uri="{FF2B5EF4-FFF2-40B4-BE49-F238E27FC236}">
                <a16:creationId xmlns:a16="http://schemas.microsoft.com/office/drawing/2014/main" id="{E45E1DB7-D688-44B4-BBDB-1865088F929F}"/>
              </a:ext>
            </a:extLst>
          </p:cNvPr>
          <p:cNvSpPr txBox="1">
            <a:spLocks/>
          </p:cNvSpPr>
          <p:nvPr/>
        </p:nvSpPr>
        <p:spPr>
          <a:xfrm>
            <a:off x="460375" y="2820001"/>
            <a:ext cx="5749925" cy="2912677"/>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870" b="0" i="0" u="none" strike="noStrike" kern="1200" cap="none" spc="0" normalizeH="0" baseline="0" noProof="0">
                <a:ln>
                  <a:noFill/>
                </a:ln>
                <a:solidFill>
                  <a:srgbClr val="070154"/>
                </a:solidFill>
                <a:effectLst/>
                <a:uLnTx/>
                <a:uFillTx/>
                <a:latin typeface="Arial"/>
                <a:cs typeface="Arial"/>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870" i="0" u="none" strike="noStrike" kern="1200" cap="none" spc="0" normalizeH="0" baseline="0" noProof="0">
                <a:ln>
                  <a:noFill/>
                </a:ln>
                <a:solidFill>
                  <a:srgbClr val="070154"/>
                </a:solidFill>
                <a:effectLst/>
                <a:uLnTx/>
                <a:uFillTx/>
                <a:latin typeface="Arial"/>
                <a:cs typeface="Arial"/>
              </a:rPr>
              <a:t>Reviewed current state application architecture and desired future state; created backlog of epics, user stories, and acceptance criteria; prioritized backlog to meet project object and timeline.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870" i="0" u="none" strike="noStrike" kern="1200" cap="none" spc="0" normalizeH="0" baseline="0" noProof="0">
                <a:ln>
                  <a:noFill/>
                </a:ln>
                <a:solidFill>
                  <a:srgbClr val="070154"/>
                </a:solidFill>
                <a:effectLst/>
                <a:uLnTx/>
                <a:uFillTx/>
                <a:latin typeface="Arial"/>
                <a:cs typeface="Arial"/>
              </a:rPr>
              <a:t>Followed an Agile development methodology to build the solution in logical increments with business teams performing end user testing in parallel.</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870" i="0" u="none" strike="noStrike" kern="1200" cap="none" spc="0" normalizeH="0" baseline="0" noProof="0">
                <a:ln>
                  <a:noFill/>
                </a:ln>
                <a:solidFill>
                  <a:srgbClr val="070154"/>
                </a:solidFill>
                <a:effectLst/>
                <a:uLnTx/>
                <a:uFillTx/>
                <a:latin typeface="Arial"/>
                <a:cs typeface="Arial"/>
              </a:rPr>
              <a:t>Removed aging and end-of-life technology from a critical customer-facing application while making significant improvements to application security and workflow without changing the project timeline or overall investment required.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870" i="0" u="none" strike="noStrike" kern="1200" cap="none" spc="0" normalizeH="0" baseline="0" noProof="0">
                <a:ln>
                  <a:noFill/>
                </a:ln>
                <a:solidFill>
                  <a:srgbClr val="070154"/>
                </a:solidFill>
                <a:effectLst/>
                <a:uLnTx/>
                <a:uFillTx/>
                <a:latin typeface="Arial"/>
                <a:cs typeface="Arial"/>
              </a:rPr>
              <a:t>Performed knowledge transfer and transition activities to ensure a seamless deployment and operation of the new solution.</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870" i="0" u="none" strike="noStrike" kern="1200" cap="none" spc="0" normalizeH="0" baseline="0" noProof="0">
                <a:ln>
                  <a:noFill/>
                </a:ln>
                <a:solidFill>
                  <a:srgbClr val="070154"/>
                </a:solidFill>
                <a:effectLst/>
                <a:uLnTx/>
                <a:uFillTx/>
                <a:latin typeface="Arial"/>
                <a:cs typeface="Arial"/>
              </a:rPr>
              <a:t>West Monroe guidance helped establish repeatable development patterns so that future projects can deliver consistent results in a faster timeframe.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870" i="0" u="none" strike="noStrike" kern="1200" cap="none" spc="0" normalizeH="0" baseline="0" noProof="0">
                <a:ln>
                  <a:noFill/>
                </a:ln>
                <a:solidFill>
                  <a:srgbClr val="070154"/>
                </a:solidFill>
                <a:effectLst/>
                <a:uLnTx/>
                <a:uFillTx/>
                <a:latin typeface="Arial"/>
                <a:cs typeface="Arial"/>
              </a:rPr>
              <a:t>Improved knowledge and understanding of the application functionality and its implementation through user stories and coding practices, which will make it easier to support and enhance the application in the coming years.</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870" i="0" u="none" strike="noStrike" kern="1200" cap="none" spc="0" normalizeH="0" baseline="0" noProof="0">
              <a:ln>
                <a:noFill/>
              </a:ln>
              <a:solidFill>
                <a:srgbClr val="070154"/>
              </a:solidFill>
              <a:effectLst/>
              <a:uLnTx/>
              <a:uFillTx/>
              <a:latin typeface="Arial"/>
              <a:cs typeface="Arial"/>
            </a:endParaRPr>
          </a:p>
        </p:txBody>
      </p:sp>
    </p:spTree>
    <p:extLst>
      <p:ext uri="{BB962C8B-B14F-4D97-AF65-F5344CB8AC3E}">
        <p14:creationId xmlns:p14="http://schemas.microsoft.com/office/powerpoint/2010/main" val="40197525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2964E-D716-96EF-777E-5D35D10368BD}"/>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F8891E3B-E79F-CCCD-8FD6-75CD0E2DB520}"/>
              </a:ext>
            </a:extLst>
          </p:cNvPr>
          <p:cNvPicPr>
            <a:picLocks noChangeAspect="1"/>
          </p:cNvPicPr>
          <p:nvPr/>
        </p:nvPicPr>
        <p:blipFill>
          <a:blip r:embed="rId3"/>
          <a:stretch>
            <a:fillRect/>
          </a:stretch>
        </p:blipFill>
        <p:spPr>
          <a:xfrm>
            <a:off x="6616700" y="763615"/>
            <a:ext cx="1622819" cy="2852745"/>
          </a:xfrm>
          <a:prstGeom prst="rect">
            <a:avLst/>
          </a:prstGeom>
          <a:ln w="9525">
            <a:solidFill>
              <a:schemeClr val="tx1"/>
            </a:solidFill>
          </a:ln>
          <a:effectLst/>
        </p:spPr>
      </p:pic>
      <p:sp>
        <p:nvSpPr>
          <p:cNvPr id="3" name="Footer Placeholder 2">
            <a:extLst>
              <a:ext uri="{FF2B5EF4-FFF2-40B4-BE49-F238E27FC236}">
                <a16:creationId xmlns:a16="http://schemas.microsoft.com/office/drawing/2014/main" id="{25C0CCB4-E9F0-1118-3728-B370A0A9086B}"/>
              </a:ext>
            </a:extLst>
          </p:cNvPr>
          <p:cNvSpPr>
            <a:spLocks noGrp="1"/>
          </p:cNvSpPr>
          <p:nvPr>
            <p:ph type="ftr" sz="quarter" idx="24"/>
          </p:nvPr>
        </p:nvSpPr>
        <p:spPr>
          <a:xfrm>
            <a:off x="4321019" y="6400798"/>
            <a:ext cx="7102834" cy="167949"/>
          </a:xfrm>
        </p:spPr>
        <p:txBody>
          <a:bodyPr wrap="square"/>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450" i="0" u="none" strike="noStrike" kern="1200" cap="none" spc="0" normalizeH="0" baseline="0" noProof="0">
                <a:ln>
                  <a:noFill/>
                </a:ln>
                <a:solidFill>
                  <a:srgbClr val="070154"/>
                </a:solidFill>
                <a:effectLst/>
                <a:uLnTx/>
                <a:uFillTx/>
                <a:latin typeface="Arial"/>
                <a:cs typeface="Arial"/>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EF127635-146B-0A4F-E508-1020C7B750B8}"/>
              </a:ext>
            </a:extLst>
          </p:cNvPr>
          <p:cNvSpPr>
            <a:spLocks noGrp="1"/>
          </p:cNvSpPr>
          <p:nvPr>
            <p:ph type="sldNum" sz="quarter" idx="25"/>
          </p:nvPr>
        </p:nvSpPr>
        <p:spPr>
          <a:xfrm>
            <a:off x="11509578" y="6400799"/>
            <a:ext cx="218871" cy="167949"/>
          </a:xfrm>
        </p:spPr>
        <p:txBody>
          <a:bodyPr wrap="square"/>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550" i="0" u="none" strike="noStrike" kern="1200" cap="none" spc="0" normalizeH="0" baseline="0" noProof="0">
                <a:ln>
                  <a:noFill/>
                </a:ln>
                <a:solidFill>
                  <a:srgbClr val="070154"/>
                </a:solidFill>
                <a:effectLst/>
                <a:uLnTx/>
                <a:uFillTx/>
                <a:latin typeface="Arial"/>
                <a:cs typeface="Arial"/>
              </a:rPr>
              <a:t>38</a:t>
            </a:r>
          </a:p>
        </p:txBody>
      </p:sp>
      <p:sp>
        <p:nvSpPr>
          <p:cNvPr id="22" name="Text Placeholder 21">
            <a:extLst>
              <a:ext uri="{FF2B5EF4-FFF2-40B4-BE49-F238E27FC236}">
                <a16:creationId xmlns:a16="http://schemas.microsoft.com/office/drawing/2014/main" id="{BA911CFE-3040-0009-4EEC-1D143E74C326}"/>
              </a:ext>
            </a:extLst>
          </p:cNvPr>
          <p:cNvSpPr>
            <a:spLocks noGrp="1"/>
          </p:cNvSpPr>
          <p:nvPr>
            <p:ph type="body" sz="quarter" idx="44"/>
          </p:nvPr>
        </p:nvSpPr>
        <p:spPr/>
        <p:txBody>
          <a:bodyPr wrap="square">
            <a:normAutofit/>
          </a:bodyPr>
          <a:lstStyle/>
          <a:p>
            <a:r>
              <a:rPr lang="en-US" sz="850">
                <a:solidFill>
                  <a:srgbClr val="50627A"/>
                </a:solidFill>
                <a:latin typeface="Arial"/>
                <a:cs typeface="Arial"/>
              </a:rPr>
              <a:t>CLIENT STORIES</a:t>
            </a:r>
          </a:p>
        </p:txBody>
      </p:sp>
      <p:pic>
        <p:nvPicPr>
          <p:cNvPr id="23" name="Picture 22">
            <a:extLst>
              <a:ext uri="{FF2B5EF4-FFF2-40B4-BE49-F238E27FC236}">
                <a16:creationId xmlns:a16="http://schemas.microsoft.com/office/drawing/2014/main" id="{3EA08707-D620-1E90-A921-1462E54F1604}"/>
              </a:ext>
            </a:extLst>
          </p:cNvPr>
          <p:cNvPicPr>
            <a:picLocks noChangeAspect="1"/>
          </p:cNvPicPr>
          <p:nvPr/>
        </p:nvPicPr>
        <p:blipFill>
          <a:blip r:embed="rId4"/>
          <a:stretch>
            <a:fillRect/>
          </a:stretch>
        </p:blipFill>
        <p:spPr>
          <a:xfrm>
            <a:off x="8847427" y="763615"/>
            <a:ext cx="2290472" cy="1729586"/>
          </a:xfrm>
          <a:prstGeom prst="rect">
            <a:avLst/>
          </a:prstGeom>
          <a:ln w="9525">
            <a:solidFill>
              <a:schemeClr val="tx1"/>
            </a:solidFill>
          </a:ln>
          <a:effectLst/>
        </p:spPr>
      </p:pic>
      <p:pic>
        <p:nvPicPr>
          <p:cNvPr id="24" name="Picture 23">
            <a:extLst>
              <a:ext uri="{FF2B5EF4-FFF2-40B4-BE49-F238E27FC236}">
                <a16:creationId xmlns:a16="http://schemas.microsoft.com/office/drawing/2014/main" id="{9DD6E33F-4060-1253-C3DA-64849893DD26}"/>
              </a:ext>
            </a:extLst>
          </p:cNvPr>
          <p:cNvPicPr>
            <a:picLocks noChangeAspect="1"/>
          </p:cNvPicPr>
          <p:nvPr/>
        </p:nvPicPr>
        <p:blipFill>
          <a:blip r:embed="rId5"/>
          <a:stretch>
            <a:fillRect/>
          </a:stretch>
        </p:blipFill>
        <p:spPr>
          <a:xfrm>
            <a:off x="7543406" y="3187245"/>
            <a:ext cx="1622819" cy="2832556"/>
          </a:xfrm>
          <a:prstGeom prst="rect">
            <a:avLst/>
          </a:prstGeom>
          <a:ln w="9525">
            <a:solidFill>
              <a:schemeClr val="tx1"/>
            </a:solidFill>
          </a:ln>
          <a:effectLst/>
        </p:spPr>
      </p:pic>
      <p:pic>
        <p:nvPicPr>
          <p:cNvPr id="29" name="Picture 28">
            <a:extLst>
              <a:ext uri="{FF2B5EF4-FFF2-40B4-BE49-F238E27FC236}">
                <a16:creationId xmlns:a16="http://schemas.microsoft.com/office/drawing/2014/main" id="{B95B4869-C5F1-E3BF-D2BD-D0730328A37A}"/>
              </a:ext>
            </a:extLst>
          </p:cNvPr>
          <p:cNvPicPr>
            <a:picLocks noChangeAspect="1"/>
          </p:cNvPicPr>
          <p:nvPr/>
        </p:nvPicPr>
        <p:blipFill>
          <a:blip r:embed="rId6"/>
          <a:stretch>
            <a:fillRect/>
          </a:stretch>
        </p:blipFill>
        <p:spPr>
          <a:xfrm>
            <a:off x="9437977" y="2965837"/>
            <a:ext cx="2290472" cy="3053963"/>
          </a:xfrm>
          <a:prstGeom prst="rect">
            <a:avLst/>
          </a:prstGeom>
          <a:ln w="9525">
            <a:solidFill>
              <a:schemeClr val="tx1"/>
            </a:solidFill>
          </a:ln>
          <a:effectLst/>
        </p:spPr>
      </p:pic>
      <p:sp>
        <p:nvSpPr>
          <p:cNvPr id="2" name="Text Placeholder 5">
            <a:extLst>
              <a:ext uri="{FF2B5EF4-FFF2-40B4-BE49-F238E27FC236}">
                <a16:creationId xmlns:a16="http://schemas.microsoft.com/office/drawing/2014/main" id="{7CA97318-89BD-C99B-F3A5-0370CD5A3988}"/>
              </a:ext>
            </a:extLst>
          </p:cNvPr>
          <p:cNvSpPr txBox="1">
            <a:spLocks/>
          </p:cNvSpPr>
          <p:nvPr/>
        </p:nvSpPr>
        <p:spPr>
          <a:xfrm>
            <a:off x="460374" y="1714500"/>
            <a:ext cx="5749925" cy="915491"/>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050" i="0" u="none" strike="noStrike" kern="1200" cap="none" spc="0" normalizeH="0" baseline="0" noProof="0">
                <a:ln>
                  <a:noFill/>
                </a:ln>
                <a:solidFill>
                  <a:srgbClr val="070154"/>
                </a:solidFill>
                <a:effectLst/>
                <a:uLnTx/>
                <a:uFillTx/>
                <a:latin typeface="Arial"/>
                <a:cs typeface="Arial"/>
              </a:rPr>
              <a:t>The application was running on outdated technologies which could not support a mobile environment and had data integrity issues due to logic being split between code and stored procedures.</a:t>
            </a:r>
          </a:p>
        </p:txBody>
      </p:sp>
      <p:sp>
        <p:nvSpPr>
          <p:cNvPr id="5" name="Text Placeholder 17">
            <a:extLst>
              <a:ext uri="{FF2B5EF4-FFF2-40B4-BE49-F238E27FC236}">
                <a16:creationId xmlns:a16="http://schemas.microsoft.com/office/drawing/2014/main" id="{E8C90BBC-29A3-FDB3-7BDE-9B0A8C53763D}"/>
              </a:ext>
            </a:extLst>
          </p:cNvPr>
          <p:cNvSpPr txBox="1">
            <a:spLocks/>
          </p:cNvSpPr>
          <p:nvPr/>
        </p:nvSpPr>
        <p:spPr>
          <a:xfrm>
            <a:off x="465138" y="556955"/>
            <a:ext cx="3602038" cy="206660"/>
          </a:xfrm>
          <a:prstGeom prst="rect">
            <a:avLst/>
          </a:prstGeom>
        </p:spPr>
        <p:txBody>
          <a:bodyPr vert="horz" wrap="square"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i="0" u="none" strike="noStrike" kern="1200" cap="all" spc="0" normalizeH="0" baseline="0" noProof="0">
                <a:ln>
                  <a:noFill/>
                </a:ln>
                <a:solidFill>
                  <a:srgbClr val="F900D3"/>
                </a:solidFill>
                <a:effectLst/>
                <a:uLnTx/>
                <a:uFillTx/>
                <a:latin typeface="Arial"/>
                <a:cs typeface="Arial"/>
              </a:rPr>
              <a:t>Renovo Solutions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i="0" u="none" strike="noStrike" kern="1200" cap="all" spc="0" normalizeH="0" baseline="0" noProof="0">
              <a:ln>
                <a:noFill/>
              </a:ln>
              <a:solidFill>
                <a:srgbClr val="F900D3"/>
              </a:solidFill>
              <a:effectLst/>
              <a:uLnTx/>
              <a:uFillTx/>
              <a:latin typeface="Arial"/>
              <a:cs typeface="Arial"/>
            </a:endParaRPr>
          </a:p>
        </p:txBody>
      </p:sp>
      <p:sp>
        <p:nvSpPr>
          <p:cNvPr id="7" name="Title 7">
            <a:extLst>
              <a:ext uri="{FF2B5EF4-FFF2-40B4-BE49-F238E27FC236}">
                <a16:creationId xmlns:a16="http://schemas.microsoft.com/office/drawing/2014/main" id="{5BB7793A-E39C-8B59-9E83-7C5344DEE38A}"/>
              </a:ext>
            </a:extLst>
          </p:cNvPr>
          <p:cNvSpPr txBox="1">
            <a:spLocks/>
          </p:cNvSpPr>
          <p:nvPr/>
        </p:nvSpPr>
        <p:spPr>
          <a:xfrm>
            <a:off x="460373" y="763616"/>
            <a:ext cx="5749925" cy="649260"/>
          </a:xfrm>
          <a:prstGeom prst="rect">
            <a:avLst/>
          </a:prstGeom>
        </p:spPr>
        <p:txBody>
          <a:bodyPr vert="horz" wrap="square"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900" i="0" u="none" strike="noStrike" kern="1200" cap="none" spc="0" normalizeH="0" baseline="0" noProof="0">
                <a:ln>
                  <a:noFill/>
                </a:ln>
                <a:solidFill>
                  <a:srgbClr val="070154"/>
                </a:solidFill>
                <a:effectLst/>
                <a:uLnTx/>
                <a:uFillTx/>
                <a:latin typeface="Arial"/>
                <a:cs typeface="Arial"/>
              </a:rPr>
              <a:t>How can we modernize a platform running on legacy technologies without disrupting its active userbase?</a:t>
            </a:r>
          </a:p>
        </p:txBody>
      </p:sp>
      <p:sp>
        <p:nvSpPr>
          <p:cNvPr id="9" name="Text Placeholder 5">
            <a:extLst>
              <a:ext uri="{FF2B5EF4-FFF2-40B4-BE49-F238E27FC236}">
                <a16:creationId xmlns:a16="http://schemas.microsoft.com/office/drawing/2014/main" id="{A487906A-01F2-BEFC-0951-A90102368F34}"/>
              </a:ext>
            </a:extLst>
          </p:cNvPr>
          <p:cNvSpPr txBox="1">
            <a:spLocks/>
          </p:cNvSpPr>
          <p:nvPr/>
        </p:nvSpPr>
        <p:spPr>
          <a:xfrm>
            <a:off x="460375" y="2628900"/>
            <a:ext cx="5749925" cy="2743200"/>
          </a:xfrm>
          <a:prstGeom prst="rect">
            <a:avLst/>
          </a:prstGeom>
        </p:spPr>
        <p:txBody>
          <a:bodyPr vert="horz" wrap="square" lIns="0" tIns="0" rIns="0" bIns="0" rtlCol="0">
            <a:norm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950" b="0" i="0" u="none" strike="noStrike" kern="1200" cap="none" spc="0" normalizeH="0" baseline="0" noProof="0">
                <a:ln>
                  <a:noFill/>
                </a:ln>
                <a:solidFill>
                  <a:srgbClr val="070154"/>
                </a:solidFill>
                <a:effectLst/>
                <a:uLnTx/>
                <a:uFillTx/>
                <a:latin typeface="Arial"/>
                <a:cs typeface="Arial"/>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Partnered with end users to streamline application flow and consolidate business logic, eliminating conflicting rule sets that caused data integrity issues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Implemented coarse-grained, reusable code to consolidate and deduplicate business rules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Converted multiple applications to mobile responsive designs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Updated multiple versions to bring software versions back up to long term support</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Eliminated legacy code that was causing confusion and extended development times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950" i="0" u="none" strike="noStrike" kern="1200" cap="none" spc="0" normalizeH="0" baseline="0" noProof="0">
                <a:ln>
                  <a:noFill/>
                </a:ln>
                <a:solidFill>
                  <a:srgbClr val="070154"/>
                </a:solidFill>
                <a:effectLst/>
                <a:uLnTx/>
                <a:uFillTx/>
                <a:latin typeface="Arial"/>
                <a:cs typeface="Arial"/>
              </a:rPr>
              <a:t>Enabled reduced maintenance costs by centralizing logic and componentizing user interface elements</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950" i="0" u="none" strike="noStrike" kern="1200" cap="none" spc="0" normalizeH="0" baseline="0" noProof="0">
              <a:ln>
                <a:noFill/>
              </a:ln>
              <a:solidFill>
                <a:srgbClr val="070154"/>
              </a:solidFill>
              <a:effectLst/>
              <a:uLnTx/>
              <a:uFillTx/>
              <a:latin typeface="Arial"/>
              <a:cs typeface="Arial"/>
            </a:endParaRPr>
          </a:p>
        </p:txBody>
      </p:sp>
    </p:spTree>
    <p:extLst>
      <p:ext uri="{BB962C8B-B14F-4D97-AF65-F5344CB8AC3E}">
        <p14:creationId xmlns:p14="http://schemas.microsoft.com/office/powerpoint/2010/main" val="8227475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EEFD4-A267-6D02-6EBC-906C04B09EA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90D1D1A-CAF8-93D3-E43C-B7401D7E6410}"/>
              </a:ext>
            </a:extLst>
          </p:cNvPr>
          <p:cNvSpPr>
            <a:spLocks noGrp="1"/>
          </p:cNvSpPr>
          <p:nvPr>
            <p:ph type="ftr" sz="quarter" idx="24"/>
          </p:nvPr>
        </p:nvSpPr>
        <p:spPr>
          <a:xfrm>
            <a:off x="4321019" y="6400798"/>
            <a:ext cx="7102834" cy="167949"/>
          </a:xfrm>
        </p:spPr>
        <p:txBody>
          <a:bodyPr/>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E97D0E0B-A7D4-6F1E-4D8A-307E7661B3F7}"/>
              </a:ext>
            </a:extLst>
          </p:cNvPr>
          <p:cNvSpPr>
            <a:spLocks noGrp="1"/>
          </p:cNvSpPr>
          <p:nvPr>
            <p:ph type="sldNum" sz="quarter" idx="25"/>
          </p:nvPr>
        </p:nvSpPr>
        <p:spPr>
          <a:xfrm>
            <a:off x="11509578" y="6400799"/>
            <a:ext cx="218871" cy="167949"/>
          </a:xfrm>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62</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22" name="Text Placeholder 21">
            <a:extLst>
              <a:ext uri="{FF2B5EF4-FFF2-40B4-BE49-F238E27FC236}">
                <a16:creationId xmlns:a16="http://schemas.microsoft.com/office/drawing/2014/main" id="{3309DCA2-B4F9-89DF-399D-EF9731C972A3}"/>
              </a:ext>
            </a:extLst>
          </p:cNvPr>
          <p:cNvSpPr>
            <a:spLocks noGrp="1"/>
          </p:cNvSpPr>
          <p:nvPr>
            <p:ph type="body" sz="quarter" idx="44"/>
          </p:nvPr>
        </p:nvSpPr>
        <p:spPr/>
        <p:txBody>
          <a:bodyPr/>
          <a:lstStyle/>
          <a:p>
            <a:r>
              <a:rPr lang="en-US"/>
              <a:t>CLIENT STORIES</a:t>
            </a:r>
          </a:p>
        </p:txBody>
      </p:sp>
      <p:pic>
        <p:nvPicPr>
          <p:cNvPr id="2" name="Picture 3" descr="Hulu - Wikipedia">
            <a:extLst>
              <a:ext uri="{FF2B5EF4-FFF2-40B4-BE49-F238E27FC236}">
                <a16:creationId xmlns:a16="http://schemas.microsoft.com/office/drawing/2014/main" id="{35CF9DDB-A9C6-4D6B-F924-DFCBA573F4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5983" y="1038334"/>
            <a:ext cx="742466" cy="24381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3203431-CD65-D3BE-79AF-1725530892DB}"/>
              </a:ext>
            </a:extLst>
          </p:cNvPr>
          <p:cNvPicPr>
            <a:picLocks noChangeAspect="1"/>
          </p:cNvPicPr>
          <p:nvPr/>
        </p:nvPicPr>
        <p:blipFill>
          <a:blip r:embed="rId4">
            <a:extLst>
              <a:ext uri="{28A0092B-C50C-407E-A947-70E740481C1C}">
                <a14:useLocalDpi xmlns:a14="http://schemas.microsoft.com/office/drawing/2010/main" val="0"/>
              </a:ext>
            </a:extLst>
          </a:blip>
          <a:srcRect t="64" b="64"/>
          <a:stretch/>
        </p:blipFill>
        <p:spPr>
          <a:xfrm>
            <a:off x="6210300" y="1350741"/>
            <a:ext cx="5518150" cy="4669059"/>
          </a:xfrm>
          <a:prstGeom prst="rect">
            <a:avLst/>
          </a:prstGeom>
        </p:spPr>
      </p:pic>
      <p:sp>
        <p:nvSpPr>
          <p:cNvPr id="7" name="Text Placeholder 5">
            <a:extLst>
              <a:ext uri="{FF2B5EF4-FFF2-40B4-BE49-F238E27FC236}">
                <a16:creationId xmlns:a16="http://schemas.microsoft.com/office/drawing/2014/main" id="{CFD5EC7B-CEF5-22E8-8090-89CA7A8D5CCC}"/>
              </a:ext>
            </a:extLst>
          </p:cNvPr>
          <p:cNvSpPr txBox="1">
            <a:spLocks/>
          </p:cNvSpPr>
          <p:nvPr/>
        </p:nvSpPr>
        <p:spPr>
          <a:xfrm>
            <a:off x="460374" y="1716778"/>
            <a:ext cx="5749925" cy="91321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Calibri" panose="020F0502020204030204" pitchFamily="34" charset="0"/>
              </a:rPr>
              <a:t>Hulu’s Billing &amp; Subscriptions team wanted help simplifying the way the multitude of Hulu platforms manage and communicate information about user subscriptions</a:t>
            </a:r>
          </a:p>
        </p:txBody>
      </p:sp>
      <p:sp>
        <p:nvSpPr>
          <p:cNvPr id="9" name="Text Placeholder 17">
            <a:extLst>
              <a:ext uri="{FF2B5EF4-FFF2-40B4-BE49-F238E27FC236}">
                <a16:creationId xmlns:a16="http://schemas.microsoft.com/office/drawing/2014/main" id="{6C1530B9-5E42-3572-F89F-D12FF2D2B4D9}"/>
              </a:ext>
            </a:extLst>
          </p:cNvPr>
          <p:cNvSpPr txBox="1">
            <a:spLocks/>
          </p:cNvSpPr>
          <p:nvPr/>
        </p:nvSpPr>
        <p:spPr>
          <a:xfrm>
            <a:off x="465138" y="556955"/>
            <a:ext cx="3602038" cy="20666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Hulu</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Title 7">
            <a:extLst>
              <a:ext uri="{FF2B5EF4-FFF2-40B4-BE49-F238E27FC236}">
                <a16:creationId xmlns:a16="http://schemas.microsoft.com/office/drawing/2014/main" id="{84FA4E17-7545-9280-8020-F25C6F68369C}"/>
              </a:ext>
            </a:extLst>
          </p:cNvPr>
          <p:cNvSpPr txBox="1">
            <a:spLocks/>
          </p:cNvSpPr>
          <p:nvPr/>
        </p:nvSpPr>
        <p:spPr>
          <a:xfrm>
            <a:off x="460373" y="763616"/>
            <a:ext cx="5749925" cy="64926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Subscriptions – </a:t>
            </a:r>
            <a:b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br>
            <a: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Orchestrating multi-platform billing</a:t>
            </a:r>
          </a:p>
        </p:txBody>
      </p:sp>
      <p:sp>
        <p:nvSpPr>
          <p:cNvPr id="11" name="Text Placeholder 5">
            <a:extLst>
              <a:ext uri="{FF2B5EF4-FFF2-40B4-BE49-F238E27FC236}">
                <a16:creationId xmlns:a16="http://schemas.microsoft.com/office/drawing/2014/main" id="{D3903281-BDB5-DC0C-1CD2-A8E9774CFDEC}"/>
              </a:ext>
            </a:extLst>
          </p:cNvPr>
          <p:cNvSpPr txBox="1">
            <a:spLocks/>
          </p:cNvSpPr>
          <p:nvPr/>
        </p:nvSpPr>
        <p:spPr>
          <a:xfrm>
            <a:off x="460376" y="2328296"/>
            <a:ext cx="5372534" cy="291267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1200" b="1" i="0" u="none" strike="noStrike" kern="1200" cap="none" spc="0" normalizeH="0" baseline="0" noProof="0">
                <a:ln>
                  <a:noFill/>
                </a:ln>
                <a:solidFill>
                  <a:srgbClr val="0047FF"/>
                </a:solidFill>
                <a:effectLst/>
                <a:uLnTx/>
                <a:uFillTx/>
                <a:latin typeface="Arial" panose="020B0604020202020204"/>
                <a:ea typeface="Roboto" panose="02000000000000000000" pitchFamily="2" charset="0"/>
                <a:cs typeface="Segoe UI" panose="020B0502040204020203" pitchFamily="34" charset="0"/>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Created a domain model to help developers and stakeholders create a shared understanding and ubiquitous language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Designed the future state architecture and migration plan to modernize the platform architecture over time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Update both the technology and the business logic for core APIs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Centralized the business logic for subscriptions services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Worked with Hulu teams to instill best practices to support the platform over time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Improved test coverage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Revamped onboarding materials to quickly ramp up new team members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Recommended improvements in communication throughout the billing &amp; subscription group</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pic>
        <p:nvPicPr>
          <p:cNvPr id="20" name="Picture 19" descr="A picture containing text, remote, controller, indoor&#10;&#10;Description automatically generated">
            <a:extLst>
              <a:ext uri="{FF2B5EF4-FFF2-40B4-BE49-F238E27FC236}">
                <a16:creationId xmlns:a16="http://schemas.microsoft.com/office/drawing/2014/main" id="{AF07B823-6AF1-A806-8A3C-748C2FC3174C}"/>
              </a:ext>
            </a:extLst>
          </p:cNvPr>
          <p:cNvPicPr>
            <a:picLocks noChangeAspect="1"/>
          </p:cNvPicPr>
          <p:nvPr/>
        </p:nvPicPr>
        <p:blipFill>
          <a:blip r:embed="rId5"/>
          <a:srcRect r="13676" b="15583"/>
          <a:stretch/>
        </p:blipFill>
        <p:spPr>
          <a:xfrm>
            <a:off x="14438376" y="1350742"/>
            <a:ext cx="2456434" cy="2078456"/>
          </a:xfrm>
          <a:prstGeom prst="rect">
            <a:avLst/>
          </a:prstGeom>
        </p:spPr>
      </p:pic>
    </p:spTree>
    <p:extLst>
      <p:ext uri="{BB962C8B-B14F-4D97-AF65-F5344CB8AC3E}">
        <p14:creationId xmlns:p14="http://schemas.microsoft.com/office/powerpoint/2010/main" val="11463069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5BF72-3C7A-9439-E01B-DE013D9C8B9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E8377E9-F06D-70FD-B6B4-581A7CDAAC1A}"/>
              </a:ext>
            </a:extLst>
          </p:cNvPr>
          <p:cNvSpPr>
            <a:spLocks noGrp="1"/>
          </p:cNvSpPr>
          <p:nvPr>
            <p:ph type="ftr" sz="quarter" idx="24"/>
          </p:nvPr>
        </p:nvSpPr>
        <p:spPr>
          <a:xfrm>
            <a:off x="4321019" y="6400798"/>
            <a:ext cx="7102834" cy="167949"/>
          </a:xfrm>
        </p:spPr>
        <p:txBody>
          <a:bodyPr/>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7BE81F2D-6296-68FC-727C-222185BE31FE}"/>
              </a:ext>
            </a:extLst>
          </p:cNvPr>
          <p:cNvSpPr>
            <a:spLocks noGrp="1"/>
          </p:cNvSpPr>
          <p:nvPr>
            <p:ph type="sldNum" sz="quarter" idx="25"/>
          </p:nvPr>
        </p:nvSpPr>
        <p:spPr>
          <a:xfrm>
            <a:off x="11509578" y="6400799"/>
            <a:ext cx="218871" cy="167949"/>
          </a:xfrm>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63</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22" name="Text Placeholder 21">
            <a:extLst>
              <a:ext uri="{FF2B5EF4-FFF2-40B4-BE49-F238E27FC236}">
                <a16:creationId xmlns:a16="http://schemas.microsoft.com/office/drawing/2014/main" id="{E46C51FE-3404-3844-D24F-739E5BB323BF}"/>
              </a:ext>
            </a:extLst>
          </p:cNvPr>
          <p:cNvSpPr>
            <a:spLocks noGrp="1"/>
          </p:cNvSpPr>
          <p:nvPr>
            <p:ph type="body" sz="quarter" idx="44"/>
          </p:nvPr>
        </p:nvSpPr>
        <p:spPr/>
        <p:txBody>
          <a:bodyPr/>
          <a:lstStyle/>
          <a:p>
            <a:r>
              <a:rPr lang="en-US"/>
              <a:t>CLIENT STORIES</a:t>
            </a:r>
          </a:p>
        </p:txBody>
      </p:sp>
      <p:pic>
        <p:nvPicPr>
          <p:cNvPr id="7" name="Picture 6" descr="Graphical user interface, application&#10;&#10;Description automatically generated">
            <a:extLst>
              <a:ext uri="{FF2B5EF4-FFF2-40B4-BE49-F238E27FC236}">
                <a16:creationId xmlns:a16="http://schemas.microsoft.com/office/drawing/2014/main" id="{DF0212CD-C5F7-70AF-D3FE-34FDA90266CD}"/>
              </a:ext>
            </a:extLst>
          </p:cNvPr>
          <p:cNvPicPr>
            <a:picLocks noChangeAspect="1"/>
          </p:cNvPicPr>
          <p:nvPr/>
        </p:nvPicPr>
        <p:blipFill>
          <a:blip r:embed="rId3"/>
          <a:stretch>
            <a:fillRect/>
          </a:stretch>
        </p:blipFill>
        <p:spPr>
          <a:xfrm>
            <a:off x="6265332" y="1216150"/>
            <a:ext cx="6124697" cy="3685056"/>
          </a:xfrm>
          <a:prstGeom prst="rect">
            <a:avLst/>
          </a:prstGeom>
        </p:spPr>
      </p:pic>
      <p:sp>
        <p:nvSpPr>
          <p:cNvPr id="9" name="Text Placeholder 5">
            <a:extLst>
              <a:ext uri="{FF2B5EF4-FFF2-40B4-BE49-F238E27FC236}">
                <a16:creationId xmlns:a16="http://schemas.microsoft.com/office/drawing/2014/main" id="{FB4EA72D-3F31-8DBF-25E1-5AE05169C532}"/>
              </a:ext>
            </a:extLst>
          </p:cNvPr>
          <p:cNvSpPr txBox="1">
            <a:spLocks/>
          </p:cNvSpPr>
          <p:nvPr/>
        </p:nvSpPr>
        <p:spPr>
          <a:xfrm>
            <a:off x="460374" y="1714500"/>
            <a:ext cx="5749925" cy="91549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Calibri" panose="020F0502020204030204" pitchFamily="34" charset="0"/>
              </a:rPr>
              <a:t>Hulu was approaching the launch of Hulu Live TV and sought out West Monroe to guide their development teams and ensure a timely launch for both their iOS app </a:t>
            </a:r>
            <a:b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Calibri" panose="020F0502020204030204" pitchFamily="34" charset="0"/>
              </a:rPr>
            </a:br>
            <a: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Calibri" panose="020F0502020204030204" pitchFamily="34" charset="0"/>
              </a:rPr>
              <a:t>and Apple TV app. </a:t>
            </a:r>
          </a:p>
        </p:txBody>
      </p:sp>
      <p:sp>
        <p:nvSpPr>
          <p:cNvPr id="10" name="Text Placeholder 17">
            <a:extLst>
              <a:ext uri="{FF2B5EF4-FFF2-40B4-BE49-F238E27FC236}">
                <a16:creationId xmlns:a16="http://schemas.microsoft.com/office/drawing/2014/main" id="{A754BE17-3B70-27CD-508B-975AF35458D8}"/>
              </a:ext>
            </a:extLst>
          </p:cNvPr>
          <p:cNvSpPr txBox="1">
            <a:spLocks/>
          </p:cNvSpPr>
          <p:nvPr/>
        </p:nvSpPr>
        <p:spPr>
          <a:xfrm>
            <a:off x="465138" y="556955"/>
            <a:ext cx="3602038" cy="20666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Hulu</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itle 7">
            <a:extLst>
              <a:ext uri="{FF2B5EF4-FFF2-40B4-BE49-F238E27FC236}">
                <a16:creationId xmlns:a16="http://schemas.microsoft.com/office/drawing/2014/main" id="{B9213BCA-7E56-AA43-C809-3963BD46F40D}"/>
              </a:ext>
            </a:extLst>
          </p:cNvPr>
          <p:cNvSpPr txBox="1">
            <a:spLocks/>
          </p:cNvSpPr>
          <p:nvPr/>
        </p:nvSpPr>
        <p:spPr>
          <a:xfrm>
            <a:off x="460373" y="763616"/>
            <a:ext cx="5749925" cy="64926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Native iOS &amp; </a:t>
            </a:r>
            <a:b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br>
            <a: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Apple TV Design &amp; Build</a:t>
            </a:r>
          </a:p>
        </p:txBody>
      </p:sp>
      <p:sp>
        <p:nvSpPr>
          <p:cNvPr id="12" name="Text Placeholder 5">
            <a:extLst>
              <a:ext uri="{FF2B5EF4-FFF2-40B4-BE49-F238E27FC236}">
                <a16:creationId xmlns:a16="http://schemas.microsoft.com/office/drawing/2014/main" id="{2D9B81D7-888B-B1FB-170A-5AF3205A9F65}"/>
              </a:ext>
            </a:extLst>
          </p:cNvPr>
          <p:cNvSpPr txBox="1">
            <a:spLocks/>
          </p:cNvSpPr>
          <p:nvPr/>
        </p:nvSpPr>
        <p:spPr>
          <a:xfrm>
            <a:off x="460376" y="2463050"/>
            <a:ext cx="5372534" cy="291267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1200" b="1" i="0" u="none" strike="noStrike" kern="1200" cap="none" spc="0" normalizeH="0" baseline="0" noProof="0">
                <a:ln>
                  <a:noFill/>
                </a:ln>
                <a:solidFill>
                  <a:srgbClr val="0047FF"/>
                </a:solidFill>
                <a:effectLst/>
                <a:uLnTx/>
                <a:uFillTx/>
                <a:latin typeface="Arial" panose="020B0604020202020204"/>
                <a:ea typeface="Roboto" panose="02000000000000000000" pitchFamily="2" charset="0"/>
                <a:cs typeface="Segoe UI" panose="020B0502040204020203" pitchFamily="34" charset="0"/>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Our team co-located with the Hulu team in Santa Monica while working with their remote iOS team in Seattle. The two worked together to re-write their iOS app while building out their Apple TV app to support the launch of Hulu Live TV.</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As part of the re-write, both apps were updated to use Swift instead of Objective-C. A reactive framework was introduced to better manage internal app state.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 significant update was also made to the iOS and tvOS CI pipelines to provide a faster, automated feedback loop for integration tests.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The team successfully rolled out the app to millions of Apple TV users and was able to make quick and efficient updates.</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pic>
        <p:nvPicPr>
          <p:cNvPr id="20" name="Picture 3" descr="Hulu - Wikipedia">
            <a:extLst>
              <a:ext uri="{FF2B5EF4-FFF2-40B4-BE49-F238E27FC236}">
                <a16:creationId xmlns:a16="http://schemas.microsoft.com/office/drawing/2014/main" id="{44AC8B69-CF50-8A93-5B2F-6921AE4DBF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85983" y="1038334"/>
            <a:ext cx="742466" cy="243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15832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262AD-43CB-A2F5-0803-D2DC13A9985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83B4460-EEAE-6CFE-C66E-9C4226B04D6B}"/>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1FB91CB3-DED7-A541-8B0C-309B2DC3140F}"/>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64</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5B449934-35EB-165A-A514-3F31ECEC1882}"/>
              </a:ext>
            </a:extLst>
          </p:cNvPr>
          <p:cNvSpPr>
            <a:spLocks noGrp="1"/>
          </p:cNvSpPr>
          <p:nvPr>
            <p:ph type="body" sz="quarter" idx="44"/>
          </p:nvPr>
        </p:nvSpPr>
        <p:spPr/>
        <p:txBody>
          <a:bodyPr/>
          <a:lstStyle/>
          <a:p>
            <a:r>
              <a:rPr lang="en-US"/>
              <a:t>CLIENT STORIES</a:t>
            </a:r>
          </a:p>
        </p:txBody>
      </p:sp>
      <p:sp>
        <p:nvSpPr>
          <p:cNvPr id="24" name="Text Placeholder 49">
            <a:extLst>
              <a:ext uri="{FF2B5EF4-FFF2-40B4-BE49-F238E27FC236}">
                <a16:creationId xmlns:a16="http://schemas.microsoft.com/office/drawing/2014/main" id="{A8BBC64F-6F69-D10E-AF58-DC683F2AFB9D}"/>
              </a:ext>
            </a:extLst>
          </p:cNvPr>
          <p:cNvSpPr>
            <a:spLocks noGrp="1"/>
          </p:cNvSpPr>
          <p:nvPr>
            <p:ph type="body" sz="quarter" idx="38"/>
          </p:nvPr>
        </p:nvSpPr>
        <p:spPr>
          <a:xfrm>
            <a:off x="6624123" y="4352310"/>
            <a:ext cx="803275" cy="269761"/>
          </a:xfrm>
        </p:spPr>
        <p:txBody>
          <a:bodyPr/>
          <a:lstStyle/>
          <a:p>
            <a:endParaRPr lang="en-US"/>
          </a:p>
        </p:txBody>
      </p:sp>
      <p:sp>
        <p:nvSpPr>
          <p:cNvPr id="25" name="Text Placeholder 30">
            <a:extLst>
              <a:ext uri="{FF2B5EF4-FFF2-40B4-BE49-F238E27FC236}">
                <a16:creationId xmlns:a16="http://schemas.microsoft.com/office/drawing/2014/main" id="{5D37ECDA-BEAA-FE92-AD3C-479677CD701B}"/>
              </a:ext>
            </a:extLst>
          </p:cNvPr>
          <p:cNvSpPr>
            <a:spLocks noGrp="1"/>
          </p:cNvSpPr>
          <p:nvPr>
            <p:ph type="body" sz="quarter" idx="39"/>
          </p:nvPr>
        </p:nvSpPr>
        <p:spPr>
          <a:xfrm>
            <a:off x="6624123" y="4800342"/>
            <a:ext cx="5034477" cy="1219458"/>
          </a:xfrm>
        </p:spPr>
        <p:txBody>
          <a:bodyPr/>
          <a:lstStyle/>
          <a:p>
            <a:pPr>
              <a:spcAft>
                <a:spcPts val="1200"/>
              </a:spcAft>
            </a:pPr>
            <a:r>
              <a:rPr lang="en-US" sz="1400" b="0"/>
              <a:t>I'm very excited about the tech debt [remediation] project coming forward because I do believe there is much value that will be delivered.</a:t>
            </a:r>
            <a:br>
              <a:rPr lang="en-US" sz="1400" b="0"/>
            </a:br>
            <a:r>
              <a:rPr lang="en-US" sz="1400" b="1"/>
              <a:t>— Director, Technical Operations</a:t>
            </a:r>
          </a:p>
        </p:txBody>
      </p:sp>
      <p:sp>
        <p:nvSpPr>
          <p:cNvPr id="2" name="Text Placeholder 18">
            <a:extLst>
              <a:ext uri="{FF2B5EF4-FFF2-40B4-BE49-F238E27FC236}">
                <a16:creationId xmlns:a16="http://schemas.microsoft.com/office/drawing/2014/main" id="{0521828A-C020-7B9A-EDE1-0DDF0DDC89D2}"/>
              </a:ext>
            </a:extLst>
          </p:cNvPr>
          <p:cNvSpPr>
            <a:spLocks noGrp="1"/>
          </p:cNvSpPr>
          <p:nvPr>
            <p:ph type="body" sz="quarter" idx="33"/>
          </p:nvPr>
        </p:nvSpPr>
        <p:spPr>
          <a:xfrm>
            <a:off x="6624122" y="777501"/>
            <a:ext cx="5104327" cy="1436596"/>
          </a:xfrm>
        </p:spPr>
        <p:txBody>
          <a:bodyPr/>
          <a:lstStyle/>
          <a:p>
            <a:endParaRPr lang="en-US"/>
          </a:p>
        </p:txBody>
      </p:sp>
      <p:sp>
        <p:nvSpPr>
          <p:cNvPr id="8" name="Text Placeholder 24">
            <a:extLst>
              <a:ext uri="{FF2B5EF4-FFF2-40B4-BE49-F238E27FC236}">
                <a16:creationId xmlns:a16="http://schemas.microsoft.com/office/drawing/2014/main" id="{1FB4B4C0-76E1-A9B0-7B93-99F4BD6F7AD0}"/>
              </a:ext>
            </a:extLst>
          </p:cNvPr>
          <p:cNvSpPr>
            <a:spLocks noGrp="1"/>
          </p:cNvSpPr>
          <p:nvPr>
            <p:ph type="body" sz="quarter" idx="23"/>
          </p:nvPr>
        </p:nvSpPr>
        <p:spPr>
          <a:xfrm>
            <a:off x="6842007" y="960870"/>
            <a:ext cx="1541890" cy="510741"/>
          </a:xfrm>
        </p:spPr>
        <p:txBody>
          <a:bodyPr vert="horz" lIns="0" tIns="0" rIns="0" bIns="0" rtlCol="0" anchor="t" anchorCtr="0">
            <a:noAutofit/>
          </a:bodyPr>
          <a:lstStyle/>
          <a:p>
            <a:r>
              <a:rPr lang="en-US" sz="4000"/>
              <a:t>30K</a:t>
            </a:r>
          </a:p>
        </p:txBody>
      </p:sp>
      <p:sp>
        <p:nvSpPr>
          <p:cNvPr id="9" name="Text Placeholder 26">
            <a:extLst>
              <a:ext uri="{FF2B5EF4-FFF2-40B4-BE49-F238E27FC236}">
                <a16:creationId xmlns:a16="http://schemas.microsoft.com/office/drawing/2014/main" id="{20E9490D-1D86-75AD-6D44-E1F6A0CDD8BF}"/>
              </a:ext>
            </a:extLst>
          </p:cNvPr>
          <p:cNvSpPr>
            <a:spLocks noGrp="1"/>
          </p:cNvSpPr>
          <p:nvPr>
            <p:ph type="body" sz="quarter" idx="31"/>
          </p:nvPr>
        </p:nvSpPr>
        <p:spPr>
          <a:xfrm>
            <a:off x="6842007" y="1505331"/>
            <a:ext cx="1480726" cy="556953"/>
          </a:xfrm>
        </p:spPr>
        <p:txBody>
          <a:bodyPr/>
          <a:lstStyle/>
          <a:p>
            <a:r>
              <a:rPr lang="en-US"/>
              <a:t>Annual Developer Hours</a:t>
            </a:r>
          </a:p>
        </p:txBody>
      </p:sp>
      <p:sp>
        <p:nvSpPr>
          <p:cNvPr id="10" name="Text Placeholder 27">
            <a:extLst>
              <a:ext uri="{FF2B5EF4-FFF2-40B4-BE49-F238E27FC236}">
                <a16:creationId xmlns:a16="http://schemas.microsoft.com/office/drawing/2014/main" id="{58BDD3E3-63F0-206C-8FA3-AC9678DC5EEA}"/>
              </a:ext>
            </a:extLst>
          </p:cNvPr>
          <p:cNvSpPr>
            <a:spLocks noGrp="1"/>
          </p:cNvSpPr>
          <p:nvPr>
            <p:ph type="body" sz="quarter" idx="32"/>
          </p:nvPr>
        </p:nvSpPr>
        <p:spPr>
          <a:xfrm>
            <a:off x="8736556" y="777502"/>
            <a:ext cx="2687297" cy="1436596"/>
          </a:xfrm>
        </p:spPr>
        <p:txBody>
          <a:bodyPr lIns="0" tIns="0" anchor="ctr" anchorCtr="0"/>
          <a:lstStyle/>
          <a:p>
            <a:r>
              <a:rPr lang="en-US"/>
              <a:t>Identified 30K annual developer hours in additional capacity to be gained through implementation of tech debt remediation plans</a:t>
            </a:r>
          </a:p>
        </p:txBody>
      </p:sp>
      <p:sp>
        <p:nvSpPr>
          <p:cNvPr id="11" name="Text Placeholder 20">
            <a:extLst>
              <a:ext uri="{FF2B5EF4-FFF2-40B4-BE49-F238E27FC236}">
                <a16:creationId xmlns:a16="http://schemas.microsoft.com/office/drawing/2014/main" id="{B3D4D4F9-92B2-434E-538A-78863E86EF9E}"/>
              </a:ext>
            </a:extLst>
          </p:cNvPr>
          <p:cNvSpPr>
            <a:spLocks noGrp="1"/>
          </p:cNvSpPr>
          <p:nvPr>
            <p:ph type="body" sz="quarter" idx="40"/>
          </p:nvPr>
        </p:nvSpPr>
        <p:spPr>
          <a:xfrm>
            <a:off x="6624122" y="2555172"/>
            <a:ext cx="5104327" cy="1435608"/>
          </a:xfrm>
        </p:spPr>
        <p:txBody>
          <a:bodyPr/>
          <a:lstStyle/>
          <a:p>
            <a:endParaRPr lang="en-US"/>
          </a:p>
        </p:txBody>
      </p:sp>
      <p:sp>
        <p:nvSpPr>
          <p:cNvPr id="12" name="Text Placeholder 32">
            <a:extLst>
              <a:ext uri="{FF2B5EF4-FFF2-40B4-BE49-F238E27FC236}">
                <a16:creationId xmlns:a16="http://schemas.microsoft.com/office/drawing/2014/main" id="{E62B9DC2-5369-B8AD-8D47-3FD532973B29}"/>
              </a:ext>
            </a:extLst>
          </p:cNvPr>
          <p:cNvSpPr>
            <a:spLocks noGrp="1"/>
          </p:cNvSpPr>
          <p:nvPr>
            <p:ph type="body" sz="quarter" idx="41"/>
          </p:nvPr>
        </p:nvSpPr>
        <p:spPr>
          <a:xfrm>
            <a:off x="6842006" y="2691250"/>
            <a:ext cx="1786614" cy="510741"/>
          </a:xfrm>
        </p:spPr>
        <p:txBody>
          <a:bodyPr vert="horz" lIns="0" tIns="0" rIns="0" bIns="0" rtlCol="0" anchor="t" anchorCtr="0">
            <a:noAutofit/>
          </a:bodyPr>
          <a:lstStyle/>
          <a:p>
            <a:r>
              <a:rPr lang="en-US" sz="4000"/>
              <a:t>$5-15M</a:t>
            </a:r>
          </a:p>
        </p:txBody>
      </p:sp>
      <p:sp>
        <p:nvSpPr>
          <p:cNvPr id="13" name="Text Placeholder 33">
            <a:extLst>
              <a:ext uri="{FF2B5EF4-FFF2-40B4-BE49-F238E27FC236}">
                <a16:creationId xmlns:a16="http://schemas.microsoft.com/office/drawing/2014/main" id="{A1B48A6D-76A5-294F-2CF5-A4687BC132B0}"/>
              </a:ext>
            </a:extLst>
          </p:cNvPr>
          <p:cNvSpPr>
            <a:spLocks noGrp="1"/>
          </p:cNvSpPr>
          <p:nvPr>
            <p:ph type="body" sz="quarter" idx="42"/>
          </p:nvPr>
        </p:nvSpPr>
        <p:spPr>
          <a:xfrm>
            <a:off x="6842007" y="3288548"/>
            <a:ext cx="1541890" cy="556953"/>
          </a:xfrm>
        </p:spPr>
        <p:txBody>
          <a:bodyPr>
            <a:normAutofit fontScale="92500" lnSpcReduction="10000"/>
          </a:bodyPr>
          <a:lstStyle/>
          <a:p>
            <a:pPr lvl="1"/>
            <a:r>
              <a:rPr lang="en-US"/>
              <a:t>Top-line ARR Growth Potential </a:t>
            </a:r>
          </a:p>
        </p:txBody>
      </p:sp>
      <p:sp>
        <p:nvSpPr>
          <p:cNvPr id="14" name="Text Placeholder 34">
            <a:extLst>
              <a:ext uri="{FF2B5EF4-FFF2-40B4-BE49-F238E27FC236}">
                <a16:creationId xmlns:a16="http://schemas.microsoft.com/office/drawing/2014/main" id="{45621B5E-89FB-3BD6-F5E3-C43770C010E7}"/>
              </a:ext>
            </a:extLst>
          </p:cNvPr>
          <p:cNvSpPr>
            <a:spLocks noGrp="1"/>
          </p:cNvSpPr>
          <p:nvPr>
            <p:ph type="body" sz="quarter" idx="43"/>
          </p:nvPr>
        </p:nvSpPr>
        <p:spPr>
          <a:xfrm>
            <a:off x="8747981" y="2555171"/>
            <a:ext cx="2761597" cy="1435609"/>
          </a:xfrm>
        </p:spPr>
        <p:txBody>
          <a:bodyPr lIns="0" tIns="0" anchor="ctr" anchorCtr="0"/>
          <a:lstStyle/>
          <a:p>
            <a:r>
              <a:rPr lang="en-US"/>
              <a:t>Identified potential for additional $5-$15M in top-line ARR growth over next 3 years through increased investments in product innovation via increased developer capacity</a:t>
            </a:r>
          </a:p>
        </p:txBody>
      </p:sp>
      <p:sp>
        <p:nvSpPr>
          <p:cNvPr id="15" name="Text Placeholder 5">
            <a:extLst>
              <a:ext uri="{FF2B5EF4-FFF2-40B4-BE49-F238E27FC236}">
                <a16:creationId xmlns:a16="http://schemas.microsoft.com/office/drawing/2014/main" id="{92D090D0-6A22-540F-4529-A49D21A5C6A2}"/>
              </a:ext>
            </a:extLst>
          </p:cNvPr>
          <p:cNvSpPr txBox="1">
            <a:spLocks/>
          </p:cNvSpPr>
          <p:nvPr/>
        </p:nvSpPr>
        <p:spPr>
          <a:xfrm>
            <a:off x="460374" y="1714500"/>
            <a:ext cx="5749925" cy="91549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Calibri" panose="020F0502020204030204" pitchFamily="34" charset="0"/>
              </a:rPr>
              <a:t>A leading provider of security and identity and access management (IAM) software was faced with challenges growing the business through product innovation due to challenges with technology debt. West Monroe analyzed the product architecture and source code via automated scans and conducted stakeholder interviews to identify opportunities to increase developer efficiency, reduce code complexity, and increase capacity for innovation. This approach identified critical pain points and actionable remediation activities with quantified value</a:t>
            </a:r>
          </a:p>
        </p:txBody>
      </p:sp>
      <p:sp>
        <p:nvSpPr>
          <p:cNvPr id="16" name="Text Placeholder 17">
            <a:extLst>
              <a:ext uri="{FF2B5EF4-FFF2-40B4-BE49-F238E27FC236}">
                <a16:creationId xmlns:a16="http://schemas.microsoft.com/office/drawing/2014/main" id="{4E586EE8-574B-8448-5CA5-6F12D8664645}"/>
              </a:ext>
            </a:extLst>
          </p:cNvPr>
          <p:cNvSpPr txBox="1">
            <a:spLocks/>
          </p:cNvSpPr>
          <p:nvPr/>
        </p:nvSpPr>
        <p:spPr>
          <a:xfrm>
            <a:off x="465138" y="556955"/>
            <a:ext cx="4169924" cy="20666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5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Identity &amp; Access Management Provider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p:txBody>
      </p:sp>
      <p:sp>
        <p:nvSpPr>
          <p:cNvPr id="17" name="Title 7">
            <a:extLst>
              <a:ext uri="{FF2B5EF4-FFF2-40B4-BE49-F238E27FC236}">
                <a16:creationId xmlns:a16="http://schemas.microsoft.com/office/drawing/2014/main" id="{DB638EDC-DC9D-1C3B-E42B-080CFE91D4B1}"/>
              </a:ext>
            </a:extLst>
          </p:cNvPr>
          <p:cNvSpPr txBox="1">
            <a:spLocks/>
          </p:cNvSpPr>
          <p:nvPr/>
        </p:nvSpPr>
        <p:spPr>
          <a:xfrm>
            <a:off x="460373" y="763616"/>
            <a:ext cx="5749925" cy="64926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What development opportunities can we capitalize upon to drive efficiency and top-line growth?</a:t>
            </a:r>
          </a:p>
        </p:txBody>
      </p:sp>
      <p:sp>
        <p:nvSpPr>
          <p:cNvPr id="19" name="Text Placeholder 5">
            <a:extLst>
              <a:ext uri="{FF2B5EF4-FFF2-40B4-BE49-F238E27FC236}">
                <a16:creationId xmlns:a16="http://schemas.microsoft.com/office/drawing/2014/main" id="{7A2E6423-A4D3-401A-7E56-13F22162D1E7}"/>
              </a:ext>
            </a:extLst>
          </p:cNvPr>
          <p:cNvSpPr txBox="1">
            <a:spLocks/>
          </p:cNvSpPr>
          <p:nvPr/>
        </p:nvSpPr>
        <p:spPr>
          <a:xfrm>
            <a:off x="460376" y="3225836"/>
            <a:ext cx="5749924" cy="291267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1200" b="1" i="0" u="none" strike="noStrike" kern="1200" cap="none" spc="0" normalizeH="0" baseline="0" noProof="0">
                <a:ln>
                  <a:noFill/>
                </a:ln>
                <a:solidFill>
                  <a:srgbClr val="0047FF"/>
                </a:solidFill>
                <a:effectLst/>
                <a:uLnTx/>
                <a:uFillTx/>
                <a:latin typeface="Arial" panose="020B0604020202020204"/>
                <a:ea typeface="Roboto" panose="02000000000000000000" pitchFamily="2" charset="0"/>
                <a:cs typeface="Segoe UI" panose="020B0502040204020203" pitchFamily="34" charset="0"/>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Conducted a full-day workshop to gain a comprehensive understanding of the business's current state and align project scope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Held over 25 hours of stakeholder interviews to review the code base in detail and identify key areas for improvement</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Analyzed more than 1.2 million lines of code using advanced scans and technology to create detailed dependency maps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Identified 25 initiatives for addressing technical debt and developed a framework to evaluate the business impact of each initiative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Created a comprehensive 2-year roadmap for all initiatives, including detailed action plans and analysis of costs, duration, and resource requirements.</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13207501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03DA2-F080-56AF-5978-1A73661E964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A1475F4-64B4-8A62-F575-9A2B8F865B78}"/>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73328A59-6A51-4F84-4412-D726AA43E0FB}"/>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65</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6D79C907-1D5F-ACF0-5F99-94EDA285B97B}"/>
              </a:ext>
            </a:extLst>
          </p:cNvPr>
          <p:cNvSpPr>
            <a:spLocks noGrp="1"/>
          </p:cNvSpPr>
          <p:nvPr>
            <p:ph type="body" sz="quarter" idx="44"/>
          </p:nvPr>
        </p:nvSpPr>
        <p:spPr/>
        <p:txBody>
          <a:bodyPr/>
          <a:lstStyle/>
          <a:p>
            <a:r>
              <a:rPr lang="en-US"/>
              <a:t>CLIENT STORIES</a:t>
            </a:r>
          </a:p>
        </p:txBody>
      </p:sp>
      <p:sp>
        <p:nvSpPr>
          <p:cNvPr id="24" name="Text Placeholder 49">
            <a:extLst>
              <a:ext uri="{FF2B5EF4-FFF2-40B4-BE49-F238E27FC236}">
                <a16:creationId xmlns:a16="http://schemas.microsoft.com/office/drawing/2014/main" id="{72D015C8-3631-173F-914A-FDC3D02206D6}"/>
              </a:ext>
            </a:extLst>
          </p:cNvPr>
          <p:cNvSpPr>
            <a:spLocks noGrp="1"/>
          </p:cNvSpPr>
          <p:nvPr>
            <p:ph type="body" sz="quarter" idx="38"/>
          </p:nvPr>
        </p:nvSpPr>
        <p:spPr>
          <a:xfrm>
            <a:off x="6624530" y="3540464"/>
            <a:ext cx="803275" cy="269761"/>
          </a:xfrm>
        </p:spPr>
        <p:txBody>
          <a:bodyPr/>
          <a:lstStyle/>
          <a:p>
            <a:endParaRPr lang="en-US"/>
          </a:p>
        </p:txBody>
      </p:sp>
      <p:sp>
        <p:nvSpPr>
          <p:cNvPr id="25" name="Text Placeholder 30">
            <a:extLst>
              <a:ext uri="{FF2B5EF4-FFF2-40B4-BE49-F238E27FC236}">
                <a16:creationId xmlns:a16="http://schemas.microsoft.com/office/drawing/2014/main" id="{FF4C3695-1CC5-4FC4-F8BA-5197724A216E}"/>
              </a:ext>
            </a:extLst>
          </p:cNvPr>
          <p:cNvSpPr>
            <a:spLocks noGrp="1"/>
          </p:cNvSpPr>
          <p:nvPr>
            <p:ph type="body" sz="quarter" idx="39"/>
          </p:nvPr>
        </p:nvSpPr>
        <p:spPr>
          <a:xfrm>
            <a:off x="6632570" y="4013099"/>
            <a:ext cx="5095879" cy="1219458"/>
          </a:xfrm>
        </p:spPr>
        <p:txBody>
          <a:bodyPr>
            <a:normAutofit lnSpcReduction="10000"/>
          </a:bodyPr>
          <a:lstStyle/>
          <a:p>
            <a:pPr>
              <a:spcAft>
                <a:spcPts val="1200"/>
              </a:spcAft>
            </a:pPr>
            <a:r>
              <a:rPr lang="en-US" sz="1400" b="0"/>
              <a:t>The team was able to come up to speed quickly, identify areas of improvement for the solution along with creating thorough documentation to support the application going forward. The team was also able to understand the business quickly and work with end users to identify future needs.</a:t>
            </a:r>
            <a:br>
              <a:rPr lang="en-US" sz="1400" b="0"/>
            </a:br>
            <a:r>
              <a:rPr lang="en-US" sz="1400" b="1"/>
              <a:t>— Chief Information Officer</a:t>
            </a:r>
          </a:p>
        </p:txBody>
      </p:sp>
      <p:sp>
        <p:nvSpPr>
          <p:cNvPr id="9" name="Text Placeholder 18">
            <a:extLst>
              <a:ext uri="{FF2B5EF4-FFF2-40B4-BE49-F238E27FC236}">
                <a16:creationId xmlns:a16="http://schemas.microsoft.com/office/drawing/2014/main" id="{3D3C0FE6-D32A-0B4A-C512-7608ACAB592D}"/>
              </a:ext>
            </a:extLst>
          </p:cNvPr>
          <p:cNvSpPr>
            <a:spLocks noGrp="1"/>
          </p:cNvSpPr>
          <p:nvPr>
            <p:ph type="body" sz="quarter" idx="33"/>
          </p:nvPr>
        </p:nvSpPr>
        <p:spPr>
          <a:xfrm>
            <a:off x="6624530" y="1729630"/>
            <a:ext cx="5103920" cy="1435608"/>
          </a:xfrm>
        </p:spPr>
        <p:txBody>
          <a:bodyPr/>
          <a:lstStyle/>
          <a:p>
            <a:endParaRPr lang="en-US"/>
          </a:p>
        </p:txBody>
      </p:sp>
      <p:sp>
        <p:nvSpPr>
          <p:cNvPr id="10" name="Text Placeholder 24">
            <a:extLst>
              <a:ext uri="{FF2B5EF4-FFF2-40B4-BE49-F238E27FC236}">
                <a16:creationId xmlns:a16="http://schemas.microsoft.com/office/drawing/2014/main" id="{558E2B44-697B-3782-6500-F6512AEC1F69}"/>
              </a:ext>
            </a:extLst>
          </p:cNvPr>
          <p:cNvSpPr>
            <a:spLocks noGrp="1"/>
          </p:cNvSpPr>
          <p:nvPr>
            <p:ph type="body" sz="quarter" idx="23"/>
          </p:nvPr>
        </p:nvSpPr>
        <p:spPr>
          <a:xfrm>
            <a:off x="6842414" y="1912999"/>
            <a:ext cx="1372790" cy="510741"/>
          </a:xfrm>
        </p:spPr>
        <p:txBody>
          <a:bodyPr vert="horz" lIns="0" tIns="0" rIns="0" bIns="0" rtlCol="0" anchor="t" anchorCtr="0">
            <a:noAutofit/>
          </a:bodyPr>
          <a:lstStyle/>
          <a:p>
            <a:r>
              <a:rPr lang="en-US" sz="4000"/>
              <a:t>$5M</a:t>
            </a:r>
          </a:p>
        </p:txBody>
      </p:sp>
      <p:sp>
        <p:nvSpPr>
          <p:cNvPr id="11" name="Text Placeholder 26">
            <a:extLst>
              <a:ext uri="{FF2B5EF4-FFF2-40B4-BE49-F238E27FC236}">
                <a16:creationId xmlns:a16="http://schemas.microsoft.com/office/drawing/2014/main" id="{B8A36D78-9F37-731E-575D-C05A27AD3578}"/>
              </a:ext>
            </a:extLst>
          </p:cNvPr>
          <p:cNvSpPr>
            <a:spLocks noGrp="1"/>
          </p:cNvSpPr>
          <p:nvPr>
            <p:ph type="body" sz="quarter" idx="31"/>
          </p:nvPr>
        </p:nvSpPr>
        <p:spPr>
          <a:xfrm>
            <a:off x="6842414" y="2481932"/>
            <a:ext cx="1372791" cy="556953"/>
          </a:xfrm>
        </p:spPr>
        <p:txBody>
          <a:bodyPr/>
          <a:lstStyle/>
          <a:p>
            <a:r>
              <a:rPr lang="en-US"/>
              <a:t>Investment</a:t>
            </a:r>
          </a:p>
          <a:p>
            <a:r>
              <a:rPr lang="en-US"/>
              <a:t>De-risked</a:t>
            </a:r>
          </a:p>
        </p:txBody>
      </p:sp>
      <p:sp>
        <p:nvSpPr>
          <p:cNvPr id="12" name="Text Placeholder 27">
            <a:extLst>
              <a:ext uri="{FF2B5EF4-FFF2-40B4-BE49-F238E27FC236}">
                <a16:creationId xmlns:a16="http://schemas.microsoft.com/office/drawing/2014/main" id="{ACC151F9-726E-A673-EACD-B2AA2B292F35}"/>
              </a:ext>
            </a:extLst>
          </p:cNvPr>
          <p:cNvSpPr>
            <a:spLocks noGrp="1"/>
          </p:cNvSpPr>
          <p:nvPr>
            <p:ph type="body" sz="quarter" idx="32"/>
          </p:nvPr>
        </p:nvSpPr>
        <p:spPr>
          <a:xfrm>
            <a:off x="8207373" y="1729631"/>
            <a:ext cx="3147237" cy="1427298"/>
          </a:xfrm>
        </p:spPr>
        <p:txBody>
          <a:bodyPr lIns="0" tIns="0" anchor="ctr" anchorCtr="0"/>
          <a:lstStyle/>
          <a:p>
            <a:r>
              <a:rPr lang="en-US"/>
              <a:t>The project de-risked an initial $5M investment</a:t>
            </a:r>
          </a:p>
        </p:txBody>
      </p:sp>
      <p:sp>
        <p:nvSpPr>
          <p:cNvPr id="2" name="Text Placeholder 5">
            <a:extLst>
              <a:ext uri="{FF2B5EF4-FFF2-40B4-BE49-F238E27FC236}">
                <a16:creationId xmlns:a16="http://schemas.microsoft.com/office/drawing/2014/main" id="{9A300EFC-43FC-32A9-3755-02048330A25F}"/>
              </a:ext>
            </a:extLst>
          </p:cNvPr>
          <p:cNvSpPr txBox="1">
            <a:spLocks/>
          </p:cNvSpPr>
          <p:nvPr/>
        </p:nvSpPr>
        <p:spPr>
          <a:xfrm>
            <a:off x="460374" y="1714500"/>
            <a:ext cx="5749925" cy="91549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Client was seeking help to modernize their PRO App and relaunch it with a new user group. They also wanted help to evaluate their existing product strategy &amp; roadmap against near-term business objectives.</a:t>
            </a:r>
          </a:p>
        </p:txBody>
      </p:sp>
      <p:sp>
        <p:nvSpPr>
          <p:cNvPr id="8" name="Text Placeholder 17">
            <a:extLst>
              <a:ext uri="{FF2B5EF4-FFF2-40B4-BE49-F238E27FC236}">
                <a16:creationId xmlns:a16="http://schemas.microsoft.com/office/drawing/2014/main" id="{1284A0FC-55D3-9434-DC3C-FAE23971305A}"/>
              </a:ext>
            </a:extLst>
          </p:cNvPr>
          <p:cNvSpPr txBox="1">
            <a:spLocks/>
          </p:cNvSpPr>
          <p:nvPr/>
        </p:nvSpPr>
        <p:spPr>
          <a:xfrm>
            <a:off x="465138" y="556955"/>
            <a:ext cx="4169924" cy="20666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5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Construction Company Software Provider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p:txBody>
      </p:sp>
      <p:sp>
        <p:nvSpPr>
          <p:cNvPr id="13" name="Title 7">
            <a:extLst>
              <a:ext uri="{FF2B5EF4-FFF2-40B4-BE49-F238E27FC236}">
                <a16:creationId xmlns:a16="http://schemas.microsoft.com/office/drawing/2014/main" id="{7D468146-1C27-E8B1-132B-3ECA78E17F29}"/>
              </a:ext>
            </a:extLst>
          </p:cNvPr>
          <p:cNvSpPr txBox="1">
            <a:spLocks/>
          </p:cNvSpPr>
          <p:nvPr/>
        </p:nvSpPr>
        <p:spPr>
          <a:xfrm>
            <a:off x="460373" y="763616"/>
            <a:ext cx="5749925" cy="64926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How can we modernize our app and relaunch it in the market with a new user group? </a:t>
            </a:r>
          </a:p>
        </p:txBody>
      </p:sp>
      <p:sp>
        <p:nvSpPr>
          <p:cNvPr id="14" name="Text Placeholder 5">
            <a:extLst>
              <a:ext uri="{FF2B5EF4-FFF2-40B4-BE49-F238E27FC236}">
                <a16:creationId xmlns:a16="http://schemas.microsoft.com/office/drawing/2014/main" id="{7AD0E756-8BF5-B1C6-0E34-B07B9C7A46DD}"/>
              </a:ext>
            </a:extLst>
          </p:cNvPr>
          <p:cNvSpPr txBox="1">
            <a:spLocks/>
          </p:cNvSpPr>
          <p:nvPr/>
        </p:nvSpPr>
        <p:spPr>
          <a:xfrm>
            <a:off x="460376" y="2406052"/>
            <a:ext cx="5749924" cy="291267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1200" b="1" i="0" u="none" strike="noStrike" kern="1200" cap="none" spc="0" normalizeH="0" baseline="0" noProof="0">
                <a:ln>
                  <a:noFill/>
                </a:ln>
                <a:solidFill>
                  <a:srgbClr val="0047FF"/>
                </a:solidFill>
                <a:effectLst/>
                <a:uLnTx/>
                <a:uFillTx/>
                <a:latin typeface="Arial" panose="020B0604020202020204"/>
                <a:ea typeface="Roboto" panose="02000000000000000000" pitchFamily="2" charset="0"/>
                <a:cs typeface="Segoe UI" panose="020B0502040204020203" pitchFamily="34" charset="0"/>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Our modernization effort prioritized features that reduced maintenance cost, increased usability, and improved end-user productivity. The team took a Product-first mindset and relied on direct input from end users to prioritize epics.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We rationalized the PRO App to identify modular AI assets that can be re-used and deployed in various parts of the user Journey to improve the overall experience.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This project de-risked an initial ~$5 million investment and helped identify opportunities that, when implemented, could yield a significant improvement in productivity</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31681023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C032D-BCBE-2976-F377-5C49A5E36732}"/>
            </a:ext>
          </a:extLst>
        </p:cNvPr>
        <p:cNvGrpSpPr/>
        <p:nvPr/>
      </p:nvGrpSpPr>
      <p:grpSpPr>
        <a:xfrm>
          <a:off x="0" y="0"/>
          <a:ext cx="0" cy="0"/>
          <a:chOff x="0" y="0"/>
          <a:chExt cx="0" cy="0"/>
        </a:xfrm>
      </p:grpSpPr>
      <p:sp>
        <p:nvSpPr>
          <p:cNvPr id="23" name="Text Placeholder 18">
            <a:extLst>
              <a:ext uri="{FF2B5EF4-FFF2-40B4-BE49-F238E27FC236}">
                <a16:creationId xmlns:a16="http://schemas.microsoft.com/office/drawing/2014/main" id="{0399466E-2691-CE45-6F26-9968ABCEF415}"/>
              </a:ext>
            </a:extLst>
          </p:cNvPr>
          <p:cNvSpPr txBox="1">
            <a:spLocks/>
          </p:cNvSpPr>
          <p:nvPr/>
        </p:nvSpPr>
        <p:spPr>
          <a:xfrm>
            <a:off x="9169043" y="770775"/>
            <a:ext cx="2084832" cy="1436596"/>
          </a:xfrm>
          <a:prstGeom prst="rect">
            <a:avLst/>
          </a:prstGeom>
          <a:solidFill>
            <a:schemeClr val="accent4"/>
          </a:solidFill>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200" b="0" i="0" kern="1200" cap="none" baseline="0">
                <a:solidFill>
                  <a:schemeClr val="bg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200" b="0" i="0" kern="1200" cap="none" baseline="0">
                <a:solidFill>
                  <a:schemeClr val="bg1"/>
                </a:solidFill>
                <a:latin typeface="+mn-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200" b="0" i="0" kern="1200" cap="none" baseline="0">
                <a:solidFill>
                  <a:schemeClr val="bg1"/>
                </a:solidFill>
                <a:latin typeface="+mn-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200" b="0" i="0" kern="1200" cap="none" baseline="0">
                <a:solidFill>
                  <a:schemeClr val="bg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3" name="Footer Placeholder 2">
            <a:extLst>
              <a:ext uri="{FF2B5EF4-FFF2-40B4-BE49-F238E27FC236}">
                <a16:creationId xmlns:a16="http://schemas.microsoft.com/office/drawing/2014/main" id="{724AF551-639B-4C3C-AA3E-B47B32184965}"/>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E100D857-2D56-EDEA-CD2A-35A850D5D48A}"/>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66</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ED91E57E-FBC3-3A18-F6F6-115BE3445EDE}"/>
              </a:ext>
            </a:extLst>
          </p:cNvPr>
          <p:cNvSpPr>
            <a:spLocks noGrp="1"/>
          </p:cNvSpPr>
          <p:nvPr>
            <p:ph type="body" sz="quarter" idx="44"/>
          </p:nvPr>
        </p:nvSpPr>
        <p:spPr/>
        <p:txBody>
          <a:bodyPr/>
          <a:lstStyle/>
          <a:p>
            <a:r>
              <a:rPr lang="en-US"/>
              <a:t>CLIENT STORIES</a:t>
            </a:r>
          </a:p>
        </p:txBody>
      </p:sp>
      <p:sp>
        <p:nvSpPr>
          <p:cNvPr id="13" name="Text Placeholder 18">
            <a:extLst>
              <a:ext uri="{FF2B5EF4-FFF2-40B4-BE49-F238E27FC236}">
                <a16:creationId xmlns:a16="http://schemas.microsoft.com/office/drawing/2014/main" id="{6F8AB35E-4D97-D3E2-F107-1B93BACE993B}"/>
              </a:ext>
            </a:extLst>
          </p:cNvPr>
          <p:cNvSpPr>
            <a:spLocks noGrp="1"/>
          </p:cNvSpPr>
          <p:nvPr>
            <p:ph type="body" sz="quarter" idx="33"/>
          </p:nvPr>
        </p:nvSpPr>
        <p:spPr>
          <a:xfrm>
            <a:off x="6616700" y="770775"/>
            <a:ext cx="2084832" cy="1436596"/>
          </a:xfrm>
        </p:spPr>
        <p:txBody>
          <a:bodyPr/>
          <a:lstStyle/>
          <a:p>
            <a:endParaRPr lang="en-US"/>
          </a:p>
        </p:txBody>
      </p:sp>
      <p:sp>
        <p:nvSpPr>
          <p:cNvPr id="14" name="Text Placeholder 24">
            <a:extLst>
              <a:ext uri="{FF2B5EF4-FFF2-40B4-BE49-F238E27FC236}">
                <a16:creationId xmlns:a16="http://schemas.microsoft.com/office/drawing/2014/main" id="{E064B688-110F-7B4D-672C-D8F2050E0C75}"/>
              </a:ext>
            </a:extLst>
          </p:cNvPr>
          <p:cNvSpPr>
            <a:spLocks noGrp="1"/>
          </p:cNvSpPr>
          <p:nvPr>
            <p:ph type="body" sz="quarter" idx="23"/>
          </p:nvPr>
        </p:nvSpPr>
        <p:spPr>
          <a:xfrm>
            <a:off x="6842125" y="954144"/>
            <a:ext cx="1372790" cy="510741"/>
          </a:xfrm>
        </p:spPr>
        <p:txBody>
          <a:bodyPr>
            <a:normAutofit fontScale="92500" lnSpcReduction="10000"/>
          </a:bodyPr>
          <a:lstStyle/>
          <a:p>
            <a:r>
              <a:rPr lang="en-US" sz="4000"/>
              <a:t>68%</a:t>
            </a:r>
          </a:p>
        </p:txBody>
      </p:sp>
      <p:sp>
        <p:nvSpPr>
          <p:cNvPr id="15" name="Text Placeholder 26">
            <a:extLst>
              <a:ext uri="{FF2B5EF4-FFF2-40B4-BE49-F238E27FC236}">
                <a16:creationId xmlns:a16="http://schemas.microsoft.com/office/drawing/2014/main" id="{ADA6F673-FAC3-1807-144A-EFCA04E3B62D}"/>
              </a:ext>
            </a:extLst>
          </p:cNvPr>
          <p:cNvSpPr>
            <a:spLocks noGrp="1"/>
          </p:cNvSpPr>
          <p:nvPr>
            <p:ph type="body" sz="quarter" idx="31"/>
          </p:nvPr>
        </p:nvSpPr>
        <p:spPr>
          <a:xfrm>
            <a:off x="6842125" y="1511097"/>
            <a:ext cx="1372791" cy="556953"/>
          </a:xfrm>
        </p:spPr>
        <p:txBody>
          <a:bodyPr/>
          <a:lstStyle/>
          <a:p>
            <a:r>
              <a:rPr lang="en-US"/>
              <a:t>Time Savings for Agents</a:t>
            </a:r>
          </a:p>
        </p:txBody>
      </p:sp>
      <p:sp>
        <p:nvSpPr>
          <p:cNvPr id="27" name="Text Placeholder 24">
            <a:extLst>
              <a:ext uri="{FF2B5EF4-FFF2-40B4-BE49-F238E27FC236}">
                <a16:creationId xmlns:a16="http://schemas.microsoft.com/office/drawing/2014/main" id="{13A6381A-E0C3-A9A4-DAD7-DB549ECEACCE}"/>
              </a:ext>
            </a:extLst>
          </p:cNvPr>
          <p:cNvSpPr txBox="1">
            <a:spLocks/>
          </p:cNvSpPr>
          <p:nvPr/>
        </p:nvSpPr>
        <p:spPr>
          <a:xfrm>
            <a:off x="9449925" y="966016"/>
            <a:ext cx="1372790" cy="556953"/>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36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36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3600" b="1"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36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Text Placeholder 26">
            <a:extLst>
              <a:ext uri="{FF2B5EF4-FFF2-40B4-BE49-F238E27FC236}">
                <a16:creationId xmlns:a16="http://schemas.microsoft.com/office/drawing/2014/main" id="{0A72A244-FB83-CD6E-2EC6-4575E064C186}"/>
              </a:ext>
            </a:extLst>
          </p:cNvPr>
          <p:cNvSpPr txBox="1">
            <a:spLocks/>
          </p:cNvSpPr>
          <p:nvPr/>
        </p:nvSpPr>
        <p:spPr>
          <a:xfrm>
            <a:off x="9449925" y="1522969"/>
            <a:ext cx="1372791" cy="556953"/>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4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400" b="1"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4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Increased Renewals</a:t>
            </a:r>
          </a:p>
        </p:txBody>
      </p:sp>
      <p:grpSp>
        <p:nvGrpSpPr>
          <p:cNvPr id="29" name="Group 28">
            <a:extLst>
              <a:ext uri="{FF2B5EF4-FFF2-40B4-BE49-F238E27FC236}">
                <a16:creationId xmlns:a16="http://schemas.microsoft.com/office/drawing/2014/main" id="{BA59289F-2B27-24B9-A9A8-F27745E9CF53}"/>
              </a:ext>
            </a:extLst>
          </p:cNvPr>
          <p:cNvGrpSpPr/>
          <p:nvPr/>
        </p:nvGrpSpPr>
        <p:grpSpPr>
          <a:xfrm>
            <a:off x="7047866" y="2269884"/>
            <a:ext cx="4059407" cy="3931024"/>
            <a:chOff x="5316486" y="638659"/>
            <a:chExt cx="5498154" cy="5324271"/>
          </a:xfrm>
        </p:grpSpPr>
        <p:grpSp>
          <p:nvGrpSpPr>
            <p:cNvPr id="30" name="Group 29">
              <a:extLst>
                <a:ext uri="{FF2B5EF4-FFF2-40B4-BE49-F238E27FC236}">
                  <a16:creationId xmlns:a16="http://schemas.microsoft.com/office/drawing/2014/main" id="{507817B1-F1C2-DA78-695A-D80395D12F69}"/>
                </a:ext>
              </a:extLst>
            </p:cNvPr>
            <p:cNvGrpSpPr/>
            <p:nvPr/>
          </p:nvGrpSpPr>
          <p:grpSpPr>
            <a:xfrm>
              <a:off x="5316486" y="638659"/>
              <a:ext cx="2508050" cy="4309781"/>
              <a:chOff x="8643626" y="904602"/>
              <a:chExt cx="3146137" cy="5406256"/>
            </a:xfrm>
          </p:grpSpPr>
          <p:sp>
            <p:nvSpPr>
              <p:cNvPr id="39" name="Rounded Rectangle 38">
                <a:extLst>
                  <a:ext uri="{FF2B5EF4-FFF2-40B4-BE49-F238E27FC236}">
                    <a16:creationId xmlns:a16="http://schemas.microsoft.com/office/drawing/2014/main" id="{367A6F1A-DA36-2522-ACA8-8D0F0BFE1356}"/>
                  </a:ext>
                </a:extLst>
              </p:cNvPr>
              <p:cNvSpPr/>
              <p:nvPr/>
            </p:nvSpPr>
            <p:spPr>
              <a:xfrm>
                <a:off x="9091314" y="1244183"/>
                <a:ext cx="2264999" cy="4724205"/>
              </a:xfrm>
              <a:prstGeom prst="roundRect">
                <a:avLst>
                  <a:gd name="adj" fmla="val 8478"/>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40" name="Picture 39" descr="Shape, background pattern&#10;&#10;Description automatically generated with medium confidence">
                <a:extLst>
                  <a:ext uri="{FF2B5EF4-FFF2-40B4-BE49-F238E27FC236}">
                    <a16:creationId xmlns:a16="http://schemas.microsoft.com/office/drawing/2014/main" id="{4895DD71-7AB3-E692-4344-854BE991EF1B}"/>
                  </a:ext>
                </a:extLst>
              </p:cNvPr>
              <p:cNvPicPr>
                <a:picLocks noChangeAspect="1"/>
              </p:cNvPicPr>
              <p:nvPr/>
            </p:nvPicPr>
            <p:blipFill>
              <a:blip r:embed="rId4"/>
              <a:stretch>
                <a:fillRect/>
              </a:stretch>
            </p:blipFill>
            <p:spPr>
              <a:xfrm>
                <a:off x="8643626" y="904602"/>
                <a:ext cx="3146137" cy="5406256"/>
              </a:xfrm>
              <a:prstGeom prst="rect">
                <a:avLst/>
              </a:prstGeom>
            </p:spPr>
          </p:pic>
        </p:grpSp>
        <p:grpSp>
          <p:nvGrpSpPr>
            <p:cNvPr id="31" name="Group 30">
              <a:extLst>
                <a:ext uri="{FF2B5EF4-FFF2-40B4-BE49-F238E27FC236}">
                  <a16:creationId xmlns:a16="http://schemas.microsoft.com/office/drawing/2014/main" id="{E8A63456-DFC5-89F2-3FD5-6829C72B2619}"/>
                </a:ext>
              </a:extLst>
            </p:cNvPr>
            <p:cNvGrpSpPr/>
            <p:nvPr/>
          </p:nvGrpSpPr>
          <p:grpSpPr>
            <a:xfrm>
              <a:off x="8306590" y="969325"/>
              <a:ext cx="2508050" cy="4309781"/>
              <a:chOff x="8367009" y="1733181"/>
              <a:chExt cx="2582136" cy="4437089"/>
            </a:xfrm>
          </p:grpSpPr>
          <p:sp>
            <p:nvSpPr>
              <p:cNvPr id="36" name="Rounded Rectangle 35">
                <a:extLst>
                  <a:ext uri="{FF2B5EF4-FFF2-40B4-BE49-F238E27FC236}">
                    <a16:creationId xmlns:a16="http://schemas.microsoft.com/office/drawing/2014/main" id="{AAD0E2F5-95AD-4863-6CB6-E58CEDB22EE4}"/>
                  </a:ext>
                </a:extLst>
              </p:cNvPr>
              <p:cNvSpPr/>
              <p:nvPr/>
            </p:nvSpPr>
            <p:spPr>
              <a:xfrm>
                <a:off x="8734440" y="2011886"/>
                <a:ext cx="1858957" cy="3877307"/>
              </a:xfrm>
              <a:prstGeom prst="roundRect">
                <a:avLst>
                  <a:gd name="adj" fmla="val 8478"/>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38" name="Picture 37" descr="Shape, background pattern&#10;&#10;Description automatically generated with medium confidence">
                <a:extLst>
                  <a:ext uri="{FF2B5EF4-FFF2-40B4-BE49-F238E27FC236}">
                    <a16:creationId xmlns:a16="http://schemas.microsoft.com/office/drawing/2014/main" id="{AEAD2C94-FB90-19A3-7C4A-6CD99B4391DE}"/>
                  </a:ext>
                </a:extLst>
              </p:cNvPr>
              <p:cNvPicPr>
                <a:picLocks noChangeAspect="1"/>
              </p:cNvPicPr>
              <p:nvPr/>
            </p:nvPicPr>
            <p:blipFill>
              <a:blip r:embed="rId4"/>
              <a:stretch>
                <a:fillRect/>
              </a:stretch>
            </p:blipFill>
            <p:spPr>
              <a:xfrm>
                <a:off x="8367009" y="1733181"/>
                <a:ext cx="2582136" cy="4437089"/>
              </a:xfrm>
              <a:prstGeom prst="rect">
                <a:avLst/>
              </a:prstGeom>
            </p:spPr>
          </p:pic>
        </p:grpSp>
        <p:grpSp>
          <p:nvGrpSpPr>
            <p:cNvPr id="32" name="Group 31">
              <a:extLst>
                <a:ext uri="{FF2B5EF4-FFF2-40B4-BE49-F238E27FC236}">
                  <a16:creationId xmlns:a16="http://schemas.microsoft.com/office/drawing/2014/main" id="{CAEB9A68-20D0-AA58-941B-C11B01C771A3}"/>
                </a:ext>
              </a:extLst>
            </p:cNvPr>
            <p:cNvGrpSpPr/>
            <p:nvPr/>
          </p:nvGrpSpPr>
          <p:grpSpPr>
            <a:xfrm>
              <a:off x="6653320" y="1653149"/>
              <a:ext cx="2508050" cy="4309781"/>
              <a:chOff x="6021048" y="1838112"/>
              <a:chExt cx="2582136" cy="4437089"/>
            </a:xfrm>
          </p:grpSpPr>
          <p:sp>
            <p:nvSpPr>
              <p:cNvPr id="33" name="Rounded Rectangle 32">
                <a:extLst>
                  <a:ext uri="{FF2B5EF4-FFF2-40B4-BE49-F238E27FC236}">
                    <a16:creationId xmlns:a16="http://schemas.microsoft.com/office/drawing/2014/main" id="{59129802-30CC-4B23-1C15-E4332AC570DF}"/>
                  </a:ext>
                </a:extLst>
              </p:cNvPr>
              <p:cNvSpPr/>
              <p:nvPr/>
            </p:nvSpPr>
            <p:spPr>
              <a:xfrm>
                <a:off x="6388479" y="2116817"/>
                <a:ext cx="1858957" cy="3877307"/>
              </a:xfrm>
              <a:prstGeom prst="roundRect">
                <a:avLst>
                  <a:gd name="adj" fmla="val 8478"/>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35" name="Picture 34" descr="Shape, background pattern&#10;&#10;Description automatically generated with medium confidence">
                <a:extLst>
                  <a:ext uri="{FF2B5EF4-FFF2-40B4-BE49-F238E27FC236}">
                    <a16:creationId xmlns:a16="http://schemas.microsoft.com/office/drawing/2014/main" id="{B051F191-88B0-B0DB-982B-4F80C1F4912C}"/>
                  </a:ext>
                </a:extLst>
              </p:cNvPr>
              <p:cNvPicPr>
                <a:picLocks noChangeAspect="1"/>
              </p:cNvPicPr>
              <p:nvPr/>
            </p:nvPicPr>
            <p:blipFill>
              <a:blip r:embed="rId4"/>
              <a:stretch>
                <a:fillRect/>
              </a:stretch>
            </p:blipFill>
            <p:spPr>
              <a:xfrm>
                <a:off x="6021048" y="1838112"/>
                <a:ext cx="2582136" cy="4437089"/>
              </a:xfrm>
              <a:prstGeom prst="rect">
                <a:avLst/>
              </a:prstGeom>
            </p:spPr>
          </p:pic>
        </p:grpSp>
      </p:grpSp>
      <p:sp>
        <p:nvSpPr>
          <p:cNvPr id="2" name="Text Placeholder 5">
            <a:extLst>
              <a:ext uri="{FF2B5EF4-FFF2-40B4-BE49-F238E27FC236}">
                <a16:creationId xmlns:a16="http://schemas.microsoft.com/office/drawing/2014/main" id="{3F428906-91A5-0793-065F-B37624F175C3}"/>
              </a:ext>
            </a:extLst>
          </p:cNvPr>
          <p:cNvSpPr txBox="1">
            <a:spLocks/>
          </p:cNvSpPr>
          <p:nvPr/>
        </p:nvSpPr>
        <p:spPr>
          <a:xfrm>
            <a:off x="460374" y="1714500"/>
            <a:ext cx="5749925" cy="91549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Client's end user insurance agents were becoming data entry specialists, uploading documents and data required to provision insurance policies. This was slowing down the time to close or renew policies. Further, the existing product suite failed to engage users, lacking a modern mobile experience that allowed users to easily find content. </a:t>
            </a:r>
          </a:p>
        </p:txBody>
      </p:sp>
      <p:sp>
        <p:nvSpPr>
          <p:cNvPr id="8" name="Text Placeholder 17">
            <a:extLst>
              <a:ext uri="{FF2B5EF4-FFF2-40B4-BE49-F238E27FC236}">
                <a16:creationId xmlns:a16="http://schemas.microsoft.com/office/drawing/2014/main" id="{67C32E2B-F353-CB3E-3F37-B4B2BFC585B2}"/>
              </a:ext>
            </a:extLst>
          </p:cNvPr>
          <p:cNvSpPr txBox="1">
            <a:spLocks/>
          </p:cNvSpPr>
          <p:nvPr/>
        </p:nvSpPr>
        <p:spPr>
          <a:xfrm>
            <a:off x="465138" y="556955"/>
            <a:ext cx="4169924" cy="20666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5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Insurance Management Software Provider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p:txBody>
      </p:sp>
      <p:sp>
        <p:nvSpPr>
          <p:cNvPr id="9" name="Title 7">
            <a:extLst>
              <a:ext uri="{FF2B5EF4-FFF2-40B4-BE49-F238E27FC236}">
                <a16:creationId xmlns:a16="http://schemas.microsoft.com/office/drawing/2014/main" id="{733ED1D3-C2BC-346C-83AA-80DA8626DABA}"/>
              </a:ext>
            </a:extLst>
          </p:cNvPr>
          <p:cNvSpPr txBox="1">
            <a:spLocks/>
          </p:cNvSpPr>
          <p:nvPr/>
        </p:nvSpPr>
        <p:spPr>
          <a:xfrm>
            <a:off x="460373" y="763616"/>
            <a:ext cx="5868709" cy="64926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How can we modernize our codebase and experience to engage our users in a different way? How can insurance agents close/renew policies more quickly?</a:t>
            </a:r>
          </a:p>
        </p:txBody>
      </p:sp>
      <p:sp>
        <p:nvSpPr>
          <p:cNvPr id="10" name="Text Placeholder 5">
            <a:extLst>
              <a:ext uri="{FF2B5EF4-FFF2-40B4-BE49-F238E27FC236}">
                <a16:creationId xmlns:a16="http://schemas.microsoft.com/office/drawing/2014/main" id="{219A5695-988B-6417-A4A0-C741D9530236}"/>
              </a:ext>
            </a:extLst>
          </p:cNvPr>
          <p:cNvSpPr txBox="1">
            <a:spLocks/>
          </p:cNvSpPr>
          <p:nvPr/>
        </p:nvSpPr>
        <p:spPr>
          <a:xfrm>
            <a:off x="460376" y="2836826"/>
            <a:ext cx="5749924" cy="291267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1200" b="1" i="0" u="none" strike="noStrike" kern="1200" cap="none" spc="0" normalizeH="0" baseline="0" noProof="0">
                <a:ln>
                  <a:noFill/>
                </a:ln>
                <a:solidFill>
                  <a:srgbClr val="0047FF"/>
                </a:solidFill>
                <a:effectLst/>
                <a:uLnTx/>
                <a:uFillTx/>
                <a:latin typeface="Arial" panose="020B0604020202020204"/>
                <a:ea typeface="Roboto" panose="02000000000000000000" pitchFamily="2" charset="0"/>
                <a:cs typeface="Segoe UI" panose="020B0502040204020203" pitchFamily="34" charset="0"/>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Conducted persona identification, product discovery, user journey mapping, and prototyping to evaluate and test approaches for simplifying agent interaction, ultimately finding that offloading data entry to customers was preferred and saved agent time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Modernized client's software by prioritizing key features, streamlining workflows, and integrating advanced technologies, resulting in enhanced performance, user experience, and significant improvements in operational capabilities and customer satisfaction</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Assembled a multi-disciplinary team to build both web and native mobile applications, supporting modern agent/customer interaction and driving efficiency and innovation.</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38504034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67D3D-F7C8-32D9-4791-23283D5AF6FF}"/>
            </a:ext>
          </a:extLst>
        </p:cNvPr>
        <p:cNvGrpSpPr/>
        <p:nvPr/>
      </p:nvGrpSpPr>
      <p:grpSpPr>
        <a:xfrm>
          <a:off x="0" y="0"/>
          <a:ext cx="0" cy="0"/>
          <a:chOff x="0" y="0"/>
          <a:chExt cx="0" cy="0"/>
        </a:xfrm>
      </p:grpSpPr>
      <p:sp>
        <p:nvSpPr>
          <p:cNvPr id="24" name="Text Placeholder 15">
            <a:extLst>
              <a:ext uri="{FF2B5EF4-FFF2-40B4-BE49-F238E27FC236}">
                <a16:creationId xmlns:a16="http://schemas.microsoft.com/office/drawing/2014/main" id="{E56272D0-09FD-43B1-9AD0-83752310133D}"/>
              </a:ext>
            </a:extLst>
          </p:cNvPr>
          <p:cNvSpPr txBox="1">
            <a:spLocks/>
          </p:cNvSpPr>
          <p:nvPr/>
        </p:nvSpPr>
        <p:spPr>
          <a:xfrm>
            <a:off x="6616699" y="2347614"/>
            <a:ext cx="5111749" cy="1435608"/>
          </a:xfrm>
          <a:prstGeom prst="rect">
            <a:avLst/>
          </a:prstGeom>
          <a:solidFill>
            <a:schemeClr val="accent4"/>
          </a:solidFill>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200" b="0" i="0" kern="1200" cap="none" baseline="0">
                <a:solidFill>
                  <a:schemeClr val="bg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200" b="0" i="0" kern="1200" cap="none" baseline="0">
                <a:solidFill>
                  <a:schemeClr val="bg1"/>
                </a:solidFill>
                <a:latin typeface="+mn-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200" b="0" i="0" kern="1200" cap="none" baseline="0">
                <a:solidFill>
                  <a:schemeClr val="bg1"/>
                </a:solidFill>
                <a:latin typeface="+mn-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200" b="0" i="0" kern="1200" cap="none" baseline="0">
                <a:solidFill>
                  <a:schemeClr val="bg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200" b="0" i="0" kern="1200" cap="none" baseline="0">
                <a:solidFill>
                  <a:schemeClr val="bg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 </a:t>
            </a:r>
          </a:p>
        </p:txBody>
      </p:sp>
      <p:sp>
        <p:nvSpPr>
          <p:cNvPr id="3" name="Footer Placeholder 2">
            <a:extLst>
              <a:ext uri="{FF2B5EF4-FFF2-40B4-BE49-F238E27FC236}">
                <a16:creationId xmlns:a16="http://schemas.microsoft.com/office/drawing/2014/main" id="{87288E0A-D207-7880-9021-A21E8563393E}"/>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2F5ACE27-830D-9D06-A011-D2B6DFE4BFA9}"/>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67</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3DA6E894-8667-B641-8538-734A3D2585D1}"/>
              </a:ext>
            </a:extLst>
          </p:cNvPr>
          <p:cNvSpPr>
            <a:spLocks noGrp="1"/>
          </p:cNvSpPr>
          <p:nvPr>
            <p:ph type="body" sz="quarter" idx="44"/>
          </p:nvPr>
        </p:nvSpPr>
        <p:spPr/>
        <p:txBody>
          <a:bodyPr/>
          <a:lstStyle/>
          <a:p>
            <a:r>
              <a:rPr lang="en-US"/>
              <a:t>CLIENT STORIES</a:t>
            </a:r>
          </a:p>
        </p:txBody>
      </p:sp>
      <p:sp>
        <p:nvSpPr>
          <p:cNvPr id="9" name="Text Placeholder 18">
            <a:extLst>
              <a:ext uri="{FF2B5EF4-FFF2-40B4-BE49-F238E27FC236}">
                <a16:creationId xmlns:a16="http://schemas.microsoft.com/office/drawing/2014/main" id="{7356845F-5105-F892-B7AD-6B9374621637}"/>
              </a:ext>
            </a:extLst>
          </p:cNvPr>
          <p:cNvSpPr>
            <a:spLocks noGrp="1"/>
          </p:cNvSpPr>
          <p:nvPr>
            <p:ph type="body" sz="quarter" idx="33"/>
          </p:nvPr>
        </p:nvSpPr>
        <p:spPr>
          <a:xfrm>
            <a:off x="6616700" y="763615"/>
            <a:ext cx="5111750" cy="1435608"/>
          </a:xfrm>
        </p:spPr>
        <p:txBody>
          <a:bodyPr/>
          <a:lstStyle/>
          <a:p>
            <a:endParaRPr lang="en-US"/>
          </a:p>
        </p:txBody>
      </p:sp>
      <p:sp>
        <p:nvSpPr>
          <p:cNvPr id="10" name="Text Placeholder 24">
            <a:extLst>
              <a:ext uri="{FF2B5EF4-FFF2-40B4-BE49-F238E27FC236}">
                <a16:creationId xmlns:a16="http://schemas.microsoft.com/office/drawing/2014/main" id="{37D94726-2C90-2EB7-9532-8D11CEEC05ED}"/>
              </a:ext>
            </a:extLst>
          </p:cNvPr>
          <p:cNvSpPr>
            <a:spLocks noGrp="1"/>
          </p:cNvSpPr>
          <p:nvPr>
            <p:ph type="body" sz="quarter" idx="23"/>
          </p:nvPr>
        </p:nvSpPr>
        <p:spPr>
          <a:xfrm>
            <a:off x="6790550" y="845690"/>
            <a:ext cx="1546641" cy="510741"/>
          </a:xfrm>
        </p:spPr>
        <p:txBody>
          <a:bodyPr>
            <a:normAutofit fontScale="92500" lnSpcReduction="10000"/>
          </a:bodyPr>
          <a:lstStyle/>
          <a:p>
            <a:r>
              <a:rPr lang="en-US" sz="4000">
                <a:ea typeface="Roboto"/>
                <a:cs typeface="Segoe UI"/>
              </a:rPr>
              <a:t>65%</a:t>
            </a:r>
            <a:endParaRPr lang="en-US" sz="4000"/>
          </a:p>
        </p:txBody>
      </p:sp>
      <p:sp>
        <p:nvSpPr>
          <p:cNvPr id="11" name="Text Placeholder 26">
            <a:extLst>
              <a:ext uri="{FF2B5EF4-FFF2-40B4-BE49-F238E27FC236}">
                <a16:creationId xmlns:a16="http://schemas.microsoft.com/office/drawing/2014/main" id="{9BB691FB-AB68-4CE5-E34A-33805A5285BE}"/>
              </a:ext>
            </a:extLst>
          </p:cNvPr>
          <p:cNvSpPr>
            <a:spLocks noGrp="1"/>
          </p:cNvSpPr>
          <p:nvPr>
            <p:ph type="body" sz="quarter" idx="31"/>
          </p:nvPr>
        </p:nvSpPr>
        <p:spPr>
          <a:xfrm>
            <a:off x="6790551" y="1508788"/>
            <a:ext cx="1372791" cy="556953"/>
          </a:xfrm>
        </p:spPr>
        <p:txBody>
          <a:bodyPr/>
          <a:lstStyle/>
          <a:p>
            <a:r>
              <a:rPr lang="en-US">
                <a:ea typeface="Roboto"/>
                <a:cs typeface="Segoe UI"/>
              </a:rPr>
              <a:t>Time Savings for Consultants</a:t>
            </a:r>
            <a:endParaRPr lang="en-US"/>
          </a:p>
        </p:txBody>
      </p:sp>
      <p:sp>
        <p:nvSpPr>
          <p:cNvPr id="12" name="Text Placeholder 27">
            <a:extLst>
              <a:ext uri="{FF2B5EF4-FFF2-40B4-BE49-F238E27FC236}">
                <a16:creationId xmlns:a16="http://schemas.microsoft.com/office/drawing/2014/main" id="{15DE1C8F-9991-8BA7-59B5-8A612BF2B9C6}"/>
              </a:ext>
            </a:extLst>
          </p:cNvPr>
          <p:cNvSpPr>
            <a:spLocks noGrp="1"/>
          </p:cNvSpPr>
          <p:nvPr>
            <p:ph type="body" sz="quarter" idx="32"/>
          </p:nvPr>
        </p:nvSpPr>
        <p:spPr>
          <a:xfrm>
            <a:off x="8450961" y="763614"/>
            <a:ext cx="3149368" cy="1435608"/>
          </a:xfrm>
        </p:spPr>
        <p:txBody>
          <a:bodyPr lIns="0" tIns="0" anchor="ctr"/>
          <a:lstStyle/>
          <a:p>
            <a:r>
              <a:rPr lang="en-US"/>
              <a:t>Reduction in total report generation duration, saving consultants time</a:t>
            </a:r>
          </a:p>
        </p:txBody>
      </p:sp>
      <p:pic>
        <p:nvPicPr>
          <p:cNvPr id="13" name="Picture 12" descr="A screenshot of a medical application&#10;&#10;AI-generated content may be incorrect.">
            <a:extLst>
              <a:ext uri="{FF2B5EF4-FFF2-40B4-BE49-F238E27FC236}">
                <a16:creationId xmlns:a16="http://schemas.microsoft.com/office/drawing/2014/main" id="{B2C021A4-E574-BD8D-9D1E-6B56C71479DC}"/>
              </a:ext>
            </a:extLst>
          </p:cNvPr>
          <p:cNvPicPr>
            <a:picLocks noChangeAspect="1"/>
          </p:cNvPicPr>
          <p:nvPr/>
        </p:nvPicPr>
        <p:blipFill>
          <a:blip r:embed="rId3"/>
          <a:stretch>
            <a:fillRect/>
          </a:stretch>
        </p:blipFill>
        <p:spPr>
          <a:xfrm>
            <a:off x="6616700" y="3931614"/>
            <a:ext cx="2904928" cy="1817889"/>
          </a:xfrm>
          <a:prstGeom prst="rect">
            <a:avLst/>
          </a:prstGeom>
        </p:spPr>
      </p:pic>
      <p:pic>
        <p:nvPicPr>
          <p:cNvPr id="2" name="Picture 1" descr="A screenshot of a medical form&#10;&#10;AI-generated content may be incorrect.">
            <a:extLst>
              <a:ext uri="{FF2B5EF4-FFF2-40B4-BE49-F238E27FC236}">
                <a16:creationId xmlns:a16="http://schemas.microsoft.com/office/drawing/2014/main" id="{BC4AF41B-EA7A-B368-E99C-A097C2657A8A}"/>
              </a:ext>
            </a:extLst>
          </p:cNvPr>
          <p:cNvPicPr>
            <a:picLocks noChangeAspect="1"/>
          </p:cNvPicPr>
          <p:nvPr/>
        </p:nvPicPr>
        <p:blipFill>
          <a:blip r:embed="rId4"/>
          <a:stretch>
            <a:fillRect/>
          </a:stretch>
        </p:blipFill>
        <p:spPr>
          <a:xfrm>
            <a:off x="8634050" y="4227816"/>
            <a:ext cx="2894846" cy="1784494"/>
          </a:xfrm>
          <a:prstGeom prst="rect">
            <a:avLst/>
          </a:prstGeom>
        </p:spPr>
      </p:pic>
      <p:sp>
        <p:nvSpPr>
          <p:cNvPr id="15" name="Text Placeholder 24">
            <a:extLst>
              <a:ext uri="{FF2B5EF4-FFF2-40B4-BE49-F238E27FC236}">
                <a16:creationId xmlns:a16="http://schemas.microsoft.com/office/drawing/2014/main" id="{4C1EE061-5335-DDA1-CEE5-59B281662545}"/>
              </a:ext>
            </a:extLst>
          </p:cNvPr>
          <p:cNvSpPr txBox="1">
            <a:spLocks/>
          </p:cNvSpPr>
          <p:nvPr/>
        </p:nvSpPr>
        <p:spPr>
          <a:xfrm>
            <a:off x="6790550" y="2458579"/>
            <a:ext cx="1546641" cy="997738"/>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36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36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3600" b="1"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36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70154"/>
                </a:solidFill>
                <a:effectLst/>
                <a:uLnTx/>
                <a:uFillTx/>
                <a:latin typeface="Arial" panose="020B0604020202020204"/>
                <a:ea typeface="Roboto"/>
                <a:cs typeface="Segoe UI"/>
              </a:rPr>
              <a:t>+$30K</a:t>
            </a:r>
            <a:endParaRPr kumimoji="0" lang="en-US" sz="40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
        <p:nvSpPr>
          <p:cNvPr id="17" name="Text Placeholder 26">
            <a:extLst>
              <a:ext uri="{FF2B5EF4-FFF2-40B4-BE49-F238E27FC236}">
                <a16:creationId xmlns:a16="http://schemas.microsoft.com/office/drawing/2014/main" id="{4C47357F-C0E2-CA76-1E7E-1C912FB1E872}"/>
              </a:ext>
            </a:extLst>
          </p:cNvPr>
          <p:cNvSpPr txBox="1">
            <a:spLocks/>
          </p:cNvSpPr>
          <p:nvPr/>
        </p:nvSpPr>
        <p:spPr>
          <a:xfrm>
            <a:off x="6790551" y="3101914"/>
            <a:ext cx="1372792" cy="556953"/>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4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400" b="1"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4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70154"/>
                </a:solidFill>
                <a:effectLst/>
                <a:uLnTx/>
                <a:uFillTx/>
                <a:latin typeface="Arial" panose="020B0604020202020204"/>
                <a:ea typeface="Roboto"/>
                <a:cs typeface="Segoe UI"/>
              </a:rPr>
              <a:t>Avg. Savings per Customer</a:t>
            </a:r>
            <a:endParaRPr kumimoji="0" lang="en-US" sz="14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 Placeholder 27">
            <a:extLst>
              <a:ext uri="{FF2B5EF4-FFF2-40B4-BE49-F238E27FC236}">
                <a16:creationId xmlns:a16="http://schemas.microsoft.com/office/drawing/2014/main" id="{DDB88241-31A9-A00A-EF81-A73207A3F642}"/>
              </a:ext>
            </a:extLst>
          </p:cNvPr>
          <p:cNvSpPr txBox="1">
            <a:spLocks/>
          </p:cNvSpPr>
          <p:nvPr/>
        </p:nvSpPr>
        <p:spPr>
          <a:xfrm>
            <a:off x="8446675" y="2347613"/>
            <a:ext cx="3149368" cy="1435607"/>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0"/>
              </a:spcBef>
              <a:spcAft>
                <a:spcPts val="0"/>
              </a:spcAft>
              <a:buFontTx/>
              <a:buNone/>
              <a:defRPr sz="1200" b="0"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200" b="0" i="0" kern="1200" cap="none" baseline="0">
                <a:solidFill>
                  <a:schemeClr val="tx1"/>
                </a:solidFill>
                <a:latin typeface="+mn-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200" b="0" i="0" kern="1200" cap="none" baseline="0">
                <a:solidFill>
                  <a:schemeClr val="tx1"/>
                </a:solidFill>
                <a:latin typeface="+mn-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200" b="0" i="0" kern="1200" cap="none" baseline="0">
                <a:solidFill>
                  <a:schemeClr val="tx1"/>
                </a:solidFill>
                <a:latin typeface="+mn-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200" b="0"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200" b="0" i="0" kern="1200" cap="none" baseline="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Based on the time savings gained through the changes our team implemented </a:t>
            </a:r>
          </a:p>
        </p:txBody>
      </p:sp>
      <p:sp>
        <p:nvSpPr>
          <p:cNvPr id="8" name="Text Placeholder 5">
            <a:extLst>
              <a:ext uri="{FF2B5EF4-FFF2-40B4-BE49-F238E27FC236}">
                <a16:creationId xmlns:a16="http://schemas.microsoft.com/office/drawing/2014/main" id="{A4C0FA7A-FCAD-0905-BA75-FFAEC46CADA2}"/>
              </a:ext>
            </a:extLst>
          </p:cNvPr>
          <p:cNvSpPr txBox="1">
            <a:spLocks/>
          </p:cNvSpPr>
          <p:nvPr/>
        </p:nvSpPr>
        <p:spPr>
          <a:xfrm>
            <a:off x="460374" y="1714500"/>
            <a:ext cx="5749925" cy="91549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Client is a leading provider of affirmative action and compliance solutions which are backed by the advanced capabilities of a proprietary plan management platform. The legacy on-premise platform requires a technical redesign and modernization to address lengthy report processing time, limited integration with third-party systems (e.g., CRM, HRIS, etc.), duplicative functionality and complex user workflows, and security vulnerabilities arising from local desktop database calls.</a:t>
            </a:r>
          </a:p>
        </p:txBody>
      </p:sp>
      <p:sp>
        <p:nvSpPr>
          <p:cNvPr id="14" name="Text Placeholder 17">
            <a:extLst>
              <a:ext uri="{FF2B5EF4-FFF2-40B4-BE49-F238E27FC236}">
                <a16:creationId xmlns:a16="http://schemas.microsoft.com/office/drawing/2014/main" id="{B5E4750B-3937-8AB6-9BA2-19E93B926F59}"/>
              </a:ext>
            </a:extLst>
          </p:cNvPr>
          <p:cNvSpPr txBox="1">
            <a:spLocks/>
          </p:cNvSpPr>
          <p:nvPr/>
        </p:nvSpPr>
        <p:spPr>
          <a:xfrm>
            <a:off x="465138" y="556955"/>
            <a:ext cx="4169924" cy="20666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5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HR COMPLIANCE Software Provider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p:txBody>
      </p:sp>
      <p:sp>
        <p:nvSpPr>
          <p:cNvPr id="16" name="Title 7">
            <a:extLst>
              <a:ext uri="{FF2B5EF4-FFF2-40B4-BE49-F238E27FC236}">
                <a16:creationId xmlns:a16="http://schemas.microsoft.com/office/drawing/2014/main" id="{6D94E3CA-A220-F91A-0AF6-EEAE4D7A9B6B}"/>
              </a:ext>
            </a:extLst>
          </p:cNvPr>
          <p:cNvSpPr txBox="1">
            <a:spLocks/>
          </p:cNvSpPr>
          <p:nvPr/>
        </p:nvSpPr>
        <p:spPr>
          <a:xfrm>
            <a:off x="460373" y="763616"/>
            <a:ext cx="5868709" cy="64926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How can we prepare for future acquisitive growth and expansion of our enterprise customer base?</a:t>
            </a:r>
          </a:p>
        </p:txBody>
      </p:sp>
      <p:sp>
        <p:nvSpPr>
          <p:cNvPr id="19" name="Text Placeholder 5">
            <a:extLst>
              <a:ext uri="{FF2B5EF4-FFF2-40B4-BE49-F238E27FC236}">
                <a16:creationId xmlns:a16="http://schemas.microsoft.com/office/drawing/2014/main" id="{C8382A11-5893-4B46-9560-1B0517F82E1C}"/>
              </a:ext>
            </a:extLst>
          </p:cNvPr>
          <p:cNvSpPr txBox="1">
            <a:spLocks/>
          </p:cNvSpPr>
          <p:nvPr/>
        </p:nvSpPr>
        <p:spPr>
          <a:xfrm>
            <a:off x="460376" y="2995167"/>
            <a:ext cx="5749924" cy="291267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1200" b="1" i="0" u="none" strike="noStrike" kern="1200" cap="none" spc="0" normalizeH="0" baseline="0" noProof="0">
                <a:ln>
                  <a:noFill/>
                </a:ln>
                <a:solidFill>
                  <a:srgbClr val="0047FF"/>
                </a:solidFill>
                <a:effectLst/>
                <a:uLnTx/>
                <a:uFillTx/>
                <a:latin typeface="Arial" panose="020B0604020202020204"/>
                <a:ea typeface="Roboto" panose="02000000000000000000" pitchFamily="2" charset="0"/>
                <a:cs typeface="Segoe UI" panose="020B0502040204020203" pitchFamily="34" charset="0"/>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Conducted 35+ interviews with internal users to document existing functionality &amp; pain points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Assembled an 18-member agile product development team to design and implement the next generation plan management system to accelerate client’s time-to-market</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Developed a roadmap to reduce existing technical debt by rewriting legacy systems using modern, cloud-based technologies (i.e., Microsoft Azure, OpenAI, etc.), including architecture to support future GenAI and Predictive Analytics use case implementation (i.e., predicting billing, cross-sell/upsell, </a:t>
            </a:r>
            <a:r>
              <a:rPr kumimoji="0" lang="en-US" sz="1050" b="0" i="0" u="none" strike="noStrike" kern="1200" cap="none" spc="0" normalizeH="0" baseline="0" noProof="0" err="1">
                <a:ln>
                  <a:noFill/>
                </a:ln>
                <a:solidFill>
                  <a:srgbClr val="070154"/>
                </a:solidFill>
                <a:effectLst/>
                <a:uLnTx/>
                <a:uFillTx/>
                <a:latin typeface="Arial" panose="020B0604020202020204"/>
                <a:ea typeface="Roboto" panose="02000000000000000000" pitchFamily="2" charset="0"/>
                <a:cs typeface="Segoe UI" panose="020B0502040204020203" pitchFamily="34" charset="0"/>
              </a:rPr>
              <a:t>RevOps</a:t>
            </a: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Designed and built a new platform that will simplify the plan management process, leverage AI/ML to automate highly manual tasks, and provide the foundation for future growth, using modern cloud infrastructure to automate current processes, enable high availability, and drive faster report processing</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Optimized platform costs by leveraging cloud-native technologies (e.g., data storage, analytics, etc.) that only incur costs when in use without impacting application scalability </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21040915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CDA3A-87DF-2477-DD69-CCBE30800F7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E05B328-19A3-EC4A-A1EC-1700161A55D9}"/>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6803F1DC-4827-1163-5570-D986BE5E383C}"/>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68</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67952E7E-1ECA-B74C-7ED1-BB2F9CF5AA21}"/>
              </a:ext>
            </a:extLst>
          </p:cNvPr>
          <p:cNvSpPr>
            <a:spLocks noGrp="1"/>
          </p:cNvSpPr>
          <p:nvPr>
            <p:ph type="body" sz="quarter" idx="44"/>
          </p:nvPr>
        </p:nvSpPr>
        <p:spPr/>
        <p:txBody>
          <a:bodyPr/>
          <a:lstStyle/>
          <a:p>
            <a:r>
              <a:rPr lang="en-US"/>
              <a:t>CLIENT STORIES</a:t>
            </a:r>
          </a:p>
        </p:txBody>
      </p:sp>
      <p:pic>
        <p:nvPicPr>
          <p:cNvPr id="20" name="Picture 19">
            <a:extLst>
              <a:ext uri="{FF2B5EF4-FFF2-40B4-BE49-F238E27FC236}">
                <a16:creationId xmlns:a16="http://schemas.microsoft.com/office/drawing/2014/main" id="{2520B656-A0CE-0889-7332-33EC0E243CC2}"/>
              </a:ext>
            </a:extLst>
          </p:cNvPr>
          <p:cNvPicPr>
            <a:picLocks noChangeAspect="1"/>
          </p:cNvPicPr>
          <p:nvPr/>
        </p:nvPicPr>
        <p:blipFill>
          <a:blip r:embed="rId3"/>
          <a:stretch>
            <a:fillRect/>
          </a:stretch>
        </p:blipFill>
        <p:spPr>
          <a:xfrm>
            <a:off x="6631155" y="762000"/>
            <a:ext cx="4351472" cy="4142779"/>
          </a:xfrm>
          <a:prstGeom prst="rect">
            <a:avLst/>
          </a:prstGeom>
          <a:solidFill>
            <a:srgbClr val="FFFFFF">
              <a:shade val="85000"/>
            </a:srgbClr>
          </a:solidFill>
          <a:ln w="9525" cap="rnd">
            <a:solidFill>
              <a:schemeClr val="tx1"/>
            </a:solidFill>
          </a:ln>
          <a:effectLst/>
          <a:scene3d>
            <a:camera prst="orthographicFront"/>
            <a:lightRig rig="twoPt" dir="t">
              <a:rot lat="0" lon="0" rev="7800000"/>
            </a:lightRig>
          </a:scene3d>
          <a:sp3d contourW="6350">
            <a:bevelT w="50800" h="16510"/>
            <a:contourClr>
              <a:srgbClr val="C0C0C0"/>
            </a:contourClr>
          </a:sp3d>
        </p:spPr>
      </p:pic>
      <p:pic>
        <p:nvPicPr>
          <p:cNvPr id="21" name="Picture 20">
            <a:extLst>
              <a:ext uri="{FF2B5EF4-FFF2-40B4-BE49-F238E27FC236}">
                <a16:creationId xmlns:a16="http://schemas.microsoft.com/office/drawing/2014/main" id="{CC460E78-1192-3687-8114-7A319E8F6D34}"/>
              </a:ext>
            </a:extLst>
          </p:cNvPr>
          <p:cNvPicPr>
            <a:picLocks noChangeAspect="1"/>
          </p:cNvPicPr>
          <p:nvPr/>
        </p:nvPicPr>
        <p:blipFill>
          <a:blip r:embed="rId4"/>
          <a:stretch>
            <a:fillRect/>
          </a:stretch>
        </p:blipFill>
        <p:spPr>
          <a:xfrm>
            <a:off x="7644384" y="2485272"/>
            <a:ext cx="4084066" cy="3534528"/>
          </a:xfrm>
          <a:prstGeom prst="rect">
            <a:avLst/>
          </a:prstGeom>
          <a:solidFill>
            <a:srgbClr val="FFFFFF">
              <a:shade val="85000"/>
            </a:srgbClr>
          </a:solidFill>
          <a:ln w="9525" cap="rnd">
            <a:solidFill>
              <a:schemeClr val="tx1"/>
            </a:solidFill>
          </a:ln>
          <a:effectLst/>
          <a:scene3d>
            <a:camera prst="orthographicFront"/>
            <a:lightRig rig="twoPt" dir="t">
              <a:rot lat="0" lon="0" rev="7800000"/>
            </a:lightRig>
          </a:scene3d>
          <a:sp3d contourW="6350">
            <a:bevelT w="50800" h="16510"/>
            <a:contourClr>
              <a:srgbClr val="C0C0C0"/>
            </a:contourClr>
          </a:sp3d>
        </p:spPr>
      </p:pic>
      <p:sp>
        <p:nvSpPr>
          <p:cNvPr id="2" name="Text Placeholder 5">
            <a:extLst>
              <a:ext uri="{FF2B5EF4-FFF2-40B4-BE49-F238E27FC236}">
                <a16:creationId xmlns:a16="http://schemas.microsoft.com/office/drawing/2014/main" id="{0FDE28FB-B0D6-BF9C-82F9-09E2E2F01493}"/>
              </a:ext>
            </a:extLst>
          </p:cNvPr>
          <p:cNvSpPr txBox="1">
            <a:spLocks/>
          </p:cNvSpPr>
          <p:nvPr/>
        </p:nvSpPr>
        <p:spPr>
          <a:xfrm>
            <a:off x="460374" y="1714500"/>
            <a:ext cx="5749925" cy="91549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Client doubled in revenue during the pandemic and its systems were struggling to support the rapid growth. They needed a reliable partner that could scale their engineering team to meet deadlines.</a:t>
            </a:r>
          </a:p>
        </p:txBody>
      </p:sp>
      <p:sp>
        <p:nvSpPr>
          <p:cNvPr id="8" name="Text Placeholder 17">
            <a:extLst>
              <a:ext uri="{FF2B5EF4-FFF2-40B4-BE49-F238E27FC236}">
                <a16:creationId xmlns:a16="http://schemas.microsoft.com/office/drawing/2014/main" id="{FE5BAC16-3744-59B1-8915-8033AA2849CC}"/>
              </a:ext>
            </a:extLst>
          </p:cNvPr>
          <p:cNvSpPr txBox="1">
            <a:spLocks/>
          </p:cNvSpPr>
          <p:nvPr/>
        </p:nvSpPr>
        <p:spPr>
          <a:xfrm>
            <a:off x="465137" y="556955"/>
            <a:ext cx="5106987" cy="20666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5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Large Packaging/Shipping Materials Provider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p:txBody>
      </p:sp>
      <p:sp>
        <p:nvSpPr>
          <p:cNvPr id="9" name="Title 7">
            <a:extLst>
              <a:ext uri="{FF2B5EF4-FFF2-40B4-BE49-F238E27FC236}">
                <a16:creationId xmlns:a16="http://schemas.microsoft.com/office/drawing/2014/main" id="{A55F4F4B-080E-F6B0-5235-1BEF97F61509}"/>
              </a:ext>
            </a:extLst>
          </p:cNvPr>
          <p:cNvSpPr txBox="1">
            <a:spLocks/>
          </p:cNvSpPr>
          <p:nvPr/>
        </p:nvSpPr>
        <p:spPr>
          <a:xfrm>
            <a:off x="460373" y="763616"/>
            <a:ext cx="5868709" cy="64926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How can we build a modern platform to replace our legacy apps?</a:t>
            </a:r>
          </a:p>
        </p:txBody>
      </p:sp>
      <p:sp>
        <p:nvSpPr>
          <p:cNvPr id="10" name="Text Placeholder 5">
            <a:extLst>
              <a:ext uri="{FF2B5EF4-FFF2-40B4-BE49-F238E27FC236}">
                <a16:creationId xmlns:a16="http://schemas.microsoft.com/office/drawing/2014/main" id="{80E2C286-3391-F541-CDF8-93F3993B4CDA}"/>
              </a:ext>
            </a:extLst>
          </p:cNvPr>
          <p:cNvSpPr txBox="1">
            <a:spLocks/>
          </p:cNvSpPr>
          <p:nvPr/>
        </p:nvSpPr>
        <p:spPr>
          <a:xfrm>
            <a:off x="460376" y="2450498"/>
            <a:ext cx="5749924" cy="291267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1200" b="1" i="0" u="none" strike="noStrike" kern="1200" cap="none" spc="0" normalizeH="0" baseline="0" noProof="0">
                <a:ln>
                  <a:noFill/>
                </a:ln>
                <a:solidFill>
                  <a:srgbClr val="0047FF"/>
                </a:solidFill>
                <a:effectLst/>
                <a:uLnTx/>
                <a:uFillTx/>
                <a:latin typeface="Arial" panose="020B0604020202020204"/>
                <a:ea typeface="Roboto" panose="02000000000000000000" pitchFamily="2" charset="0"/>
                <a:cs typeface="Segoe UI" panose="020B0502040204020203" pitchFamily="34" charset="0"/>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We worked to identify portions of the client’s modernization roadmap to help accelerate adoption of a modern services architecture to enable more flexible user interfaces across multiple mediums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We helped architect a custom Java Spring microservices tier and integrate into new and legacy applications with a modern DataStax environment</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West Monroe was able to embed teams alongside Uline’s teams and hit the ground running</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The collective team was able to revamp development processes that ran in a more agile fashion and work across the full spectrum of Uline applications to modernize the underlying data and services to be application agnostic.</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
        <p:nvSpPr>
          <p:cNvPr id="5" name="Rectangle 4">
            <a:extLst>
              <a:ext uri="{FF2B5EF4-FFF2-40B4-BE49-F238E27FC236}">
                <a16:creationId xmlns:a16="http://schemas.microsoft.com/office/drawing/2014/main" id="{CB1B973D-CD42-8F9C-5F29-7CFDF8044B72}"/>
              </a:ext>
            </a:extLst>
          </p:cNvPr>
          <p:cNvSpPr/>
          <p:nvPr/>
        </p:nvSpPr>
        <p:spPr bwMode="auto">
          <a:xfrm>
            <a:off x="6633633" y="838200"/>
            <a:ext cx="1729316" cy="254000"/>
          </a:xfrm>
          <a:prstGeom prst="rect">
            <a:avLst/>
          </a:prstGeom>
          <a:solidFill>
            <a:srgbClr val="063869"/>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6" name="Rectangle 5">
            <a:extLst>
              <a:ext uri="{FF2B5EF4-FFF2-40B4-BE49-F238E27FC236}">
                <a16:creationId xmlns:a16="http://schemas.microsoft.com/office/drawing/2014/main" id="{1AB11DFD-C7BE-A880-48E3-354D10BBA6C5}"/>
              </a:ext>
            </a:extLst>
          </p:cNvPr>
          <p:cNvSpPr/>
          <p:nvPr/>
        </p:nvSpPr>
        <p:spPr bwMode="auto">
          <a:xfrm>
            <a:off x="7714948" y="2528815"/>
            <a:ext cx="1729316" cy="254000"/>
          </a:xfrm>
          <a:prstGeom prst="rect">
            <a:avLst/>
          </a:prstGeom>
          <a:solidFill>
            <a:srgbClr val="063869"/>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Rectangle 6">
            <a:extLst>
              <a:ext uri="{FF2B5EF4-FFF2-40B4-BE49-F238E27FC236}">
                <a16:creationId xmlns:a16="http://schemas.microsoft.com/office/drawing/2014/main" id="{51A3B4AA-2C89-0F8A-5079-66E5A8EFB5A6}"/>
              </a:ext>
            </a:extLst>
          </p:cNvPr>
          <p:cNvSpPr/>
          <p:nvPr/>
        </p:nvSpPr>
        <p:spPr bwMode="auto">
          <a:xfrm>
            <a:off x="10266540" y="2359024"/>
            <a:ext cx="398285" cy="107197"/>
          </a:xfrm>
          <a:prstGeom prst="rect">
            <a:avLst/>
          </a:prstGeom>
          <a:solidFill>
            <a:srgbClr val="D61D1C"/>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14097010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E70D7-C707-7A1C-296C-391B5FC3C91F}"/>
            </a:ext>
          </a:extLst>
        </p:cNvPr>
        <p:cNvGrpSpPr/>
        <p:nvPr/>
      </p:nvGrpSpPr>
      <p:grpSpPr>
        <a:xfrm>
          <a:off x="0" y="0"/>
          <a:ext cx="0" cy="0"/>
          <a:chOff x="0" y="0"/>
          <a:chExt cx="0" cy="0"/>
        </a:xfrm>
      </p:grpSpPr>
      <p:sp>
        <p:nvSpPr>
          <p:cNvPr id="18" name="Text Placeholder 17">
            <a:extLst>
              <a:ext uri="{FF2B5EF4-FFF2-40B4-BE49-F238E27FC236}">
                <a16:creationId xmlns:a16="http://schemas.microsoft.com/office/drawing/2014/main" id="{2F367FFE-28B7-0250-94DC-276E258A2F5C}"/>
              </a:ext>
            </a:extLst>
          </p:cNvPr>
          <p:cNvSpPr>
            <a:spLocks noGrp="1"/>
          </p:cNvSpPr>
          <p:nvPr>
            <p:ph type="body" sz="quarter" idx="44"/>
          </p:nvPr>
        </p:nvSpPr>
        <p:spPr/>
        <p:txBody>
          <a:bodyPr/>
          <a:lstStyle/>
          <a:p>
            <a:r>
              <a:rPr lang="en-US"/>
              <a:t>CLIENT STORIES</a:t>
            </a:r>
          </a:p>
        </p:txBody>
      </p:sp>
      <p:sp>
        <p:nvSpPr>
          <p:cNvPr id="8" name="Text Placeholder 18">
            <a:extLst>
              <a:ext uri="{FF2B5EF4-FFF2-40B4-BE49-F238E27FC236}">
                <a16:creationId xmlns:a16="http://schemas.microsoft.com/office/drawing/2014/main" id="{B66519D6-F35E-505A-6362-862CE2377F20}"/>
              </a:ext>
            </a:extLst>
          </p:cNvPr>
          <p:cNvSpPr>
            <a:spLocks noGrp="1"/>
          </p:cNvSpPr>
          <p:nvPr>
            <p:ph type="body" sz="quarter" idx="33"/>
          </p:nvPr>
        </p:nvSpPr>
        <p:spPr>
          <a:xfrm>
            <a:off x="6603354" y="763615"/>
            <a:ext cx="2864495" cy="1436596"/>
          </a:xfrm>
        </p:spPr>
        <p:txBody>
          <a:bodyPr/>
          <a:lstStyle/>
          <a:p>
            <a:endParaRPr lang="en-US"/>
          </a:p>
        </p:txBody>
      </p:sp>
      <p:sp>
        <p:nvSpPr>
          <p:cNvPr id="9" name="Text Placeholder 24">
            <a:extLst>
              <a:ext uri="{FF2B5EF4-FFF2-40B4-BE49-F238E27FC236}">
                <a16:creationId xmlns:a16="http://schemas.microsoft.com/office/drawing/2014/main" id="{9B7F8B3A-D84E-466F-F6FB-FCB281B8234C}"/>
              </a:ext>
            </a:extLst>
          </p:cNvPr>
          <p:cNvSpPr>
            <a:spLocks noGrp="1"/>
          </p:cNvSpPr>
          <p:nvPr>
            <p:ph type="body" sz="quarter" idx="23"/>
          </p:nvPr>
        </p:nvSpPr>
        <p:spPr>
          <a:xfrm>
            <a:off x="6821239" y="946984"/>
            <a:ext cx="1372790" cy="510741"/>
          </a:xfrm>
        </p:spPr>
        <p:txBody>
          <a:bodyPr>
            <a:normAutofit fontScale="92500" lnSpcReduction="10000"/>
          </a:bodyPr>
          <a:lstStyle/>
          <a:p>
            <a:r>
              <a:rPr lang="en-US" sz="4000"/>
              <a:t>10X</a:t>
            </a:r>
          </a:p>
        </p:txBody>
      </p:sp>
      <p:sp>
        <p:nvSpPr>
          <p:cNvPr id="10" name="Text Placeholder 26">
            <a:extLst>
              <a:ext uri="{FF2B5EF4-FFF2-40B4-BE49-F238E27FC236}">
                <a16:creationId xmlns:a16="http://schemas.microsoft.com/office/drawing/2014/main" id="{11665D70-1437-ECF8-ABD8-BA90816DC79D}"/>
              </a:ext>
            </a:extLst>
          </p:cNvPr>
          <p:cNvSpPr>
            <a:spLocks noGrp="1"/>
          </p:cNvSpPr>
          <p:nvPr>
            <p:ph type="body" sz="quarter" idx="31"/>
          </p:nvPr>
        </p:nvSpPr>
        <p:spPr>
          <a:xfrm>
            <a:off x="6821239" y="1500224"/>
            <a:ext cx="1372791" cy="556953"/>
          </a:xfrm>
        </p:spPr>
        <p:txBody>
          <a:bodyPr/>
          <a:lstStyle/>
          <a:p>
            <a:r>
              <a:rPr lang="en-US"/>
              <a:t>Performance Gains</a:t>
            </a:r>
          </a:p>
        </p:txBody>
      </p:sp>
      <p:sp>
        <p:nvSpPr>
          <p:cNvPr id="11" name="Text Placeholder 27">
            <a:extLst>
              <a:ext uri="{FF2B5EF4-FFF2-40B4-BE49-F238E27FC236}">
                <a16:creationId xmlns:a16="http://schemas.microsoft.com/office/drawing/2014/main" id="{D5DA0685-CF98-1A71-5C88-5A5C491194DD}"/>
              </a:ext>
            </a:extLst>
          </p:cNvPr>
          <p:cNvSpPr>
            <a:spLocks noGrp="1"/>
          </p:cNvSpPr>
          <p:nvPr>
            <p:ph type="body" sz="quarter" idx="32"/>
          </p:nvPr>
        </p:nvSpPr>
        <p:spPr>
          <a:xfrm>
            <a:off x="7983546" y="762000"/>
            <a:ext cx="1372790" cy="1438211"/>
          </a:xfrm>
        </p:spPr>
        <p:txBody>
          <a:bodyPr lIns="0" tIns="0" anchor="ctr"/>
          <a:lstStyle/>
          <a:p>
            <a:r>
              <a:rPr lang="en-US"/>
              <a:t>Once complete with our team’s changes, the application yielded 10x performance gains.</a:t>
            </a:r>
          </a:p>
        </p:txBody>
      </p:sp>
      <p:pic>
        <p:nvPicPr>
          <p:cNvPr id="12" name="Picture 10" descr="Screenshot image 4">
            <a:extLst>
              <a:ext uri="{FF2B5EF4-FFF2-40B4-BE49-F238E27FC236}">
                <a16:creationId xmlns:a16="http://schemas.microsoft.com/office/drawing/2014/main" id="{39A528F9-53AD-EEFB-FFB9-B987ED20102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67" t="26077" r="6734" b="1086"/>
          <a:stretch/>
        </p:blipFill>
        <p:spPr bwMode="auto">
          <a:xfrm>
            <a:off x="6603355" y="2383581"/>
            <a:ext cx="2225583" cy="3748932"/>
          </a:xfrm>
          <a:prstGeom prst="round2Same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3" name="Picture 4" descr="Screenshot image 2">
            <a:extLst>
              <a:ext uri="{FF2B5EF4-FFF2-40B4-BE49-F238E27FC236}">
                <a16:creationId xmlns:a16="http://schemas.microsoft.com/office/drawing/2014/main" id="{1B881FE3-EB66-ED8E-4FEA-A31C0008813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099" t="25859" r="7309" b="-86"/>
          <a:stretch/>
        </p:blipFill>
        <p:spPr bwMode="auto">
          <a:xfrm>
            <a:off x="9036894" y="3209493"/>
            <a:ext cx="1685277" cy="2923020"/>
          </a:xfrm>
          <a:prstGeom prst="round2Same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4" name="Picture 14" descr="Screenshot image 3">
            <a:extLst>
              <a:ext uri="{FF2B5EF4-FFF2-40B4-BE49-F238E27FC236}">
                <a16:creationId xmlns:a16="http://schemas.microsoft.com/office/drawing/2014/main" id="{FF77BBCC-109F-7183-AF1D-29AC2D6536C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767" t="21563" r="7230" b="27163"/>
          <a:stretch/>
        </p:blipFill>
        <p:spPr bwMode="auto">
          <a:xfrm>
            <a:off x="9612709" y="762001"/>
            <a:ext cx="1843273" cy="2223796"/>
          </a:xfrm>
          <a:prstGeom prst="round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sp>
        <p:nvSpPr>
          <p:cNvPr id="2" name="Text Placeholder 5">
            <a:extLst>
              <a:ext uri="{FF2B5EF4-FFF2-40B4-BE49-F238E27FC236}">
                <a16:creationId xmlns:a16="http://schemas.microsoft.com/office/drawing/2014/main" id="{7BCE91BA-7D7A-1FFA-C970-1D99EEF8AF16}"/>
              </a:ext>
            </a:extLst>
          </p:cNvPr>
          <p:cNvSpPr txBox="1">
            <a:spLocks/>
          </p:cNvSpPr>
          <p:nvPr/>
        </p:nvSpPr>
        <p:spPr>
          <a:xfrm>
            <a:off x="460374" y="1714500"/>
            <a:ext cx="5749926" cy="91549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The application was no longer able to scale, and the underlying technology was reaching versions no longer supported making it difficult to grow and maintain.</a:t>
            </a:r>
          </a:p>
        </p:txBody>
      </p:sp>
      <p:sp>
        <p:nvSpPr>
          <p:cNvPr id="3" name="Text Placeholder 17">
            <a:extLst>
              <a:ext uri="{FF2B5EF4-FFF2-40B4-BE49-F238E27FC236}">
                <a16:creationId xmlns:a16="http://schemas.microsoft.com/office/drawing/2014/main" id="{9115B2B9-406F-A577-FEA7-2F5B2BD9940F}"/>
              </a:ext>
            </a:extLst>
          </p:cNvPr>
          <p:cNvSpPr txBox="1">
            <a:spLocks/>
          </p:cNvSpPr>
          <p:nvPr/>
        </p:nvSpPr>
        <p:spPr>
          <a:xfrm>
            <a:off x="465137" y="556955"/>
            <a:ext cx="5106987" cy="20666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5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Golf Club Owner/Operator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p:txBody>
      </p:sp>
      <p:sp>
        <p:nvSpPr>
          <p:cNvPr id="16" name="Title 7">
            <a:extLst>
              <a:ext uri="{FF2B5EF4-FFF2-40B4-BE49-F238E27FC236}">
                <a16:creationId xmlns:a16="http://schemas.microsoft.com/office/drawing/2014/main" id="{5D6A3AB6-5415-ADD7-0CA6-1B7858EC3C2D}"/>
              </a:ext>
            </a:extLst>
          </p:cNvPr>
          <p:cNvSpPr txBox="1">
            <a:spLocks/>
          </p:cNvSpPr>
          <p:nvPr/>
        </p:nvSpPr>
        <p:spPr>
          <a:xfrm>
            <a:off x="460373" y="763616"/>
            <a:ext cx="5868709" cy="64926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How can we fix critical performance and security issues in our critical caddie booking system?</a:t>
            </a:r>
          </a:p>
        </p:txBody>
      </p:sp>
      <p:sp>
        <p:nvSpPr>
          <p:cNvPr id="17" name="Text Placeholder 5">
            <a:extLst>
              <a:ext uri="{FF2B5EF4-FFF2-40B4-BE49-F238E27FC236}">
                <a16:creationId xmlns:a16="http://schemas.microsoft.com/office/drawing/2014/main" id="{A3A4EC71-EFAC-CB78-45B3-78F4FC97F04D}"/>
              </a:ext>
            </a:extLst>
          </p:cNvPr>
          <p:cNvSpPr txBox="1">
            <a:spLocks/>
          </p:cNvSpPr>
          <p:nvPr/>
        </p:nvSpPr>
        <p:spPr>
          <a:xfrm>
            <a:off x="460376" y="2304662"/>
            <a:ext cx="5749924" cy="305851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1200" b="1" i="0" u="none" strike="noStrike" kern="1200" cap="none" spc="0" normalizeH="0" baseline="0" noProof="0">
                <a:ln>
                  <a:noFill/>
                </a:ln>
                <a:solidFill>
                  <a:srgbClr val="0047FF"/>
                </a:solidFill>
                <a:effectLst/>
                <a:uLnTx/>
                <a:uFillTx/>
                <a:latin typeface="Arial" panose="020B0604020202020204"/>
                <a:ea typeface="Roboto" panose="02000000000000000000" pitchFamily="2" charset="0"/>
                <a:cs typeface="Segoe UI" panose="020B0502040204020203" pitchFamily="34" charset="0"/>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Performed a deep technical analysis of code, databases, and infrastructure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Established reusable tests and metrics to identify performance bottlenecks and gauge effectiveness of improvements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Recommended remediations with estimates, then worked with Client to prioritize ~25 technical opportunities based on effort vs. value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Implemented fixes iteratively over 10 sprints and now providing long-term application support</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Updated multiple versions to bring software versions back up to long term support</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Added CI/CD with gate keeping to ensure standards and best practices were met going forward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Enabled nearshore team to support and maintain the application at much reduced rates over the long term</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
        <p:nvSpPr>
          <p:cNvPr id="30" name="Footer Placeholder 1">
            <a:extLst>
              <a:ext uri="{FF2B5EF4-FFF2-40B4-BE49-F238E27FC236}">
                <a16:creationId xmlns:a16="http://schemas.microsoft.com/office/drawing/2014/main" id="{CA6B1FBB-33B5-7E68-2E5C-4A7ECEF318CB}"/>
              </a:ext>
            </a:extLst>
          </p:cNvPr>
          <p:cNvSpPr>
            <a:spLocks noGrp="1"/>
          </p:cNvSpPr>
          <p:nvPr>
            <p:ph type="ftr" sz="quarter" idx="24"/>
          </p:nvPr>
        </p:nvSpPr>
        <p:spPr>
          <a:xfrm>
            <a:off x="4321019" y="6400798"/>
            <a:ext cx="7102834" cy="167949"/>
          </a:xfrm>
        </p:spPr>
        <p:txBody>
          <a:bodyPr/>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31" name="Slide Number Placeholder 2">
            <a:extLst>
              <a:ext uri="{FF2B5EF4-FFF2-40B4-BE49-F238E27FC236}">
                <a16:creationId xmlns:a16="http://schemas.microsoft.com/office/drawing/2014/main" id="{D37D054F-6DEF-6359-AF10-B5D61A8A6320}"/>
              </a:ext>
            </a:extLst>
          </p:cNvPr>
          <p:cNvSpPr>
            <a:spLocks noGrp="1"/>
          </p:cNvSpPr>
          <p:nvPr>
            <p:ph type="sldNum" sz="quarter" idx="25"/>
          </p:nvPr>
        </p:nvSpPr>
        <p:spPr>
          <a:xfrm>
            <a:off x="11509578" y="6400799"/>
            <a:ext cx="218871" cy="167949"/>
          </a:xfrm>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69</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1363548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5CA4E-8EA5-A446-00FD-EC63D9A5D9A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8A16B2-2A87-6766-EAD2-B5EB377A20AC}"/>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6D801383-C3F0-5DF9-CA40-0F0EE044642A}"/>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70</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D0BE20D2-A28A-A6B4-CD10-4F72FAC8689D}"/>
              </a:ext>
            </a:extLst>
          </p:cNvPr>
          <p:cNvSpPr>
            <a:spLocks noGrp="1"/>
          </p:cNvSpPr>
          <p:nvPr>
            <p:ph type="body" sz="quarter" idx="44"/>
          </p:nvPr>
        </p:nvSpPr>
        <p:spPr/>
        <p:txBody>
          <a:bodyPr/>
          <a:lstStyle/>
          <a:p>
            <a:r>
              <a:rPr lang="en-US"/>
              <a:t>CLIENT STORIES</a:t>
            </a:r>
          </a:p>
        </p:txBody>
      </p:sp>
      <p:sp>
        <p:nvSpPr>
          <p:cNvPr id="9" name="Text Placeholder 18">
            <a:extLst>
              <a:ext uri="{FF2B5EF4-FFF2-40B4-BE49-F238E27FC236}">
                <a16:creationId xmlns:a16="http://schemas.microsoft.com/office/drawing/2014/main" id="{CABB70F2-735D-2FB3-6DA2-C221720BCFA2}"/>
              </a:ext>
            </a:extLst>
          </p:cNvPr>
          <p:cNvSpPr>
            <a:spLocks noGrp="1"/>
          </p:cNvSpPr>
          <p:nvPr>
            <p:ph type="body" sz="quarter" idx="33"/>
          </p:nvPr>
        </p:nvSpPr>
        <p:spPr>
          <a:xfrm>
            <a:off x="6616700" y="763615"/>
            <a:ext cx="5114926" cy="1436596"/>
          </a:xfrm>
        </p:spPr>
        <p:txBody>
          <a:bodyPr/>
          <a:lstStyle/>
          <a:p>
            <a:endParaRPr lang="en-US"/>
          </a:p>
        </p:txBody>
      </p:sp>
      <p:sp>
        <p:nvSpPr>
          <p:cNvPr id="10" name="Text Placeholder 24">
            <a:extLst>
              <a:ext uri="{FF2B5EF4-FFF2-40B4-BE49-F238E27FC236}">
                <a16:creationId xmlns:a16="http://schemas.microsoft.com/office/drawing/2014/main" id="{E2E0634F-9441-A12D-1BFE-C8A86DF98CB4}"/>
              </a:ext>
            </a:extLst>
          </p:cNvPr>
          <p:cNvSpPr>
            <a:spLocks noGrp="1"/>
          </p:cNvSpPr>
          <p:nvPr>
            <p:ph type="body" sz="quarter" idx="23"/>
          </p:nvPr>
        </p:nvSpPr>
        <p:spPr>
          <a:xfrm>
            <a:off x="6834584" y="946984"/>
            <a:ext cx="1372790" cy="510741"/>
          </a:xfrm>
        </p:spPr>
        <p:txBody>
          <a:bodyPr>
            <a:normAutofit fontScale="92500" lnSpcReduction="10000"/>
          </a:bodyPr>
          <a:lstStyle/>
          <a:p>
            <a:r>
              <a:rPr lang="en-US" sz="4000"/>
              <a:t>5</a:t>
            </a:r>
          </a:p>
        </p:txBody>
      </p:sp>
      <p:sp>
        <p:nvSpPr>
          <p:cNvPr id="11" name="Text Placeholder 26">
            <a:extLst>
              <a:ext uri="{FF2B5EF4-FFF2-40B4-BE49-F238E27FC236}">
                <a16:creationId xmlns:a16="http://schemas.microsoft.com/office/drawing/2014/main" id="{A017A150-4327-E353-AACE-DD01A87E68FD}"/>
              </a:ext>
            </a:extLst>
          </p:cNvPr>
          <p:cNvSpPr>
            <a:spLocks noGrp="1"/>
          </p:cNvSpPr>
          <p:nvPr>
            <p:ph type="body" sz="quarter" idx="31"/>
          </p:nvPr>
        </p:nvSpPr>
        <p:spPr>
          <a:xfrm>
            <a:off x="6834584" y="1504380"/>
            <a:ext cx="1494564" cy="556953"/>
          </a:xfrm>
        </p:spPr>
        <p:txBody>
          <a:bodyPr/>
          <a:lstStyle/>
          <a:p>
            <a:r>
              <a:rPr lang="en-US"/>
              <a:t>Legacy Apps Merged to 1</a:t>
            </a:r>
          </a:p>
        </p:txBody>
      </p:sp>
      <p:sp>
        <p:nvSpPr>
          <p:cNvPr id="12" name="Text Placeholder 27">
            <a:extLst>
              <a:ext uri="{FF2B5EF4-FFF2-40B4-BE49-F238E27FC236}">
                <a16:creationId xmlns:a16="http://schemas.microsoft.com/office/drawing/2014/main" id="{11A2020B-99F8-4902-0E9B-1A694F8D5FF5}"/>
              </a:ext>
            </a:extLst>
          </p:cNvPr>
          <p:cNvSpPr>
            <a:spLocks noGrp="1"/>
          </p:cNvSpPr>
          <p:nvPr>
            <p:ph type="body" sz="quarter" idx="32"/>
          </p:nvPr>
        </p:nvSpPr>
        <p:spPr>
          <a:xfrm>
            <a:off x="8207374" y="762000"/>
            <a:ext cx="3521075" cy="1438211"/>
          </a:xfrm>
        </p:spPr>
        <p:txBody>
          <a:bodyPr lIns="0" tIns="0" anchor="ctr" anchorCtr="0"/>
          <a:lstStyle/>
          <a:p>
            <a:r>
              <a:rPr kumimoji="0" lang="en-US" sz="1200" b="0" i="0" u="none" strike="noStrike" kern="1200" cap="none" spc="0" normalizeH="0" baseline="0" noProof="0">
                <a:ln>
                  <a:noFill/>
                </a:ln>
                <a:solidFill>
                  <a:srgbClr val="070154"/>
                </a:solidFill>
                <a:effectLst/>
                <a:uLnTx/>
                <a:uFillTx/>
                <a:latin typeface="Arial" panose="020B0604020202020204"/>
                <a:cs typeface="Calibri" panose="020F0502020204030204" pitchFamily="34" charset="0"/>
                <a:sym typeface="Avenir Heavy"/>
              </a:rPr>
              <a:t>Our solution allowed the client to retire five legacy applications, with all workflows being supported through the new platform.</a:t>
            </a:r>
          </a:p>
        </p:txBody>
      </p:sp>
      <p:grpSp>
        <p:nvGrpSpPr>
          <p:cNvPr id="28" name="Group 27">
            <a:extLst>
              <a:ext uri="{FF2B5EF4-FFF2-40B4-BE49-F238E27FC236}">
                <a16:creationId xmlns:a16="http://schemas.microsoft.com/office/drawing/2014/main" id="{50760604-FCD3-7CDD-D580-A3AE8F1CA4F1}"/>
              </a:ext>
            </a:extLst>
          </p:cNvPr>
          <p:cNvGrpSpPr/>
          <p:nvPr/>
        </p:nvGrpSpPr>
        <p:grpSpPr>
          <a:xfrm>
            <a:off x="6616699" y="2493982"/>
            <a:ext cx="5111748" cy="3498158"/>
            <a:chOff x="5622510" y="2013288"/>
            <a:chExt cx="6278405" cy="4296544"/>
          </a:xfrm>
        </p:grpSpPr>
        <p:pic>
          <p:nvPicPr>
            <p:cNvPr id="26" name="Picture 25">
              <a:extLst>
                <a:ext uri="{FF2B5EF4-FFF2-40B4-BE49-F238E27FC236}">
                  <a16:creationId xmlns:a16="http://schemas.microsoft.com/office/drawing/2014/main" id="{C6BDF911-1FA1-EBE0-8A5C-986409002F6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354789" y="3288062"/>
              <a:ext cx="3546126" cy="3021770"/>
            </a:xfrm>
            <a:prstGeom prst="rect">
              <a:avLst/>
            </a:prstGeom>
            <a:ln>
              <a:noFill/>
            </a:ln>
            <a:effectLst/>
          </p:spPr>
        </p:pic>
        <p:pic>
          <p:nvPicPr>
            <p:cNvPr id="23" name="Picture 22">
              <a:extLst>
                <a:ext uri="{FF2B5EF4-FFF2-40B4-BE49-F238E27FC236}">
                  <a16:creationId xmlns:a16="http://schemas.microsoft.com/office/drawing/2014/main" id="{752C1352-C85D-A1B9-24EA-1DE4AFAD010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622510" y="2013288"/>
              <a:ext cx="4512662" cy="3801917"/>
            </a:xfrm>
            <a:prstGeom prst="rect">
              <a:avLst/>
            </a:prstGeom>
            <a:noFill/>
            <a:ln>
              <a:noFill/>
            </a:ln>
            <a:effectLst/>
          </p:spPr>
        </p:pic>
        <p:sp>
          <p:nvSpPr>
            <p:cNvPr id="27" name="Rectangle 26">
              <a:extLst>
                <a:ext uri="{FF2B5EF4-FFF2-40B4-BE49-F238E27FC236}">
                  <a16:creationId xmlns:a16="http://schemas.microsoft.com/office/drawing/2014/main" id="{13992559-C949-0698-1CE6-8110CA7890D1}"/>
                </a:ext>
              </a:extLst>
            </p:cNvPr>
            <p:cNvSpPr/>
            <p:nvPr/>
          </p:nvSpPr>
          <p:spPr bwMode="auto">
            <a:xfrm>
              <a:off x="5741043" y="2036438"/>
              <a:ext cx="602785" cy="139603"/>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grpSp>
      <p:sp>
        <p:nvSpPr>
          <p:cNvPr id="2" name="Text Placeholder 5">
            <a:extLst>
              <a:ext uri="{FF2B5EF4-FFF2-40B4-BE49-F238E27FC236}">
                <a16:creationId xmlns:a16="http://schemas.microsoft.com/office/drawing/2014/main" id="{771D4FF9-B9B6-F84D-3B07-D041E32440CE}"/>
              </a:ext>
            </a:extLst>
          </p:cNvPr>
          <p:cNvSpPr txBox="1">
            <a:spLocks/>
          </p:cNvSpPr>
          <p:nvPr/>
        </p:nvSpPr>
        <p:spPr>
          <a:xfrm>
            <a:off x="460374" y="1714500"/>
            <a:ext cx="5749926" cy="91549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Client’s application footprint included several legacy, Windows-only, native enterprise applications. These applications required users to multi-task between applications to get their work done. Client brought in West Monroe to re-platform them to a cloud-first tech stack and integrate workflows across applications.</a:t>
            </a:r>
          </a:p>
        </p:txBody>
      </p:sp>
      <p:sp>
        <p:nvSpPr>
          <p:cNvPr id="8" name="Text Placeholder 17">
            <a:extLst>
              <a:ext uri="{FF2B5EF4-FFF2-40B4-BE49-F238E27FC236}">
                <a16:creationId xmlns:a16="http://schemas.microsoft.com/office/drawing/2014/main" id="{16AAD896-C5E4-7FED-11DA-53F71356B096}"/>
              </a:ext>
            </a:extLst>
          </p:cNvPr>
          <p:cNvSpPr txBox="1">
            <a:spLocks/>
          </p:cNvSpPr>
          <p:nvPr/>
        </p:nvSpPr>
        <p:spPr>
          <a:xfrm>
            <a:off x="465137" y="556955"/>
            <a:ext cx="5106987" cy="20666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5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Large Property &amp; Casualty Insurance Provider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p:txBody>
      </p:sp>
      <p:sp>
        <p:nvSpPr>
          <p:cNvPr id="13" name="Title 7">
            <a:extLst>
              <a:ext uri="{FF2B5EF4-FFF2-40B4-BE49-F238E27FC236}">
                <a16:creationId xmlns:a16="http://schemas.microsoft.com/office/drawing/2014/main" id="{3D517CF3-B15A-81CE-8383-664218CFEDE3}"/>
              </a:ext>
            </a:extLst>
          </p:cNvPr>
          <p:cNvSpPr txBox="1">
            <a:spLocks/>
          </p:cNvSpPr>
          <p:nvPr/>
        </p:nvSpPr>
        <p:spPr>
          <a:xfrm>
            <a:off x="460373" y="763616"/>
            <a:ext cx="5749927" cy="64926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How can we modernize our tech stack and not require our users to multi-task between apps?</a:t>
            </a:r>
          </a:p>
        </p:txBody>
      </p:sp>
      <p:sp>
        <p:nvSpPr>
          <p:cNvPr id="14" name="Text Placeholder 5">
            <a:extLst>
              <a:ext uri="{FF2B5EF4-FFF2-40B4-BE49-F238E27FC236}">
                <a16:creationId xmlns:a16="http://schemas.microsoft.com/office/drawing/2014/main" id="{B7C3D1F5-3055-65D7-5018-8D87E37F5A53}"/>
              </a:ext>
            </a:extLst>
          </p:cNvPr>
          <p:cNvSpPr txBox="1">
            <a:spLocks/>
          </p:cNvSpPr>
          <p:nvPr/>
        </p:nvSpPr>
        <p:spPr>
          <a:xfrm>
            <a:off x="460376" y="2592337"/>
            <a:ext cx="5749924" cy="305851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1200" b="1" i="0" u="none" strike="noStrike" kern="1200" cap="none" spc="0" normalizeH="0" baseline="0" noProof="0">
                <a:ln>
                  <a:noFill/>
                </a:ln>
                <a:solidFill>
                  <a:srgbClr val="0047FF"/>
                </a:solidFill>
                <a:effectLst/>
                <a:uLnTx/>
                <a:uFillTx/>
                <a:latin typeface="Arial" panose="020B0604020202020204"/>
                <a:ea typeface="Roboto" panose="02000000000000000000" pitchFamily="2" charset="0"/>
                <a:cs typeface="Segoe UI" panose="020B0502040204020203" pitchFamily="34" charset="0"/>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Reimagined the customer experience by harnessing technology, data, creativity, and innovation to develop a unified product that meets the client's needs and focuses on enhancing user workflows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Converted the existing solution to a cloud-based platform and conducted a deep-dive analysis to document and modernize complex workflows, ensuring a seamless transition to modern technology</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Integrated 5 applications into a single cohesive solution by utilizing best practice UX patterns and modern UI, minimizing the need for extensive training on the new application</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Simplified processes for customers by improving access to support and pricing specials, and streamlining the process for completing product orders, thereby transforming the overall business operations</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9232572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049A6-8F0D-08BB-F86A-938F267CCABC}"/>
            </a:ext>
          </a:extLst>
        </p:cNvPr>
        <p:cNvGrpSpPr/>
        <p:nvPr/>
      </p:nvGrpSpPr>
      <p:grpSpPr>
        <a:xfrm>
          <a:off x="0" y="0"/>
          <a:ext cx="0" cy="0"/>
          <a:chOff x="0" y="0"/>
          <a:chExt cx="0" cy="0"/>
        </a:xfrm>
      </p:grpSpPr>
      <p:grpSp>
        <p:nvGrpSpPr>
          <p:cNvPr id="22" name="Group 21">
            <a:extLst>
              <a:ext uri="{FF2B5EF4-FFF2-40B4-BE49-F238E27FC236}">
                <a16:creationId xmlns:a16="http://schemas.microsoft.com/office/drawing/2014/main" id="{2B38E50C-1937-CC44-479E-EE0D89449BDD}"/>
              </a:ext>
            </a:extLst>
          </p:cNvPr>
          <p:cNvGrpSpPr/>
          <p:nvPr/>
        </p:nvGrpSpPr>
        <p:grpSpPr>
          <a:xfrm>
            <a:off x="6660919" y="2487427"/>
            <a:ext cx="2478466" cy="3532373"/>
            <a:chOff x="6613749" y="2454592"/>
            <a:chExt cx="2638652" cy="3760674"/>
          </a:xfrm>
          <a:effectLst/>
        </p:grpSpPr>
        <p:pic>
          <p:nvPicPr>
            <p:cNvPr id="14" name="Picture 5" descr="Graphical user interface, application, Teams&#10;&#10;Description automatically generated">
              <a:extLst>
                <a:ext uri="{FF2B5EF4-FFF2-40B4-BE49-F238E27FC236}">
                  <a16:creationId xmlns:a16="http://schemas.microsoft.com/office/drawing/2014/main" id="{7783D625-7AFD-5C38-CF4A-379DB8B7F6F2}"/>
                </a:ext>
              </a:extLst>
            </p:cNvPr>
            <p:cNvPicPr>
              <a:picLocks noChangeAspect="1"/>
            </p:cNvPicPr>
            <p:nvPr/>
          </p:nvPicPr>
          <p:blipFill>
            <a:blip r:embed="rId3"/>
            <a:stretch>
              <a:fillRect/>
            </a:stretch>
          </p:blipFill>
          <p:spPr>
            <a:xfrm>
              <a:off x="6613749" y="2454592"/>
              <a:ext cx="2638652" cy="3760674"/>
            </a:xfrm>
            <a:prstGeom prst="rect">
              <a:avLst/>
            </a:prstGeom>
            <a:effectLst>
              <a:outerShdw blurRad="63500" sx="102000" sy="102000" algn="ctr" rotWithShape="0">
                <a:prstClr val="black">
                  <a:alpha val="40000"/>
                </a:prstClr>
              </a:outerShdw>
            </a:effectLst>
          </p:spPr>
        </p:pic>
        <p:pic>
          <p:nvPicPr>
            <p:cNvPr id="15" name="Picture 5" descr="Graphical user interface, application, Teams&#10;&#10;Description automatically generated">
              <a:extLst>
                <a:ext uri="{FF2B5EF4-FFF2-40B4-BE49-F238E27FC236}">
                  <a16:creationId xmlns:a16="http://schemas.microsoft.com/office/drawing/2014/main" id="{6E4589A7-AB29-A866-B324-21790C63EC1A}"/>
                </a:ext>
              </a:extLst>
            </p:cNvPr>
            <p:cNvPicPr>
              <a:picLocks noChangeAspect="1"/>
            </p:cNvPicPr>
            <p:nvPr/>
          </p:nvPicPr>
          <p:blipFill>
            <a:blip r:embed="rId4">
              <a:extLst>
                <a:ext uri="{BEBA8EAE-BF5A-486C-A8C5-ECC9F3942E4B}">
                  <a14:imgProps xmlns:a14="http://schemas.microsoft.com/office/drawing/2010/main">
                    <a14:imgLayer r:embed="rId5">
                      <a14:imgEffect>
                        <a14:artisticBlur/>
                      </a14:imgEffect>
                    </a14:imgLayer>
                  </a14:imgProps>
                </a:ext>
              </a:extLst>
            </a:blip>
            <a:srcRect l="11282" t="37292" r="56760" b="21446"/>
            <a:stretch/>
          </p:blipFill>
          <p:spPr>
            <a:xfrm>
              <a:off x="6911411" y="3856933"/>
              <a:ext cx="843315" cy="1551654"/>
            </a:xfrm>
            <a:prstGeom prst="rect">
              <a:avLst/>
            </a:prstGeom>
            <a:effectLst>
              <a:softEdge rad="12700"/>
            </a:effectLst>
          </p:spPr>
        </p:pic>
        <p:pic>
          <p:nvPicPr>
            <p:cNvPr id="20" name="Picture 5" descr="Graphical user interface, application, Teams&#10;&#10;Description automatically generated">
              <a:extLst>
                <a:ext uri="{FF2B5EF4-FFF2-40B4-BE49-F238E27FC236}">
                  <a16:creationId xmlns:a16="http://schemas.microsoft.com/office/drawing/2014/main" id="{71112D4C-F66E-7036-9D4E-8040DE960C7D}"/>
                </a:ext>
              </a:extLst>
            </p:cNvPr>
            <p:cNvPicPr>
              <a:picLocks noChangeAspect="1"/>
            </p:cNvPicPr>
            <p:nvPr/>
          </p:nvPicPr>
          <p:blipFill>
            <a:blip r:embed="rId6">
              <a:extLst>
                <a:ext uri="{BEBA8EAE-BF5A-486C-A8C5-ECC9F3942E4B}">
                  <a14:imgProps xmlns:a14="http://schemas.microsoft.com/office/drawing/2010/main">
                    <a14:imgLayer r:embed="rId7">
                      <a14:imgEffect>
                        <a14:artisticBlur radius="14"/>
                      </a14:imgEffect>
                    </a14:imgLayer>
                  </a14:imgProps>
                </a:ext>
              </a:extLst>
            </a:blip>
            <a:srcRect l="3853" t="2815" r="81127" b="93670"/>
            <a:stretch/>
          </p:blipFill>
          <p:spPr>
            <a:xfrm>
              <a:off x="6715410" y="2560442"/>
              <a:ext cx="396316" cy="132182"/>
            </a:xfrm>
            <a:prstGeom prst="rect">
              <a:avLst/>
            </a:prstGeom>
            <a:effectLst>
              <a:softEdge rad="12700"/>
            </a:effectLst>
          </p:spPr>
        </p:pic>
      </p:grpSp>
      <p:sp>
        <p:nvSpPr>
          <p:cNvPr id="3" name="Footer Placeholder 2">
            <a:extLst>
              <a:ext uri="{FF2B5EF4-FFF2-40B4-BE49-F238E27FC236}">
                <a16:creationId xmlns:a16="http://schemas.microsoft.com/office/drawing/2014/main" id="{212E1834-1F5D-028F-C273-B079350F354D}"/>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5F23DD4C-40F1-013B-6D8E-CA54F2681566}"/>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71</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1A157A43-03C9-7B80-4AB0-E3C87755E513}"/>
              </a:ext>
            </a:extLst>
          </p:cNvPr>
          <p:cNvSpPr>
            <a:spLocks noGrp="1"/>
          </p:cNvSpPr>
          <p:nvPr>
            <p:ph type="body" sz="quarter" idx="44"/>
          </p:nvPr>
        </p:nvSpPr>
        <p:spPr/>
        <p:txBody>
          <a:bodyPr/>
          <a:lstStyle/>
          <a:p>
            <a:r>
              <a:rPr lang="en-US"/>
              <a:t>CLIENT STORIES</a:t>
            </a:r>
          </a:p>
        </p:txBody>
      </p:sp>
      <p:sp>
        <p:nvSpPr>
          <p:cNvPr id="9" name="Text Placeholder 18">
            <a:extLst>
              <a:ext uri="{FF2B5EF4-FFF2-40B4-BE49-F238E27FC236}">
                <a16:creationId xmlns:a16="http://schemas.microsoft.com/office/drawing/2014/main" id="{CE1167DE-78D3-AF19-7F8B-7360A3746AF8}"/>
              </a:ext>
            </a:extLst>
          </p:cNvPr>
          <p:cNvSpPr>
            <a:spLocks noGrp="1"/>
          </p:cNvSpPr>
          <p:nvPr>
            <p:ph type="body" sz="quarter" idx="33"/>
          </p:nvPr>
        </p:nvSpPr>
        <p:spPr>
          <a:xfrm>
            <a:off x="6616700" y="769872"/>
            <a:ext cx="5111750" cy="1436596"/>
          </a:xfrm>
        </p:spPr>
        <p:txBody>
          <a:bodyPr/>
          <a:lstStyle/>
          <a:p>
            <a:endParaRPr lang="en-US"/>
          </a:p>
        </p:txBody>
      </p:sp>
      <p:sp>
        <p:nvSpPr>
          <p:cNvPr id="10" name="Text Placeholder 24">
            <a:extLst>
              <a:ext uri="{FF2B5EF4-FFF2-40B4-BE49-F238E27FC236}">
                <a16:creationId xmlns:a16="http://schemas.microsoft.com/office/drawing/2014/main" id="{21FC8E6A-33A5-1DA8-4D42-531E554476D5}"/>
              </a:ext>
            </a:extLst>
          </p:cNvPr>
          <p:cNvSpPr>
            <a:spLocks noGrp="1"/>
          </p:cNvSpPr>
          <p:nvPr>
            <p:ph type="body" sz="quarter" idx="23"/>
          </p:nvPr>
        </p:nvSpPr>
        <p:spPr>
          <a:xfrm>
            <a:off x="6834584" y="953241"/>
            <a:ext cx="1372790" cy="510741"/>
          </a:xfrm>
        </p:spPr>
        <p:txBody>
          <a:bodyPr>
            <a:normAutofit fontScale="92500" lnSpcReduction="10000"/>
          </a:bodyPr>
          <a:lstStyle/>
          <a:p>
            <a:r>
              <a:rPr lang="en-US" sz="4000"/>
              <a:t>24hr</a:t>
            </a:r>
          </a:p>
        </p:txBody>
      </p:sp>
      <p:sp>
        <p:nvSpPr>
          <p:cNvPr id="11" name="Text Placeholder 26">
            <a:extLst>
              <a:ext uri="{FF2B5EF4-FFF2-40B4-BE49-F238E27FC236}">
                <a16:creationId xmlns:a16="http://schemas.microsoft.com/office/drawing/2014/main" id="{B2438D48-E3A6-0FE2-0736-1C30581E3E2E}"/>
              </a:ext>
            </a:extLst>
          </p:cNvPr>
          <p:cNvSpPr>
            <a:spLocks noGrp="1"/>
          </p:cNvSpPr>
          <p:nvPr>
            <p:ph type="body" sz="quarter" idx="31"/>
          </p:nvPr>
        </p:nvSpPr>
        <p:spPr>
          <a:xfrm>
            <a:off x="6834583" y="1504380"/>
            <a:ext cx="1590675" cy="556953"/>
          </a:xfrm>
        </p:spPr>
        <p:txBody>
          <a:bodyPr/>
          <a:lstStyle/>
          <a:p>
            <a:r>
              <a:rPr lang="en-US"/>
              <a:t>Post-Project Offer Publication Time</a:t>
            </a:r>
          </a:p>
        </p:txBody>
      </p:sp>
      <p:sp>
        <p:nvSpPr>
          <p:cNvPr id="12" name="Text Placeholder 27">
            <a:extLst>
              <a:ext uri="{FF2B5EF4-FFF2-40B4-BE49-F238E27FC236}">
                <a16:creationId xmlns:a16="http://schemas.microsoft.com/office/drawing/2014/main" id="{D6C6EA53-284E-3F0C-7260-A7FA3EBAF3D0}"/>
              </a:ext>
            </a:extLst>
          </p:cNvPr>
          <p:cNvSpPr>
            <a:spLocks noGrp="1"/>
          </p:cNvSpPr>
          <p:nvPr>
            <p:ph type="body" sz="quarter" idx="32"/>
          </p:nvPr>
        </p:nvSpPr>
        <p:spPr>
          <a:xfrm>
            <a:off x="8509517" y="763616"/>
            <a:ext cx="3144417" cy="1436596"/>
          </a:xfrm>
        </p:spPr>
        <p:txBody>
          <a:bodyPr lIns="0" tIns="0" anchor="ctr"/>
          <a:lstStyle/>
          <a:p>
            <a:r>
              <a:rPr kumimoji="0" lang="en-US" sz="1200" b="0" i="0" u="none" strike="noStrike" kern="1200" cap="none" spc="0" normalizeH="0" baseline="0" noProof="0">
                <a:ln>
                  <a:noFill/>
                </a:ln>
                <a:solidFill>
                  <a:srgbClr val="070154"/>
                </a:solidFill>
                <a:effectLst/>
                <a:uLnTx/>
                <a:uFillTx/>
                <a:latin typeface="Arial" panose="020B0604020202020204"/>
                <a:cs typeface="Calibri" panose="020F0502020204030204" pitchFamily="34" charset="0"/>
                <a:sym typeface="Avenir Heavy"/>
              </a:rPr>
              <a:t>Reduced the time for publishing and updating offers </a:t>
            </a:r>
            <a:r>
              <a:rPr kumimoji="0" lang="en-US" sz="1200" b="1" i="0" u="none" strike="noStrike" kern="1200" cap="none" spc="0" normalizeH="0" baseline="0" noProof="0">
                <a:ln>
                  <a:noFill/>
                </a:ln>
                <a:solidFill>
                  <a:srgbClr val="070154"/>
                </a:solidFill>
                <a:effectLst/>
                <a:uLnTx/>
                <a:uFillTx/>
                <a:latin typeface="Arial" panose="020B0604020202020204"/>
                <a:cs typeface="Calibri" panose="020F0502020204030204" pitchFamily="34" charset="0"/>
                <a:sym typeface="Avenir Heavy"/>
              </a:rPr>
              <a:t>from 6-8 weeks to under 24 hours</a:t>
            </a:r>
            <a:r>
              <a:rPr kumimoji="0" lang="en-US" sz="1200" b="0" i="0" u="none" strike="noStrike" kern="1200" cap="none" spc="0" normalizeH="0" baseline="0" noProof="0">
                <a:ln>
                  <a:noFill/>
                </a:ln>
                <a:solidFill>
                  <a:srgbClr val="070154"/>
                </a:solidFill>
                <a:effectLst/>
                <a:uLnTx/>
                <a:uFillTx/>
                <a:latin typeface="Arial" panose="020B0604020202020204"/>
                <a:cs typeface="Calibri" panose="020F0502020204030204" pitchFamily="34" charset="0"/>
                <a:sym typeface="Avenir Heavy"/>
              </a:rPr>
              <a:t>, enabling rapid A/B testing and iteration</a:t>
            </a:r>
          </a:p>
        </p:txBody>
      </p:sp>
      <p:grpSp>
        <p:nvGrpSpPr>
          <p:cNvPr id="21" name="Group 20">
            <a:extLst>
              <a:ext uri="{FF2B5EF4-FFF2-40B4-BE49-F238E27FC236}">
                <a16:creationId xmlns:a16="http://schemas.microsoft.com/office/drawing/2014/main" id="{C55DBA7C-8CDF-B818-89ED-BECEF87F5AA9}"/>
              </a:ext>
            </a:extLst>
          </p:cNvPr>
          <p:cNvGrpSpPr/>
          <p:nvPr/>
        </p:nvGrpSpPr>
        <p:grpSpPr>
          <a:xfrm>
            <a:off x="8992278" y="3648797"/>
            <a:ext cx="2702163" cy="2377028"/>
            <a:chOff x="7670791" y="3887171"/>
            <a:chExt cx="2532997" cy="2228217"/>
          </a:xfrm>
          <a:effectLst/>
        </p:grpSpPr>
        <p:pic>
          <p:nvPicPr>
            <p:cNvPr id="16" name="Picture 15" descr="Graphical user interface, application&#10;&#10;Description automatically generated">
              <a:extLst>
                <a:ext uri="{FF2B5EF4-FFF2-40B4-BE49-F238E27FC236}">
                  <a16:creationId xmlns:a16="http://schemas.microsoft.com/office/drawing/2014/main" id="{FEEBDD95-AE5E-C2AE-DC4B-FA695391947F}"/>
                </a:ext>
              </a:extLst>
            </p:cNvPr>
            <p:cNvPicPr>
              <a:picLocks noChangeAspect="1"/>
            </p:cNvPicPr>
            <p:nvPr/>
          </p:nvPicPr>
          <p:blipFill>
            <a:blip r:embed="rId8"/>
            <a:stretch>
              <a:fillRect/>
            </a:stretch>
          </p:blipFill>
          <p:spPr>
            <a:xfrm>
              <a:off x="7670791" y="3887171"/>
              <a:ext cx="2532997" cy="2228217"/>
            </a:xfrm>
            <a:prstGeom prst="rect">
              <a:avLst/>
            </a:prstGeom>
            <a:effectLst>
              <a:outerShdw blurRad="63500" sx="102000" sy="102000" algn="ctr" rotWithShape="0">
                <a:prstClr val="black">
                  <a:alpha val="40000"/>
                </a:prstClr>
              </a:outerShdw>
            </a:effectLst>
          </p:spPr>
        </p:pic>
        <p:pic>
          <p:nvPicPr>
            <p:cNvPr id="17" name="Picture 16" descr="Graphical user interface, application&#10;&#10;Description automatically generated">
              <a:extLst>
                <a:ext uri="{FF2B5EF4-FFF2-40B4-BE49-F238E27FC236}">
                  <a16:creationId xmlns:a16="http://schemas.microsoft.com/office/drawing/2014/main" id="{96E36318-B6E8-5BC2-12D2-9C72A729A6D6}"/>
                </a:ext>
              </a:extLst>
            </p:cNvPr>
            <p:cNvPicPr>
              <a:picLocks noChangeAspect="1"/>
            </p:cNvPicPr>
            <p:nvPr/>
          </p:nvPicPr>
          <p:blipFill>
            <a:blip r:embed="rId9">
              <a:extLst>
                <a:ext uri="{BEBA8EAE-BF5A-486C-A8C5-ECC9F3942E4B}">
                  <a14:imgProps xmlns:a14="http://schemas.microsoft.com/office/drawing/2010/main">
                    <a14:imgLayer r:embed="rId10">
                      <a14:imgEffect>
                        <a14:artisticBlur radius="13"/>
                      </a14:imgEffect>
                    </a14:imgLayer>
                  </a14:imgProps>
                </a:ext>
              </a:extLst>
            </a:blip>
            <a:srcRect l="4127" t="4511" r="81218" b="89597"/>
            <a:stretch/>
          </p:blipFill>
          <p:spPr>
            <a:xfrm>
              <a:off x="7778203" y="3994718"/>
              <a:ext cx="371223" cy="131287"/>
            </a:xfrm>
            <a:prstGeom prst="rect">
              <a:avLst/>
            </a:prstGeom>
            <a:effectLst>
              <a:softEdge rad="12700"/>
            </a:effectLst>
          </p:spPr>
        </p:pic>
        <p:pic>
          <p:nvPicPr>
            <p:cNvPr id="19" name="Picture 18" descr="Graphical user interface, application&#10;&#10;Description automatically generated">
              <a:extLst>
                <a:ext uri="{FF2B5EF4-FFF2-40B4-BE49-F238E27FC236}">
                  <a16:creationId xmlns:a16="http://schemas.microsoft.com/office/drawing/2014/main" id="{38274FF0-835E-44A2-F52A-8119B09A09CC}"/>
                </a:ext>
              </a:extLst>
            </p:cNvPr>
            <p:cNvPicPr>
              <a:picLocks noChangeAspect="1"/>
            </p:cNvPicPr>
            <p:nvPr/>
          </p:nvPicPr>
          <p:blipFill>
            <a:blip r:embed="rId11">
              <a:extLst>
                <a:ext uri="{BEBA8EAE-BF5A-486C-A8C5-ECC9F3942E4B}">
                  <a14:imgProps xmlns:a14="http://schemas.microsoft.com/office/drawing/2010/main">
                    <a14:imgLayer r:embed="rId12">
                      <a14:imgEffect>
                        <a14:artisticBlur radius="8"/>
                      </a14:imgEffect>
                    </a14:imgLayer>
                  </a14:imgProps>
                </a:ext>
              </a:extLst>
            </a:blip>
            <a:srcRect l="15253" t="63017" r="54527" b="16402"/>
            <a:stretch/>
          </p:blipFill>
          <p:spPr>
            <a:xfrm>
              <a:off x="8059634" y="5291350"/>
              <a:ext cx="765482" cy="458600"/>
            </a:xfrm>
            <a:prstGeom prst="rect">
              <a:avLst/>
            </a:prstGeom>
            <a:effectLst>
              <a:softEdge rad="25400"/>
            </a:effectLst>
          </p:spPr>
        </p:pic>
      </p:grpSp>
      <p:sp>
        <p:nvSpPr>
          <p:cNvPr id="2" name="Text Placeholder 5">
            <a:extLst>
              <a:ext uri="{FF2B5EF4-FFF2-40B4-BE49-F238E27FC236}">
                <a16:creationId xmlns:a16="http://schemas.microsoft.com/office/drawing/2014/main" id="{EA3B4AB5-3AB8-B589-25EE-ED9777157958}"/>
              </a:ext>
            </a:extLst>
          </p:cNvPr>
          <p:cNvSpPr txBox="1">
            <a:spLocks/>
          </p:cNvSpPr>
          <p:nvPr/>
        </p:nvSpPr>
        <p:spPr>
          <a:xfrm>
            <a:off x="460374" y="1714500"/>
            <a:ext cx="5749926" cy="91549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The client sought to replace their legacy offer management system with a dynamic solution tailored to user demographics. West Monroe embedded a Product Owner to collaborate with the client’s team, designing and building a system that personalizes offers based on user data, significantly improving the offer experience.</a:t>
            </a:r>
          </a:p>
        </p:txBody>
      </p:sp>
      <p:sp>
        <p:nvSpPr>
          <p:cNvPr id="8" name="Text Placeholder 17">
            <a:extLst>
              <a:ext uri="{FF2B5EF4-FFF2-40B4-BE49-F238E27FC236}">
                <a16:creationId xmlns:a16="http://schemas.microsoft.com/office/drawing/2014/main" id="{903437F6-089A-0156-97BA-8A403EA0F435}"/>
              </a:ext>
            </a:extLst>
          </p:cNvPr>
          <p:cNvSpPr txBox="1">
            <a:spLocks/>
          </p:cNvSpPr>
          <p:nvPr/>
        </p:nvSpPr>
        <p:spPr>
          <a:xfrm>
            <a:off x="465137" y="556955"/>
            <a:ext cx="5106987" cy="20666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5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Large Credit Reporting Agency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p:txBody>
      </p:sp>
      <p:sp>
        <p:nvSpPr>
          <p:cNvPr id="13" name="Title 7">
            <a:extLst>
              <a:ext uri="{FF2B5EF4-FFF2-40B4-BE49-F238E27FC236}">
                <a16:creationId xmlns:a16="http://schemas.microsoft.com/office/drawing/2014/main" id="{D98CBEC5-177C-7EF7-DB12-ADD3756DC514}"/>
              </a:ext>
            </a:extLst>
          </p:cNvPr>
          <p:cNvSpPr txBox="1">
            <a:spLocks/>
          </p:cNvSpPr>
          <p:nvPr/>
        </p:nvSpPr>
        <p:spPr>
          <a:xfrm>
            <a:off x="460373" y="763616"/>
            <a:ext cx="5749927" cy="64926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How can we modernize our offer publication and update experience?</a:t>
            </a:r>
          </a:p>
        </p:txBody>
      </p:sp>
      <p:sp>
        <p:nvSpPr>
          <p:cNvPr id="23" name="Text Placeholder 5">
            <a:extLst>
              <a:ext uri="{FF2B5EF4-FFF2-40B4-BE49-F238E27FC236}">
                <a16:creationId xmlns:a16="http://schemas.microsoft.com/office/drawing/2014/main" id="{884AC0CC-E9DF-7B5C-E593-DC88DF84A7D5}"/>
              </a:ext>
            </a:extLst>
          </p:cNvPr>
          <p:cNvSpPr txBox="1">
            <a:spLocks/>
          </p:cNvSpPr>
          <p:nvPr/>
        </p:nvSpPr>
        <p:spPr>
          <a:xfrm>
            <a:off x="460376" y="2592337"/>
            <a:ext cx="5749924" cy="305851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1200" b="1" i="0" u="none" strike="noStrike" kern="1200" cap="none" spc="0" normalizeH="0" baseline="0" noProof="0">
                <a:ln>
                  <a:noFill/>
                </a:ln>
                <a:solidFill>
                  <a:srgbClr val="0047FF"/>
                </a:solidFill>
                <a:effectLst/>
                <a:uLnTx/>
                <a:uFillTx/>
                <a:latin typeface="Arial" panose="020B0604020202020204"/>
                <a:ea typeface="Roboto" panose="02000000000000000000" pitchFamily="2" charset="0"/>
                <a:cs typeface="Segoe UI" panose="020B0502040204020203" pitchFamily="34" charset="0"/>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West Monroe assisted the client in replacing their outdated legacy offer management system with a modern, dynamic solution.</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 Product Owner from West Monroe was embedded within the client's team to facilitate seamless collaboration and integration.</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Together, they designed and developed a sophisticated system that personalizes offers by leveraging detailed user demographic data.</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This tailored approach significantly enhanced the offer experience, boosting both accuracy and sales effectiveness for the client.</a:t>
            </a:r>
          </a:p>
          <a:p>
            <a:pPr marL="0" marR="0" lvl="2" indent="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None/>
              <a:tabLst>
                <a:tab pos="276225" algn="l"/>
                <a:tab pos="584200" algn="l"/>
              </a:tabLst>
              <a:defRPr/>
            </a:pPr>
            <a:endPar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7435199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1B921-701E-2633-DD6C-982818D7B62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D691E0C-8BF6-A5CD-6769-DE62AEFF782E}"/>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E152B751-B383-9FA4-BF38-CD4F4AF6084C}"/>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72</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588351A1-115B-9680-CB41-79DA824B1605}"/>
              </a:ext>
            </a:extLst>
          </p:cNvPr>
          <p:cNvSpPr>
            <a:spLocks noGrp="1"/>
          </p:cNvSpPr>
          <p:nvPr>
            <p:ph type="body" sz="quarter" idx="44"/>
          </p:nvPr>
        </p:nvSpPr>
        <p:spPr/>
        <p:txBody>
          <a:bodyPr/>
          <a:lstStyle/>
          <a:p>
            <a:r>
              <a:rPr lang="en-US"/>
              <a:t>CLIENT STORIES</a:t>
            </a:r>
          </a:p>
        </p:txBody>
      </p:sp>
      <p:sp>
        <p:nvSpPr>
          <p:cNvPr id="2" name="Text Placeholder 18">
            <a:extLst>
              <a:ext uri="{FF2B5EF4-FFF2-40B4-BE49-F238E27FC236}">
                <a16:creationId xmlns:a16="http://schemas.microsoft.com/office/drawing/2014/main" id="{BF675136-6C56-D2AE-2171-DFFB5F74FE8B}"/>
              </a:ext>
            </a:extLst>
          </p:cNvPr>
          <p:cNvSpPr>
            <a:spLocks noGrp="1"/>
          </p:cNvSpPr>
          <p:nvPr>
            <p:ph type="body" sz="quarter" idx="33"/>
          </p:nvPr>
        </p:nvSpPr>
        <p:spPr>
          <a:xfrm>
            <a:off x="6616700" y="763615"/>
            <a:ext cx="5106986" cy="1426464"/>
          </a:xfrm>
        </p:spPr>
        <p:txBody>
          <a:bodyPr/>
          <a:lstStyle/>
          <a:p>
            <a:endParaRPr lang="en-US"/>
          </a:p>
        </p:txBody>
      </p:sp>
      <p:sp>
        <p:nvSpPr>
          <p:cNvPr id="8" name="Text Placeholder 24">
            <a:extLst>
              <a:ext uri="{FF2B5EF4-FFF2-40B4-BE49-F238E27FC236}">
                <a16:creationId xmlns:a16="http://schemas.microsoft.com/office/drawing/2014/main" id="{1ADD9679-1CD0-89BA-5DC8-A73ED8FFF256}"/>
              </a:ext>
            </a:extLst>
          </p:cNvPr>
          <p:cNvSpPr>
            <a:spLocks noGrp="1"/>
          </p:cNvSpPr>
          <p:nvPr>
            <p:ph type="body" sz="quarter" idx="23"/>
          </p:nvPr>
        </p:nvSpPr>
        <p:spPr>
          <a:xfrm>
            <a:off x="6834584" y="946984"/>
            <a:ext cx="1372790" cy="510741"/>
          </a:xfrm>
        </p:spPr>
        <p:txBody>
          <a:bodyPr>
            <a:normAutofit fontScale="92500" lnSpcReduction="10000"/>
          </a:bodyPr>
          <a:lstStyle/>
          <a:p>
            <a:r>
              <a:rPr lang="en-US" sz="4000"/>
              <a:t>15%</a:t>
            </a:r>
          </a:p>
        </p:txBody>
      </p:sp>
      <p:sp>
        <p:nvSpPr>
          <p:cNvPr id="9" name="Text Placeholder 26">
            <a:extLst>
              <a:ext uri="{FF2B5EF4-FFF2-40B4-BE49-F238E27FC236}">
                <a16:creationId xmlns:a16="http://schemas.microsoft.com/office/drawing/2014/main" id="{799BFB7A-F3EA-9497-B8AA-CFACB87F47EF}"/>
              </a:ext>
            </a:extLst>
          </p:cNvPr>
          <p:cNvSpPr>
            <a:spLocks noGrp="1"/>
          </p:cNvSpPr>
          <p:nvPr>
            <p:ph type="body" sz="quarter" idx="31"/>
          </p:nvPr>
        </p:nvSpPr>
        <p:spPr>
          <a:xfrm>
            <a:off x="6834584" y="1505331"/>
            <a:ext cx="1460330" cy="556953"/>
          </a:xfrm>
        </p:spPr>
        <p:txBody>
          <a:bodyPr/>
          <a:lstStyle/>
          <a:p>
            <a:r>
              <a:rPr lang="en-US"/>
              <a:t>Identified IT Cost Reductions</a:t>
            </a:r>
          </a:p>
        </p:txBody>
      </p:sp>
      <p:sp>
        <p:nvSpPr>
          <p:cNvPr id="10" name="Text Placeholder 27">
            <a:extLst>
              <a:ext uri="{FF2B5EF4-FFF2-40B4-BE49-F238E27FC236}">
                <a16:creationId xmlns:a16="http://schemas.microsoft.com/office/drawing/2014/main" id="{3ACB7D2B-A4C3-D0F6-FDE5-2022BDCFB8C1}"/>
              </a:ext>
            </a:extLst>
          </p:cNvPr>
          <p:cNvSpPr>
            <a:spLocks noGrp="1"/>
          </p:cNvSpPr>
          <p:nvPr>
            <p:ph type="body" sz="quarter" idx="32"/>
          </p:nvPr>
        </p:nvSpPr>
        <p:spPr>
          <a:xfrm>
            <a:off x="8509516" y="762000"/>
            <a:ext cx="3151631" cy="1428079"/>
          </a:xfrm>
        </p:spPr>
        <p:txBody>
          <a:bodyPr lIns="0" tIns="0" anchor="ctr" anchorCtr="0"/>
          <a:lstStyle/>
          <a:p>
            <a:r>
              <a:rPr lang="en-US"/>
              <a:t>Identified redundant apps, unlocking $2.77M in savings (15% of tech spend), enabling Client to simplify its tech landscape</a:t>
            </a:r>
          </a:p>
        </p:txBody>
      </p:sp>
      <p:sp>
        <p:nvSpPr>
          <p:cNvPr id="11" name="Text Placeholder 20">
            <a:extLst>
              <a:ext uri="{FF2B5EF4-FFF2-40B4-BE49-F238E27FC236}">
                <a16:creationId xmlns:a16="http://schemas.microsoft.com/office/drawing/2014/main" id="{3E5D3CD8-4A46-450A-BD4A-AF47E391C4AF}"/>
              </a:ext>
            </a:extLst>
          </p:cNvPr>
          <p:cNvSpPr>
            <a:spLocks noGrp="1"/>
          </p:cNvSpPr>
          <p:nvPr>
            <p:ph type="body" sz="quarter" idx="40"/>
          </p:nvPr>
        </p:nvSpPr>
        <p:spPr>
          <a:xfrm>
            <a:off x="6616700" y="2438035"/>
            <a:ext cx="5106986" cy="1426464"/>
          </a:xfrm>
        </p:spPr>
        <p:txBody>
          <a:bodyPr/>
          <a:lstStyle/>
          <a:p>
            <a:endParaRPr lang="en-US"/>
          </a:p>
        </p:txBody>
      </p:sp>
      <p:sp>
        <p:nvSpPr>
          <p:cNvPr id="12" name="Text Placeholder 32">
            <a:extLst>
              <a:ext uri="{FF2B5EF4-FFF2-40B4-BE49-F238E27FC236}">
                <a16:creationId xmlns:a16="http://schemas.microsoft.com/office/drawing/2014/main" id="{164C9046-7128-C42F-2082-1BABD5175F40}"/>
              </a:ext>
            </a:extLst>
          </p:cNvPr>
          <p:cNvSpPr>
            <a:spLocks noGrp="1"/>
          </p:cNvSpPr>
          <p:nvPr>
            <p:ph type="body" sz="quarter" idx="41"/>
          </p:nvPr>
        </p:nvSpPr>
        <p:spPr>
          <a:xfrm>
            <a:off x="6834583" y="2621405"/>
            <a:ext cx="1590675" cy="510741"/>
          </a:xfrm>
        </p:spPr>
        <p:txBody>
          <a:bodyPr>
            <a:normAutofit fontScale="92500" lnSpcReduction="10000"/>
          </a:bodyPr>
          <a:lstStyle/>
          <a:p>
            <a:r>
              <a:rPr lang="en-US" sz="4000"/>
              <a:t>6</a:t>
            </a:r>
          </a:p>
        </p:txBody>
      </p:sp>
      <p:sp>
        <p:nvSpPr>
          <p:cNvPr id="13" name="Text Placeholder 33">
            <a:extLst>
              <a:ext uri="{FF2B5EF4-FFF2-40B4-BE49-F238E27FC236}">
                <a16:creationId xmlns:a16="http://schemas.microsoft.com/office/drawing/2014/main" id="{235F052A-576B-47E2-7A2C-96DB3B6A308B}"/>
              </a:ext>
            </a:extLst>
          </p:cNvPr>
          <p:cNvSpPr>
            <a:spLocks noGrp="1"/>
          </p:cNvSpPr>
          <p:nvPr>
            <p:ph type="body" sz="quarter" idx="42"/>
          </p:nvPr>
        </p:nvSpPr>
        <p:spPr>
          <a:xfrm>
            <a:off x="6834584" y="3179752"/>
            <a:ext cx="1372790" cy="556953"/>
          </a:xfrm>
        </p:spPr>
        <p:txBody>
          <a:bodyPr/>
          <a:lstStyle/>
          <a:p>
            <a:pPr lvl="1"/>
            <a:r>
              <a:rPr lang="en-US"/>
              <a:t>Mid-tier Apps Retired</a:t>
            </a:r>
          </a:p>
        </p:txBody>
      </p:sp>
      <p:sp>
        <p:nvSpPr>
          <p:cNvPr id="14" name="Text Placeholder 34">
            <a:extLst>
              <a:ext uri="{FF2B5EF4-FFF2-40B4-BE49-F238E27FC236}">
                <a16:creationId xmlns:a16="http://schemas.microsoft.com/office/drawing/2014/main" id="{4AD8D43B-8820-361B-CE42-17266D15B264}"/>
              </a:ext>
            </a:extLst>
          </p:cNvPr>
          <p:cNvSpPr>
            <a:spLocks noGrp="1"/>
          </p:cNvSpPr>
          <p:nvPr>
            <p:ph type="body" sz="quarter" idx="43"/>
          </p:nvPr>
        </p:nvSpPr>
        <p:spPr>
          <a:xfrm>
            <a:off x="8509516" y="2438036"/>
            <a:ext cx="3151632" cy="1426464"/>
          </a:xfrm>
        </p:spPr>
        <p:txBody>
          <a:bodyPr lIns="0" tIns="0" anchor="ctr" anchorCtr="0"/>
          <a:lstStyle/>
          <a:p>
            <a:r>
              <a:rPr lang="en-US"/>
              <a:t>Recommended RPA tools and self-service reporting to streamline workflows, resulting in retirement of 6 apps and $350K in yearly savings</a:t>
            </a:r>
          </a:p>
        </p:txBody>
      </p:sp>
      <p:sp>
        <p:nvSpPr>
          <p:cNvPr id="15" name="Text Placeholder 5">
            <a:extLst>
              <a:ext uri="{FF2B5EF4-FFF2-40B4-BE49-F238E27FC236}">
                <a16:creationId xmlns:a16="http://schemas.microsoft.com/office/drawing/2014/main" id="{685BE5A9-4CB5-3B3A-B3D8-E41642AE2693}"/>
              </a:ext>
            </a:extLst>
          </p:cNvPr>
          <p:cNvSpPr txBox="1">
            <a:spLocks/>
          </p:cNvSpPr>
          <p:nvPr/>
        </p:nvSpPr>
        <p:spPr>
          <a:xfrm>
            <a:off x="460374" y="1714500"/>
            <a:ext cx="5749926" cy="91549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Client, a Community Bank in Kansas, faced shifts in their business model due to changes in the Financial Services Industry and interest rates. They engaged West Monroe to assess their technology landscape, identifying risks, scalability issues, and improvement opportunities. West Monroe also rationalized applications in Accounting and Compliance and developed a future state architecture and roadmap as part of the Innovation Strategy &amp; Roadmap initiative.</a:t>
            </a:r>
          </a:p>
        </p:txBody>
      </p:sp>
      <p:sp>
        <p:nvSpPr>
          <p:cNvPr id="16" name="Text Placeholder 17">
            <a:extLst>
              <a:ext uri="{FF2B5EF4-FFF2-40B4-BE49-F238E27FC236}">
                <a16:creationId xmlns:a16="http://schemas.microsoft.com/office/drawing/2014/main" id="{DE7D9257-226C-3F17-ABFA-295736B50374}"/>
              </a:ext>
            </a:extLst>
          </p:cNvPr>
          <p:cNvSpPr txBox="1">
            <a:spLocks/>
          </p:cNvSpPr>
          <p:nvPr/>
        </p:nvSpPr>
        <p:spPr>
          <a:xfrm>
            <a:off x="465137" y="556955"/>
            <a:ext cx="5106987" cy="20666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5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Community bank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p:txBody>
      </p:sp>
      <p:sp>
        <p:nvSpPr>
          <p:cNvPr id="17" name="Title 7">
            <a:extLst>
              <a:ext uri="{FF2B5EF4-FFF2-40B4-BE49-F238E27FC236}">
                <a16:creationId xmlns:a16="http://schemas.microsoft.com/office/drawing/2014/main" id="{4F49B018-4047-5224-17EB-FC69C9FE4C30}"/>
              </a:ext>
            </a:extLst>
          </p:cNvPr>
          <p:cNvSpPr txBox="1">
            <a:spLocks/>
          </p:cNvSpPr>
          <p:nvPr/>
        </p:nvSpPr>
        <p:spPr>
          <a:xfrm>
            <a:off x="460373" y="763616"/>
            <a:ext cx="5749927" cy="64926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rPr>
              <a:t>How can we better position our technology for sustainability and efficiency? </a:t>
            </a:r>
          </a:p>
        </p:txBody>
      </p:sp>
      <p:sp>
        <p:nvSpPr>
          <p:cNvPr id="19" name="Text Placeholder 5">
            <a:extLst>
              <a:ext uri="{FF2B5EF4-FFF2-40B4-BE49-F238E27FC236}">
                <a16:creationId xmlns:a16="http://schemas.microsoft.com/office/drawing/2014/main" id="{37D2492F-FEA6-2FD4-43F1-76FE636A77D3}"/>
              </a:ext>
            </a:extLst>
          </p:cNvPr>
          <p:cNvSpPr txBox="1">
            <a:spLocks/>
          </p:cNvSpPr>
          <p:nvPr/>
        </p:nvSpPr>
        <p:spPr>
          <a:xfrm>
            <a:off x="460376" y="2931615"/>
            <a:ext cx="5749924" cy="305851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1200" b="1" i="0" u="none" strike="noStrike" kern="1200" cap="none" spc="0" normalizeH="0" baseline="0" noProof="0">
                <a:ln>
                  <a:noFill/>
                </a:ln>
                <a:solidFill>
                  <a:srgbClr val="0047FF"/>
                </a:solidFill>
                <a:effectLst/>
                <a:uLnTx/>
                <a:uFillTx/>
                <a:latin typeface="Arial" panose="020B0604020202020204"/>
                <a:ea typeface="Roboto" panose="02000000000000000000" pitchFamily="2" charset="0"/>
                <a:cs typeface="Segoe UI" panose="020B0502040204020203" pitchFamily="34" charset="0"/>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Established a maturity framework to assess the client's current state across digital capabilities including governance, strategy, SDLC, data engineering, security, and infrastructure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Conducted a comprehensive review of the Bank's technology landscape, including in-depth interviews with key stakeholders to understand application relevance to business operations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Performed an IT spend and resource benchmark and identified recommendations to address risks, scalability issues, and gaps in the technology portfolio, processes, and organization</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Developed a roadmap with key dependencies, milestones, and high-level cost estimates, along with future state solution architecture for Accounting and Compliance processes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Recommended initiatives that Increase focus on data &amp; analytics capabilities to enable business users to efficiently access data to enable data-driven decision making, enhance IT governance and organization structure through implementing formal processes, and create and deploy technology solutions based on consistent guiding principles and architecture patterns</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Provided advisory support for the Tech Steering Committee throughout the project duration</a:t>
            </a:r>
            <a:endPar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10706987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D3648-8AC1-8D1F-E2BA-374D6B6CB89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C3C1993-B129-9C1C-0CA6-5E993BF22D03}"/>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C62DCFC0-857D-49FF-4FD8-BF8C548D9477}"/>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73</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6D958F6C-86D2-6FDB-B7C6-F16630E2517D}"/>
              </a:ext>
            </a:extLst>
          </p:cNvPr>
          <p:cNvSpPr>
            <a:spLocks noGrp="1"/>
          </p:cNvSpPr>
          <p:nvPr>
            <p:ph type="body" sz="quarter" idx="44"/>
          </p:nvPr>
        </p:nvSpPr>
        <p:spPr/>
        <p:txBody>
          <a:bodyPr/>
          <a:lstStyle/>
          <a:p>
            <a:r>
              <a:rPr lang="en-US"/>
              <a:t>CLIENT STORIES</a:t>
            </a:r>
          </a:p>
        </p:txBody>
      </p:sp>
      <p:sp>
        <p:nvSpPr>
          <p:cNvPr id="24" name="Text Placeholder 49">
            <a:extLst>
              <a:ext uri="{FF2B5EF4-FFF2-40B4-BE49-F238E27FC236}">
                <a16:creationId xmlns:a16="http://schemas.microsoft.com/office/drawing/2014/main" id="{6DB123FC-458D-AADF-693C-21FD1C5E3176}"/>
              </a:ext>
            </a:extLst>
          </p:cNvPr>
          <p:cNvSpPr>
            <a:spLocks noGrp="1"/>
          </p:cNvSpPr>
          <p:nvPr>
            <p:ph type="body" sz="quarter" idx="38"/>
          </p:nvPr>
        </p:nvSpPr>
        <p:spPr>
          <a:xfrm>
            <a:off x="6849548" y="2557640"/>
            <a:ext cx="803275" cy="269761"/>
          </a:xfrm>
        </p:spPr>
        <p:txBody>
          <a:bodyPr/>
          <a:lstStyle/>
          <a:p>
            <a:endParaRPr lang="en-US"/>
          </a:p>
        </p:txBody>
      </p:sp>
      <p:sp>
        <p:nvSpPr>
          <p:cNvPr id="25" name="Text Placeholder 30">
            <a:extLst>
              <a:ext uri="{FF2B5EF4-FFF2-40B4-BE49-F238E27FC236}">
                <a16:creationId xmlns:a16="http://schemas.microsoft.com/office/drawing/2014/main" id="{19A91DBA-0EB3-E2DF-B4F9-828CC6875AAD}"/>
              </a:ext>
            </a:extLst>
          </p:cNvPr>
          <p:cNvSpPr>
            <a:spLocks noGrp="1"/>
          </p:cNvSpPr>
          <p:nvPr>
            <p:ph type="body" sz="quarter" idx="39"/>
          </p:nvPr>
        </p:nvSpPr>
        <p:spPr>
          <a:xfrm>
            <a:off x="6849549" y="3905666"/>
            <a:ext cx="4878900" cy="1219458"/>
          </a:xfrm>
        </p:spPr>
        <p:txBody>
          <a:bodyPr/>
          <a:lstStyle/>
          <a:p>
            <a:pPr>
              <a:spcAft>
                <a:spcPts val="1200"/>
              </a:spcAft>
            </a:pPr>
            <a:r>
              <a:rPr lang="en-US" sz="1400" b="0"/>
              <a:t>The West Monroe resources that have been assigned to this engagement have been outstanding.</a:t>
            </a:r>
            <a:br>
              <a:rPr lang="en-US" sz="1400" b="0"/>
            </a:br>
            <a:r>
              <a:rPr lang="en-US" sz="1400" b="1"/>
              <a:t>— Director, Software Engineering</a:t>
            </a:r>
          </a:p>
        </p:txBody>
      </p:sp>
      <p:sp>
        <p:nvSpPr>
          <p:cNvPr id="2" name="Text Placeholder 18">
            <a:extLst>
              <a:ext uri="{FF2B5EF4-FFF2-40B4-BE49-F238E27FC236}">
                <a16:creationId xmlns:a16="http://schemas.microsoft.com/office/drawing/2014/main" id="{CE7A1EDE-6A25-CE92-1533-8C96516533A9}"/>
              </a:ext>
            </a:extLst>
          </p:cNvPr>
          <p:cNvSpPr>
            <a:spLocks noGrp="1"/>
          </p:cNvSpPr>
          <p:nvPr>
            <p:ph type="body" sz="quarter" idx="33"/>
          </p:nvPr>
        </p:nvSpPr>
        <p:spPr>
          <a:xfrm>
            <a:off x="6849548" y="767264"/>
            <a:ext cx="4878902" cy="1436596"/>
          </a:xfrm>
        </p:spPr>
        <p:txBody>
          <a:bodyPr/>
          <a:lstStyle/>
          <a:p>
            <a:endParaRPr lang="en-US"/>
          </a:p>
        </p:txBody>
      </p:sp>
      <p:sp>
        <p:nvSpPr>
          <p:cNvPr id="8" name="Text Placeholder 24">
            <a:extLst>
              <a:ext uri="{FF2B5EF4-FFF2-40B4-BE49-F238E27FC236}">
                <a16:creationId xmlns:a16="http://schemas.microsoft.com/office/drawing/2014/main" id="{CCD02B91-19CD-CFB7-2C81-492B6A6857D9}"/>
              </a:ext>
            </a:extLst>
          </p:cNvPr>
          <p:cNvSpPr>
            <a:spLocks noGrp="1"/>
          </p:cNvSpPr>
          <p:nvPr>
            <p:ph type="body" sz="quarter" idx="23"/>
          </p:nvPr>
        </p:nvSpPr>
        <p:spPr>
          <a:xfrm>
            <a:off x="7067432" y="950633"/>
            <a:ext cx="1372790" cy="510741"/>
          </a:xfrm>
        </p:spPr>
        <p:txBody>
          <a:bodyPr>
            <a:normAutofit fontScale="92500" lnSpcReduction="10000"/>
          </a:bodyPr>
          <a:lstStyle/>
          <a:p>
            <a:r>
              <a:rPr lang="en-US" sz="4000">
                <a:ea typeface="Roboto"/>
                <a:cs typeface="Segoe UI"/>
              </a:rPr>
              <a:t>50+</a:t>
            </a:r>
            <a:endParaRPr lang="en-US" sz="4000"/>
          </a:p>
        </p:txBody>
      </p:sp>
      <p:sp>
        <p:nvSpPr>
          <p:cNvPr id="9" name="Text Placeholder 26">
            <a:extLst>
              <a:ext uri="{FF2B5EF4-FFF2-40B4-BE49-F238E27FC236}">
                <a16:creationId xmlns:a16="http://schemas.microsoft.com/office/drawing/2014/main" id="{010CDB93-2D60-D112-24EA-18F504B93317}"/>
              </a:ext>
            </a:extLst>
          </p:cNvPr>
          <p:cNvSpPr>
            <a:spLocks noGrp="1"/>
          </p:cNvSpPr>
          <p:nvPr>
            <p:ph type="body" sz="quarter" idx="31"/>
          </p:nvPr>
        </p:nvSpPr>
        <p:spPr>
          <a:xfrm>
            <a:off x="7067432" y="1500012"/>
            <a:ext cx="1372791" cy="556953"/>
          </a:xfrm>
        </p:spPr>
        <p:txBody>
          <a:bodyPr>
            <a:normAutofit fontScale="92500" lnSpcReduction="10000"/>
          </a:bodyPr>
          <a:lstStyle/>
          <a:p>
            <a:r>
              <a:rPr lang="en-US">
                <a:ea typeface="Roboto"/>
                <a:cs typeface="Segoe UI"/>
              </a:rPr>
              <a:t>Features Identified for Modernization</a:t>
            </a:r>
            <a:endParaRPr lang="en-US"/>
          </a:p>
        </p:txBody>
      </p:sp>
      <p:sp>
        <p:nvSpPr>
          <p:cNvPr id="10" name="Text Placeholder 27">
            <a:extLst>
              <a:ext uri="{FF2B5EF4-FFF2-40B4-BE49-F238E27FC236}">
                <a16:creationId xmlns:a16="http://schemas.microsoft.com/office/drawing/2014/main" id="{463F0306-9D92-EDC4-89BA-E5A3B960A1C2}"/>
              </a:ext>
            </a:extLst>
          </p:cNvPr>
          <p:cNvSpPr>
            <a:spLocks noGrp="1"/>
          </p:cNvSpPr>
          <p:nvPr>
            <p:ph type="body" sz="quarter" idx="32"/>
          </p:nvPr>
        </p:nvSpPr>
        <p:spPr>
          <a:xfrm>
            <a:off x="8509518" y="872691"/>
            <a:ext cx="3218932" cy="1281155"/>
          </a:xfrm>
        </p:spPr>
        <p:txBody>
          <a:bodyPr lIns="0" tIns="0" anchor="ctr" anchorCtr="0"/>
          <a:lstStyle/>
          <a:p>
            <a:r>
              <a:rPr lang="en-US">
                <a:ea typeface="Roboto"/>
                <a:cs typeface="Segoe UI"/>
              </a:rPr>
              <a:t>The features span ordering/fulfillment processes and enabling functions like client settings across multiple applications and tech stacks</a:t>
            </a:r>
            <a:endParaRPr lang="en-US"/>
          </a:p>
        </p:txBody>
      </p:sp>
      <p:sp>
        <p:nvSpPr>
          <p:cNvPr id="22" name="Text Placeholder 30">
            <a:extLst>
              <a:ext uri="{FF2B5EF4-FFF2-40B4-BE49-F238E27FC236}">
                <a16:creationId xmlns:a16="http://schemas.microsoft.com/office/drawing/2014/main" id="{4FBDE33F-C8B3-615F-D3ED-448E2D7FD40D}"/>
              </a:ext>
            </a:extLst>
          </p:cNvPr>
          <p:cNvSpPr txBox="1">
            <a:spLocks/>
          </p:cNvSpPr>
          <p:nvPr/>
        </p:nvSpPr>
        <p:spPr>
          <a:xfrm>
            <a:off x="6849548" y="3012933"/>
            <a:ext cx="4878901" cy="1219458"/>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1000"/>
              </a:spcAft>
              <a:buFontTx/>
              <a:buNone/>
              <a:defRPr sz="16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200" b="0"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200" b="0"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200" b="0"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200" b="0"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200" b="0"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200" b="0" i="0" kern="1200" cap="none" baseline="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The WM team has provided great value in the organization and knowledge they bring to the table.</a:t>
            </a:r>
            <a:br>
              <a:rPr kumimoji="0" lang="en-US" sz="14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br>
            <a:r>
              <a:rPr kumimoji="0" lang="en-US" sz="14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 Sr. Director, Product Management</a:t>
            </a:r>
          </a:p>
        </p:txBody>
      </p:sp>
      <p:sp>
        <p:nvSpPr>
          <p:cNvPr id="11" name="Text Placeholder 5">
            <a:extLst>
              <a:ext uri="{FF2B5EF4-FFF2-40B4-BE49-F238E27FC236}">
                <a16:creationId xmlns:a16="http://schemas.microsoft.com/office/drawing/2014/main" id="{DA2F5A83-5B3E-BF4E-E78E-3ADCBB113AA7}"/>
              </a:ext>
            </a:extLst>
          </p:cNvPr>
          <p:cNvSpPr txBox="1">
            <a:spLocks/>
          </p:cNvSpPr>
          <p:nvPr/>
        </p:nvSpPr>
        <p:spPr>
          <a:xfrm>
            <a:off x="460374" y="1714500"/>
            <a:ext cx="5749926" cy="91549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Roboto"/>
                <a:cs typeface="Arial"/>
              </a:rPr>
              <a:t>Client specializes in drug testing, employee background and occupational health screening, transportation compliance, and substance abuse training. Their dated monolithic architecture results in large, risky releases and presents challenges in upgrading specific domains.</a:t>
            </a:r>
            <a:endPar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
        <p:nvSpPr>
          <p:cNvPr id="12" name="Text Placeholder 17">
            <a:extLst>
              <a:ext uri="{FF2B5EF4-FFF2-40B4-BE49-F238E27FC236}">
                <a16:creationId xmlns:a16="http://schemas.microsoft.com/office/drawing/2014/main" id="{357C5351-08B6-3E7E-A543-95F1539397B8}"/>
              </a:ext>
            </a:extLst>
          </p:cNvPr>
          <p:cNvSpPr txBox="1">
            <a:spLocks/>
          </p:cNvSpPr>
          <p:nvPr/>
        </p:nvSpPr>
        <p:spPr>
          <a:xfrm>
            <a:off x="465137" y="556955"/>
            <a:ext cx="5106987" cy="20666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cap="all" baseline="0">
                <a:solidFill>
                  <a:schemeClr val="accent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600" b="1" i="0" kern="1200" cap="all" baseline="0">
                <a:solidFill>
                  <a:schemeClr val="accent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600" b="1" i="0" kern="1200" cap="none" baseline="0">
                <a:solidFill>
                  <a:schemeClr val="accent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600" b="1" i="0" kern="1200" cap="none" baseline="0">
                <a:solidFill>
                  <a:schemeClr val="accent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600" b="1" i="0" kern="1200" cap="none" baseline="0">
                <a:solidFill>
                  <a:schemeClr val="accent1"/>
                </a:solidFill>
                <a:latin typeface="+mn-lt"/>
                <a:ea typeface="Roboto" panose="02000000000000000000" pitchFamily="2" charset="0"/>
                <a:cs typeface="Segoe UI" panose="020B0502040204020203"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5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rPr>
              <a:t>Workplace Safety &amp; Compliance Provider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all" spc="0" normalizeH="0" baseline="0" noProof="0">
              <a:ln>
                <a:noFill/>
              </a:ln>
              <a:solidFill>
                <a:srgbClr val="F900D3"/>
              </a:solidFill>
              <a:effectLst/>
              <a:uLnTx/>
              <a:uFillTx/>
              <a:latin typeface="Arial" panose="020B0604020202020204"/>
              <a:ea typeface="Roboto" panose="02000000000000000000" pitchFamily="2" charset="0"/>
              <a:cs typeface="Segoe UI" panose="020B0502040204020203" pitchFamily="34" charset="0"/>
            </a:endParaRPr>
          </a:p>
        </p:txBody>
      </p:sp>
      <p:sp>
        <p:nvSpPr>
          <p:cNvPr id="13" name="Title 7">
            <a:extLst>
              <a:ext uri="{FF2B5EF4-FFF2-40B4-BE49-F238E27FC236}">
                <a16:creationId xmlns:a16="http://schemas.microsoft.com/office/drawing/2014/main" id="{5CE20712-A307-7805-B57E-FC333FFE87BA}"/>
              </a:ext>
            </a:extLst>
          </p:cNvPr>
          <p:cNvSpPr txBox="1">
            <a:spLocks/>
          </p:cNvSpPr>
          <p:nvPr/>
        </p:nvSpPr>
        <p:spPr>
          <a:xfrm>
            <a:off x="460373" y="763616"/>
            <a:ext cx="5749927" cy="64926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000" b="1" i="0" kern="1200">
                <a:solidFill>
                  <a:schemeClr val="tx1"/>
                </a:solidFill>
                <a:latin typeface="+mj-lt"/>
                <a:ea typeface="Bernard MT Condensed" panose="02050806060905020404" pitchFamily="18" charset="77"/>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70154"/>
                </a:solidFill>
                <a:effectLst/>
                <a:uLnTx/>
                <a:uFillTx/>
                <a:latin typeface="Arial" panose="020B0604020202020204"/>
                <a:cs typeface="Arial"/>
              </a:rPr>
              <a:t>How can we expand our occupational health offering while modernizing our architecture?</a:t>
            </a:r>
            <a:endParaRPr kumimoji="0" lang="en-US" sz="1800" b="1" i="0" u="none" strike="noStrike" kern="1200" cap="none" spc="0" normalizeH="0" baseline="0" noProof="0">
              <a:ln>
                <a:noFill/>
              </a:ln>
              <a:solidFill>
                <a:srgbClr val="070154"/>
              </a:solidFill>
              <a:effectLst/>
              <a:uLnTx/>
              <a:uFillTx/>
              <a:latin typeface="Arial" panose="020B0604020202020204"/>
              <a:cs typeface="Arial" panose="020B0604020202020204" pitchFamily="34" charset="0"/>
            </a:endParaRPr>
          </a:p>
        </p:txBody>
      </p:sp>
      <p:sp>
        <p:nvSpPr>
          <p:cNvPr id="14" name="Text Placeholder 5">
            <a:extLst>
              <a:ext uri="{FF2B5EF4-FFF2-40B4-BE49-F238E27FC236}">
                <a16:creationId xmlns:a16="http://schemas.microsoft.com/office/drawing/2014/main" id="{CFA767D3-68EA-1890-F397-02E422150131}"/>
              </a:ext>
            </a:extLst>
          </p:cNvPr>
          <p:cNvSpPr txBox="1">
            <a:spLocks/>
          </p:cNvSpPr>
          <p:nvPr/>
        </p:nvSpPr>
        <p:spPr>
          <a:xfrm>
            <a:off x="460376" y="2629991"/>
            <a:ext cx="5749924" cy="305851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marL="0" marR="0" lvl="1" indent="0" algn="l" defTabSz="914400" rtl="0" eaLnBrk="1" fontAlgn="auto" latinLnBrk="0" hangingPunct="1">
              <a:lnSpc>
                <a:spcPct val="100000"/>
              </a:lnSpc>
              <a:spcBef>
                <a:spcPts val="1200"/>
              </a:spcBef>
              <a:spcAft>
                <a:spcPts val="600"/>
              </a:spcAft>
              <a:buClr>
                <a:srgbClr val="F900D3"/>
              </a:buClr>
              <a:buSzTx/>
              <a:buFontTx/>
              <a:buNone/>
              <a:tabLst>
                <a:tab pos="280988" algn="l"/>
              </a:tabLst>
              <a:defRPr/>
            </a:pPr>
            <a:r>
              <a:rPr kumimoji="0" lang="en-US" sz="1200" b="1" i="0" u="none" strike="noStrike" kern="1200" cap="none" spc="0" normalizeH="0" baseline="0" noProof="0">
                <a:ln>
                  <a:noFill/>
                </a:ln>
                <a:solidFill>
                  <a:srgbClr val="0047FF"/>
                </a:solidFill>
                <a:effectLst/>
                <a:uLnTx/>
                <a:uFillTx/>
                <a:latin typeface="Arial" panose="020B0604020202020204"/>
                <a:ea typeface="Roboto" panose="02000000000000000000" pitchFamily="2" charset="0"/>
                <a:cs typeface="Segoe UI" panose="020B0502040204020203" pitchFamily="34" charset="0"/>
              </a:rPr>
              <a:t>Modernization Strategy &amp; Build</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a:cs typeface="Arial"/>
              </a:rPr>
              <a:t>Performed an initial architecture deep dive phase to identify pain points and formulate an approach ahead of the build phase</a:t>
            </a: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a:cs typeface="Arial"/>
              </a:rPr>
              <a:t>Streamlined the implementation approach by instituting a more Agile design and development process than that of other vendors, significantly lowering the time to produce working, high-quality code</a:t>
            </a:r>
            <a:endParaRPr kumimoji="0" lang="en-US" sz="1050" b="0" i="0" u="none" strike="noStrike" kern="1200" cap="none" spc="0" normalizeH="0" baseline="0" noProof="0">
              <a:ln>
                <a:noFill/>
              </a:ln>
              <a:solidFill>
                <a:srgbClr val="070154"/>
              </a:solidFill>
              <a:effectLst/>
              <a:uLnTx/>
              <a:uFillTx/>
              <a:latin typeface="Arial" panose="020B0604020202020204"/>
              <a:ea typeface="Roboto"/>
              <a:cs typeface="Segoe UI" panose="020B0502040204020203" pitchFamily="34" charset="0"/>
            </a:endParaRP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a:cs typeface="Arial"/>
              </a:rPr>
              <a:t>Split the occupational health domain apart from the on-prem monolithic back-end by creating a new .NET Core microservice and SQL database hosted in Azure</a:t>
            </a:r>
            <a:endParaRPr kumimoji="0" lang="en-US" sz="1050" b="0" i="0" u="none" strike="noStrike" kern="1200" cap="none" spc="0" normalizeH="0" baseline="0" noProof="0">
              <a:ln>
                <a:noFill/>
              </a:ln>
              <a:solidFill>
                <a:srgbClr val="070154"/>
              </a:solidFill>
              <a:effectLst/>
              <a:uLnTx/>
              <a:uFillTx/>
              <a:latin typeface="Arial" panose="020B0604020202020204"/>
              <a:ea typeface="Roboto"/>
              <a:cs typeface="Segoe UI" panose="020B0502040204020203" pitchFamily="34" charset="0"/>
            </a:endParaRP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a:cs typeface="Arial"/>
              </a:rPr>
              <a:t>Currently revamping their current internal-facing and client-facing experiences, replacing ASP.NET web pages with React in the process</a:t>
            </a:r>
            <a:endParaRPr kumimoji="0" lang="en-US" sz="1050" b="0" i="0" u="none" strike="noStrike" kern="1200" cap="none" spc="0" normalizeH="0" baseline="0" noProof="0">
              <a:ln>
                <a:noFill/>
              </a:ln>
              <a:solidFill>
                <a:srgbClr val="070154"/>
              </a:solidFill>
              <a:effectLst/>
              <a:uLnTx/>
              <a:uFillTx/>
              <a:latin typeface="Arial" panose="020B0604020202020204"/>
              <a:ea typeface="Roboto"/>
              <a:cs typeface="Segoe UI" panose="020B0502040204020203" pitchFamily="34" charset="0"/>
            </a:endParaRPr>
          </a:p>
          <a:p>
            <a:pPr marL="137160" marR="0" lvl="2" indent="-137160" algn="l" defTabSz="292608" rtl="0" eaLnBrk="1" fontAlgn="auto" latinLnBrk="0" hangingPunct="1">
              <a:lnSpc>
                <a:spcPct val="100000"/>
              </a:lnSpc>
              <a:spcBef>
                <a:spcPts val="0"/>
              </a:spcBef>
              <a:spcAft>
                <a:spcPts val="600"/>
              </a:spcAft>
              <a:buClr>
                <a:srgbClr val="070154"/>
              </a:buClr>
              <a:buSzTx/>
              <a:buFont typeface="Arial" panose="020B0604020202020204" pitchFamily="34" charset="0"/>
              <a:buChar char="•"/>
              <a:tabLst>
                <a:tab pos="276225" algn="l"/>
                <a:tab pos="584200" algn="l"/>
              </a:tabLst>
              <a:defRPr/>
            </a:pPr>
            <a:r>
              <a:rPr kumimoji="0" lang="en-US" sz="1050" b="0" i="0" u="none" strike="noStrike" kern="1200" cap="none" spc="0" normalizeH="0" baseline="0" noProof="0">
                <a:ln>
                  <a:noFill/>
                </a:ln>
                <a:solidFill>
                  <a:srgbClr val="070154"/>
                </a:solidFill>
                <a:effectLst/>
                <a:uLnTx/>
                <a:uFillTx/>
                <a:latin typeface="Arial" panose="020B0604020202020204"/>
                <a:ea typeface="Roboto"/>
                <a:cs typeface="Arial"/>
              </a:rPr>
              <a:t>Will leverage Azure Data Factory to perform a one-time data migration to retire occupational health data in the legacy on-prem SQL Server database and have the Azure SQL database become the source of truth, updating downstream systems to pull from the new microservice</a:t>
            </a:r>
            <a:endParaRPr kumimoji="0" lang="en-US" sz="1050" b="0" i="0" u="none" strike="noStrike" kern="1200" cap="none" spc="0" normalizeH="0" baseline="0" noProof="0">
              <a:ln>
                <a:noFill/>
              </a:ln>
              <a:solidFill>
                <a:srgbClr val="070154"/>
              </a:solidFill>
              <a:effectLst/>
              <a:uLnTx/>
              <a:uFillTx/>
              <a:latin typeface="Arial" panose="020B0604020202020204"/>
              <a:ea typeface="Roboto"/>
              <a:cs typeface="Segoe UI" panose="020B0502040204020203" pitchFamily="34" charset="0"/>
            </a:endParaRPr>
          </a:p>
        </p:txBody>
      </p:sp>
    </p:spTree>
    <p:extLst>
      <p:ext uri="{BB962C8B-B14F-4D97-AF65-F5344CB8AC3E}">
        <p14:creationId xmlns:p14="http://schemas.microsoft.com/office/powerpoint/2010/main" val="24703544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03CA8CA-05D1-8948-91E5-86379BCEE43E}"/>
              </a:ext>
            </a:extLst>
          </p:cNvPr>
          <p:cNvSpPr txBox="1"/>
          <p:nvPr/>
        </p:nvSpPr>
        <p:spPr>
          <a:xfrm>
            <a:off x="457200" y="533400"/>
            <a:ext cx="11277600" cy="635000"/>
          </a:xfrm>
          <a:prstGeom prst="rect">
            <a:avLst/>
          </a:prstGeom>
          <a:noFill/>
        </p:spPr>
        <p:txBody>
          <a:bodyPr vertOverflow="overflow" vert="horz" wrap="square" lIns="0" tIns="0" rIns="0" bIns="0" rtlCol="0" anchor="t">
            <a:normAutofit/>
          </a:bodyPr>
          <a:lstStyle/>
          <a:p>
            <a:pPr marL="0" indent="0" algn="l">
              <a:spcAft>
                <a:spcPts val="600"/>
              </a:spcAft>
              <a:tabLst/>
            </a:pPr>
            <a:r>
              <a:rPr lang="en-US" sz="2400" b="1">
                <a:solidFill>
                  <a:srgbClr val="070154"/>
                </a:solidFill>
                <a:latin typeface="Arial"/>
                <a:cs typeface="Arial"/>
              </a:rPr>
              <a:t>One consequential application or process</a:t>
            </a:r>
            <a:endParaRPr lang="en-US" sz="2400" b="1" dirty="0">
              <a:solidFill>
                <a:srgbClr val="070154"/>
              </a:solidFill>
              <a:latin typeface="Arial"/>
              <a:cs typeface="Arial"/>
            </a:endParaRPr>
          </a:p>
        </p:txBody>
      </p:sp>
      <p:sp>
        <p:nvSpPr>
          <p:cNvPr id="11" name="Rectangle 10">
            <a:extLst>
              <a:ext uri="{FF2B5EF4-FFF2-40B4-BE49-F238E27FC236}">
                <a16:creationId xmlns:a16="http://schemas.microsoft.com/office/drawing/2014/main" id="{62CCB562-CCDB-B34A-81CA-410CE74B5FD9}"/>
              </a:ext>
            </a:extLst>
          </p:cNvPr>
          <p:cNvSpPr/>
          <p:nvPr/>
        </p:nvSpPr>
        <p:spPr bwMode="auto">
          <a:xfrm>
            <a:off x="457200" y="1409700"/>
            <a:ext cx="3378200" cy="39116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2" name="Rectangle 11">
            <a:extLst>
              <a:ext uri="{FF2B5EF4-FFF2-40B4-BE49-F238E27FC236}">
                <a16:creationId xmlns:a16="http://schemas.microsoft.com/office/drawing/2014/main" id="{13494AE1-4EC9-864B-951A-14EA0C68D25E}"/>
              </a:ext>
            </a:extLst>
          </p:cNvPr>
          <p:cNvSpPr/>
          <p:nvPr/>
        </p:nvSpPr>
        <p:spPr bwMode="auto">
          <a:xfrm>
            <a:off x="457200" y="1409700"/>
            <a:ext cx="3378200" cy="1143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4" name="TextBox 13">
            <a:extLst>
              <a:ext uri="{FF2B5EF4-FFF2-40B4-BE49-F238E27FC236}">
                <a16:creationId xmlns:a16="http://schemas.microsoft.com/office/drawing/2014/main" id="{33C6CC80-2771-A540-8D1B-D9FD8ABFAE30}"/>
              </a:ext>
            </a:extLst>
          </p:cNvPr>
          <p:cNvSpPr txBox="1"/>
          <p:nvPr/>
        </p:nvSpPr>
        <p:spPr>
          <a:xfrm>
            <a:off x="711200" y="1765300"/>
            <a:ext cx="2413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F900D3"/>
                </a:solidFill>
                <a:latin typeface="Arial"/>
                <a:cs typeface="Arial"/>
              </a:rPr>
              <a:t>NOMINATION PROMPT</a:t>
            </a:r>
            <a:endParaRPr lang="en-US" sz="950" b="1" dirty="0">
              <a:solidFill>
                <a:srgbClr val="F900D3"/>
              </a:solidFill>
              <a:latin typeface="Arial"/>
              <a:cs typeface="Arial"/>
            </a:endParaRPr>
          </a:p>
        </p:txBody>
      </p:sp>
      <p:sp>
        <p:nvSpPr>
          <p:cNvPr id="15" name="TextBox 14">
            <a:extLst>
              <a:ext uri="{FF2B5EF4-FFF2-40B4-BE49-F238E27FC236}">
                <a16:creationId xmlns:a16="http://schemas.microsoft.com/office/drawing/2014/main" id="{6EE2F430-F6D8-A54D-B0E5-2F13B768FE79}"/>
              </a:ext>
            </a:extLst>
          </p:cNvPr>
          <p:cNvSpPr txBox="1"/>
          <p:nvPr/>
        </p:nvSpPr>
        <p:spPr>
          <a:xfrm>
            <a:off x="711200" y="2286000"/>
            <a:ext cx="2819400" cy="1803400"/>
          </a:xfrm>
          <a:prstGeom prst="rect">
            <a:avLst/>
          </a:prstGeom>
          <a:noFill/>
        </p:spPr>
        <p:txBody>
          <a:bodyPr vertOverflow="overflow" vert="horz" wrap="square" lIns="0" tIns="0" rIns="0" bIns="0" rtlCol="0" anchor="t">
            <a:noAutofit/>
          </a:bodyPr>
          <a:lstStyle/>
          <a:p>
            <a:pPr marL="0" indent="0" algn="l">
              <a:spcAft>
                <a:spcPts val="600"/>
              </a:spcAft>
              <a:tabLst/>
            </a:pPr>
            <a:r>
              <a:rPr lang="en-US" sz="1600" b="1">
                <a:solidFill>
                  <a:srgbClr val="FFFFFF"/>
                </a:solidFill>
                <a:latin typeface="Arial"/>
                <a:cs typeface="Arial"/>
              </a:rPr>
              <a:t>Where does one consequential application or process constrain growth, operations, risk, cost, customer experience, or AI readiness?</a:t>
            </a:r>
            <a:endParaRPr lang="en-US" sz="1600" b="1" dirty="0">
              <a:solidFill>
                <a:srgbClr val="FFFFFF"/>
              </a:solidFill>
              <a:latin typeface="Arial"/>
              <a:cs typeface="Arial"/>
            </a:endParaRPr>
          </a:p>
        </p:txBody>
      </p:sp>
      <p:sp>
        <p:nvSpPr>
          <p:cNvPr id="16" name="TextBox 15">
            <a:extLst>
              <a:ext uri="{FF2B5EF4-FFF2-40B4-BE49-F238E27FC236}">
                <a16:creationId xmlns:a16="http://schemas.microsoft.com/office/drawing/2014/main" id="{F2DBEC5A-FE5E-EB4E-BB09-48259FEA0DA7}"/>
              </a:ext>
            </a:extLst>
          </p:cNvPr>
          <p:cNvSpPr txBox="1"/>
          <p:nvPr/>
        </p:nvSpPr>
        <p:spPr>
          <a:xfrm>
            <a:off x="711200" y="4508500"/>
            <a:ext cx="2794000" cy="5080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FFFFFF"/>
                </a:solidFill>
                <a:latin typeface="Arial"/>
                <a:cs typeface="Arial"/>
              </a:rPr>
              <a:t>Bring a real decision window and enough access to test the question.</a:t>
            </a:r>
            <a:endParaRPr lang="en-US" sz="1000" b="1" dirty="0">
              <a:solidFill>
                <a:srgbClr val="FFFFFF"/>
              </a:solidFill>
              <a:latin typeface="Arial"/>
              <a:cs typeface="Arial"/>
            </a:endParaRPr>
          </a:p>
        </p:txBody>
      </p:sp>
      <p:sp>
        <p:nvSpPr>
          <p:cNvPr id="17" name="Rectangle 16">
            <a:extLst>
              <a:ext uri="{FF2B5EF4-FFF2-40B4-BE49-F238E27FC236}">
                <a16:creationId xmlns:a16="http://schemas.microsoft.com/office/drawing/2014/main" id="{FAF26212-F425-944D-B75E-2373A0B58A25}"/>
              </a:ext>
            </a:extLst>
          </p:cNvPr>
          <p:cNvSpPr/>
          <p:nvPr/>
        </p:nvSpPr>
        <p:spPr bwMode="auto">
          <a:xfrm>
            <a:off x="4089400" y="1409700"/>
            <a:ext cx="7645400" cy="181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8" name="Rectangle 17">
            <a:extLst>
              <a:ext uri="{FF2B5EF4-FFF2-40B4-BE49-F238E27FC236}">
                <a16:creationId xmlns:a16="http://schemas.microsoft.com/office/drawing/2014/main" id="{15BF7893-E89B-414F-8118-111EEDF115C3}"/>
              </a:ext>
            </a:extLst>
          </p:cNvPr>
          <p:cNvSpPr/>
          <p:nvPr/>
        </p:nvSpPr>
        <p:spPr bwMode="auto">
          <a:xfrm>
            <a:off x="4089400" y="1409700"/>
            <a:ext cx="101600" cy="18161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9" name="TextBox 18">
            <a:extLst>
              <a:ext uri="{FF2B5EF4-FFF2-40B4-BE49-F238E27FC236}">
                <a16:creationId xmlns:a16="http://schemas.microsoft.com/office/drawing/2014/main" id="{336E9F26-23A0-0049-B97E-A550FA552BBD}"/>
              </a:ext>
            </a:extLst>
          </p:cNvPr>
          <p:cNvSpPr txBox="1"/>
          <p:nvPr/>
        </p:nvSpPr>
        <p:spPr>
          <a:xfrm>
            <a:off x="4368800" y="1663700"/>
            <a:ext cx="3175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200" b="1">
                <a:solidFill>
                  <a:srgbClr val="0047FF"/>
                </a:solidFill>
                <a:latin typeface="Arial"/>
                <a:cs typeface="Arial"/>
              </a:rPr>
              <a:t>QUALIFICATION CONDITIONS</a:t>
            </a:r>
            <a:endParaRPr lang="en-US" sz="1200" b="1" dirty="0">
              <a:solidFill>
                <a:srgbClr val="0047FF"/>
              </a:solidFill>
              <a:latin typeface="Arial"/>
              <a:cs typeface="Arial"/>
            </a:endParaRPr>
          </a:p>
        </p:txBody>
      </p:sp>
      <p:sp>
        <p:nvSpPr>
          <p:cNvPr id="20" name="TextBox 19">
            <a:extLst>
              <a:ext uri="{FF2B5EF4-FFF2-40B4-BE49-F238E27FC236}">
                <a16:creationId xmlns:a16="http://schemas.microsoft.com/office/drawing/2014/main" id="{459F50F4-67DF-A948-9D0C-47F88AC4A806}"/>
              </a:ext>
            </a:extLst>
          </p:cNvPr>
          <p:cNvSpPr txBox="1"/>
          <p:nvPr/>
        </p:nvSpPr>
        <p:spPr>
          <a:xfrm>
            <a:off x="4368800" y="2108200"/>
            <a:ext cx="254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1</a:t>
            </a:r>
            <a:endParaRPr lang="en-US" sz="900" b="1" dirty="0">
              <a:solidFill>
                <a:srgbClr val="0047FF"/>
              </a:solidFill>
              <a:latin typeface="Arial"/>
              <a:cs typeface="Arial"/>
            </a:endParaRPr>
          </a:p>
        </p:txBody>
      </p:sp>
      <p:sp>
        <p:nvSpPr>
          <p:cNvPr id="21" name="TextBox 20">
            <a:extLst>
              <a:ext uri="{FF2B5EF4-FFF2-40B4-BE49-F238E27FC236}">
                <a16:creationId xmlns:a16="http://schemas.microsoft.com/office/drawing/2014/main" id="{9B0B82A4-4616-BD45-B7FC-86083BFD1F18}"/>
              </a:ext>
            </a:extLst>
          </p:cNvPr>
          <p:cNvSpPr txBox="1"/>
          <p:nvPr/>
        </p:nvSpPr>
        <p:spPr>
          <a:xfrm>
            <a:off x="4699000" y="2070100"/>
            <a:ext cx="67310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A catalyst creates a decision window within 12 to 24 months.</a:t>
            </a:r>
            <a:endParaRPr lang="en-US" sz="950" dirty="0">
              <a:solidFill>
                <a:srgbClr val="070154"/>
              </a:solidFill>
              <a:latin typeface="Arial"/>
              <a:cs typeface="Arial"/>
            </a:endParaRPr>
          </a:p>
        </p:txBody>
      </p:sp>
      <p:sp>
        <p:nvSpPr>
          <p:cNvPr id="22" name="TextBox 21">
            <a:extLst>
              <a:ext uri="{FF2B5EF4-FFF2-40B4-BE49-F238E27FC236}">
                <a16:creationId xmlns:a16="http://schemas.microsoft.com/office/drawing/2014/main" id="{CB2072F1-98D9-8142-BA26-A944F405C466}"/>
              </a:ext>
            </a:extLst>
          </p:cNvPr>
          <p:cNvSpPr txBox="1"/>
          <p:nvPr/>
        </p:nvSpPr>
        <p:spPr>
          <a:xfrm>
            <a:off x="4368800" y="2374900"/>
            <a:ext cx="254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2</a:t>
            </a:r>
            <a:endParaRPr lang="en-US" sz="900" b="1" dirty="0">
              <a:solidFill>
                <a:srgbClr val="0047FF"/>
              </a:solidFill>
              <a:latin typeface="Arial"/>
              <a:cs typeface="Arial"/>
            </a:endParaRPr>
          </a:p>
        </p:txBody>
      </p:sp>
      <p:sp>
        <p:nvSpPr>
          <p:cNvPr id="23" name="TextBox 22">
            <a:extLst>
              <a:ext uri="{FF2B5EF4-FFF2-40B4-BE49-F238E27FC236}">
                <a16:creationId xmlns:a16="http://schemas.microsoft.com/office/drawing/2014/main" id="{B2EFDD63-4362-D84B-AF09-5BDDAD7C7063}"/>
              </a:ext>
            </a:extLst>
          </p:cNvPr>
          <p:cNvSpPr txBox="1"/>
          <p:nvPr/>
        </p:nvSpPr>
        <p:spPr>
          <a:xfrm>
            <a:off x="4699000" y="2336800"/>
            <a:ext cx="67310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Important rules, dependencies, integrations, exceptions, or workarounds are poorly understood.</a:t>
            </a:r>
            <a:endParaRPr lang="en-US" sz="950" dirty="0">
              <a:solidFill>
                <a:srgbClr val="070154"/>
              </a:solidFill>
              <a:latin typeface="Arial"/>
              <a:cs typeface="Arial"/>
            </a:endParaRPr>
          </a:p>
        </p:txBody>
      </p:sp>
      <p:sp>
        <p:nvSpPr>
          <p:cNvPr id="24" name="TextBox 23">
            <a:extLst>
              <a:ext uri="{FF2B5EF4-FFF2-40B4-BE49-F238E27FC236}">
                <a16:creationId xmlns:a16="http://schemas.microsoft.com/office/drawing/2014/main" id="{3A17F673-E9AA-2946-9BF0-A23E8DE6AEE6}"/>
              </a:ext>
            </a:extLst>
          </p:cNvPr>
          <p:cNvSpPr txBox="1"/>
          <p:nvPr/>
        </p:nvSpPr>
        <p:spPr>
          <a:xfrm>
            <a:off x="4368800" y="2641600"/>
            <a:ext cx="254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3</a:t>
            </a:r>
            <a:endParaRPr lang="en-US" sz="900" b="1" dirty="0">
              <a:solidFill>
                <a:srgbClr val="0047FF"/>
              </a:solidFill>
              <a:latin typeface="Arial"/>
              <a:cs typeface="Arial"/>
            </a:endParaRPr>
          </a:p>
        </p:txBody>
      </p:sp>
      <p:sp>
        <p:nvSpPr>
          <p:cNvPr id="25" name="TextBox 24">
            <a:extLst>
              <a:ext uri="{FF2B5EF4-FFF2-40B4-BE49-F238E27FC236}">
                <a16:creationId xmlns:a16="http://schemas.microsoft.com/office/drawing/2014/main" id="{8C397DA3-36C7-CA44-9FFF-3A3741B3279F}"/>
              </a:ext>
            </a:extLst>
          </p:cNvPr>
          <p:cNvSpPr txBox="1"/>
          <p:nvPr/>
        </p:nvSpPr>
        <p:spPr>
          <a:xfrm>
            <a:off x="4699000" y="2603500"/>
            <a:ext cx="67310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More than one modernization path is genuinely open.</a:t>
            </a:r>
            <a:endParaRPr lang="en-US" sz="950" dirty="0">
              <a:solidFill>
                <a:srgbClr val="070154"/>
              </a:solidFill>
              <a:latin typeface="Arial"/>
              <a:cs typeface="Arial"/>
            </a:endParaRPr>
          </a:p>
        </p:txBody>
      </p:sp>
      <p:sp>
        <p:nvSpPr>
          <p:cNvPr id="26" name="TextBox 25">
            <a:extLst>
              <a:ext uri="{FF2B5EF4-FFF2-40B4-BE49-F238E27FC236}">
                <a16:creationId xmlns:a16="http://schemas.microsoft.com/office/drawing/2014/main" id="{2BEE1797-4967-6646-A9AF-8D099E3FCB30}"/>
              </a:ext>
            </a:extLst>
          </p:cNvPr>
          <p:cNvSpPr txBox="1"/>
          <p:nvPr/>
        </p:nvSpPr>
        <p:spPr>
          <a:xfrm>
            <a:off x="4368800" y="2908300"/>
            <a:ext cx="2540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0047FF"/>
                </a:solidFill>
                <a:latin typeface="Arial"/>
                <a:cs typeface="Arial"/>
              </a:rPr>
              <a:t>4</a:t>
            </a:r>
            <a:endParaRPr lang="en-US" sz="900" b="1" dirty="0">
              <a:solidFill>
                <a:srgbClr val="0047FF"/>
              </a:solidFill>
              <a:latin typeface="Arial"/>
              <a:cs typeface="Arial"/>
            </a:endParaRPr>
          </a:p>
        </p:txBody>
      </p:sp>
      <p:sp>
        <p:nvSpPr>
          <p:cNvPr id="27" name="TextBox 26">
            <a:extLst>
              <a:ext uri="{FF2B5EF4-FFF2-40B4-BE49-F238E27FC236}">
                <a16:creationId xmlns:a16="http://schemas.microsoft.com/office/drawing/2014/main" id="{499ECD87-0C51-4841-92F7-8A064FF826A6}"/>
              </a:ext>
            </a:extLst>
          </p:cNvPr>
          <p:cNvSpPr txBox="1"/>
          <p:nvPr/>
        </p:nvSpPr>
        <p:spPr>
          <a:xfrm>
            <a:off x="4699000" y="2870200"/>
            <a:ext cx="6731000" cy="2540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Business and technology owners can provide source, artifact, operator, and expert access.</a:t>
            </a:r>
            <a:endParaRPr lang="en-US" sz="950" dirty="0">
              <a:solidFill>
                <a:srgbClr val="070154"/>
              </a:solidFill>
              <a:latin typeface="Arial"/>
              <a:cs typeface="Arial"/>
            </a:endParaRPr>
          </a:p>
        </p:txBody>
      </p:sp>
      <p:sp>
        <p:nvSpPr>
          <p:cNvPr id="28" name="Rectangle 27">
            <a:extLst>
              <a:ext uri="{FF2B5EF4-FFF2-40B4-BE49-F238E27FC236}">
                <a16:creationId xmlns:a16="http://schemas.microsoft.com/office/drawing/2014/main" id="{20B3DFF6-D3CA-0D4B-9F39-DB8497660C7B}"/>
              </a:ext>
            </a:extLst>
          </p:cNvPr>
          <p:cNvSpPr/>
          <p:nvPr/>
        </p:nvSpPr>
        <p:spPr bwMode="auto">
          <a:xfrm>
            <a:off x="4089400" y="3416300"/>
            <a:ext cx="7645400" cy="19050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Rectangle 28">
            <a:extLst>
              <a:ext uri="{FF2B5EF4-FFF2-40B4-BE49-F238E27FC236}">
                <a16:creationId xmlns:a16="http://schemas.microsoft.com/office/drawing/2014/main" id="{BB649FC6-63E0-2B42-A213-A90FB5DA0ED3}"/>
              </a:ext>
            </a:extLst>
          </p:cNvPr>
          <p:cNvSpPr/>
          <p:nvPr/>
        </p:nvSpPr>
        <p:spPr bwMode="auto">
          <a:xfrm>
            <a:off x="4089400" y="3416300"/>
            <a:ext cx="101600" cy="19050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0" name="TextBox 29">
            <a:extLst>
              <a:ext uri="{FF2B5EF4-FFF2-40B4-BE49-F238E27FC236}">
                <a16:creationId xmlns:a16="http://schemas.microsoft.com/office/drawing/2014/main" id="{8240A7C1-57CB-5D41-9B83-6EFA4C3FC236}"/>
              </a:ext>
            </a:extLst>
          </p:cNvPr>
          <p:cNvSpPr txBox="1"/>
          <p:nvPr/>
        </p:nvSpPr>
        <p:spPr>
          <a:xfrm>
            <a:off x="4368800" y="3670300"/>
            <a:ext cx="4572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200" b="1">
                <a:solidFill>
                  <a:srgbClr val="070154"/>
                </a:solidFill>
                <a:latin typeface="Arial"/>
                <a:cs typeface="Arial"/>
              </a:rPr>
              <a:t>MODERNIZATION OPTIONS SPRINT RETURNS</a:t>
            </a:r>
            <a:endParaRPr lang="en-US" sz="1200" b="1" dirty="0">
              <a:solidFill>
                <a:srgbClr val="070154"/>
              </a:solidFill>
              <a:latin typeface="Arial"/>
              <a:cs typeface="Arial"/>
            </a:endParaRPr>
          </a:p>
        </p:txBody>
      </p:sp>
      <p:sp>
        <p:nvSpPr>
          <p:cNvPr id="31" name="TextBox 30">
            <a:extLst>
              <a:ext uri="{FF2B5EF4-FFF2-40B4-BE49-F238E27FC236}">
                <a16:creationId xmlns:a16="http://schemas.microsoft.com/office/drawing/2014/main" id="{36A5E631-B036-9A43-B79F-7BC853259BA4}"/>
              </a:ext>
            </a:extLst>
          </p:cNvPr>
          <p:cNvSpPr txBox="1"/>
          <p:nvPr/>
        </p:nvSpPr>
        <p:spPr>
          <a:xfrm>
            <a:off x="9093200" y="3695700"/>
            <a:ext cx="2336800" cy="177800"/>
          </a:xfrm>
          <a:prstGeom prst="rect">
            <a:avLst/>
          </a:prstGeom>
          <a:noFill/>
        </p:spPr>
        <p:txBody>
          <a:bodyPr vertOverflow="overflow" vert="horz" wrap="square" lIns="0" tIns="0" rIns="0" bIns="0" rtlCol="0" anchor="t">
            <a:noAutofit/>
          </a:bodyPr>
          <a:lstStyle/>
          <a:p>
            <a:pPr marL="0" indent="0" algn="l">
              <a:spcAft>
                <a:spcPts val="600"/>
              </a:spcAft>
              <a:tabLst/>
            </a:pPr>
            <a:r>
              <a:rPr lang="en-US" sz="850" b="1">
                <a:solidFill>
                  <a:srgbClr val="50627A"/>
                </a:solidFill>
                <a:latin typeface="Arial"/>
                <a:cs typeface="Arial"/>
              </a:rPr>
              <a:t>Subject to delivery and commercial validation</a:t>
            </a:r>
            <a:endParaRPr lang="en-US" sz="850" b="1" dirty="0">
              <a:solidFill>
                <a:srgbClr val="50627A"/>
              </a:solidFill>
              <a:latin typeface="Arial"/>
              <a:cs typeface="Arial"/>
            </a:endParaRPr>
          </a:p>
        </p:txBody>
      </p:sp>
      <p:sp>
        <p:nvSpPr>
          <p:cNvPr id="32" name="TextBox 31">
            <a:extLst>
              <a:ext uri="{FF2B5EF4-FFF2-40B4-BE49-F238E27FC236}">
                <a16:creationId xmlns:a16="http://schemas.microsoft.com/office/drawing/2014/main" id="{7664B673-3B39-5746-87C5-9EC800BBDAE1}"/>
              </a:ext>
            </a:extLst>
          </p:cNvPr>
          <p:cNvSpPr txBox="1"/>
          <p:nvPr/>
        </p:nvSpPr>
        <p:spPr>
          <a:xfrm>
            <a:off x="4368800" y="4114800"/>
            <a:ext cx="254000" cy="1651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1</a:t>
            </a:r>
            <a:endParaRPr lang="en-US" sz="900" b="1" dirty="0">
              <a:solidFill>
                <a:srgbClr val="F900D3"/>
              </a:solidFill>
              <a:latin typeface="Arial"/>
              <a:cs typeface="Arial"/>
            </a:endParaRPr>
          </a:p>
        </p:txBody>
      </p:sp>
      <p:sp>
        <p:nvSpPr>
          <p:cNvPr id="33" name="TextBox 32">
            <a:extLst>
              <a:ext uri="{FF2B5EF4-FFF2-40B4-BE49-F238E27FC236}">
                <a16:creationId xmlns:a16="http://schemas.microsoft.com/office/drawing/2014/main" id="{091759F9-3483-C342-98EE-BC7C6470CE08}"/>
              </a:ext>
            </a:extLst>
          </p:cNvPr>
          <p:cNvSpPr txBox="1"/>
          <p:nvPr/>
        </p:nvSpPr>
        <p:spPr>
          <a:xfrm>
            <a:off x="4699000" y="4089400"/>
            <a:ext cx="673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Agreed modernization thesis and scope</a:t>
            </a:r>
            <a:endParaRPr lang="en-US" sz="950" dirty="0">
              <a:solidFill>
                <a:srgbClr val="070154"/>
              </a:solidFill>
              <a:latin typeface="Arial"/>
              <a:cs typeface="Arial"/>
            </a:endParaRPr>
          </a:p>
        </p:txBody>
      </p:sp>
      <p:sp>
        <p:nvSpPr>
          <p:cNvPr id="34" name="TextBox 33">
            <a:extLst>
              <a:ext uri="{FF2B5EF4-FFF2-40B4-BE49-F238E27FC236}">
                <a16:creationId xmlns:a16="http://schemas.microsoft.com/office/drawing/2014/main" id="{57A4D08B-FE64-B645-AC51-36FB87A398E6}"/>
              </a:ext>
            </a:extLst>
          </p:cNvPr>
          <p:cNvSpPr txBox="1"/>
          <p:nvPr/>
        </p:nvSpPr>
        <p:spPr>
          <a:xfrm>
            <a:off x="4368800" y="4330700"/>
            <a:ext cx="254000" cy="1651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2</a:t>
            </a:r>
            <a:endParaRPr lang="en-US" sz="900" b="1" dirty="0">
              <a:solidFill>
                <a:srgbClr val="F900D3"/>
              </a:solidFill>
              <a:latin typeface="Arial"/>
              <a:cs typeface="Arial"/>
            </a:endParaRPr>
          </a:p>
        </p:txBody>
      </p:sp>
      <p:sp>
        <p:nvSpPr>
          <p:cNvPr id="35" name="TextBox 34">
            <a:extLst>
              <a:ext uri="{FF2B5EF4-FFF2-40B4-BE49-F238E27FC236}">
                <a16:creationId xmlns:a16="http://schemas.microsoft.com/office/drawing/2014/main" id="{0573E03A-A281-6349-83C1-D73C915388DA}"/>
              </a:ext>
            </a:extLst>
          </p:cNvPr>
          <p:cNvSpPr txBox="1"/>
          <p:nvPr/>
        </p:nvSpPr>
        <p:spPr>
          <a:xfrm>
            <a:off x="4699000" y="4305300"/>
            <a:ext cx="673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Source-backed current-state and uncertainty baseline</a:t>
            </a:r>
            <a:endParaRPr lang="en-US" sz="950" dirty="0">
              <a:solidFill>
                <a:srgbClr val="070154"/>
              </a:solidFill>
              <a:latin typeface="Arial"/>
              <a:cs typeface="Arial"/>
            </a:endParaRPr>
          </a:p>
        </p:txBody>
      </p:sp>
      <p:sp>
        <p:nvSpPr>
          <p:cNvPr id="36" name="TextBox 35">
            <a:extLst>
              <a:ext uri="{FF2B5EF4-FFF2-40B4-BE49-F238E27FC236}">
                <a16:creationId xmlns:a16="http://schemas.microsoft.com/office/drawing/2014/main" id="{EE1C004F-7E8E-A548-88C6-17EBAEE8A319}"/>
              </a:ext>
            </a:extLst>
          </p:cNvPr>
          <p:cNvSpPr txBox="1"/>
          <p:nvPr/>
        </p:nvSpPr>
        <p:spPr>
          <a:xfrm>
            <a:off x="4368800" y="4546600"/>
            <a:ext cx="254000" cy="1651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3</a:t>
            </a:r>
            <a:endParaRPr lang="en-US" sz="900" b="1" dirty="0">
              <a:solidFill>
                <a:srgbClr val="F900D3"/>
              </a:solidFill>
              <a:latin typeface="Arial"/>
              <a:cs typeface="Arial"/>
            </a:endParaRPr>
          </a:p>
        </p:txBody>
      </p:sp>
      <p:sp>
        <p:nvSpPr>
          <p:cNvPr id="37" name="TextBox 36">
            <a:extLst>
              <a:ext uri="{FF2B5EF4-FFF2-40B4-BE49-F238E27FC236}">
                <a16:creationId xmlns:a16="http://schemas.microsoft.com/office/drawing/2014/main" id="{E582469D-9A24-2943-BF21-BCE1EB6AEA66}"/>
              </a:ext>
            </a:extLst>
          </p:cNvPr>
          <p:cNvSpPr txBox="1"/>
          <p:nvPr/>
        </p:nvSpPr>
        <p:spPr>
          <a:xfrm>
            <a:off x="4699000" y="4521200"/>
            <a:ext cx="673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Connected view of the application and business process</a:t>
            </a:r>
            <a:endParaRPr lang="en-US" sz="950" dirty="0">
              <a:solidFill>
                <a:srgbClr val="070154"/>
              </a:solidFill>
              <a:latin typeface="Arial"/>
              <a:cs typeface="Arial"/>
            </a:endParaRPr>
          </a:p>
        </p:txBody>
      </p:sp>
      <p:sp>
        <p:nvSpPr>
          <p:cNvPr id="38" name="TextBox 37">
            <a:extLst>
              <a:ext uri="{FF2B5EF4-FFF2-40B4-BE49-F238E27FC236}">
                <a16:creationId xmlns:a16="http://schemas.microsoft.com/office/drawing/2014/main" id="{83E43DA1-19B5-FA4F-A7BB-71FF81F666B0}"/>
              </a:ext>
            </a:extLst>
          </p:cNvPr>
          <p:cNvSpPr txBox="1"/>
          <p:nvPr/>
        </p:nvSpPr>
        <p:spPr>
          <a:xfrm>
            <a:off x="4368800" y="4762500"/>
            <a:ext cx="254000" cy="1651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4</a:t>
            </a:r>
            <a:endParaRPr lang="en-US" sz="900" b="1" dirty="0">
              <a:solidFill>
                <a:srgbClr val="F900D3"/>
              </a:solidFill>
              <a:latin typeface="Arial"/>
              <a:cs typeface="Arial"/>
            </a:endParaRPr>
          </a:p>
        </p:txBody>
      </p:sp>
      <p:sp>
        <p:nvSpPr>
          <p:cNvPr id="39" name="TextBox 38">
            <a:extLst>
              <a:ext uri="{FF2B5EF4-FFF2-40B4-BE49-F238E27FC236}">
                <a16:creationId xmlns:a16="http://schemas.microsoft.com/office/drawing/2014/main" id="{DD421646-54B8-0744-8AEA-34667CC42595}"/>
              </a:ext>
            </a:extLst>
          </p:cNvPr>
          <p:cNvSpPr txBox="1"/>
          <p:nvPr/>
        </p:nvSpPr>
        <p:spPr>
          <a:xfrm>
            <a:off x="4699000" y="4737100"/>
            <a:ext cx="673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Disposition and target-direction comparison</a:t>
            </a:r>
            <a:endParaRPr lang="en-US" sz="950" dirty="0">
              <a:solidFill>
                <a:srgbClr val="070154"/>
              </a:solidFill>
              <a:latin typeface="Arial"/>
              <a:cs typeface="Arial"/>
            </a:endParaRPr>
          </a:p>
        </p:txBody>
      </p:sp>
      <p:sp>
        <p:nvSpPr>
          <p:cNvPr id="40" name="TextBox 39">
            <a:extLst>
              <a:ext uri="{FF2B5EF4-FFF2-40B4-BE49-F238E27FC236}">
                <a16:creationId xmlns:a16="http://schemas.microsoft.com/office/drawing/2014/main" id="{BA94134B-0B0D-A24B-A892-C66224796261}"/>
              </a:ext>
            </a:extLst>
          </p:cNvPr>
          <p:cNvSpPr txBox="1"/>
          <p:nvPr/>
        </p:nvSpPr>
        <p:spPr>
          <a:xfrm>
            <a:off x="4368800" y="4978400"/>
            <a:ext cx="254000" cy="1651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5</a:t>
            </a:r>
            <a:endParaRPr lang="en-US" sz="900" b="1" dirty="0">
              <a:solidFill>
                <a:srgbClr val="F900D3"/>
              </a:solidFill>
              <a:latin typeface="Arial"/>
              <a:cs typeface="Arial"/>
            </a:endParaRPr>
          </a:p>
        </p:txBody>
      </p:sp>
      <p:sp>
        <p:nvSpPr>
          <p:cNvPr id="41" name="TextBox 40">
            <a:extLst>
              <a:ext uri="{FF2B5EF4-FFF2-40B4-BE49-F238E27FC236}">
                <a16:creationId xmlns:a16="http://schemas.microsoft.com/office/drawing/2014/main" id="{F50E1651-E206-C44C-9D29-34782BB44EAD}"/>
              </a:ext>
            </a:extLst>
          </p:cNvPr>
          <p:cNvSpPr txBox="1"/>
          <p:nvPr/>
        </p:nvSpPr>
        <p:spPr>
          <a:xfrm>
            <a:off x="4699000" y="4953000"/>
            <a:ext cx="6731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a:solidFill>
                  <a:srgbClr val="070154"/>
                </a:solidFill>
                <a:latin typeface="Arial"/>
                <a:cs typeface="Arial"/>
              </a:rPr>
              <a:t>First-wave, cutover, measurement, and business-case outline</a:t>
            </a:r>
            <a:endParaRPr lang="en-US" sz="950" dirty="0">
              <a:solidFill>
                <a:srgbClr val="070154"/>
              </a:solidFill>
              <a:latin typeface="Arial"/>
              <a:cs typeface="Arial"/>
            </a:endParaRPr>
          </a:p>
        </p:txBody>
      </p:sp>
      <p:sp>
        <p:nvSpPr>
          <p:cNvPr id="42" name="Rectangle 41">
            <a:extLst>
              <a:ext uri="{FF2B5EF4-FFF2-40B4-BE49-F238E27FC236}">
                <a16:creationId xmlns:a16="http://schemas.microsoft.com/office/drawing/2014/main" id="{CD5F8D4E-EFEC-164F-B4E6-9E997162BF90}"/>
              </a:ext>
            </a:extLst>
          </p:cNvPr>
          <p:cNvSpPr/>
          <p:nvPr/>
        </p:nvSpPr>
        <p:spPr bwMode="auto">
          <a:xfrm>
            <a:off x="457200" y="5562600"/>
            <a:ext cx="11277600" cy="5969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3" name="TextBox 42">
            <a:extLst>
              <a:ext uri="{FF2B5EF4-FFF2-40B4-BE49-F238E27FC236}">
                <a16:creationId xmlns:a16="http://schemas.microsoft.com/office/drawing/2014/main" id="{FE28CDA7-A86D-7C42-ABE0-2E5CDC930BE9}"/>
              </a:ext>
            </a:extLst>
          </p:cNvPr>
          <p:cNvSpPr txBox="1"/>
          <p:nvPr/>
        </p:nvSpPr>
        <p:spPr>
          <a:xfrm>
            <a:off x="685800" y="5715000"/>
            <a:ext cx="10820400" cy="304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50" b="1">
                <a:solidFill>
                  <a:srgbClr val="FFFFFF"/>
                </a:solidFill>
                <a:latin typeface="Arial"/>
                <a:cs typeface="Arial"/>
              </a:rPr>
              <a:t>Bring one account, one application, and one business process to the modernization and Evolve team for qualification.</a:t>
            </a:r>
            <a:endParaRPr lang="en-US" sz="1050" b="1" dirty="0">
              <a:solidFill>
                <a:srgbClr val="FFFFFF"/>
              </a:solidFill>
              <a:latin typeface="Arial"/>
              <a:cs typeface="Arial"/>
            </a:endParaRPr>
          </a:p>
        </p:txBody>
      </p:sp>
      <p:sp>
        <p:nvSpPr>
          <p:cNvPr id="2" name="TextBox 1">
            <a:extLst>
              <a:ext uri="{FF2B5EF4-FFF2-40B4-BE49-F238E27FC236}">
                <a16:creationId xmlns:a16="http://schemas.microsoft.com/office/drawing/2014/main" id="{A6DF4669-6769-824B-9CF3-7D7CE82602C2}"/>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3" name="TextBox 2">
            <a:extLst>
              <a:ext uri="{FF2B5EF4-FFF2-40B4-BE49-F238E27FC236}">
                <a16:creationId xmlns:a16="http://schemas.microsoft.com/office/drawing/2014/main" id="{E51843B7-1CB6-D849-9CB1-8DC00E829A8E}"/>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r>
              <a:rPr lang="en-US" sz="550">
                <a:solidFill>
                  <a:srgbClr val="070154"/>
                </a:solidFill>
                <a:latin typeface="Arial"/>
                <a:cs typeface="Arial"/>
              </a:rPr>
              <a:t>51</a:t>
            </a:r>
            <a:endParaRPr lang="en-US" sz="550" dirty="0">
              <a:solidFill>
                <a:srgbClr val="070154"/>
              </a:solidFill>
              <a:latin typeface="Arial"/>
              <a:cs typeface="Arial"/>
            </a:endParaRPr>
          </a:p>
        </p:txBody>
      </p:sp>
    </p:spTree>
    <p:extLst>
      <p:ext uri="{BB962C8B-B14F-4D97-AF65-F5344CB8AC3E}">
        <p14:creationId xmlns:p14="http://schemas.microsoft.com/office/powerpoint/2010/main" val="39569733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69B611-6356-837A-3DA4-1197D2985461}"/>
              </a:ext>
            </a:extLst>
          </p:cNvPr>
          <p:cNvSpPr>
            <a:spLocks noGrp="1"/>
          </p:cNvSpPr>
          <p:nvPr>
            <p:ph idx="1"/>
          </p:nvPr>
        </p:nvSpPr>
        <p:spPr/>
        <p:txBody>
          <a:bodyPr/>
          <a:lstStyle/>
          <a:p>
            <a:endParaRPr lang="en-US"/>
          </a:p>
        </p:txBody>
      </p:sp>
      <p:sp>
        <p:nvSpPr>
          <p:cNvPr id="3" name="Footer Placeholder 2">
            <a:extLst>
              <a:ext uri="{FF2B5EF4-FFF2-40B4-BE49-F238E27FC236}">
                <a16:creationId xmlns:a16="http://schemas.microsoft.com/office/drawing/2014/main" id="{A9E6A30D-CA11-8450-D619-DC3DC54FED01}"/>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8128A661-4534-8A30-C640-B80E30656324}"/>
              </a:ext>
            </a:extLst>
          </p:cNvPr>
          <p:cNvSpPr>
            <a:spLocks noGrp="1"/>
          </p:cNvSpPr>
          <p:nvPr>
            <p:ph type="sldNum" sz="quarter" idx="11"/>
          </p:nvPr>
        </p:nvSpPr>
        <p:spPr/>
        <p:txBody>
          <a:bodyPr/>
          <a:lstStyle/>
          <a:p>
            <a:fld id="{63DCA5C9-2E11-4C67-86EB-AE1DE127DC64}" type="slidenum">
              <a:rPr lang="en-US" smtClean="0"/>
              <a:pPr/>
              <a:t>75</a:t>
            </a:fld>
            <a:endParaRPr lang="en-US"/>
          </a:p>
        </p:txBody>
      </p:sp>
      <p:sp>
        <p:nvSpPr>
          <p:cNvPr id="5" name="Title 4">
            <a:extLst>
              <a:ext uri="{FF2B5EF4-FFF2-40B4-BE49-F238E27FC236}">
                <a16:creationId xmlns:a16="http://schemas.microsoft.com/office/drawing/2014/main" id="{788F33CD-3C9D-47CF-50A1-90E48D33400D}"/>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4FBBEE0E-B601-DBF1-A6CC-DFABDDD515B3}"/>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65785262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8C-63DB-6EC0-54B3-BAD510DB5D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2D4D6B-E702-B14F-8CBF-3DB9404EA064}"/>
              </a:ext>
            </a:extLst>
          </p:cNvPr>
          <p:cNvSpPr/>
          <p:nvPr/>
        </p:nvSpPr>
        <p:spPr bwMode="auto">
          <a:xfrm>
            <a:off x="0" y="0"/>
            <a:ext cx="121920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3D957A41-9389-9041-99A2-9153DA0C87B2}"/>
              </a:ext>
            </a:extLst>
          </p:cNvPr>
          <p:cNvSpPr/>
          <p:nvPr/>
        </p:nvSpPr>
        <p:spPr bwMode="auto">
          <a:xfrm>
            <a:off x="0" y="0"/>
            <a:ext cx="2286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0716BB7-CA60-524A-8CA8-6B88AD30659B}"/>
              </a:ext>
            </a:extLst>
          </p:cNvPr>
          <p:cNvSpPr/>
          <p:nvPr/>
        </p:nvSpPr>
        <p:spPr bwMode="auto">
          <a:xfrm>
            <a:off x="457200" y="609600"/>
            <a:ext cx="15240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3C91333C-DD3E-9B4D-89FD-5B2ACB074E63}"/>
              </a:ext>
            </a:extLst>
          </p:cNvPr>
          <p:cNvSpPr txBox="1"/>
          <p:nvPr/>
        </p:nvSpPr>
        <p:spPr>
          <a:xfrm>
            <a:off x="609600" y="990600"/>
            <a:ext cx="228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INTERNAL PICK-DECK GUIDE</a:t>
            </a:r>
            <a:endParaRPr lang="en-US" sz="1000" b="1" dirty="0">
              <a:solidFill>
                <a:srgbClr val="0047FF"/>
              </a:solidFill>
              <a:latin typeface="Arial"/>
              <a:cs typeface="Arial"/>
            </a:endParaRPr>
          </a:p>
        </p:txBody>
      </p:sp>
      <p:sp>
        <p:nvSpPr>
          <p:cNvPr id="12" name="TextBox 11">
            <a:extLst>
              <a:ext uri="{FF2B5EF4-FFF2-40B4-BE49-F238E27FC236}">
                <a16:creationId xmlns:a16="http://schemas.microsoft.com/office/drawing/2014/main" id="{F8E1B792-659A-D74D-9D48-33D822D70F96}"/>
              </a:ext>
            </a:extLst>
          </p:cNvPr>
          <p:cNvSpPr txBox="1"/>
          <p:nvPr/>
        </p:nvSpPr>
        <p:spPr>
          <a:xfrm>
            <a:off x="609600" y="1473200"/>
            <a:ext cx="8001000" cy="149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900" b="1">
                <a:solidFill>
                  <a:srgbClr val="FFFFFF"/>
                </a:solidFill>
                <a:latin typeface="Arial"/>
                <a:cs typeface="Arial"/>
              </a:rPr>
              <a:t>Off-the-Shelf Modernization Offerings</a:t>
            </a:r>
            <a:endParaRPr lang="en-US" sz="2900" b="1" dirty="0">
              <a:solidFill>
                <a:srgbClr val="FFFFFF"/>
              </a:solidFill>
              <a:latin typeface="Arial"/>
              <a:cs typeface="Arial"/>
            </a:endParaRPr>
          </a:p>
        </p:txBody>
      </p:sp>
      <p:sp>
        <p:nvSpPr>
          <p:cNvPr id="14" name="TextBox 13">
            <a:extLst>
              <a:ext uri="{FF2B5EF4-FFF2-40B4-BE49-F238E27FC236}">
                <a16:creationId xmlns:a16="http://schemas.microsoft.com/office/drawing/2014/main" id="{F12B1E13-E8CD-BD43-96AA-519B3925EF9F}"/>
              </a:ext>
            </a:extLst>
          </p:cNvPr>
          <p:cNvSpPr txBox="1"/>
          <p:nvPr/>
        </p:nvSpPr>
        <p:spPr>
          <a:xfrm>
            <a:off x="609600" y="3149600"/>
            <a:ext cx="7874000" cy="685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a:solidFill>
                  <a:srgbClr val="FFFFFF"/>
                </a:solidFill>
                <a:latin typeface="Arial"/>
                <a:cs typeface="Arial"/>
              </a:rPr>
              <a:t>Placeholder for a modular offer catalog that makes it easier to match common buyer needs to a defined scope, timeline, and outcome.</a:t>
            </a:r>
            <a:endParaRPr lang="en-US" sz="1300" dirty="0">
              <a:solidFill>
                <a:srgbClr val="FFFFFF"/>
              </a:solidFill>
              <a:latin typeface="Arial"/>
              <a:cs typeface="Arial"/>
            </a:endParaRPr>
          </a:p>
        </p:txBody>
      </p:sp>
      <p:sp>
        <p:nvSpPr>
          <p:cNvPr id="15" name="TextBox 14">
            <a:extLst>
              <a:ext uri="{FF2B5EF4-FFF2-40B4-BE49-F238E27FC236}">
                <a16:creationId xmlns:a16="http://schemas.microsoft.com/office/drawing/2014/main" id="{73F430C6-7897-2E44-A356-F000D6B34EA5}"/>
              </a:ext>
            </a:extLst>
          </p:cNvPr>
          <p:cNvSpPr txBox="1"/>
          <p:nvPr/>
        </p:nvSpPr>
        <p:spPr>
          <a:xfrm>
            <a:off x="9118600" y="11557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SECTION PLACEHOLDERS</a:t>
            </a:r>
            <a:endParaRPr lang="en-US" sz="950" b="1" dirty="0">
              <a:solidFill>
                <a:srgbClr val="0047FF"/>
              </a:solidFill>
              <a:latin typeface="Arial"/>
              <a:cs typeface="Arial"/>
            </a:endParaRPr>
          </a:p>
        </p:txBody>
      </p:sp>
      <p:sp>
        <p:nvSpPr>
          <p:cNvPr id="16" name="Rectangle 15">
            <a:extLst>
              <a:ext uri="{FF2B5EF4-FFF2-40B4-BE49-F238E27FC236}">
                <a16:creationId xmlns:a16="http://schemas.microsoft.com/office/drawing/2014/main" id="{261D85DC-F9D6-6945-B534-E7FA1D31F122}"/>
              </a:ext>
            </a:extLst>
          </p:cNvPr>
          <p:cNvSpPr/>
          <p:nvPr/>
        </p:nvSpPr>
        <p:spPr bwMode="auto">
          <a:xfrm>
            <a:off x="9118600" y="15875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D01BF5B1-B24E-284C-9FC7-E80462316182}"/>
              </a:ext>
            </a:extLst>
          </p:cNvPr>
          <p:cNvSpPr txBox="1"/>
          <p:nvPr/>
        </p:nvSpPr>
        <p:spPr>
          <a:xfrm>
            <a:off x="9271000" y="17399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01</a:t>
            </a:r>
            <a:endParaRPr lang="en-US" sz="900" b="1" dirty="0">
              <a:solidFill>
                <a:srgbClr val="F900D3"/>
              </a:solidFill>
              <a:latin typeface="Arial"/>
              <a:cs typeface="Arial"/>
            </a:endParaRPr>
          </a:p>
        </p:txBody>
      </p:sp>
      <p:sp>
        <p:nvSpPr>
          <p:cNvPr id="21" name="TextBox 20">
            <a:extLst>
              <a:ext uri="{FF2B5EF4-FFF2-40B4-BE49-F238E27FC236}">
                <a16:creationId xmlns:a16="http://schemas.microsoft.com/office/drawing/2014/main" id="{F685F9EA-221F-3347-8288-97BD26237162}"/>
              </a:ext>
            </a:extLst>
          </p:cNvPr>
          <p:cNvSpPr txBox="1"/>
          <p:nvPr/>
        </p:nvSpPr>
        <p:spPr>
          <a:xfrm>
            <a:off x="9677400" y="16764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Offer catalog (TBD)</a:t>
            </a:r>
            <a:endParaRPr lang="en-US" sz="1000" b="1" dirty="0">
              <a:solidFill>
                <a:srgbClr val="070154"/>
              </a:solidFill>
              <a:latin typeface="Arial"/>
              <a:cs typeface="Arial"/>
            </a:endParaRPr>
          </a:p>
        </p:txBody>
      </p:sp>
      <p:sp>
        <p:nvSpPr>
          <p:cNvPr id="22" name="Rectangle 21">
            <a:extLst>
              <a:ext uri="{FF2B5EF4-FFF2-40B4-BE49-F238E27FC236}">
                <a16:creationId xmlns:a16="http://schemas.microsoft.com/office/drawing/2014/main" id="{07DBAAEE-5275-0B4F-8234-10AE0BF7AC50}"/>
              </a:ext>
            </a:extLst>
          </p:cNvPr>
          <p:cNvSpPr/>
          <p:nvPr/>
        </p:nvSpPr>
        <p:spPr bwMode="auto">
          <a:xfrm>
            <a:off x="9118600" y="23114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C1D6F0A2-F72D-C640-9D54-A4D4C9BE9626}"/>
              </a:ext>
            </a:extLst>
          </p:cNvPr>
          <p:cNvSpPr txBox="1"/>
          <p:nvPr/>
        </p:nvSpPr>
        <p:spPr>
          <a:xfrm>
            <a:off x="9271000" y="2463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02</a:t>
            </a:r>
            <a:endParaRPr lang="en-US" sz="900" b="1" dirty="0">
              <a:solidFill>
                <a:srgbClr val="F900D3"/>
              </a:solidFill>
              <a:latin typeface="Arial"/>
              <a:cs typeface="Arial"/>
            </a:endParaRPr>
          </a:p>
        </p:txBody>
      </p:sp>
      <p:sp>
        <p:nvSpPr>
          <p:cNvPr id="24" name="TextBox 23">
            <a:extLst>
              <a:ext uri="{FF2B5EF4-FFF2-40B4-BE49-F238E27FC236}">
                <a16:creationId xmlns:a16="http://schemas.microsoft.com/office/drawing/2014/main" id="{080B83FA-47AE-5546-B78A-3741943FCCAA}"/>
              </a:ext>
            </a:extLst>
          </p:cNvPr>
          <p:cNvSpPr txBox="1"/>
          <p:nvPr/>
        </p:nvSpPr>
        <p:spPr>
          <a:xfrm>
            <a:off x="9677400" y="24003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Buyer + catalyst fit</a:t>
            </a:r>
            <a:endParaRPr lang="en-US" sz="1000" b="1" dirty="0">
              <a:solidFill>
                <a:srgbClr val="070154"/>
              </a:solidFill>
              <a:latin typeface="Arial"/>
              <a:cs typeface="Arial"/>
            </a:endParaRPr>
          </a:p>
        </p:txBody>
      </p:sp>
      <p:sp>
        <p:nvSpPr>
          <p:cNvPr id="25" name="Rectangle 24">
            <a:extLst>
              <a:ext uri="{FF2B5EF4-FFF2-40B4-BE49-F238E27FC236}">
                <a16:creationId xmlns:a16="http://schemas.microsoft.com/office/drawing/2014/main" id="{5B5F2BF9-FA2F-E54E-9A25-DB5AD24F1FD1}"/>
              </a:ext>
            </a:extLst>
          </p:cNvPr>
          <p:cNvSpPr/>
          <p:nvPr/>
        </p:nvSpPr>
        <p:spPr bwMode="auto">
          <a:xfrm>
            <a:off x="9118600" y="30353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29292B1C-4A91-1946-99C8-A22EB49E9166}"/>
              </a:ext>
            </a:extLst>
          </p:cNvPr>
          <p:cNvSpPr txBox="1"/>
          <p:nvPr/>
        </p:nvSpPr>
        <p:spPr>
          <a:xfrm>
            <a:off x="92710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03</a:t>
            </a:r>
            <a:endParaRPr lang="en-US" sz="900" b="1" dirty="0">
              <a:solidFill>
                <a:srgbClr val="F900D3"/>
              </a:solidFill>
              <a:latin typeface="Arial"/>
              <a:cs typeface="Arial"/>
            </a:endParaRPr>
          </a:p>
        </p:txBody>
      </p:sp>
      <p:sp>
        <p:nvSpPr>
          <p:cNvPr id="27" name="TextBox 26">
            <a:extLst>
              <a:ext uri="{FF2B5EF4-FFF2-40B4-BE49-F238E27FC236}">
                <a16:creationId xmlns:a16="http://schemas.microsoft.com/office/drawing/2014/main" id="{6D3A6AC7-EA6A-544F-B9CC-F86023D2FAF4}"/>
              </a:ext>
            </a:extLst>
          </p:cNvPr>
          <p:cNvSpPr txBox="1"/>
          <p:nvPr/>
        </p:nvSpPr>
        <p:spPr>
          <a:xfrm>
            <a:off x="9677400" y="31242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Scope + deliverables</a:t>
            </a:r>
            <a:endParaRPr lang="en-US" sz="1000" b="1" dirty="0">
              <a:solidFill>
                <a:srgbClr val="070154"/>
              </a:solidFill>
              <a:latin typeface="Arial"/>
              <a:cs typeface="Arial"/>
            </a:endParaRPr>
          </a:p>
        </p:txBody>
      </p:sp>
      <p:sp>
        <p:nvSpPr>
          <p:cNvPr id="28" name="Rectangle 27">
            <a:extLst>
              <a:ext uri="{FF2B5EF4-FFF2-40B4-BE49-F238E27FC236}">
                <a16:creationId xmlns:a16="http://schemas.microsoft.com/office/drawing/2014/main" id="{7D2CEE49-87AD-B74B-BCBB-6545318FEAE4}"/>
              </a:ext>
            </a:extLst>
          </p:cNvPr>
          <p:cNvSpPr/>
          <p:nvPr/>
        </p:nvSpPr>
        <p:spPr bwMode="auto">
          <a:xfrm>
            <a:off x="9118600" y="37592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A7BB059-7F53-E749-AC13-3FF96661BA83}"/>
              </a:ext>
            </a:extLst>
          </p:cNvPr>
          <p:cNvSpPr txBox="1"/>
          <p:nvPr/>
        </p:nvSpPr>
        <p:spPr>
          <a:xfrm>
            <a:off x="9271000" y="39116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04</a:t>
            </a:r>
            <a:endParaRPr lang="en-US" sz="900" b="1" dirty="0">
              <a:solidFill>
                <a:srgbClr val="F900D3"/>
              </a:solidFill>
              <a:latin typeface="Arial"/>
              <a:cs typeface="Arial"/>
            </a:endParaRPr>
          </a:p>
        </p:txBody>
      </p:sp>
      <p:sp>
        <p:nvSpPr>
          <p:cNvPr id="30" name="TextBox 29">
            <a:extLst>
              <a:ext uri="{FF2B5EF4-FFF2-40B4-BE49-F238E27FC236}">
                <a16:creationId xmlns:a16="http://schemas.microsoft.com/office/drawing/2014/main" id="{E81A1754-C62A-9340-828F-1507EB0BF98D}"/>
              </a:ext>
            </a:extLst>
          </p:cNvPr>
          <p:cNvSpPr txBox="1"/>
          <p:nvPr/>
        </p:nvSpPr>
        <p:spPr>
          <a:xfrm>
            <a:off x="9677400" y="38481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Path to next phase</a:t>
            </a:r>
            <a:endParaRPr lang="en-US" sz="1000" b="1" dirty="0">
              <a:solidFill>
                <a:srgbClr val="070154"/>
              </a:solidFill>
              <a:latin typeface="Arial"/>
              <a:cs typeface="Arial"/>
            </a:endParaRPr>
          </a:p>
        </p:txBody>
      </p:sp>
      <p:sp>
        <p:nvSpPr>
          <p:cNvPr id="31" name="Rectangle 30">
            <a:extLst>
              <a:ext uri="{FF2B5EF4-FFF2-40B4-BE49-F238E27FC236}">
                <a16:creationId xmlns:a16="http://schemas.microsoft.com/office/drawing/2014/main" id="{3375BC94-8D43-EF4D-96D9-538EF700EFE6}"/>
              </a:ext>
            </a:extLst>
          </p:cNvPr>
          <p:cNvSpPr/>
          <p:nvPr/>
        </p:nvSpPr>
        <p:spPr bwMode="auto">
          <a:xfrm>
            <a:off x="609600" y="5270500"/>
            <a:ext cx="8255000" cy="571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A26CFF14-2BDE-1848-A022-DAC182E8D21B}"/>
              </a:ext>
            </a:extLst>
          </p:cNvPr>
          <p:cNvSpPr txBox="1"/>
          <p:nvPr/>
        </p:nvSpPr>
        <p:spPr>
          <a:xfrm>
            <a:off x="863600" y="5435600"/>
            <a:ext cx="7747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PLACEHOLDER SECTION — Add approved offer names, owners, timing, commercial model, entry criteria, and proof.</a:t>
            </a:r>
            <a:endParaRPr lang="en-US" sz="1000" b="1" dirty="0">
              <a:solidFill>
                <a:srgbClr val="070154"/>
              </a:solidFill>
              <a:latin typeface="Arial"/>
              <a:cs typeface="Arial"/>
            </a:endParaRPr>
          </a:p>
        </p:txBody>
      </p:sp>
      <p:sp>
        <p:nvSpPr>
          <p:cNvPr id="3" name="TextBox 2">
            <a:extLst>
              <a:ext uri="{FF2B5EF4-FFF2-40B4-BE49-F238E27FC236}">
                <a16:creationId xmlns:a16="http://schemas.microsoft.com/office/drawing/2014/main" id="{D9C2D31F-41C9-834B-806E-5C698A45F50E}"/>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D0847E0D-C3A0-6C47-8917-F1C8F445903B}"/>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endParaRPr lang="en-US" sz="550" dirty="0">
              <a:solidFill>
                <a:srgbClr val="070154"/>
              </a:solidFill>
              <a:latin typeface="Arial"/>
              <a:cs typeface="Arial"/>
            </a:endParaRPr>
          </a:p>
        </p:txBody>
      </p:sp>
    </p:spTree>
    <p:extLst>
      <p:ext uri="{BB962C8B-B14F-4D97-AF65-F5344CB8AC3E}">
        <p14:creationId xmlns:p14="http://schemas.microsoft.com/office/powerpoint/2010/main" val="7261448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F7807-3A38-E08A-DF91-214C1FDD26A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185BAEA-718A-8EED-62EF-769A79CED95F}"/>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endParaRPr lang="en-US" dirty="0"/>
          </a:p>
        </p:txBody>
      </p:sp>
      <p:sp>
        <p:nvSpPr>
          <p:cNvPr id="3" name="Slide Number Placeholder 2">
            <a:extLst>
              <a:ext uri="{FF2B5EF4-FFF2-40B4-BE49-F238E27FC236}">
                <a16:creationId xmlns:a16="http://schemas.microsoft.com/office/drawing/2014/main" id="{F42FD732-1BAD-CEA8-DDE7-DA9BB2F7D11D}"/>
              </a:ext>
            </a:extLst>
          </p:cNvPr>
          <p:cNvSpPr>
            <a:spLocks noGrp="1"/>
          </p:cNvSpPr>
          <p:nvPr>
            <p:ph type="sldNum" sz="quarter" idx="11"/>
          </p:nvPr>
        </p:nvSpPr>
        <p:spPr/>
        <p:txBody>
          <a:bodyPr/>
          <a:lstStyle/>
          <a:p>
            <a:fld id="{63DCA5C9-2E11-4C67-86EB-AE1DE127DC64}" type="slidenum">
              <a:rPr lang="en-US" smtClean="0"/>
              <a:pPr/>
              <a:t>77</a:t>
            </a:fld>
            <a:endParaRPr lang="en-US"/>
          </a:p>
        </p:txBody>
      </p:sp>
      <p:sp>
        <p:nvSpPr>
          <p:cNvPr id="4" name="Title 3">
            <a:extLst>
              <a:ext uri="{FF2B5EF4-FFF2-40B4-BE49-F238E27FC236}">
                <a16:creationId xmlns:a16="http://schemas.microsoft.com/office/drawing/2014/main" id="{C8B61855-4715-52D8-994D-C6FDDD952120}"/>
              </a:ext>
            </a:extLst>
          </p:cNvPr>
          <p:cNvSpPr>
            <a:spLocks noGrp="1"/>
          </p:cNvSpPr>
          <p:nvPr>
            <p:ph type="title"/>
          </p:nvPr>
        </p:nvSpPr>
        <p:spPr/>
        <p:txBody>
          <a:bodyPr/>
          <a:lstStyle/>
          <a:p>
            <a:r>
              <a:rPr lang="en-US" dirty="0" err="1"/>
              <a:t>Intellio</a:t>
            </a:r>
            <a:r>
              <a:rPr lang="en-US" dirty="0"/>
              <a:t> Evolve capability development and 9 month access/support</a:t>
            </a:r>
          </a:p>
        </p:txBody>
      </p:sp>
      <p:sp>
        <p:nvSpPr>
          <p:cNvPr id="5" name="Text Placeholder 4">
            <a:extLst>
              <a:ext uri="{FF2B5EF4-FFF2-40B4-BE49-F238E27FC236}">
                <a16:creationId xmlns:a16="http://schemas.microsoft.com/office/drawing/2014/main" id="{FDBB1862-A900-DC6E-7220-E31B1390E4DA}"/>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28287775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49A1C3-1DA6-4E4D-BADE-14A4F790EC82}"/>
              </a:ext>
            </a:extLst>
          </p:cNvPr>
          <p:cNvSpPr>
            <a:spLocks noGrp="1"/>
          </p:cNvSpPr>
          <p:nvPr>
            <p:ph type="sldNum" idx="11"/>
          </p:nvPr>
        </p:nvSpPr>
        <p:spPr>
          <a:xfrm>
            <a:off x="11509577" y="6400798"/>
            <a:ext cx="218870" cy="167948"/>
          </a:xfrm>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78</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6" name="Footer Placeholder 1">
            <a:extLst>
              <a:ext uri="{FF2B5EF4-FFF2-40B4-BE49-F238E27FC236}">
                <a16:creationId xmlns:a16="http://schemas.microsoft.com/office/drawing/2014/main" id="{EBCC07D0-4EB5-5D58-C574-16C7F0408C08}"/>
              </a:ext>
            </a:extLst>
          </p:cNvPr>
          <p:cNvSpPr>
            <a:spLocks noGrp="1"/>
          </p:cNvSpPr>
          <p:nvPr>
            <p:ph type="ftr" idx="10"/>
          </p:nvPr>
        </p:nvSpPr>
        <p:spPr>
          <a:xfrm>
            <a:off x="4305300" y="6454937"/>
            <a:ext cx="7102834" cy="167949"/>
          </a:xfrm>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8" name="section-label">
            <a:extLst>
              <a:ext uri="{FF2B5EF4-FFF2-40B4-BE49-F238E27FC236}">
                <a16:creationId xmlns:a16="http://schemas.microsoft.com/office/drawing/2014/main" id="{F0DC4186-D455-4EDA-99E7-1B8C3A0D1B6C}"/>
              </a:ext>
            </a:extLst>
          </p:cNvPr>
          <p:cNvSpPr>
            <a:spLocks noGrp="1"/>
          </p:cNvSpPr>
          <p:nvPr/>
        </p:nvSpPr>
        <p:spPr>
          <a:xfrm>
            <a:off x="685800" y="171450"/>
            <a:ext cx="6858000" cy="190500"/>
          </a:xfrm>
          <a:prstGeom prst="rect">
            <a:avLst/>
          </a:prstGeom>
          <a:noFill/>
          <a:ln w="0">
            <a:noFill/>
            <a:prstDash val="solid"/>
          </a:ln>
        </p:spPr>
        <p:txBody>
          <a:bodyPr wrap="square" lIns="0" tIns="0" rIns="0" bIns="0" anchor="t">
            <a:noAutofit/>
          </a:bodyPr>
          <a:lstStyle/>
          <a:p>
            <a:pPr algn="l">
              <a:defRPr sz="825" b="1" i="0">
                <a:solidFill>
                  <a:srgbClr val="0047FF"/>
                </a:solidFill>
                <a:latin typeface="Arial"/>
                <a:ea typeface="Arial"/>
                <a:cs typeface="Arial"/>
              </a:defRPr>
            </a:pPr>
            <a:r>
              <a:rPr sz="825" b="1" i="0">
                <a:solidFill>
                  <a:srgbClr val="0047FF"/>
                </a:solidFill>
                <a:latin typeface="Arial"/>
                <a:ea typeface="Arial"/>
                <a:cs typeface="Arial"/>
              </a:rPr>
              <a:t>ASSOCIATED MATERIALS | ENGAGEMENT MODEL</a:t>
            </a:r>
          </a:p>
        </p:txBody>
      </p:sp>
      <p:sp>
        <p:nvSpPr>
          <p:cNvPr id="9" name="action-title">
            <a:extLst>
              <a:ext uri="{FF2B5EF4-FFF2-40B4-BE49-F238E27FC236}">
                <a16:creationId xmlns:a16="http://schemas.microsoft.com/office/drawing/2014/main" id="{8D199F13-9D6A-408A-AE34-30CC4433D62D}"/>
              </a:ext>
            </a:extLst>
          </p:cNvPr>
          <p:cNvSpPr>
            <a:spLocks noGrp="1"/>
          </p:cNvSpPr>
          <p:nvPr/>
        </p:nvSpPr>
        <p:spPr>
          <a:xfrm>
            <a:off x="685800" y="400050"/>
            <a:ext cx="10820400" cy="704850"/>
          </a:xfrm>
          <a:prstGeom prst="rect">
            <a:avLst/>
          </a:prstGeom>
          <a:noFill/>
          <a:ln w="0">
            <a:noFill/>
            <a:prstDash val="solid"/>
          </a:ln>
        </p:spPr>
        <p:txBody>
          <a:bodyPr wrap="square" lIns="0" tIns="0" rIns="0" bIns="0" anchor="ctr" anchorCtr="0">
            <a:normAutofit/>
          </a:bodyPr>
          <a:lstStyle/>
          <a:p>
            <a:pPr algn="l">
              <a:defRPr sz="2250" b="1" i="0">
                <a:solidFill>
                  <a:srgbClr val="070154"/>
                </a:solidFill>
                <a:latin typeface="Arial"/>
                <a:ea typeface="Arial"/>
                <a:cs typeface="Arial"/>
              </a:defRPr>
            </a:pPr>
            <a:r>
              <a:rPr lang="en-US" sz="2250" b="1" i="0" dirty="0">
                <a:solidFill>
                  <a:srgbClr val="070154"/>
                </a:solidFill>
                <a:latin typeface="Arial"/>
                <a:ea typeface="Arial"/>
                <a:cs typeface="Arial"/>
              </a:rPr>
              <a:t>A three-month </a:t>
            </a:r>
            <a:r>
              <a:rPr lang="en-US" sz="2250" b="1" i="0" dirty="0" err="1">
                <a:solidFill>
                  <a:srgbClr val="070154"/>
                </a:solidFill>
                <a:latin typeface="Arial"/>
                <a:ea typeface="Arial"/>
                <a:cs typeface="Arial"/>
              </a:rPr>
              <a:t>Intellio</a:t>
            </a:r>
            <a:r>
              <a:rPr lang="en-US" sz="2250" b="1" i="0" dirty="0">
                <a:solidFill>
                  <a:srgbClr val="070154"/>
                </a:solidFill>
                <a:latin typeface="Arial"/>
                <a:ea typeface="Arial"/>
                <a:cs typeface="Arial"/>
              </a:rPr>
              <a:t> Evolve Code Insights &amp; Enablement Pod builds the knowledge capture capability, followed by sustainment and transition</a:t>
            </a:r>
            <a:endParaRPr sz="2250" b="1" i="0" dirty="0">
              <a:solidFill>
                <a:srgbClr val="070154"/>
              </a:solidFill>
              <a:latin typeface="Arial"/>
              <a:ea typeface="Arial"/>
              <a:cs typeface="Arial"/>
            </a:endParaRPr>
          </a:p>
        </p:txBody>
      </p:sp>
      <p:sp>
        <p:nvSpPr>
          <p:cNvPr id="10" name="Rectangle 9">
            <a:extLst>
              <a:ext uri="{FF2B5EF4-FFF2-40B4-BE49-F238E27FC236}">
                <a16:creationId xmlns:a16="http://schemas.microsoft.com/office/drawing/2014/main" id="{C30CBCDD-0791-491F-9496-72E06B1E31E1}"/>
              </a:ext>
            </a:extLst>
          </p:cNvPr>
          <p:cNvSpPr>
            <a:spLocks noGrp="1"/>
          </p:cNvSpPr>
          <p:nvPr/>
        </p:nvSpPr>
        <p:spPr>
          <a:xfrm>
            <a:off x="8858250" y="171450"/>
            <a:ext cx="2647950" cy="209550"/>
          </a:xfrm>
          <a:prstGeom prst="rect">
            <a:avLst/>
          </a:prstGeom>
          <a:noFill/>
          <a:ln w="0">
            <a:noFill/>
            <a:prstDash val="solid"/>
          </a:ln>
        </p:spPr>
        <p:txBody>
          <a:bodyPr wrap="square" lIns="0" tIns="0" rIns="0" bIns="0" anchor="ctr">
            <a:noAutofit/>
          </a:bodyPr>
          <a:lstStyle/>
          <a:p>
            <a:pPr algn="r">
              <a:defRPr sz="788" b="1" i="0">
                <a:solidFill>
                  <a:srgbClr val="F900D3"/>
                </a:solidFill>
                <a:latin typeface="Arial"/>
                <a:ea typeface="Arial"/>
                <a:cs typeface="Arial"/>
              </a:defRPr>
            </a:pPr>
            <a:r>
              <a:rPr sz="788" b="1" i="0">
                <a:solidFill>
                  <a:srgbClr val="F900D3"/>
                </a:solidFill>
                <a:latin typeface="Arial"/>
                <a:ea typeface="Arial"/>
                <a:cs typeface="Arial"/>
              </a:rPr>
              <a:t>RESTRICTED CLIENT WORKING DRAFT</a:t>
            </a:r>
          </a:p>
        </p:txBody>
      </p:sp>
      <p:sp>
        <p:nvSpPr>
          <p:cNvPr id="11" name="Rounded Rectangle 10">
            <a:extLst>
              <a:ext uri="{FF2B5EF4-FFF2-40B4-BE49-F238E27FC236}">
                <a16:creationId xmlns:a16="http://schemas.microsoft.com/office/drawing/2014/main" id="{7338C542-57DB-4C9E-B916-CC8D148A95AB}"/>
              </a:ext>
            </a:extLst>
          </p:cNvPr>
          <p:cNvSpPr>
            <a:spLocks noGrp="1"/>
          </p:cNvSpPr>
          <p:nvPr/>
        </p:nvSpPr>
        <p:spPr>
          <a:xfrm>
            <a:off x="685800" y="1200150"/>
            <a:ext cx="3810000" cy="266700"/>
          </a:xfrm>
          <a:prstGeom prst="roundRect">
            <a:avLst>
              <a:gd name="adj" fmla="val 14286"/>
            </a:avLst>
          </a:prstGeom>
          <a:solidFill>
            <a:srgbClr val="0047FF"/>
          </a:solidFill>
          <a:ln w="0">
            <a:noFill/>
            <a:prstDash val="solid"/>
          </a:ln>
        </p:spPr>
        <p:txBody>
          <a:bodyPr wrap="square" lIns="0" tIns="0" rIns="0" bIns="0" anchor="ctr" anchorCtr="0">
            <a:normAutofit/>
          </a:bodyPr>
          <a:lstStyle/>
          <a:p>
            <a:pPr algn="ctr">
              <a:defRPr sz="900" b="1" i="0">
                <a:solidFill>
                  <a:srgbClr val="FFFFFF"/>
                </a:solidFill>
                <a:latin typeface="Arial"/>
                <a:ea typeface="Arial"/>
                <a:cs typeface="Arial"/>
              </a:defRPr>
            </a:pPr>
            <a:r>
              <a:rPr lang="en-US" sz="900" b="1" i="0">
                <a:solidFill>
                  <a:srgbClr val="FFFFFF"/>
                </a:solidFill>
                <a:latin typeface="Arial"/>
                <a:ea typeface="Arial"/>
                <a:cs typeface="Arial"/>
              </a:rPr>
              <a:t>MONTHS 1–3</a:t>
            </a:r>
            <a:endParaRPr sz="900" b="1" i="0">
              <a:solidFill>
                <a:srgbClr val="FFFFFF"/>
              </a:solidFill>
              <a:latin typeface="Arial"/>
              <a:ea typeface="Arial"/>
              <a:cs typeface="Arial"/>
            </a:endParaRPr>
          </a:p>
        </p:txBody>
      </p:sp>
      <p:sp>
        <p:nvSpPr>
          <p:cNvPr id="12" name="Rounded Rectangle 11">
            <a:extLst>
              <a:ext uri="{FF2B5EF4-FFF2-40B4-BE49-F238E27FC236}">
                <a16:creationId xmlns:a16="http://schemas.microsoft.com/office/drawing/2014/main" id="{D356361A-9DEE-4E3B-AB85-88624CFBA8F5}"/>
              </a:ext>
            </a:extLst>
          </p:cNvPr>
          <p:cNvSpPr>
            <a:spLocks noGrp="1"/>
          </p:cNvSpPr>
          <p:nvPr/>
        </p:nvSpPr>
        <p:spPr>
          <a:xfrm>
            <a:off x="4667250" y="1200150"/>
            <a:ext cx="6838950" cy="266700"/>
          </a:xfrm>
          <a:prstGeom prst="roundRect">
            <a:avLst>
              <a:gd name="adj" fmla="val 14286"/>
            </a:avLst>
          </a:prstGeom>
          <a:solidFill>
            <a:srgbClr val="CED7E6"/>
          </a:solidFill>
          <a:ln w="0">
            <a:noFill/>
            <a:prstDash val="solid"/>
          </a:ln>
        </p:spPr>
        <p:txBody>
          <a:bodyPr wrap="square" lIns="0" tIns="0" rIns="0" bIns="0" anchor="ctr" anchorCtr="0">
            <a:normAutofit/>
          </a:bodyPr>
          <a:lstStyle/>
          <a:p>
            <a:pPr algn="ctr">
              <a:defRPr sz="900" b="1" i="0">
                <a:solidFill>
                  <a:srgbClr val="070154"/>
                </a:solidFill>
                <a:latin typeface="Arial"/>
                <a:ea typeface="Arial"/>
                <a:cs typeface="Arial"/>
              </a:defRPr>
            </a:pPr>
            <a:r>
              <a:rPr lang="en-US" sz="900" b="1" i="0">
                <a:solidFill>
                  <a:srgbClr val="070154"/>
                </a:solidFill>
                <a:latin typeface="Arial"/>
                <a:ea typeface="Arial"/>
                <a:cs typeface="Arial"/>
              </a:rPr>
              <a:t>MONTHS 4–12</a:t>
            </a:r>
            <a:endParaRPr sz="900" b="1" i="0">
              <a:solidFill>
                <a:srgbClr val="070154"/>
              </a:solidFill>
              <a:latin typeface="Arial"/>
              <a:ea typeface="Arial"/>
              <a:cs typeface="Arial"/>
            </a:endParaRPr>
          </a:p>
        </p:txBody>
      </p:sp>
      <p:sp>
        <p:nvSpPr>
          <p:cNvPr id="13" name="Rounded Rectangle 12">
            <a:extLst>
              <a:ext uri="{FF2B5EF4-FFF2-40B4-BE49-F238E27FC236}">
                <a16:creationId xmlns:a16="http://schemas.microsoft.com/office/drawing/2014/main" id="{2C9804D3-849B-46D3-966B-5CB2031BD299}"/>
              </a:ext>
            </a:extLst>
          </p:cNvPr>
          <p:cNvSpPr>
            <a:spLocks noGrp="1"/>
          </p:cNvSpPr>
          <p:nvPr/>
        </p:nvSpPr>
        <p:spPr>
          <a:xfrm>
            <a:off x="685800" y="1581150"/>
            <a:ext cx="3810000" cy="2181225"/>
          </a:xfrm>
          <a:prstGeom prst="roundRect">
            <a:avLst>
              <a:gd name="adj" fmla="val 3493"/>
            </a:avLst>
          </a:prstGeom>
          <a:solidFill>
            <a:srgbClr val="070154"/>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2866BB94-AB71-43F9-A232-CFD3F14E3C0A}"/>
              </a:ext>
            </a:extLst>
          </p:cNvPr>
          <p:cNvSpPr>
            <a:spLocks noGrp="1"/>
          </p:cNvSpPr>
          <p:nvPr/>
        </p:nvSpPr>
        <p:spPr>
          <a:xfrm>
            <a:off x="876300" y="1752600"/>
            <a:ext cx="3429000" cy="279400"/>
          </a:xfrm>
          <a:prstGeom prst="rect">
            <a:avLst/>
          </a:prstGeom>
          <a:noFill/>
          <a:ln w="0">
            <a:noFill/>
            <a:prstDash val="solid"/>
          </a:ln>
        </p:spPr>
        <p:txBody>
          <a:bodyPr wrap="square" lIns="0" tIns="0" rIns="0" bIns="0" anchor="ctr" anchorCtr="0">
            <a:normAutofit/>
          </a:bodyPr>
          <a:lstStyle/>
          <a:p>
            <a:pPr algn="l">
              <a:defRPr sz="938" b="0" i="0">
                <a:solidFill>
                  <a:srgbClr val="DCE4FF"/>
                </a:solidFill>
                <a:latin typeface="Arial"/>
                <a:ea typeface="Arial"/>
                <a:cs typeface="Arial"/>
              </a:defRPr>
            </a:pPr>
            <a:r>
              <a:rPr lang="en-US" sz="1100" b="1" i="0" err="1">
                <a:solidFill>
                  <a:srgbClr val="FFFFFF"/>
                </a:solidFill>
                <a:latin typeface="Arial"/>
                <a:ea typeface="Arial"/>
                <a:cs typeface="Arial"/>
              </a:rPr>
              <a:t>Intellio</a:t>
            </a:r>
            <a:r>
              <a:rPr lang="en-US" sz="1100" b="1" i="0">
                <a:solidFill>
                  <a:srgbClr val="FFFFFF"/>
                </a:solidFill>
                <a:latin typeface="Arial"/>
                <a:ea typeface="Arial"/>
                <a:cs typeface="Arial"/>
              </a:rPr>
              <a:t> Evolve Code Insights &amp; Enablement </a:t>
            </a:r>
          </a:p>
        </p:txBody>
      </p:sp>
      <p:sp>
        <p:nvSpPr>
          <p:cNvPr id="16" name="Rectangle 15">
            <a:extLst>
              <a:ext uri="{FF2B5EF4-FFF2-40B4-BE49-F238E27FC236}">
                <a16:creationId xmlns:a16="http://schemas.microsoft.com/office/drawing/2014/main" id="{76E8E7AF-EECC-4EE5-82A4-DE3B948308CE}"/>
              </a:ext>
            </a:extLst>
          </p:cNvPr>
          <p:cNvSpPr>
            <a:spLocks noGrp="1"/>
          </p:cNvSpPr>
          <p:nvPr/>
        </p:nvSpPr>
        <p:spPr>
          <a:xfrm>
            <a:off x="876300" y="2095500"/>
            <a:ext cx="3429000" cy="419100"/>
          </a:xfrm>
          <a:prstGeom prst="rect">
            <a:avLst/>
          </a:prstGeom>
          <a:noFill/>
          <a:ln w="0">
            <a:noFill/>
            <a:prstDash val="solid"/>
          </a:ln>
        </p:spPr>
        <p:txBody>
          <a:bodyPr wrap="square" lIns="0" tIns="0" rIns="0" bIns="0" anchor="t" anchorCtr="0">
            <a:noAutofit/>
          </a:bodyPr>
          <a:lstStyle/>
          <a:p>
            <a:pPr algn="l">
              <a:defRPr sz="788" b="1" i="0">
                <a:solidFill>
                  <a:srgbClr val="AFC0FF"/>
                </a:solidFill>
                <a:latin typeface="Arial"/>
                <a:ea typeface="Arial"/>
                <a:cs typeface="Arial"/>
              </a:defRPr>
            </a:pPr>
            <a:r>
              <a:rPr lang="en-US" sz="1000" i="0">
                <a:solidFill>
                  <a:srgbClr val="DCE4FF"/>
                </a:solidFill>
                <a:latin typeface="Arial"/>
                <a:ea typeface="Arial"/>
                <a:cs typeface="Arial"/>
              </a:rPr>
              <a:t>Build Associated Materials’ internal capacity to use </a:t>
            </a:r>
            <a:r>
              <a:rPr lang="en-US" sz="1000" i="0" err="1">
                <a:solidFill>
                  <a:srgbClr val="DCE4FF"/>
                </a:solidFill>
                <a:latin typeface="Arial"/>
                <a:ea typeface="Arial"/>
                <a:cs typeface="Arial"/>
              </a:rPr>
              <a:t>Intellio</a:t>
            </a:r>
            <a:r>
              <a:rPr lang="en-US" sz="1000" i="0">
                <a:solidFill>
                  <a:srgbClr val="DCE4FF"/>
                </a:solidFill>
                <a:latin typeface="Arial"/>
                <a:ea typeface="Arial"/>
                <a:cs typeface="Arial"/>
              </a:rPr>
              <a:t> Evolve and self-lead its knowledge capture of legacy portfolio apps</a:t>
            </a:r>
          </a:p>
        </p:txBody>
      </p:sp>
      <p:sp>
        <p:nvSpPr>
          <p:cNvPr id="25" name="Rounded Rectangle 24">
            <a:extLst>
              <a:ext uri="{FF2B5EF4-FFF2-40B4-BE49-F238E27FC236}">
                <a16:creationId xmlns:a16="http://schemas.microsoft.com/office/drawing/2014/main" id="{DBC52F82-B4EB-428D-8D92-DA127D2308E3}"/>
              </a:ext>
            </a:extLst>
          </p:cNvPr>
          <p:cNvSpPr>
            <a:spLocks noGrp="1"/>
          </p:cNvSpPr>
          <p:nvPr/>
        </p:nvSpPr>
        <p:spPr>
          <a:xfrm>
            <a:off x="4667250" y="1581150"/>
            <a:ext cx="6838950" cy="2181225"/>
          </a:xfrm>
          <a:prstGeom prst="roundRect">
            <a:avLst>
              <a:gd name="adj" fmla="val 3493"/>
            </a:avLst>
          </a:prstGeom>
          <a:solidFill>
            <a:srgbClr val="F5F7FB"/>
          </a:solidFill>
          <a:ln w="9525">
            <a:solidFill>
              <a:srgbClr val="CED7E6"/>
            </a:solidFill>
            <a:prstDash val="solid"/>
          </a:ln>
        </p:spPr>
        <p:txBody>
          <a:bodyPr/>
          <a:lstStyle/>
          <a:p>
            <a:endParaRPr lang="en-US"/>
          </a:p>
        </p:txBody>
      </p:sp>
      <p:sp>
        <p:nvSpPr>
          <p:cNvPr id="27" name="Rectangle 26">
            <a:extLst>
              <a:ext uri="{FF2B5EF4-FFF2-40B4-BE49-F238E27FC236}">
                <a16:creationId xmlns:a16="http://schemas.microsoft.com/office/drawing/2014/main" id="{87E357D5-CE5B-403D-8D87-2E03107EA7B4}"/>
              </a:ext>
            </a:extLst>
          </p:cNvPr>
          <p:cNvSpPr>
            <a:spLocks noGrp="1"/>
          </p:cNvSpPr>
          <p:nvPr/>
        </p:nvSpPr>
        <p:spPr>
          <a:xfrm>
            <a:off x="4876800" y="1752600"/>
            <a:ext cx="3810000" cy="279400"/>
          </a:xfrm>
          <a:prstGeom prst="rect">
            <a:avLst/>
          </a:prstGeom>
          <a:noFill/>
          <a:ln w="0">
            <a:noFill/>
            <a:prstDash val="solid"/>
          </a:ln>
        </p:spPr>
        <p:txBody>
          <a:bodyPr wrap="square" lIns="0" tIns="0" rIns="0" bIns="0" anchor="ctr" anchorCtr="0">
            <a:normAutofit/>
          </a:bodyPr>
          <a:lstStyle/>
          <a:p>
            <a:pPr algn="l">
              <a:defRPr sz="938" b="0" i="0">
                <a:solidFill>
                  <a:srgbClr val="50658E"/>
                </a:solidFill>
                <a:latin typeface="Arial"/>
                <a:ea typeface="Arial"/>
                <a:cs typeface="Arial"/>
              </a:defRPr>
            </a:pPr>
            <a:r>
              <a:rPr lang="en-US" sz="1100" b="1" i="0" err="1">
                <a:solidFill>
                  <a:srgbClr val="070154"/>
                </a:solidFill>
                <a:latin typeface="Arial"/>
                <a:ea typeface="Arial"/>
                <a:cs typeface="Arial"/>
              </a:rPr>
              <a:t>Intellio</a:t>
            </a:r>
            <a:r>
              <a:rPr lang="en-US" sz="1100" b="1" i="0">
                <a:solidFill>
                  <a:srgbClr val="070154"/>
                </a:solidFill>
                <a:latin typeface="Arial"/>
                <a:ea typeface="Arial"/>
                <a:cs typeface="Arial"/>
              </a:rPr>
              <a:t> Evolve Sustainment &amp; Transition</a:t>
            </a:r>
            <a:endParaRPr lang="en-US" sz="1100" b="1">
              <a:solidFill>
                <a:srgbClr val="070154"/>
              </a:solidFill>
              <a:latin typeface="Arial"/>
              <a:ea typeface="Arial"/>
              <a:cs typeface="Arial"/>
            </a:endParaRPr>
          </a:p>
        </p:txBody>
      </p:sp>
      <p:sp>
        <p:nvSpPr>
          <p:cNvPr id="28" name="Rectangle 27">
            <a:extLst>
              <a:ext uri="{FF2B5EF4-FFF2-40B4-BE49-F238E27FC236}">
                <a16:creationId xmlns:a16="http://schemas.microsoft.com/office/drawing/2014/main" id="{45B77D40-FD4C-4607-9116-81866586D86A}"/>
              </a:ext>
            </a:extLst>
          </p:cNvPr>
          <p:cNvSpPr>
            <a:spLocks noGrp="1"/>
          </p:cNvSpPr>
          <p:nvPr/>
        </p:nvSpPr>
        <p:spPr>
          <a:xfrm>
            <a:off x="4876800" y="2095500"/>
            <a:ext cx="6343650" cy="419100"/>
          </a:xfrm>
          <a:prstGeom prst="rect">
            <a:avLst/>
          </a:prstGeom>
          <a:noFill/>
          <a:ln w="0">
            <a:noFill/>
            <a:prstDash val="solid"/>
          </a:ln>
        </p:spPr>
        <p:txBody>
          <a:bodyPr wrap="square" lIns="0" tIns="0" rIns="0" bIns="0" anchor="t" anchorCtr="0">
            <a:normAutofit/>
          </a:bodyPr>
          <a:lstStyle/>
          <a:p>
            <a:pPr algn="l">
              <a:defRPr sz="788" b="1" i="0">
                <a:solidFill>
                  <a:srgbClr val="50658E"/>
                </a:solidFill>
                <a:latin typeface="Arial"/>
                <a:ea typeface="Arial"/>
                <a:cs typeface="Arial"/>
              </a:defRPr>
            </a:pPr>
            <a:r>
              <a:rPr lang="en-US" sz="1000" i="0">
                <a:solidFill>
                  <a:srgbClr val="50658E"/>
                </a:solidFill>
                <a:latin typeface="Arial"/>
                <a:ea typeface="Arial"/>
                <a:cs typeface="Arial"/>
              </a:rPr>
              <a:t>Advisory support on Associated Material’s continued knowledge capture including Evolve product support and usage guidance</a:t>
            </a:r>
            <a:endParaRPr sz="1000" i="0">
              <a:solidFill>
                <a:srgbClr val="50658E"/>
              </a:solidFill>
              <a:latin typeface="Arial"/>
              <a:ea typeface="Arial"/>
              <a:cs typeface="Arial"/>
            </a:endParaRPr>
          </a:p>
        </p:txBody>
      </p:sp>
      <p:sp>
        <p:nvSpPr>
          <p:cNvPr id="42" name="Rounded Rectangle 41">
            <a:extLst>
              <a:ext uri="{FF2B5EF4-FFF2-40B4-BE49-F238E27FC236}">
                <a16:creationId xmlns:a16="http://schemas.microsoft.com/office/drawing/2014/main" id="{0F12EE5B-175C-4BCF-B8AD-C0E1406D0741}"/>
              </a:ext>
            </a:extLst>
          </p:cNvPr>
          <p:cNvSpPr>
            <a:spLocks noGrp="1"/>
          </p:cNvSpPr>
          <p:nvPr/>
        </p:nvSpPr>
        <p:spPr>
          <a:xfrm>
            <a:off x="685800" y="4584700"/>
            <a:ext cx="5257800" cy="977900"/>
          </a:xfrm>
          <a:prstGeom prst="roundRect">
            <a:avLst>
              <a:gd name="adj" fmla="val 6604"/>
            </a:avLst>
          </a:prstGeom>
          <a:solidFill>
            <a:srgbClr val="FFFFFF"/>
          </a:solidFill>
          <a:ln w="19050">
            <a:solidFill>
              <a:srgbClr val="0047FF"/>
            </a:solidFill>
            <a:prstDash val="solid"/>
          </a:ln>
        </p:spPr>
        <p:txBody>
          <a:bodyPr/>
          <a:lstStyle/>
          <a:p>
            <a:endParaRPr lang="en-US"/>
          </a:p>
        </p:txBody>
      </p:sp>
      <p:sp>
        <p:nvSpPr>
          <p:cNvPr id="43" name="Rounded Rectangle 42">
            <a:extLst>
              <a:ext uri="{FF2B5EF4-FFF2-40B4-BE49-F238E27FC236}">
                <a16:creationId xmlns:a16="http://schemas.microsoft.com/office/drawing/2014/main" id="{3661010C-A191-4D28-9408-0B655DEE96FA}"/>
              </a:ext>
            </a:extLst>
          </p:cNvPr>
          <p:cNvSpPr>
            <a:spLocks noGrp="1"/>
          </p:cNvSpPr>
          <p:nvPr/>
        </p:nvSpPr>
        <p:spPr>
          <a:xfrm>
            <a:off x="685800" y="4584700"/>
            <a:ext cx="76200" cy="977900"/>
          </a:xfrm>
          <a:prstGeom prst="roundRect">
            <a:avLst>
              <a:gd name="adj" fmla="val 50000"/>
            </a:avLst>
          </a:prstGeom>
          <a:solidFill>
            <a:srgbClr val="0047FF"/>
          </a:solidFill>
          <a:ln w="0">
            <a:noFill/>
            <a:prstDash val="solid"/>
          </a:ln>
        </p:spPr>
        <p:txBody>
          <a:bodyPr/>
          <a:lstStyle/>
          <a:p>
            <a:endParaRPr lang="en-US"/>
          </a:p>
        </p:txBody>
      </p:sp>
      <p:sp>
        <p:nvSpPr>
          <p:cNvPr id="44" name="Rectangle 43">
            <a:extLst>
              <a:ext uri="{FF2B5EF4-FFF2-40B4-BE49-F238E27FC236}">
                <a16:creationId xmlns:a16="http://schemas.microsoft.com/office/drawing/2014/main" id="{33622418-F2B3-4C3C-80E1-A70A72CCE808}"/>
              </a:ext>
            </a:extLst>
          </p:cNvPr>
          <p:cNvSpPr>
            <a:spLocks noGrp="1"/>
          </p:cNvSpPr>
          <p:nvPr/>
        </p:nvSpPr>
        <p:spPr>
          <a:xfrm>
            <a:off x="914400" y="4699000"/>
            <a:ext cx="3566160" cy="266700"/>
          </a:xfrm>
          <a:prstGeom prst="rect">
            <a:avLst/>
          </a:prstGeom>
          <a:noFill/>
          <a:ln w="0">
            <a:noFill/>
            <a:prstDash val="solid"/>
          </a:ln>
        </p:spPr>
        <p:txBody>
          <a:bodyPr wrap="square" lIns="0" tIns="0" rIns="0" bIns="0" anchor="ctr" anchorCtr="0">
            <a:noAutofit/>
          </a:bodyPr>
          <a:lstStyle/>
          <a:p>
            <a:pPr algn="l">
              <a:defRPr sz="1275" b="1" i="0">
                <a:solidFill>
                  <a:srgbClr val="070154"/>
                </a:solidFill>
                <a:latin typeface="Arial"/>
                <a:ea typeface="Arial"/>
                <a:cs typeface="Arial"/>
              </a:defRPr>
            </a:pPr>
            <a:r>
              <a:rPr lang="en-US" sz="1050" b="1" i="0">
                <a:solidFill>
                  <a:srgbClr val="070154"/>
                </a:solidFill>
                <a:latin typeface="Arial"/>
                <a:ea typeface="Arial"/>
                <a:cs typeface="Arial"/>
              </a:rPr>
              <a:t>Modernization Discovery (Optional if needed in future)</a:t>
            </a:r>
            <a:endParaRPr sz="1050" b="1" i="0">
              <a:solidFill>
                <a:srgbClr val="070154"/>
              </a:solidFill>
              <a:latin typeface="Arial"/>
              <a:ea typeface="Arial"/>
              <a:cs typeface="Arial"/>
            </a:endParaRPr>
          </a:p>
        </p:txBody>
      </p:sp>
      <p:sp>
        <p:nvSpPr>
          <p:cNvPr id="45" name="Rectangle 44">
            <a:extLst>
              <a:ext uri="{FF2B5EF4-FFF2-40B4-BE49-F238E27FC236}">
                <a16:creationId xmlns:a16="http://schemas.microsoft.com/office/drawing/2014/main" id="{EC56F214-059C-429F-AD28-9D53A978391C}"/>
              </a:ext>
            </a:extLst>
          </p:cNvPr>
          <p:cNvSpPr>
            <a:spLocks noGrp="1"/>
          </p:cNvSpPr>
          <p:nvPr/>
        </p:nvSpPr>
        <p:spPr>
          <a:xfrm>
            <a:off x="914400" y="5016500"/>
            <a:ext cx="4762500" cy="431800"/>
          </a:xfrm>
          <a:prstGeom prst="rect">
            <a:avLst/>
          </a:prstGeom>
          <a:noFill/>
          <a:ln w="0">
            <a:noFill/>
            <a:prstDash val="solid"/>
          </a:ln>
        </p:spPr>
        <p:txBody>
          <a:bodyPr wrap="square" lIns="0" tIns="0" rIns="0" bIns="0" anchor="t" anchorCtr="0">
            <a:noAutofit/>
          </a:bodyPr>
          <a:lstStyle/>
          <a:p>
            <a:pPr algn="l">
              <a:defRPr sz="919" b="0" i="0">
                <a:solidFill>
                  <a:srgbClr val="50658E"/>
                </a:solidFill>
                <a:latin typeface="Arial"/>
                <a:ea typeface="Arial"/>
                <a:cs typeface="Arial"/>
              </a:defRPr>
            </a:pPr>
            <a:r>
              <a:rPr lang="en-US" sz="1000" i="0">
                <a:solidFill>
                  <a:srgbClr val="50658E"/>
                </a:solidFill>
                <a:latin typeface="Arial"/>
                <a:ea typeface="Arial"/>
                <a:cs typeface="Arial"/>
              </a:rPr>
              <a:t>Analyze the legacy application portfolio, conduct discovery, build modernization backlog, and define a full-scale modernization path across architecture, process, technology, and delivery.</a:t>
            </a:r>
            <a:endParaRPr sz="1000" i="0">
              <a:solidFill>
                <a:srgbClr val="50658E"/>
              </a:solidFill>
              <a:latin typeface="Arial"/>
              <a:ea typeface="Arial"/>
              <a:cs typeface="Arial"/>
            </a:endParaRPr>
          </a:p>
        </p:txBody>
      </p:sp>
      <p:sp>
        <p:nvSpPr>
          <p:cNvPr id="46" name="Rectangle 45">
            <a:extLst>
              <a:ext uri="{FF2B5EF4-FFF2-40B4-BE49-F238E27FC236}">
                <a16:creationId xmlns:a16="http://schemas.microsoft.com/office/drawing/2014/main" id="{BBAD381F-325F-4E1F-9C68-BDE82FB0E600}"/>
              </a:ext>
            </a:extLst>
          </p:cNvPr>
          <p:cNvSpPr>
            <a:spLocks noGrp="1"/>
          </p:cNvSpPr>
          <p:nvPr/>
        </p:nvSpPr>
        <p:spPr>
          <a:xfrm>
            <a:off x="3784600" y="4735576"/>
            <a:ext cx="1892300" cy="209550"/>
          </a:xfrm>
          <a:prstGeom prst="rect">
            <a:avLst/>
          </a:prstGeom>
          <a:noFill/>
          <a:ln w="0">
            <a:noFill/>
            <a:prstDash val="solid"/>
          </a:ln>
        </p:spPr>
        <p:txBody>
          <a:bodyPr wrap="square" lIns="0" tIns="0" rIns="0" bIns="0" anchor="ctr" anchorCtr="0">
            <a:normAutofit/>
          </a:bodyPr>
          <a:lstStyle/>
          <a:p>
            <a:pPr algn="r">
              <a:defRPr sz="731" b="1" i="0">
                <a:solidFill>
                  <a:srgbClr val="0047FF"/>
                </a:solidFill>
                <a:latin typeface="Arial"/>
                <a:ea typeface="Arial"/>
                <a:cs typeface="Arial"/>
              </a:defRPr>
            </a:pPr>
            <a:r>
              <a:rPr lang="en-US" sz="700" b="1" i="0">
                <a:solidFill>
                  <a:srgbClr val="0047FF"/>
                </a:solidFill>
                <a:latin typeface="Arial"/>
                <a:ea typeface="Arial"/>
                <a:cs typeface="Arial"/>
              </a:rPr>
              <a:t>MONTHLY CAPACITY RATE</a:t>
            </a:r>
            <a:endParaRPr sz="700" b="1" i="0">
              <a:solidFill>
                <a:srgbClr val="0047FF"/>
              </a:solidFill>
              <a:latin typeface="Arial"/>
              <a:ea typeface="Arial"/>
              <a:cs typeface="Arial"/>
            </a:endParaRPr>
          </a:p>
        </p:txBody>
      </p:sp>
      <p:sp>
        <p:nvSpPr>
          <p:cNvPr id="47" name="Rounded Rectangle 46">
            <a:extLst>
              <a:ext uri="{FF2B5EF4-FFF2-40B4-BE49-F238E27FC236}">
                <a16:creationId xmlns:a16="http://schemas.microsoft.com/office/drawing/2014/main" id="{E04A54E3-424F-4EB9-AC16-BBD4D7CC2E8E}"/>
              </a:ext>
            </a:extLst>
          </p:cNvPr>
          <p:cNvSpPr>
            <a:spLocks noGrp="1"/>
          </p:cNvSpPr>
          <p:nvPr/>
        </p:nvSpPr>
        <p:spPr>
          <a:xfrm>
            <a:off x="6115050" y="4584700"/>
            <a:ext cx="5391150" cy="977900"/>
          </a:xfrm>
          <a:prstGeom prst="roundRect">
            <a:avLst>
              <a:gd name="adj" fmla="val 6604"/>
            </a:avLst>
          </a:prstGeom>
          <a:solidFill>
            <a:srgbClr val="FFFFFF"/>
          </a:solidFill>
          <a:ln w="19050">
            <a:solidFill>
              <a:srgbClr val="070154"/>
            </a:solidFill>
            <a:prstDash val="solid"/>
          </a:ln>
        </p:spPr>
        <p:txBody>
          <a:bodyPr/>
          <a:lstStyle/>
          <a:p>
            <a:endParaRPr lang="en-US"/>
          </a:p>
        </p:txBody>
      </p:sp>
      <p:sp>
        <p:nvSpPr>
          <p:cNvPr id="48" name="Rounded Rectangle 47">
            <a:extLst>
              <a:ext uri="{FF2B5EF4-FFF2-40B4-BE49-F238E27FC236}">
                <a16:creationId xmlns:a16="http://schemas.microsoft.com/office/drawing/2014/main" id="{0CAD5363-CEBE-4DD7-8ADE-DDECB7D22850}"/>
              </a:ext>
            </a:extLst>
          </p:cNvPr>
          <p:cNvSpPr>
            <a:spLocks noGrp="1"/>
          </p:cNvSpPr>
          <p:nvPr/>
        </p:nvSpPr>
        <p:spPr>
          <a:xfrm>
            <a:off x="6115050" y="4584700"/>
            <a:ext cx="76200" cy="977900"/>
          </a:xfrm>
          <a:prstGeom prst="roundRect">
            <a:avLst>
              <a:gd name="adj" fmla="val 50000"/>
            </a:avLst>
          </a:prstGeom>
          <a:solidFill>
            <a:srgbClr val="070154"/>
          </a:solidFill>
          <a:ln w="0">
            <a:noFill/>
            <a:prstDash val="solid"/>
          </a:ln>
        </p:spPr>
        <p:txBody>
          <a:bodyPr/>
          <a:lstStyle/>
          <a:p>
            <a:endParaRPr lang="en-US"/>
          </a:p>
        </p:txBody>
      </p:sp>
      <p:sp>
        <p:nvSpPr>
          <p:cNvPr id="49" name="Rectangle 48">
            <a:extLst>
              <a:ext uri="{FF2B5EF4-FFF2-40B4-BE49-F238E27FC236}">
                <a16:creationId xmlns:a16="http://schemas.microsoft.com/office/drawing/2014/main" id="{9AF20715-BDFC-40B1-89EF-08955CAE2018}"/>
              </a:ext>
            </a:extLst>
          </p:cNvPr>
          <p:cNvSpPr>
            <a:spLocks noGrp="1"/>
          </p:cNvSpPr>
          <p:nvPr/>
        </p:nvSpPr>
        <p:spPr>
          <a:xfrm>
            <a:off x="6343650" y="4699000"/>
            <a:ext cx="3474720" cy="266700"/>
          </a:xfrm>
          <a:prstGeom prst="rect">
            <a:avLst/>
          </a:prstGeom>
          <a:noFill/>
          <a:ln w="0">
            <a:noFill/>
            <a:prstDash val="solid"/>
          </a:ln>
        </p:spPr>
        <p:txBody>
          <a:bodyPr wrap="square" lIns="0" tIns="0" rIns="0" bIns="0" anchor="ctr" anchorCtr="0">
            <a:noAutofit/>
          </a:bodyPr>
          <a:lstStyle/>
          <a:p>
            <a:r>
              <a:rPr lang="en-US" sz="1050" b="1">
                <a:solidFill>
                  <a:srgbClr val="070154"/>
                </a:solidFill>
                <a:latin typeface="Arial"/>
                <a:cs typeface="Arial"/>
              </a:rPr>
              <a:t>Modernization Execution (Optional if needed in future)</a:t>
            </a:r>
            <a:endParaRPr sz="1050" b="1">
              <a:solidFill>
                <a:srgbClr val="070154"/>
              </a:solidFill>
              <a:latin typeface="Arial"/>
              <a:cs typeface="Arial"/>
            </a:endParaRPr>
          </a:p>
        </p:txBody>
      </p:sp>
      <p:sp>
        <p:nvSpPr>
          <p:cNvPr id="50" name="Rectangle 49">
            <a:extLst>
              <a:ext uri="{FF2B5EF4-FFF2-40B4-BE49-F238E27FC236}">
                <a16:creationId xmlns:a16="http://schemas.microsoft.com/office/drawing/2014/main" id="{7926EF95-C569-4083-AC58-2660FE6D29D0}"/>
              </a:ext>
            </a:extLst>
          </p:cNvPr>
          <p:cNvSpPr>
            <a:spLocks noGrp="1"/>
          </p:cNvSpPr>
          <p:nvPr/>
        </p:nvSpPr>
        <p:spPr>
          <a:xfrm>
            <a:off x="6343650" y="5016500"/>
            <a:ext cx="4895850" cy="431800"/>
          </a:xfrm>
          <a:prstGeom prst="rect">
            <a:avLst/>
          </a:prstGeom>
          <a:noFill/>
          <a:ln w="0">
            <a:noFill/>
            <a:prstDash val="solid"/>
          </a:ln>
        </p:spPr>
        <p:txBody>
          <a:bodyPr wrap="square" lIns="0" tIns="0" rIns="0" bIns="0" anchor="t" anchorCtr="0">
            <a:normAutofit/>
          </a:bodyPr>
          <a:lstStyle/>
          <a:p>
            <a:pPr algn="l">
              <a:defRPr sz="919" b="0" i="0">
                <a:solidFill>
                  <a:srgbClr val="50658E"/>
                </a:solidFill>
                <a:latin typeface="Arial"/>
                <a:ea typeface="Arial"/>
                <a:cs typeface="Arial"/>
              </a:defRPr>
            </a:pPr>
            <a:r>
              <a:rPr lang="en-US" sz="1000" i="0">
                <a:solidFill>
                  <a:srgbClr val="50658E"/>
                </a:solidFill>
                <a:latin typeface="Arial"/>
                <a:ea typeface="Arial"/>
                <a:cs typeface="Arial"/>
              </a:rPr>
              <a:t>Provide a dedicated pod to write code, test, and validate quality with stakeholders executing modernization end to end.</a:t>
            </a:r>
            <a:endParaRPr sz="1000" i="0">
              <a:solidFill>
                <a:srgbClr val="50658E"/>
              </a:solidFill>
              <a:latin typeface="Arial"/>
              <a:ea typeface="Arial"/>
              <a:cs typeface="Arial"/>
            </a:endParaRPr>
          </a:p>
        </p:txBody>
      </p:sp>
      <p:sp>
        <p:nvSpPr>
          <p:cNvPr id="51" name="Rectangle 50">
            <a:extLst>
              <a:ext uri="{FF2B5EF4-FFF2-40B4-BE49-F238E27FC236}">
                <a16:creationId xmlns:a16="http://schemas.microsoft.com/office/drawing/2014/main" id="{84F00104-F2F1-472A-A4F6-67B4005B29E8}"/>
              </a:ext>
            </a:extLst>
          </p:cNvPr>
          <p:cNvSpPr>
            <a:spLocks noGrp="1"/>
          </p:cNvSpPr>
          <p:nvPr/>
        </p:nvSpPr>
        <p:spPr>
          <a:xfrm>
            <a:off x="9220200" y="4735576"/>
            <a:ext cx="2019300" cy="209550"/>
          </a:xfrm>
          <a:prstGeom prst="rect">
            <a:avLst/>
          </a:prstGeom>
          <a:noFill/>
          <a:ln w="0">
            <a:noFill/>
            <a:prstDash val="solid"/>
          </a:ln>
        </p:spPr>
        <p:txBody>
          <a:bodyPr wrap="square" lIns="0" tIns="0" rIns="0" bIns="0" anchor="ctr" anchorCtr="0">
            <a:normAutofit/>
          </a:bodyPr>
          <a:lstStyle/>
          <a:p>
            <a:pPr algn="r"/>
            <a:r>
              <a:rPr lang="en-US" sz="700" b="1">
                <a:solidFill>
                  <a:srgbClr val="0047FF"/>
                </a:solidFill>
                <a:latin typeface="Arial"/>
                <a:cs typeface="Arial"/>
              </a:rPr>
              <a:t>MONTHLY CAPACITY RATE</a:t>
            </a:r>
            <a:endParaRPr sz="700" b="1">
              <a:solidFill>
                <a:srgbClr val="0047FF"/>
              </a:solidFill>
              <a:latin typeface="Arial"/>
              <a:cs typeface="Arial"/>
            </a:endParaRPr>
          </a:p>
        </p:txBody>
      </p:sp>
      <p:sp>
        <p:nvSpPr>
          <p:cNvPr id="52" name="Rounded Rectangle 51">
            <a:extLst>
              <a:ext uri="{FF2B5EF4-FFF2-40B4-BE49-F238E27FC236}">
                <a16:creationId xmlns:a16="http://schemas.microsoft.com/office/drawing/2014/main" id="{F9FB5DFE-3103-4CB3-9C35-2BA53A52BB94}"/>
              </a:ext>
            </a:extLst>
          </p:cNvPr>
          <p:cNvSpPr>
            <a:spLocks noGrp="1"/>
          </p:cNvSpPr>
          <p:nvPr/>
        </p:nvSpPr>
        <p:spPr>
          <a:xfrm>
            <a:off x="685800" y="3924300"/>
            <a:ext cx="10820400" cy="508000"/>
          </a:xfrm>
          <a:prstGeom prst="roundRect">
            <a:avLst>
              <a:gd name="adj" fmla="val 12766"/>
            </a:avLst>
          </a:prstGeom>
          <a:solidFill>
            <a:srgbClr val="070154"/>
          </a:solidFill>
          <a:ln w="0">
            <a:noFill/>
            <a:prstDash val="solid"/>
          </a:ln>
        </p:spPr>
        <p:txBody>
          <a:bodyPr/>
          <a:lstStyle/>
          <a:p>
            <a:endParaRPr lang="en-US"/>
          </a:p>
        </p:txBody>
      </p:sp>
      <p:sp>
        <p:nvSpPr>
          <p:cNvPr id="53" name="Rectangle 52">
            <a:extLst>
              <a:ext uri="{FF2B5EF4-FFF2-40B4-BE49-F238E27FC236}">
                <a16:creationId xmlns:a16="http://schemas.microsoft.com/office/drawing/2014/main" id="{DC90A10D-E3BE-4D14-A95D-6CEFF38E71C6}"/>
              </a:ext>
            </a:extLst>
          </p:cNvPr>
          <p:cNvSpPr>
            <a:spLocks noGrp="1"/>
          </p:cNvSpPr>
          <p:nvPr/>
        </p:nvSpPr>
        <p:spPr>
          <a:xfrm>
            <a:off x="876300" y="4013200"/>
            <a:ext cx="10439400" cy="330200"/>
          </a:xfrm>
          <a:prstGeom prst="rect">
            <a:avLst/>
          </a:prstGeom>
          <a:noFill/>
          <a:ln w="0">
            <a:noFill/>
            <a:prstDash val="solid"/>
          </a:ln>
        </p:spPr>
        <p:txBody>
          <a:bodyPr wrap="square" lIns="0" tIns="0" rIns="0" bIns="0" anchor="ctr" anchorCtr="0">
            <a:normAutofit/>
          </a:bodyPr>
          <a:lstStyle/>
          <a:p>
            <a:pPr algn="ctr">
              <a:defRPr sz="1088" b="1" i="0">
                <a:solidFill>
                  <a:srgbClr val="FFFFFF"/>
                </a:solidFill>
                <a:latin typeface="Arial"/>
                <a:ea typeface="Arial"/>
                <a:cs typeface="Arial"/>
              </a:defRPr>
            </a:pPr>
            <a:r>
              <a:rPr lang="en-US" sz="1050" b="1" i="0">
                <a:solidFill>
                  <a:srgbClr val="FFFFFF"/>
                </a:solidFill>
                <a:latin typeface="Arial"/>
                <a:ea typeface="Arial"/>
                <a:cs typeface="Arial"/>
              </a:rPr>
              <a:t>We can also help build your internal modernization capability</a:t>
            </a:r>
            <a:r>
              <a:rPr lang="en-US" sz="1050" b="1">
                <a:solidFill>
                  <a:srgbClr val="FFFFFF"/>
                </a:solidFill>
                <a:latin typeface="Arial"/>
                <a:ea typeface="Arial"/>
                <a:cs typeface="Arial"/>
              </a:rPr>
              <a:t> while </a:t>
            </a:r>
            <a:r>
              <a:rPr lang="en-US" sz="1050" b="1" i="0">
                <a:solidFill>
                  <a:srgbClr val="FFFFFF"/>
                </a:solidFill>
                <a:latin typeface="Arial"/>
                <a:ea typeface="Arial"/>
                <a:cs typeface="Arial"/>
              </a:rPr>
              <a:t>adding capacity and expertise to drive concrete modernization initiatives in future.</a:t>
            </a:r>
            <a:endParaRPr sz="1050" b="1" i="0">
              <a:solidFill>
                <a:srgbClr val="FFFFFF"/>
              </a:solidFill>
              <a:latin typeface="Arial"/>
              <a:ea typeface="Arial"/>
              <a:cs typeface="Arial"/>
            </a:endParaRPr>
          </a:p>
        </p:txBody>
      </p:sp>
      <p:sp>
        <p:nvSpPr>
          <p:cNvPr id="54" name="slide-qualifier">
            <a:extLst>
              <a:ext uri="{FF2B5EF4-FFF2-40B4-BE49-F238E27FC236}">
                <a16:creationId xmlns:a16="http://schemas.microsoft.com/office/drawing/2014/main" id="{1CFAD62F-28C8-4751-9B98-DA64C960D547}"/>
              </a:ext>
            </a:extLst>
          </p:cNvPr>
          <p:cNvSpPr>
            <a:spLocks noGrp="1"/>
          </p:cNvSpPr>
          <p:nvPr/>
        </p:nvSpPr>
        <p:spPr>
          <a:xfrm>
            <a:off x="685800" y="5651500"/>
            <a:ext cx="10820400" cy="209550"/>
          </a:xfrm>
          <a:prstGeom prst="rect">
            <a:avLst/>
          </a:prstGeom>
          <a:noFill/>
          <a:ln w="0">
            <a:noFill/>
            <a:prstDash val="solid"/>
          </a:ln>
        </p:spPr>
        <p:txBody>
          <a:bodyPr wrap="square" lIns="0" tIns="0" rIns="0" bIns="0" anchor="ctr" anchorCtr="0">
            <a:normAutofit/>
          </a:bodyPr>
          <a:lstStyle/>
          <a:p>
            <a:pPr algn="l">
              <a:defRPr sz="750" b="0" i="1">
                <a:solidFill>
                  <a:srgbClr val="50658E"/>
                </a:solidFill>
                <a:latin typeface="Arial"/>
                <a:ea typeface="Arial"/>
                <a:cs typeface="Arial"/>
              </a:defRPr>
            </a:pPr>
            <a:r>
              <a:rPr lang="en-US" sz="750" i="1">
                <a:solidFill>
                  <a:srgbClr val="50658E"/>
                </a:solidFill>
                <a:latin typeface="Arial"/>
                <a:ea typeface="Arial"/>
                <a:cs typeface="Arial"/>
              </a:rPr>
              <a:t>Fees are intentionally excluded. Evolve access, cloud and model costs, sustainment capacity, discovery, and execution remain separable contract components.</a:t>
            </a:r>
            <a:endParaRPr sz="750" i="1">
              <a:solidFill>
                <a:srgbClr val="50658E"/>
              </a:solidFill>
              <a:latin typeface="Arial"/>
              <a:ea typeface="Arial"/>
              <a:cs typeface="Arial"/>
            </a:endParaRPr>
          </a:p>
        </p:txBody>
      </p:sp>
      <p:sp>
        <p:nvSpPr>
          <p:cNvPr id="56" name="TextBox 55">
            <a:extLst>
              <a:ext uri="{FF2B5EF4-FFF2-40B4-BE49-F238E27FC236}">
                <a16:creationId xmlns:a16="http://schemas.microsoft.com/office/drawing/2014/main" id="{16591D51-A788-F84F-AB91-C5C6D68B4B5B}"/>
              </a:ext>
            </a:extLst>
          </p:cNvPr>
          <p:cNvSpPr txBox="1"/>
          <p:nvPr/>
        </p:nvSpPr>
        <p:spPr>
          <a:xfrm>
            <a:off x="876300" y="2677299"/>
            <a:ext cx="1524000" cy="177800"/>
          </a:xfrm>
          <a:prstGeom prst="rect">
            <a:avLst/>
          </a:prstGeom>
          <a:noFill/>
        </p:spPr>
        <p:txBody>
          <a:bodyPr vertOverflow="overflow" vert="horz" wrap="square" rtlCol="0" anchor="ctr" anchorCtr="0">
            <a:noAutofit/>
          </a:bodyPr>
          <a:lstStyle/>
          <a:p>
            <a:pPr algn="l"/>
            <a:r>
              <a:rPr lang="en-US" sz="1000" b="1">
                <a:solidFill>
                  <a:srgbClr val="AFC0FF"/>
                </a:solidFill>
                <a:latin typeface="Arial"/>
                <a:cs typeface="Arial"/>
              </a:rPr>
              <a:t>THE TEAM</a:t>
            </a:r>
          </a:p>
        </p:txBody>
      </p:sp>
      <p:sp>
        <p:nvSpPr>
          <p:cNvPr id="58" name="TextBox 57">
            <a:extLst>
              <a:ext uri="{FF2B5EF4-FFF2-40B4-BE49-F238E27FC236}">
                <a16:creationId xmlns:a16="http://schemas.microsoft.com/office/drawing/2014/main" id="{988C4FDB-1D13-6444-8D43-A725F60A7789}"/>
              </a:ext>
            </a:extLst>
          </p:cNvPr>
          <p:cNvSpPr txBox="1"/>
          <p:nvPr/>
        </p:nvSpPr>
        <p:spPr>
          <a:xfrm>
            <a:off x="876300" y="3543300"/>
            <a:ext cx="3429000" cy="139700"/>
          </a:xfrm>
          <a:prstGeom prst="rect">
            <a:avLst/>
          </a:prstGeom>
          <a:noFill/>
        </p:spPr>
        <p:txBody>
          <a:bodyPr vertOverflow="overflow" vert="horz" wrap="square" rtlCol="0" anchor="ctr" anchorCtr="0">
            <a:noAutofit/>
          </a:bodyPr>
          <a:lstStyle/>
          <a:p>
            <a:pPr algn="l"/>
            <a:r>
              <a:rPr lang="en-US" sz="1200" b="1">
                <a:solidFill>
                  <a:srgbClr val="CAD5FF"/>
                </a:solidFill>
                <a:latin typeface="Arial"/>
                <a:cs typeface="Arial"/>
              </a:rPr>
              <a:t>FIXED PRICE FOR ALL 3 MONTHS: </a:t>
            </a:r>
            <a:r>
              <a:rPr lang="en-US" sz="1200">
                <a:solidFill>
                  <a:srgbClr val="CAD5FF"/>
                </a:solidFill>
                <a:latin typeface="Arial"/>
                <a:cs typeface="Arial"/>
              </a:rPr>
              <a:t>$235,000</a:t>
            </a:r>
            <a:endParaRPr lang="en-US" sz="1200" b="1">
              <a:solidFill>
                <a:srgbClr val="CAD5FF"/>
              </a:solidFill>
              <a:latin typeface="Arial"/>
              <a:cs typeface="Arial"/>
            </a:endParaRPr>
          </a:p>
        </p:txBody>
      </p:sp>
      <p:sp>
        <p:nvSpPr>
          <p:cNvPr id="59" name="TextBox 58">
            <a:extLst>
              <a:ext uri="{FF2B5EF4-FFF2-40B4-BE49-F238E27FC236}">
                <a16:creationId xmlns:a16="http://schemas.microsoft.com/office/drawing/2014/main" id="{08FAA4B0-AE4C-3640-8723-ECFC3656C43A}"/>
              </a:ext>
            </a:extLst>
          </p:cNvPr>
          <p:cNvSpPr txBox="1"/>
          <p:nvPr/>
        </p:nvSpPr>
        <p:spPr>
          <a:xfrm>
            <a:off x="4876800" y="2590800"/>
            <a:ext cx="1397000" cy="177800"/>
          </a:xfrm>
          <a:prstGeom prst="rect">
            <a:avLst/>
          </a:prstGeom>
          <a:noFill/>
        </p:spPr>
        <p:txBody>
          <a:bodyPr vertOverflow="overflow" vert="horz" wrap="square" rtlCol="0" anchor="ctr" anchorCtr="0">
            <a:noAutofit/>
          </a:bodyPr>
          <a:lstStyle/>
          <a:p>
            <a:pPr algn="l"/>
            <a:r>
              <a:rPr lang="en-US" sz="1000" b="1">
                <a:solidFill>
                  <a:srgbClr val="50658E"/>
                </a:solidFill>
                <a:latin typeface="Arial"/>
                <a:cs typeface="Arial"/>
              </a:rPr>
              <a:t>THE TEAM</a:t>
            </a:r>
          </a:p>
        </p:txBody>
      </p:sp>
      <p:sp>
        <p:nvSpPr>
          <p:cNvPr id="61" name="TextBox 60">
            <a:extLst>
              <a:ext uri="{FF2B5EF4-FFF2-40B4-BE49-F238E27FC236}">
                <a16:creationId xmlns:a16="http://schemas.microsoft.com/office/drawing/2014/main" id="{2076B665-3A10-B44E-A245-E07A405DF491}"/>
              </a:ext>
            </a:extLst>
          </p:cNvPr>
          <p:cNvSpPr txBox="1"/>
          <p:nvPr/>
        </p:nvSpPr>
        <p:spPr>
          <a:xfrm>
            <a:off x="8191500" y="2590800"/>
            <a:ext cx="1524000" cy="177800"/>
          </a:xfrm>
          <a:prstGeom prst="rect">
            <a:avLst/>
          </a:prstGeom>
          <a:noFill/>
        </p:spPr>
        <p:txBody>
          <a:bodyPr vertOverflow="overflow" vert="horz" wrap="square" rtlCol="0" anchor="ctr" anchorCtr="0">
            <a:noAutofit/>
          </a:bodyPr>
          <a:lstStyle/>
          <a:p>
            <a:pPr algn="l"/>
            <a:r>
              <a:rPr lang="en-US" sz="1000" b="1">
                <a:solidFill>
                  <a:srgbClr val="50658E"/>
                </a:solidFill>
                <a:latin typeface="Arial"/>
                <a:cs typeface="Arial"/>
              </a:rPr>
              <a:t>INCLUDED FOCUS</a:t>
            </a:r>
          </a:p>
        </p:txBody>
      </p:sp>
      <p:sp>
        <p:nvSpPr>
          <p:cNvPr id="62" name="TextBox 61">
            <a:extLst>
              <a:ext uri="{FF2B5EF4-FFF2-40B4-BE49-F238E27FC236}">
                <a16:creationId xmlns:a16="http://schemas.microsoft.com/office/drawing/2014/main" id="{FC6F5B9C-713A-2A4C-BE53-160CA5257995}"/>
              </a:ext>
            </a:extLst>
          </p:cNvPr>
          <p:cNvSpPr txBox="1"/>
          <p:nvPr/>
        </p:nvSpPr>
        <p:spPr>
          <a:xfrm>
            <a:off x="8191500" y="2794000"/>
            <a:ext cx="3216634" cy="546100"/>
          </a:xfrm>
          <a:prstGeom prst="rect">
            <a:avLst/>
          </a:prstGeom>
          <a:noFill/>
        </p:spPr>
        <p:txBody>
          <a:bodyPr vertOverflow="overflow" vert="horz" wrap="square" rtlCol="0" anchor="t" anchorCtr="0">
            <a:noAutofit/>
          </a:bodyPr>
          <a:lstStyle/>
          <a:p>
            <a:pPr marL="171450" indent="-171450" algn="l">
              <a:buFont typeface="Arial" panose="020B0604020202020204" pitchFamily="34" charset="0"/>
              <a:buChar char="•"/>
            </a:pPr>
            <a:r>
              <a:rPr lang="en-US" sz="1000">
                <a:solidFill>
                  <a:srgbClr val="17133C"/>
                </a:solidFill>
                <a:latin typeface="Arial"/>
                <a:cs typeface="Arial"/>
              </a:rPr>
              <a:t>Office hours and light advisory and training support
</a:t>
            </a:r>
            <a:r>
              <a:rPr lang="en-US" sz="1000" err="1">
                <a:solidFill>
                  <a:srgbClr val="17133C"/>
                </a:solidFill>
                <a:latin typeface="Arial"/>
                <a:cs typeface="Arial"/>
              </a:rPr>
              <a:t>Intellio</a:t>
            </a:r>
            <a:r>
              <a:rPr lang="en-US" sz="1000">
                <a:solidFill>
                  <a:srgbClr val="17133C"/>
                </a:solidFill>
                <a:latin typeface="Arial"/>
                <a:cs typeface="Arial"/>
              </a:rPr>
              <a:t> Evolve guidance and coaching
Product enhancements and upgrades as capacity allows</a:t>
            </a:r>
          </a:p>
        </p:txBody>
      </p:sp>
      <p:sp>
        <p:nvSpPr>
          <p:cNvPr id="63" name="TextBox 62">
            <a:extLst>
              <a:ext uri="{FF2B5EF4-FFF2-40B4-BE49-F238E27FC236}">
                <a16:creationId xmlns:a16="http://schemas.microsoft.com/office/drawing/2014/main" id="{E8151E5B-1F9D-6647-A4A2-4102B3BB1B49}"/>
              </a:ext>
            </a:extLst>
          </p:cNvPr>
          <p:cNvSpPr txBox="1"/>
          <p:nvPr/>
        </p:nvSpPr>
        <p:spPr>
          <a:xfrm>
            <a:off x="4901184" y="3472180"/>
            <a:ext cx="6400800" cy="209550"/>
          </a:xfrm>
          <a:prstGeom prst="rect">
            <a:avLst/>
          </a:prstGeom>
          <a:noFill/>
        </p:spPr>
        <p:txBody>
          <a:bodyPr vertOverflow="overflow" vert="horz" wrap="square" rtlCol="0" anchor="ctr" anchorCtr="0">
            <a:noAutofit/>
          </a:bodyPr>
          <a:lstStyle/>
          <a:p>
            <a:pPr algn="l"/>
            <a:r>
              <a:rPr lang="en-US" sz="1000" b="1" i="1">
                <a:solidFill>
                  <a:srgbClr val="0047FF"/>
                </a:solidFill>
                <a:latin typeface="Arial"/>
                <a:cs typeface="Arial"/>
              </a:rPr>
              <a:t>Fee: </a:t>
            </a:r>
            <a:r>
              <a:rPr lang="en-US" sz="1000" i="1">
                <a:solidFill>
                  <a:srgbClr val="0047FF"/>
                </a:solidFill>
                <a:latin typeface="Arial"/>
                <a:cs typeface="Arial"/>
              </a:rPr>
              <a:t>To be determined once first phase of </a:t>
            </a:r>
            <a:r>
              <a:rPr lang="en-US" sz="1000" i="1" err="1">
                <a:solidFill>
                  <a:srgbClr val="0047FF"/>
                </a:solidFill>
                <a:latin typeface="Arial"/>
                <a:cs typeface="Arial"/>
              </a:rPr>
              <a:t>Intellio</a:t>
            </a:r>
            <a:r>
              <a:rPr lang="en-US" sz="1000" i="1">
                <a:solidFill>
                  <a:srgbClr val="0047FF"/>
                </a:solidFill>
                <a:latin typeface="Arial"/>
                <a:cs typeface="Arial"/>
              </a:rPr>
              <a:t> Evolve Code Insights &amp; Enablement is complete</a:t>
            </a:r>
            <a:endParaRPr lang="en-US" sz="1000" b="1" i="1">
              <a:solidFill>
                <a:srgbClr val="0047FF"/>
              </a:solidFill>
              <a:latin typeface="Arial"/>
              <a:cs typeface="Arial"/>
            </a:endParaRPr>
          </a:p>
        </p:txBody>
      </p:sp>
      <p:sp>
        <p:nvSpPr>
          <p:cNvPr id="64" name="TextBox 63">
            <a:extLst>
              <a:ext uri="{FF2B5EF4-FFF2-40B4-BE49-F238E27FC236}">
                <a16:creationId xmlns:a16="http://schemas.microsoft.com/office/drawing/2014/main" id="{4C7D5FEE-BC1D-8248-8280-0DC0681092C8}"/>
              </a:ext>
            </a:extLst>
          </p:cNvPr>
          <p:cNvSpPr txBox="1"/>
          <p:nvPr/>
        </p:nvSpPr>
        <p:spPr>
          <a:xfrm>
            <a:off x="876300" y="2855099"/>
            <a:ext cx="2603500" cy="177800"/>
          </a:xfrm>
          <a:prstGeom prst="rect">
            <a:avLst/>
          </a:prstGeom>
          <a:noFill/>
        </p:spPr>
        <p:txBody>
          <a:bodyPr vertOverflow="overflow" vert="horz" wrap="none" rtlCol="0" anchor="ctr" anchorCtr="0">
            <a:noAutofit/>
          </a:bodyPr>
          <a:lstStyle/>
          <a:p>
            <a:pPr algn="l"/>
            <a:r>
              <a:rPr lang="en-US" sz="1000">
                <a:solidFill>
                  <a:srgbClr val="FFFFFF"/>
                </a:solidFill>
                <a:latin typeface="Arial"/>
                <a:cs typeface="Arial"/>
              </a:rPr>
              <a:t>Technical Lead</a:t>
            </a:r>
          </a:p>
        </p:txBody>
      </p:sp>
      <p:sp>
        <p:nvSpPr>
          <p:cNvPr id="65" name="TextBox 64">
            <a:extLst>
              <a:ext uri="{FF2B5EF4-FFF2-40B4-BE49-F238E27FC236}">
                <a16:creationId xmlns:a16="http://schemas.microsoft.com/office/drawing/2014/main" id="{10E93C77-F547-1740-9773-769B3BCF370E}"/>
              </a:ext>
            </a:extLst>
          </p:cNvPr>
          <p:cNvSpPr txBox="1"/>
          <p:nvPr/>
        </p:nvSpPr>
        <p:spPr>
          <a:xfrm>
            <a:off x="3505200" y="2855099"/>
            <a:ext cx="800100" cy="177800"/>
          </a:xfrm>
          <a:prstGeom prst="rect">
            <a:avLst/>
          </a:prstGeom>
          <a:noFill/>
        </p:spPr>
        <p:txBody>
          <a:bodyPr vertOverflow="overflow" vert="horz" wrap="none" rtlCol="0" anchor="ctr" anchorCtr="0">
            <a:noAutofit/>
          </a:bodyPr>
          <a:lstStyle/>
          <a:p>
            <a:pPr algn="l"/>
            <a:r>
              <a:rPr lang="en-US" sz="1000" b="1">
                <a:solidFill>
                  <a:srgbClr val="CAD5FF"/>
                </a:solidFill>
                <a:latin typeface="Arial"/>
                <a:cs typeface="Arial"/>
              </a:rPr>
              <a:t>Full-Time</a:t>
            </a:r>
          </a:p>
        </p:txBody>
      </p:sp>
      <p:sp>
        <p:nvSpPr>
          <p:cNvPr id="66" name="TextBox 65">
            <a:extLst>
              <a:ext uri="{FF2B5EF4-FFF2-40B4-BE49-F238E27FC236}">
                <a16:creationId xmlns:a16="http://schemas.microsoft.com/office/drawing/2014/main" id="{B1543BC2-7138-9148-9962-F9FE889AA781}"/>
              </a:ext>
            </a:extLst>
          </p:cNvPr>
          <p:cNvSpPr txBox="1"/>
          <p:nvPr/>
        </p:nvSpPr>
        <p:spPr>
          <a:xfrm>
            <a:off x="876300" y="3032899"/>
            <a:ext cx="2603500" cy="177800"/>
          </a:xfrm>
          <a:prstGeom prst="rect">
            <a:avLst/>
          </a:prstGeom>
          <a:noFill/>
        </p:spPr>
        <p:txBody>
          <a:bodyPr vertOverflow="overflow" vert="horz" wrap="none" rtlCol="0" anchor="ctr" anchorCtr="0">
            <a:noAutofit/>
          </a:bodyPr>
          <a:lstStyle/>
          <a:p>
            <a:pPr algn="l"/>
            <a:r>
              <a:rPr lang="en-US" sz="1000">
                <a:solidFill>
                  <a:srgbClr val="FFFFFF"/>
                </a:solidFill>
                <a:latin typeface="Arial"/>
                <a:cs typeface="Arial"/>
              </a:rPr>
              <a:t>Senior Engineer (Nearshore)</a:t>
            </a:r>
          </a:p>
        </p:txBody>
      </p:sp>
      <p:sp>
        <p:nvSpPr>
          <p:cNvPr id="67" name="TextBox 66">
            <a:extLst>
              <a:ext uri="{FF2B5EF4-FFF2-40B4-BE49-F238E27FC236}">
                <a16:creationId xmlns:a16="http://schemas.microsoft.com/office/drawing/2014/main" id="{1FC69EAD-919C-0741-803B-F0E90472E53D}"/>
              </a:ext>
            </a:extLst>
          </p:cNvPr>
          <p:cNvSpPr txBox="1"/>
          <p:nvPr/>
        </p:nvSpPr>
        <p:spPr>
          <a:xfrm>
            <a:off x="3505200" y="3032899"/>
            <a:ext cx="800100" cy="177800"/>
          </a:xfrm>
          <a:prstGeom prst="rect">
            <a:avLst/>
          </a:prstGeom>
          <a:noFill/>
        </p:spPr>
        <p:txBody>
          <a:bodyPr vertOverflow="overflow" vert="horz" wrap="none" rtlCol="0" anchor="ctr" anchorCtr="0">
            <a:noAutofit/>
          </a:bodyPr>
          <a:lstStyle/>
          <a:p>
            <a:r>
              <a:rPr lang="en-US" sz="1000" b="1">
                <a:solidFill>
                  <a:srgbClr val="CAD5FF"/>
                </a:solidFill>
                <a:cs typeface="Arial"/>
              </a:rPr>
              <a:t>Full-Time</a:t>
            </a:r>
            <a:endParaRPr lang="en-US" sz="1000" b="1">
              <a:solidFill>
                <a:srgbClr val="CAD5FF"/>
              </a:solidFill>
              <a:latin typeface="Arial"/>
              <a:cs typeface="Arial"/>
            </a:endParaRPr>
          </a:p>
        </p:txBody>
      </p:sp>
      <p:sp>
        <p:nvSpPr>
          <p:cNvPr id="68" name="TextBox 67">
            <a:extLst>
              <a:ext uri="{FF2B5EF4-FFF2-40B4-BE49-F238E27FC236}">
                <a16:creationId xmlns:a16="http://schemas.microsoft.com/office/drawing/2014/main" id="{F7E670AE-6FAE-9345-8CD7-81658EE14D4B}"/>
              </a:ext>
            </a:extLst>
          </p:cNvPr>
          <p:cNvSpPr txBox="1"/>
          <p:nvPr/>
        </p:nvSpPr>
        <p:spPr>
          <a:xfrm>
            <a:off x="876300" y="3210699"/>
            <a:ext cx="2603500" cy="177800"/>
          </a:xfrm>
          <a:prstGeom prst="rect">
            <a:avLst/>
          </a:prstGeom>
          <a:noFill/>
        </p:spPr>
        <p:txBody>
          <a:bodyPr vertOverflow="overflow" vert="horz" wrap="none" rtlCol="0" anchor="ctr" anchorCtr="0">
            <a:noAutofit/>
          </a:bodyPr>
          <a:lstStyle/>
          <a:p>
            <a:pPr algn="l"/>
            <a:r>
              <a:rPr lang="en-US" sz="1000">
                <a:solidFill>
                  <a:srgbClr val="FFFFFF"/>
                </a:solidFill>
                <a:latin typeface="Arial"/>
                <a:cs typeface="Arial"/>
              </a:rPr>
              <a:t>Oversight / SME</a:t>
            </a:r>
          </a:p>
        </p:txBody>
      </p:sp>
      <p:sp>
        <p:nvSpPr>
          <p:cNvPr id="69" name="TextBox 68">
            <a:extLst>
              <a:ext uri="{FF2B5EF4-FFF2-40B4-BE49-F238E27FC236}">
                <a16:creationId xmlns:a16="http://schemas.microsoft.com/office/drawing/2014/main" id="{7C5206ED-836C-614F-8667-6CDCE96F5CCA}"/>
              </a:ext>
            </a:extLst>
          </p:cNvPr>
          <p:cNvSpPr txBox="1"/>
          <p:nvPr/>
        </p:nvSpPr>
        <p:spPr>
          <a:xfrm>
            <a:off x="3505200" y="3210699"/>
            <a:ext cx="800100" cy="177800"/>
          </a:xfrm>
          <a:prstGeom prst="rect">
            <a:avLst/>
          </a:prstGeom>
          <a:noFill/>
        </p:spPr>
        <p:txBody>
          <a:bodyPr vertOverflow="overflow" vert="horz" wrap="none" rtlCol="0" anchor="ctr" anchorCtr="0">
            <a:noAutofit/>
          </a:bodyPr>
          <a:lstStyle/>
          <a:p>
            <a:pPr algn="l"/>
            <a:r>
              <a:rPr lang="en-US" sz="1000" b="1">
                <a:solidFill>
                  <a:srgbClr val="CAD5FF"/>
                </a:solidFill>
                <a:latin typeface="Arial"/>
                <a:cs typeface="Arial"/>
              </a:rPr>
              <a:t>As needed</a:t>
            </a:r>
          </a:p>
        </p:txBody>
      </p:sp>
      <p:sp>
        <p:nvSpPr>
          <p:cNvPr id="72" name="TextBox 71">
            <a:extLst>
              <a:ext uri="{FF2B5EF4-FFF2-40B4-BE49-F238E27FC236}">
                <a16:creationId xmlns:a16="http://schemas.microsoft.com/office/drawing/2014/main" id="{1C51605C-F823-5740-B346-A2BBC7107B3B}"/>
              </a:ext>
            </a:extLst>
          </p:cNvPr>
          <p:cNvSpPr txBox="1"/>
          <p:nvPr/>
        </p:nvSpPr>
        <p:spPr>
          <a:xfrm>
            <a:off x="4876800" y="2768600"/>
            <a:ext cx="2082800" cy="190500"/>
          </a:xfrm>
          <a:prstGeom prst="rect">
            <a:avLst/>
          </a:prstGeom>
          <a:noFill/>
        </p:spPr>
        <p:txBody>
          <a:bodyPr vertOverflow="overflow" vert="horz" wrap="none" rtlCol="0" anchor="ctr" anchorCtr="0">
            <a:noAutofit/>
          </a:bodyPr>
          <a:lstStyle/>
          <a:p>
            <a:pPr algn="l"/>
            <a:r>
              <a:rPr lang="en-US" sz="1000">
                <a:solidFill>
                  <a:srgbClr val="070154"/>
                </a:solidFill>
                <a:latin typeface="Arial"/>
                <a:cs typeface="Arial"/>
              </a:rPr>
              <a:t>Technical Lead</a:t>
            </a:r>
          </a:p>
        </p:txBody>
      </p:sp>
      <p:sp>
        <p:nvSpPr>
          <p:cNvPr id="73" name="TextBox 72">
            <a:extLst>
              <a:ext uri="{FF2B5EF4-FFF2-40B4-BE49-F238E27FC236}">
                <a16:creationId xmlns:a16="http://schemas.microsoft.com/office/drawing/2014/main" id="{B47AF8A6-3BAF-994D-9465-D58153E2C0AC}"/>
              </a:ext>
            </a:extLst>
          </p:cNvPr>
          <p:cNvSpPr txBox="1"/>
          <p:nvPr/>
        </p:nvSpPr>
        <p:spPr>
          <a:xfrm>
            <a:off x="6985000" y="2768600"/>
            <a:ext cx="711200" cy="190500"/>
          </a:xfrm>
          <a:prstGeom prst="rect">
            <a:avLst/>
          </a:prstGeom>
          <a:noFill/>
        </p:spPr>
        <p:txBody>
          <a:bodyPr vertOverflow="overflow" vert="horz" wrap="none" rtlCol="0" anchor="ctr" anchorCtr="0">
            <a:noAutofit/>
          </a:bodyPr>
          <a:lstStyle/>
          <a:p>
            <a:pPr algn="l"/>
            <a:r>
              <a:rPr lang="en-US" sz="1000" b="1">
                <a:solidFill>
                  <a:srgbClr val="0047FF"/>
                </a:solidFill>
                <a:latin typeface="Arial"/>
                <a:cs typeface="Arial"/>
              </a:rPr>
              <a:t>8 </a:t>
            </a:r>
            <a:r>
              <a:rPr lang="en-US" sz="1000" b="1" err="1">
                <a:solidFill>
                  <a:srgbClr val="0047FF"/>
                </a:solidFill>
                <a:latin typeface="Arial"/>
                <a:cs typeface="Arial"/>
              </a:rPr>
              <a:t>hrs</a:t>
            </a:r>
            <a:r>
              <a:rPr lang="en-US" sz="1000" b="1">
                <a:solidFill>
                  <a:srgbClr val="0047FF"/>
                </a:solidFill>
                <a:latin typeface="Arial"/>
                <a:cs typeface="Arial"/>
              </a:rPr>
              <a:t>/week</a:t>
            </a:r>
          </a:p>
        </p:txBody>
      </p:sp>
      <p:sp>
        <p:nvSpPr>
          <p:cNvPr id="74" name="TextBox 73">
            <a:extLst>
              <a:ext uri="{FF2B5EF4-FFF2-40B4-BE49-F238E27FC236}">
                <a16:creationId xmlns:a16="http://schemas.microsoft.com/office/drawing/2014/main" id="{333CC8BE-6447-254B-B4E4-BECAD9B132CB}"/>
              </a:ext>
            </a:extLst>
          </p:cNvPr>
          <p:cNvSpPr txBox="1"/>
          <p:nvPr/>
        </p:nvSpPr>
        <p:spPr>
          <a:xfrm>
            <a:off x="4876800" y="2984500"/>
            <a:ext cx="2082800" cy="190500"/>
          </a:xfrm>
          <a:prstGeom prst="rect">
            <a:avLst/>
          </a:prstGeom>
          <a:noFill/>
        </p:spPr>
        <p:txBody>
          <a:bodyPr vertOverflow="overflow" vert="horz" wrap="none" rtlCol="0" anchor="ctr" anchorCtr="0">
            <a:noAutofit/>
          </a:bodyPr>
          <a:lstStyle/>
          <a:p>
            <a:pPr algn="l"/>
            <a:r>
              <a:rPr lang="en-US" sz="1000">
                <a:solidFill>
                  <a:srgbClr val="070154"/>
                </a:solidFill>
                <a:latin typeface="Arial"/>
                <a:cs typeface="Arial"/>
              </a:rPr>
              <a:t>Senior Engineer (Nearshore)</a:t>
            </a:r>
          </a:p>
        </p:txBody>
      </p:sp>
      <p:sp>
        <p:nvSpPr>
          <p:cNvPr id="75" name="TextBox 74">
            <a:extLst>
              <a:ext uri="{FF2B5EF4-FFF2-40B4-BE49-F238E27FC236}">
                <a16:creationId xmlns:a16="http://schemas.microsoft.com/office/drawing/2014/main" id="{A9BBB1B0-F7BB-F84F-902B-B6AABEED647A}"/>
              </a:ext>
            </a:extLst>
          </p:cNvPr>
          <p:cNvSpPr txBox="1"/>
          <p:nvPr/>
        </p:nvSpPr>
        <p:spPr>
          <a:xfrm>
            <a:off x="6985000" y="2984500"/>
            <a:ext cx="711200" cy="190500"/>
          </a:xfrm>
          <a:prstGeom prst="rect">
            <a:avLst/>
          </a:prstGeom>
          <a:noFill/>
        </p:spPr>
        <p:txBody>
          <a:bodyPr vertOverflow="overflow" vert="horz" wrap="none" rtlCol="0" anchor="ctr" anchorCtr="0">
            <a:noAutofit/>
          </a:bodyPr>
          <a:lstStyle/>
          <a:p>
            <a:pPr algn="l"/>
            <a:r>
              <a:rPr lang="en-US" sz="1000" b="1">
                <a:solidFill>
                  <a:srgbClr val="0047FF"/>
                </a:solidFill>
                <a:latin typeface="Arial"/>
                <a:cs typeface="Arial"/>
              </a:rPr>
              <a:t>8 </a:t>
            </a:r>
            <a:r>
              <a:rPr lang="en-US" sz="1000" b="1" err="1">
                <a:solidFill>
                  <a:srgbClr val="0047FF"/>
                </a:solidFill>
                <a:latin typeface="Arial"/>
                <a:cs typeface="Arial"/>
              </a:rPr>
              <a:t>hrs</a:t>
            </a:r>
            <a:r>
              <a:rPr lang="en-US" sz="1000" b="1">
                <a:solidFill>
                  <a:srgbClr val="0047FF"/>
                </a:solidFill>
                <a:latin typeface="Arial"/>
                <a:cs typeface="Arial"/>
              </a:rPr>
              <a:t>/week</a:t>
            </a:r>
          </a:p>
        </p:txBody>
      </p:sp>
      <p:sp>
        <p:nvSpPr>
          <p:cNvPr id="76" name="TextBox 75">
            <a:extLst>
              <a:ext uri="{FF2B5EF4-FFF2-40B4-BE49-F238E27FC236}">
                <a16:creationId xmlns:a16="http://schemas.microsoft.com/office/drawing/2014/main" id="{325BA35E-1D9A-014A-903E-5B6F3ED65D18}"/>
              </a:ext>
            </a:extLst>
          </p:cNvPr>
          <p:cNvSpPr txBox="1"/>
          <p:nvPr/>
        </p:nvSpPr>
        <p:spPr>
          <a:xfrm>
            <a:off x="4876800" y="3200400"/>
            <a:ext cx="2082800" cy="190500"/>
          </a:xfrm>
          <a:prstGeom prst="rect">
            <a:avLst/>
          </a:prstGeom>
          <a:noFill/>
        </p:spPr>
        <p:txBody>
          <a:bodyPr vertOverflow="overflow" vert="horz" wrap="none" rtlCol="0" anchor="ctr" anchorCtr="0">
            <a:noAutofit/>
          </a:bodyPr>
          <a:lstStyle/>
          <a:p>
            <a:pPr algn="l"/>
            <a:r>
              <a:rPr lang="en-US" sz="1000">
                <a:solidFill>
                  <a:srgbClr val="070154"/>
                </a:solidFill>
                <a:latin typeface="Arial"/>
                <a:cs typeface="Arial"/>
              </a:rPr>
              <a:t>Oversight / SME</a:t>
            </a:r>
          </a:p>
        </p:txBody>
      </p:sp>
      <p:sp>
        <p:nvSpPr>
          <p:cNvPr id="77" name="TextBox 76">
            <a:extLst>
              <a:ext uri="{FF2B5EF4-FFF2-40B4-BE49-F238E27FC236}">
                <a16:creationId xmlns:a16="http://schemas.microsoft.com/office/drawing/2014/main" id="{FE6A7EE1-4F13-3F4F-B303-6BAD2D6E8C9D}"/>
              </a:ext>
            </a:extLst>
          </p:cNvPr>
          <p:cNvSpPr txBox="1"/>
          <p:nvPr/>
        </p:nvSpPr>
        <p:spPr>
          <a:xfrm>
            <a:off x="6985000" y="3200400"/>
            <a:ext cx="711200" cy="190500"/>
          </a:xfrm>
          <a:prstGeom prst="rect">
            <a:avLst/>
          </a:prstGeom>
          <a:noFill/>
        </p:spPr>
        <p:txBody>
          <a:bodyPr vertOverflow="overflow" vert="horz" wrap="none" rtlCol="0" anchor="ctr" anchorCtr="0">
            <a:noAutofit/>
          </a:bodyPr>
          <a:lstStyle/>
          <a:p>
            <a:r>
              <a:rPr lang="en-US" sz="915" b="1">
                <a:solidFill>
                  <a:srgbClr val="0047FF"/>
                </a:solidFill>
                <a:latin typeface="Arial"/>
                <a:cs typeface="Arial"/>
              </a:rPr>
              <a:t>As needed</a:t>
            </a:r>
          </a:p>
        </p:txBody>
      </p:sp>
    </p:spTree>
    <p:extLst>
      <p:ext uri="{BB962C8B-B14F-4D97-AF65-F5344CB8AC3E}">
        <p14:creationId xmlns:p14="http://schemas.microsoft.com/office/powerpoint/2010/main" val="30704121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 name="Picture 170">
            <a:extLst>
              <a:ext uri="{FF2B5EF4-FFF2-40B4-BE49-F238E27FC236}">
                <a16:creationId xmlns:a16="http://schemas.microsoft.com/office/drawing/2014/main" id="{24CFCEEA-85B6-1D56-89C9-11076779562D}"/>
              </a:ext>
            </a:extLst>
          </p:cNvPr>
          <p:cNvPicPr>
            <a:picLocks noChangeAspect="1"/>
          </p:cNvPicPr>
          <p:nvPr/>
        </p:nvPicPr>
        <p:blipFill>
          <a:blip r:embed="rId3"/>
          <a:stretch>
            <a:fillRect/>
          </a:stretch>
        </p:blipFill>
        <p:spPr>
          <a:xfrm>
            <a:off x="4314466" y="692150"/>
            <a:ext cx="7447613" cy="495300"/>
          </a:xfrm>
          <a:prstGeom prst="rect">
            <a:avLst/>
          </a:prstGeom>
        </p:spPr>
      </p:pic>
      <p:sp>
        <p:nvSpPr>
          <p:cNvPr id="4" name="Slide Number Placeholder 3">
            <a:extLst>
              <a:ext uri="{FF2B5EF4-FFF2-40B4-BE49-F238E27FC236}">
                <a16:creationId xmlns:a16="http://schemas.microsoft.com/office/drawing/2014/main" id="{0E49A1C3-1DA6-4E4D-BADE-14A4F790EC82}"/>
              </a:ext>
            </a:extLst>
          </p:cNvPr>
          <p:cNvSpPr>
            <a:spLocks noGrp="1"/>
          </p:cNvSpPr>
          <p:nvPr>
            <p:ph type="sldNum" idx="11"/>
          </p:nvPr>
        </p:nvSpPr>
        <p:spPr>
          <a:xfrm>
            <a:off x="11201400" y="6356350"/>
            <a:ext cx="304800" cy="365125"/>
          </a:xfrm>
        </p:spPr>
        <p:txBody>
          <a:bodyPr anchor="ctr" anchorCtr="0"/>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79</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6" name="Footer Placeholder 1">
            <a:extLst>
              <a:ext uri="{FF2B5EF4-FFF2-40B4-BE49-F238E27FC236}">
                <a16:creationId xmlns:a16="http://schemas.microsoft.com/office/drawing/2014/main" id="{EBCC07D0-4EB5-5D58-C574-16C7F0408C08}"/>
              </a:ext>
            </a:extLst>
          </p:cNvPr>
          <p:cNvSpPr>
            <a:spLocks noGrp="1"/>
          </p:cNvSpPr>
          <p:nvPr>
            <p:ph type="ftr" idx="10"/>
          </p:nvPr>
        </p:nvSpPr>
        <p:spPr>
          <a:xfrm>
            <a:off x="4314466" y="6454937"/>
            <a:ext cx="6794500" cy="167949"/>
          </a:xfrm>
        </p:spPr>
        <p:txBody>
          <a:bodyPr>
            <a:normAutofit/>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11" name="Rectangle 10">
            <a:extLst>
              <a:ext uri="{FF2B5EF4-FFF2-40B4-BE49-F238E27FC236}">
                <a16:creationId xmlns:a16="http://schemas.microsoft.com/office/drawing/2014/main" id="{B372E76B-8EB8-40E5-B176-FC3AFE654EE0}"/>
              </a:ext>
            </a:extLst>
          </p:cNvPr>
          <p:cNvSpPr>
            <a:spLocks noGrp="1"/>
          </p:cNvSpPr>
          <p:nvPr/>
        </p:nvSpPr>
        <p:spPr>
          <a:xfrm>
            <a:off x="685800" y="1384300"/>
            <a:ext cx="2457450" cy="552450"/>
          </a:xfrm>
          <a:prstGeom prst="rect">
            <a:avLst/>
          </a:prstGeom>
          <a:solidFill>
            <a:srgbClr val="F2F5F9"/>
          </a:solidFill>
          <a:ln w="7620">
            <a:solidFill>
              <a:srgbClr val="CED7E6"/>
            </a:solidFill>
            <a:prstDash val="solid"/>
          </a:ln>
        </p:spPr>
        <p:txBody>
          <a:bodyPr/>
          <a:lstStyle/>
          <a:p>
            <a:endParaRPr lang="en-US"/>
          </a:p>
        </p:txBody>
      </p:sp>
      <p:sp>
        <p:nvSpPr>
          <p:cNvPr id="13" name="Rectangle 12">
            <a:extLst>
              <a:ext uri="{FF2B5EF4-FFF2-40B4-BE49-F238E27FC236}">
                <a16:creationId xmlns:a16="http://schemas.microsoft.com/office/drawing/2014/main" id="{71EB7DAA-BDAD-4815-AFB8-44CF98B6FDB9}"/>
              </a:ext>
            </a:extLst>
          </p:cNvPr>
          <p:cNvSpPr>
            <a:spLocks noGrp="1"/>
          </p:cNvSpPr>
          <p:nvPr/>
        </p:nvSpPr>
        <p:spPr>
          <a:xfrm>
            <a:off x="3143250" y="1384300"/>
            <a:ext cx="3848100" cy="552450"/>
          </a:xfrm>
          <a:prstGeom prst="rect">
            <a:avLst/>
          </a:prstGeom>
          <a:solidFill>
            <a:srgbClr val="F3F6FA"/>
          </a:solidFill>
          <a:ln w="7620">
            <a:solidFill>
              <a:srgbClr val="CED7E6"/>
            </a:solidFill>
            <a:prstDash val="solid"/>
          </a:ln>
        </p:spPr>
        <p:txBody>
          <a:bodyPr/>
          <a:lstStyle/>
          <a:p>
            <a:endParaRPr lang="en-US"/>
          </a:p>
        </p:txBody>
      </p:sp>
      <p:sp>
        <p:nvSpPr>
          <p:cNvPr id="22" name="Rectangle 21">
            <a:extLst>
              <a:ext uri="{FF2B5EF4-FFF2-40B4-BE49-F238E27FC236}">
                <a16:creationId xmlns:a16="http://schemas.microsoft.com/office/drawing/2014/main" id="{CE0CFD10-2A34-4B1B-9517-97453284B1D0}"/>
              </a:ext>
            </a:extLst>
          </p:cNvPr>
          <p:cNvSpPr>
            <a:spLocks noGrp="1"/>
          </p:cNvSpPr>
          <p:nvPr/>
        </p:nvSpPr>
        <p:spPr>
          <a:xfrm>
            <a:off x="6991350" y="1384300"/>
            <a:ext cx="4514850" cy="552450"/>
          </a:xfrm>
          <a:prstGeom prst="rect">
            <a:avLst/>
          </a:prstGeom>
          <a:solidFill>
            <a:srgbClr val="1748FF"/>
          </a:solidFill>
          <a:ln w="8890">
            <a:solidFill>
              <a:srgbClr val="1748FF"/>
            </a:solidFill>
            <a:prstDash val="solid"/>
          </a:ln>
        </p:spPr>
        <p:txBody>
          <a:bodyPr/>
          <a:lstStyle/>
          <a:p>
            <a:endParaRPr lang="en-US"/>
          </a:p>
        </p:txBody>
      </p:sp>
      <p:sp>
        <p:nvSpPr>
          <p:cNvPr id="26" name="Rectangle 25">
            <a:extLst>
              <a:ext uri="{FF2B5EF4-FFF2-40B4-BE49-F238E27FC236}">
                <a16:creationId xmlns:a16="http://schemas.microsoft.com/office/drawing/2014/main" id="{1FE6858A-BB32-4E53-AA16-7845D9F2BEA9}"/>
              </a:ext>
            </a:extLst>
          </p:cNvPr>
          <p:cNvSpPr>
            <a:spLocks noGrp="1"/>
          </p:cNvSpPr>
          <p:nvPr/>
        </p:nvSpPr>
        <p:spPr>
          <a:xfrm>
            <a:off x="685800" y="1936750"/>
            <a:ext cx="2457450" cy="523875"/>
          </a:xfrm>
          <a:prstGeom prst="rect">
            <a:avLst/>
          </a:prstGeom>
          <a:solidFill>
            <a:srgbClr val="FFFFFF"/>
          </a:solidFill>
          <a:ln w="7620">
            <a:solidFill>
              <a:srgbClr val="CED7E6"/>
            </a:solidFill>
            <a:prstDash val="solid"/>
          </a:ln>
        </p:spPr>
        <p:txBody>
          <a:bodyPr/>
          <a:lstStyle/>
          <a:p>
            <a:endParaRPr lang="en-US"/>
          </a:p>
        </p:txBody>
      </p:sp>
      <p:sp>
        <p:nvSpPr>
          <p:cNvPr id="28" name="Rectangle 27">
            <a:extLst>
              <a:ext uri="{FF2B5EF4-FFF2-40B4-BE49-F238E27FC236}">
                <a16:creationId xmlns:a16="http://schemas.microsoft.com/office/drawing/2014/main" id="{DE619B3D-4648-4DB4-B29C-5D16CE6FA91F}"/>
              </a:ext>
            </a:extLst>
          </p:cNvPr>
          <p:cNvSpPr>
            <a:spLocks noGrp="1"/>
          </p:cNvSpPr>
          <p:nvPr/>
        </p:nvSpPr>
        <p:spPr>
          <a:xfrm>
            <a:off x="3143250" y="1936750"/>
            <a:ext cx="3848100" cy="523875"/>
          </a:xfrm>
          <a:prstGeom prst="rect">
            <a:avLst/>
          </a:prstGeom>
          <a:solidFill>
            <a:srgbClr val="FFFFFF"/>
          </a:solidFill>
          <a:ln w="7620">
            <a:solidFill>
              <a:srgbClr val="CED7E6"/>
            </a:solidFill>
            <a:prstDash val="solid"/>
          </a:ln>
        </p:spPr>
        <p:txBody>
          <a:bodyPr/>
          <a:lstStyle/>
          <a:p>
            <a:endParaRPr lang="en-US"/>
          </a:p>
        </p:txBody>
      </p:sp>
      <p:sp>
        <p:nvSpPr>
          <p:cNvPr id="29" name="Rectangle 28">
            <a:extLst>
              <a:ext uri="{FF2B5EF4-FFF2-40B4-BE49-F238E27FC236}">
                <a16:creationId xmlns:a16="http://schemas.microsoft.com/office/drawing/2014/main" id="{D063B6C8-4D00-483E-AA6C-1FC03DC94216}"/>
              </a:ext>
            </a:extLst>
          </p:cNvPr>
          <p:cNvSpPr>
            <a:spLocks noGrp="1"/>
          </p:cNvSpPr>
          <p:nvPr/>
        </p:nvSpPr>
        <p:spPr>
          <a:xfrm>
            <a:off x="3289300" y="2120900"/>
            <a:ext cx="3556000" cy="304800"/>
          </a:xfrm>
          <a:prstGeom prst="rect">
            <a:avLst/>
          </a:prstGeom>
          <a:noFill/>
          <a:ln w="0">
            <a:noFill/>
            <a:prstDash val="solid"/>
          </a:ln>
        </p:spPr>
        <p:txBody>
          <a:bodyPr wrap="square" lIns="0" tIns="0" rIns="0" bIns="0" anchor="ctr" anchorCtr="0">
            <a:normAutofit lnSpcReduction="10000"/>
          </a:bodyPr>
          <a:lstStyle/>
          <a:p>
            <a:pPr algn="ctr">
              <a:defRPr sz="788" b="0" i="0">
                <a:solidFill>
                  <a:srgbClr val="50658E"/>
                </a:solidFill>
                <a:latin typeface="Arial"/>
                <a:ea typeface="Arial"/>
                <a:cs typeface="Arial"/>
              </a:defRPr>
            </a:pPr>
            <a:r>
              <a:rPr lang="en-US" sz="770" i="0">
                <a:solidFill>
                  <a:srgbClr val="17335F"/>
                </a:solidFill>
                <a:latin typeface="Arial"/>
                <a:ea typeface="Arial"/>
                <a:cs typeface="Arial"/>
              </a:rPr>
              <a:t>Portfolio assessment, cloud readiness
and rationalization</a:t>
            </a:r>
          </a:p>
        </p:txBody>
      </p:sp>
      <p:sp>
        <p:nvSpPr>
          <p:cNvPr id="34" name="Rectangle 33">
            <a:extLst>
              <a:ext uri="{FF2B5EF4-FFF2-40B4-BE49-F238E27FC236}">
                <a16:creationId xmlns:a16="http://schemas.microsoft.com/office/drawing/2014/main" id="{08D13992-C7DD-41A1-9918-CF9C92F352E6}"/>
              </a:ext>
            </a:extLst>
          </p:cNvPr>
          <p:cNvSpPr>
            <a:spLocks noGrp="1"/>
          </p:cNvSpPr>
          <p:nvPr/>
        </p:nvSpPr>
        <p:spPr>
          <a:xfrm>
            <a:off x="6991350" y="1936750"/>
            <a:ext cx="4514850" cy="523875"/>
          </a:xfrm>
          <a:prstGeom prst="rect">
            <a:avLst/>
          </a:prstGeom>
          <a:solidFill>
            <a:srgbClr val="EDF3FF"/>
          </a:solidFill>
          <a:ln w="8890">
            <a:solidFill>
              <a:srgbClr val="AFC2FF"/>
            </a:solidFill>
            <a:prstDash val="solid"/>
          </a:ln>
        </p:spPr>
        <p:txBody>
          <a:bodyPr/>
          <a:lstStyle/>
          <a:p>
            <a:endParaRPr lang="en-US"/>
          </a:p>
        </p:txBody>
      </p:sp>
      <p:sp>
        <p:nvSpPr>
          <p:cNvPr id="36" name="Rectangle 35">
            <a:extLst>
              <a:ext uri="{FF2B5EF4-FFF2-40B4-BE49-F238E27FC236}">
                <a16:creationId xmlns:a16="http://schemas.microsoft.com/office/drawing/2014/main" id="{AEBADF60-5502-4563-B588-685CE197967F}"/>
              </a:ext>
            </a:extLst>
          </p:cNvPr>
          <p:cNvSpPr>
            <a:spLocks noGrp="1"/>
          </p:cNvSpPr>
          <p:nvPr/>
        </p:nvSpPr>
        <p:spPr>
          <a:xfrm>
            <a:off x="7150100" y="2120900"/>
            <a:ext cx="4197350" cy="304800"/>
          </a:xfrm>
          <a:prstGeom prst="rect">
            <a:avLst/>
          </a:prstGeom>
          <a:noFill/>
          <a:ln w="0">
            <a:noFill/>
            <a:prstDash val="solid"/>
          </a:ln>
        </p:spPr>
        <p:txBody>
          <a:bodyPr wrap="square" lIns="0" tIns="0" rIns="0" bIns="0" anchor="ctr" anchorCtr="0">
            <a:normAutofit/>
          </a:bodyPr>
          <a:lstStyle/>
          <a:p>
            <a:pPr algn="ctr">
              <a:defRPr sz="818" b="1" i="0">
                <a:solidFill>
                  <a:srgbClr val="070154"/>
                </a:solidFill>
                <a:latin typeface="Arial"/>
                <a:ea typeface="Arial"/>
                <a:cs typeface="Arial"/>
              </a:defRPr>
            </a:pPr>
            <a:r>
              <a:rPr lang="en-US" sz="770" b="1" i="0">
                <a:solidFill>
                  <a:srgbClr val="0B1A5C"/>
                </a:solidFill>
                <a:latin typeface="Arial"/>
                <a:ea typeface="Arial"/>
                <a:cs typeface="Arial"/>
              </a:rPr>
              <a:t>Business-prioritized portfolio plan</a:t>
            </a:r>
          </a:p>
        </p:txBody>
      </p:sp>
      <p:sp>
        <p:nvSpPr>
          <p:cNvPr id="37" name="Rectangle 36">
            <a:extLst>
              <a:ext uri="{FF2B5EF4-FFF2-40B4-BE49-F238E27FC236}">
                <a16:creationId xmlns:a16="http://schemas.microsoft.com/office/drawing/2014/main" id="{A2AE762C-AE89-418F-AE78-6185F30C21E5}"/>
              </a:ext>
            </a:extLst>
          </p:cNvPr>
          <p:cNvSpPr>
            <a:spLocks noGrp="1"/>
          </p:cNvSpPr>
          <p:nvPr/>
        </p:nvSpPr>
        <p:spPr>
          <a:xfrm>
            <a:off x="685800" y="2460625"/>
            <a:ext cx="2457450" cy="523875"/>
          </a:xfrm>
          <a:prstGeom prst="rect">
            <a:avLst/>
          </a:prstGeom>
          <a:solidFill>
            <a:srgbClr val="F7F9FC"/>
          </a:solidFill>
          <a:ln w="7620">
            <a:solidFill>
              <a:srgbClr val="CED7E6"/>
            </a:solidFill>
            <a:prstDash val="solid"/>
          </a:ln>
        </p:spPr>
        <p:txBody>
          <a:bodyPr/>
          <a:lstStyle/>
          <a:p>
            <a:endParaRPr lang="en-US"/>
          </a:p>
        </p:txBody>
      </p:sp>
      <p:sp>
        <p:nvSpPr>
          <p:cNvPr id="39" name="Rectangle 38">
            <a:extLst>
              <a:ext uri="{FF2B5EF4-FFF2-40B4-BE49-F238E27FC236}">
                <a16:creationId xmlns:a16="http://schemas.microsoft.com/office/drawing/2014/main" id="{80365BC5-5AB5-44CE-9B59-1FAD7F956576}"/>
              </a:ext>
            </a:extLst>
          </p:cNvPr>
          <p:cNvSpPr>
            <a:spLocks noGrp="1"/>
          </p:cNvSpPr>
          <p:nvPr/>
        </p:nvSpPr>
        <p:spPr>
          <a:xfrm>
            <a:off x="3143250" y="2460625"/>
            <a:ext cx="3848100" cy="523875"/>
          </a:xfrm>
          <a:prstGeom prst="rect">
            <a:avLst/>
          </a:prstGeom>
          <a:solidFill>
            <a:srgbClr val="F7F9FC"/>
          </a:solidFill>
          <a:ln w="7620">
            <a:solidFill>
              <a:srgbClr val="CED7E6"/>
            </a:solidFill>
            <a:prstDash val="solid"/>
          </a:ln>
        </p:spPr>
        <p:txBody>
          <a:bodyPr/>
          <a:lstStyle/>
          <a:p>
            <a:endParaRPr lang="en-US"/>
          </a:p>
        </p:txBody>
      </p:sp>
      <p:sp>
        <p:nvSpPr>
          <p:cNvPr id="40" name="Rectangle 39">
            <a:extLst>
              <a:ext uri="{FF2B5EF4-FFF2-40B4-BE49-F238E27FC236}">
                <a16:creationId xmlns:a16="http://schemas.microsoft.com/office/drawing/2014/main" id="{C2FA07E2-BC79-421D-BB32-F5193FC1CA3A}"/>
              </a:ext>
            </a:extLst>
          </p:cNvPr>
          <p:cNvSpPr>
            <a:spLocks noGrp="1"/>
          </p:cNvSpPr>
          <p:nvPr/>
        </p:nvSpPr>
        <p:spPr>
          <a:xfrm>
            <a:off x="3289300" y="2644775"/>
            <a:ext cx="3556000" cy="304800"/>
          </a:xfrm>
          <a:prstGeom prst="rect">
            <a:avLst/>
          </a:prstGeom>
          <a:noFill/>
          <a:ln w="0">
            <a:noFill/>
            <a:prstDash val="solid"/>
          </a:ln>
        </p:spPr>
        <p:txBody>
          <a:bodyPr wrap="square" lIns="0" tIns="0" rIns="0" bIns="0" anchor="ctr" anchorCtr="0">
            <a:normAutofit lnSpcReduction="10000"/>
          </a:bodyPr>
          <a:lstStyle/>
          <a:p>
            <a:pPr algn="ctr">
              <a:defRPr sz="788" b="0" i="0">
                <a:solidFill>
                  <a:srgbClr val="50658E"/>
                </a:solidFill>
                <a:latin typeface="Arial"/>
                <a:ea typeface="Arial"/>
                <a:cs typeface="Arial"/>
              </a:defRPr>
            </a:pPr>
            <a:r>
              <a:rPr lang="en-US" sz="770" i="0">
                <a:solidFill>
                  <a:srgbClr val="17335F"/>
                </a:solidFill>
                <a:latin typeface="Arial"/>
                <a:ea typeface="Arial"/>
                <a:cs typeface="Arial"/>
              </a:rPr>
              <a:t>Semantic architecture, dependencies
and data flows</a:t>
            </a:r>
          </a:p>
        </p:txBody>
      </p:sp>
      <p:sp>
        <p:nvSpPr>
          <p:cNvPr id="45" name="Rectangle 44">
            <a:extLst>
              <a:ext uri="{FF2B5EF4-FFF2-40B4-BE49-F238E27FC236}">
                <a16:creationId xmlns:a16="http://schemas.microsoft.com/office/drawing/2014/main" id="{DB792087-B9C3-472E-931B-FA152034C766}"/>
              </a:ext>
            </a:extLst>
          </p:cNvPr>
          <p:cNvSpPr>
            <a:spLocks noGrp="1"/>
          </p:cNvSpPr>
          <p:nvPr/>
        </p:nvSpPr>
        <p:spPr>
          <a:xfrm>
            <a:off x="6991350" y="2460625"/>
            <a:ext cx="4514850" cy="523875"/>
          </a:xfrm>
          <a:prstGeom prst="rect">
            <a:avLst/>
          </a:prstGeom>
          <a:solidFill>
            <a:srgbClr val="EDF3FF"/>
          </a:solidFill>
          <a:ln w="8890">
            <a:solidFill>
              <a:srgbClr val="AFC2FF"/>
            </a:solidFill>
            <a:prstDash val="solid"/>
          </a:ln>
        </p:spPr>
        <p:txBody>
          <a:bodyPr/>
          <a:lstStyle/>
          <a:p>
            <a:endParaRPr lang="en-US"/>
          </a:p>
        </p:txBody>
      </p:sp>
      <p:sp>
        <p:nvSpPr>
          <p:cNvPr id="47" name="Rectangle 46">
            <a:extLst>
              <a:ext uri="{FF2B5EF4-FFF2-40B4-BE49-F238E27FC236}">
                <a16:creationId xmlns:a16="http://schemas.microsoft.com/office/drawing/2014/main" id="{1C9EC413-2E34-4436-85F1-9B552A756AA8}"/>
              </a:ext>
            </a:extLst>
          </p:cNvPr>
          <p:cNvSpPr>
            <a:spLocks noGrp="1"/>
          </p:cNvSpPr>
          <p:nvPr/>
        </p:nvSpPr>
        <p:spPr>
          <a:xfrm>
            <a:off x="7150100" y="2644775"/>
            <a:ext cx="4197350" cy="304800"/>
          </a:xfrm>
          <a:prstGeom prst="rect">
            <a:avLst/>
          </a:prstGeom>
          <a:noFill/>
          <a:ln w="0">
            <a:noFill/>
            <a:prstDash val="solid"/>
          </a:ln>
        </p:spPr>
        <p:txBody>
          <a:bodyPr wrap="square" lIns="0" tIns="0" rIns="0" bIns="0" anchor="ctr" anchorCtr="0">
            <a:normAutofit lnSpcReduction="10000"/>
          </a:bodyPr>
          <a:lstStyle/>
          <a:p>
            <a:pPr algn="ctr">
              <a:defRPr sz="818" b="1" i="0">
                <a:solidFill>
                  <a:srgbClr val="070154"/>
                </a:solidFill>
                <a:latin typeface="Arial"/>
                <a:ea typeface="Arial"/>
                <a:cs typeface="Arial"/>
              </a:defRPr>
            </a:pPr>
            <a:r>
              <a:rPr lang="en-US" sz="770" b="1" i="0">
                <a:solidFill>
                  <a:srgbClr val="0B1A5C"/>
                </a:solidFill>
                <a:latin typeface="Arial"/>
                <a:ea typeface="Arial"/>
                <a:cs typeface="Arial"/>
              </a:rPr>
              <a:t>Expert-validated architecture
and change strategy</a:t>
            </a:r>
          </a:p>
        </p:txBody>
      </p:sp>
      <p:sp>
        <p:nvSpPr>
          <p:cNvPr id="48" name="Rectangle 47">
            <a:extLst>
              <a:ext uri="{FF2B5EF4-FFF2-40B4-BE49-F238E27FC236}">
                <a16:creationId xmlns:a16="http://schemas.microsoft.com/office/drawing/2014/main" id="{3892345E-FE53-4DE9-92E7-D655C50C3EC4}"/>
              </a:ext>
            </a:extLst>
          </p:cNvPr>
          <p:cNvSpPr>
            <a:spLocks noGrp="1"/>
          </p:cNvSpPr>
          <p:nvPr/>
        </p:nvSpPr>
        <p:spPr>
          <a:xfrm>
            <a:off x="685800" y="2984500"/>
            <a:ext cx="2457450" cy="523875"/>
          </a:xfrm>
          <a:prstGeom prst="rect">
            <a:avLst/>
          </a:prstGeom>
          <a:solidFill>
            <a:srgbClr val="FFFFFF"/>
          </a:solidFill>
          <a:ln w="7620">
            <a:solidFill>
              <a:srgbClr val="CED7E6"/>
            </a:solidFill>
            <a:prstDash val="solid"/>
          </a:ln>
        </p:spPr>
        <p:txBody>
          <a:bodyPr/>
          <a:lstStyle/>
          <a:p>
            <a:endParaRPr lang="en-US"/>
          </a:p>
        </p:txBody>
      </p:sp>
      <p:sp>
        <p:nvSpPr>
          <p:cNvPr id="50" name="Rectangle 49">
            <a:extLst>
              <a:ext uri="{FF2B5EF4-FFF2-40B4-BE49-F238E27FC236}">
                <a16:creationId xmlns:a16="http://schemas.microsoft.com/office/drawing/2014/main" id="{85D6652C-91A6-408A-933D-BC259FC94343}"/>
              </a:ext>
            </a:extLst>
          </p:cNvPr>
          <p:cNvSpPr>
            <a:spLocks noGrp="1"/>
          </p:cNvSpPr>
          <p:nvPr/>
        </p:nvSpPr>
        <p:spPr>
          <a:xfrm>
            <a:off x="3143250" y="2984500"/>
            <a:ext cx="3848100" cy="523875"/>
          </a:xfrm>
          <a:prstGeom prst="rect">
            <a:avLst/>
          </a:prstGeom>
          <a:solidFill>
            <a:srgbClr val="FFFFFF"/>
          </a:solidFill>
          <a:ln w="7620">
            <a:solidFill>
              <a:srgbClr val="CED7E6"/>
            </a:solidFill>
            <a:prstDash val="solid"/>
          </a:ln>
        </p:spPr>
        <p:txBody>
          <a:bodyPr/>
          <a:lstStyle/>
          <a:p>
            <a:endParaRPr lang="en-US"/>
          </a:p>
        </p:txBody>
      </p:sp>
      <p:sp>
        <p:nvSpPr>
          <p:cNvPr id="51" name="Rectangle 50">
            <a:extLst>
              <a:ext uri="{FF2B5EF4-FFF2-40B4-BE49-F238E27FC236}">
                <a16:creationId xmlns:a16="http://schemas.microsoft.com/office/drawing/2014/main" id="{2144AC11-76C8-4CCE-A444-358B6EA44257}"/>
              </a:ext>
            </a:extLst>
          </p:cNvPr>
          <p:cNvSpPr>
            <a:spLocks noGrp="1"/>
          </p:cNvSpPr>
          <p:nvPr/>
        </p:nvSpPr>
        <p:spPr>
          <a:xfrm>
            <a:off x="3289300" y="3168650"/>
            <a:ext cx="3556000" cy="304800"/>
          </a:xfrm>
          <a:prstGeom prst="rect">
            <a:avLst/>
          </a:prstGeom>
          <a:noFill/>
          <a:ln w="0">
            <a:noFill/>
            <a:prstDash val="solid"/>
          </a:ln>
        </p:spPr>
        <p:txBody>
          <a:bodyPr wrap="square" lIns="0" tIns="0" rIns="0" bIns="0" anchor="ctr" anchorCtr="0">
            <a:normAutofit lnSpcReduction="10000"/>
          </a:bodyPr>
          <a:lstStyle/>
          <a:p>
            <a:pPr algn="ctr">
              <a:defRPr sz="788" b="0" i="0">
                <a:solidFill>
                  <a:srgbClr val="50658E"/>
                </a:solidFill>
                <a:latin typeface="Arial"/>
                <a:ea typeface="Arial"/>
                <a:cs typeface="Arial"/>
              </a:defRPr>
            </a:pPr>
            <a:r>
              <a:rPr lang="en-US" sz="770" i="0">
                <a:solidFill>
                  <a:srgbClr val="17335F"/>
                </a:solidFill>
                <a:latin typeface="Arial"/>
                <a:ea typeface="Arial"/>
                <a:cs typeface="Arial"/>
              </a:rPr>
              <a:t>AI summaries, business rules
and technical specifications</a:t>
            </a:r>
          </a:p>
        </p:txBody>
      </p:sp>
      <p:sp>
        <p:nvSpPr>
          <p:cNvPr id="56" name="Rectangle 55">
            <a:extLst>
              <a:ext uri="{FF2B5EF4-FFF2-40B4-BE49-F238E27FC236}">
                <a16:creationId xmlns:a16="http://schemas.microsoft.com/office/drawing/2014/main" id="{8E6A9939-79C2-455B-9EF9-FFBDF84F226D}"/>
              </a:ext>
            </a:extLst>
          </p:cNvPr>
          <p:cNvSpPr>
            <a:spLocks noGrp="1"/>
          </p:cNvSpPr>
          <p:nvPr/>
        </p:nvSpPr>
        <p:spPr>
          <a:xfrm>
            <a:off x="6991350" y="2984500"/>
            <a:ext cx="4514850" cy="523875"/>
          </a:xfrm>
          <a:prstGeom prst="rect">
            <a:avLst/>
          </a:prstGeom>
          <a:solidFill>
            <a:srgbClr val="EDF3FF"/>
          </a:solidFill>
          <a:ln w="8890">
            <a:solidFill>
              <a:srgbClr val="AFC2FF"/>
            </a:solidFill>
            <a:prstDash val="solid"/>
          </a:ln>
        </p:spPr>
        <p:txBody>
          <a:bodyPr/>
          <a:lstStyle/>
          <a:p>
            <a:endParaRPr lang="en-US"/>
          </a:p>
        </p:txBody>
      </p:sp>
      <p:sp>
        <p:nvSpPr>
          <p:cNvPr id="58" name="Rectangle 57">
            <a:extLst>
              <a:ext uri="{FF2B5EF4-FFF2-40B4-BE49-F238E27FC236}">
                <a16:creationId xmlns:a16="http://schemas.microsoft.com/office/drawing/2014/main" id="{B5618FB8-5802-43B3-907C-FE81D2A4590E}"/>
              </a:ext>
            </a:extLst>
          </p:cNvPr>
          <p:cNvSpPr>
            <a:spLocks noGrp="1"/>
          </p:cNvSpPr>
          <p:nvPr/>
        </p:nvSpPr>
        <p:spPr>
          <a:xfrm>
            <a:off x="7150100" y="3168650"/>
            <a:ext cx="4197350" cy="304800"/>
          </a:xfrm>
          <a:prstGeom prst="rect">
            <a:avLst/>
          </a:prstGeom>
          <a:noFill/>
          <a:ln w="0">
            <a:noFill/>
            <a:prstDash val="solid"/>
          </a:ln>
        </p:spPr>
        <p:txBody>
          <a:bodyPr wrap="square" lIns="0" tIns="0" rIns="0" bIns="0" anchor="ctr" anchorCtr="0">
            <a:normAutofit/>
          </a:bodyPr>
          <a:lstStyle/>
          <a:p>
            <a:pPr algn="ctr">
              <a:defRPr sz="818" b="1" i="0">
                <a:solidFill>
                  <a:srgbClr val="070154"/>
                </a:solidFill>
                <a:latin typeface="Arial"/>
                <a:ea typeface="Arial"/>
                <a:cs typeface="Arial"/>
              </a:defRPr>
            </a:pPr>
            <a:r>
              <a:rPr lang="en-US" sz="770" b="1" i="0">
                <a:solidFill>
                  <a:srgbClr val="0B1A5C"/>
                </a:solidFill>
                <a:latin typeface="Arial"/>
                <a:ea typeface="Arial"/>
                <a:cs typeface="Arial"/>
              </a:rPr>
              <a:t>SME-validated functional model</a:t>
            </a:r>
          </a:p>
        </p:txBody>
      </p:sp>
      <p:sp>
        <p:nvSpPr>
          <p:cNvPr id="59" name="Rectangle 58">
            <a:extLst>
              <a:ext uri="{FF2B5EF4-FFF2-40B4-BE49-F238E27FC236}">
                <a16:creationId xmlns:a16="http://schemas.microsoft.com/office/drawing/2014/main" id="{619B5804-638D-40EF-8932-228E9C4F95DB}"/>
              </a:ext>
            </a:extLst>
          </p:cNvPr>
          <p:cNvSpPr>
            <a:spLocks noGrp="1"/>
          </p:cNvSpPr>
          <p:nvPr/>
        </p:nvSpPr>
        <p:spPr>
          <a:xfrm>
            <a:off x="685800" y="3508375"/>
            <a:ext cx="2457450" cy="523875"/>
          </a:xfrm>
          <a:prstGeom prst="rect">
            <a:avLst/>
          </a:prstGeom>
          <a:solidFill>
            <a:srgbClr val="F7F9FC"/>
          </a:solidFill>
          <a:ln w="7620">
            <a:solidFill>
              <a:srgbClr val="CED7E6"/>
            </a:solidFill>
            <a:prstDash val="solid"/>
          </a:ln>
        </p:spPr>
        <p:txBody>
          <a:bodyPr/>
          <a:lstStyle/>
          <a:p>
            <a:endParaRPr lang="en-US"/>
          </a:p>
        </p:txBody>
      </p:sp>
      <p:sp>
        <p:nvSpPr>
          <p:cNvPr id="61" name="Rectangle 60">
            <a:extLst>
              <a:ext uri="{FF2B5EF4-FFF2-40B4-BE49-F238E27FC236}">
                <a16:creationId xmlns:a16="http://schemas.microsoft.com/office/drawing/2014/main" id="{579AE37F-B319-473B-A427-53501724BF4A}"/>
              </a:ext>
            </a:extLst>
          </p:cNvPr>
          <p:cNvSpPr>
            <a:spLocks noGrp="1"/>
          </p:cNvSpPr>
          <p:nvPr/>
        </p:nvSpPr>
        <p:spPr>
          <a:xfrm>
            <a:off x="3143250" y="3508375"/>
            <a:ext cx="3848100" cy="523875"/>
          </a:xfrm>
          <a:prstGeom prst="rect">
            <a:avLst/>
          </a:prstGeom>
          <a:solidFill>
            <a:srgbClr val="F7F9FC"/>
          </a:solidFill>
          <a:ln w="7620">
            <a:solidFill>
              <a:srgbClr val="CED7E6"/>
            </a:solidFill>
            <a:prstDash val="solid"/>
          </a:ln>
        </p:spPr>
        <p:txBody>
          <a:bodyPr/>
          <a:lstStyle/>
          <a:p>
            <a:endParaRPr lang="en-US"/>
          </a:p>
        </p:txBody>
      </p:sp>
      <p:sp>
        <p:nvSpPr>
          <p:cNvPr id="62" name="Rectangle 61">
            <a:extLst>
              <a:ext uri="{FF2B5EF4-FFF2-40B4-BE49-F238E27FC236}">
                <a16:creationId xmlns:a16="http://schemas.microsoft.com/office/drawing/2014/main" id="{E0747104-7F33-466B-A380-3AC992D30F21}"/>
              </a:ext>
            </a:extLst>
          </p:cNvPr>
          <p:cNvSpPr>
            <a:spLocks noGrp="1"/>
          </p:cNvSpPr>
          <p:nvPr/>
        </p:nvSpPr>
        <p:spPr>
          <a:xfrm>
            <a:off x="3289300" y="3692525"/>
            <a:ext cx="3556000" cy="304800"/>
          </a:xfrm>
          <a:prstGeom prst="rect">
            <a:avLst/>
          </a:prstGeom>
          <a:noFill/>
          <a:ln w="0">
            <a:noFill/>
            <a:prstDash val="solid"/>
          </a:ln>
        </p:spPr>
        <p:txBody>
          <a:bodyPr wrap="square" lIns="0" tIns="0" rIns="0" bIns="0" anchor="ctr" anchorCtr="0">
            <a:normAutofit lnSpcReduction="10000"/>
          </a:bodyPr>
          <a:lstStyle/>
          <a:p>
            <a:pPr algn="ctr">
              <a:defRPr sz="788" b="0" i="0">
                <a:solidFill>
                  <a:srgbClr val="50658E"/>
                </a:solidFill>
                <a:latin typeface="Arial"/>
                <a:ea typeface="Arial"/>
                <a:cs typeface="Arial"/>
              </a:defRPr>
            </a:pPr>
            <a:r>
              <a:rPr lang="en-US" sz="770" i="0">
                <a:solidFill>
                  <a:srgbClr val="17335F"/>
                </a:solidFill>
                <a:latin typeface="Arial"/>
                <a:ea typeface="Arial"/>
                <a:cs typeface="Arial"/>
              </a:rPr>
              <a:t>Business context, technical scoring
and decision evidence</a:t>
            </a:r>
          </a:p>
        </p:txBody>
      </p:sp>
      <p:sp>
        <p:nvSpPr>
          <p:cNvPr id="67" name="Rectangle 66">
            <a:extLst>
              <a:ext uri="{FF2B5EF4-FFF2-40B4-BE49-F238E27FC236}">
                <a16:creationId xmlns:a16="http://schemas.microsoft.com/office/drawing/2014/main" id="{F14E08B0-10E3-4A17-B9F2-B6AB241855C8}"/>
              </a:ext>
            </a:extLst>
          </p:cNvPr>
          <p:cNvSpPr>
            <a:spLocks noGrp="1"/>
          </p:cNvSpPr>
          <p:nvPr/>
        </p:nvSpPr>
        <p:spPr>
          <a:xfrm>
            <a:off x="6991350" y="3508375"/>
            <a:ext cx="4514850" cy="523875"/>
          </a:xfrm>
          <a:prstGeom prst="rect">
            <a:avLst/>
          </a:prstGeom>
          <a:solidFill>
            <a:srgbClr val="EDF3FF"/>
          </a:solidFill>
          <a:ln w="8890">
            <a:solidFill>
              <a:srgbClr val="AFC2FF"/>
            </a:solidFill>
            <a:prstDash val="solid"/>
          </a:ln>
        </p:spPr>
        <p:txBody>
          <a:bodyPr/>
          <a:lstStyle/>
          <a:p>
            <a:endParaRPr lang="en-US"/>
          </a:p>
        </p:txBody>
      </p:sp>
      <p:sp>
        <p:nvSpPr>
          <p:cNvPr id="69" name="Rectangle 68">
            <a:extLst>
              <a:ext uri="{FF2B5EF4-FFF2-40B4-BE49-F238E27FC236}">
                <a16:creationId xmlns:a16="http://schemas.microsoft.com/office/drawing/2014/main" id="{9ABB170B-4EA7-4A09-B7B3-BE577F50906A}"/>
              </a:ext>
            </a:extLst>
          </p:cNvPr>
          <p:cNvSpPr>
            <a:spLocks noGrp="1"/>
          </p:cNvSpPr>
          <p:nvPr/>
        </p:nvSpPr>
        <p:spPr>
          <a:xfrm>
            <a:off x="7150100" y="3692525"/>
            <a:ext cx="4197350" cy="304800"/>
          </a:xfrm>
          <a:prstGeom prst="rect">
            <a:avLst/>
          </a:prstGeom>
          <a:noFill/>
          <a:ln w="0">
            <a:noFill/>
            <a:prstDash val="solid"/>
          </a:ln>
        </p:spPr>
        <p:txBody>
          <a:bodyPr wrap="square" lIns="0" tIns="0" rIns="0" bIns="0" anchor="ctr" anchorCtr="0">
            <a:normAutofit lnSpcReduction="10000"/>
          </a:bodyPr>
          <a:lstStyle/>
          <a:p>
            <a:pPr algn="ctr">
              <a:defRPr sz="818" b="1" i="0">
                <a:solidFill>
                  <a:srgbClr val="070154"/>
                </a:solidFill>
                <a:latin typeface="Arial"/>
                <a:ea typeface="Arial"/>
                <a:cs typeface="Arial"/>
              </a:defRPr>
            </a:pPr>
            <a:r>
              <a:rPr lang="en-US" sz="770" b="1" i="0">
                <a:solidFill>
                  <a:srgbClr val="0B1A5C"/>
                </a:solidFill>
                <a:latin typeface="Arial"/>
                <a:ea typeface="Arial"/>
                <a:cs typeface="Arial"/>
              </a:rPr>
              <a:t>Value thesis, priorities
and decision rights</a:t>
            </a:r>
          </a:p>
        </p:txBody>
      </p:sp>
      <p:sp>
        <p:nvSpPr>
          <p:cNvPr id="70" name="Rectangle 69">
            <a:extLst>
              <a:ext uri="{FF2B5EF4-FFF2-40B4-BE49-F238E27FC236}">
                <a16:creationId xmlns:a16="http://schemas.microsoft.com/office/drawing/2014/main" id="{56DCDEBE-FC68-4DCD-9846-3565633124A9}"/>
              </a:ext>
            </a:extLst>
          </p:cNvPr>
          <p:cNvSpPr>
            <a:spLocks noGrp="1"/>
          </p:cNvSpPr>
          <p:nvPr/>
        </p:nvSpPr>
        <p:spPr>
          <a:xfrm>
            <a:off x="685800" y="4032250"/>
            <a:ext cx="2457450" cy="523875"/>
          </a:xfrm>
          <a:prstGeom prst="rect">
            <a:avLst/>
          </a:prstGeom>
          <a:solidFill>
            <a:srgbClr val="FFFFFF"/>
          </a:solidFill>
          <a:ln w="7620">
            <a:solidFill>
              <a:srgbClr val="CED7E6"/>
            </a:solidFill>
            <a:prstDash val="solid"/>
          </a:ln>
        </p:spPr>
        <p:txBody>
          <a:bodyPr/>
          <a:lstStyle/>
          <a:p>
            <a:endParaRPr lang="en-US"/>
          </a:p>
        </p:txBody>
      </p:sp>
      <p:sp>
        <p:nvSpPr>
          <p:cNvPr id="72" name="Rectangle 71">
            <a:extLst>
              <a:ext uri="{FF2B5EF4-FFF2-40B4-BE49-F238E27FC236}">
                <a16:creationId xmlns:a16="http://schemas.microsoft.com/office/drawing/2014/main" id="{9E5AAE80-C24E-46B4-BB9E-1F48FB9403CF}"/>
              </a:ext>
            </a:extLst>
          </p:cNvPr>
          <p:cNvSpPr>
            <a:spLocks noGrp="1"/>
          </p:cNvSpPr>
          <p:nvPr/>
        </p:nvSpPr>
        <p:spPr>
          <a:xfrm>
            <a:off x="3143250" y="4032250"/>
            <a:ext cx="3848100" cy="523875"/>
          </a:xfrm>
          <a:prstGeom prst="rect">
            <a:avLst/>
          </a:prstGeom>
          <a:solidFill>
            <a:srgbClr val="FFFFFF"/>
          </a:solidFill>
          <a:ln w="7620">
            <a:solidFill>
              <a:srgbClr val="CED7E6"/>
            </a:solidFill>
            <a:prstDash val="solid"/>
          </a:ln>
        </p:spPr>
        <p:txBody>
          <a:bodyPr/>
          <a:lstStyle/>
          <a:p>
            <a:endParaRPr lang="en-US"/>
          </a:p>
        </p:txBody>
      </p:sp>
      <p:sp>
        <p:nvSpPr>
          <p:cNvPr id="73" name="Rectangle 72">
            <a:extLst>
              <a:ext uri="{FF2B5EF4-FFF2-40B4-BE49-F238E27FC236}">
                <a16:creationId xmlns:a16="http://schemas.microsoft.com/office/drawing/2014/main" id="{79D56208-7E41-4FAA-BDEB-391A7DA54893}"/>
              </a:ext>
            </a:extLst>
          </p:cNvPr>
          <p:cNvSpPr>
            <a:spLocks noGrp="1"/>
          </p:cNvSpPr>
          <p:nvPr/>
        </p:nvSpPr>
        <p:spPr>
          <a:xfrm>
            <a:off x="3289300" y="4216400"/>
            <a:ext cx="3556000" cy="304800"/>
          </a:xfrm>
          <a:prstGeom prst="rect">
            <a:avLst/>
          </a:prstGeom>
          <a:noFill/>
          <a:ln w="0">
            <a:noFill/>
            <a:prstDash val="solid"/>
          </a:ln>
        </p:spPr>
        <p:txBody>
          <a:bodyPr wrap="square" lIns="0" tIns="0" rIns="0" bIns="0" anchor="ctr" anchorCtr="0">
            <a:normAutofit lnSpcReduction="10000"/>
          </a:bodyPr>
          <a:lstStyle/>
          <a:p>
            <a:pPr algn="ctr">
              <a:defRPr sz="788" b="0" i="0">
                <a:solidFill>
                  <a:srgbClr val="50658E"/>
                </a:solidFill>
                <a:latin typeface="Arial"/>
                <a:ea typeface="Arial"/>
                <a:cs typeface="Arial"/>
              </a:defRPr>
            </a:pPr>
            <a:r>
              <a:rPr lang="en-US" sz="770" i="0">
                <a:solidFill>
                  <a:srgbClr val="17335F"/>
                </a:solidFill>
                <a:latin typeface="Arial"/>
                <a:ea typeface="Arial"/>
                <a:cs typeface="Arial"/>
              </a:rPr>
              <a:t>Roadmaps, blockers and
target-state inputs</a:t>
            </a:r>
          </a:p>
        </p:txBody>
      </p:sp>
      <p:sp>
        <p:nvSpPr>
          <p:cNvPr id="78" name="Rectangle 77">
            <a:extLst>
              <a:ext uri="{FF2B5EF4-FFF2-40B4-BE49-F238E27FC236}">
                <a16:creationId xmlns:a16="http://schemas.microsoft.com/office/drawing/2014/main" id="{D6B02245-C59F-43FC-A7A3-61243C7A2326}"/>
              </a:ext>
            </a:extLst>
          </p:cNvPr>
          <p:cNvSpPr>
            <a:spLocks noGrp="1"/>
          </p:cNvSpPr>
          <p:nvPr/>
        </p:nvSpPr>
        <p:spPr>
          <a:xfrm>
            <a:off x="6991350" y="4032250"/>
            <a:ext cx="4514850" cy="523875"/>
          </a:xfrm>
          <a:prstGeom prst="rect">
            <a:avLst/>
          </a:prstGeom>
          <a:solidFill>
            <a:srgbClr val="EDF3FF"/>
          </a:solidFill>
          <a:ln w="8890">
            <a:solidFill>
              <a:srgbClr val="AFC2FF"/>
            </a:solidFill>
            <a:prstDash val="solid"/>
          </a:ln>
        </p:spPr>
        <p:txBody>
          <a:bodyPr/>
          <a:lstStyle/>
          <a:p>
            <a:endParaRPr lang="en-US"/>
          </a:p>
        </p:txBody>
      </p:sp>
      <p:sp>
        <p:nvSpPr>
          <p:cNvPr id="80" name="Rectangle 79">
            <a:extLst>
              <a:ext uri="{FF2B5EF4-FFF2-40B4-BE49-F238E27FC236}">
                <a16:creationId xmlns:a16="http://schemas.microsoft.com/office/drawing/2014/main" id="{50AE35B9-BB96-45F9-B686-333EF24EE2F7}"/>
              </a:ext>
            </a:extLst>
          </p:cNvPr>
          <p:cNvSpPr>
            <a:spLocks noGrp="1"/>
          </p:cNvSpPr>
          <p:nvPr/>
        </p:nvSpPr>
        <p:spPr>
          <a:xfrm>
            <a:off x="7150100" y="4216400"/>
            <a:ext cx="4197350" cy="304800"/>
          </a:xfrm>
          <a:prstGeom prst="rect">
            <a:avLst/>
          </a:prstGeom>
          <a:noFill/>
          <a:ln w="0">
            <a:noFill/>
            <a:prstDash val="solid"/>
          </a:ln>
        </p:spPr>
        <p:txBody>
          <a:bodyPr wrap="square" lIns="0" tIns="0" rIns="0" bIns="0" anchor="ctr" anchorCtr="0">
            <a:normAutofit lnSpcReduction="10000"/>
          </a:bodyPr>
          <a:lstStyle/>
          <a:p>
            <a:pPr algn="ctr">
              <a:defRPr sz="818" b="1" i="0">
                <a:solidFill>
                  <a:srgbClr val="070154"/>
                </a:solidFill>
                <a:latin typeface="Arial"/>
                <a:ea typeface="Arial"/>
                <a:cs typeface="Arial"/>
              </a:defRPr>
            </a:pPr>
            <a:r>
              <a:rPr lang="en-US" sz="770" b="1" i="0">
                <a:solidFill>
                  <a:srgbClr val="0B1A5C"/>
                </a:solidFill>
                <a:latin typeface="Arial"/>
                <a:ea typeface="Arial"/>
                <a:cs typeface="Arial"/>
              </a:rPr>
              <a:t>Approved target state
and sequenced roadmap</a:t>
            </a:r>
          </a:p>
        </p:txBody>
      </p:sp>
      <p:sp>
        <p:nvSpPr>
          <p:cNvPr id="81" name="Rectangle 80">
            <a:extLst>
              <a:ext uri="{FF2B5EF4-FFF2-40B4-BE49-F238E27FC236}">
                <a16:creationId xmlns:a16="http://schemas.microsoft.com/office/drawing/2014/main" id="{7616AD0D-FB3D-455E-9279-2B981BA23EFC}"/>
              </a:ext>
            </a:extLst>
          </p:cNvPr>
          <p:cNvSpPr>
            <a:spLocks noGrp="1"/>
          </p:cNvSpPr>
          <p:nvPr/>
        </p:nvSpPr>
        <p:spPr>
          <a:xfrm>
            <a:off x="685800" y="4556125"/>
            <a:ext cx="2457450" cy="523875"/>
          </a:xfrm>
          <a:prstGeom prst="rect">
            <a:avLst/>
          </a:prstGeom>
          <a:solidFill>
            <a:srgbClr val="F7F9FC"/>
          </a:solidFill>
          <a:ln w="7620">
            <a:solidFill>
              <a:srgbClr val="CED7E6"/>
            </a:solidFill>
            <a:prstDash val="solid"/>
          </a:ln>
        </p:spPr>
        <p:txBody>
          <a:bodyPr/>
          <a:lstStyle/>
          <a:p>
            <a:endParaRPr lang="en-US"/>
          </a:p>
        </p:txBody>
      </p:sp>
      <p:sp>
        <p:nvSpPr>
          <p:cNvPr id="83" name="Rectangle 82">
            <a:extLst>
              <a:ext uri="{FF2B5EF4-FFF2-40B4-BE49-F238E27FC236}">
                <a16:creationId xmlns:a16="http://schemas.microsoft.com/office/drawing/2014/main" id="{4CB40DA3-C5E9-4161-BEBB-C7B70754E174}"/>
              </a:ext>
            </a:extLst>
          </p:cNvPr>
          <p:cNvSpPr>
            <a:spLocks noGrp="1"/>
          </p:cNvSpPr>
          <p:nvPr/>
        </p:nvSpPr>
        <p:spPr>
          <a:xfrm>
            <a:off x="3143250" y="4556125"/>
            <a:ext cx="3848100" cy="523875"/>
          </a:xfrm>
          <a:prstGeom prst="rect">
            <a:avLst/>
          </a:prstGeom>
          <a:solidFill>
            <a:srgbClr val="F7F9FC"/>
          </a:solidFill>
          <a:ln w="7620">
            <a:solidFill>
              <a:srgbClr val="CED7E6"/>
            </a:solidFill>
            <a:prstDash val="solid"/>
          </a:ln>
        </p:spPr>
        <p:txBody>
          <a:bodyPr/>
          <a:lstStyle/>
          <a:p>
            <a:endParaRPr lang="en-US"/>
          </a:p>
        </p:txBody>
      </p:sp>
      <p:sp>
        <p:nvSpPr>
          <p:cNvPr id="84" name="Rectangle 83">
            <a:extLst>
              <a:ext uri="{FF2B5EF4-FFF2-40B4-BE49-F238E27FC236}">
                <a16:creationId xmlns:a16="http://schemas.microsoft.com/office/drawing/2014/main" id="{1BDE58F0-091F-44F4-B1AD-1E474E6B5F8A}"/>
              </a:ext>
            </a:extLst>
          </p:cNvPr>
          <p:cNvSpPr>
            <a:spLocks noGrp="1"/>
          </p:cNvSpPr>
          <p:nvPr/>
        </p:nvSpPr>
        <p:spPr>
          <a:xfrm>
            <a:off x="3289300" y="4740275"/>
            <a:ext cx="3556000" cy="304800"/>
          </a:xfrm>
          <a:prstGeom prst="rect">
            <a:avLst/>
          </a:prstGeom>
          <a:noFill/>
          <a:ln w="0">
            <a:noFill/>
            <a:prstDash val="solid"/>
          </a:ln>
        </p:spPr>
        <p:txBody>
          <a:bodyPr wrap="square" lIns="0" tIns="0" rIns="0" bIns="0" anchor="ctr" anchorCtr="0">
            <a:normAutofit lnSpcReduction="10000"/>
          </a:bodyPr>
          <a:lstStyle/>
          <a:p>
            <a:pPr algn="ctr">
              <a:defRPr sz="788" b="0" i="0">
                <a:solidFill>
                  <a:srgbClr val="50658E"/>
                </a:solidFill>
                <a:latin typeface="Arial"/>
                <a:ea typeface="Arial"/>
                <a:cs typeface="Arial"/>
              </a:defRPr>
            </a:pPr>
            <a:r>
              <a:rPr lang="en-US" sz="770" i="0">
                <a:solidFill>
                  <a:srgbClr val="17335F"/>
                </a:solidFill>
                <a:latin typeface="Arial"/>
                <a:ea typeface="Arial"/>
                <a:cs typeface="Arial"/>
              </a:rPr>
              <a:t>Services, partner ecosystems
and delivery handoffs</a:t>
            </a:r>
          </a:p>
        </p:txBody>
      </p:sp>
      <p:sp>
        <p:nvSpPr>
          <p:cNvPr id="89" name="Rectangle 88">
            <a:extLst>
              <a:ext uri="{FF2B5EF4-FFF2-40B4-BE49-F238E27FC236}">
                <a16:creationId xmlns:a16="http://schemas.microsoft.com/office/drawing/2014/main" id="{94851462-7BD3-4AE1-B0F5-453F54EEAB43}"/>
              </a:ext>
            </a:extLst>
          </p:cNvPr>
          <p:cNvSpPr>
            <a:spLocks noGrp="1"/>
          </p:cNvSpPr>
          <p:nvPr/>
        </p:nvSpPr>
        <p:spPr>
          <a:xfrm>
            <a:off x="6991350" y="4556125"/>
            <a:ext cx="4514850" cy="523875"/>
          </a:xfrm>
          <a:prstGeom prst="rect">
            <a:avLst/>
          </a:prstGeom>
          <a:solidFill>
            <a:srgbClr val="EDF3FF"/>
          </a:solidFill>
          <a:ln w="8890">
            <a:solidFill>
              <a:srgbClr val="AFC2FF"/>
            </a:solidFill>
            <a:prstDash val="solid"/>
          </a:ln>
        </p:spPr>
        <p:txBody>
          <a:bodyPr/>
          <a:lstStyle/>
          <a:p>
            <a:endParaRPr lang="en-US"/>
          </a:p>
        </p:txBody>
      </p:sp>
      <p:sp>
        <p:nvSpPr>
          <p:cNvPr id="91" name="Rectangle 90">
            <a:extLst>
              <a:ext uri="{FF2B5EF4-FFF2-40B4-BE49-F238E27FC236}">
                <a16:creationId xmlns:a16="http://schemas.microsoft.com/office/drawing/2014/main" id="{AC8A47FA-B28E-4EEE-8803-B7C37FCE0C34}"/>
              </a:ext>
            </a:extLst>
          </p:cNvPr>
          <p:cNvSpPr>
            <a:spLocks noGrp="1"/>
          </p:cNvSpPr>
          <p:nvPr/>
        </p:nvSpPr>
        <p:spPr>
          <a:xfrm>
            <a:off x="7150100" y="4740275"/>
            <a:ext cx="4197350" cy="304800"/>
          </a:xfrm>
          <a:prstGeom prst="rect">
            <a:avLst/>
          </a:prstGeom>
          <a:noFill/>
          <a:ln w="0">
            <a:noFill/>
            <a:prstDash val="solid"/>
          </a:ln>
        </p:spPr>
        <p:txBody>
          <a:bodyPr wrap="square" lIns="0" tIns="0" rIns="0" bIns="0" anchor="ctr" anchorCtr="0">
            <a:normAutofit lnSpcReduction="10000"/>
          </a:bodyPr>
          <a:lstStyle/>
          <a:p>
            <a:pPr algn="ctr">
              <a:defRPr sz="818" b="1" i="0">
                <a:solidFill>
                  <a:srgbClr val="070154"/>
                </a:solidFill>
                <a:latin typeface="Arial"/>
                <a:ea typeface="Arial"/>
                <a:cs typeface="Arial"/>
              </a:defRPr>
            </a:pPr>
            <a:r>
              <a:rPr lang="en-US" sz="770" b="1" i="0">
                <a:solidFill>
                  <a:srgbClr val="0B1A5C"/>
                </a:solidFill>
                <a:latin typeface="Arial"/>
                <a:ea typeface="Arial"/>
                <a:cs typeface="Arial"/>
              </a:rPr>
              <a:t>Accountable delivery, governance
and capability transfer</a:t>
            </a:r>
          </a:p>
        </p:txBody>
      </p:sp>
      <p:sp>
        <p:nvSpPr>
          <p:cNvPr id="92" name="Rounded Rectangle 91">
            <a:extLst>
              <a:ext uri="{FF2B5EF4-FFF2-40B4-BE49-F238E27FC236}">
                <a16:creationId xmlns:a16="http://schemas.microsoft.com/office/drawing/2014/main" id="{B197EAE5-E2FF-4A57-8A3E-EEACF9B53FF6}"/>
              </a:ext>
            </a:extLst>
          </p:cNvPr>
          <p:cNvSpPr>
            <a:spLocks noGrp="1"/>
          </p:cNvSpPr>
          <p:nvPr/>
        </p:nvSpPr>
        <p:spPr>
          <a:xfrm>
            <a:off x="685800" y="5130800"/>
            <a:ext cx="10820400" cy="774700"/>
          </a:xfrm>
          <a:prstGeom prst="roundRect">
            <a:avLst>
              <a:gd name="adj" fmla="val 8571"/>
            </a:avLst>
          </a:prstGeom>
          <a:solidFill>
            <a:srgbClr val="F3F6FA"/>
          </a:solidFill>
          <a:ln w="0">
            <a:noFill/>
            <a:prstDash val="solid"/>
          </a:ln>
        </p:spPr>
        <p:txBody>
          <a:bodyPr/>
          <a:lstStyle/>
          <a:p>
            <a:endParaRPr lang="en-US"/>
          </a:p>
        </p:txBody>
      </p:sp>
      <p:sp>
        <p:nvSpPr>
          <p:cNvPr id="93" name="Rounded Rectangle 92">
            <a:extLst>
              <a:ext uri="{FF2B5EF4-FFF2-40B4-BE49-F238E27FC236}">
                <a16:creationId xmlns:a16="http://schemas.microsoft.com/office/drawing/2014/main" id="{B9D630DC-657A-44DB-A80B-271B7F1C36D5}"/>
              </a:ext>
            </a:extLst>
          </p:cNvPr>
          <p:cNvSpPr>
            <a:spLocks noGrp="1"/>
          </p:cNvSpPr>
          <p:nvPr/>
        </p:nvSpPr>
        <p:spPr>
          <a:xfrm>
            <a:off x="685800" y="5130800"/>
            <a:ext cx="76200" cy="774700"/>
          </a:xfrm>
          <a:prstGeom prst="roundRect">
            <a:avLst>
              <a:gd name="adj" fmla="val 37500"/>
            </a:avLst>
          </a:prstGeom>
          <a:solidFill>
            <a:srgbClr val="FF00C8"/>
          </a:solidFill>
          <a:ln w="0">
            <a:noFill/>
            <a:prstDash val="solid"/>
          </a:ln>
        </p:spPr>
        <p:txBody>
          <a:bodyPr/>
          <a:lstStyle/>
          <a:p>
            <a:endParaRPr lang="en-US"/>
          </a:p>
        </p:txBody>
      </p:sp>
      <p:sp>
        <p:nvSpPr>
          <p:cNvPr id="94" name="Rectangle 93">
            <a:extLst>
              <a:ext uri="{FF2B5EF4-FFF2-40B4-BE49-F238E27FC236}">
                <a16:creationId xmlns:a16="http://schemas.microsoft.com/office/drawing/2014/main" id="{39C4EFB2-4C55-489B-A677-375D7AF0D356}"/>
              </a:ext>
            </a:extLst>
          </p:cNvPr>
          <p:cNvSpPr>
            <a:spLocks noGrp="1"/>
          </p:cNvSpPr>
          <p:nvPr/>
        </p:nvSpPr>
        <p:spPr>
          <a:xfrm>
            <a:off x="914400" y="5245100"/>
            <a:ext cx="1625600" cy="190500"/>
          </a:xfrm>
          <a:prstGeom prst="rect">
            <a:avLst/>
          </a:prstGeom>
          <a:noFill/>
          <a:ln w="0">
            <a:noFill/>
            <a:prstDash val="solid"/>
          </a:ln>
        </p:spPr>
        <p:txBody>
          <a:bodyPr wrap="square" lIns="0" tIns="0" rIns="0" bIns="0" anchor="ctr" anchorCtr="0">
            <a:normAutofit/>
          </a:bodyPr>
          <a:lstStyle/>
          <a:p>
            <a:pPr algn="l">
              <a:defRPr sz="863" b="1" i="0">
                <a:solidFill>
                  <a:srgbClr val="F900D3"/>
                </a:solidFill>
                <a:latin typeface="Arial"/>
                <a:ea typeface="Arial"/>
                <a:cs typeface="Arial"/>
              </a:defRPr>
            </a:pPr>
            <a:r>
              <a:rPr lang="en-US" sz="850" b="1" i="0">
                <a:solidFill>
                  <a:srgbClr val="E800B8"/>
                </a:solidFill>
                <a:latin typeface="Arial"/>
                <a:ea typeface="Arial"/>
                <a:cs typeface="Arial"/>
              </a:rPr>
              <a:t>THE INTELLIO ADVANTAGE</a:t>
            </a:r>
          </a:p>
        </p:txBody>
      </p:sp>
      <p:sp>
        <p:nvSpPr>
          <p:cNvPr id="95" name="Rectangle 94">
            <a:extLst>
              <a:ext uri="{FF2B5EF4-FFF2-40B4-BE49-F238E27FC236}">
                <a16:creationId xmlns:a16="http://schemas.microsoft.com/office/drawing/2014/main" id="{04DDE2AB-9AAC-44D8-90AD-331500654769}"/>
              </a:ext>
            </a:extLst>
          </p:cNvPr>
          <p:cNvSpPr>
            <a:spLocks noGrp="1"/>
          </p:cNvSpPr>
          <p:nvPr/>
        </p:nvSpPr>
        <p:spPr>
          <a:xfrm>
            <a:off x="2679700" y="5175250"/>
            <a:ext cx="4279900" cy="660400"/>
          </a:xfrm>
          <a:prstGeom prst="rect">
            <a:avLst/>
          </a:prstGeom>
          <a:noFill/>
          <a:ln w="0">
            <a:noFill/>
            <a:prstDash val="solid"/>
          </a:ln>
        </p:spPr>
        <p:txBody>
          <a:bodyPr wrap="square" lIns="0" tIns="0" rIns="0" bIns="0" anchor="ctr" anchorCtr="0">
            <a:normAutofit/>
          </a:bodyPr>
          <a:lstStyle/>
          <a:p>
            <a:pPr algn="l">
              <a:defRPr sz="1088" b="1" i="0">
                <a:solidFill>
                  <a:srgbClr val="FFFFFF"/>
                </a:solidFill>
                <a:latin typeface="Arial"/>
                <a:ea typeface="Arial"/>
                <a:cs typeface="Arial"/>
              </a:defRPr>
            </a:pPr>
            <a:r>
              <a:rPr lang="en-US" sz="800" b="1" i="0">
                <a:solidFill>
                  <a:srgbClr val="0B1A5C"/>
                </a:solidFill>
                <a:latin typeface="Arial"/>
                <a:ea typeface="Arial"/>
                <a:cs typeface="Arial"/>
              </a:rPr>
              <a:t>Intelligence tools help you understand the estate.
Intellio Evolve combines software intelligence with human-augmented practitioner expertise to determine what to change—and carry those decisions into execution.</a:t>
            </a:r>
          </a:p>
        </p:txBody>
      </p:sp>
      <p:sp>
        <p:nvSpPr>
          <p:cNvPr id="96" name="Rectangle 95">
            <a:extLst>
              <a:ext uri="{FF2B5EF4-FFF2-40B4-BE49-F238E27FC236}">
                <a16:creationId xmlns:a16="http://schemas.microsoft.com/office/drawing/2014/main" id="{B06F583D-88F7-45E2-B587-2600F2065E9B}"/>
              </a:ext>
            </a:extLst>
          </p:cNvPr>
          <p:cNvSpPr>
            <a:spLocks noGrp="1"/>
          </p:cNvSpPr>
          <p:nvPr/>
        </p:nvSpPr>
        <p:spPr>
          <a:xfrm>
            <a:off x="7086600" y="5384800"/>
            <a:ext cx="4165600" cy="469900"/>
          </a:xfrm>
          <a:prstGeom prst="rect">
            <a:avLst/>
          </a:prstGeom>
          <a:noFill/>
          <a:ln w="0">
            <a:noFill/>
            <a:prstDash val="solid"/>
          </a:ln>
        </p:spPr>
        <p:txBody>
          <a:bodyPr wrap="square" lIns="0" tIns="0" rIns="0" bIns="0" anchor="t" anchorCtr="0">
            <a:normAutofit/>
          </a:bodyPr>
          <a:lstStyle/>
          <a:p>
            <a:pPr algn="l">
              <a:defRPr sz="930" b="1" i="0">
                <a:solidFill>
                  <a:srgbClr val="DCE4FF"/>
                </a:solidFill>
                <a:latin typeface="Arial"/>
                <a:ea typeface="Arial"/>
                <a:cs typeface="Arial"/>
              </a:defRPr>
            </a:pPr>
            <a:r>
              <a:rPr lang="en-US" sz="720" i="0" dirty="0">
                <a:solidFill>
                  <a:srgbClr val="17335F"/>
                </a:solidFill>
                <a:latin typeface="Arial"/>
                <a:ea typeface="Arial"/>
                <a:cs typeface="Arial"/>
              </a:rPr>
              <a:t>Intelligence tools produce substantial portfolio and application intelligence. The remaining challenge is converting that intelligence into business-approved architecture, scope, sequencing, and implemented change.</a:t>
            </a:r>
          </a:p>
        </p:txBody>
      </p:sp>
      <p:sp>
        <p:nvSpPr>
          <p:cNvPr id="97" name="slide-qualifier">
            <a:extLst>
              <a:ext uri="{FF2B5EF4-FFF2-40B4-BE49-F238E27FC236}">
                <a16:creationId xmlns:a16="http://schemas.microsoft.com/office/drawing/2014/main" id="{7031EA83-1FCE-41A9-B584-FC79C0F0F37E}"/>
              </a:ext>
            </a:extLst>
          </p:cNvPr>
          <p:cNvSpPr>
            <a:spLocks noGrp="1"/>
          </p:cNvSpPr>
          <p:nvPr/>
        </p:nvSpPr>
        <p:spPr>
          <a:xfrm>
            <a:off x="685800" y="5969000"/>
            <a:ext cx="10820400" cy="317500"/>
          </a:xfrm>
          <a:prstGeom prst="rect">
            <a:avLst/>
          </a:prstGeom>
          <a:noFill/>
          <a:ln w="0">
            <a:noFill/>
            <a:prstDash val="solid"/>
          </a:ln>
        </p:spPr>
        <p:txBody>
          <a:bodyPr wrap="square" lIns="0" tIns="0" rIns="0" bIns="0" anchor="ctr" anchorCtr="0">
            <a:normAutofit/>
          </a:bodyPr>
          <a:lstStyle/>
          <a:p>
            <a:pPr algn="l">
              <a:defRPr sz="750" b="0" i="1">
                <a:solidFill>
                  <a:srgbClr val="50658E"/>
                </a:solidFill>
                <a:latin typeface="Arial"/>
                <a:ea typeface="Arial"/>
                <a:cs typeface="Arial"/>
              </a:defRPr>
            </a:pPr>
            <a:r>
              <a:rPr lang="en-US" sz="720" i="1">
                <a:solidFill>
                  <a:srgbClr val="425D8D"/>
                </a:solidFill>
                <a:latin typeface="Arial"/>
                <a:ea typeface="Arial"/>
                <a:cs typeface="Arial"/>
              </a:rPr>
              <a:t>Dots indicate relative comparative strength—not complete capability. The intelligence-tools column reflects representative software capabilities; Evolve reflects intelligence combined with practitioner-led guidance and execution support.</a:t>
            </a:r>
          </a:p>
        </p:txBody>
      </p:sp>
      <p:sp>
        <p:nvSpPr>
          <p:cNvPr id="3" name="Oval 2">
            <a:extLst>
              <a:ext uri="{FF2B5EF4-FFF2-40B4-BE49-F238E27FC236}">
                <a16:creationId xmlns:a16="http://schemas.microsoft.com/office/drawing/2014/main" id="{973F5D65-5A80-8743-BB78-3A43B4822B2B}"/>
              </a:ext>
            </a:extLst>
          </p:cNvPr>
          <p:cNvSpPr/>
          <p:nvPr/>
        </p:nvSpPr>
        <p:spPr>
          <a:xfrm>
            <a:off x="4943475" y="202565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a:extLst>
              <a:ext uri="{FF2B5EF4-FFF2-40B4-BE49-F238E27FC236}">
                <a16:creationId xmlns:a16="http://schemas.microsoft.com/office/drawing/2014/main" id="{C6910A81-9376-1947-BFCF-B3FF8B9A1D3E}"/>
              </a:ext>
            </a:extLst>
          </p:cNvPr>
          <p:cNvSpPr/>
          <p:nvPr/>
        </p:nvSpPr>
        <p:spPr>
          <a:xfrm>
            <a:off x="5038725" y="202565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8" name="Oval 97">
            <a:extLst>
              <a:ext uri="{FF2B5EF4-FFF2-40B4-BE49-F238E27FC236}">
                <a16:creationId xmlns:a16="http://schemas.microsoft.com/office/drawing/2014/main" id="{F2275F40-4808-B842-B2BE-6DC638DBBCA0}"/>
              </a:ext>
            </a:extLst>
          </p:cNvPr>
          <p:cNvSpPr/>
          <p:nvPr/>
        </p:nvSpPr>
        <p:spPr>
          <a:xfrm>
            <a:off x="5133975" y="202565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5" name="Oval 104">
            <a:extLst>
              <a:ext uri="{FF2B5EF4-FFF2-40B4-BE49-F238E27FC236}">
                <a16:creationId xmlns:a16="http://schemas.microsoft.com/office/drawing/2014/main" id="{B14D1286-7DA6-C246-92B4-5D5BD499D816}"/>
              </a:ext>
            </a:extLst>
          </p:cNvPr>
          <p:cNvSpPr/>
          <p:nvPr/>
        </p:nvSpPr>
        <p:spPr>
          <a:xfrm>
            <a:off x="9124950" y="202565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6" name="Oval 105">
            <a:extLst>
              <a:ext uri="{FF2B5EF4-FFF2-40B4-BE49-F238E27FC236}">
                <a16:creationId xmlns:a16="http://schemas.microsoft.com/office/drawing/2014/main" id="{81595E5A-1E9D-2346-A58E-6467C7A55854}"/>
              </a:ext>
            </a:extLst>
          </p:cNvPr>
          <p:cNvSpPr/>
          <p:nvPr/>
        </p:nvSpPr>
        <p:spPr>
          <a:xfrm>
            <a:off x="9220200" y="202565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7" name="Oval 106">
            <a:extLst>
              <a:ext uri="{FF2B5EF4-FFF2-40B4-BE49-F238E27FC236}">
                <a16:creationId xmlns:a16="http://schemas.microsoft.com/office/drawing/2014/main" id="{1927909C-3CE4-3E40-A53E-BB9058482D2F}"/>
              </a:ext>
            </a:extLst>
          </p:cNvPr>
          <p:cNvSpPr/>
          <p:nvPr/>
        </p:nvSpPr>
        <p:spPr>
          <a:xfrm>
            <a:off x="9315450" y="202565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8" name="Oval 107">
            <a:extLst>
              <a:ext uri="{FF2B5EF4-FFF2-40B4-BE49-F238E27FC236}">
                <a16:creationId xmlns:a16="http://schemas.microsoft.com/office/drawing/2014/main" id="{6A1DD1B0-365B-9243-9B8E-66565AC56449}"/>
              </a:ext>
            </a:extLst>
          </p:cNvPr>
          <p:cNvSpPr/>
          <p:nvPr/>
        </p:nvSpPr>
        <p:spPr>
          <a:xfrm>
            <a:off x="4943475" y="254952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9" name="Oval 108">
            <a:extLst>
              <a:ext uri="{FF2B5EF4-FFF2-40B4-BE49-F238E27FC236}">
                <a16:creationId xmlns:a16="http://schemas.microsoft.com/office/drawing/2014/main" id="{8C7D9A13-3875-1541-8AAB-0586D18EC667}"/>
              </a:ext>
            </a:extLst>
          </p:cNvPr>
          <p:cNvSpPr/>
          <p:nvPr/>
        </p:nvSpPr>
        <p:spPr>
          <a:xfrm>
            <a:off x="5038725" y="254952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0" name="Oval 109">
            <a:extLst>
              <a:ext uri="{FF2B5EF4-FFF2-40B4-BE49-F238E27FC236}">
                <a16:creationId xmlns:a16="http://schemas.microsoft.com/office/drawing/2014/main" id="{D2C1E5CD-FD39-E74C-A4F4-5806C53CBF0E}"/>
              </a:ext>
            </a:extLst>
          </p:cNvPr>
          <p:cNvSpPr/>
          <p:nvPr/>
        </p:nvSpPr>
        <p:spPr>
          <a:xfrm>
            <a:off x="5133975" y="254952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7" name="Oval 116">
            <a:extLst>
              <a:ext uri="{FF2B5EF4-FFF2-40B4-BE49-F238E27FC236}">
                <a16:creationId xmlns:a16="http://schemas.microsoft.com/office/drawing/2014/main" id="{F799B28B-91F1-E345-9834-D1453AE3FEC1}"/>
              </a:ext>
            </a:extLst>
          </p:cNvPr>
          <p:cNvSpPr/>
          <p:nvPr/>
        </p:nvSpPr>
        <p:spPr>
          <a:xfrm>
            <a:off x="9124950" y="254952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8" name="Oval 117">
            <a:extLst>
              <a:ext uri="{FF2B5EF4-FFF2-40B4-BE49-F238E27FC236}">
                <a16:creationId xmlns:a16="http://schemas.microsoft.com/office/drawing/2014/main" id="{06A2AD6A-FFBE-F645-B4CD-BC0623063943}"/>
              </a:ext>
            </a:extLst>
          </p:cNvPr>
          <p:cNvSpPr/>
          <p:nvPr/>
        </p:nvSpPr>
        <p:spPr>
          <a:xfrm>
            <a:off x="9220200" y="254952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9" name="Oval 118">
            <a:extLst>
              <a:ext uri="{FF2B5EF4-FFF2-40B4-BE49-F238E27FC236}">
                <a16:creationId xmlns:a16="http://schemas.microsoft.com/office/drawing/2014/main" id="{B0BAACD1-ED19-FB4B-AA20-57881579D684}"/>
              </a:ext>
            </a:extLst>
          </p:cNvPr>
          <p:cNvSpPr/>
          <p:nvPr/>
        </p:nvSpPr>
        <p:spPr>
          <a:xfrm>
            <a:off x="9315450" y="254952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0" name="Oval 119">
            <a:extLst>
              <a:ext uri="{FF2B5EF4-FFF2-40B4-BE49-F238E27FC236}">
                <a16:creationId xmlns:a16="http://schemas.microsoft.com/office/drawing/2014/main" id="{D0ECDA92-58D9-EF40-BE9B-AA7308A0DF30}"/>
              </a:ext>
            </a:extLst>
          </p:cNvPr>
          <p:cNvSpPr/>
          <p:nvPr/>
        </p:nvSpPr>
        <p:spPr>
          <a:xfrm>
            <a:off x="4943475" y="307340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1" name="Oval 120">
            <a:extLst>
              <a:ext uri="{FF2B5EF4-FFF2-40B4-BE49-F238E27FC236}">
                <a16:creationId xmlns:a16="http://schemas.microsoft.com/office/drawing/2014/main" id="{3ABDF013-8C31-F744-AE32-33C27805BE2A}"/>
              </a:ext>
            </a:extLst>
          </p:cNvPr>
          <p:cNvSpPr/>
          <p:nvPr/>
        </p:nvSpPr>
        <p:spPr>
          <a:xfrm>
            <a:off x="5038725" y="307340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2" name="Oval 121">
            <a:extLst>
              <a:ext uri="{FF2B5EF4-FFF2-40B4-BE49-F238E27FC236}">
                <a16:creationId xmlns:a16="http://schemas.microsoft.com/office/drawing/2014/main" id="{C1C57D63-711B-DB48-947D-9D2613CA91D8}"/>
              </a:ext>
            </a:extLst>
          </p:cNvPr>
          <p:cNvSpPr/>
          <p:nvPr/>
        </p:nvSpPr>
        <p:spPr>
          <a:xfrm>
            <a:off x="5133975" y="307340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9" name="Oval 128">
            <a:extLst>
              <a:ext uri="{FF2B5EF4-FFF2-40B4-BE49-F238E27FC236}">
                <a16:creationId xmlns:a16="http://schemas.microsoft.com/office/drawing/2014/main" id="{14B797F7-8273-1D40-AC9D-A832985CAB6B}"/>
              </a:ext>
            </a:extLst>
          </p:cNvPr>
          <p:cNvSpPr/>
          <p:nvPr/>
        </p:nvSpPr>
        <p:spPr>
          <a:xfrm>
            <a:off x="9124950" y="307340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0" name="Oval 129">
            <a:extLst>
              <a:ext uri="{FF2B5EF4-FFF2-40B4-BE49-F238E27FC236}">
                <a16:creationId xmlns:a16="http://schemas.microsoft.com/office/drawing/2014/main" id="{E1A0DE40-4766-6349-85CC-D4C053A141AD}"/>
              </a:ext>
            </a:extLst>
          </p:cNvPr>
          <p:cNvSpPr/>
          <p:nvPr/>
        </p:nvSpPr>
        <p:spPr>
          <a:xfrm>
            <a:off x="9220200" y="307340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1" name="Oval 130">
            <a:extLst>
              <a:ext uri="{FF2B5EF4-FFF2-40B4-BE49-F238E27FC236}">
                <a16:creationId xmlns:a16="http://schemas.microsoft.com/office/drawing/2014/main" id="{41C38233-5F66-AF49-BD01-D65331CD029E}"/>
              </a:ext>
            </a:extLst>
          </p:cNvPr>
          <p:cNvSpPr/>
          <p:nvPr/>
        </p:nvSpPr>
        <p:spPr>
          <a:xfrm>
            <a:off x="9315450" y="307340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2" name="Oval 131">
            <a:extLst>
              <a:ext uri="{FF2B5EF4-FFF2-40B4-BE49-F238E27FC236}">
                <a16:creationId xmlns:a16="http://schemas.microsoft.com/office/drawing/2014/main" id="{8A6D4486-DD85-864D-8520-C5645E4098DC}"/>
              </a:ext>
            </a:extLst>
          </p:cNvPr>
          <p:cNvSpPr/>
          <p:nvPr/>
        </p:nvSpPr>
        <p:spPr>
          <a:xfrm>
            <a:off x="4943475" y="359727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3" name="Oval 132">
            <a:extLst>
              <a:ext uri="{FF2B5EF4-FFF2-40B4-BE49-F238E27FC236}">
                <a16:creationId xmlns:a16="http://schemas.microsoft.com/office/drawing/2014/main" id="{60DFCC3E-960F-3049-B9AE-2042E57F613F}"/>
              </a:ext>
            </a:extLst>
          </p:cNvPr>
          <p:cNvSpPr/>
          <p:nvPr/>
        </p:nvSpPr>
        <p:spPr>
          <a:xfrm>
            <a:off x="5038725" y="359727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4" name="Oval 133">
            <a:extLst>
              <a:ext uri="{FF2B5EF4-FFF2-40B4-BE49-F238E27FC236}">
                <a16:creationId xmlns:a16="http://schemas.microsoft.com/office/drawing/2014/main" id="{B932BC2D-0968-C744-A2EB-F29902F0EAA4}"/>
              </a:ext>
            </a:extLst>
          </p:cNvPr>
          <p:cNvSpPr/>
          <p:nvPr/>
        </p:nvSpPr>
        <p:spPr>
          <a:xfrm>
            <a:off x="5133975" y="3597275"/>
            <a:ext cx="57150" cy="57150"/>
          </a:xfrm>
          <a:prstGeom prst="ellipse">
            <a:avLst/>
          </a:prstGeom>
          <a:solidFill>
            <a:srgbClr val="C8D4E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1" name="Oval 140">
            <a:extLst>
              <a:ext uri="{FF2B5EF4-FFF2-40B4-BE49-F238E27FC236}">
                <a16:creationId xmlns:a16="http://schemas.microsoft.com/office/drawing/2014/main" id="{393484F1-012E-594A-BC4A-AB4A7FA185CE}"/>
              </a:ext>
            </a:extLst>
          </p:cNvPr>
          <p:cNvSpPr/>
          <p:nvPr/>
        </p:nvSpPr>
        <p:spPr>
          <a:xfrm>
            <a:off x="9124950" y="359727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2" name="Oval 141">
            <a:extLst>
              <a:ext uri="{FF2B5EF4-FFF2-40B4-BE49-F238E27FC236}">
                <a16:creationId xmlns:a16="http://schemas.microsoft.com/office/drawing/2014/main" id="{E1AB94A3-57DF-F944-81BD-FEE7C7B4F1EF}"/>
              </a:ext>
            </a:extLst>
          </p:cNvPr>
          <p:cNvSpPr/>
          <p:nvPr/>
        </p:nvSpPr>
        <p:spPr>
          <a:xfrm>
            <a:off x="9220200" y="359727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3" name="Oval 142">
            <a:extLst>
              <a:ext uri="{FF2B5EF4-FFF2-40B4-BE49-F238E27FC236}">
                <a16:creationId xmlns:a16="http://schemas.microsoft.com/office/drawing/2014/main" id="{ECEE9C44-03BA-3447-94A5-C91EFF4620E2}"/>
              </a:ext>
            </a:extLst>
          </p:cNvPr>
          <p:cNvSpPr/>
          <p:nvPr/>
        </p:nvSpPr>
        <p:spPr>
          <a:xfrm>
            <a:off x="9315450" y="359727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4" name="Oval 143">
            <a:extLst>
              <a:ext uri="{FF2B5EF4-FFF2-40B4-BE49-F238E27FC236}">
                <a16:creationId xmlns:a16="http://schemas.microsoft.com/office/drawing/2014/main" id="{E39FB901-DFF6-3849-A32B-5CE4AF32FF23}"/>
              </a:ext>
            </a:extLst>
          </p:cNvPr>
          <p:cNvSpPr/>
          <p:nvPr/>
        </p:nvSpPr>
        <p:spPr>
          <a:xfrm>
            <a:off x="4943475" y="412115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5" name="Oval 144">
            <a:extLst>
              <a:ext uri="{FF2B5EF4-FFF2-40B4-BE49-F238E27FC236}">
                <a16:creationId xmlns:a16="http://schemas.microsoft.com/office/drawing/2014/main" id="{7EFEA2D9-4243-114C-A334-BCF1AEF6FDE0}"/>
              </a:ext>
            </a:extLst>
          </p:cNvPr>
          <p:cNvSpPr/>
          <p:nvPr/>
        </p:nvSpPr>
        <p:spPr>
          <a:xfrm>
            <a:off x="5038725" y="412115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6" name="Oval 145">
            <a:extLst>
              <a:ext uri="{FF2B5EF4-FFF2-40B4-BE49-F238E27FC236}">
                <a16:creationId xmlns:a16="http://schemas.microsoft.com/office/drawing/2014/main" id="{55D0A772-B28D-5B45-9A47-CBAA74580D36}"/>
              </a:ext>
            </a:extLst>
          </p:cNvPr>
          <p:cNvSpPr/>
          <p:nvPr/>
        </p:nvSpPr>
        <p:spPr>
          <a:xfrm>
            <a:off x="5133975" y="4121150"/>
            <a:ext cx="57150" cy="57150"/>
          </a:xfrm>
          <a:prstGeom prst="ellipse">
            <a:avLst/>
          </a:prstGeom>
          <a:solidFill>
            <a:srgbClr val="C8D4E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3" name="Oval 152">
            <a:extLst>
              <a:ext uri="{FF2B5EF4-FFF2-40B4-BE49-F238E27FC236}">
                <a16:creationId xmlns:a16="http://schemas.microsoft.com/office/drawing/2014/main" id="{9AA5EB00-EF3F-D941-AA54-5EECCABA6E0B}"/>
              </a:ext>
            </a:extLst>
          </p:cNvPr>
          <p:cNvSpPr/>
          <p:nvPr/>
        </p:nvSpPr>
        <p:spPr>
          <a:xfrm>
            <a:off x="9124950" y="412115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4" name="Oval 153">
            <a:extLst>
              <a:ext uri="{FF2B5EF4-FFF2-40B4-BE49-F238E27FC236}">
                <a16:creationId xmlns:a16="http://schemas.microsoft.com/office/drawing/2014/main" id="{77C93304-1838-F442-8AFE-3FD7BED5AC20}"/>
              </a:ext>
            </a:extLst>
          </p:cNvPr>
          <p:cNvSpPr/>
          <p:nvPr/>
        </p:nvSpPr>
        <p:spPr>
          <a:xfrm>
            <a:off x="9220200" y="412115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5" name="Oval 154">
            <a:extLst>
              <a:ext uri="{FF2B5EF4-FFF2-40B4-BE49-F238E27FC236}">
                <a16:creationId xmlns:a16="http://schemas.microsoft.com/office/drawing/2014/main" id="{65B675EB-32E6-4A48-A146-E44099A37A74}"/>
              </a:ext>
            </a:extLst>
          </p:cNvPr>
          <p:cNvSpPr/>
          <p:nvPr/>
        </p:nvSpPr>
        <p:spPr>
          <a:xfrm>
            <a:off x="9315450" y="4121150"/>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6" name="Oval 155">
            <a:extLst>
              <a:ext uri="{FF2B5EF4-FFF2-40B4-BE49-F238E27FC236}">
                <a16:creationId xmlns:a16="http://schemas.microsoft.com/office/drawing/2014/main" id="{1C8426AC-1A94-964A-9405-BE6DD6584533}"/>
              </a:ext>
            </a:extLst>
          </p:cNvPr>
          <p:cNvSpPr/>
          <p:nvPr/>
        </p:nvSpPr>
        <p:spPr>
          <a:xfrm>
            <a:off x="4943475" y="464502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7" name="Oval 156">
            <a:extLst>
              <a:ext uri="{FF2B5EF4-FFF2-40B4-BE49-F238E27FC236}">
                <a16:creationId xmlns:a16="http://schemas.microsoft.com/office/drawing/2014/main" id="{BD535A20-7872-4044-878E-60011C10A2A0}"/>
              </a:ext>
            </a:extLst>
          </p:cNvPr>
          <p:cNvSpPr/>
          <p:nvPr/>
        </p:nvSpPr>
        <p:spPr>
          <a:xfrm>
            <a:off x="5038725" y="464502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8" name="Oval 157">
            <a:extLst>
              <a:ext uri="{FF2B5EF4-FFF2-40B4-BE49-F238E27FC236}">
                <a16:creationId xmlns:a16="http://schemas.microsoft.com/office/drawing/2014/main" id="{994D32CD-3BDF-2E4D-A090-F89098BC83EC}"/>
              </a:ext>
            </a:extLst>
          </p:cNvPr>
          <p:cNvSpPr/>
          <p:nvPr/>
        </p:nvSpPr>
        <p:spPr>
          <a:xfrm>
            <a:off x="5133975" y="4645025"/>
            <a:ext cx="57150" cy="57150"/>
          </a:xfrm>
          <a:prstGeom prst="ellipse">
            <a:avLst/>
          </a:prstGeom>
          <a:solidFill>
            <a:srgbClr val="C8D4E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5" name="Oval 164">
            <a:extLst>
              <a:ext uri="{FF2B5EF4-FFF2-40B4-BE49-F238E27FC236}">
                <a16:creationId xmlns:a16="http://schemas.microsoft.com/office/drawing/2014/main" id="{2D92A5AF-34B3-B746-9D2D-A2A01581C2D0}"/>
              </a:ext>
            </a:extLst>
          </p:cNvPr>
          <p:cNvSpPr/>
          <p:nvPr/>
        </p:nvSpPr>
        <p:spPr>
          <a:xfrm>
            <a:off x="9124950" y="464502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6" name="Oval 165">
            <a:extLst>
              <a:ext uri="{FF2B5EF4-FFF2-40B4-BE49-F238E27FC236}">
                <a16:creationId xmlns:a16="http://schemas.microsoft.com/office/drawing/2014/main" id="{A75BE9B8-CF21-0F4B-8718-B752E39A9F8F}"/>
              </a:ext>
            </a:extLst>
          </p:cNvPr>
          <p:cNvSpPr/>
          <p:nvPr/>
        </p:nvSpPr>
        <p:spPr>
          <a:xfrm>
            <a:off x="9220200" y="464502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7" name="Oval 166">
            <a:extLst>
              <a:ext uri="{FF2B5EF4-FFF2-40B4-BE49-F238E27FC236}">
                <a16:creationId xmlns:a16="http://schemas.microsoft.com/office/drawing/2014/main" id="{C6FC2AC7-5EC3-9045-BB53-34A33883B9FE}"/>
              </a:ext>
            </a:extLst>
          </p:cNvPr>
          <p:cNvSpPr/>
          <p:nvPr/>
        </p:nvSpPr>
        <p:spPr>
          <a:xfrm>
            <a:off x="9315450" y="4645025"/>
            <a:ext cx="57150" cy="57150"/>
          </a:xfrm>
          <a:prstGeom prst="ellipse">
            <a:avLst/>
          </a:prstGeom>
          <a:solidFill>
            <a:srgbClr val="2C5B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section-label">
            <a:extLst>
              <a:ext uri="{FF2B5EF4-FFF2-40B4-BE49-F238E27FC236}">
                <a16:creationId xmlns:a16="http://schemas.microsoft.com/office/drawing/2014/main" id="{95B99D28-2B9C-48C9-9F44-FFDE4731888F}"/>
              </a:ext>
            </a:extLst>
          </p:cNvPr>
          <p:cNvSpPr>
            <a:spLocks noGrp="1"/>
          </p:cNvSpPr>
          <p:nvPr/>
        </p:nvSpPr>
        <p:spPr>
          <a:xfrm>
            <a:off x="685800" y="171450"/>
            <a:ext cx="6858000" cy="190500"/>
          </a:xfrm>
          <a:prstGeom prst="rect">
            <a:avLst/>
          </a:prstGeom>
          <a:noFill/>
          <a:ln w="0">
            <a:noFill/>
            <a:prstDash val="solid"/>
          </a:ln>
        </p:spPr>
        <p:txBody>
          <a:bodyPr wrap="square" lIns="0" tIns="0" rIns="0" bIns="0" anchor="ctr" anchorCtr="0">
            <a:noAutofit/>
          </a:bodyPr>
          <a:lstStyle/>
          <a:p>
            <a:pPr algn="l">
              <a:defRPr sz="825" b="1" i="0">
                <a:solidFill>
                  <a:srgbClr val="0047FF"/>
                </a:solidFill>
                <a:latin typeface="Arial"/>
                <a:ea typeface="Arial"/>
                <a:cs typeface="Arial"/>
              </a:defRPr>
            </a:pPr>
            <a:r>
              <a:rPr lang="en-US" sz="850" b="1" i="0">
                <a:solidFill>
                  <a:srgbClr val="145BFF"/>
                </a:solidFill>
                <a:latin typeface="Arial"/>
                <a:ea typeface="Arial"/>
                <a:cs typeface="Arial"/>
              </a:rPr>
              <a:t>INTELLIO EVOLVE | INTELLIGENCE TOOLS COMPARISON</a:t>
            </a:r>
          </a:p>
        </p:txBody>
      </p:sp>
      <p:sp>
        <p:nvSpPr>
          <p:cNvPr id="9" name="action-title">
            <a:extLst>
              <a:ext uri="{FF2B5EF4-FFF2-40B4-BE49-F238E27FC236}">
                <a16:creationId xmlns:a16="http://schemas.microsoft.com/office/drawing/2014/main" id="{EDE0C46F-11CE-4C58-BC4B-94AAEE7F5C05}"/>
              </a:ext>
            </a:extLst>
          </p:cNvPr>
          <p:cNvSpPr>
            <a:spLocks noGrp="1"/>
          </p:cNvSpPr>
          <p:nvPr/>
        </p:nvSpPr>
        <p:spPr>
          <a:xfrm>
            <a:off x="685800" y="400050"/>
            <a:ext cx="10820400" cy="704850"/>
          </a:xfrm>
          <a:prstGeom prst="rect">
            <a:avLst/>
          </a:prstGeom>
          <a:noFill/>
          <a:ln w="0">
            <a:noFill/>
            <a:prstDash val="solid"/>
          </a:ln>
        </p:spPr>
        <p:txBody>
          <a:bodyPr wrap="square" lIns="0" tIns="0" rIns="0" bIns="0" anchor="ctr" anchorCtr="0">
            <a:normAutofit lnSpcReduction="10000"/>
          </a:bodyPr>
          <a:lstStyle/>
          <a:p>
            <a:pPr algn="l">
              <a:defRPr sz="2250" b="1" i="0">
                <a:solidFill>
                  <a:srgbClr val="070154"/>
                </a:solidFill>
                <a:latin typeface="Arial"/>
                <a:ea typeface="Arial"/>
                <a:cs typeface="Arial"/>
              </a:defRPr>
            </a:pPr>
            <a:r>
              <a:rPr lang="en-US" b="1" i="0" dirty="0">
                <a:solidFill>
                  <a:srgbClr val="0B1A5C"/>
                </a:solidFill>
                <a:latin typeface="Arial"/>
                <a:ea typeface="Arial"/>
                <a:cs typeface="Arial"/>
              </a:rPr>
              <a:t>Code Intelligence tools create strong software intelligence.
</a:t>
            </a:r>
            <a:r>
              <a:rPr lang="en-US" b="1" i="0" dirty="0" err="1">
                <a:solidFill>
                  <a:srgbClr val="0B1A5C"/>
                </a:solidFill>
                <a:latin typeface="Arial"/>
                <a:ea typeface="Arial"/>
                <a:cs typeface="Arial"/>
              </a:rPr>
              <a:t>Intellio</a:t>
            </a:r>
            <a:r>
              <a:rPr lang="en-US" b="1" i="0" dirty="0">
                <a:solidFill>
                  <a:srgbClr val="0B1A5C"/>
                </a:solidFill>
                <a:latin typeface="Arial"/>
                <a:ea typeface="Arial"/>
                <a:cs typeface="Arial"/>
              </a:rPr>
              <a:t> Evolve turns it into business-aligned insights and modernization action.</a:t>
            </a:r>
          </a:p>
        </p:txBody>
      </p:sp>
      <p:sp>
        <p:nvSpPr>
          <p:cNvPr id="14" name="Rectangle 13">
            <a:extLst>
              <a:ext uri="{FF2B5EF4-FFF2-40B4-BE49-F238E27FC236}">
                <a16:creationId xmlns:a16="http://schemas.microsoft.com/office/drawing/2014/main" id="{D547C3D6-63AC-408D-A18B-2517B582E4B2}"/>
              </a:ext>
            </a:extLst>
          </p:cNvPr>
          <p:cNvSpPr>
            <a:spLocks noGrp="1"/>
          </p:cNvSpPr>
          <p:nvPr/>
        </p:nvSpPr>
        <p:spPr>
          <a:xfrm>
            <a:off x="3302000" y="1441450"/>
            <a:ext cx="3530600" cy="228600"/>
          </a:xfrm>
          <a:prstGeom prst="rect">
            <a:avLst/>
          </a:prstGeom>
          <a:noFill/>
          <a:ln w="0">
            <a:noFill/>
            <a:prstDash val="solid"/>
          </a:ln>
        </p:spPr>
        <p:txBody>
          <a:bodyPr wrap="square" lIns="0" tIns="0" rIns="0" bIns="0" anchor="ctr" anchorCtr="0">
            <a:noAutofit/>
          </a:bodyPr>
          <a:lstStyle/>
          <a:p>
            <a:pPr algn="ctr">
              <a:defRPr sz="1013" b="1" i="0">
                <a:solidFill>
                  <a:srgbClr val="FFFFFF"/>
                </a:solidFill>
                <a:latin typeface="Arial"/>
                <a:ea typeface="Arial"/>
                <a:cs typeface="Arial"/>
              </a:defRPr>
            </a:pPr>
            <a:r>
              <a:rPr lang="en-US" sz="1100" b="1" i="0" dirty="0">
                <a:solidFill>
                  <a:srgbClr val="0B1A5C"/>
                </a:solidFill>
                <a:latin typeface="Arial"/>
                <a:ea typeface="Arial"/>
                <a:cs typeface="Arial"/>
              </a:rPr>
              <a:t>CODE INTELLIGENCE</a:t>
            </a:r>
          </a:p>
        </p:txBody>
      </p:sp>
      <p:sp>
        <p:nvSpPr>
          <p:cNvPr id="15" name="Rectangle 14">
            <a:extLst>
              <a:ext uri="{FF2B5EF4-FFF2-40B4-BE49-F238E27FC236}">
                <a16:creationId xmlns:a16="http://schemas.microsoft.com/office/drawing/2014/main" id="{6AD73999-A53D-4D18-A5E4-0D3305235C47}"/>
              </a:ext>
            </a:extLst>
          </p:cNvPr>
          <p:cNvSpPr>
            <a:spLocks noGrp="1"/>
          </p:cNvSpPr>
          <p:nvPr/>
        </p:nvSpPr>
        <p:spPr>
          <a:xfrm>
            <a:off x="3302000" y="1663700"/>
            <a:ext cx="3530600" cy="177800"/>
          </a:xfrm>
          <a:prstGeom prst="rect">
            <a:avLst/>
          </a:prstGeom>
          <a:noFill/>
          <a:ln w="0">
            <a:noFill/>
            <a:prstDash val="solid"/>
          </a:ln>
        </p:spPr>
        <p:txBody>
          <a:bodyPr wrap="square" lIns="0" tIns="0" rIns="0" bIns="0" anchor="ctr" anchorCtr="0">
            <a:normAutofit/>
          </a:bodyPr>
          <a:lstStyle/>
          <a:p>
            <a:pPr algn="ctr">
              <a:defRPr sz="713" b="0" i="0">
                <a:solidFill>
                  <a:srgbClr val="CAD5FF"/>
                </a:solidFill>
                <a:latin typeface="Arial"/>
                <a:ea typeface="Arial"/>
                <a:cs typeface="Arial"/>
              </a:defRPr>
            </a:pPr>
            <a:r>
              <a:rPr lang="en-US" sz="750" i="0" dirty="0">
                <a:solidFill>
                  <a:srgbClr val="5B6B88"/>
                </a:solidFill>
                <a:latin typeface="Arial"/>
                <a:ea typeface="Arial"/>
                <a:cs typeface="Arial"/>
              </a:rPr>
              <a:t>CAST and representative alternatives</a:t>
            </a:r>
          </a:p>
        </p:txBody>
      </p:sp>
      <p:sp>
        <p:nvSpPr>
          <p:cNvPr id="24" name="Rectangle 23">
            <a:extLst>
              <a:ext uri="{FF2B5EF4-FFF2-40B4-BE49-F238E27FC236}">
                <a16:creationId xmlns:a16="http://schemas.microsoft.com/office/drawing/2014/main" id="{A54CCF7C-D963-44DC-83EA-883029D028FB}"/>
              </a:ext>
            </a:extLst>
          </p:cNvPr>
          <p:cNvSpPr>
            <a:spLocks noGrp="1"/>
          </p:cNvSpPr>
          <p:nvPr/>
        </p:nvSpPr>
        <p:spPr>
          <a:xfrm>
            <a:off x="7150100" y="1441450"/>
            <a:ext cx="4197350" cy="228600"/>
          </a:xfrm>
          <a:prstGeom prst="rect">
            <a:avLst/>
          </a:prstGeom>
          <a:noFill/>
          <a:ln w="0">
            <a:noFill/>
            <a:prstDash val="solid"/>
          </a:ln>
        </p:spPr>
        <p:txBody>
          <a:bodyPr wrap="square" lIns="0" tIns="0" rIns="0" bIns="0" anchor="ctr" anchorCtr="0">
            <a:normAutofit/>
          </a:bodyPr>
          <a:lstStyle/>
          <a:p>
            <a:pPr algn="ctr">
              <a:defRPr sz="1050" b="1" i="0">
                <a:solidFill>
                  <a:srgbClr val="FFFFFF"/>
                </a:solidFill>
                <a:latin typeface="Arial"/>
                <a:ea typeface="Arial"/>
                <a:cs typeface="Arial"/>
              </a:defRPr>
            </a:pPr>
            <a:r>
              <a:rPr lang="en-US" sz="1200" b="1" i="0">
                <a:solidFill>
                  <a:srgbClr val="FFFFFF"/>
                </a:solidFill>
                <a:latin typeface="Arial"/>
                <a:ea typeface="Arial"/>
                <a:cs typeface="Arial"/>
              </a:rPr>
              <a:t>EVOLVE</a:t>
            </a:r>
          </a:p>
        </p:txBody>
      </p:sp>
      <p:sp>
        <p:nvSpPr>
          <p:cNvPr id="25" name="Rectangle 24">
            <a:extLst>
              <a:ext uri="{FF2B5EF4-FFF2-40B4-BE49-F238E27FC236}">
                <a16:creationId xmlns:a16="http://schemas.microsoft.com/office/drawing/2014/main" id="{DE58E7A0-D713-41EB-99EF-EBF03CD38947}"/>
              </a:ext>
            </a:extLst>
          </p:cNvPr>
          <p:cNvSpPr>
            <a:spLocks noGrp="1"/>
          </p:cNvSpPr>
          <p:nvPr/>
        </p:nvSpPr>
        <p:spPr>
          <a:xfrm>
            <a:off x="7150100" y="1663700"/>
            <a:ext cx="4197350" cy="177800"/>
          </a:xfrm>
          <a:prstGeom prst="rect">
            <a:avLst/>
          </a:prstGeom>
          <a:noFill/>
          <a:ln w="0">
            <a:noFill/>
            <a:prstDash val="solid"/>
          </a:ln>
        </p:spPr>
        <p:txBody>
          <a:bodyPr wrap="square" lIns="0" tIns="0" rIns="0" bIns="0" anchor="ctr" anchorCtr="0">
            <a:normAutofit/>
          </a:bodyPr>
          <a:lstStyle/>
          <a:p>
            <a:pPr algn="ctr">
              <a:defRPr sz="713" b="0" i="0">
                <a:solidFill>
                  <a:srgbClr val="DCE4FF"/>
                </a:solidFill>
                <a:latin typeface="Arial"/>
                <a:ea typeface="Arial"/>
                <a:cs typeface="Arial"/>
              </a:defRPr>
            </a:pPr>
            <a:r>
              <a:rPr lang="en-US" sz="750" i="0" dirty="0">
                <a:solidFill>
                  <a:srgbClr val="FFFFFF"/>
                </a:solidFill>
                <a:latin typeface="Arial"/>
                <a:ea typeface="Arial"/>
                <a:cs typeface="Arial"/>
              </a:rPr>
              <a:t>Intelligence + expert practitioner</a:t>
            </a:r>
            <a:endParaRPr sz="750" i="0" dirty="0">
              <a:solidFill>
                <a:srgbClr val="FFFFFF"/>
              </a:solidFill>
              <a:latin typeface="Arial"/>
              <a:ea typeface="Arial"/>
              <a:cs typeface="Arial"/>
            </a:endParaRPr>
          </a:p>
        </p:txBody>
      </p:sp>
      <p:sp>
        <p:nvSpPr>
          <p:cNvPr id="7" name="TextBox 6">
            <a:extLst>
              <a:ext uri="{FF2B5EF4-FFF2-40B4-BE49-F238E27FC236}">
                <a16:creationId xmlns:a16="http://schemas.microsoft.com/office/drawing/2014/main" id="{77A0D6EC-E35D-9F4C-8053-BE55F0D1F276}"/>
              </a:ext>
            </a:extLst>
          </p:cNvPr>
          <p:cNvSpPr txBox="1"/>
          <p:nvPr/>
        </p:nvSpPr>
        <p:spPr>
          <a:xfrm>
            <a:off x="7264400" y="1225550"/>
            <a:ext cx="914400" cy="139700"/>
          </a:xfrm>
          <a:prstGeom prst="rect">
            <a:avLst/>
          </a:prstGeom>
          <a:noFill/>
        </p:spPr>
        <p:txBody>
          <a:bodyPr vertOverflow="overflow" vert="horz" wrap="none" rtlCol="0" anchor="ctr" anchorCtr="0">
            <a:noAutofit/>
          </a:bodyPr>
          <a:lstStyle/>
          <a:p>
            <a:pPr algn="l"/>
            <a:r>
              <a:rPr lang="en-US" sz="700" b="1">
                <a:solidFill>
                  <a:srgbClr val="5B6985"/>
                </a:solidFill>
                <a:latin typeface="Arial"/>
                <a:cs typeface="Arial"/>
              </a:rPr>
              <a:t>RELATIVE DEPTH</a:t>
            </a:r>
          </a:p>
        </p:txBody>
      </p:sp>
      <p:sp>
        <p:nvSpPr>
          <p:cNvPr id="10" name="Oval 9">
            <a:extLst>
              <a:ext uri="{FF2B5EF4-FFF2-40B4-BE49-F238E27FC236}">
                <a16:creationId xmlns:a16="http://schemas.microsoft.com/office/drawing/2014/main" id="{249DEA58-59C8-E841-A831-BB632281BD87}"/>
              </a:ext>
            </a:extLst>
          </p:cNvPr>
          <p:cNvSpPr/>
          <p:nvPr/>
        </p:nvSpPr>
        <p:spPr>
          <a:xfrm>
            <a:off x="8255000" y="1266825"/>
            <a:ext cx="57150" cy="57150"/>
          </a:xfrm>
          <a:prstGeom prst="ellipse">
            <a:avLst/>
          </a:prstGeom>
          <a:solidFill>
            <a:srgbClr val="1F4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Oval 22">
            <a:extLst>
              <a:ext uri="{FF2B5EF4-FFF2-40B4-BE49-F238E27FC236}">
                <a16:creationId xmlns:a16="http://schemas.microsoft.com/office/drawing/2014/main" id="{4CE361AD-6C50-934A-9751-9D7D58BA3C10}"/>
              </a:ext>
            </a:extLst>
          </p:cNvPr>
          <p:cNvSpPr/>
          <p:nvPr/>
        </p:nvSpPr>
        <p:spPr>
          <a:xfrm>
            <a:off x="8350250" y="1266825"/>
            <a:ext cx="57150" cy="57150"/>
          </a:xfrm>
          <a:prstGeom prst="ellipse">
            <a:avLst/>
          </a:prstGeom>
          <a:solidFill>
            <a:srgbClr val="CBD5E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Oval 34">
            <a:extLst>
              <a:ext uri="{FF2B5EF4-FFF2-40B4-BE49-F238E27FC236}">
                <a16:creationId xmlns:a16="http://schemas.microsoft.com/office/drawing/2014/main" id="{C0DE64F5-588C-2C4E-A6B3-BBE38CC7C6B6}"/>
              </a:ext>
            </a:extLst>
          </p:cNvPr>
          <p:cNvSpPr/>
          <p:nvPr/>
        </p:nvSpPr>
        <p:spPr>
          <a:xfrm>
            <a:off x="8445500" y="1266825"/>
            <a:ext cx="57150" cy="57150"/>
          </a:xfrm>
          <a:prstGeom prst="ellipse">
            <a:avLst/>
          </a:prstGeom>
          <a:solidFill>
            <a:srgbClr val="CBD5E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TextBox 45">
            <a:extLst>
              <a:ext uri="{FF2B5EF4-FFF2-40B4-BE49-F238E27FC236}">
                <a16:creationId xmlns:a16="http://schemas.microsoft.com/office/drawing/2014/main" id="{B5016825-4196-4E41-AFA1-DB61C922E76D}"/>
              </a:ext>
            </a:extLst>
          </p:cNvPr>
          <p:cNvSpPr txBox="1"/>
          <p:nvPr/>
        </p:nvSpPr>
        <p:spPr>
          <a:xfrm>
            <a:off x="8521700" y="1225550"/>
            <a:ext cx="571500" cy="139700"/>
          </a:xfrm>
          <a:prstGeom prst="rect">
            <a:avLst/>
          </a:prstGeom>
          <a:noFill/>
        </p:spPr>
        <p:txBody>
          <a:bodyPr vertOverflow="overflow" vert="horz" wrap="none" rtlCol="0" anchor="ctr" anchorCtr="0">
            <a:noAutofit/>
          </a:bodyPr>
          <a:lstStyle/>
          <a:p>
            <a:pPr algn="l"/>
            <a:r>
              <a:rPr lang="en-US" sz="750">
                <a:solidFill>
                  <a:srgbClr val="08145C"/>
                </a:solidFill>
                <a:latin typeface="Arial"/>
                <a:cs typeface="Arial"/>
              </a:rPr>
              <a:t>Baseline</a:t>
            </a:r>
          </a:p>
        </p:txBody>
      </p:sp>
      <p:sp>
        <p:nvSpPr>
          <p:cNvPr id="57" name="Oval 56">
            <a:extLst>
              <a:ext uri="{FF2B5EF4-FFF2-40B4-BE49-F238E27FC236}">
                <a16:creationId xmlns:a16="http://schemas.microsoft.com/office/drawing/2014/main" id="{2C61280D-A30B-AE4A-B505-7E3CB91F3BEC}"/>
              </a:ext>
            </a:extLst>
          </p:cNvPr>
          <p:cNvSpPr/>
          <p:nvPr/>
        </p:nvSpPr>
        <p:spPr>
          <a:xfrm>
            <a:off x="9169400" y="1266825"/>
            <a:ext cx="57150" cy="57150"/>
          </a:xfrm>
          <a:prstGeom prst="ellipse">
            <a:avLst/>
          </a:prstGeom>
          <a:solidFill>
            <a:srgbClr val="1F4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8" name="Oval 67">
            <a:extLst>
              <a:ext uri="{FF2B5EF4-FFF2-40B4-BE49-F238E27FC236}">
                <a16:creationId xmlns:a16="http://schemas.microsoft.com/office/drawing/2014/main" id="{5705486C-BEC8-0F4F-9CFC-A31D5FAE84D6}"/>
              </a:ext>
            </a:extLst>
          </p:cNvPr>
          <p:cNvSpPr/>
          <p:nvPr/>
        </p:nvSpPr>
        <p:spPr>
          <a:xfrm>
            <a:off x="9264650" y="1266825"/>
            <a:ext cx="57150" cy="57150"/>
          </a:xfrm>
          <a:prstGeom prst="ellipse">
            <a:avLst/>
          </a:prstGeom>
          <a:solidFill>
            <a:srgbClr val="1F4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9" name="Oval 78">
            <a:extLst>
              <a:ext uri="{FF2B5EF4-FFF2-40B4-BE49-F238E27FC236}">
                <a16:creationId xmlns:a16="http://schemas.microsoft.com/office/drawing/2014/main" id="{B51FA5B8-7FF9-DF47-80F9-13DE4CE966AD}"/>
              </a:ext>
            </a:extLst>
          </p:cNvPr>
          <p:cNvSpPr/>
          <p:nvPr/>
        </p:nvSpPr>
        <p:spPr>
          <a:xfrm>
            <a:off x="9359900" y="1266825"/>
            <a:ext cx="57150" cy="57150"/>
          </a:xfrm>
          <a:prstGeom prst="ellipse">
            <a:avLst/>
          </a:prstGeom>
          <a:solidFill>
            <a:srgbClr val="CBD5E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0" name="TextBox 89">
            <a:extLst>
              <a:ext uri="{FF2B5EF4-FFF2-40B4-BE49-F238E27FC236}">
                <a16:creationId xmlns:a16="http://schemas.microsoft.com/office/drawing/2014/main" id="{7E4A973A-8391-314C-ADD7-CDA49CC1450A}"/>
              </a:ext>
            </a:extLst>
          </p:cNvPr>
          <p:cNvSpPr txBox="1"/>
          <p:nvPr/>
        </p:nvSpPr>
        <p:spPr>
          <a:xfrm>
            <a:off x="9436100" y="1225550"/>
            <a:ext cx="622300" cy="139700"/>
          </a:xfrm>
          <a:prstGeom prst="rect">
            <a:avLst/>
          </a:prstGeom>
          <a:noFill/>
        </p:spPr>
        <p:txBody>
          <a:bodyPr vertOverflow="overflow" vert="horz" wrap="none" rtlCol="0" anchor="ctr" anchorCtr="0">
            <a:noAutofit/>
          </a:bodyPr>
          <a:lstStyle/>
          <a:p>
            <a:pPr algn="l"/>
            <a:r>
              <a:rPr lang="en-US" sz="750">
                <a:solidFill>
                  <a:srgbClr val="08145C"/>
                </a:solidFill>
                <a:latin typeface="Arial"/>
                <a:cs typeface="Arial"/>
              </a:rPr>
              <a:t>Enhanced</a:t>
            </a:r>
          </a:p>
        </p:txBody>
      </p:sp>
      <p:sp>
        <p:nvSpPr>
          <p:cNvPr id="168" name="Oval 167">
            <a:extLst>
              <a:ext uri="{FF2B5EF4-FFF2-40B4-BE49-F238E27FC236}">
                <a16:creationId xmlns:a16="http://schemas.microsoft.com/office/drawing/2014/main" id="{7473DEF3-111C-DD44-9CBD-E6BE85BA13A7}"/>
              </a:ext>
            </a:extLst>
          </p:cNvPr>
          <p:cNvSpPr/>
          <p:nvPr/>
        </p:nvSpPr>
        <p:spPr>
          <a:xfrm>
            <a:off x="10134600" y="1266825"/>
            <a:ext cx="57150" cy="57150"/>
          </a:xfrm>
          <a:prstGeom prst="ellipse">
            <a:avLst/>
          </a:prstGeom>
          <a:solidFill>
            <a:srgbClr val="1F4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0" name="Oval 169">
            <a:extLst>
              <a:ext uri="{FF2B5EF4-FFF2-40B4-BE49-F238E27FC236}">
                <a16:creationId xmlns:a16="http://schemas.microsoft.com/office/drawing/2014/main" id="{1CC2F258-D191-854A-9B9D-090E965CF23D}"/>
              </a:ext>
            </a:extLst>
          </p:cNvPr>
          <p:cNvSpPr/>
          <p:nvPr/>
        </p:nvSpPr>
        <p:spPr>
          <a:xfrm>
            <a:off x="10229850" y="1266825"/>
            <a:ext cx="57150" cy="57150"/>
          </a:xfrm>
          <a:prstGeom prst="ellipse">
            <a:avLst/>
          </a:prstGeom>
          <a:solidFill>
            <a:srgbClr val="1F4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2" name="Oval 171">
            <a:extLst>
              <a:ext uri="{FF2B5EF4-FFF2-40B4-BE49-F238E27FC236}">
                <a16:creationId xmlns:a16="http://schemas.microsoft.com/office/drawing/2014/main" id="{5925E680-701D-3E4E-A45E-6D7A1FAA5CB6}"/>
              </a:ext>
            </a:extLst>
          </p:cNvPr>
          <p:cNvSpPr/>
          <p:nvPr/>
        </p:nvSpPr>
        <p:spPr>
          <a:xfrm>
            <a:off x="10325100" y="1266825"/>
            <a:ext cx="57150" cy="57150"/>
          </a:xfrm>
          <a:prstGeom prst="ellipse">
            <a:avLst/>
          </a:prstGeom>
          <a:solidFill>
            <a:srgbClr val="1F4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4" name="TextBox 173">
            <a:extLst>
              <a:ext uri="{FF2B5EF4-FFF2-40B4-BE49-F238E27FC236}">
                <a16:creationId xmlns:a16="http://schemas.microsoft.com/office/drawing/2014/main" id="{8D5122AF-355E-7F4F-BECF-037C0021013E}"/>
              </a:ext>
            </a:extLst>
          </p:cNvPr>
          <p:cNvSpPr txBox="1"/>
          <p:nvPr/>
        </p:nvSpPr>
        <p:spPr>
          <a:xfrm>
            <a:off x="10401300" y="1225550"/>
            <a:ext cx="1092200" cy="139700"/>
          </a:xfrm>
          <a:prstGeom prst="rect">
            <a:avLst/>
          </a:prstGeom>
          <a:noFill/>
        </p:spPr>
        <p:txBody>
          <a:bodyPr vertOverflow="overflow" vert="horz" wrap="none" rtlCol="0" anchor="ctr" anchorCtr="0">
            <a:noAutofit/>
          </a:bodyPr>
          <a:lstStyle/>
          <a:p>
            <a:pPr algn="l"/>
            <a:r>
              <a:rPr lang="en-US" sz="750">
                <a:solidFill>
                  <a:srgbClr val="08145C"/>
                </a:solidFill>
                <a:latin typeface="Arial"/>
                <a:cs typeface="Arial"/>
              </a:rPr>
              <a:t>Comprehensive</a:t>
            </a:r>
          </a:p>
        </p:txBody>
      </p:sp>
      <p:sp>
        <p:nvSpPr>
          <p:cNvPr id="2" name="buyer-gap-label">
            <a:extLst>
              <a:ext uri="{FF2B5EF4-FFF2-40B4-BE49-F238E27FC236}">
                <a16:creationId xmlns:a16="http://schemas.microsoft.com/office/drawing/2014/main" id="{6B1D58BE-CBC8-EE48-99C4-5A3E3A35BDC9}"/>
              </a:ext>
            </a:extLst>
          </p:cNvPr>
          <p:cNvSpPr txBox="1"/>
          <p:nvPr/>
        </p:nvSpPr>
        <p:spPr>
          <a:xfrm>
            <a:off x="6991350" y="5172976"/>
            <a:ext cx="4260850" cy="207749"/>
          </a:xfrm>
          <a:prstGeom prst="rect">
            <a:avLst/>
          </a:prstGeom>
          <a:noFill/>
        </p:spPr>
        <p:txBody>
          <a:bodyPr vertOverflow="overflow" vert="horz" wrap="square" rtlCol="0" anchor="ctr" anchorCtr="0">
            <a:spAutoFit/>
          </a:bodyPr>
          <a:lstStyle/>
          <a:p>
            <a:pPr algn="l"/>
            <a:r>
              <a:rPr lang="en-US" sz="750" b="1" dirty="0">
                <a:solidFill>
                  <a:srgbClr val="5B6F93"/>
                </a:solidFill>
              </a:rPr>
              <a:t>THE BUYER GAP</a:t>
            </a:r>
          </a:p>
        </p:txBody>
      </p:sp>
      <p:sp>
        <p:nvSpPr>
          <p:cNvPr id="12" name="Rectangle 11">
            <a:extLst>
              <a:ext uri="{FF2B5EF4-FFF2-40B4-BE49-F238E27FC236}">
                <a16:creationId xmlns:a16="http://schemas.microsoft.com/office/drawing/2014/main" id="{9D2809C1-4DEE-461E-A755-520F0A4270A1}"/>
              </a:ext>
            </a:extLst>
          </p:cNvPr>
          <p:cNvSpPr>
            <a:spLocks noGrp="1"/>
          </p:cNvSpPr>
          <p:nvPr/>
        </p:nvSpPr>
        <p:spPr>
          <a:xfrm>
            <a:off x="838200" y="1536700"/>
            <a:ext cx="2152650" cy="228600"/>
          </a:xfrm>
          <a:prstGeom prst="rect">
            <a:avLst/>
          </a:prstGeom>
          <a:noFill/>
          <a:ln w="0">
            <a:noFill/>
            <a:prstDash val="solid"/>
          </a:ln>
        </p:spPr>
        <p:txBody>
          <a:bodyPr wrap="square" lIns="0" tIns="0" rIns="0" bIns="0" anchor="ctr" anchorCtr="0">
            <a:normAutofit/>
          </a:bodyPr>
          <a:lstStyle/>
          <a:p>
            <a:pPr algn="l">
              <a:defRPr sz="863" b="1" i="0">
                <a:solidFill>
                  <a:srgbClr val="50658E"/>
                </a:solidFill>
                <a:latin typeface="Arial"/>
                <a:ea typeface="Arial"/>
                <a:cs typeface="Arial"/>
              </a:defRPr>
            </a:pPr>
            <a:r>
              <a:rPr lang="en-US" sz="850" b="1" i="0">
                <a:solidFill>
                  <a:srgbClr val="5B6B88"/>
                </a:solidFill>
                <a:latin typeface="Arial"/>
                <a:ea typeface="Arial"/>
                <a:cs typeface="Arial"/>
              </a:rPr>
              <a:t>BUYER NEED</a:t>
            </a:r>
          </a:p>
        </p:txBody>
      </p:sp>
      <p:sp>
        <p:nvSpPr>
          <p:cNvPr id="27" name="Rectangle 26">
            <a:extLst>
              <a:ext uri="{FF2B5EF4-FFF2-40B4-BE49-F238E27FC236}">
                <a16:creationId xmlns:a16="http://schemas.microsoft.com/office/drawing/2014/main" id="{0BCA51F5-D2F3-46AD-B6E3-7AD7304C2477}"/>
              </a:ext>
            </a:extLst>
          </p:cNvPr>
          <p:cNvSpPr>
            <a:spLocks noGrp="1"/>
          </p:cNvSpPr>
          <p:nvPr/>
        </p:nvSpPr>
        <p:spPr>
          <a:xfrm>
            <a:off x="819150" y="2000250"/>
            <a:ext cx="2190750" cy="387350"/>
          </a:xfrm>
          <a:prstGeom prst="rect">
            <a:avLst/>
          </a:prstGeom>
          <a:noFill/>
          <a:ln w="0">
            <a:noFill/>
            <a:prstDash val="solid"/>
          </a:ln>
        </p:spPr>
        <p:txBody>
          <a:bodyPr wrap="square" lIns="0" tIns="0" rIns="0" bIns="0" anchor="ctr" anchorCtr="0">
            <a:normAutofit/>
          </a:bodyPr>
          <a:lstStyle/>
          <a:p>
            <a:pPr algn="l">
              <a:defRPr sz="844" b="1" i="0">
                <a:solidFill>
                  <a:srgbClr val="070154"/>
                </a:solidFill>
                <a:latin typeface="Arial"/>
                <a:ea typeface="Arial"/>
                <a:cs typeface="Arial"/>
              </a:defRPr>
            </a:pPr>
            <a:r>
              <a:rPr lang="en-US" sz="820" b="1" i="0">
                <a:solidFill>
                  <a:srgbClr val="0B1A5C"/>
                </a:solidFill>
                <a:latin typeface="Arial"/>
                <a:ea typeface="Arial"/>
                <a:cs typeface="Arial"/>
              </a:rPr>
              <a:t>Portfolio &amp; cloud readiness</a:t>
            </a:r>
          </a:p>
        </p:txBody>
      </p:sp>
      <p:sp>
        <p:nvSpPr>
          <p:cNvPr id="38" name="Rectangle 37">
            <a:extLst>
              <a:ext uri="{FF2B5EF4-FFF2-40B4-BE49-F238E27FC236}">
                <a16:creationId xmlns:a16="http://schemas.microsoft.com/office/drawing/2014/main" id="{10136191-E261-4D42-974E-0005AFAA4881}"/>
              </a:ext>
            </a:extLst>
          </p:cNvPr>
          <p:cNvSpPr>
            <a:spLocks noGrp="1"/>
          </p:cNvSpPr>
          <p:nvPr/>
        </p:nvSpPr>
        <p:spPr>
          <a:xfrm>
            <a:off x="819150" y="2524125"/>
            <a:ext cx="2190750" cy="387350"/>
          </a:xfrm>
          <a:prstGeom prst="rect">
            <a:avLst/>
          </a:prstGeom>
          <a:noFill/>
          <a:ln w="0">
            <a:noFill/>
            <a:prstDash val="solid"/>
          </a:ln>
        </p:spPr>
        <p:txBody>
          <a:bodyPr wrap="square" lIns="0" tIns="0" rIns="0" bIns="0" anchor="ctr" anchorCtr="0">
            <a:normAutofit/>
          </a:bodyPr>
          <a:lstStyle/>
          <a:p>
            <a:pPr algn="l">
              <a:defRPr sz="844" b="1" i="0">
                <a:solidFill>
                  <a:srgbClr val="070154"/>
                </a:solidFill>
                <a:latin typeface="Arial"/>
                <a:ea typeface="Arial"/>
                <a:cs typeface="Arial"/>
              </a:defRPr>
            </a:pPr>
            <a:r>
              <a:rPr lang="en-US" sz="820" b="1" i="0">
                <a:solidFill>
                  <a:srgbClr val="0B1A5C"/>
                </a:solidFill>
                <a:latin typeface="Arial"/>
                <a:ea typeface="Arial"/>
                <a:cs typeface="Arial"/>
              </a:rPr>
              <a:t>Architecture, dependencies &amp; data</a:t>
            </a:r>
          </a:p>
        </p:txBody>
      </p:sp>
      <p:sp>
        <p:nvSpPr>
          <p:cNvPr id="49" name="Rectangle 48">
            <a:extLst>
              <a:ext uri="{FF2B5EF4-FFF2-40B4-BE49-F238E27FC236}">
                <a16:creationId xmlns:a16="http://schemas.microsoft.com/office/drawing/2014/main" id="{35D1098B-7AB3-4BEF-9C77-5B9DD819FF47}"/>
              </a:ext>
            </a:extLst>
          </p:cNvPr>
          <p:cNvSpPr>
            <a:spLocks noGrp="1"/>
          </p:cNvSpPr>
          <p:nvPr/>
        </p:nvSpPr>
        <p:spPr>
          <a:xfrm>
            <a:off x="819150" y="3048000"/>
            <a:ext cx="2190750" cy="387350"/>
          </a:xfrm>
          <a:prstGeom prst="rect">
            <a:avLst/>
          </a:prstGeom>
          <a:noFill/>
          <a:ln w="0">
            <a:noFill/>
            <a:prstDash val="solid"/>
          </a:ln>
        </p:spPr>
        <p:txBody>
          <a:bodyPr wrap="square" lIns="0" tIns="0" rIns="0" bIns="0" anchor="ctr" anchorCtr="0">
            <a:normAutofit/>
          </a:bodyPr>
          <a:lstStyle/>
          <a:p>
            <a:pPr algn="l">
              <a:defRPr sz="844" b="1" i="0">
                <a:solidFill>
                  <a:srgbClr val="070154"/>
                </a:solidFill>
                <a:latin typeface="Arial"/>
                <a:ea typeface="Arial"/>
                <a:cs typeface="Arial"/>
              </a:defRPr>
            </a:pPr>
            <a:r>
              <a:rPr lang="en-US" sz="820" b="1" i="0">
                <a:solidFill>
                  <a:srgbClr val="0B1A5C"/>
                </a:solidFill>
                <a:latin typeface="Arial"/>
                <a:ea typeface="Arial"/>
                <a:cs typeface="Arial"/>
              </a:rPr>
              <a:t>Functional understanding &amp; specs</a:t>
            </a:r>
          </a:p>
        </p:txBody>
      </p:sp>
      <p:sp>
        <p:nvSpPr>
          <p:cNvPr id="60" name="Rectangle 59">
            <a:extLst>
              <a:ext uri="{FF2B5EF4-FFF2-40B4-BE49-F238E27FC236}">
                <a16:creationId xmlns:a16="http://schemas.microsoft.com/office/drawing/2014/main" id="{4C76F12E-E6C3-4D18-9C46-B3A66BAA8845}"/>
              </a:ext>
            </a:extLst>
          </p:cNvPr>
          <p:cNvSpPr>
            <a:spLocks noGrp="1"/>
          </p:cNvSpPr>
          <p:nvPr/>
        </p:nvSpPr>
        <p:spPr>
          <a:xfrm>
            <a:off x="819150" y="3571875"/>
            <a:ext cx="2190750" cy="387350"/>
          </a:xfrm>
          <a:prstGeom prst="rect">
            <a:avLst/>
          </a:prstGeom>
          <a:noFill/>
          <a:ln w="0">
            <a:noFill/>
            <a:prstDash val="solid"/>
          </a:ln>
        </p:spPr>
        <p:txBody>
          <a:bodyPr wrap="square" lIns="0" tIns="0" rIns="0" bIns="0" anchor="ctr" anchorCtr="0">
            <a:normAutofit/>
          </a:bodyPr>
          <a:lstStyle/>
          <a:p>
            <a:pPr algn="l">
              <a:defRPr sz="844" b="1" i="0">
                <a:solidFill>
                  <a:srgbClr val="070154"/>
                </a:solidFill>
                <a:latin typeface="Arial"/>
                <a:ea typeface="Arial"/>
                <a:cs typeface="Arial"/>
              </a:defRPr>
            </a:pPr>
            <a:r>
              <a:rPr lang="en-US" sz="820" b="1" i="0">
                <a:solidFill>
                  <a:srgbClr val="0B1A5C"/>
                </a:solidFill>
                <a:latin typeface="Arial"/>
                <a:ea typeface="Arial"/>
                <a:cs typeface="Arial"/>
              </a:rPr>
              <a:t>Business value alignment</a:t>
            </a:r>
          </a:p>
        </p:txBody>
      </p:sp>
      <p:sp>
        <p:nvSpPr>
          <p:cNvPr id="71" name="Rectangle 70">
            <a:extLst>
              <a:ext uri="{FF2B5EF4-FFF2-40B4-BE49-F238E27FC236}">
                <a16:creationId xmlns:a16="http://schemas.microsoft.com/office/drawing/2014/main" id="{E37AEBA4-C7C2-405F-83AD-7057BB28BFB2}"/>
              </a:ext>
            </a:extLst>
          </p:cNvPr>
          <p:cNvSpPr>
            <a:spLocks noGrp="1"/>
          </p:cNvSpPr>
          <p:nvPr/>
        </p:nvSpPr>
        <p:spPr>
          <a:xfrm>
            <a:off x="819150" y="4095750"/>
            <a:ext cx="2190750" cy="387350"/>
          </a:xfrm>
          <a:prstGeom prst="rect">
            <a:avLst/>
          </a:prstGeom>
          <a:noFill/>
          <a:ln w="0">
            <a:noFill/>
            <a:prstDash val="solid"/>
          </a:ln>
        </p:spPr>
        <p:txBody>
          <a:bodyPr wrap="square" lIns="0" tIns="0" rIns="0" bIns="0" anchor="ctr" anchorCtr="0">
            <a:normAutofit/>
          </a:bodyPr>
          <a:lstStyle/>
          <a:p>
            <a:pPr algn="l">
              <a:defRPr sz="844" b="1" i="0">
                <a:solidFill>
                  <a:srgbClr val="070154"/>
                </a:solidFill>
                <a:latin typeface="Arial"/>
                <a:ea typeface="Arial"/>
                <a:cs typeface="Arial"/>
              </a:defRPr>
            </a:pPr>
            <a:r>
              <a:rPr lang="en-US" sz="820" b="1" i="0">
                <a:solidFill>
                  <a:srgbClr val="0B1A5C"/>
                </a:solidFill>
                <a:latin typeface="Arial"/>
                <a:ea typeface="Arial"/>
                <a:cs typeface="Arial"/>
              </a:rPr>
              <a:t>Target architecture &amp; roadmap</a:t>
            </a:r>
          </a:p>
        </p:txBody>
      </p:sp>
      <p:sp>
        <p:nvSpPr>
          <p:cNvPr id="82" name="Rectangle 81">
            <a:extLst>
              <a:ext uri="{FF2B5EF4-FFF2-40B4-BE49-F238E27FC236}">
                <a16:creationId xmlns:a16="http://schemas.microsoft.com/office/drawing/2014/main" id="{0C0C8E54-29B2-4AE8-ADBE-1DB60EFBF9BA}"/>
              </a:ext>
            </a:extLst>
          </p:cNvPr>
          <p:cNvSpPr>
            <a:spLocks noGrp="1"/>
          </p:cNvSpPr>
          <p:nvPr/>
        </p:nvSpPr>
        <p:spPr>
          <a:xfrm>
            <a:off x="819150" y="4619625"/>
            <a:ext cx="2190750" cy="387350"/>
          </a:xfrm>
          <a:prstGeom prst="rect">
            <a:avLst/>
          </a:prstGeom>
          <a:noFill/>
          <a:ln w="0">
            <a:noFill/>
            <a:prstDash val="solid"/>
          </a:ln>
        </p:spPr>
        <p:txBody>
          <a:bodyPr wrap="square" lIns="0" tIns="0" rIns="0" bIns="0" anchor="ctr" anchorCtr="0">
            <a:normAutofit/>
          </a:bodyPr>
          <a:lstStyle/>
          <a:p>
            <a:pPr algn="l">
              <a:defRPr sz="844" b="1" i="0">
                <a:solidFill>
                  <a:srgbClr val="070154"/>
                </a:solidFill>
                <a:latin typeface="Arial"/>
                <a:ea typeface="Arial"/>
                <a:cs typeface="Arial"/>
              </a:defRPr>
            </a:pPr>
            <a:r>
              <a:rPr lang="en-US" sz="820" b="1" i="0">
                <a:solidFill>
                  <a:srgbClr val="0B1A5C"/>
                </a:solidFill>
                <a:latin typeface="Arial"/>
                <a:ea typeface="Arial"/>
                <a:cs typeface="Arial"/>
              </a:rPr>
              <a:t>Execution support &amp; governance</a:t>
            </a:r>
          </a:p>
        </p:txBody>
      </p:sp>
    </p:spTree>
    <p:extLst>
      <p:ext uri="{BB962C8B-B14F-4D97-AF65-F5344CB8AC3E}">
        <p14:creationId xmlns:p14="http://schemas.microsoft.com/office/powerpoint/2010/main" val="17691326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AF8BDF0-4FAB-C035-8C0D-93970DBACC11}"/>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endParaRPr lang="en-US" dirty="0"/>
          </a:p>
        </p:txBody>
      </p:sp>
      <p:sp>
        <p:nvSpPr>
          <p:cNvPr id="3" name="Slide Number Placeholder 2">
            <a:extLst>
              <a:ext uri="{FF2B5EF4-FFF2-40B4-BE49-F238E27FC236}">
                <a16:creationId xmlns:a16="http://schemas.microsoft.com/office/drawing/2014/main" id="{B24C8CD8-F752-9524-ACA6-5E4BA0C489A0}"/>
              </a:ext>
            </a:extLst>
          </p:cNvPr>
          <p:cNvSpPr>
            <a:spLocks noGrp="1"/>
          </p:cNvSpPr>
          <p:nvPr>
            <p:ph type="sldNum" sz="quarter" idx="11"/>
          </p:nvPr>
        </p:nvSpPr>
        <p:spPr/>
        <p:txBody>
          <a:bodyPr/>
          <a:lstStyle/>
          <a:p>
            <a:fld id="{63DCA5C9-2E11-4C67-86EB-AE1DE127DC64}" type="slidenum">
              <a:rPr lang="en-US" smtClean="0"/>
              <a:pPr/>
              <a:t>80</a:t>
            </a:fld>
            <a:endParaRPr lang="en-US"/>
          </a:p>
        </p:txBody>
      </p:sp>
      <p:sp>
        <p:nvSpPr>
          <p:cNvPr id="4" name="Title 3">
            <a:extLst>
              <a:ext uri="{FF2B5EF4-FFF2-40B4-BE49-F238E27FC236}">
                <a16:creationId xmlns:a16="http://schemas.microsoft.com/office/drawing/2014/main" id="{2881D76D-F45E-ED94-2AA3-E6673985D8F3}"/>
              </a:ext>
            </a:extLst>
          </p:cNvPr>
          <p:cNvSpPr>
            <a:spLocks noGrp="1"/>
          </p:cNvSpPr>
          <p:nvPr>
            <p:ph type="title"/>
          </p:nvPr>
        </p:nvSpPr>
        <p:spPr/>
        <p:txBody>
          <a:bodyPr/>
          <a:lstStyle/>
          <a:p>
            <a:r>
              <a:rPr lang="en-US" dirty="0"/>
              <a:t>Standard mod rationalization</a:t>
            </a:r>
          </a:p>
        </p:txBody>
      </p:sp>
      <p:sp>
        <p:nvSpPr>
          <p:cNvPr id="5" name="Text Placeholder 4">
            <a:extLst>
              <a:ext uri="{FF2B5EF4-FFF2-40B4-BE49-F238E27FC236}">
                <a16:creationId xmlns:a16="http://schemas.microsoft.com/office/drawing/2014/main" id="{361FA328-795F-EFCC-F893-C6AF3E552ABD}"/>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22009899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footer-band">
            <a:extLst>
              <a:ext uri="{FF2B5EF4-FFF2-40B4-BE49-F238E27FC236}">
                <a16:creationId xmlns:a16="http://schemas.microsoft.com/office/drawing/2014/main" id="{BF235080-A7B3-4CE6-B76C-AC3456B37EB4}"/>
              </a:ext>
            </a:extLst>
          </p:cNvPr>
          <p:cNvSpPr>
            <a:spLocks noGrp="1"/>
          </p:cNvSpPr>
          <p:nvPr/>
        </p:nvSpPr>
        <p:spPr>
          <a:xfrm>
            <a:off x="0" y="6400800"/>
            <a:ext cx="12192000" cy="457200"/>
          </a:xfrm>
          <a:prstGeom prst="rect">
            <a:avLst/>
          </a:prstGeom>
          <a:solidFill>
            <a:srgbClr val="E8EEF8"/>
          </a:solidFill>
          <a:ln w="0">
            <a:noFill/>
          </a:ln>
        </p:spPr>
        <p:txBody>
          <a:bodyPr/>
          <a:lstStyle/>
          <a:p>
            <a:endParaRPr lang="en-US"/>
          </a:p>
        </p:txBody>
      </p:sp>
      <p:pic>
        <p:nvPicPr>
          <p:cNvPr id="99" name="Picture 98"/>
          <p:cNvPicPr>
            <a:picLocks noChangeAspect="1"/>
          </p:cNvPicPr>
          <p:nvPr/>
        </p:nvPicPr>
        <p:blipFill>
          <a:blip r:embed="rId3"/>
          <a:stretch/>
        </p:blipFill>
        <p:spPr>
          <a:xfrm>
            <a:off x="689102" y="6553200"/>
            <a:ext cx="1003046" cy="209550"/>
          </a:xfrm>
          <a:prstGeom prst="rect">
            <a:avLst/>
          </a:prstGeom>
        </p:spPr>
      </p:pic>
      <p:sp>
        <p:nvSpPr>
          <p:cNvPr id="3" name="Rectangle 2">
            <a:extLst>
              <a:ext uri="{FF2B5EF4-FFF2-40B4-BE49-F238E27FC236}">
                <a16:creationId xmlns:a16="http://schemas.microsoft.com/office/drawing/2014/main" id="{D957ADFA-EAE7-4EEC-A26C-11F86D6C6289}"/>
              </a:ext>
            </a:extLst>
          </p:cNvPr>
          <p:cNvSpPr>
            <a:spLocks noGrp="1"/>
          </p:cNvSpPr>
          <p:nvPr/>
        </p:nvSpPr>
        <p:spPr>
          <a:xfrm>
            <a:off x="4476750" y="6591300"/>
            <a:ext cx="6762750" cy="123825"/>
          </a:xfrm>
          <a:prstGeom prst="rect">
            <a:avLst/>
          </a:prstGeom>
          <a:noFill/>
          <a:ln w="0">
            <a:noFill/>
          </a:ln>
        </p:spPr>
        <p:txBody>
          <a:bodyPr wrap="square" lIns="0" tIns="0" rIns="0" bIns="0" anchor="t">
            <a:normAutofit/>
          </a:bodyPr>
          <a:lstStyle/>
          <a:p>
            <a:pPr algn="r">
              <a:lnSpc>
                <a:spcPct val="100000"/>
              </a:lnSpc>
              <a:buNone/>
              <a:defRPr sz="638" b="0">
                <a:solidFill>
                  <a:srgbClr val="070154"/>
                </a:solidFill>
                <a:latin typeface="Arial"/>
                <a:ea typeface="Arial"/>
                <a:cs typeface="Arial"/>
              </a:defRPr>
            </a:pPr>
            <a:r>
              <a:rPr sz="638" b="0">
                <a:solidFill>
                  <a:srgbClr val="070154"/>
                </a:solidFill>
                <a:latin typeface="Arial"/>
                <a:ea typeface="Arial"/>
                <a:cs typeface="Arial"/>
              </a:rPr>
              <a:t>© 2026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540E1921-E7E6-4D70-BD1D-B7A5DBB2C07E}"/>
              </a:ext>
            </a:extLst>
          </p:cNvPr>
          <p:cNvSpPr>
            <a:spLocks noGrp="1"/>
          </p:cNvSpPr>
          <p:nvPr/>
        </p:nvSpPr>
        <p:spPr>
          <a:xfrm>
            <a:off x="11468100" y="6591300"/>
            <a:ext cx="228600" cy="123825"/>
          </a:xfrm>
          <a:prstGeom prst="rect">
            <a:avLst/>
          </a:prstGeom>
          <a:noFill/>
          <a:ln w="0">
            <a:noFill/>
          </a:ln>
        </p:spPr>
        <p:txBody>
          <a:bodyPr wrap="square" lIns="0" tIns="0" rIns="0" bIns="0" anchor="t">
            <a:normAutofit/>
          </a:bodyPr>
          <a:lstStyle/>
          <a:p>
            <a:pPr algn="r">
              <a:lnSpc>
                <a:spcPct val="100000"/>
              </a:lnSpc>
              <a:buNone/>
              <a:defRPr sz="675" b="0">
                <a:solidFill>
                  <a:srgbClr val="070154"/>
                </a:solidFill>
                <a:latin typeface="Arial"/>
                <a:ea typeface="Arial"/>
                <a:cs typeface="Arial"/>
              </a:defRPr>
            </a:pPr>
            <a:r>
              <a:rPr lang="en-US" sz="675" b="0">
                <a:solidFill>
                  <a:srgbClr val="070154"/>
                </a:solidFill>
                <a:latin typeface="Arial"/>
                <a:ea typeface="Arial"/>
                <a:cs typeface="Arial"/>
              </a:rPr>
              <a:t>4</a:t>
            </a:r>
            <a:endParaRPr sz="675" b="0">
              <a:solidFill>
                <a:srgbClr val="070154"/>
              </a:solidFill>
              <a:latin typeface="Arial"/>
              <a:ea typeface="Arial"/>
              <a:cs typeface="Arial"/>
            </a:endParaRPr>
          </a:p>
        </p:txBody>
      </p:sp>
      <p:sp>
        <p:nvSpPr>
          <p:cNvPr id="5" name="Oval 4">
            <a:extLst>
              <a:ext uri="{FF2B5EF4-FFF2-40B4-BE49-F238E27FC236}">
                <a16:creationId xmlns:a16="http://schemas.microsoft.com/office/drawing/2014/main" id="{53C3C318-6641-44DE-8617-F65540A03EF6}"/>
              </a:ext>
            </a:extLst>
          </p:cNvPr>
          <p:cNvSpPr>
            <a:spLocks noGrp="1"/>
          </p:cNvSpPr>
          <p:nvPr/>
        </p:nvSpPr>
        <p:spPr>
          <a:xfrm>
            <a:off x="266700" y="190500"/>
            <a:ext cx="28575" cy="28575"/>
          </a:xfrm>
          <a:prstGeom prst="ellipse">
            <a:avLst/>
          </a:prstGeom>
          <a:solidFill>
            <a:srgbClr val="CED7E6"/>
          </a:solidFill>
          <a:ln w="0">
            <a:noFill/>
          </a:ln>
        </p:spPr>
        <p:txBody>
          <a:bodyPr/>
          <a:lstStyle/>
          <a:p>
            <a:endParaRPr lang="en-US"/>
          </a:p>
        </p:txBody>
      </p:sp>
      <p:sp>
        <p:nvSpPr>
          <p:cNvPr id="6" name="Oval 5">
            <a:extLst>
              <a:ext uri="{FF2B5EF4-FFF2-40B4-BE49-F238E27FC236}">
                <a16:creationId xmlns:a16="http://schemas.microsoft.com/office/drawing/2014/main" id="{0664E70A-8AFA-40A0-957D-C5B741F64B3C}"/>
              </a:ext>
            </a:extLst>
          </p:cNvPr>
          <p:cNvSpPr>
            <a:spLocks noGrp="1"/>
          </p:cNvSpPr>
          <p:nvPr/>
        </p:nvSpPr>
        <p:spPr>
          <a:xfrm>
            <a:off x="438150" y="190500"/>
            <a:ext cx="28575" cy="28575"/>
          </a:xfrm>
          <a:prstGeom prst="ellipse">
            <a:avLst/>
          </a:prstGeom>
          <a:solidFill>
            <a:srgbClr val="CED7E6"/>
          </a:solidFill>
          <a:ln w="0">
            <a:noFill/>
          </a:ln>
        </p:spPr>
        <p:txBody>
          <a:bodyPr/>
          <a:lstStyle/>
          <a:p>
            <a:endParaRPr lang="en-US"/>
          </a:p>
        </p:txBody>
      </p:sp>
      <p:sp>
        <p:nvSpPr>
          <p:cNvPr id="7" name="Oval 6">
            <a:extLst>
              <a:ext uri="{FF2B5EF4-FFF2-40B4-BE49-F238E27FC236}">
                <a16:creationId xmlns:a16="http://schemas.microsoft.com/office/drawing/2014/main" id="{6053E168-112D-44B7-BB57-5D88BD01C9F0}"/>
              </a:ext>
            </a:extLst>
          </p:cNvPr>
          <p:cNvSpPr>
            <a:spLocks noGrp="1"/>
          </p:cNvSpPr>
          <p:nvPr/>
        </p:nvSpPr>
        <p:spPr>
          <a:xfrm>
            <a:off x="609600" y="190500"/>
            <a:ext cx="28575" cy="28575"/>
          </a:xfrm>
          <a:prstGeom prst="ellipse">
            <a:avLst/>
          </a:prstGeom>
          <a:solidFill>
            <a:srgbClr val="CED7E6"/>
          </a:solidFill>
          <a:ln w="0">
            <a:noFill/>
          </a:ln>
        </p:spPr>
        <p:txBody>
          <a:bodyPr/>
          <a:lstStyle/>
          <a:p>
            <a:endParaRPr lang="en-US"/>
          </a:p>
        </p:txBody>
      </p:sp>
      <p:sp>
        <p:nvSpPr>
          <p:cNvPr id="8" name="Oval 7">
            <a:extLst>
              <a:ext uri="{FF2B5EF4-FFF2-40B4-BE49-F238E27FC236}">
                <a16:creationId xmlns:a16="http://schemas.microsoft.com/office/drawing/2014/main" id="{30BB9054-C9D3-4D92-A1BD-9182D44E6744}"/>
              </a:ext>
            </a:extLst>
          </p:cNvPr>
          <p:cNvSpPr>
            <a:spLocks noGrp="1"/>
          </p:cNvSpPr>
          <p:nvPr/>
        </p:nvSpPr>
        <p:spPr>
          <a:xfrm>
            <a:off x="781050" y="190500"/>
            <a:ext cx="28575" cy="28575"/>
          </a:xfrm>
          <a:prstGeom prst="ellipse">
            <a:avLst/>
          </a:prstGeom>
          <a:solidFill>
            <a:srgbClr val="CED7E6"/>
          </a:solidFill>
          <a:ln w="0">
            <a:noFill/>
          </a:ln>
        </p:spPr>
        <p:txBody>
          <a:bodyPr/>
          <a:lstStyle/>
          <a:p>
            <a:endParaRPr lang="en-US"/>
          </a:p>
        </p:txBody>
      </p:sp>
      <p:sp>
        <p:nvSpPr>
          <p:cNvPr id="9" name="Oval 8">
            <a:extLst>
              <a:ext uri="{FF2B5EF4-FFF2-40B4-BE49-F238E27FC236}">
                <a16:creationId xmlns:a16="http://schemas.microsoft.com/office/drawing/2014/main" id="{55DAF378-FA00-4324-86D1-9F373580651C}"/>
              </a:ext>
            </a:extLst>
          </p:cNvPr>
          <p:cNvSpPr>
            <a:spLocks noGrp="1"/>
          </p:cNvSpPr>
          <p:nvPr/>
        </p:nvSpPr>
        <p:spPr>
          <a:xfrm>
            <a:off x="952500" y="190500"/>
            <a:ext cx="28575" cy="28575"/>
          </a:xfrm>
          <a:prstGeom prst="ellipse">
            <a:avLst/>
          </a:prstGeom>
          <a:solidFill>
            <a:srgbClr val="CED7E6"/>
          </a:solidFill>
          <a:ln w="0">
            <a:noFill/>
          </a:ln>
        </p:spPr>
        <p:txBody>
          <a:bodyPr/>
          <a:lstStyle/>
          <a:p>
            <a:endParaRPr lang="en-US"/>
          </a:p>
        </p:txBody>
      </p:sp>
      <p:sp>
        <p:nvSpPr>
          <p:cNvPr id="10" name="Oval 9">
            <a:extLst>
              <a:ext uri="{FF2B5EF4-FFF2-40B4-BE49-F238E27FC236}">
                <a16:creationId xmlns:a16="http://schemas.microsoft.com/office/drawing/2014/main" id="{A5CDE563-2A64-40B5-AE38-15264FE1E9A7}"/>
              </a:ext>
            </a:extLst>
          </p:cNvPr>
          <p:cNvSpPr>
            <a:spLocks noGrp="1"/>
          </p:cNvSpPr>
          <p:nvPr/>
        </p:nvSpPr>
        <p:spPr>
          <a:xfrm>
            <a:off x="1123950" y="190500"/>
            <a:ext cx="28575" cy="28575"/>
          </a:xfrm>
          <a:prstGeom prst="ellipse">
            <a:avLst/>
          </a:prstGeom>
          <a:solidFill>
            <a:srgbClr val="CED7E6"/>
          </a:solidFill>
          <a:ln w="0">
            <a:noFill/>
          </a:ln>
        </p:spPr>
        <p:txBody>
          <a:bodyPr/>
          <a:lstStyle/>
          <a:p>
            <a:endParaRPr lang="en-US"/>
          </a:p>
        </p:txBody>
      </p:sp>
      <p:sp>
        <p:nvSpPr>
          <p:cNvPr id="11" name="Oval 10">
            <a:extLst>
              <a:ext uri="{FF2B5EF4-FFF2-40B4-BE49-F238E27FC236}">
                <a16:creationId xmlns:a16="http://schemas.microsoft.com/office/drawing/2014/main" id="{DEBD97D8-357E-46F5-87A5-1B900CAEEA86}"/>
              </a:ext>
            </a:extLst>
          </p:cNvPr>
          <p:cNvSpPr>
            <a:spLocks noGrp="1"/>
          </p:cNvSpPr>
          <p:nvPr/>
        </p:nvSpPr>
        <p:spPr>
          <a:xfrm>
            <a:off x="1295400" y="190500"/>
            <a:ext cx="28575" cy="28575"/>
          </a:xfrm>
          <a:prstGeom prst="ellipse">
            <a:avLst/>
          </a:prstGeom>
          <a:solidFill>
            <a:srgbClr val="CED7E6"/>
          </a:solidFill>
          <a:ln w="0">
            <a:noFill/>
          </a:ln>
        </p:spPr>
        <p:txBody>
          <a:bodyPr/>
          <a:lstStyle/>
          <a:p>
            <a:endParaRPr lang="en-US"/>
          </a:p>
        </p:txBody>
      </p:sp>
      <p:sp>
        <p:nvSpPr>
          <p:cNvPr id="12" name="Oval 11">
            <a:extLst>
              <a:ext uri="{FF2B5EF4-FFF2-40B4-BE49-F238E27FC236}">
                <a16:creationId xmlns:a16="http://schemas.microsoft.com/office/drawing/2014/main" id="{1248128C-2331-4C8C-9272-F73ED2AE5FF2}"/>
              </a:ext>
            </a:extLst>
          </p:cNvPr>
          <p:cNvSpPr>
            <a:spLocks noGrp="1"/>
          </p:cNvSpPr>
          <p:nvPr/>
        </p:nvSpPr>
        <p:spPr>
          <a:xfrm>
            <a:off x="1466850" y="190500"/>
            <a:ext cx="28575" cy="28575"/>
          </a:xfrm>
          <a:prstGeom prst="ellipse">
            <a:avLst/>
          </a:prstGeom>
          <a:solidFill>
            <a:srgbClr val="CED7E6"/>
          </a:solidFill>
          <a:ln w="0">
            <a:noFill/>
          </a:ln>
        </p:spPr>
        <p:txBody>
          <a:bodyPr/>
          <a:lstStyle/>
          <a:p>
            <a:endParaRPr lang="en-US"/>
          </a:p>
        </p:txBody>
      </p:sp>
      <p:sp>
        <p:nvSpPr>
          <p:cNvPr id="13" name="Oval 12">
            <a:extLst>
              <a:ext uri="{FF2B5EF4-FFF2-40B4-BE49-F238E27FC236}">
                <a16:creationId xmlns:a16="http://schemas.microsoft.com/office/drawing/2014/main" id="{AA05FB73-AE57-41EE-A866-435238700D7B}"/>
              </a:ext>
            </a:extLst>
          </p:cNvPr>
          <p:cNvSpPr>
            <a:spLocks noGrp="1"/>
          </p:cNvSpPr>
          <p:nvPr/>
        </p:nvSpPr>
        <p:spPr>
          <a:xfrm>
            <a:off x="1638300" y="190500"/>
            <a:ext cx="28575" cy="28575"/>
          </a:xfrm>
          <a:prstGeom prst="ellipse">
            <a:avLst/>
          </a:prstGeom>
          <a:solidFill>
            <a:srgbClr val="CED7E6"/>
          </a:solidFill>
          <a:ln w="0">
            <a:noFill/>
          </a:ln>
        </p:spPr>
        <p:txBody>
          <a:bodyPr/>
          <a:lstStyle/>
          <a:p>
            <a:endParaRPr lang="en-US"/>
          </a:p>
        </p:txBody>
      </p:sp>
      <p:sp>
        <p:nvSpPr>
          <p:cNvPr id="14" name="Oval 13">
            <a:extLst>
              <a:ext uri="{FF2B5EF4-FFF2-40B4-BE49-F238E27FC236}">
                <a16:creationId xmlns:a16="http://schemas.microsoft.com/office/drawing/2014/main" id="{ADA7EAAE-BE5A-4D36-9535-28DCC5899BB3}"/>
              </a:ext>
            </a:extLst>
          </p:cNvPr>
          <p:cNvSpPr>
            <a:spLocks noGrp="1"/>
          </p:cNvSpPr>
          <p:nvPr/>
        </p:nvSpPr>
        <p:spPr>
          <a:xfrm>
            <a:off x="1809750" y="190500"/>
            <a:ext cx="28575" cy="28575"/>
          </a:xfrm>
          <a:prstGeom prst="ellipse">
            <a:avLst/>
          </a:prstGeom>
          <a:solidFill>
            <a:srgbClr val="CED7E6"/>
          </a:solidFill>
          <a:ln w="0">
            <a:noFill/>
          </a:ln>
        </p:spPr>
        <p:txBody>
          <a:bodyPr/>
          <a:lstStyle/>
          <a:p>
            <a:endParaRPr lang="en-US"/>
          </a:p>
        </p:txBody>
      </p:sp>
      <p:sp>
        <p:nvSpPr>
          <p:cNvPr id="15" name="Oval 14">
            <a:extLst>
              <a:ext uri="{FF2B5EF4-FFF2-40B4-BE49-F238E27FC236}">
                <a16:creationId xmlns:a16="http://schemas.microsoft.com/office/drawing/2014/main" id="{AB769D46-ADB2-4B4E-9C9C-82462F11B36D}"/>
              </a:ext>
            </a:extLst>
          </p:cNvPr>
          <p:cNvSpPr>
            <a:spLocks noGrp="1"/>
          </p:cNvSpPr>
          <p:nvPr/>
        </p:nvSpPr>
        <p:spPr>
          <a:xfrm>
            <a:off x="266700" y="361950"/>
            <a:ext cx="28575" cy="28575"/>
          </a:xfrm>
          <a:prstGeom prst="ellipse">
            <a:avLst/>
          </a:prstGeom>
          <a:solidFill>
            <a:srgbClr val="CED7E6"/>
          </a:solidFill>
          <a:ln w="0">
            <a:noFill/>
          </a:ln>
        </p:spPr>
        <p:txBody>
          <a:bodyPr/>
          <a:lstStyle/>
          <a:p>
            <a:endParaRPr lang="en-US"/>
          </a:p>
        </p:txBody>
      </p:sp>
      <p:sp>
        <p:nvSpPr>
          <p:cNvPr id="16" name="Oval 15">
            <a:extLst>
              <a:ext uri="{FF2B5EF4-FFF2-40B4-BE49-F238E27FC236}">
                <a16:creationId xmlns:a16="http://schemas.microsoft.com/office/drawing/2014/main" id="{F173C1F5-2D5A-4631-A753-10AAB4D7396C}"/>
              </a:ext>
            </a:extLst>
          </p:cNvPr>
          <p:cNvSpPr>
            <a:spLocks noGrp="1"/>
          </p:cNvSpPr>
          <p:nvPr/>
        </p:nvSpPr>
        <p:spPr>
          <a:xfrm>
            <a:off x="438150" y="361950"/>
            <a:ext cx="28575" cy="28575"/>
          </a:xfrm>
          <a:prstGeom prst="ellipse">
            <a:avLst/>
          </a:prstGeom>
          <a:solidFill>
            <a:srgbClr val="CED7E6"/>
          </a:solidFill>
          <a:ln w="0">
            <a:noFill/>
          </a:ln>
        </p:spPr>
        <p:txBody>
          <a:bodyPr/>
          <a:lstStyle/>
          <a:p>
            <a:endParaRPr lang="en-US"/>
          </a:p>
        </p:txBody>
      </p:sp>
      <p:sp>
        <p:nvSpPr>
          <p:cNvPr id="17" name="Oval 16">
            <a:extLst>
              <a:ext uri="{FF2B5EF4-FFF2-40B4-BE49-F238E27FC236}">
                <a16:creationId xmlns:a16="http://schemas.microsoft.com/office/drawing/2014/main" id="{B53470D1-869C-4C87-98F1-DBCDF342AC23}"/>
              </a:ext>
            </a:extLst>
          </p:cNvPr>
          <p:cNvSpPr>
            <a:spLocks noGrp="1"/>
          </p:cNvSpPr>
          <p:nvPr/>
        </p:nvSpPr>
        <p:spPr>
          <a:xfrm>
            <a:off x="609600" y="361950"/>
            <a:ext cx="28575" cy="28575"/>
          </a:xfrm>
          <a:prstGeom prst="ellipse">
            <a:avLst/>
          </a:prstGeom>
          <a:solidFill>
            <a:srgbClr val="CED7E6"/>
          </a:solidFill>
          <a:ln w="0">
            <a:noFill/>
          </a:ln>
        </p:spPr>
        <p:txBody>
          <a:bodyPr/>
          <a:lstStyle/>
          <a:p>
            <a:endParaRPr lang="en-US"/>
          </a:p>
        </p:txBody>
      </p:sp>
      <p:sp>
        <p:nvSpPr>
          <p:cNvPr id="18" name="Oval 17">
            <a:extLst>
              <a:ext uri="{FF2B5EF4-FFF2-40B4-BE49-F238E27FC236}">
                <a16:creationId xmlns:a16="http://schemas.microsoft.com/office/drawing/2014/main" id="{7AC91109-A856-4CF5-8CA6-F63EACB2965C}"/>
              </a:ext>
            </a:extLst>
          </p:cNvPr>
          <p:cNvSpPr>
            <a:spLocks noGrp="1"/>
          </p:cNvSpPr>
          <p:nvPr/>
        </p:nvSpPr>
        <p:spPr>
          <a:xfrm>
            <a:off x="781050" y="361950"/>
            <a:ext cx="28575" cy="28575"/>
          </a:xfrm>
          <a:prstGeom prst="ellipse">
            <a:avLst/>
          </a:prstGeom>
          <a:solidFill>
            <a:srgbClr val="CED7E6"/>
          </a:solidFill>
          <a:ln w="0">
            <a:noFill/>
          </a:ln>
        </p:spPr>
        <p:txBody>
          <a:bodyPr/>
          <a:lstStyle/>
          <a:p>
            <a:endParaRPr lang="en-US"/>
          </a:p>
        </p:txBody>
      </p:sp>
      <p:sp>
        <p:nvSpPr>
          <p:cNvPr id="19" name="Oval 18">
            <a:extLst>
              <a:ext uri="{FF2B5EF4-FFF2-40B4-BE49-F238E27FC236}">
                <a16:creationId xmlns:a16="http://schemas.microsoft.com/office/drawing/2014/main" id="{37ACE50B-FBB6-405C-B456-70D724510FA8}"/>
              </a:ext>
            </a:extLst>
          </p:cNvPr>
          <p:cNvSpPr>
            <a:spLocks noGrp="1"/>
          </p:cNvSpPr>
          <p:nvPr/>
        </p:nvSpPr>
        <p:spPr>
          <a:xfrm>
            <a:off x="952500" y="361950"/>
            <a:ext cx="28575" cy="28575"/>
          </a:xfrm>
          <a:prstGeom prst="ellipse">
            <a:avLst/>
          </a:prstGeom>
          <a:solidFill>
            <a:srgbClr val="CED7E6"/>
          </a:solidFill>
          <a:ln w="0">
            <a:noFill/>
          </a:ln>
        </p:spPr>
        <p:txBody>
          <a:bodyPr/>
          <a:lstStyle/>
          <a:p>
            <a:endParaRPr lang="en-US"/>
          </a:p>
        </p:txBody>
      </p:sp>
      <p:sp>
        <p:nvSpPr>
          <p:cNvPr id="20" name="Oval 19">
            <a:extLst>
              <a:ext uri="{FF2B5EF4-FFF2-40B4-BE49-F238E27FC236}">
                <a16:creationId xmlns:a16="http://schemas.microsoft.com/office/drawing/2014/main" id="{72CC5D00-CE03-4F78-A3F0-00D1C2980F8C}"/>
              </a:ext>
            </a:extLst>
          </p:cNvPr>
          <p:cNvSpPr>
            <a:spLocks noGrp="1"/>
          </p:cNvSpPr>
          <p:nvPr/>
        </p:nvSpPr>
        <p:spPr>
          <a:xfrm>
            <a:off x="1123950" y="361950"/>
            <a:ext cx="28575" cy="28575"/>
          </a:xfrm>
          <a:prstGeom prst="ellipse">
            <a:avLst/>
          </a:prstGeom>
          <a:solidFill>
            <a:srgbClr val="CED7E6"/>
          </a:solidFill>
          <a:ln w="0">
            <a:noFill/>
          </a:ln>
        </p:spPr>
        <p:txBody>
          <a:bodyPr/>
          <a:lstStyle/>
          <a:p>
            <a:endParaRPr lang="en-US"/>
          </a:p>
        </p:txBody>
      </p:sp>
      <p:sp>
        <p:nvSpPr>
          <p:cNvPr id="21" name="Oval 20">
            <a:extLst>
              <a:ext uri="{FF2B5EF4-FFF2-40B4-BE49-F238E27FC236}">
                <a16:creationId xmlns:a16="http://schemas.microsoft.com/office/drawing/2014/main" id="{E1DEE05E-BBD8-464E-B14A-014F7E36CC60}"/>
              </a:ext>
            </a:extLst>
          </p:cNvPr>
          <p:cNvSpPr>
            <a:spLocks noGrp="1"/>
          </p:cNvSpPr>
          <p:nvPr/>
        </p:nvSpPr>
        <p:spPr>
          <a:xfrm>
            <a:off x="1295400" y="361950"/>
            <a:ext cx="28575" cy="28575"/>
          </a:xfrm>
          <a:prstGeom prst="ellipse">
            <a:avLst/>
          </a:prstGeom>
          <a:solidFill>
            <a:srgbClr val="CED7E6"/>
          </a:solidFill>
          <a:ln w="0">
            <a:noFill/>
          </a:ln>
        </p:spPr>
        <p:txBody>
          <a:bodyPr/>
          <a:lstStyle/>
          <a:p>
            <a:endParaRPr lang="en-US"/>
          </a:p>
        </p:txBody>
      </p:sp>
      <p:sp>
        <p:nvSpPr>
          <p:cNvPr id="22" name="Oval 21">
            <a:extLst>
              <a:ext uri="{FF2B5EF4-FFF2-40B4-BE49-F238E27FC236}">
                <a16:creationId xmlns:a16="http://schemas.microsoft.com/office/drawing/2014/main" id="{06C83C62-3E12-47ED-974B-748E8BADB0E8}"/>
              </a:ext>
            </a:extLst>
          </p:cNvPr>
          <p:cNvSpPr>
            <a:spLocks noGrp="1"/>
          </p:cNvSpPr>
          <p:nvPr/>
        </p:nvSpPr>
        <p:spPr>
          <a:xfrm>
            <a:off x="1466850" y="361950"/>
            <a:ext cx="28575" cy="28575"/>
          </a:xfrm>
          <a:prstGeom prst="ellipse">
            <a:avLst/>
          </a:prstGeom>
          <a:solidFill>
            <a:srgbClr val="CED7E6"/>
          </a:solidFill>
          <a:ln w="0">
            <a:noFill/>
          </a:ln>
        </p:spPr>
        <p:txBody>
          <a:bodyPr/>
          <a:lstStyle/>
          <a:p>
            <a:endParaRPr lang="en-US"/>
          </a:p>
        </p:txBody>
      </p:sp>
      <p:sp>
        <p:nvSpPr>
          <p:cNvPr id="23" name="Oval 22">
            <a:extLst>
              <a:ext uri="{FF2B5EF4-FFF2-40B4-BE49-F238E27FC236}">
                <a16:creationId xmlns:a16="http://schemas.microsoft.com/office/drawing/2014/main" id="{0D07AEA7-2F94-4ADB-810E-775908CE031D}"/>
              </a:ext>
            </a:extLst>
          </p:cNvPr>
          <p:cNvSpPr>
            <a:spLocks noGrp="1"/>
          </p:cNvSpPr>
          <p:nvPr/>
        </p:nvSpPr>
        <p:spPr>
          <a:xfrm>
            <a:off x="1638300" y="361950"/>
            <a:ext cx="28575" cy="28575"/>
          </a:xfrm>
          <a:prstGeom prst="ellipse">
            <a:avLst/>
          </a:prstGeom>
          <a:solidFill>
            <a:srgbClr val="CED7E6"/>
          </a:solidFill>
          <a:ln w="0">
            <a:noFill/>
          </a:ln>
        </p:spPr>
        <p:txBody>
          <a:bodyPr/>
          <a:lstStyle/>
          <a:p>
            <a:endParaRPr lang="en-US"/>
          </a:p>
        </p:txBody>
      </p:sp>
      <p:sp>
        <p:nvSpPr>
          <p:cNvPr id="24" name="Oval 23">
            <a:extLst>
              <a:ext uri="{FF2B5EF4-FFF2-40B4-BE49-F238E27FC236}">
                <a16:creationId xmlns:a16="http://schemas.microsoft.com/office/drawing/2014/main" id="{1B306E25-108F-418A-8D56-7D0BBF06B478}"/>
              </a:ext>
            </a:extLst>
          </p:cNvPr>
          <p:cNvSpPr>
            <a:spLocks noGrp="1"/>
          </p:cNvSpPr>
          <p:nvPr/>
        </p:nvSpPr>
        <p:spPr>
          <a:xfrm>
            <a:off x="1809750" y="361950"/>
            <a:ext cx="28575" cy="28575"/>
          </a:xfrm>
          <a:prstGeom prst="ellipse">
            <a:avLst/>
          </a:prstGeom>
          <a:solidFill>
            <a:srgbClr val="CED7E6"/>
          </a:solidFill>
          <a:ln w="0">
            <a:noFill/>
          </a:ln>
        </p:spPr>
        <p:txBody>
          <a:bodyPr/>
          <a:lstStyle/>
          <a:p>
            <a:endParaRPr lang="en-US"/>
          </a:p>
        </p:txBody>
      </p:sp>
      <p:sp>
        <p:nvSpPr>
          <p:cNvPr id="25" name="Oval 24">
            <a:extLst>
              <a:ext uri="{FF2B5EF4-FFF2-40B4-BE49-F238E27FC236}">
                <a16:creationId xmlns:a16="http://schemas.microsoft.com/office/drawing/2014/main" id="{68A9D9E0-19ED-45CF-9B34-8832A24233EE}"/>
              </a:ext>
            </a:extLst>
          </p:cNvPr>
          <p:cNvSpPr>
            <a:spLocks noGrp="1"/>
          </p:cNvSpPr>
          <p:nvPr/>
        </p:nvSpPr>
        <p:spPr>
          <a:xfrm>
            <a:off x="266700" y="533400"/>
            <a:ext cx="28575" cy="28575"/>
          </a:xfrm>
          <a:prstGeom prst="ellipse">
            <a:avLst/>
          </a:prstGeom>
          <a:solidFill>
            <a:srgbClr val="CED7E6"/>
          </a:solidFill>
          <a:ln w="0">
            <a:noFill/>
          </a:ln>
        </p:spPr>
        <p:txBody>
          <a:bodyPr/>
          <a:lstStyle/>
          <a:p>
            <a:endParaRPr lang="en-US"/>
          </a:p>
        </p:txBody>
      </p:sp>
      <p:sp>
        <p:nvSpPr>
          <p:cNvPr id="26" name="Oval 25">
            <a:extLst>
              <a:ext uri="{FF2B5EF4-FFF2-40B4-BE49-F238E27FC236}">
                <a16:creationId xmlns:a16="http://schemas.microsoft.com/office/drawing/2014/main" id="{106735FA-32DE-4F8E-A66F-60B1022551C1}"/>
              </a:ext>
            </a:extLst>
          </p:cNvPr>
          <p:cNvSpPr>
            <a:spLocks noGrp="1"/>
          </p:cNvSpPr>
          <p:nvPr/>
        </p:nvSpPr>
        <p:spPr>
          <a:xfrm>
            <a:off x="438150" y="533400"/>
            <a:ext cx="28575" cy="28575"/>
          </a:xfrm>
          <a:prstGeom prst="ellipse">
            <a:avLst/>
          </a:prstGeom>
          <a:solidFill>
            <a:srgbClr val="CED7E6"/>
          </a:solidFill>
          <a:ln w="0">
            <a:noFill/>
          </a:ln>
        </p:spPr>
        <p:txBody>
          <a:bodyPr/>
          <a:lstStyle/>
          <a:p>
            <a:endParaRPr lang="en-US"/>
          </a:p>
        </p:txBody>
      </p:sp>
      <p:sp>
        <p:nvSpPr>
          <p:cNvPr id="27" name="Oval 26">
            <a:extLst>
              <a:ext uri="{FF2B5EF4-FFF2-40B4-BE49-F238E27FC236}">
                <a16:creationId xmlns:a16="http://schemas.microsoft.com/office/drawing/2014/main" id="{D941377D-4257-43BD-986B-7E1859F34AFD}"/>
              </a:ext>
            </a:extLst>
          </p:cNvPr>
          <p:cNvSpPr>
            <a:spLocks noGrp="1"/>
          </p:cNvSpPr>
          <p:nvPr/>
        </p:nvSpPr>
        <p:spPr>
          <a:xfrm>
            <a:off x="609600" y="533400"/>
            <a:ext cx="28575" cy="28575"/>
          </a:xfrm>
          <a:prstGeom prst="ellipse">
            <a:avLst/>
          </a:prstGeom>
          <a:solidFill>
            <a:srgbClr val="CED7E6"/>
          </a:solidFill>
          <a:ln w="0">
            <a:noFill/>
          </a:ln>
        </p:spPr>
        <p:txBody>
          <a:bodyPr/>
          <a:lstStyle/>
          <a:p>
            <a:endParaRPr lang="en-US"/>
          </a:p>
        </p:txBody>
      </p:sp>
      <p:sp>
        <p:nvSpPr>
          <p:cNvPr id="28" name="Oval 27">
            <a:extLst>
              <a:ext uri="{FF2B5EF4-FFF2-40B4-BE49-F238E27FC236}">
                <a16:creationId xmlns:a16="http://schemas.microsoft.com/office/drawing/2014/main" id="{D205620D-8073-4862-81FC-F8AA75C7B2C1}"/>
              </a:ext>
            </a:extLst>
          </p:cNvPr>
          <p:cNvSpPr>
            <a:spLocks noGrp="1"/>
          </p:cNvSpPr>
          <p:nvPr/>
        </p:nvSpPr>
        <p:spPr>
          <a:xfrm>
            <a:off x="781050" y="533400"/>
            <a:ext cx="28575" cy="28575"/>
          </a:xfrm>
          <a:prstGeom prst="ellipse">
            <a:avLst/>
          </a:prstGeom>
          <a:solidFill>
            <a:srgbClr val="CED7E6"/>
          </a:solidFill>
          <a:ln w="0">
            <a:noFill/>
          </a:ln>
        </p:spPr>
        <p:txBody>
          <a:bodyPr/>
          <a:lstStyle/>
          <a:p>
            <a:endParaRPr lang="en-US"/>
          </a:p>
        </p:txBody>
      </p:sp>
      <p:sp>
        <p:nvSpPr>
          <p:cNvPr id="29" name="Oval 28">
            <a:extLst>
              <a:ext uri="{FF2B5EF4-FFF2-40B4-BE49-F238E27FC236}">
                <a16:creationId xmlns:a16="http://schemas.microsoft.com/office/drawing/2014/main" id="{65EA47D0-61A1-4812-BAE9-1F8D712D0852}"/>
              </a:ext>
            </a:extLst>
          </p:cNvPr>
          <p:cNvSpPr>
            <a:spLocks noGrp="1"/>
          </p:cNvSpPr>
          <p:nvPr/>
        </p:nvSpPr>
        <p:spPr>
          <a:xfrm>
            <a:off x="952500" y="533400"/>
            <a:ext cx="28575" cy="28575"/>
          </a:xfrm>
          <a:prstGeom prst="ellipse">
            <a:avLst/>
          </a:prstGeom>
          <a:solidFill>
            <a:srgbClr val="CED7E6"/>
          </a:solidFill>
          <a:ln w="0">
            <a:noFill/>
          </a:ln>
        </p:spPr>
        <p:txBody>
          <a:bodyPr/>
          <a:lstStyle/>
          <a:p>
            <a:endParaRPr lang="en-US"/>
          </a:p>
        </p:txBody>
      </p:sp>
      <p:sp>
        <p:nvSpPr>
          <p:cNvPr id="30" name="Oval 29">
            <a:extLst>
              <a:ext uri="{FF2B5EF4-FFF2-40B4-BE49-F238E27FC236}">
                <a16:creationId xmlns:a16="http://schemas.microsoft.com/office/drawing/2014/main" id="{6FD864AA-315E-442A-A8DE-178236C01D00}"/>
              </a:ext>
            </a:extLst>
          </p:cNvPr>
          <p:cNvSpPr>
            <a:spLocks noGrp="1"/>
          </p:cNvSpPr>
          <p:nvPr/>
        </p:nvSpPr>
        <p:spPr>
          <a:xfrm>
            <a:off x="1123950" y="533400"/>
            <a:ext cx="28575" cy="28575"/>
          </a:xfrm>
          <a:prstGeom prst="ellipse">
            <a:avLst/>
          </a:prstGeom>
          <a:solidFill>
            <a:srgbClr val="CED7E6"/>
          </a:solidFill>
          <a:ln w="0">
            <a:noFill/>
          </a:ln>
        </p:spPr>
        <p:txBody>
          <a:bodyPr/>
          <a:lstStyle/>
          <a:p>
            <a:endParaRPr lang="en-US"/>
          </a:p>
        </p:txBody>
      </p:sp>
      <p:sp>
        <p:nvSpPr>
          <p:cNvPr id="31" name="Oval 30">
            <a:extLst>
              <a:ext uri="{FF2B5EF4-FFF2-40B4-BE49-F238E27FC236}">
                <a16:creationId xmlns:a16="http://schemas.microsoft.com/office/drawing/2014/main" id="{F6B7343F-7460-4607-81FD-2F778E6D07D3}"/>
              </a:ext>
            </a:extLst>
          </p:cNvPr>
          <p:cNvSpPr>
            <a:spLocks noGrp="1"/>
          </p:cNvSpPr>
          <p:nvPr/>
        </p:nvSpPr>
        <p:spPr>
          <a:xfrm>
            <a:off x="1295400" y="533400"/>
            <a:ext cx="28575" cy="28575"/>
          </a:xfrm>
          <a:prstGeom prst="ellipse">
            <a:avLst/>
          </a:prstGeom>
          <a:solidFill>
            <a:srgbClr val="CED7E6"/>
          </a:solidFill>
          <a:ln w="0">
            <a:noFill/>
          </a:ln>
        </p:spPr>
        <p:txBody>
          <a:bodyPr/>
          <a:lstStyle/>
          <a:p>
            <a:endParaRPr lang="en-US"/>
          </a:p>
        </p:txBody>
      </p:sp>
      <p:sp>
        <p:nvSpPr>
          <p:cNvPr id="32" name="Oval 31">
            <a:extLst>
              <a:ext uri="{FF2B5EF4-FFF2-40B4-BE49-F238E27FC236}">
                <a16:creationId xmlns:a16="http://schemas.microsoft.com/office/drawing/2014/main" id="{D82FF6A0-E7F8-42FA-8AEB-C9E3D51D671F}"/>
              </a:ext>
            </a:extLst>
          </p:cNvPr>
          <p:cNvSpPr>
            <a:spLocks noGrp="1"/>
          </p:cNvSpPr>
          <p:nvPr/>
        </p:nvSpPr>
        <p:spPr>
          <a:xfrm>
            <a:off x="1466850" y="533400"/>
            <a:ext cx="28575" cy="28575"/>
          </a:xfrm>
          <a:prstGeom prst="ellipse">
            <a:avLst/>
          </a:prstGeom>
          <a:solidFill>
            <a:srgbClr val="CED7E6"/>
          </a:solidFill>
          <a:ln w="0">
            <a:noFill/>
          </a:ln>
        </p:spPr>
        <p:txBody>
          <a:bodyPr/>
          <a:lstStyle/>
          <a:p>
            <a:endParaRPr lang="en-US"/>
          </a:p>
        </p:txBody>
      </p:sp>
      <p:sp>
        <p:nvSpPr>
          <p:cNvPr id="33" name="Oval 32">
            <a:extLst>
              <a:ext uri="{FF2B5EF4-FFF2-40B4-BE49-F238E27FC236}">
                <a16:creationId xmlns:a16="http://schemas.microsoft.com/office/drawing/2014/main" id="{44ED0E19-5F34-4903-BD11-BBA890E2B04B}"/>
              </a:ext>
            </a:extLst>
          </p:cNvPr>
          <p:cNvSpPr>
            <a:spLocks noGrp="1"/>
          </p:cNvSpPr>
          <p:nvPr/>
        </p:nvSpPr>
        <p:spPr>
          <a:xfrm>
            <a:off x="1638300" y="533400"/>
            <a:ext cx="28575" cy="28575"/>
          </a:xfrm>
          <a:prstGeom prst="ellipse">
            <a:avLst/>
          </a:prstGeom>
          <a:solidFill>
            <a:srgbClr val="CED7E6"/>
          </a:solidFill>
          <a:ln w="0">
            <a:noFill/>
          </a:ln>
        </p:spPr>
        <p:txBody>
          <a:bodyPr/>
          <a:lstStyle/>
          <a:p>
            <a:endParaRPr lang="en-US"/>
          </a:p>
        </p:txBody>
      </p:sp>
      <p:sp>
        <p:nvSpPr>
          <p:cNvPr id="34" name="Oval 33">
            <a:extLst>
              <a:ext uri="{FF2B5EF4-FFF2-40B4-BE49-F238E27FC236}">
                <a16:creationId xmlns:a16="http://schemas.microsoft.com/office/drawing/2014/main" id="{65F3FDD9-326C-4A33-9861-AA731F4AE782}"/>
              </a:ext>
            </a:extLst>
          </p:cNvPr>
          <p:cNvSpPr>
            <a:spLocks noGrp="1"/>
          </p:cNvSpPr>
          <p:nvPr/>
        </p:nvSpPr>
        <p:spPr>
          <a:xfrm>
            <a:off x="1809750" y="533400"/>
            <a:ext cx="28575" cy="28575"/>
          </a:xfrm>
          <a:prstGeom prst="ellipse">
            <a:avLst/>
          </a:prstGeom>
          <a:solidFill>
            <a:srgbClr val="CED7E6"/>
          </a:solidFill>
          <a:ln w="0">
            <a:noFill/>
          </a:ln>
        </p:spPr>
        <p:txBody>
          <a:bodyPr/>
          <a:lstStyle/>
          <a:p>
            <a:endParaRPr lang="en-US"/>
          </a:p>
        </p:txBody>
      </p:sp>
      <p:sp>
        <p:nvSpPr>
          <p:cNvPr id="35" name="Oval 34">
            <a:extLst>
              <a:ext uri="{FF2B5EF4-FFF2-40B4-BE49-F238E27FC236}">
                <a16:creationId xmlns:a16="http://schemas.microsoft.com/office/drawing/2014/main" id="{C1DC4ECD-1557-41D3-8D0A-C2A9DD5BE1B0}"/>
              </a:ext>
            </a:extLst>
          </p:cNvPr>
          <p:cNvSpPr>
            <a:spLocks noGrp="1"/>
          </p:cNvSpPr>
          <p:nvPr/>
        </p:nvSpPr>
        <p:spPr>
          <a:xfrm>
            <a:off x="266700" y="704850"/>
            <a:ext cx="28575" cy="28575"/>
          </a:xfrm>
          <a:prstGeom prst="ellipse">
            <a:avLst/>
          </a:prstGeom>
          <a:solidFill>
            <a:srgbClr val="CED7E6"/>
          </a:solidFill>
          <a:ln w="0">
            <a:noFill/>
          </a:ln>
        </p:spPr>
        <p:txBody>
          <a:bodyPr/>
          <a:lstStyle/>
          <a:p>
            <a:endParaRPr lang="en-US"/>
          </a:p>
        </p:txBody>
      </p:sp>
      <p:sp>
        <p:nvSpPr>
          <p:cNvPr id="36" name="Oval 35">
            <a:extLst>
              <a:ext uri="{FF2B5EF4-FFF2-40B4-BE49-F238E27FC236}">
                <a16:creationId xmlns:a16="http://schemas.microsoft.com/office/drawing/2014/main" id="{F41A61B9-D760-4BF0-B65E-E006AC6F6DF1}"/>
              </a:ext>
            </a:extLst>
          </p:cNvPr>
          <p:cNvSpPr>
            <a:spLocks noGrp="1"/>
          </p:cNvSpPr>
          <p:nvPr/>
        </p:nvSpPr>
        <p:spPr>
          <a:xfrm>
            <a:off x="438150" y="704850"/>
            <a:ext cx="28575" cy="28575"/>
          </a:xfrm>
          <a:prstGeom prst="ellipse">
            <a:avLst/>
          </a:prstGeom>
          <a:solidFill>
            <a:srgbClr val="CED7E6"/>
          </a:solidFill>
          <a:ln w="0">
            <a:noFill/>
          </a:ln>
        </p:spPr>
        <p:txBody>
          <a:bodyPr/>
          <a:lstStyle/>
          <a:p>
            <a:endParaRPr lang="en-US"/>
          </a:p>
        </p:txBody>
      </p:sp>
      <p:sp>
        <p:nvSpPr>
          <p:cNvPr id="37" name="Oval 36">
            <a:extLst>
              <a:ext uri="{FF2B5EF4-FFF2-40B4-BE49-F238E27FC236}">
                <a16:creationId xmlns:a16="http://schemas.microsoft.com/office/drawing/2014/main" id="{C2CDA745-55C2-427A-8D9F-DAC796B30688}"/>
              </a:ext>
            </a:extLst>
          </p:cNvPr>
          <p:cNvSpPr>
            <a:spLocks noGrp="1"/>
          </p:cNvSpPr>
          <p:nvPr/>
        </p:nvSpPr>
        <p:spPr>
          <a:xfrm>
            <a:off x="609600" y="704850"/>
            <a:ext cx="28575" cy="28575"/>
          </a:xfrm>
          <a:prstGeom prst="ellipse">
            <a:avLst/>
          </a:prstGeom>
          <a:solidFill>
            <a:srgbClr val="CED7E6"/>
          </a:solidFill>
          <a:ln w="0">
            <a:noFill/>
          </a:ln>
        </p:spPr>
        <p:txBody>
          <a:bodyPr/>
          <a:lstStyle/>
          <a:p>
            <a:endParaRPr lang="en-US"/>
          </a:p>
        </p:txBody>
      </p:sp>
      <p:sp>
        <p:nvSpPr>
          <p:cNvPr id="38" name="Oval 37">
            <a:extLst>
              <a:ext uri="{FF2B5EF4-FFF2-40B4-BE49-F238E27FC236}">
                <a16:creationId xmlns:a16="http://schemas.microsoft.com/office/drawing/2014/main" id="{F6D1DEEA-3523-46B6-8885-8EAFFE73139A}"/>
              </a:ext>
            </a:extLst>
          </p:cNvPr>
          <p:cNvSpPr>
            <a:spLocks noGrp="1"/>
          </p:cNvSpPr>
          <p:nvPr/>
        </p:nvSpPr>
        <p:spPr>
          <a:xfrm>
            <a:off x="781050" y="704850"/>
            <a:ext cx="28575" cy="28575"/>
          </a:xfrm>
          <a:prstGeom prst="ellipse">
            <a:avLst/>
          </a:prstGeom>
          <a:solidFill>
            <a:srgbClr val="CED7E6"/>
          </a:solidFill>
          <a:ln w="0">
            <a:noFill/>
          </a:ln>
        </p:spPr>
        <p:txBody>
          <a:bodyPr/>
          <a:lstStyle/>
          <a:p>
            <a:endParaRPr lang="en-US"/>
          </a:p>
        </p:txBody>
      </p:sp>
      <p:sp>
        <p:nvSpPr>
          <p:cNvPr id="39" name="Oval 38">
            <a:extLst>
              <a:ext uri="{FF2B5EF4-FFF2-40B4-BE49-F238E27FC236}">
                <a16:creationId xmlns:a16="http://schemas.microsoft.com/office/drawing/2014/main" id="{FA4B6B87-E6E2-401B-AFC2-A81F70033934}"/>
              </a:ext>
            </a:extLst>
          </p:cNvPr>
          <p:cNvSpPr>
            <a:spLocks noGrp="1"/>
          </p:cNvSpPr>
          <p:nvPr/>
        </p:nvSpPr>
        <p:spPr>
          <a:xfrm>
            <a:off x="952500" y="704850"/>
            <a:ext cx="28575" cy="28575"/>
          </a:xfrm>
          <a:prstGeom prst="ellipse">
            <a:avLst/>
          </a:prstGeom>
          <a:solidFill>
            <a:srgbClr val="CED7E6"/>
          </a:solidFill>
          <a:ln w="0">
            <a:noFill/>
          </a:ln>
        </p:spPr>
        <p:txBody>
          <a:bodyPr/>
          <a:lstStyle/>
          <a:p>
            <a:endParaRPr lang="en-US"/>
          </a:p>
        </p:txBody>
      </p:sp>
      <p:sp>
        <p:nvSpPr>
          <p:cNvPr id="40" name="Oval 39">
            <a:extLst>
              <a:ext uri="{FF2B5EF4-FFF2-40B4-BE49-F238E27FC236}">
                <a16:creationId xmlns:a16="http://schemas.microsoft.com/office/drawing/2014/main" id="{E87546EF-15B0-428C-A74C-2D0B523D1D2E}"/>
              </a:ext>
            </a:extLst>
          </p:cNvPr>
          <p:cNvSpPr>
            <a:spLocks noGrp="1"/>
          </p:cNvSpPr>
          <p:nvPr/>
        </p:nvSpPr>
        <p:spPr>
          <a:xfrm>
            <a:off x="1123950" y="704850"/>
            <a:ext cx="28575" cy="28575"/>
          </a:xfrm>
          <a:prstGeom prst="ellipse">
            <a:avLst/>
          </a:prstGeom>
          <a:solidFill>
            <a:srgbClr val="CED7E6"/>
          </a:solidFill>
          <a:ln w="0">
            <a:noFill/>
          </a:ln>
        </p:spPr>
        <p:txBody>
          <a:bodyPr/>
          <a:lstStyle/>
          <a:p>
            <a:endParaRPr lang="en-US"/>
          </a:p>
        </p:txBody>
      </p:sp>
      <p:sp>
        <p:nvSpPr>
          <p:cNvPr id="41" name="Oval 40">
            <a:extLst>
              <a:ext uri="{FF2B5EF4-FFF2-40B4-BE49-F238E27FC236}">
                <a16:creationId xmlns:a16="http://schemas.microsoft.com/office/drawing/2014/main" id="{501E227A-898B-47E7-867E-E6DA3CE1AEF2}"/>
              </a:ext>
            </a:extLst>
          </p:cNvPr>
          <p:cNvSpPr>
            <a:spLocks noGrp="1"/>
          </p:cNvSpPr>
          <p:nvPr/>
        </p:nvSpPr>
        <p:spPr>
          <a:xfrm>
            <a:off x="1295400" y="704850"/>
            <a:ext cx="28575" cy="28575"/>
          </a:xfrm>
          <a:prstGeom prst="ellipse">
            <a:avLst/>
          </a:prstGeom>
          <a:solidFill>
            <a:srgbClr val="CED7E6"/>
          </a:solidFill>
          <a:ln w="0">
            <a:noFill/>
          </a:ln>
        </p:spPr>
        <p:txBody>
          <a:bodyPr/>
          <a:lstStyle/>
          <a:p>
            <a:endParaRPr lang="en-US"/>
          </a:p>
        </p:txBody>
      </p:sp>
      <p:sp>
        <p:nvSpPr>
          <p:cNvPr id="42" name="Oval 41">
            <a:extLst>
              <a:ext uri="{FF2B5EF4-FFF2-40B4-BE49-F238E27FC236}">
                <a16:creationId xmlns:a16="http://schemas.microsoft.com/office/drawing/2014/main" id="{6086C076-50E8-42BF-AD5B-A2FD0F704EA7}"/>
              </a:ext>
            </a:extLst>
          </p:cNvPr>
          <p:cNvSpPr>
            <a:spLocks noGrp="1"/>
          </p:cNvSpPr>
          <p:nvPr/>
        </p:nvSpPr>
        <p:spPr>
          <a:xfrm>
            <a:off x="1466850" y="704850"/>
            <a:ext cx="28575" cy="28575"/>
          </a:xfrm>
          <a:prstGeom prst="ellipse">
            <a:avLst/>
          </a:prstGeom>
          <a:solidFill>
            <a:srgbClr val="CED7E6"/>
          </a:solidFill>
          <a:ln w="0">
            <a:noFill/>
          </a:ln>
        </p:spPr>
        <p:txBody>
          <a:bodyPr/>
          <a:lstStyle/>
          <a:p>
            <a:endParaRPr lang="en-US"/>
          </a:p>
        </p:txBody>
      </p:sp>
      <p:sp>
        <p:nvSpPr>
          <p:cNvPr id="43" name="Oval 42">
            <a:extLst>
              <a:ext uri="{FF2B5EF4-FFF2-40B4-BE49-F238E27FC236}">
                <a16:creationId xmlns:a16="http://schemas.microsoft.com/office/drawing/2014/main" id="{AB02EE14-5BFC-41A7-A1EB-C61A13C7D1CC}"/>
              </a:ext>
            </a:extLst>
          </p:cNvPr>
          <p:cNvSpPr>
            <a:spLocks noGrp="1"/>
          </p:cNvSpPr>
          <p:nvPr/>
        </p:nvSpPr>
        <p:spPr>
          <a:xfrm>
            <a:off x="1638300" y="704850"/>
            <a:ext cx="28575" cy="28575"/>
          </a:xfrm>
          <a:prstGeom prst="ellipse">
            <a:avLst/>
          </a:prstGeom>
          <a:solidFill>
            <a:srgbClr val="CED7E6"/>
          </a:solidFill>
          <a:ln w="0">
            <a:noFill/>
          </a:ln>
        </p:spPr>
        <p:txBody>
          <a:bodyPr/>
          <a:lstStyle/>
          <a:p>
            <a:endParaRPr lang="en-US"/>
          </a:p>
        </p:txBody>
      </p:sp>
      <p:sp>
        <p:nvSpPr>
          <p:cNvPr id="44" name="Oval 43">
            <a:extLst>
              <a:ext uri="{FF2B5EF4-FFF2-40B4-BE49-F238E27FC236}">
                <a16:creationId xmlns:a16="http://schemas.microsoft.com/office/drawing/2014/main" id="{DAAA25F9-207B-46F2-8F17-A54F11F7385F}"/>
              </a:ext>
            </a:extLst>
          </p:cNvPr>
          <p:cNvSpPr>
            <a:spLocks noGrp="1"/>
          </p:cNvSpPr>
          <p:nvPr/>
        </p:nvSpPr>
        <p:spPr>
          <a:xfrm>
            <a:off x="1809750" y="704850"/>
            <a:ext cx="28575" cy="28575"/>
          </a:xfrm>
          <a:prstGeom prst="ellipse">
            <a:avLst/>
          </a:prstGeom>
          <a:solidFill>
            <a:srgbClr val="CED7E6"/>
          </a:solidFill>
          <a:ln w="0">
            <a:noFill/>
          </a:ln>
        </p:spPr>
        <p:txBody>
          <a:bodyPr/>
          <a:lstStyle/>
          <a:p>
            <a:endParaRPr lang="en-US"/>
          </a:p>
        </p:txBody>
      </p:sp>
      <p:sp>
        <p:nvSpPr>
          <p:cNvPr id="45" name="Rectangle 44">
            <a:extLst>
              <a:ext uri="{FF2B5EF4-FFF2-40B4-BE49-F238E27FC236}">
                <a16:creationId xmlns:a16="http://schemas.microsoft.com/office/drawing/2014/main" id="{BE723FFC-7819-4103-A96A-9CCFC17C5407}"/>
              </a:ext>
            </a:extLst>
          </p:cNvPr>
          <p:cNvSpPr>
            <a:spLocks noGrp="1"/>
          </p:cNvSpPr>
          <p:nvPr/>
        </p:nvSpPr>
        <p:spPr>
          <a:xfrm>
            <a:off x="685800" y="247650"/>
            <a:ext cx="3238500" cy="171450"/>
          </a:xfrm>
          <a:prstGeom prst="rect">
            <a:avLst/>
          </a:prstGeom>
          <a:noFill/>
          <a:ln w="0">
            <a:noFill/>
          </a:ln>
        </p:spPr>
        <p:txBody>
          <a:bodyPr wrap="square" lIns="0" tIns="0" rIns="0" bIns="0" anchor="t">
            <a:normAutofit/>
          </a:bodyPr>
          <a:lstStyle/>
          <a:p>
            <a:pPr algn="l">
              <a:lnSpc>
                <a:spcPct val="100000"/>
              </a:lnSpc>
              <a:buNone/>
              <a:defRPr sz="825" b="1">
                <a:solidFill>
                  <a:srgbClr val="50658E"/>
                </a:solidFill>
                <a:latin typeface="Arial"/>
                <a:ea typeface="Arial"/>
                <a:cs typeface="Arial"/>
              </a:defRPr>
            </a:pPr>
            <a:r>
              <a:rPr lang="en-US" sz="825" b="1">
                <a:solidFill>
                  <a:srgbClr val="50658E"/>
                </a:solidFill>
                <a:latin typeface="Arial"/>
                <a:ea typeface="Arial"/>
                <a:cs typeface="Arial"/>
              </a:rPr>
              <a:t>RATIONALIZATION &amp; MODERNIZATION STRATEGY</a:t>
            </a:r>
            <a:endParaRPr sz="825" b="1">
              <a:solidFill>
                <a:srgbClr val="50658E"/>
              </a:solidFill>
              <a:latin typeface="Arial"/>
              <a:ea typeface="Arial"/>
              <a:cs typeface="Arial"/>
            </a:endParaRPr>
          </a:p>
        </p:txBody>
      </p:sp>
      <p:sp>
        <p:nvSpPr>
          <p:cNvPr id="46" name="Rectangle 45">
            <a:extLst>
              <a:ext uri="{FF2B5EF4-FFF2-40B4-BE49-F238E27FC236}">
                <a16:creationId xmlns:a16="http://schemas.microsoft.com/office/drawing/2014/main" id="{096C3606-94EC-46FF-B2C0-0B2725DC8E7C}"/>
              </a:ext>
            </a:extLst>
          </p:cNvPr>
          <p:cNvSpPr>
            <a:spLocks noGrp="1"/>
          </p:cNvSpPr>
          <p:nvPr/>
        </p:nvSpPr>
        <p:spPr>
          <a:xfrm>
            <a:off x="685800" y="495300"/>
            <a:ext cx="10820400" cy="590550"/>
          </a:xfrm>
          <a:prstGeom prst="rect">
            <a:avLst/>
          </a:prstGeom>
          <a:noFill/>
          <a:ln w="0">
            <a:noFill/>
          </a:ln>
        </p:spPr>
        <p:txBody>
          <a:bodyPr wrap="square" lIns="0" tIns="0" rIns="0" bIns="0" anchor="t">
            <a:normAutofit lnSpcReduction="10000"/>
          </a:bodyPr>
          <a:lstStyle/>
          <a:p>
            <a:pPr algn="l">
              <a:lnSpc>
                <a:spcPct val="92000"/>
              </a:lnSpc>
              <a:buNone/>
              <a:defRPr sz="2325" b="1">
                <a:solidFill>
                  <a:srgbClr val="070154"/>
                </a:solidFill>
                <a:latin typeface="Arial"/>
                <a:ea typeface="Arial"/>
                <a:cs typeface="Arial"/>
              </a:defRPr>
            </a:pPr>
            <a:r>
              <a:rPr lang="en-US" sz="2325" b="1" dirty="0">
                <a:solidFill>
                  <a:srgbClr val="070154"/>
                </a:solidFill>
                <a:latin typeface="Arial"/>
                <a:ea typeface="Arial"/>
                <a:cs typeface="Arial"/>
              </a:rPr>
              <a:t>Rationalization connects application decisions to reimagined business workflows, a modernization roadmap, and conceptual architecture</a:t>
            </a:r>
            <a:endParaRPr sz="2325" b="1" dirty="0">
              <a:solidFill>
                <a:srgbClr val="070154"/>
              </a:solidFill>
              <a:latin typeface="Arial"/>
              <a:ea typeface="Arial"/>
              <a:cs typeface="Arial"/>
            </a:endParaRPr>
          </a:p>
        </p:txBody>
      </p:sp>
      <p:sp>
        <p:nvSpPr>
          <p:cNvPr id="47" name="Rectangle 46">
            <a:extLst>
              <a:ext uri="{FF2B5EF4-FFF2-40B4-BE49-F238E27FC236}">
                <a16:creationId xmlns:a16="http://schemas.microsoft.com/office/drawing/2014/main" id="{68630567-0351-4EDF-99B5-5CC38560D983}"/>
              </a:ext>
            </a:extLst>
          </p:cNvPr>
          <p:cNvSpPr>
            <a:spLocks noGrp="1"/>
          </p:cNvSpPr>
          <p:nvPr/>
        </p:nvSpPr>
        <p:spPr>
          <a:xfrm>
            <a:off x="685800" y="1181100"/>
            <a:ext cx="10648950" cy="285750"/>
          </a:xfrm>
          <a:prstGeom prst="rect">
            <a:avLst/>
          </a:prstGeom>
          <a:noFill/>
          <a:ln w="0">
            <a:noFill/>
          </a:ln>
        </p:spPr>
        <p:txBody>
          <a:bodyPr wrap="square" lIns="0" tIns="0" rIns="0" bIns="0" anchor="t">
            <a:normAutofit fontScale="92500" lnSpcReduction="10000"/>
          </a:bodyPr>
          <a:lstStyle/>
          <a:p>
            <a:pPr algn="l">
              <a:lnSpc>
                <a:spcPct val="95000"/>
              </a:lnSpc>
              <a:buNone/>
              <a:defRPr sz="1163" b="0">
                <a:solidFill>
                  <a:srgbClr val="50658E"/>
                </a:solidFill>
                <a:latin typeface="Arial"/>
                <a:ea typeface="Arial"/>
                <a:cs typeface="Arial"/>
              </a:defRPr>
            </a:pPr>
            <a:r>
              <a:rPr lang="en-US" sz="1163" b="0">
                <a:solidFill>
                  <a:srgbClr val="50658E"/>
                </a:solidFill>
                <a:latin typeface="Arial"/>
                <a:ea typeface="Arial"/>
                <a:cs typeface="Arial"/>
              </a:rPr>
              <a:t>A focused ~4–8 week effort reconstructs how work gets done today, reimagines the future-state workflow, and aligns application dispositions to value, health, risk, and enterprise architecture</a:t>
            </a:r>
            <a:endParaRPr sz="1163" b="0">
              <a:solidFill>
                <a:srgbClr val="50658E"/>
              </a:solidFill>
              <a:latin typeface="Arial"/>
              <a:ea typeface="Arial"/>
              <a:cs typeface="Arial"/>
            </a:endParaRPr>
          </a:p>
        </p:txBody>
      </p:sp>
      <p:sp>
        <p:nvSpPr>
          <p:cNvPr id="48" name="Rectangle 47">
            <a:extLst>
              <a:ext uri="{FF2B5EF4-FFF2-40B4-BE49-F238E27FC236}">
                <a16:creationId xmlns:a16="http://schemas.microsoft.com/office/drawing/2014/main" id="{51779BA7-C4FC-4847-A426-394CC5D94D52}"/>
              </a:ext>
            </a:extLst>
          </p:cNvPr>
          <p:cNvSpPr>
            <a:spLocks noGrp="1"/>
          </p:cNvSpPr>
          <p:nvPr/>
        </p:nvSpPr>
        <p:spPr>
          <a:xfrm>
            <a:off x="685800" y="1724025"/>
            <a:ext cx="2476500" cy="171450"/>
          </a:xfrm>
          <a:prstGeom prst="rect">
            <a:avLst/>
          </a:prstGeom>
          <a:noFill/>
          <a:ln w="0">
            <a:noFill/>
          </a:ln>
        </p:spPr>
        <p:txBody>
          <a:bodyPr wrap="square" lIns="0" tIns="0" rIns="0" bIns="0" anchor="t">
            <a:normAutofit/>
          </a:bodyPr>
          <a:lstStyle/>
          <a:p>
            <a:pPr algn="l">
              <a:lnSpc>
                <a:spcPct val="100000"/>
              </a:lnSpc>
              <a:buNone/>
              <a:defRPr sz="863" b="1">
                <a:solidFill>
                  <a:srgbClr val="50658E"/>
                </a:solidFill>
                <a:latin typeface="Arial"/>
                <a:ea typeface="Arial"/>
                <a:cs typeface="Arial"/>
              </a:defRPr>
            </a:pPr>
            <a:r>
              <a:rPr lang="en-US" sz="863" b="1">
                <a:solidFill>
                  <a:srgbClr val="50658E"/>
                </a:solidFill>
                <a:latin typeface="Arial"/>
                <a:ea typeface="Arial"/>
                <a:cs typeface="Arial"/>
              </a:rPr>
              <a:t>OBJECTIVES</a:t>
            </a:r>
            <a:endParaRPr sz="863" b="1">
              <a:solidFill>
                <a:srgbClr val="50658E"/>
              </a:solidFill>
              <a:latin typeface="Arial"/>
              <a:ea typeface="Arial"/>
              <a:cs typeface="Arial"/>
            </a:endParaRPr>
          </a:p>
        </p:txBody>
      </p:sp>
      <p:sp>
        <p:nvSpPr>
          <p:cNvPr id="49" name="Rectangle 48">
            <a:extLst>
              <a:ext uri="{FF2B5EF4-FFF2-40B4-BE49-F238E27FC236}">
                <a16:creationId xmlns:a16="http://schemas.microsoft.com/office/drawing/2014/main" id="{869F98A8-313E-41BC-8178-6D4F5EE810CF}"/>
              </a:ext>
            </a:extLst>
          </p:cNvPr>
          <p:cNvSpPr>
            <a:spLocks noGrp="1"/>
          </p:cNvSpPr>
          <p:nvPr/>
        </p:nvSpPr>
        <p:spPr>
          <a:xfrm>
            <a:off x="7277100" y="1724025"/>
            <a:ext cx="4095750" cy="171450"/>
          </a:xfrm>
          <a:prstGeom prst="rect">
            <a:avLst/>
          </a:prstGeom>
          <a:noFill/>
          <a:ln w="0">
            <a:noFill/>
          </a:ln>
        </p:spPr>
        <p:txBody>
          <a:bodyPr wrap="square" lIns="0" tIns="0" rIns="0" bIns="0" anchor="t">
            <a:normAutofit/>
          </a:bodyPr>
          <a:lstStyle/>
          <a:p>
            <a:pPr algn="l">
              <a:lnSpc>
                <a:spcPct val="100000"/>
              </a:lnSpc>
              <a:buNone/>
              <a:defRPr sz="863" b="1">
                <a:solidFill>
                  <a:srgbClr val="50658E"/>
                </a:solidFill>
                <a:latin typeface="Arial"/>
                <a:ea typeface="Arial"/>
                <a:cs typeface="Arial"/>
              </a:defRPr>
            </a:pPr>
            <a:r>
              <a:rPr lang="en-US" sz="863" b="1">
                <a:solidFill>
                  <a:srgbClr val="50658E"/>
                </a:solidFill>
                <a:latin typeface="Arial"/>
                <a:ea typeface="Arial"/>
                <a:cs typeface="Arial"/>
              </a:rPr>
              <a:t>OUTPUTS</a:t>
            </a:r>
            <a:endParaRPr sz="863" b="1">
              <a:solidFill>
                <a:srgbClr val="50658E"/>
              </a:solidFill>
              <a:latin typeface="Arial"/>
              <a:ea typeface="Arial"/>
              <a:cs typeface="Arial"/>
            </a:endParaRPr>
          </a:p>
        </p:txBody>
      </p:sp>
      <p:sp>
        <p:nvSpPr>
          <p:cNvPr id="50" name="Rounded Rectangle 49">
            <a:extLst>
              <a:ext uri="{FF2B5EF4-FFF2-40B4-BE49-F238E27FC236}">
                <a16:creationId xmlns:a16="http://schemas.microsoft.com/office/drawing/2014/main" id="{6E7794B4-AC20-4410-BEF5-232073AA9941}"/>
              </a:ext>
            </a:extLst>
          </p:cNvPr>
          <p:cNvSpPr>
            <a:spLocks noGrp="1"/>
          </p:cNvSpPr>
          <p:nvPr/>
        </p:nvSpPr>
        <p:spPr>
          <a:xfrm>
            <a:off x="685800" y="1981200"/>
            <a:ext cx="6191250" cy="552450"/>
          </a:xfrm>
          <a:prstGeom prst="roundRect">
            <a:avLst>
              <a:gd name="adj" fmla="val 15385"/>
            </a:avLst>
          </a:prstGeom>
          <a:solidFill>
            <a:srgbClr val="F5F7FB"/>
          </a:solidFill>
          <a:ln w="9525">
            <a:solidFill>
              <a:srgbClr val="CED7E6"/>
            </a:solidFill>
            <a:prstDash val="solid"/>
          </a:ln>
        </p:spPr>
        <p:txBody>
          <a:bodyPr/>
          <a:lstStyle/>
          <a:p>
            <a:endParaRPr lang="en-US"/>
          </a:p>
        </p:txBody>
      </p:sp>
      <p:sp>
        <p:nvSpPr>
          <p:cNvPr id="51" name="Rounded Rectangle 50">
            <a:extLst>
              <a:ext uri="{FF2B5EF4-FFF2-40B4-BE49-F238E27FC236}">
                <a16:creationId xmlns:a16="http://schemas.microsoft.com/office/drawing/2014/main" id="{44F97531-1E47-40B5-A1D1-F5632767B898}"/>
              </a:ext>
            </a:extLst>
          </p:cNvPr>
          <p:cNvSpPr>
            <a:spLocks noGrp="1"/>
          </p:cNvSpPr>
          <p:nvPr/>
        </p:nvSpPr>
        <p:spPr>
          <a:xfrm>
            <a:off x="819150" y="2095500"/>
            <a:ext cx="361950" cy="323850"/>
          </a:xfrm>
          <a:prstGeom prst="roundRect">
            <a:avLst>
              <a:gd name="adj" fmla="val 23529"/>
            </a:avLst>
          </a:prstGeom>
          <a:solidFill>
            <a:srgbClr val="0047FF"/>
          </a:solidFill>
          <a:ln w="0">
            <a:noFill/>
            <a:prstDash val="solid"/>
          </a:ln>
        </p:spPr>
        <p:txBody>
          <a:bodyPr/>
          <a:lstStyle/>
          <a:p>
            <a:endParaRPr lang="en-US"/>
          </a:p>
        </p:txBody>
      </p:sp>
      <p:sp>
        <p:nvSpPr>
          <p:cNvPr id="52" name="Rectangle 51">
            <a:extLst>
              <a:ext uri="{FF2B5EF4-FFF2-40B4-BE49-F238E27FC236}">
                <a16:creationId xmlns:a16="http://schemas.microsoft.com/office/drawing/2014/main" id="{AAD5DEE6-CA66-4372-9434-77F76F7E21B8}"/>
              </a:ext>
            </a:extLst>
          </p:cNvPr>
          <p:cNvSpPr>
            <a:spLocks noGrp="1"/>
          </p:cNvSpPr>
          <p:nvPr/>
        </p:nvSpPr>
        <p:spPr>
          <a:xfrm>
            <a:off x="819150" y="2152650"/>
            <a:ext cx="361950" cy="171450"/>
          </a:xfrm>
          <a:prstGeom prst="rect">
            <a:avLst/>
          </a:prstGeom>
          <a:noFill/>
          <a:ln w="0">
            <a:noFill/>
          </a:ln>
        </p:spPr>
        <p:txBody>
          <a:bodyPr wrap="square" lIns="0" tIns="0" rIns="0" bIns="0" anchor="ctr">
            <a:normAutofit/>
          </a:bodyPr>
          <a:lstStyle/>
          <a:p>
            <a:pPr algn="ctr">
              <a:lnSpc>
                <a:spcPct val="100000"/>
              </a:lnSpc>
              <a:buNone/>
              <a:defRPr sz="975" b="1">
                <a:solidFill>
                  <a:srgbClr val="FFFFFF"/>
                </a:solidFill>
                <a:latin typeface="Arial"/>
                <a:ea typeface="Arial"/>
                <a:cs typeface="Arial"/>
              </a:defRPr>
            </a:pPr>
            <a:r>
              <a:rPr sz="975" b="1">
                <a:solidFill>
                  <a:srgbClr val="FFFFFF"/>
                </a:solidFill>
                <a:latin typeface="Arial"/>
                <a:ea typeface="Arial"/>
                <a:cs typeface="Arial"/>
              </a:rPr>
              <a:t>01</a:t>
            </a:r>
          </a:p>
        </p:txBody>
      </p:sp>
      <p:sp>
        <p:nvSpPr>
          <p:cNvPr id="53" name="Rectangle 52">
            <a:extLst>
              <a:ext uri="{FF2B5EF4-FFF2-40B4-BE49-F238E27FC236}">
                <a16:creationId xmlns:a16="http://schemas.microsoft.com/office/drawing/2014/main" id="{02764425-A068-42E7-97C9-852DF71CC3E3}"/>
              </a:ext>
            </a:extLst>
          </p:cNvPr>
          <p:cNvSpPr>
            <a:spLocks noGrp="1"/>
          </p:cNvSpPr>
          <p:nvPr/>
        </p:nvSpPr>
        <p:spPr>
          <a:xfrm>
            <a:off x="1333500" y="2047875"/>
            <a:ext cx="5334000" cy="171450"/>
          </a:xfrm>
          <a:prstGeom prst="rect">
            <a:avLst/>
          </a:prstGeom>
          <a:noFill/>
          <a:ln w="0">
            <a:noFill/>
          </a:ln>
        </p:spPr>
        <p:txBody>
          <a:bodyPr wrap="square" lIns="0" tIns="0" rIns="0" bIns="0" anchor="t">
            <a:noAutofit/>
          </a:bodyPr>
          <a:lstStyle/>
          <a:p>
            <a:pPr algn="l">
              <a:lnSpc>
                <a:spcPct val="100000"/>
              </a:lnSpc>
              <a:buNone/>
              <a:defRPr sz="1050" b="1">
                <a:solidFill>
                  <a:srgbClr val="070154"/>
                </a:solidFill>
                <a:latin typeface="Arial"/>
                <a:ea typeface="Arial"/>
                <a:cs typeface="Arial"/>
              </a:defRPr>
            </a:pPr>
            <a:r>
              <a:rPr lang="en-US" sz="1050" b="1">
                <a:solidFill>
                  <a:srgbClr val="070154"/>
                </a:solidFill>
                <a:latin typeface="Arial"/>
                <a:ea typeface="Arial"/>
                <a:cs typeface="Arial"/>
              </a:rPr>
              <a:t>Prioritize the application portfolio</a:t>
            </a:r>
            <a:endParaRPr sz="1050" b="1">
              <a:solidFill>
                <a:srgbClr val="070154"/>
              </a:solidFill>
              <a:latin typeface="Arial"/>
              <a:ea typeface="Arial"/>
              <a:cs typeface="Arial"/>
            </a:endParaRPr>
          </a:p>
        </p:txBody>
      </p:sp>
      <p:sp>
        <p:nvSpPr>
          <p:cNvPr id="54" name="Rectangle 53">
            <a:extLst>
              <a:ext uri="{FF2B5EF4-FFF2-40B4-BE49-F238E27FC236}">
                <a16:creationId xmlns:a16="http://schemas.microsoft.com/office/drawing/2014/main" id="{188BF04C-4B02-489A-83D6-7F0B5E1ADF19}"/>
              </a:ext>
            </a:extLst>
          </p:cNvPr>
          <p:cNvSpPr>
            <a:spLocks noGrp="1"/>
          </p:cNvSpPr>
          <p:nvPr/>
        </p:nvSpPr>
        <p:spPr>
          <a:xfrm>
            <a:off x="1333500" y="2228850"/>
            <a:ext cx="5334000" cy="257175"/>
          </a:xfrm>
          <a:prstGeom prst="rect">
            <a:avLst/>
          </a:prstGeom>
          <a:noFill/>
          <a:ln w="0">
            <a:noFill/>
          </a:ln>
        </p:spPr>
        <p:txBody>
          <a:bodyPr wrap="square" lIns="0" tIns="0" rIns="0" bIns="0" anchor="t">
            <a:normAutofit/>
          </a:bodyPr>
          <a:lstStyle/>
          <a:p>
            <a:pPr algn="l">
              <a:lnSpc>
                <a:spcPct val="95000"/>
              </a:lnSpc>
              <a:buNone/>
              <a:defRPr sz="863" b="0">
                <a:solidFill>
                  <a:srgbClr val="50658E"/>
                </a:solidFill>
                <a:latin typeface="Arial"/>
                <a:ea typeface="Arial"/>
                <a:cs typeface="Arial"/>
              </a:defRPr>
            </a:pPr>
            <a:r>
              <a:rPr lang="en-US" sz="850">
                <a:solidFill>
                  <a:srgbClr val="50658E"/>
                </a:solidFill>
                <a:latin typeface="Arial"/>
                <a:ea typeface="Arial"/>
                <a:cs typeface="Arial"/>
              </a:rPr>
              <a:t>Confirm in-scope applications and understand costs, roadmaps, ownership, and planned changes</a:t>
            </a:r>
            <a:endParaRPr sz="850">
              <a:solidFill>
                <a:srgbClr val="50658E"/>
              </a:solidFill>
              <a:latin typeface="Arial"/>
              <a:ea typeface="Arial"/>
              <a:cs typeface="Arial"/>
            </a:endParaRPr>
          </a:p>
        </p:txBody>
      </p:sp>
      <p:sp>
        <p:nvSpPr>
          <p:cNvPr id="56" name="Rounded Rectangle 55">
            <a:extLst>
              <a:ext uri="{FF2B5EF4-FFF2-40B4-BE49-F238E27FC236}">
                <a16:creationId xmlns:a16="http://schemas.microsoft.com/office/drawing/2014/main" id="{D363D818-B7AC-49DA-9B3B-1EF022644369}"/>
              </a:ext>
            </a:extLst>
          </p:cNvPr>
          <p:cNvSpPr>
            <a:spLocks noGrp="1"/>
          </p:cNvSpPr>
          <p:nvPr/>
        </p:nvSpPr>
        <p:spPr>
          <a:xfrm>
            <a:off x="685800" y="2571750"/>
            <a:ext cx="6191250" cy="552450"/>
          </a:xfrm>
          <a:prstGeom prst="roundRect">
            <a:avLst>
              <a:gd name="adj" fmla="val 15385"/>
            </a:avLst>
          </a:prstGeom>
          <a:solidFill>
            <a:srgbClr val="F5F7FB"/>
          </a:solidFill>
          <a:ln w="9525">
            <a:solidFill>
              <a:srgbClr val="CED7E6"/>
            </a:solidFill>
            <a:prstDash val="solid"/>
          </a:ln>
        </p:spPr>
        <p:txBody>
          <a:bodyPr/>
          <a:lstStyle/>
          <a:p>
            <a:endParaRPr lang="en-US"/>
          </a:p>
        </p:txBody>
      </p:sp>
      <p:sp>
        <p:nvSpPr>
          <p:cNvPr id="57" name="Rounded Rectangle 56">
            <a:extLst>
              <a:ext uri="{FF2B5EF4-FFF2-40B4-BE49-F238E27FC236}">
                <a16:creationId xmlns:a16="http://schemas.microsoft.com/office/drawing/2014/main" id="{0A569FDA-F6DC-47B7-8F4A-293DE4D1508B}"/>
              </a:ext>
            </a:extLst>
          </p:cNvPr>
          <p:cNvSpPr>
            <a:spLocks noGrp="1"/>
          </p:cNvSpPr>
          <p:nvPr/>
        </p:nvSpPr>
        <p:spPr>
          <a:xfrm>
            <a:off x="819150" y="2686050"/>
            <a:ext cx="361950" cy="323850"/>
          </a:xfrm>
          <a:prstGeom prst="roundRect">
            <a:avLst>
              <a:gd name="adj" fmla="val 23529"/>
            </a:avLst>
          </a:prstGeom>
          <a:solidFill>
            <a:srgbClr val="0047FF"/>
          </a:solidFill>
          <a:ln w="0">
            <a:noFill/>
            <a:prstDash val="solid"/>
          </a:ln>
        </p:spPr>
        <p:txBody>
          <a:bodyPr/>
          <a:lstStyle/>
          <a:p>
            <a:endParaRPr lang="en-US"/>
          </a:p>
        </p:txBody>
      </p:sp>
      <p:sp>
        <p:nvSpPr>
          <p:cNvPr id="58" name="Rectangle 57">
            <a:extLst>
              <a:ext uri="{FF2B5EF4-FFF2-40B4-BE49-F238E27FC236}">
                <a16:creationId xmlns:a16="http://schemas.microsoft.com/office/drawing/2014/main" id="{601C47EE-0319-4139-AF0F-F368F2A4357A}"/>
              </a:ext>
            </a:extLst>
          </p:cNvPr>
          <p:cNvSpPr>
            <a:spLocks noGrp="1"/>
          </p:cNvSpPr>
          <p:nvPr/>
        </p:nvSpPr>
        <p:spPr>
          <a:xfrm>
            <a:off x="819150" y="2743200"/>
            <a:ext cx="361950" cy="171450"/>
          </a:xfrm>
          <a:prstGeom prst="rect">
            <a:avLst/>
          </a:prstGeom>
          <a:noFill/>
          <a:ln w="0">
            <a:noFill/>
          </a:ln>
        </p:spPr>
        <p:txBody>
          <a:bodyPr wrap="square" lIns="0" tIns="0" rIns="0" bIns="0" anchor="ctr">
            <a:normAutofit/>
          </a:bodyPr>
          <a:lstStyle/>
          <a:p>
            <a:pPr algn="ctr">
              <a:lnSpc>
                <a:spcPct val="100000"/>
              </a:lnSpc>
              <a:buNone/>
              <a:defRPr sz="975" b="1">
                <a:solidFill>
                  <a:srgbClr val="FFFFFF"/>
                </a:solidFill>
                <a:latin typeface="Arial"/>
                <a:ea typeface="Arial"/>
                <a:cs typeface="Arial"/>
              </a:defRPr>
            </a:pPr>
            <a:r>
              <a:rPr sz="975" b="1">
                <a:solidFill>
                  <a:srgbClr val="FFFFFF"/>
                </a:solidFill>
                <a:latin typeface="Arial"/>
                <a:ea typeface="Arial"/>
                <a:cs typeface="Arial"/>
              </a:rPr>
              <a:t>02</a:t>
            </a:r>
          </a:p>
        </p:txBody>
      </p:sp>
      <p:sp>
        <p:nvSpPr>
          <p:cNvPr id="59" name="Rectangle 58">
            <a:extLst>
              <a:ext uri="{FF2B5EF4-FFF2-40B4-BE49-F238E27FC236}">
                <a16:creationId xmlns:a16="http://schemas.microsoft.com/office/drawing/2014/main" id="{B10BF2E2-7020-450E-9C86-39B79A52C36C}"/>
              </a:ext>
            </a:extLst>
          </p:cNvPr>
          <p:cNvSpPr>
            <a:spLocks noGrp="1"/>
          </p:cNvSpPr>
          <p:nvPr/>
        </p:nvSpPr>
        <p:spPr>
          <a:xfrm>
            <a:off x="1333500" y="2638425"/>
            <a:ext cx="5334000" cy="171450"/>
          </a:xfrm>
          <a:prstGeom prst="rect">
            <a:avLst/>
          </a:prstGeom>
          <a:noFill/>
          <a:ln w="0">
            <a:noFill/>
          </a:ln>
        </p:spPr>
        <p:txBody>
          <a:bodyPr wrap="square" lIns="0" tIns="0" rIns="0" bIns="0" anchor="t">
            <a:noAutofit/>
          </a:bodyPr>
          <a:lstStyle/>
          <a:p>
            <a:pPr algn="l">
              <a:lnSpc>
                <a:spcPct val="100000"/>
              </a:lnSpc>
              <a:buNone/>
              <a:defRPr sz="1050" b="1">
                <a:solidFill>
                  <a:srgbClr val="070154"/>
                </a:solidFill>
                <a:latin typeface="Arial"/>
                <a:ea typeface="Arial"/>
                <a:cs typeface="Arial"/>
              </a:defRPr>
            </a:pPr>
            <a:r>
              <a:rPr lang="en-US" sz="1050" b="1">
                <a:solidFill>
                  <a:srgbClr val="070154"/>
                </a:solidFill>
                <a:latin typeface="Arial"/>
                <a:ea typeface="Arial"/>
                <a:cs typeface="Arial"/>
              </a:rPr>
              <a:t>Assess value, health, and risk</a:t>
            </a:r>
            <a:endParaRPr sz="1050" b="1">
              <a:solidFill>
                <a:srgbClr val="070154"/>
              </a:solidFill>
              <a:latin typeface="Arial"/>
              <a:ea typeface="Arial"/>
              <a:cs typeface="Arial"/>
            </a:endParaRPr>
          </a:p>
        </p:txBody>
      </p:sp>
      <p:sp>
        <p:nvSpPr>
          <p:cNvPr id="60" name="Rectangle 59">
            <a:extLst>
              <a:ext uri="{FF2B5EF4-FFF2-40B4-BE49-F238E27FC236}">
                <a16:creationId xmlns:a16="http://schemas.microsoft.com/office/drawing/2014/main" id="{EFFAE3C6-1077-4FE8-BD52-33F3D92F3A07}"/>
              </a:ext>
            </a:extLst>
          </p:cNvPr>
          <p:cNvSpPr>
            <a:spLocks noGrp="1"/>
          </p:cNvSpPr>
          <p:nvPr/>
        </p:nvSpPr>
        <p:spPr>
          <a:xfrm>
            <a:off x="1333500" y="2819400"/>
            <a:ext cx="5334000" cy="257175"/>
          </a:xfrm>
          <a:prstGeom prst="rect">
            <a:avLst/>
          </a:prstGeom>
          <a:noFill/>
          <a:ln w="0">
            <a:noFill/>
          </a:ln>
        </p:spPr>
        <p:txBody>
          <a:bodyPr wrap="square" lIns="0" tIns="0" rIns="0" bIns="0" anchor="t">
            <a:normAutofit/>
          </a:bodyPr>
          <a:lstStyle/>
          <a:p>
            <a:pPr algn="l">
              <a:lnSpc>
                <a:spcPct val="95000"/>
              </a:lnSpc>
              <a:buNone/>
              <a:defRPr sz="863" b="0">
                <a:solidFill>
                  <a:srgbClr val="50658E"/>
                </a:solidFill>
                <a:latin typeface="Arial"/>
                <a:ea typeface="Arial"/>
                <a:cs typeface="Arial"/>
              </a:defRPr>
            </a:pPr>
            <a:r>
              <a:rPr lang="en-US" sz="850">
                <a:solidFill>
                  <a:srgbClr val="50658E"/>
                </a:solidFill>
                <a:latin typeface="Arial"/>
                <a:ea typeface="Arial"/>
                <a:cs typeface="Arial"/>
              </a:rPr>
              <a:t>Assess business value, technical health, risk, dependencies, and architecture fit through owner interviews and technology analysis</a:t>
            </a:r>
            <a:endParaRPr sz="850">
              <a:solidFill>
                <a:srgbClr val="50658E"/>
              </a:solidFill>
              <a:latin typeface="Arial"/>
              <a:ea typeface="Arial"/>
              <a:cs typeface="Arial"/>
            </a:endParaRPr>
          </a:p>
        </p:txBody>
      </p:sp>
      <p:sp>
        <p:nvSpPr>
          <p:cNvPr id="62" name="Rounded Rectangle 61">
            <a:extLst>
              <a:ext uri="{FF2B5EF4-FFF2-40B4-BE49-F238E27FC236}">
                <a16:creationId xmlns:a16="http://schemas.microsoft.com/office/drawing/2014/main" id="{A5D72E9A-6378-4244-8EAD-860EB7E07B93}"/>
              </a:ext>
            </a:extLst>
          </p:cNvPr>
          <p:cNvSpPr>
            <a:spLocks noGrp="1"/>
          </p:cNvSpPr>
          <p:nvPr/>
        </p:nvSpPr>
        <p:spPr>
          <a:xfrm>
            <a:off x="685800" y="3162300"/>
            <a:ext cx="6191250" cy="552450"/>
          </a:xfrm>
          <a:prstGeom prst="roundRect">
            <a:avLst>
              <a:gd name="adj" fmla="val 15385"/>
            </a:avLst>
          </a:prstGeom>
          <a:solidFill>
            <a:srgbClr val="F5F7FB"/>
          </a:solidFill>
          <a:ln w="9525">
            <a:solidFill>
              <a:srgbClr val="CED7E6"/>
            </a:solidFill>
            <a:prstDash val="solid"/>
          </a:ln>
        </p:spPr>
        <p:txBody>
          <a:bodyPr/>
          <a:lstStyle/>
          <a:p>
            <a:endParaRPr lang="en-US"/>
          </a:p>
        </p:txBody>
      </p:sp>
      <p:sp>
        <p:nvSpPr>
          <p:cNvPr id="63" name="Rounded Rectangle 62">
            <a:extLst>
              <a:ext uri="{FF2B5EF4-FFF2-40B4-BE49-F238E27FC236}">
                <a16:creationId xmlns:a16="http://schemas.microsoft.com/office/drawing/2014/main" id="{34E5FC5B-33F7-4641-A415-176AB7AEEAAB}"/>
              </a:ext>
            </a:extLst>
          </p:cNvPr>
          <p:cNvSpPr>
            <a:spLocks noGrp="1"/>
          </p:cNvSpPr>
          <p:nvPr/>
        </p:nvSpPr>
        <p:spPr>
          <a:xfrm>
            <a:off x="819150" y="3276600"/>
            <a:ext cx="361950" cy="323850"/>
          </a:xfrm>
          <a:prstGeom prst="roundRect">
            <a:avLst>
              <a:gd name="adj" fmla="val 23529"/>
            </a:avLst>
          </a:prstGeom>
          <a:solidFill>
            <a:srgbClr val="0047FF"/>
          </a:solidFill>
          <a:ln w="0">
            <a:noFill/>
            <a:prstDash val="solid"/>
          </a:ln>
        </p:spPr>
        <p:txBody>
          <a:bodyPr/>
          <a:lstStyle/>
          <a:p>
            <a:endParaRPr lang="en-US"/>
          </a:p>
        </p:txBody>
      </p:sp>
      <p:sp>
        <p:nvSpPr>
          <p:cNvPr id="64" name="Rectangle 63">
            <a:extLst>
              <a:ext uri="{FF2B5EF4-FFF2-40B4-BE49-F238E27FC236}">
                <a16:creationId xmlns:a16="http://schemas.microsoft.com/office/drawing/2014/main" id="{6009E717-7C68-4EF1-928F-64A2D9CED33E}"/>
              </a:ext>
            </a:extLst>
          </p:cNvPr>
          <p:cNvSpPr>
            <a:spLocks noGrp="1"/>
          </p:cNvSpPr>
          <p:nvPr/>
        </p:nvSpPr>
        <p:spPr>
          <a:xfrm>
            <a:off x="819150" y="3333750"/>
            <a:ext cx="361950" cy="171450"/>
          </a:xfrm>
          <a:prstGeom prst="rect">
            <a:avLst/>
          </a:prstGeom>
          <a:noFill/>
          <a:ln w="0">
            <a:noFill/>
          </a:ln>
        </p:spPr>
        <p:txBody>
          <a:bodyPr wrap="square" lIns="0" tIns="0" rIns="0" bIns="0" anchor="ctr">
            <a:normAutofit/>
          </a:bodyPr>
          <a:lstStyle/>
          <a:p>
            <a:pPr algn="ctr">
              <a:lnSpc>
                <a:spcPct val="100000"/>
              </a:lnSpc>
              <a:buNone/>
              <a:defRPr sz="975" b="1">
                <a:solidFill>
                  <a:srgbClr val="FFFFFF"/>
                </a:solidFill>
                <a:latin typeface="Arial"/>
                <a:ea typeface="Arial"/>
                <a:cs typeface="Arial"/>
              </a:defRPr>
            </a:pPr>
            <a:r>
              <a:rPr sz="975" b="1">
                <a:solidFill>
                  <a:srgbClr val="FFFFFF"/>
                </a:solidFill>
                <a:latin typeface="Arial"/>
                <a:ea typeface="Arial"/>
                <a:cs typeface="Arial"/>
              </a:rPr>
              <a:t>03</a:t>
            </a:r>
          </a:p>
        </p:txBody>
      </p:sp>
      <p:sp>
        <p:nvSpPr>
          <p:cNvPr id="65" name="Rectangle 64">
            <a:extLst>
              <a:ext uri="{FF2B5EF4-FFF2-40B4-BE49-F238E27FC236}">
                <a16:creationId xmlns:a16="http://schemas.microsoft.com/office/drawing/2014/main" id="{61D0CE4F-0A47-4685-883C-A45EC7655A94}"/>
              </a:ext>
            </a:extLst>
          </p:cNvPr>
          <p:cNvSpPr>
            <a:spLocks noGrp="1"/>
          </p:cNvSpPr>
          <p:nvPr/>
        </p:nvSpPr>
        <p:spPr>
          <a:xfrm>
            <a:off x="1333500" y="3228975"/>
            <a:ext cx="5334000" cy="171450"/>
          </a:xfrm>
          <a:prstGeom prst="rect">
            <a:avLst/>
          </a:prstGeom>
          <a:noFill/>
          <a:ln w="0">
            <a:noFill/>
          </a:ln>
        </p:spPr>
        <p:txBody>
          <a:bodyPr wrap="square" lIns="0" tIns="0" rIns="0" bIns="0" anchor="t">
            <a:noAutofit/>
          </a:bodyPr>
          <a:lstStyle/>
          <a:p>
            <a:pPr algn="l">
              <a:lnSpc>
                <a:spcPct val="100000"/>
              </a:lnSpc>
              <a:buNone/>
              <a:defRPr sz="1050" b="1">
                <a:solidFill>
                  <a:srgbClr val="070154"/>
                </a:solidFill>
                <a:latin typeface="Arial"/>
                <a:ea typeface="Arial"/>
                <a:cs typeface="Arial"/>
              </a:defRPr>
            </a:pPr>
            <a:r>
              <a:rPr lang="en-US" sz="1050" b="1">
                <a:solidFill>
                  <a:srgbClr val="070154"/>
                </a:solidFill>
                <a:latin typeface="Arial"/>
                <a:ea typeface="Arial"/>
                <a:cs typeface="Arial"/>
              </a:rPr>
              <a:t>Reconstruct current-state business processes</a:t>
            </a:r>
            <a:endParaRPr sz="1050" b="1">
              <a:solidFill>
                <a:srgbClr val="070154"/>
              </a:solidFill>
              <a:latin typeface="Arial"/>
              <a:ea typeface="Arial"/>
              <a:cs typeface="Arial"/>
            </a:endParaRPr>
          </a:p>
        </p:txBody>
      </p:sp>
      <p:sp>
        <p:nvSpPr>
          <p:cNvPr id="66" name="Rectangle 65">
            <a:extLst>
              <a:ext uri="{FF2B5EF4-FFF2-40B4-BE49-F238E27FC236}">
                <a16:creationId xmlns:a16="http://schemas.microsoft.com/office/drawing/2014/main" id="{1584D6C1-058D-4652-B650-F05123FBACB3}"/>
              </a:ext>
            </a:extLst>
          </p:cNvPr>
          <p:cNvSpPr>
            <a:spLocks noGrp="1"/>
          </p:cNvSpPr>
          <p:nvPr/>
        </p:nvSpPr>
        <p:spPr>
          <a:xfrm>
            <a:off x="1333500" y="3409950"/>
            <a:ext cx="5334000" cy="257175"/>
          </a:xfrm>
          <a:prstGeom prst="rect">
            <a:avLst/>
          </a:prstGeom>
          <a:noFill/>
          <a:ln w="0">
            <a:noFill/>
          </a:ln>
        </p:spPr>
        <p:txBody>
          <a:bodyPr wrap="square" lIns="0" tIns="0" rIns="0" bIns="0" anchor="t">
            <a:normAutofit/>
          </a:bodyPr>
          <a:lstStyle/>
          <a:p>
            <a:pPr algn="l">
              <a:lnSpc>
                <a:spcPct val="95000"/>
              </a:lnSpc>
              <a:buNone/>
              <a:defRPr sz="863" b="0">
                <a:solidFill>
                  <a:srgbClr val="50658E"/>
                </a:solidFill>
                <a:latin typeface="Arial"/>
                <a:ea typeface="Arial"/>
                <a:cs typeface="Arial"/>
              </a:defRPr>
            </a:pPr>
            <a:r>
              <a:rPr lang="en-US" sz="850">
                <a:solidFill>
                  <a:srgbClr val="50658E"/>
                </a:solidFill>
                <a:latin typeface="Arial"/>
                <a:ea typeface="Arial"/>
                <a:cs typeface="Arial"/>
              </a:rPr>
              <a:t>Map workflows, handoffs, pain points, exceptions, and application touchpoints with business and application owners</a:t>
            </a:r>
            <a:endParaRPr sz="850">
              <a:solidFill>
                <a:srgbClr val="50658E"/>
              </a:solidFill>
              <a:latin typeface="Arial"/>
              <a:ea typeface="Arial"/>
              <a:cs typeface="Arial"/>
            </a:endParaRPr>
          </a:p>
        </p:txBody>
      </p:sp>
      <p:sp>
        <p:nvSpPr>
          <p:cNvPr id="68" name="Rounded Rectangle 67">
            <a:extLst>
              <a:ext uri="{FF2B5EF4-FFF2-40B4-BE49-F238E27FC236}">
                <a16:creationId xmlns:a16="http://schemas.microsoft.com/office/drawing/2014/main" id="{1E542FD1-3238-47E9-B6ED-E159BDD55C3D}"/>
              </a:ext>
            </a:extLst>
          </p:cNvPr>
          <p:cNvSpPr>
            <a:spLocks noGrp="1"/>
          </p:cNvSpPr>
          <p:nvPr/>
        </p:nvSpPr>
        <p:spPr>
          <a:xfrm>
            <a:off x="685800" y="3752850"/>
            <a:ext cx="6191250" cy="552450"/>
          </a:xfrm>
          <a:prstGeom prst="roundRect">
            <a:avLst>
              <a:gd name="adj" fmla="val 15385"/>
            </a:avLst>
          </a:prstGeom>
          <a:solidFill>
            <a:srgbClr val="F5F7FB"/>
          </a:solidFill>
          <a:ln w="9525">
            <a:solidFill>
              <a:srgbClr val="CED7E6"/>
            </a:solidFill>
            <a:prstDash val="solid"/>
          </a:ln>
        </p:spPr>
        <p:txBody>
          <a:bodyPr/>
          <a:lstStyle/>
          <a:p>
            <a:endParaRPr lang="en-US"/>
          </a:p>
        </p:txBody>
      </p:sp>
      <p:sp>
        <p:nvSpPr>
          <p:cNvPr id="69" name="Rounded Rectangle 68">
            <a:extLst>
              <a:ext uri="{FF2B5EF4-FFF2-40B4-BE49-F238E27FC236}">
                <a16:creationId xmlns:a16="http://schemas.microsoft.com/office/drawing/2014/main" id="{5D722E4B-45F8-454C-9983-C49B050C892C}"/>
              </a:ext>
            </a:extLst>
          </p:cNvPr>
          <p:cNvSpPr>
            <a:spLocks noGrp="1"/>
          </p:cNvSpPr>
          <p:nvPr/>
        </p:nvSpPr>
        <p:spPr>
          <a:xfrm>
            <a:off x="819150" y="3867150"/>
            <a:ext cx="361950" cy="323850"/>
          </a:xfrm>
          <a:prstGeom prst="roundRect">
            <a:avLst>
              <a:gd name="adj" fmla="val 23529"/>
            </a:avLst>
          </a:prstGeom>
          <a:solidFill>
            <a:srgbClr val="0047FF"/>
          </a:solidFill>
          <a:ln w="0">
            <a:noFill/>
            <a:prstDash val="solid"/>
          </a:ln>
        </p:spPr>
        <p:txBody>
          <a:bodyPr/>
          <a:lstStyle/>
          <a:p>
            <a:endParaRPr lang="en-US"/>
          </a:p>
        </p:txBody>
      </p:sp>
      <p:sp>
        <p:nvSpPr>
          <p:cNvPr id="70" name="Rectangle 69">
            <a:extLst>
              <a:ext uri="{FF2B5EF4-FFF2-40B4-BE49-F238E27FC236}">
                <a16:creationId xmlns:a16="http://schemas.microsoft.com/office/drawing/2014/main" id="{9DF32778-6D8F-4C0D-95A9-9FC0D699E3C7}"/>
              </a:ext>
            </a:extLst>
          </p:cNvPr>
          <p:cNvSpPr>
            <a:spLocks noGrp="1"/>
          </p:cNvSpPr>
          <p:nvPr/>
        </p:nvSpPr>
        <p:spPr>
          <a:xfrm>
            <a:off x="819150" y="3924300"/>
            <a:ext cx="361950" cy="171450"/>
          </a:xfrm>
          <a:prstGeom prst="rect">
            <a:avLst/>
          </a:prstGeom>
          <a:noFill/>
          <a:ln w="0">
            <a:noFill/>
          </a:ln>
        </p:spPr>
        <p:txBody>
          <a:bodyPr wrap="square" lIns="0" tIns="0" rIns="0" bIns="0" anchor="ctr">
            <a:normAutofit/>
          </a:bodyPr>
          <a:lstStyle/>
          <a:p>
            <a:pPr algn="ctr">
              <a:lnSpc>
                <a:spcPct val="100000"/>
              </a:lnSpc>
              <a:buNone/>
              <a:defRPr sz="975" b="1">
                <a:solidFill>
                  <a:srgbClr val="FFFFFF"/>
                </a:solidFill>
                <a:latin typeface="Arial"/>
                <a:ea typeface="Arial"/>
                <a:cs typeface="Arial"/>
              </a:defRPr>
            </a:pPr>
            <a:r>
              <a:rPr sz="975" b="1">
                <a:solidFill>
                  <a:srgbClr val="FFFFFF"/>
                </a:solidFill>
                <a:latin typeface="Arial"/>
                <a:ea typeface="Arial"/>
                <a:cs typeface="Arial"/>
              </a:rPr>
              <a:t>04</a:t>
            </a:r>
          </a:p>
        </p:txBody>
      </p:sp>
      <p:sp>
        <p:nvSpPr>
          <p:cNvPr id="71" name="Rectangle 70">
            <a:extLst>
              <a:ext uri="{FF2B5EF4-FFF2-40B4-BE49-F238E27FC236}">
                <a16:creationId xmlns:a16="http://schemas.microsoft.com/office/drawing/2014/main" id="{5B06F012-706C-476B-BCCD-1A63797F90EB}"/>
              </a:ext>
            </a:extLst>
          </p:cNvPr>
          <p:cNvSpPr>
            <a:spLocks noGrp="1"/>
          </p:cNvSpPr>
          <p:nvPr/>
        </p:nvSpPr>
        <p:spPr>
          <a:xfrm>
            <a:off x="1333500" y="3819525"/>
            <a:ext cx="5334000" cy="171450"/>
          </a:xfrm>
          <a:prstGeom prst="rect">
            <a:avLst/>
          </a:prstGeom>
          <a:noFill/>
          <a:ln w="0">
            <a:noFill/>
          </a:ln>
        </p:spPr>
        <p:txBody>
          <a:bodyPr wrap="square" lIns="0" tIns="0" rIns="0" bIns="0" anchor="t">
            <a:noAutofit/>
          </a:bodyPr>
          <a:lstStyle/>
          <a:p>
            <a:pPr algn="l">
              <a:lnSpc>
                <a:spcPct val="100000"/>
              </a:lnSpc>
              <a:buNone/>
              <a:defRPr sz="1050" b="1">
                <a:solidFill>
                  <a:srgbClr val="070154"/>
                </a:solidFill>
                <a:latin typeface="Arial"/>
                <a:ea typeface="Arial"/>
                <a:cs typeface="Arial"/>
              </a:defRPr>
            </a:pPr>
            <a:r>
              <a:rPr lang="en-US" sz="1050" b="1">
                <a:solidFill>
                  <a:srgbClr val="070154"/>
                </a:solidFill>
                <a:latin typeface="Arial"/>
                <a:ea typeface="Arial"/>
                <a:cs typeface="Arial"/>
              </a:rPr>
              <a:t>Define application dispositions</a:t>
            </a:r>
            <a:endParaRPr sz="1050" b="1">
              <a:solidFill>
                <a:srgbClr val="070154"/>
              </a:solidFill>
              <a:latin typeface="Arial"/>
              <a:ea typeface="Arial"/>
              <a:cs typeface="Arial"/>
            </a:endParaRPr>
          </a:p>
        </p:txBody>
      </p:sp>
      <p:sp>
        <p:nvSpPr>
          <p:cNvPr id="72" name="Rectangle 71">
            <a:extLst>
              <a:ext uri="{FF2B5EF4-FFF2-40B4-BE49-F238E27FC236}">
                <a16:creationId xmlns:a16="http://schemas.microsoft.com/office/drawing/2014/main" id="{A0CD5309-5EFB-4077-8477-6244F8BDC481}"/>
              </a:ext>
            </a:extLst>
          </p:cNvPr>
          <p:cNvSpPr>
            <a:spLocks noGrp="1"/>
          </p:cNvSpPr>
          <p:nvPr/>
        </p:nvSpPr>
        <p:spPr>
          <a:xfrm>
            <a:off x="1333500" y="4000500"/>
            <a:ext cx="5334000" cy="257175"/>
          </a:xfrm>
          <a:prstGeom prst="rect">
            <a:avLst/>
          </a:prstGeom>
          <a:noFill/>
          <a:ln w="0">
            <a:noFill/>
          </a:ln>
        </p:spPr>
        <p:txBody>
          <a:bodyPr wrap="square" lIns="0" tIns="0" rIns="0" bIns="0" anchor="t">
            <a:normAutofit/>
          </a:bodyPr>
          <a:lstStyle/>
          <a:p>
            <a:pPr algn="l">
              <a:lnSpc>
                <a:spcPct val="95000"/>
              </a:lnSpc>
              <a:buNone/>
              <a:defRPr sz="863" b="0">
                <a:solidFill>
                  <a:srgbClr val="50658E"/>
                </a:solidFill>
                <a:latin typeface="Arial"/>
                <a:ea typeface="Arial"/>
                <a:cs typeface="Arial"/>
              </a:defRPr>
            </a:pPr>
            <a:r>
              <a:rPr lang="en-US" sz="850">
                <a:solidFill>
                  <a:srgbClr val="50658E"/>
                </a:solidFill>
                <a:latin typeface="Arial"/>
                <a:ea typeface="Arial"/>
                <a:cs typeface="Arial"/>
              </a:rPr>
              <a:t>Create and socialize initial dispositions; identify the applications best suited for modernization</a:t>
            </a:r>
            <a:endParaRPr sz="850">
              <a:solidFill>
                <a:srgbClr val="50658E"/>
              </a:solidFill>
              <a:latin typeface="Arial"/>
              <a:ea typeface="Arial"/>
              <a:cs typeface="Arial"/>
            </a:endParaRPr>
          </a:p>
        </p:txBody>
      </p:sp>
      <p:sp>
        <p:nvSpPr>
          <p:cNvPr id="74" name="Rounded Rectangle 73">
            <a:extLst>
              <a:ext uri="{FF2B5EF4-FFF2-40B4-BE49-F238E27FC236}">
                <a16:creationId xmlns:a16="http://schemas.microsoft.com/office/drawing/2014/main" id="{5B9E7D23-E50C-4AA0-B745-826FF0CC4CE8}"/>
              </a:ext>
            </a:extLst>
          </p:cNvPr>
          <p:cNvSpPr>
            <a:spLocks noGrp="1"/>
          </p:cNvSpPr>
          <p:nvPr/>
        </p:nvSpPr>
        <p:spPr>
          <a:xfrm>
            <a:off x="685800" y="4343400"/>
            <a:ext cx="6191250" cy="552450"/>
          </a:xfrm>
          <a:prstGeom prst="roundRect">
            <a:avLst>
              <a:gd name="adj" fmla="val 15385"/>
            </a:avLst>
          </a:prstGeom>
          <a:solidFill>
            <a:srgbClr val="F5F7FB"/>
          </a:solidFill>
          <a:ln w="9525">
            <a:solidFill>
              <a:srgbClr val="CED7E6"/>
            </a:solidFill>
            <a:prstDash val="solid"/>
          </a:ln>
        </p:spPr>
        <p:txBody>
          <a:bodyPr/>
          <a:lstStyle/>
          <a:p>
            <a:endParaRPr lang="en-US"/>
          </a:p>
        </p:txBody>
      </p:sp>
      <p:sp>
        <p:nvSpPr>
          <p:cNvPr id="75" name="Rounded Rectangle 74">
            <a:extLst>
              <a:ext uri="{FF2B5EF4-FFF2-40B4-BE49-F238E27FC236}">
                <a16:creationId xmlns:a16="http://schemas.microsoft.com/office/drawing/2014/main" id="{E34AA6DF-7F82-42C5-9AB0-9B128F819C2B}"/>
              </a:ext>
            </a:extLst>
          </p:cNvPr>
          <p:cNvSpPr>
            <a:spLocks noGrp="1"/>
          </p:cNvSpPr>
          <p:nvPr/>
        </p:nvSpPr>
        <p:spPr>
          <a:xfrm>
            <a:off x="819150" y="4457700"/>
            <a:ext cx="361950" cy="323850"/>
          </a:xfrm>
          <a:prstGeom prst="roundRect">
            <a:avLst>
              <a:gd name="adj" fmla="val 23529"/>
            </a:avLst>
          </a:prstGeom>
          <a:solidFill>
            <a:srgbClr val="0047FF"/>
          </a:solidFill>
          <a:ln w="0">
            <a:noFill/>
            <a:prstDash val="solid"/>
          </a:ln>
        </p:spPr>
        <p:txBody>
          <a:bodyPr/>
          <a:lstStyle/>
          <a:p>
            <a:endParaRPr lang="en-US"/>
          </a:p>
        </p:txBody>
      </p:sp>
      <p:sp>
        <p:nvSpPr>
          <p:cNvPr id="76" name="Rectangle 75">
            <a:extLst>
              <a:ext uri="{FF2B5EF4-FFF2-40B4-BE49-F238E27FC236}">
                <a16:creationId xmlns:a16="http://schemas.microsoft.com/office/drawing/2014/main" id="{33B36D1E-3BEB-4C40-AC81-5330575B8B7D}"/>
              </a:ext>
            </a:extLst>
          </p:cNvPr>
          <p:cNvSpPr>
            <a:spLocks noGrp="1"/>
          </p:cNvSpPr>
          <p:nvPr/>
        </p:nvSpPr>
        <p:spPr>
          <a:xfrm>
            <a:off x="819150" y="4514850"/>
            <a:ext cx="361950" cy="171450"/>
          </a:xfrm>
          <a:prstGeom prst="rect">
            <a:avLst/>
          </a:prstGeom>
          <a:noFill/>
          <a:ln w="0">
            <a:noFill/>
          </a:ln>
        </p:spPr>
        <p:txBody>
          <a:bodyPr wrap="square" lIns="0" tIns="0" rIns="0" bIns="0" anchor="ctr">
            <a:normAutofit/>
          </a:bodyPr>
          <a:lstStyle/>
          <a:p>
            <a:pPr algn="ctr">
              <a:lnSpc>
                <a:spcPct val="100000"/>
              </a:lnSpc>
              <a:buNone/>
              <a:defRPr sz="975" b="1">
                <a:solidFill>
                  <a:srgbClr val="FFFFFF"/>
                </a:solidFill>
                <a:latin typeface="Arial"/>
                <a:ea typeface="Arial"/>
                <a:cs typeface="Arial"/>
              </a:defRPr>
            </a:pPr>
            <a:r>
              <a:rPr sz="975" b="1">
                <a:solidFill>
                  <a:srgbClr val="FFFFFF"/>
                </a:solidFill>
                <a:latin typeface="Arial"/>
                <a:ea typeface="Arial"/>
                <a:cs typeface="Arial"/>
              </a:rPr>
              <a:t>05</a:t>
            </a:r>
          </a:p>
        </p:txBody>
      </p:sp>
      <p:sp>
        <p:nvSpPr>
          <p:cNvPr id="77" name="Rectangle 76">
            <a:extLst>
              <a:ext uri="{FF2B5EF4-FFF2-40B4-BE49-F238E27FC236}">
                <a16:creationId xmlns:a16="http://schemas.microsoft.com/office/drawing/2014/main" id="{B1575912-FBE6-4AC2-9240-9B057F17667A}"/>
              </a:ext>
            </a:extLst>
          </p:cNvPr>
          <p:cNvSpPr>
            <a:spLocks noGrp="1"/>
          </p:cNvSpPr>
          <p:nvPr/>
        </p:nvSpPr>
        <p:spPr>
          <a:xfrm>
            <a:off x="1333500" y="4410075"/>
            <a:ext cx="5334000" cy="171450"/>
          </a:xfrm>
          <a:prstGeom prst="rect">
            <a:avLst/>
          </a:prstGeom>
          <a:noFill/>
          <a:ln w="0">
            <a:noFill/>
          </a:ln>
        </p:spPr>
        <p:txBody>
          <a:bodyPr wrap="square" lIns="0" tIns="0" rIns="0" bIns="0" anchor="t">
            <a:noAutofit/>
          </a:bodyPr>
          <a:lstStyle/>
          <a:p>
            <a:pPr algn="l">
              <a:lnSpc>
                <a:spcPct val="100000"/>
              </a:lnSpc>
              <a:buNone/>
              <a:defRPr sz="1050" b="1">
                <a:solidFill>
                  <a:srgbClr val="070154"/>
                </a:solidFill>
                <a:latin typeface="Arial"/>
                <a:ea typeface="Arial"/>
                <a:cs typeface="Arial"/>
              </a:defRPr>
            </a:pPr>
            <a:r>
              <a:rPr lang="en-US" sz="1050" b="1">
                <a:solidFill>
                  <a:srgbClr val="070154"/>
                </a:solidFill>
                <a:latin typeface="Arial"/>
                <a:ea typeface="Arial"/>
                <a:cs typeface="Arial"/>
              </a:rPr>
              <a:t>Reimagine future-state business workflows</a:t>
            </a:r>
            <a:endParaRPr sz="1050" b="1">
              <a:solidFill>
                <a:srgbClr val="070154"/>
              </a:solidFill>
              <a:latin typeface="Arial"/>
              <a:ea typeface="Arial"/>
              <a:cs typeface="Arial"/>
            </a:endParaRPr>
          </a:p>
        </p:txBody>
      </p:sp>
      <p:sp>
        <p:nvSpPr>
          <p:cNvPr id="78" name="Rectangle 77">
            <a:extLst>
              <a:ext uri="{FF2B5EF4-FFF2-40B4-BE49-F238E27FC236}">
                <a16:creationId xmlns:a16="http://schemas.microsoft.com/office/drawing/2014/main" id="{9CBA0581-FAF3-43EA-957C-E2E1E1151BF1}"/>
              </a:ext>
            </a:extLst>
          </p:cNvPr>
          <p:cNvSpPr>
            <a:spLocks noGrp="1"/>
          </p:cNvSpPr>
          <p:nvPr/>
        </p:nvSpPr>
        <p:spPr>
          <a:xfrm>
            <a:off x="1333500" y="4591050"/>
            <a:ext cx="5334000" cy="257175"/>
          </a:xfrm>
          <a:prstGeom prst="rect">
            <a:avLst/>
          </a:prstGeom>
          <a:noFill/>
          <a:ln w="0">
            <a:noFill/>
          </a:ln>
        </p:spPr>
        <p:txBody>
          <a:bodyPr wrap="square" lIns="0" tIns="0" rIns="0" bIns="0" anchor="t">
            <a:normAutofit/>
          </a:bodyPr>
          <a:lstStyle/>
          <a:p>
            <a:pPr algn="l">
              <a:lnSpc>
                <a:spcPct val="95000"/>
              </a:lnSpc>
              <a:buNone/>
              <a:defRPr sz="863" b="0">
                <a:solidFill>
                  <a:srgbClr val="50658E"/>
                </a:solidFill>
                <a:latin typeface="Arial"/>
                <a:ea typeface="Arial"/>
                <a:cs typeface="Arial"/>
              </a:defRPr>
            </a:pPr>
            <a:r>
              <a:rPr lang="en-US" sz="850">
                <a:solidFill>
                  <a:srgbClr val="50658E"/>
                </a:solidFill>
                <a:latin typeface="Arial"/>
                <a:ea typeface="Arial"/>
                <a:cs typeface="Arial"/>
              </a:rPr>
              <a:t>Design workflows tailored to how the business operates, then translate them into modernization targets, architecture, interim states, and a sequenced roadmap</a:t>
            </a:r>
            <a:endParaRPr sz="850">
              <a:solidFill>
                <a:srgbClr val="50658E"/>
              </a:solidFill>
              <a:latin typeface="Arial"/>
              <a:ea typeface="Arial"/>
              <a:cs typeface="Arial"/>
            </a:endParaRPr>
          </a:p>
        </p:txBody>
      </p:sp>
      <p:sp>
        <p:nvSpPr>
          <p:cNvPr id="80" name="Rounded Rectangle 79">
            <a:extLst>
              <a:ext uri="{FF2B5EF4-FFF2-40B4-BE49-F238E27FC236}">
                <a16:creationId xmlns:a16="http://schemas.microsoft.com/office/drawing/2014/main" id="{B1C68FC7-45A1-472E-855A-D09ED7E0CA21}"/>
              </a:ext>
            </a:extLst>
          </p:cNvPr>
          <p:cNvSpPr>
            <a:spLocks noGrp="1"/>
          </p:cNvSpPr>
          <p:nvPr/>
        </p:nvSpPr>
        <p:spPr>
          <a:xfrm>
            <a:off x="7277100" y="1981200"/>
            <a:ext cx="4229100" cy="3048000"/>
          </a:xfrm>
          <a:prstGeom prst="roundRect">
            <a:avLst>
              <a:gd name="adj" fmla="val 2500"/>
            </a:avLst>
          </a:prstGeom>
          <a:solidFill>
            <a:srgbClr val="E8EEF8"/>
          </a:solidFill>
          <a:ln w="9525">
            <a:solidFill>
              <a:srgbClr val="CED7E6"/>
            </a:solidFill>
            <a:prstDash val="solid"/>
          </a:ln>
        </p:spPr>
        <p:txBody>
          <a:bodyPr/>
          <a:lstStyle/>
          <a:p>
            <a:endParaRPr lang="en-US"/>
          </a:p>
        </p:txBody>
      </p:sp>
      <p:sp>
        <p:nvSpPr>
          <p:cNvPr id="81" name="Rectangle 80">
            <a:extLst>
              <a:ext uri="{FF2B5EF4-FFF2-40B4-BE49-F238E27FC236}">
                <a16:creationId xmlns:a16="http://schemas.microsoft.com/office/drawing/2014/main" id="{01C10CCA-920C-4ED6-B426-C1B4C7758F2F}"/>
              </a:ext>
            </a:extLst>
          </p:cNvPr>
          <p:cNvSpPr>
            <a:spLocks noGrp="1"/>
          </p:cNvSpPr>
          <p:nvPr/>
        </p:nvSpPr>
        <p:spPr>
          <a:xfrm>
            <a:off x="7486650" y="2133600"/>
            <a:ext cx="3619500" cy="209550"/>
          </a:xfrm>
          <a:prstGeom prst="rect">
            <a:avLst/>
          </a:prstGeom>
          <a:noFill/>
          <a:ln w="0">
            <a:noFill/>
          </a:ln>
        </p:spPr>
        <p:txBody>
          <a:bodyPr wrap="square" lIns="0" tIns="0" rIns="0" bIns="0" anchor="t">
            <a:normAutofit/>
          </a:bodyPr>
          <a:lstStyle/>
          <a:p>
            <a:pPr algn="l">
              <a:lnSpc>
                <a:spcPct val="100000"/>
              </a:lnSpc>
              <a:buNone/>
              <a:defRPr sz="1275" b="1">
                <a:solidFill>
                  <a:srgbClr val="070154"/>
                </a:solidFill>
                <a:latin typeface="Arial"/>
                <a:ea typeface="Arial"/>
                <a:cs typeface="Arial"/>
              </a:defRPr>
            </a:pPr>
            <a:r>
              <a:rPr lang="en-US" sz="1275" b="1">
                <a:solidFill>
                  <a:srgbClr val="070154"/>
                </a:solidFill>
                <a:latin typeface="Arial"/>
                <a:ea typeface="Arial"/>
                <a:cs typeface="Arial"/>
              </a:rPr>
              <a:t>Decision-ready rationalization outputs</a:t>
            </a:r>
            <a:endParaRPr sz="1275" b="1">
              <a:solidFill>
                <a:srgbClr val="070154"/>
              </a:solidFill>
              <a:latin typeface="Arial"/>
              <a:ea typeface="Arial"/>
              <a:cs typeface="Arial"/>
            </a:endParaRPr>
          </a:p>
        </p:txBody>
      </p:sp>
      <p:sp>
        <p:nvSpPr>
          <p:cNvPr id="82" name="Oval 81">
            <a:extLst>
              <a:ext uri="{FF2B5EF4-FFF2-40B4-BE49-F238E27FC236}">
                <a16:creationId xmlns:a16="http://schemas.microsoft.com/office/drawing/2014/main" id="{C2C1723C-FDAF-4EF4-A851-EE277C3EBF04}"/>
              </a:ext>
            </a:extLst>
          </p:cNvPr>
          <p:cNvSpPr>
            <a:spLocks noGrp="1"/>
          </p:cNvSpPr>
          <p:nvPr/>
        </p:nvSpPr>
        <p:spPr>
          <a:xfrm>
            <a:off x="7486650" y="2543175"/>
            <a:ext cx="95250" cy="95250"/>
          </a:xfrm>
          <a:prstGeom prst="ellipse">
            <a:avLst/>
          </a:prstGeom>
          <a:solidFill>
            <a:srgbClr val="F900D3"/>
          </a:solidFill>
          <a:ln w="0">
            <a:noFill/>
          </a:ln>
        </p:spPr>
        <p:txBody>
          <a:bodyPr/>
          <a:lstStyle/>
          <a:p>
            <a:endParaRPr lang="en-US"/>
          </a:p>
        </p:txBody>
      </p:sp>
      <p:sp>
        <p:nvSpPr>
          <p:cNvPr id="83" name="Rectangle 82">
            <a:extLst>
              <a:ext uri="{FF2B5EF4-FFF2-40B4-BE49-F238E27FC236}">
                <a16:creationId xmlns:a16="http://schemas.microsoft.com/office/drawing/2014/main" id="{644FE2C2-EC76-4B10-80D3-ADFF51EA7B56}"/>
              </a:ext>
            </a:extLst>
          </p:cNvPr>
          <p:cNvSpPr>
            <a:spLocks noGrp="1"/>
          </p:cNvSpPr>
          <p:nvPr/>
        </p:nvSpPr>
        <p:spPr>
          <a:xfrm>
            <a:off x="7677150" y="2514600"/>
            <a:ext cx="3524250" cy="247650"/>
          </a:xfrm>
          <a:prstGeom prst="rect">
            <a:avLst/>
          </a:prstGeom>
          <a:noFill/>
          <a:ln w="0">
            <a:noFill/>
          </a:ln>
        </p:spPr>
        <p:txBody>
          <a:bodyPr wrap="square" lIns="0" tIns="0" rIns="0" bIns="0" anchor="t">
            <a:noAutofit/>
          </a:bodyPr>
          <a:lstStyle/>
          <a:p>
            <a:pPr algn="l">
              <a:lnSpc>
                <a:spcPct val="95000"/>
              </a:lnSpc>
              <a:buNone/>
              <a:defRPr sz="1013" b="1">
                <a:solidFill>
                  <a:srgbClr val="070154"/>
                </a:solidFill>
                <a:latin typeface="Arial"/>
                <a:ea typeface="Arial"/>
                <a:cs typeface="Arial"/>
              </a:defRPr>
            </a:pPr>
            <a:r>
              <a:rPr lang="en-US" sz="1000" b="1">
                <a:solidFill>
                  <a:srgbClr val="070154"/>
                </a:solidFill>
                <a:latin typeface="Arial"/>
                <a:ea typeface="Arial"/>
                <a:cs typeface="Arial"/>
              </a:rPr>
              <a:t>Portfolio fact base and current-state workflow map</a:t>
            </a:r>
            <a:endParaRPr sz="1000" b="1">
              <a:solidFill>
                <a:srgbClr val="070154"/>
              </a:solidFill>
              <a:latin typeface="Arial"/>
              <a:ea typeface="Arial"/>
              <a:cs typeface="Arial"/>
            </a:endParaRPr>
          </a:p>
        </p:txBody>
      </p:sp>
      <p:sp>
        <p:nvSpPr>
          <p:cNvPr id="84" name="Oval 83">
            <a:extLst>
              <a:ext uri="{FF2B5EF4-FFF2-40B4-BE49-F238E27FC236}">
                <a16:creationId xmlns:a16="http://schemas.microsoft.com/office/drawing/2014/main" id="{0498A168-A4AD-42BD-A3CA-15C9A515475C}"/>
              </a:ext>
            </a:extLst>
          </p:cNvPr>
          <p:cNvSpPr>
            <a:spLocks noGrp="1"/>
          </p:cNvSpPr>
          <p:nvPr/>
        </p:nvSpPr>
        <p:spPr>
          <a:xfrm>
            <a:off x="7486650" y="2981325"/>
            <a:ext cx="95250" cy="95250"/>
          </a:xfrm>
          <a:prstGeom prst="ellipse">
            <a:avLst/>
          </a:prstGeom>
          <a:solidFill>
            <a:srgbClr val="0047FF"/>
          </a:solidFill>
          <a:ln w="0">
            <a:noFill/>
          </a:ln>
        </p:spPr>
        <p:txBody>
          <a:bodyPr/>
          <a:lstStyle/>
          <a:p>
            <a:endParaRPr lang="en-US"/>
          </a:p>
        </p:txBody>
      </p:sp>
      <p:sp>
        <p:nvSpPr>
          <p:cNvPr id="85" name="Rectangle 84">
            <a:extLst>
              <a:ext uri="{FF2B5EF4-FFF2-40B4-BE49-F238E27FC236}">
                <a16:creationId xmlns:a16="http://schemas.microsoft.com/office/drawing/2014/main" id="{FB8B33B2-8A75-4170-9BDF-2668ACD7BAB5}"/>
              </a:ext>
            </a:extLst>
          </p:cNvPr>
          <p:cNvSpPr>
            <a:spLocks noGrp="1"/>
          </p:cNvSpPr>
          <p:nvPr/>
        </p:nvSpPr>
        <p:spPr>
          <a:xfrm>
            <a:off x="7677150" y="2952750"/>
            <a:ext cx="3524250" cy="247650"/>
          </a:xfrm>
          <a:prstGeom prst="rect">
            <a:avLst/>
          </a:prstGeom>
          <a:noFill/>
          <a:ln w="0">
            <a:noFill/>
          </a:ln>
        </p:spPr>
        <p:txBody>
          <a:bodyPr wrap="square" lIns="0" tIns="0" rIns="0" bIns="0" anchor="t">
            <a:noAutofit/>
          </a:bodyPr>
          <a:lstStyle/>
          <a:p>
            <a:pPr algn="l">
              <a:lnSpc>
                <a:spcPct val="95000"/>
              </a:lnSpc>
              <a:buNone/>
              <a:defRPr sz="1013" b="1">
                <a:solidFill>
                  <a:srgbClr val="070154"/>
                </a:solidFill>
                <a:latin typeface="Arial"/>
                <a:ea typeface="Arial"/>
                <a:cs typeface="Arial"/>
              </a:defRPr>
            </a:pPr>
            <a:r>
              <a:rPr lang="en-US" sz="1000" b="1">
                <a:solidFill>
                  <a:srgbClr val="070154"/>
                </a:solidFill>
                <a:latin typeface="Arial"/>
                <a:ea typeface="Arial"/>
                <a:cs typeface="Arial"/>
              </a:rPr>
              <a:t>Business value, technical health, and risk profiles</a:t>
            </a:r>
            <a:endParaRPr sz="1000" b="1">
              <a:solidFill>
                <a:srgbClr val="070154"/>
              </a:solidFill>
              <a:latin typeface="Arial"/>
              <a:ea typeface="Arial"/>
              <a:cs typeface="Arial"/>
            </a:endParaRPr>
          </a:p>
        </p:txBody>
      </p:sp>
      <p:sp>
        <p:nvSpPr>
          <p:cNvPr id="86" name="Oval 85">
            <a:extLst>
              <a:ext uri="{FF2B5EF4-FFF2-40B4-BE49-F238E27FC236}">
                <a16:creationId xmlns:a16="http://schemas.microsoft.com/office/drawing/2014/main" id="{349FDB91-C80D-4A59-BBDE-18DA98595FDE}"/>
              </a:ext>
            </a:extLst>
          </p:cNvPr>
          <p:cNvSpPr>
            <a:spLocks noGrp="1"/>
          </p:cNvSpPr>
          <p:nvPr/>
        </p:nvSpPr>
        <p:spPr>
          <a:xfrm>
            <a:off x="7486650" y="3419475"/>
            <a:ext cx="95250" cy="95250"/>
          </a:xfrm>
          <a:prstGeom prst="ellipse">
            <a:avLst/>
          </a:prstGeom>
          <a:solidFill>
            <a:srgbClr val="0047FF"/>
          </a:solidFill>
          <a:ln w="0">
            <a:noFill/>
          </a:ln>
        </p:spPr>
        <p:txBody>
          <a:bodyPr/>
          <a:lstStyle/>
          <a:p>
            <a:endParaRPr lang="en-US"/>
          </a:p>
        </p:txBody>
      </p:sp>
      <p:sp>
        <p:nvSpPr>
          <p:cNvPr id="87" name="Rectangle 86">
            <a:extLst>
              <a:ext uri="{FF2B5EF4-FFF2-40B4-BE49-F238E27FC236}">
                <a16:creationId xmlns:a16="http://schemas.microsoft.com/office/drawing/2014/main" id="{F5A63B7C-B25C-4B55-9A12-2D76ECEF74BA}"/>
              </a:ext>
            </a:extLst>
          </p:cNvPr>
          <p:cNvSpPr>
            <a:spLocks noGrp="1"/>
          </p:cNvSpPr>
          <p:nvPr/>
        </p:nvSpPr>
        <p:spPr>
          <a:xfrm>
            <a:off x="7677150" y="3390900"/>
            <a:ext cx="3524250" cy="247650"/>
          </a:xfrm>
          <a:prstGeom prst="rect">
            <a:avLst/>
          </a:prstGeom>
          <a:noFill/>
          <a:ln w="0">
            <a:noFill/>
          </a:ln>
        </p:spPr>
        <p:txBody>
          <a:bodyPr wrap="square" lIns="0" tIns="0" rIns="0" bIns="0" anchor="t">
            <a:noAutofit/>
          </a:bodyPr>
          <a:lstStyle/>
          <a:p>
            <a:pPr algn="l">
              <a:lnSpc>
                <a:spcPct val="95000"/>
              </a:lnSpc>
              <a:buNone/>
              <a:defRPr sz="1013" b="1">
                <a:solidFill>
                  <a:srgbClr val="070154"/>
                </a:solidFill>
                <a:latin typeface="Arial"/>
                <a:ea typeface="Arial"/>
                <a:cs typeface="Arial"/>
              </a:defRPr>
            </a:pPr>
            <a:r>
              <a:rPr lang="en-US" sz="1000" b="1">
                <a:solidFill>
                  <a:srgbClr val="070154"/>
                </a:solidFill>
                <a:latin typeface="Arial"/>
                <a:ea typeface="Arial"/>
                <a:cs typeface="Arial"/>
              </a:rPr>
              <a:t>Application disposition register</a:t>
            </a:r>
            <a:endParaRPr sz="1000" b="1">
              <a:solidFill>
                <a:srgbClr val="070154"/>
              </a:solidFill>
              <a:latin typeface="Arial"/>
              <a:ea typeface="Arial"/>
              <a:cs typeface="Arial"/>
            </a:endParaRPr>
          </a:p>
        </p:txBody>
      </p:sp>
      <p:sp>
        <p:nvSpPr>
          <p:cNvPr id="88" name="Oval 87">
            <a:extLst>
              <a:ext uri="{FF2B5EF4-FFF2-40B4-BE49-F238E27FC236}">
                <a16:creationId xmlns:a16="http://schemas.microsoft.com/office/drawing/2014/main" id="{BDA13BC3-1DCD-4007-800A-F0E06C300574}"/>
              </a:ext>
            </a:extLst>
          </p:cNvPr>
          <p:cNvSpPr>
            <a:spLocks noGrp="1"/>
          </p:cNvSpPr>
          <p:nvPr/>
        </p:nvSpPr>
        <p:spPr>
          <a:xfrm>
            <a:off x="7486650" y="3971925"/>
            <a:ext cx="95250" cy="95250"/>
          </a:xfrm>
          <a:prstGeom prst="ellipse">
            <a:avLst/>
          </a:prstGeom>
          <a:solidFill>
            <a:srgbClr val="0047FF"/>
          </a:solidFill>
          <a:ln w="0">
            <a:noFill/>
          </a:ln>
        </p:spPr>
        <p:txBody>
          <a:bodyPr/>
          <a:lstStyle/>
          <a:p>
            <a:endParaRPr lang="en-US"/>
          </a:p>
        </p:txBody>
      </p:sp>
      <p:sp>
        <p:nvSpPr>
          <p:cNvPr id="89" name="Rectangle 88">
            <a:extLst>
              <a:ext uri="{FF2B5EF4-FFF2-40B4-BE49-F238E27FC236}">
                <a16:creationId xmlns:a16="http://schemas.microsoft.com/office/drawing/2014/main" id="{15442BA4-EFB4-4253-9395-D12BD9811ACC}"/>
              </a:ext>
            </a:extLst>
          </p:cNvPr>
          <p:cNvSpPr>
            <a:spLocks noGrp="1"/>
          </p:cNvSpPr>
          <p:nvPr/>
        </p:nvSpPr>
        <p:spPr>
          <a:xfrm>
            <a:off x="7677150" y="3943350"/>
            <a:ext cx="3524250" cy="247650"/>
          </a:xfrm>
          <a:prstGeom prst="rect">
            <a:avLst/>
          </a:prstGeom>
          <a:noFill/>
          <a:ln w="0">
            <a:noFill/>
          </a:ln>
        </p:spPr>
        <p:txBody>
          <a:bodyPr wrap="square" lIns="0" tIns="0" rIns="0" bIns="0" anchor="t">
            <a:noAutofit/>
          </a:bodyPr>
          <a:lstStyle/>
          <a:p>
            <a:pPr algn="l">
              <a:lnSpc>
                <a:spcPct val="95000"/>
              </a:lnSpc>
              <a:buNone/>
              <a:defRPr sz="1013" b="1">
                <a:solidFill>
                  <a:srgbClr val="070154"/>
                </a:solidFill>
                <a:latin typeface="Arial"/>
                <a:ea typeface="Arial"/>
                <a:cs typeface="Arial"/>
              </a:defRPr>
            </a:pPr>
            <a:r>
              <a:rPr lang="en-US" sz="1000" b="1">
                <a:solidFill>
                  <a:srgbClr val="070154"/>
                </a:solidFill>
                <a:latin typeface="Arial"/>
                <a:ea typeface="Arial"/>
                <a:cs typeface="Arial"/>
              </a:rPr>
              <a:t>Reimagined workflow and modernization roadmap</a:t>
            </a:r>
            <a:endParaRPr sz="1000" b="1">
              <a:solidFill>
                <a:srgbClr val="070154"/>
              </a:solidFill>
              <a:latin typeface="Arial"/>
              <a:ea typeface="Arial"/>
              <a:cs typeface="Arial"/>
            </a:endParaRPr>
          </a:p>
        </p:txBody>
      </p:sp>
      <p:sp>
        <p:nvSpPr>
          <p:cNvPr id="90" name="Oval 89">
            <a:extLst>
              <a:ext uri="{FF2B5EF4-FFF2-40B4-BE49-F238E27FC236}">
                <a16:creationId xmlns:a16="http://schemas.microsoft.com/office/drawing/2014/main" id="{5C8AE2BB-6022-487C-A604-03603F48C7CF}"/>
              </a:ext>
            </a:extLst>
          </p:cNvPr>
          <p:cNvSpPr>
            <a:spLocks noGrp="1"/>
          </p:cNvSpPr>
          <p:nvPr/>
        </p:nvSpPr>
        <p:spPr>
          <a:xfrm>
            <a:off x="7486650" y="4524375"/>
            <a:ext cx="95250" cy="95250"/>
          </a:xfrm>
          <a:prstGeom prst="ellipse">
            <a:avLst/>
          </a:prstGeom>
          <a:solidFill>
            <a:srgbClr val="F900D3"/>
          </a:solidFill>
          <a:ln w="0">
            <a:noFill/>
          </a:ln>
        </p:spPr>
        <p:txBody>
          <a:bodyPr/>
          <a:lstStyle/>
          <a:p>
            <a:endParaRPr lang="en-US"/>
          </a:p>
        </p:txBody>
      </p:sp>
      <p:sp>
        <p:nvSpPr>
          <p:cNvPr id="91" name="Rectangle 90">
            <a:extLst>
              <a:ext uri="{FF2B5EF4-FFF2-40B4-BE49-F238E27FC236}">
                <a16:creationId xmlns:a16="http://schemas.microsoft.com/office/drawing/2014/main" id="{3C4AB75F-684F-45C9-A389-93FBA45C6577}"/>
              </a:ext>
            </a:extLst>
          </p:cNvPr>
          <p:cNvSpPr>
            <a:spLocks noGrp="1"/>
          </p:cNvSpPr>
          <p:nvPr/>
        </p:nvSpPr>
        <p:spPr>
          <a:xfrm>
            <a:off x="7677150" y="4495800"/>
            <a:ext cx="3524250" cy="247650"/>
          </a:xfrm>
          <a:prstGeom prst="rect">
            <a:avLst/>
          </a:prstGeom>
          <a:noFill/>
          <a:ln w="0">
            <a:noFill/>
          </a:ln>
        </p:spPr>
        <p:txBody>
          <a:bodyPr wrap="square" lIns="0" tIns="0" rIns="0" bIns="0" anchor="t">
            <a:noAutofit/>
          </a:bodyPr>
          <a:lstStyle/>
          <a:p>
            <a:pPr algn="l">
              <a:lnSpc>
                <a:spcPct val="95000"/>
              </a:lnSpc>
              <a:buNone/>
              <a:defRPr sz="1013" b="1">
                <a:solidFill>
                  <a:srgbClr val="070154"/>
                </a:solidFill>
                <a:latin typeface="Arial"/>
                <a:ea typeface="Arial"/>
                <a:cs typeface="Arial"/>
              </a:defRPr>
            </a:pPr>
            <a:r>
              <a:rPr lang="en-US" sz="1000" b="1">
                <a:solidFill>
                  <a:srgbClr val="070154"/>
                </a:solidFill>
                <a:latin typeface="Arial"/>
                <a:ea typeface="Arial"/>
                <a:cs typeface="Arial"/>
              </a:rPr>
              <a:t>Conceptual future-state architecture</a:t>
            </a:r>
            <a:endParaRPr sz="1000" b="1">
              <a:solidFill>
                <a:srgbClr val="070154"/>
              </a:solidFill>
              <a:latin typeface="Arial"/>
              <a:ea typeface="Arial"/>
              <a:cs typeface="Arial"/>
            </a:endParaRPr>
          </a:p>
        </p:txBody>
      </p:sp>
      <p:sp>
        <p:nvSpPr>
          <p:cNvPr id="92" name="Rounded Rectangle 91">
            <a:extLst>
              <a:ext uri="{FF2B5EF4-FFF2-40B4-BE49-F238E27FC236}">
                <a16:creationId xmlns:a16="http://schemas.microsoft.com/office/drawing/2014/main" id="{9D81EFCD-FD68-4B9A-80DE-02CED3052053}"/>
              </a:ext>
            </a:extLst>
          </p:cNvPr>
          <p:cNvSpPr>
            <a:spLocks noGrp="1"/>
          </p:cNvSpPr>
          <p:nvPr/>
        </p:nvSpPr>
        <p:spPr>
          <a:xfrm>
            <a:off x="7277100" y="5219700"/>
            <a:ext cx="4229100" cy="457200"/>
          </a:xfrm>
          <a:prstGeom prst="roundRect">
            <a:avLst>
              <a:gd name="adj" fmla="val 16667"/>
            </a:avLst>
          </a:prstGeom>
          <a:solidFill>
            <a:srgbClr val="070154"/>
          </a:solidFill>
          <a:ln w="0">
            <a:noFill/>
            <a:prstDash val="solid"/>
          </a:ln>
        </p:spPr>
        <p:txBody>
          <a:bodyPr/>
          <a:lstStyle/>
          <a:p>
            <a:endParaRPr lang="en-US"/>
          </a:p>
        </p:txBody>
      </p:sp>
      <p:sp>
        <p:nvSpPr>
          <p:cNvPr id="93" name="Rectangle 92">
            <a:extLst>
              <a:ext uri="{FF2B5EF4-FFF2-40B4-BE49-F238E27FC236}">
                <a16:creationId xmlns:a16="http://schemas.microsoft.com/office/drawing/2014/main" id="{F0D025CC-8700-438C-9083-2EE7B03E8E5D}"/>
              </a:ext>
            </a:extLst>
          </p:cNvPr>
          <p:cNvSpPr>
            <a:spLocks noGrp="1"/>
          </p:cNvSpPr>
          <p:nvPr/>
        </p:nvSpPr>
        <p:spPr>
          <a:xfrm>
            <a:off x="7486650" y="5305425"/>
            <a:ext cx="1352550" cy="123825"/>
          </a:xfrm>
          <a:prstGeom prst="rect">
            <a:avLst/>
          </a:prstGeom>
          <a:noFill/>
          <a:ln w="0">
            <a:noFill/>
          </a:ln>
        </p:spPr>
        <p:txBody>
          <a:bodyPr wrap="square" lIns="0" tIns="0" rIns="0" bIns="0" anchor="t">
            <a:normAutofit/>
          </a:bodyPr>
          <a:lstStyle/>
          <a:p>
            <a:pPr algn="l">
              <a:lnSpc>
                <a:spcPct val="100000"/>
              </a:lnSpc>
              <a:buNone/>
              <a:defRPr sz="788" b="1">
                <a:solidFill>
                  <a:srgbClr val="F900D3"/>
                </a:solidFill>
                <a:latin typeface="Arial"/>
                <a:ea typeface="Arial"/>
                <a:cs typeface="Arial"/>
              </a:defRPr>
            </a:pPr>
            <a:r>
              <a:rPr lang="en-US" sz="788" b="1">
                <a:solidFill>
                  <a:srgbClr val="F900D3"/>
                </a:solidFill>
                <a:latin typeface="Arial"/>
                <a:ea typeface="Arial"/>
                <a:cs typeface="Arial"/>
              </a:rPr>
              <a:t>EXECUTIVE DECISION</a:t>
            </a:r>
            <a:endParaRPr sz="788" b="1">
              <a:solidFill>
                <a:srgbClr val="F900D3"/>
              </a:solidFill>
              <a:latin typeface="Arial"/>
              <a:ea typeface="Arial"/>
              <a:cs typeface="Arial"/>
            </a:endParaRPr>
          </a:p>
        </p:txBody>
      </p:sp>
      <p:sp>
        <p:nvSpPr>
          <p:cNvPr id="94" name="Rectangle 93">
            <a:extLst>
              <a:ext uri="{FF2B5EF4-FFF2-40B4-BE49-F238E27FC236}">
                <a16:creationId xmlns:a16="http://schemas.microsoft.com/office/drawing/2014/main" id="{8D7F9691-3B73-4174-B3EB-89A478C558C4}"/>
              </a:ext>
            </a:extLst>
          </p:cNvPr>
          <p:cNvSpPr>
            <a:spLocks noGrp="1"/>
          </p:cNvSpPr>
          <p:nvPr/>
        </p:nvSpPr>
        <p:spPr>
          <a:xfrm>
            <a:off x="7486650" y="5457825"/>
            <a:ext cx="3810000" cy="161925"/>
          </a:xfrm>
          <a:prstGeom prst="rect">
            <a:avLst/>
          </a:prstGeom>
          <a:noFill/>
          <a:ln w="0">
            <a:noFill/>
          </a:ln>
        </p:spPr>
        <p:txBody>
          <a:bodyPr wrap="square" lIns="0" tIns="0" rIns="0" bIns="0" anchor="t">
            <a:normAutofit lnSpcReduction="10000"/>
          </a:bodyPr>
          <a:lstStyle/>
          <a:p>
            <a:pPr algn="l">
              <a:lnSpc>
                <a:spcPct val="100000"/>
              </a:lnSpc>
              <a:buNone/>
              <a:defRPr sz="1125" b="1">
                <a:solidFill>
                  <a:srgbClr val="FFFFFF"/>
                </a:solidFill>
                <a:latin typeface="Arial"/>
                <a:ea typeface="Arial"/>
                <a:cs typeface="Arial"/>
              </a:defRPr>
            </a:pPr>
            <a:r>
              <a:rPr lang="en-US" sz="1125" b="1">
                <a:solidFill>
                  <a:srgbClr val="FFFFFF"/>
                </a:solidFill>
                <a:latin typeface="Arial"/>
                <a:ea typeface="Arial"/>
                <a:cs typeface="Arial"/>
              </a:rPr>
              <a:t>Approve strategy  •  Refine scope  •  Begin execution</a:t>
            </a:r>
            <a:endParaRPr sz="1125" b="1">
              <a:solidFill>
                <a:srgbClr val="FFFFFF"/>
              </a:solidFill>
              <a:latin typeface="Arial"/>
              <a:ea typeface="Arial"/>
              <a:cs typeface="Arial"/>
            </a:endParaRPr>
          </a:p>
        </p:txBody>
      </p:sp>
      <p:sp>
        <p:nvSpPr>
          <p:cNvPr id="95" name="Rounded Rectangle 94">
            <a:extLst>
              <a:ext uri="{FF2B5EF4-FFF2-40B4-BE49-F238E27FC236}">
                <a16:creationId xmlns:a16="http://schemas.microsoft.com/office/drawing/2014/main" id="{1E4C09EE-DA7D-4FBF-833C-6D5E47971C5A}"/>
              </a:ext>
            </a:extLst>
          </p:cNvPr>
          <p:cNvSpPr>
            <a:spLocks noGrp="1"/>
          </p:cNvSpPr>
          <p:nvPr/>
        </p:nvSpPr>
        <p:spPr>
          <a:xfrm>
            <a:off x="685800" y="5219700"/>
            <a:ext cx="6191250" cy="457200"/>
          </a:xfrm>
          <a:prstGeom prst="roundRect">
            <a:avLst>
              <a:gd name="adj" fmla="val 16667"/>
            </a:avLst>
          </a:prstGeom>
          <a:solidFill>
            <a:srgbClr val="F5F7FB"/>
          </a:solidFill>
          <a:ln w="9525">
            <a:solidFill>
              <a:srgbClr val="CED7E6"/>
            </a:solidFill>
            <a:prstDash val="solid"/>
          </a:ln>
        </p:spPr>
        <p:txBody>
          <a:bodyPr/>
          <a:lstStyle/>
          <a:p>
            <a:endParaRPr lang="en-US"/>
          </a:p>
        </p:txBody>
      </p:sp>
      <p:sp>
        <p:nvSpPr>
          <p:cNvPr id="96" name="Rectangle 95">
            <a:extLst>
              <a:ext uri="{FF2B5EF4-FFF2-40B4-BE49-F238E27FC236}">
                <a16:creationId xmlns:a16="http://schemas.microsoft.com/office/drawing/2014/main" id="{9B8C5E25-7DDE-4E75-92DD-00805994C423}"/>
              </a:ext>
            </a:extLst>
          </p:cNvPr>
          <p:cNvSpPr>
            <a:spLocks noGrp="1"/>
          </p:cNvSpPr>
          <p:nvPr/>
        </p:nvSpPr>
        <p:spPr>
          <a:xfrm>
            <a:off x="838200" y="5305425"/>
            <a:ext cx="5810250" cy="152400"/>
          </a:xfrm>
          <a:prstGeom prst="rect">
            <a:avLst/>
          </a:prstGeom>
          <a:noFill/>
          <a:ln w="0">
            <a:noFill/>
          </a:ln>
        </p:spPr>
        <p:txBody>
          <a:bodyPr wrap="square" lIns="0" tIns="0" rIns="0" bIns="0" anchor="t">
            <a:noAutofit/>
          </a:bodyPr>
          <a:lstStyle/>
          <a:p>
            <a:pPr algn="l">
              <a:lnSpc>
                <a:spcPct val="100000"/>
              </a:lnSpc>
              <a:buNone/>
              <a:defRPr sz="975" b="1">
                <a:solidFill>
                  <a:srgbClr val="070154"/>
                </a:solidFill>
                <a:latin typeface="Arial"/>
                <a:ea typeface="Arial"/>
                <a:cs typeface="Arial"/>
              </a:defRPr>
            </a:pPr>
            <a:r>
              <a:rPr lang="en-US" sz="1050" b="1">
                <a:solidFill>
                  <a:srgbClr val="070154"/>
                </a:solidFill>
                <a:latin typeface="Arial"/>
                <a:ea typeface="Arial"/>
                <a:cs typeface="Arial"/>
              </a:rPr>
              <a:t>Rationalization defines what to modernize and how the business should work in the future</a:t>
            </a:r>
            <a:endParaRPr sz="1050" b="1">
              <a:solidFill>
                <a:srgbClr val="070154"/>
              </a:solidFill>
              <a:latin typeface="Arial"/>
              <a:ea typeface="Arial"/>
              <a:cs typeface="Arial"/>
            </a:endParaRPr>
          </a:p>
        </p:txBody>
      </p:sp>
      <p:sp>
        <p:nvSpPr>
          <p:cNvPr id="97" name="Rectangle 96">
            <a:extLst>
              <a:ext uri="{FF2B5EF4-FFF2-40B4-BE49-F238E27FC236}">
                <a16:creationId xmlns:a16="http://schemas.microsoft.com/office/drawing/2014/main" id="{D08C6E4A-8528-4267-99B2-69712C481604}"/>
              </a:ext>
            </a:extLst>
          </p:cNvPr>
          <p:cNvSpPr>
            <a:spLocks noGrp="1"/>
          </p:cNvSpPr>
          <p:nvPr/>
        </p:nvSpPr>
        <p:spPr>
          <a:xfrm>
            <a:off x="838200" y="5486400"/>
            <a:ext cx="5810250" cy="133350"/>
          </a:xfrm>
          <a:prstGeom prst="rect">
            <a:avLst/>
          </a:prstGeom>
          <a:noFill/>
          <a:ln w="0">
            <a:noFill/>
          </a:ln>
        </p:spPr>
        <p:txBody>
          <a:bodyPr wrap="square" lIns="0" tIns="0" rIns="0" bIns="0" anchor="t">
            <a:noAutofit/>
          </a:bodyPr>
          <a:lstStyle/>
          <a:p>
            <a:pPr algn="l">
              <a:lnSpc>
                <a:spcPct val="100000"/>
              </a:lnSpc>
              <a:buNone/>
              <a:defRPr sz="750" b="0">
                <a:solidFill>
                  <a:srgbClr val="50658E"/>
                </a:solidFill>
                <a:latin typeface="Arial"/>
                <a:ea typeface="Arial"/>
                <a:cs typeface="Arial"/>
              </a:defRPr>
            </a:pPr>
            <a:r>
              <a:rPr lang="en-US" sz="800">
                <a:solidFill>
                  <a:srgbClr val="50658E"/>
                </a:solidFill>
                <a:latin typeface="Arial"/>
                <a:ea typeface="Arial"/>
                <a:cs typeface="Arial"/>
              </a:rPr>
              <a:t>The outputs become the starting context, priorities, process vision, and guardrails for modernization execution</a:t>
            </a:r>
            <a:endParaRPr sz="800">
              <a:solidFill>
                <a:srgbClr val="50658E"/>
              </a:solidFill>
              <a:latin typeface="Arial"/>
              <a:ea typeface="Arial"/>
              <a:cs typeface="Arial"/>
            </a:endParaRPr>
          </a:p>
        </p:txBody>
      </p:sp>
    </p:spTree>
    <p:extLst>
      <p:ext uri="{BB962C8B-B14F-4D97-AF65-F5344CB8AC3E}">
        <p14:creationId xmlns:p14="http://schemas.microsoft.com/office/powerpoint/2010/main" val="16678080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footer-band">
            <a:extLst>
              <a:ext uri="{FF2B5EF4-FFF2-40B4-BE49-F238E27FC236}">
                <a16:creationId xmlns:a16="http://schemas.microsoft.com/office/drawing/2014/main" id="{3583EA29-1A2B-4D75-884C-68DB9BB3718F}"/>
              </a:ext>
            </a:extLst>
          </p:cNvPr>
          <p:cNvSpPr>
            <a:spLocks noGrp="1"/>
          </p:cNvSpPr>
          <p:nvPr/>
        </p:nvSpPr>
        <p:spPr>
          <a:xfrm>
            <a:off x="0" y="6400800"/>
            <a:ext cx="12192000" cy="457200"/>
          </a:xfrm>
          <a:prstGeom prst="rect">
            <a:avLst/>
          </a:prstGeom>
          <a:solidFill>
            <a:srgbClr val="E8EEF8"/>
          </a:solidFill>
          <a:ln w="0">
            <a:noFill/>
          </a:ln>
        </p:spPr>
        <p:txBody>
          <a:bodyPr/>
          <a:lstStyle/>
          <a:p>
            <a:endParaRPr lang="en-US"/>
          </a:p>
        </p:txBody>
      </p:sp>
      <p:pic>
        <p:nvPicPr>
          <p:cNvPr id="235" name="Picture 234"/>
          <p:cNvPicPr>
            <a:picLocks noChangeAspect="1"/>
          </p:cNvPicPr>
          <p:nvPr/>
        </p:nvPicPr>
        <p:blipFill>
          <a:blip r:embed="rId3"/>
          <a:stretch/>
        </p:blipFill>
        <p:spPr>
          <a:xfrm>
            <a:off x="689102" y="6553200"/>
            <a:ext cx="1003046" cy="209550"/>
          </a:xfrm>
          <a:prstGeom prst="rect">
            <a:avLst/>
          </a:prstGeom>
        </p:spPr>
      </p:pic>
      <p:sp>
        <p:nvSpPr>
          <p:cNvPr id="3" name="Rectangle 2">
            <a:extLst>
              <a:ext uri="{FF2B5EF4-FFF2-40B4-BE49-F238E27FC236}">
                <a16:creationId xmlns:a16="http://schemas.microsoft.com/office/drawing/2014/main" id="{232C0FF7-AE0C-4CCF-A577-2E12CDA84893}"/>
              </a:ext>
            </a:extLst>
          </p:cNvPr>
          <p:cNvSpPr>
            <a:spLocks noGrp="1"/>
          </p:cNvSpPr>
          <p:nvPr/>
        </p:nvSpPr>
        <p:spPr>
          <a:xfrm>
            <a:off x="4476750" y="6591300"/>
            <a:ext cx="6762750" cy="123825"/>
          </a:xfrm>
          <a:prstGeom prst="rect">
            <a:avLst/>
          </a:prstGeom>
          <a:noFill/>
          <a:ln w="0">
            <a:noFill/>
          </a:ln>
        </p:spPr>
        <p:txBody>
          <a:bodyPr wrap="square" lIns="0" tIns="0" rIns="0" bIns="0" anchor="t">
            <a:normAutofit/>
          </a:bodyPr>
          <a:lstStyle/>
          <a:p>
            <a:pPr algn="r">
              <a:lnSpc>
                <a:spcPct val="100000"/>
              </a:lnSpc>
              <a:buNone/>
              <a:defRPr sz="638" b="0">
                <a:solidFill>
                  <a:srgbClr val="070154"/>
                </a:solidFill>
                <a:latin typeface="Arial"/>
                <a:ea typeface="Arial"/>
                <a:cs typeface="Arial"/>
              </a:defRPr>
            </a:pPr>
            <a:r>
              <a:rPr sz="638" b="0">
                <a:solidFill>
                  <a:srgbClr val="070154"/>
                </a:solidFill>
                <a:latin typeface="Arial"/>
                <a:ea typeface="Arial"/>
                <a:cs typeface="Arial"/>
              </a:rPr>
              <a:t>© 2026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FFB534D3-9425-42B5-B9C8-82C39109D3BA}"/>
              </a:ext>
            </a:extLst>
          </p:cNvPr>
          <p:cNvSpPr>
            <a:spLocks noGrp="1"/>
          </p:cNvSpPr>
          <p:nvPr/>
        </p:nvSpPr>
        <p:spPr>
          <a:xfrm>
            <a:off x="11468100" y="6591300"/>
            <a:ext cx="228600" cy="123825"/>
          </a:xfrm>
          <a:prstGeom prst="rect">
            <a:avLst/>
          </a:prstGeom>
          <a:noFill/>
          <a:ln w="0">
            <a:noFill/>
          </a:ln>
        </p:spPr>
        <p:txBody>
          <a:bodyPr wrap="square" lIns="0" tIns="0" rIns="0" bIns="0" anchor="t">
            <a:normAutofit/>
          </a:bodyPr>
          <a:lstStyle/>
          <a:p>
            <a:pPr algn="r">
              <a:lnSpc>
                <a:spcPct val="100000"/>
              </a:lnSpc>
              <a:buNone/>
              <a:defRPr sz="675" b="0">
                <a:solidFill>
                  <a:srgbClr val="070154"/>
                </a:solidFill>
                <a:latin typeface="Arial"/>
                <a:ea typeface="Arial"/>
                <a:cs typeface="Arial"/>
              </a:defRPr>
            </a:pPr>
            <a:r>
              <a:rPr lang="en-US" sz="675" b="0">
                <a:solidFill>
                  <a:srgbClr val="070154"/>
                </a:solidFill>
                <a:latin typeface="Arial"/>
                <a:ea typeface="Arial"/>
                <a:cs typeface="Arial"/>
              </a:rPr>
              <a:t>5</a:t>
            </a:r>
            <a:endParaRPr sz="675" b="0">
              <a:solidFill>
                <a:srgbClr val="070154"/>
              </a:solidFill>
              <a:latin typeface="Arial"/>
              <a:ea typeface="Arial"/>
              <a:cs typeface="Arial"/>
            </a:endParaRPr>
          </a:p>
        </p:txBody>
      </p:sp>
      <p:sp>
        <p:nvSpPr>
          <p:cNvPr id="5" name="Oval 4">
            <a:extLst>
              <a:ext uri="{FF2B5EF4-FFF2-40B4-BE49-F238E27FC236}">
                <a16:creationId xmlns:a16="http://schemas.microsoft.com/office/drawing/2014/main" id="{22C71F62-39A0-43DB-B180-6971784245E1}"/>
              </a:ext>
            </a:extLst>
          </p:cNvPr>
          <p:cNvSpPr>
            <a:spLocks noGrp="1"/>
          </p:cNvSpPr>
          <p:nvPr/>
        </p:nvSpPr>
        <p:spPr>
          <a:xfrm>
            <a:off x="266700" y="190500"/>
            <a:ext cx="28575" cy="28575"/>
          </a:xfrm>
          <a:prstGeom prst="ellipse">
            <a:avLst/>
          </a:prstGeom>
          <a:solidFill>
            <a:srgbClr val="CED7E6"/>
          </a:solidFill>
          <a:ln w="0">
            <a:noFill/>
          </a:ln>
        </p:spPr>
        <p:txBody>
          <a:bodyPr/>
          <a:lstStyle/>
          <a:p>
            <a:endParaRPr lang="en-US"/>
          </a:p>
        </p:txBody>
      </p:sp>
      <p:sp>
        <p:nvSpPr>
          <p:cNvPr id="6" name="Oval 5">
            <a:extLst>
              <a:ext uri="{FF2B5EF4-FFF2-40B4-BE49-F238E27FC236}">
                <a16:creationId xmlns:a16="http://schemas.microsoft.com/office/drawing/2014/main" id="{8BD8BEAB-BE38-4CFC-B97E-EEF93F6C7D38}"/>
              </a:ext>
            </a:extLst>
          </p:cNvPr>
          <p:cNvSpPr>
            <a:spLocks noGrp="1"/>
          </p:cNvSpPr>
          <p:nvPr/>
        </p:nvSpPr>
        <p:spPr>
          <a:xfrm>
            <a:off x="438150" y="190500"/>
            <a:ext cx="28575" cy="28575"/>
          </a:xfrm>
          <a:prstGeom prst="ellipse">
            <a:avLst/>
          </a:prstGeom>
          <a:solidFill>
            <a:srgbClr val="CED7E6"/>
          </a:solidFill>
          <a:ln w="0">
            <a:noFill/>
          </a:ln>
        </p:spPr>
        <p:txBody>
          <a:bodyPr/>
          <a:lstStyle/>
          <a:p>
            <a:endParaRPr lang="en-US"/>
          </a:p>
        </p:txBody>
      </p:sp>
      <p:sp>
        <p:nvSpPr>
          <p:cNvPr id="7" name="Oval 6">
            <a:extLst>
              <a:ext uri="{FF2B5EF4-FFF2-40B4-BE49-F238E27FC236}">
                <a16:creationId xmlns:a16="http://schemas.microsoft.com/office/drawing/2014/main" id="{930F70AC-E1AD-49BA-A1AC-F7BC24615B0F}"/>
              </a:ext>
            </a:extLst>
          </p:cNvPr>
          <p:cNvSpPr>
            <a:spLocks noGrp="1"/>
          </p:cNvSpPr>
          <p:nvPr/>
        </p:nvSpPr>
        <p:spPr>
          <a:xfrm>
            <a:off x="609600" y="190500"/>
            <a:ext cx="28575" cy="28575"/>
          </a:xfrm>
          <a:prstGeom prst="ellipse">
            <a:avLst/>
          </a:prstGeom>
          <a:solidFill>
            <a:srgbClr val="CED7E6"/>
          </a:solidFill>
          <a:ln w="0">
            <a:noFill/>
          </a:ln>
        </p:spPr>
        <p:txBody>
          <a:bodyPr/>
          <a:lstStyle/>
          <a:p>
            <a:endParaRPr lang="en-US"/>
          </a:p>
        </p:txBody>
      </p:sp>
      <p:sp>
        <p:nvSpPr>
          <p:cNvPr id="8" name="Oval 7">
            <a:extLst>
              <a:ext uri="{FF2B5EF4-FFF2-40B4-BE49-F238E27FC236}">
                <a16:creationId xmlns:a16="http://schemas.microsoft.com/office/drawing/2014/main" id="{F7429518-7212-4A48-90AB-B61398EB6D36}"/>
              </a:ext>
            </a:extLst>
          </p:cNvPr>
          <p:cNvSpPr>
            <a:spLocks noGrp="1"/>
          </p:cNvSpPr>
          <p:nvPr/>
        </p:nvSpPr>
        <p:spPr>
          <a:xfrm>
            <a:off x="781050" y="190500"/>
            <a:ext cx="28575" cy="28575"/>
          </a:xfrm>
          <a:prstGeom prst="ellipse">
            <a:avLst/>
          </a:prstGeom>
          <a:solidFill>
            <a:srgbClr val="CED7E6"/>
          </a:solidFill>
          <a:ln w="0">
            <a:noFill/>
          </a:ln>
        </p:spPr>
        <p:txBody>
          <a:bodyPr/>
          <a:lstStyle/>
          <a:p>
            <a:endParaRPr lang="en-US"/>
          </a:p>
        </p:txBody>
      </p:sp>
      <p:sp>
        <p:nvSpPr>
          <p:cNvPr id="9" name="Oval 8">
            <a:extLst>
              <a:ext uri="{FF2B5EF4-FFF2-40B4-BE49-F238E27FC236}">
                <a16:creationId xmlns:a16="http://schemas.microsoft.com/office/drawing/2014/main" id="{12FD185B-A0F5-4FD0-BAC2-8E319C9401BF}"/>
              </a:ext>
            </a:extLst>
          </p:cNvPr>
          <p:cNvSpPr>
            <a:spLocks noGrp="1"/>
          </p:cNvSpPr>
          <p:nvPr/>
        </p:nvSpPr>
        <p:spPr>
          <a:xfrm>
            <a:off x="952500" y="190500"/>
            <a:ext cx="28575" cy="28575"/>
          </a:xfrm>
          <a:prstGeom prst="ellipse">
            <a:avLst/>
          </a:prstGeom>
          <a:solidFill>
            <a:srgbClr val="CED7E6"/>
          </a:solidFill>
          <a:ln w="0">
            <a:noFill/>
          </a:ln>
        </p:spPr>
        <p:txBody>
          <a:bodyPr/>
          <a:lstStyle/>
          <a:p>
            <a:endParaRPr lang="en-US"/>
          </a:p>
        </p:txBody>
      </p:sp>
      <p:sp>
        <p:nvSpPr>
          <p:cNvPr id="10" name="Oval 9">
            <a:extLst>
              <a:ext uri="{FF2B5EF4-FFF2-40B4-BE49-F238E27FC236}">
                <a16:creationId xmlns:a16="http://schemas.microsoft.com/office/drawing/2014/main" id="{298BDAD6-E853-4C81-938A-EE5EA17F1F15}"/>
              </a:ext>
            </a:extLst>
          </p:cNvPr>
          <p:cNvSpPr>
            <a:spLocks noGrp="1"/>
          </p:cNvSpPr>
          <p:nvPr/>
        </p:nvSpPr>
        <p:spPr>
          <a:xfrm>
            <a:off x="1123950" y="190500"/>
            <a:ext cx="28575" cy="28575"/>
          </a:xfrm>
          <a:prstGeom prst="ellipse">
            <a:avLst/>
          </a:prstGeom>
          <a:solidFill>
            <a:srgbClr val="CED7E6"/>
          </a:solidFill>
          <a:ln w="0">
            <a:noFill/>
          </a:ln>
        </p:spPr>
        <p:txBody>
          <a:bodyPr/>
          <a:lstStyle/>
          <a:p>
            <a:endParaRPr lang="en-US"/>
          </a:p>
        </p:txBody>
      </p:sp>
      <p:sp>
        <p:nvSpPr>
          <p:cNvPr id="11" name="Oval 10">
            <a:extLst>
              <a:ext uri="{FF2B5EF4-FFF2-40B4-BE49-F238E27FC236}">
                <a16:creationId xmlns:a16="http://schemas.microsoft.com/office/drawing/2014/main" id="{42734440-2F90-4F36-8CA2-39D7611F7FF1}"/>
              </a:ext>
            </a:extLst>
          </p:cNvPr>
          <p:cNvSpPr>
            <a:spLocks noGrp="1"/>
          </p:cNvSpPr>
          <p:nvPr/>
        </p:nvSpPr>
        <p:spPr>
          <a:xfrm>
            <a:off x="1295400" y="190500"/>
            <a:ext cx="28575" cy="28575"/>
          </a:xfrm>
          <a:prstGeom prst="ellipse">
            <a:avLst/>
          </a:prstGeom>
          <a:solidFill>
            <a:srgbClr val="CED7E6"/>
          </a:solidFill>
          <a:ln w="0">
            <a:noFill/>
          </a:ln>
        </p:spPr>
        <p:txBody>
          <a:bodyPr/>
          <a:lstStyle/>
          <a:p>
            <a:endParaRPr lang="en-US"/>
          </a:p>
        </p:txBody>
      </p:sp>
      <p:sp>
        <p:nvSpPr>
          <p:cNvPr id="12" name="Oval 11">
            <a:extLst>
              <a:ext uri="{FF2B5EF4-FFF2-40B4-BE49-F238E27FC236}">
                <a16:creationId xmlns:a16="http://schemas.microsoft.com/office/drawing/2014/main" id="{AAA043EE-D438-4620-91D3-5CCA2216FA20}"/>
              </a:ext>
            </a:extLst>
          </p:cNvPr>
          <p:cNvSpPr>
            <a:spLocks noGrp="1"/>
          </p:cNvSpPr>
          <p:nvPr/>
        </p:nvSpPr>
        <p:spPr>
          <a:xfrm>
            <a:off x="1466850" y="190500"/>
            <a:ext cx="28575" cy="28575"/>
          </a:xfrm>
          <a:prstGeom prst="ellipse">
            <a:avLst/>
          </a:prstGeom>
          <a:solidFill>
            <a:srgbClr val="CED7E6"/>
          </a:solidFill>
          <a:ln w="0">
            <a:noFill/>
          </a:ln>
        </p:spPr>
        <p:txBody>
          <a:bodyPr/>
          <a:lstStyle/>
          <a:p>
            <a:endParaRPr lang="en-US"/>
          </a:p>
        </p:txBody>
      </p:sp>
      <p:sp>
        <p:nvSpPr>
          <p:cNvPr id="13" name="Oval 12">
            <a:extLst>
              <a:ext uri="{FF2B5EF4-FFF2-40B4-BE49-F238E27FC236}">
                <a16:creationId xmlns:a16="http://schemas.microsoft.com/office/drawing/2014/main" id="{1504A5CB-9EB5-49E4-998A-01515C63F688}"/>
              </a:ext>
            </a:extLst>
          </p:cNvPr>
          <p:cNvSpPr>
            <a:spLocks noGrp="1"/>
          </p:cNvSpPr>
          <p:nvPr/>
        </p:nvSpPr>
        <p:spPr>
          <a:xfrm>
            <a:off x="1638300" y="190500"/>
            <a:ext cx="28575" cy="28575"/>
          </a:xfrm>
          <a:prstGeom prst="ellipse">
            <a:avLst/>
          </a:prstGeom>
          <a:solidFill>
            <a:srgbClr val="CED7E6"/>
          </a:solidFill>
          <a:ln w="0">
            <a:noFill/>
          </a:ln>
        </p:spPr>
        <p:txBody>
          <a:bodyPr/>
          <a:lstStyle/>
          <a:p>
            <a:endParaRPr lang="en-US"/>
          </a:p>
        </p:txBody>
      </p:sp>
      <p:sp>
        <p:nvSpPr>
          <p:cNvPr id="14" name="Oval 13">
            <a:extLst>
              <a:ext uri="{FF2B5EF4-FFF2-40B4-BE49-F238E27FC236}">
                <a16:creationId xmlns:a16="http://schemas.microsoft.com/office/drawing/2014/main" id="{E16DADDF-E8E0-4B66-90BF-C7B902D4AC3B}"/>
              </a:ext>
            </a:extLst>
          </p:cNvPr>
          <p:cNvSpPr>
            <a:spLocks noGrp="1"/>
          </p:cNvSpPr>
          <p:nvPr/>
        </p:nvSpPr>
        <p:spPr>
          <a:xfrm>
            <a:off x="1809750" y="190500"/>
            <a:ext cx="28575" cy="28575"/>
          </a:xfrm>
          <a:prstGeom prst="ellipse">
            <a:avLst/>
          </a:prstGeom>
          <a:solidFill>
            <a:srgbClr val="CED7E6"/>
          </a:solidFill>
          <a:ln w="0">
            <a:noFill/>
          </a:ln>
        </p:spPr>
        <p:txBody>
          <a:bodyPr/>
          <a:lstStyle/>
          <a:p>
            <a:endParaRPr lang="en-US"/>
          </a:p>
        </p:txBody>
      </p:sp>
      <p:sp>
        <p:nvSpPr>
          <p:cNvPr id="15" name="Oval 14">
            <a:extLst>
              <a:ext uri="{FF2B5EF4-FFF2-40B4-BE49-F238E27FC236}">
                <a16:creationId xmlns:a16="http://schemas.microsoft.com/office/drawing/2014/main" id="{222AFCC7-11FE-48CD-B177-6E645415B064}"/>
              </a:ext>
            </a:extLst>
          </p:cNvPr>
          <p:cNvSpPr>
            <a:spLocks noGrp="1"/>
          </p:cNvSpPr>
          <p:nvPr/>
        </p:nvSpPr>
        <p:spPr>
          <a:xfrm>
            <a:off x="266700" y="361950"/>
            <a:ext cx="28575" cy="28575"/>
          </a:xfrm>
          <a:prstGeom prst="ellipse">
            <a:avLst/>
          </a:prstGeom>
          <a:solidFill>
            <a:srgbClr val="CED7E6"/>
          </a:solidFill>
          <a:ln w="0">
            <a:noFill/>
          </a:ln>
        </p:spPr>
        <p:txBody>
          <a:bodyPr/>
          <a:lstStyle/>
          <a:p>
            <a:endParaRPr lang="en-US"/>
          </a:p>
        </p:txBody>
      </p:sp>
      <p:sp>
        <p:nvSpPr>
          <p:cNvPr id="16" name="Oval 15">
            <a:extLst>
              <a:ext uri="{FF2B5EF4-FFF2-40B4-BE49-F238E27FC236}">
                <a16:creationId xmlns:a16="http://schemas.microsoft.com/office/drawing/2014/main" id="{C940B7A0-1032-4485-B232-0573248BE788}"/>
              </a:ext>
            </a:extLst>
          </p:cNvPr>
          <p:cNvSpPr>
            <a:spLocks noGrp="1"/>
          </p:cNvSpPr>
          <p:nvPr/>
        </p:nvSpPr>
        <p:spPr>
          <a:xfrm>
            <a:off x="438150" y="361950"/>
            <a:ext cx="28575" cy="28575"/>
          </a:xfrm>
          <a:prstGeom prst="ellipse">
            <a:avLst/>
          </a:prstGeom>
          <a:solidFill>
            <a:srgbClr val="CED7E6"/>
          </a:solidFill>
          <a:ln w="0">
            <a:noFill/>
          </a:ln>
        </p:spPr>
        <p:txBody>
          <a:bodyPr/>
          <a:lstStyle/>
          <a:p>
            <a:endParaRPr lang="en-US"/>
          </a:p>
        </p:txBody>
      </p:sp>
      <p:sp>
        <p:nvSpPr>
          <p:cNvPr id="17" name="Oval 16">
            <a:extLst>
              <a:ext uri="{FF2B5EF4-FFF2-40B4-BE49-F238E27FC236}">
                <a16:creationId xmlns:a16="http://schemas.microsoft.com/office/drawing/2014/main" id="{13065D55-D883-4188-907C-973EA55DFDDA}"/>
              </a:ext>
            </a:extLst>
          </p:cNvPr>
          <p:cNvSpPr>
            <a:spLocks noGrp="1"/>
          </p:cNvSpPr>
          <p:nvPr/>
        </p:nvSpPr>
        <p:spPr>
          <a:xfrm>
            <a:off x="609600" y="361950"/>
            <a:ext cx="28575" cy="28575"/>
          </a:xfrm>
          <a:prstGeom prst="ellipse">
            <a:avLst/>
          </a:prstGeom>
          <a:solidFill>
            <a:srgbClr val="CED7E6"/>
          </a:solidFill>
          <a:ln w="0">
            <a:noFill/>
          </a:ln>
        </p:spPr>
        <p:txBody>
          <a:bodyPr/>
          <a:lstStyle/>
          <a:p>
            <a:endParaRPr lang="en-US"/>
          </a:p>
        </p:txBody>
      </p:sp>
      <p:sp>
        <p:nvSpPr>
          <p:cNvPr id="18" name="Oval 17">
            <a:extLst>
              <a:ext uri="{FF2B5EF4-FFF2-40B4-BE49-F238E27FC236}">
                <a16:creationId xmlns:a16="http://schemas.microsoft.com/office/drawing/2014/main" id="{A3D71E48-EB26-47B2-8B44-CC6386945767}"/>
              </a:ext>
            </a:extLst>
          </p:cNvPr>
          <p:cNvSpPr>
            <a:spLocks noGrp="1"/>
          </p:cNvSpPr>
          <p:nvPr/>
        </p:nvSpPr>
        <p:spPr>
          <a:xfrm>
            <a:off x="781050" y="361950"/>
            <a:ext cx="28575" cy="28575"/>
          </a:xfrm>
          <a:prstGeom prst="ellipse">
            <a:avLst/>
          </a:prstGeom>
          <a:solidFill>
            <a:srgbClr val="CED7E6"/>
          </a:solidFill>
          <a:ln w="0">
            <a:noFill/>
          </a:ln>
        </p:spPr>
        <p:txBody>
          <a:bodyPr/>
          <a:lstStyle/>
          <a:p>
            <a:endParaRPr lang="en-US"/>
          </a:p>
        </p:txBody>
      </p:sp>
      <p:sp>
        <p:nvSpPr>
          <p:cNvPr id="19" name="Oval 18">
            <a:extLst>
              <a:ext uri="{FF2B5EF4-FFF2-40B4-BE49-F238E27FC236}">
                <a16:creationId xmlns:a16="http://schemas.microsoft.com/office/drawing/2014/main" id="{F704C509-CBDB-4A8A-8984-1FCA9DFB1859}"/>
              </a:ext>
            </a:extLst>
          </p:cNvPr>
          <p:cNvSpPr>
            <a:spLocks noGrp="1"/>
          </p:cNvSpPr>
          <p:nvPr/>
        </p:nvSpPr>
        <p:spPr>
          <a:xfrm>
            <a:off x="952500" y="361950"/>
            <a:ext cx="28575" cy="28575"/>
          </a:xfrm>
          <a:prstGeom prst="ellipse">
            <a:avLst/>
          </a:prstGeom>
          <a:solidFill>
            <a:srgbClr val="CED7E6"/>
          </a:solidFill>
          <a:ln w="0">
            <a:noFill/>
          </a:ln>
        </p:spPr>
        <p:txBody>
          <a:bodyPr/>
          <a:lstStyle/>
          <a:p>
            <a:endParaRPr lang="en-US"/>
          </a:p>
        </p:txBody>
      </p:sp>
      <p:sp>
        <p:nvSpPr>
          <p:cNvPr id="20" name="Oval 19">
            <a:extLst>
              <a:ext uri="{FF2B5EF4-FFF2-40B4-BE49-F238E27FC236}">
                <a16:creationId xmlns:a16="http://schemas.microsoft.com/office/drawing/2014/main" id="{FE1C1B9B-C06D-4C57-8065-29B3E86CB13C}"/>
              </a:ext>
            </a:extLst>
          </p:cNvPr>
          <p:cNvSpPr>
            <a:spLocks noGrp="1"/>
          </p:cNvSpPr>
          <p:nvPr/>
        </p:nvSpPr>
        <p:spPr>
          <a:xfrm>
            <a:off x="1123950" y="361950"/>
            <a:ext cx="28575" cy="28575"/>
          </a:xfrm>
          <a:prstGeom prst="ellipse">
            <a:avLst/>
          </a:prstGeom>
          <a:solidFill>
            <a:srgbClr val="CED7E6"/>
          </a:solidFill>
          <a:ln w="0">
            <a:noFill/>
          </a:ln>
        </p:spPr>
        <p:txBody>
          <a:bodyPr/>
          <a:lstStyle/>
          <a:p>
            <a:endParaRPr lang="en-US"/>
          </a:p>
        </p:txBody>
      </p:sp>
      <p:sp>
        <p:nvSpPr>
          <p:cNvPr id="21" name="Oval 20">
            <a:extLst>
              <a:ext uri="{FF2B5EF4-FFF2-40B4-BE49-F238E27FC236}">
                <a16:creationId xmlns:a16="http://schemas.microsoft.com/office/drawing/2014/main" id="{CC04C2A8-5A4E-4F42-B3A1-1C610704B4D6}"/>
              </a:ext>
            </a:extLst>
          </p:cNvPr>
          <p:cNvSpPr>
            <a:spLocks noGrp="1"/>
          </p:cNvSpPr>
          <p:nvPr/>
        </p:nvSpPr>
        <p:spPr>
          <a:xfrm>
            <a:off x="1295400" y="361950"/>
            <a:ext cx="28575" cy="28575"/>
          </a:xfrm>
          <a:prstGeom prst="ellipse">
            <a:avLst/>
          </a:prstGeom>
          <a:solidFill>
            <a:srgbClr val="CED7E6"/>
          </a:solidFill>
          <a:ln w="0">
            <a:noFill/>
          </a:ln>
        </p:spPr>
        <p:txBody>
          <a:bodyPr/>
          <a:lstStyle/>
          <a:p>
            <a:endParaRPr lang="en-US"/>
          </a:p>
        </p:txBody>
      </p:sp>
      <p:sp>
        <p:nvSpPr>
          <p:cNvPr id="22" name="Oval 21">
            <a:extLst>
              <a:ext uri="{FF2B5EF4-FFF2-40B4-BE49-F238E27FC236}">
                <a16:creationId xmlns:a16="http://schemas.microsoft.com/office/drawing/2014/main" id="{F42A5FD8-25BD-4AC2-B4FF-2C2E857AE0DF}"/>
              </a:ext>
            </a:extLst>
          </p:cNvPr>
          <p:cNvSpPr>
            <a:spLocks noGrp="1"/>
          </p:cNvSpPr>
          <p:nvPr/>
        </p:nvSpPr>
        <p:spPr>
          <a:xfrm>
            <a:off x="1466850" y="361950"/>
            <a:ext cx="28575" cy="28575"/>
          </a:xfrm>
          <a:prstGeom prst="ellipse">
            <a:avLst/>
          </a:prstGeom>
          <a:solidFill>
            <a:srgbClr val="CED7E6"/>
          </a:solidFill>
          <a:ln w="0">
            <a:noFill/>
          </a:ln>
        </p:spPr>
        <p:txBody>
          <a:bodyPr/>
          <a:lstStyle/>
          <a:p>
            <a:endParaRPr lang="en-US"/>
          </a:p>
        </p:txBody>
      </p:sp>
      <p:sp>
        <p:nvSpPr>
          <p:cNvPr id="23" name="Oval 22">
            <a:extLst>
              <a:ext uri="{FF2B5EF4-FFF2-40B4-BE49-F238E27FC236}">
                <a16:creationId xmlns:a16="http://schemas.microsoft.com/office/drawing/2014/main" id="{4A880442-5B10-4377-8B14-AE43E42C7147}"/>
              </a:ext>
            </a:extLst>
          </p:cNvPr>
          <p:cNvSpPr>
            <a:spLocks noGrp="1"/>
          </p:cNvSpPr>
          <p:nvPr/>
        </p:nvSpPr>
        <p:spPr>
          <a:xfrm>
            <a:off x="1638300" y="361950"/>
            <a:ext cx="28575" cy="28575"/>
          </a:xfrm>
          <a:prstGeom prst="ellipse">
            <a:avLst/>
          </a:prstGeom>
          <a:solidFill>
            <a:srgbClr val="CED7E6"/>
          </a:solidFill>
          <a:ln w="0">
            <a:noFill/>
          </a:ln>
        </p:spPr>
        <p:txBody>
          <a:bodyPr/>
          <a:lstStyle/>
          <a:p>
            <a:endParaRPr lang="en-US"/>
          </a:p>
        </p:txBody>
      </p:sp>
      <p:sp>
        <p:nvSpPr>
          <p:cNvPr id="24" name="Oval 23">
            <a:extLst>
              <a:ext uri="{FF2B5EF4-FFF2-40B4-BE49-F238E27FC236}">
                <a16:creationId xmlns:a16="http://schemas.microsoft.com/office/drawing/2014/main" id="{965A0C0F-724F-4F80-9280-B7F94EFCD99C}"/>
              </a:ext>
            </a:extLst>
          </p:cNvPr>
          <p:cNvSpPr>
            <a:spLocks noGrp="1"/>
          </p:cNvSpPr>
          <p:nvPr/>
        </p:nvSpPr>
        <p:spPr>
          <a:xfrm>
            <a:off x="1809750" y="361950"/>
            <a:ext cx="28575" cy="28575"/>
          </a:xfrm>
          <a:prstGeom prst="ellipse">
            <a:avLst/>
          </a:prstGeom>
          <a:solidFill>
            <a:srgbClr val="CED7E6"/>
          </a:solidFill>
          <a:ln w="0">
            <a:noFill/>
          </a:ln>
        </p:spPr>
        <p:txBody>
          <a:bodyPr/>
          <a:lstStyle/>
          <a:p>
            <a:endParaRPr lang="en-US"/>
          </a:p>
        </p:txBody>
      </p:sp>
      <p:sp>
        <p:nvSpPr>
          <p:cNvPr id="25" name="Oval 24">
            <a:extLst>
              <a:ext uri="{FF2B5EF4-FFF2-40B4-BE49-F238E27FC236}">
                <a16:creationId xmlns:a16="http://schemas.microsoft.com/office/drawing/2014/main" id="{07C5FE8C-AD62-4FAB-A15D-D08B3ABD86DA}"/>
              </a:ext>
            </a:extLst>
          </p:cNvPr>
          <p:cNvSpPr>
            <a:spLocks noGrp="1"/>
          </p:cNvSpPr>
          <p:nvPr/>
        </p:nvSpPr>
        <p:spPr>
          <a:xfrm>
            <a:off x="266700" y="533400"/>
            <a:ext cx="28575" cy="28575"/>
          </a:xfrm>
          <a:prstGeom prst="ellipse">
            <a:avLst/>
          </a:prstGeom>
          <a:solidFill>
            <a:srgbClr val="CED7E6"/>
          </a:solidFill>
          <a:ln w="0">
            <a:noFill/>
          </a:ln>
        </p:spPr>
        <p:txBody>
          <a:bodyPr/>
          <a:lstStyle/>
          <a:p>
            <a:endParaRPr lang="en-US"/>
          </a:p>
        </p:txBody>
      </p:sp>
      <p:sp>
        <p:nvSpPr>
          <p:cNvPr id="26" name="Oval 25">
            <a:extLst>
              <a:ext uri="{FF2B5EF4-FFF2-40B4-BE49-F238E27FC236}">
                <a16:creationId xmlns:a16="http://schemas.microsoft.com/office/drawing/2014/main" id="{C9EDECB7-37A9-424F-BB5C-2DF89C7FFC12}"/>
              </a:ext>
            </a:extLst>
          </p:cNvPr>
          <p:cNvSpPr>
            <a:spLocks noGrp="1"/>
          </p:cNvSpPr>
          <p:nvPr/>
        </p:nvSpPr>
        <p:spPr>
          <a:xfrm>
            <a:off x="438150" y="533400"/>
            <a:ext cx="28575" cy="28575"/>
          </a:xfrm>
          <a:prstGeom prst="ellipse">
            <a:avLst/>
          </a:prstGeom>
          <a:solidFill>
            <a:srgbClr val="CED7E6"/>
          </a:solidFill>
          <a:ln w="0">
            <a:noFill/>
          </a:ln>
        </p:spPr>
        <p:txBody>
          <a:bodyPr/>
          <a:lstStyle/>
          <a:p>
            <a:endParaRPr lang="en-US"/>
          </a:p>
        </p:txBody>
      </p:sp>
      <p:sp>
        <p:nvSpPr>
          <p:cNvPr id="27" name="Oval 26">
            <a:extLst>
              <a:ext uri="{FF2B5EF4-FFF2-40B4-BE49-F238E27FC236}">
                <a16:creationId xmlns:a16="http://schemas.microsoft.com/office/drawing/2014/main" id="{429CB218-62AA-4E39-949B-B94972AD7360}"/>
              </a:ext>
            </a:extLst>
          </p:cNvPr>
          <p:cNvSpPr>
            <a:spLocks noGrp="1"/>
          </p:cNvSpPr>
          <p:nvPr/>
        </p:nvSpPr>
        <p:spPr>
          <a:xfrm>
            <a:off x="609600" y="533400"/>
            <a:ext cx="28575" cy="28575"/>
          </a:xfrm>
          <a:prstGeom prst="ellipse">
            <a:avLst/>
          </a:prstGeom>
          <a:solidFill>
            <a:srgbClr val="CED7E6"/>
          </a:solidFill>
          <a:ln w="0">
            <a:noFill/>
          </a:ln>
        </p:spPr>
        <p:txBody>
          <a:bodyPr/>
          <a:lstStyle/>
          <a:p>
            <a:endParaRPr lang="en-US"/>
          </a:p>
        </p:txBody>
      </p:sp>
      <p:sp>
        <p:nvSpPr>
          <p:cNvPr id="28" name="Oval 27">
            <a:extLst>
              <a:ext uri="{FF2B5EF4-FFF2-40B4-BE49-F238E27FC236}">
                <a16:creationId xmlns:a16="http://schemas.microsoft.com/office/drawing/2014/main" id="{C63F6707-85EE-4F9E-B193-690F327B85F1}"/>
              </a:ext>
            </a:extLst>
          </p:cNvPr>
          <p:cNvSpPr>
            <a:spLocks noGrp="1"/>
          </p:cNvSpPr>
          <p:nvPr/>
        </p:nvSpPr>
        <p:spPr>
          <a:xfrm>
            <a:off x="781050" y="533400"/>
            <a:ext cx="28575" cy="28575"/>
          </a:xfrm>
          <a:prstGeom prst="ellipse">
            <a:avLst/>
          </a:prstGeom>
          <a:solidFill>
            <a:srgbClr val="CED7E6"/>
          </a:solidFill>
          <a:ln w="0">
            <a:noFill/>
          </a:ln>
        </p:spPr>
        <p:txBody>
          <a:bodyPr/>
          <a:lstStyle/>
          <a:p>
            <a:endParaRPr lang="en-US"/>
          </a:p>
        </p:txBody>
      </p:sp>
      <p:sp>
        <p:nvSpPr>
          <p:cNvPr id="29" name="Oval 28">
            <a:extLst>
              <a:ext uri="{FF2B5EF4-FFF2-40B4-BE49-F238E27FC236}">
                <a16:creationId xmlns:a16="http://schemas.microsoft.com/office/drawing/2014/main" id="{AA2ACF44-C735-431F-9461-F43597A0EE18}"/>
              </a:ext>
            </a:extLst>
          </p:cNvPr>
          <p:cNvSpPr>
            <a:spLocks noGrp="1"/>
          </p:cNvSpPr>
          <p:nvPr/>
        </p:nvSpPr>
        <p:spPr>
          <a:xfrm>
            <a:off x="952500" y="533400"/>
            <a:ext cx="28575" cy="28575"/>
          </a:xfrm>
          <a:prstGeom prst="ellipse">
            <a:avLst/>
          </a:prstGeom>
          <a:solidFill>
            <a:srgbClr val="CED7E6"/>
          </a:solidFill>
          <a:ln w="0">
            <a:noFill/>
          </a:ln>
        </p:spPr>
        <p:txBody>
          <a:bodyPr/>
          <a:lstStyle/>
          <a:p>
            <a:endParaRPr lang="en-US"/>
          </a:p>
        </p:txBody>
      </p:sp>
      <p:sp>
        <p:nvSpPr>
          <p:cNvPr id="30" name="Oval 29">
            <a:extLst>
              <a:ext uri="{FF2B5EF4-FFF2-40B4-BE49-F238E27FC236}">
                <a16:creationId xmlns:a16="http://schemas.microsoft.com/office/drawing/2014/main" id="{DEC3AC38-BC20-4AD9-92FB-06EC9F7C9F79}"/>
              </a:ext>
            </a:extLst>
          </p:cNvPr>
          <p:cNvSpPr>
            <a:spLocks noGrp="1"/>
          </p:cNvSpPr>
          <p:nvPr/>
        </p:nvSpPr>
        <p:spPr>
          <a:xfrm>
            <a:off x="1123950" y="533400"/>
            <a:ext cx="28575" cy="28575"/>
          </a:xfrm>
          <a:prstGeom prst="ellipse">
            <a:avLst/>
          </a:prstGeom>
          <a:solidFill>
            <a:srgbClr val="CED7E6"/>
          </a:solidFill>
          <a:ln w="0">
            <a:noFill/>
          </a:ln>
        </p:spPr>
        <p:txBody>
          <a:bodyPr/>
          <a:lstStyle/>
          <a:p>
            <a:endParaRPr lang="en-US"/>
          </a:p>
        </p:txBody>
      </p:sp>
      <p:sp>
        <p:nvSpPr>
          <p:cNvPr id="31" name="Oval 30">
            <a:extLst>
              <a:ext uri="{FF2B5EF4-FFF2-40B4-BE49-F238E27FC236}">
                <a16:creationId xmlns:a16="http://schemas.microsoft.com/office/drawing/2014/main" id="{90BC186C-075A-4094-8F7C-43BD0FDF4492}"/>
              </a:ext>
            </a:extLst>
          </p:cNvPr>
          <p:cNvSpPr>
            <a:spLocks noGrp="1"/>
          </p:cNvSpPr>
          <p:nvPr/>
        </p:nvSpPr>
        <p:spPr>
          <a:xfrm>
            <a:off x="1295400" y="533400"/>
            <a:ext cx="28575" cy="28575"/>
          </a:xfrm>
          <a:prstGeom prst="ellipse">
            <a:avLst/>
          </a:prstGeom>
          <a:solidFill>
            <a:srgbClr val="CED7E6"/>
          </a:solidFill>
          <a:ln w="0">
            <a:noFill/>
          </a:ln>
        </p:spPr>
        <p:txBody>
          <a:bodyPr/>
          <a:lstStyle/>
          <a:p>
            <a:endParaRPr lang="en-US"/>
          </a:p>
        </p:txBody>
      </p:sp>
      <p:sp>
        <p:nvSpPr>
          <p:cNvPr id="32" name="Oval 31">
            <a:extLst>
              <a:ext uri="{FF2B5EF4-FFF2-40B4-BE49-F238E27FC236}">
                <a16:creationId xmlns:a16="http://schemas.microsoft.com/office/drawing/2014/main" id="{CB2DE0D1-FB25-4FEC-B461-779E098F5EBC}"/>
              </a:ext>
            </a:extLst>
          </p:cNvPr>
          <p:cNvSpPr>
            <a:spLocks noGrp="1"/>
          </p:cNvSpPr>
          <p:nvPr/>
        </p:nvSpPr>
        <p:spPr>
          <a:xfrm>
            <a:off x="1466850" y="533400"/>
            <a:ext cx="28575" cy="28575"/>
          </a:xfrm>
          <a:prstGeom prst="ellipse">
            <a:avLst/>
          </a:prstGeom>
          <a:solidFill>
            <a:srgbClr val="CED7E6"/>
          </a:solidFill>
          <a:ln w="0">
            <a:noFill/>
          </a:ln>
        </p:spPr>
        <p:txBody>
          <a:bodyPr/>
          <a:lstStyle/>
          <a:p>
            <a:endParaRPr lang="en-US"/>
          </a:p>
        </p:txBody>
      </p:sp>
      <p:sp>
        <p:nvSpPr>
          <p:cNvPr id="33" name="Oval 32">
            <a:extLst>
              <a:ext uri="{FF2B5EF4-FFF2-40B4-BE49-F238E27FC236}">
                <a16:creationId xmlns:a16="http://schemas.microsoft.com/office/drawing/2014/main" id="{341BED06-03F3-490F-9A2B-7E61D24FC73F}"/>
              </a:ext>
            </a:extLst>
          </p:cNvPr>
          <p:cNvSpPr>
            <a:spLocks noGrp="1"/>
          </p:cNvSpPr>
          <p:nvPr/>
        </p:nvSpPr>
        <p:spPr>
          <a:xfrm>
            <a:off x="1638300" y="533400"/>
            <a:ext cx="28575" cy="28575"/>
          </a:xfrm>
          <a:prstGeom prst="ellipse">
            <a:avLst/>
          </a:prstGeom>
          <a:solidFill>
            <a:srgbClr val="CED7E6"/>
          </a:solidFill>
          <a:ln w="0">
            <a:noFill/>
          </a:ln>
        </p:spPr>
        <p:txBody>
          <a:bodyPr/>
          <a:lstStyle/>
          <a:p>
            <a:endParaRPr lang="en-US"/>
          </a:p>
        </p:txBody>
      </p:sp>
      <p:sp>
        <p:nvSpPr>
          <p:cNvPr id="34" name="Oval 33">
            <a:extLst>
              <a:ext uri="{FF2B5EF4-FFF2-40B4-BE49-F238E27FC236}">
                <a16:creationId xmlns:a16="http://schemas.microsoft.com/office/drawing/2014/main" id="{3C76D336-82A2-4770-AF4D-837D16E46DF1}"/>
              </a:ext>
            </a:extLst>
          </p:cNvPr>
          <p:cNvSpPr>
            <a:spLocks noGrp="1"/>
          </p:cNvSpPr>
          <p:nvPr/>
        </p:nvSpPr>
        <p:spPr>
          <a:xfrm>
            <a:off x="1809750" y="533400"/>
            <a:ext cx="28575" cy="28575"/>
          </a:xfrm>
          <a:prstGeom prst="ellipse">
            <a:avLst/>
          </a:prstGeom>
          <a:solidFill>
            <a:srgbClr val="CED7E6"/>
          </a:solidFill>
          <a:ln w="0">
            <a:noFill/>
          </a:ln>
        </p:spPr>
        <p:txBody>
          <a:bodyPr/>
          <a:lstStyle/>
          <a:p>
            <a:endParaRPr lang="en-US"/>
          </a:p>
        </p:txBody>
      </p:sp>
      <p:sp>
        <p:nvSpPr>
          <p:cNvPr id="35" name="Oval 34">
            <a:extLst>
              <a:ext uri="{FF2B5EF4-FFF2-40B4-BE49-F238E27FC236}">
                <a16:creationId xmlns:a16="http://schemas.microsoft.com/office/drawing/2014/main" id="{E9003EA3-A6CE-42E9-91E4-FA5D43321614}"/>
              </a:ext>
            </a:extLst>
          </p:cNvPr>
          <p:cNvSpPr>
            <a:spLocks noGrp="1"/>
          </p:cNvSpPr>
          <p:nvPr/>
        </p:nvSpPr>
        <p:spPr>
          <a:xfrm>
            <a:off x="266700" y="704850"/>
            <a:ext cx="28575" cy="28575"/>
          </a:xfrm>
          <a:prstGeom prst="ellipse">
            <a:avLst/>
          </a:prstGeom>
          <a:solidFill>
            <a:srgbClr val="CED7E6"/>
          </a:solidFill>
          <a:ln w="0">
            <a:noFill/>
          </a:ln>
        </p:spPr>
        <p:txBody>
          <a:bodyPr/>
          <a:lstStyle/>
          <a:p>
            <a:endParaRPr lang="en-US"/>
          </a:p>
        </p:txBody>
      </p:sp>
      <p:sp>
        <p:nvSpPr>
          <p:cNvPr id="36" name="Oval 35">
            <a:extLst>
              <a:ext uri="{FF2B5EF4-FFF2-40B4-BE49-F238E27FC236}">
                <a16:creationId xmlns:a16="http://schemas.microsoft.com/office/drawing/2014/main" id="{20981EC5-0A98-4D01-A11F-8817A9583CEE}"/>
              </a:ext>
            </a:extLst>
          </p:cNvPr>
          <p:cNvSpPr>
            <a:spLocks noGrp="1"/>
          </p:cNvSpPr>
          <p:nvPr/>
        </p:nvSpPr>
        <p:spPr>
          <a:xfrm>
            <a:off x="438150" y="704850"/>
            <a:ext cx="28575" cy="28575"/>
          </a:xfrm>
          <a:prstGeom prst="ellipse">
            <a:avLst/>
          </a:prstGeom>
          <a:solidFill>
            <a:srgbClr val="CED7E6"/>
          </a:solidFill>
          <a:ln w="0">
            <a:noFill/>
          </a:ln>
        </p:spPr>
        <p:txBody>
          <a:bodyPr/>
          <a:lstStyle/>
          <a:p>
            <a:endParaRPr lang="en-US"/>
          </a:p>
        </p:txBody>
      </p:sp>
      <p:sp>
        <p:nvSpPr>
          <p:cNvPr id="37" name="Oval 36">
            <a:extLst>
              <a:ext uri="{FF2B5EF4-FFF2-40B4-BE49-F238E27FC236}">
                <a16:creationId xmlns:a16="http://schemas.microsoft.com/office/drawing/2014/main" id="{74A2649B-BEE4-4ACE-AC93-20F58DDF1FF8}"/>
              </a:ext>
            </a:extLst>
          </p:cNvPr>
          <p:cNvSpPr>
            <a:spLocks noGrp="1"/>
          </p:cNvSpPr>
          <p:nvPr/>
        </p:nvSpPr>
        <p:spPr>
          <a:xfrm>
            <a:off x="609600" y="704850"/>
            <a:ext cx="28575" cy="28575"/>
          </a:xfrm>
          <a:prstGeom prst="ellipse">
            <a:avLst/>
          </a:prstGeom>
          <a:solidFill>
            <a:srgbClr val="CED7E6"/>
          </a:solidFill>
          <a:ln w="0">
            <a:noFill/>
          </a:ln>
        </p:spPr>
        <p:txBody>
          <a:bodyPr/>
          <a:lstStyle/>
          <a:p>
            <a:endParaRPr lang="en-US"/>
          </a:p>
        </p:txBody>
      </p:sp>
      <p:sp>
        <p:nvSpPr>
          <p:cNvPr id="38" name="Oval 37">
            <a:extLst>
              <a:ext uri="{FF2B5EF4-FFF2-40B4-BE49-F238E27FC236}">
                <a16:creationId xmlns:a16="http://schemas.microsoft.com/office/drawing/2014/main" id="{3FB0855C-532C-4CA7-A72F-783E29B072CE}"/>
              </a:ext>
            </a:extLst>
          </p:cNvPr>
          <p:cNvSpPr>
            <a:spLocks noGrp="1"/>
          </p:cNvSpPr>
          <p:nvPr/>
        </p:nvSpPr>
        <p:spPr>
          <a:xfrm>
            <a:off x="781050" y="704850"/>
            <a:ext cx="28575" cy="28575"/>
          </a:xfrm>
          <a:prstGeom prst="ellipse">
            <a:avLst/>
          </a:prstGeom>
          <a:solidFill>
            <a:srgbClr val="CED7E6"/>
          </a:solidFill>
          <a:ln w="0">
            <a:noFill/>
          </a:ln>
        </p:spPr>
        <p:txBody>
          <a:bodyPr/>
          <a:lstStyle/>
          <a:p>
            <a:endParaRPr lang="en-US"/>
          </a:p>
        </p:txBody>
      </p:sp>
      <p:sp>
        <p:nvSpPr>
          <p:cNvPr id="39" name="Oval 38">
            <a:extLst>
              <a:ext uri="{FF2B5EF4-FFF2-40B4-BE49-F238E27FC236}">
                <a16:creationId xmlns:a16="http://schemas.microsoft.com/office/drawing/2014/main" id="{73FCCA4E-A945-4868-BCAA-914407557DE2}"/>
              </a:ext>
            </a:extLst>
          </p:cNvPr>
          <p:cNvSpPr>
            <a:spLocks noGrp="1"/>
          </p:cNvSpPr>
          <p:nvPr/>
        </p:nvSpPr>
        <p:spPr>
          <a:xfrm>
            <a:off x="952500" y="704850"/>
            <a:ext cx="28575" cy="28575"/>
          </a:xfrm>
          <a:prstGeom prst="ellipse">
            <a:avLst/>
          </a:prstGeom>
          <a:solidFill>
            <a:srgbClr val="CED7E6"/>
          </a:solidFill>
          <a:ln w="0">
            <a:noFill/>
          </a:ln>
        </p:spPr>
        <p:txBody>
          <a:bodyPr/>
          <a:lstStyle/>
          <a:p>
            <a:endParaRPr lang="en-US"/>
          </a:p>
        </p:txBody>
      </p:sp>
      <p:sp>
        <p:nvSpPr>
          <p:cNvPr id="40" name="Oval 39">
            <a:extLst>
              <a:ext uri="{FF2B5EF4-FFF2-40B4-BE49-F238E27FC236}">
                <a16:creationId xmlns:a16="http://schemas.microsoft.com/office/drawing/2014/main" id="{7332C384-79C1-479B-BC02-EE2B908D4CB3}"/>
              </a:ext>
            </a:extLst>
          </p:cNvPr>
          <p:cNvSpPr>
            <a:spLocks noGrp="1"/>
          </p:cNvSpPr>
          <p:nvPr/>
        </p:nvSpPr>
        <p:spPr>
          <a:xfrm>
            <a:off x="1123950" y="704850"/>
            <a:ext cx="28575" cy="28575"/>
          </a:xfrm>
          <a:prstGeom prst="ellipse">
            <a:avLst/>
          </a:prstGeom>
          <a:solidFill>
            <a:srgbClr val="CED7E6"/>
          </a:solidFill>
          <a:ln w="0">
            <a:noFill/>
          </a:ln>
        </p:spPr>
        <p:txBody>
          <a:bodyPr/>
          <a:lstStyle/>
          <a:p>
            <a:endParaRPr lang="en-US"/>
          </a:p>
        </p:txBody>
      </p:sp>
      <p:sp>
        <p:nvSpPr>
          <p:cNvPr id="41" name="Oval 40">
            <a:extLst>
              <a:ext uri="{FF2B5EF4-FFF2-40B4-BE49-F238E27FC236}">
                <a16:creationId xmlns:a16="http://schemas.microsoft.com/office/drawing/2014/main" id="{F01F94BC-611C-4CC4-8649-73DD5519C6B3}"/>
              </a:ext>
            </a:extLst>
          </p:cNvPr>
          <p:cNvSpPr>
            <a:spLocks noGrp="1"/>
          </p:cNvSpPr>
          <p:nvPr/>
        </p:nvSpPr>
        <p:spPr>
          <a:xfrm>
            <a:off x="1295400" y="704850"/>
            <a:ext cx="28575" cy="28575"/>
          </a:xfrm>
          <a:prstGeom prst="ellipse">
            <a:avLst/>
          </a:prstGeom>
          <a:solidFill>
            <a:srgbClr val="CED7E6"/>
          </a:solidFill>
          <a:ln w="0">
            <a:noFill/>
          </a:ln>
        </p:spPr>
        <p:txBody>
          <a:bodyPr/>
          <a:lstStyle/>
          <a:p>
            <a:endParaRPr lang="en-US"/>
          </a:p>
        </p:txBody>
      </p:sp>
      <p:sp>
        <p:nvSpPr>
          <p:cNvPr id="42" name="Oval 41">
            <a:extLst>
              <a:ext uri="{FF2B5EF4-FFF2-40B4-BE49-F238E27FC236}">
                <a16:creationId xmlns:a16="http://schemas.microsoft.com/office/drawing/2014/main" id="{489A6A3B-0DFF-42F3-99C6-343DC000E363}"/>
              </a:ext>
            </a:extLst>
          </p:cNvPr>
          <p:cNvSpPr>
            <a:spLocks noGrp="1"/>
          </p:cNvSpPr>
          <p:nvPr/>
        </p:nvSpPr>
        <p:spPr>
          <a:xfrm>
            <a:off x="1466850" y="704850"/>
            <a:ext cx="28575" cy="28575"/>
          </a:xfrm>
          <a:prstGeom prst="ellipse">
            <a:avLst/>
          </a:prstGeom>
          <a:solidFill>
            <a:srgbClr val="CED7E6"/>
          </a:solidFill>
          <a:ln w="0">
            <a:noFill/>
          </a:ln>
        </p:spPr>
        <p:txBody>
          <a:bodyPr/>
          <a:lstStyle/>
          <a:p>
            <a:endParaRPr lang="en-US"/>
          </a:p>
        </p:txBody>
      </p:sp>
      <p:sp>
        <p:nvSpPr>
          <p:cNvPr id="43" name="Oval 42">
            <a:extLst>
              <a:ext uri="{FF2B5EF4-FFF2-40B4-BE49-F238E27FC236}">
                <a16:creationId xmlns:a16="http://schemas.microsoft.com/office/drawing/2014/main" id="{93C54C9D-FC81-467C-B628-3849C6C0C349}"/>
              </a:ext>
            </a:extLst>
          </p:cNvPr>
          <p:cNvSpPr>
            <a:spLocks noGrp="1"/>
          </p:cNvSpPr>
          <p:nvPr/>
        </p:nvSpPr>
        <p:spPr>
          <a:xfrm>
            <a:off x="1638300" y="704850"/>
            <a:ext cx="28575" cy="28575"/>
          </a:xfrm>
          <a:prstGeom prst="ellipse">
            <a:avLst/>
          </a:prstGeom>
          <a:solidFill>
            <a:srgbClr val="CED7E6"/>
          </a:solidFill>
          <a:ln w="0">
            <a:noFill/>
          </a:ln>
        </p:spPr>
        <p:txBody>
          <a:bodyPr/>
          <a:lstStyle/>
          <a:p>
            <a:endParaRPr lang="en-US"/>
          </a:p>
        </p:txBody>
      </p:sp>
      <p:sp>
        <p:nvSpPr>
          <p:cNvPr id="44" name="Oval 43">
            <a:extLst>
              <a:ext uri="{FF2B5EF4-FFF2-40B4-BE49-F238E27FC236}">
                <a16:creationId xmlns:a16="http://schemas.microsoft.com/office/drawing/2014/main" id="{F601301C-DBE2-486D-939B-2BF3CE1A7890}"/>
              </a:ext>
            </a:extLst>
          </p:cNvPr>
          <p:cNvSpPr>
            <a:spLocks noGrp="1"/>
          </p:cNvSpPr>
          <p:nvPr/>
        </p:nvSpPr>
        <p:spPr>
          <a:xfrm>
            <a:off x="1809750" y="704850"/>
            <a:ext cx="28575" cy="28575"/>
          </a:xfrm>
          <a:prstGeom prst="ellipse">
            <a:avLst/>
          </a:prstGeom>
          <a:solidFill>
            <a:srgbClr val="CED7E6"/>
          </a:solidFill>
          <a:ln w="0">
            <a:noFill/>
          </a:ln>
        </p:spPr>
        <p:txBody>
          <a:bodyPr/>
          <a:lstStyle/>
          <a:p>
            <a:endParaRPr lang="en-US"/>
          </a:p>
        </p:txBody>
      </p:sp>
      <p:sp>
        <p:nvSpPr>
          <p:cNvPr id="45" name="Rectangle 44">
            <a:extLst>
              <a:ext uri="{FF2B5EF4-FFF2-40B4-BE49-F238E27FC236}">
                <a16:creationId xmlns:a16="http://schemas.microsoft.com/office/drawing/2014/main" id="{D6161829-B748-4FC9-927F-1AAAEFB93ECA}"/>
              </a:ext>
            </a:extLst>
          </p:cNvPr>
          <p:cNvSpPr>
            <a:spLocks noGrp="1"/>
          </p:cNvSpPr>
          <p:nvPr/>
        </p:nvSpPr>
        <p:spPr>
          <a:xfrm>
            <a:off x="685800" y="247650"/>
            <a:ext cx="3238500" cy="171450"/>
          </a:xfrm>
          <a:prstGeom prst="rect">
            <a:avLst/>
          </a:prstGeom>
          <a:noFill/>
          <a:ln w="0">
            <a:noFill/>
          </a:ln>
        </p:spPr>
        <p:txBody>
          <a:bodyPr wrap="square" lIns="0" tIns="0" rIns="0" bIns="0" anchor="t">
            <a:normAutofit/>
          </a:bodyPr>
          <a:lstStyle/>
          <a:p>
            <a:pPr algn="l">
              <a:lnSpc>
                <a:spcPct val="100000"/>
              </a:lnSpc>
              <a:buNone/>
              <a:defRPr sz="825" b="1">
                <a:solidFill>
                  <a:srgbClr val="50658E"/>
                </a:solidFill>
                <a:latin typeface="Arial"/>
                <a:ea typeface="Arial"/>
                <a:cs typeface="Arial"/>
              </a:defRPr>
            </a:pPr>
            <a:r>
              <a:rPr lang="en-US" sz="825" b="1">
                <a:solidFill>
                  <a:srgbClr val="50658E"/>
                </a:solidFill>
                <a:latin typeface="Arial"/>
                <a:ea typeface="Arial"/>
                <a:cs typeface="Arial"/>
              </a:rPr>
              <a:t>RATIONALIZATION ACTIVITY PLAN</a:t>
            </a:r>
            <a:endParaRPr sz="825" b="1">
              <a:solidFill>
                <a:srgbClr val="50658E"/>
              </a:solidFill>
              <a:latin typeface="Arial"/>
              <a:ea typeface="Arial"/>
              <a:cs typeface="Arial"/>
            </a:endParaRPr>
          </a:p>
        </p:txBody>
      </p:sp>
      <p:sp>
        <p:nvSpPr>
          <p:cNvPr id="46" name="Rectangle 45">
            <a:extLst>
              <a:ext uri="{FF2B5EF4-FFF2-40B4-BE49-F238E27FC236}">
                <a16:creationId xmlns:a16="http://schemas.microsoft.com/office/drawing/2014/main" id="{8E4986FB-C52B-4370-B24A-1A89EB95E049}"/>
              </a:ext>
            </a:extLst>
          </p:cNvPr>
          <p:cNvSpPr>
            <a:spLocks noGrp="1"/>
          </p:cNvSpPr>
          <p:nvPr/>
        </p:nvSpPr>
        <p:spPr>
          <a:xfrm>
            <a:off x="685800" y="495300"/>
            <a:ext cx="10820400" cy="419100"/>
          </a:xfrm>
          <a:prstGeom prst="rect">
            <a:avLst/>
          </a:prstGeom>
          <a:noFill/>
          <a:ln w="0">
            <a:noFill/>
          </a:ln>
        </p:spPr>
        <p:txBody>
          <a:bodyPr wrap="square" lIns="0" tIns="0" rIns="0" bIns="0" anchor="t">
            <a:normAutofit fontScale="85000" lnSpcReduction="20000"/>
          </a:bodyPr>
          <a:lstStyle/>
          <a:p>
            <a:pPr algn="l">
              <a:lnSpc>
                <a:spcPct val="95000"/>
              </a:lnSpc>
              <a:buNone/>
              <a:defRPr sz="2025" b="1">
                <a:solidFill>
                  <a:srgbClr val="070154"/>
                </a:solidFill>
                <a:latin typeface="Arial"/>
                <a:ea typeface="Arial"/>
                <a:cs typeface="Arial"/>
              </a:defRPr>
            </a:pPr>
            <a:r>
              <a:rPr lang="en-US" sz="2025" b="1" dirty="0">
                <a:solidFill>
                  <a:srgbClr val="070154"/>
                </a:solidFill>
                <a:latin typeface="Arial"/>
                <a:ea typeface="Arial"/>
                <a:cs typeface="Arial"/>
              </a:rPr>
              <a:t>A 6–8 week rationalization engagement builds evidence, validates dispositions, and converts priorities into an actionable modernization strategy</a:t>
            </a:r>
            <a:endParaRPr sz="2025" b="1" dirty="0">
              <a:solidFill>
                <a:srgbClr val="070154"/>
              </a:solidFill>
              <a:latin typeface="Arial"/>
              <a:ea typeface="Arial"/>
              <a:cs typeface="Arial"/>
            </a:endParaRPr>
          </a:p>
        </p:txBody>
      </p:sp>
      <p:sp>
        <p:nvSpPr>
          <p:cNvPr id="47" name="Rectangle 46">
            <a:extLst>
              <a:ext uri="{FF2B5EF4-FFF2-40B4-BE49-F238E27FC236}">
                <a16:creationId xmlns:a16="http://schemas.microsoft.com/office/drawing/2014/main" id="{49AF8329-C3AC-4186-BC25-BD821A16CD4A}"/>
              </a:ext>
            </a:extLst>
          </p:cNvPr>
          <p:cNvSpPr>
            <a:spLocks noGrp="1"/>
          </p:cNvSpPr>
          <p:nvPr/>
        </p:nvSpPr>
        <p:spPr>
          <a:xfrm>
            <a:off x="685800" y="1066800"/>
            <a:ext cx="9525000" cy="228600"/>
          </a:xfrm>
          <a:prstGeom prst="rect">
            <a:avLst/>
          </a:prstGeom>
          <a:noFill/>
          <a:ln w="0">
            <a:noFill/>
          </a:ln>
        </p:spPr>
        <p:txBody>
          <a:bodyPr wrap="square" lIns="0" tIns="0" rIns="0" bIns="0" anchor="t">
            <a:normAutofit/>
          </a:bodyPr>
          <a:lstStyle/>
          <a:p>
            <a:pPr algn="l">
              <a:lnSpc>
                <a:spcPct val="100000"/>
              </a:lnSpc>
              <a:buNone/>
              <a:defRPr sz="1125" b="0">
                <a:solidFill>
                  <a:srgbClr val="50658E"/>
                </a:solidFill>
                <a:latin typeface="Arial"/>
                <a:ea typeface="Arial"/>
                <a:cs typeface="Arial"/>
              </a:defRPr>
            </a:pPr>
            <a:r>
              <a:rPr lang="en-US" sz="1125" b="0" dirty="0">
                <a:solidFill>
                  <a:srgbClr val="50658E"/>
                </a:solidFill>
                <a:latin typeface="Arial"/>
                <a:ea typeface="Arial"/>
                <a:cs typeface="Arial"/>
              </a:rPr>
              <a:t>Core assessment: Weeks 1–4    Strategy deepening: Weeks 5–8 as needed</a:t>
            </a:r>
            <a:endParaRPr sz="1125" b="0" dirty="0">
              <a:solidFill>
                <a:srgbClr val="50658E"/>
              </a:solidFill>
              <a:latin typeface="Arial"/>
              <a:ea typeface="Arial"/>
              <a:cs typeface="Arial"/>
            </a:endParaRPr>
          </a:p>
        </p:txBody>
      </p:sp>
      <p:sp>
        <p:nvSpPr>
          <p:cNvPr id="48" name="Rounded Rectangle 47">
            <a:extLst>
              <a:ext uri="{FF2B5EF4-FFF2-40B4-BE49-F238E27FC236}">
                <a16:creationId xmlns:a16="http://schemas.microsoft.com/office/drawing/2014/main" id="{D23D9934-C97C-448C-A1BC-A0CCAFD89E3F}"/>
              </a:ext>
            </a:extLst>
          </p:cNvPr>
          <p:cNvSpPr>
            <a:spLocks noGrp="1"/>
          </p:cNvSpPr>
          <p:nvPr/>
        </p:nvSpPr>
        <p:spPr>
          <a:xfrm>
            <a:off x="685800" y="1752600"/>
            <a:ext cx="3143250" cy="323850"/>
          </a:xfrm>
          <a:prstGeom prst="roundRect">
            <a:avLst>
              <a:gd name="adj" fmla="val 23529"/>
            </a:avLst>
          </a:prstGeom>
          <a:solidFill>
            <a:srgbClr val="070154"/>
          </a:solidFill>
          <a:ln w="0">
            <a:noFill/>
            <a:prstDash val="solid"/>
          </a:ln>
        </p:spPr>
        <p:txBody>
          <a:bodyPr/>
          <a:lstStyle/>
          <a:p>
            <a:endParaRPr lang="en-US"/>
          </a:p>
        </p:txBody>
      </p:sp>
      <p:sp>
        <p:nvSpPr>
          <p:cNvPr id="49" name="Rectangle 48">
            <a:extLst>
              <a:ext uri="{FF2B5EF4-FFF2-40B4-BE49-F238E27FC236}">
                <a16:creationId xmlns:a16="http://schemas.microsoft.com/office/drawing/2014/main" id="{0C641E84-1C7E-4B4C-8491-C5F239958A14}"/>
              </a:ext>
            </a:extLst>
          </p:cNvPr>
          <p:cNvSpPr>
            <a:spLocks noGrp="1"/>
          </p:cNvSpPr>
          <p:nvPr/>
        </p:nvSpPr>
        <p:spPr>
          <a:xfrm>
            <a:off x="800100" y="1838325"/>
            <a:ext cx="1714500" cy="152400"/>
          </a:xfrm>
          <a:prstGeom prst="rect">
            <a:avLst/>
          </a:prstGeom>
          <a:noFill/>
          <a:ln w="0">
            <a:noFill/>
          </a:ln>
        </p:spPr>
        <p:txBody>
          <a:bodyPr wrap="square" lIns="0" tIns="0" rIns="0" bIns="0" anchor="t">
            <a:normAutofit/>
          </a:bodyPr>
          <a:lstStyle/>
          <a:p>
            <a:pPr algn="l">
              <a:lnSpc>
                <a:spcPct val="100000"/>
              </a:lnSpc>
              <a:buNone/>
              <a:defRPr sz="825" b="1">
                <a:solidFill>
                  <a:srgbClr val="FFFFFF"/>
                </a:solidFill>
                <a:latin typeface="Arial"/>
                <a:ea typeface="Arial"/>
                <a:cs typeface="Arial"/>
              </a:defRPr>
            </a:pPr>
            <a:r>
              <a:rPr sz="825" b="1">
                <a:solidFill>
                  <a:srgbClr val="FFFFFF"/>
                </a:solidFill>
                <a:latin typeface="Arial"/>
                <a:ea typeface="Arial"/>
                <a:cs typeface="Arial"/>
              </a:rPr>
              <a:t>ACTIVITY</a:t>
            </a:r>
          </a:p>
        </p:txBody>
      </p:sp>
      <p:sp>
        <p:nvSpPr>
          <p:cNvPr id="50" name="Rounded Rectangle 49">
            <a:extLst>
              <a:ext uri="{FF2B5EF4-FFF2-40B4-BE49-F238E27FC236}">
                <a16:creationId xmlns:a16="http://schemas.microsoft.com/office/drawing/2014/main" id="{B6BB790C-8F2A-41D4-A8BA-E17497EF1B16}"/>
              </a:ext>
            </a:extLst>
          </p:cNvPr>
          <p:cNvSpPr>
            <a:spLocks noGrp="1"/>
          </p:cNvSpPr>
          <p:nvPr/>
        </p:nvSpPr>
        <p:spPr>
          <a:xfrm>
            <a:off x="3829050" y="1752600"/>
            <a:ext cx="2590800" cy="323850"/>
          </a:xfrm>
          <a:prstGeom prst="roundRect">
            <a:avLst>
              <a:gd name="adj" fmla="val 23529"/>
            </a:avLst>
          </a:prstGeom>
          <a:solidFill>
            <a:srgbClr val="0047FF"/>
          </a:solidFill>
          <a:ln w="0">
            <a:noFill/>
            <a:prstDash val="solid"/>
          </a:ln>
        </p:spPr>
        <p:txBody>
          <a:bodyPr/>
          <a:lstStyle/>
          <a:p>
            <a:endParaRPr lang="en-US"/>
          </a:p>
        </p:txBody>
      </p:sp>
      <p:sp>
        <p:nvSpPr>
          <p:cNvPr id="51" name="Rectangle 50">
            <a:extLst>
              <a:ext uri="{FF2B5EF4-FFF2-40B4-BE49-F238E27FC236}">
                <a16:creationId xmlns:a16="http://schemas.microsoft.com/office/drawing/2014/main" id="{0A06E218-5972-4645-903C-D15B9509F69C}"/>
              </a:ext>
            </a:extLst>
          </p:cNvPr>
          <p:cNvSpPr>
            <a:spLocks noGrp="1"/>
          </p:cNvSpPr>
          <p:nvPr/>
        </p:nvSpPr>
        <p:spPr>
          <a:xfrm>
            <a:off x="3829050" y="1838325"/>
            <a:ext cx="2590800" cy="152400"/>
          </a:xfrm>
          <a:prstGeom prst="rect">
            <a:avLst/>
          </a:prstGeom>
          <a:noFill/>
          <a:ln w="0">
            <a:noFill/>
          </a:ln>
        </p:spPr>
        <p:txBody>
          <a:bodyPr wrap="square" lIns="0" tIns="0" rIns="0" bIns="0" anchor="t">
            <a:normAutofit/>
          </a:bodyPr>
          <a:lstStyle/>
          <a:p>
            <a:pPr algn="ctr">
              <a:lnSpc>
                <a:spcPct val="100000"/>
              </a:lnSpc>
              <a:buNone/>
              <a:defRPr sz="825" b="1">
                <a:solidFill>
                  <a:srgbClr val="FFFFFF"/>
                </a:solidFill>
                <a:latin typeface="Arial"/>
                <a:ea typeface="Arial"/>
                <a:cs typeface="Arial"/>
              </a:defRPr>
            </a:pPr>
            <a:r>
              <a:rPr lang="en-US" sz="825" b="1">
                <a:solidFill>
                  <a:srgbClr val="FFFFFF"/>
                </a:solidFill>
                <a:latin typeface="Arial"/>
                <a:ea typeface="Arial"/>
                <a:cs typeface="Arial"/>
              </a:rPr>
              <a:t>CORE ASSESSMENT</a:t>
            </a:r>
            <a:endParaRPr sz="825" b="1">
              <a:solidFill>
                <a:srgbClr val="FFFFFF"/>
              </a:solidFill>
              <a:latin typeface="Arial"/>
              <a:ea typeface="Arial"/>
              <a:cs typeface="Arial"/>
            </a:endParaRPr>
          </a:p>
        </p:txBody>
      </p:sp>
      <p:sp>
        <p:nvSpPr>
          <p:cNvPr id="52" name="Rounded Rectangle 51">
            <a:extLst>
              <a:ext uri="{FF2B5EF4-FFF2-40B4-BE49-F238E27FC236}">
                <a16:creationId xmlns:a16="http://schemas.microsoft.com/office/drawing/2014/main" id="{A36CFCFF-DB39-4429-9845-3261CFCE4260}"/>
              </a:ext>
            </a:extLst>
          </p:cNvPr>
          <p:cNvSpPr>
            <a:spLocks noGrp="1"/>
          </p:cNvSpPr>
          <p:nvPr/>
        </p:nvSpPr>
        <p:spPr>
          <a:xfrm>
            <a:off x="6419850" y="1752600"/>
            <a:ext cx="2590800" cy="323850"/>
          </a:xfrm>
          <a:prstGeom prst="roundRect">
            <a:avLst>
              <a:gd name="adj" fmla="val 23529"/>
            </a:avLst>
          </a:prstGeom>
          <a:solidFill>
            <a:srgbClr val="50658E"/>
          </a:solidFill>
          <a:ln w="0">
            <a:noFill/>
            <a:prstDash val="solid"/>
          </a:ln>
        </p:spPr>
        <p:txBody>
          <a:bodyPr/>
          <a:lstStyle/>
          <a:p>
            <a:endParaRPr lang="en-US"/>
          </a:p>
        </p:txBody>
      </p:sp>
      <p:sp>
        <p:nvSpPr>
          <p:cNvPr id="53" name="Rectangle 52">
            <a:extLst>
              <a:ext uri="{FF2B5EF4-FFF2-40B4-BE49-F238E27FC236}">
                <a16:creationId xmlns:a16="http://schemas.microsoft.com/office/drawing/2014/main" id="{AAF8B911-F892-4EA6-8DD1-F9E8C3EB2C9F}"/>
              </a:ext>
            </a:extLst>
          </p:cNvPr>
          <p:cNvSpPr>
            <a:spLocks noGrp="1"/>
          </p:cNvSpPr>
          <p:nvPr/>
        </p:nvSpPr>
        <p:spPr>
          <a:xfrm>
            <a:off x="6419850" y="1838325"/>
            <a:ext cx="2590800" cy="152400"/>
          </a:xfrm>
          <a:prstGeom prst="rect">
            <a:avLst/>
          </a:prstGeom>
          <a:noFill/>
          <a:ln w="0">
            <a:noFill/>
          </a:ln>
        </p:spPr>
        <p:txBody>
          <a:bodyPr wrap="square" lIns="0" tIns="0" rIns="0" bIns="0" anchor="t">
            <a:normAutofit/>
          </a:bodyPr>
          <a:lstStyle/>
          <a:p>
            <a:pPr algn="ctr">
              <a:lnSpc>
                <a:spcPct val="100000"/>
              </a:lnSpc>
              <a:buNone/>
              <a:defRPr sz="825" b="1">
                <a:solidFill>
                  <a:srgbClr val="FFFFFF"/>
                </a:solidFill>
                <a:latin typeface="Arial"/>
                <a:ea typeface="Arial"/>
                <a:cs typeface="Arial"/>
              </a:defRPr>
            </a:pPr>
            <a:r>
              <a:rPr lang="en-US" sz="825" b="1">
                <a:solidFill>
                  <a:srgbClr val="FFFFFF"/>
                </a:solidFill>
                <a:latin typeface="Arial"/>
                <a:ea typeface="Arial"/>
                <a:cs typeface="Arial"/>
              </a:rPr>
              <a:t>STRATEGY DEEPENING</a:t>
            </a:r>
            <a:endParaRPr sz="825" b="1">
              <a:solidFill>
                <a:srgbClr val="FFFFFF"/>
              </a:solidFill>
              <a:latin typeface="Arial"/>
              <a:ea typeface="Arial"/>
              <a:cs typeface="Arial"/>
            </a:endParaRPr>
          </a:p>
        </p:txBody>
      </p:sp>
      <p:sp>
        <p:nvSpPr>
          <p:cNvPr id="54" name="Rounded Rectangle 53">
            <a:extLst>
              <a:ext uri="{FF2B5EF4-FFF2-40B4-BE49-F238E27FC236}">
                <a16:creationId xmlns:a16="http://schemas.microsoft.com/office/drawing/2014/main" id="{0B4D07C4-B90A-4C4E-BB31-394D0296CF9B}"/>
              </a:ext>
            </a:extLst>
          </p:cNvPr>
          <p:cNvSpPr>
            <a:spLocks noGrp="1"/>
          </p:cNvSpPr>
          <p:nvPr/>
        </p:nvSpPr>
        <p:spPr>
          <a:xfrm>
            <a:off x="9010650" y="1752600"/>
            <a:ext cx="2495550" cy="323850"/>
          </a:xfrm>
          <a:prstGeom prst="roundRect">
            <a:avLst>
              <a:gd name="adj" fmla="val 23529"/>
            </a:avLst>
          </a:prstGeom>
          <a:solidFill>
            <a:srgbClr val="070154"/>
          </a:solidFill>
          <a:ln w="0">
            <a:noFill/>
            <a:prstDash val="solid"/>
          </a:ln>
        </p:spPr>
        <p:txBody>
          <a:bodyPr/>
          <a:lstStyle/>
          <a:p>
            <a:endParaRPr lang="en-US"/>
          </a:p>
        </p:txBody>
      </p:sp>
      <p:sp>
        <p:nvSpPr>
          <p:cNvPr id="55" name="Rectangle 54">
            <a:extLst>
              <a:ext uri="{FF2B5EF4-FFF2-40B4-BE49-F238E27FC236}">
                <a16:creationId xmlns:a16="http://schemas.microsoft.com/office/drawing/2014/main" id="{4212E738-F7D2-434D-8656-4DB140610DB6}"/>
              </a:ext>
            </a:extLst>
          </p:cNvPr>
          <p:cNvSpPr>
            <a:spLocks noGrp="1"/>
          </p:cNvSpPr>
          <p:nvPr/>
        </p:nvSpPr>
        <p:spPr>
          <a:xfrm>
            <a:off x="9124950" y="1838325"/>
            <a:ext cx="2266950" cy="152400"/>
          </a:xfrm>
          <a:prstGeom prst="rect">
            <a:avLst/>
          </a:prstGeom>
          <a:noFill/>
          <a:ln w="0">
            <a:noFill/>
          </a:ln>
        </p:spPr>
        <p:txBody>
          <a:bodyPr wrap="square" lIns="0" tIns="0" rIns="0" bIns="0" anchor="t">
            <a:normAutofit/>
          </a:bodyPr>
          <a:lstStyle/>
          <a:p>
            <a:pPr algn="l">
              <a:lnSpc>
                <a:spcPct val="100000"/>
              </a:lnSpc>
              <a:buNone/>
              <a:defRPr sz="825" b="1">
                <a:solidFill>
                  <a:srgbClr val="FFFFFF"/>
                </a:solidFill>
                <a:latin typeface="Arial"/>
                <a:ea typeface="Arial"/>
                <a:cs typeface="Arial"/>
              </a:defRPr>
            </a:pPr>
            <a:r>
              <a:rPr sz="825" b="1">
                <a:solidFill>
                  <a:srgbClr val="FFFFFF"/>
                </a:solidFill>
                <a:latin typeface="Arial"/>
                <a:ea typeface="Arial"/>
                <a:cs typeface="Arial"/>
              </a:rPr>
              <a:t>PRIMARY OUTPUT</a:t>
            </a:r>
          </a:p>
        </p:txBody>
      </p:sp>
      <p:sp>
        <p:nvSpPr>
          <p:cNvPr id="56" name="Rounded Rectangle 55">
            <a:extLst>
              <a:ext uri="{FF2B5EF4-FFF2-40B4-BE49-F238E27FC236}">
                <a16:creationId xmlns:a16="http://schemas.microsoft.com/office/drawing/2014/main" id="{E8B8155C-2F09-42CB-94B5-E050254FD4AA}"/>
              </a:ext>
            </a:extLst>
          </p:cNvPr>
          <p:cNvSpPr>
            <a:spLocks noGrp="1"/>
          </p:cNvSpPr>
          <p:nvPr/>
        </p:nvSpPr>
        <p:spPr>
          <a:xfrm>
            <a:off x="685800" y="2076450"/>
            <a:ext cx="3143250" cy="304800"/>
          </a:xfrm>
          <a:prstGeom prst="roundRect">
            <a:avLst>
              <a:gd name="adj" fmla="val 25000"/>
            </a:avLst>
          </a:prstGeom>
          <a:solidFill>
            <a:srgbClr val="E8EEF8"/>
          </a:solidFill>
          <a:ln w="9525">
            <a:solidFill>
              <a:srgbClr val="CED7E6"/>
            </a:solidFill>
            <a:prstDash val="solid"/>
          </a:ln>
        </p:spPr>
        <p:txBody>
          <a:bodyPr/>
          <a:lstStyle/>
          <a:p>
            <a:endParaRPr lang="en-US"/>
          </a:p>
        </p:txBody>
      </p:sp>
      <p:sp>
        <p:nvSpPr>
          <p:cNvPr id="57" name="Rectangle 56">
            <a:extLst>
              <a:ext uri="{FF2B5EF4-FFF2-40B4-BE49-F238E27FC236}">
                <a16:creationId xmlns:a16="http://schemas.microsoft.com/office/drawing/2014/main" id="{85E3185F-69DE-4407-9B9B-03FED0B0DEF3}"/>
              </a:ext>
            </a:extLst>
          </p:cNvPr>
          <p:cNvSpPr>
            <a:spLocks noGrp="1"/>
          </p:cNvSpPr>
          <p:nvPr/>
        </p:nvSpPr>
        <p:spPr>
          <a:xfrm>
            <a:off x="800100" y="2152650"/>
            <a:ext cx="2914650" cy="133350"/>
          </a:xfrm>
          <a:prstGeom prst="rect">
            <a:avLst/>
          </a:prstGeom>
          <a:noFill/>
          <a:ln w="0">
            <a:noFill/>
          </a:ln>
        </p:spPr>
        <p:txBody>
          <a:bodyPr wrap="square" lIns="0" tIns="0" rIns="0" bIns="0" anchor="t">
            <a:normAutofit/>
          </a:bodyPr>
          <a:lstStyle/>
          <a:p>
            <a:pPr algn="l">
              <a:lnSpc>
                <a:spcPct val="100000"/>
              </a:lnSpc>
              <a:buNone/>
              <a:defRPr sz="788" b="1">
                <a:solidFill>
                  <a:srgbClr val="070154"/>
                </a:solidFill>
                <a:latin typeface="Arial"/>
                <a:ea typeface="Arial"/>
                <a:cs typeface="Arial"/>
              </a:defRPr>
            </a:pPr>
            <a:r>
              <a:rPr sz="788" b="1">
                <a:solidFill>
                  <a:srgbClr val="070154"/>
                </a:solidFill>
                <a:latin typeface="Arial"/>
                <a:ea typeface="Arial"/>
                <a:cs typeface="Arial"/>
              </a:rPr>
              <a:t>Workstream activity</a:t>
            </a:r>
          </a:p>
        </p:txBody>
      </p:sp>
      <p:sp>
        <p:nvSpPr>
          <p:cNvPr id="58" name="Rounded Rectangle 57">
            <a:extLst>
              <a:ext uri="{FF2B5EF4-FFF2-40B4-BE49-F238E27FC236}">
                <a16:creationId xmlns:a16="http://schemas.microsoft.com/office/drawing/2014/main" id="{767AF2CF-649E-48D6-9C5E-F5DFEDBCFB09}"/>
              </a:ext>
            </a:extLst>
          </p:cNvPr>
          <p:cNvSpPr>
            <a:spLocks noGrp="1"/>
          </p:cNvSpPr>
          <p:nvPr/>
        </p:nvSpPr>
        <p:spPr>
          <a:xfrm>
            <a:off x="3829050" y="2076450"/>
            <a:ext cx="647700" cy="304800"/>
          </a:xfrm>
          <a:prstGeom prst="roundRect">
            <a:avLst>
              <a:gd name="adj" fmla="val 25000"/>
            </a:avLst>
          </a:prstGeom>
          <a:solidFill>
            <a:srgbClr val="E8EEF8"/>
          </a:solidFill>
          <a:ln w="9525">
            <a:solidFill>
              <a:srgbClr val="CED7E6"/>
            </a:solidFill>
            <a:prstDash val="solid"/>
          </a:ln>
        </p:spPr>
        <p:txBody>
          <a:bodyPr/>
          <a:lstStyle/>
          <a:p>
            <a:endParaRPr lang="en-US"/>
          </a:p>
        </p:txBody>
      </p:sp>
      <p:sp>
        <p:nvSpPr>
          <p:cNvPr id="59" name="Rectangle 58">
            <a:extLst>
              <a:ext uri="{FF2B5EF4-FFF2-40B4-BE49-F238E27FC236}">
                <a16:creationId xmlns:a16="http://schemas.microsoft.com/office/drawing/2014/main" id="{EF8AE0D9-AB81-45FA-9140-0B77D60FC5FD}"/>
              </a:ext>
            </a:extLst>
          </p:cNvPr>
          <p:cNvSpPr>
            <a:spLocks noGrp="1"/>
          </p:cNvSpPr>
          <p:nvPr/>
        </p:nvSpPr>
        <p:spPr>
          <a:xfrm>
            <a:off x="3829050" y="2152650"/>
            <a:ext cx="647700" cy="133350"/>
          </a:xfrm>
          <a:prstGeom prst="rect">
            <a:avLst/>
          </a:prstGeom>
          <a:noFill/>
          <a:ln w="0">
            <a:noFill/>
          </a:ln>
        </p:spPr>
        <p:txBody>
          <a:bodyPr wrap="square" lIns="0" tIns="0" rIns="0" bIns="0" anchor="t">
            <a:normAutofit/>
          </a:bodyPr>
          <a:lstStyle/>
          <a:p>
            <a:pPr algn="ctr">
              <a:lnSpc>
                <a:spcPct val="100000"/>
              </a:lnSpc>
              <a:buNone/>
              <a:defRPr sz="788" b="1">
                <a:solidFill>
                  <a:srgbClr val="50658E"/>
                </a:solidFill>
                <a:latin typeface="Arial"/>
                <a:ea typeface="Arial"/>
                <a:cs typeface="Arial"/>
              </a:defRPr>
            </a:pPr>
            <a:r>
              <a:rPr sz="788" b="1">
                <a:solidFill>
                  <a:srgbClr val="50658E"/>
                </a:solidFill>
                <a:latin typeface="Arial"/>
                <a:ea typeface="Arial"/>
                <a:cs typeface="Arial"/>
              </a:rPr>
              <a:t>W1</a:t>
            </a:r>
          </a:p>
        </p:txBody>
      </p:sp>
      <p:sp>
        <p:nvSpPr>
          <p:cNvPr id="60" name="Rounded Rectangle 59">
            <a:extLst>
              <a:ext uri="{FF2B5EF4-FFF2-40B4-BE49-F238E27FC236}">
                <a16:creationId xmlns:a16="http://schemas.microsoft.com/office/drawing/2014/main" id="{61789071-4C39-4B4C-A15F-A030DF4C6C48}"/>
              </a:ext>
            </a:extLst>
          </p:cNvPr>
          <p:cNvSpPr>
            <a:spLocks noGrp="1"/>
          </p:cNvSpPr>
          <p:nvPr/>
        </p:nvSpPr>
        <p:spPr>
          <a:xfrm>
            <a:off x="4476750" y="2076450"/>
            <a:ext cx="647700" cy="304800"/>
          </a:xfrm>
          <a:prstGeom prst="roundRect">
            <a:avLst>
              <a:gd name="adj" fmla="val 25000"/>
            </a:avLst>
          </a:prstGeom>
          <a:solidFill>
            <a:srgbClr val="E8EEF8"/>
          </a:solidFill>
          <a:ln w="9525">
            <a:solidFill>
              <a:srgbClr val="CED7E6"/>
            </a:solidFill>
            <a:prstDash val="solid"/>
          </a:ln>
        </p:spPr>
        <p:txBody>
          <a:bodyPr/>
          <a:lstStyle/>
          <a:p>
            <a:endParaRPr lang="en-US"/>
          </a:p>
        </p:txBody>
      </p:sp>
      <p:sp>
        <p:nvSpPr>
          <p:cNvPr id="61" name="Rectangle 60">
            <a:extLst>
              <a:ext uri="{FF2B5EF4-FFF2-40B4-BE49-F238E27FC236}">
                <a16:creationId xmlns:a16="http://schemas.microsoft.com/office/drawing/2014/main" id="{6F30DB47-42D3-4469-9F40-78A6502A7C98}"/>
              </a:ext>
            </a:extLst>
          </p:cNvPr>
          <p:cNvSpPr>
            <a:spLocks noGrp="1"/>
          </p:cNvSpPr>
          <p:nvPr/>
        </p:nvSpPr>
        <p:spPr>
          <a:xfrm>
            <a:off x="4476750" y="2152650"/>
            <a:ext cx="647700" cy="133350"/>
          </a:xfrm>
          <a:prstGeom prst="rect">
            <a:avLst/>
          </a:prstGeom>
          <a:noFill/>
          <a:ln w="0">
            <a:noFill/>
          </a:ln>
        </p:spPr>
        <p:txBody>
          <a:bodyPr wrap="square" lIns="0" tIns="0" rIns="0" bIns="0" anchor="t">
            <a:normAutofit/>
          </a:bodyPr>
          <a:lstStyle/>
          <a:p>
            <a:pPr algn="ctr">
              <a:lnSpc>
                <a:spcPct val="100000"/>
              </a:lnSpc>
              <a:buNone/>
              <a:defRPr sz="788" b="1">
                <a:solidFill>
                  <a:srgbClr val="50658E"/>
                </a:solidFill>
                <a:latin typeface="Arial"/>
                <a:ea typeface="Arial"/>
                <a:cs typeface="Arial"/>
              </a:defRPr>
            </a:pPr>
            <a:r>
              <a:rPr sz="788" b="1">
                <a:solidFill>
                  <a:srgbClr val="50658E"/>
                </a:solidFill>
                <a:latin typeface="Arial"/>
                <a:ea typeface="Arial"/>
                <a:cs typeface="Arial"/>
              </a:rPr>
              <a:t>W2</a:t>
            </a:r>
          </a:p>
        </p:txBody>
      </p:sp>
      <p:sp>
        <p:nvSpPr>
          <p:cNvPr id="62" name="Rounded Rectangle 61">
            <a:extLst>
              <a:ext uri="{FF2B5EF4-FFF2-40B4-BE49-F238E27FC236}">
                <a16:creationId xmlns:a16="http://schemas.microsoft.com/office/drawing/2014/main" id="{7EE44C9D-73C8-4AC7-9702-91C58BCDAB0C}"/>
              </a:ext>
            </a:extLst>
          </p:cNvPr>
          <p:cNvSpPr>
            <a:spLocks noGrp="1"/>
          </p:cNvSpPr>
          <p:nvPr/>
        </p:nvSpPr>
        <p:spPr>
          <a:xfrm>
            <a:off x="5124450" y="2076450"/>
            <a:ext cx="647700" cy="304800"/>
          </a:xfrm>
          <a:prstGeom prst="roundRect">
            <a:avLst>
              <a:gd name="adj" fmla="val 25000"/>
            </a:avLst>
          </a:prstGeom>
          <a:solidFill>
            <a:srgbClr val="E8EEF8"/>
          </a:solidFill>
          <a:ln w="9525">
            <a:solidFill>
              <a:srgbClr val="CED7E6"/>
            </a:solidFill>
            <a:prstDash val="solid"/>
          </a:ln>
        </p:spPr>
        <p:txBody>
          <a:bodyPr/>
          <a:lstStyle/>
          <a:p>
            <a:endParaRPr lang="en-US"/>
          </a:p>
        </p:txBody>
      </p:sp>
      <p:sp>
        <p:nvSpPr>
          <p:cNvPr id="63" name="Rectangle 62">
            <a:extLst>
              <a:ext uri="{FF2B5EF4-FFF2-40B4-BE49-F238E27FC236}">
                <a16:creationId xmlns:a16="http://schemas.microsoft.com/office/drawing/2014/main" id="{03473878-0D41-43D6-A33F-5FE4F1829B3F}"/>
              </a:ext>
            </a:extLst>
          </p:cNvPr>
          <p:cNvSpPr>
            <a:spLocks noGrp="1"/>
          </p:cNvSpPr>
          <p:nvPr/>
        </p:nvSpPr>
        <p:spPr>
          <a:xfrm>
            <a:off x="5124450" y="2152650"/>
            <a:ext cx="647700" cy="133350"/>
          </a:xfrm>
          <a:prstGeom prst="rect">
            <a:avLst/>
          </a:prstGeom>
          <a:noFill/>
          <a:ln w="0">
            <a:noFill/>
          </a:ln>
        </p:spPr>
        <p:txBody>
          <a:bodyPr wrap="square" lIns="0" tIns="0" rIns="0" bIns="0" anchor="t">
            <a:normAutofit/>
          </a:bodyPr>
          <a:lstStyle/>
          <a:p>
            <a:pPr algn="ctr">
              <a:lnSpc>
                <a:spcPct val="100000"/>
              </a:lnSpc>
              <a:buNone/>
              <a:defRPr sz="788" b="1">
                <a:solidFill>
                  <a:srgbClr val="50658E"/>
                </a:solidFill>
                <a:latin typeface="Arial"/>
                <a:ea typeface="Arial"/>
                <a:cs typeface="Arial"/>
              </a:defRPr>
            </a:pPr>
            <a:r>
              <a:rPr sz="788" b="1">
                <a:solidFill>
                  <a:srgbClr val="50658E"/>
                </a:solidFill>
                <a:latin typeface="Arial"/>
                <a:ea typeface="Arial"/>
                <a:cs typeface="Arial"/>
              </a:rPr>
              <a:t>W3</a:t>
            </a:r>
          </a:p>
        </p:txBody>
      </p:sp>
      <p:sp>
        <p:nvSpPr>
          <p:cNvPr id="64" name="Rounded Rectangle 63">
            <a:extLst>
              <a:ext uri="{FF2B5EF4-FFF2-40B4-BE49-F238E27FC236}">
                <a16:creationId xmlns:a16="http://schemas.microsoft.com/office/drawing/2014/main" id="{45876709-B62C-4E1C-A1B0-DFFF0205E406}"/>
              </a:ext>
            </a:extLst>
          </p:cNvPr>
          <p:cNvSpPr>
            <a:spLocks noGrp="1"/>
          </p:cNvSpPr>
          <p:nvPr/>
        </p:nvSpPr>
        <p:spPr>
          <a:xfrm>
            <a:off x="5772150" y="2076450"/>
            <a:ext cx="647700" cy="304800"/>
          </a:xfrm>
          <a:prstGeom prst="roundRect">
            <a:avLst>
              <a:gd name="adj" fmla="val 25000"/>
            </a:avLst>
          </a:prstGeom>
          <a:solidFill>
            <a:srgbClr val="E8EEF8"/>
          </a:solidFill>
          <a:ln w="9525">
            <a:solidFill>
              <a:srgbClr val="CED7E6"/>
            </a:solidFill>
            <a:prstDash val="solid"/>
          </a:ln>
        </p:spPr>
        <p:txBody>
          <a:bodyPr/>
          <a:lstStyle/>
          <a:p>
            <a:endParaRPr lang="en-US"/>
          </a:p>
        </p:txBody>
      </p:sp>
      <p:sp>
        <p:nvSpPr>
          <p:cNvPr id="65" name="Rectangle 64">
            <a:extLst>
              <a:ext uri="{FF2B5EF4-FFF2-40B4-BE49-F238E27FC236}">
                <a16:creationId xmlns:a16="http://schemas.microsoft.com/office/drawing/2014/main" id="{36CBBF17-CFFD-49E0-85CF-2D38FFBDF0E9}"/>
              </a:ext>
            </a:extLst>
          </p:cNvPr>
          <p:cNvSpPr>
            <a:spLocks noGrp="1"/>
          </p:cNvSpPr>
          <p:nvPr/>
        </p:nvSpPr>
        <p:spPr>
          <a:xfrm>
            <a:off x="5772150" y="2152650"/>
            <a:ext cx="647700" cy="133350"/>
          </a:xfrm>
          <a:prstGeom prst="rect">
            <a:avLst/>
          </a:prstGeom>
          <a:noFill/>
          <a:ln w="0">
            <a:noFill/>
          </a:ln>
        </p:spPr>
        <p:txBody>
          <a:bodyPr wrap="square" lIns="0" tIns="0" rIns="0" bIns="0" anchor="t">
            <a:normAutofit/>
          </a:bodyPr>
          <a:lstStyle/>
          <a:p>
            <a:pPr algn="ctr">
              <a:lnSpc>
                <a:spcPct val="100000"/>
              </a:lnSpc>
              <a:buNone/>
              <a:defRPr sz="788" b="1">
                <a:solidFill>
                  <a:srgbClr val="50658E"/>
                </a:solidFill>
                <a:latin typeface="Arial"/>
                <a:ea typeface="Arial"/>
                <a:cs typeface="Arial"/>
              </a:defRPr>
            </a:pPr>
            <a:r>
              <a:rPr sz="788" b="1">
                <a:solidFill>
                  <a:srgbClr val="50658E"/>
                </a:solidFill>
                <a:latin typeface="Arial"/>
                <a:ea typeface="Arial"/>
                <a:cs typeface="Arial"/>
              </a:rPr>
              <a:t>W4</a:t>
            </a:r>
          </a:p>
        </p:txBody>
      </p:sp>
      <p:sp>
        <p:nvSpPr>
          <p:cNvPr id="66" name="Rounded Rectangle 65">
            <a:extLst>
              <a:ext uri="{FF2B5EF4-FFF2-40B4-BE49-F238E27FC236}">
                <a16:creationId xmlns:a16="http://schemas.microsoft.com/office/drawing/2014/main" id="{C711C843-B15D-49C0-8A4D-1643BB1B0224}"/>
              </a:ext>
            </a:extLst>
          </p:cNvPr>
          <p:cNvSpPr>
            <a:spLocks noGrp="1"/>
          </p:cNvSpPr>
          <p:nvPr/>
        </p:nvSpPr>
        <p:spPr>
          <a:xfrm>
            <a:off x="6419850" y="2076450"/>
            <a:ext cx="647700" cy="304800"/>
          </a:xfrm>
          <a:prstGeom prst="roundRect">
            <a:avLst>
              <a:gd name="adj" fmla="val 25000"/>
            </a:avLst>
          </a:prstGeom>
          <a:solidFill>
            <a:srgbClr val="E8EEF8"/>
          </a:solidFill>
          <a:ln w="9525">
            <a:solidFill>
              <a:srgbClr val="CED7E6"/>
            </a:solidFill>
            <a:prstDash val="solid"/>
          </a:ln>
        </p:spPr>
        <p:txBody>
          <a:bodyPr/>
          <a:lstStyle/>
          <a:p>
            <a:endParaRPr lang="en-US"/>
          </a:p>
        </p:txBody>
      </p:sp>
      <p:sp>
        <p:nvSpPr>
          <p:cNvPr id="67" name="Rectangle 66">
            <a:extLst>
              <a:ext uri="{FF2B5EF4-FFF2-40B4-BE49-F238E27FC236}">
                <a16:creationId xmlns:a16="http://schemas.microsoft.com/office/drawing/2014/main" id="{A6036839-899D-4D94-A3D9-2608E2802D31}"/>
              </a:ext>
            </a:extLst>
          </p:cNvPr>
          <p:cNvSpPr>
            <a:spLocks noGrp="1"/>
          </p:cNvSpPr>
          <p:nvPr/>
        </p:nvSpPr>
        <p:spPr>
          <a:xfrm>
            <a:off x="6419850" y="2152650"/>
            <a:ext cx="647700" cy="133350"/>
          </a:xfrm>
          <a:prstGeom prst="rect">
            <a:avLst/>
          </a:prstGeom>
          <a:noFill/>
          <a:ln w="0">
            <a:noFill/>
          </a:ln>
        </p:spPr>
        <p:txBody>
          <a:bodyPr wrap="square" lIns="0" tIns="0" rIns="0" bIns="0" anchor="t">
            <a:normAutofit/>
          </a:bodyPr>
          <a:lstStyle/>
          <a:p>
            <a:pPr algn="ctr">
              <a:lnSpc>
                <a:spcPct val="100000"/>
              </a:lnSpc>
              <a:buNone/>
              <a:defRPr sz="788" b="1">
                <a:solidFill>
                  <a:srgbClr val="50658E"/>
                </a:solidFill>
                <a:latin typeface="Arial"/>
                <a:ea typeface="Arial"/>
                <a:cs typeface="Arial"/>
              </a:defRPr>
            </a:pPr>
            <a:r>
              <a:rPr sz="788" b="1">
                <a:solidFill>
                  <a:srgbClr val="50658E"/>
                </a:solidFill>
                <a:latin typeface="Arial"/>
                <a:ea typeface="Arial"/>
                <a:cs typeface="Arial"/>
              </a:rPr>
              <a:t>W5</a:t>
            </a:r>
          </a:p>
        </p:txBody>
      </p:sp>
      <p:sp>
        <p:nvSpPr>
          <p:cNvPr id="68" name="Rounded Rectangle 67">
            <a:extLst>
              <a:ext uri="{FF2B5EF4-FFF2-40B4-BE49-F238E27FC236}">
                <a16:creationId xmlns:a16="http://schemas.microsoft.com/office/drawing/2014/main" id="{5488ACFF-874B-46EF-8B7B-76601B28A15A}"/>
              </a:ext>
            </a:extLst>
          </p:cNvPr>
          <p:cNvSpPr>
            <a:spLocks noGrp="1"/>
          </p:cNvSpPr>
          <p:nvPr/>
        </p:nvSpPr>
        <p:spPr>
          <a:xfrm>
            <a:off x="7067550" y="2076450"/>
            <a:ext cx="647700" cy="304800"/>
          </a:xfrm>
          <a:prstGeom prst="roundRect">
            <a:avLst>
              <a:gd name="adj" fmla="val 25000"/>
            </a:avLst>
          </a:prstGeom>
          <a:solidFill>
            <a:srgbClr val="E8EEF8"/>
          </a:solidFill>
          <a:ln w="9525">
            <a:solidFill>
              <a:srgbClr val="CED7E6"/>
            </a:solidFill>
            <a:prstDash val="solid"/>
          </a:ln>
        </p:spPr>
        <p:txBody>
          <a:bodyPr/>
          <a:lstStyle/>
          <a:p>
            <a:endParaRPr lang="en-US"/>
          </a:p>
        </p:txBody>
      </p:sp>
      <p:sp>
        <p:nvSpPr>
          <p:cNvPr id="69" name="Rectangle 68">
            <a:extLst>
              <a:ext uri="{FF2B5EF4-FFF2-40B4-BE49-F238E27FC236}">
                <a16:creationId xmlns:a16="http://schemas.microsoft.com/office/drawing/2014/main" id="{60252445-117F-4552-A3C8-25683C94410E}"/>
              </a:ext>
            </a:extLst>
          </p:cNvPr>
          <p:cNvSpPr>
            <a:spLocks noGrp="1"/>
          </p:cNvSpPr>
          <p:nvPr/>
        </p:nvSpPr>
        <p:spPr>
          <a:xfrm>
            <a:off x="7067550" y="2152650"/>
            <a:ext cx="647700" cy="133350"/>
          </a:xfrm>
          <a:prstGeom prst="rect">
            <a:avLst/>
          </a:prstGeom>
          <a:noFill/>
          <a:ln w="0">
            <a:noFill/>
          </a:ln>
        </p:spPr>
        <p:txBody>
          <a:bodyPr wrap="square" lIns="0" tIns="0" rIns="0" bIns="0" anchor="t">
            <a:normAutofit/>
          </a:bodyPr>
          <a:lstStyle/>
          <a:p>
            <a:pPr algn="ctr">
              <a:lnSpc>
                <a:spcPct val="100000"/>
              </a:lnSpc>
              <a:buNone/>
              <a:defRPr sz="788" b="1">
                <a:solidFill>
                  <a:srgbClr val="50658E"/>
                </a:solidFill>
                <a:latin typeface="Arial"/>
                <a:ea typeface="Arial"/>
                <a:cs typeface="Arial"/>
              </a:defRPr>
            </a:pPr>
            <a:r>
              <a:rPr sz="788" b="1">
                <a:solidFill>
                  <a:srgbClr val="50658E"/>
                </a:solidFill>
                <a:latin typeface="Arial"/>
                <a:ea typeface="Arial"/>
                <a:cs typeface="Arial"/>
              </a:rPr>
              <a:t>W6</a:t>
            </a:r>
          </a:p>
        </p:txBody>
      </p:sp>
      <p:sp>
        <p:nvSpPr>
          <p:cNvPr id="70" name="Rounded Rectangle 69">
            <a:extLst>
              <a:ext uri="{FF2B5EF4-FFF2-40B4-BE49-F238E27FC236}">
                <a16:creationId xmlns:a16="http://schemas.microsoft.com/office/drawing/2014/main" id="{3C36B580-3754-43E9-AA46-69304F3BF17C}"/>
              </a:ext>
            </a:extLst>
          </p:cNvPr>
          <p:cNvSpPr>
            <a:spLocks noGrp="1"/>
          </p:cNvSpPr>
          <p:nvPr/>
        </p:nvSpPr>
        <p:spPr>
          <a:xfrm>
            <a:off x="7715250" y="2076450"/>
            <a:ext cx="647700" cy="304800"/>
          </a:xfrm>
          <a:prstGeom prst="roundRect">
            <a:avLst>
              <a:gd name="adj" fmla="val 25000"/>
            </a:avLst>
          </a:prstGeom>
          <a:solidFill>
            <a:srgbClr val="E8EEF8"/>
          </a:solidFill>
          <a:ln w="9525">
            <a:solidFill>
              <a:srgbClr val="CED7E6"/>
            </a:solidFill>
            <a:prstDash val="solid"/>
          </a:ln>
        </p:spPr>
        <p:txBody>
          <a:bodyPr/>
          <a:lstStyle/>
          <a:p>
            <a:endParaRPr lang="en-US"/>
          </a:p>
        </p:txBody>
      </p:sp>
      <p:sp>
        <p:nvSpPr>
          <p:cNvPr id="71" name="Rectangle 70">
            <a:extLst>
              <a:ext uri="{FF2B5EF4-FFF2-40B4-BE49-F238E27FC236}">
                <a16:creationId xmlns:a16="http://schemas.microsoft.com/office/drawing/2014/main" id="{63E49CA7-54C6-4CFB-8B2E-E97E578C5414}"/>
              </a:ext>
            </a:extLst>
          </p:cNvPr>
          <p:cNvSpPr>
            <a:spLocks noGrp="1"/>
          </p:cNvSpPr>
          <p:nvPr/>
        </p:nvSpPr>
        <p:spPr>
          <a:xfrm>
            <a:off x="7715250" y="2152650"/>
            <a:ext cx="647700" cy="133350"/>
          </a:xfrm>
          <a:prstGeom prst="rect">
            <a:avLst/>
          </a:prstGeom>
          <a:noFill/>
          <a:ln w="0">
            <a:noFill/>
          </a:ln>
        </p:spPr>
        <p:txBody>
          <a:bodyPr wrap="square" lIns="0" tIns="0" rIns="0" bIns="0" anchor="t">
            <a:normAutofit/>
          </a:bodyPr>
          <a:lstStyle/>
          <a:p>
            <a:pPr algn="ctr">
              <a:lnSpc>
                <a:spcPct val="100000"/>
              </a:lnSpc>
              <a:buNone/>
              <a:defRPr sz="788" b="1">
                <a:solidFill>
                  <a:srgbClr val="50658E"/>
                </a:solidFill>
                <a:latin typeface="Arial"/>
                <a:ea typeface="Arial"/>
                <a:cs typeface="Arial"/>
              </a:defRPr>
            </a:pPr>
            <a:r>
              <a:rPr sz="788" b="1">
                <a:solidFill>
                  <a:srgbClr val="50658E"/>
                </a:solidFill>
                <a:latin typeface="Arial"/>
                <a:ea typeface="Arial"/>
                <a:cs typeface="Arial"/>
              </a:rPr>
              <a:t>W7</a:t>
            </a:r>
          </a:p>
        </p:txBody>
      </p:sp>
      <p:sp>
        <p:nvSpPr>
          <p:cNvPr id="72" name="Rounded Rectangle 71">
            <a:extLst>
              <a:ext uri="{FF2B5EF4-FFF2-40B4-BE49-F238E27FC236}">
                <a16:creationId xmlns:a16="http://schemas.microsoft.com/office/drawing/2014/main" id="{05C101DD-97F8-466E-B7AC-90252432D672}"/>
              </a:ext>
            </a:extLst>
          </p:cNvPr>
          <p:cNvSpPr>
            <a:spLocks noGrp="1"/>
          </p:cNvSpPr>
          <p:nvPr/>
        </p:nvSpPr>
        <p:spPr>
          <a:xfrm>
            <a:off x="8362950" y="2076450"/>
            <a:ext cx="647700" cy="304800"/>
          </a:xfrm>
          <a:prstGeom prst="roundRect">
            <a:avLst>
              <a:gd name="adj" fmla="val 25000"/>
            </a:avLst>
          </a:prstGeom>
          <a:solidFill>
            <a:srgbClr val="E8EEF8"/>
          </a:solidFill>
          <a:ln w="9525">
            <a:solidFill>
              <a:srgbClr val="CED7E6"/>
            </a:solidFill>
            <a:prstDash val="solid"/>
          </a:ln>
        </p:spPr>
        <p:txBody>
          <a:bodyPr/>
          <a:lstStyle/>
          <a:p>
            <a:endParaRPr lang="en-US"/>
          </a:p>
        </p:txBody>
      </p:sp>
      <p:sp>
        <p:nvSpPr>
          <p:cNvPr id="73" name="Rectangle 72">
            <a:extLst>
              <a:ext uri="{FF2B5EF4-FFF2-40B4-BE49-F238E27FC236}">
                <a16:creationId xmlns:a16="http://schemas.microsoft.com/office/drawing/2014/main" id="{75D8B718-4953-4C08-A131-BDC23C59C50B}"/>
              </a:ext>
            </a:extLst>
          </p:cNvPr>
          <p:cNvSpPr>
            <a:spLocks noGrp="1"/>
          </p:cNvSpPr>
          <p:nvPr/>
        </p:nvSpPr>
        <p:spPr>
          <a:xfrm>
            <a:off x="8362950" y="2152650"/>
            <a:ext cx="647700" cy="133350"/>
          </a:xfrm>
          <a:prstGeom prst="rect">
            <a:avLst/>
          </a:prstGeom>
          <a:noFill/>
          <a:ln w="0">
            <a:noFill/>
          </a:ln>
        </p:spPr>
        <p:txBody>
          <a:bodyPr wrap="square" lIns="0" tIns="0" rIns="0" bIns="0" anchor="t">
            <a:normAutofit/>
          </a:bodyPr>
          <a:lstStyle/>
          <a:p>
            <a:pPr algn="ctr">
              <a:lnSpc>
                <a:spcPct val="100000"/>
              </a:lnSpc>
              <a:buNone/>
              <a:defRPr sz="788" b="1">
                <a:solidFill>
                  <a:srgbClr val="50658E"/>
                </a:solidFill>
                <a:latin typeface="Arial"/>
                <a:ea typeface="Arial"/>
                <a:cs typeface="Arial"/>
              </a:defRPr>
            </a:pPr>
            <a:r>
              <a:rPr sz="788" b="1">
                <a:solidFill>
                  <a:srgbClr val="50658E"/>
                </a:solidFill>
                <a:latin typeface="Arial"/>
                <a:ea typeface="Arial"/>
                <a:cs typeface="Arial"/>
              </a:rPr>
              <a:t>W8</a:t>
            </a:r>
          </a:p>
        </p:txBody>
      </p:sp>
      <p:sp>
        <p:nvSpPr>
          <p:cNvPr id="74" name="Rounded Rectangle 73">
            <a:extLst>
              <a:ext uri="{FF2B5EF4-FFF2-40B4-BE49-F238E27FC236}">
                <a16:creationId xmlns:a16="http://schemas.microsoft.com/office/drawing/2014/main" id="{0EF28A07-D931-438F-B65A-5F9EFAECFAB2}"/>
              </a:ext>
            </a:extLst>
          </p:cNvPr>
          <p:cNvSpPr>
            <a:spLocks noGrp="1"/>
          </p:cNvSpPr>
          <p:nvPr/>
        </p:nvSpPr>
        <p:spPr>
          <a:xfrm>
            <a:off x="9010650" y="2076450"/>
            <a:ext cx="2495550" cy="304800"/>
          </a:xfrm>
          <a:prstGeom prst="roundRect">
            <a:avLst>
              <a:gd name="adj" fmla="val 25000"/>
            </a:avLst>
          </a:prstGeom>
          <a:solidFill>
            <a:srgbClr val="E8EEF8"/>
          </a:solidFill>
          <a:ln w="9525">
            <a:solidFill>
              <a:srgbClr val="CED7E6"/>
            </a:solidFill>
            <a:prstDash val="solid"/>
          </a:ln>
        </p:spPr>
        <p:txBody>
          <a:bodyPr/>
          <a:lstStyle/>
          <a:p>
            <a:endParaRPr lang="en-US"/>
          </a:p>
        </p:txBody>
      </p:sp>
      <p:sp>
        <p:nvSpPr>
          <p:cNvPr id="75" name="Rectangle 74">
            <a:extLst>
              <a:ext uri="{FF2B5EF4-FFF2-40B4-BE49-F238E27FC236}">
                <a16:creationId xmlns:a16="http://schemas.microsoft.com/office/drawing/2014/main" id="{2247B8C2-6151-4D7E-9D67-EFE06AF80A4F}"/>
              </a:ext>
            </a:extLst>
          </p:cNvPr>
          <p:cNvSpPr>
            <a:spLocks noGrp="1"/>
          </p:cNvSpPr>
          <p:nvPr/>
        </p:nvSpPr>
        <p:spPr>
          <a:xfrm>
            <a:off x="9124950" y="2152650"/>
            <a:ext cx="2266950" cy="133350"/>
          </a:xfrm>
          <a:prstGeom prst="rect">
            <a:avLst/>
          </a:prstGeom>
          <a:noFill/>
          <a:ln w="0">
            <a:noFill/>
          </a:ln>
        </p:spPr>
        <p:txBody>
          <a:bodyPr wrap="square" lIns="0" tIns="0" rIns="0" bIns="0" anchor="t">
            <a:normAutofit/>
          </a:bodyPr>
          <a:lstStyle/>
          <a:p>
            <a:pPr algn="l">
              <a:lnSpc>
                <a:spcPct val="100000"/>
              </a:lnSpc>
              <a:buNone/>
              <a:defRPr sz="788" b="1">
                <a:solidFill>
                  <a:srgbClr val="070154"/>
                </a:solidFill>
                <a:latin typeface="Arial"/>
                <a:ea typeface="Arial"/>
                <a:cs typeface="Arial"/>
              </a:defRPr>
            </a:pPr>
            <a:r>
              <a:rPr sz="788" b="1">
                <a:solidFill>
                  <a:srgbClr val="070154"/>
                </a:solidFill>
                <a:latin typeface="Arial"/>
                <a:ea typeface="Arial"/>
                <a:cs typeface="Arial"/>
              </a:rPr>
              <a:t>What the work produces</a:t>
            </a:r>
          </a:p>
        </p:txBody>
      </p:sp>
      <p:sp>
        <p:nvSpPr>
          <p:cNvPr id="76" name="Rounded Rectangle 75">
            <a:extLst>
              <a:ext uri="{FF2B5EF4-FFF2-40B4-BE49-F238E27FC236}">
                <a16:creationId xmlns:a16="http://schemas.microsoft.com/office/drawing/2014/main" id="{837709FA-CF69-48CB-81DE-AAC8A158F8AF}"/>
              </a:ext>
            </a:extLst>
          </p:cNvPr>
          <p:cNvSpPr>
            <a:spLocks noGrp="1"/>
          </p:cNvSpPr>
          <p:nvPr/>
        </p:nvSpPr>
        <p:spPr>
          <a:xfrm>
            <a:off x="685800" y="2381250"/>
            <a:ext cx="314325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77" name="Rectangle 76">
            <a:extLst>
              <a:ext uri="{FF2B5EF4-FFF2-40B4-BE49-F238E27FC236}">
                <a16:creationId xmlns:a16="http://schemas.microsoft.com/office/drawing/2014/main" id="{78677EA6-1694-4DC1-BC8A-DA6A409CA467}"/>
              </a:ext>
            </a:extLst>
          </p:cNvPr>
          <p:cNvSpPr>
            <a:spLocks noGrp="1"/>
          </p:cNvSpPr>
          <p:nvPr/>
        </p:nvSpPr>
        <p:spPr>
          <a:xfrm>
            <a:off x="800100" y="2447925"/>
            <a:ext cx="2914650" cy="238125"/>
          </a:xfrm>
          <a:prstGeom prst="rect">
            <a:avLst/>
          </a:prstGeom>
          <a:noFill/>
          <a:ln w="0">
            <a:noFill/>
          </a:ln>
        </p:spPr>
        <p:txBody>
          <a:bodyPr wrap="square" lIns="0" tIns="0" rIns="0" bIns="0" anchor="t">
            <a:normAutofit/>
          </a:bodyPr>
          <a:lstStyle/>
          <a:p>
            <a:pPr algn="l">
              <a:lnSpc>
                <a:spcPct val="95000"/>
              </a:lnSpc>
              <a:buNone/>
              <a:defRPr sz="788" b="0">
                <a:solidFill>
                  <a:srgbClr val="070154"/>
                </a:solidFill>
                <a:latin typeface="Arial"/>
                <a:ea typeface="Arial"/>
                <a:cs typeface="Arial"/>
              </a:defRPr>
            </a:pPr>
            <a:r>
              <a:rPr lang="en-US" sz="788" b="0">
                <a:solidFill>
                  <a:srgbClr val="070154"/>
                </a:solidFill>
                <a:latin typeface="Arial"/>
                <a:ea typeface="Arial"/>
                <a:cs typeface="Arial"/>
              </a:rPr>
              <a:t>Confirm scope, portfolio, and decision criteria</a:t>
            </a:r>
            <a:endParaRPr sz="788" b="0">
              <a:solidFill>
                <a:srgbClr val="070154"/>
              </a:solidFill>
              <a:latin typeface="Arial"/>
              <a:ea typeface="Arial"/>
              <a:cs typeface="Arial"/>
            </a:endParaRPr>
          </a:p>
        </p:txBody>
      </p:sp>
      <p:sp>
        <p:nvSpPr>
          <p:cNvPr id="78" name="Rounded Rectangle 77">
            <a:extLst>
              <a:ext uri="{FF2B5EF4-FFF2-40B4-BE49-F238E27FC236}">
                <a16:creationId xmlns:a16="http://schemas.microsoft.com/office/drawing/2014/main" id="{E9D75B21-0C93-437F-AB92-A4639A5342C7}"/>
              </a:ext>
            </a:extLst>
          </p:cNvPr>
          <p:cNvSpPr>
            <a:spLocks noGrp="1"/>
          </p:cNvSpPr>
          <p:nvPr/>
        </p:nvSpPr>
        <p:spPr>
          <a:xfrm>
            <a:off x="3829050" y="23812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79" name="Rounded Rectangle 78">
            <a:extLst>
              <a:ext uri="{FF2B5EF4-FFF2-40B4-BE49-F238E27FC236}">
                <a16:creationId xmlns:a16="http://schemas.microsoft.com/office/drawing/2014/main" id="{E8E3221F-AD4E-4BEF-B4CD-8DA613B541DE}"/>
              </a:ext>
            </a:extLst>
          </p:cNvPr>
          <p:cNvSpPr>
            <a:spLocks noGrp="1"/>
          </p:cNvSpPr>
          <p:nvPr/>
        </p:nvSpPr>
        <p:spPr>
          <a:xfrm>
            <a:off x="3905250" y="2476500"/>
            <a:ext cx="495300" cy="171450"/>
          </a:xfrm>
          <a:prstGeom prst="roundRect">
            <a:avLst>
              <a:gd name="adj" fmla="val 44444"/>
            </a:avLst>
          </a:prstGeom>
          <a:solidFill>
            <a:srgbClr val="0047FF"/>
          </a:solidFill>
          <a:ln w="0">
            <a:noFill/>
            <a:prstDash val="solid"/>
          </a:ln>
        </p:spPr>
        <p:txBody>
          <a:bodyPr/>
          <a:lstStyle/>
          <a:p>
            <a:endParaRPr lang="en-US"/>
          </a:p>
        </p:txBody>
      </p:sp>
      <p:sp>
        <p:nvSpPr>
          <p:cNvPr id="80" name="Rounded Rectangle 79">
            <a:extLst>
              <a:ext uri="{FF2B5EF4-FFF2-40B4-BE49-F238E27FC236}">
                <a16:creationId xmlns:a16="http://schemas.microsoft.com/office/drawing/2014/main" id="{160B1522-E3FF-4839-8D0B-050E157E2B1E}"/>
              </a:ext>
            </a:extLst>
          </p:cNvPr>
          <p:cNvSpPr>
            <a:spLocks noGrp="1"/>
          </p:cNvSpPr>
          <p:nvPr/>
        </p:nvSpPr>
        <p:spPr>
          <a:xfrm>
            <a:off x="4476750" y="23812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81" name="Rounded Rectangle 80">
            <a:extLst>
              <a:ext uri="{FF2B5EF4-FFF2-40B4-BE49-F238E27FC236}">
                <a16:creationId xmlns:a16="http://schemas.microsoft.com/office/drawing/2014/main" id="{D382541A-4D11-4CD3-ACB8-5E668B6EFD5B}"/>
              </a:ext>
            </a:extLst>
          </p:cNvPr>
          <p:cNvSpPr>
            <a:spLocks noGrp="1"/>
          </p:cNvSpPr>
          <p:nvPr/>
        </p:nvSpPr>
        <p:spPr>
          <a:xfrm>
            <a:off x="4552950" y="2476500"/>
            <a:ext cx="495300" cy="171450"/>
          </a:xfrm>
          <a:prstGeom prst="roundRect">
            <a:avLst>
              <a:gd name="adj" fmla="val 44444"/>
            </a:avLst>
          </a:prstGeom>
          <a:solidFill>
            <a:srgbClr val="0047FF"/>
          </a:solidFill>
          <a:ln w="0">
            <a:noFill/>
            <a:prstDash val="solid"/>
          </a:ln>
        </p:spPr>
        <p:txBody>
          <a:bodyPr/>
          <a:lstStyle/>
          <a:p>
            <a:endParaRPr lang="en-US"/>
          </a:p>
        </p:txBody>
      </p:sp>
      <p:sp>
        <p:nvSpPr>
          <p:cNvPr id="82" name="Rounded Rectangle 81">
            <a:extLst>
              <a:ext uri="{FF2B5EF4-FFF2-40B4-BE49-F238E27FC236}">
                <a16:creationId xmlns:a16="http://schemas.microsoft.com/office/drawing/2014/main" id="{A09B72CB-1692-4198-BDC9-E91EFC0534F0}"/>
              </a:ext>
            </a:extLst>
          </p:cNvPr>
          <p:cNvSpPr>
            <a:spLocks noGrp="1"/>
          </p:cNvSpPr>
          <p:nvPr/>
        </p:nvSpPr>
        <p:spPr>
          <a:xfrm>
            <a:off x="5124450" y="23812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83" name="Rounded Rectangle 82">
            <a:extLst>
              <a:ext uri="{FF2B5EF4-FFF2-40B4-BE49-F238E27FC236}">
                <a16:creationId xmlns:a16="http://schemas.microsoft.com/office/drawing/2014/main" id="{9A55E3DB-7B25-4A60-9BEC-9A8273AB0763}"/>
              </a:ext>
            </a:extLst>
          </p:cNvPr>
          <p:cNvSpPr>
            <a:spLocks noGrp="1"/>
          </p:cNvSpPr>
          <p:nvPr/>
        </p:nvSpPr>
        <p:spPr>
          <a:xfrm>
            <a:off x="5772150" y="23812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84" name="Rounded Rectangle 83">
            <a:extLst>
              <a:ext uri="{FF2B5EF4-FFF2-40B4-BE49-F238E27FC236}">
                <a16:creationId xmlns:a16="http://schemas.microsoft.com/office/drawing/2014/main" id="{6AE8F1B9-AF61-4B46-A09A-8451FF1A9354}"/>
              </a:ext>
            </a:extLst>
          </p:cNvPr>
          <p:cNvSpPr>
            <a:spLocks noGrp="1"/>
          </p:cNvSpPr>
          <p:nvPr/>
        </p:nvSpPr>
        <p:spPr>
          <a:xfrm>
            <a:off x="6419850" y="23812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85" name="Rounded Rectangle 84">
            <a:extLst>
              <a:ext uri="{FF2B5EF4-FFF2-40B4-BE49-F238E27FC236}">
                <a16:creationId xmlns:a16="http://schemas.microsoft.com/office/drawing/2014/main" id="{E43754A7-4BCD-4DB2-887F-5C4C840C094D}"/>
              </a:ext>
            </a:extLst>
          </p:cNvPr>
          <p:cNvSpPr>
            <a:spLocks noGrp="1"/>
          </p:cNvSpPr>
          <p:nvPr/>
        </p:nvSpPr>
        <p:spPr>
          <a:xfrm>
            <a:off x="7067550" y="23812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86" name="Rounded Rectangle 85">
            <a:extLst>
              <a:ext uri="{FF2B5EF4-FFF2-40B4-BE49-F238E27FC236}">
                <a16:creationId xmlns:a16="http://schemas.microsoft.com/office/drawing/2014/main" id="{82C3997A-32D1-4286-B688-BEFBD205C31B}"/>
              </a:ext>
            </a:extLst>
          </p:cNvPr>
          <p:cNvSpPr>
            <a:spLocks noGrp="1"/>
          </p:cNvSpPr>
          <p:nvPr/>
        </p:nvSpPr>
        <p:spPr>
          <a:xfrm>
            <a:off x="7715250" y="23812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87" name="Rounded Rectangle 86">
            <a:extLst>
              <a:ext uri="{FF2B5EF4-FFF2-40B4-BE49-F238E27FC236}">
                <a16:creationId xmlns:a16="http://schemas.microsoft.com/office/drawing/2014/main" id="{43D05185-19E7-4295-9A6C-953293094D2E}"/>
              </a:ext>
            </a:extLst>
          </p:cNvPr>
          <p:cNvSpPr>
            <a:spLocks noGrp="1"/>
          </p:cNvSpPr>
          <p:nvPr/>
        </p:nvSpPr>
        <p:spPr>
          <a:xfrm>
            <a:off x="8362950" y="23812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88" name="Rounded Rectangle 87">
            <a:extLst>
              <a:ext uri="{FF2B5EF4-FFF2-40B4-BE49-F238E27FC236}">
                <a16:creationId xmlns:a16="http://schemas.microsoft.com/office/drawing/2014/main" id="{13FE6246-C0DE-4A7B-B508-A50F3B661069}"/>
              </a:ext>
            </a:extLst>
          </p:cNvPr>
          <p:cNvSpPr>
            <a:spLocks noGrp="1"/>
          </p:cNvSpPr>
          <p:nvPr/>
        </p:nvSpPr>
        <p:spPr>
          <a:xfrm>
            <a:off x="9010650" y="2381250"/>
            <a:ext cx="249555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89" name="Rectangle 88">
            <a:extLst>
              <a:ext uri="{FF2B5EF4-FFF2-40B4-BE49-F238E27FC236}">
                <a16:creationId xmlns:a16="http://schemas.microsoft.com/office/drawing/2014/main" id="{E9A31B5E-EEFA-4EB7-9417-1E411B7F6AB2}"/>
              </a:ext>
            </a:extLst>
          </p:cNvPr>
          <p:cNvSpPr>
            <a:spLocks noGrp="1"/>
          </p:cNvSpPr>
          <p:nvPr/>
        </p:nvSpPr>
        <p:spPr>
          <a:xfrm>
            <a:off x="9124950" y="2447925"/>
            <a:ext cx="2266950" cy="238125"/>
          </a:xfrm>
          <a:prstGeom prst="rect">
            <a:avLst/>
          </a:prstGeom>
          <a:noFill/>
          <a:ln w="0">
            <a:noFill/>
          </a:ln>
        </p:spPr>
        <p:txBody>
          <a:bodyPr wrap="square" lIns="0" tIns="0" rIns="0" bIns="0" anchor="t">
            <a:normAutofit/>
          </a:bodyPr>
          <a:lstStyle/>
          <a:p>
            <a:pPr algn="l">
              <a:lnSpc>
                <a:spcPct val="95000"/>
              </a:lnSpc>
              <a:buNone/>
              <a:defRPr sz="773" b="0">
                <a:solidFill>
                  <a:srgbClr val="50658E"/>
                </a:solidFill>
                <a:latin typeface="Arial"/>
                <a:ea typeface="Arial"/>
                <a:cs typeface="Arial"/>
              </a:defRPr>
            </a:pPr>
            <a:r>
              <a:rPr lang="en-US" sz="773" b="0">
                <a:solidFill>
                  <a:srgbClr val="50658E"/>
                </a:solidFill>
                <a:latin typeface="Arial"/>
                <a:ea typeface="Arial"/>
                <a:cs typeface="Arial"/>
              </a:rPr>
              <a:t>Scope and decision criteria</a:t>
            </a:r>
            <a:endParaRPr sz="773" b="0">
              <a:solidFill>
                <a:srgbClr val="50658E"/>
              </a:solidFill>
              <a:latin typeface="Arial"/>
              <a:ea typeface="Arial"/>
              <a:cs typeface="Arial"/>
            </a:endParaRPr>
          </a:p>
        </p:txBody>
      </p:sp>
      <p:sp>
        <p:nvSpPr>
          <p:cNvPr id="90" name="Rounded Rectangle 89">
            <a:extLst>
              <a:ext uri="{FF2B5EF4-FFF2-40B4-BE49-F238E27FC236}">
                <a16:creationId xmlns:a16="http://schemas.microsoft.com/office/drawing/2014/main" id="{FB087D39-A32D-441F-80FD-10442EEB8AC3}"/>
              </a:ext>
            </a:extLst>
          </p:cNvPr>
          <p:cNvSpPr>
            <a:spLocks noGrp="1"/>
          </p:cNvSpPr>
          <p:nvPr/>
        </p:nvSpPr>
        <p:spPr>
          <a:xfrm>
            <a:off x="685800" y="2743200"/>
            <a:ext cx="314325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91" name="Rectangle 90">
            <a:extLst>
              <a:ext uri="{FF2B5EF4-FFF2-40B4-BE49-F238E27FC236}">
                <a16:creationId xmlns:a16="http://schemas.microsoft.com/office/drawing/2014/main" id="{81844C79-AEA7-45A8-A472-51157AE1E38D}"/>
              </a:ext>
            </a:extLst>
          </p:cNvPr>
          <p:cNvSpPr>
            <a:spLocks noGrp="1"/>
          </p:cNvSpPr>
          <p:nvPr/>
        </p:nvSpPr>
        <p:spPr>
          <a:xfrm>
            <a:off x="800100" y="2809875"/>
            <a:ext cx="2914650" cy="238125"/>
          </a:xfrm>
          <a:prstGeom prst="rect">
            <a:avLst/>
          </a:prstGeom>
          <a:noFill/>
          <a:ln w="0">
            <a:noFill/>
          </a:ln>
        </p:spPr>
        <p:txBody>
          <a:bodyPr wrap="square" lIns="0" tIns="0" rIns="0" bIns="0" anchor="t">
            <a:normAutofit/>
          </a:bodyPr>
          <a:lstStyle/>
          <a:p>
            <a:pPr algn="l">
              <a:lnSpc>
                <a:spcPct val="95000"/>
              </a:lnSpc>
              <a:buNone/>
              <a:defRPr sz="788" b="0">
                <a:solidFill>
                  <a:srgbClr val="070154"/>
                </a:solidFill>
                <a:latin typeface="Arial"/>
                <a:ea typeface="Arial"/>
                <a:cs typeface="Arial"/>
              </a:defRPr>
            </a:pPr>
            <a:r>
              <a:rPr lang="en-US" sz="788" b="0">
                <a:solidFill>
                  <a:srgbClr val="070154"/>
                </a:solidFill>
                <a:latin typeface="Arial"/>
                <a:ea typeface="Arial"/>
                <a:cs typeface="Arial"/>
              </a:rPr>
              <a:t>Collect application costs, roadmaps, ownership, and planned changes</a:t>
            </a:r>
            <a:endParaRPr sz="788" b="0">
              <a:solidFill>
                <a:srgbClr val="070154"/>
              </a:solidFill>
              <a:latin typeface="Arial"/>
              <a:ea typeface="Arial"/>
              <a:cs typeface="Arial"/>
            </a:endParaRPr>
          </a:p>
        </p:txBody>
      </p:sp>
      <p:sp>
        <p:nvSpPr>
          <p:cNvPr id="92" name="Rounded Rectangle 91">
            <a:extLst>
              <a:ext uri="{FF2B5EF4-FFF2-40B4-BE49-F238E27FC236}">
                <a16:creationId xmlns:a16="http://schemas.microsoft.com/office/drawing/2014/main" id="{0CBF2911-8DFF-45CF-8F7D-76403254AF74}"/>
              </a:ext>
            </a:extLst>
          </p:cNvPr>
          <p:cNvSpPr>
            <a:spLocks noGrp="1"/>
          </p:cNvSpPr>
          <p:nvPr/>
        </p:nvSpPr>
        <p:spPr>
          <a:xfrm>
            <a:off x="3829050" y="27432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93" name="Rounded Rectangle 92">
            <a:extLst>
              <a:ext uri="{FF2B5EF4-FFF2-40B4-BE49-F238E27FC236}">
                <a16:creationId xmlns:a16="http://schemas.microsoft.com/office/drawing/2014/main" id="{312635B2-4FD9-48CF-80B5-93E9EDC4F5DF}"/>
              </a:ext>
            </a:extLst>
          </p:cNvPr>
          <p:cNvSpPr>
            <a:spLocks noGrp="1"/>
          </p:cNvSpPr>
          <p:nvPr/>
        </p:nvSpPr>
        <p:spPr>
          <a:xfrm>
            <a:off x="3905250" y="2838450"/>
            <a:ext cx="495300" cy="171450"/>
          </a:xfrm>
          <a:prstGeom prst="roundRect">
            <a:avLst>
              <a:gd name="adj" fmla="val 44444"/>
            </a:avLst>
          </a:prstGeom>
          <a:solidFill>
            <a:srgbClr val="0047FF"/>
          </a:solidFill>
          <a:ln w="0">
            <a:noFill/>
            <a:prstDash val="solid"/>
          </a:ln>
        </p:spPr>
        <p:txBody>
          <a:bodyPr/>
          <a:lstStyle/>
          <a:p>
            <a:endParaRPr lang="en-US"/>
          </a:p>
        </p:txBody>
      </p:sp>
      <p:sp>
        <p:nvSpPr>
          <p:cNvPr id="94" name="Rounded Rectangle 93">
            <a:extLst>
              <a:ext uri="{FF2B5EF4-FFF2-40B4-BE49-F238E27FC236}">
                <a16:creationId xmlns:a16="http://schemas.microsoft.com/office/drawing/2014/main" id="{407EB3E9-4534-4B44-85AD-B5338A0EEB7B}"/>
              </a:ext>
            </a:extLst>
          </p:cNvPr>
          <p:cNvSpPr>
            <a:spLocks noGrp="1"/>
          </p:cNvSpPr>
          <p:nvPr/>
        </p:nvSpPr>
        <p:spPr>
          <a:xfrm>
            <a:off x="4476750" y="27432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95" name="Rounded Rectangle 94">
            <a:extLst>
              <a:ext uri="{FF2B5EF4-FFF2-40B4-BE49-F238E27FC236}">
                <a16:creationId xmlns:a16="http://schemas.microsoft.com/office/drawing/2014/main" id="{C01E1196-07DD-441D-9815-F150E2FC26F1}"/>
              </a:ext>
            </a:extLst>
          </p:cNvPr>
          <p:cNvSpPr>
            <a:spLocks noGrp="1"/>
          </p:cNvSpPr>
          <p:nvPr/>
        </p:nvSpPr>
        <p:spPr>
          <a:xfrm>
            <a:off x="4552950" y="2838450"/>
            <a:ext cx="495300" cy="171450"/>
          </a:xfrm>
          <a:prstGeom prst="roundRect">
            <a:avLst>
              <a:gd name="adj" fmla="val 44444"/>
            </a:avLst>
          </a:prstGeom>
          <a:solidFill>
            <a:srgbClr val="0047FF"/>
          </a:solidFill>
          <a:ln w="0">
            <a:noFill/>
            <a:prstDash val="solid"/>
          </a:ln>
        </p:spPr>
        <p:txBody>
          <a:bodyPr/>
          <a:lstStyle/>
          <a:p>
            <a:endParaRPr lang="en-US"/>
          </a:p>
        </p:txBody>
      </p:sp>
      <p:sp>
        <p:nvSpPr>
          <p:cNvPr id="96" name="Rounded Rectangle 95">
            <a:extLst>
              <a:ext uri="{FF2B5EF4-FFF2-40B4-BE49-F238E27FC236}">
                <a16:creationId xmlns:a16="http://schemas.microsoft.com/office/drawing/2014/main" id="{923AEDB1-61B3-45A0-BDCE-9632406732DD}"/>
              </a:ext>
            </a:extLst>
          </p:cNvPr>
          <p:cNvSpPr>
            <a:spLocks noGrp="1"/>
          </p:cNvSpPr>
          <p:nvPr/>
        </p:nvSpPr>
        <p:spPr>
          <a:xfrm>
            <a:off x="5124450" y="27432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97" name="Rounded Rectangle 96">
            <a:extLst>
              <a:ext uri="{FF2B5EF4-FFF2-40B4-BE49-F238E27FC236}">
                <a16:creationId xmlns:a16="http://schemas.microsoft.com/office/drawing/2014/main" id="{14B831F8-542B-4FE6-9AC1-735957C792C7}"/>
              </a:ext>
            </a:extLst>
          </p:cNvPr>
          <p:cNvSpPr>
            <a:spLocks noGrp="1"/>
          </p:cNvSpPr>
          <p:nvPr/>
        </p:nvSpPr>
        <p:spPr>
          <a:xfrm>
            <a:off x="5200650" y="2838450"/>
            <a:ext cx="495300" cy="171450"/>
          </a:xfrm>
          <a:prstGeom prst="roundRect">
            <a:avLst>
              <a:gd name="adj" fmla="val 44444"/>
            </a:avLst>
          </a:prstGeom>
          <a:solidFill>
            <a:srgbClr val="0047FF"/>
          </a:solidFill>
          <a:ln w="0">
            <a:noFill/>
            <a:prstDash val="solid"/>
          </a:ln>
        </p:spPr>
        <p:txBody>
          <a:bodyPr/>
          <a:lstStyle/>
          <a:p>
            <a:endParaRPr lang="en-US"/>
          </a:p>
        </p:txBody>
      </p:sp>
      <p:sp>
        <p:nvSpPr>
          <p:cNvPr id="98" name="Rounded Rectangle 97">
            <a:extLst>
              <a:ext uri="{FF2B5EF4-FFF2-40B4-BE49-F238E27FC236}">
                <a16:creationId xmlns:a16="http://schemas.microsoft.com/office/drawing/2014/main" id="{EE952E1E-5298-4248-B251-9F8BBB95B31E}"/>
              </a:ext>
            </a:extLst>
          </p:cNvPr>
          <p:cNvSpPr>
            <a:spLocks noGrp="1"/>
          </p:cNvSpPr>
          <p:nvPr/>
        </p:nvSpPr>
        <p:spPr>
          <a:xfrm>
            <a:off x="5772150" y="27432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99" name="Rounded Rectangle 98">
            <a:extLst>
              <a:ext uri="{FF2B5EF4-FFF2-40B4-BE49-F238E27FC236}">
                <a16:creationId xmlns:a16="http://schemas.microsoft.com/office/drawing/2014/main" id="{C86E3A8F-05FD-4C77-B107-0281E2036C15}"/>
              </a:ext>
            </a:extLst>
          </p:cNvPr>
          <p:cNvSpPr>
            <a:spLocks noGrp="1"/>
          </p:cNvSpPr>
          <p:nvPr/>
        </p:nvSpPr>
        <p:spPr>
          <a:xfrm>
            <a:off x="6419850" y="27432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00" name="Rounded Rectangle 99">
            <a:extLst>
              <a:ext uri="{FF2B5EF4-FFF2-40B4-BE49-F238E27FC236}">
                <a16:creationId xmlns:a16="http://schemas.microsoft.com/office/drawing/2014/main" id="{B99FA729-BDA5-4CBB-94AA-C994464716E8}"/>
              </a:ext>
            </a:extLst>
          </p:cNvPr>
          <p:cNvSpPr>
            <a:spLocks noGrp="1"/>
          </p:cNvSpPr>
          <p:nvPr/>
        </p:nvSpPr>
        <p:spPr>
          <a:xfrm>
            <a:off x="7067550" y="27432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01" name="Rounded Rectangle 100">
            <a:extLst>
              <a:ext uri="{FF2B5EF4-FFF2-40B4-BE49-F238E27FC236}">
                <a16:creationId xmlns:a16="http://schemas.microsoft.com/office/drawing/2014/main" id="{08056F27-CD70-415D-8661-70A32A8A86FF}"/>
              </a:ext>
            </a:extLst>
          </p:cNvPr>
          <p:cNvSpPr>
            <a:spLocks noGrp="1"/>
          </p:cNvSpPr>
          <p:nvPr/>
        </p:nvSpPr>
        <p:spPr>
          <a:xfrm>
            <a:off x="7715250" y="27432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02" name="Rounded Rectangle 101">
            <a:extLst>
              <a:ext uri="{FF2B5EF4-FFF2-40B4-BE49-F238E27FC236}">
                <a16:creationId xmlns:a16="http://schemas.microsoft.com/office/drawing/2014/main" id="{4B575AF1-0878-42F4-A820-30EEE770BD0F}"/>
              </a:ext>
            </a:extLst>
          </p:cNvPr>
          <p:cNvSpPr>
            <a:spLocks noGrp="1"/>
          </p:cNvSpPr>
          <p:nvPr/>
        </p:nvSpPr>
        <p:spPr>
          <a:xfrm>
            <a:off x="8362950" y="27432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03" name="Rounded Rectangle 102">
            <a:extLst>
              <a:ext uri="{FF2B5EF4-FFF2-40B4-BE49-F238E27FC236}">
                <a16:creationId xmlns:a16="http://schemas.microsoft.com/office/drawing/2014/main" id="{FACEFBD7-A6B8-417D-ABB9-C338E93CE800}"/>
              </a:ext>
            </a:extLst>
          </p:cNvPr>
          <p:cNvSpPr>
            <a:spLocks noGrp="1"/>
          </p:cNvSpPr>
          <p:nvPr/>
        </p:nvSpPr>
        <p:spPr>
          <a:xfrm>
            <a:off x="9010650" y="2743200"/>
            <a:ext cx="249555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04" name="Rectangle 103">
            <a:extLst>
              <a:ext uri="{FF2B5EF4-FFF2-40B4-BE49-F238E27FC236}">
                <a16:creationId xmlns:a16="http://schemas.microsoft.com/office/drawing/2014/main" id="{D8AAB0F2-92F7-4A77-9589-AD710791EEDB}"/>
              </a:ext>
            </a:extLst>
          </p:cNvPr>
          <p:cNvSpPr>
            <a:spLocks noGrp="1"/>
          </p:cNvSpPr>
          <p:nvPr/>
        </p:nvSpPr>
        <p:spPr>
          <a:xfrm>
            <a:off x="9124950" y="2809875"/>
            <a:ext cx="2266950" cy="238125"/>
          </a:xfrm>
          <a:prstGeom prst="rect">
            <a:avLst/>
          </a:prstGeom>
          <a:noFill/>
          <a:ln w="0">
            <a:noFill/>
          </a:ln>
        </p:spPr>
        <p:txBody>
          <a:bodyPr wrap="square" lIns="0" tIns="0" rIns="0" bIns="0" anchor="t">
            <a:normAutofit/>
          </a:bodyPr>
          <a:lstStyle/>
          <a:p>
            <a:pPr algn="l">
              <a:lnSpc>
                <a:spcPct val="95000"/>
              </a:lnSpc>
              <a:buNone/>
              <a:defRPr sz="773" b="0">
                <a:solidFill>
                  <a:srgbClr val="50658E"/>
                </a:solidFill>
                <a:latin typeface="Arial"/>
                <a:ea typeface="Arial"/>
                <a:cs typeface="Arial"/>
              </a:defRPr>
            </a:pPr>
            <a:r>
              <a:rPr lang="en-US" sz="773" b="0">
                <a:solidFill>
                  <a:srgbClr val="50658E"/>
                </a:solidFill>
                <a:latin typeface="Arial"/>
                <a:ea typeface="Arial"/>
                <a:cs typeface="Arial"/>
              </a:rPr>
              <a:t>Application portfolio fact base</a:t>
            </a:r>
            <a:endParaRPr sz="773" b="0">
              <a:solidFill>
                <a:srgbClr val="50658E"/>
              </a:solidFill>
              <a:latin typeface="Arial"/>
              <a:ea typeface="Arial"/>
              <a:cs typeface="Arial"/>
            </a:endParaRPr>
          </a:p>
        </p:txBody>
      </p:sp>
      <p:sp>
        <p:nvSpPr>
          <p:cNvPr id="105" name="Rounded Rectangle 104">
            <a:extLst>
              <a:ext uri="{FF2B5EF4-FFF2-40B4-BE49-F238E27FC236}">
                <a16:creationId xmlns:a16="http://schemas.microsoft.com/office/drawing/2014/main" id="{AE2DFFBF-FE42-42CB-89A4-E55917A86111}"/>
              </a:ext>
            </a:extLst>
          </p:cNvPr>
          <p:cNvSpPr>
            <a:spLocks noGrp="1"/>
          </p:cNvSpPr>
          <p:nvPr/>
        </p:nvSpPr>
        <p:spPr>
          <a:xfrm>
            <a:off x="685800" y="3105150"/>
            <a:ext cx="314325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06" name="Rectangle 105">
            <a:extLst>
              <a:ext uri="{FF2B5EF4-FFF2-40B4-BE49-F238E27FC236}">
                <a16:creationId xmlns:a16="http://schemas.microsoft.com/office/drawing/2014/main" id="{D3705BE4-09BD-4055-A85D-F16B07CE5E7B}"/>
              </a:ext>
            </a:extLst>
          </p:cNvPr>
          <p:cNvSpPr>
            <a:spLocks noGrp="1"/>
          </p:cNvSpPr>
          <p:nvPr/>
        </p:nvSpPr>
        <p:spPr>
          <a:xfrm>
            <a:off x="800100" y="3171825"/>
            <a:ext cx="2914650" cy="238125"/>
          </a:xfrm>
          <a:prstGeom prst="rect">
            <a:avLst/>
          </a:prstGeom>
          <a:noFill/>
          <a:ln w="0">
            <a:noFill/>
          </a:ln>
        </p:spPr>
        <p:txBody>
          <a:bodyPr wrap="square" lIns="0" tIns="0" rIns="0" bIns="0" anchor="t">
            <a:normAutofit/>
          </a:bodyPr>
          <a:lstStyle/>
          <a:p>
            <a:pPr algn="l">
              <a:lnSpc>
                <a:spcPct val="95000"/>
              </a:lnSpc>
              <a:buNone/>
              <a:defRPr sz="788" b="0">
                <a:solidFill>
                  <a:srgbClr val="070154"/>
                </a:solidFill>
                <a:latin typeface="Arial"/>
                <a:ea typeface="Arial"/>
                <a:cs typeface="Arial"/>
              </a:defRPr>
            </a:pPr>
            <a:r>
              <a:rPr lang="en-US" sz="788" b="0">
                <a:solidFill>
                  <a:srgbClr val="070154"/>
                </a:solidFill>
                <a:latin typeface="Arial"/>
                <a:ea typeface="Arial"/>
                <a:cs typeface="Arial"/>
              </a:rPr>
              <a:t>Assess business value and strategic fit</a:t>
            </a:r>
            <a:endParaRPr sz="788" b="0">
              <a:solidFill>
                <a:srgbClr val="070154"/>
              </a:solidFill>
              <a:latin typeface="Arial"/>
              <a:ea typeface="Arial"/>
              <a:cs typeface="Arial"/>
            </a:endParaRPr>
          </a:p>
        </p:txBody>
      </p:sp>
      <p:sp>
        <p:nvSpPr>
          <p:cNvPr id="107" name="Rounded Rectangle 106">
            <a:extLst>
              <a:ext uri="{FF2B5EF4-FFF2-40B4-BE49-F238E27FC236}">
                <a16:creationId xmlns:a16="http://schemas.microsoft.com/office/drawing/2014/main" id="{BA4572C4-B75D-4DCB-A834-1E02CA61E86D}"/>
              </a:ext>
            </a:extLst>
          </p:cNvPr>
          <p:cNvSpPr>
            <a:spLocks noGrp="1"/>
          </p:cNvSpPr>
          <p:nvPr/>
        </p:nvSpPr>
        <p:spPr>
          <a:xfrm>
            <a:off x="3829050" y="31051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08" name="Rounded Rectangle 107">
            <a:extLst>
              <a:ext uri="{FF2B5EF4-FFF2-40B4-BE49-F238E27FC236}">
                <a16:creationId xmlns:a16="http://schemas.microsoft.com/office/drawing/2014/main" id="{38143154-A60C-456E-ACA1-564D592BF692}"/>
              </a:ext>
            </a:extLst>
          </p:cNvPr>
          <p:cNvSpPr>
            <a:spLocks noGrp="1"/>
          </p:cNvSpPr>
          <p:nvPr/>
        </p:nvSpPr>
        <p:spPr>
          <a:xfrm>
            <a:off x="4476750" y="31051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09" name="Rounded Rectangle 108">
            <a:extLst>
              <a:ext uri="{FF2B5EF4-FFF2-40B4-BE49-F238E27FC236}">
                <a16:creationId xmlns:a16="http://schemas.microsoft.com/office/drawing/2014/main" id="{C93DC7A1-AF68-439A-9313-AF9BB93FF9FF}"/>
              </a:ext>
            </a:extLst>
          </p:cNvPr>
          <p:cNvSpPr>
            <a:spLocks noGrp="1"/>
          </p:cNvSpPr>
          <p:nvPr/>
        </p:nvSpPr>
        <p:spPr>
          <a:xfrm>
            <a:off x="4552950" y="3200400"/>
            <a:ext cx="495300" cy="171450"/>
          </a:xfrm>
          <a:prstGeom prst="roundRect">
            <a:avLst>
              <a:gd name="adj" fmla="val 44444"/>
            </a:avLst>
          </a:prstGeom>
          <a:solidFill>
            <a:srgbClr val="0047FF"/>
          </a:solidFill>
          <a:ln w="0">
            <a:noFill/>
            <a:prstDash val="solid"/>
          </a:ln>
        </p:spPr>
        <p:txBody>
          <a:bodyPr/>
          <a:lstStyle/>
          <a:p>
            <a:endParaRPr lang="en-US"/>
          </a:p>
        </p:txBody>
      </p:sp>
      <p:sp>
        <p:nvSpPr>
          <p:cNvPr id="110" name="Rounded Rectangle 109">
            <a:extLst>
              <a:ext uri="{FF2B5EF4-FFF2-40B4-BE49-F238E27FC236}">
                <a16:creationId xmlns:a16="http://schemas.microsoft.com/office/drawing/2014/main" id="{D7B7F3FE-7830-4363-B680-ED1BAEB450A6}"/>
              </a:ext>
            </a:extLst>
          </p:cNvPr>
          <p:cNvSpPr>
            <a:spLocks noGrp="1"/>
          </p:cNvSpPr>
          <p:nvPr/>
        </p:nvSpPr>
        <p:spPr>
          <a:xfrm>
            <a:off x="5124450" y="31051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11" name="Rounded Rectangle 110">
            <a:extLst>
              <a:ext uri="{FF2B5EF4-FFF2-40B4-BE49-F238E27FC236}">
                <a16:creationId xmlns:a16="http://schemas.microsoft.com/office/drawing/2014/main" id="{68BE962F-0409-44D1-9D68-4E4FE3305DD1}"/>
              </a:ext>
            </a:extLst>
          </p:cNvPr>
          <p:cNvSpPr>
            <a:spLocks noGrp="1"/>
          </p:cNvSpPr>
          <p:nvPr/>
        </p:nvSpPr>
        <p:spPr>
          <a:xfrm>
            <a:off x="5200650" y="3200400"/>
            <a:ext cx="495300" cy="171450"/>
          </a:xfrm>
          <a:prstGeom prst="roundRect">
            <a:avLst>
              <a:gd name="adj" fmla="val 44444"/>
            </a:avLst>
          </a:prstGeom>
          <a:solidFill>
            <a:srgbClr val="0047FF"/>
          </a:solidFill>
          <a:ln w="0">
            <a:noFill/>
            <a:prstDash val="solid"/>
          </a:ln>
        </p:spPr>
        <p:txBody>
          <a:bodyPr/>
          <a:lstStyle/>
          <a:p>
            <a:endParaRPr lang="en-US"/>
          </a:p>
        </p:txBody>
      </p:sp>
      <p:sp>
        <p:nvSpPr>
          <p:cNvPr id="112" name="Rounded Rectangle 111">
            <a:extLst>
              <a:ext uri="{FF2B5EF4-FFF2-40B4-BE49-F238E27FC236}">
                <a16:creationId xmlns:a16="http://schemas.microsoft.com/office/drawing/2014/main" id="{CE510727-F0D7-42BA-848B-3B084CF334E4}"/>
              </a:ext>
            </a:extLst>
          </p:cNvPr>
          <p:cNvSpPr>
            <a:spLocks noGrp="1"/>
          </p:cNvSpPr>
          <p:nvPr/>
        </p:nvSpPr>
        <p:spPr>
          <a:xfrm>
            <a:off x="5772150" y="31051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13" name="Rounded Rectangle 112">
            <a:extLst>
              <a:ext uri="{FF2B5EF4-FFF2-40B4-BE49-F238E27FC236}">
                <a16:creationId xmlns:a16="http://schemas.microsoft.com/office/drawing/2014/main" id="{D1C15F3D-B244-4299-9C69-0AC1BF00BC4B}"/>
              </a:ext>
            </a:extLst>
          </p:cNvPr>
          <p:cNvSpPr>
            <a:spLocks noGrp="1"/>
          </p:cNvSpPr>
          <p:nvPr/>
        </p:nvSpPr>
        <p:spPr>
          <a:xfrm>
            <a:off x="5848350" y="3200400"/>
            <a:ext cx="495300" cy="171450"/>
          </a:xfrm>
          <a:prstGeom prst="roundRect">
            <a:avLst>
              <a:gd name="adj" fmla="val 44444"/>
            </a:avLst>
          </a:prstGeom>
          <a:solidFill>
            <a:srgbClr val="0047FF"/>
          </a:solidFill>
          <a:ln w="0">
            <a:noFill/>
            <a:prstDash val="solid"/>
          </a:ln>
        </p:spPr>
        <p:txBody>
          <a:bodyPr/>
          <a:lstStyle/>
          <a:p>
            <a:endParaRPr lang="en-US"/>
          </a:p>
        </p:txBody>
      </p:sp>
      <p:sp>
        <p:nvSpPr>
          <p:cNvPr id="114" name="Rounded Rectangle 113">
            <a:extLst>
              <a:ext uri="{FF2B5EF4-FFF2-40B4-BE49-F238E27FC236}">
                <a16:creationId xmlns:a16="http://schemas.microsoft.com/office/drawing/2014/main" id="{6B99BB6E-1864-4A31-A74D-1A62C89C3534}"/>
              </a:ext>
            </a:extLst>
          </p:cNvPr>
          <p:cNvSpPr>
            <a:spLocks noGrp="1"/>
          </p:cNvSpPr>
          <p:nvPr/>
        </p:nvSpPr>
        <p:spPr>
          <a:xfrm>
            <a:off x="6419850" y="31051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15" name="Rounded Rectangle 114">
            <a:extLst>
              <a:ext uri="{FF2B5EF4-FFF2-40B4-BE49-F238E27FC236}">
                <a16:creationId xmlns:a16="http://schemas.microsoft.com/office/drawing/2014/main" id="{9800BE73-E762-43B8-8E8A-F5B1FAAED7D0}"/>
              </a:ext>
            </a:extLst>
          </p:cNvPr>
          <p:cNvSpPr>
            <a:spLocks noGrp="1"/>
          </p:cNvSpPr>
          <p:nvPr/>
        </p:nvSpPr>
        <p:spPr>
          <a:xfrm>
            <a:off x="6496050" y="3200400"/>
            <a:ext cx="495300" cy="171450"/>
          </a:xfrm>
          <a:prstGeom prst="roundRect">
            <a:avLst>
              <a:gd name="adj" fmla="val 44444"/>
            </a:avLst>
          </a:prstGeom>
          <a:solidFill>
            <a:srgbClr val="50658E"/>
          </a:solidFill>
          <a:ln w="0">
            <a:noFill/>
            <a:prstDash val="solid"/>
          </a:ln>
        </p:spPr>
        <p:txBody>
          <a:bodyPr/>
          <a:lstStyle/>
          <a:p>
            <a:endParaRPr lang="en-US"/>
          </a:p>
        </p:txBody>
      </p:sp>
      <p:sp>
        <p:nvSpPr>
          <p:cNvPr id="116" name="Rounded Rectangle 115">
            <a:extLst>
              <a:ext uri="{FF2B5EF4-FFF2-40B4-BE49-F238E27FC236}">
                <a16:creationId xmlns:a16="http://schemas.microsoft.com/office/drawing/2014/main" id="{110B0606-585B-47A8-804A-D1E2C554D598}"/>
              </a:ext>
            </a:extLst>
          </p:cNvPr>
          <p:cNvSpPr>
            <a:spLocks noGrp="1"/>
          </p:cNvSpPr>
          <p:nvPr/>
        </p:nvSpPr>
        <p:spPr>
          <a:xfrm>
            <a:off x="7067550" y="31051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17" name="Rounded Rectangle 116">
            <a:extLst>
              <a:ext uri="{FF2B5EF4-FFF2-40B4-BE49-F238E27FC236}">
                <a16:creationId xmlns:a16="http://schemas.microsoft.com/office/drawing/2014/main" id="{0C16B43F-BE23-457B-BBD5-CD393D759AF5}"/>
              </a:ext>
            </a:extLst>
          </p:cNvPr>
          <p:cNvSpPr>
            <a:spLocks noGrp="1"/>
          </p:cNvSpPr>
          <p:nvPr/>
        </p:nvSpPr>
        <p:spPr>
          <a:xfrm>
            <a:off x="7715250" y="31051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18" name="Rounded Rectangle 117">
            <a:extLst>
              <a:ext uri="{FF2B5EF4-FFF2-40B4-BE49-F238E27FC236}">
                <a16:creationId xmlns:a16="http://schemas.microsoft.com/office/drawing/2014/main" id="{9E6F86C7-BFCC-40A6-B38A-AE2823D07290}"/>
              </a:ext>
            </a:extLst>
          </p:cNvPr>
          <p:cNvSpPr>
            <a:spLocks noGrp="1"/>
          </p:cNvSpPr>
          <p:nvPr/>
        </p:nvSpPr>
        <p:spPr>
          <a:xfrm>
            <a:off x="8362950" y="31051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19" name="Rounded Rectangle 118">
            <a:extLst>
              <a:ext uri="{FF2B5EF4-FFF2-40B4-BE49-F238E27FC236}">
                <a16:creationId xmlns:a16="http://schemas.microsoft.com/office/drawing/2014/main" id="{63E813F8-28B0-44D0-BE8B-3E77552DC71E}"/>
              </a:ext>
            </a:extLst>
          </p:cNvPr>
          <p:cNvSpPr>
            <a:spLocks noGrp="1"/>
          </p:cNvSpPr>
          <p:nvPr/>
        </p:nvSpPr>
        <p:spPr>
          <a:xfrm>
            <a:off x="9010650" y="3105150"/>
            <a:ext cx="249555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20" name="Rectangle 119">
            <a:extLst>
              <a:ext uri="{FF2B5EF4-FFF2-40B4-BE49-F238E27FC236}">
                <a16:creationId xmlns:a16="http://schemas.microsoft.com/office/drawing/2014/main" id="{B0DEA873-3D8B-44F5-948C-F2C136FAD23C}"/>
              </a:ext>
            </a:extLst>
          </p:cNvPr>
          <p:cNvSpPr>
            <a:spLocks noGrp="1"/>
          </p:cNvSpPr>
          <p:nvPr/>
        </p:nvSpPr>
        <p:spPr>
          <a:xfrm>
            <a:off x="9124950" y="3171825"/>
            <a:ext cx="2266950" cy="238125"/>
          </a:xfrm>
          <a:prstGeom prst="rect">
            <a:avLst/>
          </a:prstGeom>
          <a:noFill/>
          <a:ln w="0">
            <a:noFill/>
          </a:ln>
        </p:spPr>
        <p:txBody>
          <a:bodyPr wrap="square" lIns="0" tIns="0" rIns="0" bIns="0" anchor="t">
            <a:normAutofit/>
          </a:bodyPr>
          <a:lstStyle/>
          <a:p>
            <a:pPr algn="l">
              <a:lnSpc>
                <a:spcPct val="95000"/>
              </a:lnSpc>
              <a:buNone/>
              <a:defRPr sz="773" b="0">
                <a:solidFill>
                  <a:srgbClr val="50658E"/>
                </a:solidFill>
                <a:latin typeface="Arial"/>
                <a:ea typeface="Arial"/>
                <a:cs typeface="Arial"/>
              </a:defRPr>
            </a:pPr>
            <a:r>
              <a:rPr lang="en-US" sz="773" b="0">
                <a:solidFill>
                  <a:srgbClr val="50658E"/>
                </a:solidFill>
                <a:latin typeface="Arial"/>
                <a:ea typeface="Arial"/>
                <a:cs typeface="Arial"/>
              </a:rPr>
              <a:t>Business value profile</a:t>
            </a:r>
            <a:endParaRPr sz="773" b="0">
              <a:solidFill>
                <a:srgbClr val="50658E"/>
              </a:solidFill>
              <a:latin typeface="Arial"/>
              <a:ea typeface="Arial"/>
              <a:cs typeface="Arial"/>
            </a:endParaRPr>
          </a:p>
        </p:txBody>
      </p:sp>
      <p:sp>
        <p:nvSpPr>
          <p:cNvPr id="121" name="Rounded Rectangle 120">
            <a:extLst>
              <a:ext uri="{FF2B5EF4-FFF2-40B4-BE49-F238E27FC236}">
                <a16:creationId xmlns:a16="http://schemas.microsoft.com/office/drawing/2014/main" id="{3A95F250-3D34-4858-9866-893BE520A248}"/>
              </a:ext>
            </a:extLst>
          </p:cNvPr>
          <p:cNvSpPr>
            <a:spLocks noGrp="1"/>
          </p:cNvSpPr>
          <p:nvPr/>
        </p:nvSpPr>
        <p:spPr>
          <a:xfrm>
            <a:off x="685800" y="3467100"/>
            <a:ext cx="314325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22" name="Rectangle 121">
            <a:extLst>
              <a:ext uri="{FF2B5EF4-FFF2-40B4-BE49-F238E27FC236}">
                <a16:creationId xmlns:a16="http://schemas.microsoft.com/office/drawing/2014/main" id="{7D392E32-1158-4E54-945A-DCC01705C2DD}"/>
              </a:ext>
            </a:extLst>
          </p:cNvPr>
          <p:cNvSpPr>
            <a:spLocks noGrp="1"/>
          </p:cNvSpPr>
          <p:nvPr/>
        </p:nvSpPr>
        <p:spPr>
          <a:xfrm>
            <a:off x="800100" y="3533775"/>
            <a:ext cx="2914650" cy="238125"/>
          </a:xfrm>
          <a:prstGeom prst="rect">
            <a:avLst/>
          </a:prstGeom>
          <a:noFill/>
          <a:ln w="0">
            <a:noFill/>
          </a:ln>
        </p:spPr>
        <p:txBody>
          <a:bodyPr wrap="square" lIns="0" tIns="0" rIns="0" bIns="0" anchor="t">
            <a:normAutofit/>
          </a:bodyPr>
          <a:lstStyle/>
          <a:p>
            <a:pPr algn="l">
              <a:lnSpc>
                <a:spcPct val="95000"/>
              </a:lnSpc>
              <a:buNone/>
              <a:defRPr sz="788" b="0">
                <a:solidFill>
                  <a:srgbClr val="070154"/>
                </a:solidFill>
                <a:latin typeface="Arial"/>
                <a:ea typeface="Arial"/>
                <a:cs typeface="Arial"/>
              </a:defRPr>
            </a:pPr>
            <a:r>
              <a:rPr lang="en-US" sz="788" b="0">
                <a:solidFill>
                  <a:srgbClr val="070154"/>
                </a:solidFill>
                <a:latin typeface="Arial"/>
                <a:ea typeface="Arial"/>
                <a:cs typeface="Arial"/>
              </a:rPr>
              <a:t>Assess technical health, risk, and dependencies</a:t>
            </a:r>
            <a:endParaRPr sz="788" b="0">
              <a:solidFill>
                <a:srgbClr val="070154"/>
              </a:solidFill>
              <a:latin typeface="Arial"/>
              <a:ea typeface="Arial"/>
              <a:cs typeface="Arial"/>
            </a:endParaRPr>
          </a:p>
        </p:txBody>
      </p:sp>
      <p:sp>
        <p:nvSpPr>
          <p:cNvPr id="123" name="Rounded Rectangle 122">
            <a:extLst>
              <a:ext uri="{FF2B5EF4-FFF2-40B4-BE49-F238E27FC236}">
                <a16:creationId xmlns:a16="http://schemas.microsoft.com/office/drawing/2014/main" id="{4626A362-C63D-44B7-AC5B-05A9A5A0D36C}"/>
              </a:ext>
            </a:extLst>
          </p:cNvPr>
          <p:cNvSpPr>
            <a:spLocks noGrp="1"/>
          </p:cNvSpPr>
          <p:nvPr/>
        </p:nvSpPr>
        <p:spPr>
          <a:xfrm>
            <a:off x="3829050" y="34671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24" name="Rounded Rectangle 123">
            <a:extLst>
              <a:ext uri="{FF2B5EF4-FFF2-40B4-BE49-F238E27FC236}">
                <a16:creationId xmlns:a16="http://schemas.microsoft.com/office/drawing/2014/main" id="{247BE1A4-17A2-41B1-AE93-6ACA413EF612}"/>
              </a:ext>
            </a:extLst>
          </p:cNvPr>
          <p:cNvSpPr>
            <a:spLocks noGrp="1"/>
          </p:cNvSpPr>
          <p:nvPr/>
        </p:nvSpPr>
        <p:spPr>
          <a:xfrm>
            <a:off x="4476750" y="34671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25" name="Rounded Rectangle 124">
            <a:extLst>
              <a:ext uri="{FF2B5EF4-FFF2-40B4-BE49-F238E27FC236}">
                <a16:creationId xmlns:a16="http://schemas.microsoft.com/office/drawing/2014/main" id="{954FDEA0-B3F1-42DD-8FD6-AB2AE4900B44}"/>
              </a:ext>
            </a:extLst>
          </p:cNvPr>
          <p:cNvSpPr>
            <a:spLocks noGrp="1"/>
          </p:cNvSpPr>
          <p:nvPr/>
        </p:nvSpPr>
        <p:spPr>
          <a:xfrm>
            <a:off x="4552950" y="3562350"/>
            <a:ext cx="495300" cy="171450"/>
          </a:xfrm>
          <a:prstGeom prst="roundRect">
            <a:avLst>
              <a:gd name="adj" fmla="val 44444"/>
            </a:avLst>
          </a:prstGeom>
          <a:solidFill>
            <a:srgbClr val="0047FF"/>
          </a:solidFill>
          <a:ln w="0">
            <a:noFill/>
            <a:prstDash val="solid"/>
          </a:ln>
        </p:spPr>
        <p:txBody>
          <a:bodyPr/>
          <a:lstStyle/>
          <a:p>
            <a:endParaRPr lang="en-US"/>
          </a:p>
        </p:txBody>
      </p:sp>
      <p:sp>
        <p:nvSpPr>
          <p:cNvPr id="126" name="Rounded Rectangle 125">
            <a:extLst>
              <a:ext uri="{FF2B5EF4-FFF2-40B4-BE49-F238E27FC236}">
                <a16:creationId xmlns:a16="http://schemas.microsoft.com/office/drawing/2014/main" id="{7C80BB20-7F33-42D0-A4B3-5D524022EA04}"/>
              </a:ext>
            </a:extLst>
          </p:cNvPr>
          <p:cNvSpPr>
            <a:spLocks noGrp="1"/>
          </p:cNvSpPr>
          <p:nvPr/>
        </p:nvSpPr>
        <p:spPr>
          <a:xfrm>
            <a:off x="5124450" y="34671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27" name="Rounded Rectangle 126">
            <a:extLst>
              <a:ext uri="{FF2B5EF4-FFF2-40B4-BE49-F238E27FC236}">
                <a16:creationId xmlns:a16="http://schemas.microsoft.com/office/drawing/2014/main" id="{A4475CE8-E6A1-427F-9950-4E3C0C771794}"/>
              </a:ext>
            </a:extLst>
          </p:cNvPr>
          <p:cNvSpPr>
            <a:spLocks noGrp="1"/>
          </p:cNvSpPr>
          <p:nvPr/>
        </p:nvSpPr>
        <p:spPr>
          <a:xfrm>
            <a:off x="5200650" y="3562350"/>
            <a:ext cx="495300" cy="171450"/>
          </a:xfrm>
          <a:prstGeom prst="roundRect">
            <a:avLst>
              <a:gd name="adj" fmla="val 44444"/>
            </a:avLst>
          </a:prstGeom>
          <a:solidFill>
            <a:srgbClr val="0047FF"/>
          </a:solidFill>
          <a:ln w="0">
            <a:noFill/>
            <a:prstDash val="solid"/>
          </a:ln>
        </p:spPr>
        <p:txBody>
          <a:bodyPr/>
          <a:lstStyle/>
          <a:p>
            <a:endParaRPr lang="en-US"/>
          </a:p>
        </p:txBody>
      </p:sp>
      <p:sp>
        <p:nvSpPr>
          <p:cNvPr id="128" name="Rounded Rectangle 127">
            <a:extLst>
              <a:ext uri="{FF2B5EF4-FFF2-40B4-BE49-F238E27FC236}">
                <a16:creationId xmlns:a16="http://schemas.microsoft.com/office/drawing/2014/main" id="{D7D074A4-28FC-4F48-ADEF-821EF609EB49}"/>
              </a:ext>
            </a:extLst>
          </p:cNvPr>
          <p:cNvSpPr>
            <a:spLocks noGrp="1"/>
          </p:cNvSpPr>
          <p:nvPr/>
        </p:nvSpPr>
        <p:spPr>
          <a:xfrm>
            <a:off x="5772150" y="34671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29" name="Rounded Rectangle 128">
            <a:extLst>
              <a:ext uri="{FF2B5EF4-FFF2-40B4-BE49-F238E27FC236}">
                <a16:creationId xmlns:a16="http://schemas.microsoft.com/office/drawing/2014/main" id="{CB75F19B-F850-4CA3-A5C1-43BC58620915}"/>
              </a:ext>
            </a:extLst>
          </p:cNvPr>
          <p:cNvSpPr>
            <a:spLocks noGrp="1"/>
          </p:cNvSpPr>
          <p:nvPr/>
        </p:nvSpPr>
        <p:spPr>
          <a:xfrm>
            <a:off x="5848350" y="3562350"/>
            <a:ext cx="495300" cy="171450"/>
          </a:xfrm>
          <a:prstGeom prst="roundRect">
            <a:avLst>
              <a:gd name="adj" fmla="val 44444"/>
            </a:avLst>
          </a:prstGeom>
          <a:solidFill>
            <a:srgbClr val="0047FF"/>
          </a:solidFill>
          <a:ln w="0">
            <a:noFill/>
            <a:prstDash val="solid"/>
          </a:ln>
        </p:spPr>
        <p:txBody>
          <a:bodyPr/>
          <a:lstStyle/>
          <a:p>
            <a:endParaRPr lang="en-US"/>
          </a:p>
        </p:txBody>
      </p:sp>
      <p:sp>
        <p:nvSpPr>
          <p:cNvPr id="130" name="Rounded Rectangle 129">
            <a:extLst>
              <a:ext uri="{FF2B5EF4-FFF2-40B4-BE49-F238E27FC236}">
                <a16:creationId xmlns:a16="http://schemas.microsoft.com/office/drawing/2014/main" id="{2391DA70-12DF-4B31-8E16-C0F2EC4A63FB}"/>
              </a:ext>
            </a:extLst>
          </p:cNvPr>
          <p:cNvSpPr>
            <a:spLocks noGrp="1"/>
          </p:cNvSpPr>
          <p:nvPr/>
        </p:nvSpPr>
        <p:spPr>
          <a:xfrm>
            <a:off x="6419850" y="34671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31" name="Rounded Rectangle 130">
            <a:extLst>
              <a:ext uri="{FF2B5EF4-FFF2-40B4-BE49-F238E27FC236}">
                <a16:creationId xmlns:a16="http://schemas.microsoft.com/office/drawing/2014/main" id="{04C6517F-D872-4EE5-9265-AD7946243864}"/>
              </a:ext>
            </a:extLst>
          </p:cNvPr>
          <p:cNvSpPr>
            <a:spLocks noGrp="1"/>
          </p:cNvSpPr>
          <p:nvPr/>
        </p:nvSpPr>
        <p:spPr>
          <a:xfrm>
            <a:off x="6496050" y="3562350"/>
            <a:ext cx="495300" cy="171450"/>
          </a:xfrm>
          <a:prstGeom prst="roundRect">
            <a:avLst>
              <a:gd name="adj" fmla="val 44444"/>
            </a:avLst>
          </a:prstGeom>
          <a:solidFill>
            <a:srgbClr val="50658E"/>
          </a:solidFill>
          <a:ln w="0">
            <a:noFill/>
            <a:prstDash val="solid"/>
          </a:ln>
        </p:spPr>
        <p:txBody>
          <a:bodyPr/>
          <a:lstStyle/>
          <a:p>
            <a:endParaRPr lang="en-US"/>
          </a:p>
        </p:txBody>
      </p:sp>
      <p:sp>
        <p:nvSpPr>
          <p:cNvPr id="132" name="Rounded Rectangle 131">
            <a:extLst>
              <a:ext uri="{FF2B5EF4-FFF2-40B4-BE49-F238E27FC236}">
                <a16:creationId xmlns:a16="http://schemas.microsoft.com/office/drawing/2014/main" id="{4392C8B8-4C82-4DBB-8923-1034F921D090}"/>
              </a:ext>
            </a:extLst>
          </p:cNvPr>
          <p:cNvSpPr>
            <a:spLocks noGrp="1"/>
          </p:cNvSpPr>
          <p:nvPr/>
        </p:nvSpPr>
        <p:spPr>
          <a:xfrm>
            <a:off x="7067550" y="34671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33" name="Rounded Rectangle 132">
            <a:extLst>
              <a:ext uri="{FF2B5EF4-FFF2-40B4-BE49-F238E27FC236}">
                <a16:creationId xmlns:a16="http://schemas.microsoft.com/office/drawing/2014/main" id="{91173B2D-3F51-4D52-AA36-9883AF4A344A}"/>
              </a:ext>
            </a:extLst>
          </p:cNvPr>
          <p:cNvSpPr>
            <a:spLocks noGrp="1"/>
          </p:cNvSpPr>
          <p:nvPr/>
        </p:nvSpPr>
        <p:spPr>
          <a:xfrm>
            <a:off x="7715250" y="34671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34" name="Rounded Rectangle 133">
            <a:extLst>
              <a:ext uri="{FF2B5EF4-FFF2-40B4-BE49-F238E27FC236}">
                <a16:creationId xmlns:a16="http://schemas.microsoft.com/office/drawing/2014/main" id="{9FA9B267-74C6-402D-8386-18B308A96142}"/>
              </a:ext>
            </a:extLst>
          </p:cNvPr>
          <p:cNvSpPr>
            <a:spLocks noGrp="1"/>
          </p:cNvSpPr>
          <p:nvPr/>
        </p:nvSpPr>
        <p:spPr>
          <a:xfrm>
            <a:off x="8362950" y="34671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35" name="Rounded Rectangle 134">
            <a:extLst>
              <a:ext uri="{FF2B5EF4-FFF2-40B4-BE49-F238E27FC236}">
                <a16:creationId xmlns:a16="http://schemas.microsoft.com/office/drawing/2014/main" id="{0CD0AEEB-302F-472F-93CE-D0BEE4F9128E}"/>
              </a:ext>
            </a:extLst>
          </p:cNvPr>
          <p:cNvSpPr>
            <a:spLocks noGrp="1"/>
          </p:cNvSpPr>
          <p:nvPr/>
        </p:nvSpPr>
        <p:spPr>
          <a:xfrm>
            <a:off x="9010650" y="3467100"/>
            <a:ext cx="249555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36" name="Rectangle 135">
            <a:extLst>
              <a:ext uri="{FF2B5EF4-FFF2-40B4-BE49-F238E27FC236}">
                <a16:creationId xmlns:a16="http://schemas.microsoft.com/office/drawing/2014/main" id="{EF554F4B-D557-4BEC-BD3F-D279B23F7B9E}"/>
              </a:ext>
            </a:extLst>
          </p:cNvPr>
          <p:cNvSpPr>
            <a:spLocks noGrp="1"/>
          </p:cNvSpPr>
          <p:nvPr/>
        </p:nvSpPr>
        <p:spPr>
          <a:xfrm>
            <a:off x="9124950" y="3533775"/>
            <a:ext cx="2266950" cy="238125"/>
          </a:xfrm>
          <a:prstGeom prst="rect">
            <a:avLst/>
          </a:prstGeom>
          <a:noFill/>
          <a:ln w="0">
            <a:noFill/>
          </a:ln>
        </p:spPr>
        <p:txBody>
          <a:bodyPr wrap="square" lIns="0" tIns="0" rIns="0" bIns="0" anchor="t">
            <a:normAutofit/>
          </a:bodyPr>
          <a:lstStyle/>
          <a:p>
            <a:pPr algn="l">
              <a:lnSpc>
                <a:spcPct val="95000"/>
              </a:lnSpc>
              <a:buNone/>
              <a:defRPr sz="773" b="0">
                <a:solidFill>
                  <a:srgbClr val="50658E"/>
                </a:solidFill>
                <a:latin typeface="Arial"/>
                <a:ea typeface="Arial"/>
                <a:cs typeface="Arial"/>
              </a:defRPr>
            </a:pPr>
            <a:r>
              <a:rPr lang="en-US" sz="773" b="0">
                <a:solidFill>
                  <a:srgbClr val="50658E"/>
                </a:solidFill>
                <a:latin typeface="Arial"/>
                <a:ea typeface="Arial"/>
                <a:cs typeface="Arial"/>
              </a:rPr>
              <a:t>Technical health and risk profile</a:t>
            </a:r>
            <a:endParaRPr sz="773" b="0">
              <a:solidFill>
                <a:srgbClr val="50658E"/>
              </a:solidFill>
              <a:latin typeface="Arial"/>
              <a:ea typeface="Arial"/>
              <a:cs typeface="Arial"/>
            </a:endParaRPr>
          </a:p>
        </p:txBody>
      </p:sp>
      <p:sp>
        <p:nvSpPr>
          <p:cNvPr id="137" name="Rounded Rectangle 136">
            <a:extLst>
              <a:ext uri="{FF2B5EF4-FFF2-40B4-BE49-F238E27FC236}">
                <a16:creationId xmlns:a16="http://schemas.microsoft.com/office/drawing/2014/main" id="{17499F48-EF9C-4919-BD12-4956949B9308}"/>
              </a:ext>
            </a:extLst>
          </p:cNvPr>
          <p:cNvSpPr>
            <a:spLocks noGrp="1"/>
          </p:cNvSpPr>
          <p:nvPr/>
        </p:nvSpPr>
        <p:spPr>
          <a:xfrm>
            <a:off x="685800" y="3829050"/>
            <a:ext cx="314325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38" name="Rectangle 137">
            <a:extLst>
              <a:ext uri="{FF2B5EF4-FFF2-40B4-BE49-F238E27FC236}">
                <a16:creationId xmlns:a16="http://schemas.microsoft.com/office/drawing/2014/main" id="{BE07C6EE-B1FC-4B47-A2C6-8DA14128661F}"/>
              </a:ext>
            </a:extLst>
          </p:cNvPr>
          <p:cNvSpPr>
            <a:spLocks noGrp="1"/>
          </p:cNvSpPr>
          <p:nvPr/>
        </p:nvSpPr>
        <p:spPr>
          <a:xfrm>
            <a:off x="800100" y="3895725"/>
            <a:ext cx="2914650" cy="238125"/>
          </a:xfrm>
          <a:prstGeom prst="rect">
            <a:avLst/>
          </a:prstGeom>
          <a:noFill/>
          <a:ln w="0">
            <a:noFill/>
          </a:ln>
        </p:spPr>
        <p:txBody>
          <a:bodyPr wrap="square" lIns="0" tIns="0" rIns="0" bIns="0" anchor="t">
            <a:normAutofit/>
          </a:bodyPr>
          <a:lstStyle/>
          <a:p>
            <a:pPr algn="l">
              <a:lnSpc>
                <a:spcPct val="95000"/>
              </a:lnSpc>
              <a:buNone/>
              <a:defRPr sz="788" b="0">
                <a:solidFill>
                  <a:srgbClr val="070154"/>
                </a:solidFill>
                <a:latin typeface="Arial"/>
                <a:ea typeface="Arial"/>
                <a:cs typeface="Arial"/>
              </a:defRPr>
            </a:pPr>
            <a:r>
              <a:rPr lang="en-US" sz="788" b="0">
                <a:solidFill>
                  <a:srgbClr val="070154"/>
                </a:solidFill>
                <a:latin typeface="Arial"/>
                <a:ea typeface="Arial"/>
                <a:cs typeface="Arial"/>
              </a:rPr>
              <a:t>Interview application owners and validate pain points</a:t>
            </a:r>
            <a:endParaRPr sz="788" b="0">
              <a:solidFill>
                <a:srgbClr val="070154"/>
              </a:solidFill>
              <a:latin typeface="Arial"/>
              <a:ea typeface="Arial"/>
              <a:cs typeface="Arial"/>
            </a:endParaRPr>
          </a:p>
        </p:txBody>
      </p:sp>
      <p:sp>
        <p:nvSpPr>
          <p:cNvPr id="139" name="Rounded Rectangle 138">
            <a:extLst>
              <a:ext uri="{FF2B5EF4-FFF2-40B4-BE49-F238E27FC236}">
                <a16:creationId xmlns:a16="http://schemas.microsoft.com/office/drawing/2014/main" id="{DCC6F1D3-CB70-4DFF-8E87-391358560097}"/>
              </a:ext>
            </a:extLst>
          </p:cNvPr>
          <p:cNvSpPr>
            <a:spLocks noGrp="1"/>
          </p:cNvSpPr>
          <p:nvPr/>
        </p:nvSpPr>
        <p:spPr>
          <a:xfrm>
            <a:off x="3829050" y="38290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40" name="Rounded Rectangle 139">
            <a:extLst>
              <a:ext uri="{FF2B5EF4-FFF2-40B4-BE49-F238E27FC236}">
                <a16:creationId xmlns:a16="http://schemas.microsoft.com/office/drawing/2014/main" id="{D9F35970-050A-4FC6-AE39-C2C53B19CFD9}"/>
              </a:ext>
            </a:extLst>
          </p:cNvPr>
          <p:cNvSpPr>
            <a:spLocks noGrp="1"/>
          </p:cNvSpPr>
          <p:nvPr/>
        </p:nvSpPr>
        <p:spPr>
          <a:xfrm>
            <a:off x="4476750" y="38290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41" name="Rounded Rectangle 140">
            <a:extLst>
              <a:ext uri="{FF2B5EF4-FFF2-40B4-BE49-F238E27FC236}">
                <a16:creationId xmlns:a16="http://schemas.microsoft.com/office/drawing/2014/main" id="{FDD8C239-FFE9-4DF8-8D7D-A5E75831EBA5}"/>
              </a:ext>
            </a:extLst>
          </p:cNvPr>
          <p:cNvSpPr>
            <a:spLocks noGrp="1"/>
          </p:cNvSpPr>
          <p:nvPr/>
        </p:nvSpPr>
        <p:spPr>
          <a:xfrm>
            <a:off x="5124450" y="38290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42" name="Rounded Rectangle 141">
            <a:extLst>
              <a:ext uri="{FF2B5EF4-FFF2-40B4-BE49-F238E27FC236}">
                <a16:creationId xmlns:a16="http://schemas.microsoft.com/office/drawing/2014/main" id="{83BED39C-12B5-422F-9C2E-3EDAA1F0D38D}"/>
              </a:ext>
            </a:extLst>
          </p:cNvPr>
          <p:cNvSpPr>
            <a:spLocks noGrp="1"/>
          </p:cNvSpPr>
          <p:nvPr/>
        </p:nvSpPr>
        <p:spPr>
          <a:xfrm>
            <a:off x="5200650" y="3924300"/>
            <a:ext cx="495300" cy="171450"/>
          </a:xfrm>
          <a:prstGeom prst="roundRect">
            <a:avLst>
              <a:gd name="adj" fmla="val 44444"/>
            </a:avLst>
          </a:prstGeom>
          <a:solidFill>
            <a:srgbClr val="0047FF"/>
          </a:solidFill>
          <a:ln w="0">
            <a:noFill/>
            <a:prstDash val="solid"/>
          </a:ln>
        </p:spPr>
        <p:txBody>
          <a:bodyPr/>
          <a:lstStyle/>
          <a:p>
            <a:endParaRPr lang="en-US"/>
          </a:p>
        </p:txBody>
      </p:sp>
      <p:sp>
        <p:nvSpPr>
          <p:cNvPr id="143" name="Rounded Rectangle 142">
            <a:extLst>
              <a:ext uri="{FF2B5EF4-FFF2-40B4-BE49-F238E27FC236}">
                <a16:creationId xmlns:a16="http://schemas.microsoft.com/office/drawing/2014/main" id="{9606DAD0-D19A-46D5-ABF3-5633B07FA2D7}"/>
              </a:ext>
            </a:extLst>
          </p:cNvPr>
          <p:cNvSpPr>
            <a:spLocks noGrp="1"/>
          </p:cNvSpPr>
          <p:nvPr/>
        </p:nvSpPr>
        <p:spPr>
          <a:xfrm>
            <a:off x="5772150" y="38290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44" name="Rounded Rectangle 143">
            <a:extLst>
              <a:ext uri="{FF2B5EF4-FFF2-40B4-BE49-F238E27FC236}">
                <a16:creationId xmlns:a16="http://schemas.microsoft.com/office/drawing/2014/main" id="{39FDC197-46E9-40E0-9BE4-281520227E05}"/>
              </a:ext>
            </a:extLst>
          </p:cNvPr>
          <p:cNvSpPr>
            <a:spLocks noGrp="1"/>
          </p:cNvSpPr>
          <p:nvPr/>
        </p:nvSpPr>
        <p:spPr>
          <a:xfrm>
            <a:off x="5848350" y="3924300"/>
            <a:ext cx="495300" cy="171450"/>
          </a:xfrm>
          <a:prstGeom prst="roundRect">
            <a:avLst>
              <a:gd name="adj" fmla="val 44444"/>
            </a:avLst>
          </a:prstGeom>
          <a:solidFill>
            <a:srgbClr val="0047FF"/>
          </a:solidFill>
          <a:ln w="0">
            <a:noFill/>
            <a:prstDash val="solid"/>
          </a:ln>
        </p:spPr>
        <p:txBody>
          <a:bodyPr/>
          <a:lstStyle/>
          <a:p>
            <a:endParaRPr lang="en-US"/>
          </a:p>
        </p:txBody>
      </p:sp>
      <p:sp>
        <p:nvSpPr>
          <p:cNvPr id="145" name="Rounded Rectangle 144">
            <a:extLst>
              <a:ext uri="{FF2B5EF4-FFF2-40B4-BE49-F238E27FC236}">
                <a16:creationId xmlns:a16="http://schemas.microsoft.com/office/drawing/2014/main" id="{008B5B49-FBC5-4A63-859B-27546B33C0D9}"/>
              </a:ext>
            </a:extLst>
          </p:cNvPr>
          <p:cNvSpPr>
            <a:spLocks noGrp="1"/>
          </p:cNvSpPr>
          <p:nvPr/>
        </p:nvSpPr>
        <p:spPr>
          <a:xfrm>
            <a:off x="6419850" y="38290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46" name="Rounded Rectangle 145">
            <a:extLst>
              <a:ext uri="{FF2B5EF4-FFF2-40B4-BE49-F238E27FC236}">
                <a16:creationId xmlns:a16="http://schemas.microsoft.com/office/drawing/2014/main" id="{2BAD4C1A-890A-4B3E-A033-BF832F38E691}"/>
              </a:ext>
            </a:extLst>
          </p:cNvPr>
          <p:cNvSpPr>
            <a:spLocks noGrp="1"/>
          </p:cNvSpPr>
          <p:nvPr/>
        </p:nvSpPr>
        <p:spPr>
          <a:xfrm>
            <a:off x="6496050" y="3924300"/>
            <a:ext cx="495300" cy="171450"/>
          </a:xfrm>
          <a:prstGeom prst="roundRect">
            <a:avLst>
              <a:gd name="adj" fmla="val 44444"/>
            </a:avLst>
          </a:prstGeom>
          <a:solidFill>
            <a:srgbClr val="50658E"/>
          </a:solidFill>
          <a:ln w="0">
            <a:noFill/>
            <a:prstDash val="solid"/>
          </a:ln>
        </p:spPr>
        <p:txBody>
          <a:bodyPr/>
          <a:lstStyle/>
          <a:p>
            <a:endParaRPr lang="en-US"/>
          </a:p>
        </p:txBody>
      </p:sp>
      <p:sp>
        <p:nvSpPr>
          <p:cNvPr id="147" name="Rounded Rectangle 146">
            <a:extLst>
              <a:ext uri="{FF2B5EF4-FFF2-40B4-BE49-F238E27FC236}">
                <a16:creationId xmlns:a16="http://schemas.microsoft.com/office/drawing/2014/main" id="{FA9349E4-666E-4A38-828E-C72272834261}"/>
              </a:ext>
            </a:extLst>
          </p:cNvPr>
          <p:cNvSpPr>
            <a:spLocks noGrp="1"/>
          </p:cNvSpPr>
          <p:nvPr/>
        </p:nvSpPr>
        <p:spPr>
          <a:xfrm>
            <a:off x="7067550" y="38290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48" name="Rounded Rectangle 147">
            <a:extLst>
              <a:ext uri="{FF2B5EF4-FFF2-40B4-BE49-F238E27FC236}">
                <a16:creationId xmlns:a16="http://schemas.microsoft.com/office/drawing/2014/main" id="{5372CBB9-379A-4454-939C-BD5A13F2D719}"/>
              </a:ext>
            </a:extLst>
          </p:cNvPr>
          <p:cNvSpPr>
            <a:spLocks noGrp="1"/>
          </p:cNvSpPr>
          <p:nvPr/>
        </p:nvSpPr>
        <p:spPr>
          <a:xfrm>
            <a:off x="7143750" y="3924300"/>
            <a:ext cx="495300" cy="171450"/>
          </a:xfrm>
          <a:prstGeom prst="roundRect">
            <a:avLst>
              <a:gd name="adj" fmla="val 44444"/>
            </a:avLst>
          </a:prstGeom>
          <a:solidFill>
            <a:srgbClr val="50658E"/>
          </a:solidFill>
          <a:ln w="0">
            <a:noFill/>
            <a:prstDash val="solid"/>
          </a:ln>
        </p:spPr>
        <p:txBody>
          <a:bodyPr/>
          <a:lstStyle/>
          <a:p>
            <a:endParaRPr lang="en-US"/>
          </a:p>
        </p:txBody>
      </p:sp>
      <p:sp>
        <p:nvSpPr>
          <p:cNvPr id="149" name="Rounded Rectangle 148">
            <a:extLst>
              <a:ext uri="{FF2B5EF4-FFF2-40B4-BE49-F238E27FC236}">
                <a16:creationId xmlns:a16="http://schemas.microsoft.com/office/drawing/2014/main" id="{42699230-51D2-4A68-97AE-262FADECDDFC}"/>
              </a:ext>
            </a:extLst>
          </p:cNvPr>
          <p:cNvSpPr>
            <a:spLocks noGrp="1"/>
          </p:cNvSpPr>
          <p:nvPr/>
        </p:nvSpPr>
        <p:spPr>
          <a:xfrm>
            <a:off x="7715250" y="38290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50" name="Rounded Rectangle 149">
            <a:extLst>
              <a:ext uri="{FF2B5EF4-FFF2-40B4-BE49-F238E27FC236}">
                <a16:creationId xmlns:a16="http://schemas.microsoft.com/office/drawing/2014/main" id="{E8D9A8CC-E3AE-4F46-8FDF-638E42D0FD2E}"/>
              </a:ext>
            </a:extLst>
          </p:cNvPr>
          <p:cNvSpPr>
            <a:spLocks noGrp="1"/>
          </p:cNvSpPr>
          <p:nvPr/>
        </p:nvSpPr>
        <p:spPr>
          <a:xfrm>
            <a:off x="8362950" y="38290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51" name="Rounded Rectangle 150">
            <a:extLst>
              <a:ext uri="{FF2B5EF4-FFF2-40B4-BE49-F238E27FC236}">
                <a16:creationId xmlns:a16="http://schemas.microsoft.com/office/drawing/2014/main" id="{639B3B78-3183-4861-ABE3-F0EDFE286346}"/>
              </a:ext>
            </a:extLst>
          </p:cNvPr>
          <p:cNvSpPr>
            <a:spLocks noGrp="1"/>
          </p:cNvSpPr>
          <p:nvPr/>
        </p:nvSpPr>
        <p:spPr>
          <a:xfrm>
            <a:off x="9010650" y="3829050"/>
            <a:ext cx="249555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52" name="Rectangle 151">
            <a:extLst>
              <a:ext uri="{FF2B5EF4-FFF2-40B4-BE49-F238E27FC236}">
                <a16:creationId xmlns:a16="http://schemas.microsoft.com/office/drawing/2014/main" id="{8D31249A-0AFB-4172-88D1-32481392CA27}"/>
              </a:ext>
            </a:extLst>
          </p:cNvPr>
          <p:cNvSpPr>
            <a:spLocks noGrp="1"/>
          </p:cNvSpPr>
          <p:nvPr/>
        </p:nvSpPr>
        <p:spPr>
          <a:xfrm>
            <a:off x="9124950" y="3895725"/>
            <a:ext cx="2266950" cy="238125"/>
          </a:xfrm>
          <a:prstGeom prst="rect">
            <a:avLst/>
          </a:prstGeom>
          <a:noFill/>
          <a:ln w="0">
            <a:noFill/>
          </a:ln>
        </p:spPr>
        <p:txBody>
          <a:bodyPr wrap="square" lIns="0" tIns="0" rIns="0" bIns="0" anchor="t">
            <a:normAutofit/>
          </a:bodyPr>
          <a:lstStyle/>
          <a:p>
            <a:pPr algn="l">
              <a:lnSpc>
                <a:spcPct val="95000"/>
              </a:lnSpc>
              <a:buNone/>
              <a:defRPr sz="773" b="0">
                <a:solidFill>
                  <a:srgbClr val="50658E"/>
                </a:solidFill>
                <a:latin typeface="Arial"/>
                <a:ea typeface="Arial"/>
                <a:cs typeface="Arial"/>
              </a:defRPr>
            </a:pPr>
            <a:r>
              <a:rPr lang="en-US" sz="773" b="0">
                <a:solidFill>
                  <a:srgbClr val="50658E"/>
                </a:solidFill>
                <a:latin typeface="Arial"/>
                <a:ea typeface="Arial"/>
                <a:cs typeface="Arial"/>
              </a:rPr>
              <a:t>Validated owner insights</a:t>
            </a:r>
            <a:endParaRPr sz="773" b="0">
              <a:solidFill>
                <a:srgbClr val="50658E"/>
              </a:solidFill>
              <a:latin typeface="Arial"/>
              <a:ea typeface="Arial"/>
              <a:cs typeface="Arial"/>
            </a:endParaRPr>
          </a:p>
        </p:txBody>
      </p:sp>
      <p:sp>
        <p:nvSpPr>
          <p:cNvPr id="153" name="Rounded Rectangle 152">
            <a:extLst>
              <a:ext uri="{FF2B5EF4-FFF2-40B4-BE49-F238E27FC236}">
                <a16:creationId xmlns:a16="http://schemas.microsoft.com/office/drawing/2014/main" id="{DD622A18-E118-4F2F-9C80-3C4B2728B2CE}"/>
              </a:ext>
            </a:extLst>
          </p:cNvPr>
          <p:cNvSpPr>
            <a:spLocks noGrp="1"/>
          </p:cNvSpPr>
          <p:nvPr/>
        </p:nvSpPr>
        <p:spPr>
          <a:xfrm>
            <a:off x="685800" y="4191000"/>
            <a:ext cx="314325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54" name="Rectangle 153">
            <a:extLst>
              <a:ext uri="{FF2B5EF4-FFF2-40B4-BE49-F238E27FC236}">
                <a16:creationId xmlns:a16="http://schemas.microsoft.com/office/drawing/2014/main" id="{A2296902-989E-4833-BA98-D0CFDE628F04}"/>
              </a:ext>
            </a:extLst>
          </p:cNvPr>
          <p:cNvSpPr>
            <a:spLocks noGrp="1"/>
          </p:cNvSpPr>
          <p:nvPr/>
        </p:nvSpPr>
        <p:spPr>
          <a:xfrm>
            <a:off x="800100" y="4257675"/>
            <a:ext cx="2914650" cy="238125"/>
          </a:xfrm>
          <a:prstGeom prst="rect">
            <a:avLst/>
          </a:prstGeom>
          <a:noFill/>
          <a:ln w="0">
            <a:noFill/>
          </a:ln>
        </p:spPr>
        <p:txBody>
          <a:bodyPr wrap="square" lIns="0" tIns="0" rIns="0" bIns="0" anchor="t">
            <a:normAutofit/>
          </a:bodyPr>
          <a:lstStyle/>
          <a:p>
            <a:pPr algn="l">
              <a:lnSpc>
                <a:spcPct val="95000"/>
              </a:lnSpc>
              <a:buNone/>
              <a:defRPr sz="788" b="0">
                <a:solidFill>
                  <a:srgbClr val="070154"/>
                </a:solidFill>
                <a:latin typeface="Arial"/>
                <a:ea typeface="Arial"/>
                <a:cs typeface="Arial"/>
              </a:defRPr>
            </a:pPr>
            <a:r>
              <a:rPr lang="en-US" sz="788" b="0">
                <a:solidFill>
                  <a:srgbClr val="070154"/>
                </a:solidFill>
                <a:latin typeface="Arial"/>
                <a:ea typeface="Arial"/>
                <a:cs typeface="Arial"/>
              </a:rPr>
              <a:t>Define and socialize initial application dispositions</a:t>
            </a:r>
            <a:endParaRPr sz="788" b="0">
              <a:solidFill>
                <a:srgbClr val="070154"/>
              </a:solidFill>
              <a:latin typeface="Arial"/>
              <a:ea typeface="Arial"/>
              <a:cs typeface="Arial"/>
            </a:endParaRPr>
          </a:p>
        </p:txBody>
      </p:sp>
      <p:sp>
        <p:nvSpPr>
          <p:cNvPr id="155" name="Rounded Rectangle 154">
            <a:extLst>
              <a:ext uri="{FF2B5EF4-FFF2-40B4-BE49-F238E27FC236}">
                <a16:creationId xmlns:a16="http://schemas.microsoft.com/office/drawing/2014/main" id="{6C14E4A7-AFA2-4C01-9635-D6728EA7D281}"/>
              </a:ext>
            </a:extLst>
          </p:cNvPr>
          <p:cNvSpPr>
            <a:spLocks noGrp="1"/>
          </p:cNvSpPr>
          <p:nvPr/>
        </p:nvSpPr>
        <p:spPr>
          <a:xfrm>
            <a:off x="3829050" y="41910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56" name="Rounded Rectangle 155">
            <a:extLst>
              <a:ext uri="{FF2B5EF4-FFF2-40B4-BE49-F238E27FC236}">
                <a16:creationId xmlns:a16="http://schemas.microsoft.com/office/drawing/2014/main" id="{2745AC68-04F1-4C99-8DEC-B963C2ED0FC5}"/>
              </a:ext>
            </a:extLst>
          </p:cNvPr>
          <p:cNvSpPr>
            <a:spLocks noGrp="1"/>
          </p:cNvSpPr>
          <p:nvPr/>
        </p:nvSpPr>
        <p:spPr>
          <a:xfrm>
            <a:off x="4476750" y="41910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57" name="Rounded Rectangle 156">
            <a:extLst>
              <a:ext uri="{FF2B5EF4-FFF2-40B4-BE49-F238E27FC236}">
                <a16:creationId xmlns:a16="http://schemas.microsoft.com/office/drawing/2014/main" id="{D1C2BFFC-6B6C-4545-9A3E-F131CFFEB65A}"/>
              </a:ext>
            </a:extLst>
          </p:cNvPr>
          <p:cNvSpPr>
            <a:spLocks noGrp="1"/>
          </p:cNvSpPr>
          <p:nvPr/>
        </p:nvSpPr>
        <p:spPr>
          <a:xfrm>
            <a:off x="5124450" y="41910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58" name="Rounded Rectangle 157">
            <a:extLst>
              <a:ext uri="{FF2B5EF4-FFF2-40B4-BE49-F238E27FC236}">
                <a16:creationId xmlns:a16="http://schemas.microsoft.com/office/drawing/2014/main" id="{096986E4-252A-45A0-A39C-4E9D6D26B699}"/>
              </a:ext>
            </a:extLst>
          </p:cNvPr>
          <p:cNvSpPr>
            <a:spLocks noGrp="1"/>
          </p:cNvSpPr>
          <p:nvPr/>
        </p:nvSpPr>
        <p:spPr>
          <a:xfrm>
            <a:off x="5200650" y="4286250"/>
            <a:ext cx="495300" cy="171450"/>
          </a:xfrm>
          <a:prstGeom prst="roundRect">
            <a:avLst>
              <a:gd name="adj" fmla="val 44444"/>
            </a:avLst>
          </a:prstGeom>
          <a:solidFill>
            <a:srgbClr val="0047FF"/>
          </a:solidFill>
          <a:ln w="0">
            <a:noFill/>
            <a:prstDash val="solid"/>
          </a:ln>
        </p:spPr>
        <p:txBody>
          <a:bodyPr/>
          <a:lstStyle/>
          <a:p>
            <a:endParaRPr lang="en-US"/>
          </a:p>
        </p:txBody>
      </p:sp>
      <p:sp>
        <p:nvSpPr>
          <p:cNvPr id="159" name="Rounded Rectangle 158">
            <a:extLst>
              <a:ext uri="{FF2B5EF4-FFF2-40B4-BE49-F238E27FC236}">
                <a16:creationId xmlns:a16="http://schemas.microsoft.com/office/drawing/2014/main" id="{5E6651B8-E0F7-460E-817E-5D709F118824}"/>
              </a:ext>
            </a:extLst>
          </p:cNvPr>
          <p:cNvSpPr>
            <a:spLocks noGrp="1"/>
          </p:cNvSpPr>
          <p:nvPr/>
        </p:nvSpPr>
        <p:spPr>
          <a:xfrm>
            <a:off x="5772150" y="41910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60" name="Rounded Rectangle 159">
            <a:extLst>
              <a:ext uri="{FF2B5EF4-FFF2-40B4-BE49-F238E27FC236}">
                <a16:creationId xmlns:a16="http://schemas.microsoft.com/office/drawing/2014/main" id="{5C2C331A-9123-4B3F-A68F-3E8B8895E85D}"/>
              </a:ext>
            </a:extLst>
          </p:cNvPr>
          <p:cNvSpPr>
            <a:spLocks noGrp="1"/>
          </p:cNvSpPr>
          <p:nvPr/>
        </p:nvSpPr>
        <p:spPr>
          <a:xfrm>
            <a:off x="5848350" y="4286250"/>
            <a:ext cx="495300" cy="171450"/>
          </a:xfrm>
          <a:prstGeom prst="roundRect">
            <a:avLst>
              <a:gd name="adj" fmla="val 44444"/>
            </a:avLst>
          </a:prstGeom>
          <a:solidFill>
            <a:srgbClr val="0047FF"/>
          </a:solidFill>
          <a:ln w="0">
            <a:noFill/>
            <a:prstDash val="solid"/>
          </a:ln>
        </p:spPr>
        <p:txBody>
          <a:bodyPr/>
          <a:lstStyle/>
          <a:p>
            <a:endParaRPr lang="en-US"/>
          </a:p>
        </p:txBody>
      </p:sp>
      <p:sp>
        <p:nvSpPr>
          <p:cNvPr id="161" name="Rounded Rectangle 160">
            <a:extLst>
              <a:ext uri="{FF2B5EF4-FFF2-40B4-BE49-F238E27FC236}">
                <a16:creationId xmlns:a16="http://schemas.microsoft.com/office/drawing/2014/main" id="{023D7A8C-BB45-4DEE-8CE6-62A426C8C105}"/>
              </a:ext>
            </a:extLst>
          </p:cNvPr>
          <p:cNvSpPr>
            <a:spLocks noGrp="1"/>
          </p:cNvSpPr>
          <p:nvPr/>
        </p:nvSpPr>
        <p:spPr>
          <a:xfrm>
            <a:off x="6419850" y="41910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62" name="Rounded Rectangle 161">
            <a:extLst>
              <a:ext uri="{FF2B5EF4-FFF2-40B4-BE49-F238E27FC236}">
                <a16:creationId xmlns:a16="http://schemas.microsoft.com/office/drawing/2014/main" id="{F4140B81-FB82-4581-A383-E9C6643E178E}"/>
              </a:ext>
            </a:extLst>
          </p:cNvPr>
          <p:cNvSpPr>
            <a:spLocks noGrp="1"/>
          </p:cNvSpPr>
          <p:nvPr/>
        </p:nvSpPr>
        <p:spPr>
          <a:xfrm>
            <a:off x="6496050" y="4286250"/>
            <a:ext cx="495300" cy="171450"/>
          </a:xfrm>
          <a:prstGeom prst="roundRect">
            <a:avLst>
              <a:gd name="adj" fmla="val 44444"/>
            </a:avLst>
          </a:prstGeom>
          <a:solidFill>
            <a:srgbClr val="50658E"/>
          </a:solidFill>
          <a:ln w="0">
            <a:noFill/>
            <a:prstDash val="solid"/>
          </a:ln>
        </p:spPr>
        <p:txBody>
          <a:bodyPr/>
          <a:lstStyle/>
          <a:p>
            <a:endParaRPr lang="en-US"/>
          </a:p>
        </p:txBody>
      </p:sp>
      <p:sp>
        <p:nvSpPr>
          <p:cNvPr id="163" name="Rounded Rectangle 162">
            <a:extLst>
              <a:ext uri="{FF2B5EF4-FFF2-40B4-BE49-F238E27FC236}">
                <a16:creationId xmlns:a16="http://schemas.microsoft.com/office/drawing/2014/main" id="{BBF66AE1-D0FA-4701-815D-74CD07D12C98}"/>
              </a:ext>
            </a:extLst>
          </p:cNvPr>
          <p:cNvSpPr>
            <a:spLocks noGrp="1"/>
          </p:cNvSpPr>
          <p:nvPr/>
        </p:nvSpPr>
        <p:spPr>
          <a:xfrm>
            <a:off x="7067550" y="41910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64" name="Rounded Rectangle 163">
            <a:extLst>
              <a:ext uri="{FF2B5EF4-FFF2-40B4-BE49-F238E27FC236}">
                <a16:creationId xmlns:a16="http://schemas.microsoft.com/office/drawing/2014/main" id="{F735355D-DEED-45E8-9795-723005C2D262}"/>
              </a:ext>
            </a:extLst>
          </p:cNvPr>
          <p:cNvSpPr>
            <a:spLocks noGrp="1"/>
          </p:cNvSpPr>
          <p:nvPr/>
        </p:nvSpPr>
        <p:spPr>
          <a:xfrm>
            <a:off x="7143750" y="4286250"/>
            <a:ext cx="495300" cy="171450"/>
          </a:xfrm>
          <a:prstGeom prst="roundRect">
            <a:avLst>
              <a:gd name="adj" fmla="val 44444"/>
            </a:avLst>
          </a:prstGeom>
          <a:solidFill>
            <a:srgbClr val="50658E"/>
          </a:solidFill>
          <a:ln w="0">
            <a:noFill/>
            <a:prstDash val="solid"/>
          </a:ln>
        </p:spPr>
        <p:txBody>
          <a:bodyPr/>
          <a:lstStyle/>
          <a:p>
            <a:endParaRPr lang="en-US"/>
          </a:p>
        </p:txBody>
      </p:sp>
      <p:sp>
        <p:nvSpPr>
          <p:cNvPr id="165" name="Rounded Rectangle 164">
            <a:extLst>
              <a:ext uri="{FF2B5EF4-FFF2-40B4-BE49-F238E27FC236}">
                <a16:creationId xmlns:a16="http://schemas.microsoft.com/office/drawing/2014/main" id="{67F67CDE-79B4-446E-83FF-52EF0B87C4D4}"/>
              </a:ext>
            </a:extLst>
          </p:cNvPr>
          <p:cNvSpPr>
            <a:spLocks noGrp="1"/>
          </p:cNvSpPr>
          <p:nvPr/>
        </p:nvSpPr>
        <p:spPr>
          <a:xfrm>
            <a:off x="7715250" y="41910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66" name="Rounded Rectangle 165">
            <a:extLst>
              <a:ext uri="{FF2B5EF4-FFF2-40B4-BE49-F238E27FC236}">
                <a16:creationId xmlns:a16="http://schemas.microsoft.com/office/drawing/2014/main" id="{CCE3836D-E02A-480B-BCC8-7272846174E2}"/>
              </a:ext>
            </a:extLst>
          </p:cNvPr>
          <p:cNvSpPr>
            <a:spLocks noGrp="1"/>
          </p:cNvSpPr>
          <p:nvPr/>
        </p:nvSpPr>
        <p:spPr>
          <a:xfrm>
            <a:off x="7791450" y="4286250"/>
            <a:ext cx="495300" cy="171450"/>
          </a:xfrm>
          <a:prstGeom prst="roundRect">
            <a:avLst>
              <a:gd name="adj" fmla="val 44444"/>
            </a:avLst>
          </a:prstGeom>
          <a:solidFill>
            <a:srgbClr val="50658E"/>
          </a:solidFill>
          <a:ln w="0">
            <a:noFill/>
            <a:prstDash val="solid"/>
          </a:ln>
        </p:spPr>
        <p:txBody>
          <a:bodyPr/>
          <a:lstStyle/>
          <a:p>
            <a:endParaRPr lang="en-US"/>
          </a:p>
        </p:txBody>
      </p:sp>
      <p:sp>
        <p:nvSpPr>
          <p:cNvPr id="167" name="Rounded Rectangle 166">
            <a:extLst>
              <a:ext uri="{FF2B5EF4-FFF2-40B4-BE49-F238E27FC236}">
                <a16:creationId xmlns:a16="http://schemas.microsoft.com/office/drawing/2014/main" id="{B600E804-F86B-4DBA-B399-CFEFAE47BFBC}"/>
              </a:ext>
            </a:extLst>
          </p:cNvPr>
          <p:cNvSpPr>
            <a:spLocks noGrp="1"/>
          </p:cNvSpPr>
          <p:nvPr/>
        </p:nvSpPr>
        <p:spPr>
          <a:xfrm>
            <a:off x="8362950" y="41910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68" name="Rounded Rectangle 167">
            <a:extLst>
              <a:ext uri="{FF2B5EF4-FFF2-40B4-BE49-F238E27FC236}">
                <a16:creationId xmlns:a16="http://schemas.microsoft.com/office/drawing/2014/main" id="{786CC20F-CCA8-457F-B95C-4C06D1EC7862}"/>
              </a:ext>
            </a:extLst>
          </p:cNvPr>
          <p:cNvSpPr>
            <a:spLocks noGrp="1"/>
          </p:cNvSpPr>
          <p:nvPr/>
        </p:nvSpPr>
        <p:spPr>
          <a:xfrm>
            <a:off x="9010650" y="4191000"/>
            <a:ext cx="249555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69" name="Rectangle 168">
            <a:extLst>
              <a:ext uri="{FF2B5EF4-FFF2-40B4-BE49-F238E27FC236}">
                <a16:creationId xmlns:a16="http://schemas.microsoft.com/office/drawing/2014/main" id="{4FEE1242-3560-4DDB-B371-8550349B8DBC}"/>
              </a:ext>
            </a:extLst>
          </p:cNvPr>
          <p:cNvSpPr>
            <a:spLocks noGrp="1"/>
          </p:cNvSpPr>
          <p:nvPr/>
        </p:nvSpPr>
        <p:spPr>
          <a:xfrm>
            <a:off x="9124950" y="4257675"/>
            <a:ext cx="2266950" cy="238125"/>
          </a:xfrm>
          <a:prstGeom prst="rect">
            <a:avLst/>
          </a:prstGeom>
          <a:noFill/>
          <a:ln w="0">
            <a:noFill/>
          </a:ln>
        </p:spPr>
        <p:txBody>
          <a:bodyPr wrap="square" lIns="0" tIns="0" rIns="0" bIns="0" anchor="t">
            <a:normAutofit/>
          </a:bodyPr>
          <a:lstStyle/>
          <a:p>
            <a:pPr algn="l">
              <a:lnSpc>
                <a:spcPct val="95000"/>
              </a:lnSpc>
              <a:buNone/>
              <a:defRPr sz="773" b="0">
                <a:solidFill>
                  <a:srgbClr val="50658E"/>
                </a:solidFill>
                <a:latin typeface="Arial"/>
                <a:ea typeface="Arial"/>
                <a:cs typeface="Arial"/>
              </a:defRPr>
            </a:pPr>
            <a:r>
              <a:rPr lang="en-US" sz="773" b="0">
                <a:solidFill>
                  <a:srgbClr val="50658E"/>
                </a:solidFill>
                <a:latin typeface="Arial"/>
                <a:ea typeface="Arial"/>
                <a:cs typeface="Arial"/>
              </a:rPr>
              <a:t>Application disposition register</a:t>
            </a:r>
            <a:endParaRPr sz="773" b="0">
              <a:solidFill>
                <a:srgbClr val="50658E"/>
              </a:solidFill>
              <a:latin typeface="Arial"/>
              <a:ea typeface="Arial"/>
              <a:cs typeface="Arial"/>
            </a:endParaRPr>
          </a:p>
        </p:txBody>
      </p:sp>
      <p:sp>
        <p:nvSpPr>
          <p:cNvPr id="170" name="Rounded Rectangle 169">
            <a:extLst>
              <a:ext uri="{FF2B5EF4-FFF2-40B4-BE49-F238E27FC236}">
                <a16:creationId xmlns:a16="http://schemas.microsoft.com/office/drawing/2014/main" id="{DCC44451-3E2B-44D6-A204-761A6CF582BB}"/>
              </a:ext>
            </a:extLst>
          </p:cNvPr>
          <p:cNvSpPr>
            <a:spLocks noGrp="1"/>
          </p:cNvSpPr>
          <p:nvPr/>
        </p:nvSpPr>
        <p:spPr>
          <a:xfrm>
            <a:off x="685800" y="4552950"/>
            <a:ext cx="314325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71" name="Rectangle 170">
            <a:extLst>
              <a:ext uri="{FF2B5EF4-FFF2-40B4-BE49-F238E27FC236}">
                <a16:creationId xmlns:a16="http://schemas.microsoft.com/office/drawing/2014/main" id="{D0D8DD05-9DE3-446F-AA2B-F206090908B4}"/>
              </a:ext>
            </a:extLst>
          </p:cNvPr>
          <p:cNvSpPr>
            <a:spLocks noGrp="1"/>
          </p:cNvSpPr>
          <p:nvPr/>
        </p:nvSpPr>
        <p:spPr>
          <a:xfrm>
            <a:off x="800100" y="4619625"/>
            <a:ext cx="2914650" cy="238125"/>
          </a:xfrm>
          <a:prstGeom prst="rect">
            <a:avLst/>
          </a:prstGeom>
          <a:noFill/>
          <a:ln w="0">
            <a:noFill/>
          </a:ln>
        </p:spPr>
        <p:txBody>
          <a:bodyPr wrap="square" lIns="0" tIns="0" rIns="0" bIns="0" anchor="t">
            <a:normAutofit/>
          </a:bodyPr>
          <a:lstStyle/>
          <a:p>
            <a:pPr algn="l">
              <a:lnSpc>
                <a:spcPct val="95000"/>
              </a:lnSpc>
              <a:buNone/>
              <a:defRPr sz="788" b="0">
                <a:solidFill>
                  <a:srgbClr val="070154"/>
                </a:solidFill>
                <a:latin typeface="Arial"/>
                <a:ea typeface="Arial"/>
                <a:cs typeface="Arial"/>
              </a:defRPr>
            </a:pPr>
            <a:r>
              <a:rPr lang="en-US" sz="788" b="0">
                <a:solidFill>
                  <a:srgbClr val="070154"/>
                </a:solidFill>
                <a:latin typeface="Arial"/>
                <a:ea typeface="Arial"/>
                <a:cs typeface="Arial"/>
              </a:rPr>
              <a:t>Align dispositions to enterprise architecture direction</a:t>
            </a:r>
            <a:endParaRPr sz="788" b="0">
              <a:solidFill>
                <a:srgbClr val="070154"/>
              </a:solidFill>
              <a:latin typeface="Arial"/>
              <a:ea typeface="Arial"/>
              <a:cs typeface="Arial"/>
            </a:endParaRPr>
          </a:p>
        </p:txBody>
      </p:sp>
      <p:sp>
        <p:nvSpPr>
          <p:cNvPr id="172" name="Rounded Rectangle 171">
            <a:extLst>
              <a:ext uri="{FF2B5EF4-FFF2-40B4-BE49-F238E27FC236}">
                <a16:creationId xmlns:a16="http://schemas.microsoft.com/office/drawing/2014/main" id="{EEE1B93D-043E-44EB-9993-861D73A1F91E}"/>
              </a:ext>
            </a:extLst>
          </p:cNvPr>
          <p:cNvSpPr>
            <a:spLocks noGrp="1"/>
          </p:cNvSpPr>
          <p:nvPr/>
        </p:nvSpPr>
        <p:spPr>
          <a:xfrm>
            <a:off x="3829050" y="45529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73" name="Rounded Rectangle 172">
            <a:extLst>
              <a:ext uri="{FF2B5EF4-FFF2-40B4-BE49-F238E27FC236}">
                <a16:creationId xmlns:a16="http://schemas.microsoft.com/office/drawing/2014/main" id="{10BAD26C-2D22-472F-8B68-917C315D9D10}"/>
              </a:ext>
            </a:extLst>
          </p:cNvPr>
          <p:cNvSpPr>
            <a:spLocks noGrp="1"/>
          </p:cNvSpPr>
          <p:nvPr/>
        </p:nvSpPr>
        <p:spPr>
          <a:xfrm>
            <a:off x="3905250" y="4648200"/>
            <a:ext cx="495300" cy="171450"/>
          </a:xfrm>
          <a:prstGeom prst="roundRect">
            <a:avLst>
              <a:gd name="adj" fmla="val 44444"/>
            </a:avLst>
          </a:prstGeom>
          <a:solidFill>
            <a:srgbClr val="0047FF"/>
          </a:solidFill>
          <a:ln w="0">
            <a:noFill/>
            <a:prstDash val="solid"/>
          </a:ln>
        </p:spPr>
        <p:txBody>
          <a:bodyPr/>
          <a:lstStyle/>
          <a:p>
            <a:endParaRPr lang="en-US"/>
          </a:p>
        </p:txBody>
      </p:sp>
      <p:sp>
        <p:nvSpPr>
          <p:cNvPr id="174" name="Rounded Rectangle 173">
            <a:extLst>
              <a:ext uri="{FF2B5EF4-FFF2-40B4-BE49-F238E27FC236}">
                <a16:creationId xmlns:a16="http://schemas.microsoft.com/office/drawing/2014/main" id="{BC29C472-02B5-46B5-A2FC-17ECBFBDA7C8}"/>
              </a:ext>
            </a:extLst>
          </p:cNvPr>
          <p:cNvSpPr>
            <a:spLocks noGrp="1"/>
          </p:cNvSpPr>
          <p:nvPr/>
        </p:nvSpPr>
        <p:spPr>
          <a:xfrm>
            <a:off x="4476750" y="45529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75" name="Rounded Rectangle 174">
            <a:extLst>
              <a:ext uri="{FF2B5EF4-FFF2-40B4-BE49-F238E27FC236}">
                <a16:creationId xmlns:a16="http://schemas.microsoft.com/office/drawing/2014/main" id="{2776A4C4-A43A-4871-9D04-0CDDB02DAD4A}"/>
              </a:ext>
            </a:extLst>
          </p:cNvPr>
          <p:cNvSpPr>
            <a:spLocks noGrp="1"/>
          </p:cNvSpPr>
          <p:nvPr/>
        </p:nvSpPr>
        <p:spPr>
          <a:xfrm>
            <a:off x="4552950" y="4648200"/>
            <a:ext cx="495300" cy="171450"/>
          </a:xfrm>
          <a:prstGeom prst="roundRect">
            <a:avLst>
              <a:gd name="adj" fmla="val 44444"/>
            </a:avLst>
          </a:prstGeom>
          <a:solidFill>
            <a:srgbClr val="0047FF"/>
          </a:solidFill>
          <a:ln w="0">
            <a:noFill/>
            <a:prstDash val="solid"/>
          </a:ln>
        </p:spPr>
        <p:txBody>
          <a:bodyPr/>
          <a:lstStyle/>
          <a:p>
            <a:endParaRPr lang="en-US"/>
          </a:p>
        </p:txBody>
      </p:sp>
      <p:sp>
        <p:nvSpPr>
          <p:cNvPr id="176" name="Rounded Rectangle 175">
            <a:extLst>
              <a:ext uri="{FF2B5EF4-FFF2-40B4-BE49-F238E27FC236}">
                <a16:creationId xmlns:a16="http://schemas.microsoft.com/office/drawing/2014/main" id="{CB1C4F40-D173-4F5E-874C-B8A9EA8E653A}"/>
              </a:ext>
            </a:extLst>
          </p:cNvPr>
          <p:cNvSpPr>
            <a:spLocks noGrp="1"/>
          </p:cNvSpPr>
          <p:nvPr/>
        </p:nvSpPr>
        <p:spPr>
          <a:xfrm>
            <a:off x="5124450" y="45529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77" name="Rounded Rectangle 176">
            <a:extLst>
              <a:ext uri="{FF2B5EF4-FFF2-40B4-BE49-F238E27FC236}">
                <a16:creationId xmlns:a16="http://schemas.microsoft.com/office/drawing/2014/main" id="{4171729D-71C8-4D1A-AB58-849C073C49B9}"/>
              </a:ext>
            </a:extLst>
          </p:cNvPr>
          <p:cNvSpPr>
            <a:spLocks noGrp="1"/>
          </p:cNvSpPr>
          <p:nvPr/>
        </p:nvSpPr>
        <p:spPr>
          <a:xfrm>
            <a:off x="5200650" y="4648200"/>
            <a:ext cx="495300" cy="171450"/>
          </a:xfrm>
          <a:prstGeom prst="roundRect">
            <a:avLst>
              <a:gd name="adj" fmla="val 44444"/>
            </a:avLst>
          </a:prstGeom>
          <a:solidFill>
            <a:srgbClr val="0047FF"/>
          </a:solidFill>
          <a:ln w="0">
            <a:noFill/>
            <a:prstDash val="solid"/>
          </a:ln>
        </p:spPr>
        <p:txBody>
          <a:bodyPr/>
          <a:lstStyle/>
          <a:p>
            <a:endParaRPr lang="en-US"/>
          </a:p>
        </p:txBody>
      </p:sp>
      <p:sp>
        <p:nvSpPr>
          <p:cNvPr id="178" name="Rounded Rectangle 177">
            <a:extLst>
              <a:ext uri="{FF2B5EF4-FFF2-40B4-BE49-F238E27FC236}">
                <a16:creationId xmlns:a16="http://schemas.microsoft.com/office/drawing/2014/main" id="{12D50374-093B-4848-84EC-E19AE7E09D01}"/>
              </a:ext>
            </a:extLst>
          </p:cNvPr>
          <p:cNvSpPr>
            <a:spLocks noGrp="1"/>
          </p:cNvSpPr>
          <p:nvPr/>
        </p:nvSpPr>
        <p:spPr>
          <a:xfrm>
            <a:off x="5772150" y="45529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79" name="Rounded Rectangle 178">
            <a:extLst>
              <a:ext uri="{FF2B5EF4-FFF2-40B4-BE49-F238E27FC236}">
                <a16:creationId xmlns:a16="http://schemas.microsoft.com/office/drawing/2014/main" id="{FEBD0EE0-5D2E-4123-A98B-BFCAA88713B1}"/>
              </a:ext>
            </a:extLst>
          </p:cNvPr>
          <p:cNvSpPr>
            <a:spLocks noGrp="1"/>
          </p:cNvSpPr>
          <p:nvPr/>
        </p:nvSpPr>
        <p:spPr>
          <a:xfrm>
            <a:off x="5848350" y="4648200"/>
            <a:ext cx="495300" cy="171450"/>
          </a:xfrm>
          <a:prstGeom prst="roundRect">
            <a:avLst>
              <a:gd name="adj" fmla="val 44444"/>
            </a:avLst>
          </a:prstGeom>
          <a:solidFill>
            <a:srgbClr val="0047FF"/>
          </a:solidFill>
          <a:ln w="0">
            <a:noFill/>
            <a:prstDash val="solid"/>
          </a:ln>
        </p:spPr>
        <p:txBody>
          <a:bodyPr/>
          <a:lstStyle/>
          <a:p>
            <a:endParaRPr lang="en-US"/>
          </a:p>
        </p:txBody>
      </p:sp>
      <p:sp>
        <p:nvSpPr>
          <p:cNvPr id="180" name="Rounded Rectangle 179">
            <a:extLst>
              <a:ext uri="{FF2B5EF4-FFF2-40B4-BE49-F238E27FC236}">
                <a16:creationId xmlns:a16="http://schemas.microsoft.com/office/drawing/2014/main" id="{2ED53796-A1FF-4C61-A26F-9B7FDC4FCBB2}"/>
              </a:ext>
            </a:extLst>
          </p:cNvPr>
          <p:cNvSpPr>
            <a:spLocks noGrp="1"/>
          </p:cNvSpPr>
          <p:nvPr/>
        </p:nvSpPr>
        <p:spPr>
          <a:xfrm>
            <a:off x="6419850" y="45529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81" name="Rounded Rectangle 180">
            <a:extLst>
              <a:ext uri="{FF2B5EF4-FFF2-40B4-BE49-F238E27FC236}">
                <a16:creationId xmlns:a16="http://schemas.microsoft.com/office/drawing/2014/main" id="{91E0D07A-381D-42E5-A344-5C112221035F}"/>
              </a:ext>
            </a:extLst>
          </p:cNvPr>
          <p:cNvSpPr>
            <a:spLocks noGrp="1"/>
          </p:cNvSpPr>
          <p:nvPr/>
        </p:nvSpPr>
        <p:spPr>
          <a:xfrm>
            <a:off x="6496050" y="4648200"/>
            <a:ext cx="495300" cy="171450"/>
          </a:xfrm>
          <a:prstGeom prst="roundRect">
            <a:avLst>
              <a:gd name="adj" fmla="val 44444"/>
            </a:avLst>
          </a:prstGeom>
          <a:solidFill>
            <a:srgbClr val="50658E"/>
          </a:solidFill>
          <a:ln w="0">
            <a:noFill/>
            <a:prstDash val="solid"/>
          </a:ln>
        </p:spPr>
        <p:txBody>
          <a:bodyPr/>
          <a:lstStyle/>
          <a:p>
            <a:endParaRPr lang="en-US"/>
          </a:p>
        </p:txBody>
      </p:sp>
      <p:sp>
        <p:nvSpPr>
          <p:cNvPr id="182" name="Rounded Rectangle 181">
            <a:extLst>
              <a:ext uri="{FF2B5EF4-FFF2-40B4-BE49-F238E27FC236}">
                <a16:creationId xmlns:a16="http://schemas.microsoft.com/office/drawing/2014/main" id="{F30A9430-C923-4CBC-AE09-C10D1D0CA8D0}"/>
              </a:ext>
            </a:extLst>
          </p:cNvPr>
          <p:cNvSpPr>
            <a:spLocks noGrp="1"/>
          </p:cNvSpPr>
          <p:nvPr/>
        </p:nvSpPr>
        <p:spPr>
          <a:xfrm>
            <a:off x="7067550" y="45529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83" name="Rounded Rectangle 182">
            <a:extLst>
              <a:ext uri="{FF2B5EF4-FFF2-40B4-BE49-F238E27FC236}">
                <a16:creationId xmlns:a16="http://schemas.microsoft.com/office/drawing/2014/main" id="{1AF1D176-CC25-4810-B03B-E98071E097AB}"/>
              </a:ext>
            </a:extLst>
          </p:cNvPr>
          <p:cNvSpPr>
            <a:spLocks noGrp="1"/>
          </p:cNvSpPr>
          <p:nvPr/>
        </p:nvSpPr>
        <p:spPr>
          <a:xfrm>
            <a:off x="7715250" y="45529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84" name="Rounded Rectangle 183">
            <a:extLst>
              <a:ext uri="{FF2B5EF4-FFF2-40B4-BE49-F238E27FC236}">
                <a16:creationId xmlns:a16="http://schemas.microsoft.com/office/drawing/2014/main" id="{0F79FCE6-16E0-46CE-A54E-7A2AF7458602}"/>
              </a:ext>
            </a:extLst>
          </p:cNvPr>
          <p:cNvSpPr>
            <a:spLocks noGrp="1"/>
          </p:cNvSpPr>
          <p:nvPr/>
        </p:nvSpPr>
        <p:spPr>
          <a:xfrm>
            <a:off x="8362950" y="45529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85" name="Rounded Rectangle 184">
            <a:extLst>
              <a:ext uri="{FF2B5EF4-FFF2-40B4-BE49-F238E27FC236}">
                <a16:creationId xmlns:a16="http://schemas.microsoft.com/office/drawing/2014/main" id="{0FB337F4-43AF-4A6F-9DE4-347D2C465F77}"/>
              </a:ext>
            </a:extLst>
          </p:cNvPr>
          <p:cNvSpPr>
            <a:spLocks noGrp="1"/>
          </p:cNvSpPr>
          <p:nvPr/>
        </p:nvSpPr>
        <p:spPr>
          <a:xfrm>
            <a:off x="9010650" y="4552950"/>
            <a:ext cx="249555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186" name="Rectangle 185">
            <a:extLst>
              <a:ext uri="{FF2B5EF4-FFF2-40B4-BE49-F238E27FC236}">
                <a16:creationId xmlns:a16="http://schemas.microsoft.com/office/drawing/2014/main" id="{64366983-28DA-407D-94C3-CF114CD32A1B}"/>
              </a:ext>
            </a:extLst>
          </p:cNvPr>
          <p:cNvSpPr>
            <a:spLocks noGrp="1"/>
          </p:cNvSpPr>
          <p:nvPr/>
        </p:nvSpPr>
        <p:spPr>
          <a:xfrm>
            <a:off x="9124950" y="4619625"/>
            <a:ext cx="2266950" cy="238125"/>
          </a:xfrm>
          <a:prstGeom prst="rect">
            <a:avLst/>
          </a:prstGeom>
          <a:noFill/>
          <a:ln w="0">
            <a:noFill/>
          </a:ln>
        </p:spPr>
        <p:txBody>
          <a:bodyPr wrap="square" lIns="0" tIns="0" rIns="0" bIns="0" anchor="t">
            <a:normAutofit/>
          </a:bodyPr>
          <a:lstStyle/>
          <a:p>
            <a:pPr algn="l">
              <a:lnSpc>
                <a:spcPct val="95000"/>
              </a:lnSpc>
              <a:buNone/>
              <a:defRPr sz="773" b="0">
                <a:solidFill>
                  <a:srgbClr val="50658E"/>
                </a:solidFill>
                <a:latin typeface="Arial"/>
                <a:ea typeface="Arial"/>
                <a:cs typeface="Arial"/>
              </a:defRPr>
            </a:pPr>
            <a:r>
              <a:rPr lang="en-US" sz="773" b="0">
                <a:solidFill>
                  <a:srgbClr val="50658E"/>
                </a:solidFill>
                <a:latin typeface="Arial"/>
                <a:ea typeface="Arial"/>
                <a:cs typeface="Arial"/>
              </a:rPr>
              <a:t>Architecture principles and constraints</a:t>
            </a:r>
            <a:endParaRPr sz="773" b="0">
              <a:solidFill>
                <a:srgbClr val="50658E"/>
              </a:solidFill>
              <a:latin typeface="Arial"/>
              <a:ea typeface="Arial"/>
              <a:cs typeface="Arial"/>
            </a:endParaRPr>
          </a:p>
        </p:txBody>
      </p:sp>
      <p:sp>
        <p:nvSpPr>
          <p:cNvPr id="187" name="Rounded Rectangle 186">
            <a:extLst>
              <a:ext uri="{FF2B5EF4-FFF2-40B4-BE49-F238E27FC236}">
                <a16:creationId xmlns:a16="http://schemas.microsoft.com/office/drawing/2014/main" id="{92056589-76DD-4DDF-9134-AA8E23E2A829}"/>
              </a:ext>
            </a:extLst>
          </p:cNvPr>
          <p:cNvSpPr>
            <a:spLocks noGrp="1"/>
          </p:cNvSpPr>
          <p:nvPr/>
        </p:nvSpPr>
        <p:spPr>
          <a:xfrm>
            <a:off x="685800" y="4914900"/>
            <a:ext cx="314325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88" name="Rectangle 187">
            <a:extLst>
              <a:ext uri="{FF2B5EF4-FFF2-40B4-BE49-F238E27FC236}">
                <a16:creationId xmlns:a16="http://schemas.microsoft.com/office/drawing/2014/main" id="{B26F22FE-C2F2-4CA5-BAFA-F5C280C37D77}"/>
              </a:ext>
            </a:extLst>
          </p:cNvPr>
          <p:cNvSpPr>
            <a:spLocks noGrp="1"/>
          </p:cNvSpPr>
          <p:nvPr/>
        </p:nvSpPr>
        <p:spPr>
          <a:xfrm>
            <a:off x="800100" y="4981575"/>
            <a:ext cx="2914650" cy="238125"/>
          </a:xfrm>
          <a:prstGeom prst="rect">
            <a:avLst/>
          </a:prstGeom>
          <a:noFill/>
          <a:ln w="0">
            <a:noFill/>
          </a:ln>
        </p:spPr>
        <p:txBody>
          <a:bodyPr wrap="square" lIns="0" tIns="0" rIns="0" bIns="0" anchor="t">
            <a:normAutofit/>
          </a:bodyPr>
          <a:lstStyle/>
          <a:p>
            <a:pPr algn="l">
              <a:lnSpc>
                <a:spcPct val="95000"/>
              </a:lnSpc>
              <a:buNone/>
              <a:defRPr sz="788" b="0">
                <a:solidFill>
                  <a:srgbClr val="070154"/>
                </a:solidFill>
                <a:latin typeface="Arial"/>
                <a:ea typeface="Arial"/>
                <a:cs typeface="Arial"/>
              </a:defRPr>
            </a:pPr>
            <a:r>
              <a:rPr lang="en-US" sz="788" b="0">
                <a:solidFill>
                  <a:srgbClr val="070154"/>
                </a:solidFill>
                <a:latin typeface="Arial"/>
                <a:ea typeface="Arial"/>
                <a:cs typeface="Arial"/>
              </a:rPr>
              <a:t>Prioritize modernization targets and waves</a:t>
            </a:r>
            <a:endParaRPr sz="788" b="0">
              <a:solidFill>
                <a:srgbClr val="070154"/>
              </a:solidFill>
              <a:latin typeface="Arial"/>
              <a:ea typeface="Arial"/>
              <a:cs typeface="Arial"/>
            </a:endParaRPr>
          </a:p>
        </p:txBody>
      </p:sp>
      <p:sp>
        <p:nvSpPr>
          <p:cNvPr id="189" name="Rounded Rectangle 188">
            <a:extLst>
              <a:ext uri="{FF2B5EF4-FFF2-40B4-BE49-F238E27FC236}">
                <a16:creationId xmlns:a16="http://schemas.microsoft.com/office/drawing/2014/main" id="{E79E57F6-E48D-4133-B140-52721F030494}"/>
              </a:ext>
            </a:extLst>
          </p:cNvPr>
          <p:cNvSpPr>
            <a:spLocks noGrp="1"/>
          </p:cNvSpPr>
          <p:nvPr/>
        </p:nvSpPr>
        <p:spPr>
          <a:xfrm>
            <a:off x="3829050" y="49149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90" name="Rounded Rectangle 189">
            <a:extLst>
              <a:ext uri="{FF2B5EF4-FFF2-40B4-BE49-F238E27FC236}">
                <a16:creationId xmlns:a16="http://schemas.microsoft.com/office/drawing/2014/main" id="{9BAABD25-2E58-482E-8587-2007A462AEBD}"/>
              </a:ext>
            </a:extLst>
          </p:cNvPr>
          <p:cNvSpPr>
            <a:spLocks noGrp="1"/>
          </p:cNvSpPr>
          <p:nvPr/>
        </p:nvSpPr>
        <p:spPr>
          <a:xfrm>
            <a:off x="4476750" y="49149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91" name="Rounded Rectangle 190">
            <a:extLst>
              <a:ext uri="{FF2B5EF4-FFF2-40B4-BE49-F238E27FC236}">
                <a16:creationId xmlns:a16="http://schemas.microsoft.com/office/drawing/2014/main" id="{28DCCB06-312A-4CB6-B745-873F17EF8EB9}"/>
              </a:ext>
            </a:extLst>
          </p:cNvPr>
          <p:cNvSpPr>
            <a:spLocks noGrp="1"/>
          </p:cNvSpPr>
          <p:nvPr/>
        </p:nvSpPr>
        <p:spPr>
          <a:xfrm>
            <a:off x="5124450" y="49149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92" name="Rounded Rectangle 191">
            <a:extLst>
              <a:ext uri="{FF2B5EF4-FFF2-40B4-BE49-F238E27FC236}">
                <a16:creationId xmlns:a16="http://schemas.microsoft.com/office/drawing/2014/main" id="{77236016-EAA9-42CC-A6CF-291425D41C4A}"/>
              </a:ext>
            </a:extLst>
          </p:cNvPr>
          <p:cNvSpPr>
            <a:spLocks noGrp="1"/>
          </p:cNvSpPr>
          <p:nvPr/>
        </p:nvSpPr>
        <p:spPr>
          <a:xfrm>
            <a:off x="5772150" y="49149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93" name="Rounded Rectangle 192">
            <a:extLst>
              <a:ext uri="{FF2B5EF4-FFF2-40B4-BE49-F238E27FC236}">
                <a16:creationId xmlns:a16="http://schemas.microsoft.com/office/drawing/2014/main" id="{D019C6B2-880F-4FAF-AC54-8198169D022D}"/>
              </a:ext>
            </a:extLst>
          </p:cNvPr>
          <p:cNvSpPr>
            <a:spLocks noGrp="1"/>
          </p:cNvSpPr>
          <p:nvPr/>
        </p:nvSpPr>
        <p:spPr>
          <a:xfrm>
            <a:off x="5848350" y="5010150"/>
            <a:ext cx="495300" cy="171450"/>
          </a:xfrm>
          <a:prstGeom prst="roundRect">
            <a:avLst>
              <a:gd name="adj" fmla="val 44444"/>
            </a:avLst>
          </a:prstGeom>
          <a:solidFill>
            <a:srgbClr val="0047FF"/>
          </a:solidFill>
          <a:ln w="0">
            <a:noFill/>
            <a:prstDash val="solid"/>
          </a:ln>
        </p:spPr>
        <p:txBody>
          <a:bodyPr/>
          <a:lstStyle/>
          <a:p>
            <a:endParaRPr lang="en-US"/>
          </a:p>
        </p:txBody>
      </p:sp>
      <p:sp>
        <p:nvSpPr>
          <p:cNvPr id="194" name="Rounded Rectangle 193">
            <a:extLst>
              <a:ext uri="{FF2B5EF4-FFF2-40B4-BE49-F238E27FC236}">
                <a16:creationId xmlns:a16="http://schemas.microsoft.com/office/drawing/2014/main" id="{5B6C2429-7BF4-4328-A34D-93F55601B39E}"/>
              </a:ext>
            </a:extLst>
          </p:cNvPr>
          <p:cNvSpPr>
            <a:spLocks noGrp="1"/>
          </p:cNvSpPr>
          <p:nvPr/>
        </p:nvSpPr>
        <p:spPr>
          <a:xfrm>
            <a:off x="6419850" y="49149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95" name="Rounded Rectangle 194">
            <a:extLst>
              <a:ext uri="{FF2B5EF4-FFF2-40B4-BE49-F238E27FC236}">
                <a16:creationId xmlns:a16="http://schemas.microsoft.com/office/drawing/2014/main" id="{790816B0-22DF-4286-8215-42CB4AE2D46C}"/>
              </a:ext>
            </a:extLst>
          </p:cNvPr>
          <p:cNvSpPr>
            <a:spLocks noGrp="1"/>
          </p:cNvSpPr>
          <p:nvPr/>
        </p:nvSpPr>
        <p:spPr>
          <a:xfrm>
            <a:off x="6496050" y="5010150"/>
            <a:ext cx="495300" cy="171450"/>
          </a:xfrm>
          <a:prstGeom prst="roundRect">
            <a:avLst>
              <a:gd name="adj" fmla="val 44444"/>
            </a:avLst>
          </a:prstGeom>
          <a:solidFill>
            <a:srgbClr val="50658E"/>
          </a:solidFill>
          <a:ln w="0">
            <a:noFill/>
            <a:prstDash val="solid"/>
          </a:ln>
        </p:spPr>
        <p:txBody>
          <a:bodyPr/>
          <a:lstStyle/>
          <a:p>
            <a:endParaRPr lang="en-US"/>
          </a:p>
        </p:txBody>
      </p:sp>
      <p:sp>
        <p:nvSpPr>
          <p:cNvPr id="196" name="Rounded Rectangle 195">
            <a:extLst>
              <a:ext uri="{FF2B5EF4-FFF2-40B4-BE49-F238E27FC236}">
                <a16:creationId xmlns:a16="http://schemas.microsoft.com/office/drawing/2014/main" id="{8AFA5E47-F6DB-4BD2-AEEC-B145DD89F648}"/>
              </a:ext>
            </a:extLst>
          </p:cNvPr>
          <p:cNvSpPr>
            <a:spLocks noGrp="1"/>
          </p:cNvSpPr>
          <p:nvPr/>
        </p:nvSpPr>
        <p:spPr>
          <a:xfrm>
            <a:off x="7067550" y="49149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97" name="Rounded Rectangle 196">
            <a:extLst>
              <a:ext uri="{FF2B5EF4-FFF2-40B4-BE49-F238E27FC236}">
                <a16:creationId xmlns:a16="http://schemas.microsoft.com/office/drawing/2014/main" id="{2A0D360F-EE54-408C-AF4B-C82BBFF09AAB}"/>
              </a:ext>
            </a:extLst>
          </p:cNvPr>
          <p:cNvSpPr>
            <a:spLocks noGrp="1"/>
          </p:cNvSpPr>
          <p:nvPr/>
        </p:nvSpPr>
        <p:spPr>
          <a:xfrm>
            <a:off x="7143750" y="5010150"/>
            <a:ext cx="495300" cy="171450"/>
          </a:xfrm>
          <a:prstGeom prst="roundRect">
            <a:avLst>
              <a:gd name="adj" fmla="val 44444"/>
            </a:avLst>
          </a:prstGeom>
          <a:solidFill>
            <a:srgbClr val="50658E"/>
          </a:solidFill>
          <a:ln w="0">
            <a:noFill/>
            <a:prstDash val="solid"/>
          </a:ln>
        </p:spPr>
        <p:txBody>
          <a:bodyPr/>
          <a:lstStyle/>
          <a:p>
            <a:endParaRPr lang="en-US"/>
          </a:p>
        </p:txBody>
      </p:sp>
      <p:sp>
        <p:nvSpPr>
          <p:cNvPr id="198" name="Rounded Rectangle 197">
            <a:extLst>
              <a:ext uri="{FF2B5EF4-FFF2-40B4-BE49-F238E27FC236}">
                <a16:creationId xmlns:a16="http://schemas.microsoft.com/office/drawing/2014/main" id="{2A09AA77-665E-4E27-9EFA-4289FEB57D7B}"/>
              </a:ext>
            </a:extLst>
          </p:cNvPr>
          <p:cNvSpPr>
            <a:spLocks noGrp="1"/>
          </p:cNvSpPr>
          <p:nvPr/>
        </p:nvSpPr>
        <p:spPr>
          <a:xfrm>
            <a:off x="7715250" y="49149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199" name="Rounded Rectangle 198">
            <a:extLst>
              <a:ext uri="{FF2B5EF4-FFF2-40B4-BE49-F238E27FC236}">
                <a16:creationId xmlns:a16="http://schemas.microsoft.com/office/drawing/2014/main" id="{4ACB900F-E163-46FE-8716-FBE9754A86BD}"/>
              </a:ext>
            </a:extLst>
          </p:cNvPr>
          <p:cNvSpPr>
            <a:spLocks noGrp="1"/>
          </p:cNvSpPr>
          <p:nvPr/>
        </p:nvSpPr>
        <p:spPr>
          <a:xfrm>
            <a:off x="7791450" y="5010150"/>
            <a:ext cx="495300" cy="171450"/>
          </a:xfrm>
          <a:prstGeom prst="roundRect">
            <a:avLst>
              <a:gd name="adj" fmla="val 44444"/>
            </a:avLst>
          </a:prstGeom>
          <a:solidFill>
            <a:srgbClr val="50658E"/>
          </a:solidFill>
          <a:ln w="0">
            <a:noFill/>
            <a:prstDash val="solid"/>
          </a:ln>
        </p:spPr>
        <p:txBody>
          <a:bodyPr/>
          <a:lstStyle/>
          <a:p>
            <a:endParaRPr lang="en-US"/>
          </a:p>
        </p:txBody>
      </p:sp>
      <p:sp>
        <p:nvSpPr>
          <p:cNvPr id="200" name="Rounded Rectangle 199">
            <a:extLst>
              <a:ext uri="{FF2B5EF4-FFF2-40B4-BE49-F238E27FC236}">
                <a16:creationId xmlns:a16="http://schemas.microsoft.com/office/drawing/2014/main" id="{D29D3238-3FC1-49AD-B864-4411FAEC667D}"/>
              </a:ext>
            </a:extLst>
          </p:cNvPr>
          <p:cNvSpPr>
            <a:spLocks noGrp="1"/>
          </p:cNvSpPr>
          <p:nvPr/>
        </p:nvSpPr>
        <p:spPr>
          <a:xfrm>
            <a:off x="8362950" y="49149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201" name="Rounded Rectangle 200">
            <a:extLst>
              <a:ext uri="{FF2B5EF4-FFF2-40B4-BE49-F238E27FC236}">
                <a16:creationId xmlns:a16="http://schemas.microsoft.com/office/drawing/2014/main" id="{EFEC67A2-BA8B-4ECF-B070-A25A37EB9652}"/>
              </a:ext>
            </a:extLst>
          </p:cNvPr>
          <p:cNvSpPr>
            <a:spLocks noGrp="1"/>
          </p:cNvSpPr>
          <p:nvPr/>
        </p:nvSpPr>
        <p:spPr>
          <a:xfrm>
            <a:off x="9010650" y="4914900"/>
            <a:ext cx="249555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202" name="Rectangle 201">
            <a:extLst>
              <a:ext uri="{FF2B5EF4-FFF2-40B4-BE49-F238E27FC236}">
                <a16:creationId xmlns:a16="http://schemas.microsoft.com/office/drawing/2014/main" id="{3CD7C30A-0AAB-402B-A757-2C38A6DDC2EC}"/>
              </a:ext>
            </a:extLst>
          </p:cNvPr>
          <p:cNvSpPr>
            <a:spLocks noGrp="1"/>
          </p:cNvSpPr>
          <p:nvPr/>
        </p:nvSpPr>
        <p:spPr>
          <a:xfrm>
            <a:off x="9124950" y="4981575"/>
            <a:ext cx="2266950" cy="238125"/>
          </a:xfrm>
          <a:prstGeom prst="rect">
            <a:avLst/>
          </a:prstGeom>
          <a:noFill/>
          <a:ln w="0">
            <a:noFill/>
          </a:ln>
        </p:spPr>
        <p:txBody>
          <a:bodyPr wrap="square" lIns="0" tIns="0" rIns="0" bIns="0" anchor="t">
            <a:normAutofit/>
          </a:bodyPr>
          <a:lstStyle/>
          <a:p>
            <a:pPr algn="l">
              <a:lnSpc>
                <a:spcPct val="95000"/>
              </a:lnSpc>
              <a:buNone/>
              <a:defRPr sz="773" b="0">
                <a:solidFill>
                  <a:srgbClr val="50658E"/>
                </a:solidFill>
                <a:latin typeface="Arial"/>
                <a:ea typeface="Arial"/>
                <a:cs typeface="Arial"/>
              </a:defRPr>
            </a:pPr>
            <a:r>
              <a:rPr lang="en-US" sz="773" b="0">
                <a:solidFill>
                  <a:srgbClr val="50658E"/>
                </a:solidFill>
                <a:latin typeface="Arial"/>
                <a:ea typeface="Arial"/>
                <a:cs typeface="Arial"/>
              </a:rPr>
              <a:t>Prioritized modernization roadmap</a:t>
            </a:r>
            <a:endParaRPr sz="773" b="0">
              <a:solidFill>
                <a:srgbClr val="50658E"/>
              </a:solidFill>
              <a:latin typeface="Arial"/>
              <a:ea typeface="Arial"/>
              <a:cs typeface="Arial"/>
            </a:endParaRPr>
          </a:p>
        </p:txBody>
      </p:sp>
      <p:sp>
        <p:nvSpPr>
          <p:cNvPr id="203" name="Rounded Rectangle 202">
            <a:extLst>
              <a:ext uri="{FF2B5EF4-FFF2-40B4-BE49-F238E27FC236}">
                <a16:creationId xmlns:a16="http://schemas.microsoft.com/office/drawing/2014/main" id="{0F4C7FD4-C8A5-47CE-BD9F-F4E9F165165E}"/>
              </a:ext>
            </a:extLst>
          </p:cNvPr>
          <p:cNvSpPr>
            <a:spLocks noGrp="1"/>
          </p:cNvSpPr>
          <p:nvPr/>
        </p:nvSpPr>
        <p:spPr>
          <a:xfrm>
            <a:off x="685800" y="5276850"/>
            <a:ext cx="314325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204" name="Rectangle 203">
            <a:extLst>
              <a:ext uri="{FF2B5EF4-FFF2-40B4-BE49-F238E27FC236}">
                <a16:creationId xmlns:a16="http://schemas.microsoft.com/office/drawing/2014/main" id="{2A0A0CD8-B553-4954-9C21-1EB1C4DC8E39}"/>
              </a:ext>
            </a:extLst>
          </p:cNvPr>
          <p:cNvSpPr>
            <a:spLocks noGrp="1"/>
          </p:cNvSpPr>
          <p:nvPr/>
        </p:nvSpPr>
        <p:spPr>
          <a:xfrm>
            <a:off x="800100" y="5343525"/>
            <a:ext cx="2914650" cy="238125"/>
          </a:xfrm>
          <a:prstGeom prst="rect">
            <a:avLst/>
          </a:prstGeom>
          <a:noFill/>
          <a:ln w="0">
            <a:noFill/>
          </a:ln>
        </p:spPr>
        <p:txBody>
          <a:bodyPr wrap="square" lIns="0" tIns="0" rIns="0" bIns="0" anchor="t">
            <a:normAutofit/>
          </a:bodyPr>
          <a:lstStyle/>
          <a:p>
            <a:pPr algn="l">
              <a:lnSpc>
                <a:spcPct val="95000"/>
              </a:lnSpc>
              <a:buNone/>
              <a:defRPr sz="788" b="0">
                <a:solidFill>
                  <a:srgbClr val="070154"/>
                </a:solidFill>
                <a:latin typeface="Arial"/>
                <a:ea typeface="Arial"/>
                <a:cs typeface="Arial"/>
              </a:defRPr>
            </a:pPr>
            <a:r>
              <a:rPr lang="en-US" sz="788" b="0">
                <a:solidFill>
                  <a:srgbClr val="070154"/>
                </a:solidFill>
                <a:latin typeface="Arial"/>
                <a:ea typeface="Arial"/>
                <a:cs typeface="Arial"/>
              </a:rPr>
              <a:t>Define future-state architecture and interim phases</a:t>
            </a:r>
            <a:endParaRPr sz="788" b="0">
              <a:solidFill>
                <a:srgbClr val="070154"/>
              </a:solidFill>
              <a:latin typeface="Arial"/>
              <a:ea typeface="Arial"/>
              <a:cs typeface="Arial"/>
            </a:endParaRPr>
          </a:p>
        </p:txBody>
      </p:sp>
      <p:sp>
        <p:nvSpPr>
          <p:cNvPr id="205" name="Rounded Rectangle 204">
            <a:extLst>
              <a:ext uri="{FF2B5EF4-FFF2-40B4-BE49-F238E27FC236}">
                <a16:creationId xmlns:a16="http://schemas.microsoft.com/office/drawing/2014/main" id="{DFCBD1D8-A00E-4CC0-8571-D1FB55BC7920}"/>
              </a:ext>
            </a:extLst>
          </p:cNvPr>
          <p:cNvSpPr>
            <a:spLocks noGrp="1"/>
          </p:cNvSpPr>
          <p:nvPr/>
        </p:nvSpPr>
        <p:spPr>
          <a:xfrm>
            <a:off x="3829050" y="52768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206" name="Rounded Rectangle 205">
            <a:extLst>
              <a:ext uri="{FF2B5EF4-FFF2-40B4-BE49-F238E27FC236}">
                <a16:creationId xmlns:a16="http://schemas.microsoft.com/office/drawing/2014/main" id="{973E8A46-AC6E-4619-A2AF-8DE8185620F9}"/>
              </a:ext>
            </a:extLst>
          </p:cNvPr>
          <p:cNvSpPr>
            <a:spLocks noGrp="1"/>
          </p:cNvSpPr>
          <p:nvPr/>
        </p:nvSpPr>
        <p:spPr>
          <a:xfrm>
            <a:off x="4476750" y="52768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207" name="Rounded Rectangle 206">
            <a:extLst>
              <a:ext uri="{FF2B5EF4-FFF2-40B4-BE49-F238E27FC236}">
                <a16:creationId xmlns:a16="http://schemas.microsoft.com/office/drawing/2014/main" id="{AC9A2915-D0C6-4EDC-B500-0A464A8193C3}"/>
              </a:ext>
            </a:extLst>
          </p:cNvPr>
          <p:cNvSpPr>
            <a:spLocks noGrp="1"/>
          </p:cNvSpPr>
          <p:nvPr/>
        </p:nvSpPr>
        <p:spPr>
          <a:xfrm>
            <a:off x="5124450" y="52768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208" name="Rounded Rectangle 207">
            <a:extLst>
              <a:ext uri="{FF2B5EF4-FFF2-40B4-BE49-F238E27FC236}">
                <a16:creationId xmlns:a16="http://schemas.microsoft.com/office/drawing/2014/main" id="{93EC652A-E3AB-4E4D-A4D0-00E816E32CFD}"/>
              </a:ext>
            </a:extLst>
          </p:cNvPr>
          <p:cNvSpPr>
            <a:spLocks noGrp="1"/>
          </p:cNvSpPr>
          <p:nvPr/>
        </p:nvSpPr>
        <p:spPr>
          <a:xfrm>
            <a:off x="5772150" y="52768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209" name="Rounded Rectangle 208">
            <a:extLst>
              <a:ext uri="{FF2B5EF4-FFF2-40B4-BE49-F238E27FC236}">
                <a16:creationId xmlns:a16="http://schemas.microsoft.com/office/drawing/2014/main" id="{87A7E8A6-1B88-489F-88CB-1662050664C8}"/>
              </a:ext>
            </a:extLst>
          </p:cNvPr>
          <p:cNvSpPr>
            <a:spLocks noGrp="1"/>
          </p:cNvSpPr>
          <p:nvPr/>
        </p:nvSpPr>
        <p:spPr>
          <a:xfrm>
            <a:off x="6419850" y="52768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210" name="Rounded Rectangle 209">
            <a:extLst>
              <a:ext uri="{FF2B5EF4-FFF2-40B4-BE49-F238E27FC236}">
                <a16:creationId xmlns:a16="http://schemas.microsoft.com/office/drawing/2014/main" id="{FA46929B-50A2-4A05-B77B-F280505B27B0}"/>
              </a:ext>
            </a:extLst>
          </p:cNvPr>
          <p:cNvSpPr>
            <a:spLocks noGrp="1"/>
          </p:cNvSpPr>
          <p:nvPr/>
        </p:nvSpPr>
        <p:spPr>
          <a:xfrm>
            <a:off x="6496050" y="5372100"/>
            <a:ext cx="495300" cy="171450"/>
          </a:xfrm>
          <a:prstGeom prst="roundRect">
            <a:avLst>
              <a:gd name="adj" fmla="val 44444"/>
            </a:avLst>
          </a:prstGeom>
          <a:solidFill>
            <a:srgbClr val="50658E"/>
          </a:solidFill>
          <a:ln w="0">
            <a:noFill/>
            <a:prstDash val="solid"/>
          </a:ln>
        </p:spPr>
        <p:txBody>
          <a:bodyPr/>
          <a:lstStyle/>
          <a:p>
            <a:endParaRPr lang="en-US"/>
          </a:p>
        </p:txBody>
      </p:sp>
      <p:sp>
        <p:nvSpPr>
          <p:cNvPr id="211" name="Rounded Rectangle 210">
            <a:extLst>
              <a:ext uri="{FF2B5EF4-FFF2-40B4-BE49-F238E27FC236}">
                <a16:creationId xmlns:a16="http://schemas.microsoft.com/office/drawing/2014/main" id="{7C2C591C-F02F-4ED3-899B-EB37E326A2B3}"/>
              </a:ext>
            </a:extLst>
          </p:cNvPr>
          <p:cNvSpPr>
            <a:spLocks noGrp="1"/>
          </p:cNvSpPr>
          <p:nvPr/>
        </p:nvSpPr>
        <p:spPr>
          <a:xfrm>
            <a:off x="7067550" y="52768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212" name="Rounded Rectangle 211">
            <a:extLst>
              <a:ext uri="{FF2B5EF4-FFF2-40B4-BE49-F238E27FC236}">
                <a16:creationId xmlns:a16="http://schemas.microsoft.com/office/drawing/2014/main" id="{7ECEF828-2CAA-423E-B506-D288544E0E11}"/>
              </a:ext>
            </a:extLst>
          </p:cNvPr>
          <p:cNvSpPr>
            <a:spLocks noGrp="1"/>
          </p:cNvSpPr>
          <p:nvPr/>
        </p:nvSpPr>
        <p:spPr>
          <a:xfrm>
            <a:off x="7143750" y="5372100"/>
            <a:ext cx="495300" cy="171450"/>
          </a:xfrm>
          <a:prstGeom prst="roundRect">
            <a:avLst>
              <a:gd name="adj" fmla="val 44444"/>
            </a:avLst>
          </a:prstGeom>
          <a:solidFill>
            <a:srgbClr val="50658E"/>
          </a:solidFill>
          <a:ln w="0">
            <a:noFill/>
            <a:prstDash val="solid"/>
          </a:ln>
        </p:spPr>
        <p:txBody>
          <a:bodyPr/>
          <a:lstStyle/>
          <a:p>
            <a:endParaRPr lang="en-US"/>
          </a:p>
        </p:txBody>
      </p:sp>
      <p:sp>
        <p:nvSpPr>
          <p:cNvPr id="213" name="Rounded Rectangle 212">
            <a:extLst>
              <a:ext uri="{FF2B5EF4-FFF2-40B4-BE49-F238E27FC236}">
                <a16:creationId xmlns:a16="http://schemas.microsoft.com/office/drawing/2014/main" id="{003F4C46-7E91-4A52-BDBE-8A6F24C9BA59}"/>
              </a:ext>
            </a:extLst>
          </p:cNvPr>
          <p:cNvSpPr>
            <a:spLocks noGrp="1"/>
          </p:cNvSpPr>
          <p:nvPr/>
        </p:nvSpPr>
        <p:spPr>
          <a:xfrm>
            <a:off x="7715250" y="52768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214" name="Rounded Rectangle 213">
            <a:extLst>
              <a:ext uri="{FF2B5EF4-FFF2-40B4-BE49-F238E27FC236}">
                <a16:creationId xmlns:a16="http://schemas.microsoft.com/office/drawing/2014/main" id="{E41ADD0B-938A-4896-9DEE-E0D3BDC8BE8B}"/>
              </a:ext>
            </a:extLst>
          </p:cNvPr>
          <p:cNvSpPr>
            <a:spLocks noGrp="1"/>
          </p:cNvSpPr>
          <p:nvPr/>
        </p:nvSpPr>
        <p:spPr>
          <a:xfrm>
            <a:off x="7791450" y="5372100"/>
            <a:ext cx="495300" cy="171450"/>
          </a:xfrm>
          <a:prstGeom prst="roundRect">
            <a:avLst>
              <a:gd name="adj" fmla="val 44444"/>
            </a:avLst>
          </a:prstGeom>
          <a:solidFill>
            <a:srgbClr val="50658E"/>
          </a:solidFill>
          <a:ln w="0">
            <a:noFill/>
            <a:prstDash val="solid"/>
          </a:ln>
        </p:spPr>
        <p:txBody>
          <a:bodyPr/>
          <a:lstStyle/>
          <a:p>
            <a:endParaRPr lang="en-US"/>
          </a:p>
        </p:txBody>
      </p:sp>
      <p:sp>
        <p:nvSpPr>
          <p:cNvPr id="215" name="Rounded Rectangle 214">
            <a:extLst>
              <a:ext uri="{FF2B5EF4-FFF2-40B4-BE49-F238E27FC236}">
                <a16:creationId xmlns:a16="http://schemas.microsoft.com/office/drawing/2014/main" id="{7D312F56-B3C4-4441-AB27-45C121BF6FBC}"/>
              </a:ext>
            </a:extLst>
          </p:cNvPr>
          <p:cNvSpPr>
            <a:spLocks noGrp="1"/>
          </p:cNvSpPr>
          <p:nvPr/>
        </p:nvSpPr>
        <p:spPr>
          <a:xfrm>
            <a:off x="8362950" y="5276850"/>
            <a:ext cx="64770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216" name="Rounded Rectangle 215">
            <a:extLst>
              <a:ext uri="{FF2B5EF4-FFF2-40B4-BE49-F238E27FC236}">
                <a16:creationId xmlns:a16="http://schemas.microsoft.com/office/drawing/2014/main" id="{6991BC94-B83C-4B25-A9CE-8021165849A8}"/>
              </a:ext>
            </a:extLst>
          </p:cNvPr>
          <p:cNvSpPr>
            <a:spLocks noGrp="1"/>
          </p:cNvSpPr>
          <p:nvPr/>
        </p:nvSpPr>
        <p:spPr>
          <a:xfrm>
            <a:off x="8439150" y="5372100"/>
            <a:ext cx="495300" cy="171450"/>
          </a:xfrm>
          <a:prstGeom prst="roundRect">
            <a:avLst>
              <a:gd name="adj" fmla="val 44444"/>
            </a:avLst>
          </a:prstGeom>
          <a:solidFill>
            <a:srgbClr val="50658E"/>
          </a:solidFill>
          <a:ln w="0">
            <a:noFill/>
            <a:prstDash val="solid"/>
          </a:ln>
        </p:spPr>
        <p:txBody>
          <a:bodyPr/>
          <a:lstStyle/>
          <a:p>
            <a:endParaRPr lang="en-US"/>
          </a:p>
        </p:txBody>
      </p:sp>
      <p:sp>
        <p:nvSpPr>
          <p:cNvPr id="217" name="Rounded Rectangle 216">
            <a:extLst>
              <a:ext uri="{FF2B5EF4-FFF2-40B4-BE49-F238E27FC236}">
                <a16:creationId xmlns:a16="http://schemas.microsoft.com/office/drawing/2014/main" id="{C744CD88-D520-4FFD-ADF1-B054129BD386}"/>
              </a:ext>
            </a:extLst>
          </p:cNvPr>
          <p:cNvSpPr>
            <a:spLocks noGrp="1"/>
          </p:cNvSpPr>
          <p:nvPr/>
        </p:nvSpPr>
        <p:spPr>
          <a:xfrm>
            <a:off x="9010650" y="5276850"/>
            <a:ext cx="2495550" cy="361950"/>
          </a:xfrm>
          <a:prstGeom prst="roundRect">
            <a:avLst>
              <a:gd name="adj" fmla="val 21053"/>
            </a:avLst>
          </a:prstGeom>
          <a:solidFill>
            <a:srgbClr val="FFFFFF"/>
          </a:solidFill>
          <a:ln w="9525">
            <a:solidFill>
              <a:srgbClr val="CED7E6"/>
            </a:solidFill>
            <a:prstDash val="solid"/>
          </a:ln>
        </p:spPr>
        <p:txBody>
          <a:bodyPr/>
          <a:lstStyle/>
          <a:p>
            <a:endParaRPr lang="en-US"/>
          </a:p>
        </p:txBody>
      </p:sp>
      <p:sp>
        <p:nvSpPr>
          <p:cNvPr id="218" name="Rectangle 217">
            <a:extLst>
              <a:ext uri="{FF2B5EF4-FFF2-40B4-BE49-F238E27FC236}">
                <a16:creationId xmlns:a16="http://schemas.microsoft.com/office/drawing/2014/main" id="{BFA4CA6F-44A0-47C3-8A30-37B6EDA37094}"/>
              </a:ext>
            </a:extLst>
          </p:cNvPr>
          <p:cNvSpPr>
            <a:spLocks noGrp="1"/>
          </p:cNvSpPr>
          <p:nvPr/>
        </p:nvSpPr>
        <p:spPr>
          <a:xfrm>
            <a:off x="9124950" y="5343525"/>
            <a:ext cx="2266950" cy="238125"/>
          </a:xfrm>
          <a:prstGeom prst="rect">
            <a:avLst/>
          </a:prstGeom>
          <a:noFill/>
          <a:ln w="0">
            <a:noFill/>
          </a:ln>
        </p:spPr>
        <p:txBody>
          <a:bodyPr wrap="square" lIns="0" tIns="0" rIns="0" bIns="0" anchor="t">
            <a:normAutofit/>
          </a:bodyPr>
          <a:lstStyle/>
          <a:p>
            <a:pPr algn="l">
              <a:lnSpc>
                <a:spcPct val="95000"/>
              </a:lnSpc>
              <a:buNone/>
              <a:defRPr sz="773" b="0">
                <a:solidFill>
                  <a:srgbClr val="50658E"/>
                </a:solidFill>
                <a:latin typeface="Arial"/>
                <a:ea typeface="Arial"/>
                <a:cs typeface="Arial"/>
              </a:defRPr>
            </a:pPr>
            <a:r>
              <a:rPr lang="en-US" sz="773" b="0">
                <a:solidFill>
                  <a:srgbClr val="50658E"/>
                </a:solidFill>
                <a:latin typeface="Arial"/>
                <a:ea typeface="Arial"/>
                <a:cs typeface="Arial"/>
              </a:rPr>
              <a:t>Conceptual future-state architecture</a:t>
            </a:r>
            <a:endParaRPr sz="773" b="0">
              <a:solidFill>
                <a:srgbClr val="50658E"/>
              </a:solidFill>
              <a:latin typeface="Arial"/>
              <a:ea typeface="Arial"/>
              <a:cs typeface="Arial"/>
            </a:endParaRPr>
          </a:p>
        </p:txBody>
      </p:sp>
      <p:sp>
        <p:nvSpPr>
          <p:cNvPr id="219" name="Rounded Rectangle 218">
            <a:extLst>
              <a:ext uri="{FF2B5EF4-FFF2-40B4-BE49-F238E27FC236}">
                <a16:creationId xmlns:a16="http://schemas.microsoft.com/office/drawing/2014/main" id="{DA8E79F8-808B-41C9-9B7D-BC927522673B}"/>
              </a:ext>
            </a:extLst>
          </p:cNvPr>
          <p:cNvSpPr>
            <a:spLocks noGrp="1"/>
          </p:cNvSpPr>
          <p:nvPr/>
        </p:nvSpPr>
        <p:spPr>
          <a:xfrm>
            <a:off x="685800" y="5638800"/>
            <a:ext cx="314325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220" name="Rectangle 219">
            <a:extLst>
              <a:ext uri="{FF2B5EF4-FFF2-40B4-BE49-F238E27FC236}">
                <a16:creationId xmlns:a16="http://schemas.microsoft.com/office/drawing/2014/main" id="{8562CF35-DDF4-4785-8DE7-A0BFBE2F6ADB}"/>
              </a:ext>
            </a:extLst>
          </p:cNvPr>
          <p:cNvSpPr>
            <a:spLocks noGrp="1"/>
          </p:cNvSpPr>
          <p:nvPr/>
        </p:nvSpPr>
        <p:spPr>
          <a:xfrm>
            <a:off x="800100" y="5705475"/>
            <a:ext cx="2914650" cy="238125"/>
          </a:xfrm>
          <a:prstGeom prst="rect">
            <a:avLst/>
          </a:prstGeom>
          <a:noFill/>
          <a:ln w="0">
            <a:noFill/>
          </a:ln>
        </p:spPr>
        <p:txBody>
          <a:bodyPr wrap="square" lIns="0" tIns="0" rIns="0" bIns="0" anchor="t">
            <a:normAutofit/>
          </a:bodyPr>
          <a:lstStyle/>
          <a:p>
            <a:pPr algn="l">
              <a:lnSpc>
                <a:spcPct val="95000"/>
              </a:lnSpc>
              <a:buNone/>
              <a:defRPr sz="788" b="1">
                <a:solidFill>
                  <a:srgbClr val="070154"/>
                </a:solidFill>
                <a:latin typeface="Arial"/>
                <a:ea typeface="Arial"/>
                <a:cs typeface="Arial"/>
              </a:defRPr>
            </a:pPr>
            <a:r>
              <a:rPr lang="en-US" sz="788" b="1">
                <a:solidFill>
                  <a:srgbClr val="070154"/>
                </a:solidFill>
                <a:latin typeface="Arial"/>
                <a:ea typeface="Arial"/>
                <a:cs typeface="Arial"/>
              </a:rPr>
              <a:t>Executive review and modernization strategy decision</a:t>
            </a:r>
            <a:endParaRPr sz="788" b="1">
              <a:solidFill>
                <a:srgbClr val="070154"/>
              </a:solidFill>
              <a:latin typeface="Arial"/>
              <a:ea typeface="Arial"/>
              <a:cs typeface="Arial"/>
            </a:endParaRPr>
          </a:p>
        </p:txBody>
      </p:sp>
      <p:sp>
        <p:nvSpPr>
          <p:cNvPr id="221" name="Rounded Rectangle 220">
            <a:extLst>
              <a:ext uri="{FF2B5EF4-FFF2-40B4-BE49-F238E27FC236}">
                <a16:creationId xmlns:a16="http://schemas.microsoft.com/office/drawing/2014/main" id="{7DC33003-5BB6-49CF-B7B3-9BFB0D74E3C3}"/>
              </a:ext>
            </a:extLst>
          </p:cNvPr>
          <p:cNvSpPr>
            <a:spLocks noGrp="1"/>
          </p:cNvSpPr>
          <p:nvPr/>
        </p:nvSpPr>
        <p:spPr>
          <a:xfrm>
            <a:off x="3829050" y="56388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222" name="Rounded Rectangle 221">
            <a:extLst>
              <a:ext uri="{FF2B5EF4-FFF2-40B4-BE49-F238E27FC236}">
                <a16:creationId xmlns:a16="http://schemas.microsoft.com/office/drawing/2014/main" id="{E6D281A1-236B-4349-AB9B-37CF795824FE}"/>
              </a:ext>
            </a:extLst>
          </p:cNvPr>
          <p:cNvSpPr>
            <a:spLocks noGrp="1"/>
          </p:cNvSpPr>
          <p:nvPr/>
        </p:nvSpPr>
        <p:spPr>
          <a:xfrm>
            <a:off x="4476750" y="56388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223" name="Rounded Rectangle 222">
            <a:extLst>
              <a:ext uri="{FF2B5EF4-FFF2-40B4-BE49-F238E27FC236}">
                <a16:creationId xmlns:a16="http://schemas.microsoft.com/office/drawing/2014/main" id="{931F6C54-0758-4F6D-AA43-E868B0FED7EA}"/>
              </a:ext>
            </a:extLst>
          </p:cNvPr>
          <p:cNvSpPr>
            <a:spLocks noGrp="1"/>
          </p:cNvSpPr>
          <p:nvPr/>
        </p:nvSpPr>
        <p:spPr>
          <a:xfrm>
            <a:off x="5124450" y="56388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224" name="Rounded Rectangle 223">
            <a:extLst>
              <a:ext uri="{FF2B5EF4-FFF2-40B4-BE49-F238E27FC236}">
                <a16:creationId xmlns:a16="http://schemas.microsoft.com/office/drawing/2014/main" id="{C5542193-C09F-4056-9C2A-02440057F332}"/>
              </a:ext>
            </a:extLst>
          </p:cNvPr>
          <p:cNvSpPr>
            <a:spLocks noGrp="1"/>
          </p:cNvSpPr>
          <p:nvPr/>
        </p:nvSpPr>
        <p:spPr>
          <a:xfrm>
            <a:off x="5772150" y="56388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225" name="Rounded Rectangle 224">
            <a:extLst>
              <a:ext uri="{FF2B5EF4-FFF2-40B4-BE49-F238E27FC236}">
                <a16:creationId xmlns:a16="http://schemas.microsoft.com/office/drawing/2014/main" id="{9E5E3309-DC61-4060-BB8D-EC40940774CB}"/>
              </a:ext>
            </a:extLst>
          </p:cNvPr>
          <p:cNvSpPr>
            <a:spLocks noGrp="1"/>
          </p:cNvSpPr>
          <p:nvPr/>
        </p:nvSpPr>
        <p:spPr>
          <a:xfrm>
            <a:off x="6419850" y="56388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226" name="Rounded Rectangle 225">
            <a:extLst>
              <a:ext uri="{FF2B5EF4-FFF2-40B4-BE49-F238E27FC236}">
                <a16:creationId xmlns:a16="http://schemas.microsoft.com/office/drawing/2014/main" id="{C721166E-FF61-4BF4-86D0-7FFF2C6337C7}"/>
              </a:ext>
            </a:extLst>
          </p:cNvPr>
          <p:cNvSpPr>
            <a:spLocks noGrp="1"/>
          </p:cNvSpPr>
          <p:nvPr/>
        </p:nvSpPr>
        <p:spPr>
          <a:xfrm>
            <a:off x="7067550" y="56388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227" name="Rounded Rectangle 226">
            <a:extLst>
              <a:ext uri="{FF2B5EF4-FFF2-40B4-BE49-F238E27FC236}">
                <a16:creationId xmlns:a16="http://schemas.microsoft.com/office/drawing/2014/main" id="{323BEA6E-D750-4170-8D3E-E04EC1D4AA2F}"/>
              </a:ext>
            </a:extLst>
          </p:cNvPr>
          <p:cNvSpPr>
            <a:spLocks noGrp="1"/>
          </p:cNvSpPr>
          <p:nvPr/>
        </p:nvSpPr>
        <p:spPr>
          <a:xfrm>
            <a:off x="7715250" y="56388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228" name="Rounded Rectangle 227">
            <a:extLst>
              <a:ext uri="{FF2B5EF4-FFF2-40B4-BE49-F238E27FC236}">
                <a16:creationId xmlns:a16="http://schemas.microsoft.com/office/drawing/2014/main" id="{D0F9D339-B574-4886-92C1-68CA8BCF2DBB}"/>
              </a:ext>
            </a:extLst>
          </p:cNvPr>
          <p:cNvSpPr>
            <a:spLocks noGrp="1"/>
          </p:cNvSpPr>
          <p:nvPr/>
        </p:nvSpPr>
        <p:spPr>
          <a:xfrm>
            <a:off x="8362950" y="5638800"/>
            <a:ext cx="64770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229" name="Rounded Rectangle 228">
            <a:extLst>
              <a:ext uri="{FF2B5EF4-FFF2-40B4-BE49-F238E27FC236}">
                <a16:creationId xmlns:a16="http://schemas.microsoft.com/office/drawing/2014/main" id="{A7FAF961-AD62-4B97-9460-2D59B360A2DD}"/>
              </a:ext>
            </a:extLst>
          </p:cNvPr>
          <p:cNvSpPr>
            <a:spLocks noGrp="1"/>
          </p:cNvSpPr>
          <p:nvPr/>
        </p:nvSpPr>
        <p:spPr>
          <a:xfrm>
            <a:off x="8439150" y="5734050"/>
            <a:ext cx="495300" cy="171450"/>
          </a:xfrm>
          <a:prstGeom prst="roundRect">
            <a:avLst>
              <a:gd name="adj" fmla="val 44444"/>
            </a:avLst>
          </a:prstGeom>
          <a:solidFill>
            <a:srgbClr val="F900D3"/>
          </a:solidFill>
          <a:ln w="0">
            <a:noFill/>
            <a:prstDash val="solid"/>
          </a:ln>
        </p:spPr>
        <p:txBody>
          <a:bodyPr/>
          <a:lstStyle/>
          <a:p>
            <a:endParaRPr lang="en-US"/>
          </a:p>
        </p:txBody>
      </p:sp>
      <p:sp>
        <p:nvSpPr>
          <p:cNvPr id="230" name="Rounded Rectangle 229">
            <a:extLst>
              <a:ext uri="{FF2B5EF4-FFF2-40B4-BE49-F238E27FC236}">
                <a16:creationId xmlns:a16="http://schemas.microsoft.com/office/drawing/2014/main" id="{1A14A5FD-A159-4137-B7E5-11FBDC091212}"/>
              </a:ext>
            </a:extLst>
          </p:cNvPr>
          <p:cNvSpPr>
            <a:spLocks noGrp="1"/>
          </p:cNvSpPr>
          <p:nvPr/>
        </p:nvSpPr>
        <p:spPr>
          <a:xfrm>
            <a:off x="9010650" y="5638800"/>
            <a:ext cx="2495550" cy="361950"/>
          </a:xfrm>
          <a:prstGeom prst="roundRect">
            <a:avLst>
              <a:gd name="adj" fmla="val 21053"/>
            </a:avLst>
          </a:prstGeom>
          <a:solidFill>
            <a:srgbClr val="F5F7FB"/>
          </a:solidFill>
          <a:ln w="9525">
            <a:solidFill>
              <a:srgbClr val="CED7E6"/>
            </a:solidFill>
            <a:prstDash val="solid"/>
          </a:ln>
        </p:spPr>
        <p:txBody>
          <a:bodyPr/>
          <a:lstStyle/>
          <a:p>
            <a:endParaRPr lang="en-US"/>
          </a:p>
        </p:txBody>
      </p:sp>
      <p:sp>
        <p:nvSpPr>
          <p:cNvPr id="231" name="Rectangle 230">
            <a:extLst>
              <a:ext uri="{FF2B5EF4-FFF2-40B4-BE49-F238E27FC236}">
                <a16:creationId xmlns:a16="http://schemas.microsoft.com/office/drawing/2014/main" id="{C97E7AEE-B996-40AC-AD8D-9C0121EF4E9A}"/>
              </a:ext>
            </a:extLst>
          </p:cNvPr>
          <p:cNvSpPr>
            <a:spLocks noGrp="1"/>
          </p:cNvSpPr>
          <p:nvPr/>
        </p:nvSpPr>
        <p:spPr>
          <a:xfrm>
            <a:off x="9124950" y="5705475"/>
            <a:ext cx="2266950" cy="238125"/>
          </a:xfrm>
          <a:prstGeom prst="rect">
            <a:avLst/>
          </a:prstGeom>
          <a:noFill/>
          <a:ln w="0">
            <a:noFill/>
          </a:ln>
        </p:spPr>
        <p:txBody>
          <a:bodyPr wrap="square" lIns="0" tIns="0" rIns="0" bIns="0" anchor="t">
            <a:normAutofit/>
          </a:bodyPr>
          <a:lstStyle/>
          <a:p>
            <a:pPr algn="l">
              <a:lnSpc>
                <a:spcPct val="95000"/>
              </a:lnSpc>
              <a:buNone/>
              <a:defRPr sz="773" b="1">
                <a:solidFill>
                  <a:srgbClr val="070154"/>
                </a:solidFill>
                <a:latin typeface="Arial"/>
                <a:ea typeface="Arial"/>
                <a:cs typeface="Arial"/>
              </a:defRPr>
            </a:pPr>
            <a:r>
              <a:rPr lang="en-US" sz="773" b="1">
                <a:solidFill>
                  <a:srgbClr val="070154"/>
                </a:solidFill>
                <a:latin typeface="Arial"/>
                <a:ea typeface="Arial"/>
                <a:cs typeface="Arial"/>
              </a:rPr>
              <a:t>Approve, refine, or begin execution</a:t>
            </a:r>
            <a:endParaRPr sz="773" b="1">
              <a:solidFill>
                <a:srgbClr val="070154"/>
              </a:solidFill>
              <a:latin typeface="Arial"/>
              <a:ea typeface="Arial"/>
              <a:cs typeface="Arial"/>
            </a:endParaRPr>
          </a:p>
        </p:txBody>
      </p:sp>
      <p:sp>
        <p:nvSpPr>
          <p:cNvPr id="232" name="Rounded Rectangle 231">
            <a:extLst>
              <a:ext uri="{FF2B5EF4-FFF2-40B4-BE49-F238E27FC236}">
                <a16:creationId xmlns:a16="http://schemas.microsoft.com/office/drawing/2014/main" id="{5FF89AAB-5E6F-4ADF-AB3E-9A8C7D51AA1B}"/>
              </a:ext>
            </a:extLst>
          </p:cNvPr>
          <p:cNvSpPr>
            <a:spLocks noGrp="1"/>
          </p:cNvSpPr>
          <p:nvPr/>
        </p:nvSpPr>
        <p:spPr>
          <a:xfrm>
            <a:off x="685800" y="6048375"/>
            <a:ext cx="10820400" cy="285750"/>
          </a:xfrm>
          <a:prstGeom prst="roundRect">
            <a:avLst>
              <a:gd name="adj" fmla="val 26667"/>
            </a:avLst>
          </a:prstGeom>
          <a:solidFill>
            <a:srgbClr val="F5F7FB"/>
          </a:solidFill>
          <a:ln w="9525">
            <a:solidFill>
              <a:srgbClr val="CED7E6"/>
            </a:solidFill>
            <a:prstDash val="solid"/>
          </a:ln>
        </p:spPr>
        <p:txBody>
          <a:bodyPr/>
          <a:lstStyle/>
          <a:p>
            <a:endParaRPr lang="en-US"/>
          </a:p>
        </p:txBody>
      </p:sp>
      <p:sp>
        <p:nvSpPr>
          <p:cNvPr id="233" name="Rectangle 232">
            <a:extLst>
              <a:ext uri="{FF2B5EF4-FFF2-40B4-BE49-F238E27FC236}">
                <a16:creationId xmlns:a16="http://schemas.microsoft.com/office/drawing/2014/main" id="{D3042144-5870-4A7D-8DB0-CFD1750062E0}"/>
              </a:ext>
            </a:extLst>
          </p:cNvPr>
          <p:cNvSpPr>
            <a:spLocks noGrp="1"/>
          </p:cNvSpPr>
          <p:nvPr/>
        </p:nvSpPr>
        <p:spPr>
          <a:xfrm>
            <a:off x="819150" y="6124575"/>
            <a:ext cx="10477500" cy="142875"/>
          </a:xfrm>
          <a:prstGeom prst="rect">
            <a:avLst/>
          </a:prstGeom>
          <a:noFill/>
          <a:ln w="0">
            <a:noFill/>
          </a:ln>
        </p:spPr>
        <p:txBody>
          <a:bodyPr wrap="square" lIns="0" tIns="0" rIns="0" bIns="0" anchor="t">
            <a:normAutofit/>
          </a:bodyPr>
          <a:lstStyle/>
          <a:p>
            <a:pPr algn="l">
              <a:lnSpc>
                <a:spcPct val="95000"/>
              </a:lnSpc>
              <a:buNone/>
              <a:defRPr sz="773" b="0">
                <a:solidFill>
                  <a:srgbClr val="50658E"/>
                </a:solidFill>
                <a:latin typeface="Arial"/>
                <a:ea typeface="Arial"/>
                <a:cs typeface="Arial"/>
              </a:defRPr>
            </a:pPr>
            <a:r>
              <a:rPr lang="en-US" sz="773" b="0">
                <a:solidFill>
                  <a:srgbClr val="50658E"/>
                </a:solidFill>
                <a:latin typeface="Arial"/>
                <a:ea typeface="Arial"/>
                <a:cs typeface="Arial"/>
              </a:rPr>
              <a:t>Rationalization outputs carry directly into modernization execution as prioritized targets, architecture guardrails, sequencing, and decision criteria</a:t>
            </a:r>
            <a:endParaRPr sz="773" b="0">
              <a:solidFill>
                <a:srgbClr val="50658E"/>
              </a:solidFill>
              <a:latin typeface="Arial"/>
              <a:ea typeface="Arial"/>
              <a:cs typeface="Arial"/>
            </a:endParaRPr>
          </a:p>
        </p:txBody>
      </p:sp>
    </p:spTree>
    <p:extLst>
      <p:ext uri="{BB962C8B-B14F-4D97-AF65-F5344CB8AC3E}">
        <p14:creationId xmlns:p14="http://schemas.microsoft.com/office/powerpoint/2010/main" val="5896055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A38C-63DB-6EC0-54B3-BAD510DB5D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2D4D6B-E702-B14F-8CBF-3DB9404EA064}"/>
              </a:ext>
            </a:extLst>
          </p:cNvPr>
          <p:cNvSpPr/>
          <p:nvPr/>
        </p:nvSpPr>
        <p:spPr bwMode="auto">
          <a:xfrm>
            <a:off x="0" y="0"/>
            <a:ext cx="121920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Rectangle 3">
            <a:extLst>
              <a:ext uri="{FF2B5EF4-FFF2-40B4-BE49-F238E27FC236}">
                <a16:creationId xmlns:a16="http://schemas.microsoft.com/office/drawing/2014/main" id="{3D957A41-9389-9041-99A2-9153DA0C87B2}"/>
              </a:ext>
            </a:extLst>
          </p:cNvPr>
          <p:cNvSpPr/>
          <p:nvPr/>
        </p:nvSpPr>
        <p:spPr bwMode="auto">
          <a:xfrm>
            <a:off x="0" y="0"/>
            <a:ext cx="228600" cy="63500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0716BB7-CA60-524A-8CA8-6B88AD30659B}"/>
              </a:ext>
            </a:extLst>
          </p:cNvPr>
          <p:cNvSpPr/>
          <p:nvPr/>
        </p:nvSpPr>
        <p:spPr bwMode="auto">
          <a:xfrm>
            <a:off x="457200" y="609600"/>
            <a:ext cx="1524000" cy="101600"/>
          </a:xfrm>
          <a:prstGeom prst="rect">
            <a:avLst/>
          </a:prstGeom>
          <a:solidFill>
            <a:srgbClr val="004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TextBox 10">
            <a:extLst>
              <a:ext uri="{FF2B5EF4-FFF2-40B4-BE49-F238E27FC236}">
                <a16:creationId xmlns:a16="http://schemas.microsoft.com/office/drawing/2014/main" id="{3C91333C-DD3E-9B4D-89FD-5B2ACB074E63}"/>
              </a:ext>
            </a:extLst>
          </p:cNvPr>
          <p:cNvSpPr txBox="1"/>
          <p:nvPr/>
        </p:nvSpPr>
        <p:spPr>
          <a:xfrm>
            <a:off x="609600" y="990600"/>
            <a:ext cx="2286000" cy="22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047FF"/>
                </a:solidFill>
                <a:latin typeface="Arial"/>
                <a:cs typeface="Arial"/>
              </a:rPr>
              <a:t>INTERNAL PICK-DECK GUIDE</a:t>
            </a:r>
            <a:endParaRPr lang="en-US" sz="1000" b="1" dirty="0">
              <a:solidFill>
                <a:srgbClr val="0047FF"/>
              </a:solidFill>
              <a:latin typeface="Arial"/>
              <a:cs typeface="Arial"/>
            </a:endParaRPr>
          </a:p>
        </p:txBody>
      </p:sp>
      <p:sp>
        <p:nvSpPr>
          <p:cNvPr id="12" name="TextBox 11">
            <a:extLst>
              <a:ext uri="{FF2B5EF4-FFF2-40B4-BE49-F238E27FC236}">
                <a16:creationId xmlns:a16="http://schemas.microsoft.com/office/drawing/2014/main" id="{F8E1B792-659A-D74D-9D48-33D822D70F96}"/>
              </a:ext>
            </a:extLst>
          </p:cNvPr>
          <p:cNvSpPr txBox="1"/>
          <p:nvPr/>
        </p:nvSpPr>
        <p:spPr>
          <a:xfrm>
            <a:off x="609600" y="1473200"/>
            <a:ext cx="8001000" cy="1498600"/>
          </a:xfrm>
          <a:prstGeom prst="rect">
            <a:avLst/>
          </a:prstGeom>
          <a:noFill/>
        </p:spPr>
        <p:txBody>
          <a:bodyPr vertOverflow="overflow" vert="horz" wrap="square" lIns="0" tIns="0" rIns="0" bIns="0" rtlCol="0" anchor="t">
            <a:normAutofit/>
          </a:bodyPr>
          <a:lstStyle/>
          <a:p>
            <a:pPr marL="0" indent="0" algn="l">
              <a:spcAft>
                <a:spcPts val="600"/>
              </a:spcAft>
              <a:tabLst/>
            </a:pPr>
            <a:r>
              <a:rPr lang="en-US" sz="2900" b="1">
                <a:solidFill>
                  <a:srgbClr val="FFFFFF"/>
                </a:solidFill>
                <a:latin typeface="Arial"/>
                <a:cs typeface="Arial"/>
              </a:rPr>
              <a:t>Sample First-Call Proposal</a:t>
            </a:r>
            <a:endParaRPr lang="en-US" sz="2900" b="1" dirty="0">
              <a:solidFill>
                <a:srgbClr val="FFFFFF"/>
              </a:solidFill>
              <a:latin typeface="Arial"/>
              <a:cs typeface="Arial"/>
            </a:endParaRPr>
          </a:p>
        </p:txBody>
      </p:sp>
      <p:sp>
        <p:nvSpPr>
          <p:cNvPr id="14" name="TextBox 13">
            <a:extLst>
              <a:ext uri="{FF2B5EF4-FFF2-40B4-BE49-F238E27FC236}">
                <a16:creationId xmlns:a16="http://schemas.microsoft.com/office/drawing/2014/main" id="{F12B1E13-E8CD-BD43-96AA-519B3925EF9F}"/>
              </a:ext>
            </a:extLst>
          </p:cNvPr>
          <p:cNvSpPr txBox="1"/>
          <p:nvPr/>
        </p:nvSpPr>
        <p:spPr>
          <a:xfrm>
            <a:off x="609600" y="3149600"/>
            <a:ext cx="7874000" cy="685800"/>
          </a:xfrm>
          <a:prstGeom prst="rect">
            <a:avLst/>
          </a:prstGeom>
          <a:noFill/>
        </p:spPr>
        <p:txBody>
          <a:bodyPr vertOverflow="overflow" vert="horz" wrap="square" lIns="0" tIns="0" rIns="0" bIns="0" rtlCol="0" anchor="t">
            <a:normAutofit/>
          </a:bodyPr>
          <a:lstStyle/>
          <a:p>
            <a:pPr marL="0" indent="0" algn="l">
              <a:spcAft>
                <a:spcPts val="600"/>
              </a:spcAft>
              <a:tabLst/>
            </a:pPr>
            <a:r>
              <a:rPr lang="en-US" sz="1300">
                <a:solidFill>
                  <a:srgbClr val="FFFFFF"/>
                </a:solidFill>
                <a:latin typeface="Arial"/>
                <a:cs typeface="Arial"/>
              </a:rPr>
              <a:t>Use this five-slide path as a starting point, then tailor the proof and depth to the buyer's catalyst and role.</a:t>
            </a:r>
            <a:endParaRPr lang="en-US" sz="1300" dirty="0">
              <a:solidFill>
                <a:srgbClr val="FFFFFF"/>
              </a:solidFill>
              <a:latin typeface="Arial"/>
              <a:cs typeface="Arial"/>
            </a:endParaRPr>
          </a:p>
        </p:txBody>
      </p:sp>
      <p:sp>
        <p:nvSpPr>
          <p:cNvPr id="15" name="TextBox 14">
            <a:extLst>
              <a:ext uri="{FF2B5EF4-FFF2-40B4-BE49-F238E27FC236}">
                <a16:creationId xmlns:a16="http://schemas.microsoft.com/office/drawing/2014/main" id="{73F430C6-7897-2E44-A356-F000D6B34EA5}"/>
              </a:ext>
            </a:extLst>
          </p:cNvPr>
          <p:cNvSpPr txBox="1"/>
          <p:nvPr/>
        </p:nvSpPr>
        <p:spPr>
          <a:xfrm>
            <a:off x="9118600" y="1155700"/>
            <a:ext cx="2159000" cy="203200"/>
          </a:xfrm>
          <a:prstGeom prst="rect">
            <a:avLst/>
          </a:prstGeom>
          <a:noFill/>
        </p:spPr>
        <p:txBody>
          <a:bodyPr vertOverflow="overflow" vert="horz" wrap="square" lIns="0" tIns="0" rIns="0" bIns="0" rtlCol="0" anchor="t">
            <a:normAutofit/>
          </a:bodyPr>
          <a:lstStyle/>
          <a:p>
            <a:pPr marL="0" indent="0" algn="l">
              <a:spcAft>
                <a:spcPts val="600"/>
              </a:spcAft>
              <a:tabLst/>
            </a:pPr>
            <a:r>
              <a:rPr lang="en-US" sz="950" b="1">
                <a:solidFill>
                  <a:srgbClr val="0047FF"/>
                </a:solidFill>
                <a:latin typeface="Arial"/>
                <a:cs typeface="Arial"/>
              </a:rPr>
              <a:t>SUGGESTED FLOW</a:t>
            </a:r>
            <a:endParaRPr lang="en-US" sz="950" b="1" dirty="0">
              <a:solidFill>
                <a:srgbClr val="0047FF"/>
              </a:solidFill>
              <a:latin typeface="Arial"/>
              <a:cs typeface="Arial"/>
            </a:endParaRPr>
          </a:p>
        </p:txBody>
      </p:sp>
      <p:sp>
        <p:nvSpPr>
          <p:cNvPr id="16" name="Rectangle 15">
            <a:extLst>
              <a:ext uri="{FF2B5EF4-FFF2-40B4-BE49-F238E27FC236}">
                <a16:creationId xmlns:a16="http://schemas.microsoft.com/office/drawing/2014/main" id="{261D85DC-F9D6-6945-B534-E7FA1D31F122}"/>
              </a:ext>
            </a:extLst>
          </p:cNvPr>
          <p:cNvSpPr/>
          <p:nvPr/>
        </p:nvSpPr>
        <p:spPr bwMode="auto">
          <a:xfrm>
            <a:off x="9118600" y="15875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0" name="TextBox 19">
            <a:extLst>
              <a:ext uri="{FF2B5EF4-FFF2-40B4-BE49-F238E27FC236}">
                <a16:creationId xmlns:a16="http://schemas.microsoft.com/office/drawing/2014/main" id="{D01BF5B1-B24E-284C-9FC7-E80462316182}"/>
              </a:ext>
            </a:extLst>
          </p:cNvPr>
          <p:cNvSpPr txBox="1"/>
          <p:nvPr/>
        </p:nvSpPr>
        <p:spPr>
          <a:xfrm>
            <a:off x="9271000" y="17399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01</a:t>
            </a:r>
            <a:endParaRPr lang="en-US" sz="900" b="1" dirty="0">
              <a:solidFill>
                <a:srgbClr val="F900D3"/>
              </a:solidFill>
              <a:latin typeface="Arial"/>
              <a:cs typeface="Arial"/>
            </a:endParaRPr>
          </a:p>
        </p:txBody>
      </p:sp>
      <p:sp>
        <p:nvSpPr>
          <p:cNvPr id="21" name="TextBox 20">
            <a:extLst>
              <a:ext uri="{FF2B5EF4-FFF2-40B4-BE49-F238E27FC236}">
                <a16:creationId xmlns:a16="http://schemas.microsoft.com/office/drawing/2014/main" id="{F685F9EA-221F-3347-8288-97BD26237162}"/>
              </a:ext>
            </a:extLst>
          </p:cNvPr>
          <p:cNvSpPr txBox="1"/>
          <p:nvPr/>
        </p:nvSpPr>
        <p:spPr>
          <a:xfrm>
            <a:off x="9677400" y="16764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Economics shift</a:t>
            </a:r>
            <a:endParaRPr lang="en-US" sz="1000" b="1" dirty="0">
              <a:solidFill>
                <a:srgbClr val="070154"/>
              </a:solidFill>
              <a:latin typeface="Arial"/>
              <a:cs typeface="Arial"/>
            </a:endParaRPr>
          </a:p>
        </p:txBody>
      </p:sp>
      <p:sp>
        <p:nvSpPr>
          <p:cNvPr id="22" name="Rectangle 21">
            <a:extLst>
              <a:ext uri="{FF2B5EF4-FFF2-40B4-BE49-F238E27FC236}">
                <a16:creationId xmlns:a16="http://schemas.microsoft.com/office/drawing/2014/main" id="{07DBAAEE-5275-0B4F-8234-10AE0BF7AC50}"/>
              </a:ext>
            </a:extLst>
          </p:cNvPr>
          <p:cNvSpPr/>
          <p:nvPr/>
        </p:nvSpPr>
        <p:spPr bwMode="auto">
          <a:xfrm>
            <a:off x="9118600" y="23114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C1D6F0A2-F72D-C640-9D54-A4D4C9BE9626}"/>
              </a:ext>
            </a:extLst>
          </p:cNvPr>
          <p:cNvSpPr txBox="1"/>
          <p:nvPr/>
        </p:nvSpPr>
        <p:spPr>
          <a:xfrm>
            <a:off x="9271000" y="24638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02</a:t>
            </a:r>
            <a:endParaRPr lang="en-US" sz="900" b="1" dirty="0">
              <a:solidFill>
                <a:srgbClr val="F900D3"/>
              </a:solidFill>
              <a:latin typeface="Arial"/>
              <a:cs typeface="Arial"/>
            </a:endParaRPr>
          </a:p>
        </p:txBody>
      </p:sp>
      <p:sp>
        <p:nvSpPr>
          <p:cNvPr id="24" name="TextBox 23">
            <a:extLst>
              <a:ext uri="{FF2B5EF4-FFF2-40B4-BE49-F238E27FC236}">
                <a16:creationId xmlns:a16="http://schemas.microsoft.com/office/drawing/2014/main" id="{080B83FA-47AE-5546-B78A-3741943FCCAA}"/>
              </a:ext>
            </a:extLst>
          </p:cNvPr>
          <p:cNvSpPr txBox="1"/>
          <p:nvPr/>
        </p:nvSpPr>
        <p:spPr>
          <a:xfrm>
            <a:off x="9677400" y="24003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Why modernization now</a:t>
            </a:r>
            <a:endParaRPr lang="en-US" sz="1000" b="1" dirty="0">
              <a:solidFill>
                <a:srgbClr val="070154"/>
              </a:solidFill>
              <a:latin typeface="Arial"/>
              <a:cs typeface="Arial"/>
            </a:endParaRPr>
          </a:p>
        </p:txBody>
      </p:sp>
      <p:sp>
        <p:nvSpPr>
          <p:cNvPr id="25" name="Rectangle 24">
            <a:extLst>
              <a:ext uri="{FF2B5EF4-FFF2-40B4-BE49-F238E27FC236}">
                <a16:creationId xmlns:a16="http://schemas.microsoft.com/office/drawing/2014/main" id="{5B5F2BF9-FA2F-E54E-9A25-DB5AD24F1FD1}"/>
              </a:ext>
            </a:extLst>
          </p:cNvPr>
          <p:cNvSpPr/>
          <p:nvPr/>
        </p:nvSpPr>
        <p:spPr bwMode="auto">
          <a:xfrm>
            <a:off x="9118600" y="30353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29292B1C-4A91-1946-99C8-A22EB49E9166}"/>
              </a:ext>
            </a:extLst>
          </p:cNvPr>
          <p:cNvSpPr txBox="1"/>
          <p:nvPr/>
        </p:nvSpPr>
        <p:spPr>
          <a:xfrm>
            <a:off x="9271000" y="31877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03</a:t>
            </a:r>
            <a:endParaRPr lang="en-US" sz="900" b="1" dirty="0">
              <a:solidFill>
                <a:srgbClr val="F900D3"/>
              </a:solidFill>
              <a:latin typeface="Arial"/>
              <a:cs typeface="Arial"/>
            </a:endParaRPr>
          </a:p>
        </p:txBody>
      </p:sp>
      <p:sp>
        <p:nvSpPr>
          <p:cNvPr id="27" name="TextBox 26">
            <a:extLst>
              <a:ext uri="{FF2B5EF4-FFF2-40B4-BE49-F238E27FC236}">
                <a16:creationId xmlns:a16="http://schemas.microsoft.com/office/drawing/2014/main" id="{6D3A6AC7-EA6A-544F-B9CC-F86023D2FAF4}"/>
              </a:ext>
            </a:extLst>
          </p:cNvPr>
          <p:cNvSpPr txBox="1"/>
          <p:nvPr/>
        </p:nvSpPr>
        <p:spPr>
          <a:xfrm>
            <a:off x="9677400" y="31242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West Monroe perspective</a:t>
            </a:r>
            <a:endParaRPr lang="en-US" sz="1000" b="1" dirty="0">
              <a:solidFill>
                <a:srgbClr val="070154"/>
              </a:solidFill>
              <a:latin typeface="Arial"/>
              <a:cs typeface="Arial"/>
            </a:endParaRPr>
          </a:p>
        </p:txBody>
      </p:sp>
      <p:sp>
        <p:nvSpPr>
          <p:cNvPr id="28" name="Rectangle 27">
            <a:extLst>
              <a:ext uri="{FF2B5EF4-FFF2-40B4-BE49-F238E27FC236}">
                <a16:creationId xmlns:a16="http://schemas.microsoft.com/office/drawing/2014/main" id="{7D2CEE49-87AD-B74B-BCBB-6545318FEAE4}"/>
              </a:ext>
            </a:extLst>
          </p:cNvPr>
          <p:cNvSpPr/>
          <p:nvPr/>
        </p:nvSpPr>
        <p:spPr bwMode="auto">
          <a:xfrm>
            <a:off x="9118600" y="3759200"/>
            <a:ext cx="2387600" cy="5461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TextBox 28">
            <a:extLst>
              <a:ext uri="{FF2B5EF4-FFF2-40B4-BE49-F238E27FC236}">
                <a16:creationId xmlns:a16="http://schemas.microsoft.com/office/drawing/2014/main" id="{CA7BB059-7F53-E749-AC13-3FF96661BA83}"/>
              </a:ext>
            </a:extLst>
          </p:cNvPr>
          <p:cNvSpPr txBox="1"/>
          <p:nvPr/>
        </p:nvSpPr>
        <p:spPr>
          <a:xfrm>
            <a:off x="9271000" y="3911600"/>
            <a:ext cx="304800" cy="177800"/>
          </a:xfrm>
          <a:prstGeom prst="rect">
            <a:avLst/>
          </a:prstGeom>
          <a:noFill/>
        </p:spPr>
        <p:txBody>
          <a:bodyPr vertOverflow="overflow" vert="horz" wrap="square" lIns="0" tIns="0" rIns="0" bIns="0" rtlCol="0" anchor="t">
            <a:normAutofit/>
          </a:bodyPr>
          <a:lstStyle/>
          <a:p>
            <a:pPr marL="0" indent="0" algn="l">
              <a:spcAft>
                <a:spcPts val="600"/>
              </a:spcAft>
              <a:tabLst/>
            </a:pPr>
            <a:r>
              <a:rPr lang="en-US" sz="900" b="1">
                <a:solidFill>
                  <a:srgbClr val="F900D3"/>
                </a:solidFill>
                <a:latin typeface="Arial"/>
                <a:cs typeface="Arial"/>
              </a:rPr>
              <a:t>04</a:t>
            </a:r>
            <a:endParaRPr lang="en-US" sz="900" b="1" dirty="0">
              <a:solidFill>
                <a:srgbClr val="F900D3"/>
              </a:solidFill>
              <a:latin typeface="Arial"/>
              <a:cs typeface="Arial"/>
            </a:endParaRPr>
          </a:p>
        </p:txBody>
      </p:sp>
      <p:sp>
        <p:nvSpPr>
          <p:cNvPr id="30" name="TextBox 29">
            <a:extLst>
              <a:ext uri="{FF2B5EF4-FFF2-40B4-BE49-F238E27FC236}">
                <a16:creationId xmlns:a16="http://schemas.microsoft.com/office/drawing/2014/main" id="{E81A1754-C62A-9340-828F-1507EB0BF98D}"/>
              </a:ext>
            </a:extLst>
          </p:cNvPr>
          <p:cNvSpPr txBox="1"/>
          <p:nvPr/>
        </p:nvSpPr>
        <p:spPr>
          <a:xfrm>
            <a:off x="9677400" y="3848100"/>
            <a:ext cx="1676400" cy="330200"/>
          </a:xfrm>
          <a:prstGeom prst="rect">
            <a:avLst/>
          </a:prstGeom>
          <a:noFill/>
        </p:spPr>
        <p:txBody>
          <a:bodyPr vertOverflow="overflow" vert="horz" wrap="square" lIns="0" tIns="0" rIns="0" bIns="0" rtlCol="0" anchor="t">
            <a:normAutofit/>
          </a:bodyPr>
          <a:lstStyle/>
          <a:p>
            <a:pPr marL="0" indent="0" algn="l">
              <a:spcAft>
                <a:spcPts val="600"/>
              </a:spcAft>
              <a:tabLst/>
            </a:pPr>
            <a:r>
              <a:rPr lang="en-US" sz="1000" b="1">
                <a:solidFill>
                  <a:srgbClr val="070154"/>
                </a:solidFill>
                <a:latin typeface="Arial"/>
                <a:cs typeface="Arial"/>
              </a:rPr>
              <a:t>Lifecycle + relevant proof</a:t>
            </a:r>
            <a:endParaRPr lang="en-US" sz="1000" b="1" dirty="0">
              <a:solidFill>
                <a:srgbClr val="070154"/>
              </a:solidFill>
              <a:latin typeface="Arial"/>
              <a:cs typeface="Arial"/>
            </a:endParaRPr>
          </a:p>
        </p:txBody>
      </p:sp>
      <p:sp>
        <p:nvSpPr>
          <p:cNvPr id="31" name="Rectangle 30">
            <a:extLst>
              <a:ext uri="{FF2B5EF4-FFF2-40B4-BE49-F238E27FC236}">
                <a16:creationId xmlns:a16="http://schemas.microsoft.com/office/drawing/2014/main" id="{3375BC94-8D43-EF4D-96D9-538EF700EFE6}"/>
              </a:ext>
            </a:extLst>
          </p:cNvPr>
          <p:cNvSpPr/>
          <p:nvPr/>
        </p:nvSpPr>
        <p:spPr bwMode="auto">
          <a:xfrm>
            <a:off x="609600" y="5270500"/>
            <a:ext cx="8255000" cy="571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A26CFF14-2BDE-1848-A022-DAC182E8D21B}"/>
              </a:ext>
            </a:extLst>
          </p:cNvPr>
          <p:cNvSpPr txBox="1"/>
          <p:nvPr/>
        </p:nvSpPr>
        <p:spPr>
          <a:xfrm>
            <a:off x="863600" y="5435600"/>
            <a:ext cx="7747000" cy="228600"/>
          </a:xfrm>
          <a:prstGeom prst="rect">
            <a:avLst/>
          </a:prstGeom>
          <a:noFill/>
        </p:spPr>
        <p:txBody>
          <a:bodyPr vertOverflow="overflow" vert="horz" wrap="square" lIns="0" tIns="0" rIns="0" bIns="0" rtlCol="0" anchor="t">
            <a:normAutofit fontScale="92500"/>
          </a:bodyPr>
          <a:lstStyle/>
          <a:p>
            <a:pPr marL="0" indent="0" algn="l">
              <a:spcAft>
                <a:spcPts val="600"/>
              </a:spcAft>
              <a:tabLst/>
            </a:pPr>
            <a:r>
              <a:rPr lang="en-US" sz="1000" b="1">
                <a:solidFill>
                  <a:srgbClr val="070154"/>
                </a:solidFill>
                <a:latin typeface="Arial"/>
                <a:cs typeface="Arial"/>
              </a:rPr>
              <a:t>PLACEHOLDER SECTION — Recommended path: opener, economics, perspective, lifecycle, and one relevant case study or offer.</a:t>
            </a:r>
            <a:endParaRPr lang="en-US" sz="1000" b="1" dirty="0">
              <a:solidFill>
                <a:srgbClr val="070154"/>
              </a:solidFill>
              <a:latin typeface="Arial"/>
              <a:cs typeface="Arial"/>
            </a:endParaRPr>
          </a:p>
        </p:txBody>
      </p:sp>
      <p:sp>
        <p:nvSpPr>
          <p:cNvPr id="3" name="TextBox 2">
            <a:extLst>
              <a:ext uri="{FF2B5EF4-FFF2-40B4-BE49-F238E27FC236}">
                <a16:creationId xmlns:a16="http://schemas.microsoft.com/office/drawing/2014/main" id="{D9C2D31F-41C9-834B-806E-5C698A45F50E}"/>
              </a:ext>
            </a:extLst>
          </p:cNvPr>
          <p:cNvSpPr txBox="1"/>
          <p:nvPr/>
        </p:nvSpPr>
        <p:spPr>
          <a:xfrm>
            <a:off x="4292600" y="6426200"/>
            <a:ext cx="7086600" cy="139700"/>
          </a:xfrm>
          <a:prstGeom prst="rect">
            <a:avLst/>
          </a:prstGeom>
          <a:noFill/>
        </p:spPr>
        <p:txBody>
          <a:bodyPr vertOverflow="overflow" vert="horz" wrap="square" lIns="0" tIns="0" rIns="0" bIns="0" rtlCol="0" anchor="t">
            <a:spAutoFit/>
          </a:bodyPr>
          <a:lstStyle/>
          <a:p>
            <a:pPr marL="0" indent="0" algn="l">
              <a:spcAft>
                <a:spcPts val="600"/>
              </a:spcAft>
              <a:tabLst/>
            </a:pPr>
            <a:r>
              <a:rPr lang="en-US" sz="450">
                <a:solidFill>
                  <a:srgbClr val="070154"/>
                </a:solidFill>
                <a:latin typeface="Arial"/>
                <a:cs typeface="Arial"/>
              </a:rPr>
              <a:t>© 2026 West Monroe Partners | Reproduction and/or distribution without West Monroe Partners’ prior consent is prohibited.</a:t>
            </a:r>
            <a:endParaRPr lang="en-US" sz="450" dirty="0">
              <a:solidFill>
                <a:srgbClr val="070154"/>
              </a:solidFill>
              <a:latin typeface="Arial"/>
              <a:cs typeface="Arial"/>
            </a:endParaRPr>
          </a:p>
        </p:txBody>
      </p:sp>
      <p:sp>
        <p:nvSpPr>
          <p:cNvPr id="5" name="TextBox 4">
            <a:extLst>
              <a:ext uri="{FF2B5EF4-FFF2-40B4-BE49-F238E27FC236}">
                <a16:creationId xmlns:a16="http://schemas.microsoft.com/office/drawing/2014/main" id="{D0847E0D-C3A0-6C47-8917-F1C8F445903B}"/>
              </a:ext>
            </a:extLst>
          </p:cNvPr>
          <p:cNvSpPr txBox="1"/>
          <p:nvPr/>
        </p:nvSpPr>
        <p:spPr>
          <a:xfrm>
            <a:off x="11506200" y="6413500"/>
            <a:ext cx="228600" cy="152400"/>
          </a:xfrm>
          <a:prstGeom prst="rect">
            <a:avLst/>
          </a:prstGeom>
          <a:noFill/>
        </p:spPr>
        <p:txBody>
          <a:bodyPr vertOverflow="overflow" vert="horz" wrap="square" lIns="0" tIns="0" rIns="0" bIns="0" rtlCol="0" anchor="t">
            <a:spAutoFit/>
          </a:bodyPr>
          <a:lstStyle/>
          <a:p>
            <a:pPr marL="0" indent="0" algn="l">
              <a:spcAft>
                <a:spcPts val="600"/>
              </a:spcAft>
              <a:tabLst/>
            </a:pPr>
            <a:endParaRPr lang="en-US" sz="550" dirty="0">
              <a:solidFill>
                <a:srgbClr val="070154"/>
              </a:solidFill>
              <a:latin typeface="Arial"/>
              <a:cs typeface="Arial"/>
            </a:endParaRPr>
          </a:p>
        </p:txBody>
      </p:sp>
    </p:spTree>
    <p:extLst>
      <p:ext uri="{BB962C8B-B14F-4D97-AF65-F5344CB8AC3E}">
        <p14:creationId xmlns:p14="http://schemas.microsoft.com/office/powerpoint/2010/main" val="14289594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4.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5.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6.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7.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8.xml><?xml version="1.0" encoding="utf-8"?>
<p:tagLst xmlns:a="http://schemas.openxmlformats.org/drawingml/2006/main" xmlns:r="http://schemas.openxmlformats.org/officeDocument/2006/relationships" xmlns:p="http://schemas.openxmlformats.org/presentationml/2006/main">
  <p:tag name="CONTAINEDIMAGEPATH" val="C:\Users\egrumieaux\AppData\Local\Templafy\AddIns\PowerPointVsto\c3aa0593-75c6-4354-b4b6-d57d0e8db821.jpeg"/>
</p:tagLst>
</file>

<file path=ppt/tags/tag9.xml><?xml version="1.0" encoding="utf-8"?>
<p:tagLst xmlns:a="http://schemas.openxmlformats.org/drawingml/2006/main" xmlns:r="http://schemas.openxmlformats.org/officeDocument/2006/relationships" xmlns:p="http://schemas.openxmlformats.org/presentationml/2006/main">
  <p:tag name="CONTAINEDIMAGEPATH" val="C:\Users\egrumieaux\AppData\Local\Templafy\AddIns\PowerPointVsto\bc1dc5ce-c94c-4a58-9c4c-6a8e2dc8d244.jpeg"/>
</p:tagLst>
</file>

<file path=ppt/tags/tag10.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1.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2.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3.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4.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5.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6.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heme/theme1.xml><?xml version="1.0" encoding="utf-8"?>
<a:theme xmlns:a="http://schemas.openxmlformats.org/drawingml/2006/main" name="West Monroe 032625">
  <a:themeElements>
    <a:clrScheme name="West Monroe 03122025">
      <a:dk1>
        <a:srgbClr val="070154"/>
      </a:dk1>
      <a:lt1>
        <a:srgbClr val="FFFFFF"/>
      </a:lt1>
      <a:dk2>
        <a:srgbClr val="0047FF"/>
      </a:dk2>
      <a:lt2>
        <a:srgbClr val="FFFFFF"/>
      </a:lt2>
      <a:accent1>
        <a:srgbClr val="F900D3"/>
      </a:accent1>
      <a:accent2>
        <a:srgbClr val="50658E"/>
      </a:accent2>
      <a:accent3>
        <a:srgbClr val="CED7E6"/>
      </a:accent3>
      <a:accent4>
        <a:srgbClr val="E8EEF8"/>
      </a:accent4>
      <a:accent5>
        <a:srgbClr val="00E8FA"/>
      </a:accent5>
      <a:accent6>
        <a:srgbClr val="00A3FF"/>
      </a:accent6>
      <a:hlink>
        <a:srgbClr val="070053"/>
      </a:hlink>
      <a:folHlink>
        <a:srgbClr val="F802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1"/>
        </a:solidFill>
        <a:ln>
          <a:noFill/>
        </a:ln>
        <a:effectLst/>
      </a:spPr>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kumimoji="0"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defRPr>
        </a:defPPr>
      </a:lstStyle>
    </a:spDef>
    <a:txDef>
      <a:spPr>
        <a:noFill/>
      </a:spPr>
      <a:bodyPr wrap="square" lIns="0" tIns="0" rIns="0" bIns="0" rtlCol="0">
        <a:noAutofit/>
      </a:bodyPr>
      <a:lstStyle>
        <a:defPPr marL="0" indent="0" algn="l">
          <a:spcAft>
            <a:spcPts val="600"/>
          </a:spcAft>
          <a:tabLst/>
          <a:defRPr sz="1500" dirty="0" smtClean="0"/>
        </a:defPPr>
      </a:lstStyle>
    </a:txDef>
  </a:objectDefaults>
  <a:extraClrSchemeLst/>
  <a:custClrLst>
    <a:custClr name="Highlight Magenta">
      <a:srgbClr val="F900D3"/>
    </a:custClr>
    <a:custClr name="WM Light Blue">
      <a:srgbClr val="00E8FA"/>
    </a:custClr>
    <a:custClr name="WM Green">
      <a:srgbClr val="1DD566"/>
    </a:custClr>
    <a:custClr name="WM Gold">
      <a:srgbClr val="FFC700"/>
    </a:custClr>
    <a:custClr name="WM Purple">
      <a:srgbClr val="B741FF"/>
    </a:custClr>
    <a:custClr name="WM Light Green">
      <a:srgbClr val="00FCB0"/>
    </a:custClr>
    <a:custClr name="WM Orange">
      <a:srgbClr val="FF8A00"/>
    </a:custClr>
    <a:custClr name="WM Blue">
      <a:srgbClr val="00A3FF"/>
    </a:custClr>
    <a:custClr name="WM Red">
      <a:srgbClr val="F52C00"/>
    </a:custClr>
    <a:custClr name="WM Light Gray">
      <a:srgbClr val="E8EEF8"/>
    </a:custClr>
    <a:custClr name="WM Medium Gray">
      <a:srgbClr val="CED7E6"/>
    </a:custClr>
    <a:custClr name="WM Gray">
      <a:srgbClr val="97A4BA"/>
    </a:custClr>
  </a:custClrLst>
  <a:extLst>
    <a:ext uri="{05A4C25C-085E-4340-85A3-A5531E510DB2}">
      <thm15:themeFamily xmlns:thm15="http://schemas.microsoft.com/office/thememl/2012/main" name="WestMonroe_Template_03272025.potx" id="{07754E13-C4CB-4F32-8B77-73E86FF645A4}" vid="{51087A3A-967C-48C3-A16E-87565DDB2BAE}"/>
    </a:ext>
  </a:extLst>
</a:theme>
</file>

<file path=ppt/theme/theme2.xml><?xml version="1.0" encoding="utf-8"?>
<a:theme xmlns:a="http://schemas.openxmlformats.org/drawingml/2006/main" name="1_West Monroe 032625">
  <a:themeElements>
    <a:clrScheme name="West Monroe 03122025">
      <a:dk1>
        <a:srgbClr val="070154"/>
      </a:dk1>
      <a:lt1>
        <a:srgbClr val="FFFFFF"/>
      </a:lt1>
      <a:dk2>
        <a:srgbClr val="0047FF"/>
      </a:dk2>
      <a:lt2>
        <a:srgbClr val="FFFFFF"/>
      </a:lt2>
      <a:accent1>
        <a:srgbClr val="F900D3"/>
      </a:accent1>
      <a:accent2>
        <a:srgbClr val="50658E"/>
      </a:accent2>
      <a:accent3>
        <a:srgbClr val="CED7E6"/>
      </a:accent3>
      <a:accent4>
        <a:srgbClr val="E8EEF8"/>
      </a:accent4>
      <a:accent5>
        <a:srgbClr val="00E8FA"/>
      </a:accent5>
      <a:accent6>
        <a:srgbClr val="00A3FF"/>
      </a:accent6>
      <a:hlink>
        <a:srgbClr val="070053"/>
      </a:hlink>
      <a:folHlink>
        <a:srgbClr val="F802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1"/>
        </a:solidFill>
        <a:ln>
          <a:noFill/>
        </a:ln>
        <a:effectLst/>
      </a:spPr>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kumimoji="0"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defRPr>
        </a:defPPr>
      </a:lstStyle>
    </a:spDef>
    <a:txDef>
      <a:spPr>
        <a:noFill/>
      </a:spPr>
      <a:bodyPr wrap="square" lIns="0" tIns="0" rIns="0" bIns="0" rtlCol="0">
        <a:noAutofit/>
      </a:bodyPr>
      <a:lstStyle>
        <a:defPPr marL="0" indent="0" algn="l">
          <a:spcAft>
            <a:spcPts val="600"/>
          </a:spcAft>
          <a:tabLst/>
          <a:defRPr sz="1500" dirty="0" smtClean="0"/>
        </a:defPPr>
      </a:lstStyle>
    </a:txDef>
  </a:objectDefaults>
  <a:extraClrSchemeLst/>
  <a:custClrLst>
    <a:custClr name="Highlight Magenta">
      <a:srgbClr val="F900D3"/>
    </a:custClr>
    <a:custClr name="WM Light Blue">
      <a:srgbClr val="00E8FA"/>
    </a:custClr>
    <a:custClr name="WM Green">
      <a:srgbClr val="1DD566"/>
    </a:custClr>
    <a:custClr name="WM Gold">
      <a:srgbClr val="FFC700"/>
    </a:custClr>
    <a:custClr name="WM Purple">
      <a:srgbClr val="B741FF"/>
    </a:custClr>
    <a:custClr name="WM Light Green">
      <a:srgbClr val="00FCB0"/>
    </a:custClr>
    <a:custClr name="WM Orange">
      <a:srgbClr val="FF8A00"/>
    </a:custClr>
    <a:custClr name="WM Blue">
      <a:srgbClr val="00A3FF"/>
    </a:custClr>
    <a:custClr name="WM Red">
      <a:srgbClr val="F52C00"/>
    </a:custClr>
    <a:custClr name="WM Light Gray">
      <a:srgbClr val="E8EEF8"/>
    </a:custClr>
    <a:custClr name="WM Medium Gray">
      <a:srgbClr val="CED7E6"/>
    </a:custClr>
    <a:custClr name="WM Gray">
      <a:srgbClr val="97A4BA"/>
    </a:custClr>
  </a:custClrLst>
  <a:extLst>
    <a:ext uri="{05A4C25C-085E-4340-85A3-A5531E510DB2}">
      <thm15:themeFamily xmlns:thm15="http://schemas.microsoft.com/office/thememl/2012/main" name="Presentation7" id="{CC74132B-EACF-5441-879B-F0AC8FABDF4B}" vid="{79058BBF-E54F-D740-8EA0-A9A39B8CCE0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46A1945-19C9-0246-AC13-B3F27468DB2A}">
  <we:reference id="d2164860-9689-45e3-a1e5-90c76032056e" version="2.0.0.5"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3E036E2E-4481-CE4C-84CE-16B81DA60FBC}">
  <we:reference id="cba9fc06-6fc9-492e-9525-923870a3b909" version="2.0.0.0" store="EXCatalog" storeType="EXCatalog"/>
  <we:alternateReferences>
    <we:reference id="WA200010215" version="2.0.0.0" store="en-US" storeType="OMEX"/>
  </we:alternateReferences>
  <we:properties>
    <we:property name="bps.codex_control.document_id" value="&quot;8ab61f7c-1c46-4471-bb33-5abb081a5efc&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CC0B19E89142648B201B78ED5031948" ma:contentTypeVersion="15" ma:contentTypeDescription="Create a new document." ma:contentTypeScope="" ma:versionID="25cb2aa7946ecb4a8eeaa13d6060f87b">
  <xsd:schema xmlns:xsd="http://www.w3.org/2001/XMLSchema" xmlns:xs="http://www.w3.org/2001/XMLSchema" xmlns:p="http://schemas.microsoft.com/office/2006/metadata/properties" xmlns:ns2="a422ea04-2e59-4bae-b491-f8d4a0f1338c" xmlns:ns3="ba5e37af-abfe-4fe2-a092-246167a60ac6" targetNamespace="http://schemas.microsoft.com/office/2006/metadata/properties" ma:root="true" ma:fieldsID="7be9c5279775f2dd409ea73e3c2e0be9" ns2:_="" ns3:_="">
    <xsd:import namespace="a422ea04-2e59-4bae-b491-f8d4a0f1338c"/>
    <xsd:import namespace="ba5e37af-abfe-4fe2-a092-246167a60ac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22ea04-2e59-4bae-b491-f8d4a0f1338c"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d9fbabe8-1c89-47f3-93c4-f60b3feb87f1"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a5e37af-abfe-4fe2-a092-246167a60ac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be5ed862-9e61-4efd-9744-9cdcae885dfd}" ma:internalName="TaxCatchAll" ma:showField="CatchAllData" ma:web="ba5e37af-abfe-4fe2-a092-246167a60ac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422ea04-2e59-4bae-b491-f8d4a0f1338c">
      <Terms xmlns="http://schemas.microsoft.com/office/infopath/2007/PartnerControls"/>
    </lcf76f155ced4ddcb4097134ff3c332f>
    <TaxCatchAll xmlns="ba5e37af-abfe-4fe2-a092-246167a60ac6" xsi:nil="true"/>
  </documentManagement>
</p:properties>
</file>

<file path=customXml/item3.xml><?xml version="1.0" encoding="utf-8"?>
<TemplafyFormConfiguration><![CDATA[{"formFields":[],"formDataEntries":[]}]]></TemplafyFormConfiguration>
</file>

<file path=customXml/item4.xml><?xml version="1.0" encoding="utf-8"?>
<TemplafySlideTemplateConfiguration><![CDATA[{"slideVersion":1,"isValidatorEnabled":false,"isLocked":false,"elementsMetadata":[],"slideId":"1084191042054389763","enableDocumentContentUpdater":false,"version":"2.0"}]]></TemplafySlideTemplateConfiguration>
</file>

<file path=customXml/item5.xml><?xml version="1.0" encoding="utf-8"?>
<TemplafySlideTemplateConfiguration><![CDATA[{"slideVersion":1,"isValidatorEnabled":false,"isLocked":false,"elementsMetadata":[],"slideId":"1084191042054389765","enableDocumentContentUpdater":false,"version":"2.0"}]]></TemplafySlideTemplateConfiguration>
</file>

<file path=customXml/item6.xml><?xml version="1.0" encoding="utf-8"?>
<TemplafyTemplateConfiguration><![CDATA[{"elementsMetadata":[],"transformationConfigurations":[],"templateName":"2025_WestMonroe_PPT_16x9","templateDescription":"","enableDocumentContentUpdater":false,"version":"2.0"}]]></TemplafyTemplateConfiguration>
</file>

<file path=customXml/item7.xml><?xml version="1.0" encoding="utf-8"?>
<TemplafySlideFormConfiguration><![CDATA[{"formFields":[],"formDataEntries":[]}]]></TemplafySlideFormConfiguration>
</file>

<file path=customXml/item8.xml><?xml version="1.0" encoding="utf-8"?>
<?mso-contentType ?>
<FormTemplates xmlns="http://schemas.microsoft.com/sharepoint/v3/contenttype/forms">
  <Display>DocumentLibraryForm</Display>
  <Edit>DocumentLibraryForm</Edit>
  <New>DocumentLibraryForm</New>
</FormTemplates>
</file>

<file path=customXml/item9.xml><?xml version="1.0" encoding="utf-8"?>
<TemplafySlideTemplateConfiguration><![CDATA[{"slideVersion":1,"isValidatorEnabled":false,"isLocked":false,"elementsMetadata":[],"slideId":"1084191042054389766","enableDocumentContentUpdater":false,"version":"2.0"}]]></TemplafySlideTemplateConfiguration>
</file>

<file path=customXml/item10.xml><?xml version="1.0" encoding="utf-8"?>
<TemplafySlideFormConfiguration><![CDATA[{"formFields":[],"formDataEntries":[]}]]></TemplafySlideFormConfiguration>
</file>

<file path=customXml/item11.xml><?xml version="1.0" encoding="utf-8"?>
<TemplafySlideFormConfiguration><![CDATA[{"formFields":[],"formDataEntries":[]}]]></TemplafySlideFormConfiguration>
</file>

<file path=customXml/itemProps1.xml><?xml version="1.0" encoding="utf-8"?>
<ds:datastoreItem xmlns:ds="http://schemas.openxmlformats.org/officeDocument/2006/customXml" ds:itemID="{A8FEFE23-7AB8-4416-84E5-CADCEE3471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22ea04-2e59-4bae-b491-f8d4a0f1338c"/>
    <ds:schemaRef ds:uri="ba5e37af-abfe-4fe2-a092-246167a60a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EF607C6-A57A-4B03-A83A-45F6327B7BA6}">
  <ds:schemaRefs>
    <ds:schemaRef ds:uri="http://schemas.openxmlformats.org/package/2006/metadata/core-properties"/>
    <ds:schemaRef ds:uri="http://purl.org/dc/dcmitype/"/>
    <ds:schemaRef ds:uri="http://schemas.microsoft.com/office/2006/metadata/properties"/>
    <ds:schemaRef ds:uri="http://schemas.microsoft.com/office/2006/documentManagement/types"/>
    <ds:schemaRef ds:uri="ba5e37af-abfe-4fe2-a092-246167a60ac6"/>
    <ds:schemaRef ds:uri="http://purl.org/dc/elements/1.1/"/>
    <ds:schemaRef ds:uri="http://schemas.microsoft.com/office/infopath/2007/PartnerControls"/>
    <ds:schemaRef ds:uri="a422ea04-2e59-4bae-b491-f8d4a0f1338c"/>
    <ds:schemaRef ds:uri="http://www.w3.org/XML/1998/namespace"/>
    <ds:schemaRef ds:uri="http://purl.org/dc/terms/"/>
  </ds:schemaRefs>
</ds:datastoreItem>
</file>

<file path=customXml/itemProps3.xml><?xml version="1.0" encoding="utf-8"?>
<ds:datastoreItem xmlns:ds="http://schemas.openxmlformats.org/officeDocument/2006/customXml" ds:itemID="{0CBC1FBE-A17B-4339-B47E-16E242FBE46B}">
  <ds:schemaRefs/>
</ds:datastoreItem>
</file>

<file path=customXml/itemProps4.xml><?xml version="1.0" encoding="utf-8"?>
<ds:datastoreItem xmlns:ds="http://schemas.openxmlformats.org/officeDocument/2006/customXml" ds:itemID="{01F7E55D-569E-41D3-9DD3-B38AA0B58914}">
  <ds:schemaRefs/>
</ds:datastoreItem>
</file>

<file path=customXml/itemProps5.xml><?xml version="1.0" encoding="utf-8"?>
<ds:datastoreItem xmlns:ds="http://schemas.openxmlformats.org/officeDocument/2006/customXml" ds:itemID="{2B8807C3-1F15-4930-B3A3-AE7FE7858CD2}">
  <ds:schemaRefs/>
</ds:datastoreItem>
</file>

<file path=customXml/itemProps6.xml><?xml version="1.0" encoding="utf-8"?>
<ds:datastoreItem xmlns:ds="http://schemas.openxmlformats.org/officeDocument/2006/customXml" ds:itemID="{715F87DD-855A-466B-B963-5CBA1C78262D}">
  <ds:schemaRefs/>
</ds:datastoreItem>
</file>

<file path=customXml/itemProps7.xml><?xml version="1.0" encoding="utf-8"?>
<ds:datastoreItem xmlns:ds="http://schemas.openxmlformats.org/officeDocument/2006/customXml" ds:itemID="{5A89EB55-1C11-4B7B-87B8-B0AE6A7816C1}">
  <ds:schemaRefs/>
</ds:datastoreItem>
</file>

<file path=customXml/itemProps8.xml><?xml version="1.0" encoding="utf-8"?>
<ds:datastoreItem xmlns:ds="http://schemas.openxmlformats.org/officeDocument/2006/customXml" ds:itemID="{B4EE1DD2-7369-4637-890C-945791B46234}">
  <ds:schemaRefs>
    <ds:schemaRef ds:uri="http://schemas.microsoft.com/sharepoint/v3/contenttype/forms"/>
  </ds:schemaRefs>
</ds:datastoreItem>
</file>

<file path=customXml/itemProps9.xml><?xml version="1.0" encoding="utf-8"?>
<ds:datastoreItem xmlns:ds="http://schemas.openxmlformats.org/officeDocument/2006/customXml" ds:itemID="{5435335B-1986-4E0F-A9A5-966BEBC19941}">
  <ds:schemaRefs/>
</ds:datastoreItem>
</file>

<file path=customXml/itemProps10.xml><?xml version="1.0" encoding="utf-8"?>
<ds:datastoreItem xmlns:ds="http://schemas.openxmlformats.org/officeDocument/2006/customXml" ds:itemID="{A115EE3C-2AA2-44A9-A161-C433DDA68C08}">
  <ds:schemaRefs/>
</ds:datastoreItem>
</file>

<file path=customXml/itemProps11.xml><?xml version="1.0" encoding="utf-8"?>
<ds:datastoreItem xmlns:ds="http://schemas.openxmlformats.org/officeDocument/2006/customXml" ds:itemID="{72835AD4-4378-43B3-AEF6-3E44509D51BC}">
  <ds:schemaRefs/>
</ds:datastoreItem>
</file>

<file path=docMetadata/LabelInfo.xml><?xml version="1.0" encoding="utf-8"?>
<clbl:labelList xmlns:clbl="http://schemas.microsoft.com/office/2020/mipLabelMetadata">
  <clbl:label id="{53d2f50d-dc6e-4d07-88dc-32fef40a0f51}" enabled="0" method="" siteId="{53d2f50d-dc6e-4d07-88dc-32fef40a0f51}" removed="1"/>
</clbl:labelList>
</file>

<file path=docProps/app.xml><?xml version="1.0" encoding="utf-8"?>
<Properties xmlns="http://schemas.openxmlformats.org/officeDocument/2006/extended-properties" xmlns:vt="http://schemas.openxmlformats.org/officeDocument/2006/docPropsVTypes">
  <Template>WestMonroe_Template_03272025</Template>
  <TotalTime>13206</TotalTime>
  <Words>22291</Words>
  <Application>Microsoft Macintosh PowerPoint</Application>
  <PresentationFormat>Widescreen</PresentationFormat>
  <Paragraphs>2152</Paragraphs>
  <Slides>83</Slides>
  <Notes>72</Notes>
  <HiddenSlides>2</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83</vt:i4>
      </vt:variant>
    </vt:vector>
  </HeadingPairs>
  <TitlesOfParts>
    <vt:vector size="89" baseType="lpstr">
      <vt:lpstr>Arial</vt:lpstr>
      <vt:lpstr>Helvetica</vt:lpstr>
      <vt:lpstr>Roboto</vt:lpstr>
      <vt:lpstr>West Monroe 032625</vt:lpstr>
      <vt:lpstr>1_West Monroe 032625</vt:lpstr>
      <vt:lpstr>think-cell Slide</vt:lpstr>
      <vt:lpstr>PowerPoint Presentation</vt:lpstr>
      <vt:lpstr>PowerPoint Presentation</vt:lpstr>
      <vt:lpstr>PowerPoint Presentation</vt:lpstr>
      <vt:lpstr>AI is lowering modernization costs – and shifting the traditional equation on buy vs build decision-making.</vt:lpstr>
      <vt:lpstr>PowerPoint Presentation</vt:lpstr>
      <vt:lpstr>PowerPoint Presentation</vt:lpstr>
      <vt:lpstr>Three Points with Data/Metrics Callout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With constant AI innovations, software modernization is faster, easier, cheaper, and more necessary than ever before.   But most organizations don’t understand how to capitalize on AI’s value in the modernization lifecycle.</vt:lpstr>
      <vt:lpstr>The longest, riskiest step is understanding what to modernize, how to do it, and in what order.  Organizations who don’t have the bandwidth or AI expertise often spend months analyzing the current state and then make conservative, suboptimal decisions to avoid risk. The result is a slow, expensive program with limited business impact.  </vt:lpstr>
      <vt:lpstr>You don’t need another re-platforming vendor. You need a partner that understands this effort is more than an IT renovation.  It’s a business transformation.</vt:lpstr>
      <vt:lpstr>PowerPoint Presentation</vt:lpstr>
      <vt:lpstr>PowerPoint Presentation</vt:lpstr>
      <vt:lpstr>Based on your current progress, we can rationalize applications and define the modernization strategy or get started directly with execution.</vt:lpstr>
      <vt:lpstr>PowerPoint Presentation</vt:lpstr>
      <vt:lpstr>PowerPoint Presentation</vt:lpstr>
      <vt:lpstr>West Monroe recommends starting your modernization initiative with an effective Rationalization phase that lays the groundwork for what follows.</vt:lpstr>
      <vt:lpstr>PowerPoint Presentation</vt:lpstr>
      <vt:lpstr>PowerPoint Presentation</vt:lpstr>
      <vt:lpstr>We build together alongside your teams and can scale up or down with both onshore and near-shore talent, based on your needs.  We slowly step back over time as we enable your teams to move forward with and sustain your modernization program.</vt:lpstr>
      <vt:lpstr>West Monroe leads the modernization build—then transitions into an AI-enabled sustainment partner.
Your team provides the business context and validates outcomes throughout the journey.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Intellio® Evolve combines AI with advanced code analysis to guide modernization that not only rebuilds code but enhances the product itself.</vt:lpstr>
      <vt:lpstr>Intellio® Evolve turns legacy-system complexity into a business-led modernization roadmap.</vt:lpstr>
      <vt:lpstr>PowerPoint Presentation</vt:lpstr>
      <vt:lpstr>PowerPoint Presentation</vt:lpstr>
      <vt:lpstr>PowerPoint Presentation</vt:lpstr>
      <vt:lpstr>PowerPoint Presentation</vt:lpstr>
      <vt:lpstr>PowerPoint Presentation</vt:lpstr>
      <vt:lpstr>PowerPoint Presentation</vt:lpstr>
      <vt:lpstr>Our team has executed dozens of software modernization strategy and build engagements across industries. (1 of 3)</vt:lpstr>
      <vt:lpstr>Our team has executed dozens of software modernization strategy and build engagements across industries. (2 of 3)</vt:lpstr>
      <vt:lpstr>Our team has executed dozens of software modernization strategy and build engagements across industries. (3 of 3)</vt:lpstr>
      <vt:lpstr>Appendix: Detailed Modernization Client Stories</vt:lpstr>
      <vt:lpstr>How do we avoid security risk and reduce technical debt?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Intellio Evolve capability development and 9 month access/support</vt:lpstr>
      <vt:lpstr>PowerPoint Presentation</vt:lpstr>
      <vt:lpstr>PowerPoint Presentation</vt:lpstr>
      <vt:lpstr>Standard mod rationalization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Husen Pawar</dc:creator>
  <cp:keywords/>
  <dc:description/>
  <cp:lastModifiedBy>Ri Scott</cp:lastModifiedBy>
  <cp:revision>55</cp:revision>
  <dcterms:created xsi:type="dcterms:W3CDTF">2025-03-28T09:55:10Z</dcterms:created>
  <dcterms:modified xsi:type="dcterms:W3CDTF">2026-09-21T17:28:35Z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0x010100BCC0B19E89142648B201B78ED5031948</vt:lpwstr>
  </property>
  <property fmtid="{D5CDD505-2E9C-101B-9397-08002B2CF9AE}" pid="3" name="MediaServiceImageTags">
    <vt:lpwstr/>
  </property>
  <property fmtid="{D5CDD505-2E9C-101B-9397-08002B2CF9AE}" pid="4" name="TemplafyTimeStamp">
    <vt:lpwstr>2024-12-31T20:05:19</vt:lpwstr>
  </property>
  <property fmtid="{D5CDD505-2E9C-101B-9397-08002B2CF9AE}" pid="5" name="TemplafyTenantId">
    <vt:lpwstr>westmonroe</vt:lpwstr>
  </property>
  <property fmtid="{D5CDD505-2E9C-101B-9397-08002B2CF9AE}" pid="6" name="TemplafyTemplateId">
    <vt:lpwstr>1084189916094791682</vt:lpwstr>
  </property>
  <property fmtid="{D5CDD505-2E9C-101B-9397-08002B2CF9AE}" pid="7" name="TemplafyUserProfileId">
    <vt:lpwstr>638072374866684596</vt:lpwstr>
  </property>
  <property fmtid="{D5CDD505-2E9C-101B-9397-08002B2CF9AE}" pid="8" name="TemplafyFromBlank">
    <vt:bool>true</vt:bool>
  </property>
</Properties>
</file>